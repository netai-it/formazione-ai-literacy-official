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1a6de540-ae28-4b6d-1ae0-3537e1c5290c}">
          <p14:sldIdLst>
            <p14:sldId id="256"/>
            <p14:sldId id="257"/>
            <p14:sldId id="258"/>
            <p14:sldId id="259"/>
          </p14:sldIdLst>
        </p14:section>
        <p14:section name="8.1 Generazione" id="{1e2aa9da-f9b5-eb9c-0522-8d708891bd39}">
          <p14:sldIdLst>
            <p14:sldId id="260"/>
            <p14:sldId id="261"/>
            <p14:sldId id="262"/>
            <p14:sldId id="263"/>
            <p14:sldId id="264"/>
            <p14:sldId id="265"/>
          </p14:sldIdLst>
        </p14:section>
        <p14:section name="8.2 Trasformazione" id="{3086eb50-edf5-b694-81f5-e97db1536478}">
          <p14:sldIdLst>
            <p14:sldId id="266"/>
            <p14:sldId id="267"/>
            <p14:sldId id="268"/>
            <p14:sldId id="269"/>
            <p14:sldId id="270"/>
            <p14:sldId id="271"/>
            <p14:sldId id="272"/>
            <p14:sldId id="273"/>
          </p14:sldIdLst>
        </p14:section>
        <p14:section name="8.3 Sintesi e analisi" id="{165ef670-72d1-9871-d56a-ef10e6d2b7eb}">
          <p14:sldIdLst>
            <p14:sldId id="274"/>
            <p14:sldId id="275"/>
            <p14:sldId id="276"/>
            <p14:sldId id="277"/>
            <p14:sldId id="278"/>
            <p14:sldId id="279"/>
            <p14:sldId id="280"/>
            <p14:sldId id="281"/>
          </p14:sldIdLst>
        </p14:section>
        <p14:section name="8.4 Estrazione" id="{1286a3e9-f139-da85-2e01-e5b6eedd15f0}">
          <p14:sldIdLst>
            <p14:sldId id="282"/>
            <p14:sldId id="283"/>
            <p14:sldId id="284"/>
            <p14:sldId id="285"/>
            <p14:sldId id="286"/>
            <p14:sldId id="287"/>
          </p14:sldIdLst>
        </p14:section>
        <p14:section name="8.5 Confronto" id="{39c38004-11b9-1b87-f106-29faf904abb4}">
          <p14:sldIdLst>
            <p14:sldId id="288"/>
            <p14:sldId id="289"/>
            <p14:sldId id="290"/>
            <p14:sldId id="291"/>
            <p14:sldId id="292"/>
            <p14:sldId id="293"/>
          </p14:sldIdLst>
        </p14:section>
        <p14:section name="8.6 Ricerca" id="{70f71bb8-fed9-832c-969d-f4f277d4da47}">
          <p14:sldIdLst>
            <p14:sldId id="294"/>
            <p14:sldId id="295"/>
            <p14:sldId id="296"/>
            <p14:sldId id="297"/>
            <p14:sldId id="298"/>
            <p14:sldId id="299"/>
          </p14:sldIdLst>
        </p14:section>
        <p14:section name="8.7 Conoscenza" id="{841791c4-81b0-3e16-4ed9-658aacd28cfc}">
          <p14:sldIdLst>
            <p14:sldId id="300"/>
            <p14:sldId id="301"/>
            <p14:sldId id="302"/>
            <p14:sldId id="303"/>
            <p14:sldId id="304"/>
            <p14:sldId id="305"/>
            <p14:sldId id="306"/>
          </p14:sldIdLst>
        </p14:section>
        <p14:section name="8.8 Limiti" id="{21508180-f849-2632-105a-13cb01dc30a4}">
          <p14:sldIdLst>
            <p14:sldId id="307"/>
            <p14:sldId id="308"/>
            <p14:sldId id="309"/>
            <p14:sldId id="310"/>
            <p14:sldId id="311"/>
            <p14:sldId id="312"/>
          </p14:sldIdLst>
        </p14:section>
        <p14:section name="Conclusioni" id="{e27ea6e9-0fb7-49e7-dc5d-1952efcd6013}">
          <p14:sldIdLst>
            <p14:sldId id="313"/>
            <p14:sldId id="314"/>
            <p14:sldId id="315"/>
            <p14:sldId id="3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all'ottavo tema, che apre una nuova area del percorso: 'Esplorare le possibilità dell'AI'. Nelle aree precedenti abbiamo costruito le basi: che cos'è l'AI e come funziona, quali sono i suoi limiti, come dialogare con essa, come formulare richieste e come verificare i risultati. Ora guardiamo a che cosa si può fare concretamente, partendo dall'ambito in cui l'AI generativa è più matura e più usata: i testi, i documenti e la conoscenza. È un tema che riguarda praticamente ogni ruolo aziendale, perché quasi ogni lavoro produce, legge, trasforma e cerca informazioni scritte. Il punto di vista è quello dell'utilizzatore: che cosa permette di fare l'AI, quali benefici porta, come ottenere risultati migliori e quali limiti tenere presenti. Il tema va oltre la semplice scrittura: il suo nucleo distintivo è la capacità di sintetizzare, estrarre, confrontare e consultare documenti. Suggerimento per l'apertura: chiedere ai partecipanti quante ore a settimana dedicano a leggere, scrivere, riassumere o cercare informazioni nei documenti. La risposta, di solito sorprendente, mostra perché il tema è rilevante. Nota per il relatore: i contenuti sono stati verificati a ottobre 2026; le capacità degli strumenti su documenti lunghi, tabelle e scansioni migliorano di continuo, quindi esempi e limiti vanno ricontrollati sugli strumenti autorizzati prima di ogni edizione.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è comprendere le principali possibilità dell'AI nella produzione, trasformazione, analisi, estrazione e organizzazione di contenuti testuali e documentali, e saperle usare bene. Da un lato, l'AI può supportare moltissime attività basate sulle informazioni: dalla redazione di un'email alla sintesi di un rapporto di sessanta pagine, dal confronto di tre offerte alla consultazione di un archivio di procedure. Dall'altro, il valore del risultato dipende da quattro fattori su cui chi usa l'AI può agire: la qualità del materiale e delle fonti fornite, la chiarezza delle istruzioni sullo scopo, la fedeltà e la tracciabilità del risultato, cioè la possibilità di risalire ai passaggi originali, e un controllo adeguato all'uso che se ne farà. Un punto che svilupperemo: generare, trasformare, analizzare ed estrarre informazioni sono attività diverse, con benefici diversi e con esigenze di controllo diverse. Il messaggio centrale del tema: l'AI può trasformare testi e documenti in informazioni organizzate, confrontabili e consultabili, con un grande risparmio di tempo, a condizione di preservare correttezza, significato e tracciabilità.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filo conduttore del tema sono quattro modalità applicative, che corrispondono a quattro tipi diversi di lavoro informativo. Produrre: creare contenuti nuovi a partire da istruzioni e materiale, come un'email, una relazione, una descrizione. Corrisponde al sottotema 8.1. Trasformare: lavorare su un testo esistente, correggendolo, semplificandolo, traducendolo, cambiandone il formato. Corrisponde all'8.2. Analizzare e strutturare: ricavare da uno o più documenti sintesi, dati strutturati, confronti. Corrispondono l'8.3, l'8.4 e l'8.5, che sono il nucleo distintivo del tema. Recuperare conoscenza: cercare, approfondire e consultare informazioni, sia all'esterno sia in raccolte documentali. Corrispondono l'8.6 e l'8.7. L'8.8, sulle condizioni di efficacia, attraversa tutte le modalità. Non è una sequenza obbligatoria: le modalità spesso si combinano. Per preparare un dossier si può cercare, sintetizzare, estrarre e infine produrre un testo. Nelle slide, un indicatore in alto a destra ricorda la modalità di cui stiamo parlando. Per il relatore, il perimetro del modulo: vanno compresi e sperimentati generazione, trasformazione, sintesi, estrazione, confronto e tracciabilità; vanno conosciuti ricerca informativa, gestione della conoscenza, interrogazione documentale e limiti dei formati; vanno solo accennati architetture RAG, pipeline documentali, indicizzazione, database vettoriali e ricerca semantica. Confini con gli altri temi: i meccanismi tecnici sono nel Tema 2, la teoria delle allucinazioni nel Tema 3, le tecniche di prompting nel Tema 6, i metodi di verifica nel Tema 7, l'analisi quantitativa nel Tema 9, la multimodalità nel Tema 10, agenti e flussi automatici nel Tema 11, la progettazione dei sistemi di conoscenza aziendale nel Tema 14. Un'avvertenza pratica valida per tutto il modulo: i documenti di lavoro vanno caricati solo negli strumenti autorizzati dall'azienda, secondo le regole sulla riservatezza dei dati.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punto concettuale più importante del tema è che generare, trasformare, analizzare, estrarre e recuperare sono attività diverse: offrono benefici diversi, si migliorano con accorgimenti diversi e richiedono controlli diversi. La tabella le mette a confronto. Generare permette di avere bozze e testi in pochi minuti; il risultato migliora se si forniscono il materiale di partenza, il destinatario e qualche esempio; il controllo riguarda l'accuratezza dei fatti e l'adeguatezza al destinatario. Trasformare rende i testi più chiari, tradotti o riformattati; conviene dire che cosa non deve cambiare; si controlla confrontando con l'originale. Sintetizzare e analizzare permette di orientarsi rapidamente in documenti lunghi; aiuta dichiarare lo scopo e chiedere riferimenti; si controlla che condizioni ed eccezioni siano state conservate. Estrarre trasforma testi liberi in dati organizzati; servono campi e regole definiti in anticipo; il controllo riguarda l'accuratezza campo per campo. Recuperare conoscenza dà risposte rapide da fonti esterne e archivi interni; aiuta indicare fonti e perimetro; si controllano la fonte, la sua attualità e la versione del documento. Non ripetiamo qui i metodi generali di verifica del Tema 7: li applichiamo, sottotema per sottotema, ai contenuti documentali.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dalla modalità più nota: produrre testi nuovi. È quella che quasi tutti hanno già provato, e quella in cui il guadagno di tempo è più immediato. In questo sottotema, da comprendere e sperimentare, vediamo che cosa si può produrre e con quali benefici, da che cosa dipende la qualità di un testo generato, come adattare lo stesso contenuto a destinatari diversi e quale livello di autonomia dare all'AI a seconda del tipo di testo. Come si formulano le richieste l'abbiamo visto nel Tema 6: qui ci concentriamo sulle possibilità e sulle condizioni per ottenere buoni risultati.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generazione di testi copre una gamma molto ampia di contenuti professionali. Comunicazioni: email, risposte a richieste, messaggi, avvisi, comunicazioni interne. Documenti di lavoro: relazioni, report, verbali a partire da appunti, proposte. Contenuti informativi: descrizioni di prodotti o servizi, schede, FAQ, testi per il sito o per la intranet, istruzioni. Bozze e strutture: scalette, indici, prime versioni da completare, modelli riutilizzabili. I benefici sono concreti. La velocità: una prima versione in pochi minuti invece che in un'ora. La personalizzazione: lo stesso contenuto declinato per destinatari diversi. Le alternative: più versioni da confrontare, per scegliere la migliore o combinarle. La fine della pagina bianca: si parte da qualcosa di concreto da migliorare. Gli standard coerenti: testi in serie con la stessa struttura e lo stesso stile, per esempio schede prodotto o risposte frequenti. Il valore principale non è scrivere al posto della persona, ma ridurre il tempo delle parti più ripetitive e lasciare più tempo per il contenuto, la verifica e la cura del testo.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testo generato è il risultato di tre ingredienti, e la sua qualità dipende da tutti e tre. Il primo sono le istruzioni: scopo, destinatario, tono, lunghezza, struttura. Le tecniche per formularle sono nel Tema 6. Il secondo è il materiale di partenza: fatti, dati, appunti, documenti, decisioni già prese. È l'ingrediente più trascurato e il più importante per i testi professionali: quando il sistema non ha i fatti specifici, tende a riempire i vuoti con contenuti generici o con dettagli verosimili ma non verificati, come date, numeri o impegni. Il terzo sono gli esempi e i riferimenti di stile: un testo simile già approvato, le linee guida di comunicazione. Le istruzioni dicono come scrivere, il materiale dice che cosa scrivere, gli esempi dicono in che stile. Su questa base, l'AI dà il meglio in due usi che cambiano il modo di lavorare. Le bozze: una prima versione concreta in pochi minuti, da leggere, correggere e completare. Le versioni alternative: chiedere fin dall'inizio due o tre impostazioni diverse, per esempio una sintetica e una dettagliata, aiuta a capire che cosa si vuole davvero e a non restare ancorati alla prima proposta, come visto nel Tema 5. Il contributo personale resta ciò che rende un testo riconoscibile, evitando che i testi prodotti con gli stessi strumenti finiscano per assomigliarsi tutti. L'istruzione in basso è un esempio: chiede alternative e, insieme, di usare solo i fatti forniti.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degli usi più utili della generazione è adattare uno stesso contenuto a destinatari diversi. Lo stesso fatto, per esempio una modifica dell'orario del servizio clienti, va comunicato in modo diverso alla direzione, ai colleghi del servizio e ai clienti. Per la direzione conta il perché e l'impatto. Per i colleghi conta che cosa cambia operativamente: da quando, i nuovi turni, a chi rivolgersi. Per i clienti conta che cosa cambia per loro, con un tono cortese e senza dettagli interni. L'AI produce queste versioni in pochi secondi, partendo da un unico contenuto di base, ed è molto flessibile su tre dimensioni vicine ma distinte. Il tono è l'atteggiamento verso chi legge: cordiale, formale, rassicurante, deciso. Lo stile riguarda le scelte di scrittura: frasi brevi o articolate, lessico tecnico o comune, elenchi o testo continuo. Il registro è il livello di formalità adatto al contesto. Due accorgimenti pratici. Primo, indicare esplicitamente tono e registro, o fornire un testo già approvato come esempio: il tono predefinito dei sistemi tende a essere generico, entusiasta o cerimonioso, e in un contesto professionale può suonare poco credibile; la coerenza con la comunicazione aziendale si ottiene fornendo le linee guida di stile. Secondo, partire da un contenuto di base corretto e completo, perché ogni versione ne eredita gli eventuali errori, e rileggere ogni versione pensando al suo destinatario: per esempio, che nella versione per i clienti non sia finito un dettaglio interno. Esempio fittizio in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può supportare la produzione di testi con livelli diversi di autonomia, e ciascun livello ha benefici e condizioni d'uso. Nella redazione supervisionata, il sistema produce una proposta e una persona la rivede, la completa, la approva e ne risponde: è il caso di relazioni, offerte e comunicazioni ai clienti. Il beneficio è una bozza in pochi minuti e più tempo per il contenuto. Nella produzione in serie con controlli, il sistema genera molti testi simili, come schede prodotto, descrizioni o risposte standard, a partire da modelli approvati; i controlli sono a campione, con correzione dei casi anomali. Il beneficio è poter gestire volumi elevati con uno stile uniforme. Nell'automazione di attività a basso rischio, il testo è usato senza revisione caso per caso: conferme di ricezione, classificazione delle richieste, riepiloghi per uso interno. Il beneficio è la rapidità e la liberazione delle persone dalle attività ripetitive; le condizioni sono contenuti a basso impatto, regole definite e un monitoraggio periodico. Quale livello scegliere non dipende da una regola universale, ma da tre elementi, coerenti con quanto visto nel Tema 7: le conseguenze di un errore e la visibilità del testo, il processo in cui il testo si inserisce, e le verifiche disponibili, per esempio controlli automatici o revisioni già previste. Lo stesso tipo di testo può richiedere livelli diversi in contesti diversi. In ogni caso, chi usa e diffonde il testo ne risponde, secondo i ruoli e le regole dell'organizzazione.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primo sottotema. Generare testi è la modalità più immediata: email, relazioni, descrizioni, bozze, versioni per destinatari diversi, con un risparmio di tempo concreto. La qualità dipende da tre ingredienti: istruzioni, materiale di partenza ed esempi di stile. Chiedere alternative fin dall'inizio aiuta a scegliere l'impostazione migliore. E il livello di autonomia va scelto in base alle conseguenze di un errore, al processo e alle verifiche disponibili: dalla redazione supervisionata, alla produzione in serie con controlli a campione, fino all'automazione di attività a basso rischio. La revisione è umana e organizzativa: non basta la buona volontà del singolo, servono anche regole su quali testi richiedono quale revisione. Esercizio suggerito: partire da un contenuto di base fittizio e chiedere ai partecipanti di generare tre versioni per destinatari diversi, poi confrontarle per individuare informazioni perse o aggiunte.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modalità: trasformare. Qui il punto di partenza non sono istruzioni, ma un testo che esiste già, nostro o di altri. L'AI può correggerlo, renderlo più chiaro, semplificarlo, renderlo più accessibile, riformularlo, tradurlo, cambiarne il formato o la struttura. È una modalità molto potente e spesso sottovalutata, con un vantaggio importante: c'è un originale con cui confrontare il risultato, quindi il controllo è più semplice e mirato. L'attenzione specifica del sottotema è preservare il significato: in questo sottotema, da comprendere e sperimentare, vediamo le principali trasformazioni, un esempio completo da appunti a verbale e come chiedere modifiche che non alterino i contenuti.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conviene generare un testo nuovo e quando è più opportuno trasformarne uno esistente? Generare conviene quando non esiste un punto di partenza adatto e il contenuto è relativamente generico, oppure quando si vogliono esplorare impostazioni diverse. Trasformare conviene quando esiste già un testo che contiene i contenuti corretti: una procedura approvata da semplificare, una relazione tecnica da rendere comprensibile alla direzione, appunti di una riunione da trasformare in verbale, un testo da tradurre. In questi casi la trasformazione ha due vantaggi. Il primo è l'affidabilità: il sistema lavora su contenuti forniti invece di produrli, e quindi il rischio di invenzioni si riduce, anche se non si azzera. Il secondo è la verificabilità: c'è un originale con cui confrontare il risultato. Per questo, per i testi professionali che riguardano fatti specifici, una buona regola è partire dal materiale esistente quando c'è, e usare l'AI per trasformarlo.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panoramica delle trasformazioni più utili, che fanno risparmiare molto tempo e migliorano la qualità dei testi. Correzione e chiarezza: refusi, concordanze, punteggiatura, frasi più brevi, ordine logico, meno ambiguità. Semplificazione: rendere comprensibili procedure, regolamenti e documentazione tecnica a chi deve applicarli. Accessibilità: linguaggio chiaro, struttura leggibile, versioni di lettura facile, utili anche per chi non è madrelingua. Riformulazione: cambiare tono, registro o lessico per un destinatario diverso. Traduzione e localizzazione: non solo cambiare lingua, ma adattare formati, riferimenti e convenzioni. Cambio di formato e struttura: da appunti a verbale, da procedura a FAQ, da testo continuo a tabella, con le informazioni importanti all'inizio. Le prime trasformazioni intervengono soprattutto sulla forma; le ultime riorganizzano anche il contenuto. Le trasformazioni più profonde sono anche quelle che portano più valore, perché rendono un testo utilizzabile da chi prima non riusciva a usarlo; per ottenerle bene conviene dire all'AI che cosa deve restare invariato, come vedremo nelle prossime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semplificazione è una delle trasformazioni più utili: molti testi aziendali, come procedure, regolamenti e comunicazioni normative, sono difficili da leggere per chi deve applicarli, e l'AI li rende chiari in pochi secondi. La slide mostra lo stesso testo fittizio semplificato con due richieste diverse. Con una richiesta generica, 'semplifica il testo', il risultato è chiaro e scorrevole, ma ha perso due elementi: la soglia di importo oltre la quale serve l'autorizzazione e l'eccezione per gli acquisti urgenti. Chi lo legge applicherà la regola in modo sbagliato. Con una richiesta precisa, che indica che cosa conservare, il risultato è altrettanto chiaro e mantiene soglia, autorizzazioni ed eccezione. Il punto non è diffidare della semplificazione, ma chiederla bene: indicare gli elementi che devono restare, come importi, scadenze, condizioni ed eccezioni, e poi controllare quei punti sull'originale. Nei testi con valore normativo o contrattuale, la versione semplificata dovrebbe rimandare all'originale come riferimento valido.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traduzione è uno degli ambiti in cui i sistemi linguistici danno spesso risultati di buona qualità, soprattutto tra lingue molto diffuse, e permette di rendere disponibili testi e comunicazioni in più lingue in tempi brevissimi. Tradurre un testo professionale, però, non è solo cambiare lingua: la localizzazione adatta il testo al contesto del destinatario, con formati di date, numeri e valute, unità di misura, riferimenti normativi o istituzionali, convenzioni di cortesia. Alcuni accorgimenti migliorano molto il risultato. Fornire un glossario dei termini tecnici e aziendali, perché un termine di settore può avere più traduzioni possibili. Precisare le sfumature che contano, come i gradi di obbligo: 'deve' e 'dovrebbe' in un contratto fanno una grande differenza. Prestare più attenzione con le lingue meno diffuse, dove la qualità può essere inferiore, e con i testi con valore legale, per cui una traduzione automatica non sostituisce la traduzione professionale o certificata quando è richiesta. Un controllo utile quando non si conosce bene la lingua di arrivo è far ritradurre il testo nella lingua originale con uno strumento diverso: aiuta a far emergere scostamenti di significato, ma non certifica l'accuratezza della traduzione, perché due errori possono compensarsi e alcune sfumature si perdono in entrambi i passaggi.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un esempio completo di trasformazione tra formati, uno degli usi più apprezzati in azienda. A sinistra, appunti fittizi presi durante una riunione: frammentari, con abbreviazioni, ipotesi e decisioni mescolate. Al centro, la richiesta all'AI: trasformarli in un verbale con decisioni, attività con responsabile e scadenza, punti aperti; non trasformare le ipotesi in decisioni; segnalare ciò che manca. A destra, il risultato: un verbale ordinato, pronto da rivedere e inviare, in un minuto invece di mezz'ora. Si notino due cose. La prima: grazie all'istruzione, il rinvio della stampa resta un punto aperto, con l'obiezione di Neri, invece di diventare una decisione. La seconda: il sistema segnala che per il listino non c'è un responsabile e che per le foto manca la scadenza, invece di inventarli. Sono proprio i due rischi tipici di questa trasformazione: un'ipotesi discussa che diventa una decisione presa, e un'attività attribuita alla persona sbagliata o con una scadenza dedotta. Il controllo finale è rapido: chi ha partecipato alla riunione verifica decisioni e responsabili. Lo stesso schema vale per altre trasformazioni di formato: una relazione in una sintesi per la direzione, una procedura in una lista di controllo o in FAQ, un testo continuo in una tabella. Tutti i nomi e i dati sono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ottiene una trasformazione che preserva il significato? Il primo passo è conoscere le modifiche che sembrano formali ma sono sostanziali. Una modifica formale cambia il modo in cui una cosa è detta: un refuso corretto, una frase spezzata, un sinonimo davvero equivalente. Una modifica sostanziale cambia che cosa è detto. La tabella mostra quattro casi tipici: 'entro il 15' che diventa 'verso metà mese' trasforma una scadenza in un'indicazione vaga; 'si raccomanda' che diventa 'è obbligatorio' cambia il grado di obbligo; eliminare 'salvo diversa indicazione' cancella un'eccezione; 'propone' che diventa 'garantisce' attribuisce un impegno. Lo stesso vale quando si confrontano due versioni di un documento, come vedremo nell'8.5. Quattro tecniche, dalla più semplice alla più strutturata. Uno: dire in anticipo che cosa non deve cambiare, come importi, date, condizioni, eccezioni, obblighi. Due: chiedere l'elenco delle modifiche apportate, distinguendo quelle formali da quelle che potrebbero toccare il contenuto; non è una garanzia, ma dirige l'attenzione. Tre: usare la funzione di confronto tra versioni dei programmi di scrittura, per vedere esattamente che cosa è cambiato. Quattro: per testi normativi, contrattuali o tecnici, far validare la versione trasformata da chi conosce la materia, mantenendo l'originale come riferimento. L'istruzione in basso è un esempio di richiesta che limita le modifiche e chiede di segnalare, senza applicarle, quelle di contenuto. Più il testo ha conseguenze, più il confronto con l'originale deve essere sistematico.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secondo sottotema. Trasformare un testo esistente è spesso preferibile a generarlo da zero, perché riduce le invenzioni e offre un originale con cui confrontare il risultato. Le trasformazioni possibili sono molte e di grande valore: correzione, chiarezza, semplificazione, accessibilità, riformulazione, traduzione, cambio di formato e di struttura. L'attenzione comune è preservare il significato, perché molte modifiche che sembrano formali sono sostanziali; si ottiene dicendo che cosa non deve cambiare e controllando quei punti. Il concetto chiave cita anche le intenzioni: un testo riformulato può dire le stesse cose con un'intenzione diversa, per esempio più perentoria o più accomodante. Esercizio suggerito: dare ai partecipanti un paragrafo fittizio di procedura, farlo semplificare con l'AI con una richiesta generica e con una precisa, e confrontare i due risultati con l'originale.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nel nucleo distintivo del tema. Con i sottotemi 8.3, 8.4 e 8.5 l'AI non produce testi nuovi né riscrive testi esistenti: lavora sui documenti per ricavarne qualcosa. In questo sottotema, da comprendere e sperimentare, vediamo che cosa si può fare su un documento, come scegliere il tipo di sintesi in base allo scopo, un esempio di sintesi esecutiva con riferimenti, e come ottenere sintesi fedeli: quali elementi conservare, come verificarli, come lavorare su documenti lunghi e complessi.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chi lavora con grandi quantità di materiale, le possibilità dell'AI nell'analisi dei documenti sono tra le più preziose. Orientarsi rapidamente: capire di che cosa parla un documento, com'è organizzato, quali parti leggere per intero. Trovare informazioni: dove il documento parla di un certo argomento, che cosa dice su penali, scadenze, responsabilità. Costruire sintesi mirate: esecutive per chi decide, operative per chi applica, oppure in risposta a una domanda specifica. Individuare concetti e decisioni: temi, tesi, richieste, punti aperti di un progetto. Analizzare documentazione tecnica e organizzativa: che cosa prevede una procedura, che cosa richiede un capitolato. Preparare approfondimenti: le domande da porre a un fornitore, le sezioni da far leggere a un esperto. I sistemi attuali lavorano con i formati più comuni, come PDF, Word e testo, e molti accettano più documenti insieme. Il valore principale è il tempo e la qualità dell'attenzione: un primo orientamento su cento pagine in pochi minuti, e poi una lettura mirata proprio delle parti che contano.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esiste la sintesi giusta in assoluto: esiste la sintesi adatta a uno scopo. Lo stesso documento, per esempio un contratto di fornitura, può essere sintetizzato in modi molto diversi. Una sintesi informativa riassume di che cosa parla e quali sono i contenuti principali: serve per orientarsi. Una sintesi esecutiva evidenzia ciò che serve a chi deve decidere: condizioni economiche, durata, rischi, punti da negoziare. Una sintesi operativa estrae ciò che serve a chi deve applicare il documento: scadenze, adempimenti, responsabilità, contatti. Una sintesi mirata risponde a una domanda specifica: che cosa prevede il contratto in caso di ritardo nelle consegne? Dichiarare lo scopo, come visto nel Tema 6, è il modo più semplice per migliorare il risultato, perché guida il sistema nella scelta di che cosa tenere: senza indicazioni si ottiene una sintesi generica, che dà lo stesso spazio a elementi importanti e secondari. L'istruzione in basso è un esempio: indica destinatario, lunghezza, elementi da includere e chiede i riferimenti. Lo scopo determina anche il controllo: una sintesi per orientarsi richiede meno verifica di una sintesi su cui si basa una decisione.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esempio completo, con dati fittizi. Il documento di partenza è un rapporto di audit sui fornitori di sessantaquattro pagine, con nove sezioni e tre allegati. La richiesta all'AI chiede una sintesi esecutiva in cinque punti per la direzione, con sezione e pagina per ogni punto, e di segnalare ciò che non trova. Il risultato si legge in un minuto e permette di decidere se e che cosa approfondire. Il valore dei riferimenti è doppio. Primo, rendono la verifica rapida: un'affermazione da prendere sulla fiducia diventa un'affermazione controllabile in pochi secondi, aprendo il documento nel punto indicato. Secondo, rendono visibile ciò che manca: il quinto punto, il costo del piano di miglioramento, è segnalato come non trovato invece di essere stimato. Per i punti su cui si basa una decisione, il controllo del riferimento ha tre passaggi, coerenti con quelli visti nel Tema 7 per le fonti: il passaggio esiste nel punto indicato; dice davvero ciò che la sintesi afferma, con le stesse condizioni; se presentato come citazione, corrisponde parola per parola. Serve perché i sistemi possono indicare un articolo sbagliato, una pagina approssimativa o una parafrasi presentata come citazione. L'affidabilità dei numeri di pagina, in particolare, dipende dal formato e dallo strumento: gli strumenti che mostrano direttamente il passaggio citato, con un collegamento al documento, rendono questo controllo molto più rapido.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forse il punto di attenzione più importante del tema: una sintesi può apparire fedele pur avendo eliminato eccezioni, vincoli, sfumature o elementi decisivi. Il motivo è intrinseco: sintetizzare significa togliere, e il sistema sceglie che cosa togliere secondo criteri che non coincidono necessariamente con ciò che per noi è importante. Gli elementi più a rischio sono quelli che occupano poco spazio ma hanno grande peso: una condizione introdotta da 'solo se', un'eccezione introdotta da 'salvo', un limite numerico, una scadenza, un'espressione di incertezza come 'in via preliminare' o 'da confermare'. L'esempio fittizio mostra un estratto di verbale e una sintesi che sembra corretta: ogni frase è vera, ma la decisione appare definitiva, mentre era condizionata all'approvazione del budget, e l'incertezza sui tempi è sparita. Chi legge la sintesi crede che il progetto sia approvato. Queste perdite non si vedono leggendo la sintesi, che è scorrevole e ben organizzata: si evitano chiedendo esplicitamente di conservare condizioni e gradi di certezza, e si trovano confrontando i punti decisivi con l'originale. La prossima slide mostra dove guardare.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ottenere e controllare sintesi fedeli conviene sapere dove guardare. Gli elementi da conservare sono quelli che occupano poco spazio ma cambiano le conseguenze. Condizioni: 'solo se', 'a condizione che'. Eccezioni: 'salvo', 'tranne'. Limiti e soglie: importi massimi, percentuali. Scadenze: date, termini, preavvisi. Responsabilità: chi deve fare che cosa. Gradi di certezza e di obbligo: 'da confermare', 'è obbligatorio'. Negazioni: 'non si applica', 'esclusivamente'. Voci minoritarie: in un verbale un'obiezione registrata, in un rapporto un rischio segnalato in nota. Il metodo si articola in tre momenti. Prima: dichiarare lo scopo e indicare gli elementi da includere. Durante: chiedere i riferimenti ai passaggi originali e, insieme alla sintesi, un elenco separato di tutte le condizioni, eccezioni, scadenze e limiti presenti nel documento. Dopo: controllare sul documento i punti critici, con un'intensità proporzionata all'uso, come vedremo nell'8.8. È più facile controllare un elenco mirato che cercare le perdite in una sintesi scorrevole. Un principio di fondo: chi legge una sintesi tende a considerarla equivalente al documento; quando una sintesi è destinata ad altri, conviene indicare che si tratta di una sintesi e dove trovare l'originale.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Alcune caratteristiche dei documenti rendono la sintesi più impegnativa, e per ciascuna esiste un accorgimento pratico. Documenti molto lunghi: chiedere una sintesi per sezioni, che rende visibile se una parte manca, e porre domande mirate anche sulle parti centrali. Rimandi interni e allegati: un contratto in cui l'articolo 9 rimanda all'allegato C, che modifica l'articolo 4, richiede di collegare parti lontane; conviene chiedere esplicitamente di tenerne conto e di indicare i rimandi usati. Tabelle e impaginazioni complesse: chiedere i valori riga per riga e controllarne alcuni. Linguaggio specialistico: fornire un glossario e far rivedere il risultato a chi conosce la materia. Più documenti insieme: chiedere di indicare sempre da quale documento proviene ogni informazione. Le capacità degli strumenti su questi aspetti variano molto, secondo il modello, lo strumento, il formato e la lunghezza, e migliorano di continuo; queste tecniche aiutano con la maggior parte degli strumenti. Le condizioni di efficacia sono riprese in modo più completo nell'8.8.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8.3. L'AI offre grandi possibilità nell'analisi dei documenti: orientarsi rapidamente, trovare informazioni, costruire sintesi esecutive, operative e mirate, preparare approfondimenti. Una sintesi rende al meglio quando è pensata per uno scopo, quando indica i riferimenti ai passaggi originali e quando conserva gli elementi che contano di più: condizioni, eccezioni, limiti, scadenze, gradi di certezza. Il controllo va proporzionato all'uso: più la sintesi sostituisce la lettura dell'originale, più va verificata. Esercizio suggerito: dare ai partecipanti un documento fittizio di due o tre pagine con alcune condizioni ed eccezioni, farlo sintetizzare con l'AI prima senza e poi con l'elenco degli elementi da conservare, e confrontare i due risultati con l'originale.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dalla sintesi all'estrazione. Qui l'obiettivo non è ridurre un documento, ma ricavarne informazioni puntuali e organizzarle in una struttura: una tabella, un elenco di campi, una classificazione. È una delle possibilità più concrete e meno conosciute dell'AI generativa, perché permette di trasformare testi non strutturati, come email, contratti, moduli, verbali, in dati utilizzabili da attività successive. In questo sottotema, da comprendere e sperimentare, vediamo che cosa si può estrarre, un esempio da email a record, come classificare e trovare ricorrenze, e come passare dal dato estratto al dato validato.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 è la differenza tra sintetizzare un documento ed estrarne dati strutturati? La sintesi produce un testo più breve, che interpreta e seleziona i contenuti: il risultato si legge. L'estrazione produce dati puntuali, organizzati in campi definiti in anticipo, come fornitore, data di scadenza, importo, numero d'ordine: il risultato si usa, in una tabella, in un confronto, in un sistema gestionale, in un'analisi. Le cose che si possono estrarre sono molte. Nomi e codici: persone, aziende, ruoli, numeri di documento. Date e scadenze: decorrenze, termini, rinnovi. Importi e quantità: prezzi, totali, sconti, penali. Riferimenti: ordini, contratti, pratiche, norme. Classificazioni: il tipo di richiesta, l'argomento di un reclamo, l'urgenza. Ricorrenze: i motivi più frequenti di reclamo in cento email, le clausole presenti o assenti in un gruppo di contratti. Le prime quattro categorie riguardano informazioni scritte esplicitamente nel testo e l'estrazione è di norma affidabile; le ultime due richiedono un'interpretazione, e la qualità dipende dalla chiarezza delle categorie fornite. Il valore è grande: informazioni che prima andavano lette documento per documento, per esempio per sapere quanti contratti scadono nel prossimo trimestre, diventano dati da ordinare, filtrare, contare e collegare. Proprio perché vengono usati in attività successive, i dati estratti si controllano campo per campo, come vedremo.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 parte delle informazioni aziendali vive in testi: email, contratti, moduli compilati in formato libero, verbali, segnalazioni, offerte. Sono informazioni preziose, ma difficili da usare in modo sistematico. L'esempio fittizio mostra un'email di un cliente trasformata in un record strutturato: cliente, numero d'ordine, tipo di richiesta, prodotto, scadenza, urgenza. Su cento email, lo stesso procedimento produce una tabella che si può ordinare, filtrare, contare e collegare ad altri dati, per esempio per vedere quali prodotti generano più richieste di sostituzione. È il passaggio che rende utilizzabile da attività successive un'informazione che prima era solo leggibile. L'istruzione in basso mostra due accorgimenti: elencare i campi in anticipo e dire che cosa fare quando un'informazione manca, invece di lasciare che il sistema la stimi. Si noti che l'urgenza non è scritta nell'email: è una classificazione, dedotta dal riferimento all'evento, e come tale va riconosciuta. La qualità dell'estrazione va controllata prima dell'impiego operativo. L'analisi quantitativa dei dati così ottenuti appartiene al Tema 9; i flussi automatici che fanno questo in modo continuo, al Tema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forme di strutturazione che vanno oltre l'estrazione di singoli valori, e che hanno un grande valore informativo. La classificazione assegna ogni contenuto a una categoria: il tipo di richiesta, il reparto competente, il tema di un reclamo, il livello di priorità. Applicata a centinaia di email o segnalazioni, permette di smistarle e di misurare dove si concentrano i problemi. Le ricorrenze emergono confrontando molti contenuti: quali problemi si ripetono nelle segnalazioni, quali clausole compaiono in tutti i contratti tranne uno, quali argomenti tornano nelle riunioni. Permettono di vedere schemi che in una lettura documento per documento sfuggono. Tre accorgimenti rendono questi risultati affidabili. Categorie ben definite: fornire per ogni categoria una definizione e qualche esempio, e prevedere una categoria 'altro' o 'non classificabile', per evitare forzature; se le categorie non sono chiare, anche due persone le applicherebbero in modo diverso. Coerenza: verificare che lo stesso tipo di contenuto finisca sempre nella stessa categoria, anche in elaborazioni fatte in momenti diversi. Conteggi verificati: se il sistema dice che il 40 per cento dei reclami riguarda le consegne, conviene controllare su un campione, perché i numeri calcolati su grandi insiemi sono tra gli errori più difficili da notare.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messaggio chiave del sottotema: un dato estratto non è automaticamente un dato validato. Tra il momento in cui l'AI produce una tabella e il momento in cui quei dati entrano in un processo, in un gestionale o in una decisione, c'è un passaggio di controllo, che è proprio quello che si rischia di saltare, perché la tabella sembra ordinata e completa. Il controllo comincia prima dell'estrazione, con tre regole decise in anticipo. Se l'informazione non è presente, il campo resta vuoto o riporta 'non presente', mai un valore stimato. Se è ambigua, per esempio due date diverse o un importo con e senza IVA, il campo riporta 'ambiguo' con una nota. Se il valore è stato calcolato e non letto, per esempio una scadenza ricavata da data di inizio e durata, è segnalato come dedotto. Queste regole servono perché un valore inventato in una tabella ha lo stesso aspetto di un valore estratto. Dopo l'estrazione, quattro controlli pratici. A campione: confrontare con gli originali una parte dei record, scelti a caso e tra quelli anomali, allargando il controllo se emergono errori. Conteggi: il numero di record corrisponde ai documenti, le somme tornano con un totale noto. Plausibilità: date, ordini di grandezza, categorie. Campi segnalati: tutti i 'non presente', 'ambiguo' e 'dedotto' vanno guardati. Errori tipici sono cifre invertite, IVA inclusa o esclusa, una data come 03/04 letta come 3 aprile o 4 marzo, righe o documenti saltati. Per le estrazioni ripetute nel tempo, una verifica iniziale approfondita può giustificare controlli successivi più leggeri. Infine, conservare per ogni dato il documento e il passaggio di origine permette di controllare anche a distanza di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8.4. L'estrazione trasforma testi non strutturati in dati utilizzabili: nomi, date, importi, riferimenti, classificazioni, ricorrenze. È una delle possibilità più concrete dell'AI, perché rende sistematicamente usabili informazioni che prima erano solo leggibili. Funziona al meglio con campi definiti in anticipo, regole per i valori mancanti, ambigui o dedotti, categorie chiare, e un passaggio di validazione prima dell'impiego operativo, con controlli a campione, dei conteggi e della plausibilità. Esercizio suggerito: preparare cinque o sei email fittizie di clienti, chiedere all'AI di estrarne una tabella con campi definiti, e far controllare ai partecipanti ogni valore, contando errori, campi inventati e campi correttamente segnalati come mancanti.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Terzo sottotema del nucleo distintivo: il confronto tra documenti. Mentre l'8.3 lavora su un documento per volta, qui il valore sta nelle relazioni tra documenti diversi: due versioni dello stesso contratto, tre offerte di fornitori, una procedura e il regolamento a cui dovrebbe conformarsi. Confrontare documenti a mano è lungo, faticoso e soggetto a errori di attenzione; l'AI può renderlo molto più rapido e mettere ordine nelle differenze, a supporto di decisioni come la scelta di un fornitore o l'accettazione di un contratto. In questo sottotema, da comprendere e sperimentare, vediamo i tre tipi di confronto, l'identificazione delle modifiche, un esempio di matrice comparativa e la ricerca di contraddizioni e lacune.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comprende tre famiglie di confronto, ciascuna con un contributo diverso alle decisioni. Il confronto tra versioni di uno stesso documento: che cosa è cambiato tra la bozza di contratto inviata e quella ricevuta dalla controparte, tra la procedura dell'anno scorso e quella aggiornata? Serve a decidere se accettare o rinegoziare, e a individuare anche le modifiche non dichiarate. Il confronto tra documenti alternativi: tre offerte di fornitori, più proposte progettuali, condizioni di diversi contratti. Serve a scegliere, mettendo in evidenza elementi comuni e differenze. Il confronto tra documenti collegati: una procedura e il regolamento che dovrebbe applicare, un capitolato e l'offerta che dovrebbe rispondervi, un verbale e il piano di progetto. Serve a verificare la coerenza, trovando contraddizioni e informazioni mancanti. In tutti e tre i casi, l'AI produce rapidamente un primo quadro ordinato delle differenze. Per il confronto tra versioni esistono anche gli strumenti tradizionali, come la funzione di confronto dei programmi di scrittura, esatti sulle modifiche testuali: l'AI aggiunge la capacità di spiegarle, ordinarle per importanza e confrontare documenti con struttura diversa. Le due cose si combinano bene.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confronto tra versioni è un caso d'uso molto concreto: quando una controparte restituisce un contratto o un accordo, non sempre segnala tutte le modifiche, e controllare a mano un documento di trenta pagine è lungo e soggetto a distrazioni. Gli strumenti tradizionali mostrano ogni differenza testuale, ma non distinguono un refuso corretto da una clausola modificata, e funzionano male quando il documento è stato riorganizzato. L'AI aiuta in tre modi: elenca le modifiche raggruppandole per importanza, spiega in linguaggio semplice che cosa cambia in pratica, e segnala quelle che potrebbero avere conseguenze. L'esempio fittizio mostra tre modifiche tra due versioni di un accordo: una formale e due sostanziali. Il passaggio da 30 a 60 giorni per il pagamento cambia le condizioni economiche; il passaggio da 'garantisce' a 'si adopera per' sembra una sfumatura di stile, ma attenua un obbligo. Sono le differenze che sembrano formali e non lo sono, già incontrate nell'8.2. Per i confronti importanti conviene chiedere al sistema di classificare ogni differenza come formale o sostanziale e di motivare la classificazione. Due indicazioni pratiche. Per i documenti importanti, combinare l'AI con il confronto tradizionale, che è esaustivo sulle differenze testuali. E ricordare che quanto conta una modifica dipende dal contesto della trattativa, che conosce chi la segue.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esempio completo di confronto tra documenti alternativi, con dati fittizi: tre offerte di fornitori per la stessa fornitura. La richiesta all'AI definisce i criteri che contano per la decisione, chiede valori comparabili, per esempio tutti i prezzi IVA esclusa e tutti i tempi in giorni di calendario, il paragrafo da cui deriva ogni valore, e di dichiarare ciò che manca. Il risultato è una matrice che in pochi secondi mette in evidenza le differenze utili alla scelta: B costa meno ma consegna più lentamente e fa pagare l'assistenza; C consegna prima ma non specifica l'assistenza, e quindi è il primo punto da chiarire con il fornitore. Tre elementi rendono la matrice affidabile. Il riferimento in ogni cella: permette di verificare un valore affiancando il passaggio originale, ed è particolarmente importante perché con più documenti il rischio di attribuire un'informazione al fornitore sbagliato è reale. Contestare a un fornitore una mancanza che non c'è, o scegliere sulla base di una condizione dell'offerta sbagliata, è un errore che si paga. I vuoti dichiarati: se un'offerta non specifica un elemento, la cella deve dirlo, invece di riportare un valore dedotto. La comparabilità: i 20 giorni lavorativi di C sono stati convertiti in circa 28 giorni di calendario, altrimenti il confronto sarebbe sbagliato pur sembrando preciso. Scegliere i criteri è compito di chi decide: se li lasciamo scegliere al sistema, rischiamo un confronto sui criteri più facili da estrarre, non su quelli più importanti. Anche le conclusioni, come 'l'offerta A è la più completa', dovrebbero indicare su quali differenze si basano.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confronto tra documenti collegati serve a trovare due tipi di problemi, e qui l'AI è particolarmente utile, perché richiedono di tenere a mente molti dettagli e incrociarli, attività in cui l'attenzione umana cala rapidamente. Le contraddizioni: due documenti, o due parti dello stesso documento, che dicono cose incompatibili. Una procedura che prevede un'approvazione in due giorni, mentre il regolamento ne prevede cinque. Un'offerta che indica una garanzia di 24 mesi nella premessa e di 12 nelle condizioni generali. Un verbale che attribuisce un'attività a un reparto diverso da quello del piano di progetto. Le informazioni mancanti: elementi richiesti da un documento e assenti nell'altro. Un capitolato che chiede certificazioni, piano di manutenzione e referenze, e un'offerta che risponde solo sulle prime due. Due accorgimenti per risultati migliori. Le lacune si trovano meglio se il sistema sa che cosa cercare: conviene fornire esplicitamente l'elenco dei requisiti da controllare, come visto nel Tema 7 per le omissioni. E ogni contraddizione segnalata va verificata sui due passaggi indicati, perché il sistema può segnalare anche false contraddizioni, dovute a una lettura imprecisa.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8.5. L'AI rende molto più rapido il confronto tra versioni, tra documenti alternativi e tra documenti collegati: identifica modifiche, costruisce matrici comparative, trova contraddizioni e lacune, a supporto di decisioni concrete come accettare un contratto o scegliere un fornitore. Il valore del confronto dipende da tre condizioni: individuare le differenze rilevanti, non tutte con lo stesso peso; distinguerne la natura, formale o sostanziale, con attenzione a quelle che sembrano formali; permettere di verificarle nelle fonti, con riferimenti ai passaggi di ciascun documento. Esercizio suggerito: preparare due versioni fittizie di un breve accordo, con alcune modifiche formali e due o tre sostanziali, di cui una mascherata da modifica formale, e chiedere ai partecipanti di confrontarle con l'AI e con il confronto tradizionale, valutando che cosa trova ciascun metodo.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alla quarta modalità: recuperare conoscenza. In questo sottotema, da comprendere, guardiamo all'AI come supporto alla ricerca informativa e all'approfondimento di argomenti: orientarsi su un tema nuovo, trovare fonti, organizzare ciò che si è raccolto, preparare dossier. È un uso molto diffuso, che cambia il modo di cercare informazioni rispetto ai motori di ricerca tradizionali. La distinzione centrale del sottotema è tra la conoscenza incorporata nel modello e le informazioni recuperate da fonti esterne con strumenti come la ricerca web; e tra ricerca assistita e verifica delle fonti. Il metodo generale di verifica è nel Tema 7: qui ci concentriamo su come l'AI sostiene la ricerca e su come valutarne i risultati.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può intervenire in tutte le fasi del lavoro di ricerca e approfondimento. Orientarsi: capire rapidamente i concetti di base di un argomento nuovo, il lessico, le questioni principali, le domande giuste da porsi. Trovare fonti: suggerire tipi di fonti, enti di riferimento, documenti normativi, parole chiave; con gli strumenti dotati di ricerca web, trovare e citare pagine specifiche. Approfondire: esplorare un aspetto, chiedere spiegazioni, esempi, collegamenti. Organizzare: raggruppare le informazioni raccolte per tema, individuare sovrapposizioni e lacune, costruire uno schema. Produrre: preparare un dossier, una sintesi tematica, una nota di aggiornamento. Il valore principale è la velocità di orientamento: in pochi minuti si passa da 'non so nulla di questo argomento' a 'so che cosa cercare e dove', con una base organizzata da cui approfondire. Alcune funzioni di ricerca approfondita svolgono molte ricerche in sequenza e producono rapporti estesi con molte fonti: sono molto utili per un primo quadro, e le fonti che citano si valutano come qualsiasi altra fonte, come vedremo tra poco.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fondamentale, introdotta nel Tema 2 e qui ripresa per le sue conseguenze pratiche. La conoscenza incorporata nel modello è ciò che il modello ha appreso durante l'addestramento: è vasta e molto utile per concetti, spiegazioni e orientamento, ma è aggiornata fino a una data limite, non ha fonti precise da citare e, quando un'informazione manca, il sistema tende a ricostruire risposte plausibili. Le informazioni recuperate sono quelle che il sistema ottiene durante la conversazione tramite strumenti esterni: una ricerca web, i documenti caricati, una base documentale aziendale. Sono adatte a fatti recenti, dati, norme e prezzi, e possono essere citate; ma non sono automaticamente aggiornate né corrette: dipendono dalle fonti trovate, dalla loro data e dalla correttezza con cui lo strumento le legge e le riporta. Una pagina trovata dalla ricerca può essere vecchia, e non tutti gli strumenti indicano chiaramente le fonti. In pratica, la domanda da porsi davanti a una risposta è: da dove viene questa informazione? Se lo strumento indica le fonti consultate, si possono controllare data e contenuto. Se non le indica, la risposta viene probabilmente dalla conoscenza incorporata, e va trattata con più cautela per fatti recenti, dati specifici, norme, prezzi, persone. Molti strumenti combinano le due cose nella stessa risposta, e non sempre distinguono quale parte viene da dove.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requisiti delle informazioni trovate, che si valutano sulle fonti. L'attualità: un'informazione corretta un anno fa può non esserlo oggi, in particolare per norme e scadenze, prezzi e tariffe, ruoli, prodotti e versioni, dati di mercato. Conviene controllare la data della fonte e, per le informazioni sensibili al tempo, chiedere esplicitamente la versione più recente. L'attendibilità: chi ha prodotto l'informazione, con quali competenze e quali interessi? I criteri sono quelli visti nel Tema 7. Nella ricerca assistita c'è un aspetto specifico: il sistema seleziona e sintetizza le fonti con criteri non sempre trasparenti, e può dare lo stesso peso a una fonte istituzionale e a un blog, o presentare come consolidata una posizione che compare in poche fonti; per questo conviene chiedere di privilegiare fonti primarie e istituzionali. La ricerca assistita non è di per sé una verifica: il sistema ha trovato fonti ritenute pertinenti e ne ha riportato il contenuto. Per le informazioni che contano, la verifica ha tre passaggi: la fonte esiste ed è pertinente; sostiene davvero l'affermazione, con le stesse condizioni; è attuale rispetto all'uso. La ricerca assistita sposta il lavoro, non lo elimina: riduce molto il tempo per trovare il materiale e lascia più tempo per valutarlo. Il rischio da evitare è che la comodità di una risposta già accompagnata da fonti faccia saltare proprio questo passaggio.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volta raccolte le informazioni, l'AI è molto utile per organizzarle. Raggruppare per tema: da trenta appunti e documenti sparsi a una struttura per argomenti. Individuare sovrapposizioni, contraddizioni e lacune, applicando quanto visto nell'8.5. Preparare un dossier su un fornitore, un mercato o una normativa, in vista di una riunione o di una decisione, oppure note di aggiornamento periodiche. Il modo più affidabile è separare le fasi: prima raccogliere le fonti e valutarne attendibilità e attualità; poi fornire al sistema il materiale raccolto e chiedergli di organizzarlo, citando le fonti per ogni punto; infine rivedere coerenza, lacune e punti incerti. Così il dossier si basa su fonti scelte e controllate, e non sulla conoscenza incorporata del modello. Un buon dossier dichiara le sue fonti, la data a cui è aggiornato e i punti che restano incerti. Un uso prezioso, a destra, è il confronto tra prospettive: su argomenti complessi o dibattuti, il sistema aiuta a mappare posizioni diverse, a capire su che cosa concordano e divergono e su quali assunzioni si basano. È un modo efficace per non fermarsi alla prima fonte, una forma del bias di conferma vista nel Tema 7. Due accorgimenti: porre domande neutre, perché chiedere 'quali sono i vantaggi di' produce un quadro diverso da 'quali sono le valutazioni su'; e risalire alle fonti delle posizioni più rilevanti per la decisione, perché il quadro prodotto può dare lo stesso peso a posizioni maggioritarie e minoritarie, o semplificarle.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8.6. L'AI accelera molto l'orientamento su un argomento, la ricerca di fonti, l'approfondimento, l'organizzazione del materiale e la preparazione di dossier. Per usarla al meglio conviene distinguere la conoscenza incorporata nel modello dalle informazioni recuperate con strumenti esterni, valutare attualità e attendibilità delle fonti, porre domande neutre quando si confrontano prospettive, e ricordare che la ricerca assistita trova le fonti ma non le verifica. Esercizio suggerito: scegliere un argomento professionale con aspetti recenti, porre la stessa domanda a uno strumento senza ricerca web e a uno con ricerca web, e confrontare le risposte per attualità, fonti indicate e affermazioni verificabili.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del nucleo distintivo: la gestione della conoscenza. Mentre l'8.6 riguardava la ricerca su fonti esterne, qui guardiamo al patrimonio documentale dell'organizzazione: procedure, manuali, contratti, documentazione tecnica, verbali, FAQ. Le aziende producono enormi quantità di documenti, ma spesso trovare la risposta giusta al momento giusto resta difficile. L'AI apre una possibilità nuova: interrogare una raccolta documentale in linguaggio naturale, come si farebbe con un collega esperto, e ottenere risposte collegate ai documenti. Una distinzione utile per il relatore: i dati sono elementi elementari, come un numero o un codice; le informazioni sono dati con un significato e un contesto; i documenti sono contenitori organizzati di informazioni; la conoscenza è la capacità di usare le informazioni per decidere e agire. In azienda la conoscenza è in parte nei documenti e in parte nelle persone: l'AI lavora su quella scritta. In questo sottotema, da comprendere nelle sue opportunità, vediamo gli assistenti sulla documentazione, come funzionano, un esempio di risposta con riferimenti e le condizioni che rendono un archivio davvero interrogabile. Gli aspetti tecnici, come l'architettura RAG vista nel Tema 2, restano solo accennati; la progettazione di questi sistemi in azienda appartiene al Tema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assistenti basati sulla documentazione permettono di interrogare in linguaggio naturale una raccolta definita di documenti. Le opportunità sono concrete. Un assistente sulle procedure interne risponde a domande come 'come si richiede un rimborso spese per una trasferta all'estero?'. Un assistente sulla documentazione tecnica aiuta il servizio di assistenza a trovare la soluzione a un problema descritto dal cliente. Un assistente sulle condizioni contrattuali aiuta il commerciale a rispondere su garanzie e tempi. Un assistente per l'inserimento dei nuovi colleghi raccoglie regole, contatti e prassi in un unico punto. Il valore è ridurre il tempo per trovare le informazioni, rendere accessibile la conoscenza anche a chi non sa dove cercare, e alleggerire le persone esperte dalle domande ripetitive. Molti strumenti di uso comune permettono già di creare piccoli assistenti su un insieme di documenti; le soluzioni aziendali su larga scala richiedono progettazione, integrazione e gestione dei permessi, temi del Tema 14. Gli assistenti e gli agenti che svolgono azioni sono invece nel Tema 11. Qui ci interessa che cosa possono offrire, e a quali condizioni.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Senza entrare nell'architettura tecnica, è utile capire dal punto di vista dell'utilizzatore che cosa succede quando si interroga una raccolta documentale. Il funzionamento tipico, che nel Tema 2 abbiamo chiamato RAG, avviene in due passaggi. Primo, il recupero: a partire dalla domanda, il sistema cerca nella raccolta i passaggi più pertinenti. Secondo, la generazione: il modello produce una risposta basandosi su quei passaggi, e idealmente li cita. Questa descrizione spiega molti comportamenti che l'utente osserva, e suggerisce come ottenere risposte migliori. Se il recupero non trova il passaggio giusto, perché la domanda usa parole diverse dal documento, la risposta sarà incompleta: aiuta usare il lessico dei documenti. Se il recupero trova documenti superati, la risposta sarà superata: servono versioni gestite, e conviene controllare la data del documento citato. Se non trova nulla di pertinente, un buon sistema lo dice, ma alcuni rispondono con la conoscenza generale del modello: aiuta chiedere di rispondere solo sulla base dei documenti. Se la generazione riporta male un passaggio corretto, la risposta sarà sbagliata con una fonte giusta: per questo, per le risposte che contano, si apre il passaggio citato.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esempio completo, con dati fittizi, di risposta collegata ai documenti. A sinistra, la raccolta su cui lavora l'assistente: alcune procedure e regolamenti amministrativi. Al centro, la domanda di un collega, la risposta e il riferimento: documento, versione, data, sezione e passaggio. In pochi secondi il collega ha la risposta, senza cercare il file giusto tra decine di cartelle. Il riferimento permette tre cose. Verificare rapidamente che la risposta corrisponda a ciò che dice il documento. Controllare che il documento sia quello giusto e aggiornato: qui la versione 3.2 di gennaio. Leggere il contesto del passaggio, che spesso contiene condizioni ed eccezioni: in questo caso la possibilità di presentare note intermedie per le trasferte lunghe, che la risposta non riporta. Una risposta senza riferimenti, invece, non permette di distinguere un'informazione tratta dalla documentazione aziendale da un'informazione generica prodotta dal modello. Per chi valuta o sceglie uno strumento di questo tipo, la presenza di riferimenti precisi e cliccabili è un requisito importante. Per chi lo usa, la buona pratica è aprire il riferimento quando la risposta servirà per una decisione o un'azione con conseguenze.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Possedere un archivio di documenti e poterlo interrogare in modo affidabile sono due cose diverse, ma la distanza tra le due si può ridurre, anche con l'aiuto dell'AI. Un archivio documentale è una raccolta di file, organizzata per cartelle o in un sistema di gestione: si cerca un documento, lo si apre, lo si legge. La conoscenza interrogabile è una raccolta su cui si pone una domanda e si ottiene una risposta corretta, basata sui documenti pertinenti e collegata ad essi. L'AI rende più accessibili anche archivi imperfetti, perché la ricerca per significato trova documenti che la ricerca per parole chiave non troverebbe, e aiuta a metterli in ordine: classificare i documenti, proporre titoli, sezioni e metadati, segnalare duplicati e versioni in conflitto. La qualità delle risposte resta però legata alla qualità di ciò che c'è nella raccolta. Sul lato dei documenti: contenuti corretti e coerenti, struttura chiara, informazioni esplicite, perché ciò che è solo nella testa delle persone non può essere recuperato. Sul lato della raccolta: un perimetro chiaro, versioni gestite, permessi coerenti, perché ciascuno dovrebbe poter interrogare solo ciò che è autorizzato a vedere. Sul lato dell'uso: domande che usino il lessico dei documenti e controllo dei riferimenti per le risposte con conseguenze. Spesso l'introduzione di un assistente rende visibili problemi di organizzazione che esistevano già, ed è un'occasione per risolverli.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aspetto spesso sottovalutato della conoscenza interrogabile è il tempo. Le procedure cambiano, i listini si aggiornano, i contratti vengono rinnovati, le persone cambiano ruolo. Un archivio che contiene più versioni dello stesso documento, senza indicare quale è valida, è un problema già per una persona; per un sistema AI lo è di più, perché il recupero può trovare il passaggio della versione vecchia, magari perché è scritto in modo più simile alla domanda, e la risposta arriva con la stessa sicurezza. Il risultato è un'informazione superata con l'aspetto di un'informazione aggiornata e documentata. Alcune condizioni rendono la raccolta affidabile nel tempo. Chiarezza sulla versione valida: documenti superati rimossi o marcati come tali. Date e numeri di versione visibili nei documenti. Responsabilità definite per l'aggiornamento di ciascun documento. Riesami periodici della raccolta, in cui l'AI stessa può aiutare a individuare versioni in conflitto. Per l'utente, il comportamento pratico è controllare versione e data del documento citato, specialmente per regole, prezzi e scadenze. Le modalità con cui l'azienda gestisce questi processi appartengono al Tema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8.7. L'AI permette di interrogare raccolte documentali in linguaggio naturale, con assistenti sulle procedure, sulla documentazione tecnica, sulle condizioni contrattuali, e aiuta anche a organizzare archivi imperfetti. È una possibilità di grande valore. Il funzionamento in due passaggi, recupero e generazione, spiega perché le risposte migliorano con documenti chiari e aggiornati, versioni gestite e domande che usano il lessico dei documenti. Le risposte collegate ai documenti, con versione e passaggio, rendono l'accesso controllabile. Il documento di perimetro lo formula così: l'AI può agevolare l'accesso alle informazioni documentali, ma non risolve da sola i problemi di organizzazione e qualità della conoscenza. Esercizio suggerito: se in azienda è disponibile uno strumento autorizzato per creare un piccolo assistente su documenti, caricare alcune procedure fittizie, di cui una in due versioni contraddittorie, e osservare come risponde alle domande, verificando i riferimenti.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che attraversa tutte le modalità. Nei sottotemi precedenti abbiamo incontrato, al momento giusto, i punti di attenzione specifici: perdite di significato, riferimenti da controllare, campi incerti, versioni superate. Qui li guardiamo dal punto di vista delle condizioni di efficacia: da che cosa dipende il fatto che un'elaborazione documentale funzioni bene, e quali tecniche aiutano. Non ripetiamo la teoria generale delle allucinazioni e dell'affidabilità del Tema 3: ne consideriamo gli effetti sui documenti. E concludiamo con una guida pratica per decidere quanto controllare.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carichiamo un file e otteniamo una risposta sicura e ben organizzata, tendiamo a pensare che il sistema abbia letto il documento come lo leggeremmo noi, tutto e con attenzione. Spesso è così, ma non è garantito: tra il caricamento e la comprensione ci sono più passaggi. Il file deve essere convertito in testo, e tabelle, immagini e scansioni possono essere lette in modo parziale. Il documento deve essere elaborato in tutte le sue parti: alcuni strumenti, con documenti molto grandi, ne usano solo i passaggi ritenuti pertinenti alla domanda, oppure lo elaborano a pezzi; e oltre il limite di contesto, visto nel Tema 2, il documento non può essere considerato tutto insieme. Infine, il contenuto deve essere interpretato correttamente. Le capacità su questi aspetti variano molto secondo il modello, lo strumento, il formato e la dimensione del documento, e migliorano di continuo. Uno studio pubblicato nel 2024 da Liu e colleghi, noto come 'lost in the middle', ha osservato che i modelli allora testati usavano meno le informazioni collocate al centro di testi lunghi rispetto a quelle all'inizio e alla fine; molti modelli successivi risultano migliorati, in misura diversa da sistema a sistema e da compito a compito, quindi il fenomeno va considerato una possibilità da controllare, non una regola. Quattro tecniche pratiche aiutano a ottenere una buona copertura. Elaborare per sezioni, con richieste distinte, e poi ricomporre. Usare la ricerca mirata, con domande su punti specifici, anche centrali. Verificare la copertura, per esempio con una sintesi per sezioni, che rende visibile se una parte manca. Recuperare i riferimenti, cioè passaggio e pagina, per i punti che contano.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condizione di efficacia riguarda i documenti di partenza. Un principio noto dell'informatica dice: se entra spazzatura, esce spazzatura. Vale anche qui, con una particolarità: con l'AI, da documenti di scarsa qualità esce comunque un risultato ben scritto, quindi la qualità dei documenti va curata a monte. A sinistra, le caratteristiche dei documenti che funzionano meglio: contenuto corretto e coerente, perché errori e contraddizioni vengono riportati o risolti in silenzio scegliendo una delle versioni; struttura chiara, con titoli, sezioni, numerazione e un tema per paragrafo; linguaggio esplicito, perché riferimenti impliciti come 'come concordato' o 'la solita procedura' non sono interpretabili; formato digitale nativo, cioè un file prodotto da un programma di scrittura, più affidabile di una scansione. A destra, gli elementi di formato da tenere d'occhio e che cosa verificare. Le scansioni sono immagini: il testo va riconosciuto, con tecniche di riconoscimento ottico o con le capacità visive dei modelli multimodali, e un errore su una cifra cambia un importo. Scritture a mano e timbri possono essere letti male o ignorati. Le tabelle possono essere lette correttamente oppure appiattite, con valori sotto l'intestazione sbagliata. Immagini e grafici, a seconda dello strumento, possono essere ignorati o interpretati in modo impreciso. Testo su più colonne, note e riquadri possono essere letti nell'ordine sbagliato. Gli strumenti migliorano rapidamente su tutti questi aspetti, e i documenti che funzionano meglio per l'AI sono gli stessi che funzionano meglio per le persone: migliorarli è un investimento che vale doppio. La multimodalità in sé è nel Tema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ultimi aspetti, che attraversano tutte le modalità. Il primo è il linguaggio specialistico: documenti giuridici, tecnici, medici o finanziari usano termini con significati precisi, spesso diversi da quelli comuni, come 'risoluzione' in un contratto, 'tolleranza' in una specifica tecnica, 'competenza' in contabilità. I sistemi conoscono molti linguaggi specialistici, ma possono interpretare un termine nel senso comune o non conoscere il gergo e le sigle di un'azienda. Aiuta fornire un glossario; sui documenti specialistici con conseguenze serve la revisione di chi conosce la materia, come visto nel Tema 7. Il secondo riguarda il significato. Ridurre o trasformare un documento può introdurre tre tipi di scostamento. Le omissioni: elementi presenti nel documento e assenti nel risultato, come una condizione o un'eccezione. Le alterazioni: elementi presenti in entrambi, ma con un significato diverso, come un obbligo attenuato o un'incertezza diventata certezza. Le aggiunte: elementi presenti nel risultato e assenti nel documento, dedotti o inventati. Ciascuno si individua con una tecnica già vista nel modulo: l'elenco degli elementi da conservare per le omissioni, il confronto con l'originale sui punti critici per le alterazioni, un riferimento per ogni affermazione per le aggiunte. Per questo la tracciabilità, che abbiamo incontrato in quasi tutti i sottotemi, non è un dettaglio tecnico: è la condizione che rende possibile il controllo. Un'ultima nota sui riferimenti: i numeri di pagina sono i più fragili, perché la numerazione del documento può non coincidere con quella del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ogni elaborazione richiede lo stesso controllo, e controllare tutto allo stesso modo toglierebbe all'AI gran parte del suo valore. La tabella propone una guida pratica in tre livelli. Il controllo leggero vale per orientarsi, per un uso personale o quando un eventuale errore è facile da correggere: basta una lettura critica del risultato, chiedendosi se è plausibile e se manca qualcosa di ovvio. Esempio: capire se vale la pena leggere un rapporto. Il controllo a campione vale per il lavoro interno, i risultati in serie e le bozze: si verificano i punti critici e una parte dei record, usando i riferimenti. Esempio: una tabella di lavoro estratta da duecento email. Il controllo approfondito vale per decisioni con conseguenze, testi destinati all'esterno o con valore legale, e ogni volta che il risultato sostituisce la lettura dell'originale: confronto sistematico con l'originale sugli elementi critici e, se serve, revisione di un esperto. Esempio: la risposta formale a un fornitore. Il livello non è fisso: dipende dal rischio, dal processo e dalle verifiche disponibili. Lo alzano documenti di qualità incerta, come scansioni o documenti lunghi e complessi, contenuti specialistici o con valore legale, l'assenza di riferimenti. Lo abbassano controlli già previsti dal processo, come una seconda approvazione o verifiche automatiche, e risultati facilmente reversibili. Il principio, sviluppato nel Tema 7, è che più il risultato sostituisce la lettura dell'originale, più deve essere controllato.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L'efficacia dell'elaborazione documentale dipende dal modello e dallo strumento, dalla qualità e dalla struttura dei documenti, dal formato, dalla lunghezza e dal linguaggio specialistico. Per ciascun aspetto esistono tecniche pratiche: elaborare per sezioni, usare la ricerca mirata, verificare la copertura, recuperare i riferimenti, fornire glossari. Omissioni, alterazioni e aggiunte si individuano con la tracciabilità, e il livello di controllo si sceglie in base a rischio, processo e verifiche disponibili. Esercizio suggerito: caricare in uno strumento autorizzato un documento fittizio con una tabella, una nota a piè di pagina e una sezione centrale contenente un'informazione chiave, e verificare con domande mirate che cosa il sistema ha effettivamente elaborato.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principali apprendimenti, uno per sottotema. Generazione: testi in meno tempo, se si forniscono materiale, destinatario ed esempi, con un livello di revisione proporzionato al rischio. Trasformazione: correggere, semplificare, tradurre e riorganizzare testi esistenti, dicendo che cosa non deve cambiare. Sintesi: sintesi mirate allo scopo, con i riferimenti ai passaggi originali e gli elementi decisivi conservati. Estrazione: da testi liberi a dati utilizzabili, con regole per i campi incerti e una validazione prima dell'uso. Confronto: matrici e confronti che mettono in evidenza le differenze rilevanti per decidere, verificabili nelle fonti. Ricerca: orientamento rapido, distinguendo la conoscenza del modello dalle fonti recuperate, che si valutano. Gestione della conoscenza: archivi interrogabili con risposte collegate ai documenti, la cui qualità dipende da qualità e aggiornamento della raccolta. Condizioni di efficacia: le capacità variano per strumento, formato e lunghezza; tecniche di copertura e controlli proporzionati a rischio, processo e uso. Suggerimento: chiedere ai partecipanti quale di questi usi sperimenteranno per primo nel proprio lavoro, e con quale documento.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modulo in una scheda pratica, organizzata per modalità. Produrre: fornire il materiale di partenza, indicare destinatario e tono, scegliere il livello di autonomia in base a rischio e processo. Trasformare: partire da materiale corretto, dichiarare le modifiche ammesse, confrontare con l'originale gli elementi che non devono cambiare. Analizzare e strutturare: dichiarare lo scopo della sintesi, chiedere riferimenti ai passaggi, definire campi e regole per i valori mancanti, classificare le differenze nei confronti, validare prima dell'uso. Recuperare conoscenza: chiedersi da dove viene l'informazione, valutare attualità e attendibilità, aprire i riferimenti, controllare versione e data dei documenti. E per tutte le modalità: caricare i documenti solo negli strumenti autorizzati dall'azienda; usare le tecniche di copertura per documenti lunghi e complessi; proporzionare i controlli all'uso. Il messaggio centrale del tema: l'AI può trasformare il lavoro su testi, documenti e conoscenza, a condizione di non confondere un'elaborazione convincente con un'elaborazione completa e verificata.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facoltativa: se il modulo è presentato da solo o in una selezione di slide, può essere nascosta o tolta senza perdere nulla del contenuto. Con il Tema 8 si apre l'area 'Esplorare le possibilità dell'AI', che guarda a che cosa si può fare concretamente con l'AI nei diversi ambiti di lavoro. Abbiamo iniziato dai testi, dai documenti e dalla conoscenza, perché è l'ambito più maturo e più trasversale. Il tema successivo, il Tema 9, è dedicato all'AI per dati e analisi: preparazione, elaborazione, analisi, interpretazione e rappresentazione dei dati. È il naturale proseguimento dell'8.4: abbiamo visto come trasformare testi in dati strutturati, ora vedremo come analizzarli. Nel percorso tornano poi l'AI multimodale, nel Tema 10; assistenti, agenti e automazioni, nel Tema 11, dove torneranno gli assistenti documentali e i flussi di estrazione automatica; AI, dati e conoscenza aziendale, nel Tema 14, dove si affronta la progettazione dei sistemi di conoscenza in azienda. In tutti questi temi resteranno validi i principi di questo modulo: fedeltà del significato, completezza, tracciabilità verso le fonti. Lasciare spazio alle domande finali.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citate nel modulo. Lo studio di Liu e colleghi, già presentato nel Tema 2, è citato nella slide 'Dal caricamento all'elaborazione' con la precisazione che il fenomeno osservato varia tra i sistemi attuali; il lavoro di Lewis e colleghi introduce l'architettura RAG, qui solo accennata e approfondita nel Tema 14. Il modulo si basa soprattutto sull'esperienza pratica dell'uso dell'AI su testi e documenti, che evolve rapidamente: le capacità degli strumenti nella gestione di documenti lunghi, tabelle e scansioni migliorano di continuo. Prima di ogni edizione è consigliabile verificare le funzionalità degli strumenti autorizzati in azienda, e aggiornare gli esempi di conseguenza. Tutti gli esempi usati nelle slide, compresi appunti, verbali, rapporti, email, offerte e procedure, sono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8  ·  AI per testi, documenti e conoscenza</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8  ·  AI per testi, documenti e conoscenza</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8  ·  AI per testi, documenti e conoscenza</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4.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4.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4.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4.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4.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4.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8</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AI per testi, documenti e conoscenza</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Esplorare le possibilità dell'AI</a:t>
            </a:r>
            <a:endParaRPr lang="en-US" sz="1600" dirty="0"/>
          </a:p>
          <a:p>
            <a:pPr indent="0" marL="0">
              <a:buNone/>
            </a:pPr>
            <a:r>
              <a:rPr lang="en-US" sz="1600" dirty="0">
                <a:solidFill>
                  <a:schemeClr val="accent3"/>
                </a:solidFill>
              </a:rPr>
              <a:t>Contenuti aggiornati a ottobre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Conoscere che cosa l'AI può fare su testi, documenti e conoscenza</a:t>
            </a:r>
            <a:endParaRPr lang="en-US" sz="1400" dirty="0"/>
          </a:p>
          <a:p>
            <a:pPr marL="177800" indent="-177800">
              <a:spcAft>
                <a:spcPts val="600"/>
              </a:spcAft>
              <a:buSzPct val="100000"/>
              <a:buChar char="•"/>
            </a:pPr>
            <a:r>
              <a:rPr lang="en-US" sz="1400" dirty="0">
                <a:solidFill>
                  <a:schemeClr val="tx2"/>
                </a:solidFill>
              </a:rPr>
              <a:t>Distinguere produrre, trasformare, analizzare, recuperare</a:t>
            </a:r>
            <a:endParaRPr lang="en-US" sz="1400" dirty="0"/>
          </a:p>
          <a:p>
            <a:pPr marL="177800" indent="-177800">
              <a:spcAft>
                <a:spcPts val="600"/>
              </a:spcAft>
              <a:buSzPct val="100000"/>
              <a:buChar char="•"/>
            </a:pPr>
            <a:r>
              <a:rPr lang="en-US" sz="1400" dirty="0">
                <a:solidFill>
                  <a:schemeClr val="tx2"/>
                </a:solidFill>
              </a:rPr>
              <a:t>Ottenere risultati migliori e controllarli in modo proporzionato</a:t>
            </a:r>
            <a:endParaRPr lang="en-US" sz="1400" dirty="0"/>
          </a:p>
        </p:txBody>
      </p:sp>
      <p:sp>
        <p:nvSpPr>
          <p:cNvPr id="9" name="scheda Da che cosa dipende il valore"/>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Da che cosa dipende il valore</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Materiale e fonti di qualità</a:t>
            </a:r>
            <a:endParaRPr lang="en-US" sz="1400" dirty="0"/>
          </a:p>
          <a:p>
            <a:pPr marL="177800" indent="-177800">
              <a:spcAft>
                <a:spcPts val="600"/>
              </a:spcAft>
              <a:buSzPct val="100000"/>
              <a:buChar char="•"/>
            </a:pPr>
            <a:r>
              <a:rPr lang="en-US" sz="1400" dirty="0">
                <a:solidFill>
                  <a:schemeClr val="tx2"/>
                </a:solidFill>
              </a:rPr>
              <a:t>Istruzioni chiare sullo scopo</a:t>
            </a:r>
            <a:endParaRPr lang="en-US" sz="1400" dirty="0"/>
          </a:p>
          <a:p>
            <a:pPr marL="177800" indent="-177800">
              <a:spcAft>
                <a:spcPts val="600"/>
              </a:spcAft>
              <a:buSzPct val="100000"/>
              <a:buChar char="•"/>
            </a:pPr>
            <a:r>
              <a:rPr lang="en-US" sz="1400" dirty="0">
                <a:solidFill>
                  <a:schemeClr val="tx2"/>
                </a:solidFill>
              </a:rPr>
              <a:t>Fedeltà e tracciabilità del risultato</a:t>
            </a:r>
            <a:endParaRPr lang="en-US" sz="1400" dirty="0"/>
          </a:p>
          <a:p>
            <a:pPr marL="177800" indent="-177800">
              <a:spcAft>
                <a:spcPts val="600"/>
              </a:spcAft>
              <a:buSzPct val="100000"/>
              <a:buChar char="•"/>
            </a:pPr>
            <a:r>
              <a:rPr lang="en-US" sz="1400" dirty="0">
                <a:solidFill>
                  <a:schemeClr val="tx2"/>
                </a:solidFill>
              </a:rPr>
              <a:t>Controlli adeguati all'uso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 quattro modalità</a:t>
            </a:r>
            <a:endParaRPr lang="en-US" sz="2600" dirty="0"/>
          </a:p>
        </p:txBody>
      </p:sp>
      <p:sp>
        <p:nvSpPr>
          <p:cNvPr id="4" name="Produrre"/>
          <p:cNvSpPr/>
          <p:nvPr/>
        </p:nvSpPr>
        <p:spPr>
          <a:xfrm>
            <a:off x="457200" y="1097280"/>
            <a:ext cx="1920240" cy="2514600"/>
          </a:xfrm>
          <a:prstGeom prst="roundRect">
            <a:avLst>
              <a:gd name="adj" fmla="val 3810"/>
            </a:avLst>
          </a:prstGeom>
          <a:solidFill>
            <a:schemeClr val="bg2"/>
          </a:solidFill>
          <a:ln/>
        </p:spPr>
      </p:sp>
      <p:sp>
        <p:nvSpPr>
          <p:cNvPr id="5" name="cerchio FiEdit3"/>
          <p:cNvSpPr/>
          <p:nvPr/>
        </p:nvSpPr>
        <p:spPr>
          <a:xfrm>
            <a:off x="1097280" y="1234440"/>
            <a:ext cx="640080" cy="640080"/>
          </a:xfrm>
          <a:prstGeom prst="ellipse">
            <a:avLst/>
          </a:prstGeom>
          <a:solidFill>
            <a:schemeClr val="accent1"/>
          </a:solidFill>
          <a:ln/>
        </p:spPr>
      </p:sp>
      <p:pic>
        <p:nvPicPr>
          <p:cNvPr id="6" name="Image 0" descr="FiEdit3">    </p:cNvPr>
          <p:cNvPicPr>
            <a:picLocks noChangeAspect="1"/>
          </p:cNvPicPr>
          <p:nvPr/>
        </p:nvPicPr>
        <p:blipFill>
          <a:blip r:embed="rId1"/>
          <a:stretch>
            <a:fillRect/>
          </a:stretch>
        </p:blipFill>
        <p:spPr>
          <a:xfrm>
            <a:off x="1257300" y="1394460"/>
            <a:ext cx="320040" cy="320040"/>
          </a:xfrm>
          <a:prstGeom prst="rect">
            <a:avLst/>
          </a:prstGeom>
        </p:spPr>
      </p:pic>
      <p:sp>
        <p:nvSpPr>
          <p:cNvPr id="7" name="Text 3"/>
          <p:cNvSpPr txBox="1"/>
          <p:nvPr/>
        </p:nvSpPr>
        <p:spPr>
          <a:xfrm>
            <a:off x="548640" y="1965960"/>
            <a:ext cx="1737360" cy="548640"/>
          </a:xfrm>
          <a:prstGeom prst="rect">
            <a:avLst/>
          </a:prstGeom>
          <a:noFill/>
          <a:ln/>
        </p:spPr>
        <p:txBody>
          <a:bodyPr wrap="square" lIns="0" tIns="0" rIns="0" bIns="0" rtlCol="0" anchor="ctr"/>
          <a:lstStyle/>
          <a:p>
            <a:pPr algn="ctr" indent="0" marL="0">
              <a:buNone/>
            </a:pPr>
            <a:r>
              <a:rPr lang="en-US" sz="1500" b="1" dirty="0">
                <a:solidFill>
                  <a:schemeClr val="tx1"/>
                </a:solidFill>
              </a:rPr>
              <a:t>Produrre</a:t>
            </a:r>
            <a:endParaRPr lang="en-US" sz="1500" dirty="0"/>
          </a:p>
        </p:txBody>
      </p:sp>
      <p:sp>
        <p:nvSpPr>
          <p:cNvPr id="8" name="Text 4"/>
          <p:cNvSpPr txBox="1"/>
          <p:nvPr/>
        </p:nvSpPr>
        <p:spPr>
          <a:xfrm>
            <a:off x="594360" y="2560320"/>
            <a:ext cx="1645920" cy="548640"/>
          </a:xfrm>
          <a:prstGeom prst="rect">
            <a:avLst/>
          </a:prstGeom>
          <a:noFill/>
          <a:ln/>
        </p:spPr>
        <p:txBody>
          <a:bodyPr wrap="square" lIns="0" tIns="0" rIns="0" bIns="0" rtlCol="0" anchor="t"/>
          <a:lstStyle/>
          <a:p>
            <a:pPr algn="ctr" indent="0" marL="0">
              <a:buNone/>
            </a:pPr>
            <a:r>
              <a:rPr lang="en-US" sz="1200" dirty="0">
                <a:solidFill>
                  <a:schemeClr val="tx2"/>
                </a:solidFill>
              </a:rPr>
              <a:t>Creare contenuti nuovi da istruzioni</a:t>
            </a:r>
            <a:endParaRPr lang="en-US" sz="1200" dirty="0"/>
          </a:p>
        </p:txBody>
      </p:sp>
      <p:sp>
        <p:nvSpPr>
          <p:cNvPr id="9" name="Text 5"/>
          <p:cNvSpPr txBox="1"/>
          <p:nvPr/>
        </p:nvSpPr>
        <p:spPr>
          <a:xfrm>
            <a:off x="54864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8.1</a:t>
            </a:r>
            <a:endParaRPr lang="en-US" sz="1200" dirty="0"/>
          </a:p>
        </p:txBody>
      </p:sp>
      <p:sp>
        <p:nvSpPr>
          <p:cNvPr id="10" name="freccia"/>
          <p:cNvSpPr/>
          <p:nvPr/>
        </p:nvSpPr>
        <p:spPr>
          <a:xfrm>
            <a:off x="2386584" y="2194560"/>
            <a:ext cx="155448" cy="292608"/>
          </a:xfrm>
          <a:prstGeom prst="rightArrow">
            <a:avLst/>
          </a:prstGeom>
          <a:solidFill>
            <a:schemeClr val="accent2"/>
          </a:solidFill>
          <a:ln/>
        </p:spPr>
      </p:sp>
      <p:sp>
        <p:nvSpPr>
          <p:cNvPr id="11" name="Trasformare"/>
          <p:cNvSpPr/>
          <p:nvPr/>
        </p:nvSpPr>
        <p:spPr>
          <a:xfrm>
            <a:off x="2560320" y="1097280"/>
            <a:ext cx="1920240" cy="2514600"/>
          </a:xfrm>
          <a:prstGeom prst="roundRect">
            <a:avLst>
              <a:gd name="adj" fmla="val 3810"/>
            </a:avLst>
          </a:prstGeom>
          <a:solidFill>
            <a:schemeClr val="bg2"/>
          </a:solidFill>
          <a:ln/>
        </p:spPr>
      </p:sp>
      <p:sp>
        <p:nvSpPr>
          <p:cNvPr id="12" name="cerchio FiRefreshCw"/>
          <p:cNvSpPr/>
          <p:nvPr/>
        </p:nvSpPr>
        <p:spPr>
          <a:xfrm>
            <a:off x="3200400" y="1234440"/>
            <a:ext cx="640080" cy="640080"/>
          </a:xfrm>
          <a:prstGeom prst="ellipse">
            <a:avLst/>
          </a:prstGeom>
          <a:solidFill>
            <a:schemeClr val="accent1"/>
          </a:solidFill>
          <a:ln/>
        </p:spPr>
      </p:sp>
      <p:pic>
        <p:nvPicPr>
          <p:cNvPr id="13" name="Image 1" descr="FiRefreshCw">    </p:cNvPr>
          <p:cNvPicPr>
            <a:picLocks noChangeAspect="1"/>
          </p:cNvPicPr>
          <p:nvPr/>
        </p:nvPicPr>
        <p:blipFill>
          <a:blip r:embed="rId2"/>
          <a:stretch>
            <a:fillRect/>
          </a:stretch>
        </p:blipFill>
        <p:spPr>
          <a:xfrm>
            <a:off x="3360420" y="1394460"/>
            <a:ext cx="320040" cy="320040"/>
          </a:xfrm>
          <a:prstGeom prst="rect">
            <a:avLst/>
          </a:prstGeom>
        </p:spPr>
      </p:pic>
      <p:sp>
        <p:nvSpPr>
          <p:cNvPr id="14" name="Text 9"/>
          <p:cNvSpPr txBox="1"/>
          <p:nvPr/>
        </p:nvSpPr>
        <p:spPr>
          <a:xfrm>
            <a:off x="2651760" y="1965960"/>
            <a:ext cx="1737360" cy="548640"/>
          </a:xfrm>
          <a:prstGeom prst="rect">
            <a:avLst/>
          </a:prstGeom>
          <a:noFill/>
          <a:ln/>
        </p:spPr>
        <p:txBody>
          <a:bodyPr wrap="square" lIns="0" tIns="0" rIns="0" bIns="0" rtlCol="0" anchor="ctr"/>
          <a:lstStyle/>
          <a:p>
            <a:pPr algn="ctr" indent="0" marL="0">
              <a:buNone/>
            </a:pPr>
            <a:r>
              <a:rPr lang="en-US" sz="1500" b="1" dirty="0">
                <a:solidFill>
                  <a:schemeClr val="tx1"/>
                </a:solidFill>
              </a:rPr>
              <a:t>Trasformare</a:t>
            </a:r>
            <a:endParaRPr lang="en-US" sz="1500" dirty="0"/>
          </a:p>
        </p:txBody>
      </p:sp>
      <p:sp>
        <p:nvSpPr>
          <p:cNvPr id="15" name="Text 10"/>
          <p:cNvSpPr txBox="1"/>
          <p:nvPr/>
        </p:nvSpPr>
        <p:spPr>
          <a:xfrm>
            <a:off x="2697480" y="2560320"/>
            <a:ext cx="1645920" cy="548640"/>
          </a:xfrm>
          <a:prstGeom prst="rect">
            <a:avLst/>
          </a:prstGeom>
          <a:noFill/>
          <a:ln/>
        </p:spPr>
        <p:txBody>
          <a:bodyPr wrap="square" lIns="0" tIns="0" rIns="0" bIns="0" rtlCol="0" anchor="t"/>
          <a:lstStyle/>
          <a:p>
            <a:pPr algn="ctr" indent="0" marL="0">
              <a:buNone/>
            </a:pPr>
            <a:r>
              <a:rPr lang="en-US" sz="1200" dirty="0">
                <a:solidFill>
                  <a:schemeClr val="tx2"/>
                </a:solidFill>
              </a:rPr>
              <a:t>Lavorare su un testo esistente</a:t>
            </a:r>
            <a:endParaRPr lang="en-US" sz="1200" dirty="0"/>
          </a:p>
        </p:txBody>
      </p:sp>
      <p:sp>
        <p:nvSpPr>
          <p:cNvPr id="16" name="Text 11"/>
          <p:cNvSpPr txBox="1"/>
          <p:nvPr/>
        </p:nvSpPr>
        <p:spPr>
          <a:xfrm>
            <a:off x="265176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8.2</a:t>
            </a:r>
            <a:endParaRPr lang="en-US" sz="1200" dirty="0"/>
          </a:p>
        </p:txBody>
      </p:sp>
      <p:sp>
        <p:nvSpPr>
          <p:cNvPr id="17" name="freccia"/>
          <p:cNvSpPr/>
          <p:nvPr/>
        </p:nvSpPr>
        <p:spPr>
          <a:xfrm>
            <a:off x="4489704" y="2194560"/>
            <a:ext cx="155448" cy="292608"/>
          </a:xfrm>
          <a:prstGeom prst="rightArrow">
            <a:avLst/>
          </a:prstGeom>
          <a:solidFill>
            <a:schemeClr val="accent2"/>
          </a:solidFill>
          <a:ln/>
        </p:spPr>
      </p:sp>
      <p:sp>
        <p:nvSpPr>
          <p:cNvPr id="18" name="Analizzare e strutturare"/>
          <p:cNvSpPr/>
          <p:nvPr/>
        </p:nvSpPr>
        <p:spPr>
          <a:xfrm>
            <a:off x="4663440" y="1097280"/>
            <a:ext cx="1920240" cy="2514600"/>
          </a:xfrm>
          <a:prstGeom prst="roundRect">
            <a:avLst>
              <a:gd name="adj" fmla="val 3810"/>
            </a:avLst>
          </a:prstGeom>
          <a:solidFill>
            <a:schemeClr val="accent1"/>
          </a:solidFill>
          <a:ln/>
        </p:spPr>
      </p:sp>
      <p:sp>
        <p:nvSpPr>
          <p:cNvPr id="19" name="cerchio FiLayers"/>
          <p:cNvSpPr/>
          <p:nvPr/>
        </p:nvSpPr>
        <p:spPr>
          <a:xfrm>
            <a:off x="5303520" y="1234440"/>
            <a:ext cx="640080" cy="640080"/>
          </a:xfrm>
          <a:prstGeom prst="ellipse">
            <a:avLst/>
          </a:prstGeom>
          <a:solidFill>
            <a:schemeClr val="bg1"/>
          </a:solidFill>
          <a:ln/>
        </p:spPr>
      </p:sp>
      <p:pic>
        <p:nvPicPr>
          <p:cNvPr id="20" name="Image 2" descr="FiLayers">    </p:cNvPr>
          <p:cNvPicPr>
            <a:picLocks noChangeAspect="1"/>
          </p:cNvPicPr>
          <p:nvPr/>
        </p:nvPicPr>
        <p:blipFill>
          <a:blip r:embed="rId3"/>
          <a:stretch>
            <a:fillRect/>
          </a:stretch>
        </p:blipFill>
        <p:spPr>
          <a:xfrm>
            <a:off x="5463540" y="1394460"/>
            <a:ext cx="320040" cy="320040"/>
          </a:xfrm>
          <a:prstGeom prst="rect">
            <a:avLst/>
          </a:prstGeom>
        </p:spPr>
      </p:pic>
      <p:sp>
        <p:nvSpPr>
          <p:cNvPr id="21" name="Text 15"/>
          <p:cNvSpPr txBox="1"/>
          <p:nvPr/>
        </p:nvSpPr>
        <p:spPr>
          <a:xfrm>
            <a:off x="4754880" y="1965960"/>
            <a:ext cx="1737360" cy="548640"/>
          </a:xfrm>
          <a:prstGeom prst="rect">
            <a:avLst/>
          </a:prstGeom>
          <a:noFill/>
          <a:ln/>
        </p:spPr>
        <p:txBody>
          <a:bodyPr wrap="square" lIns="0" tIns="0" rIns="0" bIns="0" rtlCol="0" anchor="ctr"/>
          <a:lstStyle/>
          <a:p>
            <a:pPr algn="ctr" indent="0" marL="0">
              <a:buNone/>
            </a:pPr>
            <a:r>
              <a:rPr lang="en-US" sz="1500" b="1" dirty="0">
                <a:solidFill>
                  <a:schemeClr val="bg1"/>
                </a:solidFill>
              </a:rPr>
              <a:t>Analizzare e strutturare</a:t>
            </a:r>
            <a:endParaRPr lang="en-US" sz="1500" dirty="0"/>
          </a:p>
        </p:txBody>
      </p:sp>
      <p:sp>
        <p:nvSpPr>
          <p:cNvPr id="22" name="Text 16"/>
          <p:cNvSpPr txBox="1"/>
          <p:nvPr/>
        </p:nvSpPr>
        <p:spPr>
          <a:xfrm>
            <a:off x="4800600" y="2560320"/>
            <a:ext cx="1645920" cy="548640"/>
          </a:xfrm>
          <a:prstGeom prst="rect">
            <a:avLst/>
          </a:prstGeom>
          <a:noFill/>
          <a:ln/>
        </p:spPr>
        <p:txBody>
          <a:bodyPr wrap="square" lIns="0" tIns="0" rIns="0" bIns="0" rtlCol="0" anchor="t"/>
          <a:lstStyle/>
          <a:p>
            <a:pPr algn="ctr" indent="0" marL="0">
              <a:buNone/>
            </a:pPr>
            <a:r>
              <a:rPr lang="en-US" sz="1200" dirty="0">
                <a:solidFill>
                  <a:schemeClr val="bg1"/>
                </a:solidFill>
              </a:rPr>
              <a:t>Sintesi, estrazione, confronto</a:t>
            </a:r>
            <a:endParaRPr lang="en-US" sz="1200" dirty="0"/>
          </a:p>
        </p:txBody>
      </p:sp>
      <p:sp>
        <p:nvSpPr>
          <p:cNvPr id="23" name="Text 17"/>
          <p:cNvSpPr txBox="1"/>
          <p:nvPr/>
        </p:nvSpPr>
        <p:spPr>
          <a:xfrm>
            <a:off x="475488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6"/>
                </a:solidFill>
              </a:rPr>
              <a:t>8.3  8.4  8.5</a:t>
            </a:r>
            <a:endParaRPr lang="en-US" sz="1200" dirty="0"/>
          </a:p>
        </p:txBody>
      </p:sp>
      <p:sp>
        <p:nvSpPr>
          <p:cNvPr id="24" name="freccia"/>
          <p:cNvSpPr/>
          <p:nvPr/>
        </p:nvSpPr>
        <p:spPr>
          <a:xfrm>
            <a:off x="6592824" y="2194560"/>
            <a:ext cx="155448" cy="292608"/>
          </a:xfrm>
          <a:prstGeom prst="rightArrow">
            <a:avLst/>
          </a:prstGeom>
          <a:solidFill>
            <a:schemeClr val="accent2"/>
          </a:solidFill>
          <a:ln/>
        </p:spPr>
      </p:sp>
      <p:sp>
        <p:nvSpPr>
          <p:cNvPr id="25" name="Recuperare conoscenza"/>
          <p:cNvSpPr/>
          <p:nvPr/>
        </p:nvSpPr>
        <p:spPr>
          <a:xfrm>
            <a:off x="6766560" y="1097280"/>
            <a:ext cx="1920240" cy="2514600"/>
          </a:xfrm>
          <a:prstGeom prst="roundRect">
            <a:avLst>
              <a:gd name="adj" fmla="val 3810"/>
            </a:avLst>
          </a:prstGeom>
          <a:solidFill>
            <a:schemeClr val="bg2"/>
          </a:solidFill>
          <a:ln/>
        </p:spPr>
      </p:sp>
      <p:sp>
        <p:nvSpPr>
          <p:cNvPr id="26" name="cerchio FiDatabase"/>
          <p:cNvSpPr/>
          <p:nvPr/>
        </p:nvSpPr>
        <p:spPr>
          <a:xfrm>
            <a:off x="7406640" y="1234440"/>
            <a:ext cx="640080" cy="640080"/>
          </a:xfrm>
          <a:prstGeom prst="ellipse">
            <a:avLst/>
          </a:prstGeom>
          <a:solidFill>
            <a:schemeClr val="accent1"/>
          </a:solidFill>
          <a:ln/>
        </p:spPr>
      </p:sp>
      <p:pic>
        <p:nvPicPr>
          <p:cNvPr id="27" name="Image 3" descr="FiDatabase">    </p:cNvPr>
          <p:cNvPicPr>
            <a:picLocks noChangeAspect="1"/>
          </p:cNvPicPr>
          <p:nvPr/>
        </p:nvPicPr>
        <p:blipFill>
          <a:blip r:embed="rId4"/>
          <a:stretch>
            <a:fillRect/>
          </a:stretch>
        </p:blipFill>
        <p:spPr>
          <a:xfrm>
            <a:off x="7566660" y="1394460"/>
            <a:ext cx="320040" cy="320040"/>
          </a:xfrm>
          <a:prstGeom prst="rect">
            <a:avLst/>
          </a:prstGeom>
        </p:spPr>
      </p:pic>
      <p:sp>
        <p:nvSpPr>
          <p:cNvPr id="28" name="Text 21"/>
          <p:cNvSpPr txBox="1"/>
          <p:nvPr/>
        </p:nvSpPr>
        <p:spPr>
          <a:xfrm>
            <a:off x="6858000" y="1965960"/>
            <a:ext cx="1737360" cy="548640"/>
          </a:xfrm>
          <a:prstGeom prst="rect">
            <a:avLst/>
          </a:prstGeom>
          <a:noFill/>
          <a:ln/>
        </p:spPr>
        <p:txBody>
          <a:bodyPr wrap="square" lIns="0" tIns="0" rIns="0" bIns="0" rtlCol="0" anchor="ctr"/>
          <a:lstStyle/>
          <a:p>
            <a:pPr algn="ctr" indent="0" marL="0">
              <a:buNone/>
            </a:pPr>
            <a:r>
              <a:rPr lang="en-US" sz="1500" b="1" dirty="0">
                <a:solidFill>
                  <a:schemeClr val="tx1"/>
                </a:solidFill>
              </a:rPr>
              <a:t>Recuperare conoscenza</a:t>
            </a:r>
            <a:endParaRPr lang="en-US" sz="1500" dirty="0"/>
          </a:p>
        </p:txBody>
      </p:sp>
      <p:sp>
        <p:nvSpPr>
          <p:cNvPr id="29" name="Text 22"/>
          <p:cNvSpPr txBox="1"/>
          <p:nvPr/>
        </p:nvSpPr>
        <p:spPr>
          <a:xfrm>
            <a:off x="6903720" y="2560320"/>
            <a:ext cx="1645920" cy="548640"/>
          </a:xfrm>
          <a:prstGeom prst="rect">
            <a:avLst/>
          </a:prstGeom>
          <a:noFill/>
          <a:ln/>
        </p:spPr>
        <p:txBody>
          <a:bodyPr wrap="square" lIns="0" tIns="0" rIns="0" bIns="0" rtlCol="0" anchor="t"/>
          <a:lstStyle/>
          <a:p>
            <a:pPr algn="ctr" indent="0" marL="0">
              <a:buNone/>
            </a:pPr>
            <a:r>
              <a:rPr lang="en-US" sz="1200" dirty="0">
                <a:solidFill>
                  <a:schemeClr val="tx2"/>
                </a:solidFill>
              </a:rPr>
              <a:t>Ricerca e raccolte documentali</a:t>
            </a:r>
            <a:endParaRPr lang="en-US" sz="1200" dirty="0"/>
          </a:p>
        </p:txBody>
      </p:sp>
      <p:sp>
        <p:nvSpPr>
          <p:cNvPr id="30" name="Text 23"/>
          <p:cNvSpPr txBox="1"/>
          <p:nvPr/>
        </p:nvSpPr>
        <p:spPr>
          <a:xfrm>
            <a:off x="6858000" y="320040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8.6  8.7</a:t>
            </a:r>
            <a:endParaRPr lang="en-US" sz="1200" dirty="0"/>
          </a:p>
        </p:txBody>
      </p:sp>
      <p:sp>
        <p:nvSpPr>
          <p:cNvPr id="31" name="condizioni trasversali"/>
          <p:cNvSpPr/>
          <p:nvPr/>
        </p:nvSpPr>
        <p:spPr>
          <a:xfrm>
            <a:off x="457200" y="3749040"/>
            <a:ext cx="8229600" cy="777240"/>
          </a:xfrm>
          <a:prstGeom prst="roundRect">
            <a:avLst>
              <a:gd name="adj" fmla="val 9412"/>
            </a:avLst>
          </a:prstGeom>
          <a:solidFill>
            <a:schemeClr val="accent6"/>
          </a:solidFill>
          <a:ln/>
        </p:spPr>
      </p:sp>
      <p:sp>
        <p:nvSpPr>
          <p:cNvPr id="32" name="Text 25"/>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00" b="1" dirty="0">
                <a:solidFill>
                  <a:schemeClr val="accent1"/>
                </a:solidFill>
              </a:rPr>
              <a:t>8.8 Condizioni di efficacia: </a:t>
            </a:r>
            <a:pPr indent="0" marL="0">
              <a:buNone/>
            </a:pPr>
            <a:r>
              <a:rPr lang="en-US" sz="1300" dirty="0">
                <a:solidFill>
                  <a:schemeClr val="tx1"/>
                </a:solidFill>
              </a:rPr>
              <a:t>valgono per tutte le modalità. Le modalità si combinano: per un dossier si cerca, si sintetizza, si estrae e si scrive.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Attività diverse, valore e controlli</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737360"/>
                <a:gridCol w="2286000"/>
                <a:gridCol w="2194560"/>
                <a:gridCol w="2011680"/>
              </a:tblGrid>
              <a:tr h="457200">
                <a:tc>
                  <a:txBody>
                    <a:bodyPr/>
                    <a:lstStyle/>
                    <a:p>
                      <a:pPr indent="0" marL="0">
                        <a:buNone/>
                      </a:pPr>
                      <a:r>
                        <a:rPr lang="en-US" sz="1200" b="1" dirty="0">
                          <a:solidFill>
                            <a:schemeClr val="bg1"/>
                          </a:solidFill>
                        </a:rPr>
                        <a:t>Attività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offre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Come ottenere di più</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controllare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57200">
                <a:tc>
                  <a:txBody>
                    <a:bodyPr/>
                    <a:lstStyle/>
                    <a:p>
                      <a:pPr indent="0" marL="0">
                        <a:buNone/>
                      </a:pPr>
                      <a:r>
                        <a:rPr lang="en-US" sz="1200" b="1" dirty="0">
                          <a:solidFill>
                            <a:schemeClr val="tx1"/>
                          </a:solidFill>
                        </a:rPr>
                        <a:t>Generare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Bozze e testi in pochi minuti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Materiale, destinatario, esempi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Accuratezza, adeguatezza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Trasformare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Testi più chiari, tradotti, riformattati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Dire che cosa non deve cambiare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Confronto con l'originale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Sintetizzare, analizzare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Orientarsi in documenti lunghi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Scopo dichiarato, riferimenti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Condizioni ed eccezioni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Estrarre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Dati organizzati da testi liberi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Campi e regole definiti prima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Accuratezza campo per campo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Recuperare conoscenza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Risposte rapide da fonti e archivi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Fonti e perimetro indicati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Fonte, attualità, versione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messaggio"/>
          <p:cNvSpPr/>
          <p:nvPr/>
        </p:nvSpPr>
        <p:spPr>
          <a:xfrm>
            <a:off x="457200" y="3977640"/>
            <a:ext cx="8229600" cy="548640"/>
          </a:xfrm>
          <a:prstGeom prst="roundRect">
            <a:avLst>
              <a:gd name="adj" fmla="val 13333"/>
            </a:avLst>
          </a:prstGeom>
          <a:solidFill>
            <a:schemeClr val="tx1"/>
          </a:solidFill>
          <a:ln/>
        </p:spPr>
      </p:sp>
      <p:sp>
        <p:nvSpPr>
          <p:cNvPr id="6" name="Text 2"/>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Il controllo giusto dipende dal tipo di lavoro che l'AI ha svolto e dall'uso che si farà del risultato.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Generazione di contenuti testuali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accelera la produzione di testi e moltiplica le alternative; qualità e adeguatezza si presidiano con il giusto livello di revisione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si può produrre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Comunicazioni"/>
          <p:cNvSpPr/>
          <p:nvPr/>
        </p:nvSpPr>
        <p:spPr>
          <a:xfrm>
            <a:off x="457200" y="1051560"/>
            <a:ext cx="4023360" cy="1051560"/>
          </a:xfrm>
          <a:prstGeom prst="roundRect">
            <a:avLst>
              <a:gd name="adj" fmla="val 6957"/>
            </a:avLst>
          </a:prstGeom>
          <a:solidFill>
            <a:schemeClr val="bg2"/>
          </a:solidFill>
          <a:ln/>
        </p:spPr>
      </p:sp>
      <p:sp>
        <p:nvSpPr>
          <p:cNvPr id="13" name="cerchio FiMail"/>
          <p:cNvSpPr/>
          <p:nvPr/>
        </p:nvSpPr>
        <p:spPr>
          <a:xfrm>
            <a:off x="621792" y="1216152"/>
            <a:ext cx="438912" cy="438912"/>
          </a:xfrm>
          <a:prstGeom prst="ellipse">
            <a:avLst/>
          </a:prstGeom>
          <a:solidFill>
            <a:schemeClr val="accent1"/>
          </a:solidFill>
          <a:ln/>
        </p:spPr>
      </p:sp>
      <p:pic>
        <p:nvPicPr>
          <p:cNvPr id="14" name="Image 0" descr="FiMail">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500" b="1" dirty="0">
                <a:solidFill>
                  <a:schemeClr val="tx1"/>
                </a:solidFill>
              </a:rPr>
              <a:t>Comunicazioni</a:t>
            </a:r>
            <a:endParaRPr lang="en-US" sz="1500" dirty="0"/>
          </a:p>
        </p:txBody>
      </p:sp>
      <p:sp>
        <p:nvSpPr>
          <p:cNvPr id="16" name="Text 12"/>
          <p:cNvSpPr txBox="1"/>
          <p:nvPr/>
        </p:nvSpPr>
        <p:spPr>
          <a:xfrm>
            <a:off x="621792" y="1764792"/>
            <a:ext cx="3694176" cy="246888"/>
          </a:xfrm>
          <a:prstGeom prst="rect">
            <a:avLst/>
          </a:prstGeom>
          <a:noFill/>
          <a:ln/>
        </p:spPr>
        <p:txBody>
          <a:bodyPr wrap="square" lIns="0" tIns="0" rIns="0" bIns="0" rtlCol="0" anchor="t"/>
          <a:lstStyle/>
          <a:p>
            <a:pPr indent="0" marL="0">
              <a:buNone/>
            </a:pPr>
            <a:r>
              <a:rPr lang="en-US" sz="1200" dirty="0">
                <a:solidFill>
                  <a:schemeClr val="tx2"/>
                </a:solidFill>
              </a:rPr>
              <a:t>Email, risposte, avvisi, comunicazioni interne</a:t>
            </a:r>
            <a:endParaRPr lang="en-US" sz="1200" dirty="0"/>
          </a:p>
        </p:txBody>
      </p:sp>
      <p:sp>
        <p:nvSpPr>
          <p:cNvPr id="17" name="Documenti di lavoro"/>
          <p:cNvSpPr/>
          <p:nvPr/>
        </p:nvSpPr>
        <p:spPr>
          <a:xfrm>
            <a:off x="4663440" y="1051560"/>
            <a:ext cx="4023360" cy="1051560"/>
          </a:xfrm>
          <a:prstGeom prst="roundRect">
            <a:avLst>
              <a:gd name="adj" fmla="val 6957"/>
            </a:avLst>
          </a:prstGeom>
          <a:solidFill>
            <a:schemeClr val="bg2"/>
          </a:solidFill>
          <a:ln/>
        </p:spPr>
      </p:sp>
      <p:sp>
        <p:nvSpPr>
          <p:cNvPr id="18" name="cerchio FiFileText"/>
          <p:cNvSpPr/>
          <p:nvPr/>
        </p:nvSpPr>
        <p:spPr>
          <a:xfrm>
            <a:off x="4828032" y="1216152"/>
            <a:ext cx="438912" cy="438912"/>
          </a:xfrm>
          <a:prstGeom prst="ellipse">
            <a:avLst/>
          </a:prstGeom>
          <a:solidFill>
            <a:schemeClr val="accent1"/>
          </a:solidFill>
          <a:ln/>
        </p:spPr>
      </p:sp>
      <p:pic>
        <p:nvPicPr>
          <p:cNvPr id="19" name="Image 1" descr="FiFileText">    </p:cNvPr>
          <p:cNvPicPr>
            <a:picLocks noChangeAspect="1"/>
          </p:cNvPicPr>
          <p:nvPr/>
        </p:nvPicPr>
        <p:blipFill>
          <a:blip r:embed="rId2"/>
          <a:stretch>
            <a:fillRect/>
          </a:stretch>
        </p:blipFill>
        <p:spPr>
          <a:xfrm>
            <a:off x="4937760" y="1325880"/>
            <a:ext cx="219456" cy="219456"/>
          </a:xfrm>
          <a:prstGeom prst="rect">
            <a:avLst/>
          </a:prstGeom>
        </p:spPr>
      </p:pic>
      <p:sp>
        <p:nvSpPr>
          <p:cNvPr id="20" name="Text 15"/>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500" b="1" dirty="0">
                <a:solidFill>
                  <a:schemeClr val="tx1"/>
                </a:solidFill>
              </a:rPr>
              <a:t>Documenti di lavoro</a:t>
            </a:r>
            <a:endParaRPr lang="en-US" sz="1500" dirty="0"/>
          </a:p>
        </p:txBody>
      </p:sp>
      <p:sp>
        <p:nvSpPr>
          <p:cNvPr id="21" name="Text 16"/>
          <p:cNvSpPr txBox="1"/>
          <p:nvPr/>
        </p:nvSpPr>
        <p:spPr>
          <a:xfrm>
            <a:off x="4828032" y="1764792"/>
            <a:ext cx="3694176" cy="246888"/>
          </a:xfrm>
          <a:prstGeom prst="rect">
            <a:avLst/>
          </a:prstGeom>
          <a:noFill/>
          <a:ln/>
        </p:spPr>
        <p:txBody>
          <a:bodyPr wrap="square" lIns="0" tIns="0" rIns="0" bIns="0" rtlCol="0" anchor="t"/>
          <a:lstStyle/>
          <a:p>
            <a:pPr indent="0" marL="0">
              <a:buNone/>
            </a:pPr>
            <a:r>
              <a:rPr lang="en-US" sz="1200" dirty="0">
                <a:solidFill>
                  <a:schemeClr val="tx2"/>
                </a:solidFill>
              </a:rPr>
              <a:t>Relazioni, report, verbali da appunti, proposte</a:t>
            </a:r>
            <a:endParaRPr lang="en-US" sz="1200" dirty="0"/>
          </a:p>
        </p:txBody>
      </p:sp>
      <p:sp>
        <p:nvSpPr>
          <p:cNvPr id="22" name="Contenuti informativi"/>
          <p:cNvSpPr/>
          <p:nvPr/>
        </p:nvSpPr>
        <p:spPr>
          <a:xfrm>
            <a:off x="457200" y="2286000"/>
            <a:ext cx="4023360" cy="1051560"/>
          </a:xfrm>
          <a:prstGeom prst="roundRect">
            <a:avLst>
              <a:gd name="adj" fmla="val 6957"/>
            </a:avLst>
          </a:prstGeom>
          <a:solidFill>
            <a:schemeClr val="bg2"/>
          </a:solidFill>
          <a:ln/>
        </p:spPr>
      </p:sp>
      <p:sp>
        <p:nvSpPr>
          <p:cNvPr id="23" name="cerchio FiInfo"/>
          <p:cNvSpPr/>
          <p:nvPr/>
        </p:nvSpPr>
        <p:spPr>
          <a:xfrm>
            <a:off x="621792" y="2450592"/>
            <a:ext cx="438912" cy="438912"/>
          </a:xfrm>
          <a:prstGeom prst="ellipse">
            <a:avLst/>
          </a:prstGeom>
          <a:solidFill>
            <a:schemeClr val="accent1"/>
          </a:solidFill>
          <a:ln/>
        </p:spPr>
      </p:sp>
      <p:pic>
        <p:nvPicPr>
          <p:cNvPr id="24" name="Image 2" descr="FiInfo">    </p:cNvPr>
          <p:cNvPicPr>
            <a:picLocks noChangeAspect="1"/>
          </p:cNvPicPr>
          <p:nvPr/>
        </p:nvPicPr>
        <p:blipFill>
          <a:blip r:embed="rId3"/>
          <a:stretch>
            <a:fillRect/>
          </a:stretch>
        </p:blipFill>
        <p:spPr>
          <a:xfrm>
            <a:off x="731520" y="2560320"/>
            <a:ext cx="219456" cy="219456"/>
          </a:xfrm>
          <a:prstGeom prst="rect">
            <a:avLst/>
          </a:prstGeom>
        </p:spPr>
      </p:pic>
      <p:sp>
        <p:nvSpPr>
          <p:cNvPr id="25" name="Text 19"/>
          <p:cNvSpPr txBox="1"/>
          <p:nvPr/>
        </p:nvSpPr>
        <p:spPr>
          <a:xfrm>
            <a:off x="1170432" y="2414016"/>
            <a:ext cx="3200400" cy="512064"/>
          </a:xfrm>
          <a:prstGeom prst="rect">
            <a:avLst/>
          </a:prstGeom>
          <a:noFill/>
          <a:ln/>
        </p:spPr>
        <p:txBody>
          <a:bodyPr wrap="square" lIns="0" tIns="0" rIns="0" bIns="0" rtlCol="0" anchor="ctr"/>
          <a:lstStyle/>
          <a:p>
            <a:pPr indent="0" marL="0">
              <a:buNone/>
            </a:pPr>
            <a:r>
              <a:rPr lang="en-US" sz="1500" b="1" dirty="0">
                <a:solidFill>
                  <a:schemeClr val="tx1"/>
                </a:solidFill>
              </a:rPr>
              <a:t>Contenuti informativi</a:t>
            </a:r>
            <a:endParaRPr lang="en-US" sz="1500" dirty="0"/>
          </a:p>
        </p:txBody>
      </p:sp>
      <p:sp>
        <p:nvSpPr>
          <p:cNvPr id="26" name="Text 20"/>
          <p:cNvSpPr txBox="1"/>
          <p:nvPr/>
        </p:nvSpPr>
        <p:spPr>
          <a:xfrm>
            <a:off x="621792" y="2999232"/>
            <a:ext cx="3694176" cy="246888"/>
          </a:xfrm>
          <a:prstGeom prst="rect">
            <a:avLst/>
          </a:prstGeom>
          <a:noFill/>
          <a:ln/>
        </p:spPr>
        <p:txBody>
          <a:bodyPr wrap="square" lIns="0" tIns="0" rIns="0" bIns="0" rtlCol="0" anchor="t"/>
          <a:lstStyle/>
          <a:p>
            <a:pPr indent="0" marL="0">
              <a:buNone/>
            </a:pPr>
            <a:r>
              <a:rPr lang="en-US" sz="1200" dirty="0">
                <a:solidFill>
                  <a:schemeClr val="tx2"/>
                </a:solidFill>
              </a:rPr>
              <a:t>Descrizioni, schede, FAQ, istruzioni, testi per la intranet</a:t>
            </a:r>
            <a:endParaRPr lang="en-US" sz="1200" dirty="0"/>
          </a:p>
        </p:txBody>
      </p:sp>
      <p:sp>
        <p:nvSpPr>
          <p:cNvPr id="27" name="Bozze e strutture"/>
          <p:cNvSpPr/>
          <p:nvPr/>
        </p:nvSpPr>
        <p:spPr>
          <a:xfrm>
            <a:off x="4663440" y="2286000"/>
            <a:ext cx="4023360" cy="1051560"/>
          </a:xfrm>
          <a:prstGeom prst="roundRect">
            <a:avLst>
              <a:gd name="adj" fmla="val 6957"/>
            </a:avLst>
          </a:prstGeom>
          <a:solidFill>
            <a:schemeClr val="bg2"/>
          </a:solidFill>
          <a:ln/>
        </p:spPr>
      </p:sp>
      <p:sp>
        <p:nvSpPr>
          <p:cNvPr id="28" name="cerchio FiList"/>
          <p:cNvSpPr/>
          <p:nvPr/>
        </p:nvSpPr>
        <p:spPr>
          <a:xfrm>
            <a:off x="4828032" y="2450592"/>
            <a:ext cx="438912" cy="438912"/>
          </a:xfrm>
          <a:prstGeom prst="ellipse">
            <a:avLst/>
          </a:prstGeom>
          <a:solidFill>
            <a:schemeClr val="accent1"/>
          </a:solidFill>
          <a:ln/>
        </p:spPr>
      </p:sp>
      <p:pic>
        <p:nvPicPr>
          <p:cNvPr id="29" name="Image 3" descr="FiList">    </p:cNvPr>
          <p:cNvPicPr>
            <a:picLocks noChangeAspect="1"/>
          </p:cNvPicPr>
          <p:nvPr/>
        </p:nvPicPr>
        <p:blipFill>
          <a:blip r:embed="rId4"/>
          <a:stretch>
            <a:fillRect/>
          </a:stretch>
        </p:blipFill>
        <p:spPr>
          <a:xfrm>
            <a:off x="4937760" y="2560320"/>
            <a:ext cx="219456" cy="219456"/>
          </a:xfrm>
          <a:prstGeom prst="rect">
            <a:avLst/>
          </a:prstGeom>
        </p:spPr>
      </p:pic>
      <p:sp>
        <p:nvSpPr>
          <p:cNvPr id="30" name="Text 23"/>
          <p:cNvSpPr txBox="1"/>
          <p:nvPr/>
        </p:nvSpPr>
        <p:spPr>
          <a:xfrm>
            <a:off x="5376672" y="2414016"/>
            <a:ext cx="3200400" cy="512064"/>
          </a:xfrm>
          <a:prstGeom prst="rect">
            <a:avLst/>
          </a:prstGeom>
          <a:noFill/>
          <a:ln/>
        </p:spPr>
        <p:txBody>
          <a:bodyPr wrap="square" lIns="0" tIns="0" rIns="0" bIns="0" rtlCol="0" anchor="ctr"/>
          <a:lstStyle/>
          <a:p>
            <a:pPr indent="0" marL="0">
              <a:buNone/>
            </a:pPr>
            <a:r>
              <a:rPr lang="en-US" sz="1500" b="1" dirty="0">
                <a:solidFill>
                  <a:schemeClr val="tx1"/>
                </a:solidFill>
              </a:rPr>
              <a:t>Bozze e strutture</a:t>
            </a:r>
            <a:endParaRPr lang="en-US" sz="1500" dirty="0"/>
          </a:p>
        </p:txBody>
      </p:sp>
      <p:sp>
        <p:nvSpPr>
          <p:cNvPr id="31" name="Text 24"/>
          <p:cNvSpPr txBox="1"/>
          <p:nvPr/>
        </p:nvSpPr>
        <p:spPr>
          <a:xfrm>
            <a:off x="4828032" y="2999232"/>
            <a:ext cx="3694176" cy="246888"/>
          </a:xfrm>
          <a:prstGeom prst="rect">
            <a:avLst/>
          </a:prstGeom>
          <a:noFill/>
          <a:ln/>
        </p:spPr>
        <p:txBody>
          <a:bodyPr wrap="square" lIns="0" tIns="0" rIns="0" bIns="0" rtlCol="0" anchor="t"/>
          <a:lstStyle/>
          <a:p>
            <a:pPr indent="0" marL="0">
              <a:buNone/>
            </a:pPr>
            <a:r>
              <a:rPr lang="en-US" sz="1200" dirty="0">
                <a:solidFill>
                  <a:schemeClr val="tx2"/>
                </a:solidFill>
              </a:rPr>
              <a:t>Scalette, indici, prime versioni, modelli riutilizzabili</a:t>
            </a:r>
            <a:endParaRPr lang="en-US" sz="1200" dirty="0"/>
          </a:p>
        </p:txBody>
      </p:sp>
      <p:sp>
        <p:nvSpPr>
          <p:cNvPr id="32" name="Text 25"/>
          <p:cNvSpPr txBox="1"/>
          <p:nvPr/>
        </p:nvSpPr>
        <p:spPr>
          <a:xfrm>
            <a:off x="457200" y="3474720"/>
            <a:ext cx="1005840" cy="457200"/>
          </a:xfrm>
          <a:prstGeom prst="rect">
            <a:avLst/>
          </a:prstGeom>
          <a:noFill/>
          <a:ln/>
        </p:spPr>
        <p:txBody>
          <a:bodyPr wrap="square" lIns="0" tIns="0" rIns="0" bIns="0" rtlCol="0" anchor="ctr"/>
          <a:lstStyle/>
          <a:p>
            <a:pPr indent="0" marL="0">
              <a:buNone/>
            </a:pPr>
            <a:r>
              <a:rPr lang="en-US" sz="1300" b="1" dirty="0">
                <a:solidFill>
                  <a:schemeClr val="accent1"/>
                </a:solidFill>
              </a:rPr>
              <a:t>Il valore</a:t>
            </a:r>
            <a:endParaRPr lang="en-US" sz="1300" dirty="0"/>
          </a:p>
        </p:txBody>
      </p:sp>
      <p:sp>
        <p:nvSpPr>
          <p:cNvPr id="33" name="blocco Velocità"/>
          <p:cNvSpPr/>
          <p:nvPr/>
        </p:nvSpPr>
        <p:spPr>
          <a:xfrm>
            <a:off x="1463040" y="3474720"/>
            <a:ext cx="1371600" cy="457200"/>
          </a:xfrm>
          <a:prstGeom prst="roundRect">
            <a:avLst>
              <a:gd name="adj" fmla="val 24000"/>
            </a:avLst>
          </a:prstGeom>
          <a:solidFill>
            <a:schemeClr val="accent6"/>
          </a:solidFill>
          <a:ln/>
        </p:spPr>
      </p:sp>
      <p:sp>
        <p:nvSpPr>
          <p:cNvPr id="34" name="Text 27"/>
          <p:cNvSpPr txBox="1"/>
          <p:nvPr/>
        </p:nvSpPr>
        <p:spPr>
          <a:xfrm>
            <a:off x="1508760" y="3474720"/>
            <a:ext cx="1280160" cy="457200"/>
          </a:xfrm>
          <a:prstGeom prst="rect">
            <a:avLst/>
          </a:prstGeom>
          <a:noFill/>
          <a:ln/>
        </p:spPr>
        <p:txBody>
          <a:bodyPr wrap="square" lIns="0" tIns="0" rIns="0" bIns="0" rtlCol="0" anchor="ctr"/>
          <a:lstStyle/>
          <a:p>
            <a:pPr algn="ctr" indent="0" marL="0">
              <a:buNone/>
            </a:pPr>
            <a:r>
              <a:rPr lang="en-US" sz="1100" b="1" dirty="0">
                <a:solidFill>
                  <a:schemeClr val="tx1"/>
                </a:solidFill>
              </a:rPr>
              <a:t>Velocità</a:t>
            </a:r>
            <a:endParaRPr lang="en-US" sz="1100" dirty="0"/>
          </a:p>
        </p:txBody>
      </p:sp>
      <p:sp>
        <p:nvSpPr>
          <p:cNvPr id="35" name="blocco Personalizzazione"/>
          <p:cNvSpPr/>
          <p:nvPr/>
        </p:nvSpPr>
        <p:spPr>
          <a:xfrm>
            <a:off x="2916936" y="3474720"/>
            <a:ext cx="1371600" cy="457200"/>
          </a:xfrm>
          <a:prstGeom prst="roundRect">
            <a:avLst>
              <a:gd name="adj" fmla="val 24000"/>
            </a:avLst>
          </a:prstGeom>
          <a:solidFill>
            <a:schemeClr val="accent6"/>
          </a:solidFill>
          <a:ln/>
        </p:spPr>
      </p:sp>
      <p:sp>
        <p:nvSpPr>
          <p:cNvPr id="36" name="Text 29"/>
          <p:cNvSpPr txBox="1"/>
          <p:nvPr/>
        </p:nvSpPr>
        <p:spPr>
          <a:xfrm>
            <a:off x="2962656" y="3474720"/>
            <a:ext cx="1280160" cy="457200"/>
          </a:xfrm>
          <a:prstGeom prst="rect">
            <a:avLst/>
          </a:prstGeom>
          <a:noFill/>
          <a:ln/>
        </p:spPr>
        <p:txBody>
          <a:bodyPr wrap="square" lIns="0" tIns="0" rIns="0" bIns="0" rtlCol="0" anchor="ctr"/>
          <a:lstStyle/>
          <a:p>
            <a:pPr algn="ctr" indent="0" marL="0">
              <a:buNone/>
            </a:pPr>
            <a:r>
              <a:rPr lang="en-US" sz="1100" b="1" dirty="0">
                <a:solidFill>
                  <a:schemeClr val="tx1"/>
                </a:solidFill>
              </a:rPr>
              <a:t>Personalizzazione</a:t>
            </a:r>
            <a:endParaRPr lang="en-US" sz="1100" dirty="0"/>
          </a:p>
        </p:txBody>
      </p:sp>
      <p:sp>
        <p:nvSpPr>
          <p:cNvPr id="37" name="blocco Alternative"/>
          <p:cNvSpPr/>
          <p:nvPr/>
        </p:nvSpPr>
        <p:spPr>
          <a:xfrm>
            <a:off x="4370832" y="3474720"/>
            <a:ext cx="1371600" cy="457200"/>
          </a:xfrm>
          <a:prstGeom prst="roundRect">
            <a:avLst>
              <a:gd name="adj" fmla="val 24000"/>
            </a:avLst>
          </a:prstGeom>
          <a:solidFill>
            <a:schemeClr val="accent6"/>
          </a:solidFill>
          <a:ln/>
        </p:spPr>
      </p:sp>
      <p:sp>
        <p:nvSpPr>
          <p:cNvPr id="38" name="Text 31"/>
          <p:cNvSpPr txBox="1"/>
          <p:nvPr/>
        </p:nvSpPr>
        <p:spPr>
          <a:xfrm>
            <a:off x="4416552" y="3474720"/>
            <a:ext cx="1280160" cy="457200"/>
          </a:xfrm>
          <a:prstGeom prst="rect">
            <a:avLst/>
          </a:prstGeom>
          <a:noFill/>
          <a:ln/>
        </p:spPr>
        <p:txBody>
          <a:bodyPr wrap="square" lIns="0" tIns="0" rIns="0" bIns="0" rtlCol="0" anchor="ctr"/>
          <a:lstStyle/>
          <a:p>
            <a:pPr algn="ctr" indent="0" marL="0">
              <a:buNone/>
            </a:pPr>
            <a:r>
              <a:rPr lang="en-US" sz="1100" b="1" dirty="0">
                <a:solidFill>
                  <a:schemeClr val="tx1"/>
                </a:solidFill>
              </a:rPr>
              <a:t>Alternative</a:t>
            </a:r>
            <a:endParaRPr lang="en-US" sz="1100" dirty="0"/>
          </a:p>
        </p:txBody>
      </p:sp>
      <p:sp>
        <p:nvSpPr>
          <p:cNvPr id="39" name="blocco Pagina mai bianca"/>
          <p:cNvSpPr/>
          <p:nvPr/>
        </p:nvSpPr>
        <p:spPr>
          <a:xfrm>
            <a:off x="5824728" y="3474720"/>
            <a:ext cx="1371600" cy="457200"/>
          </a:xfrm>
          <a:prstGeom prst="roundRect">
            <a:avLst>
              <a:gd name="adj" fmla="val 24000"/>
            </a:avLst>
          </a:prstGeom>
          <a:solidFill>
            <a:schemeClr val="accent6"/>
          </a:solidFill>
          <a:ln/>
        </p:spPr>
      </p:sp>
      <p:sp>
        <p:nvSpPr>
          <p:cNvPr id="40" name="Text 33"/>
          <p:cNvSpPr txBox="1"/>
          <p:nvPr/>
        </p:nvSpPr>
        <p:spPr>
          <a:xfrm>
            <a:off x="5870448" y="3474720"/>
            <a:ext cx="1280160" cy="457200"/>
          </a:xfrm>
          <a:prstGeom prst="rect">
            <a:avLst/>
          </a:prstGeom>
          <a:noFill/>
          <a:ln/>
        </p:spPr>
        <p:txBody>
          <a:bodyPr wrap="square" lIns="0" tIns="0" rIns="0" bIns="0" rtlCol="0" anchor="ctr"/>
          <a:lstStyle/>
          <a:p>
            <a:pPr algn="ctr" indent="0" marL="0">
              <a:buNone/>
            </a:pPr>
            <a:r>
              <a:rPr lang="en-US" sz="1100" b="1" dirty="0">
                <a:solidFill>
                  <a:schemeClr val="tx1"/>
                </a:solidFill>
              </a:rPr>
              <a:t>Pagina mai bianca</a:t>
            </a:r>
            <a:endParaRPr lang="en-US" sz="1100" dirty="0"/>
          </a:p>
        </p:txBody>
      </p:sp>
      <p:sp>
        <p:nvSpPr>
          <p:cNvPr id="41" name="blocco Standard coerenti"/>
          <p:cNvSpPr/>
          <p:nvPr/>
        </p:nvSpPr>
        <p:spPr>
          <a:xfrm>
            <a:off x="7278624" y="3474720"/>
            <a:ext cx="1371600" cy="457200"/>
          </a:xfrm>
          <a:prstGeom prst="roundRect">
            <a:avLst>
              <a:gd name="adj" fmla="val 24000"/>
            </a:avLst>
          </a:prstGeom>
          <a:solidFill>
            <a:schemeClr val="accent6"/>
          </a:solidFill>
          <a:ln/>
        </p:spPr>
      </p:sp>
      <p:sp>
        <p:nvSpPr>
          <p:cNvPr id="42" name="Text 35"/>
          <p:cNvSpPr txBox="1"/>
          <p:nvPr/>
        </p:nvSpPr>
        <p:spPr>
          <a:xfrm>
            <a:off x="7324344" y="3474720"/>
            <a:ext cx="1280160" cy="457200"/>
          </a:xfrm>
          <a:prstGeom prst="rect">
            <a:avLst/>
          </a:prstGeom>
          <a:noFill/>
          <a:ln/>
        </p:spPr>
        <p:txBody>
          <a:bodyPr wrap="square" lIns="0" tIns="0" rIns="0" bIns="0" rtlCol="0" anchor="ctr"/>
          <a:lstStyle/>
          <a:p>
            <a:pPr algn="ctr" indent="0" marL="0">
              <a:buNone/>
            </a:pPr>
            <a:r>
              <a:rPr lang="en-US" sz="1100" b="1" dirty="0">
                <a:solidFill>
                  <a:schemeClr val="tx1"/>
                </a:solidFill>
              </a:rPr>
              <a:t>Standard coerenti</a:t>
            </a:r>
            <a:endParaRPr lang="en-US" sz="1100" dirty="0"/>
          </a:p>
        </p:txBody>
      </p:sp>
      <p:sp>
        <p:nvSpPr>
          <p:cNvPr id="43" name="messaggio"/>
          <p:cNvSpPr/>
          <p:nvPr/>
        </p:nvSpPr>
        <p:spPr>
          <a:xfrm>
            <a:off x="457200" y="4069080"/>
            <a:ext cx="8229600" cy="502920"/>
          </a:xfrm>
          <a:prstGeom prst="roundRect">
            <a:avLst>
              <a:gd name="adj" fmla="val 14545"/>
            </a:avLst>
          </a:prstGeom>
          <a:solidFill>
            <a:schemeClr val="tx1"/>
          </a:solidFill>
          <a:ln/>
        </p:spPr>
      </p:sp>
      <p:sp>
        <p:nvSpPr>
          <p:cNvPr id="44" name="Text 37"/>
          <p:cNvSpPr txBox="1"/>
          <p:nvPr/>
        </p:nvSpPr>
        <p:spPr>
          <a:xfrm>
            <a:off x="640080" y="4069080"/>
            <a:ext cx="7863840" cy="502920"/>
          </a:xfrm>
          <a:prstGeom prst="rect">
            <a:avLst/>
          </a:prstGeom>
          <a:noFill/>
          <a:ln/>
        </p:spPr>
        <p:txBody>
          <a:bodyPr wrap="square" lIns="0" tIns="0" rIns="0" bIns="0" rtlCol="0" anchor="ctr"/>
          <a:lstStyle/>
          <a:p>
            <a:pPr indent="0" marL="0">
              <a:buNone/>
            </a:pPr>
            <a:r>
              <a:rPr lang="en-US" sz="1300" dirty="0">
                <a:solidFill>
                  <a:schemeClr val="bg1"/>
                </a:solidFill>
              </a:rPr>
              <a:t>Meno tempo sulle parti ripetitive, più tempo per contenuto, verifica e cura del testo.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Dalle istruzioni al testo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Istruzioni"/>
          <p:cNvSpPr/>
          <p:nvPr/>
        </p:nvSpPr>
        <p:spPr>
          <a:xfrm>
            <a:off x="457200" y="1051560"/>
            <a:ext cx="4846320" cy="777240"/>
          </a:xfrm>
          <a:prstGeom prst="roundRect">
            <a:avLst>
              <a:gd name="adj" fmla="val 9412"/>
            </a:avLst>
          </a:prstGeom>
          <a:solidFill>
            <a:schemeClr val="bg2"/>
          </a:solidFill>
          <a:ln/>
        </p:spPr>
      </p:sp>
      <p:sp>
        <p:nvSpPr>
          <p:cNvPr id="13" name="cerchio FiSliders"/>
          <p:cNvSpPr/>
          <p:nvPr/>
        </p:nvSpPr>
        <p:spPr>
          <a:xfrm>
            <a:off x="621792" y="1197864"/>
            <a:ext cx="493776" cy="493776"/>
          </a:xfrm>
          <a:prstGeom prst="ellipse">
            <a:avLst/>
          </a:prstGeom>
          <a:solidFill>
            <a:schemeClr val="accent1"/>
          </a:solidFill>
          <a:ln/>
        </p:spPr>
      </p:sp>
      <p:pic>
        <p:nvPicPr>
          <p:cNvPr id="14" name="Image 0" descr="FiSliders">    </p:cNvPr>
          <p:cNvPicPr>
            <a:picLocks noChangeAspect="1"/>
          </p:cNvPicPr>
          <p:nvPr/>
        </p:nvPicPr>
        <p:blipFill>
          <a:blip r:embed="rId1"/>
          <a:stretch>
            <a:fillRect/>
          </a:stretch>
        </p:blipFill>
        <p:spPr>
          <a:xfrm>
            <a:off x="745236" y="1321308"/>
            <a:ext cx="246888" cy="246888"/>
          </a:xfrm>
          <a:prstGeom prst="rect">
            <a:avLst/>
          </a:prstGeom>
        </p:spPr>
      </p:pic>
      <p:sp>
        <p:nvSpPr>
          <p:cNvPr id="15" name="Text 11"/>
          <p:cNvSpPr txBox="1"/>
          <p:nvPr/>
        </p:nvSpPr>
        <p:spPr>
          <a:xfrm>
            <a:off x="1280160" y="1115568"/>
            <a:ext cx="2103120" cy="329184"/>
          </a:xfrm>
          <a:prstGeom prst="rect">
            <a:avLst/>
          </a:prstGeom>
          <a:noFill/>
          <a:ln/>
        </p:spPr>
        <p:txBody>
          <a:bodyPr wrap="square" lIns="0" tIns="0" rIns="0" bIns="0" rtlCol="0" anchor="t"/>
          <a:lstStyle/>
          <a:p>
            <a:pPr indent="0" marL="0">
              <a:buNone/>
            </a:pPr>
            <a:r>
              <a:rPr lang="en-US" sz="1400" b="1" dirty="0">
                <a:solidFill>
                  <a:schemeClr val="tx1"/>
                </a:solidFill>
              </a:rPr>
              <a:t>Istruzioni</a:t>
            </a:r>
            <a:endParaRPr lang="en-US" sz="1400" dirty="0"/>
          </a:p>
        </p:txBody>
      </p:sp>
      <p:sp>
        <p:nvSpPr>
          <p:cNvPr id="16" name="Text 12"/>
          <p:cNvSpPr txBox="1"/>
          <p:nvPr/>
        </p:nvSpPr>
        <p:spPr>
          <a:xfrm>
            <a:off x="3383280" y="1115568"/>
            <a:ext cx="1828800" cy="329184"/>
          </a:xfrm>
          <a:prstGeom prst="rect">
            <a:avLst/>
          </a:prstGeom>
          <a:noFill/>
          <a:ln/>
        </p:spPr>
        <p:txBody>
          <a:bodyPr wrap="square" lIns="0" tIns="0" rIns="0" bIns="0" rtlCol="0" anchor="t"/>
          <a:lstStyle/>
          <a:p>
            <a:pPr algn="r" indent="0" marL="0">
              <a:buNone/>
            </a:pPr>
            <a:r>
              <a:rPr lang="en-US" sz="1200" b="1" dirty="0">
                <a:solidFill>
                  <a:schemeClr val="accent1"/>
                </a:solidFill>
              </a:rPr>
              <a:t>Come scrivere</a:t>
            </a:r>
            <a:endParaRPr lang="en-US" sz="1200" dirty="0"/>
          </a:p>
        </p:txBody>
      </p:sp>
      <p:sp>
        <p:nvSpPr>
          <p:cNvPr id="17" name="Text 13"/>
          <p:cNvSpPr txBox="1"/>
          <p:nvPr/>
        </p:nvSpPr>
        <p:spPr>
          <a:xfrm>
            <a:off x="1280160" y="1453896"/>
            <a:ext cx="3931920" cy="329184"/>
          </a:xfrm>
          <a:prstGeom prst="rect">
            <a:avLst/>
          </a:prstGeom>
          <a:noFill/>
          <a:ln/>
        </p:spPr>
        <p:txBody>
          <a:bodyPr wrap="square" lIns="0" tIns="0" rIns="0" bIns="0" rtlCol="0" anchor="t"/>
          <a:lstStyle/>
          <a:p>
            <a:pPr indent="0" marL="0">
              <a:buNone/>
            </a:pPr>
            <a:r>
              <a:rPr lang="en-US" sz="1200" dirty="0">
                <a:solidFill>
                  <a:schemeClr val="tx2"/>
                </a:solidFill>
              </a:rPr>
              <a:t>Scopo, destinatario, tono, lunghezza, struttura</a:t>
            </a:r>
            <a:endParaRPr lang="en-US" sz="1200" dirty="0"/>
          </a:p>
        </p:txBody>
      </p:sp>
      <p:sp>
        <p:nvSpPr>
          <p:cNvPr id="18" name="Materiale di partenza"/>
          <p:cNvSpPr/>
          <p:nvPr/>
        </p:nvSpPr>
        <p:spPr>
          <a:xfrm>
            <a:off x="457200" y="1920240"/>
            <a:ext cx="4846320" cy="777240"/>
          </a:xfrm>
          <a:prstGeom prst="roundRect">
            <a:avLst>
              <a:gd name="adj" fmla="val 9412"/>
            </a:avLst>
          </a:prstGeom>
          <a:solidFill>
            <a:schemeClr val="accent6"/>
          </a:solidFill>
          <a:ln/>
        </p:spPr>
      </p:sp>
      <p:sp>
        <p:nvSpPr>
          <p:cNvPr id="19" name="cerchio FiFolder"/>
          <p:cNvSpPr/>
          <p:nvPr/>
        </p:nvSpPr>
        <p:spPr>
          <a:xfrm>
            <a:off x="621792" y="2066544"/>
            <a:ext cx="493776" cy="493776"/>
          </a:xfrm>
          <a:prstGeom prst="ellipse">
            <a:avLst/>
          </a:prstGeom>
          <a:solidFill>
            <a:schemeClr val="accent1"/>
          </a:solidFill>
          <a:ln/>
        </p:spPr>
      </p:sp>
      <p:pic>
        <p:nvPicPr>
          <p:cNvPr id="20" name="Image 1" descr="FiFolder">    </p:cNvPr>
          <p:cNvPicPr>
            <a:picLocks noChangeAspect="1"/>
          </p:cNvPicPr>
          <p:nvPr/>
        </p:nvPicPr>
        <p:blipFill>
          <a:blip r:embed="rId2"/>
          <a:stretch>
            <a:fillRect/>
          </a:stretch>
        </p:blipFill>
        <p:spPr>
          <a:xfrm>
            <a:off x="745236" y="2189988"/>
            <a:ext cx="246888" cy="246888"/>
          </a:xfrm>
          <a:prstGeom prst="rect">
            <a:avLst/>
          </a:prstGeom>
        </p:spPr>
      </p:pic>
      <p:sp>
        <p:nvSpPr>
          <p:cNvPr id="21" name="Text 16"/>
          <p:cNvSpPr txBox="1"/>
          <p:nvPr/>
        </p:nvSpPr>
        <p:spPr>
          <a:xfrm>
            <a:off x="1280160" y="1984248"/>
            <a:ext cx="2103120" cy="329184"/>
          </a:xfrm>
          <a:prstGeom prst="rect">
            <a:avLst/>
          </a:prstGeom>
          <a:noFill/>
          <a:ln/>
        </p:spPr>
        <p:txBody>
          <a:bodyPr wrap="square" lIns="0" tIns="0" rIns="0" bIns="0" rtlCol="0" anchor="t"/>
          <a:lstStyle/>
          <a:p>
            <a:pPr indent="0" marL="0">
              <a:buNone/>
            </a:pPr>
            <a:r>
              <a:rPr lang="en-US" sz="1400" b="1" dirty="0">
                <a:solidFill>
                  <a:schemeClr val="tx1"/>
                </a:solidFill>
              </a:rPr>
              <a:t>Materiale di partenza</a:t>
            </a:r>
            <a:endParaRPr lang="en-US" sz="1400" dirty="0"/>
          </a:p>
        </p:txBody>
      </p:sp>
      <p:sp>
        <p:nvSpPr>
          <p:cNvPr id="22" name="Text 17"/>
          <p:cNvSpPr txBox="1"/>
          <p:nvPr/>
        </p:nvSpPr>
        <p:spPr>
          <a:xfrm>
            <a:off x="3383280" y="1984248"/>
            <a:ext cx="1828800" cy="329184"/>
          </a:xfrm>
          <a:prstGeom prst="rect">
            <a:avLst/>
          </a:prstGeom>
          <a:noFill/>
          <a:ln/>
        </p:spPr>
        <p:txBody>
          <a:bodyPr wrap="square" lIns="0" tIns="0" rIns="0" bIns="0" rtlCol="0" anchor="t"/>
          <a:lstStyle/>
          <a:p>
            <a:pPr algn="r" indent="0" marL="0">
              <a:buNone/>
            </a:pPr>
            <a:r>
              <a:rPr lang="en-US" sz="1200" b="1" dirty="0">
                <a:solidFill>
                  <a:schemeClr val="accent1"/>
                </a:solidFill>
              </a:rPr>
              <a:t>Che cosa scrivere</a:t>
            </a:r>
            <a:endParaRPr lang="en-US" sz="1200" dirty="0"/>
          </a:p>
        </p:txBody>
      </p:sp>
      <p:sp>
        <p:nvSpPr>
          <p:cNvPr id="23" name="Text 18"/>
          <p:cNvSpPr txBox="1"/>
          <p:nvPr/>
        </p:nvSpPr>
        <p:spPr>
          <a:xfrm>
            <a:off x="1280160" y="2322576"/>
            <a:ext cx="3931920" cy="329184"/>
          </a:xfrm>
          <a:prstGeom prst="rect">
            <a:avLst/>
          </a:prstGeom>
          <a:noFill/>
          <a:ln/>
        </p:spPr>
        <p:txBody>
          <a:bodyPr wrap="square" lIns="0" tIns="0" rIns="0" bIns="0" rtlCol="0" anchor="t"/>
          <a:lstStyle/>
          <a:p>
            <a:pPr indent="0" marL="0">
              <a:buNone/>
            </a:pPr>
            <a:r>
              <a:rPr lang="en-US" sz="1200" dirty="0">
                <a:solidFill>
                  <a:schemeClr val="tx2"/>
                </a:solidFill>
              </a:rPr>
              <a:t>Fatti, dati, appunti, decisioni già prese</a:t>
            </a:r>
            <a:endParaRPr lang="en-US" sz="1200" dirty="0"/>
          </a:p>
        </p:txBody>
      </p:sp>
      <p:sp>
        <p:nvSpPr>
          <p:cNvPr id="24" name="Esempi e stile"/>
          <p:cNvSpPr/>
          <p:nvPr/>
        </p:nvSpPr>
        <p:spPr>
          <a:xfrm>
            <a:off x="457200" y="2788920"/>
            <a:ext cx="4846320" cy="777240"/>
          </a:xfrm>
          <a:prstGeom prst="roundRect">
            <a:avLst>
              <a:gd name="adj" fmla="val 9412"/>
            </a:avLst>
          </a:prstGeom>
          <a:solidFill>
            <a:schemeClr val="bg2"/>
          </a:solidFill>
          <a:ln/>
        </p:spPr>
      </p:sp>
      <p:sp>
        <p:nvSpPr>
          <p:cNvPr id="25" name="cerchio FiBookmark"/>
          <p:cNvSpPr/>
          <p:nvPr/>
        </p:nvSpPr>
        <p:spPr>
          <a:xfrm>
            <a:off x="621792" y="2935224"/>
            <a:ext cx="493776" cy="493776"/>
          </a:xfrm>
          <a:prstGeom prst="ellipse">
            <a:avLst/>
          </a:prstGeom>
          <a:solidFill>
            <a:schemeClr val="accent1"/>
          </a:solidFill>
          <a:ln/>
        </p:spPr>
      </p:sp>
      <p:pic>
        <p:nvPicPr>
          <p:cNvPr id="26" name="Image 2" descr="FiBookmark">    </p:cNvPr>
          <p:cNvPicPr>
            <a:picLocks noChangeAspect="1"/>
          </p:cNvPicPr>
          <p:nvPr/>
        </p:nvPicPr>
        <p:blipFill>
          <a:blip r:embed="rId3"/>
          <a:stretch>
            <a:fillRect/>
          </a:stretch>
        </p:blipFill>
        <p:spPr>
          <a:xfrm>
            <a:off x="745236" y="3058668"/>
            <a:ext cx="246888" cy="246888"/>
          </a:xfrm>
          <a:prstGeom prst="rect">
            <a:avLst/>
          </a:prstGeom>
        </p:spPr>
      </p:pic>
      <p:sp>
        <p:nvSpPr>
          <p:cNvPr id="27" name="Text 21"/>
          <p:cNvSpPr txBox="1"/>
          <p:nvPr/>
        </p:nvSpPr>
        <p:spPr>
          <a:xfrm>
            <a:off x="1280160" y="2852928"/>
            <a:ext cx="2103120" cy="329184"/>
          </a:xfrm>
          <a:prstGeom prst="rect">
            <a:avLst/>
          </a:prstGeom>
          <a:noFill/>
          <a:ln/>
        </p:spPr>
        <p:txBody>
          <a:bodyPr wrap="square" lIns="0" tIns="0" rIns="0" bIns="0" rtlCol="0" anchor="t"/>
          <a:lstStyle/>
          <a:p>
            <a:pPr indent="0" marL="0">
              <a:buNone/>
            </a:pPr>
            <a:r>
              <a:rPr lang="en-US" sz="1400" b="1" dirty="0">
                <a:solidFill>
                  <a:schemeClr val="tx1"/>
                </a:solidFill>
              </a:rPr>
              <a:t>Esempi e stile</a:t>
            </a:r>
            <a:endParaRPr lang="en-US" sz="1400" dirty="0"/>
          </a:p>
        </p:txBody>
      </p:sp>
      <p:sp>
        <p:nvSpPr>
          <p:cNvPr id="28" name="Text 22"/>
          <p:cNvSpPr txBox="1"/>
          <p:nvPr/>
        </p:nvSpPr>
        <p:spPr>
          <a:xfrm>
            <a:off x="3383280" y="2852928"/>
            <a:ext cx="1828800" cy="329184"/>
          </a:xfrm>
          <a:prstGeom prst="rect">
            <a:avLst/>
          </a:prstGeom>
          <a:noFill/>
          <a:ln/>
        </p:spPr>
        <p:txBody>
          <a:bodyPr wrap="square" lIns="0" tIns="0" rIns="0" bIns="0" rtlCol="0" anchor="t"/>
          <a:lstStyle/>
          <a:p>
            <a:pPr algn="r" indent="0" marL="0">
              <a:buNone/>
            </a:pPr>
            <a:r>
              <a:rPr lang="en-US" sz="1200" b="1" dirty="0">
                <a:solidFill>
                  <a:schemeClr val="accent1"/>
                </a:solidFill>
              </a:rPr>
              <a:t>In che stile</a:t>
            </a:r>
            <a:endParaRPr lang="en-US" sz="1200" dirty="0"/>
          </a:p>
        </p:txBody>
      </p:sp>
      <p:sp>
        <p:nvSpPr>
          <p:cNvPr id="29" name="Text 23"/>
          <p:cNvSpPr txBox="1"/>
          <p:nvPr/>
        </p:nvSpPr>
        <p:spPr>
          <a:xfrm>
            <a:off x="1280160" y="3191256"/>
            <a:ext cx="3931920" cy="329184"/>
          </a:xfrm>
          <a:prstGeom prst="rect">
            <a:avLst/>
          </a:prstGeom>
          <a:noFill/>
          <a:ln/>
        </p:spPr>
        <p:txBody>
          <a:bodyPr wrap="square" lIns="0" tIns="0" rIns="0" bIns="0" rtlCol="0" anchor="t"/>
          <a:lstStyle/>
          <a:p>
            <a:pPr indent="0" marL="0">
              <a:buNone/>
            </a:pPr>
            <a:r>
              <a:rPr lang="en-US" sz="1200" dirty="0">
                <a:solidFill>
                  <a:schemeClr val="tx2"/>
                </a:solidFill>
              </a:rPr>
              <a:t>Testi approvati, linee guida, modo di rivolgersi</a:t>
            </a:r>
            <a:endParaRPr lang="en-US" sz="1200" dirty="0"/>
          </a:p>
        </p:txBody>
      </p:sp>
      <p:sp>
        <p:nvSpPr>
          <p:cNvPr id="30" name="freccia"/>
          <p:cNvSpPr/>
          <p:nvPr/>
        </p:nvSpPr>
        <p:spPr>
          <a:xfrm>
            <a:off x="5440680" y="2057400"/>
            <a:ext cx="365760" cy="292608"/>
          </a:xfrm>
          <a:prstGeom prst="rightArrow">
            <a:avLst/>
          </a:prstGeom>
          <a:solidFill>
            <a:schemeClr val="accent2"/>
          </a:solidFill>
          <a:ln/>
        </p:spPr>
      </p:sp>
      <p:sp>
        <p:nvSpPr>
          <p:cNvPr id="31" name="bozze e alternative"/>
          <p:cNvSpPr/>
          <p:nvPr/>
        </p:nvSpPr>
        <p:spPr>
          <a:xfrm>
            <a:off x="5943600" y="1051560"/>
            <a:ext cx="2743200" cy="2514600"/>
          </a:xfrm>
          <a:prstGeom prst="roundRect">
            <a:avLst>
              <a:gd name="adj" fmla="val 2909"/>
            </a:avLst>
          </a:prstGeom>
          <a:solidFill>
            <a:schemeClr val="tx1"/>
          </a:solidFill>
          <a:ln/>
        </p:spPr>
      </p:sp>
      <p:sp>
        <p:nvSpPr>
          <p:cNvPr id="32" name="cerchio FiCopy"/>
          <p:cNvSpPr/>
          <p:nvPr/>
        </p:nvSpPr>
        <p:spPr>
          <a:xfrm>
            <a:off x="6126480" y="1188720"/>
            <a:ext cx="502920" cy="502920"/>
          </a:xfrm>
          <a:prstGeom prst="ellipse">
            <a:avLst/>
          </a:prstGeom>
          <a:solidFill>
            <a:schemeClr val="accent1"/>
          </a:solidFill>
          <a:ln/>
        </p:spPr>
      </p:sp>
      <p:pic>
        <p:nvPicPr>
          <p:cNvPr id="33" name="Image 3" descr="FiCopy">    </p:cNvPr>
          <p:cNvPicPr>
            <a:picLocks noChangeAspect="1"/>
          </p:cNvPicPr>
          <p:nvPr/>
        </p:nvPicPr>
        <p:blipFill>
          <a:blip r:embed="rId4"/>
          <a:stretch>
            <a:fillRect/>
          </a:stretch>
        </p:blipFill>
        <p:spPr>
          <a:xfrm>
            <a:off x="6252210" y="1314450"/>
            <a:ext cx="251460" cy="251460"/>
          </a:xfrm>
          <a:prstGeom prst="rect">
            <a:avLst/>
          </a:prstGeom>
        </p:spPr>
      </p:pic>
      <p:sp>
        <p:nvSpPr>
          <p:cNvPr id="34" name="Text 27"/>
          <p:cNvSpPr txBox="1"/>
          <p:nvPr/>
        </p:nvSpPr>
        <p:spPr>
          <a:xfrm>
            <a:off x="6720840" y="1188720"/>
            <a:ext cx="1874520" cy="502920"/>
          </a:xfrm>
          <a:prstGeom prst="rect">
            <a:avLst/>
          </a:prstGeom>
          <a:noFill/>
          <a:ln/>
        </p:spPr>
        <p:txBody>
          <a:bodyPr wrap="square" lIns="0" tIns="0" rIns="0" bIns="0" rtlCol="0" anchor="ctr"/>
          <a:lstStyle/>
          <a:p>
            <a:pPr indent="0" marL="0">
              <a:buNone/>
            </a:pPr>
            <a:r>
              <a:rPr lang="en-US" sz="1500" b="1" dirty="0">
                <a:solidFill>
                  <a:schemeClr val="bg1"/>
                </a:solidFill>
              </a:rPr>
              <a:t>Bozze e alternative</a:t>
            </a:r>
            <a:endParaRPr lang="en-US" sz="1500" dirty="0"/>
          </a:p>
        </p:txBody>
      </p:sp>
      <p:sp>
        <p:nvSpPr>
          <p:cNvPr id="35" name="Text 28"/>
          <p:cNvSpPr txBox="1"/>
          <p:nvPr/>
        </p:nvSpPr>
        <p:spPr>
          <a:xfrm>
            <a:off x="6126480" y="1828800"/>
            <a:ext cx="2423160" cy="16459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Una prima bozza in pochi minuti</a:t>
            </a:r>
            <a:endParaRPr lang="en-US" sz="1200" dirty="0"/>
          </a:p>
          <a:p>
            <a:pPr marL="177800" indent="-177800">
              <a:spcAft>
                <a:spcPts val="500"/>
              </a:spcAft>
              <a:buSzPct val="100000"/>
              <a:buChar char="•"/>
            </a:pPr>
            <a:r>
              <a:rPr lang="en-US" sz="1200" dirty="0">
                <a:solidFill>
                  <a:schemeClr val="bg1"/>
                </a:solidFill>
              </a:rPr>
              <a:t>Più versioni da confrontare: sintetica o dettagliata, formale o diretta</a:t>
            </a:r>
            <a:endParaRPr lang="en-US" sz="1200" dirty="0"/>
          </a:p>
          <a:p>
            <a:pPr marL="177800" indent="-177800">
              <a:spcAft>
                <a:spcPts val="500"/>
              </a:spcAft>
              <a:buSzPct val="100000"/>
              <a:buChar char="•"/>
            </a:pPr>
            <a:r>
              <a:rPr lang="en-US" sz="1200" dirty="0">
                <a:solidFill>
                  <a:schemeClr val="bg1"/>
                </a:solidFill>
              </a:rPr>
              <a:t>Si combinano gli elementi migliori</a:t>
            </a:r>
            <a:endParaRPr lang="en-US" sz="1200" dirty="0"/>
          </a:p>
        </p:txBody>
      </p:sp>
      <p:sp>
        <p:nvSpPr>
          <p:cNvPr id="36" name="prompt"/>
          <p:cNvSpPr/>
          <p:nvPr/>
        </p:nvSpPr>
        <p:spPr>
          <a:xfrm>
            <a:off x="457200" y="3730752"/>
            <a:ext cx="8229600" cy="804672"/>
          </a:xfrm>
          <a:prstGeom prst="roundRect">
            <a:avLst>
              <a:gd name="adj" fmla="val 9091"/>
            </a:avLst>
          </a:prstGeom>
          <a:solidFill>
            <a:schemeClr val="bg2"/>
          </a:solidFill>
          <a:ln/>
        </p:spPr>
      </p:sp>
      <p:sp>
        <p:nvSpPr>
          <p:cNvPr id="37" name="Text 30"/>
          <p:cNvSpPr txBox="1"/>
          <p:nvPr/>
        </p:nvSpPr>
        <p:spPr>
          <a:xfrm>
            <a:off x="621792" y="3822192"/>
            <a:ext cx="7900416" cy="256032"/>
          </a:xfrm>
          <a:prstGeom prst="rect">
            <a:avLst/>
          </a:prstGeom>
          <a:noFill/>
          <a:ln/>
        </p:spPr>
        <p:txBody>
          <a:bodyPr wrap="square" lIns="0" tIns="0" rIns="0" bIns="0" rtlCol="0" anchor="t"/>
          <a:lstStyle/>
          <a:p>
            <a:pPr indent="0" marL="0">
              <a:buNone/>
            </a:pPr>
            <a:r>
              <a:rPr lang="en-US" sz="1100" b="1" dirty="0">
                <a:solidFill>
                  <a:schemeClr val="accent1"/>
                </a:solidFill>
              </a:rPr>
              <a:t>Esempio di istruzione</a:t>
            </a:r>
            <a:endParaRPr lang="en-US" sz="1100" dirty="0"/>
          </a:p>
        </p:txBody>
      </p:sp>
      <p:sp>
        <p:nvSpPr>
          <p:cNvPr id="38" name="Text 31"/>
          <p:cNvSpPr txBox="1"/>
          <p:nvPr/>
        </p:nvSpPr>
        <p:spPr>
          <a:xfrm>
            <a:off x="621792" y="4096512"/>
            <a:ext cx="7900416" cy="347472"/>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«Proponi tre versioni dell'email: una sintetica, una dettagliata, una più diretta. Usa solo i fatti negli appunti allegati e segnala le informazioni mancanti.»</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Adattare il testo ai destinatari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Contenuto di base (esempio fittizio)"/>
          <p:cNvSpPr/>
          <p:nvPr/>
        </p:nvSpPr>
        <p:spPr>
          <a:xfrm>
            <a:off x="457200" y="1051560"/>
            <a:ext cx="8229600" cy="685800"/>
          </a:xfrm>
          <a:prstGeom prst="roundRect">
            <a:avLst>
              <a:gd name="adj" fmla="val 10667"/>
            </a:avLst>
          </a:prstGeom>
          <a:solidFill>
            <a:schemeClr val="bg2"/>
          </a:solidFill>
          <a:ln/>
        </p:spPr>
      </p:sp>
      <p:sp>
        <p:nvSpPr>
          <p:cNvPr id="13" name="barra"/>
          <p:cNvSpPr/>
          <p:nvPr/>
        </p:nvSpPr>
        <p:spPr>
          <a:xfrm>
            <a:off x="457200" y="1161288"/>
            <a:ext cx="54864" cy="466344"/>
          </a:xfrm>
          <a:prstGeom prst="rect">
            <a:avLst/>
          </a:prstGeom>
          <a:solidFill>
            <a:schemeClr val="accent1"/>
          </a:solidFill>
          <a:ln/>
        </p:spPr>
      </p:sp>
      <p:sp>
        <p:nvSpPr>
          <p:cNvPr id="14" name="Text 11"/>
          <p:cNvSpPr txBox="1"/>
          <p:nvPr/>
        </p:nvSpPr>
        <p:spPr>
          <a:xfrm>
            <a:off x="658368" y="1143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Contenuto di base (esempio fittizio)</a:t>
            </a:r>
            <a:endParaRPr lang="en-US" sz="1100" dirty="0"/>
          </a:p>
        </p:txBody>
      </p:sp>
      <p:sp>
        <p:nvSpPr>
          <p:cNvPr id="15" name="Text 12"/>
          <p:cNvSpPr txBox="1"/>
          <p:nvPr/>
        </p:nvSpPr>
        <p:spPr>
          <a:xfrm>
            <a:off x="658368" y="1435608"/>
            <a:ext cx="7863840" cy="210312"/>
          </a:xfrm>
          <a:prstGeom prst="rect">
            <a:avLst/>
          </a:prstGeom>
          <a:noFill/>
          <a:ln/>
        </p:spPr>
        <p:txBody>
          <a:bodyPr wrap="square" lIns="0" tIns="0" rIns="0" bIns="0" rtlCol="0" anchor="t"/>
          <a:lstStyle/>
          <a:p>
            <a:pPr indent="0" marL="0">
              <a:buNone/>
            </a:pPr>
            <a:r>
              <a:rPr lang="en-US" sz="1200" dirty="0">
                <a:solidFill>
                  <a:schemeClr val="tx1"/>
                </a:solidFill>
              </a:rPr>
              <a:t>Dal 1° marzo il servizio clienti telefonico sarà attivo dalle 8 alle 18, invece che dalle 9 alle 17.</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47088"/>
          <a:ext cx="8229600" cy="914400"/>
        </p:xfrm>
        <a:graphic>
          <a:graphicData uri="http://schemas.openxmlformats.org/drawingml/2006/table">
            <a:tbl>
              <a:tblPr/>
              <a:tblGrid>
                <a:gridCol w="2011680"/>
                <a:gridCol w="3383280"/>
                <a:gridCol w="2834640"/>
              </a:tblGrid>
              <a:tr h="365760">
                <a:tc>
                  <a:txBody>
                    <a:bodyPr/>
                    <a:lstStyle/>
                    <a:p>
                      <a:pPr indent="0" marL="0">
                        <a:buNone/>
                      </a:pPr>
                      <a:r>
                        <a:rPr lang="en-US" sz="1200" b="1" dirty="0">
                          <a:solidFill>
                            <a:schemeClr val="bg1"/>
                          </a:solidFill>
                        </a:rPr>
                        <a:t>Destinatario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conta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Tono e registro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65760">
                <a:tc>
                  <a:txBody>
                    <a:bodyPr/>
                    <a:lstStyle/>
                    <a:p>
                      <a:pPr indent="0" marL="0">
                        <a:buNone/>
                      </a:pPr>
                      <a:r>
                        <a:rPr lang="en-US" sz="1200" b="1" dirty="0">
                          <a:solidFill>
                            <a:schemeClr val="tx1"/>
                          </a:solidFill>
                        </a:rPr>
                        <a:t>Direzione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Motivazione, costi, effetti attesi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Sintetico, orientato alle decisioni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Colleghi del servizio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 quando, nuovi turni, a chi rivolgersi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Operativo, diretto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Clienti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Che cosa cambia per loro, come contattarci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Cortese, senza dettagli interni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7" name="blocco Tono: l'atteggiamento"/>
          <p:cNvSpPr/>
          <p:nvPr/>
        </p:nvSpPr>
        <p:spPr>
          <a:xfrm>
            <a:off x="457200" y="3456432"/>
            <a:ext cx="2651760" cy="457200"/>
          </a:xfrm>
          <a:prstGeom prst="roundRect">
            <a:avLst>
              <a:gd name="adj" fmla="val 24000"/>
            </a:avLst>
          </a:prstGeom>
          <a:solidFill>
            <a:schemeClr val="bg2"/>
          </a:solidFill>
          <a:ln/>
        </p:spPr>
      </p:sp>
      <p:sp>
        <p:nvSpPr>
          <p:cNvPr id="18" name="Text 14"/>
          <p:cNvSpPr txBox="1"/>
          <p:nvPr/>
        </p:nvSpPr>
        <p:spPr>
          <a:xfrm>
            <a:off x="502920" y="3456432"/>
            <a:ext cx="2560320" cy="457200"/>
          </a:xfrm>
          <a:prstGeom prst="rect">
            <a:avLst/>
          </a:prstGeom>
          <a:noFill/>
          <a:ln/>
        </p:spPr>
        <p:txBody>
          <a:bodyPr wrap="square" lIns="0" tIns="0" rIns="0" bIns="0" rtlCol="0" anchor="ctr"/>
          <a:lstStyle/>
          <a:p>
            <a:pPr algn="ctr" indent="0" marL="0">
              <a:buNone/>
            </a:pPr>
            <a:r>
              <a:rPr lang="en-US" sz="1200" b="1" dirty="0">
                <a:solidFill>
                  <a:schemeClr val="tx1"/>
                </a:solidFill>
              </a:rPr>
              <a:t>Tono: l'atteggiamento</a:t>
            </a:r>
            <a:endParaRPr lang="en-US" sz="1200" dirty="0"/>
          </a:p>
        </p:txBody>
      </p:sp>
      <p:sp>
        <p:nvSpPr>
          <p:cNvPr id="19" name="blocco Stile: frasi, lessico, struttura"/>
          <p:cNvSpPr/>
          <p:nvPr/>
        </p:nvSpPr>
        <p:spPr>
          <a:xfrm>
            <a:off x="3246120" y="3456432"/>
            <a:ext cx="2651760" cy="457200"/>
          </a:xfrm>
          <a:prstGeom prst="roundRect">
            <a:avLst>
              <a:gd name="adj" fmla="val 24000"/>
            </a:avLst>
          </a:prstGeom>
          <a:solidFill>
            <a:schemeClr val="bg2"/>
          </a:solidFill>
          <a:ln/>
        </p:spPr>
      </p:sp>
      <p:sp>
        <p:nvSpPr>
          <p:cNvPr id="20" name="Text 16"/>
          <p:cNvSpPr txBox="1"/>
          <p:nvPr/>
        </p:nvSpPr>
        <p:spPr>
          <a:xfrm>
            <a:off x="3291840" y="3456432"/>
            <a:ext cx="2560320" cy="457200"/>
          </a:xfrm>
          <a:prstGeom prst="rect">
            <a:avLst/>
          </a:prstGeom>
          <a:noFill/>
          <a:ln/>
        </p:spPr>
        <p:txBody>
          <a:bodyPr wrap="square" lIns="0" tIns="0" rIns="0" bIns="0" rtlCol="0" anchor="ctr"/>
          <a:lstStyle/>
          <a:p>
            <a:pPr algn="ctr" indent="0" marL="0">
              <a:buNone/>
            </a:pPr>
            <a:r>
              <a:rPr lang="en-US" sz="1200" b="1" dirty="0">
                <a:solidFill>
                  <a:schemeClr val="tx1"/>
                </a:solidFill>
              </a:rPr>
              <a:t>Stile: frasi, lessico, struttura</a:t>
            </a:r>
            <a:endParaRPr lang="en-US" sz="1200" dirty="0"/>
          </a:p>
        </p:txBody>
      </p:sp>
      <p:sp>
        <p:nvSpPr>
          <p:cNvPr id="21" name="blocco Registro: la formalità"/>
          <p:cNvSpPr/>
          <p:nvPr/>
        </p:nvSpPr>
        <p:spPr>
          <a:xfrm>
            <a:off x="6035040" y="3456432"/>
            <a:ext cx="2651760" cy="457200"/>
          </a:xfrm>
          <a:prstGeom prst="roundRect">
            <a:avLst>
              <a:gd name="adj" fmla="val 24000"/>
            </a:avLst>
          </a:prstGeom>
          <a:solidFill>
            <a:schemeClr val="bg2"/>
          </a:solidFill>
          <a:ln/>
        </p:spPr>
      </p:sp>
      <p:sp>
        <p:nvSpPr>
          <p:cNvPr id="22" name="Text 18"/>
          <p:cNvSpPr txBox="1"/>
          <p:nvPr/>
        </p:nvSpPr>
        <p:spPr>
          <a:xfrm>
            <a:off x="6080760" y="3456432"/>
            <a:ext cx="2560320" cy="457200"/>
          </a:xfrm>
          <a:prstGeom prst="rect">
            <a:avLst/>
          </a:prstGeom>
          <a:noFill/>
          <a:ln/>
        </p:spPr>
        <p:txBody>
          <a:bodyPr wrap="square" lIns="0" tIns="0" rIns="0" bIns="0" rtlCol="0" anchor="ctr"/>
          <a:lstStyle/>
          <a:p>
            <a:pPr algn="ctr" indent="0" marL="0">
              <a:buNone/>
            </a:pPr>
            <a:r>
              <a:rPr lang="en-US" sz="1200" b="1" dirty="0">
                <a:solidFill>
                  <a:schemeClr val="tx1"/>
                </a:solidFill>
              </a:rPr>
              <a:t>Registro: la formalità</a:t>
            </a:r>
            <a:endParaRPr lang="en-US" sz="1200" dirty="0"/>
          </a:p>
        </p:txBody>
      </p:sp>
      <p:sp>
        <p:nvSpPr>
          <p:cNvPr id="23" name="messaggio"/>
          <p:cNvSpPr/>
          <p:nvPr/>
        </p:nvSpPr>
        <p:spPr>
          <a:xfrm>
            <a:off x="457200" y="4041648"/>
            <a:ext cx="8229600" cy="530352"/>
          </a:xfrm>
          <a:prstGeom prst="roundRect">
            <a:avLst>
              <a:gd name="adj" fmla="val 13793"/>
            </a:avLst>
          </a:prstGeom>
          <a:solidFill>
            <a:schemeClr val="tx1"/>
          </a:solidFill>
          <a:ln/>
        </p:spPr>
      </p:sp>
      <p:sp>
        <p:nvSpPr>
          <p:cNvPr id="24" name="Text 20"/>
          <p:cNvSpPr txBox="1"/>
          <p:nvPr/>
        </p:nvSpPr>
        <p:spPr>
          <a:xfrm>
            <a:off x="640080" y="4041648"/>
            <a:ext cx="7863840" cy="530352"/>
          </a:xfrm>
          <a:prstGeom prst="rect">
            <a:avLst/>
          </a:prstGeom>
          <a:noFill/>
          <a:ln/>
        </p:spPr>
        <p:txBody>
          <a:bodyPr wrap="square" lIns="0" tIns="0" rIns="0" bIns="0" rtlCol="0" anchor="ctr"/>
          <a:lstStyle/>
          <a:p>
            <a:pPr indent="0" marL="0">
              <a:buNone/>
            </a:pPr>
            <a:r>
              <a:rPr lang="en-US" sz="1300" dirty="0">
                <a:solidFill>
                  <a:schemeClr val="bg1"/>
                </a:solidFill>
              </a:rPr>
              <a:t>Indicare tono e registro, o dare un testo approvato come esempio: il tono predefinito tende a essere generico.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Quanta autonomia dare all'AI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Redazione supervisionata"/>
          <p:cNvSpPr/>
          <p:nvPr/>
        </p:nvSpPr>
        <p:spPr>
          <a:xfrm>
            <a:off x="457200" y="1051560"/>
            <a:ext cx="2615184" cy="2743200"/>
          </a:xfrm>
          <a:prstGeom prst="roundRect">
            <a:avLst>
              <a:gd name="adj" fmla="val 2797"/>
            </a:avLst>
          </a:prstGeom>
          <a:solidFill>
            <a:schemeClr val="bg2"/>
          </a:solidFill>
          <a:ln/>
        </p:spPr>
      </p:sp>
      <p:sp>
        <p:nvSpPr>
          <p:cNvPr id="13" name="Text 10"/>
          <p:cNvSpPr txBox="1"/>
          <p:nvPr/>
        </p:nvSpPr>
        <p:spPr>
          <a:xfrm>
            <a:off x="594360" y="1115568"/>
            <a:ext cx="2340864" cy="502920"/>
          </a:xfrm>
          <a:prstGeom prst="rect">
            <a:avLst/>
          </a:prstGeom>
          <a:noFill/>
          <a:ln/>
        </p:spPr>
        <p:txBody>
          <a:bodyPr wrap="square" lIns="0" tIns="0" rIns="0" bIns="0" rtlCol="0" anchor="ctr"/>
          <a:lstStyle/>
          <a:p>
            <a:pPr indent="0" marL="0">
              <a:buNone/>
            </a:pPr>
            <a:r>
              <a:rPr lang="en-US" sz="1400" b="1" dirty="0">
                <a:solidFill>
                  <a:schemeClr val="tx1"/>
                </a:solidFill>
              </a:rPr>
              <a:t>Redazione supervisionata</a:t>
            </a:r>
            <a:endParaRPr lang="en-US" sz="1400" dirty="0"/>
          </a:p>
        </p:txBody>
      </p:sp>
      <p:sp>
        <p:nvSpPr>
          <p:cNvPr id="14" name="Text 11"/>
          <p:cNvSpPr txBox="1"/>
          <p:nvPr/>
        </p:nvSpPr>
        <p:spPr>
          <a:xfrm>
            <a:off x="594360" y="1691640"/>
            <a:ext cx="2340864" cy="219456"/>
          </a:xfrm>
          <a:prstGeom prst="rect">
            <a:avLst/>
          </a:prstGeom>
          <a:noFill/>
          <a:ln/>
        </p:spPr>
        <p:txBody>
          <a:bodyPr wrap="square" lIns="0" tIns="0" rIns="0" bIns="0" rtlCol="0" anchor="t"/>
          <a:lstStyle/>
          <a:p>
            <a:pPr indent="0" marL="0">
              <a:buNone/>
            </a:pPr>
            <a:r>
              <a:rPr lang="en-US" sz="1100" b="1" dirty="0">
                <a:solidFill>
                  <a:schemeClr val="accent1"/>
                </a:solidFill>
              </a:rPr>
              <a:t>Esempi</a:t>
            </a:r>
            <a:endParaRPr lang="en-US" sz="1100" dirty="0"/>
          </a:p>
        </p:txBody>
      </p:sp>
      <p:sp>
        <p:nvSpPr>
          <p:cNvPr id="15" name="Text 12"/>
          <p:cNvSpPr txBox="1"/>
          <p:nvPr/>
        </p:nvSpPr>
        <p:spPr>
          <a:xfrm>
            <a:off x="594360" y="1920240"/>
            <a:ext cx="2340864" cy="438912"/>
          </a:xfrm>
          <a:prstGeom prst="rect">
            <a:avLst/>
          </a:prstGeom>
          <a:noFill/>
          <a:ln/>
        </p:spPr>
        <p:txBody>
          <a:bodyPr wrap="square" lIns="0" tIns="0" rIns="0" bIns="0" rtlCol="0" anchor="t"/>
          <a:lstStyle/>
          <a:p>
            <a:pPr indent="0" marL="0">
              <a:buNone/>
            </a:pPr>
            <a:r>
              <a:rPr lang="en-US" sz="1100" dirty="0">
                <a:solidFill>
                  <a:schemeClr val="tx1"/>
                </a:solidFill>
              </a:rPr>
              <a:t>Relazioni, offerte, comunicazioni ai clienti</a:t>
            </a:r>
            <a:endParaRPr lang="en-US" sz="1100" dirty="0"/>
          </a:p>
        </p:txBody>
      </p:sp>
      <p:sp>
        <p:nvSpPr>
          <p:cNvPr id="16" name="Text 13"/>
          <p:cNvSpPr txBox="1"/>
          <p:nvPr/>
        </p:nvSpPr>
        <p:spPr>
          <a:xfrm>
            <a:off x="594360" y="2386584"/>
            <a:ext cx="2340864" cy="219456"/>
          </a:xfrm>
          <a:prstGeom prst="rect">
            <a:avLst/>
          </a:prstGeom>
          <a:noFill/>
          <a:ln/>
        </p:spPr>
        <p:txBody>
          <a:bodyPr wrap="square" lIns="0" tIns="0" rIns="0" bIns="0" rtlCol="0" anchor="t"/>
          <a:lstStyle/>
          <a:p>
            <a:pPr indent="0" marL="0">
              <a:buNone/>
            </a:pPr>
            <a:r>
              <a:rPr lang="en-US" sz="1100" b="1" dirty="0">
                <a:solidFill>
                  <a:schemeClr val="accent1"/>
                </a:solidFill>
              </a:rPr>
              <a:t>Benefici</a:t>
            </a:r>
            <a:endParaRPr lang="en-US" sz="1100" dirty="0"/>
          </a:p>
        </p:txBody>
      </p:sp>
      <p:sp>
        <p:nvSpPr>
          <p:cNvPr id="17" name="Text 14"/>
          <p:cNvSpPr txBox="1"/>
          <p:nvPr/>
        </p:nvSpPr>
        <p:spPr>
          <a:xfrm>
            <a:off x="594360" y="2615184"/>
            <a:ext cx="2340864" cy="438912"/>
          </a:xfrm>
          <a:prstGeom prst="rect">
            <a:avLst/>
          </a:prstGeom>
          <a:noFill/>
          <a:ln/>
        </p:spPr>
        <p:txBody>
          <a:bodyPr wrap="square" lIns="0" tIns="0" rIns="0" bIns="0" rtlCol="0" anchor="t"/>
          <a:lstStyle/>
          <a:p>
            <a:pPr indent="0" marL="0">
              <a:buNone/>
            </a:pPr>
            <a:r>
              <a:rPr lang="en-US" sz="1100" dirty="0">
                <a:solidFill>
                  <a:schemeClr val="tx1"/>
                </a:solidFill>
              </a:rPr>
              <a:t>Bozza rapida, più tempo per il contenuto</a:t>
            </a:r>
            <a:endParaRPr lang="en-US" sz="1100" dirty="0"/>
          </a:p>
        </p:txBody>
      </p:sp>
      <p:sp>
        <p:nvSpPr>
          <p:cNvPr id="18" name="Text 15"/>
          <p:cNvSpPr txBox="1"/>
          <p:nvPr/>
        </p:nvSpPr>
        <p:spPr>
          <a:xfrm>
            <a:off x="594360" y="3081528"/>
            <a:ext cx="2340864" cy="219456"/>
          </a:xfrm>
          <a:prstGeom prst="rect">
            <a:avLst/>
          </a:prstGeom>
          <a:noFill/>
          <a:ln/>
        </p:spPr>
        <p:txBody>
          <a:bodyPr wrap="square" lIns="0" tIns="0" rIns="0" bIns="0" rtlCol="0" anchor="t"/>
          <a:lstStyle/>
          <a:p>
            <a:pPr indent="0" marL="0">
              <a:buNone/>
            </a:pPr>
            <a:r>
              <a:rPr lang="en-US" sz="1100" b="1" dirty="0">
                <a:solidFill>
                  <a:schemeClr val="accent1"/>
                </a:solidFill>
              </a:rPr>
              <a:t>Condizioni</a:t>
            </a:r>
            <a:endParaRPr lang="en-US" sz="1100" dirty="0"/>
          </a:p>
        </p:txBody>
      </p:sp>
      <p:sp>
        <p:nvSpPr>
          <p:cNvPr id="19" name="Text 16"/>
          <p:cNvSpPr txBox="1"/>
          <p:nvPr/>
        </p:nvSpPr>
        <p:spPr>
          <a:xfrm>
            <a:off x="594360" y="3310128"/>
            <a:ext cx="2340864" cy="438912"/>
          </a:xfrm>
          <a:prstGeom prst="rect">
            <a:avLst/>
          </a:prstGeom>
          <a:noFill/>
          <a:ln/>
        </p:spPr>
        <p:txBody>
          <a:bodyPr wrap="square" lIns="0" tIns="0" rIns="0" bIns="0" rtlCol="0" anchor="t"/>
          <a:lstStyle/>
          <a:p>
            <a:pPr indent="0" marL="0">
              <a:buNone/>
            </a:pPr>
            <a:r>
              <a:rPr lang="en-US" sz="1100" dirty="0">
                <a:solidFill>
                  <a:schemeClr val="tx1"/>
                </a:solidFill>
              </a:rPr>
              <a:t>Una persona rivede, completa e approva</a:t>
            </a:r>
            <a:endParaRPr lang="en-US" sz="1100" dirty="0"/>
          </a:p>
        </p:txBody>
      </p:sp>
      <p:sp>
        <p:nvSpPr>
          <p:cNvPr id="20" name="freccia"/>
          <p:cNvSpPr/>
          <p:nvPr/>
        </p:nvSpPr>
        <p:spPr>
          <a:xfrm>
            <a:off x="3090672" y="2377440"/>
            <a:ext cx="155448" cy="292608"/>
          </a:xfrm>
          <a:prstGeom prst="rightArrow">
            <a:avLst/>
          </a:prstGeom>
          <a:solidFill>
            <a:schemeClr val="accent2"/>
          </a:solidFill>
          <a:ln/>
        </p:spPr>
      </p:sp>
      <p:sp>
        <p:nvSpPr>
          <p:cNvPr id="21" name="In serie con controlli"/>
          <p:cNvSpPr/>
          <p:nvPr/>
        </p:nvSpPr>
        <p:spPr>
          <a:xfrm>
            <a:off x="3264408" y="1051560"/>
            <a:ext cx="2615184" cy="2743200"/>
          </a:xfrm>
          <a:prstGeom prst="roundRect">
            <a:avLst>
              <a:gd name="adj" fmla="val 2797"/>
            </a:avLst>
          </a:prstGeom>
          <a:solidFill>
            <a:schemeClr val="accent6"/>
          </a:solidFill>
          <a:ln/>
        </p:spPr>
      </p:sp>
      <p:sp>
        <p:nvSpPr>
          <p:cNvPr id="22" name="Text 19"/>
          <p:cNvSpPr txBox="1"/>
          <p:nvPr/>
        </p:nvSpPr>
        <p:spPr>
          <a:xfrm>
            <a:off x="3401568" y="1115568"/>
            <a:ext cx="2340864" cy="502920"/>
          </a:xfrm>
          <a:prstGeom prst="rect">
            <a:avLst/>
          </a:prstGeom>
          <a:noFill/>
          <a:ln/>
        </p:spPr>
        <p:txBody>
          <a:bodyPr wrap="square" lIns="0" tIns="0" rIns="0" bIns="0" rtlCol="0" anchor="ctr"/>
          <a:lstStyle/>
          <a:p>
            <a:pPr indent="0" marL="0">
              <a:buNone/>
            </a:pPr>
            <a:r>
              <a:rPr lang="en-US" sz="1400" b="1" dirty="0">
                <a:solidFill>
                  <a:schemeClr val="tx1"/>
                </a:solidFill>
              </a:rPr>
              <a:t>In serie con controlli</a:t>
            </a:r>
            <a:endParaRPr lang="en-US" sz="1400" dirty="0"/>
          </a:p>
        </p:txBody>
      </p:sp>
      <p:sp>
        <p:nvSpPr>
          <p:cNvPr id="23" name="Text 20"/>
          <p:cNvSpPr txBox="1"/>
          <p:nvPr/>
        </p:nvSpPr>
        <p:spPr>
          <a:xfrm>
            <a:off x="3401568" y="1691640"/>
            <a:ext cx="2340864" cy="219456"/>
          </a:xfrm>
          <a:prstGeom prst="rect">
            <a:avLst/>
          </a:prstGeom>
          <a:noFill/>
          <a:ln/>
        </p:spPr>
        <p:txBody>
          <a:bodyPr wrap="square" lIns="0" tIns="0" rIns="0" bIns="0" rtlCol="0" anchor="t"/>
          <a:lstStyle/>
          <a:p>
            <a:pPr indent="0" marL="0">
              <a:buNone/>
            </a:pPr>
            <a:r>
              <a:rPr lang="en-US" sz="1100" b="1" dirty="0">
                <a:solidFill>
                  <a:schemeClr val="accent1"/>
                </a:solidFill>
              </a:rPr>
              <a:t>Esempi</a:t>
            </a:r>
            <a:endParaRPr lang="en-US" sz="1100" dirty="0"/>
          </a:p>
        </p:txBody>
      </p:sp>
      <p:sp>
        <p:nvSpPr>
          <p:cNvPr id="24" name="Text 21"/>
          <p:cNvSpPr txBox="1"/>
          <p:nvPr/>
        </p:nvSpPr>
        <p:spPr>
          <a:xfrm>
            <a:off x="3401568" y="1920240"/>
            <a:ext cx="2340864" cy="438912"/>
          </a:xfrm>
          <a:prstGeom prst="rect">
            <a:avLst/>
          </a:prstGeom>
          <a:noFill/>
          <a:ln/>
        </p:spPr>
        <p:txBody>
          <a:bodyPr wrap="square" lIns="0" tIns="0" rIns="0" bIns="0" rtlCol="0" anchor="t"/>
          <a:lstStyle/>
          <a:p>
            <a:pPr indent="0" marL="0">
              <a:buNone/>
            </a:pPr>
            <a:r>
              <a:rPr lang="en-US" sz="1100" dirty="0">
                <a:solidFill>
                  <a:schemeClr val="tx1"/>
                </a:solidFill>
              </a:rPr>
              <a:t>Schede prodotto, descrizioni, risposte standard</a:t>
            </a:r>
            <a:endParaRPr lang="en-US" sz="1100" dirty="0"/>
          </a:p>
        </p:txBody>
      </p:sp>
      <p:sp>
        <p:nvSpPr>
          <p:cNvPr id="25" name="Text 22"/>
          <p:cNvSpPr txBox="1"/>
          <p:nvPr/>
        </p:nvSpPr>
        <p:spPr>
          <a:xfrm>
            <a:off x="3401568" y="2386584"/>
            <a:ext cx="2340864" cy="219456"/>
          </a:xfrm>
          <a:prstGeom prst="rect">
            <a:avLst/>
          </a:prstGeom>
          <a:noFill/>
          <a:ln/>
        </p:spPr>
        <p:txBody>
          <a:bodyPr wrap="square" lIns="0" tIns="0" rIns="0" bIns="0" rtlCol="0" anchor="t"/>
          <a:lstStyle/>
          <a:p>
            <a:pPr indent="0" marL="0">
              <a:buNone/>
            </a:pPr>
            <a:r>
              <a:rPr lang="en-US" sz="1100" b="1" dirty="0">
                <a:solidFill>
                  <a:schemeClr val="accent1"/>
                </a:solidFill>
              </a:rPr>
              <a:t>Benefici</a:t>
            </a:r>
            <a:endParaRPr lang="en-US" sz="1100" dirty="0"/>
          </a:p>
        </p:txBody>
      </p:sp>
      <p:sp>
        <p:nvSpPr>
          <p:cNvPr id="26" name="Text 23"/>
          <p:cNvSpPr txBox="1"/>
          <p:nvPr/>
        </p:nvSpPr>
        <p:spPr>
          <a:xfrm>
            <a:off x="3401568" y="2615184"/>
            <a:ext cx="2340864" cy="438912"/>
          </a:xfrm>
          <a:prstGeom prst="rect">
            <a:avLst/>
          </a:prstGeom>
          <a:noFill/>
          <a:ln/>
        </p:spPr>
        <p:txBody>
          <a:bodyPr wrap="square" lIns="0" tIns="0" rIns="0" bIns="0" rtlCol="0" anchor="t"/>
          <a:lstStyle/>
          <a:p>
            <a:pPr indent="0" marL="0">
              <a:buNone/>
            </a:pPr>
            <a:r>
              <a:rPr lang="en-US" sz="1100" dirty="0">
                <a:solidFill>
                  <a:schemeClr val="tx1"/>
                </a:solidFill>
              </a:rPr>
              <a:t>Volumi elevati, stile uniforme</a:t>
            </a:r>
            <a:endParaRPr lang="en-US" sz="1100" dirty="0"/>
          </a:p>
        </p:txBody>
      </p:sp>
      <p:sp>
        <p:nvSpPr>
          <p:cNvPr id="27" name="Text 24"/>
          <p:cNvSpPr txBox="1"/>
          <p:nvPr/>
        </p:nvSpPr>
        <p:spPr>
          <a:xfrm>
            <a:off x="3401568" y="3081528"/>
            <a:ext cx="2340864" cy="219456"/>
          </a:xfrm>
          <a:prstGeom prst="rect">
            <a:avLst/>
          </a:prstGeom>
          <a:noFill/>
          <a:ln/>
        </p:spPr>
        <p:txBody>
          <a:bodyPr wrap="square" lIns="0" tIns="0" rIns="0" bIns="0" rtlCol="0" anchor="t"/>
          <a:lstStyle/>
          <a:p>
            <a:pPr indent="0" marL="0">
              <a:buNone/>
            </a:pPr>
            <a:r>
              <a:rPr lang="en-US" sz="1100" b="1" dirty="0">
                <a:solidFill>
                  <a:schemeClr val="accent1"/>
                </a:solidFill>
              </a:rPr>
              <a:t>Condizioni</a:t>
            </a:r>
            <a:endParaRPr lang="en-US" sz="1100" dirty="0"/>
          </a:p>
        </p:txBody>
      </p:sp>
      <p:sp>
        <p:nvSpPr>
          <p:cNvPr id="28" name="Text 25"/>
          <p:cNvSpPr txBox="1"/>
          <p:nvPr/>
        </p:nvSpPr>
        <p:spPr>
          <a:xfrm>
            <a:off x="3401568" y="3310128"/>
            <a:ext cx="2340864" cy="438912"/>
          </a:xfrm>
          <a:prstGeom prst="rect">
            <a:avLst/>
          </a:prstGeom>
          <a:noFill/>
          <a:ln/>
        </p:spPr>
        <p:txBody>
          <a:bodyPr wrap="square" lIns="0" tIns="0" rIns="0" bIns="0" rtlCol="0" anchor="t"/>
          <a:lstStyle/>
          <a:p>
            <a:pPr indent="0" marL="0">
              <a:buNone/>
            </a:pPr>
            <a:r>
              <a:rPr lang="en-US" sz="1100" dirty="0">
                <a:solidFill>
                  <a:schemeClr val="tx1"/>
                </a:solidFill>
              </a:rPr>
              <a:t>Modelli approvati, controlli a campione</a:t>
            </a:r>
            <a:endParaRPr lang="en-US" sz="1100" dirty="0"/>
          </a:p>
        </p:txBody>
      </p:sp>
      <p:sp>
        <p:nvSpPr>
          <p:cNvPr id="29" name="freccia"/>
          <p:cNvSpPr/>
          <p:nvPr/>
        </p:nvSpPr>
        <p:spPr>
          <a:xfrm>
            <a:off x="5897880" y="2377440"/>
            <a:ext cx="155448" cy="292608"/>
          </a:xfrm>
          <a:prstGeom prst="rightArrow">
            <a:avLst/>
          </a:prstGeom>
          <a:solidFill>
            <a:schemeClr val="accent2"/>
          </a:solidFill>
          <a:ln/>
        </p:spPr>
      </p:sp>
      <p:sp>
        <p:nvSpPr>
          <p:cNvPr id="30" name="Automazione a basso rischio"/>
          <p:cNvSpPr/>
          <p:nvPr/>
        </p:nvSpPr>
        <p:spPr>
          <a:xfrm>
            <a:off x="6071616" y="1051560"/>
            <a:ext cx="2615184" cy="2743200"/>
          </a:xfrm>
          <a:prstGeom prst="roundRect">
            <a:avLst>
              <a:gd name="adj" fmla="val 2797"/>
            </a:avLst>
          </a:prstGeom>
          <a:solidFill>
            <a:schemeClr val="accent1"/>
          </a:solidFill>
          <a:ln/>
        </p:spPr>
      </p:sp>
      <p:sp>
        <p:nvSpPr>
          <p:cNvPr id="31" name="Text 28"/>
          <p:cNvSpPr txBox="1"/>
          <p:nvPr/>
        </p:nvSpPr>
        <p:spPr>
          <a:xfrm>
            <a:off x="6208776" y="1115568"/>
            <a:ext cx="2340864" cy="502920"/>
          </a:xfrm>
          <a:prstGeom prst="rect">
            <a:avLst/>
          </a:prstGeom>
          <a:noFill/>
          <a:ln/>
        </p:spPr>
        <p:txBody>
          <a:bodyPr wrap="square" lIns="0" tIns="0" rIns="0" bIns="0" rtlCol="0" anchor="ctr"/>
          <a:lstStyle/>
          <a:p>
            <a:pPr indent="0" marL="0">
              <a:buNone/>
            </a:pPr>
            <a:r>
              <a:rPr lang="en-US" sz="1400" b="1" dirty="0">
                <a:solidFill>
                  <a:schemeClr val="bg1"/>
                </a:solidFill>
              </a:rPr>
              <a:t>Automazione a basso rischio</a:t>
            </a:r>
            <a:endParaRPr lang="en-US" sz="1400" dirty="0"/>
          </a:p>
        </p:txBody>
      </p:sp>
      <p:sp>
        <p:nvSpPr>
          <p:cNvPr id="32" name="Text 29"/>
          <p:cNvSpPr txBox="1"/>
          <p:nvPr/>
        </p:nvSpPr>
        <p:spPr>
          <a:xfrm>
            <a:off x="6208776" y="1691640"/>
            <a:ext cx="2340864" cy="219456"/>
          </a:xfrm>
          <a:prstGeom prst="rect">
            <a:avLst/>
          </a:prstGeom>
          <a:noFill/>
          <a:ln/>
        </p:spPr>
        <p:txBody>
          <a:bodyPr wrap="square" lIns="0" tIns="0" rIns="0" bIns="0" rtlCol="0" anchor="t"/>
          <a:lstStyle/>
          <a:p>
            <a:pPr indent="0" marL="0">
              <a:buNone/>
            </a:pPr>
            <a:r>
              <a:rPr lang="en-US" sz="1100" b="1" dirty="0">
                <a:solidFill>
                  <a:schemeClr val="accent6"/>
                </a:solidFill>
              </a:rPr>
              <a:t>Esempi</a:t>
            </a:r>
            <a:endParaRPr lang="en-US" sz="1100" dirty="0"/>
          </a:p>
        </p:txBody>
      </p:sp>
      <p:sp>
        <p:nvSpPr>
          <p:cNvPr id="33" name="Text 30"/>
          <p:cNvSpPr txBox="1"/>
          <p:nvPr/>
        </p:nvSpPr>
        <p:spPr>
          <a:xfrm>
            <a:off x="6208776" y="1920240"/>
            <a:ext cx="2340864" cy="438912"/>
          </a:xfrm>
          <a:prstGeom prst="rect">
            <a:avLst/>
          </a:prstGeom>
          <a:noFill/>
          <a:ln/>
        </p:spPr>
        <p:txBody>
          <a:bodyPr wrap="square" lIns="0" tIns="0" rIns="0" bIns="0" rtlCol="0" anchor="t"/>
          <a:lstStyle/>
          <a:p>
            <a:pPr indent="0" marL="0">
              <a:buNone/>
            </a:pPr>
            <a:r>
              <a:rPr lang="en-US" sz="1100" dirty="0">
                <a:solidFill>
                  <a:schemeClr val="bg1"/>
                </a:solidFill>
              </a:rPr>
              <a:t>Conferme di ricezione, smistamento, riepiloghi interni</a:t>
            </a:r>
            <a:endParaRPr lang="en-US" sz="1100" dirty="0"/>
          </a:p>
        </p:txBody>
      </p:sp>
      <p:sp>
        <p:nvSpPr>
          <p:cNvPr id="34" name="Text 31"/>
          <p:cNvSpPr txBox="1"/>
          <p:nvPr/>
        </p:nvSpPr>
        <p:spPr>
          <a:xfrm>
            <a:off x="6208776" y="2386584"/>
            <a:ext cx="2340864" cy="219456"/>
          </a:xfrm>
          <a:prstGeom prst="rect">
            <a:avLst/>
          </a:prstGeom>
          <a:noFill/>
          <a:ln/>
        </p:spPr>
        <p:txBody>
          <a:bodyPr wrap="square" lIns="0" tIns="0" rIns="0" bIns="0" rtlCol="0" anchor="t"/>
          <a:lstStyle/>
          <a:p>
            <a:pPr indent="0" marL="0">
              <a:buNone/>
            </a:pPr>
            <a:r>
              <a:rPr lang="en-US" sz="1100" b="1" dirty="0">
                <a:solidFill>
                  <a:schemeClr val="accent6"/>
                </a:solidFill>
              </a:rPr>
              <a:t>Benefici</a:t>
            </a:r>
            <a:endParaRPr lang="en-US" sz="1100" dirty="0"/>
          </a:p>
        </p:txBody>
      </p:sp>
      <p:sp>
        <p:nvSpPr>
          <p:cNvPr id="35" name="Text 32"/>
          <p:cNvSpPr txBox="1"/>
          <p:nvPr/>
        </p:nvSpPr>
        <p:spPr>
          <a:xfrm>
            <a:off x="6208776" y="2615184"/>
            <a:ext cx="2340864" cy="438912"/>
          </a:xfrm>
          <a:prstGeom prst="rect">
            <a:avLst/>
          </a:prstGeom>
          <a:noFill/>
          <a:ln/>
        </p:spPr>
        <p:txBody>
          <a:bodyPr wrap="square" lIns="0" tIns="0" rIns="0" bIns="0" rtlCol="0" anchor="t"/>
          <a:lstStyle/>
          <a:p>
            <a:pPr indent="0" marL="0">
              <a:buNone/>
            </a:pPr>
            <a:r>
              <a:rPr lang="en-US" sz="1100" dirty="0">
                <a:solidFill>
                  <a:schemeClr val="bg1"/>
                </a:solidFill>
              </a:rPr>
              <a:t>Rapidità, meno lavoro ripetitivo</a:t>
            </a:r>
            <a:endParaRPr lang="en-US" sz="1100" dirty="0"/>
          </a:p>
        </p:txBody>
      </p:sp>
      <p:sp>
        <p:nvSpPr>
          <p:cNvPr id="36" name="Text 33"/>
          <p:cNvSpPr txBox="1"/>
          <p:nvPr/>
        </p:nvSpPr>
        <p:spPr>
          <a:xfrm>
            <a:off x="6208776" y="3081528"/>
            <a:ext cx="2340864" cy="219456"/>
          </a:xfrm>
          <a:prstGeom prst="rect">
            <a:avLst/>
          </a:prstGeom>
          <a:noFill/>
          <a:ln/>
        </p:spPr>
        <p:txBody>
          <a:bodyPr wrap="square" lIns="0" tIns="0" rIns="0" bIns="0" rtlCol="0" anchor="t"/>
          <a:lstStyle/>
          <a:p>
            <a:pPr indent="0" marL="0">
              <a:buNone/>
            </a:pPr>
            <a:r>
              <a:rPr lang="en-US" sz="1100" b="1" dirty="0">
                <a:solidFill>
                  <a:schemeClr val="accent6"/>
                </a:solidFill>
              </a:rPr>
              <a:t>Condizioni</a:t>
            </a:r>
            <a:endParaRPr lang="en-US" sz="1100" dirty="0"/>
          </a:p>
        </p:txBody>
      </p:sp>
      <p:sp>
        <p:nvSpPr>
          <p:cNvPr id="37" name="Text 34"/>
          <p:cNvSpPr txBox="1"/>
          <p:nvPr/>
        </p:nvSpPr>
        <p:spPr>
          <a:xfrm>
            <a:off x="6208776" y="3310128"/>
            <a:ext cx="2340864" cy="438912"/>
          </a:xfrm>
          <a:prstGeom prst="rect">
            <a:avLst/>
          </a:prstGeom>
          <a:noFill/>
          <a:ln/>
        </p:spPr>
        <p:txBody>
          <a:bodyPr wrap="square" lIns="0" tIns="0" rIns="0" bIns="0" rtlCol="0" anchor="t"/>
          <a:lstStyle/>
          <a:p>
            <a:pPr indent="0" marL="0">
              <a:buNone/>
            </a:pPr>
            <a:r>
              <a:rPr lang="en-US" sz="1100" dirty="0">
                <a:solidFill>
                  <a:schemeClr val="bg1"/>
                </a:solidFill>
              </a:rPr>
              <a:t>Basso impatto, regole definite, monitoraggio</a:t>
            </a:r>
            <a:endParaRPr lang="en-US" sz="1100" dirty="0"/>
          </a:p>
        </p:txBody>
      </p:sp>
      <p:sp>
        <p:nvSpPr>
          <p:cNvPr id="38" name="Text 35"/>
          <p:cNvSpPr txBox="1"/>
          <p:nvPr/>
        </p:nvSpPr>
        <p:spPr>
          <a:xfrm>
            <a:off x="6071616" y="868680"/>
            <a:ext cx="2615184" cy="182880"/>
          </a:xfrm>
          <a:prstGeom prst="rect">
            <a:avLst/>
          </a:prstGeom>
          <a:noFill/>
          <a:ln/>
        </p:spPr>
        <p:txBody>
          <a:bodyPr wrap="square" lIns="0" tIns="0" rIns="0" bIns="0" rtlCol="0" anchor="t"/>
          <a:lstStyle/>
          <a:p>
            <a:pPr algn="r" indent="0" marL="0">
              <a:buNone/>
            </a:pPr>
            <a:r>
              <a:rPr lang="en-US" sz="900" i="1" dirty="0">
                <a:solidFill>
                  <a:schemeClr val="accent2"/>
                </a:solidFill>
              </a:rPr>
              <a:t>Più autonomia</a:t>
            </a:r>
            <a:endParaRPr lang="en-US" sz="900" dirty="0"/>
          </a:p>
        </p:txBody>
      </p:sp>
      <p:sp>
        <p:nvSpPr>
          <p:cNvPr id="39" name="messaggio"/>
          <p:cNvSpPr/>
          <p:nvPr/>
        </p:nvSpPr>
        <p:spPr>
          <a:xfrm>
            <a:off x="457200" y="3931920"/>
            <a:ext cx="8229600" cy="621792"/>
          </a:xfrm>
          <a:prstGeom prst="roundRect">
            <a:avLst>
              <a:gd name="adj" fmla="val 11765"/>
            </a:avLst>
          </a:prstGeom>
          <a:solidFill>
            <a:schemeClr val="tx1"/>
          </a:solidFill>
          <a:ln/>
        </p:spPr>
      </p:sp>
      <p:sp>
        <p:nvSpPr>
          <p:cNvPr id="40" name="Text 37"/>
          <p:cNvSpPr txBox="1"/>
          <p:nvPr/>
        </p:nvSpPr>
        <p:spPr>
          <a:xfrm>
            <a:off x="640080" y="3931920"/>
            <a:ext cx="7863840" cy="621792"/>
          </a:xfrm>
          <a:prstGeom prst="rect">
            <a:avLst/>
          </a:prstGeom>
          <a:noFill/>
          <a:ln/>
        </p:spPr>
        <p:txBody>
          <a:bodyPr wrap="square" lIns="0" tIns="0" rIns="0" bIns="0" rtlCol="0" anchor="ctr"/>
          <a:lstStyle/>
          <a:p>
            <a:pPr indent="0" marL="0">
              <a:buNone/>
            </a:pPr>
            <a:r>
              <a:rPr lang="en-US" sz="1300" dirty="0">
                <a:solidFill>
                  <a:schemeClr val="bg1"/>
                </a:solidFill>
              </a:rPr>
              <a:t>Il livello giusto dipende da conseguenze di un errore, processo e verifiche disponibili: non da una regola universale.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accelera la produzione di contenuti; qualità, accuratezza e adeguatezza dipendono dal materiale fornito e da una revisione proporzionata al rischio.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8.1  ·  Generazione di contenuti testuali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Revisione, riscrittura e trasformazione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Correggere, semplificare, tradurre e riorganizzare testi esistenti, preservandone significati e informazioni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Generare o trasformare?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Generare conviene se"/>
          <p:cNvSpPr/>
          <p:nvPr/>
        </p:nvSpPr>
        <p:spPr>
          <a:xfrm>
            <a:off x="457200" y="1097280"/>
            <a:ext cx="3977640" cy="2377440"/>
          </a:xfrm>
          <a:prstGeom prst="roundRect">
            <a:avLst>
              <a:gd name="adj" fmla="val 3077"/>
            </a:avLst>
          </a:prstGeom>
          <a:solidFill>
            <a:schemeClr val="bg2"/>
          </a:solidFill>
          <a:ln/>
        </p:spPr>
      </p:sp>
      <p:sp>
        <p:nvSpPr>
          <p:cNvPr id="13" name="cerchio FiEdit3"/>
          <p:cNvSpPr/>
          <p:nvPr/>
        </p:nvSpPr>
        <p:spPr>
          <a:xfrm>
            <a:off x="640080" y="1280160"/>
            <a:ext cx="457200" cy="457200"/>
          </a:xfrm>
          <a:prstGeom prst="ellipse">
            <a:avLst/>
          </a:prstGeom>
          <a:solidFill>
            <a:schemeClr val="accent1"/>
          </a:solidFill>
          <a:ln/>
        </p:spPr>
      </p:sp>
      <p:pic>
        <p:nvPicPr>
          <p:cNvPr id="14" name="Image 0" descr="FiEdit3">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Generare conviene se</a:t>
            </a:r>
            <a:endParaRPr lang="en-US" sz="1600" dirty="0"/>
          </a:p>
        </p:txBody>
      </p:sp>
      <p:sp>
        <p:nvSpPr>
          <p:cNvPr id="16" name="Text 12"/>
          <p:cNvSpPr txBox="1"/>
          <p:nvPr/>
        </p:nvSpPr>
        <p:spPr>
          <a:xfrm>
            <a:off x="640080" y="2231136"/>
            <a:ext cx="3611880" cy="113385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Non c'è un punto di partenza adatto</a:t>
            </a:r>
            <a:endParaRPr lang="en-US" sz="1300" dirty="0"/>
          </a:p>
          <a:p>
            <a:pPr marL="177800" indent="-177800">
              <a:spcAft>
                <a:spcPts val="500"/>
              </a:spcAft>
              <a:buSzPct val="100000"/>
              <a:buChar char="•"/>
            </a:pPr>
            <a:r>
              <a:rPr lang="en-US" sz="1300" dirty="0">
                <a:solidFill>
                  <a:schemeClr val="tx2"/>
                </a:solidFill>
              </a:rPr>
              <a:t>Il contenuto è relativamente generico</a:t>
            </a:r>
            <a:endParaRPr lang="en-US" sz="1300" dirty="0"/>
          </a:p>
          <a:p>
            <a:pPr marL="177800" indent="-177800">
              <a:spcAft>
                <a:spcPts val="500"/>
              </a:spcAft>
              <a:buSzPct val="100000"/>
              <a:buChar char="•"/>
            </a:pPr>
            <a:r>
              <a:rPr lang="en-US" sz="1300" dirty="0">
                <a:solidFill>
                  <a:schemeClr val="tx2"/>
                </a:solidFill>
              </a:rPr>
              <a:t>Si vogliono esplorare impostazioni diverse</a:t>
            </a:r>
            <a:endParaRPr lang="en-US" sz="1300" dirty="0"/>
          </a:p>
        </p:txBody>
      </p:sp>
      <p:sp>
        <p:nvSpPr>
          <p:cNvPr id="17" name="scheda Trasformare conviene se"/>
          <p:cNvSpPr/>
          <p:nvPr/>
        </p:nvSpPr>
        <p:spPr>
          <a:xfrm>
            <a:off x="4709160" y="1097280"/>
            <a:ext cx="3977640" cy="2377440"/>
          </a:xfrm>
          <a:prstGeom prst="roundRect">
            <a:avLst>
              <a:gd name="adj" fmla="val 3077"/>
            </a:avLst>
          </a:prstGeom>
          <a:solidFill>
            <a:schemeClr val="accent6"/>
          </a:solidFill>
          <a:ln/>
        </p:spPr>
      </p:sp>
      <p:sp>
        <p:nvSpPr>
          <p:cNvPr id="18" name="cerchio FiRefreshCw"/>
          <p:cNvSpPr/>
          <p:nvPr/>
        </p:nvSpPr>
        <p:spPr>
          <a:xfrm>
            <a:off x="4892040" y="1280160"/>
            <a:ext cx="457200" cy="457200"/>
          </a:xfrm>
          <a:prstGeom prst="ellipse">
            <a:avLst/>
          </a:prstGeom>
          <a:solidFill>
            <a:schemeClr val="accent1"/>
          </a:solidFill>
          <a:ln/>
        </p:spPr>
      </p:sp>
      <p:pic>
        <p:nvPicPr>
          <p:cNvPr id="19" name="Image 1" descr="FiRefreshCw">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Trasformare conviene se</a:t>
            </a:r>
            <a:endParaRPr lang="en-US" sz="1600" dirty="0"/>
          </a:p>
        </p:txBody>
      </p:sp>
      <p:sp>
        <p:nvSpPr>
          <p:cNvPr id="21" name="Text 16"/>
          <p:cNvSpPr txBox="1"/>
          <p:nvPr/>
        </p:nvSpPr>
        <p:spPr>
          <a:xfrm>
            <a:off x="4892040" y="2231136"/>
            <a:ext cx="3611880" cy="113385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Esiste un testo con i contenuti corretti</a:t>
            </a:r>
            <a:endParaRPr lang="en-US" sz="1300" dirty="0"/>
          </a:p>
          <a:p>
            <a:pPr marL="177800" indent="-177800">
              <a:spcAft>
                <a:spcPts val="500"/>
              </a:spcAft>
              <a:buSzPct val="100000"/>
              <a:buChar char="•"/>
            </a:pPr>
            <a:r>
              <a:rPr lang="en-US" sz="1300" dirty="0">
                <a:solidFill>
                  <a:schemeClr val="tx2"/>
                </a:solidFill>
              </a:rPr>
              <a:t>Procedure, relazioni, appunti, testi da tradurre</a:t>
            </a:r>
            <a:endParaRPr lang="en-US" sz="1300" dirty="0"/>
          </a:p>
          <a:p>
            <a:pPr marL="177800" indent="-177800">
              <a:spcAft>
                <a:spcPts val="500"/>
              </a:spcAft>
              <a:buSzPct val="100000"/>
              <a:buChar char="•"/>
            </a:pPr>
            <a:r>
              <a:rPr lang="en-US" sz="1300" dirty="0">
                <a:solidFill>
                  <a:schemeClr val="tx2"/>
                </a:solidFill>
              </a:rPr>
              <a:t>Meno invenzioni, controllo più semplice</a:t>
            </a:r>
            <a:endParaRPr lang="en-US" sz="1300" dirty="0"/>
          </a:p>
        </p:txBody>
      </p:sp>
      <p:sp>
        <p:nvSpPr>
          <p:cNvPr id="22" name="messaggio"/>
          <p:cNvSpPr/>
          <p:nvPr/>
        </p:nvSpPr>
        <p:spPr>
          <a:xfrm>
            <a:off x="457200" y="3657600"/>
            <a:ext cx="8229600" cy="731520"/>
          </a:xfrm>
          <a:prstGeom prst="roundRect">
            <a:avLst>
              <a:gd name="adj" fmla="val 10000"/>
            </a:avLst>
          </a:prstGeom>
          <a:solidFill>
            <a:schemeClr val="tx1"/>
          </a:solidFill>
          <a:ln/>
        </p:spPr>
      </p:sp>
      <p:sp>
        <p:nvSpPr>
          <p:cNvPr id="23" name="Text 18"/>
          <p:cNvSpPr txBox="1"/>
          <p:nvPr/>
        </p:nvSpPr>
        <p:spPr>
          <a:xfrm>
            <a:off x="640080" y="3657600"/>
            <a:ext cx="7863840" cy="731520"/>
          </a:xfrm>
          <a:prstGeom prst="rect">
            <a:avLst/>
          </a:prstGeom>
          <a:noFill/>
          <a:ln/>
        </p:spPr>
        <p:txBody>
          <a:bodyPr wrap="square" lIns="0" tIns="0" rIns="0" bIns="0" rtlCol="0" anchor="ctr"/>
          <a:lstStyle/>
          <a:p>
            <a:pPr indent="0" marL="0">
              <a:buNone/>
            </a:pPr>
            <a:r>
              <a:rPr lang="en-US" sz="1400" dirty="0">
                <a:solidFill>
                  <a:schemeClr val="bg1"/>
                </a:solidFill>
              </a:rPr>
              <a:t>Per i testi su fatti specifici: partire dal materiale esistente, quando c'è, e trasformarlo.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principali trasformazioni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Correzione e chiarezza"/>
          <p:cNvSpPr/>
          <p:nvPr/>
        </p:nvSpPr>
        <p:spPr>
          <a:xfrm>
            <a:off x="457200" y="1051560"/>
            <a:ext cx="2621280" cy="1211580"/>
          </a:xfrm>
          <a:prstGeom prst="roundRect">
            <a:avLst>
              <a:gd name="adj" fmla="val 6038"/>
            </a:avLst>
          </a:prstGeom>
          <a:solidFill>
            <a:schemeClr val="bg2"/>
          </a:solidFill>
          <a:ln/>
        </p:spPr>
      </p:sp>
      <p:sp>
        <p:nvSpPr>
          <p:cNvPr id="13" name="cerchio FiCheckSquare"/>
          <p:cNvSpPr/>
          <p:nvPr/>
        </p:nvSpPr>
        <p:spPr>
          <a:xfrm>
            <a:off x="621792" y="1216152"/>
            <a:ext cx="438912" cy="438912"/>
          </a:xfrm>
          <a:prstGeom prst="ellipse">
            <a:avLst/>
          </a:prstGeom>
          <a:solidFill>
            <a:schemeClr val="accent1"/>
          </a:solidFill>
          <a:ln/>
        </p:spPr>
      </p:sp>
      <p:pic>
        <p:nvPicPr>
          <p:cNvPr id="14" name="Image 0" descr="FiCheckSquar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Correzione e chiarezza</a:t>
            </a:r>
            <a:endParaRPr lang="en-US" sz="1300" dirty="0"/>
          </a:p>
        </p:txBody>
      </p:sp>
      <p:sp>
        <p:nvSpPr>
          <p:cNvPr id="16" name="Text 12"/>
          <p:cNvSpPr txBox="1"/>
          <p:nvPr/>
        </p:nvSpPr>
        <p:spPr>
          <a:xfrm>
            <a:off x="621792" y="1764792"/>
            <a:ext cx="2292096" cy="406908"/>
          </a:xfrm>
          <a:prstGeom prst="rect">
            <a:avLst/>
          </a:prstGeom>
          <a:noFill/>
          <a:ln/>
        </p:spPr>
        <p:txBody>
          <a:bodyPr wrap="square" lIns="0" tIns="0" rIns="0" bIns="0" rtlCol="0" anchor="t"/>
          <a:lstStyle/>
          <a:p>
            <a:pPr indent="0" marL="0">
              <a:buNone/>
            </a:pPr>
            <a:r>
              <a:rPr lang="en-US" sz="1200" dirty="0">
                <a:solidFill>
                  <a:schemeClr val="tx2"/>
                </a:solidFill>
              </a:rPr>
              <a:t>Refusi, punteggiatura, frasi brevi, meno ambiguità</a:t>
            </a:r>
            <a:endParaRPr lang="en-US" sz="1200" dirty="0"/>
          </a:p>
        </p:txBody>
      </p:sp>
      <p:sp>
        <p:nvSpPr>
          <p:cNvPr id="17" name="Semplificazione"/>
          <p:cNvSpPr/>
          <p:nvPr/>
        </p:nvSpPr>
        <p:spPr>
          <a:xfrm>
            <a:off x="3261360" y="1051560"/>
            <a:ext cx="2621280" cy="1211580"/>
          </a:xfrm>
          <a:prstGeom prst="roundRect">
            <a:avLst>
              <a:gd name="adj" fmla="val 6038"/>
            </a:avLst>
          </a:prstGeom>
          <a:solidFill>
            <a:schemeClr val="bg2"/>
          </a:solidFill>
          <a:ln/>
        </p:spPr>
      </p:sp>
      <p:sp>
        <p:nvSpPr>
          <p:cNvPr id="18" name="cerchio FiMinimize2"/>
          <p:cNvSpPr/>
          <p:nvPr/>
        </p:nvSpPr>
        <p:spPr>
          <a:xfrm>
            <a:off x="3425952" y="1216152"/>
            <a:ext cx="438912" cy="438912"/>
          </a:xfrm>
          <a:prstGeom prst="ellipse">
            <a:avLst/>
          </a:prstGeom>
          <a:solidFill>
            <a:schemeClr val="accent1"/>
          </a:solidFill>
          <a:ln/>
        </p:spPr>
      </p:sp>
      <p:pic>
        <p:nvPicPr>
          <p:cNvPr id="19" name="Image 1" descr="FiMinimize2">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Semplificazione</a:t>
            </a:r>
            <a:endParaRPr lang="en-US" sz="1300" dirty="0"/>
          </a:p>
        </p:txBody>
      </p:sp>
      <p:sp>
        <p:nvSpPr>
          <p:cNvPr id="21" name="Text 16"/>
          <p:cNvSpPr txBox="1"/>
          <p:nvPr/>
        </p:nvSpPr>
        <p:spPr>
          <a:xfrm>
            <a:off x="3425952" y="1764792"/>
            <a:ext cx="2292096" cy="406908"/>
          </a:xfrm>
          <a:prstGeom prst="rect">
            <a:avLst/>
          </a:prstGeom>
          <a:noFill/>
          <a:ln/>
        </p:spPr>
        <p:txBody>
          <a:bodyPr wrap="square" lIns="0" tIns="0" rIns="0" bIns="0" rtlCol="0" anchor="t"/>
          <a:lstStyle/>
          <a:p>
            <a:pPr indent="0" marL="0">
              <a:buNone/>
            </a:pPr>
            <a:r>
              <a:rPr lang="en-US" sz="1200" dirty="0">
                <a:solidFill>
                  <a:schemeClr val="tx2"/>
                </a:solidFill>
              </a:rPr>
              <a:t>Procedure e regole comprensibili a chi le applica</a:t>
            </a:r>
            <a:endParaRPr lang="en-US" sz="1200" dirty="0"/>
          </a:p>
        </p:txBody>
      </p:sp>
      <p:sp>
        <p:nvSpPr>
          <p:cNvPr id="22" name="Accessibilità"/>
          <p:cNvSpPr/>
          <p:nvPr/>
        </p:nvSpPr>
        <p:spPr>
          <a:xfrm>
            <a:off x="6065520" y="1051560"/>
            <a:ext cx="2621280" cy="1211580"/>
          </a:xfrm>
          <a:prstGeom prst="roundRect">
            <a:avLst>
              <a:gd name="adj" fmla="val 6038"/>
            </a:avLst>
          </a:prstGeom>
          <a:solidFill>
            <a:schemeClr val="bg2"/>
          </a:solidFill>
          <a:ln/>
        </p:spPr>
      </p:sp>
      <p:sp>
        <p:nvSpPr>
          <p:cNvPr id="23" name="cerchio FiEye"/>
          <p:cNvSpPr/>
          <p:nvPr/>
        </p:nvSpPr>
        <p:spPr>
          <a:xfrm>
            <a:off x="6230112" y="1216152"/>
            <a:ext cx="438912" cy="438912"/>
          </a:xfrm>
          <a:prstGeom prst="ellipse">
            <a:avLst/>
          </a:prstGeom>
          <a:solidFill>
            <a:schemeClr val="accent1"/>
          </a:solidFill>
          <a:ln/>
        </p:spPr>
      </p:sp>
      <p:pic>
        <p:nvPicPr>
          <p:cNvPr id="24" name="Image 2" descr="FiEye">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Accessibilità</a:t>
            </a:r>
            <a:endParaRPr lang="en-US" sz="1300" dirty="0"/>
          </a:p>
        </p:txBody>
      </p:sp>
      <p:sp>
        <p:nvSpPr>
          <p:cNvPr id="26" name="Text 20"/>
          <p:cNvSpPr txBox="1"/>
          <p:nvPr/>
        </p:nvSpPr>
        <p:spPr>
          <a:xfrm>
            <a:off x="6230112" y="1764792"/>
            <a:ext cx="2292096" cy="406908"/>
          </a:xfrm>
          <a:prstGeom prst="rect">
            <a:avLst/>
          </a:prstGeom>
          <a:noFill/>
          <a:ln/>
        </p:spPr>
        <p:txBody>
          <a:bodyPr wrap="square" lIns="0" tIns="0" rIns="0" bIns="0" rtlCol="0" anchor="t"/>
          <a:lstStyle/>
          <a:p>
            <a:pPr indent="0" marL="0">
              <a:buNone/>
            </a:pPr>
            <a:r>
              <a:rPr lang="en-US" sz="1200" dirty="0">
                <a:solidFill>
                  <a:schemeClr val="tx2"/>
                </a:solidFill>
              </a:rPr>
              <a:t>Linguaggio chiaro, versioni di lettura facile</a:t>
            </a:r>
            <a:endParaRPr lang="en-US" sz="1200" dirty="0"/>
          </a:p>
        </p:txBody>
      </p:sp>
      <p:sp>
        <p:nvSpPr>
          <p:cNvPr id="27" name="Riformulazione"/>
          <p:cNvSpPr/>
          <p:nvPr/>
        </p:nvSpPr>
        <p:spPr>
          <a:xfrm>
            <a:off x="457200" y="2446020"/>
            <a:ext cx="2621280" cy="1211580"/>
          </a:xfrm>
          <a:prstGeom prst="roundRect">
            <a:avLst>
              <a:gd name="adj" fmla="val 6038"/>
            </a:avLst>
          </a:prstGeom>
          <a:solidFill>
            <a:schemeClr val="bg2"/>
          </a:solidFill>
          <a:ln/>
        </p:spPr>
      </p:sp>
      <p:sp>
        <p:nvSpPr>
          <p:cNvPr id="28" name="cerchio FiRepeat"/>
          <p:cNvSpPr/>
          <p:nvPr/>
        </p:nvSpPr>
        <p:spPr>
          <a:xfrm>
            <a:off x="621792" y="2610612"/>
            <a:ext cx="438912" cy="438912"/>
          </a:xfrm>
          <a:prstGeom prst="ellipse">
            <a:avLst/>
          </a:prstGeom>
          <a:solidFill>
            <a:schemeClr val="accent1"/>
          </a:solidFill>
          <a:ln/>
        </p:spPr>
      </p:sp>
      <p:pic>
        <p:nvPicPr>
          <p:cNvPr id="29" name="Image 3" descr="FiRepeat">    </p:cNvPr>
          <p:cNvPicPr>
            <a:picLocks noChangeAspect="1"/>
          </p:cNvPicPr>
          <p:nvPr/>
        </p:nvPicPr>
        <p:blipFill>
          <a:blip r:embed="rId4"/>
          <a:stretch>
            <a:fillRect/>
          </a:stretch>
        </p:blipFill>
        <p:spPr>
          <a:xfrm>
            <a:off x="731520" y="2720340"/>
            <a:ext cx="219456" cy="219456"/>
          </a:xfrm>
          <a:prstGeom prst="rect">
            <a:avLst/>
          </a:prstGeom>
        </p:spPr>
      </p:pic>
      <p:sp>
        <p:nvSpPr>
          <p:cNvPr id="30" name="Text 23"/>
          <p:cNvSpPr txBox="1"/>
          <p:nvPr/>
        </p:nvSpPr>
        <p:spPr>
          <a:xfrm>
            <a:off x="1170432" y="257403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Riformulazione</a:t>
            </a:r>
            <a:endParaRPr lang="en-US" sz="1300" dirty="0"/>
          </a:p>
        </p:txBody>
      </p:sp>
      <p:sp>
        <p:nvSpPr>
          <p:cNvPr id="31" name="Text 24"/>
          <p:cNvSpPr txBox="1"/>
          <p:nvPr/>
        </p:nvSpPr>
        <p:spPr>
          <a:xfrm>
            <a:off x="621792" y="3159252"/>
            <a:ext cx="2292096" cy="406908"/>
          </a:xfrm>
          <a:prstGeom prst="rect">
            <a:avLst/>
          </a:prstGeom>
          <a:noFill/>
          <a:ln/>
        </p:spPr>
        <p:txBody>
          <a:bodyPr wrap="square" lIns="0" tIns="0" rIns="0" bIns="0" rtlCol="0" anchor="t"/>
          <a:lstStyle/>
          <a:p>
            <a:pPr indent="0" marL="0">
              <a:buNone/>
            </a:pPr>
            <a:r>
              <a:rPr lang="en-US" sz="1200" dirty="0">
                <a:solidFill>
                  <a:schemeClr val="tx2"/>
                </a:solidFill>
              </a:rPr>
              <a:t>Tono, registro, lessico per un altro destinatario</a:t>
            </a:r>
            <a:endParaRPr lang="en-US" sz="1200" dirty="0"/>
          </a:p>
        </p:txBody>
      </p:sp>
      <p:sp>
        <p:nvSpPr>
          <p:cNvPr id="32" name="Traduzione e localizzazione"/>
          <p:cNvSpPr/>
          <p:nvPr/>
        </p:nvSpPr>
        <p:spPr>
          <a:xfrm>
            <a:off x="3261360" y="2446020"/>
            <a:ext cx="2621280" cy="1211580"/>
          </a:xfrm>
          <a:prstGeom prst="roundRect">
            <a:avLst>
              <a:gd name="adj" fmla="val 6038"/>
            </a:avLst>
          </a:prstGeom>
          <a:solidFill>
            <a:schemeClr val="bg2"/>
          </a:solidFill>
          <a:ln/>
        </p:spPr>
      </p:sp>
      <p:sp>
        <p:nvSpPr>
          <p:cNvPr id="33" name="cerchio FiGlobe"/>
          <p:cNvSpPr/>
          <p:nvPr/>
        </p:nvSpPr>
        <p:spPr>
          <a:xfrm>
            <a:off x="3425952" y="2610612"/>
            <a:ext cx="438912" cy="438912"/>
          </a:xfrm>
          <a:prstGeom prst="ellipse">
            <a:avLst/>
          </a:prstGeom>
          <a:solidFill>
            <a:schemeClr val="accent1"/>
          </a:solidFill>
          <a:ln/>
        </p:spPr>
      </p:sp>
      <p:pic>
        <p:nvPicPr>
          <p:cNvPr id="34" name="Image 4" descr="FiGlobe">    </p:cNvPr>
          <p:cNvPicPr>
            <a:picLocks noChangeAspect="1"/>
          </p:cNvPicPr>
          <p:nvPr/>
        </p:nvPicPr>
        <p:blipFill>
          <a:blip r:embed="rId5"/>
          <a:stretch>
            <a:fillRect/>
          </a:stretch>
        </p:blipFill>
        <p:spPr>
          <a:xfrm>
            <a:off x="3535680" y="2720340"/>
            <a:ext cx="219456" cy="219456"/>
          </a:xfrm>
          <a:prstGeom prst="rect">
            <a:avLst/>
          </a:prstGeom>
        </p:spPr>
      </p:pic>
      <p:sp>
        <p:nvSpPr>
          <p:cNvPr id="35" name="Text 27"/>
          <p:cNvSpPr txBox="1"/>
          <p:nvPr/>
        </p:nvSpPr>
        <p:spPr>
          <a:xfrm>
            <a:off x="3974592" y="257403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Traduzione e localizzazione</a:t>
            </a:r>
            <a:endParaRPr lang="en-US" sz="1300" dirty="0"/>
          </a:p>
        </p:txBody>
      </p:sp>
      <p:sp>
        <p:nvSpPr>
          <p:cNvPr id="36" name="Text 28"/>
          <p:cNvSpPr txBox="1"/>
          <p:nvPr/>
        </p:nvSpPr>
        <p:spPr>
          <a:xfrm>
            <a:off x="3425952" y="3159252"/>
            <a:ext cx="2292096" cy="406908"/>
          </a:xfrm>
          <a:prstGeom prst="rect">
            <a:avLst/>
          </a:prstGeom>
          <a:noFill/>
          <a:ln/>
        </p:spPr>
        <p:txBody>
          <a:bodyPr wrap="square" lIns="0" tIns="0" rIns="0" bIns="0" rtlCol="0" anchor="t"/>
          <a:lstStyle/>
          <a:p>
            <a:pPr indent="0" marL="0">
              <a:buNone/>
            </a:pPr>
            <a:r>
              <a:rPr lang="en-US" sz="1200" dirty="0">
                <a:solidFill>
                  <a:schemeClr val="tx2"/>
                </a:solidFill>
              </a:rPr>
              <a:t>Lingua, contesto culturale, formati locali</a:t>
            </a:r>
            <a:endParaRPr lang="en-US" sz="1200" dirty="0"/>
          </a:p>
        </p:txBody>
      </p:sp>
      <p:sp>
        <p:nvSpPr>
          <p:cNvPr id="37" name="Formato e struttura"/>
          <p:cNvSpPr/>
          <p:nvPr/>
        </p:nvSpPr>
        <p:spPr>
          <a:xfrm>
            <a:off x="6065520" y="2446020"/>
            <a:ext cx="2621280" cy="1211580"/>
          </a:xfrm>
          <a:prstGeom prst="roundRect">
            <a:avLst>
              <a:gd name="adj" fmla="val 6038"/>
            </a:avLst>
          </a:prstGeom>
          <a:solidFill>
            <a:schemeClr val="bg2"/>
          </a:solidFill>
          <a:ln/>
        </p:spPr>
      </p:sp>
      <p:sp>
        <p:nvSpPr>
          <p:cNvPr id="38" name="cerchio FiShuffle"/>
          <p:cNvSpPr/>
          <p:nvPr/>
        </p:nvSpPr>
        <p:spPr>
          <a:xfrm>
            <a:off x="6230112" y="2610612"/>
            <a:ext cx="438912" cy="438912"/>
          </a:xfrm>
          <a:prstGeom prst="ellipse">
            <a:avLst/>
          </a:prstGeom>
          <a:solidFill>
            <a:schemeClr val="accent1"/>
          </a:solidFill>
          <a:ln/>
        </p:spPr>
      </p:sp>
      <p:pic>
        <p:nvPicPr>
          <p:cNvPr id="39" name="Image 5" descr="FiShuffle">    </p:cNvPr>
          <p:cNvPicPr>
            <a:picLocks noChangeAspect="1"/>
          </p:cNvPicPr>
          <p:nvPr/>
        </p:nvPicPr>
        <p:blipFill>
          <a:blip r:embed="rId6"/>
          <a:stretch>
            <a:fillRect/>
          </a:stretch>
        </p:blipFill>
        <p:spPr>
          <a:xfrm>
            <a:off x="6339840" y="2720340"/>
            <a:ext cx="219456" cy="219456"/>
          </a:xfrm>
          <a:prstGeom prst="rect">
            <a:avLst/>
          </a:prstGeom>
        </p:spPr>
      </p:pic>
      <p:sp>
        <p:nvSpPr>
          <p:cNvPr id="40" name="Text 31"/>
          <p:cNvSpPr txBox="1"/>
          <p:nvPr/>
        </p:nvSpPr>
        <p:spPr>
          <a:xfrm>
            <a:off x="6778752" y="257403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Formato e struttura</a:t>
            </a:r>
            <a:endParaRPr lang="en-US" sz="1300" dirty="0"/>
          </a:p>
        </p:txBody>
      </p:sp>
      <p:sp>
        <p:nvSpPr>
          <p:cNvPr id="41" name="Text 32"/>
          <p:cNvSpPr txBox="1"/>
          <p:nvPr/>
        </p:nvSpPr>
        <p:spPr>
          <a:xfrm>
            <a:off x="6230112" y="3159252"/>
            <a:ext cx="2292096" cy="406908"/>
          </a:xfrm>
          <a:prstGeom prst="rect">
            <a:avLst/>
          </a:prstGeom>
          <a:noFill/>
          <a:ln/>
        </p:spPr>
        <p:txBody>
          <a:bodyPr wrap="square" lIns="0" tIns="0" rIns="0" bIns="0" rtlCol="0" anchor="t"/>
          <a:lstStyle/>
          <a:p>
            <a:pPr indent="0" marL="0">
              <a:buNone/>
            </a:pPr>
            <a:r>
              <a:rPr lang="en-US" sz="1200" dirty="0">
                <a:solidFill>
                  <a:schemeClr val="tx2"/>
                </a:solidFill>
              </a:rPr>
              <a:t>Appunti in verbale, procedura in FAQ, testo in tabella</a:t>
            </a:r>
            <a:endParaRPr lang="en-US" sz="1200" dirty="0"/>
          </a:p>
        </p:txBody>
      </p:sp>
      <p:sp>
        <p:nvSpPr>
          <p:cNvPr id="42" name="messaggio"/>
          <p:cNvSpPr/>
          <p:nvPr/>
        </p:nvSpPr>
        <p:spPr>
          <a:xfrm>
            <a:off x="457200" y="3840480"/>
            <a:ext cx="8229600" cy="685800"/>
          </a:xfrm>
          <a:prstGeom prst="roundRect">
            <a:avLst>
              <a:gd name="adj" fmla="val 10667"/>
            </a:avLst>
          </a:prstGeom>
          <a:solidFill>
            <a:schemeClr val="tx1"/>
          </a:solidFill>
          <a:ln/>
        </p:spPr>
      </p:sp>
      <p:sp>
        <p:nvSpPr>
          <p:cNvPr id="43" name="Text 34"/>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300" dirty="0">
                <a:solidFill>
                  <a:schemeClr val="bg1"/>
                </a:solidFill>
              </a:rPr>
              <a:t>Testi più chiari, accessibili e riutilizzabili, in meno tempo. Per le trasformazioni profonde: dire che cosa deve restare invariato.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Semplificare senza tradire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Originale (esempio fittizio)"/>
          <p:cNvSpPr/>
          <p:nvPr/>
        </p:nvSpPr>
        <p:spPr>
          <a:xfrm>
            <a:off x="457200" y="1051560"/>
            <a:ext cx="2615184" cy="2697480"/>
          </a:xfrm>
          <a:prstGeom prst="roundRect">
            <a:avLst>
              <a:gd name="adj" fmla="val 2797"/>
            </a:avLst>
          </a:prstGeom>
          <a:solidFill>
            <a:schemeClr val="bg2"/>
          </a:solidFill>
          <a:ln/>
        </p:spPr>
      </p:sp>
      <p:sp>
        <p:nvSpPr>
          <p:cNvPr id="13" name="barra"/>
          <p:cNvSpPr/>
          <p:nvPr/>
        </p:nvSpPr>
        <p:spPr>
          <a:xfrm>
            <a:off x="457200" y="1161288"/>
            <a:ext cx="54864" cy="2478024"/>
          </a:xfrm>
          <a:prstGeom prst="rect">
            <a:avLst/>
          </a:prstGeom>
          <a:solidFill>
            <a:schemeClr val="accent1"/>
          </a:solidFill>
          <a:ln/>
        </p:spPr>
      </p:sp>
      <p:sp>
        <p:nvSpPr>
          <p:cNvPr id="14" name="Text 11"/>
          <p:cNvSpPr txBox="1"/>
          <p:nvPr/>
        </p:nvSpPr>
        <p:spPr>
          <a:xfrm>
            <a:off x="658368" y="1143000"/>
            <a:ext cx="2249424" cy="256032"/>
          </a:xfrm>
          <a:prstGeom prst="rect">
            <a:avLst/>
          </a:prstGeom>
          <a:noFill/>
          <a:ln/>
        </p:spPr>
        <p:txBody>
          <a:bodyPr wrap="square" lIns="0" tIns="0" rIns="0" bIns="0" rtlCol="0" anchor="t"/>
          <a:lstStyle/>
          <a:p>
            <a:pPr indent="0" marL="0">
              <a:buNone/>
            </a:pPr>
            <a:r>
              <a:rPr lang="en-US" sz="1100" b="1" dirty="0">
                <a:solidFill>
                  <a:schemeClr val="accent1"/>
                </a:solidFill>
              </a:rPr>
              <a:t>Originale (esempio fittizio)</a:t>
            </a:r>
            <a:endParaRPr lang="en-US" sz="1100" dirty="0"/>
          </a:p>
        </p:txBody>
      </p:sp>
      <p:sp>
        <p:nvSpPr>
          <p:cNvPr id="15" name="Text 12"/>
          <p:cNvSpPr txBox="1"/>
          <p:nvPr/>
        </p:nvSpPr>
        <p:spPr>
          <a:xfrm>
            <a:off x="658368" y="1435608"/>
            <a:ext cx="2249424" cy="2221992"/>
          </a:xfrm>
          <a:prstGeom prst="rect">
            <a:avLst/>
          </a:prstGeom>
          <a:noFill/>
          <a:ln/>
        </p:spPr>
        <p:txBody>
          <a:bodyPr wrap="square" lIns="0" tIns="0" rIns="0" bIns="0" rtlCol="0" anchor="t"/>
          <a:lstStyle/>
          <a:p>
            <a:pPr indent="0" marL="0">
              <a:buNone/>
            </a:pPr>
            <a:r>
              <a:rPr lang="en-US" sz="1100" dirty="0">
                <a:solidFill>
                  <a:schemeClr val="tx1"/>
                </a:solidFill>
              </a:rPr>
              <a:t>Gli acquisti di importo superiore a 5.000 euro richiedono l'autorizzazione preventiva del responsabile di funzione e dell'ufficio acquisti. Per gli acquisti urgenti, documentati come tali, l'autorizzazione dell'ufficio acquisti può essere richiesta entro tre giorni lavorativi successivi.</a:t>
            </a:r>
            <a:endParaRPr lang="en-US" sz="1100" dirty="0"/>
          </a:p>
        </p:txBody>
      </p:sp>
      <p:sp>
        <p:nvSpPr>
          <p:cNvPr id="16" name="richiesta generica"/>
          <p:cNvSpPr/>
          <p:nvPr/>
        </p:nvSpPr>
        <p:spPr>
          <a:xfrm>
            <a:off x="3264408" y="1051560"/>
            <a:ext cx="2615184" cy="2697480"/>
          </a:xfrm>
          <a:prstGeom prst="roundRect">
            <a:avLst>
              <a:gd name="adj" fmla="val 2797"/>
            </a:avLst>
          </a:prstGeom>
          <a:solidFill>
            <a:schemeClr val="bg2"/>
          </a:solidFill>
          <a:ln/>
        </p:spPr>
      </p:sp>
      <p:sp>
        <p:nvSpPr>
          <p:cNvPr id="17" name="Text 14"/>
          <p:cNvSpPr txBox="1"/>
          <p:nvPr/>
        </p:nvSpPr>
        <p:spPr>
          <a:xfrm>
            <a:off x="3429000" y="1143000"/>
            <a:ext cx="2286000" cy="256032"/>
          </a:xfrm>
          <a:prstGeom prst="rect">
            <a:avLst/>
          </a:prstGeom>
          <a:noFill/>
          <a:ln/>
        </p:spPr>
        <p:txBody>
          <a:bodyPr wrap="square" lIns="0" tIns="0" rIns="0" bIns="0" rtlCol="0" anchor="t"/>
          <a:lstStyle/>
          <a:p>
            <a:pPr indent="0" marL="0">
              <a:buNone/>
            </a:pPr>
            <a:r>
              <a:rPr lang="en-US" sz="1100" b="1" dirty="0">
                <a:solidFill>
                  <a:schemeClr val="accent1"/>
                </a:solidFill>
              </a:rPr>
              <a:t>Richiesta generica</a:t>
            </a:r>
            <a:endParaRPr lang="en-US" sz="1100" dirty="0"/>
          </a:p>
        </p:txBody>
      </p:sp>
      <p:sp>
        <p:nvSpPr>
          <p:cNvPr id="18" name="Text 15"/>
          <p:cNvSpPr txBox="1"/>
          <p:nvPr/>
        </p:nvSpPr>
        <p:spPr>
          <a:xfrm>
            <a:off x="3429000" y="1417320"/>
            <a:ext cx="2286000" cy="2743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«Semplifica il testo»</a:t>
            </a:r>
            <a:endParaRPr lang="en-US" sz="1000" dirty="0"/>
          </a:p>
        </p:txBody>
      </p:sp>
      <p:sp>
        <p:nvSpPr>
          <p:cNvPr id="19" name="Text 16"/>
          <p:cNvSpPr txBox="1"/>
          <p:nvPr/>
        </p:nvSpPr>
        <p:spPr>
          <a:xfrm>
            <a:off x="3429000" y="1783080"/>
            <a:ext cx="2286000" cy="914400"/>
          </a:xfrm>
          <a:prstGeom prst="rect">
            <a:avLst/>
          </a:prstGeom>
          <a:noFill/>
          <a:ln/>
        </p:spPr>
        <p:txBody>
          <a:bodyPr wrap="square" lIns="0" tIns="0" rIns="0" bIns="0" rtlCol="0" anchor="t"/>
          <a:lstStyle/>
          <a:p>
            <a:pPr indent="0" marL="0">
              <a:buNone/>
            </a:pPr>
            <a:r>
              <a:rPr lang="en-US" sz="1200" dirty="0">
                <a:solidFill>
                  <a:schemeClr val="tx1"/>
                </a:solidFill>
              </a:rPr>
              <a:t>Prima di fare un acquisto serve l'autorizzazione del proprio responsabile e dell'ufficio acquisti.</a:t>
            </a:r>
            <a:endParaRPr lang="en-US" sz="1200" dirty="0"/>
          </a:p>
        </p:txBody>
      </p:sp>
      <p:sp>
        <p:nvSpPr>
          <p:cNvPr id="20" name="blocco Manca la soglia"/>
          <p:cNvSpPr/>
          <p:nvPr/>
        </p:nvSpPr>
        <p:spPr>
          <a:xfrm>
            <a:off x="3429000" y="2788920"/>
            <a:ext cx="2286000" cy="329184"/>
          </a:xfrm>
          <a:prstGeom prst="roundRect">
            <a:avLst>
              <a:gd name="adj" fmla="val 33333"/>
            </a:avLst>
          </a:prstGeom>
          <a:solidFill>
            <a:schemeClr val="accent5"/>
          </a:solidFill>
          <a:ln/>
        </p:spPr>
      </p:sp>
      <p:sp>
        <p:nvSpPr>
          <p:cNvPr id="21" name="Text 18"/>
          <p:cNvSpPr txBox="1"/>
          <p:nvPr/>
        </p:nvSpPr>
        <p:spPr>
          <a:xfrm>
            <a:off x="3474720" y="2788920"/>
            <a:ext cx="2194560" cy="329184"/>
          </a:xfrm>
          <a:prstGeom prst="rect">
            <a:avLst/>
          </a:prstGeom>
          <a:noFill/>
          <a:ln/>
        </p:spPr>
        <p:txBody>
          <a:bodyPr wrap="square" lIns="0" tIns="0" rIns="0" bIns="0" rtlCol="0" anchor="ctr"/>
          <a:lstStyle/>
          <a:p>
            <a:pPr algn="ctr" indent="0" marL="0">
              <a:buNone/>
            </a:pPr>
            <a:r>
              <a:rPr lang="en-US" sz="1000" b="1" dirty="0">
                <a:solidFill>
                  <a:schemeClr val="bg1"/>
                </a:solidFill>
              </a:rPr>
              <a:t>Manca la soglia</a:t>
            </a:r>
            <a:endParaRPr lang="en-US" sz="1000" dirty="0"/>
          </a:p>
        </p:txBody>
      </p:sp>
      <p:sp>
        <p:nvSpPr>
          <p:cNvPr id="22" name="blocco Manca l'eccezione"/>
          <p:cNvSpPr/>
          <p:nvPr/>
        </p:nvSpPr>
        <p:spPr>
          <a:xfrm>
            <a:off x="3429000" y="3200400"/>
            <a:ext cx="2286000" cy="329184"/>
          </a:xfrm>
          <a:prstGeom prst="roundRect">
            <a:avLst>
              <a:gd name="adj" fmla="val 33333"/>
            </a:avLst>
          </a:prstGeom>
          <a:solidFill>
            <a:schemeClr val="accent5"/>
          </a:solidFill>
          <a:ln/>
        </p:spPr>
      </p:sp>
      <p:sp>
        <p:nvSpPr>
          <p:cNvPr id="23" name="Text 20"/>
          <p:cNvSpPr txBox="1"/>
          <p:nvPr/>
        </p:nvSpPr>
        <p:spPr>
          <a:xfrm>
            <a:off x="3474720" y="3200400"/>
            <a:ext cx="2194560" cy="329184"/>
          </a:xfrm>
          <a:prstGeom prst="rect">
            <a:avLst/>
          </a:prstGeom>
          <a:noFill/>
          <a:ln/>
        </p:spPr>
        <p:txBody>
          <a:bodyPr wrap="square" lIns="0" tIns="0" rIns="0" bIns="0" rtlCol="0" anchor="ctr"/>
          <a:lstStyle/>
          <a:p>
            <a:pPr algn="ctr" indent="0" marL="0">
              <a:buNone/>
            </a:pPr>
            <a:r>
              <a:rPr lang="en-US" sz="1000" b="1" dirty="0">
                <a:solidFill>
                  <a:schemeClr val="bg1"/>
                </a:solidFill>
              </a:rPr>
              <a:t>Manca l'eccezione</a:t>
            </a:r>
            <a:endParaRPr lang="en-US" sz="1000" dirty="0"/>
          </a:p>
        </p:txBody>
      </p:sp>
      <p:sp>
        <p:nvSpPr>
          <p:cNvPr id="24" name="richiesta precisa"/>
          <p:cNvSpPr/>
          <p:nvPr/>
        </p:nvSpPr>
        <p:spPr>
          <a:xfrm>
            <a:off x="6071616" y="1051560"/>
            <a:ext cx="2615184" cy="2697480"/>
          </a:xfrm>
          <a:prstGeom prst="roundRect">
            <a:avLst>
              <a:gd name="adj" fmla="val 2797"/>
            </a:avLst>
          </a:prstGeom>
          <a:solidFill>
            <a:schemeClr val="accent6"/>
          </a:solidFill>
          <a:ln/>
        </p:spPr>
      </p:sp>
      <p:sp>
        <p:nvSpPr>
          <p:cNvPr id="25" name="Text 22"/>
          <p:cNvSpPr txBox="1"/>
          <p:nvPr/>
        </p:nvSpPr>
        <p:spPr>
          <a:xfrm>
            <a:off x="6236208" y="1143000"/>
            <a:ext cx="2286000" cy="256032"/>
          </a:xfrm>
          <a:prstGeom prst="rect">
            <a:avLst/>
          </a:prstGeom>
          <a:noFill/>
          <a:ln/>
        </p:spPr>
        <p:txBody>
          <a:bodyPr wrap="square" lIns="0" tIns="0" rIns="0" bIns="0" rtlCol="0" anchor="t"/>
          <a:lstStyle/>
          <a:p>
            <a:pPr indent="0" marL="0">
              <a:buNone/>
            </a:pPr>
            <a:r>
              <a:rPr lang="en-US" sz="1100" b="1" dirty="0">
                <a:solidFill>
                  <a:schemeClr val="accent1"/>
                </a:solidFill>
              </a:rPr>
              <a:t>Richiesta precisa</a:t>
            </a:r>
            <a:endParaRPr lang="en-US" sz="1100" dirty="0"/>
          </a:p>
        </p:txBody>
      </p:sp>
      <p:sp>
        <p:nvSpPr>
          <p:cNvPr id="26" name="Text 23"/>
          <p:cNvSpPr txBox="1"/>
          <p:nvPr/>
        </p:nvSpPr>
        <p:spPr>
          <a:xfrm>
            <a:off x="6236208" y="1417320"/>
            <a:ext cx="2286000" cy="41148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«Semplifica; conserva importi, condizioni ed eccezioni»</a:t>
            </a:r>
            <a:endParaRPr lang="en-US" sz="1000" dirty="0"/>
          </a:p>
        </p:txBody>
      </p:sp>
      <p:sp>
        <p:nvSpPr>
          <p:cNvPr id="27" name="Text 24"/>
          <p:cNvSpPr txBox="1"/>
          <p:nvPr/>
        </p:nvSpPr>
        <p:spPr>
          <a:xfrm>
            <a:off x="6236208" y="1874520"/>
            <a:ext cx="2286000" cy="1783080"/>
          </a:xfrm>
          <a:prstGeom prst="rect">
            <a:avLst/>
          </a:prstGeom>
          <a:noFill/>
          <a:ln/>
        </p:spPr>
        <p:txBody>
          <a:bodyPr wrap="square" lIns="0" tIns="0" rIns="0" bIns="0" rtlCol="0" anchor="t"/>
          <a:lstStyle/>
          <a:p>
            <a:pPr indent="0" marL="0">
              <a:buNone/>
            </a:pPr>
            <a:r>
              <a:rPr lang="en-US" sz="1100" dirty="0">
                <a:solidFill>
                  <a:schemeClr val="tx1"/>
                </a:solidFill>
              </a:rPr>
              <a:t>Per acquisti oltre 5.000 euro servono, prima, due autorizzazioni: il tuo responsabile e l'ufficio acquisti. Se l'acquisto è urgente, l'ufficio acquisti può autorizzarlo entro tre giorni lavorativi dopo.</a:t>
            </a:r>
            <a:endParaRPr lang="en-US" sz="1100" dirty="0"/>
          </a:p>
        </p:txBody>
      </p:sp>
      <p:sp>
        <p:nvSpPr>
          <p:cNvPr id="28" name="messaggio"/>
          <p:cNvSpPr/>
          <p:nvPr/>
        </p:nvSpPr>
        <p:spPr>
          <a:xfrm>
            <a:off x="457200" y="3913632"/>
            <a:ext cx="8229600" cy="640080"/>
          </a:xfrm>
          <a:prstGeom prst="roundRect">
            <a:avLst>
              <a:gd name="adj" fmla="val 11429"/>
            </a:avLst>
          </a:prstGeom>
          <a:solidFill>
            <a:schemeClr val="tx1"/>
          </a:solidFill>
          <a:ln/>
        </p:spPr>
      </p:sp>
      <p:sp>
        <p:nvSpPr>
          <p:cNvPr id="29" name="Text 26"/>
          <p:cNvSpPr txBox="1"/>
          <p:nvPr/>
        </p:nvSpPr>
        <p:spPr>
          <a:xfrm>
            <a:off x="640080" y="3913632"/>
            <a:ext cx="7863840" cy="640080"/>
          </a:xfrm>
          <a:prstGeom prst="rect">
            <a:avLst/>
          </a:prstGeom>
          <a:noFill/>
          <a:ln/>
        </p:spPr>
        <p:txBody>
          <a:bodyPr wrap="square" lIns="0" tIns="0" rIns="0" bIns="0" rtlCol="0" anchor="ctr"/>
          <a:lstStyle/>
          <a:p>
            <a:pPr indent="0" marL="0">
              <a:buNone/>
            </a:pPr>
            <a:r>
              <a:rPr lang="en-US" sz="1300" dirty="0">
                <a:solidFill>
                  <a:schemeClr val="bg1"/>
                </a:solidFill>
              </a:rPr>
              <a:t>La semplificazione rende applicabili procedure e regole. Chiederla bene: dire che cosa conservare e controllare quei punti sull'originale.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Tradurre e localizzare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Tradurre e localizzare"/>
          <p:cNvSpPr/>
          <p:nvPr/>
        </p:nvSpPr>
        <p:spPr>
          <a:xfrm>
            <a:off x="457200" y="1097280"/>
            <a:ext cx="3977640" cy="2011680"/>
          </a:xfrm>
          <a:prstGeom prst="roundRect">
            <a:avLst>
              <a:gd name="adj" fmla="val 3636"/>
            </a:avLst>
          </a:prstGeom>
          <a:solidFill>
            <a:schemeClr val="bg2"/>
          </a:solidFill>
          <a:ln/>
        </p:spPr>
      </p:sp>
      <p:sp>
        <p:nvSpPr>
          <p:cNvPr id="13" name="cerchio FiGlobe"/>
          <p:cNvSpPr/>
          <p:nvPr/>
        </p:nvSpPr>
        <p:spPr>
          <a:xfrm>
            <a:off x="640080" y="1280160"/>
            <a:ext cx="457200" cy="457200"/>
          </a:xfrm>
          <a:prstGeom prst="ellipse">
            <a:avLst/>
          </a:prstGeom>
          <a:solidFill>
            <a:schemeClr val="accent1"/>
          </a:solidFill>
          <a:ln/>
        </p:spPr>
      </p:sp>
      <p:pic>
        <p:nvPicPr>
          <p:cNvPr id="14" name="Image 0" descr="FiGlobe">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Tradurre e localizzare</a:t>
            </a:r>
            <a:endParaRPr lang="en-US" sz="1500" dirty="0"/>
          </a:p>
        </p:txBody>
      </p:sp>
      <p:sp>
        <p:nvSpPr>
          <p:cNvPr id="16" name="Text 12"/>
          <p:cNvSpPr txBox="1"/>
          <p:nvPr/>
        </p:nvSpPr>
        <p:spPr>
          <a:xfrm>
            <a:off x="64008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Testi in più lingue in tempi brevi</a:t>
            </a:r>
            <a:endParaRPr lang="en-US" sz="1300" dirty="0"/>
          </a:p>
          <a:p>
            <a:pPr marL="177800" indent="-177800">
              <a:spcAft>
                <a:spcPts val="400"/>
              </a:spcAft>
              <a:buSzPct val="100000"/>
              <a:buChar char="•"/>
            </a:pPr>
            <a:r>
              <a:rPr lang="en-US" sz="1300" dirty="0">
                <a:solidFill>
                  <a:schemeClr val="tx2"/>
                </a:solidFill>
              </a:rPr>
              <a:t>Date, numeri, valute, unità di misura</a:t>
            </a:r>
            <a:endParaRPr lang="en-US" sz="1300" dirty="0"/>
          </a:p>
          <a:p>
            <a:pPr marL="177800" indent="-177800">
              <a:spcAft>
                <a:spcPts val="400"/>
              </a:spcAft>
              <a:buSzPct val="100000"/>
              <a:buChar char="•"/>
            </a:pPr>
            <a:r>
              <a:rPr lang="en-US" sz="1300" dirty="0">
                <a:solidFill>
                  <a:schemeClr val="tx2"/>
                </a:solidFill>
              </a:rPr>
              <a:t>Riferimenti e convenzioni del Paese</a:t>
            </a:r>
            <a:endParaRPr lang="en-US" sz="1300" dirty="0"/>
          </a:p>
        </p:txBody>
      </p:sp>
      <p:sp>
        <p:nvSpPr>
          <p:cNvPr id="17" name="scheda Per risultati migliori"/>
          <p:cNvSpPr/>
          <p:nvPr/>
        </p:nvSpPr>
        <p:spPr>
          <a:xfrm>
            <a:off x="4709160" y="1097280"/>
            <a:ext cx="3977640" cy="2011680"/>
          </a:xfrm>
          <a:prstGeom prst="roundRect">
            <a:avLst>
              <a:gd name="adj" fmla="val 3636"/>
            </a:avLst>
          </a:prstGeom>
          <a:solidFill>
            <a:schemeClr val="accent6"/>
          </a:solidFill>
          <a:ln/>
        </p:spPr>
      </p:sp>
      <p:sp>
        <p:nvSpPr>
          <p:cNvPr id="18" name="cerchio FiSliders"/>
          <p:cNvSpPr/>
          <p:nvPr/>
        </p:nvSpPr>
        <p:spPr>
          <a:xfrm>
            <a:off x="4892040" y="1280160"/>
            <a:ext cx="457200" cy="457200"/>
          </a:xfrm>
          <a:prstGeom prst="ellipse">
            <a:avLst/>
          </a:prstGeom>
          <a:solidFill>
            <a:schemeClr val="accent1"/>
          </a:solidFill>
          <a:ln/>
        </p:spPr>
      </p:sp>
      <p:pic>
        <p:nvPicPr>
          <p:cNvPr id="19" name="Image 1" descr="FiSliders">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Per risultati migliori</a:t>
            </a:r>
            <a:endParaRPr lang="en-US" sz="1500" dirty="0"/>
          </a:p>
        </p:txBody>
      </p:sp>
      <p:sp>
        <p:nvSpPr>
          <p:cNvPr id="21" name="Text 16"/>
          <p:cNvSpPr txBox="1"/>
          <p:nvPr/>
        </p:nvSpPr>
        <p:spPr>
          <a:xfrm>
            <a:off x="489204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Fornire un glossario dei termini aziendali</a:t>
            </a:r>
            <a:endParaRPr lang="en-US" sz="1300" dirty="0"/>
          </a:p>
          <a:p>
            <a:pPr marL="177800" indent="-177800">
              <a:spcAft>
                <a:spcPts val="400"/>
              </a:spcAft>
              <a:buSzPct val="100000"/>
              <a:buChar char="•"/>
            </a:pPr>
            <a:r>
              <a:rPr lang="en-US" sz="1300" dirty="0">
                <a:solidFill>
                  <a:schemeClr val="tx2"/>
                </a:solidFill>
              </a:rPr>
              <a:t>Precisare i gradi di obbligo: 'deve' non è 'dovrebbe'</a:t>
            </a:r>
            <a:endParaRPr lang="en-US" sz="1300" dirty="0"/>
          </a:p>
          <a:p>
            <a:pPr marL="177800" indent="-177800">
              <a:spcAft>
                <a:spcPts val="400"/>
              </a:spcAft>
              <a:buSzPct val="100000"/>
              <a:buChar char="•"/>
            </a:pPr>
            <a:r>
              <a:rPr lang="en-US" sz="1300" dirty="0">
                <a:solidFill>
                  <a:schemeClr val="tx2"/>
                </a:solidFill>
              </a:rPr>
              <a:t>Più cura per lingue meno diffuse e testi legali</a:t>
            </a:r>
            <a:endParaRPr lang="en-US" sz="1300" dirty="0"/>
          </a:p>
        </p:txBody>
      </p:sp>
      <p:sp>
        <p:nvSpPr>
          <p:cNvPr id="22" name="ritraduzione"/>
          <p:cNvSpPr/>
          <p:nvPr/>
        </p:nvSpPr>
        <p:spPr>
          <a:xfrm>
            <a:off x="457200" y="3291840"/>
            <a:ext cx="8229600" cy="1188720"/>
          </a:xfrm>
          <a:prstGeom prst="roundRect">
            <a:avLst>
              <a:gd name="adj" fmla="val 6154"/>
            </a:avLst>
          </a:prstGeom>
          <a:solidFill>
            <a:schemeClr val="bg2"/>
          </a:solidFill>
          <a:ln/>
        </p:spPr>
      </p:sp>
      <p:sp>
        <p:nvSpPr>
          <p:cNvPr id="23" name="cerchio FiRepeat"/>
          <p:cNvSpPr/>
          <p:nvPr/>
        </p:nvSpPr>
        <p:spPr>
          <a:xfrm>
            <a:off x="640080" y="3520440"/>
            <a:ext cx="548640" cy="548640"/>
          </a:xfrm>
          <a:prstGeom prst="ellipse">
            <a:avLst/>
          </a:prstGeom>
          <a:solidFill>
            <a:schemeClr val="accent1"/>
          </a:solidFill>
          <a:ln/>
        </p:spPr>
      </p:sp>
      <p:pic>
        <p:nvPicPr>
          <p:cNvPr id="24" name="Image 2" descr="FiRepeat">    </p:cNvPr>
          <p:cNvPicPr>
            <a:picLocks noChangeAspect="1"/>
          </p:cNvPicPr>
          <p:nvPr/>
        </p:nvPicPr>
        <p:blipFill>
          <a:blip r:embed="rId3"/>
          <a:stretch>
            <a:fillRect/>
          </a:stretch>
        </p:blipFill>
        <p:spPr>
          <a:xfrm>
            <a:off x="777240" y="3657600"/>
            <a:ext cx="274320" cy="274320"/>
          </a:xfrm>
          <a:prstGeom prst="rect">
            <a:avLst/>
          </a:prstGeom>
        </p:spPr>
      </p:pic>
      <p:sp>
        <p:nvSpPr>
          <p:cNvPr id="25" name="Text 19"/>
          <p:cNvSpPr txBox="1"/>
          <p:nvPr/>
        </p:nvSpPr>
        <p:spPr>
          <a:xfrm>
            <a:off x="1371600" y="3383280"/>
            <a:ext cx="7132320" cy="365760"/>
          </a:xfrm>
          <a:prstGeom prst="rect">
            <a:avLst/>
          </a:prstGeom>
          <a:noFill/>
          <a:ln/>
        </p:spPr>
        <p:txBody>
          <a:bodyPr wrap="square" lIns="0" tIns="0" rIns="0" bIns="0" rtlCol="0" anchor="t"/>
          <a:lstStyle/>
          <a:p>
            <a:pPr indent="0" marL="0">
              <a:buNone/>
            </a:pPr>
            <a:r>
              <a:rPr lang="en-US" sz="1400" b="1" dirty="0">
                <a:solidFill>
                  <a:schemeClr val="tx1"/>
                </a:solidFill>
              </a:rPr>
              <a:t>Un controllo utile, non una certificazione</a:t>
            </a:r>
            <a:endParaRPr lang="en-US" sz="1400" dirty="0"/>
          </a:p>
        </p:txBody>
      </p:sp>
      <p:sp>
        <p:nvSpPr>
          <p:cNvPr id="26" name="Text 20"/>
          <p:cNvSpPr txBox="1"/>
          <p:nvPr/>
        </p:nvSpPr>
        <p:spPr>
          <a:xfrm>
            <a:off x="1371600" y="3749040"/>
            <a:ext cx="7132320" cy="640080"/>
          </a:xfrm>
          <a:prstGeom prst="rect">
            <a:avLst/>
          </a:prstGeom>
          <a:noFill/>
          <a:ln/>
        </p:spPr>
        <p:txBody>
          <a:bodyPr wrap="square" lIns="0" tIns="0" rIns="0" bIns="0" rtlCol="0" anchor="t"/>
          <a:lstStyle/>
          <a:p>
            <a:pPr indent="0" marL="0">
              <a:buNone/>
            </a:pPr>
            <a:r>
              <a:rPr lang="en-US" sz="1300" dirty="0">
                <a:solidFill>
                  <a:schemeClr val="tx2"/>
                </a:solidFill>
              </a:rPr>
              <a:t>Ritradurre nella lingua originale con uno strumento diverso aiuta a far emergere scostamenti di significato, ma non garantisce che la traduzione sia corretta.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 appunti a verbale strutturato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Appunti (esempio fittizio)"/>
          <p:cNvSpPr/>
          <p:nvPr/>
        </p:nvSpPr>
        <p:spPr>
          <a:xfrm>
            <a:off x="457200" y="1051560"/>
            <a:ext cx="2514600" cy="2743200"/>
          </a:xfrm>
          <a:prstGeom prst="roundRect">
            <a:avLst>
              <a:gd name="adj" fmla="val 2909"/>
            </a:avLst>
          </a:prstGeom>
          <a:solidFill>
            <a:schemeClr val="bg2"/>
          </a:solidFill>
          <a:ln/>
        </p:spPr>
      </p:sp>
      <p:sp>
        <p:nvSpPr>
          <p:cNvPr id="13" name="barra"/>
          <p:cNvSpPr/>
          <p:nvPr/>
        </p:nvSpPr>
        <p:spPr>
          <a:xfrm>
            <a:off x="457200" y="1161288"/>
            <a:ext cx="54864" cy="2523744"/>
          </a:xfrm>
          <a:prstGeom prst="rect">
            <a:avLst/>
          </a:prstGeom>
          <a:solidFill>
            <a:schemeClr val="accent1"/>
          </a:solidFill>
          <a:ln/>
        </p:spPr>
      </p:sp>
      <p:sp>
        <p:nvSpPr>
          <p:cNvPr id="14" name="Text 11"/>
          <p:cNvSpPr txBox="1"/>
          <p:nvPr/>
        </p:nvSpPr>
        <p:spPr>
          <a:xfrm>
            <a:off x="658368" y="1143000"/>
            <a:ext cx="2148840" cy="256032"/>
          </a:xfrm>
          <a:prstGeom prst="rect">
            <a:avLst/>
          </a:prstGeom>
          <a:noFill/>
          <a:ln/>
        </p:spPr>
        <p:txBody>
          <a:bodyPr wrap="square" lIns="0" tIns="0" rIns="0" bIns="0" rtlCol="0" anchor="t"/>
          <a:lstStyle/>
          <a:p>
            <a:pPr indent="0" marL="0">
              <a:buNone/>
            </a:pPr>
            <a:r>
              <a:rPr lang="en-US" sz="1100" b="1" dirty="0">
                <a:solidFill>
                  <a:schemeClr val="accent1"/>
                </a:solidFill>
              </a:rPr>
              <a:t>Appunti (esempio fittizio)</a:t>
            </a:r>
            <a:endParaRPr lang="en-US" sz="1100" dirty="0"/>
          </a:p>
        </p:txBody>
      </p:sp>
      <p:sp>
        <p:nvSpPr>
          <p:cNvPr id="15" name="Text 12"/>
          <p:cNvSpPr txBox="1"/>
          <p:nvPr/>
        </p:nvSpPr>
        <p:spPr>
          <a:xfrm>
            <a:off x="658368" y="1435608"/>
            <a:ext cx="2148840" cy="2267712"/>
          </a:xfrm>
          <a:prstGeom prst="rect">
            <a:avLst/>
          </a:prstGeom>
          <a:noFill/>
          <a:ln/>
        </p:spPr>
        <p:txBody>
          <a:bodyPr wrap="square" lIns="0" tIns="0" rIns="0" bIns="0" rtlCol="0" anchor="t"/>
          <a:lstStyle/>
          <a:p>
            <a:pPr indent="0" marL="0">
              <a:buNone/>
            </a:pPr>
            <a:r>
              <a:rPr lang="en-US" sz="1100" dirty="0">
                <a:solidFill>
                  <a:schemeClr val="tx1"/>
                </a:solidFill>
              </a:rPr>
              <a:t>riunione catalogo 14/5</a:t>
            </a:r>
            <a:endParaRPr lang="en-US" sz="1100" dirty="0"/>
          </a:p>
          <a:p>
            <a:pPr indent="0" marL="0">
              <a:buNone/>
            </a:pPr>
            <a:r>
              <a:rPr lang="en-US" sz="1100" dirty="0">
                <a:solidFill>
                  <a:schemeClr val="tx1"/>
                </a:solidFill>
              </a:rPr>
              <a:t>presenti Bassi, Neri, Conti</a:t>
            </a:r>
            <a:endParaRPr lang="en-US" sz="1100" dirty="0"/>
          </a:p>
          <a:p>
            <a:pPr indent="0" marL="0">
              <a:buNone/>
            </a:pPr>
            <a:r>
              <a:rPr lang="en-US" sz="1100" dirty="0">
                <a:solidFill>
                  <a:schemeClr val="tx1"/>
                </a:solidFill>
              </a:rPr>
              <a:t>budget ok fino a 8k</a:t>
            </a:r>
            <a:endParaRPr lang="en-US" sz="1100" dirty="0"/>
          </a:p>
          <a:p>
            <a:pPr indent="0" marL="0">
              <a:buNone/>
            </a:pPr>
            <a:r>
              <a:rPr lang="en-US" sz="1100" dirty="0">
                <a:solidFill>
                  <a:schemeClr val="tx1"/>
                </a:solidFill>
              </a:rPr>
              <a:t>stampa: rinviare a sett.?? Neri contrario</a:t>
            </a:r>
            <a:endParaRPr lang="en-US" sz="1100" dirty="0"/>
          </a:p>
          <a:p>
            <a:pPr indent="0" marL="0">
              <a:buNone/>
            </a:pPr>
            <a:r>
              <a:rPr lang="en-US" sz="1100" dirty="0">
                <a:solidFill>
                  <a:schemeClr val="tx1"/>
                </a:solidFill>
              </a:rPr>
              <a:t>Conti sente 2 tipografie entro ven</a:t>
            </a:r>
            <a:endParaRPr lang="en-US" sz="1100" dirty="0"/>
          </a:p>
          <a:p>
            <a:pPr indent="0" marL="0">
              <a:buNone/>
            </a:pPr>
            <a:r>
              <a:rPr lang="en-US" sz="1100" dirty="0">
                <a:solidFill>
                  <a:schemeClr val="tx1"/>
                </a:solidFill>
              </a:rPr>
              <a:t>foto le fa Bassi</a:t>
            </a:r>
            <a:endParaRPr lang="en-US" sz="1100" dirty="0"/>
          </a:p>
          <a:p>
            <a:pPr indent="0" marL="0">
              <a:buNone/>
            </a:pPr>
            <a:r>
              <a:rPr lang="en-US" sz="1100" dirty="0">
                <a:solidFill>
                  <a:schemeClr val="tx1"/>
                </a:solidFill>
              </a:rPr>
              <a:t>ricontrollare listino</a:t>
            </a:r>
            <a:endParaRPr lang="en-US" sz="1100" dirty="0"/>
          </a:p>
        </p:txBody>
      </p:sp>
      <p:sp>
        <p:nvSpPr>
          <p:cNvPr id="16" name="freccia"/>
          <p:cNvSpPr/>
          <p:nvPr/>
        </p:nvSpPr>
        <p:spPr>
          <a:xfrm>
            <a:off x="3017520" y="2240280"/>
            <a:ext cx="201168" cy="292608"/>
          </a:xfrm>
          <a:prstGeom prst="rightArrow">
            <a:avLst/>
          </a:prstGeom>
          <a:solidFill>
            <a:schemeClr val="accent2"/>
          </a:solidFill>
          <a:ln/>
        </p:spPr>
      </p:sp>
      <p:sp>
        <p:nvSpPr>
          <p:cNvPr id="17" name="prompt"/>
          <p:cNvSpPr/>
          <p:nvPr/>
        </p:nvSpPr>
        <p:spPr>
          <a:xfrm>
            <a:off x="3264408" y="1051560"/>
            <a:ext cx="2331720" cy="2743200"/>
          </a:xfrm>
          <a:prstGeom prst="roundRect">
            <a:avLst>
              <a:gd name="adj" fmla="val 3137"/>
            </a:avLst>
          </a:prstGeom>
          <a:solidFill>
            <a:schemeClr val="bg2"/>
          </a:solidFill>
          <a:ln/>
        </p:spPr>
      </p:sp>
      <p:sp>
        <p:nvSpPr>
          <p:cNvPr id="18" name="Text 15"/>
          <p:cNvSpPr txBox="1"/>
          <p:nvPr/>
        </p:nvSpPr>
        <p:spPr>
          <a:xfrm>
            <a:off x="3429000" y="1143000"/>
            <a:ext cx="2002536" cy="256032"/>
          </a:xfrm>
          <a:prstGeom prst="rect">
            <a:avLst/>
          </a:prstGeom>
          <a:noFill/>
          <a:ln/>
        </p:spPr>
        <p:txBody>
          <a:bodyPr wrap="square" lIns="0" tIns="0" rIns="0" bIns="0" rtlCol="0" anchor="t"/>
          <a:lstStyle/>
          <a:p>
            <a:pPr indent="0" marL="0">
              <a:buNone/>
            </a:pPr>
            <a:r>
              <a:rPr lang="en-US" sz="1100" b="1" dirty="0">
                <a:solidFill>
                  <a:schemeClr val="accent1"/>
                </a:solidFill>
              </a:rPr>
              <a:t>Richiesta all'AI</a:t>
            </a:r>
            <a:endParaRPr lang="en-US" sz="1100" dirty="0"/>
          </a:p>
        </p:txBody>
      </p:sp>
      <p:sp>
        <p:nvSpPr>
          <p:cNvPr id="19" name="Text 16"/>
          <p:cNvSpPr txBox="1"/>
          <p:nvPr/>
        </p:nvSpPr>
        <p:spPr>
          <a:xfrm>
            <a:off x="3429000" y="1417320"/>
            <a:ext cx="2002536" cy="2286000"/>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Trasforma gli appunti in un verbale con: decisioni, attività con responsabile e scadenza, punti aperti. Non trasformare le ipotesi in decisioni. Segnala ciò che manca.</a:t>
            </a:r>
            <a:endParaRPr lang="en-US" sz="1050" dirty="0"/>
          </a:p>
        </p:txBody>
      </p:sp>
      <p:sp>
        <p:nvSpPr>
          <p:cNvPr id="20" name="freccia"/>
          <p:cNvSpPr/>
          <p:nvPr/>
        </p:nvSpPr>
        <p:spPr>
          <a:xfrm>
            <a:off x="5641848" y="2240280"/>
            <a:ext cx="201168" cy="292608"/>
          </a:xfrm>
          <a:prstGeom prst="rightArrow">
            <a:avLst/>
          </a:prstGeom>
          <a:solidFill>
            <a:schemeClr val="accent2"/>
          </a:solidFill>
          <a:ln/>
        </p:spPr>
      </p:sp>
      <p:sp>
        <p:nvSpPr>
          <p:cNvPr id="21" name="risultato Verbale"/>
          <p:cNvSpPr/>
          <p:nvPr/>
        </p:nvSpPr>
        <p:spPr>
          <a:xfrm>
            <a:off x="5888736" y="1051560"/>
            <a:ext cx="2798064" cy="2743200"/>
          </a:xfrm>
          <a:prstGeom prst="roundRect">
            <a:avLst>
              <a:gd name="adj" fmla="val 2667"/>
            </a:avLst>
          </a:prstGeom>
          <a:solidFill>
            <a:schemeClr val="accent6"/>
          </a:solidFill>
          <a:ln/>
        </p:spPr>
      </p:sp>
      <p:sp>
        <p:nvSpPr>
          <p:cNvPr id="22" name="Text 19"/>
          <p:cNvSpPr txBox="1"/>
          <p:nvPr/>
        </p:nvSpPr>
        <p:spPr>
          <a:xfrm>
            <a:off x="6053328" y="1143000"/>
            <a:ext cx="2468880" cy="256032"/>
          </a:xfrm>
          <a:prstGeom prst="rect">
            <a:avLst/>
          </a:prstGeom>
          <a:noFill/>
          <a:ln/>
        </p:spPr>
        <p:txBody>
          <a:bodyPr wrap="square" lIns="0" tIns="0" rIns="0" bIns="0" rtlCol="0" anchor="t"/>
          <a:lstStyle/>
          <a:p>
            <a:pPr indent="0" marL="0">
              <a:buNone/>
            </a:pPr>
            <a:r>
              <a:rPr lang="en-US" sz="1100" b="1" dirty="0">
                <a:solidFill>
                  <a:schemeClr val="accent1"/>
                </a:solidFill>
              </a:rPr>
              <a:t>Verbale</a:t>
            </a:r>
            <a:endParaRPr lang="en-US" sz="1100" dirty="0"/>
          </a:p>
        </p:txBody>
      </p:sp>
      <p:sp>
        <p:nvSpPr>
          <p:cNvPr id="23" name="Text 20"/>
          <p:cNvSpPr txBox="1"/>
          <p:nvPr/>
        </p:nvSpPr>
        <p:spPr>
          <a:xfrm>
            <a:off x="6053328" y="1435608"/>
            <a:ext cx="2468880" cy="2267712"/>
          </a:xfrm>
          <a:prstGeom prst="rect">
            <a:avLst/>
          </a:prstGeom>
          <a:noFill/>
          <a:ln/>
        </p:spPr>
        <p:txBody>
          <a:bodyPr wrap="square" lIns="0" tIns="0" rIns="0" bIns="0" rtlCol="0" anchor="t"/>
          <a:lstStyle/>
          <a:p>
            <a:pPr indent="0" marL="0">
              <a:buNone/>
            </a:pPr>
            <a:r>
              <a:rPr lang="en-US" sz="1050" b="1" dirty="0">
                <a:solidFill>
                  <a:schemeClr val="tx1"/>
                </a:solidFill>
              </a:rPr>
              <a:t>Decisioni: </a:t>
            </a:r>
            <a:pPr indent="0" marL="0">
              <a:buNone/>
            </a:pPr>
            <a:r>
              <a:rPr lang="en-US" sz="1050" dirty="0">
                <a:solidFill>
                  <a:schemeClr val="tx1"/>
                </a:solidFill>
              </a:rPr>
              <a:t>budget massimo 8.000 euro.</a:t>
            </a:r>
            <a:endParaRPr lang="en-US" sz="1050" dirty="0"/>
          </a:p>
          <a:p>
            <a:pPr indent="0" marL="0">
              <a:buNone/>
            </a:pPr>
            <a:r>
              <a:rPr lang="en-US" sz="1050" b="1" dirty="0">
                <a:solidFill>
                  <a:schemeClr val="tx1"/>
                </a:solidFill>
              </a:rPr>
              <a:t>Attività: </a:t>
            </a:r>
            <a:pPr indent="0" marL="0">
              <a:buNone/>
            </a:pPr>
            <a:r>
              <a:rPr lang="en-US" sz="1050" dirty="0">
                <a:solidFill>
                  <a:schemeClr val="tx1"/>
                </a:solidFill>
              </a:rPr>
              <a:t>Conti, preventivi da due tipografie entro venerdì. Bassi, servizio fotografico (scadenza da definire).</a:t>
            </a:r>
            <a:endParaRPr lang="en-US" sz="1050" dirty="0"/>
          </a:p>
          <a:p>
            <a:pPr indent="0" marL="0">
              <a:buNone/>
            </a:pPr>
            <a:r>
              <a:rPr lang="en-US" sz="1050" b="1" dirty="0">
                <a:solidFill>
                  <a:schemeClr val="tx1"/>
                </a:solidFill>
              </a:rPr>
              <a:t>Punti aperti: </a:t>
            </a:r>
            <a:pPr indent="0" marL="0">
              <a:buNone/>
            </a:pPr>
            <a:r>
              <a:rPr lang="en-US" sz="1050" dirty="0">
                <a:solidFill>
                  <a:schemeClr val="tx1"/>
                </a:solidFill>
              </a:rPr>
              <a:t>rinvio della stampa a settembre (Neri contrario); listino da ricontrollare (responsabile non indicato).</a:t>
            </a:r>
            <a:endParaRPr lang="en-US" sz="1050" dirty="0"/>
          </a:p>
        </p:txBody>
      </p:sp>
      <p:sp>
        <p:nvSpPr>
          <p:cNvPr id="24" name="messaggio"/>
          <p:cNvSpPr/>
          <p:nvPr/>
        </p:nvSpPr>
        <p:spPr>
          <a:xfrm>
            <a:off x="457200" y="3950208"/>
            <a:ext cx="8229600" cy="603504"/>
          </a:xfrm>
          <a:prstGeom prst="roundRect">
            <a:avLst>
              <a:gd name="adj" fmla="val 12121"/>
            </a:avLst>
          </a:prstGeom>
          <a:solidFill>
            <a:schemeClr val="tx1"/>
          </a:solidFill>
          <a:ln/>
        </p:spPr>
      </p:sp>
      <p:sp>
        <p:nvSpPr>
          <p:cNvPr id="25" name="Text 22"/>
          <p:cNvSpPr txBox="1"/>
          <p:nvPr/>
        </p:nvSpPr>
        <p:spPr>
          <a:xfrm>
            <a:off x="640080" y="3950208"/>
            <a:ext cx="7863840" cy="603504"/>
          </a:xfrm>
          <a:prstGeom prst="rect">
            <a:avLst/>
          </a:prstGeom>
          <a:noFill/>
          <a:ln/>
        </p:spPr>
        <p:txBody>
          <a:bodyPr wrap="square" lIns="0" tIns="0" rIns="0" bIns="0" rtlCol="0" anchor="ctr"/>
          <a:lstStyle/>
          <a:p>
            <a:pPr indent="0" marL="0">
              <a:buNone/>
            </a:pPr>
            <a:r>
              <a:rPr lang="en-US" sz="1300" dirty="0">
                <a:solidFill>
                  <a:schemeClr val="bg1"/>
                </a:solidFill>
              </a:rPr>
              <a:t>Da controllare: che le ipotesi restino ipotesi e che ogni attività abbia il responsabile giusto.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Preservare il significato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0"/>
                <a:gridCol w="2468880"/>
                <a:gridCol w="3017520"/>
              </a:tblGrid>
              <a:tr h="347472">
                <a:tc>
                  <a:txBody>
                    <a:bodyPr/>
                    <a:lstStyle/>
                    <a:p>
                      <a:pPr indent="0" marL="0">
                        <a:buNone/>
                      </a:pPr>
                      <a:r>
                        <a:rPr lang="en-US" sz="1200" b="1" dirty="0">
                          <a:solidFill>
                            <a:schemeClr val="bg1"/>
                          </a:solidFill>
                        </a:rPr>
                        <a:t>Originale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Trasformato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cambia davvero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47472">
                <a:tc>
                  <a:txBody>
                    <a:bodyPr/>
                    <a:lstStyle/>
                    <a:p>
                      <a:pPr indent="0" marL="0">
                        <a:buNone/>
                      </a:pPr>
                      <a:r>
                        <a:rPr lang="en-US" sz="1200" b="1" dirty="0">
                          <a:solidFill>
                            <a:schemeClr val="tx1"/>
                          </a:solidFill>
                        </a:rPr>
                        <a:t>Entro il 15 del mese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Verso metà mese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Una scadenza diventa vaga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47472">
                <a:tc>
                  <a:txBody>
                    <a:bodyPr/>
                    <a:lstStyle/>
                    <a:p>
                      <a:pPr indent="0" marL="0">
                        <a:buNone/>
                      </a:pPr>
                      <a:r>
                        <a:rPr lang="en-US" sz="1200" b="1" dirty="0">
                          <a:solidFill>
                            <a:schemeClr val="tx1"/>
                          </a:solidFill>
                        </a:rPr>
                        <a:t>Si raccomanda di...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È obbligatorio...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Il grado di obbligo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47472">
                <a:tc>
                  <a:txBody>
                    <a:bodyPr/>
                    <a:lstStyle/>
                    <a:p>
                      <a:pPr indent="0" marL="0">
                        <a:buNone/>
                      </a:pPr>
                      <a:r>
                        <a:rPr lang="en-US" sz="1200" b="1" dirty="0">
                          <a:solidFill>
                            <a:schemeClr val="tx1"/>
                          </a:solidFill>
                        </a:rPr>
                        <a:t>Salvo diversa indicazione, ...</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(eliminato)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Un'eccezione cancellata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47472">
                <a:tc>
                  <a:txBody>
                    <a:bodyPr/>
                    <a:lstStyle/>
                    <a:p>
                      <a:pPr indent="0" marL="0">
                        <a:buNone/>
                      </a:pPr>
                      <a:r>
                        <a:rPr lang="en-US" sz="1200" b="1" dirty="0">
                          <a:solidFill>
                            <a:schemeClr val="tx1"/>
                          </a:solidFill>
                        </a:rPr>
                        <a:t>Il fornitore propone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Il fornitore garantisce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 impegno attribuito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blocco 1  Dire che cosa non deve cambiare"/>
          <p:cNvSpPr/>
          <p:nvPr/>
        </p:nvSpPr>
        <p:spPr>
          <a:xfrm>
            <a:off x="457200" y="2926080"/>
            <a:ext cx="1965960" cy="566928"/>
          </a:xfrm>
          <a:prstGeom prst="roundRect">
            <a:avLst>
              <a:gd name="adj" fmla="val 19355"/>
            </a:avLst>
          </a:prstGeom>
          <a:solidFill>
            <a:schemeClr val="accent6"/>
          </a:solidFill>
          <a:ln/>
        </p:spPr>
      </p:sp>
      <p:sp>
        <p:nvSpPr>
          <p:cNvPr id="14" name="Text 10"/>
          <p:cNvSpPr txBox="1"/>
          <p:nvPr/>
        </p:nvSpPr>
        <p:spPr>
          <a:xfrm>
            <a:off x="502920" y="2926080"/>
            <a:ext cx="1874520" cy="566928"/>
          </a:xfrm>
          <a:prstGeom prst="rect">
            <a:avLst/>
          </a:prstGeom>
          <a:noFill/>
          <a:ln/>
        </p:spPr>
        <p:txBody>
          <a:bodyPr wrap="square" lIns="0" tIns="0" rIns="0" bIns="0" rtlCol="0" anchor="ctr"/>
          <a:lstStyle/>
          <a:p>
            <a:pPr algn="ctr" indent="0" marL="0">
              <a:buNone/>
            </a:pPr>
            <a:r>
              <a:rPr lang="en-US" sz="1100" b="1" dirty="0">
                <a:solidFill>
                  <a:schemeClr val="tx1"/>
                </a:solidFill>
              </a:rPr>
              <a:t>1  Dire che cosa non deve cambiare</a:t>
            </a:r>
            <a:endParaRPr lang="en-US" sz="1100" dirty="0"/>
          </a:p>
        </p:txBody>
      </p:sp>
      <p:sp>
        <p:nvSpPr>
          <p:cNvPr id="15" name="blocco 2  Chiedere l'elenco delle modifiche"/>
          <p:cNvSpPr/>
          <p:nvPr/>
        </p:nvSpPr>
        <p:spPr>
          <a:xfrm>
            <a:off x="2545050" y="2926080"/>
            <a:ext cx="1965960" cy="566928"/>
          </a:xfrm>
          <a:prstGeom prst="roundRect">
            <a:avLst>
              <a:gd name="adj" fmla="val 19355"/>
            </a:avLst>
          </a:prstGeom>
          <a:solidFill>
            <a:schemeClr val="bg2"/>
          </a:solidFill>
          <a:ln/>
        </p:spPr>
      </p:sp>
      <p:sp>
        <p:nvSpPr>
          <p:cNvPr id="16" name="Text 12"/>
          <p:cNvSpPr txBox="1"/>
          <p:nvPr/>
        </p:nvSpPr>
        <p:spPr>
          <a:xfrm>
            <a:off x="2590770" y="2926080"/>
            <a:ext cx="1874520" cy="566928"/>
          </a:xfrm>
          <a:prstGeom prst="rect">
            <a:avLst/>
          </a:prstGeom>
          <a:noFill/>
          <a:ln/>
        </p:spPr>
        <p:txBody>
          <a:bodyPr wrap="square" lIns="0" tIns="0" rIns="0" bIns="0" rtlCol="0" anchor="ctr"/>
          <a:lstStyle/>
          <a:p>
            <a:pPr algn="ctr" indent="0" marL="0">
              <a:buNone/>
            </a:pPr>
            <a:r>
              <a:rPr lang="en-US" sz="1100" b="1" dirty="0">
                <a:solidFill>
                  <a:schemeClr val="tx1"/>
                </a:solidFill>
              </a:rPr>
              <a:t>2  Chiedere l'elenco delle modifiche</a:t>
            </a:r>
            <a:endParaRPr lang="en-US" sz="1100" dirty="0"/>
          </a:p>
        </p:txBody>
      </p:sp>
      <p:sp>
        <p:nvSpPr>
          <p:cNvPr id="17" name="blocco 3  Confrontare le versioni"/>
          <p:cNvSpPr/>
          <p:nvPr/>
        </p:nvSpPr>
        <p:spPr>
          <a:xfrm>
            <a:off x="4632899" y="2926080"/>
            <a:ext cx="1965960" cy="566928"/>
          </a:xfrm>
          <a:prstGeom prst="roundRect">
            <a:avLst>
              <a:gd name="adj" fmla="val 19355"/>
            </a:avLst>
          </a:prstGeom>
          <a:solidFill>
            <a:schemeClr val="accent6"/>
          </a:solidFill>
          <a:ln/>
        </p:spPr>
      </p:sp>
      <p:sp>
        <p:nvSpPr>
          <p:cNvPr id="18" name="Text 14"/>
          <p:cNvSpPr txBox="1"/>
          <p:nvPr/>
        </p:nvSpPr>
        <p:spPr>
          <a:xfrm>
            <a:off x="4678619" y="2926080"/>
            <a:ext cx="1874520" cy="566928"/>
          </a:xfrm>
          <a:prstGeom prst="rect">
            <a:avLst/>
          </a:prstGeom>
          <a:noFill/>
          <a:ln/>
        </p:spPr>
        <p:txBody>
          <a:bodyPr wrap="square" lIns="0" tIns="0" rIns="0" bIns="0" rtlCol="0" anchor="ctr"/>
          <a:lstStyle/>
          <a:p>
            <a:pPr algn="ctr" indent="0" marL="0">
              <a:buNone/>
            </a:pPr>
            <a:r>
              <a:rPr lang="en-US" sz="1100" b="1" dirty="0">
                <a:solidFill>
                  <a:schemeClr val="tx1"/>
                </a:solidFill>
              </a:rPr>
              <a:t>3  Confrontare le versioni</a:t>
            </a:r>
            <a:endParaRPr lang="en-US" sz="1100" dirty="0"/>
          </a:p>
        </p:txBody>
      </p:sp>
      <p:sp>
        <p:nvSpPr>
          <p:cNvPr id="19" name="blocco 4  Validazione esperta se serve"/>
          <p:cNvSpPr/>
          <p:nvPr/>
        </p:nvSpPr>
        <p:spPr>
          <a:xfrm>
            <a:off x="6720749" y="2926080"/>
            <a:ext cx="1965960" cy="566928"/>
          </a:xfrm>
          <a:prstGeom prst="roundRect">
            <a:avLst>
              <a:gd name="adj" fmla="val 19355"/>
            </a:avLst>
          </a:prstGeom>
          <a:solidFill>
            <a:schemeClr val="bg2"/>
          </a:solidFill>
          <a:ln/>
        </p:spPr>
      </p:sp>
      <p:sp>
        <p:nvSpPr>
          <p:cNvPr id="20" name="Text 16"/>
          <p:cNvSpPr txBox="1"/>
          <p:nvPr/>
        </p:nvSpPr>
        <p:spPr>
          <a:xfrm>
            <a:off x="6766469" y="2926080"/>
            <a:ext cx="1874520" cy="566928"/>
          </a:xfrm>
          <a:prstGeom prst="rect">
            <a:avLst/>
          </a:prstGeom>
          <a:noFill/>
          <a:ln/>
        </p:spPr>
        <p:txBody>
          <a:bodyPr wrap="square" lIns="0" tIns="0" rIns="0" bIns="0" rtlCol="0" anchor="ctr"/>
          <a:lstStyle/>
          <a:p>
            <a:pPr algn="ctr" indent="0" marL="0">
              <a:buNone/>
            </a:pPr>
            <a:r>
              <a:rPr lang="en-US" sz="1100" b="1" dirty="0">
                <a:solidFill>
                  <a:schemeClr val="tx1"/>
                </a:solidFill>
              </a:rPr>
              <a:t>4  Validazione esperta se serve</a:t>
            </a:r>
            <a:endParaRPr lang="en-US" sz="1100" dirty="0"/>
          </a:p>
        </p:txBody>
      </p:sp>
      <p:sp>
        <p:nvSpPr>
          <p:cNvPr id="21" name="prompt"/>
          <p:cNvSpPr/>
          <p:nvPr/>
        </p:nvSpPr>
        <p:spPr>
          <a:xfrm>
            <a:off x="457200" y="3657600"/>
            <a:ext cx="8229600" cy="877824"/>
          </a:xfrm>
          <a:prstGeom prst="roundRect">
            <a:avLst>
              <a:gd name="adj" fmla="val 8333"/>
            </a:avLst>
          </a:prstGeom>
          <a:solidFill>
            <a:schemeClr val="bg2"/>
          </a:solidFill>
          <a:ln/>
        </p:spPr>
      </p:sp>
      <p:sp>
        <p:nvSpPr>
          <p:cNvPr id="22" name="Text 18"/>
          <p:cNvSpPr txBox="1"/>
          <p:nvPr/>
        </p:nvSpPr>
        <p:spPr>
          <a:xfrm>
            <a:off x="621792" y="3749040"/>
            <a:ext cx="7900416" cy="256032"/>
          </a:xfrm>
          <a:prstGeom prst="rect">
            <a:avLst/>
          </a:prstGeom>
          <a:noFill/>
          <a:ln/>
        </p:spPr>
        <p:txBody>
          <a:bodyPr wrap="square" lIns="0" tIns="0" rIns="0" bIns="0" rtlCol="0" anchor="t"/>
          <a:lstStyle/>
          <a:p>
            <a:pPr indent="0" marL="0">
              <a:buNone/>
            </a:pPr>
            <a:r>
              <a:rPr lang="en-US" sz="1100" b="1" dirty="0">
                <a:solidFill>
                  <a:schemeClr val="accent1"/>
                </a:solidFill>
              </a:rPr>
              <a:t>Esempio di istruzione</a:t>
            </a:r>
            <a:endParaRPr lang="en-US" sz="1100" dirty="0"/>
          </a:p>
        </p:txBody>
      </p:sp>
      <p:sp>
        <p:nvSpPr>
          <p:cNvPr id="23" name="Text 19"/>
          <p:cNvSpPr txBox="1"/>
          <p:nvPr/>
        </p:nvSpPr>
        <p:spPr>
          <a:xfrm>
            <a:off x="621792" y="4023360"/>
            <a:ext cx="7900416" cy="420624"/>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«Correggi solo grammatica e punteggiatura. Non cambiare importi, date e obblighi. Elenca, senza applicarle, le modifiche di contenuto che suggerisci.»</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Trasformare un testo richiede di controllare che la nuova formulazione non alteri significati, intenzioni o informazioni rilevanti.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8.2  ·  Revisione, riscrittura e trasformazione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Sintesi e analisi documentale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permette di orientarsi rapidamente in documenti lunghi; una sintesi utile conserva gli elementi essenziali e permette di risalire all'originale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possibilità su un documento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Orientarsi rapidamente"/>
          <p:cNvSpPr/>
          <p:nvPr/>
        </p:nvSpPr>
        <p:spPr>
          <a:xfrm>
            <a:off x="457200" y="1051560"/>
            <a:ext cx="2621280" cy="1280160"/>
          </a:xfrm>
          <a:prstGeom prst="roundRect">
            <a:avLst>
              <a:gd name="adj" fmla="val 5714"/>
            </a:avLst>
          </a:prstGeom>
          <a:solidFill>
            <a:schemeClr val="bg2"/>
          </a:solidFill>
          <a:ln/>
        </p:spPr>
      </p:sp>
      <p:sp>
        <p:nvSpPr>
          <p:cNvPr id="13" name="cerchio FiCompass"/>
          <p:cNvSpPr/>
          <p:nvPr/>
        </p:nvSpPr>
        <p:spPr>
          <a:xfrm>
            <a:off x="621792" y="1216152"/>
            <a:ext cx="438912" cy="438912"/>
          </a:xfrm>
          <a:prstGeom prst="ellipse">
            <a:avLst/>
          </a:prstGeom>
          <a:solidFill>
            <a:schemeClr val="accent1"/>
          </a:solidFill>
          <a:ln/>
        </p:spPr>
      </p:sp>
      <p:pic>
        <p:nvPicPr>
          <p:cNvPr id="14" name="Image 0" descr="FiCompass">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Orientarsi rapidamente</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Di che cosa parla, com'è organizzato, che cosa leggere</a:t>
            </a:r>
            <a:endParaRPr lang="en-US" sz="1200" dirty="0"/>
          </a:p>
        </p:txBody>
      </p:sp>
      <p:sp>
        <p:nvSpPr>
          <p:cNvPr id="17" name="Trovare informazioni"/>
          <p:cNvSpPr/>
          <p:nvPr/>
        </p:nvSpPr>
        <p:spPr>
          <a:xfrm>
            <a:off x="3261360" y="1051560"/>
            <a:ext cx="2621280" cy="1280160"/>
          </a:xfrm>
          <a:prstGeom prst="roundRect">
            <a:avLst>
              <a:gd name="adj" fmla="val 5714"/>
            </a:avLst>
          </a:prstGeom>
          <a:solidFill>
            <a:schemeClr val="bg2"/>
          </a:solidFill>
          <a:ln/>
        </p:spPr>
      </p:sp>
      <p:sp>
        <p:nvSpPr>
          <p:cNvPr id="18" name="cerchio FiSearch"/>
          <p:cNvSpPr/>
          <p:nvPr/>
        </p:nvSpPr>
        <p:spPr>
          <a:xfrm>
            <a:off x="3425952" y="1216152"/>
            <a:ext cx="438912" cy="438912"/>
          </a:xfrm>
          <a:prstGeom prst="ellipse">
            <a:avLst/>
          </a:prstGeom>
          <a:solidFill>
            <a:schemeClr val="accent1"/>
          </a:solidFill>
          <a:ln/>
        </p:spPr>
      </p:sp>
      <p:pic>
        <p:nvPicPr>
          <p:cNvPr id="19" name="Image 1" descr="FiSearch">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Trovare informazioni</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Che cosa dice su penali, scadenze, responsabilità</a:t>
            </a:r>
            <a:endParaRPr lang="en-US" sz="1200" dirty="0"/>
          </a:p>
        </p:txBody>
      </p:sp>
      <p:sp>
        <p:nvSpPr>
          <p:cNvPr id="22" name="Sintesi mirate"/>
          <p:cNvSpPr/>
          <p:nvPr/>
        </p:nvSpPr>
        <p:spPr>
          <a:xfrm>
            <a:off x="6065520" y="1051560"/>
            <a:ext cx="2621280" cy="1280160"/>
          </a:xfrm>
          <a:prstGeom prst="roundRect">
            <a:avLst>
              <a:gd name="adj" fmla="val 5714"/>
            </a:avLst>
          </a:prstGeom>
          <a:solidFill>
            <a:schemeClr val="bg2"/>
          </a:solidFill>
          <a:ln/>
        </p:spPr>
      </p:sp>
      <p:sp>
        <p:nvSpPr>
          <p:cNvPr id="23" name="cerchio FiAlignLeft"/>
          <p:cNvSpPr/>
          <p:nvPr/>
        </p:nvSpPr>
        <p:spPr>
          <a:xfrm>
            <a:off x="6230112" y="1216152"/>
            <a:ext cx="438912" cy="438912"/>
          </a:xfrm>
          <a:prstGeom prst="ellipse">
            <a:avLst/>
          </a:prstGeom>
          <a:solidFill>
            <a:schemeClr val="accent1"/>
          </a:solidFill>
          <a:ln/>
        </p:spPr>
      </p:sp>
      <p:pic>
        <p:nvPicPr>
          <p:cNvPr id="24" name="Image 2" descr="FiAlignLeft">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Sintesi mirate</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Esecutive, operative, su una domanda specifica</a:t>
            </a:r>
            <a:endParaRPr lang="en-US" sz="1200" dirty="0"/>
          </a:p>
        </p:txBody>
      </p:sp>
      <p:sp>
        <p:nvSpPr>
          <p:cNvPr id="27" name="Concetti e decisioni"/>
          <p:cNvSpPr/>
          <p:nvPr/>
        </p:nvSpPr>
        <p:spPr>
          <a:xfrm>
            <a:off x="457200" y="2514600"/>
            <a:ext cx="2621280" cy="1280160"/>
          </a:xfrm>
          <a:prstGeom prst="roundRect">
            <a:avLst>
              <a:gd name="adj" fmla="val 5714"/>
            </a:avLst>
          </a:prstGeom>
          <a:solidFill>
            <a:schemeClr val="bg2"/>
          </a:solidFill>
          <a:ln/>
        </p:spPr>
      </p:sp>
      <p:sp>
        <p:nvSpPr>
          <p:cNvPr id="28" name="cerchio FiTarget"/>
          <p:cNvSpPr/>
          <p:nvPr/>
        </p:nvSpPr>
        <p:spPr>
          <a:xfrm>
            <a:off x="621792" y="2679192"/>
            <a:ext cx="438912" cy="438912"/>
          </a:xfrm>
          <a:prstGeom prst="ellipse">
            <a:avLst/>
          </a:prstGeom>
          <a:solidFill>
            <a:schemeClr val="accent1"/>
          </a:solidFill>
          <a:ln/>
        </p:spPr>
      </p:sp>
      <p:pic>
        <p:nvPicPr>
          <p:cNvPr id="29" name="Image 3" descr="FiTarget">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Concetti e decisioni</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Temi, tesi, richieste, punti aperti</a:t>
            </a:r>
            <a:endParaRPr lang="en-US" sz="1200" dirty="0"/>
          </a:p>
        </p:txBody>
      </p:sp>
      <p:sp>
        <p:nvSpPr>
          <p:cNvPr id="32" name="Documentazione tecnica"/>
          <p:cNvSpPr/>
          <p:nvPr/>
        </p:nvSpPr>
        <p:spPr>
          <a:xfrm>
            <a:off x="3261360" y="2514600"/>
            <a:ext cx="2621280" cy="1280160"/>
          </a:xfrm>
          <a:prstGeom prst="roundRect">
            <a:avLst>
              <a:gd name="adj" fmla="val 5714"/>
            </a:avLst>
          </a:prstGeom>
          <a:solidFill>
            <a:schemeClr val="bg2"/>
          </a:solidFill>
          <a:ln/>
        </p:spPr>
      </p:sp>
      <p:sp>
        <p:nvSpPr>
          <p:cNvPr id="33" name="cerchio FiTool"/>
          <p:cNvSpPr/>
          <p:nvPr/>
        </p:nvSpPr>
        <p:spPr>
          <a:xfrm>
            <a:off x="3425952" y="2679192"/>
            <a:ext cx="438912" cy="438912"/>
          </a:xfrm>
          <a:prstGeom prst="ellipse">
            <a:avLst/>
          </a:prstGeom>
          <a:solidFill>
            <a:schemeClr val="accent1"/>
          </a:solidFill>
          <a:ln/>
        </p:spPr>
      </p:sp>
      <p:pic>
        <p:nvPicPr>
          <p:cNvPr id="34" name="Image 4" descr="FiTool">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Documentazione tecnica</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Procedure, capitolati, specifiche</a:t>
            </a:r>
            <a:endParaRPr lang="en-US" sz="1200" dirty="0"/>
          </a:p>
        </p:txBody>
      </p:sp>
      <p:sp>
        <p:nvSpPr>
          <p:cNvPr id="37" name="Preparare approfondimenti"/>
          <p:cNvSpPr/>
          <p:nvPr/>
        </p:nvSpPr>
        <p:spPr>
          <a:xfrm>
            <a:off x="6065520" y="2514600"/>
            <a:ext cx="2621280" cy="1280160"/>
          </a:xfrm>
          <a:prstGeom prst="roundRect">
            <a:avLst>
              <a:gd name="adj" fmla="val 5714"/>
            </a:avLst>
          </a:prstGeom>
          <a:solidFill>
            <a:schemeClr val="bg2"/>
          </a:solidFill>
          <a:ln/>
        </p:spPr>
      </p:sp>
      <p:sp>
        <p:nvSpPr>
          <p:cNvPr id="38" name="cerchio FiZoomIn"/>
          <p:cNvSpPr/>
          <p:nvPr/>
        </p:nvSpPr>
        <p:spPr>
          <a:xfrm>
            <a:off x="6230112" y="2679192"/>
            <a:ext cx="438912" cy="438912"/>
          </a:xfrm>
          <a:prstGeom prst="ellipse">
            <a:avLst/>
          </a:prstGeom>
          <a:solidFill>
            <a:schemeClr val="accent1"/>
          </a:solidFill>
          <a:ln/>
        </p:spPr>
      </p:sp>
      <p:pic>
        <p:nvPicPr>
          <p:cNvPr id="39" name="Image 5" descr="FiZoomIn">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Preparare approfondimenti</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Domande da porre, sezioni da leggere per intero</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Un primo orientamento su cento pagine in pochi minuti, e poi una lettura mirata delle parti che contano.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Sintesi diverse per scopi diversi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011680"/>
                <a:gridCol w="2560320"/>
                <a:gridCol w="3657600"/>
              </a:tblGrid>
              <a:tr h="438912">
                <a:tc>
                  <a:txBody>
                    <a:bodyPr/>
                    <a:lstStyle/>
                    <a:p>
                      <a:pPr indent="0" marL="0">
                        <a:buNone/>
                      </a:pPr>
                      <a:r>
                        <a:rPr lang="en-US" sz="1300" b="1" dirty="0">
                          <a:solidFill>
                            <a:schemeClr val="bg1"/>
                          </a:solidFill>
                        </a:rPr>
                        <a:t>Tipo di sintesi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 chi serve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Che cosa evidenzia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38912">
                <a:tc>
                  <a:txBody>
                    <a:bodyPr/>
                    <a:lstStyle/>
                    <a:p>
                      <a:pPr indent="0" marL="0">
                        <a:buNone/>
                      </a:pPr>
                      <a:r>
                        <a:rPr lang="en-US" sz="1300" b="1" dirty="0">
                          <a:solidFill>
                            <a:schemeClr val="tx1"/>
                          </a:solidFill>
                        </a:rPr>
                        <a:t>Informativa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chi deve orientarsi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Di che cosa parla, contenuti principali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Esecutiva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chi deve decidere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Condizioni, rischi, punti da negoziare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Operativa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chi deve applicare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Scadenze, adempimenti, responsabilità</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Mirata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chi ha una domanda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Solo ciò che risponde alla domanda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prompt"/>
          <p:cNvSpPr/>
          <p:nvPr/>
        </p:nvSpPr>
        <p:spPr>
          <a:xfrm>
            <a:off x="457200" y="3429000"/>
            <a:ext cx="8229600" cy="1051560"/>
          </a:xfrm>
          <a:prstGeom prst="roundRect">
            <a:avLst>
              <a:gd name="adj" fmla="val 6957"/>
            </a:avLst>
          </a:prstGeom>
          <a:solidFill>
            <a:schemeClr val="bg2"/>
          </a:solidFill>
          <a:ln/>
        </p:spPr>
      </p:sp>
      <p:sp>
        <p:nvSpPr>
          <p:cNvPr id="14" name="Text 10"/>
          <p:cNvSpPr txBox="1"/>
          <p:nvPr/>
        </p:nvSpPr>
        <p:spPr>
          <a:xfrm>
            <a:off x="621792" y="3520440"/>
            <a:ext cx="7900416" cy="256032"/>
          </a:xfrm>
          <a:prstGeom prst="rect">
            <a:avLst/>
          </a:prstGeom>
          <a:noFill/>
          <a:ln/>
        </p:spPr>
        <p:txBody>
          <a:bodyPr wrap="square" lIns="0" tIns="0" rIns="0" bIns="0" rtlCol="0" anchor="t"/>
          <a:lstStyle/>
          <a:p>
            <a:pPr indent="0" marL="0">
              <a:buNone/>
            </a:pPr>
            <a:r>
              <a:rPr lang="en-US" sz="1100" b="1" dirty="0">
                <a:solidFill>
                  <a:schemeClr val="accent1"/>
                </a:solidFill>
              </a:rPr>
              <a:t>Esempio di istruzione</a:t>
            </a:r>
            <a:endParaRPr lang="en-US" sz="1100" dirty="0"/>
          </a:p>
        </p:txBody>
      </p:sp>
      <p:sp>
        <p:nvSpPr>
          <p:cNvPr id="15" name="Text 11"/>
          <p:cNvSpPr txBox="1"/>
          <p:nvPr/>
        </p:nvSpPr>
        <p:spPr>
          <a:xfrm>
            <a:off x="621792" y="3794760"/>
            <a:ext cx="7900416" cy="59436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«Sintesi esecutiva per la direzione, massimo una pagina: condizioni economiche, durata, rischi, punti da negoziare. Per ogni punto indica l'articolo da cui deriva.»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Una sintesi esecutiva in pratica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Documento (esempio fittizio)"/>
          <p:cNvSpPr/>
          <p:nvPr/>
        </p:nvSpPr>
        <p:spPr>
          <a:xfrm>
            <a:off x="457200" y="1051560"/>
            <a:ext cx="2377440" cy="1143000"/>
          </a:xfrm>
          <a:prstGeom prst="roundRect">
            <a:avLst>
              <a:gd name="adj" fmla="val 6400"/>
            </a:avLst>
          </a:prstGeom>
          <a:solidFill>
            <a:schemeClr val="bg2"/>
          </a:solidFill>
          <a:ln/>
        </p:spPr>
      </p:sp>
      <p:sp>
        <p:nvSpPr>
          <p:cNvPr id="13" name="barra"/>
          <p:cNvSpPr/>
          <p:nvPr/>
        </p:nvSpPr>
        <p:spPr>
          <a:xfrm>
            <a:off x="457200" y="1161288"/>
            <a:ext cx="54864" cy="923544"/>
          </a:xfrm>
          <a:prstGeom prst="rect">
            <a:avLst/>
          </a:prstGeom>
          <a:solidFill>
            <a:schemeClr val="accent1"/>
          </a:solidFill>
          <a:ln/>
        </p:spPr>
      </p:sp>
      <p:sp>
        <p:nvSpPr>
          <p:cNvPr id="14" name="Text 11"/>
          <p:cNvSpPr txBox="1"/>
          <p:nvPr/>
        </p:nvSpPr>
        <p:spPr>
          <a:xfrm>
            <a:off x="658368" y="1143000"/>
            <a:ext cx="2011680" cy="256032"/>
          </a:xfrm>
          <a:prstGeom prst="rect">
            <a:avLst/>
          </a:prstGeom>
          <a:noFill/>
          <a:ln/>
        </p:spPr>
        <p:txBody>
          <a:bodyPr wrap="square" lIns="0" tIns="0" rIns="0" bIns="0" rtlCol="0" anchor="t"/>
          <a:lstStyle/>
          <a:p>
            <a:pPr indent="0" marL="0">
              <a:buNone/>
            </a:pPr>
            <a:r>
              <a:rPr lang="en-US" sz="1100" b="1" dirty="0">
                <a:solidFill>
                  <a:schemeClr val="accent1"/>
                </a:solidFill>
              </a:rPr>
              <a:t>Documento (esempio fittizio)</a:t>
            </a:r>
            <a:endParaRPr lang="en-US" sz="1100" dirty="0"/>
          </a:p>
        </p:txBody>
      </p:sp>
      <p:sp>
        <p:nvSpPr>
          <p:cNvPr id="15" name="Text 12"/>
          <p:cNvSpPr txBox="1"/>
          <p:nvPr/>
        </p:nvSpPr>
        <p:spPr>
          <a:xfrm>
            <a:off x="658368" y="1435608"/>
            <a:ext cx="2011680" cy="667512"/>
          </a:xfrm>
          <a:prstGeom prst="rect">
            <a:avLst/>
          </a:prstGeom>
          <a:noFill/>
          <a:ln/>
        </p:spPr>
        <p:txBody>
          <a:bodyPr wrap="square" lIns="0" tIns="0" rIns="0" bIns="0" rtlCol="0" anchor="t"/>
          <a:lstStyle/>
          <a:p>
            <a:pPr indent="0" marL="0">
              <a:buNone/>
            </a:pPr>
            <a:r>
              <a:rPr lang="en-US" sz="1100" dirty="0">
                <a:solidFill>
                  <a:schemeClr val="tx1"/>
                </a:solidFill>
              </a:rPr>
              <a:t>Rapporto di audit fornitori: 64 pagine, 9 sezioni, 3 allegati</a:t>
            </a:r>
            <a:endParaRPr lang="en-US" sz="1100" dirty="0"/>
          </a:p>
        </p:txBody>
      </p:sp>
      <p:sp>
        <p:nvSpPr>
          <p:cNvPr id="16" name="prompt"/>
          <p:cNvSpPr/>
          <p:nvPr/>
        </p:nvSpPr>
        <p:spPr>
          <a:xfrm>
            <a:off x="457200" y="2331720"/>
            <a:ext cx="2377440" cy="1600200"/>
          </a:xfrm>
          <a:prstGeom prst="roundRect">
            <a:avLst>
              <a:gd name="adj" fmla="val 4571"/>
            </a:avLst>
          </a:prstGeom>
          <a:solidFill>
            <a:schemeClr val="bg2"/>
          </a:solidFill>
          <a:ln/>
        </p:spPr>
      </p:sp>
      <p:sp>
        <p:nvSpPr>
          <p:cNvPr id="17" name="Text 14"/>
          <p:cNvSpPr txBox="1"/>
          <p:nvPr/>
        </p:nvSpPr>
        <p:spPr>
          <a:xfrm>
            <a:off x="621792" y="2423160"/>
            <a:ext cx="2048256" cy="256032"/>
          </a:xfrm>
          <a:prstGeom prst="rect">
            <a:avLst/>
          </a:prstGeom>
          <a:noFill/>
          <a:ln/>
        </p:spPr>
        <p:txBody>
          <a:bodyPr wrap="square" lIns="0" tIns="0" rIns="0" bIns="0" rtlCol="0" anchor="t"/>
          <a:lstStyle/>
          <a:p>
            <a:pPr indent="0" marL="0">
              <a:buNone/>
            </a:pPr>
            <a:r>
              <a:rPr lang="en-US" sz="1100" b="1" dirty="0">
                <a:solidFill>
                  <a:schemeClr val="accent1"/>
                </a:solidFill>
              </a:rPr>
              <a:t>Richiesta all'AI</a:t>
            </a:r>
            <a:endParaRPr lang="en-US" sz="1100" dirty="0"/>
          </a:p>
        </p:txBody>
      </p:sp>
      <p:sp>
        <p:nvSpPr>
          <p:cNvPr id="18" name="Text 15"/>
          <p:cNvSpPr txBox="1"/>
          <p:nvPr/>
        </p:nvSpPr>
        <p:spPr>
          <a:xfrm>
            <a:off x="621792" y="2697480"/>
            <a:ext cx="2048256" cy="1143000"/>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Sintesi esecutiva in 5 punti per la direzione. Per ogni punto indica sezione e pagina. Segnala ciò che non trovi.</a:t>
            </a:r>
            <a:endParaRPr lang="en-US" sz="1050" dirty="0"/>
          </a:p>
        </p:txBody>
      </p:sp>
      <p:sp>
        <p:nvSpPr>
          <p:cNvPr id="19" name="freccia"/>
          <p:cNvSpPr/>
          <p:nvPr/>
        </p:nvSpPr>
        <p:spPr>
          <a:xfrm>
            <a:off x="2898648" y="2286000"/>
            <a:ext cx="182880" cy="292608"/>
          </a:xfrm>
          <a:prstGeom prst="rightArrow">
            <a:avLst/>
          </a:prstGeom>
          <a:solidFill>
            <a:schemeClr val="accent2"/>
          </a:solidFill>
          <a:ln/>
        </p:spPr>
      </p:sp>
      <p:sp>
        <p:nvSpPr>
          <p:cNvPr id="20" name="sintesi con riferimenti"/>
          <p:cNvSpPr/>
          <p:nvPr/>
        </p:nvSpPr>
        <p:spPr>
          <a:xfrm>
            <a:off x="3154680" y="1051560"/>
            <a:ext cx="5532120" cy="2880360"/>
          </a:xfrm>
          <a:prstGeom prst="roundRect">
            <a:avLst>
              <a:gd name="adj" fmla="val 2540"/>
            </a:avLst>
          </a:prstGeom>
          <a:solidFill>
            <a:schemeClr val="accent6"/>
          </a:solidFill>
          <a:ln/>
        </p:spPr>
      </p:sp>
      <p:sp>
        <p:nvSpPr>
          <p:cNvPr id="21" name="Text 18"/>
          <p:cNvSpPr txBox="1"/>
          <p:nvPr/>
        </p:nvSpPr>
        <p:spPr>
          <a:xfrm>
            <a:off x="3337560" y="1143000"/>
            <a:ext cx="5120640" cy="256032"/>
          </a:xfrm>
          <a:prstGeom prst="rect">
            <a:avLst/>
          </a:prstGeom>
          <a:noFill/>
          <a:ln/>
        </p:spPr>
        <p:txBody>
          <a:bodyPr wrap="square" lIns="0" tIns="0" rIns="0" bIns="0" rtlCol="0" anchor="t"/>
          <a:lstStyle/>
          <a:p>
            <a:pPr indent="0" marL="0">
              <a:buNone/>
            </a:pPr>
            <a:r>
              <a:rPr lang="en-US" sz="1100" b="1" dirty="0">
                <a:solidFill>
                  <a:schemeClr val="accent1"/>
                </a:solidFill>
              </a:rPr>
              <a:t>Sintesi esecutiva con riferimenti</a:t>
            </a:r>
            <a:endParaRPr lang="en-US" sz="1100" dirty="0"/>
          </a:p>
        </p:txBody>
      </p:sp>
      <p:sp>
        <p:nvSpPr>
          <p:cNvPr id="22" name="Text 19"/>
          <p:cNvSpPr txBox="1"/>
          <p:nvPr/>
        </p:nvSpPr>
        <p:spPr>
          <a:xfrm>
            <a:off x="3337560" y="1463040"/>
            <a:ext cx="3886200" cy="420624"/>
          </a:xfrm>
          <a:prstGeom prst="rect">
            <a:avLst/>
          </a:prstGeom>
          <a:noFill/>
          <a:ln/>
        </p:spPr>
        <p:txBody>
          <a:bodyPr wrap="square" lIns="0" tIns="0" rIns="0" bIns="0" rtlCol="0" anchor="ctr"/>
          <a:lstStyle/>
          <a:p>
            <a:pPr indent="0" marL="0">
              <a:buNone/>
            </a:pPr>
            <a:r>
              <a:rPr lang="en-US" sz="1100" dirty="0">
                <a:solidFill>
                  <a:schemeClr val="tx1"/>
                </a:solidFill>
              </a:rPr>
              <a:t>Due fornitori su dodici non hanno rinnovato la certificazione</a:t>
            </a:r>
            <a:endParaRPr lang="en-US" sz="1100" dirty="0"/>
          </a:p>
        </p:txBody>
      </p:sp>
      <p:sp>
        <p:nvSpPr>
          <p:cNvPr id="23" name="blocco §3.2, p. 14"/>
          <p:cNvSpPr/>
          <p:nvPr/>
        </p:nvSpPr>
        <p:spPr>
          <a:xfrm>
            <a:off x="7315200" y="1527048"/>
            <a:ext cx="1234440" cy="292608"/>
          </a:xfrm>
          <a:prstGeom prst="roundRect">
            <a:avLst>
              <a:gd name="adj" fmla="val 37500"/>
            </a:avLst>
          </a:prstGeom>
          <a:solidFill>
            <a:schemeClr val="accent1"/>
          </a:solidFill>
          <a:ln/>
        </p:spPr>
      </p:sp>
      <p:sp>
        <p:nvSpPr>
          <p:cNvPr id="24" name="Text 21"/>
          <p:cNvSpPr txBox="1"/>
          <p:nvPr/>
        </p:nvSpPr>
        <p:spPr>
          <a:xfrm>
            <a:off x="7360920" y="1527048"/>
            <a:ext cx="1143000" cy="292608"/>
          </a:xfrm>
          <a:prstGeom prst="rect">
            <a:avLst/>
          </a:prstGeom>
          <a:noFill/>
          <a:ln/>
        </p:spPr>
        <p:txBody>
          <a:bodyPr wrap="square" lIns="0" tIns="0" rIns="0" bIns="0" rtlCol="0" anchor="ctr"/>
          <a:lstStyle/>
          <a:p>
            <a:pPr algn="ctr" indent="0" marL="0">
              <a:buNone/>
            </a:pPr>
            <a:r>
              <a:rPr lang="en-US" sz="1000" b="1" dirty="0">
                <a:solidFill>
                  <a:schemeClr val="bg1"/>
                </a:solidFill>
              </a:rPr>
              <a:t>§3.2, p. 14</a:t>
            </a:r>
            <a:endParaRPr lang="en-US" sz="1000" dirty="0"/>
          </a:p>
        </p:txBody>
      </p:sp>
      <p:sp>
        <p:nvSpPr>
          <p:cNvPr id="25" name="Text 22"/>
          <p:cNvSpPr txBox="1"/>
          <p:nvPr/>
        </p:nvSpPr>
        <p:spPr>
          <a:xfrm>
            <a:off x="3337560" y="1938528"/>
            <a:ext cx="3886200" cy="420624"/>
          </a:xfrm>
          <a:prstGeom prst="rect">
            <a:avLst/>
          </a:prstGeom>
          <a:noFill/>
          <a:ln/>
        </p:spPr>
        <p:txBody>
          <a:bodyPr wrap="square" lIns="0" tIns="0" rIns="0" bIns="0" rtlCol="0" anchor="ctr"/>
          <a:lstStyle/>
          <a:p>
            <a:pPr indent="0" marL="0">
              <a:buNone/>
            </a:pPr>
            <a:r>
              <a:rPr lang="en-US" sz="1100" dirty="0">
                <a:solidFill>
                  <a:schemeClr val="tx1"/>
                </a:solidFill>
              </a:rPr>
              <a:t>Ritardi medi di consegna in aumento nel secondo semestre</a:t>
            </a:r>
            <a:endParaRPr lang="en-US" sz="1100" dirty="0"/>
          </a:p>
        </p:txBody>
      </p:sp>
      <p:sp>
        <p:nvSpPr>
          <p:cNvPr id="26" name="blocco §4.1, p. 22"/>
          <p:cNvSpPr/>
          <p:nvPr/>
        </p:nvSpPr>
        <p:spPr>
          <a:xfrm>
            <a:off x="7315200" y="2002536"/>
            <a:ext cx="1234440" cy="292608"/>
          </a:xfrm>
          <a:prstGeom prst="roundRect">
            <a:avLst>
              <a:gd name="adj" fmla="val 37500"/>
            </a:avLst>
          </a:prstGeom>
          <a:solidFill>
            <a:schemeClr val="accent1"/>
          </a:solidFill>
          <a:ln/>
        </p:spPr>
      </p:sp>
      <p:sp>
        <p:nvSpPr>
          <p:cNvPr id="27" name="Text 24"/>
          <p:cNvSpPr txBox="1"/>
          <p:nvPr/>
        </p:nvSpPr>
        <p:spPr>
          <a:xfrm>
            <a:off x="7360920" y="2002536"/>
            <a:ext cx="1143000" cy="292608"/>
          </a:xfrm>
          <a:prstGeom prst="rect">
            <a:avLst/>
          </a:prstGeom>
          <a:noFill/>
          <a:ln/>
        </p:spPr>
        <p:txBody>
          <a:bodyPr wrap="square" lIns="0" tIns="0" rIns="0" bIns="0" rtlCol="0" anchor="ctr"/>
          <a:lstStyle/>
          <a:p>
            <a:pPr algn="ctr" indent="0" marL="0">
              <a:buNone/>
            </a:pPr>
            <a:r>
              <a:rPr lang="en-US" sz="1000" b="1" dirty="0">
                <a:solidFill>
                  <a:schemeClr val="bg1"/>
                </a:solidFill>
              </a:rPr>
              <a:t>§4.1, p. 22</a:t>
            </a:r>
            <a:endParaRPr lang="en-US" sz="1000" dirty="0"/>
          </a:p>
        </p:txBody>
      </p:sp>
      <p:sp>
        <p:nvSpPr>
          <p:cNvPr id="28" name="Text 25"/>
          <p:cNvSpPr txBox="1"/>
          <p:nvPr/>
        </p:nvSpPr>
        <p:spPr>
          <a:xfrm>
            <a:off x="3337560" y="2414016"/>
            <a:ext cx="3886200" cy="420624"/>
          </a:xfrm>
          <a:prstGeom prst="rect">
            <a:avLst/>
          </a:prstGeom>
          <a:noFill/>
          <a:ln/>
        </p:spPr>
        <p:txBody>
          <a:bodyPr wrap="square" lIns="0" tIns="0" rIns="0" bIns="0" rtlCol="0" anchor="ctr"/>
          <a:lstStyle/>
          <a:p>
            <a:pPr indent="0" marL="0">
              <a:buNone/>
            </a:pPr>
            <a:r>
              <a:rPr lang="en-US" sz="1100" dirty="0">
                <a:solidFill>
                  <a:schemeClr val="tx1"/>
                </a:solidFill>
              </a:rPr>
              <a:t>Penali previste dai contratti, mai applicate nel periodo</a:t>
            </a:r>
            <a:endParaRPr lang="en-US" sz="1100" dirty="0"/>
          </a:p>
        </p:txBody>
      </p:sp>
      <p:sp>
        <p:nvSpPr>
          <p:cNvPr id="29" name="blocco §5.3, p. 31"/>
          <p:cNvSpPr/>
          <p:nvPr/>
        </p:nvSpPr>
        <p:spPr>
          <a:xfrm>
            <a:off x="7315200" y="2478024"/>
            <a:ext cx="1234440" cy="292608"/>
          </a:xfrm>
          <a:prstGeom prst="roundRect">
            <a:avLst>
              <a:gd name="adj" fmla="val 37500"/>
            </a:avLst>
          </a:prstGeom>
          <a:solidFill>
            <a:schemeClr val="accent1"/>
          </a:solidFill>
          <a:ln/>
        </p:spPr>
      </p:sp>
      <p:sp>
        <p:nvSpPr>
          <p:cNvPr id="30" name="Text 27"/>
          <p:cNvSpPr txBox="1"/>
          <p:nvPr/>
        </p:nvSpPr>
        <p:spPr>
          <a:xfrm>
            <a:off x="7360920" y="2478024"/>
            <a:ext cx="1143000" cy="292608"/>
          </a:xfrm>
          <a:prstGeom prst="rect">
            <a:avLst/>
          </a:prstGeom>
          <a:noFill/>
          <a:ln/>
        </p:spPr>
        <p:txBody>
          <a:bodyPr wrap="square" lIns="0" tIns="0" rIns="0" bIns="0" rtlCol="0" anchor="ctr"/>
          <a:lstStyle/>
          <a:p>
            <a:pPr algn="ctr" indent="0" marL="0">
              <a:buNone/>
            </a:pPr>
            <a:r>
              <a:rPr lang="en-US" sz="1000" b="1" dirty="0">
                <a:solidFill>
                  <a:schemeClr val="bg1"/>
                </a:solidFill>
              </a:rPr>
              <a:t>§5.3, p. 31</a:t>
            </a:r>
            <a:endParaRPr lang="en-US" sz="1000" dirty="0"/>
          </a:p>
        </p:txBody>
      </p:sp>
      <p:sp>
        <p:nvSpPr>
          <p:cNvPr id="31" name="Text 28"/>
          <p:cNvSpPr txBox="1"/>
          <p:nvPr/>
        </p:nvSpPr>
        <p:spPr>
          <a:xfrm>
            <a:off x="3337560" y="2889504"/>
            <a:ext cx="3886200" cy="420624"/>
          </a:xfrm>
          <a:prstGeom prst="rect">
            <a:avLst/>
          </a:prstGeom>
          <a:noFill/>
          <a:ln/>
        </p:spPr>
        <p:txBody>
          <a:bodyPr wrap="square" lIns="0" tIns="0" rIns="0" bIns="0" rtlCol="0" anchor="ctr"/>
          <a:lstStyle/>
          <a:p>
            <a:pPr indent="0" marL="0">
              <a:buNone/>
            </a:pPr>
            <a:r>
              <a:rPr lang="en-US" sz="1100" dirty="0">
                <a:solidFill>
                  <a:schemeClr val="tx1"/>
                </a:solidFill>
              </a:rPr>
              <a:t>Piano di miglioramento proposto entro marzo</a:t>
            </a:r>
            <a:endParaRPr lang="en-US" sz="1100" dirty="0"/>
          </a:p>
        </p:txBody>
      </p:sp>
      <p:sp>
        <p:nvSpPr>
          <p:cNvPr id="32" name="blocco §8, p. 58"/>
          <p:cNvSpPr/>
          <p:nvPr/>
        </p:nvSpPr>
        <p:spPr>
          <a:xfrm>
            <a:off x="7315200" y="2953512"/>
            <a:ext cx="1234440" cy="292608"/>
          </a:xfrm>
          <a:prstGeom prst="roundRect">
            <a:avLst>
              <a:gd name="adj" fmla="val 37500"/>
            </a:avLst>
          </a:prstGeom>
          <a:solidFill>
            <a:schemeClr val="accent1"/>
          </a:solidFill>
          <a:ln/>
        </p:spPr>
      </p:sp>
      <p:sp>
        <p:nvSpPr>
          <p:cNvPr id="33" name="Text 30"/>
          <p:cNvSpPr txBox="1"/>
          <p:nvPr/>
        </p:nvSpPr>
        <p:spPr>
          <a:xfrm>
            <a:off x="7360920" y="2953512"/>
            <a:ext cx="1143000" cy="292608"/>
          </a:xfrm>
          <a:prstGeom prst="rect">
            <a:avLst/>
          </a:prstGeom>
          <a:noFill/>
          <a:ln/>
        </p:spPr>
        <p:txBody>
          <a:bodyPr wrap="square" lIns="0" tIns="0" rIns="0" bIns="0" rtlCol="0" anchor="ctr"/>
          <a:lstStyle/>
          <a:p>
            <a:pPr algn="ctr" indent="0" marL="0">
              <a:buNone/>
            </a:pPr>
            <a:r>
              <a:rPr lang="en-US" sz="1000" b="1" dirty="0">
                <a:solidFill>
                  <a:schemeClr val="bg1"/>
                </a:solidFill>
              </a:rPr>
              <a:t>§8, p. 58</a:t>
            </a:r>
            <a:endParaRPr lang="en-US" sz="1000" dirty="0"/>
          </a:p>
        </p:txBody>
      </p:sp>
      <p:sp>
        <p:nvSpPr>
          <p:cNvPr id="34" name="Text 31"/>
          <p:cNvSpPr txBox="1"/>
          <p:nvPr/>
        </p:nvSpPr>
        <p:spPr>
          <a:xfrm>
            <a:off x="3337560" y="3364992"/>
            <a:ext cx="3886200" cy="420624"/>
          </a:xfrm>
          <a:prstGeom prst="rect">
            <a:avLst/>
          </a:prstGeom>
          <a:noFill/>
          <a:ln/>
        </p:spPr>
        <p:txBody>
          <a:bodyPr wrap="square" lIns="0" tIns="0" rIns="0" bIns="0" rtlCol="0" anchor="ctr"/>
          <a:lstStyle/>
          <a:p>
            <a:pPr indent="0" marL="0">
              <a:buNone/>
            </a:pPr>
            <a:r>
              <a:rPr lang="en-US" sz="1100" dirty="0">
                <a:solidFill>
                  <a:schemeClr val="tx1"/>
                </a:solidFill>
              </a:rPr>
              <a:t>Costo stimato del piano</a:t>
            </a:r>
            <a:endParaRPr lang="en-US" sz="1100" dirty="0"/>
          </a:p>
        </p:txBody>
      </p:sp>
      <p:sp>
        <p:nvSpPr>
          <p:cNvPr id="35" name="blocco non trovato"/>
          <p:cNvSpPr/>
          <p:nvPr/>
        </p:nvSpPr>
        <p:spPr>
          <a:xfrm>
            <a:off x="7315200" y="3429000"/>
            <a:ext cx="1234440" cy="292608"/>
          </a:xfrm>
          <a:prstGeom prst="roundRect">
            <a:avLst>
              <a:gd name="adj" fmla="val 37500"/>
            </a:avLst>
          </a:prstGeom>
          <a:solidFill>
            <a:schemeClr val="accent5"/>
          </a:solidFill>
          <a:ln/>
        </p:spPr>
      </p:sp>
      <p:sp>
        <p:nvSpPr>
          <p:cNvPr id="36" name="Text 33"/>
          <p:cNvSpPr txBox="1"/>
          <p:nvPr/>
        </p:nvSpPr>
        <p:spPr>
          <a:xfrm>
            <a:off x="7360920" y="3429000"/>
            <a:ext cx="1143000" cy="292608"/>
          </a:xfrm>
          <a:prstGeom prst="rect">
            <a:avLst/>
          </a:prstGeom>
          <a:noFill/>
          <a:ln/>
        </p:spPr>
        <p:txBody>
          <a:bodyPr wrap="square" lIns="0" tIns="0" rIns="0" bIns="0" rtlCol="0" anchor="ctr"/>
          <a:lstStyle/>
          <a:p>
            <a:pPr algn="ctr" indent="0" marL="0">
              <a:buNone/>
            </a:pPr>
            <a:r>
              <a:rPr lang="en-US" sz="1000" b="1" dirty="0">
                <a:solidFill>
                  <a:schemeClr val="bg1"/>
                </a:solidFill>
              </a:rPr>
              <a:t>non trovato</a:t>
            </a:r>
            <a:endParaRPr lang="en-US" sz="1000" dirty="0"/>
          </a:p>
        </p:txBody>
      </p:sp>
      <p:sp>
        <p:nvSpPr>
          <p:cNvPr id="37" name="Text 34"/>
          <p:cNvSpPr txBox="1"/>
          <p:nvPr/>
        </p:nvSpPr>
        <p:spPr>
          <a:xfrm>
            <a:off x="457200" y="4069080"/>
            <a:ext cx="2194560" cy="457200"/>
          </a:xfrm>
          <a:prstGeom prst="rect">
            <a:avLst/>
          </a:prstGeom>
          <a:noFill/>
          <a:ln/>
        </p:spPr>
        <p:txBody>
          <a:bodyPr wrap="square" lIns="0" tIns="0" rIns="0" bIns="0" rtlCol="0" anchor="ctr"/>
          <a:lstStyle/>
          <a:p>
            <a:pPr indent="0" marL="0">
              <a:buNone/>
            </a:pPr>
            <a:r>
              <a:rPr lang="en-US" sz="1200" b="1" dirty="0">
                <a:solidFill>
                  <a:schemeClr val="tx1"/>
                </a:solidFill>
              </a:rPr>
              <a:t>Controllare un riferimento:</a:t>
            </a:r>
            <a:endParaRPr lang="en-US" sz="1200" dirty="0"/>
          </a:p>
        </p:txBody>
      </p:sp>
      <p:sp>
        <p:nvSpPr>
          <p:cNvPr id="38" name="blocco Esiste nel punto indicato"/>
          <p:cNvSpPr/>
          <p:nvPr/>
        </p:nvSpPr>
        <p:spPr>
          <a:xfrm>
            <a:off x="2651760" y="4069080"/>
            <a:ext cx="1920240" cy="457200"/>
          </a:xfrm>
          <a:prstGeom prst="roundRect">
            <a:avLst>
              <a:gd name="adj" fmla="val 24000"/>
            </a:avLst>
          </a:prstGeom>
          <a:solidFill>
            <a:schemeClr val="bg2"/>
          </a:solidFill>
          <a:ln/>
        </p:spPr>
      </p:sp>
      <p:sp>
        <p:nvSpPr>
          <p:cNvPr id="39" name="Text 36"/>
          <p:cNvSpPr txBox="1"/>
          <p:nvPr/>
        </p:nvSpPr>
        <p:spPr>
          <a:xfrm>
            <a:off x="2697480" y="4069080"/>
            <a:ext cx="1828800" cy="457200"/>
          </a:xfrm>
          <a:prstGeom prst="rect">
            <a:avLst/>
          </a:prstGeom>
          <a:noFill/>
          <a:ln/>
        </p:spPr>
        <p:txBody>
          <a:bodyPr wrap="square" lIns="0" tIns="0" rIns="0" bIns="0" rtlCol="0" anchor="ctr"/>
          <a:lstStyle/>
          <a:p>
            <a:pPr algn="ctr" indent="0" marL="0">
              <a:buNone/>
            </a:pPr>
            <a:r>
              <a:rPr lang="en-US" sz="1100" b="1" dirty="0">
                <a:solidFill>
                  <a:schemeClr val="tx1"/>
                </a:solidFill>
              </a:rPr>
              <a:t>Esiste nel punto indicato</a:t>
            </a:r>
            <a:endParaRPr lang="en-US" sz="1100" dirty="0"/>
          </a:p>
        </p:txBody>
      </p:sp>
      <p:sp>
        <p:nvSpPr>
          <p:cNvPr id="40" name="blocco Dice ciò che afferma la sintesi"/>
          <p:cNvSpPr/>
          <p:nvPr/>
        </p:nvSpPr>
        <p:spPr>
          <a:xfrm>
            <a:off x="4663440" y="4069080"/>
            <a:ext cx="2103120" cy="457200"/>
          </a:xfrm>
          <a:prstGeom prst="roundRect">
            <a:avLst>
              <a:gd name="adj" fmla="val 24000"/>
            </a:avLst>
          </a:prstGeom>
          <a:solidFill>
            <a:schemeClr val="bg2"/>
          </a:solidFill>
          <a:ln/>
        </p:spPr>
      </p:sp>
      <p:sp>
        <p:nvSpPr>
          <p:cNvPr id="41" name="Text 38"/>
          <p:cNvSpPr txBox="1"/>
          <p:nvPr/>
        </p:nvSpPr>
        <p:spPr>
          <a:xfrm>
            <a:off x="4709160" y="4069080"/>
            <a:ext cx="2011680" cy="457200"/>
          </a:xfrm>
          <a:prstGeom prst="rect">
            <a:avLst/>
          </a:prstGeom>
          <a:noFill/>
          <a:ln/>
        </p:spPr>
        <p:txBody>
          <a:bodyPr wrap="square" lIns="0" tIns="0" rIns="0" bIns="0" rtlCol="0" anchor="ctr"/>
          <a:lstStyle/>
          <a:p>
            <a:pPr algn="ctr" indent="0" marL="0">
              <a:buNone/>
            </a:pPr>
            <a:r>
              <a:rPr lang="en-US" sz="1100" b="1" dirty="0">
                <a:solidFill>
                  <a:schemeClr val="tx1"/>
                </a:solidFill>
              </a:rPr>
              <a:t>Dice ciò che afferma la sintesi</a:t>
            </a:r>
            <a:endParaRPr lang="en-US" sz="1100" dirty="0"/>
          </a:p>
        </p:txBody>
      </p:sp>
      <p:sp>
        <p:nvSpPr>
          <p:cNvPr id="42" name="blocco Citazione esatta"/>
          <p:cNvSpPr/>
          <p:nvPr/>
        </p:nvSpPr>
        <p:spPr>
          <a:xfrm>
            <a:off x="6858000" y="4069080"/>
            <a:ext cx="1828800" cy="457200"/>
          </a:xfrm>
          <a:prstGeom prst="roundRect">
            <a:avLst>
              <a:gd name="adj" fmla="val 24000"/>
            </a:avLst>
          </a:prstGeom>
          <a:solidFill>
            <a:schemeClr val="bg2"/>
          </a:solidFill>
          <a:ln/>
        </p:spPr>
      </p:sp>
      <p:sp>
        <p:nvSpPr>
          <p:cNvPr id="43" name="Text 40"/>
          <p:cNvSpPr txBox="1"/>
          <p:nvPr/>
        </p:nvSpPr>
        <p:spPr>
          <a:xfrm>
            <a:off x="6903720" y="4069080"/>
            <a:ext cx="1737360" cy="457200"/>
          </a:xfrm>
          <a:prstGeom prst="rect">
            <a:avLst/>
          </a:prstGeom>
          <a:noFill/>
          <a:ln/>
        </p:spPr>
        <p:txBody>
          <a:bodyPr wrap="square" lIns="0" tIns="0" rIns="0" bIns="0" rtlCol="0" anchor="ctr"/>
          <a:lstStyle/>
          <a:p>
            <a:pPr algn="ctr" indent="0" marL="0">
              <a:buNone/>
            </a:pPr>
            <a:r>
              <a:rPr lang="en-US" sz="1100" b="1" dirty="0">
                <a:solidFill>
                  <a:schemeClr val="tx1"/>
                </a:solidFill>
              </a:rPr>
              <a:t>Citazione esatta</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rischio di perdita di significato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Verbale originale (esempio fittizio)"/>
          <p:cNvSpPr/>
          <p:nvPr/>
        </p:nvSpPr>
        <p:spPr>
          <a:xfrm>
            <a:off x="457200" y="1051560"/>
            <a:ext cx="3977640" cy="2377440"/>
          </a:xfrm>
          <a:prstGeom prst="roundRect">
            <a:avLst>
              <a:gd name="adj" fmla="val 3077"/>
            </a:avLst>
          </a:prstGeom>
          <a:solidFill>
            <a:schemeClr val="bg2"/>
          </a:solidFill>
          <a:ln/>
        </p:spPr>
      </p:sp>
      <p:sp>
        <p:nvSpPr>
          <p:cNvPr id="13" name="barra"/>
          <p:cNvSpPr/>
          <p:nvPr/>
        </p:nvSpPr>
        <p:spPr>
          <a:xfrm>
            <a:off x="457200" y="1161288"/>
            <a:ext cx="54864" cy="2157984"/>
          </a:xfrm>
          <a:prstGeom prst="rect">
            <a:avLst/>
          </a:prstGeom>
          <a:solidFill>
            <a:schemeClr val="accent1"/>
          </a:solidFill>
          <a:ln/>
        </p:spPr>
      </p:sp>
      <p:sp>
        <p:nvSpPr>
          <p:cNvPr id="14" name="Text 11"/>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Verbale originale (esempio fittizio)</a:t>
            </a:r>
            <a:endParaRPr lang="en-US" sz="1100" dirty="0"/>
          </a:p>
        </p:txBody>
      </p:sp>
      <p:sp>
        <p:nvSpPr>
          <p:cNvPr id="15" name="Text 12"/>
          <p:cNvSpPr txBox="1"/>
          <p:nvPr/>
        </p:nvSpPr>
        <p:spPr>
          <a:xfrm>
            <a:off x="658368" y="1435608"/>
            <a:ext cx="3611880" cy="1901952"/>
          </a:xfrm>
          <a:prstGeom prst="rect">
            <a:avLst/>
          </a:prstGeom>
          <a:noFill/>
          <a:ln/>
        </p:spPr>
        <p:txBody>
          <a:bodyPr wrap="square" lIns="0" tIns="0" rIns="0" bIns="0" rtlCol="0" anchor="t"/>
          <a:lstStyle/>
          <a:p>
            <a:pPr indent="0" marL="0">
              <a:buNone/>
            </a:pPr>
            <a:r>
              <a:rPr lang="en-US" sz="1200" dirty="0">
                <a:solidFill>
                  <a:schemeClr val="tx1"/>
                </a:solidFill>
              </a:rPr>
              <a:t>Il comitato approva in via preliminare l'avvio del progetto, subordinatamente all'approvazione del budget nella riunione di aprile. I tempi di consegna indicati dal fornitore sono da confermare.</a:t>
            </a:r>
            <a:endParaRPr lang="en-US" sz="1200" dirty="0"/>
          </a:p>
        </p:txBody>
      </p:sp>
      <p:sp>
        <p:nvSpPr>
          <p:cNvPr id="16" name="documento Sintesi"/>
          <p:cNvSpPr/>
          <p:nvPr/>
        </p:nvSpPr>
        <p:spPr>
          <a:xfrm>
            <a:off x="4709160" y="1051560"/>
            <a:ext cx="3977640" cy="2377440"/>
          </a:xfrm>
          <a:prstGeom prst="roundRect">
            <a:avLst>
              <a:gd name="adj" fmla="val 3077"/>
            </a:avLst>
          </a:prstGeom>
          <a:solidFill>
            <a:schemeClr val="accent6"/>
          </a:solidFill>
          <a:ln/>
        </p:spPr>
      </p:sp>
      <p:sp>
        <p:nvSpPr>
          <p:cNvPr id="17" name="barra"/>
          <p:cNvSpPr/>
          <p:nvPr/>
        </p:nvSpPr>
        <p:spPr>
          <a:xfrm>
            <a:off x="4709160" y="1161288"/>
            <a:ext cx="54864" cy="2157984"/>
          </a:xfrm>
          <a:prstGeom prst="rect">
            <a:avLst/>
          </a:prstGeom>
          <a:solidFill>
            <a:schemeClr val="accent1"/>
          </a:solidFill>
          <a:ln/>
        </p:spPr>
      </p:sp>
      <p:sp>
        <p:nvSpPr>
          <p:cNvPr id="18" name="Text 15"/>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Sintesi</a:t>
            </a:r>
            <a:endParaRPr lang="en-US" sz="1100" dirty="0"/>
          </a:p>
        </p:txBody>
      </p:sp>
      <p:sp>
        <p:nvSpPr>
          <p:cNvPr id="19" name="Text 16"/>
          <p:cNvSpPr txBox="1"/>
          <p:nvPr/>
        </p:nvSpPr>
        <p:spPr>
          <a:xfrm>
            <a:off x="4910328" y="1435608"/>
            <a:ext cx="3611880" cy="1901952"/>
          </a:xfrm>
          <a:prstGeom prst="rect">
            <a:avLst/>
          </a:prstGeom>
          <a:noFill/>
          <a:ln/>
        </p:spPr>
        <p:txBody>
          <a:bodyPr wrap="square" lIns="0" tIns="0" rIns="0" bIns="0" rtlCol="0" anchor="t"/>
          <a:lstStyle/>
          <a:p>
            <a:pPr indent="0" marL="0">
              <a:buNone/>
            </a:pPr>
            <a:r>
              <a:rPr lang="en-US" sz="1300" dirty="0">
                <a:solidFill>
                  <a:schemeClr val="tx1"/>
                </a:solidFill>
              </a:rPr>
              <a:t>Il comitato ha approvato l'avvio del progetto. Sono stati discussi budget e tempi di consegna.</a:t>
            </a:r>
            <a:endParaRPr lang="en-US" sz="1300" dirty="0"/>
          </a:p>
        </p:txBody>
      </p:sp>
      <p:sp>
        <p:nvSpPr>
          <p:cNvPr id="20" name="blocco Condizione persa"/>
          <p:cNvSpPr/>
          <p:nvPr/>
        </p:nvSpPr>
        <p:spPr>
          <a:xfrm>
            <a:off x="4892040" y="2286000"/>
            <a:ext cx="1783080" cy="384048"/>
          </a:xfrm>
          <a:prstGeom prst="roundRect">
            <a:avLst>
              <a:gd name="adj" fmla="val 28571"/>
            </a:avLst>
          </a:prstGeom>
          <a:solidFill>
            <a:schemeClr val="accent5"/>
          </a:solidFill>
          <a:ln/>
        </p:spPr>
      </p:sp>
      <p:sp>
        <p:nvSpPr>
          <p:cNvPr id="21" name="Text 18"/>
          <p:cNvSpPr txBox="1"/>
          <p:nvPr/>
        </p:nvSpPr>
        <p:spPr>
          <a:xfrm>
            <a:off x="4937760" y="2286000"/>
            <a:ext cx="1691640" cy="384048"/>
          </a:xfrm>
          <a:prstGeom prst="rect">
            <a:avLst/>
          </a:prstGeom>
          <a:noFill/>
          <a:ln/>
        </p:spPr>
        <p:txBody>
          <a:bodyPr wrap="square" lIns="0" tIns="0" rIns="0" bIns="0" rtlCol="0" anchor="ctr"/>
          <a:lstStyle/>
          <a:p>
            <a:pPr algn="ctr" indent="0" marL="0">
              <a:buNone/>
            </a:pPr>
            <a:r>
              <a:rPr lang="en-US" sz="1100" b="1" dirty="0">
                <a:solidFill>
                  <a:schemeClr val="bg1"/>
                </a:solidFill>
              </a:rPr>
              <a:t>Condizione persa</a:t>
            </a:r>
            <a:endParaRPr lang="en-US" sz="1100" dirty="0"/>
          </a:p>
        </p:txBody>
      </p:sp>
      <p:sp>
        <p:nvSpPr>
          <p:cNvPr id="22" name="blocco Incertezza persa"/>
          <p:cNvSpPr/>
          <p:nvPr/>
        </p:nvSpPr>
        <p:spPr>
          <a:xfrm>
            <a:off x="6766560" y="2286000"/>
            <a:ext cx="1737360" cy="384048"/>
          </a:xfrm>
          <a:prstGeom prst="roundRect">
            <a:avLst>
              <a:gd name="adj" fmla="val 28571"/>
            </a:avLst>
          </a:prstGeom>
          <a:solidFill>
            <a:schemeClr val="accent5"/>
          </a:solidFill>
          <a:ln/>
        </p:spPr>
      </p:sp>
      <p:sp>
        <p:nvSpPr>
          <p:cNvPr id="23" name="Text 20"/>
          <p:cNvSpPr txBox="1"/>
          <p:nvPr/>
        </p:nvSpPr>
        <p:spPr>
          <a:xfrm>
            <a:off x="6812280" y="2286000"/>
            <a:ext cx="1645920" cy="384048"/>
          </a:xfrm>
          <a:prstGeom prst="rect">
            <a:avLst/>
          </a:prstGeom>
          <a:noFill/>
          <a:ln/>
        </p:spPr>
        <p:txBody>
          <a:bodyPr wrap="square" lIns="0" tIns="0" rIns="0" bIns="0" rtlCol="0" anchor="ctr"/>
          <a:lstStyle/>
          <a:p>
            <a:pPr algn="ctr" indent="0" marL="0">
              <a:buNone/>
            </a:pPr>
            <a:r>
              <a:rPr lang="en-US" sz="1100" b="1" dirty="0">
                <a:solidFill>
                  <a:schemeClr val="bg1"/>
                </a:solidFill>
              </a:rPr>
              <a:t>Incertezza persa</a:t>
            </a:r>
            <a:endParaRPr lang="en-US" sz="1100" dirty="0"/>
          </a:p>
        </p:txBody>
      </p:sp>
      <p:sp>
        <p:nvSpPr>
          <p:cNvPr id="24" name="messaggio"/>
          <p:cNvSpPr/>
          <p:nvPr/>
        </p:nvSpPr>
        <p:spPr>
          <a:xfrm>
            <a:off x="457200" y="3611880"/>
            <a:ext cx="8229600" cy="822960"/>
          </a:xfrm>
          <a:prstGeom prst="roundRect">
            <a:avLst>
              <a:gd name="adj" fmla="val 8889"/>
            </a:avLst>
          </a:prstGeom>
          <a:solidFill>
            <a:schemeClr val="tx1"/>
          </a:solidFill>
          <a:ln/>
        </p:spPr>
      </p:sp>
      <p:sp>
        <p:nvSpPr>
          <p:cNvPr id="25" name="Text 22"/>
          <p:cNvSpPr txBox="1"/>
          <p:nvPr/>
        </p:nvSpPr>
        <p:spPr>
          <a:xfrm>
            <a:off x="640080" y="3611880"/>
            <a:ext cx="7863840" cy="822960"/>
          </a:xfrm>
          <a:prstGeom prst="rect">
            <a:avLst/>
          </a:prstGeom>
          <a:noFill/>
          <a:ln/>
        </p:spPr>
        <p:txBody>
          <a:bodyPr wrap="square" lIns="0" tIns="0" rIns="0" bIns="0" rtlCol="0" anchor="ctr"/>
          <a:lstStyle/>
          <a:p>
            <a:pPr indent="0" marL="0">
              <a:buNone/>
            </a:pPr>
            <a:r>
              <a:rPr lang="en-US" sz="1300" dirty="0">
                <a:solidFill>
                  <a:schemeClr val="bg1"/>
                </a:solidFill>
              </a:rPr>
              <a:t>Ogni frase è vera, ma la decisione sembra definitiva. Si evita chiedendo di conservare condizioni e gradi di certezza.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conservare in una sintesi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Condizioni"/>
          <p:cNvSpPr/>
          <p:nvPr/>
        </p:nvSpPr>
        <p:spPr>
          <a:xfrm>
            <a:off x="457200" y="1051560"/>
            <a:ext cx="1965960" cy="731520"/>
          </a:xfrm>
          <a:prstGeom prst="roundRect">
            <a:avLst>
              <a:gd name="adj" fmla="val 10000"/>
            </a:avLst>
          </a:prstGeom>
          <a:solidFill>
            <a:schemeClr val="bg2"/>
          </a:solidFill>
          <a:ln/>
        </p:spPr>
      </p:sp>
      <p:sp>
        <p:nvSpPr>
          <p:cNvPr id="13" name="Text 10"/>
          <p:cNvSpPr txBox="1"/>
          <p:nvPr/>
        </p:nvSpPr>
        <p:spPr>
          <a:xfrm>
            <a:off x="594360" y="1115568"/>
            <a:ext cx="1737360" cy="292608"/>
          </a:xfrm>
          <a:prstGeom prst="rect">
            <a:avLst/>
          </a:prstGeom>
          <a:noFill/>
          <a:ln/>
        </p:spPr>
        <p:txBody>
          <a:bodyPr wrap="square" lIns="0" tIns="0" rIns="0" bIns="0" rtlCol="0" anchor="t"/>
          <a:lstStyle/>
          <a:p>
            <a:pPr indent="0" marL="0">
              <a:buNone/>
            </a:pPr>
            <a:r>
              <a:rPr lang="en-US" sz="1300" b="1" dirty="0">
                <a:solidFill>
                  <a:schemeClr val="accent1"/>
                </a:solidFill>
              </a:rPr>
              <a:t>Condizioni</a:t>
            </a:r>
            <a:endParaRPr lang="en-US" sz="1300" dirty="0"/>
          </a:p>
        </p:txBody>
      </p:sp>
      <p:sp>
        <p:nvSpPr>
          <p:cNvPr id="14" name="Text 11"/>
          <p:cNvSpPr txBox="1"/>
          <p:nvPr/>
        </p:nvSpPr>
        <p:spPr>
          <a:xfrm>
            <a:off x="594360" y="1435608"/>
            <a:ext cx="1737360" cy="292608"/>
          </a:xfrm>
          <a:prstGeom prst="rect">
            <a:avLst/>
          </a:prstGeom>
          <a:noFill/>
          <a:ln/>
        </p:spPr>
        <p:txBody>
          <a:bodyPr wrap="square" lIns="0" tIns="0" rIns="0" bIns="0" rtlCol="0" anchor="t"/>
          <a:lstStyle/>
          <a:p>
            <a:pPr indent="0" marL="0">
              <a:buNone/>
            </a:pPr>
            <a:r>
              <a:rPr lang="en-US" sz="1100" i="1" dirty="0">
                <a:solidFill>
                  <a:schemeClr val="tx2"/>
                </a:solidFill>
              </a:rPr>
              <a:t>solo se, a condizione che</a:t>
            </a:r>
            <a:endParaRPr lang="en-US" sz="1100" dirty="0"/>
          </a:p>
        </p:txBody>
      </p:sp>
      <p:sp>
        <p:nvSpPr>
          <p:cNvPr id="15" name="Eccezioni"/>
          <p:cNvSpPr/>
          <p:nvPr/>
        </p:nvSpPr>
        <p:spPr>
          <a:xfrm>
            <a:off x="2560320" y="1051560"/>
            <a:ext cx="1965960" cy="731520"/>
          </a:xfrm>
          <a:prstGeom prst="roundRect">
            <a:avLst>
              <a:gd name="adj" fmla="val 10000"/>
            </a:avLst>
          </a:prstGeom>
          <a:solidFill>
            <a:schemeClr val="bg2"/>
          </a:solidFill>
          <a:ln/>
        </p:spPr>
      </p:sp>
      <p:sp>
        <p:nvSpPr>
          <p:cNvPr id="16" name="Text 13"/>
          <p:cNvSpPr txBox="1"/>
          <p:nvPr/>
        </p:nvSpPr>
        <p:spPr>
          <a:xfrm>
            <a:off x="2697480" y="1115568"/>
            <a:ext cx="1737360" cy="292608"/>
          </a:xfrm>
          <a:prstGeom prst="rect">
            <a:avLst/>
          </a:prstGeom>
          <a:noFill/>
          <a:ln/>
        </p:spPr>
        <p:txBody>
          <a:bodyPr wrap="square" lIns="0" tIns="0" rIns="0" bIns="0" rtlCol="0" anchor="t"/>
          <a:lstStyle/>
          <a:p>
            <a:pPr indent="0" marL="0">
              <a:buNone/>
            </a:pPr>
            <a:r>
              <a:rPr lang="en-US" sz="1300" b="1" dirty="0">
                <a:solidFill>
                  <a:schemeClr val="accent1"/>
                </a:solidFill>
              </a:rPr>
              <a:t>Eccezioni</a:t>
            </a:r>
            <a:endParaRPr lang="en-US" sz="1300" dirty="0"/>
          </a:p>
        </p:txBody>
      </p:sp>
      <p:sp>
        <p:nvSpPr>
          <p:cNvPr id="17" name="Text 14"/>
          <p:cNvSpPr txBox="1"/>
          <p:nvPr/>
        </p:nvSpPr>
        <p:spPr>
          <a:xfrm>
            <a:off x="2697480" y="1435608"/>
            <a:ext cx="1737360" cy="292608"/>
          </a:xfrm>
          <a:prstGeom prst="rect">
            <a:avLst/>
          </a:prstGeom>
          <a:noFill/>
          <a:ln/>
        </p:spPr>
        <p:txBody>
          <a:bodyPr wrap="square" lIns="0" tIns="0" rIns="0" bIns="0" rtlCol="0" anchor="t"/>
          <a:lstStyle/>
          <a:p>
            <a:pPr indent="0" marL="0">
              <a:buNone/>
            </a:pPr>
            <a:r>
              <a:rPr lang="en-US" sz="1100" i="1" dirty="0">
                <a:solidFill>
                  <a:schemeClr val="tx2"/>
                </a:solidFill>
              </a:rPr>
              <a:t>salvo, tranne</a:t>
            </a:r>
            <a:endParaRPr lang="en-US" sz="1100" dirty="0"/>
          </a:p>
        </p:txBody>
      </p:sp>
      <p:sp>
        <p:nvSpPr>
          <p:cNvPr id="18" name="Limiti e soglie"/>
          <p:cNvSpPr/>
          <p:nvPr/>
        </p:nvSpPr>
        <p:spPr>
          <a:xfrm>
            <a:off x="4663440" y="1051560"/>
            <a:ext cx="1965960" cy="731520"/>
          </a:xfrm>
          <a:prstGeom prst="roundRect">
            <a:avLst>
              <a:gd name="adj" fmla="val 10000"/>
            </a:avLst>
          </a:prstGeom>
          <a:solidFill>
            <a:schemeClr val="bg2"/>
          </a:solidFill>
          <a:ln/>
        </p:spPr>
      </p:sp>
      <p:sp>
        <p:nvSpPr>
          <p:cNvPr id="19" name="Text 16"/>
          <p:cNvSpPr txBox="1"/>
          <p:nvPr/>
        </p:nvSpPr>
        <p:spPr>
          <a:xfrm>
            <a:off x="4800600" y="1115568"/>
            <a:ext cx="1737360" cy="292608"/>
          </a:xfrm>
          <a:prstGeom prst="rect">
            <a:avLst/>
          </a:prstGeom>
          <a:noFill/>
          <a:ln/>
        </p:spPr>
        <p:txBody>
          <a:bodyPr wrap="square" lIns="0" tIns="0" rIns="0" bIns="0" rtlCol="0" anchor="t"/>
          <a:lstStyle/>
          <a:p>
            <a:pPr indent="0" marL="0">
              <a:buNone/>
            </a:pPr>
            <a:r>
              <a:rPr lang="en-US" sz="1300" b="1" dirty="0">
                <a:solidFill>
                  <a:schemeClr val="accent1"/>
                </a:solidFill>
              </a:rPr>
              <a:t>Limiti e soglie</a:t>
            </a:r>
            <a:endParaRPr lang="en-US" sz="1300" dirty="0"/>
          </a:p>
        </p:txBody>
      </p:sp>
      <p:sp>
        <p:nvSpPr>
          <p:cNvPr id="20" name="Text 17"/>
          <p:cNvSpPr txBox="1"/>
          <p:nvPr/>
        </p:nvSpPr>
        <p:spPr>
          <a:xfrm>
            <a:off x="4800600" y="1435608"/>
            <a:ext cx="1737360" cy="292608"/>
          </a:xfrm>
          <a:prstGeom prst="rect">
            <a:avLst/>
          </a:prstGeom>
          <a:noFill/>
          <a:ln/>
        </p:spPr>
        <p:txBody>
          <a:bodyPr wrap="square" lIns="0" tIns="0" rIns="0" bIns="0" rtlCol="0" anchor="t"/>
          <a:lstStyle/>
          <a:p>
            <a:pPr indent="0" marL="0">
              <a:buNone/>
            </a:pPr>
            <a:r>
              <a:rPr lang="en-US" sz="1100" i="1" dirty="0">
                <a:solidFill>
                  <a:schemeClr val="tx2"/>
                </a:solidFill>
              </a:rPr>
              <a:t>importi, percentuali</a:t>
            </a:r>
            <a:endParaRPr lang="en-US" sz="1100" dirty="0"/>
          </a:p>
        </p:txBody>
      </p:sp>
      <p:sp>
        <p:nvSpPr>
          <p:cNvPr id="21" name="Scadenze"/>
          <p:cNvSpPr/>
          <p:nvPr/>
        </p:nvSpPr>
        <p:spPr>
          <a:xfrm>
            <a:off x="6766560" y="1051560"/>
            <a:ext cx="1965960" cy="731520"/>
          </a:xfrm>
          <a:prstGeom prst="roundRect">
            <a:avLst>
              <a:gd name="adj" fmla="val 10000"/>
            </a:avLst>
          </a:prstGeom>
          <a:solidFill>
            <a:schemeClr val="bg2"/>
          </a:solidFill>
          <a:ln/>
        </p:spPr>
      </p:sp>
      <p:sp>
        <p:nvSpPr>
          <p:cNvPr id="22" name="Text 19"/>
          <p:cNvSpPr txBox="1"/>
          <p:nvPr/>
        </p:nvSpPr>
        <p:spPr>
          <a:xfrm>
            <a:off x="6903720" y="1115568"/>
            <a:ext cx="1737360" cy="292608"/>
          </a:xfrm>
          <a:prstGeom prst="rect">
            <a:avLst/>
          </a:prstGeom>
          <a:noFill/>
          <a:ln/>
        </p:spPr>
        <p:txBody>
          <a:bodyPr wrap="square" lIns="0" tIns="0" rIns="0" bIns="0" rtlCol="0" anchor="t"/>
          <a:lstStyle/>
          <a:p>
            <a:pPr indent="0" marL="0">
              <a:buNone/>
            </a:pPr>
            <a:r>
              <a:rPr lang="en-US" sz="1300" b="1" dirty="0">
                <a:solidFill>
                  <a:schemeClr val="accent1"/>
                </a:solidFill>
              </a:rPr>
              <a:t>Scadenze</a:t>
            </a:r>
            <a:endParaRPr lang="en-US" sz="1300" dirty="0"/>
          </a:p>
        </p:txBody>
      </p:sp>
      <p:sp>
        <p:nvSpPr>
          <p:cNvPr id="23" name="Text 20"/>
          <p:cNvSpPr txBox="1"/>
          <p:nvPr/>
        </p:nvSpPr>
        <p:spPr>
          <a:xfrm>
            <a:off x="6903720" y="1435608"/>
            <a:ext cx="1737360" cy="292608"/>
          </a:xfrm>
          <a:prstGeom prst="rect">
            <a:avLst/>
          </a:prstGeom>
          <a:noFill/>
          <a:ln/>
        </p:spPr>
        <p:txBody>
          <a:bodyPr wrap="square" lIns="0" tIns="0" rIns="0" bIns="0" rtlCol="0" anchor="t"/>
          <a:lstStyle/>
          <a:p>
            <a:pPr indent="0" marL="0">
              <a:buNone/>
            </a:pPr>
            <a:r>
              <a:rPr lang="en-US" sz="1100" i="1" dirty="0">
                <a:solidFill>
                  <a:schemeClr val="tx2"/>
                </a:solidFill>
              </a:rPr>
              <a:t>date, termini, preavvisi</a:t>
            </a:r>
            <a:endParaRPr lang="en-US" sz="1100" dirty="0"/>
          </a:p>
        </p:txBody>
      </p:sp>
      <p:sp>
        <p:nvSpPr>
          <p:cNvPr id="24" name="Responsabilità"/>
          <p:cNvSpPr/>
          <p:nvPr/>
        </p:nvSpPr>
        <p:spPr>
          <a:xfrm>
            <a:off x="457200" y="1874520"/>
            <a:ext cx="1965960" cy="731520"/>
          </a:xfrm>
          <a:prstGeom prst="roundRect">
            <a:avLst>
              <a:gd name="adj" fmla="val 10000"/>
            </a:avLst>
          </a:prstGeom>
          <a:solidFill>
            <a:schemeClr val="accent6"/>
          </a:solidFill>
          <a:ln/>
        </p:spPr>
      </p:sp>
      <p:sp>
        <p:nvSpPr>
          <p:cNvPr id="25" name="Text 22"/>
          <p:cNvSpPr txBox="1"/>
          <p:nvPr/>
        </p:nvSpPr>
        <p:spPr>
          <a:xfrm>
            <a:off x="594360" y="1938528"/>
            <a:ext cx="1737360" cy="292608"/>
          </a:xfrm>
          <a:prstGeom prst="rect">
            <a:avLst/>
          </a:prstGeom>
          <a:noFill/>
          <a:ln/>
        </p:spPr>
        <p:txBody>
          <a:bodyPr wrap="square" lIns="0" tIns="0" rIns="0" bIns="0" rtlCol="0" anchor="t"/>
          <a:lstStyle/>
          <a:p>
            <a:pPr indent="0" marL="0">
              <a:buNone/>
            </a:pPr>
            <a:r>
              <a:rPr lang="en-US" sz="1300" b="1" dirty="0">
                <a:solidFill>
                  <a:schemeClr val="accent1"/>
                </a:solidFill>
              </a:rPr>
              <a:t>Responsabilità</a:t>
            </a:r>
            <a:endParaRPr lang="en-US" sz="1300" dirty="0"/>
          </a:p>
        </p:txBody>
      </p:sp>
      <p:sp>
        <p:nvSpPr>
          <p:cNvPr id="26" name="Text 23"/>
          <p:cNvSpPr txBox="1"/>
          <p:nvPr/>
        </p:nvSpPr>
        <p:spPr>
          <a:xfrm>
            <a:off x="594360" y="2258568"/>
            <a:ext cx="1737360" cy="292608"/>
          </a:xfrm>
          <a:prstGeom prst="rect">
            <a:avLst/>
          </a:prstGeom>
          <a:noFill/>
          <a:ln/>
        </p:spPr>
        <p:txBody>
          <a:bodyPr wrap="square" lIns="0" tIns="0" rIns="0" bIns="0" rtlCol="0" anchor="t"/>
          <a:lstStyle/>
          <a:p>
            <a:pPr indent="0" marL="0">
              <a:buNone/>
            </a:pPr>
            <a:r>
              <a:rPr lang="en-US" sz="1100" i="1" dirty="0">
                <a:solidFill>
                  <a:schemeClr val="tx2"/>
                </a:solidFill>
              </a:rPr>
              <a:t>chi fa che cosa</a:t>
            </a:r>
            <a:endParaRPr lang="en-US" sz="1100" dirty="0"/>
          </a:p>
        </p:txBody>
      </p:sp>
      <p:sp>
        <p:nvSpPr>
          <p:cNvPr id="27" name="Certezza e obbligo"/>
          <p:cNvSpPr/>
          <p:nvPr/>
        </p:nvSpPr>
        <p:spPr>
          <a:xfrm>
            <a:off x="2560320" y="1874520"/>
            <a:ext cx="1965960" cy="731520"/>
          </a:xfrm>
          <a:prstGeom prst="roundRect">
            <a:avLst>
              <a:gd name="adj" fmla="val 10000"/>
            </a:avLst>
          </a:prstGeom>
          <a:solidFill>
            <a:schemeClr val="accent6"/>
          </a:solidFill>
          <a:ln/>
        </p:spPr>
      </p:sp>
      <p:sp>
        <p:nvSpPr>
          <p:cNvPr id="28" name="Text 25"/>
          <p:cNvSpPr txBox="1"/>
          <p:nvPr/>
        </p:nvSpPr>
        <p:spPr>
          <a:xfrm>
            <a:off x="2697480" y="1938528"/>
            <a:ext cx="1737360" cy="292608"/>
          </a:xfrm>
          <a:prstGeom prst="rect">
            <a:avLst/>
          </a:prstGeom>
          <a:noFill/>
          <a:ln/>
        </p:spPr>
        <p:txBody>
          <a:bodyPr wrap="square" lIns="0" tIns="0" rIns="0" bIns="0" rtlCol="0" anchor="t"/>
          <a:lstStyle/>
          <a:p>
            <a:pPr indent="0" marL="0">
              <a:buNone/>
            </a:pPr>
            <a:r>
              <a:rPr lang="en-US" sz="1300" b="1" dirty="0">
                <a:solidFill>
                  <a:schemeClr val="accent1"/>
                </a:solidFill>
              </a:rPr>
              <a:t>Certezza e obbligo</a:t>
            </a:r>
            <a:endParaRPr lang="en-US" sz="1300" dirty="0"/>
          </a:p>
        </p:txBody>
      </p:sp>
      <p:sp>
        <p:nvSpPr>
          <p:cNvPr id="29" name="Text 26"/>
          <p:cNvSpPr txBox="1"/>
          <p:nvPr/>
        </p:nvSpPr>
        <p:spPr>
          <a:xfrm>
            <a:off x="2697480" y="2258568"/>
            <a:ext cx="1737360" cy="292608"/>
          </a:xfrm>
          <a:prstGeom prst="rect">
            <a:avLst/>
          </a:prstGeom>
          <a:noFill/>
          <a:ln/>
        </p:spPr>
        <p:txBody>
          <a:bodyPr wrap="square" lIns="0" tIns="0" rIns="0" bIns="0" rtlCol="0" anchor="t"/>
          <a:lstStyle/>
          <a:p>
            <a:pPr indent="0" marL="0">
              <a:buNone/>
            </a:pPr>
            <a:r>
              <a:rPr lang="en-US" sz="1100" i="1" dirty="0">
                <a:solidFill>
                  <a:schemeClr val="tx2"/>
                </a:solidFill>
              </a:rPr>
              <a:t>da confermare, è obbligatorio</a:t>
            </a:r>
            <a:endParaRPr lang="en-US" sz="1100" dirty="0"/>
          </a:p>
        </p:txBody>
      </p:sp>
      <p:sp>
        <p:nvSpPr>
          <p:cNvPr id="30" name="Negazioni"/>
          <p:cNvSpPr/>
          <p:nvPr/>
        </p:nvSpPr>
        <p:spPr>
          <a:xfrm>
            <a:off x="4663440" y="1874520"/>
            <a:ext cx="1965960" cy="731520"/>
          </a:xfrm>
          <a:prstGeom prst="roundRect">
            <a:avLst>
              <a:gd name="adj" fmla="val 10000"/>
            </a:avLst>
          </a:prstGeom>
          <a:solidFill>
            <a:schemeClr val="accent6"/>
          </a:solidFill>
          <a:ln/>
        </p:spPr>
      </p:sp>
      <p:sp>
        <p:nvSpPr>
          <p:cNvPr id="31" name="Text 28"/>
          <p:cNvSpPr txBox="1"/>
          <p:nvPr/>
        </p:nvSpPr>
        <p:spPr>
          <a:xfrm>
            <a:off x="4800600" y="1938528"/>
            <a:ext cx="1737360" cy="292608"/>
          </a:xfrm>
          <a:prstGeom prst="rect">
            <a:avLst/>
          </a:prstGeom>
          <a:noFill/>
          <a:ln/>
        </p:spPr>
        <p:txBody>
          <a:bodyPr wrap="square" lIns="0" tIns="0" rIns="0" bIns="0" rtlCol="0" anchor="t"/>
          <a:lstStyle/>
          <a:p>
            <a:pPr indent="0" marL="0">
              <a:buNone/>
            </a:pPr>
            <a:r>
              <a:rPr lang="en-US" sz="1300" b="1" dirty="0">
                <a:solidFill>
                  <a:schemeClr val="accent1"/>
                </a:solidFill>
              </a:rPr>
              <a:t>Negazioni</a:t>
            </a:r>
            <a:endParaRPr lang="en-US" sz="1300" dirty="0"/>
          </a:p>
        </p:txBody>
      </p:sp>
      <p:sp>
        <p:nvSpPr>
          <p:cNvPr id="32" name="Text 29"/>
          <p:cNvSpPr txBox="1"/>
          <p:nvPr/>
        </p:nvSpPr>
        <p:spPr>
          <a:xfrm>
            <a:off x="4800600" y="2258568"/>
            <a:ext cx="1737360" cy="292608"/>
          </a:xfrm>
          <a:prstGeom prst="rect">
            <a:avLst/>
          </a:prstGeom>
          <a:noFill/>
          <a:ln/>
        </p:spPr>
        <p:txBody>
          <a:bodyPr wrap="square" lIns="0" tIns="0" rIns="0" bIns="0" rtlCol="0" anchor="t"/>
          <a:lstStyle/>
          <a:p>
            <a:pPr indent="0" marL="0">
              <a:buNone/>
            </a:pPr>
            <a:r>
              <a:rPr lang="en-US" sz="1100" i="1" dirty="0">
                <a:solidFill>
                  <a:schemeClr val="tx2"/>
                </a:solidFill>
              </a:rPr>
              <a:t>non si applica, esclusivamente</a:t>
            </a:r>
            <a:endParaRPr lang="en-US" sz="1100" dirty="0"/>
          </a:p>
        </p:txBody>
      </p:sp>
      <p:sp>
        <p:nvSpPr>
          <p:cNvPr id="33" name="Voci minoritarie"/>
          <p:cNvSpPr/>
          <p:nvPr/>
        </p:nvSpPr>
        <p:spPr>
          <a:xfrm>
            <a:off x="6766560" y="1874520"/>
            <a:ext cx="1965960" cy="731520"/>
          </a:xfrm>
          <a:prstGeom prst="roundRect">
            <a:avLst>
              <a:gd name="adj" fmla="val 10000"/>
            </a:avLst>
          </a:prstGeom>
          <a:solidFill>
            <a:schemeClr val="accent6"/>
          </a:solidFill>
          <a:ln/>
        </p:spPr>
      </p:sp>
      <p:sp>
        <p:nvSpPr>
          <p:cNvPr id="34" name="Text 31"/>
          <p:cNvSpPr txBox="1"/>
          <p:nvPr/>
        </p:nvSpPr>
        <p:spPr>
          <a:xfrm>
            <a:off x="6903720" y="1938528"/>
            <a:ext cx="1737360" cy="292608"/>
          </a:xfrm>
          <a:prstGeom prst="rect">
            <a:avLst/>
          </a:prstGeom>
          <a:noFill/>
          <a:ln/>
        </p:spPr>
        <p:txBody>
          <a:bodyPr wrap="square" lIns="0" tIns="0" rIns="0" bIns="0" rtlCol="0" anchor="t"/>
          <a:lstStyle/>
          <a:p>
            <a:pPr indent="0" marL="0">
              <a:buNone/>
            </a:pPr>
            <a:r>
              <a:rPr lang="en-US" sz="1300" b="1" dirty="0">
                <a:solidFill>
                  <a:schemeClr val="accent1"/>
                </a:solidFill>
              </a:rPr>
              <a:t>Voci minoritarie</a:t>
            </a:r>
            <a:endParaRPr lang="en-US" sz="1300" dirty="0"/>
          </a:p>
        </p:txBody>
      </p:sp>
      <p:sp>
        <p:nvSpPr>
          <p:cNvPr id="35" name="Text 32"/>
          <p:cNvSpPr txBox="1"/>
          <p:nvPr/>
        </p:nvSpPr>
        <p:spPr>
          <a:xfrm>
            <a:off x="6903720" y="2258568"/>
            <a:ext cx="1737360" cy="292608"/>
          </a:xfrm>
          <a:prstGeom prst="rect">
            <a:avLst/>
          </a:prstGeom>
          <a:noFill/>
          <a:ln/>
        </p:spPr>
        <p:txBody>
          <a:bodyPr wrap="square" lIns="0" tIns="0" rIns="0" bIns="0" rtlCol="0" anchor="t"/>
          <a:lstStyle/>
          <a:p>
            <a:pPr indent="0" marL="0">
              <a:buNone/>
            </a:pPr>
            <a:r>
              <a:rPr lang="en-US" sz="1100" i="1" dirty="0">
                <a:solidFill>
                  <a:schemeClr val="tx2"/>
                </a:solidFill>
              </a:rPr>
              <a:t>obiezioni, rischi in nota</a:t>
            </a:r>
            <a:endParaRPr lang="en-US" sz="1100" dirty="0"/>
          </a:p>
        </p:txBody>
      </p:sp>
      <p:sp>
        <p:nvSpPr>
          <p:cNvPr id="36" name="Prima"/>
          <p:cNvSpPr/>
          <p:nvPr/>
        </p:nvSpPr>
        <p:spPr>
          <a:xfrm>
            <a:off x="457200" y="2788920"/>
            <a:ext cx="2615184" cy="960120"/>
          </a:xfrm>
          <a:prstGeom prst="roundRect">
            <a:avLst>
              <a:gd name="adj" fmla="val 7619"/>
            </a:avLst>
          </a:prstGeom>
          <a:solidFill>
            <a:schemeClr val="bg2"/>
          </a:solidFill>
          <a:ln/>
        </p:spPr>
      </p:sp>
      <p:sp>
        <p:nvSpPr>
          <p:cNvPr id="37" name="Text 34"/>
          <p:cNvSpPr txBox="1"/>
          <p:nvPr/>
        </p:nvSpPr>
        <p:spPr>
          <a:xfrm>
            <a:off x="621792" y="2834640"/>
            <a:ext cx="2286000" cy="329184"/>
          </a:xfrm>
          <a:prstGeom prst="rect">
            <a:avLst/>
          </a:prstGeom>
          <a:noFill/>
          <a:ln/>
        </p:spPr>
        <p:txBody>
          <a:bodyPr wrap="square" lIns="0" tIns="0" rIns="0" bIns="0" rtlCol="0" anchor="t"/>
          <a:lstStyle/>
          <a:p>
            <a:pPr indent="0" marL="0">
              <a:buNone/>
            </a:pPr>
            <a:r>
              <a:rPr lang="en-US" sz="1500" b="1" dirty="0">
                <a:solidFill>
                  <a:schemeClr val="accent1"/>
                </a:solidFill>
              </a:rPr>
              <a:t>Prima</a:t>
            </a:r>
            <a:endParaRPr lang="en-US" sz="1500" dirty="0"/>
          </a:p>
        </p:txBody>
      </p:sp>
      <p:sp>
        <p:nvSpPr>
          <p:cNvPr id="38" name="Text 35"/>
          <p:cNvSpPr txBox="1"/>
          <p:nvPr/>
        </p:nvSpPr>
        <p:spPr>
          <a:xfrm>
            <a:off x="621792" y="3172968"/>
            <a:ext cx="2331720" cy="530352"/>
          </a:xfrm>
          <a:prstGeom prst="rect">
            <a:avLst/>
          </a:prstGeom>
          <a:noFill/>
          <a:ln/>
        </p:spPr>
        <p:txBody>
          <a:bodyPr wrap="square" lIns="0" tIns="0" rIns="0" bIns="0" rtlCol="0" anchor="t"/>
          <a:lstStyle/>
          <a:p>
            <a:pPr indent="0" marL="0">
              <a:buNone/>
            </a:pPr>
            <a:r>
              <a:rPr lang="en-US" sz="1200" dirty="0">
                <a:solidFill>
                  <a:schemeClr val="tx1"/>
                </a:solidFill>
              </a:rPr>
              <a:t>Scopo ed elementi da includere</a:t>
            </a:r>
            <a:endParaRPr lang="en-US" sz="1200" dirty="0"/>
          </a:p>
        </p:txBody>
      </p:sp>
      <p:sp>
        <p:nvSpPr>
          <p:cNvPr id="39" name="freccia"/>
          <p:cNvSpPr/>
          <p:nvPr/>
        </p:nvSpPr>
        <p:spPr>
          <a:xfrm>
            <a:off x="3090672" y="3127248"/>
            <a:ext cx="155448" cy="292608"/>
          </a:xfrm>
          <a:prstGeom prst="rightArrow">
            <a:avLst/>
          </a:prstGeom>
          <a:solidFill>
            <a:schemeClr val="accent2"/>
          </a:solidFill>
          <a:ln/>
        </p:spPr>
      </p:sp>
      <p:sp>
        <p:nvSpPr>
          <p:cNvPr id="40" name="Durante"/>
          <p:cNvSpPr/>
          <p:nvPr/>
        </p:nvSpPr>
        <p:spPr>
          <a:xfrm>
            <a:off x="3264408" y="2788920"/>
            <a:ext cx="2615184" cy="960120"/>
          </a:xfrm>
          <a:prstGeom prst="roundRect">
            <a:avLst>
              <a:gd name="adj" fmla="val 7619"/>
            </a:avLst>
          </a:prstGeom>
          <a:solidFill>
            <a:schemeClr val="bg2"/>
          </a:solidFill>
          <a:ln/>
        </p:spPr>
      </p:sp>
      <p:sp>
        <p:nvSpPr>
          <p:cNvPr id="41" name="Text 38"/>
          <p:cNvSpPr txBox="1"/>
          <p:nvPr/>
        </p:nvSpPr>
        <p:spPr>
          <a:xfrm>
            <a:off x="3429000" y="2834640"/>
            <a:ext cx="2286000" cy="329184"/>
          </a:xfrm>
          <a:prstGeom prst="rect">
            <a:avLst/>
          </a:prstGeom>
          <a:noFill/>
          <a:ln/>
        </p:spPr>
        <p:txBody>
          <a:bodyPr wrap="square" lIns="0" tIns="0" rIns="0" bIns="0" rtlCol="0" anchor="t"/>
          <a:lstStyle/>
          <a:p>
            <a:pPr indent="0" marL="0">
              <a:buNone/>
            </a:pPr>
            <a:r>
              <a:rPr lang="en-US" sz="1500" b="1" dirty="0">
                <a:solidFill>
                  <a:schemeClr val="accent1"/>
                </a:solidFill>
              </a:rPr>
              <a:t>Durante</a:t>
            </a:r>
            <a:endParaRPr lang="en-US" sz="1500" dirty="0"/>
          </a:p>
        </p:txBody>
      </p:sp>
      <p:sp>
        <p:nvSpPr>
          <p:cNvPr id="42" name="Text 39"/>
          <p:cNvSpPr txBox="1"/>
          <p:nvPr/>
        </p:nvSpPr>
        <p:spPr>
          <a:xfrm>
            <a:off x="3429000" y="3172968"/>
            <a:ext cx="2331720" cy="530352"/>
          </a:xfrm>
          <a:prstGeom prst="rect">
            <a:avLst/>
          </a:prstGeom>
          <a:noFill/>
          <a:ln/>
        </p:spPr>
        <p:txBody>
          <a:bodyPr wrap="square" lIns="0" tIns="0" rIns="0" bIns="0" rtlCol="0" anchor="t"/>
          <a:lstStyle/>
          <a:p>
            <a:pPr indent="0" marL="0">
              <a:buNone/>
            </a:pPr>
            <a:r>
              <a:rPr lang="en-US" sz="1200" dirty="0">
                <a:solidFill>
                  <a:schemeClr val="tx1"/>
                </a:solidFill>
              </a:rPr>
              <a:t>Riferimenti ed elenco di condizioni ed eccezioni</a:t>
            </a:r>
            <a:endParaRPr lang="en-US" sz="1200" dirty="0"/>
          </a:p>
        </p:txBody>
      </p:sp>
      <p:sp>
        <p:nvSpPr>
          <p:cNvPr id="43" name="freccia"/>
          <p:cNvSpPr/>
          <p:nvPr/>
        </p:nvSpPr>
        <p:spPr>
          <a:xfrm>
            <a:off x="5897880" y="3127248"/>
            <a:ext cx="155448" cy="292608"/>
          </a:xfrm>
          <a:prstGeom prst="rightArrow">
            <a:avLst/>
          </a:prstGeom>
          <a:solidFill>
            <a:schemeClr val="accent2"/>
          </a:solidFill>
          <a:ln/>
        </p:spPr>
      </p:sp>
      <p:sp>
        <p:nvSpPr>
          <p:cNvPr id="44" name="Dopo"/>
          <p:cNvSpPr/>
          <p:nvPr/>
        </p:nvSpPr>
        <p:spPr>
          <a:xfrm>
            <a:off x="6071616" y="2788920"/>
            <a:ext cx="2615184" cy="960120"/>
          </a:xfrm>
          <a:prstGeom prst="roundRect">
            <a:avLst>
              <a:gd name="adj" fmla="val 7619"/>
            </a:avLst>
          </a:prstGeom>
          <a:solidFill>
            <a:schemeClr val="bg2"/>
          </a:solidFill>
          <a:ln/>
        </p:spPr>
      </p:sp>
      <p:sp>
        <p:nvSpPr>
          <p:cNvPr id="45" name="Text 42"/>
          <p:cNvSpPr txBox="1"/>
          <p:nvPr/>
        </p:nvSpPr>
        <p:spPr>
          <a:xfrm>
            <a:off x="6236208" y="2834640"/>
            <a:ext cx="2286000" cy="329184"/>
          </a:xfrm>
          <a:prstGeom prst="rect">
            <a:avLst/>
          </a:prstGeom>
          <a:noFill/>
          <a:ln/>
        </p:spPr>
        <p:txBody>
          <a:bodyPr wrap="square" lIns="0" tIns="0" rIns="0" bIns="0" rtlCol="0" anchor="t"/>
          <a:lstStyle/>
          <a:p>
            <a:pPr indent="0" marL="0">
              <a:buNone/>
            </a:pPr>
            <a:r>
              <a:rPr lang="en-US" sz="1500" b="1" dirty="0">
                <a:solidFill>
                  <a:schemeClr val="accent1"/>
                </a:solidFill>
              </a:rPr>
              <a:t>Dopo</a:t>
            </a:r>
            <a:endParaRPr lang="en-US" sz="1500" dirty="0"/>
          </a:p>
        </p:txBody>
      </p:sp>
      <p:sp>
        <p:nvSpPr>
          <p:cNvPr id="46" name="Text 43"/>
          <p:cNvSpPr txBox="1"/>
          <p:nvPr/>
        </p:nvSpPr>
        <p:spPr>
          <a:xfrm>
            <a:off x="6236208" y="3172968"/>
            <a:ext cx="2331720" cy="530352"/>
          </a:xfrm>
          <a:prstGeom prst="rect">
            <a:avLst/>
          </a:prstGeom>
          <a:noFill/>
          <a:ln/>
        </p:spPr>
        <p:txBody>
          <a:bodyPr wrap="square" lIns="0" tIns="0" rIns="0" bIns="0" rtlCol="0" anchor="t"/>
          <a:lstStyle/>
          <a:p>
            <a:pPr indent="0" marL="0">
              <a:buNone/>
            </a:pPr>
            <a:r>
              <a:rPr lang="en-US" sz="1200" dirty="0">
                <a:solidFill>
                  <a:schemeClr val="tx1"/>
                </a:solidFill>
              </a:rPr>
              <a:t>Punti critici verificati sul documento</a:t>
            </a:r>
            <a:endParaRPr lang="en-US" sz="1200" dirty="0"/>
          </a:p>
        </p:txBody>
      </p:sp>
      <p:sp>
        <p:nvSpPr>
          <p:cNvPr id="47" name="messaggio"/>
          <p:cNvSpPr/>
          <p:nvPr/>
        </p:nvSpPr>
        <p:spPr>
          <a:xfrm>
            <a:off x="457200" y="3931920"/>
            <a:ext cx="8229600" cy="594360"/>
          </a:xfrm>
          <a:prstGeom prst="roundRect">
            <a:avLst>
              <a:gd name="adj" fmla="val 12308"/>
            </a:avLst>
          </a:prstGeom>
          <a:solidFill>
            <a:schemeClr val="tx1"/>
          </a:solidFill>
          <a:ln/>
        </p:spPr>
      </p:sp>
      <p:sp>
        <p:nvSpPr>
          <p:cNvPr id="48" name="Text 45"/>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È più facile controllare un elenco mirato che cercare le perdite in una sintesi scorrevole.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Lavorare su documenti complessi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651760"/>
                <a:gridCol w="5577840"/>
              </a:tblGrid>
              <a:tr h="429768">
                <a:tc>
                  <a:txBody>
                    <a:bodyPr/>
                    <a:lstStyle/>
                    <a:p>
                      <a:pPr indent="0" marL="0">
                        <a:buNone/>
                      </a:pPr>
                      <a:r>
                        <a:rPr lang="en-US" sz="1200" b="1" dirty="0">
                          <a:solidFill>
                            <a:schemeClr val="bg1"/>
                          </a:solidFill>
                        </a:rPr>
                        <a:t>Situazione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Come ottenere risultati migliori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29768">
                <a:tc>
                  <a:txBody>
                    <a:bodyPr/>
                    <a:lstStyle/>
                    <a:p>
                      <a:pPr indent="0" marL="0">
                        <a:buNone/>
                      </a:pPr>
                      <a:r>
                        <a:rPr lang="en-US" sz="1200" b="1" dirty="0">
                          <a:solidFill>
                            <a:schemeClr val="tx1"/>
                          </a:solidFill>
                        </a:rPr>
                        <a:t>Documenti molto lunghi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Sintesi per sezioni, domande mirate anche sulle parti centrali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200" b="1" dirty="0">
                          <a:solidFill>
                            <a:schemeClr val="tx1"/>
                          </a:solidFill>
                        </a:rPr>
                        <a:t>Rimandi e allegati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Chiedere di collegare articoli e allegati citati, indicandoli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200" b="1" dirty="0">
                          <a:solidFill>
                            <a:schemeClr val="tx1"/>
                          </a:solidFill>
                        </a:rPr>
                        <a:t>Tabelle e impaginazioni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Chiedere i valori riga per riga, controllarne alcuni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200" b="1" dirty="0">
                          <a:solidFill>
                            <a:schemeClr val="tx1"/>
                          </a:solidFill>
                        </a:rPr>
                        <a:t>Linguaggio specialistico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Fornire un glossario, far rivedere a chi conosce la materia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200" b="1" dirty="0">
                          <a:solidFill>
                            <a:schemeClr val="tx1"/>
                          </a:solidFill>
                        </a:rPr>
                        <a:t>Più documenti insieme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Chiedere di indicare sempre il documento di provenienza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794760"/>
            <a:ext cx="8229600" cy="731520"/>
          </a:xfrm>
          <a:prstGeom prst="roundRect">
            <a:avLst>
              <a:gd name="adj" fmla="val 10000"/>
            </a:avLst>
          </a:prstGeom>
          <a:solidFill>
            <a:schemeClr val="tx1"/>
          </a:solidFill>
          <a:ln/>
        </p:spPr>
      </p:sp>
      <p:sp>
        <p:nvSpPr>
          <p:cNvPr id="14" name="Text 10"/>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dirty="0">
                <a:solidFill>
                  <a:schemeClr val="bg1"/>
                </a:solidFill>
              </a:rPr>
              <a:t>Le capacità variano per modello, strumento, formato e lunghezza: queste tecniche aiutano con la maggior parte degli strumenti.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Una sintesi utile deve rappresentare fedelmente gli elementi essenziali e consentire controlli sui contenuti originali quando richiesto dall'utilizzo previsto.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8.3  ·  Sintesi e analisi documentale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Estrazione e strutturazione delle informazioni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trasforma testi non strutturati in dati organizzati e utilizzabili; prima dell'impiego operativo, i dati vanno controllati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Sintetizzare o estrarre?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Sintesi: un testo da leggere"/>
          <p:cNvSpPr/>
          <p:nvPr/>
        </p:nvSpPr>
        <p:spPr>
          <a:xfrm>
            <a:off x="457200" y="1051560"/>
            <a:ext cx="3977640" cy="1463040"/>
          </a:xfrm>
          <a:prstGeom prst="roundRect">
            <a:avLst>
              <a:gd name="adj" fmla="val 5000"/>
            </a:avLst>
          </a:prstGeom>
          <a:solidFill>
            <a:schemeClr val="bg2"/>
          </a:solidFill>
          <a:ln/>
        </p:spPr>
      </p:sp>
      <p:sp>
        <p:nvSpPr>
          <p:cNvPr id="13" name="cerchio FiAlignLeft"/>
          <p:cNvSpPr/>
          <p:nvPr/>
        </p:nvSpPr>
        <p:spPr>
          <a:xfrm>
            <a:off x="640080" y="1234440"/>
            <a:ext cx="457200" cy="457200"/>
          </a:xfrm>
          <a:prstGeom prst="ellipse">
            <a:avLst/>
          </a:prstGeom>
          <a:solidFill>
            <a:schemeClr val="accent1"/>
          </a:solidFill>
          <a:ln/>
        </p:spPr>
      </p:sp>
      <p:pic>
        <p:nvPicPr>
          <p:cNvPr id="14" name="Image 0" descr="FiAlignLeft">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1234440" y="123444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Sintesi: un testo da leggere</a:t>
            </a:r>
            <a:endParaRPr lang="en-US" sz="1400" dirty="0"/>
          </a:p>
        </p:txBody>
      </p:sp>
      <p:sp>
        <p:nvSpPr>
          <p:cNvPr id="16" name="Text 12"/>
          <p:cNvSpPr txBox="1"/>
          <p:nvPr/>
        </p:nvSpPr>
        <p:spPr>
          <a:xfrm>
            <a:off x="640080" y="1828800"/>
            <a:ext cx="3611880" cy="576072"/>
          </a:xfrm>
          <a:prstGeom prst="rect">
            <a:avLst/>
          </a:prstGeom>
          <a:noFill/>
          <a:ln/>
        </p:spPr>
        <p:txBody>
          <a:bodyPr wrap="square" lIns="0" tIns="0" rIns="0" bIns="0" rtlCol="0" anchor="t"/>
          <a:lstStyle/>
          <a:p>
            <a:pPr indent="0" marL="0">
              <a:buNone/>
            </a:pPr>
            <a:r>
              <a:rPr lang="en-US" sz="1200" dirty="0">
                <a:solidFill>
                  <a:schemeClr val="tx2"/>
                </a:solidFill>
              </a:rPr>
              <a:t>Interpreta e seleziona. Si controlla la fedeltà complessiva.</a:t>
            </a:r>
            <a:endParaRPr lang="en-US" sz="1200" dirty="0"/>
          </a:p>
        </p:txBody>
      </p:sp>
      <p:sp>
        <p:nvSpPr>
          <p:cNvPr id="17" name="scheda Estrazione: dati da usare"/>
          <p:cNvSpPr/>
          <p:nvPr/>
        </p:nvSpPr>
        <p:spPr>
          <a:xfrm>
            <a:off x="4709160" y="1051560"/>
            <a:ext cx="3977640" cy="1463040"/>
          </a:xfrm>
          <a:prstGeom prst="roundRect">
            <a:avLst>
              <a:gd name="adj" fmla="val 5000"/>
            </a:avLst>
          </a:prstGeom>
          <a:solidFill>
            <a:schemeClr val="accent6"/>
          </a:solidFill>
          <a:ln/>
        </p:spPr>
      </p:sp>
      <p:sp>
        <p:nvSpPr>
          <p:cNvPr id="18" name="cerchio FiGrid"/>
          <p:cNvSpPr/>
          <p:nvPr/>
        </p:nvSpPr>
        <p:spPr>
          <a:xfrm>
            <a:off x="4892040" y="1234440"/>
            <a:ext cx="457200" cy="457200"/>
          </a:xfrm>
          <a:prstGeom prst="ellipse">
            <a:avLst/>
          </a:prstGeom>
          <a:solidFill>
            <a:schemeClr val="accent1"/>
          </a:solidFill>
          <a:ln/>
        </p:spPr>
      </p:sp>
      <p:pic>
        <p:nvPicPr>
          <p:cNvPr id="19" name="Image 1" descr="FiGrid">    </p:cNvPr>
          <p:cNvPicPr>
            <a:picLocks noChangeAspect="1"/>
          </p:cNvPicPr>
          <p:nvPr/>
        </p:nvPicPr>
        <p:blipFill>
          <a:blip r:embed="rId2"/>
          <a:stretch>
            <a:fillRect/>
          </a:stretch>
        </p:blipFill>
        <p:spPr>
          <a:xfrm>
            <a:off x="5006340" y="1348740"/>
            <a:ext cx="228600" cy="228600"/>
          </a:xfrm>
          <a:prstGeom prst="rect">
            <a:avLst/>
          </a:prstGeom>
        </p:spPr>
      </p:pic>
      <p:sp>
        <p:nvSpPr>
          <p:cNvPr id="20" name="Text 15"/>
          <p:cNvSpPr txBox="1"/>
          <p:nvPr/>
        </p:nvSpPr>
        <p:spPr>
          <a:xfrm>
            <a:off x="5486400" y="123444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Estrazione: dati da usare</a:t>
            </a:r>
            <a:endParaRPr lang="en-US" sz="1400" dirty="0"/>
          </a:p>
        </p:txBody>
      </p:sp>
      <p:sp>
        <p:nvSpPr>
          <p:cNvPr id="21" name="Text 16"/>
          <p:cNvSpPr txBox="1"/>
          <p:nvPr/>
        </p:nvSpPr>
        <p:spPr>
          <a:xfrm>
            <a:off x="4892040" y="1828800"/>
            <a:ext cx="3611880" cy="576072"/>
          </a:xfrm>
          <a:prstGeom prst="rect">
            <a:avLst/>
          </a:prstGeom>
          <a:noFill/>
          <a:ln/>
        </p:spPr>
        <p:txBody>
          <a:bodyPr wrap="square" lIns="0" tIns="0" rIns="0" bIns="0" rtlCol="0" anchor="t"/>
          <a:lstStyle/>
          <a:p>
            <a:pPr indent="0" marL="0">
              <a:buNone/>
            </a:pPr>
            <a:r>
              <a:rPr lang="en-US" sz="1200" dirty="0">
                <a:solidFill>
                  <a:schemeClr val="tx2"/>
                </a:solidFill>
              </a:rPr>
              <a:t>Campi definiti, pronti per tabelle e gestionali. Si controlla campo per campo.</a:t>
            </a:r>
            <a:endParaRPr lang="en-US" sz="1200" dirty="0"/>
          </a:p>
        </p:txBody>
      </p:sp>
      <p:sp>
        <p:nvSpPr>
          <p:cNvPr id="22" name="Text 17"/>
          <p:cNvSpPr txBox="1"/>
          <p:nvPr/>
        </p:nvSpPr>
        <p:spPr>
          <a:xfrm>
            <a:off x="457200" y="2670048"/>
            <a:ext cx="8229600" cy="292608"/>
          </a:xfrm>
          <a:prstGeom prst="rect">
            <a:avLst/>
          </a:prstGeom>
          <a:noFill/>
          <a:ln/>
        </p:spPr>
        <p:txBody>
          <a:bodyPr wrap="square" lIns="0" tIns="0" rIns="0" bIns="0" rtlCol="0" anchor="t"/>
          <a:lstStyle/>
          <a:p>
            <a:pPr indent="0" marL="0">
              <a:buNone/>
            </a:pPr>
            <a:r>
              <a:rPr lang="en-US" sz="1300" b="1" dirty="0">
                <a:solidFill>
                  <a:schemeClr val="tx1"/>
                </a:solidFill>
              </a:rPr>
              <a:t>Che cosa si può estrarre</a:t>
            </a:r>
            <a:endParaRPr lang="en-US" sz="1300" dirty="0"/>
          </a:p>
        </p:txBody>
      </p:sp>
      <p:sp>
        <p:nvSpPr>
          <p:cNvPr id="23" name="blocco Nomi e codici"/>
          <p:cNvSpPr/>
          <p:nvPr/>
        </p:nvSpPr>
        <p:spPr>
          <a:xfrm>
            <a:off x="457200" y="3017520"/>
            <a:ext cx="1307592" cy="457200"/>
          </a:xfrm>
          <a:prstGeom prst="roundRect">
            <a:avLst>
              <a:gd name="adj" fmla="val 24000"/>
            </a:avLst>
          </a:prstGeom>
          <a:solidFill>
            <a:schemeClr val="bg2"/>
          </a:solidFill>
          <a:ln/>
        </p:spPr>
      </p:sp>
      <p:sp>
        <p:nvSpPr>
          <p:cNvPr id="24" name="Text 19"/>
          <p:cNvSpPr txBox="1"/>
          <p:nvPr/>
        </p:nvSpPr>
        <p:spPr>
          <a:xfrm>
            <a:off x="502920" y="3017520"/>
            <a:ext cx="1216152" cy="457200"/>
          </a:xfrm>
          <a:prstGeom prst="rect">
            <a:avLst/>
          </a:prstGeom>
          <a:noFill/>
          <a:ln/>
        </p:spPr>
        <p:txBody>
          <a:bodyPr wrap="square" lIns="0" tIns="0" rIns="0" bIns="0" rtlCol="0" anchor="ctr"/>
          <a:lstStyle/>
          <a:p>
            <a:pPr algn="ctr" indent="0" marL="0">
              <a:buNone/>
            </a:pPr>
            <a:r>
              <a:rPr lang="en-US" sz="1100" b="1" dirty="0">
                <a:solidFill>
                  <a:schemeClr val="tx1"/>
                </a:solidFill>
              </a:rPr>
              <a:t>Nomi e codici</a:t>
            </a:r>
            <a:endParaRPr lang="en-US" sz="1100" dirty="0"/>
          </a:p>
        </p:txBody>
      </p:sp>
      <p:sp>
        <p:nvSpPr>
          <p:cNvPr id="25" name="blocco Date e scadenze"/>
          <p:cNvSpPr/>
          <p:nvPr/>
        </p:nvSpPr>
        <p:spPr>
          <a:xfrm>
            <a:off x="1847088" y="3017520"/>
            <a:ext cx="1307592" cy="457200"/>
          </a:xfrm>
          <a:prstGeom prst="roundRect">
            <a:avLst>
              <a:gd name="adj" fmla="val 24000"/>
            </a:avLst>
          </a:prstGeom>
          <a:solidFill>
            <a:schemeClr val="bg2"/>
          </a:solidFill>
          <a:ln/>
        </p:spPr>
      </p:sp>
      <p:sp>
        <p:nvSpPr>
          <p:cNvPr id="26" name="Text 21"/>
          <p:cNvSpPr txBox="1"/>
          <p:nvPr/>
        </p:nvSpPr>
        <p:spPr>
          <a:xfrm>
            <a:off x="1892808" y="3017520"/>
            <a:ext cx="1216152" cy="457200"/>
          </a:xfrm>
          <a:prstGeom prst="rect">
            <a:avLst/>
          </a:prstGeom>
          <a:noFill/>
          <a:ln/>
        </p:spPr>
        <p:txBody>
          <a:bodyPr wrap="square" lIns="0" tIns="0" rIns="0" bIns="0" rtlCol="0" anchor="ctr"/>
          <a:lstStyle/>
          <a:p>
            <a:pPr algn="ctr" indent="0" marL="0">
              <a:buNone/>
            </a:pPr>
            <a:r>
              <a:rPr lang="en-US" sz="1100" b="1" dirty="0">
                <a:solidFill>
                  <a:schemeClr val="tx1"/>
                </a:solidFill>
              </a:rPr>
              <a:t>Date e scadenze</a:t>
            </a:r>
            <a:endParaRPr lang="en-US" sz="1100" dirty="0"/>
          </a:p>
        </p:txBody>
      </p:sp>
      <p:sp>
        <p:nvSpPr>
          <p:cNvPr id="27" name="blocco Importi e quantità"/>
          <p:cNvSpPr/>
          <p:nvPr/>
        </p:nvSpPr>
        <p:spPr>
          <a:xfrm>
            <a:off x="3236976" y="3017520"/>
            <a:ext cx="1307592" cy="457200"/>
          </a:xfrm>
          <a:prstGeom prst="roundRect">
            <a:avLst>
              <a:gd name="adj" fmla="val 24000"/>
            </a:avLst>
          </a:prstGeom>
          <a:solidFill>
            <a:schemeClr val="bg2"/>
          </a:solidFill>
          <a:ln/>
        </p:spPr>
      </p:sp>
      <p:sp>
        <p:nvSpPr>
          <p:cNvPr id="28" name="Text 23"/>
          <p:cNvSpPr txBox="1"/>
          <p:nvPr/>
        </p:nvSpPr>
        <p:spPr>
          <a:xfrm>
            <a:off x="3282696" y="3017520"/>
            <a:ext cx="1216152" cy="457200"/>
          </a:xfrm>
          <a:prstGeom prst="rect">
            <a:avLst/>
          </a:prstGeom>
          <a:noFill/>
          <a:ln/>
        </p:spPr>
        <p:txBody>
          <a:bodyPr wrap="square" lIns="0" tIns="0" rIns="0" bIns="0" rtlCol="0" anchor="ctr"/>
          <a:lstStyle/>
          <a:p>
            <a:pPr algn="ctr" indent="0" marL="0">
              <a:buNone/>
            </a:pPr>
            <a:r>
              <a:rPr lang="en-US" sz="1100" b="1" dirty="0">
                <a:solidFill>
                  <a:schemeClr val="tx1"/>
                </a:solidFill>
              </a:rPr>
              <a:t>Importi e quantità</a:t>
            </a:r>
            <a:endParaRPr lang="en-US" sz="1100" dirty="0"/>
          </a:p>
        </p:txBody>
      </p:sp>
      <p:sp>
        <p:nvSpPr>
          <p:cNvPr id="29" name="blocco Riferimenti"/>
          <p:cNvSpPr/>
          <p:nvPr/>
        </p:nvSpPr>
        <p:spPr>
          <a:xfrm>
            <a:off x="4626864" y="3017520"/>
            <a:ext cx="1307592" cy="457200"/>
          </a:xfrm>
          <a:prstGeom prst="roundRect">
            <a:avLst>
              <a:gd name="adj" fmla="val 24000"/>
            </a:avLst>
          </a:prstGeom>
          <a:solidFill>
            <a:schemeClr val="bg2"/>
          </a:solidFill>
          <a:ln/>
        </p:spPr>
      </p:sp>
      <p:sp>
        <p:nvSpPr>
          <p:cNvPr id="30" name="Text 25"/>
          <p:cNvSpPr txBox="1"/>
          <p:nvPr/>
        </p:nvSpPr>
        <p:spPr>
          <a:xfrm>
            <a:off x="4672584" y="3017520"/>
            <a:ext cx="1216152" cy="457200"/>
          </a:xfrm>
          <a:prstGeom prst="rect">
            <a:avLst/>
          </a:prstGeom>
          <a:noFill/>
          <a:ln/>
        </p:spPr>
        <p:txBody>
          <a:bodyPr wrap="square" lIns="0" tIns="0" rIns="0" bIns="0" rtlCol="0" anchor="ctr"/>
          <a:lstStyle/>
          <a:p>
            <a:pPr algn="ctr" indent="0" marL="0">
              <a:buNone/>
            </a:pPr>
            <a:r>
              <a:rPr lang="en-US" sz="1100" b="1" dirty="0">
                <a:solidFill>
                  <a:schemeClr val="tx1"/>
                </a:solidFill>
              </a:rPr>
              <a:t>Riferimenti</a:t>
            </a:r>
            <a:endParaRPr lang="en-US" sz="1100" dirty="0"/>
          </a:p>
        </p:txBody>
      </p:sp>
      <p:sp>
        <p:nvSpPr>
          <p:cNvPr id="31" name="blocco Classificazioni"/>
          <p:cNvSpPr/>
          <p:nvPr/>
        </p:nvSpPr>
        <p:spPr>
          <a:xfrm>
            <a:off x="6016752" y="3017520"/>
            <a:ext cx="1307592" cy="457200"/>
          </a:xfrm>
          <a:prstGeom prst="roundRect">
            <a:avLst>
              <a:gd name="adj" fmla="val 24000"/>
            </a:avLst>
          </a:prstGeom>
          <a:solidFill>
            <a:schemeClr val="accent6"/>
          </a:solidFill>
          <a:ln/>
        </p:spPr>
      </p:sp>
      <p:sp>
        <p:nvSpPr>
          <p:cNvPr id="32" name="Text 27"/>
          <p:cNvSpPr txBox="1"/>
          <p:nvPr/>
        </p:nvSpPr>
        <p:spPr>
          <a:xfrm>
            <a:off x="6062472" y="3017520"/>
            <a:ext cx="1216152" cy="457200"/>
          </a:xfrm>
          <a:prstGeom prst="rect">
            <a:avLst/>
          </a:prstGeom>
          <a:noFill/>
          <a:ln/>
        </p:spPr>
        <p:txBody>
          <a:bodyPr wrap="square" lIns="0" tIns="0" rIns="0" bIns="0" rtlCol="0" anchor="ctr"/>
          <a:lstStyle/>
          <a:p>
            <a:pPr algn="ctr" indent="0" marL="0">
              <a:buNone/>
            </a:pPr>
            <a:r>
              <a:rPr lang="en-US" sz="1100" b="1" dirty="0">
                <a:solidFill>
                  <a:schemeClr val="tx1"/>
                </a:solidFill>
              </a:rPr>
              <a:t>Classificazioni</a:t>
            </a:r>
            <a:endParaRPr lang="en-US" sz="1100" dirty="0"/>
          </a:p>
        </p:txBody>
      </p:sp>
      <p:sp>
        <p:nvSpPr>
          <p:cNvPr id="33" name="blocco Ricorrenze"/>
          <p:cNvSpPr/>
          <p:nvPr/>
        </p:nvSpPr>
        <p:spPr>
          <a:xfrm>
            <a:off x="7406640" y="3017520"/>
            <a:ext cx="1307592" cy="457200"/>
          </a:xfrm>
          <a:prstGeom prst="roundRect">
            <a:avLst>
              <a:gd name="adj" fmla="val 24000"/>
            </a:avLst>
          </a:prstGeom>
          <a:solidFill>
            <a:schemeClr val="accent6"/>
          </a:solidFill>
          <a:ln/>
        </p:spPr>
      </p:sp>
      <p:sp>
        <p:nvSpPr>
          <p:cNvPr id="34" name="Text 29"/>
          <p:cNvSpPr txBox="1"/>
          <p:nvPr/>
        </p:nvSpPr>
        <p:spPr>
          <a:xfrm>
            <a:off x="7452360" y="3017520"/>
            <a:ext cx="1216152" cy="457200"/>
          </a:xfrm>
          <a:prstGeom prst="rect">
            <a:avLst/>
          </a:prstGeom>
          <a:noFill/>
          <a:ln/>
        </p:spPr>
        <p:txBody>
          <a:bodyPr wrap="square" lIns="0" tIns="0" rIns="0" bIns="0" rtlCol="0" anchor="ctr"/>
          <a:lstStyle/>
          <a:p>
            <a:pPr algn="ctr" indent="0" marL="0">
              <a:buNone/>
            </a:pPr>
            <a:r>
              <a:rPr lang="en-US" sz="1100" b="1" dirty="0">
                <a:solidFill>
                  <a:schemeClr val="tx1"/>
                </a:solidFill>
              </a:rPr>
              <a:t>Ricorrenze</a:t>
            </a:r>
            <a:endParaRPr lang="en-US" sz="1100" dirty="0"/>
          </a:p>
        </p:txBody>
      </p:sp>
      <p:sp>
        <p:nvSpPr>
          <p:cNvPr id="35" name="messaggio"/>
          <p:cNvSpPr/>
          <p:nvPr/>
        </p:nvSpPr>
        <p:spPr>
          <a:xfrm>
            <a:off x="457200" y="3657600"/>
            <a:ext cx="8229600" cy="822960"/>
          </a:xfrm>
          <a:prstGeom prst="roundRect">
            <a:avLst>
              <a:gd name="adj" fmla="val 8889"/>
            </a:avLst>
          </a:prstGeom>
          <a:solidFill>
            <a:schemeClr val="tx1"/>
          </a:solidFill>
          <a:ln/>
        </p:spPr>
      </p:sp>
      <p:sp>
        <p:nvSpPr>
          <p:cNvPr id="36" name="Text 31"/>
          <p:cNvSpPr txBox="1"/>
          <p:nvPr/>
        </p:nvSpPr>
        <p:spPr>
          <a:xfrm>
            <a:off x="640080" y="3657600"/>
            <a:ext cx="7863840" cy="822960"/>
          </a:xfrm>
          <a:prstGeom prst="rect">
            <a:avLst/>
          </a:prstGeom>
          <a:noFill/>
          <a:ln/>
        </p:spPr>
        <p:txBody>
          <a:bodyPr wrap="square" lIns="0" tIns="0" rIns="0" bIns="0" rtlCol="0" anchor="ctr"/>
          <a:lstStyle/>
          <a:p>
            <a:pPr indent="0" marL="0">
              <a:buNone/>
            </a:pPr>
            <a:r>
              <a:rPr lang="en-US" sz="1300" dirty="0">
                <a:solidFill>
                  <a:schemeClr val="bg1"/>
                </a:solidFill>
              </a:rPr>
              <a:t>Informazioni che andavano lette documento per documento diventano dati da ordinare, filtrare, contare e collegare.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 email a dato utilizzabile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documento Email del cliente (esempio fittizio)"/>
          <p:cNvSpPr/>
          <p:nvPr/>
        </p:nvSpPr>
        <p:spPr>
          <a:xfrm>
            <a:off x="457200" y="1051560"/>
            <a:ext cx="3749040" cy="2514600"/>
          </a:xfrm>
          <a:prstGeom prst="roundRect">
            <a:avLst>
              <a:gd name="adj" fmla="val 2909"/>
            </a:avLst>
          </a:prstGeom>
          <a:solidFill>
            <a:schemeClr val="bg2"/>
          </a:solidFill>
          <a:ln/>
        </p:spPr>
      </p:sp>
      <p:sp>
        <p:nvSpPr>
          <p:cNvPr id="13" name="barra"/>
          <p:cNvSpPr/>
          <p:nvPr/>
        </p:nvSpPr>
        <p:spPr>
          <a:xfrm>
            <a:off x="457200" y="1161288"/>
            <a:ext cx="54864" cy="2295144"/>
          </a:xfrm>
          <a:prstGeom prst="rect">
            <a:avLst/>
          </a:prstGeom>
          <a:solidFill>
            <a:schemeClr val="accent1"/>
          </a:solidFill>
          <a:ln/>
        </p:spPr>
      </p:sp>
      <p:sp>
        <p:nvSpPr>
          <p:cNvPr id="14" name="Text 11"/>
          <p:cNvSpPr txBox="1"/>
          <p:nvPr/>
        </p:nvSpPr>
        <p:spPr>
          <a:xfrm>
            <a:off x="658368" y="1143000"/>
            <a:ext cx="3383280" cy="256032"/>
          </a:xfrm>
          <a:prstGeom prst="rect">
            <a:avLst/>
          </a:prstGeom>
          <a:noFill/>
          <a:ln/>
        </p:spPr>
        <p:txBody>
          <a:bodyPr wrap="square" lIns="0" tIns="0" rIns="0" bIns="0" rtlCol="0" anchor="t"/>
          <a:lstStyle/>
          <a:p>
            <a:pPr indent="0" marL="0">
              <a:buNone/>
            </a:pPr>
            <a:r>
              <a:rPr lang="en-US" sz="1100" b="1" dirty="0">
                <a:solidFill>
                  <a:schemeClr val="accent1"/>
                </a:solidFill>
              </a:rPr>
              <a:t>Email del cliente (esempio fittizio)</a:t>
            </a:r>
            <a:endParaRPr lang="en-US" sz="1100" dirty="0"/>
          </a:p>
        </p:txBody>
      </p:sp>
      <p:sp>
        <p:nvSpPr>
          <p:cNvPr id="15" name="Text 12"/>
          <p:cNvSpPr txBox="1"/>
          <p:nvPr/>
        </p:nvSpPr>
        <p:spPr>
          <a:xfrm>
            <a:off x="658368" y="1435608"/>
            <a:ext cx="3383280" cy="2039112"/>
          </a:xfrm>
          <a:prstGeom prst="rect">
            <a:avLst/>
          </a:prstGeom>
          <a:noFill/>
          <a:ln/>
        </p:spPr>
        <p:txBody>
          <a:bodyPr wrap="square" lIns="0" tIns="0" rIns="0" bIns="0" rtlCol="0" anchor="t"/>
          <a:lstStyle/>
          <a:p>
            <a:pPr indent="0" marL="0">
              <a:buNone/>
            </a:pPr>
            <a:r>
              <a:rPr lang="en-US" sz="1200" dirty="0">
                <a:solidFill>
                  <a:schemeClr val="tx1"/>
                </a:solidFill>
              </a:rPr>
              <a:t>Buongiorno, vi scrivo per l'ordine 4471 del 12 marzo. Le sedie modello Alfa sono arrivate, ma due su dieci hanno la seduta danneggiata. Avremmo bisogno della sostituzione entro fine mese, perché abbiamo un evento. Grazie, M. Rossi, Studio Bianchi</a:t>
            </a:r>
            <a:endParaRPr lang="en-US" sz="1200" dirty="0"/>
          </a:p>
        </p:txBody>
      </p:sp>
      <p:sp>
        <p:nvSpPr>
          <p:cNvPr id="16" name="freccia"/>
          <p:cNvSpPr/>
          <p:nvPr/>
        </p:nvSpPr>
        <p:spPr>
          <a:xfrm>
            <a:off x="4297680" y="2148840"/>
            <a:ext cx="365760" cy="292608"/>
          </a:xfrm>
          <a:prstGeom prst="rightArrow">
            <a:avLst/>
          </a:prstGeom>
          <a:solidFill>
            <a:schemeClr val="accent2"/>
          </a:solidFill>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754880" y="1051560"/>
          <a:ext cx="3931920" cy="914400"/>
        </p:xfrm>
        <a:graphic>
          <a:graphicData uri="http://schemas.openxmlformats.org/drawingml/2006/table">
            <a:tbl>
              <a:tblPr/>
              <a:tblGrid>
                <a:gridCol w="1463040"/>
                <a:gridCol w="2468880"/>
              </a:tblGrid>
              <a:tr h="356616">
                <a:tc>
                  <a:txBody>
                    <a:bodyPr/>
                    <a:lstStyle/>
                    <a:p>
                      <a:pPr indent="0" marL="0">
                        <a:buNone/>
                      </a:pPr>
                      <a:r>
                        <a:rPr lang="en-US" sz="1200" b="1" dirty="0">
                          <a:solidFill>
                            <a:schemeClr val="bg1"/>
                          </a:solidFill>
                        </a:rPr>
                        <a:t>Campo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Valore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56616">
                <a:tc>
                  <a:txBody>
                    <a:bodyPr/>
                    <a:lstStyle/>
                    <a:p>
                      <a:pPr indent="0" marL="0">
                        <a:buNone/>
                      </a:pPr>
                      <a:r>
                        <a:rPr lang="en-US" sz="1200" b="1" dirty="0">
                          <a:solidFill>
                            <a:schemeClr val="tx1"/>
                          </a:solidFill>
                        </a:rPr>
                        <a:t>Cliente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Studio Bianchi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56616">
                <a:tc>
                  <a:txBody>
                    <a:bodyPr/>
                    <a:lstStyle/>
                    <a:p>
                      <a:pPr indent="0" marL="0">
                        <a:buNone/>
                      </a:pPr>
                      <a:r>
                        <a:rPr lang="en-US" sz="1200" b="1" dirty="0">
                          <a:solidFill>
                            <a:schemeClr val="tx1"/>
                          </a:solidFill>
                        </a:rPr>
                        <a:t>Ordine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4471</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56616">
                <a:tc>
                  <a:txBody>
                    <a:bodyPr/>
                    <a:lstStyle/>
                    <a:p>
                      <a:pPr indent="0" marL="0">
                        <a:buNone/>
                      </a:pPr>
                      <a:r>
                        <a:rPr lang="en-US" sz="1200" b="1" dirty="0">
                          <a:solidFill>
                            <a:schemeClr val="tx1"/>
                          </a:solidFill>
                        </a:rPr>
                        <a:t>Tipo richiesta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Sostituzione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56616">
                <a:tc>
                  <a:txBody>
                    <a:bodyPr/>
                    <a:lstStyle/>
                    <a:p>
                      <a:pPr indent="0" marL="0">
                        <a:buNone/>
                      </a:pPr>
                      <a:r>
                        <a:rPr lang="en-US" sz="1200" b="1" dirty="0">
                          <a:solidFill>
                            <a:schemeClr val="tx1"/>
                          </a:solidFill>
                        </a:rPr>
                        <a:t>Prodotto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Sedia Alfa, 2 pezzi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56616">
                <a:tc>
                  <a:txBody>
                    <a:bodyPr/>
                    <a:lstStyle/>
                    <a:p>
                      <a:pPr indent="0" marL="0">
                        <a:buNone/>
                      </a:pPr>
                      <a:r>
                        <a:rPr lang="en-US" sz="1200" b="1" dirty="0">
                          <a:solidFill>
                            <a:schemeClr val="tx1"/>
                          </a:solidFill>
                        </a:rPr>
                        <a:t>Scadenza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Fine mese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56616">
                <a:tc>
                  <a:txBody>
                    <a:bodyPr/>
                    <a:lstStyle/>
                    <a:p>
                      <a:pPr indent="0" marL="0">
                        <a:buNone/>
                      </a:pPr>
                      <a:r>
                        <a:rPr lang="en-US" sz="1200" b="1" dirty="0">
                          <a:solidFill>
                            <a:schemeClr val="tx1"/>
                          </a:solidFill>
                        </a:rPr>
                        <a:t>Urgenza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8" name="prompt"/>
          <p:cNvSpPr/>
          <p:nvPr/>
        </p:nvSpPr>
        <p:spPr>
          <a:xfrm>
            <a:off x="457200" y="3703320"/>
            <a:ext cx="8229600" cy="822960"/>
          </a:xfrm>
          <a:prstGeom prst="roundRect">
            <a:avLst>
              <a:gd name="adj" fmla="val 8889"/>
            </a:avLst>
          </a:prstGeom>
          <a:solidFill>
            <a:schemeClr val="bg2"/>
          </a:solidFill>
          <a:ln/>
        </p:spPr>
      </p:sp>
      <p:sp>
        <p:nvSpPr>
          <p:cNvPr id="19" name="Text 15"/>
          <p:cNvSpPr txBox="1"/>
          <p:nvPr/>
        </p:nvSpPr>
        <p:spPr>
          <a:xfrm>
            <a:off x="621792" y="3794760"/>
            <a:ext cx="7900416" cy="256032"/>
          </a:xfrm>
          <a:prstGeom prst="rect">
            <a:avLst/>
          </a:prstGeom>
          <a:noFill/>
          <a:ln/>
        </p:spPr>
        <p:txBody>
          <a:bodyPr wrap="square" lIns="0" tIns="0" rIns="0" bIns="0" rtlCol="0" anchor="t"/>
          <a:lstStyle/>
          <a:p>
            <a:pPr indent="0" marL="0">
              <a:buNone/>
            </a:pPr>
            <a:r>
              <a:rPr lang="en-US" sz="1100" b="1" dirty="0">
                <a:solidFill>
                  <a:schemeClr val="accent1"/>
                </a:solidFill>
              </a:rPr>
              <a:t>Esempio di istruzione</a:t>
            </a:r>
            <a:endParaRPr lang="en-US" sz="1100" dirty="0"/>
          </a:p>
        </p:txBody>
      </p:sp>
      <p:sp>
        <p:nvSpPr>
          <p:cNvPr id="20" name="Text 16"/>
          <p:cNvSpPr txBox="1"/>
          <p:nvPr/>
        </p:nvSpPr>
        <p:spPr>
          <a:xfrm>
            <a:off x="621792" y="4069080"/>
            <a:ext cx="7900416" cy="36576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«Estrai cliente, ordine, tipo di richiesta, prodotto, scadenza e urgenza. Se un campo non c'è, scrivi 'non presente'. Indica quali valori hai dedotto.»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Classificare e trovare ricorrenze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Classificare"/>
          <p:cNvSpPr/>
          <p:nvPr/>
        </p:nvSpPr>
        <p:spPr>
          <a:xfrm>
            <a:off x="457200" y="1097280"/>
            <a:ext cx="3977640" cy="1600200"/>
          </a:xfrm>
          <a:prstGeom prst="roundRect">
            <a:avLst>
              <a:gd name="adj" fmla="val 4571"/>
            </a:avLst>
          </a:prstGeom>
          <a:solidFill>
            <a:schemeClr val="bg2"/>
          </a:solidFill>
          <a:ln/>
        </p:spPr>
      </p:sp>
      <p:sp>
        <p:nvSpPr>
          <p:cNvPr id="13" name="cerchio FiTag"/>
          <p:cNvSpPr/>
          <p:nvPr/>
        </p:nvSpPr>
        <p:spPr>
          <a:xfrm>
            <a:off x="640080" y="1280160"/>
            <a:ext cx="457200" cy="457200"/>
          </a:xfrm>
          <a:prstGeom prst="ellipse">
            <a:avLst/>
          </a:prstGeom>
          <a:solidFill>
            <a:schemeClr val="accent1"/>
          </a:solidFill>
          <a:ln/>
        </p:spPr>
      </p:sp>
      <p:pic>
        <p:nvPicPr>
          <p:cNvPr id="14" name="Image 0" descr="FiTag">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1234440" y="128016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Classificare</a:t>
            </a:r>
            <a:endParaRPr lang="en-US" sz="1500" dirty="0"/>
          </a:p>
        </p:txBody>
      </p:sp>
      <p:sp>
        <p:nvSpPr>
          <p:cNvPr id="16" name="Text 12"/>
          <p:cNvSpPr txBox="1"/>
          <p:nvPr/>
        </p:nvSpPr>
        <p:spPr>
          <a:xfrm>
            <a:off x="640080" y="1874520"/>
            <a:ext cx="3611880" cy="713232"/>
          </a:xfrm>
          <a:prstGeom prst="rect">
            <a:avLst/>
          </a:prstGeom>
          <a:noFill/>
          <a:ln/>
        </p:spPr>
        <p:txBody>
          <a:bodyPr wrap="square" lIns="0" tIns="0" rIns="0" bIns="0" rtlCol="0" anchor="t"/>
          <a:lstStyle/>
          <a:p>
            <a:pPr indent="0" marL="0">
              <a:buNone/>
            </a:pPr>
            <a:r>
              <a:rPr lang="en-US" sz="1300" dirty="0">
                <a:solidFill>
                  <a:schemeClr val="tx2"/>
                </a:solidFill>
              </a:rPr>
              <a:t>Smistare email e segnalazioni per tipo, reparto, tema, priorità.</a:t>
            </a:r>
            <a:endParaRPr lang="en-US" sz="1300" dirty="0"/>
          </a:p>
        </p:txBody>
      </p:sp>
      <p:sp>
        <p:nvSpPr>
          <p:cNvPr id="17" name="scheda Trovare ricorrenze"/>
          <p:cNvSpPr/>
          <p:nvPr/>
        </p:nvSpPr>
        <p:spPr>
          <a:xfrm>
            <a:off x="4709160" y="1097280"/>
            <a:ext cx="3977640" cy="1600200"/>
          </a:xfrm>
          <a:prstGeom prst="roundRect">
            <a:avLst>
              <a:gd name="adj" fmla="val 4571"/>
            </a:avLst>
          </a:prstGeom>
          <a:solidFill>
            <a:schemeClr val="accent6"/>
          </a:solidFill>
          <a:ln/>
        </p:spPr>
      </p:sp>
      <p:sp>
        <p:nvSpPr>
          <p:cNvPr id="18" name="cerchio FiRepeat"/>
          <p:cNvSpPr/>
          <p:nvPr/>
        </p:nvSpPr>
        <p:spPr>
          <a:xfrm>
            <a:off x="4892040" y="1280160"/>
            <a:ext cx="457200" cy="457200"/>
          </a:xfrm>
          <a:prstGeom prst="ellipse">
            <a:avLst/>
          </a:prstGeom>
          <a:solidFill>
            <a:schemeClr val="accent1"/>
          </a:solidFill>
          <a:ln/>
        </p:spPr>
      </p:sp>
      <p:pic>
        <p:nvPicPr>
          <p:cNvPr id="19" name="Image 1" descr="FiRepeat">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5486400" y="128016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Trovare ricorrenze</a:t>
            </a:r>
            <a:endParaRPr lang="en-US" sz="1500" dirty="0"/>
          </a:p>
        </p:txBody>
      </p:sp>
      <p:sp>
        <p:nvSpPr>
          <p:cNvPr id="21" name="Text 16"/>
          <p:cNvSpPr txBox="1"/>
          <p:nvPr/>
        </p:nvSpPr>
        <p:spPr>
          <a:xfrm>
            <a:off x="4892040" y="1874520"/>
            <a:ext cx="3611880" cy="713232"/>
          </a:xfrm>
          <a:prstGeom prst="rect">
            <a:avLst/>
          </a:prstGeom>
          <a:noFill/>
          <a:ln/>
        </p:spPr>
        <p:txBody>
          <a:bodyPr wrap="square" lIns="0" tIns="0" rIns="0" bIns="0" rtlCol="0" anchor="t"/>
          <a:lstStyle/>
          <a:p>
            <a:pPr indent="0" marL="0">
              <a:buNone/>
            </a:pPr>
            <a:r>
              <a:rPr lang="en-US" sz="1300" dirty="0">
                <a:solidFill>
                  <a:schemeClr val="tx2"/>
                </a:solidFill>
              </a:rPr>
              <a:t>Vedere gli schemi che si ripetono e sfuggono alla lettura singola.</a:t>
            </a:r>
            <a:endParaRPr lang="en-US" sz="1300" dirty="0"/>
          </a:p>
        </p:txBody>
      </p:sp>
      <p:sp>
        <p:nvSpPr>
          <p:cNvPr id="22" name="Categorie ben definite"/>
          <p:cNvSpPr/>
          <p:nvPr/>
        </p:nvSpPr>
        <p:spPr>
          <a:xfrm>
            <a:off x="457200" y="2880360"/>
            <a:ext cx="8229600" cy="475488"/>
          </a:xfrm>
          <a:prstGeom prst="roundRect">
            <a:avLst>
              <a:gd name="adj" fmla="val 15385"/>
            </a:avLst>
          </a:prstGeom>
          <a:solidFill>
            <a:schemeClr val="bg2"/>
          </a:solidFill>
          <a:ln/>
        </p:spPr>
      </p:sp>
      <p:sp>
        <p:nvSpPr>
          <p:cNvPr id="23" name="Text 18"/>
          <p:cNvSpPr txBox="1"/>
          <p:nvPr/>
        </p:nvSpPr>
        <p:spPr>
          <a:xfrm>
            <a:off x="640080" y="2880360"/>
            <a:ext cx="2377440" cy="475488"/>
          </a:xfrm>
          <a:prstGeom prst="rect">
            <a:avLst/>
          </a:prstGeom>
          <a:noFill/>
          <a:ln/>
        </p:spPr>
        <p:txBody>
          <a:bodyPr wrap="square" lIns="0" tIns="0" rIns="0" bIns="0" rtlCol="0" anchor="ctr"/>
          <a:lstStyle/>
          <a:p>
            <a:pPr indent="0" marL="0">
              <a:buNone/>
            </a:pPr>
            <a:r>
              <a:rPr lang="en-US" sz="1300" b="1" dirty="0">
                <a:solidFill>
                  <a:schemeClr val="accent1"/>
                </a:solidFill>
              </a:rPr>
              <a:t>Categorie ben definite</a:t>
            </a:r>
            <a:endParaRPr lang="en-US" sz="1300" dirty="0"/>
          </a:p>
        </p:txBody>
      </p:sp>
      <p:sp>
        <p:nvSpPr>
          <p:cNvPr id="24" name="Text 19"/>
          <p:cNvSpPr txBox="1"/>
          <p:nvPr/>
        </p:nvSpPr>
        <p:spPr>
          <a:xfrm>
            <a:off x="3017520" y="2880360"/>
            <a:ext cx="5486400" cy="475488"/>
          </a:xfrm>
          <a:prstGeom prst="rect">
            <a:avLst/>
          </a:prstGeom>
          <a:noFill/>
          <a:ln/>
        </p:spPr>
        <p:txBody>
          <a:bodyPr wrap="square" lIns="0" tIns="0" rIns="0" bIns="0" rtlCol="0" anchor="ctr"/>
          <a:lstStyle/>
          <a:p>
            <a:pPr indent="0" marL="0">
              <a:buNone/>
            </a:pPr>
            <a:r>
              <a:rPr lang="en-US" sz="1300" dirty="0">
                <a:solidFill>
                  <a:schemeClr val="tx1"/>
                </a:solidFill>
              </a:rPr>
              <a:t>Definizione ed esempi per ognuna, più 'altro' o 'non classificabile'</a:t>
            </a:r>
            <a:endParaRPr lang="en-US" sz="1300" dirty="0"/>
          </a:p>
        </p:txBody>
      </p:sp>
      <p:sp>
        <p:nvSpPr>
          <p:cNvPr id="25" name="Coerenza"/>
          <p:cNvSpPr/>
          <p:nvPr/>
        </p:nvSpPr>
        <p:spPr>
          <a:xfrm>
            <a:off x="457200" y="3429000"/>
            <a:ext cx="8229600" cy="475488"/>
          </a:xfrm>
          <a:prstGeom prst="roundRect">
            <a:avLst>
              <a:gd name="adj" fmla="val 15385"/>
            </a:avLst>
          </a:prstGeom>
          <a:solidFill>
            <a:schemeClr val="bg1"/>
          </a:solidFill>
          <a:ln/>
        </p:spPr>
      </p:sp>
      <p:sp>
        <p:nvSpPr>
          <p:cNvPr id="26" name="Text 21"/>
          <p:cNvSpPr txBox="1"/>
          <p:nvPr/>
        </p:nvSpPr>
        <p:spPr>
          <a:xfrm>
            <a:off x="640080" y="3429000"/>
            <a:ext cx="2377440" cy="475488"/>
          </a:xfrm>
          <a:prstGeom prst="rect">
            <a:avLst/>
          </a:prstGeom>
          <a:noFill/>
          <a:ln/>
        </p:spPr>
        <p:txBody>
          <a:bodyPr wrap="square" lIns="0" tIns="0" rIns="0" bIns="0" rtlCol="0" anchor="ctr"/>
          <a:lstStyle/>
          <a:p>
            <a:pPr indent="0" marL="0">
              <a:buNone/>
            </a:pPr>
            <a:r>
              <a:rPr lang="en-US" sz="1300" b="1" dirty="0">
                <a:solidFill>
                  <a:schemeClr val="accent1"/>
                </a:solidFill>
              </a:rPr>
              <a:t>Coerenza</a:t>
            </a:r>
            <a:endParaRPr lang="en-US" sz="1300" dirty="0"/>
          </a:p>
        </p:txBody>
      </p:sp>
      <p:sp>
        <p:nvSpPr>
          <p:cNvPr id="27" name="Text 22"/>
          <p:cNvSpPr txBox="1"/>
          <p:nvPr/>
        </p:nvSpPr>
        <p:spPr>
          <a:xfrm>
            <a:off x="3017520" y="3429000"/>
            <a:ext cx="5486400" cy="475488"/>
          </a:xfrm>
          <a:prstGeom prst="rect">
            <a:avLst/>
          </a:prstGeom>
          <a:noFill/>
          <a:ln/>
        </p:spPr>
        <p:txBody>
          <a:bodyPr wrap="square" lIns="0" tIns="0" rIns="0" bIns="0" rtlCol="0" anchor="ctr"/>
          <a:lstStyle/>
          <a:p>
            <a:pPr indent="0" marL="0">
              <a:buNone/>
            </a:pPr>
            <a:r>
              <a:rPr lang="en-US" sz="1300" dirty="0">
                <a:solidFill>
                  <a:schemeClr val="tx1"/>
                </a:solidFill>
              </a:rPr>
              <a:t>Lo stesso contenuto sempre nella stessa categoria</a:t>
            </a:r>
            <a:endParaRPr lang="en-US" sz="1300" dirty="0"/>
          </a:p>
        </p:txBody>
      </p:sp>
      <p:sp>
        <p:nvSpPr>
          <p:cNvPr id="28" name="Conteggi verificati"/>
          <p:cNvSpPr/>
          <p:nvPr/>
        </p:nvSpPr>
        <p:spPr>
          <a:xfrm>
            <a:off x="457200" y="3977640"/>
            <a:ext cx="8229600" cy="475488"/>
          </a:xfrm>
          <a:prstGeom prst="roundRect">
            <a:avLst>
              <a:gd name="adj" fmla="val 15385"/>
            </a:avLst>
          </a:prstGeom>
          <a:solidFill>
            <a:schemeClr val="bg2"/>
          </a:solidFill>
          <a:ln/>
        </p:spPr>
      </p:sp>
      <p:sp>
        <p:nvSpPr>
          <p:cNvPr id="29" name="Text 24"/>
          <p:cNvSpPr txBox="1"/>
          <p:nvPr/>
        </p:nvSpPr>
        <p:spPr>
          <a:xfrm>
            <a:off x="640080" y="3977640"/>
            <a:ext cx="2377440" cy="475488"/>
          </a:xfrm>
          <a:prstGeom prst="rect">
            <a:avLst/>
          </a:prstGeom>
          <a:noFill/>
          <a:ln/>
        </p:spPr>
        <p:txBody>
          <a:bodyPr wrap="square" lIns="0" tIns="0" rIns="0" bIns="0" rtlCol="0" anchor="ctr"/>
          <a:lstStyle/>
          <a:p>
            <a:pPr indent="0" marL="0">
              <a:buNone/>
            </a:pPr>
            <a:r>
              <a:rPr lang="en-US" sz="1300" b="1" dirty="0">
                <a:solidFill>
                  <a:schemeClr val="accent1"/>
                </a:solidFill>
              </a:rPr>
              <a:t>Conteggi verificati</a:t>
            </a:r>
            <a:endParaRPr lang="en-US" sz="1300" dirty="0"/>
          </a:p>
        </p:txBody>
      </p:sp>
      <p:sp>
        <p:nvSpPr>
          <p:cNvPr id="30" name="Text 25"/>
          <p:cNvSpPr txBox="1"/>
          <p:nvPr/>
        </p:nvSpPr>
        <p:spPr>
          <a:xfrm>
            <a:off x="3017520" y="3977640"/>
            <a:ext cx="5486400" cy="475488"/>
          </a:xfrm>
          <a:prstGeom prst="rect">
            <a:avLst/>
          </a:prstGeom>
          <a:noFill/>
          <a:ln/>
        </p:spPr>
        <p:txBody>
          <a:bodyPr wrap="square" lIns="0" tIns="0" rIns="0" bIns="0" rtlCol="0" anchor="ctr"/>
          <a:lstStyle/>
          <a:p>
            <a:pPr indent="0" marL="0">
              <a:buNone/>
            </a:pPr>
            <a:r>
              <a:rPr lang="en-US" sz="1300" dirty="0">
                <a:solidFill>
                  <a:schemeClr val="tx1"/>
                </a:solidFill>
              </a:rPr>
              <a:t>Controllare le percentuali su un campione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 dato estratto al dato validato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blocco Documento"/>
          <p:cNvSpPr/>
          <p:nvPr/>
        </p:nvSpPr>
        <p:spPr>
          <a:xfrm>
            <a:off x="457200" y="1051560"/>
            <a:ext cx="1463040" cy="530352"/>
          </a:xfrm>
          <a:prstGeom prst="roundRect">
            <a:avLst>
              <a:gd name="adj" fmla="val 20690"/>
            </a:avLst>
          </a:prstGeom>
          <a:solidFill>
            <a:schemeClr val="bg2"/>
          </a:solidFill>
          <a:ln/>
        </p:spPr>
      </p:sp>
      <p:sp>
        <p:nvSpPr>
          <p:cNvPr id="13" name="Text 10"/>
          <p:cNvSpPr txBox="1"/>
          <p:nvPr/>
        </p:nvSpPr>
        <p:spPr>
          <a:xfrm>
            <a:off x="502920" y="1051560"/>
            <a:ext cx="1371600" cy="530352"/>
          </a:xfrm>
          <a:prstGeom prst="rect">
            <a:avLst/>
          </a:prstGeom>
          <a:noFill/>
          <a:ln/>
        </p:spPr>
        <p:txBody>
          <a:bodyPr wrap="square" lIns="0" tIns="0" rIns="0" bIns="0" rtlCol="0" anchor="ctr"/>
          <a:lstStyle/>
          <a:p>
            <a:pPr algn="ctr" indent="0" marL="0">
              <a:buNone/>
            </a:pPr>
            <a:r>
              <a:rPr lang="en-US" sz="1300" b="1" dirty="0">
                <a:solidFill>
                  <a:schemeClr val="tx1"/>
                </a:solidFill>
              </a:rPr>
              <a:t>Documento</a:t>
            </a:r>
            <a:endParaRPr lang="en-US" sz="1300" dirty="0"/>
          </a:p>
        </p:txBody>
      </p:sp>
      <p:sp>
        <p:nvSpPr>
          <p:cNvPr id="14" name="freccia"/>
          <p:cNvSpPr/>
          <p:nvPr/>
        </p:nvSpPr>
        <p:spPr>
          <a:xfrm>
            <a:off x="1938528" y="1170432"/>
            <a:ext cx="182880" cy="292608"/>
          </a:xfrm>
          <a:prstGeom prst="rightArrow">
            <a:avLst/>
          </a:prstGeom>
          <a:solidFill>
            <a:schemeClr val="accent2"/>
          </a:solidFill>
          <a:ln/>
        </p:spPr>
      </p:sp>
      <p:sp>
        <p:nvSpPr>
          <p:cNvPr id="15" name="blocco Dato estratto"/>
          <p:cNvSpPr/>
          <p:nvPr/>
        </p:nvSpPr>
        <p:spPr>
          <a:xfrm>
            <a:off x="2139696" y="1051560"/>
            <a:ext cx="1463040" cy="530352"/>
          </a:xfrm>
          <a:prstGeom prst="roundRect">
            <a:avLst>
              <a:gd name="adj" fmla="val 20690"/>
            </a:avLst>
          </a:prstGeom>
          <a:solidFill>
            <a:schemeClr val="bg2"/>
          </a:solidFill>
          <a:ln/>
        </p:spPr>
      </p:sp>
      <p:sp>
        <p:nvSpPr>
          <p:cNvPr id="16" name="Text 13"/>
          <p:cNvSpPr txBox="1"/>
          <p:nvPr/>
        </p:nvSpPr>
        <p:spPr>
          <a:xfrm>
            <a:off x="2185416" y="1051560"/>
            <a:ext cx="1371600" cy="530352"/>
          </a:xfrm>
          <a:prstGeom prst="rect">
            <a:avLst/>
          </a:prstGeom>
          <a:noFill/>
          <a:ln/>
        </p:spPr>
        <p:txBody>
          <a:bodyPr wrap="square" lIns="0" tIns="0" rIns="0" bIns="0" rtlCol="0" anchor="ctr"/>
          <a:lstStyle/>
          <a:p>
            <a:pPr algn="ctr" indent="0" marL="0">
              <a:buNone/>
            </a:pPr>
            <a:r>
              <a:rPr lang="en-US" sz="1300" b="1" dirty="0">
                <a:solidFill>
                  <a:schemeClr val="tx1"/>
                </a:solidFill>
              </a:rPr>
              <a:t>Dato estratto</a:t>
            </a:r>
            <a:endParaRPr lang="en-US" sz="1300" dirty="0"/>
          </a:p>
        </p:txBody>
      </p:sp>
      <p:sp>
        <p:nvSpPr>
          <p:cNvPr id="17" name="freccia"/>
          <p:cNvSpPr/>
          <p:nvPr/>
        </p:nvSpPr>
        <p:spPr>
          <a:xfrm>
            <a:off x="3621024" y="1170432"/>
            <a:ext cx="182880" cy="292608"/>
          </a:xfrm>
          <a:prstGeom prst="rightArrow">
            <a:avLst/>
          </a:prstGeom>
          <a:solidFill>
            <a:schemeClr val="accent2"/>
          </a:solidFill>
          <a:ln/>
        </p:spPr>
      </p:sp>
      <p:sp>
        <p:nvSpPr>
          <p:cNvPr id="18" name="blocco Dato controllato"/>
          <p:cNvSpPr/>
          <p:nvPr/>
        </p:nvSpPr>
        <p:spPr>
          <a:xfrm>
            <a:off x="3822192" y="1051560"/>
            <a:ext cx="1463040" cy="530352"/>
          </a:xfrm>
          <a:prstGeom prst="roundRect">
            <a:avLst>
              <a:gd name="adj" fmla="val 20690"/>
            </a:avLst>
          </a:prstGeom>
          <a:solidFill>
            <a:schemeClr val="accent5"/>
          </a:solidFill>
          <a:ln/>
        </p:spPr>
      </p:sp>
      <p:sp>
        <p:nvSpPr>
          <p:cNvPr id="19" name="Text 16"/>
          <p:cNvSpPr txBox="1"/>
          <p:nvPr/>
        </p:nvSpPr>
        <p:spPr>
          <a:xfrm>
            <a:off x="3867912" y="1051560"/>
            <a:ext cx="1371600" cy="530352"/>
          </a:xfrm>
          <a:prstGeom prst="rect">
            <a:avLst/>
          </a:prstGeom>
          <a:noFill/>
          <a:ln/>
        </p:spPr>
        <p:txBody>
          <a:bodyPr wrap="square" lIns="0" tIns="0" rIns="0" bIns="0" rtlCol="0" anchor="ctr"/>
          <a:lstStyle/>
          <a:p>
            <a:pPr algn="ctr" indent="0" marL="0">
              <a:buNone/>
            </a:pPr>
            <a:r>
              <a:rPr lang="en-US" sz="1300" b="1" dirty="0">
                <a:solidFill>
                  <a:schemeClr val="bg1"/>
                </a:solidFill>
              </a:rPr>
              <a:t>Dato controllato</a:t>
            </a:r>
            <a:endParaRPr lang="en-US" sz="1300" dirty="0"/>
          </a:p>
        </p:txBody>
      </p:sp>
      <p:sp>
        <p:nvSpPr>
          <p:cNvPr id="20" name="freccia"/>
          <p:cNvSpPr/>
          <p:nvPr/>
        </p:nvSpPr>
        <p:spPr>
          <a:xfrm>
            <a:off x="5303520" y="1170432"/>
            <a:ext cx="182880" cy="292608"/>
          </a:xfrm>
          <a:prstGeom prst="rightArrow">
            <a:avLst/>
          </a:prstGeom>
          <a:solidFill>
            <a:schemeClr val="accent2"/>
          </a:solidFill>
          <a:ln/>
        </p:spPr>
      </p:sp>
      <p:sp>
        <p:nvSpPr>
          <p:cNvPr id="21" name="blocco Dato validato"/>
          <p:cNvSpPr/>
          <p:nvPr/>
        </p:nvSpPr>
        <p:spPr>
          <a:xfrm>
            <a:off x="5504688" y="1051560"/>
            <a:ext cx="1463040" cy="530352"/>
          </a:xfrm>
          <a:prstGeom prst="roundRect">
            <a:avLst>
              <a:gd name="adj" fmla="val 20690"/>
            </a:avLst>
          </a:prstGeom>
          <a:solidFill>
            <a:schemeClr val="bg2"/>
          </a:solidFill>
          <a:ln/>
        </p:spPr>
      </p:sp>
      <p:sp>
        <p:nvSpPr>
          <p:cNvPr id="22" name="Text 19"/>
          <p:cNvSpPr txBox="1"/>
          <p:nvPr/>
        </p:nvSpPr>
        <p:spPr>
          <a:xfrm>
            <a:off x="5550408" y="1051560"/>
            <a:ext cx="1371600" cy="530352"/>
          </a:xfrm>
          <a:prstGeom prst="rect">
            <a:avLst/>
          </a:prstGeom>
          <a:noFill/>
          <a:ln/>
        </p:spPr>
        <p:txBody>
          <a:bodyPr wrap="square" lIns="0" tIns="0" rIns="0" bIns="0" rtlCol="0" anchor="ctr"/>
          <a:lstStyle/>
          <a:p>
            <a:pPr algn="ctr" indent="0" marL="0">
              <a:buNone/>
            </a:pPr>
            <a:r>
              <a:rPr lang="en-US" sz="1300" b="1" dirty="0">
                <a:solidFill>
                  <a:schemeClr val="tx1"/>
                </a:solidFill>
              </a:rPr>
              <a:t>Dato validato</a:t>
            </a:r>
            <a:endParaRPr lang="en-US" sz="1300" dirty="0"/>
          </a:p>
        </p:txBody>
      </p:sp>
      <p:sp>
        <p:nvSpPr>
          <p:cNvPr id="23" name="freccia"/>
          <p:cNvSpPr/>
          <p:nvPr/>
        </p:nvSpPr>
        <p:spPr>
          <a:xfrm>
            <a:off x="6986016" y="1170432"/>
            <a:ext cx="182880" cy="292608"/>
          </a:xfrm>
          <a:prstGeom prst="rightArrow">
            <a:avLst/>
          </a:prstGeom>
          <a:solidFill>
            <a:schemeClr val="accent2"/>
          </a:solidFill>
          <a:ln/>
        </p:spPr>
      </p:sp>
      <p:sp>
        <p:nvSpPr>
          <p:cNvPr id="24" name="blocco Impiego"/>
          <p:cNvSpPr/>
          <p:nvPr/>
        </p:nvSpPr>
        <p:spPr>
          <a:xfrm>
            <a:off x="7187184" y="1051560"/>
            <a:ext cx="1463040" cy="530352"/>
          </a:xfrm>
          <a:prstGeom prst="roundRect">
            <a:avLst>
              <a:gd name="adj" fmla="val 20690"/>
            </a:avLst>
          </a:prstGeom>
          <a:solidFill>
            <a:schemeClr val="accent1"/>
          </a:solidFill>
          <a:ln/>
        </p:spPr>
      </p:sp>
      <p:sp>
        <p:nvSpPr>
          <p:cNvPr id="25" name="Text 22"/>
          <p:cNvSpPr txBox="1"/>
          <p:nvPr/>
        </p:nvSpPr>
        <p:spPr>
          <a:xfrm>
            <a:off x="7232904" y="1051560"/>
            <a:ext cx="1371600" cy="530352"/>
          </a:xfrm>
          <a:prstGeom prst="rect">
            <a:avLst/>
          </a:prstGeom>
          <a:noFill/>
          <a:ln/>
        </p:spPr>
        <p:txBody>
          <a:bodyPr wrap="square" lIns="0" tIns="0" rIns="0" bIns="0" rtlCol="0" anchor="ctr"/>
          <a:lstStyle/>
          <a:p>
            <a:pPr algn="ctr" indent="0" marL="0">
              <a:buNone/>
            </a:pPr>
            <a:r>
              <a:rPr lang="en-US" sz="1300" b="1" dirty="0">
                <a:solidFill>
                  <a:schemeClr val="bg1"/>
                </a:solidFill>
              </a:rPr>
              <a:t>Impiego</a:t>
            </a:r>
            <a:endParaRPr lang="en-US" sz="1300" dirty="0"/>
          </a:p>
        </p:txBody>
      </p:sp>
      <p:sp>
        <p:nvSpPr>
          <p:cNvPr id="26" name="Text 23"/>
          <p:cNvSpPr txBox="1"/>
          <p:nvPr/>
        </p:nvSpPr>
        <p:spPr>
          <a:xfrm>
            <a:off x="457200" y="1737360"/>
            <a:ext cx="3657600" cy="274320"/>
          </a:xfrm>
          <a:prstGeom prst="rect">
            <a:avLst/>
          </a:prstGeom>
          <a:noFill/>
          <a:ln/>
        </p:spPr>
        <p:txBody>
          <a:bodyPr wrap="square" lIns="0" tIns="0" rIns="0" bIns="0" rtlCol="0" anchor="t"/>
          <a:lstStyle/>
          <a:p>
            <a:pPr indent="0" marL="0">
              <a:buNone/>
            </a:pPr>
            <a:r>
              <a:rPr lang="en-US" sz="1300" b="1" dirty="0">
                <a:solidFill>
                  <a:schemeClr val="tx1"/>
                </a:solidFill>
              </a:rPr>
              <a:t>Regole decise prima</a:t>
            </a:r>
            <a:endParaRPr lang="en-US" sz="1300" dirty="0"/>
          </a:p>
        </p:txBody>
      </p:sp>
      <p:sp>
        <p:nvSpPr>
          <p:cNvPr id="27" name="Non presente"/>
          <p:cNvSpPr/>
          <p:nvPr/>
        </p:nvSpPr>
        <p:spPr>
          <a:xfrm>
            <a:off x="457200" y="2057400"/>
            <a:ext cx="2615184" cy="548640"/>
          </a:xfrm>
          <a:prstGeom prst="roundRect">
            <a:avLst>
              <a:gd name="adj" fmla="val 13333"/>
            </a:avLst>
          </a:prstGeom>
          <a:solidFill>
            <a:schemeClr val="accent6"/>
          </a:solidFill>
          <a:ln/>
        </p:spPr>
      </p:sp>
      <p:sp>
        <p:nvSpPr>
          <p:cNvPr id="28" name="Text 25"/>
          <p:cNvSpPr txBox="1"/>
          <p:nvPr/>
        </p:nvSpPr>
        <p:spPr>
          <a:xfrm>
            <a:off x="594360" y="2057400"/>
            <a:ext cx="2377440" cy="548640"/>
          </a:xfrm>
          <a:prstGeom prst="rect">
            <a:avLst/>
          </a:prstGeom>
          <a:noFill/>
          <a:ln/>
        </p:spPr>
        <p:txBody>
          <a:bodyPr wrap="square" lIns="0" tIns="0" rIns="0" bIns="0" rtlCol="0" anchor="ctr"/>
          <a:lstStyle/>
          <a:p>
            <a:pPr indent="0" marL="0">
              <a:buNone/>
            </a:pPr>
            <a:r>
              <a:rPr lang="en-US" sz="1200" b="1" dirty="0">
                <a:solidFill>
                  <a:schemeClr val="accent1"/>
                </a:solidFill>
              </a:rPr>
              <a:t>Non presente: </a:t>
            </a:r>
            <a:pPr indent="0" marL="0">
              <a:buNone/>
            </a:pPr>
            <a:r>
              <a:rPr lang="en-US" sz="1200" dirty="0">
                <a:solidFill>
                  <a:schemeClr val="tx1"/>
                </a:solidFill>
              </a:rPr>
              <a:t>mai un valore stimato</a:t>
            </a:r>
            <a:endParaRPr lang="en-US" sz="1200" dirty="0"/>
          </a:p>
        </p:txBody>
      </p:sp>
      <p:sp>
        <p:nvSpPr>
          <p:cNvPr id="29" name="Ambiguo"/>
          <p:cNvSpPr/>
          <p:nvPr/>
        </p:nvSpPr>
        <p:spPr>
          <a:xfrm>
            <a:off x="3264408" y="2057400"/>
            <a:ext cx="2615184" cy="548640"/>
          </a:xfrm>
          <a:prstGeom prst="roundRect">
            <a:avLst>
              <a:gd name="adj" fmla="val 13333"/>
            </a:avLst>
          </a:prstGeom>
          <a:solidFill>
            <a:schemeClr val="accent6"/>
          </a:solidFill>
          <a:ln/>
        </p:spPr>
      </p:sp>
      <p:sp>
        <p:nvSpPr>
          <p:cNvPr id="30" name="Text 27"/>
          <p:cNvSpPr txBox="1"/>
          <p:nvPr/>
        </p:nvSpPr>
        <p:spPr>
          <a:xfrm>
            <a:off x="3401568" y="2057400"/>
            <a:ext cx="2377440" cy="548640"/>
          </a:xfrm>
          <a:prstGeom prst="rect">
            <a:avLst/>
          </a:prstGeom>
          <a:noFill/>
          <a:ln/>
        </p:spPr>
        <p:txBody>
          <a:bodyPr wrap="square" lIns="0" tIns="0" rIns="0" bIns="0" rtlCol="0" anchor="ctr"/>
          <a:lstStyle/>
          <a:p>
            <a:pPr indent="0" marL="0">
              <a:buNone/>
            </a:pPr>
            <a:r>
              <a:rPr lang="en-US" sz="1200" b="1" dirty="0">
                <a:solidFill>
                  <a:schemeClr val="accent1"/>
                </a:solidFill>
              </a:rPr>
              <a:t>Ambiguo: </a:t>
            </a:r>
            <a:pPr indent="0" marL="0">
              <a:buNone/>
            </a:pPr>
            <a:r>
              <a:rPr lang="en-US" sz="1200" dirty="0">
                <a:solidFill>
                  <a:schemeClr val="tx1"/>
                </a:solidFill>
              </a:rPr>
              <a:t>con una nota che spiega</a:t>
            </a:r>
            <a:endParaRPr lang="en-US" sz="1200" dirty="0"/>
          </a:p>
        </p:txBody>
      </p:sp>
      <p:sp>
        <p:nvSpPr>
          <p:cNvPr id="31" name="Dedotto"/>
          <p:cNvSpPr/>
          <p:nvPr/>
        </p:nvSpPr>
        <p:spPr>
          <a:xfrm>
            <a:off x="6071616" y="2057400"/>
            <a:ext cx="2615184" cy="548640"/>
          </a:xfrm>
          <a:prstGeom prst="roundRect">
            <a:avLst>
              <a:gd name="adj" fmla="val 13333"/>
            </a:avLst>
          </a:prstGeom>
          <a:solidFill>
            <a:schemeClr val="accent6"/>
          </a:solidFill>
          <a:ln/>
        </p:spPr>
      </p:sp>
      <p:sp>
        <p:nvSpPr>
          <p:cNvPr id="32" name="Text 29"/>
          <p:cNvSpPr txBox="1"/>
          <p:nvPr/>
        </p:nvSpPr>
        <p:spPr>
          <a:xfrm>
            <a:off x="6208776" y="2057400"/>
            <a:ext cx="2377440" cy="548640"/>
          </a:xfrm>
          <a:prstGeom prst="rect">
            <a:avLst/>
          </a:prstGeom>
          <a:noFill/>
          <a:ln/>
        </p:spPr>
        <p:txBody>
          <a:bodyPr wrap="square" lIns="0" tIns="0" rIns="0" bIns="0" rtlCol="0" anchor="ctr"/>
          <a:lstStyle/>
          <a:p>
            <a:pPr indent="0" marL="0">
              <a:buNone/>
            </a:pPr>
            <a:r>
              <a:rPr lang="en-US" sz="1200" b="1" dirty="0">
                <a:solidFill>
                  <a:schemeClr val="accent1"/>
                </a:solidFill>
              </a:rPr>
              <a:t>Dedotto: </a:t>
            </a:r>
            <a:pPr indent="0" marL="0">
              <a:buNone/>
            </a:pPr>
            <a:r>
              <a:rPr lang="en-US" sz="1200" dirty="0">
                <a:solidFill>
                  <a:schemeClr val="tx1"/>
                </a:solidFill>
              </a:rPr>
              <a:t>segnalato come tale</a:t>
            </a:r>
            <a:endParaRPr lang="en-US" sz="1200" dirty="0"/>
          </a:p>
        </p:txBody>
      </p:sp>
      <p:sp>
        <p:nvSpPr>
          <p:cNvPr id="33" name="Text 30"/>
          <p:cNvSpPr txBox="1"/>
          <p:nvPr/>
        </p:nvSpPr>
        <p:spPr>
          <a:xfrm>
            <a:off x="457200" y="2743200"/>
            <a:ext cx="3657600" cy="274320"/>
          </a:xfrm>
          <a:prstGeom prst="rect">
            <a:avLst/>
          </a:prstGeom>
          <a:noFill/>
          <a:ln/>
        </p:spPr>
        <p:txBody>
          <a:bodyPr wrap="square" lIns="0" tIns="0" rIns="0" bIns="0" rtlCol="0" anchor="t"/>
          <a:lstStyle/>
          <a:p>
            <a:pPr indent="0" marL="0">
              <a:buNone/>
            </a:pPr>
            <a:r>
              <a:rPr lang="en-US" sz="1300" b="1" dirty="0">
                <a:solidFill>
                  <a:schemeClr val="tx1"/>
                </a:solidFill>
              </a:rPr>
              <a:t>Controlli dopo l'estrazione</a:t>
            </a:r>
            <a:endParaRPr lang="en-US" sz="1300" dirty="0"/>
          </a:p>
        </p:txBody>
      </p:sp>
      <p:sp>
        <p:nvSpPr>
          <p:cNvPr id="34" name="A campione"/>
          <p:cNvSpPr/>
          <p:nvPr/>
        </p:nvSpPr>
        <p:spPr>
          <a:xfrm>
            <a:off x="457200" y="3063240"/>
            <a:ext cx="1965960" cy="749808"/>
          </a:xfrm>
          <a:prstGeom prst="roundRect">
            <a:avLst>
              <a:gd name="adj" fmla="val 9756"/>
            </a:avLst>
          </a:prstGeom>
          <a:solidFill>
            <a:schemeClr val="bg2"/>
          </a:solidFill>
          <a:ln/>
        </p:spPr>
      </p:sp>
      <p:sp>
        <p:nvSpPr>
          <p:cNvPr id="35" name="Text 32"/>
          <p:cNvSpPr txBox="1"/>
          <p:nvPr/>
        </p:nvSpPr>
        <p:spPr>
          <a:xfrm>
            <a:off x="566928" y="3108960"/>
            <a:ext cx="1783080" cy="329184"/>
          </a:xfrm>
          <a:prstGeom prst="rect">
            <a:avLst/>
          </a:prstGeom>
          <a:noFill/>
          <a:ln/>
        </p:spPr>
        <p:txBody>
          <a:bodyPr wrap="square" lIns="0" tIns="0" rIns="0" bIns="0" rtlCol="0" anchor="t"/>
          <a:lstStyle/>
          <a:p>
            <a:pPr algn="ctr" indent="0" marL="0">
              <a:buNone/>
            </a:pPr>
            <a:r>
              <a:rPr lang="en-US" sz="1300" b="1" dirty="0">
                <a:solidFill>
                  <a:schemeClr val="accent1"/>
                </a:solidFill>
              </a:rPr>
              <a:t>A campione</a:t>
            </a:r>
            <a:endParaRPr lang="en-US" sz="1300" dirty="0"/>
          </a:p>
        </p:txBody>
      </p:sp>
      <p:sp>
        <p:nvSpPr>
          <p:cNvPr id="36" name="Text 33"/>
          <p:cNvSpPr txBox="1"/>
          <p:nvPr/>
        </p:nvSpPr>
        <p:spPr>
          <a:xfrm>
            <a:off x="566928" y="3438144"/>
            <a:ext cx="1783080" cy="310896"/>
          </a:xfrm>
          <a:prstGeom prst="rect">
            <a:avLst/>
          </a:prstGeom>
          <a:noFill/>
          <a:ln/>
        </p:spPr>
        <p:txBody>
          <a:bodyPr wrap="square" lIns="0" tIns="0" rIns="0" bIns="0" rtlCol="0" anchor="t"/>
          <a:lstStyle/>
          <a:p>
            <a:pPr algn="ctr" indent="0" marL="0">
              <a:buNone/>
            </a:pPr>
            <a:r>
              <a:rPr lang="en-US" sz="1100" dirty="0">
                <a:solidFill>
                  <a:schemeClr val="tx2"/>
                </a:solidFill>
              </a:rPr>
              <a:t>Casuali e anomali</a:t>
            </a:r>
            <a:endParaRPr lang="en-US" sz="1100" dirty="0"/>
          </a:p>
        </p:txBody>
      </p:sp>
      <p:sp>
        <p:nvSpPr>
          <p:cNvPr id="37" name="Conteggi"/>
          <p:cNvSpPr/>
          <p:nvPr/>
        </p:nvSpPr>
        <p:spPr>
          <a:xfrm>
            <a:off x="2560320" y="3063240"/>
            <a:ext cx="1965960" cy="749808"/>
          </a:xfrm>
          <a:prstGeom prst="roundRect">
            <a:avLst>
              <a:gd name="adj" fmla="val 9756"/>
            </a:avLst>
          </a:prstGeom>
          <a:solidFill>
            <a:schemeClr val="bg2"/>
          </a:solidFill>
          <a:ln/>
        </p:spPr>
      </p:sp>
      <p:sp>
        <p:nvSpPr>
          <p:cNvPr id="38" name="Text 35"/>
          <p:cNvSpPr txBox="1"/>
          <p:nvPr/>
        </p:nvSpPr>
        <p:spPr>
          <a:xfrm>
            <a:off x="2670048" y="3108960"/>
            <a:ext cx="1783080" cy="329184"/>
          </a:xfrm>
          <a:prstGeom prst="rect">
            <a:avLst/>
          </a:prstGeom>
          <a:noFill/>
          <a:ln/>
        </p:spPr>
        <p:txBody>
          <a:bodyPr wrap="square" lIns="0" tIns="0" rIns="0" bIns="0" rtlCol="0" anchor="t"/>
          <a:lstStyle/>
          <a:p>
            <a:pPr algn="ctr" indent="0" marL="0">
              <a:buNone/>
            </a:pPr>
            <a:r>
              <a:rPr lang="en-US" sz="1300" b="1" dirty="0">
                <a:solidFill>
                  <a:schemeClr val="accent1"/>
                </a:solidFill>
              </a:rPr>
              <a:t>Conteggi</a:t>
            </a:r>
            <a:endParaRPr lang="en-US" sz="1300" dirty="0"/>
          </a:p>
        </p:txBody>
      </p:sp>
      <p:sp>
        <p:nvSpPr>
          <p:cNvPr id="39" name="Text 36"/>
          <p:cNvSpPr txBox="1"/>
          <p:nvPr/>
        </p:nvSpPr>
        <p:spPr>
          <a:xfrm>
            <a:off x="2670048" y="3438144"/>
            <a:ext cx="1783080" cy="310896"/>
          </a:xfrm>
          <a:prstGeom prst="rect">
            <a:avLst/>
          </a:prstGeom>
          <a:noFill/>
          <a:ln/>
        </p:spPr>
        <p:txBody>
          <a:bodyPr wrap="square" lIns="0" tIns="0" rIns="0" bIns="0" rtlCol="0" anchor="t"/>
          <a:lstStyle/>
          <a:p>
            <a:pPr algn="ctr" indent="0" marL="0">
              <a:buNone/>
            </a:pPr>
            <a:r>
              <a:rPr lang="en-US" sz="1100" dirty="0">
                <a:solidFill>
                  <a:schemeClr val="tx2"/>
                </a:solidFill>
              </a:rPr>
              <a:t>Record, somme, totali</a:t>
            </a:r>
            <a:endParaRPr lang="en-US" sz="1100" dirty="0"/>
          </a:p>
        </p:txBody>
      </p:sp>
      <p:sp>
        <p:nvSpPr>
          <p:cNvPr id="40" name="Plausibilità"/>
          <p:cNvSpPr/>
          <p:nvPr/>
        </p:nvSpPr>
        <p:spPr>
          <a:xfrm>
            <a:off x="4663440" y="3063240"/>
            <a:ext cx="1965960" cy="749808"/>
          </a:xfrm>
          <a:prstGeom prst="roundRect">
            <a:avLst>
              <a:gd name="adj" fmla="val 9756"/>
            </a:avLst>
          </a:prstGeom>
          <a:solidFill>
            <a:schemeClr val="bg2"/>
          </a:solidFill>
          <a:ln/>
        </p:spPr>
      </p:sp>
      <p:sp>
        <p:nvSpPr>
          <p:cNvPr id="41" name="Text 38"/>
          <p:cNvSpPr txBox="1"/>
          <p:nvPr/>
        </p:nvSpPr>
        <p:spPr>
          <a:xfrm>
            <a:off x="4773168" y="3108960"/>
            <a:ext cx="1783080" cy="329184"/>
          </a:xfrm>
          <a:prstGeom prst="rect">
            <a:avLst/>
          </a:prstGeom>
          <a:noFill/>
          <a:ln/>
        </p:spPr>
        <p:txBody>
          <a:bodyPr wrap="square" lIns="0" tIns="0" rIns="0" bIns="0" rtlCol="0" anchor="t"/>
          <a:lstStyle/>
          <a:p>
            <a:pPr algn="ctr" indent="0" marL="0">
              <a:buNone/>
            </a:pPr>
            <a:r>
              <a:rPr lang="en-US" sz="1300" b="1" dirty="0">
                <a:solidFill>
                  <a:schemeClr val="accent1"/>
                </a:solidFill>
              </a:rPr>
              <a:t>Plausibilità</a:t>
            </a:r>
            <a:endParaRPr lang="en-US" sz="1300" dirty="0"/>
          </a:p>
        </p:txBody>
      </p:sp>
      <p:sp>
        <p:nvSpPr>
          <p:cNvPr id="42" name="Text 39"/>
          <p:cNvSpPr txBox="1"/>
          <p:nvPr/>
        </p:nvSpPr>
        <p:spPr>
          <a:xfrm>
            <a:off x="4773168" y="3438144"/>
            <a:ext cx="1783080" cy="310896"/>
          </a:xfrm>
          <a:prstGeom prst="rect">
            <a:avLst/>
          </a:prstGeom>
          <a:noFill/>
          <a:ln/>
        </p:spPr>
        <p:txBody>
          <a:bodyPr wrap="square" lIns="0" tIns="0" rIns="0" bIns="0" rtlCol="0" anchor="t"/>
          <a:lstStyle/>
          <a:p>
            <a:pPr algn="ctr" indent="0" marL="0">
              <a:buNone/>
            </a:pPr>
            <a:r>
              <a:rPr lang="en-US" sz="1100" dirty="0">
                <a:solidFill>
                  <a:schemeClr val="tx2"/>
                </a:solidFill>
              </a:rPr>
              <a:t>Date, scale, categorie</a:t>
            </a:r>
            <a:endParaRPr lang="en-US" sz="1100" dirty="0"/>
          </a:p>
        </p:txBody>
      </p:sp>
      <p:sp>
        <p:nvSpPr>
          <p:cNvPr id="43" name="Campi segnalati"/>
          <p:cNvSpPr/>
          <p:nvPr/>
        </p:nvSpPr>
        <p:spPr>
          <a:xfrm>
            <a:off x="6766560" y="3063240"/>
            <a:ext cx="1965960" cy="749808"/>
          </a:xfrm>
          <a:prstGeom prst="roundRect">
            <a:avLst>
              <a:gd name="adj" fmla="val 9756"/>
            </a:avLst>
          </a:prstGeom>
          <a:solidFill>
            <a:schemeClr val="bg2"/>
          </a:solidFill>
          <a:ln/>
        </p:spPr>
      </p:sp>
      <p:sp>
        <p:nvSpPr>
          <p:cNvPr id="44" name="Text 41"/>
          <p:cNvSpPr txBox="1"/>
          <p:nvPr/>
        </p:nvSpPr>
        <p:spPr>
          <a:xfrm>
            <a:off x="6876288" y="3108960"/>
            <a:ext cx="1783080" cy="329184"/>
          </a:xfrm>
          <a:prstGeom prst="rect">
            <a:avLst/>
          </a:prstGeom>
          <a:noFill/>
          <a:ln/>
        </p:spPr>
        <p:txBody>
          <a:bodyPr wrap="square" lIns="0" tIns="0" rIns="0" bIns="0" rtlCol="0" anchor="t"/>
          <a:lstStyle/>
          <a:p>
            <a:pPr algn="ctr" indent="0" marL="0">
              <a:buNone/>
            </a:pPr>
            <a:r>
              <a:rPr lang="en-US" sz="1300" b="1" dirty="0">
                <a:solidFill>
                  <a:schemeClr val="accent1"/>
                </a:solidFill>
              </a:rPr>
              <a:t>Campi segnalati</a:t>
            </a:r>
            <a:endParaRPr lang="en-US" sz="1300" dirty="0"/>
          </a:p>
        </p:txBody>
      </p:sp>
      <p:sp>
        <p:nvSpPr>
          <p:cNvPr id="45" name="Text 42"/>
          <p:cNvSpPr txBox="1"/>
          <p:nvPr/>
        </p:nvSpPr>
        <p:spPr>
          <a:xfrm>
            <a:off x="6876288" y="3438144"/>
            <a:ext cx="1783080" cy="310896"/>
          </a:xfrm>
          <a:prstGeom prst="rect">
            <a:avLst/>
          </a:prstGeom>
          <a:noFill/>
          <a:ln/>
        </p:spPr>
        <p:txBody>
          <a:bodyPr wrap="square" lIns="0" tIns="0" rIns="0" bIns="0" rtlCol="0" anchor="t"/>
          <a:lstStyle/>
          <a:p>
            <a:pPr algn="ctr" indent="0" marL="0">
              <a:buNone/>
            </a:pPr>
            <a:r>
              <a:rPr lang="en-US" sz="1100" dirty="0">
                <a:solidFill>
                  <a:schemeClr val="tx2"/>
                </a:solidFill>
              </a:rPr>
              <a:t>Assenti, ambigui, dedotti</a:t>
            </a:r>
            <a:endParaRPr lang="en-US" sz="1100" dirty="0"/>
          </a:p>
        </p:txBody>
      </p:sp>
      <p:sp>
        <p:nvSpPr>
          <p:cNvPr id="46" name="messaggio"/>
          <p:cNvSpPr/>
          <p:nvPr/>
        </p:nvSpPr>
        <p:spPr>
          <a:xfrm>
            <a:off x="457200" y="3977640"/>
            <a:ext cx="8229600" cy="566928"/>
          </a:xfrm>
          <a:prstGeom prst="roundRect">
            <a:avLst>
              <a:gd name="adj" fmla="val 12903"/>
            </a:avLst>
          </a:prstGeom>
          <a:solidFill>
            <a:schemeClr val="tx1"/>
          </a:solidFill>
          <a:ln/>
        </p:spPr>
      </p:sp>
      <p:sp>
        <p:nvSpPr>
          <p:cNvPr id="47" name="Text 44"/>
          <p:cNvSpPr txBox="1"/>
          <p:nvPr/>
        </p:nvSpPr>
        <p:spPr>
          <a:xfrm>
            <a:off x="640080" y="3977640"/>
            <a:ext cx="7863840" cy="566928"/>
          </a:xfrm>
          <a:prstGeom prst="rect">
            <a:avLst/>
          </a:prstGeom>
          <a:noFill/>
          <a:ln/>
        </p:spPr>
        <p:txBody>
          <a:bodyPr wrap="square" lIns="0" tIns="0" rIns="0" bIns="0" rtlCol="0" anchor="ctr"/>
          <a:lstStyle/>
          <a:p>
            <a:pPr indent="0" marL="0">
              <a:buNone/>
            </a:pPr>
            <a:r>
              <a:rPr lang="en-US" sz="1300" dirty="0">
                <a:solidFill>
                  <a:schemeClr val="bg1"/>
                </a:solidFill>
              </a:rPr>
              <a:t>Per ogni dato, conservare documento e passaggio di origine: la verifica resta possibile anche a distanza di tempo.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può rendere più utilizzabile il contenuto informativo dei documenti, ma un dato estratto non è automaticamente un dato validato.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8.4  ·  Estrazione e strutturazione delle informazioni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Confronto e analisi di più documenti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rende rapido il confronto tra versioni, offerte e procedure, mettendo in evidenza le differenze che contano per decidere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Tre tipi di confronto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Versioni di un documento"/>
          <p:cNvSpPr/>
          <p:nvPr/>
        </p:nvSpPr>
        <p:spPr>
          <a:xfrm>
            <a:off x="457200" y="1097280"/>
            <a:ext cx="2621280" cy="2057400"/>
          </a:xfrm>
          <a:prstGeom prst="roundRect">
            <a:avLst>
              <a:gd name="adj" fmla="val 3556"/>
            </a:avLst>
          </a:prstGeom>
          <a:solidFill>
            <a:schemeClr val="bg2"/>
          </a:solidFill>
          <a:ln/>
        </p:spPr>
      </p:sp>
      <p:sp>
        <p:nvSpPr>
          <p:cNvPr id="13" name="cerchio FiGitCommit"/>
          <p:cNvSpPr/>
          <p:nvPr/>
        </p:nvSpPr>
        <p:spPr>
          <a:xfrm>
            <a:off x="621792" y="1261872"/>
            <a:ext cx="438912" cy="438912"/>
          </a:xfrm>
          <a:prstGeom prst="ellipse">
            <a:avLst/>
          </a:prstGeom>
          <a:solidFill>
            <a:schemeClr val="accent1"/>
          </a:solidFill>
          <a:ln/>
        </p:spPr>
      </p:sp>
      <p:pic>
        <p:nvPicPr>
          <p:cNvPr id="14" name="Image 0" descr="FiGitCommit">    </p:cNvPr>
          <p:cNvPicPr>
            <a:picLocks noChangeAspect="1"/>
          </p:cNvPicPr>
          <p:nvPr/>
        </p:nvPicPr>
        <p:blipFill>
          <a:blip r:embed="rId1"/>
          <a:stretch>
            <a:fillRect/>
          </a:stretch>
        </p:blipFill>
        <p:spPr>
          <a:xfrm>
            <a:off x="731520" y="1371600"/>
            <a:ext cx="219456" cy="219456"/>
          </a:xfrm>
          <a:prstGeom prst="rect">
            <a:avLst/>
          </a:prstGeom>
        </p:spPr>
      </p:pic>
      <p:sp>
        <p:nvSpPr>
          <p:cNvPr id="15" name="Text 11"/>
          <p:cNvSpPr txBox="1"/>
          <p:nvPr/>
        </p:nvSpPr>
        <p:spPr>
          <a:xfrm>
            <a:off x="1170432" y="122529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Versioni di un documento</a:t>
            </a:r>
            <a:endParaRPr lang="en-US" sz="1400" dirty="0"/>
          </a:p>
        </p:txBody>
      </p:sp>
      <p:sp>
        <p:nvSpPr>
          <p:cNvPr id="16" name="Text 12"/>
          <p:cNvSpPr txBox="1"/>
          <p:nvPr/>
        </p:nvSpPr>
        <p:spPr>
          <a:xfrm>
            <a:off x="621792" y="1810512"/>
            <a:ext cx="2292096" cy="1252728"/>
          </a:xfrm>
          <a:prstGeom prst="rect">
            <a:avLst/>
          </a:prstGeom>
          <a:noFill/>
          <a:ln/>
        </p:spPr>
        <p:txBody>
          <a:bodyPr wrap="square" lIns="0" tIns="0" rIns="0" bIns="0" rtlCol="0" anchor="t"/>
          <a:lstStyle/>
          <a:p>
            <a:pPr indent="0" marL="0">
              <a:buNone/>
            </a:pPr>
            <a:r>
              <a:rPr lang="en-US" sz="1200" dirty="0">
                <a:solidFill>
                  <a:schemeClr val="tx2"/>
                </a:solidFill>
              </a:rPr>
              <a:t>Che cosa è cambiato, anche se non dichiarato. Per decidere se accettare o rinegoziare.</a:t>
            </a:r>
            <a:endParaRPr lang="en-US" sz="1200" dirty="0"/>
          </a:p>
        </p:txBody>
      </p:sp>
      <p:sp>
        <p:nvSpPr>
          <p:cNvPr id="17" name="Documenti alternativi"/>
          <p:cNvSpPr/>
          <p:nvPr/>
        </p:nvSpPr>
        <p:spPr>
          <a:xfrm>
            <a:off x="3261360" y="1097280"/>
            <a:ext cx="2621280" cy="2057400"/>
          </a:xfrm>
          <a:prstGeom prst="roundRect">
            <a:avLst>
              <a:gd name="adj" fmla="val 3556"/>
            </a:avLst>
          </a:prstGeom>
          <a:solidFill>
            <a:schemeClr val="bg2"/>
          </a:solidFill>
          <a:ln/>
        </p:spPr>
      </p:sp>
      <p:sp>
        <p:nvSpPr>
          <p:cNvPr id="18" name="cerchio FiColumns"/>
          <p:cNvSpPr/>
          <p:nvPr/>
        </p:nvSpPr>
        <p:spPr>
          <a:xfrm>
            <a:off x="3425952" y="1261872"/>
            <a:ext cx="438912" cy="438912"/>
          </a:xfrm>
          <a:prstGeom prst="ellipse">
            <a:avLst/>
          </a:prstGeom>
          <a:solidFill>
            <a:schemeClr val="accent1"/>
          </a:solidFill>
          <a:ln/>
        </p:spPr>
      </p:sp>
      <p:pic>
        <p:nvPicPr>
          <p:cNvPr id="19" name="Image 1" descr="FiColumns">    </p:cNvPr>
          <p:cNvPicPr>
            <a:picLocks noChangeAspect="1"/>
          </p:cNvPicPr>
          <p:nvPr/>
        </p:nvPicPr>
        <p:blipFill>
          <a:blip r:embed="rId2"/>
          <a:stretch>
            <a:fillRect/>
          </a:stretch>
        </p:blipFill>
        <p:spPr>
          <a:xfrm>
            <a:off x="3535680" y="1371600"/>
            <a:ext cx="219456" cy="219456"/>
          </a:xfrm>
          <a:prstGeom prst="rect">
            <a:avLst/>
          </a:prstGeom>
        </p:spPr>
      </p:pic>
      <p:sp>
        <p:nvSpPr>
          <p:cNvPr id="20" name="Text 15"/>
          <p:cNvSpPr txBox="1"/>
          <p:nvPr/>
        </p:nvSpPr>
        <p:spPr>
          <a:xfrm>
            <a:off x="3974592" y="122529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Documenti alternativi</a:t>
            </a:r>
            <a:endParaRPr lang="en-US" sz="1400" dirty="0"/>
          </a:p>
        </p:txBody>
      </p:sp>
      <p:sp>
        <p:nvSpPr>
          <p:cNvPr id="21" name="Text 16"/>
          <p:cNvSpPr txBox="1"/>
          <p:nvPr/>
        </p:nvSpPr>
        <p:spPr>
          <a:xfrm>
            <a:off x="3425952" y="1810512"/>
            <a:ext cx="2292096" cy="1252728"/>
          </a:xfrm>
          <a:prstGeom prst="rect">
            <a:avLst/>
          </a:prstGeom>
          <a:noFill/>
          <a:ln/>
        </p:spPr>
        <p:txBody>
          <a:bodyPr wrap="square" lIns="0" tIns="0" rIns="0" bIns="0" rtlCol="0" anchor="t"/>
          <a:lstStyle/>
          <a:p>
            <a:pPr indent="0" marL="0">
              <a:buNone/>
            </a:pPr>
            <a:r>
              <a:rPr lang="en-US" sz="1200" dirty="0">
                <a:solidFill>
                  <a:schemeClr val="tx2"/>
                </a:solidFill>
              </a:rPr>
              <a:t>Offerte, proposte, contratti: punti comuni e differenze. Per scegliere.</a:t>
            </a:r>
            <a:endParaRPr lang="en-US" sz="1200" dirty="0"/>
          </a:p>
        </p:txBody>
      </p:sp>
      <p:sp>
        <p:nvSpPr>
          <p:cNvPr id="22" name="Documenti collegati"/>
          <p:cNvSpPr/>
          <p:nvPr/>
        </p:nvSpPr>
        <p:spPr>
          <a:xfrm>
            <a:off x="6065520" y="1097280"/>
            <a:ext cx="2621280" cy="2057400"/>
          </a:xfrm>
          <a:prstGeom prst="roundRect">
            <a:avLst>
              <a:gd name="adj" fmla="val 3556"/>
            </a:avLst>
          </a:prstGeom>
          <a:solidFill>
            <a:schemeClr val="bg2"/>
          </a:solidFill>
          <a:ln/>
        </p:spPr>
      </p:sp>
      <p:sp>
        <p:nvSpPr>
          <p:cNvPr id="23" name="cerchio FiGitMerge"/>
          <p:cNvSpPr/>
          <p:nvPr/>
        </p:nvSpPr>
        <p:spPr>
          <a:xfrm>
            <a:off x="6230112" y="1261872"/>
            <a:ext cx="438912" cy="438912"/>
          </a:xfrm>
          <a:prstGeom prst="ellipse">
            <a:avLst/>
          </a:prstGeom>
          <a:solidFill>
            <a:schemeClr val="accent1"/>
          </a:solidFill>
          <a:ln/>
        </p:spPr>
      </p:sp>
      <p:pic>
        <p:nvPicPr>
          <p:cNvPr id="24" name="Image 2" descr="FiGitMerge">    </p:cNvPr>
          <p:cNvPicPr>
            <a:picLocks noChangeAspect="1"/>
          </p:cNvPicPr>
          <p:nvPr/>
        </p:nvPicPr>
        <p:blipFill>
          <a:blip r:embed="rId3"/>
          <a:stretch>
            <a:fillRect/>
          </a:stretch>
        </p:blipFill>
        <p:spPr>
          <a:xfrm>
            <a:off x="6339840" y="1371600"/>
            <a:ext cx="219456" cy="219456"/>
          </a:xfrm>
          <a:prstGeom prst="rect">
            <a:avLst/>
          </a:prstGeom>
        </p:spPr>
      </p:pic>
      <p:sp>
        <p:nvSpPr>
          <p:cNvPr id="25" name="Text 19"/>
          <p:cNvSpPr txBox="1"/>
          <p:nvPr/>
        </p:nvSpPr>
        <p:spPr>
          <a:xfrm>
            <a:off x="6778752" y="122529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Documenti collegati</a:t>
            </a:r>
            <a:endParaRPr lang="en-US" sz="1400" dirty="0"/>
          </a:p>
        </p:txBody>
      </p:sp>
      <p:sp>
        <p:nvSpPr>
          <p:cNvPr id="26" name="Text 20"/>
          <p:cNvSpPr txBox="1"/>
          <p:nvPr/>
        </p:nvSpPr>
        <p:spPr>
          <a:xfrm>
            <a:off x="6230112" y="1810512"/>
            <a:ext cx="2292096" cy="1252728"/>
          </a:xfrm>
          <a:prstGeom prst="rect">
            <a:avLst/>
          </a:prstGeom>
          <a:noFill/>
          <a:ln/>
        </p:spPr>
        <p:txBody>
          <a:bodyPr wrap="square" lIns="0" tIns="0" rIns="0" bIns="0" rtlCol="0" anchor="t"/>
          <a:lstStyle/>
          <a:p>
            <a:pPr indent="0" marL="0">
              <a:buNone/>
            </a:pPr>
            <a:r>
              <a:rPr lang="en-US" sz="1200" dirty="0">
                <a:solidFill>
                  <a:schemeClr val="tx2"/>
                </a:solidFill>
              </a:rPr>
              <a:t>Procedura e regolamento, capitolato e offerta. Per verificare la coerenza.</a:t>
            </a:r>
            <a:endParaRPr lang="en-US" sz="1200" dirty="0"/>
          </a:p>
        </p:txBody>
      </p:sp>
      <p:sp>
        <p:nvSpPr>
          <p:cNvPr id="27" name="messaggio"/>
          <p:cNvSpPr/>
          <p:nvPr/>
        </p:nvSpPr>
        <p:spPr>
          <a:xfrm>
            <a:off x="457200" y="3383280"/>
            <a:ext cx="8229600" cy="822960"/>
          </a:xfrm>
          <a:prstGeom prst="roundRect">
            <a:avLst>
              <a:gd name="adj" fmla="val 8889"/>
            </a:avLst>
          </a:prstGeom>
          <a:solidFill>
            <a:schemeClr val="tx1"/>
          </a:solidFill>
          <a:ln/>
        </p:spPr>
      </p:sp>
      <p:sp>
        <p:nvSpPr>
          <p:cNvPr id="28" name="Text 22"/>
          <p:cNvSpPr txBox="1"/>
          <p:nvPr/>
        </p:nvSpPr>
        <p:spPr>
          <a:xfrm>
            <a:off x="640080" y="3383280"/>
            <a:ext cx="7863840" cy="822960"/>
          </a:xfrm>
          <a:prstGeom prst="rect">
            <a:avLst/>
          </a:prstGeom>
          <a:noFill/>
          <a:ln/>
        </p:spPr>
        <p:txBody>
          <a:bodyPr wrap="square" lIns="0" tIns="0" rIns="0" bIns="0" rtlCol="0" anchor="ctr"/>
          <a:lstStyle/>
          <a:p>
            <a:pPr indent="0" marL="0">
              <a:buNone/>
            </a:pPr>
            <a:r>
              <a:rPr lang="en-US" sz="1300" dirty="0">
                <a:solidFill>
                  <a:schemeClr val="bg1"/>
                </a:solidFill>
              </a:rPr>
              <a:t>Il confronto tradizionale è esatto sulle modifiche testuali; l'AI le spiega, le ordina per importanza e confronta documenti con struttura diversa.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Identificare le modifiche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0"/>
                <a:gridCol w="2926080"/>
                <a:gridCol w="2560320"/>
              </a:tblGrid>
              <a:tr h="457200">
                <a:tc>
                  <a:txBody>
                    <a:bodyPr/>
                    <a:lstStyle/>
                    <a:p>
                      <a:pPr indent="0" marL="0">
                        <a:buNone/>
                      </a:pPr>
                      <a:r>
                        <a:rPr lang="en-US" sz="1200" b="1" dirty="0">
                          <a:solidFill>
                            <a:schemeClr val="bg1"/>
                          </a:solidFill>
                        </a:rPr>
                        <a:t>Versione 1</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Versione 2</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Natura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57200">
                <a:tc>
                  <a:txBody>
                    <a:bodyPr/>
                    <a:lstStyle/>
                    <a:p>
                      <a:pPr indent="0" marL="0">
                        <a:buNone/>
                      </a:pPr>
                      <a:r>
                        <a:rPr lang="en-US" sz="1200" b="1" dirty="0">
                          <a:solidFill>
                            <a:schemeClr val="tx1"/>
                          </a:solidFill>
                        </a:rPr>
                        <a:t>Il fornitre si impegna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Il fornitore si impegna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Formale: refuso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Pagamento a 30 giorni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Pagamento a 60 giorni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Sostanziale: condizioni economiche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Il fornitore garantisce la consegna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Il fornitore si adopera per la consegna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Sostanziale: obbligo attenuato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Text 9"/>
          <p:cNvSpPr txBox="1"/>
          <p:nvPr/>
        </p:nvSpPr>
        <p:spPr>
          <a:xfrm>
            <a:off x="457200" y="2926080"/>
            <a:ext cx="2743200" cy="256032"/>
          </a:xfrm>
          <a:prstGeom prst="rect">
            <a:avLst/>
          </a:prstGeom>
          <a:noFill/>
          <a:ln/>
        </p:spPr>
        <p:txBody>
          <a:bodyPr wrap="square" lIns="0" tIns="0" rIns="0" bIns="0" rtlCol="0" anchor="t"/>
          <a:lstStyle/>
          <a:p>
            <a:pPr indent="0" marL="0">
              <a:buNone/>
            </a:pPr>
            <a:r>
              <a:rPr lang="en-US" sz="1000" i="1" dirty="0">
                <a:solidFill>
                  <a:schemeClr val="accent2"/>
                </a:solidFill>
              </a:rPr>
              <a:t>Esempio fittizio</a:t>
            </a:r>
            <a:endParaRPr lang="en-US" sz="1000" dirty="0"/>
          </a:p>
        </p:txBody>
      </p:sp>
      <p:sp>
        <p:nvSpPr>
          <p:cNvPr id="14" name="scheda AI e confronto tradizionale insieme"/>
          <p:cNvSpPr/>
          <p:nvPr/>
        </p:nvSpPr>
        <p:spPr>
          <a:xfrm>
            <a:off x="457200" y="3246120"/>
            <a:ext cx="3977640" cy="1280160"/>
          </a:xfrm>
          <a:prstGeom prst="roundRect">
            <a:avLst>
              <a:gd name="adj" fmla="val 5714"/>
            </a:avLst>
          </a:prstGeom>
          <a:solidFill>
            <a:schemeClr val="bg2"/>
          </a:solidFill>
          <a:ln/>
        </p:spPr>
      </p:sp>
      <p:sp>
        <p:nvSpPr>
          <p:cNvPr id="15" name="Text 11"/>
          <p:cNvSpPr txBox="1"/>
          <p:nvPr/>
        </p:nvSpPr>
        <p:spPr>
          <a:xfrm>
            <a:off x="640080" y="3429000"/>
            <a:ext cx="3611880" cy="347472"/>
          </a:xfrm>
          <a:prstGeom prst="rect">
            <a:avLst/>
          </a:prstGeom>
          <a:noFill/>
          <a:ln/>
        </p:spPr>
        <p:txBody>
          <a:bodyPr wrap="square" lIns="0" tIns="0" rIns="0" bIns="0" rtlCol="0" anchor="t"/>
          <a:lstStyle/>
          <a:p>
            <a:pPr indent="0" marL="0">
              <a:buNone/>
            </a:pPr>
            <a:r>
              <a:rPr lang="en-US" sz="1400" b="1" dirty="0">
                <a:solidFill>
                  <a:schemeClr val="tx1"/>
                </a:solidFill>
              </a:rPr>
              <a:t>AI e confronto tradizionale insieme</a:t>
            </a:r>
            <a:endParaRPr lang="en-US" sz="1400" dirty="0"/>
          </a:p>
        </p:txBody>
      </p:sp>
      <p:sp>
        <p:nvSpPr>
          <p:cNvPr id="16" name="Text 12"/>
          <p:cNvSpPr txBox="1"/>
          <p:nvPr/>
        </p:nvSpPr>
        <p:spPr>
          <a:xfrm>
            <a:off x="640080" y="3813048"/>
            <a:ext cx="3611880" cy="603504"/>
          </a:xfrm>
          <a:prstGeom prst="rect">
            <a:avLst/>
          </a:prstGeom>
          <a:noFill/>
          <a:ln/>
        </p:spPr>
        <p:txBody>
          <a:bodyPr wrap="square" lIns="0" tIns="0" rIns="0" bIns="0" rtlCol="0" anchor="t"/>
          <a:lstStyle/>
          <a:p>
            <a:pPr indent="0" marL="0">
              <a:buNone/>
            </a:pPr>
            <a:r>
              <a:rPr lang="en-US" sz="1200" dirty="0">
                <a:solidFill>
                  <a:schemeClr val="tx2"/>
                </a:solidFill>
              </a:rPr>
              <a:t>Il confronto tradizionale trova ogni differenza testuale; l'AI le spiega e le ordina per importanza.</a:t>
            </a:r>
            <a:endParaRPr lang="en-US" sz="1200" dirty="0"/>
          </a:p>
        </p:txBody>
      </p:sp>
      <p:sp>
        <p:nvSpPr>
          <p:cNvPr id="17" name="scheda Il contesto lo porta chi decide"/>
          <p:cNvSpPr/>
          <p:nvPr/>
        </p:nvSpPr>
        <p:spPr>
          <a:xfrm>
            <a:off x="4709160" y="3246120"/>
            <a:ext cx="3977640" cy="1280160"/>
          </a:xfrm>
          <a:prstGeom prst="roundRect">
            <a:avLst>
              <a:gd name="adj" fmla="val 5714"/>
            </a:avLst>
          </a:prstGeom>
          <a:solidFill>
            <a:schemeClr val="accent6"/>
          </a:solidFill>
          <a:ln/>
        </p:spPr>
      </p:sp>
      <p:sp>
        <p:nvSpPr>
          <p:cNvPr id="18" name="Text 14"/>
          <p:cNvSpPr txBox="1"/>
          <p:nvPr/>
        </p:nvSpPr>
        <p:spPr>
          <a:xfrm>
            <a:off x="4892040" y="3429000"/>
            <a:ext cx="3611880" cy="347472"/>
          </a:xfrm>
          <a:prstGeom prst="rect">
            <a:avLst/>
          </a:prstGeom>
          <a:noFill/>
          <a:ln/>
        </p:spPr>
        <p:txBody>
          <a:bodyPr wrap="square" lIns="0" tIns="0" rIns="0" bIns="0" rtlCol="0" anchor="t"/>
          <a:lstStyle/>
          <a:p>
            <a:pPr indent="0" marL="0">
              <a:buNone/>
            </a:pPr>
            <a:r>
              <a:rPr lang="en-US" sz="1400" b="1" dirty="0">
                <a:solidFill>
                  <a:schemeClr val="tx1"/>
                </a:solidFill>
              </a:rPr>
              <a:t>Il contesto lo porta chi decide</a:t>
            </a:r>
            <a:endParaRPr lang="en-US" sz="1400" dirty="0"/>
          </a:p>
        </p:txBody>
      </p:sp>
      <p:sp>
        <p:nvSpPr>
          <p:cNvPr id="19" name="Text 15"/>
          <p:cNvSpPr txBox="1"/>
          <p:nvPr/>
        </p:nvSpPr>
        <p:spPr>
          <a:xfrm>
            <a:off x="4892040" y="3813048"/>
            <a:ext cx="3611880" cy="603504"/>
          </a:xfrm>
          <a:prstGeom prst="rect">
            <a:avLst/>
          </a:prstGeom>
          <a:noFill/>
          <a:ln/>
        </p:spPr>
        <p:txBody>
          <a:bodyPr wrap="square" lIns="0" tIns="0" rIns="0" bIns="0" rtlCol="0" anchor="t"/>
          <a:lstStyle/>
          <a:p>
            <a:pPr indent="0" marL="0">
              <a:buNone/>
            </a:pPr>
            <a:r>
              <a:rPr lang="en-US" sz="1200" dirty="0">
                <a:solidFill>
                  <a:schemeClr val="tx2"/>
                </a:solidFill>
              </a:rPr>
              <a:t>L'AI segnala che cosa cambia; quanto conta lo valuta chi conosce la trattativa.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Tre offerte in una matrice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prompt"/>
          <p:cNvSpPr/>
          <p:nvPr/>
        </p:nvSpPr>
        <p:spPr>
          <a:xfrm>
            <a:off x="457200" y="1024128"/>
            <a:ext cx="8229600" cy="822960"/>
          </a:xfrm>
          <a:prstGeom prst="roundRect">
            <a:avLst>
              <a:gd name="adj" fmla="val 8889"/>
            </a:avLst>
          </a:prstGeom>
          <a:solidFill>
            <a:schemeClr val="bg2"/>
          </a:solidFill>
          <a:ln/>
        </p:spPr>
      </p:sp>
      <p:sp>
        <p:nvSpPr>
          <p:cNvPr id="13" name="Text 10"/>
          <p:cNvSpPr txBox="1"/>
          <p:nvPr/>
        </p:nvSpPr>
        <p:spPr>
          <a:xfrm>
            <a:off x="621792" y="1115568"/>
            <a:ext cx="7900416" cy="256032"/>
          </a:xfrm>
          <a:prstGeom prst="rect">
            <a:avLst/>
          </a:prstGeom>
          <a:noFill/>
          <a:ln/>
        </p:spPr>
        <p:txBody>
          <a:bodyPr wrap="square" lIns="0" tIns="0" rIns="0" bIns="0" rtlCol="0" anchor="t"/>
          <a:lstStyle/>
          <a:p>
            <a:pPr indent="0" marL="0">
              <a:buNone/>
            </a:pPr>
            <a:r>
              <a:rPr lang="en-US" sz="1100" b="1" dirty="0">
                <a:solidFill>
                  <a:schemeClr val="accent1"/>
                </a:solidFill>
              </a:rPr>
              <a:t>Richiesta all'AI (esempio fittizio)</a:t>
            </a:r>
            <a:endParaRPr lang="en-US" sz="1100" dirty="0"/>
          </a:p>
        </p:txBody>
      </p:sp>
      <p:sp>
        <p:nvSpPr>
          <p:cNvPr id="14" name="Text 11"/>
          <p:cNvSpPr txBox="1"/>
          <p:nvPr/>
        </p:nvSpPr>
        <p:spPr>
          <a:xfrm>
            <a:off x="621792" y="1389888"/>
            <a:ext cx="7900416" cy="36576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«Confronta le tre offerte su prezzo IVA esclusa, consegna in giorni di calendario, garanzia e assistenza. Per ogni valore indica il paragrafo. Se un dato manca, scrivi 'non specificato'.»</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8229600" cy="914400"/>
        </p:xfrm>
        <a:graphic>
          <a:graphicData uri="http://schemas.openxmlformats.org/drawingml/2006/table">
            <a:tbl>
              <a:tblPr/>
              <a:tblGrid>
                <a:gridCol w="1920240"/>
                <a:gridCol w="2011680"/>
                <a:gridCol w="2011680"/>
                <a:gridCol w="2286000"/>
              </a:tblGrid>
              <a:tr h="365760">
                <a:tc>
                  <a:txBody>
                    <a:bodyPr/>
                    <a:lstStyle/>
                    <a:p>
                      <a:pPr indent="0" marL="0">
                        <a:buNone/>
                      </a:pPr>
                      <a:r>
                        <a:rPr lang="en-US" sz="1200" b="1" dirty="0">
                          <a:solidFill>
                            <a:schemeClr val="bg1"/>
                          </a:solidFill>
                        </a:rPr>
                        <a:t>Criterio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Fornitore 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Fornitore B</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Fornitore C</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65760">
                <a:tc>
                  <a:txBody>
                    <a:bodyPr/>
                    <a:lstStyle/>
                    <a:p>
                      <a:pPr indent="0" marL="0">
                        <a:buNone/>
                      </a:pPr>
                      <a:r>
                        <a:rPr lang="en-US" sz="1200" b="1" dirty="0">
                          <a:solidFill>
                            <a:schemeClr val="tx1"/>
                          </a:solidFill>
                        </a:rPr>
                        <a:t>Prezzo (IVA esclusa)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12.400 € (§3)</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11.900 € (§2.1)</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12.100 € (p. 4)</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Consegna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30 giorni (§5)</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45 giorni (§4)</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circa 28 giorni: 20 lavorativi (p. 6)</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Garanzia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24 mesi (§7)</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36 mesi (§6.2)</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24 mesi (p. 7)</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Assistenza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Inclusa 12 mesi (§8)</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 pagamento (§6.4)</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Non specificata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6" name="blocco Un riferimento per ogni cella, da affiancare all'originale"/>
          <p:cNvSpPr/>
          <p:nvPr/>
        </p:nvSpPr>
        <p:spPr>
          <a:xfrm>
            <a:off x="457200" y="3977640"/>
            <a:ext cx="3291840" cy="548640"/>
          </a:xfrm>
          <a:prstGeom prst="roundRect">
            <a:avLst>
              <a:gd name="adj" fmla="val 20000"/>
            </a:avLst>
          </a:prstGeom>
          <a:solidFill>
            <a:schemeClr val="accent6"/>
          </a:solidFill>
          <a:ln/>
        </p:spPr>
      </p:sp>
      <p:sp>
        <p:nvSpPr>
          <p:cNvPr id="17" name="Text 13"/>
          <p:cNvSpPr txBox="1"/>
          <p:nvPr/>
        </p:nvSpPr>
        <p:spPr>
          <a:xfrm>
            <a:off x="502920" y="3977640"/>
            <a:ext cx="3200400" cy="548640"/>
          </a:xfrm>
          <a:prstGeom prst="rect">
            <a:avLst/>
          </a:prstGeom>
          <a:noFill/>
          <a:ln/>
        </p:spPr>
        <p:txBody>
          <a:bodyPr wrap="square" lIns="0" tIns="0" rIns="0" bIns="0" rtlCol="0" anchor="ctr"/>
          <a:lstStyle/>
          <a:p>
            <a:pPr algn="ctr" indent="0" marL="0">
              <a:buNone/>
            </a:pPr>
            <a:r>
              <a:rPr lang="en-US" sz="1100" b="1" dirty="0">
                <a:solidFill>
                  <a:schemeClr val="tx1"/>
                </a:solidFill>
              </a:rPr>
              <a:t>Un riferimento per ogni cella, da affiancare all'originale</a:t>
            </a:r>
            <a:endParaRPr lang="en-US" sz="1100" dirty="0"/>
          </a:p>
        </p:txBody>
      </p:sp>
      <p:sp>
        <p:nvSpPr>
          <p:cNvPr id="18" name="blocco Vuoti dichiarati, non dedotti"/>
          <p:cNvSpPr/>
          <p:nvPr/>
        </p:nvSpPr>
        <p:spPr>
          <a:xfrm>
            <a:off x="3886200" y="3977640"/>
            <a:ext cx="2331720" cy="548640"/>
          </a:xfrm>
          <a:prstGeom prst="roundRect">
            <a:avLst>
              <a:gd name="adj" fmla="val 20000"/>
            </a:avLst>
          </a:prstGeom>
          <a:solidFill>
            <a:schemeClr val="accent6"/>
          </a:solidFill>
          <a:ln/>
        </p:spPr>
      </p:sp>
      <p:sp>
        <p:nvSpPr>
          <p:cNvPr id="19" name="Text 15"/>
          <p:cNvSpPr txBox="1"/>
          <p:nvPr/>
        </p:nvSpPr>
        <p:spPr>
          <a:xfrm>
            <a:off x="3931920" y="3977640"/>
            <a:ext cx="2240280" cy="548640"/>
          </a:xfrm>
          <a:prstGeom prst="rect">
            <a:avLst/>
          </a:prstGeom>
          <a:noFill/>
          <a:ln/>
        </p:spPr>
        <p:txBody>
          <a:bodyPr wrap="square" lIns="0" tIns="0" rIns="0" bIns="0" rtlCol="0" anchor="ctr"/>
          <a:lstStyle/>
          <a:p>
            <a:pPr algn="ctr" indent="0" marL="0">
              <a:buNone/>
            </a:pPr>
            <a:r>
              <a:rPr lang="en-US" sz="1100" b="1" dirty="0">
                <a:solidFill>
                  <a:schemeClr val="tx1"/>
                </a:solidFill>
              </a:rPr>
              <a:t>Vuoti dichiarati, non dedotti</a:t>
            </a:r>
            <a:endParaRPr lang="en-US" sz="1100" dirty="0"/>
          </a:p>
        </p:txBody>
      </p:sp>
      <p:sp>
        <p:nvSpPr>
          <p:cNvPr id="20" name="blocco Valori resi comparabili"/>
          <p:cNvSpPr/>
          <p:nvPr/>
        </p:nvSpPr>
        <p:spPr>
          <a:xfrm>
            <a:off x="6355080" y="3977640"/>
            <a:ext cx="2331720" cy="548640"/>
          </a:xfrm>
          <a:prstGeom prst="roundRect">
            <a:avLst>
              <a:gd name="adj" fmla="val 20000"/>
            </a:avLst>
          </a:prstGeom>
          <a:solidFill>
            <a:schemeClr val="accent6"/>
          </a:solidFill>
          <a:ln/>
        </p:spPr>
      </p:sp>
      <p:sp>
        <p:nvSpPr>
          <p:cNvPr id="21" name="Text 17"/>
          <p:cNvSpPr txBox="1"/>
          <p:nvPr/>
        </p:nvSpPr>
        <p:spPr>
          <a:xfrm>
            <a:off x="6400800" y="3977640"/>
            <a:ext cx="2240280" cy="548640"/>
          </a:xfrm>
          <a:prstGeom prst="rect">
            <a:avLst/>
          </a:prstGeom>
          <a:noFill/>
          <a:ln/>
        </p:spPr>
        <p:txBody>
          <a:bodyPr wrap="square" lIns="0" tIns="0" rIns="0" bIns="0" rtlCol="0" anchor="ctr"/>
          <a:lstStyle/>
          <a:p>
            <a:pPr algn="ctr" indent="0" marL="0">
              <a:buNone/>
            </a:pPr>
            <a:r>
              <a:rPr lang="en-US" sz="1100" b="1" dirty="0">
                <a:solidFill>
                  <a:schemeClr val="tx1"/>
                </a:solidFill>
              </a:rPr>
              <a:t>Valori resi comparabili</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Contraddizioni e lacune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Contraddizioni"/>
          <p:cNvSpPr/>
          <p:nvPr/>
        </p:nvSpPr>
        <p:spPr>
          <a:xfrm>
            <a:off x="457200" y="1097280"/>
            <a:ext cx="3977640" cy="2468880"/>
          </a:xfrm>
          <a:prstGeom prst="roundRect">
            <a:avLst>
              <a:gd name="adj" fmla="val 2963"/>
            </a:avLst>
          </a:prstGeom>
          <a:solidFill>
            <a:schemeClr val="bg2"/>
          </a:solidFill>
          <a:ln/>
        </p:spPr>
      </p:sp>
      <p:sp>
        <p:nvSpPr>
          <p:cNvPr id="13" name="cerchio FiXCircle"/>
          <p:cNvSpPr/>
          <p:nvPr/>
        </p:nvSpPr>
        <p:spPr>
          <a:xfrm>
            <a:off x="640080" y="1280160"/>
            <a:ext cx="457200" cy="457200"/>
          </a:xfrm>
          <a:prstGeom prst="ellipse">
            <a:avLst/>
          </a:prstGeom>
          <a:solidFill>
            <a:schemeClr val="accent5"/>
          </a:solidFill>
          <a:ln/>
        </p:spPr>
      </p:sp>
      <p:pic>
        <p:nvPicPr>
          <p:cNvPr id="14" name="Image 0" descr="FiXCircle">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Contraddizioni</a:t>
            </a:r>
            <a:endParaRPr lang="en-US" sz="1600" dirty="0"/>
          </a:p>
        </p:txBody>
      </p:sp>
      <p:sp>
        <p:nvSpPr>
          <p:cNvPr id="16" name="Text 12"/>
          <p:cNvSpPr txBox="1"/>
          <p:nvPr/>
        </p:nvSpPr>
        <p:spPr>
          <a:xfrm>
            <a:off x="640080" y="2231136"/>
            <a:ext cx="3611880" cy="122529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Procedura: approvazione in 2 giorni; regolamento: 5</a:t>
            </a:r>
            <a:endParaRPr lang="en-US" sz="1200" dirty="0"/>
          </a:p>
          <a:p>
            <a:pPr marL="177800" indent="-177800">
              <a:spcAft>
                <a:spcPts val="500"/>
              </a:spcAft>
              <a:buSzPct val="100000"/>
              <a:buChar char="•"/>
            </a:pPr>
            <a:r>
              <a:rPr lang="en-US" sz="1200" dirty="0">
                <a:solidFill>
                  <a:schemeClr val="tx2"/>
                </a:solidFill>
              </a:rPr>
              <a:t>Offerta: garanzia 24 mesi in premessa, 12 nelle condizioni</a:t>
            </a:r>
            <a:endParaRPr lang="en-US" sz="1200" dirty="0"/>
          </a:p>
          <a:p>
            <a:pPr marL="177800" indent="-177800">
              <a:spcAft>
                <a:spcPts val="500"/>
              </a:spcAft>
              <a:buSzPct val="100000"/>
              <a:buChar char="•"/>
            </a:pPr>
            <a:r>
              <a:rPr lang="en-US" sz="1200" dirty="0">
                <a:solidFill>
                  <a:schemeClr val="tx2"/>
                </a:solidFill>
              </a:rPr>
              <a:t>Attività attribuita a reparti diversi</a:t>
            </a:r>
            <a:endParaRPr lang="en-US" sz="1200" dirty="0"/>
          </a:p>
        </p:txBody>
      </p:sp>
      <p:sp>
        <p:nvSpPr>
          <p:cNvPr id="17" name="scheda Informazioni mancanti"/>
          <p:cNvSpPr/>
          <p:nvPr/>
        </p:nvSpPr>
        <p:spPr>
          <a:xfrm>
            <a:off x="4709160" y="1097280"/>
            <a:ext cx="3977640" cy="2468880"/>
          </a:xfrm>
          <a:prstGeom prst="roundRect">
            <a:avLst>
              <a:gd name="adj" fmla="val 2963"/>
            </a:avLst>
          </a:prstGeom>
          <a:solidFill>
            <a:schemeClr val="accent6"/>
          </a:solidFill>
          <a:ln/>
        </p:spPr>
      </p:sp>
      <p:sp>
        <p:nvSpPr>
          <p:cNvPr id="18" name="cerchio FiMinusCircle"/>
          <p:cNvSpPr/>
          <p:nvPr/>
        </p:nvSpPr>
        <p:spPr>
          <a:xfrm>
            <a:off x="4892040" y="1280160"/>
            <a:ext cx="457200" cy="457200"/>
          </a:xfrm>
          <a:prstGeom prst="ellipse">
            <a:avLst/>
          </a:prstGeom>
          <a:solidFill>
            <a:schemeClr val="accent1"/>
          </a:solidFill>
          <a:ln/>
        </p:spPr>
      </p:sp>
      <p:pic>
        <p:nvPicPr>
          <p:cNvPr id="19" name="Image 1" descr="FiMinusCircle">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Informazioni mancanti</a:t>
            </a:r>
            <a:endParaRPr lang="en-US" sz="1600" dirty="0"/>
          </a:p>
        </p:txBody>
      </p:sp>
      <p:sp>
        <p:nvSpPr>
          <p:cNvPr id="21" name="Text 16"/>
          <p:cNvSpPr txBox="1"/>
          <p:nvPr/>
        </p:nvSpPr>
        <p:spPr>
          <a:xfrm>
            <a:off x="4892040" y="2231136"/>
            <a:ext cx="3611880" cy="122529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Capitolato: certificazioni, manutenzione, referenze; offerta: solo le prime due</a:t>
            </a:r>
            <a:endParaRPr lang="en-US" sz="1200" dirty="0"/>
          </a:p>
          <a:p>
            <a:pPr marL="177800" indent="-177800">
              <a:spcAft>
                <a:spcPts val="500"/>
              </a:spcAft>
              <a:buSzPct val="100000"/>
              <a:buChar char="•"/>
            </a:pPr>
            <a:r>
              <a:rPr lang="en-US" sz="1200" dirty="0">
                <a:solidFill>
                  <a:schemeClr val="tx2"/>
                </a:solidFill>
              </a:rPr>
              <a:t>Caso previsto dal regolamento, non disciplinato dalla procedura</a:t>
            </a:r>
            <a:endParaRPr lang="en-US" sz="1200" dirty="0"/>
          </a:p>
        </p:txBody>
      </p:sp>
      <p:sp>
        <p:nvSpPr>
          <p:cNvPr id="22" name="Per le lacune: l'elenco dei requisiti"/>
          <p:cNvSpPr/>
          <p:nvPr/>
        </p:nvSpPr>
        <p:spPr>
          <a:xfrm>
            <a:off x="457200" y="3703320"/>
            <a:ext cx="3977640" cy="822960"/>
          </a:xfrm>
          <a:prstGeom prst="roundRect">
            <a:avLst>
              <a:gd name="adj" fmla="val 8889"/>
            </a:avLst>
          </a:prstGeom>
          <a:solidFill>
            <a:schemeClr val="tx1"/>
          </a:solidFill>
          <a:ln/>
        </p:spPr>
      </p:sp>
      <p:sp>
        <p:nvSpPr>
          <p:cNvPr id="23" name="Text 18"/>
          <p:cNvSpPr txBox="1"/>
          <p:nvPr/>
        </p:nvSpPr>
        <p:spPr>
          <a:xfrm>
            <a:off x="640080" y="3749040"/>
            <a:ext cx="3611880" cy="347472"/>
          </a:xfrm>
          <a:prstGeom prst="rect">
            <a:avLst/>
          </a:prstGeom>
          <a:noFill/>
          <a:ln/>
        </p:spPr>
        <p:txBody>
          <a:bodyPr wrap="square" lIns="0" tIns="0" rIns="0" bIns="0" rtlCol="0" anchor="t"/>
          <a:lstStyle/>
          <a:p>
            <a:pPr indent="0" marL="0">
              <a:buNone/>
            </a:pPr>
            <a:r>
              <a:rPr lang="en-US" sz="1300" b="1" dirty="0">
                <a:solidFill>
                  <a:schemeClr val="accent6"/>
                </a:solidFill>
              </a:rPr>
              <a:t>Per le lacune: l'elenco dei requisiti</a:t>
            </a:r>
            <a:endParaRPr lang="en-US" sz="1300" dirty="0"/>
          </a:p>
        </p:txBody>
      </p:sp>
      <p:sp>
        <p:nvSpPr>
          <p:cNvPr id="24" name="Text 19"/>
          <p:cNvSpPr txBox="1"/>
          <p:nvPr/>
        </p:nvSpPr>
        <p:spPr>
          <a:xfrm>
            <a:off x="640080" y="4087368"/>
            <a:ext cx="3611880" cy="365760"/>
          </a:xfrm>
          <a:prstGeom prst="rect">
            <a:avLst/>
          </a:prstGeom>
          <a:noFill/>
          <a:ln/>
        </p:spPr>
        <p:txBody>
          <a:bodyPr wrap="square" lIns="0" tIns="0" rIns="0" bIns="0" rtlCol="0" anchor="t"/>
          <a:lstStyle/>
          <a:p>
            <a:pPr indent="0" marL="0">
              <a:buNone/>
            </a:pPr>
            <a:r>
              <a:rPr lang="en-US" sz="1200" dirty="0">
                <a:solidFill>
                  <a:schemeClr val="bg1"/>
                </a:solidFill>
              </a:rPr>
              <a:t>L'AI trova meglio ciò che manca se sa che cosa cercare</a:t>
            </a:r>
            <a:endParaRPr lang="en-US" sz="1200" dirty="0"/>
          </a:p>
        </p:txBody>
      </p:sp>
      <p:sp>
        <p:nvSpPr>
          <p:cNvPr id="25" name="Per le contraddizioni: i due passaggi"/>
          <p:cNvSpPr/>
          <p:nvPr/>
        </p:nvSpPr>
        <p:spPr>
          <a:xfrm>
            <a:off x="4709160" y="3703320"/>
            <a:ext cx="3977640" cy="822960"/>
          </a:xfrm>
          <a:prstGeom prst="roundRect">
            <a:avLst>
              <a:gd name="adj" fmla="val 8889"/>
            </a:avLst>
          </a:prstGeom>
          <a:solidFill>
            <a:schemeClr val="tx1"/>
          </a:solidFill>
          <a:ln/>
        </p:spPr>
      </p:sp>
      <p:sp>
        <p:nvSpPr>
          <p:cNvPr id="26" name="Text 21"/>
          <p:cNvSpPr txBox="1"/>
          <p:nvPr/>
        </p:nvSpPr>
        <p:spPr>
          <a:xfrm>
            <a:off x="4892040" y="3749040"/>
            <a:ext cx="3611880" cy="347472"/>
          </a:xfrm>
          <a:prstGeom prst="rect">
            <a:avLst/>
          </a:prstGeom>
          <a:noFill/>
          <a:ln/>
        </p:spPr>
        <p:txBody>
          <a:bodyPr wrap="square" lIns="0" tIns="0" rIns="0" bIns="0" rtlCol="0" anchor="t"/>
          <a:lstStyle/>
          <a:p>
            <a:pPr indent="0" marL="0">
              <a:buNone/>
            </a:pPr>
            <a:r>
              <a:rPr lang="en-US" sz="1300" b="1" dirty="0">
                <a:solidFill>
                  <a:schemeClr val="accent6"/>
                </a:solidFill>
              </a:rPr>
              <a:t>Per le contraddizioni: i due passaggi</a:t>
            </a:r>
            <a:endParaRPr lang="en-US" sz="1300" dirty="0"/>
          </a:p>
        </p:txBody>
      </p:sp>
      <p:sp>
        <p:nvSpPr>
          <p:cNvPr id="27" name="Text 22"/>
          <p:cNvSpPr txBox="1"/>
          <p:nvPr/>
        </p:nvSpPr>
        <p:spPr>
          <a:xfrm>
            <a:off x="4892040" y="4087368"/>
            <a:ext cx="3611880" cy="365760"/>
          </a:xfrm>
          <a:prstGeom prst="rect">
            <a:avLst/>
          </a:prstGeom>
          <a:noFill/>
          <a:ln/>
        </p:spPr>
        <p:txBody>
          <a:bodyPr wrap="square" lIns="0" tIns="0" rIns="0" bIns="0" rtlCol="0" anchor="t"/>
          <a:lstStyle/>
          <a:p>
            <a:pPr indent="0" marL="0">
              <a:buNone/>
            </a:pPr>
            <a:r>
              <a:rPr lang="en-US" sz="1200" dirty="0">
                <a:solidFill>
                  <a:schemeClr val="bg1"/>
                </a:solidFill>
              </a:rPr>
              <a:t>Ogni segnalazione si verifica affiancando i testi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 confronto documentale è utile se individua differenze rilevanti, ne distingue la natura e permette di verificarle nelle fonti.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8.5  ·  Confronto e analisi di più documenti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Ricerca, approfondimento e organizzazione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accelera l'esplorazione di un argomento, la ricerca delle fonti e l'organizzazione delle conoscenze; l'attendibilità si valuta sulle fonti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L'AI nel lavoro di ricerca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Orientarsi"/>
          <p:cNvSpPr/>
          <p:nvPr/>
        </p:nvSpPr>
        <p:spPr>
          <a:xfrm>
            <a:off x="457200" y="1097280"/>
            <a:ext cx="1517904" cy="2194560"/>
          </a:xfrm>
          <a:prstGeom prst="roundRect">
            <a:avLst>
              <a:gd name="adj" fmla="val 4819"/>
            </a:avLst>
          </a:prstGeom>
          <a:solidFill>
            <a:schemeClr val="bg2"/>
          </a:solidFill>
          <a:ln/>
        </p:spPr>
      </p:sp>
      <p:sp>
        <p:nvSpPr>
          <p:cNvPr id="13" name="cerchio FiCompass"/>
          <p:cNvSpPr/>
          <p:nvPr/>
        </p:nvSpPr>
        <p:spPr>
          <a:xfrm>
            <a:off x="941832" y="1234440"/>
            <a:ext cx="548640" cy="548640"/>
          </a:xfrm>
          <a:prstGeom prst="ellipse">
            <a:avLst/>
          </a:prstGeom>
          <a:solidFill>
            <a:schemeClr val="accent1"/>
          </a:solidFill>
          <a:ln/>
        </p:spPr>
      </p:sp>
      <p:pic>
        <p:nvPicPr>
          <p:cNvPr id="14" name="Image 0" descr="FiCompass">    </p:cNvPr>
          <p:cNvPicPr>
            <a:picLocks noChangeAspect="1"/>
          </p:cNvPicPr>
          <p:nvPr/>
        </p:nvPicPr>
        <p:blipFill>
          <a:blip r:embed="rId1"/>
          <a:stretch>
            <a:fillRect/>
          </a:stretch>
        </p:blipFill>
        <p:spPr>
          <a:xfrm>
            <a:off x="1078992" y="1371600"/>
            <a:ext cx="274320" cy="274320"/>
          </a:xfrm>
          <a:prstGeom prst="rect">
            <a:avLst/>
          </a:prstGeom>
        </p:spPr>
      </p:pic>
      <p:sp>
        <p:nvSpPr>
          <p:cNvPr id="15" name="Text 11"/>
          <p:cNvSpPr txBox="1"/>
          <p:nvPr/>
        </p:nvSpPr>
        <p:spPr>
          <a:xfrm>
            <a:off x="530352" y="1874520"/>
            <a:ext cx="1371600" cy="365760"/>
          </a:xfrm>
          <a:prstGeom prst="rect">
            <a:avLst/>
          </a:prstGeom>
          <a:noFill/>
          <a:ln/>
        </p:spPr>
        <p:txBody>
          <a:bodyPr wrap="square" lIns="0" tIns="0" rIns="0" bIns="0" rtlCol="0" anchor="t"/>
          <a:lstStyle/>
          <a:p>
            <a:pPr algn="ctr" indent="0" marL="0">
              <a:buNone/>
            </a:pPr>
            <a:r>
              <a:rPr lang="en-US" sz="1300" b="1" dirty="0">
                <a:solidFill>
                  <a:schemeClr val="tx1"/>
                </a:solidFill>
              </a:rPr>
              <a:t>Orientarsi</a:t>
            </a:r>
            <a:endParaRPr lang="en-US" sz="1300" dirty="0"/>
          </a:p>
        </p:txBody>
      </p:sp>
      <p:sp>
        <p:nvSpPr>
          <p:cNvPr id="16" name="Text 12"/>
          <p:cNvSpPr txBox="1"/>
          <p:nvPr/>
        </p:nvSpPr>
        <p:spPr>
          <a:xfrm>
            <a:off x="548640" y="2286000"/>
            <a:ext cx="1335024" cy="914400"/>
          </a:xfrm>
          <a:prstGeom prst="rect">
            <a:avLst/>
          </a:prstGeom>
          <a:noFill/>
          <a:ln/>
        </p:spPr>
        <p:txBody>
          <a:bodyPr wrap="square" lIns="0" tIns="0" rIns="0" bIns="0" rtlCol="0" anchor="t"/>
          <a:lstStyle/>
          <a:p>
            <a:pPr algn="ctr" indent="0" marL="0">
              <a:buNone/>
            </a:pPr>
            <a:r>
              <a:rPr lang="en-US" sz="1100" dirty="0">
                <a:solidFill>
                  <a:schemeClr val="tx2"/>
                </a:solidFill>
              </a:rPr>
              <a:t>Concetti, lessico, domande giuste</a:t>
            </a:r>
            <a:endParaRPr lang="en-US" sz="1100" dirty="0"/>
          </a:p>
        </p:txBody>
      </p:sp>
      <p:sp>
        <p:nvSpPr>
          <p:cNvPr id="17" name="freccia"/>
          <p:cNvSpPr/>
          <p:nvPr/>
        </p:nvSpPr>
        <p:spPr>
          <a:xfrm>
            <a:off x="1979676" y="2011680"/>
            <a:ext cx="155448" cy="292608"/>
          </a:xfrm>
          <a:prstGeom prst="rightArrow">
            <a:avLst/>
          </a:prstGeom>
          <a:solidFill>
            <a:schemeClr val="accent2"/>
          </a:solidFill>
          <a:ln/>
        </p:spPr>
      </p:sp>
      <p:sp>
        <p:nvSpPr>
          <p:cNvPr id="18" name="Trovare fonti"/>
          <p:cNvSpPr/>
          <p:nvPr/>
        </p:nvSpPr>
        <p:spPr>
          <a:xfrm>
            <a:off x="2139696" y="1097280"/>
            <a:ext cx="1517904" cy="2194560"/>
          </a:xfrm>
          <a:prstGeom prst="roundRect">
            <a:avLst>
              <a:gd name="adj" fmla="val 4819"/>
            </a:avLst>
          </a:prstGeom>
          <a:solidFill>
            <a:schemeClr val="accent6"/>
          </a:solidFill>
          <a:ln/>
        </p:spPr>
      </p:sp>
      <p:sp>
        <p:nvSpPr>
          <p:cNvPr id="19" name="cerchio FiSearch"/>
          <p:cNvSpPr/>
          <p:nvPr/>
        </p:nvSpPr>
        <p:spPr>
          <a:xfrm>
            <a:off x="2624328" y="1234440"/>
            <a:ext cx="548640" cy="548640"/>
          </a:xfrm>
          <a:prstGeom prst="ellipse">
            <a:avLst/>
          </a:prstGeom>
          <a:solidFill>
            <a:schemeClr val="accent1"/>
          </a:solidFill>
          <a:ln/>
        </p:spPr>
      </p:sp>
      <p:pic>
        <p:nvPicPr>
          <p:cNvPr id="20" name="Image 1" descr="FiSearch">    </p:cNvPr>
          <p:cNvPicPr>
            <a:picLocks noChangeAspect="1"/>
          </p:cNvPicPr>
          <p:nvPr/>
        </p:nvPicPr>
        <p:blipFill>
          <a:blip r:embed="rId2"/>
          <a:stretch>
            <a:fillRect/>
          </a:stretch>
        </p:blipFill>
        <p:spPr>
          <a:xfrm>
            <a:off x="2761488" y="1371600"/>
            <a:ext cx="274320" cy="274320"/>
          </a:xfrm>
          <a:prstGeom prst="rect">
            <a:avLst/>
          </a:prstGeom>
        </p:spPr>
      </p:pic>
      <p:sp>
        <p:nvSpPr>
          <p:cNvPr id="21" name="Text 16"/>
          <p:cNvSpPr txBox="1"/>
          <p:nvPr/>
        </p:nvSpPr>
        <p:spPr>
          <a:xfrm>
            <a:off x="2212848" y="1874520"/>
            <a:ext cx="1371600" cy="365760"/>
          </a:xfrm>
          <a:prstGeom prst="rect">
            <a:avLst/>
          </a:prstGeom>
          <a:noFill/>
          <a:ln/>
        </p:spPr>
        <p:txBody>
          <a:bodyPr wrap="square" lIns="0" tIns="0" rIns="0" bIns="0" rtlCol="0" anchor="t"/>
          <a:lstStyle/>
          <a:p>
            <a:pPr algn="ctr" indent="0" marL="0">
              <a:buNone/>
            </a:pPr>
            <a:r>
              <a:rPr lang="en-US" sz="1300" b="1" dirty="0">
                <a:solidFill>
                  <a:schemeClr val="tx1"/>
                </a:solidFill>
              </a:rPr>
              <a:t>Trovare fonti</a:t>
            </a:r>
            <a:endParaRPr lang="en-US" sz="1300" dirty="0"/>
          </a:p>
        </p:txBody>
      </p:sp>
      <p:sp>
        <p:nvSpPr>
          <p:cNvPr id="22" name="Text 17"/>
          <p:cNvSpPr txBox="1"/>
          <p:nvPr/>
        </p:nvSpPr>
        <p:spPr>
          <a:xfrm>
            <a:off x="2231136" y="2286000"/>
            <a:ext cx="1335024" cy="914400"/>
          </a:xfrm>
          <a:prstGeom prst="rect">
            <a:avLst/>
          </a:prstGeom>
          <a:noFill/>
          <a:ln/>
        </p:spPr>
        <p:txBody>
          <a:bodyPr wrap="square" lIns="0" tIns="0" rIns="0" bIns="0" rtlCol="0" anchor="t"/>
          <a:lstStyle/>
          <a:p>
            <a:pPr algn="ctr" indent="0" marL="0">
              <a:buNone/>
            </a:pPr>
            <a:r>
              <a:rPr lang="en-US" sz="1100" dirty="0">
                <a:solidFill>
                  <a:schemeClr val="tx2"/>
                </a:solidFill>
              </a:rPr>
              <a:t>Tipi di fonti, enti, parole chiave, pagine</a:t>
            </a:r>
            <a:endParaRPr lang="en-US" sz="1100" dirty="0"/>
          </a:p>
        </p:txBody>
      </p:sp>
      <p:sp>
        <p:nvSpPr>
          <p:cNvPr id="23" name="freccia"/>
          <p:cNvSpPr/>
          <p:nvPr/>
        </p:nvSpPr>
        <p:spPr>
          <a:xfrm>
            <a:off x="3662172" y="2011680"/>
            <a:ext cx="155448" cy="292608"/>
          </a:xfrm>
          <a:prstGeom prst="rightArrow">
            <a:avLst/>
          </a:prstGeom>
          <a:solidFill>
            <a:schemeClr val="accent2"/>
          </a:solidFill>
          <a:ln/>
        </p:spPr>
      </p:sp>
      <p:sp>
        <p:nvSpPr>
          <p:cNvPr id="24" name="Approfondire"/>
          <p:cNvSpPr/>
          <p:nvPr/>
        </p:nvSpPr>
        <p:spPr>
          <a:xfrm>
            <a:off x="3822192" y="1097280"/>
            <a:ext cx="1517904" cy="2194560"/>
          </a:xfrm>
          <a:prstGeom prst="roundRect">
            <a:avLst>
              <a:gd name="adj" fmla="val 4819"/>
            </a:avLst>
          </a:prstGeom>
          <a:solidFill>
            <a:schemeClr val="bg2"/>
          </a:solidFill>
          <a:ln/>
        </p:spPr>
      </p:sp>
      <p:sp>
        <p:nvSpPr>
          <p:cNvPr id="25" name="cerchio FiZoomIn"/>
          <p:cNvSpPr/>
          <p:nvPr/>
        </p:nvSpPr>
        <p:spPr>
          <a:xfrm>
            <a:off x="4306824" y="1234440"/>
            <a:ext cx="548640" cy="548640"/>
          </a:xfrm>
          <a:prstGeom prst="ellipse">
            <a:avLst/>
          </a:prstGeom>
          <a:solidFill>
            <a:schemeClr val="accent1"/>
          </a:solidFill>
          <a:ln/>
        </p:spPr>
      </p:sp>
      <p:pic>
        <p:nvPicPr>
          <p:cNvPr id="26" name="Image 2" descr="FiZoomIn">    </p:cNvPr>
          <p:cNvPicPr>
            <a:picLocks noChangeAspect="1"/>
          </p:cNvPicPr>
          <p:nvPr/>
        </p:nvPicPr>
        <p:blipFill>
          <a:blip r:embed="rId3"/>
          <a:stretch>
            <a:fillRect/>
          </a:stretch>
        </p:blipFill>
        <p:spPr>
          <a:xfrm>
            <a:off x="4443984" y="1371600"/>
            <a:ext cx="274320" cy="274320"/>
          </a:xfrm>
          <a:prstGeom prst="rect">
            <a:avLst/>
          </a:prstGeom>
        </p:spPr>
      </p:pic>
      <p:sp>
        <p:nvSpPr>
          <p:cNvPr id="27" name="Text 21"/>
          <p:cNvSpPr txBox="1"/>
          <p:nvPr/>
        </p:nvSpPr>
        <p:spPr>
          <a:xfrm>
            <a:off x="3895344" y="1874520"/>
            <a:ext cx="1371600" cy="365760"/>
          </a:xfrm>
          <a:prstGeom prst="rect">
            <a:avLst/>
          </a:prstGeom>
          <a:noFill/>
          <a:ln/>
        </p:spPr>
        <p:txBody>
          <a:bodyPr wrap="square" lIns="0" tIns="0" rIns="0" bIns="0" rtlCol="0" anchor="t"/>
          <a:lstStyle/>
          <a:p>
            <a:pPr algn="ctr" indent="0" marL="0">
              <a:buNone/>
            </a:pPr>
            <a:r>
              <a:rPr lang="en-US" sz="1300" b="1" dirty="0">
                <a:solidFill>
                  <a:schemeClr val="tx1"/>
                </a:solidFill>
              </a:rPr>
              <a:t>Approfondire</a:t>
            </a:r>
            <a:endParaRPr lang="en-US" sz="1300" dirty="0"/>
          </a:p>
        </p:txBody>
      </p:sp>
      <p:sp>
        <p:nvSpPr>
          <p:cNvPr id="28" name="Text 22"/>
          <p:cNvSpPr txBox="1"/>
          <p:nvPr/>
        </p:nvSpPr>
        <p:spPr>
          <a:xfrm>
            <a:off x="3913632" y="2286000"/>
            <a:ext cx="1335024" cy="914400"/>
          </a:xfrm>
          <a:prstGeom prst="rect">
            <a:avLst/>
          </a:prstGeom>
          <a:noFill/>
          <a:ln/>
        </p:spPr>
        <p:txBody>
          <a:bodyPr wrap="square" lIns="0" tIns="0" rIns="0" bIns="0" rtlCol="0" anchor="t"/>
          <a:lstStyle/>
          <a:p>
            <a:pPr algn="ctr" indent="0" marL="0">
              <a:buNone/>
            </a:pPr>
            <a:r>
              <a:rPr lang="en-US" sz="1100" dirty="0">
                <a:solidFill>
                  <a:schemeClr val="tx2"/>
                </a:solidFill>
              </a:rPr>
              <a:t>Spiegazioni, esempi, collegamenti</a:t>
            </a:r>
            <a:endParaRPr lang="en-US" sz="1100" dirty="0"/>
          </a:p>
        </p:txBody>
      </p:sp>
      <p:sp>
        <p:nvSpPr>
          <p:cNvPr id="29" name="freccia"/>
          <p:cNvSpPr/>
          <p:nvPr/>
        </p:nvSpPr>
        <p:spPr>
          <a:xfrm>
            <a:off x="5344668" y="2011680"/>
            <a:ext cx="155448" cy="292608"/>
          </a:xfrm>
          <a:prstGeom prst="rightArrow">
            <a:avLst/>
          </a:prstGeom>
          <a:solidFill>
            <a:schemeClr val="accent2"/>
          </a:solidFill>
          <a:ln/>
        </p:spPr>
      </p:sp>
      <p:sp>
        <p:nvSpPr>
          <p:cNvPr id="30" name="Organizzare"/>
          <p:cNvSpPr/>
          <p:nvPr/>
        </p:nvSpPr>
        <p:spPr>
          <a:xfrm>
            <a:off x="5504688" y="1097280"/>
            <a:ext cx="1517904" cy="2194560"/>
          </a:xfrm>
          <a:prstGeom prst="roundRect">
            <a:avLst>
              <a:gd name="adj" fmla="val 4819"/>
            </a:avLst>
          </a:prstGeom>
          <a:solidFill>
            <a:schemeClr val="accent6"/>
          </a:solidFill>
          <a:ln/>
        </p:spPr>
      </p:sp>
      <p:sp>
        <p:nvSpPr>
          <p:cNvPr id="31" name="cerchio FiFolder"/>
          <p:cNvSpPr/>
          <p:nvPr/>
        </p:nvSpPr>
        <p:spPr>
          <a:xfrm>
            <a:off x="5989320" y="1234440"/>
            <a:ext cx="548640" cy="548640"/>
          </a:xfrm>
          <a:prstGeom prst="ellipse">
            <a:avLst/>
          </a:prstGeom>
          <a:solidFill>
            <a:schemeClr val="accent1"/>
          </a:solidFill>
          <a:ln/>
        </p:spPr>
      </p:sp>
      <p:pic>
        <p:nvPicPr>
          <p:cNvPr id="32" name="Image 3" descr="FiFolder">    </p:cNvPr>
          <p:cNvPicPr>
            <a:picLocks noChangeAspect="1"/>
          </p:cNvPicPr>
          <p:nvPr/>
        </p:nvPicPr>
        <p:blipFill>
          <a:blip r:embed="rId4"/>
          <a:stretch>
            <a:fillRect/>
          </a:stretch>
        </p:blipFill>
        <p:spPr>
          <a:xfrm>
            <a:off x="6126480" y="1371600"/>
            <a:ext cx="274320" cy="274320"/>
          </a:xfrm>
          <a:prstGeom prst="rect">
            <a:avLst/>
          </a:prstGeom>
        </p:spPr>
      </p:pic>
      <p:sp>
        <p:nvSpPr>
          <p:cNvPr id="33" name="Text 26"/>
          <p:cNvSpPr txBox="1"/>
          <p:nvPr/>
        </p:nvSpPr>
        <p:spPr>
          <a:xfrm>
            <a:off x="5577840" y="1874520"/>
            <a:ext cx="1371600" cy="365760"/>
          </a:xfrm>
          <a:prstGeom prst="rect">
            <a:avLst/>
          </a:prstGeom>
          <a:noFill/>
          <a:ln/>
        </p:spPr>
        <p:txBody>
          <a:bodyPr wrap="square" lIns="0" tIns="0" rIns="0" bIns="0" rtlCol="0" anchor="t"/>
          <a:lstStyle/>
          <a:p>
            <a:pPr algn="ctr" indent="0" marL="0">
              <a:buNone/>
            </a:pPr>
            <a:r>
              <a:rPr lang="en-US" sz="1300" b="1" dirty="0">
                <a:solidFill>
                  <a:schemeClr val="tx1"/>
                </a:solidFill>
              </a:rPr>
              <a:t>Organizzare</a:t>
            </a:r>
            <a:endParaRPr lang="en-US" sz="1300" dirty="0"/>
          </a:p>
        </p:txBody>
      </p:sp>
      <p:sp>
        <p:nvSpPr>
          <p:cNvPr id="34" name="Text 27"/>
          <p:cNvSpPr txBox="1"/>
          <p:nvPr/>
        </p:nvSpPr>
        <p:spPr>
          <a:xfrm>
            <a:off x="5596128" y="2286000"/>
            <a:ext cx="1335024" cy="914400"/>
          </a:xfrm>
          <a:prstGeom prst="rect">
            <a:avLst/>
          </a:prstGeom>
          <a:noFill/>
          <a:ln/>
        </p:spPr>
        <p:txBody>
          <a:bodyPr wrap="square" lIns="0" tIns="0" rIns="0" bIns="0" rtlCol="0" anchor="t"/>
          <a:lstStyle/>
          <a:p>
            <a:pPr algn="ctr" indent="0" marL="0">
              <a:buNone/>
            </a:pPr>
            <a:r>
              <a:rPr lang="en-US" sz="1100" dirty="0">
                <a:solidFill>
                  <a:schemeClr val="tx2"/>
                </a:solidFill>
              </a:rPr>
              <a:t>Temi, sovrapposizioni, lacune</a:t>
            </a:r>
            <a:endParaRPr lang="en-US" sz="1100" dirty="0"/>
          </a:p>
        </p:txBody>
      </p:sp>
      <p:sp>
        <p:nvSpPr>
          <p:cNvPr id="35" name="freccia"/>
          <p:cNvSpPr/>
          <p:nvPr/>
        </p:nvSpPr>
        <p:spPr>
          <a:xfrm>
            <a:off x="7027164" y="2011680"/>
            <a:ext cx="155448" cy="292608"/>
          </a:xfrm>
          <a:prstGeom prst="rightArrow">
            <a:avLst/>
          </a:prstGeom>
          <a:solidFill>
            <a:schemeClr val="accent2"/>
          </a:solidFill>
          <a:ln/>
        </p:spPr>
      </p:sp>
      <p:sp>
        <p:nvSpPr>
          <p:cNvPr id="36" name="Produrre"/>
          <p:cNvSpPr/>
          <p:nvPr/>
        </p:nvSpPr>
        <p:spPr>
          <a:xfrm>
            <a:off x="7187184" y="1097280"/>
            <a:ext cx="1517904" cy="2194560"/>
          </a:xfrm>
          <a:prstGeom prst="roundRect">
            <a:avLst>
              <a:gd name="adj" fmla="val 4819"/>
            </a:avLst>
          </a:prstGeom>
          <a:solidFill>
            <a:schemeClr val="bg2"/>
          </a:solidFill>
          <a:ln/>
        </p:spPr>
      </p:sp>
      <p:sp>
        <p:nvSpPr>
          <p:cNvPr id="37" name="cerchio FiFileText"/>
          <p:cNvSpPr/>
          <p:nvPr/>
        </p:nvSpPr>
        <p:spPr>
          <a:xfrm>
            <a:off x="7671816" y="1234440"/>
            <a:ext cx="548640" cy="548640"/>
          </a:xfrm>
          <a:prstGeom prst="ellipse">
            <a:avLst/>
          </a:prstGeom>
          <a:solidFill>
            <a:schemeClr val="accent1"/>
          </a:solidFill>
          <a:ln/>
        </p:spPr>
      </p:sp>
      <p:pic>
        <p:nvPicPr>
          <p:cNvPr id="38" name="Image 4" descr="FiFileText">    </p:cNvPr>
          <p:cNvPicPr>
            <a:picLocks noChangeAspect="1"/>
          </p:cNvPicPr>
          <p:nvPr/>
        </p:nvPicPr>
        <p:blipFill>
          <a:blip r:embed="rId5"/>
          <a:stretch>
            <a:fillRect/>
          </a:stretch>
        </p:blipFill>
        <p:spPr>
          <a:xfrm>
            <a:off x="7808976" y="1371600"/>
            <a:ext cx="274320" cy="274320"/>
          </a:xfrm>
          <a:prstGeom prst="rect">
            <a:avLst/>
          </a:prstGeom>
        </p:spPr>
      </p:pic>
      <p:sp>
        <p:nvSpPr>
          <p:cNvPr id="39" name="Text 31"/>
          <p:cNvSpPr txBox="1"/>
          <p:nvPr/>
        </p:nvSpPr>
        <p:spPr>
          <a:xfrm>
            <a:off x="7260336" y="1874520"/>
            <a:ext cx="1371600" cy="365760"/>
          </a:xfrm>
          <a:prstGeom prst="rect">
            <a:avLst/>
          </a:prstGeom>
          <a:noFill/>
          <a:ln/>
        </p:spPr>
        <p:txBody>
          <a:bodyPr wrap="square" lIns="0" tIns="0" rIns="0" bIns="0" rtlCol="0" anchor="t"/>
          <a:lstStyle/>
          <a:p>
            <a:pPr algn="ctr" indent="0" marL="0">
              <a:buNone/>
            </a:pPr>
            <a:r>
              <a:rPr lang="en-US" sz="1300" b="1" dirty="0">
                <a:solidFill>
                  <a:schemeClr val="tx1"/>
                </a:solidFill>
              </a:rPr>
              <a:t>Produrre</a:t>
            </a:r>
            <a:endParaRPr lang="en-US" sz="1300" dirty="0"/>
          </a:p>
        </p:txBody>
      </p:sp>
      <p:sp>
        <p:nvSpPr>
          <p:cNvPr id="40" name="Text 32"/>
          <p:cNvSpPr txBox="1"/>
          <p:nvPr/>
        </p:nvSpPr>
        <p:spPr>
          <a:xfrm>
            <a:off x="7278624" y="2286000"/>
            <a:ext cx="1335024" cy="914400"/>
          </a:xfrm>
          <a:prstGeom prst="rect">
            <a:avLst/>
          </a:prstGeom>
          <a:noFill/>
          <a:ln/>
        </p:spPr>
        <p:txBody>
          <a:bodyPr wrap="square" lIns="0" tIns="0" rIns="0" bIns="0" rtlCol="0" anchor="t"/>
          <a:lstStyle/>
          <a:p>
            <a:pPr algn="ctr" indent="0" marL="0">
              <a:buNone/>
            </a:pPr>
            <a:r>
              <a:rPr lang="en-US" sz="1100" dirty="0">
                <a:solidFill>
                  <a:schemeClr val="tx2"/>
                </a:solidFill>
              </a:rPr>
              <a:t>Dossier, sintesi tematiche, note</a:t>
            </a:r>
            <a:endParaRPr lang="en-US" sz="1100" dirty="0"/>
          </a:p>
        </p:txBody>
      </p:sp>
      <p:sp>
        <p:nvSpPr>
          <p:cNvPr id="41" name="messaggio"/>
          <p:cNvSpPr/>
          <p:nvPr/>
        </p:nvSpPr>
        <p:spPr>
          <a:xfrm>
            <a:off x="457200" y="3520440"/>
            <a:ext cx="8229600" cy="868680"/>
          </a:xfrm>
          <a:prstGeom prst="roundRect">
            <a:avLst>
              <a:gd name="adj" fmla="val 8421"/>
            </a:avLst>
          </a:prstGeom>
          <a:solidFill>
            <a:schemeClr val="tx1"/>
          </a:solidFill>
          <a:ln/>
        </p:spPr>
      </p:sp>
      <p:sp>
        <p:nvSpPr>
          <p:cNvPr id="42" name="Text 34"/>
          <p:cNvSpPr txBox="1"/>
          <p:nvPr/>
        </p:nvSpPr>
        <p:spPr>
          <a:xfrm>
            <a:off x="640080" y="3520440"/>
            <a:ext cx="7863840" cy="868680"/>
          </a:xfrm>
          <a:prstGeom prst="rect">
            <a:avLst/>
          </a:prstGeom>
          <a:noFill/>
          <a:ln/>
        </p:spPr>
        <p:txBody>
          <a:bodyPr wrap="square" lIns="0" tIns="0" rIns="0" bIns="0" rtlCol="0" anchor="ctr"/>
          <a:lstStyle/>
          <a:p>
            <a:pPr indent="0" marL="0">
              <a:buNone/>
            </a:pPr>
            <a:r>
              <a:rPr lang="en-US" sz="1300" dirty="0">
                <a:solidFill>
                  <a:schemeClr val="bg1"/>
                </a:solidFill>
              </a:rPr>
              <a:t>Il valore: dalla domanda 'che cosa so?' a 'che cosa cercare e dove' in pochi minuti, con una base organizzata da cui approfondire.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Incorporata o recuperata?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828800"/>
                <a:gridCol w="3108960"/>
                <a:gridCol w="3291840"/>
              </a:tblGrid>
              <a:tr h="402336">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Conoscenza incorporata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Informazioni recuperate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02336">
                <a:tc>
                  <a:txBody>
                    <a:bodyPr/>
                    <a:lstStyle/>
                    <a:p>
                      <a:pPr indent="0" marL="0">
                        <a:buNone/>
                      </a:pPr>
                      <a:r>
                        <a:rPr lang="en-US" sz="1200" b="1" dirty="0">
                          <a:solidFill>
                            <a:schemeClr val="tx1"/>
                          </a:solidFill>
                        </a:rPr>
                        <a:t>Origine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Addestramento del modello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Ricerca web, documenti, basi documentali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Utile per</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Concetti, spiegazioni, orientamento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Fatti recenti, dati, norme, prezzi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Aggiornamento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Fino a una data limite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Dipende dalle fonti trovate e dalla loro data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Fonti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 citabili con precisione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Citabili, quando lo strumento le indica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Rischio tipico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Ricostruzioni plausibili ma errate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Fonti scadenti o datate, lettura imprecisa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657600"/>
            <a:ext cx="8229600" cy="777240"/>
          </a:xfrm>
          <a:prstGeom prst="roundRect">
            <a:avLst>
              <a:gd name="adj" fmla="val 9412"/>
            </a:avLst>
          </a:prstGeom>
          <a:solidFill>
            <a:schemeClr val="tx1"/>
          </a:solidFill>
          <a:ln/>
        </p:spPr>
      </p:sp>
      <p:sp>
        <p:nvSpPr>
          <p:cNvPr id="14" name="Text 10"/>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300" dirty="0">
                <a:solidFill>
                  <a:schemeClr val="bg1"/>
                </a:solidFill>
              </a:rPr>
              <a:t>La domanda da porsi: da dove viene questa informazione? Le fonti indicate permettono di controllarne data e contenuto.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Valutare e verificare le fonti</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scheda Attualità"/>
          <p:cNvSpPr/>
          <p:nvPr/>
        </p:nvSpPr>
        <p:spPr>
          <a:xfrm>
            <a:off x="457200" y="1051560"/>
            <a:ext cx="3977640" cy="2194560"/>
          </a:xfrm>
          <a:prstGeom prst="roundRect">
            <a:avLst>
              <a:gd name="adj" fmla="val 3333"/>
            </a:avLst>
          </a:prstGeom>
          <a:solidFill>
            <a:schemeClr val="bg2"/>
          </a:solidFill>
          <a:ln/>
        </p:spPr>
      </p:sp>
      <p:sp>
        <p:nvSpPr>
          <p:cNvPr id="13" name="cerchio FiClock"/>
          <p:cNvSpPr/>
          <p:nvPr/>
        </p:nvSpPr>
        <p:spPr>
          <a:xfrm>
            <a:off x="640080" y="1234440"/>
            <a:ext cx="457200" cy="457200"/>
          </a:xfrm>
          <a:prstGeom prst="ellipse">
            <a:avLst/>
          </a:prstGeom>
          <a:solidFill>
            <a:schemeClr val="accent1"/>
          </a:solidFill>
          <a:ln/>
        </p:spPr>
      </p:sp>
      <p:pic>
        <p:nvPicPr>
          <p:cNvPr id="14" name="Image 0" descr="FiClock">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600" b="1" dirty="0">
                <a:solidFill>
                  <a:schemeClr val="tx1"/>
                </a:solidFill>
              </a:rPr>
              <a:t>Attualità</a:t>
            </a:r>
            <a:endParaRPr lang="en-US" sz="1600" dirty="0"/>
          </a:p>
        </p:txBody>
      </p:sp>
      <p:sp>
        <p:nvSpPr>
          <p:cNvPr id="16" name="Text 12"/>
          <p:cNvSpPr txBox="1"/>
          <p:nvPr/>
        </p:nvSpPr>
        <p:spPr>
          <a:xfrm>
            <a:off x="640080" y="2185416"/>
            <a:ext cx="3611880" cy="9509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Norme, prezzi, ruoli e versioni cambiano</a:t>
            </a:r>
            <a:endParaRPr lang="en-US" sz="1200" dirty="0"/>
          </a:p>
          <a:p>
            <a:pPr marL="177800" indent="-177800">
              <a:spcAft>
                <a:spcPts val="400"/>
              </a:spcAft>
              <a:buSzPct val="100000"/>
              <a:buChar char="•"/>
            </a:pPr>
            <a:r>
              <a:rPr lang="en-US" sz="1200" dirty="0">
                <a:solidFill>
                  <a:schemeClr val="tx2"/>
                </a:solidFill>
              </a:rPr>
              <a:t>Controllare la data della fonte</a:t>
            </a:r>
            <a:endParaRPr lang="en-US" sz="1200" dirty="0"/>
          </a:p>
          <a:p>
            <a:pPr marL="177800" indent="-177800">
              <a:spcAft>
                <a:spcPts val="400"/>
              </a:spcAft>
              <a:buSzPct val="100000"/>
              <a:buChar char="•"/>
            </a:pPr>
            <a:r>
              <a:rPr lang="en-US" sz="1200" dirty="0">
                <a:solidFill>
                  <a:schemeClr val="tx2"/>
                </a:solidFill>
              </a:rPr>
              <a:t>Chiedere la versione più recente</a:t>
            </a:r>
            <a:endParaRPr lang="en-US" sz="1200" dirty="0"/>
          </a:p>
        </p:txBody>
      </p:sp>
      <p:sp>
        <p:nvSpPr>
          <p:cNvPr id="17" name="scheda Attendibilità"/>
          <p:cNvSpPr/>
          <p:nvPr/>
        </p:nvSpPr>
        <p:spPr>
          <a:xfrm>
            <a:off x="4709160" y="1051560"/>
            <a:ext cx="3977640" cy="2194560"/>
          </a:xfrm>
          <a:prstGeom prst="roundRect">
            <a:avLst>
              <a:gd name="adj" fmla="val 3333"/>
            </a:avLst>
          </a:prstGeom>
          <a:solidFill>
            <a:schemeClr val="accent6"/>
          </a:solidFill>
          <a:ln/>
        </p:spPr>
      </p:sp>
      <p:sp>
        <p:nvSpPr>
          <p:cNvPr id="18" name="cerchio FiShield"/>
          <p:cNvSpPr/>
          <p:nvPr/>
        </p:nvSpPr>
        <p:spPr>
          <a:xfrm>
            <a:off x="4892040" y="1234440"/>
            <a:ext cx="457200" cy="457200"/>
          </a:xfrm>
          <a:prstGeom prst="ellipse">
            <a:avLst/>
          </a:prstGeom>
          <a:solidFill>
            <a:schemeClr val="accent1"/>
          </a:solidFill>
          <a:ln/>
        </p:spPr>
      </p:sp>
      <p:pic>
        <p:nvPicPr>
          <p:cNvPr id="19" name="Image 1" descr="FiShield">    </p:cNvPr>
          <p:cNvPicPr>
            <a:picLocks noChangeAspect="1"/>
          </p:cNvPicPr>
          <p:nvPr/>
        </p:nvPicPr>
        <p:blipFill>
          <a:blip r:embed="rId2"/>
          <a:stretch>
            <a:fillRect/>
          </a:stretch>
        </p:blipFill>
        <p:spPr>
          <a:xfrm>
            <a:off x="5006340" y="1348740"/>
            <a:ext cx="228600" cy="228600"/>
          </a:xfrm>
          <a:prstGeom prst="rect">
            <a:avLst/>
          </a:prstGeom>
        </p:spPr>
      </p:pic>
      <p:sp>
        <p:nvSpPr>
          <p:cNvPr id="20" name="Text 15"/>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600" b="1" dirty="0">
                <a:solidFill>
                  <a:schemeClr val="tx1"/>
                </a:solidFill>
              </a:rPr>
              <a:t>Attendibilità</a:t>
            </a:r>
            <a:endParaRPr lang="en-US" sz="1600" dirty="0"/>
          </a:p>
        </p:txBody>
      </p:sp>
      <p:sp>
        <p:nvSpPr>
          <p:cNvPr id="21" name="Text 16"/>
          <p:cNvSpPr txBox="1"/>
          <p:nvPr/>
        </p:nvSpPr>
        <p:spPr>
          <a:xfrm>
            <a:off x="4892040" y="2185416"/>
            <a:ext cx="3611880" cy="9509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Chi l'ha prodotta, con quali interessi</a:t>
            </a:r>
            <a:endParaRPr lang="en-US" sz="1200" dirty="0"/>
          </a:p>
          <a:p>
            <a:pPr marL="177800" indent="-177800">
              <a:spcAft>
                <a:spcPts val="400"/>
              </a:spcAft>
              <a:buSzPct val="100000"/>
              <a:buChar char="•"/>
            </a:pPr>
            <a:r>
              <a:rPr lang="en-US" sz="1200" dirty="0">
                <a:solidFill>
                  <a:schemeClr val="tx2"/>
                </a:solidFill>
              </a:rPr>
              <a:t>Chiedere fonti primarie e istituzionali</a:t>
            </a:r>
            <a:endParaRPr lang="en-US" sz="1200" dirty="0"/>
          </a:p>
          <a:p>
            <a:pPr marL="177800" indent="-177800">
              <a:spcAft>
                <a:spcPts val="400"/>
              </a:spcAft>
              <a:buSzPct val="100000"/>
              <a:buChar char="•"/>
            </a:pPr>
            <a:r>
              <a:rPr lang="en-US" sz="1200" dirty="0">
                <a:solidFill>
                  <a:schemeClr val="tx2"/>
                </a:solidFill>
              </a:rPr>
              <a:t>Molte fonti citate non sono una verifica</a:t>
            </a:r>
            <a:endParaRPr lang="en-US" sz="1200" dirty="0"/>
          </a:p>
        </p:txBody>
      </p:sp>
      <p:sp>
        <p:nvSpPr>
          <p:cNvPr id="22" name="Text 17"/>
          <p:cNvSpPr txBox="1"/>
          <p:nvPr/>
        </p:nvSpPr>
        <p:spPr>
          <a:xfrm>
            <a:off x="457200" y="3401568"/>
            <a:ext cx="2377440" cy="457200"/>
          </a:xfrm>
          <a:prstGeom prst="rect">
            <a:avLst/>
          </a:prstGeom>
          <a:noFill/>
          <a:ln/>
        </p:spPr>
        <p:txBody>
          <a:bodyPr wrap="square" lIns="0" tIns="0" rIns="0" bIns="0" rtlCol="0" anchor="ctr"/>
          <a:lstStyle/>
          <a:p>
            <a:pPr indent="0" marL="0">
              <a:buNone/>
            </a:pPr>
            <a:r>
              <a:rPr lang="en-US" sz="1200" b="1" dirty="0">
                <a:solidFill>
                  <a:schemeClr val="tx1"/>
                </a:solidFill>
              </a:rPr>
              <a:t>Verificare una fonte che conta:</a:t>
            </a:r>
            <a:endParaRPr lang="en-US" sz="1200" dirty="0"/>
          </a:p>
        </p:txBody>
      </p:sp>
      <p:sp>
        <p:nvSpPr>
          <p:cNvPr id="23" name="blocco Esiste ed è pertinente"/>
          <p:cNvSpPr/>
          <p:nvPr/>
        </p:nvSpPr>
        <p:spPr>
          <a:xfrm>
            <a:off x="2834640" y="3401568"/>
            <a:ext cx="1828800" cy="457200"/>
          </a:xfrm>
          <a:prstGeom prst="roundRect">
            <a:avLst>
              <a:gd name="adj" fmla="val 24000"/>
            </a:avLst>
          </a:prstGeom>
          <a:solidFill>
            <a:schemeClr val="bg2"/>
          </a:solidFill>
          <a:ln/>
        </p:spPr>
      </p:sp>
      <p:sp>
        <p:nvSpPr>
          <p:cNvPr id="24" name="Text 19"/>
          <p:cNvSpPr txBox="1"/>
          <p:nvPr/>
        </p:nvSpPr>
        <p:spPr>
          <a:xfrm>
            <a:off x="2880360" y="3401568"/>
            <a:ext cx="1737360" cy="457200"/>
          </a:xfrm>
          <a:prstGeom prst="rect">
            <a:avLst/>
          </a:prstGeom>
          <a:noFill/>
          <a:ln/>
        </p:spPr>
        <p:txBody>
          <a:bodyPr wrap="square" lIns="0" tIns="0" rIns="0" bIns="0" rtlCol="0" anchor="ctr"/>
          <a:lstStyle/>
          <a:p>
            <a:pPr algn="ctr" indent="0" marL="0">
              <a:buNone/>
            </a:pPr>
            <a:r>
              <a:rPr lang="en-US" sz="1100" b="1" dirty="0">
                <a:solidFill>
                  <a:schemeClr val="tx1"/>
                </a:solidFill>
              </a:rPr>
              <a:t>Esiste ed è pertinente</a:t>
            </a:r>
            <a:endParaRPr lang="en-US" sz="1100" dirty="0"/>
          </a:p>
        </p:txBody>
      </p:sp>
      <p:sp>
        <p:nvSpPr>
          <p:cNvPr id="25" name="blocco Sostiene l'affermazione"/>
          <p:cNvSpPr/>
          <p:nvPr/>
        </p:nvSpPr>
        <p:spPr>
          <a:xfrm>
            <a:off x="4754880" y="3401568"/>
            <a:ext cx="2103120" cy="457200"/>
          </a:xfrm>
          <a:prstGeom prst="roundRect">
            <a:avLst>
              <a:gd name="adj" fmla="val 24000"/>
            </a:avLst>
          </a:prstGeom>
          <a:solidFill>
            <a:schemeClr val="bg2"/>
          </a:solidFill>
          <a:ln/>
        </p:spPr>
      </p:sp>
      <p:sp>
        <p:nvSpPr>
          <p:cNvPr id="26" name="Text 21"/>
          <p:cNvSpPr txBox="1"/>
          <p:nvPr/>
        </p:nvSpPr>
        <p:spPr>
          <a:xfrm>
            <a:off x="4800600" y="3401568"/>
            <a:ext cx="2011680" cy="457200"/>
          </a:xfrm>
          <a:prstGeom prst="rect">
            <a:avLst/>
          </a:prstGeom>
          <a:noFill/>
          <a:ln/>
        </p:spPr>
        <p:txBody>
          <a:bodyPr wrap="square" lIns="0" tIns="0" rIns="0" bIns="0" rtlCol="0" anchor="ctr"/>
          <a:lstStyle/>
          <a:p>
            <a:pPr algn="ctr" indent="0" marL="0">
              <a:buNone/>
            </a:pPr>
            <a:r>
              <a:rPr lang="en-US" sz="1100" b="1" dirty="0">
                <a:solidFill>
                  <a:schemeClr val="tx1"/>
                </a:solidFill>
              </a:rPr>
              <a:t>Sostiene l'affermazione</a:t>
            </a:r>
            <a:endParaRPr lang="en-US" sz="1100" dirty="0"/>
          </a:p>
        </p:txBody>
      </p:sp>
      <p:sp>
        <p:nvSpPr>
          <p:cNvPr id="27" name="blocco È attuale per l'uso"/>
          <p:cNvSpPr/>
          <p:nvPr/>
        </p:nvSpPr>
        <p:spPr>
          <a:xfrm>
            <a:off x="6949440" y="3401568"/>
            <a:ext cx="1737360" cy="457200"/>
          </a:xfrm>
          <a:prstGeom prst="roundRect">
            <a:avLst>
              <a:gd name="adj" fmla="val 24000"/>
            </a:avLst>
          </a:prstGeom>
          <a:solidFill>
            <a:schemeClr val="bg2"/>
          </a:solidFill>
          <a:ln/>
        </p:spPr>
      </p:sp>
      <p:sp>
        <p:nvSpPr>
          <p:cNvPr id="28" name="Text 23"/>
          <p:cNvSpPr txBox="1"/>
          <p:nvPr/>
        </p:nvSpPr>
        <p:spPr>
          <a:xfrm>
            <a:off x="6995160" y="3401568"/>
            <a:ext cx="1645920" cy="457200"/>
          </a:xfrm>
          <a:prstGeom prst="rect">
            <a:avLst/>
          </a:prstGeom>
          <a:noFill/>
          <a:ln/>
        </p:spPr>
        <p:txBody>
          <a:bodyPr wrap="square" lIns="0" tIns="0" rIns="0" bIns="0" rtlCol="0" anchor="ctr"/>
          <a:lstStyle/>
          <a:p>
            <a:pPr algn="ctr" indent="0" marL="0">
              <a:buNone/>
            </a:pPr>
            <a:r>
              <a:rPr lang="en-US" sz="1100" b="1" dirty="0">
                <a:solidFill>
                  <a:schemeClr val="tx1"/>
                </a:solidFill>
              </a:rPr>
              <a:t>È attuale per l'uso</a:t>
            </a:r>
            <a:endParaRPr lang="en-US" sz="1100" dirty="0"/>
          </a:p>
        </p:txBody>
      </p:sp>
      <p:sp>
        <p:nvSpPr>
          <p:cNvPr id="29" name="messaggio"/>
          <p:cNvSpPr/>
          <p:nvPr/>
        </p:nvSpPr>
        <p:spPr>
          <a:xfrm>
            <a:off x="457200" y="4023360"/>
            <a:ext cx="8229600" cy="530352"/>
          </a:xfrm>
          <a:prstGeom prst="roundRect">
            <a:avLst>
              <a:gd name="adj" fmla="val 13793"/>
            </a:avLst>
          </a:prstGeom>
          <a:solidFill>
            <a:schemeClr val="tx1"/>
          </a:solidFill>
          <a:ln/>
        </p:spPr>
      </p:sp>
      <p:sp>
        <p:nvSpPr>
          <p:cNvPr id="30" name="Text 25"/>
          <p:cNvSpPr txBox="1"/>
          <p:nvPr/>
        </p:nvSpPr>
        <p:spPr>
          <a:xfrm>
            <a:off x="640080" y="4023360"/>
            <a:ext cx="7863840" cy="530352"/>
          </a:xfrm>
          <a:prstGeom prst="rect">
            <a:avLst/>
          </a:prstGeom>
          <a:noFill/>
          <a:ln/>
        </p:spPr>
        <p:txBody>
          <a:bodyPr wrap="square" lIns="0" tIns="0" rIns="0" bIns="0" rtlCol="0" anchor="ctr"/>
          <a:lstStyle/>
          <a:p>
            <a:pPr indent="0" marL="0">
              <a:buNone/>
            </a:pPr>
            <a:r>
              <a:rPr lang="en-US" sz="1300" dirty="0">
                <a:solidFill>
                  <a:schemeClr val="bg1"/>
                </a:solidFill>
              </a:rPr>
              <a:t>La ricerca assistita riduce il tempo per trovare il materiale e lascia più tempo per valutarlo.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Organizzare dossier e prospettive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Raccogliere"/>
          <p:cNvSpPr/>
          <p:nvPr/>
        </p:nvSpPr>
        <p:spPr>
          <a:xfrm>
            <a:off x="457200" y="1051560"/>
            <a:ext cx="2615184" cy="1188720"/>
          </a:xfrm>
          <a:prstGeom prst="roundRect">
            <a:avLst>
              <a:gd name="adj" fmla="val 6154"/>
            </a:avLst>
          </a:prstGeom>
          <a:solidFill>
            <a:schemeClr val="bg2"/>
          </a:solidFill>
          <a:ln/>
        </p:spPr>
      </p:sp>
      <p:sp>
        <p:nvSpPr>
          <p:cNvPr id="13" name="Text 10"/>
          <p:cNvSpPr txBox="1"/>
          <p:nvPr/>
        </p:nvSpPr>
        <p:spPr>
          <a:xfrm>
            <a:off x="640080" y="1097280"/>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1</a:t>
            </a:r>
            <a:endParaRPr lang="en-US" sz="2400" dirty="0"/>
          </a:p>
        </p:txBody>
      </p:sp>
      <p:sp>
        <p:nvSpPr>
          <p:cNvPr id="14" name="Text 11"/>
          <p:cNvSpPr txBox="1"/>
          <p:nvPr/>
        </p:nvSpPr>
        <p:spPr>
          <a:xfrm>
            <a:off x="1097280" y="1143000"/>
            <a:ext cx="1828800" cy="384048"/>
          </a:xfrm>
          <a:prstGeom prst="rect">
            <a:avLst/>
          </a:prstGeom>
          <a:noFill/>
          <a:ln/>
        </p:spPr>
        <p:txBody>
          <a:bodyPr wrap="square" lIns="0" tIns="0" rIns="0" bIns="0" rtlCol="0" anchor="ctr"/>
          <a:lstStyle/>
          <a:p>
            <a:pPr indent="0" marL="0">
              <a:buNone/>
            </a:pPr>
            <a:r>
              <a:rPr lang="en-US" sz="1600" b="1" dirty="0">
                <a:solidFill>
                  <a:schemeClr val="tx1"/>
                </a:solidFill>
              </a:rPr>
              <a:t>Raccogliere</a:t>
            </a:r>
            <a:endParaRPr lang="en-US" sz="1600" dirty="0"/>
          </a:p>
        </p:txBody>
      </p:sp>
      <p:sp>
        <p:nvSpPr>
          <p:cNvPr id="15" name="Text 12"/>
          <p:cNvSpPr txBox="1"/>
          <p:nvPr/>
        </p:nvSpPr>
        <p:spPr>
          <a:xfrm>
            <a:off x="640080" y="1645920"/>
            <a:ext cx="2286000" cy="502920"/>
          </a:xfrm>
          <a:prstGeom prst="rect">
            <a:avLst/>
          </a:prstGeom>
          <a:noFill/>
          <a:ln/>
        </p:spPr>
        <p:txBody>
          <a:bodyPr wrap="square" lIns="0" tIns="0" rIns="0" bIns="0" rtlCol="0" anchor="t"/>
          <a:lstStyle/>
          <a:p>
            <a:pPr indent="0" marL="0">
              <a:buNone/>
            </a:pPr>
            <a:r>
              <a:rPr lang="en-US" sz="1200" dirty="0">
                <a:solidFill>
                  <a:schemeClr val="tx2"/>
                </a:solidFill>
              </a:rPr>
              <a:t>Fonti scelte e valutate</a:t>
            </a:r>
            <a:endParaRPr lang="en-US" sz="1200" dirty="0"/>
          </a:p>
        </p:txBody>
      </p:sp>
      <p:sp>
        <p:nvSpPr>
          <p:cNvPr id="16" name="freccia"/>
          <p:cNvSpPr/>
          <p:nvPr/>
        </p:nvSpPr>
        <p:spPr>
          <a:xfrm>
            <a:off x="3090672" y="1508760"/>
            <a:ext cx="155448" cy="292608"/>
          </a:xfrm>
          <a:prstGeom prst="rightArrow">
            <a:avLst/>
          </a:prstGeom>
          <a:solidFill>
            <a:schemeClr val="accent2"/>
          </a:solidFill>
          <a:ln/>
        </p:spPr>
      </p:sp>
      <p:sp>
        <p:nvSpPr>
          <p:cNvPr id="17" name="Organizzare"/>
          <p:cNvSpPr/>
          <p:nvPr/>
        </p:nvSpPr>
        <p:spPr>
          <a:xfrm>
            <a:off x="3264408" y="1051560"/>
            <a:ext cx="2615184" cy="1188720"/>
          </a:xfrm>
          <a:prstGeom prst="roundRect">
            <a:avLst>
              <a:gd name="adj" fmla="val 6154"/>
            </a:avLst>
          </a:prstGeom>
          <a:solidFill>
            <a:schemeClr val="accent6"/>
          </a:solidFill>
          <a:ln/>
        </p:spPr>
      </p:sp>
      <p:sp>
        <p:nvSpPr>
          <p:cNvPr id="18" name="Text 15"/>
          <p:cNvSpPr txBox="1"/>
          <p:nvPr/>
        </p:nvSpPr>
        <p:spPr>
          <a:xfrm>
            <a:off x="3447288" y="1097280"/>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2</a:t>
            </a:r>
            <a:endParaRPr lang="en-US" sz="2400" dirty="0"/>
          </a:p>
        </p:txBody>
      </p:sp>
      <p:sp>
        <p:nvSpPr>
          <p:cNvPr id="19" name="Text 16"/>
          <p:cNvSpPr txBox="1"/>
          <p:nvPr/>
        </p:nvSpPr>
        <p:spPr>
          <a:xfrm>
            <a:off x="3904488" y="1143000"/>
            <a:ext cx="1828800" cy="384048"/>
          </a:xfrm>
          <a:prstGeom prst="rect">
            <a:avLst/>
          </a:prstGeom>
          <a:noFill/>
          <a:ln/>
        </p:spPr>
        <p:txBody>
          <a:bodyPr wrap="square" lIns="0" tIns="0" rIns="0" bIns="0" rtlCol="0" anchor="ctr"/>
          <a:lstStyle/>
          <a:p>
            <a:pPr indent="0" marL="0">
              <a:buNone/>
            </a:pPr>
            <a:r>
              <a:rPr lang="en-US" sz="1600" b="1" dirty="0">
                <a:solidFill>
                  <a:schemeClr val="tx1"/>
                </a:solidFill>
              </a:rPr>
              <a:t>Organizzare</a:t>
            </a:r>
            <a:endParaRPr lang="en-US" sz="1600" dirty="0"/>
          </a:p>
        </p:txBody>
      </p:sp>
      <p:sp>
        <p:nvSpPr>
          <p:cNvPr id="20" name="Text 17"/>
          <p:cNvSpPr txBox="1"/>
          <p:nvPr/>
        </p:nvSpPr>
        <p:spPr>
          <a:xfrm>
            <a:off x="3447288" y="1645920"/>
            <a:ext cx="2286000" cy="502920"/>
          </a:xfrm>
          <a:prstGeom prst="rect">
            <a:avLst/>
          </a:prstGeom>
          <a:noFill/>
          <a:ln/>
        </p:spPr>
        <p:txBody>
          <a:bodyPr wrap="square" lIns="0" tIns="0" rIns="0" bIns="0" rtlCol="0" anchor="t"/>
          <a:lstStyle/>
          <a:p>
            <a:pPr indent="0" marL="0">
              <a:buNone/>
            </a:pPr>
            <a:r>
              <a:rPr lang="en-US" sz="1200" dirty="0">
                <a:solidFill>
                  <a:schemeClr val="tx2"/>
                </a:solidFill>
              </a:rPr>
              <a:t>Il materiale fornito, con le fonti</a:t>
            </a:r>
            <a:endParaRPr lang="en-US" sz="1200" dirty="0"/>
          </a:p>
        </p:txBody>
      </p:sp>
      <p:sp>
        <p:nvSpPr>
          <p:cNvPr id="21" name="freccia"/>
          <p:cNvSpPr/>
          <p:nvPr/>
        </p:nvSpPr>
        <p:spPr>
          <a:xfrm>
            <a:off x="5897880" y="1508760"/>
            <a:ext cx="155448" cy="292608"/>
          </a:xfrm>
          <a:prstGeom prst="rightArrow">
            <a:avLst/>
          </a:prstGeom>
          <a:solidFill>
            <a:schemeClr val="accent2"/>
          </a:solidFill>
          <a:ln/>
        </p:spPr>
      </p:sp>
      <p:sp>
        <p:nvSpPr>
          <p:cNvPr id="22" name="Rivedere"/>
          <p:cNvSpPr/>
          <p:nvPr/>
        </p:nvSpPr>
        <p:spPr>
          <a:xfrm>
            <a:off x="6071616" y="1051560"/>
            <a:ext cx="2615184" cy="1188720"/>
          </a:xfrm>
          <a:prstGeom prst="roundRect">
            <a:avLst>
              <a:gd name="adj" fmla="val 6154"/>
            </a:avLst>
          </a:prstGeom>
          <a:solidFill>
            <a:schemeClr val="bg2"/>
          </a:solidFill>
          <a:ln/>
        </p:spPr>
      </p:sp>
      <p:sp>
        <p:nvSpPr>
          <p:cNvPr id="23" name="Text 20"/>
          <p:cNvSpPr txBox="1"/>
          <p:nvPr/>
        </p:nvSpPr>
        <p:spPr>
          <a:xfrm>
            <a:off x="6254496" y="1097280"/>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3</a:t>
            </a:r>
            <a:endParaRPr lang="en-US" sz="2400" dirty="0"/>
          </a:p>
        </p:txBody>
      </p:sp>
      <p:sp>
        <p:nvSpPr>
          <p:cNvPr id="24" name="Text 21"/>
          <p:cNvSpPr txBox="1"/>
          <p:nvPr/>
        </p:nvSpPr>
        <p:spPr>
          <a:xfrm>
            <a:off x="6711696" y="1143000"/>
            <a:ext cx="1828800" cy="384048"/>
          </a:xfrm>
          <a:prstGeom prst="rect">
            <a:avLst/>
          </a:prstGeom>
          <a:noFill/>
          <a:ln/>
        </p:spPr>
        <p:txBody>
          <a:bodyPr wrap="square" lIns="0" tIns="0" rIns="0" bIns="0" rtlCol="0" anchor="ctr"/>
          <a:lstStyle/>
          <a:p>
            <a:pPr indent="0" marL="0">
              <a:buNone/>
            </a:pPr>
            <a:r>
              <a:rPr lang="en-US" sz="1600" b="1" dirty="0">
                <a:solidFill>
                  <a:schemeClr val="tx1"/>
                </a:solidFill>
              </a:rPr>
              <a:t>Rivedere</a:t>
            </a:r>
            <a:endParaRPr lang="en-US" sz="1600" dirty="0"/>
          </a:p>
        </p:txBody>
      </p:sp>
      <p:sp>
        <p:nvSpPr>
          <p:cNvPr id="25" name="Text 22"/>
          <p:cNvSpPr txBox="1"/>
          <p:nvPr/>
        </p:nvSpPr>
        <p:spPr>
          <a:xfrm>
            <a:off x="6254496" y="1645920"/>
            <a:ext cx="2286000" cy="502920"/>
          </a:xfrm>
          <a:prstGeom prst="rect">
            <a:avLst/>
          </a:prstGeom>
          <a:noFill/>
          <a:ln/>
        </p:spPr>
        <p:txBody>
          <a:bodyPr wrap="square" lIns="0" tIns="0" rIns="0" bIns="0" rtlCol="0" anchor="t"/>
          <a:lstStyle/>
          <a:p>
            <a:pPr indent="0" marL="0">
              <a:buNone/>
            </a:pPr>
            <a:r>
              <a:rPr lang="en-US" sz="1200" dirty="0">
                <a:solidFill>
                  <a:schemeClr val="tx2"/>
                </a:solidFill>
              </a:rPr>
              <a:t>Coerenza, lacune, punti incerti</a:t>
            </a:r>
            <a:endParaRPr lang="en-US" sz="1200" dirty="0"/>
          </a:p>
        </p:txBody>
      </p:sp>
      <p:sp>
        <p:nvSpPr>
          <p:cNvPr id="26" name="buon dossier"/>
          <p:cNvSpPr/>
          <p:nvPr/>
        </p:nvSpPr>
        <p:spPr>
          <a:xfrm>
            <a:off x="457200" y="2423160"/>
            <a:ext cx="3977640" cy="2103120"/>
          </a:xfrm>
          <a:prstGeom prst="roundRect">
            <a:avLst>
              <a:gd name="adj" fmla="val 3478"/>
            </a:avLst>
          </a:prstGeom>
          <a:solidFill>
            <a:schemeClr val="tx1"/>
          </a:solidFill>
          <a:ln/>
        </p:spPr>
      </p:sp>
      <p:sp>
        <p:nvSpPr>
          <p:cNvPr id="27" name="Text 24"/>
          <p:cNvSpPr txBox="1"/>
          <p:nvPr/>
        </p:nvSpPr>
        <p:spPr>
          <a:xfrm>
            <a:off x="640080" y="2514600"/>
            <a:ext cx="3657600" cy="347472"/>
          </a:xfrm>
          <a:prstGeom prst="rect">
            <a:avLst/>
          </a:prstGeom>
          <a:noFill/>
          <a:ln/>
        </p:spPr>
        <p:txBody>
          <a:bodyPr wrap="square" lIns="0" tIns="0" rIns="0" bIns="0" rtlCol="0" anchor="t"/>
          <a:lstStyle/>
          <a:p>
            <a:pPr indent="0" marL="0">
              <a:buNone/>
            </a:pPr>
            <a:r>
              <a:rPr lang="en-US" sz="1500" b="1" dirty="0">
                <a:solidFill>
                  <a:schemeClr val="accent6"/>
                </a:solidFill>
              </a:rPr>
              <a:t>Un buon dossier dichiara</a:t>
            </a:r>
            <a:endParaRPr lang="en-US" sz="1500" dirty="0"/>
          </a:p>
        </p:txBody>
      </p:sp>
      <p:sp>
        <p:nvSpPr>
          <p:cNvPr id="28" name="blocco Le sue fonti"/>
          <p:cNvSpPr/>
          <p:nvPr/>
        </p:nvSpPr>
        <p:spPr>
          <a:xfrm>
            <a:off x="640080" y="2926080"/>
            <a:ext cx="3611880" cy="411480"/>
          </a:xfrm>
          <a:prstGeom prst="roundRect">
            <a:avLst>
              <a:gd name="adj" fmla="val 26667"/>
            </a:avLst>
          </a:prstGeom>
          <a:solidFill>
            <a:schemeClr val="accent1"/>
          </a:solidFill>
          <a:ln/>
        </p:spPr>
      </p:sp>
      <p:sp>
        <p:nvSpPr>
          <p:cNvPr id="29" name="Text 26"/>
          <p:cNvSpPr txBox="1"/>
          <p:nvPr/>
        </p:nvSpPr>
        <p:spPr>
          <a:xfrm>
            <a:off x="685800" y="2926080"/>
            <a:ext cx="3520440" cy="411480"/>
          </a:xfrm>
          <a:prstGeom prst="rect">
            <a:avLst/>
          </a:prstGeom>
          <a:noFill/>
          <a:ln/>
        </p:spPr>
        <p:txBody>
          <a:bodyPr wrap="square" lIns="0" tIns="0" rIns="0" bIns="0" rtlCol="0" anchor="ctr"/>
          <a:lstStyle/>
          <a:p>
            <a:pPr algn="ctr" indent="0" marL="0">
              <a:buNone/>
            </a:pPr>
            <a:r>
              <a:rPr lang="en-US" sz="1300" b="1" dirty="0">
                <a:solidFill>
                  <a:schemeClr val="bg1"/>
                </a:solidFill>
              </a:rPr>
              <a:t>Le sue fonti</a:t>
            </a:r>
            <a:endParaRPr lang="en-US" sz="1300" dirty="0"/>
          </a:p>
        </p:txBody>
      </p:sp>
      <p:sp>
        <p:nvSpPr>
          <p:cNvPr id="30" name="blocco La data di aggiornamento"/>
          <p:cNvSpPr/>
          <p:nvPr/>
        </p:nvSpPr>
        <p:spPr>
          <a:xfrm>
            <a:off x="640080" y="3429000"/>
            <a:ext cx="3611880" cy="411480"/>
          </a:xfrm>
          <a:prstGeom prst="roundRect">
            <a:avLst>
              <a:gd name="adj" fmla="val 26667"/>
            </a:avLst>
          </a:prstGeom>
          <a:solidFill>
            <a:schemeClr val="accent1"/>
          </a:solidFill>
          <a:ln/>
        </p:spPr>
      </p:sp>
      <p:sp>
        <p:nvSpPr>
          <p:cNvPr id="31" name="Text 28"/>
          <p:cNvSpPr txBox="1"/>
          <p:nvPr/>
        </p:nvSpPr>
        <p:spPr>
          <a:xfrm>
            <a:off x="685800" y="3429000"/>
            <a:ext cx="3520440" cy="411480"/>
          </a:xfrm>
          <a:prstGeom prst="rect">
            <a:avLst/>
          </a:prstGeom>
          <a:noFill/>
          <a:ln/>
        </p:spPr>
        <p:txBody>
          <a:bodyPr wrap="square" lIns="0" tIns="0" rIns="0" bIns="0" rtlCol="0" anchor="ctr"/>
          <a:lstStyle/>
          <a:p>
            <a:pPr algn="ctr" indent="0" marL="0">
              <a:buNone/>
            </a:pPr>
            <a:r>
              <a:rPr lang="en-US" sz="1300" b="1" dirty="0">
                <a:solidFill>
                  <a:schemeClr val="bg1"/>
                </a:solidFill>
              </a:rPr>
              <a:t>La data di aggiornamento</a:t>
            </a:r>
            <a:endParaRPr lang="en-US" sz="1300" dirty="0"/>
          </a:p>
        </p:txBody>
      </p:sp>
      <p:sp>
        <p:nvSpPr>
          <p:cNvPr id="32" name="blocco I punti incerti"/>
          <p:cNvSpPr/>
          <p:nvPr/>
        </p:nvSpPr>
        <p:spPr>
          <a:xfrm>
            <a:off x="640080" y="3931920"/>
            <a:ext cx="3611880" cy="411480"/>
          </a:xfrm>
          <a:prstGeom prst="roundRect">
            <a:avLst>
              <a:gd name="adj" fmla="val 26667"/>
            </a:avLst>
          </a:prstGeom>
          <a:solidFill>
            <a:schemeClr val="accent1"/>
          </a:solidFill>
          <a:ln/>
        </p:spPr>
      </p:sp>
      <p:sp>
        <p:nvSpPr>
          <p:cNvPr id="33" name="Text 30"/>
          <p:cNvSpPr txBox="1"/>
          <p:nvPr/>
        </p:nvSpPr>
        <p:spPr>
          <a:xfrm>
            <a:off x="685800" y="3931920"/>
            <a:ext cx="3520440" cy="411480"/>
          </a:xfrm>
          <a:prstGeom prst="rect">
            <a:avLst/>
          </a:prstGeom>
          <a:noFill/>
          <a:ln/>
        </p:spPr>
        <p:txBody>
          <a:bodyPr wrap="square" lIns="0" tIns="0" rIns="0" bIns="0" rtlCol="0" anchor="ctr"/>
          <a:lstStyle/>
          <a:p>
            <a:pPr algn="ctr" indent="0" marL="0">
              <a:buNone/>
            </a:pPr>
            <a:r>
              <a:rPr lang="en-US" sz="1300" b="1" dirty="0">
                <a:solidFill>
                  <a:schemeClr val="bg1"/>
                </a:solidFill>
              </a:rPr>
              <a:t>I punti incerti</a:t>
            </a:r>
            <a:endParaRPr lang="en-US" sz="1300" dirty="0"/>
          </a:p>
        </p:txBody>
      </p:sp>
      <p:sp>
        <p:nvSpPr>
          <p:cNvPr id="34" name="scheda Confrontare prospettive"/>
          <p:cNvSpPr/>
          <p:nvPr/>
        </p:nvSpPr>
        <p:spPr>
          <a:xfrm>
            <a:off x="4709160" y="2423160"/>
            <a:ext cx="3977640" cy="2103120"/>
          </a:xfrm>
          <a:prstGeom prst="roundRect">
            <a:avLst>
              <a:gd name="adj" fmla="val 3478"/>
            </a:avLst>
          </a:prstGeom>
          <a:solidFill>
            <a:schemeClr val="accent6"/>
          </a:solidFill>
          <a:ln/>
        </p:spPr>
      </p:sp>
      <p:sp>
        <p:nvSpPr>
          <p:cNvPr id="35" name="cerchio FiGitBranch"/>
          <p:cNvSpPr/>
          <p:nvPr/>
        </p:nvSpPr>
        <p:spPr>
          <a:xfrm>
            <a:off x="4892040" y="2606040"/>
            <a:ext cx="457200" cy="457200"/>
          </a:xfrm>
          <a:prstGeom prst="ellipse">
            <a:avLst/>
          </a:prstGeom>
          <a:solidFill>
            <a:schemeClr val="accent1"/>
          </a:solidFill>
          <a:ln/>
        </p:spPr>
      </p:sp>
      <p:pic>
        <p:nvPicPr>
          <p:cNvPr id="36" name="Image 0" descr="FiGitBranch">    </p:cNvPr>
          <p:cNvPicPr>
            <a:picLocks noChangeAspect="1"/>
          </p:cNvPicPr>
          <p:nvPr/>
        </p:nvPicPr>
        <p:blipFill>
          <a:blip r:embed="rId1"/>
          <a:stretch>
            <a:fillRect/>
          </a:stretch>
        </p:blipFill>
        <p:spPr>
          <a:xfrm>
            <a:off x="5006340" y="2720340"/>
            <a:ext cx="228600" cy="228600"/>
          </a:xfrm>
          <a:prstGeom prst="rect">
            <a:avLst/>
          </a:prstGeom>
        </p:spPr>
      </p:pic>
      <p:sp>
        <p:nvSpPr>
          <p:cNvPr id="37" name="Text 33"/>
          <p:cNvSpPr txBox="1"/>
          <p:nvPr/>
        </p:nvSpPr>
        <p:spPr>
          <a:xfrm>
            <a:off x="5486400" y="26060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Confrontare prospettive</a:t>
            </a:r>
            <a:endParaRPr lang="en-US" sz="1500" dirty="0"/>
          </a:p>
        </p:txBody>
      </p:sp>
      <p:sp>
        <p:nvSpPr>
          <p:cNvPr id="38" name="Text 34"/>
          <p:cNvSpPr txBox="1"/>
          <p:nvPr/>
        </p:nvSpPr>
        <p:spPr>
          <a:xfrm>
            <a:off x="4892040" y="3200400"/>
            <a:ext cx="3611880" cy="1216152"/>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Mappare posizioni, concordanze, divergenze</a:t>
            </a:r>
            <a:endParaRPr lang="en-US" sz="1200" dirty="0"/>
          </a:p>
          <a:p>
            <a:pPr marL="177800" indent="-177800">
              <a:spcAft>
                <a:spcPts val="400"/>
              </a:spcAft>
              <a:buSzPct val="100000"/>
              <a:buChar char="•"/>
            </a:pPr>
            <a:r>
              <a:rPr lang="en-US" sz="1200" dirty="0">
                <a:solidFill>
                  <a:schemeClr val="tx2"/>
                </a:solidFill>
              </a:rPr>
              <a:t>Non fermarsi alla prima fonte</a:t>
            </a:r>
            <a:endParaRPr lang="en-US" sz="1200" dirty="0"/>
          </a:p>
          <a:p>
            <a:pPr marL="177800" indent="-177800">
              <a:spcAft>
                <a:spcPts val="400"/>
              </a:spcAft>
              <a:buSzPct val="100000"/>
              <a:buChar char="•"/>
            </a:pPr>
            <a:r>
              <a:rPr lang="en-US" sz="1200" dirty="0">
                <a:solidFill>
                  <a:schemeClr val="tx2"/>
                </a:solidFill>
              </a:rPr>
              <a:t>Domande neutre: 'valutazioni su', non 'vantaggi di'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può sostenere ricerca e organizzazione della conoscenza, senza rendere automaticamente attendibili le informazioni trovate o generate.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8.6  ·  Ricerca, approfondimento e organizzazione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AI e gestione della conoscenza</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rende interrogabile il patrimonio documentale e aiuta a organizzarlo; la qualità delle risposte dipende da qualità e aggiornamento dei documenti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Assistenti sulla documentazione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Procedure interne"/>
          <p:cNvSpPr/>
          <p:nvPr/>
        </p:nvSpPr>
        <p:spPr>
          <a:xfrm>
            <a:off x="457200" y="1051560"/>
            <a:ext cx="4023360" cy="1097280"/>
          </a:xfrm>
          <a:prstGeom prst="roundRect">
            <a:avLst>
              <a:gd name="adj" fmla="val 6667"/>
            </a:avLst>
          </a:prstGeom>
          <a:solidFill>
            <a:schemeClr val="bg2"/>
          </a:solidFill>
          <a:ln/>
        </p:spPr>
      </p:sp>
      <p:sp>
        <p:nvSpPr>
          <p:cNvPr id="13" name="cerchio FiClipboard"/>
          <p:cNvSpPr/>
          <p:nvPr/>
        </p:nvSpPr>
        <p:spPr>
          <a:xfrm>
            <a:off x="621792" y="1216152"/>
            <a:ext cx="438912" cy="438912"/>
          </a:xfrm>
          <a:prstGeom prst="ellipse">
            <a:avLst/>
          </a:prstGeom>
          <a:solidFill>
            <a:schemeClr val="accent1"/>
          </a:solidFill>
          <a:ln/>
        </p:spPr>
      </p:sp>
      <p:pic>
        <p:nvPicPr>
          <p:cNvPr id="14" name="Image 0" descr="FiClipboard">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Procedure interne</a:t>
            </a:r>
            <a:endParaRPr lang="en-US" sz="1400" dirty="0"/>
          </a:p>
        </p:txBody>
      </p:sp>
      <p:sp>
        <p:nvSpPr>
          <p:cNvPr id="16" name="Text 12"/>
          <p:cNvSpPr txBox="1"/>
          <p:nvPr/>
        </p:nvSpPr>
        <p:spPr>
          <a:xfrm>
            <a:off x="62179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Come si richiede un rimborso per una trasferta all'estero?</a:t>
            </a:r>
            <a:endParaRPr lang="en-US" sz="1200" dirty="0"/>
          </a:p>
        </p:txBody>
      </p:sp>
      <p:sp>
        <p:nvSpPr>
          <p:cNvPr id="17" name="Documentazione tecnica"/>
          <p:cNvSpPr/>
          <p:nvPr/>
        </p:nvSpPr>
        <p:spPr>
          <a:xfrm>
            <a:off x="4663440" y="1051560"/>
            <a:ext cx="4023360" cy="1097280"/>
          </a:xfrm>
          <a:prstGeom prst="roundRect">
            <a:avLst>
              <a:gd name="adj" fmla="val 6667"/>
            </a:avLst>
          </a:prstGeom>
          <a:solidFill>
            <a:schemeClr val="bg2"/>
          </a:solidFill>
          <a:ln/>
        </p:spPr>
      </p:sp>
      <p:sp>
        <p:nvSpPr>
          <p:cNvPr id="18" name="cerchio FiTool"/>
          <p:cNvSpPr/>
          <p:nvPr/>
        </p:nvSpPr>
        <p:spPr>
          <a:xfrm>
            <a:off x="4828032" y="1216152"/>
            <a:ext cx="438912" cy="438912"/>
          </a:xfrm>
          <a:prstGeom prst="ellipse">
            <a:avLst/>
          </a:prstGeom>
          <a:solidFill>
            <a:schemeClr val="accent1"/>
          </a:solidFill>
          <a:ln/>
        </p:spPr>
      </p:sp>
      <p:pic>
        <p:nvPicPr>
          <p:cNvPr id="19" name="Image 1" descr="FiTool">    </p:cNvPr>
          <p:cNvPicPr>
            <a:picLocks noChangeAspect="1"/>
          </p:cNvPicPr>
          <p:nvPr/>
        </p:nvPicPr>
        <p:blipFill>
          <a:blip r:embed="rId2"/>
          <a:stretch>
            <a:fillRect/>
          </a:stretch>
        </p:blipFill>
        <p:spPr>
          <a:xfrm>
            <a:off x="4937760" y="1325880"/>
            <a:ext cx="219456" cy="219456"/>
          </a:xfrm>
          <a:prstGeom prst="rect">
            <a:avLst/>
          </a:prstGeom>
        </p:spPr>
      </p:pic>
      <p:sp>
        <p:nvSpPr>
          <p:cNvPr id="20" name="Text 15"/>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Documentazione tecnica</a:t>
            </a:r>
            <a:endParaRPr lang="en-US" sz="1400" dirty="0"/>
          </a:p>
        </p:txBody>
      </p:sp>
      <p:sp>
        <p:nvSpPr>
          <p:cNvPr id="21" name="Text 16"/>
          <p:cNvSpPr txBox="1"/>
          <p:nvPr/>
        </p:nvSpPr>
        <p:spPr>
          <a:xfrm>
            <a:off x="482803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Soluzioni ai problemi descritti dai clienti</a:t>
            </a:r>
            <a:endParaRPr lang="en-US" sz="1200" dirty="0"/>
          </a:p>
        </p:txBody>
      </p:sp>
      <p:sp>
        <p:nvSpPr>
          <p:cNvPr id="22" name="Condizioni contrattuali"/>
          <p:cNvSpPr/>
          <p:nvPr/>
        </p:nvSpPr>
        <p:spPr>
          <a:xfrm>
            <a:off x="457200" y="2331720"/>
            <a:ext cx="4023360" cy="1097280"/>
          </a:xfrm>
          <a:prstGeom prst="roundRect">
            <a:avLst>
              <a:gd name="adj" fmla="val 6667"/>
            </a:avLst>
          </a:prstGeom>
          <a:solidFill>
            <a:schemeClr val="bg2"/>
          </a:solidFill>
          <a:ln/>
        </p:spPr>
      </p:sp>
      <p:sp>
        <p:nvSpPr>
          <p:cNvPr id="23" name="cerchio FiFileText"/>
          <p:cNvSpPr/>
          <p:nvPr/>
        </p:nvSpPr>
        <p:spPr>
          <a:xfrm>
            <a:off x="621792" y="2496312"/>
            <a:ext cx="438912" cy="438912"/>
          </a:xfrm>
          <a:prstGeom prst="ellipse">
            <a:avLst/>
          </a:prstGeom>
          <a:solidFill>
            <a:schemeClr val="accent1"/>
          </a:solidFill>
          <a:ln/>
        </p:spPr>
      </p:sp>
      <p:pic>
        <p:nvPicPr>
          <p:cNvPr id="24" name="Image 2" descr="FiFileText">    </p:cNvPr>
          <p:cNvPicPr>
            <a:picLocks noChangeAspect="1"/>
          </p:cNvPicPr>
          <p:nvPr/>
        </p:nvPicPr>
        <p:blipFill>
          <a:blip r:embed="rId3"/>
          <a:stretch>
            <a:fillRect/>
          </a:stretch>
        </p:blipFill>
        <p:spPr>
          <a:xfrm>
            <a:off x="731520" y="2606040"/>
            <a:ext cx="219456" cy="219456"/>
          </a:xfrm>
          <a:prstGeom prst="rect">
            <a:avLst/>
          </a:prstGeom>
        </p:spPr>
      </p:pic>
      <p:sp>
        <p:nvSpPr>
          <p:cNvPr id="25" name="Text 19"/>
          <p:cNvSpPr txBox="1"/>
          <p:nvPr/>
        </p:nvSpPr>
        <p:spPr>
          <a:xfrm>
            <a:off x="117043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Condizioni contrattuali</a:t>
            </a:r>
            <a:endParaRPr lang="en-US" sz="1400" dirty="0"/>
          </a:p>
        </p:txBody>
      </p:sp>
      <p:sp>
        <p:nvSpPr>
          <p:cNvPr id="26" name="Text 20"/>
          <p:cNvSpPr txBox="1"/>
          <p:nvPr/>
        </p:nvSpPr>
        <p:spPr>
          <a:xfrm>
            <a:off x="62179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Garanzie, tempi, condizioni per i commerciali</a:t>
            </a:r>
            <a:endParaRPr lang="en-US" sz="1200" dirty="0"/>
          </a:p>
        </p:txBody>
      </p:sp>
      <p:sp>
        <p:nvSpPr>
          <p:cNvPr id="27" name="Inserimento di nuovi colleghi"/>
          <p:cNvSpPr/>
          <p:nvPr/>
        </p:nvSpPr>
        <p:spPr>
          <a:xfrm>
            <a:off x="4663440" y="2331720"/>
            <a:ext cx="4023360" cy="1097280"/>
          </a:xfrm>
          <a:prstGeom prst="roundRect">
            <a:avLst>
              <a:gd name="adj" fmla="val 6667"/>
            </a:avLst>
          </a:prstGeom>
          <a:solidFill>
            <a:schemeClr val="bg2"/>
          </a:solidFill>
          <a:ln/>
        </p:spPr>
      </p:sp>
      <p:sp>
        <p:nvSpPr>
          <p:cNvPr id="28" name="cerchio FiUserPlus"/>
          <p:cNvSpPr/>
          <p:nvPr/>
        </p:nvSpPr>
        <p:spPr>
          <a:xfrm>
            <a:off x="4828032" y="2496312"/>
            <a:ext cx="438912" cy="438912"/>
          </a:xfrm>
          <a:prstGeom prst="ellipse">
            <a:avLst/>
          </a:prstGeom>
          <a:solidFill>
            <a:schemeClr val="accent1"/>
          </a:solidFill>
          <a:ln/>
        </p:spPr>
      </p:sp>
      <p:pic>
        <p:nvPicPr>
          <p:cNvPr id="29" name="Image 3" descr="FiUserPlus">    </p:cNvPr>
          <p:cNvPicPr>
            <a:picLocks noChangeAspect="1"/>
          </p:cNvPicPr>
          <p:nvPr/>
        </p:nvPicPr>
        <p:blipFill>
          <a:blip r:embed="rId4"/>
          <a:stretch>
            <a:fillRect/>
          </a:stretch>
        </p:blipFill>
        <p:spPr>
          <a:xfrm>
            <a:off x="4937760" y="2606040"/>
            <a:ext cx="219456" cy="219456"/>
          </a:xfrm>
          <a:prstGeom prst="rect">
            <a:avLst/>
          </a:prstGeom>
        </p:spPr>
      </p:pic>
      <p:sp>
        <p:nvSpPr>
          <p:cNvPr id="30" name="Text 23"/>
          <p:cNvSpPr txBox="1"/>
          <p:nvPr/>
        </p:nvSpPr>
        <p:spPr>
          <a:xfrm>
            <a:off x="537667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Inserimento di nuovi colleghi</a:t>
            </a:r>
            <a:endParaRPr lang="en-US" sz="1400" dirty="0"/>
          </a:p>
        </p:txBody>
      </p:sp>
      <p:sp>
        <p:nvSpPr>
          <p:cNvPr id="31" name="Text 24"/>
          <p:cNvSpPr txBox="1"/>
          <p:nvPr/>
        </p:nvSpPr>
        <p:spPr>
          <a:xfrm>
            <a:off x="482803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Regole, contatti, prassi in un unico punto</a:t>
            </a:r>
            <a:endParaRPr lang="en-US" sz="1200" dirty="0"/>
          </a:p>
        </p:txBody>
      </p:sp>
      <p:sp>
        <p:nvSpPr>
          <p:cNvPr id="32" name="messaggio"/>
          <p:cNvSpPr/>
          <p:nvPr/>
        </p:nvSpPr>
        <p:spPr>
          <a:xfrm>
            <a:off x="457200" y="3611880"/>
            <a:ext cx="8229600" cy="548640"/>
          </a:xfrm>
          <a:prstGeom prst="roundRect">
            <a:avLst>
              <a:gd name="adj" fmla="val 13333"/>
            </a:avLst>
          </a:prstGeom>
          <a:solidFill>
            <a:schemeClr val="tx1"/>
          </a:solidFill>
          <a:ln/>
        </p:spPr>
      </p:sp>
      <p:sp>
        <p:nvSpPr>
          <p:cNvPr id="33" name="Text 26"/>
          <p:cNvSpPr txBox="1"/>
          <p:nvPr/>
        </p:nvSpPr>
        <p:spPr>
          <a:xfrm>
            <a:off x="640080" y="3611880"/>
            <a:ext cx="7863840" cy="548640"/>
          </a:xfrm>
          <a:prstGeom prst="rect">
            <a:avLst/>
          </a:prstGeom>
          <a:noFill/>
          <a:ln/>
        </p:spPr>
        <p:txBody>
          <a:bodyPr wrap="square" lIns="0" tIns="0" rIns="0" bIns="0" rtlCol="0" anchor="ctr"/>
          <a:lstStyle/>
          <a:p>
            <a:pPr indent="0" marL="0">
              <a:buNone/>
            </a:pPr>
            <a:r>
              <a:rPr lang="en-US" sz="1200" dirty="0">
                <a:solidFill>
                  <a:schemeClr val="bg1"/>
                </a:solidFill>
              </a:rPr>
              <a:t>Meno tempo per trovare le informazioni, conoscenza accessibile a chi non sa dove cercare, esperti alleggeriti dalle domande ripetitive.</a:t>
            </a:r>
            <a:endParaRPr lang="en-US" sz="1200" dirty="0"/>
          </a:p>
        </p:txBody>
      </p:sp>
      <p:sp>
        <p:nvSpPr>
          <p:cNvPr id="34" name="Text 27"/>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200" i="1" dirty="0">
                <a:solidFill>
                  <a:schemeClr val="tx2"/>
                </a:solidFill>
              </a:rPr>
              <a:t>Molti strumenti permettono già di creare piccoli assistenti su un insieme definito di documenti.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Come funziona per chi la usa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blocco Domanda"/>
          <p:cNvSpPr/>
          <p:nvPr/>
        </p:nvSpPr>
        <p:spPr>
          <a:xfrm>
            <a:off x="457200" y="1188720"/>
            <a:ext cx="1554480" cy="731520"/>
          </a:xfrm>
          <a:prstGeom prst="roundRect">
            <a:avLst>
              <a:gd name="adj" fmla="val 15000"/>
            </a:avLst>
          </a:prstGeom>
          <a:solidFill>
            <a:schemeClr val="bg2"/>
          </a:solidFill>
          <a:ln/>
        </p:spPr>
      </p:sp>
      <p:sp>
        <p:nvSpPr>
          <p:cNvPr id="13" name="Text 10"/>
          <p:cNvSpPr txBox="1"/>
          <p:nvPr/>
        </p:nvSpPr>
        <p:spPr>
          <a:xfrm>
            <a:off x="502920" y="1188720"/>
            <a:ext cx="1463040" cy="731520"/>
          </a:xfrm>
          <a:prstGeom prst="rect">
            <a:avLst/>
          </a:prstGeom>
          <a:noFill/>
          <a:ln/>
        </p:spPr>
        <p:txBody>
          <a:bodyPr wrap="square" lIns="0" tIns="0" rIns="0" bIns="0" rtlCol="0" anchor="ctr"/>
          <a:lstStyle/>
          <a:p>
            <a:pPr algn="ctr" indent="0" marL="0">
              <a:buNone/>
            </a:pPr>
            <a:r>
              <a:rPr lang="en-US" sz="1400" b="1" dirty="0">
                <a:solidFill>
                  <a:schemeClr val="tx1"/>
                </a:solidFill>
              </a:rPr>
              <a:t>Domanda</a:t>
            </a:r>
            <a:endParaRPr lang="en-US" sz="1400" dirty="0"/>
          </a:p>
        </p:txBody>
      </p:sp>
      <p:sp>
        <p:nvSpPr>
          <p:cNvPr id="14" name="freccia"/>
          <p:cNvSpPr/>
          <p:nvPr/>
        </p:nvSpPr>
        <p:spPr>
          <a:xfrm>
            <a:off x="2103120" y="1408176"/>
            <a:ext cx="320040" cy="292608"/>
          </a:xfrm>
          <a:prstGeom prst="rightArrow">
            <a:avLst/>
          </a:prstGeom>
          <a:solidFill>
            <a:schemeClr val="accent2"/>
          </a:solidFill>
          <a:ln/>
        </p:spPr>
      </p:sp>
      <p:sp>
        <p:nvSpPr>
          <p:cNvPr id="15" name="recupero"/>
          <p:cNvSpPr/>
          <p:nvPr/>
        </p:nvSpPr>
        <p:spPr>
          <a:xfrm>
            <a:off x="2514600" y="1051560"/>
            <a:ext cx="2377440" cy="1005840"/>
          </a:xfrm>
          <a:prstGeom prst="roundRect">
            <a:avLst>
              <a:gd name="adj" fmla="val 7273"/>
            </a:avLst>
          </a:prstGeom>
          <a:solidFill>
            <a:schemeClr val="accent6"/>
          </a:solidFill>
          <a:ln/>
        </p:spPr>
      </p:sp>
      <p:sp>
        <p:nvSpPr>
          <p:cNvPr id="16" name="Text 13"/>
          <p:cNvSpPr txBox="1"/>
          <p:nvPr/>
        </p:nvSpPr>
        <p:spPr>
          <a:xfrm>
            <a:off x="2651760" y="1115568"/>
            <a:ext cx="2103120" cy="320040"/>
          </a:xfrm>
          <a:prstGeom prst="rect">
            <a:avLst/>
          </a:prstGeom>
          <a:noFill/>
          <a:ln/>
        </p:spPr>
        <p:txBody>
          <a:bodyPr wrap="square" lIns="0" tIns="0" rIns="0" bIns="0" rtlCol="0" anchor="t"/>
          <a:lstStyle/>
          <a:p>
            <a:pPr indent="0" marL="0">
              <a:buNone/>
            </a:pPr>
            <a:r>
              <a:rPr lang="en-US" sz="1400" b="1" dirty="0">
                <a:solidFill>
                  <a:schemeClr val="accent1"/>
                </a:solidFill>
              </a:rPr>
              <a:t>1. Recupero</a:t>
            </a:r>
            <a:endParaRPr lang="en-US" sz="1400" dirty="0"/>
          </a:p>
        </p:txBody>
      </p:sp>
      <p:sp>
        <p:nvSpPr>
          <p:cNvPr id="17" name="Text 14"/>
          <p:cNvSpPr txBox="1"/>
          <p:nvPr/>
        </p:nvSpPr>
        <p:spPr>
          <a:xfrm>
            <a:off x="2651760" y="1444752"/>
            <a:ext cx="2103120" cy="548640"/>
          </a:xfrm>
          <a:prstGeom prst="rect">
            <a:avLst/>
          </a:prstGeom>
          <a:noFill/>
          <a:ln/>
        </p:spPr>
        <p:txBody>
          <a:bodyPr wrap="square" lIns="0" tIns="0" rIns="0" bIns="0" rtlCol="0" anchor="t"/>
          <a:lstStyle/>
          <a:p>
            <a:pPr indent="0" marL="0">
              <a:buNone/>
            </a:pPr>
            <a:r>
              <a:rPr lang="en-US" sz="1100" dirty="0">
                <a:solidFill>
                  <a:schemeClr val="tx1"/>
                </a:solidFill>
              </a:rPr>
              <a:t>Cerca i passaggi più pertinenti nella raccolta</a:t>
            </a:r>
            <a:endParaRPr lang="en-US" sz="1100" dirty="0"/>
          </a:p>
        </p:txBody>
      </p:sp>
      <p:sp>
        <p:nvSpPr>
          <p:cNvPr id="18" name="freccia"/>
          <p:cNvSpPr/>
          <p:nvPr/>
        </p:nvSpPr>
        <p:spPr>
          <a:xfrm>
            <a:off x="4983480" y="1408176"/>
            <a:ext cx="320040" cy="292608"/>
          </a:xfrm>
          <a:prstGeom prst="rightArrow">
            <a:avLst/>
          </a:prstGeom>
          <a:solidFill>
            <a:schemeClr val="accent2"/>
          </a:solidFill>
          <a:ln/>
        </p:spPr>
      </p:sp>
      <p:sp>
        <p:nvSpPr>
          <p:cNvPr id="19" name="generazione"/>
          <p:cNvSpPr/>
          <p:nvPr/>
        </p:nvSpPr>
        <p:spPr>
          <a:xfrm>
            <a:off x="5394960" y="1051560"/>
            <a:ext cx="2377440" cy="1005840"/>
          </a:xfrm>
          <a:prstGeom prst="roundRect">
            <a:avLst>
              <a:gd name="adj" fmla="val 7273"/>
            </a:avLst>
          </a:prstGeom>
          <a:solidFill>
            <a:schemeClr val="accent1"/>
          </a:solidFill>
          <a:ln/>
        </p:spPr>
      </p:sp>
      <p:sp>
        <p:nvSpPr>
          <p:cNvPr id="20" name="Text 17"/>
          <p:cNvSpPr txBox="1"/>
          <p:nvPr/>
        </p:nvSpPr>
        <p:spPr>
          <a:xfrm>
            <a:off x="5532120" y="1115568"/>
            <a:ext cx="2103120" cy="320040"/>
          </a:xfrm>
          <a:prstGeom prst="rect">
            <a:avLst/>
          </a:prstGeom>
          <a:noFill/>
          <a:ln/>
        </p:spPr>
        <p:txBody>
          <a:bodyPr wrap="square" lIns="0" tIns="0" rIns="0" bIns="0" rtlCol="0" anchor="t"/>
          <a:lstStyle/>
          <a:p>
            <a:pPr indent="0" marL="0">
              <a:buNone/>
            </a:pPr>
            <a:r>
              <a:rPr lang="en-US" sz="1400" b="1" dirty="0">
                <a:solidFill>
                  <a:schemeClr val="bg1"/>
                </a:solidFill>
              </a:rPr>
              <a:t>2. Generazione</a:t>
            </a:r>
            <a:endParaRPr lang="en-US" sz="1400" dirty="0"/>
          </a:p>
        </p:txBody>
      </p:sp>
      <p:sp>
        <p:nvSpPr>
          <p:cNvPr id="21" name="Text 18"/>
          <p:cNvSpPr txBox="1"/>
          <p:nvPr/>
        </p:nvSpPr>
        <p:spPr>
          <a:xfrm>
            <a:off x="5532120" y="1444752"/>
            <a:ext cx="2103120" cy="548640"/>
          </a:xfrm>
          <a:prstGeom prst="rect">
            <a:avLst/>
          </a:prstGeom>
          <a:noFill/>
          <a:ln/>
        </p:spPr>
        <p:txBody>
          <a:bodyPr wrap="square" lIns="0" tIns="0" rIns="0" bIns="0" rtlCol="0" anchor="t"/>
          <a:lstStyle/>
          <a:p>
            <a:pPr indent="0" marL="0">
              <a:buNone/>
            </a:pPr>
            <a:r>
              <a:rPr lang="en-US" sz="1100" dirty="0">
                <a:solidFill>
                  <a:schemeClr val="bg1"/>
                </a:solidFill>
              </a:rPr>
              <a:t>Risponde sulla base dei passaggi, e li cita</a:t>
            </a:r>
            <a:endParaRPr lang="en-US" sz="11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8229600" cy="914400"/>
        </p:xfrm>
        <a:graphic>
          <a:graphicData uri="http://schemas.openxmlformats.org/drawingml/2006/table">
            <a:tbl>
              <a:tblPr/>
              <a:tblGrid>
                <a:gridCol w="2743200"/>
                <a:gridCol w="2377440"/>
                <a:gridCol w="3108960"/>
              </a:tblGrid>
              <a:tr h="384048">
                <a:tc>
                  <a:txBody>
                    <a:bodyPr/>
                    <a:lstStyle/>
                    <a:p>
                      <a:pPr indent="0" marL="0">
                        <a:buNone/>
                      </a:pPr>
                      <a:r>
                        <a:rPr lang="en-US" sz="1200" b="1" dirty="0">
                          <a:solidFill>
                            <a:schemeClr val="bg1"/>
                          </a:solidFill>
                        </a:rPr>
                        <a:t>Se succede che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L'utente vede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aiuta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84048">
                <a:tc>
                  <a:txBody>
                    <a:bodyPr/>
                    <a:lstStyle/>
                    <a:p>
                      <a:pPr indent="0" marL="0">
                        <a:buNone/>
                      </a:pPr>
                      <a:r>
                        <a:rPr lang="en-US" sz="1200" b="1" dirty="0">
                          <a:solidFill>
                            <a:schemeClr val="tx1"/>
                          </a:solidFill>
                        </a:rPr>
                        <a:t>Il recupero manca il passaggio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Risposta incompleta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Usare il lessico dei documenti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Trova documenti superati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Risposta superata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Versioni gestite, data controllata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Non trova nulla di pertinente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Risposta generica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Chiedere di usare solo i documenti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La generazione riporta male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Errore con fonte giusta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Aprire il passaggio citato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Dalle procedure alle risposte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raccolta"/>
          <p:cNvSpPr/>
          <p:nvPr/>
        </p:nvSpPr>
        <p:spPr>
          <a:xfrm>
            <a:off x="457200" y="1051560"/>
            <a:ext cx="2103120" cy="2697480"/>
          </a:xfrm>
          <a:prstGeom prst="roundRect">
            <a:avLst>
              <a:gd name="adj" fmla="val 3478"/>
            </a:avLst>
          </a:prstGeom>
          <a:solidFill>
            <a:schemeClr val="bg2"/>
          </a:solidFill>
          <a:ln/>
        </p:spPr>
      </p:sp>
      <p:sp>
        <p:nvSpPr>
          <p:cNvPr id="13" name="Text 10"/>
          <p:cNvSpPr txBox="1"/>
          <p:nvPr/>
        </p:nvSpPr>
        <p:spPr>
          <a:xfrm>
            <a:off x="621792" y="1143000"/>
            <a:ext cx="1828800" cy="256032"/>
          </a:xfrm>
          <a:prstGeom prst="rect">
            <a:avLst/>
          </a:prstGeom>
          <a:noFill/>
          <a:ln/>
        </p:spPr>
        <p:txBody>
          <a:bodyPr wrap="square" lIns="0" tIns="0" rIns="0" bIns="0" rtlCol="0" anchor="t"/>
          <a:lstStyle/>
          <a:p>
            <a:pPr indent="0" marL="0">
              <a:buNone/>
            </a:pPr>
            <a:r>
              <a:rPr lang="en-US" sz="1100" b="1" dirty="0">
                <a:solidFill>
                  <a:schemeClr val="accent1"/>
                </a:solidFill>
              </a:rPr>
              <a:t>Raccolta (fittizia)</a:t>
            </a:r>
            <a:endParaRPr lang="en-US" sz="1100" dirty="0"/>
          </a:p>
        </p:txBody>
      </p:sp>
      <p:sp>
        <p:nvSpPr>
          <p:cNvPr id="14" name="blocco Procedura rimborsi spese v. 3.2"/>
          <p:cNvSpPr/>
          <p:nvPr/>
        </p:nvSpPr>
        <p:spPr>
          <a:xfrm>
            <a:off x="621792" y="1481328"/>
            <a:ext cx="1783080" cy="457200"/>
          </a:xfrm>
          <a:prstGeom prst="roundRect">
            <a:avLst>
              <a:gd name="adj" fmla="val 24000"/>
            </a:avLst>
          </a:prstGeom>
          <a:solidFill>
            <a:schemeClr val="accent6"/>
          </a:solidFill>
          <a:ln/>
        </p:spPr>
      </p:sp>
      <p:sp>
        <p:nvSpPr>
          <p:cNvPr id="15" name="Text 12"/>
          <p:cNvSpPr txBox="1"/>
          <p:nvPr/>
        </p:nvSpPr>
        <p:spPr>
          <a:xfrm>
            <a:off x="667512" y="1481328"/>
            <a:ext cx="1691640" cy="457200"/>
          </a:xfrm>
          <a:prstGeom prst="rect">
            <a:avLst/>
          </a:prstGeom>
          <a:noFill/>
          <a:ln/>
        </p:spPr>
        <p:txBody>
          <a:bodyPr wrap="square" lIns="0" tIns="0" rIns="0" bIns="0" rtlCol="0" anchor="ctr"/>
          <a:lstStyle/>
          <a:p>
            <a:pPr algn="ctr" indent="0" marL="0">
              <a:buNone/>
            </a:pPr>
            <a:r>
              <a:rPr lang="en-US" sz="1000" b="1" dirty="0">
                <a:solidFill>
                  <a:schemeClr val="tx1"/>
                </a:solidFill>
              </a:rPr>
              <a:t>Procedura rimborsi spese v. 3.2</a:t>
            </a:r>
            <a:endParaRPr lang="en-US" sz="1000" dirty="0"/>
          </a:p>
        </p:txBody>
      </p:sp>
      <p:sp>
        <p:nvSpPr>
          <p:cNvPr id="16" name="blocco Regolamento trasferte"/>
          <p:cNvSpPr/>
          <p:nvPr/>
        </p:nvSpPr>
        <p:spPr>
          <a:xfrm>
            <a:off x="621792" y="2029968"/>
            <a:ext cx="1783080" cy="457200"/>
          </a:xfrm>
          <a:prstGeom prst="roundRect">
            <a:avLst>
              <a:gd name="adj" fmla="val 24000"/>
            </a:avLst>
          </a:prstGeom>
          <a:solidFill>
            <a:schemeClr val="bg1"/>
          </a:solidFill>
          <a:ln/>
        </p:spPr>
      </p:sp>
      <p:sp>
        <p:nvSpPr>
          <p:cNvPr id="17" name="Text 14"/>
          <p:cNvSpPr txBox="1"/>
          <p:nvPr/>
        </p:nvSpPr>
        <p:spPr>
          <a:xfrm>
            <a:off x="667512" y="2029968"/>
            <a:ext cx="1691640" cy="457200"/>
          </a:xfrm>
          <a:prstGeom prst="rect">
            <a:avLst/>
          </a:prstGeom>
          <a:noFill/>
          <a:ln/>
        </p:spPr>
        <p:txBody>
          <a:bodyPr wrap="square" lIns="0" tIns="0" rIns="0" bIns="0" rtlCol="0" anchor="ctr"/>
          <a:lstStyle/>
          <a:p>
            <a:pPr algn="ctr" indent="0" marL="0">
              <a:buNone/>
            </a:pPr>
            <a:r>
              <a:rPr lang="en-US" sz="1000" b="1" dirty="0">
                <a:solidFill>
                  <a:schemeClr val="tx1"/>
                </a:solidFill>
              </a:rPr>
              <a:t>Regolamento trasferte</a:t>
            </a:r>
            <a:endParaRPr lang="en-US" sz="1000" dirty="0"/>
          </a:p>
        </p:txBody>
      </p:sp>
      <p:sp>
        <p:nvSpPr>
          <p:cNvPr id="18" name="blocco Policy acquisti v. 1.4"/>
          <p:cNvSpPr/>
          <p:nvPr/>
        </p:nvSpPr>
        <p:spPr>
          <a:xfrm>
            <a:off x="621792" y="2578608"/>
            <a:ext cx="1783080" cy="457200"/>
          </a:xfrm>
          <a:prstGeom prst="roundRect">
            <a:avLst>
              <a:gd name="adj" fmla="val 24000"/>
            </a:avLst>
          </a:prstGeom>
          <a:solidFill>
            <a:schemeClr val="bg1"/>
          </a:solidFill>
          <a:ln/>
        </p:spPr>
      </p:sp>
      <p:sp>
        <p:nvSpPr>
          <p:cNvPr id="19" name="Text 16"/>
          <p:cNvSpPr txBox="1"/>
          <p:nvPr/>
        </p:nvSpPr>
        <p:spPr>
          <a:xfrm>
            <a:off x="667512" y="2578608"/>
            <a:ext cx="1691640" cy="457200"/>
          </a:xfrm>
          <a:prstGeom prst="rect">
            <a:avLst/>
          </a:prstGeom>
          <a:noFill/>
          <a:ln/>
        </p:spPr>
        <p:txBody>
          <a:bodyPr wrap="square" lIns="0" tIns="0" rIns="0" bIns="0" rtlCol="0" anchor="ctr"/>
          <a:lstStyle/>
          <a:p>
            <a:pPr algn="ctr" indent="0" marL="0">
              <a:buNone/>
            </a:pPr>
            <a:r>
              <a:rPr lang="en-US" sz="1000" b="1" dirty="0">
                <a:solidFill>
                  <a:schemeClr val="tx1"/>
                </a:solidFill>
              </a:rPr>
              <a:t>Policy acquisti v. 1.4</a:t>
            </a:r>
            <a:endParaRPr lang="en-US" sz="1000" dirty="0"/>
          </a:p>
        </p:txBody>
      </p:sp>
      <p:sp>
        <p:nvSpPr>
          <p:cNvPr id="20" name="blocco FAQ amministrazione"/>
          <p:cNvSpPr/>
          <p:nvPr/>
        </p:nvSpPr>
        <p:spPr>
          <a:xfrm>
            <a:off x="621792" y="3127248"/>
            <a:ext cx="1783080" cy="457200"/>
          </a:xfrm>
          <a:prstGeom prst="roundRect">
            <a:avLst>
              <a:gd name="adj" fmla="val 24000"/>
            </a:avLst>
          </a:prstGeom>
          <a:solidFill>
            <a:schemeClr val="bg1"/>
          </a:solidFill>
          <a:ln/>
        </p:spPr>
      </p:sp>
      <p:sp>
        <p:nvSpPr>
          <p:cNvPr id="21" name="Text 18"/>
          <p:cNvSpPr txBox="1"/>
          <p:nvPr/>
        </p:nvSpPr>
        <p:spPr>
          <a:xfrm>
            <a:off x="667512" y="3127248"/>
            <a:ext cx="1691640" cy="457200"/>
          </a:xfrm>
          <a:prstGeom prst="rect">
            <a:avLst/>
          </a:prstGeom>
          <a:noFill/>
          <a:ln/>
        </p:spPr>
        <p:txBody>
          <a:bodyPr wrap="square" lIns="0" tIns="0" rIns="0" bIns="0" rtlCol="0" anchor="ctr"/>
          <a:lstStyle/>
          <a:p>
            <a:pPr algn="ctr" indent="0" marL="0">
              <a:buNone/>
            </a:pPr>
            <a:r>
              <a:rPr lang="en-US" sz="1000" b="1" dirty="0">
                <a:solidFill>
                  <a:schemeClr val="tx1"/>
                </a:solidFill>
              </a:rPr>
              <a:t>FAQ amministrazione</a:t>
            </a:r>
            <a:endParaRPr lang="en-US" sz="1000" dirty="0"/>
          </a:p>
        </p:txBody>
      </p:sp>
      <p:sp>
        <p:nvSpPr>
          <p:cNvPr id="22" name="freccia"/>
          <p:cNvSpPr/>
          <p:nvPr/>
        </p:nvSpPr>
        <p:spPr>
          <a:xfrm>
            <a:off x="2606040" y="2240280"/>
            <a:ext cx="201168" cy="292608"/>
          </a:xfrm>
          <a:prstGeom prst="rightArrow">
            <a:avLst/>
          </a:prstGeom>
          <a:solidFill>
            <a:schemeClr val="accent2"/>
          </a:solidFill>
          <a:ln/>
        </p:spPr>
      </p:sp>
      <p:sp>
        <p:nvSpPr>
          <p:cNvPr id="23" name="risposta assistente"/>
          <p:cNvSpPr/>
          <p:nvPr/>
        </p:nvSpPr>
        <p:spPr>
          <a:xfrm>
            <a:off x="2852928" y="1051560"/>
            <a:ext cx="3749040" cy="2697480"/>
          </a:xfrm>
          <a:prstGeom prst="roundRect">
            <a:avLst>
              <a:gd name="adj" fmla="val 2712"/>
            </a:avLst>
          </a:prstGeom>
          <a:solidFill>
            <a:schemeClr val="bg2"/>
          </a:solidFill>
          <a:ln/>
        </p:spPr>
      </p:sp>
      <p:sp>
        <p:nvSpPr>
          <p:cNvPr id="24" name="Text 21"/>
          <p:cNvSpPr txBox="1"/>
          <p:nvPr/>
        </p:nvSpPr>
        <p:spPr>
          <a:xfrm>
            <a:off x="3017520" y="1124712"/>
            <a:ext cx="3474720" cy="384048"/>
          </a:xfrm>
          <a:prstGeom prst="rect">
            <a:avLst/>
          </a:prstGeom>
          <a:noFill/>
          <a:ln/>
        </p:spPr>
        <p:txBody>
          <a:bodyPr wrap="square" lIns="0" tIns="0" rIns="0" bIns="0" rtlCol="0" anchor="t"/>
          <a:lstStyle/>
          <a:p>
            <a:pPr indent="0" marL="0">
              <a:buNone/>
            </a:pPr>
            <a:r>
              <a:rPr lang="en-US" sz="1200" b="1" dirty="0">
                <a:solidFill>
                  <a:schemeClr val="tx1"/>
                </a:solidFill>
              </a:rPr>
              <a:t>Domanda: entro quando va presentata la nota spese?</a:t>
            </a:r>
            <a:endParaRPr lang="en-US" sz="1200" dirty="0"/>
          </a:p>
        </p:txBody>
      </p:sp>
      <p:sp>
        <p:nvSpPr>
          <p:cNvPr id="25" name="Text 22"/>
          <p:cNvSpPr txBox="1"/>
          <p:nvPr/>
        </p:nvSpPr>
        <p:spPr>
          <a:xfrm>
            <a:off x="3017520" y="1536192"/>
            <a:ext cx="3474720" cy="548640"/>
          </a:xfrm>
          <a:prstGeom prst="rect">
            <a:avLst/>
          </a:prstGeom>
          <a:noFill/>
          <a:ln/>
        </p:spPr>
        <p:txBody>
          <a:bodyPr wrap="square" lIns="0" tIns="0" rIns="0" bIns="0" rtlCol="0" anchor="t"/>
          <a:lstStyle/>
          <a:p>
            <a:pPr indent="0" marL="0">
              <a:buNone/>
            </a:pPr>
            <a:r>
              <a:rPr lang="en-US" sz="1200" dirty="0">
                <a:solidFill>
                  <a:schemeClr val="tx1"/>
                </a:solidFill>
              </a:rPr>
              <a:t>Entro 30 giorni dalla fine della trasferta, allegando i giustificativi in originale.</a:t>
            </a:r>
            <a:endParaRPr lang="en-US" sz="1200" dirty="0"/>
          </a:p>
        </p:txBody>
      </p:sp>
      <p:sp>
        <p:nvSpPr>
          <p:cNvPr id="26" name="documento Procedura rimborsi spese, v. 3.2 (gennaio), §4.1"/>
          <p:cNvSpPr/>
          <p:nvPr/>
        </p:nvSpPr>
        <p:spPr>
          <a:xfrm>
            <a:off x="3017520" y="2148840"/>
            <a:ext cx="3429000" cy="1481328"/>
          </a:xfrm>
          <a:prstGeom prst="roundRect">
            <a:avLst>
              <a:gd name="adj" fmla="val 4938"/>
            </a:avLst>
          </a:prstGeom>
          <a:solidFill>
            <a:schemeClr val="bg1"/>
          </a:solidFill>
          <a:ln/>
        </p:spPr>
      </p:sp>
      <p:sp>
        <p:nvSpPr>
          <p:cNvPr id="27" name="barra"/>
          <p:cNvSpPr/>
          <p:nvPr/>
        </p:nvSpPr>
        <p:spPr>
          <a:xfrm>
            <a:off x="3017520" y="2258568"/>
            <a:ext cx="54864" cy="1261872"/>
          </a:xfrm>
          <a:prstGeom prst="rect">
            <a:avLst/>
          </a:prstGeom>
          <a:solidFill>
            <a:schemeClr val="accent1"/>
          </a:solidFill>
          <a:ln/>
        </p:spPr>
      </p:sp>
      <p:sp>
        <p:nvSpPr>
          <p:cNvPr id="28" name="Text 25"/>
          <p:cNvSpPr txBox="1"/>
          <p:nvPr/>
        </p:nvSpPr>
        <p:spPr>
          <a:xfrm>
            <a:off x="3218688" y="2240280"/>
            <a:ext cx="3063240" cy="256032"/>
          </a:xfrm>
          <a:prstGeom prst="rect">
            <a:avLst/>
          </a:prstGeom>
          <a:noFill/>
          <a:ln/>
        </p:spPr>
        <p:txBody>
          <a:bodyPr wrap="square" lIns="0" tIns="0" rIns="0" bIns="0" rtlCol="0" anchor="t"/>
          <a:lstStyle/>
          <a:p>
            <a:pPr indent="0" marL="0">
              <a:buNone/>
            </a:pPr>
            <a:r>
              <a:rPr lang="en-US" sz="1100" b="1" dirty="0">
                <a:solidFill>
                  <a:schemeClr val="accent1"/>
                </a:solidFill>
              </a:rPr>
              <a:t>Procedura rimborsi spese, v. 3.2 (gennaio), §4.1</a:t>
            </a:r>
            <a:endParaRPr lang="en-US" sz="1100" dirty="0"/>
          </a:p>
        </p:txBody>
      </p:sp>
      <p:sp>
        <p:nvSpPr>
          <p:cNvPr id="29" name="Text 26"/>
          <p:cNvSpPr txBox="1"/>
          <p:nvPr/>
        </p:nvSpPr>
        <p:spPr>
          <a:xfrm>
            <a:off x="3218688" y="2532888"/>
            <a:ext cx="3063240" cy="1005840"/>
          </a:xfrm>
          <a:prstGeom prst="rect">
            <a:avLst/>
          </a:prstGeom>
          <a:noFill/>
          <a:ln/>
        </p:spPr>
        <p:txBody>
          <a:bodyPr wrap="square" lIns="0" tIns="0" rIns="0" bIns="0" rtlCol="0" anchor="t"/>
          <a:lstStyle/>
          <a:p>
            <a:pPr indent="0" marL="0">
              <a:buNone/>
            </a:pPr>
            <a:r>
              <a:rPr lang="en-US" sz="1050" dirty="0">
                <a:solidFill>
                  <a:schemeClr val="tx1"/>
                </a:solidFill>
              </a:rPr>
              <a:t>"Le note spese devono essere presentate entro 30 giorni dalla conclusione della trasferta. Per le trasferte superiori a 15 giorni è ammessa la presentazione di note intermedie."</a:t>
            </a:r>
            <a:endParaRPr lang="en-US" sz="1050" dirty="0"/>
          </a:p>
        </p:txBody>
      </p:sp>
      <p:sp>
        <p:nvSpPr>
          <p:cNvPr id="30" name="scheda Con il riferimento"/>
          <p:cNvSpPr/>
          <p:nvPr/>
        </p:nvSpPr>
        <p:spPr>
          <a:xfrm>
            <a:off x="6766560" y="1051560"/>
            <a:ext cx="1920240" cy="2697480"/>
          </a:xfrm>
          <a:prstGeom prst="roundRect">
            <a:avLst>
              <a:gd name="adj" fmla="val 3810"/>
            </a:avLst>
          </a:prstGeom>
          <a:solidFill>
            <a:schemeClr val="accent6"/>
          </a:solidFill>
          <a:ln/>
        </p:spPr>
      </p:sp>
      <p:sp>
        <p:nvSpPr>
          <p:cNvPr id="31" name="cerchio FiLink"/>
          <p:cNvSpPr/>
          <p:nvPr/>
        </p:nvSpPr>
        <p:spPr>
          <a:xfrm>
            <a:off x="6949440" y="1234440"/>
            <a:ext cx="457200" cy="457200"/>
          </a:xfrm>
          <a:prstGeom prst="ellipse">
            <a:avLst/>
          </a:prstGeom>
          <a:solidFill>
            <a:schemeClr val="accent1"/>
          </a:solidFill>
          <a:ln/>
        </p:spPr>
      </p:sp>
      <p:pic>
        <p:nvPicPr>
          <p:cNvPr id="32" name="Image 0" descr="FiLink">    </p:cNvPr>
          <p:cNvPicPr>
            <a:picLocks noChangeAspect="1"/>
          </p:cNvPicPr>
          <p:nvPr/>
        </p:nvPicPr>
        <p:blipFill>
          <a:blip r:embed="rId1"/>
          <a:stretch>
            <a:fillRect/>
          </a:stretch>
        </p:blipFill>
        <p:spPr>
          <a:xfrm>
            <a:off x="7063740" y="1348740"/>
            <a:ext cx="228600" cy="228600"/>
          </a:xfrm>
          <a:prstGeom prst="rect">
            <a:avLst/>
          </a:prstGeom>
        </p:spPr>
      </p:pic>
      <p:sp>
        <p:nvSpPr>
          <p:cNvPr id="33" name="Text 29"/>
          <p:cNvSpPr txBox="1"/>
          <p:nvPr/>
        </p:nvSpPr>
        <p:spPr>
          <a:xfrm>
            <a:off x="6949440" y="1801368"/>
            <a:ext cx="1554480" cy="347472"/>
          </a:xfrm>
          <a:prstGeom prst="rect">
            <a:avLst/>
          </a:prstGeom>
          <a:noFill/>
          <a:ln/>
        </p:spPr>
        <p:txBody>
          <a:bodyPr wrap="square" lIns="0" tIns="0" rIns="0" bIns="0" rtlCol="0" anchor="t"/>
          <a:lstStyle/>
          <a:p>
            <a:pPr indent="0" marL="0">
              <a:buNone/>
            </a:pPr>
            <a:r>
              <a:rPr lang="en-US" sz="1300" b="1" dirty="0">
                <a:solidFill>
                  <a:schemeClr val="tx1"/>
                </a:solidFill>
              </a:rPr>
              <a:t>Con il riferimento</a:t>
            </a:r>
            <a:endParaRPr lang="en-US" sz="1300" dirty="0"/>
          </a:p>
        </p:txBody>
      </p:sp>
      <p:sp>
        <p:nvSpPr>
          <p:cNvPr id="34" name="Text 30"/>
          <p:cNvSpPr txBox="1"/>
          <p:nvPr/>
        </p:nvSpPr>
        <p:spPr>
          <a:xfrm>
            <a:off x="6949440" y="2185416"/>
            <a:ext cx="1554480" cy="1453896"/>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chemeClr val="tx2"/>
                </a:solidFill>
              </a:rPr>
              <a:t>Si verifica la risposta</a:t>
            </a:r>
            <a:endParaRPr lang="en-US" sz="1100" dirty="0"/>
          </a:p>
          <a:p>
            <a:pPr marL="177800" indent="-177800">
              <a:spcAft>
                <a:spcPts val="400"/>
              </a:spcAft>
              <a:buSzPct val="100000"/>
              <a:buChar char="•"/>
            </a:pPr>
            <a:r>
              <a:rPr lang="en-US" sz="1100" dirty="0">
                <a:solidFill>
                  <a:schemeClr val="tx2"/>
                </a:solidFill>
              </a:rPr>
              <a:t>Si controllano versione e data</a:t>
            </a:r>
            <a:endParaRPr lang="en-US" sz="1100" dirty="0"/>
          </a:p>
          <a:p>
            <a:pPr marL="177800" indent="-177800">
              <a:spcAft>
                <a:spcPts val="400"/>
              </a:spcAft>
              <a:buSzPct val="100000"/>
              <a:buChar char="•"/>
            </a:pPr>
            <a:r>
              <a:rPr lang="en-US" sz="1100" dirty="0">
                <a:solidFill>
                  <a:schemeClr val="tx2"/>
                </a:solidFill>
              </a:rPr>
              <a:t>Si legge il contesto: qui c'è un'eccezione</a:t>
            </a:r>
            <a:endParaRPr lang="en-US" sz="1100" dirty="0"/>
          </a:p>
        </p:txBody>
      </p:sp>
      <p:sp>
        <p:nvSpPr>
          <p:cNvPr id="35" name="messaggio"/>
          <p:cNvSpPr/>
          <p:nvPr/>
        </p:nvSpPr>
        <p:spPr>
          <a:xfrm>
            <a:off x="457200" y="3913632"/>
            <a:ext cx="8229600" cy="621792"/>
          </a:xfrm>
          <a:prstGeom prst="roundRect">
            <a:avLst>
              <a:gd name="adj" fmla="val 11765"/>
            </a:avLst>
          </a:prstGeom>
          <a:solidFill>
            <a:schemeClr val="tx1"/>
          </a:solidFill>
          <a:ln/>
        </p:spPr>
      </p:sp>
      <p:sp>
        <p:nvSpPr>
          <p:cNvPr id="36" name="Text 32"/>
          <p:cNvSpPr txBox="1"/>
          <p:nvPr/>
        </p:nvSpPr>
        <p:spPr>
          <a:xfrm>
            <a:off x="640080" y="3913632"/>
            <a:ext cx="7863840" cy="621792"/>
          </a:xfrm>
          <a:prstGeom prst="rect">
            <a:avLst/>
          </a:prstGeom>
          <a:noFill/>
          <a:ln/>
        </p:spPr>
        <p:txBody>
          <a:bodyPr wrap="square" lIns="0" tIns="0" rIns="0" bIns="0" rtlCol="0" anchor="ctr"/>
          <a:lstStyle/>
          <a:p>
            <a:pPr indent="0" marL="0">
              <a:buNone/>
            </a:pPr>
            <a:r>
              <a:rPr lang="en-US" sz="1300" dirty="0">
                <a:solidFill>
                  <a:schemeClr val="bg1"/>
                </a:solidFill>
              </a:rPr>
              <a:t>Documento, versione e passaggio distinguono la documentazione aziendale dalla conoscenza generica del modello.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Archivio e conoscenza interrogabile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archivio"/>
          <p:cNvSpPr/>
          <p:nvPr/>
        </p:nvSpPr>
        <p:spPr>
          <a:xfrm>
            <a:off x="457200" y="1051560"/>
            <a:ext cx="2377440" cy="1325880"/>
          </a:xfrm>
          <a:prstGeom prst="roundRect">
            <a:avLst>
              <a:gd name="adj" fmla="val 5517"/>
            </a:avLst>
          </a:prstGeom>
          <a:solidFill>
            <a:schemeClr val="bg2"/>
          </a:solidFill>
          <a:ln/>
        </p:spPr>
      </p:sp>
      <p:sp>
        <p:nvSpPr>
          <p:cNvPr id="13" name="cerchio FiArchive"/>
          <p:cNvSpPr/>
          <p:nvPr/>
        </p:nvSpPr>
        <p:spPr>
          <a:xfrm>
            <a:off x="640080" y="1188720"/>
            <a:ext cx="502920" cy="502920"/>
          </a:xfrm>
          <a:prstGeom prst="ellipse">
            <a:avLst/>
          </a:prstGeom>
          <a:solidFill>
            <a:schemeClr val="accent2"/>
          </a:solidFill>
          <a:ln/>
        </p:spPr>
      </p:sp>
      <p:pic>
        <p:nvPicPr>
          <p:cNvPr id="14" name="Image 0" descr="FiArchive">    </p:cNvPr>
          <p:cNvPicPr>
            <a:picLocks noChangeAspect="1"/>
          </p:cNvPicPr>
          <p:nvPr/>
        </p:nvPicPr>
        <p:blipFill>
          <a:blip r:embed="rId1"/>
          <a:stretch>
            <a:fillRect/>
          </a:stretch>
        </p:blipFill>
        <p:spPr>
          <a:xfrm>
            <a:off x="765810" y="1314450"/>
            <a:ext cx="251460" cy="251460"/>
          </a:xfrm>
          <a:prstGeom prst="rect">
            <a:avLst/>
          </a:prstGeom>
        </p:spPr>
      </p:pic>
      <p:sp>
        <p:nvSpPr>
          <p:cNvPr id="15" name="Text 11"/>
          <p:cNvSpPr txBox="1"/>
          <p:nvPr/>
        </p:nvSpPr>
        <p:spPr>
          <a:xfrm>
            <a:off x="1234440" y="1207008"/>
            <a:ext cx="1554480" cy="457200"/>
          </a:xfrm>
          <a:prstGeom prst="rect">
            <a:avLst/>
          </a:prstGeom>
          <a:noFill/>
          <a:ln/>
        </p:spPr>
        <p:txBody>
          <a:bodyPr wrap="square" lIns="0" tIns="0" rIns="0" bIns="0" rtlCol="0" anchor="ctr"/>
          <a:lstStyle/>
          <a:p>
            <a:pPr indent="0" marL="0">
              <a:buNone/>
            </a:pPr>
            <a:r>
              <a:rPr lang="en-US" sz="1500" b="1" dirty="0">
                <a:solidFill>
                  <a:schemeClr val="tx1"/>
                </a:solidFill>
              </a:rPr>
              <a:t>Archivio</a:t>
            </a:r>
            <a:endParaRPr lang="en-US" sz="1500" dirty="0"/>
          </a:p>
        </p:txBody>
      </p:sp>
      <p:sp>
        <p:nvSpPr>
          <p:cNvPr id="16" name="Text 12"/>
          <p:cNvSpPr txBox="1"/>
          <p:nvPr/>
        </p:nvSpPr>
        <p:spPr>
          <a:xfrm>
            <a:off x="640080" y="1783080"/>
            <a:ext cx="2103120" cy="548640"/>
          </a:xfrm>
          <a:prstGeom prst="rect">
            <a:avLst/>
          </a:prstGeom>
          <a:noFill/>
          <a:ln/>
        </p:spPr>
        <p:txBody>
          <a:bodyPr wrap="square" lIns="0" tIns="0" rIns="0" bIns="0" rtlCol="0" anchor="t"/>
          <a:lstStyle/>
          <a:p>
            <a:pPr indent="0" marL="0">
              <a:buNone/>
            </a:pPr>
            <a:r>
              <a:rPr lang="en-US" sz="1100" dirty="0">
                <a:solidFill>
                  <a:schemeClr val="tx2"/>
                </a:solidFill>
              </a:rPr>
              <a:t>Si cerca un file, lo si apre, lo si legge</a:t>
            </a:r>
            <a:endParaRPr lang="en-US" sz="1100" dirty="0"/>
          </a:p>
        </p:txBody>
      </p:sp>
      <p:sp>
        <p:nvSpPr>
          <p:cNvPr id="17" name="freccia"/>
          <p:cNvSpPr/>
          <p:nvPr/>
        </p:nvSpPr>
        <p:spPr>
          <a:xfrm>
            <a:off x="2926080" y="1554480"/>
            <a:ext cx="320040" cy="292608"/>
          </a:xfrm>
          <a:prstGeom prst="rightArrow">
            <a:avLst/>
          </a:prstGeom>
          <a:solidFill>
            <a:schemeClr val="accent2"/>
          </a:solidFill>
          <a:ln/>
        </p:spPr>
      </p:sp>
      <p:sp>
        <p:nvSpPr>
          <p:cNvPr id="18" name="interrogabile"/>
          <p:cNvSpPr/>
          <p:nvPr/>
        </p:nvSpPr>
        <p:spPr>
          <a:xfrm>
            <a:off x="3337560" y="1051560"/>
            <a:ext cx="2377440" cy="1325880"/>
          </a:xfrm>
          <a:prstGeom prst="roundRect">
            <a:avLst>
              <a:gd name="adj" fmla="val 5517"/>
            </a:avLst>
          </a:prstGeom>
          <a:solidFill>
            <a:schemeClr val="accent1"/>
          </a:solidFill>
          <a:ln/>
        </p:spPr>
      </p:sp>
      <p:sp>
        <p:nvSpPr>
          <p:cNvPr id="19" name="cerchio FiMessageCircle"/>
          <p:cNvSpPr/>
          <p:nvPr/>
        </p:nvSpPr>
        <p:spPr>
          <a:xfrm>
            <a:off x="3520440" y="1188720"/>
            <a:ext cx="502920" cy="502920"/>
          </a:xfrm>
          <a:prstGeom prst="ellipse">
            <a:avLst/>
          </a:prstGeom>
          <a:solidFill>
            <a:schemeClr val="bg1"/>
          </a:solidFill>
          <a:ln/>
        </p:spPr>
      </p:sp>
      <p:pic>
        <p:nvPicPr>
          <p:cNvPr id="20" name="Image 1" descr="FiMessageCircle">    </p:cNvPr>
          <p:cNvPicPr>
            <a:picLocks noChangeAspect="1"/>
          </p:cNvPicPr>
          <p:nvPr/>
        </p:nvPicPr>
        <p:blipFill>
          <a:blip r:embed="rId2"/>
          <a:stretch>
            <a:fillRect/>
          </a:stretch>
        </p:blipFill>
        <p:spPr>
          <a:xfrm>
            <a:off x="3646170" y="1314450"/>
            <a:ext cx="251460" cy="251460"/>
          </a:xfrm>
          <a:prstGeom prst="rect">
            <a:avLst/>
          </a:prstGeom>
        </p:spPr>
      </p:pic>
      <p:sp>
        <p:nvSpPr>
          <p:cNvPr id="21" name="Text 16"/>
          <p:cNvSpPr txBox="1"/>
          <p:nvPr/>
        </p:nvSpPr>
        <p:spPr>
          <a:xfrm>
            <a:off x="4114800" y="1143000"/>
            <a:ext cx="1554480" cy="594360"/>
          </a:xfrm>
          <a:prstGeom prst="rect">
            <a:avLst/>
          </a:prstGeom>
          <a:noFill/>
          <a:ln/>
        </p:spPr>
        <p:txBody>
          <a:bodyPr wrap="square" lIns="0" tIns="0" rIns="0" bIns="0" rtlCol="0" anchor="ctr"/>
          <a:lstStyle/>
          <a:p>
            <a:pPr indent="0" marL="0">
              <a:buNone/>
            </a:pPr>
            <a:r>
              <a:rPr lang="en-US" sz="1300" b="1" dirty="0">
                <a:solidFill>
                  <a:schemeClr val="bg1"/>
                </a:solidFill>
              </a:rPr>
              <a:t>Conoscenza interrogabile</a:t>
            </a:r>
            <a:endParaRPr lang="en-US" sz="1300" dirty="0"/>
          </a:p>
        </p:txBody>
      </p:sp>
      <p:sp>
        <p:nvSpPr>
          <p:cNvPr id="22" name="Text 17"/>
          <p:cNvSpPr txBox="1"/>
          <p:nvPr/>
        </p:nvSpPr>
        <p:spPr>
          <a:xfrm>
            <a:off x="3520440" y="1783080"/>
            <a:ext cx="2103120" cy="548640"/>
          </a:xfrm>
          <a:prstGeom prst="rect">
            <a:avLst/>
          </a:prstGeom>
          <a:noFill/>
          <a:ln/>
        </p:spPr>
        <p:txBody>
          <a:bodyPr wrap="square" lIns="0" tIns="0" rIns="0" bIns="0" rtlCol="0" anchor="t"/>
          <a:lstStyle/>
          <a:p>
            <a:pPr indent="0" marL="0">
              <a:buNone/>
            </a:pPr>
            <a:r>
              <a:rPr lang="en-US" sz="1100" dirty="0">
                <a:solidFill>
                  <a:schemeClr val="bg1"/>
                </a:solidFill>
              </a:rPr>
              <a:t>Una domanda, una risposta collegata ai documenti</a:t>
            </a:r>
            <a:endParaRPr lang="en-US" sz="1100" dirty="0"/>
          </a:p>
        </p:txBody>
      </p:sp>
      <p:sp>
        <p:nvSpPr>
          <p:cNvPr id="23" name="l'AI aiuta a organizzare"/>
          <p:cNvSpPr/>
          <p:nvPr/>
        </p:nvSpPr>
        <p:spPr>
          <a:xfrm>
            <a:off x="5897880" y="1051560"/>
            <a:ext cx="2788920" cy="1325880"/>
          </a:xfrm>
          <a:prstGeom prst="roundRect">
            <a:avLst>
              <a:gd name="adj" fmla="val 5517"/>
            </a:avLst>
          </a:prstGeom>
          <a:solidFill>
            <a:schemeClr val="accent6"/>
          </a:solidFill>
          <a:ln/>
        </p:spPr>
      </p:sp>
      <p:sp>
        <p:nvSpPr>
          <p:cNvPr id="24" name="Text 19"/>
          <p:cNvSpPr txBox="1"/>
          <p:nvPr/>
        </p:nvSpPr>
        <p:spPr>
          <a:xfrm>
            <a:off x="6053328" y="1115568"/>
            <a:ext cx="2514600" cy="292608"/>
          </a:xfrm>
          <a:prstGeom prst="rect">
            <a:avLst/>
          </a:prstGeom>
          <a:noFill/>
          <a:ln/>
        </p:spPr>
        <p:txBody>
          <a:bodyPr wrap="square" lIns="0" tIns="0" rIns="0" bIns="0" rtlCol="0" anchor="t"/>
          <a:lstStyle/>
          <a:p>
            <a:pPr indent="0" marL="0">
              <a:buNone/>
            </a:pPr>
            <a:r>
              <a:rPr lang="en-US" sz="1300" b="1" dirty="0">
                <a:solidFill>
                  <a:schemeClr val="accent1"/>
                </a:solidFill>
              </a:rPr>
              <a:t>L'AI aiuta anche a organizzare</a:t>
            </a:r>
            <a:endParaRPr lang="en-US" sz="1300" dirty="0"/>
          </a:p>
        </p:txBody>
      </p:sp>
      <p:sp>
        <p:nvSpPr>
          <p:cNvPr id="25" name="Text 20"/>
          <p:cNvSpPr txBox="1"/>
          <p:nvPr/>
        </p:nvSpPr>
        <p:spPr>
          <a:xfrm>
            <a:off x="6053328" y="1426464"/>
            <a:ext cx="2514600" cy="868680"/>
          </a:xfrm>
          <a:prstGeom prst="rect">
            <a:avLst/>
          </a:prstGeom>
          <a:noFill/>
          <a:ln/>
        </p:spPr>
        <p:txBody>
          <a:bodyPr wrap="square" lIns="0" tIns="0" rIns="0" bIns="0" rtlCol="0" anchor="t"/>
          <a:lstStyle/>
          <a:p>
            <a:pPr indent="0" marL="0">
              <a:buNone/>
            </a:pPr>
            <a:r>
              <a:rPr lang="en-US" sz="1100" dirty="0">
                <a:solidFill>
                  <a:schemeClr val="tx1"/>
                </a:solidFill>
              </a:rPr>
              <a:t>Classificare, proporre titoli e metadati, segnalare duplicati e versioni in conflitto</a:t>
            </a:r>
            <a:endParaRPr lang="en-US" sz="1100" dirty="0"/>
          </a:p>
        </p:txBody>
      </p:sp>
      <p:sp>
        <p:nvSpPr>
          <p:cNvPr id="26" name="Documenti"/>
          <p:cNvSpPr/>
          <p:nvPr/>
        </p:nvSpPr>
        <p:spPr>
          <a:xfrm>
            <a:off x="457200" y="2560320"/>
            <a:ext cx="2615184" cy="1234440"/>
          </a:xfrm>
          <a:prstGeom prst="roundRect">
            <a:avLst>
              <a:gd name="adj" fmla="val 5926"/>
            </a:avLst>
          </a:prstGeom>
          <a:solidFill>
            <a:schemeClr val="bg2"/>
          </a:solidFill>
          <a:ln/>
        </p:spPr>
      </p:sp>
      <p:sp>
        <p:nvSpPr>
          <p:cNvPr id="27" name="Text 22"/>
          <p:cNvSpPr txBox="1"/>
          <p:nvPr/>
        </p:nvSpPr>
        <p:spPr>
          <a:xfrm>
            <a:off x="621792" y="2633472"/>
            <a:ext cx="2286000" cy="310896"/>
          </a:xfrm>
          <a:prstGeom prst="rect">
            <a:avLst/>
          </a:prstGeom>
          <a:noFill/>
          <a:ln/>
        </p:spPr>
        <p:txBody>
          <a:bodyPr wrap="square" lIns="0" tIns="0" rIns="0" bIns="0" rtlCol="0" anchor="t"/>
          <a:lstStyle/>
          <a:p>
            <a:pPr indent="0" marL="0">
              <a:buNone/>
            </a:pPr>
            <a:r>
              <a:rPr lang="en-US" sz="1400" b="1" dirty="0">
                <a:solidFill>
                  <a:schemeClr val="accent1"/>
                </a:solidFill>
              </a:rPr>
              <a:t>Documenti</a:t>
            </a:r>
            <a:endParaRPr lang="en-US" sz="1400" dirty="0"/>
          </a:p>
        </p:txBody>
      </p:sp>
      <p:sp>
        <p:nvSpPr>
          <p:cNvPr id="28" name="Text 23"/>
          <p:cNvSpPr txBox="1"/>
          <p:nvPr/>
        </p:nvSpPr>
        <p:spPr>
          <a:xfrm>
            <a:off x="621792" y="2971800"/>
            <a:ext cx="2331720" cy="777240"/>
          </a:xfrm>
          <a:prstGeom prst="rect">
            <a:avLst/>
          </a:prstGeom>
          <a:noFill/>
          <a:ln/>
        </p:spPr>
        <p:txBody>
          <a:bodyPr wrap="square" lIns="0" tIns="0" rIns="0" bIns="0" rtlCol="0" anchor="t"/>
          <a:lstStyle/>
          <a:p>
            <a:pPr indent="0" marL="0">
              <a:buNone/>
            </a:pPr>
            <a:r>
              <a:rPr lang="en-US" sz="1200" dirty="0">
                <a:solidFill>
                  <a:schemeClr val="tx1"/>
                </a:solidFill>
              </a:rPr>
              <a:t>Corretti, coerenti, con struttura chiara e informazioni esplicite</a:t>
            </a:r>
            <a:endParaRPr lang="en-US" sz="1200" dirty="0"/>
          </a:p>
        </p:txBody>
      </p:sp>
      <p:sp>
        <p:nvSpPr>
          <p:cNvPr id="29" name="Raccolta"/>
          <p:cNvSpPr/>
          <p:nvPr/>
        </p:nvSpPr>
        <p:spPr>
          <a:xfrm>
            <a:off x="3264408" y="2560320"/>
            <a:ext cx="2615184" cy="1234440"/>
          </a:xfrm>
          <a:prstGeom prst="roundRect">
            <a:avLst>
              <a:gd name="adj" fmla="val 5926"/>
            </a:avLst>
          </a:prstGeom>
          <a:solidFill>
            <a:schemeClr val="accent6"/>
          </a:solidFill>
          <a:ln/>
        </p:spPr>
      </p:sp>
      <p:sp>
        <p:nvSpPr>
          <p:cNvPr id="30" name="Text 25"/>
          <p:cNvSpPr txBox="1"/>
          <p:nvPr/>
        </p:nvSpPr>
        <p:spPr>
          <a:xfrm>
            <a:off x="3429000" y="2633472"/>
            <a:ext cx="2286000" cy="310896"/>
          </a:xfrm>
          <a:prstGeom prst="rect">
            <a:avLst/>
          </a:prstGeom>
          <a:noFill/>
          <a:ln/>
        </p:spPr>
        <p:txBody>
          <a:bodyPr wrap="square" lIns="0" tIns="0" rIns="0" bIns="0" rtlCol="0" anchor="t"/>
          <a:lstStyle/>
          <a:p>
            <a:pPr indent="0" marL="0">
              <a:buNone/>
            </a:pPr>
            <a:r>
              <a:rPr lang="en-US" sz="1400" b="1" dirty="0">
                <a:solidFill>
                  <a:schemeClr val="accent1"/>
                </a:solidFill>
              </a:rPr>
              <a:t>Raccolta</a:t>
            </a:r>
            <a:endParaRPr lang="en-US" sz="1400" dirty="0"/>
          </a:p>
        </p:txBody>
      </p:sp>
      <p:sp>
        <p:nvSpPr>
          <p:cNvPr id="31" name="Text 26"/>
          <p:cNvSpPr txBox="1"/>
          <p:nvPr/>
        </p:nvSpPr>
        <p:spPr>
          <a:xfrm>
            <a:off x="3429000" y="2971800"/>
            <a:ext cx="2331720" cy="777240"/>
          </a:xfrm>
          <a:prstGeom prst="rect">
            <a:avLst/>
          </a:prstGeom>
          <a:noFill/>
          <a:ln/>
        </p:spPr>
        <p:txBody>
          <a:bodyPr wrap="square" lIns="0" tIns="0" rIns="0" bIns="0" rtlCol="0" anchor="t"/>
          <a:lstStyle/>
          <a:p>
            <a:pPr indent="0" marL="0">
              <a:buNone/>
            </a:pPr>
            <a:r>
              <a:rPr lang="en-US" sz="1200" dirty="0">
                <a:solidFill>
                  <a:schemeClr val="tx1"/>
                </a:solidFill>
              </a:rPr>
              <a:t>Perimetro chiaro, versioni gestite, permessi coerenti</a:t>
            </a:r>
            <a:endParaRPr lang="en-US" sz="1200" dirty="0"/>
          </a:p>
        </p:txBody>
      </p:sp>
      <p:sp>
        <p:nvSpPr>
          <p:cNvPr id="32" name="Uso"/>
          <p:cNvSpPr/>
          <p:nvPr/>
        </p:nvSpPr>
        <p:spPr>
          <a:xfrm>
            <a:off x="6071616" y="2560320"/>
            <a:ext cx="2615184" cy="1234440"/>
          </a:xfrm>
          <a:prstGeom prst="roundRect">
            <a:avLst>
              <a:gd name="adj" fmla="val 5926"/>
            </a:avLst>
          </a:prstGeom>
          <a:solidFill>
            <a:schemeClr val="bg2"/>
          </a:solidFill>
          <a:ln/>
        </p:spPr>
      </p:sp>
      <p:sp>
        <p:nvSpPr>
          <p:cNvPr id="33" name="Text 28"/>
          <p:cNvSpPr txBox="1"/>
          <p:nvPr/>
        </p:nvSpPr>
        <p:spPr>
          <a:xfrm>
            <a:off x="6236208" y="2633472"/>
            <a:ext cx="2286000" cy="310896"/>
          </a:xfrm>
          <a:prstGeom prst="rect">
            <a:avLst/>
          </a:prstGeom>
          <a:noFill/>
          <a:ln/>
        </p:spPr>
        <p:txBody>
          <a:bodyPr wrap="square" lIns="0" tIns="0" rIns="0" bIns="0" rtlCol="0" anchor="t"/>
          <a:lstStyle/>
          <a:p>
            <a:pPr indent="0" marL="0">
              <a:buNone/>
            </a:pPr>
            <a:r>
              <a:rPr lang="en-US" sz="1400" b="1" dirty="0">
                <a:solidFill>
                  <a:schemeClr val="accent1"/>
                </a:solidFill>
              </a:rPr>
              <a:t>Uso</a:t>
            </a:r>
            <a:endParaRPr lang="en-US" sz="1400" dirty="0"/>
          </a:p>
        </p:txBody>
      </p:sp>
      <p:sp>
        <p:nvSpPr>
          <p:cNvPr id="34" name="Text 29"/>
          <p:cNvSpPr txBox="1"/>
          <p:nvPr/>
        </p:nvSpPr>
        <p:spPr>
          <a:xfrm>
            <a:off x="6236208" y="2971800"/>
            <a:ext cx="2331720" cy="777240"/>
          </a:xfrm>
          <a:prstGeom prst="rect">
            <a:avLst/>
          </a:prstGeom>
          <a:noFill/>
          <a:ln/>
        </p:spPr>
        <p:txBody>
          <a:bodyPr wrap="square" lIns="0" tIns="0" rIns="0" bIns="0" rtlCol="0" anchor="t"/>
          <a:lstStyle/>
          <a:p>
            <a:pPr indent="0" marL="0">
              <a:buNone/>
            </a:pPr>
            <a:r>
              <a:rPr lang="en-US" sz="1200" dirty="0">
                <a:solidFill>
                  <a:schemeClr val="tx1"/>
                </a:solidFill>
              </a:rPr>
              <a:t>Lessico dei documenti, controllo dei riferimenti</a:t>
            </a:r>
            <a:endParaRPr lang="en-US" sz="1200" dirty="0"/>
          </a:p>
        </p:txBody>
      </p:sp>
      <p:sp>
        <p:nvSpPr>
          <p:cNvPr id="35" name="messaggio"/>
          <p:cNvSpPr/>
          <p:nvPr/>
        </p:nvSpPr>
        <p:spPr>
          <a:xfrm>
            <a:off x="457200" y="3950208"/>
            <a:ext cx="8229600" cy="603504"/>
          </a:xfrm>
          <a:prstGeom prst="roundRect">
            <a:avLst>
              <a:gd name="adj" fmla="val 12121"/>
            </a:avLst>
          </a:prstGeom>
          <a:solidFill>
            <a:schemeClr val="tx1"/>
          </a:solidFill>
          <a:ln/>
        </p:spPr>
      </p:sp>
      <p:sp>
        <p:nvSpPr>
          <p:cNvPr id="36" name="Text 31"/>
          <p:cNvSpPr txBox="1"/>
          <p:nvPr/>
        </p:nvSpPr>
        <p:spPr>
          <a:xfrm>
            <a:off x="640080" y="3950208"/>
            <a:ext cx="7863840" cy="603504"/>
          </a:xfrm>
          <a:prstGeom prst="rect">
            <a:avLst/>
          </a:prstGeom>
          <a:noFill/>
          <a:ln/>
        </p:spPr>
        <p:txBody>
          <a:bodyPr wrap="square" lIns="0" tIns="0" rIns="0" bIns="0" rtlCol="0" anchor="ctr"/>
          <a:lstStyle/>
          <a:p>
            <a:pPr indent="0" marL="0">
              <a:buNone/>
            </a:pPr>
            <a:r>
              <a:rPr lang="en-US" sz="1300" dirty="0">
                <a:solidFill>
                  <a:schemeClr val="bg1"/>
                </a:solidFill>
              </a:rPr>
              <a:t>Anche un archivio imperfetto diventa più accessibile; la qualità delle risposte cresce con qualità e aggiornamento dei documenti.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Aggiornamento e versionamento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bg1"/>
                </a:solidFill>
              </a:rPr>
              <a:t>Recuperare</a:t>
            </a:r>
            <a:endParaRPr lang="en-US" sz="800" dirty="0"/>
          </a:p>
        </p:txBody>
      </p:sp>
      <p:sp>
        <p:nvSpPr>
          <p:cNvPr id="12" name="documento Procedura rimborsi v. 2.0"/>
          <p:cNvSpPr/>
          <p:nvPr/>
        </p:nvSpPr>
        <p:spPr>
          <a:xfrm>
            <a:off x="457200" y="1051560"/>
            <a:ext cx="2560320" cy="1188720"/>
          </a:xfrm>
          <a:prstGeom prst="roundRect">
            <a:avLst>
              <a:gd name="adj" fmla="val 6154"/>
            </a:avLst>
          </a:prstGeom>
          <a:solidFill>
            <a:schemeClr val="bg2"/>
          </a:solidFill>
          <a:ln/>
        </p:spPr>
      </p:sp>
      <p:sp>
        <p:nvSpPr>
          <p:cNvPr id="13" name="barra"/>
          <p:cNvSpPr/>
          <p:nvPr/>
        </p:nvSpPr>
        <p:spPr>
          <a:xfrm>
            <a:off x="457200" y="1161288"/>
            <a:ext cx="54864" cy="969264"/>
          </a:xfrm>
          <a:prstGeom prst="rect">
            <a:avLst/>
          </a:prstGeom>
          <a:solidFill>
            <a:schemeClr val="accent2"/>
          </a:solidFill>
          <a:ln/>
        </p:spPr>
      </p:sp>
      <p:sp>
        <p:nvSpPr>
          <p:cNvPr id="14" name="Text 11"/>
          <p:cNvSpPr txBox="1"/>
          <p:nvPr/>
        </p:nvSpPr>
        <p:spPr>
          <a:xfrm>
            <a:off x="658368" y="1143000"/>
            <a:ext cx="2194560" cy="256032"/>
          </a:xfrm>
          <a:prstGeom prst="rect">
            <a:avLst/>
          </a:prstGeom>
          <a:noFill/>
          <a:ln/>
        </p:spPr>
        <p:txBody>
          <a:bodyPr wrap="square" lIns="0" tIns="0" rIns="0" bIns="0" rtlCol="0" anchor="t"/>
          <a:lstStyle/>
          <a:p>
            <a:pPr indent="0" marL="0">
              <a:buNone/>
            </a:pPr>
            <a:r>
              <a:rPr lang="en-US" sz="1100" b="1" dirty="0">
                <a:solidFill>
                  <a:schemeClr val="accent2"/>
                </a:solidFill>
              </a:rPr>
              <a:t>Procedura rimborsi v. 2.0</a:t>
            </a:r>
            <a:endParaRPr lang="en-US" sz="1100" dirty="0"/>
          </a:p>
        </p:txBody>
      </p:sp>
      <p:sp>
        <p:nvSpPr>
          <p:cNvPr id="15" name="Text 12"/>
          <p:cNvSpPr txBox="1"/>
          <p:nvPr/>
        </p:nvSpPr>
        <p:spPr>
          <a:xfrm>
            <a:off x="658368" y="1435608"/>
            <a:ext cx="2194560" cy="713232"/>
          </a:xfrm>
          <a:prstGeom prst="rect">
            <a:avLst/>
          </a:prstGeom>
          <a:noFill/>
          <a:ln/>
        </p:spPr>
        <p:txBody>
          <a:bodyPr wrap="square" lIns="0" tIns="0" rIns="0" bIns="0" rtlCol="0" anchor="t"/>
          <a:lstStyle/>
          <a:p>
            <a:pPr indent="0" marL="0">
              <a:buNone/>
            </a:pPr>
            <a:r>
              <a:rPr lang="en-US" sz="1200" dirty="0">
                <a:solidFill>
                  <a:schemeClr val="tx1"/>
                </a:solidFill>
              </a:rPr>
              <a:t>Presentazione entro 60 giorni</a:t>
            </a:r>
            <a:endParaRPr lang="en-US" sz="1200" dirty="0"/>
          </a:p>
        </p:txBody>
      </p:sp>
      <p:sp>
        <p:nvSpPr>
          <p:cNvPr id="16" name="documento Procedura rimborsi v. 3.2"/>
          <p:cNvSpPr/>
          <p:nvPr/>
        </p:nvSpPr>
        <p:spPr>
          <a:xfrm>
            <a:off x="457200" y="2377440"/>
            <a:ext cx="2560320" cy="1188720"/>
          </a:xfrm>
          <a:prstGeom prst="roundRect">
            <a:avLst>
              <a:gd name="adj" fmla="val 6154"/>
            </a:avLst>
          </a:prstGeom>
          <a:solidFill>
            <a:schemeClr val="accent6"/>
          </a:solidFill>
          <a:ln/>
        </p:spPr>
      </p:sp>
      <p:sp>
        <p:nvSpPr>
          <p:cNvPr id="17" name="barra"/>
          <p:cNvSpPr/>
          <p:nvPr/>
        </p:nvSpPr>
        <p:spPr>
          <a:xfrm>
            <a:off x="457200" y="2487168"/>
            <a:ext cx="54864" cy="969264"/>
          </a:xfrm>
          <a:prstGeom prst="rect">
            <a:avLst/>
          </a:prstGeom>
          <a:solidFill>
            <a:schemeClr val="accent1"/>
          </a:solidFill>
          <a:ln/>
        </p:spPr>
      </p:sp>
      <p:sp>
        <p:nvSpPr>
          <p:cNvPr id="18" name="Text 15"/>
          <p:cNvSpPr txBox="1"/>
          <p:nvPr/>
        </p:nvSpPr>
        <p:spPr>
          <a:xfrm>
            <a:off x="658368" y="2468880"/>
            <a:ext cx="2194560" cy="256032"/>
          </a:xfrm>
          <a:prstGeom prst="rect">
            <a:avLst/>
          </a:prstGeom>
          <a:noFill/>
          <a:ln/>
        </p:spPr>
        <p:txBody>
          <a:bodyPr wrap="square" lIns="0" tIns="0" rIns="0" bIns="0" rtlCol="0" anchor="t"/>
          <a:lstStyle/>
          <a:p>
            <a:pPr indent="0" marL="0">
              <a:buNone/>
            </a:pPr>
            <a:r>
              <a:rPr lang="en-US" sz="1100" b="1" dirty="0">
                <a:solidFill>
                  <a:schemeClr val="accent1"/>
                </a:solidFill>
              </a:rPr>
              <a:t>Procedura rimborsi v. 3.2</a:t>
            </a:r>
            <a:endParaRPr lang="en-US" sz="1100" dirty="0"/>
          </a:p>
        </p:txBody>
      </p:sp>
      <p:sp>
        <p:nvSpPr>
          <p:cNvPr id="19" name="Text 16"/>
          <p:cNvSpPr txBox="1"/>
          <p:nvPr/>
        </p:nvSpPr>
        <p:spPr>
          <a:xfrm>
            <a:off x="658368" y="2761488"/>
            <a:ext cx="2194560" cy="713232"/>
          </a:xfrm>
          <a:prstGeom prst="rect">
            <a:avLst/>
          </a:prstGeom>
          <a:noFill/>
          <a:ln/>
        </p:spPr>
        <p:txBody>
          <a:bodyPr wrap="square" lIns="0" tIns="0" rIns="0" bIns="0" rtlCol="0" anchor="t"/>
          <a:lstStyle/>
          <a:p>
            <a:pPr indent="0" marL="0">
              <a:buNone/>
            </a:pPr>
            <a:r>
              <a:rPr lang="en-US" sz="1200" dirty="0">
                <a:solidFill>
                  <a:schemeClr val="tx1"/>
                </a:solidFill>
              </a:rPr>
              <a:t>Presentazione entro 30 giorni</a:t>
            </a:r>
            <a:endParaRPr lang="en-US" sz="1200" dirty="0"/>
          </a:p>
        </p:txBody>
      </p:sp>
      <p:sp>
        <p:nvSpPr>
          <p:cNvPr id="20" name="blocco Superata"/>
          <p:cNvSpPr/>
          <p:nvPr/>
        </p:nvSpPr>
        <p:spPr>
          <a:xfrm>
            <a:off x="3154680" y="1417320"/>
            <a:ext cx="1371600" cy="457200"/>
          </a:xfrm>
          <a:prstGeom prst="roundRect">
            <a:avLst>
              <a:gd name="adj" fmla="val 24000"/>
            </a:avLst>
          </a:prstGeom>
          <a:solidFill>
            <a:schemeClr val="accent5"/>
          </a:solidFill>
          <a:ln/>
        </p:spPr>
      </p:sp>
      <p:sp>
        <p:nvSpPr>
          <p:cNvPr id="21" name="Text 18"/>
          <p:cNvSpPr txBox="1"/>
          <p:nvPr/>
        </p:nvSpPr>
        <p:spPr>
          <a:xfrm>
            <a:off x="3200400" y="1417320"/>
            <a:ext cx="1280160" cy="457200"/>
          </a:xfrm>
          <a:prstGeom prst="rect">
            <a:avLst/>
          </a:prstGeom>
          <a:noFill/>
          <a:ln/>
        </p:spPr>
        <p:txBody>
          <a:bodyPr wrap="square" lIns="0" tIns="0" rIns="0" bIns="0" rtlCol="0" anchor="ctr"/>
          <a:lstStyle/>
          <a:p>
            <a:pPr algn="ctr" indent="0" marL="0">
              <a:buNone/>
            </a:pPr>
            <a:r>
              <a:rPr lang="en-US" sz="1200" b="1" dirty="0">
                <a:solidFill>
                  <a:schemeClr val="bg1"/>
                </a:solidFill>
              </a:rPr>
              <a:t>Superata</a:t>
            </a:r>
            <a:endParaRPr lang="en-US" sz="1200" dirty="0"/>
          </a:p>
        </p:txBody>
      </p:sp>
      <p:sp>
        <p:nvSpPr>
          <p:cNvPr id="22" name="blocco Valida"/>
          <p:cNvSpPr/>
          <p:nvPr/>
        </p:nvSpPr>
        <p:spPr>
          <a:xfrm>
            <a:off x="3154680" y="2743200"/>
            <a:ext cx="1371600" cy="457200"/>
          </a:xfrm>
          <a:prstGeom prst="roundRect">
            <a:avLst>
              <a:gd name="adj" fmla="val 24000"/>
            </a:avLst>
          </a:prstGeom>
          <a:solidFill>
            <a:schemeClr val="accent1"/>
          </a:solidFill>
          <a:ln/>
        </p:spPr>
      </p:sp>
      <p:sp>
        <p:nvSpPr>
          <p:cNvPr id="23" name="Text 20"/>
          <p:cNvSpPr txBox="1"/>
          <p:nvPr/>
        </p:nvSpPr>
        <p:spPr>
          <a:xfrm>
            <a:off x="3200400" y="2743200"/>
            <a:ext cx="1280160" cy="457200"/>
          </a:xfrm>
          <a:prstGeom prst="rect">
            <a:avLst/>
          </a:prstGeom>
          <a:noFill/>
          <a:ln/>
        </p:spPr>
        <p:txBody>
          <a:bodyPr wrap="square" lIns="0" tIns="0" rIns="0" bIns="0" rtlCol="0" anchor="ctr"/>
          <a:lstStyle/>
          <a:p>
            <a:pPr algn="ctr" indent="0" marL="0">
              <a:buNone/>
            </a:pPr>
            <a:r>
              <a:rPr lang="en-US" sz="1200" b="1" dirty="0">
                <a:solidFill>
                  <a:schemeClr val="bg1"/>
                </a:solidFill>
              </a:rPr>
              <a:t>Valida</a:t>
            </a:r>
            <a:endParaRPr lang="en-US" sz="1200" dirty="0"/>
          </a:p>
        </p:txBody>
      </p:sp>
      <p:sp>
        <p:nvSpPr>
          <p:cNvPr id="24" name="scheda Se convivono senza indicazioni"/>
          <p:cNvSpPr/>
          <p:nvPr/>
        </p:nvSpPr>
        <p:spPr>
          <a:xfrm>
            <a:off x="4754880" y="1051560"/>
            <a:ext cx="3931920" cy="2514600"/>
          </a:xfrm>
          <a:prstGeom prst="roundRect">
            <a:avLst>
              <a:gd name="adj" fmla="val 2909"/>
            </a:avLst>
          </a:prstGeom>
          <a:solidFill>
            <a:schemeClr val="bg2"/>
          </a:solidFill>
          <a:ln/>
        </p:spPr>
      </p:sp>
      <p:sp>
        <p:nvSpPr>
          <p:cNvPr id="25" name="cerchio FiAlertTriangle"/>
          <p:cNvSpPr/>
          <p:nvPr/>
        </p:nvSpPr>
        <p:spPr>
          <a:xfrm>
            <a:off x="4937760" y="1234440"/>
            <a:ext cx="457200" cy="457200"/>
          </a:xfrm>
          <a:prstGeom prst="ellipse">
            <a:avLst/>
          </a:prstGeom>
          <a:solidFill>
            <a:schemeClr val="accent5"/>
          </a:solidFill>
          <a:ln/>
        </p:spPr>
      </p:sp>
      <p:pic>
        <p:nvPicPr>
          <p:cNvPr id="26" name="Image 0" descr="FiAlertTriangle">    </p:cNvPr>
          <p:cNvPicPr>
            <a:picLocks noChangeAspect="1"/>
          </p:cNvPicPr>
          <p:nvPr/>
        </p:nvPicPr>
        <p:blipFill>
          <a:blip r:embed="rId1"/>
          <a:stretch>
            <a:fillRect/>
          </a:stretch>
        </p:blipFill>
        <p:spPr>
          <a:xfrm>
            <a:off x="5052060" y="1348740"/>
            <a:ext cx="228600" cy="228600"/>
          </a:xfrm>
          <a:prstGeom prst="rect">
            <a:avLst/>
          </a:prstGeom>
        </p:spPr>
      </p:pic>
      <p:sp>
        <p:nvSpPr>
          <p:cNvPr id="27" name="Text 23"/>
          <p:cNvSpPr txBox="1"/>
          <p:nvPr/>
        </p:nvSpPr>
        <p:spPr>
          <a:xfrm>
            <a:off x="5532120" y="1234440"/>
            <a:ext cx="2971800" cy="457200"/>
          </a:xfrm>
          <a:prstGeom prst="rect">
            <a:avLst/>
          </a:prstGeom>
          <a:noFill/>
          <a:ln/>
        </p:spPr>
        <p:txBody>
          <a:bodyPr wrap="square" lIns="0" tIns="0" rIns="0" bIns="0" rtlCol="0" anchor="ctr"/>
          <a:lstStyle/>
          <a:p>
            <a:pPr indent="0" marL="0">
              <a:buNone/>
            </a:pPr>
            <a:r>
              <a:rPr lang="en-US" sz="1400" b="1" dirty="0">
                <a:solidFill>
                  <a:schemeClr val="tx1"/>
                </a:solidFill>
              </a:rPr>
              <a:t>Se convivono senza indicazioni</a:t>
            </a:r>
            <a:endParaRPr lang="en-US" sz="1400" dirty="0"/>
          </a:p>
        </p:txBody>
      </p:sp>
      <p:sp>
        <p:nvSpPr>
          <p:cNvPr id="28" name="Text 24"/>
          <p:cNvSpPr txBox="1"/>
          <p:nvPr/>
        </p:nvSpPr>
        <p:spPr>
          <a:xfrm>
            <a:off x="4937760" y="1828800"/>
            <a:ext cx="3566160" cy="1627632"/>
          </a:xfrm>
          <a:prstGeom prst="rect">
            <a:avLst/>
          </a:prstGeom>
          <a:noFill/>
          <a:ln/>
        </p:spPr>
        <p:txBody>
          <a:bodyPr wrap="square" lIns="0" tIns="0" rIns="0" bIns="0" rtlCol="0" anchor="t"/>
          <a:lstStyle/>
          <a:p>
            <a:pPr indent="0" marL="0">
              <a:buNone/>
            </a:pPr>
            <a:r>
              <a:rPr lang="en-US" sz="1200" dirty="0">
                <a:solidFill>
                  <a:schemeClr val="tx2"/>
                </a:solidFill>
              </a:rPr>
              <a:t>Il recupero può trovare la versione vecchia, e la risposta arriva con la stessa sicurezza: un'informazione superata con l'aspetto di un'informazione aggiornata.</a:t>
            </a:r>
            <a:endParaRPr lang="en-US" sz="1200" dirty="0"/>
          </a:p>
        </p:txBody>
      </p:sp>
      <p:sp>
        <p:nvSpPr>
          <p:cNvPr id="29" name="blocco Versione valida chiara"/>
          <p:cNvSpPr/>
          <p:nvPr/>
        </p:nvSpPr>
        <p:spPr>
          <a:xfrm>
            <a:off x="457200" y="3749040"/>
            <a:ext cx="1965960" cy="502920"/>
          </a:xfrm>
          <a:prstGeom prst="roundRect">
            <a:avLst>
              <a:gd name="adj" fmla="val 21818"/>
            </a:avLst>
          </a:prstGeom>
          <a:solidFill>
            <a:schemeClr val="bg2"/>
          </a:solidFill>
          <a:ln/>
        </p:spPr>
      </p:sp>
      <p:sp>
        <p:nvSpPr>
          <p:cNvPr id="30" name="Text 26"/>
          <p:cNvSpPr txBox="1"/>
          <p:nvPr/>
        </p:nvSpPr>
        <p:spPr>
          <a:xfrm>
            <a:off x="502920" y="3749040"/>
            <a:ext cx="1874520" cy="502920"/>
          </a:xfrm>
          <a:prstGeom prst="rect">
            <a:avLst/>
          </a:prstGeom>
          <a:noFill/>
          <a:ln/>
        </p:spPr>
        <p:txBody>
          <a:bodyPr wrap="square" lIns="0" tIns="0" rIns="0" bIns="0" rtlCol="0" anchor="ctr"/>
          <a:lstStyle/>
          <a:p>
            <a:pPr algn="ctr" indent="0" marL="0">
              <a:buNone/>
            </a:pPr>
            <a:r>
              <a:rPr lang="en-US" sz="1100" b="1" dirty="0">
                <a:solidFill>
                  <a:schemeClr val="tx1"/>
                </a:solidFill>
              </a:rPr>
              <a:t>Versione valida chiara</a:t>
            </a:r>
            <a:endParaRPr lang="en-US" sz="1100" dirty="0"/>
          </a:p>
        </p:txBody>
      </p:sp>
      <p:sp>
        <p:nvSpPr>
          <p:cNvPr id="31" name="blocco Date e versioni visibili"/>
          <p:cNvSpPr/>
          <p:nvPr/>
        </p:nvSpPr>
        <p:spPr>
          <a:xfrm>
            <a:off x="2560320" y="3749040"/>
            <a:ext cx="1965960" cy="502920"/>
          </a:xfrm>
          <a:prstGeom prst="roundRect">
            <a:avLst>
              <a:gd name="adj" fmla="val 21818"/>
            </a:avLst>
          </a:prstGeom>
          <a:solidFill>
            <a:schemeClr val="bg2"/>
          </a:solidFill>
          <a:ln/>
        </p:spPr>
      </p:sp>
      <p:sp>
        <p:nvSpPr>
          <p:cNvPr id="32" name="Text 28"/>
          <p:cNvSpPr txBox="1"/>
          <p:nvPr/>
        </p:nvSpPr>
        <p:spPr>
          <a:xfrm>
            <a:off x="2606040" y="3749040"/>
            <a:ext cx="1874520" cy="502920"/>
          </a:xfrm>
          <a:prstGeom prst="rect">
            <a:avLst/>
          </a:prstGeom>
          <a:noFill/>
          <a:ln/>
        </p:spPr>
        <p:txBody>
          <a:bodyPr wrap="square" lIns="0" tIns="0" rIns="0" bIns="0" rtlCol="0" anchor="ctr"/>
          <a:lstStyle/>
          <a:p>
            <a:pPr algn="ctr" indent="0" marL="0">
              <a:buNone/>
            </a:pPr>
            <a:r>
              <a:rPr lang="en-US" sz="1100" b="1" dirty="0">
                <a:solidFill>
                  <a:schemeClr val="tx1"/>
                </a:solidFill>
              </a:rPr>
              <a:t>Date e versioni visibili</a:t>
            </a:r>
            <a:endParaRPr lang="en-US" sz="1100" dirty="0"/>
          </a:p>
        </p:txBody>
      </p:sp>
      <p:sp>
        <p:nvSpPr>
          <p:cNvPr id="33" name="blocco Responsabili dell'aggiornamento"/>
          <p:cNvSpPr/>
          <p:nvPr/>
        </p:nvSpPr>
        <p:spPr>
          <a:xfrm>
            <a:off x="4663440" y="3749040"/>
            <a:ext cx="1965960" cy="502920"/>
          </a:xfrm>
          <a:prstGeom prst="roundRect">
            <a:avLst>
              <a:gd name="adj" fmla="val 21818"/>
            </a:avLst>
          </a:prstGeom>
          <a:solidFill>
            <a:schemeClr val="bg2"/>
          </a:solidFill>
          <a:ln/>
        </p:spPr>
      </p:sp>
      <p:sp>
        <p:nvSpPr>
          <p:cNvPr id="34" name="Text 30"/>
          <p:cNvSpPr txBox="1"/>
          <p:nvPr/>
        </p:nvSpPr>
        <p:spPr>
          <a:xfrm>
            <a:off x="4709160" y="3749040"/>
            <a:ext cx="1874520" cy="502920"/>
          </a:xfrm>
          <a:prstGeom prst="rect">
            <a:avLst/>
          </a:prstGeom>
          <a:noFill/>
          <a:ln/>
        </p:spPr>
        <p:txBody>
          <a:bodyPr wrap="square" lIns="0" tIns="0" rIns="0" bIns="0" rtlCol="0" anchor="ctr"/>
          <a:lstStyle/>
          <a:p>
            <a:pPr algn="ctr" indent="0" marL="0">
              <a:buNone/>
            </a:pPr>
            <a:r>
              <a:rPr lang="en-US" sz="1100" b="1" dirty="0">
                <a:solidFill>
                  <a:schemeClr val="tx1"/>
                </a:solidFill>
              </a:rPr>
              <a:t>Responsabili dell'aggiornamento</a:t>
            </a:r>
            <a:endParaRPr lang="en-US" sz="1100" dirty="0"/>
          </a:p>
        </p:txBody>
      </p:sp>
      <p:sp>
        <p:nvSpPr>
          <p:cNvPr id="35" name="blocco Riesami periodici"/>
          <p:cNvSpPr/>
          <p:nvPr/>
        </p:nvSpPr>
        <p:spPr>
          <a:xfrm>
            <a:off x="6766560" y="3749040"/>
            <a:ext cx="1965960" cy="502920"/>
          </a:xfrm>
          <a:prstGeom prst="roundRect">
            <a:avLst>
              <a:gd name="adj" fmla="val 21818"/>
            </a:avLst>
          </a:prstGeom>
          <a:solidFill>
            <a:schemeClr val="bg2"/>
          </a:solidFill>
          <a:ln/>
        </p:spPr>
      </p:sp>
      <p:sp>
        <p:nvSpPr>
          <p:cNvPr id="36" name="Text 32"/>
          <p:cNvSpPr txBox="1"/>
          <p:nvPr/>
        </p:nvSpPr>
        <p:spPr>
          <a:xfrm>
            <a:off x="6812280" y="3749040"/>
            <a:ext cx="1874520" cy="502920"/>
          </a:xfrm>
          <a:prstGeom prst="rect">
            <a:avLst/>
          </a:prstGeom>
          <a:noFill/>
          <a:ln/>
        </p:spPr>
        <p:txBody>
          <a:bodyPr wrap="square" lIns="0" tIns="0" rIns="0" bIns="0" rtlCol="0" anchor="ctr"/>
          <a:lstStyle/>
          <a:p>
            <a:pPr algn="ctr" indent="0" marL="0">
              <a:buNone/>
            </a:pPr>
            <a:r>
              <a:rPr lang="en-US" sz="1100" b="1" dirty="0">
                <a:solidFill>
                  <a:schemeClr val="tx1"/>
                </a:solidFill>
              </a:rPr>
              <a:t>Riesami periodici</a:t>
            </a:r>
            <a:endParaRPr lang="en-US" sz="1100" dirty="0"/>
          </a:p>
        </p:txBody>
      </p:sp>
      <p:sp>
        <p:nvSpPr>
          <p:cNvPr id="37" name="Text 33"/>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1200" i="1" dirty="0">
                <a:solidFill>
                  <a:schemeClr val="tx2"/>
                </a:solidFill>
              </a:rPr>
              <a:t>Per l'utente: controllare versione e data del documento citato.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può rendere più accessibili le informazioni documentali e aiutare a organizzarle; l'affidabilità delle risposte dipende da qualità, aggiornamento e tracciabilità dei documenti.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8.7  ·  AI e gestione della conoscenza</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8.8</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Limiti e condizioni di efficacia</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Le capacità di elaborazione variano per modello, strumento, formato e lunghezza: conoscerle permette di ottenere risultati più completi e di controllarli in modo proporzionato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 caricamento all'elaborazione</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Caricato"/>
          <p:cNvSpPr/>
          <p:nvPr/>
        </p:nvSpPr>
        <p:spPr>
          <a:xfrm>
            <a:off x="457200" y="1051560"/>
            <a:ext cx="1920240" cy="1188720"/>
          </a:xfrm>
          <a:prstGeom prst="roundRect">
            <a:avLst>
              <a:gd name="adj" fmla="val 6154"/>
            </a:avLst>
          </a:prstGeom>
          <a:solidFill>
            <a:schemeClr val="accent6"/>
          </a:solidFill>
          <a:ln/>
        </p:spPr>
      </p:sp>
      <p:sp>
        <p:nvSpPr>
          <p:cNvPr id="13" name="cerchio FiUpload"/>
          <p:cNvSpPr/>
          <p:nvPr/>
        </p:nvSpPr>
        <p:spPr>
          <a:xfrm>
            <a:off x="594360" y="1161288"/>
            <a:ext cx="457200" cy="457200"/>
          </a:xfrm>
          <a:prstGeom prst="ellipse">
            <a:avLst/>
          </a:prstGeom>
          <a:solidFill>
            <a:schemeClr val="accent1"/>
          </a:solidFill>
          <a:ln/>
        </p:spPr>
      </p:sp>
      <p:pic>
        <p:nvPicPr>
          <p:cNvPr id="14" name="Image 0" descr="FiUpload">    </p:cNvPr>
          <p:cNvPicPr>
            <a:picLocks noChangeAspect="1"/>
          </p:cNvPicPr>
          <p:nvPr/>
        </p:nvPicPr>
        <p:blipFill>
          <a:blip r:embed="rId1"/>
          <a:stretch>
            <a:fillRect/>
          </a:stretch>
        </p:blipFill>
        <p:spPr>
          <a:xfrm>
            <a:off x="708660" y="1275588"/>
            <a:ext cx="228600" cy="228600"/>
          </a:xfrm>
          <a:prstGeom prst="rect">
            <a:avLst/>
          </a:prstGeom>
        </p:spPr>
      </p:pic>
      <p:sp>
        <p:nvSpPr>
          <p:cNvPr id="15" name="Text 11"/>
          <p:cNvSpPr txBox="1"/>
          <p:nvPr/>
        </p:nvSpPr>
        <p:spPr>
          <a:xfrm>
            <a:off x="1115568" y="1161288"/>
            <a:ext cx="1216152" cy="457200"/>
          </a:xfrm>
          <a:prstGeom prst="rect">
            <a:avLst/>
          </a:prstGeom>
          <a:noFill/>
          <a:ln/>
        </p:spPr>
        <p:txBody>
          <a:bodyPr wrap="square" lIns="0" tIns="0" rIns="0" bIns="0" rtlCol="0" anchor="ctr"/>
          <a:lstStyle/>
          <a:p>
            <a:pPr indent="0" marL="0">
              <a:buNone/>
            </a:pPr>
            <a:r>
              <a:rPr lang="en-US" sz="1400" b="1" dirty="0">
                <a:solidFill>
                  <a:schemeClr val="tx1"/>
                </a:solidFill>
              </a:rPr>
              <a:t>Caricato</a:t>
            </a:r>
            <a:endParaRPr lang="en-US" sz="1400" dirty="0"/>
          </a:p>
        </p:txBody>
      </p:sp>
      <p:sp>
        <p:nvSpPr>
          <p:cNvPr id="16" name="Text 12"/>
          <p:cNvSpPr txBox="1"/>
          <p:nvPr/>
        </p:nvSpPr>
        <p:spPr>
          <a:xfrm>
            <a:off x="594360" y="1691640"/>
            <a:ext cx="1691640" cy="502920"/>
          </a:xfrm>
          <a:prstGeom prst="rect">
            <a:avLst/>
          </a:prstGeom>
          <a:noFill/>
          <a:ln/>
        </p:spPr>
        <p:txBody>
          <a:bodyPr wrap="square" lIns="0" tIns="0" rIns="0" bIns="0" rtlCol="0" anchor="t"/>
          <a:lstStyle/>
          <a:p>
            <a:pPr indent="0" marL="0">
              <a:buNone/>
            </a:pPr>
            <a:r>
              <a:rPr lang="en-US" sz="1100" dirty="0">
                <a:solidFill>
                  <a:schemeClr val="tx2"/>
                </a:solidFill>
              </a:rPr>
              <a:t>Il file è accettato</a:t>
            </a:r>
            <a:endParaRPr lang="en-US" sz="1100" dirty="0"/>
          </a:p>
        </p:txBody>
      </p:sp>
      <p:sp>
        <p:nvSpPr>
          <p:cNvPr id="17" name="freccia"/>
          <p:cNvSpPr/>
          <p:nvPr/>
        </p:nvSpPr>
        <p:spPr>
          <a:xfrm>
            <a:off x="2386584" y="1508760"/>
            <a:ext cx="155448" cy="292608"/>
          </a:xfrm>
          <a:prstGeom prst="rightArrow">
            <a:avLst/>
          </a:prstGeom>
          <a:solidFill>
            <a:schemeClr val="accent2"/>
          </a:solidFill>
          <a:ln/>
        </p:spPr>
      </p:sp>
      <p:sp>
        <p:nvSpPr>
          <p:cNvPr id="18" name="Convertito"/>
          <p:cNvSpPr/>
          <p:nvPr/>
        </p:nvSpPr>
        <p:spPr>
          <a:xfrm>
            <a:off x="2560320" y="1051560"/>
            <a:ext cx="1920240" cy="1188720"/>
          </a:xfrm>
          <a:prstGeom prst="roundRect">
            <a:avLst>
              <a:gd name="adj" fmla="val 6154"/>
            </a:avLst>
          </a:prstGeom>
          <a:solidFill>
            <a:schemeClr val="bg2"/>
          </a:solidFill>
          <a:ln/>
        </p:spPr>
      </p:sp>
      <p:sp>
        <p:nvSpPr>
          <p:cNvPr id="19" name="cerchio FiFileText"/>
          <p:cNvSpPr/>
          <p:nvPr/>
        </p:nvSpPr>
        <p:spPr>
          <a:xfrm>
            <a:off x="2697480" y="1161288"/>
            <a:ext cx="457200" cy="457200"/>
          </a:xfrm>
          <a:prstGeom prst="ellipse">
            <a:avLst/>
          </a:prstGeom>
          <a:solidFill>
            <a:schemeClr val="accent2"/>
          </a:solidFill>
          <a:ln/>
        </p:spPr>
      </p:sp>
      <p:pic>
        <p:nvPicPr>
          <p:cNvPr id="20" name="Image 1" descr="FiFileText">    </p:cNvPr>
          <p:cNvPicPr>
            <a:picLocks noChangeAspect="1"/>
          </p:cNvPicPr>
          <p:nvPr/>
        </p:nvPicPr>
        <p:blipFill>
          <a:blip r:embed="rId2"/>
          <a:stretch>
            <a:fillRect/>
          </a:stretch>
        </p:blipFill>
        <p:spPr>
          <a:xfrm>
            <a:off x="2811780" y="1275588"/>
            <a:ext cx="228600" cy="228600"/>
          </a:xfrm>
          <a:prstGeom prst="rect">
            <a:avLst/>
          </a:prstGeom>
        </p:spPr>
      </p:pic>
      <p:sp>
        <p:nvSpPr>
          <p:cNvPr id="21" name="Text 16"/>
          <p:cNvSpPr txBox="1"/>
          <p:nvPr/>
        </p:nvSpPr>
        <p:spPr>
          <a:xfrm>
            <a:off x="3218688" y="1161288"/>
            <a:ext cx="1216152" cy="457200"/>
          </a:xfrm>
          <a:prstGeom prst="rect">
            <a:avLst/>
          </a:prstGeom>
          <a:noFill/>
          <a:ln/>
        </p:spPr>
        <p:txBody>
          <a:bodyPr wrap="square" lIns="0" tIns="0" rIns="0" bIns="0" rtlCol="0" anchor="ctr"/>
          <a:lstStyle/>
          <a:p>
            <a:pPr indent="0" marL="0">
              <a:buNone/>
            </a:pPr>
            <a:r>
              <a:rPr lang="en-US" sz="1400" b="1" dirty="0">
                <a:solidFill>
                  <a:schemeClr val="tx1"/>
                </a:solidFill>
              </a:rPr>
              <a:t>Convertito</a:t>
            </a:r>
            <a:endParaRPr lang="en-US" sz="1400" dirty="0"/>
          </a:p>
        </p:txBody>
      </p:sp>
      <p:sp>
        <p:nvSpPr>
          <p:cNvPr id="22" name="Text 17"/>
          <p:cNvSpPr txBox="1"/>
          <p:nvPr/>
        </p:nvSpPr>
        <p:spPr>
          <a:xfrm>
            <a:off x="2697480" y="1691640"/>
            <a:ext cx="1691640" cy="502920"/>
          </a:xfrm>
          <a:prstGeom prst="rect">
            <a:avLst/>
          </a:prstGeom>
          <a:noFill/>
          <a:ln/>
        </p:spPr>
        <p:txBody>
          <a:bodyPr wrap="square" lIns="0" tIns="0" rIns="0" bIns="0" rtlCol="0" anchor="t"/>
          <a:lstStyle/>
          <a:p>
            <a:pPr indent="0" marL="0">
              <a:buNone/>
            </a:pPr>
            <a:r>
              <a:rPr lang="en-US" sz="1100" dirty="0">
                <a:solidFill>
                  <a:schemeClr val="tx2"/>
                </a:solidFill>
              </a:rPr>
              <a:t>Tabelle, immagini, scansioni lette?</a:t>
            </a:r>
            <a:endParaRPr lang="en-US" sz="1100" dirty="0"/>
          </a:p>
        </p:txBody>
      </p:sp>
      <p:sp>
        <p:nvSpPr>
          <p:cNvPr id="23" name="freccia"/>
          <p:cNvSpPr/>
          <p:nvPr/>
        </p:nvSpPr>
        <p:spPr>
          <a:xfrm>
            <a:off x="4489704" y="1508760"/>
            <a:ext cx="155448" cy="292608"/>
          </a:xfrm>
          <a:prstGeom prst="rightArrow">
            <a:avLst/>
          </a:prstGeom>
          <a:solidFill>
            <a:schemeClr val="accent2"/>
          </a:solidFill>
          <a:ln/>
        </p:spPr>
      </p:sp>
      <p:sp>
        <p:nvSpPr>
          <p:cNvPr id="24" name="Elaborato"/>
          <p:cNvSpPr/>
          <p:nvPr/>
        </p:nvSpPr>
        <p:spPr>
          <a:xfrm>
            <a:off x="4663440" y="1051560"/>
            <a:ext cx="1920240" cy="1188720"/>
          </a:xfrm>
          <a:prstGeom prst="roundRect">
            <a:avLst>
              <a:gd name="adj" fmla="val 6154"/>
            </a:avLst>
          </a:prstGeom>
          <a:solidFill>
            <a:schemeClr val="bg2"/>
          </a:solidFill>
          <a:ln/>
        </p:spPr>
      </p:sp>
      <p:sp>
        <p:nvSpPr>
          <p:cNvPr id="25" name="cerchio FiLayers"/>
          <p:cNvSpPr/>
          <p:nvPr/>
        </p:nvSpPr>
        <p:spPr>
          <a:xfrm>
            <a:off x="4800600" y="1161288"/>
            <a:ext cx="457200" cy="457200"/>
          </a:xfrm>
          <a:prstGeom prst="ellipse">
            <a:avLst/>
          </a:prstGeom>
          <a:solidFill>
            <a:schemeClr val="accent2"/>
          </a:solidFill>
          <a:ln/>
        </p:spPr>
      </p:sp>
      <p:pic>
        <p:nvPicPr>
          <p:cNvPr id="26" name="Image 2" descr="FiLayers">    </p:cNvPr>
          <p:cNvPicPr>
            <a:picLocks noChangeAspect="1"/>
          </p:cNvPicPr>
          <p:nvPr/>
        </p:nvPicPr>
        <p:blipFill>
          <a:blip r:embed="rId3"/>
          <a:stretch>
            <a:fillRect/>
          </a:stretch>
        </p:blipFill>
        <p:spPr>
          <a:xfrm>
            <a:off x="4914900" y="1275588"/>
            <a:ext cx="228600" cy="228600"/>
          </a:xfrm>
          <a:prstGeom prst="rect">
            <a:avLst/>
          </a:prstGeom>
        </p:spPr>
      </p:pic>
      <p:sp>
        <p:nvSpPr>
          <p:cNvPr id="27" name="Text 21"/>
          <p:cNvSpPr txBox="1"/>
          <p:nvPr/>
        </p:nvSpPr>
        <p:spPr>
          <a:xfrm>
            <a:off x="5321808" y="1161288"/>
            <a:ext cx="1216152" cy="457200"/>
          </a:xfrm>
          <a:prstGeom prst="rect">
            <a:avLst/>
          </a:prstGeom>
          <a:noFill/>
          <a:ln/>
        </p:spPr>
        <p:txBody>
          <a:bodyPr wrap="square" lIns="0" tIns="0" rIns="0" bIns="0" rtlCol="0" anchor="ctr"/>
          <a:lstStyle/>
          <a:p>
            <a:pPr indent="0" marL="0">
              <a:buNone/>
            </a:pPr>
            <a:r>
              <a:rPr lang="en-US" sz="1400" b="1" dirty="0">
                <a:solidFill>
                  <a:schemeClr val="tx1"/>
                </a:solidFill>
              </a:rPr>
              <a:t>Elaborato</a:t>
            </a:r>
            <a:endParaRPr lang="en-US" sz="1400" dirty="0"/>
          </a:p>
        </p:txBody>
      </p:sp>
      <p:sp>
        <p:nvSpPr>
          <p:cNvPr id="28" name="Text 22"/>
          <p:cNvSpPr txBox="1"/>
          <p:nvPr/>
        </p:nvSpPr>
        <p:spPr>
          <a:xfrm>
            <a:off x="4800600" y="1691640"/>
            <a:ext cx="1691640" cy="502920"/>
          </a:xfrm>
          <a:prstGeom prst="rect">
            <a:avLst/>
          </a:prstGeom>
          <a:noFill/>
          <a:ln/>
        </p:spPr>
        <p:txBody>
          <a:bodyPr wrap="square" lIns="0" tIns="0" rIns="0" bIns="0" rtlCol="0" anchor="t"/>
          <a:lstStyle/>
          <a:p>
            <a:pPr indent="0" marL="0">
              <a:buNone/>
            </a:pPr>
            <a:r>
              <a:rPr lang="en-US" sz="1100" dirty="0">
                <a:solidFill>
                  <a:schemeClr val="tx2"/>
                </a:solidFill>
              </a:rPr>
              <a:t>Tutte le parti considerate?</a:t>
            </a:r>
            <a:endParaRPr lang="en-US" sz="1100" dirty="0"/>
          </a:p>
        </p:txBody>
      </p:sp>
      <p:sp>
        <p:nvSpPr>
          <p:cNvPr id="29" name="freccia"/>
          <p:cNvSpPr/>
          <p:nvPr/>
        </p:nvSpPr>
        <p:spPr>
          <a:xfrm>
            <a:off x="6592824" y="1508760"/>
            <a:ext cx="155448" cy="292608"/>
          </a:xfrm>
          <a:prstGeom prst="rightArrow">
            <a:avLst/>
          </a:prstGeom>
          <a:solidFill>
            <a:schemeClr val="accent2"/>
          </a:solidFill>
          <a:ln/>
        </p:spPr>
      </p:sp>
      <p:sp>
        <p:nvSpPr>
          <p:cNvPr id="30" name="Compreso"/>
          <p:cNvSpPr/>
          <p:nvPr/>
        </p:nvSpPr>
        <p:spPr>
          <a:xfrm>
            <a:off x="6766560" y="1051560"/>
            <a:ext cx="1920240" cy="1188720"/>
          </a:xfrm>
          <a:prstGeom prst="roundRect">
            <a:avLst>
              <a:gd name="adj" fmla="val 6154"/>
            </a:avLst>
          </a:prstGeom>
          <a:solidFill>
            <a:schemeClr val="bg2"/>
          </a:solidFill>
          <a:ln/>
        </p:spPr>
      </p:sp>
      <p:sp>
        <p:nvSpPr>
          <p:cNvPr id="31" name="cerchio FiCheckCircle"/>
          <p:cNvSpPr/>
          <p:nvPr/>
        </p:nvSpPr>
        <p:spPr>
          <a:xfrm>
            <a:off x="6903720" y="1161288"/>
            <a:ext cx="457200" cy="457200"/>
          </a:xfrm>
          <a:prstGeom prst="ellipse">
            <a:avLst/>
          </a:prstGeom>
          <a:solidFill>
            <a:schemeClr val="accent2"/>
          </a:solidFill>
          <a:ln/>
        </p:spPr>
      </p:sp>
      <p:pic>
        <p:nvPicPr>
          <p:cNvPr id="32" name="Image 3" descr="FiCheckCircle">    </p:cNvPr>
          <p:cNvPicPr>
            <a:picLocks noChangeAspect="1"/>
          </p:cNvPicPr>
          <p:nvPr/>
        </p:nvPicPr>
        <p:blipFill>
          <a:blip r:embed="rId4"/>
          <a:stretch>
            <a:fillRect/>
          </a:stretch>
        </p:blipFill>
        <p:spPr>
          <a:xfrm>
            <a:off x="7018020" y="1275588"/>
            <a:ext cx="228600" cy="228600"/>
          </a:xfrm>
          <a:prstGeom prst="rect">
            <a:avLst/>
          </a:prstGeom>
        </p:spPr>
      </p:pic>
      <p:sp>
        <p:nvSpPr>
          <p:cNvPr id="33" name="Text 26"/>
          <p:cNvSpPr txBox="1"/>
          <p:nvPr/>
        </p:nvSpPr>
        <p:spPr>
          <a:xfrm>
            <a:off x="7424928" y="1161288"/>
            <a:ext cx="1216152" cy="457200"/>
          </a:xfrm>
          <a:prstGeom prst="rect">
            <a:avLst/>
          </a:prstGeom>
          <a:noFill/>
          <a:ln/>
        </p:spPr>
        <p:txBody>
          <a:bodyPr wrap="square" lIns="0" tIns="0" rIns="0" bIns="0" rtlCol="0" anchor="ctr"/>
          <a:lstStyle/>
          <a:p>
            <a:pPr indent="0" marL="0">
              <a:buNone/>
            </a:pPr>
            <a:r>
              <a:rPr lang="en-US" sz="1400" b="1" dirty="0">
                <a:solidFill>
                  <a:schemeClr val="tx1"/>
                </a:solidFill>
              </a:rPr>
              <a:t>Compreso</a:t>
            </a:r>
            <a:endParaRPr lang="en-US" sz="1400" dirty="0"/>
          </a:p>
        </p:txBody>
      </p:sp>
      <p:sp>
        <p:nvSpPr>
          <p:cNvPr id="34" name="Text 27"/>
          <p:cNvSpPr txBox="1"/>
          <p:nvPr/>
        </p:nvSpPr>
        <p:spPr>
          <a:xfrm>
            <a:off x="6903720" y="1691640"/>
            <a:ext cx="1691640" cy="502920"/>
          </a:xfrm>
          <a:prstGeom prst="rect">
            <a:avLst/>
          </a:prstGeom>
          <a:noFill/>
          <a:ln/>
        </p:spPr>
        <p:txBody>
          <a:bodyPr wrap="square" lIns="0" tIns="0" rIns="0" bIns="0" rtlCol="0" anchor="t"/>
          <a:lstStyle/>
          <a:p>
            <a:pPr indent="0" marL="0">
              <a:buNone/>
            </a:pPr>
            <a:r>
              <a:rPr lang="en-US" sz="1100" dirty="0">
                <a:solidFill>
                  <a:schemeClr val="tx2"/>
                </a:solidFill>
              </a:rPr>
              <a:t>Interpretato correttamente?</a:t>
            </a:r>
            <a:endParaRPr lang="en-US" sz="1100" dirty="0"/>
          </a:p>
        </p:txBody>
      </p:sp>
      <p:sp>
        <p:nvSpPr>
          <p:cNvPr id="35" name="Text 28"/>
          <p:cNvSpPr txBox="1"/>
          <p:nvPr/>
        </p:nvSpPr>
        <p:spPr>
          <a:xfrm>
            <a:off x="457200" y="2331720"/>
            <a:ext cx="8229600" cy="292608"/>
          </a:xfrm>
          <a:prstGeom prst="rect">
            <a:avLst/>
          </a:prstGeom>
          <a:noFill/>
          <a:ln/>
        </p:spPr>
        <p:txBody>
          <a:bodyPr wrap="square" lIns="0" tIns="0" rIns="0" bIns="0" rtlCol="0" anchor="t"/>
          <a:lstStyle/>
          <a:p>
            <a:pPr indent="0" marL="0">
              <a:buNone/>
            </a:pPr>
            <a:r>
              <a:rPr lang="en-US" sz="1200" b="1" i="1" dirty="0">
                <a:solidFill>
                  <a:schemeClr val="accent1"/>
                </a:solidFill>
              </a:rPr>
              <a:t>Le capacità variano secondo modello, strumento, formato e dimensione del documento</a:t>
            </a:r>
            <a:endParaRPr lang="en-US" sz="1200" dirty="0"/>
          </a:p>
        </p:txBody>
      </p:sp>
      <p:sp>
        <p:nvSpPr>
          <p:cNvPr id="36" name="Text 29"/>
          <p:cNvSpPr txBox="1"/>
          <p:nvPr/>
        </p:nvSpPr>
        <p:spPr>
          <a:xfrm>
            <a:off x="457200" y="2697480"/>
            <a:ext cx="8229600" cy="292608"/>
          </a:xfrm>
          <a:prstGeom prst="rect">
            <a:avLst/>
          </a:prstGeom>
          <a:noFill/>
          <a:ln/>
        </p:spPr>
        <p:txBody>
          <a:bodyPr wrap="square" lIns="0" tIns="0" rIns="0" bIns="0" rtlCol="0" anchor="t"/>
          <a:lstStyle/>
          <a:p>
            <a:pPr indent="0" marL="0">
              <a:buNone/>
            </a:pPr>
            <a:r>
              <a:rPr lang="en-US" sz="1300" b="1" dirty="0">
                <a:solidFill>
                  <a:schemeClr val="tx1"/>
                </a:solidFill>
              </a:rPr>
              <a:t>Tecniche per una buona copertura</a:t>
            </a:r>
            <a:endParaRPr lang="en-US" sz="1300" dirty="0"/>
          </a:p>
        </p:txBody>
      </p:sp>
      <p:sp>
        <p:nvSpPr>
          <p:cNvPr id="37" name="Elaborare per sezioni"/>
          <p:cNvSpPr/>
          <p:nvPr/>
        </p:nvSpPr>
        <p:spPr>
          <a:xfrm>
            <a:off x="457200" y="3035808"/>
            <a:ext cx="1965960" cy="914400"/>
          </a:xfrm>
          <a:prstGeom prst="roundRect">
            <a:avLst>
              <a:gd name="adj" fmla="val 8000"/>
            </a:avLst>
          </a:prstGeom>
          <a:solidFill>
            <a:schemeClr val="accent6"/>
          </a:solidFill>
          <a:ln/>
        </p:spPr>
      </p:sp>
      <p:sp>
        <p:nvSpPr>
          <p:cNvPr id="38" name="Text 31"/>
          <p:cNvSpPr txBox="1"/>
          <p:nvPr/>
        </p:nvSpPr>
        <p:spPr>
          <a:xfrm>
            <a:off x="566928" y="3081528"/>
            <a:ext cx="1783080" cy="310896"/>
          </a:xfrm>
          <a:prstGeom prst="rect">
            <a:avLst/>
          </a:prstGeom>
          <a:noFill/>
          <a:ln/>
        </p:spPr>
        <p:txBody>
          <a:bodyPr wrap="square" lIns="0" tIns="0" rIns="0" bIns="0" rtlCol="0" anchor="t"/>
          <a:lstStyle/>
          <a:p>
            <a:pPr indent="0" marL="0">
              <a:buNone/>
            </a:pPr>
            <a:r>
              <a:rPr lang="en-US" sz="1200" b="1" dirty="0">
                <a:solidFill>
                  <a:schemeClr val="accent1"/>
                </a:solidFill>
              </a:rPr>
              <a:t>Elaborare per sezioni</a:t>
            </a:r>
            <a:endParaRPr lang="en-US" sz="1200" dirty="0"/>
          </a:p>
        </p:txBody>
      </p:sp>
      <p:sp>
        <p:nvSpPr>
          <p:cNvPr id="39" name="Text 32"/>
          <p:cNvSpPr txBox="1"/>
          <p:nvPr/>
        </p:nvSpPr>
        <p:spPr>
          <a:xfrm>
            <a:off x="566928" y="3401568"/>
            <a:ext cx="1783080" cy="502920"/>
          </a:xfrm>
          <a:prstGeom prst="rect">
            <a:avLst/>
          </a:prstGeom>
          <a:noFill/>
          <a:ln/>
        </p:spPr>
        <p:txBody>
          <a:bodyPr wrap="square" lIns="0" tIns="0" rIns="0" bIns="0" rtlCol="0" anchor="t"/>
          <a:lstStyle/>
          <a:p>
            <a:pPr indent="0" marL="0">
              <a:buNone/>
            </a:pPr>
            <a:r>
              <a:rPr lang="en-US" sz="1100" dirty="0">
                <a:solidFill>
                  <a:schemeClr val="tx1"/>
                </a:solidFill>
              </a:rPr>
              <a:t>Una richiesta per parte, poi ricomporre</a:t>
            </a:r>
            <a:endParaRPr lang="en-US" sz="1100" dirty="0"/>
          </a:p>
        </p:txBody>
      </p:sp>
      <p:sp>
        <p:nvSpPr>
          <p:cNvPr id="40" name="Ricerca mirata"/>
          <p:cNvSpPr/>
          <p:nvPr/>
        </p:nvSpPr>
        <p:spPr>
          <a:xfrm>
            <a:off x="2560320" y="3035808"/>
            <a:ext cx="1965960" cy="914400"/>
          </a:xfrm>
          <a:prstGeom prst="roundRect">
            <a:avLst>
              <a:gd name="adj" fmla="val 8000"/>
            </a:avLst>
          </a:prstGeom>
          <a:solidFill>
            <a:schemeClr val="accent6"/>
          </a:solidFill>
          <a:ln/>
        </p:spPr>
      </p:sp>
      <p:sp>
        <p:nvSpPr>
          <p:cNvPr id="41" name="Text 34"/>
          <p:cNvSpPr txBox="1"/>
          <p:nvPr/>
        </p:nvSpPr>
        <p:spPr>
          <a:xfrm>
            <a:off x="2670048" y="3081528"/>
            <a:ext cx="1783080" cy="310896"/>
          </a:xfrm>
          <a:prstGeom prst="rect">
            <a:avLst/>
          </a:prstGeom>
          <a:noFill/>
          <a:ln/>
        </p:spPr>
        <p:txBody>
          <a:bodyPr wrap="square" lIns="0" tIns="0" rIns="0" bIns="0" rtlCol="0" anchor="t"/>
          <a:lstStyle/>
          <a:p>
            <a:pPr indent="0" marL="0">
              <a:buNone/>
            </a:pPr>
            <a:r>
              <a:rPr lang="en-US" sz="1200" b="1" dirty="0">
                <a:solidFill>
                  <a:schemeClr val="accent1"/>
                </a:solidFill>
              </a:rPr>
              <a:t>Ricerca mirata</a:t>
            </a:r>
            <a:endParaRPr lang="en-US" sz="1200" dirty="0"/>
          </a:p>
        </p:txBody>
      </p:sp>
      <p:sp>
        <p:nvSpPr>
          <p:cNvPr id="42" name="Text 35"/>
          <p:cNvSpPr txBox="1"/>
          <p:nvPr/>
        </p:nvSpPr>
        <p:spPr>
          <a:xfrm>
            <a:off x="2670048" y="3401568"/>
            <a:ext cx="1783080" cy="502920"/>
          </a:xfrm>
          <a:prstGeom prst="rect">
            <a:avLst/>
          </a:prstGeom>
          <a:noFill/>
          <a:ln/>
        </p:spPr>
        <p:txBody>
          <a:bodyPr wrap="square" lIns="0" tIns="0" rIns="0" bIns="0" rtlCol="0" anchor="t"/>
          <a:lstStyle/>
          <a:p>
            <a:pPr indent="0" marL="0">
              <a:buNone/>
            </a:pPr>
            <a:r>
              <a:rPr lang="en-US" sz="1100" dirty="0">
                <a:solidFill>
                  <a:schemeClr val="tx1"/>
                </a:solidFill>
              </a:rPr>
              <a:t>Domande su punti specifici, anche centrali</a:t>
            </a:r>
            <a:endParaRPr lang="en-US" sz="1100" dirty="0"/>
          </a:p>
        </p:txBody>
      </p:sp>
      <p:sp>
        <p:nvSpPr>
          <p:cNvPr id="43" name="Verificare la copertura"/>
          <p:cNvSpPr/>
          <p:nvPr/>
        </p:nvSpPr>
        <p:spPr>
          <a:xfrm>
            <a:off x="4663440" y="3035808"/>
            <a:ext cx="1965960" cy="914400"/>
          </a:xfrm>
          <a:prstGeom prst="roundRect">
            <a:avLst>
              <a:gd name="adj" fmla="val 8000"/>
            </a:avLst>
          </a:prstGeom>
          <a:solidFill>
            <a:schemeClr val="accent6"/>
          </a:solidFill>
          <a:ln/>
        </p:spPr>
      </p:sp>
      <p:sp>
        <p:nvSpPr>
          <p:cNvPr id="44" name="Text 37"/>
          <p:cNvSpPr txBox="1"/>
          <p:nvPr/>
        </p:nvSpPr>
        <p:spPr>
          <a:xfrm>
            <a:off x="4773168" y="3081528"/>
            <a:ext cx="1783080" cy="310896"/>
          </a:xfrm>
          <a:prstGeom prst="rect">
            <a:avLst/>
          </a:prstGeom>
          <a:noFill/>
          <a:ln/>
        </p:spPr>
        <p:txBody>
          <a:bodyPr wrap="square" lIns="0" tIns="0" rIns="0" bIns="0" rtlCol="0" anchor="t"/>
          <a:lstStyle/>
          <a:p>
            <a:pPr indent="0" marL="0">
              <a:buNone/>
            </a:pPr>
            <a:r>
              <a:rPr lang="en-US" sz="1200" b="1" dirty="0">
                <a:solidFill>
                  <a:schemeClr val="accent1"/>
                </a:solidFill>
              </a:rPr>
              <a:t>Verificare la copertura</a:t>
            </a:r>
            <a:endParaRPr lang="en-US" sz="1200" dirty="0"/>
          </a:p>
        </p:txBody>
      </p:sp>
      <p:sp>
        <p:nvSpPr>
          <p:cNvPr id="45" name="Text 38"/>
          <p:cNvSpPr txBox="1"/>
          <p:nvPr/>
        </p:nvSpPr>
        <p:spPr>
          <a:xfrm>
            <a:off x="4773168" y="3401568"/>
            <a:ext cx="1783080" cy="502920"/>
          </a:xfrm>
          <a:prstGeom prst="rect">
            <a:avLst/>
          </a:prstGeom>
          <a:noFill/>
          <a:ln/>
        </p:spPr>
        <p:txBody>
          <a:bodyPr wrap="square" lIns="0" tIns="0" rIns="0" bIns="0" rtlCol="0" anchor="t"/>
          <a:lstStyle/>
          <a:p>
            <a:pPr indent="0" marL="0">
              <a:buNone/>
            </a:pPr>
            <a:r>
              <a:rPr lang="en-US" sz="1100" dirty="0">
                <a:solidFill>
                  <a:schemeClr val="tx1"/>
                </a:solidFill>
              </a:rPr>
              <a:t>Sintesi per sezioni: si vede se una manca</a:t>
            </a:r>
            <a:endParaRPr lang="en-US" sz="1100" dirty="0"/>
          </a:p>
        </p:txBody>
      </p:sp>
      <p:sp>
        <p:nvSpPr>
          <p:cNvPr id="46" name="Recuperare i riferimenti"/>
          <p:cNvSpPr/>
          <p:nvPr/>
        </p:nvSpPr>
        <p:spPr>
          <a:xfrm>
            <a:off x="6766560" y="3035808"/>
            <a:ext cx="1965960" cy="914400"/>
          </a:xfrm>
          <a:prstGeom prst="roundRect">
            <a:avLst>
              <a:gd name="adj" fmla="val 8000"/>
            </a:avLst>
          </a:prstGeom>
          <a:solidFill>
            <a:schemeClr val="accent6"/>
          </a:solidFill>
          <a:ln/>
        </p:spPr>
      </p:sp>
      <p:sp>
        <p:nvSpPr>
          <p:cNvPr id="47" name="Text 40"/>
          <p:cNvSpPr txBox="1"/>
          <p:nvPr/>
        </p:nvSpPr>
        <p:spPr>
          <a:xfrm>
            <a:off x="6876288" y="3081528"/>
            <a:ext cx="1783080" cy="310896"/>
          </a:xfrm>
          <a:prstGeom prst="rect">
            <a:avLst/>
          </a:prstGeom>
          <a:noFill/>
          <a:ln/>
        </p:spPr>
        <p:txBody>
          <a:bodyPr wrap="square" lIns="0" tIns="0" rIns="0" bIns="0" rtlCol="0" anchor="t"/>
          <a:lstStyle/>
          <a:p>
            <a:pPr indent="0" marL="0">
              <a:buNone/>
            </a:pPr>
            <a:r>
              <a:rPr lang="en-US" sz="1200" b="1" dirty="0">
                <a:solidFill>
                  <a:schemeClr val="accent1"/>
                </a:solidFill>
              </a:rPr>
              <a:t>Recuperare i riferimenti</a:t>
            </a:r>
            <a:endParaRPr lang="en-US" sz="1200" dirty="0"/>
          </a:p>
        </p:txBody>
      </p:sp>
      <p:sp>
        <p:nvSpPr>
          <p:cNvPr id="48" name="Text 41"/>
          <p:cNvSpPr txBox="1"/>
          <p:nvPr/>
        </p:nvSpPr>
        <p:spPr>
          <a:xfrm>
            <a:off x="6876288" y="3401568"/>
            <a:ext cx="1783080" cy="502920"/>
          </a:xfrm>
          <a:prstGeom prst="rect">
            <a:avLst/>
          </a:prstGeom>
          <a:noFill/>
          <a:ln/>
        </p:spPr>
        <p:txBody>
          <a:bodyPr wrap="square" lIns="0" tIns="0" rIns="0" bIns="0" rtlCol="0" anchor="t"/>
          <a:lstStyle/>
          <a:p>
            <a:pPr indent="0" marL="0">
              <a:buNone/>
            </a:pPr>
            <a:r>
              <a:rPr lang="en-US" sz="1100" dirty="0">
                <a:solidFill>
                  <a:schemeClr val="tx1"/>
                </a:solidFill>
              </a:rPr>
              <a:t>Passaggio e pagina per i punti che contano</a:t>
            </a:r>
            <a:endParaRPr lang="en-US" sz="1100" dirty="0"/>
          </a:p>
        </p:txBody>
      </p:sp>
      <p:sp>
        <p:nvSpPr>
          <p:cNvPr id="49" name="Text 42"/>
          <p:cNvSpPr txBox="1"/>
          <p:nvPr/>
        </p:nvSpPr>
        <p:spPr>
          <a:xfrm>
            <a:off x="457200" y="4069080"/>
            <a:ext cx="8229600" cy="457200"/>
          </a:xfrm>
          <a:prstGeom prst="rect">
            <a:avLst/>
          </a:prstGeom>
          <a:noFill/>
          <a:ln/>
        </p:spPr>
        <p:txBody>
          <a:bodyPr wrap="square" lIns="0" tIns="0" rIns="0" bIns="0" rtlCol="0" anchor="t"/>
          <a:lstStyle/>
          <a:p>
            <a:pPr indent="0" marL="0">
              <a:buNone/>
            </a:pPr>
            <a:r>
              <a:rPr lang="en-US" sz="1100" i="1" dirty="0">
                <a:solidFill>
                  <a:schemeClr val="tx2"/>
                </a:solidFill>
              </a:rPr>
              <a:t>Il calo di attenzione al centro dei testi lunghi, osservato nel 2024 (Liu et al.), è oggi variabile da sistema a sistema: va controllato, non dato per scontato.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Qualità, struttura e formato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Contenuto corretto e coerente"/>
          <p:cNvSpPr/>
          <p:nvPr/>
        </p:nvSpPr>
        <p:spPr>
          <a:xfrm>
            <a:off x="457200" y="1051560"/>
            <a:ext cx="3749040" cy="612648"/>
          </a:xfrm>
          <a:prstGeom prst="roundRect">
            <a:avLst>
              <a:gd name="adj" fmla="val 11940"/>
            </a:avLst>
          </a:prstGeom>
          <a:solidFill>
            <a:schemeClr val="bg2"/>
          </a:solidFill>
          <a:ln/>
        </p:spPr>
      </p:sp>
      <p:sp>
        <p:nvSpPr>
          <p:cNvPr id="13" name="Text 10"/>
          <p:cNvSpPr txBox="1"/>
          <p:nvPr/>
        </p:nvSpPr>
        <p:spPr>
          <a:xfrm>
            <a:off x="621792" y="1097280"/>
            <a:ext cx="3474720" cy="274320"/>
          </a:xfrm>
          <a:prstGeom prst="rect">
            <a:avLst/>
          </a:prstGeom>
          <a:noFill/>
          <a:ln/>
        </p:spPr>
        <p:txBody>
          <a:bodyPr wrap="square" lIns="0" tIns="0" rIns="0" bIns="0" rtlCol="0" anchor="t"/>
          <a:lstStyle/>
          <a:p>
            <a:pPr indent="0" marL="0">
              <a:buNone/>
            </a:pPr>
            <a:r>
              <a:rPr lang="en-US" sz="1200" b="1" dirty="0">
                <a:solidFill>
                  <a:schemeClr val="accent1"/>
                </a:solidFill>
              </a:rPr>
              <a:t>Contenuto corretto e coerente</a:t>
            </a:r>
            <a:endParaRPr lang="en-US" sz="1200" dirty="0"/>
          </a:p>
        </p:txBody>
      </p:sp>
      <p:sp>
        <p:nvSpPr>
          <p:cNvPr id="14" name="Text 11"/>
          <p:cNvSpPr txBox="1"/>
          <p:nvPr/>
        </p:nvSpPr>
        <p:spPr>
          <a:xfrm>
            <a:off x="621792" y="1371600"/>
            <a:ext cx="3474720" cy="256032"/>
          </a:xfrm>
          <a:prstGeom prst="rect">
            <a:avLst/>
          </a:prstGeom>
          <a:noFill/>
          <a:ln/>
        </p:spPr>
        <p:txBody>
          <a:bodyPr wrap="square" lIns="0" tIns="0" rIns="0" bIns="0" rtlCol="0" anchor="t"/>
          <a:lstStyle/>
          <a:p>
            <a:pPr indent="0" marL="0">
              <a:buNone/>
            </a:pPr>
            <a:r>
              <a:rPr lang="en-US" sz="1100" dirty="0">
                <a:solidFill>
                  <a:schemeClr val="tx2"/>
                </a:solidFill>
              </a:rPr>
              <a:t>Errori e contraddizioni vengono riportati</a:t>
            </a:r>
            <a:endParaRPr lang="en-US" sz="1100" dirty="0"/>
          </a:p>
        </p:txBody>
      </p:sp>
      <p:sp>
        <p:nvSpPr>
          <p:cNvPr id="15" name="Struttura chiara"/>
          <p:cNvSpPr/>
          <p:nvPr/>
        </p:nvSpPr>
        <p:spPr>
          <a:xfrm>
            <a:off x="457200" y="1737360"/>
            <a:ext cx="3749040" cy="612648"/>
          </a:xfrm>
          <a:prstGeom prst="roundRect">
            <a:avLst>
              <a:gd name="adj" fmla="val 11940"/>
            </a:avLst>
          </a:prstGeom>
          <a:solidFill>
            <a:schemeClr val="bg1"/>
          </a:solidFill>
          <a:ln/>
        </p:spPr>
      </p:sp>
      <p:sp>
        <p:nvSpPr>
          <p:cNvPr id="16" name="Text 13"/>
          <p:cNvSpPr txBox="1"/>
          <p:nvPr/>
        </p:nvSpPr>
        <p:spPr>
          <a:xfrm>
            <a:off x="621792" y="1783080"/>
            <a:ext cx="3474720" cy="274320"/>
          </a:xfrm>
          <a:prstGeom prst="rect">
            <a:avLst/>
          </a:prstGeom>
          <a:noFill/>
          <a:ln/>
        </p:spPr>
        <p:txBody>
          <a:bodyPr wrap="square" lIns="0" tIns="0" rIns="0" bIns="0" rtlCol="0" anchor="t"/>
          <a:lstStyle/>
          <a:p>
            <a:pPr indent="0" marL="0">
              <a:buNone/>
            </a:pPr>
            <a:r>
              <a:rPr lang="en-US" sz="1200" b="1" dirty="0">
                <a:solidFill>
                  <a:schemeClr val="accent1"/>
                </a:solidFill>
              </a:rPr>
              <a:t>Struttura chiara</a:t>
            </a:r>
            <a:endParaRPr lang="en-US" sz="1200" dirty="0"/>
          </a:p>
        </p:txBody>
      </p:sp>
      <p:sp>
        <p:nvSpPr>
          <p:cNvPr id="17" name="Text 14"/>
          <p:cNvSpPr txBox="1"/>
          <p:nvPr/>
        </p:nvSpPr>
        <p:spPr>
          <a:xfrm>
            <a:off x="621792" y="2057400"/>
            <a:ext cx="3474720" cy="256032"/>
          </a:xfrm>
          <a:prstGeom prst="rect">
            <a:avLst/>
          </a:prstGeom>
          <a:noFill/>
          <a:ln/>
        </p:spPr>
        <p:txBody>
          <a:bodyPr wrap="square" lIns="0" tIns="0" rIns="0" bIns="0" rtlCol="0" anchor="t"/>
          <a:lstStyle/>
          <a:p>
            <a:pPr indent="0" marL="0">
              <a:buNone/>
            </a:pPr>
            <a:r>
              <a:rPr lang="en-US" sz="1100" dirty="0">
                <a:solidFill>
                  <a:schemeClr val="tx2"/>
                </a:solidFill>
              </a:rPr>
              <a:t>Titoli, sezioni, un tema per paragrafo</a:t>
            </a:r>
            <a:endParaRPr lang="en-US" sz="1100" dirty="0"/>
          </a:p>
        </p:txBody>
      </p:sp>
      <p:sp>
        <p:nvSpPr>
          <p:cNvPr id="18" name="Linguaggio esplicito"/>
          <p:cNvSpPr/>
          <p:nvPr/>
        </p:nvSpPr>
        <p:spPr>
          <a:xfrm>
            <a:off x="457200" y="2423160"/>
            <a:ext cx="3749040" cy="612648"/>
          </a:xfrm>
          <a:prstGeom prst="roundRect">
            <a:avLst>
              <a:gd name="adj" fmla="val 11940"/>
            </a:avLst>
          </a:prstGeom>
          <a:solidFill>
            <a:schemeClr val="bg2"/>
          </a:solidFill>
          <a:ln/>
        </p:spPr>
      </p:sp>
      <p:sp>
        <p:nvSpPr>
          <p:cNvPr id="19" name="Text 16"/>
          <p:cNvSpPr txBox="1"/>
          <p:nvPr/>
        </p:nvSpPr>
        <p:spPr>
          <a:xfrm>
            <a:off x="621792" y="2468880"/>
            <a:ext cx="3474720" cy="274320"/>
          </a:xfrm>
          <a:prstGeom prst="rect">
            <a:avLst/>
          </a:prstGeom>
          <a:noFill/>
          <a:ln/>
        </p:spPr>
        <p:txBody>
          <a:bodyPr wrap="square" lIns="0" tIns="0" rIns="0" bIns="0" rtlCol="0" anchor="t"/>
          <a:lstStyle/>
          <a:p>
            <a:pPr indent="0" marL="0">
              <a:buNone/>
            </a:pPr>
            <a:r>
              <a:rPr lang="en-US" sz="1200" b="1" dirty="0">
                <a:solidFill>
                  <a:schemeClr val="accent1"/>
                </a:solidFill>
              </a:rPr>
              <a:t>Linguaggio esplicito</a:t>
            </a:r>
            <a:endParaRPr lang="en-US" sz="1200" dirty="0"/>
          </a:p>
        </p:txBody>
      </p:sp>
      <p:sp>
        <p:nvSpPr>
          <p:cNvPr id="20" name="Text 17"/>
          <p:cNvSpPr txBox="1"/>
          <p:nvPr/>
        </p:nvSpPr>
        <p:spPr>
          <a:xfrm>
            <a:off x="621792" y="2743200"/>
            <a:ext cx="3474720" cy="256032"/>
          </a:xfrm>
          <a:prstGeom prst="rect">
            <a:avLst/>
          </a:prstGeom>
          <a:noFill/>
          <a:ln/>
        </p:spPr>
        <p:txBody>
          <a:bodyPr wrap="square" lIns="0" tIns="0" rIns="0" bIns="0" rtlCol="0" anchor="t"/>
          <a:lstStyle/>
          <a:p>
            <a:pPr indent="0" marL="0">
              <a:buNone/>
            </a:pPr>
            <a:r>
              <a:rPr lang="en-US" sz="1100" dirty="0">
                <a:solidFill>
                  <a:schemeClr val="tx2"/>
                </a:solidFill>
              </a:rPr>
              <a:t>Non 'come concordato', ma che cosa</a:t>
            </a:r>
            <a:endParaRPr lang="en-US" sz="1100" dirty="0"/>
          </a:p>
        </p:txBody>
      </p:sp>
      <p:sp>
        <p:nvSpPr>
          <p:cNvPr id="21" name="Formato digitale nativo"/>
          <p:cNvSpPr/>
          <p:nvPr/>
        </p:nvSpPr>
        <p:spPr>
          <a:xfrm>
            <a:off x="457200" y="3108960"/>
            <a:ext cx="3749040" cy="612648"/>
          </a:xfrm>
          <a:prstGeom prst="roundRect">
            <a:avLst>
              <a:gd name="adj" fmla="val 11940"/>
            </a:avLst>
          </a:prstGeom>
          <a:solidFill>
            <a:schemeClr val="bg1"/>
          </a:solidFill>
          <a:ln/>
        </p:spPr>
      </p:sp>
      <p:sp>
        <p:nvSpPr>
          <p:cNvPr id="22" name="Text 19"/>
          <p:cNvSpPr txBox="1"/>
          <p:nvPr/>
        </p:nvSpPr>
        <p:spPr>
          <a:xfrm>
            <a:off x="621792" y="3154680"/>
            <a:ext cx="3474720" cy="274320"/>
          </a:xfrm>
          <a:prstGeom prst="rect">
            <a:avLst/>
          </a:prstGeom>
          <a:noFill/>
          <a:ln/>
        </p:spPr>
        <p:txBody>
          <a:bodyPr wrap="square" lIns="0" tIns="0" rIns="0" bIns="0" rtlCol="0" anchor="t"/>
          <a:lstStyle/>
          <a:p>
            <a:pPr indent="0" marL="0">
              <a:buNone/>
            </a:pPr>
            <a:r>
              <a:rPr lang="en-US" sz="1200" b="1" dirty="0">
                <a:solidFill>
                  <a:schemeClr val="accent1"/>
                </a:solidFill>
              </a:rPr>
              <a:t>Formato digitale nativo</a:t>
            </a:r>
            <a:endParaRPr lang="en-US" sz="1200" dirty="0"/>
          </a:p>
        </p:txBody>
      </p:sp>
      <p:sp>
        <p:nvSpPr>
          <p:cNvPr id="23" name="Text 20"/>
          <p:cNvSpPr txBox="1"/>
          <p:nvPr/>
        </p:nvSpPr>
        <p:spPr>
          <a:xfrm>
            <a:off x="621792" y="3429000"/>
            <a:ext cx="3474720" cy="256032"/>
          </a:xfrm>
          <a:prstGeom prst="rect">
            <a:avLst/>
          </a:prstGeom>
          <a:noFill/>
          <a:ln/>
        </p:spPr>
        <p:txBody>
          <a:bodyPr wrap="square" lIns="0" tIns="0" rIns="0" bIns="0" rtlCol="0" anchor="t"/>
          <a:lstStyle/>
          <a:p>
            <a:pPr indent="0" marL="0">
              <a:buNone/>
            </a:pPr>
            <a:r>
              <a:rPr lang="en-US" sz="1100" dirty="0">
                <a:solidFill>
                  <a:schemeClr val="tx2"/>
                </a:solidFill>
              </a:rPr>
              <a:t>Più affidabile di una scansione</a:t>
            </a:r>
            <a:endParaRPr lang="en-US" sz="11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389120" y="1051560"/>
          <a:ext cx="4297680" cy="914400"/>
        </p:xfrm>
        <a:graphic>
          <a:graphicData uri="http://schemas.openxmlformats.org/drawingml/2006/table">
            <a:tbl>
              <a:tblPr/>
              <a:tblGrid>
                <a:gridCol w="1828800"/>
                <a:gridCol w="2468880"/>
              </a:tblGrid>
              <a:tr h="438912">
                <a:tc>
                  <a:txBody>
                    <a:bodyPr/>
                    <a:lstStyle/>
                    <a:p>
                      <a:pPr indent="0" marL="0">
                        <a:buNone/>
                      </a:pPr>
                      <a:r>
                        <a:rPr lang="en-US" sz="1100" b="1" dirty="0">
                          <a:solidFill>
                            <a:schemeClr val="bg1"/>
                          </a:solidFill>
                        </a:rPr>
                        <a:t>Elemento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Che cosa verificare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38912">
                <a:tc>
                  <a:txBody>
                    <a:bodyPr/>
                    <a:lstStyle/>
                    <a:p>
                      <a:pPr indent="0" marL="0">
                        <a:buNone/>
                      </a:pPr>
                      <a:r>
                        <a:rPr lang="en-US" sz="1100" b="1" dirty="0">
                          <a:solidFill>
                            <a:schemeClr val="tx1"/>
                          </a:solidFill>
                        </a:rPr>
                        <a:t>Scansioni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Importi, date, nomi nei punti critici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100" b="1" dirty="0">
                          <a:solidFill>
                            <a:schemeClr val="tx1"/>
                          </a:solidFill>
                        </a:rPr>
                        <a:t>Scritture a mano, timbri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Se contengono informazioni rilevanti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100" b="1" dirty="0">
                          <a:solidFill>
                            <a:schemeClr val="tx1"/>
                          </a:solidFill>
                        </a:rPr>
                        <a:t>Tabelle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Alcuni valori, riga per riga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100" b="1" dirty="0">
                          <a:solidFill>
                            <a:schemeClr val="tx1"/>
                          </a:solidFill>
                        </a:rPr>
                        <a:t>Immagini e grafici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Se l'informazione è solo lì</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100" b="1" dirty="0">
                          <a:solidFill>
                            <a:schemeClr val="tx1"/>
                          </a:solidFill>
                        </a:rPr>
                        <a:t>Colonne, note, riquadri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L'ordine dei passaggi collegati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messaggio"/>
          <p:cNvSpPr/>
          <p:nvPr/>
        </p:nvSpPr>
        <p:spPr>
          <a:xfrm>
            <a:off x="457200" y="3950208"/>
            <a:ext cx="8229600" cy="603504"/>
          </a:xfrm>
          <a:prstGeom prst="roundRect">
            <a:avLst>
              <a:gd name="adj" fmla="val 12121"/>
            </a:avLst>
          </a:prstGeom>
          <a:solidFill>
            <a:schemeClr val="tx1"/>
          </a:solidFill>
          <a:ln/>
        </p:spPr>
      </p:sp>
      <p:sp>
        <p:nvSpPr>
          <p:cNvPr id="26" name="Text 22"/>
          <p:cNvSpPr txBox="1"/>
          <p:nvPr/>
        </p:nvSpPr>
        <p:spPr>
          <a:xfrm>
            <a:off x="640080" y="3950208"/>
            <a:ext cx="7863840" cy="603504"/>
          </a:xfrm>
          <a:prstGeom prst="rect">
            <a:avLst/>
          </a:prstGeom>
          <a:noFill/>
          <a:ln/>
        </p:spPr>
        <p:txBody>
          <a:bodyPr wrap="square" lIns="0" tIns="0" rIns="0" bIns="0" rtlCol="0" anchor="ctr"/>
          <a:lstStyle/>
          <a:p>
            <a:pPr indent="0" marL="0">
              <a:buNone/>
            </a:pPr>
            <a:r>
              <a:rPr lang="en-US" sz="1300" dirty="0">
                <a:solidFill>
                  <a:schemeClr val="bg1"/>
                </a:solidFill>
              </a:rPr>
              <a:t>I documenti che funzionano meglio per l'AI sono gli stessi che funzionano meglio per le persone: migliorarli vale doppio.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Linguaggio tecnico e significato</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sp>
        <p:nvSpPr>
          <p:cNvPr id="12" name="scheda Linguaggio specialistico"/>
          <p:cNvSpPr/>
          <p:nvPr/>
        </p:nvSpPr>
        <p:spPr>
          <a:xfrm>
            <a:off x="457200" y="1051560"/>
            <a:ext cx="8229600" cy="1188720"/>
          </a:xfrm>
          <a:prstGeom prst="roundRect">
            <a:avLst>
              <a:gd name="adj" fmla="val 6154"/>
            </a:avLst>
          </a:prstGeom>
          <a:solidFill>
            <a:schemeClr val="bg2"/>
          </a:solidFill>
          <a:ln/>
        </p:spPr>
      </p:sp>
      <p:sp>
        <p:nvSpPr>
          <p:cNvPr id="13" name="cerchio FiCpu"/>
          <p:cNvSpPr/>
          <p:nvPr/>
        </p:nvSpPr>
        <p:spPr>
          <a:xfrm>
            <a:off x="640080" y="1234440"/>
            <a:ext cx="457200" cy="457200"/>
          </a:xfrm>
          <a:prstGeom prst="ellipse">
            <a:avLst/>
          </a:prstGeom>
          <a:solidFill>
            <a:schemeClr val="accent1"/>
          </a:solidFill>
          <a:ln/>
        </p:spPr>
      </p:sp>
      <p:pic>
        <p:nvPicPr>
          <p:cNvPr id="14" name="Image 0" descr="FiCpu">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1234440" y="1234440"/>
            <a:ext cx="7269480" cy="457200"/>
          </a:xfrm>
          <a:prstGeom prst="rect">
            <a:avLst/>
          </a:prstGeom>
          <a:noFill/>
          <a:ln/>
        </p:spPr>
        <p:txBody>
          <a:bodyPr wrap="square" lIns="0" tIns="0" rIns="0" bIns="0" rtlCol="0" anchor="ctr"/>
          <a:lstStyle/>
          <a:p>
            <a:pPr indent="0" marL="0">
              <a:buNone/>
            </a:pPr>
            <a:r>
              <a:rPr lang="en-US" sz="1400" b="1" dirty="0">
                <a:solidFill>
                  <a:schemeClr val="tx1"/>
                </a:solidFill>
              </a:rPr>
              <a:t>Linguaggio specialistico</a:t>
            </a:r>
            <a:endParaRPr lang="en-US" sz="1400" dirty="0"/>
          </a:p>
        </p:txBody>
      </p:sp>
      <p:sp>
        <p:nvSpPr>
          <p:cNvPr id="16" name="Text 12"/>
          <p:cNvSpPr txBox="1"/>
          <p:nvPr/>
        </p:nvSpPr>
        <p:spPr>
          <a:xfrm>
            <a:off x="640080" y="1828800"/>
            <a:ext cx="7863840" cy="301752"/>
          </a:xfrm>
          <a:prstGeom prst="rect">
            <a:avLst/>
          </a:prstGeom>
          <a:noFill/>
          <a:ln/>
        </p:spPr>
        <p:txBody>
          <a:bodyPr wrap="square" lIns="0" tIns="0" rIns="0" bIns="0" rtlCol="0" anchor="t"/>
          <a:lstStyle/>
          <a:p>
            <a:pPr indent="0" marL="0">
              <a:buNone/>
            </a:pPr>
            <a:r>
              <a:rPr lang="en-US" sz="1200" dirty="0">
                <a:solidFill>
                  <a:schemeClr val="tx2"/>
                </a:solidFill>
              </a:rPr>
              <a:t>'Risoluzione', 'tolleranza', 'competenza' hanno un significato tecnico preciso. Aiuta un glossario; sui testi specialistici serve chi conosce la materia.</a:t>
            </a:r>
            <a:endParaRPr lang="en-US" sz="1200" dirty="0"/>
          </a:p>
        </p:txBody>
      </p:sp>
      <p:sp>
        <p:nvSpPr>
          <p:cNvPr id="17" name="Omissioni"/>
          <p:cNvSpPr/>
          <p:nvPr/>
        </p:nvSpPr>
        <p:spPr>
          <a:xfrm>
            <a:off x="457200" y="2395728"/>
            <a:ext cx="2615184" cy="1417320"/>
          </a:xfrm>
          <a:prstGeom prst="roundRect">
            <a:avLst>
              <a:gd name="adj" fmla="val 5161"/>
            </a:avLst>
          </a:prstGeom>
          <a:solidFill>
            <a:schemeClr val="bg2"/>
          </a:solidFill>
          <a:ln/>
        </p:spPr>
      </p:sp>
      <p:sp>
        <p:nvSpPr>
          <p:cNvPr id="18" name="cerchio FiMinusCircle"/>
          <p:cNvSpPr/>
          <p:nvPr/>
        </p:nvSpPr>
        <p:spPr>
          <a:xfrm>
            <a:off x="621792" y="2487168"/>
            <a:ext cx="411480" cy="411480"/>
          </a:xfrm>
          <a:prstGeom prst="ellipse">
            <a:avLst/>
          </a:prstGeom>
          <a:solidFill>
            <a:schemeClr val="accent5"/>
          </a:solidFill>
          <a:ln/>
        </p:spPr>
      </p:sp>
      <p:pic>
        <p:nvPicPr>
          <p:cNvPr id="19" name="Image 1" descr="FiMinusCircle">    </p:cNvPr>
          <p:cNvPicPr>
            <a:picLocks noChangeAspect="1"/>
          </p:cNvPicPr>
          <p:nvPr/>
        </p:nvPicPr>
        <p:blipFill>
          <a:blip r:embed="rId2"/>
          <a:stretch>
            <a:fillRect/>
          </a:stretch>
        </p:blipFill>
        <p:spPr>
          <a:xfrm>
            <a:off x="724662" y="2590038"/>
            <a:ext cx="205740" cy="205740"/>
          </a:xfrm>
          <a:prstGeom prst="rect">
            <a:avLst/>
          </a:prstGeom>
        </p:spPr>
      </p:pic>
      <p:sp>
        <p:nvSpPr>
          <p:cNvPr id="20" name="Text 15"/>
          <p:cNvSpPr txBox="1"/>
          <p:nvPr/>
        </p:nvSpPr>
        <p:spPr>
          <a:xfrm>
            <a:off x="1143000" y="2487168"/>
            <a:ext cx="1828800" cy="411480"/>
          </a:xfrm>
          <a:prstGeom prst="rect">
            <a:avLst/>
          </a:prstGeom>
          <a:noFill/>
          <a:ln/>
        </p:spPr>
        <p:txBody>
          <a:bodyPr wrap="square" lIns="0" tIns="0" rIns="0" bIns="0" rtlCol="0" anchor="ctr"/>
          <a:lstStyle/>
          <a:p>
            <a:pPr indent="0" marL="0">
              <a:buNone/>
            </a:pPr>
            <a:r>
              <a:rPr lang="en-US" sz="1500" b="1" dirty="0">
                <a:solidFill>
                  <a:schemeClr val="tx1"/>
                </a:solidFill>
              </a:rPr>
              <a:t>Omissioni</a:t>
            </a:r>
            <a:endParaRPr lang="en-US" sz="1500" dirty="0"/>
          </a:p>
        </p:txBody>
      </p:sp>
      <p:sp>
        <p:nvSpPr>
          <p:cNvPr id="21" name="Text 16"/>
          <p:cNvSpPr txBox="1"/>
          <p:nvPr/>
        </p:nvSpPr>
        <p:spPr>
          <a:xfrm>
            <a:off x="621792" y="2962656"/>
            <a:ext cx="2331720" cy="292608"/>
          </a:xfrm>
          <a:prstGeom prst="rect">
            <a:avLst/>
          </a:prstGeom>
          <a:noFill/>
          <a:ln/>
        </p:spPr>
        <p:txBody>
          <a:bodyPr wrap="square" lIns="0" tIns="0" rIns="0" bIns="0" rtlCol="0" anchor="t"/>
          <a:lstStyle/>
          <a:p>
            <a:pPr indent="0" marL="0">
              <a:buNone/>
            </a:pPr>
            <a:r>
              <a:rPr lang="en-US" sz="1100" dirty="0">
                <a:solidFill>
                  <a:schemeClr val="tx2"/>
                </a:solidFill>
              </a:rPr>
              <a:t>Nel documento, non nel risultato</a:t>
            </a:r>
            <a:endParaRPr lang="en-US" sz="1100" dirty="0"/>
          </a:p>
        </p:txBody>
      </p:sp>
      <p:sp>
        <p:nvSpPr>
          <p:cNvPr id="22" name="Text 17"/>
          <p:cNvSpPr txBox="1"/>
          <p:nvPr/>
        </p:nvSpPr>
        <p:spPr>
          <a:xfrm>
            <a:off x="621792" y="3273552"/>
            <a:ext cx="2331720" cy="475488"/>
          </a:xfrm>
          <a:prstGeom prst="rect">
            <a:avLst/>
          </a:prstGeom>
          <a:noFill/>
          <a:ln/>
        </p:spPr>
        <p:txBody>
          <a:bodyPr wrap="square" lIns="0" tIns="0" rIns="0" bIns="0" rtlCol="0" anchor="t"/>
          <a:lstStyle/>
          <a:p>
            <a:pPr indent="0" marL="0">
              <a:buNone/>
            </a:pPr>
            <a:r>
              <a:rPr lang="en-US" sz="1100" b="1" dirty="0">
                <a:solidFill>
                  <a:schemeClr val="accent1"/>
                </a:solidFill>
              </a:rPr>
              <a:t>Si trovano con: </a:t>
            </a:r>
            <a:pPr indent="0" marL="0">
              <a:buNone/>
            </a:pPr>
            <a:r>
              <a:rPr lang="en-US" sz="1100" dirty="0">
                <a:solidFill>
                  <a:schemeClr val="tx1"/>
                </a:solidFill>
              </a:rPr>
              <a:t>elenco degli elementi da conservare</a:t>
            </a:r>
            <a:endParaRPr lang="en-US" sz="1100" dirty="0"/>
          </a:p>
        </p:txBody>
      </p:sp>
      <p:sp>
        <p:nvSpPr>
          <p:cNvPr id="23" name="Alterazioni"/>
          <p:cNvSpPr/>
          <p:nvPr/>
        </p:nvSpPr>
        <p:spPr>
          <a:xfrm>
            <a:off x="3264408" y="2395728"/>
            <a:ext cx="2615184" cy="1417320"/>
          </a:xfrm>
          <a:prstGeom prst="roundRect">
            <a:avLst>
              <a:gd name="adj" fmla="val 5161"/>
            </a:avLst>
          </a:prstGeom>
          <a:solidFill>
            <a:schemeClr val="bg2"/>
          </a:solidFill>
          <a:ln/>
        </p:spPr>
      </p:sp>
      <p:sp>
        <p:nvSpPr>
          <p:cNvPr id="24" name="cerchio FiShuffle"/>
          <p:cNvSpPr/>
          <p:nvPr/>
        </p:nvSpPr>
        <p:spPr>
          <a:xfrm>
            <a:off x="3429000" y="2487168"/>
            <a:ext cx="411480" cy="411480"/>
          </a:xfrm>
          <a:prstGeom prst="ellipse">
            <a:avLst/>
          </a:prstGeom>
          <a:solidFill>
            <a:schemeClr val="accent5"/>
          </a:solidFill>
          <a:ln/>
        </p:spPr>
      </p:sp>
      <p:pic>
        <p:nvPicPr>
          <p:cNvPr id="25" name="Image 2" descr="FiShuffle">    </p:cNvPr>
          <p:cNvPicPr>
            <a:picLocks noChangeAspect="1"/>
          </p:cNvPicPr>
          <p:nvPr/>
        </p:nvPicPr>
        <p:blipFill>
          <a:blip r:embed="rId3"/>
          <a:stretch>
            <a:fillRect/>
          </a:stretch>
        </p:blipFill>
        <p:spPr>
          <a:xfrm>
            <a:off x="3531870" y="2590038"/>
            <a:ext cx="205740" cy="205740"/>
          </a:xfrm>
          <a:prstGeom prst="rect">
            <a:avLst/>
          </a:prstGeom>
        </p:spPr>
      </p:pic>
      <p:sp>
        <p:nvSpPr>
          <p:cNvPr id="26" name="Text 20"/>
          <p:cNvSpPr txBox="1"/>
          <p:nvPr/>
        </p:nvSpPr>
        <p:spPr>
          <a:xfrm>
            <a:off x="3950208" y="2487168"/>
            <a:ext cx="1828800" cy="411480"/>
          </a:xfrm>
          <a:prstGeom prst="rect">
            <a:avLst/>
          </a:prstGeom>
          <a:noFill/>
          <a:ln/>
        </p:spPr>
        <p:txBody>
          <a:bodyPr wrap="square" lIns="0" tIns="0" rIns="0" bIns="0" rtlCol="0" anchor="ctr"/>
          <a:lstStyle/>
          <a:p>
            <a:pPr indent="0" marL="0">
              <a:buNone/>
            </a:pPr>
            <a:r>
              <a:rPr lang="en-US" sz="1500" b="1" dirty="0">
                <a:solidFill>
                  <a:schemeClr val="tx1"/>
                </a:solidFill>
              </a:rPr>
              <a:t>Alterazioni</a:t>
            </a:r>
            <a:endParaRPr lang="en-US" sz="1500" dirty="0"/>
          </a:p>
        </p:txBody>
      </p:sp>
      <p:sp>
        <p:nvSpPr>
          <p:cNvPr id="27" name="Text 21"/>
          <p:cNvSpPr txBox="1"/>
          <p:nvPr/>
        </p:nvSpPr>
        <p:spPr>
          <a:xfrm>
            <a:off x="3429000" y="2962656"/>
            <a:ext cx="2331720" cy="292608"/>
          </a:xfrm>
          <a:prstGeom prst="rect">
            <a:avLst/>
          </a:prstGeom>
          <a:noFill/>
          <a:ln/>
        </p:spPr>
        <p:txBody>
          <a:bodyPr wrap="square" lIns="0" tIns="0" rIns="0" bIns="0" rtlCol="0" anchor="t"/>
          <a:lstStyle/>
          <a:p>
            <a:pPr indent="0" marL="0">
              <a:buNone/>
            </a:pPr>
            <a:r>
              <a:rPr lang="en-US" sz="1100" dirty="0">
                <a:solidFill>
                  <a:schemeClr val="tx2"/>
                </a:solidFill>
              </a:rPr>
              <a:t>In entrambi, con significato diverso</a:t>
            </a:r>
            <a:endParaRPr lang="en-US" sz="1100" dirty="0"/>
          </a:p>
        </p:txBody>
      </p:sp>
      <p:sp>
        <p:nvSpPr>
          <p:cNvPr id="28" name="Text 22"/>
          <p:cNvSpPr txBox="1"/>
          <p:nvPr/>
        </p:nvSpPr>
        <p:spPr>
          <a:xfrm>
            <a:off x="3429000" y="3273552"/>
            <a:ext cx="2331720" cy="475488"/>
          </a:xfrm>
          <a:prstGeom prst="rect">
            <a:avLst/>
          </a:prstGeom>
          <a:noFill/>
          <a:ln/>
        </p:spPr>
        <p:txBody>
          <a:bodyPr wrap="square" lIns="0" tIns="0" rIns="0" bIns="0" rtlCol="0" anchor="t"/>
          <a:lstStyle/>
          <a:p>
            <a:pPr indent="0" marL="0">
              <a:buNone/>
            </a:pPr>
            <a:r>
              <a:rPr lang="en-US" sz="1100" b="1" dirty="0">
                <a:solidFill>
                  <a:schemeClr val="accent1"/>
                </a:solidFill>
              </a:rPr>
              <a:t>Si trovano con: </a:t>
            </a:r>
            <a:pPr indent="0" marL="0">
              <a:buNone/>
            </a:pPr>
            <a:r>
              <a:rPr lang="en-US" sz="1100" dirty="0">
                <a:solidFill>
                  <a:schemeClr val="tx1"/>
                </a:solidFill>
              </a:rPr>
              <a:t>confronto sui punti critici</a:t>
            </a:r>
            <a:endParaRPr lang="en-US" sz="1100" dirty="0"/>
          </a:p>
        </p:txBody>
      </p:sp>
      <p:sp>
        <p:nvSpPr>
          <p:cNvPr id="29" name="Aggiunte"/>
          <p:cNvSpPr/>
          <p:nvPr/>
        </p:nvSpPr>
        <p:spPr>
          <a:xfrm>
            <a:off x="6071616" y="2395728"/>
            <a:ext cx="2615184" cy="1417320"/>
          </a:xfrm>
          <a:prstGeom prst="roundRect">
            <a:avLst>
              <a:gd name="adj" fmla="val 5161"/>
            </a:avLst>
          </a:prstGeom>
          <a:solidFill>
            <a:schemeClr val="bg2"/>
          </a:solidFill>
          <a:ln/>
        </p:spPr>
      </p:sp>
      <p:sp>
        <p:nvSpPr>
          <p:cNvPr id="30" name="cerchio FiPlusCircle"/>
          <p:cNvSpPr/>
          <p:nvPr/>
        </p:nvSpPr>
        <p:spPr>
          <a:xfrm>
            <a:off x="6236208" y="2487168"/>
            <a:ext cx="411480" cy="411480"/>
          </a:xfrm>
          <a:prstGeom prst="ellipse">
            <a:avLst/>
          </a:prstGeom>
          <a:solidFill>
            <a:schemeClr val="accent5"/>
          </a:solidFill>
          <a:ln/>
        </p:spPr>
      </p:sp>
      <p:pic>
        <p:nvPicPr>
          <p:cNvPr id="31" name="Image 3" descr="FiPlusCircle">    </p:cNvPr>
          <p:cNvPicPr>
            <a:picLocks noChangeAspect="1"/>
          </p:cNvPicPr>
          <p:nvPr/>
        </p:nvPicPr>
        <p:blipFill>
          <a:blip r:embed="rId4"/>
          <a:stretch>
            <a:fillRect/>
          </a:stretch>
        </p:blipFill>
        <p:spPr>
          <a:xfrm>
            <a:off x="6339078" y="2590038"/>
            <a:ext cx="205740" cy="205740"/>
          </a:xfrm>
          <a:prstGeom prst="rect">
            <a:avLst/>
          </a:prstGeom>
        </p:spPr>
      </p:pic>
      <p:sp>
        <p:nvSpPr>
          <p:cNvPr id="32" name="Text 25"/>
          <p:cNvSpPr txBox="1"/>
          <p:nvPr/>
        </p:nvSpPr>
        <p:spPr>
          <a:xfrm>
            <a:off x="6757416" y="2487168"/>
            <a:ext cx="1828800" cy="411480"/>
          </a:xfrm>
          <a:prstGeom prst="rect">
            <a:avLst/>
          </a:prstGeom>
          <a:noFill/>
          <a:ln/>
        </p:spPr>
        <p:txBody>
          <a:bodyPr wrap="square" lIns="0" tIns="0" rIns="0" bIns="0" rtlCol="0" anchor="ctr"/>
          <a:lstStyle/>
          <a:p>
            <a:pPr indent="0" marL="0">
              <a:buNone/>
            </a:pPr>
            <a:r>
              <a:rPr lang="en-US" sz="1500" b="1" dirty="0">
                <a:solidFill>
                  <a:schemeClr val="tx1"/>
                </a:solidFill>
              </a:rPr>
              <a:t>Aggiunte</a:t>
            </a:r>
            <a:endParaRPr lang="en-US" sz="1500" dirty="0"/>
          </a:p>
        </p:txBody>
      </p:sp>
      <p:sp>
        <p:nvSpPr>
          <p:cNvPr id="33" name="Text 26"/>
          <p:cNvSpPr txBox="1"/>
          <p:nvPr/>
        </p:nvSpPr>
        <p:spPr>
          <a:xfrm>
            <a:off x="6236208" y="2962656"/>
            <a:ext cx="2331720" cy="292608"/>
          </a:xfrm>
          <a:prstGeom prst="rect">
            <a:avLst/>
          </a:prstGeom>
          <a:noFill/>
          <a:ln/>
        </p:spPr>
        <p:txBody>
          <a:bodyPr wrap="square" lIns="0" tIns="0" rIns="0" bIns="0" rtlCol="0" anchor="t"/>
          <a:lstStyle/>
          <a:p>
            <a:pPr indent="0" marL="0">
              <a:buNone/>
            </a:pPr>
            <a:r>
              <a:rPr lang="en-US" sz="1100" dirty="0">
                <a:solidFill>
                  <a:schemeClr val="tx2"/>
                </a:solidFill>
              </a:rPr>
              <a:t>Nel risultato, non nel documento</a:t>
            </a:r>
            <a:endParaRPr lang="en-US" sz="1100" dirty="0"/>
          </a:p>
        </p:txBody>
      </p:sp>
      <p:sp>
        <p:nvSpPr>
          <p:cNvPr id="34" name="Text 27"/>
          <p:cNvSpPr txBox="1"/>
          <p:nvPr/>
        </p:nvSpPr>
        <p:spPr>
          <a:xfrm>
            <a:off x="6236208" y="3273552"/>
            <a:ext cx="2331720" cy="475488"/>
          </a:xfrm>
          <a:prstGeom prst="rect">
            <a:avLst/>
          </a:prstGeom>
          <a:noFill/>
          <a:ln/>
        </p:spPr>
        <p:txBody>
          <a:bodyPr wrap="square" lIns="0" tIns="0" rIns="0" bIns="0" rtlCol="0" anchor="t"/>
          <a:lstStyle/>
          <a:p>
            <a:pPr indent="0" marL="0">
              <a:buNone/>
            </a:pPr>
            <a:r>
              <a:rPr lang="en-US" sz="1100" b="1" dirty="0">
                <a:solidFill>
                  <a:schemeClr val="accent1"/>
                </a:solidFill>
              </a:rPr>
              <a:t>Si trovano con: </a:t>
            </a:r>
            <a:pPr indent="0" marL="0">
              <a:buNone/>
            </a:pPr>
            <a:r>
              <a:rPr lang="en-US" sz="1100" dirty="0">
                <a:solidFill>
                  <a:schemeClr val="tx1"/>
                </a:solidFill>
              </a:rPr>
              <a:t>un riferimento per ogni affermazione</a:t>
            </a:r>
            <a:endParaRPr lang="en-US" sz="1100" dirty="0"/>
          </a:p>
        </p:txBody>
      </p:sp>
      <p:sp>
        <p:nvSpPr>
          <p:cNvPr id="35" name="messaggio"/>
          <p:cNvSpPr/>
          <p:nvPr/>
        </p:nvSpPr>
        <p:spPr>
          <a:xfrm>
            <a:off x="457200" y="3950208"/>
            <a:ext cx="8229600" cy="566928"/>
          </a:xfrm>
          <a:prstGeom prst="roundRect">
            <a:avLst>
              <a:gd name="adj" fmla="val 12903"/>
            </a:avLst>
          </a:prstGeom>
          <a:solidFill>
            <a:schemeClr val="tx1"/>
          </a:solidFill>
          <a:ln/>
        </p:spPr>
      </p:sp>
      <p:sp>
        <p:nvSpPr>
          <p:cNvPr id="36" name="Text 29"/>
          <p:cNvSpPr txBox="1"/>
          <p:nvPr/>
        </p:nvSpPr>
        <p:spPr>
          <a:xfrm>
            <a:off x="640080" y="3950208"/>
            <a:ext cx="7863840" cy="566928"/>
          </a:xfrm>
          <a:prstGeom prst="rect">
            <a:avLst/>
          </a:prstGeom>
          <a:noFill/>
          <a:ln/>
        </p:spPr>
        <p:txBody>
          <a:bodyPr wrap="square" lIns="0" tIns="0" rIns="0" bIns="0" rtlCol="0" anchor="ctr"/>
          <a:lstStyle/>
          <a:p>
            <a:pPr indent="0" marL="0">
              <a:buNone/>
            </a:pPr>
            <a:r>
              <a:rPr lang="en-US" sz="1300" dirty="0">
                <a:solidFill>
                  <a:schemeClr val="bg1"/>
                </a:solidFill>
              </a:rPr>
              <a:t>La tracciabilità non è un dettaglio tecnico: è la condizione che rende possibile il controllo.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Quanto controllare: una guida</a:t>
            </a:r>
            <a:endParaRPr lang="en-US" sz="2600" dirty="0"/>
          </a:p>
        </p:txBody>
      </p:sp>
      <p:sp>
        <p:nvSpPr>
          <p:cNvPr id="4" name="modalità Produrre"/>
          <p:cNvSpPr/>
          <p:nvPr/>
        </p:nvSpPr>
        <p:spPr>
          <a:xfrm>
            <a:off x="5907024" y="384048"/>
            <a:ext cx="676656"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907024"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Produrre</a:t>
            </a:r>
            <a:endParaRPr lang="en-US" sz="800" dirty="0"/>
          </a:p>
        </p:txBody>
      </p:sp>
      <p:sp>
        <p:nvSpPr>
          <p:cNvPr id="6" name="modalità Trasformare"/>
          <p:cNvSpPr/>
          <p:nvPr/>
        </p:nvSpPr>
        <p:spPr>
          <a:xfrm>
            <a:off x="6611112" y="384048"/>
            <a:ext cx="676656"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611112"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Trasformare</a:t>
            </a:r>
            <a:endParaRPr lang="en-US" sz="800" dirty="0"/>
          </a:p>
        </p:txBody>
      </p:sp>
      <p:sp>
        <p:nvSpPr>
          <p:cNvPr id="8" name="modalità Analizzare"/>
          <p:cNvSpPr/>
          <p:nvPr/>
        </p:nvSpPr>
        <p:spPr>
          <a:xfrm>
            <a:off x="7315200" y="384048"/>
            <a:ext cx="676656"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315200"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Analizzare</a:t>
            </a:r>
            <a:endParaRPr lang="en-US" sz="800" dirty="0"/>
          </a:p>
        </p:txBody>
      </p:sp>
      <p:sp>
        <p:nvSpPr>
          <p:cNvPr id="10" name="modalità Recuperare"/>
          <p:cNvSpPr/>
          <p:nvPr/>
        </p:nvSpPr>
        <p:spPr>
          <a:xfrm>
            <a:off x="8019288" y="384048"/>
            <a:ext cx="676656"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8019288" y="384048"/>
            <a:ext cx="676656" cy="237744"/>
          </a:xfrm>
          <a:prstGeom prst="rect">
            <a:avLst/>
          </a:prstGeom>
          <a:noFill/>
          <a:ln/>
        </p:spPr>
        <p:txBody>
          <a:bodyPr wrap="square" lIns="0" tIns="0" rIns="0" bIns="0" rtlCol="0" anchor="ctr"/>
          <a:lstStyle/>
          <a:p>
            <a:pPr algn="ctr" indent="0" marL="0">
              <a:buNone/>
            </a:pPr>
            <a:r>
              <a:rPr lang="en-US" sz="800" b="1" dirty="0">
                <a:solidFill>
                  <a:schemeClr val="accent1"/>
                </a:solidFill>
              </a:rPr>
              <a:t>Recuperare</a:t>
            </a:r>
            <a:endParaRPr lang="en-US" sz="8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325880"/>
                <a:gridCol w="2606040"/>
                <a:gridCol w="2514600"/>
                <a:gridCol w="1783080"/>
              </a:tblGrid>
              <a:tr h="566928">
                <a:tc>
                  <a:txBody>
                    <a:bodyPr/>
                    <a:lstStyle/>
                    <a:p>
                      <a:pPr indent="0" marL="0">
                        <a:buNone/>
                      </a:pPr>
                      <a:r>
                        <a:rPr lang="en-US" sz="1100" b="1" dirty="0">
                          <a:solidFill>
                            <a:schemeClr val="bg1"/>
                          </a:solidFill>
                        </a:rPr>
                        <a:t>Livello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Quando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Che cosa fare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Esempio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66928">
                <a:tc>
                  <a:txBody>
                    <a:bodyPr/>
                    <a:lstStyle/>
                    <a:p>
                      <a:pPr indent="0" marL="0">
                        <a:buNone/>
                      </a:pPr>
                      <a:r>
                        <a:rPr lang="en-US" sz="1100" b="1" dirty="0">
                          <a:solidFill>
                            <a:schemeClr val="tx1"/>
                          </a:solidFill>
                        </a:rPr>
                        <a:t>Leggero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Per orientarsi, uso personale, errore facile da correggere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Lettura critica: è plausibile, manca qualcosa?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Capire se leggere un rapporto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100" b="1" dirty="0">
                          <a:solidFill>
                            <a:schemeClr val="tx1"/>
                          </a:solidFill>
                        </a:rPr>
                        <a:t>A campione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Lavoro interno, risultati in serie, bozze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Punti critici e parte dei record, con i riferimenti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Tabella da 200 email</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100" b="1" dirty="0">
                          <a:solidFill>
                            <a:schemeClr val="tx1"/>
                          </a:solidFill>
                        </a:rPr>
                        <a:t>Approfondito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Decisioni, testi all'esterno o con valore legale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Confronto sistematico, esperto se serve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Risposta formale a un fornitore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Text 9"/>
          <p:cNvSpPr txBox="1"/>
          <p:nvPr/>
        </p:nvSpPr>
        <p:spPr>
          <a:xfrm>
            <a:off x="457200" y="3520440"/>
            <a:ext cx="1371600" cy="438912"/>
          </a:xfrm>
          <a:prstGeom prst="rect">
            <a:avLst/>
          </a:prstGeom>
          <a:noFill/>
          <a:ln/>
        </p:spPr>
        <p:txBody>
          <a:bodyPr wrap="square" lIns="0" tIns="0" rIns="0" bIns="0" rtlCol="0" anchor="ctr"/>
          <a:lstStyle/>
          <a:p>
            <a:pPr indent="0" marL="0">
              <a:buNone/>
            </a:pPr>
            <a:r>
              <a:rPr lang="en-US" sz="1300" b="1" dirty="0">
                <a:solidFill>
                  <a:schemeClr val="accent5"/>
                </a:solidFill>
              </a:rPr>
              <a:t>Lo alzano</a:t>
            </a:r>
            <a:endParaRPr lang="en-US" sz="1300" dirty="0"/>
          </a:p>
        </p:txBody>
      </p:sp>
      <p:sp>
        <p:nvSpPr>
          <p:cNvPr id="14" name="blocco Scansioni, documenti lunghi"/>
          <p:cNvSpPr/>
          <p:nvPr/>
        </p:nvSpPr>
        <p:spPr>
          <a:xfrm>
            <a:off x="1828800" y="3520440"/>
            <a:ext cx="2240280" cy="438912"/>
          </a:xfrm>
          <a:prstGeom prst="roundRect">
            <a:avLst>
              <a:gd name="adj" fmla="val 25000"/>
            </a:avLst>
          </a:prstGeom>
          <a:solidFill>
            <a:schemeClr val="bg2"/>
          </a:solidFill>
          <a:ln/>
        </p:spPr>
      </p:sp>
      <p:sp>
        <p:nvSpPr>
          <p:cNvPr id="15" name="Text 11"/>
          <p:cNvSpPr txBox="1"/>
          <p:nvPr/>
        </p:nvSpPr>
        <p:spPr>
          <a:xfrm>
            <a:off x="1874520" y="3520440"/>
            <a:ext cx="2148840" cy="438912"/>
          </a:xfrm>
          <a:prstGeom prst="rect">
            <a:avLst/>
          </a:prstGeom>
          <a:noFill/>
          <a:ln/>
        </p:spPr>
        <p:txBody>
          <a:bodyPr wrap="square" lIns="0" tIns="0" rIns="0" bIns="0" rtlCol="0" anchor="ctr"/>
          <a:lstStyle/>
          <a:p>
            <a:pPr algn="ctr" indent="0" marL="0">
              <a:buNone/>
            </a:pPr>
            <a:r>
              <a:rPr lang="en-US" sz="1100" b="1" dirty="0">
                <a:solidFill>
                  <a:schemeClr val="tx1"/>
                </a:solidFill>
              </a:rPr>
              <a:t>Scansioni, documenti lunghi</a:t>
            </a:r>
            <a:endParaRPr lang="en-US" sz="1100" dirty="0"/>
          </a:p>
        </p:txBody>
      </p:sp>
      <p:sp>
        <p:nvSpPr>
          <p:cNvPr id="16" name="blocco Testi specialistici o legali"/>
          <p:cNvSpPr/>
          <p:nvPr/>
        </p:nvSpPr>
        <p:spPr>
          <a:xfrm>
            <a:off x="4160520" y="3520440"/>
            <a:ext cx="2240280" cy="438912"/>
          </a:xfrm>
          <a:prstGeom prst="roundRect">
            <a:avLst>
              <a:gd name="adj" fmla="val 25000"/>
            </a:avLst>
          </a:prstGeom>
          <a:solidFill>
            <a:schemeClr val="bg2"/>
          </a:solidFill>
          <a:ln/>
        </p:spPr>
      </p:sp>
      <p:sp>
        <p:nvSpPr>
          <p:cNvPr id="17" name="Text 13"/>
          <p:cNvSpPr txBox="1"/>
          <p:nvPr/>
        </p:nvSpPr>
        <p:spPr>
          <a:xfrm>
            <a:off x="4206240" y="3520440"/>
            <a:ext cx="2148840" cy="438912"/>
          </a:xfrm>
          <a:prstGeom prst="rect">
            <a:avLst/>
          </a:prstGeom>
          <a:noFill/>
          <a:ln/>
        </p:spPr>
        <p:txBody>
          <a:bodyPr wrap="square" lIns="0" tIns="0" rIns="0" bIns="0" rtlCol="0" anchor="ctr"/>
          <a:lstStyle/>
          <a:p>
            <a:pPr algn="ctr" indent="0" marL="0">
              <a:buNone/>
            </a:pPr>
            <a:r>
              <a:rPr lang="en-US" sz="1100" b="1" dirty="0">
                <a:solidFill>
                  <a:schemeClr val="tx1"/>
                </a:solidFill>
              </a:rPr>
              <a:t>Testi specialistici o legali</a:t>
            </a:r>
            <a:endParaRPr lang="en-US" sz="1100" dirty="0"/>
          </a:p>
        </p:txBody>
      </p:sp>
      <p:sp>
        <p:nvSpPr>
          <p:cNvPr id="18" name="blocco Nessun riferimento"/>
          <p:cNvSpPr/>
          <p:nvPr/>
        </p:nvSpPr>
        <p:spPr>
          <a:xfrm>
            <a:off x="6492240" y="3520440"/>
            <a:ext cx="2194560" cy="438912"/>
          </a:xfrm>
          <a:prstGeom prst="roundRect">
            <a:avLst>
              <a:gd name="adj" fmla="val 25000"/>
            </a:avLst>
          </a:prstGeom>
          <a:solidFill>
            <a:schemeClr val="bg2"/>
          </a:solidFill>
          <a:ln/>
        </p:spPr>
      </p:sp>
      <p:sp>
        <p:nvSpPr>
          <p:cNvPr id="19" name="Text 15"/>
          <p:cNvSpPr txBox="1"/>
          <p:nvPr/>
        </p:nvSpPr>
        <p:spPr>
          <a:xfrm>
            <a:off x="6537960" y="3520440"/>
            <a:ext cx="2103120" cy="438912"/>
          </a:xfrm>
          <a:prstGeom prst="rect">
            <a:avLst/>
          </a:prstGeom>
          <a:noFill/>
          <a:ln/>
        </p:spPr>
        <p:txBody>
          <a:bodyPr wrap="square" lIns="0" tIns="0" rIns="0" bIns="0" rtlCol="0" anchor="ctr"/>
          <a:lstStyle/>
          <a:p>
            <a:pPr algn="ctr" indent="0" marL="0">
              <a:buNone/>
            </a:pPr>
            <a:r>
              <a:rPr lang="en-US" sz="1100" b="1" dirty="0">
                <a:solidFill>
                  <a:schemeClr val="tx1"/>
                </a:solidFill>
              </a:rPr>
              <a:t>Nessun riferimento</a:t>
            </a:r>
            <a:endParaRPr lang="en-US" sz="1100" dirty="0"/>
          </a:p>
        </p:txBody>
      </p:sp>
      <p:sp>
        <p:nvSpPr>
          <p:cNvPr id="20" name="Text 16"/>
          <p:cNvSpPr txBox="1"/>
          <p:nvPr/>
        </p:nvSpPr>
        <p:spPr>
          <a:xfrm>
            <a:off x="457200" y="4069080"/>
            <a:ext cx="1371600" cy="438912"/>
          </a:xfrm>
          <a:prstGeom prst="rect">
            <a:avLst/>
          </a:prstGeom>
          <a:noFill/>
          <a:ln/>
        </p:spPr>
        <p:txBody>
          <a:bodyPr wrap="square" lIns="0" tIns="0" rIns="0" bIns="0" rtlCol="0" anchor="ctr"/>
          <a:lstStyle/>
          <a:p>
            <a:pPr indent="0" marL="0">
              <a:buNone/>
            </a:pPr>
            <a:r>
              <a:rPr lang="en-US" sz="1300" b="1" dirty="0">
                <a:solidFill>
                  <a:schemeClr val="accent1"/>
                </a:solidFill>
              </a:rPr>
              <a:t>Lo abbassano</a:t>
            </a:r>
            <a:endParaRPr lang="en-US" sz="1300" dirty="0"/>
          </a:p>
        </p:txBody>
      </p:sp>
      <p:sp>
        <p:nvSpPr>
          <p:cNvPr id="21" name="blocco Controlli già previsti dal processo"/>
          <p:cNvSpPr/>
          <p:nvPr/>
        </p:nvSpPr>
        <p:spPr>
          <a:xfrm>
            <a:off x="1828800" y="4069080"/>
            <a:ext cx="3383280" cy="438912"/>
          </a:xfrm>
          <a:prstGeom prst="roundRect">
            <a:avLst>
              <a:gd name="adj" fmla="val 25000"/>
            </a:avLst>
          </a:prstGeom>
          <a:solidFill>
            <a:schemeClr val="accent6"/>
          </a:solidFill>
          <a:ln/>
        </p:spPr>
      </p:sp>
      <p:sp>
        <p:nvSpPr>
          <p:cNvPr id="22" name="Text 18"/>
          <p:cNvSpPr txBox="1"/>
          <p:nvPr/>
        </p:nvSpPr>
        <p:spPr>
          <a:xfrm>
            <a:off x="1874520" y="4069080"/>
            <a:ext cx="3291840" cy="438912"/>
          </a:xfrm>
          <a:prstGeom prst="rect">
            <a:avLst/>
          </a:prstGeom>
          <a:noFill/>
          <a:ln/>
        </p:spPr>
        <p:txBody>
          <a:bodyPr wrap="square" lIns="0" tIns="0" rIns="0" bIns="0" rtlCol="0" anchor="ctr"/>
          <a:lstStyle/>
          <a:p>
            <a:pPr algn="ctr" indent="0" marL="0">
              <a:buNone/>
            </a:pPr>
            <a:r>
              <a:rPr lang="en-US" sz="1100" b="1" dirty="0">
                <a:solidFill>
                  <a:schemeClr val="tx1"/>
                </a:solidFill>
              </a:rPr>
              <a:t>Controlli già previsti dal processo</a:t>
            </a:r>
            <a:endParaRPr lang="en-US" sz="1100" dirty="0"/>
          </a:p>
        </p:txBody>
      </p:sp>
      <p:sp>
        <p:nvSpPr>
          <p:cNvPr id="23" name="blocco Risultato facilmente reversibile"/>
          <p:cNvSpPr/>
          <p:nvPr/>
        </p:nvSpPr>
        <p:spPr>
          <a:xfrm>
            <a:off x="5303520" y="4069080"/>
            <a:ext cx="3383280" cy="438912"/>
          </a:xfrm>
          <a:prstGeom prst="roundRect">
            <a:avLst>
              <a:gd name="adj" fmla="val 25000"/>
            </a:avLst>
          </a:prstGeom>
          <a:solidFill>
            <a:schemeClr val="accent6"/>
          </a:solidFill>
          <a:ln/>
        </p:spPr>
      </p:sp>
      <p:sp>
        <p:nvSpPr>
          <p:cNvPr id="24" name="Text 20"/>
          <p:cNvSpPr txBox="1"/>
          <p:nvPr/>
        </p:nvSpPr>
        <p:spPr>
          <a:xfrm>
            <a:off x="5349240" y="4069080"/>
            <a:ext cx="3291840" cy="438912"/>
          </a:xfrm>
          <a:prstGeom prst="rect">
            <a:avLst/>
          </a:prstGeom>
          <a:noFill/>
          <a:ln/>
        </p:spPr>
        <p:txBody>
          <a:bodyPr wrap="square" lIns="0" tIns="0" rIns="0" bIns="0" rtlCol="0" anchor="ctr"/>
          <a:lstStyle/>
          <a:p>
            <a:pPr algn="ctr" indent="0" marL="0">
              <a:buNone/>
            </a:pPr>
            <a:r>
              <a:rPr lang="en-US" sz="1100" b="1" dirty="0">
                <a:solidFill>
                  <a:schemeClr val="tx1"/>
                </a:solidFill>
              </a:rPr>
              <a:t>Risultato facilmente reversibile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Poter caricare un documento non garantisce che il sistema ne abbia elaborato tutte le parti, interpretato correttamente il contenuto e preservato il significato.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8.8  ·  Limiti e condizioni di efficacia</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apprendimento 8.1"/>
          <p:cNvSpPr/>
          <p:nvPr/>
        </p:nvSpPr>
        <p:spPr>
          <a:xfrm>
            <a:off x="457200" y="1051560"/>
            <a:ext cx="4023360" cy="749808"/>
          </a:xfrm>
          <a:prstGeom prst="roundRect">
            <a:avLst>
              <a:gd name="adj" fmla="val 9756"/>
            </a:avLst>
          </a:prstGeom>
          <a:solidFill>
            <a:schemeClr val="bg2"/>
          </a:solidFill>
          <a:ln/>
        </p:spPr>
      </p:sp>
      <p:sp>
        <p:nvSpPr>
          <p:cNvPr id="5" name="blocco 8.1"/>
          <p:cNvSpPr/>
          <p:nvPr/>
        </p:nvSpPr>
        <p:spPr>
          <a:xfrm>
            <a:off x="566928" y="1234440"/>
            <a:ext cx="658368" cy="384048"/>
          </a:xfrm>
          <a:prstGeom prst="roundRect">
            <a:avLst>
              <a:gd name="adj" fmla="val 28571"/>
            </a:avLst>
          </a:prstGeom>
          <a:solidFill>
            <a:schemeClr val="accent1"/>
          </a:solidFill>
          <a:ln/>
        </p:spPr>
      </p:sp>
      <p:sp>
        <p:nvSpPr>
          <p:cNvPr id="6" name="Text 3"/>
          <p:cNvSpPr txBox="1"/>
          <p:nvPr/>
        </p:nvSpPr>
        <p:spPr>
          <a:xfrm>
            <a:off x="612648" y="1234440"/>
            <a:ext cx="566928" cy="384048"/>
          </a:xfrm>
          <a:prstGeom prst="rect">
            <a:avLst/>
          </a:prstGeom>
          <a:noFill/>
          <a:ln/>
        </p:spPr>
        <p:txBody>
          <a:bodyPr wrap="square" lIns="0" tIns="0" rIns="0" bIns="0" rtlCol="0" anchor="ctr"/>
          <a:lstStyle/>
          <a:p>
            <a:pPr algn="ctr" indent="0" marL="0">
              <a:buNone/>
            </a:pPr>
            <a:r>
              <a:rPr lang="en-US" sz="1200" b="1" dirty="0">
                <a:solidFill>
                  <a:schemeClr val="bg1"/>
                </a:solidFill>
              </a:rPr>
              <a:t>8.1</a:t>
            </a:r>
            <a:endParaRPr lang="en-US" sz="1200" dirty="0"/>
          </a:p>
        </p:txBody>
      </p:sp>
      <p:sp>
        <p:nvSpPr>
          <p:cNvPr id="7" name="Text 4"/>
          <p:cNvSpPr txBox="1"/>
          <p:nvPr/>
        </p:nvSpPr>
        <p:spPr>
          <a:xfrm>
            <a:off x="1371600" y="1051560"/>
            <a:ext cx="3017520" cy="749808"/>
          </a:xfrm>
          <a:prstGeom prst="rect">
            <a:avLst/>
          </a:prstGeom>
          <a:noFill/>
          <a:ln/>
        </p:spPr>
        <p:txBody>
          <a:bodyPr wrap="square" lIns="0" tIns="0" rIns="0" bIns="0" rtlCol="0" anchor="ctr"/>
          <a:lstStyle/>
          <a:p>
            <a:pPr indent="0" marL="0">
              <a:buNone/>
            </a:pPr>
            <a:r>
              <a:rPr lang="en-US" sz="1200" dirty="0">
                <a:solidFill>
                  <a:schemeClr val="tx1"/>
                </a:solidFill>
              </a:rPr>
              <a:t>Testi in meno tempo, con materiale, destinatario ed esempi giusti</a:t>
            </a:r>
            <a:endParaRPr lang="en-US" sz="1200" dirty="0"/>
          </a:p>
        </p:txBody>
      </p:sp>
      <p:sp>
        <p:nvSpPr>
          <p:cNvPr id="8" name="apprendimento 8.2"/>
          <p:cNvSpPr/>
          <p:nvPr/>
        </p:nvSpPr>
        <p:spPr>
          <a:xfrm>
            <a:off x="457200" y="1901952"/>
            <a:ext cx="4023360" cy="749808"/>
          </a:xfrm>
          <a:prstGeom prst="roundRect">
            <a:avLst>
              <a:gd name="adj" fmla="val 9756"/>
            </a:avLst>
          </a:prstGeom>
          <a:solidFill>
            <a:schemeClr val="bg1"/>
          </a:solidFill>
          <a:ln/>
        </p:spPr>
      </p:sp>
      <p:sp>
        <p:nvSpPr>
          <p:cNvPr id="9" name="blocco 8.2"/>
          <p:cNvSpPr/>
          <p:nvPr/>
        </p:nvSpPr>
        <p:spPr>
          <a:xfrm>
            <a:off x="566928" y="2084832"/>
            <a:ext cx="658368" cy="384048"/>
          </a:xfrm>
          <a:prstGeom prst="roundRect">
            <a:avLst>
              <a:gd name="adj" fmla="val 28571"/>
            </a:avLst>
          </a:prstGeom>
          <a:solidFill>
            <a:schemeClr val="accent1"/>
          </a:solidFill>
          <a:ln/>
        </p:spPr>
      </p:sp>
      <p:sp>
        <p:nvSpPr>
          <p:cNvPr id="10" name="Text 7"/>
          <p:cNvSpPr txBox="1"/>
          <p:nvPr/>
        </p:nvSpPr>
        <p:spPr>
          <a:xfrm>
            <a:off x="612648" y="2084832"/>
            <a:ext cx="566928" cy="384048"/>
          </a:xfrm>
          <a:prstGeom prst="rect">
            <a:avLst/>
          </a:prstGeom>
          <a:noFill/>
          <a:ln/>
        </p:spPr>
        <p:txBody>
          <a:bodyPr wrap="square" lIns="0" tIns="0" rIns="0" bIns="0" rtlCol="0" anchor="ctr"/>
          <a:lstStyle/>
          <a:p>
            <a:pPr algn="ctr" indent="0" marL="0">
              <a:buNone/>
            </a:pPr>
            <a:r>
              <a:rPr lang="en-US" sz="1200" b="1" dirty="0">
                <a:solidFill>
                  <a:schemeClr val="bg1"/>
                </a:solidFill>
              </a:rPr>
              <a:t>8.2</a:t>
            </a:r>
            <a:endParaRPr lang="en-US" sz="1200" dirty="0"/>
          </a:p>
        </p:txBody>
      </p:sp>
      <p:sp>
        <p:nvSpPr>
          <p:cNvPr id="11" name="Text 8"/>
          <p:cNvSpPr txBox="1"/>
          <p:nvPr/>
        </p:nvSpPr>
        <p:spPr>
          <a:xfrm>
            <a:off x="1371600" y="1901952"/>
            <a:ext cx="3017520" cy="749808"/>
          </a:xfrm>
          <a:prstGeom prst="rect">
            <a:avLst/>
          </a:prstGeom>
          <a:noFill/>
          <a:ln/>
        </p:spPr>
        <p:txBody>
          <a:bodyPr wrap="square" lIns="0" tIns="0" rIns="0" bIns="0" rtlCol="0" anchor="ctr"/>
          <a:lstStyle/>
          <a:p>
            <a:pPr indent="0" marL="0">
              <a:buNone/>
            </a:pPr>
            <a:r>
              <a:rPr lang="en-US" sz="1200" dirty="0">
                <a:solidFill>
                  <a:schemeClr val="tx1"/>
                </a:solidFill>
              </a:rPr>
              <a:t>Trasformare testi esistenti, dicendo che cosa non deve cambiare</a:t>
            </a:r>
            <a:endParaRPr lang="en-US" sz="1200" dirty="0"/>
          </a:p>
        </p:txBody>
      </p:sp>
      <p:sp>
        <p:nvSpPr>
          <p:cNvPr id="12" name="apprendimento 8.3"/>
          <p:cNvSpPr/>
          <p:nvPr/>
        </p:nvSpPr>
        <p:spPr>
          <a:xfrm>
            <a:off x="457200" y="2752344"/>
            <a:ext cx="4023360" cy="749808"/>
          </a:xfrm>
          <a:prstGeom prst="roundRect">
            <a:avLst>
              <a:gd name="adj" fmla="val 9756"/>
            </a:avLst>
          </a:prstGeom>
          <a:solidFill>
            <a:schemeClr val="bg2"/>
          </a:solidFill>
          <a:ln/>
        </p:spPr>
      </p:sp>
      <p:sp>
        <p:nvSpPr>
          <p:cNvPr id="13" name="blocco 8.3"/>
          <p:cNvSpPr/>
          <p:nvPr/>
        </p:nvSpPr>
        <p:spPr>
          <a:xfrm>
            <a:off x="566928" y="2935224"/>
            <a:ext cx="658368" cy="384048"/>
          </a:xfrm>
          <a:prstGeom prst="roundRect">
            <a:avLst>
              <a:gd name="adj" fmla="val 28571"/>
            </a:avLst>
          </a:prstGeom>
          <a:solidFill>
            <a:schemeClr val="accent1"/>
          </a:solidFill>
          <a:ln/>
        </p:spPr>
      </p:sp>
      <p:sp>
        <p:nvSpPr>
          <p:cNvPr id="14" name="Text 11"/>
          <p:cNvSpPr txBox="1"/>
          <p:nvPr/>
        </p:nvSpPr>
        <p:spPr>
          <a:xfrm>
            <a:off x="612648" y="2935224"/>
            <a:ext cx="566928" cy="384048"/>
          </a:xfrm>
          <a:prstGeom prst="rect">
            <a:avLst/>
          </a:prstGeom>
          <a:noFill/>
          <a:ln/>
        </p:spPr>
        <p:txBody>
          <a:bodyPr wrap="square" lIns="0" tIns="0" rIns="0" bIns="0" rtlCol="0" anchor="ctr"/>
          <a:lstStyle/>
          <a:p>
            <a:pPr algn="ctr" indent="0" marL="0">
              <a:buNone/>
            </a:pPr>
            <a:r>
              <a:rPr lang="en-US" sz="1200" b="1" dirty="0">
                <a:solidFill>
                  <a:schemeClr val="bg1"/>
                </a:solidFill>
              </a:rPr>
              <a:t>8.3</a:t>
            </a:r>
            <a:endParaRPr lang="en-US" sz="1200" dirty="0"/>
          </a:p>
        </p:txBody>
      </p:sp>
      <p:sp>
        <p:nvSpPr>
          <p:cNvPr id="15" name="Text 12"/>
          <p:cNvSpPr txBox="1"/>
          <p:nvPr/>
        </p:nvSpPr>
        <p:spPr>
          <a:xfrm>
            <a:off x="1371600" y="2752344"/>
            <a:ext cx="3017520" cy="749808"/>
          </a:xfrm>
          <a:prstGeom prst="rect">
            <a:avLst/>
          </a:prstGeom>
          <a:noFill/>
          <a:ln/>
        </p:spPr>
        <p:txBody>
          <a:bodyPr wrap="square" lIns="0" tIns="0" rIns="0" bIns="0" rtlCol="0" anchor="ctr"/>
          <a:lstStyle/>
          <a:p>
            <a:pPr indent="0" marL="0">
              <a:buNone/>
            </a:pPr>
            <a:r>
              <a:rPr lang="en-US" sz="1200" dirty="0">
                <a:solidFill>
                  <a:schemeClr val="tx1"/>
                </a:solidFill>
              </a:rPr>
              <a:t>Sintesi mirate allo scopo, con riferimenti alle fonti</a:t>
            </a:r>
            <a:endParaRPr lang="en-US" sz="1200" dirty="0"/>
          </a:p>
        </p:txBody>
      </p:sp>
      <p:sp>
        <p:nvSpPr>
          <p:cNvPr id="16" name="apprendimento 8.4"/>
          <p:cNvSpPr/>
          <p:nvPr/>
        </p:nvSpPr>
        <p:spPr>
          <a:xfrm>
            <a:off x="457200" y="3602736"/>
            <a:ext cx="4023360" cy="749808"/>
          </a:xfrm>
          <a:prstGeom prst="roundRect">
            <a:avLst>
              <a:gd name="adj" fmla="val 9756"/>
            </a:avLst>
          </a:prstGeom>
          <a:solidFill>
            <a:schemeClr val="bg1"/>
          </a:solidFill>
          <a:ln/>
        </p:spPr>
      </p:sp>
      <p:sp>
        <p:nvSpPr>
          <p:cNvPr id="17" name="blocco 8.4"/>
          <p:cNvSpPr/>
          <p:nvPr/>
        </p:nvSpPr>
        <p:spPr>
          <a:xfrm>
            <a:off x="566928" y="3785616"/>
            <a:ext cx="658368" cy="384048"/>
          </a:xfrm>
          <a:prstGeom prst="roundRect">
            <a:avLst>
              <a:gd name="adj" fmla="val 28571"/>
            </a:avLst>
          </a:prstGeom>
          <a:solidFill>
            <a:schemeClr val="accent1"/>
          </a:solidFill>
          <a:ln/>
        </p:spPr>
      </p:sp>
      <p:sp>
        <p:nvSpPr>
          <p:cNvPr id="18" name="Text 15"/>
          <p:cNvSpPr txBox="1"/>
          <p:nvPr/>
        </p:nvSpPr>
        <p:spPr>
          <a:xfrm>
            <a:off x="612648" y="3785616"/>
            <a:ext cx="566928" cy="384048"/>
          </a:xfrm>
          <a:prstGeom prst="rect">
            <a:avLst/>
          </a:prstGeom>
          <a:noFill/>
          <a:ln/>
        </p:spPr>
        <p:txBody>
          <a:bodyPr wrap="square" lIns="0" tIns="0" rIns="0" bIns="0" rtlCol="0" anchor="ctr"/>
          <a:lstStyle/>
          <a:p>
            <a:pPr algn="ctr" indent="0" marL="0">
              <a:buNone/>
            </a:pPr>
            <a:r>
              <a:rPr lang="en-US" sz="1200" b="1" dirty="0">
                <a:solidFill>
                  <a:schemeClr val="bg1"/>
                </a:solidFill>
              </a:rPr>
              <a:t>8.4</a:t>
            </a:r>
            <a:endParaRPr lang="en-US" sz="1200" dirty="0"/>
          </a:p>
        </p:txBody>
      </p:sp>
      <p:sp>
        <p:nvSpPr>
          <p:cNvPr id="19" name="Text 16"/>
          <p:cNvSpPr txBox="1"/>
          <p:nvPr/>
        </p:nvSpPr>
        <p:spPr>
          <a:xfrm>
            <a:off x="1371600" y="3602736"/>
            <a:ext cx="3017520" cy="749808"/>
          </a:xfrm>
          <a:prstGeom prst="rect">
            <a:avLst/>
          </a:prstGeom>
          <a:noFill/>
          <a:ln/>
        </p:spPr>
        <p:txBody>
          <a:bodyPr wrap="square" lIns="0" tIns="0" rIns="0" bIns="0" rtlCol="0" anchor="ctr"/>
          <a:lstStyle/>
          <a:p>
            <a:pPr indent="0" marL="0">
              <a:buNone/>
            </a:pPr>
            <a:r>
              <a:rPr lang="en-US" sz="1200" dirty="0">
                <a:solidFill>
                  <a:schemeClr val="tx1"/>
                </a:solidFill>
              </a:rPr>
              <a:t>Da testi liberi a dati utilizzabili, validati prima dell'uso</a:t>
            </a:r>
            <a:endParaRPr lang="en-US" sz="1200" dirty="0"/>
          </a:p>
        </p:txBody>
      </p:sp>
      <p:sp>
        <p:nvSpPr>
          <p:cNvPr id="20" name="apprendimento 8.5"/>
          <p:cNvSpPr/>
          <p:nvPr/>
        </p:nvSpPr>
        <p:spPr>
          <a:xfrm>
            <a:off x="4663440" y="1051560"/>
            <a:ext cx="4023360" cy="749808"/>
          </a:xfrm>
          <a:prstGeom prst="roundRect">
            <a:avLst>
              <a:gd name="adj" fmla="val 9756"/>
            </a:avLst>
          </a:prstGeom>
          <a:solidFill>
            <a:schemeClr val="bg2"/>
          </a:solidFill>
          <a:ln/>
        </p:spPr>
      </p:sp>
      <p:sp>
        <p:nvSpPr>
          <p:cNvPr id="21" name="blocco 8.5"/>
          <p:cNvSpPr/>
          <p:nvPr/>
        </p:nvSpPr>
        <p:spPr>
          <a:xfrm>
            <a:off x="4773168" y="1234440"/>
            <a:ext cx="658368" cy="384048"/>
          </a:xfrm>
          <a:prstGeom prst="roundRect">
            <a:avLst>
              <a:gd name="adj" fmla="val 28571"/>
            </a:avLst>
          </a:prstGeom>
          <a:solidFill>
            <a:schemeClr val="accent1"/>
          </a:solidFill>
          <a:ln/>
        </p:spPr>
      </p:sp>
      <p:sp>
        <p:nvSpPr>
          <p:cNvPr id="22" name="Text 19"/>
          <p:cNvSpPr txBox="1"/>
          <p:nvPr/>
        </p:nvSpPr>
        <p:spPr>
          <a:xfrm>
            <a:off x="4818888" y="1234440"/>
            <a:ext cx="566928" cy="384048"/>
          </a:xfrm>
          <a:prstGeom prst="rect">
            <a:avLst/>
          </a:prstGeom>
          <a:noFill/>
          <a:ln/>
        </p:spPr>
        <p:txBody>
          <a:bodyPr wrap="square" lIns="0" tIns="0" rIns="0" bIns="0" rtlCol="0" anchor="ctr"/>
          <a:lstStyle/>
          <a:p>
            <a:pPr algn="ctr" indent="0" marL="0">
              <a:buNone/>
            </a:pPr>
            <a:r>
              <a:rPr lang="en-US" sz="1200" b="1" dirty="0">
                <a:solidFill>
                  <a:schemeClr val="bg1"/>
                </a:solidFill>
              </a:rPr>
              <a:t>8.5</a:t>
            </a:r>
            <a:endParaRPr lang="en-US" sz="1200" dirty="0"/>
          </a:p>
        </p:txBody>
      </p:sp>
      <p:sp>
        <p:nvSpPr>
          <p:cNvPr id="23" name="Text 20"/>
          <p:cNvSpPr txBox="1"/>
          <p:nvPr/>
        </p:nvSpPr>
        <p:spPr>
          <a:xfrm>
            <a:off x="5577840" y="1051560"/>
            <a:ext cx="3017520" cy="749808"/>
          </a:xfrm>
          <a:prstGeom prst="rect">
            <a:avLst/>
          </a:prstGeom>
          <a:noFill/>
          <a:ln/>
        </p:spPr>
        <p:txBody>
          <a:bodyPr wrap="square" lIns="0" tIns="0" rIns="0" bIns="0" rtlCol="0" anchor="ctr"/>
          <a:lstStyle/>
          <a:p>
            <a:pPr indent="0" marL="0">
              <a:buNone/>
            </a:pPr>
            <a:r>
              <a:rPr lang="en-US" sz="1200" dirty="0">
                <a:solidFill>
                  <a:schemeClr val="tx1"/>
                </a:solidFill>
              </a:rPr>
              <a:t>Confronti che evidenziano le differenze rilevanti per decidere</a:t>
            </a:r>
            <a:endParaRPr lang="en-US" sz="1200" dirty="0"/>
          </a:p>
        </p:txBody>
      </p:sp>
      <p:sp>
        <p:nvSpPr>
          <p:cNvPr id="24" name="apprendimento 8.6"/>
          <p:cNvSpPr/>
          <p:nvPr/>
        </p:nvSpPr>
        <p:spPr>
          <a:xfrm>
            <a:off x="4663440" y="1901952"/>
            <a:ext cx="4023360" cy="749808"/>
          </a:xfrm>
          <a:prstGeom prst="roundRect">
            <a:avLst>
              <a:gd name="adj" fmla="val 9756"/>
            </a:avLst>
          </a:prstGeom>
          <a:solidFill>
            <a:schemeClr val="bg1"/>
          </a:solidFill>
          <a:ln/>
        </p:spPr>
      </p:sp>
      <p:sp>
        <p:nvSpPr>
          <p:cNvPr id="25" name="blocco 8.6"/>
          <p:cNvSpPr/>
          <p:nvPr/>
        </p:nvSpPr>
        <p:spPr>
          <a:xfrm>
            <a:off x="4773168" y="2084832"/>
            <a:ext cx="658368" cy="384048"/>
          </a:xfrm>
          <a:prstGeom prst="roundRect">
            <a:avLst>
              <a:gd name="adj" fmla="val 28571"/>
            </a:avLst>
          </a:prstGeom>
          <a:solidFill>
            <a:schemeClr val="accent1"/>
          </a:solidFill>
          <a:ln/>
        </p:spPr>
      </p:sp>
      <p:sp>
        <p:nvSpPr>
          <p:cNvPr id="26" name="Text 23"/>
          <p:cNvSpPr txBox="1"/>
          <p:nvPr/>
        </p:nvSpPr>
        <p:spPr>
          <a:xfrm>
            <a:off x="4818888" y="2084832"/>
            <a:ext cx="566928" cy="384048"/>
          </a:xfrm>
          <a:prstGeom prst="rect">
            <a:avLst/>
          </a:prstGeom>
          <a:noFill/>
          <a:ln/>
        </p:spPr>
        <p:txBody>
          <a:bodyPr wrap="square" lIns="0" tIns="0" rIns="0" bIns="0" rtlCol="0" anchor="ctr"/>
          <a:lstStyle/>
          <a:p>
            <a:pPr algn="ctr" indent="0" marL="0">
              <a:buNone/>
            </a:pPr>
            <a:r>
              <a:rPr lang="en-US" sz="1200" b="1" dirty="0">
                <a:solidFill>
                  <a:schemeClr val="bg1"/>
                </a:solidFill>
              </a:rPr>
              <a:t>8.6</a:t>
            </a:r>
            <a:endParaRPr lang="en-US" sz="1200" dirty="0"/>
          </a:p>
        </p:txBody>
      </p:sp>
      <p:sp>
        <p:nvSpPr>
          <p:cNvPr id="27" name="Text 24"/>
          <p:cNvSpPr txBox="1"/>
          <p:nvPr/>
        </p:nvSpPr>
        <p:spPr>
          <a:xfrm>
            <a:off x="5577840" y="1901952"/>
            <a:ext cx="3017520" cy="749808"/>
          </a:xfrm>
          <a:prstGeom prst="rect">
            <a:avLst/>
          </a:prstGeom>
          <a:noFill/>
          <a:ln/>
        </p:spPr>
        <p:txBody>
          <a:bodyPr wrap="square" lIns="0" tIns="0" rIns="0" bIns="0" rtlCol="0" anchor="ctr"/>
          <a:lstStyle/>
          <a:p>
            <a:pPr indent="0" marL="0">
              <a:buNone/>
            </a:pPr>
            <a:r>
              <a:rPr lang="en-US" sz="1200" dirty="0">
                <a:solidFill>
                  <a:schemeClr val="tx1"/>
                </a:solidFill>
              </a:rPr>
              <a:t>Ricerca rapida, distinguendo conoscenza del modello e fonti</a:t>
            </a:r>
            <a:endParaRPr lang="en-US" sz="1200" dirty="0"/>
          </a:p>
        </p:txBody>
      </p:sp>
      <p:sp>
        <p:nvSpPr>
          <p:cNvPr id="28" name="apprendimento 8.7"/>
          <p:cNvSpPr/>
          <p:nvPr/>
        </p:nvSpPr>
        <p:spPr>
          <a:xfrm>
            <a:off x="4663440" y="2752344"/>
            <a:ext cx="4023360" cy="749808"/>
          </a:xfrm>
          <a:prstGeom prst="roundRect">
            <a:avLst>
              <a:gd name="adj" fmla="val 9756"/>
            </a:avLst>
          </a:prstGeom>
          <a:solidFill>
            <a:schemeClr val="bg2"/>
          </a:solidFill>
          <a:ln/>
        </p:spPr>
      </p:sp>
      <p:sp>
        <p:nvSpPr>
          <p:cNvPr id="29" name="blocco 8.7"/>
          <p:cNvSpPr/>
          <p:nvPr/>
        </p:nvSpPr>
        <p:spPr>
          <a:xfrm>
            <a:off x="4773168" y="2935224"/>
            <a:ext cx="658368" cy="384048"/>
          </a:xfrm>
          <a:prstGeom prst="roundRect">
            <a:avLst>
              <a:gd name="adj" fmla="val 28571"/>
            </a:avLst>
          </a:prstGeom>
          <a:solidFill>
            <a:schemeClr val="accent1"/>
          </a:solidFill>
          <a:ln/>
        </p:spPr>
      </p:sp>
      <p:sp>
        <p:nvSpPr>
          <p:cNvPr id="30" name="Text 27"/>
          <p:cNvSpPr txBox="1"/>
          <p:nvPr/>
        </p:nvSpPr>
        <p:spPr>
          <a:xfrm>
            <a:off x="4818888" y="2935224"/>
            <a:ext cx="566928" cy="384048"/>
          </a:xfrm>
          <a:prstGeom prst="rect">
            <a:avLst/>
          </a:prstGeom>
          <a:noFill/>
          <a:ln/>
        </p:spPr>
        <p:txBody>
          <a:bodyPr wrap="square" lIns="0" tIns="0" rIns="0" bIns="0" rtlCol="0" anchor="ctr"/>
          <a:lstStyle/>
          <a:p>
            <a:pPr algn="ctr" indent="0" marL="0">
              <a:buNone/>
            </a:pPr>
            <a:r>
              <a:rPr lang="en-US" sz="1200" b="1" dirty="0">
                <a:solidFill>
                  <a:schemeClr val="bg1"/>
                </a:solidFill>
              </a:rPr>
              <a:t>8.7</a:t>
            </a:r>
            <a:endParaRPr lang="en-US" sz="1200" dirty="0"/>
          </a:p>
        </p:txBody>
      </p:sp>
      <p:sp>
        <p:nvSpPr>
          <p:cNvPr id="31" name="Text 28"/>
          <p:cNvSpPr txBox="1"/>
          <p:nvPr/>
        </p:nvSpPr>
        <p:spPr>
          <a:xfrm>
            <a:off x="5577840" y="2752344"/>
            <a:ext cx="3017520" cy="749808"/>
          </a:xfrm>
          <a:prstGeom prst="rect">
            <a:avLst/>
          </a:prstGeom>
          <a:noFill/>
          <a:ln/>
        </p:spPr>
        <p:txBody>
          <a:bodyPr wrap="square" lIns="0" tIns="0" rIns="0" bIns="0" rtlCol="0" anchor="ctr"/>
          <a:lstStyle/>
          <a:p>
            <a:pPr indent="0" marL="0">
              <a:buNone/>
            </a:pPr>
            <a:r>
              <a:rPr lang="en-US" sz="1200" dirty="0">
                <a:solidFill>
                  <a:schemeClr val="tx1"/>
                </a:solidFill>
              </a:rPr>
              <a:t>Archivi interrogabili, con risposte collegate ai documenti</a:t>
            </a:r>
            <a:endParaRPr lang="en-US" sz="1200" dirty="0"/>
          </a:p>
        </p:txBody>
      </p:sp>
      <p:sp>
        <p:nvSpPr>
          <p:cNvPr id="32" name="apprendimento 8.8"/>
          <p:cNvSpPr/>
          <p:nvPr/>
        </p:nvSpPr>
        <p:spPr>
          <a:xfrm>
            <a:off x="4663440" y="3602736"/>
            <a:ext cx="4023360" cy="749808"/>
          </a:xfrm>
          <a:prstGeom prst="roundRect">
            <a:avLst>
              <a:gd name="adj" fmla="val 9756"/>
            </a:avLst>
          </a:prstGeom>
          <a:solidFill>
            <a:schemeClr val="bg1"/>
          </a:solidFill>
          <a:ln/>
        </p:spPr>
      </p:sp>
      <p:sp>
        <p:nvSpPr>
          <p:cNvPr id="33" name="blocco 8.8"/>
          <p:cNvSpPr/>
          <p:nvPr/>
        </p:nvSpPr>
        <p:spPr>
          <a:xfrm>
            <a:off x="4773168" y="3785616"/>
            <a:ext cx="658368" cy="384048"/>
          </a:xfrm>
          <a:prstGeom prst="roundRect">
            <a:avLst>
              <a:gd name="adj" fmla="val 28571"/>
            </a:avLst>
          </a:prstGeom>
          <a:solidFill>
            <a:schemeClr val="accent1"/>
          </a:solidFill>
          <a:ln/>
        </p:spPr>
      </p:sp>
      <p:sp>
        <p:nvSpPr>
          <p:cNvPr id="34" name="Text 31"/>
          <p:cNvSpPr txBox="1"/>
          <p:nvPr/>
        </p:nvSpPr>
        <p:spPr>
          <a:xfrm>
            <a:off x="4818888" y="3785616"/>
            <a:ext cx="566928" cy="384048"/>
          </a:xfrm>
          <a:prstGeom prst="rect">
            <a:avLst/>
          </a:prstGeom>
          <a:noFill/>
          <a:ln/>
        </p:spPr>
        <p:txBody>
          <a:bodyPr wrap="square" lIns="0" tIns="0" rIns="0" bIns="0" rtlCol="0" anchor="ctr"/>
          <a:lstStyle/>
          <a:p>
            <a:pPr algn="ctr" indent="0" marL="0">
              <a:buNone/>
            </a:pPr>
            <a:r>
              <a:rPr lang="en-US" sz="1200" b="1" dirty="0">
                <a:solidFill>
                  <a:schemeClr val="bg1"/>
                </a:solidFill>
              </a:rPr>
              <a:t>8.8</a:t>
            </a:r>
            <a:endParaRPr lang="en-US" sz="1200" dirty="0"/>
          </a:p>
        </p:txBody>
      </p:sp>
      <p:sp>
        <p:nvSpPr>
          <p:cNvPr id="35" name="Text 32"/>
          <p:cNvSpPr txBox="1"/>
          <p:nvPr/>
        </p:nvSpPr>
        <p:spPr>
          <a:xfrm>
            <a:off x="5577840" y="3602736"/>
            <a:ext cx="3017520" cy="749808"/>
          </a:xfrm>
          <a:prstGeom prst="rect">
            <a:avLst/>
          </a:prstGeom>
          <a:noFill/>
          <a:ln/>
        </p:spPr>
        <p:txBody>
          <a:bodyPr wrap="square" lIns="0" tIns="0" rIns="0" bIns="0" rtlCol="0" anchor="ctr"/>
          <a:lstStyle/>
          <a:p>
            <a:pPr indent="0" marL="0">
              <a:buNone/>
            </a:pPr>
            <a:r>
              <a:rPr lang="en-US" sz="1200" dirty="0">
                <a:solidFill>
                  <a:schemeClr val="tx1"/>
                </a:solidFill>
              </a:rPr>
              <a:t>Tecniche di copertura e controlli proporzionati all'uso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Quattro modalità: una scheda pratica</a:t>
            </a:r>
            <a:endParaRPr lang="en-US" sz="2600" dirty="0"/>
          </a:p>
        </p:txBody>
      </p:sp>
      <p:sp>
        <p:nvSpPr>
          <p:cNvPr id="4" name="Produrre"/>
          <p:cNvSpPr/>
          <p:nvPr/>
        </p:nvSpPr>
        <p:spPr>
          <a:xfrm>
            <a:off x="457200" y="1051560"/>
            <a:ext cx="1965960" cy="2697480"/>
          </a:xfrm>
          <a:prstGeom prst="roundRect">
            <a:avLst>
              <a:gd name="adj" fmla="val 3721"/>
            </a:avLst>
          </a:prstGeom>
          <a:solidFill>
            <a:schemeClr val="bg2"/>
          </a:solidFill>
          <a:ln/>
        </p:spPr>
      </p:sp>
      <p:sp>
        <p:nvSpPr>
          <p:cNvPr id="5" name="Text 2"/>
          <p:cNvSpPr txBox="1"/>
          <p:nvPr/>
        </p:nvSpPr>
        <p:spPr>
          <a:xfrm>
            <a:off x="59436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Produrre</a:t>
            </a:r>
            <a:endParaRPr lang="en-US" sz="1600" dirty="0"/>
          </a:p>
        </p:txBody>
      </p:sp>
      <p:sp>
        <p:nvSpPr>
          <p:cNvPr id="6" name="Text 3"/>
          <p:cNvSpPr txBox="1"/>
          <p:nvPr/>
        </p:nvSpPr>
        <p:spPr>
          <a:xfrm>
            <a:off x="59436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Materiale di partenza</a:t>
            </a:r>
            <a:endParaRPr lang="en-US" sz="1200" dirty="0"/>
          </a:p>
          <a:p>
            <a:pPr marL="177800" indent="-177800">
              <a:spcAft>
                <a:spcPts val="600"/>
              </a:spcAft>
              <a:buSzPct val="100000"/>
              <a:buChar char="•"/>
            </a:pPr>
            <a:r>
              <a:rPr lang="en-US" sz="1200" dirty="0">
                <a:solidFill>
                  <a:schemeClr val="tx1"/>
                </a:solidFill>
              </a:rPr>
              <a:t>Destinatario e tono</a:t>
            </a:r>
            <a:endParaRPr lang="en-US" sz="1200" dirty="0"/>
          </a:p>
          <a:p>
            <a:pPr marL="177800" indent="-177800">
              <a:spcAft>
                <a:spcPts val="600"/>
              </a:spcAft>
              <a:buSzPct val="100000"/>
              <a:buChar char="•"/>
            </a:pPr>
            <a:r>
              <a:rPr lang="en-US" sz="1200" dirty="0">
                <a:solidFill>
                  <a:schemeClr val="tx1"/>
                </a:solidFill>
              </a:rPr>
              <a:t>Autonomia secondo il rischio</a:t>
            </a:r>
            <a:endParaRPr lang="en-US" sz="1200" dirty="0"/>
          </a:p>
        </p:txBody>
      </p:sp>
      <p:sp>
        <p:nvSpPr>
          <p:cNvPr id="7" name="Trasformare"/>
          <p:cNvSpPr/>
          <p:nvPr/>
        </p:nvSpPr>
        <p:spPr>
          <a:xfrm>
            <a:off x="2560320" y="1051560"/>
            <a:ext cx="1965960" cy="2697480"/>
          </a:xfrm>
          <a:prstGeom prst="roundRect">
            <a:avLst>
              <a:gd name="adj" fmla="val 3721"/>
            </a:avLst>
          </a:prstGeom>
          <a:solidFill>
            <a:schemeClr val="accent6"/>
          </a:solidFill>
          <a:ln/>
        </p:spPr>
      </p:sp>
      <p:sp>
        <p:nvSpPr>
          <p:cNvPr id="8" name="Text 5"/>
          <p:cNvSpPr txBox="1"/>
          <p:nvPr/>
        </p:nvSpPr>
        <p:spPr>
          <a:xfrm>
            <a:off x="269748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Trasformare</a:t>
            </a:r>
            <a:endParaRPr lang="en-US" sz="1600" dirty="0"/>
          </a:p>
        </p:txBody>
      </p:sp>
      <p:sp>
        <p:nvSpPr>
          <p:cNvPr id="9" name="Text 6"/>
          <p:cNvSpPr txBox="1"/>
          <p:nvPr/>
        </p:nvSpPr>
        <p:spPr>
          <a:xfrm>
            <a:off x="269748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Partire da materiale corretto</a:t>
            </a:r>
            <a:endParaRPr lang="en-US" sz="1200" dirty="0"/>
          </a:p>
          <a:p>
            <a:pPr marL="177800" indent="-177800">
              <a:spcAft>
                <a:spcPts val="600"/>
              </a:spcAft>
              <a:buSzPct val="100000"/>
              <a:buChar char="•"/>
            </a:pPr>
            <a:r>
              <a:rPr lang="en-US" sz="1200" dirty="0">
                <a:solidFill>
                  <a:schemeClr val="tx1"/>
                </a:solidFill>
              </a:rPr>
              <a:t>Modifiche ammesse dichiarate</a:t>
            </a:r>
            <a:endParaRPr lang="en-US" sz="1200" dirty="0"/>
          </a:p>
          <a:p>
            <a:pPr marL="177800" indent="-177800">
              <a:spcAft>
                <a:spcPts val="600"/>
              </a:spcAft>
              <a:buSzPct val="100000"/>
              <a:buChar char="•"/>
            </a:pPr>
            <a:r>
              <a:rPr lang="en-US" sz="1200" dirty="0">
                <a:solidFill>
                  <a:schemeClr val="tx1"/>
                </a:solidFill>
              </a:rPr>
              <a:t>Confronto con l'originale</a:t>
            </a:r>
            <a:endParaRPr lang="en-US" sz="1200" dirty="0"/>
          </a:p>
        </p:txBody>
      </p:sp>
      <p:sp>
        <p:nvSpPr>
          <p:cNvPr id="10" name="Analizzare"/>
          <p:cNvSpPr/>
          <p:nvPr/>
        </p:nvSpPr>
        <p:spPr>
          <a:xfrm>
            <a:off x="4663440" y="1051560"/>
            <a:ext cx="1965960" cy="2697480"/>
          </a:xfrm>
          <a:prstGeom prst="roundRect">
            <a:avLst>
              <a:gd name="adj" fmla="val 3721"/>
            </a:avLst>
          </a:prstGeom>
          <a:solidFill>
            <a:schemeClr val="bg2"/>
          </a:solidFill>
          <a:ln/>
        </p:spPr>
      </p:sp>
      <p:sp>
        <p:nvSpPr>
          <p:cNvPr id="11" name="Text 8"/>
          <p:cNvSpPr txBox="1"/>
          <p:nvPr/>
        </p:nvSpPr>
        <p:spPr>
          <a:xfrm>
            <a:off x="480060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Analizzare</a:t>
            </a:r>
            <a:endParaRPr lang="en-US" sz="1600" dirty="0"/>
          </a:p>
        </p:txBody>
      </p:sp>
      <p:sp>
        <p:nvSpPr>
          <p:cNvPr id="12" name="Text 9"/>
          <p:cNvSpPr txBox="1"/>
          <p:nvPr/>
        </p:nvSpPr>
        <p:spPr>
          <a:xfrm>
            <a:off x="480060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Scopo e riferimenti</a:t>
            </a:r>
            <a:endParaRPr lang="en-US" sz="1200" dirty="0"/>
          </a:p>
          <a:p>
            <a:pPr marL="177800" indent="-177800">
              <a:spcAft>
                <a:spcPts val="600"/>
              </a:spcAft>
              <a:buSzPct val="100000"/>
              <a:buChar char="•"/>
            </a:pPr>
            <a:r>
              <a:rPr lang="en-US" sz="1200" dirty="0">
                <a:solidFill>
                  <a:schemeClr val="tx1"/>
                </a:solidFill>
              </a:rPr>
              <a:t>Campi e regole per i mancanti</a:t>
            </a:r>
            <a:endParaRPr lang="en-US" sz="1200" dirty="0"/>
          </a:p>
          <a:p>
            <a:pPr marL="177800" indent="-177800">
              <a:spcAft>
                <a:spcPts val="600"/>
              </a:spcAft>
              <a:buSzPct val="100000"/>
              <a:buChar char="•"/>
            </a:pPr>
            <a:r>
              <a:rPr lang="en-US" sz="1200" dirty="0">
                <a:solidFill>
                  <a:schemeClr val="tx1"/>
                </a:solidFill>
              </a:rPr>
              <a:t>Differenze classificate, validazione</a:t>
            </a:r>
            <a:endParaRPr lang="en-US" sz="1200" dirty="0"/>
          </a:p>
        </p:txBody>
      </p:sp>
      <p:sp>
        <p:nvSpPr>
          <p:cNvPr id="13" name="Recuperare"/>
          <p:cNvSpPr/>
          <p:nvPr/>
        </p:nvSpPr>
        <p:spPr>
          <a:xfrm>
            <a:off x="6766560" y="1051560"/>
            <a:ext cx="1965960" cy="2697480"/>
          </a:xfrm>
          <a:prstGeom prst="roundRect">
            <a:avLst>
              <a:gd name="adj" fmla="val 3721"/>
            </a:avLst>
          </a:prstGeom>
          <a:solidFill>
            <a:schemeClr val="accent6"/>
          </a:solidFill>
          <a:ln/>
        </p:spPr>
      </p:sp>
      <p:sp>
        <p:nvSpPr>
          <p:cNvPr id="14" name="Text 11"/>
          <p:cNvSpPr txBox="1"/>
          <p:nvPr/>
        </p:nvSpPr>
        <p:spPr>
          <a:xfrm>
            <a:off x="690372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Recuperare</a:t>
            </a:r>
            <a:endParaRPr lang="en-US" sz="1600" dirty="0"/>
          </a:p>
        </p:txBody>
      </p:sp>
      <p:sp>
        <p:nvSpPr>
          <p:cNvPr id="15" name="Text 12"/>
          <p:cNvSpPr txBox="1"/>
          <p:nvPr/>
        </p:nvSpPr>
        <p:spPr>
          <a:xfrm>
            <a:off x="690372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Da dove viene?</a:t>
            </a:r>
            <a:endParaRPr lang="en-US" sz="1200" dirty="0"/>
          </a:p>
          <a:p>
            <a:pPr marL="177800" indent="-177800">
              <a:spcAft>
                <a:spcPts val="600"/>
              </a:spcAft>
              <a:buSzPct val="100000"/>
              <a:buChar char="•"/>
            </a:pPr>
            <a:r>
              <a:rPr lang="en-US" sz="1200" dirty="0">
                <a:solidFill>
                  <a:schemeClr val="tx1"/>
                </a:solidFill>
              </a:rPr>
              <a:t>Attualità e attendibilità</a:t>
            </a:r>
            <a:endParaRPr lang="en-US" sz="1200" dirty="0"/>
          </a:p>
          <a:p>
            <a:pPr marL="177800" indent="-177800">
              <a:spcAft>
                <a:spcPts val="600"/>
              </a:spcAft>
              <a:buSzPct val="100000"/>
              <a:buChar char="•"/>
            </a:pPr>
            <a:r>
              <a:rPr lang="en-US" sz="1200" dirty="0">
                <a:solidFill>
                  <a:schemeClr val="tx1"/>
                </a:solidFill>
              </a:rPr>
              <a:t>Riferimenti, versione e data</a:t>
            </a:r>
            <a:endParaRPr lang="en-US" sz="1200" dirty="0"/>
          </a:p>
        </p:txBody>
      </p:sp>
      <p:sp>
        <p:nvSpPr>
          <p:cNvPr id="16" name="messaggio"/>
          <p:cNvSpPr/>
          <p:nvPr/>
        </p:nvSpPr>
        <p:spPr>
          <a:xfrm>
            <a:off x="457200" y="3931920"/>
            <a:ext cx="8229600" cy="594360"/>
          </a:xfrm>
          <a:prstGeom prst="roundRect">
            <a:avLst>
              <a:gd name="adj" fmla="val 12308"/>
            </a:avLst>
          </a:prstGeom>
          <a:solidFill>
            <a:schemeClr val="tx1"/>
          </a:solidFill>
          <a:ln/>
        </p:spPr>
      </p:sp>
      <p:sp>
        <p:nvSpPr>
          <p:cNvPr id="17" name="Text 14"/>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Sempre: strumenti autorizzati, tecniche di copertura per i documenti complessi, controlli proporzionati all'uso.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viene dopo</a:t>
            </a:r>
            <a:endParaRPr lang="en-US" sz="2600" dirty="0"/>
          </a:p>
        </p:txBody>
      </p:sp>
      <p:sp>
        <p:nvSpPr>
          <p:cNvPr id="4" name="are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PERCORSO</a:t>
            </a:r>
            <a:endParaRPr lang="en-US" sz="1200" dirty="0"/>
          </a:p>
        </p:txBody>
      </p:sp>
      <p:sp>
        <p:nvSpPr>
          <p:cNvPr id="6" name="Text 3"/>
          <p:cNvSpPr txBox="1"/>
          <p:nvPr/>
        </p:nvSpPr>
        <p:spPr>
          <a:xfrm>
            <a:off x="685800" y="1572768"/>
            <a:ext cx="3566160" cy="292608"/>
          </a:xfrm>
          <a:prstGeom prst="rect">
            <a:avLst/>
          </a:prstGeom>
          <a:noFill/>
          <a:ln/>
        </p:spPr>
        <p:txBody>
          <a:bodyPr wrap="square" lIns="0" tIns="0" rIns="0" bIns="0" rtlCol="0" anchor="t"/>
          <a:lstStyle/>
          <a:p>
            <a:pPr indent="0" marL="0">
              <a:buNone/>
            </a:pPr>
            <a:r>
              <a:rPr lang="en-US" sz="1400" b="1" dirty="0">
                <a:solidFill>
                  <a:schemeClr val="tx1"/>
                </a:solidFill>
              </a:rPr>
              <a:t>Comprendere l'AI</a:t>
            </a:r>
            <a:endParaRPr lang="en-US" sz="1400" dirty="0"/>
          </a:p>
        </p:txBody>
      </p:sp>
      <p:sp>
        <p:nvSpPr>
          <p:cNvPr id="7" name="Text 4"/>
          <p:cNvSpPr txBox="1"/>
          <p:nvPr/>
        </p:nvSpPr>
        <p:spPr>
          <a:xfrm>
            <a:off x="685800" y="1856232"/>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1-4</a:t>
            </a:r>
            <a:endParaRPr lang="en-US" sz="1200" dirty="0"/>
          </a:p>
        </p:txBody>
      </p:sp>
      <p:sp>
        <p:nvSpPr>
          <p:cNvPr id="8" name="Text 5"/>
          <p:cNvSpPr txBox="1"/>
          <p:nvPr/>
        </p:nvSpPr>
        <p:spPr>
          <a:xfrm>
            <a:off x="685800" y="2240280"/>
            <a:ext cx="3566160" cy="292608"/>
          </a:xfrm>
          <a:prstGeom prst="rect">
            <a:avLst/>
          </a:prstGeom>
          <a:noFill/>
          <a:ln/>
        </p:spPr>
        <p:txBody>
          <a:bodyPr wrap="square" lIns="0" tIns="0" rIns="0" bIns="0" rtlCol="0" anchor="t"/>
          <a:lstStyle/>
          <a:p>
            <a:pPr indent="0" marL="0">
              <a:buNone/>
            </a:pPr>
            <a:r>
              <a:rPr lang="en-US" sz="1400" b="1" dirty="0">
                <a:solidFill>
                  <a:schemeClr val="tx1"/>
                </a:solidFill>
              </a:rPr>
              <a:t>Interagire con l'AI</a:t>
            </a:r>
            <a:endParaRPr lang="en-US" sz="1400" dirty="0"/>
          </a:p>
        </p:txBody>
      </p:sp>
      <p:sp>
        <p:nvSpPr>
          <p:cNvPr id="9" name="Text 6"/>
          <p:cNvSpPr txBox="1"/>
          <p:nvPr/>
        </p:nvSpPr>
        <p:spPr>
          <a:xfrm>
            <a:off x="685800" y="2523744"/>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5-7</a:t>
            </a:r>
            <a:endParaRPr lang="en-US" sz="1200" dirty="0"/>
          </a:p>
        </p:txBody>
      </p:sp>
      <p:sp>
        <p:nvSpPr>
          <p:cNvPr id="10" name="Text 7"/>
          <p:cNvSpPr txBox="1"/>
          <p:nvPr/>
        </p:nvSpPr>
        <p:spPr>
          <a:xfrm>
            <a:off x="685800" y="2907792"/>
            <a:ext cx="3566160" cy="292608"/>
          </a:xfrm>
          <a:prstGeom prst="rect">
            <a:avLst/>
          </a:prstGeom>
          <a:noFill/>
          <a:ln/>
        </p:spPr>
        <p:txBody>
          <a:bodyPr wrap="square" lIns="0" tIns="0" rIns="0" bIns="0" rtlCol="0" anchor="t"/>
          <a:lstStyle/>
          <a:p>
            <a:pPr indent="0" marL="0">
              <a:buNone/>
            </a:pPr>
            <a:r>
              <a:rPr lang="en-US" sz="1400" b="1" dirty="0">
                <a:solidFill>
                  <a:schemeClr val="accent1"/>
                </a:solidFill>
              </a:rPr>
              <a:t>Esplorare le possibilità dell'AI</a:t>
            </a:r>
            <a:endParaRPr lang="en-US" sz="1400" dirty="0"/>
          </a:p>
        </p:txBody>
      </p:sp>
      <p:sp>
        <p:nvSpPr>
          <p:cNvPr id="11" name="Text 8"/>
          <p:cNvSpPr txBox="1"/>
          <p:nvPr/>
        </p:nvSpPr>
        <p:spPr>
          <a:xfrm>
            <a:off x="685800" y="3191256"/>
            <a:ext cx="3566160" cy="457200"/>
          </a:xfrm>
          <a:prstGeom prst="rect">
            <a:avLst/>
          </a:prstGeom>
          <a:noFill/>
          <a:ln/>
        </p:spPr>
        <p:txBody>
          <a:bodyPr wrap="square" lIns="0" tIns="0" rIns="0" bIns="0" rtlCol="0" anchor="t"/>
          <a:lstStyle/>
          <a:p>
            <a:pPr indent="0" marL="0">
              <a:buNone/>
            </a:pPr>
            <a:r>
              <a:rPr lang="en-US" sz="1200" dirty="0">
                <a:solidFill>
                  <a:schemeClr val="tx2"/>
                </a:solidFill>
              </a:rPr>
              <a:t>Tema 8: testi, documenti e conoscenza (completato)</a:t>
            </a:r>
            <a:endParaRPr lang="en-US" sz="1200" dirty="0"/>
          </a:p>
        </p:txBody>
      </p:sp>
      <p:sp>
        <p:nvSpPr>
          <p:cNvPr id="12" name="prossimi"/>
          <p:cNvSpPr/>
          <p:nvPr/>
        </p:nvSpPr>
        <p:spPr>
          <a:xfrm>
            <a:off x="4709160" y="1097280"/>
            <a:ext cx="3977640" cy="3429000"/>
          </a:xfrm>
          <a:prstGeom prst="roundRect">
            <a:avLst>
              <a:gd name="adj" fmla="val 2133"/>
            </a:avLst>
          </a:prstGeom>
          <a:solidFill>
            <a:schemeClr val="tx1"/>
          </a:solidFill>
          <a:ln/>
        </p:spPr>
      </p:sp>
      <p:sp>
        <p:nvSpPr>
          <p:cNvPr id="13" name="Text 10"/>
          <p:cNvSpPr txBox="1"/>
          <p:nvPr/>
        </p:nvSpPr>
        <p:spPr>
          <a:xfrm>
            <a:off x="493776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PROSSIMO TEMA</a:t>
            </a:r>
            <a:endParaRPr lang="en-US" sz="1200" dirty="0"/>
          </a:p>
        </p:txBody>
      </p:sp>
      <p:sp>
        <p:nvSpPr>
          <p:cNvPr id="14" name="Text 11"/>
          <p:cNvSpPr txBox="1"/>
          <p:nvPr/>
        </p:nvSpPr>
        <p:spPr>
          <a:xfrm>
            <a:off x="4937760" y="1572768"/>
            <a:ext cx="3566160" cy="365760"/>
          </a:xfrm>
          <a:prstGeom prst="rect">
            <a:avLst/>
          </a:prstGeom>
          <a:noFill/>
          <a:ln/>
        </p:spPr>
        <p:txBody>
          <a:bodyPr wrap="square" lIns="0" tIns="0" rIns="0" bIns="0" rtlCol="0" anchor="t"/>
          <a:lstStyle/>
          <a:p>
            <a:pPr indent="0" marL="0">
              <a:buNone/>
            </a:pPr>
            <a:r>
              <a:rPr lang="en-US" sz="1600" b="1" dirty="0">
                <a:solidFill>
                  <a:schemeClr val="bg1"/>
                </a:solidFill>
              </a:rPr>
              <a:t>Tema 9: AI per dati e analisi</a:t>
            </a:r>
            <a:endParaRPr lang="en-US" sz="1600" dirty="0"/>
          </a:p>
        </p:txBody>
      </p:sp>
      <p:sp>
        <p:nvSpPr>
          <p:cNvPr id="15" name="Text 12"/>
          <p:cNvSpPr txBox="1"/>
          <p:nvPr/>
        </p:nvSpPr>
        <p:spPr>
          <a:xfrm>
            <a:off x="4937760" y="1920240"/>
            <a:ext cx="3566160" cy="274320"/>
          </a:xfrm>
          <a:prstGeom prst="rect">
            <a:avLst/>
          </a:prstGeom>
          <a:noFill/>
          <a:ln/>
        </p:spPr>
        <p:txBody>
          <a:bodyPr wrap="square" lIns="0" tIns="0" rIns="0" bIns="0" rtlCol="0" anchor="t"/>
          <a:lstStyle/>
          <a:p>
            <a:pPr indent="0" marL="0">
              <a:buNone/>
            </a:pPr>
            <a:r>
              <a:rPr lang="en-US" sz="1200" i="1" dirty="0">
                <a:solidFill>
                  <a:schemeClr val="accent3"/>
                </a:solidFill>
              </a:rPr>
              <a:t>Dal testo strutturato all'analisi dei dati</a:t>
            </a:r>
            <a:endParaRPr lang="en-US" sz="1200" dirty="0"/>
          </a:p>
        </p:txBody>
      </p:sp>
      <p:sp>
        <p:nvSpPr>
          <p:cNvPr id="16" name="Text 13"/>
          <p:cNvSpPr txBox="1"/>
          <p:nvPr/>
        </p:nvSpPr>
        <p:spPr>
          <a:xfrm>
            <a:off x="4937760" y="2377440"/>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NEL PERCORSO</a:t>
            </a:r>
            <a:endParaRPr lang="en-US" sz="1200" dirty="0"/>
          </a:p>
        </p:txBody>
      </p:sp>
      <p:sp>
        <p:nvSpPr>
          <p:cNvPr id="17" name="Text 14"/>
          <p:cNvSpPr txBox="1"/>
          <p:nvPr/>
        </p:nvSpPr>
        <p:spPr>
          <a:xfrm>
            <a:off x="4937760" y="2697480"/>
            <a:ext cx="3566160" cy="1463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Tema 10: AI multimodale</a:t>
            </a:r>
            <a:endParaRPr lang="en-US" sz="1300" dirty="0"/>
          </a:p>
          <a:p>
            <a:pPr marL="177800" indent="-177800">
              <a:spcAft>
                <a:spcPts val="500"/>
              </a:spcAft>
              <a:buSzPct val="100000"/>
              <a:buChar char="•"/>
            </a:pPr>
            <a:r>
              <a:rPr lang="en-US" sz="1300" dirty="0">
                <a:solidFill>
                  <a:schemeClr val="bg1"/>
                </a:solidFill>
              </a:rPr>
              <a:t>Tema 11: assistenti, agenti e automazioni</a:t>
            </a:r>
            <a:endParaRPr lang="en-US" sz="1300" dirty="0"/>
          </a:p>
          <a:p>
            <a:pPr marL="177800" indent="-177800">
              <a:spcAft>
                <a:spcPts val="500"/>
              </a:spcAft>
              <a:buSzPct val="100000"/>
              <a:buChar char="•"/>
            </a:pPr>
            <a:r>
              <a:rPr lang="en-US" sz="1300" dirty="0">
                <a:solidFill>
                  <a:schemeClr val="bg1"/>
                </a:solidFill>
              </a:rPr>
              <a:t>Tema 14: dati e conoscenza aziendale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97280"/>
            <a:ext cx="7498080" cy="30175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chemeClr val="tx1"/>
                </a:solidFill>
              </a:rPr>
              <a:t>Liu, N. F. et al. (2024). Lost in the Middle: How Language Models Use Long Contexts. Transactions of the Association for Computational Linguistics, 12, 157-173.</a:t>
            </a:r>
            <a:endParaRPr lang="en-US" sz="1300" dirty="0"/>
          </a:p>
          <a:p>
            <a:pPr marL="177800" indent="-177800">
              <a:spcAft>
                <a:spcPts val="1000"/>
              </a:spcAft>
              <a:buSzPct val="100000"/>
              <a:buChar char="•"/>
            </a:pPr>
            <a:r>
              <a:rPr lang="en-US" sz="1300" dirty="0">
                <a:solidFill>
                  <a:schemeClr val="tx1"/>
                </a:solidFill>
              </a:rPr>
              <a:t>Lewis, P. et al. (2020). Retrieval-Augmented Generation for Knowledge-Intensive NLP Tasks. NeurIPS 2020.</a:t>
            </a:r>
            <a:endParaRPr lang="en-US" sz="1300" dirty="0"/>
          </a:p>
          <a:p>
            <a:pPr marL="177800" indent="-177800">
              <a:spcAft>
                <a:spcPts val="1000"/>
              </a:spcAft>
              <a:buSzPct val="100000"/>
              <a:buChar char="•"/>
            </a:pPr>
            <a:r>
              <a:rPr lang="en-US" sz="1300" dirty="0">
                <a:solidFill>
                  <a:schemeClr val="tx1"/>
                </a:solidFill>
              </a:rPr>
              <a:t>Gli esempi di appunti, verbali, rapporti, email, offerte e procedure presenti nelle slide sono fittizi.</a:t>
            </a:r>
            <a:endParaRPr lang="en-US" sz="1300" dirty="0"/>
          </a:p>
          <a:p>
            <a:pPr marL="177800" indent="-177800">
              <a:spcAft>
                <a:spcPts val="1000"/>
              </a:spcAft>
              <a:buSzPct val="100000"/>
              <a:buChar char="•"/>
            </a:pPr>
            <a:r>
              <a:rPr lang="en-US" sz="1300" dirty="0">
                <a:solidFill>
                  <a:schemeClr val="tx1"/>
                </a:solidFill>
              </a:rPr>
              <a:t>Fonti verificate a ottobre 2026: ricontrollarle prima di ogni edizione.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61</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8: AI per testi, documenti e conoscenza (revisione)</dc:title>
  <dc:subject>Percorso AI Literacy</dc:subject>
  <dc:creator>Percorso AI Literacy</dc:creator>
  <cp:lastModifiedBy>Percorso AI Literacy</cp:lastModifiedBy>
  <cp:revision>1</cp:revision>
  <dcterms:created xsi:type="dcterms:W3CDTF">2026-10-16T11:21:06Z</dcterms:created>
  <dcterms:modified xsi:type="dcterms:W3CDTF">2026-10-16T11:21:06Z</dcterms:modified>
</cp:coreProperties>
</file>