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charts/chart1.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c1e773e8-165e-c015-0cc3-090360d7f5a0}">
          <p14:sldIdLst>
            <p14:sldId id="256"/>
            <p14:sldId id="257"/>
            <p14:sldId id="258"/>
            <p14:sldId id="259"/>
          </p14:sldIdLst>
        </p14:section>
        <p14:section name="10.1 Fondamenti" id="{a2dd6b66-5ebe-b54d-4294-c89b73331f85}">
          <p14:sldIdLst>
            <p14:sldId id="260"/>
            <p14:sldId id="261"/>
            <p14:sldId id="262"/>
            <p14:sldId id="263"/>
            <p14:sldId id="264"/>
            <p14:sldId id="265"/>
          </p14:sldIdLst>
        </p14:section>
        <p14:section name="10.2 Immagini: comprendere" id="{a9913070-6208-c14b-684e-819f0fac9233}">
          <p14:sldIdLst>
            <p14:sldId id="266"/>
            <p14:sldId id="267"/>
            <p14:sldId id="268"/>
            <p14:sldId id="269"/>
            <p14:sldId id="270"/>
            <p14:sldId id="271"/>
          </p14:sldIdLst>
        </p14:section>
        <p14:section name="10.3 Immagini: generare" id="{d08dc7ce-12e0-9786-e9d3-fac516fae5f1}">
          <p14:sldIdLst>
            <p14:sldId id="272"/>
            <p14:sldId id="273"/>
            <p14:sldId id="274"/>
            <p14:sldId id="275"/>
            <p14:sldId id="276"/>
            <p14:sldId id="277"/>
            <p14:sldId id="278"/>
          </p14:sldIdLst>
        </p14:section>
        <p14:section name="10.4 Audio e voce" id="{6e5b84e4-f90a-871f-4488-637d976c4bee}">
          <p14:sldIdLst>
            <p14:sldId id="279"/>
            <p14:sldId id="280"/>
            <p14:sldId id="281"/>
            <p14:sldId id="282"/>
            <p14:sldId id="283"/>
            <p14:sldId id="284"/>
            <p14:sldId id="285"/>
            <p14:sldId id="286"/>
            <p14:sldId id="287"/>
          </p14:sldIdLst>
        </p14:section>
        <p14:section name="10.5 Video" id="{963a4a2f-cb54-6397-6f6f-642c7971811d}">
          <p14:sldIdLst>
            <p14:sldId id="288"/>
            <p14:sldId id="289"/>
            <p14:sldId id="290"/>
            <p14:sldId id="291"/>
          </p14:sldIdLst>
        </p14:section>
        <p14:section name="10.6 Presentazioni" id="{374d195e-679e-9d7c-f901-3a6a55c4880a}">
          <p14:sldIdLst>
            <p14:sldId id="292"/>
            <p14:sldId id="293"/>
            <p14:sldId id="294"/>
            <p14:sldId id="295"/>
            <p14:sldId id="296"/>
            <p14:sldId id="297"/>
          </p14:sldIdLst>
        </p14:section>
        <p14:section name="10.7 Trasformazioni" id="{f8d13dd8-a703-8865-2d3b-3b12593391b2}">
          <p14:sldIdLst>
            <p14:sldId id="298"/>
            <p14:sldId id="299"/>
            <p14:sldId id="300"/>
            <p14:sldId id="301"/>
            <p14:sldId id="302"/>
            <p14:sldId id="303"/>
          </p14:sldIdLst>
        </p14:section>
        <p14:section name="10.8 Autenticità e affidabilità" id="{ae60c0f8-0614-bbc7-6e23-143062eb2062}">
          <p14:sldIdLst>
            <p14:sldId id="304"/>
            <p14:sldId id="305"/>
            <p14:sldId id="306"/>
            <p14:sldId id="307"/>
            <p14:sldId id="308"/>
            <p14:sldId id="309"/>
            <p14:sldId id="310"/>
            <p14:sldId id="311"/>
          </p14:sldIdLst>
        </p14:section>
        <p14:section name="Conclusioni" id="{c79ea089-51c6-8f43-ebcc-cd2d893dd61c}">
          <p14:sldIdLst>
            <p14:sldId id="312"/>
            <p14:sldId id="313"/>
            <p14:sldId id="314"/>
            <p14:sldId id="31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Canali</c:v>
                </c:pt>
              </c:strCache>
            </c:strRef>
          </c:tx>
          <c:spPr>
            <a:solidFill>
              <a:schemeClr val="accent1"/>
            </a:solidFill>
            <a:ln w="9525" cap="flat">
              <a:solidFill>
                <a:srgbClr val="F9F9F9"/>
              </a:solidFill>
              <a:prstDash val="solid"/>
              <a:round/>
            </a:ln>
            <a:effectLst/>
          </c:spPr>
          <c:dPt>
            <c:idx val="0"/>
            <c:bubble3D val="0"/>
            <c:spPr>
              <a:solidFill>
                <a:srgbClr val="A86F1C"/>
              </a:solidFill>
              <a:ln w="12700" cap="flat">
                <a:solidFill>
                  <a:srgbClr val="FFFFFF"/>
                </a:solidFill>
                <a:prstDash val="solid"/>
                <a:round/>
              </a:ln>
              <a:effectLst/>
            </c:spPr>
          </c:dPt>
          <c:dPt>
            <c:idx val="1"/>
            <c:bubble3D val="0"/>
            <c:spPr>
              <a:solidFill>
                <a:srgbClr val="D5D9DE"/>
              </a:solidFill>
              <a:ln w="127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Online</c:v>
                </c:pt>
                <c:pt idx="1">
                  <c:v>Negozi</c:v>
                </c:pt>
              </c:strCache>
            </c:strRef>
          </c:cat>
          <c:val>
            <c:numRef>
              <c:f>Sheet1!$B$2:$B$3</c:f>
              <c:numCache>
                <c:ptCount val="2"/>
                <c:pt idx="0">
                  <c:v>50</c:v>
                </c:pt>
                <c:pt idx="1">
                  <c:v>50</c:v>
                </c:pt>
              </c:numCache>
            </c:numRef>
          </c:val>
        </c:ser>
        <c:firstSliceAng val="0"/>
      </c:pie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it-IT"/>
              <a:t>7/23/19</a:t>
            </a:fld>
            <a:endParaRPr lang="it-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it-IT"/>
              <a:t>‹#›</a:t>
            </a:fld>
            <a:endParaRPr lang="it-IT"/>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Benvenuti al decimo tema, il terzo dell'area 'Esplorare le possibilità dell'AI'. Nel Tema 8 abbiamo lavorato su testi e documenti, nel Tema 9 sui dati. Qui allarghiamo lo sguardo alle altre forme in cui le informazioni si presentano: immagini, audio, video, e i materiali di comunicazione che le combinano, come le presentazioni. I sistemi AI attuali non lavorano più solo con il testo: leggono una schermata, descrivono una fotografia, trascrivono e riassumono una riunione, generano un'illustrazione o un breve video, trasformano un documento in slide. Sono possibilità che cambiano molte attività quotidiane: assistenza tecnica, comunicazione, marketing, formazione, accessibilità. Il filo del modulo è pratico: che cosa si può fare, come ottenere buoni risultati, e quali attenzioni permettono di usare questi strumenti con fiducia. Tra queste, una è nuova e importante: un contenuto può essere molto realistico senza essere autentico. Il punto di vista resta quello di chi usa gli strumenti: non entriamo nelle architetture dei modelli né nella produzione audiovisiva professionale. Suggerimento per l'apertura: mostrare due immagini, una fotografia reale e una generata, e chiedere ai partecipanti di indovinare quale sia quale; poi mostrare come la stessa immagine generata possa essere modificata in pochi secondi. Usare immagini prive di persone reali riconoscibili o di marchi. Nota per il relatore: contenuti verificati a ottobre 2026, compresi gli obblighi di trasparenza dell'articolo 50 dell'AI Act; le capacità di generazione di immagini, voci e video evolvono molto rapidamente, quindi esempi, dimostrazioni e riferimenti normativi vanno ricontrollati prima di ogni edizione.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L'obiettivo è conoscere le principali possibilità dell'AI multimodale nell'interpretare, generare e trasformare contenuti visivi, sonori e audiovisivi, e saperle usare nel lavoro con risultati affidabili. Le possibilità sono concrete: mostrare una schermata invece di descriverla, ottenere un verbale da una registrazione, creare illustrazioni e varianti per un materiale formativo, trasformare un documento in una presentazione, produrre sottotitoli e versioni audio che rendono i contenuti accessibili. La consapevolezza che accompagna queste possibilità ha tre parti, che riprenderemo nel modulo senza ripeterle a ogni slide. Primo: un contenuto realistico non è necessariamente autentico, quindi provenienza e contesto contano. Secondo: ogni passaggio tra modalità può perdere o alterare informazioni, e un controllo mirato sugli elementi critici permette di sfruttare il risparmio di tempo senza rinunciare all'affidabilità. Terzo: le capacità dipendono dallo strumento e cambiano rapidamente, quindi vanno verificate sugli strumenti autorizzati, non dedotte dall'etichetta 'multimodale'. Il messaggio centrale del tema: l'AI multimodale amplia il modo in cui comprendiamo, creiamo e trasformiamo contenuti; usata con criterio, fa risparmiare tempo e rende la comunicazione più chiara e inclusiva.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Il tema è organizzato in quattro passaggi. Comprendere le modalità: che cosa significa multimodalità, nel sottotema 10.1. Interpretare e generare contenuti nelle diverse modalità: immagini, audio, video e materiali di comunicazione, dal 10.2 al 10.6. Trasformare e combinare, cioè passare da una modalità all'altra conservando significato e utilità, nel 10.7. Valutare i risultati: autenticità, accuratezza, provenienza e trasparenza, nel 10.8. Trasversale a tutto il tema c'è la distinzione tra tre operazioni: interpretare un contenuto, cioè comprenderlo e descriverlo; generarne uno nuovo; trasformarlo da una forma all'altra. Ciascuna porta un valore preciso e richiede un'attenzione specifica. Interpretare fa risparmiare tempo nel capire schermate, foto e registrazioni; l'attenzione va agli errori di riconoscimento su dettagli e numeri. Generare permette di creare illustrazioni, voci e video in tempi brevi; l'attenzione va alla differenza tra realistico e autentico. Trasformare rende i contenuti più accessibili e riutilizzabili; l'attenzione va alle informazioni che si perdono o cambiano nel passaggio. Nelle slide, un indicatore in alto a destra ricorda di quale operazione si sta parlando.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Il modulo è articolato in otto sottotemi, sette con priorità alta e uno, il video, con priorità media. Vanno compresi e sperimentati: interpretazione di immagini, generazione e modifica visiva, trascrizione, interazione vocale e trasformazioni tra modalità. Vanno conosciuti: generazione video, presentazioni, accessibilità, autenticità, provenienza e trasparenza. Vanno solo accennati: architetture multimodali, modelli di diffusione, editing professionale, produzione audiovisiva specialistica e verifica forense tecnica. Tre sottotemi contengono un esempio dimostrativo fittizio: la generazione e modifica di un'immagine nel 10.3, il passaggio dalla riunione al verbale nel 10.4, il passaggio dal documento alle slide nel 10.6. Confini con gli altri temi: non ripetiamo i meccanismi del Tema 2, la teoria degli errori del Tema 3, i confronti tra strumenti del Tema 4, le tecniche di prompting del Tema 6, la metodologia di verifica del Tema 7. Il confine più importante è con il Tema 8: lì la conoscenza contenuta nei documenti, qui le modalità visive, sonore e audiovisive. I workflow automatizzati appartengono al Tema 11; gli obblighi giuridici sono approfonditi nei Temi 17 e 18. Un'avvertenza pratica, valida per tutto il modulo: immagini, registrazioni e video aziendali possono contenere dati personali o riservati, e vanno caricati solo negli strumenti autorizzati.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Partiamo dai concetti. Che cosa significa che un sistema AI è multimodale? Quali sono le modalità, che cosa vuol dire comprenderle o generarle, e perché il valore maggiore nasce quando si combinano? In questo sottotema, da comprendere, costruiamo il vocabolario per tutto il modulo. Senza entrare nelle architetture, vedremo una distinzione utile: quella tra un modello che elabora più modalità e un'applicazione che collega più modelli specializzati. Spiega perché due strumenti entrambi 'multimodali' possono offrire risultati diversi. Concetto chiave: la multimodalità può essere realizzata con architetture differenti, e capacità effettive e modalità supportate dipendono dal sistema impiegato. Esercizio suggerito: con lo strumento autorizzato in azienda, fornire la stessa informazione in tre modalità diverse, per esempio una tabella scritta, una sua fotografia e una lettura ad alta voce, e confrontare le risposte.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Una modalità è una forma in cui l'informazione si presenta: testo, immagini, audio, video. Gli esseri umani sono naturalmente multimodali: in una riunione ascoltiamo le parole, guardiamo le slide, osserviamo le espressioni, leggiamo gli appunti, e integriamo tutto in una comprensione unica. I primi sistemi di AI generativa erano essenzialmente testuali. Un sistema multimodale può ricevere e, in molti casi, produrre informazioni in più modalità: può ricevere una fotografia e una domanda scritta, una registrazione, una schermata, e rispondere con un testo, un'immagine, una voce. Le quattro modalità principali sono quelle in slide. Il testo, che resta la modalità centrale e spesso il ponte tra le altre. Le immagini: fotografie, illustrazioni, diagrammi, schermate, documenti scansionati. L'audio: parlato, musica, suoni. Il video: immagini nel tempo, spesso con audio. Il punto più importante è nella riga in basso: la multimodalità permette di combinare informazioni di natura diversa in un'unica richiesta, come facciamo noi. Una foto, una domanda e un documento di riferimento possono stare nella stessa interazione. Un sistema può gestire molto bene alcune modalità e meno bene altre: anche questo va verificato sullo strumento.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6</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Confrontiamo, dal punto di vista di chi lo usa, un sistema solo testuale con uno multimodale. Con un sistema testuale, per chiedere aiuto su un errore bisogna descriverlo a parole; per analizzare un grafico bisogna trascriverne i valori; per riassumere una riunione bisogna prima averla trascritta. Con un sistema multimodale si mostra direttamente ciò che si ha davanti, e si possono combinare più elementi nella stessa richiesta. Gli esempi in tabella vengono dal lavoro quotidiano. Una schermata di errore con la domanda 'che cosa devo fare?'. La foto della lavagna di una riunione, che diventa un elenco di azioni. La foto di un componente guasto insieme al manuale caricato, per identificarlo e trovare la procedura di sostituzione. La registrazione di una riunione insieme alle slide proiettate, per un verbale che collega ciò che è stato detto a ciò che è stato mostrato. L'interazione diventa più naturale e più rapida, e diventano possibili compiti che prima richiedevano molto lavoro di preparazione. Due cose da sapere, che riprenderemo nei sottotemi. Il sistema interpreta al posto nostro ciò che è rilevante e può collegare male elementi diversi, per esempio attribuire a una slide un commento detto su un'altra. E una schermata o una foto può contenere più informazioni di quelle che si intende condividere, come nomi in un'altra finestra o documenti sulla scrivania: conviene ritagliare prima di caricare.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7</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Una distinzione fondamentale: comprendere e generare. Comprendere una modalità significa ricevere un contenuto in quella forma ed estrarne informazioni: descrivere un'immagine, trascrivere un audio, riassumere un video. Generare significa produrre un contenuto in quella forma: creare un'immagine, sintetizzare una voce, produrre un video. Le due capacità sono indipendenti: un sistema può comprendere bene le immagini senza saperle generare, o generare audio senza comprenderlo. La tabella incrocia modalità e capacità con esempi concreti. La terza operazione, la trasformazione, combina le prime due: si comprende un contenuto in una modalità e se ne genera uno in un'altra, come da un audio a una trascrizione, da un testo a un'immagine, da un documento a una presentazione. Sono le tre operazioni del filo conduttore, ciascuna con il suo valore e la sua attenzione specifica.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8</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Una distinzione da introdurre in modo semplice, senza entrare nelle architetture. Un modello multimodale nativo è addestrato per elaborare più modalità insieme: riceve, per esempio, immagini e testo nello stesso modello. Un'applicazione che combina modelli specializzati collega più sistemi: uno trascrive l'audio, uno elabora la trascrizione, uno legge la risposta con una voce sintetica. Per l'utente le due soluzioni possono sembrare identiche: in entrambi i casi si parla e si riceve una risposta vocale. Il comportamento però può essere diverso. In una catena, ogni passaggio può introdurre errori che si propagano, e alcune informazioni si perdono: se l'audio viene prima trascritto, tono, pause ed enfasi non arrivano al modello linguistico. In un modello nativo, alcune di queste informazioni possono essere conservate. Nella pratica molti strumenti combinano le due soluzioni, e le catene di modelli specializzati restano spesso la scelta migliore per compiti specifici. La conseguenza per l'utente non è scegliere un'architettura, ma ricordare che le capacità effettive dipendono dal sistema impiegato.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9</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 principio di metodo per tutto il tema: le capacità effettive e le modalità supportate dipendono dal sistema impiegato. L'etichetta 'multimodale' dice poco. Due strumenti entrambi definiti multimodali possono differire su molti aspetti: quali modalità accettano in ingresso e quali producono in uscita; quanto bene leggono dettagli piccoli, testi nelle immagini, grafici complessi; quali lingue e accenti riconoscono nel parlato; quanto lunghi possono essere gli audio e i video elaborati; se un video viene analizzato in tutti i fotogrammi o in una selezione; se i contenuti vengono elaborati sul dispositivo o inviati a un servizio esterno; quali regole d'uso applicano, per esempio sulla generazione di immagini di persone reali. Queste capacità migliorano rapidamente: un limite osservato un anno fa può non esistere più nei sistemi più recenti, e un limite ancora presente in uno strumento può essere superato in un altro. Per questo il modulo si concentra sui concetti durevoli; per le funzionalità specifiche conviene verificare quelle degli strumenti autorizzati in azienda, con una prova sui propri casi d'uso.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10</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Entriamo nelle modalità, partendo dalla comprensione delle immagini. È una delle capacità multimodali più mature e più utili nel lavoro quotidiano: leggere una schermata, interpretare un diagramma, estrarre informazioni da una fotografia, digitalizzare appunti e documenti. In questo sottotema, da conoscere e sperimentare, vediamo le applicazioni pratiche, i limiti ricorrenti presentati come elementi da gestire, e una distinzione importante, trattata una sola volta: quella tra descrivere ciò che si vede e comprenderne il significato. Il confine con il Tema 8: lì i documenti scansionati per il loro contenuto testuale; qui le immagini come modalità visiva. Concetto chiave: descrivere ciò che appare in un'immagine non equivale a comprenderne necessariamente significato, provenienza e contesto. Esercizio suggerito: dare ai partecipanti una schermata o una foto fittizia con alcuni dettagli importanti piccoli, chiedere una descrizione all'AI e verificare quali dettagli sono stati letti correttamente, quali mancati e quali ricostruiti.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11</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Le applicazioni pratiche della comprensione delle immagini sono molte. Interpretare schermate e messaggi di errore: capire che cosa mostra un programma, che cosa significa un avviso, dove cliccare. Leggere diagrammi e schemi: processi, organigrammi, mappe, grafici, con la possibilità di farli spiegare o trasformare in testo. Estrarre informazioni da fotografie: quante unità ci sono, quali etichette, quale stato presenta un macchinario o un'area di magazzino. Supportare l'assistenza tecnica: la foto di un componente o di un pannello di controllo, insieme al manuale, aiuta a identificare il pezzo e la procedura. Digitalizzare testi nelle immagini: lavagne, cartelli, etichette, moduli compilati, appunti scritti a mano. Analizzare documentazione visiva: fotografie di sopralluogo, cataloghi, controlli visivi di documenti o ambienti. Si aggiunge l'accessibilità: descrizioni di immagini e grafici per chi non vede. In molti di questi casi il sistema fornisce in pochi secondi un risultato utile. L'affidabilità varia con il compito: conoscere dove i sistemi sbagliano più spesso, come vedremo tra due slide, permette di sfruttarli con fiducia.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12</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Le schermate sono probabilmente l'uso più frequente della comprensione visiva nel lavoro d'ufficio. Si cattura lo schermo e si chiede: che cosa significa questo errore? Come esporto questi dati? Dove si trova questa impostazione? Il sistema legge il testo dell'interfaccia, riconosce menu, pulsanti e campi, e guida passo per passo. È un supporto prezioso per l'assistenza tecnica: risolve molte richieste ripetitive prima che arrivino all'help desk, aiuta con programmi poco familiari, rende più rapido l'apprendimento di un nuovo software. Lo stesso vale per un pannello di una macchina o il display di un dispositivo fotografato. Tre buone pratiche lo rendono affidabile. Indicare versione e contesto: il sistema riconosce l'interfaccia ma non sempre conosce la versione del programma o la configurazione aziendale, e può suggerire passaggi che nel nostro caso non esistono. Per modifiche a configurazioni o dati di sistemi aziendali, procedere con prudenza e, nel dubbio, con l'assistenza interna. Prima di condividere, ritagliare la parte rilevante: una schermata può contenere dati personali, dati di clienti, credenziali, notifiche o altre finestre.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13</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Una sola slide raccoglie i limiti ricorrenti della comprensione visiva, perché si gestiscono con poche pratiche semplici. Non sono motivi per rinunciare agli strumenti: indicano dove guardare. Il testo nelle immagini è oggi letto in modo molto affidabile quando è stampato, chiaro e in una lingua diffusa; richiede più attenzione con scritte a mano, caratteri piccoli o sfocati, riflessi. Gli errori più insidiosi riguardano numeri e codici: un 8 letto come 3, uno 0 come una O. A differenza di una parola sbagliata, un numero sbagliato resta plausibile, quindi i dati critici si controllano sull'originale. I diagrammi semplici e ordinati sono interpretati bene; quelli densi, con frecce che si incrociano o legende separate, conviene farli descrivere relazione per relazione. Dettagli piccoli e conteggi in immagini affollate possono sfuggire, anche perché molte applicazioni riducono la risoluzione prima dell'elaborazione: aiuta caricare un ritaglio o un'immagine nitida e chiedere dove si trova esattamente l'elemento descritto. Relazioni spaziali, distanze e proporzioni, e immagini ruotate o con prospettive insolite, restano fonte di errori: misure e conteggi vanno considerati stime. Questi limiti si riducono rapidamente nei sistemi più recenti e variano molto tra strumenti. Ciò che resta costante è che il sistema risponde con la stessa sicurezza quando ha visto bene e quando ha ricostruito in modo plausibile. I valori letti da un grafico in un'immagine sono stime: l'analisi quantitativa appartiene al Tema 9.</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14</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Una distinzione importante, che qui trattiamo una volta per tutte: osservare ciò che appare in un'immagine non equivale a comprenderne il significato, la provenienza o il contesto. L'esempio fittizio lo mostra. Davanti alla fotografia di un magazzino con alcuni scaffali vuoti, un sistema può dare una descrizione accurata: scaffali metallici, alcuni pieni, alcuni vuoti, un carrello elevatore, luce artificiale. Fin qui osservazione, ed è utile. Ma che cosa significa? Gli scaffali vuoti indicano una carenza di scorte, un'area svuotata per un inventario, un reparto in riorganizzazione, o un magazzino nuovo? La foto è di oggi o di due anni fa? È davvero il nostro magazzino? Queste domande non trovano risposta nell'immagine. Se gli si chiede un'interpretazione, il sistema ne propone una plausibile, e può essere un buon punto di partenza per ragionare: basta trattarla come ipotesi e completarla con il contesto che conosciamo noi. È lo stesso passaggio visto nel Tema 9 dalla descrizione all'interpretazione dei dati. Nelle immagini è più sottile, perché ciò che si vede sembra parlare da sé. Una pratica utile: chiedere al sistema di separare nella risposta ciò che osserva da ciò che ipotizza.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15</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 aspetto che merita attenzione specifica: la presenza di persone. Fotografie e video di lavoro contengono spesso colleghi, clienti, visitatori, passanti. Tre considerazioni. La prima riguarda i dati personali: il volto e l'immagine di una persona sono dati personali, e caricarli in uno strumento AI è un trattamento di dati, da fare negli strumenti autorizzati e per finalità legittime. Le regole specifiche sono trattate nei Temi 17 e 18. La seconda riguarda l'identificazione: molti strumenti di uso generale sono configurati per non riconoscere le persone dal volto, e l'identificazione biometrica è soggetta a limiti normativi specifici. Non è un compito per cui usare questi strumenti. La terza riguarda le inferenze: chiedere di dedurre da una foto età, stato d'animo, intenzioni o condizioni personali produce risposte che sembrano oggettive ma sono stime incerte, spesso influenzate da stereotipi; inoltre l'AI Act vieta il riconoscimento delle emozioni sul luogo di lavoro, salvo motivi medici o di sicurezza. Descrivere una scena è una cosa; giudicare le persone che vi compaiono è un'altra.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16</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Dalla comprensione alla generazione. I sistemi di generazione di immagini producono in pochi secondi illustrazioni, immagini dall'aspetto fotografico, concept e varianti a partire da una descrizione, e modificano immagini esistenti: aggiungono o rimuovono elementi, cambiano stile, adattano il formato. In questo sottotema, da conoscere e sperimentare, vediamo che cosa si può produrre, come si arriva a un buon risultato per passi successivi, le applicazioni nella comunicazione, nel marketing e nella formazione, un esempio dimostrativo, e come capire quando un'immagine è pronta all'uso e quando va rifinita. I modelli di diffusione, la tecnologia su cui si basano molti di questi sistemi, sono solo da accennare. Concetto chiave: la generazione visiva accelera l'esplorazione creativa e la produzione di materiali; controllo dei dettagli, fedeltà ai riferimenti e conformità ai requisiti professionali vanno verificati in base all'uso. Esercizio suggerito: generare un'immagine per una slide interna su un tema fittizio, chiedere due modifiche successive, poi valutarla con la lista della slide sui requisiti professionali.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17</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Dal punto di vista dell'utente: si descrive ciò che si vuole e il sistema produce una o più immagini. La descrizione può indicare soggetto, composizione, stile, colori, atmosfera, formato. Il risultato può essere un'illustrazione, un'immagine dall'aspetto fotografico, uno schizzo, un'icona. Valgono i principi generali di una buona richiesta, visti nel Tema 6: chiarezza, contesto, esempi, iterazione. Il punto da cogliere è che la descrizione orienta l'immagine ma non la determina del tutto: i dettagli non descritti li completa il sistema, come la luce, lo sfondo, la disposizione degli oggetti. È un vantaggio creativo, perché propone soluzioni a cui non si era pensato. Per arrivare esattamente a ciò che serve si procede per affinamenti: partire da un risultato e chiedere modifiche mirate, e in molti strumenti fornire un'immagine di riferimento, una palette o un esempio di stile. Ottenere una serie coerente, come lo stesso personaggio in più scene o lo stesso prodotto da più angolazioni, è più impegnativo: alcuni strumenti offrono funzioni dedicate, altrimenti servono più prove.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18</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Le applicazioni della generazione di immagini nel lavoro sono molte. Illustrazioni per presentazioni, documenti e materiali formativi, in uno stile coerente con il materiale. Concept di prodotto: un packaging, l'allestimento di uno stand, una variante di design, da vedere prima di investire. Prototipazione visiva: ambienti, schermate di un'interfaccia, scenari d'uso, utili per discutere un'idea con colleghi e clienti. Comunicazione e marketing: visual per campagne, post, newsletter, sito. Varianti e adattamento dei formati: più versioni della stessa idea con colori, composizioni o stili diversi, e adattamento a canali con formati differenti. Elementi grafici: icone, sfondi, pattern. Il valore è duplice: creatività, perché si esplorano dieci idee nel tempo che prima ne richiedeva una, e produttività, perché molti materiali si realizzano senza attendere tempi di produzione. Non tutte le immagini generate sono semplici bozze. Alcuni risultati si possono usare direttamente, per esempio un'illustrazione per una slide interna o uno sfondo. Altri richiedono editing, verifiche o strumenti professionali, come vedremo nella slide sulla qualità.</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19</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Oltre a generare immagini nuove, i sistemi trasformano immagini esistenti. Aggiungere elementi: un oggetto, una scritta, uno sfondo. Rimuovere elementi: un oggetto di disturbo, un difetto, un passante, ricostruendo lo sfondo. Sostituire: il colore di un prodotto, lo sfondo di una foto, un oggetto con un altro. Cambiare stile: da fotografia a disegno o acquerello. Modificare la composizione: estendere un'immagine oltre i suoi bordi, cambiarne l'inquadratura. Adattare il formato: da orizzontale a verticale per i social, a risoluzioni diverse. Sono operazioni che un tempo richiedevano competenze di fotoritocco e ore di lavoro, e oggi si ottengono con una richiesta: un grande risparmio per chi prepara cataloghi, materiali promozionali, presentazioni. Un'attenzione specifica riguarda le immagini usate come documentazione: rimuovere un elemento dalla foto di un cantiere o di un danno cambia ciò che la foto documenta. In quei casi si lavora su una copia e si dichiarano le modifiche, come vedremo nel 10.8.</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20</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 esempio dimostrativo fittizio, che mostra il procedimento per affinamenti. Le due illustrazioni sono schematiche, disegnate per la slide: rappresentano il tipo di risultato atteso, non sono output reali di uno strumento. La richiesta iniziale chiede un'illustrazione per la copertina di un corso interno sulla sicurezza in magazzino, con soggetto, stile, colori, formato e l'indicazione di non inserire testo. La prima versione rispetta il soggetto e la composizione, ma ha colori troppo accesi rispetto allo stile dei materiali aziendali e contiene una scritta inventata su uno scaffale: è un caso tipico, perché i sistemi tendono ad aggiungere testi decorativi. La richiesta di modifica non riparte da zero: chiede di mantenere soggetti e stile, cambiare palette, togliere la scritta e lasciare spazio libero per il titolo. La seconda versione è quasi pronta. Restano due controlli rapidi: i dettagli del carrello elevatore, perché un formatore sulla sicurezza noterebbe subito un mezzo poco realistico, e la coerenza con le altre copertine del corso. Il titolo si aggiunge in impaginazione, non si fa generare. Da proporre in aula con lo strumento autorizzato, seguendo gli stessi passaggi.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21</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Vediamo le principali applicazioni nella comunicazione, nel marketing e nella formazione, con il loro valore e l'attenzione principale. Formazione e materiali interni, come presentazioni, newsletter, intranet, corsi: illustrazioni che rendono i contenuti più chiari e coinvolgenti; l'attenzione è la coerenza con lo stile aziendale. Marketing e social: visual e varianti in tempi brevi, utili anche per confrontare alternative prima di una campagna; l'attenzione va a marchio, diritti e trasparenza. Concept e prototipi, per vedere e confrontare idee prima di investire: grande risparmio di tempo nelle fasi iniziali; l'attenzione è non confondere il concept con il prodotto finale. Adattamento di formati per canali e destinatari diversi: rapido ed efficace; l'attenzione è la fedeltà all'originale. Comunicazione esterna su larga scala: possibile e sempre più diffusa; richiede una revisione prima della pubblicazione, soprattutto quando compaiono persone o prodotti reali. Le linee guida aziendali sull'uso delle immagini generate, quando esistono, vanno seguite. Se non esistono, è un buon momento per chiederle.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22</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Quando un'immagine generata è pronta all'uso? Dipende dall'uso, e conviene ragionare per tre casi. Usabile direttamente: illustrazioni per slide e materiali interni, sfondi, icone, varianti da confrontare. Se il risultato è coerente e privo di errori evidenti, non serve altro. Da rifinire: immagini con testo, dettagli tecnici, serie che devono essere coerenti tra loro. I sistemi sono molto migliorati, ma scritte ed etichette possono ancora risultare imprecise, mani e meccanismi complessi possono avere incoerenze, e la coerenza tra più immagini richiede funzioni dedicate o più prove; spesso basta un passaggio di editing o uno strumento di grafica. Con verifiche o professionisti: prodotti reali, macchinari, luoghi riconoscibili, campagne esterne, packaging, materiali di marchio. Un prodotto reale generato può risultare simile ma non fedele, con dettagli che chi lo conosce riconosce subito. In tutti i casi ci sono quattro requisiti da verificare, che la generazione non garantisce automaticamente. Identità visiva: colori, caratteri e stile aziendali; i loghi si inseriscono come file originali, non si fanno generare. Diritti: esistono questioni aperte sui contenuti generati e le condizioni d'uso degli strumenti variano; imitare lo stile riconoscibile di un artista vivente o riprodurre personaggi e marchi altrui può creare problemi. Persone reali: generare immagini di persone riconoscibili richiede il loro consenso ed espone a rischi di inganno; molti strumenti lo limitano. Trasparenza: quando un'immagine può essere scambiata per una fotografia reale, è opportuno, e in alcuni casi obbligatorio, dichiararlo. Le regole specifiche sono nei Temi 17 e 18.</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23</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Passiamo all'audio. Le tecnologie vocali sono forse quelle con l'impatto più immediato sul lavoro quotidiano: trascrivere riunioni, interviste e telefonate, ottenere verbali e riepiloghi, interagire con un assistente a voce, tradurre il parlato, far leggere un testo da una voce naturale, rendere i contenuti accessibili. In questo sottotema, da conoscere e sperimentare, partiamo dai benefici, vediamo un esempio dalla riunione al verbale, poi gli errori tipici in una sola slide e il modo di gestirli con una revisione mirata, e infine le regole pratiche per registrare e trascrivere in modo corretto. Concetto chiave: le tecnologie vocali fanno risparmiare tempo e migliorano l'accessibilità; una revisione proporzionata degli elementi critici, come nomi, numeri e impegni, mantiene l'affidabilità. Esercizio suggerito: registrare, con l'informazione ai partecipanti e uno strumento autorizzato, una breve discussione simulata con nomi, numeri e impegni, e confrontare trascrizione e verbale automatici con quanto effettivamente detto.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24</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Una panoramica delle capacità, nell'ordine in cui portano valore nel lavoro. La trascrizione automatica: una registrazione diventa testo, con l'indicazione di chi parla e dei tempi, ricercabile e condivisibile. Verbali e riepiloghi: dal contenuto di una riunione o di un'intervista si ricavano sintesi, decisioni, attività e responsabili. L'interazione vocale: si conversa a voce con un assistente, con tempi di risposta sempre più simili a una conversazione, utile quando mani o occhi sono occupati. La traduzione del parlato: ciò che viene detto in una lingua viene restituito in un'altra, come sottotitolo o come voce, anche quasi in tempo reale. La sintesi vocale: un testo viene letto da una voce artificiale molto naturale, in molte lingue, per video formativi, versioni audio di documenti, assistenti telefonici. L'accessibilità: sottotitoli, letture e comandi vocali rendono i contenuti fruibili a più persone. La qualità di tutte queste capacità è molto migliorata e continua a migliorare; i risultati dipendono dalla qualità dell'audio, dalla lingua, dagli accenti e dalla terminologia.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25</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L'applicazione più diffusa delle tecnologie vocali in azienda è la trascrizione e la sintesi delle riunioni. Molti strumenti di videoconferenza la offrono direttamente: al termine si ottengono trascrizione, riassunto, decisioni e attività con i responsabili. I benefici sono concreti: nessuno deve dedicarsi agli appunti e tutti partecipano alla discussione; chi era assente recupera in pochi minuti; le attività concordate non si perdono; le riunioni passate diventano ricercabili. Lo stesso vale per interviste, focus group, telefonate di assistenza, colloqui di formazione. Il passaggio dalla registrazione al verbale è una catena di trasformazioni, e il punto delicato non è l'intero testo ma pochi elementi: nomi, numeri, decisioni, impegni e attribuzioni. Una revisione proporzionata si concentra su questi, e così mantiene quasi tutto il risparmio di tempo. Due buone pratiche: far rivedere il verbale a chi ha partecipato, o almeno al responsabile della riunione, prima di diffonderlo; conservare la trascrizione, o la registrazione quando consentito, come riferimento per i punti controversi.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26</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 esempio dimostrativo fittizio: un breve estratto di trascrizione di una riunione di progetto e il verbale operativo che se ne ricava. I nomi, gli importi e le date sono inventati. Osserviamo che cosa fa un buon verbale. Distingue le decisioni dalle proposte: la stampa con il fornitore attuale è decisa, ma a una condizione, la conferma del prezzo, e la condizione deve restare. La nuova data del 30 novembre è invece solo una proposta, da confermare lunedì, e va nei punti aperti, non nelle decisioni. Trasforma gli impegni in attività con responsabile e scadenza: Neri chiede la conferma entro giovedì. Non inventa attività che nessuno ha preso: Gallo ha segnalato un possibile ritardo, ma non si è impegnato a nulla. In basso, i quattro elementi da controllare prima di diffondere il verbale: importo, scadenze, condizioni e la distinzione tra decisione e proposta. È esattamente il controllo mirato di cui parlavamo: pochi minuti su pochi punti, non la rilettura di tutta la registrazione. In aula si può chiedere ai partecipanti di produrre il verbale con lo strumento autorizzato a partire dallo stesso estratto, e confrontare i risultati con questa versione.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27</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Gli errori tipici delle trascrizioni sono prevedibili, e proprio per questo si controllano in modo mirato. La tabella mostra tre esempi fittizi. Nomi propri di persone, aziende e prodotti, specialmente se stranieri o poco comuni: Kessler diventa Kessel. Sigle e terminologia aziendale, sostituite da parole simili nel suono. Numeri, importi e percentuali, dove l'errore è grave e poco visibile: 'diciotto per cento' diventa 'otto per cento'. A destra, il rischio più specifico: l'attribuzione delle frasi alle persone. Molti strumenti distinguono le voci e indicano chi parla; con persone collegate da account separati in videoconferenza l'attribuzione è di solito affidabile, mentre con più persone nella stessa stanza e un solo microfono, voci simili o interruzioni può sbagliare. Nell'esempio l'impegno di consegnare entro venerdì finisce attribuito alla persona sbagliata: in un verbale cambia chi ha preso l'impegno. In alcuni sistemi si osserva anche l'aggiunta di frasi mai pronunciate durante pause o rumori. Come ridurre gli errori: fornire un vocabolario di nomi e sigle quando lo strumento lo consente, usare buoni microfoni e account separati, e rileggere solo i passaggi con nomi, numeri e impegni. Con questa revisione proporzionata il risparmio di tempo resta, e l'affidabilità pure.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28</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Due capacità di generazione vocale. La sintesi vocale trasforma un testo in parlato, con voci molto naturali, intonazione ed espressività, in molte lingue. Applicazioni: narrazione di video formativi, versioni audio di documenti e procedure, messaggi e assistenti telefonici, contenuti per chi preferisce ascoltare o non può leggere. Alcuni sistemi riproducono la voce di una persona specifica a partire da poche registrazioni: è una capacità con usi legittimi, come dare voce a un formatore in più lingue o restituire la voce a chi l'ha persa, ma solo con il consenso esplicito della persona e nelle regole aziendali, come vedremo nel 10.8. L'interazione vocale permette di conversare con un assistente: porre domande, dettare, ricevere risposte parlate. È utile quando le mani o gli occhi sono occupati, in magazzino, in officina, alla guida, per chi ha difficoltà con la tastiera, o semplicemente perché parlare è più rapido che scrivere. Un'attenzione pratica: una risposta ascoltata non si rilegge, quindi per informazioni importanti conviene chiedere anche la versione scritta.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29</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La traduzione del parlato combina riconoscimento, traduzione e, a volte, sintesi vocale. Può avvenire in modi diversi: sottotitoli tradotti in una videoconferenza, traduzione di una registrazione, conversazione bilingue quasi in tempo reale con un dispositivo che ascolta e traduce. Le opportunità sono grandi: riunioni con colleghi o clienti di altri paesi senza una lingua comune, formazione per personale di lingue diverse, assistenza a clienti stranieri, visite di fornitori. Per le lingue più diffuse e per conversazioni ordinarie la qualità è oggi buona. Per l'uso professionale conviene conoscere due aspetti. La traduzione somma due passaggi, riconoscimento e traduzione, e quella quasi in tempo reale lavora frase per frase con meno contesto. E chi ascolta spesso non può verificarla, perché non conosce la lingua di partenza. Per questo, nelle conversazioni con conseguenze, come trattative, accordi, istruzioni di sicurezza, comunicazioni mediche o legali, la traduzione automatica è un ottimo supporto ma non sostituisce un interprete o una conferma scritta.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30</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L'AI multimodale è uno strumento concreto di accessibilità. Trascrizioni, sottotitoli, descrizioni, sintesi vocale e traduzioni rendono le informazioni fruibili a persone con esigenze diverse. Le persone sorde o con difficoltà uditive seguono riunioni e video grazie ai sottotitoli automatici. Le persone cieche o ipovedenti ascoltano documenti con la sintesi vocale e ricevono descrizioni di immagini e grafici. Le persone con dislessia possono ascoltare invece di leggere. Chi ha difficoltà motorie può usare la voce invece della tastiera. Chi non conosce bene la lingua riceve traduzioni e versioni semplificate. E chiunque, in situazioni temporanee, in viaggio, in un ambiente rumoroso, con le mani occupate, beneficia di modalità alternative. È uno dei contributi più concreti e meno discussi dell'AI multimodale, e un'opportunità per rendere più inclusiva la comunicazione aziendale, oggi a costi molto più bassi di un tempo. La condizione è un controllo adeguato sui contenuti importanti: un sottotitolo sbagliato, per chi non può ascoltare l'audio, è un errore che non ha modo di correggere.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31</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Registrazione e trascrizione coinvolgono le voci e le parole di altre persone, e quindi i loro dati personali. Senza entrare nell'analisi normativa, che appartiene ai Temi 17 e 18, alcune regole pratiche sono chiare. Informare sempre i partecipanti, prima di iniziare, che la conversazione viene registrata o trascritta e se sarà elaborata con l'AI. Quanto alla base giuridica, il consenso non è l'unica possibile: a seconda della situazione possono valere altre basi previste dalla normativa sulla protezione dei dati, come un obbligo contrattuale o un interesse legittimo valutato dall'azienda. Non è una scelta del singolo: la definiscono l'azienda e le funzioni competenti, e la policy interna dice quando serve il consenso, come raccoglierlo e come gestire chi preferisce di no. Usare solo strumenti autorizzati, perché una registrazione contiene spesso informazioni riservate e caricarla in uno strumento non autorizzato significa portarla fuori dal controllo aziendale. Più attenzione con gli esterni, come clienti, fornitori, candidati, per cui possono valere regole più stringenti. Definire per quanto tempo conservare registrazioni e trascrizioni e chi può accedervi, e non registrare mai di nascosto. L'avviso automatico degli strumenti di videoconferenza è un buon punto di partenza, ma non sostituisce l'informazione esplicita, specialmente quando la trascrizione viene poi elaborata da sistemi AI.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32</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Il video combina immagini, tempo e spesso audio, ed è la modalità più complessa, ma anche quella in cui le capacità sono cresciute più in fretta. Gli obiettivi del sottotema, a priorità media, sono conoscere che cosa i sistemi permettono oggi di fare con i video, sia nell'analizzarli sia nel generarli, le opportunità per formazione e comunicazione, e la distinzione tra video documentale e video sintetico. La produzione audiovisiva specialistica e l'editing professionale sono solo da accennare. Concetto chiave: coerenza visiva e plausibilità di una sequenza non dimostrano da sole che gli eventi siano accaduti; il valore di un video come documentazione dipende dalla provenienza verificabile. Esercizio suggerito: mostrare un breve video generato, privo di persone reali e marchi, insieme a un video reale di soggetto simile, e discutere quali informazioni sulla provenienza aiutano a distinguerli.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33</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 sistemi multimodali analizzano filmati e sequenze audiovisive, combinando ciò che si vede e ciò che si sente. Le applicazioni sono molto pratiche. Sintesi di webinar, lezioni e filmati: una registrazione di un'ora diventa una sintesi con i punti principali. Capitoli e ricerca: un archivio di video formativi diventa navigabile, con l'indicazione del punto in cui si parla di un argomento. Istruzioni da video dimostrativi: una procedura mostrata in video diventa una lista di passaggi scritti. Estrazione di testi a schermo e slide mostrate. Due aspetti tecnici da conoscere. Molti sistemi analizzano una selezione di fotogrammi a intervalli, e un evento molto rapido tra due fotogrammi può sfuggire. E le relazioni temporali, come che cosa è successo prima e dopo o quanto è durato un evento, restano una fonte di errori più frequente. Per i video usati come documentazione, quindi, la sintesi automatica è un indice prezioso per trovare i passaggi rilevanti, da guardare direttamente quando contano.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34</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La generazione di video è la capacità multimodale progredita più rapidamente negli ultimi anni. Le opportunità per la comunicazione e la formazione sono concrete. Video formativi prodotti e aggiornati rapidamente, senza riprese, quando una procedura cambia. Animazioni esplicative per mostrare un processo, il funzionamento di un prodotto, un flusso di lavoro. Presentatori virtuali che leggono un testo con una voce sintetica, utili per contenuti standard e aggiornamenti frequenti, dichiarati come tali. Adattamento multilingue: doppiaggio, sottotitoli e in alcuni strumenti sincronizzazione del labiale, per raggiungere personale e clienti in più lingue con lo stesso video. Contenuti brevi per la comunicazione interna e i social. Modifiche a filmati esistenti: cambiare sfondo, rimuovere elementi, adattare il formato. I limiti principali si stanno riducendo ma restano da conoscere: la coerenza tra fotogrammi e scene, perché oggetti e persone possono cambiare aspetto o muoversi in modo innaturale, e il controllo preciso dell'azione rappresentata. I video generati sono in genere brevi; produzioni lunghe e coerenti richiedono montaggio e competenze specialistiche.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35</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La distinzione più importante del sottotema: contenuto documentale e contenuto sintetico. Un video documentale registra qualcosa che è accaduto davanti a una telecamera: una riunione, un evento, un'ispezione, una testimonianza. Il suo valore sta nel legame con la realtà. Un video sintetico è generato o profondamente modificato da un sistema: può rappresentare qualcosa che non è mai accaduto. Il suo valore sta nella comunicazione, nella spiegazione, nella creatività. Entrambi sono legittimi, e non vanno confusi. Poiché i video sintetici di alta qualità possono essere difficili da distinguere a occhio da quelli documentali, il valore di un video come prova non scompare, ma dipende sempre di più dalla provenienza: chi l'ha girato, quando, con quale dispositivo, come è arrivato a noi. Un video di una telecamera aziendale, conservato secondo le procedure, resta una documentazione solida; un video ricevuto da una fonte sconosciuta richiede verifiche prima di essere usato come prova. Ne derivano due regole pratiche. Quando si usa un video sintetico in modo che possa sembrare reale, dichiararlo. Quando si riceve un video come prova di qualcosa, chiedersi da dove viene, come vedremo nel 10.8.</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36</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Un'applicazione che combina testo e immagini: presentazioni e materiali di comunicazione. È un ambito in cui l'AI è entrata rapidamente nel lavoro quotidiano: da un documento o da una scaletta si ottengono in pochi minuti slide impaginate, schemi, infografiche, versioni per destinatari diversi. In questo sottotema, da conoscere e sperimentare, vediamo che cosa si può fare, un esempio dal documento alle slide, l'adattamento ai destinatari, la coerenza tra testo e visivo e una checklist unica di controllo. Il confine con il 10.7: qui l'applicazione, lì il principio generale delle conversioni tra modalità. Concetto chiave: l'AI riduce drasticamente il tempo dedicato all'impaginazione; la cura visiva non garantisce da sola accuratezza, completezza e coerenza, ed è lì che va investito il tempo risparmiato. Esercizio suggerito: generare con lo strumento autorizzato una breve presentazione da un documento fittizio di due pagine e applicare la checklist, contando gli interventi necessari.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37</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Le possibilità sono molte. Trasformare documenti in presentazioni: una relazione diventa una presentazione per la direzione, un manuale una serie di schede, una procedura un diagramma di flusso. Organizzare le informazioni: scegliere che cosa mettere in evidenza, come raggrupparlo, in quale ordine presentarlo; è spesso il contributo più utile, perché propone una struttura su cui ragionare invece di una pagina bianca. Creare schemi e diagrammi: processi, organigrammi, mappe concettuali, linee del tempo. Adattare i contenuti ai destinatari, come vedremo tra due slide. Migliorare chiarezza e qualità visiva: titoli più efficaci, testi più brevi, gerarchia visiva, coerenza grafica. Ridurre il tempo dedicato all'impaginazione, la parte più meccanica del lavoro. Questi strumenti possono essere integrati nei programmi di presentazione o essere servizi separati, e la qualità dei risultati varia tra strumenti. Il tempo risparmiato sull'impaginazione conviene investirlo dove l'AI non può sostituirci del tutto: nella scelta del messaggio e nella verifica dei contenuti.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38</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 esempio dimostrativo fittizio. A sinistra l'estratto di un documento interno strutturato, con una proposta di nuovo processo per la gestione dei resi; numeri e date sono inventati. A destra le tre slide che ne ricava una buona trasformazione. La prima mette in evidenza il problema con un solo numero, il tempo medio di chiusura, invece di ripetere tutto il paragrafo. La seconda trasforma la proposta in una sequenza di tre passaggi, più facile da ricordare. La terza riunisce tempi e rischi, perché chi decide deve vederli insieme. È il valore dell'AI in questo lavoro: scegliere che cosa evidenziare, sintetizzare, dare forma visiva. Il controllo è altrettanto semplice: i numeri, 1.200 resi e 9 giorni, coincidono con il documento? Le fasi e le date sono le stesse? I rischi ci sono ancora, o sono spariti nella sintesi? Un errore tipico, da far cercare ai partecipanti, sarebbe una slide che mostra la proposta senza i rischi: più convincente, ma incompleta. In aula: dare lo stesso estratto allo strumento autorizzato e confrontare il risultato con questa struttura.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39</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Una delle possibilità più utili è adattare lo stesso contenuto a destinatari diversi, come visto nel Tema 8 per i testi. Da un unico documento di progetto si ottengono una presentazione sintetica per la direzione, con obiettivi, costi e rischi; una presentazione operativa per il gruppo di lavoro, con attività, tempi e responsabilità; un materiale formativo per chi userà il risultato, con istruzioni ed esempi; una scheda per la comunicazione interna, breve e visiva. L'AI è molto efficace in questo lavoro, che a mano richiederebbe di ripartire più volte da capo, e permette di tenere allineate le versioni quando il documento cambia. Ogni adattamento seleziona, ed è giusto che lo faccia: per questo ogni versione si controlla pensando al suo destinatario. La versione per la direzione contiene ancora i rischi principali? Quella formativa ha semplificato una regola fino a renderla scorretta?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40</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Quando un documento diventa un materiale visivo, possono nascere incoerenze tra ciò che dice il testo e ciò che mostra la grafica. L'esempio fittizio mostra un'infografica generata da un rapporto: il testo dice che le vendite online sono il 35 per cento del totale, ma la fetta 'online' del grafico sembra metà. Succede quando un grafico decorativo viene disegnato invece che calcolato dai dati. Altri errori tipici: icone che suggeriscono un significato diverso, come un consumatore con il carrello per indicare i clienti business; schemi semplificati fino a invertire due fasi; numeri arrotondati in modo diverso dal documento. Sono errori facili da correggere quando si sa dove guardarli. Il controllo consiste nel confrontare ogni elemento visivo con il contenuto di partenza: numeri, proporzioni, sequenze, icone. Quando possibile, conviene far costruire i grafici dai dati, come grafici veri e modificabili, invece che come immagini.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41</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Una checklist unica per valutare un materiale prodotto con l'AI, da applicare prima di usarlo o diffonderlo. La premessa è una sola: con l'AI una veste grafica curata costa pochissimo, e una presentazione ben impaginata ispira fiducia anche quando contiene errori, soprattutto perché le slide si guardano in fretta, in riunione. Per questo la cura visiva non basta, e l'attenzione va spostata sulle voci della lista. Il messaggio: lo si capisce in pochi secondi? Il destinatario: linguaggio, dettaglio e tono sono adatti? L'accuratezza: numeri, nomi, date e citazioni corrispondono alla fonte? La completezza: ci sono i rischi, le condizioni, i dati sfavorevoli? La coerenza: testo, grafici e icone dicono la stessa cosa? La sequenza: l'ordine delle slide costruisce un ragionamento, senza conclusioni non sostenute? La sobrietà: niente decorazioni o testo superflui? Le immagini: appropriate, coerenti con l'identità visiva, senza persone reali o marchi altrui non autorizzati, dichiarate se generate e realistiche? Le tre voci evidenziate, accuratezza, completezza e coerenza, sono quelle che la cura estetica non garantisce. Bastano pochi minuti, ed è anche un buon criterio per decidere quanto intervenire su una bozza.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42</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Nei sottotemi precedenti abbiamo incontrato molte trasformazioni: dall'audio alla trascrizione, dal testo all'immagine, dal documento alla presentazione. In questo sottotema, da comprendere e sperimentare, le guardiamo insieme, come principio generale. Che cosa si guadagna trasformando un contenuto da una modalità all'altra? Come si combinano più fonti? Come si rendono i contenuti accessibili su scala? E come si controlla, in modo rapido, che il significato sia rimasto lo stesso? Il confine con il 10.4: lì le capacità vocali, qui le trasformazioni tra modalità in generale. Concetto chiave: il valore delle conversioni dipende dalla loro utilità e dalla fedeltà delle informazioni, non soltanto dalla comodità o dalla rapidità del processo. Esercizio suggerito: far percorrere ai partecipanti una catena di tre trasformazioni, da un breve audio fittizio a una trascrizione, a un riassunto, a una slide, e confrontare il risultato finale con l'audio originale, elencando che cosa si è perso o alterato.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43</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La tabella mostra le conversioni più utili nel lavoro, con un esempio e il valore che portano. Audio in testo: la trascrizione di una riunione, che rende il contenuto ricercabile e condivisibile. Documento in presentazione: una relazione trasformata in slide, per comunicare in sintesi. Testo in audio: una procedura letta da una voce sintetica, da ascoltare in mobilità o per chi fatica a leggere. Video in sintesi: un webinar ridotto ai punti chiave, con un grande risparmio di tempo. Immagine in testo: la descrizione di una foto o i dati estratti da una schermata, che diventano riutilizzabili. Più fonti in un nuovo contenuto: registrazione, slide e documento combinati in un verbale completo. Ogni conversione rende un contenuto più accessibile, più rapido da consumare o adatto a un altro canale. E ogni conversione sceglie che cosa portare nella nuova forma e che cosa lasciare indietro, perché le modalità non sono equivalenti: un'immagine contiene informazioni che un testo non descrive del tutto, e un testo contiene precisazioni che un'immagine non mostra.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44</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Spesso le trasformazioni non sono singole, ma formano catene. L'esempio è tipico: una riunione viene registrata; la registrazione viene trascritta; la trascrizione riassunta; il riassunto trasformato in slide per la direzione; le slide lette da una voce sintetica in un video di aggiornamento. Ogni passaggio è utile e, preso da solo, abbastanza affidabile. Ma ogni passaggio seleziona: la trascrizione perde il tono e le esitazioni, il riassunto le obiezioni minori, le slide le condizioni, il video la possibilità di rileggere. E gli errori si accumulano: un 'il budget dovrebbe bastare', detto con tono dubitativo, diventa nella trascrizione e nel riassunto 'il budget è sufficiente', poi un punto elenco nelle slide, poi un'affermazione nel video. Nessun errore di parola, ma il significato è cambiato. È il fenomeno del passaparola, applicato alle modalità. Due buone pratiche, semplici: accorciare le catene, partendo quando possibile dalla fonte originale invece che da una trasformazione intermedia; e, per i contenuti importanti, confrontare il risultato finale con la fonte, non solo con il passaggio precedente.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45</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Una forma particolarmente utile di trasformazione è creare un contenuto a partire da più fonti di natura diversa. Un verbale che combina la registrazione di una riunione, le slide proiettate e il documento discusso. Un materiale formativo che integra un video dimostrativo, il manuale e le domande frequenti. Un rapporto di sopralluogo che unisce fotografie, note vocali e una lista di controllo. Il valore è grande, perché ogni fonte compensa i limiti delle altre: le slide chiariscono a che cosa si riferiva una frase della registrazione, le fotografie documentano ciò che le note descrivono, e il lavoro di composizione che prima richiedeva ore si riduce a una revisione. L'attenzione specifica riguarda i collegamenti: il sistema può associare un commento alla slide sbagliata o una foto alla nota di un'altra stanza, e il risultato, ben integrato e scorrevole, non mostra le giunture tra le fonti. La soluzione è semplice: per i contenuti importanti, chiedere che ogni affermazione indichi la fonte da cui proviene, così il controllo diventa rapido. È il principio di tracciabilità visto nel Tema 8, applicato alle modalità.</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46</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Le conversioni tra modalità sono anche la chiave dell'accessibilità su scala. Nel 10.4 l'abbiamo vista per l'audio; qui la estendiamo a tutte le modalità. Un contenuto disponibile in una sola modalità esclude chi non può usarla; disponibile in più modalità, include. Le conversioni più utili: testi alternativi per le immagini; sottotitoli e trascrizioni per audio e video; versioni audio e versioni semplificate dei documenti; descrizioni testuali di grafici e diagrammi; traduzioni. L'AI rende queste conversioni molto più rapide ed economiche, e quindi possibili su tutto un archivio: tutti i video formativi sottotitolati, tutte le immagini della intranet con un testo alternativo. È un'opportunità concreta per una comunicazione aziendale più inclusiva. Perché funzioni davvero, conviene un controllo mirato sui contenuti importanti: un testo alternativo generico, come 'immagine di un grafico', non aiuta, e uno sbagliato, come una descrizione che inverte una tendenza, arriva proprio a chi non può verificarlo.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47</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Ogni passaggio tra formati può introdurre tre tipi di variazione, che qui si presentano in forme specifiche. Omissioni: ciò che la nuova modalità non esprime si perde, come il tono di una frase nella trascrizione o una condizione scritta in piccolo che non entra nell'infografica. Reinterpretazioni: la conversione sceglie una lettura, come un'immagine generata da una descrizione ambigua o una sintesi vocale che con l'intonazione trasforma una domanda in un'affermazione. Alterazioni: il contenuto cambia, come un numero letto male in una schermata o un dettaglio aggiunto in un'immagine generata. Il controllo non richiede di rifare tutto il lavoro: si basa sulla fonte originale e su pochi passaggi. Primo, identificare gli elementi critici che devono sopravvivere: numeri, nomi, impegni, condizioni, il messaggio principale. Secondo, controllarli nel risultato uno per uno. Terzo, tornare all'originale solo per quei passaggi: riascoltare il punto in cui si parla dell'importo, guardare il dettaglio nella foto, rileggere la conclusione del documento. Quarto, quando serve, coinvolgere chi conosce l'originale: chi era presente, chi ha scritto il documento. Il criterio del sottotema: una conversione rapida ma infedele non fa risparmiare tempo, lo sposta su chi dovrà correggerne le conseguenze.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48</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Ultimo sottotema, di consapevolezza critica. Con la generazione di immagini, voci e video realistici, ciò che sembra reale e ciò che è reale non coincidono più automaticamente. Questo non rende sospetto ogni contenuto: chiede di saper porre le domande giuste. In questo sottotema vediamo gli usi legittimi e i rischi dei contenuti sintetici, la distinzione tra realismo, autenticità e accuratezza, gli strumenti di provenienza, le contromisure organizzative contro le frodi, gli obblighi di trasparenza dell'AI Act nella loro portata effettiva, i diritti su immagini e voci, e la supervisione proporzionata. La verifica forense tecnica è solo da accennare. Gli errori tipici dei contenuti multimodali sono stati trattati nei sottotemi in cui nascono e non li ripetiamo. Concetto chiave: distinguere realismo, provenienza e accuratezza è essenziale per usare in modo critico, e con fiducia, i contenuti multimodali. Esercizio suggerito: presentare uno scenario fittizio di richiesta urgente via messaggio vocale da parte di un dirigente e discutere in gruppo quali verifiche fare e quali procedure aziendali le rendono possibili.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49</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 contenuti sintetici realistici sono immagini, audio e video generati o modificati dall'AI in modo da sembrare registrazioni della realtà. Si parla di deepfake quando rappresentano in modo realistico persone, luoghi o eventi che non esistono o non sono accaduti così, per esempio una persona reale che dice cose mai dette. Le stesse tecnologie hanno molti usi legittimi e utili: video formativi con presentatori virtuali, doppiaggio e adattamento in più lingue, voci sintetiche per l'accessibilità, compresa la possibilità di restituire una voce a chi l'ha persa, prototipi ed effetti per la comunicazione, satira e finzione dichiarate. Il criterio è il consenso delle persone rappresentate e la trasparenza verso chi guarda. Gli usi dannosi esistono e vanno conosciuti: frodi con voce o volto imitati, disinformazione, danni alla reputazione. In ambito aziendale il rischio più concreto è la frode che imita una persona conosciuta. Due casi riportati dalla stampa: nel 2019 l'amministratore di un'azienda energetica britannica trasferì circa 220.000 euro dopo una telefonata in cui la voce del superiore era stata imitata; nel 2024, nella sede di Hong Kong di una multinazionale, un dipendente trasferì l'equivalente di circa 25 milioni di dollari dopo una videochiamata con colleghi ricreati artificialmente. Lo schema è sempre simile: richiesta urgente, persona di fiducia, canale che sembra sicuro. Le contromisure sono nella slide 'Difendersi dalle frodi'.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50</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Il cuore del sottotema: tre caratteristiche che nel linguaggio comune si confondono. Il realismo: il contenuto appare plausibile, sembra reale; un'immagine sintetica può somigliare in tutto a una fotografia. L'autenticità: l'origine del contenuto è accertabile; un video ha una provenienza documentata, chi l'ha girato, quando, dove, con quale dispositivo. L'accuratezza: le informazioni corrispondono ai fatti o alla fonte; una descrizione riporta fedelmente quanto documentato. Le tre caratteristiche sono indipendenti. Un'immagine sintetica può essere realistica senza essere autentica come testimonianza di un evento. Una registrazione autentica può contenere affermazioni false: è vero che quella persona le ha dette, ma ciò che ha detto può essere sbagliato. Una presentazione professionale può riportare dati inesatti. La somiglianza con la realtà, da sola, non dimostra origine, autenticità o verità. Davanti a un contenuto multimodale che conta, le tre domande vanno poste separatamente: sembra reale? Da dove viene? Ciò che mostra è vero? Per la maggior parte dei contenuti quotidiani la risposta è rapida; per quelli usati come prova o per decisioni importanti merita più tempo.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51</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Se il realismo non basta, l'autenticità si accerta con la provenienza: la storia documentata di un contenuto, da chi l'ha creato a come è arrivato a noi. Esistono strumenti tecnici che aiutano, in rapida diffusione. I metadati, informazioni incorporate nei file come data, dispositivo, posizione; utili, ma facili da modificare o rimuovere. Le filigrane digitali, inserite da molti sistemi di generazione nei contenuti che producono, spesso invisibili; con l'AI Act la marcatura leggibile dalle macchine diventa un obbligo per i fornitori di sistemi generativi, ma le filigrane possono essere alterate. Le credenziali di contenuto, come quelle dello standard C2PA, che registrano in modo verificabile origine e modifiche di un file; sempre più adottate da produttori di fotocamere, software e piattaforme, non ancora ovunque. Le etichette applicate dalle piattaforme ai contenuti generati. Anche etichette e metadati vanno interpretati: indicano come un contenuto è stato prodotto, non se ciò che mostra è vero, e l'assenza di un'etichetta non prova che un contenuto sia autentico. La verifica forense tecnica è solo da accennare. Per l'utente la verifica più efficace è spesso organizzativa: risalire alla fonte, chiedere conferma attraverso un canale indipendente, confrontare con altre fonti.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52</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Contro le frodi basate su contenuti sintetici la difesa più efficace non è tecnica, ma organizzativa, ed è alla portata di ogni azienda. Riconoscere a occhio o a orecchio un deepfake di buona qualità è sempre più difficile, e gli strumenti di rilevamento automatico non sono infallibili: conviene quindi che le decisioni importanti non dipendano dal solo riconoscimento di una voce o di un volto. Le contromisure. Verifica su un canale indipendente: davanti a una richiesta insolita, specialmente di pagamenti, credenziali o dati riservati, richiamare la persona a un numero noto, non a quello fornito nel messaggio, o confermare di persona. Procedure robuste: autorizzazioni a più firme, controlli incrociati, regole che valgono anche per le richieste del vertice. Attenzione a urgenza e segretezza, i due ingredienti tipici delle frodi, perché impediscono la verifica. Domande o parole di controllo concordate per le situazioni delicate. Segnalazione alla sicurezza aziendale in caso di dubbio, anche se poi la richiesta si rivela autentica. Nessuno dovrebbe sentirsi in imbarazzo nel verificare una richiesta del proprio superiore: è una procedura, non una mancanza di fiducia.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53</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La trasparenza riguarda anche i contenuti che produciamo noi. Un'azienda può comunicare in modo fuorviante senza volerlo: immagini generate che sembrano fotografie reali di prodotti o sedi, 'clienti' o 'dipendenti' inesistenti in finte testimonianze, ritocchi che migliorano un prodotto oltre il reale, voci e presentatori sintetici non dichiarati, ricostruzioni presentate come documentazione. Il problema non è l'AI, ma la differenza tra ciò che il contenuto sembra e ciò che è. Su questo l'articolo 50 dell'AI Act, applicabile dal 2 agosto 2026, fissa obblighi precisi, che è importante non generalizzare. Chi fornisce sistemi che interagiscono con le persone, come chatbot e assistenti, deve far sapere che si sta interagendo con un'AI, salvo che sia evidente. Chi fornisce sistemi generativi deve marcare i contenuti prodotti in modo leggibile dalle macchine; sono escluse, tra l'altro, le funzioni di supporto all'editing che non alterano in modo sostanziale il contenuto; per i sistemi già sul mercato prima del 2 agosto 2026 il Regolamento (UE) 2026/1744 concede tempo fino al 2 dicembre 2026. Chi usa un sistema per creare deepfake, cioè immagini, audio o video che ritraggono in modo realistico persone, luoghi o eventi, deve dichiararlo; per opere evidentemente artistiche, creative, satiriche o di finzione l'obbligo si limita a una dichiarazione che non ostacoli la fruizione dell'opera. Chi pubblica testi generati per informare il pubblico su questioni di interesse pubblico deve dichiararlo, salvo che il testo abbia avuto una revisione umana e qualcuno ne abbia la responsabilità editoriale. L'articolo prevede anche l'informazione alle persone esposte a sistemi di riconoscimento delle emozioni o di categorizzazione biometrica, e alcune eccezioni per attività di contrasto autorizzate dalla legge. Ne segue che non ogni contenuto generato con l'AI va etichettato: un'illustrazione per una slide interna non è un deepfake. Policy aziendali, piattaforme e altre norme possono però chiedere di più. La Commissione europea ha pubblicato linee guida sull'articolo 50 e, il 10 giugno 2026, un codice di buone pratiche sulla trasparenza dei contenuti generati, ad adesione volontaria. Dettagli e casi particolari sono trattati nei Temi 17 e 18. Date e testi verificati a ottobre 2026 sulle pagine ufficiali della Commissione e sul Regolamento 2026/1744 (considerando 38); da ricontrollare prima di ogni edizione.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54</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Introduciamo il tema dei diritti senza analisi normativa, che appartiene ai Temi 17 e 18, perché i partecipanti sappiano riconoscere quando serve un approfondimento. I contenuti di partenza: usare come base un'immagine, un video, una musica o un testo di cui non si hanno i diritti non diventa lecito perché passa attraverso un sistema AI. I contenuti generati: la titolarità dei contenuti prodotti con l'AI è una questione ancora in evoluzione, e le condizioni d'uso degli strumenti variano; conviene conoscerle per gli strumenti autorizzati. L'immagine delle persone: usare il volto di una persona, anche modificato o in un contenuto generato, richiede di regola il suo consenso. La voce delle persone: anche la voce è un elemento dell'identità personale; riprodurla con il consenso apre usi utili, come un formatore che parla in più lingue, imitarla senza consenso è problematico oltre che rischioso. Gli stili e le opere riconoscibili: imitare lo stile di un artista vivente, riprodurre personaggi, marchi, opere protette. Il comportamento pratico è semplice: nei casi dubbi, specialmente per contenuti destinati all'esterno, chiedere prima a chi in azienda si occupa di questi aspetti.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55</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L'ultimo punto: la verifica proporzionata all'uso, come in tutto il percorso. È ciò che permette di sfruttare il risparmio di tempo dell'AI multimodale senza rinunciare all'affidabilità. Tre livelli. Per uso personale o esplorativo, come capire una schermata, farsi un'idea di un video, generare un concept, basta un controllo di plausibilità. Per uso interno, come verbali, materiali formativi, presentazioni interne, si controllano gli elementi critici sull'originale, come numeri, nomi, impegni e attribuzioni, e si fa rivedere a chi conosce il contenuto. Per uso esterno o decisionale, come comunicazione al pubblico, materiali per clienti, contenuti usati come prova o documentazione, decisioni basate su immagini o registrazioni, serve una verifica completa: provenienza accertata, confronto sistematico con l'originale, diritti verificati, trasparenza sui contenuti sintetici e coinvolgimento delle funzioni competenti. Due fattori alzano il livello: la presenza di persone reali e la possibilità che il contenuto venga scambiato per una rappresentazione della realtà. Il principio dei controlli proporzionati è sviluppato nel Tema 7.</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56</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 unico riepilogo delle competenze del modulo. Al termine, il partecipante è in grado di: spiegare che cos'è l'AI multimodale e come combinare più modalità in un'unica interazione; usare l'AI per leggere schermate, diagrammi, fotografie e documenti visivi, sapendo dove controllare; generare e modificare immagini per formazione, comunicazione e prototipi, procedendo per affinamenti; valutare quando un'immagine è pronta all'uso, da rifinire o da affidare a professionisti; ottenere trascrizioni, verbali e traduzioni con una revisione mirata su nomi, numeri e impegni; sfruttare sintesi video, video formativi e adattamenti multilingue; trasformare documenti in presentazioni chiare, applicando una checklist di controllo; convertire contenuti tra modalità, anche per rendere la comunicazione accessibile; distinguere realismo, autenticità e accuratezza; proporzionare verifiche, trasparenza e rispetto dei diritti all'uso del contenuto. Suggerimento: chiedere ai partecipanti quale di queste competenze applicheranno per prima, e su quale attività.</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57</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Il modulo tradotto in una scheda pratica, organizzata per operazione e scritta come azioni da fare con l'AI. Interpretare: mostrare invece di descrivere, con schermate, foto e documenti; controllare dettagli e numeri critici sull'originale; ricordare che contesto e provenienza li aggiungiamo noi. Generare: usare la generazione per esplorare e produrre varianti; affinare per passi invece di ripartire da zero; rispettare identità visiva, diritti e persone, e dichiarare i contenuti sintetici che potrebbero sembrare reali. Trasformare: partire dalla fonte originale; controllare gli elementi critici; usare le conversioni per rendere i contenuti accessibili su scala. Valutare: porre separatamente le tre domande su realismo, autenticità e accuratezza; verificare le richieste insolite su canali indipendenti; proporzionare i controlli all'uso. E sempre: strumenti autorizzati, persone coinvolte informate, regole aziendali seguite. Il messaggio centrale del tema: l'AI multimodale amplia il modo in cui comprendiamo, creiamo e trasformiamo contenuti; con controlli mirati, il risparmio di tempo diventa valore affidabile.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58</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Slide facoltativa: se il modulo è presentato da solo o in una selezione di slide, può essere nascosta o tolta senza perdere nulla del contenuto. Con il Tema 10 completiamo l'esplorazione delle modalità: testi e documenti nel Tema 8, dati nel Tema 9, immagini, audio e video in questo tema. Il Tema 11 è dedicato ad assistenti, agenti e automazioni: come l'AI evolve da strumento conversazionale a componente operativa di attività e processi. Vedremo assistenti con strumenti e integrazioni, agenti AI, la differenza tra automazione tradizionale e intelligente, i livelli di autonomia e di supervisione umana. Molte capacità viste qui, come la trascrizione di riunioni, la lettura di schermate, la trasformazione di documenti, diventeranno componenti di flussi di lavoro più ampi, e i principi di verifica e di fedeltà conteranno ancora di più, perché gli errori potranno propagarsi in azioni e non solo in contenuti. Nel percorso, il Tema 12 riguarda la creazione di valore in azienda e il Tema 14 dati e conoscenza aziendale. Lasciare spazio alle domande finali.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59</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Le fonti citate nel modulo. Per l'articolo 50 dell'AI Act: obblighi, eccezioni e date verificati a ottobre 2026 sulla pagina ufficiale della Commissione europea dedicata agli obblighi di trasparenza dell'articolo 50 (digital-strategy.ec.europa.eu, domande frequenti) e sul Regolamento (UE) 2026/1744, pubblicato nella Gazzetta Ufficiale dell'Unione il 24 luglio 2026, in vigore dal 27 luglio 2026; il periodo transitorio di quattro mesi per la marcatura dei sistemi già sul mercato è nel considerando 38. Il codice di buone pratiche sulla trasparenza dei contenuti generati dall'AI risulta pubblicato il 10 giugno 2026 sulla pagina ufficiale della Commissione, con adesione volontaria; la Commissione ha pubblicato anche le linee guida sull'articolo 50. I due casi di frode sono stati riportati dalla stampa internazionale: conviene ricontrollarne i dettagli prima di citarli in aula. Le capacità degli strumenti multimodali, in particolare la generazione di immagini, video e voci, evolvono molto rapidamente: prima di ogni edizione è consigliabile aggiornare esempi e dimostrazioni con gli strumenti autorizzati in azienda. Tutti gli esempi del modulo, compresi i tre esempi dimostrativi, sono fittizi; le illustrazioni dell'esempio sulle immagini sono schematiche e non sono output di strumenti reali.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60</a:t>
            </a:fld>
            <a:endParaRPr lang="it-IT"/>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it-IT" sz="1300" b="1" spc="200" kern="0" dirty="0">
                <a:solidFill>
                  <a:schemeClr val="accent1"/>
                </a:solidFill>
              </a:defRPr>
            </a:lvl1pPr>
          </a:lstStyle>
          <a:p>
            <a:pPr indent="0" marL="0">
              <a:buNone/>
            </a:pPr>
            <a:endParaRPr lang="it-IT" sz="1300" dirty="0"/>
          </a:p>
        </p:txBody>
      </p:sp>
      <p:sp>
        <p:nvSpPr>
          <p:cNvPr id="3" name="Text 0"/>
          <p:cNvSpPr/>
          <p:nvPr>
            <p:ph idx="101" type="title" hasCustomPrompt="1"/>
          </p:nvPr>
        </p:nvSpPr>
        <p:spPr>
          <a:xfrm>
            <a:off x="640080" y="1554480"/>
            <a:ext cx="7863840" cy="1463040"/>
          </a:xfrm>
          <a:prstGeom prst="rect">
            <a:avLst/>
          </a:prstGeom>
          <a:noFill/>
          <a:ln/>
        </p:spPr>
        <p:txBody>
          <a:bodyPr wrap="square" rtlCol="0"/>
          <a:lstStyle>
            <a:lvl1pPr algn="l" indent="0" marL="0">
              <a:buNone/>
              <a:defRPr lang="it-IT" sz="3600" b="1" dirty="0">
                <a:solidFill>
                  <a:schemeClr val="bg1"/>
                </a:solidFill>
              </a:defRPr>
            </a:lvl1pPr>
          </a:lstStyle>
          <a:p>
            <a:pPr algn="l" indent="0" marL="0">
              <a:buNone/>
            </a:pPr>
            <a:endParaRPr lang="it-IT" sz="3600" dirty="0"/>
          </a:p>
        </p:txBody>
      </p:sp>
      <p:sp>
        <p:nvSpPr>
          <p:cNvPr id="4" name="Text 0"/>
          <p:cNvSpPr/>
          <p:nvPr>
            <p:ph idx="102" type="body" hasCustomPrompt="1"/>
          </p:nvPr>
        </p:nvSpPr>
        <p:spPr>
          <a:xfrm>
            <a:off x="640080" y="3154680"/>
            <a:ext cx="7863840" cy="822960"/>
          </a:xfrm>
          <a:prstGeom prst="rect">
            <a:avLst/>
          </a:prstGeom>
          <a:noFill/>
          <a:ln/>
        </p:spPr>
        <p:txBody>
          <a:bodyPr wrap="square" rtlCol="0"/>
          <a:lstStyle>
            <a:lvl1pPr indent="0" marL="0">
              <a:buNone/>
              <a:defRPr lang="it-IT" sz="1600" dirty="0">
                <a:solidFill>
                  <a:schemeClr val="accent3"/>
                </a:solidFill>
              </a:defRPr>
            </a:lvl1pPr>
          </a:lstStyle>
          <a:p>
            <a:pPr indent="0" marL="0">
              <a:buNone/>
            </a:pPr>
            <a:endParaRPr lang="it-IT"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rtlCol="0"/>
          <a:lstStyle>
            <a:lvl1pPr indent="0" marL="0">
              <a:buNone/>
              <a:defRPr lang="it-IT" sz="6000" b="1" dirty="0">
                <a:solidFill>
                  <a:schemeClr val="accent1"/>
                </a:solidFill>
              </a:defRPr>
            </a:lvl1pPr>
          </a:lstStyle>
          <a:p>
            <a:pPr indent="0" marL="0">
              <a:buNone/>
            </a:pP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rtlCol="0"/>
          <a:lstStyle>
            <a:lvl1pPr algn="l" indent="0" marL="0">
              <a:buNone/>
              <a:defRPr lang="it-IT" sz="3200" b="1" dirty="0">
                <a:solidFill>
                  <a:schemeClr val="bg1"/>
                </a:solidFill>
              </a:defRPr>
            </a:lvl1pPr>
          </a:lstStyle>
          <a:p>
            <a:pPr algn="l" indent="0" marL="0">
              <a:buNone/>
            </a:pP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rtlCol="0"/>
          <a:lstStyle>
            <a:lvl1pPr indent="0" marL="0">
              <a:buNone/>
              <a:defRPr lang="it-IT" sz="1600" dirty="0">
                <a:solidFill>
                  <a:schemeClr val="accent3"/>
                </a:solidFill>
              </a:defRPr>
            </a:lvl1pPr>
          </a:lstStyle>
          <a:p>
            <a:pPr indent="0" marL="0">
              <a:buNone/>
            </a:pPr>
            <a:endParaRPr lang="it-IT"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indent="0" marL="0">
              <a:buNone/>
            </a:pPr>
            <a:r>
              <a:rPr lang="it-IT" sz="900" dirty="0">
                <a:solidFill>
                  <a:schemeClr val="accent2"/>
                </a:solidFill>
              </a:rPr>
              <a:t>AI Literacy  ·  Tema 10  ·  AI multimodale e creazione di contenuti</a:t>
            </a:r>
            <a:endParaRPr lang="it-IT"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1003</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it-IT" sz="2600" b="1" dirty="0">
                <a:solidFill>
                  <a:schemeClr val="tx1"/>
                </a:solidFill>
              </a:defRPr>
            </a:lvl1pPr>
          </a:lstStyle>
          <a:p>
            <a:pPr algn="l" indent="0" marL="0">
              <a:buNone/>
            </a:pPr>
            <a:endParaRPr lang="it-IT"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indent="0" marL="0">
              <a:buNone/>
            </a:pPr>
            <a:r>
              <a:rPr lang="it-IT" sz="900" dirty="0">
                <a:solidFill>
                  <a:schemeClr val="accent2"/>
                </a:solidFill>
              </a:rPr>
              <a:t>AI Literacy  ·  Tema 10  ·  AI multimodale e creazione di contenuti</a:t>
            </a:r>
            <a:endParaRPr lang="it-IT"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1004</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indent="0" marL="0">
              <a:buNone/>
            </a:pPr>
            <a:r>
              <a:rPr lang="it-IT" sz="1300" b="1" spc="300" kern="0" dirty="0">
                <a:solidFill>
                  <a:schemeClr val="accent1"/>
                </a:solidFill>
              </a:rPr>
              <a:t>CONCETTO CHIAVE</a:t>
            </a:r>
            <a:endParaRPr lang="it-IT" sz="1300" dirty="0"/>
          </a:p>
        </p:txBody>
      </p:sp>
      <p:sp>
        <p:nvSpPr>
          <p:cNvPr id="3" name="Text 1"/>
          <p:cNvSpPr/>
          <p:nvPr>
            <p:ph idx="101" type="body" hasCustomPrompt="1"/>
          </p:nvPr>
        </p:nvSpPr>
        <p:spPr>
          <a:xfrm>
            <a:off x="822960" y="1600200"/>
            <a:ext cx="7498080" cy="2011680"/>
          </a:xfrm>
          <a:prstGeom prst="rect">
            <a:avLst/>
          </a:prstGeom>
          <a:noFill/>
          <a:ln/>
        </p:spPr>
        <p:txBody>
          <a:bodyPr wrap="square" rtlCol="0"/>
          <a:lstStyle>
            <a:lvl1pPr indent="0" marL="0">
              <a:buNone/>
              <a:defRPr lang="it-IT" sz="2600" dirty="0">
                <a:solidFill>
                  <a:schemeClr val="bg1"/>
                </a:solidFill>
              </a:defRPr>
            </a:lvl1pPr>
          </a:lstStyle>
          <a:p>
            <a:pPr indent="0" marL="0">
              <a:buNone/>
            </a:pPr>
            <a:endParaRPr lang="it-IT" sz="2600" dirty="0"/>
          </a:p>
        </p:txBody>
      </p:sp>
      <p:sp>
        <p:nvSpPr>
          <p:cNvPr id="4" name="Text 1"/>
          <p:cNvSpPr/>
          <p:nvPr>
            <p:ph idx="102" type="body" hasCustomPrompt="1"/>
          </p:nvPr>
        </p:nvSpPr>
        <p:spPr>
          <a:xfrm>
            <a:off x="822960" y="3794760"/>
            <a:ext cx="7498080" cy="365760"/>
          </a:xfrm>
          <a:prstGeom prst="rect">
            <a:avLst/>
          </a:prstGeom>
          <a:noFill/>
          <a:ln/>
        </p:spPr>
        <p:txBody>
          <a:bodyPr wrap="square" rtlCol="0"/>
          <a:lstStyle>
            <a:lvl1pPr indent="0" marL="0">
              <a:buNone/>
              <a:defRPr lang="it-IT" sz="1300" dirty="0">
                <a:solidFill>
                  <a:schemeClr val="accent3"/>
                </a:solidFill>
              </a:defRPr>
            </a:lvl1pPr>
          </a:lstStyle>
          <a:p>
            <a:pPr indent="0" marL="0">
              <a:buNone/>
            </a:pPr>
            <a:endParaRPr lang="it-IT"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indent="0" marL="0">
              <a:buNone/>
            </a:pPr>
            <a:r>
              <a:rPr lang="it-IT" sz="900" dirty="0">
                <a:solidFill>
                  <a:schemeClr val="accent2"/>
                </a:solidFill>
              </a:rPr>
              <a:t>AI Literacy  ·  Tema 10  ·  AI multimodale e creazione di contenuti</a:t>
            </a:r>
            <a:endParaRPr lang="it-IT"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1005</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null</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4.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4.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4.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4.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4.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4.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slideLayout" Target="../slideLayouts/slideLayout4.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4.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slideLayout" Target="../slideLayouts/slideLayout4.xml"/><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slideLayout" Target="../slideLayouts/slideLayout4.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4.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image" Target="../media/image-53-5.png"/><Relationship Id="rId6" Type="http://schemas.openxmlformats.org/officeDocument/2006/relationships/image" Target="../media/image-53-6.png"/><Relationship Id="rId7" Type="http://schemas.openxmlformats.org/officeDocument/2006/relationships/slideLayout" Target="../slideLayouts/slideLayout4.xml"/><Relationship Id="rId8"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image" Target="../media/image-55-5.png"/><Relationship Id="rId6" Type="http://schemas.openxmlformats.org/officeDocument/2006/relationships/image" Target="../media/image-55-6.png"/><Relationship Id="rId7" Type="http://schemas.openxmlformats.org/officeDocument/2006/relationships/slideLayout" Target="../slideLayouts/slideLayout4.xml"/><Relationship Id="rId8"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4.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it-IT" sz="1300" b="1" spc="200" kern="0" dirty="0">
                <a:solidFill>
                  <a:schemeClr val="accent1"/>
                </a:solidFill>
              </a:rPr>
              <a:t>PERCORSO AI LITERACY  ·  TEMA 10</a:t>
            </a:r>
            <a:endParaRPr lang="it-IT"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it-IT" sz="3600" b="1" dirty="0">
                <a:solidFill>
                  <a:schemeClr val="bg1"/>
                </a:solidFill>
              </a:rPr>
              <a:t>AI multimodale e creazione di contenuti</a:t>
            </a:r>
            <a:endParaRPr lang="it-IT"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it-IT" sz="1600" dirty="0">
                <a:solidFill>
                  <a:schemeClr val="accent3"/>
                </a:solidFill>
              </a:rPr>
              <a:t>Area: Esplorare le possibilità dell'AI</a:t>
            </a:r>
            <a:endParaRPr lang="it-IT" sz="1600" dirty="0"/>
          </a:p>
          <a:p>
            <a:pPr indent="0" marL="0">
              <a:buNone/>
            </a:pPr>
            <a:r>
              <a:rPr lang="it-IT" sz="1200" dirty="0">
                <a:solidFill>
                  <a:schemeClr val="accent3"/>
                </a:solidFill>
              </a:rPr>
              <a:t>Contenuti aggiornati a ottobre 2026</a:t>
            </a:r>
            <a:endParaRPr lang="it-IT"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Obiettivo del modulo</a:t>
            </a:r>
            <a:endParaRPr lang="it-IT" sz="2600" dirty="0"/>
          </a:p>
        </p:txBody>
      </p:sp>
      <p:sp>
        <p:nvSpPr>
          <p:cNvPr id="4" name="scheda Che cosa vogliamo sviluppare"/>
          <p:cNvSpPr/>
          <p:nvPr/>
        </p:nvSpPr>
        <p:spPr>
          <a:xfrm>
            <a:off x="457200" y="1097280"/>
            <a:ext cx="3977640" cy="3429000"/>
          </a:xfrm>
          <a:prstGeom prst="roundRect">
            <a:avLst>
              <a:gd name="adj" fmla="val 2133"/>
            </a:avLst>
          </a:prstGeom>
          <a:solidFill>
            <a:schemeClr val="bg2"/>
          </a:solidFill>
          <a:ln/>
        </p:spPr>
      </p:sp>
      <p:sp>
        <p:nvSpPr>
          <p:cNvPr id="5" name="cerchio FiTarget"/>
          <p:cNvSpPr/>
          <p:nvPr/>
        </p:nvSpPr>
        <p:spPr>
          <a:xfrm>
            <a:off x="640080" y="1280160"/>
            <a:ext cx="457200" cy="457200"/>
          </a:xfrm>
          <a:prstGeom prst="ellipse">
            <a:avLst/>
          </a:prstGeom>
          <a:solidFill>
            <a:schemeClr val="accent1"/>
          </a:solidFill>
          <a:ln/>
        </p:spPr>
      </p:sp>
      <p:pic>
        <p:nvPicPr>
          <p:cNvPr id="6" name="Image 0" descr="FiTarget">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it-IT" sz="1600" b="1" dirty="0">
                <a:solidFill>
                  <a:schemeClr val="tx1"/>
                </a:solidFill>
              </a:rPr>
              <a:t>Che cosa vogliamo sviluppare</a:t>
            </a:r>
            <a:endParaRPr lang="it-IT"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600"/>
              </a:spcAft>
              <a:buSzPct val="100000"/>
              <a:buChar char="•"/>
            </a:pPr>
            <a:r>
              <a:rPr lang="it-IT" sz="1400" dirty="0">
                <a:solidFill>
                  <a:schemeClr val="tx2"/>
                </a:solidFill>
              </a:rPr>
              <a:t>Conoscere che cosa l'AI sa fare con immagini, audio e video</a:t>
            </a:r>
            <a:endParaRPr lang="it-IT" sz="1400" dirty="0"/>
          </a:p>
          <a:p>
            <a:pPr marL="177800" indent="-177800">
              <a:spcAft>
                <a:spcPts val="600"/>
              </a:spcAft>
              <a:buSzPct val="100000"/>
              <a:buChar char="•"/>
            </a:pPr>
            <a:r>
              <a:rPr lang="it-IT" sz="1400" dirty="0">
                <a:solidFill>
                  <a:schemeClr val="tx2"/>
                </a:solidFill>
              </a:rPr>
              <a:t>Applicarla a casi concreti: assistenza, verbali, comunicazione, formazione</a:t>
            </a:r>
            <a:endParaRPr lang="it-IT" sz="1400" dirty="0"/>
          </a:p>
          <a:p>
            <a:pPr marL="177800" indent="-177800">
              <a:spcAft>
                <a:spcPts val="600"/>
              </a:spcAft>
              <a:buSzPct val="100000"/>
              <a:buChar char="•"/>
            </a:pPr>
            <a:r>
              <a:rPr lang="it-IT" sz="1400" dirty="0">
                <a:solidFill>
                  <a:schemeClr val="tx2"/>
                </a:solidFill>
              </a:rPr>
              <a:t>Ottenere risultati affidabili con controlli proporzionati</a:t>
            </a:r>
            <a:endParaRPr lang="it-IT" sz="1400" dirty="0"/>
          </a:p>
        </p:txBody>
      </p:sp>
      <p:sp>
        <p:nvSpPr>
          <p:cNvPr id="9" name="scheda Quale consapevolezza"/>
          <p:cNvSpPr/>
          <p:nvPr/>
        </p:nvSpPr>
        <p:spPr>
          <a:xfrm>
            <a:off x="4709160" y="1097280"/>
            <a:ext cx="3977640" cy="3429000"/>
          </a:xfrm>
          <a:prstGeom prst="roundRect">
            <a:avLst>
              <a:gd name="adj" fmla="val 2133"/>
            </a:avLst>
          </a:prstGeom>
          <a:solidFill>
            <a:schemeClr val="accent6"/>
          </a:solidFill>
          <a:ln/>
        </p:spPr>
      </p:sp>
      <p:sp>
        <p:nvSpPr>
          <p:cNvPr id="10" name="cerchio FiCompass"/>
          <p:cNvSpPr/>
          <p:nvPr/>
        </p:nvSpPr>
        <p:spPr>
          <a:xfrm>
            <a:off x="4892040" y="1280160"/>
            <a:ext cx="457200" cy="457200"/>
          </a:xfrm>
          <a:prstGeom prst="ellipse">
            <a:avLst/>
          </a:prstGeom>
          <a:solidFill>
            <a:schemeClr val="accent1"/>
          </a:solidFill>
          <a:ln/>
        </p:spPr>
      </p:sp>
      <p:pic>
        <p:nvPicPr>
          <p:cNvPr id="11" name="Image 1" descr="FiCompass">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it-IT" sz="1600" b="1" dirty="0">
                <a:solidFill>
                  <a:schemeClr val="tx1"/>
                </a:solidFill>
              </a:rPr>
              <a:t>Quale consapevolezza</a:t>
            </a:r>
            <a:endParaRPr lang="it-IT" sz="16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indent="0" marL="0">
              <a:buNone/>
            </a:pPr>
            <a:r>
              <a:rPr lang="it-IT" sz="1400" dirty="0">
                <a:solidFill>
                  <a:schemeClr val="tx2"/>
                </a:solidFill>
              </a:rPr>
              <a:t>Realismo, autenticità e accuratezza sono cose diverse.</a:t>
            </a:r>
            <a:endParaRPr lang="it-IT" sz="1400" dirty="0"/>
          </a:p>
          <a:p>
            <a:pPr indent="0" marL="0">
              <a:buNone/>
            </a:pPr>
            <a:endParaRPr lang="it-IT" sz="1400" dirty="0"/>
          </a:p>
          <a:p>
            <a:pPr indent="0" marL="0">
              <a:buNone/>
            </a:pPr>
            <a:r>
              <a:rPr lang="it-IT" sz="1400" dirty="0">
                <a:solidFill>
                  <a:schemeClr val="tx2"/>
                </a:solidFill>
              </a:rPr>
              <a:t>Nelle trasformazioni si controllano gli elementi critici, non tutto.</a:t>
            </a:r>
            <a:endParaRPr lang="it-IT" sz="1400" dirty="0"/>
          </a:p>
          <a:p>
            <a:pPr indent="0" marL="0">
              <a:buNone/>
            </a:pPr>
            <a:endParaRPr lang="it-IT" sz="1400" dirty="0"/>
          </a:p>
          <a:p>
            <a:pPr indent="0" marL="0">
              <a:buNone/>
            </a:pPr>
            <a:r>
              <a:rPr lang="it-IT" sz="1400" dirty="0">
                <a:solidFill>
                  <a:schemeClr val="tx2"/>
                </a:solidFill>
              </a:rPr>
              <a:t>Le capacità dipendono dallo strumento e crescono rapidamente.</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a:t>
            </a:fld>
            <a:endParaRPr lang="it-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Il filo conduttore</a:t>
            </a:r>
            <a:endParaRPr lang="it-IT" sz="2600" dirty="0"/>
          </a:p>
        </p:txBody>
      </p:sp>
      <p:sp>
        <p:nvSpPr>
          <p:cNvPr id="4" name="Comprendere le modalità"/>
          <p:cNvSpPr/>
          <p:nvPr/>
        </p:nvSpPr>
        <p:spPr>
          <a:xfrm>
            <a:off x="457200" y="1051560"/>
            <a:ext cx="1920240" cy="1828800"/>
          </a:xfrm>
          <a:prstGeom prst="roundRect">
            <a:avLst>
              <a:gd name="adj" fmla="val 4000"/>
            </a:avLst>
          </a:prstGeom>
          <a:solidFill>
            <a:schemeClr val="bg2"/>
          </a:solidFill>
          <a:ln/>
        </p:spPr>
      </p:sp>
      <p:sp>
        <p:nvSpPr>
          <p:cNvPr id="5" name="cerchio FiLayers"/>
          <p:cNvSpPr/>
          <p:nvPr/>
        </p:nvSpPr>
        <p:spPr>
          <a:xfrm>
            <a:off x="1097280" y="1143000"/>
            <a:ext cx="640080" cy="640080"/>
          </a:xfrm>
          <a:prstGeom prst="ellipse">
            <a:avLst/>
          </a:prstGeom>
          <a:solidFill>
            <a:schemeClr val="accent1"/>
          </a:solidFill>
          <a:ln/>
        </p:spPr>
      </p:sp>
      <p:pic>
        <p:nvPicPr>
          <p:cNvPr id="6" name="Image 0" descr="FiLayers">    </p:cNvPr>
          <p:cNvPicPr>
            <a:picLocks noChangeAspect="1"/>
          </p:cNvPicPr>
          <p:nvPr/>
        </p:nvPicPr>
        <p:blipFill>
          <a:blip r:embed="rId1"/>
          <a:stretch>
            <a:fillRect/>
          </a:stretch>
        </p:blipFill>
        <p:spPr>
          <a:xfrm>
            <a:off x="1257300" y="1303020"/>
            <a:ext cx="320040" cy="320040"/>
          </a:xfrm>
          <a:prstGeom prst="rect">
            <a:avLst/>
          </a:prstGeom>
        </p:spPr>
      </p:pic>
      <p:sp>
        <p:nvSpPr>
          <p:cNvPr id="7" name="Text 3"/>
          <p:cNvSpPr txBox="1"/>
          <p:nvPr/>
        </p:nvSpPr>
        <p:spPr>
          <a:xfrm>
            <a:off x="548640" y="1828800"/>
            <a:ext cx="1737360" cy="548640"/>
          </a:xfrm>
          <a:prstGeom prst="rect">
            <a:avLst/>
          </a:prstGeom>
          <a:noFill/>
          <a:ln/>
        </p:spPr>
        <p:txBody>
          <a:bodyPr wrap="square" lIns="0" tIns="0" rIns="0" bIns="0" rtlCol="0" anchor="ctr"/>
          <a:lstStyle/>
          <a:p>
            <a:pPr algn="ctr" indent="0" marL="0">
              <a:buNone/>
            </a:pPr>
            <a:r>
              <a:rPr lang="it-IT" sz="1400" b="1" dirty="0">
                <a:solidFill>
                  <a:schemeClr val="tx1"/>
                </a:solidFill>
              </a:rPr>
              <a:t>Comprendere le modalità</a:t>
            </a:r>
            <a:endParaRPr lang="it-IT" sz="1400" dirty="0"/>
          </a:p>
        </p:txBody>
      </p:sp>
      <p:sp>
        <p:nvSpPr>
          <p:cNvPr id="8" name="Text 4"/>
          <p:cNvSpPr txBox="1"/>
          <p:nvPr/>
        </p:nvSpPr>
        <p:spPr>
          <a:xfrm>
            <a:off x="548640" y="2423160"/>
            <a:ext cx="1737360" cy="365760"/>
          </a:xfrm>
          <a:prstGeom prst="rect">
            <a:avLst/>
          </a:prstGeom>
          <a:noFill/>
          <a:ln/>
        </p:spPr>
        <p:txBody>
          <a:bodyPr wrap="square" lIns="0" tIns="0" rIns="0" bIns="0" rtlCol="0" anchor="t"/>
          <a:lstStyle/>
          <a:p>
            <a:pPr algn="ctr" indent="0" marL="0">
              <a:buNone/>
            </a:pPr>
            <a:r>
              <a:rPr lang="it-IT" sz="1100" b="1" dirty="0">
                <a:solidFill>
                  <a:schemeClr val="accent1"/>
                </a:solidFill>
              </a:rPr>
              <a:t>10.1</a:t>
            </a:r>
            <a:endParaRPr lang="it-IT" sz="1100" dirty="0"/>
          </a:p>
        </p:txBody>
      </p:sp>
      <p:sp>
        <p:nvSpPr>
          <p:cNvPr id="9" name="freccia"/>
          <p:cNvSpPr/>
          <p:nvPr/>
        </p:nvSpPr>
        <p:spPr>
          <a:xfrm>
            <a:off x="2386584" y="1783080"/>
            <a:ext cx="155448" cy="292608"/>
          </a:xfrm>
          <a:prstGeom prst="rightArrow">
            <a:avLst/>
          </a:prstGeom>
          <a:solidFill>
            <a:schemeClr val="accent2"/>
          </a:solidFill>
          <a:ln/>
        </p:spPr>
      </p:sp>
      <p:sp>
        <p:nvSpPr>
          <p:cNvPr id="10" name="Interpretare e generare"/>
          <p:cNvSpPr/>
          <p:nvPr/>
        </p:nvSpPr>
        <p:spPr>
          <a:xfrm>
            <a:off x="2560320" y="1051560"/>
            <a:ext cx="1920240" cy="1828800"/>
          </a:xfrm>
          <a:prstGeom prst="roundRect">
            <a:avLst>
              <a:gd name="adj" fmla="val 4000"/>
            </a:avLst>
          </a:prstGeom>
          <a:solidFill>
            <a:schemeClr val="bg2"/>
          </a:solidFill>
          <a:ln/>
        </p:spPr>
      </p:sp>
      <p:sp>
        <p:nvSpPr>
          <p:cNvPr id="11" name="cerchio FiImage"/>
          <p:cNvSpPr/>
          <p:nvPr/>
        </p:nvSpPr>
        <p:spPr>
          <a:xfrm>
            <a:off x="3200400" y="1143000"/>
            <a:ext cx="640080" cy="640080"/>
          </a:xfrm>
          <a:prstGeom prst="ellipse">
            <a:avLst/>
          </a:prstGeom>
          <a:solidFill>
            <a:schemeClr val="accent1"/>
          </a:solidFill>
          <a:ln/>
        </p:spPr>
      </p:sp>
      <p:pic>
        <p:nvPicPr>
          <p:cNvPr id="12" name="Image 1" descr="FiImage">    </p:cNvPr>
          <p:cNvPicPr>
            <a:picLocks noChangeAspect="1"/>
          </p:cNvPicPr>
          <p:nvPr/>
        </p:nvPicPr>
        <p:blipFill>
          <a:blip r:embed="rId2"/>
          <a:stretch>
            <a:fillRect/>
          </a:stretch>
        </p:blipFill>
        <p:spPr>
          <a:xfrm>
            <a:off x="3360420" y="1303020"/>
            <a:ext cx="320040" cy="320040"/>
          </a:xfrm>
          <a:prstGeom prst="rect">
            <a:avLst/>
          </a:prstGeom>
        </p:spPr>
      </p:pic>
      <p:sp>
        <p:nvSpPr>
          <p:cNvPr id="13" name="Text 8"/>
          <p:cNvSpPr txBox="1"/>
          <p:nvPr/>
        </p:nvSpPr>
        <p:spPr>
          <a:xfrm>
            <a:off x="2651760" y="1828800"/>
            <a:ext cx="1737360" cy="548640"/>
          </a:xfrm>
          <a:prstGeom prst="rect">
            <a:avLst/>
          </a:prstGeom>
          <a:noFill/>
          <a:ln/>
        </p:spPr>
        <p:txBody>
          <a:bodyPr wrap="square" lIns="0" tIns="0" rIns="0" bIns="0" rtlCol="0" anchor="ctr"/>
          <a:lstStyle/>
          <a:p>
            <a:pPr algn="ctr" indent="0" marL="0">
              <a:buNone/>
            </a:pPr>
            <a:r>
              <a:rPr lang="it-IT" sz="1400" b="1" dirty="0">
                <a:solidFill>
                  <a:schemeClr val="tx1"/>
                </a:solidFill>
              </a:rPr>
              <a:t>Interpretare e generare</a:t>
            </a:r>
            <a:endParaRPr lang="it-IT" sz="1400" dirty="0"/>
          </a:p>
        </p:txBody>
      </p:sp>
      <p:sp>
        <p:nvSpPr>
          <p:cNvPr id="14" name="Text 9"/>
          <p:cNvSpPr txBox="1"/>
          <p:nvPr/>
        </p:nvSpPr>
        <p:spPr>
          <a:xfrm>
            <a:off x="2651760" y="2423160"/>
            <a:ext cx="1737360" cy="365760"/>
          </a:xfrm>
          <a:prstGeom prst="rect">
            <a:avLst/>
          </a:prstGeom>
          <a:noFill/>
          <a:ln/>
        </p:spPr>
        <p:txBody>
          <a:bodyPr wrap="square" lIns="0" tIns="0" rIns="0" bIns="0" rtlCol="0" anchor="t"/>
          <a:lstStyle/>
          <a:p>
            <a:pPr algn="ctr" indent="0" marL="0">
              <a:buNone/>
            </a:pPr>
            <a:r>
              <a:rPr lang="it-IT" sz="1100" b="1" dirty="0">
                <a:solidFill>
                  <a:schemeClr val="accent1"/>
                </a:solidFill>
              </a:rPr>
              <a:t>10.2  10.3  10.4  10.5  10.6</a:t>
            </a:r>
            <a:endParaRPr lang="it-IT" sz="1100" dirty="0"/>
          </a:p>
        </p:txBody>
      </p:sp>
      <p:sp>
        <p:nvSpPr>
          <p:cNvPr id="15" name="freccia"/>
          <p:cNvSpPr/>
          <p:nvPr/>
        </p:nvSpPr>
        <p:spPr>
          <a:xfrm>
            <a:off x="4489704" y="1783080"/>
            <a:ext cx="155448" cy="292608"/>
          </a:xfrm>
          <a:prstGeom prst="rightArrow">
            <a:avLst/>
          </a:prstGeom>
          <a:solidFill>
            <a:schemeClr val="accent2"/>
          </a:solidFill>
          <a:ln/>
        </p:spPr>
      </p:sp>
      <p:sp>
        <p:nvSpPr>
          <p:cNvPr id="16" name="Trasformare e combinare"/>
          <p:cNvSpPr/>
          <p:nvPr/>
        </p:nvSpPr>
        <p:spPr>
          <a:xfrm>
            <a:off x="4663440" y="1051560"/>
            <a:ext cx="1920240" cy="1828800"/>
          </a:xfrm>
          <a:prstGeom prst="roundRect">
            <a:avLst>
              <a:gd name="adj" fmla="val 4000"/>
            </a:avLst>
          </a:prstGeom>
          <a:solidFill>
            <a:schemeClr val="bg2"/>
          </a:solidFill>
          <a:ln/>
        </p:spPr>
      </p:sp>
      <p:sp>
        <p:nvSpPr>
          <p:cNvPr id="17" name="cerchio FiRepeat"/>
          <p:cNvSpPr/>
          <p:nvPr/>
        </p:nvSpPr>
        <p:spPr>
          <a:xfrm>
            <a:off x="5303520" y="1143000"/>
            <a:ext cx="640080" cy="640080"/>
          </a:xfrm>
          <a:prstGeom prst="ellipse">
            <a:avLst/>
          </a:prstGeom>
          <a:solidFill>
            <a:schemeClr val="accent1"/>
          </a:solidFill>
          <a:ln/>
        </p:spPr>
      </p:sp>
      <p:pic>
        <p:nvPicPr>
          <p:cNvPr id="18" name="Image 2" descr="FiRepeat">    </p:cNvPr>
          <p:cNvPicPr>
            <a:picLocks noChangeAspect="1"/>
          </p:cNvPicPr>
          <p:nvPr/>
        </p:nvPicPr>
        <p:blipFill>
          <a:blip r:embed="rId3"/>
          <a:stretch>
            <a:fillRect/>
          </a:stretch>
        </p:blipFill>
        <p:spPr>
          <a:xfrm>
            <a:off x="5463540" y="1303020"/>
            <a:ext cx="320040" cy="320040"/>
          </a:xfrm>
          <a:prstGeom prst="rect">
            <a:avLst/>
          </a:prstGeom>
        </p:spPr>
      </p:pic>
      <p:sp>
        <p:nvSpPr>
          <p:cNvPr id="19" name="Text 13"/>
          <p:cNvSpPr txBox="1"/>
          <p:nvPr/>
        </p:nvSpPr>
        <p:spPr>
          <a:xfrm>
            <a:off x="4754880" y="1828800"/>
            <a:ext cx="1737360" cy="548640"/>
          </a:xfrm>
          <a:prstGeom prst="rect">
            <a:avLst/>
          </a:prstGeom>
          <a:noFill/>
          <a:ln/>
        </p:spPr>
        <p:txBody>
          <a:bodyPr wrap="square" lIns="0" tIns="0" rIns="0" bIns="0" rtlCol="0" anchor="ctr"/>
          <a:lstStyle/>
          <a:p>
            <a:pPr algn="ctr" indent="0" marL="0">
              <a:buNone/>
            </a:pPr>
            <a:r>
              <a:rPr lang="it-IT" sz="1400" b="1" dirty="0">
                <a:solidFill>
                  <a:schemeClr val="tx1"/>
                </a:solidFill>
              </a:rPr>
              <a:t>Trasformare e combinare</a:t>
            </a:r>
            <a:endParaRPr lang="it-IT" sz="1400" dirty="0"/>
          </a:p>
        </p:txBody>
      </p:sp>
      <p:sp>
        <p:nvSpPr>
          <p:cNvPr id="20" name="Text 14"/>
          <p:cNvSpPr txBox="1"/>
          <p:nvPr/>
        </p:nvSpPr>
        <p:spPr>
          <a:xfrm>
            <a:off x="4754880" y="2423160"/>
            <a:ext cx="1737360" cy="365760"/>
          </a:xfrm>
          <a:prstGeom prst="rect">
            <a:avLst/>
          </a:prstGeom>
          <a:noFill/>
          <a:ln/>
        </p:spPr>
        <p:txBody>
          <a:bodyPr wrap="square" lIns="0" tIns="0" rIns="0" bIns="0" rtlCol="0" anchor="t"/>
          <a:lstStyle/>
          <a:p>
            <a:pPr algn="ctr" indent="0" marL="0">
              <a:buNone/>
            </a:pPr>
            <a:r>
              <a:rPr lang="it-IT" sz="1100" b="1" dirty="0">
                <a:solidFill>
                  <a:schemeClr val="accent1"/>
                </a:solidFill>
              </a:rPr>
              <a:t>10.7</a:t>
            </a:r>
            <a:endParaRPr lang="it-IT" sz="1100" dirty="0"/>
          </a:p>
        </p:txBody>
      </p:sp>
      <p:sp>
        <p:nvSpPr>
          <p:cNvPr id="21" name="freccia"/>
          <p:cNvSpPr/>
          <p:nvPr/>
        </p:nvSpPr>
        <p:spPr>
          <a:xfrm>
            <a:off x="6592824" y="1783080"/>
            <a:ext cx="155448" cy="292608"/>
          </a:xfrm>
          <a:prstGeom prst="rightArrow">
            <a:avLst/>
          </a:prstGeom>
          <a:solidFill>
            <a:schemeClr val="accent2"/>
          </a:solidFill>
          <a:ln/>
        </p:spPr>
      </p:sp>
      <p:sp>
        <p:nvSpPr>
          <p:cNvPr id="22" name="Valutare i risultati"/>
          <p:cNvSpPr/>
          <p:nvPr/>
        </p:nvSpPr>
        <p:spPr>
          <a:xfrm>
            <a:off x="6766560" y="1051560"/>
            <a:ext cx="1920240" cy="1828800"/>
          </a:xfrm>
          <a:prstGeom prst="roundRect">
            <a:avLst>
              <a:gd name="adj" fmla="val 4000"/>
            </a:avLst>
          </a:prstGeom>
          <a:solidFill>
            <a:schemeClr val="accent1"/>
          </a:solidFill>
          <a:ln/>
        </p:spPr>
      </p:sp>
      <p:sp>
        <p:nvSpPr>
          <p:cNvPr id="23" name="cerchio FiShield"/>
          <p:cNvSpPr/>
          <p:nvPr/>
        </p:nvSpPr>
        <p:spPr>
          <a:xfrm>
            <a:off x="7406640" y="1143000"/>
            <a:ext cx="640080" cy="640080"/>
          </a:xfrm>
          <a:prstGeom prst="ellipse">
            <a:avLst/>
          </a:prstGeom>
          <a:solidFill>
            <a:schemeClr val="bg1"/>
          </a:solidFill>
          <a:ln/>
        </p:spPr>
      </p:sp>
      <p:pic>
        <p:nvPicPr>
          <p:cNvPr id="24" name="Image 3" descr="FiShield">    </p:cNvPr>
          <p:cNvPicPr>
            <a:picLocks noChangeAspect="1"/>
          </p:cNvPicPr>
          <p:nvPr/>
        </p:nvPicPr>
        <p:blipFill>
          <a:blip r:embed="rId4"/>
          <a:stretch>
            <a:fillRect/>
          </a:stretch>
        </p:blipFill>
        <p:spPr>
          <a:xfrm>
            <a:off x="7566660" y="1303020"/>
            <a:ext cx="320040" cy="320040"/>
          </a:xfrm>
          <a:prstGeom prst="rect">
            <a:avLst/>
          </a:prstGeom>
        </p:spPr>
      </p:pic>
      <p:sp>
        <p:nvSpPr>
          <p:cNvPr id="25" name="Text 18"/>
          <p:cNvSpPr txBox="1"/>
          <p:nvPr/>
        </p:nvSpPr>
        <p:spPr>
          <a:xfrm>
            <a:off x="6858000" y="1828800"/>
            <a:ext cx="1737360" cy="548640"/>
          </a:xfrm>
          <a:prstGeom prst="rect">
            <a:avLst/>
          </a:prstGeom>
          <a:noFill/>
          <a:ln/>
        </p:spPr>
        <p:txBody>
          <a:bodyPr wrap="square" lIns="0" tIns="0" rIns="0" bIns="0" rtlCol="0" anchor="ctr"/>
          <a:lstStyle/>
          <a:p>
            <a:pPr algn="ctr" indent="0" marL="0">
              <a:buNone/>
            </a:pPr>
            <a:r>
              <a:rPr lang="it-IT" sz="1400" b="1" dirty="0">
                <a:solidFill>
                  <a:schemeClr val="bg1"/>
                </a:solidFill>
              </a:rPr>
              <a:t>Valutare i risultati</a:t>
            </a:r>
            <a:endParaRPr lang="it-IT" sz="1400" dirty="0"/>
          </a:p>
        </p:txBody>
      </p:sp>
      <p:sp>
        <p:nvSpPr>
          <p:cNvPr id="26" name="Text 19"/>
          <p:cNvSpPr txBox="1"/>
          <p:nvPr/>
        </p:nvSpPr>
        <p:spPr>
          <a:xfrm>
            <a:off x="6858000" y="2423160"/>
            <a:ext cx="1737360" cy="365760"/>
          </a:xfrm>
          <a:prstGeom prst="rect">
            <a:avLst/>
          </a:prstGeom>
          <a:noFill/>
          <a:ln/>
        </p:spPr>
        <p:txBody>
          <a:bodyPr wrap="square" lIns="0" tIns="0" rIns="0" bIns="0" rtlCol="0" anchor="t"/>
          <a:lstStyle/>
          <a:p>
            <a:pPr algn="ctr" indent="0" marL="0">
              <a:buNone/>
            </a:pPr>
            <a:r>
              <a:rPr lang="it-IT" sz="1100" b="1" dirty="0">
                <a:solidFill>
                  <a:schemeClr val="accent6"/>
                </a:solidFill>
              </a:rPr>
              <a:t>10.8</a:t>
            </a:r>
            <a:endParaRPr lang="it-IT" sz="1100" dirty="0"/>
          </a:p>
        </p:txBody>
      </p:sp>
      <p:sp>
        <p:nvSpPr>
          <p:cNvPr id="27" name="Text 20"/>
          <p:cNvSpPr txBox="1"/>
          <p:nvPr/>
        </p:nvSpPr>
        <p:spPr>
          <a:xfrm>
            <a:off x="457200" y="3017520"/>
            <a:ext cx="8229600" cy="320040"/>
          </a:xfrm>
          <a:prstGeom prst="rect">
            <a:avLst/>
          </a:prstGeom>
          <a:noFill/>
          <a:ln/>
        </p:spPr>
        <p:txBody>
          <a:bodyPr wrap="square" lIns="0" tIns="0" rIns="0" bIns="0" rtlCol="0" anchor="t"/>
          <a:lstStyle/>
          <a:p>
            <a:pPr indent="0" marL="0">
              <a:buNone/>
            </a:pPr>
            <a:r>
              <a:rPr lang="it-IT" sz="1300" b="1" dirty="0">
                <a:solidFill>
                  <a:schemeClr val="tx1"/>
                </a:solidFill>
              </a:rPr>
              <a:t>Tre operazioni trasversali: che cosa offrono, a che cosa fare attenzione</a:t>
            </a:r>
            <a:endParaRPr lang="it-IT" sz="1300" dirty="0"/>
          </a:p>
        </p:txBody>
      </p:sp>
      <p:sp>
        <p:nvSpPr>
          <p:cNvPr id="28" name="Interpretare"/>
          <p:cNvSpPr/>
          <p:nvPr/>
        </p:nvSpPr>
        <p:spPr>
          <a:xfrm>
            <a:off x="457200" y="3383280"/>
            <a:ext cx="2615184" cy="1143000"/>
          </a:xfrm>
          <a:prstGeom prst="roundRect">
            <a:avLst>
              <a:gd name="adj" fmla="val 6400"/>
            </a:avLst>
          </a:prstGeom>
          <a:solidFill>
            <a:schemeClr val="accent6"/>
          </a:solidFill>
          <a:ln/>
        </p:spPr>
      </p:sp>
      <p:sp>
        <p:nvSpPr>
          <p:cNvPr id="29" name="Text 22"/>
          <p:cNvSpPr txBox="1"/>
          <p:nvPr/>
        </p:nvSpPr>
        <p:spPr>
          <a:xfrm>
            <a:off x="594360" y="3438144"/>
            <a:ext cx="2340864" cy="310896"/>
          </a:xfrm>
          <a:prstGeom prst="rect">
            <a:avLst/>
          </a:prstGeom>
          <a:noFill/>
          <a:ln/>
        </p:spPr>
        <p:txBody>
          <a:bodyPr wrap="square" lIns="0" tIns="0" rIns="0" bIns="0" rtlCol="0" anchor="t"/>
          <a:lstStyle/>
          <a:p>
            <a:pPr indent="0" marL="0">
              <a:buNone/>
            </a:pPr>
            <a:r>
              <a:rPr lang="it-IT" sz="1500" b="1" dirty="0">
                <a:solidFill>
                  <a:schemeClr val="accent1"/>
                </a:solidFill>
              </a:rPr>
              <a:t>Interpretare</a:t>
            </a:r>
            <a:endParaRPr lang="it-IT" sz="1500" dirty="0"/>
          </a:p>
        </p:txBody>
      </p:sp>
      <p:sp>
        <p:nvSpPr>
          <p:cNvPr id="30" name="Text 23"/>
          <p:cNvSpPr txBox="1"/>
          <p:nvPr/>
        </p:nvSpPr>
        <p:spPr>
          <a:xfrm>
            <a:off x="594360" y="3749040"/>
            <a:ext cx="2340864" cy="384048"/>
          </a:xfrm>
          <a:prstGeom prst="rect">
            <a:avLst/>
          </a:prstGeom>
          <a:noFill/>
          <a:ln/>
        </p:spPr>
        <p:txBody>
          <a:bodyPr wrap="square" lIns="0" tIns="0" rIns="0" bIns="0" rtlCol="0" anchor="t"/>
          <a:lstStyle/>
          <a:p>
            <a:pPr indent="0" marL="0">
              <a:buNone/>
            </a:pPr>
            <a:r>
              <a:rPr lang="it-IT" sz="1100" dirty="0">
                <a:solidFill>
                  <a:schemeClr val="tx1"/>
                </a:solidFill>
              </a:rPr>
              <a:t>Capire foto, schermate, audio in pochi secondi</a:t>
            </a:r>
            <a:endParaRPr lang="it-IT" sz="1100" dirty="0"/>
          </a:p>
        </p:txBody>
      </p:sp>
      <p:sp>
        <p:nvSpPr>
          <p:cNvPr id="31" name="Text 24"/>
          <p:cNvSpPr txBox="1"/>
          <p:nvPr/>
        </p:nvSpPr>
        <p:spPr>
          <a:xfrm>
            <a:off x="594360" y="4160520"/>
            <a:ext cx="2340864" cy="292608"/>
          </a:xfrm>
          <a:prstGeom prst="rect">
            <a:avLst/>
          </a:prstGeom>
          <a:noFill/>
          <a:ln/>
        </p:spPr>
        <p:txBody>
          <a:bodyPr wrap="square" lIns="0" tIns="0" rIns="0" bIns="0" rtlCol="0" anchor="t"/>
          <a:lstStyle/>
          <a:p>
            <a:pPr indent="0" marL="0">
              <a:buNone/>
            </a:pPr>
            <a:r>
              <a:rPr lang="it-IT" sz="1100" b="1" dirty="0">
                <a:solidFill>
                  <a:schemeClr val="accent5"/>
                </a:solidFill>
              </a:rPr>
              <a:t>Attenzione: </a:t>
            </a:r>
            <a:pPr indent="0" marL="0">
              <a:buNone/>
            </a:pPr>
            <a:r>
              <a:rPr lang="it-IT" sz="1100" dirty="0">
                <a:solidFill>
                  <a:schemeClr val="tx2"/>
                </a:solidFill>
              </a:rPr>
              <a:t>Errori di riconoscimento</a:t>
            </a:r>
            <a:endParaRPr lang="it-IT" sz="1100" dirty="0"/>
          </a:p>
        </p:txBody>
      </p:sp>
      <p:sp>
        <p:nvSpPr>
          <p:cNvPr id="32" name="Generare"/>
          <p:cNvSpPr/>
          <p:nvPr/>
        </p:nvSpPr>
        <p:spPr>
          <a:xfrm>
            <a:off x="3264408" y="3383280"/>
            <a:ext cx="2615184" cy="1143000"/>
          </a:xfrm>
          <a:prstGeom prst="roundRect">
            <a:avLst>
              <a:gd name="adj" fmla="val 6400"/>
            </a:avLst>
          </a:prstGeom>
          <a:solidFill>
            <a:schemeClr val="accent6"/>
          </a:solidFill>
          <a:ln/>
        </p:spPr>
      </p:sp>
      <p:sp>
        <p:nvSpPr>
          <p:cNvPr id="33" name="Text 26"/>
          <p:cNvSpPr txBox="1"/>
          <p:nvPr/>
        </p:nvSpPr>
        <p:spPr>
          <a:xfrm>
            <a:off x="3401568" y="3438144"/>
            <a:ext cx="2340864" cy="310896"/>
          </a:xfrm>
          <a:prstGeom prst="rect">
            <a:avLst/>
          </a:prstGeom>
          <a:noFill/>
          <a:ln/>
        </p:spPr>
        <p:txBody>
          <a:bodyPr wrap="square" lIns="0" tIns="0" rIns="0" bIns="0" rtlCol="0" anchor="t"/>
          <a:lstStyle/>
          <a:p>
            <a:pPr indent="0" marL="0">
              <a:buNone/>
            </a:pPr>
            <a:r>
              <a:rPr lang="it-IT" sz="1500" b="1" dirty="0">
                <a:solidFill>
                  <a:schemeClr val="accent1"/>
                </a:solidFill>
              </a:rPr>
              <a:t>Generare</a:t>
            </a:r>
            <a:endParaRPr lang="it-IT" sz="1500" dirty="0"/>
          </a:p>
        </p:txBody>
      </p:sp>
      <p:sp>
        <p:nvSpPr>
          <p:cNvPr id="34" name="Text 27"/>
          <p:cNvSpPr txBox="1"/>
          <p:nvPr/>
        </p:nvSpPr>
        <p:spPr>
          <a:xfrm>
            <a:off x="3401568" y="3749040"/>
            <a:ext cx="2340864" cy="384048"/>
          </a:xfrm>
          <a:prstGeom prst="rect">
            <a:avLst/>
          </a:prstGeom>
          <a:noFill/>
          <a:ln/>
        </p:spPr>
        <p:txBody>
          <a:bodyPr wrap="square" lIns="0" tIns="0" rIns="0" bIns="0" rtlCol="0" anchor="t"/>
          <a:lstStyle/>
          <a:p>
            <a:pPr indent="0" marL="0">
              <a:buNone/>
            </a:pPr>
            <a:r>
              <a:rPr lang="it-IT" sz="1100" dirty="0">
                <a:solidFill>
                  <a:schemeClr val="tx1"/>
                </a:solidFill>
              </a:rPr>
              <a:t>Immagini, voci e video in tempi brevi</a:t>
            </a:r>
            <a:endParaRPr lang="it-IT" sz="1100" dirty="0"/>
          </a:p>
        </p:txBody>
      </p:sp>
      <p:sp>
        <p:nvSpPr>
          <p:cNvPr id="35" name="Text 28"/>
          <p:cNvSpPr txBox="1"/>
          <p:nvPr/>
        </p:nvSpPr>
        <p:spPr>
          <a:xfrm>
            <a:off x="3401568" y="4160520"/>
            <a:ext cx="2340864" cy="292608"/>
          </a:xfrm>
          <a:prstGeom prst="rect">
            <a:avLst/>
          </a:prstGeom>
          <a:noFill/>
          <a:ln/>
        </p:spPr>
        <p:txBody>
          <a:bodyPr wrap="square" lIns="0" tIns="0" rIns="0" bIns="0" rtlCol="0" anchor="t"/>
          <a:lstStyle/>
          <a:p>
            <a:pPr indent="0" marL="0">
              <a:buNone/>
            </a:pPr>
            <a:r>
              <a:rPr lang="it-IT" sz="1100" b="1" dirty="0">
                <a:solidFill>
                  <a:schemeClr val="accent5"/>
                </a:solidFill>
              </a:rPr>
              <a:t>Attenzione: </a:t>
            </a:r>
            <a:pPr indent="0" marL="0">
              <a:buNone/>
            </a:pPr>
            <a:r>
              <a:rPr lang="it-IT" sz="1100" dirty="0">
                <a:solidFill>
                  <a:schemeClr val="tx2"/>
                </a:solidFill>
              </a:rPr>
              <a:t>Realistico non è autentico</a:t>
            </a:r>
            <a:endParaRPr lang="it-IT" sz="1100" dirty="0"/>
          </a:p>
        </p:txBody>
      </p:sp>
      <p:sp>
        <p:nvSpPr>
          <p:cNvPr id="36" name="Trasformare"/>
          <p:cNvSpPr/>
          <p:nvPr/>
        </p:nvSpPr>
        <p:spPr>
          <a:xfrm>
            <a:off x="6071616" y="3383280"/>
            <a:ext cx="2615184" cy="1143000"/>
          </a:xfrm>
          <a:prstGeom prst="roundRect">
            <a:avLst>
              <a:gd name="adj" fmla="val 6400"/>
            </a:avLst>
          </a:prstGeom>
          <a:solidFill>
            <a:schemeClr val="accent6"/>
          </a:solidFill>
          <a:ln/>
        </p:spPr>
      </p:sp>
      <p:sp>
        <p:nvSpPr>
          <p:cNvPr id="37" name="Text 30"/>
          <p:cNvSpPr txBox="1"/>
          <p:nvPr/>
        </p:nvSpPr>
        <p:spPr>
          <a:xfrm>
            <a:off x="6208776" y="3438144"/>
            <a:ext cx="2340864" cy="310896"/>
          </a:xfrm>
          <a:prstGeom prst="rect">
            <a:avLst/>
          </a:prstGeom>
          <a:noFill/>
          <a:ln/>
        </p:spPr>
        <p:txBody>
          <a:bodyPr wrap="square" lIns="0" tIns="0" rIns="0" bIns="0" rtlCol="0" anchor="t"/>
          <a:lstStyle/>
          <a:p>
            <a:pPr indent="0" marL="0">
              <a:buNone/>
            </a:pPr>
            <a:r>
              <a:rPr lang="it-IT" sz="1500" b="1" dirty="0">
                <a:solidFill>
                  <a:schemeClr val="accent1"/>
                </a:solidFill>
              </a:rPr>
              <a:t>Trasformare</a:t>
            </a:r>
            <a:endParaRPr lang="it-IT" sz="1500" dirty="0"/>
          </a:p>
        </p:txBody>
      </p:sp>
      <p:sp>
        <p:nvSpPr>
          <p:cNvPr id="38" name="Text 31"/>
          <p:cNvSpPr txBox="1"/>
          <p:nvPr/>
        </p:nvSpPr>
        <p:spPr>
          <a:xfrm>
            <a:off x="6208776" y="3749040"/>
            <a:ext cx="2340864" cy="384048"/>
          </a:xfrm>
          <a:prstGeom prst="rect">
            <a:avLst/>
          </a:prstGeom>
          <a:noFill/>
          <a:ln/>
        </p:spPr>
        <p:txBody>
          <a:bodyPr wrap="square" lIns="0" tIns="0" rIns="0" bIns="0" rtlCol="0" anchor="t"/>
          <a:lstStyle/>
          <a:p>
            <a:pPr indent="0" marL="0">
              <a:buNone/>
            </a:pPr>
            <a:r>
              <a:rPr lang="it-IT" sz="1100" dirty="0">
                <a:solidFill>
                  <a:schemeClr val="tx1"/>
                </a:solidFill>
              </a:rPr>
              <a:t>Contenuti accessibili e riutilizzabili</a:t>
            </a:r>
            <a:endParaRPr lang="it-IT" sz="1100" dirty="0"/>
          </a:p>
        </p:txBody>
      </p:sp>
      <p:sp>
        <p:nvSpPr>
          <p:cNvPr id="39" name="Text 32"/>
          <p:cNvSpPr txBox="1"/>
          <p:nvPr/>
        </p:nvSpPr>
        <p:spPr>
          <a:xfrm>
            <a:off x="6208776" y="4160520"/>
            <a:ext cx="2340864" cy="292608"/>
          </a:xfrm>
          <a:prstGeom prst="rect">
            <a:avLst/>
          </a:prstGeom>
          <a:noFill/>
          <a:ln/>
        </p:spPr>
        <p:txBody>
          <a:bodyPr wrap="square" lIns="0" tIns="0" rIns="0" bIns="0" rtlCol="0" anchor="t"/>
          <a:lstStyle/>
          <a:p>
            <a:pPr indent="0" marL="0">
              <a:buNone/>
            </a:pPr>
            <a:r>
              <a:rPr lang="it-IT" sz="1100" b="1" dirty="0">
                <a:solidFill>
                  <a:schemeClr val="accent5"/>
                </a:solidFill>
              </a:rPr>
              <a:t>Attenzione: </a:t>
            </a:r>
            <a:pPr indent="0" marL="0">
              <a:buNone/>
            </a:pPr>
            <a:r>
              <a:rPr lang="it-IT" sz="1100" dirty="0">
                <a:solidFill>
                  <a:schemeClr val="tx2"/>
                </a:solidFill>
              </a:rPr>
              <a:t>Informazioni perse o alterate</a:t>
            </a:r>
            <a:endParaRPr lang="it-IT"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a:t>
            </a:fld>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Il percorso del modulo</a:t>
            </a:r>
            <a:endParaRPr lang="it-IT" sz="2600" dirty="0"/>
          </a:p>
        </p:txBody>
      </p:sp>
      <p:sp>
        <p:nvSpPr>
          <p:cNvPr id="4" name="riga 10.1"/>
          <p:cNvSpPr/>
          <p:nvPr/>
        </p:nvSpPr>
        <p:spPr>
          <a:xfrm>
            <a:off x="457200" y="1024128"/>
            <a:ext cx="5120640" cy="365760"/>
          </a:xfrm>
          <a:prstGeom prst="roundRect">
            <a:avLst>
              <a:gd name="adj" fmla="val 20000"/>
            </a:avLst>
          </a:prstGeom>
          <a:solidFill>
            <a:schemeClr val="bg2"/>
          </a:solidFill>
          <a:ln/>
        </p:spPr>
      </p:sp>
      <p:sp>
        <p:nvSpPr>
          <p:cNvPr id="5" name="Text 2"/>
          <p:cNvSpPr txBox="1"/>
          <p:nvPr/>
        </p:nvSpPr>
        <p:spPr>
          <a:xfrm>
            <a:off x="594360" y="1024128"/>
            <a:ext cx="502920" cy="365760"/>
          </a:xfrm>
          <a:prstGeom prst="rect">
            <a:avLst/>
          </a:prstGeom>
          <a:noFill/>
          <a:ln/>
        </p:spPr>
        <p:txBody>
          <a:bodyPr wrap="square" lIns="0" tIns="0" rIns="0" bIns="0" rtlCol="0" anchor="ctr"/>
          <a:lstStyle/>
          <a:p>
            <a:pPr indent="0" marL="0">
              <a:buNone/>
            </a:pPr>
            <a:r>
              <a:rPr lang="it-IT" sz="1300" b="1" dirty="0">
                <a:solidFill>
                  <a:schemeClr val="accent1"/>
                </a:solidFill>
              </a:rPr>
              <a:t>10.1</a:t>
            </a:r>
            <a:endParaRPr lang="it-IT" sz="1300" dirty="0"/>
          </a:p>
        </p:txBody>
      </p:sp>
      <p:sp>
        <p:nvSpPr>
          <p:cNvPr id="6" name="Text 3"/>
          <p:cNvSpPr txBox="1"/>
          <p:nvPr/>
        </p:nvSpPr>
        <p:spPr>
          <a:xfrm>
            <a:off x="1097280" y="1024128"/>
            <a:ext cx="3566160" cy="365760"/>
          </a:xfrm>
          <a:prstGeom prst="rect">
            <a:avLst/>
          </a:prstGeom>
          <a:noFill/>
          <a:ln/>
        </p:spPr>
        <p:txBody>
          <a:bodyPr wrap="square" lIns="0" tIns="0" rIns="0" bIns="0" rtlCol="0" anchor="ctr"/>
          <a:lstStyle/>
          <a:p>
            <a:pPr indent="0" marL="0">
              <a:buNone/>
            </a:pPr>
            <a:r>
              <a:rPr lang="it-IT" sz="1300" dirty="0">
                <a:solidFill>
                  <a:schemeClr val="tx1"/>
                </a:solidFill>
              </a:rPr>
              <a:t>Fondamenti dell'AI multimodale</a:t>
            </a:r>
            <a:endParaRPr lang="it-IT" sz="1300" dirty="0"/>
          </a:p>
        </p:txBody>
      </p:sp>
      <p:sp>
        <p:nvSpPr>
          <p:cNvPr id="7" name="priorità 10.1"/>
          <p:cNvSpPr/>
          <p:nvPr/>
        </p:nvSpPr>
        <p:spPr>
          <a:xfrm>
            <a:off x="4754880" y="1088136"/>
            <a:ext cx="731520" cy="237744"/>
          </a:xfrm>
          <a:prstGeom prst="roundRect">
            <a:avLst>
              <a:gd name="adj" fmla="val 50000"/>
            </a:avLst>
          </a:prstGeom>
          <a:solidFill>
            <a:schemeClr val="accent1"/>
          </a:solidFill>
          <a:ln w="12700">
            <a:solidFill>
              <a:schemeClr val="accent1"/>
            </a:solidFill>
            <a:prstDash val="solid"/>
          </a:ln>
        </p:spPr>
      </p:sp>
      <p:sp>
        <p:nvSpPr>
          <p:cNvPr id="8" name="Text 5"/>
          <p:cNvSpPr txBox="1"/>
          <p:nvPr/>
        </p:nvSpPr>
        <p:spPr>
          <a:xfrm>
            <a:off x="4754880" y="1088136"/>
            <a:ext cx="731520" cy="237744"/>
          </a:xfrm>
          <a:prstGeom prst="rect">
            <a:avLst/>
          </a:prstGeom>
          <a:noFill/>
          <a:ln/>
        </p:spPr>
        <p:txBody>
          <a:bodyPr wrap="square" lIns="0" tIns="0" rIns="0" bIns="0" rtlCol="0" anchor="ctr"/>
          <a:lstStyle/>
          <a:p>
            <a:pPr algn="ctr" indent="0" marL="0">
              <a:buNone/>
            </a:pPr>
            <a:r>
              <a:rPr lang="it-IT" sz="1000" b="1" dirty="0">
                <a:solidFill>
                  <a:schemeClr val="bg1"/>
                </a:solidFill>
              </a:rPr>
              <a:t>Alta</a:t>
            </a:r>
            <a:endParaRPr lang="it-IT" sz="1000" dirty="0"/>
          </a:p>
        </p:txBody>
      </p:sp>
      <p:sp>
        <p:nvSpPr>
          <p:cNvPr id="9" name="riga 10.2"/>
          <p:cNvSpPr/>
          <p:nvPr/>
        </p:nvSpPr>
        <p:spPr>
          <a:xfrm>
            <a:off x="457200" y="1453896"/>
            <a:ext cx="5120640" cy="365760"/>
          </a:xfrm>
          <a:prstGeom prst="roundRect">
            <a:avLst>
              <a:gd name="adj" fmla="val 20000"/>
            </a:avLst>
          </a:prstGeom>
          <a:solidFill>
            <a:schemeClr val="bg1"/>
          </a:solidFill>
          <a:ln/>
        </p:spPr>
      </p:sp>
      <p:sp>
        <p:nvSpPr>
          <p:cNvPr id="10" name="Text 7"/>
          <p:cNvSpPr txBox="1"/>
          <p:nvPr/>
        </p:nvSpPr>
        <p:spPr>
          <a:xfrm>
            <a:off x="594360" y="1453896"/>
            <a:ext cx="502920" cy="365760"/>
          </a:xfrm>
          <a:prstGeom prst="rect">
            <a:avLst/>
          </a:prstGeom>
          <a:noFill/>
          <a:ln/>
        </p:spPr>
        <p:txBody>
          <a:bodyPr wrap="square" lIns="0" tIns="0" rIns="0" bIns="0" rtlCol="0" anchor="ctr"/>
          <a:lstStyle/>
          <a:p>
            <a:pPr indent="0" marL="0">
              <a:buNone/>
            </a:pPr>
            <a:r>
              <a:rPr lang="it-IT" sz="1300" b="1" dirty="0">
                <a:solidFill>
                  <a:schemeClr val="accent1"/>
                </a:solidFill>
              </a:rPr>
              <a:t>10.2</a:t>
            </a:r>
            <a:endParaRPr lang="it-IT" sz="1300" dirty="0"/>
          </a:p>
        </p:txBody>
      </p:sp>
      <p:sp>
        <p:nvSpPr>
          <p:cNvPr id="11" name="Text 8"/>
          <p:cNvSpPr txBox="1"/>
          <p:nvPr/>
        </p:nvSpPr>
        <p:spPr>
          <a:xfrm>
            <a:off x="1097280" y="1453896"/>
            <a:ext cx="3566160" cy="365760"/>
          </a:xfrm>
          <a:prstGeom prst="rect">
            <a:avLst/>
          </a:prstGeom>
          <a:noFill/>
          <a:ln/>
        </p:spPr>
        <p:txBody>
          <a:bodyPr wrap="square" lIns="0" tIns="0" rIns="0" bIns="0" rtlCol="0" anchor="ctr"/>
          <a:lstStyle/>
          <a:p>
            <a:pPr indent="0" marL="0">
              <a:buNone/>
            </a:pPr>
            <a:r>
              <a:rPr lang="it-IT" sz="1300" dirty="0">
                <a:solidFill>
                  <a:schemeClr val="tx1"/>
                </a:solidFill>
              </a:rPr>
              <a:t>Comprensione delle immagini</a:t>
            </a:r>
            <a:endParaRPr lang="it-IT" sz="1300" dirty="0"/>
          </a:p>
        </p:txBody>
      </p:sp>
      <p:sp>
        <p:nvSpPr>
          <p:cNvPr id="12" name="priorità 10.2"/>
          <p:cNvSpPr/>
          <p:nvPr/>
        </p:nvSpPr>
        <p:spPr>
          <a:xfrm>
            <a:off x="4754880" y="1517904"/>
            <a:ext cx="731520" cy="237744"/>
          </a:xfrm>
          <a:prstGeom prst="roundRect">
            <a:avLst>
              <a:gd name="adj" fmla="val 50000"/>
            </a:avLst>
          </a:prstGeom>
          <a:solidFill>
            <a:schemeClr val="accent1"/>
          </a:solidFill>
          <a:ln w="12700">
            <a:solidFill>
              <a:schemeClr val="accent1"/>
            </a:solidFill>
            <a:prstDash val="solid"/>
          </a:ln>
        </p:spPr>
      </p:sp>
      <p:sp>
        <p:nvSpPr>
          <p:cNvPr id="13" name="Text 10"/>
          <p:cNvSpPr txBox="1"/>
          <p:nvPr/>
        </p:nvSpPr>
        <p:spPr>
          <a:xfrm>
            <a:off x="4754880" y="1517904"/>
            <a:ext cx="731520" cy="237744"/>
          </a:xfrm>
          <a:prstGeom prst="rect">
            <a:avLst/>
          </a:prstGeom>
          <a:noFill/>
          <a:ln/>
        </p:spPr>
        <p:txBody>
          <a:bodyPr wrap="square" lIns="0" tIns="0" rIns="0" bIns="0" rtlCol="0" anchor="ctr"/>
          <a:lstStyle/>
          <a:p>
            <a:pPr algn="ctr" indent="0" marL="0">
              <a:buNone/>
            </a:pPr>
            <a:r>
              <a:rPr lang="it-IT" sz="1000" b="1" dirty="0">
                <a:solidFill>
                  <a:schemeClr val="bg1"/>
                </a:solidFill>
              </a:rPr>
              <a:t>Alta</a:t>
            </a:r>
            <a:endParaRPr lang="it-IT" sz="1000" dirty="0"/>
          </a:p>
        </p:txBody>
      </p:sp>
      <p:sp>
        <p:nvSpPr>
          <p:cNvPr id="14" name="riga 10.3"/>
          <p:cNvSpPr/>
          <p:nvPr/>
        </p:nvSpPr>
        <p:spPr>
          <a:xfrm>
            <a:off x="457200" y="1883664"/>
            <a:ext cx="5120640" cy="365760"/>
          </a:xfrm>
          <a:prstGeom prst="roundRect">
            <a:avLst>
              <a:gd name="adj" fmla="val 20000"/>
            </a:avLst>
          </a:prstGeom>
          <a:solidFill>
            <a:schemeClr val="bg2"/>
          </a:solidFill>
          <a:ln/>
        </p:spPr>
      </p:sp>
      <p:sp>
        <p:nvSpPr>
          <p:cNvPr id="15" name="Text 12"/>
          <p:cNvSpPr txBox="1"/>
          <p:nvPr/>
        </p:nvSpPr>
        <p:spPr>
          <a:xfrm>
            <a:off x="594360" y="1883664"/>
            <a:ext cx="502920" cy="365760"/>
          </a:xfrm>
          <a:prstGeom prst="rect">
            <a:avLst/>
          </a:prstGeom>
          <a:noFill/>
          <a:ln/>
        </p:spPr>
        <p:txBody>
          <a:bodyPr wrap="square" lIns="0" tIns="0" rIns="0" bIns="0" rtlCol="0" anchor="ctr"/>
          <a:lstStyle/>
          <a:p>
            <a:pPr indent="0" marL="0">
              <a:buNone/>
            </a:pPr>
            <a:r>
              <a:rPr lang="it-IT" sz="1300" b="1" dirty="0">
                <a:solidFill>
                  <a:schemeClr val="accent1"/>
                </a:solidFill>
              </a:rPr>
              <a:t>10.3</a:t>
            </a:r>
            <a:endParaRPr lang="it-IT" sz="1300" dirty="0"/>
          </a:p>
        </p:txBody>
      </p:sp>
      <p:sp>
        <p:nvSpPr>
          <p:cNvPr id="16" name="Text 13"/>
          <p:cNvSpPr txBox="1"/>
          <p:nvPr/>
        </p:nvSpPr>
        <p:spPr>
          <a:xfrm>
            <a:off x="1097280" y="1883664"/>
            <a:ext cx="3566160" cy="365760"/>
          </a:xfrm>
          <a:prstGeom prst="rect">
            <a:avLst/>
          </a:prstGeom>
          <a:noFill/>
          <a:ln/>
        </p:spPr>
        <p:txBody>
          <a:bodyPr wrap="square" lIns="0" tIns="0" rIns="0" bIns="0" rtlCol="0" anchor="ctr"/>
          <a:lstStyle/>
          <a:p>
            <a:pPr indent="0" marL="0">
              <a:buNone/>
            </a:pPr>
            <a:r>
              <a:rPr lang="it-IT" sz="1300" dirty="0">
                <a:solidFill>
                  <a:schemeClr val="tx1"/>
                </a:solidFill>
              </a:rPr>
              <a:t>Generazione e modifica delle immagini</a:t>
            </a:r>
            <a:endParaRPr lang="it-IT" sz="1300" dirty="0"/>
          </a:p>
        </p:txBody>
      </p:sp>
      <p:sp>
        <p:nvSpPr>
          <p:cNvPr id="17" name="priorità 10.3"/>
          <p:cNvSpPr/>
          <p:nvPr/>
        </p:nvSpPr>
        <p:spPr>
          <a:xfrm>
            <a:off x="4754880" y="1947672"/>
            <a:ext cx="731520" cy="237744"/>
          </a:xfrm>
          <a:prstGeom prst="roundRect">
            <a:avLst>
              <a:gd name="adj" fmla="val 50000"/>
            </a:avLst>
          </a:prstGeom>
          <a:solidFill>
            <a:schemeClr val="accent1"/>
          </a:solidFill>
          <a:ln w="12700">
            <a:solidFill>
              <a:schemeClr val="accent1"/>
            </a:solidFill>
            <a:prstDash val="solid"/>
          </a:ln>
        </p:spPr>
      </p:sp>
      <p:sp>
        <p:nvSpPr>
          <p:cNvPr id="18" name="Text 15"/>
          <p:cNvSpPr txBox="1"/>
          <p:nvPr/>
        </p:nvSpPr>
        <p:spPr>
          <a:xfrm>
            <a:off x="4754880" y="1947672"/>
            <a:ext cx="731520" cy="237744"/>
          </a:xfrm>
          <a:prstGeom prst="rect">
            <a:avLst/>
          </a:prstGeom>
          <a:noFill/>
          <a:ln/>
        </p:spPr>
        <p:txBody>
          <a:bodyPr wrap="square" lIns="0" tIns="0" rIns="0" bIns="0" rtlCol="0" anchor="ctr"/>
          <a:lstStyle/>
          <a:p>
            <a:pPr algn="ctr" indent="0" marL="0">
              <a:buNone/>
            </a:pPr>
            <a:r>
              <a:rPr lang="it-IT" sz="1000" b="1" dirty="0">
                <a:solidFill>
                  <a:schemeClr val="bg1"/>
                </a:solidFill>
              </a:rPr>
              <a:t>Alta</a:t>
            </a:r>
            <a:endParaRPr lang="it-IT" sz="1000" dirty="0"/>
          </a:p>
        </p:txBody>
      </p:sp>
      <p:sp>
        <p:nvSpPr>
          <p:cNvPr id="19" name="riga 10.4"/>
          <p:cNvSpPr/>
          <p:nvPr/>
        </p:nvSpPr>
        <p:spPr>
          <a:xfrm>
            <a:off x="457200" y="2313432"/>
            <a:ext cx="5120640" cy="365760"/>
          </a:xfrm>
          <a:prstGeom prst="roundRect">
            <a:avLst>
              <a:gd name="adj" fmla="val 20000"/>
            </a:avLst>
          </a:prstGeom>
          <a:solidFill>
            <a:schemeClr val="bg1"/>
          </a:solidFill>
          <a:ln/>
        </p:spPr>
      </p:sp>
      <p:sp>
        <p:nvSpPr>
          <p:cNvPr id="20" name="Text 17"/>
          <p:cNvSpPr txBox="1"/>
          <p:nvPr/>
        </p:nvSpPr>
        <p:spPr>
          <a:xfrm>
            <a:off x="594360" y="2313432"/>
            <a:ext cx="502920" cy="365760"/>
          </a:xfrm>
          <a:prstGeom prst="rect">
            <a:avLst/>
          </a:prstGeom>
          <a:noFill/>
          <a:ln/>
        </p:spPr>
        <p:txBody>
          <a:bodyPr wrap="square" lIns="0" tIns="0" rIns="0" bIns="0" rtlCol="0" anchor="ctr"/>
          <a:lstStyle/>
          <a:p>
            <a:pPr indent="0" marL="0">
              <a:buNone/>
            </a:pPr>
            <a:r>
              <a:rPr lang="it-IT" sz="1300" b="1" dirty="0">
                <a:solidFill>
                  <a:schemeClr val="accent1"/>
                </a:solidFill>
              </a:rPr>
              <a:t>10.4</a:t>
            </a:r>
            <a:endParaRPr lang="it-IT" sz="1300" dirty="0"/>
          </a:p>
        </p:txBody>
      </p:sp>
      <p:sp>
        <p:nvSpPr>
          <p:cNvPr id="21" name="Text 18"/>
          <p:cNvSpPr txBox="1"/>
          <p:nvPr/>
        </p:nvSpPr>
        <p:spPr>
          <a:xfrm>
            <a:off x="1097280" y="2313432"/>
            <a:ext cx="3566160" cy="365760"/>
          </a:xfrm>
          <a:prstGeom prst="rect">
            <a:avLst/>
          </a:prstGeom>
          <a:noFill/>
          <a:ln/>
        </p:spPr>
        <p:txBody>
          <a:bodyPr wrap="square" lIns="0" tIns="0" rIns="0" bIns="0" rtlCol="0" anchor="ctr"/>
          <a:lstStyle/>
          <a:p>
            <a:pPr indent="0" marL="0">
              <a:buNone/>
            </a:pPr>
            <a:r>
              <a:rPr lang="it-IT" sz="1300" dirty="0">
                <a:solidFill>
                  <a:schemeClr val="tx1"/>
                </a:solidFill>
              </a:rPr>
              <a:t>Audio, voce e parlato</a:t>
            </a:r>
            <a:endParaRPr lang="it-IT" sz="1300" dirty="0"/>
          </a:p>
        </p:txBody>
      </p:sp>
      <p:sp>
        <p:nvSpPr>
          <p:cNvPr id="22" name="priorità 10.4"/>
          <p:cNvSpPr/>
          <p:nvPr/>
        </p:nvSpPr>
        <p:spPr>
          <a:xfrm>
            <a:off x="4754880" y="2377440"/>
            <a:ext cx="731520" cy="237744"/>
          </a:xfrm>
          <a:prstGeom prst="roundRect">
            <a:avLst>
              <a:gd name="adj" fmla="val 50000"/>
            </a:avLst>
          </a:prstGeom>
          <a:solidFill>
            <a:schemeClr val="accent1"/>
          </a:solidFill>
          <a:ln w="12700">
            <a:solidFill>
              <a:schemeClr val="accent1"/>
            </a:solidFill>
            <a:prstDash val="solid"/>
          </a:ln>
        </p:spPr>
      </p:sp>
      <p:sp>
        <p:nvSpPr>
          <p:cNvPr id="23" name="Text 20"/>
          <p:cNvSpPr txBox="1"/>
          <p:nvPr/>
        </p:nvSpPr>
        <p:spPr>
          <a:xfrm>
            <a:off x="4754880" y="2377440"/>
            <a:ext cx="731520" cy="237744"/>
          </a:xfrm>
          <a:prstGeom prst="rect">
            <a:avLst/>
          </a:prstGeom>
          <a:noFill/>
          <a:ln/>
        </p:spPr>
        <p:txBody>
          <a:bodyPr wrap="square" lIns="0" tIns="0" rIns="0" bIns="0" rtlCol="0" anchor="ctr"/>
          <a:lstStyle/>
          <a:p>
            <a:pPr algn="ctr" indent="0" marL="0">
              <a:buNone/>
            </a:pPr>
            <a:r>
              <a:rPr lang="it-IT" sz="1000" b="1" dirty="0">
                <a:solidFill>
                  <a:schemeClr val="bg1"/>
                </a:solidFill>
              </a:rPr>
              <a:t>Alta</a:t>
            </a:r>
            <a:endParaRPr lang="it-IT" sz="1000" dirty="0"/>
          </a:p>
        </p:txBody>
      </p:sp>
      <p:sp>
        <p:nvSpPr>
          <p:cNvPr id="24" name="riga 10.5"/>
          <p:cNvSpPr/>
          <p:nvPr/>
        </p:nvSpPr>
        <p:spPr>
          <a:xfrm>
            <a:off x="457200" y="2743200"/>
            <a:ext cx="5120640" cy="365760"/>
          </a:xfrm>
          <a:prstGeom prst="roundRect">
            <a:avLst>
              <a:gd name="adj" fmla="val 20000"/>
            </a:avLst>
          </a:prstGeom>
          <a:solidFill>
            <a:schemeClr val="bg2"/>
          </a:solidFill>
          <a:ln/>
        </p:spPr>
      </p:sp>
      <p:sp>
        <p:nvSpPr>
          <p:cNvPr id="25" name="Text 22"/>
          <p:cNvSpPr txBox="1"/>
          <p:nvPr/>
        </p:nvSpPr>
        <p:spPr>
          <a:xfrm>
            <a:off x="594360" y="2743200"/>
            <a:ext cx="502920" cy="365760"/>
          </a:xfrm>
          <a:prstGeom prst="rect">
            <a:avLst/>
          </a:prstGeom>
          <a:noFill/>
          <a:ln/>
        </p:spPr>
        <p:txBody>
          <a:bodyPr wrap="square" lIns="0" tIns="0" rIns="0" bIns="0" rtlCol="0" anchor="ctr"/>
          <a:lstStyle/>
          <a:p>
            <a:pPr indent="0" marL="0">
              <a:buNone/>
            </a:pPr>
            <a:r>
              <a:rPr lang="it-IT" sz="1300" b="1" dirty="0">
                <a:solidFill>
                  <a:schemeClr val="accent1"/>
                </a:solidFill>
              </a:rPr>
              <a:t>10.5</a:t>
            </a:r>
            <a:endParaRPr lang="it-IT" sz="1300" dirty="0"/>
          </a:p>
        </p:txBody>
      </p:sp>
      <p:sp>
        <p:nvSpPr>
          <p:cNvPr id="26" name="Text 23"/>
          <p:cNvSpPr txBox="1"/>
          <p:nvPr/>
        </p:nvSpPr>
        <p:spPr>
          <a:xfrm>
            <a:off x="1097280" y="2743200"/>
            <a:ext cx="3566160" cy="365760"/>
          </a:xfrm>
          <a:prstGeom prst="rect">
            <a:avLst/>
          </a:prstGeom>
          <a:noFill/>
          <a:ln/>
        </p:spPr>
        <p:txBody>
          <a:bodyPr wrap="square" lIns="0" tIns="0" rIns="0" bIns="0" rtlCol="0" anchor="ctr"/>
          <a:lstStyle/>
          <a:p>
            <a:pPr indent="0" marL="0">
              <a:buNone/>
            </a:pPr>
            <a:r>
              <a:rPr lang="it-IT" sz="1300" dirty="0">
                <a:solidFill>
                  <a:schemeClr val="tx1"/>
                </a:solidFill>
              </a:rPr>
              <a:t>Comprensione e generazione video</a:t>
            </a:r>
            <a:endParaRPr lang="it-IT" sz="1300" dirty="0"/>
          </a:p>
        </p:txBody>
      </p:sp>
      <p:sp>
        <p:nvSpPr>
          <p:cNvPr id="27" name="priorità 10.5"/>
          <p:cNvSpPr/>
          <p:nvPr/>
        </p:nvSpPr>
        <p:spPr>
          <a:xfrm>
            <a:off x="4754880" y="2807208"/>
            <a:ext cx="731520" cy="237744"/>
          </a:xfrm>
          <a:prstGeom prst="roundRect">
            <a:avLst>
              <a:gd name="adj" fmla="val 50000"/>
            </a:avLst>
          </a:prstGeom>
          <a:solidFill>
            <a:schemeClr val="bg1"/>
          </a:solidFill>
          <a:ln w="12700">
            <a:solidFill>
              <a:schemeClr val="accent1"/>
            </a:solidFill>
            <a:prstDash val="solid"/>
          </a:ln>
        </p:spPr>
      </p:sp>
      <p:sp>
        <p:nvSpPr>
          <p:cNvPr id="28" name="Text 25"/>
          <p:cNvSpPr txBox="1"/>
          <p:nvPr/>
        </p:nvSpPr>
        <p:spPr>
          <a:xfrm>
            <a:off x="4754880" y="2807208"/>
            <a:ext cx="731520" cy="237744"/>
          </a:xfrm>
          <a:prstGeom prst="rect">
            <a:avLst/>
          </a:prstGeom>
          <a:noFill/>
          <a:ln/>
        </p:spPr>
        <p:txBody>
          <a:bodyPr wrap="square" lIns="0" tIns="0" rIns="0" bIns="0" rtlCol="0" anchor="ctr"/>
          <a:lstStyle/>
          <a:p>
            <a:pPr algn="ctr" indent="0" marL="0">
              <a:buNone/>
            </a:pPr>
            <a:r>
              <a:rPr lang="it-IT" sz="1000" b="1" dirty="0">
                <a:solidFill>
                  <a:schemeClr val="accent1"/>
                </a:solidFill>
              </a:rPr>
              <a:t>Media</a:t>
            </a:r>
            <a:endParaRPr lang="it-IT" sz="1000" dirty="0"/>
          </a:p>
        </p:txBody>
      </p:sp>
      <p:sp>
        <p:nvSpPr>
          <p:cNvPr id="29" name="riga 10.6"/>
          <p:cNvSpPr/>
          <p:nvPr/>
        </p:nvSpPr>
        <p:spPr>
          <a:xfrm>
            <a:off x="457200" y="3172968"/>
            <a:ext cx="5120640" cy="365760"/>
          </a:xfrm>
          <a:prstGeom prst="roundRect">
            <a:avLst>
              <a:gd name="adj" fmla="val 20000"/>
            </a:avLst>
          </a:prstGeom>
          <a:solidFill>
            <a:schemeClr val="bg1"/>
          </a:solidFill>
          <a:ln/>
        </p:spPr>
      </p:sp>
      <p:sp>
        <p:nvSpPr>
          <p:cNvPr id="30" name="Text 27"/>
          <p:cNvSpPr txBox="1"/>
          <p:nvPr/>
        </p:nvSpPr>
        <p:spPr>
          <a:xfrm>
            <a:off x="594360" y="3172968"/>
            <a:ext cx="502920" cy="365760"/>
          </a:xfrm>
          <a:prstGeom prst="rect">
            <a:avLst/>
          </a:prstGeom>
          <a:noFill/>
          <a:ln/>
        </p:spPr>
        <p:txBody>
          <a:bodyPr wrap="square" lIns="0" tIns="0" rIns="0" bIns="0" rtlCol="0" anchor="ctr"/>
          <a:lstStyle/>
          <a:p>
            <a:pPr indent="0" marL="0">
              <a:buNone/>
            </a:pPr>
            <a:r>
              <a:rPr lang="it-IT" sz="1300" b="1" dirty="0">
                <a:solidFill>
                  <a:schemeClr val="accent1"/>
                </a:solidFill>
              </a:rPr>
              <a:t>10.6</a:t>
            </a:r>
            <a:endParaRPr lang="it-IT" sz="1300" dirty="0"/>
          </a:p>
        </p:txBody>
      </p:sp>
      <p:sp>
        <p:nvSpPr>
          <p:cNvPr id="31" name="Text 28"/>
          <p:cNvSpPr txBox="1"/>
          <p:nvPr/>
        </p:nvSpPr>
        <p:spPr>
          <a:xfrm>
            <a:off x="1097280" y="3172968"/>
            <a:ext cx="3566160" cy="365760"/>
          </a:xfrm>
          <a:prstGeom prst="rect">
            <a:avLst/>
          </a:prstGeom>
          <a:noFill/>
          <a:ln/>
        </p:spPr>
        <p:txBody>
          <a:bodyPr wrap="square" lIns="0" tIns="0" rIns="0" bIns="0" rtlCol="0" anchor="ctr"/>
          <a:lstStyle/>
          <a:p>
            <a:pPr indent="0" marL="0">
              <a:buNone/>
            </a:pPr>
            <a:r>
              <a:rPr lang="it-IT" sz="1300" dirty="0">
                <a:solidFill>
                  <a:schemeClr val="tx1"/>
                </a:solidFill>
              </a:rPr>
              <a:t>Presentazioni e comunicazione</a:t>
            </a:r>
            <a:endParaRPr lang="it-IT" sz="1300" dirty="0"/>
          </a:p>
        </p:txBody>
      </p:sp>
      <p:sp>
        <p:nvSpPr>
          <p:cNvPr id="32" name="priorità 10.6"/>
          <p:cNvSpPr/>
          <p:nvPr/>
        </p:nvSpPr>
        <p:spPr>
          <a:xfrm>
            <a:off x="4754880" y="3236976"/>
            <a:ext cx="731520" cy="237744"/>
          </a:xfrm>
          <a:prstGeom prst="roundRect">
            <a:avLst>
              <a:gd name="adj" fmla="val 50000"/>
            </a:avLst>
          </a:prstGeom>
          <a:solidFill>
            <a:schemeClr val="accent1"/>
          </a:solidFill>
          <a:ln w="12700">
            <a:solidFill>
              <a:schemeClr val="accent1"/>
            </a:solidFill>
            <a:prstDash val="solid"/>
          </a:ln>
        </p:spPr>
      </p:sp>
      <p:sp>
        <p:nvSpPr>
          <p:cNvPr id="33" name="Text 30"/>
          <p:cNvSpPr txBox="1"/>
          <p:nvPr/>
        </p:nvSpPr>
        <p:spPr>
          <a:xfrm>
            <a:off x="4754880" y="3236976"/>
            <a:ext cx="731520" cy="237744"/>
          </a:xfrm>
          <a:prstGeom prst="rect">
            <a:avLst/>
          </a:prstGeom>
          <a:noFill/>
          <a:ln/>
        </p:spPr>
        <p:txBody>
          <a:bodyPr wrap="square" lIns="0" tIns="0" rIns="0" bIns="0" rtlCol="0" anchor="ctr"/>
          <a:lstStyle/>
          <a:p>
            <a:pPr algn="ctr" indent="0" marL="0">
              <a:buNone/>
            </a:pPr>
            <a:r>
              <a:rPr lang="it-IT" sz="1000" b="1" dirty="0">
                <a:solidFill>
                  <a:schemeClr val="bg1"/>
                </a:solidFill>
              </a:rPr>
              <a:t>Alta</a:t>
            </a:r>
            <a:endParaRPr lang="it-IT" sz="1000" dirty="0"/>
          </a:p>
        </p:txBody>
      </p:sp>
      <p:sp>
        <p:nvSpPr>
          <p:cNvPr id="34" name="riga 10.7"/>
          <p:cNvSpPr/>
          <p:nvPr/>
        </p:nvSpPr>
        <p:spPr>
          <a:xfrm>
            <a:off x="457200" y="3602736"/>
            <a:ext cx="5120640" cy="365760"/>
          </a:xfrm>
          <a:prstGeom prst="roundRect">
            <a:avLst>
              <a:gd name="adj" fmla="val 20000"/>
            </a:avLst>
          </a:prstGeom>
          <a:solidFill>
            <a:schemeClr val="bg2"/>
          </a:solidFill>
          <a:ln/>
        </p:spPr>
      </p:sp>
      <p:sp>
        <p:nvSpPr>
          <p:cNvPr id="35" name="Text 32"/>
          <p:cNvSpPr txBox="1"/>
          <p:nvPr/>
        </p:nvSpPr>
        <p:spPr>
          <a:xfrm>
            <a:off x="594360" y="3602736"/>
            <a:ext cx="502920" cy="365760"/>
          </a:xfrm>
          <a:prstGeom prst="rect">
            <a:avLst/>
          </a:prstGeom>
          <a:noFill/>
          <a:ln/>
        </p:spPr>
        <p:txBody>
          <a:bodyPr wrap="square" lIns="0" tIns="0" rIns="0" bIns="0" rtlCol="0" anchor="ctr"/>
          <a:lstStyle/>
          <a:p>
            <a:pPr indent="0" marL="0">
              <a:buNone/>
            </a:pPr>
            <a:r>
              <a:rPr lang="it-IT" sz="1300" b="1" dirty="0">
                <a:solidFill>
                  <a:schemeClr val="accent1"/>
                </a:solidFill>
              </a:rPr>
              <a:t>10.7</a:t>
            </a:r>
            <a:endParaRPr lang="it-IT" sz="1300" dirty="0"/>
          </a:p>
        </p:txBody>
      </p:sp>
      <p:sp>
        <p:nvSpPr>
          <p:cNvPr id="36" name="Text 33"/>
          <p:cNvSpPr txBox="1"/>
          <p:nvPr/>
        </p:nvSpPr>
        <p:spPr>
          <a:xfrm>
            <a:off x="1097280" y="3602736"/>
            <a:ext cx="3566160" cy="365760"/>
          </a:xfrm>
          <a:prstGeom prst="rect">
            <a:avLst/>
          </a:prstGeom>
          <a:noFill/>
          <a:ln/>
        </p:spPr>
        <p:txBody>
          <a:bodyPr wrap="square" lIns="0" tIns="0" rIns="0" bIns="0" rtlCol="0" anchor="ctr"/>
          <a:lstStyle/>
          <a:p>
            <a:pPr indent="0" marL="0">
              <a:buNone/>
            </a:pPr>
            <a:r>
              <a:rPr lang="it-IT" sz="1300" dirty="0">
                <a:solidFill>
                  <a:schemeClr val="tx1"/>
                </a:solidFill>
              </a:rPr>
              <a:t>Trasformazioni tra modalità</a:t>
            </a:r>
            <a:endParaRPr lang="it-IT" sz="1300" dirty="0"/>
          </a:p>
        </p:txBody>
      </p:sp>
      <p:sp>
        <p:nvSpPr>
          <p:cNvPr id="37" name="priorità 10.7"/>
          <p:cNvSpPr/>
          <p:nvPr/>
        </p:nvSpPr>
        <p:spPr>
          <a:xfrm>
            <a:off x="4754880" y="3666744"/>
            <a:ext cx="731520" cy="237744"/>
          </a:xfrm>
          <a:prstGeom prst="roundRect">
            <a:avLst>
              <a:gd name="adj" fmla="val 50000"/>
            </a:avLst>
          </a:prstGeom>
          <a:solidFill>
            <a:schemeClr val="accent1"/>
          </a:solidFill>
          <a:ln w="12700">
            <a:solidFill>
              <a:schemeClr val="accent1"/>
            </a:solidFill>
            <a:prstDash val="solid"/>
          </a:ln>
        </p:spPr>
      </p:sp>
      <p:sp>
        <p:nvSpPr>
          <p:cNvPr id="38" name="Text 35"/>
          <p:cNvSpPr txBox="1"/>
          <p:nvPr/>
        </p:nvSpPr>
        <p:spPr>
          <a:xfrm>
            <a:off x="4754880" y="3666744"/>
            <a:ext cx="731520" cy="237744"/>
          </a:xfrm>
          <a:prstGeom prst="rect">
            <a:avLst/>
          </a:prstGeom>
          <a:noFill/>
          <a:ln/>
        </p:spPr>
        <p:txBody>
          <a:bodyPr wrap="square" lIns="0" tIns="0" rIns="0" bIns="0" rtlCol="0" anchor="ctr"/>
          <a:lstStyle/>
          <a:p>
            <a:pPr algn="ctr" indent="0" marL="0">
              <a:buNone/>
            </a:pPr>
            <a:r>
              <a:rPr lang="it-IT" sz="1000" b="1" dirty="0">
                <a:solidFill>
                  <a:schemeClr val="bg1"/>
                </a:solidFill>
              </a:rPr>
              <a:t>Alta</a:t>
            </a:r>
            <a:endParaRPr lang="it-IT" sz="1000" dirty="0"/>
          </a:p>
        </p:txBody>
      </p:sp>
      <p:sp>
        <p:nvSpPr>
          <p:cNvPr id="39" name="riga 10.8"/>
          <p:cNvSpPr/>
          <p:nvPr/>
        </p:nvSpPr>
        <p:spPr>
          <a:xfrm>
            <a:off x="457200" y="4032504"/>
            <a:ext cx="5120640" cy="365760"/>
          </a:xfrm>
          <a:prstGeom prst="roundRect">
            <a:avLst>
              <a:gd name="adj" fmla="val 20000"/>
            </a:avLst>
          </a:prstGeom>
          <a:solidFill>
            <a:schemeClr val="bg1"/>
          </a:solidFill>
          <a:ln/>
        </p:spPr>
      </p:sp>
      <p:sp>
        <p:nvSpPr>
          <p:cNvPr id="40" name="Text 37"/>
          <p:cNvSpPr txBox="1"/>
          <p:nvPr/>
        </p:nvSpPr>
        <p:spPr>
          <a:xfrm>
            <a:off x="594360" y="4032504"/>
            <a:ext cx="502920" cy="365760"/>
          </a:xfrm>
          <a:prstGeom prst="rect">
            <a:avLst/>
          </a:prstGeom>
          <a:noFill/>
          <a:ln/>
        </p:spPr>
        <p:txBody>
          <a:bodyPr wrap="square" lIns="0" tIns="0" rIns="0" bIns="0" rtlCol="0" anchor="ctr"/>
          <a:lstStyle/>
          <a:p>
            <a:pPr indent="0" marL="0">
              <a:buNone/>
            </a:pPr>
            <a:r>
              <a:rPr lang="it-IT" sz="1300" b="1" dirty="0">
                <a:solidFill>
                  <a:schemeClr val="accent1"/>
                </a:solidFill>
              </a:rPr>
              <a:t>10.8</a:t>
            </a:r>
            <a:endParaRPr lang="it-IT" sz="1300" dirty="0"/>
          </a:p>
        </p:txBody>
      </p:sp>
      <p:sp>
        <p:nvSpPr>
          <p:cNvPr id="41" name="Text 38"/>
          <p:cNvSpPr txBox="1"/>
          <p:nvPr/>
        </p:nvSpPr>
        <p:spPr>
          <a:xfrm>
            <a:off x="1097280" y="4032504"/>
            <a:ext cx="3566160" cy="365760"/>
          </a:xfrm>
          <a:prstGeom prst="rect">
            <a:avLst/>
          </a:prstGeom>
          <a:noFill/>
          <a:ln/>
        </p:spPr>
        <p:txBody>
          <a:bodyPr wrap="square" lIns="0" tIns="0" rIns="0" bIns="0" rtlCol="0" anchor="ctr"/>
          <a:lstStyle/>
          <a:p>
            <a:pPr indent="0" marL="0">
              <a:buNone/>
            </a:pPr>
            <a:r>
              <a:rPr lang="it-IT" sz="1300" dirty="0">
                <a:solidFill>
                  <a:schemeClr val="tx1"/>
                </a:solidFill>
              </a:rPr>
              <a:t>Limiti, autenticità, affidabilità</a:t>
            </a:r>
            <a:endParaRPr lang="it-IT" sz="1300" dirty="0"/>
          </a:p>
        </p:txBody>
      </p:sp>
      <p:sp>
        <p:nvSpPr>
          <p:cNvPr id="42" name="priorità 10.8"/>
          <p:cNvSpPr/>
          <p:nvPr/>
        </p:nvSpPr>
        <p:spPr>
          <a:xfrm>
            <a:off x="4754880" y="4096512"/>
            <a:ext cx="731520" cy="237744"/>
          </a:xfrm>
          <a:prstGeom prst="roundRect">
            <a:avLst>
              <a:gd name="adj" fmla="val 50000"/>
            </a:avLst>
          </a:prstGeom>
          <a:solidFill>
            <a:schemeClr val="accent1"/>
          </a:solidFill>
          <a:ln w="12700">
            <a:solidFill>
              <a:schemeClr val="accent1"/>
            </a:solidFill>
            <a:prstDash val="solid"/>
          </a:ln>
        </p:spPr>
      </p:sp>
      <p:sp>
        <p:nvSpPr>
          <p:cNvPr id="43" name="Text 40"/>
          <p:cNvSpPr txBox="1"/>
          <p:nvPr/>
        </p:nvSpPr>
        <p:spPr>
          <a:xfrm>
            <a:off x="4754880" y="4096512"/>
            <a:ext cx="731520" cy="237744"/>
          </a:xfrm>
          <a:prstGeom prst="rect">
            <a:avLst/>
          </a:prstGeom>
          <a:noFill/>
          <a:ln/>
        </p:spPr>
        <p:txBody>
          <a:bodyPr wrap="square" lIns="0" tIns="0" rIns="0" bIns="0" rtlCol="0" anchor="ctr"/>
          <a:lstStyle/>
          <a:p>
            <a:pPr algn="ctr" indent="0" marL="0">
              <a:buNone/>
            </a:pPr>
            <a:r>
              <a:rPr lang="it-IT" sz="1000" b="1" dirty="0">
                <a:solidFill>
                  <a:schemeClr val="bg1"/>
                </a:solidFill>
              </a:rPr>
              <a:t>Alta</a:t>
            </a:r>
            <a:endParaRPr lang="it-IT" sz="1000" dirty="0"/>
          </a:p>
        </p:txBody>
      </p:sp>
      <p:sp>
        <p:nvSpPr>
          <p:cNvPr id="44" name="livello Comprendere e sperimentare"/>
          <p:cNvSpPr/>
          <p:nvPr/>
        </p:nvSpPr>
        <p:spPr>
          <a:xfrm>
            <a:off x="5806440" y="1024128"/>
            <a:ext cx="2880360" cy="1024128"/>
          </a:xfrm>
          <a:prstGeom prst="roundRect">
            <a:avLst>
              <a:gd name="adj" fmla="val 7143"/>
            </a:avLst>
          </a:prstGeom>
          <a:solidFill>
            <a:schemeClr val="accent1"/>
          </a:solidFill>
          <a:ln/>
        </p:spPr>
      </p:sp>
      <p:sp>
        <p:nvSpPr>
          <p:cNvPr id="45" name="Text 42"/>
          <p:cNvSpPr txBox="1"/>
          <p:nvPr/>
        </p:nvSpPr>
        <p:spPr>
          <a:xfrm>
            <a:off x="5943600" y="1097280"/>
            <a:ext cx="2651760" cy="274320"/>
          </a:xfrm>
          <a:prstGeom prst="rect">
            <a:avLst/>
          </a:prstGeom>
          <a:noFill/>
          <a:ln/>
        </p:spPr>
        <p:txBody>
          <a:bodyPr wrap="square" lIns="0" tIns="0" rIns="0" bIns="0" rtlCol="0" anchor="t"/>
          <a:lstStyle/>
          <a:p>
            <a:pPr indent="0" marL="0">
              <a:buNone/>
            </a:pPr>
            <a:r>
              <a:rPr lang="it-IT" sz="1300" b="1" dirty="0">
                <a:solidFill>
                  <a:schemeClr val="bg1"/>
                </a:solidFill>
              </a:rPr>
              <a:t>Comprendere e sperimentare</a:t>
            </a:r>
            <a:endParaRPr lang="it-IT" sz="1300" dirty="0"/>
          </a:p>
        </p:txBody>
      </p:sp>
      <p:sp>
        <p:nvSpPr>
          <p:cNvPr id="46" name="Text 43"/>
          <p:cNvSpPr txBox="1"/>
          <p:nvPr/>
        </p:nvSpPr>
        <p:spPr>
          <a:xfrm>
            <a:off x="5943600" y="1389888"/>
            <a:ext cx="2651760" cy="621792"/>
          </a:xfrm>
          <a:prstGeom prst="rect">
            <a:avLst/>
          </a:prstGeom>
          <a:noFill/>
          <a:ln/>
        </p:spPr>
        <p:txBody>
          <a:bodyPr wrap="square" lIns="0" tIns="0" rIns="0" bIns="0" rtlCol="0" anchor="t"/>
          <a:lstStyle/>
          <a:p>
            <a:pPr indent="0" marL="0">
              <a:buNone/>
            </a:pPr>
            <a:r>
              <a:rPr lang="it-IT" sz="1000" dirty="0">
                <a:solidFill>
                  <a:schemeClr val="bg1"/>
                </a:solidFill>
              </a:rPr>
              <a:t>Interpretare immagini, generare e modificare, trascrivere, voce, trasformazioni</a:t>
            </a:r>
            <a:endParaRPr lang="it-IT" sz="1000" dirty="0"/>
          </a:p>
        </p:txBody>
      </p:sp>
      <p:sp>
        <p:nvSpPr>
          <p:cNvPr id="47" name="livello Conoscere"/>
          <p:cNvSpPr/>
          <p:nvPr/>
        </p:nvSpPr>
        <p:spPr>
          <a:xfrm>
            <a:off x="5806440" y="2185416"/>
            <a:ext cx="2880360" cy="1024128"/>
          </a:xfrm>
          <a:prstGeom prst="roundRect">
            <a:avLst>
              <a:gd name="adj" fmla="val 7143"/>
            </a:avLst>
          </a:prstGeom>
          <a:solidFill>
            <a:schemeClr val="accent6"/>
          </a:solidFill>
          <a:ln/>
        </p:spPr>
      </p:sp>
      <p:sp>
        <p:nvSpPr>
          <p:cNvPr id="48" name="Text 45"/>
          <p:cNvSpPr txBox="1"/>
          <p:nvPr/>
        </p:nvSpPr>
        <p:spPr>
          <a:xfrm>
            <a:off x="5943600" y="2258568"/>
            <a:ext cx="2651760" cy="274320"/>
          </a:xfrm>
          <a:prstGeom prst="rect">
            <a:avLst/>
          </a:prstGeom>
          <a:noFill/>
          <a:ln/>
        </p:spPr>
        <p:txBody>
          <a:bodyPr wrap="square" lIns="0" tIns="0" rIns="0" bIns="0" rtlCol="0" anchor="t"/>
          <a:lstStyle/>
          <a:p>
            <a:pPr indent="0" marL="0">
              <a:buNone/>
            </a:pPr>
            <a:r>
              <a:rPr lang="it-IT" sz="1300" b="1" dirty="0">
                <a:solidFill>
                  <a:schemeClr val="tx1"/>
                </a:solidFill>
              </a:rPr>
              <a:t>Conoscere</a:t>
            </a:r>
            <a:endParaRPr lang="it-IT" sz="1300" dirty="0"/>
          </a:p>
        </p:txBody>
      </p:sp>
      <p:sp>
        <p:nvSpPr>
          <p:cNvPr id="49" name="Text 46"/>
          <p:cNvSpPr txBox="1"/>
          <p:nvPr/>
        </p:nvSpPr>
        <p:spPr>
          <a:xfrm>
            <a:off x="5943600" y="2551176"/>
            <a:ext cx="2651760" cy="621792"/>
          </a:xfrm>
          <a:prstGeom prst="rect">
            <a:avLst/>
          </a:prstGeom>
          <a:noFill/>
          <a:ln/>
        </p:spPr>
        <p:txBody>
          <a:bodyPr wrap="square" lIns="0" tIns="0" rIns="0" bIns="0" rtlCol="0" anchor="t"/>
          <a:lstStyle/>
          <a:p>
            <a:pPr indent="0" marL="0">
              <a:buNone/>
            </a:pPr>
            <a:r>
              <a:rPr lang="it-IT" sz="1000" dirty="0">
                <a:solidFill>
                  <a:schemeClr val="tx1"/>
                </a:solidFill>
              </a:rPr>
              <a:t>Video, presentazioni, accessibilità, autenticità, provenienza, trasparenza</a:t>
            </a:r>
            <a:endParaRPr lang="it-IT" sz="1000" dirty="0"/>
          </a:p>
        </p:txBody>
      </p:sp>
      <p:sp>
        <p:nvSpPr>
          <p:cNvPr id="50" name="livello Solo accennare"/>
          <p:cNvSpPr/>
          <p:nvPr/>
        </p:nvSpPr>
        <p:spPr>
          <a:xfrm>
            <a:off x="5806440" y="3346704"/>
            <a:ext cx="2880360" cy="1024128"/>
          </a:xfrm>
          <a:prstGeom prst="roundRect">
            <a:avLst>
              <a:gd name="adj" fmla="val 7143"/>
            </a:avLst>
          </a:prstGeom>
          <a:solidFill>
            <a:schemeClr val="bg2"/>
          </a:solidFill>
          <a:ln/>
        </p:spPr>
      </p:sp>
      <p:sp>
        <p:nvSpPr>
          <p:cNvPr id="51" name="Text 48"/>
          <p:cNvSpPr txBox="1"/>
          <p:nvPr/>
        </p:nvSpPr>
        <p:spPr>
          <a:xfrm>
            <a:off x="5943600" y="3419856"/>
            <a:ext cx="2651760" cy="274320"/>
          </a:xfrm>
          <a:prstGeom prst="rect">
            <a:avLst/>
          </a:prstGeom>
          <a:noFill/>
          <a:ln/>
        </p:spPr>
        <p:txBody>
          <a:bodyPr wrap="square" lIns="0" tIns="0" rIns="0" bIns="0" rtlCol="0" anchor="t"/>
          <a:lstStyle/>
          <a:p>
            <a:pPr indent="0" marL="0">
              <a:buNone/>
            </a:pPr>
            <a:r>
              <a:rPr lang="it-IT" sz="1300" b="1" dirty="0">
                <a:solidFill>
                  <a:schemeClr val="tx1"/>
                </a:solidFill>
              </a:rPr>
              <a:t>Solo accennare</a:t>
            </a:r>
            <a:endParaRPr lang="it-IT" sz="1300" dirty="0"/>
          </a:p>
        </p:txBody>
      </p:sp>
      <p:sp>
        <p:nvSpPr>
          <p:cNvPr id="52" name="Text 49"/>
          <p:cNvSpPr txBox="1"/>
          <p:nvPr/>
        </p:nvSpPr>
        <p:spPr>
          <a:xfrm>
            <a:off x="5943600" y="3712464"/>
            <a:ext cx="2651760" cy="621792"/>
          </a:xfrm>
          <a:prstGeom prst="rect">
            <a:avLst/>
          </a:prstGeom>
          <a:noFill/>
          <a:ln/>
        </p:spPr>
        <p:txBody>
          <a:bodyPr wrap="square" lIns="0" tIns="0" rIns="0" bIns="0" rtlCol="0" anchor="t"/>
          <a:lstStyle/>
          <a:p>
            <a:pPr indent="0" marL="0">
              <a:buNone/>
            </a:pPr>
            <a:r>
              <a:rPr lang="it-IT" sz="1000" dirty="0">
                <a:solidFill>
                  <a:schemeClr val="tx1"/>
                </a:solidFill>
              </a:rPr>
              <a:t>Architetture, modelli di diffusione, editing professionale, verifica forense</a:t>
            </a:r>
            <a:endParaRPr lang="it-IT"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a:t>
            </a:fld>
            <a:endParaRPr lang="it-I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10.1</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Fondamenti dell'AI multimodale</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Testo, immagini, audio e video combinati in un'unica interazione: le capacità effettive dipendono dal sistema</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a:t>
            </a:fld>
            <a:endParaRPr lang="it-IT"/>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Che cosa significa multimodale</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Trasformare</a:t>
            </a:r>
            <a:endParaRPr lang="it-IT" sz="900" dirty="0"/>
          </a:p>
        </p:txBody>
      </p:sp>
      <p:sp>
        <p:nvSpPr>
          <p:cNvPr id="10" name="Testo"/>
          <p:cNvSpPr/>
          <p:nvPr/>
        </p:nvSpPr>
        <p:spPr>
          <a:xfrm>
            <a:off x="457200" y="1051560"/>
            <a:ext cx="1965960" cy="2194560"/>
          </a:xfrm>
          <a:prstGeom prst="roundRect">
            <a:avLst>
              <a:gd name="adj" fmla="val 3721"/>
            </a:avLst>
          </a:prstGeom>
          <a:solidFill>
            <a:schemeClr val="accent6"/>
          </a:solidFill>
          <a:ln/>
        </p:spPr>
      </p:sp>
      <p:sp>
        <p:nvSpPr>
          <p:cNvPr id="11" name="cerchio FiType"/>
          <p:cNvSpPr/>
          <p:nvPr/>
        </p:nvSpPr>
        <p:spPr>
          <a:xfrm>
            <a:off x="1078992" y="1188720"/>
            <a:ext cx="731520" cy="731520"/>
          </a:xfrm>
          <a:prstGeom prst="ellipse">
            <a:avLst/>
          </a:prstGeom>
          <a:solidFill>
            <a:schemeClr val="accent1"/>
          </a:solidFill>
          <a:ln/>
        </p:spPr>
      </p:sp>
      <p:pic>
        <p:nvPicPr>
          <p:cNvPr id="12" name="Image 0" descr="FiType">    </p:cNvPr>
          <p:cNvPicPr>
            <a:picLocks noChangeAspect="1"/>
          </p:cNvPicPr>
          <p:nvPr/>
        </p:nvPicPr>
        <p:blipFill>
          <a:blip r:embed="rId1"/>
          <a:stretch>
            <a:fillRect/>
          </a:stretch>
        </p:blipFill>
        <p:spPr>
          <a:xfrm>
            <a:off x="1261872" y="1371600"/>
            <a:ext cx="365760" cy="365760"/>
          </a:xfrm>
          <a:prstGeom prst="rect">
            <a:avLst/>
          </a:prstGeom>
        </p:spPr>
      </p:pic>
      <p:sp>
        <p:nvSpPr>
          <p:cNvPr id="13" name="Text 9"/>
          <p:cNvSpPr txBox="1"/>
          <p:nvPr/>
        </p:nvSpPr>
        <p:spPr>
          <a:xfrm>
            <a:off x="548640" y="2011680"/>
            <a:ext cx="1783080" cy="384048"/>
          </a:xfrm>
          <a:prstGeom prst="rect">
            <a:avLst/>
          </a:prstGeom>
          <a:noFill/>
          <a:ln/>
        </p:spPr>
        <p:txBody>
          <a:bodyPr wrap="square" lIns="0" tIns="0" rIns="0" bIns="0" rtlCol="0" anchor="t"/>
          <a:lstStyle/>
          <a:p>
            <a:pPr algn="ctr" indent="0" marL="0">
              <a:buNone/>
            </a:pPr>
            <a:r>
              <a:rPr lang="it-IT" sz="1700" b="1" dirty="0">
                <a:solidFill>
                  <a:schemeClr val="tx1"/>
                </a:solidFill>
              </a:rPr>
              <a:t>Testo</a:t>
            </a:r>
            <a:endParaRPr lang="it-IT" sz="1700" dirty="0"/>
          </a:p>
        </p:txBody>
      </p:sp>
      <p:sp>
        <p:nvSpPr>
          <p:cNvPr id="14" name="Text 10"/>
          <p:cNvSpPr txBox="1"/>
          <p:nvPr/>
        </p:nvSpPr>
        <p:spPr>
          <a:xfrm>
            <a:off x="594360" y="2423160"/>
            <a:ext cx="1691640" cy="731520"/>
          </a:xfrm>
          <a:prstGeom prst="rect">
            <a:avLst/>
          </a:prstGeom>
          <a:noFill/>
          <a:ln/>
        </p:spPr>
        <p:txBody>
          <a:bodyPr wrap="square" lIns="0" tIns="0" rIns="0" bIns="0" rtlCol="0" anchor="t"/>
          <a:lstStyle/>
          <a:p>
            <a:pPr algn="ctr" indent="0" marL="0">
              <a:buNone/>
            </a:pPr>
            <a:r>
              <a:rPr lang="it-IT" sz="1100" dirty="0">
                <a:solidFill>
                  <a:schemeClr val="tx2"/>
                </a:solidFill>
              </a:rPr>
              <a:t>La modalità centrale, spesso il ponte tra le altre</a:t>
            </a:r>
            <a:endParaRPr lang="it-IT" sz="1100" dirty="0"/>
          </a:p>
        </p:txBody>
      </p:sp>
      <p:sp>
        <p:nvSpPr>
          <p:cNvPr id="15" name="Immagini"/>
          <p:cNvSpPr/>
          <p:nvPr/>
        </p:nvSpPr>
        <p:spPr>
          <a:xfrm>
            <a:off x="2560320" y="1051560"/>
            <a:ext cx="1965960" cy="2194560"/>
          </a:xfrm>
          <a:prstGeom prst="roundRect">
            <a:avLst>
              <a:gd name="adj" fmla="val 3721"/>
            </a:avLst>
          </a:prstGeom>
          <a:solidFill>
            <a:schemeClr val="bg2"/>
          </a:solidFill>
          <a:ln/>
        </p:spPr>
      </p:sp>
      <p:sp>
        <p:nvSpPr>
          <p:cNvPr id="16" name="cerchio FiImage"/>
          <p:cNvSpPr/>
          <p:nvPr/>
        </p:nvSpPr>
        <p:spPr>
          <a:xfrm>
            <a:off x="3182112" y="1188720"/>
            <a:ext cx="731520" cy="731520"/>
          </a:xfrm>
          <a:prstGeom prst="ellipse">
            <a:avLst/>
          </a:prstGeom>
          <a:solidFill>
            <a:schemeClr val="accent1"/>
          </a:solidFill>
          <a:ln/>
        </p:spPr>
      </p:sp>
      <p:pic>
        <p:nvPicPr>
          <p:cNvPr id="17" name="Image 1" descr="FiImage">    </p:cNvPr>
          <p:cNvPicPr>
            <a:picLocks noChangeAspect="1"/>
          </p:cNvPicPr>
          <p:nvPr/>
        </p:nvPicPr>
        <p:blipFill>
          <a:blip r:embed="rId2"/>
          <a:stretch>
            <a:fillRect/>
          </a:stretch>
        </p:blipFill>
        <p:spPr>
          <a:xfrm>
            <a:off x="3364992" y="1371600"/>
            <a:ext cx="365760" cy="365760"/>
          </a:xfrm>
          <a:prstGeom prst="rect">
            <a:avLst/>
          </a:prstGeom>
        </p:spPr>
      </p:pic>
      <p:sp>
        <p:nvSpPr>
          <p:cNvPr id="18" name="Text 13"/>
          <p:cNvSpPr txBox="1"/>
          <p:nvPr/>
        </p:nvSpPr>
        <p:spPr>
          <a:xfrm>
            <a:off x="2651760" y="2011680"/>
            <a:ext cx="1783080" cy="384048"/>
          </a:xfrm>
          <a:prstGeom prst="rect">
            <a:avLst/>
          </a:prstGeom>
          <a:noFill/>
          <a:ln/>
        </p:spPr>
        <p:txBody>
          <a:bodyPr wrap="square" lIns="0" tIns="0" rIns="0" bIns="0" rtlCol="0" anchor="t"/>
          <a:lstStyle/>
          <a:p>
            <a:pPr algn="ctr" indent="0" marL="0">
              <a:buNone/>
            </a:pPr>
            <a:r>
              <a:rPr lang="it-IT" sz="1700" b="1" dirty="0">
                <a:solidFill>
                  <a:schemeClr val="tx1"/>
                </a:solidFill>
              </a:rPr>
              <a:t>Immagini</a:t>
            </a:r>
            <a:endParaRPr lang="it-IT" sz="1700" dirty="0"/>
          </a:p>
        </p:txBody>
      </p:sp>
      <p:sp>
        <p:nvSpPr>
          <p:cNvPr id="19" name="Text 14"/>
          <p:cNvSpPr txBox="1"/>
          <p:nvPr/>
        </p:nvSpPr>
        <p:spPr>
          <a:xfrm>
            <a:off x="2697480" y="2423160"/>
            <a:ext cx="1691640" cy="731520"/>
          </a:xfrm>
          <a:prstGeom prst="rect">
            <a:avLst/>
          </a:prstGeom>
          <a:noFill/>
          <a:ln/>
        </p:spPr>
        <p:txBody>
          <a:bodyPr wrap="square" lIns="0" tIns="0" rIns="0" bIns="0" rtlCol="0" anchor="t"/>
          <a:lstStyle/>
          <a:p>
            <a:pPr algn="ctr" indent="0" marL="0">
              <a:buNone/>
            </a:pPr>
            <a:r>
              <a:rPr lang="it-IT" sz="1100" dirty="0">
                <a:solidFill>
                  <a:schemeClr val="tx2"/>
                </a:solidFill>
              </a:rPr>
              <a:t>Fotografie, illustrazioni, diagrammi, schermate, scansioni</a:t>
            </a:r>
            <a:endParaRPr lang="it-IT" sz="1100" dirty="0"/>
          </a:p>
        </p:txBody>
      </p:sp>
      <p:sp>
        <p:nvSpPr>
          <p:cNvPr id="20" name="Audio"/>
          <p:cNvSpPr/>
          <p:nvPr/>
        </p:nvSpPr>
        <p:spPr>
          <a:xfrm>
            <a:off x="4663440" y="1051560"/>
            <a:ext cx="1965960" cy="2194560"/>
          </a:xfrm>
          <a:prstGeom prst="roundRect">
            <a:avLst>
              <a:gd name="adj" fmla="val 3721"/>
            </a:avLst>
          </a:prstGeom>
          <a:solidFill>
            <a:schemeClr val="bg2"/>
          </a:solidFill>
          <a:ln/>
        </p:spPr>
      </p:sp>
      <p:sp>
        <p:nvSpPr>
          <p:cNvPr id="21" name="cerchio FiMic"/>
          <p:cNvSpPr/>
          <p:nvPr/>
        </p:nvSpPr>
        <p:spPr>
          <a:xfrm>
            <a:off x="5285232" y="1188720"/>
            <a:ext cx="731520" cy="731520"/>
          </a:xfrm>
          <a:prstGeom prst="ellipse">
            <a:avLst/>
          </a:prstGeom>
          <a:solidFill>
            <a:schemeClr val="accent1"/>
          </a:solidFill>
          <a:ln/>
        </p:spPr>
      </p:sp>
      <p:pic>
        <p:nvPicPr>
          <p:cNvPr id="22" name="Image 2" descr="FiMic">    </p:cNvPr>
          <p:cNvPicPr>
            <a:picLocks noChangeAspect="1"/>
          </p:cNvPicPr>
          <p:nvPr/>
        </p:nvPicPr>
        <p:blipFill>
          <a:blip r:embed="rId3"/>
          <a:stretch>
            <a:fillRect/>
          </a:stretch>
        </p:blipFill>
        <p:spPr>
          <a:xfrm>
            <a:off x="5468112" y="1371600"/>
            <a:ext cx="365760" cy="365760"/>
          </a:xfrm>
          <a:prstGeom prst="rect">
            <a:avLst/>
          </a:prstGeom>
        </p:spPr>
      </p:pic>
      <p:sp>
        <p:nvSpPr>
          <p:cNvPr id="23" name="Text 17"/>
          <p:cNvSpPr txBox="1"/>
          <p:nvPr/>
        </p:nvSpPr>
        <p:spPr>
          <a:xfrm>
            <a:off x="4754880" y="2011680"/>
            <a:ext cx="1783080" cy="384048"/>
          </a:xfrm>
          <a:prstGeom prst="rect">
            <a:avLst/>
          </a:prstGeom>
          <a:noFill/>
          <a:ln/>
        </p:spPr>
        <p:txBody>
          <a:bodyPr wrap="square" lIns="0" tIns="0" rIns="0" bIns="0" rtlCol="0" anchor="t"/>
          <a:lstStyle/>
          <a:p>
            <a:pPr algn="ctr" indent="0" marL="0">
              <a:buNone/>
            </a:pPr>
            <a:r>
              <a:rPr lang="it-IT" sz="1700" b="1" dirty="0">
                <a:solidFill>
                  <a:schemeClr val="tx1"/>
                </a:solidFill>
              </a:rPr>
              <a:t>Audio</a:t>
            </a:r>
            <a:endParaRPr lang="it-IT" sz="1700" dirty="0"/>
          </a:p>
        </p:txBody>
      </p:sp>
      <p:sp>
        <p:nvSpPr>
          <p:cNvPr id="24" name="Text 18"/>
          <p:cNvSpPr txBox="1"/>
          <p:nvPr/>
        </p:nvSpPr>
        <p:spPr>
          <a:xfrm>
            <a:off x="4800600" y="2423160"/>
            <a:ext cx="1691640" cy="731520"/>
          </a:xfrm>
          <a:prstGeom prst="rect">
            <a:avLst/>
          </a:prstGeom>
          <a:noFill/>
          <a:ln/>
        </p:spPr>
        <p:txBody>
          <a:bodyPr wrap="square" lIns="0" tIns="0" rIns="0" bIns="0" rtlCol="0" anchor="t"/>
          <a:lstStyle/>
          <a:p>
            <a:pPr algn="ctr" indent="0" marL="0">
              <a:buNone/>
            </a:pPr>
            <a:r>
              <a:rPr lang="it-IT" sz="1100" dirty="0">
                <a:solidFill>
                  <a:schemeClr val="tx2"/>
                </a:solidFill>
              </a:rPr>
              <a:t>Parlato, musica, suoni</a:t>
            </a:r>
            <a:endParaRPr lang="it-IT" sz="1100" dirty="0"/>
          </a:p>
        </p:txBody>
      </p:sp>
      <p:sp>
        <p:nvSpPr>
          <p:cNvPr id="25" name="Video"/>
          <p:cNvSpPr/>
          <p:nvPr/>
        </p:nvSpPr>
        <p:spPr>
          <a:xfrm>
            <a:off x="6766560" y="1051560"/>
            <a:ext cx="1965960" cy="2194560"/>
          </a:xfrm>
          <a:prstGeom prst="roundRect">
            <a:avLst>
              <a:gd name="adj" fmla="val 3721"/>
            </a:avLst>
          </a:prstGeom>
          <a:solidFill>
            <a:schemeClr val="bg2"/>
          </a:solidFill>
          <a:ln/>
        </p:spPr>
      </p:sp>
      <p:sp>
        <p:nvSpPr>
          <p:cNvPr id="26" name="cerchio FiFilm"/>
          <p:cNvSpPr/>
          <p:nvPr/>
        </p:nvSpPr>
        <p:spPr>
          <a:xfrm>
            <a:off x="7388352" y="1188720"/>
            <a:ext cx="731520" cy="731520"/>
          </a:xfrm>
          <a:prstGeom prst="ellipse">
            <a:avLst/>
          </a:prstGeom>
          <a:solidFill>
            <a:schemeClr val="accent1"/>
          </a:solidFill>
          <a:ln/>
        </p:spPr>
      </p:sp>
      <p:pic>
        <p:nvPicPr>
          <p:cNvPr id="27" name="Image 3" descr="FiFilm">    </p:cNvPr>
          <p:cNvPicPr>
            <a:picLocks noChangeAspect="1"/>
          </p:cNvPicPr>
          <p:nvPr/>
        </p:nvPicPr>
        <p:blipFill>
          <a:blip r:embed="rId4"/>
          <a:stretch>
            <a:fillRect/>
          </a:stretch>
        </p:blipFill>
        <p:spPr>
          <a:xfrm>
            <a:off x="7571232" y="1371600"/>
            <a:ext cx="365760" cy="365760"/>
          </a:xfrm>
          <a:prstGeom prst="rect">
            <a:avLst/>
          </a:prstGeom>
        </p:spPr>
      </p:pic>
      <p:sp>
        <p:nvSpPr>
          <p:cNvPr id="28" name="Text 21"/>
          <p:cNvSpPr txBox="1"/>
          <p:nvPr/>
        </p:nvSpPr>
        <p:spPr>
          <a:xfrm>
            <a:off x="6858000" y="2011680"/>
            <a:ext cx="1783080" cy="384048"/>
          </a:xfrm>
          <a:prstGeom prst="rect">
            <a:avLst/>
          </a:prstGeom>
          <a:noFill/>
          <a:ln/>
        </p:spPr>
        <p:txBody>
          <a:bodyPr wrap="square" lIns="0" tIns="0" rIns="0" bIns="0" rtlCol="0" anchor="t"/>
          <a:lstStyle/>
          <a:p>
            <a:pPr algn="ctr" indent="0" marL="0">
              <a:buNone/>
            </a:pPr>
            <a:r>
              <a:rPr lang="it-IT" sz="1700" b="1" dirty="0">
                <a:solidFill>
                  <a:schemeClr val="tx1"/>
                </a:solidFill>
              </a:rPr>
              <a:t>Video</a:t>
            </a:r>
            <a:endParaRPr lang="it-IT" sz="1700" dirty="0"/>
          </a:p>
        </p:txBody>
      </p:sp>
      <p:sp>
        <p:nvSpPr>
          <p:cNvPr id="29" name="Text 22"/>
          <p:cNvSpPr txBox="1"/>
          <p:nvPr/>
        </p:nvSpPr>
        <p:spPr>
          <a:xfrm>
            <a:off x="6903720" y="2423160"/>
            <a:ext cx="1691640" cy="731520"/>
          </a:xfrm>
          <a:prstGeom prst="rect">
            <a:avLst/>
          </a:prstGeom>
          <a:noFill/>
          <a:ln/>
        </p:spPr>
        <p:txBody>
          <a:bodyPr wrap="square" lIns="0" tIns="0" rIns="0" bIns="0" rtlCol="0" anchor="t"/>
          <a:lstStyle/>
          <a:p>
            <a:pPr algn="ctr" indent="0" marL="0">
              <a:buNone/>
            </a:pPr>
            <a:r>
              <a:rPr lang="it-IT" sz="1100" dirty="0">
                <a:solidFill>
                  <a:schemeClr val="tx2"/>
                </a:solidFill>
              </a:rPr>
              <a:t>Immagini nel tempo, spesso con audio</a:t>
            </a:r>
            <a:endParaRPr lang="it-IT" sz="1100" dirty="0"/>
          </a:p>
        </p:txBody>
      </p:sp>
      <p:sp>
        <p:nvSpPr>
          <p:cNvPr id="30" name="messaggio"/>
          <p:cNvSpPr/>
          <p:nvPr/>
        </p:nvSpPr>
        <p:spPr>
          <a:xfrm>
            <a:off x="457200" y="3474720"/>
            <a:ext cx="8229600" cy="640080"/>
          </a:xfrm>
          <a:prstGeom prst="roundRect">
            <a:avLst>
              <a:gd name="adj" fmla="val 11429"/>
            </a:avLst>
          </a:prstGeom>
          <a:solidFill>
            <a:schemeClr val="tx1"/>
          </a:solidFill>
          <a:ln/>
        </p:spPr>
      </p:sp>
      <p:sp>
        <p:nvSpPr>
          <p:cNvPr id="31" name="Text 24"/>
          <p:cNvSpPr txBox="1"/>
          <p:nvPr/>
        </p:nvSpPr>
        <p:spPr>
          <a:xfrm>
            <a:off x="640080" y="3474720"/>
            <a:ext cx="7863840" cy="640080"/>
          </a:xfrm>
          <a:prstGeom prst="rect">
            <a:avLst/>
          </a:prstGeom>
          <a:noFill/>
          <a:ln/>
        </p:spPr>
        <p:txBody>
          <a:bodyPr wrap="square" lIns="0" tIns="0" rIns="0" bIns="0" rtlCol="0" anchor="ctr"/>
          <a:lstStyle/>
          <a:p>
            <a:pPr indent="0" marL="0">
              <a:buNone/>
            </a:pPr>
            <a:r>
              <a:rPr lang="it-IT" sz="1300" dirty="0">
                <a:solidFill>
                  <a:schemeClr val="bg1"/>
                </a:solidFill>
              </a:rPr>
              <a:t>Il valore nasce dalla combinazione: una foto, una domanda e un documento nella stessa richiesta, come facciamo noi in una riunione.</a:t>
            </a:r>
            <a:endParaRPr lang="it-IT" sz="1300" dirty="0"/>
          </a:p>
        </p:txBody>
      </p:sp>
      <p:sp>
        <p:nvSpPr>
          <p:cNvPr id="32" name="Text 25"/>
          <p:cNvSpPr txBox="1"/>
          <p:nvPr/>
        </p:nvSpPr>
        <p:spPr>
          <a:xfrm>
            <a:off x="457200" y="4206240"/>
            <a:ext cx="8229600" cy="320040"/>
          </a:xfrm>
          <a:prstGeom prst="rect">
            <a:avLst/>
          </a:prstGeom>
          <a:noFill/>
          <a:ln/>
        </p:spPr>
        <p:txBody>
          <a:bodyPr wrap="square" lIns="0" tIns="0" rIns="0" bIns="0" rtlCol="0" anchor="t"/>
          <a:lstStyle/>
          <a:p>
            <a:pPr indent="0" marL="0">
              <a:buNone/>
            </a:pPr>
            <a:r>
              <a:rPr lang="it-IT" sz="1200" i="1" dirty="0">
                <a:solidFill>
                  <a:schemeClr val="tx2"/>
                </a:solidFill>
              </a:rPr>
              <a:t>Un sistema può gestire molto bene alcune modalità e meno bene altre.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6</a:t>
            </a:fld>
            <a:endParaRPr lang="it-IT"/>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Mostrare invece di descrivere</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377440"/>
                <a:gridCol w="2377440"/>
                <a:gridCol w="3474720"/>
              </a:tblGrid>
              <a:tr h="402336">
                <a:tc>
                  <a:txBody>
                    <a:bodyPr/>
                    <a:lstStyle/>
                    <a:p>
                      <a:pPr indent="0" marL="0">
                        <a:buNone/>
                      </a:pPr>
                      <a:r>
                        <a:rPr lang="it-IT" sz="1200" b="1" dirty="0">
                          <a:solidFill>
                            <a:schemeClr val="bg1"/>
                          </a:solidFill>
                        </a:rPr>
                        <a:t>Compito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200" b="1" dirty="0">
                          <a:solidFill>
                            <a:schemeClr val="bg1"/>
                          </a:solidFill>
                        </a:rPr>
                        <a:t>Solo testo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200" b="1" dirty="0">
                          <a:solidFill>
                            <a:schemeClr val="bg1"/>
                          </a:solidFill>
                        </a:rPr>
                        <a:t>Multimodale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02336">
                <a:tc>
                  <a:txBody>
                    <a:bodyPr/>
                    <a:lstStyle/>
                    <a:p>
                      <a:pPr indent="0" marL="0">
                        <a:buNone/>
                      </a:pPr>
                      <a:r>
                        <a:rPr lang="it-IT" sz="1200" b="1" dirty="0">
                          <a:solidFill>
                            <a:schemeClr val="tx1"/>
                          </a:solidFill>
                        </a:rPr>
                        <a:t>Un errore a schermo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Descriverlo a parole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Schermata + 'che cosa devo fare?'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02336">
                <a:tc>
                  <a:txBody>
                    <a:bodyPr/>
                    <a:lstStyle/>
                    <a:p>
                      <a:pPr indent="0" marL="0">
                        <a:buNone/>
                      </a:pPr>
                      <a:r>
                        <a:rPr lang="it-IT" sz="1200" b="1" dirty="0">
                          <a:solidFill>
                            <a:schemeClr val="tx1"/>
                          </a:solidFill>
                        </a:rPr>
                        <a:t>Appunti alla lavagna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Ricopiarli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Foto: diventa un elenco di azioni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02336">
                <a:tc>
                  <a:txBody>
                    <a:bodyPr/>
                    <a:lstStyle/>
                    <a:p>
                      <a:pPr indent="0" marL="0">
                        <a:buNone/>
                      </a:pPr>
                      <a:r>
                        <a:rPr lang="it-IT" sz="1200" b="1" dirty="0">
                          <a:solidFill>
                            <a:schemeClr val="tx1"/>
                          </a:solidFill>
                        </a:rPr>
                        <a:t>Un componente guasto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Cercare codice e manuale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Foto + manuale: la procedura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02336">
                <a:tc>
                  <a:txBody>
                    <a:bodyPr/>
                    <a:lstStyle/>
                    <a:p>
                      <a:pPr indent="0" marL="0">
                        <a:buNone/>
                      </a:pPr>
                      <a:r>
                        <a:rPr lang="it-IT" sz="1200" b="1" dirty="0">
                          <a:solidFill>
                            <a:schemeClr val="tx1"/>
                          </a:solidFill>
                        </a:rPr>
                        <a:t>Una riunione da riassumere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Trascriverla prima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Registrazione + slide: il verbale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1" name="scheda Il vantaggio"/>
          <p:cNvSpPr/>
          <p:nvPr/>
        </p:nvSpPr>
        <p:spPr>
          <a:xfrm>
            <a:off x="457200" y="3291840"/>
            <a:ext cx="3977640" cy="1234440"/>
          </a:xfrm>
          <a:prstGeom prst="roundRect">
            <a:avLst>
              <a:gd name="adj" fmla="val 5926"/>
            </a:avLst>
          </a:prstGeom>
          <a:solidFill>
            <a:schemeClr val="accent6"/>
          </a:solidFill>
          <a:ln/>
        </p:spPr>
      </p:sp>
      <p:sp>
        <p:nvSpPr>
          <p:cNvPr id="12" name="cerchio FiZap"/>
          <p:cNvSpPr/>
          <p:nvPr/>
        </p:nvSpPr>
        <p:spPr>
          <a:xfrm>
            <a:off x="640080" y="3474720"/>
            <a:ext cx="457200" cy="457200"/>
          </a:xfrm>
          <a:prstGeom prst="ellipse">
            <a:avLst/>
          </a:prstGeom>
          <a:solidFill>
            <a:schemeClr val="accent1"/>
          </a:solidFill>
          <a:ln/>
        </p:spPr>
      </p:sp>
      <p:pic>
        <p:nvPicPr>
          <p:cNvPr id="13" name="Image 0" descr="FiZap">    </p:cNvPr>
          <p:cNvPicPr>
            <a:picLocks noChangeAspect="1"/>
          </p:cNvPicPr>
          <p:nvPr/>
        </p:nvPicPr>
        <p:blipFill>
          <a:blip r:embed="rId1"/>
          <a:stretch>
            <a:fillRect/>
          </a:stretch>
        </p:blipFill>
        <p:spPr>
          <a:xfrm>
            <a:off x="754380" y="3589020"/>
            <a:ext cx="228600" cy="228600"/>
          </a:xfrm>
          <a:prstGeom prst="rect">
            <a:avLst/>
          </a:prstGeom>
        </p:spPr>
      </p:pic>
      <p:sp>
        <p:nvSpPr>
          <p:cNvPr id="14" name="Text 9"/>
          <p:cNvSpPr txBox="1"/>
          <p:nvPr/>
        </p:nvSpPr>
        <p:spPr>
          <a:xfrm>
            <a:off x="1234440" y="3474720"/>
            <a:ext cx="3017520" cy="457200"/>
          </a:xfrm>
          <a:prstGeom prst="rect">
            <a:avLst/>
          </a:prstGeom>
          <a:noFill/>
          <a:ln/>
        </p:spPr>
        <p:txBody>
          <a:bodyPr wrap="square" lIns="0" tIns="0" rIns="0" bIns="0" rtlCol="0" anchor="ctr"/>
          <a:lstStyle/>
          <a:p>
            <a:pPr indent="0" marL="0">
              <a:buNone/>
            </a:pPr>
            <a:r>
              <a:rPr lang="it-IT" sz="1400" b="1" dirty="0">
                <a:solidFill>
                  <a:schemeClr val="tx1"/>
                </a:solidFill>
              </a:rPr>
              <a:t>Il vantaggio</a:t>
            </a:r>
            <a:endParaRPr lang="it-IT" sz="1400" dirty="0"/>
          </a:p>
        </p:txBody>
      </p:sp>
      <p:sp>
        <p:nvSpPr>
          <p:cNvPr id="15" name="Text 10"/>
          <p:cNvSpPr txBox="1"/>
          <p:nvPr/>
        </p:nvSpPr>
        <p:spPr>
          <a:xfrm>
            <a:off x="640080" y="4069080"/>
            <a:ext cx="3611880" cy="347472"/>
          </a:xfrm>
          <a:prstGeom prst="rect">
            <a:avLst/>
          </a:prstGeom>
          <a:noFill/>
          <a:ln/>
        </p:spPr>
        <p:txBody>
          <a:bodyPr wrap="square" lIns="0" tIns="0" rIns="0" bIns="0" rtlCol="0" anchor="t"/>
          <a:lstStyle/>
          <a:p>
            <a:pPr indent="0" marL="0">
              <a:buNone/>
            </a:pPr>
            <a:r>
              <a:rPr lang="it-IT" sz="1200" dirty="0">
                <a:solidFill>
                  <a:schemeClr val="tx2"/>
                </a:solidFill>
              </a:rPr>
              <a:t>Più naturale e rapido; compiti prima troppo onerosi.</a:t>
            </a:r>
            <a:endParaRPr lang="it-IT" sz="1200" dirty="0"/>
          </a:p>
        </p:txBody>
      </p:sp>
      <p:sp>
        <p:nvSpPr>
          <p:cNvPr id="16" name="scheda Da sapere"/>
          <p:cNvSpPr/>
          <p:nvPr/>
        </p:nvSpPr>
        <p:spPr>
          <a:xfrm>
            <a:off x="4709160" y="3291840"/>
            <a:ext cx="3977640" cy="1234440"/>
          </a:xfrm>
          <a:prstGeom prst="roundRect">
            <a:avLst>
              <a:gd name="adj" fmla="val 5926"/>
            </a:avLst>
          </a:prstGeom>
          <a:solidFill>
            <a:schemeClr val="bg2"/>
          </a:solidFill>
          <a:ln/>
        </p:spPr>
      </p:sp>
      <p:sp>
        <p:nvSpPr>
          <p:cNvPr id="17" name="cerchio FiCrop"/>
          <p:cNvSpPr/>
          <p:nvPr/>
        </p:nvSpPr>
        <p:spPr>
          <a:xfrm>
            <a:off x="4892040" y="3474720"/>
            <a:ext cx="457200" cy="457200"/>
          </a:xfrm>
          <a:prstGeom prst="ellipse">
            <a:avLst/>
          </a:prstGeom>
          <a:solidFill>
            <a:schemeClr val="accent1"/>
          </a:solidFill>
          <a:ln/>
        </p:spPr>
      </p:sp>
      <p:pic>
        <p:nvPicPr>
          <p:cNvPr id="18" name="Image 1" descr="FiCrop">    </p:cNvPr>
          <p:cNvPicPr>
            <a:picLocks noChangeAspect="1"/>
          </p:cNvPicPr>
          <p:nvPr/>
        </p:nvPicPr>
        <p:blipFill>
          <a:blip r:embed="rId2"/>
          <a:stretch>
            <a:fillRect/>
          </a:stretch>
        </p:blipFill>
        <p:spPr>
          <a:xfrm>
            <a:off x="5006340" y="3589020"/>
            <a:ext cx="228600" cy="228600"/>
          </a:xfrm>
          <a:prstGeom prst="rect">
            <a:avLst/>
          </a:prstGeom>
        </p:spPr>
      </p:pic>
      <p:sp>
        <p:nvSpPr>
          <p:cNvPr id="19" name="Text 13"/>
          <p:cNvSpPr txBox="1"/>
          <p:nvPr/>
        </p:nvSpPr>
        <p:spPr>
          <a:xfrm>
            <a:off x="5486400" y="3474720"/>
            <a:ext cx="3017520" cy="457200"/>
          </a:xfrm>
          <a:prstGeom prst="rect">
            <a:avLst/>
          </a:prstGeom>
          <a:noFill/>
          <a:ln/>
        </p:spPr>
        <p:txBody>
          <a:bodyPr wrap="square" lIns="0" tIns="0" rIns="0" bIns="0" rtlCol="0" anchor="ctr"/>
          <a:lstStyle/>
          <a:p>
            <a:pPr indent="0" marL="0">
              <a:buNone/>
            </a:pPr>
            <a:r>
              <a:rPr lang="it-IT" sz="1400" b="1" dirty="0">
                <a:solidFill>
                  <a:schemeClr val="tx1"/>
                </a:solidFill>
              </a:rPr>
              <a:t>Da sapere</a:t>
            </a:r>
            <a:endParaRPr lang="it-IT" sz="1400" dirty="0"/>
          </a:p>
        </p:txBody>
      </p:sp>
      <p:sp>
        <p:nvSpPr>
          <p:cNvPr id="20" name="Text 14"/>
          <p:cNvSpPr txBox="1"/>
          <p:nvPr/>
        </p:nvSpPr>
        <p:spPr>
          <a:xfrm>
            <a:off x="4892040" y="4069080"/>
            <a:ext cx="3611880" cy="347472"/>
          </a:xfrm>
          <a:prstGeom prst="rect">
            <a:avLst/>
          </a:prstGeom>
          <a:noFill/>
          <a:ln/>
        </p:spPr>
        <p:txBody>
          <a:bodyPr wrap="square" lIns="0" tIns="0" rIns="0" bIns="0" rtlCol="0" anchor="t"/>
          <a:lstStyle/>
          <a:p>
            <a:pPr indent="0" marL="0">
              <a:buNone/>
            </a:pPr>
            <a:r>
              <a:rPr lang="it-IT" sz="1200" dirty="0">
                <a:solidFill>
                  <a:schemeClr val="tx2"/>
                </a:solidFill>
              </a:rPr>
              <a:t>Il sistema interpreta e collega: ritagliare ciò che si mostra.</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7</a:t>
            </a:fld>
            <a:endParaRPr lang="it-IT"/>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Comprendere e generare</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Trasformare</a:t>
            </a:r>
            <a:endParaRPr lang="it-IT"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645920"/>
                <a:gridCol w="3291840"/>
                <a:gridCol w="3291840"/>
              </a:tblGrid>
              <a:tr h="457200">
                <a:tc>
                  <a:txBody>
                    <a:bodyPr/>
                    <a:lstStyle/>
                    <a:p>
                      <a:pPr indent="0" marL="0">
                        <a:buNone/>
                      </a:pPr>
                      <a:r>
                        <a:rPr lang="it-IT" sz="1200" b="1" dirty="0">
                          <a:solidFill>
                            <a:schemeClr val="bg1"/>
                          </a:solidFill>
                        </a:rPr>
                        <a:t>Modalità</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200" b="1" dirty="0">
                          <a:solidFill>
                            <a:schemeClr val="bg1"/>
                          </a:solidFill>
                        </a:rPr>
                        <a:t>Comprendere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200" b="1" dirty="0">
                          <a:solidFill>
                            <a:schemeClr val="bg1"/>
                          </a:solidFill>
                        </a:rPr>
                        <a:t>Generare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57200">
                <a:tc>
                  <a:txBody>
                    <a:bodyPr/>
                    <a:lstStyle/>
                    <a:p>
                      <a:pPr indent="0" marL="0">
                        <a:buNone/>
                      </a:pPr>
                      <a:r>
                        <a:rPr lang="it-IT" sz="1200" b="1" dirty="0">
                          <a:solidFill>
                            <a:schemeClr val="tx1"/>
                          </a:solidFill>
                        </a:rPr>
                        <a:t>Immagini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Descrivere una foto, leggere una schermata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Creare un'illustrazione, modificare una foto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it-IT" sz="1200" b="1" dirty="0">
                          <a:solidFill>
                            <a:schemeClr val="tx1"/>
                          </a:solidFill>
                        </a:rPr>
                        <a:t>Audio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Trascrivere una riunione, riconoscere il parlato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Sintetizzare una voce, leggere un testo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it-IT" sz="1200" b="1" dirty="0">
                          <a:solidFill>
                            <a:schemeClr val="tx1"/>
                          </a:solidFill>
                        </a:rPr>
                        <a:t>Video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Riassumere un filmato, individuare eventi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Produrre un'animazione o un video formativo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1" name="trasformare"/>
          <p:cNvSpPr/>
          <p:nvPr/>
        </p:nvSpPr>
        <p:spPr>
          <a:xfrm>
            <a:off x="457200" y="3063240"/>
            <a:ext cx="8229600" cy="777240"/>
          </a:xfrm>
          <a:prstGeom prst="roundRect">
            <a:avLst>
              <a:gd name="adj" fmla="val 9412"/>
            </a:avLst>
          </a:prstGeom>
          <a:solidFill>
            <a:schemeClr val="accent6"/>
          </a:solidFill>
          <a:ln/>
        </p:spPr>
      </p:sp>
      <p:sp>
        <p:nvSpPr>
          <p:cNvPr id="12" name="Text 8"/>
          <p:cNvSpPr txBox="1"/>
          <p:nvPr/>
        </p:nvSpPr>
        <p:spPr>
          <a:xfrm>
            <a:off x="640080" y="3063240"/>
            <a:ext cx="7863840" cy="777240"/>
          </a:xfrm>
          <a:prstGeom prst="rect">
            <a:avLst/>
          </a:prstGeom>
          <a:noFill/>
          <a:ln/>
        </p:spPr>
        <p:txBody>
          <a:bodyPr wrap="square" lIns="0" tIns="0" rIns="0" bIns="0" rtlCol="0" anchor="ctr"/>
          <a:lstStyle/>
          <a:p>
            <a:pPr indent="0" marL="0">
              <a:buNone/>
            </a:pPr>
            <a:r>
              <a:rPr lang="it-IT" sz="1300" b="1" dirty="0">
                <a:solidFill>
                  <a:schemeClr val="accent1"/>
                </a:solidFill>
              </a:rPr>
              <a:t>Trasformare </a:t>
            </a:r>
            <a:pPr indent="0" marL="0">
              <a:buNone/>
            </a:pPr>
            <a:r>
              <a:rPr lang="it-IT" sz="1300" dirty="0">
                <a:solidFill>
                  <a:schemeClr val="tx1"/>
                </a:solidFill>
              </a:rPr>
              <a:t>combina le due: comprendere in una modalità e generare in un'altra. Audio in testo, testo in immagine, documento in slide.</a:t>
            </a:r>
            <a:endParaRPr lang="it-IT" sz="1300" dirty="0"/>
          </a:p>
        </p:txBody>
      </p:sp>
      <p:sp>
        <p:nvSpPr>
          <p:cNvPr id="13" name="Text 9"/>
          <p:cNvSpPr txBox="1"/>
          <p:nvPr/>
        </p:nvSpPr>
        <p:spPr>
          <a:xfrm>
            <a:off x="457200" y="4023360"/>
            <a:ext cx="8229600" cy="411480"/>
          </a:xfrm>
          <a:prstGeom prst="rect">
            <a:avLst/>
          </a:prstGeom>
          <a:noFill/>
          <a:ln/>
        </p:spPr>
        <p:txBody>
          <a:bodyPr wrap="square" lIns="0" tIns="0" rIns="0" bIns="0" rtlCol="0" anchor="t"/>
          <a:lstStyle/>
          <a:p>
            <a:pPr indent="0" marL="0">
              <a:buNone/>
            </a:pPr>
            <a:r>
              <a:rPr lang="it-IT" sz="1200" i="1" dirty="0">
                <a:solidFill>
                  <a:schemeClr val="tx2"/>
                </a:solidFill>
              </a:rPr>
              <a:t>Le capacità sono indipendenti: si può comprendere una modalità senza saperla generare, e viceversa.</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8</a:t>
            </a:fld>
            <a:endParaRPr lang="it-IT"/>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Un modello o più modelli?</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Trasformare</a:t>
            </a:r>
            <a:endParaRPr lang="it-IT" sz="900" dirty="0"/>
          </a:p>
        </p:txBody>
      </p:sp>
      <p:sp>
        <p:nvSpPr>
          <p:cNvPr id="10" name="Text 7"/>
          <p:cNvSpPr txBox="1"/>
          <p:nvPr/>
        </p:nvSpPr>
        <p:spPr>
          <a:xfrm>
            <a:off x="457200" y="1024128"/>
            <a:ext cx="8229600" cy="301752"/>
          </a:xfrm>
          <a:prstGeom prst="rect">
            <a:avLst/>
          </a:prstGeom>
          <a:noFill/>
          <a:ln/>
        </p:spPr>
        <p:txBody>
          <a:bodyPr wrap="square" lIns="0" tIns="0" rIns="0" bIns="0" rtlCol="0" anchor="t"/>
          <a:lstStyle/>
          <a:p>
            <a:pPr indent="0" marL="0">
              <a:buNone/>
            </a:pPr>
            <a:r>
              <a:rPr lang="it-IT" sz="1300" b="1" dirty="0">
                <a:solidFill>
                  <a:schemeClr val="tx1"/>
                </a:solidFill>
              </a:rPr>
              <a:t>Applicazione che combina modelli specializzati</a:t>
            </a:r>
            <a:endParaRPr lang="it-IT" sz="1300" dirty="0"/>
          </a:p>
        </p:txBody>
      </p:sp>
      <p:sp>
        <p:nvSpPr>
          <p:cNvPr id="11" name="blocco Voce"/>
          <p:cNvSpPr/>
          <p:nvPr/>
        </p:nvSpPr>
        <p:spPr>
          <a:xfrm>
            <a:off x="457200" y="1371600"/>
            <a:ext cx="1463040" cy="594360"/>
          </a:xfrm>
          <a:prstGeom prst="roundRect">
            <a:avLst>
              <a:gd name="adj" fmla="val 18462"/>
            </a:avLst>
          </a:prstGeom>
          <a:solidFill>
            <a:schemeClr val="bg2"/>
          </a:solidFill>
          <a:ln/>
        </p:spPr>
      </p:sp>
      <p:sp>
        <p:nvSpPr>
          <p:cNvPr id="12" name="Text 9"/>
          <p:cNvSpPr txBox="1"/>
          <p:nvPr/>
        </p:nvSpPr>
        <p:spPr>
          <a:xfrm>
            <a:off x="502920" y="1371600"/>
            <a:ext cx="1371600" cy="594360"/>
          </a:xfrm>
          <a:prstGeom prst="rect">
            <a:avLst/>
          </a:prstGeom>
          <a:noFill/>
          <a:ln/>
        </p:spPr>
        <p:txBody>
          <a:bodyPr wrap="square" lIns="0" tIns="0" rIns="0" bIns="0" rtlCol="0" anchor="ctr"/>
          <a:lstStyle/>
          <a:p>
            <a:pPr algn="ctr" indent="0" marL="0">
              <a:buNone/>
            </a:pPr>
            <a:r>
              <a:rPr lang="it-IT" sz="1100" b="1" dirty="0">
                <a:solidFill>
                  <a:schemeClr val="tx1"/>
                </a:solidFill>
              </a:rPr>
              <a:t>Voce</a:t>
            </a:r>
            <a:endParaRPr lang="it-IT" sz="1100" dirty="0"/>
          </a:p>
        </p:txBody>
      </p:sp>
      <p:sp>
        <p:nvSpPr>
          <p:cNvPr id="13" name="freccia"/>
          <p:cNvSpPr/>
          <p:nvPr/>
        </p:nvSpPr>
        <p:spPr>
          <a:xfrm>
            <a:off x="1938528" y="1517904"/>
            <a:ext cx="182880" cy="292608"/>
          </a:xfrm>
          <a:prstGeom prst="rightArrow">
            <a:avLst/>
          </a:prstGeom>
          <a:solidFill>
            <a:schemeClr val="accent2"/>
          </a:solidFill>
          <a:ln/>
        </p:spPr>
      </p:sp>
      <p:sp>
        <p:nvSpPr>
          <p:cNvPr id="14" name="blocco Riconoscimento vocale"/>
          <p:cNvSpPr/>
          <p:nvPr/>
        </p:nvSpPr>
        <p:spPr>
          <a:xfrm>
            <a:off x="2139696" y="1371600"/>
            <a:ext cx="1463040" cy="594360"/>
          </a:xfrm>
          <a:prstGeom prst="roundRect">
            <a:avLst>
              <a:gd name="adj" fmla="val 18462"/>
            </a:avLst>
          </a:prstGeom>
          <a:solidFill>
            <a:schemeClr val="accent6"/>
          </a:solidFill>
          <a:ln/>
        </p:spPr>
      </p:sp>
      <p:sp>
        <p:nvSpPr>
          <p:cNvPr id="15" name="Text 12"/>
          <p:cNvSpPr txBox="1"/>
          <p:nvPr/>
        </p:nvSpPr>
        <p:spPr>
          <a:xfrm>
            <a:off x="2185416" y="1371600"/>
            <a:ext cx="1371600" cy="594360"/>
          </a:xfrm>
          <a:prstGeom prst="rect">
            <a:avLst/>
          </a:prstGeom>
          <a:noFill/>
          <a:ln/>
        </p:spPr>
        <p:txBody>
          <a:bodyPr wrap="square" lIns="0" tIns="0" rIns="0" bIns="0" rtlCol="0" anchor="ctr"/>
          <a:lstStyle/>
          <a:p>
            <a:pPr algn="ctr" indent="0" marL="0">
              <a:buNone/>
            </a:pPr>
            <a:r>
              <a:rPr lang="it-IT" sz="1100" b="1" dirty="0">
                <a:solidFill>
                  <a:schemeClr val="tx1"/>
                </a:solidFill>
              </a:rPr>
              <a:t>Riconoscimento vocale</a:t>
            </a:r>
            <a:endParaRPr lang="it-IT" sz="1100" dirty="0"/>
          </a:p>
        </p:txBody>
      </p:sp>
      <p:sp>
        <p:nvSpPr>
          <p:cNvPr id="16" name="freccia"/>
          <p:cNvSpPr/>
          <p:nvPr/>
        </p:nvSpPr>
        <p:spPr>
          <a:xfrm>
            <a:off x="3621024" y="1517904"/>
            <a:ext cx="182880" cy="292608"/>
          </a:xfrm>
          <a:prstGeom prst="rightArrow">
            <a:avLst/>
          </a:prstGeom>
          <a:solidFill>
            <a:schemeClr val="accent2"/>
          </a:solidFill>
          <a:ln/>
        </p:spPr>
      </p:sp>
      <p:sp>
        <p:nvSpPr>
          <p:cNvPr id="17" name="blocco Modello linguistico"/>
          <p:cNvSpPr/>
          <p:nvPr/>
        </p:nvSpPr>
        <p:spPr>
          <a:xfrm>
            <a:off x="3822192" y="1371600"/>
            <a:ext cx="1463040" cy="594360"/>
          </a:xfrm>
          <a:prstGeom prst="roundRect">
            <a:avLst>
              <a:gd name="adj" fmla="val 18462"/>
            </a:avLst>
          </a:prstGeom>
          <a:solidFill>
            <a:schemeClr val="accent6"/>
          </a:solidFill>
          <a:ln/>
        </p:spPr>
      </p:sp>
      <p:sp>
        <p:nvSpPr>
          <p:cNvPr id="18" name="Text 15"/>
          <p:cNvSpPr txBox="1"/>
          <p:nvPr/>
        </p:nvSpPr>
        <p:spPr>
          <a:xfrm>
            <a:off x="3867912" y="1371600"/>
            <a:ext cx="1371600" cy="594360"/>
          </a:xfrm>
          <a:prstGeom prst="rect">
            <a:avLst/>
          </a:prstGeom>
          <a:noFill/>
          <a:ln/>
        </p:spPr>
        <p:txBody>
          <a:bodyPr wrap="square" lIns="0" tIns="0" rIns="0" bIns="0" rtlCol="0" anchor="ctr"/>
          <a:lstStyle/>
          <a:p>
            <a:pPr algn="ctr" indent="0" marL="0">
              <a:buNone/>
            </a:pPr>
            <a:r>
              <a:rPr lang="it-IT" sz="1100" b="1" dirty="0">
                <a:solidFill>
                  <a:schemeClr val="tx1"/>
                </a:solidFill>
              </a:rPr>
              <a:t>Modello linguistico</a:t>
            </a:r>
            <a:endParaRPr lang="it-IT" sz="1100" dirty="0"/>
          </a:p>
        </p:txBody>
      </p:sp>
      <p:sp>
        <p:nvSpPr>
          <p:cNvPr id="19" name="freccia"/>
          <p:cNvSpPr/>
          <p:nvPr/>
        </p:nvSpPr>
        <p:spPr>
          <a:xfrm>
            <a:off x="5303520" y="1517904"/>
            <a:ext cx="182880" cy="292608"/>
          </a:xfrm>
          <a:prstGeom prst="rightArrow">
            <a:avLst/>
          </a:prstGeom>
          <a:solidFill>
            <a:schemeClr val="accent2"/>
          </a:solidFill>
          <a:ln/>
        </p:spPr>
      </p:sp>
      <p:sp>
        <p:nvSpPr>
          <p:cNvPr id="20" name="blocco Sintesi vocale"/>
          <p:cNvSpPr/>
          <p:nvPr/>
        </p:nvSpPr>
        <p:spPr>
          <a:xfrm>
            <a:off x="5504688" y="1371600"/>
            <a:ext cx="1463040" cy="594360"/>
          </a:xfrm>
          <a:prstGeom prst="roundRect">
            <a:avLst>
              <a:gd name="adj" fmla="val 18462"/>
            </a:avLst>
          </a:prstGeom>
          <a:solidFill>
            <a:schemeClr val="accent6"/>
          </a:solidFill>
          <a:ln/>
        </p:spPr>
      </p:sp>
      <p:sp>
        <p:nvSpPr>
          <p:cNvPr id="21" name="Text 18"/>
          <p:cNvSpPr txBox="1"/>
          <p:nvPr/>
        </p:nvSpPr>
        <p:spPr>
          <a:xfrm>
            <a:off x="5550408" y="1371600"/>
            <a:ext cx="1371600" cy="594360"/>
          </a:xfrm>
          <a:prstGeom prst="rect">
            <a:avLst/>
          </a:prstGeom>
          <a:noFill/>
          <a:ln/>
        </p:spPr>
        <p:txBody>
          <a:bodyPr wrap="square" lIns="0" tIns="0" rIns="0" bIns="0" rtlCol="0" anchor="ctr"/>
          <a:lstStyle/>
          <a:p>
            <a:pPr algn="ctr" indent="0" marL="0">
              <a:buNone/>
            </a:pPr>
            <a:r>
              <a:rPr lang="it-IT" sz="1100" b="1" dirty="0">
                <a:solidFill>
                  <a:schemeClr val="tx1"/>
                </a:solidFill>
              </a:rPr>
              <a:t>Sintesi vocale</a:t>
            </a:r>
            <a:endParaRPr lang="it-IT" sz="1100" dirty="0"/>
          </a:p>
        </p:txBody>
      </p:sp>
      <p:sp>
        <p:nvSpPr>
          <p:cNvPr id="22" name="freccia"/>
          <p:cNvSpPr/>
          <p:nvPr/>
        </p:nvSpPr>
        <p:spPr>
          <a:xfrm>
            <a:off x="6986016" y="1517904"/>
            <a:ext cx="182880" cy="292608"/>
          </a:xfrm>
          <a:prstGeom prst="rightArrow">
            <a:avLst/>
          </a:prstGeom>
          <a:solidFill>
            <a:schemeClr val="accent2"/>
          </a:solidFill>
          <a:ln/>
        </p:spPr>
      </p:sp>
      <p:sp>
        <p:nvSpPr>
          <p:cNvPr id="23" name="blocco Risposta"/>
          <p:cNvSpPr/>
          <p:nvPr/>
        </p:nvSpPr>
        <p:spPr>
          <a:xfrm>
            <a:off x="7187184" y="1371600"/>
            <a:ext cx="1463040" cy="594360"/>
          </a:xfrm>
          <a:prstGeom prst="roundRect">
            <a:avLst>
              <a:gd name="adj" fmla="val 18462"/>
            </a:avLst>
          </a:prstGeom>
          <a:solidFill>
            <a:schemeClr val="bg2"/>
          </a:solidFill>
          <a:ln/>
        </p:spPr>
      </p:sp>
      <p:sp>
        <p:nvSpPr>
          <p:cNvPr id="24" name="Text 21"/>
          <p:cNvSpPr txBox="1"/>
          <p:nvPr/>
        </p:nvSpPr>
        <p:spPr>
          <a:xfrm>
            <a:off x="7232904" y="1371600"/>
            <a:ext cx="1371600" cy="594360"/>
          </a:xfrm>
          <a:prstGeom prst="rect">
            <a:avLst/>
          </a:prstGeom>
          <a:noFill/>
          <a:ln/>
        </p:spPr>
        <p:txBody>
          <a:bodyPr wrap="square" lIns="0" tIns="0" rIns="0" bIns="0" rtlCol="0" anchor="ctr"/>
          <a:lstStyle/>
          <a:p>
            <a:pPr algn="ctr" indent="0" marL="0">
              <a:buNone/>
            </a:pPr>
            <a:r>
              <a:rPr lang="it-IT" sz="1100" b="1" dirty="0">
                <a:solidFill>
                  <a:schemeClr val="tx1"/>
                </a:solidFill>
              </a:rPr>
              <a:t>Risposta</a:t>
            </a:r>
            <a:endParaRPr lang="it-IT" sz="1100" dirty="0"/>
          </a:p>
        </p:txBody>
      </p:sp>
      <p:sp>
        <p:nvSpPr>
          <p:cNvPr id="25" name="Text 22"/>
          <p:cNvSpPr txBox="1"/>
          <p:nvPr/>
        </p:nvSpPr>
        <p:spPr>
          <a:xfrm>
            <a:off x="457200" y="2011680"/>
            <a:ext cx="8229600" cy="274320"/>
          </a:xfrm>
          <a:prstGeom prst="rect">
            <a:avLst/>
          </a:prstGeom>
          <a:noFill/>
          <a:ln/>
        </p:spPr>
        <p:txBody>
          <a:bodyPr wrap="square" lIns="0" tIns="0" rIns="0" bIns="0" rtlCol="0" anchor="t"/>
          <a:lstStyle/>
          <a:p>
            <a:pPr indent="0" marL="0">
              <a:buNone/>
            </a:pPr>
            <a:r>
              <a:rPr lang="it-IT" sz="1100" i="1" dirty="0">
                <a:solidFill>
                  <a:schemeClr val="accent5"/>
                </a:solidFill>
              </a:rPr>
              <a:t>Ogni passaggio può introdurre errori; tono, pause ed enfasi si perdono nella trascrizione</a:t>
            </a:r>
            <a:endParaRPr lang="it-IT" sz="1100" dirty="0"/>
          </a:p>
        </p:txBody>
      </p:sp>
      <p:sp>
        <p:nvSpPr>
          <p:cNvPr id="26" name="Text 23"/>
          <p:cNvSpPr txBox="1"/>
          <p:nvPr/>
        </p:nvSpPr>
        <p:spPr>
          <a:xfrm>
            <a:off x="457200" y="2423160"/>
            <a:ext cx="8229600" cy="301752"/>
          </a:xfrm>
          <a:prstGeom prst="rect">
            <a:avLst/>
          </a:prstGeom>
          <a:noFill/>
          <a:ln/>
        </p:spPr>
        <p:txBody>
          <a:bodyPr wrap="square" lIns="0" tIns="0" rIns="0" bIns="0" rtlCol="0" anchor="t"/>
          <a:lstStyle/>
          <a:p>
            <a:pPr indent="0" marL="0">
              <a:buNone/>
            </a:pPr>
            <a:r>
              <a:rPr lang="it-IT" sz="1300" b="1" dirty="0">
                <a:solidFill>
                  <a:schemeClr val="tx1"/>
                </a:solidFill>
              </a:rPr>
              <a:t>Modello multimodale nativo</a:t>
            </a:r>
            <a:endParaRPr lang="it-IT" sz="1300" dirty="0"/>
          </a:p>
        </p:txBody>
      </p:sp>
      <p:sp>
        <p:nvSpPr>
          <p:cNvPr id="27" name="blocco Voce"/>
          <p:cNvSpPr/>
          <p:nvPr/>
        </p:nvSpPr>
        <p:spPr>
          <a:xfrm>
            <a:off x="457200" y="2770632"/>
            <a:ext cx="1463040" cy="594360"/>
          </a:xfrm>
          <a:prstGeom prst="roundRect">
            <a:avLst>
              <a:gd name="adj" fmla="val 18462"/>
            </a:avLst>
          </a:prstGeom>
          <a:solidFill>
            <a:schemeClr val="bg2"/>
          </a:solidFill>
          <a:ln/>
        </p:spPr>
      </p:sp>
      <p:sp>
        <p:nvSpPr>
          <p:cNvPr id="28" name="Text 25"/>
          <p:cNvSpPr txBox="1"/>
          <p:nvPr/>
        </p:nvSpPr>
        <p:spPr>
          <a:xfrm>
            <a:off x="502920" y="2770632"/>
            <a:ext cx="1371600" cy="594360"/>
          </a:xfrm>
          <a:prstGeom prst="rect">
            <a:avLst/>
          </a:prstGeom>
          <a:noFill/>
          <a:ln/>
        </p:spPr>
        <p:txBody>
          <a:bodyPr wrap="square" lIns="0" tIns="0" rIns="0" bIns="0" rtlCol="0" anchor="ctr"/>
          <a:lstStyle/>
          <a:p>
            <a:pPr algn="ctr" indent="0" marL="0">
              <a:buNone/>
            </a:pPr>
            <a:r>
              <a:rPr lang="it-IT" sz="1100" b="1" dirty="0">
                <a:solidFill>
                  <a:schemeClr val="tx1"/>
                </a:solidFill>
              </a:rPr>
              <a:t>Voce</a:t>
            </a:r>
            <a:endParaRPr lang="it-IT" sz="1100" dirty="0"/>
          </a:p>
        </p:txBody>
      </p:sp>
      <p:sp>
        <p:nvSpPr>
          <p:cNvPr id="29" name="freccia"/>
          <p:cNvSpPr/>
          <p:nvPr/>
        </p:nvSpPr>
        <p:spPr>
          <a:xfrm>
            <a:off x="1938528" y="2916936"/>
            <a:ext cx="182880" cy="292608"/>
          </a:xfrm>
          <a:prstGeom prst="rightArrow">
            <a:avLst/>
          </a:prstGeom>
          <a:solidFill>
            <a:schemeClr val="accent2"/>
          </a:solidFill>
          <a:ln/>
        </p:spPr>
      </p:sp>
      <p:sp>
        <p:nvSpPr>
          <p:cNvPr id="30" name="blocco Un solo modello per più modalità"/>
          <p:cNvSpPr/>
          <p:nvPr/>
        </p:nvSpPr>
        <p:spPr>
          <a:xfrm>
            <a:off x="2139696" y="2770632"/>
            <a:ext cx="4828032" cy="594360"/>
          </a:xfrm>
          <a:prstGeom prst="roundRect">
            <a:avLst>
              <a:gd name="adj" fmla="val 18462"/>
            </a:avLst>
          </a:prstGeom>
          <a:solidFill>
            <a:schemeClr val="accent1"/>
          </a:solidFill>
          <a:ln/>
        </p:spPr>
      </p:sp>
      <p:sp>
        <p:nvSpPr>
          <p:cNvPr id="31" name="Text 28"/>
          <p:cNvSpPr txBox="1"/>
          <p:nvPr/>
        </p:nvSpPr>
        <p:spPr>
          <a:xfrm>
            <a:off x="2185416" y="2770632"/>
            <a:ext cx="4736592" cy="594360"/>
          </a:xfrm>
          <a:prstGeom prst="rect">
            <a:avLst/>
          </a:prstGeom>
          <a:noFill/>
          <a:ln/>
        </p:spPr>
        <p:txBody>
          <a:bodyPr wrap="square" lIns="0" tIns="0" rIns="0" bIns="0" rtlCol="0" anchor="ctr"/>
          <a:lstStyle/>
          <a:p>
            <a:pPr algn="ctr" indent="0" marL="0">
              <a:buNone/>
            </a:pPr>
            <a:r>
              <a:rPr lang="it-IT" sz="1200" b="1" dirty="0">
                <a:solidFill>
                  <a:schemeClr val="bg1"/>
                </a:solidFill>
              </a:rPr>
              <a:t>Un solo modello per più modalità</a:t>
            </a:r>
            <a:endParaRPr lang="it-IT" sz="1200" dirty="0"/>
          </a:p>
        </p:txBody>
      </p:sp>
      <p:sp>
        <p:nvSpPr>
          <p:cNvPr id="32" name="freccia"/>
          <p:cNvSpPr/>
          <p:nvPr/>
        </p:nvSpPr>
        <p:spPr>
          <a:xfrm>
            <a:off x="6986016" y="2916936"/>
            <a:ext cx="182880" cy="292608"/>
          </a:xfrm>
          <a:prstGeom prst="rightArrow">
            <a:avLst/>
          </a:prstGeom>
          <a:solidFill>
            <a:schemeClr val="accent2"/>
          </a:solidFill>
          <a:ln/>
        </p:spPr>
      </p:sp>
      <p:sp>
        <p:nvSpPr>
          <p:cNvPr id="33" name="blocco Risposta"/>
          <p:cNvSpPr/>
          <p:nvPr/>
        </p:nvSpPr>
        <p:spPr>
          <a:xfrm>
            <a:off x="7187184" y="2770632"/>
            <a:ext cx="1463040" cy="594360"/>
          </a:xfrm>
          <a:prstGeom prst="roundRect">
            <a:avLst>
              <a:gd name="adj" fmla="val 18462"/>
            </a:avLst>
          </a:prstGeom>
          <a:solidFill>
            <a:schemeClr val="bg2"/>
          </a:solidFill>
          <a:ln/>
        </p:spPr>
      </p:sp>
      <p:sp>
        <p:nvSpPr>
          <p:cNvPr id="34" name="Text 31"/>
          <p:cNvSpPr txBox="1"/>
          <p:nvPr/>
        </p:nvSpPr>
        <p:spPr>
          <a:xfrm>
            <a:off x="7232904" y="2770632"/>
            <a:ext cx="1371600" cy="594360"/>
          </a:xfrm>
          <a:prstGeom prst="rect">
            <a:avLst/>
          </a:prstGeom>
          <a:noFill/>
          <a:ln/>
        </p:spPr>
        <p:txBody>
          <a:bodyPr wrap="square" lIns="0" tIns="0" rIns="0" bIns="0" rtlCol="0" anchor="ctr"/>
          <a:lstStyle/>
          <a:p>
            <a:pPr algn="ctr" indent="0" marL="0">
              <a:buNone/>
            </a:pPr>
            <a:r>
              <a:rPr lang="it-IT" sz="1100" b="1" dirty="0">
                <a:solidFill>
                  <a:schemeClr val="tx1"/>
                </a:solidFill>
              </a:rPr>
              <a:t>Risposta</a:t>
            </a:r>
            <a:endParaRPr lang="it-IT" sz="1100" dirty="0"/>
          </a:p>
        </p:txBody>
      </p:sp>
      <p:sp>
        <p:nvSpPr>
          <p:cNvPr id="35" name="messaggio"/>
          <p:cNvSpPr/>
          <p:nvPr/>
        </p:nvSpPr>
        <p:spPr>
          <a:xfrm>
            <a:off x="457200" y="3611880"/>
            <a:ext cx="8229600" cy="685800"/>
          </a:xfrm>
          <a:prstGeom prst="roundRect">
            <a:avLst>
              <a:gd name="adj" fmla="val 10667"/>
            </a:avLst>
          </a:prstGeom>
          <a:solidFill>
            <a:schemeClr val="tx1"/>
          </a:solidFill>
          <a:ln/>
        </p:spPr>
      </p:sp>
      <p:sp>
        <p:nvSpPr>
          <p:cNvPr id="36" name="Text 33"/>
          <p:cNvSpPr txBox="1"/>
          <p:nvPr/>
        </p:nvSpPr>
        <p:spPr>
          <a:xfrm>
            <a:off x="640080" y="3611880"/>
            <a:ext cx="7863840" cy="685800"/>
          </a:xfrm>
          <a:prstGeom prst="rect">
            <a:avLst/>
          </a:prstGeom>
          <a:noFill/>
          <a:ln/>
        </p:spPr>
        <p:txBody>
          <a:bodyPr wrap="square" lIns="0" tIns="0" rIns="0" bIns="0" rtlCol="0" anchor="ctr"/>
          <a:lstStyle/>
          <a:p>
            <a:pPr indent="0" marL="0">
              <a:buNone/>
            </a:pPr>
            <a:r>
              <a:rPr lang="it-IT" sz="1300" dirty="0">
                <a:solidFill>
                  <a:schemeClr val="bg1"/>
                </a:solidFill>
              </a:rPr>
              <a:t>Per l'utente possono sembrare identici; la differenza spiega perché due strumenti 'multimodali' rendono in modo diverso.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9</a:t>
            </a:fld>
            <a:endParaRPr lang="it-IT"/>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Capacità che dipendono dal sistema</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Trasformare</a:t>
            </a:r>
            <a:endParaRPr lang="it-IT" sz="900" dirty="0"/>
          </a:p>
        </p:txBody>
      </p:sp>
      <p:sp>
        <p:nvSpPr>
          <p:cNvPr id="10" name="domanda 1"/>
          <p:cNvSpPr/>
          <p:nvPr/>
        </p:nvSpPr>
        <p:spPr>
          <a:xfrm>
            <a:off x="457200" y="1051560"/>
            <a:ext cx="4023360" cy="493776"/>
          </a:xfrm>
          <a:prstGeom prst="roundRect">
            <a:avLst>
              <a:gd name="adj" fmla="val 14815"/>
            </a:avLst>
          </a:prstGeom>
          <a:solidFill>
            <a:schemeClr val="bg2"/>
          </a:solidFill>
          <a:ln/>
        </p:spPr>
      </p:sp>
      <p:sp>
        <p:nvSpPr>
          <p:cNvPr id="11" name="Text 8"/>
          <p:cNvSpPr txBox="1"/>
          <p:nvPr/>
        </p:nvSpPr>
        <p:spPr>
          <a:xfrm>
            <a:off x="640080" y="1051560"/>
            <a:ext cx="3657600" cy="493776"/>
          </a:xfrm>
          <a:prstGeom prst="rect">
            <a:avLst/>
          </a:prstGeom>
          <a:noFill/>
          <a:ln/>
        </p:spPr>
        <p:txBody>
          <a:bodyPr wrap="square" lIns="0" tIns="0" rIns="0" bIns="0" rtlCol="0" anchor="ctr"/>
          <a:lstStyle/>
          <a:p>
            <a:pPr indent="0" marL="0">
              <a:buNone/>
            </a:pPr>
            <a:r>
              <a:rPr lang="it-IT" sz="1200" dirty="0">
                <a:solidFill>
                  <a:schemeClr val="tx1"/>
                </a:solidFill>
              </a:rPr>
              <a:t>Quali modalità in ingresso e in uscita?</a:t>
            </a:r>
            <a:endParaRPr lang="it-IT" sz="1200" dirty="0"/>
          </a:p>
        </p:txBody>
      </p:sp>
      <p:sp>
        <p:nvSpPr>
          <p:cNvPr id="12" name="domanda 2"/>
          <p:cNvSpPr/>
          <p:nvPr/>
        </p:nvSpPr>
        <p:spPr>
          <a:xfrm>
            <a:off x="4663440" y="1051560"/>
            <a:ext cx="4023360" cy="493776"/>
          </a:xfrm>
          <a:prstGeom prst="roundRect">
            <a:avLst>
              <a:gd name="adj" fmla="val 14815"/>
            </a:avLst>
          </a:prstGeom>
          <a:solidFill>
            <a:schemeClr val="bg2"/>
          </a:solidFill>
          <a:ln/>
        </p:spPr>
      </p:sp>
      <p:sp>
        <p:nvSpPr>
          <p:cNvPr id="13" name="Text 10"/>
          <p:cNvSpPr txBox="1"/>
          <p:nvPr/>
        </p:nvSpPr>
        <p:spPr>
          <a:xfrm>
            <a:off x="4846320" y="1051560"/>
            <a:ext cx="3657600" cy="493776"/>
          </a:xfrm>
          <a:prstGeom prst="rect">
            <a:avLst/>
          </a:prstGeom>
          <a:noFill/>
          <a:ln/>
        </p:spPr>
        <p:txBody>
          <a:bodyPr wrap="square" lIns="0" tIns="0" rIns="0" bIns="0" rtlCol="0" anchor="ctr"/>
          <a:lstStyle/>
          <a:p>
            <a:pPr indent="0" marL="0">
              <a:buNone/>
            </a:pPr>
            <a:r>
              <a:rPr lang="it-IT" sz="1200" dirty="0">
                <a:solidFill>
                  <a:schemeClr val="tx1"/>
                </a:solidFill>
              </a:rPr>
              <a:t>Quanto bene legge dettagli, testi, grafici?</a:t>
            </a:r>
            <a:endParaRPr lang="it-IT" sz="1200" dirty="0"/>
          </a:p>
        </p:txBody>
      </p:sp>
      <p:sp>
        <p:nvSpPr>
          <p:cNvPr id="14" name="domanda 3"/>
          <p:cNvSpPr/>
          <p:nvPr/>
        </p:nvSpPr>
        <p:spPr>
          <a:xfrm>
            <a:off x="457200" y="1618488"/>
            <a:ext cx="4023360" cy="493776"/>
          </a:xfrm>
          <a:prstGeom prst="roundRect">
            <a:avLst>
              <a:gd name="adj" fmla="val 14815"/>
            </a:avLst>
          </a:prstGeom>
          <a:solidFill>
            <a:schemeClr val="bg2"/>
          </a:solidFill>
          <a:ln/>
        </p:spPr>
      </p:sp>
      <p:sp>
        <p:nvSpPr>
          <p:cNvPr id="15" name="Text 12"/>
          <p:cNvSpPr txBox="1"/>
          <p:nvPr/>
        </p:nvSpPr>
        <p:spPr>
          <a:xfrm>
            <a:off x="640080" y="1618488"/>
            <a:ext cx="3657600" cy="493776"/>
          </a:xfrm>
          <a:prstGeom prst="rect">
            <a:avLst/>
          </a:prstGeom>
          <a:noFill/>
          <a:ln/>
        </p:spPr>
        <p:txBody>
          <a:bodyPr wrap="square" lIns="0" tIns="0" rIns="0" bIns="0" rtlCol="0" anchor="ctr"/>
          <a:lstStyle/>
          <a:p>
            <a:pPr indent="0" marL="0">
              <a:buNone/>
            </a:pPr>
            <a:r>
              <a:rPr lang="it-IT" sz="1200" dirty="0">
                <a:solidFill>
                  <a:schemeClr val="tx1"/>
                </a:solidFill>
              </a:rPr>
              <a:t>Quali lingue e accenti nel parlato?</a:t>
            </a:r>
            <a:endParaRPr lang="it-IT" sz="1200" dirty="0"/>
          </a:p>
        </p:txBody>
      </p:sp>
      <p:sp>
        <p:nvSpPr>
          <p:cNvPr id="16" name="domanda 4"/>
          <p:cNvSpPr/>
          <p:nvPr/>
        </p:nvSpPr>
        <p:spPr>
          <a:xfrm>
            <a:off x="4663440" y="1618488"/>
            <a:ext cx="4023360" cy="493776"/>
          </a:xfrm>
          <a:prstGeom prst="roundRect">
            <a:avLst>
              <a:gd name="adj" fmla="val 14815"/>
            </a:avLst>
          </a:prstGeom>
          <a:solidFill>
            <a:schemeClr val="bg2"/>
          </a:solidFill>
          <a:ln/>
        </p:spPr>
      </p:sp>
      <p:sp>
        <p:nvSpPr>
          <p:cNvPr id="17" name="Text 14"/>
          <p:cNvSpPr txBox="1"/>
          <p:nvPr/>
        </p:nvSpPr>
        <p:spPr>
          <a:xfrm>
            <a:off x="4846320" y="1618488"/>
            <a:ext cx="3657600" cy="493776"/>
          </a:xfrm>
          <a:prstGeom prst="rect">
            <a:avLst/>
          </a:prstGeom>
          <a:noFill/>
          <a:ln/>
        </p:spPr>
        <p:txBody>
          <a:bodyPr wrap="square" lIns="0" tIns="0" rIns="0" bIns="0" rtlCol="0" anchor="ctr"/>
          <a:lstStyle/>
          <a:p>
            <a:pPr indent="0" marL="0">
              <a:buNone/>
            </a:pPr>
            <a:r>
              <a:rPr lang="it-IT" sz="1200" dirty="0">
                <a:solidFill>
                  <a:schemeClr val="tx1"/>
                </a:solidFill>
              </a:rPr>
              <a:t>Quale durata massima di audio e video?</a:t>
            </a:r>
            <a:endParaRPr lang="it-IT" sz="1200" dirty="0"/>
          </a:p>
        </p:txBody>
      </p:sp>
      <p:sp>
        <p:nvSpPr>
          <p:cNvPr id="18" name="domanda 5"/>
          <p:cNvSpPr/>
          <p:nvPr/>
        </p:nvSpPr>
        <p:spPr>
          <a:xfrm>
            <a:off x="457200" y="2185416"/>
            <a:ext cx="4023360" cy="493776"/>
          </a:xfrm>
          <a:prstGeom prst="roundRect">
            <a:avLst>
              <a:gd name="adj" fmla="val 14815"/>
            </a:avLst>
          </a:prstGeom>
          <a:solidFill>
            <a:schemeClr val="bg2"/>
          </a:solidFill>
          <a:ln/>
        </p:spPr>
      </p:sp>
      <p:sp>
        <p:nvSpPr>
          <p:cNvPr id="19" name="Text 16"/>
          <p:cNvSpPr txBox="1"/>
          <p:nvPr/>
        </p:nvSpPr>
        <p:spPr>
          <a:xfrm>
            <a:off x="640080" y="2185416"/>
            <a:ext cx="3657600" cy="493776"/>
          </a:xfrm>
          <a:prstGeom prst="rect">
            <a:avLst/>
          </a:prstGeom>
          <a:noFill/>
          <a:ln/>
        </p:spPr>
        <p:txBody>
          <a:bodyPr wrap="square" lIns="0" tIns="0" rIns="0" bIns="0" rtlCol="0" anchor="ctr"/>
          <a:lstStyle/>
          <a:p>
            <a:pPr indent="0" marL="0">
              <a:buNone/>
            </a:pPr>
            <a:r>
              <a:rPr lang="it-IT" sz="1200" dirty="0">
                <a:solidFill>
                  <a:schemeClr val="tx1"/>
                </a:solidFill>
              </a:rPr>
              <a:t>Video analizzati in tutti i fotogrammi o in una selezione?</a:t>
            </a:r>
            <a:endParaRPr lang="it-IT" sz="1200" dirty="0"/>
          </a:p>
        </p:txBody>
      </p:sp>
      <p:sp>
        <p:nvSpPr>
          <p:cNvPr id="20" name="domanda 6"/>
          <p:cNvSpPr/>
          <p:nvPr/>
        </p:nvSpPr>
        <p:spPr>
          <a:xfrm>
            <a:off x="4663440" y="2185416"/>
            <a:ext cx="4023360" cy="493776"/>
          </a:xfrm>
          <a:prstGeom prst="roundRect">
            <a:avLst>
              <a:gd name="adj" fmla="val 14815"/>
            </a:avLst>
          </a:prstGeom>
          <a:solidFill>
            <a:schemeClr val="bg2"/>
          </a:solidFill>
          <a:ln/>
        </p:spPr>
      </p:sp>
      <p:sp>
        <p:nvSpPr>
          <p:cNvPr id="21" name="Text 18"/>
          <p:cNvSpPr txBox="1"/>
          <p:nvPr/>
        </p:nvSpPr>
        <p:spPr>
          <a:xfrm>
            <a:off x="4846320" y="2185416"/>
            <a:ext cx="3657600" cy="493776"/>
          </a:xfrm>
          <a:prstGeom prst="rect">
            <a:avLst/>
          </a:prstGeom>
          <a:noFill/>
          <a:ln/>
        </p:spPr>
        <p:txBody>
          <a:bodyPr wrap="square" lIns="0" tIns="0" rIns="0" bIns="0" rtlCol="0" anchor="ctr"/>
          <a:lstStyle/>
          <a:p>
            <a:pPr indent="0" marL="0">
              <a:buNone/>
            </a:pPr>
            <a:r>
              <a:rPr lang="it-IT" sz="1200" dirty="0">
                <a:solidFill>
                  <a:schemeClr val="tx1"/>
                </a:solidFill>
              </a:rPr>
              <a:t>Elaborazione sul dispositivo o su un servizio esterno?</a:t>
            </a:r>
            <a:endParaRPr lang="it-IT" sz="1200" dirty="0"/>
          </a:p>
        </p:txBody>
      </p:sp>
      <p:sp>
        <p:nvSpPr>
          <p:cNvPr id="22" name="domanda 7"/>
          <p:cNvSpPr/>
          <p:nvPr/>
        </p:nvSpPr>
        <p:spPr>
          <a:xfrm>
            <a:off x="457200" y="2752344"/>
            <a:ext cx="4023360" cy="493776"/>
          </a:xfrm>
          <a:prstGeom prst="roundRect">
            <a:avLst>
              <a:gd name="adj" fmla="val 14815"/>
            </a:avLst>
          </a:prstGeom>
          <a:solidFill>
            <a:schemeClr val="bg2"/>
          </a:solidFill>
          <a:ln/>
        </p:spPr>
      </p:sp>
      <p:sp>
        <p:nvSpPr>
          <p:cNvPr id="23" name="Text 20"/>
          <p:cNvSpPr txBox="1"/>
          <p:nvPr/>
        </p:nvSpPr>
        <p:spPr>
          <a:xfrm>
            <a:off x="640080" y="2752344"/>
            <a:ext cx="3657600" cy="493776"/>
          </a:xfrm>
          <a:prstGeom prst="rect">
            <a:avLst/>
          </a:prstGeom>
          <a:noFill/>
          <a:ln/>
        </p:spPr>
        <p:txBody>
          <a:bodyPr wrap="square" lIns="0" tIns="0" rIns="0" bIns="0" rtlCol="0" anchor="ctr"/>
          <a:lstStyle/>
          <a:p>
            <a:pPr indent="0" marL="0">
              <a:buNone/>
            </a:pPr>
            <a:r>
              <a:rPr lang="it-IT" sz="1200" dirty="0">
                <a:solidFill>
                  <a:schemeClr val="tx1"/>
                </a:solidFill>
              </a:rPr>
              <a:t>Quali regole d'uso, per esempio sulle persone reali?</a:t>
            </a:r>
            <a:endParaRPr lang="it-IT" sz="1200" dirty="0"/>
          </a:p>
        </p:txBody>
      </p:sp>
      <p:sp>
        <p:nvSpPr>
          <p:cNvPr id="24" name="messaggio"/>
          <p:cNvSpPr/>
          <p:nvPr/>
        </p:nvSpPr>
        <p:spPr>
          <a:xfrm>
            <a:off x="457200" y="3429000"/>
            <a:ext cx="8229600" cy="685800"/>
          </a:xfrm>
          <a:prstGeom prst="roundRect">
            <a:avLst>
              <a:gd name="adj" fmla="val 10667"/>
            </a:avLst>
          </a:prstGeom>
          <a:solidFill>
            <a:schemeClr val="tx1"/>
          </a:solidFill>
          <a:ln/>
        </p:spPr>
      </p:sp>
      <p:sp>
        <p:nvSpPr>
          <p:cNvPr id="25" name="Text 22"/>
          <p:cNvSpPr txBox="1"/>
          <p:nvPr/>
        </p:nvSpPr>
        <p:spPr>
          <a:xfrm>
            <a:off x="640080" y="3429000"/>
            <a:ext cx="7863840" cy="685800"/>
          </a:xfrm>
          <a:prstGeom prst="rect">
            <a:avLst/>
          </a:prstGeom>
          <a:noFill/>
          <a:ln/>
        </p:spPr>
        <p:txBody>
          <a:bodyPr wrap="square" lIns="0" tIns="0" rIns="0" bIns="0" rtlCol="0" anchor="ctr"/>
          <a:lstStyle/>
          <a:p>
            <a:pPr indent="0" marL="0">
              <a:buNone/>
            </a:pPr>
            <a:r>
              <a:rPr lang="it-IT" sz="1300" dirty="0">
                <a:solidFill>
                  <a:schemeClr val="bg1"/>
                </a:solidFill>
              </a:rPr>
              <a:t>Le capacità crescono rapidamente: verificarle sugli strumenti autorizzati, con una prova sui propri casi d'uso.</a:t>
            </a:r>
            <a:endParaRPr lang="it-IT" sz="1300" dirty="0"/>
          </a:p>
        </p:txBody>
      </p:sp>
      <p:sp>
        <p:nvSpPr>
          <p:cNvPr id="26" name="Text 23"/>
          <p:cNvSpPr txBox="1"/>
          <p:nvPr/>
        </p:nvSpPr>
        <p:spPr>
          <a:xfrm>
            <a:off x="457200" y="4224528"/>
            <a:ext cx="8229600" cy="320040"/>
          </a:xfrm>
          <a:prstGeom prst="rect">
            <a:avLst/>
          </a:prstGeom>
          <a:noFill/>
          <a:ln/>
        </p:spPr>
        <p:txBody>
          <a:bodyPr wrap="square" lIns="0" tIns="0" rIns="0" bIns="0" rtlCol="0" anchor="t"/>
          <a:lstStyle/>
          <a:p>
            <a:pPr indent="0" marL="0">
              <a:buNone/>
            </a:pPr>
            <a:r>
              <a:rPr lang="it-IT" sz="1200" i="1" dirty="0">
                <a:solidFill>
                  <a:schemeClr val="tx2"/>
                </a:solidFill>
              </a:rPr>
              <a:t>In questo modulo: concetti durevoli, non funzionalità dei prodotti.</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10</a:t>
            </a:fld>
            <a:endParaRPr lang="it-IT"/>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10.2</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Comprensione e analisi delle immagini</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Schermate, diagrammi, fotografie e documenti visivi: informazioni utili in pochi secondi, con limiti da conoscere e gestire</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11</a:t>
            </a:fld>
            <a:endParaRPr lang="it-IT"/>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Che cosa si può fare con un'immagine</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Trasformare</a:t>
            </a:r>
            <a:endParaRPr lang="it-IT" sz="900" dirty="0"/>
          </a:p>
        </p:txBody>
      </p:sp>
      <p:sp>
        <p:nvSpPr>
          <p:cNvPr id="10" name="Schermate ed errori"/>
          <p:cNvSpPr/>
          <p:nvPr/>
        </p:nvSpPr>
        <p:spPr>
          <a:xfrm>
            <a:off x="457200" y="1051560"/>
            <a:ext cx="2621280" cy="1280160"/>
          </a:xfrm>
          <a:prstGeom prst="roundRect">
            <a:avLst>
              <a:gd name="adj" fmla="val 5714"/>
            </a:avLst>
          </a:prstGeom>
          <a:solidFill>
            <a:schemeClr val="bg2"/>
          </a:solidFill>
          <a:ln/>
        </p:spPr>
      </p:sp>
      <p:sp>
        <p:nvSpPr>
          <p:cNvPr id="11" name="cerchio FiMonitor"/>
          <p:cNvSpPr/>
          <p:nvPr/>
        </p:nvSpPr>
        <p:spPr>
          <a:xfrm>
            <a:off x="621792" y="1216152"/>
            <a:ext cx="438912" cy="438912"/>
          </a:xfrm>
          <a:prstGeom prst="ellipse">
            <a:avLst/>
          </a:prstGeom>
          <a:solidFill>
            <a:schemeClr val="accent1"/>
          </a:solidFill>
          <a:ln/>
        </p:spPr>
      </p:sp>
      <p:pic>
        <p:nvPicPr>
          <p:cNvPr id="12" name="Image 0" descr="FiMonitor">    </p:cNvPr>
          <p:cNvPicPr>
            <a:picLocks noChangeAspect="1"/>
          </p:cNvPicPr>
          <p:nvPr/>
        </p:nvPicPr>
        <p:blipFill>
          <a:blip r:embed="rId1"/>
          <a:stretch>
            <a:fillRect/>
          </a:stretch>
        </p:blipFill>
        <p:spPr>
          <a:xfrm>
            <a:off x="731520" y="1325880"/>
            <a:ext cx="219456" cy="219456"/>
          </a:xfrm>
          <a:prstGeom prst="rect">
            <a:avLst/>
          </a:prstGeom>
        </p:spPr>
      </p:pic>
      <p:sp>
        <p:nvSpPr>
          <p:cNvPr id="13" name="Text 9"/>
          <p:cNvSpPr txBox="1"/>
          <p:nvPr/>
        </p:nvSpPr>
        <p:spPr>
          <a:xfrm>
            <a:off x="117043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Schermate ed errori</a:t>
            </a:r>
            <a:endParaRPr lang="it-IT" sz="1300" dirty="0"/>
          </a:p>
        </p:txBody>
      </p:sp>
      <p:sp>
        <p:nvSpPr>
          <p:cNvPr id="14" name="Text 10"/>
          <p:cNvSpPr txBox="1"/>
          <p:nvPr/>
        </p:nvSpPr>
        <p:spPr>
          <a:xfrm>
            <a:off x="621792" y="1764792"/>
            <a:ext cx="2292096" cy="475488"/>
          </a:xfrm>
          <a:prstGeom prst="rect">
            <a:avLst/>
          </a:prstGeom>
          <a:noFill/>
          <a:ln/>
        </p:spPr>
        <p:txBody>
          <a:bodyPr wrap="square" lIns="0" tIns="0" rIns="0" bIns="0" rtlCol="0" anchor="t"/>
          <a:lstStyle/>
          <a:p>
            <a:pPr indent="0" marL="0">
              <a:buNone/>
            </a:pPr>
            <a:r>
              <a:rPr lang="it-IT" sz="1200" dirty="0">
                <a:solidFill>
                  <a:schemeClr val="tx2"/>
                </a:solidFill>
              </a:rPr>
              <a:t>Che cosa significa, che cosa fare, dove cliccare</a:t>
            </a:r>
            <a:endParaRPr lang="it-IT" sz="1200" dirty="0"/>
          </a:p>
        </p:txBody>
      </p:sp>
      <p:sp>
        <p:nvSpPr>
          <p:cNvPr id="15" name="Diagrammi e schemi"/>
          <p:cNvSpPr/>
          <p:nvPr/>
        </p:nvSpPr>
        <p:spPr>
          <a:xfrm>
            <a:off x="3261360" y="1051560"/>
            <a:ext cx="2621280" cy="1280160"/>
          </a:xfrm>
          <a:prstGeom prst="roundRect">
            <a:avLst>
              <a:gd name="adj" fmla="val 5714"/>
            </a:avLst>
          </a:prstGeom>
          <a:solidFill>
            <a:schemeClr val="bg2"/>
          </a:solidFill>
          <a:ln/>
        </p:spPr>
      </p:sp>
      <p:sp>
        <p:nvSpPr>
          <p:cNvPr id="16" name="cerchio FiShare2"/>
          <p:cNvSpPr/>
          <p:nvPr/>
        </p:nvSpPr>
        <p:spPr>
          <a:xfrm>
            <a:off x="3425952" y="1216152"/>
            <a:ext cx="438912" cy="438912"/>
          </a:xfrm>
          <a:prstGeom prst="ellipse">
            <a:avLst/>
          </a:prstGeom>
          <a:solidFill>
            <a:schemeClr val="accent1"/>
          </a:solidFill>
          <a:ln/>
        </p:spPr>
      </p:sp>
      <p:pic>
        <p:nvPicPr>
          <p:cNvPr id="17" name="Image 1" descr="FiShare2">    </p:cNvPr>
          <p:cNvPicPr>
            <a:picLocks noChangeAspect="1"/>
          </p:cNvPicPr>
          <p:nvPr/>
        </p:nvPicPr>
        <p:blipFill>
          <a:blip r:embed="rId2"/>
          <a:stretch>
            <a:fillRect/>
          </a:stretch>
        </p:blipFill>
        <p:spPr>
          <a:xfrm>
            <a:off x="3535680" y="1325880"/>
            <a:ext cx="219456" cy="219456"/>
          </a:xfrm>
          <a:prstGeom prst="rect">
            <a:avLst/>
          </a:prstGeom>
        </p:spPr>
      </p:pic>
      <p:sp>
        <p:nvSpPr>
          <p:cNvPr id="18" name="Text 13"/>
          <p:cNvSpPr txBox="1"/>
          <p:nvPr/>
        </p:nvSpPr>
        <p:spPr>
          <a:xfrm>
            <a:off x="397459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Diagrammi e schemi</a:t>
            </a:r>
            <a:endParaRPr lang="it-IT" sz="1300" dirty="0"/>
          </a:p>
        </p:txBody>
      </p:sp>
      <p:sp>
        <p:nvSpPr>
          <p:cNvPr id="19" name="Text 14"/>
          <p:cNvSpPr txBox="1"/>
          <p:nvPr/>
        </p:nvSpPr>
        <p:spPr>
          <a:xfrm>
            <a:off x="3425952" y="1764792"/>
            <a:ext cx="2292096" cy="475488"/>
          </a:xfrm>
          <a:prstGeom prst="rect">
            <a:avLst/>
          </a:prstGeom>
          <a:noFill/>
          <a:ln/>
        </p:spPr>
        <p:txBody>
          <a:bodyPr wrap="square" lIns="0" tIns="0" rIns="0" bIns="0" rtlCol="0" anchor="t"/>
          <a:lstStyle/>
          <a:p>
            <a:pPr indent="0" marL="0">
              <a:buNone/>
            </a:pPr>
            <a:r>
              <a:rPr lang="it-IT" sz="1200" dirty="0">
                <a:solidFill>
                  <a:schemeClr val="tx2"/>
                </a:solidFill>
              </a:rPr>
              <a:t>Processi, organigrammi, grafici spiegati o trascritti</a:t>
            </a:r>
            <a:endParaRPr lang="it-IT" sz="1200" dirty="0"/>
          </a:p>
        </p:txBody>
      </p:sp>
      <p:sp>
        <p:nvSpPr>
          <p:cNvPr id="20" name="Informazioni da foto"/>
          <p:cNvSpPr/>
          <p:nvPr/>
        </p:nvSpPr>
        <p:spPr>
          <a:xfrm>
            <a:off x="6065520" y="1051560"/>
            <a:ext cx="2621280" cy="1280160"/>
          </a:xfrm>
          <a:prstGeom prst="roundRect">
            <a:avLst>
              <a:gd name="adj" fmla="val 5714"/>
            </a:avLst>
          </a:prstGeom>
          <a:solidFill>
            <a:schemeClr val="bg2"/>
          </a:solidFill>
          <a:ln/>
        </p:spPr>
      </p:sp>
      <p:sp>
        <p:nvSpPr>
          <p:cNvPr id="21" name="cerchio FiCamera"/>
          <p:cNvSpPr/>
          <p:nvPr/>
        </p:nvSpPr>
        <p:spPr>
          <a:xfrm>
            <a:off x="6230112" y="1216152"/>
            <a:ext cx="438912" cy="438912"/>
          </a:xfrm>
          <a:prstGeom prst="ellipse">
            <a:avLst/>
          </a:prstGeom>
          <a:solidFill>
            <a:schemeClr val="accent1"/>
          </a:solidFill>
          <a:ln/>
        </p:spPr>
      </p:sp>
      <p:pic>
        <p:nvPicPr>
          <p:cNvPr id="22" name="Image 2" descr="FiCamera">    </p:cNvPr>
          <p:cNvPicPr>
            <a:picLocks noChangeAspect="1"/>
          </p:cNvPicPr>
          <p:nvPr/>
        </p:nvPicPr>
        <p:blipFill>
          <a:blip r:embed="rId3"/>
          <a:stretch>
            <a:fillRect/>
          </a:stretch>
        </p:blipFill>
        <p:spPr>
          <a:xfrm>
            <a:off x="6339840" y="1325880"/>
            <a:ext cx="219456" cy="219456"/>
          </a:xfrm>
          <a:prstGeom prst="rect">
            <a:avLst/>
          </a:prstGeom>
        </p:spPr>
      </p:pic>
      <p:sp>
        <p:nvSpPr>
          <p:cNvPr id="23" name="Text 17"/>
          <p:cNvSpPr txBox="1"/>
          <p:nvPr/>
        </p:nvSpPr>
        <p:spPr>
          <a:xfrm>
            <a:off x="677875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Informazioni da foto</a:t>
            </a:r>
            <a:endParaRPr lang="it-IT" sz="1300" dirty="0"/>
          </a:p>
        </p:txBody>
      </p:sp>
      <p:sp>
        <p:nvSpPr>
          <p:cNvPr id="24" name="Text 18"/>
          <p:cNvSpPr txBox="1"/>
          <p:nvPr/>
        </p:nvSpPr>
        <p:spPr>
          <a:xfrm>
            <a:off x="6230112" y="1764792"/>
            <a:ext cx="2292096" cy="475488"/>
          </a:xfrm>
          <a:prstGeom prst="rect">
            <a:avLst/>
          </a:prstGeom>
          <a:noFill/>
          <a:ln/>
        </p:spPr>
        <p:txBody>
          <a:bodyPr wrap="square" lIns="0" tIns="0" rIns="0" bIns="0" rtlCol="0" anchor="t"/>
          <a:lstStyle/>
          <a:p>
            <a:pPr indent="0" marL="0">
              <a:buNone/>
            </a:pPr>
            <a:r>
              <a:rPr lang="it-IT" sz="1200" dirty="0">
                <a:solidFill>
                  <a:schemeClr val="tx2"/>
                </a:solidFill>
              </a:rPr>
              <a:t>Quantità, etichette, stato di un macchinario</a:t>
            </a:r>
            <a:endParaRPr lang="it-IT" sz="1200" dirty="0"/>
          </a:p>
        </p:txBody>
      </p:sp>
      <p:sp>
        <p:nvSpPr>
          <p:cNvPr id="25" name="Assistenza tecnica"/>
          <p:cNvSpPr/>
          <p:nvPr/>
        </p:nvSpPr>
        <p:spPr>
          <a:xfrm>
            <a:off x="457200" y="2514600"/>
            <a:ext cx="2621280" cy="1280160"/>
          </a:xfrm>
          <a:prstGeom prst="roundRect">
            <a:avLst>
              <a:gd name="adj" fmla="val 5714"/>
            </a:avLst>
          </a:prstGeom>
          <a:solidFill>
            <a:schemeClr val="bg2"/>
          </a:solidFill>
          <a:ln/>
        </p:spPr>
      </p:sp>
      <p:sp>
        <p:nvSpPr>
          <p:cNvPr id="26" name="cerchio FiTool"/>
          <p:cNvSpPr/>
          <p:nvPr/>
        </p:nvSpPr>
        <p:spPr>
          <a:xfrm>
            <a:off x="621792" y="2679192"/>
            <a:ext cx="438912" cy="438912"/>
          </a:xfrm>
          <a:prstGeom prst="ellipse">
            <a:avLst/>
          </a:prstGeom>
          <a:solidFill>
            <a:schemeClr val="accent1"/>
          </a:solidFill>
          <a:ln/>
        </p:spPr>
      </p:sp>
      <p:pic>
        <p:nvPicPr>
          <p:cNvPr id="27" name="Image 3" descr="FiTool">    </p:cNvPr>
          <p:cNvPicPr>
            <a:picLocks noChangeAspect="1"/>
          </p:cNvPicPr>
          <p:nvPr/>
        </p:nvPicPr>
        <p:blipFill>
          <a:blip r:embed="rId4"/>
          <a:stretch>
            <a:fillRect/>
          </a:stretch>
        </p:blipFill>
        <p:spPr>
          <a:xfrm>
            <a:off x="731520" y="2788920"/>
            <a:ext cx="219456" cy="219456"/>
          </a:xfrm>
          <a:prstGeom prst="rect">
            <a:avLst/>
          </a:prstGeom>
        </p:spPr>
      </p:pic>
      <p:sp>
        <p:nvSpPr>
          <p:cNvPr id="28" name="Text 21"/>
          <p:cNvSpPr txBox="1"/>
          <p:nvPr/>
        </p:nvSpPr>
        <p:spPr>
          <a:xfrm>
            <a:off x="1170432" y="264261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Assistenza tecnica</a:t>
            </a:r>
            <a:endParaRPr lang="it-IT" sz="1300" dirty="0"/>
          </a:p>
        </p:txBody>
      </p:sp>
      <p:sp>
        <p:nvSpPr>
          <p:cNvPr id="29" name="Text 22"/>
          <p:cNvSpPr txBox="1"/>
          <p:nvPr/>
        </p:nvSpPr>
        <p:spPr>
          <a:xfrm>
            <a:off x="621792" y="3227832"/>
            <a:ext cx="2292096" cy="475488"/>
          </a:xfrm>
          <a:prstGeom prst="rect">
            <a:avLst/>
          </a:prstGeom>
          <a:noFill/>
          <a:ln/>
        </p:spPr>
        <p:txBody>
          <a:bodyPr wrap="square" lIns="0" tIns="0" rIns="0" bIns="0" rtlCol="0" anchor="t"/>
          <a:lstStyle/>
          <a:p>
            <a:pPr indent="0" marL="0">
              <a:buNone/>
            </a:pPr>
            <a:r>
              <a:rPr lang="it-IT" sz="1200" dirty="0">
                <a:solidFill>
                  <a:schemeClr val="tx2"/>
                </a:solidFill>
              </a:rPr>
              <a:t>Foto del componente + manuale: pezzo e procedura</a:t>
            </a:r>
            <a:endParaRPr lang="it-IT" sz="1200" dirty="0"/>
          </a:p>
        </p:txBody>
      </p:sp>
      <p:sp>
        <p:nvSpPr>
          <p:cNvPr id="30" name="Testi nelle immagini"/>
          <p:cNvSpPr/>
          <p:nvPr/>
        </p:nvSpPr>
        <p:spPr>
          <a:xfrm>
            <a:off x="3261360" y="2514600"/>
            <a:ext cx="2621280" cy="1280160"/>
          </a:xfrm>
          <a:prstGeom prst="roundRect">
            <a:avLst>
              <a:gd name="adj" fmla="val 5714"/>
            </a:avLst>
          </a:prstGeom>
          <a:solidFill>
            <a:schemeClr val="bg2"/>
          </a:solidFill>
          <a:ln/>
        </p:spPr>
      </p:sp>
      <p:sp>
        <p:nvSpPr>
          <p:cNvPr id="31" name="cerchio FiType"/>
          <p:cNvSpPr/>
          <p:nvPr/>
        </p:nvSpPr>
        <p:spPr>
          <a:xfrm>
            <a:off x="3425952" y="2679192"/>
            <a:ext cx="438912" cy="438912"/>
          </a:xfrm>
          <a:prstGeom prst="ellipse">
            <a:avLst/>
          </a:prstGeom>
          <a:solidFill>
            <a:schemeClr val="accent1"/>
          </a:solidFill>
          <a:ln/>
        </p:spPr>
      </p:sp>
      <p:pic>
        <p:nvPicPr>
          <p:cNvPr id="32" name="Image 4" descr="FiType">    </p:cNvPr>
          <p:cNvPicPr>
            <a:picLocks noChangeAspect="1"/>
          </p:cNvPicPr>
          <p:nvPr/>
        </p:nvPicPr>
        <p:blipFill>
          <a:blip r:embed="rId5"/>
          <a:stretch>
            <a:fillRect/>
          </a:stretch>
        </p:blipFill>
        <p:spPr>
          <a:xfrm>
            <a:off x="3535680" y="2788920"/>
            <a:ext cx="219456" cy="219456"/>
          </a:xfrm>
          <a:prstGeom prst="rect">
            <a:avLst/>
          </a:prstGeom>
        </p:spPr>
      </p:pic>
      <p:sp>
        <p:nvSpPr>
          <p:cNvPr id="33" name="Text 25"/>
          <p:cNvSpPr txBox="1"/>
          <p:nvPr/>
        </p:nvSpPr>
        <p:spPr>
          <a:xfrm>
            <a:off x="3974592" y="264261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Testi nelle immagini</a:t>
            </a:r>
            <a:endParaRPr lang="it-IT" sz="1300" dirty="0"/>
          </a:p>
        </p:txBody>
      </p:sp>
      <p:sp>
        <p:nvSpPr>
          <p:cNvPr id="34" name="Text 26"/>
          <p:cNvSpPr txBox="1"/>
          <p:nvPr/>
        </p:nvSpPr>
        <p:spPr>
          <a:xfrm>
            <a:off x="3425952" y="3227832"/>
            <a:ext cx="2292096" cy="475488"/>
          </a:xfrm>
          <a:prstGeom prst="rect">
            <a:avLst/>
          </a:prstGeom>
          <a:noFill/>
          <a:ln/>
        </p:spPr>
        <p:txBody>
          <a:bodyPr wrap="square" lIns="0" tIns="0" rIns="0" bIns="0" rtlCol="0" anchor="t"/>
          <a:lstStyle/>
          <a:p>
            <a:pPr indent="0" marL="0">
              <a:buNone/>
            </a:pPr>
            <a:r>
              <a:rPr lang="it-IT" sz="1200" dirty="0">
                <a:solidFill>
                  <a:schemeClr val="tx2"/>
                </a:solidFill>
              </a:rPr>
              <a:t>Lavagne, etichette, moduli, scritte a mano</a:t>
            </a:r>
            <a:endParaRPr lang="it-IT" sz="1200" dirty="0"/>
          </a:p>
        </p:txBody>
      </p:sp>
      <p:sp>
        <p:nvSpPr>
          <p:cNvPr id="35" name="Documentazione visiva"/>
          <p:cNvSpPr/>
          <p:nvPr/>
        </p:nvSpPr>
        <p:spPr>
          <a:xfrm>
            <a:off x="6065520" y="2514600"/>
            <a:ext cx="2621280" cy="1280160"/>
          </a:xfrm>
          <a:prstGeom prst="roundRect">
            <a:avLst>
              <a:gd name="adj" fmla="val 5714"/>
            </a:avLst>
          </a:prstGeom>
          <a:solidFill>
            <a:schemeClr val="bg2"/>
          </a:solidFill>
          <a:ln/>
        </p:spPr>
      </p:sp>
      <p:sp>
        <p:nvSpPr>
          <p:cNvPr id="36" name="cerchio FiFolder"/>
          <p:cNvSpPr/>
          <p:nvPr/>
        </p:nvSpPr>
        <p:spPr>
          <a:xfrm>
            <a:off x="6230112" y="2679192"/>
            <a:ext cx="438912" cy="438912"/>
          </a:xfrm>
          <a:prstGeom prst="ellipse">
            <a:avLst/>
          </a:prstGeom>
          <a:solidFill>
            <a:schemeClr val="accent1"/>
          </a:solidFill>
          <a:ln/>
        </p:spPr>
      </p:sp>
      <p:pic>
        <p:nvPicPr>
          <p:cNvPr id="37" name="Image 5" descr="FiFolder">    </p:cNvPr>
          <p:cNvPicPr>
            <a:picLocks noChangeAspect="1"/>
          </p:cNvPicPr>
          <p:nvPr/>
        </p:nvPicPr>
        <p:blipFill>
          <a:blip r:embed="rId6"/>
          <a:stretch>
            <a:fillRect/>
          </a:stretch>
        </p:blipFill>
        <p:spPr>
          <a:xfrm>
            <a:off x="6339840" y="2788920"/>
            <a:ext cx="219456" cy="219456"/>
          </a:xfrm>
          <a:prstGeom prst="rect">
            <a:avLst/>
          </a:prstGeom>
        </p:spPr>
      </p:pic>
      <p:sp>
        <p:nvSpPr>
          <p:cNvPr id="38" name="Text 29"/>
          <p:cNvSpPr txBox="1"/>
          <p:nvPr/>
        </p:nvSpPr>
        <p:spPr>
          <a:xfrm>
            <a:off x="6778752" y="264261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Documentazione visiva</a:t>
            </a:r>
            <a:endParaRPr lang="it-IT" sz="1300" dirty="0"/>
          </a:p>
        </p:txBody>
      </p:sp>
      <p:sp>
        <p:nvSpPr>
          <p:cNvPr id="39" name="Text 30"/>
          <p:cNvSpPr txBox="1"/>
          <p:nvPr/>
        </p:nvSpPr>
        <p:spPr>
          <a:xfrm>
            <a:off x="6230112" y="3227832"/>
            <a:ext cx="2292096" cy="475488"/>
          </a:xfrm>
          <a:prstGeom prst="rect">
            <a:avLst/>
          </a:prstGeom>
          <a:noFill/>
          <a:ln/>
        </p:spPr>
        <p:txBody>
          <a:bodyPr wrap="square" lIns="0" tIns="0" rIns="0" bIns="0" rtlCol="0" anchor="t"/>
          <a:lstStyle/>
          <a:p>
            <a:pPr indent="0" marL="0">
              <a:buNone/>
            </a:pPr>
            <a:r>
              <a:rPr lang="it-IT" sz="1200" dirty="0">
                <a:solidFill>
                  <a:schemeClr val="tx2"/>
                </a:solidFill>
              </a:rPr>
              <a:t>Sopralluoghi, cataloghi, controlli visivi</a:t>
            </a:r>
            <a:endParaRPr lang="it-IT" sz="1200" dirty="0"/>
          </a:p>
        </p:txBody>
      </p:sp>
      <p:sp>
        <p:nvSpPr>
          <p:cNvPr id="40" name="messaggio"/>
          <p:cNvSpPr/>
          <p:nvPr/>
        </p:nvSpPr>
        <p:spPr>
          <a:xfrm>
            <a:off x="457200" y="3977640"/>
            <a:ext cx="8229600" cy="548640"/>
          </a:xfrm>
          <a:prstGeom prst="roundRect">
            <a:avLst>
              <a:gd name="adj" fmla="val 13333"/>
            </a:avLst>
          </a:prstGeom>
          <a:solidFill>
            <a:schemeClr val="tx1"/>
          </a:solidFill>
          <a:ln/>
        </p:spPr>
      </p:sp>
      <p:sp>
        <p:nvSpPr>
          <p:cNvPr id="41" name="Text 32"/>
          <p:cNvSpPr txBox="1"/>
          <p:nvPr/>
        </p:nvSpPr>
        <p:spPr>
          <a:xfrm>
            <a:off x="640080" y="3977640"/>
            <a:ext cx="7863840" cy="548640"/>
          </a:xfrm>
          <a:prstGeom prst="rect">
            <a:avLst/>
          </a:prstGeom>
          <a:noFill/>
          <a:ln/>
        </p:spPr>
        <p:txBody>
          <a:bodyPr wrap="square" lIns="0" tIns="0" rIns="0" bIns="0" rtlCol="0" anchor="ctr"/>
          <a:lstStyle/>
          <a:p>
            <a:pPr indent="0" marL="0">
              <a:buNone/>
            </a:pPr>
            <a:r>
              <a:rPr lang="it-IT" sz="1300" dirty="0">
                <a:solidFill>
                  <a:schemeClr val="bg1"/>
                </a:solidFill>
              </a:rPr>
              <a:t>Risultati utili in pochi secondi. Conoscere i limiti ricorrenti permette di usarli con fiducia.</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12</a:t>
            </a:fld>
            <a:endParaRPr lang="it-IT"/>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Schermate e assistenza tecnica</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Trasformare</a:t>
            </a:r>
            <a:endParaRPr lang="it-IT" sz="900" dirty="0"/>
          </a:p>
        </p:txBody>
      </p:sp>
      <p:sp>
        <p:nvSpPr>
          <p:cNvPr id="10" name="riquadro Domande tipiche"/>
          <p:cNvSpPr/>
          <p:nvPr/>
        </p:nvSpPr>
        <p:spPr>
          <a:xfrm>
            <a:off x="457200" y="1051560"/>
            <a:ext cx="3977640" cy="1463040"/>
          </a:xfrm>
          <a:prstGeom prst="roundRect">
            <a:avLst>
              <a:gd name="adj" fmla="val 5000"/>
            </a:avLst>
          </a:prstGeom>
          <a:solidFill>
            <a:schemeClr val="accent6"/>
          </a:solidFill>
          <a:ln/>
        </p:spPr>
      </p:sp>
      <p:sp>
        <p:nvSpPr>
          <p:cNvPr id="11" name="barra"/>
          <p:cNvSpPr/>
          <p:nvPr/>
        </p:nvSpPr>
        <p:spPr>
          <a:xfrm>
            <a:off x="457200" y="1161288"/>
            <a:ext cx="54864" cy="1243584"/>
          </a:xfrm>
          <a:prstGeom prst="rect">
            <a:avLst/>
          </a:prstGeom>
          <a:solidFill>
            <a:schemeClr val="accent1"/>
          </a:solidFill>
          <a:ln/>
        </p:spPr>
      </p:sp>
      <p:sp>
        <p:nvSpPr>
          <p:cNvPr id="12" name="Text 9"/>
          <p:cNvSpPr txBox="1"/>
          <p:nvPr/>
        </p:nvSpPr>
        <p:spPr>
          <a:xfrm>
            <a:off x="658368" y="1143000"/>
            <a:ext cx="3611880" cy="256032"/>
          </a:xfrm>
          <a:prstGeom prst="rect">
            <a:avLst/>
          </a:prstGeom>
          <a:noFill/>
          <a:ln/>
        </p:spPr>
        <p:txBody>
          <a:bodyPr wrap="square" lIns="0" tIns="0" rIns="0" bIns="0" rtlCol="0" anchor="t"/>
          <a:lstStyle/>
          <a:p>
            <a:pPr indent="0" marL="0">
              <a:buNone/>
            </a:pPr>
            <a:r>
              <a:rPr lang="it-IT" sz="1100" b="1" dirty="0">
                <a:solidFill>
                  <a:schemeClr val="accent1"/>
                </a:solidFill>
              </a:rPr>
              <a:t>Domande tipiche</a:t>
            </a:r>
            <a:endParaRPr lang="it-IT" sz="1100" dirty="0"/>
          </a:p>
        </p:txBody>
      </p:sp>
      <p:sp>
        <p:nvSpPr>
          <p:cNvPr id="13" name="Text 10"/>
          <p:cNvSpPr txBox="1"/>
          <p:nvPr/>
        </p:nvSpPr>
        <p:spPr>
          <a:xfrm>
            <a:off x="658368" y="1435608"/>
            <a:ext cx="3611880" cy="987552"/>
          </a:xfrm>
          <a:prstGeom prst="rect">
            <a:avLst/>
          </a:prstGeom>
          <a:noFill/>
          <a:ln/>
        </p:spPr>
        <p:txBody>
          <a:bodyPr wrap="square" lIns="0" tIns="0" rIns="0" bIns="0" rtlCol="0" anchor="t"/>
          <a:lstStyle/>
          <a:p>
            <a:pPr indent="0" marL="0">
              <a:buNone/>
            </a:pPr>
            <a:r>
              <a:rPr lang="it-IT" sz="1300" dirty="0">
                <a:solidFill>
                  <a:schemeClr val="tx1"/>
                </a:solidFill>
              </a:rPr>
              <a:t>Che cosa significa questo errore?</a:t>
            </a:r>
            <a:endParaRPr lang="it-IT" sz="1300" dirty="0"/>
          </a:p>
          <a:p>
            <a:pPr indent="0" marL="0">
              <a:buNone/>
            </a:pPr>
            <a:r>
              <a:rPr lang="it-IT" sz="1300" dirty="0">
                <a:solidFill>
                  <a:schemeClr val="tx1"/>
                </a:solidFill>
              </a:rPr>
              <a:t>Come esporto questi dati?</a:t>
            </a:r>
            <a:endParaRPr lang="it-IT" sz="1300" dirty="0"/>
          </a:p>
          <a:p>
            <a:pPr indent="0" marL="0">
              <a:buNone/>
            </a:pPr>
            <a:r>
              <a:rPr lang="it-IT" sz="1300" dirty="0">
                <a:solidFill>
                  <a:schemeClr val="tx1"/>
                </a:solidFill>
              </a:rPr>
              <a:t>Dove si trova questa impostazione?</a:t>
            </a:r>
            <a:endParaRPr lang="it-IT" sz="1300" dirty="0"/>
          </a:p>
        </p:txBody>
      </p:sp>
      <p:sp>
        <p:nvSpPr>
          <p:cNvPr id="14" name="scheda Il valore"/>
          <p:cNvSpPr/>
          <p:nvPr/>
        </p:nvSpPr>
        <p:spPr>
          <a:xfrm>
            <a:off x="4709160" y="1051560"/>
            <a:ext cx="3977640" cy="1463040"/>
          </a:xfrm>
          <a:prstGeom prst="roundRect">
            <a:avLst>
              <a:gd name="adj" fmla="val 5000"/>
            </a:avLst>
          </a:prstGeom>
          <a:solidFill>
            <a:schemeClr val="bg2"/>
          </a:solidFill>
          <a:ln/>
        </p:spPr>
      </p:sp>
      <p:sp>
        <p:nvSpPr>
          <p:cNvPr id="15" name="cerchio FiThumbsUp"/>
          <p:cNvSpPr/>
          <p:nvPr/>
        </p:nvSpPr>
        <p:spPr>
          <a:xfrm>
            <a:off x="4892040" y="1234440"/>
            <a:ext cx="457200" cy="457200"/>
          </a:xfrm>
          <a:prstGeom prst="ellipse">
            <a:avLst/>
          </a:prstGeom>
          <a:solidFill>
            <a:schemeClr val="accent1"/>
          </a:solidFill>
          <a:ln/>
        </p:spPr>
      </p:sp>
      <p:pic>
        <p:nvPicPr>
          <p:cNvPr id="16" name="Image 0" descr="FiThumbsUp">    </p:cNvPr>
          <p:cNvPicPr>
            <a:picLocks noChangeAspect="1"/>
          </p:cNvPicPr>
          <p:nvPr/>
        </p:nvPicPr>
        <p:blipFill>
          <a:blip r:embed="rId1"/>
          <a:stretch>
            <a:fillRect/>
          </a:stretch>
        </p:blipFill>
        <p:spPr>
          <a:xfrm>
            <a:off x="5006340" y="1348740"/>
            <a:ext cx="228600" cy="228600"/>
          </a:xfrm>
          <a:prstGeom prst="rect">
            <a:avLst/>
          </a:prstGeom>
        </p:spPr>
      </p:pic>
      <p:sp>
        <p:nvSpPr>
          <p:cNvPr id="17" name="Text 13"/>
          <p:cNvSpPr txBox="1"/>
          <p:nvPr/>
        </p:nvSpPr>
        <p:spPr>
          <a:xfrm>
            <a:off x="5486400" y="1234440"/>
            <a:ext cx="3017520" cy="457200"/>
          </a:xfrm>
          <a:prstGeom prst="rect">
            <a:avLst/>
          </a:prstGeom>
          <a:noFill/>
          <a:ln/>
        </p:spPr>
        <p:txBody>
          <a:bodyPr wrap="square" lIns="0" tIns="0" rIns="0" bIns="0" rtlCol="0" anchor="ctr"/>
          <a:lstStyle/>
          <a:p>
            <a:pPr indent="0" marL="0">
              <a:buNone/>
            </a:pPr>
            <a:r>
              <a:rPr lang="it-IT" sz="1400" b="1" dirty="0">
                <a:solidFill>
                  <a:schemeClr val="tx1"/>
                </a:solidFill>
              </a:rPr>
              <a:t>Il valore</a:t>
            </a:r>
            <a:endParaRPr lang="it-IT" sz="1400" dirty="0"/>
          </a:p>
        </p:txBody>
      </p:sp>
      <p:sp>
        <p:nvSpPr>
          <p:cNvPr id="18" name="Text 14"/>
          <p:cNvSpPr txBox="1"/>
          <p:nvPr/>
        </p:nvSpPr>
        <p:spPr>
          <a:xfrm>
            <a:off x="4892040" y="1828800"/>
            <a:ext cx="3611880" cy="576072"/>
          </a:xfrm>
          <a:prstGeom prst="rect">
            <a:avLst/>
          </a:prstGeom>
          <a:noFill/>
          <a:ln/>
        </p:spPr>
        <p:txBody>
          <a:bodyPr wrap="square" lIns="0" tIns="0" rIns="0" bIns="0" rtlCol="0" anchor="t"/>
          <a:lstStyle/>
          <a:p>
            <a:pPr indent="0" marL="0">
              <a:buNone/>
            </a:pPr>
            <a:r>
              <a:rPr lang="it-IT" sz="1200" dirty="0">
                <a:solidFill>
                  <a:schemeClr val="tx2"/>
                </a:solidFill>
              </a:rPr>
              <a:t>Guida passo per passo, meno richieste ripetitive all'assistenza, programmi nuovi appresi più in fretta.</a:t>
            </a:r>
            <a:endParaRPr lang="it-IT" sz="1200" dirty="0"/>
          </a:p>
        </p:txBody>
      </p:sp>
      <p:sp>
        <p:nvSpPr>
          <p:cNvPr id="19" name="Indicare versione e contesto"/>
          <p:cNvSpPr/>
          <p:nvPr/>
        </p:nvSpPr>
        <p:spPr>
          <a:xfrm>
            <a:off x="457200" y="2697480"/>
            <a:ext cx="8229600" cy="512064"/>
          </a:xfrm>
          <a:prstGeom prst="roundRect">
            <a:avLst>
              <a:gd name="adj" fmla="val 14286"/>
            </a:avLst>
          </a:prstGeom>
          <a:solidFill>
            <a:schemeClr val="bg2"/>
          </a:solidFill>
          <a:ln/>
        </p:spPr>
      </p:sp>
      <p:sp>
        <p:nvSpPr>
          <p:cNvPr id="20" name="Text 16"/>
          <p:cNvSpPr txBox="1"/>
          <p:nvPr/>
        </p:nvSpPr>
        <p:spPr>
          <a:xfrm>
            <a:off x="640080" y="2697480"/>
            <a:ext cx="2651760" cy="512064"/>
          </a:xfrm>
          <a:prstGeom prst="rect">
            <a:avLst/>
          </a:prstGeom>
          <a:noFill/>
          <a:ln/>
        </p:spPr>
        <p:txBody>
          <a:bodyPr wrap="square" lIns="0" tIns="0" rIns="0" bIns="0" rtlCol="0" anchor="ctr"/>
          <a:lstStyle/>
          <a:p>
            <a:pPr indent="0" marL="0">
              <a:buNone/>
            </a:pPr>
            <a:r>
              <a:rPr lang="it-IT" sz="1300" b="1" dirty="0">
                <a:solidFill>
                  <a:schemeClr val="accent1"/>
                </a:solidFill>
              </a:rPr>
              <a:t>Indicare versione e contesto</a:t>
            </a:r>
            <a:endParaRPr lang="it-IT" sz="1300" dirty="0"/>
          </a:p>
        </p:txBody>
      </p:sp>
      <p:sp>
        <p:nvSpPr>
          <p:cNvPr id="21" name="Text 17"/>
          <p:cNvSpPr txBox="1"/>
          <p:nvPr/>
        </p:nvSpPr>
        <p:spPr>
          <a:xfrm>
            <a:off x="3291840" y="2697480"/>
            <a:ext cx="5212080" cy="512064"/>
          </a:xfrm>
          <a:prstGeom prst="rect">
            <a:avLst/>
          </a:prstGeom>
          <a:noFill/>
          <a:ln/>
        </p:spPr>
        <p:txBody>
          <a:bodyPr wrap="square" lIns="0" tIns="0" rIns="0" bIns="0" rtlCol="0" anchor="ctr"/>
          <a:lstStyle/>
          <a:p>
            <a:pPr indent="0" marL="0">
              <a:buNone/>
            </a:pPr>
            <a:r>
              <a:rPr lang="it-IT" sz="1200" dirty="0">
                <a:solidFill>
                  <a:schemeClr val="tx1"/>
                </a:solidFill>
              </a:rPr>
              <a:t>Così i passaggi suggeriti corrispondono al proprio programma</a:t>
            </a:r>
            <a:endParaRPr lang="it-IT" sz="1200" dirty="0"/>
          </a:p>
        </p:txBody>
      </p:sp>
      <p:sp>
        <p:nvSpPr>
          <p:cNvPr id="22" name="Modifiche a sistemi aziendali"/>
          <p:cNvSpPr/>
          <p:nvPr/>
        </p:nvSpPr>
        <p:spPr>
          <a:xfrm>
            <a:off x="457200" y="3282696"/>
            <a:ext cx="8229600" cy="512064"/>
          </a:xfrm>
          <a:prstGeom prst="roundRect">
            <a:avLst>
              <a:gd name="adj" fmla="val 14286"/>
            </a:avLst>
          </a:prstGeom>
          <a:solidFill>
            <a:schemeClr val="bg1"/>
          </a:solidFill>
          <a:ln/>
        </p:spPr>
      </p:sp>
      <p:sp>
        <p:nvSpPr>
          <p:cNvPr id="23" name="Text 19"/>
          <p:cNvSpPr txBox="1"/>
          <p:nvPr/>
        </p:nvSpPr>
        <p:spPr>
          <a:xfrm>
            <a:off x="640080" y="3282696"/>
            <a:ext cx="2651760" cy="512064"/>
          </a:xfrm>
          <a:prstGeom prst="rect">
            <a:avLst/>
          </a:prstGeom>
          <a:noFill/>
          <a:ln/>
        </p:spPr>
        <p:txBody>
          <a:bodyPr wrap="square" lIns="0" tIns="0" rIns="0" bIns="0" rtlCol="0" anchor="ctr"/>
          <a:lstStyle/>
          <a:p>
            <a:pPr indent="0" marL="0">
              <a:buNone/>
            </a:pPr>
            <a:r>
              <a:rPr lang="it-IT" sz="1300" b="1" dirty="0">
                <a:solidFill>
                  <a:schemeClr val="accent1"/>
                </a:solidFill>
              </a:rPr>
              <a:t>Modifiche a sistemi aziendali</a:t>
            </a:r>
            <a:endParaRPr lang="it-IT" sz="1300" dirty="0"/>
          </a:p>
        </p:txBody>
      </p:sp>
      <p:sp>
        <p:nvSpPr>
          <p:cNvPr id="24" name="Text 20"/>
          <p:cNvSpPr txBox="1"/>
          <p:nvPr/>
        </p:nvSpPr>
        <p:spPr>
          <a:xfrm>
            <a:off x="3291840" y="3282696"/>
            <a:ext cx="5212080" cy="512064"/>
          </a:xfrm>
          <a:prstGeom prst="rect">
            <a:avLst/>
          </a:prstGeom>
          <a:noFill/>
          <a:ln/>
        </p:spPr>
        <p:txBody>
          <a:bodyPr wrap="square" lIns="0" tIns="0" rIns="0" bIns="0" rtlCol="0" anchor="ctr"/>
          <a:lstStyle/>
          <a:p>
            <a:pPr indent="0" marL="0">
              <a:buNone/>
            </a:pPr>
            <a:r>
              <a:rPr lang="it-IT" sz="1200" dirty="0">
                <a:solidFill>
                  <a:schemeClr val="tx1"/>
                </a:solidFill>
              </a:rPr>
              <a:t>Prudenza; nel dubbio, l'assistenza interna</a:t>
            </a:r>
            <a:endParaRPr lang="it-IT" sz="1200" dirty="0"/>
          </a:p>
        </p:txBody>
      </p:sp>
      <p:sp>
        <p:nvSpPr>
          <p:cNvPr id="25" name="Prima di condividere"/>
          <p:cNvSpPr/>
          <p:nvPr/>
        </p:nvSpPr>
        <p:spPr>
          <a:xfrm>
            <a:off x="457200" y="3867912"/>
            <a:ext cx="8229600" cy="512064"/>
          </a:xfrm>
          <a:prstGeom prst="roundRect">
            <a:avLst>
              <a:gd name="adj" fmla="val 14286"/>
            </a:avLst>
          </a:prstGeom>
          <a:solidFill>
            <a:schemeClr val="bg2"/>
          </a:solidFill>
          <a:ln/>
        </p:spPr>
      </p:sp>
      <p:sp>
        <p:nvSpPr>
          <p:cNvPr id="26" name="Text 22"/>
          <p:cNvSpPr txBox="1"/>
          <p:nvPr/>
        </p:nvSpPr>
        <p:spPr>
          <a:xfrm>
            <a:off x="640080" y="3867912"/>
            <a:ext cx="2651760" cy="512064"/>
          </a:xfrm>
          <a:prstGeom prst="rect">
            <a:avLst/>
          </a:prstGeom>
          <a:noFill/>
          <a:ln/>
        </p:spPr>
        <p:txBody>
          <a:bodyPr wrap="square" lIns="0" tIns="0" rIns="0" bIns="0" rtlCol="0" anchor="ctr"/>
          <a:lstStyle/>
          <a:p>
            <a:pPr indent="0" marL="0">
              <a:buNone/>
            </a:pPr>
            <a:r>
              <a:rPr lang="it-IT" sz="1300" b="1" dirty="0">
                <a:solidFill>
                  <a:schemeClr val="accent1"/>
                </a:solidFill>
              </a:rPr>
              <a:t>Prima di condividere</a:t>
            </a:r>
            <a:endParaRPr lang="it-IT" sz="1300" dirty="0"/>
          </a:p>
        </p:txBody>
      </p:sp>
      <p:sp>
        <p:nvSpPr>
          <p:cNvPr id="27" name="Text 23"/>
          <p:cNvSpPr txBox="1"/>
          <p:nvPr/>
        </p:nvSpPr>
        <p:spPr>
          <a:xfrm>
            <a:off x="3291840" y="3867912"/>
            <a:ext cx="5212080" cy="512064"/>
          </a:xfrm>
          <a:prstGeom prst="rect">
            <a:avLst/>
          </a:prstGeom>
          <a:noFill/>
          <a:ln/>
        </p:spPr>
        <p:txBody>
          <a:bodyPr wrap="square" lIns="0" tIns="0" rIns="0" bIns="0" rtlCol="0" anchor="ctr"/>
          <a:lstStyle/>
          <a:p>
            <a:pPr indent="0" marL="0">
              <a:buNone/>
            </a:pPr>
            <a:r>
              <a:rPr lang="it-IT" sz="1200" dirty="0">
                <a:solidFill>
                  <a:schemeClr val="tx1"/>
                </a:solidFill>
              </a:rPr>
              <a:t>Ritagliare; niente dati personali, credenziali, notifiche, altre finestre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13</a:t>
            </a:fld>
            <a:endParaRPr lang="it-IT"/>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Limiti da conoscere e gestire</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Trasformare</a:t>
            </a:r>
            <a:endParaRPr lang="it-IT"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554480"/>
                <a:gridCol w="2011680"/>
                <a:gridCol w="2377440"/>
                <a:gridCol w="2286000"/>
              </a:tblGrid>
              <a:tr h="457200">
                <a:tc>
                  <a:txBody>
                    <a:bodyPr/>
                    <a:lstStyle/>
                    <a:p>
                      <a:pPr indent="0" marL="0">
                        <a:buNone/>
                      </a:pP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b="1" dirty="0">
                          <a:solidFill>
                            <a:schemeClr val="bg1"/>
                          </a:solidFill>
                        </a:rPr>
                        <a:t>Di solito affidabile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Richiede attenzione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Come gestirlo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57200">
                <a:tc>
                  <a:txBody>
                    <a:bodyPr/>
                    <a:lstStyle/>
                    <a:p>
                      <a:pPr indent="0" marL="0">
                        <a:buNone/>
                      </a:pPr>
                      <a:r>
                        <a:rPr lang="it-IT" sz="1100" b="1" dirty="0">
                          <a:solidFill>
                            <a:schemeClr val="tx1"/>
                          </a:solidFill>
                        </a:rPr>
                        <a:t>Testo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Stampato, chiaro, lingue diffuse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A mano, piccolo, sfocato; numeri e codici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Cifre e codici critici sull'originale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it-IT" sz="1100" b="1" dirty="0">
                          <a:solidFill>
                            <a:schemeClr val="tx1"/>
                          </a:solidFill>
                        </a:rPr>
                        <a:t>Diagrammi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Semplici e ordinati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Densi, frecce incrociate, legende separate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Farli descrivere relazione per relazione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it-IT" sz="1100" b="1" dirty="0">
                          <a:solidFill>
                            <a:schemeClr val="tx1"/>
                          </a:solidFill>
                        </a:rPr>
                        <a:t>Dettagli e conteggi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Elementi evidenti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Oggetti piccoli, scene affollate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Ritagli nitidi; chiedere dove si trova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it-IT" sz="1100" b="1" dirty="0">
                          <a:solidFill>
                            <a:schemeClr val="tx1"/>
                          </a:solidFill>
                        </a:rPr>
                        <a:t>Spazio e misure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Disposizioni semplici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Destra e sinistra, distanze, prospettive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Considerare misure e conteggi stime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1" name="messaggio"/>
          <p:cNvSpPr/>
          <p:nvPr/>
        </p:nvSpPr>
        <p:spPr>
          <a:xfrm>
            <a:off x="457200" y="3520440"/>
            <a:ext cx="8229600" cy="731520"/>
          </a:xfrm>
          <a:prstGeom prst="roundRect">
            <a:avLst>
              <a:gd name="adj" fmla="val 10000"/>
            </a:avLst>
          </a:prstGeom>
          <a:solidFill>
            <a:schemeClr val="tx1"/>
          </a:solidFill>
          <a:ln/>
        </p:spPr>
      </p:sp>
      <p:sp>
        <p:nvSpPr>
          <p:cNvPr id="12" name="Text 8"/>
          <p:cNvSpPr txBox="1"/>
          <p:nvPr/>
        </p:nvSpPr>
        <p:spPr>
          <a:xfrm>
            <a:off x="640080" y="3520440"/>
            <a:ext cx="7863840" cy="731520"/>
          </a:xfrm>
          <a:prstGeom prst="rect">
            <a:avLst/>
          </a:prstGeom>
          <a:noFill/>
          <a:ln/>
        </p:spPr>
        <p:txBody>
          <a:bodyPr wrap="square" lIns="0" tIns="0" rIns="0" bIns="0" rtlCol="0" anchor="ctr"/>
          <a:lstStyle/>
          <a:p>
            <a:pPr indent="0" marL="0">
              <a:buNone/>
            </a:pPr>
            <a:r>
              <a:rPr lang="it-IT" sz="1300" dirty="0">
                <a:solidFill>
                  <a:schemeClr val="bg1"/>
                </a:solidFill>
              </a:rPr>
              <a:t>Un numero sbagliato resta plausibile, e la sicurezza della risposta è la stessa: per i dati critici, uno sguardo all'originale.</a:t>
            </a:r>
            <a:endParaRPr lang="it-IT" sz="1300" dirty="0"/>
          </a:p>
        </p:txBody>
      </p:sp>
      <p:sp>
        <p:nvSpPr>
          <p:cNvPr id="13" name="Text 9"/>
          <p:cNvSpPr txBox="1"/>
          <p:nvPr/>
        </p:nvSpPr>
        <p:spPr>
          <a:xfrm>
            <a:off x="457200" y="4297680"/>
            <a:ext cx="8229600" cy="274320"/>
          </a:xfrm>
          <a:prstGeom prst="rect">
            <a:avLst/>
          </a:prstGeom>
          <a:noFill/>
          <a:ln/>
        </p:spPr>
        <p:txBody>
          <a:bodyPr wrap="square" lIns="0" tIns="0" rIns="0" bIns="0" rtlCol="0" anchor="t"/>
          <a:lstStyle/>
          <a:p>
            <a:pPr indent="0" marL="0">
              <a:buNone/>
            </a:pPr>
            <a:r>
              <a:rPr lang="it-IT" sz="1100" i="1" dirty="0">
                <a:solidFill>
                  <a:schemeClr val="tx2"/>
                </a:solidFill>
              </a:rPr>
              <a:t>Prestazioni in rapido miglioramento e diverse tra strumenti.</a:t>
            </a:r>
            <a:endParaRPr lang="it-IT"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14</a:t>
            </a:fld>
            <a:endParaRPr lang="it-IT"/>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Osservare o interpretare</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Trasformare</a:t>
            </a:r>
            <a:endParaRPr lang="it-IT" sz="900" dirty="0"/>
          </a:p>
        </p:txBody>
      </p:sp>
      <p:sp>
        <p:nvSpPr>
          <p:cNvPr id="10" name="riquadro Osservazione (esempio fittizio)"/>
          <p:cNvSpPr/>
          <p:nvPr/>
        </p:nvSpPr>
        <p:spPr>
          <a:xfrm>
            <a:off x="457200" y="1051560"/>
            <a:ext cx="3977640" cy="1463040"/>
          </a:xfrm>
          <a:prstGeom prst="roundRect">
            <a:avLst>
              <a:gd name="adj" fmla="val 5000"/>
            </a:avLst>
          </a:prstGeom>
          <a:solidFill>
            <a:schemeClr val="accent6"/>
          </a:solidFill>
          <a:ln/>
        </p:spPr>
      </p:sp>
      <p:sp>
        <p:nvSpPr>
          <p:cNvPr id="11" name="barra"/>
          <p:cNvSpPr/>
          <p:nvPr/>
        </p:nvSpPr>
        <p:spPr>
          <a:xfrm>
            <a:off x="457200" y="1161288"/>
            <a:ext cx="54864" cy="1243584"/>
          </a:xfrm>
          <a:prstGeom prst="rect">
            <a:avLst/>
          </a:prstGeom>
          <a:solidFill>
            <a:schemeClr val="accent1"/>
          </a:solidFill>
          <a:ln/>
        </p:spPr>
      </p:sp>
      <p:sp>
        <p:nvSpPr>
          <p:cNvPr id="12" name="Text 9"/>
          <p:cNvSpPr txBox="1"/>
          <p:nvPr/>
        </p:nvSpPr>
        <p:spPr>
          <a:xfrm>
            <a:off x="658368" y="1143000"/>
            <a:ext cx="3611880" cy="256032"/>
          </a:xfrm>
          <a:prstGeom prst="rect">
            <a:avLst/>
          </a:prstGeom>
          <a:noFill/>
          <a:ln/>
        </p:spPr>
        <p:txBody>
          <a:bodyPr wrap="square" lIns="0" tIns="0" rIns="0" bIns="0" rtlCol="0" anchor="t"/>
          <a:lstStyle/>
          <a:p>
            <a:pPr indent="0" marL="0">
              <a:buNone/>
            </a:pPr>
            <a:r>
              <a:rPr lang="it-IT" sz="1100" b="1" dirty="0">
                <a:solidFill>
                  <a:schemeClr val="accent1"/>
                </a:solidFill>
              </a:rPr>
              <a:t>Osservazione (esempio fittizio)</a:t>
            </a:r>
            <a:endParaRPr lang="it-IT" sz="1100" dirty="0"/>
          </a:p>
        </p:txBody>
      </p:sp>
      <p:sp>
        <p:nvSpPr>
          <p:cNvPr id="13" name="Text 10"/>
          <p:cNvSpPr txBox="1"/>
          <p:nvPr/>
        </p:nvSpPr>
        <p:spPr>
          <a:xfrm>
            <a:off x="658368" y="1435608"/>
            <a:ext cx="3611880" cy="987552"/>
          </a:xfrm>
          <a:prstGeom prst="rect">
            <a:avLst/>
          </a:prstGeom>
          <a:noFill/>
          <a:ln/>
        </p:spPr>
        <p:txBody>
          <a:bodyPr wrap="square" lIns="0" tIns="0" rIns="0" bIns="0" rtlCol="0" anchor="t"/>
          <a:lstStyle/>
          <a:p>
            <a:pPr indent="0" marL="0">
              <a:buNone/>
            </a:pPr>
            <a:r>
              <a:rPr lang="it-IT" sz="1300" dirty="0">
                <a:solidFill>
                  <a:schemeClr val="tx1"/>
                </a:solidFill>
              </a:rPr>
              <a:t>Scaffali metallici, alcuni pieni e alcuni vuoti, un carrello elevatore, luce artificiale.</a:t>
            </a:r>
            <a:endParaRPr lang="it-IT" sz="1300" dirty="0"/>
          </a:p>
        </p:txBody>
      </p:sp>
      <p:sp>
        <p:nvSpPr>
          <p:cNvPr id="14" name="interpretazioni"/>
          <p:cNvSpPr/>
          <p:nvPr/>
        </p:nvSpPr>
        <p:spPr>
          <a:xfrm>
            <a:off x="4709160" y="1051560"/>
            <a:ext cx="3977640" cy="1463040"/>
          </a:xfrm>
          <a:prstGeom prst="roundRect">
            <a:avLst>
              <a:gd name="adj" fmla="val 5000"/>
            </a:avLst>
          </a:prstGeom>
          <a:solidFill>
            <a:schemeClr val="bg2"/>
          </a:solidFill>
          <a:ln/>
        </p:spPr>
      </p:sp>
      <p:sp>
        <p:nvSpPr>
          <p:cNvPr id="15" name="Text 12"/>
          <p:cNvSpPr txBox="1"/>
          <p:nvPr/>
        </p:nvSpPr>
        <p:spPr>
          <a:xfrm>
            <a:off x="4892040" y="1115568"/>
            <a:ext cx="3657600" cy="274320"/>
          </a:xfrm>
          <a:prstGeom prst="rect">
            <a:avLst/>
          </a:prstGeom>
          <a:noFill/>
          <a:ln/>
        </p:spPr>
        <p:txBody>
          <a:bodyPr wrap="square" lIns="0" tIns="0" rIns="0" bIns="0" rtlCol="0" anchor="t"/>
          <a:lstStyle/>
          <a:p>
            <a:pPr indent="0" marL="0">
              <a:buNone/>
            </a:pPr>
            <a:r>
              <a:rPr lang="it-IT" sz="1100" b="1" dirty="0">
                <a:solidFill>
                  <a:schemeClr val="accent5"/>
                </a:solidFill>
              </a:rPr>
              <a:t>Interpretazioni possibili</a:t>
            </a:r>
            <a:endParaRPr lang="it-IT" sz="1100" dirty="0"/>
          </a:p>
        </p:txBody>
      </p:sp>
      <p:sp>
        <p:nvSpPr>
          <p:cNvPr id="16" name="Text 13"/>
          <p:cNvSpPr txBox="1"/>
          <p:nvPr/>
        </p:nvSpPr>
        <p:spPr>
          <a:xfrm>
            <a:off x="4892040" y="1417320"/>
            <a:ext cx="3657600" cy="1051560"/>
          </a:xfrm>
          <a:prstGeom prst="rect">
            <a:avLst/>
          </a:prstGeom>
          <a:noFill/>
          <a:ln/>
        </p:spPr>
        <p:txBody>
          <a:bodyPr wrap="square" lIns="0" tIns="0" rIns="0" bIns="0" rtlCol="0" anchor="t"/>
          <a:lstStyle/>
          <a:p>
            <a:pPr marL="177800" indent="-177800">
              <a:spcAft>
                <a:spcPts val="200"/>
              </a:spcAft>
              <a:buSzPct val="100000"/>
              <a:buChar char="•"/>
            </a:pPr>
            <a:r>
              <a:rPr lang="it-IT" sz="1200" dirty="0">
                <a:solidFill>
                  <a:schemeClr val="tx1"/>
                </a:solidFill>
              </a:rPr>
              <a:t>Carenza di scorte</a:t>
            </a:r>
            <a:endParaRPr lang="it-IT" sz="1200" dirty="0"/>
          </a:p>
          <a:p>
            <a:pPr marL="177800" indent="-177800">
              <a:spcAft>
                <a:spcPts val="200"/>
              </a:spcAft>
              <a:buSzPct val="100000"/>
              <a:buChar char="•"/>
            </a:pPr>
            <a:r>
              <a:rPr lang="it-IT" sz="1200" dirty="0">
                <a:solidFill>
                  <a:schemeClr val="tx1"/>
                </a:solidFill>
              </a:rPr>
              <a:t>Area svuotata per un inventario</a:t>
            </a:r>
            <a:endParaRPr lang="it-IT" sz="1200" dirty="0"/>
          </a:p>
          <a:p>
            <a:pPr marL="177800" indent="-177800">
              <a:spcAft>
                <a:spcPts val="200"/>
              </a:spcAft>
              <a:buSzPct val="100000"/>
              <a:buChar char="•"/>
            </a:pPr>
            <a:r>
              <a:rPr lang="it-IT" sz="1200" dirty="0">
                <a:solidFill>
                  <a:schemeClr val="tx1"/>
                </a:solidFill>
              </a:rPr>
              <a:t>Reparto in riorganizzazione</a:t>
            </a:r>
            <a:endParaRPr lang="it-IT" sz="1200" dirty="0"/>
          </a:p>
          <a:p>
            <a:pPr marL="177800" indent="-177800">
              <a:spcAft>
                <a:spcPts val="200"/>
              </a:spcAft>
              <a:buSzPct val="100000"/>
              <a:buChar char="•"/>
            </a:pPr>
            <a:r>
              <a:rPr lang="it-IT" sz="1200" dirty="0">
                <a:solidFill>
                  <a:schemeClr val="tx1"/>
                </a:solidFill>
              </a:rPr>
              <a:t>Magazzino nuovo</a:t>
            </a:r>
            <a:endParaRPr lang="it-IT" sz="1200" dirty="0"/>
          </a:p>
        </p:txBody>
      </p:sp>
      <p:sp>
        <p:nvSpPr>
          <p:cNvPr id="17" name="Text 14"/>
          <p:cNvSpPr txBox="1"/>
          <p:nvPr/>
        </p:nvSpPr>
        <p:spPr>
          <a:xfrm>
            <a:off x="457200" y="2697480"/>
            <a:ext cx="8229600" cy="301752"/>
          </a:xfrm>
          <a:prstGeom prst="rect">
            <a:avLst/>
          </a:prstGeom>
          <a:noFill/>
          <a:ln/>
        </p:spPr>
        <p:txBody>
          <a:bodyPr wrap="square" lIns="0" tIns="0" rIns="0" bIns="0" rtlCol="0" anchor="t"/>
          <a:lstStyle/>
          <a:p>
            <a:pPr indent="0" marL="0">
              <a:buNone/>
            </a:pPr>
            <a:r>
              <a:rPr lang="it-IT" sz="1300" b="1" dirty="0">
                <a:solidFill>
                  <a:schemeClr val="tx1"/>
                </a:solidFill>
              </a:rPr>
              <a:t>Domande a cui l'immagine non risponde</a:t>
            </a:r>
            <a:endParaRPr lang="it-IT" sz="1300" dirty="0"/>
          </a:p>
        </p:txBody>
      </p:sp>
      <p:sp>
        <p:nvSpPr>
          <p:cNvPr id="18" name="blocco Che cosa significa?"/>
          <p:cNvSpPr/>
          <p:nvPr/>
        </p:nvSpPr>
        <p:spPr>
          <a:xfrm>
            <a:off x="457200" y="3044952"/>
            <a:ext cx="2651760" cy="502920"/>
          </a:xfrm>
          <a:prstGeom prst="roundRect">
            <a:avLst>
              <a:gd name="adj" fmla="val 21818"/>
            </a:avLst>
          </a:prstGeom>
          <a:solidFill>
            <a:schemeClr val="bg2"/>
          </a:solidFill>
          <a:ln/>
        </p:spPr>
      </p:sp>
      <p:sp>
        <p:nvSpPr>
          <p:cNvPr id="19" name="Text 16"/>
          <p:cNvSpPr txBox="1"/>
          <p:nvPr/>
        </p:nvSpPr>
        <p:spPr>
          <a:xfrm>
            <a:off x="502920" y="3044952"/>
            <a:ext cx="2560320" cy="502920"/>
          </a:xfrm>
          <a:prstGeom prst="rect">
            <a:avLst/>
          </a:prstGeom>
          <a:noFill/>
          <a:ln/>
        </p:spPr>
        <p:txBody>
          <a:bodyPr wrap="square" lIns="0" tIns="0" rIns="0" bIns="0" rtlCol="0" anchor="ctr"/>
          <a:lstStyle/>
          <a:p>
            <a:pPr algn="ctr" indent="0" marL="0">
              <a:buNone/>
            </a:pPr>
            <a:r>
              <a:rPr lang="it-IT" sz="1200" b="1" dirty="0">
                <a:solidFill>
                  <a:schemeClr val="tx1"/>
                </a:solidFill>
              </a:rPr>
              <a:t>Che cosa significa?</a:t>
            </a:r>
            <a:endParaRPr lang="it-IT" sz="1200" dirty="0"/>
          </a:p>
        </p:txBody>
      </p:sp>
      <p:sp>
        <p:nvSpPr>
          <p:cNvPr id="20" name="blocco Quando è stata scattata?"/>
          <p:cNvSpPr/>
          <p:nvPr/>
        </p:nvSpPr>
        <p:spPr>
          <a:xfrm>
            <a:off x="3246120" y="3044952"/>
            <a:ext cx="2651760" cy="502920"/>
          </a:xfrm>
          <a:prstGeom prst="roundRect">
            <a:avLst>
              <a:gd name="adj" fmla="val 21818"/>
            </a:avLst>
          </a:prstGeom>
          <a:solidFill>
            <a:schemeClr val="bg2"/>
          </a:solidFill>
          <a:ln/>
        </p:spPr>
      </p:sp>
      <p:sp>
        <p:nvSpPr>
          <p:cNvPr id="21" name="Text 18"/>
          <p:cNvSpPr txBox="1"/>
          <p:nvPr/>
        </p:nvSpPr>
        <p:spPr>
          <a:xfrm>
            <a:off x="3291840" y="3044952"/>
            <a:ext cx="2560320" cy="502920"/>
          </a:xfrm>
          <a:prstGeom prst="rect">
            <a:avLst/>
          </a:prstGeom>
          <a:noFill/>
          <a:ln/>
        </p:spPr>
        <p:txBody>
          <a:bodyPr wrap="square" lIns="0" tIns="0" rIns="0" bIns="0" rtlCol="0" anchor="ctr"/>
          <a:lstStyle/>
          <a:p>
            <a:pPr algn="ctr" indent="0" marL="0">
              <a:buNone/>
            </a:pPr>
            <a:r>
              <a:rPr lang="it-IT" sz="1200" b="1" dirty="0">
                <a:solidFill>
                  <a:schemeClr val="tx1"/>
                </a:solidFill>
              </a:rPr>
              <a:t>Quando è stata scattata?</a:t>
            </a:r>
            <a:endParaRPr lang="it-IT" sz="1200" dirty="0"/>
          </a:p>
        </p:txBody>
      </p:sp>
      <p:sp>
        <p:nvSpPr>
          <p:cNvPr id="22" name="blocco Da dove viene?"/>
          <p:cNvSpPr/>
          <p:nvPr/>
        </p:nvSpPr>
        <p:spPr>
          <a:xfrm>
            <a:off x="6035040" y="3044952"/>
            <a:ext cx="2651760" cy="502920"/>
          </a:xfrm>
          <a:prstGeom prst="roundRect">
            <a:avLst>
              <a:gd name="adj" fmla="val 21818"/>
            </a:avLst>
          </a:prstGeom>
          <a:solidFill>
            <a:schemeClr val="bg2"/>
          </a:solidFill>
          <a:ln/>
        </p:spPr>
      </p:sp>
      <p:sp>
        <p:nvSpPr>
          <p:cNvPr id="23" name="Text 20"/>
          <p:cNvSpPr txBox="1"/>
          <p:nvPr/>
        </p:nvSpPr>
        <p:spPr>
          <a:xfrm>
            <a:off x="6080760" y="3044952"/>
            <a:ext cx="2560320" cy="502920"/>
          </a:xfrm>
          <a:prstGeom prst="rect">
            <a:avLst/>
          </a:prstGeom>
          <a:noFill/>
          <a:ln/>
        </p:spPr>
        <p:txBody>
          <a:bodyPr wrap="square" lIns="0" tIns="0" rIns="0" bIns="0" rtlCol="0" anchor="ctr"/>
          <a:lstStyle/>
          <a:p>
            <a:pPr algn="ctr" indent="0" marL="0">
              <a:buNone/>
            </a:pPr>
            <a:r>
              <a:rPr lang="it-IT" sz="1200" b="1" dirty="0">
                <a:solidFill>
                  <a:schemeClr val="tx1"/>
                </a:solidFill>
              </a:rPr>
              <a:t>Da dove viene?</a:t>
            </a:r>
            <a:endParaRPr lang="it-IT" sz="1200" dirty="0"/>
          </a:p>
        </p:txBody>
      </p:sp>
      <p:sp>
        <p:nvSpPr>
          <p:cNvPr id="24" name="messaggio"/>
          <p:cNvSpPr/>
          <p:nvPr/>
        </p:nvSpPr>
        <p:spPr>
          <a:xfrm>
            <a:off x="457200" y="3749040"/>
            <a:ext cx="8229600" cy="731520"/>
          </a:xfrm>
          <a:prstGeom prst="roundRect">
            <a:avLst>
              <a:gd name="adj" fmla="val 10000"/>
            </a:avLst>
          </a:prstGeom>
          <a:solidFill>
            <a:schemeClr val="tx1"/>
          </a:solidFill>
          <a:ln/>
        </p:spPr>
      </p:sp>
      <p:sp>
        <p:nvSpPr>
          <p:cNvPr id="25" name="Text 22"/>
          <p:cNvSpPr txBox="1"/>
          <p:nvPr/>
        </p:nvSpPr>
        <p:spPr>
          <a:xfrm>
            <a:off x="640080" y="3749040"/>
            <a:ext cx="7863840" cy="731520"/>
          </a:xfrm>
          <a:prstGeom prst="rect">
            <a:avLst/>
          </a:prstGeom>
          <a:noFill/>
          <a:ln/>
        </p:spPr>
        <p:txBody>
          <a:bodyPr wrap="square" lIns="0" tIns="0" rIns="0" bIns="0" rtlCol="0" anchor="ctr"/>
          <a:lstStyle/>
          <a:p>
            <a:pPr indent="0" marL="0">
              <a:buNone/>
            </a:pPr>
            <a:r>
              <a:rPr lang="it-IT" sz="1300" dirty="0">
                <a:solidFill>
                  <a:schemeClr val="bg1"/>
                </a:solidFill>
              </a:rPr>
              <a:t>Pratica utile: chiedere di separare ciò che il sistema osserva da ciò che ipotizza. Il contesto lo aggiungiamo noi.</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15</a:t>
            </a:fld>
            <a:endParaRPr lang="it-IT"/>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Immagini e persone</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Trasformare</a:t>
            </a:r>
            <a:endParaRPr lang="it-IT" sz="900" dirty="0"/>
          </a:p>
        </p:txBody>
      </p:sp>
      <p:sp>
        <p:nvSpPr>
          <p:cNvPr id="10" name="Dati personali"/>
          <p:cNvSpPr/>
          <p:nvPr/>
        </p:nvSpPr>
        <p:spPr>
          <a:xfrm>
            <a:off x="457200" y="1097280"/>
            <a:ext cx="2621280" cy="1920240"/>
          </a:xfrm>
          <a:prstGeom prst="roundRect">
            <a:avLst>
              <a:gd name="adj" fmla="val 3810"/>
            </a:avLst>
          </a:prstGeom>
          <a:solidFill>
            <a:schemeClr val="bg2"/>
          </a:solidFill>
          <a:ln/>
        </p:spPr>
      </p:sp>
      <p:sp>
        <p:nvSpPr>
          <p:cNvPr id="11" name="cerchio FiUser"/>
          <p:cNvSpPr/>
          <p:nvPr/>
        </p:nvSpPr>
        <p:spPr>
          <a:xfrm>
            <a:off x="621792" y="1261872"/>
            <a:ext cx="438912" cy="438912"/>
          </a:xfrm>
          <a:prstGeom prst="ellipse">
            <a:avLst/>
          </a:prstGeom>
          <a:solidFill>
            <a:schemeClr val="accent1"/>
          </a:solidFill>
          <a:ln/>
        </p:spPr>
      </p:sp>
      <p:pic>
        <p:nvPicPr>
          <p:cNvPr id="12" name="Image 0" descr="FiUser">    </p:cNvPr>
          <p:cNvPicPr>
            <a:picLocks noChangeAspect="1"/>
          </p:cNvPicPr>
          <p:nvPr/>
        </p:nvPicPr>
        <p:blipFill>
          <a:blip r:embed="rId1"/>
          <a:stretch>
            <a:fillRect/>
          </a:stretch>
        </p:blipFill>
        <p:spPr>
          <a:xfrm>
            <a:off x="731520" y="1371600"/>
            <a:ext cx="219456" cy="219456"/>
          </a:xfrm>
          <a:prstGeom prst="rect">
            <a:avLst/>
          </a:prstGeom>
        </p:spPr>
      </p:pic>
      <p:sp>
        <p:nvSpPr>
          <p:cNvPr id="13" name="Text 9"/>
          <p:cNvSpPr txBox="1"/>
          <p:nvPr/>
        </p:nvSpPr>
        <p:spPr>
          <a:xfrm>
            <a:off x="1170432" y="1225296"/>
            <a:ext cx="1798320" cy="512064"/>
          </a:xfrm>
          <a:prstGeom prst="rect">
            <a:avLst/>
          </a:prstGeom>
          <a:noFill/>
          <a:ln/>
        </p:spPr>
        <p:txBody>
          <a:bodyPr wrap="square" lIns="0" tIns="0" rIns="0" bIns="0" rtlCol="0" anchor="ctr"/>
          <a:lstStyle/>
          <a:p>
            <a:pPr indent="0" marL="0">
              <a:buNone/>
            </a:pPr>
            <a:r>
              <a:rPr lang="it-IT" sz="1400" b="1" dirty="0">
                <a:solidFill>
                  <a:schemeClr val="tx1"/>
                </a:solidFill>
              </a:rPr>
              <a:t>Dati personali</a:t>
            </a:r>
            <a:endParaRPr lang="it-IT" sz="1400" dirty="0"/>
          </a:p>
        </p:txBody>
      </p:sp>
      <p:sp>
        <p:nvSpPr>
          <p:cNvPr id="14" name="Text 10"/>
          <p:cNvSpPr txBox="1"/>
          <p:nvPr/>
        </p:nvSpPr>
        <p:spPr>
          <a:xfrm>
            <a:off x="621792" y="1810512"/>
            <a:ext cx="2292096" cy="1115568"/>
          </a:xfrm>
          <a:prstGeom prst="rect">
            <a:avLst/>
          </a:prstGeom>
          <a:noFill/>
          <a:ln/>
        </p:spPr>
        <p:txBody>
          <a:bodyPr wrap="square" lIns="0" tIns="0" rIns="0" bIns="0" rtlCol="0" anchor="t"/>
          <a:lstStyle/>
          <a:p>
            <a:pPr indent="0" marL="0">
              <a:buNone/>
            </a:pPr>
            <a:r>
              <a:rPr lang="it-IT" sz="1200" dirty="0">
                <a:solidFill>
                  <a:schemeClr val="tx2"/>
                </a:solidFill>
              </a:rPr>
              <a:t>Volti e immagini sono dati personali: solo strumenti autorizzati, finalità legittime</a:t>
            </a:r>
            <a:endParaRPr lang="it-IT" sz="1200" dirty="0"/>
          </a:p>
        </p:txBody>
      </p:sp>
      <p:sp>
        <p:nvSpPr>
          <p:cNvPr id="15" name="Identificazione"/>
          <p:cNvSpPr/>
          <p:nvPr/>
        </p:nvSpPr>
        <p:spPr>
          <a:xfrm>
            <a:off x="3261360" y="1097280"/>
            <a:ext cx="2621280" cy="1920240"/>
          </a:xfrm>
          <a:prstGeom prst="roundRect">
            <a:avLst>
              <a:gd name="adj" fmla="val 3810"/>
            </a:avLst>
          </a:prstGeom>
          <a:solidFill>
            <a:schemeClr val="bg2"/>
          </a:solidFill>
          <a:ln/>
        </p:spPr>
      </p:sp>
      <p:sp>
        <p:nvSpPr>
          <p:cNvPr id="16" name="cerchio FiUserX"/>
          <p:cNvSpPr/>
          <p:nvPr/>
        </p:nvSpPr>
        <p:spPr>
          <a:xfrm>
            <a:off x="3425952" y="1261872"/>
            <a:ext cx="438912" cy="438912"/>
          </a:xfrm>
          <a:prstGeom prst="ellipse">
            <a:avLst/>
          </a:prstGeom>
          <a:solidFill>
            <a:schemeClr val="accent1"/>
          </a:solidFill>
          <a:ln/>
        </p:spPr>
      </p:sp>
      <p:pic>
        <p:nvPicPr>
          <p:cNvPr id="17" name="Image 1" descr="FiUserX">    </p:cNvPr>
          <p:cNvPicPr>
            <a:picLocks noChangeAspect="1"/>
          </p:cNvPicPr>
          <p:nvPr/>
        </p:nvPicPr>
        <p:blipFill>
          <a:blip r:embed="rId2"/>
          <a:stretch>
            <a:fillRect/>
          </a:stretch>
        </p:blipFill>
        <p:spPr>
          <a:xfrm>
            <a:off x="3535680" y="1371600"/>
            <a:ext cx="219456" cy="219456"/>
          </a:xfrm>
          <a:prstGeom prst="rect">
            <a:avLst/>
          </a:prstGeom>
        </p:spPr>
      </p:pic>
      <p:sp>
        <p:nvSpPr>
          <p:cNvPr id="18" name="Text 13"/>
          <p:cNvSpPr txBox="1"/>
          <p:nvPr/>
        </p:nvSpPr>
        <p:spPr>
          <a:xfrm>
            <a:off x="3974592" y="1225296"/>
            <a:ext cx="1798320" cy="512064"/>
          </a:xfrm>
          <a:prstGeom prst="rect">
            <a:avLst/>
          </a:prstGeom>
          <a:noFill/>
          <a:ln/>
        </p:spPr>
        <p:txBody>
          <a:bodyPr wrap="square" lIns="0" tIns="0" rIns="0" bIns="0" rtlCol="0" anchor="ctr"/>
          <a:lstStyle/>
          <a:p>
            <a:pPr indent="0" marL="0">
              <a:buNone/>
            </a:pPr>
            <a:r>
              <a:rPr lang="it-IT" sz="1400" b="1" dirty="0">
                <a:solidFill>
                  <a:schemeClr val="tx1"/>
                </a:solidFill>
              </a:rPr>
              <a:t>Identificazione</a:t>
            </a:r>
            <a:endParaRPr lang="it-IT" sz="1400" dirty="0"/>
          </a:p>
        </p:txBody>
      </p:sp>
      <p:sp>
        <p:nvSpPr>
          <p:cNvPr id="19" name="Text 14"/>
          <p:cNvSpPr txBox="1"/>
          <p:nvPr/>
        </p:nvSpPr>
        <p:spPr>
          <a:xfrm>
            <a:off x="3425952" y="1810512"/>
            <a:ext cx="2292096" cy="1115568"/>
          </a:xfrm>
          <a:prstGeom prst="rect">
            <a:avLst/>
          </a:prstGeom>
          <a:noFill/>
          <a:ln/>
        </p:spPr>
        <p:txBody>
          <a:bodyPr wrap="square" lIns="0" tIns="0" rIns="0" bIns="0" rtlCol="0" anchor="t"/>
          <a:lstStyle/>
          <a:p>
            <a:pPr indent="0" marL="0">
              <a:buNone/>
            </a:pPr>
            <a:r>
              <a:rPr lang="it-IT" sz="1200" dirty="0">
                <a:solidFill>
                  <a:schemeClr val="tx2"/>
                </a:solidFill>
              </a:rPr>
              <a:t>Molti strumenti non identificano dal volto; limiti normativi specifici</a:t>
            </a:r>
            <a:endParaRPr lang="it-IT" sz="1200" dirty="0"/>
          </a:p>
        </p:txBody>
      </p:sp>
      <p:sp>
        <p:nvSpPr>
          <p:cNvPr id="20" name="Inferenze sulle persone"/>
          <p:cNvSpPr/>
          <p:nvPr/>
        </p:nvSpPr>
        <p:spPr>
          <a:xfrm>
            <a:off x="6065520" y="1097280"/>
            <a:ext cx="2621280" cy="1920240"/>
          </a:xfrm>
          <a:prstGeom prst="roundRect">
            <a:avLst>
              <a:gd name="adj" fmla="val 3810"/>
            </a:avLst>
          </a:prstGeom>
          <a:solidFill>
            <a:schemeClr val="bg2"/>
          </a:solidFill>
          <a:ln/>
        </p:spPr>
      </p:sp>
      <p:sp>
        <p:nvSpPr>
          <p:cNvPr id="21" name="cerchio FiAlertTriangle"/>
          <p:cNvSpPr/>
          <p:nvPr/>
        </p:nvSpPr>
        <p:spPr>
          <a:xfrm>
            <a:off x="6230112" y="1261872"/>
            <a:ext cx="438912" cy="438912"/>
          </a:xfrm>
          <a:prstGeom prst="ellipse">
            <a:avLst/>
          </a:prstGeom>
          <a:solidFill>
            <a:schemeClr val="accent1"/>
          </a:solidFill>
          <a:ln/>
        </p:spPr>
      </p:sp>
      <p:pic>
        <p:nvPicPr>
          <p:cNvPr id="22" name="Image 2" descr="FiAlertTriangle">    </p:cNvPr>
          <p:cNvPicPr>
            <a:picLocks noChangeAspect="1"/>
          </p:cNvPicPr>
          <p:nvPr/>
        </p:nvPicPr>
        <p:blipFill>
          <a:blip r:embed="rId3"/>
          <a:stretch>
            <a:fillRect/>
          </a:stretch>
        </p:blipFill>
        <p:spPr>
          <a:xfrm>
            <a:off x="6339840" y="1371600"/>
            <a:ext cx="219456" cy="219456"/>
          </a:xfrm>
          <a:prstGeom prst="rect">
            <a:avLst/>
          </a:prstGeom>
        </p:spPr>
      </p:pic>
      <p:sp>
        <p:nvSpPr>
          <p:cNvPr id="23" name="Text 17"/>
          <p:cNvSpPr txBox="1"/>
          <p:nvPr/>
        </p:nvSpPr>
        <p:spPr>
          <a:xfrm>
            <a:off x="6778752" y="1225296"/>
            <a:ext cx="1798320" cy="512064"/>
          </a:xfrm>
          <a:prstGeom prst="rect">
            <a:avLst/>
          </a:prstGeom>
          <a:noFill/>
          <a:ln/>
        </p:spPr>
        <p:txBody>
          <a:bodyPr wrap="square" lIns="0" tIns="0" rIns="0" bIns="0" rtlCol="0" anchor="ctr"/>
          <a:lstStyle/>
          <a:p>
            <a:pPr indent="0" marL="0">
              <a:buNone/>
            </a:pPr>
            <a:r>
              <a:rPr lang="it-IT" sz="1400" b="1" dirty="0">
                <a:solidFill>
                  <a:schemeClr val="tx1"/>
                </a:solidFill>
              </a:rPr>
              <a:t>Inferenze sulle persone</a:t>
            </a:r>
            <a:endParaRPr lang="it-IT" sz="1400" dirty="0"/>
          </a:p>
        </p:txBody>
      </p:sp>
      <p:sp>
        <p:nvSpPr>
          <p:cNvPr id="24" name="Text 18"/>
          <p:cNvSpPr txBox="1"/>
          <p:nvPr/>
        </p:nvSpPr>
        <p:spPr>
          <a:xfrm>
            <a:off x="6230112" y="1810512"/>
            <a:ext cx="2292096" cy="1115568"/>
          </a:xfrm>
          <a:prstGeom prst="rect">
            <a:avLst/>
          </a:prstGeom>
          <a:noFill/>
          <a:ln/>
        </p:spPr>
        <p:txBody>
          <a:bodyPr wrap="square" lIns="0" tIns="0" rIns="0" bIns="0" rtlCol="0" anchor="t"/>
          <a:lstStyle/>
          <a:p>
            <a:pPr indent="0" marL="0">
              <a:buNone/>
            </a:pPr>
            <a:r>
              <a:rPr lang="it-IT" sz="1200" dirty="0">
                <a:solidFill>
                  <a:schemeClr val="tx2"/>
                </a:solidFill>
              </a:rPr>
              <a:t>Età, stato d'animo, intenzioni: stime incerte, rischio di stereotipi</a:t>
            </a:r>
            <a:endParaRPr lang="it-IT" sz="1200" dirty="0"/>
          </a:p>
        </p:txBody>
      </p:sp>
      <p:sp>
        <p:nvSpPr>
          <p:cNvPr id="25" name="messaggio"/>
          <p:cNvSpPr/>
          <p:nvPr/>
        </p:nvSpPr>
        <p:spPr>
          <a:xfrm>
            <a:off x="457200" y="3246120"/>
            <a:ext cx="8229600" cy="685800"/>
          </a:xfrm>
          <a:prstGeom prst="roundRect">
            <a:avLst>
              <a:gd name="adj" fmla="val 10667"/>
            </a:avLst>
          </a:prstGeom>
          <a:solidFill>
            <a:schemeClr val="tx1"/>
          </a:solidFill>
          <a:ln/>
        </p:spPr>
      </p:sp>
      <p:sp>
        <p:nvSpPr>
          <p:cNvPr id="26" name="Text 20"/>
          <p:cNvSpPr txBox="1"/>
          <p:nvPr/>
        </p:nvSpPr>
        <p:spPr>
          <a:xfrm>
            <a:off x="640080" y="3246120"/>
            <a:ext cx="7863840" cy="685800"/>
          </a:xfrm>
          <a:prstGeom prst="rect">
            <a:avLst/>
          </a:prstGeom>
          <a:noFill/>
          <a:ln/>
        </p:spPr>
        <p:txBody>
          <a:bodyPr wrap="square" lIns="0" tIns="0" rIns="0" bIns="0" rtlCol="0" anchor="ctr"/>
          <a:lstStyle/>
          <a:p>
            <a:pPr indent="0" marL="0">
              <a:buNone/>
            </a:pPr>
            <a:r>
              <a:rPr lang="it-IT" sz="1500" dirty="0">
                <a:solidFill>
                  <a:schemeClr val="bg1"/>
                </a:solidFill>
              </a:rPr>
              <a:t>Descrivere una scena è una cosa; giudicare le persone che vi compaiono è un'altra.</a:t>
            </a:r>
            <a:endParaRPr lang="it-IT" sz="1500" dirty="0"/>
          </a:p>
        </p:txBody>
      </p:sp>
      <p:sp>
        <p:nvSpPr>
          <p:cNvPr id="27" name="Text 21"/>
          <p:cNvSpPr txBox="1"/>
          <p:nvPr/>
        </p:nvSpPr>
        <p:spPr>
          <a:xfrm>
            <a:off x="457200" y="4069080"/>
            <a:ext cx="8229600" cy="320040"/>
          </a:xfrm>
          <a:prstGeom prst="rect">
            <a:avLst/>
          </a:prstGeom>
          <a:noFill/>
          <a:ln/>
        </p:spPr>
        <p:txBody>
          <a:bodyPr wrap="square" lIns="0" tIns="0" rIns="0" bIns="0" rtlCol="0" anchor="t"/>
          <a:lstStyle/>
          <a:p>
            <a:pPr indent="0" marL="0">
              <a:buNone/>
            </a:pPr>
            <a:r>
              <a:rPr lang="it-IT" sz="1200" i="1" dirty="0">
                <a:solidFill>
                  <a:schemeClr val="tx2"/>
                </a:solidFill>
              </a:rPr>
              <a:t>Volti e inferenze sulle persone sono soggetti a regole specifiche: in caso di dubbio, chiedere prima.</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16</a:t>
            </a:fld>
            <a:endParaRPr lang="it-I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10.3</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Generazione e trasformazione delle immagini</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Illustrazioni, concept, varianti e modifiche in pochi minuti: più creatività e produttività, con requisiti professionali da verificare</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17</a:t>
            </a:fld>
            <a:endParaRPr lang="it-IT"/>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Dalla descrizione all'immagine</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Trasformare</a:t>
            </a:r>
            <a:endParaRPr lang="it-IT" sz="900" dirty="0"/>
          </a:p>
        </p:txBody>
      </p:sp>
      <p:sp>
        <p:nvSpPr>
          <p:cNvPr id="10" name="riquadro Una descrizione può indicare"/>
          <p:cNvSpPr/>
          <p:nvPr/>
        </p:nvSpPr>
        <p:spPr>
          <a:xfrm>
            <a:off x="457200" y="1051560"/>
            <a:ext cx="3977640" cy="1508760"/>
          </a:xfrm>
          <a:prstGeom prst="roundRect">
            <a:avLst>
              <a:gd name="adj" fmla="val 4848"/>
            </a:avLst>
          </a:prstGeom>
          <a:solidFill>
            <a:schemeClr val="bg2"/>
          </a:solidFill>
          <a:ln/>
        </p:spPr>
      </p:sp>
      <p:sp>
        <p:nvSpPr>
          <p:cNvPr id="11" name="barra"/>
          <p:cNvSpPr/>
          <p:nvPr/>
        </p:nvSpPr>
        <p:spPr>
          <a:xfrm>
            <a:off x="457200" y="1161288"/>
            <a:ext cx="54864" cy="1289304"/>
          </a:xfrm>
          <a:prstGeom prst="rect">
            <a:avLst/>
          </a:prstGeom>
          <a:solidFill>
            <a:schemeClr val="accent1"/>
          </a:solidFill>
          <a:ln/>
        </p:spPr>
      </p:sp>
      <p:sp>
        <p:nvSpPr>
          <p:cNvPr id="12" name="Text 9"/>
          <p:cNvSpPr txBox="1"/>
          <p:nvPr/>
        </p:nvSpPr>
        <p:spPr>
          <a:xfrm>
            <a:off x="658368" y="1143000"/>
            <a:ext cx="3611880" cy="256032"/>
          </a:xfrm>
          <a:prstGeom prst="rect">
            <a:avLst/>
          </a:prstGeom>
          <a:noFill/>
          <a:ln/>
        </p:spPr>
        <p:txBody>
          <a:bodyPr wrap="square" lIns="0" tIns="0" rIns="0" bIns="0" rtlCol="0" anchor="t"/>
          <a:lstStyle/>
          <a:p>
            <a:pPr indent="0" marL="0">
              <a:buNone/>
            </a:pPr>
            <a:r>
              <a:rPr lang="it-IT" sz="1100" b="1" dirty="0">
                <a:solidFill>
                  <a:schemeClr val="accent1"/>
                </a:solidFill>
              </a:rPr>
              <a:t>Una descrizione può indicare</a:t>
            </a:r>
            <a:endParaRPr lang="it-IT" sz="1100" dirty="0"/>
          </a:p>
        </p:txBody>
      </p:sp>
      <p:sp>
        <p:nvSpPr>
          <p:cNvPr id="13" name="Text 10"/>
          <p:cNvSpPr txBox="1"/>
          <p:nvPr/>
        </p:nvSpPr>
        <p:spPr>
          <a:xfrm>
            <a:off x="658368" y="1435608"/>
            <a:ext cx="3611880" cy="1033272"/>
          </a:xfrm>
          <a:prstGeom prst="rect">
            <a:avLst/>
          </a:prstGeom>
          <a:noFill/>
          <a:ln/>
        </p:spPr>
        <p:txBody>
          <a:bodyPr wrap="square" lIns="0" tIns="0" rIns="0" bIns="0" rtlCol="0" anchor="t"/>
          <a:lstStyle/>
          <a:p>
            <a:pPr indent="0" marL="0">
              <a:buNone/>
            </a:pPr>
            <a:r>
              <a:rPr lang="it-IT" sz="1300" dirty="0">
                <a:solidFill>
                  <a:schemeClr val="tx1"/>
                </a:solidFill>
              </a:rPr>
              <a:t>Soggetto, composizione, stile, colori, atmosfera, formato.</a:t>
            </a:r>
            <a:endParaRPr lang="it-IT" sz="1300" dirty="0"/>
          </a:p>
        </p:txBody>
      </p:sp>
      <p:sp>
        <p:nvSpPr>
          <p:cNvPr id="14" name="scheda Il sistema completa i dettagli"/>
          <p:cNvSpPr/>
          <p:nvPr/>
        </p:nvSpPr>
        <p:spPr>
          <a:xfrm>
            <a:off x="4709160" y="1051560"/>
            <a:ext cx="3977640" cy="1508760"/>
          </a:xfrm>
          <a:prstGeom prst="roundRect">
            <a:avLst>
              <a:gd name="adj" fmla="val 4848"/>
            </a:avLst>
          </a:prstGeom>
          <a:solidFill>
            <a:schemeClr val="accent6"/>
          </a:solidFill>
          <a:ln/>
        </p:spPr>
      </p:sp>
      <p:sp>
        <p:nvSpPr>
          <p:cNvPr id="15" name="cerchio FiStar"/>
          <p:cNvSpPr/>
          <p:nvPr/>
        </p:nvSpPr>
        <p:spPr>
          <a:xfrm>
            <a:off x="4892040" y="1234440"/>
            <a:ext cx="457200" cy="457200"/>
          </a:xfrm>
          <a:prstGeom prst="ellipse">
            <a:avLst/>
          </a:prstGeom>
          <a:solidFill>
            <a:schemeClr val="accent1"/>
          </a:solidFill>
          <a:ln/>
        </p:spPr>
      </p:sp>
      <p:pic>
        <p:nvPicPr>
          <p:cNvPr id="16" name="Image 0" descr="FiStar">    </p:cNvPr>
          <p:cNvPicPr>
            <a:picLocks noChangeAspect="1"/>
          </p:cNvPicPr>
          <p:nvPr/>
        </p:nvPicPr>
        <p:blipFill>
          <a:blip r:embed="rId1"/>
          <a:stretch>
            <a:fillRect/>
          </a:stretch>
        </p:blipFill>
        <p:spPr>
          <a:xfrm>
            <a:off x="5006340" y="1348740"/>
            <a:ext cx="228600" cy="228600"/>
          </a:xfrm>
          <a:prstGeom prst="rect">
            <a:avLst/>
          </a:prstGeom>
        </p:spPr>
      </p:pic>
      <p:sp>
        <p:nvSpPr>
          <p:cNvPr id="17" name="Text 13"/>
          <p:cNvSpPr txBox="1"/>
          <p:nvPr/>
        </p:nvSpPr>
        <p:spPr>
          <a:xfrm>
            <a:off x="5486400" y="1234440"/>
            <a:ext cx="3017520" cy="457200"/>
          </a:xfrm>
          <a:prstGeom prst="rect">
            <a:avLst/>
          </a:prstGeom>
          <a:noFill/>
          <a:ln/>
        </p:spPr>
        <p:txBody>
          <a:bodyPr wrap="square" lIns="0" tIns="0" rIns="0" bIns="0" rtlCol="0" anchor="ctr"/>
          <a:lstStyle/>
          <a:p>
            <a:pPr indent="0" marL="0">
              <a:buNone/>
            </a:pPr>
            <a:r>
              <a:rPr lang="it-IT" sz="1400" b="1" dirty="0">
                <a:solidFill>
                  <a:schemeClr val="tx1"/>
                </a:solidFill>
              </a:rPr>
              <a:t>Il sistema completa i dettagli</a:t>
            </a:r>
            <a:endParaRPr lang="it-IT" sz="1400" dirty="0"/>
          </a:p>
        </p:txBody>
      </p:sp>
      <p:sp>
        <p:nvSpPr>
          <p:cNvPr id="18" name="Text 14"/>
          <p:cNvSpPr txBox="1"/>
          <p:nvPr/>
        </p:nvSpPr>
        <p:spPr>
          <a:xfrm>
            <a:off x="4892040" y="1828800"/>
            <a:ext cx="3611880" cy="621792"/>
          </a:xfrm>
          <a:prstGeom prst="rect">
            <a:avLst/>
          </a:prstGeom>
          <a:noFill/>
          <a:ln/>
        </p:spPr>
        <p:txBody>
          <a:bodyPr wrap="square" lIns="0" tIns="0" rIns="0" bIns="0" rtlCol="0" anchor="t"/>
          <a:lstStyle/>
          <a:p>
            <a:pPr indent="0" marL="0">
              <a:buNone/>
            </a:pPr>
            <a:r>
              <a:rPr lang="it-IT" sz="1200" dirty="0">
                <a:solidFill>
                  <a:schemeClr val="tx2"/>
                </a:solidFill>
              </a:rPr>
              <a:t>Luce, sfondo, disposizione: propone soluzioni a cui non si era pensato.</a:t>
            </a:r>
            <a:endParaRPr lang="it-IT" sz="1200" dirty="0"/>
          </a:p>
        </p:txBody>
      </p:sp>
      <p:sp>
        <p:nvSpPr>
          <p:cNvPr id="19" name="scheda Affinare per passi"/>
          <p:cNvSpPr/>
          <p:nvPr/>
        </p:nvSpPr>
        <p:spPr>
          <a:xfrm>
            <a:off x="457200" y="2743200"/>
            <a:ext cx="3977640" cy="1325880"/>
          </a:xfrm>
          <a:prstGeom prst="roundRect">
            <a:avLst>
              <a:gd name="adj" fmla="val 5517"/>
            </a:avLst>
          </a:prstGeom>
          <a:solidFill>
            <a:schemeClr val="bg2"/>
          </a:solidFill>
          <a:ln/>
        </p:spPr>
      </p:sp>
      <p:sp>
        <p:nvSpPr>
          <p:cNvPr id="20" name="cerchio FiSliders"/>
          <p:cNvSpPr/>
          <p:nvPr/>
        </p:nvSpPr>
        <p:spPr>
          <a:xfrm>
            <a:off x="640080" y="2926080"/>
            <a:ext cx="457200" cy="457200"/>
          </a:xfrm>
          <a:prstGeom prst="ellipse">
            <a:avLst/>
          </a:prstGeom>
          <a:solidFill>
            <a:schemeClr val="accent1"/>
          </a:solidFill>
          <a:ln/>
        </p:spPr>
      </p:sp>
      <p:pic>
        <p:nvPicPr>
          <p:cNvPr id="21" name="Image 1" descr="FiSliders">    </p:cNvPr>
          <p:cNvPicPr>
            <a:picLocks noChangeAspect="1"/>
          </p:cNvPicPr>
          <p:nvPr/>
        </p:nvPicPr>
        <p:blipFill>
          <a:blip r:embed="rId2"/>
          <a:stretch>
            <a:fillRect/>
          </a:stretch>
        </p:blipFill>
        <p:spPr>
          <a:xfrm>
            <a:off x="754380" y="3040380"/>
            <a:ext cx="228600" cy="228600"/>
          </a:xfrm>
          <a:prstGeom prst="rect">
            <a:avLst/>
          </a:prstGeom>
        </p:spPr>
      </p:pic>
      <p:sp>
        <p:nvSpPr>
          <p:cNvPr id="22" name="Text 17"/>
          <p:cNvSpPr txBox="1"/>
          <p:nvPr/>
        </p:nvSpPr>
        <p:spPr>
          <a:xfrm>
            <a:off x="1234440" y="2926080"/>
            <a:ext cx="3017520" cy="457200"/>
          </a:xfrm>
          <a:prstGeom prst="rect">
            <a:avLst/>
          </a:prstGeom>
          <a:noFill/>
          <a:ln/>
        </p:spPr>
        <p:txBody>
          <a:bodyPr wrap="square" lIns="0" tIns="0" rIns="0" bIns="0" rtlCol="0" anchor="ctr"/>
          <a:lstStyle/>
          <a:p>
            <a:pPr indent="0" marL="0">
              <a:buNone/>
            </a:pPr>
            <a:r>
              <a:rPr lang="it-IT" sz="1400" b="1" dirty="0">
                <a:solidFill>
                  <a:schemeClr val="tx1"/>
                </a:solidFill>
              </a:rPr>
              <a:t>Affinare per passi</a:t>
            </a:r>
            <a:endParaRPr lang="it-IT" sz="1400" dirty="0"/>
          </a:p>
        </p:txBody>
      </p:sp>
      <p:sp>
        <p:nvSpPr>
          <p:cNvPr id="23" name="Text 18"/>
          <p:cNvSpPr txBox="1"/>
          <p:nvPr/>
        </p:nvSpPr>
        <p:spPr>
          <a:xfrm>
            <a:off x="640080" y="3520440"/>
            <a:ext cx="3611880" cy="438912"/>
          </a:xfrm>
          <a:prstGeom prst="rect">
            <a:avLst/>
          </a:prstGeom>
          <a:noFill/>
          <a:ln/>
        </p:spPr>
        <p:txBody>
          <a:bodyPr wrap="square" lIns="0" tIns="0" rIns="0" bIns="0" rtlCol="0" anchor="t"/>
          <a:lstStyle/>
          <a:p>
            <a:pPr indent="0" marL="0">
              <a:buNone/>
            </a:pPr>
            <a:r>
              <a:rPr lang="it-IT" sz="1200" dirty="0">
                <a:solidFill>
                  <a:schemeClr val="tx2"/>
                </a:solidFill>
              </a:rPr>
              <a:t>Modifiche mirate su un risultato; spesso anche immagini di riferimento.</a:t>
            </a:r>
            <a:endParaRPr lang="it-IT" sz="1200" dirty="0"/>
          </a:p>
        </p:txBody>
      </p:sp>
      <p:sp>
        <p:nvSpPr>
          <p:cNvPr id="24" name="scheda Serie coerenti"/>
          <p:cNvSpPr/>
          <p:nvPr/>
        </p:nvSpPr>
        <p:spPr>
          <a:xfrm>
            <a:off x="4709160" y="2743200"/>
            <a:ext cx="3977640" cy="1325880"/>
          </a:xfrm>
          <a:prstGeom prst="roundRect">
            <a:avLst>
              <a:gd name="adj" fmla="val 5517"/>
            </a:avLst>
          </a:prstGeom>
          <a:solidFill>
            <a:schemeClr val="bg2"/>
          </a:solidFill>
          <a:ln/>
        </p:spPr>
      </p:sp>
      <p:sp>
        <p:nvSpPr>
          <p:cNvPr id="25" name="cerchio FiCopy"/>
          <p:cNvSpPr/>
          <p:nvPr/>
        </p:nvSpPr>
        <p:spPr>
          <a:xfrm>
            <a:off x="4892040" y="2926080"/>
            <a:ext cx="457200" cy="457200"/>
          </a:xfrm>
          <a:prstGeom prst="ellipse">
            <a:avLst/>
          </a:prstGeom>
          <a:solidFill>
            <a:schemeClr val="accent1"/>
          </a:solidFill>
          <a:ln/>
        </p:spPr>
      </p:sp>
      <p:pic>
        <p:nvPicPr>
          <p:cNvPr id="26" name="Image 2" descr="FiCopy">    </p:cNvPr>
          <p:cNvPicPr>
            <a:picLocks noChangeAspect="1"/>
          </p:cNvPicPr>
          <p:nvPr/>
        </p:nvPicPr>
        <p:blipFill>
          <a:blip r:embed="rId3"/>
          <a:stretch>
            <a:fillRect/>
          </a:stretch>
        </p:blipFill>
        <p:spPr>
          <a:xfrm>
            <a:off x="5006340" y="3040380"/>
            <a:ext cx="228600" cy="228600"/>
          </a:xfrm>
          <a:prstGeom prst="rect">
            <a:avLst/>
          </a:prstGeom>
        </p:spPr>
      </p:pic>
      <p:sp>
        <p:nvSpPr>
          <p:cNvPr id="27" name="Text 21"/>
          <p:cNvSpPr txBox="1"/>
          <p:nvPr/>
        </p:nvSpPr>
        <p:spPr>
          <a:xfrm>
            <a:off x="5486400" y="2926080"/>
            <a:ext cx="3017520" cy="457200"/>
          </a:xfrm>
          <a:prstGeom prst="rect">
            <a:avLst/>
          </a:prstGeom>
          <a:noFill/>
          <a:ln/>
        </p:spPr>
        <p:txBody>
          <a:bodyPr wrap="square" lIns="0" tIns="0" rIns="0" bIns="0" rtlCol="0" anchor="ctr"/>
          <a:lstStyle/>
          <a:p>
            <a:pPr indent="0" marL="0">
              <a:buNone/>
            </a:pPr>
            <a:r>
              <a:rPr lang="it-IT" sz="1400" b="1" dirty="0">
                <a:solidFill>
                  <a:schemeClr val="tx1"/>
                </a:solidFill>
              </a:rPr>
              <a:t>Serie coerenti</a:t>
            </a:r>
            <a:endParaRPr lang="it-IT" sz="1400" dirty="0"/>
          </a:p>
        </p:txBody>
      </p:sp>
      <p:sp>
        <p:nvSpPr>
          <p:cNvPr id="28" name="Text 22"/>
          <p:cNvSpPr txBox="1"/>
          <p:nvPr/>
        </p:nvSpPr>
        <p:spPr>
          <a:xfrm>
            <a:off x="4892040" y="3520440"/>
            <a:ext cx="3611880" cy="438912"/>
          </a:xfrm>
          <a:prstGeom prst="rect">
            <a:avLst/>
          </a:prstGeom>
          <a:noFill/>
          <a:ln/>
        </p:spPr>
        <p:txBody>
          <a:bodyPr wrap="square" lIns="0" tIns="0" rIns="0" bIns="0" rtlCol="0" anchor="t"/>
          <a:lstStyle/>
          <a:p>
            <a:pPr indent="0" marL="0">
              <a:buNone/>
            </a:pPr>
            <a:r>
              <a:rPr lang="it-IT" sz="1200" dirty="0">
                <a:solidFill>
                  <a:schemeClr val="tx2"/>
                </a:solidFill>
              </a:rPr>
              <a:t>Funzioni dedicate in alcuni strumenti; altrimenti più prove.</a:t>
            </a:r>
            <a:endParaRPr lang="it-IT" sz="1200" dirty="0"/>
          </a:p>
        </p:txBody>
      </p:sp>
      <p:sp>
        <p:nvSpPr>
          <p:cNvPr id="29" name="Text 23"/>
          <p:cNvSpPr txBox="1"/>
          <p:nvPr/>
        </p:nvSpPr>
        <p:spPr>
          <a:xfrm>
            <a:off x="457200" y="4206240"/>
            <a:ext cx="8229600" cy="320040"/>
          </a:xfrm>
          <a:prstGeom prst="rect">
            <a:avLst/>
          </a:prstGeom>
          <a:noFill/>
          <a:ln/>
        </p:spPr>
        <p:txBody>
          <a:bodyPr wrap="square" lIns="0" tIns="0" rIns="0" bIns="0" rtlCol="0" anchor="t"/>
          <a:lstStyle/>
          <a:p>
            <a:pPr indent="0" marL="0">
              <a:buNone/>
            </a:pPr>
            <a:r>
              <a:rPr lang="it-IT" sz="1200" i="1" dirty="0">
                <a:solidFill>
                  <a:schemeClr val="tx2"/>
                </a:solidFill>
              </a:rPr>
              <a:t>Valgono i principi di una buona richiesta: chiarezza, contesto, esempi, iterazione.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18</a:t>
            </a:fld>
            <a:endParaRPr lang="it-IT"/>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Che cosa si può produrre</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Trasformare</a:t>
            </a:r>
            <a:endParaRPr lang="it-IT" sz="900" dirty="0"/>
          </a:p>
        </p:txBody>
      </p:sp>
      <p:sp>
        <p:nvSpPr>
          <p:cNvPr id="10" name="Illustrazioni"/>
          <p:cNvSpPr/>
          <p:nvPr/>
        </p:nvSpPr>
        <p:spPr>
          <a:xfrm>
            <a:off x="457200" y="1051560"/>
            <a:ext cx="2621280" cy="1280160"/>
          </a:xfrm>
          <a:prstGeom prst="roundRect">
            <a:avLst>
              <a:gd name="adj" fmla="val 5714"/>
            </a:avLst>
          </a:prstGeom>
          <a:solidFill>
            <a:schemeClr val="bg2"/>
          </a:solidFill>
          <a:ln/>
        </p:spPr>
      </p:sp>
      <p:sp>
        <p:nvSpPr>
          <p:cNvPr id="11" name="cerchio FiFeather"/>
          <p:cNvSpPr/>
          <p:nvPr/>
        </p:nvSpPr>
        <p:spPr>
          <a:xfrm>
            <a:off x="621792" y="1216152"/>
            <a:ext cx="438912" cy="438912"/>
          </a:xfrm>
          <a:prstGeom prst="ellipse">
            <a:avLst/>
          </a:prstGeom>
          <a:solidFill>
            <a:schemeClr val="accent1"/>
          </a:solidFill>
          <a:ln/>
        </p:spPr>
      </p:sp>
      <p:pic>
        <p:nvPicPr>
          <p:cNvPr id="12" name="Image 0" descr="FiFeather">    </p:cNvPr>
          <p:cNvPicPr>
            <a:picLocks noChangeAspect="1"/>
          </p:cNvPicPr>
          <p:nvPr/>
        </p:nvPicPr>
        <p:blipFill>
          <a:blip r:embed="rId1"/>
          <a:stretch>
            <a:fillRect/>
          </a:stretch>
        </p:blipFill>
        <p:spPr>
          <a:xfrm>
            <a:off x="731520" y="1325880"/>
            <a:ext cx="219456" cy="219456"/>
          </a:xfrm>
          <a:prstGeom prst="rect">
            <a:avLst/>
          </a:prstGeom>
        </p:spPr>
      </p:pic>
      <p:sp>
        <p:nvSpPr>
          <p:cNvPr id="13" name="Text 9"/>
          <p:cNvSpPr txBox="1"/>
          <p:nvPr/>
        </p:nvSpPr>
        <p:spPr>
          <a:xfrm>
            <a:off x="117043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Illustrazioni</a:t>
            </a:r>
            <a:endParaRPr lang="it-IT" sz="1300" dirty="0"/>
          </a:p>
        </p:txBody>
      </p:sp>
      <p:sp>
        <p:nvSpPr>
          <p:cNvPr id="14" name="Text 10"/>
          <p:cNvSpPr txBox="1"/>
          <p:nvPr/>
        </p:nvSpPr>
        <p:spPr>
          <a:xfrm>
            <a:off x="621792" y="1764792"/>
            <a:ext cx="2292096" cy="475488"/>
          </a:xfrm>
          <a:prstGeom prst="rect">
            <a:avLst/>
          </a:prstGeom>
          <a:noFill/>
          <a:ln/>
        </p:spPr>
        <p:txBody>
          <a:bodyPr wrap="square" lIns="0" tIns="0" rIns="0" bIns="0" rtlCol="0" anchor="t"/>
          <a:lstStyle/>
          <a:p>
            <a:pPr indent="0" marL="0">
              <a:buNone/>
            </a:pPr>
            <a:r>
              <a:rPr lang="it-IT" sz="1200" dirty="0">
                <a:solidFill>
                  <a:schemeClr val="tx2"/>
                </a:solidFill>
              </a:rPr>
              <a:t>Presentazioni, documenti, materiali formativi</a:t>
            </a:r>
            <a:endParaRPr lang="it-IT" sz="1200" dirty="0"/>
          </a:p>
        </p:txBody>
      </p:sp>
      <p:sp>
        <p:nvSpPr>
          <p:cNvPr id="15" name="Concept di prodotto"/>
          <p:cNvSpPr/>
          <p:nvPr/>
        </p:nvSpPr>
        <p:spPr>
          <a:xfrm>
            <a:off x="3261360" y="1051560"/>
            <a:ext cx="2621280" cy="1280160"/>
          </a:xfrm>
          <a:prstGeom prst="roundRect">
            <a:avLst>
              <a:gd name="adj" fmla="val 5714"/>
            </a:avLst>
          </a:prstGeom>
          <a:solidFill>
            <a:schemeClr val="bg2"/>
          </a:solidFill>
          <a:ln/>
        </p:spPr>
      </p:sp>
      <p:sp>
        <p:nvSpPr>
          <p:cNvPr id="16" name="cerchio FiPackage"/>
          <p:cNvSpPr/>
          <p:nvPr/>
        </p:nvSpPr>
        <p:spPr>
          <a:xfrm>
            <a:off x="3425952" y="1216152"/>
            <a:ext cx="438912" cy="438912"/>
          </a:xfrm>
          <a:prstGeom prst="ellipse">
            <a:avLst/>
          </a:prstGeom>
          <a:solidFill>
            <a:schemeClr val="accent1"/>
          </a:solidFill>
          <a:ln/>
        </p:spPr>
      </p:sp>
      <p:pic>
        <p:nvPicPr>
          <p:cNvPr id="17" name="Image 1" descr="FiPackage">    </p:cNvPr>
          <p:cNvPicPr>
            <a:picLocks noChangeAspect="1"/>
          </p:cNvPicPr>
          <p:nvPr/>
        </p:nvPicPr>
        <p:blipFill>
          <a:blip r:embed="rId2"/>
          <a:stretch>
            <a:fillRect/>
          </a:stretch>
        </p:blipFill>
        <p:spPr>
          <a:xfrm>
            <a:off x="3535680" y="1325880"/>
            <a:ext cx="219456" cy="219456"/>
          </a:xfrm>
          <a:prstGeom prst="rect">
            <a:avLst/>
          </a:prstGeom>
        </p:spPr>
      </p:pic>
      <p:sp>
        <p:nvSpPr>
          <p:cNvPr id="18" name="Text 13"/>
          <p:cNvSpPr txBox="1"/>
          <p:nvPr/>
        </p:nvSpPr>
        <p:spPr>
          <a:xfrm>
            <a:off x="397459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Concept di prodotto</a:t>
            </a:r>
            <a:endParaRPr lang="it-IT" sz="1300" dirty="0"/>
          </a:p>
        </p:txBody>
      </p:sp>
      <p:sp>
        <p:nvSpPr>
          <p:cNvPr id="19" name="Text 14"/>
          <p:cNvSpPr txBox="1"/>
          <p:nvPr/>
        </p:nvSpPr>
        <p:spPr>
          <a:xfrm>
            <a:off x="3425952" y="1764792"/>
            <a:ext cx="2292096" cy="475488"/>
          </a:xfrm>
          <a:prstGeom prst="rect">
            <a:avLst/>
          </a:prstGeom>
          <a:noFill/>
          <a:ln/>
        </p:spPr>
        <p:txBody>
          <a:bodyPr wrap="square" lIns="0" tIns="0" rIns="0" bIns="0" rtlCol="0" anchor="t"/>
          <a:lstStyle/>
          <a:p>
            <a:pPr indent="0" marL="0">
              <a:buNone/>
            </a:pPr>
            <a:r>
              <a:rPr lang="it-IT" sz="1200" dirty="0">
                <a:solidFill>
                  <a:schemeClr val="tx2"/>
                </a:solidFill>
              </a:rPr>
              <a:t>Packaging, stand, varianti di design</a:t>
            </a:r>
            <a:endParaRPr lang="it-IT" sz="1200" dirty="0"/>
          </a:p>
        </p:txBody>
      </p:sp>
      <p:sp>
        <p:nvSpPr>
          <p:cNvPr id="20" name="Prototipazione visiva"/>
          <p:cNvSpPr/>
          <p:nvPr/>
        </p:nvSpPr>
        <p:spPr>
          <a:xfrm>
            <a:off x="6065520" y="1051560"/>
            <a:ext cx="2621280" cy="1280160"/>
          </a:xfrm>
          <a:prstGeom prst="roundRect">
            <a:avLst>
              <a:gd name="adj" fmla="val 5714"/>
            </a:avLst>
          </a:prstGeom>
          <a:solidFill>
            <a:schemeClr val="bg2"/>
          </a:solidFill>
          <a:ln/>
        </p:spPr>
      </p:sp>
      <p:sp>
        <p:nvSpPr>
          <p:cNvPr id="21" name="cerchio FiPenTool"/>
          <p:cNvSpPr/>
          <p:nvPr/>
        </p:nvSpPr>
        <p:spPr>
          <a:xfrm>
            <a:off x="6230112" y="1216152"/>
            <a:ext cx="438912" cy="438912"/>
          </a:xfrm>
          <a:prstGeom prst="ellipse">
            <a:avLst/>
          </a:prstGeom>
          <a:solidFill>
            <a:schemeClr val="accent1"/>
          </a:solidFill>
          <a:ln/>
        </p:spPr>
      </p:sp>
      <p:pic>
        <p:nvPicPr>
          <p:cNvPr id="22" name="Image 2" descr="FiPenTool">    </p:cNvPr>
          <p:cNvPicPr>
            <a:picLocks noChangeAspect="1"/>
          </p:cNvPicPr>
          <p:nvPr/>
        </p:nvPicPr>
        <p:blipFill>
          <a:blip r:embed="rId3"/>
          <a:stretch>
            <a:fillRect/>
          </a:stretch>
        </p:blipFill>
        <p:spPr>
          <a:xfrm>
            <a:off x="6339840" y="1325880"/>
            <a:ext cx="219456" cy="219456"/>
          </a:xfrm>
          <a:prstGeom prst="rect">
            <a:avLst/>
          </a:prstGeom>
        </p:spPr>
      </p:pic>
      <p:sp>
        <p:nvSpPr>
          <p:cNvPr id="23" name="Text 17"/>
          <p:cNvSpPr txBox="1"/>
          <p:nvPr/>
        </p:nvSpPr>
        <p:spPr>
          <a:xfrm>
            <a:off x="677875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Prototipazione visiva</a:t>
            </a:r>
            <a:endParaRPr lang="it-IT" sz="1300" dirty="0"/>
          </a:p>
        </p:txBody>
      </p:sp>
      <p:sp>
        <p:nvSpPr>
          <p:cNvPr id="24" name="Text 18"/>
          <p:cNvSpPr txBox="1"/>
          <p:nvPr/>
        </p:nvSpPr>
        <p:spPr>
          <a:xfrm>
            <a:off x="6230112" y="1764792"/>
            <a:ext cx="2292096" cy="475488"/>
          </a:xfrm>
          <a:prstGeom prst="rect">
            <a:avLst/>
          </a:prstGeom>
          <a:noFill/>
          <a:ln/>
        </p:spPr>
        <p:txBody>
          <a:bodyPr wrap="square" lIns="0" tIns="0" rIns="0" bIns="0" rtlCol="0" anchor="t"/>
          <a:lstStyle/>
          <a:p>
            <a:pPr indent="0" marL="0">
              <a:buNone/>
            </a:pPr>
            <a:r>
              <a:rPr lang="it-IT" sz="1200" dirty="0">
                <a:solidFill>
                  <a:schemeClr val="tx2"/>
                </a:solidFill>
              </a:rPr>
              <a:t>Ambienti, interfacce, scenari d'uso</a:t>
            </a:r>
            <a:endParaRPr lang="it-IT" sz="1200" dirty="0"/>
          </a:p>
        </p:txBody>
      </p:sp>
      <p:sp>
        <p:nvSpPr>
          <p:cNvPr id="25" name="Comunicazione e marketing"/>
          <p:cNvSpPr/>
          <p:nvPr/>
        </p:nvSpPr>
        <p:spPr>
          <a:xfrm>
            <a:off x="457200" y="2514600"/>
            <a:ext cx="2621280" cy="1280160"/>
          </a:xfrm>
          <a:prstGeom prst="roundRect">
            <a:avLst>
              <a:gd name="adj" fmla="val 5714"/>
            </a:avLst>
          </a:prstGeom>
          <a:solidFill>
            <a:schemeClr val="bg2"/>
          </a:solidFill>
          <a:ln/>
        </p:spPr>
      </p:sp>
      <p:sp>
        <p:nvSpPr>
          <p:cNvPr id="26" name="cerchio FiSpeaker"/>
          <p:cNvSpPr/>
          <p:nvPr/>
        </p:nvSpPr>
        <p:spPr>
          <a:xfrm>
            <a:off x="621792" y="2679192"/>
            <a:ext cx="438912" cy="438912"/>
          </a:xfrm>
          <a:prstGeom prst="ellipse">
            <a:avLst/>
          </a:prstGeom>
          <a:solidFill>
            <a:schemeClr val="accent1"/>
          </a:solidFill>
          <a:ln/>
        </p:spPr>
      </p:sp>
      <p:pic>
        <p:nvPicPr>
          <p:cNvPr id="27" name="Image 3" descr="FiSpeaker">    </p:cNvPr>
          <p:cNvPicPr>
            <a:picLocks noChangeAspect="1"/>
          </p:cNvPicPr>
          <p:nvPr/>
        </p:nvPicPr>
        <p:blipFill>
          <a:blip r:embed="rId4"/>
          <a:stretch>
            <a:fillRect/>
          </a:stretch>
        </p:blipFill>
        <p:spPr>
          <a:xfrm>
            <a:off x="731520" y="2788920"/>
            <a:ext cx="219456" cy="219456"/>
          </a:xfrm>
          <a:prstGeom prst="rect">
            <a:avLst/>
          </a:prstGeom>
        </p:spPr>
      </p:pic>
      <p:sp>
        <p:nvSpPr>
          <p:cNvPr id="28" name="Text 21"/>
          <p:cNvSpPr txBox="1"/>
          <p:nvPr/>
        </p:nvSpPr>
        <p:spPr>
          <a:xfrm>
            <a:off x="1170432" y="264261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Comunicazione e marketing</a:t>
            </a:r>
            <a:endParaRPr lang="it-IT" sz="1300" dirty="0"/>
          </a:p>
        </p:txBody>
      </p:sp>
      <p:sp>
        <p:nvSpPr>
          <p:cNvPr id="29" name="Text 22"/>
          <p:cNvSpPr txBox="1"/>
          <p:nvPr/>
        </p:nvSpPr>
        <p:spPr>
          <a:xfrm>
            <a:off x="621792" y="3227832"/>
            <a:ext cx="2292096" cy="475488"/>
          </a:xfrm>
          <a:prstGeom prst="rect">
            <a:avLst/>
          </a:prstGeom>
          <a:noFill/>
          <a:ln/>
        </p:spPr>
        <p:txBody>
          <a:bodyPr wrap="square" lIns="0" tIns="0" rIns="0" bIns="0" rtlCol="0" anchor="t"/>
          <a:lstStyle/>
          <a:p>
            <a:pPr indent="0" marL="0">
              <a:buNone/>
            </a:pPr>
            <a:r>
              <a:rPr lang="it-IT" sz="1200" dirty="0">
                <a:solidFill>
                  <a:schemeClr val="tx2"/>
                </a:solidFill>
              </a:rPr>
              <a:t>Campagne, post, newsletter, sito</a:t>
            </a:r>
            <a:endParaRPr lang="it-IT" sz="1200" dirty="0"/>
          </a:p>
        </p:txBody>
      </p:sp>
      <p:sp>
        <p:nvSpPr>
          <p:cNvPr id="30" name="Varianti e formati"/>
          <p:cNvSpPr/>
          <p:nvPr/>
        </p:nvSpPr>
        <p:spPr>
          <a:xfrm>
            <a:off x="3261360" y="2514600"/>
            <a:ext cx="2621280" cy="1280160"/>
          </a:xfrm>
          <a:prstGeom prst="roundRect">
            <a:avLst>
              <a:gd name="adj" fmla="val 5714"/>
            </a:avLst>
          </a:prstGeom>
          <a:solidFill>
            <a:schemeClr val="bg2"/>
          </a:solidFill>
          <a:ln/>
        </p:spPr>
      </p:sp>
      <p:sp>
        <p:nvSpPr>
          <p:cNvPr id="31" name="cerchio FiCopy"/>
          <p:cNvSpPr/>
          <p:nvPr/>
        </p:nvSpPr>
        <p:spPr>
          <a:xfrm>
            <a:off x="3425952" y="2679192"/>
            <a:ext cx="438912" cy="438912"/>
          </a:xfrm>
          <a:prstGeom prst="ellipse">
            <a:avLst/>
          </a:prstGeom>
          <a:solidFill>
            <a:schemeClr val="accent1"/>
          </a:solidFill>
          <a:ln/>
        </p:spPr>
      </p:sp>
      <p:pic>
        <p:nvPicPr>
          <p:cNvPr id="32" name="Image 4" descr="FiCopy">    </p:cNvPr>
          <p:cNvPicPr>
            <a:picLocks noChangeAspect="1"/>
          </p:cNvPicPr>
          <p:nvPr/>
        </p:nvPicPr>
        <p:blipFill>
          <a:blip r:embed="rId5"/>
          <a:stretch>
            <a:fillRect/>
          </a:stretch>
        </p:blipFill>
        <p:spPr>
          <a:xfrm>
            <a:off x="3535680" y="2788920"/>
            <a:ext cx="219456" cy="219456"/>
          </a:xfrm>
          <a:prstGeom prst="rect">
            <a:avLst/>
          </a:prstGeom>
        </p:spPr>
      </p:pic>
      <p:sp>
        <p:nvSpPr>
          <p:cNvPr id="33" name="Text 25"/>
          <p:cNvSpPr txBox="1"/>
          <p:nvPr/>
        </p:nvSpPr>
        <p:spPr>
          <a:xfrm>
            <a:off x="3974592" y="264261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Varianti e formati</a:t>
            </a:r>
            <a:endParaRPr lang="it-IT" sz="1300" dirty="0"/>
          </a:p>
        </p:txBody>
      </p:sp>
      <p:sp>
        <p:nvSpPr>
          <p:cNvPr id="34" name="Text 26"/>
          <p:cNvSpPr txBox="1"/>
          <p:nvPr/>
        </p:nvSpPr>
        <p:spPr>
          <a:xfrm>
            <a:off x="3425952" y="3227832"/>
            <a:ext cx="2292096" cy="475488"/>
          </a:xfrm>
          <a:prstGeom prst="rect">
            <a:avLst/>
          </a:prstGeom>
          <a:noFill/>
          <a:ln/>
        </p:spPr>
        <p:txBody>
          <a:bodyPr wrap="square" lIns="0" tIns="0" rIns="0" bIns="0" rtlCol="0" anchor="t"/>
          <a:lstStyle/>
          <a:p>
            <a:pPr indent="0" marL="0">
              <a:buNone/>
            </a:pPr>
            <a:r>
              <a:rPr lang="it-IT" sz="1200" dirty="0">
                <a:solidFill>
                  <a:schemeClr val="tx2"/>
                </a:solidFill>
              </a:rPr>
              <a:t>Colori, stili, adattamento ai canali</a:t>
            </a:r>
            <a:endParaRPr lang="it-IT" sz="1200" dirty="0"/>
          </a:p>
        </p:txBody>
      </p:sp>
      <p:sp>
        <p:nvSpPr>
          <p:cNvPr id="35" name="Elementi grafici"/>
          <p:cNvSpPr/>
          <p:nvPr/>
        </p:nvSpPr>
        <p:spPr>
          <a:xfrm>
            <a:off x="6065520" y="2514600"/>
            <a:ext cx="2621280" cy="1280160"/>
          </a:xfrm>
          <a:prstGeom prst="roundRect">
            <a:avLst>
              <a:gd name="adj" fmla="val 5714"/>
            </a:avLst>
          </a:prstGeom>
          <a:solidFill>
            <a:schemeClr val="bg2"/>
          </a:solidFill>
          <a:ln/>
        </p:spPr>
      </p:sp>
      <p:sp>
        <p:nvSpPr>
          <p:cNvPr id="36" name="cerchio FiGrid"/>
          <p:cNvSpPr/>
          <p:nvPr/>
        </p:nvSpPr>
        <p:spPr>
          <a:xfrm>
            <a:off x="6230112" y="2679192"/>
            <a:ext cx="438912" cy="438912"/>
          </a:xfrm>
          <a:prstGeom prst="ellipse">
            <a:avLst/>
          </a:prstGeom>
          <a:solidFill>
            <a:schemeClr val="accent1"/>
          </a:solidFill>
          <a:ln/>
        </p:spPr>
      </p:sp>
      <p:pic>
        <p:nvPicPr>
          <p:cNvPr id="37" name="Image 5" descr="FiGrid">    </p:cNvPr>
          <p:cNvPicPr>
            <a:picLocks noChangeAspect="1"/>
          </p:cNvPicPr>
          <p:nvPr/>
        </p:nvPicPr>
        <p:blipFill>
          <a:blip r:embed="rId6"/>
          <a:stretch>
            <a:fillRect/>
          </a:stretch>
        </p:blipFill>
        <p:spPr>
          <a:xfrm>
            <a:off x="6339840" y="2788920"/>
            <a:ext cx="219456" cy="219456"/>
          </a:xfrm>
          <a:prstGeom prst="rect">
            <a:avLst/>
          </a:prstGeom>
        </p:spPr>
      </p:pic>
      <p:sp>
        <p:nvSpPr>
          <p:cNvPr id="38" name="Text 29"/>
          <p:cNvSpPr txBox="1"/>
          <p:nvPr/>
        </p:nvSpPr>
        <p:spPr>
          <a:xfrm>
            <a:off x="6778752" y="264261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Elementi grafici</a:t>
            </a:r>
            <a:endParaRPr lang="it-IT" sz="1300" dirty="0"/>
          </a:p>
        </p:txBody>
      </p:sp>
      <p:sp>
        <p:nvSpPr>
          <p:cNvPr id="39" name="Text 30"/>
          <p:cNvSpPr txBox="1"/>
          <p:nvPr/>
        </p:nvSpPr>
        <p:spPr>
          <a:xfrm>
            <a:off x="6230112" y="3227832"/>
            <a:ext cx="2292096" cy="475488"/>
          </a:xfrm>
          <a:prstGeom prst="rect">
            <a:avLst/>
          </a:prstGeom>
          <a:noFill/>
          <a:ln/>
        </p:spPr>
        <p:txBody>
          <a:bodyPr wrap="square" lIns="0" tIns="0" rIns="0" bIns="0" rtlCol="0" anchor="t"/>
          <a:lstStyle/>
          <a:p>
            <a:pPr indent="0" marL="0">
              <a:buNone/>
            </a:pPr>
            <a:r>
              <a:rPr lang="it-IT" sz="1200" dirty="0">
                <a:solidFill>
                  <a:schemeClr val="tx2"/>
                </a:solidFill>
              </a:rPr>
              <a:t>Icone, sfondi, pattern</a:t>
            </a:r>
            <a:endParaRPr lang="it-IT" sz="1200" dirty="0"/>
          </a:p>
        </p:txBody>
      </p:sp>
      <p:sp>
        <p:nvSpPr>
          <p:cNvPr id="40" name="messaggio"/>
          <p:cNvSpPr/>
          <p:nvPr/>
        </p:nvSpPr>
        <p:spPr>
          <a:xfrm>
            <a:off x="457200" y="3977640"/>
            <a:ext cx="8229600" cy="548640"/>
          </a:xfrm>
          <a:prstGeom prst="roundRect">
            <a:avLst>
              <a:gd name="adj" fmla="val 13333"/>
            </a:avLst>
          </a:prstGeom>
          <a:solidFill>
            <a:schemeClr val="tx1"/>
          </a:solidFill>
          <a:ln/>
        </p:spPr>
      </p:sp>
      <p:sp>
        <p:nvSpPr>
          <p:cNvPr id="41" name="Text 32"/>
          <p:cNvSpPr txBox="1"/>
          <p:nvPr/>
        </p:nvSpPr>
        <p:spPr>
          <a:xfrm>
            <a:off x="640080" y="3977640"/>
            <a:ext cx="7863840" cy="548640"/>
          </a:xfrm>
          <a:prstGeom prst="rect">
            <a:avLst/>
          </a:prstGeom>
          <a:noFill/>
          <a:ln/>
        </p:spPr>
        <p:txBody>
          <a:bodyPr wrap="square" lIns="0" tIns="0" rIns="0" bIns="0" rtlCol="0" anchor="ctr"/>
          <a:lstStyle/>
          <a:p>
            <a:pPr indent="0" marL="0">
              <a:buNone/>
            </a:pPr>
            <a:r>
              <a:rPr lang="it-IT" sz="1300" dirty="0">
                <a:solidFill>
                  <a:schemeClr val="bg1"/>
                </a:solidFill>
              </a:rPr>
              <a:t>Alcuni risultati si usano direttamente; altri richiedono editing, verifiche o strumenti professionali.</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19</a:t>
            </a:fld>
            <a:endParaRPr lang="it-IT"/>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Modificare immagini esistenti</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sp>
        <p:nvSpPr>
          <p:cNvPr id="10" name="Aggiungere"/>
          <p:cNvSpPr/>
          <p:nvPr/>
        </p:nvSpPr>
        <p:spPr>
          <a:xfrm>
            <a:off x="457200" y="1051560"/>
            <a:ext cx="2621280" cy="1097280"/>
          </a:xfrm>
          <a:prstGeom prst="roundRect">
            <a:avLst>
              <a:gd name="adj" fmla="val 6667"/>
            </a:avLst>
          </a:prstGeom>
          <a:solidFill>
            <a:schemeClr val="bg2"/>
          </a:solidFill>
          <a:ln/>
        </p:spPr>
      </p:sp>
      <p:sp>
        <p:nvSpPr>
          <p:cNvPr id="11" name="cerchio FiPlusCircle"/>
          <p:cNvSpPr/>
          <p:nvPr/>
        </p:nvSpPr>
        <p:spPr>
          <a:xfrm>
            <a:off x="621792" y="1216152"/>
            <a:ext cx="438912" cy="438912"/>
          </a:xfrm>
          <a:prstGeom prst="ellipse">
            <a:avLst/>
          </a:prstGeom>
          <a:solidFill>
            <a:schemeClr val="accent1"/>
          </a:solidFill>
          <a:ln/>
        </p:spPr>
      </p:sp>
      <p:pic>
        <p:nvPicPr>
          <p:cNvPr id="12" name="Image 0" descr="FiPlusCircle">    </p:cNvPr>
          <p:cNvPicPr>
            <a:picLocks noChangeAspect="1"/>
          </p:cNvPicPr>
          <p:nvPr/>
        </p:nvPicPr>
        <p:blipFill>
          <a:blip r:embed="rId1"/>
          <a:stretch>
            <a:fillRect/>
          </a:stretch>
        </p:blipFill>
        <p:spPr>
          <a:xfrm>
            <a:off x="731520" y="1325880"/>
            <a:ext cx="219456" cy="219456"/>
          </a:xfrm>
          <a:prstGeom prst="rect">
            <a:avLst/>
          </a:prstGeom>
        </p:spPr>
      </p:pic>
      <p:sp>
        <p:nvSpPr>
          <p:cNvPr id="13" name="Text 9"/>
          <p:cNvSpPr txBox="1"/>
          <p:nvPr/>
        </p:nvSpPr>
        <p:spPr>
          <a:xfrm>
            <a:off x="117043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Aggiungere</a:t>
            </a:r>
            <a:endParaRPr lang="it-IT" sz="1300" dirty="0"/>
          </a:p>
        </p:txBody>
      </p:sp>
      <p:sp>
        <p:nvSpPr>
          <p:cNvPr id="14" name="Text 10"/>
          <p:cNvSpPr txBox="1"/>
          <p:nvPr/>
        </p:nvSpPr>
        <p:spPr>
          <a:xfrm>
            <a:off x="621792" y="1764792"/>
            <a:ext cx="2292096" cy="292608"/>
          </a:xfrm>
          <a:prstGeom prst="rect">
            <a:avLst/>
          </a:prstGeom>
          <a:noFill/>
          <a:ln/>
        </p:spPr>
        <p:txBody>
          <a:bodyPr wrap="square" lIns="0" tIns="0" rIns="0" bIns="0" rtlCol="0" anchor="t"/>
          <a:lstStyle/>
          <a:p>
            <a:pPr indent="0" marL="0">
              <a:buNone/>
            </a:pPr>
            <a:r>
              <a:rPr lang="it-IT" sz="1200" dirty="0">
                <a:solidFill>
                  <a:schemeClr val="tx2"/>
                </a:solidFill>
              </a:rPr>
              <a:t>Un oggetto, una scritta, uno sfondo</a:t>
            </a:r>
            <a:endParaRPr lang="it-IT" sz="1200" dirty="0"/>
          </a:p>
        </p:txBody>
      </p:sp>
      <p:sp>
        <p:nvSpPr>
          <p:cNvPr id="15" name="Rimuovere"/>
          <p:cNvSpPr/>
          <p:nvPr/>
        </p:nvSpPr>
        <p:spPr>
          <a:xfrm>
            <a:off x="3261360" y="1051560"/>
            <a:ext cx="2621280" cy="1097280"/>
          </a:xfrm>
          <a:prstGeom prst="roundRect">
            <a:avLst>
              <a:gd name="adj" fmla="val 6667"/>
            </a:avLst>
          </a:prstGeom>
          <a:solidFill>
            <a:schemeClr val="bg2"/>
          </a:solidFill>
          <a:ln/>
        </p:spPr>
      </p:sp>
      <p:sp>
        <p:nvSpPr>
          <p:cNvPr id="16" name="cerchio FiMinusCircle"/>
          <p:cNvSpPr/>
          <p:nvPr/>
        </p:nvSpPr>
        <p:spPr>
          <a:xfrm>
            <a:off x="3425952" y="1216152"/>
            <a:ext cx="438912" cy="438912"/>
          </a:xfrm>
          <a:prstGeom prst="ellipse">
            <a:avLst/>
          </a:prstGeom>
          <a:solidFill>
            <a:schemeClr val="accent1"/>
          </a:solidFill>
          <a:ln/>
        </p:spPr>
      </p:sp>
      <p:pic>
        <p:nvPicPr>
          <p:cNvPr id="17" name="Image 1" descr="FiMinusCircle">    </p:cNvPr>
          <p:cNvPicPr>
            <a:picLocks noChangeAspect="1"/>
          </p:cNvPicPr>
          <p:nvPr/>
        </p:nvPicPr>
        <p:blipFill>
          <a:blip r:embed="rId2"/>
          <a:stretch>
            <a:fillRect/>
          </a:stretch>
        </p:blipFill>
        <p:spPr>
          <a:xfrm>
            <a:off x="3535680" y="1325880"/>
            <a:ext cx="219456" cy="219456"/>
          </a:xfrm>
          <a:prstGeom prst="rect">
            <a:avLst/>
          </a:prstGeom>
        </p:spPr>
      </p:pic>
      <p:sp>
        <p:nvSpPr>
          <p:cNvPr id="18" name="Text 13"/>
          <p:cNvSpPr txBox="1"/>
          <p:nvPr/>
        </p:nvSpPr>
        <p:spPr>
          <a:xfrm>
            <a:off x="397459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Rimuovere</a:t>
            </a:r>
            <a:endParaRPr lang="it-IT" sz="1300" dirty="0"/>
          </a:p>
        </p:txBody>
      </p:sp>
      <p:sp>
        <p:nvSpPr>
          <p:cNvPr id="19" name="Text 14"/>
          <p:cNvSpPr txBox="1"/>
          <p:nvPr/>
        </p:nvSpPr>
        <p:spPr>
          <a:xfrm>
            <a:off x="3425952" y="1764792"/>
            <a:ext cx="2292096" cy="292608"/>
          </a:xfrm>
          <a:prstGeom prst="rect">
            <a:avLst/>
          </a:prstGeom>
          <a:noFill/>
          <a:ln/>
        </p:spPr>
        <p:txBody>
          <a:bodyPr wrap="square" lIns="0" tIns="0" rIns="0" bIns="0" rtlCol="0" anchor="t"/>
          <a:lstStyle/>
          <a:p>
            <a:pPr indent="0" marL="0">
              <a:buNone/>
            </a:pPr>
            <a:r>
              <a:rPr lang="it-IT" sz="1200" dirty="0">
                <a:solidFill>
                  <a:schemeClr val="tx2"/>
                </a:solidFill>
              </a:rPr>
              <a:t>Un oggetto di disturbo, un difetto</a:t>
            </a:r>
            <a:endParaRPr lang="it-IT" sz="1200" dirty="0"/>
          </a:p>
        </p:txBody>
      </p:sp>
      <p:sp>
        <p:nvSpPr>
          <p:cNvPr id="20" name="Sostituire"/>
          <p:cNvSpPr/>
          <p:nvPr/>
        </p:nvSpPr>
        <p:spPr>
          <a:xfrm>
            <a:off x="6065520" y="1051560"/>
            <a:ext cx="2621280" cy="1097280"/>
          </a:xfrm>
          <a:prstGeom prst="roundRect">
            <a:avLst>
              <a:gd name="adj" fmla="val 6667"/>
            </a:avLst>
          </a:prstGeom>
          <a:solidFill>
            <a:schemeClr val="bg2"/>
          </a:solidFill>
          <a:ln/>
        </p:spPr>
      </p:sp>
      <p:sp>
        <p:nvSpPr>
          <p:cNvPr id="21" name="cerchio FiRefreshCw"/>
          <p:cNvSpPr/>
          <p:nvPr/>
        </p:nvSpPr>
        <p:spPr>
          <a:xfrm>
            <a:off x="6230112" y="1216152"/>
            <a:ext cx="438912" cy="438912"/>
          </a:xfrm>
          <a:prstGeom prst="ellipse">
            <a:avLst/>
          </a:prstGeom>
          <a:solidFill>
            <a:schemeClr val="accent1"/>
          </a:solidFill>
          <a:ln/>
        </p:spPr>
      </p:sp>
      <p:pic>
        <p:nvPicPr>
          <p:cNvPr id="22" name="Image 2" descr="FiRefreshCw">    </p:cNvPr>
          <p:cNvPicPr>
            <a:picLocks noChangeAspect="1"/>
          </p:cNvPicPr>
          <p:nvPr/>
        </p:nvPicPr>
        <p:blipFill>
          <a:blip r:embed="rId3"/>
          <a:stretch>
            <a:fillRect/>
          </a:stretch>
        </p:blipFill>
        <p:spPr>
          <a:xfrm>
            <a:off x="6339840" y="1325880"/>
            <a:ext cx="219456" cy="219456"/>
          </a:xfrm>
          <a:prstGeom prst="rect">
            <a:avLst/>
          </a:prstGeom>
        </p:spPr>
      </p:pic>
      <p:sp>
        <p:nvSpPr>
          <p:cNvPr id="23" name="Text 17"/>
          <p:cNvSpPr txBox="1"/>
          <p:nvPr/>
        </p:nvSpPr>
        <p:spPr>
          <a:xfrm>
            <a:off x="677875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Sostituire</a:t>
            </a:r>
            <a:endParaRPr lang="it-IT" sz="1300" dirty="0"/>
          </a:p>
        </p:txBody>
      </p:sp>
      <p:sp>
        <p:nvSpPr>
          <p:cNvPr id="24" name="Text 18"/>
          <p:cNvSpPr txBox="1"/>
          <p:nvPr/>
        </p:nvSpPr>
        <p:spPr>
          <a:xfrm>
            <a:off x="6230112" y="1764792"/>
            <a:ext cx="2292096" cy="292608"/>
          </a:xfrm>
          <a:prstGeom prst="rect">
            <a:avLst/>
          </a:prstGeom>
          <a:noFill/>
          <a:ln/>
        </p:spPr>
        <p:txBody>
          <a:bodyPr wrap="square" lIns="0" tIns="0" rIns="0" bIns="0" rtlCol="0" anchor="t"/>
          <a:lstStyle/>
          <a:p>
            <a:pPr indent="0" marL="0">
              <a:buNone/>
            </a:pPr>
            <a:r>
              <a:rPr lang="it-IT" sz="1200" dirty="0">
                <a:solidFill>
                  <a:schemeClr val="tx2"/>
                </a:solidFill>
              </a:rPr>
              <a:t>Colore, sfondo, oggetto</a:t>
            </a:r>
            <a:endParaRPr lang="it-IT" sz="1200" dirty="0"/>
          </a:p>
        </p:txBody>
      </p:sp>
      <p:sp>
        <p:nvSpPr>
          <p:cNvPr id="25" name="Cambiare stile"/>
          <p:cNvSpPr/>
          <p:nvPr/>
        </p:nvSpPr>
        <p:spPr>
          <a:xfrm>
            <a:off x="457200" y="2331720"/>
            <a:ext cx="2621280" cy="1097280"/>
          </a:xfrm>
          <a:prstGeom prst="roundRect">
            <a:avLst>
              <a:gd name="adj" fmla="val 6667"/>
            </a:avLst>
          </a:prstGeom>
          <a:solidFill>
            <a:schemeClr val="bg2"/>
          </a:solidFill>
          <a:ln/>
        </p:spPr>
      </p:sp>
      <p:sp>
        <p:nvSpPr>
          <p:cNvPr id="26" name="cerchio FiFeather"/>
          <p:cNvSpPr/>
          <p:nvPr/>
        </p:nvSpPr>
        <p:spPr>
          <a:xfrm>
            <a:off x="621792" y="2496312"/>
            <a:ext cx="438912" cy="438912"/>
          </a:xfrm>
          <a:prstGeom prst="ellipse">
            <a:avLst/>
          </a:prstGeom>
          <a:solidFill>
            <a:schemeClr val="accent1"/>
          </a:solidFill>
          <a:ln/>
        </p:spPr>
      </p:sp>
      <p:pic>
        <p:nvPicPr>
          <p:cNvPr id="27" name="Image 3" descr="FiFeather">    </p:cNvPr>
          <p:cNvPicPr>
            <a:picLocks noChangeAspect="1"/>
          </p:cNvPicPr>
          <p:nvPr/>
        </p:nvPicPr>
        <p:blipFill>
          <a:blip r:embed="rId4"/>
          <a:stretch>
            <a:fillRect/>
          </a:stretch>
        </p:blipFill>
        <p:spPr>
          <a:xfrm>
            <a:off x="731520" y="2606040"/>
            <a:ext cx="219456" cy="219456"/>
          </a:xfrm>
          <a:prstGeom prst="rect">
            <a:avLst/>
          </a:prstGeom>
        </p:spPr>
      </p:pic>
      <p:sp>
        <p:nvSpPr>
          <p:cNvPr id="28" name="Text 21"/>
          <p:cNvSpPr txBox="1"/>
          <p:nvPr/>
        </p:nvSpPr>
        <p:spPr>
          <a:xfrm>
            <a:off x="1170432" y="245973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Cambiare stile</a:t>
            </a:r>
            <a:endParaRPr lang="it-IT" sz="1300" dirty="0"/>
          </a:p>
        </p:txBody>
      </p:sp>
      <p:sp>
        <p:nvSpPr>
          <p:cNvPr id="29" name="Text 22"/>
          <p:cNvSpPr txBox="1"/>
          <p:nvPr/>
        </p:nvSpPr>
        <p:spPr>
          <a:xfrm>
            <a:off x="621792" y="3044952"/>
            <a:ext cx="2292096" cy="292608"/>
          </a:xfrm>
          <a:prstGeom prst="rect">
            <a:avLst/>
          </a:prstGeom>
          <a:noFill/>
          <a:ln/>
        </p:spPr>
        <p:txBody>
          <a:bodyPr wrap="square" lIns="0" tIns="0" rIns="0" bIns="0" rtlCol="0" anchor="t"/>
          <a:lstStyle/>
          <a:p>
            <a:pPr indent="0" marL="0">
              <a:buNone/>
            </a:pPr>
            <a:r>
              <a:rPr lang="it-IT" sz="1200" dirty="0">
                <a:solidFill>
                  <a:schemeClr val="tx2"/>
                </a:solidFill>
              </a:rPr>
              <a:t>Da foto a disegno o acquerello</a:t>
            </a:r>
            <a:endParaRPr lang="it-IT" sz="1200" dirty="0"/>
          </a:p>
        </p:txBody>
      </p:sp>
      <p:sp>
        <p:nvSpPr>
          <p:cNvPr id="30" name="Composizione"/>
          <p:cNvSpPr/>
          <p:nvPr/>
        </p:nvSpPr>
        <p:spPr>
          <a:xfrm>
            <a:off x="3261360" y="2331720"/>
            <a:ext cx="2621280" cy="1097280"/>
          </a:xfrm>
          <a:prstGeom prst="roundRect">
            <a:avLst>
              <a:gd name="adj" fmla="val 6667"/>
            </a:avLst>
          </a:prstGeom>
          <a:solidFill>
            <a:schemeClr val="bg2"/>
          </a:solidFill>
          <a:ln/>
        </p:spPr>
      </p:sp>
      <p:sp>
        <p:nvSpPr>
          <p:cNvPr id="31" name="cerchio FiMaximize"/>
          <p:cNvSpPr/>
          <p:nvPr/>
        </p:nvSpPr>
        <p:spPr>
          <a:xfrm>
            <a:off x="3425952" y="2496312"/>
            <a:ext cx="438912" cy="438912"/>
          </a:xfrm>
          <a:prstGeom prst="ellipse">
            <a:avLst/>
          </a:prstGeom>
          <a:solidFill>
            <a:schemeClr val="accent1"/>
          </a:solidFill>
          <a:ln/>
        </p:spPr>
      </p:sp>
      <p:pic>
        <p:nvPicPr>
          <p:cNvPr id="32" name="Image 4" descr="FiMaximize">    </p:cNvPr>
          <p:cNvPicPr>
            <a:picLocks noChangeAspect="1"/>
          </p:cNvPicPr>
          <p:nvPr/>
        </p:nvPicPr>
        <p:blipFill>
          <a:blip r:embed="rId5"/>
          <a:stretch>
            <a:fillRect/>
          </a:stretch>
        </p:blipFill>
        <p:spPr>
          <a:xfrm>
            <a:off x="3535680" y="2606040"/>
            <a:ext cx="219456" cy="219456"/>
          </a:xfrm>
          <a:prstGeom prst="rect">
            <a:avLst/>
          </a:prstGeom>
        </p:spPr>
      </p:pic>
      <p:sp>
        <p:nvSpPr>
          <p:cNvPr id="33" name="Text 25"/>
          <p:cNvSpPr txBox="1"/>
          <p:nvPr/>
        </p:nvSpPr>
        <p:spPr>
          <a:xfrm>
            <a:off x="3974592" y="245973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Composizione</a:t>
            </a:r>
            <a:endParaRPr lang="it-IT" sz="1300" dirty="0"/>
          </a:p>
        </p:txBody>
      </p:sp>
      <p:sp>
        <p:nvSpPr>
          <p:cNvPr id="34" name="Text 26"/>
          <p:cNvSpPr txBox="1"/>
          <p:nvPr/>
        </p:nvSpPr>
        <p:spPr>
          <a:xfrm>
            <a:off x="3425952" y="3044952"/>
            <a:ext cx="2292096" cy="292608"/>
          </a:xfrm>
          <a:prstGeom prst="rect">
            <a:avLst/>
          </a:prstGeom>
          <a:noFill/>
          <a:ln/>
        </p:spPr>
        <p:txBody>
          <a:bodyPr wrap="square" lIns="0" tIns="0" rIns="0" bIns="0" rtlCol="0" anchor="t"/>
          <a:lstStyle/>
          <a:p>
            <a:pPr indent="0" marL="0">
              <a:buNone/>
            </a:pPr>
            <a:r>
              <a:rPr lang="it-IT" sz="1200" dirty="0">
                <a:solidFill>
                  <a:schemeClr val="tx2"/>
                </a:solidFill>
              </a:rPr>
              <a:t>Estendere, reinquadrare</a:t>
            </a:r>
            <a:endParaRPr lang="it-IT" sz="1200" dirty="0"/>
          </a:p>
        </p:txBody>
      </p:sp>
      <p:sp>
        <p:nvSpPr>
          <p:cNvPr id="35" name="Formato"/>
          <p:cNvSpPr/>
          <p:nvPr/>
        </p:nvSpPr>
        <p:spPr>
          <a:xfrm>
            <a:off x="6065520" y="2331720"/>
            <a:ext cx="2621280" cy="1097280"/>
          </a:xfrm>
          <a:prstGeom prst="roundRect">
            <a:avLst>
              <a:gd name="adj" fmla="val 6667"/>
            </a:avLst>
          </a:prstGeom>
          <a:solidFill>
            <a:schemeClr val="bg2"/>
          </a:solidFill>
          <a:ln/>
        </p:spPr>
      </p:sp>
      <p:sp>
        <p:nvSpPr>
          <p:cNvPr id="36" name="cerchio FiSmartphone"/>
          <p:cNvSpPr/>
          <p:nvPr/>
        </p:nvSpPr>
        <p:spPr>
          <a:xfrm>
            <a:off x="6230112" y="2496312"/>
            <a:ext cx="438912" cy="438912"/>
          </a:xfrm>
          <a:prstGeom prst="ellipse">
            <a:avLst/>
          </a:prstGeom>
          <a:solidFill>
            <a:schemeClr val="accent1"/>
          </a:solidFill>
          <a:ln/>
        </p:spPr>
      </p:sp>
      <p:pic>
        <p:nvPicPr>
          <p:cNvPr id="37" name="Image 5" descr="FiSmartphone">    </p:cNvPr>
          <p:cNvPicPr>
            <a:picLocks noChangeAspect="1"/>
          </p:cNvPicPr>
          <p:nvPr/>
        </p:nvPicPr>
        <p:blipFill>
          <a:blip r:embed="rId6"/>
          <a:stretch>
            <a:fillRect/>
          </a:stretch>
        </p:blipFill>
        <p:spPr>
          <a:xfrm>
            <a:off x="6339840" y="2606040"/>
            <a:ext cx="219456" cy="219456"/>
          </a:xfrm>
          <a:prstGeom prst="rect">
            <a:avLst/>
          </a:prstGeom>
        </p:spPr>
      </p:pic>
      <p:sp>
        <p:nvSpPr>
          <p:cNvPr id="38" name="Text 29"/>
          <p:cNvSpPr txBox="1"/>
          <p:nvPr/>
        </p:nvSpPr>
        <p:spPr>
          <a:xfrm>
            <a:off x="6778752" y="245973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Formato</a:t>
            </a:r>
            <a:endParaRPr lang="it-IT" sz="1300" dirty="0"/>
          </a:p>
        </p:txBody>
      </p:sp>
      <p:sp>
        <p:nvSpPr>
          <p:cNvPr id="39" name="Text 30"/>
          <p:cNvSpPr txBox="1"/>
          <p:nvPr/>
        </p:nvSpPr>
        <p:spPr>
          <a:xfrm>
            <a:off x="6230112" y="3044952"/>
            <a:ext cx="2292096" cy="292608"/>
          </a:xfrm>
          <a:prstGeom prst="rect">
            <a:avLst/>
          </a:prstGeom>
          <a:noFill/>
          <a:ln/>
        </p:spPr>
        <p:txBody>
          <a:bodyPr wrap="square" lIns="0" tIns="0" rIns="0" bIns="0" rtlCol="0" anchor="t"/>
          <a:lstStyle/>
          <a:p>
            <a:pPr indent="0" marL="0">
              <a:buNone/>
            </a:pPr>
            <a:r>
              <a:rPr lang="it-IT" sz="1200" dirty="0">
                <a:solidFill>
                  <a:schemeClr val="tx2"/>
                </a:solidFill>
              </a:rPr>
              <a:t>Orizzontale, verticale, risoluzione</a:t>
            </a:r>
            <a:endParaRPr lang="it-IT" sz="1200" dirty="0"/>
          </a:p>
        </p:txBody>
      </p:sp>
      <p:sp>
        <p:nvSpPr>
          <p:cNvPr id="40" name="attenzione documentazione"/>
          <p:cNvSpPr/>
          <p:nvPr/>
        </p:nvSpPr>
        <p:spPr>
          <a:xfrm>
            <a:off x="457200" y="3611880"/>
            <a:ext cx="8229600" cy="914400"/>
          </a:xfrm>
          <a:prstGeom prst="roundRect">
            <a:avLst>
              <a:gd name="adj" fmla="val 8000"/>
            </a:avLst>
          </a:prstGeom>
          <a:solidFill>
            <a:schemeClr val="tx1"/>
          </a:solidFill>
          <a:ln/>
        </p:spPr>
      </p:sp>
      <p:sp>
        <p:nvSpPr>
          <p:cNvPr id="41" name="Text 32"/>
          <p:cNvSpPr txBox="1"/>
          <p:nvPr/>
        </p:nvSpPr>
        <p:spPr>
          <a:xfrm>
            <a:off x="640080" y="3611880"/>
            <a:ext cx="7863840" cy="914400"/>
          </a:xfrm>
          <a:prstGeom prst="rect">
            <a:avLst/>
          </a:prstGeom>
          <a:noFill/>
          <a:ln/>
        </p:spPr>
        <p:txBody>
          <a:bodyPr wrap="square" lIns="0" tIns="0" rIns="0" bIns="0" rtlCol="0" anchor="ctr"/>
          <a:lstStyle/>
          <a:p>
            <a:pPr indent="0" marL="0">
              <a:buNone/>
            </a:pPr>
            <a:r>
              <a:rPr lang="it-IT" sz="1300" b="1" dirty="0">
                <a:solidFill>
                  <a:schemeClr val="accent6"/>
                </a:solidFill>
              </a:rPr>
              <a:t>Foto usate come documentazione: </a:t>
            </a:r>
            <a:pPr indent="0" marL="0">
              <a:buNone/>
            </a:pPr>
            <a:r>
              <a:rPr lang="it-IT" sz="1300" dirty="0">
                <a:solidFill>
                  <a:schemeClr val="bg1"/>
                </a:solidFill>
              </a:rPr>
              <a:t>togliere un elemento dalla foto di un cantiere o di un danno cambia ciò che documenta. Lavorare su una copia e dichiarare le modifiche.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20</a:t>
            </a:fld>
            <a:endParaRPr lang="it-IT"/>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Esempio: un'immagine in due passi</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sp>
        <p:nvSpPr>
          <p:cNvPr id="10" name="prompt"/>
          <p:cNvSpPr/>
          <p:nvPr/>
        </p:nvSpPr>
        <p:spPr>
          <a:xfrm>
            <a:off x="457200" y="1051560"/>
            <a:ext cx="2697480" cy="1371600"/>
          </a:xfrm>
          <a:prstGeom prst="roundRect">
            <a:avLst>
              <a:gd name="adj" fmla="val 5333"/>
            </a:avLst>
          </a:prstGeom>
          <a:solidFill>
            <a:schemeClr val="bg2"/>
          </a:solidFill>
          <a:ln/>
        </p:spPr>
      </p:sp>
      <p:sp>
        <p:nvSpPr>
          <p:cNvPr id="11" name="Text 8"/>
          <p:cNvSpPr txBox="1"/>
          <p:nvPr/>
        </p:nvSpPr>
        <p:spPr>
          <a:xfrm>
            <a:off x="621792" y="1143000"/>
            <a:ext cx="2368296" cy="256032"/>
          </a:xfrm>
          <a:prstGeom prst="rect">
            <a:avLst/>
          </a:prstGeom>
          <a:noFill/>
          <a:ln/>
        </p:spPr>
        <p:txBody>
          <a:bodyPr wrap="square" lIns="0" tIns="0" rIns="0" bIns="0" rtlCol="0" anchor="t"/>
          <a:lstStyle/>
          <a:p>
            <a:pPr indent="0" marL="0">
              <a:buNone/>
            </a:pPr>
            <a:r>
              <a:rPr lang="it-IT" sz="1100" b="1" dirty="0">
                <a:solidFill>
                  <a:schemeClr val="accent1"/>
                </a:solidFill>
              </a:rPr>
              <a:t>1. Richiesta iniziale</a:t>
            </a:r>
            <a:endParaRPr lang="it-IT" sz="1100" dirty="0"/>
          </a:p>
        </p:txBody>
      </p:sp>
      <p:sp>
        <p:nvSpPr>
          <p:cNvPr id="12" name="Text 9"/>
          <p:cNvSpPr txBox="1"/>
          <p:nvPr/>
        </p:nvSpPr>
        <p:spPr>
          <a:xfrm>
            <a:off x="621792" y="1417320"/>
            <a:ext cx="2368296" cy="914400"/>
          </a:xfrm>
          <a:prstGeom prst="rect">
            <a:avLst/>
          </a:prstGeom>
          <a:noFill/>
          <a:ln/>
        </p:spPr>
        <p:txBody>
          <a:bodyPr wrap="square" lIns="0" tIns="0" rIns="0" bIns="0" rtlCol="0" anchor="t"/>
          <a:lstStyle/>
          <a:p>
            <a:pPr indent="0" marL="0">
              <a:buNone/>
            </a:pPr>
            <a:r>
              <a:rPr lang="it-IT" sz="1000" dirty="0">
                <a:solidFill>
                  <a:schemeClr val="tx1"/>
                </a:solidFill>
                <a:latin typeface="Courier New" pitchFamily="34" charset="0"/>
                <a:ea typeface="Courier New" pitchFamily="34" charset="-122"/>
                <a:cs typeface="Courier New" pitchFamily="34" charset="-120"/>
              </a:rPr>
              <a:t>Illustrazione in stile piatto per la copertina di un corso sulla sicurezza in magazzino: scaffali e un carrello elevatore, colori sobri, formato 16:9, nessun testo.</a:t>
            </a:r>
            <a:endParaRPr lang="it-IT" sz="1000" dirty="0"/>
          </a:p>
        </p:txBody>
      </p:sp>
      <p:sp>
        <p:nvSpPr>
          <p:cNvPr id="13" name="prompt"/>
          <p:cNvSpPr/>
          <p:nvPr/>
        </p:nvSpPr>
        <p:spPr>
          <a:xfrm>
            <a:off x="457200" y="2560320"/>
            <a:ext cx="2697480" cy="1371600"/>
          </a:xfrm>
          <a:prstGeom prst="roundRect">
            <a:avLst>
              <a:gd name="adj" fmla="val 5333"/>
            </a:avLst>
          </a:prstGeom>
          <a:solidFill>
            <a:schemeClr val="accent6"/>
          </a:solidFill>
          <a:ln/>
        </p:spPr>
      </p:sp>
      <p:sp>
        <p:nvSpPr>
          <p:cNvPr id="14" name="Text 11"/>
          <p:cNvSpPr txBox="1"/>
          <p:nvPr/>
        </p:nvSpPr>
        <p:spPr>
          <a:xfrm>
            <a:off x="621792" y="2651760"/>
            <a:ext cx="2368296" cy="256032"/>
          </a:xfrm>
          <a:prstGeom prst="rect">
            <a:avLst/>
          </a:prstGeom>
          <a:noFill/>
          <a:ln/>
        </p:spPr>
        <p:txBody>
          <a:bodyPr wrap="square" lIns="0" tIns="0" rIns="0" bIns="0" rtlCol="0" anchor="t"/>
          <a:lstStyle/>
          <a:p>
            <a:pPr indent="0" marL="0">
              <a:buNone/>
            </a:pPr>
            <a:r>
              <a:rPr lang="it-IT" sz="1100" b="1" dirty="0">
                <a:solidFill>
                  <a:schemeClr val="accent1"/>
                </a:solidFill>
              </a:rPr>
              <a:t>2. Richiesta di modifica</a:t>
            </a:r>
            <a:endParaRPr lang="it-IT" sz="1100" dirty="0"/>
          </a:p>
        </p:txBody>
      </p:sp>
      <p:sp>
        <p:nvSpPr>
          <p:cNvPr id="15" name="Text 12"/>
          <p:cNvSpPr txBox="1"/>
          <p:nvPr/>
        </p:nvSpPr>
        <p:spPr>
          <a:xfrm>
            <a:off x="621792" y="2926080"/>
            <a:ext cx="2368296" cy="914400"/>
          </a:xfrm>
          <a:prstGeom prst="rect">
            <a:avLst/>
          </a:prstGeom>
          <a:noFill/>
          <a:ln/>
        </p:spPr>
        <p:txBody>
          <a:bodyPr wrap="square" lIns="0" tIns="0" rIns="0" bIns="0" rtlCol="0" anchor="t"/>
          <a:lstStyle/>
          <a:p>
            <a:pPr indent="0" marL="0">
              <a:buNone/>
            </a:pPr>
            <a:r>
              <a:rPr lang="it-IT" sz="1000" dirty="0">
                <a:solidFill>
                  <a:schemeClr val="tx1"/>
                </a:solidFill>
                <a:latin typeface="Courier New" pitchFamily="34" charset="0"/>
                <a:ea typeface="Courier New" pitchFamily="34" charset="-122"/>
                <a:cs typeface="Courier New" pitchFamily="34" charset="-120"/>
              </a:rPr>
              <a:t>Mantieni soggetti e stile. Usa verde petrolio e grigi, togli la scritta sullo scaffale, sposta la scena a destra e lascia spazio a sinistra per il titolo.</a:t>
            </a:r>
            <a:endParaRPr lang="it-IT" sz="1000" dirty="0"/>
          </a:p>
        </p:txBody>
      </p:sp>
      <p:sp>
        <p:nvSpPr>
          <p:cNvPr id="16" name="Text 13"/>
          <p:cNvSpPr txBox="1"/>
          <p:nvPr/>
        </p:nvSpPr>
        <p:spPr>
          <a:xfrm>
            <a:off x="3337560" y="1005840"/>
            <a:ext cx="2560320" cy="256032"/>
          </a:xfrm>
          <a:prstGeom prst="rect">
            <a:avLst/>
          </a:prstGeom>
          <a:noFill/>
          <a:ln/>
        </p:spPr>
        <p:txBody>
          <a:bodyPr wrap="square" lIns="0" tIns="0" rIns="0" bIns="0" rtlCol="0" anchor="t"/>
          <a:lstStyle/>
          <a:p>
            <a:pPr indent="0" marL="0">
              <a:buNone/>
            </a:pPr>
            <a:r>
              <a:rPr lang="it-IT" sz="1100" b="1" dirty="0">
                <a:solidFill>
                  <a:schemeClr val="accent5"/>
                </a:solidFill>
              </a:rPr>
              <a:t>Versione 1</a:t>
            </a:r>
            <a:endParaRPr lang="it-IT" sz="1100" dirty="0"/>
          </a:p>
        </p:txBody>
      </p:sp>
      <p:sp>
        <p:nvSpPr>
          <p:cNvPr id="17" name="sfondo illustrazione 1"/>
          <p:cNvSpPr/>
          <p:nvPr/>
        </p:nvSpPr>
        <p:spPr>
          <a:xfrm>
            <a:off x="3337560" y="1280160"/>
            <a:ext cx="2560320" cy="1463040"/>
          </a:xfrm>
          <a:prstGeom prst="rect">
            <a:avLst/>
          </a:prstGeom>
          <a:solidFill>
            <a:srgbClr val="FCE7B2"/>
          </a:solidFill>
          <a:ln w="9525">
            <a:solidFill>
              <a:srgbClr val="D5D9DE"/>
            </a:solidFill>
            <a:prstDash val="solid"/>
          </a:ln>
        </p:spPr>
      </p:sp>
      <p:sp>
        <p:nvSpPr>
          <p:cNvPr id="18" name="pavimento"/>
          <p:cNvSpPr/>
          <p:nvPr/>
        </p:nvSpPr>
        <p:spPr>
          <a:xfrm>
            <a:off x="3410712" y="2538374"/>
            <a:ext cx="2414016" cy="32004"/>
          </a:xfrm>
          <a:prstGeom prst="rect">
            <a:avLst/>
          </a:prstGeom>
          <a:solidFill>
            <a:srgbClr val="C92A2A"/>
          </a:solidFill>
          <a:ln/>
        </p:spPr>
      </p:sp>
      <p:sp>
        <p:nvSpPr>
          <p:cNvPr id="19" name="montante"/>
          <p:cNvSpPr/>
          <p:nvPr/>
        </p:nvSpPr>
        <p:spPr>
          <a:xfrm>
            <a:off x="3502152" y="1481328"/>
            <a:ext cx="32004" cy="1057046"/>
          </a:xfrm>
          <a:prstGeom prst="rect">
            <a:avLst/>
          </a:prstGeom>
          <a:solidFill>
            <a:srgbClr val="D9480F"/>
          </a:solidFill>
          <a:ln/>
        </p:spPr>
      </p:sp>
      <p:sp>
        <p:nvSpPr>
          <p:cNvPr id="20" name="montante"/>
          <p:cNvSpPr/>
          <p:nvPr/>
        </p:nvSpPr>
        <p:spPr>
          <a:xfrm>
            <a:off x="3927348" y="1481328"/>
            <a:ext cx="32004" cy="1057046"/>
          </a:xfrm>
          <a:prstGeom prst="rect">
            <a:avLst/>
          </a:prstGeom>
          <a:solidFill>
            <a:srgbClr val="D9480F"/>
          </a:solidFill>
          <a:ln/>
        </p:spPr>
      </p:sp>
      <p:sp>
        <p:nvSpPr>
          <p:cNvPr id="21" name="ripiano"/>
          <p:cNvSpPr/>
          <p:nvPr/>
        </p:nvSpPr>
        <p:spPr>
          <a:xfrm>
            <a:off x="3502152" y="1797101"/>
            <a:ext cx="457200" cy="27432"/>
          </a:xfrm>
          <a:prstGeom prst="rect">
            <a:avLst/>
          </a:prstGeom>
          <a:solidFill>
            <a:srgbClr val="D9480F"/>
          </a:solidFill>
          <a:ln/>
        </p:spPr>
      </p:sp>
      <p:sp>
        <p:nvSpPr>
          <p:cNvPr id="22" name="scatola"/>
          <p:cNvSpPr/>
          <p:nvPr/>
        </p:nvSpPr>
        <p:spPr>
          <a:xfrm>
            <a:off x="3566160" y="1614221"/>
            <a:ext cx="164592" cy="182880"/>
          </a:xfrm>
          <a:prstGeom prst="rect">
            <a:avLst/>
          </a:prstGeom>
          <a:solidFill>
            <a:srgbClr val="37B24D"/>
          </a:solidFill>
          <a:ln/>
        </p:spPr>
      </p:sp>
      <p:sp>
        <p:nvSpPr>
          <p:cNvPr id="23" name="scatola"/>
          <p:cNvSpPr/>
          <p:nvPr/>
        </p:nvSpPr>
        <p:spPr>
          <a:xfrm>
            <a:off x="3739896" y="1659941"/>
            <a:ext cx="137160" cy="137160"/>
          </a:xfrm>
          <a:prstGeom prst="rect">
            <a:avLst/>
          </a:prstGeom>
          <a:solidFill>
            <a:srgbClr val="1C7ED6"/>
          </a:solidFill>
          <a:ln/>
        </p:spPr>
      </p:sp>
      <p:sp>
        <p:nvSpPr>
          <p:cNvPr id="24" name="ripiano"/>
          <p:cNvSpPr/>
          <p:nvPr/>
        </p:nvSpPr>
        <p:spPr>
          <a:xfrm>
            <a:off x="3502152" y="2149450"/>
            <a:ext cx="457200" cy="27432"/>
          </a:xfrm>
          <a:prstGeom prst="rect">
            <a:avLst/>
          </a:prstGeom>
          <a:solidFill>
            <a:srgbClr val="D9480F"/>
          </a:solidFill>
          <a:ln/>
        </p:spPr>
      </p:sp>
      <p:sp>
        <p:nvSpPr>
          <p:cNvPr id="25" name="ripiano"/>
          <p:cNvSpPr/>
          <p:nvPr/>
        </p:nvSpPr>
        <p:spPr>
          <a:xfrm>
            <a:off x="3502152" y="2501798"/>
            <a:ext cx="457200" cy="27432"/>
          </a:xfrm>
          <a:prstGeom prst="rect">
            <a:avLst/>
          </a:prstGeom>
          <a:solidFill>
            <a:srgbClr val="D9480F"/>
          </a:solidFill>
          <a:ln/>
        </p:spPr>
      </p:sp>
      <p:sp>
        <p:nvSpPr>
          <p:cNvPr id="26" name="scatola"/>
          <p:cNvSpPr/>
          <p:nvPr/>
        </p:nvSpPr>
        <p:spPr>
          <a:xfrm>
            <a:off x="3566160" y="2318918"/>
            <a:ext cx="164592" cy="182880"/>
          </a:xfrm>
          <a:prstGeom prst="rect">
            <a:avLst/>
          </a:prstGeom>
          <a:solidFill>
            <a:srgbClr val="37B24D"/>
          </a:solidFill>
          <a:ln/>
        </p:spPr>
      </p:sp>
      <p:sp>
        <p:nvSpPr>
          <p:cNvPr id="27" name="scatola"/>
          <p:cNvSpPr/>
          <p:nvPr/>
        </p:nvSpPr>
        <p:spPr>
          <a:xfrm>
            <a:off x="3739896" y="2364638"/>
            <a:ext cx="137160" cy="137160"/>
          </a:xfrm>
          <a:prstGeom prst="rect">
            <a:avLst/>
          </a:prstGeom>
          <a:solidFill>
            <a:srgbClr val="1C7ED6"/>
          </a:solidFill>
          <a:ln/>
        </p:spPr>
      </p:sp>
      <p:sp>
        <p:nvSpPr>
          <p:cNvPr id="28" name="montante"/>
          <p:cNvSpPr/>
          <p:nvPr/>
        </p:nvSpPr>
        <p:spPr>
          <a:xfrm>
            <a:off x="4069080" y="1481328"/>
            <a:ext cx="32004" cy="1057046"/>
          </a:xfrm>
          <a:prstGeom prst="rect">
            <a:avLst/>
          </a:prstGeom>
          <a:solidFill>
            <a:srgbClr val="D9480F"/>
          </a:solidFill>
          <a:ln/>
        </p:spPr>
      </p:sp>
      <p:sp>
        <p:nvSpPr>
          <p:cNvPr id="29" name="montante"/>
          <p:cNvSpPr/>
          <p:nvPr/>
        </p:nvSpPr>
        <p:spPr>
          <a:xfrm>
            <a:off x="4494276" y="1481328"/>
            <a:ext cx="32004" cy="1057046"/>
          </a:xfrm>
          <a:prstGeom prst="rect">
            <a:avLst/>
          </a:prstGeom>
          <a:solidFill>
            <a:srgbClr val="D9480F"/>
          </a:solidFill>
          <a:ln/>
        </p:spPr>
      </p:sp>
      <p:sp>
        <p:nvSpPr>
          <p:cNvPr id="30" name="ripiano"/>
          <p:cNvSpPr/>
          <p:nvPr/>
        </p:nvSpPr>
        <p:spPr>
          <a:xfrm>
            <a:off x="4069080" y="1797101"/>
            <a:ext cx="457200" cy="27432"/>
          </a:xfrm>
          <a:prstGeom prst="rect">
            <a:avLst/>
          </a:prstGeom>
          <a:solidFill>
            <a:srgbClr val="D9480F"/>
          </a:solidFill>
          <a:ln/>
        </p:spPr>
      </p:sp>
      <p:sp>
        <p:nvSpPr>
          <p:cNvPr id="31" name="ripiano"/>
          <p:cNvSpPr/>
          <p:nvPr/>
        </p:nvSpPr>
        <p:spPr>
          <a:xfrm>
            <a:off x="4069080" y="2149450"/>
            <a:ext cx="457200" cy="27432"/>
          </a:xfrm>
          <a:prstGeom prst="rect">
            <a:avLst/>
          </a:prstGeom>
          <a:solidFill>
            <a:srgbClr val="D9480F"/>
          </a:solidFill>
          <a:ln/>
        </p:spPr>
      </p:sp>
      <p:sp>
        <p:nvSpPr>
          <p:cNvPr id="32" name="scatola"/>
          <p:cNvSpPr/>
          <p:nvPr/>
        </p:nvSpPr>
        <p:spPr>
          <a:xfrm>
            <a:off x="4133088" y="1966570"/>
            <a:ext cx="164592" cy="182880"/>
          </a:xfrm>
          <a:prstGeom prst="rect">
            <a:avLst/>
          </a:prstGeom>
          <a:solidFill>
            <a:srgbClr val="37B24D"/>
          </a:solidFill>
          <a:ln/>
        </p:spPr>
      </p:sp>
      <p:sp>
        <p:nvSpPr>
          <p:cNvPr id="33" name="scatola"/>
          <p:cNvSpPr/>
          <p:nvPr/>
        </p:nvSpPr>
        <p:spPr>
          <a:xfrm>
            <a:off x="4306824" y="2012290"/>
            <a:ext cx="137160" cy="137160"/>
          </a:xfrm>
          <a:prstGeom prst="rect">
            <a:avLst/>
          </a:prstGeom>
          <a:solidFill>
            <a:srgbClr val="1C7ED6"/>
          </a:solidFill>
          <a:ln/>
        </p:spPr>
      </p:sp>
      <p:sp>
        <p:nvSpPr>
          <p:cNvPr id="34" name="ripiano"/>
          <p:cNvSpPr/>
          <p:nvPr/>
        </p:nvSpPr>
        <p:spPr>
          <a:xfrm>
            <a:off x="4069080" y="2501798"/>
            <a:ext cx="457200" cy="27432"/>
          </a:xfrm>
          <a:prstGeom prst="rect">
            <a:avLst/>
          </a:prstGeom>
          <a:solidFill>
            <a:srgbClr val="D9480F"/>
          </a:solidFill>
          <a:ln/>
        </p:spPr>
      </p:sp>
      <p:sp>
        <p:nvSpPr>
          <p:cNvPr id="35" name="scatola"/>
          <p:cNvSpPr/>
          <p:nvPr/>
        </p:nvSpPr>
        <p:spPr>
          <a:xfrm>
            <a:off x="4133088" y="2318918"/>
            <a:ext cx="164592" cy="182880"/>
          </a:xfrm>
          <a:prstGeom prst="rect">
            <a:avLst/>
          </a:prstGeom>
          <a:solidFill>
            <a:srgbClr val="1C7ED6"/>
          </a:solidFill>
          <a:ln/>
        </p:spPr>
      </p:sp>
      <p:sp>
        <p:nvSpPr>
          <p:cNvPr id="36" name="montante"/>
          <p:cNvSpPr/>
          <p:nvPr/>
        </p:nvSpPr>
        <p:spPr>
          <a:xfrm>
            <a:off x="4636008" y="1481328"/>
            <a:ext cx="32004" cy="1057046"/>
          </a:xfrm>
          <a:prstGeom prst="rect">
            <a:avLst/>
          </a:prstGeom>
          <a:solidFill>
            <a:srgbClr val="D9480F"/>
          </a:solidFill>
          <a:ln/>
        </p:spPr>
      </p:sp>
      <p:sp>
        <p:nvSpPr>
          <p:cNvPr id="37" name="montante"/>
          <p:cNvSpPr/>
          <p:nvPr/>
        </p:nvSpPr>
        <p:spPr>
          <a:xfrm>
            <a:off x="5061204" y="1481328"/>
            <a:ext cx="32004" cy="1057046"/>
          </a:xfrm>
          <a:prstGeom prst="rect">
            <a:avLst/>
          </a:prstGeom>
          <a:solidFill>
            <a:srgbClr val="D9480F"/>
          </a:solidFill>
          <a:ln/>
        </p:spPr>
      </p:sp>
      <p:sp>
        <p:nvSpPr>
          <p:cNvPr id="38" name="ripiano"/>
          <p:cNvSpPr/>
          <p:nvPr/>
        </p:nvSpPr>
        <p:spPr>
          <a:xfrm>
            <a:off x="4636008" y="1797101"/>
            <a:ext cx="457200" cy="27432"/>
          </a:xfrm>
          <a:prstGeom prst="rect">
            <a:avLst/>
          </a:prstGeom>
          <a:solidFill>
            <a:srgbClr val="D9480F"/>
          </a:solidFill>
          <a:ln/>
        </p:spPr>
      </p:sp>
      <p:sp>
        <p:nvSpPr>
          <p:cNvPr id="39" name="scatola"/>
          <p:cNvSpPr/>
          <p:nvPr/>
        </p:nvSpPr>
        <p:spPr>
          <a:xfrm>
            <a:off x="4700016" y="1614221"/>
            <a:ext cx="164592" cy="182880"/>
          </a:xfrm>
          <a:prstGeom prst="rect">
            <a:avLst/>
          </a:prstGeom>
          <a:solidFill>
            <a:srgbClr val="37B24D"/>
          </a:solidFill>
          <a:ln/>
        </p:spPr>
      </p:sp>
      <p:sp>
        <p:nvSpPr>
          <p:cNvPr id="40" name="scatola"/>
          <p:cNvSpPr/>
          <p:nvPr/>
        </p:nvSpPr>
        <p:spPr>
          <a:xfrm>
            <a:off x="4873752" y="1659941"/>
            <a:ext cx="137160" cy="137160"/>
          </a:xfrm>
          <a:prstGeom prst="rect">
            <a:avLst/>
          </a:prstGeom>
          <a:solidFill>
            <a:srgbClr val="1C7ED6"/>
          </a:solidFill>
          <a:ln/>
        </p:spPr>
      </p:sp>
      <p:sp>
        <p:nvSpPr>
          <p:cNvPr id="41" name="ripiano"/>
          <p:cNvSpPr/>
          <p:nvPr/>
        </p:nvSpPr>
        <p:spPr>
          <a:xfrm>
            <a:off x="4636008" y="2149450"/>
            <a:ext cx="457200" cy="27432"/>
          </a:xfrm>
          <a:prstGeom prst="rect">
            <a:avLst/>
          </a:prstGeom>
          <a:solidFill>
            <a:srgbClr val="D9480F"/>
          </a:solidFill>
          <a:ln/>
        </p:spPr>
      </p:sp>
      <p:sp>
        <p:nvSpPr>
          <p:cNvPr id="42" name="scatola"/>
          <p:cNvSpPr/>
          <p:nvPr/>
        </p:nvSpPr>
        <p:spPr>
          <a:xfrm>
            <a:off x="4700016" y="1966570"/>
            <a:ext cx="164592" cy="182880"/>
          </a:xfrm>
          <a:prstGeom prst="rect">
            <a:avLst/>
          </a:prstGeom>
          <a:solidFill>
            <a:srgbClr val="1C7ED6"/>
          </a:solidFill>
          <a:ln/>
        </p:spPr>
      </p:sp>
      <p:sp>
        <p:nvSpPr>
          <p:cNvPr id="43" name="ripiano"/>
          <p:cNvSpPr/>
          <p:nvPr/>
        </p:nvSpPr>
        <p:spPr>
          <a:xfrm>
            <a:off x="4636008" y="2501798"/>
            <a:ext cx="457200" cy="27432"/>
          </a:xfrm>
          <a:prstGeom prst="rect">
            <a:avLst/>
          </a:prstGeom>
          <a:solidFill>
            <a:srgbClr val="D9480F"/>
          </a:solidFill>
          <a:ln/>
        </p:spPr>
      </p:sp>
      <p:sp>
        <p:nvSpPr>
          <p:cNvPr id="44" name="scatola"/>
          <p:cNvSpPr/>
          <p:nvPr/>
        </p:nvSpPr>
        <p:spPr>
          <a:xfrm>
            <a:off x="4873752" y="2364638"/>
            <a:ext cx="137160" cy="137160"/>
          </a:xfrm>
          <a:prstGeom prst="rect">
            <a:avLst/>
          </a:prstGeom>
          <a:solidFill>
            <a:srgbClr val="1C7ED6"/>
          </a:solidFill>
          <a:ln/>
        </p:spPr>
      </p:sp>
      <p:sp>
        <p:nvSpPr>
          <p:cNvPr id="45" name="carrello"/>
          <p:cNvSpPr/>
          <p:nvPr/>
        </p:nvSpPr>
        <p:spPr>
          <a:xfrm>
            <a:off x="5276088" y="2190902"/>
            <a:ext cx="384048" cy="256032"/>
          </a:xfrm>
          <a:prstGeom prst="rect">
            <a:avLst/>
          </a:prstGeom>
          <a:solidFill>
            <a:srgbClr val="F08C00"/>
          </a:solidFill>
          <a:ln/>
        </p:spPr>
      </p:sp>
      <p:sp>
        <p:nvSpPr>
          <p:cNvPr id="46" name="cabina"/>
          <p:cNvSpPr/>
          <p:nvPr/>
        </p:nvSpPr>
        <p:spPr>
          <a:xfrm>
            <a:off x="5385816" y="2008022"/>
            <a:ext cx="182880" cy="182880"/>
          </a:xfrm>
          <a:prstGeom prst="rect">
            <a:avLst/>
          </a:prstGeom>
          <a:ln w="19050">
            <a:solidFill>
              <a:srgbClr val="F08C00"/>
            </a:solidFill>
            <a:prstDash val="solid"/>
          </a:ln>
        </p:spPr>
      </p:sp>
      <p:sp>
        <p:nvSpPr>
          <p:cNvPr id="47" name="montante carrello"/>
          <p:cNvSpPr/>
          <p:nvPr/>
        </p:nvSpPr>
        <p:spPr>
          <a:xfrm>
            <a:off x="5221224" y="1898294"/>
            <a:ext cx="36576" cy="566928"/>
          </a:xfrm>
          <a:prstGeom prst="rect">
            <a:avLst/>
          </a:prstGeom>
          <a:solidFill>
            <a:srgbClr val="D9480F"/>
          </a:solidFill>
          <a:ln/>
        </p:spPr>
      </p:sp>
      <p:sp>
        <p:nvSpPr>
          <p:cNvPr id="48" name="forche"/>
          <p:cNvSpPr/>
          <p:nvPr/>
        </p:nvSpPr>
        <p:spPr>
          <a:xfrm>
            <a:off x="5038344" y="2428646"/>
            <a:ext cx="201168" cy="27432"/>
          </a:xfrm>
          <a:prstGeom prst="rect">
            <a:avLst/>
          </a:prstGeom>
          <a:solidFill>
            <a:srgbClr val="D9480F"/>
          </a:solidFill>
          <a:ln/>
        </p:spPr>
      </p:sp>
      <p:sp>
        <p:nvSpPr>
          <p:cNvPr id="49" name="ruota"/>
          <p:cNvSpPr/>
          <p:nvPr/>
        </p:nvSpPr>
        <p:spPr>
          <a:xfrm>
            <a:off x="5312664" y="2419502"/>
            <a:ext cx="118872" cy="118872"/>
          </a:xfrm>
          <a:prstGeom prst="ellipse">
            <a:avLst/>
          </a:prstGeom>
          <a:solidFill>
            <a:srgbClr val="22262B"/>
          </a:solidFill>
          <a:ln/>
        </p:spPr>
      </p:sp>
      <p:sp>
        <p:nvSpPr>
          <p:cNvPr id="50" name="ruota"/>
          <p:cNvSpPr/>
          <p:nvPr/>
        </p:nvSpPr>
        <p:spPr>
          <a:xfrm>
            <a:off x="5532120" y="2419502"/>
            <a:ext cx="118872" cy="118872"/>
          </a:xfrm>
          <a:prstGeom prst="ellipse">
            <a:avLst/>
          </a:prstGeom>
          <a:solidFill>
            <a:srgbClr val="22262B"/>
          </a:solidFill>
          <a:ln/>
        </p:spPr>
      </p:sp>
      <p:sp>
        <p:nvSpPr>
          <p:cNvPr id="51" name="scritta inventata"/>
          <p:cNvSpPr/>
          <p:nvPr/>
        </p:nvSpPr>
        <p:spPr>
          <a:xfrm>
            <a:off x="3557016" y="1499616"/>
            <a:ext cx="384048" cy="155448"/>
          </a:xfrm>
          <a:prstGeom prst="rect">
            <a:avLst/>
          </a:prstGeom>
          <a:solidFill>
            <a:srgbClr val="FFFFFF"/>
          </a:solidFill>
          <a:ln w="9525">
            <a:solidFill>
              <a:srgbClr val="C92A2A"/>
            </a:solidFill>
            <a:prstDash val="solid"/>
          </a:ln>
        </p:spPr>
      </p:sp>
      <p:sp>
        <p:nvSpPr>
          <p:cNvPr id="52" name="Text 49"/>
          <p:cNvSpPr txBox="1"/>
          <p:nvPr/>
        </p:nvSpPr>
        <p:spPr>
          <a:xfrm>
            <a:off x="3557016" y="1499616"/>
            <a:ext cx="384048" cy="155448"/>
          </a:xfrm>
          <a:prstGeom prst="rect">
            <a:avLst/>
          </a:prstGeom>
          <a:noFill/>
          <a:ln/>
        </p:spPr>
        <p:txBody>
          <a:bodyPr wrap="square" lIns="0" tIns="0" rIns="0" bIns="0" rtlCol="0" anchor="ctr"/>
          <a:lstStyle/>
          <a:p>
            <a:pPr algn="ctr" indent="0" marL="0">
              <a:buNone/>
            </a:pPr>
            <a:r>
              <a:rPr lang="it-IT" sz="700" b="1" dirty="0">
                <a:solidFill>
                  <a:srgbClr val="C92A2A"/>
                </a:solidFill>
              </a:rPr>
              <a:t>ZXQ-7</a:t>
            </a:r>
            <a:endParaRPr lang="it-IT" sz="700" dirty="0"/>
          </a:p>
        </p:txBody>
      </p:sp>
      <p:sp>
        <p:nvSpPr>
          <p:cNvPr id="53" name="Text 50"/>
          <p:cNvSpPr txBox="1"/>
          <p:nvPr/>
        </p:nvSpPr>
        <p:spPr>
          <a:xfrm>
            <a:off x="6126480" y="1005840"/>
            <a:ext cx="2560320" cy="256032"/>
          </a:xfrm>
          <a:prstGeom prst="rect">
            <a:avLst/>
          </a:prstGeom>
          <a:noFill/>
          <a:ln/>
        </p:spPr>
        <p:txBody>
          <a:bodyPr wrap="square" lIns="0" tIns="0" rIns="0" bIns="0" rtlCol="0" anchor="t"/>
          <a:lstStyle/>
          <a:p>
            <a:pPr indent="0" marL="0">
              <a:buNone/>
            </a:pPr>
            <a:r>
              <a:rPr lang="it-IT" sz="1100" b="1" dirty="0">
                <a:solidFill>
                  <a:schemeClr val="accent1"/>
                </a:solidFill>
              </a:rPr>
              <a:t>Versione 2</a:t>
            </a:r>
            <a:endParaRPr lang="it-IT" sz="1100" dirty="0"/>
          </a:p>
        </p:txBody>
      </p:sp>
      <p:sp>
        <p:nvSpPr>
          <p:cNvPr id="54" name="sfondo illustrazione 2"/>
          <p:cNvSpPr/>
          <p:nvPr/>
        </p:nvSpPr>
        <p:spPr>
          <a:xfrm>
            <a:off x="6126480" y="1280160"/>
            <a:ext cx="2560320" cy="1463040"/>
          </a:xfrm>
          <a:prstGeom prst="rect">
            <a:avLst/>
          </a:prstGeom>
          <a:solidFill>
            <a:srgbClr val="F2F3F5"/>
          </a:solidFill>
          <a:ln w="9525">
            <a:solidFill>
              <a:srgbClr val="D5D9DE"/>
            </a:solidFill>
            <a:prstDash val="solid"/>
          </a:ln>
        </p:spPr>
      </p:sp>
      <p:sp>
        <p:nvSpPr>
          <p:cNvPr id="55" name="pavimento"/>
          <p:cNvSpPr/>
          <p:nvPr/>
        </p:nvSpPr>
        <p:spPr>
          <a:xfrm>
            <a:off x="6199632" y="2538374"/>
            <a:ext cx="2414016" cy="32004"/>
          </a:xfrm>
          <a:prstGeom prst="rect">
            <a:avLst/>
          </a:prstGeom>
          <a:solidFill>
            <a:srgbClr val="8A939E"/>
          </a:solidFill>
          <a:ln/>
        </p:spPr>
      </p:sp>
      <p:sp>
        <p:nvSpPr>
          <p:cNvPr id="56" name="montante"/>
          <p:cNvSpPr/>
          <p:nvPr/>
        </p:nvSpPr>
        <p:spPr>
          <a:xfrm>
            <a:off x="7150608" y="1481328"/>
            <a:ext cx="32004" cy="1057046"/>
          </a:xfrm>
          <a:prstGeom prst="rect">
            <a:avLst/>
          </a:prstGeom>
          <a:solidFill>
            <a:srgbClr val="5B6573"/>
          </a:solidFill>
          <a:ln/>
        </p:spPr>
      </p:sp>
      <p:sp>
        <p:nvSpPr>
          <p:cNvPr id="57" name="montante"/>
          <p:cNvSpPr/>
          <p:nvPr/>
        </p:nvSpPr>
        <p:spPr>
          <a:xfrm>
            <a:off x="7447788" y="1481328"/>
            <a:ext cx="32004" cy="1057046"/>
          </a:xfrm>
          <a:prstGeom prst="rect">
            <a:avLst/>
          </a:prstGeom>
          <a:solidFill>
            <a:srgbClr val="5B6573"/>
          </a:solidFill>
          <a:ln/>
        </p:spPr>
      </p:sp>
      <p:sp>
        <p:nvSpPr>
          <p:cNvPr id="58" name="ripiano"/>
          <p:cNvSpPr/>
          <p:nvPr/>
        </p:nvSpPr>
        <p:spPr>
          <a:xfrm>
            <a:off x="7150608" y="1797101"/>
            <a:ext cx="329184" cy="27432"/>
          </a:xfrm>
          <a:prstGeom prst="rect">
            <a:avLst/>
          </a:prstGeom>
          <a:solidFill>
            <a:srgbClr val="5B6573"/>
          </a:solidFill>
          <a:ln/>
        </p:spPr>
      </p:sp>
      <p:sp>
        <p:nvSpPr>
          <p:cNvPr id="59" name="scatola"/>
          <p:cNvSpPr/>
          <p:nvPr/>
        </p:nvSpPr>
        <p:spPr>
          <a:xfrm>
            <a:off x="7214616" y="1614221"/>
            <a:ext cx="118506" cy="182880"/>
          </a:xfrm>
          <a:prstGeom prst="rect">
            <a:avLst/>
          </a:prstGeom>
          <a:solidFill>
            <a:srgbClr val="2E7D7A"/>
          </a:solidFill>
          <a:ln/>
        </p:spPr>
      </p:sp>
      <p:sp>
        <p:nvSpPr>
          <p:cNvPr id="60" name="scatola"/>
          <p:cNvSpPr/>
          <p:nvPr/>
        </p:nvSpPr>
        <p:spPr>
          <a:xfrm>
            <a:off x="7321784" y="1659941"/>
            <a:ext cx="98755" cy="137160"/>
          </a:xfrm>
          <a:prstGeom prst="rect">
            <a:avLst/>
          </a:prstGeom>
          <a:solidFill>
            <a:srgbClr val="8A939E"/>
          </a:solidFill>
          <a:ln/>
        </p:spPr>
      </p:sp>
      <p:sp>
        <p:nvSpPr>
          <p:cNvPr id="61" name="ripiano"/>
          <p:cNvSpPr/>
          <p:nvPr/>
        </p:nvSpPr>
        <p:spPr>
          <a:xfrm>
            <a:off x="7150608" y="2149450"/>
            <a:ext cx="329184" cy="27432"/>
          </a:xfrm>
          <a:prstGeom prst="rect">
            <a:avLst/>
          </a:prstGeom>
          <a:solidFill>
            <a:srgbClr val="5B6573"/>
          </a:solidFill>
          <a:ln/>
        </p:spPr>
      </p:sp>
      <p:sp>
        <p:nvSpPr>
          <p:cNvPr id="62" name="ripiano"/>
          <p:cNvSpPr/>
          <p:nvPr/>
        </p:nvSpPr>
        <p:spPr>
          <a:xfrm>
            <a:off x="7150608" y="2501798"/>
            <a:ext cx="329184" cy="27432"/>
          </a:xfrm>
          <a:prstGeom prst="rect">
            <a:avLst/>
          </a:prstGeom>
          <a:solidFill>
            <a:srgbClr val="5B6573"/>
          </a:solidFill>
          <a:ln/>
        </p:spPr>
      </p:sp>
      <p:sp>
        <p:nvSpPr>
          <p:cNvPr id="63" name="scatola"/>
          <p:cNvSpPr/>
          <p:nvPr/>
        </p:nvSpPr>
        <p:spPr>
          <a:xfrm>
            <a:off x="7214616" y="2318918"/>
            <a:ext cx="118506" cy="182880"/>
          </a:xfrm>
          <a:prstGeom prst="rect">
            <a:avLst/>
          </a:prstGeom>
          <a:solidFill>
            <a:srgbClr val="2E7D7A"/>
          </a:solidFill>
          <a:ln/>
        </p:spPr>
      </p:sp>
      <p:sp>
        <p:nvSpPr>
          <p:cNvPr id="64" name="scatola"/>
          <p:cNvSpPr/>
          <p:nvPr/>
        </p:nvSpPr>
        <p:spPr>
          <a:xfrm>
            <a:off x="7321784" y="2364638"/>
            <a:ext cx="98755" cy="137160"/>
          </a:xfrm>
          <a:prstGeom prst="rect">
            <a:avLst/>
          </a:prstGeom>
          <a:solidFill>
            <a:srgbClr val="8A939E"/>
          </a:solidFill>
          <a:ln/>
        </p:spPr>
      </p:sp>
      <p:sp>
        <p:nvSpPr>
          <p:cNvPr id="65" name="montante"/>
          <p:cNvSpPr/>
          <p:nvPr/>
        </p:nvSpPr>
        <p:spPr>
          <a:xfrm>
            <a:off x="7552944" y="1481328"/>
            <a:ext cx="32004" cy="1057046"/>
          </a:xfrm>
          <a:prstGeom prst="rect">
            <a:avLst/>
          </a:prstGeom>
          <a:solidFill>
            <a:srgbClr val="5B6573"/>
          </a:solidFill>
          <a:ln/>
        </p:spPr>
      </p:sp>
      <p:sp>
        <p:nvSpPr>
          <p:cNvPr id="66" name="montante"/>
          <p:cNvSpPr/>
          <p:nvPr/>
        </p:nvSpPr>
        <p:spPr>
          <a:xfrm>
            <a:off x="7850124" y="1481328"/>
            <a:ext cx="32004" cy="1057046"/>
          </a:xfrm>
          <a:prstGeom prst="rect">
            <a:avLst/>
          </a:prstGeom>
          <a:solidFill>
            <a:srgbClr val="5B6573"/>
          </a:solidFill>
          <a:ln/>
        </p:spPr>
      </p:sp>
      <p:sp>
        <p:nvSpPr>
          <p:cNvPr id="67" name="ripiano"/>
          <p:cNvSpPr/>
          <p:nvPr/>
        </p:nvSpPr>
        <p:spPr>
          <a:xfrm>
            <a:off x="7552944" y="1797101"/>
            <a:ext cx="329184" cy="27432"/>
          </a:xfrm>
          <a:prstGeom prst="rect">
            <a:avLst/>
          </a:prstGeom>
          <a:solidFill>
            <a:srgbClr val="5B6573"/>
          </a:solidFill>
          <a:ln/>
        </p:spPr>
      </p:sp>
      <p:sp>
        <p:nvSpPr>
          <p:cNvPr id="68" name="ripiano"/>
          <p:cNvSpPr/>
          <p:nvPr/>
        </p:nvSpPr>
        <p:spPr>
          <a:xfrm>
            <a:off x="7552944" y="2149450"/>
            <a:ext cx="329184" cy="27432"/>
          </a:xfrm>
          <a:prstGeom prst="rect">
            <a:avLst/>
          </a:prstGeom>
          <a:solidFill>
            <a:srgbClr val="5B6573"/>
          </a:solidFill>
          <a:ln/>
        </p:spPr>
      </p:sp>
      <p:sp>
        <p:nvSpPr>
          <p:cNvPr id="69" name="scatola"/>
          <p:cNvSpPr/>
          <p:nvPr/>
        </p:nvSpPr>
        <p:spPr>
          <a:xfrm>
            <a:off x="7616952" y="1966570"/>
            <a:ext cx="118506" cy="182880"/>
          </a:xfrm>
          <a:prstGeom prst="rect">
            <a:avLst/>
          </a:prstGeom>
          <a:solidFill>
            <a:srgbClr val="2E7D7A"/>
          </a:solidFill>
          <a:ln/>
        </p:spPr>
      </p:sp>
      <p:sp>
        <p:nvSpPr>
          <p:cNvPr id="70" name="scatola"/>
          <p:cNvSpPr/>
          <p:nvPr/>
        </p:nvSpPr>
        <p:spPr>
          <a:xfrm>
            <a:off x="7724120" y="2012290"/>
            <a:ext cx="98755" cy="137160"/>
          </a:xfrm>
          <a:prstGeom prst="rect">
            <a:avLst/>
          </a:prstGeom>
          <a:solidFill>
            <a:srgbClr val="8A939E"/>
          </a:solidFill>
          <a:ln/>
        </p:spPr>
      </p:sp>
      <p:sp>
        <p:nvSpPr>
          <p:cNvPr id="71" name="ripiano"/>
          <p:cNvSpPr/>
          <p:nvPr/>
        </p:nvSpPr>
        <p:spPr>
          <a:xfrm>
            <a:off x="7552944" y="2501798"/>
            <a:ext cx="329184" cy="27432"/>
          </a:xfrm>
          <a:prstGeom prst="rect">
            <a:avLst/>
          </a:prstGeom>
          <a:solidFill>
            <a:srgbClr val="5B6573"/>
          </a:solidFill>
          <a:ln/>
        </p:spPr>
      </p:sp>
      <p:sp>
        <p:nvSpPr>
          <p:cNvPr id="72" name="scatola"/>
          <p:cNvSpPr/>
          <p:nvPr/>
        </p:nvSpPr>
        <p:spPr>
          <a:xfrm>
            <a:off x="7616952" y="2318918"/>
            <a:ext cx="118506" cy="182880"/>
          </a:xfrm>
          <a:prstGeom prst="rect">
            <a:avLst/>
          </a:prstGeom>
          <a:solidFill>
            <a:srgbClr val="8A939E"/>
          </a:solidFill>
          <a:ln/>
        </p:spPr>
      </p:sp>
      <p:sp>
        <p:nvSpPr>
          <p:cNvPr id="73" name="montante"/>
          <p:cNvSpPr/>
          <p:nvPr/>
        </p:nvSpPr>
        <p:spPr>
          <a:xfrm>
            <a:off x="7955280" y="1481328"/>
            <a:ext cx="32004" cy="1057046"/>
          </a:xfrm>
          <a:prstGeom prst="rect">
            <a:avLst/>
          </a:prstGeom>
          <a:solidFill>
            <a:srgbClr val="5B6573"/>
          </a:solidFill>
          <a:ln/>
        </p:spPr>
      </p:sp>
      <p:sp>
        <p:nvSpPr>
          <p:cNvPr id="74" name="montante"/>
          <p:cNvSpPr/>
          <p:nvPr/>
        </p:nvSpPr>
        <p:spPr>
          <a:xfrm>
            <a:off x="8252460" y="1481328"/>
            <a:ext cx="32004" cy="1057046"/>
          </a:xfrm>
          <a:prstGeom prst="rect">
            <a:avLst/>
          </a:prstGeom>
          <a:solidFill>
            <a:srgbClr val="5B6573"/>
          </a:solidFill>
          <a:ln/>
        </p:spPr>
      </p:sp>
      <p:sp>
        <p:nvSpPr>
          <p:cNvPr id="75" name="ripiano"/>
          <p:cNvSpPr/>
          <p:nvPr/>
        </p:nvSpPr>
        <p:spPr>
          <a:xfrm>
            <a:off x="7955280" y="1797101"/>
            <a:ext cx="329184" cy="27432"/>
          </a:xfrm>
          <a:prstGeom prst="rect">
            <a:avLst/>
          </a:prstGeom>
          <a:solidFill>
            <a:srgbClr val="5B6573"/>
          </a:solidFill>
          <a:ln/>
        </p:spPr>
      </p:sp>
      <p:sp>
        <p:nvSpPr>
          <p:cNvPr id="76" name="scatola"/>
          <p:cNvSpPr/>
          <p:nvPr/>
        </p:nvSpPr>
        <p:spPr>
          <a:xfrm>
            <a:off x="8019288" y="1614221"/>
            <a:ext cx="118506" cy="182880"/>
          </a:xfrm>
          <a:prstGeom prst="rect">
            <a:avLst/>
          </a:prstGeom>
          <a:solidFill>
            <a:srgbClr val="2E7D7A"/>
          </a:solidFill>
          <a:ln/>
        </p:spPr>
      </p:sp>
      <p:sp>
        <p:nvSpPr>
          <p:cNvPr id="77" name="scatola"/>
          <p:cNvSpPr/>
          <p:nvPr/>
        </p:nvSpPr>
        <p:spPr>
          <a:xfrm>
            <a:off x="8126456" y="1659941"/>
            <a:ext cx="98755" cy="137160"/>
          </a:xfrm>
          <a:prstGeom prst="rect">
            <a:avLst/>
          </a:prstGeom>
          <a:solidFill>
            <a:srgbClr val="8A939E"/>
          </a:solidFill>
          <a:ln/>
        </p:spPr>
      </p:sp>
      <p:sp>
        <p:nvSpPr>
          <p:cNvPr id="78" name="ripiano"/>
          <p:cNvSpPr/>
          <p:nvPr/>
        </p:nvSpPr>
        <p:spPr>
          <a:xfrm>
            <a:off x="7955280" y="2149450"/>
            <a:ext cx="329184" cy="27432"/>
          </a:xfrm>
          <a:prstGeom prst="rect">
            <a:avLst/>
          </a:prstGeom>
          <a:solidFill>
            <a:srgbClr val="5B6573"/>
          </a:solidFill>
          <a:ln/>
        </p:spPr>
      </p:sp>
      <p:sp>
        <p:nvSpPr>
          <p:cNvPr id="79" name="scatola"/>
          <p:cNvSpPr/>
          <p:nvPr/>
        </p:nvSpPr>
        <p:spPr>
          <a:xfrm>
            <a:off x="8019288" y="1966570"/>
            <a:ext cx="118506" cy="182880"/>
          </a:xfrm>
          <a:prstGeom prst="rect">
            <a:avLst/>
          </a:prstGeom>
          <a:solidFill>
            <a:srgbClr val="8A939E"/>
          </a:solidFill>
          <a:ln/>
        </p:spPr>
      </p:sp>
      <p:sp>
        <p:nvSpPr>
          <p:cNvPr id="80" name="ripiano"/>
          <p:cNvSpPr/>
          <p:nvPr/>
        </p:nvSpPr>
        <p:spPr>
          <a:xfrm>
            <a:off x="7955280" y="2501798"/>
            <a:ext cx="329184" cy="27432"/>
          </a:xfrm>
          <a:prstGeom prst="rect">
            <a:avLst/>
          </a:prstGeom>
          <a:solidFill>
            <a:srgbClr val="5B6573"/>
          </a:solidFill>
          <a:ln/>
        </p:spPr>
      </p:sp>
      <p:sp>
        <p:nvSpPr>
          <p:cNvPr id="81" name="scatola"/>
          <p:cNvSpPr/>
          <p:nvPr/>
        </p:nvSpPr>
        <p:spPr>
          <a:xfrm>
            <a:off x="8126456" y="2364638"/>
            <a:ext cx="98755" cy="137160"/>
          </a:xfrm>
          <a:prstGeom prst="rect">
            <a:avLst/>
          </a:prstGeom>
          <a:solidFill>
            <a:srgbClr val="8A939E"/>
          </a:solidFill>
          <a:ln/>
        </p:spPr>
      </p:sp>
      <p:sp>
        <p:nvSpPr>
          <p:cNvPr id="82" name="carrello"/>
          <p:cNvSpPr/>
          <p:nvPr/>
        </p:nvSpPr>
        <p:spPr>
          <a:xfrm>
            <a:off x="8193024" y="2260397"/>
            <a:ext cx="307238" cy="204826"/>
          </a:xfrm>
          <a:prstGeom prst="rect">
            <a:avLst/>
          </a:prstGeom>
          <a:solidFill>
            <a:srgbClr val="2E7D7A"/>
          </a:solidFill>
          <a:ln/>
        </p:spPr>
      </p:sp>
      <p:sp>
        <p:nvSpPr>
          <p:cNvPr id="83" name="cabina"/>
          <p:cNvSpPr/>
          <p:nvPr/>
        </p:nvSpPr>
        <p:spPr>
          <a:xfrm>
            <a:off x="8280806" y="2114093"/>
            <a:ext cx="146304" cy="146304"/>
          </a:xfrm>
          <a:prstGeom prst="rect">
            <a:avLst/>
          </a:prstGeom>
          <a:ln w="19050">
            <a:solidFill>
              <a:srgbClr val="2E7D7A"/>
            </a:solidFill>
            <a:prstDash val="solid"/>
          </a:ln>
        </p:spPr>
      </p:sp>
      <p:sp>
        <p:nvSpPr>
          <p:cNvPr id="84" name="montante carrello"/>
          <p:cNvSpPr/>
          <p:nvPr/>
        </p:nvSpPr>
        <p:spPr>
          <a:xfrm>
            <a:off x="8149133" y="2026310"/>
            <a:ext cx="29261" cy="453542"/>
          </a:xfrm>
          <a:prstGeom prst="rect">
            <a:avLst/>
          </a:prstGeom>
          <a:solidFill>
            <a:srgbClr val="5B6573"/>
          </a:solidFill>
          <a:ln/>
        </p:spPr>
      </p:sp>
      <p:sp>
        <p:nvSpPr>
          <p:cNvPr id="85" name="forche"/>
          <p:cNvSpPr/>
          <p:nvPr/>
        </p:nvSpPr>
        <p:spPr>
          <a:xfrm>
            <a:off x="8002829" y="2450592"/>
            <a:ext cx="160934" cy="27432"/>
          </a:xfrm>
          <a:prstGeom prst="rect">
            <a:avLst/>
          </a:prstGeom>
          <a:solidFill>
            <a:srgbClr val="5B6573"/>
          </a:solidFill>
          <a:ln/>
        </p:spPr>
      </p:sp>
      <p:sp>
        <p:nvSpPr>
          <p:cNvPr id="86" name="ruota"/>
          <p:cNvSpPr/>
          <p:nvPr/>
        </p:nvSpPr>
        <p:spPr>
          <a:xfrm>
            <a:off x="8222285" y="2443277"/>
            <a:ext cx="95098" cy="95098"/>
          </a:xfrm>
          <a:prstGeom prst="ellipse">
            <a:avLst/>
          </a:prstGeom>
          <a:solidFill>
            <a:srgbClr val="22262B"/>
          </a:solidFill>
          <a:ln/>
        </p:spPr>
      </p:sp>
      <p:sp>
        <p:nvSpPr>
          <p:cNvPr id="87" name="ruota"/>
          <p:cNvSpPr/>
          <p:nvPr/>
        </p:nvSpPr>
        <p:spPr>
          <a:xfrm>
            <a:off x="8397850" y="2443277"/>
            <a:ext cx="95098" cy="95098"/>
          </a:xfrm>
          <a:prstGeom prst="ellipse">
            <a:avLst/>
          </a:prstGeom>
          <a:solidFill>
            <a:srgbClr val="22262B"/>
          </a:solidFill>
          <a:ln/>
        </p:spPr>
      </p:sp>
      <p:sp>
        <p:nvSpPr>
          <p:cNvPr id="88" name="spazio titolo"/>
          <p:cNvSpPr/>
          <p:nvPr/>
        </p:nvSpPr>
        <p:spPr>
          <a:xfrm>
            <a:off x="6263640" y="1554480"/>
            <a:ext cx="768096" cy="658368"/>
          </a:xfrm>
          <a:prstGeom prst="rect">
            <a:avLst/>
          </a:prstGeom>
          <a:ln w="12700">
            <a:solidFill>
              <a:srgbClr val="8A939E"/>
            </a:solidFill>
            <a:prstDash val="dash"/>
          </a:ln>
        </p:spPr>
      </p:sp>
      <p:sp>
        <p:nvSpPr>
          <p:cNvPr id="89" name="Text 86"/>
          <p:cNvSpPr txBox="1"/>
          <p:nvPr/>
        </p:nvSpPr>
        <p:spPr>
          <a:xfrm>
            <a:off x="6263640" y="1554480"/>
            <a:ext cx="768096" cy="658368"/>
          </a:xfrm>
          <a:prstGeom prst="rect">
            <a:avLst/>
          </a:prstGeom>
          <a:noFill/>
          <a:ln/>
        </p:spPr>
        <p:txBody>
          <a:bodyPr wrap="square" lIns="0" tIns="0" rIns="0" bIns="0" rtlCol="0" anchor="ctr"/>
          <a:lstStyle/>
          <a:p>
            <a:pPr algn="ctr" indent="0" marL="0">
              <a:buNone/>
            </a:pPr>
            <a:r>
              <a:rPr lang="it-IT" sz="800" i="1" dirty="0">
                <a:solidFill>
                  <a:schemeClr val="tx2"/>
                </a:solidFill>
              </a:rPr>
              <a:t>Spazio per il titolo</a:t>
            </a:r>
            <a:endParaRPr lang="it-IT" sz="800" dirty="0"/>
          </a:p>
        </p:txBody>
      </p:sp>
      <p:sp>
        <p:nvSpPr>
          <p:cNvPr id="90" name="freccia"/>
          <p:cNvSpPr/>
          <p:nvPr/>
        </p:nvSpPr>
        <p:spPr>
          <a:xfrm>
            <a:off x="5916168" y="1874520"/>
            <a:ext cx="182880" cy="292608"/>
          </a:xfrm>
          <a:prstGeom prst="rightArrow">
            <a:avLst/>
          </a:prstGeom>
          <a:solidFill>
            <a:schemeClr val="accent2"/>
          </a:solidFill>
          <a:ln/>
        </p:spPr>
      </p:sp>
      <p:sp>
        <p:nvSpPr>
          <p:cNvPr id="91" name="riquadro Che cosa si vede"/>
          <p:cNvSpPr/>
          <p:nvPr/>
        </p:nvSpPr>
        <p:spPr>
          <a:xfrm>
            <a:off x="3337560" y="2880360"/>
            <a:ext cx="2560320" cy="1051560"/>
          </a:xfrm>
          <a:prstGeom prst="roundRect">
            <a:avLst>
              <a:gd name="adj" fmla="val 6957"/>
            </a:avLst>
          </a:prstGeom>
          <a:solidFill>
            <a:schemeClr val="bg2"/>
          </a:solidFill>
          <a:ln/>
        </p:spPr>
      </p:sp>
      <p:sp>
        <p:nvSpPr>
          <p:cNvPr id="92" name="barra"/>
          <p:cNvSpPr/>
          <p:nvPr/>
        </p:nvSpPr>
        <p:spPr>
          <a:xfrm>
            <a:off x="3337560" y="2990088"/>
            <a:ext cx="54864" cy="832104"/>
          </a:xfrm>
          <a:prstGeom prst="rect">
            <a:avLst/>
          </a:prstGeom>
          <a:solidFill>
            <a:schemeClr val="accent5"/>
          </a:solidFill>
          <a:ln/>
        </p:spPr>
      </p:sp>
      <p:sp>
        <p:nvSpPr>
          <p:cNvPr id="93" name="Text 90"/>
          <p:cNvSpPr txBox="1"/>
          <p:nvPr/>
        </p:nvSpPr>
        <p:spPr>
          <a:xfrm>
            <a:off x="3538728" y="2971800"/>
            <a:ext cx="2194560" cy="256032"/>
          </a:xfrm>
          <a:prstGeom prst="rect">
            <a:avLst/>
          </a:prstGeom>
          <a:noFill/>
          <a:ln/>
        </p:spPr>
        <p:txBody>
          <a:bodyPr wrap="square" lIns="0" tIns="0" rIns="0" bIns="0" rtlCol="0" anchor="t"/>
          <a:lstStyle/>
          <a:p>
            <a:pPr indent="0" marL="0">
              <a:buNone/>
            </a:pPr>
            <a:r>
              <a:rPr lang="it-IT" sz="1100" b="1" dirty="0">
                <a:solidFill>
                  <a:schemeClr val="accent5"/>
                </a:solidFill>
              </a:rPr>
              <a:t>Che cosa si vede</a:t>
            </a:r>
            <a:endParaRPr lang="it-IT" sz="1100" dirty="0"/>
          </a:p>
        </p:txBody>
      </p:sp>
      <p:sp>
        <p:nvSpPr>
          <p:cNvPr id="94" name="Text 91"/>
          <p:cNvSpPr txBox="1"/>
          <p:nvPr/>
        </p:nvSpPr>
        <p:spPr>
          <a:xfrm>
            <a:off x="3538728" y="3264408"/>
            <a:ext cx="2194560" cy="576072"/>
          </a:xfrm>
          <a:prstGeom prst="rect">
            <a:avLst/>
          </a:prstGeom>
          <a:noFill/>
          <a:ln/>
        </p:spPr>
        <p:txBody>
          <a:bodyPr wrap="square" lIns="0" tIns="0" rIns="0" bIns="0" rtlCol="0" anchor="t"/>
          <a:lstStyle/>
          <a:p>
            <a:pPr indent="0" marL="0">
              <a:buNone/>
            </a:pPr>
            <a:r>
              <a:rPr lang="it-IT" sz="1100" dirty="0">
                <a:solidFill>
                  <a:schemeClr val="tx1"/>
                </a:solidFill>
              </a:rPr>
              <a:t>Composizione giusta; colori troppo accesi; una scritta inventata.</a:t>
            </a:r>
            <a:endParaRPr lang="it-IT" sz="1100" dirty="0"/>
          </a:p>
        </p:txBody>
      </p:sp>
      <p:sp>
        <p:nvSpPr>
          <p:cNvPr id="95" name="riquadro Che cosa resta da fare"/>
          <p:cNvSpPr/>
          <p:nvPr/>
        </p:nvSpPr>
        <p:spPr>
          <a:xfrm>
            <a:off x="6126480" y="2880360"/>
            <a:ext cx="2560320" cy="1051560"/>
          </a:xfrm>
          <a:prstGeom prst="roundRect">
            <a:avLst>
              <a:gd name="adj" fmla="val 6957"/>
            </a:avLst>
          </a:prstGeom>
          <a:solidFill>
            <a:schemeClr val="bg2"/>
          </a:solidFill>
          <a:ln/>
        </p:spPr>
      </p:sp>
      <p:sp>
        <p:nvSpPr>
          <p:cNvPr id="96" name="barra"/>
          <p:cNvSpPr/>
          <p:nvPr/>
        </p:nvSpPr>
        <p:spPr>
          <a:xfrm>
            <a:off x="6126480" y="2990088"/>
            <a:ext cx="54864" cy="832104"/>
          </a:xfrm>
          <a:prstGeom prst="rect">
            <a:avLst/>
          </a:prstGeom>
          <a:solidFill>
            <a:schemeClr val="accent1"/>
          </a:solidFill>
          <a:ln/>
        </p:spPr>
      </p:sp>
      <p:sp>
        <p:nvSpPr>
          <p:cNvPr id="97" name="Text 94"/>
          <p:cNvSpPr txBox="1"/>
          <p:nvPr/>
        </p:nvSpPr>
        <p:spPr>
          <a:xfrm>
            <a:off x="6327648" y="2971800"/>
            <a:ext cx="2194560" cy="256032"/>
          </a:xfrm>
          <a:prstGeom prst="rect">
            <a:avLst/>
          </a:prstGeom>
          <a:noFill/>
          <a:ln/>
        </p:spPr>
        <p:txBody>
          <a:bodyPr wrap="square" lIns="0" tIns="0" rIns="0" bIns="0" rtlCol="0" anchor="t"/>
          <a:lstStyle/>
          <a:p>
            <a:pPr indent="0" marL="0">
              <a:buNone/>
            </a:pPr>
            <a:r>
              <a:rPr lang="it-IT" sz="1100" b="1" dirty="0">
                <a:solidFill>
                  <a:schemeClr val="accent1"/>
                </a:solidFill>
              </a:rPr>
              <a:t>Che cosa resta da fare</a:t>
            </a:r>
            <a:endParaRPr lang="it-IT" sz="1100" dirty="0"/>
          </a:p>
        </p:txBody>
      </p:sp>
      <p:sp>
        <p:nvSpPr>
          <p:cNvPr id="98" name="Text 95"/>
          <p:cNvSpPr txBox="1"/>
          <p:nvPr/>
        </p:nvSpPr>
        <p:spPr>
          <a:xfrm>
            <a:off x="6327648" y="3264408"/>
            <a:ext cx="2194560" cy="576072"/>
          </a:xfrm>
          <a:prstGeom prst="rect">
            <a:avLst/>
          </a:prstGeom>
          <a:noFill/>
          <a:ln/>
        </p:spPr>
        <p:txBody>
          <a:bodyPr wrap="square" lIns="0" tIns="0" rIns="0" bIns="0" rtlCol="0" anchor="t"/>
          <a:lstStyle/>
          <a:p>
            <a:pPr indent="0" marL="0">
              <a:buNone/>
            </a:pPr>
            <a:r>
              <a:rPr lang="it-IT" sz="1100" dirty="0">
                <a:solidFill>
                  <a:schemeClr val="tx1"/>
                </a:solidFill>
              </a:rPr>
              <a:t>Controllare il carrello; titolo aggiunto in impaginazione.</a:t>
            </a:r>
            <a:endParaRPr lang="it-IT" sz="1100" dirty="0"/>
          </a:p>
        </p:txBody>
      </p:sp>
      <p:sp>
        <p:nvSpPr>
          <p:cNvPr id="99" name="messaggio"/>
          <p:cNvSpPr/>
          <p:nvPr/>
        </p:nvSpPr>
        <p:spPr>
          <a:xfrm>
            <a:off x="457200" y="4069080"/>
            <a:ext cx="8229600" cy="457200"/>
          </a:xfrm>
          <a:prstGeom prst="roundRect">
            <a:avLst>
              <a:gd name="adj" fmla="val 16000"/>
            </a:avLst>
          </a:prstGeom>
          <a:solidFill>
            <a:schemeClr val="tx1"/>
          </a:solidFill>
          <a:ln/>
        </p:spPr>
      </p:sp>
      <p:sp>
        <p:nvSpPr>
          <p:cNvPr id="100" name="Text 97"/>
          <p:cNvSpPr txBox="1"/>
          <p:nvPr/>
        </p:nvSpPr>
        <p:spPr>
          <a:xfrm>
            <a:off x="640080" y="4069080"/>
            <a:ext cx="7863840" cy="457200"/>
          </a:xfrm>
          <a:prstGeom prst="rect">
            <a:avLst/>
          </a:prstGeom>
          <a:noFill/>
          <a:ln/>
        </p:spPr>
        <p:txBody>
          <a:bodyPr wrap="square" lIns="0" tIns="0" rIns="0" bIns="0" rtlCol="0" anchor="ctr"/>
          <a:lstStyle/>
          <a:p>
            <a:pPr indent="0" marL="0">
              <a:buNone/>
            </a:pPr>
            <a:r>
              <a:rPr lang="it-IT" sz="1200" dirty="0">
                <a:solidFill>
                  <a:schemeClr val="bg1"/>
                </a:solidFill>
              </a:rPr>
              <a:t>Esempio fittizio: illustrazioni schematiche, non output reali. Si affina il risultato invece di ripartire da zero.</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21</a:t>
            </a:fld>
            <a:endParaRPr lang="it-IT"/>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Applicazioni alla comunicazione</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560320"/>
                <a:gridCol w="2834640"/>
                <a:gridCol w="2834640"/>
              </a:tblGrid>
              <a:tr h="420624">
                <a:tc>
                  <a:txBody>
                    <a:bodyPr/>
                    <a:lstStyle/>
                    <a:p>
                      <a:pPr indent="0" marL="0">
                        <a:buNone/>
                      </a:pPr>
                      <a:r>
                        <a:rPr lang="it-IT" sz="1200" b="1" dirty="0">
                          <a:solidFill>
                            <a:schemeClr val="bg1"/>
                          </a:solidFill>
                        </a:rPr>
                        <a:t>Applicazione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200" b="1" dirty="0">
                          <a:solidFill>
                            <a:schemeClr val="bg1"/>
                          </a:solidFill>
                        </a:rPr>
                        <a:t>Valore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it-IT" sz="1200" b="1" dirty="0">
                          <a:solidFill>
                            <a:schemeClr val="bg1"/>
                          </a:solidFill>
                        </a:rPr>
                        <a:t>Attenzione principale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20624">
                <a:tc>
                  <a:txBody>
                    <a:bodyPr/>
                    <a:lstStyle/>
                    <a:p>
                      <a:pPr indent="0" marL="0">
                        <a:buNone/>
                      </a:pPr>
                      <a:r>
                        <a:rPr lang="it-IT" sz="1200" b="1" dirty="0">
                          <a:solidFill>
                            <a:schemeClr val="tx1"/>
                          </a:solidFill>
                        </a:rPr>
                        <a:t>Formazione e materiali interni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Contenuti più chiari e coinvolgenti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200" dirty="0">
                          <a:solidFill>
                            <a:schemeClr val="tx1"/>
                          </a:solidFill>
                        </a:rPr>
                        <a:t>Coerenza con lo stile aziendale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20624">
                <a:tc>
                  <a:txBody>
                    <a:bodyPr/>
                    <a:lstStyle/>
                    <a:p>
                      <a:pPr indent="0" marL="0">
                        <a:buNone/>
                      </a:pPr>
                      <a:r>
                        <a:rPr lang="it-IT" sz="1200" b="1" dirty="0">
                          <a:solidFill>
                            <a:schemeClr val="tx1"/>
                          </a:solidFill>
                        </a:rPr>
                        <a:t>Marketing e social</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Visual e varianti in tempi brevi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200" dirty="0">
                          <a:solidFill>
                            <a:schemeClr val="tx1"/>
                          </a:solidFill>
                        </a:rPr>
                        <a:t>Marchio, diritti, trasparenza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20624">
                <a:tc>
                  <a:txBody>
                    <a:bodyPr/>
                    <a:lstStyle/>
                    <a:p>
                      <a:pPr indent="0" marL="0">
                        <a:buNone/>
                      </a:pPr>
                      <a:r>
                        <a:rPr lang="it-IT" sz="1200" b="1" dirty="0">
                          <a:solidFill>
                            <a:schemeClr val="tx1"/>
                          </a:solidFill>
                        </a:rPr>
                        <a:t>Concept e prototipi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Confrontare idee prima di investire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200" dirty="0">
                          <a:solidFill>
                            <a:schemeClr val="tx1"/>
                          </a:solidFill>
                        </a:rPr>
                        <a:t>Distinguere concept e prodotto finale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20624">
                <a:tc>
                  <a:txBody>
                    <a:bodyPr/>
                    <a:lstStyle/>
                    <a:p>
                      <a:pPr indent="0" marL="0">
                        <a:buNone/>
                      </a:pPr>
                      <a:r>
                        <a:rPr lang="it-IT" sz="1200" b="1" dirty="0">
                          <a:solidFill>
                            <a:schemeClr val="tx1"/>
                          </a:solidFill>
                        </a:rPr>
                        <a:t>Adattamento di formati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Un contenuto per più canali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200" dirty="0">
                          <a:solidFill>
                            <a:schemeClr val="tx1"/>
                          </a:solidFill>
                        </a:rPr>
                        <a:t>Fedeltà all'originale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20624">
                <a:tc>
                  <a:txBody>
                    <a:bodyPr/>
                    <a:lstStyle/>
                    <a:p>
                      <a:pPr indent="0" marL="0">
                        <a:buNone/>
                      </a:pPr>
                      <a:r>
                        <a:rPr lang="it-IT" sz="1200" b="1" dirty="0">
                          <a:solidFill>
                            <a:schemeClr val="tx1"/>
                          </a:solidFill>
                        </a:rPr>
                        <a:t>Comunicazione esterna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Produzione su scala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200" dirty="0">
                          <a:solidFill>
                            <a:schemeClr val="tx1"/>
                          </a:solidFill>
                        </a:rPr>
                        <a:t>Revisione prima di pubblicare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1" name="messaggio"/>
          <p:cNvSpPr/>
          <p:nvPr/>
        </p:nvSpPr>
        <p:spPr>
          <a:xfrm>
            <a:off x="457200" y="3749040"/>
            <a:ext cx="8229600" cy="685800"/>
          </a:xfrm>
          <a:prstGeom prst="roundRect">
            <a:avLst>
              <a:gd name="adj" fmla="val 10667"/>
            </a:avLst>
          </a:prstGeom>
          <a:solidFill>
            <a:schemeClr val="tx1"/>
          </a:solidFill>
          <a:ln/>
        </p:spPr>
      </p:sp>
      <p:sp>
        <p:nvSpPr>
          <p:cNvPr id="12" name="Text 8"/>
          <p:cNvSpPr txBox="1"/>
          <p:nvPr/>
        </p:nvSpPr>
        <p:spPr>
          <a:xfrm>
            <a:off x="640080" y="3749040"/>
            <a:ext cx="7863840" cy="685800"/>
          </a:xfrm>
          <a:prstGeom prst="rect">
            <a:avLst/>
          </a:prstGeom>
          <a:noFill/>
          <a:ln/>
        </p:spPr>
        <p:txBody>
          <a:bodyPr wrap="square" lIns="0" tIns="0" rIns="0" bIns="0" rtlCol="0" anchor="ctr"/>
          <a:lstStyle/>
          <a:p>
            <a:pPr indent="0" marL="0">
              <a:buNone/>
            </a:pPr>
            <a:r>
              <a:rPr lang="it-IT" sz="1300" dirty="0">
                <a:solidFill>
                  <a:schemeClr val="bg1"/>
                </a:solidFill>
              </a:rPr>
              <a:t>Seguire le linee guida aziendali sulle immagini generate. Se non esistono, è il momento di chiederle.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22</a:t>
            </a:fld>
            <a:endParaRPr lang="it-IT"/>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Qualità e requisiti professionali</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Trasformare</a:t>
            </a:r>
            <a:endParaRPr lang="it-IT" sz="900" dirty="0"/>
          </a:p>
        </p:txBody>
      </p:sp>
      <p:sp>
        <p:nvSpPr>
          <p:cNvPr id="10" name="Usabile direttamente"/>
          <p:cNvSpPr/>
          <p:nvPr/>
        </p:nvSpPr>
        <p:spPr>
          <a:xfrm>
            <a:off x="457200" y="1051560"/>
            <a:ext cx="2615184" cy="1325880"/>
          </a:xfrm>
          <a:prstGeom prst="roundRect">
            <a:avLst>
              <a:gd name="adj" fmla="val 5517"/>
            </a:avLst>
          </a:prstGeom>
          <a:solidFill>
            <a:schemeClr val="accent6"/>
          </a:solidFill>
          <a:ln/>
        </p:spPr>
      </p:sp>
      <p:sp>
        <p:nvSpPr>
          <p:cNvPr id="11" name="Text 8"/>
          <p:cNvSpPr txBox="1"/>
          <p:nvPr/>
        </p:nvSpPr>
        <p:spPr>
          <a:xfrm>
            <a:off x="594360" y="1115568"/>
            <a:ext cx="2340864" cy="457200"/>
          </a:xfrm>
          <a:prstGeom prst="rect">
            <a:avLst/>
          </a:prstGeom>
          <a:noFill/>
          <a:ln/>
        </p:spPr>
        <p:txBody>
          <a:bodyPr wrap="square" lIns="0" tIns="0" rIns="0" bIns="0" rtlCol="0" anchor="ctr"/>
          <a:lstStyle/>
          <a:p>
            <a:pPr indent="0" marL="0">
              <a:buNone/>
            </a:pPr>
            <a:r>
              <a:rPr lang="it-IT" sz="1400" b="1" dirty="0">
                <a:solidFill>
                  <a:schemeClr val="accent1"/>
                </a:solidFill>
              </a:rPr>
              <a:t>Usabile direttamente</a:t>
            </a:r>
            <a:endParaRPr lang="it-IT" sz="1400" dirty="0"/>
          </a:p>
        </p:txBody>
      </p:sp>
      <p:sp>
        <p:nvSpPr>
          <p:cNvPr id="12" name="Text 9"/>
          <p:cNvSpPr txBox="1"/>
          <p:nvPr/>
        </p:nvSpPr>
        <p:spPr>
          <a:xfrm>
            <a:off x="594360" y="1600200"/>
            <a:ext cx="2340864" cy="685800"/>
          </a:xfrm>
          <a:prstGeom prst="rect">
            <a:avLst/>
          </a:prstGeom>
          <a:noFill/>
          <a:ln/>
        </p:spPr>
        <p:txBody>
          <a:bodyPr wrap="square" lIns="0" tIns="0" rIns="0" bIns="0" rtlCol="0" anchor="t"/>
          <a:lstStyle/>
          <a:p>
            <a:pPr indent="0" marL="0">
              <a:buNone/>
            </a:pPr>
            <a:r>
              <a:rPr lang="it-IT" sz="1200" dirty="0">
                <a:solidFill>
                  <a:schemeClr val="tx1"/>
                </a:solidFill>
              </a:rPr>
              <a:t>Illustrazioni interne, sfondi, icone, varianti</a:t>
            </a:r>
            <a:endParaRPr lang="it-IT" sz="1200" dirty="0"/>
          </a:p>
        </p:txBody>
      </p:sp>
      <p:sp>
        <p:nvSpPr>
          <p:cNvPr id="13" name="Da rifinire"/>
          <p:cNvSpPr/>
          <p:nvPr/>
        </p:nvSpPr>
        <p:spPr>
          <a:xfrm>
            <a:off x="3264408" y="1051560"/>
            <a:ext cx="2615184" cy="1325880"/>
          </a:xfrm>
          <a:prstGeom prst="roundRect">
            <a:avLst>
              <a:gd name="adj" fmla="val 5517"/>
            </a:avLst>
          </a:prstGeom>
          <a:solidFill>
            <a:schemeClr val="bg2"/>
          </a:solidFill>
          <a:ln/>
        </p:spPr>
      </p:sp>
      <p:sp>
        <p:nvSpPr>
          <p:cNvPr id="14" name="Text 11"/>
          <p:cNvSpPr txBox="1"/>
          <p:nvPr/>
        </p:nvSpPr>
        <p:spPr>
          <a:xfrm>
            <a:off x="3401568" y="1115568"/>
            <a:ext cx="2340864" cy="457200"/>
          </a:xfrm>
          <a:prstGeom prst="rect">
            <a:avLst/>
          </a:prstGeom>
          <a:noFill/>
          <a:ln/>
        </p:spPr>
        <p:txBody>
          <a:bodyPr wrap="square" lIns="0" tIns="0" rIns="0" bIns="0" rtlCol="0" anchor="ctr"/>
          <a:lstStyle/>
          <a:p>
            <a:pPr indent="0" marL="0">
              <a:buNone/>
            </a:pPr>
            <a:r>
              <a:rPr lang="it-IT" sz="1400" b="1" dirty="0">
                <a:solidFill>
                  <a:schemeClr val="accent1"/>
                </a:solidFill>
              </a:rPr>
              <a:t>Da rifinire</a:t>
            </a:r>
            <a:endParaRPr lang="it-IT" sz="1400" dirty="0"/>
          </a:p>
        </p:txBody>
      </p:sp>
      <p:sp>
        <p:nvSpPr>
          <p:cNvPr id="15" name="Text 12"/>
          <p:cNvSpPr txBox="1"/>
          <p:nvPr/>
        </p:nvSpPr>
        <p:spPr>
          <a:xfrm>
            <a:off x="3401568" y="1600200"/>
            <a:ext cx="2340864" cy="685800"/>
          </a:xfrm>
          <a:prstGeom prst="rect">
            <a:avLst/>
          </a:prstGeom>
          <a:noFill/>
          <a:ln/>
        </p:spPr>
        <p:txBody>
          <a:bodyPr wrap="square" lIns="0" tIns="0" rIns="0" bIns="0" rtlCol="0" anchor="t"/>
          <a:lstStyle/>
          <a:p>
            <a:pPr indent="0" marL="0">
              <a:buNone/>
            </a:pPr>
            <a:r>
              <a:rPr lang="it-IT" sz="1200" dirty="0">
                <a:solidFill>
                  <a:schemeClr val="tx1"/>
                </a:solidFill>
              </a:rPr>
              <a:t>Testi nell'immagine, dettagli tecnici, serie coerenti</a:t>
            </a:r>
            <a:endParaRPr lang="it-IT" sz="1200" dirty="0"/>
          </a:p>
        </p:txBody>
      </p:sp>
      <p:sp>
        <p:nvSpPr>
          <p:cNvPr id="16" name="Con verifiche o professionisti"/>
          <p:cNvSpPr/>
          <p:nvPr/>
        </p:nvSpPr>
        <p:spPr>
          <a:xfrm>
            <a:off x="6071616" y="1051560"/>
            <a:ext cx="2615184" cy="1325880"/>
          </a:xfrm>
          <a:prstGeom prst="roundRect">
            <a:avLst>
              <a:gd name="adj" fmla="val 5517"/>
            </a:avLst>
          </a:prstGeom>
          <a:solidFill>
            <a:schemeClr val="tx1"/>
          </a:solidFill>
          <a:ln/>
        </p:spPr>
      </p:sp>
      <p:sp>
        <p:nvSpPr>
          <p:cNvPr id="17" name="Text 14"/>
          <p:cNvSpPr txBox="1"/>
          <p:nvPr/>
        </p:nvSpPr>
        <p:spPr>
          <a:xfrm>
            <a:off x="6208776" y="1115568"/>
            <a:ext cx="2340864" cy="457200"/>
          </a:xfrm>
          <a:prstGeom prst="rect">
            <a:avLst/>
          </a:prstGeom>
          <a:noFill/>
          <a:ln/>
        </p:spPr>
        <p:txBody>
          <a:bodyPr wrap="square" lIns="0" tIns="0" rIns="0" bIns="0" rtlCol="0" anchor="ctr"/>
          <a:lstStyle/>
          <a:p>
            <a:pPr indent="0" marL="0">
              <a:buNone/>
            </a:pPr>
            <a:r>
              <a:rPr lang="it-IT" sz="1400" b="1" dirty="0">
                <a:solidFill>
                  <a:schemeClr val="accent6"/>
                </a:solidFill>
              </a:rPr>
              <a:t>Con verifiche o professionisti</a:t>
            </a:r>
            <a:endParaRPr lang="it-IT" sz="1400" dirty="0"/>
          </a:p>
        </p:txBody>
      </p:sp>
      <p:sp>
        <p:nvSpPr>
          <p:cNvPr id="18" name="Text 15"/>
          <p:cNvSpPr txBox="1"/>
          <p:nvPr/>
        </p:nvSpPr>
        <p:spPr>
          <a:xfrm>
            <a:off x="6208776" y="1600200"/>
            <a:ext cx="2340864" cy="685800"/>
          </a:xfrm>
          <a:prstGeom prst="rect">
            <a:avLst/>
          </a:prstGeom>
          <a:noFill/>
          <a:ln/>
        </p:spPr>
        <p:txBody>
          <a:bodyPr wrap="square" lIns="0" tIns="0" rIns="0" bIns="0" rtlCol="0" anchor="t"/>
          <a:lstStyle/>
          <a:p>
            <a:pPr indent="0" marL="0">
              <a:buNone/>
            </a:pPr>
            <a:r>
              <a:rPr lang="it-IT" sz="1200" dirty="0">
                <a:solidFill>
                  <a:schemeClr val="bg1"/>
                </a:solidFill>
              </a:rPr>
              <a:t>Prodotti reali, campagne, packaging, marchio</a:t>
            </a:r>
            <a:endParaRPr lang="it-IT" sz="1200" dirty="0"/>
          </a:p>
        </p:txBody>
      </p:sp>
      <p:sp>
        <p:nvSpPr>
          <p:cNvPr id="19" name="Text 16"/>
          <p:cNvSpPr txBox="1"/>
          <p:nvPr/>
        </p:nvSpPr>
        <p:spPr>
          <a:xfrm>
            <a:off x="457200" y="2514600"/>
            <a:ext cx="8229600" cy="301752"/>
          </a:xfrm>
          <a:prstGeom prst="rect">
            <a:avLst/>
          </a:prstGeom>
          <a:noFill/>
          <a:ln/>
        </p:spPr>
        <p:txBody>
          <a:bodyPr wrap="square" lIns="0" tIns="0" rIns="0" bIns="0" rtlCol="0" anchor="t"/>
          <a:lstStyle/>
          <a:p>
            <a:pPr indent="0" marL="0">
              <a:buNone/>
            </a:pPr>
            <a:r>
              <a:rPr lang="it-IT" sz="1300" b="1" dirty="0">
                <a:solidFill>
                  <a:schemeClr val="tx1"/>
                </a:solidFill>
              </a:rPr>
              <a:t>Da verificare in ogni caso</a:t>
            </a:r>
            <a:endParaRPr lang="it-IT" sz="1300" dirty="0"/>
          </a:p>
        </p:txBody>
      </p:sp>
      <p:sp>
        <p:nvSpPr>
          <p:cNvPr id="20" name="Identità visiva"/>
          <p:cNvSpPr/>
          <p:nvPr/>
        </p:nvSpPr>
        <p:spPr>
          <a:xfrm>
            <a:off x="457200" y="2880360"/>
            <a:ext cx="4023360" cy="731520"/>
          </a:xfrm>
          <a:prstGeom prst="roundRect">
            <a:avLst>
              <a:gd name="adj" fmla="val 10000"/>
            </a:avLst>
          </a:prstGeom>
          <a:solidFill>
            <a:schemeClr val="bg2"/>
          </a:solidFill>
          <a:ln/>
        </p:spPr>
      </p:sp>
      <p:sp>
        <p:nvSpPr>
          <p:cNvPr id="21" name="Text 18"/>
          <p:cNvSpPr txBox="1"/>
          <p:nvPr/>
        </p:nvSpPr>
        <p:spPr>
          <a:xfrm>
            <a:off x="640080" y="2880360"/>
            <a:ext cx="1371600" cy="731520"/>
          </a:xfrm>
          <a:prstGeom prst="rect">
            <a:avLst/>
          </a:prstGeom>
          <a:noFill/>
          <a:ln/>
        </p:spPr>
        <p:txBody>
          <a:bodyPr wrap="square" lIns="0" tIns="0" rIns="0" bIns="0" rtlCol="0" anchor="ctr"/>
          <a:lstStyle/>
          <a:p>
            <a:pPr indent="0" marL="0">
              <a:buNone/>
            </a:pPr>
            <a:r>
              <a:rPr lang="it-IT" sz="1300" b="1" dirty="0">
                <a:solidFill>
                  <a:schemeClr val="accent1"/>
                </a:solidFill>
              </a:rPr>
              <a:t>Identità visiva</a:t>
            </a:r>
            <a:endParaRPr lang="it-IT" sz="1300" dirty="0"/>
          </a:p>
        </p:txBody>
      </p:sp>
      <p:sp>
        <p:nvSpPr>
          <p:cNvPr id="22" name="Text 19"/>
          <p:cNvSpPr txBox="1"/>
          <p:nvPr/>
        </p:nvSpPr>
        <p:spPr>
          <a:xfrm>
            <a:off x="2057400" y="2880360"/>
            <a:ext cx="2331720" cy="731520"/>
          </a:xfrm>
          <a:prstGeom prst="rect">
            <a:avLst/>
          </a:prstGeom>
          <a:noFill/>
          <a:ln/>
        </p:spPr>
        <p:txBody>
          <a:bodyPr wrap="square" lIns="0" tIns="0" rIns="0" bIns="0" rtlCol="0" anchor="ctr"/>
          <a:lstStyle/>
          <a:p>
            <a:pPr indent="0" marL="0">
              <a:buNone/>
            </a:pPr>
            <a:r>
              <a:rPr lang="it-IT" sz="1200" dirty="0">
                <a:solidFill>
                  <a:schemeClr val="tx1"/>
                </a:solidFill>
              </a:rPr>
              <a:t>Colori, caratteri, stile; loghi originali, non generati</a:t>
            </a:r>
            <a:endParaRPr lang="it-IT" sz="1200" dirty="0"/>
          </a:p>
        </p:txBody>
      </p:sp>
      <p:sp>
        <p:nvSpPr>
          <p:cNvPr id="23" name="Diritti"/>
          <p:cNvSpPr/>
          <p:nvPr/>
        </p:nvSpPr>
        <p:spPr>
          <a:xfrm>
            <a:off x="4663440" y="2880360"/>
            <a:ext cx="4023360" cy="731520"/>
          </a:xfrm>
          <a:prstGeom prst="roundRect">
            <a:avLst>
              <a:gd name="adj" fmla="val 10000"/>
            </a:avLst>
          </a:prstGeom>
          <a:solidFill>
            <a:schemeClr val="bg2"/>
          </a:solidFill>
          <a:ln/>
        </p:spPr>
      </p:sp>
      <p:sp>
        <p:nvSpPr>
          <p:cNvPr id="24" name="Text 21"/>
          <p:cNvSpPr txBox="1"/>
          <p:nvPr/>
        </p:nvSpPr>
        <p:spPr>
          <a:xfrm>
            <a:off x="4846320" y="2880360"/>
            <a:ext cx="1371600" cy="731520"/>
          </a:xfrm>
          <a:prstGeom prst="rect">
            <a:avLst/>
          </a:prstGeom>
          <a:noFill/>
          <a:ln/>
        </p:spPr>
        <p:txBody>
          <a:bodyPr wrap="square" lIns="0" tIns="0" rIns="0" bIns="0" rtlCol="0" anchor="ctr"/>
          <a:lstStyle/>
          <a:p>
            <a:pPr indent="0" marL="0">
              <a:buNone/>
            </a:pPr>
            <a:r>
              <a:rPr lang="it-IT" sz="1300" b="1" dirty="0">
                <a:solidFill>
                  <a:schemeClr val="accent1"/>
                </a:solidFill>
              </a:rPr>
              <a:t>Diritti</a:t>
            </a:r>
            <a:endParaRPr lang="it-IT" sz="1300" dirty="0"/>
          </a:p>
        </p:txBody>
      </p:sp>
      <p:sp>
        <p:nvSpPr>
          <p:cNvPr id="25" name="Text 22"/>
          <p:cNvSpPr txBox="1"/>
          <p:nvPr/>
        </p:nvSpPr>
        <p:spPr>
          <a:xfrm>
            <a:off x="6263640" y="2880360"/>
            <a:ext cx="2331720" cy="731520"/>
          </a:xfrm>
          <a:prstGeom prst="rect">
            <a:avLst/>
          </a:prstGeom>
          <a:noFill/>
          <a:ln/>
        </p:spPr>
        <p:txBody>
          <a:bodyPr wrap="square" lIns="0" tIns="0" rIns="0" bIns="0" rtlCol="0" anchor="ctr"/>
          <a:lstStyle/>
          <a:p>
            <a:pPr indent="0" marL="0">
              <a:buNone/>
            </a:pPr>
            <a:r>
              <a:rPr lang="it-IT" sz="1200" dirty="0">
                <a:solidFill>
                  <a:schemeClr val="tx1"/>
                </a:solidFill>
              </a:rPr>
              <a:t>Stili di artisti viventi, personaggi e marchi altrui</a:t>
            </a:r>
            <a:endParaRPr lang="it-IT" sz="1200" dirty="0"/>
          </a:p>
        </p:txBody>
      </p:sp>
      <p:sp>
        <p:nvSpPr>
          <p:cNvPr id="26" name="Persone reali"/>
          <p:cNvSpPr/>
          <p:nvPr/>
        </p:nvSpPr>
        <p:spPr>
          <a:xfrm>
            <a:off x="457200" y="3703320"/>
            <a:ext cx="4023360" cy="731520"/>
          </a:xfrm>
          <a:prstGeom prst="roundRect">
            <a:avLst>
              <a:gd name="adj" fmla="val 10000"/>
            </a:avLst>
          </a:prstGeom>
          <a:solidFill>
            <a:schemeClr val="bg2"/>
          </a:solidFill>
          <a:ln/>
        </p:spPr>
      </p:sp>
      <p:sp>
        <p:nvSpPr>
          <p:cNvPr id="27" name="Text 24"/>
          <p:cNvSpPr txBox="1"/>
          <p:nvPr/>
        </p:nvSpPr>
        <p:spPr>
          <a:xfrm>
            <a:off x="640080" y="3703320"/>
            <a:ext cx="1371600" cy="731520"/>
          </a:xfrm>
          <a:prstGeom prst="rect">
            <a:avLst/>
          </a:prstGeom>
          <a:noFill/>
          <a:ln/>
        </p:spPr>
        <p:txBody>
          <a:bodyPr wrap="square" lIns="0" tIns="0" rIns="0" bIns="0" rtlCol="0" anchor="ctr"/>
          <a:lstStyle/>
          <a:p>
            <a:pPr indent="0" marL="0">
              <a:buNone/>
            </a:pPr>
            <a:r>
              <a:rPr lang="it-IT" sz="1300" b="1" dirty="0">
                <a:solidFill>
                  <a:schemeClr val="accent1"/>
                </a:solidFill>
              </a:rPr>
              <a:t>Persone reali</a:t>
            </a:r>
            <a:endParaRPr lang="it-IT" sz="1300" dirty="0"/>
          </a:p>
        </p:txBody>
      </p:sp>
      <p:sp>
        <p:nvSpPr>
          <p:cNvPr id="28" name="Text 25"/>
          <p:cNvSpPr txBox="1"/>
          <p:nvPr/>
        </p:nvSpPr>
        <p:spPr>
          <a:xfrm>
            <a:off x="2057400" y="3703320"/>
            <a:ext cx="2331720" cy="731520"/>
          </a:xfrm>
          <a:prstGeom prst="rect">
            <a:avLst/>
          </a:prstGeom>
          <a:noFill/>
          <a:ln/>
        </p:spPr>
        <p:txBody>
          <a:bodyPr wrap="square" lIns="0" tIns="0" rIns="0" bIns="0" rtlCol="0" anchor="ctr"/>
          <a:lstStyle/>
          <a:p>
            <a:pPr indent="0" marL="0">
              <a:buNone/>
            </a:pPr>
            <a:r>
              <a:rPr lang="it-IT" sz="1200" dirty="0">
                <a:solidFill>
                  <a:schemeClr val="tx1"/>
                </a:solidFill>
              </a:rPr>
              <a:t>Consenso; rischio di inganno</a:t>
            </a:r>
            <a:endParaRPr lang="it-IT" sz="1200" dirty="0"/>
          </a:p>
        </p:txBody>
      </p:sp>
      <p:sp>
        <p:nvSpPr>
          <p:cNvPr id="29" name="Trasparenza"/>
          <p:cNvSpPr/>
          <p:nvPr/>
        </p:nvSpPr>
        <p:spPr>
          <a:xfrm>
            <a:off x="4663440" y="3703320"/>
            <a:ext cx="4023360" cy="731520"/>
          </a:xfrm>
          <a:prstGeom prst="roundRect">
            <a:avLst>
              <a:gd name="adj" fmla="val 10000"/>
            </a:avLst>
          </a:prstGeom>
          <a:solidFill>
            <a:schemeClr val="bg2"/>
          </a:solidFill>
          <a:ln/>
        </p:spPr>
      </p:sp>
      <p:sp>
        <p:nvSpPr>
          <p:cNvPr id="30" name="Text 27"/>
          <p:cNvSpPr txBox="1"/>
          <p:nvPr/>
        </p:nvSpPr>
        <p:spPr>
          <a:xfrm>
            <a:off x="4846320" y="3703320"/>
            <a:ext cx="1371600" cy="731520"/>
          </a:xfrm>
          <a:prstGeom prst="rect">
            <a:avLst/>
          </a:prstGeom>
          <a:noFill/>
          <a:ln/>
        </p:spPr>
        <p:txBody>
          <a:bodyPr wrap="square" lIns="0" tIns="0" rIns="0" bIns="0" rtlCol="0" anchor="ctr"/>
          <a:lstStyle/>
          <a:p>
            <a:pPr indent="0" marL="0">
              <a:buNone/>
            </a:pPr>
            <a:r>
              <a:rPr lang="it-IT" sz="1300" b="1" dirty="0">
                <a:solidFill>
                  <a:schemeClr val="accent1"/>
                </a:solidFill>
              </a:rPr>
              <a:t>Trasparenza</a:t>
            </a:r>
            <a:endParaRPr lang="it-IT" sz="1300" dirty="0"/>
          </a:p>
        </p:txBody>
      </p:sp>
      <p:sp>
        <p:nvSpPr>
          <p:cNvPr id="31" name="Text 28"/>
          <p:cNvSpPr txBox="1"/>
          <p:nvPr/>
        </p:nvSpPr>
        <p:spPr>
          <a:xfrm>
            <a:off x="6263640" y="3703320"/>
            <a:ext cx="2331720" cy="731520"/>
          </a:xfrm>
          <a:prstGeom prst="rect">
            <a:avLst/>
          </a:prstGeom>
          <a:noFill/>
          <a:ln/>
        </p:spPr>
        <p:txBody>
          <a:bodyPr wrap="square" lIns="0" tIns="0" rIns="0" bIns="0" rtlCol="0" anchor="ctr"/>
          <a:lstStyle/>
          <a:p>
            <a:pPr indent="0" marL="0">
              <a:buNone/>
            </a:pPr>
            <a:r>
              <a:rPr lang="it-IT" sz="1200" dirty="0">
                <a:solidFill>
                  <a:schemeClr val="tx1"/>
                </a:solidFill>
              </a:rPr>
              <a:t>Dichiarare se può sembrare una fotografia</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23</a:t>
            </a:fld>
            <a:endParaRPr lang="it-IT"/>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10.4</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AI per audio, voce e linguaggio parlato</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Trascrivere, riassumere, tradurre e dare voce ai contenuti: un risparmio di tempo concreto, con una revisione proporzionata</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24</a:t>
            </a:fld>
            <a:endParaRPr lang="it-IT"/>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Le capacità vocali</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sp>
        <p:nvSpPr>
          <p:cNvPr id="10" name="Trascrizione automatica"/>
          <p:cNvSpPr/>
          <p:nvPr/>
        </p:nvSpPr>
        <p:spPr>
          <a:xfrm>
            <a:off x="457200" y="1051560"/>
            <a:ext cx="2621280" cy="1280160"/>
          </a:xfrm>
          <a:prstGeom prst="roundRect">
            <a:avLst>
              <a:gd name="adj" fmla="val 5714"/>
            </a:avLst>
          </a:prstGeom>
          <a:solidFill>
            <a:schemeClr val="bg2"/>
          </a:solidFill>
          <a:ln/>
        </p:spPr>
      </p:sp>
      <p:sp>
        <p:nvSpPr>
          <p:cNvPr id="11" name="cerchio FiFileText"/>
          <p:cNvSpPr/>
          <p:nvPr/>
        </p:nvSpPr>
        <p:spPr>
          <a:xfrm>
            <a:off x="621792" y="1216152"/>
            <a:ext cx="438912" cy="438912"/>
          </a:xfrm>
          <a:prstGeom prst="ellipse">
            <a:avLst/>
          </a:prstGeom>
          <a:solidFill>
            <a:schemeClr val="accent1"/>
          </a:solidFill>
          <a:ln/>
        </p:spPr>
      </p:sp>
      <p:pic>
        <p:nvPicPr>
          <p:cNvPr id="12" name="Image 0" descr="FiFileText">    </p:cNvPr>
          <p:cNvPicPr>
            <a:picLocks noChangeAspect="1"/>
          </p:cNvPicPr>
          <p:nvPr/>
        </p:nvPicPr>
        <p:blipFill>
          <a:blip r:embed="rId1"/>
          <a:stretch>
            <a:fillRect/>
          </a:stretch>
        </p:blipFill>
        <p:spPr>
          <a:xfrm>
            <a:off x="731520" y="1325880"/>
            <a:ext cx="219456" cy="219456"/>
          </a:xfrm>
          <a:prstGeom prst="rect">
            <a:avLst/>
          </a:prstGeom>
        </p:spPr>
      </p:pic>
      <p:sp>
        <p:nvSpPr>
          <p:cNvPr id="13" name="Text 9"/>
          <p:cNvSpPr txBox="1"/>
          <p:nvPr/>
        </p:nvSpPr>
        <p:spPr>
          <a:xfrm>
            <a:off x="117043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Trascrizione automatica</a:t>
            </a:r>
            <a:endParaRPr lang="it-IT" sz="1300" dirty="0"/>
          </a:p>
        </p:txBody>
      </p:sp>
      <p:sp>
        <p:nvSpPr>
          <p:cNvPr id="14" name="Text 10"/>
          <p:cNvSpPr txBox="1"/>
          <p:nvPr/>
        </p:nvSpPr>
        <p:spPr>
          <a:xfrm>
            <a:off x="621792" y="1764792"/>
            <a:ext cx="2292096" cy="475488"/>
          </a:xfrm>
          <a:prstGeom prst="rect">
            <a:avLst/>
          </a:prstGeom>
          <a:noFill/>
          <a:ln/>
        </p:spPr>
        <p:txBody>
          <a:bodyPr wrap="square" lIns="0" tIns="0" rIns="0" bIns="0" rtlCol="0" anchor="t"/>
          <a:lstStyle/>
          <a:p>
            <a:pPr indent="0" marL="0">
              <a:buNone/>
            </a:pPr>
            <a:r>
              <a:rPr lang="it-IT" sz="1200" dirty="0">
                <a:solidFill>
                  <a:schemeClr val="tx2"/>
                </a:solidFill>
              </a:rPr>
              <a:t>Da audio a testo, con chi parla e quando</a:t>
            </a:r>
            <a:endParaRPr lang="it-IT" sz="1200" dirty="0"/>
          </a:p>
        </p:txBody>
      </p:sp>
      <p:sp>
        <p:nvSpPr>
          <p:cNvPr id="15" name="Verbali e riepiloghi"/>
          <p:cNvSpPr/>
          <p:nvPr/>
        </p:nvSpPr>
        <p:spPr>
          <a:xfrm>
            <a:off x="3261360" y="1051560"/>
            <a:ext cx="2621280" cy="1280160"/>
          </a:xfrm>
          <a:prstGeom prst="roundRect">
            <a:avLst>
              <a:gd name="adj" fmla="val 5714"/>
            </a:avLst>
          </a:prstGeom>
          <a:solidFill>
            <a:schemeClr val="bg2"/>
          </a:solidFill>
          <a:ln/>
        </p:spPr>
      </p:sp>
      <p:sp>
        <p:nvSpPr>
          <p:cNvPr id="16" name="cerchio FiList"/>
          <p:cNvSpPr/>
          <p:nvPr/>
        </p:nvSpPr>
        <p:spPr>
          <a:xfrm>
            <a:off x="3425952" y="1216152"/>
            <a:ext cx="438912" cy="438912"/>
          </a:xfrm>
          <a:prstGeom prst="ellipse">
            <a:avLst/>
          </a:prstGeom>
          <a:solidFill>
            <a:schemeClr val="accent1"/>
          </a:solidFill>
          <a:ln/>
        </p:spPr>
      </p:sp>
      <p:pic>
        <p:nvPicPr>
          <p:cNvPr id="17" name="Image 1" descr="FiList">    </p:cNvPr>
          <p:cNvPicPr>
            <a:picLocks noChangeAspect="1"/>
          </p:cNvPicPr>
          <p:nvPr/>
        </p:nvPicPr>
        <p:blipFill>
          <a:blip r:embed="rId2"/>
          <a:stretch>
            <a:fillRect/>
          </a:stretch>
        </p:blipFill>
        <p:spPr>
          <a:xfrm>
            <a:off x="3535680" y="1325880"/>
            <a:ext cx="219456" cy="219456"/>
          </a:xfrm>
          <a:prstGeom prst="rect">
            <a:avLst/>
          </a:prstGeom>
        </p:spPr>
      </p:pic>
      <p:sp>
        <p:nvSpPr>
          <p:cNvPr id="18" name="Text 13"/>
          <p:cNvSpPr txBox="1"/>
          <p:nvPr/>
        </p:nvSpPr>
        <p:spPr>
          <a:xfrm>
            <a:off x="397459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Verbali e riepiloghi</a:t>
            </a:r>
            <a:endParaRPr lang="it-IT" sz="1300" dirty="0"/>
          </a:p>
        </p:txBody>
      </p:sp>
      <p:sp>
        <p:nvSpPr>
          <p:cNvPr id="19" name="Text 14"/>
          <p:cNvSpPr txBox="1"/>
          <p:nvPr/>
        </p:nvSpPr>
        <p:spPr>
          <a:xfrm>
            <a:off x="3425952" y="1764792"/>
            <a:ext cx="2292096" cy="475488"/>
          </a:xfrm>
          <a:prstGeom prst="rect">
            <a:avLst/>
          </a:prstGeom>
          <a:noFill/>
          <a:ln/>
        </p:spPr>
        <p:txBody>
          <a:bodyPr wrap="square" lIns="0" tIns="0" rIns="0" bIns="0" rtlCol="0" anchor="t"/>
          <a:lstStyle/>
          <a:p>
            <a:pPr indent="0" marL="0">
              <a:buNone/>
            </a:pPr>
            <a:r>
              <a:rPr lang="it-IT" sz="1200" dirty="0">
                <a:solidFill>
                  <a:schemeClr val="tx2"/>
                </a:solidFill>
              </a:rPr>
              <a:t>Sintesi, decisioni, attività, responsabili</a:t>
            </a:r>
            <a:endParaRPr lang="it-IT" sz="1200" dirty="0"/>
          </a:p>
        </p:txBody>
      </p:sp>
      <p:sp>
        <p:nvSpPr>
          <p:cNvPr id="20" name="Interazione vocale"/>
          <p:cNvSpPr/>
          <p:nvPr/>
        </p:nvSpPr>
        <p:spPr>
          <a:xfrm>
            <a:off x="6065520" y="1051560"/>
            <a:ext cx="2621280" cy="1280160"/>
          </a:xfrm>
          <a:prstGeom prst="roundRect">
            <a:avLst>
              <a:gd name="adj" fmla="val 5714"/>
            </a:avLst>
          </a:prstGeom>
          <a:solidFill>
            <a:schemeClr val="bg2"/>
          </a:solidFill>
          <a:ln/>
        </p:spPr>
      </p:sp>
      <p:sp>
        <p:nvSpPr>
          <p:cNvPr id="21" name="cerchio FiMessageCircle"/>
          <p:cNvSpPr/>
          <p:nvPr/>
        </p:nvSpPr>
        <p:spPr>
          <a:xfrm>
            <a:off x="6230112" y="1216152"/>
            <a:ext cx="438912" cy="438912"/>
          </a:xfrm>
          <a:prstGeom prst="ellipse">
            <a:avLst/>
          </a:prstGeom>
          <a:solidFill>
            <a:schemeClr val="accent1"/>
          </a:solidFill>
          <a:ln/>
        </p:spPr>
      </p:sp>
      <p:pic>
        <p:nvPicPr>
          <p:cNvPr id="22" name="Image 2" descr="FiMessageCircle">    </p:cNvPr>
          <p:cNvPicPr>
            <a:picLocks noChangeAspect="1"/>
          </p:cNvPicPr>
          <p:nvPr/>
        </p:nvPicPr>
        <p:blipFill>
          <a:blip r:embed="rId3"/>
          <a:stretch>
            <a:fillRect/>
          </a:stretch>
        </p:blipFill>
        <p:spPr>
          <a:xfrm>
            <a:off x="6339840" y="1325880"/>
            <a:ext cx="219456" cy="219456"/>
          </a:xfrm>
          <a:prstGeom prst="rect">
            <a:avLst/>
          </a:prstGeom>
        </p:spPr>
      </p:pic>
      <p:sp>
        <p:nvSpPr>
          <p:cNvPr id="23" name="Text 17"/>
          <p:cNvSpPr txBox="1"/>
          <p:nvPr/>
        </p:nvSpPr>
        <p:spPr>
          <a:xfrm>
            <a:off x="677875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Interazione vocale</a:t>
            </a:r>
            <a:endParaRPr lang="it-IT" sz="1300" dirty="0"/>
          </a:p>
        </p:txBody>
      </p:sp>
      <p:sp>
        <p:nvSpPr>
          <p:cNvPr id="24" name="Text 18"/>
          <p:cNvSpPr txBox="1"/>
          <p:nvPr/>
        </p:nvSpPr>
        <p:spPr>
          <a:xfrm>
            <a:off x="6230112" y="1764792"/>
            <a:ext cx="2292096" cy="475488"/>
          </a:xfrm>
          <a:prstGeom prst="rect">
            <a:avLst/>
          </a:prstGeom>
          <a:noFill/>
          <a:ln/>
        </p:spPr>
        <p:txBody>
          <a:bodyPr wrap="square" lIns="0" tIns="0" rIns="0" bIns="0" rtlCol="0" anchor="t"/>
          <a:lstStyle/>
          <a:p>
            <a:pPr indent="0" marL="0">
              <a:buNone/>
            </a:pPr>
            <a:r>
              <a:rPr lang="it-IT" sz="1200" dirty="0">
                <a:solidFill>
                  <a:schemeClr val="tx2"/>
                </a:solidFill>
              </a:rPr>
              <a:t>Domande e dettatura con mani e occhi liberi</a:t>
            </a:r>
            <a:endParaRPr lang="it-IT" sz="1200" dirty="0"/>
          </a:p>
        </p:txBody>
      </p:sp>
      <p:sp>
        <p:nvSpPr>
          <p:cNvPr id="25" name="Traduzione del parlato"/>
          <p:cNvSpPr/>
          <p:nvPr/>
        </p:nvSpPr>
        <p:spPr>
          <a:xfrm>
            <a:off x="457200" y="2514600"/>
            <a:ext cx="2621280" cy="1280160"/>
          </a:xfrm>
          <a:prstGeom prst="roundRect">
            <a:avLst>
              <a:gd name="adj" fmla="val 5714"/>
            </a:avLst>
          </a:prstGeom>
          <a:solidFill>
            <a:schemeClr val="bg2"/>
          </a:solidFill>
          <a:ln/>
        </p:spPr>
      </p:sp>
      <p:sp>
        <p:nvSpPr>
          <p:cNvPr id="26" name="cerchio FiGlobe"/>
          <p:cNvSpPr/>
          <p:nvPr/>
        </p:nvSpPr>
        <p:spPr>
          <a:xfrm>
            <a:off x="621792" y="2679192"/>
            <a:ext cx="438912" cy="438912"/>
          </a:xfrm>
          <a:prstGeom prst="ellipse">
            <a:avLst/>
          </a:prstGeom>
          <a:solidFill>
            <a:schemeClr val="accent1"/>
          </a:solidFill>
          <a:ln/>
        </p:spPr>
      </p:sp>
      <p:pic>
        <p:nvPicPr>
          <p:cNvPr id="27" name="Image 3" descr="FiGlobe">    </p:cNvPr>
          <p:cNvPicPr>
            <a:picLocks noChangeAspect="1"/>
          </p:cNvPicPr>
          <p:nvPr/>
        </p:nvPicPr>
        <p:blipFill>
          <a:blip r:embed="rId4"/>
          <a:stretch>
            <a:fillRect/>
          </a:stretch>
        </p:blipFill>
        <p:spPr>
          <a:xfrm>
            <a:off x="731520" y="2788920"/>
            <a:ext cx="219456" cy="219456"/>
          </a:xfrm>
          <a:prstGeom prst="rect">
            <a:avLst/>
          </a:prstGeom>
        </p:spPr>
      </p:pic>
      <p:sp>
        <p:nvSpPr>
          <p:cNvPr id="28" name="Text 21"/>
          <p:cNvSpPr txBox="1"/>
          <p:nvPr/>
        </p:nvSpPr>
        <p:spPr>
          <a:xfrm>
            <a:off x="1170432" y="264261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Traduzione del parlato</a:t>
            </a:r>
            <a:endParaRPr lang="it-IT" sz="1300" dirty="0"/>
          </a:p>
        </p:txBody>
      </p:sp>
      <p:sp>
        <p:nvSpPr>
          <p:cNvPr id="29" name="Text 22"/>
          <p:cNvSpPr txBox="1"/>
          <p:nvPr/>
        </p:nvSpPr>
        <p:spPr>
          <a:xfrm>
            <a:off x="621792" y="3227832"/>
            <a:ext cx="2292096" cy="475488"/>
          </a:xfrm>
          <a:prstGeom prst="rect">
            <a:avLst/>
          </a:prstGeom>
          <a:noFill/>
          <a:ln/>
        </p:spPr>
        <p:txBody>
          <a:bodyPr wrap="square" lIns="0" tIns="0" rIns="0" bIns="0" rtlCol="0" anchor="t"/>
          <a:lstStyle/>
          <a:p>
            <a:pPr indent="0" marL="0">
              <a:buNone/>
            </a:pPr>
            <a:r>
              <a:rPr lang="it-IT" sz="1200" dirty="0">
                <a:solidFill>
                  <a:schemeClr val="tx2"/>
                </a:solidFill>
              </a:rPr>
              <a:t>Sottotitoli o voce, anche quasi in tempo reale</a:t>
            </a:r>
            <a:endParaRPr lang="it-IT" sz="1200" dirty="0"/>
          </a:p>
        </p:txBody>
      </p:sp>
      <p:sp>
        <p:nvSpPr>
          <p:cNvPr id="30" name="Sintesi vocale"/>
          <p:cNvSpPr/>
          <p:nvPr/>
        </p:nvSpPr>
        <p:spPr>
          <a:xfrm>
            <a:off x="3261360" y="2514600"/>
            <a:ext cx="2621280" cy="1280160"/>
          </a:xfrm>
          <a:prstGeom prst="roundRect">
            <a:avLst>
              <a:gd name="adj" fmla="val 5714"/>
            </a:avLst>
          </a:prstGeom>
          <a:solidFill>
            <a:schemeClr val="bg2"/>
          </a:solidFill>
          <a:ln/>
        </p:spPr>
      </p:sp>
      <p:sp>
        <p:nvSpPr>
          <p:cNvPr id="31" name="cerchio FiVolume2"/>
          <p:cNvSpPr/>
          <p:nvPr/>
        </p:nvSpPr>
        <p:spPr>
          <a:xfrm>
            <a:off x="3425952" y="2679192"/>
            <a:ext cx="438912" cy="438912"/>
          </a:xfrm>
          <a:prstGeom prst="ellipse">
            <a:avLst/>
          </a:prstGeom>
          <a:solidFill>
            <a:schemeClr val="accent1"/>
          </a:solidFill>
          <a:ln/>
        </p:spPr>
      </p:sp>
      <p:pic>
        <p:nvPicPr>
          <p:cNvPr id="32" name="Image 4" descr="FiVolume2">    </p:cNvPr>
          <p:cNvPicPr>
            <a:picLocks noChangeAspect="1"/>
          </p:cNvPicPr>
          <p:nvPr/>
        </p:nvPicPr>
        <p:blipFill>
          <a:blip r:embed="rId5"/>
          <a:stretch>
            <a:fillRect/>
          </a:stretch>
        </p:blipFill>
        <p:spPr>
          <a:xfrm>
            <a:off x="3535680" y="2788920"/>
            <a:ext cx="219456" cy="219456"/>
          </a:xfrm>
          <a:prstGeom prst="rect">
            <a:avLst/>
          </a:prstGeom>
        </p:spPr>
      </p:pic>
      <p:sp>
        <p:nvSpPr>
          <p:cNvPr id="33" name="Text 25"/>
          <p:cNvSpPr txBox="1"/>
          <p:nvPr/>
        </p:nvSpPr>
        <p:spPr>
          <a:xfrm>
            <a:off x="3974592" y="264261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Sintesi vocale</a:t>
            </a:r>
            <a:endParaRPr lang="it-IT" sz="1300" dirty="0"/>
          </a:p>
        </p:txBody>
      </p:sp>
      <p:sp>
        <p:nvSpPr>
          <p:cNvPr id="34" name="Text 26"/>
          <p:cNvSpPr txBox="1"/>
          <p:nvPr/>
        </p:nvSpPr>
        <p:spPr>
          <a:xfrm>
            <a:off x="3425952" y="3227832"/>
            <a:ext cx="2292096" cy="475488"/>
          </a:xfrm>
          <a:prstGeom prst="rect">
            <a:avLst/>
          </a:prstGeom>
          <a:noFill/>
          <a:ln/>
        </p:spPr>
        <p:txBody>
          <a:bodyPr wrap="square" lIns="0" tIns="0" rIns="0" bIns="0" rtlCol="0" anchor="t"/>
          <a:lstStyle/>
          <a:p>
            <a:pPr indent="0" marL="0">
              <a:buNone/>
            </a:pPr>
            <a:r>
              <a:rPr lang="it-IT" sz="1200" dirty="0">
                <a:solidFill>
                  <a:schemeClr val="tx2"/>
                </a:solidFill>
              </a:rPr>
              <a:t>Testi letti da voci naturali, in molte lingue</a:t>
            </a:r>
            <a:endParaRPr lang="it-IT" sz="1200" dirty="0"/>
          </a:p>
        </p:txBody>
      </p:sp>
      <p:sp>
        <p:nvSpPr>
          <p:cNvPr id="35" name="Accessibilità"/>
          <p:cNvSpPr/>
          <p:nvPr/>
        </p:nvSpPr>
        <p:spPr>
          <a:xfrm>
            <a:off x="6065520" y="2514600"/>
            <a:ext cx="2621280" cy="1280160"/>
          </a:xfrm>
          <a:prstGeom prst="roundRect">
            <a:avLst>
              <a:gd name="adj" fmla="val 5714"/>
            </a:avLst>
          </a:prstGeom>
          <a:solidFill>
            <a:schemeClr val="bg2"/>
          </a:solidFill>
          <a:ln/>
        </p:spPr>
      </p:sp>
      <p:sp>
        <p:nvSpPr>
          <p:cNvPr id="36" name="cerchio FiUsers"/>
          <p:cNvSpPr/>
          <p:nvPr/>
        </p:nvSpPr>
        <p:spPr>
          <a:xfrm>
            <a:off x="6230112" y="2679192"/>
            <a:ext cx="438912" cy="438912"/>
          </a:xfrm>
          <a:prstGeom prst="ellipse">
            <a:avLst/>
          </a:prstGeom>
          <a:solidFill>
            <a:schemeClr val="accent1"/>
          </a:solidFill>
          <a:ln/>
        </p:spPr>
      </p:sp>
      <p:pic>
        <p:nvPicPr>
          <p:cNvPr id="37" name="Image 5" descr="FiUsers">    </p:cNvPr>
          <p:cNvPicPr>
            <a:picLocks noChangeAspect="1"/>
          </p:cNvPicPr>
          <p:nvPr/>
        </p:nvPicPr>
        <p:blipFill>
          <a:blip r:embed="rId6"/>
          <a:stretch>
            <a:fillRect/>
          </a:stretch>
        </p:blipFill>
        <p:spPr>
          <a:xfrm>
            <a:off x="6339840" y="2788920"/>
            <a:ext cx="219456" cy="219456"/>
          </a:xfrm>
          <a:prstGeom prst="rect">
            <a:avLst/>
          </a:prstGeom>
        </p:spPr>
      </p:pic>
      <p:sp>
        <p:nvSpPr>
          <p:cNvPr id="38" name="Text 29"/>
          <p:cNvSpPr txBox="1"/>
          <p:nvPr/>
        </p:nvSpPr>
        <p:spPr>
          <a:xfrm>
            <a:off x="6778752" y="264261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Accessibilità</a:t>
            </a:r>
            <a:endParaRPr lang="it-IT" sz="1300" dirty="0"/>
          </a:p>
        </p:txBody>
      </p:sp>
      <p:sp>
        <p:nvSpPr>
          <p:cNvPr id="39" name="Text 30"/>
          <p:cNvSpPr txBox="1"/>
          <p:nvPr/>
        </p:nvSpPr>
        <p:spPr>
          <a:xfrm>
            <a:off x="6230112" y="3227832"/>
            <a:ext cx="2292096" cy="475488"/>
          </a:xfrm>
          <a:prstGeom prst="rect">
            <a:avLst/>
          </a:prstGeom>
          <a:noFill/>
          <a:ln/>
        </p:spPr>
        <p:txBody>
          <a:bodyPr wrap="square" lIns="0" tIns="0" rIns="0" bIns="0" rtlCol="0" anchor="t"/>
          <a:lstStyle/>
          <a:p>
            <a:pPr indent="0" marL="0">
              <a:buNone/>
            </a:pPr>
            <a:r>
              <a:rPr lang="it-IT" sz="1200" dirty="0">
                <a:solidFill>
                  <a:schemeClr val="tx2"/>
                </a:solidFill>
              </a:rPr>
              <a:t>Sottotitoli, letture, comandi vocali</a:t>
            </a:r>
            <a:endParaRPr lang="it-IT" sz="1200" dirty="0"/>
          </a:p>
        </p:txBody>
      </p:sp>
      <p:sp>
        <p:nvSpPr>
          <p:cNvPr id="40" name="messaggio"/>
          <p:cNvSpPr/>
          <p:nvPr/>
        </p:nvSpPr>
        <p:spPr>
          <a:xfrm>
            <a:off x="457200" y="3977640"/>
            <a:ext cx="8229600" cy="548640"/>
          </a:xfrm>
          <a:prstGeom prst="roundRect">
            <a:avLst>
              <a:gd name="adj" fmla="val 13333"/>
            </a:avLst>
          </a:prstGeom>
          <a:solidFill>
            <a:schemeClr val="tx1"/>
          </a:solidFill>
          <a:ln/>
        </p:spPr>
      </p:sp>
      <p:sp>
        <p:nvSpPr>
          <p:cNvPr id="41" name="Text 32"/>
          <p:cNvSpPr txBox="1"/>
          <p:nvPr/>
        </p:nvSpPr>
        <p:spPr>
          <a:xfrm>
            <a:off x="640080" y="3977640"/>
            <a:ext cx="7863840" cy="548640"/>
          </a:xfrm>
          <a:prstGeom prst="rect">
            <a:avLst/>
          </a:prstGeom>
          <a:noFill/>
          <a:ln/>
        </p:spPr>
        <p:txBody>
          <a:bodyPr wrap="square" lIns="0" tIns="0" rIns="0" bIns="0" rtlCol="0" anchor="ctr"/>
          <a:lstStyle/>
          <a:p>
            <a:pPr indent="0" marL="0">
              <a:buNone/>
            </a:pPr>
            <a:r>
              <a:rPr lang="it-IT" sz="1300" dirty="0">
                <a:solidFill>
                  <a:schemeClr val="bg1"/>
                </a:solidFill>
              </a:rPr>
              <a:t>Qualità molto migliorata; i risultati dipendono da audio, lingua, accenti e terminologia.</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25</a:t>
            </a:fld>
            <a:endParaRPr lang="it-IT"/>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Riunioni, interviste, comunicazioni</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sp>
        <p:nvSpPr>
          <p:cNvPr id="10" name="blocco Registrazione"/>
          <p:cNvSpPr/>
          <p:nvPr/>
        </p:nvSpPr>
        <p:spPr>
          <a:xfrm>
            <a:off x="457200" y="1097280"/>
            <a:ext cx="1874520" cy="594360"/>
          </a:xfrm>
          <a:prstGeom prst="roundRect">
            <a:avLst>
              <a:gd name="adj" fmla="val 18462"/>
            </a:avLst>
          </a:prstGeom>
          <a:solidFill>
            <a:schemeClr val="bg2"/>
          </a:solidFill>
          <a:ln/>
        </p:spPr>
      </p:sp>
      <p:sp>
        <p:nvSpPr>
          <p:cNvPr id="11" name="Text 8"/>
          <p:cNvSpPr txBox="1"/>
          <p:nvPr/>
        </p:nvSpPr>
        <p:spPr>
          <a:xfrm>
            <a:off x="502920" y="1097280"/>
            <a:ext cx="1783080" cy="594360"/>
          </a:xfrm>
          <a:prstGeom prst="rect">
            <a:avLst/>
          </a:prstGeom>
          <a:noFill/>
          <a:ln/>
        </p:spPr>
        <p:txBody>
          <a:bodyPr wrap="square" lIns="0" tIns="0" rIns="0" bIns="0" rtlCol="0" anchor="ctr"/>
          <a:lstStyle/>
          <a:p>
            <a:pPr algn="ctr" indent="0" marL="0">
              <a:buNone/>
            </a:pPr>
            <a:r>
              <a:rPr lang="it-IT" sz="1300" b="1" dirty="0">
                <a:solidFill>
                  <a:schemeClr val="tx1"/>
                </a:solidFill>
              </a:rPr>
              <a:t>Registrazione</a:t>
            </a:r>
            <a:endParaRPr lang="it-IT" sz="1300" dirty="0"/>
          </a:p>
        </p:txBody>
      </p:sp>
      <p:sp>
        <p:nvSpPr>
          <p:cNvPr id="12" name="freccia"/>
          <p:cNvSpPr/>
          <p:nvPr/>
        </p:nvSpPr>
        <p:spPr>
          <a:xfrm>
            <a:off x="2350008" y="1252728"/>
            <a:ext cx="182880" cy="292608"/>
          </a:xfrm>
          <a:prstGeom prst="rightArrow">
            <a:avLst/>
          </a:prstGeom>
          <a:solidFill>
            <a:schemeClr val="accent2"/>
          </a:solidFill>
          <a:ln/>
        </p:spPr>
      </p:sp>
      <p:sp>
        <p:nvSpPr>
          <p:cNvPr id="13" name="blocco Trascrizione"/>
          <p:cNvSpPr/>
          <p:nvPr/>
        </p:nvSpPr>
        <p:spPr>
          <a:xfrm>
            <a:off x="2560320" y="1097280"/>
            <a:ext cx="1874520" cy="594360"/>
          </a:xfrm>
          <a:prstGeom prst="roundRect">
            <a:avLst>
              <a:gd name="adj" fmla="val 18462"/>
            </a:avLst>
          </a:prstGeom>
          <a:solidFill>
            <a:schemeClr val="accent6"/>
          </a:solidFill>
          <a:ln/>
        </p:spPr>
      </p:sp>
      <p:sp>
        <p:nvSpPr>
          <p:cNvPr id="14" name="Text 11"/>
          <p:cNvSpPr txBox="1"/>
          <p:nvPr/>
        </p:nvSpPr>
        <p:spPr>
          <a:xfrm>
            <a:off x="2606040" y="1097280"/>
            <a:ext cx="1783080" cy="594360"/>
          </a:xfrm>
          <a:prstGeom prst="rect">
            <a:avLst/>
          </a:prstGeom>
          <a:noFill/>
          <a:ln/>
        </p:spPr>
        <p:txBody>
          <a:bodyPr wrap="square" lIns="0" tIns="0" rIns="0" bIns="0" rtlCol="0" anchor="ctr"/>
          <a:lstStyle/>
          <a:p>
            <a:pPr algn="ctr" indent="0" marL="0">
              <a:buNone/>
            </a:pPr>
            <a:r>
              <a:rPr lang="it-IT" sz="1300" b="1" dirty="0">
                <a:solidFill>
                  <a:schemeClr val="tx1"/>
                </a:solidFill>
              </a:rPr>
              <a:t>Trascrizione</a:t>
            </a:r>
            <a:endParaRPr lang="it-IT" sz="1300" dirty="0"/>
          </a:p>
        </p:txBody>
      </p:sp>
      <p:sp>
        <p:nvSpPr>
          <p:cNvPr id="15" name="freccia"/>
          <p:cNvSpPr/>
          <p:nvPr/>
        </p:nvSpPr>
        <p:spPr>
          <a:xfrm>
            <a:off x="4453128" y="1252728"/>
            <a:ext cx="182880" cy="292608"/>
          </a:xfrm>
          <a:prstGeom prst="rightArrow">
            <a:avLst/>
          </a:prstGeom>
          <a:solidFill>
            <a:schemeClr val="accent2"/>
          </a:solidFill>
          <a:ln/>
        </p:spPr>
      </p:sp>
      <p:sp>
        <p:nvSpPr>
          <p:cNvPr id="16" name="blocco Riassunto"/>
          <p:cNvSpPr/>
          <p:nvPr/>
        </p:nvSpPr>
        <p:spPr>
          <a:xfrm>
            <a:off x="4663440" y="1097280"/>
            <a:ext cx="1874520" cy="594360"/>
          </a:xfrm>
          <a:prstGeom prst="roundRect">
            <a:avLst>
              <a:gd name="adj" fmla="val 18462"/>
            </a:avLst>
          </a:prstGeom>
          <a:solidFill>
            <a:schemeClr val="accent6"/>
          </a:solidFill>
          <a:ln/>
        </p:spPr>
      </p:sp>
      <p:sp>
        <p:nvSpPr>
          <p:cNvPr id="17" name="Text 14"/>
          <p:cNvSpPr txBox="1"/>
          <p:nvPr/>
        </p:nvSpPr>
        <p:spPr>
          <a:xfrm>
            <a:off x="4709160" y="1097280"/>
            <a:ext cx="1783080" cy="594360"/>
          </a:xfrm>
          <a:prstGeom prst="rect">
            <a:avLst/>
          </a:prstGeom>
          <a:noFill/>
          <a:ln/>
        </p:spPr>
        <p:txBody>
          <a:bodyPr wrap="square" lIns="0" tIns="0" rIns="0" bIns="0" rtlCol="0" anchor="ctr"/>
          <a:lstStyle/>
          <a:p>
            <a:pPr algn="ctr" indent="0" marL="0">
              <a:buNone/>
            </a:pPr>
            <a:r>
              <a:rPr lang="it-IT" sz="1300" b="1" dirty="0">
                <a:solidFill>
                  <a:schemeClr val="tx1"/>
                </a:solidFill>
              </a:rPr>
              <a:t>Riassunto</a:t>
            </a:r>
            <a:endParaRPr lang="it-IT" sz="1300" dirty="0"/>
          </a:p>
        </p:txBody>
      </p:sp>
      <p:sp>
        <p:nvSpPr>
          <p:cNvPr id="18" name="freccia"/>
          <p:cNvSpPr/>
          <p:nvPr/>
        </p:nvSpPr>
        <p:spPr>
          <a:xfrm>
            <a:off x="6556248" y="1252728"/>
            <a:ext cx="182880" cy="292608"/>
          </a:xfrm>
          <a:prstGeom prst="rightArrow">
            <a:avLst/>
          </a:prstGeom>
          <a:solidFill>
            <a:schemeClr val="accent2"/>
          </a:solidFill>
          <a:ln/>
        </p:spPr>
      </p:sp>
      <p:sp>
        <p:nvSpPr>
          <p:cNvPr id="19" name="blocco Decisioni e attività"/>
          <p:cNvSpPr/>
          <p:nvPr/>
        </p:nvSpPr>
        <p:spPr>
          <a:xfrm>
            <a:off x="6766560" y="1097280"/>
            <a:ext cx="1874520" cy="594360"/>
          </a:xfrm>
          <a:prstGeom prst="roundRect">
            <a:avLst>
              <a:gd name="adj" fmla="val 18462"/>
            </a:avLst>
          </a:prstGeom>
          <a:solidFill>
            <a:schemeClr val="accent1"/>
          </a:solidFill>
          <a:ln/>
        </p:spPr>
      </p:sp>
      <p:sp>
        <p:nvSpPr>
          <p:cNvPr id="20" name="Text 17"/>
          <p:cNvSpPr txBox="1"/>
          <p:nvPr/>
        </p:nvSpPr>
        <p:spPr>
          <a:xfrm>
            <a:off x="6812280" y="1097280"/>
            <a:ext cx="1783080" cy="594360"/>
          </a:xfrm>
          <a:prstGeom prst="rect">
            <a:avLst/>
          </a:prstGeom>
          <a:noFill/>
          <a:ln/>
        </p:spPr>
        <p:txBody>
          <a:bodyPr wrap="square" lIns="0" tIns="0" rIns="0" bIns="0" rtlCol="0" anchor="ctr"/>
          <a:lstStyle/>
          <a:p>
            <a:pPr algn="ctr" indent="0" marL="0">
              <a:buNone/>
            </a:pPr>
            <a:r>
              <a:rPr lang="it-IT" sz="1300" b="1" dirty="0">
                <a:solidFill>
                  <a:schemeClr val="bg1"/>
                </a:solidFill>
              </a:rPr>
              <a:t>Decisioni e attività</a:t>
            </a:r>
            <a:endParaRPr lang="it-IT" sz="1300" dirty="0"/>
          </a:p>
        </p:txBody>
      </p:sp>
      <p:sp>
        <p:nvSpPr>
          <p:cNvPr id="21" name="Tutti partecipano"/>
          <p:cNvSpPr/>
          <p:nvPr/>
        </p:nvSpPr>
        <p:spPr>
          <a:xfrm>
            <a:off x="457200" y="1828800"/>
            <a:ext cx="1874520" cy="868680"/>
          </a:xfrm>
          <a:prstGeom prst="roundRect">
            <a:avLst>
              <a:gd name="adj" fmla="val 8421"/>
            </a:avLst>
          </a:prstGeom>
          <a:solidFill>
            <a:schemeClr val="bg2"/>
          </a:solidFill>
          <a:ln/>
        </p:spPr>
      </p:sp>
      <p:sp>
        <p:nvSpPr>
          <p:cNvPr id="22" name="Text 19"/>
          <p:cNvSpPr txBox="1"/>
          <p:nvPr/>
        </p:nvSpPr>
        <p:spPr>
          <a:xfrm>
            <a:off x="566928" y="1883664"/>
            <a:ext cx="1691640" cy="384048"/>
          </a:xfrm>
          <a:prstGeom prst="rect">
            <a:avLst/>
          </a:prstGeom>
          <a:noFill/>
          <a:ln/>
        </p:spPr>
        <p:txBody>
          <a:bodyPr wrap="square" lIns="0" tIns="0" rIns="0" bIns="0" rtlCol="0" anchor="t"/>
          <a:lstStyle/>
          <a:p>
            <a:pPr indent="0" marL="0">
              <a:buNone/>
            </a:pPr>
            <a:r>
              <a:rPr lang="it-IT" sz="1300" b="1" dirty="0">
                <a:solidFill>
                  <a:schemeClr val="accent1"/>
                </a:solidFill>
              </a:rPr>
              <a:t>Tutti partecipano</a:t>
            </a:r>
            <a:endParaRPr lang="it-IT" sz="1300" dirty="0"/>
          </a:p>
        </p:txBody>
      </p:sp>
      <p:sp>
        <p:nvSpPr>
          <p:cNvPr id="23" name="Text 20"/>
          <p:cNvSpPr txBox="1"/>
          <p:nvPr/>
        </p:nvSpPr>
        <p:spPr>
          <a:xfrm>
            <a:off x="566928" y="2286000"/>
            <a:ext cx="1691640" cy="347472"/>
          </a:xfrm>
          <a:prstGeom prst="rect">
            <a:avLst/>
          </a:prstGeom>
          <a:noFill/>
          <a:ln/>
        </p:spPr>
        <p:txBody>
          <a:bodyPr wrap="square" lIns="0" tIns="0" rIns="0" bIns="0" rtlCol="0" anchor="t"/>
          <a:lstStyle/>
          <a:p>
            <a:pPr indent="0" marL="0">
              <a:buNone/>
            </a:pPr>
            <a:r>
              <a:rPr lang="it-IT" sz="1100" dirty="0">
                <a:solidFill>
                  <a:schemeClr val="tx2"/>
                </a:solidFill>
              </a:rPr>
              <a:t>Nessuno dedicato agli appunti</a:t>
            </a:r>
            <a:endParaRPr lang="it-IT" sz="1100" dirty="0"/>
          </a:p>
        </p:txBody>
      </p:sp>
      <p:sp>
        <p:nvSpPr>
          <p:cNvPr id="24" name="Chi era assente"/>
          <p:cNvSpPr/>
          <p:nvPr/>
        </p:nvSpPr>
        <p:spPr>
          <a:xfrm>
            <a:off x="2560320" y="1828800"/>
            <a:ext cx="1874520" cy="868680"/>
          </a:xfrm>
          <a:prstGeom prst="roundRect">
            <a:avLst>
              <a:gd name="adj" fmla="val 8421"/>
            </a:avLst>
          </a:prstGeom>
          <a:solidFill>
            <a:schemeClr val="bg2"/>
          </a:solidFill>
          <a:ln/>
        </p:spPr>
      </p:sp>
      <p:sp>
        <p:nvSpPr>
          <p:cNvPr id="25" name="Text 22"/>
          <p:cNvSpPr txBox="1"/>
          <p:nvPr/>
        </p:nvSpPr>
        <p:spPr>
          <a:xfrm>
            <a:off x="2670048" y="1883664"/>
            <a:ext cx="1691640" cy="384048"/>
          </a:xfrm>
          <a:prstGeom prst="rect">
            <a:avLst/>
          </a:prstGeom>
          <a:noFill/>
          <a:ln/>
        </p:spPr>
        <p:txBody>
          <a:bodyPr wrap="square" lIns="0" tIns="0" rIns="0" bIns="0" rtlCol="0" anchor="t"/>
          <a:lstStyle/>
          <a:p>
            <a:pPr indent="0" marL="0">
              <a:buNone/>
            </a:pPr>
            <a:r>
              <a:rPr lang="it-IT" sz="1300" b="1" dirty="0">
                <a:solidFill>
                  <a:schemeClr val="accent1"/>
                </a:solidFill>
              </a:rPr>
              <a:t>Chi era assente</a:t>
            </a:r>
            <a:endParaRPr lang="it-IT" sz="1300" dirty="0"/>
          </a:p>
        </p:txBody>
      </p:sp>
      <p:sp>
        <p:nvSpPr>
          <p:cNvPr id="26" name="Text 23"/>
          <p:cNvSpPr txBox="1"/>
          <p:nvPr/>
        </p:nvSpPr>
        <p:spPr>
          <a:xfrm>
            <a:off x="2670048" y="2286000"/>
            <a:ext cx="1691640" cy="347472"/>
          </a:xfrm>
          <a:prstGeom prst="rect">
            <a:avLst/>
          </a:prstGeom>
          <a:noFill/>
          <a:ln/>
        </p:spPr>
        <p:txBody>
          <a:bodyPr wrap="square" lIns="0" tIns="0" rIns="0" bIns="0" rtlCol="0" anchor="t"/>
          <a:lstStyle/>
          <a:p>
            <a:pPr indent="0" marL="0">
              <a:buNone/>
            </a:pPr>
            <a:r>
              <a:rPr lang="it-IT" sz="1100" dirty="0">
                <a:solidFill>
                  <a:schemeClr val="tx2"/>
                </a:solidFill>
              </a:rPr>
              <a:t>Recupera in pochi minuti</a:t>
            </a:r>
            <a:endParaRPr lang="it-IT" sz="1100" dirty="0"/>
          </a:p>
        </p:txBody>
      </p:sp>
      <p:sp>
        <p:nvSpPr>
          <p:cNvPr id="27" name="Attività"/>
          <p:cNvSpPr/>
          <p:nvPr/>
        </p:nvSpPr>
        <p:spPr>
          <a:xfrm>
            <a:off x="4663440" y="1828800"/>
            <a:ext cx="1874520" cy="868680"/>
          </a:xfrm>
          <a:prstGeom prst="roundRect">
            <a:avLst>
              <a:gd name="adj" fmla="val 8421"/>
            </a:avLst>
          </a:prstGeom>
          <a:solidFill>
            <a:schemeClr val="bg2"/>
          </a:solidFill>
          <a:ln/>
        </p:spPr>
      </p:sp>
      <p:sp>
        <p:nvSpPr>
          <p:cNvPr id="28" name="Text 25"/>
          <p:cNvSpPr txBox="1"/>
          <p:nvPr/>
        </p:nvSpPr>
        <p:spPr>
          <a:xfrm>
            <a:off x="4773168" y="1883664"/>
            <a:ext cx="1691640" cy="384048"/>
          </a:xfrm>
          <a:prstGeom prst="rect">
            <a:avLst/>
          </a:prstGeom>
          <a:noFill/>
          <a:ln/>
        </p:spPr>
        <p:txBody>
          <a:bodyPr wrap="square" lIns="0" tIns="0" rIns="0" bIns="0" rtlCol="0" anchor="t"/>
          <a:lstStyle/>
          <a:p>
            <a:pPr indent="0" marL="0">
              <a:buNone/>
            </a:pPr>
            <a:r>
              <a:rPr lang="it-IT" sz="1300" b="1" dirty="0">
                <a:solidFill>
                  <a:schemeClr val="accent1"/>
                </a:solidFill>
              </a:rPr>
              <a:t>Attività</a:t>
            </a:r>
            <a:endParaRPr lang="it-IT" sz="1300" dirty="0"/>
          </a:p>
        </p:txBody>
      </p:sp>
      <p:sp>
        <p:nvSpPr>
          <p:cNvPr id="29" name="Text 26"/>
          <p:cNvSpPr txBox="1"/>
          <p:nvPr/>
        </p:nvSpPr>
        <p:spPr>
          <a:xfrm>
            <a:off x="4773168" y="2286000"/>
            <a:ext cx="1691640" cy="347472"/>
          </a:xfrm>
          <a:prstGeom prst="rect">
            <a:avLst/>
          </a:prstGeom>
          <a:noFill/>
          <a:ln/>
        </p:spPr>
        <p:txBody>
          <a:bodyPr wrap="square" lIns="0" tIns="0" rIns="0" bIns="0" rtlCol="0" anchor="t"/>
          <a:lstStyle/>
          <a:p>
            <a:pPr indent="0" marL="0">
              <a:buNone/>
            </a:pPr>
            <a:r>
              <a:rPr lang="it-IT" sz="1100" dirty="0">
                <a:solidFill>
                  <a:schemeClr val="tx2"/>
                </a:solidFill>
              </a:rPr>
              <a:t>Non si perdono</a:t>
            </a:r>
            <a:endParaRPr lang="it-IT" sz="1100" dirty="0"/>
          </a:p>
        </p:txBody>
      </p:sp>
      <p:sp>
        <p:nvSpPr>
          <p:cNvPr id="30" name="Riunioni passate"/>
          <p:cNvSpPr/>
          <p:nvPr/>
        </p:nvSpPr>
        <p:spPr>
          <a:xfrm>
            <a:off x="6766560" y="1828800"/>
            <a:ext cx="1874520" cy="868680"/>
          </a:xfrm>
          <a:prstGeom prst="roundRect">
            <a:avLst>
              <a:gd name="adj" fmla="val 8421"/>
            </a:avLst>
          </a:prstGeom>
          <a:solidFill>
            <a:schemeClr val="bg2"/>
          </a:solidFill>
          <a:ln/>
        </p:spPr>
      </p:sp>
      <p:sp>
        <p:nvSpPr>
          <p:cNvPr id="31" name="Text 28"/>
          <p:cNvSpPr txBox="1"/>
          <p:nvPr/>
        </p:nvSpPr>
        <p:spPr>
          <a:xfrm>
            <a:off x="6876288" y="1883664"/>
            <a:ext cx="1691640" cy="384048"/>
          </a:xfrm>
          <a:prstGeom prst="rect">
            <a:avLst/>
          </a:prstGeom>
          <a:noFill/>
          <a:ln/>
        </p:spPr>
        <p:txBody>
          <a:bodyPr wrap="square" lIns="0" tIns="0" rIns="0" bIns="0" rtlCol="0" anchor="t"/>
          <a:lstStyle/>
          <a:p>
            <a:pPr indent="0" marL="0">
              <a:buNone/>
            </a:pPr>
            <a:r>
              <a:rPr lang="it-IT" sz="1300" b="1" dirty="0">
                <a:solidFill>
                  <a:schemeClr val="accent1"/>
                </a:solidFill>
              </a:rPr>
              <a:t>Riunioni passate</a:t>
            </a:r>
            <a:endParaRPr lang="it-IT" sz="1300" dirty="0"/>
          </a:p>
        </p:txBody>
      </p:sp>
      <p:sp>
        <p:nvSpPr>
          <p:cNvPr id="32" name="Text 29"/>
          <p:cNvSpPr txBox="1"/>
          <p:nvPr/>
        </p:nvSpPr>
        <p:spPr>
          <a:xfrm>
            <a:off x="6876288" y="2286000"/>
            <a:ext cx="1691640" cy="347472"/>
          </a:xfrm>
          <a:prstGeom prst="rect">
            <a:avLst/>
          </a:prstGeom>
          <a:noFill/>
          <a:ln/>
        </p:spPr>
        <p:txBody>
          <a:bodyPr wrap="square" lIns="0" tIns="0" rIns="0" bIns="0" rtlCol="0" anchor="t"/>
          <a:lstStyle/>
          <a:p>
            <a:pPr indent="0" marL="0">
              <a:buNone/>
            </a:pPr>
            <a:r>
              <a:rPr lang="it-IT" sz="1100" dirty="0">
                <a:solidFill>
                  <a:schemeClr val="tx2"/>
                </a:solidFill>
              </a:rPr>
              <a:t>Diventano ricercabili</a:t>
            </a:r>
            <a:endParaRPr lang="it-IT" sz="1100" dirty="0"/>
          </a:p>
        </p:txBody>
      </p:sp>
      <p:sp>
        <p:nvSpPr>
          <p:cNvPr id="33" name="scheda Revisione proporzionata"/>
          <p:cNvSpPr/>
          <p:nvPr/>
        </p:nvSpPr>
        <p:spPr>
          <a:xfrm>
            <a:off x="457200" y="2880360"/>
            <a:ext cx="3977640" cy="1645920"/>
          </a:xfrm>
          <a:prstGeom prst="roundRect">
            <a:avLst>
              <a:gd name="adj" fmla="val 4444"/>
            </a:avLst>
          </a:prstGeom>
          <a:solidFill>
            <a:schemeClr val="accent6"/>
          </a:solidFill>
          <a:ln/>
        </p:spPr>
      </p:sp>
      <p:sp>
        <p:nvSpPr>
          <p:cNvPr id="34" name="cerchio FiCheckSquare"/>
          <p:cNvSpPr/>
          <p:nvPr/>
        </p:nvSpPr>
        <p:spPr>
          <a:xfrm>
            <a:off x="640080" y="3063240"/>
            <a:ext cx="457200" cy="457200"/>
          </a:xfrm>
          <a:prstGeom prst="ellipse">
            <a:avLst/>
          </a:prstGeom>
          <a:solidFill>
            <a:schemeClr val="accent1"/>
          </a:solidFill>
          <a:ln/>
        </p:spPr>
      </p:sp>
      <p:pic>
        <p:nvPicPr>
          <p:cNvPr id="35" name="Image 0" descr="FiCheckSquare">    </p:cNvPr>
          <p:cNvPicPr>
            <a:picLocks noChangeAspect="1"/>
          </p:cNvPicPr>
          <p:nvPr/>
        </p:nvPicPr>
        <p:blipFill>
          <a:blip r:embed="rId1"/>
          <a:stretch>
            <a:fillRect/>
          </a:stretch>
        </p:blipFill>
        <p:spPr>
          <a:xfrm>
            <a:off x="754380" y="3177540"/>
            <a:ext cx="228600" cy="228600"/>
          </a:xfrm>
          <a:prstGeom prst="rect">
            <a:avLst/>
          </a:prstGeom>
        </p:spPr>
      </p:pic>
      <p:sp>
        <p:nvSpPr>
          <p:cNvPr id="36" name="Text 32"/>
          <p:cNvSpPr txBox="1"/>
          <p:nvPr/>
        </p:nvSpPr>
        <p:spPr>
          <a:xfrm>
            <a:off x="1234440" y="3063240"/>
            <a:ext cx="3017520" cy="457200"/>
          </a:xfrm>
          <a:prstGeom prst="rect">
            <a:avLst/>
          </a:prstGeom>
          <a:noFill/>
          <a:ln/>
        </p:spPr>
        <p:txBody>
          <a:bodyPr wrap="square" lIns="0" tIns="0" rIns="0" bIns="0" rtlCol="0" anchor="ctr"/>
          <a:lstStyle/>
          <a:p>
            <a:pPr indent="0" marL="0">
              <a:buNone/>
            </a:pPr>
            <a:r>
              <a:rPr lang="it-IT" sz="1400" b="1" dirty="0">
                <a:solidFill>
                  <a:schemeClr val="tx1"/>
                </a:solidFill>
              </a:rPr>
              <a:t>Revisione proporzionata</a:t>
            </a:r>
            <a:endParaRPr lang="it-IT" sz="1400" dirty="0"/>
          </a:p>
        </p:txBody>
      </p:sp>
      <p:sp>
        <p:nvSpPr>
          <p:cNvPr id="37" name="Text 33"/>
          <p:cNvSpPr txBox="1"/>
          <p:nvPr/>
        </p:nvSpPr>
        <p:spPr>
          <a:xfrm>
            <a:off x="640080" y="3657600"/>
            <a:ext cx="3611880" cy="758952"/>
          </a:xfrm>
          <a:prstGeom prst="rect">
            <a:avLst/>
          </a:prstGeom>
          <a:noFill/>
          <a:ln/>
        </p:spPr>
        <p:txBody>
          <a:bodyPr wrap="square" lIns="0" tIns="0" rIns="0" bIns="0" rtlCol="0" anchor="t"/>
          <a:lstStyle/>
          <a:p>
            <a:pPr indent="0" marL="0">
              <a:buNone/>
            </a:pPr>
            <a:r>
              <a:rPr lang="it-IT" sz="1200" dirty="0">
                <a:solidFill>
                  <a:schemeClr val="tx2"/>
                </a:solidFill>
              </a:rPr>
              <a:t>Nomi, numeri, decisioni, impegni: li conferma chi ha partecipato, prima di diffondere.</a:t>
            </a:r>
            <a:endParaRPr lang="it-IT" sz="1200" dirty="0"/>
          </a:p>
        </p:txBody>
      </p:sp>
      <p:sp>
        <p:nvSpPr>
          <p:cNvPr id="38" name="scheda Conservare la trascrizione"/>
          <p:cNvSpPr/>
          <p:nvPr/>
        </p:nvSpPr>
        <p:spPr>
          <a:xfrm>
            <a:off x="4709160" y="2880360"/>
            <a:ext cx="3977640" cy="1645920"/>
          </a:xfrm>
          <a:prstGeom prst="roundRect">
            <a:avLst>
              <a:gd name="adj" fmla="val 4444"/>
            </a:avLst>
          </a:prstGeom>
          <a:solidFill>
            <a:schemeClr val="bg2"/>
          </a:solidFill>
          <a:ln/>
        </p:spPr>
      </p:sp>
      <p:sp>
        <p:nvSpPr>
          <p:cNvPr id="39" name="cerchio FiArchive"/>
          <p:cNvSpPr/>
          <p:nvPr/>
        </p:nvSpPr>
        <p:spPr>
          <a:xfrm>
            <a:off x="4892040" y="3063240"/>
            <a:ext cx="457200" cy="457200"/>
          </a:xfrm>
          <a:prstGeom prst="ellipse">
            <a:avLst/>
          </a:prstGeom>
          <a:solidFill>
            <a:schemeClr val="accent1"/>
          </a:solidFill>
          <a:ln/>
        </p:spPr>
      </p:sp>
      <p:pic>
        <p:nvPicPr>
          <p:cNvPr id="40" name="Image 1" descr="FiArchive">    </p:cNvPr>
          <p:cNvPicPr>
            <a:picLocks noChangeAspect="1"/>
          </p:cNvPicPr>
          <p:nvPr/>
        </p:nvPicPr>
        <p:blipFill>
          <a:blip r:embed="rId2"/>
          <a:stretch>
            <a:fillRect/>
          </a:stretch>
        </p:blipFill>
        <p:spPr>
          <a:xfrm>
            <a:off x="5006340" y="3177540"/>
            <a:ext cx="228600" cy="228600"/>
          </a:xfrm>
          <a:prstGeom prst="rect">
            <a:avLst/>
          </a:prstGeom>
        </p:spPr>
      </p:pic>
      <p:sp>
        <p:nvSpPr>
          <p:cNvPr id="41" name="Text 36"/>
          <p:cNvSpPr txBox="1"/>
          <p:nvPr/>
        </p:nvSpPr>
        <p:spPr>
          <a:xfrm>
            <a:off x="5486400" y="3063240"/>
            <a:ext cx="3017520" cy="457200"/>
          </a:xfrm>
          <a:prstGeom prst="rect">
            <a:avLst/>
          </a:prstGeom>
          <a:noFill/>
          <a:ln/>
        </p:spPr>
        <p:txBody>
          <a:bodyPr wrap="square" lIns="0" tIns="0" rIns="0" bIns="0" rtlCol="0" anchor="ctr"/>
          <a:lstStyle/>
          <a:p>
            <a:pPr indent="0" marL="0">
              <a:buNone/>
            </a:pPr>
            <a:r>
              <a:rPr lang="it-IT" sz="1400" b="1" dirty="0">
                <a:solidFill>
                  <a:schemeClr val="tx1"/>
                </a:solidFill>
              </a:rPr>
              <a:t>Conservare la trascrizione</a:t>
            </a:r>
            <a:endParaRPr lang="it-IT" sz="1400" dirty="0"/>
          </a:p>
        </p:txBody>
      </p:sp>
      <p:sp>
        <p:nvSpPr>
          <p:cNvPr id="42" name="Text 37"/>
          <p:cNvSpPr txBox="1"/>
          <p:nvPr/>
        </p:nvSpPr>
        <p:spPr>
          <a:xfrm>
            <a:off x="4892040" y="3657600"/>
            <a:ext cx="3611880" cy="758952"/>
          </a:xfrm>
          <a:prstGeom prst="rect">
            <a:avLst/>
          </a:prstGeom>
          <a:noFill/>
          <a:ln/>
        </p:spPr>
        <p:txBody>
          <a:bodyPr wrap="square" lIns="0" tIns="0" rIns="0" bIns="0" rtlCol="0" anchor="t"/>
          <a:lstStyle/>
          <a:p>
            <a:pPr indent="0" marL="0">
              <a:buNone/>
            </a:pPr>
            <a:r>
              <a:rPr lang="it-IT" sz="1200" dirty="0">
                <a:solidFill>
                  <a:schemeClr val="tx2"/>
                </a:solidFill>
              </a:rPr>
              <a:t>O la registrazione, quando consentito, come riferimento per i punti controversi.</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26</a:t>
            </a:fld>
            <a:endParaRPr lang="it-IT"/>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Esempio: dalla riunione al verbale</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sp>
        <p:nvSpPr>
          <p:cNvPr id="10" name="riquadro Trascrizione (estratto fittizio)"/>
          <p:cNvSpPr/>
          <p:nvPr/>
        </p:nvSpPr>
        <p:spPr>
          <a:xfrm>
            <a:off x="457200" y="1051560"/>
            <a:ext cx="3977640" cy="2788920"/>
          </a:xfrm>
          <a:prstGeom prst="roundRect">
            <a:avLst>
              <a:gd name="adj" fmla="val 2623"/>
            </a:avLst>
          </a:prstGeom>
          <a:solidFill>
            <a:schemeClr val="bg2"/>
          </a:solidFill>
          <a:ln/>
        </p:spPr>
      </p:sp>
      <p:sp>
        <p:nvSpPr>
          <p:cNvPr id="11" name="barra"/>
          <p:cNvSpPr/>
          <p:nvPr/>
        </p:nvSpPr>
        <p:spPr>
          <a:xfrm>
            <a:off x="457200" y="1161288"/>
            <a:ext cx="54864" cy="2569464"/>
          </a:xfrm>
          <a:prstGeom prst="rect">
            <a:avLst/>
          </a:prstGeom>
          <a:solidFill>
            <a:schemeClr val="accent1"/>
          </a:solidFill>
          <a:ln/>
        </p:spPr>
      </p:sp>
      <p:sp>
        <p:nvSpPr>
          <p:cNvPr id="12" name="Text 9"/>
          <p:cNvSpPr txBox="1"/>
          <p:nvPr/>
        </p:nvSpPr>
        <p:spPr>
          <a:xfrm>
            <a:off x="658368" y="1143000"/>
            <a:ext cx="3611880" cy="256032"/>
          </a:xfrm>
          <a:prstGeom prst="rect">
            <a:avLst/>
          </a:prstGeom>
          <a:noFill/>
          <a:ln/>
        </p:spPr>
        <p:txBody>
          <a:bodyPr wrap="square" lIns="0" tIns="0" rIns="0" bIns="0" rtlCol="0" anchor="t"/>
          <a:lstStyle/>
          <a:p>
            <a:pPr indent="0" marL="0">
              <a:buNone/>
            </a:pPr>
            <a:r>
              <a:rPr lang="it-IT" sz="1100" b="1" dirty="0">
                <a:solidFill>
                  <a:schemeClr val="accent1"/>
                </a:solidFill>
              </a:rPr>
              <a:t>Trascrizione (estratto fittizio)</a:t>
            </a:r>
            <a:endParaRPr lang="it-IT" sz="1100" dirty="0"/>
          </a:p>
        </p:txBody>
      </p:sp>
      <p:sp>
        <p:nvSpPr>
          <p:cNvPr id="13" name="Text 10"/>
          <p:cNvSpPr txBox="1"/>
          <p:nvPr/>
        </p:nvSpPr>
        <p:spPr>
          <a:xfrm>
            <a:off x="658368" y="1435608"/>
            <a:ext cx="3611880" cy="2313432"/>
          </a:xfrm>
          <a:prstGeom prst="rect">
            <a:avLst/>
          </a:prstGeom>
          <a:noFill/>
          <a:ln/>
        </p:spPr>
        <p:txBody>
          <a:bodyPr wrap="square" lIns="0" tIns="0" rIns="0" bIns="0" rtlCol="0" anchor="t"/>
          <a:lstStyle/>
          <a:p>
            <a:pPr indent="0" marL="0">
              <a:buNone/>
            </a:pPr>
            <a:r>
              <a:rPr lang="it-IT" sz="1100" dirty="0">
                <a:solidFill>
                  <a:schemeClr val="tx1"/>
                </a:solidFill>
              </a:rPr>
              <a:t>Rossi: La stampa del catalogo la facciamo con il fornitore attuale?</a:t>
            </a:r>
            <a:endParaRPr lang="it-IT" sz="1100" dirty="0"/>
          </a:p>
          <a:p>
            <a:pPr indent="0" marL="0">
              <a:buNone/>
            </a:pPr>
            <a:r>
              <a:rPr lang="it-IT" sz="1100" dirty="0">
                <a:solidFill>
                  <a:schemeClr val="tx1"/>
                </a:solidFill>
              </a:rPr>
              <a:t>Neri: Sì, ma solo se conferma il prezzo di 4.200 euro.</a:t>
            </a:r>
            <a:endParaRPr lang="it-IT" sz="1100" dirty="0"/>
          </a:p>
          <a:p>
            <a:pPr indent="0" marL="0">
              <a:buNone/>
            </a:pPr>
            <a:r>
              <a:rPr lang="it-IT" sz="1100" dirty="0">
                <a:solidFill>
                  <a:schemeClr val="tx1"/>
                </a:solidFill>
              </a:rPr>
              <a:t>Rossi: Bene. Neri, chiedi tu la conferma entro giovedì?</a:t>
            </a:r>
            <a:endParaRPr lang="it-IT" sz="1100" dirty="0"/>
          </a:p>
          <a:p>
            <a:pPr indent="0" marL="0">
              <a:buNone/>
            </a:pPr>
            <a:r>
              <a:rPr lang="it-IT" sz="1100" dirty="0">
                <a:solidFill>
                  <a:schemeClr val="tx1"/>
                </a:solidFill>
              </a:rPr>
              <a:t>Neri: D'accordo.</a:t>
            </a:r>
            <a:endParaRPr lang="it-IT" sz="1100" dirty="0"/>
          </a:p>
          <a:p>
            <a:pPr indent="0" marL="0">
              <a:buNone/>
            </a:pPr>
            <a:r>
              <a:rPr lang="it-IT" sz="1100" dirty="0">
                <a:solidFill>
                  <a:schemeClr val="tx1"/>
                </a:solidFill>
              </a:rPr>
              <a:t>Gallo: Per le foto dei prodotti forse servono due settimane in più.</a:t>
            </a:r>
            <a:endParaRPr lang="it-IT" sz="1100" dirty="0"/>
          </a:p>
          <a:p>
            <a:pPr indent="0" marL="0">
              <a:buNone/>
            </a:pPr>
            <a:r>
              <a:rPr lang="it-IT" sz="1100" dirty="0">
                <a:solidFill>
                  <a:schemeClr val="tx1"/>
                </a:solidFill>
              </a:rPr>
              <a:t>Rossi: Allora pensiamo al 30 novembre, ne riparliamo lunedì.</a:t>
            </a:r>
            <a:endParaRPr lang="it-IT" sz="1100" dirty="0"/>
          </a:p>
        </p:txBody>
      </p:sp>
      <p:sp>
        <p:nvSpPr>
          <p:cNvPr id="14" name="freccia"/>
          <p:cNvSpPr/>
          <p:nvPr/>
        </p:nvSpPr>
        <p:spPr>
          <a:xfrm>
            <a:off x="4462272" y="2286000"/>
            <a:ext cx="219456" cy="292608"/>
          </a:xfrm>
          <a:prstGeom prst="rightArrow">
            <a:avLst/>
          </a:prstGeom>
          <a:solidFill>
            <a:schemeClr val="accent2"/>
          </a:solidFill>
          <a:ln/>
        </p:spPr>
      </p:sp>
      <p:sp>
        <p:nvSpPr>
          <p:cNvPr id="15" name="riquadro Decisioni"/>
          <p:cNvSpPr/>
          <p:nvPr/>
        </p:nvSpPr>
        <p:spPr>
          <a:xfrm>
            <a:off x="4709160" y="1051560"/>
            <a:ext cx="3977640" cy="868680"/>
          </a:xfrm>
          <a:prstGeom prst="roundRect">
            <a:avLst>
              <a:gd name="adj" fmla="val 8421"/>
            </a:avLst>
          </a:prstGeom>
          <a:solidFill>
            <a:schemeClr val="accent6"/>
          </a:solidFill>
          <a:ln/>
        </p:spPr>
      </p:sp>
      <p:sp>
        <p:nvSpPr>
          <p:cNvPr id="16" name="barra"/>
          <p:cNvSpPr/>
          <p:nvPr/>
        </p:nvSpPr>
        <p:spPr>
          <a:xfrm>
            <a:off x="4709160" y="1161288"/>
            <a:ext cx="54864" cy="649224"/>
          </a:xfrm>
          <a:prstGeom prst="rect">
            <a:avLst/>
          </a:prstGeom>
          <a:solidFill>
            <a:schemeClr val="accent1"/>
          </a:solidFill>
          <a:ln/>
        </p:spPr>
      </p:sp>
      <p:sp>
        <p:nvSpPr>
          <p:cNvPr id="17" name="Text 14"/>
          <p:cNvSpPr txBox="1"/>
          <p:nvPr/>
        </p:nvSpPr>
        <p:spPr>
          <a:xfrm>
            <a:off x="4910328" y="1143000"/>
            <a:ext cx="3611880" cy="256032"/>
          </a:xfrm>
          <a:prstGeom prst="rect">
            <a:avLst/>
          </a:prstGeom>
          <a:noFill/>
          <a:ln/>
        </p:spPr>
        <p:txBody>
          <a:bodyPr wrap="square" lIns="0" tIns="0" rIns="0" bIns="0" rtlCol="0" anchor="t"/>
          <a:lstStyle/>
          <a:p>
            <a:pPr indent="0" marL="0">
              <a:buNone/>
            </a:pPr>
            <a:r>
              <a:rPr lang="it-IT" sz="1100" b="1" dirty="0">
                <a:solidFill>
                  <a:schemeClr val="accent1"/>
                </a:solidFill>
              </a:rPr>
              <a:t>Decisioni</a:t>
            </a:r>
            <a:endParaRPr lang="it-IT" sz="1100" dirty="0"/>
          </a:p>
        </p:txBody>
      </p:sp>
      <p:sp>
        <p:nvSpPr>
          <p:cNvPr id="18" name="Text 15"/>
          <p:cNvSpPr txBox="1"/>
          <p:nvPr/>
        </p:nvSpPr>
        <p:spPr>
          <a:xfrm>
            <a:off x="4910328" y="1435608"/>
            <a:ext cx="3611880" cy="393192"/>
          </a:xfrm>
          <a:prstGeom prst="rect">
            <a:avLst/>
          </a:prstGeom>
          <a:noFill/>
          <a:ln/>
        </p:spPr>
        <p:txBody>
          <a:bodyPr wrap="square" lIns="0" tIns="0" rIns="0" bIns="0" rtlCol="0" anchor="t"/>
          <a:lstStyle/>
          <a:p>
            <a:pPr indent="0" marL="0">
              <a:buNone/>
            </a:pPr>
            <a:r>
              <a:rPr lang="it-IT" sz="1100" dirty="0">
                <a:solidFill>
                  <a:schemeClr val="tx1"/>
                </a:solidFill>
              </a:rPr>
              <a:t>Stampa con il fornitore attuale, se conferma il prezzo di 4.200 euro.</a:t>
            </a:r>
            <a:endParaRPr lang="it-IT" sz="1100" dirty="0"/>
          </a:p>
        </p:txBody>
      </p:sp>
      <p:sp>
        <p:nvSpPr>
          <p:cNvPr id="19" name="riquadro Attività"/>
          <p:cNvSpPr/>
          <p:nvPr/>
        </p:nvSpPr>
        <p:spPr>
          <a:xfrm>
            <a:off x="4709160" y="2011680"/>
            <a:ext cx="3977640" cy="868680"/>
          </a:xfrm>
          <a:prstGeom prst="roundRect">
            <a:avLst>
              <a:gd name="adj" fmla="val 8421"/>
            </a:avLst>
          </a:prstGeom>
          <a:solidFill>
            <a:schemeClr val="accent6"/>
          </a:solidFill>
          <a:ln/>
        </p:spPr>
      </p:sp>
      <p:sp>
        <p:nvSpPr>
          <p:cNvPr id="20" name="barra"/>
          <p:cNvSpPr/>
          <p:nvPr/>
        </p:nvSpPr>
        <p:spPr>
          <a:xfrm>
            <a:off x="4709160" y="2121408"/>
            <a:ext cx="54864" cy="649224"/>
          </a:xfrm>
          <a:prstGeom prst="rect">
            <a:avLst/>
          </a:prstGeom>
          <a:solidFill>
            <a:schemeClr val="accent1"/>
          </a:solidFill>
          <a:ln/>
        </p:spPr>
      </p:sp>
      <p:sp>
        <p:nvSpPr>
          <p:cNvPr id="21" name="Text 18"/>
          <p:cNvSpPr txBox="1"/>
          <p:nvPr/>
        </p:nvSpPr>
        <p:spPr>
          <a:xfrm>
            <a:off x="4910328" y="2103120"/>
            <a:ext cx="3611880" cy="256032"/>
          </a:xfrm>
          <a:prstGeom prst="rect">
            <a:avLst/>
          </a:prstGeom>
          <a:noFill/>
          <a:ln/>
        </p:spPr>
        <p:txBody>
          <a:bodyPr wrap="square" lIns="0" tIns="0" rIns="0" bIns="0" rtlCol="0" anchor="t"/>
          <a:lstStyle/>
          <a:p>
            <a:pPr indent="0" marL="0">
              <a:buNone/>
            </a:pPr>
            <a:r>
              <a:rPr lang="it-IT" sz="1100" b="1" dirty="0">
                <a:solidFill>
                  <a:schemeClr val="accent1"/>
                </a:solidFill>
              </a:rPr>
              <a:t>Attività</a:t>
            </a:r>
            <a:endParaRPr lang="it-IT" sz="1100" dirty="0"/>
          </a:p>
        </p:txBody>
      </p:sp>
      <p:sp>
        <p:nvSpPr>
          <p:cNvPr id="22" name="Text 19"/>
          <p:cNvSpPr txBox="1"/>
          <p:nvPr/>
        </p:nvSpPr>
        <p:spPr>
          <a:xfrm>
            <a:off x="4910328" y="2395728"/>
            <a:ext cx="3611880" cy="393192"/>
          </a:xfrm>
          <a:prstGeom prst="rect">
            <a:avLst/>
          </a:prstGeom>
          <a:noFill/>
          <a:ln/>
        </p:spPr>
        <p:txBody>
          <a:bodyPr wrap="square" lIns="0" tIns="0" rIns="0" bIns="0" rtlCol="0" anchor="t"/>
          <a:lstStyle/>
          <a:p>
            <a:pPr indent="0" marL="0">
              <a:buNone/>
            </a:pPr>
            <a:r>
              <a:rPr lang="it-IT" sz="1100" dirty="0">
                <a:solidFill>
                  <a:schemeClr val="tx1"/>
                </a:solidFill>
              </a:rPr>
              <a:t>Neri: chiedere la conferma del prezzo al fornitore, entro giovedì.</a:t>
            </a:r>
            <a:endParaRPr lang="it-IT" sz="1100" dirty="0"/>
          </a:p>
        </p:txBody>
      </p:sp>
      <p:sp>
        <p:nvSpPr>
          <p:cNvPr id="23" name="riquadro Punti aperti"/>
          <p:cNvSpPr/>
          <p:nvPr/>
        </p:nvSpPr>
        <p:spPr>
          <a:xfrm>
            <a:off x="4709160" y="2971800"/>
            <a:ext cx="3977640" cy="868680"/>
          </a:xfrm>
          <a:prstGeom prst="roundRect">
            <a:avLst>
              <a:gd name="adj" fmla="val 8421"/>
            </a:avLst>
          </a:prstGeom>
          <a:solidFill>
            <a:schemeClr val="accent6"/>
          </a:solidFill>
          <a:ln/>
        </p:spPr>
      </p:sp>
      <p:sp>
        <p:nvSpPr>
          <p:cNvPr id="24" name="barra"/>
          <p:cNvSpPr/>
          <p:nvPr/>
        </p:nvSpPr>
        <p:spPr>
          <a:xfrm>
            <a:off x="4709160" y="3081528"/>
            <a:ext cx="54864" cy="649224"/>
          </a:xfrm>
          <a:prstGeom prst="rect">
            <a:avLst/>
          </a:prstGeom>
          <a:solidFill>
            <a:schemeClr val="accent5"/>
          </a:solidFill>
          <a:ln/>
        </p:spPr>
      </p:sp>
      <p:sp>
        <p:nvSpPr>
          <p:cNvPr id="25" name="Text 22"/>
          <p:cNvSpPr txBox="1"/>
          <p:nvPr/>
        </p:nvSpPr>
        <p:spPr>
          <a:xfrm>
            <a:off x="4910328" y="3063240"/>
            <a:ext cx="3611880" cy="256032"/>
          </a:xfrm>
          <a:prstGeom prst="rect">
            <a:avLst/>
          </a:prstGeom>
          <a:noFill/>
          <a:ln/>
        </p:spPr>
        <p:txBody>
          <a:bodyPr wrap="square" lIns="0" tIns="0" rIns="0" bIns="0" rtlCol="0" anchor="t"/>
          <a:lstStyle/>
          <a:p>
            <a:pPr indent="0" marL="0">
              <a:buNone/>
            </a:pPr>
            <a:r>
              <a:rPr lang="it-IT" sz="1100" b="1" dirty="0">
                <a:solidFill>
                  <a:schemeClr val="accent5"/>
                </a:solidFill>
              </a:rPr>
              <a:t>Punti aperti</a:t>
            </a:r>
            <a:endParaRPr lang="it-IT" sz="1100" dirty="0"/>
          </a:p>
        </p:txBody>
      </p:sp>
      <p:sp>
        <p:nvSpPr>
          <p:cNvPr id="26" name="Text 23"/>
          <p:cNvSpPr txBox="1"/>
          <p:nvPr/>
        </p:nvSpPr>
        <p:spPr>
          <a:xfrm>
            <a:off x="4910328" y="3355848"/>
            <a:ext cx="3611880" cy="393192"/>
          </a:xfrm>
          <a:prstGeom prst="rect">
            <a:avLst/>
          </a:prstGeom>
          <a:noFill/>
          <a:ln/>
        </p:spPr>
        <p:txBody>
          <a:bodyPr wrap="square" lIns="0" tIns="0" rIns="0" bIns="0" rtlCol="0" anchor="t"/>
          <a:lstStyle/>
          <a:p>
            <a:pPr indent="0" marL="0">
              <a:buNone/>
            </a:pPr>
            <a:r>
              <a:rPr lang="it-IT" sz="1100" dirty="0">
                <a:solidFill>
                  <a:schemeClr val="tx1"/>
                </a:solidFill>
              </a:rPr>
              <a:t>Consegna al 30 novembre: proposta da confermare lunedì (tempi delle foto).</a:t>
            </a:r>
            <a:endParaRPr lang="it-IT" sz="1100" dirty="0"/>
          </a:p>
        </p:txBody>
      </p:sp>
      <p:sp>
        <p:nvSpPr>
          <p:cNvPr id="27" name="messaggio"/>
          <p:cNvSpPr/>
          <p:nvPr/>
        </p:nvSpPr>
        <p:spPr>
          <a:xfrm>
            <a:off x="457200" y="3977640"/>
            <a:ext cx="8229600" cy="548640"/>
          </a:xfrm>
          <a:prstGeom prst="roundRect">
            <a:avLst>
              <a:gd name="adj" fmla="val 13333"/>
            </a:avLst>
          </a:prstGeom>
          <a:solidFill>
            <a:schemeClr val="tx1"/>
          </a:solidFill>
          <a:ln/>
        </p:spPr>
      </p:sp>
      <p:sp>
        <p:nvSpPr>
          <p:cNvPr id="28" name="Text 25"/>
          <p:cNvSpPr txBox="1"/>
          <p:nvPr/>
        </p:nvSpPr>
        <p:spPr>
          <a:xfrm>
            <a:off x="640080" y="3977640"/>
            <a:ext cx="7863840" cy="548640"/>
          </a:xfrm>
          <a:prstGeom prst="rect">
            <a:avLst/>
          </a:prstGeom>
          <a:noFill/>
          <a:ln/>
        </p:spPr>
        <p:txBody>
          <a:bodyPr wrap="square" lIns="0" tIns="0" rIns="0" bIns="0" rtlCol="0" anchor="ctr"/>
          <a:lstStyle/>
          <a:p>
            <a:pPr indent="0" marL="0">
              <a:buNone/>
            </a:pPr>
            <a:r>
              <a:rPr lang="it-IT" sz="1300" dirty="0">
                <a:solidFill>
                  <a:schemeClr val="bg1"/>
                </a:solidFill>
              </a:rPr>
              <a:t>Prima di diffondere: importo, scadenze, condizione 'solo se', decisione o proposta. Esempio fittizio.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27</a:t>
            </a:fld>
            <a:endParaRPr lang="it-IT"/>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Errori di trascrizione e come ridurli</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Trasformare</a:t>
            </a:r>
            <a:endParaRPr lang="it-IT"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4206240" cy="914400"/>
        </p:xfrm>
        <a:graphic>
          <a:graphicData uri="http://schemas.openxmlformats.org/drawingml/2006/table">
            <a:tbl>
              <a:tblPr/>
              <a:tblGrid>
                <a:gridCol w="1691640"/>
                <a:gridCol w="1691640"/>
                <a:gridCol w="822960"/>
              </a:tblGrid>
              <a:tr h="438912">
                <a:tc>
                  <a:txBody>
                    <a:bodyPr/>
                    <a:lstStyle/>
                    <a:p>
                      <a:pPr indent="0" marL="0">
                        <a:buNone/>
                      </a:pPr>
                      <a:r>
                        <a:rPr lang="it-IT" sz="1100" b="1" dirty="0">
                          <a:solidFill>
                            <a:schemeClr val="bg1"/>
                          </a:solidFill>
                        </a:rPr>
                        <a:t>Detto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Trascritto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Tipo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38912">
                <a:tc>
                  <a:txBody>
                    <a:bodyPr/>
                    <a:lstStyle/>
                    <a:p>
                      <a:pPr indent="0" marL="0">
                        <a:buNone/>
                      </a:pPr>
                      <a:r>
                        <a:rPr lang="it-IT" sz="1100" b="1" dirty="0">
                          <a:solidFill>
                            <a:schemeClr val="tx1"/>
                          </a:solidFill>
                        </a:rPr>
                        <a:t>Il fornitore Kessler</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Il fornitore Kessel</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Nome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38912">
                <a:tc>
                  <a:txBody>
                    <a:bodyPr/>
                    <a:lstStyle/>
                    <a:p>
                      <a:pPr indent="0" marL="0">
                        <a:buNone/>
                      </a:pPr>
                      <a:r>
                        <a:rPr lang="it-IT" sz="1100" b="1" dirty="0">
                          <a:solidFill>
                            <a:schemeClr val="tx1"/>
                          </a:solidFill>
                        </a:rPr>
                        <a:t>Il modulo SDI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Il modulo esse di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Sigla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38912">
                <a:tc>
                  <a:txBody>
                    <a:bodyPr/>
                    <a:lstStyle/>
                    <a:p>
                      <a:pPr indent="0" marL="0">
                        <a:buNone/>
                      </a:pPr>
                      <a:r>
                        <a:rPr lang="it-IT" sz="1100" b="1" dirty="0">
                          <a:solidFill>
                            <a:schemeClr val="tx1"/>
                          </a:solidFill>
                        </a:rPr>
                        <a:t>Sconto del diciotto per cento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Sconto dell'otto per cento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Numero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1" name="riquadro Detto (esempio fittizio)"/>
          <p:cNvSpPr/>
          <p:nvPr/>
        </p:nvSpPr>
        <p:spPr>
          <a:xfrm>
            <a:off x="4846320" y="1051560"/>
            <a:ext cx="3840480" cy="822960"/>
          </a:xfrm>
          <a:prstGeom prst="roundRect">
            <a:avLst>
              <a:gd name="adj" fmla="val 8889"/>
            </a:avLst>
          </a:prstGeom>
          <a:solidFill>
            <a:schemeClr val="accent6"/>
          </a:solidFill>
          <a:ln/>
        </p:spPr>
      </p:sp>
      <p:sp>
        <p:nvSpPr>
          <p:cNvPr id="12" name="barra"/>
          <p:cNvSpPr/>
          <p:nvPr/>
        </p:nvSpPr>
        <p:spPr>
          <a:xfrm>
            <a:off x="4846320" y="1161288"/>
            <a:ext cx="54864" cy="603504"/>
          </a:xfrm>
          <a:prstGeom prst="rect">
            <a:avLst/>
          </a:prstGeom>
          <a:solidFill>
            <a:schemeClr val="accent1"/>
          </a:solidFill>
          <a:ln/>
        </p:spPr>
      </p:sp>
      <p:sp>
        <p:nvSpPr>
          <p:cNvPr id="13" name="Text 9"/>
          <p:cNvSpPr txBox="1"/>
          <p:nvPr/>
        </p:nvSpPr>
        <p:spPr>
          <a:xfrm>
            <a:off x="5047488" y="1143000"/>
            <a:ext cx="3474720" cy="256032"/>
          </a:xfrm>
          <a:prstGeom prst="rect">
            <a:avLst/>
          </a:prstGeom>
          <a:noFill/>
          <a:ln/>
        </p:spPr>
        <p:txBody>
          <a:bodyPr wrap="square" lIns="0" tIns="0" rIns="0" bIns="0" rtlCol="0" anchor="t"/>
          <a:lstStyle/>
          <a:p>
            <a:pPr indent="0" marL="0">
              <a:buNone/>
            </a:pPr>
            <a:r>
              <a:rPr lang="it-IT" sz="1100" b="1" dirty="0">
                <a:solidFill>
                  <a:schemeClr val="accent1"/>
                </a:solidFill>
              </a:rPr>
              <a:t>Detto (esempio fittizio)</a:t>
            </a:r>
            <a:endParaRPr lang="it-IT" sz="1100" dirty="0"/>
          </a:p>
        </p:txBody>
      </p:sp>
      <p:sp>
        <p:nvSpPr>
          <p:cNvPr id="14" name="Text 10"/>
          <p:cNvSpPr txBox="1"/>
          <p:nvPr/>
        </p:nvSpPr>
        <p:spPr>
          <a:xfrm>
            <a:off x="5047488" y="1435608"/>
            <a:ext cx="3474720" cy="347472"/>
          </a:xfrm>
          <a:prstGeom prst="rect">
            <a:avLst/>
          </a:prstGeom>
          <a:noFill/>
          <a:ln/>
        </p:spPr>
        <p:txBody>
          <a:bodyPr wrap="square" lIns="0" tIns="0" rIns="0" bIns="0" rtlCol="0" anchor="t"/>
          <a:lstStyle/>
          <a:p>
            <a:pPr indent="0" marL="0">
              <a:buNone/>
            </a:pPr>
            <a:r>
              <a:rPr lang="it-IT" sz="1100" dirty="0">
                <a:solidFill>
                  <a:schemeClr val="tx1"/>
                </a:solidFill>
              </a:rPr>
              <a:t>Bianchi: "Riesci entro venerdì?"  Verdi: "Sì, me ne occupo io."</a:t>
            </a:r>
            <a:endParaRPr lang="it-IT" sz="1100" dirty="0"/>
          </a:p>
        </p:txBody>
      </p:sp>
      <p:sp>
        <p:nvSpPr>
          <p:cNvPr id="15" name="riquadro Trascritto con attribuzione errata"/>
          <p:cNvSpPr/>
          <p:nvPr/>
        </p:nvSpPr>
        <p:spPr>
          <a:xfrm>
            <a:off x="4846320" y="1938528"/>
            <a:ext cx="3840480" cy="822960"/>
          </a:xfrm>
          <a:prstGeom prst="roundRect">
            <a:avLst>
              <a:gd name="adj" fmla="val 8889"/>
            </a:avLst>
          </a:prstGeom>
          <a:solidFill>
            <a:schemeClr val="bg2"/>
          </a:solidFill>
          <a:ln/>
        </p:spPr>
      </p:sp>
      <p:sp>
        <p:nvSpPr>
          <p:cNvPr id="16" name="barra"/>
          <p:cNvSpPr/>
          <p:nvPr/>
        </p:nvSpPr>
        <p:spPr>
          <a:xfrm>
            <a:off x="4846320" y="2048256"/>
            <a:ext cx="54864" cy="603504"/>
          </a:xfrm>
          <a:prstGeom prst="rect">
            <a:avLst/>
          </a:prstGeom>
          <a:solidFill>
            <a:schemeClr val="accent5"/>
          </a:solidFill>
          <a:ln/>
        </p:spPr>
      </p:sp>
      <p:sp>
        <p:nvSpPr>
          <p:cNvPr id="17" name="Text 13"/>
          <p:cNvSpPr txBox="1"/>
          <p:nvPr/>
        </p:nvSpPr>
        <p:spPr>
          <a:xfrm>
            <a:off x="5047488" y="2029968"/>
            <a:ext cx="3474720" cy="256032"/>
          </a:xfrm>
          <a:prstGeom prst="rect">
            <a:avLst/>
          </a:prstGeom>
          <a:noFill/>
          <a:ln/>
        </p:spPr>
        <p:txBody>
          <a:bodyPr wrap="square" lIns="0" tIns="0" rIns="0" bIns="0" rtlCol="0" anchor="t"/>
          <a:lstStyle/>
          <a:p>
            <a:pPr indent="0" marL="0">
              <a:buNone/>
            </a:pPr>
            <a:r>
              <a:rPr lang="it-IT" sz="1100" b="1" dirty="0">
                <a:solidFill>
                  <a:schemeClr val="accent5"/>
                </a:solidFill>
              </a:rPr>
              <a:t>Trascritto con attribuzione errata</a:t>
            </a:r>
            <a:endParaRPr lang="it-IT" sz="1100" dirty="0"/>
          </a:p>
        </p:txBody>
      </p:sp>
      <p:sp>
        <p:nvSpPr>
          <p:cNvPr id="18" name="Text 14"/>
          <p:cNvSpPr txBox="1"/>
          <p:nvPr/>
        </p:nvSpPr>
        <p:spPr>
          <a:xfrm>
            <a:off x="5047488" y="2322576"/>
            <a:ext cx="3474720" cy="347472"/>
          </a:xfrm>
          <a:prstGeom prst="rect">
            <a:avLst/>
          </a:prstGeom>
          <a:noFill/>
          <a:ln/>
        </p:spPr>
        <p:txBody>
          <a:bodyPr wrap="square" lIns="0" tIns="0" rIns="0" bIns="0" rtlCol="0" anchor="t"/>
          <a:lstStyle/>
          <a:p>
            <a:pPr indent="0" marL="0">
              <a:buNone/>
            </a:pPr>
            <a:r>
              <a:rPr lang="it-IT" sz="1100" dirty="0">
                <a:solidFill>
                  <a:schemeClr val="tx1"/>
                </a:solidFill>
              </a:rPr>
              <a:t>Bianchi: "Riesci entro venerdì? Sì, me ne occupo io."</a:t>
            </a:r>
            <a:endParaRPr lang="it-IT" sz="1100" dirty="0"/>
          </a:p>
        </p:txBody>
      </p:sp>
      <p:sp>
        <p:nvSpPr>
          <p:cNvPr id="19" name="Text 15"/>
          <p:cNvSpPr txBox="1"/>
          <p:nvPr/>
        </p:nvSpPr>
        <p:spPr>
          <a:xfrm>
            <a:off x="457200" y="2926080"/>
            <a:ext cx="8229600" cy="274320"/>
          </a:xfrm>
          <a:prstGeom prst="rect">
            <a:avLst/>
          </a:prstGeom>
          <a:noFill/>
          <a:ln/>
        </p:spPr>
        <p:txBody>
          <a:bodyPr wrap="square" lIns="0" tIns="0" rIns="0" bIns="0" rtlCol="0" anchor="t"/>
          <a:lstStyle/>
          <a:p>
            <a:pPr indent="0" marL="0">
              <a:buNone/>
            </a:pPr>
            <a:r>
              <a:rPr lang="it-IT" sz="1300" b="1" dirty="0">
                <a:solidFill>
                  <a:schemeClr val="tx1"/>
                </a:solidFill>
              </a:rPr>
              <a:t>Come ridurli</a:t>
            </a:r>
            <a:endParaRPr lang="it-IT" sz="1300" dirty="0"/>
          </a:p>
        </p:txBody>
      </p:sp>
      <p:sp>
        <p:nvSpPr>
          <p:cNvPr id="20" name="blocco Vocabolario di nomi e sigle"/>
          <p:cNvSpPr/>
          <p:nvPr/>
        </p:nvSpPr>
        <p:spPr>
          <a:xfrm>
            <a:off x="457200" y="3246120"/>
            <a:ext cx="2651760" cy="502920"/>
          </a:xfrm>
          <a:prstGeom prst="roundRect">
            <a:avLst>
              <a:gd name="adj" fmla="val 21818"/>
            </a:avLst>
          </a:prstGeom>
          <a:solidFill>
            <a:schemeClr val="bg2"/>
          </a:solidFill>
          <a:ln/>
        </p:spPr>
      </p:sp>
      <p:sp>
        <p:nvSpPr>
          <p:cNvPr id="21" name="Text 17"/>
          <p:cNvSpPr txBox="1"/>
          <p:nvPr/>
        </p:nvSpPr>
        <p:spPr>
          <a:xfrm>
            <a:off x="502920" y="3246120"/>
            <a:ext cx="2560320" cy="502920"/>
          </a:xfrm>
          <a:prstGeom prst="rect">
            <a:avLst/>
          </a:prstGeom>
          <a:noFill/>
          <a:ln/>
        </p:spPr>
        <p:txBody>
          <a:bodyPr wrap="square" lIns="0" tIns="0" rIns="0" bIns="0" rtlCol="0" anchor="ctr"/>
          <a:lstStyle/>
          <a:p>
            <a:pPr algn="ctr" indent="0" marL="0">
              <a:buNone/>
            </a:pPr>
            <a:r>
              <a:rPr lang="it-IT" sz="1200" b="1" dirty="0">
                <a:solidFill>
                  <a:schemeClr val="tx1"/>
                </a:solidFill>
              </a:rPr>
              <a:t>Vocabolario di nomi e sigle</a:t>
            </a:r>
            <a:endParaRPr lang="it-IT" sz="1200" dirty="0"/>
          </a:p>
        </p:txBody>
      </p:sp>
      <p:sp>
        <p:nvSpPr>
          <p:cNvPr id="22" name="blocco Buoni microfoni, account separati"/>
          <p:cNvSpPr/>
          <p:nvPr/>
        </p:nvSpPr>
        <p:spPr>
          <a:xfrm>
            <a:off x="3246120" y="3246120"/>
            <a:ext cx="2651760" cy="502920"/>
          </a:xfrm>
          <a:prstGeom prst="roundRect">
            <a:avLst>
              <a:gd name="adj" fmla="val 21818"/>
            </a:avLst>
          </a:prstGeom>
          <a:solidFill>
            <a:schemeClr val="bg2"/>
          </a:solidFill>
          <a:ln/>
        </p:spPr>
      </p:sp>
      <p:sp>
        <p:nvSpPr>
          <p:cNvPr id="23" name="Text 19"/>
          <p:cNvSpPr txBox="1"/>
          <p:nvPr/>
        </p:nvSpPr>
        <p:spPr>
          <a:xfrm>
            <a:off x="3291840" y="3246120"/>
            <a:ext cx="2560320" cy="502920"/>
          </a:xfrm>
          <a:prstGeom prst="rect">
            <a:avLst/>
          </a:prstGeom>
          <a:noFill/>
          <a:ln/>
        </p:spPr>
        <p:txBody>
          <a:bodyPr wrap="square" lIns="0" tIns="0" rIns="0" bIns="0" rtlCol="0" anchor="ctr"/>
          <a:lstStyle/>
          <a:p>
            <a:pPr algn="ctr" indent="0" marL="0">
              <a:buNone/>
            </a:pPr>
            <a:r>
              <a:rPr lang="it-IT" sz="1200" b="1" dirty="0">
                <a:solidFill>
                  <a:schemeClr val="tx1"/>
                </a:solidFill>
              </a:rPr>
              <a:t>Buoni microfoni, account separati</a:t>
            </a:r>
            <a:endParaRPr lang="it-IT" sz="1200" dirty="0"/>
          </a:p>
        </p:txBody>
      </p:sp>
      <p:sp>
        <p:nvSpPr>
          <p:cNvPr id="24" name="blocco Rileggere nomi, numeri, impegni"/>
          <p:cNvSpPr/>
          <p:nvPr/>
        </p:nvSpPr>
        <p:spPr>
          <a:xfrm>
            <a:off x="6035040" y="3246120"/>
            <a:ext cx="2651760" cy="502920"/>
          </a:xfrm>
          <a:prstGeom prst="roundRect">
            <a:avLst>
              <a:gd name="adj" fmla="val 21818"/>
            </a:avLst>
          </a:prstGeom>
          <a:solidFill>
            <a:schemeClr val="bg2"/>
          </a:solidFill>
          <a:ln/>
        </p:spPr>
      </p:sp>
      <p:sp>
        <p:nvSpPr>
          <p:cNvPr id="25" name="Text 21"/>
          <p:cNvSpPr txBox="1"/>
          <p:nvPr/>
        </p:nvSpPr>
        <p:spPr>
          <a:xfrm>
            <a:off x="6080760" y="3246120"/>
            <a:ext cx="2560320" cy="502920"/>
          </a:xfrm>
          <a:prstGeom prst="rect">
            <a:avLst/>
          </a:prstGeom>
          <a:noFill/>
          <a:ln/>
        </p:spPr>
        <p:txBody>
          <a:bodyPr wrap="square" lIns="0" tIns="0" rIns="0" bIns="0" rtlCol="0" anchor="ctr"/>
          <a:lstStyle/>
          <a:p>
            <a:pPr algn="ctr" indent="0" marL="0">
              <a:buNone/>
            </a:pPr>
            <a:r>
              <a:rPr lang="it-IT" sz="1200" b="1" dirty="0">
                <a:solidFill>
                  <a:schemeClr val="tx1"/>
                </a:solidFill>
              </a:rPr>
              <a:t>Rileggere nomi, numeri, impegni</a:t>
            </a:r>
            <a:endParaRPr lang="it-IT" sz="1200" dirty="0"/>
          </a:p>
        </p:txBody>
      </p:sp>
      <p:sp>
        <p:nvSpPr>
          <p:cNvPr id="26" name="messaggio"/>
          <p:cNvSpPr/>
          <p:nvPr/>
        </p:nvSpPr>
        <p:spPr>
          <a:xfrm>
            <a:off x="457200" y="3886200"/>
            <a:ext cx="8229600" cy="640080"/>
          </a:xfrm>
          <a:prstGeom prst="roundRect">
            <a:avLst>
              <a:gd name="adj" fmla="val 11429"/>
            </a:avLst>
          </a:prstGeom>
          <a:solidFill>
            <a:schemeClr val="tx1"/>
          </a:solidFill>
          <a:ln/>
        </p:spPr>
      </p:sp>
      <p:sp>
        <p:nvSpPr>
          <p:cNvPr id="27" name="Text 23"/>
          <p:cNvSpPr txBox="1"/>
          <p:nvPr/>
        </p:nvSpPr>
        <p:spPr>
          <a:xfrm>
            <a:off x="640080" y="3886200"/>
            <a:ext cx="7863840" cy="640080"/>
          </a:xfrm>
          <a:prstGeom prst="rect">
            <a:avLst/>
          </a:prstGeom>
          <a:noFill/>
          <a:ln/>
        </p:spPr>
        <p:txBody>
          <a:bodyPr wrap="square" lIns="0" tIns="0" rIns="0" bIns="0" rtlCol="0" anchor="ctr"/>
          <a:lstStyle/>
          <a:p>
            <a:pPr indent="0" marL="0">
              <a:buNone/>
            </a:pPr>
            <a:r>
              <a:rPr lang="it-IT" sz="1300" dirty="0">
                <a:solidFill>
                  <a:schemeClr val="bg1"/>
                </a:solidFill>
              </a:rPr>
              <a:t>Una revisione mirata conserva il risparmio di tempo; le attribuzioni importanti le conferma chi era presente.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28</a:t>
            </a:fld>
            <a:endParaRPr lang="it-IT"/>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Sintesi vocale e interazione</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Trasformare</a:t>
            </a:r>
            <a:endParaRPr lang="it-IT" sz="900" dirty="0"/>
          </a:p>
        </p:txBody>
      </p:sp>
      <p:sp>
        <p:nvSpPr>
          <p:cNvPr id="10" name="scheda Sintesi vocale"/>
          <p:cNvSpPr/>
          <p:nvPr/>
        </p:nvSpPr>
        <p:spPr>
          <a:xfrm>
            <a:off x="457200" y="1097280"/>
            <a:ext cx="3977640" cy="2286000"/>
          </a:xfrm>
          <a:prstGeom prst="roundRect">
            <a:avLst>
              <a:gd name="adj" fmla="val 3200"/>
            </a:avLst>
          </a:prstGeom>
          <a:solidFill>
            <a:schemeClr val="bg2"/>
          </a:solidFill>
          <a:ln/>
        </p:spPr>
      </p:sp>
      <p:sp>
        <p:nvSpPr>
          <p:cNvPr id="11" name="cerchio FiVolume2"/>
          <p:cNvSpPr/>
          <p:nvPr/>
        </p:nvSpPr>
        <p:spPr>
          <a:xfrm>
            <a:off x="640080" y="1280160"/>
            <a:ext cx="457200" cy="457200"/>
          </a:xfrm>
          <a:prstGeom prst="ellipse">
            <a:avLst/>
          </a:prstGeom>
          <a:solidFill>
            <a:schemeClr val="accent1"/>
          </a:solidFill>
          <a:ln/>
        </p:spPr>
      </p:sp>
      <p:pic>
        <p:nvPicPr>
          <p:cNvPr id="12" name="Image 0" descr="FiVolume2">    </p:cNvPr>
          <p:cNvPicPr>
            <a:picLocks noChangeAspect="1"/>
          </p:cNvPicPr>
          <p:nvPr/>
        </p:nvPicPr>
        <p:blipFill>
          <a:blip r:embed="rId1"/>
          <a:stretch>
            <a:fillRect/>
          </a:stretch>
        </p:blipFill>
        <p:spPr>
          <a:xfrm>
            <a:off x="754380" y="1394460"/>
            <a:ext cx="228600" cy="228600"/>
          </a:xfrm>
          <a:prstGeom prst="rect">
            <a:avLst/>
          </a:prstGeom>
        </p:spPr>
      </p:pic>
      <p:sp>
        <p:nvSpPr>
          <p:cNvPr id="13" name="Text 9"/>
          <p:cNvSpPr txBox="1"/>
          <p:nvPr/>
        </p:nvSpPr>
        <p:spPr>
          <a:xfrm>
            <a:off x="640080" y="1847088"/>
            <a:ext cx="3611880" cy="347472"/>
          </a:xfrm>
          <a:prstGeom prst="rect">
            <a:avLst/>
          </a:prstGeom>
          <a:noFill/>
          <a:ln/>
        </p:spPr>
        <p:txBody>
          <a:bodyPr wrap="square" lIns="0" tIns="0" rIns="0" bIns="0" rtlCol="0" anchor="t"/>
          <a:lstStyle/>
          <a:p>
            <a:pPr indent="0" marL="0">
              <a:buNone/>
            </a:pPr>
            <a:r>
              <a:rPr lang="it-IT" sz="1500" b="1" dirty="0">
                <a:solidFill>
                  <a:schemeClr val="tx1"/>
                </a:solidFill>
              </a:rPr>
              <a:t>Sintesi vocale</a:t>
            </a:r>
            <a:endParaRPr lang="it-IT" sz="1500" dirty="0"/>
          </a:p>
        </p:txBody>
      </p:sp>
      <p:sp>
        <p:nvSpPr>
          <p:cNvPr id="14" name="Text 10"/>
          <p:cNvSpPr txBox="1"/>
          <p:nvPr/>
        </p:nvSpPr>
        <p:spPr>
          <a:xfrm>
            <a:off x="640080" y="2231136"/>
            <a:ext cx="3611880" cy="1042416"/>
          </a:xfrm>
          <a:prstGeom prst="rect">
            <a:avLst/>
          </a:prstGeom>
          <a:noFill/>
          <a:ln/>
        </p:spPr>
        <p:txBody>
          <a:bodyPr wrap="square" lIns="0" tIns="0" rIns="0" bIns="0" rtlCol="0" anchor="t"/>
          <a:lstStyle/>
          <a:p>
            <a:pPr marL="177800" indent="-177800">
              <a:spcAft>
                <a:spcPts val="500"/>
              </a:spcAft>
              <a:buSzPct val="100000"/>
              <a:buChar char="•"/>
            </a:pPr>
            <a:r>
              <a:rPr lang="it-IT" sz="1200" dirty="0">
                <a:solidFill>
                  <a:schemeClr val="tx2"/>
                </a:solidFill>
              </a:rPr>
              <a:t>Voci naturali, in molte lingue</a:t>
            </a:r>
            <a:endParaRPr lang="it-IT" sz="1200" dirty="0"/>
          </a:p>
          <a:p>
            <a:pPr marL="177800" indent="-177800">
              <a:spcAft>
                <a:spcPts val="500"/>
              </a:spcAft>
              <a:buSzPct val="100000"/>
              <a:buChar char="•"/>
            </a:pPr>
            <a:r>
              <a:rPr lang="it-IT" sz="1200" dirty="0">
                <a:solidFill>
                  <a:schemeClr val="tx2"/>
                </a:solidFill>
              </a:rPr>
              <a:t>Video formativi, documenti in audio, assistenti</a:t>
            </a:r>
            <a:endParaRPr lang="it-IT" sz="1200" dirty="0"/>
          </a:p>
          <a:p>
            <a:pPr marL="177800" indent="-177800">
              <a:spcAft>
                <a:spcPts val="500"/>
              </a:spcAft>
              <a:buSzPct val="100000"/>
              <a:buChar char="•"/>
            </a:pPr>
            <a:r>
              <a:rPr lang="it-IT" sz="1200" dirty="0">
                <a:solidFill>
                  <a:schemeClr val="tx2"/>
                </a:solidFill>
              </a:rPr>
              <a:t>Voce di una persona specifica: solo con il suo consenso</a:t>
            </a:r>
            <a:endParaRPr lang="it-IT" sz="1200" dirty="0"/>
          </a:p>
        </p:txBody>
      </p:sp>
      <p:sp>
        <p:nvSpPr>
          <p:cNvPr id="15" name="scheda Interazione vocale"/>
          <p:cNvSpPr/>
          <p:nvPr/>
        </p:nvSpPr>
        <p:spPr>
          <a:xfrm>
            <a:off x="4709160" y="1097280"/>
            <a:ext cx="3977640" cy="2286000"/>
          </a:xfrm>
          <a:prstGeom prst="roundRect">
            <a:avLst>
              <a:gd name="adj" fmla="val 3200"/>
            </a:avLst>
          </a:prstGeom>
          <a:solidFill>
            <a:schemeClr val="accent6"/>
          </a:solidFill>
          <a:ln/>
        </p:spPr>
      </p:sp>
      <p:sp>
        <p:nvSpPr>
          <p:cNvPr id="16" name="cerchio FiMessageCircle"/>
          <p:cNvSpPr/>
          <p:nvPr/>
        </p:nvSpPr>
        <p:spPr>
          <a:xfrm>
            <a:off x="4892040" y="1280160"/>
            <a:ext cx="457200" cy="457200"/>
          </a:xfrm>
          <a:prstGeom prst="ellipse">
            <a:avLst/>
          </a:prstGeom>
          <a:solidFill>
            <a:schemeClr val="accent1"/>
          </a:solidFill>
          <a:ln/>
        </p:spPr>
      </p:sp>
      <p:pic>
        <p:nvPicPr>
          <p:cNvPr id="17" name="Image 1" descr="FiMessageCircle">    </p:cNvPr>
          <p:cNvPicPr>
            <a:picLocks noChangeAspect="1"/>
          </p:cNvPicPr>
          <p:nvPr/>
        </p:nvPicPr>
        <p:blipFill>
          <a:blip r:embed="rId2"/>
          <a:stretch>
            <a:fillRect/>
          </a:stretch>
        </p:blipFill>
        <p:spPr>
          <a:xfrm>
            <a:off x="5006340" y="1394460"/>
            <a:ext cx="228600" cy="228600"/>
          </a:xfrm>
          <a:prstGeom prst="rect">
            <a:avLst/>
          </a:prstGeom>
        </p:spPr>
      </p:pic>
      <p:sp>
        <p:nvSpPr>
          <p:cNvPr id="18" name="Text 13"/>
          <p:cNvSpPr txBox="1"/>
          <p:nvPr/>
        </p:nvSpPr>
        <p:spPr>
          <a:xfrm>
            <a:off x="4892040" y="1847088"/>
            <a:ext cx="3611880" cy="347472"/>
          </a:xfrm>
          <a:prstGeom prst="rect">
            <a:avLst/>
          </a:prstGeom>
          <a:noFill/>
          <a:ln/>
        </p:spPr>
        <p:txBody>
          <a:bodyPr wrap="square" lIns="0" tIns="0" rIns="0" bIns="0" rtlCol="0" anchor="t"/>
          <a:lstStyle/>
          <a:p>
            <a:pPr indent="0" marL="0">
              <a:buNone/>
            </a:pPr>
            <a:r>
              <a:rPr lang="it-IT" sz="1500" b="1" dirty="0">
                <a:solidFill>
                  <a:schemeClr val="tx1"/>
                </a:solidFill>
              </a:rPr>
              <a:t>Interazione vocale</a:t>
            </a:r>
            <a:endParaRPr lang="it-IT" sz="1500" dirty="0"/>
          </a:p>
        </p:txBody>
      </p:sp>
      <p:sp>
        <p:nvSpPr>
          <p:cNvPr id="19" name="Text 14"/>
          <p:cNvSpPr txBox="1"/>
          <p:nvPr/>
        </p:nvSpPr>
        <p:spPr>
          <a:xfrm>
            <a:off x="4892040" y="2231136"/>
            <a:ext cx="3611880" cy="1042416"/>
          </a:xfrm>
          <a:prstGeom prst="rect">
            <a:avLst/>
          </a:prstGeom>
          <a:noFill/>
          <a:ln/>
        </p:spPr>
        <p:txBody>
          <a:bodyPr wrap="square" lIns="0" tIns="0" rIns="0" bIns="0" rtlCol="0" anchor="t"/>
          <a:lstStyle/>
          <a:p>
            <a:pPr marL="177800" indent="-177800">
              <a:spcAft>
                <a:spcPts val="500"/>
              </a:spcAft>
              <a:buSzPct val="100000"/>
              <a:buChar char="•"/>
            </a:pPr>
            <a:r>
              <a:rPr lang="it-IT" sz="1200" dirty="0">
                <a:solidFill>
                  <a:schemeClr val="tx2"/>
                </a:solidFill>
              </a:rPr>
              <a:t>Domande, dettatura, risposte parlate</a:t>
            </a:r>
            <a:endParaRPr lang="it-IT" sz="1200" dirty="0"/>
          </a:p>
          <a:p>
            <a:pPr marL="177800" indent="-177800">
              <a:spcAft>
                <a:spcPts val="500"/>
              </a:spcAft>
              <a:buSzPct val="100000"/>
              <a:buChar char="•"/>
            </a:pPr>
            <a:r>
              <a:rPr lang="it-IT" sz="1200" dirty="0">
                <a:solidFill>
                  <a:schemeClr val="tx2"/>
                </a:solidFill>
              </a:rPr>
              <a:t>Mani o occhi occupati, difficoltà con la tastiera</a:t>
            </a:r>
            <a:endParaRPr lang="it-IT" sz="1200" dirty="0"/>
          </a:p>
          <a:p>
            <a:pPr marL="177800" indent="-177800">
              <a:spcAft>
                <a:spcPts val="500"/>
              </a:spcAft>
              <a:buSzPct val="100000"/>
              <a:buChar char="•"/>
            </a:pPr>
            <a:r>
              <a:rPr lang="it-IT" sz="1200" dirty="0">
                <a:solidFill>
                  <a:schemeClr val="tx2"/>
                </a:solidFill>
              </a:rPr>
              <a:t>Più rapido che scrivere</a:t>
            </a:r>
            <a:endParaRPr lang="it-IT" sz="1200" dirty="0"/>
          </a:p>
        </p:txBody>
      </p:sp>
      <p:sp>
        <p:nvSpPr>
          <p:cNvPr id="20" name="messaggio"/>
          <p:cNvSpPr/>
          <p:nvPr/>
        </p:nvSpPr>
        <p:spPr>
          <a:xfrm>
            <a:off x="457200" y="3566160"/>
            <a:ext cx="8229600" cy="640080"/>
          </a:xfrm>
          <a:prstGeom prst="roundRect">
            <a:avLst>
              <a:gd name="adj" fmla="val 11429"/>
            </a:avLst>
          </a:prstGeom>
          <a:solidFill>
            <a:schemeClr val="tx1"/>
          </a:solidFill>
          <a:ln/>
        </p:spPr>
      </p:sp>
      <p:sp>
        <p:nvSpPr>
          <p:cNvPr id="21" name="Text 16"/>
          <p:cNvSpPr txBox="1"/>
          <p:nvPr/>
        </p:nvSpPr>
        <p:spPr>
          <a:xfrm>
            <a:off x="640080" y="3566160"/>
            <a:ext cx="7863840" cy="640080"/>
          </a:xfrm>
          <a:prstGeom prst="rect">
            <a:avLst/>
          </a:prstGeom>
          <a:noFill/>
          <a:ln/>
        </p:spPr>
        <p:txBody>
          <a:bodyPr wrap="square" lIns="0" tIns="0" rIns="0" bIns="0" rtlCol="0" anchor="ctr"/>
          <a:lstStyle/>
          <a:p>
            <a:pPr indent="0" marL="0">
              <a:buNone/>
            </a:pPr>
            <a:r>
              <a:rPr lang="it-IT" sz="1400" dirty="0">
                <a:solidFill>
                  <a:schemeClr val="bg1"/>
                </a:solidFill>
              </a:rPr>
              <a:t>Per informazioni importanti ricevute a voce, chiedere anche la versione scritta.</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29</a:t>
            </a:fld>
            <a:endParaRPr lang="it-IT"/>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Tradurre il parlato</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sp>
        <p:nvSpPr>
          <p:cNvPr id="10" name="blocco Parlato"/>
          <p:cNvSpPr/>
          <p:nvPr/>
        </p:nvSpPr>
        <p:spPr>
          <a:xfrm>
            <a:off x="457200" y="1097280"/>
            <a:ext cx="1874520" cy="594360"/>
          </a:xfrm>
          <a:prstGeom prst="roundRect">
            <a:avLst>
              <a:gd name="adj" fmla="val 18462"/>
            </a:avLst>
          </a:prstGeom>
          <a:solidFill>
            <a:schemeClr val="bg2"/>
          </a:solidFill>
          <a:ln/>
        </p:spPr>
      </p:sp>
      <p:sp>
        <p:nvSpPr>
          <p:cNvPr id="11" name="Text 8"/>
          <p:cNvSpPr txBox="1"/>
          <p:nvPr/>
        </p:nvSpPr>
        <p:spPr>
          <a:xfrm>
            <a:off x="502920" y="1097280"/>
            <a:ext cx="1783080" cy="594360"/>
          </a:xfrm>
          <a:prstGeom prst="rect">
            <a:avLst/>
          </a:prstGeom>
          <a:noFill/>
          <a:ln/>
        </p:spPr>
        <p:txBody>
          <a:bodyPr wrap="square" lIns="0" tIns="0" rIns="0" bIns="0" rtlCol="0" anchor="ctr"/>
          <a:lstStyle/>
          <a:p>
            <a:pPr algn="ctr" indent="0" marL="0">
              <a:buNone/>
            </a:pPr>
            <a:r>
              <a:rPr lang="it-IT" sz="1300" b="1" dirty="0">
                <a:solidFill>
                  <a:schemeClr val="tx1"/>
                </a:solidFill>
              </a:rPr>
              <a:t>Parlato</a:t>
            </a:r>
            <a:endParaRPr lang="it-IT" sz="1300" dirty="0"/>
          </a:p>
        </p:txBody>
      </p:sp>
      <p:sp>
        <p:nvSpPr>
          <p:cNvPr id="12" name="freccia"/>
          <p:cNvSpPr/>
          <p:nvPr/>
        </p:nvSpPr>
        <p:spPr>
          <a:xfrm>
            <a:off x="2350008" y="1252728"/>
            <a:ext cx="182880" cy="292608"/>
          </a:xfrm>
          <a:prstGeom prst="rightArrow">
            <a:avLst/>
          </a:prstGeom>
          <a:solidFill>
            <a:schemeClr val="accent2"/>
          </a:solidFill>
          <a:ln/>
        </p:spPr>
      </p:sp>
      <p:sp>
        <p:nvSpPr>
          <p:cNvPr id="13" name="blocco Riconoscimento"/>
          <p:cNvSpPr/>
          <p:nvPr/>
        </p:nvSpPr>
        <p:spPr>
          <a:xfrm>
            <a:off x="2560320" y="1097280"/>
            <a:ext cx="1874520" cy="594360"/>
          </a:xfrm>
          <a:prstGeom prst="roundRect">
            <a:avLst>
              <a:gd name="adj" fmla="val 18462"/>
            </a:avLst>
          </a:prstGeom>
          <a:solidFill>
            <a:schemeClr val="accent6"/>
          </a:solidFill>
          <a:ln/>
        </p:spPr>
      </p:sp>
      <p:sp>
        <p:nvSpPr>
          <p:cNvPr id="14" name="Text 11"/>
          <p:cNvSpPr txBox="1"/>
          <p:nvPr/>
        </p:nvSpPr>
        <p:spPr>
          <a:xfrm>
            <a:off x="2606040" y="1097280"/>
            <a:ext cx="1783080" cy="594360"/>
          </a:xfrm>
          <a:prstGeom prst="rect">
            <a:avLst/>
          </a:prstGeom>
          <a:noFill/>
          <a:ln/>
        </p:spPr>
        <p:txBody>
          <a:bodyPr wrap="square" lIns="0" tIns="0" rIns="0" bIns="0" rtlCol="0" anchor="ctr"/>
          <a:lstStyle/>
          <a:p>
            <a:pPr algn="ctr" indent="0" marL="0">
              <a:buNone/>
            </a:pPr>
            <a:r>
              <a:rPr lang="it-IT" sz="1300" b="1" dirty="0">
                <a:solidFill>
                  <a:schemeClr val="tx1"/>
                </a:solidFill>
              </a:rPr>
              <a:t>Riconoscimento</a:t>
            </a:r>
            <a:endParaRPr lang="it-IT" sz="1300" dirty="0"/>
          </a:p>
        </p:txBody>
      </p:sp>
      <p:sp>
        <p:nvSpPr>
          <p:cNvPr id="15" name="freccia"/>
          <p:cNvSpPr/>
          <p:nvPr/>
        </p:nvSpPr>
        <p:spPr>
          <a:xfrm>
            <a:off x="4453128" y="1252728"/>
            <a:ext cx="182880" cy="292608"/>
          </a:xfrm>
          <a:prstGeom prst="rightArrow">
            <a:avLst/>
          </a:prstGeom>
          <a:solidFill>
            <a:schemeClr val="accent2"/>
          </a:solidFill>
          <a:ln/>
        </p:spPr>
      </p:sp>
      <p:sp>
        <p:nvSpPr>
          <p:cNvPr id="16" name="blocco Traduzione"/>
          <p:cNvSpPr/>
          <p:nvPr/>
        </p:nvSpPr>
        <p:spPr>
          <a:xfrm>
            <a:off x="4663440" y="1097280"/>
            <a:ext cx="1874520" cy="594360"/>
          </a:xfrm>
          <a:prstGeom prst="roundRect">
            <a:avLst>
              <a:gd name="adj" fmla="val 18462"/>
            </a:avLst>
          </a:prstGeom>
          <a:solidFill>
            <a:schemeClr val="accent6"/>
          </a:solidFill>
          <a:ln/>
        </p:spPr>
      </p:sp>
      <p:sp>
        <p:nvSpPr>
          <p:cNvPr id="17" name="Text 14"/>
          <p:cNvSpPr txBox="1"/>
          <p:nvPr/>
        </p:nvSpPr>
        <p:spPr>
          <a:xfrm>
            <a:off x="4709160" y="1097280"/>
            <a:ext cx="1783080" cy="594360"/>
          </a:xfrm>
          <a:prstGeom prst="rect">
            <a:avLst/>
          </a:prstGeom>
          <a:noFill/>
          <a:ln/>
        </p:spPr>
        <p:txBody>
          <a:bodyPr wrap="square" lIns="0" tIns="0" rIns="0" bIns="0" rtlCol="0" anchor="ctr"/>
          <a:lstStyle/>
          <a:p>
            <a:pPr algn="ctr" indent="0" marL="0">
              <a:buNone/>
            </a:pPr>
            <a:r>
              <a:rPr lang="it-IT" sz="1300" b="1" dirty="0">
                <a:solidFill>
                  <a:schemeClr val="tx1"/>
                </a:solidFill>
              </a:rPr>
              <a:t>Traduzione</a:t>
            </a:r>
            <a:endParaRPr lang="it-IT" sz="1300" dirty="0"/>
          </a:p>
        </p:txBody>
      </p:sp>
      <p:sp>
        <p:nvSpPr>
          <p:cNvPr id="18" name="freccia"/>
          <p:cNvSpPr/>
          <p:nvPr/>
        </p:nvSpPr>
        <p:spPr>
          <a:xfrm>
            <a:off x="6556248" y="1252728"/>
            <a:ext cx="182880" cy="292608"/>
          </a:xfrm>
          <a:prstGeom prst="rightArrow">
            <a:avLst/>
          </a:prstGeom>
          <a:solidFill>
            <a:schemeClr val="accent2"/>
          </a:solidFill>
          <a:ln/>
        </p:spPr>
      </p:sp>
      <p:sp>
        <p:nvSpPr>
          <p:cNvPr id="19" name="blocco Testo o voce"/>
          <p:cNvSpPr/>
          <p:nvPr/>
        </p:nvSpPr>
        <p:spPr>
          <a:xfrm>
            <a:off x="6766560" y="1097280"/>
            <a:ext cx="1874520" cy="594360"/>
          </a:xfrm>
          <a:prstGeom prst="roundRect">
            <a:avLst>
              <a:gd name="adj" fmla="val 18462"/>
            </a:avLst>
          </a:prstGeom>
          <a:solidFill>
            <a:schemeClr val="bg2"/>
          </a:solidFill>
          <a:ln/>
        </p:spPr>
      </p:sp>
      <p:sp>
        <p:nvSpPr>
          <p:cNvPr id="20" name="Text 17"/>
          <p:cNvSpPr txBox="1"/>
          <p:nvPr/>
        </p:nvSpPr>
        <p:spPr>
          <a:xfrm>
            <a:off x="6812280" y="1097280"/>
            <a:ext cx="1783080" cy="594360"/>
          </a:xfrm>
          <a:prstGeom prst="rect">
            <a:avLst/>
          </a:prstGeom>
          <a:noFill/>
          <a:ln/>
        </p:spPr>
        <p:txBody>
          <a:bodyPr wrap="square" lIns="0" tIns="0" rIns="0" bIns="0" rtlCol="0" anchor="ctr"/>
          <a:lstStyle/>
          <a:p>
            <a:pPr algn="ctr" indent="0" marL="0">
              <a:buNone/>
            </a:pPr>
            <a:r>
              <a:rPr lang="it-IT" sz="1300" b="1" dirty="0">
                <a:solidFill>
                  <a:schemeClr val="tx1"/>
                </a:solidFill>
              </a:rPr>
              <a:t>Testo o voce</a:t>
            </a:r>
            <a:endParaRPr lang="it-IT" sz="1300" dirty="0"/>
          </a:p>
        </p:txBody>
      </p:sp>
      <p:sp>
        <p:nvSpPr>
          <p:cNvPr id="21" name="scheda Opportunità"/>
          <p:cNvSpPr/>
          <p:nvPr/>
        </p:nvSpPr>
        <p:spPr>
          <a:xfrm>
            <a:off x="457200" y="1874520"/>
            <a:ext cx="3977640" cy="1600200"/>
          </a:xfrm>
          <a:prstGeom prst="roundRect">
            <a:avLst>
              <a:gd name="adj" fmla="val 4571"/>
            </a:avLst>
          </a:prstGeom>
          <a:solidFill>
            <a:schemeClr val="accent6"/>
          </a:solidFill>
          <a:ln/>
        </p:spPr>
      </p:sp>
      <p:sp>
        <p:nvSpPr>
          <p:cNvPr id="22" name="cerchio FiThumbsUp"/>
          <p:cNvSpPr/>
          <p:nvPr/>
        </p:nvSpPr>
        <p:spPr>
          <a:xfrm>
            <a:off x="640080" y="2057400"/>
            <a:ext cx="457200" cy="457200"/>
          </a:xfrm>
          <a:prstGeom prst="ellipse">
            <a:avLst/>
          </a:prstGeom>
          <a:solidFill>
            <a:schemeClr val="accent1"/>
          </a:solidFill>
          <a:ln/>
        </p:spPr>
      </p:sp>
      <p:pic>
        <p:nvPicPr>
          <p:cNvPr id="23" name="Image 0" descr="FiThumbsUp">    </p:cNvPr>
          <p:cNvPicPr>
            <a:picLocks noChangeAspect="1"/>
          </p:cNvPicPr>
          <p:nvPr/>
        </p:nvPicPr>
        <p:blipFill>
          <a:blip r:embed="rId1"/>
          <a:stretch>
            <a:fillRect/>
          </a:stretch>
        </p:blipFill>
        <p:spPr>
          <a:xfrm>
            <a:off x="754380" y="2171700"/>
            <a:ext cx="228600" cy="228600"/>
          </a:xfrm>
          <a:prstGeom prst="rect">
            <a:avLst/>
          </a:prstGeom>
        </p:spPr>
      </p:pic>
      <p:sp>
        <p:nvSpPr>
          <p:cNvPr id="24" name="Text 20"/>
          <p:cNvSpPr txBox="1"/>
          <p:nvPr/>
        </p:nvSpPr>
        <p:spPr>
          <a:xfrm>
            <a:off x="1234440" y="2057400"/>
            <a:ext cx="3017520" cy="457200"/>
          </a:xfrm>
          <a:prstGeom prst="rect">
            <a:avLst/>
          </a:prstGeom>
          <a:noFill/>
          <a:ln/>
        </p:spPr>
        <p:txBody>
          <a:bodyPr wrap="square" lIns="0" tIns="0" rIns="0" bIns="0" rtlCol="0" anchor="ctr"/>
          <a:lstStyle/>
          <a:p>
            <a:pPr indent="0" marL="0">
              <a:buNone/>
            </a:pPr>
            <a:r>
              <a:rPr lang="it-IT" sz="1400" b="1" dirty="0">
                <a:solidFill>
                  <a:schemeClr val="tx1"/>
                </a:solidFill>
              </a:rPr>
              <a:t>Opportunità</a:t>
            </a:r>
            <a:endParaRPr lang="it-IT" sz="1400" dirty="0"/>
          </a:p>
        </p:txBody>
      </p:sp>
      <p:sp>
        <p:nvSpPr>
          <p:cNvPr id="25" name="Text 21"/>
          <p:cNvSpPr txBox="1"/>
          <p:nvPr/>
        </p:nvSpPr>
        <p:spPr>
          <a:xfrm>
            <a:off x="640080" y="2651760"/>
            <a:ext cx="3611880" cy="713232"/>
          </a:xfrm>
          <a:prstGeom prst="rect">
            <a:avLst/>
          </a:prstGeom>
          <a:noFill/>
          <a:ln/>
        </p:spPr>
        <p:txBody>
          <a:bodyPr wrap="square" lIns="0" tIns="0" rIns="0" bIns="0" rtlCol="0" anchor="t"/>
          <a:lstStyle/>
          <a:p>
            <a:pPr indent="0" marL="0">
              <a:buNone/>
            </a:pPr>
            <a:r>
              <a:rPr lang="it-IT" sz="1200" dirty="0">
                <a:solidFill>
                  <a:schemeClr val="tx2"/>
                </a:solidFill>
              </a:rPr>
              <a:t>Riunioni senza lingua comune, formazione multilingue, assistenza a clienti stranieri.</a:t>
            </a:r>
            <a:endParaRPr lang="it-IT" sz="1200" dirty="0"/>
          </a:p>
        </p:txBody>
      </p:sp>
      <p:sp>
        <p:nvSpPr>
          <p:cNvPr id="26" name="scheda Da sapere"/>
          <p:cNvSpPr/>
          <p:nvPr/>
        </p:nvSpPr>
        <p:spPr>
          <a:xfrm>
            <a:off x="4709160" y="1874520"/>
            <a:ext cx="3977640" cy="1600200"/>
          </a:xfrm>
          <a:prstGeom prst="roundRect">
            <a:avLst>
              <a:gd name="adj" fmla="val 4571"/>
            </a:avLst>
          </a:prstGeom>
          <a:solidFill>
            <a:schemeClr val="bg2"/>
          </a:solidFill>
          <a:ln/>
        </p:spPr>
      </p:sp>
      <p:sp>
        <p:nvSpPr>
          <p:cNvPr id="27" name="cerchio FiInfo"/>
          <p:cNvSpPr/>
          <p:nvPr/>
        </p:nvSpPr>
        <p:spPr>
          <a:xfrm>
            <a:off x="4892040" y="2057400"/>
            <a:ext cx="457200" cy="457200"/>
          </a:xfrm>
          <a:prstGeom prst="ellipse">
            <a:avLst/>
          </a:prstGeom>
          <a:solidFill>
            <a:schemeClr val="accent1"/>
          </a:solidFill>
          <a:ln/>
        </p:spPr>
      </p:sp>
      <p:pic>
        <p:nvPicPr>
          <p:cNvPr id="28" name="Image 1" descr="FiInfo">    </p:cNvPr>
          <p:cNvPicPr>
            <a:picLocks noChangeAspect="1"/>
          </p:cNvPicPr>
          <p:nvPr/>
        </p:nvPicPr>
        <p:blipFill>
          <a:blip r:embed="rId2"/>
          <a:stretch>
            <a:fillRect/>
          </a:stretch>
        </p:blipFill>
        <p:spPr>
          <a:xfrm>
            <a:off x="5006340" y="2171700"/>
            <a:ext cx="228600" cy="228600"/>
          </a:xfrm>
          <a:prstGeom prst="rect">
            <a:avLst/>
          </a:prstGeom>
        </p:spPr>
      </p:pic>
      <p:sp>
        <p:nvSpPr>
          <p:cNvPr id="29" name="Text 24"/>
          <p:cNvSpPr txBox="1"/>
          <p:nvPr/>
        </p:nvSpPr>
        <p:spPr>
          <a:xfrm>
            <a:off x="5486400" y="2057400"/>
            <a:ext cx="3017520" cy="457200"/>
          </a:xfrm>
          <a:prstGeom prst="rect">
            <a:avLst/>
          </a:prstGeom>
          <a:noFill/>
          <a:ln/>
        </p:spPr>
        <p:txBody>
          <a:bodyPr wrap="square" lIns="0" tIns="0" rIns="0" bIns="0" rtlCol="0" anchor="ctr"/>
          <a:lstStyle/>
          <a:p>
            <a:pPr indent="0" marL="0">
              <a:buNone/>
            </a:pPr>
            <a:r>
              <a:rPr lang="it-IT" sz="1400" b="1" dirty="0">
                <a:solidFill>
                  <a:schemeClr val="tx1"/>
                </a:solidFill>
              </a:rPr>
              <a:t>Da sapere</a:t>
            </a:r>
            <a:endParaRPr lang="it-IT" sz="1400" dirty="0"/>
          </a:p>
        </p:txBody>
      </p:sp>
      <p:sp>
        <p:nvSpPr>
          <p:cNvPr id="30" name="Text 25"/>
          <p:cNvSpPr txBox="1"/>
          <p:nvPr/>
        </p:nvSpPr>
        <p:spPr>
          <a:xfrm>
            <a:off x="4892040" y="2651760"/>
            <a:ext cx="3611880" cy="713232"/>
          </a:xfrm>
          <a:prstGeom prst="rect">
            <a:avLst/>
          </a:prstGeom>
          <a:noFill/>
          <a:ln/>
        </p:spPr>
        <p:txBody>
          <a:bodyPr wrap="square" lIns="0" tIns="0" rIns="0" bIns="0" rtlCol="0" anchor="t"/>
          <a:lstStyle/>
          <a:p>
            <a:pPr indent="0" marL="0">
              <a:buNone/>
            </a:pPr>
            <a:r>
              <a:rPr lang="it-IT" sz="1200" dirty="0">
                <a:solidFill>
                  <a:schemeClr val="tx2"/>
                </a:solidFill>
              </a:rPr>
              <a:t>Due passaggi sommati, meno contesto in tempo reale, chi ascolta non può verificare.</a:t>
            </a:r>
            <a:endParaRPr lang="it-IT" sz="1200" dirty="0"/>
          </a:p>
        </p:txBody>
      </p:sp>
      <p:sp>
        <p:nvSpPr>
          <p:cNvPr id="31" name="messaggio"/>
          <p:cNvSpPr/>
          <p:nvPr/>
        </p:nvSpPr>
        <p:spPr>
          <a:xfrm>
            <a:off x="457200" y="3657600"/>
            <a:ext cx="8229600" cy="777240"/>
          </a:xfrm>
          <a:prstGeom prst="roundRect">
            <a:avLst>
              <a:gd name="adj" fmla="val 9412"/>
            </a:avLst>
          </a:prstGeom>
          <a:solidFill>
            <a:schemeClr val="tx1"/>
          </a:solidFill>
          <a:ln/>
        </p:spPr>
      </p:sp>
      <p:sp>
        <p:nvSpPr>
          <p:cNvPr id="32" name="Text 27"/>
          <p:cNvSpPr txBox="1"/>
          <p:nvPr/>
        </p:nvSpPr>
        <p:spPr>
          <a:xfrm>
            <a:off x="640080" y="3657600"/>
            <a:ext cx="7863840" cy="777240"/>
          </a:xfrm>
          <a:prstGeom prst="rect">
            <a:avLst/>
          </a:prstGeom>
          <a:noFill/>
          <a:ln/>
        </p:spPr>
        <p:txBody>
          <a:bodyPr wrap="square" lIns="0" tIns="0" rIns="0" bIns="0" rtlCol="0" anchor="ctr"/>
          <a:lstStyle/>
          <a:p>
            <a:pPr indent="0" marL="0">
              <a:buNone/>
            </a:pPr>
            <a:r>
              <a:rPr lang="it-IT" sz="1300" dirty="0">
                <a:solidFill>
                  <a:schemeClr val="bg1"/>
                </a:solidFill>
              </a:rPr>
              <a:t>Trattative, accordi, sicurezza, ambiti medici o legali: ottimo supporto, ma con interprete o conferma scritta.</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30</a:t>
            </a:fld>
            <a:endParaRPr lang="it-IT"/>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Uno strumento di accessibilità</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sp>
        <p:nvSpPr>
          <p:cNvPr id="10" name="Sottotitoli"/>
          <p:cNvSpPr/>
          <p:nvPr/>
        </p:nvSpPr>
        <p:spPr>
          <a:xfrm>
            <a:off x="457200" y="1051560"/>
            <a:ext cx="2621280" cy="1143000"/>
          </a:xfrm>
          <a:prstGeom prst="roundRect">
            <a:avLst>
              <a:gd name="adj" fmla="val 6400"/>
            </a:avLst>
          </a:prstGeom>
          <a:solidFill>
            <a:schemeClr val="bg2"/>
          </a:solidFill>
          <a:ln/>
        </p:spPr>
      </p:sp>
      <p:sp>
        <p:nvSpPr>
          <p:cNvPr id="11" name="cerchio FiType"/>
          <p:cNvSpPr/>
          <p:nvPr/>
        </p:nvSpPr>
        <p:spPr>
          <a:xfrm>
            <a:off x="621792" y="1216152"/>
            <a:ext cx="438912" cy="438912"/>
          </a:xfrm>
          <a:prstGeom prst="ellipse">
            <a:avLst/>
          </a:prstGeom>
          <a:solidFill>
            <a:schemeClr val="accent1"/>
          </a:solidFill>
          <a:ln/>
        </p:spPr>
      </p:sp>
      <p:pic>
        <p:nvPicPr>
          <p:cNvPr id="12" name="Image 0" descr="FiType">    </p:cNvPr>
          <p:cNvPicPr>
            <a:picLocks noChangeAspect="1"/>
          </p:cNvPicPr>
          <p:nvPr/>
        </p:nvPicPr>
        <p:blipFill>
          <a:blip r:embed="rId1"/>
          <a:stretch>
            <a:fillRect/>
          </a:stretch>
        </p:blipFill>
        <p:spPr>
          <a:xfrm>
            <a:off x="731520" y="1325880"/>
            <a:ext cx="219456" cy="219456"/>
          </a:xfrm>
          <a:prstGeom prst="rect">
            <a:avLst/>
          </a:prstGeom>
        </p:spPr>
      </p:pic>
      <p:sp>
        <p:nvSpPr>
          <p:cNvPr id="13" name="Text 9"/>
          <p:cNvSpPr txBox="1"/>
          <p:nvPr/>
        </p:nvSpPr>
        <p:spPr>
          <a:xfrm>
            <a:off x="117043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Sottotitoli</a:t>
            </a:r>
            <a:endParaRPr lang="it-IT" sz="1300" dirty="0"/>
          </a:p>
        </p:txBody>
      </p:sp>
      <p:sp>
        <p:nvSpPr>
          <p:cNvPr id="14" name="Text 10"/>
          <p:cNvSpPr txBox="1"/>
          <p:nvPr/>
        </p:nvSpPr>
        <p:spPr>
          <a:xfrm>
            <a:off x="621792" y="1764792"/>
            <a:ext cx="2292096" cy="338328"/>
          </a:xfrm>
          <a:prstGeom prst="rect">
            <a:avLst/>
          </a:prstGeom>
          <a:noFill/>
          <a:ln/>
        </p:spPr>
        <p:txBody>
          <a:bodyPr wrap="square" lIns="0" tIns="0" rIns="0" bIns="0" rtlCol="0" anchor="t"/>
          <a:lstStyle/>
          <a:p>
            <a:pPr indent="0" marL="0">
              <a:buNone/>
            </a:pPr>
            <a:r>
              <a:rPr lang="it-IT" sz="1200" dirty="0">
                <a:solidFill>
                  <a:schemeClr val="tx2"/>
                </a:solidFill>
              </a:rPr>
              <a:t>Per chi non sente o è in un luogo rumoroso</a:t>
            </a:r>
            <a:endParaRPr lang="it-IT" sz="1200" dirty="0"/>
          </a:p>
        </p:txBody>
      </p:sp>
      <p:sp>
        <p:nvSpPr>
          <p:cNvPr id="15" name="Sintesi vocale"/>
          <p:cNvSpPr/>
          <p:nvPr/>
        </p:nvSpPr>
        <p:spPr>
          <a:xfrm>
            <a:off x="3261360" y="1051560"/>
            <a:ext cx="2621280" cy="1143000"/>
          </a:xfrm>
          <a:prstGeom prst="roundRect">
            <a:avLst>
              <a:gd name="adj" fmla="val 6400"/>
            </a:avLst>
          </a:prstGeom>
          <a:solidFill>
            <a:schemeClr val="bg2"/>
          </a:solidFill>
          <a:ln/>
        </p:spPr>
      </p:sp>
      <p:sp>
        <p:nvSpPr>
          <p:cNvPr id="16" name="cerchio FiVolume2"/>
          <p:cNvSpPr/>
          <p:nvPr/>
        </p:nvSpPr>
        <p:spPr>
          <a:xfrm>
            <a:off x="3425952" y="1216152"/>
            <a:ext cx="438912" cy="438912"/>
          </a:xfrm>
          <a:prstGeom prst="ellipse">
            <a:avLst/>
          </a:prstGeom>
          <a:solidFill>
            <a:schemeClr val="accent1"/>
          </a:solidFill>
          <a:ln/>
        </p:spPr>
      </p:sp>
      <p:pic>
        <p:nvPicPr>
          <p:cNvPr id="17" name="Image 1" descr="FiVolume2">    </p:cNvPr>
          <p:cNvPicPr>
            <a:picLocks noChangeAspect="1"/>
          </p:cNvPicPr>
          <p:nvPr/>
        </p:nvPicPr>
        <p:blipFill>
          <a:blip r:embed="rId2"/>
          <a:stretch>
            <a:fillRect/>
          </a:stretch>
        </p:blipFill>
        <p:spPr>
          <a:xfrm>
            <a:off x="3535680" y="1325880"/>
            <a:ext cx="219456" cy="219456"/>
          </a:xfrm>
          <a:prstGeom prst="rect">
            <a:avLst/>
          </a:prstGeom>
        </p:spPr>
      </p:pic>
      <p:sp>
        <p:nvSpPr>
          <p:cNvPr id="18" name="Text 13"/>
          <p:cNvSpPr txBox="1"/>
          <p:nvPr/>
        </p:nvSpPr>
        <p:spPr>
          <a:xfrm>
            <a:off x="397459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Sintesi vocale</a:t>
            </a:r>
            <a:endParaRPr lang="it-IT" sz="1300" dirty="0"/>
          </a:p>
        </p:txBody>
      </p:sp>
      <p:sp>
        <p:nvSpPr>
          <p:cNvPr id="19" name="Text 14"/>
          <p:cNvSpPr txBox="1"/>
          <p:nvPr/>
        </p:nvSpPr>
        <p:spPr>
          <a:xfrm>
            <a:off x="3425952" y="1764792"/>
            <a:ext cx="2292096" cy="338328"/>
          </a:xfrm>
          <a:prstGeom prst="rect">
            <a:avLst/>
          </a:prstGeom>
          <a:noFill/>
          <a:ln/>
        </p:spPr>
        <p:txBody>
          <a:bodyPr wrap="square" lIns="0" tIns="0" rIns="0" bIns="0" rtlCol="0" anchor="t"/>
          <a:lstStyle/>
          <a:p>
            <a:pPr indent="0" marL="0">
              <a:buNone/>
            </a:pPr>
            <a:r>
              <a:rPr lang="it-IT" sz="1200" dirty="0">
                <a:solidFill>
                  <a:schemeClr val="tx2"/>
                </a:solidFill>
              </a:rPr>
              <a:t>Per chi non vede o fatica a leggere</a:t>
            </a:r>
            <a:endParaRPr lang="it-IT" sz="1200" dirty="0"/>
          </a:p>
        </p:txBody>
      </p:sp>
      <p:sp>
        <p:nvSpPr>
          <p:cNvPr id="20" name="Descrizioni di immagini"/>
          <p:cNvSpPr/>
          <p:nvPr/>
        </p:nvSpPr>
        <p:spPr>
          <a:xfrm>
            <a:off x="6065520" y="1051560"/>
            <a:ext cx="2621280" cy="1143000"/>
          </a:xfrm>
          <a:prstGeom prst="roundRect">
            <a:avLst>
              <a:gd name="adj" fmla="val 6400"/>
            </a:avLst>
          </a:prstGeom>
          <a:solidFill>
            <a:schemeClr val="bg2"/>
          </a:solidFill>
          <a:ln/>
        </p:spPr>
      </p:sp>
      <p:sp>
        <p:nvSpPr>
          <p:cNvPr id="21" name="cerchio FiImage"/>
          <p:cNvSpPr/>
          <p:nvPr/>
        </p:nvSpPr>
        <p:spPr>
          <a:xfrm>
            <a:off x="6230112" y="1216152"/>
            <a:ext cx="438912" cy="438912"/>
          </a:xfrm>
          <a:prstGeom prst="ellipse">
            <a:avLst/>
          </a:prstGeom>
          <a:solidFill>
            <a:schemeClr val="accent1"/>
          </a:solidFill>
          <a:ln/>
        </p:spPr>
      </p:sp>
      <p:pic>
        <p:nvPicPr>
          <p:cNvPr id="22" name="Image 2" descr="FiImage">    </p:cNvPr>
          <p:cNvPicPr>
            <a:picLocks noChangeAspect="1"/>
          </p:cNvPicPr>
          <p:nvPr/>
        </p:nvPicPr>
        <p:blipFill>
          <a:blip r:embed="rId3"/>
          <a:stretch>
            <a:fillRect/>
          </a:stretch>
        </p:blipFill>
        <p:spPr>
          <a:xfrm>
            <a:off x="6339840" y="1325880"/>
            <a:ext cx="219456" cy="219456"/>
          </a:xfrm>
          <a:prstGeom prst="rect">
            <a:avLst/>
          </a:prstGeom>
        </p:spPr>
      </p:pic>
      <p:sp>
        <p:nvSpPr>
          <p:cNvPr id="23" name="Text 17"/>
          <p:cNvSpPr txBox="1"/>
          <p:nvPr/>
        </p:nvSpPr>
        <p:spPr>
          <a:xfrm>
            <a:off x="677875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Descrizioni di immagini</a:t>
            </a:r>
            <a:endParaRPr lang="it-IT" sz="1300" dirty="0"/>
          </a:p>
        </p:txBody>
      </p:sp>
      <p:sp>
        <p:nvSpPr>
          <p:cNvPr id="24" name="Text 18"/>
          <p:cNvSpPr txBox="1"/>
          <p:nvPr/>
        </p:nvSpPr>
        <p:spPr>
          <a:xfrm>
            <a:off x="6230112" y="1764792"/>
            <a:ext cx="2292096" cy="338328"/>
          </a:xfrm>
          <a:prstGeom prst="rect">
            <a:avLst/>
          </a:prstGeom>
          <a:noFill/>
          <a:ln/>
        </p:spPr>
        <p:txBody>
          <a:bodyPr wrap="square" lIns="0" tIns="0" rIns="0" bIns="0" rtlCol="0" anchor="t"/>
          <a:lstStyle/>
          <a:p>
            <a:pPr indent="0" marL="0">
              <a:buNone/>
            </a:pPr>
            <a:r>
              <a:rPr lang="it-IT" sz="1200" dirty="0">
                <a:solidFill>
                  <a:schemeClr val="tx2"/>
                </a:solidFill>
              </a:rPr>
              <a:t>Grafici e foto per chi non vede</a:t>
            </a:r>
            <a:endParaRPr lang="it-IT" sz="1200" dirty="0"/>
          </a:p>
        </p:txBody>
      </p:sp>
      <p:sp>
        <p:nvSpPr>
          <p:cNvPr id="25" name="Comandi vocali"/>
          <p:cNvSpPr/>
          <p:nvPr/>
        </p:nvSpPr>
        <p:spPr>
          <a:xfrm>
            <a:off x="457200" y="2377440"/>
            <a:ext cx="2621280" cy="1143000"/>
          </a:xfrm>
          <a:prstGeom prst="roundRect">
            <a:avLst>
              <a:gd name="adj" fmla="val 6400"/>
            </a:avLst>
          </a:prstGeom>
          <a:solidFill>
            <a:schemeClr val="bg2"/>
          </a:solidFill>
          <a:ln/>
        </p:spPr>
      </p:sp>
      <p:sp>
        <p:nvSpPr>
          <p:cNvPr id="26" name="cerchio FiMic"/>
          <p:cNvSpPr/>
          <p:nvPr/>
        </p:nvSpPr>
        <p:spPr>
          <a:xfrm>
            <a:off x="621792" y="2542032"/>
            <a:ext cx="438912" cy="438912"/>
          </a:xfrm>
          <a:prstGeom prst="ellipse">
            <a:avLst/>
          </a:prstGeom>
          <a:solidFill>
            <a:schemeClr val="accent1"/>
          </a:solidFill>
          <a:ln/>
        </p:spPr>
      </p:sp>
      <p:pic>
        <p:nvPicPr>
          <p:cNvPr id="27" name="Image 3" descr="FiMic">    </p:cNvPr>
          <p:cNvPicPr>
            <a:picLocks noChangeAspect="1"/>
          </p:cNvPicPr>
          <p:nvPr/>
        </p:nvPicPr>
        <p:blipFill>
          <a:blip r:embed="rId4"/>
          <a:stretch>
            <a:fillRect/>
          </a:stretch>
        </p:blipFill>
        <p:spPr>
          <a:xfrm>
            <a:off x="731520" y="2651760"/>
            <a:ext cx="219456" cy="219456"/>
          </a:xfrm>
          <a:prstGeom prst="rect">
            <a:avLst/>
          </a:prstGeom>
        </p:spPr>
      </p:pic>
      <p:sp>
        <p:nvSpPr>
          <p:cNvPr id="28" name="Text 21"/>
          <p:cNvSpPr txBox="1"/>
          <p:nvPr/>
        </p:nvSpPr>
        <p:spPr>
          <a:xfrm>
            <a:off x="1170432" y="250545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Comandi vocali</a:t>
            </a:r>
            <a:endParaRPr lang="it-IT" sz="1300" dirty="0"/>
          </a:p>
        </p:txBody>
      </p:sp>
      <p:sp>
        <p:nvSpPr>
          <p:cNvPr id="29" name="Text 22"/>
          <p:cNvSpPr txBox="1"/>
          <p:nvPr/>
        </p:nvSpPr>
        <p:spPr>
          <a:xfrm>
            <a:off x="621792" y="3090672"/>
            <a:ext cx="2292096" cy="338328"/>
          </a:xfrm>
          <a:prstGeom prst="rect">
            <a:avLst/>
          </a:prstGeom>
          <a:noFill/>
          <a:ln/>
        </p:spPr>
        <p:txBody>
          <a:bodyPr wrap="square" lIns="0" tIns="0" rIns="0" bIns="0" rtlCol="0" anchor="t"/>
          <a:lstStyle/>
          <a:p>
            <a:pPr indent="0" marL="0">
              <a:buNone/>
            </a:pPr>
            <a:r>
              <a:rPr lang="it-IT" sz="1200" dirty="0">
                <a:solidFill>
                  <a:schemeClr val="tx2"/>
                </a:solidFill>
              </a:rPr>
              <a:t>Per chi non usa la tastiera</a:t>
            </a:r>
            <a:endParaRPr lang="it-IT" sz="1200" dirty="0"/>
          </a:p>
        </p:txBody>
      </p:sp>
      <p:sp>
        <p:nvSpPr>
          <p:cNvPr id="30" name="Traduzioni"/>
          <p:cNvSpPr/>
          <p:nvPr/>
        </p:nvSpPr>
        <p:spPr>
          <a:xfrm>
            <a:off x="3261360" y="2377440"/>
            <a:ext cx="2621280" cy="1143000"/>
          </a:xfrm>
          <a:prstGeom prst="roundRect">
            <a:avLst>
              <a:gd name="adj" fmla="val 6400"/>
            </a:avLst>
          </a:prstGeom>
          <a:solidFill>
            <a:schemeClr val="bg2"/>
          </a:solidFill>
          <a:ln/>
        </p:spPr>
      </p:sp>
      <p:sp>
        <p:nvSpPr>
          <p:cNvPr id="31" name="cerchio FiGlobe"/>
          <p:cNvSpPr/>
          <p:nvPr/>
        </p:nvSpPr>
        <p:spPr>
          <a:xfrm>
            <a:off x="3425952" y="2542032"/>
            <a:ext cx="438912" cy="438912"/>
          </a:xfrm>
          <a:prstGeom prst="ellipse">
            <a:avLst/>
          </a:prstGeom>
          <a:solidFill>
            <a:schemeClr val="accent1"/>
          </a:solidFill>
          <a:ln/>
        </p:spPr>
      </p:sp>
      <p:pic>
        <p:nvPicPr>
          <p:cNvPr id="32" name="Image 4" descr="FiGlobe">    </p:cNvPr>
          <p:cNvPicPr>
            <a:picLocks noChangeAspect="1"/>
          </p:cNvPicPr>
          <p:nvPr/>
        </p:nvPicPr>
        <p:blipFill>
          <a:blip r:embed="rId5"/>
          <a:stretch>
            <a:fillRect/>
          </a:stretch>
        </p:blipFill>
        <p:spPr>
          <a:xfrm>
            <a:off x="3535680" y="2651760"/>
            <a:ext cx="219456" cy="219456"/>
          </a:xfrm>
          <a:prstGeom prst="rect">
            <a:avLst/>
          </a:prstGeom>
        </p:spPr>
      </p:pic>
      <p:sp>
        <p:nvSpPr>
          <p:cNvPr id="33" name="Text 25"/>
          <p:cNvSpPr txBox="1"/>
          <p:nvPr/>
        </p:nvSpPr>
        <p:spPr>
          <a:xfrm>
            <a:off x="3974592" y="250545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Traduzioni</a:t>
            </a:r>
            <a:endParaRPr lang="it-IT" sz="1300" dirty="0"/>
          </a:p>
        </p:txBody>
      </p:sp>
      <p:sp>
        <p:nvSpPr>
          <p:cNvPr id="34" name="Text 26"/>
          <p:cNvSpPr txBox="1"/>
          <p:nvPr/>
        </p:nvSpPr>
        <p:spPr>
          <a:xfrm>
            <a:off x="3425952" y="3090672"/>
            <a:ext cx="2292096" cy="338328"/>
          </a:xfrm>
          <a:prstGeom prst="rect">
            <a:avLst/>
          </a:prstGeom>
          <a:noFill/>
          <a:ln/>
        </p:spPr>
        <p:txBody>
          <a:bodyPr wrap="square" lIns="0" tIns="0" rIns="0" bIns="0" rtlCol="0" anchor="t"/>
          <a:lstStyle/>
          <a:p>
            <a:pPr indent="0" marL="0">
              <a:buNone/>
            </a:pPr>
            <a:r>
              <a:rPr lang="it-IT" sz="1200" dirty="0">
                <a:solidFill>
                  <a:schemeClr val="tx2"/>
                </a:solidFill>
              </a:rPr>
              <a:t>Per chi non conosce bene la lingua</a:t>
            </a:r>
            <a:endParaRPr lang="it-IT" sz="1200" dirty="0"/>
          </a:p>
        </p:txBody>
      </p:sp>
      <p:sp>
        <p:nvSpPr>
          <p:cNvPr id="35" name="Versioni semplificate"/>
          <p:cNvSpPr/>
          <p:nvPr/>
        </p:nvSpPr>
        <p:spPr>
          <a:xfrm>
            <a:off x="6065520" y="2377440"/>
            <a:ext cx="2621280" cy="1143000"/>
          </a:xfrm>
          <a:prstGeom prst="roundRect">
            <a:avLst>
              <a:gd name="adj" fmla="val 6400"/>
            </a:avLst>
          </a:prstGeom>
          <a:solidFill>
            <a:schemeClr val="bg2"/>
          </a:solidFill>
          <a:ln/>
        </p:spPr>
      </p:sp>
      <p:sp>
        <p:nvSpPr>
          <p:cNvPr id="36" name="cerchio FiAlignLeft"/>
          <p:cNvSpPr/>
          <p:nvPr/>
        </p:nvSpPr>
        <p:spPr>
          <a:xfrm>
            <a:off x="6230112" y="2542032"/>
            <a:ext cx="438912" cy="438912"/>
          </a:xfrm>
          <a:prstGeom prst="ellipse">
            <a:avLst/>
          </a:prstGeom>
          <a:solidFill>
            <a:schemeClr val="accent1"/>
          </a:solidFill>
          <a:ln/>
        </p:spPr>
      </p:sp>
      <p:pic>
        <p:nvPicPr>
          <p:cNvPr id="37" name="Image 5" descr="FiAlignLeft">    </p:cNvPr>
          <p:cNvPicPr>
            <a:picLocks noChangeAspect="1"/>
          </p:cNvPicPr>
          <p:nvPr/>
        </p:nvPicPr>
        <p:blipFill>
          <a:blip r:embed="rId6"/>
          <a:stretch>
            <a:fillRect/>
          </a:stretch>
        </p:blipFill>
        <p:spPr>
          <a:xfrm>
            <a:off x="6339840" y="2651760"/>
            <a:ext cx="219456" cy="219456"/>
          </a:xfrm>
          <a:prstGeom prst="rect">
            <a:avLst/>
          </a:prstGeom>
        </p:spPr>
      </p:pic>
      <p:sp>
        <p:nvSpPr>
          <p:cNvPr id="38" name="Text 29"/>
          <p:cNvSpPr txBox="1"/>
          <p:nvPr/>
        </p:nvSpPr>
        <p:spPr>
          <a:xfrm>
            <a:off x="6778752" y="250545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Versioni semplificate</a:t>
            </a:r>
            <a:endParaRPr lang="it-IT" sz="1300" dirty="0"/>
          </a:p>
        </p:txBody>
      </p:sp>
      <p:sp>
        <p:nvSpPr>
          <p:cNvPr id="39" name="Text 30"/>
          <p:cNvSpPr txBox="1"/>
          <p:nvPr/>
        </p:nvSpPr>
        <p:spPr>
          <a:xfrm>
            <a:off x="6230112" y="3090672"/>
            <a:ext cx="2292096" cy="338328"/>
          </a:xfrm>
          <a:prstGeom prst="rect">
            <a:avLst/>
          </a:prstGeom>
          <a:noFill/>
          <a:ln/>
        </p:spPr>
        <p:txBody>
          <a:bodyPr wrap="square" lIns="0" tIns="0" rIns="0" bIns="0" rtlCol="0" anchor="t"/>
          <a:lstStyle/>
          <a:p>
            <a:pPr indent="0" marL="0">
              <a:buNone/>
            </a:pPr>
            <a:r>
              <a:rPr lang="it-IT" sz="1200" dirty="0">
                <a:solidFill>
                  <a:schemeClr val="tx2"/>
                </a:solidFill>
              </a:rPr>
              <a:t>Per chi ha bisogno di testi più chiari</a:t>
            </a:r>
            <a:endParaRPr lang="it-IT" sz="1200" dirty="0"/>
          </a:p>
        </p:txBody>
      </p:sp>
      <p:sp>
        <p:nvSpPr>
          <p:cNvPr id="40" name="messaggio"/>
          <p:cNvSpPr/>
          <p:nvPr/>
        </p:nvSpPr>
        <p:spPr>
          <a:xfrm>
            <a:off x="457200" y="3703320"/>
            <a:ext cx="8229600" cy="731520"/>
          </a:xfrm>
          <a:prstGeom prst="roundRect">
            <a:avLst>
              <a:gd name="adj" fmla="val 10000"/>
            </a:avLst>
          </a:prstGeom>
          <a:solidFill>
            <a:schemeClr val="tx1"/>
          </a:solidFill>
          <a:ln/>
        </p:spPr>
      </p:sp>
      <p:sp>
        <p:nvSpPr>
          <p:cNvPr id="41" name="Text 32"/>
          <p:cNvSpPr txBox="1"/>
          <p:nvPr/>
        </p:nvSpPr>
        <p:spPr>
          <a:xfrm>
            <a:off x="640080" y="3703320"/>
            <a:ext cx="7863840" cy="731520"/>
          </a:xfrm>
          <a:prstGeom prst="rect">
            <a:avLst/>
          </a:prstGeom>
          <a:noFill/>
          <a:ln/>
        </p:spPr>
        <p:txBody>
          <a:bodyPr wrap="square" lIns="0" tIns="0" rIns="0" bIns="0" rtlCol="0" anchor="ctr"/>
          <a:lstStyle/>
          <a:p>
            <a:pPr indent="0" marL="0">
              <a:buNone/>
            </a:pPr>
            <a:r>
              <a:rPr lang="it-IT" sz="1300" dirty="0">
                <a:solidFill>
                  <a:schemeClr val="bg1"/>
                </a:solidFill>
              </a:rPr>
              <a:t>Comunicazione più inclusiva a costi bassi. Per i contenuti importanti, un controllo: chi non può ascoltare non può correggere.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31</a:t>
            </a:fld>
            <a:endParaRPr lang="it-IT"/>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Registrare e trascrivere correttamente</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Trasformare</a:t>
            </a:r>
            <a:endParaRPr lang="it-IT" sz="900" dirty="0"/>
          </a:p>
        </p:txBody>
      </p:sp>
      <p:sp>
        <p:nvSpPr>
          <p:cNvPr id="10" name="voce 1"/>
          <p:cNvSpPr/>
          <p:nvPr/>
        </p:nvSpPr>
        <p:spPr>
          <a:xfrm>
            <a:off x="457200" y="1051560"/>
            <a:ext cx="8229600" cy="475488"/>
          </a:xfrm>
          <a:prstGeom prst="roundRect">
            <a:avLst>
              <a:gd name="adj" fmla="val 15385"/>
            </a:avLst>
          </a:prstGeom>
          <a:solidFill>
            <a:schemeClr val="bg2"/>
          </a:solidFill>
          <a:ln/>
        </p:spPr>
      </p:sp>
      <p:sp>
        <p:nvSpPr>
          <p:cNvPr id="11" name="Text 8"/>
          <p:cNvSpPr txBox="1"/>
          <p:nvPr/>
        </p:nvSpPr>
        <p:spPr>
          <a:xfrm>
            <a:off x="566928" y="1051560"/>
            <a:ext cx="365760" cy="475488"/>
          </a:xfrm>
          <a:prstGeom prst="rect">
            <a:avLst/>
          </a:prstGeom>
          <a:noFill/>
          <a:ln/>
        </p:spPr>
        <p:txBody>
          <a:bodyPr wrap="square" lIns="0" tIns="0" rIns="0" bIns="0" rtlCol="0" anchor="ctr"/>
          <a:lstStyle/>
          <a:p>
            <a:pPr indent="0" marL="0">
              <a:buNone/>
            </a:pPr>
            <a:r>
              <a:rPr lang="it-IT" sz="1500" b="1" dirty="0">
                <a:solidFill>
                  <a:schemeClr val="accent1"/>
                </a:solidFill>
              </a:rPr>
              <a:t>1</a:t>
            </a:r>
            <a:endParaRPr lang="it-IT" sz="1500" dirty="0"/>
          </a:p>
        </p:txBody>
      </p:sp>
      <p:sp>
        <p:nvSpPr>
          <p:cNvPr id="12" name="Text 9"/>
          <p:cNvSpPr txBox="1"/>
          <p:nvPr/>
        </p:nvSpPr>
        <p:spPr>
          <a:xfrm>
            <a:off x="960120" y="1051560"/>
            <a:ext cx="7589520" cy="475488"/>
          </a:xfrm>
          <a:prstGeom prst="rect">
            <a:avLst/>
          </a:prstGeom>
          <a:noFill/>
          <a:ln/>
        </p:spPr>
        <p:txBody>
          <a:bodyPr wrap="square" lIns="0" tIns="0" rIns="0" bIns="0" rtlCol="0" anchor="ctr"/>
          <a:lstStyle/>
          <a:p>
            <a:pPr indent="0" marL="0">
              <a:buNone/>
            </a:pPr>
            <a:r>
              <a:rPr lang="it-IT" sz="1300" dirty="0">
                <a:solidFill>
                  <a:schemeClr val="tx1"/>
                </a:solidFill>
              </a:rPr>
              <a:t>Informare i partecipanti prima di iniziare, anche dell'elaborazione con l'AI</a:t>
            </a:r>
            <a:endParaRPr lang="it-IT" sz="1300" dirty="0"/>
          </a:p>
        </p:txBody>
      </p:sp>
      <p:sp>
        <p:nvSpPr>
          <p:cNvPr id="13" name="voce 2"/>
          <p:cNvSpPr/>
          <p:nvPr/>
        </p:nvSpPr>
        <p:spPr>
          <a:xfrm>
            <a:off x="457200" y="1600200"/>
            <a:ext cx="8229600" cy="475488"/>
          </a:xfrm>
          <a:prstGeom prst="roundRect">
            <a:avLst>
              <a:gd name="adj" fmla="val 15385"/>
            </a:avLst>
          </a:prstGeom>
          <a:solidFill>
            <a:schemeClr val="bg1"/>
          </a:solidFill>
          <a:ln/>
        </p:spPr>
      </p:sp>
      <p:sp>
        <p:nvSpPr>
          <p:cNvPr id="14" name="Text 11"/>
          <p:cNvSpPr txBox="1"/>
          <p:nvPr/>
        </p:nvSpPr>
        <p:spPr>
          <a:xfrm>
            <a:off x="566928" y="1600200"/>
            <a:ext cx="365760" cy="475488"/>
          </a:xfrm>
          <a:prstGeom prst="rect">
            <a:avLst/>
          </a:prstGeom>
          <a:noFill/>
          <a:ln/>
        </p:spPr>
        <p:txBody>
          <a:bodyPr wrap="square" lIns="0" tIns="0" rIns="0" bIns="0" rtlCol="0" anchor="ctr"/>
          <a:lstStyle/>
          <a:p>
            <a:pPr indent="0" marL="0">
              <a:buNone/>
            </a:pPr>
            <a:r>
              <a:rPr lang="it-IT" sz="1500" b="1" dirty="0">
                <a:solidFill>
                  <a:schemeClr val="accent1"/>
                </a:solidFill>
              </a:rPr>
              <a:t>2</a:t>
            </a:r>
            <a:endParaRPr lang="it-IT" sz="1500" dirty="0"/>
          </a:p>
        </p:txBody>
      </p:sp>
      <p:sp>
        <p:nvSpPr>
          <p:cNvPr id="15" name="Text 12"/>
          <p:cNvSpPr txBox="1"/>
          <p:nvPr/>
        </p:nvSpPr>
        <p:spPr>
          <a:xfrm>
            <a:off x="960120" y="1600200"/>
            <a:ext cx="7589520" cy="475488"/>
          </a:xfrm>
          <a:prstGeom prst="rect">
            <a:avLst/>
          </a:prstGeom>
          <a:noFill/>
          <a:ln/>
        </p:spPr>
        <p:txBody>
          <a:bodyPr wrap="square" lIns="0" tIns="0" rIns="0" bIns="0" rtlCol="0" anchor="ctr"/>
          <a:lstStyle/>
          <a:p>
            <a:pPr indent="0" marL="0">
              <a:buNone/>
            </a:pPr>
            <a:r>
              <a:rPr lang="it-IT" sz="1300" dirty="0">
                <a:solidFill>
                  <a:schemeClr val="tx1"/>
                </a:solidFill>
              </a:rPr>
              <a:t>Seguire la policy aziendale: consenso o altre basi giuridiche, le definisce l'azienda</a:t>
            </a:r>
            <a:endParaRPr lang="it-IT" sz="1300" dirty="0"/>
          </a:p>
        </p:txBody>
      </p:sp>
      <p:sp>
        <p:nvSpPr>
          <p:cNvPr id="16" name="voce 3"/>
          <p:cNvSpPr/>
          <p:nvPr/>
        </p:nvSpPr>
        <p:spPr>
          <a:xfrm>
            <a:off x="457200" y="2148840"/>
            <a:ext cx="8229600" cy="475488"/>
          </a:xfrm>
          <a:prstGeom prst="roundRect">
            <a:avLst>
              <a:gd name="adj" fmla="val 15385"/>
            </a:avLst>
          </a:prstGeom>
          <a:solidFill>
            <a:schemeClr val="bg2"/>
          </a:solidFill>
          <a:ln/>
        </p:spPr>
      </p:sp>
      <p:sp>
        <p:nvSpPr>
          <p:cNvPr id="17" name="Text 14"/>
          <p:cNvSpPr txBox="1"/>
          <p:nvPr/>
        </p:nvSpPr>
        <p:spPr>
          <a:xfrm>
            <a:off x="566928" y="2148840"/>
            <a:ext cx="365760" cy="475488"/>
          </a:xfrm>
          <a:prstGeom prst="rect">
            <a:avLst/>
          </a:prstGeom>
          <a:noFill/>
          <a:ln/>
        </p:spPr>
        <p:txBody>
          <a:bodyPr wrap="square" lIns="0" tIns="0" rIns="0" bIns="0" rtlCol="0" anchor="ctr"/>
          <a:lstStyle/>
          <a:p>
            <a:pPr indent="0" marL="0">
              <a:buNone/>
            </a:pPr>
            <a:r>
              <a:rPr lang="it-IT" sz="1500" b="1" dirty="0">
                <a:solidFill>
                  <a:schemeClr val="accent1"/>
                </a:solidFill>
              </a:rPr>
              <a:t>3</a:t>
            </a:r>
            <a:endParaRPr lang="it-IT" sz="1500" dirty="0"/>
          </a:p>
        </p:txBody>
      </p:sp>
      <p:sp>
        <p:nvSpPr>
          <p:cNvPr id="18" name="Text 15"/>
          <p:cNvSpPr txBox="1"/>
          <p:nvPr/>
        </p:nvSpPr>
        <p:spPr>
          <a:xfrm>
            <a:off x="960120" y="2148840"/>
            <a:ext cx="7589520" cy="475488"/>
          </a:xfrm>
          <a:prstGeom prst="rect">
            <a:avLst/>
          </a:prstGeom>
          <a:noFill/>
          <a:ln/>
        </p:spPr>
        <p:txBody>
          <a:bodyPr wrap="square" lIns="0" tIns="0" rIns="0" bIns="0" rtlCol="0" anchor="ctr"/>
          <a:lstStyle/>
          <a:p>
            <a:pPr indent="0" marL="0">
              <a:buNone/>
            </a:pPr>
            <a:r>
              <a:rPr lang="it-IT" sz="1300" dirty="0">
                <a:solidFill>
                  <a:schemeClr val="tx1"/>
                </a:solidFill>
              </a:rPr>
              <a:t>Solo strumenti autorizzati: le registrazioni contengono informazioni riservate</a:t>
            </a:r>
            <a:endParaRPr lang="it-IT" sz="1300" dirty="0"/>
          </a:p>
        </p:txBody>
      </p:sp>
      <p:sp>
        <p:nvSpPr>
          <p:cNvPr id="19" name="voce 4"/>
          <p:cNvSpPr/>
          <p:nvPr/>
        </p:nvSpPr>
        <p:spPr>
          <a:xfrm>
            <a:off x="457200" y="2697480"/>
            <a:ext cx="8229600" cy="475488"/>
          </a:xfrm>
          <a:prstGeom prst="roundRect">
            <a:avLst>
              <a:gd name="adj" fmla="val 15385"/>
            </a:avLst>
          </a:prstGeom>
          <a:solidFill>
            <a:schemeClr val="bg1"/>
          </a:solidFill>
          <a:ln/>
        </p:spPr>
      </p:sp>
      <p:sp>
        <p:nvSpPr>
          <p:cNvPr id="20" name="Text 17"/>
          <p:cNvSpPr txBox="1"/>
          <p:nvPr/>
        </p:nvSpPr>
        <p:spPr>
          <a:xfrm>
            <a:off x="566928" y="2697480"/>
            <a:ext cx="365760" cy="475488"/>
          </a:xfrm>
          <a:prstGeom prst="rect">
            <a:avLst/>
          </a:prstGeom>
          <a:noFill/>
          <a:ln/>
        </p:spPr>
        <p:txBody>
          <a:bodyPr wrap="square" lIns="0" tIns="0" rIns="0" bIns="0" rtlCol="0" anchor="ctr"/>
          <a:lstStyle/>
          <a:p>
            <a:pPr indent="0" marL="0">
              <a:buNone/>
            </a:pPr>
            <a:r>
              <a:rPr lang="it-IT" sz="1500" b="1" dirty="0">
                <a:solidFill>
                  <a:schemeClr val="accent1"/>
                </a:solidFill>
              </a:rPr>
              <a:t>4</a:t>
            </a:r>
            <a:endParaRPr lang="it-IT" sz="1500" dirty="0"/>
          </a:p>
        </p:txBody>
      </p:sp>
      <p:sp>
        <p:nvSpPr>
          <p:cNvPr id="21" name="Text 18"/>
          <p:cNvSpPr txBox="1"/>
          <p:nvPr/>
        </p:nvSpPr>
        <p:spPr>
          <a:xfrm>
            <a:off x="960120" y="2697480"/>
            <a:ext cx="7589520" cy="475488"/>
          </a:xfrm>
          <a:prstGeom prst="rect">
            <a:avLst/>
          </a:prstGeom>
          <a:noFill/>
          <a:ln/>
        </p:spPr>
        <p:txBody>
          <a:bodyPr wrap="square" lIns="0" tIns="0" rIns="0" bIns="0" rtlCol="0" anchor="ctr"/>
          <a:lstStyle/>
          <a:p>
            <a:pPr indent="0" marL="0">
              <a:buNone/>
            </a:pPr>
            <a:r>
              <a:rPr lang="it-IT" sz="1300" dirty="0">
                <a:solidFill>
                  <a:schemeClr val="tx1"/>
                </a:solidFill>
              </a:rPr>
              <a:t>Più attenzione con esterni: clienti, fornitori, candidati</a:t>
            </a:r>
            <a:endParaRPr lang="it-IT" sz="1300" dirty="0"/>
          </a:p>
        </p:txBody>
      </p:sp>
      <p:sp>
        <p:nvSpPr>
          <p:cNvPr id="22" name="voce 5"/>
          <p:cNvSpPr/>
          <p:nvPr/>
        </p:nvSpPr>
        <p:spPr>
          <a:xfrm>
            <a:off x="457200" y="3246120"/>
            <a:ext cx="8229600" cy="475488"/>
          </a:xfrm>
          <a:prstGeom prst="roundRect">
            <a:avLst>
              <a:gd name="adj" fmla="val 15385"/>
            </a:avLst>
          </a:prstGeom>
          <a:solidFill>
            <a:schemeClr val="bg2"/>
          </a:solidFill>
          <a:ln/>
        </p:spPr>
      </p:sp>
      <p:sp>
        <p:nvSpPr>
          <p:cNvPr id="23" name="Text 20"/>
          <p:cNvSpPr txBox="1"/>
          <p:nvPr/>
        </p:nvSpPr>
        <p:spPr>
          <a:xfrm>
            <a:off x="566928" y="3246120"/>
            <a:ext cx="365760" cy="475488"/>
          </a:xfrm>
          <a:prstGeom prst="rect">
            <a:avLst/>
          </a:prstGeom>
          <a:noFill/>
          <a:ln/>
        </p:spPr>
        <p:txBody>
          <a:bodyPr wrap="square" lIns="0" tIns="0" rIns="0" bIns="0" rtlCol="0" anchor="ctr"/>
          <a:lstStyle/>
          <a:p>
            <a:pPr indent="0" marL="0">
              <a:buNone/>
            </a:pPr>
            <a:r>
              <a:rPr lang="it-IT" sz="1500" b="1" dirty="0">
                <a:solidFill>
                  <a:schemeClr val="accent1"/>
                </a:solidFill>
              </a:rPr>
              <a:t>5</a:t>
            </a:r>
            <a:endParaRPr lang="it-IT" sz="1500" dirty="0"/>
          </a:p>
        </p:txBody>
      </p:sp>
      <p:sp>
        <p:nvSpPr>
          <p:cNvPr id="24" name="Text 21"/>
          <p:cNvSpPr txBox="1"/>
          <p:nvPr/>
        </p:nvSpPr>
        <p:spPr>
          <a:xfrm>
            <a:off x="960120" y="3246120"/>
            <a:ext cx="7589520" cy="475488"/>
          </a:xfrm>
          <a:prstGeom prst="rect">
            <a:avLst/>
          </a:prstGeom>
          <a:noFill/>
          <a:ln/>
        </p:spPr>
        <p:txBody>
          <a:bodyPr wrap="square" lIns="0" tIns="0" rIns="0" bIns="0" rtlCol="0" anchor="ctr"/>
          <a:lstStyle/>
          <a:p>
            <a:pPr indent="0" marL="0">
              <a:buNone/>
            </a:pPr>
            <a:r>
              <a:rPr lang="it-IT" sz="1300" dirty="0">
                <a:solidFill>
                  <a:schemeClr val="tx1"/>
                </a:solidFill>
              </a:rPr>
              <a:t>Conservazione e accesso definiti; mai registrazioni nascoste</a:t>
            </a:r>
            <a:endParaRPr lang="it-IT" sz="1300" dirty="0"/>
          </a:p>
        </p:txBody>
      </p:sp>
      <p:sp>
        <p:nvSpPr>
          <p:cNvPr id="25" name="messaggio"/>
          <p:cNvSpPr/>
          <p:nvPr/>
        </p:nvSpPr>
        <p:spPr>
          <a:xfrm>
            <a:off x="457200" y="3886200"/>
            <a:ext cx="8229600" cy="594360"/>
          </a:xfrm>
          <a:prstGeom prst="roundRect">
            <a:avLst>
              <a:gd name="adj" fmla="val 12308"/>
            </a:avLst>
          </a:prstGeom>
          <a:solidFill>
            <a:schemeClr val="tx1"/>
          </a:solidFill>
          <a:ln/>
        </p:spPr>
      </p:sp>
      <p:sp>
        <p:nvSpPr>
          <p:cNvPr id="26" name="Text 23"/>
          <p:cNvSpPr txBox="1"/>
          <p:nvPr/>
        </p:nvSpPr>
        <p:spPr>
          <a:xfrm>
            <a:off x="640080" y="3886200"/>
            <a:ext cx="7863840" cy="594360"/>
          </a:xfrm>
          <a:prstGeom prst="rect">
            <a:avLst/>
          </a:prstGeom>
          <a:noFill/>
          <a:ln/>
        </p:spPr>
        <p:txBody>
          <a:bodyPr wrap="square" lIns="0" tIns="0" rIns="0" bIns="0" rtlCol="0" anchor="ctr"/>
          <a:lstStyle/>
          <a:p>
            <a:pPr indent="0" marL="0">
              <a:buNone/>
            </a:pPr>
            <a:r>
              <a:rPr lang="it-IT" sz="1300" dirty="0">
                <a:solidFill>
                  <a:schemeClr val="bg1"/>
                </a:solidFill>
              </a:rPr>
              <a:t>Il consenso non è sempre l'unica base possibile; informare le persone è sempre necessario.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32</a:t>
            </a:fld>
            <a:endParaRPr lang="it-IT"/>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10.5</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AI per comprensione e generazione video</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Sintetizzare, spiegare e produrre video diventa più rapido; autenticità e provenienza richiedono verifiche adeguate</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33</a:t>
            </a:fld>
            <a:endParaRPr lang="it-IT"/>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Comprendere i video</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Trasformare</a:t>
            </a:r>
            <a:endParaRPr lang="it-IT" sz="900" dirty="0"/>
          </a:p>
        </p:txBody>
      </p:sp>
      <p:sp>
        <p:nvSpPr>
          <p:cNvPr id="10" name="Sintesi di webinar e filmati"/>
          <p:cNvSpPr/>
          <p:nvPr/>
        </p:nvSpPr>
        <p:spPr>
          <a:xfrm>
            <a:off x="457200" y="1051560"/>
            <a:ext cx="4023360" cy="1005840"/>
          </a:xfrm>
          <a:prstGeom prst="roundRect">
            <a:avLst>
              <a:gd name="adj" fmla="val 7273"/>
            </a:avLst>
          </a:prstGeom>
          <a:solidFill>
            <a:schemeClr val="bg2"/>
          </a:solidFill>
          <a:ln/>
        </p:spPr>
      </p:sp>
      <p:sp>
        <p:nvSpPr>
          <p:cNvPr id="11" name="cerchio FiAlignLeft"/>
          <p:cNvSpPr/>
          <p:nvPr/>
        </p:nvSpPr>
        <p:spPr>
          <a:xfrm>
            <a:off x="621792" y="1216152"/>
            <a:ext cx="438912" cy="438912"/>
          </a:xfrm>
          <a:prstGeom prst="ellipse">
            <a:avLst/>
          </a:prstGeom>
          <a:solidFill>
            <a:schemeClr val="accent1"/>
          </a:solidFill>
          <a:ln/>
        </p:spPr>
      </p:sp>
      <p:pic>
        <p:nvPicPr>
          <p:cNvPr id="12" name="Image 0" descr="FiAlignLeft">    </p:cNvPr>
          <p:cNvPicPr>
            <a:picLocks noChangeAspect="1"/>
          </p:cNvPicPr>
          <p:nvPr/>
        </p:nvPicPr>
        <p:blipFill>
          <a:blip r:embed="rId1"/>
          <a:stretch>
            <a:fillRect/>
          </a:stretch>
        </p:blipFill>
        <p:spPr>
          <a:xfrm>
            <a:off x="731520" y="1325880"/>
            <a:ext cx="219456" cy="219456"/>
          </a:xfrm>
          <a:prstGeom prst="rect">
            <a:avLst/>
          </a:prstGeom>
        </p:spPr>
      </p:pic>
      <p:sp>
        <p:nvSpPr>
          <p:cNvPr id="13" name="Text 9"/>
          <p:cNvSpPr txBox="1"/>
          <p:nvPr/>
        </p:nvSpPr>
        <p:spPr>
          <a:xfrm>
            <a:off x="1170432" y="1179576"/>
            <a:ext cx="3200400" cy="512064"/>
          </a:xfrm>
          <a:prstGeom prst="rect">
            <a:avLst/>
          </a:prstGeom>
          <a:noFill/>
          <a:ln/>
        </p:spPr>
        <p:txBody>
          <a:bodyPr wrap="square" lIns="0" tIns="0" rIns="0" bIns="0" rtlCol="0" anchor="ctr"/>
          <a:lstStyle/>
          <a:p>
            <a:pPr indent="0" marL="0">
              <a:buNone/>
            </a:pPr>
            <a:r>
              <a:rPr lang="it-IT" sz="1400" b="1" dirty="0">
                <a:solidFill>
                  <a:schemeClr val="tx1"/>
                </a:solidFill>
              </a:rPr>
              <a:t>Sintesi di webinar e filmati</a:t>
            </a:r>
            <a:endParaRPr lang="it-IT" sz="1400" dirty="0"/>
          </a:p>
        </p:txBody>
      </p:sp>
      <p:sp>
        <p:nvSpPr>
          <p:cNvPr id="14" name="Text 10"/>
          <p:cNvSpPr txBox="1"/>
          <p:nvPr/>
        </p:nvSpPr>
        <p:spPr>
          <a:xfrm>
            <a:off x="621792" y="1764792"/>
            <a:ext cx="3694176" cy="201168"/>
          </a:xfrm>
          <a:prstGeom prst="rect">
            <a:avLst/>
          </a:prstGeom>
          <a:noFill/>
          <a:ln/>
        </p:spPr>
        <p:txBody>
          <a:bodyPr wrap="square" lIns="0" tIns="0" rIns="0" bIns="0" rtlCol="0" anchor="t"/>
          <a:lstStyle/>
          <a:p>
            <a:pPr indent="0" marL="0">
              <a:buNone/>
            </a:pPr>
            <a:r>
              <a:rPr lang="it-IT" sz="1200" dirty="0">
                <a:solidFill>
                  <a:schemeClr val="tx2"/>
                </a:solidFill>
              </a:rPr>
              <a:t>Un'ora di registrazione in punti chiave</a:t>
            </a:r>
            <a:endParaRPr lang="it-IT" sz="1200" dirty="0"/>
          </a:p>
        </p:txBody>
      </p:sp>
      <p:sp>
        <p:nvSpPr>
          <p:cNvPr id="15" name="Capitoli e ricerca"/>
          <p:cNvSpPr/>
          <p:nvPr/>
        </p:nvSpPr>
        <p:spPr>
          <a:xfrm>
            <a:off x="4663440" y="1051560"/>
            <a:ext cx="4023360" cy="1005840"/>
          </a:xfrm>
          <a:prstGeom prst="roundRect">
            <a:avLst>
              <a:gd name="adj" fmla="val 7273"/>
            </a:avLst>
          </a:prstGeom>
          <a:solidFill>
            <a:schemeClr val="bg2"/>
          </a:solidFill>
          <a:ln/>
        </p:spPr>
      </p:sp>
      <p:sp>
        <p:nvSpPr>
          <p:cNvPr id="16" name="cerchio FiBookmark"/>
          <p:cNvSpPr/>
          <p:nvPr/>
        </p:nvSpPr>
        <p:spPr>
          <a:xfrm>
            <a:off x="4828032" y="1216152"/>
            <a:ext cx="438912" cy="438912"/>
          </a:xfrm>
          <a:prstGeom prst="ellipse">
            <a:avLst/>
          </a:prstGeom>
          <a:solidFill>
            <a:schemeClr val="accent1"/>
          </a:solidFill>
          <a:ln/>
        </p:spPr>
      </p:sp>
      <p:pic>
        <p:nvPicPr>
          <p:cNvPr id="17" name="Image 1" descr="FiBookmark">    </p:cNvPr>
          <p:cNvPicPr>
            <a:picLocks noChangeAspect="1"/>
          </p:cNvPicPr>
          <p:nvPr/>
        </p:nvPicPr>
        <p:blipFill>
          <a:blip r:embed="rId2"/>
          <a:stretch>
            <a:fillRect/>
          </a:stretch>
        </p:blipFill>
        <p:spPr>
          <a:xfrm>
            <a:off x="4937760" y="1325880"/>
            <a:ext cx="219456" cy="219456"/>
          </a:xfrm>
          <a:prstGeom prst="rect">
            <a:avLst/>
          </a:prstGeom>
        </p:spPr>
      </p:pic>
      <p:sp>
        <p:nvSpPr>
          <p:cNvPr id="18" name="Text 13"/>
          <p:cNvSpPr txBox="1"/>
          <p:nvPr/>
        </p:nvSpPr>
        <p:spPr>
          <a:xfrm>
            <a:off x="5376672" y="1179576"/>
            <a:ext cx="3200400" cy="512064"/>
          </a:xfrm>
          <a:prstGeom prst="rect">
            <a:avLst/>
          </a:prstGeom>
          <a:noFill/>
          <a:ln/>
        </p:spPr>
        <p:txBody>
          <a:bodyPr wrap="square" lIns="0" tIns="0" rIns="0" bIns="0" rtlCol="0" anchor="ctr"/>
          <a:lstStyle/>
          <a:p>
            <a:pPr indent="0" marL="0">
              <a:buNone/>
            </a:pPr>
            <a:r>
              <a:rPr lang="it-IT" sz="1400" b="1" dirty="0">
                <a:solidFill>
                  <a:schemeClr val="tx1"/>
                </a:solidFill>
              </a:rPr>
              <a:t>Capitoli e ricerca</a:t>
            </a:r>
            <a:endParaRPr lang="it-IT" sz="1400" dirty="0"/>
          </a:p>
        </p:txBody>
      </p:sp>
      <p:sp>
        <p:nvSpPr>
          <p:cNvPr id="19" name="Text 14"/>
          <p:cNvSpPr txBox="1"/>
          <p:nvPr/>
        </p:nvSpPr>
        <p:spPr>
          <a:xfrm>
            <a:off x="4828032" y="1764792"/>
            <a:ext cx="3694176" cy="201168"/>
          </a:xfrm>
          <a:prstGeom prst="rect">
            <a:avLst/>
          </a:prstGeom>
          <a:noFill/>
          <a:ln/>
        </p:spPr>
        <p:txBody>
          <a:bodyPr wrap="square" lIns="0" tIns="0" rIns="0" bIns="0" rtlCol="0" anchor="t"/>
          <a:lstStyle/>
          <a:p>
            <a:pPr indent="0" marL="0">
              <a:buNone/>
            </a:pPr>
            <a:r>
              <a:rPr lang="it-IT" sz="1200" dirty="0">
                <a:solidFill>
                  <a:schemeClr val="tx2"/>
                </a:solidFill>
              </a:rPr>
              <a:t>Archivi formativi navigabili per argomento</a:t>
            </a:r>
            <a:endParaRPr lang="it-IT" sz="1200" dirty="0"/>
          </a:p>
        </p:txBody>
      </p:sp>
      <p:sp>
        <p:nvSpPr>
          <p:cNvPr id="20" name="Istruzioni da video"/>
          <p:cNvSpPr/>
          <p:nvPr/>
        </p:nvSpPr>
        <p:spPr>
          <a:xfrm>
            <a:off x="457200" y="2240280"/>
            <a:ext cx="4023360" cy="1005840"/>
          </a:xfrm>
          <a:prstGeom prst="roundRect">
            <a:avLst>
              <a:gd name="adj" fmla="val 7273"/>
            </a:avLst>
          </a:prstGeom>
          <a:solidFill>
            <a:schemeClr val="bg2"/>
          </a:solidFill>
          <a:ln/>
        </p:spPr>
      </p:sp>
      <p:sp>
        <p:nvSpPr>
          <p:cNvPr id="21" name="cerchio FiList"/>
          <p:cNvSpPr/>
          <p:nvPr/>
        </p:nvSpPr>
        <p:spPr>
          <a:xfrm>
            <a:off x="621792" y="2404872"/>
            <a:ext cx="438912" cy="438912"/>
          </a:xfrm>
          <a:prstGeom prst="ellipse">
            <a:avLst/>
          </a:prstGeom>
          <a:solidFill>
            <a:schemeClr val="accent1"/>
          </a:solidFill>
          <a:ln/>
        </p:spPr>
      </p:sp>
      <p:pic>
        <p:nvPicPr>
          <p:cNvPr id="22" name="Image 2" descr="FiList">    </p:cNvPr>
          <p:cNvPicPr>
            <a:picLocks noChangeAspect="1"/>
          </p:cNvPicPr>
          <p:nvPr/>
        </p:nvPicPr>
        <p:blipFill>
          <a:blip r:embed="rId3"/>
          <a:stretch>
            <a:fillRect/>
          </a:stretch>
        </p:blipFill>
        <p:spPr>
          <a:xfrm>
            <a:off x="731520" y="2514600"/>
            <a:ext cx="219456" cy="219456"/>
          </a:xfrm>
          <a:prstGeom prst="rect">
            <a:avLst/>
          </a:prstGeom>
        </p:spPr>
      </p:pic>
      <p:sp>
        <p:nvSpPr>
          <p:cNvPr id="23" name="Text 17"/>
          <p:cNvSpPr txBox="1"/>
          <p:nvPr/>
        </p:nvSpPr>
        <p:spPr>
          <a:xfrm>
            <a:off x="1170432" y="2368296"/>
            <a:ext cx="3200400" cy="512064"/>
          </a:xfrm>
          <a:prstGeom prst="rect">
            <a:avLst/>
          </a:prstGeom>
          <a:noFill/>
          <a:ln/>
        </p:spPr>
        <p:txBody>
          <a:bodyPr wrap="square" lIns="0" tIns="0" rIns="0" bIns="0" rtlCol="0" anchor="ctr"/>
          <a:lstStyle/>
          <a:p>
            <a:pPr indent="0" marL="0">
              <a:buNone/>
            </a:pPr>
            <a:r>
              <a:rPr lang="it-IT" sz="1400" b="1" dirty="0">
                <a:solidFill>
                  <a:schemeClr val="tx1"/>
                </a:solidFill>
              </a:rPr>
              <a:t>Istruzioni da video</a:t>
            </a:r>
            <a:endParaRPr lang="it-IT" sz="1400" dirty="0"/>
          </a:p>
        </p:txBody>
      </p:sp>
      <p:sp>
        <p:nvSpPr>
          <p:cNvPr id="24" name="Text 18"/>
          <p:cNvSpPr txBox="1"/>
          <p:nvPr/>
        </p:nvSpPr>
        <p:spPr>
          <a:xfrm>
            <a:off x="621792" y="2953512"/>
            <a:ext cx="3694176" cy="201168"/>
          </a:xfrm>
          <a:prstGeom prst="rect">
            <a:avLst/>
          </a:prstGeom>
          <a:noFill/>
          <a:ln/>
        </p:spPr>
        <p:txBody>
          <a:bodyPr wrap="square" lIns="0" tIns="0" rIns="0" bIns="0" rtlCol="0" anchor="t"/>
          <a:lstStyle/>
          <a:p>
            <a:pPr indent="0" marL="0">
              <a:buNone/>
            </a:pPr>
            <a:r>
              <a:rPr lang="it-IT" sz="1200" dirty="0">
                <a:solidFill>
                  <a:schemeClr val="tx2"/>
                </a:solidFill>
              </a:rPr>
              <a:t>Una procedura dimostrata diventa passaggi scritti</a:t>
            </a:r>
            <a:endParaRPr lang="it-IT" sz="1200" dirty="0"/>
          </a:p>
        </p:txBody>
      </p:sp>
      <p:sp>
        <p:nvSpPr>
          <p:cNvPr id="25" name="Testi a schermo"/>
          <p:cNvSpPr/>
          <p:nvPr/>
        </p:nvSpPr>
        <p:spPr>
          <a:xfrm>
            <a:off x="4663440" y="2240280"/>
            <a:ext cx="4023360" cy="1005840"/>
          </a:xfrm>
          <a:prstGeom prst="roundRect">
            <a:avLst>
              <a:gd name="adj" fmla="val 7273"/>
            </a:avLst>
          </a:prstGeom>
          <a:solidFill>
            <a:schemeClr val="bg2"/>
          </a:solidFill>
          <a:ln/>
        </p:spPr>
      </p:sp>
      <p:sp>
        <p:nvSpPr>
          <p:cNvPr id="26" name="cerchio FiMonitor"/>
          <p:cNvSpPr/>
          <p:nvPr/>
        </p:nvSpPr>
        <p:spPr>
          <a:xfrm>
            <a:off x="4828032" y="2404872"/>
            <a:ext cx="438912" cy="438912"/>
          </a:xfrm>
          <a:prstGeom prst="ellipse">
            <a:avLst/>
          </a:prstGeom>
          <a:solidFill>
            <a:schemeClr val="accent1"/>
          </a:solidFill>
          <a:ln/>
        </p:spPr>
      </p:sp>
      <p:pic>
        <p:nvPicPr>
          <p:cNvPr id="27" name="Image 3" descr="FiMonitor">    </p:cNvPr>
          <p:cNvPicPr>
            <a:picLocks noChangeAspect="1"/>
          </p:cNvPicPr>
          <p:nvPr/>
        </p:nvPicPr>
        <p:blipFill>
          <a:blip r:embed="rId4"/>
          <a:stretch>
            <a:fillRect/>
          </a:stretch>
        </p:blipFill>
        <p:spPr>
          <a:xfrm>
            <a:off x="4937760" y="2514600"/>
            <a:ext cx="219456" cy="219456"/>
          </a:xfrm>
          <a:prstGeom prst="rect">
            <a:avLst/>
          </a:prstGeom>
        </p:spPr>
      </p:pic>
      <p:sp>
        <p:nvSpPr>
          <p:cNvPr id="28" name="Text 21"/>
          <p:cNvSpPr txBox="1"/>
          <p:nvPr/>
        </p:nvSpPr>
        <p:spPr>
          <a:xfrm>
            <a:off x="5376672" y="2368296"/>
            <a:ext cx="3200400" cy="512064"/>
          </a:xfrm>
          <a:prstGeom prst="rect">
            <a:avLst/>
          </a:prstGeom>
          <a:noFill/>
          <a:ln/>
        </p:spPr>
        <p:txBody>
          <a:bodyPr wrap="square" lIns="0" tIns="0" rIns="0" bIns="0" rtlCol="0" anchor="ctr"/>
          <a:lstStyle/>
          <a:p>
            <a:pPr indent="0" marL="0">
              <a:buNone/>
            </a:pPr>
            <a:r>
              <a:rPr lang="it-IT" sz="1400" b="1" dirty="0">
                <a:solidFill>
                  <a:schemeClr val="tx1"/>
                </a:solidFill>
              </a:rPr>
              <a:t>Testi a schermo</a:t>
            </a:r>
            <a:endParaRPr lang="it-IT" sz="1400" dirty="0"/>
          </a:p>
        </p:txBody>
      </p:sp>
      <p:sp>
        <p:nvSpPr>
          <p:cNvPr id="29" name="Text 22"/>
          <p:cNvSpPr txBox="1"/>
          <p:nvPr/>
        </p:nvSpPr>
        <p:spPr>
          <a:xfrm>
            <a:off x="4828032" y="2953512"/>
            <a:ext cx="3694176" cy="201168"/>
          </a:xfrm>
          <a:prstGeom prst="rect">
            <a:avLst/>
          </a:prstGeom>
          <a:noFill/>
          <a:ln/>
        </p:spPr>
        <p:txBody>
          <a:bodyPr wrap="square" lIns="0" tIns="0" rIns="0" bIns="0" rtlCol="0" anchor="t"/>
          <a:lstStyle/>
          <a:p>
            <a:pPr indent="0" marL="0">
              <a:buNone/>
            </a:pPr>
            <a:r>
              <a:rPr lang="it-IT" sz="1200" dirty="0">
                <a:solidFill>
                  <a:schemeClr val="tx2"/>
                </a:solidFill>
              </a:rPr>
              <a:t>Slide e scritte mostrate nel video</a:t>
            </a:r>
            <a:endParaRPr lang="it-IT" sz="1200" dirty="0"/>
          </a:p>
        </p:txBody>
      </p:sp>
      <p:sp>
        <p:nvSpPr>
          <p:cNvPr id="30" name="scheda Fotogrammi selezionati"/>
          <p:cNvSpPr/>
          <p:nvPr/>
        </p:nvSpPr>
        <p:spPr>
          <a:xfrm>
            <a:off x="457200" y="3429000"/>
            <a:ext cx="3977640" cy="1097280"/>
          </a:xfrm>
          <a:prstGeom prst="roundRect">
            <a:avLst>
              <a:gd name="adj" fmla="val 6667"/>
            </a:avLst>
          </a:prstGeom>
          <a:solidFill>
            <a:schemeClr val="bg2"/>
          </a:solidFill>
          <a:ln/>
        </p:spPr>
      </p:sp>
      <p:sp>
        <p:nvSpPr>
          <p:cNvPr id="31" name="Text 24"/>
          <p:cNvSpPr txBox="1"/>
          <p:nvPr/>
        </p:nvSpPr>
        <p:spPr>
          <a:xfrm>
            <a:off x="640080" y="3611880"/>
            <a:ext cx="3611880" cy="347472"/>
          </a:xfrm>
          <a:prstGeom prst="rect">
            <a:avLst/>
          </a:prstGeom>
          <a:noFill/>
          <a:ln/>
        </p:spPr>
        <p:txBody>
          <a:bodyPr wrap="square" lIns="0" tIns="0" rIns="0" bIns="0" rtlCol="0" anchor="t"/>
          <a:lstStyle/>
          <a:p>
            <a:pPr indent="0" marL="0">
              <a:buNone/>
            </a:pPr>
            <a:r>
              <a:rPr lang="it-IT" sz="1300" b="1" dirty="0">
                <a:solidFill>
                  <a:schemeClr val="tx1"/>
                </a:solidFill>
              </a:rPr>
              <a:t>Fotogrammi selezionati</a:t>
            </a:r>
            <a:endParaRPr lang="it-IT" sz="1300" dirty="0"/>
          </a:p>
        </p:txBody>
      </p:sp>
      <p:sp>
        <p:nvSpPr>
          <p:cNvPr id="32" name="Text 25"/>
          <p:cNvSpPr txBox="1"/>
          <p:nvPr/>
        </p:nvSpPr>
        <p:spPr>
          <a:xfrm>
            <a:off x="640080" y="3995928"/>
            <a:ext cx="3611880" cy="420624"/>
          </a:xfrm>
          <a:prstGeom prst="rect">
            <a:avLst/>
          </a:prstGeom>
          <a:noFill/>
          <a:ln/>
        </p:spPr>
        <p:txBody>
          <a:bodyPr wrap="square" lIns="0" tIns="0" rIns="0" bIns="0" rtlCol="0" anchor="t"/>
          <a:lstStyle/>
          <a:p>
            <a:pPr indent="0" marL="0">
              <a:buNone/>
            </a:pPr>
            <a:r>
              <a:rPr lang="it-IT" sz="1200" dirty="0">
                <a:solidFill>
                  <a:schemeClr val="tx2"/>
                </a:solidFill>
              </a:rPr>
              <a:t>Un evento molto rapido può sfuggire.</a:t>
            </a:r>
            <a:endParaRPr lang="it-IT" sz="1200" dirty="0"/>
          </a:p>
        </p:txBody>
      </p:sp>
      <p:sp>
        <p:nvSpPr>
          <p:cNvPr id="33" name="scheda Relazioni temporali"/>
          <p:cNvSpPr/>
          <p:nvPr/>
        </p:nvSpPr>
        <p:spPr>
          <a:xfrm>
            <a:off x="4709160" y="3429000"/>
            <a:ext cx="3977640" cy="1097280"/>
          </a:xfrm>
          <a:prstGeom prst="roundRect">
            <a:avLst>
              <a:gd name="adj" fmla="val 6667"/>
            </a:avLst>
          </a:prstGeom>
          <a:solidFill>
            <a:schemeClr val="accent6"/>
          </a:solidFill>
          <a:ln/>
        </p:spPr>
      </p:sp>
      <p:sp>
        <p:nvSpPr>
          <p:cNvPr id="34" name="Text 27"/>
          <p:cNvSpPr txBox="1"/>
          <p:nvPr/>
        </p:nvSpPr>
        <p:spPr>
          <a:xfrm>
            <a:off x="4892040" y="3611880"/>
            <a:ext cx="3611880" cy="347472"/>
          </a:xfrm>
          <a:prstGeom prst="rect">
            <a:avLst/>
          </a:prstGeom>
          <a:noFill/>
          <a:ln/>
        </p:spPr>
        <p:txBody>
          <a:bodyPr wrap="square" lIns="0" tIns="0" rIns="0" bIns="0" rtlCol="0" anchor="t"/>
          <a:lstStyle/>
          <a:p>
            <a:pPr indent="0" marL="0">
              <a:buNone/>
            </a:pPr>
            <a:r>
              <a:rPr lang="it-IT" sz="1300" b="1" dirty="0">
                <a:solidFill>
                  <a:schemeClr val="tx1"/>
                </a:solidFill>
              </a:rPr>
              <a:t>Relazioni temporali</a:t>
            </a:r>
            <a:endParaRPr lang="it-IT" sz="1300" dirty="0"/>
          </a:p>
        </p:txBody>
      </p:sp>
      <p:sp>
        <p:nvSpPr>
          <p:cNvPr id="35" name="Text 28"/>
          <p:cNvSpPr txBox="1"/>
          <p:nvPr/>
        </p:nvSpPr>
        <p:spPr>
          <a:xfrm>
            <a:off x="4892040" y="3995928"/>
            <a:ext cx="3611880" cy="420624"/>
          </a:xfrm>
          <a:prstGeom prst="rect">
            <a:avLst/>
          </a:prstGeom>
          <a:noFill/>
          <a:ln/>
        </p:spPr>
        <p:txBody>
          <a:bodyPr wrap="square" lIns="0" tIns="0" rIns="0" bIns="0" rtlCol="0" anchor="t"/>
          <a:lstStyle/>
          <a:p>
            <a:pPr indent="0" marL="0">
              <a:buNone/>
            </a:pPr>
            <a:r>
              <a:rPr lang="it-IT" sz="1200" dirty="0">
                <a:solidFill>
                  <a:schemeClr val="tx2"/>
                </a:solidFill>
              </a:rPr>
              <a:t>Prima, dopo, durata: da controllare sui passaggi chiave.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34</a:t>
            </a:fld>
            <a:endParaRPr lang="it-IT"/>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Generare e modificare video</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sp>
        <p:nvSpPr>
          <p:cNvPr id="10" name="Video formativi"/>
          <p:cNvSpPr/>
          <p:nvPr/>
        </p:nvSpPr>
        <p:spPr>
          <a:xfrm>
            <a:off x="457200" y="1051560"/>
            <a:ext cx="2621280" cy="1234440"/>
          </a:xfrm>
          <a:prstGeom prst="roundRect">
            <a:avLst>
              <a:gd name="adj" fmla="val 5926"/>
            </a:avLst>
          </a:prstGeom>
          <a:solidFill>
            <a:schemeClr val="bg2"/>
          </a:solidFill>
          <a:ln/>
        </p:spPr>
      </p:sp>
      <p:sp>
        <p:nvSpPr>
          <p:cNvPr id="11" name="cerchio FiBookOpen"/>
          <p:cNvSpPr/>
          <p:nvPr/>
        </p:nvSpPr>
        <p:spPr>
          <a:xfrm>
            <a:off x="621792" y="1216152"/>
            <a:ext cx="438912" cy="438912"/>
          </a:xfrm>
          <a:prstGeom prst="ellipse">
            <a:avLst/>
          </a:prstGeom>
          <a:solidFill>
            <a:schemeClr val="accent1"/>
          </a:solidFill>
          <a:ln/>
        </p:spPr>
      </p:sp>
      <p:pic>
        <p:nvPicPr>
          <p:cNvPr id="12" name="Image 0" descr="FiBookOpen">    </p:cNvPr>
          <p:cNvPicPr>
            <a:picLocks noChangeAspect="1"/>
          </p:cNvPicPr>
          <p:nvPr/>
        </p:nvPicPr>
        <p:blipFill>
          <a:blip r:embed="rId1"/>
          <a:stretch>
            <a:fillRect/>
          </a:stretch>
        </p:blipFill>
        <p:spPr>
          <a:xfrm>
            <a:off x="731520" y="1325880"/>
            <a:ext cx="219456" cy="219456"/>
          </a:xfrm>
          <a:prstGeom prst="rect">
            <a:avLst/>
          </a:prstGeom>
        </p:spPr>
      </p:pic>
      <p:sp>
        <p:nvSpPr>
          <p:cNvPr id="13" name="Text 9"/>
          <p:cNvSpPr txBox="1"/>
          <p:nvPr/>
        </p:nvSpPr>
        <p:spPr>
          <a:xfrm>
            <a:off x="117043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Video formativi</a:t>
            </a:r>
            <a:endParaRPr lang="it-IT" sz="1300" dirty="0"/>
          </a:p>
        </p:txBody>
      </p:sp>
      <p:sp>
        <p:nvSpPr>
          <p:cNvPr id="14" name="Text 10"/>
          <p:cNvSpPr txBox="1"/>
          <p:nvPr/>
        </p:nvSpPr>
        <p:spPr>
          <a:xfrm>
            <a:off x="621792" y="1764792"/>
            <a:ext cx="2292096" cy="429768"/>
          </a:xfrm>
          <a:prstGeom prst="rect">
            <a:avLst/>
          </a:prstGeom>
          <a:noFill/>
          <a:ln/>
        </p:spPr>
        <p:txBody>
          <a:bodyPr wrap="square" lIns="0" tIns="0" rIns="0" bIns="0" rtlCol="0" anchor="t"/>
          <a:lstStyle/>
          <a:p>
            <a:pPr indent="0" marL="0">
              <a:buNone/>
            </a:pPr>
            <a:r>
              <a:rPr lang="it-IT" sz="1200" dirty="0">
                <a:solidFill>
                  <a:schemeClr val="tx2"/>
                </a:solidFill>
              </a:rPr>
              <a:t>Prodotti e aggiornati senza nuove riprese</a:t>
            </a:r>
            <a:endParaRPr lang="it-IT" sz="1200" dirty="0"/>
          </a:p>
        </p:txBody>
      </p:sp>
      <p:sp>
        <p:nvSpPr>
          <p:cNvPr id="15" name="Animazioni esplicative"/>
          <p:cNvSpPr/>
          <p:nvPr/>
        </p:nvSpPr>
        <p:spPr>
          <a:xfrm>
            <a:off x="3261360" y="1051560"/>
            <a:ext cx="2621280" cy="1234440"/>
          </a:xfrm>
          <a:prstGeom prst="roundRect">
            <a:avLst>
              <a:gd name="adj" fmla="val 5926"/>
            </a:avLst>
          </a:prstGeom>
          <a:solidFill>
            <a:schemeClr val="bg2"/>
          </a:solidFill>
          <a:ln/>
        </p:spPr>
      </p:sp>
      <p:sp>
        <p:nvSpPr>
          <p:cNvPr id="16" name="cerchio FiPlayCircle"/>
          <p:cNvSpPr/>
          <p:nvPr/>
        </p:nvSpPr>
        <p:spPr>
          <a:xfrm>
            <a:off x="3425952" y="1216152"/>
            <a:ext cx="438912" cy="438912"/>
          </a:xfrm>
          <a:prstGeom prst="ellipse">
            <a:avLst/>
          </a:prstGeom>
          <a:solidFill>
            <a:schemeClr val="accent1"/>
          </a:solidFill>
          <a:ln/>
        </p:spPr>
      </p:sp>
      <p:pic>
        <p:nvPicPr>
          <p:cNvPr id="17" name="Image 1" descr="FiPlayCircle">    </p:cNvPr>
          <p:cNvPicPr>
            <a:picLocks noChangeAspect="1"/>
          </p:cNvPicPr>
          <p:nvPr/>
        </p:nvPicPr>
        <p:blipFill>
          <a:blip r:embed="rId2"/>
          <a:stretch>
            <a:fillRect/>
          </a:stretch>
        </p:blipFill>
        <p:spPr>
          <a:xfrm>
            <a:off x="3535680" y="1325880"/>
            <a:ext cx="219456" cy="219456"/>
          </a:xfrm>
          <a:prstGeom prst="rect">
            <a:avLst/>
          </a:prstGeom>
        </p:spPr>
      </p:pic>
      <p:sp>
        <p:nvSpPr>
          <p:cNvPr id="18" name="Text 13"/>
          <p:cNvSpPr txBox="1"/>
          <p:nvPr/>
        </p:nvSpPr>
        <p:spPr>
          <a:xfrm>
            <a:off x="397459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Animazioni esplicative</a:t>
            </a:r>
            <a:endParaRPr lang="it-IT" sz="1300" dirty="0"/>
          </a:p>
        </p:txBody>
      </p:sp>
      <p:sp>
        <p:nvSpPr>
          <p:cNvPr id="19" name="Text 14"/>
          <p:cNvSpPr txBox="1"/>
          <p:nvPr/>
        </p:nvSpPr>
        <p:spPr>
          <a:xfrm>
            <a:off x="3425952" y="1764792"/>
            <a:ext cx="2292096" cy="429768"/>
          </a:xfrm>
          <a:prstGeom prst="rect">
            <a:avLst/>
          </a:prstGeom>
          <a:noFill/>
          <a:ln/>
        </p:spPr>
        <p:txBody>
          <a:bodyPr wrap="square" lIns="0" tIns="0" rIns="0" bIns="0" rtlCol="0" anchor="t"/>
          <a:lstStyle/>
          <a:p>
            <a:pPr indent="0" marL="0">
              <a:buNone/>
            </a:pPr>
            <a:r>
              <a:rPr lang="it-IT" sz="1200" dirty="0">
                <a:solidFill>
                  <a:schemeClr val="tx2"/>
                </a:solidFill>
              </a:rPr>
              <a:t>Processi, prodotti, flussi di lavoro</a:t>
            </a:r>
            <a:endParaRPr lang="it-IT" sz="1200" dirty="0"/>
          </a:p>
        </p:txBody>
      </p:sp>
      <p:sp>
        <p:nvSpPr>
          <p:cNvPr id="20" name="Presentatori virtuali"/>
          <p:cNvSpPr/>
          <p:nvPr/>
        </p:nvSpPr>
        <p:spPr>
          <a:xfrm>
            <a:off x="6065520" y="1051560"/>
            <a:ext cx="2621280" cy="1234440"/>
          </a:xfrm>
          <a:prstGeom prst="roundRect">
            <a:avLst>
              <a:gd name="adj" fmla="val 5926"/>
            </a:avLst>
          </a:prstGeom>
          <a:solidFill>
            <a:schemeClr val="bg2"/>
          </a:solidFill>
          <a:ln/>
        </p:spPr>
      </p:sp>
      <p:sp>
        <p:nvSpPr>
          <p:cNvPr id="21" name="cerchio FiUser"/>
          <p:cNvSpPr/>
          <p:nvPr/>
        </p:nvSpPr>
        <p:spPr>
          <a:xfrm>
            <a:off x="6230112" y="1216152"/>
            <a:ext cx="438912" cy="438912"/>
          </a:xfrm>
          <a:prstGeom prst="ellipse">
            <a:avLst/>
          </a:prstGeom>
          <a:solidFill>
            <a:schemeClr val="accent1"/>
          </a:solidFill>
          <a:ln/>
        </p:spPr>
      </p:sp>
      <p:pic>
        <p:nvPicPr>
          <p:cNvPr id="22" name="Image 2" descr="FiUser">    </p:cNvPr>
          <p:cNvPicPr>
            <a:picLocks noChangeAspect="1"/>
          </p:cNvPicPr>
          <p:nvPr/>
        </p:nvPicPr>
        <p:blipFill>
          <a:blip r:embed="rId3"/>
          <a:stretch>
            <a:fillRect/>
          </a:stretch>
        </p:blipFill>
        <p:spPr>
          <a:xfrm>
            <a:off x="6339840" y="1325880"/>
            <a:ext cx="219456" cy="219456"/>
          </a:xfrm>
          <a:prstGeom prst="rect">
            <a:avLst/>
          </a:prstGeom>
        </p:spPr>
      </p:pic>
      <p:sp>
        <p:nvSpPr>
          <p:cNvPr id="23" name="Text 17"/>
          <p:cNvSpPr txBox="1"/>
          <p:nvPr/>
        </p:nvSpPr>
        <p:spPr>
          <a:xfrm>
            <a:off x="677875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Presentatori virtuali</a:t>
            </a:r>
            <a:endParaRPr lang="it-IT" sz="1300" dirty="0"/>
          </a:p>
        </p:txBody>
      </p:sp>
      <p:sp>
        <p:nvSpPr>
          <p:cNvPr id="24" name="Text 18"/>
          <p:cNvSpPr txBox="1"/>
          <p:nvPr/>
        </p:nvSpPr>
        <p:spPr>
          <a:xfrm>
            <a:off x="6230112" y="1764792"/>
            <a:ext cx="2292096" cy="429768"/>
          </a:xfrm>
          <a:prstGeom prst="rect">
            <a:avLst/>
          </a:prstGeom>
          <a:noFill/>
          <a:ln/>
        </p:spPr>
        <p:txBody>
          <a:bodyPr wrap="square" lIns="0" tIns="0" rIns="0" bIns="0" rtlCol="0" anchor="t"/>
          <a:lstStyle/>
          <a:p>
            <a:pPr indent="0" marL="0">
              <a:buNone/>
            </a:pPr>
            <a:r>
              <a:rPr lang="it-IT" sz="1200" dirty="0">
                <a:solidFill>
                  <a:schemeClr val="tx2"/>
                </a:solidFill>
              </a:rPr>
              <a:t>Per contenuti standard, dichiarati come tali</a:t>
            </a:r>
            <a:endParaRPr lang="it-IT" sz="1200" dirty="0"/>
          </a:p>
        </p:txBody>
      </p:sp>
      <p:sp>
        <p:nvSpPr>
          <p:cNvPr id="25" name="Adattamento multilingue"/>
          <p:cNvSpPr/>
          <p:nvPr/>
        </p:nvSpPr>
        <p:spPr>
          <a:xfrm>
            <a:off x="457200" y="2468880"/>
            <a:ext cx="2621280" cy="1234440"/>
          </a:xfrm>
          <a:prstGeom prst="roundRect">
            <a:avLst>
              <a:gd name="adj" fmla="val 5926"/>
            </a:avLst>
          </a:prstGeom>
          <a:solidFill>
            <a:schemeClr val="bg2"/>
          </a:solidFill>
          <a:ln/>
        </p:spPr>
      </p:sp>
      <p:sp>
        <p:nvSpPr>
          <p:cNvPr id="26" name="cerchio FiGlobe"/>
          <p:cNvSpPr/>
          <p:nvPr/>
        </p:nvSpPr>
        <p:spPr>
          <a:xfrm>
            <a:off x="621792" y="2633472"/>
            <a:ext cx="438912" cy="438912"/>
          </a:xfrm>
          <a:prstGeom prst="ellipse">
            <a:avLst/>
          </a:prstGeom>
          <a:solidFill>
            <a:schemeClr val="accent1"/>
          </a:solidFill>
          <a:ln/>
        </p:spPr>
      </p:sp>
      <p:pic>
        <p:nvPicPr>
          <p:cNvPr id="27" name="Image 3" descr="FiGlobe">    </p:cNvPr>
          <p:cNvPicPr>
            <a:picLocks noChangeAspect="1"/>
          </p:cNvPicPr>
          <p:nvPr/>
        </p:nvPicPr>
        <p:blipFill>
          <a:blip r:embed="rId4"/>
          <a:stretch>
            <a:fillRect/>
          </a:stretch>
        </p:blipFill>
        <p:spPr>
          <a:xfrm>
            <a:off x="731520" y="2743200"/>
            <a:ext cx="219456" cy="219456"/>
          </a:xfrm>
          <a:prstGeom prst="rect">
            <a:avLst/>
          </a:prstGeom>
        </p:spPr>
      </p:pic>
      <p:sp>
        <p:nvSpPr>
          <p:cNvPr id="28" name="Text 21"/>
          <p:cNvSpPr txBox="1"/>
          <p:nvPr/>
        </p:nvSpPr>
        <p:spPr>
          <a:xfrm>
            <a:off x="1170432" y="259689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Adattamento multilingue</a:t>
            </a:r>
            <a:endParaRPr lang="it-IT" sz="1300" dirty="0"/>
          </a:p>
        </p:txBody>
      </p:sp>
      <p:sp>
        <p:nvSpPr>
          <p:cNvPr id="29" name="Text 22"/>
          <p:cNvSpPr txBox="1"/>
          <p:nvPr/>
        </p:nvSpPr>
        <p:spPr>
          <a:xfrm>
            <a:off x="621792" y="3182112"/>
            <a:ext cx="2292096" cy="429768"/>
          </a:xfrm>
          <a:prstGeom prst="rect">
            <a:avLst/>
          </a:prstGeom>
          <a:noFill/>
          <a:ln/>
        </p:spPr>
        <p:txBody>
          <a:bodyPr wrap="square" lIns="0" tIns="0" rIns="0" bIns="0" rtlCol="0" anchor="t"/>
          <a:lstStyle/>
          <a:p>
            <a:pPr indent="0" marL="0">
              <a:buNone/>
            </a:pPr>
            <a:r>
              <a:rPr lang="it-IT" sz="1200" dirty="0">
                <a:solidFill>
                  <a:schemeClr val="tx2"/>
                </a:solidFill>
              </a:rPr>
              <a:t>Doppiaggio, sottotitoli, labiale</a:t>
            </a:r>
            <a:endParaRPr lang="it-IT" sz="1200" dirty="0"/>
          </a:p>
        </p:txBody>
      </p:sp>
      <p:sp>
        <p:nvSpPr>
          <p:cNvPr id="30" name="Comunicazione"/>
          <p:cNvSpPr/>
          <p:nvPr/>
        </p:nvSpPr>
        <p:spPr>
          <a:xfrm>
            <a:off x="3261360" y="2468880"/>
            <a:ext cx="2621280" cy="1234440"/>
          </a:xfrm>
          <a:prstGeom prst="roundRect">
            <a:avLst>
              <a:gd name="adj" fmla="val 5926"/>
            </a:avLst>
          </a:prstGeom>
          <a:solidFill>
            <a:schemeClr val="bg2"/>
          </a:solidFill>
          <a:ln/>
        </p:spPr>
      </p:sp>
      <p:sp>
        <p:nvSpPr>
          <p:cNvPr id="31" name="cerchio FiSpeaker"/>
          <p:cNvSpPr/>
          <p:nvPr/>
        </p:nvSpPr>
        <p:spPr>
          <a:xfrm>
            <a:off x="3425952" y="2633472"/>
            <a:ext cx="438912" cy="438912"/>
          </a:xfrm>
          <a:prstGeom prst="ellipse">
            <a:avLst/>
          </a:prstGeom>
          <a:solidFill>
            <a:schemeClr val="accent1"/>
          </a:solidFill>
          <a:ln/>
        </p:spPr>
      </p:sp>
      <p:pic>
        <p:nvPicPr>
          <p:cNvPr id="32" name="Image 4" descr="FiSpeaker">    </p:cNvPr>
          <p:cNvPicPr>
            <a:picLocks noChangeAspect="1"/>
          </p:cNvPicPr>
          <p:nvPr/>
        </p:nvPicPr>
        <p:blipFill>
          <a:blip r:embed="rId5"/>
          <a:stretch>
            <a:fillRect/>
          </a:stretch>
        </p:blipFill>
        <p:spPr>
          <a:xfrm>
            <a:off x="3535680" y="2743200"/>
            <a:ext cx="219456" cy="219456"/>
          </a:xfrm>
          <a:prstGeom prst="rect">
            <a:avLst/>
          </a:prstGeom>
        </p:spPr>
      </p:pic>
      <p:sp>
        <p:nvSpPr>
          <p:cNvPr id="33" name="Text 25"/>
          <p:cNvSpPr txBox="1"/>
          <p:nvPr/>
        </p:nvSpPr>
        <p:spPr>
          <a:xfrm>
            <a:off x="3974592" y="259689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Comunicazione</a:t>
            </a:r>
            <a:endParaRPr lang="it-IT" sz="1300" dirty="0"/>
          </a:p>
        </p:txBody>
      </p:sp>
      <p:sp>
        <p:nvSpPr>
          <p:cNvPr id="34" name="Text 26"/>
          <p:cNvSpPr txBox="1"/>
          <p:nvPr/>
        </p:nvSpPr>
        <p:spPr>
          <a:xfrm>
            <a:off x="3425952" y="3182112"/>
            <a:ext cx="2292096" cy="429768"/>
          </a:xfrm>
          <a:prstGeom prst="rect">
            <a:avLst/>
          </a:prstGeom>
          <a:noFill/>
          <a:ln/>
        </p:spPr>
        <p:txBody>
          <a:bodyPr wrap="square" lIns="0" tIns="0" rIns="0" bIns="0" rtlCol="0" anchor="t"/>
          <a:lstStyle/>
          <a:p>
            <a:pPr indent="0" marL="0">
              <a:buNone/>
            </a:pPr>
            <a:r>
              <a:rPr lang="it-IT" sz="1200" dirty="0">
                <a:solidFill>
                  <a:schemeClr val="tx2"/>
                </a:solidFill>
              </a:rPr>
              <a:t>Contenuti brevi per intranet e social</a:t>
            </a:r>
            <a:endParaRPr lang="it-IT" sz="1200" dirty="0"/>
          </a:p>
        </p:txBody>
      </p:sp>
      <p:sp>
        <p:nvSpPr>
          <p:cNvPr id="35" name="Modifiche"/>
          <p:cNvSpPr/>
          <p:nvPr/>
        </p:nvSpPr>
        <p:spPr>
          <a:xfrm>
            <a:off x="6065520" y="2468880"/>
            <a:ext cx="2621280" cy="1234440"/>
          </a:xfrm>
          <a:prstGeom prst="roundRect">
            <a:avLst>
              <a:gd name="adj" fmla="val 5926"/>
            </a:avLst>
          </a:prstGeom>
          <a:solidFill>
            <a:schemeClr val="bg2"/>
          </a:solidFill>
          <a:ln/>
        </p:spPr>
      </p:sp>
      <p:sp>
        <p:nvSpPr>
          <p:cNvPr id="36" name="cerchio FiScissors"/>
          <p:cNvSpPr/>
          <p:nvPr/>
        </p:nvSpPr>
        <p:spPr>
          <a:xfrm>
            <a:off x="6230112" y="2633472"/>
            <a:ext cx="438912" cy="438912"/>
          </a:xfrm>
          <a:prstGeom prst="ellipse">
            <a:avLst/>
          </a:prstGeom>
          <a:solidFill>
            <a:schemeClr val="accent1"/>
          </a:solidFill>
          <a:ln/>
        </p:spPr>
      </p:sp>
      <p:pic>
        <p:nvPicPr>
          <p:cNvPr id="37" name="Image 5" descr="FiScissors">    </p:cNvPr>
          <p:cNvPicPr>
            <a:picLocks noChangeAspect="1"/>
          </p:cNvPicPr>
          <p:nvPr/>
        </p:nvPicPr>
        <p:blipFill>
          <a:blip r:embed="rId6"/>
          <a:stretch>
            <a:fillRect/>
          </a:stretch>
        </p:blipFill>
        <p:spPr>
          <a:xfrm>
            <a:off x="6339840" y="2743200"/>
            <a:ext cx="219456" cy="219456"/>
          </a:xfrm>
          <a:prstGeom prst="rect">
            <a:avLst/>
          </a:prstGeom>
        </p:spPr>
      </p:pic>
      <p:sp>
        <p:nvSpPr>
          <p:cNvPr id="38" name="Text 29"/>
          <p:cNvSpPr txBox="1"/>
          <p:nvPr/>
        </p:nvSpPr>
        <p:spPr>
          <a:xfrm>
            <a:off x="6778752" y="259689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Modifiche</a:t>
            </a:r>
            <a:endParaRPr lang="it-IT" sz="1300" dirty="0"/>
          </a:p>
        </p:txBody>
      </p:sp>
      <p:sp>
        <p:nvSpPr>
          <p:cNvPr id="39" name="Text 30"/>
          <p:cNvSpPr txBox="1"/>
          <p:nvPr/>
        </p:nvSpPr>
        <p:spPr>
          <a:xfrm>
            <a:off x="6230112" y="3182112"/>
            <a:ext cx="2292096" cy="429768"/>
          </a:xfrm>
          <a:prstGeom prst="rect">
            <a:avLst/>
          </a:prstGeom>
          <a:noFill/>
          <a:ln/>
        </p:spPr>
        <p:txBody>
          <a:bodyPr wrap="square" lIns="0" tIns="0" rIns="0" bIns="0" rtlCol="0" anchor="t"/>
          <a:lstStyle/>
          <a:p>
            <a:pPr indent="0" marL="0">
              <a:buNone/>
            </a:pPr>
            <a:r>
              <a:rPr lang="it-IT" sz="1200" dirty="0">
                <a:solidFill>
                  <a:schemeClr val="tx2"/>
                </a:solidFill>
              </a:rPr>
              <a:t>Sfondi, elementi, formati</a:t>
            </a:r>
            <a:endParaRPr lang="it-IT" sz="1200" dirty="0"/>
          </a:p>
        </p:txBody>
      </p:sp>
      <p:sp>
        <p:nvSpPr>
          <p:cNvPr id="40" name="limiti video"/>
          <p:cNvSpPr/>
          <p:nvPr/>
        </p:nvSpPr>
        <p:spPr>
          <a:xfrm>
            <a:off x="457200" y="3840480"/>
            <a:ext cx="8229600" cy="685800"/>
          </a:xfrm>
          <a:prstGeom prst="roundRect">
            <a:avLst>
              <a:gd name="adj" fmla="val 10667"/>
            </a:avLst>
          </a:prstGeom>
          <a:solidFill>
            <a:schemeClr val="tx1"/>
          </a:solidFill>
          <a:ln/>
        </p:spPr>
      </p:sp>
      <p:sp>
        <p:nvSpPr>
          <p:cNvPr id="41" name="Text 32"/>
          <p:cNvSpPr txBox="1"/>
          <p:nvPr/>
        </p:nvSpPr>
        <p:spPr>
          <a:xfrm>
            <a:off x="640080" y="3840480"/>
            <a:ext cx="7863840" cy="685800"/>
          </a:xfrm>
          <a:prstGeom prst="rect">
            <a:avLst/>
          </a:prstGeom>
          <a:noFill/>
          <a:ln/>
        </p:spPr>
        <p:txBody>
          <a:bodyPr wrap="square" lIns="0" tIns="0" rIns="0" bIns="0" rtlCol="0" anchor="ctr"/>
          <a:lstStyle/>
          <a:p>
            <a:pPr indent="0" marL="0">
              <a:buNone/>
            </a:pPr>
            <a:r>
              <a:rPr lang="it-IT" sz="1300" b="1" dirty="0">
                <a:solidFill>
                  <a:schemeClr val="accent6"/>
                </a:solidFill>
              </a:rPr>
              <a:t>Limiti in riduzione: </a:t>
            </a:r>
            <a:pPr indent="0" marL="0">
              <a:buNone/>
            </a:pPr>
            <a:r>
              <a:rPr lang="it-IT" sz="1300" dirty="0">
                <a:solidFill>
                  <a:schemeClr val="bg1"/>
                </a:solidFill>
              </a:rPr>
              <a:t>coerenza tra scene e controllo dell'azione. Per video lunghi servono montaggio e competenze.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35</a:t>
            </a:fld>
            <a:endParaRPr lang="it-IT"/>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Documentale o sintetico</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sp>
        <p:nvSpPr>
          <p:cNvPr id="10" name="scheda Contenuto documentale"/>
          <p:cNvSpPr/>
          <p:nvPr/>
        </p:nvSpPr>
        <p:spPr>
          <a:xfrm>
            <a:off x="457200" y="1097280"/>
            <a:ext cx="3977640" cy="2011680"/>
          </a:xfrm>
          <a:prstGeom prst="roundRect">
            <a:avLst>
              <a:gd name="adj" fmla="val 3636"/>
            </a:avLst>
          </a:prstGeom>
          <a:solidFill>
            <a:schemeClr val="bg2"/>
          </a:solidFill>
          <a:ln/>
        </p:spPr>
      </p:sp>
      <p:sp>
        <p:nvSpPr>
          <p:cNvPr id="11" name="cerchio FiVideo"/>
          <p:cNvSpPr/>
          <p:nvPr/>
        </p:nvSpPr>
        <p:spPr>
          <a:xfrm>
            <a:off x="640080" y="1280160"/>
            <a:ext cx="457200" cy="457200"/>
          </a:xfrm>
          <a:prstGeom prst="ellipse">
            <a:avLst/>
          </a:prstGeom>
          <a:solidFill>
            <a:schemeClr val="accent1"/>
          </a:solidFill>
          <a:ln/>
        </p:spPr>
      </p:sp>
      <p:pic>
        <p:nvPicPr>
          <p:cNvPr id="12" name="Image 0" descr="FiVideo">    </p:cNvPr>
          <p:cNvPicPr>
            <a:picLocks noChangeAspect="1"/>
          </p:cNvPicPr>
          <p:nvPr/>
        </p:nvPicPr>
        <p:blipFill>
          <a:blip r:embed="rId1"/>
          <a:stretch>
            <a:fillRect/>
          </a:stretch>
        </p:blipFill>
        <p:spPr>
          <a:xfrm>
            <a:off x="754380" y="1394460"/>
            <a:ext cx="228600" cy="228600"/>
          </a:xfrm>
          <a:prstGeom prst="rect">
            <a:avLst/>
          </a:prstGeom>
        </p:spPr>
      </p:pic>
      <p:sp>
        <p:nvSpPr>
          <p:cNvPr id="13" name="Text 9"/>
          <p:cNvSpPr txBox="1"/>
          <p:nvPr/>
        </p:nvSpPr>
        <p:spPr>
          <a:xfrm>
            <a:off x="640080" y="1847088"/>
            <a:ext cx="3611880" cy="347472"/>
          </a:xfrm>
          <a:prstGeom prst="rect">
            <a:avLst/>
          </a:prstGeom>
          <a:noFill/>
          <a:ln/>
        </p:spPr>
        <p:txBody>
          <a:bodyPr wrap="square" lIns="0" tIns="0" rIns="0" bIns="0" rtlCol="0" anchor="t"/>
          <a:lstStyle/>
          <a:p>
            <a:pPr indent="0" marL="0">
              <a:buNone/>
            </a:pPr>
            <a:r>
              <a:rPr lang="it-IT" sz="1500" b="1" dirty="0">
                <a:solidFill>
                  <a:schemeClr val="tx1"/>
                </a:solidFill>
              </a:rPr>
              <a:t>Contenuto documentale</a:t>
            </a:r>
            <a:endParaRPr lang="it-IT" sz="1500" dirty="0"/>
          </a:p>
        </p:txBody>
      </p:sp>
      <p:sp>
        <p:nvSpPr>
          <p:cNvPr id="14" name="Text 10"/>
          <p:cNvSpPr txBox="1"/>
          <p:nvPr/>
        </p:nvSpPr>
        <p:spPr>
          <a:xfrm>
            <a:off x="640080" y="2231136"/>
            <a:ext cx="3611880" cy="768096"/>
          </a:xfrm>
          <a:prstGeom prst="rect">
            <a:avLst/>
          </a:prstGeom>
          <a:noFill/>
          <a:ln/>
        </p:spPr>
        <p:txBody>
          <a:bodyPr wrap="square" lIns="0" tIns="0" rIns="0" bIns="0" rtlCol="0" anchor="t"/>
          <a:lstStyle/>
          <a:p>
            <a:pPr marL="177800" indent="-177800">
              <a:spcAft>
                <a:spcPts val="400"/>
              </a:spcAft>
              <a:buSzPct val="100000"/>
              <a:buChar char="•"/>
            </a:pPr>
            <a:r>
              <a:rPr lang="it-IT" sz="1200" dirty="0">
                <a:solidFill>
                  <a:schemeClr val="tx2"/>
                </a:solidFill>
              </a:rPr>
              <a:t>Registra qualcosa che è accaduto</a:t>
            </a:r>
            <a:endParaRPr lang="it-IT" sz="1200" dirty="0"/>
          </a:p>
          <a:p>
            <a:pPr marL="177800" indent="-177800">
              <a:spcAft>
                <a:spcPts val="400"/>
              </a:spcAft>
              <a:buSzPct val="100000"/>
              <a:buChar char="•"/>
            </a:pPr>
            <a:r>
              <a:rPr lang="it-IT" sz="1200" dirty="0">
                <a:solidFill>
                  <a:schemeClr val="tx2"/>
                </a:solidFill>
              </a:rPr>
              <a:t>Valore: il legame con la realtà</a:t>
            </a:r>
            <a:endParaRPr lang="it-IT" sz="1200" dirty="0"/>
          </a:p>
          <a:p>
            <a:pPr marL="177800" indent="-177800">
              <a:spcAft>
                <a:spcPts val="400"/>
              </a:spcAft>
              <a:buSzPct val="100000"/>
              <a:buChar char="•"/>
            </a:pPr>
            <a:r>
              <a:rPr lang="it-IT" sz="1200" dirty="0">
                <a:solidFill>
                  <a:schemeClr val="tx2"/>
                </a:solidFill>
              </a:rPr>
              <a:t>Riunioni, eventi, ispezioni, testimonianze</a:t>
            </a:r>
            <a:endParaRPr lang="it-IT" sz="1200" dirty="0"/>
          </a:p>
        </p:txBody>
      </p:sp>
      <p:sp>
        <p:nvSpPr>
          <p:cNvPr id="15" name="scheda Contenuto sintetico"/>
          <p:cNvSpPr/>
          <p:nvPr/>
        </p:nvSpPr>
        <p:spPr>
          <a:xfrm>
            <a:off x="4709160" y="1097280"/>
            <a:ext cx="3977640" cy="2011680"/>
          </a:xfrm>
          <a:prstGeom prst="roundRect">
            <a:avLst>
              <a:gd name="adj" fmla="val 3636"/>
            </a:avLst>
          </a:prstGeom>
          <a:solidFill>
            <a:schemeClr val="accent6"/>
          </a:solidFill>
          <a:ln/>
        </p:spPr>
      </p:sp>
      <p:sp>
        <p:nvSpPr>
          <p:cNvPr id="16" name="cerchio FiCpu"/>
          <p:cNvSpPr/>
          <p:nvPr/>
        </p:nvSpPr>
        <p:spPr>
          <a:xfrm>
            <a:off x="4892040" y="1280160"/>
            <a:ext cx="457200" cy="457200"/>
          </a:xfrm>
          <a:prstGeom prst="ellipse">
            <a:avLst/>
          </a:prstGeom>
          <a:solidFill>
            <a:schemeClr val="accent1"/>
          </a:solidFill>
          <a:ln/>
        </p:spPr>
      </p:sp>
      <p:pic>
        <p:nvPicPr>
          <p:cNvPr id="17" name="Image 1" descr="FiCpu">    </p:cNvPr>
          <p:cNvPicPr>
            <a:picLocks noChangeAspect="1"/>
          </p:cNvPicPr>
          <p:nvPr/>
        </p:nvPicPr>
        <p:blipFill>
          <a:blip r:embed="rId2"/>
          <a:stretch>
            <a:fillRect/>
          </a:stretch>
        </p:blipFill>
        <p:spPr>
          <a:xfrm>
            <a:off x="5006340" y="1394460"/>
            <a:ext cx="228600" cy="228600"/>
          </a:xfrm>
          <a:prstGeom prst="rect">
            <a:avLst/>
          </a:prstGeom>
        </p:spPr>
      </p:pic>
      <p:sp>
        <p:nvSpPr>
          <p:cNvPr id="18" name="Text 13"/>
          <p:cNvSpPr txBox="1"/>
          <p:nvPr/>
        </p:nvSpPr>
        <p:spPr>
          <a:xfrm>
            <a:off x="4892040" y="1847088"/>
            <a:ext cx="3611880" cy="347472"/>
          </a:xfrm>
          <a:prstGeom prst="rect">
            <a:avLst/>
          </a:prstGeom>
          <a:noFill/>
          <a:ln/>
        </p:spPr>
        <p:txBody>
          <a:bodyPr wrap="square" lIns="0" tIns="0" rIns="0" bIns="0" rtlCol="0" anchor="t"/>
          <a:lstStyle/>
          <a:p>
            <a:pPr indent="0" marL="0">
              <a:buNone/>
            </a:pPr>
            <a:r>
              <a:rPr lang="it-IT" sz="1500" b="1" dirty="0">
                <a:solidFill>
                  <a:schemeClr val="tx1"/>
                </a:solidFill>
              </a:rPr>
              <a:t>Contenuto sintetico</a:t>
            </a:r>
            <a:endParaRPr lang="it-IT" sz="1500" dirty="0"/>
          </a:p>
        </p:txBody>
      </p:sp>
      <p:sp>
        <p:nvSpPr>
          <p:cNvPr id="19" name="Text 14"/>
          <p:cNvSpPr txBox="1"/>
          <p:nvPr/>
        </p:nvSpPr>
        <p:spPr>
          <a:xfrm>
            <a:off x="4892040" y="2231136"/>
            <a:ext cx="3611880" cy="768096"/>
          </a:xfrm>
          <a:prstGeom prst="rect">
            <a:avLst/>
          </a:prstGeom>
          <a:noFill/>
          <a:ln/>
        </p:spPr>
        <p:txBody>
          <a:bodyPr wrap="square" lIns="0" tIns="0" rIns="0" bIns="0" rtlCol="0" anchor="t"/>
          <a:lstStyle/>
          <a:p>
            <a:pPr marL="177800" indent="-177800">
              <a:spcAft>
                <a:spcPts val="400"/>
              </a:spcAft>
              <a:buSzPct val="100000"/>
              <a:buChar char="•"/>
            </a:pPr>
            <a:r>
              <a:rPr lang="it-IT" sz="1200" dirty="0">
                <a:solidFill>
                  <a:schemeClr val="tx2"/>
                </a:solidFill>
              </a:rPr>
              <a:t>Generato o profondamente modificato</a:t>
            </a:r>
            <a:endParaRPr lang="it-IT" sz="1200" dirty="0"/>
          </a:p>
          <a:p>
            <a:pPr marL="177800" indent="-177800">
              <a:spcAft>
                <a:spcPts val="400"/>
              </a:spcAft>
              <a:buSzPct val="100000"/>
              <a:buChar char="•"/>
            </a:pPr>
            <a:r>
              <a:rPr lang="it-IT" sz="1200" dirty="0">
                <a:solidFill>
                  <a:schemeClr val="tx2"/>
                </a:solidFill>
              </a:rPr>
              <a:t>Valore: comunicazione, spiegazione, creatività</a:t>
            </a:r>
            <a:endParaRPr lang="it-IT" sz="1200" dirty="0"/>
          </a:p>
          <a:p>
            <a:pPr marL="177800" indent="-177800">
              <a:spcAft>
                <a:spcPts val="400"/>
              </a:spcAft>
              <a:buSzPct val="100000"/>
              <a:buChar char="•"/>
            </a:pPr>
            <a:r>
              <a:rPr lang="it-IT" sz="1200" dirty="0">
                <a:solidFill>
                  <a:schemeClr val="tx2"/>
                </a:solidFill>
              </a:rPr>
              <a:t>Può non essere mai accaduto</a:t>
            </a:r>
            <a:endParaRPr lang="it-IT" sz="1200" dirty="0"/>
          </a:p>
        </p:txBody>
      </p:sp>
      <p:sp>
        <p:nvSpPr>
          <p:cNvPr id="20" name="messaggio"/>
          <p:cNvSpPr/>
          <p:nvPr/>
        </p:nvSpPr>
        <p:spPr>
          <a:xfrm>
            <a:off x="457200" y="3291840"/>
            <a:ext cx="8229600" cy="594360"/>
          </a:xfrm>
          <a:prstGeom prst="roundRect">
            <a:avLst>
              <a:gd name="adj" fmla="val 12308"/>
            </a:avLst>
          </a:prstGeom>
          <a:solidFill>
            <a:schemeClr val="tx1"/>
          </a:solidFill>
          <a:ln/>
        </p:spPr>
      </p:sp>
      <p:sp>
        <p:nvSpPr>
          <p:cNvPr id="21" name="Text 16"/>
          <p:cNvSpPr txBox="1"/>
          <p:nvPr/>
        </p:nvSpPr>
        <p:spPr>
          <a:xfrm>
            <a:off x="640080" y="3291840"/>
            <a:ext cx="7863840" cy="594360"/>
          </a:xfrm>
          <a:prstGeom prst="rect">
            <a:avLst/>
          </a:prstGeom>
          <a:noFill/>
          <a:ln/>
        </p:spPr>
        <p:txBody>
          <a:bodyPr wrap="square" lIns="0" tIns="0" rIns="0" bIns="0" rtlCol="0" anchor="ctr"/>
          <a:lstStyle/>
          <a:p>
            <a:pPr indent="0" marL="0">
              <a:buNone/>
            </a:pPr>
            <a:r>
              <a:rPr lang="it-IT" sz="1300" dirty="0">
                <a:solidFill>
                  <a:schemeClr val="bg1"/>
                </a:solidFill>
              </a:rPr>
              <a:t>Un video resta una prova importante quando la provenienza è verificabile: chi l'ha girato, quando, come è arrivato.</a:t>
            </a:r>
            <a:endParaRPr lang="it-IT" sz="1300" dirty="0"/>
          </a:p>
        </p:txBody>
      </p:sp>
      <p:sp>
        <p:nvSpPr>
          <p:cNvPr id="22" name="blocco Se si usa un video sintetico realistico: dichiararlo"/>
          <p:cNvSpPr/>
          <p:nvPr/>
        </p:nvSpPr>
        <p:spPr>
          <a:xfrm>
            <a:off x="457200" y="4023360"/>
            <a:ext cx="4023360" cy="502920"/>
          </a:xfrm>
          <a:prstGeom prst="roundRect">
            <a:avLst>
              <a:gd name="adj" fmla="val 21818"/>
            </a:avLst>
          </a:prstGeom>
          <a:solidFill>
            <a:schemeClr val="bg2"/>
          </a:solidFill>
          <a:ln/>
        </p:spPr>
      </p:sp>
      <p:sp>
        <p:nvSpPr>
          <p:cNvPr id="23" name="Text 18"/>
          <p:cNvSpPr txBox="1"/>
          <p:nvPr/>
        </p:nvSpPr>
        <p:spPr>
          <a:xfrm>
            <a:off x="502920" y="4023360"/>
            <a:ext cx="3931920" cy="502920"/>
          </a:xfrm>
          <a:prstGeom prst="rect">
            <a:avLst/>
          </a:prstGeom>
          <a:noFill/>
          <a:ln/>
        </p:spPr>
        <p:txBody>
          <a:bodyPr wrap="square" lIns="0" tIns="0" rIns="0" bIns="0" rtlCol="0" anchor="ctr"/>
          <a:lstStyle/>
          <a:p>
            <a:pPr algn="ctr" indent="0" marL="0">
              <a:buNone/>
            </a:pPr>
            <a:r>
              <a:rPr lang="it-IT" sz="1200" b="1" dirty="0">
                <a:solidFill>
                  <a:schemeClr val="tx1"/>
                </a:solidFill>
              </a:rPr>
              <a:t>Se si usa un video sintetico realistico: dichiararlo</a:t>
            </a:r>
            <a:endParaRPr lang="it-IT" sz="1200" dirty="0"/>
          </a:p>
        </p:txBody>
      </p:sp>
      <p:sp>
        <p:nvSpPr>
          <p:cNvPr id="24" name="blocco Se si riceve un video come prova: da dove viene?"/>
          <p:cNvSpPr/>
          <p:nvPr/>
        </p:nvSpPr>
        <p:spPr>
          <a:xfrm>
            <a:off x="4663440" y="4023360"/>
            <a:ext cx="4023360" cy="502920"/>
          </a:xfrm>
          <a:prstGeom prst="roundRect">
            <a:avLst>
              <a:gd name="adj" fmla="val 21818"/>
            </a:avLst>
          </a:prstGeom>
          <a:solidFill>
            <a:schemeClr val="bg2"/>
          </a:solidFill>
          <a:ln/>
        </p:spPr>
      </p:sp>
      <p:sp>
        <p:nvSpPr>
          <p:cNvPr id="25" name="Text 20"/>
          <p:cNvSpPr txBox="1"/>
          <p:nvPr/>
        </p:nvSpPr>
        <p:spPr>
          <a:xfrm>
            <a:off x="4709160" y="4023360"/>
            <a:ext cx="3931920" cy="502920"/>
          </a:xfrm>
          <a:prstGeom prst="rect">
            <a:avLst/>
          </a:prstGeom>
          <a:noFill/>
          <a:ln/>
        </p:spPr>
        <p:txBody>
          <a:bodyPr wrap="square" lIns="0" tIns="0" rIns="0" bIns="0" rtlCol="0" anchor="ctr"/>
          <a:lstStyle/>
          <a:p>
            <a:pPr algn="ctr" indent="0" marL="0">
              <a:buNone/>
            </a:pPr>
            <a:r>
              <a:rPr lang="it-IT" sz="1200" b="1" dirty="0">
                <a:solidFill>
                  <a:schemeClr val="tx1"/>
                </a:solidFill>
              </a:rPr>
              <a:t>Se si riceve un video come prova: da dove viene?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36</a:t>
            </a:fld>
            <a:endParaRPr lang="it-IT"/>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10.6</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Presentazioni e materiali di comunicazione</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Dal documento alla presentazione in pochi minuti: più tempo per contenuti, chiarezza e verifica</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37</a:t>
            </a:fld>
            <a:endParaRPr lang="it-IT"/>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Dal testo alle slide</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sp>
        <p:nvSpPr>
          <p:cNvPr id="10" name="Documenti in presentazioni"/>
          <p:cNvSpPr/>
          <p:nvPr/>
        </p:nvSpPr>
        <p:spPr>
          <a:xfrm>
            <a:off x="457200" y="1051560"/>
            <a:ext cx="2621280" cy="1280160"/>
          </a:xfrm>
          <a:prstGeom prst="roundRect">
            <a:avLst>
              <a:gd name="adj" fmla="val 5714"/>
            </a:avLst>
          </a:prstGeom>
          <a:solidFill>
            <a:schemeClr val="bg2"/>
          </a:solidFill>
          <a:ln/>
        </p:spPr>
      </p:sp>
      <p:sp>
        <p:nvSpPr>
          <p:cNvPr id="11" name="cerchio FiRepeat"/>
          <p:cNvSpPr/>
          <p:nvPr/>
        </p:nvSpPr>
        <p:spPr>
          <a:xfrm>
            <a:off x="621792" y="1216152"/>
            <a:ext cx="438912" cy="438912"/>
          </a:xfrm>
          <a:prstGeom prst="ellipse">
            <a:avLst/>
          </a:prstGeom>
          <a:solidFill>
            <a:schemeClr val="accent1"/>
          </a:solidFill>
          <a:ln/>
        </p:spPr>
      </p:sp>
      <p:pic>
        <p:nvPicPr>
          <p:cNvPr id="12" name="Image 0" descr="FiRepeat">    </p:cNvPr>
          <p:cNvPicPr>
            <a:picLocks noChangeAspect="1"/>
          </p:cNvPicPr>
          <p:nvPr/>
        </p:nvPicPr>
        <p:blipFill>
          <a:blip r:embed="rId1"/>
          <a:stretch>
            <a:fillRect/>
          </a:stretch>
        </p:blipFill>
        <p:spPr>
          <a:xfrm>
            <a:off x="731520" y="1325880"/>
            <a:ext cx="219456" cy="219456"/>
          </a:xfrm>
          <a:prstGeom prst="rect">
            <a:avLst/>
          </a:prstGeom>
        </p:spPr>
      </p:pic>
      <p:sp>
        <p:nvSpPr>
          <p:cNvPr id="13" name="Text 9"/>
          <p:cNvSpPr txBox="1"/>
          <p:nvPr/>
        </p:nvSpPr>
        <p:spPr>
          <a:xfrm>
            <a:off x="117043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Documenti in presentazioni</a:t>
            </a:r>
            <a:endParaRPr lang="it-IT" sz="1300" dirty="0"/>
          </a:p>
        </p:txBody>
      </p:sp>
      <p:sp>
        <p:nvSpPr>
          <p:cNvPr id="14" name="Text 10"/>
          <p:cNvSpPr txBox="1"/>
          <p:nvPr/>
        </p:nvSpPr>
        <p:spPr>
          <a:xfrm>
            <a:off x="621792" y="1764792"/>
            <a:ext cx="2292096" cy="475488"/>
          </a:xfrm>
          <a:prstGeom prst="rect">
            <a:avLst/>
          </a:prstGeom>
          <a:noFill/>
          <a:ln/>
        </p:spPr>
        <p:txBody>
          <a:bodyPr wrap="square" lIns="0" tIns="0" rIns="0" bIns="0" rtlCol="0" anchor="t"/>
          <a:lstStyle/>
          <a:p>
            <a:pPr indent="0" marL="0">
              <a:buNone/>
            </a:pPr>
            <a:r>
              <a:rPr lang="it-IT" sz="1200" dirty="0">
                <a:solidFill>
                  <a:schemeClr val="tx2"/>
                </a:solidFill>
              </a:rPr>
              <a:t>Relazione in slide, procedura in diagramma</a:t>
            </a:r>
            <a:endParaRPr lang="it-IT" sz="1200" dirty="0"/>
          </a:p>
        </p:txBody>
      </p:sp>
      <p:sp>
        <p:nvSpPr>
          <p:cNvPr id="15" name="Organizzare le informazioni"/>
          <p:cNvSpPr/>
          <p:nvPr/>
        </p:nvSpPr>
        <p:spPr>
          <a:xfrm>
            <a:off x="3261360" y="1051560"/>
            <a:ext cx="2621280" cy="1280160"/>
          </a:xfrm>
          <a:prstGeom prst="roundRect">
            <a:avLst>
              <a:gd name="adj" fmla="val 5714"/>
            </a:avLst>
          </a:prstGeom>
          <a:solidFill>
            <a:schemeClr val="bg2"/>
          </a:solidFill>
          <a:ln/>
        </p:spPr>
      </p:sp>
      <p:sp>
        <p:nvSpPr>
          <p:cNvPr id="16" name="cerchio FiGrid"/>
          <p:cNvSpPr/>
          <p:nvPr/>
        </p:nvSpPr>
        <p:spPr>
          <a:xfrm>
            <a:off x="3425952" y="1216152"/>
            <a:ext cx="438912" cy="438912"/>
          </a:xfrm>
          <a:prstGeom prst="ellipse">
            <a:avLst/>
          </a:prstGeom>
          <a:solidFill>
            <a:schemeClr val="accent1"/>
          </a:solidFill>
          <a:ln/>
        </p:spPr>
      </p:sp>
      <p:pic>
        <p:nvPicPr>
          <p:cNvPr id="17" name="Image 1" descr="FiGrid">    </p:cNvPr>
          <p:cNvPicPr>
            <a:picLocks noChangeAspect="1"/>
          </p:cNvPicPr>
          <p:nvPr/>
        </p:nvPicPr>
        <p:blipFill>
          <a:blip r:embed="rId2"/>
          <a:stretch>
            <a:fillRect/>
          </a:stretch>
        </p:blipFill>
        <p:spPr>
          <a:xfrm>
            <a:off x="3535680" y="1325880"/>
            <a:ext cx="219456" cy="219456"/>
          </a:xfrm>
          <a:prstGeom prst="rect">
            <a:avLst/>
          </a:prstGeom>
        </p:spPr>
      </p:pic>
      <p:sp>
        <p:nvSpPr>
          <p:cNvPr id="18" name="Text 13"/>
          <p:cNvSpPr txBox="1"/>
          <p:nvPr/>
        </p:nvSpPr>
        <p:spPr>
          <a:xfrm>
            <a:off x="397459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Organizzare le informazioni</a:t>
            </a:r>
            <a:endParaRPr lang="it-IT" sz="1300" dirty="0"/>
          </a:p>
        </p:txBody>
      </p:sp>
      <p:sp>
        <p:nvSpPr>
          <p:cNvPr id="19" name="Text 14"/>
          <p:cNvSpPr txBox="1"/>
          <p:nvPr/>
        </p:nvSpPr>
        <p:spPr>
          <a:xfrm>
            <a:off x="3425952" y="1764792"/>
            <a:ext cx="2292096" cy="475488"/>
          </a:xfrm>
          <a:prstGeom prst="rect">
            <a:avLst/>
          </a:prstGeom>
          <a:noFill/>
          <a:ln/>
        </p:spPr>
        <p:txBody>
          <a:bodyPr wrap="square" lIns="0" tIns="0" rIns="0" bIns="0" rtlCol="0" anchor="t"/>
          <a:lstStyle/>
          <a:p>
            <a:pPr indent="0" marL="0">
              <a:buNone/>
            </a:pPr>
            <a:r>
              <a:rPr lang="it-IT" sz="1200" dirty="0">
                <a:solidFill>
                  <a:schemeClr val="tx2"/>
                </a:solidFill>
              </a:rPr>
              <a:t>Struttura, priorità, sequenza</a:t>
            </a:r>
            <a:endParaRPr lang="it-IT" sz="1200" dirty="0"/>
          </a:p>
        </p:txBody>
      </p:sp>
      <p:sp>
        <p:nvSpPr>
          <p:cNvPr id="20" name="Schemi e diagrammi"/>
          <p:cNvSpPr/>
          <p:nvPr/>
        </p:nvSpPr>
        <p:spPr>
          <a:xfrm>
            <a:off x="6065520" y="1051560"/>
            <a:ext cx="2621280" cy="1280160"/>
          </a:xfrm>
          <a:prstGeom prst="roundRect">
            <a:avLst>
              <a:gd name="adj" fmla="val 5714"/>
            </a:avLst>
          </a:prstGeom>
          <a:solidFill>
            <a:schemeClr val="bg2"/>
          </a:solidFill>
          <a:ln/>
        </p:spPr>
      </p:sp>
      <p:sp>
        <p:nvSpPr>
          <p:cNvPr id="21" name="cerchio FiShare2"/>
          <p:cNvSpPr/>
          <p:nvPr/>
        </p:nvSpPr>
        <p:spPr>
          <a:xfrm>
            <a:off x="6230112" y="1216152"/>
            <a:ext cx="438912" cy="438912"/>
          </a:xfrm>
          <a:prstGeom prst="ellipse">
            <a:avLst/>
          </a:prstGeom>
          <a:solidFill>
            <a:schemeClr val="accent1"/>
          </a:solidFill>
          <a:ln/>
        </p:spPr>
      </p:sp>
      <p:pic>
        <p:nvPicPr>
          <p:cNvPr id="22" name="Image 2" descr="FiShare2">    </p:cNvPr>
          <p:cNvPicPr>
            <a:picLocks noChangeAspect="1"/>
          </p:cNvPicPr>
          <p:nvPr/>
        </p:nvPicPr>
        <p:blipFill>
          <a:blip r:embed="rId3"/>
          <a:stretch>
            <a:fillRect/>
          </a:stretch>
        </p:blipFill>
        <p:spPr>
          <a:xfrm>
            <a:off x="6339840" y="1325880"/>
            <a:ext cx="219456" cy="219456"/>
          </a:xfrm>
          <a:prstGeom prst="rect">
            <a:avLst/>
          </a:prstGeom>
        </p:spPr>
      </p:pic>
      <p:sp>
        <p:nvSpPr>
          <p:cNvPr id="23" name="Text 17"/>
          <p:cNvSpPr txBox="1"/>
          <p:nvPr/>
        </p:nvSpPr>
        <p:spPr>
          <a:xfrm>
            <a:off x="677875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Schemi e diagrammi</a:t>
            </a:r>
            <a:endParaRPr lang="it-IT" sz="1300" dirty="0"/>
          </a:p>
        </p:txBody>
      </p:sp>
      <p:sp>
        <p:nvSpPr>
          <p:cNvPr id="24" name="Text 18"/>
          <p:cNvSpPr txBox="1"/>
          <p:nvPr/>
        </p:nvSpPr>
        <p:spPr>
          <a:xfrm>
            <a:off x="6230112" y="1764792"/>
            <a:ext cx="2292096" cy="475488"/>
          </a:xfrm>
          <a:prstGeom prst="rect">
            <a:avLst/>
          </a:prstGeom>
          <a:noFill/>
          <a:ln/>
        </p:spPr>
        <p:txBody>
          <a:bodyPr wrap="square" lIns="0" tIns="0" rIns="0" bIns="0" rtlCol="0" anchor="t"/>
          <a:lstStyle/>
          <a:p>
            <a:pPr indent="0" marL="0">
              <a:buNone/>
            </a:pPr>
            <a:r>
              <a:rPr lang="it-IT" sz="1200" dirty="0">
                <a:solidFill>
                  <a:schemeClr val="tx2"/>
                </a:solidFill>
              </a:rPr>
              <a:t>Processi, organigrammi, linee del tempo</a:t>
            </a:r>
            <a:endParaRPr lang="it-IT" sz="1200" dirty="0"/>
          </a:p>
        </p:txBody>
      </p:sp>
      <p:sp>
        <p:nvSpPr>
          <p:cNvPr id="25" name="Adattare ai destinatari"/>
          <p:cNvSpPr/>
          <p:nvPr/>
        </p:nvSpPr>
        <p:spPr>
          <a:xfrm>
            <a:off x="457200" y="2514600"/>
            <a:ext cx="2621280" cy="1280160"/>
          </a:xfrm>
          <a:prstGeom prst="roundRect">
            <a:avLst>
              <a:gd name="adj" fmla="val 5714"/>
            </a:avLst>
          </a:prstGeom>
          <a:solidFill>
            <a:schemeClr val="bg2"/>
          </a:solidFill>
          <a:ln/>
        </p:spPr>
      </p:sp>
      <p:sp>
        <p:nvSpPr>
          <p:cNvPr id="26" name="cerchio FiUsers"/>
          <p:cNvSpPr/>
          <p:nvPr/>
        </p:nvSpPr>
        <p:spPr>
          <a:xfrm>
            <a:off x="621792" y="2679192"/>
            <a:ext cx="438912" cy="438912"/>
          </a:xfrm>
          <a:prstGeom prst="ellipse">
            <a:avLst/>
          </a:prstGeom>
          <a:solidFill>
            <a:schemeClr val="accent1"/>
          </a:solidFill>
          <a:ln/>
        </p:spPr>
      </p:sp>
      <p:pic>
        <p:nvPicPr>
          <p:cNvPr id="27" name="Image 3" descr="FiUsers">    </p:cNvPr>
          <p:cNvPicPr>
            <a:picLocks noChangeAspect="1"/>
          </p:cNvPicPr>
          <p:nvPr/>
        </p:nvPicPr>
        <p:blipFill>
          <a:blip r:embed="rId4"/>
          <a:stretch>
            <a:fillRect/>
          </a:stretch>
        </p:blipFill>
        <p:spPr>
          <a:xfrm>
            <a:off x="731520" y="2788920"/>
            <a:ext cx="219456" cy="219456"/>
          </a:xfrm>
          <a:prstGeom prst="rect">
            <a:avLst/>
          </a:prstGeom>
        </p:spPr>
      </p:pic>
      <p:sp>
        <p:nvSpPr>
          <p:cNvPr id="28" name="Text 21"/>
          <p:cNvSpPr txBox="1"/>
          <p:nvPr/>
        </p:nvSpPr>
        <p:spPr>
          <a:xfrm>
            <a:off x="1170432" y="264261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Adattare ai destinatari</a:t>
            </a:r>
            <a:endParaRPr lang="it-IT" sz="1300" dirty="0"/>
          </a:p>
        </p:txBody>
      </p:sp>
      <p:sp>
        <p:nvSpPr>
          <p:cNvPr id="29" name="Text 22"/>
          <p:cNvSpPr txBox="1"/>
          <p:nvPr/>
        </p:nvSpPr>
        <p:spPr>
          <a:xfrm>
            <a:off x="621792" y="3227832"/>
            <a:ext cx="2292096" cy="475488"/>
          </a:xfrm>
          <a:prstGeom prst="rect">
            <a:avLst/>
          </a:prstGeom>
          <a:noFill/>
          <a:ln/>
        </p:spPr>
        <p:txBody>
          <a:bodyPr wrap="square" lIns="0" tIns="0" rIns="0" bIns="0" rtlCol="0" anchor="t"/>
          <a:lstStyle/>
          <a:p>
            <a:pPr indent="0" marL="0">
              <a:buNone/>
            </a:pPr>
            <a:r>
              <a:rPr lang="it-IT" sz="1200" dirty="0">
                <a:solidFill>
                  <a:schemeClr val="tx2"/>
                </a:solidFill>
              </a:rPr>
              <a:t>Direzione, team, formazione</a:t>
            </a:r>
            <a:endParaRPr lang="it-IT" sz="1200" dirty="0"/>
          </a:p>
        </p:txBody>
      </p:sp>
      <p:sp>
        <p:nvSpPr>
          <p:cNvPr id="30" name="Chiarezza e qualità visiva"/>
          <p:cNvSpPr/>
          <p:nvPr/>
        </p:nvSpPr>
        <p:spPr>
          <a:xfrm>
            <a:off x="3261360" y="2514600"/>
            <a:ext cx="2621280" cy="1280160"/>
          </a:xfrm>
          <a:prstGeom prst="roundRect">
            <a:avLst>
              <a:gd name="adj" fmla="val 5714"/>
            </a:avLst>
          </a:prstGeom>
          <a:solidFill>
            <a:schemeClr val="bg2"/>
          </a:solidFill>
          <a:ln/>
        </p:spPr>
      </p:sp>
      <p:sp>
        <p:nvSpPr>
          <p:cNvPr id="31" name="cerchio FiEye"/>
          <p:cNvSpPr/>
          <p:nvPr/>
        </p:nvSpPr>
        <p:spPr>
          <a:xfrm>
            <a:off x="3425952" y="2679192"/>
            <a:ext cx="438912" cy="438912"/>
          </a:xfrm>
          <a:prstGeom prst="ellipse">
            <a:avLst/>
          </a:prstGeom>
          <a:solidFill>
            <a:schemeClr val="accent1"/>
          </a:solidFill>
          <a:ln/>
        </p:spPr>
      </p:sp>
      <p:pic>
        <p:nvPicPr>
          <p:cNvPr id="32" name="Image 4" descr="FiEye">    </p:cNvPr>
          <p:cNvPicPr>
            <a:picLocks noChangeAspect="1"/>
          </p:cNvPicPr>
          <p:nvPr/>
        </p:nvPicPr>
        <p:blipFill>
          <a:blip r:embed="rId5"/>
          <a:stretch>
            <a:fillRect/>
          </a:stretch>
        </p:blipFill>
        <p:spPr>
          <a:xfrm>
            <a:off x="3535680" y="2788920"/>
            <a:ext cx="219456" cy="219456"/>
          </a:xfrm>
          <a:prstGeom prst="rect">
            <a:avLst/>
          </a:prstGeom>
        </p:spPr>
      </p:pic>
      <p:sp>
        <p:nvSpPr>
          <p:cNvPr id="33" name="Text 25"/>
          <p:cNvSpPr txBox="1"/>
          <p:nvPr/>
        </p:nvSpPr>
        <p:spPr>
          <a:xfrm>
            <a:off x="3974592" y="264261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Chiarezza e qualità visiva</a:t>
            </a:r>
            <a:endParaRPr lang="it-IT" sz="1300" dirty="0"/>
          </a:p>
        </p:txBody>
      </p:sp>
      <p:sp>
        <p:nvSpPr>
          <p:cNvPr id="34" name="Text 26"/>
          <p:cNvSpPr txBox="1"/>
          <p:nvPr/>
        </p:nvSpPr>
        <p:spPr>
          <a:xfrm>
            <a:off x="3425952" y="3227832"/>
            <a:ext cx="2292096" cy="475488"/>
          </a:xfrm>
          <a:prstGeom prst="rect">
            <a:avLst/>
          </a:prstGeom>
          <a:noFill/>
          <a:ln/>
        </p:spPr>
        <p:txBody>
          <a:bodyPr wrap="square" lIns="0" tIns="0" rIns="0" bIns="0" rtlCol="0" anchor="t"/>
          <a:lstStyle/>
          <a:p>
            <a:pPr indent="0" marL="0">
              <a:buNone/>
            </a:pPr>
            <a:r>
              <a:rPr lang="it-IT" sz="1200" dirty="0">
                <a:solidFill>
                  <a:schemeClr val="tx2"/>
                </a:solidFill>
              </a:rPr>
              <a:t>Titoli efficaci, testi brevi, gerarchia</a:t>
            </a:r>
            <a:endParaRPr lang="it-IT" sz="1200" dirty="0"/>
          </a:p>
        </p:txBody>
      </p:sp>
      <p:sp>
        <p:nvSpPr>
          <p:cNvPr id="35" name="Meno impaginazione"/>
          <p:cNvSpPr/>
          <p:nvPr/>
        </p:nvSpPr>
        <p:spPr>
          <a:xfrm>
            <a:off x="6065520" y="2514600"/>
            <a:ext cx="2621280" cy="1280160"/>
          </a:xfrm>
          <a:prstGeom prst="roundRect">
            <a:avLst>
              <a:gd name="adj" fmla="val 5714"/>
            </a:avLst>
          </a:prstGeom>
          <a:solidFill>
            <a:schemeClr val="bg2"/>
          </a:solidFill>
          <a:ln/>
        </p:spPr>
      </p:sp>
      <p:sp>
        <p:nvSpPr>
          <p:cNvPr id="36" name="cerchio FiClock"/>
          <p:cNvSpPr/>
          <p:nvPr/>
        </p:nvSpPr>
        <p:spPr>
          <a:xfrm>
            <a:off x="6230112" y="2679192"/>
            <a:ext cx="438912" cy="438912"/>
          </a:xfrm>
          <a:prstGeom prst="ellipse">
            <a:avLst/>
          </a:prstGeom>
          <a:solidFill>
            <a:schemeClr val="accent1"/>
          </a:solidFill>
          <a:ln/>
        </p:spPr>
      </p:sp>
      <p:pic>
        <p:nvPicPr>
          <p:cNvPr id="37" name="Image 5" descr="FiClock">    </p:cNvPr>
          <p:cNvPicPr>
            <a:picLocks noChangeAspect="1"/>
          </p:cNvPicPr>
          <p:nvPr/>
        </p:nvPicPr>
        <p:blipFill>
          <a:blip r:embed="rId6"/>
          <a:stretch>
            <a:fillRect/>
          </a:stretch>
        </p:blipFill>
        <p:spPr>
          <a:xfrm>
            <a:off x="6339840" y="2788920"/>
            <a:ext cx="219456" cy="219456"/>
          </a:xfrm>
          <a:prstGeom prst="rect">
            <a:avLst/>
          </a:prstGeom>
        </p:spPr>
      </p:pic>
      <p:sp>
        <p:nvSpPr>
          <p:cNvPr id="38" name="Text 29"/>
          <p:cNvSpPr txBox="1"/>
          <p:nvPr/>
        </p:nvSpPr>
        <p:spPr>
          <a:xfrm>
            <a:off x="6778752" y="264261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Meno impaginazione</a:t>
            </a:r>
            <a:endParaRPr lang="it-IT" sz="1300" dirty="0"/>
          </a:p>
        </p:txBody>
      </p:sp>
      <p:sp>
        <p:nvSpPr>
          <p:cNvPr id="39" name="Text 30"/>
          <p:cNvSpPr txBox="1"/>
          <p:nvPr/>
        </p:nvSpPr>
        <p:spPr>
          <a:xfrm>
            <a:off x="6230112" y="3227832"/>
            <a:ext cx="2292096" cy="475488"/>
          </a:xfrm>
          <a:prstGeom prst="rect">
            <a:avLst/>
          </a:prstGeom>
          <a:noFill/>
          <a:ln/>
        </p:spPr>
        <p:txBody>
          <a:bodyPr wrap="square" lIns="0" tIns="0" rIns="0" bIns="0" rtlCol="0" anchor="t"/>
          <a:lstStyle/>
          <a:p>
            <a:pPr indent="0" marL="0">
              <a:buNone/>
            </a:pPr>
            <a:r>
              <a:rPr lang="it-IT" sz="1200" dirty="0">
                <a:solidFill>
                  <a:schemeClr val="tx2"/>
                </a:solidFill>
              </a:rPr>
              <a:t>La parte più meccanica del lavoro</a:t>
            </a:r>
            <a:endParaRPr lang="it-IT" sz="1200" dirty="0"/>
          </a:p>
        </p:txBody>
      </p:sp>
      <p:sp>
        <p:nvSpPr>
          <p:cNvPr id="40" name="messaggio"/>
          <p:cNvSpPr/>
          <p:nvPr/>
        </p:nvSpPr>
        <p:spPr>
          <a:xfrm>
            <a:off x="457200" y="3977640"/>
            <a:ext cx="8229600" cy="548640"/>
          </a:xfrm>
          <a:prstGeom prst="roundRect">
            <a:avLst>
              <a:gd name="adj" fmla="val 13333"/>
            </a:avLst>
          </a:prstGeom>
          <a:solidFill>
            <a:schemeClr val="tx1"/>
          </a:solidFill>
          <a:ln/>
        </p:spPr>
      </p:sp>
      <p:sp>
        <p:nvSpPr>
          <p:cNvPr id="41" name="Text 32"/>
          <p:cNvSpPr txBox="1"/>
          <p:nvPr/>
        </p:nvSpPr>
        <p:spPr>
          <a:xfrm>
            <a:off x="640080" y="3977640"/>
            <a:ext cx="7863840" cy="548640"/>
          </a:xfrm>
          <a:prstGeom prst="rect">
            <a:avLst/>
          </a:prstGeom>
          <a:noFill/>
          <a:ln/>
        </p:spPr>
        <p:txBody>
          <a:bodyPr wrap="square" lIns="0" tIns="0" rIns="0" bIns="0" rtlCol="0" anchor="ctr"/>
          <a:lstStyle/>
          <a:p>
            <a:pPr indent="0" marL="0">
              <a:buNone/>
            </a:pPr>
            <a:r>
              <a:rPr lang="it-IT" sz="1300" dirty="0">
                <a:solidFill>
                  <a:schemeClr val="bg1"/>
                </a:solidFill>
              </a:rPr>
              <a:t>Il tempo risparmiato sull'impaginazione si investe nel messaggio e nella verifica dei contenuti.</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38</a:t>
            </a:fld>
            <a:endParaRPr lang="it-IT"/>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Esempio: dal documento alle slide</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sp>
        <p:nvSpPr>
          <p:cNvPr id="10" name="riquadro Documento (estratto fittizio)"/>
          <p:cNvSpPr/>
          <p:nvPr/>
        </p:nvSpPr>
        <p:spPr>
          <a:xfrm>
            <a:off x="457200" y="1051560"/>
            <a:ext cx="3383280" cy="2834640"/>
          </a:xfrm>
          <a:prstGeom prst="roundRect">
            <a:avLst>
              <a:gd name="adj" fmla="val 2581"/>
            </a:avLst>
          </a:prstGeom>
          <a:solidFill>
            <a:schemeClr val="bg2"/>
          </a:solidFill>
          <a:ln/>
        </p:spPr>
      </p:sp>
      <p:sp>
        <p:nvSpPr>
          <p:cNvPr id="11" name="barra"/>
          <p:cNvSpPr/>
          <p:nvPr/>
        </p:nvSpPr>
        <p:spPr>
          <a:xfrm>
            <a:off x="457200" y="1161288"/>
            <a:ext cx="54864" cy="2615184"/>
          </a:xfrm>
          <a:prstGeom prst="rect">
            <a:avLst/>
          </a:prstGeom>
          <a:solidFill>
            <a:schemeClr val="accent1"/>
          </a:solidFill>
          <a:ln/>
        </p:spPr>
      </p:sp>
      <p:sp>
        <p:nvSpPr>
          <p:cNvPr id="12" name="Text 9"/>
          <p:cNvSpPr txBox="1"/>
          <p:nvPr/>
        </p:nvSpPr>
        <p:spPr>
          <a:xfrm>
            <a:off x="658368" y="1143000"/>
            <a:ext cx="3017520" cy="256032"/>
          </a:xfrm>
          <a:prstGeom prst="rect">
            <a:avLst/>
          </a:prstGeom>
          <a:noFill/>
          <a:ln/>
        </p:spPr>
        <p:txBody>
          <a:bodyPr wrap="square" lIns="0" tIns="0" rIns="0" bIns="0" rtlCol="0" anchor="t"/>
          <a:lstStyle/>
          <a:p>
            <a:pPr indent="0" marL="0">
              <a:buNone/>
            </a:pPr>
            <a:r>
              <a:rPr lang="it-IT" sz="1100" b="1" dirty="0">
                <a:solidFill>
                  <a:schemeClr val="accent1"/>
                </a:solidFill>
              </a:rPr>
              <a:t>Documento (estratto fittizio)</a:t>
            </a:r>
            <a:endParaRPr lang="it-IT" sz="1100" dirty="0"/>
          </a:p>
        </p:txBody>
      </p:sp>
      <p:sp>
        <p:nvSpPr>
          <p:cNvPr id="13" name="Text 10"/>
          <p:cNvSpPr txBox="1"/>
          <p:nvPr/>
        </p:nvSpPr>
        <p:spPr>
          <a:xfrm>
            <a:off x="658368" y="1435608"/>
            <a:ext cx="3017520" cy="2359152"/>
          </a:xfrm>
          <a:prstGeom prst="rect">
            <a:avLst/>
          </a:prstGeom>
          <a:noFill/>
          <a:ln/>
        </p:spPr>
        <p:txBody>
          <a:bodyPr wrap="square" lIns="0" tIns="0" rIns="0" bIns="0" rtlCol="0" anchor="t"/>
          <a:lstStyle/>
          <a:p>
            <a:pPr indent="0" marL="0">
              <a:buNone/>
            </a:pPr>
            <a:r>
              <a:rPr lang="it-IT" sz="1000" dirty="0">
                <a:solidFill>
                  <a:schemeClr val="tx1"/>
                </a:solidFill>
              </a:rPr>
              <a:t>Gestione dei resi: proposta di un nuovo processo.</a:t>
            </a:r>
            <a:endParaRPr lang="it-IT" sz="1000" dirty="0"/>
          </a:p>
          <a:p>
            <a:pPr indent="0" marL="0">
              <a:buNone/>
            </a:pPr>
            <a:r>
              <a:rPr lang="it-IT" sz="1000" dirty="0">
                <a:solidFill>
                  <a:schemeClr val="tx1"/>
                </a:solidFill>
              </a:rPr>
              <a:t>Oggi i resi arrivano via email e sono registrati a mano: nel 2025 sono stati 1.200, con un tempo medio di chiusura di 9 giorni.</a:t>
            </a:r>
            <a:endParaRPr lang="it-IT" sz="1000" dirty="0"/>
          </a:p>
          <a:p>
            <a:pPr indent="0" marL="0">
              <a:buNone/>
            </a:pPr>
            <a:r>
              <a:rPr lang="it-IT" sz="1000" dirty="0">
                <a:solidFill>
                  <a:schemeClr val="tx1"/>
                </a:solidFill>
              </a:rPr>
              <a:t>Proposta: modulo online unico, verifica automatica della garanzia, notifica al cliente a ogni passaggio.</a:t>
            </a:r>
            <a:endParaRPr lang="it-IT" sz="1000" dirty="0"/>
          </a:p>
          <a:p>
            <a:pPr indent="0" marL="0">
              <a:buNone/>
            </a:pPr>
            <a:r>
              <a:rPr lang="it-IT" sz="1000" dirty="0">
                <a:solidFill>
                  <a:schemeClr val="tx1"/>
                </a:solidFill>
              </a:rPr>
              <a:t>Tempi: pilota a gennaio su una linea di prodotto, estensione a marzo.</a:t>
            </a:r>
            <a:endParaRPr lang="it-IT" sz="1000" dirty="0"/>
          </a:p>
          <a:p>
            <a:pPr indent="0" marL="0">
              <a:buNone/>
            </a:pPr>
            <a:r>
              <a:rPr lang="it-IT" sz="1000" dirty="0">
                <a:solidFill>
                  <a:schemeClr val="tx1"/>
                </a:solidFill>
              </a:rPr>
              <a:t>Rischi: formazione del personale, integrazione con il gestionale.</a:t>
            </a:r>
            <a:endParaRPr lang="it-IT" sz="1000" dirty="0"/>
          </a:p>
        </p:txBody>
      </p:sp>
      <p:sp>
        <p:nvSpPr>
          <p:cNvPr id="14" name="freccia"/>
          <p:cNvSpPr/>
          <p:nvPr/>
        </p:nvSpPr>
        <p:spPr>
          <a:xfrm>
            <a:off x="3904488" y="2331720"/>
            <a:ext cx="256032" cy="292608"/>
          </a:xfrm>
          <a:prstGeom prst="rightArrow">
            <a:avLst/>
          </a:prstGeom>
          <a:solidFill>
            <a:schemeClr val="accent2"/>
          </a:solidFill>
          <a:ln/>
        </p:spPr>
      </p:sp>
      <p:sp>
        <p:nvSpPr>
          <p:cNvPr id="15" name="miniatura SLIDE 1"/>
          <p:cNvSpPr/>
          <p:nvPr/>
        </p:nvSpPr>
        <p:spPr>
          <a:xfrm>
            <a:off x="4251960" y="1051560"/>
            <a:ext cx="4434840" cy="868680"/>
          </a:xfrm>
          <a:prstGeom prst="rect">
            <a:avLst/>
          </a:prstGeom>
          <a:solidFill>
            <a:schemeClr val="bg1"/>
          </a:solidFill>
          <a:ln w="12700">
            <a:solidFill>
              <a:schemeClr val="accent3"/>
            </a:solidFill>
            <a:prstDash val="solid"/>
          </a:ln>
          <a:effectLst>
            <a:outerShdw sx="100000" sy="100000" kx="0" ky="0" algn="bl" rotWithShape="0" blurRad="25400" dist="12700" dir="2700000">
              <a:srgbClr val="000000">
                <a:alpha val="12000"/>
              </a:srgbClr>
            </a:outerShdw>
          </a:effectLst>
        </p:spPr>
      </p:sp>
      <p:sp>
        <p:nvSpPr>
          <p:cNvPr id="16" name="barra miniatura"/>
          <p:cNvSpPr/>
          <p:nvPr/>
        </p:nvSpPr>
        <p:spPr>
          <a:xfrm>
            <a:off x="4251960" y="1051560"/>
            <a:ext cx="64008" cy="868680"/>
          </a:xfrm>
          <a:prstGeom prst="rect">
            <a:avLst/>
          </a:prstGeom>
          <a:solidFill>
            <a:schemeClr val="accent1"/>
          </a:solidFill>
          <a:ln/>
        </p:spPr>
      </p:sp>
      <p:sp>
        <p:nvSpPr>
          <p:cNvPr id="17" name="Text 14"/>
          <p:cNvSpPr txBox="1"/>
          <p:nvPr/>
        </p:nvSpPr>
        <p:spPr>
          <a:xfrm>
            <a:off x="4434840" y="1124712"/>
            <a:ext cx="1737360" cy="219456"/>
          </a:xfrm>
          <a:prstGeom prst="rect">
            <a:avLst/>
          </a:prstGeom>
          <a:noFill/>
          <a:ln/>
        </p:spPr>
        <p:txBody>
          <a:bodyPr wrap="square" lIns="0" tIns="0" rIns="0" bIns="0" rtlCol="0" anchor="t"/>
          <a:lstStyle/>
          <a:p>
            <a:pPr indent="0" marL="0">
              <a:buNone/>
            </a:pPr>
            <a:r>
              <a:rPr lang="it-IT" sz="900" b="1" dirty="0">
                <a:solidFill>
                  <a:schemeClr val="accent2"/>
                </a:solidFill>
              </a:rPr>
              <a:t>SLIDE 1</a:t>
            </a:r>
            <a:endParaRPr lang="it-IT" sz="900" dirty="0"/>
          </a:p>
        </p:txBody>
      </p:sp>
      <p:sp>
        <p:nvSpPr>
          <p:cNvPr id="18" name="Text 15"/>
          <p:cNvSpPr txBox="1"/>
          <p:nvPr/>
        </p:nvSpPr>
        <p:spPr>
          <a:xfrm>
            <a:off x="4434840" y="1344168"/>
            <a:ext cx="1737360" cy="502920"/>
          </a:xfrm>
          <a:prstGeom prst="rect">
            <a:avLst/>
          </a:prstGeom>
          <a:noFill/>
          <a:ln/>
        </p:spPr>
        <p:txBody>
          <a:bodyPr wrap="square" lIns="0" tIns="0" rIns="0" bIns="0" rtlCol="0" anchor="t"/>
          <a:lstStyle/>
          <a:p>
            <a:pPr indent="0" marL="0">
              <a:buNone/>
            </a:pPr>
            <a:r>
              <a:rPr lang="it-IT" sz="1200" b="1" dirty="0">
                <a:solidFill>
                  <a:schemeClr val="tx1"/>
                </a:solidFill>
              </a:rPr>
              <a:t>Il problema</a:t>
            </a:r>
            <a:endParaRPr lang="it-IT" sz="1200" dirty="0"/>
          </a:p>
        </p:txBody>
      </p:sp>
      <p:sp>
        <p:nvSpPr>
          <p:cNvPr id="19" name="Text 16"/>
          <p:cNvSpPr txBox="1"/>
          <p:nvPr/>
        </p:nvSpPr>
        <p:spPr>
          <a:xfrm>
            <a:off x="6126480" y="1097280"/>
            <a:ext cx="1280160" cy="457200"/>
          </a:xfrm>
          <a:prstGeom prst="rect">
            <a:avLst/>
          </a:prstGeom>
          <a:noFill/>
          <a:ln/>
        </p:spPr>
        <p:txBody>
          <a:bodyPr wrap="square" lIns="0" tIns="0" rIns="0" bIns="0" rtlCol="0" anchor="ctr"/>
          <a:lstStyle/>
          <a:p>
            <a:pPr indent="0" marL="0">
              <a:buNone/>
            </a:pPr>
            <a:r>
              <a:rPr lang="it-IT" sz="2200" b="1" dirty="0">
                <a:solidFill>
                  <a:schemeClr val="accent5"/>
                </a:solidFill>
              </a:rPr>
              <a:t>9 giorni</a:t>
            </a:r>
            <a:endParaRPr lang="it-IT" sz="2200" dirty="0"/>
          </a:p>
        </p:txBody>
      </p:sp>
      <p:sp>
        <p:nvSpPr>
          <p:cNvPr id="20" name="Text 17"/>
          <p:cNvSpPr txBox="1"/>
          <p:nvPr/>
        </p:nvSpPr>
        <p:spPr>
          <a:xfrm>
            <a:off x="6126480" y="1536192"/>
            <a:ext cx="2468880" cy="320040"/>
          </a:xfrm>
          <a:prstGeom prst="rect">
            <a:avLst/>
          </a:prstGeom>
          <a:noFill/>
          <a:ln/>
        </p:spPr>
        <p:txBody>
          <a:bodyPr wrap="square" lIns="0" tIns="0" rIns="0" bIns="0" rtlCol="0" anchor="t"/>
          <a:lstStyle/>
          <a:p>
            <a:pPr indent="0" marL="0">
              <a:buNone/>
            </a:pPr>
            <a:r>
              <a:rPr lang="it-IT" sz="900" dirty="0">
                <a:solidFill>
                  <a:schemeClr val="tx2"/>
                </a:solidFill>
              </a:rPr>
              <a:t>tempo medio di chiusura, 1.200 resi nel 2025</a:t>
            </a:r>
            <a:endParaRPr lang="it-IT" sz="900" dirty="0"/>
          </a:p>
        </p:txBody>
      </p:sp>
      <p:sp>
        <p:nvSpPr>
          <p:cNvPr id="21" name="miniatura SLIDE 2"/>
          <p:cNvSpPr/>
          <p:nvPr/>
        </p:nvSpPr>
        <p:spPr>
          <a:xfrm>
            <a:off x="4251960" y="2011680"/>
            <a:ext cx="4434840" cy="868680"/>
          </a:xfrm>
          <a:prstGeom prst="rect">
            <a:avLst/>
          </a:prstGeom>
          <a:solidFill>
            <a:schemeClr val="bg1"/>
          </a:solidFill>
          <a:ln w="12700">
            <a:solidFill>
              <a:schemeClr val="accent3"/>
            </a:solidFill>
            <a:prstDash val="solid"/>
          </a:ln>
          <a:effectLst>
            <a:outerShdw sx="100000" sy="100000" kx="0" ky="0" algn="bl" rotWithShape="0" blurRad="25400" dist="12700" dir="2700000">
              <a:srgbClr val="000000">
                <a:alpha val="12000"/>
              </a:srgbClr>
            </a:outerShdw>
          </a:effectLst>
        </p:spPr>
      </p:sp>
      <p:sp>
        <p:nvSpPr>
          <p:cNvPr id="22" name="barra miniatura"/>
          <p:cNvSpPr/>
          <p:nvPr/>
        </p:nvSpPr>
        <p:spPr>
          <a:xfrm>
            <a:off x="4251960" y="2011680"/>
            <a:ext cx="64008" cy="868680"/>
          </a:xfrm>
          <a:prstGeom prst="rect">
            <a:avLst/>
          </a:prstGeom>
          <a:solidFill>
            <a:schemeClr val="accent1"/>
          </a:solidFill>
          <a:ln/>
        </p:spPr>
      </p:sp>
      <p:sp>
        <p:nvSpPr>
          <p:cNvPr id="23" name="Text 20"/>
          <p:cNvSpPr txBox="1"/>
          <p:nvPr/>
        </p:nvSpPr>
        <p:spPr>
          <a:xfrm>
            <a:off x="4434840" y="2084832"/>
            <a:ext cx="1737360" cy="219456"/>
          </a:xfrm>
          <a:prstGeom prst="rect">
            <a:avLst/>
          </a:prstGeom>
          <a:noFill/>
          <a:ln/>
        </p:spPr>
        <p:txBody>
          <a:bodyPr wrap="square" lIns="0" tIns="0" rIns="0" bIns="0" rtlCol="0" anchor="t"/>
          <a:lstStyle/>
          <a:p>
            <a:pPr indent="0" marL="0">
              <a:buNone/>
            </a:pPr>
            <a:r>
              <a:rPr lang="it-IT" sz="900" b="1" dirty="0">
                <a:solidFill>
                  <a:schemeClr val="accent2"/>
                </a:solidFill>
              </a:rPr>
              <a:t>SLIDE 2</a:t>
            </a:r>
            <a:endParaRPr lang="it-IT" sz="900" dirty="0"/>
          </a:p>
        </p:txBody>
      </p:sp>
      <p:sp>
        <p:nvSpPr>
          <p:cNvPr id="24" name="Text 21"/>
          <p:cNvSpPr txBox="1"/>
          <p:nvPr/>
        </p:nvSpPr>
        <p:spPr>
          <a:xfrm>
            <a:off x="4434840" y="2304288"/>
            <a:ext cx="1737360" cy="502920"/>
          </a:xfrm>
          <a:prstGeom prst="rect">
            <a:avLst/>
          </a:prstGeom>
          <a:noFill/>
          <a:ln/>
        </p:spPr>
        <p:txBody>
          <a:bodyPr wrap="square" lIns="0" tIns="0" rIns="0" bIns="0" rtlCol="0" anchor="t"/>
          <a:lstStyle/>
          <a:p>
            <a:pPr indent="0" marL="0">
              <a:buNone/>
            </a:pPr>
            <a:r>
              <a:rPr lang="it-IT" sz="1200" b="1" dirty="0">
                <a:solidFill>
                  <a:schemeClr val="tx1"/>
                </a:solidFill>
              </a:rPr>
              <a:t>La proposta in tre passi</a:t>
            </a:r>
            <a:endParaRPr lang="it-IT" sz="1200" dirty="0"/>
          </a:p>
        </p:txBody>
      </p:sp>
      <p:sp>
        <p:nvSpPr>
          <p:cNvPr id="25" name="blocco Modulo online"/>
          <p:cNvSpPr/>
          <p:nvPr/>
        </p:nvSpPr>
        <p:spPr>
          <a:xfrm>
            <a:off x="6035040" y="2212848"/>
            <a:ext cx="822960" cy="457200"/>
          </a:xfrm>
          <a:prstGeom prst="roundRect">
            <a:avLst>
              <a:gd name="adj" fmla="val 24000"/>
            </a:avLst>
          </a:prstGeom>
          <a:solidFill>
            <a:schemeClr val="accent6"/>
          </a:solidFill>
          <a:ln/>
        </p:spPr>
      </p:sp>
      <p:sp>
        <p:nvSpPr>
          <p:cNvPr id="26" name="Text 23"/>
          <p:cNvSpPr txBox="1"/>
          <p:nvPr/>
        </p:nvSpPr>
        <p:spPr>
          <a:xfrm>
            <a:off x="6080760" y="2212848"/>
            <a:ext cx="731520" cy="457200"/>
          </a:xfrm>
          <a:prstGeom prst="rect">
            <a:avLst/>
          </a:prstGeom>
          <a:noFill/>
          <a:ln/>
        </p:spPr>
        <p:txBody>
          <a:bodyPr wrap="square" lIns="0" tIns="0" rIns="0" bIns="0" rtlCol="0" anchor="ctr"/>
          <a:lstStyle/>
          <a:p>
            <a:pPr algn="ctr" indent="0" marL="0">
              <a:buNone/>
            </a:pPr>
            <a:r>
              <a:rPr lang="it-IT" sz="800" b="1" dirty="0">
                <a:solidFill>
                  <a:schemeClr val="tx1"/>
                </a:solidFill>
              </a:rPr>
              <a:t>Modulo online</a:t>
            </a:r>
            <a:endParaRPr lang="it-IT" sz="800" dirty="0"/>
          </a:p>
        </p:txBody>
      </p:sp>
      <p:sp>
        <p:nvSpPr>
          <p:cNvPr id="27" name="blocco Garanzia verificata"/>
          <p:cNvSpPr/>
          <p:nvPr/>
        </p:nvSpPr>
        <p:spPr>
          <a:xfrm>
            <a:off x="6922008" y="2212848"/>
            <a:ext cx="822960" cy="457200"/>
          </a:xfrm>
          <a:prstGeom prst="roundRect">
            <a:avLst>
              <a:gd name="adj" fmla="val 24000"/>
            </a:avLst>
          </a:prstGeom>
          <a:solidFill>
            <a:schemeClr val="accent6"/>
          </a:solidFill>
          <a:ln/>
        </p:spPr>
      </p:sp>
      <p:sp>
        <p:nvSpPr>
          <p:cNvPr id="28" name="Text 25"/>
          <p:cNvSpPr txBox="1"/>
          <p:nvPr/>
        </p:nvSpPr>
        <p:spPr>
          <a:xfrm>
            <a:off x="6967728" y="2212848"/>
            <a:ext cx="731520" cy="457200"/>
          </a:xfrm>
          <a:prstGeom prst="rect">
            <a:avLst/>
          </a:prstGeom>
          <a:noFill/>
          <a:ln/>
        </p:spPr>
        <p:txBody>
          <a:bodyPr wrap="square" lIns="0" tIns="0" rIns="0" bIns="0" rtlCol="0" anchor="ctr"/>
          <a:lstStyle/>
          <a:p>
            <a:pPr algn="ctr" indent="0" marL="0">
              <a:buNone/>
            </a:pPr>
            <a:r>
              <a:rPr lang="it-IT" sz="800" b="1" dirty="0">
                <a:solidFill>
                  <a:schemeClr val="tx1"/>
                </a:solidFill>
              </a:rPr>
              <a:t>Garanzia verificata</a:t>
            </a:r>
            <a:endParaRPr lang="it-IT" sz="800" dirty="0"/>
          </a:p>
        </p:txBody>
      </p:sp>
      <p:sp>
        <p:nvSpPr>
          <p:cNvPr id="29" name="blocco Cliente informato"/>
          <p:cNvSpPr/>
          <p:nvPr/>
        </p:nvSpPr>
        <p:spPr>
          <a:xfrm>
            <a:off x="7808976" y="2212848"/>
            <a:ext cx="822960" cy="457200"/>
          </a:xfrm>
          <a:prstGeom prst="roundRect">
            <a:avLst>
              <a:gd name="adj" fmla="val 24000"/>
            </a:avLst>
          </a:prstGeom>
          <a:solidFill>
            <a:schemeClr val="accent6"/>
          </a:solidFill>
          <a:ln/>
        </p:spPr>
      </p:sp>
      <p:sp>
        <p:nvSpPr>
          <p:cNvPr id="30" name="Text 27"/>
          <p:cNvSpPr txBox="1"/>
          <p:nvPr/>
        </p:nvSpPr>
        <p:spPr>
          <a:xfrm>
            <a:off x="7854696" y="2212848"/>
            <a:ext cx="731520" cy="457200"/>
          </a:xfrm>
          <a:prstGeom prst="rect">
            <a:avLst/>
          </a:prstGeom>
          <a:noFill/>
          <a:ln/>
        </p:spPr>
        <p:txBody>
          <a:bodyPr wrap="square" lIns="0" tIns="0" rIns="0" bIns="0" rtlCol="0" anchor="ctr"/>
          <a:lstStyle/>
          <a:p>
            <a:pPr algn="ctr" indent="0" marL="0">
              <a:buNone/>
            </a:pPr>
            <a:r>
              <a:rPr lang="it-IT" sz="800" b="1" dirty="0">
                <a:solidFill>
                  <a:schemeClr val="tx1"/>
                </a:solidFill>
              </a:rPr>
              <a:t>Cliente informato</a:t>
            </a:r>
            <a:endParaRPr lang="it-IT" sz="800" dirty="0"/>
          </a:p>
        </p:txBody>
      </p:sp>
      <p:sp>
        <p:nvSpPr>
          <p:cNvPr id="31" name="miniatura SLIDE 3"/>
          <p:cNvSpPr/>
          <p:nvPr/>
        </p:nvSpPr>
        <p:spPr>
          <a:xfrm>
            <a:off x="4251960" y="2971800"/>
            <a:ext cx="4434840" cy="868680"/>
          </a:xfrm>
          <a:prstGeom prst="rect">
            <a:avLst/>
          </a:prstGeom>
          <a:solidFill>
            <a:schemeClr val="bg1"/>
          </a:solidFill>
          <a:ln w="12700">
            <a:solidFill>
              <a:schemeClr val="accent3"/>
            </a:solidFill>
            <a:prstDash val="solid"/>
          </a:ln>
          <a:effectLst>
            <a:outerShdw sx="100000" sy="100000" kx="0" ky="0" algn="bl" rotWithShape="0" blurRad="25400" dist="12700" dir="2700000">
              <a:srgbClr val="000000">
                <a:alpha val="12000"/>
              </a:srgbClr>
            </a:outerShdw>
          </a:effectLst>
        </p:spPr>
      </p:sp>
      <p:sp>
        <p:nvSpPr>
          <p:cNvPr id="32" name="barra miniatura"/>
          <p:cNvSpPr/>
          <p:nvPr/>
        </p:nvSpPr>
        <p:spPr>
          <a:xfrm>
            <a:off x="4251960" y="2971800"/>
            <a:ext cx="64008" cy="868680"/>
          </a:xfrm>
          <a:prstGeom prst="rect">
            <a:avLst/>
          </a:prstGeom>
          <a:solidFill>
            <a:schemeClr val="accent1"/>
          </a:solidFill>
          <a:ln/>
        </p:spPr>
      </p:sp>
      <p:sp>
        <p:nvSpPr>
          <p:cNvPr id="33" name="Text 30"/>
          <p:cNvSpPr txBox="1"/>
          <p:nvPr/>
        </p:nvSpPr>
        <p:spPr>
          <a:xfrm>
            <a:off x="4434840" y="3044952"/>
            <a:ext cx="1737360" cy="219456"/>
          </a:xfrm>
          <a:prstGeom prst="rect">
            <a:avLst/>
          </a:prstGeom>
          <a:noFill/>
          <a:ln/>
        </p:spPr>
        <p:txBody>
          <a:bodyPr wrap="square" lIns="0" tIns="0" rIns="0" bIns="0" rtlCol="0" anchor="t"/>
          <a:lstStyle/>
          <a:p>
            <a:pPr indent="0" marL="0">
              <a:buNone/>
            </a:pPr>
            <a:r>
              <a:rPr lang="it-IT" sz="900" b="1" dirty="0">
                <a:solidFill>
                  <a:schemeClr val="accent2"/>
                </a:solidFill>
              </a:rPr>
              <a:t>SLIDE 3</a:t>
            </a:r>
            <a:endParaRPr lang="it-IT" sz="900" dirty="0"/>
          </a:p>
        </p:txBody>
      </p:sp>
      <p:sp>
        <p:nvSpPr>
          <p:cNvPr id="34" name="Text 31"/>
          <p:cNvSpPr txBox="1"/>
          <p:nvPr/>
        </p:nvSpPr>
        <p:spPr>
          <a:xfrm>
            <a:off x="4434840" y="3264408"/>
            <a:ext cx="1737360" cy="502920"/>
          </a:xfrm>
          <a:prstGeom prst="rect">
            <a:avLst/>
          </a:prstGeom>
          <a:noFill/>
          <a:ln/>
        </p:spPr>
        <p:txBody>
          <a:bodyPr wrap="square" lIns="0" tIns="0" rIns="0" bIns="0" rtlCol="0" anchor="t"/>
          <a:lstStyle/>
          <a:p>
            <a:pPr indent="0" marL="0">
              <a:buNone/>
            </a:pPr>
            <a:r>
              <a:rPr lang="it-IT" sz="1200" b="1" dirty="0">
                <a:solidFill>
                  <a:schemeClr val="tx1"/>
                </a:solidFill>
              </a:rPr>
              <a:t>Tempi e rischi</a:t>
            </a:r>
            <a:endParaRPr lang="it-IT" sz="1200" dirty="0"/>
          </a:p>
        </p:txBody>
      </p:sp>
      <p:sp>
        <p:nvSpPr>
          <p:cNvPr id="35" name="blocco Gen: pilota"/>
          <p:cNvSpPr/>
          <p:nvPr/>
        </p:nvSpPr>
        <p:spPr>
          <a:xfrm>
            <a:off x="6035040" y="3044952"/>
            <a:ext cx="1234440" cy="329184"/>
          </a:xfrm>
          <a:prstGeom prst="roundRect">
            <a:avLst>
              <a:gd name="adj" fmla="val 33333"/>
            </a:avLst>
          </a:prstGeom>
          <a:solidFill>
            <a:schemeClr val="accent6"/>
          </a:solidFill>
          <a:ln/>
        </p:spPr>
      </p:sp>
      <p:sp>
        <p:nvSpPr>
          <p:cNvPr id="36" name="Text 33"/>
          <p:cNvSpPr txBox="1"/>
          <p:nvPr/>
        </p:nvSpPr>
        <p:spPr>
          <a:xfrm>
            <a:off x="6080760" y="3044952"/>
            <a:ext cx="1143000" cy="329184"/>
          </a:xfrm>
          <a:prstGeom prst="rect">
            <a:avLst/>
          </a:prstGeom>
          <a:noFill/>
          <a:ln/>
        </p:spPr>
        <p:txBody>
          <a:bodyPr wrap="square" lIns="0" tIns="0" rIns="0" bIns="0" rtlCol="0" anchor="ctr"/>
          <a:lstStyle/>
          <a:p>
            <a:pPr algn="ctr" indent="0" marL="0">
              <a:buNone/>
            </a:pPr>
            <a:r>
              <a:rPr lang="it-IT" sz="900" b="1" dirty="0">
                <a:solidFill>
                  <a:schemeClr val="tx1"/>
                </a:solidFill>
              </a:rPr>
              <a:t>Gen: pilota</a:t>
            </a:r>
            <a:endParaRPr lang="it-IT" sz="900" dirty="0"/>
          </a:p>
        </p:txBody>
      </p:sp>
      <p:sp>
        <p:nvSpPr>
          <p:cNvPr id="37" name="blocco Mar: estensione"/>
          <p:cNvSpPr/>
          <p:nvPr/>
        </p:nvSpPr>
        <p:spPr>
          <a:xfrm>
            <a:off x="7360920" y="3044952"/>
            <a:ext cx="1234440" cy="329184"/>
          </a:xfrm>
          <a:prstGeom prst="roundRect">
            <a:avLst>
              <a:gd name="adj" fmla="val 33333"/>
            </a:avLst>
          </a:prstGeom>
          <a:solidFill>
            <a:schemeClr val="accent6"/>
          </a:solidFill>
          <a:ln/>
        </p:spPr>
      </p:sp>
      <p:sp>
        <p:nvSpPr>
          <p:cNvPr id="38" name="Text 35"/>
          <p:cNvSpPr txBox="1"/>
          <p:nvPr/>
        </p:nvSpPr>
        <p:spPr>
          <a:xfrm>
            <a:off x="7406640" y="3044952"/>
            <a:ext cx="1143000" cy="329184"/>
          </a:xfrm>
          <a:prstGeom prst="rect">
            <a:avLst/>
          </a:prstGeom>
          <a:noFill/>
          <a:ln/>
        </p:spPr>
        <p:txBody>
          <a:bodyPr wrap="square" lIns="0" tIns="0" rIns="0" bIns="0" rtlCol="0" anchor="ctr"/>
          <a:lstStyle/>
          <a:p>
            <a:pPr algn="ctr" indent="0" marL="0">
              <a:buNone/>
            </a:pPr>
            <a:r>
              <a:rPr lang="it-IT" sz="900" b="1" dirty="0">
                <a:solidFill>
                  <a:schemeClr val="tx1"/>
                </a:solidFill>
              </a:rPr>
              <a:t>Mar: estensione</a:t>
            </a:r>
            <a:endParaRPr lang="it-IT" sz="900" dirty="0"/>
          </a:p>
        </p:txBody>
      </p:sp>
      <p:sp>
        <p:nvSpPr>
          <p:cNvPr id="39" name="Text 36"/>
          <p:cNvSpPr txBox="1"/>
          <p:nvPr/>
        </p:nvSpPr>
        <p:spPr>
          <a:xfrm>
            <a:off x="6035040" y="3429000"/>
            <a:ext cx="2560320" cy="320040"/>
          </a:xfrm>
          <a:prstGeom prst="rect">
            <a:avLst/>
          </a:prstGeom>
          <a:noFill/>
          <a:ln/>
        </p:spPr>
        <p:txBody>
          <a:bodyPr wrap="square" lIns="0" tIns="0" rIns="0" bIns="0" rtlCol="0" anchor="t"/>
          <a:lstStyle/>
          <a:p>
            <a:pPr indent="0" marL="0">
              <a:buNone/>
            </a:pPr>
            <a:r>
              <a:rPr lang="it-IT" sz="900" b="1" dirty="0">
                <a:solidFill>
                  <a:schemeClr val="accent5"/>
                </a:solidFill>
              </a:rPr>
              <a:t>Rischi: formazione, integrazione</a:t>
            </a:r>
            <a:endParaRPr lang="it-IT" sz="900" dirty="0"/>
          </a:p>
        </p:txBody>
      </p:sp>
      <p:sp>
        <p:nvSpPr>
          <p:cNvPr id="40" name="messaggio"/>
          <p:cNvSpPr/>
          <p:nvPr/>
        </p:nvSpPr>
        <p:spPr>
          <a:xfrm>
            <a:off x="457200" y="4023360"/>
            <a:ext cx="8229600" cy="502920"/>
          </a:xfrm>
          <a:prstGeom prst="roundRect">
            <a:avLst>
              <a:gd name="adj" fmla="val 14545"/>
            </a:avLst>
          </a:prstGeom>
          <a:solidFill>
            <a:schemeClr val="tx1"/>
          </a:solidFill>
          <a:ln/>
        </p:spPr>
      </p:sp>
      <p:sp>
        <p:nvSpPr>
          <p:cNvPr id="41" name="Text 38"/>
          <p:cNvSpPr txBox="1"/>
          <p:nvPr/>
        </p:nvSpPr>
        <p:spPr>
          <a:xfrm>
            <a:off x="640080" y="4023360"/>
            <a:ext cx="7863840" cy="502920"/>
          </a:xfrm>
          <a:prstGeom prst="rect">
            <a:avLst/>
          </a:prstGeom>
          <a:noFill/>
          <a:ln/>
        </p:spPr>
        <p:txBody>
          <a:bodyPr wrap="square" lIns="0" tIns="0" rIns="0" bIns="0" rtlCol="0" anchor="ctr"/>
          <a:lstStyle/>
          <a:p>
            <a:pPr indent="0" marL="0">
              <a:buNone/>
            </a:pPr>
            <a:r>
              <a:rPr lang="it-IT" sz="1300" dirty="0">
                <a:solidFill>
                  <a:schemeClr val="bg1"/>
                </a:solidFill>
              </a:rPr>
              <a:t>Esempio fittizio. Controllo: numeri, fasi e rischi coincidono con il documento?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39</a:t>
            </a:fld>
            <a:endParaRPr lang="it-IT"/>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Adattare ai destinatari</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sp>
        <p:nvSpPr>
          <p:cNvPr id="10" name="riquadro Un documento di progetto"/>
          <p:cNvSpPr/>
          <p:nvPr/>
        </p:nvSpPr>
        <p:spPr>
          <a:xfrm>
            <a:off x="457200" y="1051560"/>
            <a:ext cx="2377440" cy="2377440"/>
          </a:xfrm>
          <a:prstGeom prst="roundRect">
            <a:avLst>
              <a:gd name="adj" fmla="val 3077"/>
            </a:avLst>
          </a:prstGeom>
          <a:solidFill>
            <a:schemeClr val="accent6"/>
          </a:solidFill>
          <a:ln/>
        </p:spPr>
      </p:sp>
      <p:sp>
        <p:nvSpPr>
          <p:cNvPr id="11" name="barra"/>
          <p:cNvSpPr/>
          <p:nvPr/>
        </p:nvSpPr>
        <p:spPr>
          <a:xfrm>
            <a:off x="457200" y="1161288"/>
            <a:ext cx="54864" cy="2157984"/>
          </a:xfrm>
          <a:prstGeom prst="rect">
            <a:avLst/>
          </a:prstGeom>
          <a:solidFill>
            <a:schemeClr val="accent1"/>
          </a:solidFill>
          <a:ln/>
        </p:spPr>
      </p:sp>
      <p:sp>
        <p:nvSpPr>
          <p:cNvPr id="12" name="Text 9"/>
          <p:cNvSpPr txBox="1"/>
          <p:nvPr/>
        </p:nvSpPr>
        <p:spPr>
          <a:xfrm>
            <a:off x="658368" y="1143000"/>
            <a:ext cx="2011680" cy="256032"/>
          </a:xfrm>
          <a:prstGeom prst="rect">
            <a:avLst/>
          </a:prstGeom>
          <a:noFill/>
          <a:ln/>
        </p:spPr>
        <p:txBody>
          <a:bodyPr wrap="square" lIns="0" tIns="0" rIns="0" bIns="0" rtlCol="0" anchor="t"/>
          <a:lstStyle/>
          <a:p>
            <a:pPr indent="0" marL="0">
              <a:buNone/>
            </a:pPr>
            <a:r>
              <a:rPr lang="it-IT" sz="1100" b="1" dirty="0">
                <a:solidFill>
                  <a:schemeClr val="accent1"/>
                </a:solidFill>
              </a:rPr>
              <a:t>Un documento di progetto</a:t>
            </a:r>
            <a:endParaRPr lang="it-IT" sz="1100" dirty="0"/>
          </a:p>
        </p:txBody>
      </p:sp>
      <p:sp>
        <p:nvSpPr>
          <p:cNvPr id="13" name="Text 10"/>
          <p:cNvSpPr txBox="1"/>
          <p:nvPr/>
        </p:nvSpPr>
        <p:spPr>
          <a:xfrm>
            <a:off x="658368" y="1435608"/>
            <a:ext cx="2011680" cy="1901952"/>
          </a:xfrm>
          <a:prstGeom prst="rect">
            <a:avLst/>
          </a:prstGeom>
          <a:noFill/>
          <a:ln/>
        </p:spPr>
        <p:txBody>
          <a:bodyPr wrap="square" lIns="0" tIns="0" rIns="0" bIns="0" rtlCol="0" anchor="t"/>
          <a:lstStyle/>
          <a:p>
            <a:pPr indent="0" marL="0">
              <a:buNone/>
            </a:pPr>
            <a:r>
              <a:rPr lang="it-IT" sz="1200" dirty="0">
                <a:solidFill>
                  <a:schemeClr val="tx1"/>
                </a:solidFill>
              </a:rPr>
              <a:t>Obiettivi, attività, tempi, costi, rischi, responsabilità, istruzioni.</a:t>
            </a:r>
            <a:endParaRPr lang="it-IT" sz="1200" dirty="0"/>
          </a:p>
        </p:txBody>
      </p:sp>
      <p:sp>
        <p:nvSpPr>
          <p:cNvPr id="14" name="freccia"/>
          <p:cNvSpPr/>
          <p:nvPr/>
        </p:nvSpPr>
        <p:spPr>
          <a:xfrm>
            <a:off x="2926080" y="2103120"/>
            <a:ext cx="320040" cy="292608"/>
          </a:xfrm>
          <a:prstGeom prst="rightArrow">
            <a:avLst/>
          </a:prstGeom>
          <a:solidFill>
            <a:schemeClr val="accent2"/>
          </a:solidFill>
          <a:ln/>
        </p:spPr>
      </p:sp>
      <p:sp>
        <p:nvSpPr>
          <p:cNvPr id="15" name="Direzione"/>
          <p:cNvSpPr/>
          <p:nvPr/>
        </p:nvSpPr>
        <p:spPr>
          <a:xfrm>
            <a:off x="3383280" y="1051560"/>
            <a:ext cx="5303520" cy="530352"/>
          </a:xfrm>
          <a:prstGeom prst="roundRect">
            <a:avLst>
              <a:gd name="adj" fmla="val 13793"/>
            </a:avLst>
          </a:prstGeom>
          <a:solidFill>
            <a:schemeClr val="bg2"/>
          </a:solidFill>
          <a:ln/>
        </p:spPr>
      </p:sp>
      <p:sp>
        <p:nvSpPr>
          <p:cNvPr id="16" name="Text 13"/>
          <p:cNvSpPr txBox="1"/>
          <p:nvPr/>
        </p:nvSpPr>
        <p:spPr>
          <a:xfrm>
            <a:off x="3566160" y="1051560"/>
            <a:ext cx="2103120" cy="530352"/>
          </a:xfrm>
          <a:prstGeom prst="rect">
            <a:avLst/>
          </a:prstGeom>
          <a:noFill/>
          <a:ln/>
        </p:spPr>
        <p:txBody>
          <a:bodyPr wrap="square" lIns="0" tIns="0" rIns="0" bIns="0" rtlCol="0" anchor="ctr"/>
          <a:lstStyle/>
          <a:p>
            <a:pPr indent="0" marL="0">
              <a:buNone/>
            </a:pPr>
            <a:r>
              <a:rPr lang="it-IT" sz="1300" b="1" dirty="0">
                <a:solidFill>
                  <a:schemeClr val="accent1"/>
                </a:solidFill>
              </a:rPr>
              <a:t>Direzione</a:t>
            </a:r>
            <a:endParaRPr lang="it-IT" sz="1300" dirty="0"/>
          </a:p>
        </p:txBody>
      </p:sp>
      <p:sp>
        <p:nvSpPr>
          <p:cNvPr id="17" name="Text 14"/>
          <p:cNvSpPr txBox="1"/>
          <p:nvPr/>
        </p:nvSpPr>
        <p:spPr>
          <a:xfrm>
            <a:off x="5669280" y="1051560"/>
            <a:ext cx="2926080" cy="530352"/>
          </a:xfrm>
          <a:prstGeom prst="rect">
            <a:avLst/>
          </a:prstGeom>
          <a:noFill/>
          <a:ln/>
        </p:spPr>
        <p:txBody>
          <a:bodyPr wrap="square" lIns="0" tIns="0" rIns="0" bIns="0" rtlCol="0" anchor="ctr"/>
          <a:lstStyle/>
          <a:p>
            <a:pPr indent="0" marL="0">
              <a:buNone/>
            </a:pPr>
            <a:r>
              <a:rPr lang="it-IT" sz="1200" dirty="0">
                <a:solidFill>
                  <a:schemeClr val="tx1"/>
                </a:solidFill>
              </a:rPr>
              <a:t>Obiettivi, costi, rischi</a:t>
            </a:r>
            <a:endParaRPr lang="it-IT" sz="1200" dirty="0"/>
          </a:p>
        </p:txBody>
      </p:sp>
      <p:sp>
        <p:nvSpPr>
          <p:cNvPr id="18" name="Gruppo di lavoro"/>
          <p:cNvSpPr/>
          <p:nvPr/>
        </p:nvSpPr>
        <p:spPr>
          <a:xfrm>
            <a:off x="3383280" y="1655064"/>
            <a:ext cx="5303520" cy="530352"/>
          </a:xfrm>
          <a:prstGeom prst="roundRect">
            <a:avLst>
              <a:gd name="adj" fmla="val 13793"/>
            </a:avLst>
          </a:prstGeom>
          <a:solidFill>
            <a:schemeClr val="bg1"/>
          </a:solidFill>
          <a:ln/>
        </p:spPr>
      </p:sp>
      <p:sp>
        <p:nvSpPr>
          <p:cNvPr id="19" name="Text 16"/>
          <p:cNvSpPr txBox="1"/>
          <p:nvPr/>
        </p:nvSpPr>
        <p:spPr>
          <a:xfrm>
            <a:off x="3566160" y="1655064"/>
            <a:ext cx="2103120" cy="530352"/>
          </a:xfrm>
          <a:prstGeom prst="rect">
            <a:avLst/>
          </a:prstGeom>
          <a:noFill/>
          <a:ln/>
        </p:spPr>
        <p:txBody>
          <a:bodyPr wrap="square" lIns="0" tIns="0" rIns="0" bIns="0" rtlCol="0" anchor="ctr"/>
          <a:lstStyle/>
          <a:p>
            <a:pPr indent="0" marL="0">
              <a:buNone/>
            </a:pPr>
            <a:r>
              <a:rPr lang="it-IT" sz="1300" b="1" dirty="0">
                <a:solidFill>
                  <a:schemeClr val="accent1"/>
                </a:solidFill>
              </a:rPr>
              <a:t>Gruppo di lavoro</a:t>
            </a:r>
            <a:endParaRPr lang="it-IT" sz="1300" dirty="0"/>
          </a:p>
        </p:txBody>
      </p:sp>
      <p:sp>
        <p:nvSpPr>
          <p:cNvPr id="20" name="Text 17"/>
          <p:cNvSpPr txBox="1"/>
          <p:nvPr/>
        </p:nvSpPr>
        <p:spPr>
          <a:xfrm>
            <a:off x="5669280" y="1655064"/>
            <a:ext cx="2926080" cy="530352"/>
          </a:xfrm>
          <a:prstGeom prst="rect">
            <a:avLst/>
          </a:prstGeom>
          <a:noFill/>
          <a:ln/>
        </p:spPr>
        <p:txBody>
          <a:bodyPr wrap="square" lIns="0" tIns="0" rIns="0" bIns="0" rtlCol="0" anchor="ctr"/>
          <a:lstStyle/>
          <a:p>
            <a:pPr indent="0" marL="0">
              <a:buNone/>
            </a:pPr>
            <a:r>
              <a:rPr lang="it-IT" sz="1200" dirty="0">
                <a:solidFill>
                  <a:schemeClr val="tx1"/>
                </a:solidFill>
              </a:rPr>
              <a:t>Attività, tempi, responsabilità</a:t>
            </a:r>
            <a:endParaRPr lang="it-IT" sz="1200" dirty="0"/>
          </a:p>
        </p:txBody>
      </p:sp>
      <p:sp>
        <p:nvSpPr>
          <p:cNvPr id="21" name="Formazione"/>
          <p:cNvSpPr/>
          <p:nvPr/>
        </p:nvSpPr>
        <p:spPr>
          <a:xfrm>
            <a:off x="3383280" y="2258568"/>
            <a:ext cx="5303520" cy="530352"/>
          </a:xfrm>
          <a:prstGeom prst="roundRect">
            <a:avLst>
              <a:gd name="adj" fmla="val 13793"/>
            </a:avLst>
          </a:prstGeom>
          <a:solidFill>
            <a:schemeClr val="bg2"/>
          </a:solidFill>
          <a:ln/>
        </p:spPr>
      </p:sp>
      <p:sp>
        <p:nvSpPr>
          <p:cNvPr id="22" name="Text 19"/>
          <p:cNvSpPr txBox="1"/>
          <p:nvPr/>
        </p:nvSpPr>
        <p:spPr>
          <a:xfrm>
            <a:off x="3566160" y="2258568"/>
            <a:ext cx="2103120" cy="530352"/>
          </a:xfrm>
          <a:prstGeom prst="rect">
            <a:avLst/>
          </a:prstGeom>
          <a:noFill/>
          <a:ln/>
        </p:spPr>
        <p:txBody>
          <a:bodyPr wrap="square" lIns="0" tIns="0" rIns="0" bIns="0" rtlCol="0" anchor="ctr"/>
          <a:lstStyle/>
          <a:p>
            <a:pPr indent="0" marL="0">
              <a:buNone/>
            </a:pPr>
            <a:r>
              <a:rPr lang="it-IT" sz="1300" b="1" dirty="0">
                <a:solidFill>
                  <a:schemeClr val="accent1"/>
                </a:solidFill>
              </a:rPr>
              <a:t>Formazione</a:t>
            </a:r>
            <a:endParaRPr lang="it-IT" sz="1300" dirty="0"/>
          </a:p>
        </p:txBody>
      </p:sp>
      <p:sp>
        <p:nvSpPr>
          <p:cNvPr id="23" name="Text 20"/>
          <p:cNvSpPr txBox="1"/>
          <p:nvPr/>
        </p:nvSpPr>
        <p:spPr>
          <a:xfrm>
            <a:off x="5669280" y="2258568"/>
            <a:ext cx="2926080" cy="530352"/>
          </a:xfrm>
          <a:prstGeom prst="rect">
            <a:avLst/>
          </a:prstGeom>
          <a:noFill/>
          <a:ln/>
        </p:spPr>
        <p:txBody>
          <a:bodyPr wrap="square" lIns="0" tIns="0" rIns="0" bIns="0" rtlCol="0" anchor="ctr"/>
          <a:lstStyle/>
          <a:p>
            <a:pPr indent="0" marL="0">
              <a:buNone/>
            </a:pPr>
            <a:r>
              <a:rPr lang="it-IT" sz="1200" dirty="0">
                <a:solidFill>
                  <a:schemeClr val="tx1"/>
                </a:solidFill>
              </a:rPr>
              <a:t>Istruzioni ed esempi</a:t>
            </a:r>
            <a:endParaRPr lang="it-IT" sz="1200" dirty="0"/>
          </a:p>
        </p:txBody>
      </p:sp>
      <p:sp>
        <p:nvSpPr>
          <p:cNvPr id="24" name="Comunicazione interna"/>
          <p:cNvSpPr/>
          <p:nvPr/>
        </p:nvSpPr>
        <p:spPr>
          <a:xfrm>
            <a:off x="3383280" y="2862072"/>
            <a:ext cx="5303520" cy="530352"/>
          </a:xfrm>
          <a:prstGeom prst="roundRect">
            <a:avLst>
              <a:gd name="adj" fmla="val 13793"/>
            </a:avLst>
          </a:prstGeom>
          <a:solidFill>
            <a:schemeClr val="bg1"/>
          </a:solidFill>
          <a:ln/>
        </p:spPr>
      </p:sp>
      <p:sp>
        <p:nvSpPr>
          <p:cNvPr id="25" name="Text 22"/>
          <p:cNvSpPr txBox="1"/>
          <p:nvPr/>
        </p:nvSpPr>
        <p:spPr>
          <a:xfrm>
            <a:off x="3566160" y="2862072"/>
            <a:ext cx="2103120" cy="530352"/>
          </a:xfrm>
          <a:prstGeom prst="rect">
            <a:avLst/>
          </a:prstGeom>
          <a:noFill/>
          <a:ln/>
        </p:spPr>
        <p:txBody>
          <a:bodyPr wrap="square" lIns="0" tIns="0" rIns="0" bIns="0" rtlCol="0" anchor="ctr"/>
          <a:lstStyle/>
          <a:p>
            <a:pPr indent="0" marL="0">
              <a:buNone/>
            </a:pPr>
            <a:r>
              <a:rPr lang="it-IT" sz="1300" b="1" dirty="0">
                <a:solidFill>
                  <a:schemeClr val="accent1"/>
                </a:solidFill>
              </a:rPr>
              <a:t>Comunicazione interna</a:t>
            </a:r>
            <a:endParaRPr lang="it-IT" sz="1300" dirty="0"/>
          </a:p>
        </p:txBody>
      </p:sp>
      <p:sp>
        <p:nvSpPr>
          <p:cNvPr id="26" name="Text 23"/>
          <p:cNvSpPr txBox="1"/>
          <p:nvPr/>
        </p:nvSpPr>
        <p:spPr>
          <a:xfrm>
            <a:off x="5669280" y="2862072"/>
            <a:ext cx="2926080" cy="530352"/>
          </a:xfrm>
          <a:prstGeom prst="rect">
            <a:avLst/>
          </a:prstGeom>
          <a:noFill/>
          <a:ln/>
        </p:spPr>
        <p:txBody>
          <a:bodyPr wrap="square" lIns="0" tIns="0" rIns="0" bIns="0" rtlCol="0" anchor="ctr"/>
          <a:lstStyle/>
          <a:p>
            <a:pPr indent="0" marL="0">
              <a:buNone/>
            </a:pPr>
            <a:r>
              <a:rPr lang="it-IT" sz="1200" dirty="0">
                <a:solidFill>
                  <a:schemeClr val="tx1"/>
                </a:solidFill>
              </a:rPr>
              <a:t>Breve e visiva</a:t>
            </a:r>
            <a:endParaRPr lang="it-IT" sz="1200" dirty="0"/>
          </a:p>
        </p:txBody>
      </p:sp>
      <p:sp>
        <p:nvSpPr>
          <p:cNvPr id="27" name="messaggio"/>
          <p:cNvSpPr/>
          <p:nvPr/>
        </p:nvSpPr>
        <p:spPr>
          <a:xfrm>
            <a:off x="457200" y="3611880"/>
            <a:ext cx="8229600" cy="685800"/>
          </a:xfrm>
          <a:prstGeom prst="roundRect">
            <a:avLst>
              <a:gd name="adj" fmla="val 10667"/>
            </a:avLst>
          </a:prstGeom>
          <a:solidFill>
            <a:schemeClr val="tx1"/>
          </a:solidFill>
          <a:ln/>
        </p:spPr>
      </p:sp>
      <p:sp>
        <p:nvSpPr>
          <p:cNvPr id="28" name="Text 25"/>
          <p:cNvSpPr txBox="1"/>
          <p:nvPr/>
        </p:nvSpPr>
        <p:spPr>
          <a:xfrm>
            <a:off x="640080" y="3611880"/>
            <a:ext cx="7863840" cy="685800"/>
          </a:xfrm>
          <a:prstGeom prst="rect">
            <a:avLst/>
          </a:prstGeom>
          <a:noFill/>
          <a:ln/>
        </p:spPr>
        <p:txBody>
          <a:bodyPr wrap="square" lIns="0" tIns="0" rIns="0" bIns="0" rtlCol="0" anchor="ctr"/>
          <a:lstStyle/>
          <a:p>
            <a:pPr indent="0" marL="0">
              <a:buNone/>
            </a:pPr>
            <a:r>
              <a:rPr lang="it-IT" sz="1300" dirty="0">
                <a:solidFill>
                  <a:schemeClr val="bg1"/>
                </a:solidFill>
              </a:rPr>
              <a:t>Ogni versione seleziona: si controlla pensando al suo destinatario.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40</a:t>
            </a:fld>
            <a:endParaRPr lang="it-IT"/>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Coerenza tra testo e visivo</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sp>
        <p:nvSpPr>
          <p:cNvPr id="10" name="riquadro Rapporto (esempio fittizio)"/>
          <p:cNvSpPr/>
          <p:nvPr/>
        </p:nvSpPr>
        <p:spPr>
          <a:xfrm>
            <a:off x="457200" y="1051560"/>
            <a:ext cx="3291840" cy="1371600"/>
          </a:xfrm>
          <a:prstGeom prst="roundRect">
            <a:avLst>
              <a:gd name="adj" fmla="val 5333"/>
            </a:avLst>
          </a:prstGeom>
          <a:solidFill>
            <a:schemeClr val="accent6"/>
          </a:solidFill>
          <a:ln/>
        </p:spPr>
      </p:sp>
      <p:sp>
        <p:nvSpPr>
          <p:cNvPr id="11" name="barra"/>
          <p:cNvSpPr/>
          <p:nvPr/>
        </p:nvSpPr>
        <p:spPr>
          <a:xfrm>
            <a:off x="457200" y="1161288"/>
            <a:ext cx="54864" cy="1152144"/>
          </a:xfrm>
          <a:prstGeom prst="rect">
            <a:avLst/>
          </a:prstGeom>
          <a:solidFill>
            <a:schemeClr val="accent1"/>
          </a:solidFill>
          <a:ln/>
        </p:spPr>
      </p:sp>
      <p:sp>
        <p:nvSpPr>
          <p:cNvPr id="12" name="Text 9"/>
          <p:cNvSpPr txBox="1"/>
          <p:nvPr/>
        </p:nvSpPr>
        <p:spPr>
          <a:xfrm>
            <a:off x="658368" y="1143000"/>
            <a:ext cx="2926080" cy="256032"/>
          </a:xfrm>
          <a:prstGeom prst="rect">
            <a:avLst/>
          </a:prstGeom>
          <a:noFill/>
          <a:ln/>
        </p:spPr>
        <p:txBody>
          <a:bodyPr wrap="square" lIns="0" tIns="0" rIns="0" bIns="0" rtlCol="0" anchor="t"/>
          <a:lstStyle/>
          <a:p>
            <a:pPr indent="0" marL="0">
              <a:buNone/>
            </a:pPr>
            <a:r>
              <a:rPr lang="it-IT" sz="1100" b="1" dirty="0">
                <a:solidFill>
                  <a:schemeClr val="accent1"/>
                </a:solidFill>
              </a:rPr>
              <a:t>Rapporto (esempio fittizio)</a:t>
            </a:r>
            <a:endParaRPr lang="it-IT" sz="1100" dirty="0"/>
          </a:p>
        </p:txBody>
      </p:sp>
      <p:sp>
        <p:nvSpPr>
          <p:cNvPr id="13" name="Text 10"/>
          <p:cNvSpPr txBox="1"/>
          <p:nvPr/>
        </p:nvSpPr>
        <p:spPr>
          <a:xfrm>
            <a:off x="658368" y="1435608"/>
            <a:ext cx="2926080" cy="896112"/>
          </a:xfrm>
          <a:prstGeom prst="rect">
            <a:avLst/>
          </a:prstGeom>
          <a:noFill/>
          <a:ln/>
        </p:spPr>
        <p:txBody>
          <a:bodyPr wrap="square" lIns="0" tIns="0" rIns="0" bIns="0" rtlCol="0" anchor="t"/>
          <a:lstStyle/>
          <a:p>
            <a:pPr indent="0" marL="0">
              <a:buNone/>
            </a:pPr>
            <a:r>
              <a:rPr lang="it-IT" sz="1400" dirty="0">
                <a:solidFill>
                  <a:schemeClr val="tx1"/>
                </a:solidFill>
              </a:rPr>
              <a:t>Le vendite online sono il 35% del totale.</a:t>
            </a:r>
            <a:endParaRPr lang="it-IT" sz="1400" dirty="0"/>
          </a:p>
        </p:txBody>
      </p:sp>
      <p:graphicFrame>
        <p:nvGraphicFramePr>
          <p:cNvPr id="14" name="Chart 0" descr=""/>
          <p:cNvGraphicFramePr/>
          <p:nvPr/>
        </p:nvGraphicFramePr>
        <p:xfrm>
          <a:off x="3931920" y="1005840"/>
          <a:ext cx="1828800" cy="1463040"/>
        </p:xfrm>
        <a:graphic xmlns:a="http://schemas.openxmlformats.org/drawingml/2006/main">
          <a:graphicData uri="http://schemas.openxmlformats.org/drawingml/2006/chart">
            <c:chart xmlns:c="http://schemas.openxmlformats.org/drawingml/2006/chart" r:id="rId1"/>
          </a:graphicData>
        </a:graphic>
      </p:graphicFrame>
      <p:sp>
        <p:nvSpPr>
          <p:cNvPr id="15" name="Text 11"/>
          <p:cNvSpPr txBox="1"/>
          <p:nvPr/>
        </p:nvSpPr>
        <p:spPr>
          <a:xfrm>
            <a:off x="5852160" y="1097280"/>
            <a:ext cx="2834640" cy="1280160"/>
          </a:xfrm>
          <a:prstGeom prst="rect">
            <a:avLst/>
          </a:prstGeom>
          <a:noFill/>
          <a:ln/>
        </p:spPr>
        <p:txBody>
          <a:bodyPr wrap="square" lIns="0" tIns="0" rIns="0" bIns="0" rtlCol="0" anchor="ctr"/>
          <a:lstStyle/>
          <a:p>
            <a:pPr indent="0" marL="0">
              <a:buNone/>
            </a:pPr>
            <a:r>
              <a:rPr lang="it-IT" sz="1300" b="1" dirty="0">
                <a:solidFill>
                  <a:schemeClr val="accent5"/>
                </a:solidFill>
              </a:rPr>
              <a:t>Infografica: la fetta 'online' sembra metà</a:t>
            </a:r>
            <a:endParaRPr lang="it-IT" sz="1300" dirty="0"/>
          </a:p>
        </p:txBody>
      </p:sp>
      <p:sp>
        <p:nvSpPr>
          <p:cNvPr id="16" name="blocco Proporzioni disegnate, non calcolate"/>
          <p:cNvSpPr/>
          <p:nvPr/>
        </p:nvSpPr>
        <p:spPr>
          <a:xfrm>
            <a:off x="457200" y="2651760"/>
            <a:ext cx="1965960" cy="640080"/>
          </a:xfrm>
          <a:prstGeom prst="roundRect">
            <a:avLst>
              <a:gd name="adj" fmla="val 17143"/>
            </a:avLst>
          </a:prstGeom>
          <a:solidFill>
            <a:schemeClr val="bg2"/>
          </a:solidFill>
          <a:ln/>
        </p:spPr>
      </p:sp>
      <p:sp>
        <p:nvSpPr>
          <p:cNvPr id="17" name="Text 13"/>
          <p:cNvSpPr txBox="1"/>
          <p:nvPr/>
        </p:nvSpPr>
        <p:spPr>
          <a:xfrm>
            <a:off x="502920" y="2651760"/>
            <a:ext cx="1874520" cy="640080"/>
          </a:xfrm>
          <a:prstGeom prst="rect">
            <a:avLst/>
          </a:prstGeom>
          <a:noFill/>
          <a:ln/>
        </p:spPr>
        <p:txBody>
          <a:bodyPr wrap="square" lIns="0" tIns="0" rIns="0" bIns="0" rtlCol="0" anchor="ctr"/>
          <a:lstStyle/>
          <a:p>
            <a:pPr algn="ctr" indent="0" marL="0">
              <a:buNone/>
            </a:pPr>
            <a:r>
              <a:rPr lang="it-IT" sz="1100" b="1" dirty="0">
                <a:solidFill>
                  <a:schemeClr val="tx1"/>
                </a:solidFill>
              </a:rPr>
              <a:t>Proporzioni disegnate, non calcolate</a:t>
            </a:r>
            <a:endParaRPr lang="it-IT" sz="1100" dirty="0"/>
          </a:p>
        </p:txBody>
      </p:sp>
      <p:sp>
        <p:nvSpPr>
          <p:cNvPr id="18" name="blocco Icone che suggeriscono altro"/>
          <p:cNvSpPr/>
          <p:nvPr/>
        </p:nvSpPr>
        <p:spPr>
          <a:xfrm>
            <a:off x="2560320" y="2651760"/>
            <a:ext cx="1965960" cy="640080"/>
          </a:xfrm>
          <a:prstGeom prst="roundRect">
            <a:avLst>
              <a:gd name="adj" fmla="val 17143"/>
            </a:avLst>
          </a:prstGeom>
          <a:solidFill>
            <a:schemeClr val="bg2"/>
          </a:solidFill>
          <a:ln/>
        </p:spPr>
      </p:sp>
      <p:sp>
        <p:nvSpPr>
          <p:cNvPr id="19" name="Text 15"/>
          <p:cNvSpPr txBox="1"/>
          <p:nvPr/>
        </p:nvSpPr>
        <p:spPr>
          <a:xfrm>
            <a:off x="2606040" y="2651760"/>
            <a:ext cx="1874520" cy="640080"/>
          </a:xfrm>
          <a:prstGeom prst="rect">
            <a:avLst/>
          </a:prstGeom>
          <a:noFill/>
          <a:ln/>
        </p:spPr>
        <p:txBody>
          <a:bodyPr wrap="square" lIns="0" tIns="0" rIns="0" bIns="0" rtlCol="0" anchor="ctr"/>
          <a:lstStyle/>
          <a:p>
            <a:pPr algn="ctr" indent="0" marL="0">
              <a:buNone/>
            </a:pPr>
            <a:r>
              <a:rPr lang="it-IT" sz="1100" b="1" dirty="0">
                <a:solidFill>
                  <a:schemeClr val="tx1"/>
                </a:solidFill>
              </a:rPr>
              <a:t>Icone che suggeriscono altro</a:t>
            </a:r>
            <a:endParaRPr lang="it-IT" sz="1100" dirty="0"/>
          </a:p>
        </p:txBody>
      </p:sp>
      <p:sp>
        <p:nvSpPr>
          <p:cNvPr id="20" name="blocco Schemi semplificati fino all'errore"/>
          <p:cNvSpPr/>
          <p:nvPr/>
        </p:nvSpPr>
        <p:spPr>
          <a:xfrm>
            <a:off x="4663440" y="2651760"/>
            <a:ext cx="1965960" cy="640080"/>
          </a:xfrm>
          <a:prstGeom prst="roundRect">
            <a:avLst>
              <a:gd name="adj" fmla="val 17143"/>
            </a:avLst>
          </a:prstGeom>
          <a:solidFill>
            <a:schemeClr val="bg2"/>
          </a:solidFill>
          <a:ln/>
        </p:spPr>
      </p:sp>
      <p:sp>
        <p:nvSpPr>
          <p:cNvPr id="21" name="Text 17"/>
          <p:cNvSpPr txBox="1"/>
          <p:nvPr/>
        </p:nvSpPr>
        <p:spPr>
          <a:xfrm>
            <a:off x="4709160" y="2651760"/>
            <a:ext cx="1874520" cy="640080"/>
          </a:xfrm>
          <a:prstGeom prst="rect">
            <a:avLst/>
          </a:prstGeom>
          <a:noFill/>
          <a:ln/>
        </p:spPr>
        <p:txBody>
          <a:bodyPr wrap="square" lIns="0" tIns="0" rIns="0" bIns="0" rtlCol="0" anchor="ctr"/>
          <a:lstStyle/>
          <a:p>
            <a:pPr algn="ctr" indent="0" marL="0">
              <a:buNone/>
            </a:pPr>
            <a:r>
              <a:rPr lang="it-IT" sz="1100" b="1" dirty="0">
                <a:solidFill>
                  <a:schemeClr val="tx1"/>
                </a:solidFill>
              </a:rPr>
              <a:t>Schemi semplificati fino all'errore</a:t>
            </a:r>
            <a:endParaRPr lang="it-IT" sz="1100" dirty="0"/>
          </a:p>
        </p:txBody>
      </p:sp>
      <p:sp>
        <p:nvSpPr>
          <p:cNvPr id="22" name="blocco Numeri diversi dal documento"/>
          <p:cNvSpPr/>
          <p:nvPr/>
        </p:nvSpPr>
        <p:spPr>
          <a:xfrm>
            <a:off x="6766560" y="2651760"/>
            <a:ext cx="1965960" cy="640080"/>
          </a:xfrm>
          <a:prstGeom prst="roundRect">
            <a:avLst>
              <a:gd name="adj" fmla="val 17143"/>
            </a:avLst>
          </a:prstGeom>
          <a:solidFill>
            <a:schemeClr val="bg2"/>
          </a:solidFill>
          <a:ln/>
        </p:spPr>
      </p:sp>
      <p:sp>
        <p:nvSpPr>
          <p:cNvPr id="23" name="Text 19"/>
          <p:cNvSpPr txBox="1"/>
          <p:nvPr/>
        </p:nvSpPr>
        <p:spPr>
          <a:xfrm>
            <a:off x="6812280" y="2651760"/>
            <a:ext cx="1874520" cy="640080"/>
          </a:xfrm>
          <a:prstGeom prst="rect">
            <a:avLst/>
          </a:prstGeom>
          <a:noFill/>
          <a:ln/>
        </p:spPr>
        <p:txBody>
          <a:bodyPr wrap="square" lIns="0" tIns="0" rIns="0" bIns="0" rtlCol="0" anchor="ctr"/>
          <a:lstStyle/>
          <a:p>
            <a:pPr algn="ctr" indent="0" marL="0">
              <a:buNone/>
            </a:pPr>
            <a:r>
              <a:rPr lang="it-IT" sz="1100" b="1" dirty="0">
                <a:solidFill>
                  <a:schemeClr val="tx1"/>
                </a:solidFill>
              </a:rPr>
              <a:t>Numeri diversi dal documento</a:t>
            </a:r>
            <a:endParaRPr lang="it-IT" sz="1100" dirty="0"/>
          </a:p>
        </p:txBody>
      </p:sp>
      <p:sp>
        <p:nvSpPr>
          <p:cNvPr id="24" name="messaggio"/>
          <p:cNvSpPr/>
          <p:nvPr/>
        </p:nvSpPr>
        <p:spPr>
          <a:xfrm>
            <a:off x="457200" y="3520440"/>
            <a:ext cx="8229600" cy="777240"/>
          </a:xfrm>
          <a:prstGeom prst="roundRect">
            <a:avLst>
              <a:gd name="adj" fmla="val 9412"/>
            </a:avLst>
          </a:prstGeom>
          <a:solidFill>
            <a:schemeClr val="tx1"/>
          </a:solidFill>
          <a:ln/>
        </p:spPr>
      </p:sp>
      <p:sp>
        <p:nvSpPr>
          <p:cNvPr id="25" name="Text 21"/>
          <p:cNvSpPr txBox="1"/>
          <p:nvPr/>
        </p:nvSpPr>
        <p:spPr>
          <a:xfrm>
            <a:off x="640080" y="3520440"/>
            <a:ext cx="7863840" cy="777240"/>
          </a:xfrm>
          <a:prstGeom prst="rect">
            <a:avLst/>
          </a:prstGeom>
          <a:noFill/>
          <a:ln/>
        </p:spPr>
        <p:txBody>
          <a:bodyPr wrap="square" lIns="0" tIns="0" rIns="0" bIns="0" rtlCol="0" anchor="ctr"/>
          <a:lstStyle/>
          <a:p>
            <a:pPr indent="0" marL="0">
              <a:buNone/>
            </a:pPr>
            <a:r>
              <a:rPr lang="it-IT" sz="1300" dirty="0">
                <a:solidFill>
                  <a:schemeClr val="bg1"/>
                </a:solidFill>
              </a:rPr>
              <a:t>Confrontare numeri, proporzioni, sequenze e icone con il documento. Meglio grafici costruiti dai dati.</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41</a:t>
            </a:fld>
            <a:endParaRPr lang="it-IT"/>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Checklist per le presentazioni AI</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sp>
        <p:nvSpPr>
          <p:cNvPr id="10" name="Text 7"/>
          <p:cNvSpPr txBox="1"/>
          <p:nvPr/>
        </p:nvSpPr>
        <p:spPr>
          <a:xfrm>
            <a:off x="457200" y="987552"/>
            <a:ext cx="8229600" cy="320040"/>
          </a:xfrm>
          <a:prstGeom prst="rect">
            <a:avLst/>
          </a:prstGeom>
          <a:noFill/>
          <a:ln/>
        </p:spPr>
        <p:txBody>
          <a:bodyPr wrap="square" lIns="0" tIns="0" rIns="0" bIns="0" rtlCol="0" anchor="t"/>
          <a:lstStyle/>
          <a:p>
            <a:pPr indent="0" marL="0">
              <a:buNone/>
            </a:pPr>
            <a:r>
              <a:rPr lang="it-IT" sz="1300" i="1" dirty="0">
                <a:solidFill>
                  <a:schemeClr val="tx2"/>
                </a:solidFill>
              </a:rPr>
              <a:t>Una veste curata non garantisce accuratezza, completezza e coerenza: la lista sposta lì l'attenzione.</a:t>
            </a:r>
            <a:endParaRPr lang="it-IT" sz="1300" dirty="0"/>
          </a:p>
        </p:txBody>
      </p:sp>
      <p:sp>
        <p:nvSpPr>
          <p:cNvPr id="11" name="Messaggio"/>
          <p:cNvSpPr/>
          <p:nvPr/>
        </p:nvSpPr>
        <p:spPr>
          <a:xfrm>
            <a:off x="457200" y="1417320"/>
            <a:ext cx="4023360" cy="603504"/>
          </a:xfrm>
          <a:prstGeom prst="roundRect">
            <a:avLst>
              <a:gd name="adj" fmla="val 12121"/>
            </a:avLst>
          </a:prstGeom>
          <a:solidFill>
            <a:schemeClr val="bg2"/>
          </a:solidFill>
          <a:ln/>
        </p:spPr>
      </p:sp>
      <p:sp>
        <p:nvSpPr>
          <p:cNvPr id="12" name="casella Messaggio"/>
          <p:cNvSpPr/>
          <p:nvPr/>
        </p:nvSpPr>
        <p:spPr>
          <a:xfrm>
            <a:off x="594360" y="1600200"/>
            <a:ext cx="237744" cy="237744"/>
          </a:xfrm>
          <a:prstGeom prst="rect">
            <a:avLst/>
          </a:prstGeom>
          <a:solidFill>
            <a:schemeClr val="bg1"/>
          </a:solidFill>
          <a:ln w="19050">
            <a:solidFill>
              <a:schemeClr val="accent1"/>
            </a:solidFill>
            <a:prstDash val="solid"/>
          </a:ln>
        </p:spPr>
      </p:sp>
      <p:sp>
        <p:nvSpPr>
          <p:cNvPr id="13" name="Text 10"/>
          <p:cNvSpPr txBox="1"/>
          <p:nvPr/>
        </p:nvSpPr>
        <p:spPr>
          <a:xfrm>
            <a:off x="960120" y="1417320"/>
            <a:ext cx="1371600" cy="603504"/>
          </a:xfrm>
          <a:prstGeom prst="rect">
            <a:avLst/>
          </a:prstGeom>
          <a:noFill/>
          <a:ln/>
        </p:spPr>
        <p:txBody>
          <a:bodyPr wrap="square" lIns="0" tIns="0" rIns="0" bIns="0" rtlCol="0" anchor="ctr"/>
          <a:lstStyle/>
          <a:p>
            <a:pPr indent="0" marL="0">
              <a:buNone/>
            </a:pPr>
            <a:r>
              <a:rPr lang="it-IT" sz="1300" b="1" dirty="0">
                <a:solidFill>
                  <a:schemeClr val="accent1"/>
                </a:solidFill>
              </a:rPr>
              <a:t>Messaggio</a:t>
            </a:r>
            <a:endParaRPr lang="it-IT" sz="1300" dirty="0"/>
          </a:p>
        </p:txBody>
      </p:sp>
      <p:sp>
        <p:nvSpPr>
          <p:cNvPr id="14" name="Text 11"/>
          <p:cNvSpPr txBox="1"/>
          <p:nvPr/>
        </p:nvSpPr>
        <p:spPr>
          <a:xfrm>
            <a:off x="2286000" y="1417320"/>
            <a:ext cx="2103120" cy="603504"/>
          </a:xfrm>
          <a:prstGeom prst="rect">
            <a:avLst/>
          </a:prstGeom>
          <a:noFill/>
          <a:ln/>
        </p:spPr>
        <p:txBody>
          <a:bodyPr wrap="square" lIns="0" tIns="0" rIns="0" bIns="0" rtlCol="0" anchor="ctr"/>
          <a:lstStyle/>
          <a:p>
            <a:pPr indent="0" marL="0">
              <a:buNone/>
            </a:pPr>
            <a:r>
              <a:rPr lang="it-IT" sz="1100" dirty="0">
                <a:solidFill>
                  <a:schemeClr val="tx1"/>
                </a:solidFill>
              </a:rPr>
              <a:t>Chiaro in pochi secondi?</a:t>
            </a:r>
            <a:endParaRPr lang="it-IT" sz="1100" dirty="0"/>
          </a:p>
        </p:txBody>
      </p:sp>
      <p:sp>
        <p:nvSpPr>
          <p:cNvPr id="15" name="Destinatario"/>
          <p:cNvSpPr/>
          <p:nvPr/>
        </p:nvSpPr>
        <p:spPr>
          <a:xfrm>
            <a:off x="4663440" y="1417320"/>
            <a:ext cx="4023360" cy="603504"/>
          </a:xfrm>
          <a:prstGeom prst="roundRect">
            <a:avLst>
              <a:gd name="adj" fmla="val 12121"/>
            </a:avLst>
          </a:prstGeom>
          <a:solidFill>
            <a:schemeClr val="bg2"/>
          </a:solidFill>
          <a:ln/>
        </p:spPr>
      </p:sp>
      <p:sp>
        <p:nvSpPr>
          <p:cNvPr id="16" name="casella Destinatario"/>
          <p:cNvSpPr/>
          <p:nvPr/>
        </p:nvSpPr>
        <p:spPr>
          <a:xfrm>
            <a:off x="4800600" y="1600200"/>
            <a:ext cx="237744" cy="237744"/>
          </a:xfrm>
          <a:prstGeom prst="rect">
            <a:avLst/>
          </a:prstGeom>
          <a:solidFill>
            <a:schemeClr val="bg1"/>
          </a:solidFill>
          <a:ln w="19050">
            <a:solidFill>
              <a:schemeClr val="accent1"/>
            </a:solidFill>
            <a:prstDash val="solid"/>
          </a:ln>
        </p:spPr>
      </p:sp>
      <p:sp>
        <p:nvSpPr>
          <p:cNvPr id="17" name="Text 14"/>
          <p:cNvSpPr txBox="1"/>
          <p:nvPr/>
        </p:nvSpPr>
        <p:spPr>
          <a:xfrm>
            <a:off x="5166360" y="1417320"/>
            <a:ext cx="1371600" cy="603504"/>
          </a:xfrm>
          <a:prstGeom prst="rect">
            <a:avLst/>
          </a:prstGeom>
          <a:noFill/>
          <a:ln/>
        </p:spPr>
        <p:txBody>
          <a:bodyPr wrap="square" lIns="0" tIns="0" rIns="0" bIns="0" rtlCol="0" anchor="ctr"/>
          <a:lstStyle/>
          <a:p>
            <a:pPr indent="0" marL="0">
              <a:buNone/>
            </a:pPr>
            <a:r>
              <a:rPr lang="it-IT" sz="1300" b="1" dirty="0">
                <a:solidFill>
                  <a:schemeClr val="accent1"/>
                </a:solidFill>
              </a:rPr>
              <a:t>Destinatario</a:t>
            </a:r>
            <a:endParaRPr lang="it-IT" sz="1300" dirty="0"/>
          </a:p>
        </p:txBody>
      </p:sp>
      <p:sp>
        <p:nvSpPr>
          <p:cNvPr id="18" name="Text 15"/>
          <p:cNvSpPr txBox="1"/>
          <p:nvPr/>
        </p:nvSpPr>
        <p:spPr>
          <a:xfrm>
            <a:off x="6492240" y="1417320"/>
            <a:ext cx="2103120" cy="603504"/>
          </a:xfrm>
          <a:prstGeom prst="rect">
            <a:avLst/>
          </a:prstGeom>
          <a:noFill/>
          <a:ln/>
        </p:spPr>
        <p:txBody>
          <a:bodyPr wrap="square" lIns="0" tIns="0" rIns="0" bIns="0" rtlCol="0" anchor="ctr"/>
          <a:lstStyle/>
          <a:p>
            <a:pPr indent="0" marL="0">
              <a:buNone/>
            </a:pPr>
            <a:r>
              <a:rPr lang="it-IT" sz="1100" dirty="0">
                <a:solidFill>
                  <a:schemeClr val="tx1"/>
                </a:solidFill>
              </a:rPr>
              <a:t>Linguaggio, dettaglio, tono adatti?</a:t>
            </a:r>
            <a:endParaRPr lang="it-IT" sz="1100" dirty="0"/>
          </a:p>
        </p:txBody>
      </p:sp>
      <p:sp>
        <p:nvSpPr>
          <p:cNvPr id="19" name="Accuratezza"/>
          <p:cNvSpPr/>
          <p:nvPr/>
        </p:nvSpPr>
        <p:spPr>
          <a:xfrm>
            <a:off x="457200" y="2093976"/>
            <a:ext cx="4023360" cy="603504"/>
          </a:xfrm>
          <a:prstGeom prst="roundRect">
            <a:avLst>
              <a:gd name="adj" fmla="val 12121"/>
            </a:avLst>
          </a:prstGeom>
          <a:solidFill>
            <a:schemeClr val="accent6"/>
          </a:solidFill>
          <a:ln/>
        </p:spPr>
      </p:sp>
      <p:sp>
        <p:nvSpPr>
          <p:cNvPr id="20" name="casella Accuratezza"/>
          <p:cNvSpPr/>
          <p:nvPr/>
        </p:nvSpPr>
        <p:spPr>
          <a:xfrm>
            <a:off x="594360" y="2276856"/>
            <a:ext cx="237744" cy="237744"/>
          </a:xfrm>
          <a:prstGeom prst="rect">
            <a:avLst/>
          </a:prstGeom>
          <a:solidFill>
            <a:schemeClr val="bg1"/>
          </a:solidFill>
          <a:ln w="19050">
            <a:solidFill>
              <a:schemeClr val="accent1"/>
            </a:solidFill>
            <a:prstDash val="solid"/>
          </a:ln>
        </p:spPr>
      </p:sp>
      <p:sp>
        <p:nvSpPr>
          <p:cNvPr id="21" name="Text 18"/>
          <p:cNvSpPr txBox="1"/>
          <p:nvPr/>
        </p:nvSpPr>
        <p:spPr>
          <a:xfrm>
            <a:off x="960120" y="2093976"/>
            <a:ext cx="1371600" cy="603504"/>
          </a:xfrm>
          <a:prstGeom prst="rect">
            <a:avLst/>
          </a:prstGeom>
          <a:noFill/>
          <a:ln/>
        </p:spPr>
        <p:txBody>
          <a:bodyPr wrap="square" lIns="0" tIns="0" rIns="0" bIns="0" rtlCol="0" anchor="ctr"/>
          <a:lstStyle/>
          <a:p>
            <a:pPr indent="0" marL="0">
              <a:buNone/>
            </a:pPr>
            <a:r>
              <a:rPr lang="it-IT" sz="1300" b="1" dirty="0">
                <a:solidFill>
                  <a:schemeClr val="accent1"/>
                </a:solidFill>
              </a:rPr>
              <a:t>Accuratezza</a:t>
            </a:r>
            <a:endParaRPr lang="it-IT" sz="1300" dirty="0"/>
          </a:p>
        </p:txBody>
      </p:sp>
      <p:sp>
        <p:nvSpPr>
          <p:cNvPr id="22" name="Text 19"/>
          <p:cNvSpPr txBox="1"/>
          <p:nvPr/>
        </p:nvSpPr>
        <p:spPr>
          <a:xfrm>
            <a:off x="2286000" y="2093976"/>
            <a:ext cx="2103120" cy="603504"/>
          </a:xfrm>
          <a:prstGeom prst="rect">
            <a:avLst/>
          </a:prstGeom>
          <a:noFill/>
          <a:ln/>
        </p:spPr>
        <p:txBody>
          <a:bodyPr wrap="square" lIns="0" tIns="0" rIns="0" bIns="0" rtlCol="0" anchor="ctr"/>
          <a:lstStyle/>
          <a:p>
            <a:pPr indent="0" marL="0">
              <a:buNone/>
            </a:pPr>
            <a:r>
              <a:rPr lang="it-IT" sz="1100" dirty="0">
                <a:solidFill>
                  <a:schemeClr val="tx1"/>
                </a:solidFill>
              </a:rPr>
              <a:t>Numeri, nomi, date come nella fonte?</a:t>
            </a:r>
            <a:endParaRPr lang="it-IT" sz="1100" dirty="0"/>
          </a:p>
        </p:txBody>
      </p:sp>
      <p:sp>
        <p:nvSpPr>
          <p:cNvPr id="23" name="Completezza"/>
          <p:cNvSpPr/>
          <p:nvPr/>
        </p:nvSpPr>
        <p:spPr>
          <a:xfrm>
            <a:off x="4663440" y="2093976"/>
            <a:ext cx="4023360" cy="603504"/>
          </a:xfrm>
          <a:prstGeom prst="roundRect">
            <a:avLst>
              <a:gd name="adj" fmla="val 12121"/>
            </a:avLst>
          </a:prstGeom>
          <a:solidFill>
            <a:schemeClr val="accent6"/>
          </a:solidFill>
          <a:ln/>
        </p:spPr>
      </p:sp>
      <p:sp>
        <p:nvSpPr>
          <p:cNvPr id="24" name="casella Completezza"/>
          <p:cNvSpPr/>
          <p:nvPr/>
        </p:nvSpPr>
        <p:spPr>
          <a:xfrm>
            <a:off x="4800600" y="2276856"/>
            <a:ext cx="237744" cy="237744"/>
          </a:xfrm>
          <a:prstGeom prst="rect">
            <a:avLst/>
          </a:prstGeom>
          <a:solidFill>
            <a:schemeClr val="bg1"/>
          </a:solidFill>
          <a:ln w="19050">
            <a:solidFill>
              <a:schemeClr val="accent1"/>
            </a:solidFill>
            <a:prstDash val="solid"/>
          </a:ln>
        </p:spPr>
      </p:sp>
      <p:sp>
        <p:nvSpPr>
          <p:cNvPr id="25" name="Text 22"/>
          <p:cNvSpPr txBox="1"/>
          <p:nvPr/>
        </p:nvSpPr>
        <p:spPr>
          <a:xfrm>
            <a:off x="5166360" y="2093976"/>
            <a:ext cx="1371600" cy="603504"/>
          </a:xfrm>
          <a:prstGeom prst="rect">
            <a:avLst/>
          </a:prstGeom>
          <a:noFill/>
          <a:ln/>
        </p:spPr>
        <p:txBody>
          <a:bodyPr wrap="square" lIns="0" tIns="0" rIns="0" bIns="0" rtlCol="0" anchor="ctr"/>
          <a:lstStyle/>
          <a:p>
            <a:pPr indent="0" marL="0">
              <a:buNone/>
            </a:pPr>
            <a:r>
              <a:rPr lang="it-IT" sz="1300" b="1" dirty="0">
                <a:solidFill>
                  <a:schemeClr val="accent1"/>
                </a:solidFill>
              </a:rPr>
              <a:t>Completezza</a:t>
            </a:r>
            <a:endParaRPr lang="it-IT" sz="1300" dirty="0"/>
          </a:p>
        </p:txBody>
      </p:sp>
      <p:sp>
        <p:nvSpPr>
          <p:cNvPr id="26" name="Text 23"/>
          <p:cNvSpPr txBox="1"/>
          <p:nvPr/>
        </p:nvSpPr>
        <p:spPr>
          <a:xfrm>
            <a:off x="6492240" y="2093976"/>
            <a:ext cx="2103120" cy="603504"/>
          </a:xfrm>
          <a:prstGeom prst="rect">
            <a:avLst/>
          </a:prstGeom>
          <a:noFill/>
          <a:ln/>
        </p:spPr>
        <p:txBody>
          <a:bodyPr wrap="square" lIns="0" tIns="0" rIns="0" bIns="0" rtlCol="0" anchor="ctr"/>
          <a:lstStyle/>
          <a:p>
            <a:pPr indent="0" marL="0">
              <a:buNone/>
            </a:pPr>
            <a:r>
              <a:rPr lang="it-IT" sz="1100" dirty="0">
                <a:solidFill>
                  <a:schemeClr val="tx1"/>
                </a:solidFill>
              </a:rPr>
              <a:t>Rischi, condizioni, dati sfavorevoli?</a:t>
            </a:r>
            <a:endParaRPr lang="it-IT" sz="1100" dirty="0"/>
          </a:p>
        </p:txBody>
      </p:sp>
      <p:sp>
        <p:nvSpPr>
          <p:cNvPr id="27" name="Coerenza"/>
          <p:cNvSpPr/>
          <p:nvPr/>
        </p:nvSpPr>
        <p:spPr>
          <a:xfrm>
            <a:off x="457200" y="2770632"/>
            <a:ext cx="4023360" cy="603504"/>
          </a:xfrm>
          <a:prstGeom prst="roundRect">
            <a:avLst>
              <a:gd name="adj" fmla="val 12121"/>
            </a:avLst>
          </a:prstGeom>
          <a:solidFill>
            <a:schemeClr val="accent6"/>
          </a:solidFill>
          <a:ln/>
        </p:spPr>
      </p:sp>
      <p:sp>
        <p:nvSpPr>
          <p:cNvPr id="28" name="casella Coerenza"/>
          <p:cNvSpPr/>
          <p:nvPr/>
        </p:nvSpPr>
        <p:spPr>
          <a:xfrm>
            <a:off x="594360" y="2953512"/>
            <a:ext cx="237744" cy="237744"/>
          </a:xfrm>
          <a:prstGeom prst="rect">
            <a:avLst/>
          </a:prstGeom>
          <a:solidFill>
            <a:schemeClr val="bg1"/>
          </a:solidFill>
          <a:ln w="19050">
            <a:solidFill>
              <a:schemeClr val="accent1"/>
            </a:solidFill>
            <a:prstDash val="solid"/>
          </a:ln>
        </p:spPr>
      </p:sp>
      <p:sp>
        <p:nvSpPr>
          <p:cNvPr id="29" name="Text 26"/>
          <p:cNvSpPr txBox="1"/>
          <p:nvPr/>
        </p:nvSpPr>
        <p:spPr>
          <a:xfrm>
            <a:off x="960120" y="2770632"/>
            <a:ext cx="1371600" cy="603504"/>
          </a:xfrm>
          <a:prstGeom prst="rect">
            <a:avLst/>
          </a:prstGeom>
          <a:noFill/>
          <a:ln/>
        </p:spPr>
        <p:txBody>
          <a:bodyPr wrap="square" lIns="0" tIns="0" rIns="0" bIns="0" rtlCol="0" anchor="ctr"/>
          <a:lstStyle/>
          <a:p>
            <a:pPr indent="0" marL="0">
              <a:buNone/>
            </a:pPr>
            <a:r>
              <a:rPr lang="it-IT" sz="1300" b="1" dirty="0">
                <a:solidFill>
                  <a:schemeClr val="accent1"/>
                </a:solidFill>
              </a:rPr>
              <a:t>Coerenza</a:t>
            </a:r>
            <a:endParaRPr lang="it-IT" sz="1300" dirty="0"/>
          </a:p>
        </p:txBody>
      </p:sp>
      <p:sp>
        <p:nvSpPr>
          <p:cNvPr id="30" name="Text 27"/>
          <p:cNvSpPr txBox="1"/>
          <p:nvPr/>
        </p:nvSpPr>
        <p:spPr>
          <a:xfrm>
            <a:off x="2286000" y="2770632"/>
            <a:ext cx="2103120" cy="603504"/>
          </a:xfrm>
          <a:prstGeom prst="rect">
            <a:avLst/>
          </a:prstGeom>
          <a:noFill/>
          <a:ln/>
        </p:spPr>
        <p:txBody>
          <a:bodyPr wrap="square" lIns="0" tIns="0" rIns="0" bIns="0" rtlCol="0" anchor="ctr"/>
          <a:lstStyle/>
          <a:p>
            <a:pPr indent="0" marL="0">
              <a:buNone/>
            </a:pPr>
            <a:r>
              <a:rPr lang="it-IT" sz="1100" dirty="0">
                <a:solidFill>
                  <a:schemeClr val="tx1"/>
                </a:solidFill>
              </a:rPr>
              <a:t>Testo, grafici, icone dicono lo stesso?</a:t>
            </a:r>
            <a:endParaRPr lang="it-IT" sz="1100" dirty="0"/>
          </a:p>
        </p:txBody>
      </p:sp>
      <p:sp>
        <p:nvSpPr>
          <p:cNvPr id="31" name="Sequenza"/>
          <p:cNvSpPr/>
          <p:nvPr/>
        </p:nvSpPr>
        <p:spPr>
          <a:xfrm>
            <a:off x="4663440" y="2770632"/>
            <a:ext cx="4023360" cy="603504"/>
          </a:xfrm>
          <a:prstGeom prst="roundRect">
            <a:avLst>
              <a:gd name="adj" fmla="val 12121"/>
            </a:avLst>
          </a:prstGeom>
          <a:solidFill>
            <a:schemeClr val="bg2"/>
          </a:solidFill>
          <a:ln/>
        </p:spPr>
      </p:sp>
      <p:sp>
        <p:nvSpPr>
          <p:cNvPr id="32" name="casella Sequenza"/>
          <p:cNvSpPr/>
          <p:nvPr/>
        </p:nvSpPr>
        <p:spPr>
          <a:xfrm>
            <a:off x="4800600" y="2953512"/>
            <a:ext cx="237744" cy="237744"/>
          </a:xfrm>
          <a:prstGeom prst="rect">
            <a:avLst/>
          </a:prstGeom>
          <a:solidFill>
            <a:schemeClr val="bg1"/>
          </a:solidFill>
          <a:ln w="19050">
            <a:solidFill>
              <a:schemeClr val="accent1"/>
            </a:solidFill>
            <a:prstDash val="solid"/>
          </a:ln>
        </p:spPr>
      </p:sp>
      <p:sp>
        <p:nvSpPr>
          <p:cNvPr id="33" name="Text 30"/>
          <p:cNvSpPr txBox="1"/>
          <p:nvPr/>
        </p:nvSpPr>
        <p:spPr>
          <a:xfrm>
            <a:off x="5166360" y="2770632"/>
            <a:ext cx="1371600" cy="603504"/>
          </a:xfrm>
          <a:prstGeom prst="rect">
            <a:avLst/>
          </a:prstGeom>
          <a:noFill/>
          <a:ln/>
        </p:spPr>
        <p:txBody>
          <a:bodyPr wrap="square" lIns="0" tIns="0" rIns="0" bIns="0" rtlCol="0" anchor="ctr"/>
          <a:lstStyle/>
          <a:p>
            <a:pPr indent="0" marL="0">
              <a:buNone/>
            </a:pPr>
            <a:r>
              <a:rPr lang="it-IT" sz="1300" b="1" dirty="0">
                <a:solidFill>
                  <a:schemeClr val="accent1"/>
                </a:solidFill>
              </a:rPr>
              <a:t>Sequenza</a:t>
            </a:r>
            <a:endParaRPr lang="it-IT" sz="1300" dirty="0"/>
          </a:p>
        </p:txBody>
      </p:sp>
      <p:sp>
        <p:nvSpPr>
          <p:cNvPr id="34" name="Text 31"/>
          <p:cNvSpPr txBox="1"/>
          <p:nvPr/>
        </p:nvSpPr>
        <p:spPr>
          <a:xfrm>
            <a:off x="6492240" y="2770632"/>
            <a:ext cx="2103120" cy="603504"/>
          </a:xfrm>
          <a:prstGeom prst="rect">
            <a:avLst/>
          </a:prstGeom>
          <a:noFill/>
          <a:ln/>
        </p:spPr>
        <p:txBody>
          <a:bodyPr wrap="square" lIns="0" tIns="0" rIns="0" bIns="0" rtlCol="0" anchor="ctr"/>
          <a:lstStyle/>
          <a:p>
            <a:pPr indent="0" marL="0">
              <a:buNone/>
            </a:pPr>
            <a:r>
              <a:rPr lang="it-IT" sz="1100" dirty="0">
                <a:solidFill>
                  <a:schemeClr val="tx1"/>
                </a:solidFill>
              </a:rPr>
              <a:t>L'ordine costruisce un ragionamento?</a:t>
            </a:r>
            <a:endParaRPr lang="it-IT" sz="1100" dirty="0"/>
          </a:p>
        </p:txBody>
      </p:sp>
      <p:sp>
        <p:nvSpPr>
          <p:cNvPr id="35" name="Sobrietà"/>
          <p:cNvSpPr/>
          <p:nvPr/>
        </p:nvSpPr>
        <p:spPr>
          <a:xfrm>
            <a:off x="457200" y="3447288"/>
            <a:ext cx="4023360" cy="603504"/>
          </a:xfrm>
          <a:prstGeom prst="roundRect">
            <a:avLst>
              <a:gd name="adj" fmla="val 12121"/>
            </a:avLst>
          </a:prstGeom>
          <a:solidFill>
            <a:schemeClr val="bg2"/>
          </a:solidFill>
          <a:ln/>
        </p:spPr>
      </p:sp>
      <p:sp>
        <p:nvSpPr>
          <p:cNvPr id="36" name="casella Sobrietà"/>
          <p:cNvSpPr/>
          <p:nvPr/>
        </p:nvSpPr>
        <p:spPr>
          <a:xfrm>
            <a:off x="594360" y="3630168"/>
            <a:ext cx="237744" cy="237744"/>
          </a:xfrm>
          <a:prstGeom prst="rect">
            <a:avLst/>
          </a:prstGeom>
          <a:solidFill>
            <a:schemeClr val="bg1"/>
          </a:solidFill>
          <a:ln w="19050">
            <a:solidFill>
              <a:schemeClr val="accent1"/>
            </a:solidFill>
            <a:prstDash val="solid"/>
          </a:ln>
        </p:spPr>
      </p:sp>
      <p:sp>
        <p:nvSpPr>
          <p:cNvPr id="37" name="Text 34"/>
          <p:cNvSpPr txBox="1"/>
          <p:nvPr/>
        </p:nvSpPr>
        <p:spPr>
          <a:xfrm>
            <a:off x="960120" y="3447288"/>
            <a:ext cx="1371600" cy="603504"/>
          </a:xfrm>
          <a:prstGeom prst="rect">
            <a:avLst/>
          </a:prstGeom>
          <a:noFill/>
          <a:ln/>
        </p:spPr>
        <p:txBody>
          <a:bodyPr wrap="square" lIns="0" tIns="0" rIns="0" bIns="0" rtlCol="0" anchor="ctr"/>
          <a:lstStyle/>
          <a:p>
            <a:pPr indent="0" marL="0">
              <a:buNone/>
            </a:pPr>
            <a:r>
              <a:rPr lang="it-IT" sz="1300" b="1" dirty="0">
                <a:solidFill>
                  <a:schemeClr val="accent1"/>
                </a:solidFill>
              </a:rPr>
              <a:t>Sobrietà</a:t>
            </a:r>
            <a:endParaRPr lang="it-IT" sz="1300" dirty="0"/>
          </a:p>
        </p:txBody>
      </p:sp>
      <p:sp>
        <p:nvSpPr>
          <p:cNvPr id="38" name="Text 35"/>
          <p:cNvSpPr txBox="1"/>
          <p:nvPr/>
        </p:nvSpPr>
        <p:spPr>
          <a:xfrm>
            <a:off x="2286000" y="3447288"/>
            <a:ext cx="2103120" cy="603504"/>
          </a:xfrm>
          <a:prstGeom prst="rect">
            <a:avLst/>
          </a:prstGeom>
          <a:noFill/>
          <a:ln/>
        </p:spPr>
        <p:txBody>
          <a:bodyPr wrap="square" lIns="0" tIns="0" rIns="0" bIns="0" rtlCol="0" anchor="ctr"/>
          <a:lstStyle/>
          <a:p>
            <a:pPr indent="0" marL="0">
              <a:buNone/>
            </a:pPr>
            <a:r>
              <a:rPr lang="it-IT" sz="1100" dirty="0">
                <a:solidFill>
                  <a:schemeClr val="tx1"/>
                </a:solidFill>
              </a:rPr>
              <a:t>Niente decorazioni e testo superflui?</a:t>
            </a:r>
            <a:endParaRPr lang="it-IT" sz="1100" dirty="0"/>
          </a:p>
        </p:txBody>
      </p:sp>
      <p:sp>
        <p:nvSpPr>
          <p:cNvPr id="39" name="Immagini"/>
          <p:cNvSpPr/>
          <p:nvPr/>
        </p:nvSpPr>
        <p:spPr>
          <a:xfrm>
            <a:off x="4663440" y="3447288"/>
            <a:ext cx="4023360" cy="603504"/>
          </a:xfrm>
          <a:prstGeom prst="roundRect">
            <a:avLst>
              <a:gd name="adj" fmla="val 12121"/>
            </a:avLst>
          </a:prstGeom>
          <a:solidFill>
            <a:schemeClr val="bg2"/>
          </a:solidFill>
          <a:ln/>
        </p:spPr>
      </p:sp>
      <p:sp>
        <p:nvSpPr>
          <p:cNvPr id="40" name="casella Immagini"/>
          <p:cNvSpPr/>
          <p:nvPr/>
        </p:nvSpPr>
        <p:spPr>
          <a:xfrm>
            <a:off x="4800600" y="3630168"/>
            <a:ext cx="237744" cy="237744"/>
          </a:xfrm>
          <a:prstGeom prst="rect">
            <a:avLst/>
          </a:prstGeom>
          <a:solidFill>
            <a:schemeClr val="bg1"/>
          </a:solidFill>
          <a:ln w="19050">
            <a:solidFill>
              <a:schemeClr val="accent1"/>
            </a:solidFill>
            <a:prstDash val="solid"/>
          </a:ln>
        </p:spPr>
      </p:sp>
      <p:sp>
        <p:nvSpPr>
          <p:cNvPr id="41" name="Text 38"/>
          <p:cNvSpPr txBox="1"/>
          <p:nvPr/>
        </p:nvSpPr>
        <p:spPr>
          <a:xfrm>
            <a:off x="5166360" y="3447288"/>
            <a:ext cx="1371600" cy="603504"/>
          </a:xfrm>
          <a:prstGeom prst="rect">
            <a:avLst/>
          </a:prstGeom>
          <a:noFill/>
          <a:ln/>
        </p:spPr>
        <p:txBody>
          <a:bodyPr wrap="square" lIns="0" tIns="0" rIns="0" bIns="0" rtlCol="0" anchor="ctr"/>
          <a:lstStyle/>
          <a:p>
            <a:pPr indent="0" marL="0">
              <a:buNone/>
            </a:pPr>
            <a:r>
              <a:rPr lang="it-IT" sz="1300" b="1" dirty="0">
                <a:solidFill>
                  <a:schemeClr val="accent1"/>
                </a:solidFill>
              </a:rPr>
              <a:t>Immagini</a:t>
            </a:r>
            <a:endParaRPr lang="it-IT" sz="1300" dirty="0"/>
          </a:p>
        </p:txBody>
      </p:sp>
      <p:sp>
        <p:nvSpPr>
          <p:cNvPr id="42" name="Text 39"/>
          <p:cNvSpPr txBox="1"/>
          <p:nvPr/>
        </p:nvSpPr>
        <p:spPr>
          <a:xfrm>
            <a:off x="6492240" y="3447288"/>
            <a:ext cx="2103120" cy="603504"/>
          </a:xfrm>
          <a:prstGeom prst="rect">
            <a:avLst/>
          </a:prstGeom>
          <a:noFill/>
          <a:ln/>
        </p:spPr>
        <p:txBody>
          <a:bodyPr wrap="square" lIns="0" tIns="0" rIns="0" bIns="0" rtlCol="0" anchor="ctr"/>
          <a:lstStyle/>
          <a:p>
            <a:pPr indent="0" marL="0">
              <a:buNone/>
            </a:pPr>
            <a:r>
              <a:rPr lang="it-IT" sz="1100" dirty="0">
                <a:solidFill>
                  <a:schemeClr val="tx1"/>
                </a:solidFill>
              </a:rPr>
              <a:t>Appropriate, dichiarate se generate?</a:t>
            </a:r>
            <a:endParaRPr lang="it-IT" sz="1100" dirty="0"/>
          </a:p>
        </p:txBody>
      </p:sp>
      <p:sp>
        <p:nvSpPr>
          <p:cNvPr id="43" name="Text 40"/>
          <p:cNvSpPr txBox="1"/>
          <p:nvPr/>
        </p:nvSpPr>
        <p:spPr>
          <a:xfrm>
            <a:off x="457200" y="4114800"/>
            <a:ext cx="8229600" cy="411480"/>
          </a:xfrm>
          <a:prstGeom prst="rect">
            <a:avLst/>
          </a:prstGeom>
          <a:noFill/>
          <a:ln/>
        </p:spPr>
        <p:txBody>
          <a:bodyPr wrap="square" lIns="0" tIns="0" rIns="0" bIns="0" rtlCol="0" anchor="t"/>
          <a:lstStyle/>
          <a:p>
            <a:pPr indent="0" marL="0">
              <a:buNone/>
            </a:pPr>
            <a:r>
              <a:rPr lang="it-IT" sz="1300" b="1" i="1" dirty="0">
                <a:solidFill>
                  <a:schemeClr val="accent1"/>
                </a:solidFill>
              </a:rPr>
              <a:t>Pochi minuti per intercettare la maggior parte dei problemi, e decidere quanto intervenire sulla bozza.</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42</a:t>
            </a:fld>
            <a:endParaRPr lang="it-IT"/>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10.7</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Integrazione e trasformazione tra modalità</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Convertire tra modalità rende i contenuti più accessibili, rapidi e riutilizzabili, quando la fedeltà è controllata</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43</a:t>
            </a:fld>
            <a:endParaRPr lang="it-IT"/>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La mappa delle conversioni</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468880"/>
                <a:gridCol w="3017520"/>
                <a:gridCol w="2743200"/>
              </a:tblGrid>
              <a:tr h="365760">
                <a:tc>
                  <a:txBody>
                    <a:bodyPr/>
                    <a:lstStyle/>
                    <a:p>
                      <a:pPr indent="0" marL="0">
                        <a:buNone/>
                      </a:pPr>
                      <a:r>
                        <a:rPr lang="it-IT" sz="1200" b="1" dirty="0">
                          <a:solidFill>
                            <a:schemeClr val="bg1"/>
                          </a:solidFill>
                        </a:rPr>
                        <a:t>Conversione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200" b="1" dirty="0">
                          <a:solidFill>
                            <a:schemeClr val="bg1"/>
                          </a:solidFill>
                        </a:rPr>
                        <a:t>Esempio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200" b="1" dirty="0">
                          <a:solidFill>
                            <a:schemeClr val="bg1"/>
                          </a:solidFill>
                        </a:rPr>
                        <a:t>Valore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365760">
                <a:tc>
                  <a:txBody>
                    <a:bodyPr/>
                    <a:lstStyle/>
                    <a:p>
                      <a:pPr indent="0" marL="0">
                        <a:buNone/>
                      </a:pPr>
                      <a:r>
                        <a:rPr lang="it-IT" sz="1200" b="1" dirty="0">
                          <a:solidFill>
                            <a:schemeClr val="tx1"/>
                          </a:solidFill>
                        </a:rPr>
                        <a:t>Audio in testo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Trascrizione di una riunione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Ricercabile, condivisibile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it-IT" sz="1200" b="1" dirty="0">
                          <a:solidFill>
                            <a:schemeClr val="tx1"/>
                          </a:solidFill>
                        </a:rPr>
                        <a:t>Documento in presentazione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Relazione trasformata in slide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Comunicare in sintesi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it-IT" sz="1200" b="1" dirty="0">
                          <a:solidFill>
                            <a:schemeClr val="tx1"/>
                          </a:solidFill>
                        </a:rPr>
                        <a:t>Testo in audio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Procedura letta da una voce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Ascolto in mobilità, accessibilità</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it-IT" sz="1200" b="1" dirty="0">
                          <a:solidFill>
                            <a:schemeClr val="tx1"/>
                          </a:solidFill>
                        </a:rPr>
                        <a:t>Video in sintesi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Webinar in punti chiave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Risparmio di tempo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it-IT" sz="1200" b="1" dirty="0">
                          <a:solidFill>
                            <a:schemeClr val="tx1"/>
                          </a:solidFill>
                        </a:rPr>
                        <a:t>Immagine in testo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Dati da una foto o una schermata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Informazioni riutilizzabili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it-IT" sz="1200" b="1" dirty="0">
                          <a:solidFill>
                            <a:schemeClr val="tx1"/>
                          </a:solidFill>
                        </a:rPr>
                        <a:t>Più fonti in un contenuto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Registrazione, slide e documento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Un verbale completo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1" name="messaggio"/>
          <p:cNvSpPr/>
          <p:nvPr/>
        </p:nvSpPr>
        <p:spPr>
          <a:xfrm>
            <a:off x="457200" y="3749040"/>
            <a:ext cx="8229600" cy="731520"/>
          </a:xfrm>
          <a:prstGeom prst="roundRect">
            <a:avLst>
              <a:gd name="adj" fmla="val 10000"/>
            </a:avLst>
          </a:prstGeom>
          <a:solidFill>
            <a:schemeClr val="tx1"/>
          </a:solidFill>
          <a:ln/>
        </p:spPr>
      </p:sp>
      <p:sp>
        <p:nvSpPr>
          <p:cNvPr id="12" name="Text 8"/>
          <p:cNvSpPr txBox="1"/>
          <p:nvPr/>
        </p:nvSpPr>
        <p:spPr>
          <a:xfrm>
            <a:off x="640080" y="3749040"/>
            <a:ext cx="7863840" cy="731520"/>
          </a:xfrm>
          <a:prstGeom prst="rect">
            <a:avLst/>
          </a:prstGeom>
          <a:noFill/>
          <a:ln/>
        </p:spPr>
        <p:txBody>
          <a:bodyPr wrap="square" lIns="0" tIns="0" rIns="0" bIns="0" rtlCol="0" anchor="ctr"/>
          <a:lstStyle/>
          <a:p>
            <a:pPr indent="0" marL="0">
              <a:buNone/>
            </a:pPr>
            <a:r>
              <a:rPr lang="it-IT" sz="1300" dirty="0">
                <a:solidFill>
                  <a:schemeClr val="bg1"/>
                </a:solidFill>
              </a:rPr>
              <a:t>Ogni conversione sceglie che cosa portare nella nuova forma: il valore sta nel renderla più utile senza perderne il senso.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44</a:t>
            </a:fld>
            <a:endParaRPr lang="it-IT"/>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Le catene di trasformazione</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sp>
        <p:nvSpPr>
          <p:cNvPr id="10" name="blocco Riunione"/>
          <p:cNvSpPr/>
          <p:nvPr/>
        </p:nvSpPr>
        <p:spPr>
          <a:xfrm>
            <a:off x="457200" y="1097280"/>
            <a:ext cx="1463040" cy="640080"/>
          </a:xfrm>
          <a:prstGeom prst="roundRect">
            <a:avLst>
              <a:gd name="adj" fmla="val 17143"/>
            </a:avLst>
          </a:prstGeom>
          <a:solidFill>
            <a:schemeClr val="accent1"/>
          </a:solidFill>
          <a:ln/>
        </p:spPr>
      </p:sp>
      <p:sp>
        <p:nvSpPr>
          <p:cNvPr id="11" name="Text 8"/>
          <p:cNvSpPr txBox="1"/>
          <p:nvPr/>
        </p:nvSpPr>
        <p:spPr>
          <a:xfrm>
            <a:off x="502920" y="1097280"/>
            <a:ext cx="1371600" cy="640080"/>
          </a:xfrm>
          <a:prstGeom prst="rect">
            <a:avLst/>
          </a:prstGeom>
          <a:noFill/>
          <a:ln/>
        </p:spPr>
        <p:txBody>
          <a:bodyPr wrap="square" lIns="0" tIns="0" rIns="0" bIns="0" rtlCol="0" anchor="ctr"/>
          <a:lstStyle/>
          <a:p>
            <a:pPr algn="ctr" indent="0" marL="0">
              <a:buNone/>
            </a:pPr>
            <a:r>
              <a:rPr lang="it-IT" sz="1300" b="1" dirty="0">
                <a:solidFill>
                  <a:schemeClr val="bg1"/>
                </a:solidFill>
              </a:rPr>
              <a:t>Riunione</a:t>
            </a:r>
            <a:endParaRPr lang="it-IT" sz="1300" dirty="0"/>
          </a:p>
        </p:txBody>
      </p:sp>
      <p:sp>
        <p:nvSpPr>
          <p:cNvPr id="12" name="freccia"/>
          <p:cNvSpPr/>
          <p:nvPr/>
        </p:nvSpPr>
        <p:spPr>
          <a:xfrm>
            <a:off x="1938528" y="1271016"/>
            <a:ext cx="182880" cy="292608"/>
          </a:xfrm>
          <a:prstGeom prst="rightArrow">
            <a:avLst/>
          </a:prstGeom>
          <a:solidFill>
            <a:schemeClr val="accent2"/>
          </a:solidFill>
          <a:ln/>
        </p:spPr>
      </p:sp>
      <p:sp>
        <p:nvSpPr>
          <p:cNvPr id="13" name="blocco Trascrizione"/>
          <p:cNvSpPr/>
          <p:nvPr/>
        </p:nvSpPr>
        <p:spPr>
          <a:xfrm>
            <a:off x="2139696" y="1097280"/>
            <a:ext cx="1463040" cy="640080"/>
          </a:xfrm>
          <a:prstGeom prst="roundRect">
            <a:avLst>
              <a:gd name="adj" fmla="val 17143"/>
            </a:avLst>
          </a:prstGeom>
          <a:solidFill>
            <a:schemeClr val="accent6"/>
          </a:solidFill>
          <a:ln/>
        </p:spPr>
      </p:sp>
      <p:sp>
        <p:nvSpPr>
          <p:cNvPr id="14" name="Text 11"/>
          <p:cNvSpPr txBox="1"/>
          <p:nvPr/>
        </p:nvSpPr>
        <p:spPr>
          <a:xfrm>
            <a:off x="2185416" y="1097280"/>
            <a:ext cx="1371600" cy="640080"/>
          </a:xfrm>
          <a:prstGeom prst="rect">
            <a:avLst/>
          </a:prstGeom>
          <a:noFill/>
          <a:ln/>
        </p:spPr>
        <p:txBody>
          <a:bodyPr wrap="square" lIns="0" tIns="0" rIns="0" bIns="0" rtlCol="0" anchor="ctr"/>
          <a:lstStyle/>
          <a:p>
            <a:pPr algn="ctr" indent="0" marL="0">
              <a:buNone/>
            </a:pPr>
            <a:r>
              <a:rPr lang="it-IT" sz="1300" b="1" dirty="0">
                <a:solidFill>
                  <a:schemeClr val="tx1"/>
                </a:solidFill>
              </a:rPr>
              <a:t>Trascrizione</a:t>
            </a:r>
            <a:endParaRPr lang="it-IT" sz="1300" dirty="0"/>
          </a:p>
        </p:txBody>
      </p:sp>
      <p:sp>
        <p:nvSpPr>
          <p:cNvPr id="15" name="freccia"/>
          <p:cNvSpPr/>
          <p:nvPr/>
        </p:nvSpPr>
        <p:spPr>
          <a:xfrm>
            <a:off x="3621024" y="1271016"/>
            <a:ext cx="182880" cy="292608"/>
          </a:xfrm>
          <a:prstGeom prst="rightArrow">
            <a:avLst/>
          </a:prstGeom>
          <a:solidFill>
            <a:schemeClr val="accent2"/>
          </a:solidFill>
          <a:ln/>
        </p:spPr>
      </p:sp>
      <p:sp>
        <p:nvSpPr>
          <p:cNvPr id="16" name="Text 13"/>
          <p:cNvSpPr txBox="1"/>
          <p:nvPr/>
        </p:nvSpPr>
        <p:spPr>
          <a:xfrm>
            <a:off x="2139696" y="1810512"/>
            <a:ext cx="1463040" cy="228600"/>
          </a:xfrm>
          <a:prstGeom prst="rect">
            <a:avLst/>
          </a:prstGeom>
          <a:noFill/>
          <a:ln/>
        </p:spPr>
        <p:txBody>
          <a:bodyPr wrap="square" lIns="0" tIns="0" rIns="0" bIns="0" rtlCol="0" anchor="t"/>
          <a:lstStyle/>
          <a:p>
            <a:pPr algn="ctr" indent="0" marL="0">
              <a:buNone/>
            </a:pPr>
            <a:r>
              <a:rPr lang="it-IT" sz="900" dirty="0">
                <a:solidFill>
                  <a:schemeClr val="tx2"/>
                </a:solidFill>
              </a:rPr>
              <a:t>Si perde:</a:t>
            </a:r>
            <a:endParaRPr lang="it-IT" sz="900" dirty="0"/>
          </a:p>
        </p:txBody>
      </p:sp>
      <p:sp>
        <p:nvSpPr>
          <p:cNvPr id="17" name="Text 14"/>
          <p:cNvSpPr txBox="1"/>
          <p:nvPr/>
        </p:nvSpPr>
        <p:spPr>
          <a:xfrm>
            <a:off x="2139696" y="2011680"/>
            <a:ext cx="1463040" cy="384048"/>
          </a:xfrm>
          <a:prstGeom prst="rect">
            <a:avLst/>
          </a:prstGeom>
          <a:noFill/>
          <a:ln/>
        </p:spPr>
        <p:txBody>
          <a:bodyPr wrap="square" lIns="0" tIns="0" rIns="0" bIns="0" rtlCol="0" anchor="t"/>
          <a:lstStyle/>
          <a:p>
            <a:pPr algn="ctr" indent="0" marL="0">
              <a:buNone/>
            </a:pPr>
            <a:r>
              <a:rPr lang="it-IT" sz="1100" b="1" dirty="0">
                <a:solidFill>
                  <a:schemeClr val="accent5"/>
                </a:solidFill>
              </a:rPr>
              <a:t>Tono, esitazioni</a:t>
            </a:r>
            <a:endParaRPr lang="it-IT" sz="1100" dirty="0"/>
          </a:p>
        </p:txBody>
      </p:sp>
      <p:sp>
        <p:nvSpPr>
          <p:cNvPr id="18" name="blocco Riassunto"/>
          <p:cNvSpPr/>
          <p:nvPr/>
        </p:nvSpPr>
        <p:spPr>
          <a:xfrm>
            <a:off x="3822192" y="1097280"/>
            <a:ext cx="1463040" cy="640080"/>
          </a:xfrm>
          <a:prstGeom prst="roundRect">
            <a:avLst>
              <a:gd name="adj" fmla="val 17143"/>
            </a:avLst>
          </a:prstGeom>
          <a:solidFill>
            <a:schemeClr val="accent6"/>
          </a:solidFill>
          <a:ln/>
        </p:spPr>
      </p:sp>
      <p:sp>
        <p:nvSpPr>
          <p:cNvPr id="19" name="Text 16"/>
          <p:cNvSpPr txBox="1"/>
          <p:nvPr/>
        </p:nvSpPr>
        <p:spPr>
          <a:xfrm>
            <a:off x="3867912" y="1097280"/>
            <a:ext cx="1371600" cy="640080"/>
          </a:xfrm>
          <a:prstGeom prst="rect">
            <a:avLst/>
          </a:prstGeom>
          <a:noFill/>
          <a:ln/>
        </p:spPr>
        <p:txBody>
          <a:bodyPr wrap="square" lIns="0" tIns="0" rIns="0" bIns="0" rtlCol="0" anchor="ctr"/>
          <a:lstStyle/>
          <a:p>
            <a:pPr algn="ctr" indent="0" marL="0">
              <a:buNone/>
            </a:pPr>
            <a:r>
              <a:rPr lang="it-IT" sz="1300" b="1" dirty="0">
                <a:solidFill>
                  <a:schemeClr val="tx1"/>
                </a:solidFill>
              </a:rPr>
              <a:t>Riassunto</a:t>
            </a:r>
            <a:endParaRPr lang="it-IT" sz="1300" dirty="0"/>
          </a:p>
        </p:txBody>
      </p:sp>
      <p:sp>
        <p:nvSpPr>
          <p:cNvPr id="20" name="freccia"/>
          <p:cNvSpPr/>
          <p:nvPr/>
        </p:nvSpPr>
        <p:spPr>
          <a:xfrm>
            <a:off x="5303520" y="1271016"/>
            <a:ext cx="182880" cy="292608"/>
          </a:xfrm>
          <a:prstGeom prst="rightArrow">
            <a:avLst/>
          </a:prstGeom>
          <a:solidFill>
            <a:schemeClr val="accent2"/>
          </a:solidFill>
          <a:ln/>
        </p:spPr>
      </p:sp>
      <p:sp>
        <p:nvSpPr>
          <p:cNvPr id="21" name="Text 18"/>
          <p:cNvSpPr txBox="1"/>
          <p:nvPr/>
        </p:nvSpPr>
        <p:spPr>
          <a:xfrm>
            <a:off x="3822192" y="1810512"/>
            <a:ext cx="1463040" cy="228600"/>
          </a:xfrm>
          <a:prstGeom prst="rect">
            <a:avLst/>
          </a:prstGeom>
          <a:noFill/>
          <a:ln/>
        </p:spPr>
        <p:txBody>
          <a:bodyPr wrap="square" lIns="0" tIns="0" rIns="0" bIns="0" rtlCol="0" anchor="t"/>
          <a:lstStyle/>
          <a:p>
            <a:pPr algn="ctr" indent="0" marL="0">
              <a:buNone/>
            </a:pPr>
            <a:r>
              <a:rPr lang="it-IT" sz="900" dirty="0">
                <a:solidFill>
                  <a:schemeClr val="tx2"/>
                </a:solidFill>
              </a:rPr>
              <a:t>Si perde:</a:t>
            </a:r>
            <a:endParaRPr lang="it-IT" sz="900" dirty="0"/>
          </a:p>
        </p:txBody>
      </p:sp>
      <p:sp>
        <p:nvSpPr>
          <p:cNvPr id="22" name="Text 19"/>
          <p:cNvSpPr txBox="1"/>
          <p:nvPr/>
        </p:nvSpPr>
        <p:spPr>
          <a:xfrm>
            <a:off x="3822192" y="2011680"/>
            <a:ext cx="1463040" cy="384048"/>
          </a:xfrm>
          <a:prstGeom prst="rect">
            <a:avLst/>
          </a:prstGeom>
          <a:noFill/>
          <a:ln/>
        </p:spPr>
        <p:txBody>
          <a:bodyPr wrap="square" lIns="0" tIns="0" rIns="0" bIns="0" rtlCol="0" anchor="t"/>
          <a:lstStyle/>
          <a:p>
            <a:pPr algn="ctr" indent="0" marL="0">
              <a:buNone/>
            </a:pPr>
            <a:r>
              <a:rPr lang="it-IT" sz="1100" b="1" dirty="0">
                <a:solidFill>
                  <a:schemeClr val="accent5"/>
                </a:solidFill>
              </a:rPr>
              <a:t>Obiezioni minori</a:t>
            </a:r>
            <a:endParaRPr lang="it-IT" sz="1100" dirty="0"/>
          </a:p>
        </p:txBody>
      </p:sp>
      <p:sp>
        <p:nvSpPr>
          <p:cNvPr id="23" name="blocco Slide"/>
          <p:cNvSpPr/>
          <p:nvPr/>
        </p:nvSpPr>
        <p:spPr>
          <a:xfrm>
            <a:off x="5504688" y="1097280"/>
            <a:ext cx="1463040" cy="640080"/>
          </a:xfrm>
          <a:prstGeom prst="roundRect">
            <a:avLst>
              <a:gd name="adj" fmla="val 17143"/>
            </a:avLst>
          </a:prstGeom>
          <a:solidFill>
            <a:schemeClr val="accent6"/>
          </a:solidFill>
          <a:ln/>
        </p:spPr>
      </p:sp>
      <p:sp>
        <p:nvSpPr>
          <p:cNvPr id="24" name="Text 21"/>
          <p:cNvSpPr txBox="1"/>
          <p:nvPr/>
        </p:nvSpPr>
        <p:spPr>
          <a:xfrm>
            <a:off x="5550408" y="1097280"/>
            <a:ext cx="1371600" cy="640080"/>
          </a:xfrm>
          <a:prstGeom prst="rect">
            <a:avLst/>
          </a:prstGeom>
          <a:noFill/>
          <a:ln/>
        </p:spPr>
        <p:txBody>
          <a:bodyPr wrap="square" lIns="0" tIns="0" rIns="0" bIns="0" rtlCol="0" anchor="ctr"/>
          <a:lstStyle/>
          <a:p>
            <a:pPr algn="ctr" indent="0" marL="0">
              <a:buNone/>
            </a:pPr>
            <a:r>
              <a:rPr lang="it-IT" sz="1300" b="1" dirty="0">
                <a:solidFill>
                  <a:schemeClr val="tx1"/>
                </a:solidFill>
              </a:rPr>
              <a:t>Slide</a:t>
            </a:r>
            <a:endParaRPr lang="it-IT" sz="1300" dirty="0"/>
          </a:p>
        </p:txBody>
      </p:sp>
      <p:sp>
        <p:nvSpPr>
          <p:cNvPr id="25" name="freccia"/>
          <p:cNvSpPr/>
          <p:nvPr/>
        </p:nvSpPr>
        <p:spPr>
          <a:xfrm>
            <a:off x="6986016" y="1271016"/>
            <a:ext cx="182880" cy="292608"/>
          </a:xfrm>
          <a:prstGeom prst="rightArrow">
            <a:avLst/>
          </a:prstGeom>
          <a:solidFill>
            <a:schemeClr val="accent2"/>
          </a:solidFill>
          <a:ln/>
        </p:spPr>
      </p:sp>
      <p:sp>
        <p:nvSpPr>
          <p:cNvPr id="26" name="Text 23"/>
          <p:cNvSpPr txBox="1"/>
          <p:nvPr/>
        </p:nvSpPr>
        <p:spPr>
          <a:xfrm>
            <a:off x="5504688" y="1810512"/>
            <a:ext cx="1463040" cy="228600"/>
          </a:xfrm>
          <a:prstGeom prst="rect">
            <a:avLst/>
          </a:prstGeom>
          <a:noFill/>
          <a:ln/>
        </p:spPr>
        <p:txBody>
          <a:bodyPr wrap="square" lIns="0" tIns="0" rIns="0" bIns="0" rtlCol="0" anchor="t"/>
          <a:lstStyle/>
          <a:p>
            <a:pPr algn="ctr" indent="0" marL="0">
              <a:buNone/>
            </a:pPr>
            <a:r>
              <a:rPr lang="it-IT" sz="900" dirty="0">
                <a:solidFill>
                  <a:schemeClr val="tx2"/>
                </a:solidFill>
              </a:rPr>
              <a:t>Si perde:</a:t>
            </a:r>
            <a:endParaRPr lang="it-IT" sz="900" dirty="0"/>
          </a:p>
        </p:txBody>
      </p:sp>
      <p:sp>
        <p:nvSpPr>
          <p:cNvPr id="27" name="Text 24"/>
          <p:cNvSpPr txBox="1"/>
          <p:nvPr/>
        </p:nvSpPr>
        <p:spPr>
          <a:xfrm>
            <a:off x="5504688" y="2011680"/>
            <a:ext cx="1463040" cy="384048"/>
          </a:xfrm>
          <a:prstGeom prst="rect">
            <a:avLst/>
          </a:prstGeom>
          <a:noFill/>
          <a:ln/>
        </p:spPr>
        <p:txBody>
          <a:bodyPr wrap="square" lIns="0" tIns="0" rIns="0" bIns="0" rtlCol="0" anchor="t"/>
          <a:lstStyle/>
          <a:p>
            <a:pPr algn="ctr" indent="0" marL="0">
              <a:buNone/>
            </a:pPr>
            <a:r>
              <a:rPr lang="it-IT" sz="1100" b="1" dirty="0">
                <a:solidFill>
                  <a:schemeClr val="accent5"/>
                </a:solidFill>
              </a:rPr>
              <a:t>Condizioni</a:t>
            </a:r>
            <a:endParaRPr lang="it-IT" sz="1100" dirty="0"/>
          </a:p>
        </p:txBody>
      </p:sp>
      <p:sp>
        <p:nvSpPr>
          <p:cNvPr id="28" name="blocco Video"/>
          <p:cNvSpPr/>
          <p:nvPr/>
        </p:nvSpPr>
        <p:spPr>
          <a:xfrm>
            <a:off x="7187184" y="1097280"/>
            <a:ext cx="1463040" cy="640080"/>
          </a:xfrm>
          <a:prstGeom prst="roundRect">
            <a:avLst>
              <a:gd name="adj" fmla="val 17143"/>
            </a:avLst>
          </a:prstGeom>
          <a:solidFill>
            <a:schemeClr val="accent6"/>
          </a:solidFill>
          <a:ln/>
        </p:spPr>
      </p:sp>
      <p:sp>
        <p:nvSpPr>
          <p:cNvPr id="29" name="Text 26"/>
          <p:cNvSpPr txBox="1"/>
          <p:nvPr/>
        </p:nvSpPr>
        <p:spPr>
          <a:xfrm>
            <a:off x="7232904" y="1097280"/>
            <a:ext cx="1371600" cy="640080"/>
          </a:xfrm>
          <a:prstGeom prst="rect">
            <a:avLst/>
          </a:prstGeom>
          <a:noFill/>
          <a:ln/>
        </p:spPr>
        <p:txBody>
          <a:bodyPr wrap="square" lIns="0" tIns="0" rIns="0" bIns="0" rtlCol="0" anchor="ctr"/>
          <a:lstStyle/>
          <a:p>
            <a:pPr algn="ctr" indent="0" marL="0">
              <a:buNone/>
            </a:pPr>
            <a:r>
              <a:rPr lang="it-IT" sz="1300" b="1" dirty="0">
                <a:solidFill>
                  <a:schemeClr val="tx1"/>
                </a:solidFill>
              </a:rPr>
              <a:t>Video</a:t>
            </a:r>
            <a:endParaRPr lang="it-IT" sz="1300" dirty="0"/>
          </a:p>
        </p:txBody>
      </p:sp>
      <p:sp>
        <p:nvSpPr>
          <p:cNvPr id="30" name="Text 27"/>
          <p:cNvSpPr txBox="1"/>
          <p:nvPr/>
        </p:nvSpPr>
        <p:spPr>
          <a:xfrm>
            <a:off x="7187184" y="1810512"/>
            <a:ext cx="1463040" cy="228600"/>
          </a:xfrm>
          <a:prstGeom prst="rect">
            <a:avLst/>
          </a:prstGeom>
          <a:noFill/>
          <a:ln/>
        </p:spPr>
        <p:txBody>
          <a:bodyPr wrap="square" lIns="0" tIns="0" rIns="0" bIns="0" rtlCol="0" anchor="t"/>
          <a:lstStyle/>
          <a:p>
            <a:pPr algn="ctr" indent="0" marL="0">
              <a:buNone/>
            </a:pPr>
            <a:r>
              <a:rPr lang="it-IT" sz="900" dirty="0">
                <a:solidFill>
                  <a:schemeClr val="tx2"/>
                </a:solidFill>
              </a:rPr>
              <a:t>Si perde:</a:t>
            </a:r>
            <a:endParaRPr lang="it-IT" sz="900" dirty="0"/>
          </a:p>
        </p:txBody>
      </p:sp>
      <p:sp>
        <p:nvSpPr>
          <p:cNvPr id="31" name="Text 28"/>
          <p:cNvSpPr txBox="1"/>
          <p:nvPr/>
        </p:nvSpPr>
        <p:spPr>
          <a:xfrm>
            <a:off x="7187184" y="2011680"/>
            <a:ext cx="1463040" cy="384048"/>
          </a:xfrm>
          <a:prstGeom prst="rect">
            <a:avLst/>
          </a:prstGeom>
          <a:noFill/>
          <a:ln/>
        </p:spPr>
        <p:txBody>
          <a:bodyPr wrap="square" lIns="0" tIns="0" rIns="0" bIns="0" rtlCol="0" anchor="t"/>
          <a:lstStyle/>
          <a:p>
            <a:pPr algn="ctr" indent="0" marL="0">
              <a:buNone/>
            </a:pPr>
            <a:r>
              <a:rPr lang="it-IT" sz="1100" b="1" dirty="0">
                <a:solidFill>
                  <a:schemeClr val="accent5"/>
                </a:solidFill>
              </a:rPr>
              <a:t>Rileggibilità</a:t>
            </a:r>
            <a:endParaRPr lang="it-IT" sz="1100" dirty="0"/>
          </a:p>
        </p:txBody>
      </p:sp>
      <p:sp>
        <p:nvSpPr>
          <p:cNvPr id="32" name="riquadro Detto (esempio fittizio)"/>
          <p:cNvSpPr/>
          <p:nvPr/>
        </p:nvSpPr>
        <p:spPr>
          <a:xfrm>
            <a:off x="457200" y="2514600"/>
            <a:ext cx="3977640" cy="914400"/>
          </a:xfrm>
          <a:prstGeom prst="roundRect">
            <a:avLst>
              <a:gd name="adj" fmla="val 8000"/>
            </a:avLst>
          </a:prstGeom>
          <a:solidFill>
            <a:schemeClr val="accent6"/>
          </a:solidFill>
          <a:ln/>
        </p:spPr>
      </p:sp>
      <p:sp>
        <p:nvSpPr>
          <p:cNvPr id="33" name="barra"/>
          <p:cNvSpPr/>
          <p:nvPr/>
        </p:nvSpPr>
        <p:spPr>
          <a:xfrm>
            <a:off x="457200" y="2624328"/>
            <a:ext cx="54864" cy="694944"/>
          </a:xfrm>
          <a:prstGeom prst="rect">
            <a:avLst/>
          </a:prstGeom>
          <a:solidFill>
            <a:schemeClr val="accent1"/>
          </a:solidFill>
          <a:ln/>
        </p:spPr>
      </p:sp>
      <p:sp>
        <p:nvSpPr>
          <p:cNvPr id="34" name="Text 31"/>
          <p:cNvSpPr txBox="1"/>
          <p:nvPr/>
        </p:nvSpPr>
        <p:spPr>
          <a:xfrm>
            <a:off x="658368" y="2606040"/>
            <a:ext cx="3611880" cy="256032"/>
          </a:xfrm>
          <a:prstGeom prst="rect">
            <a:avLst/>
          </a:prstGeom>
          <a:noFill/>
          <a:ln/>
        </p:spPr>
        <p:txBody>
          <a:bodyPr wrap="square" lIns="0" tIns="0" rIns="0" bIns="0" rtlCol="0" anchor="t"/>
          <a:lstStyle/>
          <a:p>
            <a:pPr indent="0" marL="0">
              <a:buNone/>
            </a:pPr>
            <a:r>
              <a:rPr lang="it-IT" sz="1100" b="1" dirty="0">
                <a:solidFill>
                  <a:schemeClr val="accent1"/>
                </a:solidFill>
              </a:rPr>
              <a:t>Detto (esempio fittizio)</a:t>
            </a:r>
            <a:endParaRPr lang="it-IT" sz="1100" dirty="0"/>
          </a:p>
        </p:txBody>
      </p:sp>
      <p:sp>
        <p:nvSpPr>
          <p:cNvPr id="35" name="Text 32"/>
          <p:cNvSpPr txBox="1"/>
          <p:nvPr/>
        </p:nvSpPr>
        <p:spPr>
          <a:xfrm>
            <a:off x="658368" y="2898648"/>
            <a:ext cx="3611880" cy="438912"/>
          </a:xfrm>
          <a:prstGeom prst="rect">
            <a:avLst/>
          </a:prstGeom>
          <a:noFill/>
          <a:ln/>
        </p:spPr>
        <p:txBody>
          <a:bodyPr wrap="square" lIns="0" tIns="0" rIns="0" bIns="0" rtlCol="0" anchor="t"/>
          <a:lstStyle/>
          <a:p>
            <a:pPr indent="0" marL="0">
              <a:buNone/>
            </a:pPr>
            <a:r>
              <a:rPr lang="it-IT" sz="1200" dirty="0">
                <a:solidFill>
                  <a:schemeClr val="tx1"/>
                </a:solidFill>
              </a:rPr>
              <a:t>"Sì... il budget dovrebbe bastare..." (tono dubitativo)</a:t>
            </a:r>
            <a:endParaRPr lang="it-IT" sz="1200" dirty="0"/>
          </a:p>
        </p:txBody>
      </p:sp>
      <p:sp>
        <p:nvSpPr>
          <p:cNvPr id="36" name="riquadro Alla fine della catena"/>
          <p:cNvSpPr/>
          <p:nvPr/>
        </p:nvSpPr>
        <p:spPr>
          <a:xfrm>
            <a:off x="4709160" y="2514600"/>
            <a:ext cx="3977640" cy="914400"/>
          </a:xfrm>
          <a:prstGeom prst="roundRect">
            <a:avLst>
              <a:gd name="adj" fmla="val 8000"/>
            </a:avLst>
          </a:prstGeom>
          <a:solidFill>
            <a:schemeClr val="bg2"/>
          </a:solidFill>
          <a:ln/>
        </p:spPr>
      </p:sp>
      <p:sp>
        <p:nvSpPr>
          <p:cNvPr id="37" name="barra"/>
          <p:cNvSpPr/>
          <p:nvPr/>
        </p:nvSpPr>
        <p:spPr>
          <a:xfrm>
            <a:off x="4709160" y="2624328"/>
            <a:ext cx="54864" cy="694944"/>
          </a:xfrm>
          <a:prstGeom prst="rect">
            <a:avLst/>
          </a:prstGeom>
          <a:solidFill>
            <a:schemeClr val="accent5"/>
          </a:solidFill>
          <a:ln/>
        </p:spPr>
      </p:sp>
      <p:sp>
        <p:nvSpPr>
          <p:cNvPr id="38" name="Text 35"/>
          <p:cNvSpPr txBox="1"/>
          <p:nvPr/>
        </p:nvSpPr>
        <p:spPr>
          <a:xfrm>
            <a:off x="4910328" y="2606040"/>
            <a:ext cx="3611880" cy="256032"/>
          </a:xfrm>
          <a:prstGeom prst="rect">
            <a:avLst/>
          </a:prstGeom>
          <a:noFill/>
          <a:ln/>
        </p:spPr>
        <p:txBody>
          <a:bodyPr wrap="square" lIns="0" tIns="0" rIns="0" bIns="0" rtlCol="0" anchor="t"/>
          <a:lstStyle/>
          <a:p>
            <a:pPr indent="0" marL="0">
              <a:buNone/>
            </a:pPr>
            <a:r>
              <a:rPr lang="it-IT" sz="1100" b="1" dirty="0">
                <a:solidFill>
                  <a:schemeClr val="accent5"/>
                </a:solidFill>
              </a:rPr>
              <a:t>Alla fine della catena</a:t>
            </a:r>
            <a:endParaRPr lang="it-IT" sz="1100" dirty="0"/>
          </a:p>
        </p:txBody>
      </p:sp>
      <p:sp>
        <p:nvSpPr>
          <p:cNvPr id="39" name="Text 36"/>
          <p:cNvSpPr txBox="1"/>
          <p:nvPr/>
        </p:nvSpPr>
        <p:spPr>
          <a:xfrm>
            <a:off x="4910328" y="2898648"/>
            <a:ext cx="3611880" cy="438912"/>
          </a:xfrm>
          <a:prstGeom prst="rect">
            <a:avLst/>
          </a:prstGeom>
          <a:noFill/>
          <a:ln/>
        </p:spPr>
        <p:txBody>
          <a:bodyPr wrap="square" lIns="0" tIns="0" rIns="0" bIns="0" rtlCol="0" anchor="t"/>
          <a:lstStyle/>
          <a:p>
            <a:pPr indent="0" marL="0">
              <a:buNone/>
            </a:pPr>
            <a:r>
              <a:rPr lang="it-IT" sz="1300" dirty="0">
                <a:solidFill>
                  <a:schemeClr val="tx1"/>
                </a:solidFill>
              </a:rPr>
              <a:t>"Il budget è sufficiente."</a:t>
            </a:r>
            <a:endParaRPr lang="it-IT" sz="1300" dirty="0"/>
          </a:p>
        </p:txBody>
      </p:sp>
      <p:sp>
        <p:nvSpPr>
          <p:cNvPr id="40" name="blocco Catene brevi: partire dalla fonte originale"/>
          <p:cNvSpPr/>
          <p:nvPr/>
        </p:nvSpPr>
        <p:spPr>
          <a:xfrm>
            <a:off x="457200" y="3611880"/>
            <a:ext cx="4023360" cy="594360"/>
          </a:xfrm>
          <a:prstGeom prst="roundRect">
            <a:avLst>
              <a:gd name="adj" fmla="val 18462"/>
            </a:avLst>
          </a:prstGeom>
          <a:solidFill>
            <a:schemeClr val="bg2"/>
          </a:solidFill>
          <a:ln/>
        </p:spPr>
      </p:sp>
      <p:sp>
        <p:nvSpPr>
          <p:cNvPr id="41" name="Text 38"/>
          <p:cNvSpPr txBox="1"/>
          <p:nvPr/>
        </p:nvSpPr>
        <p:spPr>
          <a:xfrm>
            <a:off x="502920" y="3611880"/>
            <a:ext cx="3931920" cy="594360"/>
          </a:xfrm>
          <a:prstGeom prst="rect">
            <a:avLst/>
          </a:prstGeom>
          <a:noFill/>
          <a:ln/>
        </p:spPr>
        <p:txBody>
          <a:bodyPr wrap="square" lIns="0" tIns="0" rIns="0" bIns="0" rtlCol="0" anchor="ctr"/>
          <a:lstStyle/>
          <a:p>
            <a:pPr algn="ctr" indent="0" marL="0">
              <a:buNone/>
            </a:pPr>
            <a:r>
              <a:rPr lang="it-IT" sz="1200" b="1" dirty="0">
                <a:solidFill>
                  <a:schemeClr val="tx1"/>
                </a:solidFill>
              </a:rPr>
              <a:t>Catene brevi: partire dalla fonte originale</a:t>
            </a:r>
            <a:endParaRPr lang="it-IT" sz="1200" dirty="0"/>
          </a:p>
        </p:txBody>
      </p:sp>
      <p:sp>
        <p:nvSpPr>
          <p:cNvPr id="42" name="blocco Confrontare il risultato finale con la fonte"/>
          <p:cNvSpPr/>
          <p:nvPr/>
        </p:nvSpPr>
        <p:spPr>
          <a:xfrm>
            <a:off x="4663440" y="3611880"/>
            <a:ext cx="4023360" cy="594360"/>
          </a:xfrm>
          <a:prstGeom prst="roundRect">
            <a:avLst>
              <a:gd name="adj" fmla="val 18462"/>
            </a:avLst>
          </a:prstGeom>
          <a:solidFill>
            <a:schemeClr val="bg2"/>
          </a:solidFill>
          <a:ln/>
        </p:spPr>
      </p:sp>
      <p:sp>
        <p:nvSpPr>
          <p:cNvPr id="43" name="Text 40"/>
          <p:cNvSpPr txBox="1"/>
          <p:nvPr/>
        </p:nvSpPr>
        <p:spPr>
          <a:xfrm>
            <a:off x="4709160" y="3611880"/>
            <a:ext cx="3931920" cy="594360"/>
          </a:xfrm>
          <a:prstGeom prst="rect">
            <a:avLst/>
          </a:prstGeom>
          <a:noFill/>
          <a:ln/>
        </p:spPr>
        <p:txBody>
          <a:bodyPr wrap="square" lIns="0" tIns="0" rIns="0" bIns="0" rtlCol="0" anchor="ctr"/>
          <a:lstStyle/>
          <a:p>
            <a:pPr algn="ctr" indent="0" marL="0">
              <a:buNone/>
            </a:pPr>
            <a:r>
              <a:rPr lang="it-IT" sz="1200" b="1" dirty="0">
                <a:solidFill>
                  <a:schemeClr val="tx1"/>
                </a:solidFill>
              </a:rPr>
              <a:t>Confrontare il risultato finale con la fonte</a:t>
            </a:r>
            <a:endParaRPr lang="it-IT" sz="1200" dirty="0"/>
          </a:p>
        </p:txBody>
      </p:sp>
      <p:sp>
        <p:nvSpPr>
          <p:cNvPr id="44" name="Text 41"/>
          <p:cNvSpPr txBox="1"/>
          <p:nvPr/>
        </p:nvSpPr>
        <p:spPr>
          <a:xfrm>
            <a:off x="457200" y="4270248"/>
            <a:ext cx="8229600" cy="274320"/>
          </a:xfrm>
          <a:prstGeom prst="rect">
            <a:avLst/>
          </a:prstGeom>
          <a:noFill/>
          <a:ln/>
        </p:spPr>
        <p:txBody>
          <a:bodyPr wrap="square" lIns="0" tIns="0" rIns="0" bIns="0" rtlCol="0" anchor="t"/>
          <a:lstStyle/>
          <a:p>
            <a:pPr indent="0" marL="0">
              <a:buNone/>
            </a:pPr>
            <a:r>
              <a:rPr lang="it-IT" sz="1200" i="1" dirty="0">
                <a:solidFill>
                  <a:schemeClr val="tx2"/>
                </a:solidFill>
              </a:rPr>
              <a:t>Il passaparola delle modalità: ogni passaggio sembra ragionevole, ma il significato può cambiare.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45</a:t>
            </a:fld>
            <a:endParaRPr lang="it-IT"/>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Combinare più fonti</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sp>
        <p:nvSpPr>
          <p:cNvPr id="10" name="Registrazione"/>
          <p:cNvSpPr/>
          <p:nvPr/>
        </p:nvSpPr>
        <p:spPr>
          <a:xfrm>
            <a:off x="457200" y="1051560"/>
            <a:ext cx="2377440" cy="658368"/>
          </a:xfrm>
          <a:prstGeom prst="roundRect">
            <a:avLst>
              <a:gd name="adj" fmla="val 11111"/>
            </a:avLst>
          </a:prstGeom>
          <a:solidFill>
            <a:schemeClr val="bg2"/>
          </a:solidFill>
          <a:ln/>
        </p:spPr>
      </p:sp>
      <p:sp>
        <p:nvSpPr>
          <p:cNvPr id="11" name="cerchio FiMic"/>
          <p:cNvSpPr/>
          <p:nvPr/>
        </p:nvSpPr>
        <p:spPr>
          <a:xfrm>
            <a:off x="566928" y="1161288"/>
            <a:ext cx="438912" cy="438912"/>
          </a:xfrm>
          <a:prstGeom prst="ellipse">
            <a:avLst/>
          </a:prstGeom>
          <a:solidFill>
            <a:schemeClr val="accent1"/>
          </a:solidFill>
          <a:ln/>
        </p:spPr>
      </p:sp>
      <p:pic>
        <p:nvPicPr>
          <p:cNvPr id="12" name="Image 0" descr="FiMic">    </p:cNvPr>
          <p:cNvPicPr>
            <a:picLocks noChangeAspect="1"/>
          </p:cNvPicPr>
          <p:nvPr/>
        </p:nvPicPr>
        <p:blipFill>
          <a:blip r:embed="rId1"/>
          <a:stretch>
            <a:fillRect/>
          </a:stretch>
        </p:blipFill>
        <p:spPr>
          <a:xfrm>
            <a:off x="676656" y="1271016"/>
            <a:ext cx="219456" cy="219456"/>
          </a:xfrm>
          <a:prstGeom prst="rect">
            <a:avLst/>
          </a:prstGeom>
        </p:spPr>
      </p:pic>
      <p:sp>
        <p:nvSpPr>
          <p:cNvPr id="13" name="Text 9"/>
          <p:cNvSpPr txBox="1"/>
          <p:nvPr/>
        </p:nvSpPr>
        <p:spPr>
          <a:xfrm>
            <a:off x="1097280" y="1051560"/>
            <a:ext cx="1645920" cy="658368"/>
          </a:xfrm>
          <a:prstGeom prst="rect">
            <a:avLst/>
          </a:prstGeom>
          <a:noFill/>
          <a:ln/>
        </p:spPr>
        <p:txBody>
          <a:bodyPr wrap="square" lIns="0" tIns="0" rIns="0" bIns="0" rtlCol="0" anchor="ctr"/>
          <a:lstStyle/>
          <a:p>
            <a:pPr indent="0" marL="0">
              <a:buNone/>
            </a:pPr>
            <a:r>
              <a:rPr lang="it-IT" sz="1400" b="1" dirty="0">
                <a:solidFill>
                  <a:schemeClr val="tx1"/>
                </a:solidFill>
              </a:rPr>
              <a:t>Registrazione</a:t>
            </a:r>
            <a:endParaRPr lang="it-IT" sz="1400" dirty="0"/>
          </a:p>
        </p:txBody>
      </p:sp>
      <p:sp>
        <p:nvSpPr>
          <p:cNvPr id="14" name="Slide"/>
          <p:cNvSpPr/>
          <p:nvPr/>
        </p:nvSpPr>
        <p:spPr>
          <a:xfrm>
            <a:off x="457200" y="1828800"/>
            <a:ext cx="2377440" cy="658368"/>
          </a:xfrm>
          <a:prstGeom prst="roundRect">
            <a:avLst>
              <a:gd name="adj" fmla="val 11111"/>
            </a:avLst>
          </a:prstGeom>
          <a:solidFill>
            <a:schemeClr val="bg2"/>
          </a:solidFill>
          <a:ln/>
        </p:spPr>
      </p:sp>
      <p:sp>
        <p:nvSpPr>
          <p:cNvPr id="15" name="cerchio FiLayout"/>
          <p:cNvSpPr/>
          <p:nvPr/>
        </p:nvSpPr>
        <p:spPr>
          <a:xfrm>
            <a:off x="566928" y="1938528"/>
            <a:ext cx="438912" cy="438912"/>
          </a:xfrm>
          <a:prstGeom prst="ellipse">
            <a:avLst/>
          </a:prstGeom>
          <a:solidFill>
            <a:schemeClr val="accent1"/>
          </a:solidFill>
          <a:ln/>
        </p:spPr>
      </p:sp>
      <p:pic>
        <p:nvPicPr>
          <p:cNvPr id="16" name="Image 1" descr="FiLayout">    </p:cNvPr>
          <p:cNvPicPr>
            <a:picLocks noChangeAspect="1"/>
          </p:cNvPicPr>
          <p:nvPr/>
        </p:nvPicPr>
        <p:blipFill>
          <a:blip r:embed="rId2"/>
          <a:stretch>
            <a:fillRect/>
          </a:stretch>
        </p:blipFill>
        <p:spPr>
          <a:xfrm>
            <a:off x="676656" y="2048256"/>
            <a:ext cx="219456" cy="219456"/>
          </a:xfrm>
          <a:prstGeom prst="rect">
            <a:avLst/>
          </a:prstGeom>
        </p:spPr>
      </p:pic>
      <p:sp>
        <p:nvSpPr>
          <p:cNvPr id="17" name="Text 12"/>
          <p:cNvSpPr txBox="1"/>
          <p:nvPr/>
        </p:nvSpPr>
        <p:spPr>
          <a:xfrm>
            <a:off x="1097280" y="1828800"/>
            <a:ext cx="1645920" cy="658368"/>
          </a:xfrm>
          <a:prstGeom prst="rect">
            <a:avLst/>
          </a:prstGeom>
          <a:noFill/>
          <a:ln/>
        </p:spPr>
        <p:txBody>
          <a:bodyPr wrap="square" lIns="0" tIns="0" rIns="0" bIns="0" rtlCol="0" anchor="ctr"/>
          <a:lstStyle/>
          <a:p>
            <a:pPr indent="0" marL="0">
              <a:buNone/>
            </a:pPr>
            <a:r>
              <a:rPr lang="it-IT" sz="1400" b="1" dirty="0">
                <a:solidFill>
                  <a:schemeClr val="tx1"/>
                </a:solidFill>
              </a:rPr>
              <a:t>Slide</a:t>
            </a:r>
            <a:endParaRPr lang="it-IT" sz="1400" dirty="0"/>
          </a:p>
        </p:txBody>
      </p:sp>
      <p:sp>
        <p:nvSpPr>
          <p:cNvPr id="18" name="Documento"/>
          <p:cNvSpPr/>
          <p:nvPr/>
        </p:nvSpPr>
        <p:spPr>
          <a:xfrm>
            <a:off x="457200" y="2606040"/>
            <a:ext cx="2377440" cy="658368"/>
          </a:xfrm>
          <a:prstGeom prst="roundRect">
            <a:avLst>
              <a:gd name="adj" fmla="val 11111"/>
            </a:avLst>
          </a:prstGeom>
          <a:solidFill>
            <a:schemeClr val="bg2"/>
          </a:solidFill>
          <a:ln/>
        </p:spPr>
      </p:sp>
      <p:sp>
        <p:nvSpPr>
          <p:cNvPr id="19" name="cerchio FiFileText"/>
          <p:cNvSpPr/>
          <p:nvPr/>
        </p:nvSpPr>
        <p:spPr>
          <a:xfrm>
            <a:off x="566928" y="2715768"/>
            <a:ext cx="438912" cy="438912"/>
          </a:xfrm>
          <a:prstGeom prst="ellipse">
            <a:avLst/>
          </a:prstGeom>
          <a:solidFill>
            <a:schemeClr val="accent1"/>
          </a:solidFill>
          <a:ln/>
        </p:spPr>
      </p:sp>
      <p:pic>
        <p:nvPicPr>
          <p:cNvPr id="20" name="Image 2" descr="FiFileText">    </p:cNvPr>
          <p:cNvPicPr>
            <a:picLocks noChangeAspect="1"/>
          </p:cNvPicPr>
          <p:nvPr/>
        </p:nvPicPr>
        <p:blipFill>
          <a:blip r:embed="rId3"/>
          <a:stretch>
            <a:fillRect/>
          </a:stretch>
        </p:blipFill>
        <p:spPr>
          <a:xfrm>
            <a:off x="676656" y="2825496"/>
            <a:ext cx="219456" cy="219456"/>
          </a:xfrm>
          <a:prstGeom prst="rect">
            <a:avLst/>
          </a:prstGeom>
        </p:spPr>
      </p:pic>
      <p:sp>
        <p:nvSpPr>
          <p:cNvPr id="21" name="Text 15"/>
          <p:cNvSpPr txBox="1"/>
          <p:nvPr/>
        </p:nvSpPr>
        <p:spPr>
          <a:xfrm>
            <a:off x="1097280" y="2606040"/>
            <a:ext cx="1645920" cy="658368"/>
          </a:xfrm>
          <a:prstGeom prst="rect">
            <a:avLst/>
          </a:prstGeom>
          <a:noFill/>
          <a:ln/>
        </p:spPr>
        <p:txBody>
          <a:bodyPr wrap="square" lIns="0" tIns="0" rIns="0" bIns="0" rtlCol="0" anchor="ctr"/>
          <a:lstStyle/>
          <a:p>
            <a:pPr indent="0" marL="0">
              <a:buNone/>
            </a:pPr>
            <a:r>
              <a:rPr lang="it-IT" sz="1400" b="1" dirty="0">
                <a:solidFill>
                  <a:schemeClr val="tx1"/>
                </a:solidFill>
              </a:rPr>
              <a:t>Documento</a:t>
            </a:r>
            <a:endParaRPr lang="it-IT" sz="1400" dirty="0"/>
          </a:p>
        </p:txBody>
      </p:sp>
      <p:sp>
        <p:nvSpPr>
          <p:cNvPr id="22" name="freccia"/>
          <p:cNvSpPr/>
          <p:nvPr/>
        </p:nvSpPr>
        <p:spPr>
          <a:xfrm>
            <a:off x="2926080" y="1828800"/>
            <a:ext cx="365760" cy="292608"/>
          </a:xfrm>
          <a:prstGeom prst="rightArrow">
            <a:avLst/>
          </a:prstGeom>
          <a:solidFill>
            <a:schemeClr val="accent2"/>
          </a:solidFill>
          <a:ln/>
        </p:spPr>
      </p:sp>
      <p:sp>
        <p:nvSpPr>
          <p:cNvPr id="23" name="verbale"/>
          <p:cNvSpPr/>
          <p:nvPr/>
        </p:nvSpPr>
        <p:spPr>
          <a:xfrm>
            <a:off x="3429000" y="1051560"/>
            <a:ext cx="2011680" cy="2194560"/>
          </a:xfrm>
          <a:prstGeom prst="roundRect">
            <a:avLst>
              <a:gd name="adj" fmla="val 3636"/>
            </a:avLst>
          </a:prstGeom>
          <a:solidFill>
            <a:schemeClr val="accent1"/>
          </a:solidFill>
          <a:ln/>
        </p:spPr>
      </p:sp>
      <p:sp>
        <p:nvSpPr>
          <p:cNvPr id="24" name="Text 18"/>
          <p:cNvSpPr txBox="1"/>
          <p:nvPr/>
        </p:nvSpPr>
        <p:spPr>
          <a:xfrm>
            <a:off x="3520440" y="1051560"/>
            <a:ext cx="1828800" cy="2194560"/>
          </a:xfrm>
          <a:prstGeom prst="rect">
            <a:avLst/>
          </a:prstGeom>
          <a:noFill/>
          <a:ln/>
        </p:spPr>
        <p:txBody>
          <a:bodyPr wrap="square" lIns="0" tIns="0" rIns="0" bIns="0" rtlCol="0" anchor="ctr"/>
          <a:lstStyle/>
          <a:p>
            <a:pPr algn="ctr" indent="0" marL="0">
              <a:buNone/>
            </a:pPr>
            <a:r>
              <a:rPr lang="it-IT" sz="1500" b="1" dirty="0">
                <a:solidFill>
                  <a:schemeClr val="bg1"/>
                </a:solidFill>
              </a:rPr>
              <a:t>Un verbale integrato</a:t>
            </a:r>
            <a:endParaRPr lang="it-IT" sz="1500" dirty="0"/>
          </a:p>
        </p:txBody>
      </p:sp>
      <p:sp>
        <p:nvSpPr>
          <p:cNvPr id="25" name="scheda Collegamenti da verificare"/>
          <p:cNvSpPr/>
          <p:nvPr/>
        </p:nvSpPr>
        <p:spPr>
          <a:xfrm>
            <a:off x="5669280" y="1051560"/>
            <a:ext cx="3017520" cy="2194560"/>
          </a:xfrm>
          <a:prstGeom prst="roundRect">
            <a:avLst>
              <a:gd name="adj" fmla="val 3333"/>
            </a:avLst>
          </a:prstGeom>
          <a:solidFill>
            <a:schemeClr val="bg2"/>
          </a:solidFill>
          <a:ln/>
        </p:spPr>
      </p:sp>
      <p:sp>
        <p:nvSpPr>
          <p:cNvPr id="26" name="cerchio FiLink"/>
          <p:cNvSpPr/>
          <p:nvPr/>
        </p:nvSpPr>
        <p:spPr>
          <a:xfrm>
            <a:off x="5852160" y="1234440"/>
            <a:ext cx="457200" cy="457200"/>
          </a:xfrm>
          <a:prstGeom prst="ellipse">
            <a:avLst/>
          </a:prstGeom>
          <a:solidFill>
            <a:schemeClr val="accent5"/>
          </a:solidFill>
          <a:ln/>
        </p:spPr>
      </p:sp>
      <p:pic>
        <p:nvPicPr>
          <p:cNvPr id="27" name="Image 3" descr="FiLink">    </p:cNvPr>
          <p:cNvPicPr>
            <a:picLocks noChangeAspect="1"/>
          </p:cNvPicPr>
          <p:nvPr/>
        </p:nvPicPr>
        <p:blipFill>
          <a:blip r:embed="rId4"/>
          <a:stretch>
            <a:fillRect/>
          </a:stretch>
        </p:blipFill>
        <p:spPr>
          <a:xfrm>
            <a:off x="5966460" y="1348740"/>
            <a:ext cx="228600" cy="228600"/>
          </a:xfrm>
          <a:prstGeom prst="rect">
            <a:avLst/>
          </a:prstGeom>
        </p:spPr>
      </p:pic>
      <p:sp>
        <p:nvSpPr>
          <p:cNvPr id="28" name="Text 21"/>
          <p:cNvSpPr txBox="1"/>
          <p:nvPr/>
        </p:nvSpPr>
        <p:spPr>
          <a:xfrm>
            <a:off x="5852160" y="1801368"/>
            <a:ext cx="2651760" cy="347472"/>
          </a:xfrm>
          <a:prstGeom prst="rect">
            <a:avLst/>
          </a:prstGeom>
          <a:noFill/>
          <a:ln/>
        </p:spPr>
        <p:txBody>
          <a:bodyPr wrap="square" lIns="0" tIns="0" rIns="0" bIns="0" rtlCol="0" anchor="t"/>
          <a:lstStyle/>
          <a:p>
            <a:pPr indent="0" marL="0">
              <a:buNone/>
            </a:pPr>
            <a:r>
              <a:rPr lang="it-IT" sz="1400" b="1" dirty="0">
                <a:solidFill>
                  <a:schemeClr val="tx1"/>
                </a:solidFill>
              </a:rPr>
              <a:t>Collegamenti da verificare</a:t>
            </a:r>
            <a:endParaRPr lang="it-IT" sz="1400" dirty="0"/>
          </a:p>
        </p:txBody>
      </p:sp>
      <p:sp>
        <p:nvSpPr>
          <p:cNvPr id="29" name="Text 22"/>
          <p:cNvSpPr txBox="1"/>
          <p:nvPr/>
        </p:nvSpPr>
        <p:spPr>
          <a:xfrm>
            <a:off x="5852160" y="2185416"/>
            <a:ext cx="2651760" cy="950976"/>
          </a:xfrm>
          <a:prstGeom prst="rect">
            <a:avLst/>
          </a:prstGeom>
          <a:noFill/>
          <a:ln/>
        </p:spPr>
        <p:txBody>
          <a:bodyPr wrap="square" lIns="0" tIns="0" rIns="0" bIns="0" rtlCol="0" anchor="t"/>
          <a:lstStyle/>
          <a:p>
            <a:pPr indent="0" marL="0">
              <a:buNone/>
            </a:pPr>
            <a:r>
              <a:rPr lang="it-IT" sz="1200" dirty="0">
                <a:solidFill>
                  <a:schemeClr val="tx2"/>
                </a:solidFill>
              </a:rPr>
              <a:t>Un commento sulla slide sbagliata, una foto con la nota di un'altra stanza.</a:t>
            </a:r>
            <a:endParaRPr lang="it-IT" sz="1200" dirty="0"/>
          </a:p>
        </p:txBody>
      </p:sp>
      <p:sp>
        <p:nvSpPr>
          <p:cNvPr id="30" name="messaggio"/>
          <p:cNvSpPr/>
          <p:nvPr/>
        </p:nvSpPr>
        <p:spPr>
          <a:xfrm>
            <a:off x="457200" y="3474720"/>
            <a:ext cx="8229600" cy="685800"/>
          </a:xfrm>
          <a:prstGeom prst="roundRect">
            <a:avLst>
              <a:gd name="adj" fmla="val 10667"/>
            </a:avLst>
          </a:prstGeom>
          <a:solidFill>
            <a:schemeClr val="tx1"/>
          </a:solidFill>
          <a:ln/>
        </p:spPr>
      </p:sp>
      <p:sp>
        <p:nvSpPr>
          <p:cNvPr id="31" name="Text 24"/>
          <p:cNvSpPr txBox="1"/>
          <p:nvPr/>
        </p:nvSpPr>
        <p:spPr>
          <a:xfrm>
            <a:off x="640080" y="3474720"/>
            <a:ext cx="7863840" cy="685800"/>
          </a:xfrm>
          <a:prstGeom prst="rect">
            <a:avLst/>
          </a:prstGeom>
          <a:noFill/>
          <a:ln/>
        </p:spPr>
        <p:txBody>
          <a:bodyPr wrap="square" lIns="0" tIns="0" rIns="0" bIns="0" rtlCol="0" anchor="ctr"/>
          <a:lstStyle/>
          <a:p>
            <a:pPr indent="0" marL="0">
              <a:buNone/>
            </a:pPr>
            <a:r>
              <a:rPr lang="it-IT" sz="1300" dirty="0">
                <a:solidFill>
                  <a:schemeClr val="bg1"/>
                </a:solidFill>
              </a:rPr>
              <a:t>Ogni fonte compensa i limiti delle altre. Per i contenuti importanti: ogni affermazione indichi la sua fonte.</a:t>
            </a:r>
            <a:endParaRPr lang="it-IT" sz="1300" dirty="0"/>
          </a:p>
        </p:txBody>
      </p:sp>
      <p:sp>
        <p:nvSpPr>
          <p:cNvPr id="32" name="Text 25"/>
          <p:cNvSpPr txBox="1"/>
          <p:nvPr/>
        </p:nvSpPr>
        <p:spPr>
          <a:xfrm>
            <a:off x="457200" y="4251960"/>
            <a:ext cx="8229600" cy="274320"/>
          </a:xfrm>
          <a:prstGeom prst="rect">
            <a:avLst/>
          </a:prstGeom>
          <a:noFill/>
          <a:ln/>
        </p:spPr>
        <p:txBody>
          <a:bodyPr wrap="square" lIns="0" tIns="0" rIns="0" bIns="0" rtlCol="0" anchor="t"/>
          <a:lstStyle/>
          <a:p>
            <a:pPr indent="0" marL="0">
              <a:buNone/>
            </a:pPr>
            <a:r>
              <a:rPr lang="it-IT" sz="1200" i="1" dirty="0">
                <a:solidFill>
                  <a:schemeClr val="tx2"/>
                </a:solidFill>
              </a:rPr>
              <a:t>Tracciabilità: ogni elemento del risultato deve poter essere ricondotto alla sua fonte.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46</a:t>
            </a:fld>
            <a:endParaRPr lang="it-IT"/>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Conversioni per l'accessibilità</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377440"/>
                <a:gridCol w="3108960"/>
                <a:gridCol w="2743200"/>
              </a:tblGrid>
              <a:tr h="384048">
                <a:tc>
                  <a:txBody>
                    <a:bodyPr/>
                    <a:lstStyle/>
                    <a:p>
                      <a:pPr indent="0" marL="0">
                        <a:buNone/>
                      </a:pPr>
                      <a:r>
                        <a:rPr lang="it-IT" sz="1200" b="1" dirty="0">
                          <a:solidFill>
                            <a:schemeClr val="bg1"/>
                          </a:solidFill>
                        </a:rPr>
                        <a:t>Contenuto originale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200" b="1" dirty="0">
                          <a:solidFill>
                            <a:schemeClr val="bg1"/>
                          </a:solidFill>
                        </a:rPr>
                        <a:t>Conversione accessibile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it-IT" sz="1200" b="1" dirty="0">
                          <a:solidFill>
                            <a:schemeClr val="bg1"/>
                          </a:solidFill>
                        </a:rPr>
                        <a:t>Per chi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84048">
                <a:tc>
                  <a:txBody>
                    <a:bodyPr/>
                    <a:lstStyle/>
                    <a:p>
                      <a:pPr indent="0" marL="0">
                        <a:buNone/>
                      </a:pPr>
                      <a:r>
                        <a:rPr lang="it-IT" sz="1200" b="1" dirty="0">
                          <a:solidFill>
                            <a:schemeClr val="tx1"/>
                          </a:solidFill>
                        </a:rPr>
                        <a:t>Immagine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Testo alternativo, descrizione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200" dirty="0">
                          <a:solidFill>
                            <a:schemeClr val="tx1"/>
                          </a:solidFill>
                        </a:rPr>
                        <a:t>Chi non vede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it-IT" sz="1200" b="1" dirty="0">
                          <a:solidFill>
                            <a:schemeClr val="tx1"/>
                          </a:solidFill>
                        </a:rPr>
                        <a:t>Audio e video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Sottotitoli, trascrizione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200" dirty="0">
                          <a:solidFill>
                            <a:schemeClr val="tx1"/>
                          </a:solidFill>
                        </a:rPr>
                        <a:t>Chi non sente, luoghi rumorosi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it-IT" sz="1200" b="1" dirty="0">
                          <a:solidFill>
                            <a:schemeClr val="tx1"/>
                          </a:solidFill>
                        </a:rPr>
                        <a:t>Documento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Versione audio, versione semplificata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200" dirty="0">
                          <a:solidFill>
                            <a:schemeClr val="tx1"/>
                          </a:solidFill>
                        </a:rPr>
                        <a:t>Chi fatica a leggere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it-IT" sz="1200" b="1" dirty="0">
                          <a:solidFill>
                            <a:schemeClr val="tx1"/>
                          </a:solidFill>
                        </a:rPr>
                        <a:t>Grafico o diagramma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Descrizione testuale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200" dirty="0">
                          <a:solidFill>
                            <a:schemeClr val="tx1"/>
                          </a:solidFill>
                        </a:rPr>
                        <a:t>Chi non vede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it-IT" sz="1200" b="1" dirty="0">
                          <a:solidFill>
                            <a:schemeClr val="tx1"/>
                          </a:solidFill>
                        </a:rPr>
                        <a:t>Qualsiasi contenuto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Traduzione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200" dirty="0">
                          <a:solidFill>
                            <a:schemeClr val="tx1"/>
                          </a:solidFill>
                        </a:rPr>
                        <a:t>Chi non conosce la lingua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1" name="messaggio"/>
          <p:cNvSpPr/>
          <p:nvPr/>
        </p:nvSpPr>
        <p:spPr>
          <a:xfrm>
            <a:off x="457200" y="3520440"/>
            <a:ext cx="8229600" cy="731520"/>
          </a:xfrm>
          <a:prstGeom prst="roundRect">
            <a:avLst>
              <a:gd name="adj" fmla="val 10000"/>
            </a:avLst>
          </a:prstGeom>
          <a:solidFill>
            <a:schemeClr val="tx1"/>
          </a:solidFill>
          <a:ln/>
        </p:spPr>
      </p:sp>
      <p:sp>
        <p:nvSpPr>
          <p:cNvPr id="12" name="Text 8"/>
          <p:cNvSpPr txBox="1"/>
          <p:nvPr/>
        </p:nvSpPr>
        <p:spPr>
          <a:xfrm>
            <a:off x="640080" y="3520440"/>
            <a:ext cx="7863840" cy="731520"/>
          </a:xfrm>
          <a:prstGeom prst="rect">
            <a:avLst/>
          </a:prstGeom>
          <a:noFill/>
          <a:ln/>
        </p:spPr>
        <p:txBody>
          <a:bodyPr wrap="square" lIns="0" tIns="0" rIns="0" bIns="0" rtlCol="0" anchor="ctr"/>
          <a:lstStyle/>
          <a:p>
            <a:pPr indent="0" marL="0">
              <a:buNone/>
            </a:pPr>
            <a:r>
              <a:rPr lang="it-IT" sz="1300" dirty="0">
                <a:solidFill>
                  <a:schemeClr val="bg1"/>
                </a:solidFill>
              </a:rPr>
              <a:t>Accessibilità su tutto l'archivio, a costi bassi. Un controllo mirato evita che un errore arrivi a chi non può verificarlo.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47</a:t>
            </a:fld>
            <a:endParaRPr lang="it-IT"/>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Controllare con la fonte originale</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sp>
        <p:nvSpPr>
          <p:cNvPr id="10" name="Text 7"/>
          <p:cNvSpPr txBox="1"/>
          <p:nvPr/>
        </p:nvSpPr>
        <p:spPr>
          <a:xfrm>
            <a:off x="457200" y="987552"/>
            <a:ext cx="3977640" cy="274320"/>
          </a:xfrm>
          <a:prstGeom prst="rect">
            <a:avLst/>
          </a:prstGeom>
          <a:noFill/>
          <a:ln/>
        </p:spPr>
        <p:txBody>
          <a:bodyPr wrap="square" lIns="0" tIns="0" rIns="0" bIns="0" rtlCol="0" anchor="t"/>
          <a:lstStyle/>
          <a:p>
            <a:pPr indent="0" marL="0">
              <a:buNone/>
            </a:pPr>
            <a:r>
              <a:rPr lang="it-IT" sz="1300" b="1" dirty="0">
                <a:solidFill>
                  <a:schemeClr val="tx1"/>
                </a:solidFill>
              </a:rPr>
              <a:t>Che cosa può cambiare</a:t>
            </a:r>
            <a:endParaRPr lang="it-IT" sz="1300" dirty="0"/>
          </a:p>
        </p:txBody>
      </p:sp>
      <p:sp>
        <p:nvSpPr>
          <p:cNvPr id="11" name="Omissioni"/>
          <p:cNvSpPr/>
          <p:nvPr/>
        </p:nvSpPr>
        <p:spPr>
          <a:xfrm>
            <a:off x="457200" y="1325880"/>
            <a:ext cx="3977640" cy="731520"/>
          </a:xfrm>
          <a:prstGeom prst="roundRect">
            <a:avLst>
              <a:gd name="adj" fmla="val 10000"/>
            </a:avLst>
          </a:prstGeom>
          <a:solidFill>
            <a:schemeClr val="bg2"/>
          </a:solidFill>
          <a:ln/>
        </p:spPr>
      </p:sp>
      <p:sp>
        <p:nvSpPr>
          <p:cNvPr id="12" name="Text 9"/>
          <p:cNvSpPr txBox="1"/>
          <p:nvPr/>
        </p:nvSpPr>
        <p:spPr>
          <a:xfrm>
            <a:off x="640080" y="1380744"/>
            <a:ext cx="3657600" cy="292608"/>
          </a:xfrm>
          <a:prstGeom prst="rect">
            <a:avLst/>
          </a:prstGeom>
          <a:noFill/>
          <a:ln/>
        </p:spPr>
        <p:txBody>
          <a:bodyPr wrap="square" lIns="0" tIns="0" rIns="0" bIns="0" rtlCol="0" anchor="t"/>
          <a:lstStyle/>
          <a:p>
            <a:pPr indent="0" marL="0">
              <a:buNone/>
            </a:pPr>
            <a:r>
              <a:rPr lang="it-IT" sz="1300" b="1" dirty="0">
                <a:solidFill>
                  <a:schemeClr val="accent5"/>
                </a:solidFill>
              </a:rPr>
              <a:t>Omissioni</a:t>
            </a:r>
            <a:endParaRPr lang="it-IT" sz="1300" dirty="0"/>
          </a:p>
        </p:txBody>
      </p:sp>
      <p:sp>
        <p:nvSpPr>
          <p:cNvPr id="13" name="Text 10"/>
          <p:cNvSpPr txBox="1"/>
          <p:nvPr/>
        </p:nvSpPr>
        <p:spPr>
          <a:xfrm>
            <a:off x="640080" y="1673352"/>
            <a:ext cx="3657600" cy="329184"/>
          </a:xfrm>
          <a:prstGeom prst="rect">
            <a:avLst/>
          </a:prstGeom>
          <a:noFill/>
          <a:ln/>
        </p:spPr>
        <p:txBody>
          <a:bodyPr wrap="square" lIns="0" tIns="0" rIns="0" bIns="0" rtlCol="0" anchor="t"/>
          <a:lstStyle/>
          <a:p>
            <a:pPr indent="0" marL="0">
              <a:buNone/>
            </a:pPr>
            <a:r>
              <a:rPr lang="it-IT" sz="1200" dirty="0">
                <a:solidFill>
                  <a:schemeClr val="tx1"/>
                </a:solidFill>
              </a:rPr>
              <a:t>Il tono, una condizione in piccolo</a:t>
            </a:r>
            <a:endParaRPr lang="it-IT" sz="1200" dirty="0"/>
          </a:p>
        </p:txBody>
      </p:sp>
      <p:sp>
        <p:nvSpPr>
          <p:cNvPr id="14" name="Reinterpretazioni"/>
          <p:cNvSpPr/>
          <p:nvPr/>
        </p:nvSpPr>
        <p:spPr>
          <a:xfrm>
            <a:off x="457200" y="2148840"/>
            <a:ext cx="3977640" cy="731520"/>
          </a:xfrm>
          <a:prstGeom prst="roundRect">
            <a:avLst>
              <a:gd name="adj" fmla="val 10000"/>
            </a:avLst>
          </a:prstGeom>
          <a:solidFill>
            <a:schemeClr val="bg1"/>
          </a:solidFill>
          <a:ln/>
        </p:spPr>
      </p:sp>
      <p:sp>
        <p:nvSpPr>
          <p:cNvPr id="15" name="Text 12"/>
          <p:cNvSpPr txBox="1"/>
          <p:nvPr/>
        </p:nvSpPr>
        <p:spPr>
          <a:xfrm>
            <a:off x="640080" y="2203704"/>
            <a:ext cx="3657600" cy="292608"/>
          </a:xfrm>
          <a:prstGeom prst="rect">
            <a:avLst/>
          </a:prstGeom>
          <a:noFill/>
          <a:ln/>
        </p:spPr>
        <p:txBody>
          <a:bodyPr wrap="square" lIns="0" tIns="0" rIns="0" bIns="0" rtlCol="0" anchor="t"/>
          <a:lstStyle/>
          <a:p>
            <a:pPr indent="0" marL="0">
              <a:buNone/>
            </a:pPr>
            <a:r>
              <a:rPr lang="it-IT" sz="1300" b="1" dirty="0">
                <a:solidFill>
                  <a:schemeClr val="accent5"/>
                </a:solidFill>
              </a:rPr>
              <a:t>Reinterpretazioni</a:t>
            </a:r>
            <a:endParaRPr lang="it-IT" sz="1300" dirty="0"/>
          </a:p>
        </p:txBody>
      </p:sp>
      <p:sp>
        <p:nvSpPr>
          <p:cNvPr id="16" name="Text 13"/>
          <p:cNvSpPr txBox="1"/>
          <p:nvPr/>
        </p:nvSpPr>
        <p:spPr>
          <a:xfrm>
            <a:off x="640080" y="2496312"/>
            <a:ext cx="3657600" cy="329184"/>
          </a:xfrm>
          <a:prstGeom prst="rect">
            <a:avLst/>
          </a:prstGeom>
          <a:noFill/>
          <a:ln/>
        </p:spPr>
        <p:txBody>
          <a:bodyPr wrap="square" lIns="0" tIns="0" rIns="0" bIns="0" rtlCol="0" anchor="t"/>
          <a:lstStyle/>
          <a:p>
            <a:pPr indent="0" marL="0">
              <a:buNone/>
            </a:pPr>
            <a:r>
              <a:rPr lang="it-IT" sz="1200" dirty="0">
                <a:solidFill>
                  <a:schemeClr val="tx1"/>
                </a:solidFill>
              </a:rPr>
              <a:t>Una lettura scelta tra più possibili</a:t>
            </a:r>
            <a:endParaRPr lang="it-IT" sz="1200" dirty="0"/>
          </a:p>
        </p:txBody>
      </p:sp>
      <p:sp>
        <p:nvSpPr>
          <p:cNvPr id="17" name="Alterazioni"/>
          <p:cNvSpPr/>
          <p:nvPr/>
        </p:nvSpPr>
        <p:spPr>
          <a:xfrm>
            <a:off x="457200" y="2971800"/>
            <a:ext cx="3977640" cy="731520"/>
          </a:xfrm>
          <a:prstGeom prst="roundRect">
            <a:avLst>
              <a:gd name="adj" fmla="val 10000"/>
            </a:avLst>
          </a:prstGeom>
          <a:solidFill>
            <a:schemeClr val="bg2"/>
          </a:solidFill>
          <a:ln/>
        </p:spPr>
      </p:sp>
      <p:sp>
        <p:nvSpPr>
          <p:cNvPr id="18" name="Text 15"/>
          <p:cNvSpPr txBox="1"/>
          <p:nvPr/>
        </p:nvSpPr>
        <p:spPr>
          <a:xfrm>
            <a:off x="640080" y="3026664"/>
            <a:ext cx="3657600" cy="292608"/>
          </a:xfrm>
          <a:prstGeom prst="rect">
            <a:avLst/>
          </a:prstGeom>
          <a:noFill/>
          <a:ln/>
        </p:spPr>
        <p:txBody>
          <a:bodyPr wrap="square" lIns="0" tIns="0" rIns="0" bIns="0" rtlCol="0" anchor="t"/>
          <a:lstStyle/>
          <a:p>
            <a:pPr indent="0" marL="0">
              <a:buNone/>
            </a:pPr>
            <a:r>
              <a:rPr lang="it-IT" sz="1300" b="1" dirty="0">
                <a:solidFill>
                  <a:schemeClr val="accent5"/>
                </a:solidFill>
              </a:rPr>
              <a:t>Alterazioni</a:t>
            </a:r>
            <a:endParaRPr lang="it-IT" sz="1300" dirty="0"/>
          </a:p>
        </p:txBody>
      </p:sp>
      <p:sp>
        <p:nvSpPr>
          <p:cNvPr id="19" name="Text 16"/>
          <p:cNvSpPr txBox="1"/>
          <p:nvPr/>
        </p:nvSpPr>
        <p:spPr>
          <a:xfrm>
            <a:off x="640080" y="3319272"/>
            <a:ext cx="3657600" cy="329184"/>
          </a:xfrm>
          <a:prstGeom prst="rect">
            <a:avLst/>
          </a:prstGeom>
          <a:noFill/>
          <a:ln/>
        </p:spPr>
        <p:txBody>
          <a:bodyPr wrap="square" lIns="0" tIns="0" rIns="0" bIns="0" rtlCol="0" anchor="t"/>
          <a:lstStyle/>
          <a:p>
            <a:pPr indent="0" marL="0">
              <a:buNone/>
            </a:pPr>
            <a:r>
              <a:rPr lang="it-IT" sz="1200" dirty="0">
                <a:solidFill>
                  <a:schemeClr val="tx1"/>
                </a:solidFill>
              </a:rPr>
              <a:t>Un numero letto male, un dettaglio aggiunto</a:t>
            </a:r>
            <a:endParaRPr lang="it-IT" sz="1200" dirty="0"/>
          </a:p>
        </p:txBody>
      </p:sp>
      <p:sp>
        <p:nvSpPr>
          <p:cNvPr id="20" name="Text 17"/>
          <p:cNvSpPr txBox="1"/>
          <p:nvPr/>
        </p:nvSpPr>
        <p:spPr>
          <a:xfrm>
            <a:off x="4709160" y="987552"/>
            <a:ext cx="3977640" cy="274320"/>
          </a:xfrm>
          <a:prstGeom prst="rect">
            <a:avLst/>
          </a:prstGeom>
          <a:noFill/>
          <a:ln/>
        </p:spPr>
        <p:txBody>
          <a:bodyPr wrap="square" lIns="0" tIns="0" rIns="0" bIns="0" rtlCol="0" anchor="t"/>
          <a:lstStyle/>
          <a:p>
            <a:pPr indent="0" marL="0">
              <a:buNone/>
            </a:pPr>
            <a:r>
              <a:rPr lang="it-IT" sz="1300" b="1" dirty="0">
                <a:solidFill>
                  <a:schemeClr val="tx1"/>
                </a:solidFill>
              </a:rPr>
              <a:t>Come controllare con la fonte originale</a:t>
            </a:r>
            <a:endParaRPr lang="it-IT" sz="1300" dirty="0"/>
          </a:p>
        </p:txBody>
      </p:sp>
      <p:sp>
        <p:nvSpPr>
          <p:cNvPr id="21" name="voce 1"/>
          <p:cNvSpPr/>
          <p:nvPr/>
        </p:nvSpPr>
        <p:spPr>
          <a:xfrm>
            <a:off x="4709160" y="1325880"/>
            <a:ext cx="3977640" cy="548640"/>
          </a:xfrm>
          <a:prstGeom prst="roundRect">
            <a:avLst>
              <a:gd name="adj" fmla="val 13333"/>
            </a:avLst>
          </a:prstGeom>
          <a:solidFill>
            <a:schemeClr val="bg2"/>
          </a:solidFill>
          <a:ln/>
        </p:spPr>
      </p:sp>
      <p:sp>
        <p:nvSpPr>
          <p:cNvPr id="22" name="Text 19"/>
          <p:cNvSpPr txBox="1"/>
          <p:nvPr/>
        </p:nvSpPr>
        <p:spPr>
          <a:xfrm>
            <a:off x="4818888" y="1325880"/>
            <a:ext cx="365760" cy="548640"/>
          </a:xfrm>
          <a:prstGeom prst="rect">
            <a:avLst/>
          </a:prstGeom>
          <a:noFill/>
          <a:ln/>
        </p:spPr>
        <p:txBody>
          <a:bodyPr wrap="square" lIns="0" tIns="0" rIns="0" bIns="0" rtlCol="0" anchor="ctr"/>
          <a:lstStyle/>
          <a:p>
            <a:pPr indent="0" marL="0">
              <a:buNone/>
            </a:pPr>
            <a:r>
              <a:rPr lang="it-IT" sz="1500" b="1" dirty="0">
                <a:solidFill>
                  <a:schemeClr val="accent1"/>
                </a:solidFill>
              </a:rPr>
              <a:t>1</a:t>
            </a:r>
            <a:endParaRPr lang="it-IT" sz="1500" dirty="0"/>
          </a:p>
        </p:txBody>
      </p:sp>
      <p:sp>
        <p:nvSpPr>
          <p:cNvPr id="23" name="Text 20"/>
          <p:cNvSpPr txBox="1"/>
          <p:nvPr/>
        </p:nvSpPr>
        <p:spPr>
          <a:xfrm>
            <a:off x="5212080" y="1325880"/>
            <a:ext cx="3337560" cy="548640"/>
          </a:xfrm>
          <a:prstGeom prst="rect">
            <a:avLst/>
          </a:prstGeom>
          <a:noFill/>
          <a:ln/>
        </p:spPr>
        <p:txBody>
          <a:bodyPr wrap="square" lIns="0" tIns="0" rIns="0" bIns="0" rtlCol="0" anchor="ctr"/>
          <a:lstStyle/>
          <a:p>
            <a:pPr indent="0" marL="0">
              <a:buNone/>
            </a:pPr>
            <a:r>
              <a:rPr lang="it-IT" sz="1200" dirty="0">
                <a:solidFill>
                  <a:schemeClr val="tx1"/>
                </a:solidFill>
              </a:rPr>
              <a:t>Individuare gli elementi critici</a:t>
            </a:r>
            <a:endParaRPr lang="it-IT" sz="1200" dirty="0"/>
          </a:p>
        </p:txBody>
      </p:sp>
      <p:sp>
        <p:nvSpPr>
          <p:cNvPr id="24" name="voce 2"/>
          <p:cNvSpPr/>
          <p:nvPr/>
        </p:nvSpPr>
        <p:spPr>
          <a:xfrm>
            <a:off x="4709160" y="1947672"/>
            <a:ext cx="3977640" cy="548640"/>
          </a:xfrm>
          <a:prstGeom prst="roundRect">
            <a:avLst>
              <a:gd name="adj" fmla="val 13333"/>
            </a:avLst>
          </a:prstGeom>
          <a:solidFill>
            <a:schemeClr val="bg1"/>
          </a:solidFill>
          <a:ln/>
        </p:spPr>
      </p:sp>
      <p:sp>
        <p:nvSpPr>
          <p:cNvPr id="25" name="Text 22"/>
          <p:cNvSpPr txBox="1"/>
          <p:nvPr/>
        </p:nvSpPr>
        <p:spPr>
          <a:xfrm>
            <a:off x="4818888" y="1947672"/>
            <a:ext cx="365760" cy="548640"/>
          </a:xfrm>
          <a:prstGeom prst="rect">
            <a:avLst/>
          </a:prstGeom>
          <a:noFill/>
          <a:ln/>
        </p:spPr>
        <p:txBody>
          <a:bodyPr wrap="square" lIns="0" tIns="0" rIns="0" bIns="0" rtlCol="0" anchor="ctr"/>
          <a:lstStyle/>
          <a:p>
            <a:pPr indent="0" marL="0">
              <a:buNone/>
            </a:pPr>
            <a:r>
              <a:rPr lang="it-IT" sz="1500" b="1" dirty="0">
                <a:solidFill>
                  <a:schemeClr val="accent1"/>
                </a:solidFill>
              </a:rPr>
              <a:t>2</a:t>
            </a:r>
            <a:endParaRPr lang="it-IT" sz="1500" dirty="0"/>
          </a:p>
        </p:txBody>
      </p:sp>
      <p:sp>
        <p:nvSpPr>
          <p:cNvPr id="26" name="Text 23"/>
          <p:cNvSpPr txBox="1"/>
          <p:nvPr/>
        </p:nvSpPr>
        <p:spPr>
          <a:xfrm>
            <a:off x="5212080" y="1947672"/>
            <a:ext cx="3337560" cy="548640"/>
          </a:xfrm>
          <a:prstGeom prst="rect">
            <a:avLst/>
          </a:prstGeom>
          <a:noFill/>
          <a:ln/>
        </p:spPr>
        <p:txBody>
          <a:bodyPr wrap="square" lIns="0" tIns="0" rIns="0" bIns="0" rtlCol="0" anchor="ctr"/>
          <a:lstStyle/>
          <a:p>
            <a:pPr indent="0" marL="0">
              <a:buNone/>
            </a:pPr>
            <a:r>
              <a:rPr lang="it-IT" sz="1200" dirty="0">
                <a:solidFill>
                  <a:schemeClr val="tx1"/>
                </a:solidFill>
              </a:rPr>
              <a:t>Controllarli nel risultato, uno per uno</a:t>
            </a:r>
            <a:endParaRPr lang="it-IT" sz="1200" dirty="0"/>
          </a:p>
        </p:txBody>
      </p:sp>
      <p:sp>
        <p:nvSpPr>
          <p:cNvPr id="27" name="voce 3"/>
          <p:cNvSpPr/>
          <p:nvPr/>
        </p:nvSpPr>
        <p:spPr>
          <a:xfrm>
            <a:off x="4709160" y="2569464"/>
            <a:ext cx="3977640" cy="548640"/>
          </a:xfrm>
          <a:prstGeom prst="roundRect">
            <a:avLst>
              <a:gd name="adj" fmla="val 13333"/>
            </a:avLst>
          </a:prstGeom>
          <a:solidFill>
            <a:schemeClr val="bg2"/>
          </a:solidFill>
          <a:ln/>
        </p:spPr>
      </p:sp>
      <p:sp>
        <p:nvSpPr>
          <p:cNvPr id="28" name="Text 25"/>
          <p:cNvSpPr txBox="1"/>
          <p:nvPr/>
        </p:nvSpPr>
        <p:spPr>
          <a:xfrm>
            <a:off x="4818888" y="2569464"/>
            <a:ext cx="365760" cy="548640"/>
          </a:xfrm>
          <a:prstGeom prst="rect">
            <a:avLst/>
          </a:prstGeom>
          <a:noFill/>
          <a:ln/>
        </p:spPr>
        <p:txBody>
          <a:bodyPr wrap="square" lIns="0" tIns="0" rIns="0" bIns="0" rtlCol="0" anchor="ctr"/>
          <a:lstStyle/>
          <a:p>
            <a:pPr indent="0" marL="0">
              <a:buNone/>
            </a:pPr>
            <a:r>
              <a:rPr lang="it-IT" sz="1500" b="1" dirty="0">
                <a:solidFill>
                  <a:schemeClr val="accent1"/>
                </a:solidFill>
              </a:rPr>
              <a:t>3</a:t>
            </a:r>
            <a:endParaRPr lang="it-IT" sz="1500" dirty="0"/>
          </a:p>
        </p:txBody>
      </p:sp>
      <p:sp>
        <p:nvSpPr>
          <p:cNvPr id="29" name="Text 26"/>
          <p:cNvSpPr txBox="1"/>
          <p:nvPr/>
        </p:nvSpPr>
        <p:spPr>
          <a:xfrm>
            <a:off x="5212080" y="2569464"/>
            <a:ext cx="3337560" cy="548640"/>
          </a:xfrm>
          <a:prstGeom prst="rect">
            <a:avLst/>
          </a:prstGeom>
          <a:noFill/>
          <a:ln/>
        </p:spPr>
        <p:txBody>
          <a:bodyPr wrap="square" lIns="0" tIns="0" rIns="0" bIns="0" rtlCol="0" anchor="ctr"/>
          <a:lstStyle/>
          <a:p>
            <a:pPr indent="0" marL="0">
              <a:buNone/>
            </a:pPr>
            <a:r>
              <a:rPr lang="it-IT" sz="1200" dirty="0">
                <a:solidFill>
                  <a:schemeClr val="tx1"/>
                </a:solidFill>
              </a:rPr>
              <a:t>Tornare all'originale solo per quei punti</a:t>
            </a:r>
            <a:endParaRPr lang="it-IT" sz="1200" dirty="0"/>
          </a:p>
        </p:txBody>
      </p:sp>
      <p:sp>
        <p:nvSpPr>
          <p:cNvPr id="30" name="voce 4"/>
          <p:cNvSpPr/>
          <p:nvPr/>
        </p:nvSpPr>
        <p:spPr>
          <a:xfrm>
            <a:off x="4709160" y="3191256"/>
            <a:ext cx="3977640" cy="548640"/>
          </a:xfrm>
          <a:prstGeom prst="roundRect">
            <a:avLst>
              <a:gd name="adj" fmla="val 13333"/>
            </a:avLst>
          </a:prstGeom>
          <a:solidFill>
            <a:schemeClr val="bg1"/>
          </a:solidFill>
          <a:ln/>
        </p:spPr>
      </p:sp>
      <p:sp>
        <p:nvSpPr>
          <p:cNvPr id="31" name="Text 28"/>
          <p:cNvSpPr txBox="1"/>
          <p:nvPr/>
        </p:nvSpPr>
        <p:spPr>
          <a:xfrm>
            <a:off x="4818888" y="3191256"/>
            <a:ext cx="365760" cy="548640"/>
          </a:xfrm>
          <a:prstGeom prst="rect">
            <a:avLst/>
          </a:prstGeom>
          <a:noFill/>
          <a:ln/>
        </p:spPr>
        <p:txBody>
          <a:bodyPr wrap="square" lIns="0" tIns="0" rIns="0" bIns="0" rtlCol="0" anchor="ctr"/>
          <a:lstStyle/>
          <a:p>
            <a:pPr indent="0" marL="0">
              <a:buNone/>
            </a:pPr>
            <a:r>
              <a:rPr lang="it-IT" sz="1500" b="1" dirty="0">
                <a:solidFill>
                  <a:schemeClr val="accent1"/>
                </a:solidFill>
              </a:rPr>
              <a:t>4</a:t>
            </a:r>
            <a:endParaRPr lang="it-IT" sz="1500" dirty="0"/>
          </a:p>
        </p:txBody>
      </p:sp>
      <p:sp>
        <p:nvSpPr>
          <p:cNvPr id="32" name="Text 29"/>
          <p:cNvSpPr txBox="1"/>
          <p:nvPr/>
        </p:nvSpPr>
        <p:spPr>
          <a:xfrm>
            <a:off x="5212080" y="3191256"/>
            <a:ext cx="3337560" cy="548640"/>
          </a:xfrm>
          <a:prstGeom prst="rect">
            <a:avLst/>
          </a:prstGeom>
          <a:noFill/>
          <a:ln/>
        </p:spPr>
        <p:txBody>
          <a:bodyPr wrap="square" lIns="0" tIns="0" rIns="0" bIns="0" rtlCol="0" anchor="ctr"/>
          <a:lstStyle/>
          <a:p>
            <a:pPr indent="0" marL="0">
              <a:buNone/>
            </a:pPr>
            <a:r>
              <a:rPr lang="it-IT" sz="1200" dirty="0">
                <a:solidFill>
                  <a:schemeClr val="tx1"/>
                </a:solidFill>
              </a:rPr>
              <a:t>Coinvolgere chi conosce l'originale</a:t>
            </a:r>
            <a:endParaRPr lang="it-IT" sz="1200" dirty="0"/>
          </a:p>
        </p:txBody>
      </p:sp>
      <p:sp>
        <p:nvSpPr>
          <p:cNvPr id="33" name="messaggio"/>
          <p:cNvSpPr/>
          <p:nvPr/>
        </p:nvSpPr>
        <p:spPr>
          <a:xfrm>
            <a:off x="457200" y="3886200"/>
            <a:ext cx="8229600" cy="640080"/>
          </a:xfrm>
          <a:prstGeom prst="roundRect">
            <a:avLst>
              <a:gd name="adj" fmla="val 11429"/>
            </a:avLst>
          </a:prstGeom>
          <a:solidFill>
            <a:schemeClr val="tx1"/>
          </a:solidFill>
          <a:ln/>
        </p:spPr>
      </p:sp>
      <p:sp>
        <p:nvSpPr>
          <p:cNvPr id="34" name="Text 31"/>
          <p:cNvSpPr txBox="1"/>
          <p:nvPr/>
        </p:nvSpPr>
        <p:spPr>
          <a:xfrm>
            <a:off x="640080" y="3886200"/>
            <a:ext cx="7863840" cy="640080"/>
          </a:xfrm>
          <a:prstGeom prst="rect">
            <a:avLst/>
          </a:prstGeom>
          <a:noFill/>
          <a:ln/>
        </p:spPr>
        <p:txBody>
          <a:bodyPr wrap="square" lIns="0" tIns="0" rIns="0" bIns="0" rtlCol="0" anchor="ctr"/>
          <a:lstStyle/>
          <a:p>
            <a:pPr indent="0" marL="0">
              <a:buNone/>
            </a:pPr>
            <a:r>
              <a:rPr lang="it-IT" sz="1300" dirty="0">
                <a:solidFill>
                  <a:schemeClr val="bg1"/>
                </a:solidFill>
              </a:rPr>
              <a:t>Una conversione rapida ma infedele non fa risparmiare tempo: lo sposta su chi dovrà correggerla.</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48</a:t>
            </a:fld>
            <a:endParaRPr lang="it-IT"/>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10.8</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Limiti, autenticità e affidabilità</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Distinguere realismo, provenienza e accuratezza permette di usare con fiducia i contenuti multimodali</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49</a:t>
            </a:fld>
            <a:endParaRPr lang="it-IT"/>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Contenuti sintetici: usi legittimi e rischi</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Trasformare</a:t>
            </a:r>
            <a:endParaRPr lang="it-IT" sz="900" dirty="0"/>
          </a:p>
        </p:txBody>
      </p:sp>
      <p:sp>
        <p:nvSpPr>
          <p:cNvPr id="10" name="scheda Usi legittimi"/>
          <p:cNvSpPr/>
          <p:nvPr/>
        </p:nvSpPr>
        <p:spPr>
          <a:xfrm>
            <a:off x="457200" y="1051560"/>
            <a:ext cx="4937760" cy="2240280"/>
          </a:xfrm>
          <a:prstGeom prst="roundRect">
            <a:avLst>
              <a:gd name="adj" fmla="val 3265"/>
            </a:avLst>
          </a:prstGeom>
          <a:solidFill>
            <a:schemeClr val="accent6"/>
          </a:solidFill>
          <a:ln/>
        </p:spPr>
      </p:sp>
      <p:sp>
        <p:nvSpPr>
          <p:cNvPr id="11" name="cerchio FiCheckCircle"/>
          <p:cNvSpPr/>
          <p:nvPr/>
        </p:nvSpPr>
        <p:spPr>
          <a:xfrm>
            <a:off x="640080" y="1234440"/>
            <a:ext cx="457200" cy="457200"/>
          </a:xfrm>
          <a:prstGeom prst="ellipse">
            <a:avLst/>
          </a:prstGeom>
          <a:solidFill>
            <a:schemeClr val="accent1"/>
          </a:solidFill>
          <a:ln/>
        </p:spPr>
      </p:sp>
      <p:pic>
        <p:nvPicPr>
          <p:cNvPr id="12" name="Image 0" descr="FiCheckCircle">    </p:cNvPr>
          <p:cNvPicPr>
            <a:picLocks noChangeAspect="1"/>
          </p:cNvPicPr>
          <p:nvPr/>
        </p:nvPicPr>
        <p:blipFill>
          <a:blip r:embed="rId1"/>
          <a:stretch>
            <a:fillRect/>
          </a:stretch>
        </p:blipFill>
        <p:spPr>
          <a:xfrm>
            <a:off x="754380" y="1348740"/>
            <a:ext cx="228600" cy="228600"/>
          </a:xfrm>
          <a:prstGeom prst="rect">
            <a:avLst/>
          </a:prstGeom>
        </p:spPr>
      </p:pic>
      <p:sp>
        <p:nvSpPr>
          <p:cNvPr id="13" name="Text 9"/>
          <p:cNvSpPr txBox="1"/>
          <p:nvPr/>
        </p:nvSpPr>
        <p:spPr>
          <a:xfrm>
            <a:off x="640080" y="1801368"/>
            <a:ext cx="4572000" cy="347472"/>
          </a:xfrm>
          <a:prstGeom prst="rect">
            <a:avLst/>
          </a:prstGeom>
          <a:noFill/>
          <a:ln/>
        </p:spPr>
        <p:txBody>
          <a:bodyPr wrap="square" lIns="0" tIns="0" rIns="0" bIns="0" rtlCol="0" anchor="t"/>
          <a:lstStyle/>
          <a:p>
            <a:pPr indent="0" marL="0">
              <a:buNone/>
            </a:pPr>
            <a:r>
              <a:rPr lang="it-IT" sz="1500" b="1" dirty="0">
                <a:solidFill>
                  <a:schemeClr val="tx1"/>
                </a:solidFill>
              </a:rPr>
              <a:t>Usi legittimi</a:t>
            </a:r>
            <a:endParaRPr lang="it-IT" sz="1500" dirty="0"/>
          </a:p>
        </p:txBody>
      </p:sp>
      <p:sp>
        <p:nvSpPr>
          <p:cNvPr id="14" name="Text 10"/>
          <p:cNvSpPr txBox="1"/>
          <p:nvPr/>
        </p:nvSpPr>
        <p:spPr>
          <a:xfrm>
            <a:off x="640080" y="2185416"/>
            <a:ext cx="4572000" cy="996696"/>
          </a:xfrm>
          <a:prstGeom prst="rect">
            <a:avLst/>
          </a:prstGeom>
          <a:noFill/>
          <a:ln/>
        </p:spPr>
        <p:txBody>
          <a:bodyPr wrap="square" lIns="0" tIns="0" rIns="0" bIns="0" rtlCol="0" anchor="t"/>
          <a:lstStyle/>
          <a:p>
            <a:pPr marL="177800" indent="-177800">
              <a:spcAft>
                <a:spcPts val="300"/>
              </a:spcAft>
              <a:buSzPct val="100000"/>
              <a:buChar char="•"/>
            </a:pPr>
            <a:r>
              <a:rPr lang="it-IT" sz="1100" dirty="0">
                <a:solidFill>
                  <a:schemeClr val="tx2"/>
                </a:solidFill>
              </a:rPr>
              <a:t>Formazione e presentatori virtuali</a:t>
            </a:r>
            <a:endParaRPr lang="it-IT" sz="1100" dirty="0"/>
          </a:p>
          <a:p>
            <a:pPr marL="177800" indent="-177800">
              <a:spcAft>
                <a:spcPts val="300"/>
              </a:spcAft>
              <a:buSzPct val="100000"/>
              <a:buChar char="•"/>
            </a:pPr>
            <a:r>
              <a:rPr lang="it-IT" sz="1100" dirty="0">
                <a:solidFill>
                  <a:schemeClr val="tx2"/>
                </a:solidFill>
              </a:rPr>
              <a:t>Doppiaggio e adattamento in più lingue</a:t>
            </a:r>
            <a:endParaRPr lang="it-IT" sz="1100" dirty="0"/>
          </a:p>
          <a:p>
            <a:pPr marL="177800" indent="-177800">
              <a:spcAft>
                <a:spcPts val="300"/>
              </a:spcAft>
              <a:buSzPct val="100000"/>
              <a:buChar char="•"/>
            </a:pPr>
            <a:r>
              <a:rPr lang="it-IT" sz="1100" dirty="0">
                <a:solidFill>
                  <a:schemeClr val="tx2"/>
                </a:solidFill>
              </a:rPr>
              <a:t>Accessibilità, anche restituire una voce</a:t>
            </a:r>
            <a:endParaRPr lang="it-IT" sz="1100" dirty="0"/>
          </a:p>
          <a:p>
            <a:pPr marL="177800" indent="-177800">
              <a:spcAft>
                <a:spcPts val="300"/>
              </a:spcAft>
              <a:buSzPct val="100000"/>
              <a:buChar char="•"/>
            </a:pPr>
            <a:r>
              <a:rPr lang="it-IT" sz="1100" dirty="0">
                <a:solidFill>
                  <a:schemeClr val="tx2"/>
                </a:solidFill>
              </a:rPr>
              <a:t>Prototipi, effetti, comunicazione creativa</a:t>
            </a:r>
            <a:endParaRPr lang="it-IT" sz="1100" dirty="0"/>
          </a:p>
          <a:p>
            <a:pPr marL="177800" indent="-177800">
              <a:spcAft>
                <a:spcPts val="300"/>
              </a:spcAft>
              <a:buSzPct val="100000"/>
              <a:buChar char="•"/>
            </a:pPr>
            <a:r>
              <a:rPr lang="it-IT" sz="1100" dirty="0">
                <a:solidFill>
                  <a:schemeClr val="tx2"/>
                </a:solidFill>
              </a:rPr>
              <a:t>Satira e finzione dichiarate</a:t>
            </a:r>
            <a:endParaRPr lang="it-IT" sz="1100" dirty="0"/>
          </a:p>
        </p:txBody>
      </p:sp>
      <p:sp>
        <p:nvSpPr>
          <p:cNvPr id="15" name="scheda Usi dannosi"/>
          <p:cNvSpPr/>
          <p:nvPr/>
        </p:nvSpPr>
        <p:spPr>
          <a:xfrm>
            <a:off x="5577840" y="1051560"/>
            <a:ext cx="3108960" cy="2240280"/>
          </a:xfrm>
          <a:prstGeom prst="roundRect">
            <a:avLst>
              <a:gd name="adj" fmla="val 3265"/>
            </a:avLst>
          </a:prstGeom>
          <a:solidFill>
            <a:schemeClr val="bg2"/>
          </a:solidFill>
          <a:ln/>
        </p:spPr>
      </p:sp>
      <p:sp>
        <p:nvSpPr>
          <p:cNvPr id="16" name="cerchio FiAlertTriangle"/>
          <p:cNvSpPr/>
          <p:nvPr/>
        </p:nvSpPr>
        <p:spPr>
          <a:xfrm>
            <a:off x="5760720" y="1234440"/>
            <a:ext cx="457200" cy="457200"/>
          </a:xfrm>
          <a:prstGeom prst="ellipse">
            <a:avLst/>
          </a:prstGeom>
          <a:solidFill>
            <a:schemeClr val="accent5"/>
          </a:solidFill>
          <a:ln/>
        </p:spPr>
      </p:sp>
      <p:pic>
        <p:nvPicPr>
          <p:cNvPr id="17" name="Image 1" descr="FiAlertTriangle">    </p:cNvPr>
          <p:cNvPicPr>
            <a:picLocks noChangeAspect="1"/>
          </p:cNvPicPr>
          <p:nvPr/>
        </p:nvPicPr>
        <p:blipFill>
          <a:blip r:embed="rId2"/>
          <a:stretch>
            <a:fillRect/>
          </a:stretch>
        </p:blipFill>
        <p:spPr>
          <a:xfrm>
            <a:off x="5875020" y="1348740"/>
            <a:ext cx="228600" cy="228600"/>
          </a:xfrm>
          <a:prstGeom prst="rect">
            <a:avLst/>
          </a:prstGeom>
        </p:spPr>
      </p:pic>
      <p:sp>
        <p:nvSpPr>
          <p:cNvPr id="18" name="Text 13"/>
          <p:cNvSpPr txBox="1"/>
          <p:nvPr/>
        </p:nvSpPr>
        <p:spPr>
          <a:xfrm>
            <a:off x="5760720" y="1801368"/>
            <a:ext cx="2743200" cy="347472"/>
          </a:xfrm>
          <a:prstGeom prst="rect">
            <a:avLst/>
          </a:prstGeom>
          <a:noFill/>
          <a:ln/>
        </p:spPr>
        <p:txBody>
          <a:bodyPr wrap="square" lIns="0" tIns="0" rIns="0" bIns="0" rtlCol="0" anchor="t"/>
          <a:lstStyle/>
          <a:p>
            <a:pPr indent="0" marL="0">
              <a:buNone/>
            </a:pPr>
            <a:r>
              <a:rPr lang="it-IT" sz="1500" b="1" dirty="0">
                <a:solidFill>
                  <a:schemeClr val="tx1"/>
                </a:solidFill>
              </a:rPr>
              <a:t>Usi dannosi</a:t>
            </a:r>
            <a:endParaRPr lang="it-IT" sz="1500" dirty="0"/>
          </a:p>
        </p:txBody>
      </p:sp>
      <p:sp>
        <p:nvSpPr>
          <p:cNvPr id="19" name="Text 14"/>
          <p:cNvSpPr txBox="1"/>
          <p:nvPr/>
        </p:nvSpPr>
        <p:spPr>
          <a:xfrm>
            <a:off x="5760720" y="2185416"/>
            <a:ext cx="2743200" cy="996696"/>
          </a:xfrm>
          <a:prstGeom prst="rect">
            <a:avLst/>
          </a:prstGeom>
          <a:noFill/>
          <a:ln/>
        </p:spPr>
        <p:txBody>
          <a:bodyPr wrap="square" lIns="0" tIns="0" rIns="0" bIns="0" rtlCol="0" anchor="t"/>
          <a:lstStyle/>
          <a:p>
            <a:pPr marL="177800" indent="-177800">
              <a:spcAft>
                <a:spcPts val="300"/>
              </a:spcAft>
              <a:buSzPct val="100000"/>
              <a:buChar char="•"/>
            </a:pPr>
            <a:r>
              <a:rPr lang="it-IT" sz="1100" dirty="0">
                <a:solidFill>
                  <a:schemeClr val="tx2"/>
                </a:solidFill>
              </a:rPr>
              <a:t>Frodi con voce o volto imitati</a:t>
            </a:r>
            <a:endParaRPr lang="it-IT" sz="1100" dirty="0"/>
          </a:p>
          <a:p>
            <a:pPr marL="177800" indent="-177800">
              <a:spcAft>
                <a:spcPts val="300"/>
              </a:spcAft>
              <a:buSzPct val="100000"/>
              <a:buChar char="•"/>
            </a:pPr>
            <a:r>
              <a:rPr lang="it-IT" sz="1100" dirty="0">
                <a:solidFill>
                  <a:schemeClr val="tx2"/>
                </a:solidFill>
              </a:rPr>
              <a:t>Disinformazione</a:t>
            </a:r>
            <a:endParaRPr lang="it-IT" sz="1100" dirty="0"/>
          </a:p>
          <a:p>
            <a:pPr marL="177800" indent="-177800">
              <a:spcAft>
                <a:spcPts val="300"/>
              </a:spcAft>
              <a:buSzPct val="100000"/>
              <a:buChar char="•"/>
            </a:pPr>
            <a:r>
              <a:rPr lang="it-IT" sz="1100" dirty="0">
                <a:solidFill>
                  <a:schemeClr val="tx2"/>
                </a:solidFill>
              </a:rPr>
              <a:t>Danni alla reputazione</a:t>
            </a:r>
            <a:endParaRPr lang="it-IT" sz="1100" dirty="0"/>
          </a:p>
        </p:txBody>
      </p:sp>
      <p:sp>
        <p:nvSpPr>
          <p:cNvPr id="20" name="casi"/>
          <p:cNvSpPr/>
          <p:nvPr/>
        </p:nvSpPr>
        <p:spPr>
          <a:xfrm>
            <a:off x="457200" y="3429000"/>
            <a:ext cx="8229600" cy="1097280"/>
          </a:xfrm>
          <a:prstGeom prst="roundRect">
            <a:avLst>
              <a:gd name="adj" fmla="val 6667"/>
            </a:avLst>
          </a:prstGeom>
          <a:solidFill>
            <a:schemeClr val="tx1"/>
          </a:solidFill>
          <a:ln/>
        </p:spPr>
      </p:sp>
      <p:sp>
        <p:nvSpPr>
          <p:cNvPr id="21" name="Text 16"/>
          <p:cNvSpPr txBox="1"/>
          <p:nvPr/>
        </p:nvSpPr>
        <p:spPr>
          <a:xfrm>
            <a:off x="685800" y="3474720"/>
            <a:ext cx="7772400" cy="274320"/>
          </a:xfrm>
          <a:prstGeom prst="rect">
            <a:avLst/>
          </a:prstGeom>
          <a:noFill/>
          <a:ln/>
        </p:spPr>
        <p:txBody>
          <a:bodyPr wrap="square" lIns="0" tIns="0" rIns="0" bIns="0" rtlCol="0" anchor="t"/>
          <a:lstStyle/>
          <a:p>
            <a:pPr indent="0" marL="0">
              <a:buNone/>
            </a:pPr>
            <a:r>
              <a:rPr lang="it-IT" sz="1200" b="1" dirty="0">
                <a:solidFill>
                  <a:schemeClr val="accent6"/>
                </a:solidFill>
              </a:rPr>
              <a:t>Casi riportati dalla stampa</a:t>
            </a:r>
            <a:endParaRPr lang="it-IT" sz="1200" dirty="0"/>
          </a:p>
        </p:txBody>
      </p:sp>
      <p:sp>
        <p:nvSpPr>
          <p:cNvPr id="22" name="Text 17"/>
          <p:cNvSpPr txBox="1"/>
          <p:nvPr/>
        </p:nvSpPr>
        <p:spPr>
          <a:xfrm>
            <a:off x="685800" y="3749040"/>
            <a:ext cx="7772400" cy="475488"/>
          </a:xfrm>
          <a:prstGeom prst="rect">
            <a:avLst/>
          </a:prstGeom>
          <a:noFill/>
          <a:ln/>
        </p:spPr>
        <p:txBody>
          <a:bodyPr wrap="square" lIns="0" tIns="0" rIns="0" bIns="0" rtlCol="0" anchor="t"/>
          <a:lstStyle/>
          <a:p>
            <a:pPr marL="177800" indent="-177800">
              <a:spcAft>
                <a:spcPts val="200"/>
              </a:spcAft>
              <a:buSzPct val="100000"/>
              <a:buChar char="•"/>
            </a:pPr>
            <a:r>
              <a:rPr lang="it-IT" sz="1100" dirty="0">
                <a:solidFill>
                  <a:schemeClr val="bg1"/>
                </a:solidFill>
              </a:rPr>
              <a:t>2019: voce di un superiore imitata al telefono, circa 220.000 euro trasferiti</a:t>
            </a:r>
            <a:endParaRPr lang="it-IT" sz="1100" dirty="0"/>
          </a:p>
          <a:p>
            <a:pPr marL="177800" indent="-177800">
              <a:spcAft>
                <a:spcPts val="200"/>
              </a:spcAft>
              <a:buSzPct val="100000"/>
              <a:buChar char="•"/>
            </a:pPr>
            <a:r>
              <a:rPr lang="it-IT" sz="1100" dirty="0">
                <a:solidFill>
                  <a:schemeClr val="bg1"/>
                </a:solidFill>
              </a:rPr>
              <a:t>2024: videochiamata con colleghi ricreati, circa 25 milioni di dollari trasferiti</a:t>
            </a:r>
            <a:endParaRPr lang="it-IT" sz="1100" dirty="0"/>
          </a:p>
        </p:txBody>
      </p:sp>
      <p:sp>
        <p:nvSpPr>
          <p:cNvPr id="23" name="Text 18"/>
          <p:cNvSpPr txBox="1"/>
          <p:nvPr/>
        </p:nvSpPr>
        <p:spPr>
          <a:xfrm>
            <a:off x="685800" y="4224528"/>
            <a:ext cx="7772400" cy="256032"/>
          </a:xfrm>
          <a:prstGeom prst="rect">
            <a:avLst/>
          </a:prstGeom>
          <a:noFill/>
          <a:ln/>
        </p:spPr>
        <p:txBody>
          <a:bodyPr wrap="square" lIns="0" tIns="0" rIns="0" bIns="0" rtlCol="0" anchor="t"/>
          <a:lstStyle/>
          <a:p>
            <a:pPr indent="0" marL="0">
              <a:buNone/>
            </a:pPr>
            <a:r>
              <a:rPr lang="it-IT" sz="1100" b="1" i="1" dirty="0">
                <a:solidFill>
                  <a:schemeClr val="accent3"/>
                </a:solidFill>
              </a:rPr>
              <a:t>Criterio per gli usi legittimi: consenso delle persone e trasparenza verso chi guarda.</a:t>
            </a:r>
            <a:endParaRPr lang="it-IT"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50</a:t>
            </a:fld>
            <a:endParaRPr lang="it-IT"/>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Realismo, autenticità, accuratezza</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Trasformare</a:t>
            </a:r>
            <a:endParaRPr lang="it-IT" sz="9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828800"/>
                <a:gridCol w="2926080"/>
                <a:gridCol w="3474720"/>
              </a:tblGrid>
              <a:tr h="457200">
                <a:tc>
                  <a:txBody>
                    <a:bodyPr/>
                    <a:lstStyle/>
                    <a:p>
                      <a:pPr indent="0" marL="0">
                        <a:buNone/>
                      </a:pPr>
                      <a:r>
                        <a:rPr lang="it-IT" sz="1200" b="1" dirty="0">
                          <a:solidFill>
                            <a:schemeClr val="bg1"/>
                          </a:solidFill>
                        </a:rPr>
                        <a:t>Caratteristica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200" b="1" dirty="0">
                          <a:solidFill>
                            <a:schemeClr val="bg1"/>
                          </a:solidFill>
                        </a:rPr>
                        <a:t>Significato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200" b="1" dirty="0">
                          <a:solidFill>
                            <a:schemeClr val="bg1"/>
                          </a:solidFill>
                        </a:rPr>
                        <a:t>Esempio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57200">
                <a:tc>
                  <a:txBody>
                    <a:bodyPr/>
                    <a:lstStyle/>
                    <a:p>
                      <a:pPr indent="0" marL="0">
                        <a:buNone/>
                      </a:pPr>
                      <a:r>
                        <a:rPr lang="it-IT" sz="1200" b="1" dirty="0">
                          <a:solidFill>
                            <a:schemeClr val="tx1"/>
                          </a:solidFill>
                        </a:rPr>
                        <a:t>Realismo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Il contenuto appare plausibile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Un'immagine sintetica somiglia a una fotografia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it-IT" sz="1200" b="1" dirty="0">
                          <a:solidFill>
                            <a:schemeClr val="tx1"/>
                          </a:solidFill>
                        </a:rPr>
                        <a:t>Autenticità</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L'origine è effettivamente accertabile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Un video ha una provenienza documentata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it-IT" sz="1200" b="1" dirty="0">
                          <a:solidFill>
                            <a:schemeClr val="tx1"/>
                          </a:solidFill>
                        </a:rPr>
                        <a:t>Accuratezza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Corrisponde ai fatti o alla fonte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Una descrizione riporta fedelmente quanto documentato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1" name="blocco Realistica ma non autentica: un'immagine sintetica"/>
          <p:cNvSpPr/>
          <p:nvPr/>
        </p:nvSpPr>
        <p:spPr>
          <a:xfrm>
            <a:off x="457200" y="2971800"/>
            <a:ext cx="2615184" cy="685800"/>
          </a:xfrm>
          <a:prstGeom prst="roundRect">
            <a:avLst>
              <a:gd name="adj" fmla="val 16000"/>
            </a:avLst>
          </a:prstGeom>
          <a:solidFill>
            <a:schemeClr val="accent6"/>
          </a:solidFill>
          <a:ln/>
        </p:spPr>
      </p:sp>
      <p:sp>
        <p:nvSpPr>
          <p:cNvPr id="12" name="Text 8"/>
          <p:cNvSpPr txBox="1"/>
          <p:nvPr/>
        </p:nvSpPr>
        <p:spPr>
          <a:xfrm>
            <a:off x="502920" y="2971800"/>
            <a:ext cx="2523744" cy="685800"/>
          </a:xfrm>
          <a:prstGeom prst="rect">
            <a:avLst/>
          </a:prstGeom>
          <a:noFill/>
          <a:ln/>
        </p:spPr>
        <p:txBody>
          <a:bodyPr wrap="square" lIns="0" tIns="0" rIns="0" bIns="0" rtlCol="0" anchor="ctr"/>
          <a:lstStyle/>
          <a:p>
            <a:pPr algn="ctr" indent="0" marL="0">
              <a:buNone/>
            </a:pPr>
            <a:r>
              <a:rPr lang="it-IT" sz="1100" b="1" dirty="0">
                <a:solidFill>
                  <a:schemeClr val="tx1"/>
                </a:solidFill>
              </a:rPr>
              <a:t>Realistica ma non autentica: un'immagine sintetica</a:t>
            </a:r>
            <a:endParaRPr lang="it-IT" sz="1100" dirty="0"/>
          </a:p>
        </p:txBody>
      </p:sp>
      <p:sp>
        <p:nvSpPr>
          <p:cNvPr id="13" name="blocco Autentica ma non accurata: una registrazione con affermazioni false"/>
          <p:cNvSpPr/>
          <p:nvPr/>
        </p:nvSpPr>
        <p:spPr>
          <a:xfrm>
            <a:off x="3264408" y="2971800"/>
            <a:ext cx="2615184" cy="685800"/>
          </a:xfrm>
          <a:prstGeom prst="roundRect">
            <a:avLst>
              <a:gd name="adj" fmla="val 16000"/>
            </a:avLst>
          </a:prstGeom>
          <a:solidFill>
            <a:schemeClr val="accent6"/>
          </a:solidFill>
          <a:ln/>
        </p:spPr>
      </p:sp>
      <p:sp>
        <p:nvSpPr>
          <p:cNvPr id="14" name="Text 10"/>
          <p:cNvSpPr txBox="1"/>
          <p:nvPr/>
        </p:nvSpPr>
        <p:spPr>
          <a:xfrm>
            <a:off x="3310128" y="2971800"/>
            <a:ext cx="2523744" cy="685800"/>
          </a:xfrm>
          <a:prstGeom prst="rect">
            <a:avLst/>
          </a:prstGeom>
          <a:noFill/>
          <a:ln/>
        </p:spPr>
        <p:txBody>
          <a:bodyPr wrap="square" lIns="0" tIns="0" rIns="0" bIns="0" rtlCol="0" anchor="ctr"/>
          <a:lstStyle/>
          <a:p>
            <a:pPr algn="ctr" indent="0" marL="0">
              <a:buNone/>
            </a:pPr>
            <a:r>
              <a:rPr lang="it-IT" sz="1100" b="1" dirty="0">
                <a:solidFill>
                  <a:schemeClr val="tx1"/>
                </a:solidFill>
              </a:rPr>
              <a:t>Autentica ma non accurata: una registrazione con affermazioni false</a:t>
            </a:r>
            <a:endParaRPr lang="it-IT" sz="1100" dirty="0"/>
          </a:p>
        </p:txBody>
      </p:sp>
      <p:sp>
        <p:nvSpPr>
          <p:cNvPr id="15" name="blocco Professionale ma non accurata: una presentazione con dati inesatti"/>
          <p:cNvSpPr/>
          <p:nvPr/>
        </p:nvSpPr>
        <p:spPr>
          <a:xfrm>
            <a:off x="6071616" y="2971800"/>
            <a:ext cx="2615184" cy="685800"/>
          </a:xfrm>
          <a:prstGeom prst="roundRect">
            <a:avLst>
              <a:gd name="adj" fmla="val 16000"/>
            </a:avLst>
          </a:prstGeom>
          <a:solidFill>
            <a:schemeClr val="accent6"/>
          </a:solidFill>
          <a:ln/>
        </p:spPr>
      </p:sp>
      <p:sp>
        <p:nvSpPr>
          <p:cNvPr id="16" name="Text 12"/>
          <p:cNvSpPr txBox="1"/>
          <p:nvPr/>
        </p:nvSpPr>
        <p:spPr>
          <a:xfrm>
            <a:off x="6117336" y="2971800"/>
            <a:ext cx="2523744" cy="685800"/>
          </a:xfrm>
          <a:prstGeom prst="rect">
            <a:avLst/>
          </a:prstGeom>
          <a:noFill/>
          <a:ln/>
        </p:spPr>
        <p:txBody>
          <a:bodyPr wrap="square" lIns="0" tIns="0" rIns="0" bIns="0" rtlCol="0" anchor="ctr"/>
          <a:lstStyle/>
          <a:p>
            <a:pPr algn="ctr" indent="0" marL="0">
              <a:buNone/>
            </a:pPr>
            <a:r>
              <a:rPr lang="it-IT" sz="1100" b="1" dirty="0">
                <a:solidFill>
                  <a:schemeClr val="tx1"/>
                </a:solidFill>
              </a:rPr>
              <a:t>Professionale ma non accurata: una presentazione con dati inesatti</a:t>
            </a:r>
            <a:endParaRPr lang="it-IT" sz="1100" dirty="0"/>
          </a:p>
        </p:txBody>
      </p:sp>
      <p:sp>
        <p:nvSpPr>
          <p:cNvPr id="17" name="messaggio"/>
          <p:cNvSpPr/>
          <p:nvPr/>
        </p:nvSpPr>
        <p:spPr>
          <a:xfrm>
            <a:off x="457200" y="3840480"/>
            <a:ext cx="8229600" cy="640080"/>
          </a:xfrm>
          <a:prstGeom prst="roundRect">
            <a:avLst>
              <a:gd name="adj" fmla="val 11429"/>
            </a:avLst>
          </a:prstGeom>
          <a:solidFill>
            <a:schemeClr val="tx1"/>
          </a:solidFill>
          <a:ln/>
        </p:spPr>
      </p:sp>
      <p:sp>
        <p:nvSpPr>
          <p:cNvPr id="18" name="Text 14"/>
          <p:cNvSpPr txBox="1"/>
          <p:nvPr/>
        </p:nvSpPr>
        <p:spPr>
          <a:xfrm>
            <a:off x="640080" y="3840480"/>
            <a:ext cx="7863840" cy="640080"/>
          </a:xfrm>
          <a:prstGeom prst="rect">
            <a:avLst/>
          </a:prstGeom>
          <a:noFill/>
          <a:ln/>
        </p:spPr>
        <p:txBody>
          <a:bodyPr wrap="square" lIns="0" tIns="0" rIns="0" bIns="0" rtlCol="0" anchor="ctr"/>
          <a:lstStyle/>
          <a:p>
            <a:pPr indent="0" marL="0">
              <a:buNone/>
            </a:pPr>
            <a:r>
              <a:rPr lang="it-IT" sz="1500" dirty="0">
                <a:solidFill>
                  <a:schemeClr val="bg1"/>
                </a:solidFill>
              </a:rPr>
              <a:t>Tre domande separate: sembra reale? Da dove viene? Ciò che mostra è vero?</a:t>
            </a:r>
            <a:endParaRPr lang="it-IT"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51</a:t>
            </a:fld>
            <a:endParaRPr lang="it-IT"/>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Provenienza e credenziali digitali</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Trasformare</a:t>
            </a:r>
            <a:endParaRPr lang="it-IT" sz="9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743200"/>
                <a:gridCol w="2743200"/>
                <a:gridCol w="2743200"/>
              </a:tblGrid>
              <a:tr h="384048">
                <a:tc>
                  <a:txBody>
                    <a:bodyPr/>
                    <a:lstStyle/>
                    <a:p>
                      <a:pPr indent="0" marL="0">
                        <a:buNone/>
                      </a:pPr>
                      <a:r>
                        <a:rPr lang="it-IT" sz="1200" b="1" dirty="0">
                          <a:solidFill>
                            <a:schemeClr val="bg1"/>
                          </a:solidFill>
                        </a:rPr>
                        <a:t>Strumento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200" b="1" dirty="0">
                          <a:solidFill>
                            <a:schemeClr val="bg1"/>
                          </a:solidFill>
                        </a:rPr>
                        <a:t>Che cosa offre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200" b="1" dirty="0">
                          <a:solidFill>
                            <a:schemeClr val="bg1"/>
                          </a:solidFill>
                        </a:rPr>
                        <a:t>Limite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84048">
                <a:tc>
                  <a:txBody>
                    <a:bodyPr/>
                    <a:lstStyle/>
                    <a:p>
                      <a:pPr indent="0" marL="0">
                        <a:buNone/>
                      </a:pPr>
                      <a:r>
                        <a:rPr lang="it-IT" sz="1200" b="1" dirty="0">
                          <a:solidFill>
                            <a:schemeClr val="tx1"/>
                          </a:solidFill>
                        </a:rPr>
                        <a:t>Metadati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Data, dispositivo, posizione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Facili da modificare o rimuovere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it-IT" sz="1200" b="1" dirty="0">
                          <a:solidFill>
                            <a:schemeClr val="tx1"/>
                          </a:solidFill>
                        </a:rPr>
                        <a:t>Filigrane digitali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Marcatura dei contenuti generati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Possono essere alterate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it-IT" sz="1200" b="1" dirty="0">
                          <a:solidFill>
                            <a:schemeClr val="tx1"/>
                          </a:solidFill>
                        </a:rPr>
                        <a:t>Credenziali di contenuto (C2PA)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Origine e modifiche verificabili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In diffusione, non ancora ovunque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it-IT" sz="1200" b="1" dirty="0">
                          <a:solidFill>
                            <a:schemeClr val="tx1"/>
                          </a:solidFill>
                        </a:rPr>
                        <a:t>Etichette delle piattaforme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Segnalano contenuti generati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L'assenza non prova l'autenticità</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1" name="messaggio"/>
          <p:cNvSpPr/>
          <p:nvPr/>
        </p:nvSpPr>
        <p:spPr>
          <a:xfrm>
            <a:off x="457200" y="3108960"/>
            <a:ext cx="8229600" cy="685800"/>
          </a:xfrm>
          <a:prstGeom prst="roundRect">
            <a:avLst>
              <a:gd name="adj" fmla="val 10667"/>
            </a:avLst>
          </a:prstGeom>
          <a:solidFill>
            <a:schemeClr val="tx1"/>
          </a:solidFill>
          <a:ln/>
        </p:spPr>
      </p:sp>
      <p:sp>
        <p:nvSpPr>
          <p:cNvPr id="12" name="Text 8"/>
          <p:cNvSpPr txBox="1"/>
          <p:nvPr/>
        </p:nvSpPr>
        <p:spPr>
          <a:xfrm>
            <a:off x="640080" y="3108960"/>
            <a:ext cx="7863840" cy="685800"/>
          </a:xfrm>
          <a:prstGeom prst="rect">
            <a:avLst/>
          </a:prstGeom>
          <a:noFill/>
          <a:ln/>
        </p:spPr>
        <p:txBody>
          <a:bodyPr wrap="square" lIns="0" tIns="0" rIns="0" bIns="0" rtlCol="0" anchor="ctr"/>
          <a:lstStyle/>
          <a:p>
            <a:pPr indent="0" marL="0">
              <a:buNone/>
            </a:pPr>
            <a:r>
              <a:rPr lang="it-IT" sz="1300" dirty="0">
                <a:solidFill>
                  <a:schemeClr val="bg1"/>
                </a:solidFill>
              </a:rPr>
              <a:t>Etichette e metadati dicono come è stato prodotto un contenuto, non se ciò che mostra è vero.</a:t>
            </a:r>
            <a:endParaRPr lang="it-IT" sz="1300" dirty="0"/>
          </a:p>
        </p:txBody>
      </p:sp>
      <p:sp>
        <p:nvSpPr>
          <p:cNvPr id="13" name="Text 9"/>
          <p:cNvSpPr txBox="1"/>
          <p:nvPr/>
        </p:nvSpPr>
        <p:spPr>
          <a:xfrm>
            <a:off x="457200" y="3886200"/>
            <a:ext cx="2743200" cy="548640"/>
          </a:xfrm>
          <a:prstGeom prst="rect">
            <a:avLst/>
          </a:prstGeom>
          <a:noFill/>
          <a:ln/>
        </p:spPr>
        <p:txBody>
          <a:bodyPr wrap="square" lIns="0" tIns="0" rIns="0" bIns="0" rtlCol="0" anchor="ctr"/>
          <a:lstStyle/>
          <a:p>
            <a:pPr indent="0" marL="0">
              <a:buNone/>
            </a:pPr>
            <a:r>
              <a:rPr lang="it-IT" sz="1300" b="1" dirty="0">
                <a:solidFill>
                  <a:schemeClr val="accent1"/>
                </a:solidFill>
              </a:rPr>
              <a:t>Verifica più efficace per l'utente</a:t>
            </a:r>
            <a:endParaRPr lang="it-IT" sz="1300" dirty="0"/>
          </a:p>
        </p:txBody>
      </p:sp>
      <p:sp>
        <p:nvSpPr>
          <p:cNvPr id="14" name="blocco Risalire alla fonte"/>
          <p:cNvSpPr/>
          <p:nvPr/>
        </p:nvSpPr>
        <p:spPr>
          <a:xfrm>
            <a:off x="3200400" y="3886200"/>
            <a:ext cx="1737360" cy="548640"/>
          </a:xfrm>
          <a:prstGeom prst="roundRect">
            <a:avLst>
              <a:gd name="adj" fmla="val 20000"/>
            </a:avLst>
          </a:prstGeom>
          <a:solidFill>
            <a:schemeClr val="accent6"/>
          </a:solidFill>
          <a:ln/>
        </p:spPr>
      </p:sp>
      <p:sp>
        <p:nvSpPr>
          <p:cNvPr id="15" name="Text 11"/>
          <p:cNvSpPr txBox="1"/>
          <p:nvPr/>
        </p:nvSpPr>
        <p:spPr>
          <a:xfrm>
            <a:off x="3246120" y="3886200"/>
            <a:ext cx="1645920" cy="548640"/>
          </a:xfrm>
          <a:prstGeom prst="rect">
            <a:avLst/>
          </a:prstGeom>
          <a:noFill/>
          <a:ln/>
        </p:spPr>
        <p:txBody>
          <a:bodyPr wrap="square" lIns="0" tIns="0" rIns="0" bIns="0" rtlCol="0" anchor="ctr"/>
          <a:lstStyle/>
          <a:p>
            <a:pPr algn="ctr" indent="0" marL="0">
              <a:buNone/>
            </a:pPr>
            <a:r>
              <a:rPr lang="it-IT" sz="1100" b="1" dirty="0">
                <a:solidFill>
                  <a:schemeClr val="tx1"/>
                </a:solidFill>
              </a:rPr>
              <a:t>Risalire alla fonte</a:t>
            </a:r>
            <a:endParaRPr lang="it-IT" sz="1100" dirty="0"/>
          </a:p>
        </p:txBody>
      </p:sp>
      <p:sp>
        <p:nvSpPr>
          <p:cNvPr id="16" name="blocco Canale indipendente"/>
          <p:cNvSpPr/>
          <p:nvPr/>
        </p:nvSpPr>
        <p:spPr>
          <a:xfrm>
            <a:off x="5029200" y="3886200"/>
            <a:ext cx="1828800" cy="548640"/>
          </a:xfrm>
          <a:prstGeom prst="roundRect">
            <a:avLst>
              <a:gd name="adj" fmla="val 20000"/>
            </a:avLst>
          </a:prstGeom>
          <a:solidFill>
            <a:schemeClr val="accent6"/>
          </a:solidFill>
          <a:ln/>
        </p:spPr>
      </p:sp>
      <p:sp>
        <p:nvSpPr>
          <p:cNvPr id="17" name="Text 13"/>
          <p:cNvSpPr txBox="1"/>
          <p:nvPr/>
        </p:nvSpPr>
        <p:spPr>
          <a:xfrm>
            <a:off x="5074920" y="3886200"/>
            <a:ext cx="1737360" cy="548640"/>
          </a:xfrm>
          <a:prstGeom prst="rect">
            <a:avLst/>
          </a:prstGeom>
          <a:noFill/>
          <a:ln/>
        </p:spPr>
        <p:txBody>
          <a:bodyPr wrap="square" lIns="0" tIns="0" rIns="0" bIns="0" rtlCol="0" anchor="ctr"/>
          <a:lstStyle/>
          <a:p>
            <a:pPr algn="ctr" indent="0" marL="0">
              <a:buNone/>
            </a:pPr>
            <a:r>
              <a:rPr lang="it-IT" sz="1100" b="1" dirty="0">
                <a:solidFill>
                  <a:schemeClr val="tx1"/>
                </a:solidFill>
              </a:rPr>
              <a:t>Canale indipendente</a:t>
            </a:r>
            <a:endParaRPr lang="it-IT" sz="1100" dirty="0"/>
          </a:p>
        </p:txBody>
      </p:sp>
      <p:sp>
        <p:nvSpPr>
          <p:cNvPr id="18" name="blocco Altre fonti"/>
          <p:cNvSpPr/>
          <p:nvPr/>
        </p:nvSpPr>
        <p:spPr>
          <a:xfrm>
            <a:off x="6949440" y="3886200"/>
            <a:ext cx="1737360" cy="548640"/>
          </a:xfrm>
          <a:prstGeom prst="roundRect">
            <a:avLst>
              <a:gd name="adj" fmla="val 20000"/>
            </a:avLst>
          </a:prstGeom>
          <a:solidFill>
            <a:schemeClr val="accent6"/>
          </a:solidFill>
          <a:ln/>
        </p:spPr>
      </p:sp>
      <p:sp>
        <p:nvSpPr>
          <p:cNvPr id="19" name="Text 15"/>
          <p:cNvSpPr txBox="1"/>
          <p:nvPr/>
        </p:nvSpPr>
        <p:spPr>
          <a:xfrm>
            <a:off x="6995160" y="3886200"/>
            <a:ext cx="1645920" cy="548640"/>
          </a:xfrm>
          <a:prstGeom prst="rect">
            <a:avLst/>
          </a:prstGeom>
          <a:noFill/>
          <a:ln/>
        </p:spPr>
        <p:txBody>
          <a:bodyPr wrap="square" lIns="0" tIns="0" rIns="0" bIns="0" rtlCol="0" anchor="ctr"/>
          <a:lstStyle/>
          <a:p>
            <a:pPr algn="ctr" indent="0" marL="0">
              <a:buNone/>
            </a:pPr>
            <a:r>
              <a:rPr lang="it-IT" sz="1100" b="1" dirty="0">
                <a:solidFill>
                  <a:schemeClr val="tx1"/>
                </a:solidFill>
              </a:rPr>
              <a:t>Altre fonti</a:t>
            </a:r>
            <a:endParaRPr lang="it-IT"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52</a:t>
            </a:fld>
            <a:endParaRPr lang="it-IT"/>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Difendersi dalle frodi</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Trasformare</a:t>
            </a:r>
            <a:endParaRPr lang="it-IT" sz="900" dirty="0"/>
          </a:p>
        </p:txBody>
      </p:sp>
      <p:sp>
        <p:nvSpPr>
          <p:cNvPr id="10" name="Canale indipendente"/>
          <p:cNvSpPr/>
          <p:nvPr/>
        </p:nvSpPr>
        <p:spPr>
          <a:xfrm>
            <a:off x="457200" y="1051560"/>
            <a:ext cx="2621280" cy="1280160"/>
          </a:xfrm>
          <a:prstGeom prst="roundRect">
            <a:avLst>
              <a:gd name="adj" fmla="val 5714"/>
            </a:avLst>
          </a:prstGeom>
          <a:solidFill>
            <a:schemeClr val="bg2"/>
          </a:solidFill>
          <a:ln/>
        </p:spPr>
      </p:sp>
      <p:sp>
        <p:nvSpPr>
          <p:cNvPr id="11" name="cerchio FiPhone"/>
          <p:cNvSpPr/>
          <p:nvPr/>
        </p:nvSpPr>
        <p:spPr>
          <a:xfrm>
            <a:off x="621792" y="1216152"/>
            <a:ext cx="438912" cy="438912"/>
          </a:xfrm>
          <a:prstGeom prst="ellipse">
            <a:avLst/>
          </a:prstGeom>
          <a:solidFill>
            <a:schemeClr val="accent1"/>
          </a:solidFill>
          <a:ln/>
        </p:spPr>
      </p:sp>
      <p:pic>
        <p:nvPicPr>
          <p:cNvPr id="12" name="Image 0" descr="FiPhone">    </p:cNvPr>
          <p:cNvPicPr>
            <a:picLocks noChangeAspect="1"/>
          </p:cNvPicPr>
          <p:nvPr/>
        </p:nvPicPr>
        <p:blipFill>
          <a:blip r:embed="rId1"/>
          <a:stretch>
            <a:fillRect/>
          </a:stretch>
        </p:blipFill>
        <p:spPr>
          <a:xfrm>
            <a:off x="731520" y="1325880"/>
            <a:ext cx="219456" cy="219456"/>
          </a:xfrm>
          <a:prstGeom prst="rect">
            <a:avLst/>
          </a:prstGeom>
        </p:spPr>
      </p:pic>
      <p:sp>
        <p:nvSpPr>
          <p:cNvPr id="13" name="Text 9"/>
          <p:cNvSpPr txBox="1"/>
          <p:nvPr/>
        </p:nvSpPr>
        <p:spPr>
          <a:xfrm>
            <a:off x="117043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Canale indipendente</a:t>
            </a:r>
            <a:endParaRPr lang="it-IT" sz="1300" dirty="0"/>
          </a:p>
        </p:txBody>
      </p:sp>
      <p:sp>
        <p:nvSpPr>
          <p:cNvPr id="14" name="Text 10"/>
          <p:cNvSpPr txBox="1"/>
          <p:nvPr/>
        </p:nvSpPr>
        <p:spPr>
          <a:xfrm>
            <a:off x="621792" y="1764792"/>
            <a:ext cx="2292096" cy="475488"/>
          </a:xfrm>
          <a:prstGeom prst="rect">
            <a:avLst/>
          </a:prstGeom>
          <a:noFill/>
          <a:ln/>
        </p:spPr>
        <p:txBody>
          <a:bodyPr wrap="square" lIns="0" tIns="0" rIns="0" bIns="0" rtlCol="0" anchor="t"/>
          <a:lstStyle/>
          <a:p>
            <a:pPr indent="0" marL="0">
              <a:buNone/>
            </a:pPr>
            <a:r>
              <a:rPr lang="it-IT" sz="1200" dirty="0">
                <a:solidFill>
                  <a:schemeClr val="tx2"/>
                </a:solidFill>
              </a:rPr>
              <a:t>Richiamare a un numero noto, confermare di persona</a:t>
            </a:r>
            <a:endParaRPr lang="it-IT" sz="1200" dirty="0"/>
          </a:p>
        </p:txBody>
      </p:sp>
      <p:sp>
        <p:nvSpPr>
          <p:cNvPr id="15" name="Procedure robuste"/>
          <p:cNvSpPr/>
          <p:nvPr/>
        </p:nvSpPr>
        <p:spPr>
          <a:xfrm>
            <a:off x="3261360" y="1051560"/>
            <a:ext cx="2621280" cy="1280160"/>
          </a:xfrm>
          <a:prstGeom prst="roundRect">
            <a:avLst>
              <a:gd name="adj" fmla="val 5714"/>
            </a:avLst>
          </a:prstGeom>
          <a:solidFill>
            <a:schemeClr val="bg2"/>
          </a:solidFill>
          <a:ln/>
        </p:spPr>
      </p:sp>
      <p:sp>
        <p:nvSpPr>
          <p:cNvPr id="16" name="cerchio FiUsers"/>
          <p:cNvSpPr/>
          <p:nvPr/>
        </p:nvSpPr>
        <p:spPr>
          <a:xfrm>
            <a:off x="3425952" y="1216152"/>
            <a:ext cx="438912" cy="438912"/>
          </a:xfrm>
          <a:prstGeom prst="ellipse">
            <a:avLst/>
          </a:prstGeom>
          <a:solidFill>
            <a:schemeClr val="accent1"/>
          </a:solidFill>
          <a:ln/>
        </p:spPr>
      </p:sp>
      <p:pic>
        <p:nvPicPr>
          <p:cNvPr id="17" name="Image 1" descr="FiUsers">    </p:cNvPr>
          <p:cNvPicPr>
            <a:picLocks noChangeAspect="1"/>
          </p:cNvPicPr>
          <p:nvPr/>
        </p:nvPicPr>
        <p:blipFill>
          <a:blip r:embed="rId2"/>
          <a:stretch>
            <a:fillRect/>
          </a:stretch>
        </p:blipFill>
        <p:spPr>
          <a:xfrm>
            <a:off x="3535680" y="1325880"/>
            <a:ext cx="219456" cy="219456"/>
          </a:xfrm>
          <a:prstGeom prst="rect">
            <a:avLst/>
          </a:prstGeom>
        </p:spPr>
      </p:pic>
      <p:sp>
        <p:nvSpPr>
          <p:cNvPr id="18" name="Text 13"/>
          <p:cNvSpPr txBox="1"/>
          <p:nvPr/>
        </p:nvSpPr>
        <p:spPr>
          <a:xfrm>
            <a:off x="397459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Procedure robuste</a:t>
            </a:r>
            <a:endParaRPr lang="it-IT" sz="1300" dirty="0"/>
          </a:p>
        </p:txBody>
      </p:sp>
      <p:sp>
        <p:nvSpPr>
          <p:cNvPr id="19" name="Text 14"/>
          <p:cNvSpPr txBox="1"/>
          <p:nvPr/>
        </p:nvSpPr>
        <p:spPr>
          <a:xfrm>
            <a:off x="3425952" y="1764792"/>
            <a:ext cx="2292096" cy="475488"/>
          </a:xfrm>
          <a:prstGeom prst="rect">
            <a:avLst/>
          </a:prstGeom>
          <a:noFill/>
          <a:ln/>
        </p:spPr>
        <p:txBody>
          <a:bodyPr wrap="square" lIns="0" tIns="0" rIns="0" bIns="0" rtlCol="0" anchor="t"/>
          <a:lstStyle/>
          <a:p>
            <a:pPr indent="0" marL="0">
              <a:buNone/>
            </a:pPr>
            <a:r>
              <a:rPr lang="it-IT" sz="1200" dirty="0">
                <a:solidFill>
                  <a:schemeClr val="tx2"/>
                </a:solidFill>
              </a:rPr>
              <a:t>Più firme, controlli incrociati, nessuna eccezione</a:t>
            </a:r>
            <a:endParaRPr lang="it-IT" sz="1200" dirty="0"/>
          </a:p>
        </p:txBody>
      </p:sp>
      <p:sp>
        <p:nvSpPr>
          <p:cNvPr id="20" name="Urgenza e segretezza"/>
          <p:cNvSpPr/>
          <p:nvPr/>
        </p:nvSpPr>
        <p:spPr>
          <a:xfrm>
            <a:off x="6065520" y="1051560"/>
            <a:ext cx="2621280" cy="1280160"/>
          </a:xfrm>
          <a:prstGeom prst="roundRect">
            <a:avLst>
              <a:gd name="adj" fmla="val 5714"/>
            </a:avLst>
          </a:prstGeom>
          <a:solidFill>
            <a:schemeClr val="bg2"/>
          </a:solidFill>
          <a:ln/>
        </p:spPr>
      </p:sp>
      <p:sp>
        <p:nvSpPr>
          <p:cNvPr id="21" name="cerchio FiClock"/>
          <p:cNvSpPr/>
          <p:nvPr/>
        </p:nvSpPr>
        <p:spPr>
          <a:xfrm>
            <a:off x="6230112" y="1216152"/>
            <a:ext cx="438912" cy="438912"/>
          </a:xfrm>
          <a:prstGeom prst="ellipse">
            <a:avLst/>
          </a:prstGeom>
          <a:solidFill>
            <a:schemeClr val="accent1"/>
          </a:solidFill>
          <a:ln/>
        </p:spPr>
      </p:sp>
      <p:pic>
        <p:nvPicPr>
          <p:cNvPr id="22" name="Image 2" descr="FiClock">    </p:cNvPr>
          <p:cNvPicPr>
            <a:picLocks noChangeAspect="1"/>
          </p:cNvPicPr>
          <p:nvPr/>
        </p:nvPicPr>
        <p:blipFill>
          <a:blip r:embed="rId3"/>
          <a:stretch>
            <a:fillRect/>
          </a:stretch>
        </p:blipFill>
        <p:spPr>
          <a:xfrm>
            <a:off x="6339840" y="1325880"/>
            <a:ext cx="219456" cy="219456"/>
          </a:xfrm>
          <a:prstGeom prst="rect">
            <a:avLst/>
          </a:prstGeom>
        </p:spPr>
      </p:pic>
      <p:sp>
        <p:nvSpPr>
          <p:cNvPr id="23" name="Text 17"/>
          <p:cNvSpPr txBox="1"/>
          <p:nvPr/>
        </p:nvSpPr>
        <p:spPr>
          <a:xfrm>
            <a:off x="677875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Urgenza e segretezza</a:t>
            </a:r>
            <a:endParaRPr lang="it-IT" sz="1300" dirty="0"/>
          </a:p>
        </p:txBody>
      </p:sp>
      <p:sp>
        <p:nvSpPr>
          <p:cNvPr id="24" name="Text 18"/>
          <p:cNvSpPr txBox="1"/>
          <p:nvPr/>
        </p:nvSpPr>
        <p:spPr>
          <a:xfrm>
            <a:off x="6230112" y="1764792"/>
            <a:ext cx="2292096" cy="475488"/>
          </a:xfrm>
          <a:prstGeom prst="rect">
            <a:avLst/>
          </a:prstGeom>
          <a:noFill/>
          <a:ln/>
        </p:spPr>
        <p:txBody>
          <a:bodyPr wrap="square" lIns="0" tIns="0" rIns="0" bIns="0" rtlCol="0" anchor="t"/>
          <a:lstStyle/>
          <a:p>
            <a:pPr indent="0" marL="0">
              <a:buNone/>
            </a:pPr>
            <a:r>
              <a:rPr lang="it-IT" sz="1200" dirty="0">
                <a:solidFill>
                  <a:schemeClr val="tx2"/>
                </a:solidFill>
              </a:rPr>
              <a:t>Gli ingredienti tipici delle frodi</a:t>
            </a:r>
            <a:endParaRPr lang="it-IT" sz="1200" dirty="0"/>
          </a:p>
        </p:txBody>
      </p:sp>
      <p:sp>
        <p:nvSpPr>
          <p:cNvPr id="25" name="Domande di controllo"/>
          <p:cNvSpPr/>
          <p:nvPr/>
        </p:nvSpPr>
        <p:spPr>
          <a:xfrm>
            <a:off x="457200" y="2514600"/>
            <a:ext cx="2621280" cy="1280160"/>
          </a:xfrm>
          <a:prstGeom prst="roundRect">
            <a:avLst>
              <a:gd name="adj" fmla="val 5714"/>
            </a:avLst>
          </a:prstGeom>
          <a:solidFill>
            <a:schemeClr val="bg2"/>
          </a:solidFill>
          <a:ln/>
        </p:spPr>
      </p:sp>
      <p:sp>
        <p:nvSpPr>
          <p:cNvPr id="26" name="cerchio FiKey"/>
          <p:cNvSpPr/>
          <p:nvPr/>
        </p:nvSpPr>
        <p:spPr>
          <a:xfrm>
            <a:off x="621792" y="2679192"/>
            <a:ext cx="438912" cy="438912"/>
          </a:xfrm>
          <a:prstGeom prst="ellipse">
            <a:avLst/>
          </a:prstGeom>
          <a:solidFill>
            <a:schemeClr val="accent1"/>
          </a:solidFill>
          <a:ln/>
        </p:spPr>
      </p:sp>
      <p:pic>
        <p:nvPicPr>
          <p:cNvPr id="27" name="Image 3" descr="FiKey">    </p:cNvPr>
          <p:cNvPicPr>
            <a:picLocks noChangeAspect="1"/>
          </p:cNvPicPr>
          <p:nvPr/>
        </p:nvPicPr>
        <p:blipFill>
          <a:blip r:embed="rId4"/>
          <a:stretch>
            <a:fillRect/>
          </a:stretch>
        </p:blipFill>
        <p:spPr>
          <a:xfrm>
            <a:off x="731520" y="2788920"/>
            <a:ext cx="219456" cy="219456"/>
          </a:xfrm>
          <a:prstGeom prst="rect">
            <a:avLst/>
          </a:prstGeom>
        </p:spPr>
      </p:pic>
      <p:sp>
        <p:nvSpPr>
          <p:cNvPr id="28" name="Text 21"/>
          <p:cNvSpPr txBox="1"/>
          <p:nvPr/>
        </p:nvSpPr>
        <p:spPr>
          <a:xfrm>
            <a:off x="1170432" y="264261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Domande di controllo</a:t>
            </a:r>
            <a:endParaRPr lang="it-IT" sz="1300" dirty="0"/>
          </a:p>
        </p:txBody>
      </p:sp>
      <p:sp>
        <p:nvSpPr>
          <p:cNvPr id="29" name="Text 22"/>
          <p:cNvSpPr txBox="1"/>
          <p:nvPr/>
        </p:nvSpPr>
        <p:spPr>
          <a:xfrm>
            <a:off x="621792" y="3227832"/>
            <a:ext cx="2292096" cy="475488"/>
          </a:xfrm>
          <a:prstGeom prst="rect">
            <a:avLst/>
          </a:prstGeom>
          <a:noFill/>
          <a:ln/>
        </p:spPr>
        <p:txBody>
          <a:bodyPr wrap="square" lIns="0" tIns="0" rIns="0" bIns="0" rtlCol="0" anchor="t"/>
          <a:lstStyle/>
          <a:p>
            <a:pPr indent="0" marL="0">
              <a:buNone/>
            </a:pPr>
            <a:r>
              <a:rPr lang="it-IT" sz="1200" dirty="0">
                <a:solidFill>
                  <a:schemeClr val="tx2"/>
                </a:solidFill>
              </a:rPr>
              <a:t>Concordate per le situazioni delicate</a:t>
            </a:r>
            <a:endParaRPr lang="it-IT" sz="1200" dirty="0"/>
          </a:p>
        </p:txBody>
      </p:sp>
      <p:sp>
        <p:nvSpPr>
          <p:cNvPr id="30" name="Segnalare"/>
          <p:cNvSpPr/>
          <p:nvPr/>
        </p:nvSpPr>
        <p:spPr>
          <a:xfrm>
            <a:off x="3261360" y="2514600"/>
            <a:ext cx="2621280" cy="1280160"/>
          </a:xfrm>
          <a:prstGeom prst="roundRect">
            <a:avLst>
              <a:gd name="adj" fmla="val 5714"/>
            </a:avLst>
          </a:prstGeom>
          <a:solidFill>
            <a:schemeClr val="bg2"/>
          </a:solidFill>
          <a:ln/>
        </p:spPr>
      </p:sp>
      <p:sp>
        <p:nvSpPr>
          <p:cNvPr id="31" name="cerchio FiFlag"/>
          <p:cNvSpPr/>
          <p:nvPr/>
        </p:nvSpPr>
        <p:spPr>
          <a:xfrm>
            <a:off x="3425952" y="2679192"/>
            <a:ext cx="438912" cy="438912"/>
          </a:xfrm>
          <a:prstGeom prst="ellipse">
            <a:avLst/>
          </a:prstGeom>
          <a:solidFill>
            <a:schemeClr val="accent1"/>
          </a:solidFill>
          <a:ln/>
        </p:spPr>
      </p:sp>
      <p:pic>
        <p:nvPicPr>
          <p:cNvPr id="32" name="Image 4" descr="FiFlag">    </p:cNvPr>
          <p:cNvPicPr>
            <a:picLocks noChangeAspect="1"/>
          </p:cNvPicPr>
          <p:nvPr/>
        </p:nvPicPr>
        <p:blipFill>
          <a:blip r:embed="rId5"/>
          <a:stretch>
            <a:fillRect/>
          </a:stretch>
        </p:blipFill>
        <p:spPr>
          <a:xfrm>
            <a:off x="3535680" y="2788920"/>
            <a:ext cx="219456" cy="219456"/>
          </a:xfrm>
          <a:prstGeom prst="rect">
            <a:avLst/>
          </a:prstGeom>
        </p:spPr>
      </p:pic>
      <p:sp>
        <p:nvSpPr>
          <p:cNvPr id="33" name="Text 25"/>
          <p:cNvSpPr txBox="1"/>
          <p:nvPr/>
        </p:nvSpPr>
        <p:spPr>
          <a:xfrm>
            <a:off x="3974592" y="264261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Segnalare</a:t>
            </a:r>
            <a:endParaRPr lang="it-IT" sz="1300" dirty="0"/>
          </a:p>
        </p:txBody>
      </p:sp>
      <p:sp>
        <p:nvSpPr>
          <p:cNvPr id="34" name="Text 26"/>
          <p:cNvSpPr txBox="1"/>
          <p:nvPr/>
        </p:nvSpPr>
        <p:spPr>
          <a:xfrm>
            <a:off x="3425952" y="3227832"/>
            <a:ext cx="2292096" cy="475488"/>
          </a:xfrm>
          <a:prstGeom prst="rect">
            <a:avLst/>
          </a:prstGeom>
          <a:noFill/>
          <a:ln/>
        </p:spPr>
        <p:txBody>
          <a:bodyPr wrap="square" lIns="0" tIns="0" rIns="0" bIns="0" rtlCol="0" anchor="t"/>
          <a:lstStyle/>
          <a:p>
            <a:pPr indent="0" marL="0">
              <a:buNone/>
            </a:pPr>
            <a:r>
              <a:rPr lang="it-IT" sz="1200" dirty="0">
                <a:solidFill>
                  <a:schemeClr val="tx2"/>
                </a:solidFill>
              </a:rPr>
              <a:t>In caso di dubbio, alla sicurezza aziendale</a:t>
            </a:r>
            <a:endParaRPr lang="it-IT" sz="1200" dirty="0"/>
          </a:p>
        </p:txBody>
      </p:sp>
      <p:sp>
        <p:nvSpPr>
          <p:cNvPr id="35" name="Non solo riconoscere"/>
          <p:cNvSpPr/>
          <p:nvPr/>
        </p:nvSpPr>
        <p:spPr>
          <a:xfrm>
            <a:off x="6065520" y="2514600"/>
            <a:ext cx="2621280" cy="1280160"/>
          </a:xfrm>
          <a:prstGeom prst="roundRect">
            <a:avLst>
              <a:gd name="adj" fmla="val 5714"/>
            </a:avLst>
          </a:prstGeom>
          <a:solidFill>
            <a:schemeClr val="accent6"/>
          </a:solidFill>
          <a:ln/>
        </p:spPr>
      </p:sp>
      <p:sp>
        <p:nvSpPr>
          <p:cNvPr id="36" name="cerchio FiShield"/>
          <p:cNvSpPr/>
          <p:nvPr/>
        </p:nvSpPr>
        <p:spPr>
          <a:xfrm>
            <a:off x="6230112" y="2679192"/>
            <a:ext cx="438912" cy="438912"/>
          </a:xfrm>
          <a:prstGeom prst="ellipse">
            <a:avLst/>
          </a:prstGeom>
          <a:solidFill>
            <a:schemeClr val="accent1"/>
          </a:solidFill>
          <a:ln/>
        </p:spPr>
      </p:sp>
      <p:pic>
        <p:nvPicPr>
          <p:cNvPr id="37" name="Image 5" descr="FiShield">    </p:cNvPr>
          <p:cNvPicPr>
            <a:picLocks noChangeAspect="1"/>
          </p:cNvPicPr>
          <p:nvPr/>
        </p:nvPicPr>
        <p:blipFill>
          <a:blip r:embed="rId6"/>
          <a:stretch>
            <a:fillRect/>
          </a:stretch>
        </p:blipFill>
        <p:spPr>
          <a:xfrm>
            <a:off x="6339840" y="2788920"/>
            <a:ext cx="219456" cy="219456"/>
          </a:xfrm>
          <a:prstGeom prst="rect">
            <a:avLst/>
          </a:prstGeom>
        </p:spPr>
      </p:pic>
      <p:sp>
        <p:nvSpPr>
          <p:cNvPr id="38" name="Text 29"/>
          <p:cNvSpPr txBox="1"/>
          <p:nvPr/>
        </p:nvSpPr>
        <p:spPr>
          <a:xfrm>
            <a:off x="6778752" y="264261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Non solo riconoscere</a:t>
            </a:r>
            <a:endParaRPr lang="it-IT" sz="1300" dirty="0"/>
          </a:p>
        </p:txBody>
      </p:sp>
      <p:sp>
        <p:nvSpPr>
          <p:cNvPr id="39" name="Text 30"/>
          <p:cNvSpPr txBox="1"/>
          <p:nvPr/>
        </p:nvSpPr>
        <p:spPr>
          <a:xfrm>
            <a:off x="6230112" y="3227832"/>
            <a:ext cx="2292096" cy="475488"/>
          </a:xfrm>
          <a:prstGeom prst="rect">
            <a:avLst/>
          </a:prstGeom>
          <a:noFill/>
          <a:ln/>
        </p:spPr>
        <p:txBody>
          <a:bodyPr wrap="square" lIns="0" tIns="0" rIns="0" bIns="0" rtlCol="0" anchor="t"/>
          <a:lstStyle/>
          <a:p>
            <a:pPr indent="0" marL="0">
              <a:buNone/>
            </a:pPr>
            <a:r>
              <a:rPr lang="it-IT" sz="1200" dirty="0">
                <a:solidFill>
                  <a:schemeClr val="tx2"/>
                </a:solidFill>
              </a:rPr>
              <a:t>Le decisioni non dipendono da voce e volto</a:t>
            </a:r>
            <a:endParaRPr lang="it-IT" sz="1200" dirty="0"/>
          </a:p>
        </p:txBody>
      </p:sp>
      <p:sp>
        <p:nvSpPr>
          <p:cNvPr id="40" name="messaggio"/>
          <p:cNvSpPr/>
          <p:nvPr/>
        </p:nvSpPr>
        <p:spPr>
          <a:xfrm>
            <a:off x="457200" y="3977640"/>
            <a:ext cx="8229600" cy="548640"/>
          </a:xfrm>
          <a:prstGeom prst="roundRect">
            <a:avLst>
              <a:gd name="adj" fmla="val 13333"/>
            </a:avLst>
          </a:prstGeom>
          <a:solidFill>
            <a:schemeClr val="tx1"/>
          </a:solidFill>
          <a:ln/>
        </p:spPr>
      </p:sp>
      <p:sp>
        <p:nvSpPr>
          <p:cNvPr id="41" name="Text 32"/>
          <p:cNvSpPr txBox="1"/>
          <p:nvPr/>
        </p:nvSpPr>
        <p:spPr>
          <a:xfrm>
            <a:off x="640080" y="3977640"/>
            <a:ext cx="7863840" cy="548640"/>
          </a:xfrm>
          <a:prstGeom prst="rect">
            <a:avLst/>
          </a:prstGeom>
          <a:noFill/>
          <a:ln/>
        </p:spPr>
        <p:txBody>
          <a:bodyPr wrap="square" lIns="0" tIns="0" rIns="0" bIns="0" rtlCol="0" anchor="ctr"/>
          <a:lstStyle/>
          <a:p>
            <a:pPr indent="0" marL="0">
              <a:buNone/>
            </a:pPr>
            <a:r>
              <a:rPr lang="it-IT" sz="1400" dirty="0">
                <a:solidFill>
                  <a:schemeClr val="bg1"/>
                </a:solidFill>
              </a:rPr>
              <a:t>Verificare una richiesta del proprio superiore è una procedura, non una mancanza di fiducia.</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53</a:t>
            </a:fld>
            <a:endParaRPr lang="it-IT"/>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Trasparenza e AI Act</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286000"/>
                <a:gridCol w="4023360"/>
                <a:gridCol w="1920240"/>
              </a:tblGrid>
              <a:tr h="512064">
                <a:tc>
                  <a:txBody>
                    <a:bodyPr/>
                    <a:lstStyle/>
                    <a:p>
                      <a:pPr indent="0" marL="0">
                        <a:buNone/>
                      </a:pPr>
                      <a:r>
                        <a:rPr lang="it-IT" sz="1100" b="1" dirty="0">
                          <a:solidFill>
                            <a:schemeClr val="bg1"/>
                          </a:solidFill>
                        </a:rPr>
                        <a:t>Chi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Che cosa chiede l'art. 50</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it-IT" sz="1100" b="1" dirty="0">
                          <a:solidFill>
                            <a:schemeClr val="bg1"/>
                          </a:solidFill>
                        </a:rPr>
                        <a:t>Da quando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512064">
                <a:tc>
                  <a:txBody>
                    <a:bodyPr/>
                    <a:lstStyle/>
                    <a:p>
                      <a:pPr indent="0" marL="0">
                        <a:buNone/>
                      </a:pPr>
                      <a:r>
                        <a:rPr lang="it-IT" sz="1100" b="1" dirty="0">
                          <a:solidFill>
                            <a:schemeClr val="tx1"/>
                          </a:solidFill>
                        </a:rPr>
                        <a:t>Fornitori di chatbot e assistenti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Informare che si interagisce con un'AI, salvo sia evidente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100" dirty="0">
                          <a:solidFill>
                            <a:schemeClr val="tx1"/>
                          </a:solidFill>
                        </a:rPr>
                        <a:t>2 agosto 2026</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12064">
                <a:tc>
                  <a:txBody>
                    <a:bodyPr/>
                    <a:lstStyle/>
                    <a:p>
                      <a:pPr indent="0" marL="0">
                        <a:buNone/>
                      </a:pPr>
                      <a:r>
                        <a:rPr lang="it-IT" sz="1100" b="1" dirty="0">
                          <a:solidFill>
                            <a:schemeClr val="tx1"/>
                          </a:solidFill>
                        </a:rPr>
                        <a:t>Fornitori di sistemi generativi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Marcatura leggibile dalle macchine; escluso l'editing di supporto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100" dirty="0">
                          <a:solidFill>
                            <a:schemeClr val="tx1"/>
                          </a:solidFill>
                        </a:rPr>
                        <a:t>2 agosto 2026; 2 dicembre 2026 se già sul mercato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12064">
                <a:tc>
                  <a:txBody>
                    <a:bodyPr/>
                    <a:lstStyle/>
                    <a:p>
                      <a:pPr indent="0" marL="0">
                        <a:buNone/>
                      </a:pPr>
                      <a:r>
                        <a:rPr lang="it-IT" sz="1100" b="1" dirty="0">
                          <a:solidFill>
                            <a:schemeClr val="tx1"/>
                          </a:solidFill>
                        </a:rPr>
                        <a:t>Chi crea deepfake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Dichiararlo; per opere artistiche o satiriche, senza ostacolarne la fruizione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100" dirty="0">
                          <a:solidFill>
                            <a:schemeClr val="tx1"/>
                          </a:solidFill>
                        </a:rPr>
                        <a:t>2 agosto 2026</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12064">
                <a:tc>
                  <a:txBody>
                    <a:bodyPr/>
                    <a:lstStyle/>
                    <a:p>
                      <a:pPr indent="0" marL="0">
                        <a:buNone/>
                      </a:pPr>
                      <a:r>
                        <a:rPr lang="it-IT" sz="1100" b="1" dirty="0">
                          <a:solidFill>
                            <a:schemeClr val="tx1"/>
                          </a:solidFill>
                        </a:rPr>
                        <a:t>Chi pubblica testi generati di interesse pubblico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Dichiararlo, salvo revisione umana con responsabilità editoriale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100" dirty="0">
                          <a:solidFill>
                            <a:schemeClr val="tx1"/>
                          </a:solidFill>
                        </a:rPr>
                        <a:t>2 agosto 2026</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1" name="messaggio"/>
          <p:cNvSpPr/>
          <p:nvPr/>
        </p:nvSpPr>
        <p:spPr>
          <a:xfrm>
            <a:off x="457200" y="3749040"/>
            <a:ext cx="8229600" cy="777240"/>
          </a:xfrm>
          <a:prstGeom prst="roundRect">
            <a:avLst>
              <a:gd name="adj" fmla="val 9412"/>
            </a:avLst>
          </a:prstGeom>
          <a:solidFill>
            <a:schemeClr val="tx1"/>
          </a:solidFill>
          <a:ln/>
        </p:spPr>
      </p:sp>
      <p:sp>
        <p:nvSpPr>
          <p:cNvPr id="12" name="Text 8"/>
          <p:cNvSpPr txBox="1"/>
          <p:nvPr/>
        </p:nvSpPr>
        <p:spPr>
          <a:xfrm>
            <a:off x="640080" y="3749040"/>
            <a:ext cx="7863840" cy="777240"/>
          </a:xfrm>
          <a:prstGeom prst="rect">
            <a:avLst/>
          </a:prstGeom>
          <a:noFill/>
          <a:ln/>
        </p:spPr>
        <p:txBody>
          <a:bodyPr wrap="square" lIns="0" tIns="0" rIns="0" bIns="0" rtlCol="0" anchor="ctr"/>
          <a:lstStyle/>
          <a:p>
            <a:pPr indent="0" marL="0">
              <a:buNone/>
            </a:pPr>
            <a:r>
              <a:rPr lang="it-IT" sz="1300" dirty="0">
                <a:solidFill>
                  <a:schemeClr val="bg1"/>
                </a:solidFill>
              </a:rPr>
              <a:t>Non ogni contenuto generato va etichettato: un'illustrazione per una slide interna non è un deepfake. Policy e piattaforme possono chiedere di più.</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54</a:t>
            </a:fld>
            <a:endParaRPr lang="it-IT"/>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Diritti su contenuti, immagini, voci</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bg1"/>
                </a:solidFill>
              </a:rPr>
              <a:t>Trasformare</a:t>
            </a:r>
            <a:endParaRPr lang="it-IT" sz="900" dirty="0"/>
          </a:p>
        </p:txBody>
      </p:sp>
      <p:sp>
        <p:nvSpPr>
          <p:cNvPr id="10" name="Contenuti di partenza"/>
          <p:cNvSpPr/>
          <p:nvPr/>
        </p:nvSpPr>
        <p:spPr>
          <a:xfrm>
            <a:off x="457200" y="1051560"/>
            <a:ext cx="2621280" cy="1280160"/>
          </a:xfrm>
          <a:prstGeom prst="roundRect">
            <a:avLst>
              <a:gd name="adj" fmla="val 5714"/>
            </a:avLst>
          </a:prstGeom>
          <a:solidFill>
            <a:schemeClr val="bg2"/>
          </a:solidFill>
          <a:ln/>
        </p:spPr>
      </p:sp>
      <p:sp>
        <p:nvSpPr>
          <p:cNvPr id="11" name="cerchio FiFile"/>
          <p:cNvSpPr/>
          <p:nvPr/>
        </p:nvSpPr>
        <p:spPr>
          <a:xfrm>
            <a:off x="621792" y="1216152"/>
            <a:ext cx="438912" cy="438912"/>
          </a:xfrm>
          <a:prstGeom prst="ellipse">
            <a:avLst/>
          </a:prstGeom>
          <a:solidFill>
            <a:schemeClr val="accent1"/>
          </a:solidFill>
          <a:ln/>
        </p:spPr>
      </p:sp>
      <p:pic>
        <p:nvPicPr>
          <p:cNvPr id="12" name="Image 0" descr="FiFile">    </p:cNvPr>
          <p:cNvPicPr>
            <a:picLocks noChangeAspect="1"/>
          </p:cNvPicPr>
          <p:nvPr/>
        </p:nvPicPr>
        <p:blipFill>
          <a:blip r:embed="rId1"/>
          <a:stretch>
            <a:fillRect/>
          </a:stretch>
        </p:blipFill>
        <p:spPr>
          <a:xfrm>
            <a:off x="731520" y="1325880"/>
            <a:ext cx="219456" cy="219456"/>
          </a:xfrm>
          <a:prstGeom prst="rect">
            <a:avLst/>
          </a:prstGeom>
        </p:spPr>
      </p:pic>
      <p:sp>
        <p:nvSpPr>
          <p:cNvPr id="13" name="Text 9"/>
          <p:cNvSpPr txBox="1"/>
          <p:nvPr/>
        </p:nvSpPr>
        <p:spPr>
          <a:xfrm>
            <a:off x="117043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Contenuti di partenza</a:t>
            </a:r>
            <a:endParaRPr lang="it-IT" sz="1300" dirty="0"/>
          </a:p>
        </p:txBody>
      </p:sp>
      <p:sp>
        <p:nvSpPr>
          <p:cNvPr id="14" name="Text 10"/>
          <p:cNvSpPr txBox="1"/>
          <p:nvPr/>
        </p:nvSpPr>
        <p:spPr>
          <a:xfrm>
            <a:off x="621792" y="1764792"/>
            <a:ext cx="2292096" cy="475488"/>
          </a:xfrm>
          <a:prstGeom prst="rect">
            <a:avLst/>
          </a:prstGeom>
          <a:noFill/>
          <a:ln/>
        </p:spPr>
        <p:txBody>
          <a:bodyPr wrap="square" lIns="0" tIns="0" rIns="0" bIns="0" rtlCol="0" anchor="t"/>
          <a:lstStyle/>
          <a:p>
            <a:pPr indent="0" marL="0">
              <a:buNone/>
            </a:pPr>
            <a:r>
              <a:rPr lang="it-IT" sz="1200" dirty="0">
                <a:solidFill>
                  <a:schemeClr val="tx2"/>
                </a:solidFill>
              </a:rPr>
              <a:t>Senza diritti non diventano leciti passando per l'AI</a:t>
            </a:r>
            <a:endParaRPr lang="it-IT" sz="1200" dirty="0"/>
          </a:p>
        </p:txBody>
      </p:sp>
      <p:sp>
        <p:nvSpPr>
          <p:cNvPr id="15" name="Contenuti generati"/>
          <p:cNvSpPr/>
          <p:nvPr/>
        </p:nvSpPr>
        <p:spPr>
          <a:xfrm>
            <a:off x="3261360" y="1051560"/>
            <a:ext cx="2621280" cy="1280160"/>
          </a:xfrm>
          <a:prstGeom prst="roundRect">
            <a:avLst>
              <a:gd name="adj" fmla="val 5714"/>
            </a:avLst>
          </a:prstGeom>
          <a:solidFill>
            <a:schemeClr val="bg2"/>
          </a:solidFill>
          <a:ln/>
        </p:spPr>
      </p:sp>
      <p:sp>
        <p:nvSpPr>
          <p:cNvPr id="16" name="cerchio FiFileText"/>
          <p:cNvSpPr/>
          <p:nvPr/>
        </p:nvSpPr>
        <p:spPr>
          <a:xfrm>
            <a:off x="3425952" y="1216152"/>
            <a:ext cx="438912" cy="438912"/>
          </a:xfrm>
          <a:prstGeom prst="ellipse">
            <a:avLst/>
          </a:prstGeom>
          <a:solidFill>
            <a:schemeClr val="accent1"/>
          </a:solidFill>
          <a:ln/>
        </p:spPr>
      </p:sp>
      <p:pic>
        <p:nvPicPr>
          <p:cNvPr id="17" name="Image 1" descr="FiFileText">    </p:cNvPr>
          <p:cNvPicPr>
            <a:picLocks noChangeAspect="1"/>
          </p:cNvPicPr>
          <p:nvPr/>
        </p:nvPicPr>
        <p:blipFill>
          <a:blip r:embed="rId2"/>
          <a:stretch>
            <a:fillRect/>
          </a:stretch>
        </p:blipFill>
        <p:spPr>
          <a:xfrm>
            <a:off x="3535680" y="1325880"/>
            <a:ext cx="219456" cy="219456"/>
          </a:xfrm>
          <a:prstGeom prst="rect">
            <a:avLst/>
          </a:prstGeom>
        </p:spPr>
      </p:pic>
      <p:sp>
        <p:nvSpPr>
          <p:cNvPr id="18" name="Text 13"/>
          <p:cNvSpPr txBox="1"/>
          <p:nvPr/>
        </p:nvSpPr>
        <p:spPr>
          <a:xfrm>
            <a:off x="397459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Contenuti generati</a:t>
            </a:r>
            <a:endParaRPr lang="it-IT" sz="1300" dirty="0"/>
          </a:p>
        </p:txBody>
      </p:sp>
      <p:sp>
        <p:nvSpPr>
          <p:cNvPr id="19" name="Text 14"/>
          <p:cNvSpPr txBox="1"/>
          <p:nvPr/>
        </p:nvSpPr>
        <p:spPr>
          <a:xfrm>
            <a:off x="3425952" y="1764792"/>
            <a:ext cx="2292096" cy="475488"/>
          </a:xfrm>
          <a:prstGeom prst="rect">
            <a:avLst/>
          </a:prstGeom>
          <a:noFill/>
          <a:ln/>
        </p:spPr>
        <p:txBody>
          <a:bodyPr wrap="square" lIns="0" tIns="0" rIns="0" bIns="0" rtlCol="0" anchor="t"/>
          <a:lstStyle/>
          <a:p>
            <a:pPr indent="0" marL="0">
              <a:buNone/>
            </a:pPr>
            <a:r>
              <a:rPr lang="it-IT" sz="1200" dirty="0">
                <a:solidFill>
                  <a:schemeClr val="tx2"/>
                </a:solidFill>
              </a:rPr>
              <a:t>Titolarità in evoluzione, condizioni d'uso variabili</a:t>
            </a:r>
            <a:endParaRPr lang="it-IT" sz="1200" dirty="0"/>
          </a:p>
        </p:txBody>
      </p:sp>
      <p:sp>
        <p:nvSpPr>
          <p:cNvPr id="20" name="Immagine delle persone"/>
          <p:cNvSpPr/>
          <p:nvPr/>
        </p:nvSpPr>
        <p:spPr>
          <a:xfrm>
            <a:off x="6065520" y="1051560"/>
            <a:ext cx="2621280" cy="1280160"/>
          </a:xfrm>
          <a:prstGeom prst="roundRect">
            <a:avLst>
              <a:gd name="adj" fmla="val 5714"/>
            </a:avLst>
          </a:prstGeom>
          <a:solidFill>
            <a:schemeClr val="bg2"/>
          </a:solidFill>
          <a:ln/>
        </p:spPr>
      </p:sp>
      <p:sp>
        <p:nvSpPr>
          <p:cNvPr id="21" name="cerchio FiUser"/>
          <p:cNvSpPr/>
          <p:nvPr/>
        </p:nvSpPr>
        <p:spPr>
          <a:xfrm>
            <a:off x="6230112" y="1216152"/>
            <a:ext cx="438912" cy="438912"/>
          </a:xfrm>
          <a:prstGeom prst="ellipse">
            <a:avLst/>
          </a:prstGeom>
          <a:solidFill>
            <a:schemeClr val="accent1"/>
          </a:solidFill>
          <a:ln/>
        </p:spPr>
      </p:sp>
      <p:pic>
        <p:nvPicPr>
          <p:cNvPr id="22" name="Image 2" descr="FiUser">    </p:cNvPr>
          <p:cNvPicPr>
            <a:picLocks noChangeAspect="1"/>
          </p:cNvPicPr>
          <p:nvPr/>
        </p:nvPicPr>
        <p:blipFill>
          <a:blip r:embed="rId3"/>
          <a:stretch>
            <a:fillRect/>
          </a:stretch>
        </p:blipFill>
        <p:spPr>
          <a:xfrm>
            <a:off x="6339840" y="1325880"/>
            <a:ext cx="219456" cy="219456"/>
          </a:xfrm>
          <a:prstGeom prst="rect">
            <a:avLst/>
          </a:prstGeom>
        </p:spPr>
      </p:pic>
      <p:sp>
        <p:nvSpPr>
          <p:cNvPr id="23" name="Text 17"/>
          <p:cNvSpPr txBox="1"/>
          <p:nvPr/>
        </p:nvSpPr>
        <p:spPr>
          <a:xfrm>
            <a:off x="6778752" y="117957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Immagine delle persone</a:t>
            </a:r>
            <a:endParaRPr lang="it-IT" sz="1300" dirty="0"/>
          </a:p>
        </p:txBody>
      </p:sp>
      <p:sp>
        <p:nvSpPr>
          <p:cNvPr id="24" name="Text 18"/>
          <p:cNvSpPr txBox="1"/>
          <p:nvPr/>
        </p:nvSpPr>
        <p:spPr>
          <a:xfrm>
            <a:off x="6230112" y="1764792"/>
            <a:ext cx="2292096" cy="475488"/>
          </a:xfrm>
          <a:prstGeom prst="rect">
            <a:avLst/>
          </a:prstGeom>
          <a:noFill/>
          <a:ln/>
        </p:spPr>
        <p:txBody>
          <a:bodyPr wrap="square" lIns="0" tIns="0" rIns="0" bIns="0" rtlCol="0" anchor="t"/>
          <a:lstStyle/>
          <a:p>
            <a:pPr indent="0" marL="0">
              <a:buNone/>
            </a:pPr>
            <a:r>
              <a:rPr lang="it-IT" sz="1200" dirty="0">
                <a:solidFill>
                  <a:schemeClr val="tx2"/>
                </a:solidFill>
              </a:rPr>
              <a:t>Di regola serve il consenso</a:t>
            </a:r>
            <a:endParaRPr lang="it-IT" sz="1200" dirty="0"/>
          </a:p>
        </p:txBody>
      </p:sp>
      <p:sp>
        <p:nvSpPr>
          <p:cNvPr id="25" name="Voce delle persone"/>
          <p:cNvSpPr/>
          <p:nvPr/>
        </p:nvSpPr>
        <p:spPr>
          <a:xfrm>
            <a:off x="457200" y="2514600"/>
            <a:ext cx="2621280" cy="1280160"/>
          </a:xfrm>
          <a:prstGeom prst="roundRect">
            <a:avLst>
              <a:gd name="adj" fmla="val 5714"/>
            </a:avLst>
          </a:prstGeom>
          <a:solidFill>
            <a:schemeClr val="bg2"/>
          </a:solidFill>
          <a:ln/>
        </p:spPr>
      </p:sp>
      <p:sp>
        <p:nvSpPr>
          <p:cNvPr id="26" name="cerchio FiMic"/>
          <p:cNvSpPr/>
          <p:nvPr/>
        </p:nvSpPr>
        <p:spPr>
          <a:xfrm>
            <a:off x="621792" y="2679192"/>
            <a:ext cx="438912" cy="438912"/>
          </a:xfrm>
          <a:prstGeom prst="ellipse">
            <a:avLst/>
          </a:prstGeom>
          <a:solidFill>
            <a:schemeClr val="accent1"/>
          </a:solidFill>
          <a:ln/>
        </p:spPr>
      </p:sp>
      <p:pic>
        <p:nvPicPr>
          <p:cNvPr id="27" name="Image 3" descr="FiMic">    </p:cNvPr>
          <p:cNvPicPr>
            <a:picLocks noChangeAspect="1"/>
          </p:cNvPicPr>
          <p:nvPr/>
        </p:nvPicPr>
        <p:blipFill>
          <a:blip r:embed="rId4"/>
          <a:stretch>
            <a:fillRect/>
          </a:stretch>
        </p:blipFill>
        <p:spPr>
          <a:xfrm>
            <a:off x="731520" y="2788920"/>
            <a:ext cx="219456" cy="219456"/>
          </a:xfrm>
          <a:prstGeom prst="rect">
            <a:avLst/>
          </a:prstGeom>
        </p:spPr>
      </p:pic>
      <p:sp>
        <p:nvSpPr>
          <p:cNvPr id="28" name="Text 21"/>
          <p:cNvSpPr txBox="1"/>
          <p:nvPr/>
        </p:nvSpPr>
        <p:spPr>
          <a:xfrm>
            <a:off x="1170432" y="264261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Voce delle persone</a:t>
            </a:r>
            <a:endParaRPr lang="it-IT" sz="1300" dirty="0"/>
          </a:p>
        </p:txBody>
      </p:sp>
      <p:sp>
        <p:nvSpPr>
          <p:cNvPr id="29" name="Text 22"/>
          <p:cNvSpPr txBox="1"/>
          <p:nvPr/>
        </p:nvSpPr>
        <p:spPr>
          <a:xfrm>
            <a:off x="621792" y="3227832"/>
            <a:ext cx="2292096" cy="475488"/>
          </a:xfrm>
          <a:prstGeom prst="rect">
            <a:avLst/>
          </a:prstGeom>
          <a:noFill/>
          <a:ln/>
        </p:spPr>
        <p:txBody>
          <a:bodyPr wrap="square" lIns="0" tIns="0" rIns="0" bIns="0" rtlCol="0" anchor="t"/>
          <a:lstStyle/>
          <a:p>
            <a:pPr indent="0" marL="0">
              <a:buNone/>
            </a:pPr>
            <a:r>
              <a:rPr lang="it-IT" sz="1200" dirty="0">
                <a:solidFill>
                  <a:schemeClr val="tx2"/>
                </a:solidFill>
              </a:rPr>
              <a:t>Con consenso usi utili; senza, da evitare</a:t>
            </a:r>
            <a:endParaRPr lang="it-IT" sz="1200" dirty="0"/>
          </a:p>
        </p:txBody>
      </p:sp>
      <p:sp>
        <p:nvSpPr>
          <p:cNvPr id="30" name="Stili e opere riconoscibili"/>
          <p:cNvSpPr/>
          <p:nvPr/>
        </p:nvSpPr>
        <p:spPr>
          <a:xfrm>
            <a:off x="3261360" y="2514600"/>
            <a:ext cx="2621280" cy="1280160"/>
          </a:xfrm>
          <a:prstGeom prst="roundRect">
            <a:avLst>
              <a:gd name="adj" fmla="val 5714"/>
            </a:avLst>
          </a:prstGeom>
          <a:solidFill>
            <a:schemeClr val="bg2"/>
          </a:solidFill>
          <a:ln/>
        </p:spPr>
      </p:sp>
      <p:sp>
        <p:nvSpPr>
          <p:cNvPr id="31" name="cerchio FiStar"/>
          <p:cNvSpPr/>
          <p:nvPr/>
        </p:nvSpPr>
        <p:spPr>
          <a:xfrm>
            <a:off x="3425952" y="2679192"/>
            <a:ext cx="438912" cy="438912"/>
          </a:xfrm>
          <a:prstGeom prst="ellipse">
            <a:avLst/>
          </a:prstGeom>
          <a:solidFill>
            <a:schemeClr val="accent1"/>
          </a:solidFill>
          <a:ln/>
        </p:spPr>
      </p:sp>
      <p:pic>
        <p:nvPicPr>
          <p:cNvPr id="32" name="Image 4" descr="FiStar">    </p:cNvPr>
          <p:cNvPicPr>
            <a:picLocks noChangeAspect="1"/>
          </p:cNvPicPr>
          <p:nvPr/>
        </p:nvPicPr>
        <p:blipFill>
          <a:blip r:embed="rId5"/>
          <a:stretch>
            <a:fillRect/>
          </a:stretch>
        </p:blipFill>
        <p:spPr>
          <a:xfrm>
            <a:off x="3535680" y="2788920"/>
            <a:ext cx="219456" cy="219456"/>
          </a:xfrm>
          <a:prstGeom prst="rect">
            <a:avLst/>
          </a:prstGeom>
        </p:spPr>
      </p:pic>
      <p:sp>
        <p:nvSpPr>
          <p:cNvPr id="33" name="Text 25"/>
          <p:cNvSpPr txBox="1"/>
          <p:nvPr/>
        </p:nvSpPr>
        <p:spPr>
          <a:xfrm>
            <a:off x="3974592" y="264261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Stili e opere riconoscibili</a:t>
            </a:r>
            <a:endParaRPr lang="it-IT" sz="1300" dirty="0"/>
          </a:p>
        </p:txBody>
      </p:sp>
      <p:sp>
        <p:nvSpPr>
          <p:cNvPr id="34" name="Text 26"/>
          <p:cNvSpPr txBox="1"/>
          <p:nvPr/>
        </p:nvSpPr>
        <p:spPr>
          <a:xfrm>
            <a:off x="3425952" y="3227832"/>
            <a:ext cx="2292096" cy="475488"/>
          </a:xfrm>
          <a:prstGeom prst="rect">
            <a:avLst/>
          </a:prstGeom>
          <a:noFill/>
          <a:ln/>
        </p:spPr>
        <p:txBody>
          <a:bodyPr wrap="square" lIns="0" tIns="0" rIns="0" bIns="0" rtlCol="0" anchor="t"/>
          <a:lstStyle/>
          <a:p>
            <a:pPr indent="0" marL="0">
              <a:buNone/>
            </a:pPr>
            <a:r>
              <a:rPr lang="it-IT" sz="1200" dirty="0">
                <a:solidFill>
                  <a:schemeClr val="tx2"/>
                </a:solidFill>
              </a:rPr>
              <a:t>Artisti viventi, personaggi, marchi</a:t>
            </a:r>
            <a:endParaRPr lang="it-IT" sz="1200" dirty="0"/>
          </a:p>
        </p:txBody>
      </p:sp>
      <p:sp>
        <p:nvSpPr>
          <p:cNvPr id="35" name="Nei casi dubbi"/>
          <p:cNvSpPr/>
          <p:nvPr/>
        </p:nvSpPr>
        <p:spPr>
          <a:xfrm>
            <a:off x="6065520" y="2514600"/>
            <a:ext cx="2621280" cy="1280160"/>
          </a:xfrm>
          <a:prstGeom prst="roundRect">
            <a:avLst>
              <a:gd name="adj" fmla="val 5714"/>
            </a:avLst>
          </a:prstGeom>
          <a:solidFill>
            <a:schemeClr val="accent6"/>
          </a:solidFill>
          <a:ln/>
        </p:spPr>
      </p:sp>
      <p:sp>
        <p:nvSpPr>
          <p:cNvPr id="36" name="cerchio FiHelpCircle"/>
          <p:cNvSpPr/>
          <p:nvPr/>
        </p:nvSpPr>
        <p:spPr>
          <a:xfrm>
            <a:off x="6230112" y="2679192"/>
            <a:ext cx="438912" cy="438912"/>
          </a:xfrm>
          <a:prstGeom prst="ellipse">
            <a:avLst/>
          </a:prstGeom>
          <a:solidFill>
            <a:schemeClr val="accent1"/>
          </a:solidFill>
          <a:ln/>
        </p:spPr>
      </p:sp>
      <p:pic>
        <p:nvPicPr>
          <p:cNvPr id="37" name="Image 5" descr="FiHelpCircle">    </p:cNvPr>
          <p:cNvPicPr>
            <a:picLocks noChangeAspect="1"/>
          </p:cNvPicPr>
          <p:nvPr/>
        </p:nvPicPr>
        <p:blipFill>
          <a:blip r:embed="rId6"/>
          <a:stretch>
            <a:fillRect/>
          </a:stretch>
        </p:blipFill>
        <p:spPr>
          <a:xfrm>
            <a:off x="6339840" y="2788920"/>
            <a:ext cx="219456" cy="219456"/>
          </a:xfrm>
          <a:prstGeom prst="rect">
            <a:avLst/>
          </a:prstGeom>
        </p:spPr>
      </p:pic>
      <p:sp>
        <p:nvSpPr>
          <p:cNvPr id="38" name="Text 29"/>
          <p:cNvSpPr txBox="1"/>
          <p:nvPr/>
        </p:nvSpPr>
        <p:spPr>
          <a:xfrm>
            <a:off x="6778752" y="2642616"/>
            <a:ext cx="1798320" cy="512064"/>
          </a:xfrm>
          <a:prstGeom prst="rect">
            <a:avLst/>
          </a:prstGeom>
          <a:noFill/>
          <a:ln/>
        </p:spPr>
        <p:txBody>
          <a:bodyPr wrap="square" lIns="0" tIns="0" rIns="0" bIns="0" rtlCol="0" anchor="ctr"/>
          <a:lstStyle/>
          <a:p>
            <a:pPr indent="0" marL="0">
              <a:buNone/>
            </a:pPr>
            <a:r>
              <a:rPr lang="it-IT" sz="1300" b="1" dirty="0">
                <a:solidFill>
                  <a:schemeClr val="tx1"/>
                </a:solidFill>
              </a:rPr>
              <a:t>Nei casi dubbi</a:t>
            </a:r>
            <a:endParaRPr lang="it-IT" sz="1300" dirty="0"/>
          </a:p>
        </p:txBody>
      </p:sp>
      <p:sp>
        <p:nvSpPr>
          <p:cNvPr id="39" name="Text 30"/>
          <p:cNvSpPr txBox="1"/>
          <p:nvPr/>
        </p:nvSpPr>
        <p:spPr>
          <a:xfrm>
            <a:off x="6230112" y="3227832"/>
            <a:ext cx="2292096" cy="475488"/>
          </a:xfrm>
          <a:prstGeom prst="rect">
            <a:avLst/>
          </a:prstGeom>
          <a:noFill/>
          <a:ln/>
        </p:spPr>
        <p:txBody>
          <a:bodyPr wrap="square" lIns="0" tIns="0" rIns="0" bIns="0" rtlCol="0" anchor="t"/>
          <a:lstStyle/>
          <a:p>
            <a:pPr indent="0" marL="0">
              <a:buNone/>
            </a:pPr>
            <a:r>
              <a:rPr lang="it-IT" sz="1200" dirty="0">
                <a:solidFill>
                  <a:schemeClr val="tx2"/>
                </a:solidFill>
              </a:rPr>
              <a:t>Chiedere prima a chi se ne occupa in azienda</a:t>
            </a:r>
            <a:endParaRPr lang="it-IT" sz="1200" dirty="0"/>
          </a:p>
        </p:txBody>
      </p:sp>
      <p:sp>
        <p:nvSpPr>
          <p:cNvPr id="40" name="Text 31"/>
          <p:cNvSpPr txBox="1"/>
          <p:nvPr/>
        </p:nvSpPr>
        <p:spPr>
          <a:xfrm>
            <a:off x="457200" y="4023360"/>
            <a:ext cx="8229600" cy="411480"/>
          </a:xfrm>
          <a:prstGeom prst="rect">
            <a:avLst/>
          </a:prstGeom>
          <a:noFill/>
          <a:ln/>
        </p:spPr>
        <p:txBody>
          <a:bodyPr wrap="square" lIns="0" tIns="0" rIns="0" bIns="0" rtlCol="0" anchor="t"/>
          <a:lstStyle/>
          <a:p>
            <a:pPr indent="0" marL="0">
              <a:buNone/>
            </a:pPr>
            <a:r>
              <a:rPr lang="it-IT" sz="1200" i="1" dirty="0">
                <a:solidFill>
                  <a:schemeClr val="tx2"/>
                </a:solidFill>
              </a:rPr>
              <a:t>Un'introduzione, senza analisi normativa: indica quando serve un approfondimento.</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55</a:t>
            </a:fld>
            <a:endParaRPr lang="it-IT"/>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Verifica e supervisione proporzionate</a:t>
            </a:r>
            <a:endParaRPr lang="it-IT"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Interpretare</a:t>
            </a:r>
            <a:endParaRPr lang="it-IT"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Generare</a:t>
            </a:r>
            <a:endParaRPr lang="it-IT"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it-IT" sz="900" b="1" dirty="0">
                <a:solidFill>
                  <a:schemeClr val="accent1"/>
                </a:solidFill>
              </a:rPr>
              <a:t>Trasformare</a:t>
            </a:r>
            <a:endParaRPr lang="it-IT" sz="900" dirty="0"/>
          </a:p>
        </p:txBody>
      </p:sp>
      <p:sp>
        <p:nvSpPr>
          <p:cNvPr id="10" name="Personale o esplorativo"/>
          <p:cNvSpPr/>
          <p:nvPr/>
        </p:nvSpPr>
        <p:spPr>
          <a:xfrm>
            <a:off x="457200" y="1051560"/>
            <a:ext cx="8229600" cy="731520"/>
          </a:xfrm>
          <a:prstGeom prst="roundRect">
            <a:avLst>
              <a:gd name="adj" fmla="val 10000"/>
            </a:avLst>
          </a:prstGeom>
          <a:solidFill>
            <a:schemeClr val="bg2"/>
          </a:solidFill>
          <a:ln/>
        </p:spPr>
      </p:sp>
      <p:sp>
        <p:nvSpPr>
          <p:cNvPr id="11" name="Text 8"/>
          <p:cNvSpPr txBox="1"/>
          <p:nvPr/>
        </p:nvSpPr>
        <p:spPr>
          <a:xfrm>
            <a:off x="640080" y="1051560"/>
            <a:ext cx="2103120" cy="731520"/>
          </a:xfrm>
          <a:prstGeom prst="rect">
            <a:avLst/>
          </a:prstGeom>
          <a:noFill/>
          <a:ln/>
        </p:spPr>
        <p:txBody>
          <a:bodyPr wrap="square" lIns="0" tIns="0" rIns="0" bIns="0" rtlCol="0" anchor="ctr"/>
          <a:lstStyle/>
          <a:p>
            <a:pPr indent="0" marL="0">
              <a:buNone/>
            </a:pPr>
            <a:r>
              <a:rPr lang="it-IT" sz="1400" b="1" dirty="0">
                <a:solidFill>
                  <a:schemeClr val="accent1"/>
                </a:solidFill>
              </a:rPr>
              <a:t>Personale o esplorativo</a:t>
            </a:r>
            <a:endParaRPr lang="it-IT" sz="1400" dirty="0"/>
          </a:p>
        </p:txBody>
      </p:sp>
      <p:sp>
        <p:nvSpPr>
          <p:cNvPr id="12" name="Text 9"/>
          <p:cNvSpPr txBox="1"/>
          <p:nvPr/>
        </p:nvSpPr>
        <p:spPr>
          <a:xfrm>
            <a:off x="2743200" y="1051560"/>
            <a:ext cx="2651760" cy="731520"/>
          </a:xfrm>
          <a:prstGeom prst="rect">
            <a:avLst/>
          </a:prstGeom>
          <a:noFill/>
          <a:ln/>
        </p:spPr>
        <p:txBody>
          <a:bodyPr wrap="square" lIns="0" tIns="0" rIns="0" bIns="0" rtlCol="0" anchor="ctr"/>
          <a:lstStyle/>
          <a:p>
            <a:pPr indent="0" marL="0">
              <a:buNone/>
            </a:pPr>
            <a:r>
              <a:rPr lang="it-IT" sz="1200" dirty="0">
                <a:solidFill>
                  <a:schemeClr val="tx1"/>
                </a:solidFill>
              </a:rPr>
              <a:t>Schermate, concept, farsi un'idea</a:t>
            </a:r>
            <a:endParaRPr lang="it-IT" sz="1200" dirty="0"/>
          </a:p>
        </p:txBody>
      </p:sp>
      <p:sp>
        <p:nvSpPr>
          <p:cNvPr id="13" name="Text 10"/>
          <p:cNvSpPr txBox="1"/>
          <p:nvPr/>
        </p:nvSpPr>
        <p:spPr>
          <a:xfrm>
            <a:off x="5486400" y="1051560"/>
            <a:ext cx="3063240" cy="731520"/>
          </a:xfrm>
          <a:prstGeom prst="rect">
            <a:avLst/>
          </a:prstGeom>
          <a:noFill/>
          <a:ln/>
        </p:spPr>
        <p:txBody>
          <a:bodyPr wrap="square" lIns="0" tIns="0" rIns="0" bIns="0" rtlCol="0" anchor="ctr"/>
          <a:lstStyle/>
          <a:p>
            <a:pPr indent="0" marL="0">
              <a:buNone/>
            </a:pPr>
            <a:r>
              <a:rPr lang="it-IT" sz="1200" b="1" dirty="0">
                <a:solidFill>
                  <a:schemeClr val="tx1"/>
                </a:solidFill>
              </a:rPr>
              <a:t>Controllo di plausibilità</a:t>
            </a:r>
            <a:endParaRPr lang="it-IT" sz="1200" dirty="0"/>
          </a:p>
        </p:txBody>
      </p:sp>
      <p:sp>
        <p:nvSpPr>
          <p:cNvPr id="14" name="Interno"/>
          <p:cNvSpPr/>
          <p:nvPr/>
        </p:nvSpPr>
        <p:spPr>
          <a:xfrm>
            <a:off x="457200" y="1874520"/>
            <a:ext cx="8229600" cy="731520"/>
          </a:xfrm>
          <a:prstGeom prst="roundRect">
            <a:avLst>
              <a:gd name="adj" fmla="val 10000"/>
            </a:avLst>
          </a:prstGeom>
          <a:solidFill>
            <a:schemeClr val="accent6"/>
          </a:solidFill>
          <a:ln/>
        </p:spPr>
      </p:sp>
      <p:sp>
        <p:nvSpPr>
          <p:cNvPr id="15" name="Text 12"/>
          <p:cNvSpPr txBox="1"/>
          <p:nvPr/>
        </p:nvSpPr>
        <p:spPr>
          <a:xfrm>
            <a:off x="640080" y="1874520"/>
            <a:ext cx="2103120" cy="731520"/>
          </a:xfrm>
          <a:prstGeom prst="rect">
            <a:avLst/>
          </a:prstGeom>
          <a:noFill/>
          <a:ln/>
        </p:spPr>
        <p:txBody>
          <a:bodyPr wrap="square" lIns="0" tIns="0" rIns="0" bIns="0" rtlCol="0" anchor="ctr"/>
          <a:lstStyle/>
          <a:p>
            <a:pPr indent="0" marL="0">
              <a:buNone/>
            </a:pPr>
            <a:r>
              <a:rPr lang="it-IT" sz="1400" b="1" dirty="0">
                <a:solidFill>
                  <a:schemeClr val="accent1"/>
                </a:solidFill>
              </a:rPr>
              <a:t>Interno</a:t>
            </a:r>
            <a:endParaRPr lang="it-IT" sz="1400" dirty="0"/>
          </a:p>
        </p:txBody>
      </p:sp>
      <p:sp>
        <p:nvSpPr>
          <p:cNvPr id="16" name="Text 13"/>
          <p:cNvSpPr txBox="1"/>
          <p:nvPr/>
        </p:nvSpPr>
        <p:spPr>
          <a:xfrm>
            <a:off x="2743200" y="1874520"/>
            <a:ext cx="2651760" cy="731520"/>
          </a:xfrm>
          <a:prstGeom prst="rect">
            <a:avLst/>
          </a:prstGeom>
          <a:noFill/>
          <a:ln/>
        </p:spPr>
        <p:txBody>
          <a:bodyPr wrap="square" lIns="0" tIns="0" rIns="0" bIns="0" rtlCol="0" anchor="ctr"/>
          <a:lstStyle/>
          <a:p>
            <a:pPr indent="0" marL="0">
              <a:buNone/>
            </a:pPr>
            <a:r>
              <a:rPr lang="it-IT" sz="1200" dirty="0">
                <a:solidFill>
                  <a:schemeClr val="tx1"/>
                </a:solidFill>
              </a:rPr>
              <a:t>Verbali, formazione, presentazioni interne</a:t>
            </a:r>
            <a:endParaRPr lang="it-IT" sz="1200" dirty="0"/>
          </a:p>
        </p:txBody>
      </p:sp>
      <p:sp>
        <p:nvSpPr>
          <p:cNvPr id="17" name="Text 14"/>
          <p:cNvSpPr txBox="1"/>
          <p:nvPr/>
        </p:nvSpPr>
        <p:spPr>
          <a:xfrm>
            <a:off x="5486400" y="1874520"/>
            <a:ext cx="3063240" cy="731520"/>
          </a:xfrm>
          <a:prstGeom prst="rect">
            <a:avLst/>
          </a:prstGeom>
          <a:noFill/>
          <a:ln/>
        </p:spPr>
        <p:txBody>
          <a:bodyPr wrap="square" lIns="0" tIns="0" rIns="0" bIns="0" rtlCol="0" anchor="ctr"/>
          <a:lstStyle/>
          <a:p>
            <a:pPr indent="0" marL="0">
              <a:buNone/>
            </a:pPr>
            <a:r>
              <a:rPr lang="it-IT" sz="1200" b="1" dirty="0">
                <a:solidFill>
                  <a:schemeClr val="tx1"/>
                </a:solidFill>
              </a:rPr>
              <a:t>Elementi critici sull'originale, revisione di chi conosce</a:t>
            </a:r>
            <a:endParaRPr lang="it-IT" sz="1200" dirty="0"/>
          </a:p>
        </p:txBody>
      </p:sp>
      <p:sp>
        <p:nvSpPr>
          <p:cNvPr id="18" name="Esterno o decisionale"/>
          <p:cNvSpPr/>
          <p:nvPr/>
        </p:nvSpPr>
        <p:spPr>
          <a:xfrm>
            <a:off x="457200" y="2697480"/>
            <a:ext cx="8229600" cy="731520"/>
          </a:xfrm>
          <a:prstGeom prst="roundRect">
            <a:avLst>
              <a:gd name="adj" fmla="val 10000"/>
            </a:avLst>
          </a:prstGeom>
          <a:solidFill>
            <a:schemeClr val="accent1"/>
          </a:solidFill>
          <a:ln/>
        </p:spPr>
      </p:sp>
      <p:sp>
        <p:nvSpPr>
          <p:cNvPr id="19" name="Text 16"/>
          <p:cNvSpPr txBox="1"/>
          <p:nvPr/>
        </p:nvSpPr>
        <p:spPr>
          <a:xfrm>
            <a:off x="640080" y="2697480"/>
            <a:ext cx="2103120" cy="731520"/>
          </a:xfrm>
          <a:prstGeom prst="rect">
            <a:avLst/>
          </a:prstGeom>
          <a:noFill/>
          <a:ln/>
        </p:spPr>
        <p:txBody>
          <a:bodyPr wrap="square" lIns="0" tIns="0" rIns="0" bIns="0" rtlCol="0" anchor="ctr"/>
          <a:lstStyle/>
          <a:p>
            <a:pPr indent="0" marL="0">
              <a:buNone/>
            </a:pPr>
            <a:r>
              <a:rPr lang="it-IT" sz="1400" b="1" dirty="0">
                <a:solidFill>
                  <a:schemeClr val="bg1"/>
                </a:solidFill>
              </a:rPr>
              <a:t>Esterno o decisionale</a:t>
            </a:r>
            <a:endParaRPr lang="it-IT" sz="1400" dirty="0"/>
          </a:p>
        </p:txBody>
      </p:sp>
      <p:sp>
        <p:nvSpPr>
          <p:cNvPr id="20" name="Text 17"/>
          <p:cNvSpPr txBox="1"/>
          <p:nvPr/>
        </p:nvSpPr>
        <p:spPr>
          <a:xfrm>
            <a:off x="2743200" y="2697480"/>
            <a:ext cx="2651760" cy="731520"/>
          </a:xfrm>
          <a:prstGeom prst="rect">
            <a:avLst/>
          </a:prstGeom>
          <a:noFill/>
          <a:ln/>
        </p:spPr>
        <p:txBody>
          <a:bodyPr wrap="square" lIns="0" tIns="0" rIns="0" bIns="0" rtlCol="0" anchor="ctr"/>
          <a:lstStyle/>
          <a:p>
            <a:pPr indent="0" marL="0">
              <a:buNone/>
            </a:pPr>
            <a:r>
              <a:rPr lang="it-IT" sz="1200" dirty="0">
                <a:solidFill>
                  <a:schemeClr val="bg1"/>
                </a:solidFill>
              </a:rPr>
              <a:t>Pubblico, clienti, prove, decisioni</a:t>
            </a:r>
            <a:endParaRPr lang="it-IT" sz="1200" dirty="0"/>
          </a:p>
        </p:txBody>
      </p:sp>
      <p:sp>
        <p:nvSpPr>
          <p:cNvPr id="21" name="Text 18"/>
          <p:cNvSpPr txBox="1"/>
          <p:nvPr/>
        </p:nvSpPr>
        <p:spPr>
          <a:xfrm>
            <a:off x="5486400" y="2697480"/>
            <a:ext cx="3063240" cy="731520"/>
          </a:xfrm>
          <a:prstGeom prst="rect">
            <a:avLst/>
          </a:prstGeom>
          <a:noFill/>
          <a:ln/>
        </p:spPr>
        <p:txBody>
          <a:bodyPr wrap="square" lIns="0" tIns="0" rIns="0" bIns="0" rtlCol="0" anchor="ctr"/>
          <a:lstStyle/>
          <a:p>
            <a:pPr indent="0" marL="0">
              <a:buNone/>
            </a:pPr>
            <a:r>
              <a:rPr lang="it-IT" sz="1200" b="1" dirty="0">
                <a:solidFill>
                  <a:schemeClr val="bg1"/>
                </a:solidFill>
              </a:rPr>
              <a:t>Provenienza, confronto sistematico, diritti, trasparenza</a:t>
            </a:r>
            <a:endParaRPr lang="it-IT" sz="1200" dirty="0"/>
          </a:p>
        </p:txBody>
      </p:sp>
      <p:sp>
        <p:nvSpPr>
          <p:cNvPr id="22" name="Text 19"/>
          <p:cNvSpPr txBox="1"/>
          <p:nvPr/>
        </p:nvSpPr>
        <p:spPr>
          <a:xfrm>
            <a:off x="457200" y="3611880"/>
            <a:ext cx="2103120" cy="502920"/>
          </a:xfrm>
          <a:prstGeom prst="rect">
            <a:avLst/>
          </a:prstGeom>
          <a:noFill/>
          <a:ln/>
        </p:spPr>
        <p:txBody>
          <a:bodyPr wrap="square" lIns="0" tIns="0" rIns="0" bIns="0" rtlCol="0" anchor="ctr"/>
          <a:lstStyle/>
          <a:p>
            <a:pPr indent="0" marL="0">
              <a:buNone/>
            </a:pPr>
            <a:r>
              <a:rPr lang="it-IT" sz="1300" b="1" dirty="0">
                <a:solidFill>
                  <a:schemeClr val="accent5"/>
                </a:solidFill>
              </a:rPr>
              <a:t>Alzano il livello</a:t>
            </a:r>
            <a:endParaRPr lang="it-IT" sz="1300" dirty="0"/>
          </a:p>
        </p:txBody>
      </p:sp>
      <p:sp>
        <p:nvSpPr>
          <p:cNvPr id="23" name="blocco Persone reali"/>
          <p:cNvSpPr/>
          <p:nvPr/>
        </p:nvSpPr>
        <p:spPr>
          <a:xfrm>
            <a:off x="2560320" y="3611880"/>
            <a:ext cx="2971800" cy="502920"/>
          </a:xfrm>
          <a:prstGeom prst="roundRect">
            <a:avLst>
              <a:gd name="adj" fmla="val 21818"/>
            </a:avLst>
          </a:prstGeom>
          <a:solidFill>
            <a:schemeClr val="bg2"/>
          </a:solidFill>
          <a:ln/>
        </p:spPr>
      </p:sp>
      <p:sp>
        <p:nvSpPr>
          <p:cNvPr id="24" name="Text 21"/>
          <p:cNvSpPr txBox="1"/>
          <p:nvPr/>
        </p:nvSpPr>
        <p:spPr>
          <a:xfrm>
            <a:off x="2606040" y="3611880"/>
            <a:ext cx="2880360" cy="502920"/>
          </a:xfrm>
          <a:prstGeom prst="rect">
            <a:avLst/>
          </a:prstGeom>
          <a:noFill/>
          <a:ln/>
        </p:spPr>
        <p:txBody>
          <a:bodyPr wrap="square" lIns="0" tIns="0" rIns="0" bIns="0" rtlCol="0" anchor="ctr"/>
          <a:lstStyle/>
          <a:p>
            <a:pPr algn="ctr" indent="0" marL="0">
              <a:buNone/>
            </a:pPr>
            <a:r>
              <a:rPr lang="it-IT" sz="1200" b="1" dirty="0">
                <a:solidFill>
                  <a:schemeClr val="tx1"/>
                </a:solidFill>
              </a:rPr>
              <a:t>Persone reali</a:t>
            </a:r>
            <a:endParaRPr lang="it-IT" sz="1200" dirty="0"/>
          </a:p>
        </p:txBody>
      </p:sp>
      <p:sp>
        <p:nvSpPr>
          <p:cNvPr id="25" name="blocco Può sembrare la realtà"/>
          <p:cNvSpPr/>
          <p:nvPr/>
        </p:nvSpPr>
        <p:spPr>
          <a:xfrm>
            <a:off x="5669280" y="3611880"/>
            <a:ext cx="3017520" cy="502920"/>
          </a:xfrm>
          <a:prstGeom prst="roundRect">
            <a:avLst>
              <a:gd name="adj" fmla="val 21818"/>
            </a:avLst>
          </a:prstGeom>
          <a:solidFill>
            <a:schemeClr val="bg2"/>
          </a:solidFill>
          <a:ln/>
        </p:spPr>
      </p:sp>
      <p:sp>
        <p:nvSpPr>
          <p:cNvPr id="26" name="Text 23"/>
          <p:cNvSpPr txBox="1"/>
          <p:nvPr/>
        </p:nvSpPr>
        <p:spPr>
          <a:xfrm>
            <a:off x="5715000" y="3611880"/>
            <a:ext cx="2926080" cy="502920"/>
          </a:xfrm>
          <a:prstGeom prst="rect">
            <a:avLst/>
          </a:prstGeom>
          <a:noFill/>
          <a:ln/>
        </p:spPr>
        <p:txBody>
          <a:bodyPr wrap="square" lIns="0" tIns="0" rIns="0" bIns="0" rtlCol="0" anchor="ctr"/>
          <a:lstStyle/>
          <a:p>
            <a:pPr algn="ctr" indent="0" marL="0">
              <a:buNone/>
            </a:pPr>
            <a:r>
              <a:rPr lang="it-IT" sz="1200" b="1" dirty="0">
                <a:solidFill>
                  <a:schemeClr val="tx1"/>
                </a:solidFill>
              </a:rPr>
              <a:t>Può sembrare la realtà</a:t>
            </a:r>
            <a:endParaRPr lang="it-IT" sz="1200" dirty="0"/>
          </a:p>
        </p:txBody>
      </p:sp>
      <p:sp>
        <p:nvSpPr>
          <p:cNvPr id="27" name="Text 24"/>
          <p:cNvSpPr txBox="1"/>
          <p:nvPr/>
        </p:nvSpPr>
        <p:spPr>
          <a:xfrm>
            <a:off x="457200" y="4251960"/>
            <a:ext cx="8229600" cy="320040"/>
          </a:xfrm>
          <a:prstGeom prst="rect">
            <a:avLst/>
          </a:prstGeom>
          <a:noFill/>
          <a:ln/>
        </p:spPr>
        <p:txBody>
          <a:bodyPr wrap="square" lIns="0" tIns="0" rIns="0" bIns="0" rtlCol="0" anchor="t"/>
          <a:lstStyle/>
          <a:p>
            <a:pPr indent="0" marL="0">
              <a:buNone/>
            </a:pPr>
            <a:r>
              <a:rPr lang="it-IT" sz="1200" b="1" i="1" dirty="0">
                <a:solidFill>
                  <a:schemeClr val="accent1"/>
                </a:solidFill>
              </a:rPr>
              <a:t>Controlli proporzionati: il risparmio di tempo resta, l'affidabilità pure.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56</a:t>
            </a:fld>
            <a:endParaRPr lang="it-IT"/>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Che cosa portiamo a casa</a:t>
            </a:r>
            <a:endParaRPr lang="it-IT" sz="2600" dirty="0"/>
          </a:p>
        </p:txBody>
      </p:sp>
      <p:sp>
        <p:nvSpPr>
          <p:cNvPr id="4" name="competenza 1"/>
          <p:cNvSpPr/>
          <p:nvPr/>
        </p:nvSpPr>
        <p:spPr>
          <a:xfrm>
            <a:off x="457200" y="1024128"/>
            <a:ext cx="4023360" cy="603504"/>
          </a:xfrm>
          <a:prstGeom prst="roundRect">
            <a:avLst>
              <a:gd name="adj" fmla="val 12121"/>
            </a:avLst>
          </a:prstGeom>
          <a:solidFill>
            <a:schemeClr val="bg2"/>
          </a:solidFill>
          <a:ln/>
        </p:spPr>
      </p:sp>
      <p:sp>
        <p:nvSpPr>
          <p:cNvPr id="5" name="Text 2"/>
          <p:cNvSpPr txBox="1"/>
          <p:nvPr/>
        </p:nvSpPr>
        <p:spPr>
          <a:xfrm>
            <a:off x="548640" y="1024128"/>
            <a:ext cx="411480" cy="603504"/>
          </a:xfrm>
          <a:prstGeom prst="rect">
            <a:avLst/>
          </a:prstGeom>
          <a:noFill/>
          <a:ln/>
        </p:spPr>
        <p:txBody>
          <a:bodyPr wrap="square" lIns="0" tIns="0" rIns="0" bIns="0" rtlCol="0" anchor="ctr"/>
          <a:lstStyle/>
          <a:p>
            <a:pPr indent="0" marL="0">
              <a:buNone/>
            </a:pPr>
            <a:r>
              <a:rPr lang="it-IT" sz="1400" b="1" dirty="0">
                <a:solidFill>
                  <a:schemeClr val="accent1"/>
                </a:solidFill>
              </a:rPr>
              <a:t>1</a:t>
            </a:r>
            <a:endParaRPr lang="it-IT" sz="1400" dirty="0"/>
          </a:p>
        </p:txBody>
      </p:sp>
      <p:sp>
        <p:nvSpPr>
          <p:cNvPr id="6" name="Text 3"/>
          <p:cNvSpPr txBox="1"/>
          <p:nvPr/>
        </p:nvSpPr>
        <p:spPr>
          <a:xfrm>
            <a:off x="960120" y="1024128"/>
            <a:ext cx="3474720" cy="603504"/>
          </a:xfrm>
          <a:prstGeom prst="rect">
            <a:avLst/>
          </a:prstGeom>
          <a:noFill/>
          <a:ln/>
        </p:spPr>
        <p:txBody>
          <a:bodyPr wrap="square" lIns="0" tIns="0" rIns="0" bIns="0" rtlCol="0" anchor="ctr"/>
          <a:lstStyle/>
          <a:p>
            <a:pPr indent="0" marL="0">
              <a:buNone/>
            </a:pPr>
            <a:r>
              <a:rPr lang="it-IT" sz="1200" dirty="0">
                <a:solidFill>
                  <a:schemeClr val="tx1"/>
                </a:solidFill>
              </a:rPr>
              <a:t>Spiegare l'AI multimodale e combinare più modalità</a:t>
            </a:r>
            <a:endParaRPr lang="it-IT" sz="1200" dirty="0"/>
          </a:p>
        </p:txBody>
      </p:sp>
      <p:sp>
        <p:nvSpPr>
          <p:cNvPr id="7" name="competenza 2"/>
          <p:cNvSpPr/>
          <p:nvPr/>
        </p:nvSpPr>
        <p:spPr>
          <a:xfrm>
            <a:off x="4663440" y="1024128"/>
            <a:ext cx="4023360" cy="603504"/>
          </a:xfrm>
          <a:prstGeom prst="roundRect">
            <a:avLst>
              <a:gd name="adj" fmla="val 12121"/>
            </a:avLst>
          </a:prstGeom>
          <a:solidFill>
            <a:schemeClr val="bg2"/>
          </a:solidFill>
          <a:ln/>
        </p:spPr>
      </p:sp>
      <p:sp>
        <p:nvSpPr>
          <p:cNvPr id="8" name="Text 5"/>
          <p:cNvSpPr txBox="1"/>
          <p:nvPr/>
        </p:nvSpPr>
        <p:spPr>
          <a:xfrm>
            <a:off x="4754880" y="1024128"/>
            <a:ext cx="411480" cy="603504"/>
          </a:xfrm>
          <a:prstGeom prst="rect">
            <a:avLst/>
          </a:prstGeom>
          <a:noFill/>
          <a:ln/>
        </p:spPr>
        <p:txBody>
          <a:bodyPr wrap="square" lIns="0" tIns="0" rIns="0" bIns="0" rtlCol="0" anchor="ctr"/>
          <a:lstStyle/>
          <a:p>
            <a:pPr indent="0" marL="0">
              <a:buNone/>
            </a:pPr>
            <a:r>
              <a:rPr lang="it-IT" sz="1400" b="1" dirty="0">
                <a:solidFill>
                  <a:schemeClr val="accent1"/>
                </a:solidFill>
              </a:rPr>
              <a:t>2</a:t>
            </a:r>
            <a:endParaRPr lang="it-IT" sz="1400" dirty="0"/>
          </a:p>
        </p:txBody>
      </p:sp>
      <p:sp>
        <p:nvSpPr>
          <p:cNvPr id="9" name="Text 6"/>
          <p:cNvSpPr txBox="1"/>
          <p:nvPr/>
        </p:nvSpPr>
        <p:spPr>
          <a:xfrm>
            <a:off x="5166360" y="1024128"/>
            <a:ext cx="3474720" cy="603504"/>
          </a:xfrm>
          <a:prstGeom prst="rect">
            <a:avLst/>
          </a:prstGeom>
          <a:noFill/>
          <a:ln/>
        </p:spPr>
        <p:txBody>
          <a:bodyPr wrap="square" lIns="0" tIns="0" rIns="0" bIns="0" rtlCol="0" anchor="ctr"/>
          <a:lstStyle/>
          <a:p>
            <a:pPr indent="0" marL="0">
              <a:buNone/>
            </a:pPr>
            <a:r>
              <a:rPr lang="it-IT" sz="1200" dirty="0">
                <a:solidFill>
                  <a:schemeClr val="tx1"/>
                </a:solidFill>
              </a:rPr>
              <a:t>Leggere schermate, diagrammi, foto e documenti visivi</a:t>
            </a:r>
            <a:endParaRPr lang="it-IT" sz="1200" dirty="0"/>
          </a:p>
        </p:txBody>
      </p:sp>
      <p:sp>
        <p:nvSpPr>
          <p:cNvPr id="10" name="competenza 3"/>
          <p:cNvSpPr/>
          <p:nvPr/>
        </p:nvSpPr>
        <p:spPr>
          <a:xfrm>
            <a:off x="457200" y="1700784"/>
            <a:ext cx="4023360" cy="603504"/>
          </a:xfrm>
          <a:prstGeom prst="roundRect">
            <a:avLst>
              <a:gd name="adj" fmla="val 12121"/>
            </a:avLst>
          </a:prstGeom>
          <a:solidFill>
            <a:schemeClr val="bg1"/>
          </a:solidFill>
          <a:ln/>
        </p:spPr>
      </p:sp>
      <p:sp>
        <p:nvSpPr>
          <p:cNvPr id="11" name="Text 8"/>
          <p:cNvSpPr txBox="1"/>
          <p:nvPr/>
        </p:nvSpPr>
        <p:spPr>
          <a:xfrm>
            <a:off x="548640" y="1700784"/>
            <a:ext cx="411480" cy="603504"/>
          </a:xfrm>
          <a:prstGeom prst="rect">
            <a:avLst/>
          </a:prstGeom>
          <a:noFill/>
          <a:ln/>
        </p:spPr>
        <p:txBody>
          <a:bodyPr wrap="square" lIns="0" tIns="0" rIns="0" bIns="0" rtlCol="0" anchor="ctr"/>
          <a:lstStyle/>
          <a:p>
            <a:pPr indent="0" marL="0">
              <a:buNone/>
            </a:pPr>
            <a:r>
              <a:rPr lang="it-IT" sz="1400" b="1" dirty="0">
                <a:solidFill>
                  <a:schemeClr val="accent1"/>
                </a:solidFill>
              </a:rPr>
              <a:t>3</a:t>
            </a:r>
            <a:endParaRPr lang="it-IT" sz="1400" dirty="0"/>
          </a:p>
        </p:txBody>
      </p:sp>
      <p:sp>
        <p:nvSpPr>
          <p:cNvPr id="12" name="Text 9"/>
          <p:cNvSpPr txBox="1"/>
          <p:nvPr/>
        </p:nvSpPr>
        <p:spPr>
          <a:xfrm>
            <a:off x="960120" y="1700784"/>
            <a:ext cx="3474720" cy="603504"/>
          </a:xfrm>
          <a:prstGeom prst="rect">
            <a:avLst/>
          </a:prstGeom>
          <a:noFill/>
          <a:ln/>
        </p:spPr>
        <p:txBody>
          <a:bodyPr wrap="square" lIns="0" tIns="0" rIns="0" bIns="0" rtlCol="0" anchor="ctr"/>
          <a:lstStyle/>
          <a:p>
            <a:pPr indent="0" marL="0">
              <a:buNone/>
            </a:pPr>
            <a:r>
              <a:rPr lang="it-IT" sz="1200" dirty="0">
                <a:solidFill>
                  <a:schemeClr val="tx1"/>
                </a:solidFill>
              </a:rPr>
              <a:t>Generare e modificare immagini per affinamenti</a:t>
            </a:r>
            <a:endParaRPr lang="it-IT" sz="1200" dirty="0"/>
          </a:p>
        </p:txBody>
      </p:sp>
      <p:sp>
        <p:nvSpPr>
          <p:cNvPr id="13" name="competenza 4"/>
          <p:cNvSpPr/>
          <p:nvPr/>
        </p:nvSpPr>
        <p:spPr>
          <a:xfrm>
            <a:off x="4663440" y="1700784"/>
            <a:ext cx="4023360" cy="603504"/>
          </a:xfrm>
          <a:prstGeom prst="roundRect">
            <a:avLst>
              <a:gd name="adj" fmla="val 12121"/>
            </a:avLst>
          </a:prstGeom>
          <a:solidFill>
            <a:schemeClr val="bg1"/>
          </a:solidFill>
          <a:ln/>
        </p:spPr>
      </p:sp>
      <p:sp>
        <p:nvSpPr>
          <p:cNvPr id="14" name="Text 11"/>
          <p:cNvSpPr txBox="1"/>
          <p:nvPr/>
        </p:nvSpPr>
        <p:spPr>
          <a:xfrm>
            <a:off x="4754880" y="1700784"/>
            <a:ext cx="411480" cy="603504"/>
          </a:xfrm>
          <a:prstGeom prst="rect">
            <a:avLst/>
          </a:prstGeom>
          <a:noFill/>
          <a:ln/>
        </p:spPr>
        <p:txBody>
          <a:bodyPr wrap="square" lIns="0" tIns="0" rIns="0" bIns="0" rtlCol="0" anchor="ctr"/>
          <a:lstStyle/>
          <a:p>
            <a:pPr indent="0" marL="0">
              <a:buNone/>
            </a:pPr>
            <a:r>
              <a:rPr lang="it-IT" sz="1400" b="1" dirty="0">
                <a:solidFill>
                  <a:schemeClr val="accent1"/>
                </a:solidFill>
              </a:rPr>
              <a:t>4</a:t>
            </a:r>
            <a:endParaRPr lang="it-IT" sz="1400" dirty="0"/>
          </a:p>
        </p:txBody>
      </p:sp>
      <p:sp>
        <p:nvSpPr>
          <p:cNvPr id="15" name="Text 12"/>
          <p:cNvSpPr txBox="1"/>
          <p:nvPr/>
        </p:nvSpPr>
        <p:spPr>
          <a:xfrm>
            <a:off x="5166360" y="1700784"/>
            <a:ext cx="3474720" cy="603504"/>
          </a:xfrm>
          <a:prstGeom prst="rect">
            <a:avLst/>
          </a:prstGeom>
          <a:noFill/>
          <a:ln/>
        </p:spPr>
        <p:txBody>
          <a:bodyPr wrap="square" lIns="0" tIns="0" rIns="0" bIns="0" rtlCol="0" anchor="ctr"/>
          <a:lstStyle/>
          <a:p>
            <a:pPr indent="0" marL="0">
              <a:buNone/>
            </a:pPr>
            <a:r>
              <a:rPr lang="it-IT" sz="1200" dirty="0">
                <a:solidFill>
                  <a:schemeClr val="tx1"/>
                </a:solidFill>
              </a:rPr>
              <a:t>Valutare se un'immagine è pronta, da rifinire o da affidare</a:t>
            </a:r>
            <a:endParaRPr lang="it-IT" sz="1200" dirty="0"/>
          </a:p>
        </p:txBody>
      </p:sp>
      <p:sp>
        <p:nvSpPr>
          <p:cNvPr id="16" name="competenza 5"/>
          <p:cNvSpPr/>
          <p:nvPr/>
        </p:nvSpPr>
        <p:spPr>
          <a:xfrm>
            <a:off x="457200" y="2377440"/>
            <a:ext cx="4023360" cy="603504"/>
          </a:xfrm>
          <a:prstGeom prst="roundRect">
            <a:avLst>
              <a:gd name="adj" fmla="val 12121"/>
            </a:avLst>
          </a:prstGeom>
          <a:solidFill>
            <a:schemeClr val="bg2"/>
          </a:solidFill>
          <a:ln/>
        </p:spPr>
      </p:sp>
      <p:sp>
        <p:nvSpPr>
          <p:cNvPr id="17" name="Text 14"/>
          <p:cNvSpPr txBox="1"/>
          <p:nvPr/>
        </p:nvSpPr>
        <p:spPr>
          <a:xfrm>
            <a:off x="548640" y="2377440"/>
            <a:ext cx="411480" cy="603504"/>
          </a:xfrm>
          <a:prstGeom prst="rect">
            <a:avLst/>
          </a:prstGeom>
          <a:noFill/>
          <a:ln/>
        </p:spPr>
        <p:txBody>
          <a:bodyPr wrap="square" lIns="0" tIns="0" rIns="0" bIns="0" rtlCol="0" anchor="ctr"/>
          <a:lstStyle/>
          <a:p>
            <a:pPr indent="0" marL="0">
              <a:buNone/>
            </a:pPr>
            <a:r>
              <a:rPr lang="it-IT" sz="1400" b="1" dirty="0">
                <a:solidFill>
                  <a:schemeClr val="accent1"/>
                </a:solidFill>
              </a:rPr>
              <a:t>5</a:t>
            </a:r>
            <a:endParaRPr lang="it-IT" sz="1400" dirty="0"/>
          </a:p>
        </p:txBody>
      </p:sp>
      <p:sp>
        <p:nvSpPr>
          <p:cNvPr id="18" name="Text 15"/>
          <p:cNvSpPr txBox="1"/>
          <p:nvPr/>
        </p:nvSpPr>
        <p:spPr>
          <a:xfrm>
            <a:off x="960120" y="2377440"/>
            <a:ext cx="3474720" cy="603504"/>
          </a:xfrm>
          <a:prstGeom prst="rect">
            <a:avLst/>
          </a:prstGeom>
          <a:noFill/>
          <a:ln/>
        </p:spPr>
        <p:txBody>
          <a:bodyPr wrap="square" lIns="0" tIns="0" rIns="0" bIns="0" rtlCol="0" anchor="ctr"/>
          <a:lstStyle/>
          <a:p>
            <a:pPr indent="0" marL="0">
              <a:buNone/>
            </a:pPr>
            <a:r>
              <a:rPr lang="it-IT" sz="1200" dirty="0">
                <a:solidFill>
                  <a:schemeClr val="tx1"/>
                </a:solidFill>
              </a:rPr>
              <a:t>Trascrizioni, verbali e traduzioni con revisione mirata</a:t>
            </a:r>
            <a:endParaRPr lang="it-IT" sz="1200" dirty="0"/>
          </a:p>
        </p:txBody>
      </p:sp>
      <p:sp>
        <p:nvSpPr>
          <p:cNvPr id="19" name="competenza 6"/>
          <p:cNvSpPr/>
          <p:nvPr/>
        </p:nvSpPr>
        <p:spPr>
          <a:xfrm>
            <a:off x="4663440" y="2377440"/>
            <a:ext cx="4023360" cy="603504"/>
          </a:xfrm>
          <a:prstGeom prst="roundRect">
            <a:avLst>
              <a:gd name="adj" fmla="val 12121"/>
            </a:avLst>
          </a:prstGeom>
          <a:solidFill>
            <a:schemeClr val="bg2"/>
          </a:solidFill>
          <a:ln/>
        </p:spPr>
      </p:sp>
      <p:sp>
        <p:nvSpPr>
          <p:cNvPr id="20" name="Text 17"/>
          <p:cNvSpPr txBox="1"/>
          <p:nvPr/>
        </p:nvSpPr>
        <p:spPr>
          <a:xfrm>
            <a:off x="4754880" y="2377440"/>
            <a:ext cx="411480" cy="603504"/>
          </a:xfrm>
          <a:prstGeom prst="rect">
            <a:avLst/>
          </a:prstGeom>
          <a:noFill/>
          <a:ln/>
        </p:spPr>
        <p:txBody>
          <a:bodyPr wrap="square" lIns="0" tIns="0" rIns="0" bIns="0" rtlCol="0" anchor="ctr"/>
          <a:lstStyle/>
          <a:p>
            <a:pPr indent="0" marL="0">
              <a:buNone/>
            </a:pPr>
            <a:r>
              <a:rPr lang="it-IT" sz="1400" b="1" dirty="0">
                <a:solidFill>
                  <a:schemeClr val="accent1"/>
                </a:solidFill>
              </a:rPr>
              <a:t>6</a:t>
            </a:r>
            <a:endParaRPr lang="it-IT" sz="1400" dirty="0"/>
          </a:p>
        </p:txBody>
      </p:sp>
      <p:sp>
        <p:nvSpPr>
          <p:cNvPr id="21" name="Text 18"/>
          <p:cNvSpPr txBox="1"/>
          <p:nvPr/>
        </p:nvSpPr>
        <p:spPr>
          <a:xfrm>
            <a:off x="5166360" y="2377440"/>
            <a:ext cx="3474720" cy="603504"/>
          </a:xfrm>
          <a:prstGeom prst="rect">
            <a:avLst/>
          </a:prstGeom>
          <a:noFill/>
          <a:ln/>
        </p:spPr>
        <p:txBody>
          <a:bodyPr wrap="square" lIns="0" tIns="0" rIns="0" bIns="0" rtlCol="0" anchor="ctr"/>
          <a:lstStyle/>
          <a:p>
            <a:pPr indent="0" marL="0">
              <a:buNone/>
            </a:pPr>
            <a:r>
              <a:rPr lang="it-IT" sz="1200" dirty="0">
                <a:solidFill>
                  <a:schemeClr val="tx1"/>
                </a:solidFill>
              </a:rPr>
              <a:t>Sintesi video, video formativi, versioni multilingue</a:t>
            </a:r>
            <a:endParaRPr lang="it-IT" sz="1200" dirty="0"/>
          </a:p>
        </p:txBody>
      </p:sp>
      <p:sp>
        <p:nvSpPr>
          <p:cNvPr id="22" name="competenza 7"/>
          <p:cNvSpPr/>
          <p:nvPr/>
        </p:nvSpPr>
        <p:spPr>
          <a:xfrm>
            <a:off x="457200" y="3054096"/>
            <a:ext cx="4023360" cy="603504"/>
          </a:xfrm>
          <a:prstGeom prst="roundRect">
            <a:avLst>
              <a:gd name="adj" fmla="val 12121"/>
            </a:avLst>
          </a:prstGeom>
          <a:solidFill>
            <a:schemeClr val="bg1"/>
          </a:solidFill>
          <a:ln/>
        </p:spPr>
      </p:sp>
      <p:sp>
        <p:nvSpPr>
          <p:cNvPr id="23" name="Text 20"/>
          <p:cNvSpPr txBox="1"/>
          <p:nvPr/>
        </p:nvSpPr>
        <p:spPr>
          <a:xfrm>
            <a:off x="548640" y="3054096"/>
            <a:ext cx="411480" cy="603504"/>
          </a:xfrm>
          <a:prstGeom prst="rect">
            <a:avLst/>
          </a:prstGeom>
          <a:noFill/>
          <a:ln/>
        </p:spPr>
        <p:txBody>
          <a:bodyPr wrap="square" lIns="0" tIns="0" rIns="0" bIns="0" rtlCol="0" anchor="ctr"/>
          <a:lstStyle/>
          <a:p>
            <a:pPr indent="0" marL="0">
              <a:buNone/>
            </a:pPr>
            <a:r>
              <a:rPr lang="it-IT" sz="1400" b="1" dirty="0">
                <a:solidFill>
                  <a:schemeClr val="accent1"/>
                </a:solidFill>
              </a:rPr>
              <a:t>7</a:t>
            </a:r>
            <a:endParaRPr lang="it-IT" sz="1400" dirty="0"/>
          </a:p>
        </p:txBody>
      </p:sp>
      <p:sp>
        <p:nvSpPr>
          <p:cNvPr id="24" name="Text 21"/>
          <p:cNvSpPr txBox="1"/>
          <p:nvPr/>
        </p:nvSpPr>
        <p:spPr>
          <a:xfrm>
            <a:off x="960120" y="3054096"/>
            <a:ext cx="3474720" cy="603504"/>
          </a:xfrm>
          <a:prstGeom prst="rect">
            <a:avLst/>
          </a:prstGeom>
          <a:noFill/>
          <a:ln/>
        </p:spPr>
        <p:txBody>
          <a:bodyPr wrap="square" lIns="0" tIns="0" rIns="0" bIns="0" rtlCol="0" anchor="ctr"/>
          <a:lstStyle/>
          <a:p>
            <a:pPr indent="0" marL="0">
              <a:buNone/>
            </a:pPr>
            <a:r>
              <a:rPr lang="it-IT" sz="1200" dirty="0">
                <a:solidFill>
                  <a:schemeClr val="tx1"/>
                </a:solidFill>
              </a:rPr>
              <a:t>Dal documento a presentazioni chiare e controllate</a:t>
            </a:r>
            <a:endParaRPr lang="it-IT" sz="1200" dirty="0"/>
          </a:p>
        </p:txBody>
      </p:sp>
      <p:sp>
        <p:nvSpPr>
          <p:cNvPr id="25" name="competenza 8"/>
          <p:cNvSpPr/>
          <p:nvPr/>
        </p:nvSpPr>
        <p:spPr>
          <a:xfrm>
            <a:off x="4663440" y="3054096"/>
            <a:ext cx="4023360" cy="603504"/>
          </a:xfrm>
          <a:prstGeom prst="roundRect">
            <a:avLst>
              <a:gd name="adj" fmla="val 12121"/>
            </a:avLst>
          </a:prstGeom>
          <a:solidFill>
            <a:schemeClr val="bg1"/>
          </a:solidFill>
          <a:ln/>
        </p:spPr>
      </p:sp>
      <p:sp>
        <p:nvSpPr>
          <p:cNvPr id="26" name="Text 23"/>
          <p:cNvSpPr txBox="1"/>
          <p:nvPr/>
        </p:nvSpPr>
        <p:spPr>
          <a:xfrm>
            <a:off x="4754880" y="3054096"/>
            <a:ext cx="411480" cy="603504"/>
          </a:xfrm>
          <a:prstGeom prst="rect">
            <a:avLst/>
          </a:prstGeom>
          <a:noFill/>
          <a:ln/>
        </p:spPr>
        <p:txBody>
          <a:bodyPr wrap="square" lIns="0" tIns="0" rIns="0" bIns="0" rtlCol="0" anchor="ctr"/>
          <a:lstStyle/>
          <a:p>
            <a:pPr indent="0" marL="0">
              <a:buNone/>
            </a:pPr>
            <a:r>
              <a:rPr lang="it-IT" sz="1400" b="1" dirty="0">
                <a:solidFill>
                  <a:schemeClr val="accent1"/>
                </a:solidFill>
              </a:rPr>
              <a:t>8</a:t>
            </a:r>
            <a:endParaRPr lang="it-IT" sz="1400" dirty="0"/>
          </a:p>
        </p:txBody>
      </p:sp>
      <p:sp>
        <p:nvSpPr>
          <p:cNvPr id="27" name="Text 24"/>
          <p:cNvSpPr txBox="1"/>
          <p:nvPr/>
        </p:nvSpPr>
        <p:spPr>
          <a:xfrm>
            <a:off x="5166360" y="3054096"/>
            <a:ext cx="3474720" cy="603504"/>
          </a:xfrm>
          <a:prstGeom prst="rect">
            <a:avLst/>
          </a:prstGeom>
          <a:noFill/>
          <a:ln/>
        </p:spPr>
        <p:txBody>
          <a:bodyPr wrap="square" lIns="0" tIns="0" rIns="0" bIns="0" rtlCol="0" anchor="ctr"/>
          <a:lstStyle/>
          <a:p>
            <a:pPr indent="0" marL="0">
              <a:buNone/>
            </a:pPr>
            <a:r>
              <a:rPr lang="it-IT" sz="1200" dirty="0">
                <a:solidFill>
                  <a:schemeClr val="tx1"/>
                </a:solidFill>
              </a:rPr>
              <a:t>Convertire tra modalità, anche per l'accessibilità</a:t>
            </a:r>
            <a:endParaRPr lang="it-IT" sz="1200" dirty="0"/>
          </a:p>
        </p:txBody>
      </p:sp>
      <p:sp>
        <p:nvSpPr>
          <p:cNvPr id="28" name="competenza 9"/>
          <p:cNvSpPr/>
          <p:nvPr/>
        </p:nvSpPr>
        <p:spPr>
          <a:xfrm>
            <a:off x="457200" y="3730752"/>
            <a:ext cx="4023360" cy="603504"/>
          </a:xfrm>
          <a:prstGeom prst="roundRect">
            <a:avLst>
              <a:gd name="adj" fmla="val 12121"/>
            </a:avLst>
          </a:prstGeom>
          <a:solidFill>
            <a:schemeClr val="bg2"/>
          </a:solidFill>
          <a:ln/>
        </p:spPr>
      </p:sp>
      <p:sp>
        <p:nvSpPr>
          <p:cNvPr id="29" name="Text 26"/>
          <p:cNvSpPr txBox="1"/>
          <p:nvPr/>
        </p:nvSpPr>
        <p:spPr>
          <a:xfrm>
            <a:off x="548640" y="3730752"/>
            <a:ext cx="411480" cy="603504"/>
          </a:xfrm>
          <a:prstGeom prst="rect">
            <a:avLst/>
          </a:prstGeom>
          <a:noFill/>
          <a:ln/>
        </p:spPr>
        <p:txBody>
          <a:bodyPr wrap="square" lIns="0" tIns="0" rIns="0" bIns="0" rtlCol="0" anchor="ctr"/>
          <a:lstStyle/>
          <a:p>
            <a:pPr indent="0" marL="0">
              <a:buNone/>
            </a:pPr>
            <a:r>
              <a:rPr lang="it-IT" sz="1400" b="1" dirty="0">
                <a:solidFill>
                  <a:schemeClr val="accent1"/>
                </a:solidFill>
              </a:rPr>
              <a:t>9</a:t>
            </a:r>
            <a:endParaRPr lang="it-IT" sz="1400" dirty="0"/>
          </a:p>
        </p:txBody>
      </p:sp>
      <p:sp>
        <p:nvSpPr>
          <p:cNvPr id="30" name="Text 27"/>
          <p:cNvSpPr txBox="1"/>
          <p:nvPr/>
        </p:nvSpPr>
        <p:spPr>
          <a:xfrm>
            <a:off x="960120" y="3730752"/>
            <a:ext cx="3474720" cy="603504"/>
          </a:xfrm>
          <a:prstGeom prst="rect">
            <a:avLst/>
          </a:prstGeom>
          <a:noFill/>
          <a:ln/>
        </p:spPr>
        <p:txBody>
          <a:bodyPr wrap="square" lIns="0" tIns="0" rIns="0" bIns="0" rtlCol="0" anchor="ctr"/>
          <a:lstStyle/>
          <a:p>
            <a:pPr indent="0" marL="0">
              <a:buNone/>
            </a:pPr>
            <a:r>
              <a:rPr lang="it-IT" sz="1200" dirty="0">
                <a:solidFill>
                  <a:schemeClr val="tx1"/>
                </a:solidFill>
              </a:rPr>
              <a:t>Distinguere realismo, autenticità e accuratezza</a:t>
            </a:r>
            <a:endParaRPr lang="it-IT" sz="1200" dirty="0"/>
          </a:p>
        </p:txBody>
      </p:sp>
      <p:sp>
        <p:nvSpPr>
          <p:cNvPr id="31" name="competenza 10"/>
          <p:cNvSpPr/>
          <p:nvPr/>
        </p:nvSpPr>
        <p:spPr>
          <a:xfrm>
            <a:off x="4663440" y="3730752"/>
            <a:ext cx="4023360" cy="603504"/>
          </a:xfrm>
          <a:prstGeom prst="roundRect">
            <a:avLst>
              <a:gd name="adj" fmla="val 12121"/>
            </a:avLst>
          </a:prstGeom>
          <a:solidFill>
            <a:schemeClr val="bg2"/>
          </a:solidFill>
          <a:ln/>
        </p:spPr>
      </p:sp>
      <p:sp>
        <p:nvSpPr>
          <p:cNvPr id="32" name="Text 29"/>
          <p:cNvSpPr txBox="1"/>
          <p:nvPr/>
        </p:nvSpPr>
        <p:spPr>
          <a:xfrm>
            <a:off x="4754880" y="3730752"/>
            <a:ext cx="411480" cy="603504"/>
          </a:xfrm>
          <a:prstGeom prst="rect">
            <a:avLst/>
          </a:prstGeom>
          <a:noFill/>
          <a:ln/>
        </p:spPr>
        <p:txBody>
          <a:bodyPr wrap="square" lIns="0" tIns="0" rIns="0" bIns="0" rtlCol="0" anchor="ctr"/>
          <a:lstStyle/>
          <a:p>
            <a:pPr indent="0" marL="0">
              <a:buNone/>
            </a:pPr>
            <a:r>
              <a:rPr lang="it-IT" sz="1400" b="1" dirty="0">
                <a:solidFill>
                  <a:schemeClr val="accent1"/>
                </a:solidFill>
              </a:rPr>
              <a:t>10</a:t>
            </a:r>
            <a:endParaRPr lang="it-IT" sz="1400" dirty="0"/>
          </a:p>
        </p:txBody>
      </p:sp>
      <p:sp>
        <p:nvSpPr>
          <p:cNvPr id="33" name="Text 30"/>
          <p:cNvSpPr txBox="1"/>
          <p:nvPr/>
        </p:nvSpPr>
        <p:spPr>
          <a:xfrm>
            <a:off x="5166360" y="3730752"/>
            <a:ext cx="3474720" cy="603504"/>
          </a:xfrm>
          <a:prstGeom prst="rect">
            <a:avLst/>
          </a:prstGeom>
          <a:noFill/>
          <a:ln/>
        </p:spPr>
        <p:txBody>
          <a:bodyPr wrap="square" lIns="0" tIns="0" rIns="0" bIns="0" rtlCol="0" anchor="ctr"/>
          <a:lstStyle/>
          <a:p>
            <a:pPr indent="0" marL="0">
              <a:buNone/>
            </a:pPr>
            <a:r>
              <a:rPr lang="it-IT" sz="1200" dirty="0">
                <a:solidFill>
                  <a:schemeClr val="tx1"/>
                </a:solidFill>
              </a:rPr>
              <a:t>Proporzionare verifiche, trasparenza e diritti</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57</a:t>
            </a:fld>
            <a:endParaRPr lang="it-IT"/>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Una scheda pratica</a:t>
            </a:r>
            <a:endParaRPr lang="it-IT" sz="2600" dirty="0"/>
          </a:p>
        </p:txBody>
      </p:sp>
      <p:sp>
        <p:nvSpPr>
          <p:cNvPr id="4" name="Interpretare"/>
          <p:cNvSpPr/>
          <p:nvPr/>
        </p:nvSpPr>
        <p:spPr>
          <a:xfrm>
            <a:off x="457200" y="1051560"/>
            <a:ext cx="1965960" cy="2697480"/>
          </a:xfrm>
          <a:prstGeom prst="roundRect">
            <a:avLst>
              <a:gd name="adj" fmla="val 3721"/>
            </a:avLst>
          </a:prstGeom>
          <a:solidFill>
            <a:schemeClr val="bg2"/>
          </a:solidFill>
          <a:ln/>
        </p:spPr>
      </p:sp>
      <p:sp>
        <p:nvSpPr>
          <p:cNvPr id="5" name="Text 2"/>
          <p:cNvSpPr txBox="1"/>
          <p:nvPr/>
        </p:nvSpPr>
        <p:spPr>
          <a:xfrm>
            <a:off x="594360" y="1143000"/>
            <a:ext cx="1737360" cy="384048"/>
          </a:xfrm>
          <a:prstGeom prst="rect">
            <a:avLst/>
          </a:prstGeom>
          <a:noFill/>
          <a:ln/>
        </p:spPr>
        <p:txBody>
          <a:bodyPr wrap="square" lIns="0" tIns="0" rIns="0" bIns="0" rtlCol="0" anchor="t"/>
          <a:lstStyle/>
          <a:p>
            <a:pPr indent="0" marL="0">
              <a:buNone/>
            </a:pPr>
            <a:r>
              <a:rPr lang="it-IT" sz="1600" b="1" dirty="0">
                <a:solidFill>
                  <a:schemeClr val="accent1"/>
                </a:solidFill>
              </a:rPr>
              <a:t>Interpretare</a:t>
            </a:r>
            <a:endParaRPr lang="it-IT" sz="1600" dirty="0"/>
          </a:p>
        </p:txBody>
      </p:sp>
      <p:sp>
        <p:nvSpPr>
          <p:cNvPr id="6" name="Text 3"/>
          <p:cNvSpPr txBox="1"/>
          <p:nvPr/>
        </p:nvSpPr>
        <p:spPr>
          <a:xfrm>
            <a:off x="59436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it-IT" sz="1200" dirty="0">
                <a:solidFill>
                  <a:schemeClr val="tx1"/>
                </a:solidFill>
              </a:rPr>
              <a:t>Mostrare invece di descrivere</a:t>
            </a:r>
            <a:endParaRPr lang="it-IT" sz="1200" dirty="0"/>
          </a:p>
          <a:p>
            <a:pPr marL="177800" indent="-177800">
              <a:spcAft>
                <a:spcPts val="600"/>
              </a:spcAft>
              <a:buSzPct val="100000"/>
              <a:buChar char="•"/>
            </a:pPr>
            <a:r>
              <a:rPr lang="it-IT" sz="1200" dirty="0">
                <a:solidFill>
                  <a:schemeClr val="tx1"/>
                </a:solidFill>
              </a:rPr>
              <a:t>Dettagli e numeri sull'originale</a:t>
            </a:r>
            <a:endParaRPr lang="it-IT" sz="1200" dirty="0"/>
          </a:p>
          <a:p>
            <a:pPr marL="177800" indent="-177800">
              <a:spcAft>
                <a:spcPts val="600"/>
              </a:spcAft>
              <a:buSzPct val="100000"/>
              <a:buChar char="•"/>
            </a:pPr>
            <a:r>
              <a:rPr lang="it-IT" sz="1200" dirty="0">
                <a:solidFill>
                  <a:schemeClr val="tx1"/>
                </a:solidFill>
              </a:rPr>
              <a:t>Contesto e provenienza li aggiungiamo noi</a:t>
            </a:r>
            <a:endParaRPr lang="it-IT" sz="1200" dirty="0"/>
          </a:p>
        </p:txBody>
      </p:sp>
      <p:sp>
        <p:nvSpPr>
          <p:cNvPr id="7" name="Generare"/>
          <p:cNvSpPr/>
          <p:nvPr/>
        </p:nvSpPr>
        <p:spPr>
          <a:xfrm>
            <a:off x="2560320" y="1051560"/>
            <a:ext cx="1965960" cy="2697480"/>
          </a:xfrm>
          <a:prstGeom prst="roundRect">
            <a:avLst>
              <a:gd name="adj" fmla="val 3721"/>
            </a:avLst>
          </a:prstGeom>
          <a:solidFill>
            <a:schemeClr val="accent6"/>
          </a:solidFill>
          <a:ln/>
        </p:spPr>
      </p:sp>
      <p:sp>
        <p:nvSpPr>
          <p:cNvPr id="8" name="Text 5"/>
          <p:cNvSpPr txBox="1"/>
          <p:nvPr/>
        </p:nvSpPr>
        <p:spPr>
          <a:xfrm>
            <a:off x="2697480" y="1143000"/>
            <a:ext cx="1737360" cy="384048"/>
          </a:xfrm>
          <a:prstGeom prst="rect">
            <a:avLst/>
          </a:prstGeom>
          <a:noFill/>
          <a:ln/>
        </p:spPr>
        <p:txBody>
          <a:bodyPr wrap="square" lIns="0" tIns="0" rIns="0" bIns="0" rtlCol="0" anchor="t"/>
          <a:lstStyle/>
          <a:p>
            <a:pPr indent="0" marL="0">
              <a:buNone/>
            </a:pPr>
            <a:r>
              <a:rPr lang="it-IT" sz="1600" b="1" dirty="0">
                <a:solidFill>
                  <a:schemeClr val="accent1"/>
                </a:solidFill>
              </a:rPr>
              <a:t>Generare</a:t>
            </a:r>
            <a:endParaRPr lang="it-IT" sz="1600" dirty="0"/>
          </a:p>
        </p:txBody>
      </p:sp>
      <p:sp>
        <p:nvSpPr>
          <p:cNvPr id="9" name="Text 6"/>
          <p:cNvSpPr txBox="1"/>
          <p:nvPr/>
        </p:nvSpPr>
        <p:spPr>
          <a:xfrm>
            <a:off x="269748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it-IT" sz="1200" dirty="0">
                <a:solidFill>
                  <a:schemeClr val="tx1"/>
                </a:solidFill>
              </a:rPr>
              <a:t>Esplorare e produrre varianti</a:t>
            </a:r>
            <a:endParaRPr lang="it-IT" sz="1200" dirty="0"/>
          </a:p>
          <a:p>
            <a:pPr marL="177800" indent="-177800">
              <a:spcAft>
                <a:spcPts val="600"/>
              </a:spcAft>
              <a:buSzPct val="100000"/>
              <a:buChar char="•"/>
            </a:pPr>
            <a:r>
              <a:rPr lang="it-IT" sz="1200" dirty="0">
                <a:solidFill>
                  <a:schemeClr val="tx1"/>
                </a:solidFill>
              </a:rPr>
              <a:t>Affinare per passi</a:t>
            </a:r>
            <a:endParaRPr lang="it-IT" sz="1200" dirty="0"/>
          </a:p>
          <a:p>
            <a:pPr marL="177800" indent="-177800">
              <a:spcAft>
                <a:spcPts val="600"/>
              </a:spcAft>
              <a:buSzPct val="100000"/>
              <a:buChar char="•"/>
            </a:pPr>
            <a:r>
              <a:rPr lang="it-IT" sz="1200" dirty="0">
                <a:solidFill>
                  <a:schemeClr val="tx1"/>
                </a:solidFill>
              </a:rPr>
              <a:t>Marchio, diritti, persone; dichiarare</a:t>
            </a:r>
            <a:endParaRPr lang="it-IT" sz="1200" dirty="0"/>
          </a:p>
        </p:txBody>
      </p:sp>
      <p:sp>
        <p:nvSpPr>
          <p:cNvPr id="10" name="Trasformare"/>
          <p:cNvSpPr/>
          <p:nvPr/>
        </p:nvSpPr>
        <p:spPr>
          <a:xfrm>
            <a:off x="4663440" y="1051560"/>
            <a:ext cx="1965960" cy="2697480"/>
          </a:xfrm>
          <a:prstGeom prst="roundRect">
            <a:avLst>
              <a:gd name="adj" fmla="val 3721"/>
            </a:avLst>
          </a:prstGeom>
          <a:solidFill>
            <a:schemeClr val="bg2"/>
          </a:solidFill>
          <a:ln/>
        </p:spPr>
      </p:sp>
      <p:sp>
        <p:nvSpPr>
          <p:cNvPr id="11" name="Text 8"/>
          <p:cNvSpPr txBox="1"/>
          <p:nvPr/>
        </p:nvSpPr>
        <p:spPr>
          <a:xfrm>
            <a:off x="4800600" y="1143000"/>
            <a:ext cx="1737360" cy="384048"/>
          </a:xfrm>
          <a:prstGeom prst="rect">
            <a:avLst/>
          </a:prstGeom>
          <a:noFill/>
          <a:ln/>
        </p:spPr>
        <p:txBody>
          <a:bodyPr wrap="square" lIns="0" tIns="0" rIns="0" bIns="0" rtlCol="0" anchor="t"/>
          <a:lstStyle/>
          <a:p>
            <a:pPr indent="0" marL="0">
              <a:buNone/>
            </a:pPr>
            <a:r>
              <a:rPr lang="it-IT" sz="1600" b="1" dirty="0">
                <a:solidFill>
                  <a:schemeClr val="accent1"/>
                </a:solidFill>
              </a:rPr>
              <a:t>Trasformare</a:t>
            </a:r>
            <a:endParaRPr lang="it-IT" sz="1600" dirty="0"/>
          </a:p>
        </p:txBody>
      </p:sp>
      <p:sp>
        <p:nvSpPr>
          <p:cNvPr id="12" name="Text 9"/>
          <p:cNvSpPr txBox="1"/>
          <p:nvPr/>
        </p:nvSpPr>
        <p:spPr>
          <a:xfrm>
            <a:off x="480060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it-IT" sz="1200" dirty="0">
                <a:solidFill>
                  <a:schemeClr val="tx1"/>
                </a:solidFill>
              </a:rPr>
              <a:t>Partire dalla fonte originale</a:t>
            </a:r>
            <a:endParaRPr lang="it-IT" sz="1200" dirty="0"/>
          </a:p>
          <a:p>
            <a:pPr marL="177800" indent="-177800">
              <a:spcAft>
                <a:spcPts val="600"/>
              </a:spcAft>
              <a:buSzPct val="100000"/>
              <a:buChar char="•"/>
            </a:pPr>
            <a:r>
              <a:rPr lang="it-IT" sz="1200" dirty="0">
                <a:solidFill>
                  <a:schemeClr val="tx1"/>
                </a:solidFill>
              </a:rPr>
              <a:t>Elementi critici controllati</a:t>
            </a:r>
            <a:endParaRPr lang="it-IT" sz="1200" dirty="0"/>
          </a:p>
          <a:p>
            <a:pPr marL="177800" indent="-177800">
              <a:spcAft>
                <a:spcPts val="600"/>
              </a:spcAft>
              <a:buSzPct val="100000"/>
              <a:buChar char="•"/>
            </a:pPr>
            <a:r>
              <a:rPr lang="it-IT" sz="1200" dirty="0">
                <a:solidFill>
                  <a:schemeClr val="tx1"/>
                </a:solidFill>
              </a:rPr>
              <a:t>Accessibilità su scala</a:t>
            </a:r>
            <a:endParaRPr lang="it-IT" sz="1200" dirty="0"/>
          </a:p>
        </p:txBody>
      </p:sp>
      <p:sp>
        <p:nvSpPr>
          <p:cNvPr id="13" name="Valutare"/>
          <p:cNvSpPr/>
          <p:nvPr/>
        </p:nvSpPr>
        <p:spPr>
          <a:xfrm>
            <a:off x="6766560" y="1051560"/>
            <a:ext cx="1965960" cy="2697480"/>
          </a:xfrm>
          <a:prstGeom prst="roundRect">
            <a:avLst>
              <a:gd name="adj" fmla="val 3721"/>
            </a:avLst>
          </a:prstGeom>
          <a:solidFill>
            <a:schemeClr val="accent6"/>
          </a:solidFill>
          <a:ln/>
        </p:spPr>
      </p:sp>
      <p:sp>
        <p:nvSpPr>
          <p:cNvPr id="14" name="Text 11"/>
          <p:cNvSpPr txBox="1"/>
          <p:nvPr/>
        </p:nvSpPr>
        <p:spPr>
          <a:xfrm>
            <a:off x="6903720" y="1143000"/>
            <a:ext cx="1737360" cy="384048"/>
          </a:xfrm>
          <a:prstGeom prst="rect">
            <a:avLst/>
          </a:prstGeom>
          <a:noFill/>
          <a:ln/>
        </p:spPr>
        <p:txBody>
          <a:bodyPr wrap="square" lIns="0" tIns="0" rIns="0" bIns="0" rtlCol="0" anchor="t"/>
          <a:lstStyle/>
          <a:p>
            <a:pPr indent="0" marL="0">
              <a:buNone/>
            </a:pPr>
            <a:r>
              <a:rPr lang="it-IT" sz="1600" b="1" dirty="0">
                <a:solidFill>
                  <a:schemeClr val="accent1"/>
                </a:solidFill>
              </a:rPr>
              <a:t>Valutare</a:t>
            </a:r>
            <a:endParaRPr lang="it-IT" sz="1600" dirty="0"/>
          </a:p>
        </p:txBody>
      </p:sp>
      <p:sp>
        <p:nvSpPr>
          <p:cNvPr id="15" name="Text 12"/>
          <p:cNvSpPr txBox="1"/>
          <p:nvPr/>
        </p:nvSpPr>
        <p:spPr>
          <a:xfrm>
            <a:off x="690372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it-IT" sz="1200" dirty="0">
                <a:solidFill>
                  <a:schemeClr val="tx1"/>
                </a:solidFill>
              </a:rPr>
              <a:t>Reale? Da dove? Vero?</a:t>
            </a:r>
            <a:endParaRPr lang="it-IT" sz="1200" dirty="0"/>
          </a:p>
          <a:p>
            <a:pPr marL="177800" indent="-177800">
              <a:spcAft>
                <a:spcPts val="600"/>
              </a:spcAft>
              <a:buSzPct val="100000"/>
              <a:buChar char="•"/>
            </a:pPr>
            <a:r>
              <a:rPr lang="it-IT" sz="1200" dirty="0">
                <a:solidFill>
                  <a:schemeClr val="tx1"/>
                </a:solidFill>
              </a:rPr>
              <a:t>Canali indipendenti</a:t>
            </a:r>
            <a:endParaRPr lang="it-IT" sz="1200" dirty="0"/>
          </a:p>
          <a:p>
            <a:pPr marL="177800" indent="-177800">
              <a:spcAft>
                <a:spcPts val="600"/>
              </a:spcAft>
              <a:buSzPct val="100000"/>
              <a:buChar char="•"/>
            </a:pPr>
            <a:r>
              <a:rPr lang="it-IT" sz="1200" dirty="0">
                <a:solidFill>
                  <a:schemeClr val="tx1"/>
                </a:solidFill>
              </a:rPr>
              <a:t>Controlli proporzionati</a:t>
            </a:r>
            <a:endParaRPr lang="it-IT" sz="1200" dirty="0"/>
          </a:p>
        </p:txBody>
      </p:sp>
      <p:sp>
        <p:nvSpPr>
          <p:cNvPr id="16" name="messaggio"/>
          <p:cNvSpPr/>
          <p:nvPr/>
        </p:nvSpPr>
        <p:spPr>
          <a:xfrm>
            <a:off x="457200" y="3931920"/>
            <a:ext cx="8229600" cy="594360"/>
          </a:xfrm>
          <a:prstGeom prst="roundRect">
            <a:avLst>
              <a:gd name="adj" fmla="val 12308"/>
            </a:avLst>
          </a:prstGeom>
          <a:solidFill>
            <a:schemeClr val="tx1"/>
          </a:solidFill>
          <a:ln/>
        </p:spPr>
      </p:sp>
      <p:sp>
        <p:nvSpPr>
          <p:cNvPr id="17" name="Text 14"/>
          <p:cNvSpPr txBox="1"/>
          <p:nvPr/>
        </p:nvSpPr>
        <p:spPr>
          <a:xfrm>
            <a:off x="640080" y="3931920"/>
            <a:ext cx="7863840" cy="594360"/>
          </a:xfrm>
          <a:prstGeom prst="rect">
            <a:avLst/>
          </a:prstGeom>
          <a:noFill/>
          <a:ln/>
        </p:spPr>
        <p:txBody>
          <a:bodyPr wrap="square" lIns="0" tIns="0" rIns="0" bIns="0" rtlCol="0" anchor="ctr"/>
          <a:lstStyle/>
          <a:p>
            <a:pPr indent="0" marL="0">
              <a:buNone/>
            </a:pPr>
            <a:r>
              <a:rPr lang="it-IT" sz="1300" dirty="0">
                <a:solidFill>
                  <a:schemeClr val="bg1"/>
                </a:solidFill>
              </a:rPr>
              <a:t>Sempre: strumenti autorizzati, persone coinvolte informate, regole aziendali seguite.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58</a:t>
            </a:fld>
            <a:endParaRPr lang="it-IT"/>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Che cosa viene dopo</a:t>
            </a:r>
            <a:endParaRPr lang="it-IT" sz="2600" dirty="0"/>
          </a:p>
        </p:txBody>
      </p:sp>
      <p:sp>
        <p:nvSpPr>
          <p:cNvPr id="4" name="aree"/>
          <p:cNvSpPr/>
          <p:nvPr/>
        </p:nvSpPr>
        <p:spPr>
          <a:xfrm>
            <a:off x="457200" y="1097280"/>
            <a:ext cx="3977640" cy="3429000"/>
          </a:xfrm>
          <a:prstGeom prst="roundRect">
            <a:avLst>
              <a:gd name="adj" fmla="val 2133"/>
            </a:avLst>
          </a:prstGeom>
          <a:solidFill>
            <a:schemeClr val="bg2"/>
          </a:solidFill>
          <a:ln/>
        </p:spPr>
      </p:sp>
      <p:sp>
        <p:nvSpPr>
          <p:cNvPr id="5" name="Text 2"/>
          <p:cNvSpPr txBox="1"/>
          <p:nvPr/>
        </p:nvSpPr>
        <p:spPr>
          <a:xfrm>
            <a:off x="685800" y="1261872"/>
            <a:ext cx="3566160" cy="274320"/>
          </a:xfrm>
          <a:prstGeom prst="rect">
            <a:avLst/>
          </a:prstGeom>
          <a:noFill/>
          <a:ln/>
        </p:spPr>
        <p:txBody>
          <a:bodyPr wrap="square" lIns="0" tIns="0" rIns="0" bIns="0" rtlCol="0" anchor="t"/>
          <a:lstStyle/>
          <a:p>
            <a:pPr indent="0" marL="0">
              <a:buNone/>
            </a:pPr>
            <a:r>
              <a:rPr lang="it-IT" sz="1200" b="1" spc="200" kern="0" dirty="0">
                <a:solidFill>
                  <a:schemeClr val="accent2"/>
                </a:solidFill>
              </a:rPr>
              <a:t>PERCORSO</a:t>
            </a:r>
            <a:endParaRPr lang="it-IT" sz="1200" dirty="0"/>
          </a:p>
        </p:txBody>
      </p:sp>
      <p:sp>
        <p:nvSpPr>
          <p:cNvPr id="6" name="Text 3"/>
          <p:cNvSpPr txBox="1"/>
          <p:nvPr/>
        </p:nvSpPr>
        <p:spPr>
          <a:xfrm>
            <a:off x="685800" y="1572768"/>
            <a:ext cx="3566160" cy="292608"/>
          </a:xfrm>
          <a:prstGeom prst="rect">
            <a:avLst/>
          </a:prstGeom>
          <a:noFill/>
          <a:ln/>
        </p:spPr>
        <p:txBody>
          <a:bodyPr wrap="square" lIns="0" tIns="0" rIns="0" bIns="0" rtlCol="0" anchor="t"/>
          <a:lstStyle/>
          <a:p>
            <a:pPr indent="0" marL="0">
              <a:buNone/>
            </a:pPr>
            <a:r>
              <a:rPr lang="it-IT" sz="1400" b="1" dirty="0">
                <a:solidFill>
                  <a:schemeClr val="tx1"/>
                </a:solidFill>
              </a:rPr>
              <a:t>Comprendere l'AI</a:t>
            </a:r>
            <a:endParaRPr lang="it-IT" sz="1400" dirty="0"/>
          </a:p>
        </p:txBody>
      </p:sp>
      <p:sp>
        <p:nvSpPr>
          <p:cNvPr id="7" name="Text 4"/>
          <p:cNvSpPr txBox="1"/>
          <p:nvPr/>
        </p:nvSpPr>
        <p:spPr>
          <a:xfrm>
            <a:off x="685800" y="1856232"/>
            <a:ext cx="3566160" cy="274320"/>
          </a:xfrm>
          <a:prstGeom prst="rect">
            <a:avLst/>
          </a:prstGeom>
          <a:noFill/>
          <a:ln/>
        </p:spPr>
        <p:txBody>
          <a:bodyPr wrap="square" lIns="0" tIns="0" rIns="0" bIns="0" rtlCol="0" anchor="t"/>
          <a:lstStyle/>
          <a:p>
            <a:pPr indent="0" marL="0">
              <a:buNone/>
            </a:pPr>
            <a:r>
              <a:rPr lang="it-IT" sz="1200" dirty="0">
                <a:solidFill>
                  <a:schemeClr val="tx2"/>
                </a:solidFill>
              </a:rPr>
              <a:t>Temi 1-4</a:t>
            </a:r>
            <a:endParaRPr lang="it-IT" sz="1200" dirty="0"/>
          </a:p>
        </p:txBody>
      </p:sp>
      <p:sp>
        <p:nvSpPr>
          <p:cNvPr id="8" name="Text 5"/>
          <p:cNvSpPr txBox="1"/>
          <p:nvPr/>
        </p:nvSpPr>
        <p:spPr>
          <a:xfrm>
            <a:off x="685800" y="2240280"/>
            <a:ext cx="3566160" cy="292608"/>
          </a:xfrm>
          <a:prstGeom prst="rect">
            <a:avLst/>
          </a:prstGeom>
          <a:noFill/>
          <a:ln/>
        </p:spPr>
        <p:txBody>
          <a:bodyPr wrap="square" lIns="0" tIns="0" rIns="0" bIns="0" rtlCol="0" anchor="t"/>
          <a:lstStyle/>
          <a:p>
            <a:pPr indent="0" marL="0">
              <a:buNone/>
            </a:pPr>
            <a:r>
              <a:rPr lang="it-IT" sz="1400" b="1" dirty="0">
                <a:solidFill>
                  <a:schemeClr val="tx1"/>
                </a:solidFill>
              </a:rPr>
              <a:t>Interagire con l'AI</a:t>
            </a:r>
            <a:endParaRPr lang="it-IT" sz="1400" dirty="0"/>
          </a:p>
        </p:txBody>
      </p:sp>
      <p:sp>
        <p:nvSpPr>
          <p:cNvPr id="9" name="Text 6"/>
          <p:cNvSpPr txBox="1"/>
          <p:nvPr/>
        </p:nvSpPr>
        <p:spPr>
          <a:xfrm>
            <a:off x="685800" y="2523744"/>
            <a:ext cx="3566160" cy="274320"/>
          </a:xfrm>
          <a:prstGeom prst="rect">
            <a:avLst/>
          </a:prstGeom>
          <a:noFill/>
          <a:ln/>
        </p:spPr>
        <p:txBody>
          <a:bodyPr wrap="square" lIns="0" tIns="0" rIns="0" bIns="0" rtlCol="0" anchor="t"/>
          <a:lstStyle/>
          <a:p>
            <a:pPr indent="0" marL="0">
              <a:buNone/>
            </a:pPr>
            <a:r>
              <a:rPr lang="it-IT" sz="1200" dirty="0">
                <a:solidFill>
                  <a:schemeClr val="tx2"/>
                </a:solidFill>
              </a:rPr>
              <a:t>Temi 5-7</a:t>
            </a:r>
            <a:endParaRPr lang="it-IT" sz="1200" dirty="0"/>
          </a:p>
        </p:txBody>
      </p:sp>
      <p:sp>
        <p:nvSpPr>
          <p:cNvPr id="10" name="Text 7"/>
          <p:cNvSpPr txBox="1"/>
          <p:nvPr/>
        </p:nvSpPr>
        <p:spPr>
          <a:xfrm>
            <a:off x="685800" y="2907792"/>
            <a:ext cx="3566160" cy="292608"/>
          </a:xfrm>
          <a:prstGeom prst="rect">
            <a:avLst/>
          </a:prstGeom>
          <a:noFill/>
          <a:ln/>
        </p:spPr>
        <p:txBody>
          <a:bodyPr wrap="square" lIns="0" tIns="0" rIns="0" bIns="0" rtlCol="0" anchor="t"/>
          <a:lstStyle/>
          <a:p>
            <a:pPr indent="0" marL="0">
              <a:buNone/>
            </a:pPr>
            <a:r>
              <a:rPr lang="it-IT" sz="1400" b="1" dirty="0">
                <a:solidFill>
                  <a:schemeClr val="accent1"/>
                </a:solidFill>
              </a:rPr>
              <a:t>Esplorare le possibilità dell'AI</a:t>
            </a:r>
            <a:endParaRPr lang="it-IT" sz="1400" dirty="0"/>
          </a:p>
        </p:txBody>
      </p:sp>
      <p:sp>
        <p:nvSpPr>
          <p:cNvPr id="11" name="Text 8"/>
          <p:cNvSpPr txBox="1"/>
          <p:nvPr/>
        </p:nvSpPr>
        <p:spPr>
          <a:xfrm>
            <a:off x="685800" y="3191256"/>
            <a:ext cx="3566160" cy="822960"/>
          </a:xfrm>
          <a:prstGeom prst="rect">
            <a:avLst/>
          </a:prstGeom>
          <a:noFill/>
          <a:ln/>
        </p:spPr>
        <p:txBody>
          <a:bodyPr wrap="square" lIns="0" tIns="0" rIns="0" bIns="0" rtlCol="0" anchor="t"/>
          <a:lstStyle/>
          <a:p>
            <a:pPr indent="0" marL="0">
              <a:buNone/>
            </a:pPr>
            <a:r>
              <a:rPr lang="it-IT" sz="1200" dirty="0">
                <a:solidFill>
                  <a:schemeClr val="tx2"/>
                </a:solidFill>
              </a:rPr>
              <a:t>Tema 8: testi e documenti</a:t>
            </a:r>
            <a:endParaRPr lang="it-IT" sz="1200" dirty="0"/>
          </a:p>
          <a:p>
            <a:pPr indent="0" marL="0">
              <a:buNone/>
            </a:pPr>
            <a:r>
              <a:rPr lang="it-IT" sz="1200" dirty="0">
                <a:solidFill>
                  <a:schemeClr val="tx2"/>
                </a:solidFill>
              </a:rPr>
              <a:t>Tema 9: dati e analisi</a:t>
            </a:r>
            <a:endParaRPr lang="it-IT" sz="1200" dirty="0"/>
          </a:p>
          <a:p>
            <a:pPr indent="0" marL="0">
              <a:buNone/>
            </a:pPr>
            <a:r>
              <a:rPr lang="it-IT" sz="1200" dirty="0">
                <a:solidFill>
                  <a:schemeClr val="tx2"/>
                </a:solidFill>
              </a:rPr>
              <a:t>Tema 10: multimodalità (completato)</a:t>
            </a:r>
            <a:endParaRPr lang="it-IT" sz="1200" dirty="0"/>
          </a:p>
        </p:txBody>
      </p:sp>
      <p:sp>
        <p:nvSpPr>
          <p:cNvPr id="12" name="prossimi"/>
          <p:cNvSpPr/>
          <p:nvPr/>
        </p:nvSpPr>
        <p:spPr>
          <a:xfrm>
            <a:off x="4709160" y="1097280"/>
            <a:ext cx="3977640" cy="3429000"/>
          </a:xfrm>
          <a:prstGeom prst="roundRect">
            <a:avLst>
              <a:gd name="adj" fmla="val 2133"/>
            </a:avLst>
          </a:prstGeom>
          <a:solidFill>
            <a:schemeClr val="tx1"/>
          </a:solidFill>
          <a:ln/>
        </p:spPr>
      </p:sp>
      <p:sp>
        <p:nvSpPr>
          <p:cNvPr id="13" name="Text 10"/>
          <p:cNvSpPr txBox="1"/>
          <p:nvPr/>
        </p:nvSpPr>
        <p:spPr>
          <a:xfrm>
            <a:off x="4937760" y="1261872"/>
            <a:ext cx="3566160" cy="274320"/>
          </a:xfrm>
          <a:prstGeom prst="rect">
            <a:avLst/>
          </a:prstGeom>
          <a:noFill/>
          <a:ln/>
        </p:spPr>
        <p:txBody>
          <a:bodyPr wrap="square" lIns="0" tIns="0" rIns="0" bIns="0" rtlCol="0" anchor="t"/>
          <a:lstStyle/>
          <a:p>
            <a:pPr indent="0" marL="0">
              <a:buNone/>
            </a:pPr>
            <a:r>
              <a:rPr lang="it-IT" sz="1200" b="1" spc="200" kern="0" dirty="0">
                <a:solidFill>
                  <a:schemeClr val="accent1"/>
                </a:solidFill>
              </a:rPr>
              <a:t>PROSSIMO TEMA</a:t>
            </a:r>
            <a:endParaRPr lang="it-IT" sz="1200" dirty="0"/>
          </a:p>
        </p:txBody>
      </p:sp>
      <p:sp>
        <p:nvSpPr>
          <p:cNvPr id="14" name="Text 11"/>
          <p:cNvSpPr txBox="1"/>
          <p:nvPr/>
        </p:nvSpPr>
        <p:spPr>
          <a:xfrm>
            <a:off x="4937760" y="1572768"/>
            <a:ext cx="3566160" cy="594360"/>
          </a:xfrm>
          <a:prstGeom prst="rect">
            <a:avLst/>
          </a:prstGeom>
          <a:noFill/>
          <a:ln/>
        </p:spPr>
        <p:txBody>
          <a:bodyPr wrap="square" lIns="0" tIns="0" rIns="0" bIns="0" rtlCol="0" anchor="t"/>
          <a:lstStyle/>
          <a:p>
            <a:pPr indent="0" marL="0">
              <a:buNone/>
            </a:pPr>
            <a:r>
              <a:rPr lang="it-IT" sz="1500" b="1" dirty="0">
                <a:solidFill>
                  <a:schemeClr val="bg1"/>
                </a:solidFill>
              </a:rPr>
              <a:t>Tema 11: Assistenti, agenti e automazioni</a:t>
            </a:r>
            <a:endParaRPr lang="it-IT" sz="1500" dirty="0"/>
          </a:p>
        </p:txBody>
      </p:sp>
      <p:sp>
        <p:nvSpPr>
          <p:cNvPr id="15" name="Text 12"/>
          <p:cNvSpPr txBox="1"/>
          <p:nvPr/>
        </p:nvSpPr>
        <p:spPr>
          <a:xfrm>
            <a:off x="4937760" y="2176272"/>
            <a:ext cx="3566160" cy="457200"/>
          </a:xfrm>
          <a:prstGeom prst="rect">
            <a:avLst/>
          </a:prstGeom>
          <a:noFill/>
          <a:ln/>
        </p:spPr>
        <p:txBody>
          <a:bodyPr wrap="square" lIns="0" tIns="0" rIns="0" bIns="0" rtlCol="0" anchor="t"/>
          <a:lstStyle/>
          <a:p>
            <a:pPr indent="0" marL="0">
              <a:buNone/>
            </a:pPr>
            <a:r>
              <a:rPr lang="it-IT" sz="1200" i="1" dirty="0">
                <a:solidFill>
                  <a:schemeClr val="accent3"/>
                </a:solidFill>
              </a:rPr>
              <a:t>Dallo strumento conversazionale alla componente operativa</a:t>
            </a:r>
            <a:endParaRPr lang="it-IT" sz="1200" dirty="0"/>
          </a:p>
        </p:txBody>
      </p:sp>
      <p:sp>
        <p:nvSpPr>
          <p:cNvPr id="16" name="Text 13"/>
          <p:cNvSpPr txBox="1"/>
          <p:nvPr/>
        </p:nvSpPr>
        <p:spPr>
          <a:xfrm>
            <a:off x="4937760" y="2743200"/>
            <a:ext cx="3566160" cy="274320"/>
          </a:xfrm>
          <a:prstGeom prst="rect">
            <a:avLst/>
          </a:prstGeom>
          <a:noFill/>
          <a:ln/>
        </p:spPr>
        <p:txBody>
          <a:bodyPr wrap="square" lIns="0" tIns="0" rIns="0" bIns="0" rtlCol="0" anchor="t"/>
          <a:lstStyle/>
          <a:p>
            <a:pPr indent="0" marL="0">
              <a:buNone/>
            </a:pPr>
            <a:r>
              <a:rPr lang="it-IT" sz="1200" b="1" spc="200" kern="0" dirty="0">
                <a:solidFill>
                  <a:schemeClr val="accent1"/>
                </a:solidFill>
              </a:rPr>
              <a:t>NEL PERCORSO</a:t>
            </a:r>
            <a:endParaRPr lang="it-IT" sz="1200" dirty="0"/>
          </a:p>
        </p:txBody>
      </p:sp>
      <p:sp>
        <p:nvSpPr>
          <p:cNvPr id="17" name="Text 14"/>
          <p:cNvSpPr txBox="1"/>
          <p:nvPr/>
        </p:nvSpPr>
        <p:spPr>
          <a:xfrm>
            <a:off x="4937760" y="3063240"/>
            <a:ext cx="3566160" cy="1097280"/>
          </a:xfrm>
          <a:prstGeom prst="rect">
            <a:avLst/>
          </a:prstGeom>
          <a:noFill/>
          <a:ln/>
        </p:spPr>
        <p:txBody>
          <a:bodyPr wrap="square" lIns="0" tIns="0" rIns="0" bIns="0" rtlCol="0" anchor="t"/>
          <a:lstStyle/>
          <a:p>
            <a:pPr marL="177800" indent="-177800">
              <a:spcAft>
                <a:spcPts val="500"/>
              </a:spcAft>
              <a:buSzPct val="100000"/>
              <a:buChar char="•"/>
            </a:pPr>
            <a:r>
              <a:rPr lang="it-IT" sz="1300" dirty="0">
                <a:solidFill>
                  <a:schemeClr val="bg1"/>
                </a:solidFill>
              </a:rPr>
              <a:t>Tema 12: AI e creazione di valore in azienda</a:t>
            </a:r>
            <a:endParaRPr lang="it-IT" sz="1300" dirty="0"/>
          </a:p>
          <a:p>
            <a:pPr marL="177800" indent="-177800">
              <a:spcAft>
                <a:spcPts val="500"/>
              </a:spcAft>
              <a:buSzPct val="100000"/>
              <a:buChar char="•"/>
            </a:pPr>
            <a:r>
              <a:rPr lang="it-IT" sz="1300" dirty="0">
                <a:solidFill>
                  <a:schemeClr val="bg1"/>
                </a:solidFill>
              </a:rPr>
              <a:t>Tema 14: dati e conoscenza aziendale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59</a:t>
            </a:fld>
            <a:endParaRPr lang="it-IT"/>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Fonti e riferimenti</a:t>
            </a:r>
            <a:endParaRPr lang="it-IT" sz="2600" dirty="0"/>
          </a:p>
        </p:txBody>
      </p:sp>
      <p:sp>
        <p:nvSpPr>
          <p:cNvPr id="4" name="cerchio FiBookmark"/>
          <p:cNvSpPr/>
          <p:nvPr/>
        </p:nvSpPr>
        <p:spPr>
          <a:xfrm>
            <a:off x="457200" y="1143000"/>
            <a:ext cx="502920" cy="502920"/>
          </a:xfrm>
          <a:prstGeom prst="ellipse">
            <a:avLst/>
          </a:prstGeom>
          <a:solidFill>
            <a:schemeClr val="accent1"/>
          </a:solidFill>
          <a:ln/>
        </p:spPr>
      </p:sp>
      <p:pic>
        <p:nvPicPr>
          <p:cNvPr id="5" name="Image 0" descr="FiBookmark">    </p:cNvPr>
          <p:cNvPicPr>
            <a:picLocks noChangeAspect="1"/>
          </p:cNvPicPr>
          <p:nvPr/>
        </p:nvPicPr>
        <p:blipFill>
          <a:blip r:embed="rId1"/>
          <a:stretch>
            <a:fillRect/>
          </a:stretch>
        </p:blipFill>
        <p:spPr>
          <a:xfrm>
            <a:off x="582930" y="1268730"/>
            <a:ext cx="251460" cy="251460"/>
          </a:xfrm>
          <a:prstGeom prst="rect">
            <a:avLst/>
          </a:prstGeom>
        </p:spPr>
      </p:pic>
      <p:sp>
        <p:nvSpPr>
          <p:cNvPr id="6" name="Text 2"/>
          <p:cNvSpPr txBox="1"/>
          <p:nvPr/>
        </p:nvSpPr>
        <p:spPr>
          <a:xfrm>
            <a:off x="1188720" y="1051560"/>
            <a:ext cx="7498080" cy="3108960"/>
          </a:xfrm>
          <a:prstGeom prst="rect">
            <a:avLst/>
          </a:prstGeom>
          <a:noFill/>
          <a:ln/>
        </p:spPr>
        <p:txBody>
          <a:bodyPr wrap="square" lIns="0" tIns="0" rIns="0" bIns="0" rtlCol="0" anchor="t"/>
          <a:lstStyle/>
          <a:p>
            <a:pPr marL="177800" indent="-177800">
              <a:spcAft>
                <a:spcPts val="800"/>
              </a:spcAft>
              <a:buSzPct val="100000"/>
              <a:buChar char="•"/>
            </a:pPr>
            <a:r>
              <a:rPr lang="it-IT" sz="1200" dirty="0">
                <a:solidFill>
                  <a:schemeClr val="tx1"/>
                </a:solidFill>
              </a:rPr>
              <a:t>Regolamento (UE) 2024/1689 (AI Act), art. 50: obblighi di trasparenza, applicabili dal 2 agosto 2026.</a:t>
            </a:r>
            <a:endParaRPr lang="it-IT" sz="1200" dirty="0"/>
          </a:p>
          <a:p>
            <a:pPr marL="177800" indent="-177800">
              <a:spcAft>
                <a:spcPts val="800"/>
              </a:spcAft>
              <a:buSzPct val="100000"/>
              <a:buChar char="•"/>
            </a:pPr>
            <a:r>
              <a:rPr lang="it-IT" sz="1200" dirty="0">
                <a:solidFill>
                  <a:schemeClr val="tx1"/>
                </a:solidFill>
              </a:rPr>
              <a:t>Regolamento (UE) 2026/1744 (GUUE 24 luglio 2026): marcatura dei sistemi già sul mercato entro il 2 dicembre 2026 (considerando 38).</a:t>
            </a:r>
            <a:endParaRPr lang="it-IT" sz="1200" dirty="0"/>
          </a:p>
          <a:p>
            <a:pPr marL="177800" indent="-177800">
              <a:spcAft>
                <a:spcPts val="800"/>
              </a:spcAft>
              <a:buSzPct val="100000"/>
              <a:buChar char="•"/>
            </a:pPr>
            <a:r>
              <a:rPr lang="it-IT" sz="1200" dirty="0">
                <a:solidFill>
                  <a:schemeClr val="tx1"/>
                </a:solidFill>
              </a:rPr>
              <a:t>Commissione europea: linee guida sull'art. 50 e codice di buone pratiche sulla trasparenza dei contenuti generati (10 giugno 2026, adesione volontaria), digital-strategy.ec.europa.eu.</a:t>
            </a:r>
            <a:endParaRPr lang="it-IT" sz="1200" dirty="0"/>
          </a:p>
          <a:p>
            <a:pPr marL="177800" indent="-177800">
              <a:spcAft>
                <a:spcPts val="800"/>
              </a:spcAft>
              <a:buSzPct val="100000"/>
              <a:buChar char="•"/>
            </a:pPr>
            <a:r>
              <a:rPr lang="it-IT" sz="1200" dirty="0">
                <a:solidFill>
                  <a:schemeClr val="tx1"/>
                </a:solidFill>
              </a:rPr>
              <a:t>C2PA, Coalition for Content Provenance and Authenticity: standard per le credenziali di contenuto (c2pa.org).</a:t>
            </a:r>
            <a:endParaRPr lang="it-IT" sz="1200" dirty="0"/>
          </a:p>
          <a:p>
            <a:pPr marL="177800" indent="-177800">
              <a:spcAft>
                <a:spcPts val="800"/>
              </a:spcAft>
              <a:buSzPct val="100000"/>
              <a:buChar char="•"/>
            </a:pPr>
            <a:r>
              <a:rPr lang="it-IT" sz="1200" dirty="0">
                <a:solidFill>
                  <a:schemeClr val="tx1"/>
                </a:solidFill>
              </a:rPr>
              <a:t>Frode vocale ai danni di un'azienda energetica britannica, The Wall Street Journal, agosto 2019. Frode in videochiamata presso la sede di Hong Kong di Arup, CNN e Financial Times, 2024.</a:t>
            </a:r>
            <a:endParaRPr lang="it-IT" sz="1200" dirty="0"/>
          </a:p>
          <a:p>
            <a:pPr marL="177800" indent="-177800">
              <a:spcAft>
                <a:spcPts val="800"/>
              </a:spcAft>
              <a:buSzPct val="100000"/>
              <a:buChar char="•"/>
            </a:pPr>
            <a:r>
              <a:rPr lang="it-IT" sz="1200" dirty="0">
                <a:solidFill>
                  <a:schemeClr val="tx1"/>
                </a:solidFill>
              </a:rPr>
              <a:t>Esempi di schermate, trascrizioni, immagini, documenti e slide: fittizi.</a:t>
            </a:r>
            <a:endParaRPr lang="it-IT" sz="1200" dirty="0"/>
          </a:p>
        </p:txBody>
      </p:sp>
      <p:sp>
        <p:nvSpPr>
          <p:cNvPr id="7" name="Text 3"/>
          <p:cNvSpPr txBox="1"/>
          <p:nvPr/>
        </p:nvSpPr>
        <p:spPr>
          <a:xfrm>
            <a:off x="1188720" y="4206240"/>
            <a:ext cx="7498080" cy="320040"/>
          </a:xfrm>
          <a:prstGeom prst="rect">
            <a:avLst/>
          </a:prstGeom>
          <a:noFill/>
          <a:ln/>
        </p:spPr>
        <p:txBody>
          <a:bodyPr wrap="square" lIns="0" tIns="0" rIns="0" bIns="0" rtlCol="0" anchor="t"/>
          <a:lstStyle/>
          <a:p>
            <a:pPr indent="0" marL="0">
              <a:buNone/>
            </a:pPr>
            <a:r>
              <a:rPr lang="it-IT" sz="1200" i="1" dirty="0">
                <a:solidFill>
                  <a:schemeClr val="tx2"/>
                </a:solidFill>
              </a:rPr>
              <a:t>Fonti verificate a ottobre 2026: ricontrollarle prima di ogni edizione.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60</a:t>
            </a:fld>
            <a:endParaRPr lang="it-IT"/>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10: AI multimodale e creazione di contenuti</dc:title>
  <dc:subject>Percorso AI Literacy</dc:subject>
  <dc:creator>Percorso AI Literacy</dc:creator>
  <cp:lastModifiedBy>Percorso AI Literacy</cp:lastModifiedBy>
  <cp:revision>1</cp:revision>
  <dcterms:created xsi:type="dcterms:W3CDTF">2026-10-16T16:00:22Z</dcterms:created>
  <dcterms:modified xsi:type="dcterms:W3CDTF">2026-10-16T16:00:22Z</dcterms:modified>
</cp:coreProperties>
</file>