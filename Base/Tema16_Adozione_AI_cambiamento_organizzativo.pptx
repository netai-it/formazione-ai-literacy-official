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4.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5d68305d-a05a-794c-d0a4-ccbda6829b31}">
          <p14:sldIdLst>
            <p14:sldId id="256"/>
            <p14:sldId id="257"/>
            <p14:sldId id="258"/>
            <p14:sldId id="259"/>
            <p14:sldId id="260"/>
            <p14:sldId id="261"/>
            <p14:sldId id="262"/>
          </p14:sldIdLst>
        </p14:section>
        <p14:section name="16.1 Che cosa significa adottare" id="{53f18878-d607-9b19-7ed4-e6a5a5bbd398}">
          <p14:sldIdLst>
            <p14:sldId id="263"/>
            <p14:sldId id="264"/>
            <p14:sldId id="265"/>
            <p14:sldId id="266"/>
            <p14:sldId id="267"/>
            <p14:sldId id="268"/>
            <p14:sldId id="269"/>
            <p14:sldId id="270"/>
            <p14:sldId id="271"/>
          </p14:sldIdLst>
        </p14:section>
        <p14:section name="16.2 Fattori e ostacoli" id="{949037d2-6f8f-8ea9-0f4f-b3afc7ae9f74}">
          <p14:sldIdLst>
            <p14:sldId id="272"/>
            <p14:sldId id="273"/>
            <p14:sldId id="274"/>
            <p14:sldId id="275"/>
            <p14:sldId id="276"/>
            <p14:sldId id="277"/>
            <p14:sldId id="278"/>
            <p14:sldId id="279"/>
            <p14:sldId id="280"/>
          </p14:sldIdLst>
        </p14:section>
        <p14:section name="16.3 Leadership e management" id="{39838b78-2c32-720e-b3ca-fc84525c7044}">
          <p14:sldIdLst>
            <p14:sldId id="281"/>
            <p14:sldId id="282"/>
            <p14:sldId id="283"/>
            <p14:sldId id="284"/>
            <p14:sldId id="285"/>
            <p14:sldId id="286"/>
            <p14:sldId id="287"/>
            <p14:sldId id="288"/>
          </p14:sldIdLst>
        </p14:section>
        <p14:section name="16.4 Competenze e formazione" id="{5d3de9f8-0169-342d-e4db-4841875a35cb}">
          <p14:sldIdLst>
            <p14:sldId id="289"/>
            <p14:sldId id="290"/>
            <p14:sldId id="291"/>
            <p14:sldId id="292"/>
            <p14:sldId id="293"/>
            <p14:sldId id="294"/>
            <p14:sldId id="295"/>
            <p14:sldId id="296"/>
          </p14:sldIdLst>
        </p14:section>
        <p14:section name="16.5 Sperimentazione e diffusione" id="{15082db4-d448-1cdb-2a83-4115eb97d0ac}">
          <p14:sldIdLst>
            <p14:sldId id="297"/>
            <p14:sldId id="298"/>
            <p14:sldId id="299"/>
            <p14:sldId id="300"/>
            <p14:sldId id="301"/>
            <p14:sldId id="302"/>
            <p14:sldId id="303"/>
          </p14:sldIdLst>
        </p14:section>
        <p14:section name="16.6 Cultura, fiducia, partecipazione" id="{71925444-09f4-a204-9815-45fdef4b06ef}">
          <p14:sldIdLst>
            <p14:sldId id="304"/>
            <p14:sldId id="305"/>
            <p14:sldId id="306"/>
            <p14:sldId id="307"/>
            <p14:sldId id="308"/>
            <p14:sldId id="309"/>
            <p14:sldId id="310"/>
          </p14:sldIdLst>
        </p14:section>
        <p14:section name="16.7 Supporto e coordinamento" id="{c9de081f-0435-473c-1247-5e01315586af}">
          <p14:sldIdLst>
            <p14:sldId id="311"/>
            <p14:sldId id="312"/>
            <p14:sldId id="313"/>
            <p14:sldId id="314"/>
            <p14:sldId id="315"/>
            <p14:sldId id="316"/>
            <p14:sldId id="317"/>
          </p14:sldIdLst>
        </p14:section>
        <p14:section name="16.8 Monitoraggio e sostenibilità" id="{2b8907a3-ed7a-7243-3754-9a546b2ab33b}">
          <p14:sldIdLst>
            <p14:sldId id="318"/>
            <p14:sldId id="319"/>
            <p14:sldId id="320"/>
            <p14:sldId id="321"/>
            <p14:sldId id="322"/>
            <p14:sldId id="323"/>
            <p14:sldId id="324"/>
            <p14:sldId id="325"/>
          </p14:sldIdLst>
        </p14:section>
        <p14:section name="Conclusioni" id="{3fdfdc73-22d1-f760-4f10-d966068323cd}">
          <p14:sldIdLst>
            <p14:sldId id="326"/>
            <p14:sldId id="327"/>
            <p14:sldId id="328"/>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Due reparti di un'azienda fittizia (dati inventati)</a:t>
            </a:r>
          </a:p>
        </c:rich>
      </c:tx>
      <c:layout/>
      <c:overlay val="0"/>
    </c:title>
    <c:autoTitleDeleted val="0"/>
    <c:plotArea>
      <c:layout/>
      <c:barChart>
        <c:barDir val="col"/>
        <c:grouping val="clustered"/>
        <c:varyColors val="0"/>
        <c:ser>
          <c:idx val="0"/>
          <c:order val="0"/>
          <c:tx>
            <c:strRef>
              <c:f>Sheet1!$B$1</c:f>
              <c:strCache>
                <c:ptCount val="1"/>
                <c:pt idx="0">
                  <c:v>Reparto Alfa</c:v>
                </c:pt>
              </c:strCache>
            </c:strRef>
          </c:tx>
          <c:spPr>
            <a:solidFill>
              <a:srgbClr val="5B6573"/>
            </a:solidFill>
            <a:effectLst/>
          </c:spPr>
          <c:invertIfNegative val="0"/>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cat>
            <c:multiLvlStrRef>
              <c:f>Sheet1!$A$2:$A$4</c:f>
              <c:multiLvlStrCache>
                <c:ptCount val="3"/>
                <c:lvl>
                  <c:pt idx="0">
                    <c:v>Utenti attivi, %</c:v>
                  </c:pt>
                  <c:pt idx="1">
                    <c:v>Uso su attività rilevanti, %</c:v>
                  </c:pt>
                  <c:pt idx="2">
                    <c:v>Impatto stimato, indice</c:v>
                  </c:pt>
                </c:lvl>
              </c:multiLvlStrCache>
            </c:multiLvlStrRef>
          </c:cat>
          <c:val>
            <c:numRef>
              <c:f>Sheet1!$B$2:$B$4</c:f>
              <c:numCache>
                <c:formatCode>General</c:formatCode>
                <c:ptCount val="3"/>
                <c:pt idx="0">
                  <c:v>85</c:v>
                </c:pt>
                <c:pt idx="1">
                  <c:v>20</c:v>
                </c:pt>
                <c:pt idx="2">
                  <c:v>25</c:v>
                </c:pt>
              </c:numCache>
            </c:numRef>
          </c:val>
        </c:ser>
        <c:ser>
          <c:idx val="1"/>
          <c:order val="1"/>
          <c:tx>
            <c:strRef>
              <c:f>Sheet1!$C$1</c:f>
              <c:strCache>
                <c:ptCount val="1"/>
                <c:pt idx="0">
                  <c:v>Reparto Beta</c:v>
                </c:pt>
              </c:strCache>
            </c:strRef>
          </c:tx>
          <c:spPr>
            <a:solidFill>
              <a:srgbClr val="2E7D7A"/>
            </a:solidFill>
            <a:effectLst/>
          </c:spPr>
          <c:invertIfNegative val="0"/>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cat>
            <c:multiLvlStrRef>
              <c:f>Sheet1!$A$2:$A$4</c:f>
              <c:multiLvlStrCache>
                <c:ptCount val="3"/>
                <c:lvl>
                  <c:pt idx="0">
                    <c:v>Utenti attivi, %</c:v>
                  </c:pt>
                  <c:pt idx="1">
                    <c:v>Uso su attività rilevanti, %</c:v>
                  </c:pt>
                  <c:pt idx="2">
                    <c:v>Impatto stimato, indice</c:v>
                  </c:pt>
                </c:lvl>
              </c:multiLvlStrCache>
            </c:multiLvlStrRef>
          </c:cat>
          <c:val>
            <c:numRef>
              <c:f>Sheet1!$C$2:$C$4</c:f>
              <c:numCache>
                <c:formatCode>General</c:formatCode>
                <c:ptCount val="3"/>
                <c:pt idx="0">
                  <c:v>40</c:v>
                </c:pt>
                <c:pt idx="1">
                  <c:v>70</c:v>
                </c:pt>
                <c:pt idx="2">
                  <c:v>60</c:v>
                </c:pt>
              </c:numCache>
            </c:numRef>
          </c:val>
        </c:ser>
        <c:dLbls>
          <c:numFmt formatCode="#,##0" sourceLinked="0"/>
          <c:txPr>
            <a:bodyPr/>
            <a:lstStyle/>
            <a:p>
              <a:pPr>
                <a:defRPr b="0" i="0" strike="noStrike" sz="1100" u="none">
                  <a:solidFill>
                    <a:srgbClr val="2226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Utenti abituali, % (dati inventati)</a:t>
            </a:r>
          </a:p>
        </c:rich>
      </c:tx>
      <c:layout/>
      <c:overlay val="0"/>
    </c:title>
    <c:autoTitleDeleted val="0"/>
    <c:plotArea>
      <c:layout/>
      <c:lineChart>
        <c:varyColors val="0"/>
        <c:ser>
          <c:idx val="0"/>
          <c:order val="0"/>
          <c:tx>
            <c:strRef>
              <c:f>Sheet1!$B$1</c:f>
              <c:strCache>
                <c:ptCount val="1"/>
                <c:pt idx="0">
                  <c:v>Percorso sostenuto</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5</c:v>
                </c:pt>
                <c:pt idx="1">
                  <c:v>8</c:v>
                </c:pt>
                <c:pt idx="2">
                  <c:v>12</c:v>
                </c:pt>
                <c:pt idx="3">
                  <c:v>18</c:v>
                </c:pt>
                <c:pt idx="4">
                  <c:v>26</c:v>
                </c:pt>
                <c:pt idx="5">
                  <c:v>35</c:v>
                </c:pt>
                <c:pt idx="6">
                  <c:v>44</c:v>
                </c:pt>
                <c:pt idx="7">
                  <c:v>51</c:v>
                </c:pt>
                <c:pt idx="8">
                  <c:v>56</c:v>
                </c:pt>
                <c:pt idx="9">
                  <c:v>59</c:v>
                </c:pt>
                <c:pt idx="10">
                  <c:v>61</c:v>
                </c:pt>
                <c:pt idx="11">
                  <c:v>62</c:v>
                </c:pt>
              </c:numCache>
            </c:numRef>
          </c:val>
          <c:smooth val="0"/>
        </c:ser>
        <c:ser>
          <c:idx val="1"/>
          <c:order val="1"/>
          <c:tx>
            <c:strRef>
              <c:f>Sheet1!$C$1</c:f>
              <c:strCache>
                <c:ptCount val="1"/>
                <c:pt idx="0">
                  <c:v>Lancio come evento</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6F1C"/>
              </a:solidFill>
              <a:ln w="9525" cap="flat">
                <a:solidFill>
                  <a:srgbClr val="A86F1C"/>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30</c:v>
                </c:pt>
                <c:pt idx="1">
                  <c:v>38</c:v>
                </c:pt>
                <c:pt idx="2">
                  <c:v>32</c:v>
                </c:pt>
                <c:pt idx="3">
                  <c:v>25</c:v>
                </c:pt>
                <c:pt idx="4">
                  <c:v>20</c:v>
                </c:pt>
                <c:pt idx="5">
                  <c:v>17</c:v>
                </c:pt>
                <c:pt idx="6">
                  <c:v>15</c:v>
                </c:pt>
                <c:pt idx="7">
                  <c:v>14</c:v>
                </c:pt>
                <c:pt idx="8">
                  <c:v>13</c:v>
                </c:pt>
                <c:pt idx="9">
                  <c:v>13</c:v>
                </c:pt>
                <c:pt idx="10">
                  <c:v>12</c:v>
                </c:pt>
                <c:pt idx="11">
                  <c:v>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Il modello 70-20-10 (indicativo, discusso)</a:t>
            </a:r>
          </a:p>
        </c:rich>
      </c:tx>
      <c:layout/>
      <c:overlay val="0"/>
    </c:title>
    <c:autoTitleDeleted val="0"/>
    <c:plotArea>
      <c:layout/>
      <c:pieChart>
        <c:varyColors val="1"/>
        <c:ser>
          <c:idx val="0"/>
          <c:order val="0"/>
          <c:tx>
            <c:strRef>
              <c:f>Sheet1!$B$1</c:f>
              <c:strCache>
                <c:ptCount val="1"/>
                <c:pt idx="0">
                  <c:v>Apprendimento</c:v>
                </c:pt>
              </c:strCache>
            </c:strRef>
          </c:tx>
          <c:spPr>
            <a:solidFill>
              <a:schemeClr val="accent1"/>
            </a:solidFill>
            <a:ln w="9525" cap="flat">
              <a:solidFill>
                <a:srgbClr val="F9F9F9"/>
              </a:solidFill>
              <a:prstDash val="solid"/>
              <a:round/>
            </a:ln>
            <a:effectLst/>
          </c:spPr>
          <c:dPt>
            <c:idx val="0"/>
            <c:bubble3D val="0"/>
            <c:spPr>
              <a:solidFill>
                <a:srgbClr val="2E7D7A"/>
              </a:solidFill>
              <a:effectLst/>
            </c:spPr>
          </c:dPt>
          <c:dPt>
            <c:idx val="1"/>
            <c:bubble3D val="0"/>
            <c:spPr>
              <a:solidFill>
                <a:srgbClr val="5B6573"/>
              </a:solidFill>
              <a:effectLst/>
            </c:spPr>
          </c:dPt>
          <c:dPt>
            <c:idx val="2"/>
            <c:bubble3D val="0"/>
            <c:spPr>
              <a:solidFill>
                <a:srgbClr val="A86F1C"/>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Esperienza sul lavoro</c:v>
                </c:pt>
                <c:pt idx="1">
                  <c:v>Relazioni con gli altri</c:v>
                </c:pt>
                <c:pt idx="2">
                  <c:v>Formazione formale</c:v>
                </c:pt>
              </c:strCache>
            </c:strRef>
          </c:cat>
          <c:val>
            <c:numRef>
              <c:f>Sheet1!$B$2:$B$4</c:f>
              <c:numCache>
                <c:ptCount val="3"/>
                <c:pt idx="0">
                  <c:v>70</c:v>
                </c:pt>
                <c:pt idx="1">
                  <c:v>20</c:v>
                </c:pt>
                <c:pt idx="2">
                  <c:v>10</c:v>
                </c:pt>
              </c:numCache>
            </c:numRef>
          </c:val>
        </c:ser>
        <c:firstSliceAng val="0"/>
      </c:pieChart>
      <c:spPr>
        <a:noFill/>
        <a:ln>
          <a:noFill/>
        </a:ln>
        <a:effectLst/>
      </c:spPr>
    </c:plotArea>
    <c:legend>
      <c:legendPos val="b"/>
      <c:overlay val="0"/>
      <c:txPr>
        <a:bodyPr/>
        <a:lstStyle/>
        <a:p>
          <a:pPr>
            <a:defRPr sz="11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Ciò che resta, % (andamento illustrativo)</a:t>
            </a:r>
          </a:p>
        </c:rich>
      </c:tx>
      <c:layout/>
      <c:overlay val="0"/>
    </c:title>
    <c:autoTitleDeleted val="0"/>
    <c:plotArea>
      <c:layout/>
      <c:lineChart>
        <c:varyColors val="0"/>
        <c:ser>
          <c:idx val="0"/>
          <c:order val="0"/>
          <c:tx>
            <c:strRef>
              <c:f>Sheet1!$B$1</c:f>
              <c:strCache>
                <c:ptCount val="1"/>
                <c:pt idx="0">
                  <c:v>Senza applicazione</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86F1C"/>
              </a:solidFill>
              <a:ln w="9525" cap="flat">
                <a:solidFill>
                  <a:srgbClr val="A86F1C"/>
                </a:solidFill>
                <a:prstDash val="solid"/>
                <a:round/>
              </a:ln>
              <a:effectLst/>
            </c:spPr>
          </c:marker>
          <c:cat>
            <c:multiLvlStrRef>
              <c:f>Sheet1!$A$2:$A$7</c:f>
              <c:multiLvlStrCache>
                <c:ptCount val="6"/>
                <c:lvl>
                  <c:pt idx="0">
                    <c:v>Corso</c:v>
                  </c:pt>
                  <c:pt idx="1">
                    <c:v>1 sett.</c:v>
                  </c:pt>
                  <c:pt idx="2">
                    <c:v>2 sett.</c:v>
                  </c:pt>
                  <c:pt idx="3">
                    <c:v>1 mese</c:v>
                  </c:pt>
                  <c:pt idx="4">
                    <c:v>2 mesi</c:v>
                  </c:pt>
                  <c:pt idx="5">
                    <c:v>3 mesi</c:v>
                  </c:pt>
                </c:lvl>
              </c:multiLvlStrCache>
            </c:multiLvlStrRef>
          </c:cat>
          <c:val>
            <c:numRef>
              <c:f>Sheet1!$B$2:$B$7</c:f>
              <c:numCache>
                <c:formatCode>General</c:formatCode>
                <c:ptCount val="6"/>
                <c:pt idx="0">
                  <c:v>100</c:v>
                </c:pt>
                <c:pt idx="1">
                  <c:v>45</c:v>
                </c:pt>
                <c:pt idx="2">
                  <c:v>35</c:v>
                </c:pt>
                <c:pt idx="3">
                  <c:v>28</c:v>
                </c:pt>
                <c:pt idx="4">
                  <c:v>22</c:v>
                </c:pt>
                <c:pt idx="5">
                  <c:v>20</c:v>
                </c:pt>
              </c:numCache>
            </c:numRef>
          </c:val>
          <c:smooth val="0"/>
        </c:ser>
        <c:ser>
          <c:idx val="1"/>
          <c:order val="1"/>
          <c:tx>
            <c:strRef>
              <c:f>Sheet1!$C$1</c:f>
              <c:strCache>
                <c:ptCount val="1"/>
                <c:pt idx="0">
                  <c:v>Con applicazioni ripetute</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7D7A"/>
              </a:solidFill>
              <a:ln w="9525" cap="flat">
                <a:solidFill>
                  <a:srgbClr val="2E7D7A"/>
                </a:solidFill>
                <a:prstDash val="solid"/>
                <a:round/>
              </a:ln>
              <a:effectLst/>
            </c:spPr>
          </c:marker>
          <c:cat>
            <c:multiLvlStrRef>
              <c:f>Sheet1!$A$2:$A$7</c:f>
              <c:multiLvlStrCache>
                <c:ptCount val="6"/>
                <c:lvl>
                  <c:pt idx="0">
                    <c:v>Corso</c:v>
                  </c:pt>
                  <c:pt idx="1">
                    <c:v>1 sett.</c:v>
                  </c:pt>
                  <c:pt idx="2">
                    <c:v>2 sett.</c:v>
                  </c:pt>
                  <c:pt idx="3">
                    <c:v>1 mese</c:v>
                  </c:pt>
                  <c:pt idx="4">
                    <c:v>2 mesi</c:v>
                  </c:pt>
                  <c:pt idx="5">
                    <c:v>3 mesi</c:v>
                  </c:pt>
                </c:lvl>
              </c:multiLvlStrCache>
            </c:multiLvlStrRef>
          </c:cat>
          <c:val>
            <c:numRef>
              <c:f>Sheet1!$C$2:$C$7</c:f>
              <c:numCache>
                <c:formatCode>General</c:formatCode>
                <c:ptCount val="6"/>
                <c:pt idx="0">
                  <c:v>100</c:v>
                </c:pt>
                <c:pt idx="1">
                  <c:v>80</c:v>
                </c:pt>
                <c:pt idx="2">
                  <c:v>82</c:v>
                </c:pt>
                <c:pt idx="3">
                  <c:v>85</c:v>
                </c:pt>
                <c:pt idx="4">
                  <c:v>87</c:v>
                </c:pt>
                <c:pt idx="5">
                  <c:v>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 dei dipendenti, due iniziative (dati inventati)</a:t>
            </a:r>
          </a:p>
        </c:rich>
      </c:tx>
      <c:layout/>
      <c:overlay val="0"/>
    </c:title>
    <c:autoTitleDeleted val="0"/>
    <c:plotArea>
      <c:layout/>
      <c:lineChart>
        <c:varyColors val="0"/>
        <c:ser>
          <c:idx val="0"/>
          <c:order val="0"/>
          <c:tx>
            <c:strRef>
              <c:f>Sheet1!$B$1</c:f>
              <c:strCache>
                <c:ptCount val="1"/>
                <c:pt idx="0">
                  <c:v>A: hanno usato almeno una volta</c:v>
                </c:pt>
              </c:strCache>
            </c:strRef>
          </c:tx>
          <c:spPr>
            <a:solidFill>
              <a:srgbClr val="8A939E"/>
            </a:solidFill>
            <a:ln w="31750" cap="flat">
              <a:solidFill>
                <a:srgbClr val="8A93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9E"/>
              </a:solidFill>
              <a:ln w="9525" cap="flat">
                <a:solidFill>
                  <a:srgbClr val="8A939E"/>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40</c:v>
                </c:pt>
                <c:pt idx="1">
                  <c:v>65</c:v>
                </c:pt>
                <c:pt idx="2">
                  <c:v>80</c:v>
                </c:pt>
                <c:pt idx="3">
                  <c:v>83</c:v>
                </c:pt>
                <c:pt idx="4">
                  <c:v>85</c:v>
                </c:pt>
                <c:pt idx="5">
                  <c:v>86</c:v>
                </c:pt>
                <c:pt idx="6">
                  <c:v>87</c:v>
                </c:pt>
                <c:pt idx="7">
                  <c:v>87</c:v>
                </c:pt>
                <c:pt idx="8">
                  <c:v>88</c:v>
                </c:pt>
                <c:pt idx="9">
                  <c:v>88</c:v>
                </c:pt>
                <c:pt idx="10">
                  <c:v>88</c:v>
                </c:pt>
                <c:pt idx="11">
                  <c:v>88</c:v>
                </c:pt>
              </c:numCache>
            </c:numRef>
          </c:val>
          <c:smooth val="0"/>
        </c:ser>
        <c:ser>
          <c:idx val="1"/>
          <c:order val="1"/>
          <c:tx>
            <c:strRef>
              <c:f>Sheet1!$C$1</c:f>
              <c:strCache>
                <c:ptCount val="1"/>
                <c:pt idx="0">
                  <c:v>A: uso abituale</c:v>
                </c:pt>
              </c:strCache>
            </c:strRef>
          </c:tx>
          <c:spPr>
            <a:solidFill>
              <a:srgbClr val="A86F1C"/>
            </a:solidFill>
            <a:ln w="31750" cap="flat">
              <a:solidFill>
                <a:srgbClr val="A86F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6F1C"/>
              </a:solidFill>
              <a:ln w="9525" cap="flat">
                <a:solidFill>
                  <a:srgbClr val="A86F1C"/>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12</c:v>
                </c:pt>
                <c:pt idx="1">
                  <c:v>18</c:v>
                </c:pt>
                <c:pt idx="2">
                  <c:v>17</c:v>
                </c:pt>
                <c:pt idx="3">
                  <c:v>16</c:v>
                </c:pt>
                <c:pt idx="4">
                  <c:v>15</c:v>
                </c:pt>
                <c:pt idx="5">
                  <c:v>15</c:v>
                </c:pt>
                <c:pt idx="6">
                  <c:v>15</c:v>
                </c:pt>
                <c:pt idx="7">
                  <c:v>14</c:v>
                </c:pt>
                <c:pt idx="8">
                  <c:v>15</c:v>
                </c:pt>
                <c:pt idx="9">
                  <c:v>15</c:v>
                </c:pt>
                <c:pt idx="10">
                  <c:v>15</c:v>
                </c:pt>
                <c:pt idx="11">
                  <c:v>15</c:v>
                </c:pt>
              </c:numCache>
            </c:numRef>
          </c:val>
          <c:smooth val="0"/>
        </c:ser>
        <c:ser>
          <c:idx val="2"/>
          <c:order val="2"/>
          <c:tx>
            <c:strRef>
              <c:f>Sheet1!$D$1</c:f>
              <c:strCache>
                <c:ptCount val="1"/>
                <c:pt idx="0">
                  <c:v>B: uso abituale</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Sheet1!$D$2:$D$13</c:f>
              <c:numCache>
                <c:formatCode>General</c:formatCode>
                <c:ptCount val="12"/>
                <c:pt idx="0">
                  <c:v>3</c:v>
                </c:pt>
                <c:pt idx="1">
                  <c:v>6</c:v>
                </c:pt>
                <c:pt idx="2">
                  <c:v>10</c:v>
                </c:pt>
                <c:pt idx="3">
                  <c:v>14</c:v>
                </c:pt>
                <c:pt idx="4">
                  <c:v>18</c:v>
                </c:pt>
                <c:pt idx="5">
                  <c:v>23</c:v>
                </c:pt>
                <c:pt idx="6">
                  <c:v>28</c:v>
                </c:pt>
                <c:pt idx="7">
                  <c:v>32</c:v>
                </c:pt>
                <c:pt idx="8">
                  <c:v>36</c:v>
                </c:pt>
                <c:pt idx="9">
                  <c:v>39</c:v>
                </c:pt>
                <c:pt idx="10">
                  <c:v>41</c:v>
                </c:pt>
                <c:pt idx="11">
                  <c:v>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sedicesimo tema, l'ultimo dell'area 'Comprendere il valore per l'azienda'. Nel Tema 15 abbiamo visto come scegliere dove ha senso usare l'AI e come verificarlo. Ora ci chiediamo come sostenere l'utilizzo, l'apprendimento e la diffusione delle iniziative scelte: come si passa da uno strumento disponibile a un uso efficace e duraturo nel lavoro delle persone. È un tema in cui molte organizzazioni scoprono una sorpresa: hanno acquistato licenze, fatto una presentazione, magari un corso, e dopo qualche mese l'uso è basso, irregolare, o concentrato su poche persone. Oppure, al contrario, le persone usano strumenti non approvati, per conto proprio. Il modulo dà strumenti per capire perché accade e che cosa si può fare. Due confini. Con il Tema 13: lì abbiamo visto che cosa cambia nel lavoro; qui come sostenere e accompagnare il cambiamento. Con i Temi 17 e 18: parliamo di strumenti consentiti e di supporto, ma non di normative, sicurezza e governance formale. Vale una nota particolare: questo stesso percorso di formazione è parte di un processo di adozione, e molte cose che diremo riguardano anche noi. Suggerimento per l'apertura: chiedere ai partecipanti di indicare uno strumento digitale introdotto in azienda negli ultimi anni che è stato davvero adottato, e uno che non lo è stato, e perché. Nota per il relatore: i contenuti sono stati verificati a ottobre 2026; le indagini sull'uso dell'AI nelle aziende, come quelle sullo Shadow AI, vengono aggiornate spesso e vanno ricontrollate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i principali fattori tecnologici, umani e organizzativi che influenzano l'adozione dell'AI, riconoscendo il ruolo della leadership, delle competenze, della partecipazione, del supporto operativo, della sperimentazione e del miglioramento continuo. La consapevolezza da sviluppare: mettere a disposizione uno strumento AI non significa che verrà adottato efficacemente. L'adozione richiede che le persone ne comprendano l'utilità, abbiano le competenze e le condizioni operative necessarie, e possano integrarlo in modo appropriato nel proprio lavoro. Tre condizioni: comprensione dell'utilità, competenze e condizioni operative, integrazione appropriata. Il messaggio chiave del documento di perimetro: l'adozione efficace dell'AI non dipende dalla sola disponibilità degli strumenti, ma dalla loro utilità concreta, dalle competenze delle persone, dal supporto organizzativo, dalla partecipazione e dalla capacità di apprendere dai risultati. Diffondere l'AI non è un obiettivo sufficiente: conta integrarla nel lavoro quando genera benefici reali e sostenibili.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una sequenza concettuale che useremo per tutto il modulo: disponibilità dello strumento, capacità di usarlo, applicazione nel lavoro, adozione sostenibile, risultati osservabili. Cinque livelli collegati, ma il passaggio dall'uno all'altro non è automatico, né necessariamente lineare. La disponibilità: lo strumento c'è, le licenze sono attive. La capacità: le persone sanno usarlo. L'applicazione: lo usano davvero nel lavoro, su attività reali. L'adozione sostenibile: l'uso è diventato parte delle pratiche, continua nel tempo, è supportato. I risultati: l'uso produce benefici osservabili. Molte iniziative misurano il primo livello, e ne deducono gli altri. Un'osservazione importante, che è la prima precisazione del tema: una bassa adozione può essere razionale quando l'applicazione non è utile o adeguata. L'adozione non è sempre desiderabile: se uno strumento non risponde a un bisogno, non usarlo può essere la decisione corretta. Il modulo non insegna a far usare l'AI a tutti i costi, ma a creare le condizioni perché venga usata dove serve, e 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Quando possiamo dire che un'organizzazione ha realmente adottato l'AI. Perché la disponibilità di uno strumento non ne garantisce l'uso. Quali ostacoli dipendono dalle persone e quali dalle condizioni organizzative. Quali responsabilità hanno leadership, manager e collaboratori. Perché la formazione iniziale non basta a produrre cambiamenti nel lavoro: una domanda che riguarda direttamente anche questo percorso. Come sostenere fiducia informata, sperimentazione e partecipazione. Quali forme di supporto e coordinamento favoriscono l'adozione. Come capire se l'uso è efficace e sostenibile nel tempo.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cinque dimensioni. Significato e condizioni dell'adozione, nei sottotemi 16.1 e 16.2. Persone, leadership e partecipazione, nel 16.3 e 16.6. Competenze e apprendimento, nel 16.4. Sperimentazione, supporto e coordinamento, nel 16.5 e 16.7. Consolidamento, risultati e sostenibilità, nel 16.8. Le slide useranno un indicatore in alto a destra con cinque etichette brevi: Adozione, Persone, Competenze, Diffusione, Risultati. Quattro integrazioni attraversano il modulo, come concetti trasversali. A: il problema dello Shadow AI, cioè l'uso di servizi non approvati. B: la resistenza può essere un'informazione utile. C: la formazione da sola non produce adozione. D: diffondere rapidamente non significa adottare efficacemente. Sulle slide compaiono senza lettere; nelle note le richiamiamo come integrazioni A, B, C e D. E tre precisazioni da mantenere: l'adozione non è sempre desiderabile; le esigenze formative sono differenziate; l'adozione dal basso non coincide con lo Shadow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sette con priorità alta e uno, il supporto e coordinamento, con priorità media. Maggiore attenzione didattica su quattro: fattori e ostacoli, competenze e formazione, sperimentazione e diffusione, monitoraggio e sostenibilità. Da comprendere e applicare: la distinzione tra disponibilità, uso, adozione e valore; il riconoscimento delle barriere; il rapporto tra formazione e pratica; la differenza tra diffusione e risultati. Da conoscere: i referenti di supporto, la diffusione graduale, la differenziazione della formazione, la raccolta di feedback. Da solo accennare: modelli specialistici di change management, centri di eccellenza AI, programmi complessi di implementazione, sistemi avanzati di misurazione. Confini: non ripetiamo le tecniche di interazione del Tema 5, i metodi di verifica del Tema 7, il funzionamento degli strumenti del Tema 11, la classificazione dei benefici del Tema 12, l'analisi dei cambiamenti del lavoro del Tema 13, i prerequisiti informativi del Tema 14, la scelta dei casi d'uso del Tema 15. E non anticipiamo privacy, sicurezza, norme e governance, dei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 esempio che useremo come filo rosso: un'azienda introduce un assistente AI per preparare documenti commerciali, come offerte, presentazioni e risposte ai clienti. Lo stesso strumento può essere introdotto in due modi molto diversi. Nello scenario A, centrato sullo strumento: si distribuiscono le licenze; la formazione è una dimostrazione delle funzionalità; il supporto è lasciato all'iniziativa individuale; si osserva il numero di accessi; si estende subito a tutti. Nello scenario B, centrato sul lavoro: si individuano attività concrete su cui sperimentare; la formazione usa esempi operativi pertinenti; ci sono referenti e confronto tra colleghi; si osservano uso, qualità, problemi e risultati; si estende dopo le prime verifiche. La lettura che il documento chiede di dare è precisa: lo scenario B contiene più condizioni favorevoli all'apprendimento e al controllo, ma non garantisce risultati migliori in ogni contesto. L'esempio illustra la differenza tra distribuire una tecnologia e creare le condizioni per usarla efficacemente. Torneremo sui due scenari in ogni sottotema. Esempio fittizio, come gli altri del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sottotema, da comprendere bene. Prima di parlare di come favorire l'adozione, chiariamo che cosa intendiamo con questa parola. Vediamo la differenza tra disponibilità, uso occasionale e adozione effettiva; i livelli individuale, di team e organizzativo; uso sperimentale e integrazione nelle pratiche; diffusione spontanea e introduzione coordinata; utenti, qualità d'uso e impatto; l'adozione come percorso; e il fenomeno dello Shadow AI, integrazione A, distinto dalla sperimentazione autorizzata.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domanda guida: quando possiamo dire che un'organizzazione ha realmente adottato l'AI? Il sottotema parte da tre situazioni diverse. La disponibilità tecnologica: lo strumento è accessibile, le licenze sono attive, le persone hanno ricevuto l'accesso. Non dice nulla sull'uso. L'uso occasionale: alcune persone lo provano, lo usano di tanto in tanto, per curiosità o per compiti isolati. È un primo segnale, ma spesso resta tale: dopo le prime prove, l'uso cala. L'adozione effettiva: lo strumento è entrato nel modo di lavorare, viene usato in modo regolare e appropriato per attività in cui è utile, le persone sanno quando usarlo e quando no. Il sottotema chiede anche di distinguere tra distribuire licenze e sviluppare capacità operative: le prime si comprano, le seconde si costruiscono nel tempo. Una formula semplice per ricordarlo: l'adozione non si misura da quante persone possono usare lo strumento, né da quante lo hanno usato una volta, ma da quante lo usano bene, quando serve. È la consapevolezza del sottotema: acquistare licenze e registrare accessi non equivale ad adottare efficacemente l'AI; conta l'integrazione appropriata nel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distingue tre livelli di adozione. Individuale: una persona integra lo strumento nel proprio modo di lavorare. È il livello più rapido, ma anche il più fragile: dipende dalla motivazione e dalle competenze di quella persona, e i benefici restano spesso suoi. Di team: un gruppo condivide come usare lo strumento, con pratiche comuni, esempi condivisi, attese chiare su che cosa si fa con l'AI e che cosa no. I benefici diventano più stabili, e chi entra nel gruppo impara dagli altri. Organizzativo: l'uso è integrato nei processi, supportato da indicazioni, strumenti e riferimenti comuni, e coerente tra funzioni diverse. Qui l'AI diventa parte del modo di funzionare dell'organizzazione, non solo di alcune persone. I tre livelli non sono una scala obbligata: si può avere molta adozione individuale e poca organizzativa, ed è una situazione frequente. In quel caso i benefici sono reali ma dispersi, difficili da vedere e da replicare, e dipendono da chi c'è. Un'indicazione pratica: quando qualcuno usa bene uno strumento, la domanda utile è come quella pratica può diventare del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coppie di distinzioni del sottotema. La prima: uso sperimentale e integrazione nelle pratiche di lavoro. L'uso sperimentale è esplorativo: si prova, si vede che cosa succede, si impara. È una fase necessaria, ma non è ancora adozione. L'integrazione nelle pratiche significa che l'uso è diventato abituale, stabile, con modi condivisi. La seconda: diffusione spontanea e introduzione coordinata. La diffusione spontanea parte dalle persone: qualcuno scopre uno strumento, lo usa, ne parla ai colleghi. È rapida e spesso molto efficace nel trovare usi utili, perché nasce da bisogni reali. Ma è disomogenea, difficile da supportare, e può produrre pratiche incoerenti o rischiose. L'introduzione coordinata parte dall'organizzazione: si sceglie lo strumento, si definiscono gli usi, si forma, si supporta. È più ordinata e controllabile, ma più lenta, e rischia di non intercettare i bisogni reali se non ascolta chi lavora. Il sottotema osserva che l'uso spontaneo spesso precede le iniziative ufficiali: quando l'azienda decide di introdurre l'AI, molte persone la usano già. È un dato di cui tenere conto, e su cui torneremo con lo Shadow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del sottotema che anticipa il 16.8: numero di utenti, qualità d'uso e impatto sono tre cose diverse. Il numero di utenti dice quante persone usano lo strumento. È facile da misurare, ed è per questo il dato più citato. La qualità d'uso dice come lo usano: per quali attività, con quali risultati, con quale verifica, in modo appropriato o no. È molto più difficile da osservare. L'impatto dice che cosa cambia nel lavoro e nei risultati: tempo, qualità, servizio, come visto nel Tema 12. Le tre grandezze possono andare in direzioni diverse. Molti utenti con un uso superficiale, per esempio per riformulare email, possono produrre un impatto modesto. Pochi utenti con un uso intenso e appropriato su attività importanti possono produrne uno grande. E un uso inappropriato, per esempio senza verifica su attività delicate, può produrre un impatto negativo. Il grafico, con dati inventati, mostra due reparti di un'azienda fittizia: uno con molti utenti e basso impatto, l'altro con meno utenti e impatto maggiore. Guardare solo il primo indicatore porterebbe a conclusioni opposte alla realtà.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l'adozione come un percorso progressivo e non come un evento puntuale, e di vedere il rapporto tra adozione, cambiamento delle abitudini e risultati. Nelle organizzazioni si tende a trattare l'introduzione di uno strumento come un evento: c'è una data di lancio, una presentazione, un'email, una formazione. Dopo l'evento, si considera il lavoro fatto. Ma cambiare il modo di lavorare richiede tempo: provare, sbagliare, capire dove serve e dove no, costruire nuove abitudini, abbandonare quelle vecchie. Gli studi sulla diffusione delle innovazioni, a partire da quelli classici di Everett Rogers, mostrano che l'adozione di una novità segue tipicamente un andamento a S: lenta all'inizio, poi più rapida, poi stabile, e che gruppi diversi la adottano in momenti diversi. Il grafico, con dati inventati, mostra un andamento tipico e, accanto, l'andamento che si osserva spesso negli strumenti introdotti come evento: un picco iniziale di curiosità, seguito da un calo, perché l'uso non si è trasformato in abitudine. I risultati, infine, arrivano dopo le abitudini: chi si aspetta risultati subito dopo il lancio rischia di giudicare troppo presto.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il problema dello Shadow AI. Il termine riprende quello di Shadow IT, usato da anni per indicare l'uso di applicazioni e servizi informatici non approvati dall'organizzazione. Lo Shadow AI è l'uso di strumenti di AI non approvati per scopi di lavoro: per esempio un collaboratore che usa un servizio gratuito, con un account personale, per riassumere documenti aziendali o scrivere offerte. Il fenomeno è diffuso: alcune indagini di settore pubblicate nel 2024, come il Work Trend Index di Microsoft e LinkedIn, riportava che il 78 per cento di chi usa l'AI al lavoro porta strumenti propri, senza attendere quelli aziendali. È un dato del 2024, verificato a ottobre 2026: va ricontrollato sulle edizioni più recenti, e i numeri variano molto tra le indagini. Il documento chiede di leggere il fenomeno in due modi insieme. Da un lato, lo Shadow AI può indicare bisogni operativi non soddisfatti: le persone hanno trovato uno strumento utile, e l'organizzazione non offre un'alternativa adeguata. Dall'altro, introduce rischi: informazioni aziendali inserite in servizi esterni senza garanzie, risultati non verificati, pratiche non visibili. Gli aspetti di sicurezza e conformità sono dei Temi 17 e 18: qui lo esaminiamo come fenomeno di adozione.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precisazione che il documento chiede di mantenere con cura: l'adozione dal basso non coincide con lo Shadow AI, e lo Shadow AI non è sinonimo di ogni iniziativa spontanea. Il sottotema distingue tra sperimentazione autorizzata e uso non approvato. La sperimentazione autorizzata, o adozione dal basso, è positiva: le persone esplorano, con strumenti consentiti, nuovi modi di usare l'AI nel proprio lavoro, e trovano usi che nessuno aveva previsto. Molte delle pratiche migliori nascono così. L'uso non approvato, lo Shadow AI vero e proprio, riguarda strumenti o modalità che l'organizzazione non consente, o non conosce. Richiede attenzione e controlli. La tabella confronta tre situazioni, fittizie. Chiamare Shadow AI ogni iniziativa spontanea ha un effetto negativo: scoraggia la sperimentazione, che è proprio ciò di cui l'adozione ha bisogno. Ignorare lo Shadow AI, al contrario, lascia senza risposta sia i bisogni sia i rischi. La strada indicata dal documento, che riprenderemo nel 16.7, è doppia: offrire strumenti consentiti adatti ai bisogni reali, e rendere chiare le regole.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Disponibilità, uso occasionale e adozione effettiva sono diversi. L'adozione ha livelli individuale, di team e organizzativo. Diffusione spontanea e introduzione coordinata hanno pregi e limiti. Utenti, qualità d'uso e impatto vanno distinti. L'adozione è un percorso, non un evento. Lo Shadow AI è insieme un segnale di bisogni e un rischio, e non coincide con la sperimentazione autorizzata. Esercizio suggerito: per uno strumento digitale introdotto in azienda negli ultimi anni, descrivere a che livello è arrivato: disponibile, usato occasionalmente, adottato da alcuni, adottato da team, integrato nell'organizzazione.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Secondo sottotema, da comprendere e riconoscere, e uno di quelli con maggiore attenzione didattica. Il documento lo indica come la mappa dei fattori, mentre il 16.6 approfondirà le dinamiche sociali, fiducia e partecipazione: evitiamo una doppia trattazione generica delle resistenze. Vediamo utilità percepita e facilità d'uso, fiducia, tempo, competenze, prime esperienze, supporto, chiarezza, compatibilità, ostacoli di vario tipo, differenze tra gruppi, difficoltà individuali e problemi strutturali. Integrazioni A 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due fattori del sottotema sono anche i più studiati: l'utilità percepita rispetto ai bisogni lavorativi, e la facilità d'uso e l'accessibilità degli strumenti. Il Technology Acceptance Model, proposto da Fred Davis nel 1989, ha mostrato che l'intenzione di usare una tecnologia dipende soprattutto da questi due fattori: quanto la persona ritiene che la tecnologia la aiuti nel suo lavoro, e quanto la ritiene facile da usare. Modelli successivi, come quello di Venkatesh e colleghi del 2003, hanno aggiunto altri fattori, come l'influenza sociale e le condizioni che facilitano l'uso, ma l'utilità resta in genere il fattore più forte. Notate la parola 'percepita'. Non basta che uno strumento sia utile in astratto: la persona deve vedere come è utile per le sue attività. Una dimostrazione generica che mostra come scrivere una poesia non fa percepire l'utilità a chi prepara offerte tecniche. E la facilità d'uso, per l'AI generativa, ha una particolarità: lo strumento è facile da iniziare, si scrive in linguaggio naturale, ma difficile da usare bene, come visto nei Temi 5 e 6. Molte persone provano, ottengono risultati mediocri, e concludono che lo strumento non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molti fattori. Li organizziamo in una mappa, distinguendo quelli che riguardano più le persone e quelli che riguardano più le condizioni, anche se il confine non è netto. Fattori legati alle persone: la fiducia nelle capacità e la comprensione dei limiti, perché fiducia eccessiva e sfiducia ostacolano entrambe un uso appropriato; le competenze iniziali e le differenze tra utilizzatori; la qualità delle prime esperienze d'uso, che spesso determina l'atteggiamento successivo. Fattori legati alle condizioni: il tempo disponibile per sperimentare e imparare, che è forse il più sottovalutato; il supporto tecnico e organizzativo; la chiarezza sugli strumenti e sulle modalità consentite, perché nel dubbio molte persone si astengono; la compatibilità con le attività e i processi esistenti. E l'utilità e la facilità d'uso, appena viste, che stanno a cavallo. La mappa serve a una domanda pratica, la terza domanda guida: quali ostacoli dipendono dalle persone e quali dalle condizioni organizzative? La risposta conta, perché i rimedi sono diversi.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fattori meritano un approfondimento, perché sono spesso decisivi e trascurati. Il tempo disponibile per sperimentare e imparare. Imparare a usare bene uno strumento di AI richiede tempo: provare su attività reali, sbagliare, riprovare, capire che cosa funziona. Nelle prime settimane, usare lo strumento richiede più tempo che non usarlo. Se le persone sono già al massimo del carico, sceglieranno razionalmente di non investire quel tempo: il beneficio è futuro e incerto, il costo è immediato. È una delle ragioni per cui la curva di adozione è lenta all'inizio, e per cui chi ha più tempo, o più margine, adotta prima. La qualità delle prime esperienze d'uso. Le prime volte che una persona usa lo strumento formano il suo giudizio. Se le prime prove sono su attività adatte, con buoni risultati, l'atteggiamento sarà positivo. Se sono su attività inadatte, o con istruzioni povere, i risultati deludenti portano alla conclusione che lo strumento non serve, ed è difficile tornare indietro. Ne deriva un'indicazione pratica, che riprenderemo nel 16.4 e 16.5: aiutare le persone a fare le prime prove su attività in cui l'AI funziona bene, con esempi pertinenti.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ostacoli tecnologici, operativi, economici e culturali. Tecnologici: lo strumento non è adatto al compito, non è integrato con i sistemi che si usano, è lento, ha limiti di qualità, non accede alle informazioni necessarie, come visto nel Tema 14. Operativi: il processo non prevede l'uso dello strumento, i passaggi successivi non lo accettano, mancano indicazioni su come usarlo, la verifica richiede troppo tempo. Economici: le licenze sono disponibili solo per alcuni, i costi per utilizzo scoraggiano l'uso, non ci sono risorse per formazione e supporto. Culturali: il lavoro con l'AI è visto come meno professionale o meno meritevole, c'è timore di essere giudicati, di sbagliare, o di rendere evidente che il proprio lavoro può essere accelerato; o al contrario c'è pressione a usarlo anche dove non serve. Distinguere i tipi di ostacolo è utile perché i rimedi sono diversi: un ostacolo tecnologico non si risolve con una campagna di comunicazione, un ostacolo culturale non si risolve con una licenza in più.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le differenze di adozione tra funzioni e gruppi. L'adozione dell'AI è quasi sempre disomogenea. Tra funzioni: le attività di alcune, come marketing, comunicazione, sviluppo software, assistenza clienti, si prestano più di altre all'AI generativa, come visto nel Tema 13. Tra ruoli: chi lavora molto con testi e informazioni ha più occasioni d'uso. Tra persone: per età, esperienza, competenze digitali, tempo disponibile, atteggiamento. Diverse indagini hanno osservato differenze significative nell'uso dell'AI generativa tra gruppi demografici e professionali, anche se i risultati variano tra paesi e periodi. Le differenze non sono di per sé un problema: se l'AI è più utile in alcune attività, è naturale che sia più usata lì. Diventano un problema in due casi. Quando dipendono da ostacoli evitabili, come la mancanza di tempo, di formazione adatta o di accesso: allora alcune persone restano indietro senza ragione. E quando producono disuguaglianze: chi adotta acquisisce competenze e vantaggi, chi non adotta rischia di essere penalizzato. La slide riassume le tendenze più comuni, senza numeri: le percentuali variano molto tra aziende, paesi e periodi, e conviene osservarle nella propria 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centrale del sottotema, e la sua consapevolezza: le difficoltà individuali e i problemi strutturali. Quando l'adozione è bassa, la spiegazione più comune è individuale: le persone sono resistenti al cambiamento, non hanno voglia, non hanno capito. A volte è vero. Ma spesso la causa è strutturale: lo strumento non è adatto, il tempo non c'è, le regole non sono chiare, il processo non lo prevede. La consapevolezza del sottotema lo dice chiaramente: una bassa adozione può dipendere dall'inadeguatezza dello strumento o dalle condizioni operative, non dalla scarsa apertura al cambiamento. Un segnale utile per distinguere: se molte persone, in contesti diversi, incontrano la stessa difficoltà, è probabilmente un problema strutturale. Se la difficoltà riguarda poche persone in un contesto in cui altre usano bene lo strumento, può essere individuale, e richiede supporto mirato. La tabella in slide propone alcune domande per distinguere. La differenza conta perché attribuire a problemi individuali difficoltà strutturali porta a rimedi inefficaci, come altra formazione o altra comunicazione, e a frustrazione da entrambe le parti.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e le integrazioni A e B lette insieme: le esigenze insoddisfatte che possono favorire lo Shadow AI, e il valore informativo dello scetticismo e delle difficoltà segnalate. Due comportamenti, apparentemente opposti, che vanno interpretati. L'uso di servizi non autorizzati: le persone usano strumenti esterni. Può indicare che lo strumento approvato manca, è meno capace, è più scomodo, o non è conosciuto; o che le regole non sono chiare. La riluttanza a usare quelli approvati: le persone non usano lo strumento offerto. Può indicare che non è utile per le loro attività, che dà risultati scarsi, che richiede troppo tempo, che non si sentono sicure su che cosa è consentito. Il documento sottolinea che i due comportamenti possono indicare problemi diversi, e che comprenderne le cause è più utile che attribuirli automaticamente alla resistenza delle persone. Lo scetticismo e le difficoltà segnalate sono informazioni: dicono dove lo strumento, le condizioni o l'introduzione non funzionano. Approfondiremo questa idea, l'integrazione B, nel 16.6.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Utilità percepita e facilità d'uso sono i fattori più forti; per l'AI generativa, facile da iniziare non vuol dire facile da usare bene. I fattori riguardano persone e condizioni; tempo e prime esperienze sono spesso decisivi. Gli ostacoli sono tecnologici, operativi, economici, culturali, con rimedi diversi. Le differenze tra gruppi sono naturali o problematiche a seconda delle cause. Le difficoltà strutturali non vanno trattate come individuali. Shadow AI e riluttanza sono segnali da interpretare. Esercizio suggerito: elencare in piccoli gruppi i tre principali ostacoli all'uso dell'AI nel proprio lavoro, e classificarli come individuali o strutturali, e per tipo.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sottotema, da comprendere. La quarta domanda guida chiede quali responsabilità hanno leadership, manager e collaboratori. Il documento distingue: il 16.3 riguarda orientamento e responsabilità manageriali, il 16.7 i meccanismi di supporto quotidiano. Vediamo la sponsorship della direzione, la chiarezza sulle finalità, il ruolo dei manager nel creare condizioni, la coerenza tra parole e comportamenti, la differenza tra incoraggiare e imporre, il rischio di adozione simbolica e l'importanza di aspettative realistiche.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punti del sottotema riguardano la direzione aziendale. La sponsorship e l'orientamento: un'iniziativa di adozione che non ha il sostegno visibile della direzione tende a perdere priorità, risorse e attenzione. La chiarezza sulle finalità: perché l'azienda introduce l'AI? Per migliorare il servizio, per ridurre il tempo speso in attività ripetitive, per sviluppare competenze, per ridurre i costi? Le persone se lo chiedono, e se la risposta non è chiara la riempiono da sole, spesso con l'ipotesi peggiore, come la riduzione del personale. Il collegamento tra adozione e obiettivi aziendali: l'AI non è un obiettivo in sé, ma un mezzo per obiettivi che le persone conoscono. È il ponte con il Tema 15: le opportunità scelte vanno comunicate come risposte a problemi reali. Un'osservazione importante: la chiarezza sulle finalità non è solo una questione di comunicazione, ma di scelte. Se la direzione non ha deciso che cosa vuole ottenere, nessuna comunicazione potrà renderlo chiaro. E se le finalità dichiarate e quelle reali divergono, le persone se ne accorgono.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cuore del sottotema riguarda i responsabili diretti, i manager, che il documento indica come decisivi per creare condizioni operative favorevoli. Se i fattori del 16.2 sono in buona parte condizioni, chi può intervenire su di esse è soprattutto chi organizza il lavoro. Il sottotema indica alcune responsabilità concrete. Mettere a disposizione tempo, risorse e strumenti: per esempio riconoscere che nelle prime settimane l'uso richiede tempo, e alleggerire altri carichi. Individuare gli ostacoli concreti: non chiedere genericamente 'state usando l'AI?', ma capire che cosa impedisce di usarla dove servirebbe. Ascoltare le esperienze e le criticità dei collaboratori, positive e negative. Promuovere la sperimentazione controllata: dare spazio per provare, entro regole chiare, e accettare che alcune prove non funzionino. È un ruolo diverso da quello del promotore: il manager non deve convincere le persone che l'AI è utile, ma rendere possibile scoprire dove lo è, e rimuovere ciò che ostacola l'uso utile. La consapevolezza del sottotema: la leadership non deve solo promuovere l'AI, deve contribuire a rendere possibile il suo uso appropriato e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coerenza tra comunicazione, comportamenti e priorità. Le persone osservano più quello che i responsabili fanno che quello che dicono. Alcuni esempi di incoerenza, frequenti e comprensibili. Si dice 'sperimentate', ma non si concede tempo, e gli obiettivi di produttività restano invariati. Si dice 'l'AI è importante', ma i responsabili non la usano, o non se ne interessano. Si dice 'segnalate i problemi', ma chi li segnala viene visto come resistente. Si dice 'usatela per migliorare la qualità', ma si valuta solo la velocità. Si dice 'nessuno perderà il lavoro', ma si parla di riduzione dei costi del personale. Ogni incoerenza insegna alle persone che cosa conta davvero, e lo fa in modo più efficace di qualsiasi comunicazione ufficiale. La coerenza non richiede che i responsabili siano esperti o entusiasti utilizzatori: richiede che le priorità dichiarate si vedano nelle decisioni su tempo, valutazione, riconoscimento. Un manager che non usa l'AI ma dà tempo per sperimentare, ascolta i problemi e valuta i risultati in modo equilibrato è più coerente di uno che la usa ma chiede risultati immediati.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tra incoraggiare e imporre l'uso, e segnala i rischi di un'adozione simbolica basata su obiettivi quantitativi. Incoraggiare significa creare le condizioni, mostrare esempi, dare tempo, riconoscere gli usi utili, lasciando alle persone il giudizio su dove e come usare lo strumento. Imporre significa rendere l'uso obbligatorio, o misurarlo e valutarlo come obiettivo. Ci sono casi in cui uno standard comune ha senso, per esempio quando un processo è stato riprogettato intorno allo strumento. Ma l'imposizione generica dell'uso ha effetti noti. Il più importante è l'adozione simbolica: se il numero di utilizzi diventa un obiettivo, le persone lo raggiungono, magari usando lo strumento per attività inutili, o in modo superficiale, o registrando usi che non hanno valore. È un esempio della cosiddetta legge di Goodhart, dall'economista Charles Goodhart: quando una misura diventa un obiettivo, smette di essere una buona misura. L'organizzazione vede numeri in crescita, e crede di aver adottato l'AI, mentre il lavoro è rimasto uguale, o è peggiorato. E, come visto nel 16.2, la pressione all'uso dove non serve è anch'essa un ostacolo culturale.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l'importanza di aspettative realistiche e risultati osservabili. Le aspettative sull'AI sono spesso molto alte, alimentate da annunci, presentazioni dei fornitori, notizie. Basta richiamare lo schema dell'hype cycle, presentato nel Tema 1 (sottotema 1.6): un picco di aspettative eccessive, poi una fase di disillusione, prima di un uso più maturo. È uno schema discusso, non una legge, ma descrive bene un rischio. Se la direzione promette risultati rapidi e spettacolari, e i primi mesi mostrano miglioramenti modesti, il giudizio può diventare troppo negativo, e l'iniziativa essere abbandonata prima di aver dato i suoi frutti. Aspettative realistiche significano: dichiarare che l'adozione richiede tempo; indicare risultati osservabili, anche modesti, e come verranno osservati; riconoscere che alcune applicazioni non funzioneranno; collegare le attese alle evidenze raccolte nel Tema 15. Risultati osservabili significano: non promesse generiche come 'l'AI ci renderà più produttivi', ma indicazioni concrete come 'ridurre il tempo di preparazione delle offerte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quarta domanda guida chiede quali responsabilità hanno leadership, manager e collaboratori. Abbiamo visto le prime due; anche i collaboratori hanno un ruolo, che il documento richiama nei vari sottotemi, e che conviene rendere esplicito per completezza. Provare con un atteggiamento aperto ma critico: né rifiuto a priori né entusiasmo acritico. Usare lo strumento in modo appropriato, rispettando le indicazioni sugli usi consentiti e verificando gli output, come visto nel Tema 7. Segnalare problemi, difficoltà e anche usi utili, perché le segnalazioni sono informazioni per l'organizzazione. Condividere ciò che si impara con i colleghi. Mantenere le proprie competenze professionali, che restano il fondamento del giudizio. La tabella riassume le responsabilità dei tre livelli. Non è un mansionario, ma uno schema per riconoscere che l'adozione è una responsabilità condivisa: la direzione dà orientamento e risorse, i manager creano condizioni, i collaboratori sperimentano e segnalano. Se uno dei tre livelli manca, gli altri due faticano.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terzo sottotema. La direzione dà sponsorship, finalità chiare e collegamento con gli obiettivi. I manager creano condizioni: tempo, rimozione degli ostacoli, ascolto, sperimentazione controllata. La coerenza tra parole e priorità insegna più della comunicazione. Incoraggiare non è imporre, e gli obiettivi quantitativi d'uso producono adozione simbolica. Le aspettative vanno tenute realistiche e osservabili. I collaboratori condividono la responsabilità. Esercizio suggerito: per i responsabili presenti, individuare una condizione concreta, tempo, indicazioni, ascolto, che potrebbero creare nel proprio gruppo per favorire un uso utile dell'AI; per gli altri, una condizione che vorrebbero ricevere.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sottotema, da comprendere e applicare, e uno di quelli con maggiore attenzione didattica. Riguarda direttamente anche questo percorso di formazione. Vediamo l'alfabetizzazione come punto di partenza, competenze generali e per ruolo, l'applicazione in situazioni reali, il valore delle competenze preesistenti, formazione iniziale e aggiornamento, esempi, esercitazione e confronto, apprendimento tra colleghi, supporto dopo la formazione, perdita delle competenze non usate. Integrazione C: la formazione da sola non produce adozione.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punti del sottotema. L'alfabetizzazione AI come punto di partenza: è ciò che questo percorso cerca di dare, cioè una comprensione di base di che cosa sono questi sistemi, come funzionano, che cosa sanno fare e non fare, come usarli in modo consapevole. È necessaria, ma è un punto di partenza. Le competenze generali e le competenze specifiche per ruolo: le prime servono a tutti, come formulare richieste, verificare gli output, riconoscere i limiti, rispettare le regole. Le seconde dipendono dal lavoro: un commerciale ha bisogno di sapere come usare l'AI per preparare offerte e analizzare richieste; un addetto all'amministrazione per controllare documenti; un tecnico per consultare manuali e diagnosticare problemi. È la seconda precisazione del tema: le esigenze formative sono differenziate. Una base comune è utile, ma ruoli diversi richiedono esempi, competenze e supporti diversi. Una formazione identica per tutti rischia di essere troppo generica per alcuni e troppo specifica per altri. La capacità di impiegare gli strumenti in situazioni professionali reali, infine, è l'obiettivo: non sapere che cosa lo strumento può fare in generale, ma saperlo usare bene nel proprio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che vanno insieme: la comprensione dei limiti e la verifica degli output, e il valore delle competenze professionali preesistenti. Usare bene l'AI non significa solo saper formulare richieste: significa saper giudicare i risultati. E per giudicare un'offerta preparata dall'AI serve sapere com'è fatta una buona offerta; per giudicare una sintesi di un contratto serve capire il contratto. Le competenze professionali preesistenti non diventano inutili: diventano la condizione per usare l'AI in modo appropriato. Come visto nel Tema 13, la ricerca suggerisce che l'esperienza è decisiva per riconoscere gli errori dell'AI, e che i meno esperti rischiano di accettare output sbagliati. Questo ha conseguenze per la formazione. Non basta insegnare lo strumento: bisogna collegarlo alle competenze professionali, mostrando come il giudizio esperto guida e controlla il lavoro dell'AI. E le persone esperte, spesso più scettiche, sono una risorsa preziosa: sono quelle che sanno dove l'AI sbaglia. Coinvolgerle nella formazione e nella definizione delle pratiche è un modo per rendere l'adozione più solida. Il metodo di verifica è quello del Tema 7: qui ne sottolineiamo il ruolo nella formazione.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indica le modalità che favoriscono l'apprendimento, e coincidono con molto di ciò che si sa sulla formazione degli adulti. Esempi pratici vicini alle attività quotidiane: imparare sulle proprie attività, non su esempi generici. Esercitazione, feedback e confronto: provare, ricevere un riscontro, discutere con gli altri. Apprendimento tra colleghi e condivisione delle pratiche: molto di ciò che si impara sull'AI si impara da chi lavora accanto, che ha già affrontato gli stessi problemi. Occasioni concrete per applicare quanto appreso: senza applicazione, la formazione si dissolve. Un riferimento diffuso nella formazione aziendale è il modello 70-20-10, attribuito al Center for Creative Leadership e a Lombardo ed Eichinger negli anni Novanta: circa il 70 per cento dell'apprendimento professionale verrebbe dall'esperienza sul lavoro, il 20 dalle relazioni con gli altri, il 10 dalla formazione formale. Le proporzioni non sono un dato scientifico preciso, e sono state criticate, ma l'idea di fondo è condivisa: la formazione formale è una parte minoritaria dell'apprendimento. Il grafico illustra il modello. La conseguenza per l'AI: la formazione in aula va progettata come innesco di un apprendimento che continua nel lavoro e tra colleghi.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del tema: la formazione da sola non produce adozione. Le competenze acquisite in aula possono non trasferirsi nel lavoro senza strumenti adeguati, tempo, esercizio e supporto. È un fenomeno studiato da decenni con il nome di transfer della formazione. Una rassegna classica di Baldwin e Ford, del 1988, ha individuato tre gruppi di fattori che influenzano il trasferimento: le caratteristiche delle persone, come la motivazione; il modo in cui la formazione è progettata, come la pertinenza degli esempi; e soprattutto l'ambiente di lavoro, cioè l'opportunità di applicare, il sostegno dei responsabili e dei colleghi. Molte stime, spesso citate ma difficili da verificare, sostengono che solo una parte minoritaria di ciò che si impara in aula venga poi applicata. Il punto non dipende dal numero preciso: la formazione è necessaria ma non sufficiente. Lo schema in slide riassume le condizioni del trasferimento. Per questo percorso significa una cosa concreta: dopo ogni tema, conviene che i partecipanti abbiano occasioni per applicare ciò che hanno imparato, con gli strumenti disponibili, il tempo e il supporto dei loro responsabili.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del sottotema che riassume l'integrazione C: la differenza tra apprendimento teorico, competenza operativa e comportamento abituale. L'apprendimento teorico è sapere: capire come funziona un modello linguistico, conoscere i rischi delle allucinazioni, sapere che cosa è una buona richiesta. È ciò che un corso trasmette più facilmente. La competenza operativa è saper fare: riuscire a usare lo strumento su un compito reale, ottenendo un buon risultato, verificandolo. Si costruisce con l'esercizio. Il comportamento abituale è fare: usare lo strumento in modo appropriato, regolarmente, quando serve, senza doverci pensare ogni volta. Si costruisce con la ripetizione nel lavoro, in un contesto che lo sostiene. Il modello di Kirkpatrick, molto usato per valutare la formazione, distingue in modo simile quattro livelli: la reazione dei partecipanti, l'apprendimento, il comportamento nel lavoro, i risultati per l'organizzazione. La maggior parte delle valutazioni si ferma ai primi due, che sono i più facili da misurare. Il valore, però, si gioca negli ultimi due. Un corso apprezzato e con un buon test finale non dice ancora nulla sul comportamento.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formazione iniziale e aggiornamento continuo, il supporto successivo alla formazione, il rischio di perdita delle competenze non usate. L'aggiornamento continuo è particolarmente importante per l'AI, perché gli strumenti cambiano rapidamente: nuove funzioni, nuovi modelli, nuovi limiti. Ciò che si impara oggi può essere parzialmente superato in un anno. Il supporto dopo la formazione: le domande vere arrivano quando si prova a usare lo strumento nel proprio lavoro, spesso settimane dopo il corso. Se in quel momento non c'è nessuno a cui chiedere, molte persone rinunciano. Il rischio di perdita delle competenze non usate: ciò che si impara e non si applica si dimentica. Il fenomeno è noto dagli studi di Hermann Ebbinghaus, alla fine dell'Ottocento, sulla curva dell'oblio: senza ripetizione, la memoria di ciò che si è appreso cala rapidamente nei giorni successivi. Il grafico, con un andamento illustrativo, confronta ciò che resta senza applicazione e con applicazioni ripetute. La consapevolezza del sottotema: un corso introduttivo avvia l'apprendimento; la competenza operativa si consolida con l'applicazione e il confronto.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quarto sottotema. L'alfabetizzazione è il punto di partenza; le esigenze sono differenziate per ruolo. Le competenze professionali restano la condizione per giudicare l'AI. Si impara soprattutto nel lavoro e tra colleghi. Il trasferimento dall'aula al lavoro dipende da strumenti, tempo, esercizio e supporto. Sapere, saper fare e fare sono livelli diversi, e la valutazione dovrebbe guardare al comportamento e ai risultati. Dopo la formazione servono aggiornamento e supporto, o si dimentica. Esercizio suggerito: ogni partecipante sceglie un'attività del proprio lavoro su cui applicare, nelle prossime due settimane, qualcosa appreso nel percorso, e un collega con cui confrontarsi sui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sottotema, da comprendere, e uno di quelli con maggiore attenzione didattica. Il documento distingue: il 16.4 tratta lo sviluppo delle competenze, il 16.5 l'introduzione progressiva nel contesto operativo; il 16.5 riguarda il passaggio dal pilota all'estensione, il 16.8 il consolidamento nel tempo. Il confine con il Tema 15: lì il test serviva a verificare un'ipotesi sull'opportunità, qui la sperimentazione serve a imparare come introdurla. Integrazioni C e D: la pratica sostiene l'apprendimento; un pilota riuscito non è automaticamente pronto per tutta 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tre momenti dell'introduzione progressiva. La dimostrazione: si mostra lo strumento, le sue funzioni, alcuni esempi. Serve a far conoscere e a suscitare interesse, ma non è uso. La sperimentazione pilota: un gruppo limitato usa lo strumento nel lavoro reale, per un periodo definito, con attenzione a che cosa succede. Serve a imparare come lo strumento si inserisce nel lavoro, quali difficoltà emergono, quali pratiche funzionano. L'adozione estesa: lo strumento viene introdotto in modo più ampio, con le pratiche, i supporti e le indicazioni sviluppati durante il pilota. Il passaggio da un momento all'altro dovrebbe dipendere da ciò che si è imparato, non dal calendario. Il sottotema chiede anche la scelta di contesti circoscritti per le prime applicazioni: un gruppo, un'attività, un processo in cui l'AI ha buone probabilità di essere utile, in cui le persone sono disponibili a sperimentare, e in cui gli errori hanno conseguenze limitate. Notate la differenza con il Tema 15: lì la sperimentazione serviva a decidere se l'opportunità valeva; qui serve a capire come introdurla 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descrive le attività di un pilota, che possiamo organizzare in un ciclo. Coinvolgere gli utilizzatori: non solo come destinatari, ma come partecipanti che contribuiscono a definire come usare lo strumento. Sono loro a conoscere il lavoro. Osservare le difficoltà concrete: dove lo strumento non funziona, dove richiede troppo tempo, dove le persone si bloccano. Raccogliere feedback in modo strutturato: non solo 'come va?', ma domande precise, momenti dedicati, un modo semplice per segnalare problemi e idee. Valutare i risultati iniziali: che cosa è cambiato, con quale qualità, a quale costo. Rivedere strumenti e pratiche: cambiare le istruzioni, gli esempi, le indicazioni, a volte lo strumento stesso, o l'attività su cui si usa. E poi ricominciare. Il sottotema parla di apprendimento organizzativo attraverso cicli successivi: ogni ciclo migliora la comprensione, e le pratiche. È lo stesso principio dei cicli di miglioramento continuo, come il ciclo Plan-Do-Check-Act associato a Deming, applicato all'adozione. Lo schema mostra il ciclo.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condividere le pratiche replicabili e di adattarle a funzioni e gruppi diversi. Il prodotto più prezioso di un pilota non è il risultato in sé, ma ciò che se ne impara: quali attività si prestano, quali istruzioni funzionano, quali errori evitare, come verificare, quanto tempo serve. Queste conoscenze vanno rese trasferibili: esempi documentati, istruzioni riutilizzabili, casi d'uso descritti, errori comuni, suggerimenti. È ciò che permette a chi viene dopo di partire da un punto più avanzato, e di non ripetere gli stessi errori. Ma il sottotema aggiunge una cautela: le pratiche vanno adattate. Ciò che funziona per l'ufficio commerciale di una sede può non funzionare per quello di un'altra, con clienti diversi, o per l'assistenza clienti, con attività diverse. L'adattamento richiede di nuovo il coinvolgimento delle persone, e talvolta un piccolo pilota locale. Nell'esempio dello scenario B, fittizio: dopo il pilota sui documenti commerciali, il gruppo ha prodotto una raccolta di istruzioni per le offerte standard, cinque esempi commentati, una lista degli errori più frequenti e una procedura di verifica. Sono il punto di partenza per gli altri gruppi, non una ricetta da applicare.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centrale del sottotema, e l'integrazione D: la differenza tra successo locale e replicabilità. Un pilota riuscito non implica automaticamente che la soluzione sia pronta per tutta l'organizzazione. Ci sono buone ragioni per cui un successo locale può non ripetersi. Il gruppo pilota era scelto: persone motivate, interessate, spesso con più competenze digitali della media. Riceveva attenzione speciale: supporto dedicato, contatto diretto con chi guidava il progetto. L'attività era scelta perché adatta. Il contesto era favorevole: un responsabile convinto, carichi di lavoro gestibili. E l'effetto della novità e dell'attenzione può aver migliorato i risultati, come accennato nel Tema 15. Estendendo, si incontrano persone meno motivate, attività meno adatte, responsabili meno coinvolti, supporto più diluito. Il sottotema chiede di chiarire le condizioni necessarie per estendere: quali condizioni del pilota sono state decisive, e sono presenti anche negli altri contesti? Se il successo dipendeva dal supporto dedicato, e il supporto non si può estendere, il successo non si estenderà. La tabella confronta le condizioni tipiche di un pilota e di un'estensione.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i rischi della diffusione prematura. Ci sono molte pressioni a estendere rapidamente: le licenze sono già pagate, la direzione vuole risultati, i concorrenti annunciano progetti, il pilota è andato bene. Ma una diffusione prematura ha conseguenze note. Amplifica i problemi non risolti: se le istruzioni non sono ancora buone, ora sono usate da cento persone invece che da dieci; se c'è un errore sistematico, si moltiplica. Satura il supporto: le domande arrivano tutte insieme, e non c'è chi risponda. Produce prime esperienze negative, che come visto nel 16.2 determinano l'atteggiamento successivo, e sono difficili da recuperare. Disperde l'apprendimento: con molte persone che provano in modi diversi, è più difficile capire che cosa funziona. E, nei casi peggiori, porta all'abbandono dell'iniziativa, con la conclusione errata che l'AI non serve. La consapevolezza del sottotema: diffondere gradualmente l'AI permette di verificare risultati e condizioni, anziché amplificare rapidamente problemi non compresi. Gradualità non significa lentezza indefinita: significa estendere quando le condizioni sono pronte.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quinto sottotema. Dimostrazione, pilota ed estensione sono momenti diversi. Il pilota è un ciclo: coinvolgere, osservare, raccogliere feedback, valutare, rivedere, e ricominciare. Il suo prodotto principale sono pratiche replicabili, da adattare. Il successo locale non è replicabilità: conta capire quali condizioni sono state decisive. La diffusione prematura amplifica i problemi. Esercizio suggerito: per un'iniziativa AI in corso o immaginata, scegliere un contesto adatto per un pilota, e indicare quali informazioni bisognerebbe raccogliere per decidere se e come estenderlo.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Sesto sottotema, da comprendere. Il documento lo indica come l'approfondimento delle dinamiche sociali, mentre il 16.2 era la mappa dei fattori. Vediamo gli atteggiamenti verso l'AI, i timori, la partecipazione, la fiducia informata, la possibilità di discutere errori e dubbi, le differenze tra gruppi, i rischi della pressione e dell'entusiasmo acritico, e la distinzione tra opposizione al cambiamento e obiezioni fondate. Integrazione B: la resistenza può essere un'informazione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dagli atteggiamenti individuali e collettivi verso l'AI. In qualsiasi gruppo convivono atteggiamenti diversi: entusiasmo, curiosità, scetticismo, preoccupazione. Spesso nella stessa persona, in momenti diversi. Nessuno di questi atteggiamenti è giusto o sbagliato in sé. L'entusiasmo porta a sperimentare, ma può portare a sovrastimare le capacità. La curiosità porta a esplorare. Lo scetticismo porta a verificare, ma può bloccare la sperimentazione. La preoccupazione segnala qualcosa che conta per la persona, e merita ascolto. Il sottotema dedica attenzione specifica ai timori relativi a mansioni, competenze e autonomia. Sono timori comprensibili, alimentati dal dibattito pubblico visto nel Tema 13: perderò il lavoro? Le mie competenze varranno ancora? Dovrò lavorare come dice la macchina? Ignorarli o liquidarli come irrazionali non li fa scomparire; li rende sotterranei. Riconoscerli, rispondere con onestà a ciò che si sa, e ammettere ciò che non si sa, è più efficace. Le finalità chiare della direzione, viste nel 16.3, sono parte della risposta.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sesta domanda guida chiede come sostenere fiducia informata, sperimentazione e partecipazione. Il sottotema parla di fiducia informata e proporzionata alle capacità effettive, e di rischi di pressione all'uso e di entusiasmo acritico. La fiducia informata è una fiducia calibrata: si basa su una comprensione realistica di che cosa lo strumento sa fare bene, che cosa sa fare male, quando sbaglia. È il punto di arrivo dei Temi 3 e 7, visto qui come caratteristica di una cultura organizzativa, non solo individuale. Due squilibri sono possibili. La fiducia eccessiva, o entusiasmo acritico: si accettano gli output senza verifica, si usa lo strumento anche dove non è adatto, si ignorano i segnali di problema. La sfiducia eccessiva: si rifiuta lo strumento anche dove sarebbe utile, si sottolineano solo gli errori. Una cultura che premia l'entusiasmo, per esempio celebrando chi usa di più l'AI senza guardare come, spinge verso il primo squilibrio. Una cultura che punisce gli errori spinge verso il secondo, o verso l'uso nascosto. La consapevolezza del sottotema: una cultura favorevole all'AI promuove confronto e fiducia informata, non entusiasmo obbligatorio.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la possibilità di discutere errori, dubbi e risultati insoddisfacenti, e la legittimità delle segnalazioni di problemi. È una condizione decisiva per l'adozione, e per un uso sicuro. Quando le persone usano l'AI, sbagliano: accettano un output sbagliato, la usano su un'attività non adatta, ottengono risultati deludenti. Se possono parlarne senza timore, gli errori diventano apprendimento: per loro, per i colleghi, per l'organizzazione. Se temono di essere giudicate, li nascondono: gli errori si ripetono, i problemi restano invisibili, e le pratiche non migliorano. Amy Edmondson, della Harvard Business School, ha studiato a lungo questo fenomeno con il concetto di sicurezza psicologica: la convinzione condivisa, in un gruppo, che si possa esprimere un dubbio, ammettere un errore o segnalare un problema senza conseguenze negative. I suoi studi, a partire da quello del 1999, mostrano che i gruppi con maggiore sicurezza psicologica apprendono di più. Per l'AI, la sicurezza psicologica significa poter dire 'ho usato l'AI e ho sbagliato', 'non ho capito come usarla', 'secondo me qui non funziona', senza essere visti come incompetenti o resistenti.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nella sua forma più completa: la resistenza può essere un'informazione utile. Il sottotema chiede di distinguere tra opposizione al cambiamento e obiezioni fondate. Quando le persone resistono all'uso di uno strumento, la reazione organizzativa più comune è considerarle resistenti al cambiamento, e cercare di convincerle. Ma le obiezioni possono segnalare problemi reali. Il documento ne indica quattro tipi. Scarsa adeguatezza: lo strumento non serve davvero per quelle attività. Problemi di qualità: gli output non sono abbastanza buoni, e chi conosce il lavoro lo vede. Carichi aggiuntivi: lo strumento crea lavoro, per esempio di verifica o di correzione, che nessuno ha considerato, come visto nel Tema 13. Ambiguità nelle responsabilità: non è chiaro chi risponde degli errori, e le persone non vogliono rispondere di ciò che non controllano. Esistono anche resistenze di altro tipo, per abitudine o per timori generici. Ma trattare tutte le obiezioni come resistenza fa perdere informazioni preziose. La domanda utile davanti a un'obiezione è: che cosa ci sta dicendo? La tabella propone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la partecipazione delle persone al percorso di adozione, l'ascolto delle esperienze positive e negative, la collaborazione e l'apprendimento tra colleghi, le differenze culturali e professionali tra gruppi, e il coinvolgimento per migliorare le decisioni organizzative. La partecipazione non è un gesto di cortesia: migliora le decisioni. Chi svolge il lavoro sa dove l'AI può servire, quali eccezioni esistono, quali problemi emergeranno. Coinvolgerlo nella scelta delle attività, nella definizione delle pratiche, nella valutazione dei risultati porta a soluzioni migliori, e anche a una maggiore disponibilità a usarle. Forme concrete di partecipazione: gruppi di lavoro sui casi d'uso, momenti di confronto periodici, raccolta di proposte, persone di riferimento all'interno dei gruppi, che riprenderemo nel 16.7. Le differenze culturali e professionali tra gruppi vanno rispettate: professioni diverse hanno rapporti diversi con la tecnologia, con l'autonomia, con l'errore. Ciò che funziona per un team di marketing può non funzionare per un gruppo di tecnici o di legali. Il coinvolgimento serve anche a vedere queste differenze.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sesto sottotema. Atteggiamenti diversi convivono, e i timori vanno riconosciuti. La fiducia informata sta tra la sfiducia e l'entusiasmo acritico, e la cultura può spingere verso l'uno o l'altro. Poter parlare di errori e dubbi, la sicurezza psicologica, è decisivo per apprendere. Le obiezioni possono segnalare inadeguatezza, qualità scarsa, carichi aggiuntivi, responsabilità ambigue. La partecipazione migliora le decisioni. Esercizio suggerito: ciascuno scrive un dubbio o un'obiezione sull'uso dell'AI nel proprio lavoro; in gruppo si discute che cosa potrebbe segnalare e come l'organizzazione potrebbe tenerne conto.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Settimo sottotema, con priorità media, a livello di conoscenza. Il documento distingue: il 16.3 riguarda orientamento e responsabilità manageriali, il 16.7 i meccanismi di supporto quotidiano; il 16.6 le dinamiche culturali, il 16.7 i riferimenti organizzativi. Vediamo la chiarezza sugli strumenti e sugli usi consentiti, materiali ed esempi, referenti e canali di supporto, raccolta di esigenze, coordinamento tra funzioni, equilibrio tra autonomia e pratiche comuni, gestione degli usi non autorizzati. Integrazione A. Il confine con i Temi 17 e 18: parliamo di supporto operativo, non di governance formale, norme o sicurezza.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punti del sottotema riguardano la chiarezza: sugli strumenti approvati, sugli usi consentiti, e l'orientamento nella scelta tra gli strumenti disponibili. Abbiamo visto nel 16.2 che la mancanza di chiarezza è un ostacolo: nel dubbio, molte persone si astengono, e altre usano ciò che trovano. Le persone hanno bisogno di risposte semplici a domande semplici. Quali strumenti posso usare per il lavoro? Per quali attività? Quali informazioni posso inserire, e quali no? Che cosa devo verificare prima di usare un risultato? A chi chiedo se ho un dubbio? Il sottotema chiede che le indicazioni siano semplici, comprensibili e applicabili: non un regolamento di trenta pagine, ma poche indicazioni chiare, con esempi. Le regole formali, gli aspetti normativi e di sicurezza, saranno trattati nei Temi 17 e 18; qui ci interessa la loro traduzione operativa, ciò che serve a una persona nel momento in cui deve decidere se e come usare uno strumento. L'esempio in slide mostra una scheda di indicazioni, fittizia, del tipo che un'azienda potrebbe distribuire.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indica due forme di supporto quotidiano. I materiali, esempi e istruzioni riutilizzabili: raccolte di istruzioni per le attività frequenti, esempi commentati di buon uso, guide brevi per le situazioni tipiche, liste degli errori comuni. Sono il prodotto naturale dei piloti, come visto nel 16.5, e permettono alle persone di non partire da zero. Funzionano se sono facili da trovare, aggiornati e vicini alle attività reali. I referenti e i canali di supporto: persone a cui rivolgersi quando si ha un dubbio o un problema. Una forma diffusa sono i referenti di reparto, a volte chiamati 'champion' o 'ambasciatori': colleghi con più esperienza che dedicano una parte del loro tempo ad aiutare gli altri, a raccogliere problemi, a condividere pratiche. Hanno il vantaggio di conoscere il lavoro del reparto, e di essere vicini. Per funzionare, hanno bisogno di tempo riconosciuto per questo ruolo, di un collegamento con chi coordina l'adozione, e di non diventare l'unico punto di riferimento, con il rischio di sovraccarico. A questi si aggiungono canali più strutturati, come uno spazio di domande e risposte condiviso o un supporto tecnico.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raccogliere problemi, esigenze e proposte; di coordinare tra funzioni e reparti; di condividere le esperienze efficaci; di ridurre duplicazioni e frammentazione. Quando l'adozione cresce, emergono problemi di coordinamento. Reparti diversi scelgono strumenti diversi per esigenze simili. Più gruppi sviluppano in parallelo le stesse istruzioni, o risolvono gli stessi problemi, senza saperlo. Le buone pratiche restano locali. Le esigenze che richiederebbero un intervento comune, come un'integrazione o una nuova funzione, non arrivano a chi può decidere. Un coordinamento leggero può aiutare molto: un punto in cui le esigenze e le proposte vengono raccolte; momenti periodici di scambio tra i referenti dei diversi reparti; uno spazio condiviso per le pratiche e i materiali; qualcuno che abbia una visione d'insieme. Alcune organizzazioni costruiscono strutture dedicate, come i centri di eccellenza AI: il documento chiede di solo accennarvi. Per la maggior parte delle aziende, il punto non è creare una struttura, ma assicurarsi che le informazioni circolino e che qualcuno se ne occupi.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trovare un equilibrio tra autonomia individuale e pratiche comuni, e di distinguere tra supporto operativo e governance formale. L'autonomia ha molti vantaggi: le persone conoscono il proprio lavoro, trovano usi che nessuno aveva previsto, adattano lo strumento alle proprie esigenze. Ma un'autonomia senza riferimenti produce frammentazione, pratiche incoerenti, rischi non visti, e lascia sole le persone meno esperte. Le pratiche comuni danno coerenza, facilitano l'apprendimento e il controllo, ma se sono troppe o troppo rigide soffocano la sperimentazione. L'equilibrio dipende dall'attività: per attività con rischi elevati o con effetti verso l'esterno servono pratiche comuni più definite; per attività interne e a basso rischio, più autonomia. La consapevolezza del sottotema lo riassume: l'autonomia individuale è più efficace quando esistono riferimenti operativi e canali di aiuto accessibili. Quanto alla distinzione con la governance formale: il supporto operativo aiuta le persone a usare bene gli strumenti; la governance definisce regole, responsabilità, controlli e conformità a livello di organizzazione. Sono collegati, ma diversi: la governance sarà trattata nei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l'integrazione A nella sua forma operativa: il riconoscimento e la gestione degli usi non autorizzati. Il documento propone una lettura equilibrata. Chiarezza sugli strumenti consentiti e supporto alle esigenze reali possono ridurre gli incentivi all'uso improprio di servizi non autorizzati, senza eliminarlo automaticamente. Che cosa significa in pratica? Primo, capire: perché le persone usano strumenti non approvati? Quali esigenze soddisfano? Spesso la risposta indica che cosa manca nell'offerta aziendale. Secondo, offrire alternative: se esiste uno strumento approvato adeguato, facile da usare e conosciuto, l'incentivo a usare altro si riduce molto. Terzo, chiarire: indicazioni semplici su che cosa non si può fare, e perché, con particolare attenzione alle informazioni aziendali. Quarto, accompagnare: chi usava uno strumento non autorizzato ha spesso sviluppato competenze utili, che vanno portate sugli strumenti approvati. E infine, controllare dove serve: alcuni usi comportano rischi che richiedono misure specifiche, che saranno trattate nei Temi 17 e 18. Il documento è chiaro su un punto: lo Shadow AI va considerato qui come fenomeno di adozione, non come tema tecnico di cybersecurity.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settimo sottotema. Servono indicazioni semplici su strumenti e usi consentiti. Materiali riutilizzabili e referenti di reparto sono il supporto quotidiano. Un coordinamento leggero fa circolare esigenze e pratiche. L'equilibrio tra autonomia e pratiche comuni dipende dal rischio. Gli usi non autorizzati si gestiscono capendo, offrendo alternative, chiarendo, accompagnando e controllando dove serve. Esercizio suggerito: scrivere in gruppo una scheda di indicazioni d'uso di cinque righe per il proprio reparto, con strumenti consentiti, usi sì e no, verifica e a chi rivolgersi.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sottotema, da comprendere, e uno di quelli con maggiore attenzione didattica. Il documento distingue: il 16.1 definisce il fenomeno dell'adozione, il 16.8 ne osserva continuità, qualità e impatti; il 16.5 riguarda il passaggio all'estensione, il 16.8 il consolidamento nel tempo. Vediamo che cosa osservare, la differenza tra diffusione, intensità e qualità, tra metriche di adozione e indicatori di impatto, i costi, la sostenibilità, e la possibilità di modificare, ridimensionare o interrompere. Integrazione D. Sistemi avanzati di misurazione vanno solo accennati; le dimensioni del valore sono quelle del Tema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L'ottava domanda guida: come capire se l'uso è efficace e sostenibile nel tempo? Il sottotema parte dalla differenza tra diffusione, intensità e qualità dell'utilizzo, e dalla frequenza e continuità d'uso. La diffusione dice quante persone usano lo strumento. L'intensità dice quanto lo usano: con quale frequenza, per quante attività, con quale continuità nel tempo. La qualità dice come lo usano: su attività adatte, in modo appropriato, con verifica, con buoni risultati. Le tre dimensioni possono divergere. Molte persone che usano lo strumento una volta al mese: alta diffusione, bassa intensità. Poche persone che lo usano ogni giorno su attività importanti: bassa diffusione, alta intensità. Molte persone che lo usano spesso, ma senza verifica o per attività inadatte: alta diffusione e intensità, bassa qualità. La continuità è particolarmente informativa: un uso che si mantiene nel tempo indica che lo strumento è entrato nelle abitudini; un uso che cala dopo le prime settimane indica che qualcosa non funziona, come visto nel 16.1. La diffusione è la più facile da misurare, la qualità la più difficile: per questo la tentazione è guardare solo la prima.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centrale del sottotema: metriche di adozione e indicatori di impatto. Le metriche di adozione descrivono l'uso: numero di utenti attivi, frequenza, numero di richieste, attività coperte. Sono spesso disponibili direttamente dagli strumenti, ed è per questo che sono le più usate nei rapporti. Gli indicatori di impatto descrivono gli effetti sul lavoro e sui risultati: tempo per completare un'attività, qualità degli output, errori, soddisfazione dei clienti, capacità operativa, come visto nel Tema 12. Sono più difficili da raccogliere, e spesso richiedono un confronto con la situazione precedente, come visto nel Tema 15. Le metriche di adozione sono utili per capire se lo strumento viene usato, e dove. Ma non dicono se l'uso produce benefici. È possibile un'alta adozione con impatto nullo, o negativo. La tabella confronta i due tipi di indicatori nello scenario dei documenti commerciali. Il sottotema chiede di osservare entrambi, e di non trattare i primi come prova dei secondi. Nello scenario A del modulo si osservava il numero di accessi; nello scenario B uso, qualità, problemi e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diverse cose da osservare nel tempo, che vanno oltre i numeri dell'uso. Raccogliamole in un piccolo cruscotto, utile come traccia. L'uso effettivo: diffusione, intensità, continuità. I risultati osservati nelle attività: tempo, qualità, errori, effetti sul servizio. Il feedback e la soddisfazione degli utilizzatori: che cosa dicono, che cosa trovano utile, che cosa li frustra. Le difficoltà e gli ostacoli persistenti: quelli che non si sono risolti con il tempo, e che probabilmente sono strutturali. I costi di supporto e aggiornamento: quanto costa mantenere l'adozione, in tempo dei referenti, materiali, licenze, interventi. L'evoluzione dei bisogni formativi: che cosa le persone hanno bisogno di imparare ora, che non serviva all'inizio. La revisione delle pratiche operative: le istruzioni e le indicazioni sono ancora adeguate? La combinazione di dati quantitativi, come l'uso e i tempi, e qualitativi, come il feedback e le difficoltà, è importante: i numeri dicono che cosa succede, le persone dicono perché. Il documento chiede di solo accennare ai sistemi avanzati di misurazione: per la maggior parte delle organizzazioni, poche osservazioni regolari valgono più di un sistema complesso.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diffondere rapidamente non significa adottare efficacemente. Numerosità degli utenti e velocità di distribuzione non dimostrano benefici o sostenibilità. Il sottotema segnala anche il rischio di amplificare inefficienze attraverso una diffusione rapida: se un'attività era inefficiente, e l'AI la accelera, una diffusione rapida moltiplica l'inefficienza, come visto nel Tema 13. Il grafico confronta, con dati inventati, due iniziative in due aziende fittizie. L'iniziativa A ha distribuito rapidamente lo strumento a tutti: in tre mesi l'ottanta per cento delle persone lo aveva usato almeno una volta; ma l'uso abituale si è stabilizzato intorno al 15 per cento, e i benefici osservati sono modesti. L'iniziativa B è partita con un pilota e ha esteso gradualmente: in tre mesi solo il 20 per cento aveva accesso; ma l'uso abituale tra chi aveva accesso è stato alto, e i benefici osservati maggiori. Alla fine dell'anno, l'iniziativa B aveva meno utenti 'totali' ma più utenti abituali e più impatto. Un rapporto che mostrasse solo gli utenti totali al terzo mese avrebbe premiato l'iniziativa sbagliata.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valutare la sostenibilità dell'uso nel tempo. Un'adozione sostenibile è un'adozione che regge quando l'attenzione iniziale finisce: quando il progetto si chiude, quando i referenti cambiano ruolo, quando lo strumento si aggiorna, quando arriva una nuova priorità. Alcune domande per valutarla. L'uso dipende da poche persone, o è diffuso nei gruppi? Se il referente se ne va, che cosa succede? I materiali e le indicazioni vengono aggiornati, e da chi? I costi, di licenze e di supporto, sono sostenibili rispetto ai benefici osservati? Lo strumento è integrato nei processi, o è un'aggiunta che si può abbandonare senza che nessuno se ne accorga? I nuovi arrivati imparano a usarlo? Ci sono segnali di deterioramento, come un calo della qualità d'uso, verifiche sempre più superficiali, o un ritorno ai vecchi metodi? Come visto nel Tema 14 per le fonti informative e nel Tema 15 per i prototipi, molti sistemi funzionano finché qualcuno se ne occupa attivamente, e si degradano quando l'attenzione cala. La sostenibilità va progettata, non si produce da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la possibilità di modificare, ridimensionare o interrompere le iniziative, e l'apprendimento e il miglioramento continuo. Il monitoraggio serve a decidere. Alcune decisioni possibili. Consolidare: l'iniziativa funziona, si mantiene e si cura. Estendere: le condizioni sono presenti anche altrove, come visto nel 16.5. Modificare: cambiare le pratiche, la formazione, il supporto, le attività su cui si usa lo strumento. Ridimensionare: limitare l'uso alle attività o ai gruppi in cui produce benefici, e abbandonarlo dove non li produce. Interrompere: l'iniziativa non produce benefici sufficienti, o i costi e i rischi superano i vantaggi. Come per la sperimentazione del Tema 15, l'interruzione o il ridimensionamento non sono fallimenti: sono decisioni corrette sulla base di ciò che si è osservato. È la prima precisazione del tema applicata al livello dell'organizzazione: l'adozione non è sempre desiderabile. Un'organizzazione che non ridimensiona mai nulla probabilmente non sta guardando davvero i risultati. La consapevolezza del sottotema: monitorare significa osservare non soltanto quanto l'AI viene usata, ma come, perché e con quali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Diffusione, intensità e qualità sono diverse. Le metriche di adozione non sono indicatori di impatto. Da osservare: uso, risultati, feedback, ostacoli persistenti, costi, bisogni formativi, pratiche. La diffusione rapida può produrre molti utenti e poco impatto, e amplificare inefficienze. La sostenibilità va progettata. Il monitoraggio porta a consolidare, estendere, modificare, ridimensionare o interrompere. Esercizio suggerito: per un'iniziativa AI reale o immaginata, scegliere due metriche di adozione e due indicatori di impatto, e indicare quale risultato porterebbe a ridimensionarla.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Quando c'è adozione reale: quando l'uso è integrato in modo appropriato e continuo nel lavoro, e produce risultati, non quando ci sono licenze e accessi. Perché la disponibilità non basta: servono utilità percepita, competenze, tempo, condizioni operative. Ostacoli delle persone o delle condizioni: spesso strutturali, e i rimedi sono diversi. Responsabilità: la direzione orienta e dà risorse, i manager creano condizioni, i collaboratori sperimentano e segnalano. Formazione: avvia l'apprendimento, ma il trasferimento nel lavoro richiede strumenti, tempo, esercizio e supporto. Fiducia, sperimentazione, partecipazione: fiducia informata, sicurezza psicologica, obiezioni ascoltate come informazioni. Supporto e coordinamento: indicazioni semplici, materiali, referenti, coordinamento leggero. Efficacia e sostenibilità: osservare qualità e impatto, non solo diffusione, ed essere pronti a modificare, ridimensionare o interrompere.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distinguere disponibilità tecnologica, uso, adozione e valore; riconoscere i principali fattori abilitanti e gli ostacoli all'adozione; comprendere il ruolo della direzione e dei responsabili aziendali; spiegare perché la formazione iniziale non garantisce l'applicazione delle competenze; comprendere il valore della sperimentazione progressiva e del feedback; distinguere fiducia informata ed entusiasmo acritico; riconoscere che dubbi e resistenze possono segnalare problemi reali; comprendere il fenomeno dello Shadow AI dal punto di vista organizzativo; riconoscere il ruolo di supporto, indicazioni pratiche e coordinamento; distinguere diffusione rapida e adozione efficace; comprendere perché monitorare anche la qualità dell'uso e i risultati; riconoscere quando un'iniziativa dovrebbe essere adattata, ridimensionata o interrotta.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le domande da porsi quando si introduce, si gestisce o si partecipa a un'iniziativa di adozione dell'AI. Cinque colonne, come le dimensioni del tema. Adozione: a che livello siamo, disponibilità, uso, adozione, valore? L'uso è utile per le attività reali? Quali ostacoli, individuali o strutturali? Persone: le finalità sono chiare? I responsabili creano condizioni, con tempo e ascolto? Le obiezioni vengono ascoltate? Si può parlare di errori? Competenze: la formazione è adatta al ruolo, con esempi vicini al lavoro? Ci sono occasioni per applicare e supporto dopo? Diffusione: c'è stato un pilota? Che cosa ne abbiamo imparato? Le condizioni del successo ci sono anche altrove? Ci sono indicazioni semplici, materiali, referenti? Risultati: osserviamo qualità e impatto, non solo utenti? È sostenibile? Che cosa ci porterebbe a modificare, ridimensionare o interrompere? Sono domande utili a chiunque, non solo a chi guida il progetto. E valgono anche per questo percorso di formazione.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frequenti quando si introduce l'AI in un'organizzazione, una per ciascuno dei passaggi principali del modulo. Primo: 'abbiamo dato le licenze a tutti'. Distribuire uno strumento non è adottarlo, e il lancio non è un evento concluso. Secondo: 'le persone resistono al cambiamento'. Spesso la difficoltà è strutturale, cioè strumento, tempo, regole, processo; e un'obiezione può contenere un'informazione utile. Terzo: 'ognuno deve usarlo ogni giorno'. Imporre obiettivi quantitativi d'uso produce adozione simbolica; promuovere a parole senza dare tempo e risorse non produce nulla. Quarto: 'abbiamo fatto il corso'. La formazione da sola non produce adozione: servono applicazione, supporto e confronto tra colleghi. Quinto: 'il pilota è andato bene, estendiamolo a tutti'. Prima bisogna capire quali condizioni lo hanno reso riuscito, e se esistono anche altrove. Sesto: 'guardiamo quanti utenti attivi ci sono'. Gli accessi non dicono nulla su qualità e impatto; e a volte la decisione giusta è ridimensionare. Altri due errori, da ricordare a voce: ignorare lo Shadow AI, o al contrario chiamare così ogni iniziativa spontanea; premiare l'entusiasmo e punire gli errori. Sono errori comprensibili, perché distribuire una tecnologia è molto più facile, e più visibile, che creare le condizioni per usarla bene. Suggerimento: chiedere ai partecipanti quale di queste frasi hanno sentito più spesso in 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16 si chiude l'area 'Comprendere il valore per l'azienda'. Abbiamo visto come l'AI crea valore, come trasforma il lavoro, quali condizioni informative servono, come scegliere le opportunità e, ora, come sostenerne l'adozione. I prossimi temi, il 17 e il 18, sono dedicati all'utilizzo responsabile dell'AI. Molte questioni che abbiamo toccato in quest'area, rimandandone l'approfondimento, verranno trattate lì: la protezione dei dati e delle informazioni riservate, la sicurezza, i rischi per le persone, le norme, le responsabilità formali, la governance. In particolare lo Shadow AI, che qui abbiamo esaminato come fenomeno di adozione, verrà ripreso dal punto di vista dei rischi e delle regole. Un'ultima osservazione, che riguarda questo percorso: tutto ciò che abbiamo detto sull'adozione vale anche per la formazione che state seguendo. Le competenze acquisite si consolideranno se ci saranno occasioni per applicarle, tempo, strumenti adatti, supporto e confronto tra colleghi.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Gli studi sull'adozione delle tecnologie e sulla formazione sono consolidati, ma l'adozione dell'AI generativa è un fenomeno recente, e le indagini sul suo uso nelle aziende, come quelle sullo Shadow AI, vengono aggiornate di frequente, con numeri che variano molto: è consigliabile verificarle prima di ogni edizione. Il modello 70-20-10, la curva dell'oblio e l'hype cycle sono presentati come schemi indicativi, con le cautele dovute. Gli esempi aziendali e i numeri del modulo sono fittizi; lo scenario dei documenti commerciali è tratto dal documento di perimetro. Riferimenti verificati a ottobre 2026: il dato del Work Trend Index 2024 è confermato dal comunicato di Microsoft del maggio 2024; le pagine degli articoli e gli editori dei libri sono da ricontrollare sulle pubblicazioni originali. L'hype cycle è presentato per intero nel Tema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16  ·  Adozione e cambiamento organizzativo</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16  ·  Adozione e cambiamento organizzativo</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16  ·  Adozione e cambiamento organizzativo</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4.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4.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4.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slideLayout" Target="../slideLayouts/slideLayout4.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4.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4.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4.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slideLayout" Target="../slideLayouts/slideLayout4.xml"/><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67-1.png"/><Relationship Id="rId3" Type="http://schemas.openxmlformats.org/officeDocument/2006/relationships/image" Target="../media/image-67-2.png"/><Relationship Id="rId4" Type="http://schemas.openxmlformats.org/officeDocument/2006/relationships/slideLayout" Target="../slideLayouts/slideLayout4.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slideLayout" Target="../slideLayouts/slideLayout4.xml"/><Relationship Id="rId8"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16</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Adozione dell'AI e cambiamento organizzativo</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Comprendere il valore per l'azienda</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Comprendere i fattori tecnologici, umani e organizzativi dell'adozione</a:t>
            </a:r>
            <a:endParaRPr lang="en-US" sz="1400" dirty="0"/>
          </a:p>
          <a:p>
            <a:pPr marL="177800" indent="-177800">
              <a:spcAft>
                <a:spcPts val="600"/>
              </a:spcAft>
              <a:buSzPct val="100000"/>
              <a:buChar char="•"/>
            </a:pPr>
            <a:r>
              <a:rPr lang="en-US" sz="1400" dirty="0">
                <a:solidFill>
                  <a:schemeClr val="tx2"/>
                </a:solidFill>
              </a:rPr>
              <a:t>Riconoscere il ruolo di leadership, competenze, partecipazione, supporto, sperimentazione, miglioramento continuo</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Uno strumento disponibile non è uno strumento adottato.</a:t>
            </a:r>
            <a:endParaRPr lang="en-US" sz="1400" dirty="0"/>
          </a:p>
          <a:p>
            <a:pPr indent="0" marL="0">
              <a:buNone/>
            </a:pPr>
            <a:endParaRPr lang="en-US" sz="1400" dirty="0"/>
          </a:p>
          <a:p>
            <a:pPr indent="0" marL="0">
              <a:buNone/>
            </a:pPr>
            <a:r>
              <a:rPr lang="en-US" sz="1400" dirty="0">
                <a:solidFill>
                  <a:schemeClr val="tx2"/>
                </a:solidFill>
              </a:rPr>
              <a:t>Servono utilità compresa, competenze e condizioni operative, integrazione appropriata nel lavoro.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 disponibilità al valore</a:t>
            </a:r>
            <a:endParaRPr lang="en-US" sz="2600" dirty="0"/>
          </a:p>
        </p:txBody>
      </p:sp>
      <p:sp>
        <p:nvSpPr>
          <p:cNvPr id="4" name="Disponibilità"/>
          <p:cNvSpPr/>
          <p:nvPr/>
        </p:nvSpPr>
        <p:spPr>
          <a:xfrm>
            <a:off x="457200" y="1051560"/>
            <a:ext cx="1481328" cy="1463040"/>
          </a:xfrm>
          <a:prstGeom prst="roundRect">
            <a:avLst>
              <a:gd name="adj" fmla="val 5000"/>
            </a:avLst>
          </a:prstGeom>
          <a:solidFill>
            <a:schemeClr val="bg2"/>
          </a:solidFill>
          <a:ln/>
        </p:spPr>
      </p:sp>
      <p:sp>
        <p:nvSpPr>
          <p:cNvPr id="5" name="Text 2"/>
          <p:cNvSpPr txBox="1"/>
          <p:nvPr/>
        </p:nvSpPr>
        <p:spPr>
          <a:xfrm>
            <a:off x="548640" y="1097280"/>
            <a:ext cx="457200" cy="384048"/>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6" name="Text 3"/>
          <p:cNvSpPr txBox="1"/>
          <p:nvPr/>
        </p:nvSpPr>
        <p:spPr>
          <a:xfrm>
            <a:off x="548640" y="1481328"/>
            <a:ext cx="1325880" cy="457200"/>
          </a:xfrm>
          <a:prstGeom prst="rect">
            <a:avLst/>
          </a:prstGeom>
          <a:noFill/>
          <a:ln/>
        </p:spPr>
        <p:txBody>
          <a:bodyPr wrap="square" lIns="0" tIns="0" rIns="0" bIns="0" rtlCol="0" anchor="t"/>
          <a:lstStyle/>
          <a:p>
            <a:pPr indent="0" marL="0">
              <a:buNone/>
            </a:pPr>
            <a:r>
              <a:rPr lang="en-US" sz="1300" b="1" dirty="0">
                <a:solidFill>
                  <a:schemeClr val="tx1"/>
                </a:solidFill>
              </a:rPr>
              <a:t>Disponibilità</a:t>
            </a:r>
            <a:endParaRPr lang="en-US" sz="1300" dirty="0"/>
          </a:p>
        </p:txBody>
      </p:sp>
      <p:sp>
        <p:nvSpPr>
          <p:cNvPr id="7" name="Text 4"/>
          <p:cNvSpPr txBox="1"/>
          <p:nvPr/>
        </p:nvSpPr>
        <p:spPr>
          <a:xfrm>
            <a:off x="548640" y="1938528"/>
            <a:ext cx="1325880" cy="502920"/>
          </a:xfrm>
          <a:prstGeom prst="rect">
            <a:avLst/>
          </a:prstGeom>
          <a:noFill/>
          <a:ln/>
        </p:spPr>
        <p:txBody>
          <a:bodyPr wrap="square" lIns="0" tIns="0" rIns="0" bIns="0" rtlCol="0" anchor="t"/>
          <a:lstStyle/>
          <a:p>
            <a:pPr indent="0" marL="0">
              <a:buNone/>
            </a:pPr>
            <a:r>
              <a:rPr lang="en-US" sz="1100" dirty="0">
                <a:solidFill>
                  <a:schemeClr val="tx2"/>
                </a:solidFill>
              </a:rPr>
              <a:t>Lo strumento c'è</a:t>
            </a:r>
            <a:endParaRPr lang="en-US" sz="1100" dirty="0"/>
          </a:p>
        </p:txBody>
      </p:sp>
      <p:sp>
        <p:nvSpPr>
          <p:cNvPr id="8" name="freccia"/>
          <p:cNvSpPr/>
          <p:nvPr/>
        </p:nvSpPr>
        <p:spPr>
          <a:xfrm>
            <a:off x="1947672" y="1645920"/>
            <a:ext cx="173736" cy="292608"/>
          </a:xfrm>
          <a:prstGeom prst="rightArrow">
            <a:avLst/>
          </a:prstGeom>
          <a:solidFill>
            <a:schemeClr val="accent2"/>
          </a:solidFill>
          <a:ln/>
        </p:spPr>
      </p:sp>
      <p:sp>
        <p:nvSpPr>
          <p:cNvPr id="9" name="Capacità"/>
          <p:cNvSpPr/>
          <p:nvPr/>
        </p:nvSpPr>
        <p:spPr>
          <a:xfrm>
            <a:off x="2139696" y="1051560"/>
            <a:ext cx="1481328" cy="1463040"/>
          </a:xfrm>
          <a:prstGeom prst="roundRect">
            <a:avLst>
              <a:gd name="adj" fmla="val 5000"/>
            </a:avLst>
          </a:prstGeom>
          <a:solidFill>
            <a:schemeClr val="accent6"/>
          </a:solidFill>
          <a:ln/>
        </p:spPr>
      </p:sp>
      <p:sp>
        <p:nvSpPr>
          <p:cNvPr id="10" name="Text 7"/>
          <p:cNvSpPr txBox="1"/>
          <p:nvPr/>
        </p:nvSpPr>
        <p:spPr>
          <a:xfrm>
            <a:off x="2231136" y="1097280"/>
            <a:ext cx="457200" cy="384048"/>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1" name="Text 8"/>
          <p:cNvSpPr txBox="1"/>
          <p:nvPr/>
        </p:nvSpPr>
        <p:spPr>
          <a:xfrm>
            <a:off x="2231136" y="1481328"/>
            <a:ext cx="1325880" cy="457200"/>
          </a:xfrm>
          <a:prstGeom prst="rect">
            <a:avLst/>
          </a:prstGeom>
          <a:noFill/>
          <a:ln/>
        </p:spPr>
        <p:txBody>
          <a:bodyPr wrap="square" lIns="0" tIns="0" rIns="0" bIns="0" rtlCol="0" anchor="t"/>
          <a:lstStyle/>
          <a:p>
            <a:pPr indent="0" marL="0">
              <a:buNone/>
            </a:pPr>
            <a:r>
              <a:rPr lang="en-US" sz="1300" b="1" dirty="0">
                <a:solidFill>
                  <a:schemeClr val="tx1"/>
                </a:solidFill>
              </a:rPr>
              <a:t>Capacità</a:t>
            </a:r>
            <a:endParaRPr lang="en-US" sz="1300" dirty="0"/>
          </a:p>
        </p:txBody>
      </p:sp>
      <p:sp>
        <p:nvSpPr>
          <p:cNvPr id="12" name="Text 9"/>
          <p:cNvSpPr txBox="1"/>
          <p:nvPr/>
        </p:nvSpPr>
        <p:spPr>
          <a:xfrm>
            <a:off x="2231136" y="1938528"/>
            <a:ext cx="1325880" cy="502920"/>
          </a:xfrm>
          <a:prstGeom prst="rect">
            <a:avLst/>
          </a:prstGeom>
          <a:noFill/>
          <a:ln/>
        </p:spPr>
        <p:txBody>
          <a:bodyPr wrap="square" lIns="0" tIns="0" rIns="0" bIns="0" rtlCol="0" anchor="t"/>
          <a:lstStyle/>
          <a:p>
            <a:pPr indent="0" marL="0">
              <a:buNone/>
            </a:pPr>
            <a:r>
              <a:rPr lang="en-US" sz="1100" dirty="0">
                <a:solidFill>
                  <a:schemeClr val="tx2"/>
                </a:solidFill>
              </a:rPr>
              <a:t>Le persone sanno usarlo</a:t>
            </a:r>
            <a:endParaRPr lang="en-US" sz="1100" dirty="0"/>
          </a:p>
        </p:txBody>
      </p:sp>
      <p:sp>
        <p:nvSpPr>
          <p:cNvPr id="13" name="freccia"/>
          <p:cNvSpPr/>
          <p:nvPr/>
        </p:nvSpPr>
        <p:spPr>
          <a:xfrm>
            <a:off x="3630168" y="1645920"/>
            <a:ext cx="173736" cy="292608"/>
          </a:xfrm>
          <a:prstGeom prst="rightArrow">
            <a:avLst/>
          </a:prstGeom>
          <a:solidFill>
            <a:schemeClr val="accent2"/>
          </a:solidFill>
          <a:ln/>
        </p:spPr>
      </p:sp>
      <p:sp>
        <p:nvSpPr>
          <p:cNvPr id="14" name="Applicazione"/>
          <p:cNvSpPr/>
          <p:nvPr/>
        </p:nvSpPr>
        <p:spPr>
          <a:xfrm>
            <a:off x="3822192" y="1051560"/>
            <a:ext cx="1481328" cy="1463040"/>
          </a:xfrm>
          <a:prstGeom prst="roundRect">
            <a:avLst>
              <a:gd name="adj" fmla="val 5000"/>
            </a:avLst>
          </a:prstGeom>
          <a:solidFill>
            <a:schemeClr val="bg2"/>
          </a:solidFill>
          <a:ln/>
        </p:spPr>
      </p:sp>
      <p:sp>
        <p:nvSpPr>
          <p:cNvPr id="15" name="Text 12"/>
          <p:cNvSpPr txBox="1"/>
          <p:nvPr/>
        </p:nvSpPr>
        <p:spPr>
          <a:xfrm>
            <a:off x="3913632" y="1097280"/>
            <a:ext cx="457200" cy="384048"/>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6" name="Text 13"/>
          <p:cNvSpPr txBox="1"/>
          <p:nvPr/>
        </p:nvSpPr>
        <p:spPr>
          <a:xfrm>
            <a:off x="3913632" y="1481328"/>
            <a:ext cx="1325880" cy="457200"/>
          </a:xfrm>
          <a:prstGeom prst="rect">
            <a:avLst/>
          </a:prstGeom>
          <a:noFill/>
          <a:ln/>
        </p:spPr>
        <p:txBody>
          <a:bodyPr wrap="square" lIns="0" tIns="0" rIns="0" bIns="0" rtlCol="0" anchor="t"/>
          <a:lstStyle/>
          <a:p>
            <a:pPr indent="0" marL="0">
              <a:buNone/>
            </a:pPr>
            <a:r>
              <a:rPr lang="en-US" sz="1300" b="1" dirty="0">
                <a:solidFill>
                  <a:schemeClr val="tx1"/>
                </a:solidFill>
              </a:rPr>
              <a:t>Applicazione</a:t>
            </a:r>
            <a:endParaRPr lang="en-US" sz="1300" dirty="0"/>
          </a:p>
        </p:txBody>
      </p:sp>
      <p:sp>
        <p:nvSpPr>
          <p:cNvPr id="17" name="Text 14"/>
          <p:cNvSpPr txBox="1"/>
          <p:nvPr/>
        </p:nvSpPr>
        <p:spPr>
          <a:xfrm>
            <a:off x="3913632" y="1938528"/>
            <a:ext cx="1325880" cy="502920"/>
          </a:xfrm>
          <a:prstGeom prst="rect">
            <a:avLst/>
          </a:prstGeom>
          <a:noFill/>
          <a:ln/>
        </p:spPr>
        <p:txBody>
          <a:bodyPr wrap="square" lIns="0" tIns="0" rIns="0" bIns="0" rtlCol="0" anchor="t"/>
          <a:lstStyle/>
          <a:p>
            <a:pPr indent="0" marL="0">
              <a:buNone/>
            </a:pPr>
            <a:r>
              <a:rPr lang="en-US" sz="1100" dirty="0">
                <a:solidFill>
                  <a:schemeClr val="tx2"/>
                </a:solidFill>
              </a:rPr>
              <a:t>Lo usano nel lavoro reale</a:t>
            </a:r>
            <a:endParaRPr lang="en-US" sz="1100" dirty="0"/>
          </a:p>
        </p:txBody>
      </p:sp>
      <p:sp>
        <p:nvSpPr>
          <p:cNvPr id="18" name="freccia"/>
          <p:cNvSpPr/>
          <p:nvPr/>
        </p:nvSpPr>
        <p:spPr>
          <a:xfrm>
            <a:off x="5312664" y="1645920"/>
            <a:ext cx="173736" cy="292608"/>
          </a:xfrm>
          <a:prstGeom prst="rightArrow">
            <a:avLst/>
          </a:prstGeom>
          <a:solidFill>
            <a:schemeClr val="accent2"/>
          </a:solidFill>
          <a:ln/>
        </p:spPr>
      </p:sp>
      <p:sp>
        <p:nvSpPr>
          <p:cNvPr id="19" name="Adozione sostenibile"/>
          <p:cNvSpPr/>
          <p:nvPr/>
        </p:nvSpPr>
        <p:spPr>
          <a:xfrm>
            <a:off x="5504688" y="1051560"/>
            <a:ext cx="1481328" cy="1463040"/>
          </a:xfrm>
          <a:prstGeom prst="roundRect">
            <a:avLst>
              <a:gd name="adj" fmla="val 5000"/>
            </a:avLst>
          </a:prstGeom>
          <a:solidFill>
            <a:schemeClr val="accent6"/>
          </a:solidFill>
          <a:ln/>
        </p:spPr>
      </p:sp>
      <p:sp>
        <p:nvSpPr>
          <p:cNvPr id="20" name="Text 17"/>
          <p:cNvSpPr txBox="1"/>
          <p:nvPr/>
        </p:nvSpPr>
        <p:spPr>
          <a:xfrm>
            <a:off x="5596128" y="1097280"/>
            <a:ext cx="457200" cy="384048"/>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21" name="Text 18"/>
          <p:cNvSpPr txBox="1"/>
          <p:nvPr/>
        </p:nvSpPr>
        <p:spPr>
          <a:xfrm>
            <a:off x="5596128" y="1481328"/>
            <a:ext cx="1325880" cy="457200"/>
          </a:xfrm>
          <a:prstGeom prst="rect">
            <a:avLst/>
          </a:prstGeom>
          <a:noFill/>
          <a:ln/>
        </p:spPr>
        <p:txBody>
          <a:bodyPr wrap="square" lIns="0" tIns="0" rIns="0" bIns="0" rtlCol="0" anchor="t"/>
          <a:lstStyle/>
          <a:p>
            <a:pPr indent="0" marL="0">
              <a:buNone/>
            </a:pPr>
            <a:r>
              <a:rPr lang="en-US" sz="1300" b="1" dirty="0">
                <a:solidFill>
                  <a:schemeClr val="tx1"/>
                </a:solidFill>
              </a:rPr>
              <a:t>Adozione sostenibile</a:t>
            </a:r>
            <a:endParaRPr lang="en-US" sz="1300" dirty="0"/>
          </a:p>
        </p:txBody>
      </p:sp>
      <p:sp>
        <p:nvSpPr>
          <p:cNvPr id="22" name="Text 19"/>
          <p:cNvSpPr txBox="1"/>
          <p:nvPr/>
        </p:nvSpPr>
        <p:spPr>
          <a:xfrm>
            <a:off x="5596128" y="1938528"/>
            <a:ext cx="1325880" cy="502920"/>
          </a:xfrm>
          <a:prstGeom prst="rect">
            <a:avLst/>
          </a:prstGeom>
          <a:noFill/>
          <a:ln/>
        </p:spPr>
        <p:txBody>
          <a:bodyPr wrap="square" lIns="0" tIns="0" rIns="0" bIns="0" rtlCol="0" anchor="t"/>
          <a:lstStyle/>
          <a:p>
            <a:pPr indent="0" marL="0">
              <a:buNone/>
            </a:pPr>
            <a:r>
              <a:rPr lang="en-US" sz="1100" dirty="0">
                <a:solidFill>
                  <a:schemeClr val="tx2"/>
                </a:solidFill>
              </a:rPr>
              <a:t>Parte delle pratiche, nel tempo</a:t>
            </a:r>
            <a:endParaRPr lang="en-US" sz="1100" dirty="0"/>
          </a:p>
        </p:txBody>
      </p:sp>
      <p:sp>
        <p:nvSpPr>
          <p:cNvPr id="23" name="freccia"/>
          <p:cNvSpPr/>
          <p:nvPr/>
        </p:nvSpPr>
        <p:spPr>
          <a:xfrm>
            <a:off x="6995160" y="1645920"/>
            <a:ext cx="173736" cy="292608"/>
          </a:xfrm>
          <a:prstGeom prst="rightArrow">
            <a:avLst/>
          </a:prstGeom>
          <a:solidFill>
            <a:schemeClr val="accent2"/>
          </a:solidFill>
          <a:ln/>
        </p:spPr>
      </p:sp>
      <p:sp>
        <p:nvSpPr>
          <p:cNvPr id="24" name="Risultati"/>
          <p:cNvSpPr/>
          <p:nvPr/>
        </p:nvSpPr>
        <p:spPr>
          <a:xfrm>
            <a:off x="7187184" y="1051560"/>
            <a:ext cx="1481328" cy="1463040"/>
          </a:xfrm>
          <a:prstGeom prst="roundRect">
            <a:avLst>
              <a:gd name="adj" fmla="val 5000"/>
            </a:avLst>
          </a:prstGeom>
          <a:solidFill>
            <a:schemeClr val="accent1"/>
          </a:solidFill>
          <a:ln/>
        </p:spPr>
      </p:sp>
      <p:sp>
        <p:nvSpPr>
          <p:cNvPr id="25" name="Text 22"/>
          <p:cNvSpPr txBox="1"/>
          <p:nvPr/>
        </p:nvSpPr>
        <p:spPr>
          <a:xfrm>
            <a:off x="7278624" y="1097280"/>
            <a:ext cx="457200" cy="384048"/>
          </a:xfrm>
          <a:prstGeom prst="rect">
            <a:avLst/>
          </a:prstGeom>
          <a:noFill/>
          <a:ln/>
        </p:spPr>
        <p:txBody>
          <a:bodyPr wrap="square" lIns="0" tIns="0" rIns="0" bIns="0" rtlCol="0" anchor="t"/>
          <a:lstStyle/>
          <a:p>
            <a:pPr indent="0" marL="0">
              <a:buNone/>
            </a:pPr>
            <a:r>
              <a:rPr lang="en-US" sz="1800" b="1" dirty="0">
                <a:solidFill>
                  <a:schemeClr val="accent6"/>
                </a:solidFill>
              </a:rPr>
              <a:t>5</a:t>
            </a:r>
            <a:endParaRPr lang="en-US" sz="1800" dirty="0"/>
          </a:p>
        </p:txBody>
      </p:sp>
      <p:sp>
        <p:nvSpPr>
          <p:cNvPr id="26" name="Text 23"/>
          <p:cNvSpPr txBox="1"/>
          <p:nvPr/>
        </p:nvSpPr>
        <p:spPr>
          <a:xfrm>
            <a:off x="7278624" y="1481328"/>
            <a:ext cx="1325880" cy="457200"/>
          </a:xfrm>
          <a:prstGeom prst="rect">
            <a:avLst/>
          </a:prstGeom>
          <a:noFill/>
          <a:ln/>
        </p:spPr>
        <p:txBody>
          <a:bodyPr wrap="square" lIns="0" tIns="0" rIns="0" bIns="0" rtlCol="0" anchor="t"/>
          <a:lstStyle/>
          <a:p>
            <a:pPr indent="0" marL="0">
              <a:buNone/>
            </a:pPr>
            <a:r>
              <a:rPr lang="en-US" sz="1300" b="1" dirty="0">
                <a:solidFill>
                  <a:schemeClr val="bg1"/>
                </a:solidFill>
              </a:rPr>
              <a:t>Risultati</a:t>
            </a:r>
            <a:endParaRPr lang="en-US" sz="1300" dirty="0"/>
          </a:p>
        </p:txBody>
      </p:sp>
      <p:sp>
        <p:nvSpPr>
          <p:cNvPr id="27" name="Text 24"/>
          <p:cNvSpPr txBox="1"/>
          <p:nvPr/>
        </p:nvSpPr>
        <p:spPr>
          <a:xfrm>
            <a:off x="7278624" y="1938528"/>
            <a:ext cx="1325880" cy="502920"/>
          </a:xfrm>
          <a:prstGeom prst="rect">
            <a:avLst/>
          </a:prstGeom>
          <a:noFill/>
          <a:ln/>
        </p:spPr>
        <p:txBody>
          <a:bodyPr wrap="square" lIns="0" tIns="0" rIns="0" bIns="0" rtlCol="0" anchor="t"/>
          <a:lstStyle/>
          <a:p>
            <a:pPr indent="0" marL="0">
              <a:buNone/>
            </a:pPr>
            <a:r>
              <a:rPr lang="en-US" sz="1100" dirty="0">
                <a:solidFill>
                  <a:schemeClr val="bg1"/>
                </a:solidFill>
              </a:rPr>
              <a:t>Benefici osservabili</a:t>
            </a:r>
            <a:endParaRPr lang="en-US" sz="1100" dirty="0"/>
          </a:p>
        </p:txBody>
      </p:sp>
      <p:sp>
        <p:nvSpPr>
          <p:cNvPr id="28" name="Text 25"/>
          <p:cNvSpPr txBox="1"/>
          <p:nvPr/>
        </p:nvSpPr>
        <p:spPr>
          <a:xfrm>
            <a:off x="457200" y="2606040"/>
            <a:ext cx="8229600" cy="301752"/>
          </a:xfrm>
          <a:prstGeom prst="rect">
            <a:avLst/>
          </a:prstGeom>
          <a:noFill/>
          <a:ln/>
        </p:spPr>
        <p:txBody>
          <a:bodyPr wrap="square" lIns="0" tIns="0" rIns="0" bIns="0" rtlCol="0" anchor="t"/>
          <a:lstStyle/>
          <a:p>
            <a:pPr algn="ctr" indent="0" marL="0">
              <a:buNone/>
            </a:pPr>
            <a:r>
              <a:rPr lang="en-US" sz="1200" i="1" dirty="0">
                <a:solidFill>
                  <a:schemeClr val="tx2"/>
                </a:solidFill>
              </a:rPr>
              <a:t>Collegati, ma il passaggio non è automatico né necessariamente lineare</a:t>
            </a:r>
            <a:endParaRPr lang="en-US" sz="1200" dirty="0"/>
          </a:p>
        </p:txBody>
      </p:sp>
      <p:sp>
        <p:nvSpPr>
          <p:cNvPr id="29" name="messaggio"/>
          <p:cNvSpPr/>
          <p:nvPr/>
        </p:nvSpPr>
        <p:spPr>
          <a:xfrm>
            <a:off x="457200" y="3063240"/>
            <a:ext cx="8229600" cy="777240"/>
          </a:xfrm>
          <a:prstGeom prst="roundRect">
            <a:avLst>
              <a:gd name="adj" fmla="val 9412"/>
            </a:avLst>
          </a:prstGeom>
          <a:solidFill>
            <a:schemeClr val="tx1"/>
          </a:solidFill>
          <a:ln/>
        </p:spPr>
      </p:sp>
      <p:sp>
        <p:nvSpPr>
          <p:cNvPr id="30" name="Text 27"/>
          <p:cNvSpPr txBox="1"/>
          <p:nvPr/>
        </p:nvSpPr>
        <p:spPr>
          <a:xfrm>
            <a:off x="640080" y="3063240"/>
            <a:ext cx="7863840" cy="777240"/>
          </a:xfrm>
          <a:prstGeom prst="rect">
            <a:avLst/>
          </a:prstGeom>
          <a:noFill/>
          <a:ln/>
        </p:spPr>
        <p:txBody>
          <a:bodyPr wrap="square" lIns="0" tIns="0" rIns="0" bIns="0" rtlCol="0" anchor="ctr"/>
          <a:lstStyle/>
          <a:p>
            <a:pPr indent="0" marL="0">
              <a:buNone/>
            </a:pPr>
            <a:r>
              <a:rPr lang="en-US" sz="1400" dirty="0">
                <a:solidFill>
                  <a:schemeClr val="bg1"/>
                </a:solidFill>
              </a:rPr>
              <a:t>L'adozione non è sempre desiderabile: se lo strumento non risponde a un bisogno, non usarlo può essere la decisione corretta.</a:t>
            </a:r>
            <a:endParaRPr lang="en-US" sz="1400" dirty="0"/>
          </a:p>
        </p:txBody>
      </p:sp>
      <p:sp>
        <p:nvSpPr>
          <p:cNvPr id="31" name="Text 28"/>
          <p:cNvSpPr txBox="1"/>
          <p:nvPr/>
        </p:nvSpPr>
        <p:spPr>
          <a:xfrm>
            <a:off x="457200" y="3977640"/>
            <a:ext cx="8229600" cy="457200"/>
          </a:xfrm>
          <a:prstGeom prst="rect">
            <a:avLst/>
          </a:prstGeom>
          <a:noFill/>
          <a:ln/>
        </p:spPr>
        <p:txBody>
          <a:bodyPr wrap="square" lIns="0" tIns="0" rIns="0" bIns="0" rtlCol="0" anchor="t"/>
          <a:lstStyle/>
          <a:p>
            <a:pPr algn="ctr" indent="0" marL="0">
              <a:buNone/>
            </a:pPr>
            <a:r>
              <a:rPr lang="en-US" sz="1300" b="1" dirty="0">
                <a:solidFill>
                  <a:schemeClr val="accent1"/>
                </a:solidFill>
              </a:rPr>
              <a:t>Non far usare l'AI a tutti i costi, ma creare le condizioni perché venga usata dove serve, e bene.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domande guida</a:t>
            </a:r>
            <a:endParaRPr lang="en-US" sz="2600" dirty="0"/>
          </a:p>
        </p:txBody>
      </p:sp>
      <p:sp>
        <p:nvSpPr>
          <p:cNvPr id="4" name="domanda 1"/>
          <p:cNvSpPr/>
          <p:nvPr/>
        </p:nvSpPr>
        <p:spPr>
          <a:xfrm>
            <a:off x="457200" y="1024128"/>
            <a:ext cx="1961388" cy="1371600"/>
          </a:xfrm>
          <a:prstGeom prst="roundRect">
            <a:avLst>
              <a:gd name="adj" fmla="val 5333"/>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Quando un'organizzazione ha davvero adottato l'AI?</a:t>
            </a:r>
            <a:endParaRPr lang="en-US" sz="1200" dirty="0"/>
          </a:p>
        </p:txBody>
      </p:sp>
      <p:sp>
        <p:nvSpPr>
          <p:cNvPr id="7" name="domanda 2"/>
          <p:cNvSpPr/>
          <p:nvPr/>
        </p:nvSpPr>
        <p:spPr>
          <a:xfrm>
            <a:off x="2546604" y="1024128"/>
            <a:ext cx="1961388" cy="1371600"/>
          </a:xfrm>
          <a:prstGeom prst="roundRect">
            <a:avLst>
              <a:gd name="adj" fmla="val 5333"/>
            </a:avLst>
          </a:prstGeom>
          <a:solidFill>
            <a:schemeClr val="bg2"/>
          </a:solidFill>
          <a:ln/>
        </p:spPr>
      </p:sp>
      <p:sp>
        <p:nvSpPr>
          <p:cNvPr id="8" name="Text 5"/>
          <p:cNvSpPr txBox="1"/>
          <p:nvPr/>
        </p:nvSpPr>
        <p:spPr>
          <a:xfrm>
            <a:off x="268376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683764"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Perché lo strumento disponibile non basta?</a:t>
            </a:r>
            <a:endParaRPr lang="en-US" sz="1200" dirty="0"/>
          </a:p>
        </p:txBody>
      </p:sp>
      <p:sp>
        <p:nvSpPr>
          <p:cNvPr id="10" name="domanda 3"/>
          <p:cNvSpPr/>
          <p:nvPr/>
        </p:nvSpPr>
        <p:spPr>
          <a:xfrm>
            <a:off x="4636008" y="1024128"/>
            <a:ext cx="1961388" cy="1371600"/>
          </a:xfrm>
          <a:prstGeom prst="roundRect">
            <a:avLst>
              <a:gd name="adj" fmla="val 5333"/>
            </a:avLst>
          </a:prstGeom>
          <a:solidFill>
            <a:schemeClr val="bg2"/>
          </a:solidFill>
          <a:ln/>
        </p:spPr>
      </p:sp>
      <p:sp>
        <p:nvSpPr>
          <p:cNvPr id="11" name="Text 8"/>
          <p:cNvSpPr txBox="1"/>
          <p:nvPr/>
        </p:nvSpPr>
        <p:spPr>
          <a:xfrm>
            <a:off x="4773168"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4773168"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Ostacoli delle persone o delle condizioni?</a:t>
            </a:r>
            <a:endParaRPr lang="en-US" sz="1200" dirty="0"/>
          </a:p>
        </p:txBody>
      </p:sp>
      <p:sp>
        <p:nvSpPr>
          <p:cNvPr id="13" name="domanda 4"/>
          <p:cNvSpPr/>
          <p:nvPr/>
        </p:nvSpPr>
        <p:spPr>
          <a:xfrm>
            <a:off x="6725412" y="1024128"/>
            <a:ext cx="1961388" cy="1371600"/>
          </a:xfrm>
          <a:prstGeom prst="roundRect">
            <a:avLst>
              <a:gd name="adj" fmla="val 5333"/>
            </a:avLst>
          </a:prstGeom>
          <a:solidFill>
            <a:schemeClr val="bg2"/>
          </a:solidFill>
          <a:ln/>
        </p:spPr>
      </p:sp>
      <p:sp>
        <p:nvSpPr>
          <p:cNvPr id="14" name="Text 11"/>
          <p:cNvSpPr txBox="1"/>
          <p:nvPr/>
        </p:nvSpPr>
        <p:spPr>
          <a:xfrm>
            <a:off x="686257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6862572"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Responsabilità di leadership, manager, collaboratori?</a:t>
            </a:r>
            <a:endParaRPr lang="en-US" sz="1200" dirty="0"/>
          </a:p>
        </p:txBody>
      </p:sp>
      <p:sp>
        <p:nvSpPr>
          <p:cNvPr id="16" name="domanda 5"/>
          <p:cNvSpPr/>
          <p:nvPr/>
        </p:nvSpPr>
        <p:spPr>
          <a:xfrm>
            <a:off x="457200" y="2532888"/>
            <a:ext cx="1961388" cy="1371600"/>
          </a:xfrm>
          <a:prstGeom prst="roundRect">
            <a:avLst>
              <a:gd name="adj" fmla="val 5333"/>
            </a:avLst>
          </a:prstGeom>
          <a:solidFill>
            <a:schemeClr val="bg2"/>
          </a:solidFill>
          <a:ln/>
        </p:spPr>
      </p:sp>
      <p:sp>
        <p:nvSpPr>
          <p:cNvPr id="17" name="Text 14"/>
          <p:cNvSpPr txBox="1"/>
          <p:nvPr/>
        </p:nvSpPr>
        <p:spPr>
          <a:xfrm>
            <a:off x="594360"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594360"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Perché la formazione iniziale non basta?</a:t>
            </a:r>
            <a:endParaRPr lang="en-US" sz="1200" dirty="0"/>
          </a:p>
        </p:txBody>
      </p:sp>
      <p:sp>
        <p:nvSpPr>
          <p:cNvPr id="19" name="domanda 6"/>
          <p:cNvSpPr/>
          <p:nvPr/>
        </p:nvSpPr>
        <p:spPr>
          <a:xfrm>
            <a:off x="2546604" y="2532888"/>
            <a:ext cx="1961388" cy="1371600"/>
          </a:xfrm>
          <a:prstGeom prst="roundRect">
            <a:avLst>
              <a:gd name="adj" fmla="val 5333"/>
            </a:avLst>
          </a:prstGeom>
          <a:solidFill>
            <a:schemeClr val="bg2"/>
          </a:solidFill>
          <a:ln/>
        </p:spPr>
      </p:sp>
      <p:sp>
        <p:nvSpPr>
          <p:cNvPr id="20" name="Text 17"/>
          <p:cNvSpPr txBox="1"/>
          <p:nvPr/>
        </p:nvSpPr>
        <p:spPr>
          <a:xfrm>
            <a:off x="2683764"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2683764"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Come sostenere fiducia, sperimentazione, partecipazione?</a:t>
            </a:r>
            <a:endParaRPr lang="en-US" sz="1200" dirty="0"/>
          </a:p>
        </p:txBody>
      </p:sp>
      <p:sp>
        <p:nvSpPr>
          <p:cNvPr id="22" name="domanda 7"/>
          <p:cNvSpPr/>
          <p:nvPr/>
        </p:nvSpPr>
        <p:spPr>
          <a:xfrm>
            <a:off x="4636008" y="2532888"/>
            <a:ext cx="1961388" cy="1371600"/>
          </a:xfrm>
          <a:prstGeom prst="roundRect">
            <a:avLst>
              <a:gd name="adj" fmla="val 5333"/>
            </a:avLst>
          </a:prstGeom>
          <a:solidFill>
            <a:schemeClr val="bg2"/>
          </a:solidFill>
          <a:ln/>
        </p:spPr>
      </p:sp>
      <p:sp>
        <p:nvSpPr>
          <p:cNvPr id="23" name="Text 20"/>
          <p:cNvSpPr txBox="1"/>
          <p:nvPr/>
        </p:nvSpPr>
        <p:spPr>
          <a:xfrm>
            <a:off x="4773168"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4773168"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Quale supporto e coordinamento?</a:t>
            </a:r>
            <a:endParaRPr lang="en-US" sz="1200" dirty="0"/>
          </a:p>
        </p:txBody>
      </p:sp>
      <p:sp>
        <p:nvSpPr>
          <p:cNvPr id="25" name="domanda 8"/>
          <p:cNvSpPr/>
          <p:nvPr/>
        </p:nvSpPr>
        <p:spPr>
          <a:xfrm>
            <a:off x="6725412" y="2532888"/>
            <a:ext cx="1961388" cy="1371600"/>
          </a:xfrm>
          <a:prstGeom prst="roundRect">
            <a:avLst>
              <a:gd name="adj" fmla="val 5333"/>
            </a:avLst>
          </a:prstGeom>
          <a:solidFill>
            <a:schemeClr val="bg2"/>
          </a:solidFill>
          <a:ln/>
        </p:spPr>
      </p:sp>
      <p:sp>
        <p:nvSpPr>
          <p:cNvPr id="26" name="Text 23"/>
          <p:cNvSpPr txBox="1"/>
          <p:nvPr/>
        </p:nvSpPr>
        <p:spPr>
          <a:xfrm>
            <a:off x="6862572"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6862572"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L'uso è efficace e sostenibile?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Adozione"/>
          <p:cNvSpPr/>
          <p:nvPr/>
        </p:nvSpPr>
        <p:spPr>
          <a:xfrm>
            <a:off x="457200" y="1051560"/>
            <a:ext cx="1536192" cy="1508760"/>
          </a:xfrm>
          <a:prstGeom prst="roundRect">
            <a:avLst>
              <a:gd name="adj" fmla="val 4848"/>
            </a:avLst>
          </a:prstGeom>
          <a:solidFill>
            <a:schemeClr val="bg2"/>
          </a:solidFill>
          <a:ln/>
        </p:spPr>
      </p:sp>
      <p:sp>
        <p:nvSpPr>
          <p:cNvPr id="5" name="cerchio FiCompass"/>
          <p:cNvSpPr/>
          <p:nvPr/>
        </p:nvSpPr>
        <p:spPr>
          <a:xfrm>
            <a:off x="950976" y="1143000"/>
            <a:ext cx="548640" cy="548640"/>
          </a:xfrm>
          <a:prstGeom prst="ellipse">
            <a:avLst/>
          </a:prstGeom>
          <a:solidFill>
            <a:schemeClr val="accent1"/>
          </a:solidFill>
          <a:ln/>
        </p:spPr>
      </p:sp>
      <p:pic>
        <p:nvPicPr>
          <p:cNvPr id="6" name="Image 0" descr="FiCompass">    </p:cNvPr>
          <p:cNvPicPr>
            <a:picLocks noChangeAspect="1"/>
          </p:cNvPicPr>
          <p:nvPr/>
        </p:nvPicPr>
        <p:blipFill>
          <a:blip r:embed="rId1"/>
          <a:stretch>
            <a:fillRect/>
          </a:stretch>
        </p:blipFill>
        <p:spPr>
          <a:xfrm>
            <a:off x="1088136" y="1280160"/>
            <a:ext cx="274320" cy="274320"/>
          </a:xfrm>
          <a:prstGeom prst="rect">
            <a:avLst/>
          </a:prstGeom>
        </p:spPr>
      </p:pic>
      <p:sp>
        <p:nvSpPr>
          <p:cNvPr id="7" name="Text 3"/>
          <p:cNvSpPr txBox="1"/>
          <p:nvPr/>
        </p:nvSpPr>
        <p:spPr>
          <a:xfrm>
            <a:off x="530352" y="1737360"/>
            <a:ext cx="1389888" cy="384048"/>
          </a:xfrm>
          <a:prstGeom prst="rect">
            <a:avLst/>
          </a:prstGeom>
          <a:noFill/>
          <a:ln/>
        </p:spPr>
        <p:txBody>
          <a:bodyPr wrap="square" lIns="0" tIns="0" rIns="0" bIns="0" rtlCol="0" anchor="ctr"/>
          <a:lstStyle/>
          <a:p>
            <a:pPr algn="ctr" indent="0" marL="0">
              <a:buNone/>
            </a:pPr>
            <a:r>
              <a:rPr lang="en-US" sz="1200" b="1" dirty="0">
                <a:solidFill>
                  <a:schemeClr val="tx1"/>
                </a:solidFill>
              </a:rPr>
              <a:t>Adozione</a:t>
            </a:r>
            <a:endParaRPr lang="en-US" sz="1200" dirty="0"/>
          </a:p>
        </p:txBody>
      </p:sp>
      <p:sp>
        <p:nvSpPr>
          <p:cNvPr id="8" name="Text 4"/>
          <p:cNvSpPr txBox="1"/>
          <p:nvPr/>
        </p:nvSpPr>
        <p:spPr>
          <a:xfrm>
            <a:off x="530352" y="2148840"/>
            <a:ext cx="1389888" cy="301752"/>
          </a:xfrm>
          <a:prstGeom prst="rect">
            <a:avLst/>
          </a:prstGeom>
          <a:noFill/>
          <a:ln/>
        </p:spPr>
        <p:txBody>
          <a:bodyPr wrap="square" lIns="0" tIns="0" rIns="0" bIns="0" rtlCol="0" anchor="t"/>
          <a:lstStyle/>
          <a:p>
            <a:pPr algn="ctr" indent="0" marL="0">
              <a:buNone/>
            </a:pPr>
            <a:r>
              <a:rPr lang="en-US" sz="1100" b="1" dirty="0">
                <a:solidFill>
                  <a:schemeClr val="accent1"/>
                </a:solidFill>
              </a:rPr>
              <a:t>16.1  16.2</a:t>
            </a:r>
            <a:endParaRPr lang="en-US" sz="1100" dirty="0"/>
          </a:p>
        </p:txBody>
      </p:sp>
      <p:sp>
        <p:nvSpPr>
          <p:cNvPr id="9" name="Persone"/>
          <p:cNvSpPr/>
          <p:nvPr/>
        </p:nvSpPr>
        <p:spPr>
          <a:xfrm>
            <a:off x="2139696" y="1051560"/>
            <a:ext cx="1536192" cy="1508760"/>
          </a:xfrm>
          <a:prstGeom prst="roundRect">
            <a:avLst>
              <a:gd name="adj" fmla="val 4848"/>
            </a:avLst>
          </a:prstGeom>
          <a:solidFill>
            <a:schemeClr val="bg2"/>
          </a:solidFill>
          <a:ln/>
        </p:spPr>
      </p:sp>
      <p:sp>
        <p:nvSpPr>
          <p:cNvPr id="10" name="cerchio FiUsers"/>
          <p:cNvSpPr/>
          <p:nvPr/>
        </p:nvSpPr>
        <p:spPr>
          <a:xfrm>
            <a:off x="2633472" y="1143000"/>
            <a:ext cx="548640" cy="548640"/>
          </a:xfrm>
          <a:prstGeom prst="ellipse">
            <a:avLst/>
          </a:prstGeom>
          <a:solidFill>
            <a:schemeClr val="accent1"/>
          </a:solidFill>
          <a:ln/>
        </p:spPr>
      </p:sp>
      <p:pic>
        <p:nvPicPr>
          <p:cNvPr id="11" name="Image 1" descr="FiUsers">    </p:cNvPr>
          <p:cNvPicPr>
            <a:picLocks noChangeAspect="1"/>
          </p:cNvPicPr>
          <p:nvPr/>
        </p:nvPicPr>
        <p:blipFill>
          <a:blip r:embed="rId2"/>
          <a:stretch>
            <a:fillRect/>
          </a:stretch>
        </p:blipFill>
        <p:spPr>
          <a:xfrm>
            <a:off x="2770632" y="1280160"/>
            <a:ext cx="274320" cy="274320"/>
          </a:xfrm>
          <a:prstGeom prst="rect">
            <a:avLst/>
          </a:prstGeom>
        </p:spPr>
      </p:pic>
      <p:sp>
        <p:nvSpPr>
          <p:cNvPr id="12" name="Text 7"/>
          <p:cNvSpPr txBox="1"/>
          <p:nvPr/>
        </p:nvSpPr>
        <p:spPr>
          <a:xfrm>
            <a:off x="2212848" y="1737360"/>
            <a:ext cx="1389888" cy="384048"/>
          </a:xfrm>
          <a:prstGeom prst="rect">
            <a:avLst/>
          </a:prstGeom>
          <a:noFill/>
          <a:ln/>
        </p:spPr>
        <p:txBody>
          <a:bodyPr wrap="square" lIns="0" tIns="0" rIns="0" bIns="0" rtlCol="0" anchor="ctr"/>
          <a:lstStyle/>
          <a:p>
            <a:pPr algn="ctr" indent="0" marL="0">
              <a:buNone/>
            </a:pPr>
            <a:r>
              <a:rPr lang="en-US" sz="1200" b="1" dirty="0">
                <a:solidFill>
                  <a:schemeClr val="tx1"/>
                </a:solidFill>
              </a:rPr>
              <a:t>Persone</a:t>
            </a:r>
            <a:endParaRPr lang="en-US" sz="1200" dirty="0"/>
          </a:p>
        </p:txBody>
      </p:sp>
      <p:sp>
        <p:nvSpPr>
          <p:cNvPr id="13" name="Text 8"/>
          <p:cNvSpPr txBox="1"/>
          <p:nvPr/>
        </p:nvSpPr>
        <p:spPr>
          <a:xfrm>
            <a:off x="2212848" y="2148840"/>
            <a:ext cx="1389888" cy="301752"/>
          </a:xfrm>
          <a:prstGeom prst="rect">
            <a:avLst/>
          </a:prstGeom>
          <a:noFill/>
          <a:ln/>
        </p:spPr>
        <p:txBody>
          <a:bodyPr wrap="square" lIns="0" tIns="0" rIns="0" bIns="0" rtlCol="0" anchor="t"/>
          <a:lstStyle/>
          <a:p>
            <a:pPr algn="ctr" indent="0" marL="0">
              <a:buNone/>
            </a:pPr>
            <a:r>
              <a:rPr lang="en-US" sz="1100" b="1" dirty="0">
                <a:solidFill>
                  <a:schemeClr val="accent1"/>
                </a:solidFill>
              </a:rPr>
              <a:t>16.3  16.6</a:t>
            </a:r>
            <a:endParaRPr lang="en-US" sz="1100" dirty="0"/>
          </a:p>
        </p:txBody>
      </p:sp>
      <p:sp>
        <p:nvSpPr>
          <p:cNvPr id="14" name="Competenze"/>
          <p:cNvSpPr/>
          <p:nvPr/>
        </p:nvSpPr>
        <p:spPr>
          <a:xfrm>
            <a:off x="3822192" y="1051560"/>
            <a:ext cx="1536192" cy="1508760"/>
          </a:xfrm>
          <a:prstGeom prst="roundRect">
            <a:avLst>
              <a:gd name="adj" fmla="val 4848"/>
            </a:avLst>
          </a:prstGeom>
          <a:solidFill>
            <a:schemeClr val="bg2"/>
          </a:solidFill>
          <a:ln/>
        </p:spPr>
      </p:sp>
      <p:sp>
        <p:nvSpPr>
          <p:cNvPr id="15" name="cerchio FiBookOpen"/>
          <p:cNvSpPr/>
          <p:nvPr/>
        </p:nvSpPr>
        <p:spPr>
          <a:xfrm>
            <a:off x="4315968" y="1143000"/>
            <a:ext cx="548640" cy="548640"/>
          </a:xfrm>
          <a:prstGeom prst="ellipse">
            <a:avLst/>
          </a:prstGeom>
          <a:solidFill>
            <a:schemeClr val="accent1"/>
          </a:solidFill>
          <a:ln/>
        </p:spPr>
      </p:sp>
      <p:pic>
        <p:nvPicPr>
          <p:cNvPr id="16" name="Image 2" descr="FiBookOpen">    </p:cNvPr>
          <p:cNvPicPr>
            <a:picLocks noChangeAspect="1"/>
          </p:cNvPicPr>
          <p:nvPr/>
        </p:nvPicPr>
        <p:blipFill>
          <a:blip r:embed="rId3"/>
          <a:stretch>
            <a:fillRect/>
          </a:stretch>
        </p:blipFill>
        <p:spPr>
          <a:xfrm>
            <a:off x="4453128" y="1280160"/>
            <a:ext cx="274320" cy="274320"/>
          </a:xfrm>
          <a:prstGeom prst="rect">
            <a:avLst/>
          </a:prstGeom>
        </p:spPr>
      </p:pic>
      <p:sp>
        <p:nvSpPr>
          <p:cNvPr id="17" name="Text 11"/>
          <p:cNvSpPr txBox="1"/>
          <p:nvPr/>
        </p:nvSpPr>
        <p:spPr>
          <a:xfrm>
            <a:off x="3895344" y="1737360"/>
            <a:ext cx="1389888" cy="384048"/>
          </a:xfrm>
          <a:prstGeom prst="rect">
            <a:avLst/>
          </a:prstGeom>
          <a:noFill/>
          <a:ln/>
        </p:spPr>
        <p:txBody>
          <a:bodyPr wrap="square" lIns="0" tIns="0" rIns="0" bIns="0" rtlCol="0" anchor="ctr"/>
          <a:lstStyle/>
          <a:p>
            <a:pPr algn="ctr" indent="0" marL="0">
              <a:buNone/>
            </a:pPr>
            <a:r>
              <a:rPr lang="en-US" sz="1200" b="1" dirty="0">
                <a:solidFill>
                  <a:schemeClr val="tx1"/>
                </a:solidFill>
              </a:rPr>
              <a:t>Competenze</a:t>
            </a:r>
            <a:endParaRPr lang="en-US" sz="1200" dirty="0"/>
          </a:p>
        </p:txBody>
      </p:sp>
      <p:sp>
        <p:nvSpPr>
          <p:cNvPr id="18" name="Text 12"/>
          <p:cNvSpPr txBox="1"/>
          <p:nvPr/>
        </p:nvSpPr>
        <p:spPr>
          <a:xfrm>
            <a:off x="3895344" y="2148840"/>
            <a:ext cx="1389888" cy="301752"/>
          </a:xfrm>
          <a:prstGeom prst="rect">
            <a:avLst/>
          </a:prstGeom>
          <a:noFill/>
          <a:ln/>
        </p:spPr>
        <p:txBody>
          <a:bodyPr wrap="square" lIns="0" tIns="0" rIns="0" bIns="0" rtlCol="0" anchor="t"/>
          <a:lstStyle/>
          <a:p>
            <a:pPr algn="ctr" indent="0" marL="0">
              <a:buNone/>
            </a:pPr>
            <a:r>
              <a:rPr lang="en-US" sz="1100" b="1" dirty="0">
                <a:solidFill>
                  <a:schemeClr val="accent1"/>
                </a:solidFill>
              </a:rPr>
              <a:t>16.4</a:t>
            </a:r>
            <a:endParaRPr lang="en-US" sz="1100" dirty="0"/>
          </a:p>
        </p:txBody>
      </p:sp>
      <p:sp>
        <p:nvSpPr>
          <p:cNvPr id="19" name="Diffusione e supporto"/>
          <p:cNvSpPr/>
          <p:nvPr/>
        </p:nvSpPr>
        <p:spPr>
          <a:xfrm>
            <a:off x="5504688" y="1051560"/>
            <a:ext cx="1536192" cy="1508760"/>
          </a:xfrm>
          <a:prstGeom prst="roundRect">
            <a:avLst>
              <a:gd name="adj" fmla="val 4848"/>
            </a:avLst>
          </a:prstGeom>
          <a:solidFill>
            <a:schemeClr val="bg2"/>
          </a:solidFill>
          <a:ln/>
        </p:spPr>
      </p:sp>
      <p:sp>
        <p:nvSpPr>
          <p:cNvPr id="20" name="cerchio FiShare2"/>
          <p:cNvSpPr/>
          <p:nvPr/>
        </p:nvSpPr>
        <p:spPr>
          <a:xfrm>
            <a:off x="5998464" y="1143000"/>
            <a:ext cx="548640" cy="548640"/>
          </a:xfrm>
          <a:prstGeom prst="ellipse">
            <a:avLst/>
          </a:prstGeom>
          <a:solidFill>
            <a:schemeClr val="accent1"/>
          </a:solidFill>
          <a:ln/>
        </p:spPr>
      </p:sp>
      <p:pic>
        <p:nvPicPr>
          <p:cNvPr id="21" name="Image 3" descr="FiShare2">    </p:cNvPr>
          <p:cNvPicPr>
            <a:picLocks noChangeAspect="1"/>
          </p:cNvPicPr>
          <p:nvPr/>
        </p:nvPicPr>
        <p:blipFill>
          <a:blip r:embed="rId4"/>
          <a:stretch>
            <a:fillRect/>
          </a:stretch>
        </p:blipFill>
        <p:spPr>
          <a:xfrm>
            <a:off x="6135624" y="1280160"/>
            <a:ext cx="274320" cy="274320"/>
          </a:xfrm>
          <a:prstGeom prst="rect">
            <a:avLst/>
          </a:prstGeom>
        </p:spPr>
      </p:pic>
      <p:sp>
        <p:nvSpPr>
          <p:cNvPr id="22" name="Text 15"/>
          <p:cNvSpPr txBox="1"/>
          <p:nvPr/>
        </p:nvSpPr>
        <p:spPr>
          <a:xfrm>
            <a:off x="5577840" y="1737360"/>
            <a:ext cx="1389888" cy="384048"/>
          </a:xfrm>
          <a:prstGeom prst="rect">
            <a:avLst/>
          </a:prstGeom>
          <a:noFill/>
          <a:ln/>
        </p:spPr>
        <p:txBody>
          <a:bodyPr wrap="square" lIns="0" tIns="0" rIns="0" bIns="0" rtlCol="0" anchor="ctr"/>
          <a:lstStyle/>
          <a:p>
            <a:pPr algn="ctr" indent="0" marL="0">
              <a:buNone/>
            </a:pPr>
            <a:r>
              <a:rPr lang="en-US" sz="1200" b="1" dirty="0">
                <a:solidFill>
                  <a:schemeClr val="tx1"/>
                </a:solidFill>
              </a:rPr>
              <a:t>Diffusione e supporto</a:t>
            </a:r>
            <a:endParaRPr lang="en-US" sz="1200" dirty="0"/>
          </a:p>
        </p:txBody>
      </p:sp>
      <p:sp>
        <p:nvSpPr>
          <p:cNvPr id="23" name="Text 16"/>
          <p:cNvSpPr txBox="1"/>
          <p:nvPr/>
        </p:nvSpPr>
        <p:spPr>
          <a:xfrm>
            <a:off x="5577840" y="2148840"/>
            <a:ext cx="1389888" cy="301752"/>
          </a:xfrm>
          <a:prstGeom prst="rect">
            <a:avLst/>
          </a:prstGeom>
          <a:noFill/>
          <a:ln/>
        </p:spPr>
        <p:txBody>
          <a:bodyPr wrap="square" lIns="0" tIns="0" rIns="0" bIns="0" rtlCol="0" anchor="t"/>
          <a:lstStyle/>
          <a:p>
            <a:pPr algn="ctr" indent="0" marL="0">
              <a:buNone/>
            </a:pPr>
            <a:r>
              <a:rPr lang="en-US" sz="1100" b="1" dirty="0">
                <a:solidFill>
                  <a:schemeClr val="accent1"/>
                </a:solidFill>
              </a:rPr>
              <a:t>16.5  16.7</a:t>
            </a:r>
            <a:endParaRPr lang="en-US" sz="1100" dirty="0"/>
          </a:p>
        </p:txBody>
      </p:sp>
      <p:sp>
        <p:nvSpPr>
          <p:cNvPr id="24" name="Risultati"/>
          <p:cNvSpPr/>
          <p:nvPr/>
        </p:nvSpPr>
        <p:spPr>
          <a:xfrm>
            <a:off x="7187184" y="1051560"/>
            <a:ext cx="1536192" cy="1508760"/>
          </a:xfrm>
          <a:prstGeom prst="roundRect">
            <a:avLst>
              <a:gd name="adj" fmla="val 4848"/>
            </a:avLst>
          </a:prstGeom>
          <a:solidFill>
            <a:schemeClr val="accent1"/>
          </a:solidFill>
          <a:ln/>
        </p:spPr>
      </p:sp>
      <p:sp>
        <p:nvSpPr>
          <p:cNvPr id="25" name="cerchio FiTrendingUp"/>
          <p:cNvSpPr/>
          <p:nvPr/>
        </p:nvSpPr>
        <p:spPr>
          <a:xfrm>
            <a:off x="7680960" y="1143000"/>
            <a:ext cx="548640" cy="548640"/>
          </a:xfrm>
          <a:prstGeom prst="ellipse">
            <a:avLst/>
          </a:prstGeom>
          <a:solidFill>
            <a:schemeClr val="bg1"/>
          </a:solidFill>
          <a:ln/>
        </p:spPr>
      </p:sp>
      <p:pic>
        <p:nvPicPr>
          <p:cNvPr id="26" name="Image 4" descr="FiTrendingUp">    </p:cNvPr>
          <p:cNvPicPr>
            <a:picLocks noChangeAspect="1"/>
          </p:cNvPicPr>
          <p:nvPr/>
        </p:nvPicPr>
        <p:blipFill>
          <a:blip r:embed="rId5"/>
          <a:stretch>
            <a:fillRect/>
          </a:stretch>
        </p:blipFill>
        <p:spPr>
          <a:xfrm>
            <a:off x="7818120" y="1280160"/>
            <a:ext cx="274320" cy="274320"/>
          </a:xfrm>
          <a:prstGeom prst="rect">
            <a:avLst/>
          </a:prstGeom>
        </p:spPr>
      </p:pic>
      <p:sp>
        <p:nvSpPr>
          <p:cNvPr id="27" name="Text 19"/>
          <p:cNvSpPr txBox="1"/>
          <p:nvPr/>
        </p:nvSpPr>
        <p:spPr>
          <a:xfrm>
            <a:off x="7260336" y="1737360"/>
            <a:ext cx="1389888" cy="384048"/>
          </a:xfrm>
          <a:prstGeom prst="rect">
            <a:avLst/>
          </a:prstGeom>
          <a:noFill/>
          <a:ln/>
        </p:spPr>
        <p:txBody>
          <a:bodyPr wrap="square" lIns="0" tIns="0" rIns="0" bIns="0" rtlCol="0" anchor="ctr"/>
          <a:lstStyle/>
          <a:p>
            <a:pPr algn="ctr" indent="0" marL="0">
              <a:buNone/>
            </a:pPr>
            <a:r>
              <a:rPr lang="en-US" sz="1200" b="1" dirty="0">
                <a:solidFill>
                  <a:schemeClr val="bg1"/>
                </a:solidFill>
              </a:rPr>
              <a:t>Risultati</a:t>
            </a:r>
            <a:endParaRPr lang="en-US" sz="1200" dirty="0"/>
          </a:p>
        </p:txBody>
      </p:sp>
      <p:sp>
        <p:nvSpPr>
          <p:cNvPr id="28" name="Text 20"/>
          <p:cNvSpPr txBox="1"/>
          <p:nvPr/>
        </p:nvSpPr>
        <p:spPr>
          <a:xfrm>
            <a:off x="7260336" y="2148840"/>
            <a:ext cx="1389888" cy="301752"/>
          </a:xfrm>
          <a:prstGeom prst="rect">
            <a:avLst/>
          </a:prstGeom>
          <a:noFill/>
          <a:ln/>
        </p:spPr>
        <p:txBody>
          <a:bodyPr wrap="square" lIns="0" tIns="0" rIns="0" bIns="0" rtlCol="0" anchor="t"/>
          <a:lstStyle/>
          <a:p>
            <a:pPr algn="ctr" indent="0" marL="0">
              <a:buNone/>
            </a:pPr>
            <a:r>
              <a:rPr lang="en-US" sz="1100" b="1" dirty="0">
                <a:solidFill>
                  <a:schemeClr val="accent6"/>
                </a:solidFill>
              </a:rPr>
              <a:t>16.8</a:t>
            </a:r>
            <a:endParaRPr lang="en-US" sz="1100" dirty="0"/>
          </a:p>
        </p:txBody>
      </p:sp>
      <p:sp>
        <p:nvSpPr>
          <p:cNvPr id="29" name="Text 21"/>
          <p:cNvSpPr txBox="1"/>
          <p:nvPr/>
        </p:nvSpPr>
        <p:spPr>
          <a:xfrm>
            <a:off x="457200" y="2670048"/>
            <a:ext cx="8229600" cy="274320"/>
          </a:xfrm>
          <a:prstGeom prst="rect">
            <a:avLst/>
          </a:prstGeom>
          <a:noFill/>
          <a:ln/>
        </p:spPr>
        <p:txBody>
          <a:bodyPr wrap="square" lIns="0" tIns="0" rIns="0" bIns="0" rtlCol="0" anchor="t"/>
          <a:lstStyle/>
          <a:p>
            <a:pPr indent="0" marL="0">
              <a:buNone/>
            </a:pPr>
            <a:r>
              <a:rPr lang="en-US" sz="1300" b="1" dirty="0">
                <a:solidFill>
                  <a:schemeClr val="tx1"/>
                </a:solidFill>
              </a:rPr>
              <a:t>Quattro messaggi trasversali</a:t>
            </a:r>
            <a:endParaRPr lang="en-US" sz="1300" dirty="0"/>
          </a:p>
        </p:txBody>
      </p:sp>
      <p:sp>
        <p:nvSpPr>
          <p:cNvPr id="30" name="blocco Il problema dello Shadow AI"/>
          <p:cNvSpPr/>
          <p:nvPr/>
        </p:nvSpPr>
        <p:spPr>
          <a:xfrm>
            <a:off x="457200" y="2990088"/>
            <a:ext cx="4023360" cy="429768"/>
          </a:xfrm>
          <a:prstGeom prst="roundRect">
            <a:avLst>
              <a:gd name="adj" fmla="val 25532"/>
            </a:avLst>
          </a:prstGeom>
          <a:solidFill>
            <a:schemeClr val="accent6"/>
          </a:solidFill>
          <a:ln/>
        </p:spPr>
      </p:sp>
      <p:sp>
        <p:nvSpPr>
          <p:cNvPr id="31" name="Text 23"/>
          <p:cNvSpPr txBox="1"/>
          <p:nvPr/>
        </p:nvSpPr>
        <p:spPr>
          <a:xfrm>
            <a:off x="502920" y="2990088"/>
            <a:ext cx="3931920" cy="429768"/>
          </a:xfrm>
          <a:prstGeom prst="rect">
            <a:avLst/>
          </a:prstGeom>
          <a:noFill/>
          <a:ln/>
        </p:spPr>
        <p:txBody>
          <a:bodyPr wrap="square" lIns="0" tIns="0" rIns="0" bIns="0" rtlCol="0" anchor="ctr"/>
          <a:lstStyle/>
          <a:p>
            <a:pPr algn="ctr" indent="0" marL="0">
              <a:buNone/>
            </a:pPr>
            <a:r>
              <a:rPr lang="en-US" sz="1200" b="1" dirty="0">
                <a:solidFill>
                  <a:schemeClr val="tx1"/>
                </a:solidFill>
              </a:rPr>
              <a:t>Il problema dello Shadow AI</a:t>
            </a:r>
            <a:endParaRPr lang="en-US" sz="1200" dirty="0"/>
          </a:p>
        </p:txBody>
      </p:sp>
      <p:sp>
        <p:nvSpPr>
          <p:cNvPr id="32" name="blocco La resistenza può essere un'informazione utile"/>
          <p:cNvSpPr/>
          <p:nvPr/>
        </p:nvSpPr>
        <p:spPr>
          <a:xfrm>
            <a:off x="4663440" y="2990088"/>
            <a:ext cx="4023360" cy="429768"/>
          </a:xfrm>
          <a:prstGeom prst="roundRect">
            <a:avLst>
              <a:gd name="adj" fmla="val 25532"/>
            </a:avLst>
          </a:prstGeom>
          <a:solidFill>
            <a:schemeClr val="accent6"/>
          </a:solidFill>
          <a:ln/>
        </p:spPr>
      </p:sp>
      <p:sp>
        <p:nvSpPr>
          <p:cNvPr id="33" name="Text 25"/>
          <p:cNvSpPr txBox="1"/>
          <p:nvPr/>
        </p:nvSpPr>
        <p:spPr>
          <a:xfrm>
            <a:off x="4709160" y="2990088"/>
            <a:ext cx="3931920" cy="429768"/>
          </a:xfrm>
          <a:prstGeom prst="rect">
            <a:avLst/>
          </a:prstGeom>
          <a:noFill/>
          <a:ln/>
        </p:spPr>
        <p:txBody>
          <a:bodyPr wrap="square" lIns="0" tIns="0" rIns="0" bIns="0" rtlCol="0" anchor="ctr"/>
          <a:lstStyle/>
          <a:p>
            <a:pPr algn="ctr" indent="0" marL="0">
              <a:buNone/>
            </a:pPr>
            <a:r>
              <a:rPr lang="en-US" sz="1200" b="1" dirty="0">
                <a:solidFill>
                  <a:schemeClr val="tx1"/>
                </a:solidFill>
              </a:rPr>
              <a:t>La resistenza può essere un'informazione utile</a:t>
            </a:r>
            <a:endParaRPr lang="en-US" sz="1200" dirty="0"/>
          </a:p>
        </p:txBody>
      </p:sp>
      <p:sp>
        <p:nvSpPr>
          <p:cNvPr id="34" name="blocco La formazione da sola non produce adozione"/>
          <p:cNvSpPr/>
          <p:nvPr/>
        </p:nvSpPr>
        <p:spPr>
          <a:xfrm>
            <a:off x="457200" y="3493008"/>
            <a:ext cx="4023360" cy="429768"/>
          </a:xfrm>
          <a:prstGeom prst="roundRect">
            <a:avLst>
              <a:gd name="adj" fmla="val 25532"/>
            </a:avLst>
          </a:prstGeom>
          <a:solidFill>
            <a:schemeClr val="accent6"/>
          </a:solidFill>
          <a:ln/>
        </p:spPr>
      </p:sp>
      <p:sp>
        <p:nvSpPr>
          <p:cNvPr id="35" name="Text 27"/>
          <p:cNvSpPr txBox="1"/>
          <p:nvPr/>
        </p:nvSpPr>
        <p:spPr>
          <a:xfrm>
            <a:off x="502920" y="3493008"/>
            <a:ext cx="3931920" cy="429768"/>
          </a:xfrm>
          <a:prstGeom prst="rect">
            <a:avLst/>
          </a:prstGeom>
          <a:noFill/>
          <a:ln/>
        </p:spPr>
        <p:txBody>
          <a:bodyPr wrap="square" lIns="0" tIns="0" rIns="0" bIns="0" rtlCol="0" anchor="ctr"/>
          <a:lstStyle/>
          <a:p>
            <a:pPr algn="ctr" indent="0" marL="0">
              <a:buNone/>
            </a:pPr>
            <a:r>
              <a:rPr lang="en-US" sz="1200" b="1" dirty="0">
                <a:solidFill>
                  <a:schemeClr val="tx1"/>
                </a:solidFill>
              </a:rPr>
              <a:t>La formazione da sola non produce adozione</a:t>
            </a:r>
            <a:endParaRPr lang="en-US" sz="1200" dirty="0"/>
          </a:p>
        </p:txBody>
      </p:sp>
      <p:sp>
        <p:nvSpPr>
          <p:cNvPr id="36" name="blocco Diffondere rapidamente non è adottare efficacemente"/>
          <p:cNvSpPr/>
          <p:nvPr/>
        </p:nvSpPr>
        <p:spPr>
          <a:xfrm>
            <a:off x="4663440" y="3493008"/>
            <a:ext cx="4023360" cy="429768"/>
          </a:xfrm>
          <a:prstGeom prst="roundRect">
            <a:avLst>
              <a:gd name="adj" fmla="val 25532"/>
            </a:avLst>
          </a:prstGeom>
          <a:solidFill>
            <a:schemeClr val="accent6"/>
          </a:solidFill>
          <a:ln/>
        </p:spPr>
      </p:sp>
      <p:sp>
        <p:nvSpPr>
          <p:cNvPr id="37" name="Text 29"/>
          <p:cNvSpPr txBox="1"/>
          <p:nvPr/>
        </p:nvSpPr>
        <p:spPr>
          <a:xfrm>
            <a:off x="4709160" y="3493008"/>
            <a:ext cx="3931920" cy="429768"/>
          </a:xfrm>
          <a:prstGeom prst="rect">
            <a:avLst/>
          </a:prstGeom>
          <a:noFill/>
          <a:ln/>
        </p:spPr>
        <p:txBody>
          <a:bodyPr wrap="square" lIns="0" tIns="0" rIns="0" bIns="0" rtlCol="0" anchor="ctr"/>
          <a:lstStyle/>
          <a:p>
            <a:pPr algn="ctr" indent="0" marL="0">
              <a:buNone/>
            </a:pPr>
            <a:r>
              <a:rPr lang="en-US" sz="1200" b="1" dirty="0">
                <a:solidFill>
                  <a:schemeClr val="tx1"/>
                </a:solidFill>
              </a:rPr>
              <a:t>Diffondere rapidamente non è adottare efficacemente</a:t>
            </a:r>
            <a:endParaRPr lang="en-US" sz="1200" dirty="0"/>
          </a:p>
        </p:txBody>
      </p:sp>
      <p:sp>
        <p:nvSpPr>
          <p:cNvPr id="38" name="Text 30"/>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100" i="1" dirty="0">
                <a:solidFill>
                  <a:schemeClr val="tx2"/>
                </a:solidFill>
              </a:rPr>
              <a:t>Precisazioni: l'adozione non è sempre desiderabile  ·  esigenze formative differenziate  ·  adozione dal basso non è Shadow AI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6.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Che cosa significa adottare</a:t>
            </a:r>
            <a:endParaRPr lang="en-US" sz="1300" dirty="0"/>
          </a:p>
        </p:txBody>
      </p:sp>
      <p:sp>
        <p:nvSpPr>
          <p:cNvPr id="7" name="priorità 16.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6.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Fattori e ostacoli</a:t>
            </a:r>
            <a:endParaRPr lang="en-US" sz="1300" dirty="0"/>
          </a:p>
        </p:txBody>
      </p:sp>
      <p:sp>
        <p:nvSpPr>
          <p:cNvPr id="12" name="priorità 16.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6.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Leadership e management</a:t>
            </a:r>
            <a:endParaRPr lang="en-US" sz="1300" dirty="0"/>
          </a:p>
        </p:txBody>
      </p:sp>
      <p:sp>
        <p:nvSpPr>
          <p:cNvPr id="17" name="priorità 16.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6.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Competenze e formazione</a:t>
            </a:r>
            <a:endParaRPr lang="en-US" sz="1300" dirty="0"/>
          </a:p>
        </p:txBody>
      </p:sp>
      <p:sp>
        <p:nvSpPr>
          <p:cNvPr id="22" name="priorità 16.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6.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Sperimentazione e diffusione</a:t>
            </a:r>
            <a:endParaRPr lang="en-US" sz="1300" dirty="0"/>
          </a:p>
        </p:txBody>
      </p:sp>
      <p:sp>
        <p:nvSpPr>
          <p:cNvPr id="27" name="priorità 16.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16.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Cultura, fiducia, partecipazione</a:t>
            </a:r>
            <a:endParaRPr lang="en-US" sz="1300" dirty="0"/>
          </a:p>
        </p:txBody>
      </p:sp>
      <p:sp>
        <p:nvSpPr>
          <p:cNvPr id="32" name="priorità 16.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16.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Supporto e coordinamento</a:t>
            </a:r>
            <a:endParaRPr lang="en-US" sz="1300" dirty="0"/>
          </a:p>
        </p:txBody>
      </p:sp>
      <p:sp>
        <p:nvSpPr>
          <p:cNvPr id="37" name="priorità 16.7"/>
          <p:cNvSpPr/>
          <p:nvPr/>
        </p:nvSpPr>
        <p:spPr>
          <a:xfrm>
            <a:off x="4754880" y="3666744"/>
            <a:ext cx="731520" cy="237744"/>
          </a:xfrm>
          <a:prstGeom prst="roundRect">
            <a:avLst>
              <a:gd name="adj" fmla="val 50000"/>
            </a:avLst>
          </a:prstGeom>
          <a:solidFill>
            <a:schemeClr val="bg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39" name="riga 16.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16.8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Monitoraggio e sostenibilità</a:t>
            </a:r>
            <a:endParaRPr lang="en-US" sz="1300" dirty="0"/>
          </a:p>
        </p:txBody>
      </p:sp>
      <p:sp>
        <p:nvSpPr>
          <p:cNvPr id="42" name="priorità 16.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applic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applicare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Disponibilità, uso, adozione, valore; barriere; formazione e pratica; diffusione e risultati</a:t>
            </a:r>
            <a:endParaRPr lang="en-US" sz="10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Referenti, diffusione graduale, formazione differenziata, feedback</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Change management specialistico, centri di eccellenza, misurazione avanzata</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Lo scenario del modulo</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108960"/>
                <a:gridCol w="3474720"/>
              </a:tblGrid>
              <a:tr h="411480">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A: centrato sullo strumento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 centrato sul lavoro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200" b="1" dirty="0">
                          <a:solidFill>
                            <a:schemeClr val="tx1"/>
                          </a:solidFill>
                        </a:rPr>
                        <a:t>Introduzione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Distribuzione di licenze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Attività concrete su cui sperimentare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Formazione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Dimostrazione delle funzionalità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Esempi operativi pertinenti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Supporto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Iniziativa individuale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Referenti e confronto tra colleghi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Osservazione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Numero di accessi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Uso, qualità, problemi, risultati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Diffusione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Estensione immediata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Estensione dopo prime verifiche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messaggio"/>
          <p:cNvSpPr/>
          <p:nvPr/>
        </p:nvSpPr>
        <p:spPr>
          <a:xfrm>
            <a:off x="457200" y="3657600"/>
            <a:ext cx="8229600" cy="777240"/>
          </a:xfrm>
          <a:prstGeom prst="roundRect">
            <a:avLst>
              <a:gd name="adj" fmla="val 9412"/>
            </a:avLst>
          </a:prstGeom>
          <a:solidFill>
            <a:schemeClr val="tx1"/>
          </a:solidFill>
          <a:ln/>
        </p:spPr>
      </p:sp>
      <p:sp>
        <p:nvSpPr>
          <p:cNvPr id="6" name="Text 2"/>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B ha più condizioni favorevoli, ma non garantisce risultati migliori ovunque. Distribuire una tecnologia non è creare le condizioni per usarla.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Che cosa significa adottare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Acquistare licenze e registrare accessi non equivale ad adottare efficacemente l'AI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Disponibile, usato, adottato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Disponibilità"/>
          <p:cNvSpPr/>
          <p:nvPr/>
        </p:nvSpPr>
        <p:spPr>
          <a:xfrm>
            <a:off x="457200" y="1051560"/>
            <a:ext cx="2615184" cy="2194560"/>
          </a:xfrm>
          <a:prstGeom prst="roundRect">
            <a:avLst>
              <a:gd name="adj" fmla="val 3333"/>
            </a:avLst>
          </a:prstGeom>
          <a:solidFill>
            <a:schemeClr val="bg2"/>
          </a:solidFill>
          <a:ln/>
        </p:spPr>
      </p:sp>
      <p:sp>
        <p:nvSpPr>
          <p:cNvPr id="15" name="cerchio FiUnlock"/>
          <p:cNvSpPr/>
          <p:nvPr/>
        </p:nvSpPr>
        <p:spPr>
          <a:xfrm>
            <a:off x="1463040" y="1143000"/>
            <a:ext cx="603504" cy="603504"/>
          </a:xfrm>
          <a:prstGeom prst="ellipse">
            <a:avLst/>
          </a:prstGeom>
          <a:solidFill>
            <a:schemeClr val="accent1"/>
          </a:solidFill>
          <a:ln/>
        </p:spPr>
      </p:sp>
      <p:pic>
        <p:nvPicPr>
          <p:cNvPr id="16" name="Image 0" descr="FiUnlock">    </p:cNvPr>
          <p:cNvPicPr>
            <a:picLocks noChangeAspect="1"/>
          </p:cNvPicPr>
          <p:nvPr/>
        </p:nvPicPr>
        <p:blipFill>
          <a:blip r:embed="rId1"/>
          <a:stretch>
            <a:fillRect/>
          </a:stretch>
        </p:blipFill>
        <p:spPr>
          <a:xfrm>
            <a:off x="1613916" y="1293876"/>
            <a:ext cx="301752" cy="301752"/>
          </a:xfrm>
          <a:prstGeom prst="rect">
            <a:avLst/>
          </a:prstGeom>
        </p:spPr>
      </p:pic>
      <p:sp>
        <p:nvSpPr>
          <p:cNvPr id="17" name="Text 13"/>
          <p:cNvSpPr txBox="1"/>
          <p:nvPr/>
        </p:nvSpPr>
        <p:spPr>
          <a:xfrm>
            <a:off x="594360" y="182880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Disponibilità</a:t>
            </a:r>
            <a:endParaRPr lang="en-US" sz="1500" dirty="0"/>
          </a:p>
        </p:txBody>
      </p:sp>
      <p:sp>
        <p:nvSpPr>
          <p:cNvPr id="18" name="Text 14"/>
          <p:cNvSpPr txBox="1"/>
          <p:nvPr/>
        </p:nvSpPr>
        <p:spPr>
          <a:xfrm>
            <a:off x="594360" y="2212848"/>
            <a:ext cx="2340864" cy="365760"/>
          </a:xfrm>
          <a:prstGeom prst="rect">
            <a:avLst/>
          </a:prstGeom>
          <a:noFill/>
          <a:ln/>
        </p:spPr>
        <p:txBody>
          <a:bodyPr wrap="square" lIns="0" tIns="0" rIns="0" bIns="0" rtlCol="0" anchor="t"/>
          <a:lstStyle/>
          <a:p>
            <a:pPr algn="ctr" indent="0" marL="0">
              <a:buNone/>
            </a:pPr>
            <a:r>
              <a:rPr lang="en-US" sz="1200" b="1" dirty="0">
                <a:solidFill>
                  <a:schemeClr val="accent1"/>
                </a:solidFill>
              </a:rPr>
              <a:t>Accessi e licenze attivi</a:t>
            </a:r>
            <a:endParaRPr lang="en-US" sz="1200" dirty="0"/>
          </a:p>
        </p:txBody>
      </p:sp>
      <p:sp>
        <p:nvSpPr>
          <p:cNvPr id="19" name="Text 15"/>
          <p:cNvSpPr txBox="1"/>
          <p:nvPr/>
        </p:nvSpPr>
        <p:spPr>
          <a:xfrm>
            <a:off x="594360" y="2606040"/>
            <a:ext cx="2340864" cy="548640"/>
          </a:xfrm>
          <a:prstGeom prst="rect">
            <a:avLst/>
          </a:prstGeom>
          <a:noFill/>
          <a:ln/>
        </p:spPr>
        <p:txBody>
          <a:bodyPr wrap="square" lIns="0" tIns="0" rIns="0" bIns="0" rtlCol="0" anchor="t"/>
          <a:lstStyle/>
          <a:p>
            <a:pPr algn="ctr" indent="0" marL="0">
              <a:buNone/>
            </a:pPr>
            <a:r>
              <a:rPr lang="en-US" sz="1200" dirty="0">
                <a:solidFill>
                  <a:schemeClr val="tx2"/>
                </a:solidFill>
              </a:rPr>
              <a:t>Non dice nulla sull'uso</a:t>
            </a:r>
            <a:endParaRPr lang="en-US" sz="1200" dirty="0"/>
          </a:p>
        </p:txBody>
      </p:sp>
      <p:sp>
        <p:nvSpPr>
          <p:cNvPr id="20" name="freccia"/>
          <p:cNvSpPr/>
          <p:nvPr/>
        </p:nvSpPr>
        <p:spPr>
          <a:xfrm>
            <a:off x="3090672" y="2011680"/>
            <a:ext cx="155448" cy="292608"/>
          </a:xfrm>
          <a:prstGeom prst="rightArrow">
            <a:avLst/>
          </a:prstGeom>
          <a:solidFill>
            <a:schemeClr val="accent2"/>
          </a:solidFill>
          <a:ln/>
        </p:spPr>
      </p:sp>
      <p:sp>
        <p:nvSpPr>
          <p:cNvPr id="21" name="Uso occasionale"/>
          <p:cNvSpPr/>
          <p:nvPr/>
        </p:nvSpPr>
        <p:spPr>
          <a:xfrm>
            <a:off x="3264408" y="1051560"/>
            <a:ext cx="2615184" cy="2194560"/>
          </a:xfrm>
          <a:prstGeom prst="roundRect">
            <a:avLst>
              <a:gd name="adj" fmla="val 3333"/>
            </a:avLst>
          </a:prstGeom>
          <a:solidFill>
            <a:schemeClr val="bg2"/>
          </a:solidFill>
          <a:ln/>
        </p:spPr>
      </p:sp>
      <p:sp>
        <p:nvSpPr>
          <p:cNvPr id="22" name="cerchio FiMousePointer"/>
          <p:cNvSpPr/>
          <p:nvPr/>
        </p:nvSpPr>
        <p:spPr>
          <a:xfrm>
            <a:off x="4270248" y="1143000"/>
            <a:ext cx="603504" cy="603504"/>
          </a:xfrm>
          <a:prstGeom prst="ellipse">
            <a:avLst/>
          </a:prstGeom>
          <a:solidFill>
            <a:schemeClr val="accent1"/>
          </a:solidFill>
          <a:ln/>
        </p:spPr>
      </p:sp>
      <p:pic>
        <p:nvPicPr>
          <p:cNvPr id="23" name="Image 1" descr="FiMousePointer">    </p:cNvPr>
          <p:cNvPicPr>
            <a:picLocks noChangeAspect="1"/>
          </p:cNvPicPr>
          <p:nvPr/>
        </p:nvPicPr>
        <p:blipFill>
          <a:blip r:embed="rId2"/>
          <a:stretch>
            <a:fillRect/>
          </a:stretch>
        </p:blipFill>
        <p:spPr>
          <a:xfrm>
            <a:off x="4421124" y="1293876"/>
            <a:ext cx="301752" cy="301752"/>
          </a:xfrm>
          <a:prstGeom prst="rect">
            <a:avLst/>
          </a:prstGeom>
        </p:spPr>
      </p:pic>
      <p:sp>
        <p:nvSpPr>
          <p:cNvPr id="24" name="Text 19"/>
          <p:cNvSpPr txBox="1"/>
          <p:nvPr/>
        </p:nvSpPr>
        <p:spPr>
          <a:xfrm>
            <a:off x="3401568" y="182880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Uso occasionale</a:t>
            </a:r>
            <a:endParaRPr lang="en-US" sz="1500" dirty="0"/>
          </a:p>
        </p:txBody>
      </p:sp>
      <p:sp>
        <p:nvSpPr>
          <p:cNvPr id="25" name="Text 20"/>
          <p:cNvSpPr txBox="1"/>
          <p:nvPr/>
        </p:nvSpPr>
        <p:spPr>
          <a:xfrm>
            <a:off x="3401568" y="2212848"/>
            <a:ext cx="2340864" cy="365760"/>
          </a:xfrm>
          <a:prstGeom prst="rect">
            <a:avLst/>
          </a:prstGeom>
          <a:noFill/>
          <a:ln/>
        </p:spPr>
        <p:txBody>
          <a:bodyPr wrap="square" lIns="0" tIns="0" rIns="0" bIns="0" rtlCol="0" anchor="t"/>
          <a:lstStyle/>
          <a:p>
            <a:pPr algn="ctr" indent="0" marL="0">
              <a:buNone/>
            </a:pPr>
            <a:r>
              <a:rPr lang="en-US" sz="1200" b="1" dirty="0">
                <a:solidFill>
                  <a:schemeClr val="accent1"/>
                </a:solidFill>
              </a:rPr>
              <a:t>Prove, compiti isolati</a:t>
            </a:r>
            <a:endParaRPr lang="en-US" sz="1200" dirty="0"/>
          </a:p>
        </p:txBody>
      </p:sp>
      <p:sp>
        <p:nvSpPr>
          <p:cNvPr id="26" name="Text 21"/>
          <p:cNvSpPr txBox="1"/>
          <p:nvPr/>
        </p:nvSpPr>
        <p:spPr>
          <a:xfrm>
            <a:off x="3401568" y="2606040"/>
            <a:ext cx="2340864" cy="548640"/>
          </a:xfrm>
          <a:prstGeom prst="rect">
            <a:avLst/>
          </a:prstGeom>
          <a:noFill/>
          <a:ln/>
        </p:spPr>
        <p:txBody>
          <a:bodyPr wrap="square" lIns="0" tIns="0" rIns="0" bIns="0" rtlCol="0" anchor="t"/>
          <a:lstStyle/>
          <a:p>
            <a:pPr algn="ctr" indent="0" marL="0">
              <a:buNone/>
            </a:pPr>
            <a:r>
              <a:rPr lang="en-US" sz="1200" dirty="0">
                <a:solidFill>
                  <a:schemeClr val="tx2"/>
                </a:solidFill>
              </a:rPr>
              <a:t>Un segnale che spesso cala</a:t>
            </a:r>
            <a:endParaRPr lang="en-US" sz="1200" dirty="0"/>
          </a:p>
        </p:txBody>
      </p:sp>
      <p:sp>
        <p:nvSpPr>
          <p:cNvPr id="27" name="freccia"/>
          <p:cNvSpPr/>
          <p:nvPr/>
        </p:nvSpPr>
        <p:spPr>
          <a:xfrm>
            <a:off x="5897880" y="2011680"/>
            <a:ext cx="155448" cy="292608"/>
          </a:xfrm>
          <a:prstGeom prst="rightArrow">
            <a:avLst/>
          </a:prstGeom>
          <a:solidFill>
            <a:schemeClr val="accent2"/>
          </a:solidFill>
          <a:ln/>
        </p:spPr>
      </p:sp>
      <p:sp>
        <p:nvSpPr>
          <p:cNvPr id="28" name="Adozione effettiva"/>
          <p:cNvSpPr/>
          <p:nvPr/>
        </p:nvSpPr>
        <p:spPr>
          <a:xfrm>
            <a:off x="6071616" y="1051560"/>
            <a:ext cx="2615184" cy="2194560"/>
          </a:xfrm>
          <a:prstGeom prst="roundRect">
            <a:avLst>
              <a:gd name="adj" fmla="val 3333"/>
            </a:avLst>
          </a:prstGeom>
          <a:solidFill>
            <a:schemeClr val="accent6"/>
          </a:solidFill>
          <a:ln/>
        </p:spPr>
      </p:sp>
      <p:sp>
        <p:nvSpPr>
          <p:cNvPr id="29" name="cerchio FiCheckCircle"/>
          <p:cNvSpPr/>
          <p:nvPr/>
        </p:nvSpPr>
        <p:spPr>
          <a:xfrm>
            <a:off x="7077456" y="1143000"/>
            <a:ext cx="603504" cy="603504"/>
          </a:xfrm>
          <a:prstGeom prst="ellipse">
            <a:avLst/>
          </a:prstGeom>
          <a:solidFill>
            <a:schemeClr val="accent1"/>
          </a:solidFill>
          <a:ln/>
        </p:spPr>
      </p:sp>
      <p:pic>
        <p:nvPicPr>
          <p:cNvPr id="30" name="Image 2" descr="FiCheckCircle">    </p:cNvPr>
          <p:cNvPicPr>
            <a:picLocks noChangeAspect="1"/>
          </p:cNvPicPr>
          <p:nvPr/>
        </p:nvPicPr>
        <p:blipFill>
          <a:blip r:embed="rId3"/>
          <a:stretch>
            <a:fillRect/>
          </a:stretch>
        </p:blipFill>
        <p:spPr>
          <a:xfrm>
            <a:off x="7228332" y="1293876"/>
            <a:ext cx="301752" cy="301752"/>
          </a:xfrm>
          <a:prstGeom prst="rect">
            <a:avLst/>
          </a:prstGeom>
        </p:spPr>
      </p:pic>
      <p:sp>
        <p:nvSpPr>
          <p:cNvPr id="31" name="Text 25"/>
          <p:cNvSpPr txBox="1"/>
          <p:nvPr/>
        </p:nvSpPr>
        <p:spPr>
          <a:xfrm>
            <a:off x="6208776" y="182880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Adozione effettiva</a:t>
            </a:r>
            <a:endParaRPr lang="en-US" sz="1500" dirty="0"/>
          </a:p>
        </p:txBody>
      </p:sp>
      <p:sp>
        <p:nvSpPr>
          <p:cNvPr id="32" name="Text 26"/>
          <p:cNvSpPr txBox="1"/>
          <p:nvPr/>
        </p:nvSpPr>
        <p:spPr>
          <a:xfrm>
            <a:off x="6208776" y="2212848"/>
            <a:ext cx="2340864" cy="365760"/>
          </a:xfrm>
          <a:prstGeom prst="rect">
            <a:avLst/>
          </a:prstGeom>
          <a:noFill/>
          <a:ln/>
        </p:spPr>
        <p:txBody>
          <a:bodyPr wrap="square" lIns="0" tIns="0" rIns="0" bIns="0" rtlCol="0" anchor="t"/>
          <a:lstStyle/>
          <a:p>
            <a:pPr algn="ctr" indent="0" marL="0">
              <a:buNone/>
            </a:pPr>
            <a:r>
              <a:rPr lang="en-US" sz="1200" b="1" dirty="0">
                <a:solidFill>
                  <a:schemeClr val="accent1"/>
                </a:solidFill>
              </a:rPr>
              <a:t>Uso regolare e appropriato</a:t>
            </a:r>
            <a:endParaRPr lang="en-US" sz="1200" dirty="0"/>
          </a:p>
        </p:txBody>
      </p:sp>
      <p:sp>
        <p:nvSpPr>
          <p:cNvPr id="33" name="Text 27"/>
          <p:cNvSpPr txBox="1"/>
          <p:nvPr/>
        </p:nvSpPr>
        <p:spPr>
          <a:xfrm>
            <a:off x="6208776" y="2606040"/>
            <a:ext cx="2340864" cy="548640"/>
          </a:xfrm>
          <a:prstGeom prst="rect">
            <a:avLst/>
          </a:prstGeom>
          <a:noFill/>
          <a:ln/>
        </p:spPr>
        <p:txBody>
          <a:bodyPr wrap="square" lIns="0" tIns="0" rIns="0" bIns="0" rtlCol="0" anchor="t"/>
          <a:lstStyle/>
          <a:p>
            <a:pPr algn="ctr" indent="0" marL="0">
              <a:buNone/>
            </a:pPr>
            <a:r>
              <a:rPr lang="en-US" sz="1200" dirty="0">
                <a:solidFill>
                  <a:schemeClr val="tx2"/>
                </a:solidFill>
              </a:rPr>
              <a:t>Si sa quando usarlo, e quando no</a:t>
            </a:r>
            <a:endParaRPr lang="en-US" sz="1200" dirty="0"/>
          </a:p>
        </p:txBody>
      </p:sp>
      <p:sp>
        <p:nvSpPr>
          <p:cNvPr id="34" name="messaggio"/>
          <p:cNvSpPr/>
          <p:nvPr/>
        </p:nvSpPr>
        <p:spPr>
          <a:xfrm>
            <a:off x="457200" y="3474720"/>
            <a:ext cx="8229600" cy="822960"/>
          </a:xfrm>
          <a:prstGeom prst="roundRect">
            <a:avLst>
              <a:gd name="adj" fmla="val 8889"/>
            </a:avLst>
          </a:prstGeom>
          <a:solidFill>
            <a:schemeClr val="tx1"/>
          </a:solidFill>
          <a:ln/>
        </p:spPr>
      </p:sp>
      <p:sp>
        <p:nvSpPr>
          <p:cNvPr id="35" name="Text 29"/>
          <p:cNvSpPr txBox="1"/>
          <p:nvPr/>
        </p:nvSpPr>
        <p:spPr>
          <a:xfrm>
            <a:off x="640080" y="3474720"/>
            <a:ext cx="7863840" cy="822960"/>
          </a:xfrm>
          <a:prstGeom prst="rect">
            <a:avLst/>
          </a:prstGeom>
          <a:noFill/>
          <a:ln/>
        </p:spPr>
        <p:txBody>
          <a:bodyPr wrap="square" lIns="0" tIns="0" rIns="0" bIns="0" rtlCol="0" anchor="ctr"/>
          <a:lstStyle/>
          <a:p>
            <a:pPr indent="0" marL="0">
              <a:buNone/>
            </a:pPr>
            <a:r>
              <a:rPr lang="en-US" sz="1400" dirty="0">
                <a:solidFill>
                  <a:schemeClr val="bg1"/>
                </a:solidFill>
              </a:rPr>
              <a:t>Non quante persone possono usarlo, né quante l'hanno usato una volta, ma quante lo usano bene, quando serve.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Individuale, team, organizzazione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Individuale"/>
          <p:cNvSpPr/>
          <p:nvPr/>
        </p:nvSpPr>
        <p:spPr>
          <a:xfrm>
            <a:off x="457200" y="1051560"/>
            <a:ext cx="5852160" cy="685800"/>
          </a:xfrm>
          <a:prstGeom prst="roundRect">
            <a:avLst>
              <a:gd name="adj" fmla="val 10667"/>
            </a:avLst>
          </a:prstGeom>
          <a:solidFill>
            <a:schemeClr val="bg2"/>
          </a:solidFill>
          <a:ln/>
        </p:spPr>
      </p:sp>
      <p:sp>
        <p:nvSpPr>
          <p:cNvPr id="15" name="Text 12"/>
          <p:cNvSpPr txBox="1"/>
          <p:nvPr/>
        </p:nvSpPr>
        <p:spPr>
          <a:xfrm>
            <a:off x="594360" y="1051560"/>
            <a:ext cx="1554480" cy="685800"/>
          </a:xfrm>
          <a:prstGeom prst="rect">
            <a:avLst/>
          </a:prstGeom>
          <a:noFill/>
          <a:ln/>
        </p:spPr>
        <p:txBody>
          <a:bodyPr wrap="square" lIns="0" tIns="0" rIns="0" bIns="0" rtlCol="0" anchor="ctr"/>
          <a:lstStyle/>
          <a:p>
            <a:pPr indent="0" marL="0">
              <a:buNone/>
            </a:pPr>
            <a:r>
              <a:rPr lang="en-US" sz="1500" b="1" dirty="0">
                <a:solidFill>
                  <a:schemeClr val="accent1"/>
                </a:solidFill>
              </a:rPr>
              <a:t>Individuale</a:t>
            </a:r>
            <a:endParaRPr lang="en-US" sz="1500" dirty="0"/>
          </a:p>
        </p:txBody>
      </p:sp>
      <p:sp>
        <p:nvSpPr>
          <p:cNvPr id="16" name="Text 13"/>
          <p:cNvSpPr txBox="1"/>
          <p:nvPr/>
        </p:nvSpPr>
        <p:spPr>
          <a:xfrm>
            <a:off x="2148840" y="1097280"/>
            <a:ext cx="4023360" cy="301752"/>
          </a:xfrm>
          <a:prstGeom prst="rect">
            <a:avLst/>
          </a:prstGeom>
          <a:noFill/>
          <a:ln/>
        </p:spPr>
        <p:txBody>
          <a:bodyPr wrap="square" lIns="0" tIns="0" rIns="0" bIns="0" rtlCol="0" anchor="t"/>
          <a:lstStyle/>
          <a:p>
            <a:pPr indent="0" marL="0">
              <a:buNone/>
            </a:pPr>
            <a:r>
              <a:rPr lang="en-US" sz="1200" b="1" dirty="0">
                <a:solidFill>
                  <a:schemeClr val="tx1"/>
                </a:solidFill>
              </a:rPr>
              <a:t>Una persona integra lo strumento nel suo lavoro</a:t>
            </a:r>
            <a:endParaRPr lang="en-US" sz="1200" dirty="0"/>
          </a:p>
        </p:txBody>
      </p:sp>
      <p:sp>
        <p:nvSpPr>
          <p:cNvPr id="17" name="Text 14"/>
          <p:cNvSpPr txBox="1"/>
          <p:nvPr/>
        </p:nvSpPr>
        <p:spPr>
          <a:xfrm>
            <a:off x="2148840" y="1399032"/>
            <a:ext cx="4023360" cy="301752"/>
          </a:xfrm>
          <a:prstGeom prst="rect">
            <a:avLst/>
          </a:prstGeom>
          <a:noFill/>
          <a:ln/>
        </p:spPr>
        <p:txBody>
          <a:bodyPr wrap="square" lIns="0" tIns="0" rIns="0" bIns="0" rtlCol="0" anchor="t"/>
          <a:lstStyle/>
          <a:p>
            <a:pPr indent="0" marL="0">
              <a:buNone/>
            </a:pPr>
            <a:r>
              <a:rPr lang="en-US" sz="1100" i="1" dirty="0">
                <a:solidFill>
                  <a:schemeClr val="tx2"/>
                </a:solidFill>
              </a:rPr>
              <a:t>Rapida, ma fragile: dipende dalla persona</a:t>
            </a:r>
            <a:endParaRPr lang="en-US" sz="1100" dirty="0"/>
          </a:p>
        </p:txBody>
      </p:sp>
      <p:sp>
        <p:nvSpPr>
          <p:cNvPr id="18" name="Di team"/>
          <p:cNvSpPr/>
          <p:nvPr/>
        </p:nvSpPr>
        <p:spPr>
          <a:xfrm>
            <a:off x="457200" y="1828800"/>
            <a:ext cx="7040880" cy="685800"/>
          </a:xfrm>
          <a:prstGeom prst="roundRect">
            <a:avLst>
              <a:gd name="adj" fmla="val 10667"/>
            </a:avLst>
          </a:prstGeom>
          <a:solidFill>
            <a:schemeClr val="accent6"/>
          </a:solidFill>
          <a:ln/>
        </p:spPr>
      </p:sp>
      <p:sp>
        <p:nvSpPr>
          <p:cNvPr id="19" name="Text 16"/>
          <p:cNvSpPr txBox="1"/>
          <p:nvPr/>
        </p:nvSpPr>
        <p:spPr>
          <a:xfrm>
            <a:off x="594360" y="1828800"/>
            <a:ext cx="1554480" cy="685800"/>
          </a:xfrm>
          <a:prstGeom prst="rect">
            <a:avLst/>
          </a:prstGeom>
          <a:noFill/>
          <a:ln/>
        </p:spPr>
        <p:txBody>
          <a:bodyPr wrap="square" lIns="0" tIns="0" rIns="0" bIns="0" rtlCol="0" anchor="ctr"/>
          <a:lstStyle/>
          <a:p>
            <a:pPr indent="0" marL="0">
              <a:buNone/>
            </a:pPr>
            <a:r>
              <a:rPr lang="en-US" sz="1500" b="1" dirty="0">
                <a:solidFill>
                  <a:schemeClr val="accent1"/>
                </a:solidFill>
              </a:rPr>
              <a:t>Di team</a:t>
            </a:r>
            <a:endParaRPr lang="en-US" sz="1500" dirty="0"/>
          </a:p>
        </p:txBody>
      </p:sp>
      <p:sp>
        <p:nvSpPr>
          <p:cNvPr id="20" name="Text 17"/>
          <p:cNvSpPr txBox="1"/>
          <p:nvPr/>
        </p:nvSpPr>
        <p:spPr>
          <a:xfrm>
            <a:off x="2148840" y="1874520"/>
            <a:ext cx="5212080" cy="301752"/>
          </a:xfrm>
          <a:prstGeom prst="rect">
            <a:avLst/>
          </a:prstGeom>
          <a:noFill/>
          <a:ln/>
        </p:spPr>
        <p:txBody>
          <a:bodyPr wrap="square" lIns="0" tIns="0" rIns="0" bIns="0" rtlCol="0" anchor="t"/>
          <a:lstStyle/>
          <a:p>
            <a:pPr indent="0" marL="0">
              <a:buNone/>
            </a:pPr>
            <a:r>
              <a:rPr lang="en-US" sz="1200" b="1" dirty="0">
                <a:solidFill>
                  <a:schemeClr val="tx1"/>
                </a:solidFill>
              </a:rPr>
              <a:t>Pratiche comuni, esempi condivisi, attese chiare</a:t>
            </a:r>
            <a:endParaRPr lang="en-US" sz="1200" dirty="0"/>
          </a:p>
        </p:txBody>
      </p:sp>
      <p:sp>
        <p:nvSpPr>
          <p:cNvPr id="21" name="Text 18"/>
          <p:cNvSpPr txBox="1"/>
          <p:nvPr/>
        </p:nvSpPr>
        <p:spPr>
          <a:xfrm>
            <a:off x="2148840" y="2176272"/>
            <a:ext cx="5212080" cy="301752"/>
          </a:xfrm>
          <a:prstGeom prst="rect">
            <a:avLst/>
          </a:prstGeom>
          <a:noFill/>
          <a:ln/>
        </p:spPr>
        <p:txBody>
          <a:bodyPr wrap="square" lIns="0" tIns="0" rIns="0" bIns="0" rtlCol="0" anchor="t"/>
          <a:lstStyle/>
          <a:p>
            <a:pPr indent="0" marL="0">
              <a:buNone/>
            </a:pPr>
            <a:r>
              <a:rPr lang="en-US" sz="1100" i="1" dirty="0">
                <a:solidFill>
                  <a:schemeClr val="tx2"/>
                </a:solidFill>
              </a:rPr>
              <a:t>Più stabile: chi entra impara dagli altri</a:t>
            </a:r>
            <a:endParaRPr lang="en-US" sz="1100" dirty="0"/>
          </a:p>
        </p:txBody>
      </p:sp>
      <p:sp>
        <p:nvSpPr>
          <p:cNvPr id="22" name="Organizzativa"/>
          <p:cNvSpPr/>
          <p:nvPr/>
        </p:nvSpPr>
        <p:spPr>
          <a:xfrm>
            <a:off x="457200" y="2606040"/>
            <a:ext cx="8229600" cy="685800"/>
          </a:xfrm>
          <a:prstGeom prst="roundRect">
            <a:avLst>
              <a:gd name="adj" fmla="val 10667"/>
            </a:avLst>
          </a:prstGeom>
          <a:solidFill>
            <a:schemeClr val="accent1"/>
          </a:solidFill>
          <a:ln/>
        </p:spPr>
      </p:sp>
      <p:sp>
        <p:nvSpPr>
          <p:cNvPr id="23" name="Text 20"/>
          <p:cNvSpPr txBox="1"/>
          <p:nvPr/>
        </p:nvSpPr>
        <p:spPr>
          <a:xfrm>
            <a:off x="594360" y="2606040"/>
            <a:ext cx="1554480" cy="685800"/>
          </a:xfrm>
          <a:prstGeom prst="rect">
            <a:avLst/>
          </a:prstGeom>
          <a:noFill/>
          <a:ln/>
        </p:spPr>
        <p:txBody>
          <a:bodyPr wrap="square" lIns="0" tIns="0" rIns="0" bIns="0" rtlCol="0" anchor="ctr"/>
          <a:lstStyle/>
          <a:p>
            <a:pPr indent="0" marL="0">
              <a:buNone/>
            </a:pPr>
            <a:r>
              <a:rPr lang="en-US" sz="1500" b="1" dirty="0">
                <a:solidFill>
                  <a:schemeClr val="bg1"/>
                </a:solidFill>
              </a:rPr>
              <a:t>Organizzativa</a:t>
            </a:r>
            <a:endParaRPr lang="en-US" sz="1500" dirty="0"/>
          </a:p>
        </p:txBody>
      </p:sp>
      <p:sp>
        <p:nvSpPr>
          <p:cNvPr id="24" name="Text 21"/>
          <p:cNvSpPr txBox="1"/>
          <p:nvPr/>
        </p:nvSpPr>
        <p:spPr>
          <a:xfrm>
            <a:off x="2148840" y="2651760"/>
            <a:ext cx="6400800" cy="301752"/>
          </a:xfrm>
          <a:prstGeom prst="rect">
            <a:avLst/>
          </a:prstGeom>
          <a:noFill/>
          <a:ln/>
        </p:spPr>
        <p:txBody>
          <a:bodyPr wrap="square" lIns="0" tIns="0" rIns="0" bIns="0" rtlCol="0" anchor="t"/>
          <a:lstStyle/>
          <a:p>
            <a:pPr indent="0" marL="0">
              <a:buNone/>
            </a:pPr>
            <a:r>
              <a:rPr lang="en-US" sz="1200" b="1" dirty="0">
                <a:solidFill>
                  <a:schemeClr val="bg1"/>
                </a:solidFill>
              </a:rPr>
              <a:t>Integrata nei processi, con riferimenti comuni</a:t>
            </a:r>
            <a:endParaRPr lang="en-US" sz="1200" dirty="0"/>
          </a:p>
        </p:txBody>
      </p:sp>
      <p:sp>
        <p:nvSpPr>
          <p:cNvPr id="25" name="Text 22"/>
          <p:cNvSpPr txBox="1"/>
          <p:nvPr/>
        </p:nvSpPr>
        <p:spPr>
          <a:xfrm>
            <a:off x="2148840" y="2953512"/>
            <a:ext cx="6400800" cy="301752"/>
          </a:xfrm>
          <a:prstGeom prst="rect">
            <a:avLst/>
          </a:prstGeom>
          <a:noFill/>
          <a:ln/>
        </p:spPr>
        <p:txBody>
          <a:bodyPr wrap="square" lIns="0" tIns="0" rIns="0" bIns="0" rtlCol="0" anchor="t"/>
          <a:lstStyle/>
          <a:p>
            <a:pPr indent="0" marL="0">
              <a:buNone/>
            </a:pPr>
            <a:r>
              <a:rPr lang="en-US" sz="1100" i="1" dirty="0">
                <a:solidFill>
                  <a:schemeClr val="accent6"/>
                </a:solidFill>
              </a:rPr>
              <a:t>Parte del modo di funzionare</a:t>
            </a:r>
            <a:endParaRPr lang="en-US" sz="1100" dirty="0"/>
          </a:p>
        </p:txBody>
      </p:sp>
      <p:sp>
        <p:nvSpPr>
          <p:cNvPr id="26" name="messaggio"/>
          <p:cNvSpPr/>
          <p:nvPr/>
        </p:nvSpPr>
        <p:spPr>
          <a:xfrm>
            <a:off x="457200" y="3520440"/>
            <a:ext cx="8229600" cy="868680"/>
          </a:xfrm>
          <a:prstGeom prst="roundRect">
            <a:avLst>
              <a:gd name="adj" fmla="val 8421"/>
            </a:avLst>
          </a:prstGeom>
          <a:solidFill>
            <a:schemeClr val="tx1"/>
          </a:solidFill>
          <a:ln/>
        </p:spPr>
      </p:sp>
      <p:sp>
        <p:nvSpPr>
          <p:cNvPr id="27" name="Text 24"/>
          <p:cNvSpPr txBox="1"/>
          <p:nvPr/>
        </p:nvSpPr>
        <p:spPr>
          <a:xfrm>
            <a:off x="640080" y="3520440"/>
            <a:ext cx="7863840" cy="868680"/>
          </a:xfrm>
          <a:prstGeom prst="rect">
            <a:avLst/>
          </a:prstGeom>
          <a:noFill/>
          <a:ln/>
        </p:spPr>
        <p:txBody>
          <a:bodyPr wrap="square" lIns="0" tIns="0" rIns="0" bIns="0" rtlCol="0" anchor="ctr"/>
          <a:lstStyle/>
          <a:p>
            <a:pPr indent="0" marL="0">
              <a:buNone/>
            </a:pPr>
            <a:r>
              <a:rPr lang="en-US" sz="1400" dirty="0">
                <a:solidFill>
                  <a:schemeClr val="bg1"/>
                </a:solidFill>
              </a:rPr>
              <a:t>Molta adozione individuale e poca organizzativa: benefici reali ma dispersi. Come può una buona pratica diventare del team?</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Spontanea o coordinata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Diffusione spontanea"/>
          <p:cNvSpPr/>
          <p:nvPr/>
        </p:nvSpPr>
        <p:spPr>
          <a:xfrm>
            <a:off x="457200" y="1051560"/>
            <a:ext cx="3977640" cy="2286000"/>
          </a:xfrm>
          <a:prstGeom prst="roundRect">
            <a:avLst>
              <a:gd name="adj" fmla="val 3200"/>
            </a:avLst>
          </a:prstGeom>
          <a:solidFill>
            <a:schemeClr val="bg2"/>
          </a:solidFill>
          <a:ln/>
        </p:spPr>
      </p:sp>
      <p:sp>
        <p:nvSpPr>
          <p:cNvPr id="15" name="cerchio FiZap"/>
          <p:cNvSpPr/>
          <p:nvPr/>
        </p:nvSpPr>
        <p:spPr>
          <a:xfrm>
            <a:off x="640080" y="1234440"/>
            <a:ext cx="457200" cy="457200"/>
          </a:xfrm>
          <a:prstGeom prst="ellipse">
            <a:avLst/>
          </a:prstGeom>
          <a:solidFill>
            <a:schemeClr val="accent1"/>
          </a:solidFill>
          <a:ln/>
        </p:spPr>
      </p:sp>
      <p:sp>
        <p:nvSpPr>
          <p:cNvPr id="16" name="scheda Introduzione coordinata"/>
          <p:cNvSpPr/>
          <p:nvPr/>
        </p:nvSpPr>
        <p:spPr>
          <a:xfrm>
            <a:off x="4709160" y="1051560"/>
            <a:ext cx="3977640" cy="2286000"/>
          </a:xfrm>
          <a:prstGeom prst="roundRect">
            <a:avLst>
              <a:gd name="adj" fmla="val 3200"/>
            </a:avLst>
          </a:prstGeom>
          <a:solidFill>
            <a:schemeClr val="accent6"/>
          </a:solidFill>
          <a:ln/>
        </p:spPr>
      </p:sp>
      <p:sp>
        <p:nvSpPr>
          <p:cNvPr id="17" name="cerchio FiLayers"/>
          <p:cNvSpPr/>
          <p:nvPr/>
        </p:nvSpPr>
        <p:spPr>
          <a:xfrm>
            <a:off x="4892040" y="1234440"/>
            <a:ext cx="457200" cy="457200"/>
          </a:xfrm>
          <a:prstGeom prst="ellipse">
            <a:avLst/>
          </a:prstGeom>
          <a:solidFill>
            <a:schemeClr val="accent1"/>
          </a:solidFill>
          <a:ln/>
        </p:spPr>
      </p:sp>
      <p:pic>
        <p:nvPicPr>
          <p:cNvPr id="18" name="Image 0" descr="FiZap">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Diffusione spontanea</a:t>
            </a:r>
            <a:endParaRPr lang="en-US" sz="1500" dirty="0"/>
          </a:p>
        </p:txBody>
      </p:sp>
      <p:sp>
        <p:nvSpPr>
          <p:cNvPr id="20" name="Text 16"/>
          <p:cNvSpPr txBox="1"/>
          <p:nvPr/>
        </p:nvSpPr>
        <p:spPr>
          <a:xfrm>
            <a:off x="64008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Parte dalle persone, da bisogni reali</a:t>
            </a:r>
            <a:endParaRPr lang="en-US" sz="1300" dirty="0"/>
          </a:p>
          <a:p>
            <a:pPr marL="177800" indent="-177800">
              <a:spcAft>
                <a:spcPts val="500"/>
              </a:spcAft>
              <a:buSzPct val="100000"/>
              <a:buChar char="•"/>
            </a:pPr>
            <a:r>
              <a:rPr lang="en-US" sz="1300" dirty="0">
                <a:solidFill>
                  <a:schemeClr val="tx2"/>
                </a:solidFill>
              </a:rPr>
              <a:t>Rapida, trova usi utili</a:t>
            </a:r>
            <a:endParaRPr lang="en-US" sz="1300" dirty="0"/>
          </a:p>
          <a:p>
            <a:pPr marL="177800" indent="-177800">
              <a:spcAft>
                <a:spcPts val="500"/>
              </a:spcAft>
              <a:buSzPct val="100000"/>
              <a:buChar char="•"/>
            </a:pPr>
            <a:r>
              <a:rPr lang="en-US" sz="1300" dirty="0">
                <a:solidFill>
                  <a:schemeClr val="tx2"/>
                </a:solidFill>
              </a:rPr>
              <a:t>Disomogenea, difficile da supportare, a volte rischiosa</a:t>
            </a:r>
            <a:endParaRPr lang="en-US" sz="1300" dirty="0"/>
          </a:p>
        </p:txBody>
      </p:sp>
      <p:pic>
        <p:nvPicPr>
          <p:cNvPr id="21" name="Image 1" descr="FiLayers">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Introduzione coordinata</a:t>
            </a:r>
            <a:endParaRPr lang="en-US" sz="1500" dirty="0"/>
          </a:p>
        </p:txBody>
      </p:sp>
      <p:sp>
        <p:nvSpPr>
          <p:cNvPr id="23" name="Text 18"/>
          <p:cNvSpPr txBox="1"/>
          <p:nvPr/>
        </p:nvSpPr>
        <p:spPr>
          <a:xfrm>
            <a:off x="489204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Parte dall'organizzazione</a:t>
            </a:r>
            <a:endParaRPr lang="en-US" sz="1300" dirty="0"/>
          </a:p>
          <a:p>
            <a:pPr marL="177800" indent="-177800">
              <a:spcAft>
                <a:spcPts val="500"/>
              </a:spcAft>
              <a:buSzPct val="100000"/>
              <a:buChar char="•"/>
            </a:pPr>
            <a:r>
              <a:rPr lang="en-US" sz="1300" dirty="0">
                <a:solidFill>
                  <a:schemeClr val="tx2"/>
                </a:solidFill>
              </a:rPr>
              <a:t>Ordinata e controllabile</a:t>
            </a:r>
            <a:endParaRPr lang="en-US" sz="1300" dirty="0"/>
          </a:p>
          <a:p>
            <a:pPr marL="177800" indent="-177800">
              <a:spcAft>
                <a:spcPts val="500"/>
              </a:spcAft>
              <a:buSzPct val="100000"/>
              <a:buChar char="•"/>
            </a:pPr>
            <a:r>
              <a:rPr lang="en-US" sz="1300" dirty="0">
                <a:solidFill>
                  <a:schemeClr val="tx2"/>
                </a:solidFill>
              </a:rPr>
              <a:t>Più lenta; rischia di non intercettare i bisogni</a:t>
            </a:r>
            <a:endParaRPr lang="en-US" sz="1300" dirty="0"/>
          </a:p>
        </p:txBody>
      </p:sp>
      <p:sp>
        <p:nvSpPr>
          <p:cNvPr id="24" name="messaggio"/>
          <p:cNvSpPr/>
          <p:nvPr/>
        </p:nvSpPr>
        <p:spPr>
          <a:xfrm>
            <a:off x="457200" y="3520440"/>
            <a:ext cx="8229600" cy="822960"/>
          </a:xfrm>
          <a:prstGeom prst="roundRect">
            <a:avLst>
              <a:gd name="adj" fmla="val 8889"/>
            </a:avLst>
          </a:prstGeom>
          <a:solidFill>
            <a:schemeClr val="tx1"/>
          </a:solidFill>
          <a:ln/>
        </p:spPr>
      </p:sp>
      <p:sp>
        <p:nvSpPr>
          <p:cNvPr id="25" name="Text 20"/>
          <p:cNvSpPr txBox="1"/>
          <p:nvPr/>
        </p:nvSpPr>
        <p:spPr>
          <a:xfrm>
            <a:off x="640080" y="3520440"/>
            <a:ext cx="7863840" cy="822960"/>
          </a:xfrm>
          <a:prstGeom prst="rect">
            <a:avLst/>
          </a:prstGeom>
          <a:noFill/>
          <a:ln/>
        </p:spPr>
        <p:txBody>
          <a:bodyPr wrap="square" lIns="0" tIns="0" rIns="0" bIns="0" rtlCol="0" anchor="ctr"/>
          <a:lstStyle/>
          <a:p>
            <a:pPr indent="0" marL="0">
              <a:buNone/>
            </a:pPr>
            <a:r>
              <a:rPr lang="en-US" sz="1400" dirty="0">
                <a:solidFill>
                  <a:schemeClr val="bg1"/>
                </a:solidFill>
              </a:rPr>
              <a:t>L'uso spontaneo spesso precede le iniziative ufficiali: quando l'azienda decide, molte persone usano già l'AI.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Utenti, qualità, impatto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14" name="Chart 0" descr=""/>
          <p:cNvGraphicFramePr/>
          <p:nvPr/>
        </p:nvGraphicFramePr>
        <p:xfrm>
          <a:off x="457200" y="96012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15" name="Utenti"/>
          <p:cNvSpPr/>
          <p:nvPr/>
        </p:nvSpPr>
        <p:spPr>
          <a:xfrm>
            <a:off x="5806440" y="1051560"/>
            <a:ext cx="2880360" cy="658368"/>
          </a:xfrm>
          <a:prstGeom prst="roundRect">
            <a:avLst>
              <a:gd name="adj" fmla="val 11111"/>
            </a:avLst>
          </a:prstGeom>
          <a:solidFill>
            <a:schemeClr val="bg2"/>
          </a:solidFill>
          <a:ln/>
        </p:spPr>
      </p:sp>
      <p:sp>
        <p:nvSpPr>
          <p:cNvPr id="16" name="Text 12"/>
          <p:cNvSpPr txBox="1"/>
          <p:nvPr/>
        </p:nvSpPr>
        <p:spPr>
          <a:xfrm>
            <a:off x="5943600" y="1051560"/>
            <a:ext cx="1188720" cy="658368"/>
          </a:xfrm>
          <a:prstGeom prst="rect">
            <a:avLst/>
          </a:prstGeom>
          <a:noFill/>
          <a:ln/>
        </p:spPr>
        <p:txBody>
          <a:bodyPr wrap="square" lIns="0" tIns="0" rIns="0" bIns="0" rtlCol="0" anchor="ctr"/>
          <a:lstStyle/>
          <a:p>
            <a:pPr indent="0" marL="0">
              <a:buNone/>
            </a:pPr>
            <a:r>
              <a:rPr lang="en-US" sz="1300" b="1" dirty="0">
                <a:solidFill>
                  <a:schemeClr val="accent1"/>
                </a:solidFill>
              </a:rPr>
              <a:t>Utenti</a:t>
            </a:r>
            <a:endParaRPr lang="en-US" sz="1300" dirty="0"/>
          </a:p>
        </p:txBody>
      </p:sp>
      <p:sp>
        <p:nvSpPr>
          <p:cNvPr id="17" name="Text 13"/>
          <p:cNvSpPr txBox="1"/>
          <p:nvPr/>
        </p:nvSpPr>
        <p:spPr>
          <a:xfrm>
            <a:off x="7132320" y="1051560"/>
            <a:ext cx="1417320" cy="658368"/>
          </a:xfrm>
          <a:prstGeom prst="rect">
            <a:avLst/>
          </a:prstGeom>
          <a:noFill/>
          <a:ln/>
        </p:spPr>
        <p:txBody>
          <a:bodyPr wrap="square" lIns="0" tIns="0" rIns="0" bIns="0" rtlCol="0" anchor="ctr"/>
          <a:lstStyle/>
          <a:p>
            <a:pPr indent="0" marL="0">
              <a:buNone/>
            </a:pPr>
            <a:r>
              <a:rPr lang="en-US" sz="1100" dirty="0">
                <a:solidFill>
                  <a:schemeClr val="tx1"/>
                </a:solidFill>
              </a:rPr>
              <a:t>Quanti: facile da misurare</a:t>
            </a:r>
            <a:endParaRPr lang="en-US" sz="1100" dirty="0"/>
          </a:p>
        </p:txBody>
      </p:sp>
      <p:sp>
        <p:nvSpPr>
          <p:cNvPr id="18" name="Qualità d'uso"/>
          <p:cNvSpPr/>
          <p:nvPr/>
        </p:nvSpPr>
        <p:spPr>
          <a:xfrm>
            <a:off x="5806440" y="1783080"/>
            <a:ext cx="2880360" cy="658368"/>
          </a:xfrm>
          <a:prstGeom prst="roundRect">
            <a:avLst>
              <a:gd name="adj" fmla="val 11111"/>
            </a:avLst>
          </a:prstGeom>
          <a:solidFill>
            <a:schemeClr val="bg1"/>
          </a:solidFill>
          <a:ln/>
        </p:spPr>
      </p:sp>
      <p:sp>
        <p:nvSpPr>
          <p:cNvPr id="19" name="Text 15"/>
          <p:cNvSpPr txBox="1"/>
          <p:nvPr/>
        </p:nvSpPr>
        <p:spPr>
          <a:xfrm>
            <a:off x="5943600" y="1783080"/>
            <a:ext cx="1188720" cy="658368"/>
          </a:xfrm>
          <a:prstGeom prst="rect">
            <a:avLst/>
          </a:prstGeom>
          <a:noFill/>
          <a:ln/>
        </p:spPr>
        <p:txBody>
          <a:bodyPr wrap="square" lIns="0" tIns="0" rIns="0" bIns="0" rtlCol="0" anchor="ctr"/>
          <a:lstStyle/>
          <a:p>
            <a:pPr indent="0" marL="0">
              <a:buNone/>
            </a:pPr>
            <a:r>
              <a:rPr lang="en-US" sz="1300" b="1" dirty="0">
                <a:solidFill>
                  <a:schemeClr val="accent1"/>
                </a:solidFill>
              </a:rPr>
              <a:t>Qualità d'uso</a:t>
            </a:r>
            <a:endParaRPr lang="en-US" sz="1300" dirty="0"/>
          </a:p>
        </p:txBody>
      </p:sp>
      <p:sp>
        <p:nvSpPr>
          <p:cNvPr id="20" name="Text 16"/>
          <p:cNvSpPr txBox="1"/>
          <p:nvPr/>
        </p:nvSpPr>
        <p:spPr>
          <a:xfrm>
            <a:off x="7132320" y="1783080"/>
            <a:ext cx="1417320" cy="658368"/>
          </a:xfrm>
          <a:prstGeom prst="rect">
            <a:avLst/>
          </a:prstGeom>
          <a:noFill/>
          <a:ln/>
        </p:spPr>
        <p:txBody>
          <a:bodyPr wrap="square" lIns="0" tIns="0" rIns="0" bIns="0" rtlCol="0" anchor="ctr"/>
          <a:lstStyle/>
          <a:p>
            <a:pPr indent="0" marL="0">
              <a:buNone/>
            </a:pPr>
            <a:r>
              <a:rPr lang="en-US" sz="1100" dirty="0">
                <a:solidFill>
                  <a:schemeClr val="tx1"/>
                </a:solidFill>
              </a:rPr>
              <a:t>Come: difficile da osservare</a:t>
            </a:r>
            <a:endParaRPr lang="en-US" sz="1100" dirty="0"/>
          </a:p>
        </p:txBody>
      </p:sp>
      <p:sp>
        <p:nvSpPr>
          <p:cNvPr id="21" name="Impatto"/>
          <p:cNvSpPr/>
          <p:nvPr/>
        </p:nvSpPr>
        <p:spPr>
          <a:xfrm>
            <a:off x="5806440" y="2514600"/>
            <a:ext cx="2880360" cy="658368"/>
          </a:xfrm>
          <a:prstGeom prst="roundRect">
            <a:avLst>
              <a:gd name="adj" fmla="val 11111"/>
            </a:avLst>
          </a:prstGeom>
          <a:solidFill>
            <a:schemeClr val="bg2"/>
          </a:solidFill>
          <a:ln/>
        </p:spPr>
      </p:sp>
      <p:sp>
        <p:nvSpPr>
          <p:cNvPr id="22" name="Text 18"/>
          <p:cNvSpPr txBox="1"/>
          <p:nvPr/>
        </p:nvSpPr>
        <p:spPr>
          <a:xfrm>
            <a:off x="5943600" y="2514600"/>
            <a:ext cx="1188720" cy="658368"/>
          </a:xfrm>
          <a:prstGeom prst="rect">
            <a:avLst/>
          </a:prstGeom>
          <a:noFill/>
          <a:ln/>
        </p:spPr>
        <p:txBody>
          <a:bodyPr wrap="square" lIns="0" tIns="0" rIns="0" bIns="0" rtlCol="0" anchor="ctr"/>
          <a:lstStyle/>
          <a:p>
            <a:pPr indent="0" marL="0">
              <a:buNone/>
            </a:pPr>
            <a:r>
              <a:rPr lang="en-US" sz="1300" b="1" dirty="0">
                <a:solidFill>
                  <a:schemeClr val="accent1"/>
                </a:solidFill>
              </a:rPr>
              <a:t>Impatto</a:t>
            </a:r>
            <a:endParaRPr lang="en-US" sz="1300" dirty="0"/>
          </a:p>
        </p:txBody>
      </p:sp>
      <p:sp>
        <p:nvSpPr>
          <p:cNvPr id="23" name="Text 19"/>
          <p:cNvSpPr txBox="1"/>
          <p:nvPr/>
        </p:nvSpPr>
        <p:spPr>
          <a:xfrm>
            <a:off x="7132320" y="2514600"/>
            <a:ext cx="1417320" cy="658368"/>
          </a:xfrm>
          <a:prstGeom prst="rect">
            <a:avLst/>
          </a:prstGeom>
          <a:noFill/>
          <a:ln/>
        </p:spPr>
        <p:txBody>
          <a:bodyPr wrap="square" lIns="0" tIns="0" rIns="0" bIns="0" rtlCol="0" anchor="ctr"/>
          <a:lstStyle/>
          <a:p>
            <a:pPr indent="0" marL="0">
              <a:buNone/>
            </a:pPr>
            <a:r>
              <a:rPr lang="en-US" sz="1100" dirty="0">
                <a:solidFill>
                  <a:schemeClr val="tx1"/>
                </a:solidFill>
              </a:rPr>
              <a:t>Che cosa cambia davvero</a:t>
            </a:r>
            <a:endParaRPr lang="en-US" sz="1100" dirty="0"/>
          </a:p>
        </p:txBody>
      </p:sp>
      <p:sp>
        <p:nvSpPr>
          <p:cNvPr id="24" name="Text 20"/>
          <p:cNvSpPr txBox="1"/>
          <p:nvPr/>
        </p:nvSpPr>
        <p:spPr>
          <a:xfrm>
            <a:off x="5806440" y="3291840"/>
            <a:ext cx="2880360" cy="731520"/>
          </a:xfrm>
          <a:prstGeom prst="rect">
            <a:avLst/>
          </a:prstGeom>
          <a:noFill/>
          <a:ln/>
        </p:spPr>
        <p:txBody>
          <a:bodyPr wrap="square" lIns="0" tIns="0" rIns="0" bIns="0" rtlCol="0" anchor="t"/>
          <a:lstStyle/>
          <a:p>
            <a:pPr indent="0" marL="0">
              <a:buNone/>
            </a:pPr>
            <a:r>
              <a:rPr lang="en-US" sz="1200" b="1" i="1" dirty="0">
                <a:solidFill>
                  <a:schemeClr val="accent5"/>
                </a:solidFill>
              </a:rPr>
              <a:t>Guardare solo gli utenti porterebbe a conclusioni opposte.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percorso, non un evento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14" name="Chart 0" descr=""/>
          <p:cNvGraphicFramePr/>
          <p:nvPr/>
        </p:nvGraphicFramePr>
        <p:xfrm>
          <a:off x="457200" y="96012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15" name="scheda Andamento a S"/>
          <p:cNvSpPr/>
          <p:nvPr/>
        </p:nvSpPr>
        <p:spPr>
          <a:xfrm>
            <a:off x="5806440" y="1051560"/>
            <a:ext cx="2880360" cy="1463040"/>
          </a:xfrm>
          <a:prstGeom prst="roundRect">
            <a:avLst>
              <a:gd name="adj" fmla="val 5000"/>
            </a:avLst>
          </a:prstGeom>
          <a:solidFill>
            <a:schemeClr val="bg2"/>
          </a:solidFill>
          <a:ln/>
        </p:spPr>
      </p:sp>
      <p:sp>
        <p:nvSpPr>
          <p:cNvPr id="16" name="cerchio FiTrendingUp"/>
          <p:cNvSpPr/>
          <p:nvPr/>
        </p:nvSpPr>
        <p:spPr>
          <a:xfrm>
            <a:off x="5989320" y="1234440"/>
            <a:ext cx="457200" cy="457200"/>
          </a:xfrm>
          <a:prstGeom prst="ellipse">
            <a:avLst/>
          </a:prstGeom>
          <a:solidFill>
            <a:schemeClr val="accent1"/>
          </a:solidFill>
          <a:ln/>
        </p:spPr>
      </p:sp>
      <p:pic>
        <p:nvPicPr>
          <p:cNvPr id="17" name="Image 0" descr="FiTrendingUp">    </p:cNvPr>
          <p:cNvPicPr>
            <a:picLocks noChangeAspect="1"/>
          </p:cNvPicPr>
          <p:nvPr/>
        </p:nvPicPr>
        <p:blipFill>
          <a:blip r:embed="rId2"/>
          <a:stretch>
            <a:fillRect/>
          </a:stretch>
        </p:blipFill>
        <p:spPr>
          <a:xfrm>
            <a:off x="6103620" y="1348740"/>
            <a:ext cx="228600" cy="228600"/>
          </a:xfrm>
          <a:prstGeom prst="rect">
            <a:avLst/>
          </a:prstGeom>
        </p:spPr>
      </p:pic>
      <p:sp>
        <p:nvSpPr>
          <p:cNvPr id="18" name="Text 13"/>
          <p:cNvSpPr txBox="1"/>
          <p:nvPr/>
        </p:nvSpPr>
        <p:spPr>
          <a:xfrm>
            <a:off x="6583680" y="123444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Andamento a S</a:t>
            </a:r>
            <a:endParaRPr lang="en-US" sz="1300" dirty="0"/>
          </a:p>
        </p:txBody>
      </p:sp>
      <p:sp>
        <p:nvSpPr>
          <p:cNvPr id="19" name="Text 14"/>
          <p:cNvSpPr txBox="1"/>
          <p:nvPr/>
        </p:nvSpPr>
        <p:spPr>
          <a:xfrm>
            <a:off x="5989320" y="1828800"/>
            <a:ext cx="2514600" cy="576072"/>
          </a:xfrm>
          <a:prstGeom prst="rect">
            <a:avLst/>
          </a:prstGeom>
          <a:noFill/>
          <a:ln/>
        </p:spPr>
        <p:txBody>
          <a:bodyPr wrap="square" lIns="0" tIns="0" rIns="0" bIns="0" rtlCol="0" anchor="t"/>
          <a:lstStyle/>
          <a:p>
            <a:pPr indent="0" marL="0">
              <a:buNone/>
            </a:pPr>
            <a:r>
              <a:rPr lang="en-US" sz="1200" dirty="0">
                <a:solidFill>
                  <a:schemeClr val="tx2"/>
                </a:solidFill>
              </a:rPr>
              <a:t>Lento, poi rapido, poi stabile (Rogers).</a:t>
            </a:r>
            <a:endParaRPr lang="en-US" sz="1200" dirty="0"/>
          </a:p>
        </p:txBody>
      </p:sp>
      <p:sp>
        <p:nvSpPr>
          <p:cNvPr id="20" name="scheda Risultati dopo le abitudini"/>
          <p:cNvSpPr/>
          <p:nvPr/>
        </p:nvSpPr>
        <p:spPr>
          <a:xfrm>
            <a:off x="5806440" y="2651760"/>
            <a:ext cx="2880360" cy="1463040"/>
          </a:xfrm>
          <a:prstGeom prst="roundRect">
            <a:avLst>
              <a:gd name="adj" fmla="val 5000"/>
            </a:avLst>
          </a:prstGeom>
          <a:solidFill>
            <a:schemeClr val="accent6"/>
          </a:solidFill>
          <a:ln/>
        </p:spPr>
      </p:sp>
      <p:sp>
        <p:nvSpPr>
          <p:cNvPr id="21" name="cerchio FiClock"/>
          <p:cNvSpPr/>
          <p:nvPr/>
        </p:nvSpPr>
        <p:spPr>
          <a:xfrm>
            <a:off x="5989320" y="2834640"/>
            <a:ext cx="457200" cy="457200"/>
          </a:xfrm>
          <a:prstGeom prst="ellipse">
            <a:avLst/>
          </a:prstGeom>
          <a:solidFill>
            <a:schemeClr val="accent1"/>
          </a:solidFill>
          <a:ln/>
        </p:spPr>
      </p:sp>
      <p:pic>
        <p:nvPicPr>
          <p:cNvPr id="22" name="Image 1" descr="FiClock">    </p:cNvPr>
          <p:cNvPicPr>
            <a:picLocks noChangeAspect="1"/>
          </p:cNvPicPr>
          <p:nvPr/>
        </p:nvPicPr>
        <p:blipFill>
          <a:blip r:embed="rId3"/>
          <a:stretch>
            <a:fillRect/>
          </a:stretch>
        </p:blipFill>
        <p:spPr>
          <a:xfrm>
            <a:off x="6103620" y="2948940"/>
            <a:ext cx="228600" cy="228600"/>
          </a:xfrm>
          <a:prstGeom prst="rect">
            <a:avLst/>
          </a:prstGeom>
        </p:spPr>
      </p:pic>
      <p:sp>
        <p:nvSpPr>
          <p:cNvPr id="23" name="Text 17"/>
          <p:cNvSpPr txBox="1"/>
          <p:nvPr/>
        </p:nvSpPr>
        <p:spPr>
          <a:xfrm>
            <a:off x="6583680" y="283464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Risultati dopo le abitudini</a:t>
            </a:r>
            <a:endParaRPr lang="en-US" sz="1300" dirty="0"/>
          </a:p>
        </p:txBody>
      </p:sp>
      <p:sp>
        <p:nvSpPr>
          <p:cNvPr id="24" name="Text 18"/>
          <p:cNvSpPr txBox="1"/>
          <p:nvPr/>
        </p:nvSpPr>
        <p:spPr>
          <a:xfrm>
            <a:off x="5989320" y="3429000"/>
            <a:ext cx="2514600" cy="576072"/>
          </a:xfrm>
          <a:prstGeom prst="rect">
            <a:avLst/>
          </a:prstGeom>
          <a:noFill/>
          <a:ln/>
        </p:spPr>
        <p:txBody>
          <a:bodyPr wrap="square" lIns="0" tIns="0" rIns="0" bIns="0" rtlCol="0" anchor="t"/>
          <a:lstStyle/>
          <a:p>
            <a:pPr indent="0" marL="0">
              <a:buNone/>
            </a:pPr>
            <a:r>
              <a:rPr lang="en-US" sz="1200" dirty="0">
                <a:solidFill>
                  <a:schemeClr val="tx2"/>
                </a:solidFill>
              </a:rPr>
              <a:t>Giudicare subito dopo il lancio è giudicare troppo presto.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Lo Shadow AI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riquadro Che cos'è (esempio fittizio)"/>
          <p:cNvSpPr/>
          <p:nvPr/>
        </p:nvSpPr>
        <p:spPr>
          <a:xfrm>
            <a:off x="457200" y="1051560"/>
            <a:ext cx="8229600" cy="777240"/>
          </a:xfrm>
          <a:prstGeom prst="roundRect">
            <a:avLst>
              <a:gd name="adj" fmla="val 9412"/>
            </a:avLst>
          </a:prstGeom>
          <a:solidFill>
            <a:schemeClr val="accent6"/>
          </a:solidFill>
          <a:ln/>
        </p:spPr>
      </p:sp>
      <p:sp>
        <p:nvSpPr>
          <p:cNvPr id="15" name="barra"/>
          <p:cNvSpPr/>
          <p:nvPr/>
        </p:nvSpPr>
        <p:spPr>
          <a:xfrm>
            <a:off x="457200" y="1161288"/>
            <a:ext cx="54864" cy="557784"/>
          </a:xfrm>
          <a:prstGeom prst="rect">
            <a:avLst/>
          </a:prstGeom>
          <a:solidFill>
            <a:schemeClr val="accent1"/>
          </a:solidFill>
          <a:ln/>
        </p:spPr>
      </p:sp>
      <p:sp>
        <p:nvSpPr>
          <p:cNvPr id="16" name="Text 13"/>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Che cos'è (esempio fittizio)</a:t>
            </a:r>
            <a:endParaRPr lang="en-US" sz="1100" dirty="0"/>
          </a:p>
        </p:txBody>
      </p:sp>
      <p:sp>
        <p:nvSpPr>
          <p:cNvPr id="17" name="Text 14"/>
          <p:cNvSpPr txBox="1"/>
          <p:nvPr/>
        </p:nvSpPr>
        <p:spPr>
          <a:xfrm>
            <a:off x="658368" y="1435608"/>
            <a:ext cx="7863840" cy="301752"/>
          </a:xfrm>
          <a:prstGeom prst="rect">
            <a:avLst/>
          </a:prstGeom>
          <a:noFill/>
          <a:ln/>
        </p:spPr>
        <p:txBody>
          <a:bodyPr wrap="square" lIns="0" tIns="0" rIns="0" bIns="0" rtlCol="0" anchor="t"/>
          <a:lstStyle/>
          <a:p>
            <a:pPr indent="0" marL="0">
              <a:buNone/>
            </a:pPr>
            <a:r>
              <a:rPr lang="en-US" sz="1300" dirty="0">
                <a:solidFill>
                  <a:schemeClr val="tx1"/>
                </a:solidFill>
              </a:rPr>
              <a:t>Un collaboratore usa un servizio gratuito, con un account personale, per riassumere documenti aziendali o scrivere offerte.</a:t>
            </a:r>
            <a:endParaRPr lang="en-US" sz="1300" dirty="0"/>
          </a:p>
        </p:txBody>
      </p:sp>
      <p:sp>
        <p:nvSpPr>
          <p:cNvPr id="18" name="scheda Un segnale"/>
          <p:cNvSpPr/>
          <p:nvPr/>
        </p:nvSpPr>
        <p:spPr>
          <a:xfrm>
            <a:off x="457200" y="1965960"/>
            <a:ext cx="3977640" cy="1828800"/>
          </a:xfrm>
          <a:prstGeom prst="roundRect">
            <a:avLst>
              <a:gd name="adj" fmla="val 4000"/>
            </a:avLst>
          </a:prstGeom>
          <a:solidFill>
            <a:schemeClr val="bg2"/>
          </a:solidFill>
          <a:ln/>
        </p:spPr>
      </p:sp>
      <p:sp>
        <p:nvSpPr>
          <p:cNvPr id="19" name="cerchio FiRadio"/>
          <p:cNvSpPr/>
          <p:nvPr/>
        </p:nvSpPr>
        <p:spPr>
          <a:xfrm>
            <a:off x="640080" y="2148840"/>
            <a:ext cx="457200" cy="457200"/>
          </a:xfrm>
          <a:prstGeom prst="ellipse">
            <a:avLst/>
          </a:prstGeom>
          <a:solidFill>
            <a:schemeClr val="accent1"/>
          </a:solidFill>
          <a:ln/>
        </p:spPr>
      </p:sp>
      <p:sp>
        <p:nvSpPr>
          <p:cNvPr id="20" name="scheda Un rischio"/>
          <p:cNvSpPr/>
          <p:nvPr/>
        </p:nvSpPr>
        <p:spPr>
          <a:xfrm>
            <a:off x="4709160" y="1965960"/>
            <a:ext cx="3977640" cy="1828800"/>
          </a:xfrm>
          <a:prstGeom prst="roundRect">
            <a:avLst>
              <a:gd name="adj" fmla="val 4000"/>
            </a:avLst>
          </a:prstGeom>
          <a:solidFill>
            <a:schemeClr val="accent6"/>
          </a:solidFill>
          <a:ln/>
        </p:spPr>
      </p:sp>
      <p:sp>
        <p:nvSpPr>
          <p:cNvPr id="21" name="cerchio FiAlertTriangle"/>
          <p:cNvSpPr/>
          <p:nvPr/>
        </p:nvSpPr>
        <p:spPr>
          <a:xfrm>
            <a:off x="4892040" y="2148840"/>
            <a:ext cx="457200" cy="457200"/>
          </a:xfrm>
          <a:prstGeom prst="ellipse">
            <a:avLst/>
          </a:prstGeom>
          <a:solidFill>
            <a:schemeClr val="accent1"/>
          </a:solidFill>
          <a:ln/>
        </p:spPr>
      </p:sp>
      <p:pic>
        <p:nvPicPr>
          <p:cNvPr id="22" name="Image 0" descr="FiAlertTriangle">    </p:cNvPr>
          <p:cNvPicPr>
            <a:picLocks noChangeAspect="1"/>
          </p:cNvPicPr>
          <p:nvPr/>
        </p:nvPicPr>
        <p:blipFill>
          <a:blip r:embed="rId1"/>
          <a:stretch>
            <a:fillRect/>
          </a:stretch>
        </p:blipFill>
        <p:spPr>
          <a:xfrm>
            <a:off x="5006340" y="2263140"/>
            <a:ext cx="228600" cy="228600"/>
          </a:xfrm>
          <a:prstGeom prst="rect">
            <a:avLst/>
          </a:prstGeom>
        </p:spPr>
      </p:pic>
      <p:sp>
        <p:nvSpPr>
          <p:cNvPr id="23" name="Text 19"/>
          <p:cNvSpPr txBox="1"/>
          <p:nvPr/>
        </p:nvSpPr>
        <p:spPr>
          <a:xfrm>
            <a:off x="4892040" y="27157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Un rischio</a:t>
            </a:r>
            <a:endParaRPr lang="en-US" sz="1500" dirty="0"/>
          </a:p>
        </p:txBody>
      </p:sp>
      <p:sp>
        <p:nvSpPr>
          <p:cNvPr id="24" name="Text 20"/>
          <p:cNvSpPr txBox="1"/>
          <p:nvPr/>
        </p:nvSpPr>
        <p:spPr>
          <a:xfrm>
            <a:off x="4892040" y="3099816"/>
            <a:ext cx="3611880" cy="585216"/>
          </a:xfrm>
          <a:prstGeom prst="rect">
            <a:avLst/>
          </a:prstGeom>
          <a:noFill/>
          <a:ln/>
        </p:spPr>
        <p:txBody>
          <a:bodyPr wrap="square" lIns="0" tIns="0" rIns="0" bIns="0" rtlCol="0" anchor="t"/>
          <a:lstStyle/>
          <a:p>
            <a:pPr indent="0" marL="0">
              <a:buNone/>
            </a:pPr>
            <a:r>
              <a:rPr lang="en-US" sz="1300" dirty="0">
                <a:solidFill>
                  <a:schemeClr val="tx2"/>
                </a:solidFill>
              </a:rPr>
              <a:t>Informazioni aziendali in servizi esterni senza garanzie, risultati non verificati, pratiche invisibili.</a:t>
            </a:r>
            <a:endParaRPr lang="en-US" sz="1300" dirty="0"/>
          </a:p>
        </p:txBody>
      </p:sp>
      <p:pic>
        <p:nvPicPr>
          <p:cNvPr id="25" name="Image 1" descr="FiRadio">    </p:cNvPr>
          <p:cNvPicPr>
            <a:picLocks noChangeAspect="1"/>
          </p:cNvPicPr>
          <p:nvPr/>
        </p:nvPicPr>
        <p:blipFill>
          <a:blip r:embed="rId2"/>
          <a:stretch>
            <a:fillRect/>
          </a:stretch>
        </p:blipFill>
        <p:spPr>
          <a:xfrm>
            <a:off x="754380" y="2263140"/>
            <a:ext cx="228600" cy="228600"/>
          </a:xfrm>
          <a:prstGeom prst="rect">
            <a:avLst/>
          </a:prstGeom>
        </p:spPr>
      </p:pic>
      <p:sp>
        <p:nvSpPr>
          <p:cNvPr id="26" name="Text 21"/>
          <p:cNvSpPr txBox="1"/>
          <p:nvPr/>
        </p:nvSpPr>
        <p:spPr>
          <a:xfrm>
            <a:off x="640080" y="27157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Un segnale</a:t>
            </a:r>
            <a:endParaRPr lang="en-US" sz="1500" dirty="0"/>
          </a:p>
        </p:txBody>
      </p:sp>
      <p:sp>
        <p:nvSpPr>
          <p:cNvPr id="27" name="Text 22"/>
          <p:cNvSpPr txBox="1"/>
          <p:nvPr/>
        </p:nvSpPr>
        <p:spPr>
          <a:xfrm>
            <a:off x="640080" y="3099816"/>
            <a:ext cx="3611880" cy="585216"/>
          </a:xfrm>
          <a:prstGeom prst="rect">
            <a:avLst/>
          </a:prstGeom>
          <a:noFill/>
          <a:ln/>
        </p:spPr>
        <p:txBody>
          <a:bodyPr wrap="square" lIns="0" tIns="0" rIns="0" bIns="0" rtlCol="0" anchor="t"/>
          <a:lstStyle/>
          <a:p>
            <a:pPr indent="0" marL="0">
              <a:buNone/>
            </a:pPr>
            <a:r>
              <a:rPr lang="en-US" sz="1300" dirty="0">
                <a:solidFill>
                  <a:schemeClr val="tx2"/>
                </a:solidFill>
              </a:rPr>
              <a:t>Bisogni operativi non soddisfatti: le persone hanno trovato qualcosa di utile, e l'organizzazione non offre un'alternativa adeguata.</a:t>
            </a:r>
            <a:endParaRPr lang="en-US" sz="1300" dirty="0"/>
          </a:p>
        </p:txBody>
      </p:sp>
      <p:sp>
        <p:nvSpPr>
          <p:cNvPr id="28" name="Text 23"/>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100" i="1" dirty="0">
                <a:solidFill>
                  <a:schemeClr val="tx2"/>
                </a:solidFill>
              </a:rPr>
              <a:t>Work Trend Index 2024 (Microsoft e LinkedIn): il 78% di chi usa l'AI al lavoro porta strumenti propri.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basso non è Shadow AI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657600"/>
                <a:gridCol w="2194560"/>
                <a:gridCol w="2377440"/>
              </a:tblGrid>
              <a:tr h="594360">
                <a:tc>
                  <a:txBody>
                    <a:bodyPr/>
                    <a:lstStyle/>
                    <a:p>
                      <a:pPr indent="0" marL="0">
                        <a:buNone/>
                      </a:pPr>
                      <a:r>
                        <a:rPr lang="en-US" sz="1200" b="1" dirty="0">
                          <a:solidFill>
                            <a:schemeClr val="bg1"/>
                          </a:solidFill>
                        </a:rPr>
                        <a:t>Situazione (fittizia)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cos'è</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Che cosa richiede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94360">
                <a:tc>
                  <a:txBody>
                    <a:bodyPr/>
                    <a:lstStyle/>
                    <a:p>
                      <a:pPr indent="0" marL="0">
                        <a:buNone/>
                      </a:pPr>
                      <a:r>
                        <a:rPr lang="en-US" sz="1200" b="1" dirty="0">
                          <a:solidFill>
                            <a:schemeClr val="tx1"/>
                          </a:solidFill>
                        </a:rPr>
                        <a:t>Un commerciale prova lo strumento aziendale per un nuovo tipo di offerta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Sperimentazione autorizzata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Incoraggiamento, condivisione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94360">
                <a:tc>
                  <a:txBody>
                    <a:bodyPr/>
                    <a:lstStyle/>
                    <a:p>
                      <a:pPr indent="0" marL="0">
                        <a:buNone/>
                      </a:pPr>
                      <a:r>
                        <a:rPr lang="en-US" sz="1200" b="1" dirty="0">
                          <a:solidFill>
                            <a:schemeClr val="tx1"/>
                          </a:solidFill>
                        </a:rPr>
                        <a:t>Un team crea istruzioni condivise sullo strumento approvato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Adozione dal basso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Valorizzazione, diffusione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94360">
                <a:tc>
                  <a:txBody>
                    <a:bodyPr/>
                    <a:lstStyle/>
                    <a:p>
                      <a:pPr indent="0" marL="0">
                        <a:buNone/>
                      </a:pPr>
                      <a:r>
                        <a:rPr lang="en-US" sz="1200" b="1" dirty="0">
                          <a:solidFill>
                            <a:schemeClr val="tx1"/>
                          </a:solidFill>
                        </a:rPr>
                        <a:t>Un collaboratore carica contratti su un servizio personale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Uso non approvato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Attenzione, alternativa, controllo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5" name="messaggio"/>
          <p:cNvSpPr/>
          <p:nvPr/>
        </p:nvSpPr>
        <p:spPr>
          <a:xfrm>
            <a:off x="457200" y="3611880"/>
            <a:ext cx="8229600" cy="777240"/>
          </a:xfrm>
          <a:prstGeom prst="roundRect">
            <a:avLst>
              <a:gd name="adj" fmla="val 9412"/>
            </a:avLst>
          </a:prstGeom>
          <a:solidFill>
            <a:schemeClr val="tx1"/>
          </a:solidFill>
          <a:ln/>
        </p:spPr>
      </p:sp>
      <p:sp>
        <p:nvSpPr>
          <p:cNvPr id="16" name="Text 12"/>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400" dirty="0">
                <a:solidFill>
                  <a:schemeClr val="bg1"/>
                </a:solidFill>
              </a:rPr>
              <a:t>Chiamare Shadow AI ogni iniziativa scoraggia la sperimentazione. Ignorarlo lascia senza risposta bisogni e rischi.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Acquistare licenze e registrare accessi non equivale ad adottare l'AI: conta l'integrazione appropriata nel lavoro.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16.1  ·  Che cosa significa adottare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Fattori e ostacoli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bassa adozione può dipendere dallo strumento o dalle condizioni operative, non dalla scarsa apertura al cambiamento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Utile e facile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Utilità percepita"/>
          <p:cNvSpPr/>
          <p:nvPr/>
        </p:nvSpPr>
        <p:spPr>
          <a:xfrm>
            <a:off x="457200" y="1051560"/>
            <a:ext cx="3977640" cy="2377440"/>
          </a:xfrm>
          <a:prstGeom prst="roundRect">
            <a:avLst>
              <a:gd name="adj" fmla="val 3077"/>
            </a:avLst>
          </a:prstGeom>
          <a:solidFill>
            <a:schemeClr val="bg2"/>
          </a:solidFill>
          <a:ln/>
        </p:spPr>
      </p:sp>
      <p:sp>
        <p:nvSpPr>
          <p:cNvPr id="15" name="cerchio FiThumbsUp"/>
          <p:cNvSpPr/>
          <p:nvPr/>
        </p:nvSpPr>
        <p:spPr>
          <a:xfrm>
            <a:off x="640080" y="1234440"/>
            <a:ext cx="457200" cy="457200"/>
          </a:xfrm>
          <a:prstGeom prst="ellipse">
            <a:avLst/>
          </a:prstGeom>
          <a:solidFill>
            <a:schemeClr val="accent1"/>
          </a:solidFill>
          <a:ln/>
        </p:spPr>
      </p:sp>
      <p:sp>
        <p:nvSpPr>
          <p:cNvPr id="16" name="scheda Facilità d'uso"/>
          <p:cNvSpPr/>
          <p:nvPr/>
        </p:nvSpPr>
        <p:spPr>
          <a:xfrm>
            <a:off x="4709160" y="1051560"/>
            <a:ext cx="3977640" cy="2377440"/>
          </a:xfrm>
          <a:prstGeom prst="roundRect">
            <a:avLst>
              <a:gd name="adj" fmla="val 3077"/>
            </a:avLst>
          </a:prstGeom>
          <a:solidFill>
            <a:schemeClr val="accent6"/>
          </a:solidFill>
          <a:ln/>
        </p:spPr>
      </p:sp>
      <p:sp>
        <p:nvSpPr>
          <p:cNvPr id="17" name="cerchio FiMousePointer"/>
          <p:cNvSpPr/>
          <p:nvPr/>
        </p:nvSpPr>
        <p:spPr>
          <a:xfrm>
            <a:off x="4892040" y="1234440"/>
            <a:ext cx="457200" cy="457200"/>
          </a:xfrm>
          <a:prstGeom prst="ellipse">
            <a:avLst/>
          </a:prstGeom>
          <a:solidFill>
            <a:schemeClr val="accent1"/>
          </a:solidFill>
          <a:ln/>
        </p:spPr>
      </p:sp>
      <p:pic>
        <p:nvPicPr>
          <p:cNvPr id="18" name="Image 0" descr="FiMousePointer">    </p:cNvPr>
          <p:cNvPicPr>
            <a:picLocks noChangeAspect="1"/>
          </p:cNvPicPr>
          <p:nvPr/>
        </p:nvPicPr>
        <p:blipFill>
          <a:blip r:embed="rId1"/>
          <a:stretch>
            <a:fillRect/>
          </a:stretch>
        </p:blipFill>
        <p:spPr>
          <a:xfrm>
            <a:off x="5006340" y="1348740"/>
            <a:ext cx="228600" cy="228600"/>
          </a:xfrm>
          <a:prstGeom prst="rect">
            <a:avLst/>
          </a:prstGeom>
        </p:spPr>
      </p:pic>
      <p:sp>
        <p:nvSpPr>
          <p:cNvPr id="19"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Facilità d'uso</a:t>
            </a:r>
            <a:endParaRPr lang="en-US" sz="1500" dirty="0"/>
          </a:p>
        </p:txBody>
      </p:sp>
      <p:sp>
        <p:nvSpPr>
          <p:cNvPr id="20" name="Text 16"/>
          <p:cNvSpPr txBox="1"/>
          <p:nvPr/>
        </p:nvSpPr>
        <p:spPr>
          <a:xfrm>
            <a:off x="4892040" y="218541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Quanto è facile da usare?</a:t>
            </a:r>
            <a:endParaRPr lang="en-US" sz="1300" dirty="0"/>
          </a:p>
          <a:p>
            <a:pPr marL="177800" indent="-177800">
              <a:spcAft>
                <a:spcPts val="500"/>
              </a:spcAft>
              <a:buSzPct val="100000"/>
              <a:buChar char="•"/>
            </a:pPr>
            <a:r>
              <a:rPr lang="en-US" sz="1300" dirty="0">
                <a:solidFill>
                  <a:schemeClr val="tx2"/>
                </a:solidFill>
              </a:rPr>
              <a:t>AI generativa: facile da iniziare, difficile da usare bene</a:t>
            </a:r>
            <a:endParaRPr lang="en-US" sz="1300" dirty="0"/>
          </a:p>
          <a:p>
            <a:pPr marL="177800" indent="-177800">
              <a:spcAft>
                <a:spcPts val="500"/>
              </a:spcAft>
              <a:buSzPct val="100000"/>
              <a:buChar char="•"/>
            </a:pPr>
            <a:r>
              <a:rPr lang="en-US" sz="1300" dirty="0">
                <a:solidFill>
                  <a:schemeClr val="tx2"/>
                </a:solidFill>
              </a:rPr>
              <a:t>Risultati mediocri: 'non serve'</a:t>
            </a:r>
            <a:endParaRPr lang="en-US" sz="1300" dirty="0"/>
          </a:p>
        </p:txBody>
      </p:sp>
      <p:pic>
        <p:nvPicPr>
          <p:cNvPr id="21" name="Image 1" descr="FiThumbsUp">    </p:cNvPr>
          <p:cNvPicPr>
            <a:picLocks noChangeAspect="1"/>
          </p:cNvPicPr>
          <p:nvPr/>
        </p:nvPicPr>
        <p:blipFill>
          <a:blip r:embed="rId2"/>
          <a:stretch>
            <a:fillRect/>
          </a:stretch>
        </p:blipFill>
        <p:spPr>
          <a:xfrm>
            <a:off x="75438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Utilità percepita</a:t>
            </a:r>
            <a:endParaRPr lang="en-US" sz="1500" dirty="0"/>
          </a:p>
        </p:txBody>
      </p:sp>
      <p:sp>
        <p:nvSpPr>
          <p:cNvPr id="23" name="Text 18"/>
          <p:cNvSpPr txBox="1"/>
          <p:nvPr/>
        </p:nvSpPr>
        <p:spPr>
          <a:xfrm>
            <a:off x="640080" y="2185416"/>
            <a:ext cx="3611880"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Quanto aiuta nel mio lavoro?</a:t>
            </a:r>
            <a:endParaRPr lang="en-US" sz="1300" dirty="0"/>
          </a:p>
          <a:p>
            <a:pPr marL="177800" indent="-177800">
              <a:spcAft>
                <a:spcPts val="500"/>
              </a:spcAft>
              <a:buSzPct val="100000"/>
              <a:buChar char="•"/>
            </a:pPr>
            <a:r>
              <a:rPr lang="en-US" sz="1300" dirty="0">
                <a:solidFill>
                  <a:schemeClr val="tx2"/>
                </a:solidFill>
              </a:rPr>
              <a:t>Percepita: devo vedere come serve per le mie attività</a:t>
            </a:r>
            <a:endParaRPr lang="en-US" sz="1300" dirty="0"/>
          </a:p>
          <a:p>
            <a:pPr marL="177800" indent="-177800">
              <a:spcAft>
                <a:spcPts val="500"/>
              </a:spcAft>
              <a:buSzPct val="100000"/>
              <a:buChar char="•"/>
            </a:pPr>
            <a:r>
              <a:rPr lang="en-US" sz="1300" dirty="0">
                <a:solidFill>
                  <a:schemeClr val="tx2"/>
                </a:solidFill>
              </a:rPr>
              <a:t>Una poesia non convince chi fa offerte tecniche</a:t>
            </a:r>
            <a:endParaRPr lang="en-US" sz="1300" dirty="0"/>
          </a:p>
        </p:txBody>
      </p:sp>
      <p:sp>
        <p:nvSpPr>
          <p:cNvPr id="24" name="messaggio"/>
          <p:cNvSpPr/>
          <p:nvPr/>
        </p:nvSpPr>
        <p:spPr>
          <a:xfrm>
            <a:off x="457200" y="3611880"/>
            <a:ext cx="8229600" cy="777240"/>
          </a:xfrm>
          <a:prstGeom prst="roundRect">
            <a:avLst>
              <a:gd name="adj" fmla="val 9412"/>
            </a:avLst>
          </a:prstGeom>
          <a:solidFill>
            <a:schemeClr val="tx1"/>
          </a:solidFill>
          <a:ln/>
        </p:spPr>
      </p:sp>
      <p:sp>
        <p:nvSpPr>
          <p:cNvPr id="25" name="Text 20"/>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300" dirty="0">
                <a:solidFill>
                  <a:schemeClr val="bg1"/>
                </a:solidFill>
              </a:rPr>
              <a:t>Technology Acceptance Model (Davis, 1989); UTAUT (Venkatesh et al., 2003): l'utilità resta il fattore più forte.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mappa dei fattori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persone"/>
          <p:cNvSpPr/>
          <p:nvPr/>
        </p:nvSpPr>
        <p:spPr>
          <a:xfrm>
            <a:off x="457200" y="1051560"/>
            <a:ext cx="3291840" cy="2834640"/>
          </a:xfrm>
          <a:prstGeom prst="roundRect">
            <a:avLst>
              <a:gd name="adj" fmla="val 2581"/>
            </a:avLst>
          </a:prstGeom>
          <a:solidFill>
            <a:schemeClr val="bg2"/>
          </a:solidFill>
          <a:ln/>
        </p:spPr>
      </p:sp>
      <p:sp>
        <p:nvSpPr>
          <p:cNvPr id="15" name="Text 12"/>
          <p:cNvSpPr txBox="1"/>
          <p:nvPr/>
        </p:nvSpPr>
        <p:spPr>
          <a:xfrm>
            <a:off x="594360" y="1097280"/>
            <a:ext cx="3017520" cy="347472"/>
          </a:xfrm>
          <a:prstGeom prst="rect">
            <a:avLst/>
          </a:prstGeom>
          <a:noFill/>
          <a:ln/>
        </p:spPr>
        <p:txBody>
          <a:bodyPr wrap="square" lIns="0" tIns="0" rIns="0" bIns="0" rtlCol="0" anchor="t"/>
          <a:lstStyle/>
          <a:p>
            <a:pPr indent="0" marL="0">
              <a:buNone/>
            </a:pPr>
            <a:r>
              <a:rPr lang="en-US" sz="1400" b="1" dirty="0">
                <a:solidFill>
                  <a:schemeClr val="accent1"/>
                </a:solidFill>
              </a:rPr>
              <a:t>Più legati alle persone</a:t>
            </a:r>
            <a:endParaRPr lang="en-US" sz="1400" dirty="0"/>
          </a:p>
        </p:txBody>
      </p:sp>
      <p:sp>
        <p:nvSpPr>
          <p:cNvPr id="16" name="blocco Fiducia e comprensione dei limiti"/>
          <p:cNvSpPr/>
          <p:nvPr/>
        </p:nvSpPr>
        <p:spPr>
          <a:xfrm>
            <a:off x="594360" y="1536192"/>
            <a:ext cx="3017520" cy="566928"/>
          </a:xfrm>
          <a:prstGeom prst="roundRect">
            <a:avLst>
              <a:gd name="adj" fmla="val 19355"/>
            </a:avLst>
          </a:prstGeom>
          <a:solidFill>
            <a:schemeClr val="bg1"/>
          </a:solidFill>
          <a:ln/>
        </p:spPr>
      </p:sp>
      <p:sp>
        <p:nvSpPr>
          <p:cNvPr id="17" name="Text 14"/>
          <p:cNvSpPr txBox="1"/>
          <p:nvPr/>
        </p:nvSpPr>
        <p:spPr>
          <a:xfrm>
            <a:off x="640080" y="1536192"/>
            <a:ext cx="2926080" cy="566928"/>
          </a:xfrm>
          <a:prstGeom prst="rect">
            <a:avLst/>
          </a:prstGeom>
          <a:noFill/>
          <a:ln/>
        </p:spPr>
        <p:txBody>
          <a:bodyPr wrap="square" lIns="0" tIns="0" rIns="0" bIns="0" rtlCol="0" anchor="ctr"/>
          <a:lstStyle/>
          <a:p>
            <a:pPr algn="ctr" indent="0" marL="0">
              <a:buNone/>
            </a:pPr>
            <a:r>
              <a:rPr lang="en-US" sz="1200" b="1" dirty="0">
                <a:solidFill>
                  <a:schemeClr val="tx1"/>
                </a:solidFill>
              </a:rPr>
              <a:t>Fiducia e comprensione dei limiti</a:t>
            </a:r>
            <a:endParaRPr lang="en-US" sz="1200" dirty="0"/>
          </a:p>
        </p:txBody>
      </p:sp>
      <p:sp>
        <p:nvSpPr>
          <p:cNvPr id="18" name="blocco Competenze iniziali, differenze"/>
          <p:cNvSpPr/>
          <p:nvPr/>
        </p:nvSpPr>
        <p:spPr>
          <a:xfrm>
            <a:off x="594360" y="2221992"/>
            <a:ext cx="3017520" cy="566928"/>
          </a:xfrm>
          <a:prstGeom prst="roundRect">
            <a:avLst>
              <a:gd name="adj" fmla="val 19355"/>
            </a:avLst>
          </a:prstGeom>
          <a:solidFill>
            <a:schemeClr val="bg1"/>
          </a:solidFill>
          <a:ln/>
        </p:spPr>
      </p:sp>
      <p:sp>
        <p:nvSpPr>
          <p:cNvPr id="19" name="Text 16"/>
          <p:cNvSpPr txBox="1"/>
          <p:nvPr/>
        </p:nvSpPr>
        <p:spPr>
          <a:xfrm>
            <a:off x="640080" y="2221992"/>
            <a:ext cx="2926080" cy="566928"/>
          </a:xfrm>
          <a:prstGeom prst="rect">
            <a:avLst/>
          </a:prstGeom>
          <a:noFill/>
          <a:ln/>
        </p:spPr>
        <p:txBody>
          <a:bodyPr wrap="square" lIns="0" tIns="0" rIns="0" bIns="0" rtlCol="0" anchor="ctr"/>
          <a:lstStyle/>
          <a:p>
            <a:pPr algn="ctr" indent="0" marL="0">
              <a:buNone/>
            </a:pPr>
            <a:r>
              <a:rPr lang="en-US" sz="1200" b="1" dirty="0">
                <a:solidFill>
                  <a:schemeClr val="tx1"/>
                </a:solidFill>
              </a:rPr>
              <a:t>Competenze iniziali, differenze</a:t>
            </a:r>
            <a:endParaRPr lang="en-US" sz="1200" dirty="0"/>
          </a:p>
        </p:txBody>
      </p:sp>
      <p:sp>
        <p:nvSpPr>
          <p:cNvPr id="20" name="blocco Qualità delle prime esperienze"/>
          <p:cNvSpPr/>
          <p:nvPr/>
        </p:nvSpPr>
        <p:spPr>
          <a:xfrm>
            <a:off x="594360" y="2907792"/>
            <a:ext cx="3017520" cy="566928"/>
          </a:xfrm>
          <a:prstGeom prst="roundRect">
            <a:avLst>
              <a:gd name="adj" fmla="val 19355"/>
            </a:avLst>
          </a:prstGeom>
          <a:solidFill>
            <a:schemeClr val="bg1"/>
          </a:solidFill>
          <a:ln/>
        </p:spPr>
      </p:sp>
      <p:sp>
        <p:nvSpPr>
          <p:cNvPr id="21" name="Text 18"/>
          <p:cNvSpPr txBox="1"/>
          <p:nvPr/>
        </p:nvSpPr>
        <p:spPr>
          <a:xfrm>
            <a:off x="640080" y="2907792"/>
            <a:ext cx="2926080" cy="566928"/>
          </a:xfrm>
          <a:prstGeom prst="rect">
            <a:avLst/>
          </a:prstGeom>
          <a:noFill/>
          <a:ln/>
        </p:spPr>
        <p:txBody>
          <a:bodyPr wrap="square" lIns="0" tIns="0" rIns="0" bIns="0" rtlCol="0" anchor="ctr"/>
          <a:lstStyle/>
          <a:p>
            <a:pPr algn="ctr" indent="0" marL="0">
              <a:buNone/>
            </a:pPr>
            <a:r>
              <a:rPr lang="en-US" sz="1200" b="1" dirty="0">
                <a:solidFill>
                  <a:schemeClr val="tx1"/>
                </a:solidFill>
              </a:rPr>
              <a:t>Qualità delle prime esperienze</a:t>
            </a:r>
            <a:endParaRPr lang="en-US" sz="1200" dirty="0"/>
          </a:p>
        </p:txBody>
      </p:sp>
      <p:sp>
        <p:nvSpPr>
          <p:cNvPr id="22" name="in mezzo"/>
          <p:cNvSpPr/>
          <p:nvPr/>
        </p:nvSpPr>
        <p:spPr>
          <a:xfrm>
            <a:off x="3931920" y="1051560"/>
            <a:ext cx="1280160" cy="2834640"/>
          </a:xfrm>
          <a:prstGeom prst="roundRect">
            <a:avLst>
              <a:gd name="adj" fmla="val 5714"/>
            </a:avLst>
          </a:prstGeom>
          <a:solidFill>
            <a:schemeClr val="accent1"/>
          </a:solidFill>
          <a:ln/>
        </p:spPr>
      </p:sp>
      <p:sp>
        <p:nvSpPr>
          <p:cNvPr id="23" name="Text 20"/>
          <p:cNvSpPr txBox="1"/>
          <p:nvPr/>
        </p:nvSpPr>
        <p:spPr>
          <a:xfrm>
            <a:off x="3977640" y="1051560"/>
            <a:ext cx="1188720" cy="2834640"/>
          </a:xfrm>
          <a:prstGeom prst="rect">
            <a:avLst/>
          </a:prstGeom>
          <a:noFill/>
          <a:ln/>
        </p:spPr>
        <p:txBody>
          <a:bodyPr wrap="square" lIns="0" tIns="0" rIns="0" bIns="0" rtlCol="0" anchor="ctr"/>
          <a:lstStyle/>
          <a:p>
            <a:pPr algn="ctr" indent="0" marL="0">
              <a:buNone/>
            </a:pPr>
            <a:r>
              <a:rPr lang="en-US" sz="1300" b="1" dirty="0">
                <a:solidFill>
                  <a:schemeClr val="bg1"/>
                </a:solidFill>
              </a:rPr>
              <a:t>Utilità e facilità d'uso</a:t>
            </a:r>
            <a:endParaRPr lang="en-US" sz="1300" dirty="0"/>
          </a:p>
        </p:txBody>
      </p:sp>
      <p:sp>
        <p:nvSpPr>
          <p:cNvPr id="24" name="condizioni"/>
          <p:cNvSpPr/>
          <p:nvPr/>
        </p:nvSpPr>
        <p:spPr>
          <a:xfrm>
            <a:off x="5394960" y="1051560"/>
            <a:ext cx="3291840" cy="2834640"/>
          </a:xfrm>
          <a:prstGeom prst="roundRect">
            <a:avLst>
              <a:gd name="adj" fmla="val 2581"/>
            </a:avLst>
          </a:prstGeom>
          <a:solidFill>
            <a:schemeClr val="accent6"/>
          </a:solidFill>
          <a:ln/>
        </p:spPr>
      </p:sp>
      <p:sp>
        <p:nvSpPr>
          <p:cNvPr id="25" name="Text 22"/>
          <p:cNvSpPr txBox="1"/>
          <p:nvPr/>
        </p:nvSpPr>
        <p:spPr>
          <a:xfrm>
            <a:off x="5532120" y="1097280"/>
            <a:ext cx="3017520" cy="347472"/>
          </a:xfrm>
          <a:prstGeom prst="rect">
            <a:avLst/>
          </a:prstGeom>
          <a:noFill/>
          <a:ln/>
        </p:spPr>
        <p:txBody>
          <a:bodyPr wrap="square" lIns="0" tIns="0" rIns="0" bIns="0" rtlCol="0" anchor="t"/>
          <a:lstStyle/>
          <a:p>
            <a:pPr indent="0" marL="0">
              <a:buNone/>
            </a:pPr>
            <a:r>
              <a:rPr lang="en-US" sz="1400" b="1" dirty="0">
                <a:solidFill>
                  <a:schemeClr val="accent1"/>
                </a:solidFill>
              </a:rPr>
              <a:t>Più legati alle condizioni</a:t>
            </a:r>
            <a:endParaRPr lang="en-US" sz="1400" dirty="0"/>
          </a:p>
        </p:txBody>
      </p:sp>
      <p:sp>
        <p:nvSpPr>
          <p:cNvPr id="26" name="blocco Tempo per sperimentare e imparare"/>
          <p:cNvSpPr/>
          <p:nvPr/>
        </p:nvSpPr>
        <p:spPr>
          <a:xfrm>
            <a:off x="5532120" y="1508760"/>
            <a:ext cx="3017520" cy="484632"/>
          </a:xfrm>
          <a:prstGeom prst="roundRect">
            <a:avLst>
              <a:gd name="adj" fmla="val 22642"/>
            </a:avLst>
          </a:prstGeom>
          <a:solidFill>
            <a:schemeClr val="bg1"/>
          </a:solidFill>
          <a:ln/>
        </p:spPr>
      </p:sp>
      <p:sp>
        <p:nvSpPr>
          <p:cNvPr id="27" name="Text 24"/>
          <p:cNvSpPr txBox="1"/>
          <p:nvPr/>
        </p:nvSpPr>
        <p:spPr>
          <a:xfrm>
            <a:off x="5577840" y="1508760"/>
            <a:ext cx="2926080" cy="484632"/>
          </a:xfrm>
          <a:prstGeom prst="rect">
            <a:avLst/>
          </a:prstGeom>
          <a:noFill/>
          <a:ln/>
        </p:spPr>
        <p:txBody>
          <a:bodyPr wrap="square" lIns="0" tIns="0" rIns="0" bIns="0" rtlCol="0" anchor="ctr"/>
          <a:lstStyle/>
          <a:p>
            <a:pPr algn="ctr" indent="0" marL="0">
              <a:buNone/>
            </a:pPr>
            <a:r>
              <a:rPr lang="en-US" sz="1200" b="1" dirty="0">
                <a:solidFill>
                  <a:schemeClr val="tx1"/>
                </a:solidFill>
              </a:rPr>
              <a:t>Tempo per sperimentare e imparare</a:t>
            </a:r>
            <a:endParaRPr lang="en-US" sz="1200" dirty="0"/>
          </a:p>
        </p:txBody>
      </p:sp>
      <p:sp>
        <p:nvSpPr>
          <p:cNvPr id="28" name="blocco Supporto tecnico e organizzativo"/>
          <p:cNvSpPr/>
          <p:nvPr/>
        </p:nvSpPr>
        <p:spPr>
          <a:xfrm>
            <a:off x="5532120" y="2084832"/>
            <a:ext cx="3017520" cy="484632"/>
          </a:xfrm>
          <a:prstGeom prst="roundRect">
            <a:avLst>
              <a:gd name="adj" fmla="val 22642"/>
            </a:avLst>
          </a:prstGeom>
          <a:solidFill>
            <a:schemeClr val="bg1"/>
          </a:solidFill>
          <a:ln/>
        </p:spPr>
      </p:sp>
      <p:sp>
        <p:nvSpPr>
          <p:cNvPr id="29" name="Text 26"/>
          <p:cNvSpPr txBox="1"/>
          <p:nvPr/>
        </p:nvSpPr>
        <p:spPr>
          <a:xfrm>
            <a:off x="5577840" y="2084832"/>
            <a:ext cx="2926080" cy="484632"/>
          </a:xfrm>
          <a:prstGeom prst="rect">
            <a:avLst/>
          </a:prstGeom>
          <a:noFill/>
          <a:ln/>
        </p:spPr>
        <p:txBody>
          <a:bodyPr wrap="square" lIns="0" tIns="0" rIns="0" bIns="0" rtlCol="0" anchor="ctr"/>
          <a:lstStyle/>
          <a:p>
            <a:pPr algn="ctr" indent="0" marL="0">
              <a:buNone/>
            </a:pPr>
            <a:r>
              <a:rPr lang="en-US" sz="1200" b="1" dirty="0">
                <a:solidFill>
                  <a:schemeClr val="tx1"/>
                </a:solidFill>
              </a:rPr>
              <a:t>Supporto tecnico e organizzativo</a:t>
            </a:r>
            <a:endParaRPr lang="en-US" sz="1200" dirty="0"/>
          </a:p>
        </p:txBody>
      </p:sp>
      <p:sp>
        <p:nvSpPr>
          <p:cNvPr id="30" name="blocco Chiarezza su strumenti e usi consentiti"/>
          <p:cNvSpPr/>
          <p:nvPr/>
        </p:nvSpPr>
        <p:spPr>
          <a:xfrm>
            <a:off x="5532120" y="2660904"/>
            <a:ext cx="3017520" cy="484632"/>
          </a:xfrm>
          <a:prstGeom prst="roundRect">
            <a:avLst>
              <a:gd name="adj" fmla="val 22642"/>
            </a:avLst>
          </a:prstGeom>
          <a:solidFill>
            <a:schemeClr val="bg1"/>
          </a:solidFill>
          <a:ln/>
        </p:spPr>
      </p:sp>
      <p:sp>
        <p:nvSpPr>
          <p:cNvPr id="31" name="Text 28"/>
          <p:cNvSpPr txBox="1"/>
          <p:nvPr/>
        </p:nvSpPr>
        <p:spPr>
          <a:xfrm>
            <a:off x="5577840" y="2660904"/>
            <a:ext cx="2926080" cy="484632"/>
          </a:xfrm>
          <a:prstGeom prst="rect">
            <a:avLst/>
          </a:prstGeom>
          <a:noFill/>
          <a:ln/>
        </p:spPr>
        <p:txBody>
          <a:bodyPr wrap="square" lIns="0" tIns="0" rIns="0" bIns="0" rtlCol="0" anchor="ctr"/>
          <a:lstStyle/>
          <a:p>
            <a:pPr algn="ctr" indent="0" marL="0">
              <a:buNone/>
            </a:pPr>
            <a:r>
              <a:rPr lang="en-US" sz="1200" b="1" dirty="0">
                <a:solidFill>
                  <a:schemeClr val="tx1"/>
                </a:solidFill>
              </a:rPr>
              <a:t>Chiarezza su strumenti e usi consentiti</a:t>
            </a:r>
            <a:endParaRPr lang="en-US" sz="1200" dirty="0"/>
          </a:p>
        </p:txBody>
      </p:sp>
      <p:sp>
        <p:nvSpPr>
          <p:cNvPr id="32" name="blocco Compatibilità con attività e processi"/>
          <p:cNvSpPr/>
          <p:nvPr/>
        </p:nvSpPr>
        <p:spPr>
          <a:xfrm>
            <a:off x="5532120" y="3236976"/>
            <a:ext cx="3017520" cy="484632"/>
          </a:xfrm>
          <a:prstGeom prst="roundRect">
            <a:avLst>
              <a:gd name="adj" fmla="val 22642"/>
            </a:avLst>
          </a:prstGeom>
          <a:solidFill>
            <a:schemeClr val="bg1"/>
          </a:solidFill>
          <a:ln/>
        </p:spPr>
      </p:sp>
      <p:sp>
        <p:nvSpPr>
          <p:cNvPr id="33" name="Text 30"/>
          <p:cNvSpPr txBox="1"/>
          <p:nvPr/>
        </p:nvSpPr>
        <p:spPr>
          <a:xfrm>
            <a:off x="5577840" y="3236976"/>
            <a:ext cx="2926080" cy="484632"/>
          </a:xfrm>
          <a:prstGeom prst="rect">
            <a:avLst/>
          </a:prstGeom>
          <a:noFill/>
          <a:ln/>
        </p:spPr>
        <p:txBody>
          <a:bodyPr wrap="square" lIns="0" tIns="0" rIns="0" bIns="0" rtlCol="0" anchor="ctr"/>
          <a:lstStyle/>
          <a:p>
            <a:pPr algn="ctr" indent="0" marL="0">
              <a:buNone/>
            </a:pPr>
            <a:r>
              <a:rPr lang="en-US" sz="1200" b="1" dirty="0">
                <a:solidFill>
                  <a:schemeClr val="tx1"/>
                </a:solidFill>
              </a:rPr>
              <a:t>Compatibilità con attività e processi</a:t>
            </a:r>
            <a:endParaRPr lang="en-US" sz="1200" dirty="0"/>
          </a:p>
        </p:txBody>
      </p:sp>
      <p:sp>
        <p:nvSpPr>
          <p:cNvPr id="34" name="messaggio"/>
          <p:cNvSpPr/>
          <p:nvPr/>
        </p:nvSpPr>
        <p:spPr>
          <a:xfrm>
            <a:off x="457200" y="4023360"/>
            <a:ext cx="8229600" cy="457200"/>
          </a:xfrm>
          <a:prstGeom prst="roundRect">
            <a:avLst>
              <a:gd name="adj" fmla="val 16000"/>
            </a:avLst>
          </a:prstGeom>
          <a:solidFill>
            <a:schemeClr val="tx1"/>
          </a:solidFill>
          <a:ln/>
        </p:spPr>
      </p:sp>
      <p:sp>
        <p:nvSpPr>
          <p:cNvPr id="35" name="Text 32"/>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400" dirty="0">
                <a:solidFill>
                  <a:schemeClr val="bg1"/>
                </a:solidFill>
              </a:rPr>
              <a:t>Persone o condizioni? I rimedi sono diversi.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tempo e le prime esperienze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Il tempo per imparare"/>
          <p:cNvSpPr/>
          <p:nvPr/>
        </p:nvSpPr>
        <p:spPr>
          <a:xfrm>
            <a:off x="457200" y="1051560"/>
            <a:ext cx="3977640" cy="2514600"/>
          </a:xfrm>
          <a:prstGeom prst="roundRect">
            <a:avLst>
              <a:gd name="adj" fmla="val 2909"/>
            </a:avLst>
          </a:prstGeom>
          <a:solidFill>
            <a:schemeClr val="bg2"/>
          </a:solidFill>
          <a:ln/>
        </p:spPr>
      </p:sp>
      <p:sp>
        <p:nvSpPr>
          <p:cNvPr id="15" name="cerchio FiClock"/>
          <p:cNvSpPr/>
          <p:nvPr/>
        </p:nvSpPr>
        <p:spPr>
          <a:xfrm>
            <a:off x="640080" y="1234440"/>
            <a:ext cx="457200" cy="457200"/>
          </a:xfrm>
          <a:prstGeom prst="ellipse">
            <a:avLst/>
          </a:prstGeom>
          <a:solidFill>
            <a:schemeClr val="accent1"/>
          </a:solidFill>
          <a:ln/>
        </p:spPr>
      </p:sp>
      <p:pic>
        <p:nvPicPr>
          <p:cNvPr id="16" name="Image 0" descr="FiClock">    </p:cNvPr>
          <p:cNvPicPr>
            <a:picLocks noChangeAspect="1"/>
          </p:cNvPicPr>
          <p:nvPr/>
        </p:nvPicPr>
        <p:blipFill>
          <a:blip r:embed="rId1"/>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Il tempo per imparare</a:t>
            </a:r>
            <a:endParaRPr lang="en-US" sz="1500" dirty="0"/>
          </a:p>
        </p:txBody>
      </p:sp>
      <p:sp>
        <p:nvSpPr>
          <p:cNvPr id="18" name="Text 14"/>
          <p:cNvSpPr txBox="1"/>
          <p:nvPr/>
        </p:nvSpPr>
        <p:spPr>
          <a:xfrm>
            <a:off x="64008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Nelle prime settimane, usarlo costa più tempo che non usarlo</a:t>
            </a:r>
            <a:endParaRPr lang="en-US" sz="1200" dirty="0"/>
          </a:p>
          <a:p>
            <a:pPr marL="177800" indent="-177800">
              <a:spcAft>
                <a:spcPts val="400"/>
              </a:spcAft>
              <a:buSzPct val="100000"/>
              <a:buChar char="•"/>
            </a:pPr>
            <a:r>
              <a:rPr lang="en-US" sz="1200" dirty="0">
                <a:solidFill>
                  <a:schemeClr val="tx2"/>
                </a:solidFill>
              </a:rPr>
              <a:t>Beneficio futuro e incerto, costo immediato</a:t>
            </a:r>
            <a:endParaRPr lang="en-US" sz="1200" dirty="0"/>
          </a:p>
          <a:p>
            <a:pPr marL="177800" indent="-177800">
              <a:spcAft>
                <a:spcPts val="400"/>
              </a:spcAft>
              <a:buSzPct val="100000"/>
              <a:buChar char="•"/>
            </a:pPr>
            <a:r>
              <a:rPr lang="en-US" sz="1200" dirty="0">
                <a:solidFill>
                  <a:schemeClr val="tx2"/>
                </a:solidFill>
              </a:rPr>
              <a:t>Chi è al massimo del carico, razionalmente, rinuncia</a:t>
            </a:r>
            <a:endParaRPr lang="en-US" sz="1200" dirty="0"/>
          </a:p>
        </p:txBody>
      </p:sp>
      <p:sp>
        <p:nvSpPr>
          <p:cNvPr id="19" name="scheda Le prime esperienze"/>
          <p:cNvSpPr/>
          <p:nvPr/>
        </p:nvSpPr>
        <p:spPr>
          <a:xfrm>
            <a:off x="4709160" y="1051560"/>
            <a:ext cx="3977640" cy="2514600"/>
          </a:xfrm>
          <a:prstGeom prst="roundRect">
            <a:avLst>
              <a:gd name="adj" fmla="val 2909"/>
            </a:avLst>
          </a:prstGeom>
          <a:solidFill>
            <a:schemeClr val="accent6"/>
          </a:solidFill>
          <a:ln/>
        </p:spPr>
      </p:sp>
      <p:sp>
        <p:nvSpPr>
          <p:cNvPr id="20" name="cerchio FiStar"/>
          <p:cNvSpPr/>
          <p:nvPr/>
        </p:nvSpPr>
        <p:spPr>
          <a:xfrm>
            <a:off x="4892040" y="1234440"/>
            <a:ext cx="457200" cy="457200"/>
          </a:xfrm>
          <a:prstGeom prst="ellipse">
            <a:avLst/>
          </a:prstGeom>
          <a:solidFill>
            <a:schemeClr val="accent1"/>
          </a:solidFill>
          <a:ln/>
        </p:spPr>
      </p:sp>
      <p:pic>
        <p:nvPicPr>
          <p:cNvPr id="21" name="Image 1" descr="FiStar">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Le prime esperienze</a:t>
            </a:r>
            <a:endParaRPr lang="en-US" sz="1500" dirty="0"/>
          </a:p>
        </p:txBody>
      </p:sp>
      <p:sp>
        <p:nvSpPr>
          <p:cNvPr id="23" name="Text 18"/>
          <p:cNvSpPr txBox="1"/>
          <p:nvPr/>
        </p:nvSpPr>
        <p:spPr>
          <a:xfrm>
            <a:off x="489204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Formano il giudizio</a:t>
            </a:r>
            <a:endParaRPr lang="en-US" sz="1200" dirty="0"/>
          </a:p>
          <a:p>
            <a:pPr marL="177800" indent="-177800">
              <a:spcAft>
                <a:spcPts val="400"/>
              </a:spcAft>
              <a:buSzPct val="100000"/>
              <a:buChar char="•"/>
            </a:pPr>
            <a:r>
              <a:rPr lang="en-US" sz="1200" dirty="0">
                <a:solidFill>
                  <a:schemeClr val="tx2"/>
                </a:solidFill>
              </a:rPr>
              <a:t>Attività inadatte, istruzioni povere: 'non serve'</a:t>
            </a:r>
            <a:endParaRPr lang="en-US" sz="1200" dirty="0"/>
          </a:p>
          <a:p>
            <a:pPr marL="177800" indent="-177800">
              <a:spcAft>
                <a:spcPts val="400"/>
              </a:spcAft>
              <a:buSzPct val="100000"/>
              <a:buChar char="•"/>
            </a:pPr>
            <a:r>
              <a:rPr lang="en-US" sz="1200" dirty="0">
                <a:solidFill>
                  <a:schemeClr val="tx2"/>
                </a:solidFill>
              </a:rPr>
              <a:t>Difficile tornare indietro</a:t>
            </a:r>
            <a:endParaRPr lang="en-US" sz="1200" dirty="0"/>
          </a:p>
        </p:txBody>
      </p:sp>
      <p:sp>
        <p:nvSpPr>
          <p:cNvPr id="24" name="messaggio"/>
          <p:cNvSpPr/>
          <p:nvPr/>
        </p:nvSpPr>
        <p:spPr>
          <a:xfrm>
            <a:off x="457200" y="3749040"/>
            <a:ext cx="8229600" cy="731520"/>
          </a:xfrm>
          <a:prstGeom prst="roundRect">
            <a:avLst>
              <a:gd name="adj" fmla="val 10000"/>
            </a:avLst>
          </a:prstGeom>
          <a:solidFill>
            <a:schemeClr val="tx1"/>
          </a:solidFill>
          <a:ln/>
        </p:spPr>
      </p:sp>
      <p:sp>
        <p:nvSpPr>
          <p:cNvPr id="25" name="Text 20"/>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Dare tempo, e far fare le prime prove su attività in cui l'AI funziona bene (16.4, 16.5).</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tipi di ostacoli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Tecnologici"/>
          <p:cNvSpPr/>
          <p:nvPr/>
        </p:nvSpPr>
        <p:spPr>
          <a:xfrm>
            <a:off x="457200" y="1051560"/>
            <a:ext cx="4023360" cy="1120140"/>
          </a:xfrm>
          <a:prstGeom prst="roundRect">
            <a:avLst>
              <a:gd name="adj" fmla="val 6531"/>
            </a:avLst>
          </a:prstGeom>
          <a:solidFill>
            <a:schemeClr val="bg2"/>
          </a:solidFill>
          <a:ln/>
        </p:spPr>
      </p:sp>
      <p:sp>
        <p:nvSpPr>
          <p:cNvPr id="15" name="cerchio FiCpu"/>
          <p:cNvSpPr/>
          <p:nvPr/>
        </p:nvSpPr>
        <p:spPr>
          <a:xfrm>
            <a:off x="621792" y="1216152"/>
            <a:ext cx="438912" cy="438912"/>
          </a:xfrm>
          <a:prstGeom prst="ellipse">
            <a:avLst/>
          </a:prstGeom>
          <a:solidFill>
            <a:schemeClr val="accent1"/>
          </a:solidFill>
          <a:ln/>
        </p:spPr>
      </p:sp>
      <p:pic>
        <p:nvPicPr>
          <p:cNvPr id="16" name="Image 0" descr="FiCpu">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Tecnologici</a:t>
            </a:r>
            <a:endParaRPr lang="en-US" sz="1400" dirty="0"/>
          </a:p>
        </p:txBody>
      </p:sp>
      <p:sp>
        <p:nvSpPr>
          <p:cNvPr id="18" name="Text 14"/>
          <p:cNvSpPr txBox="1"/>
          <p:nvPr/>
        </p:nvSpPr>
        <p:spPr>
          <a:xfrm>
            <a:off x="621792" y="1764792"/>
            <a:ext cx="3694176" cy="315468"/>
          </a:xfrm>
          <a:prstGeom prst="rect">
            <a:avLst/>
          </a:prstGeom>
          <a:noFill/>
          <a:ln/>
        </p:spPr>
        <p:txBody>
          <a:bodyPr wrap="square" lIns="0" tIns="0" rIns="0" bIns="0" rtlCol="0" anchor="t"/>
          <a:lstStyle/>
          <a:p>
            <a:pPr indent="0" marL="0">
              <a:buNone/>
            </a:pPr>
            <a:r>
              <a:rPr lang="en-US" sz="1200" dirty="0">
                <a:solidFill>
                  <a:schemeClr val="tx2"/>
                </a:solidFill>
              </a:rPr>
              <a:t>Strumento inadatto, non integrato, lento, senza le informazioni</a:t>
            </a:r>
            <a:endParaRPr lang="en-US" sz="1200" dirty="0"/>
          </a:p>
        </p:txBody>
      </p:sp>
      <p:sp>
        <p:nvSpPr>
          <p:cNvPr id="19" name="Operativi"/>
          <p:cNvSpPr/>
          <p:nvPr/>
        </p:nvSpPr>
        <p:spPr>
          <a:xfrm>
            <a:off x="4663440" y="1051560"/>
            <a:ext cx="4023360" cy="1120140"/>
          </a:xfrm>
          <a:prstGeom prst="roundRect">
            <a:avLst>
              <a:gd name="adj" fmla="val 6531"/>
            </a:avLst>
          </a:prstGeom>
          <a:solidFill>
            <a:schemeClr val="bg2"/>
          </a:solidFill>
          <a:ln/>
        </p:spPr>
      </p:sp>
      <p:sp>
        <p:nvSpPr>
          <p:cNvPr id="20" name="cerchio FiGitBranch"/>
          <p:cNvSpPr/>
          <p:nvPr/>
        </p:nvSpPr>
        <p:spPr>
          <a:xfrm>
            <a:off x="4828032" y="1216152"/>
            <a:ext cx="438912" cy="438912"/>
          </a:xfrm>
          <a:prstGeom prst="ellipse">
            <a:avLst/>
          </a:prstGeom>
          <a:solidFill>
            <a:schemeClr val="accent1"/>
          </a:solidFill>
          <a:ln/>
        </p:spPr>
      </p:sp>
      <p:pic>
        <p:nvPicPr>
          <p:cNvPr id="21" name="Image 1" descr="FiGitBranch">    </p:cNvPr>
          <p:cNvPicPr>
            <a:picLocks noChangeAspect="1"/>
          </p:cNvPicPr>
          <p:nvPr/>
        </p:nvPicPr>
        <p:blipFill>
          <a:blip r:embed="rId2"/>
          <a:stretch>
            <a:fillRect/>
          </a:stretch>
        </p:blipFill>
        <p:spPr>
          <a:xfrm>
            <a:off x="4937760" y="1325880"/>
            <a:ext cx="219456" cy="219456"/>
          </a:xfrm>
          <a:prstGeom prst="rect">
            <a:avLst/>
          </a:prstGeom>
        </p:spPr>
      </p:pic>
      <p:sp>
        <p:nvSpPr>
          <p:cNvPr id="22" name="Text 17"/>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Operativi</a:t>
            </a:r>
            <a:endParaRPr lang="en-US" sz="1400" dirty="0"/>
          </a:p>
        </p:txBody>
      </p:sp>
      <p:sp>
        <p:nvSpPr>
          <p:cNvPr id="23" name="Text 18"/>
          <p:cNvSpPr txBox="1"/>
          <p:nvPr/>
        </p:nvSpPr>
        <p:spPr>
          <a:xfrm>
            <a:off x="4828032" y="1764792"/>
            <a:ext cx="3694176" cy="315468"/>
          </a:xfrm>
          <a:prstGeom prst="rect">
            <a:avLst/>
          </a:prstGeom>
          <a:noFill/>
          <a:ln/>
        </p:spPr>
        <p:txBody>
          <a:bodyPr wrap="square" lIns="0" tIns="0" rIns="0" bIns="0" rtlCol="0" anchor="t"/>
          <a:lstStyle/>
          <a:p>
            <a:pPr indent="0" marL="0">
              <a:buNone/>
            </a:pPr>
            <a:r>
              <a:rPr lang="en-US" sz="1200" dirty="0">
                <a:solidFill>
                  <a:schemeClr val="tx2"/>
                </a:solidFill>
              </a:rPr>
              <a:t>Il processo non lo prevede, mancano indicazioni, verifica troppo lunga</a:t>
            </a:r>
            <a:endParaRPr lang="en-US" sz="1200" dirty="0"/>
          </a:p>
        </p:txBody>
      </p:sp>
      <p:sp>
        <p:nvSpPr>
          <p:cNvPr id="24" name="Economici"/>
          <p:cNvSpPr/>
          <p:nvPr/>
        </p:nvSpPr>
        <p:spPr>
          <a:xfrm>
            <a:off x="457200" y="2354580"/>
            <a:ext cx="4023360" cy="1120140"/>
          </a:xfrm>
          <a:prstGeom prst="roundRect">
            <a:avLst>
              <a:gd name="adj" fmla="val 6531"/>
            </a:avLst>
          </a:prstGeom>
          <a:solidFill>
            <a:schemeClr val="bg2"/>
          </a:solidFill>
          <a:ln/>
        </p:spPr>
      </p:sp>
      <p:sp>
        <p:nvSpPr>
          <p:cNvPr id="25" name="cerchio FiDollarSign"/>
          <p:cNvSpPr/>
          <p:nvPr/>
        </p:nvSpPr>
        <p:spPr>
          <a:xfrm>
            <a:off x="621792" y="2519172"/>
            <a:ext cx="438912" cy="438912"/>
          </a:xfrm>
          <a:prstGeom prst="ellipse">
            <a:avLst/>
          </a:prstGeom>
          <a:solidFill>
            <a:schemeClr val="accent1"/>
          </a:solidFill>
          <a:ln/>
        </p:spPr>
      </p:sp>
      <p:pic>
        <p:nvPicPr>
          <p:cNvPr id="26" name="Image 2" descr="FiDollarSign">    </p:cNvPr>
          <p:cNvPicPr>
            <a:picLocks noChangeAspect="1"/>
          </p:cNvPicPr>
          <p:nvPr/>
        </p:nvPicPr>
        <p:blipFill>
          <a:blip r:embed="rId3"/>
          <a:stretch>
            <a:fillRect/>
          </a:stretch>
        </p:blipFill>
        <p:spPr>
          <a:xfrm>
            <a:off x="731520" y="2628900"/>
            <a:ext cx="219456" cy="219456"/>
          </a:xfrm>
          <a:prstGeom prst="rect">
            <a:avLst/>
          </a:prstGeom>
        </p:spPr>
      </p:pic>
      <p:sp>
        <p:nvSpPr>
          <p:cNvPr id="27" name="Text 21"/>
          <p:cNvSpPr txBox="1"/>
          <p:nvPr/>
        </p:nvSpPr>
        <p:spPr>
          <a:xfrm>
            <a:off x="1170432" y="24825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Economici</a:t>
            </a:r>
            <a:endParaRPr lang="en-US" sz="1400" dirty="0"/>
          </a:p>
        </p:txBody>
      </p:sp>
      <p:sp>
        <p:nvSpPr>
          <p:cNvPr id="28" name="Text 22"/>
          <p:cNvSpPr txBox="1"/>
          <p:nvPr/>
        </p:nvSpPr>
        <p:spPr>
          <a:xfrm>
            <a:off x="621792" y="3067812"/>
            <a:ext cx="3694176" cy="315468"/>
          </a:xfrm>
          <a:prstGeom prst="rect">
            <a:avLst/>
          </a:prstGeom>
          <a:noFill/>
          <a:ln/>
        </p:spPr>
        <p:txBody>
          <a:bodyPr wrap="square" lIns="0" tIns="0" rIns="0" bIns="0" rtlCol="0" anchor="t"/>
          <a:lstStyle/>
          <a:p>
            <a:pPr indent="0" marL="0">
              <a:buNone/>
            </a:pPr>
            <a:r>
              <a:rPr lang="en-US" sz="1200" dirty="0">
                <a:solidFill>
                  <a:schemeClr val="tx2"/>
                </a:solidFill>
              </a:rPr>
              <a:t>Licenze solo per alcuni, costi per uso, niente risorse per supporto</a:t>
            </a:r>
            <a:endParaRPr lang="en-US" sz="1200" dirty="0"/>
          </a:p>
        </p:txBody>
      </p:sp>
      <p:sp>
        <p:nvSpPr>
          <p:cNvPr id="29" name="Culturali"/>
          <p:cNvSpPr/>
          <p:nvPr/>
        </p:nvSpPr>
        <p:spPr>
          <a:xfrm>
            <a:off x="4663440" y="2354580"/>
            <a:ext cx="4023360" cy="1120140"/>
          </a:xfrm>
          <a:prstGeom prst="roundRect">
            <a:avLst>
              <a:gd name="adj" fmla="val 6531"/>
            </a:avLst>
          </a:prstGeom>
          <a:solidFill>
            <a:schemeClr val="bg2"/>
          </a:solidFill>
          <a:ln/>
        </p:spPr>
      </p:sp>
      <p:sp>
        <p:nvSpPr>
          <p:cNvPr id="30" name="cerchio FiUsers"/>
          <p:cNvSpPr/>
          <p:nvPr/>
        </p:nvSpPr>
        <p:spPr>
          <a:xfrm>
            <a:off x="4828032" y="2519172"/>
            <a:ext cx="438912" cy="438912"/>
          </a:xfrm>
          <a:prstGeom prst="ellipse">
            <a:avLst/>
          </a:prstGeom>
          <a:solidFill>
            <a:schemeClr val="accent1"/>
          </a:solidFill>
          <a:ln/>
        </p:spPr>
      </p:sp>
      <p:pic>
        <p:nvPicPr>
          <p:cNvPr id="31" name="Image 3" descr="FiUsers">    </p:cNvPr>
          <p:cNvPicPr>
            <a:picLocks noChangeAspect="1"/>
          </p:cNvPicPr>
          <p:nvPr/>
        </p:nvPicPr>
        <p:blipFill>
          <a:blip r:embed="rId4"/>
          <a:stretch>
            <a:fillRect/>
          </a:stretch>
        </p:blipFill>
        <p:spPr>
          <a:xfrm>
            <a:off x="4937760" y="2628900"/>
            <a:ext cx="219456" cy="219456"/>
          </a:xfrm>
          <a:prstGeom prst="rect">
            <a:avLst/>
          </a:prstGeom>
        </p:spPr>
      </p:pic>
      <p:sp>
        <p:nvSpPr>
          <p:cNvPr id="32" name="Text 25"/>
          <p:cNvSpPr txBox="1"/>
          <p:nvPr/>
        </p:nvSpPr>
        <p:spPr>
          <a:xfrm>
            <a:off x="5376672" y="24825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Culturali</a:t>
            </a:r>
            <a:endParaRPr lang="en-US" sz="1400" dirty="0"/>
          </a:p>
        </p:txBody>
      </p:sp>
      <p:sp>
        <p:nvSpPr>
          <p:cNvPr id="33" name="Text 26"/>
          <p:cNvSpPr txBox="1"/>
          <p:nvPr/>
        </p:nvSpPr>
        <p:spPr>
          <a:xfrm>
            <a:off x="4828032" y="3067812"/>
            <a:ext cx="3694176" cy="315468"/>
          </a:xfrm>
          <a:prstGeom prst="rect">
            <a:avLst/>
          </a:prstGeom>
          <a:noFill/>
          <a:ln/>
        </p:spPr>
        <p:txBody>
          <a:bodyPr wrap="square" lIns="0" tIns="0" rIns="0" bIns="0" rtlCol="0" anchor="t"/>
          <a:lstStyle/>
          <a:p>
            <a:pPr indent="0" marL="0">
              <a:buNone/>
            </a:pPr>
            <a:r>
              <a:rPr lang="en-US" sz="1200" dirty="0">
                <a:solidFill>
                  <a:schemeClr val="tx2"/>
                </a:solidFill>
              </a:rPr>
              <a:t>Visto come meno professionale; timore di giudizio; o pressione a usarlo</a:t>
            </a:r>
            <a:endParaRPr lang="en-US" sz="1200" dirty="0"/>
          </a:p>
        </p:txBody>
      </p:sp>
      <p:sp>
        <p:nvSpPr>
          <p:cNvPr id="34" name="messaggio"/>
          <p:cNvSpPr/>
          <p:nvPr/>
        </p:nvSpPr>
        <p:spPr>
          <a:xfrm>
            <a:off x="457200" y="3657600"/>
            <a:ext cx="8229600" cy="777240"/>
          </a:xfrm>
          <a:prstGeom prst="roundRect">
            <a:avLst>
              <a:gd name="adj" fmla="val 9412"/>
            </a:avLst>
          </a:prstGeom>
          <a:solidFill>
            <a:schemeClr val="tx1"/>
          </a:solidFill>
          <a:ln/>
        </p:spPr>
      </p:sp>
      <p:sp>
        <p:nvSpPr>
          <p:cNvPr id="35" name="Text 28"/>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Un ostacolo tecnologico non si risolve con la comunicazione; uno culturale non si risolve con una licenza.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Differenze tra gruppi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Text 11"/>
          <p:cNvSpPr txBox="1"/>
          <p:nvPr/>
        </p:nvSpPr>
        <p:spPr>
          <a:xfrm>
            <a:off x="457200" y="1005840"/>
            <a:ext cx="5120640" cy="320040"/>
          </a:xfrm>
          <a:prstGeom prst="rect">
            <a:avLst/>
          </a:prstGeom>
          <a:noFill/>
          <a:ln/>
        </p:spPr>
        <p:txBody>
          <a:bodyPr wrap="square" lIns="0" tIns="0" rIns="0" bIns="0" rtlCol="0" anchor="t"/>
          <a:lstStyle/>
          <a:p>
            <a:pPr indent="0" marL="0">
              <a:buNone/>
            </a:pPr>
            <a:r>
              <a:rPr lang="en-US" sz="1300" b="1" dirty="0">
                <a:solidFill>
                  <a:schemeClr val="tx1"/>
                </a:solidFill>
              </a:rPr>
              <a:t>Dove l'uso tende a essere più alto o più basso</a:t>
            </a:r>
            <a:endParaRPr lang="en-US" sz="1300" dirty="0"/>
          </a:p>
        </p:txBody>
      </p:sp>
      <p:sp>
        <p:nvSpPr>
          <p:cNvPr id="15" name="Più alto"/>
          <p:cNvSpPr/>
          <p:nvPr/>
        </p:nvSpPr>
        <p:spPr>
          <a:xfrm>
            <a:off x="457200" y="1417320"/>
            <a:ext cx="5120640" cy="566928"/>
          </a:xfrm>
          <a:prstGeom prst="roundRect">
            <a:avLst>
              <a:gd name="adj" fmla="val 12903"/>
            </a:avLst>
          </a:prstGeom>
          <a:solidFill>
            <a:schemeClr val="bg2"/>
          </a:solidFill>
          <a:ln/>
        </p:spPr>
      </p:sp>
      <p:sp>
        <p:nvSpPr>
          <p:cNvPr id="16" name="Text 13"/>
          <p:cNvSpPr txBox="1"/>
          <p:nvPr/>
        </p:nvSpPr>
        <p:spPr>
          <a:xfrm>
            <a:off x="594360" y="1417320"/>
            <a:ext cx="1188720" cy="566928"/>
          </a:xfrm>
          <a:prstGeom prst="rect">
            <a:avLst/>
          </a:prstGeom>
          <a:noFill/>
          <a:ln/>
        </p:spPr>
        <p:txBody>
          <a:bodyPr wrap="square" lIns="0" tIns="0" rIns="0" bIns="0" rtlCol="0" anchor="ctr"/>
          <a:lstStyle/>
          <a:p>
            <a:pPr indent="0" marL="0">
              <a:buNone/>
            </a:pPr>
            <a:r>
              <a:rPr lang="en-US" sz="1200" b="1" dirty="0">
                <a:solidFill>
                  <a:schemeClr val="accent1"/>
                </a:solidFill>
              </a:rPr>
              <a:t>Più alto</a:t>
            </a:r>
            <a:endParaRPr lang="en-US" sz="1200" dirty="0"/>
          </a:p>
        </p:txBody>
      </p:sp>
      <p:sp>
        <p:nvSpPr>
          <p:cNvPr id="17" name="Text 14"/>
          <p:cNvSpPr txBox="1"/>
          <p:nvPr/>
        </p:nvSpPr>
        <p:spPr>
          <a:xfrm>
            <a:off x="1783080" y="1417320"/>
            <a:ext cx="3657600" cy="566928"/>
          </a:xfrm>
          <a:prstGeom prst="rect">
            <a:avLst/>
          </a:prstGeom>
          <a:noFill/>
          <a:ln/>
        </p:spPr>
        <p:txBody>
          <a:bodyPr wrap="square" lIns="0" tIns="0" rIns="0" bIns="0" rtlCol="0" anchor="ctr"/>
          <a:lstStyle/>
          <a:p>
            <a:pPr indent="0" marL="0">
              <a:buNone/>
            </a:pPr>
            <a:r>
              <a:rPr lang="en-US" sz="1200" dirty="0">
                <a:solidFill>
                  <a:schemeClr val="tx1"/>
                </a:solidFill>
              </a:rPr>
              <a:t>Molto testo: comunicazione, marketing, assistenza</a:t>
            </a:r>
            <a:endParaRPr lang="en-US" sz="1200" dirty="0"/>
          </a:p>
        </p:txBody>
      </p:sp>
      <p:sp>
        <p:nvSpPr>
          <p:cNvPr id="18" name="Intermedio"/>
          <p:cNvSpPr/>
          <p:nvPr/>
        </p:nvSpPr>
        <p:spPr>
          <a:xfrm>
            <a:off x="457200" y="2057400"/>
            <a:ext cx="5120640" cy="566928"/>
          </a:xfrm>
          <a:prstGeom prst="roundRect">
            <a:avLst>
              <a:gd name="adj" fmla="val 12903"/>
            </a:avLst>
          </a:prstGeom>
          <a:solidFill>
            <a:schemeClr val="bg1"/>
          </a:solidFill>
          <a:ln/>
        </p:spPr>
      </p:sp>
      <p:sp>
        <p:nvSpPr>
          <p:cNvPr id="19" name="Text 16"/>
          <p:cNvSpPr txBox="1"/>
          <p:nvPr/>
        </p:nvSpPr>
        <p:spPr>
          <a:xfrm>
            <a:off x="594360" y="2057400"/>
            <a:ext cx="1188720" cy="566928"/>
          </a:xfrm>
          <a:prstGeom prst="rect">
            <a:avLst/>
          </a:prstGeom>
          <a:noFill/>
          <a:ln/>
        </p:spPr>
        <p:txBody>
          <a:bodyPr wrap="square" lIns="0" tIns="0" rIns="0" bIns="0" rtlCol="0" anchor="ctr"/>
          <a:lstStyle/>
          <a:p>
            <a:pPr indent="0" marL="0">
              <a:buNone/>
            </a:pPr>
            <a:r>
              <a:rPr lang="en-US" sz="1200" b="1" dirty="0">
                <a:solidFill>
                  <a:schemeClr val="accent1"/>
                </a:solidFill>
              </a:rPr>
              <a:t>Intermedio</a:t>
            </a:r>
            <a:endParaRPr lang="en-US" sz="1200" dirty="0"/>
          </a:p>
        </p:txBody>
      </p:sp>
      <p:sp>
        <p:nvSpPr>
          <p:cNvPr id="20" name="Text 17"/>
          <p:cNvSpPr txBox="1"/>
          <p:nvPr/>
        </p:nvSpPr>
        <p:spPr>
          <a:xfrm>
            <a:off x="1783080" y="2057400"/>
            <a:ext cx="3657600" cy="566928"/>
          </a:xfrm>
          <a:prstGeom prst="rect">
            <a:avLst/>
          </a:prstGeom>
          <a:noFill/>
          <a:ln/>
        </p:spPr>
        <p:txBody>
          <a:bodyPr wrap="square" lIns="0" tIns="0" rIns="0" bIns="0" rtlCol="0" anchor="ctr"/>
          <a:lstStyle/>
          <a:p>
            <a:pPr indent="0" marL="0">
              <a:buNone/>
            </a:pPr>
            <a:r>
              <a:rPr lang="en-US" sz="1200" dirty="0">
                <a:solidFill>
                  <a:schemeClr val="tx1"/>
                </a:solidFill>
              </a:rPr>
              <a:t>Attività miste: commerciale, amministrazione</a:t>
            </a:r>
            <a:endParaRPr lang="en-US" sz="1200" dirty="0"/>
          </a:p>
        </p:txBody>
      </p:sp>
      <p:sp>
        <p:nvSpPr>
          <p:cNvPr id="21" name="Più basso"/>
          <p:cNvSpPr/>
          <p:nvPr/>
        </p:nvSpPr>
        <p:spPr>
          <a:xfrm>
            <a:off x="457200" y="2697480"/>
            <a:ext cx="5120640" cy="566928"/>
          </a:xfrm>
          <a:prstGeom prst="roundRect">
            <a:avLst>
              <a:gd name="adj" fmla="val 12903"/>
            </a:avLst>
          </a:prstGeom>
          <a:solidFill>
            <a:schemeClr val="bg2"/>
          </a:solidFill>
          <a:ln/>
        </p:spPr>
      </p:sp>
      <p:sp>
        <p:nvSpPr>
          <p:cNvPr id="22" name="Text 19"/>
          <p:cNvSpPr txBox="1"/>
          <p:nvPr/>
        </p:nvSpPr>
        <p:spPr>
          <a:xfrm>
            <a:off x="594360" y="2697480"/>
            <a:ext cx="1188720" cy="566928"/>
          </a:xfrm>
          <a:prstGeom prst="rect">
            <a:avLst/>
          </a:prstGeom>
          <a:noFill/>
          <a:ln/>
        </p:spPr>
        <p:txBody>
          <a:bodyPr wrap="square" lIns="0" tIns="0" rIns="0" bIns="0" rtlCol="0" anchor="ctr"/>
          <a:lstStyle/>
          <a:p>
            <a:pPr indent="0" marL="0">
              <a:buNone/>
            </a:pPr>
            <a:r>
              <a:rPr lang="en-US" sz="1200" b="1" dirty="0">
                <a:solidFill>
                  <a:schemeClr val="accent1"/>
                </a:solidFill>
              </a:rPr>
              <a:t>Più basso</a:t>
            </a:r>
            <a:endParaRPr lang="en-US" sz="1200" dirty="0"/>
          </a:p>
        </p:txBody>
      </p:sp>
      <p:sp>
        <p:nvSpPr>
          <p:cNvPr id="23" name="Text 20"/>
          <p:cNvSpPr txBox="1"/>
          <p:nvPr/>
        </p:nvSpPr>
        <p:spPr>
          <a:xfrm>
            <a:off x="1783080" y="2697480"/>
            <a:ext cx="3657600" cy="566928"/>
          </a:xfrm>
          <a:prstGeom prst="rect">
            <a:avLst/>
          </a:prstGeom>
          <a:noFill/>
          <a:ln/>
        </p:spPr>
        <p:txBody>
          <a:bodyPr wrap="square" lIns="0" tIns="0" rIns="0" bIns="0" rtlCol="0" anchor="ctr"/>
          <a:lstStyle/>
          <a:p>
            <a:pPr indent="0" marL="0">
              <a:buNone/>
            </a:pPr>
            <a:r>
              <a:rPr lang="en-US" sz="1200" dirty="0">
                <a:solidFill>
                  <a:schemeClr val="tx1"/>
                </a:solidFill>
              </a:rPr>
              <a:t>Lavoro fisico o su impianti: produzione, logistica</a:t>
            </a:r>
            <a:endParaRPr lang="en-US" sz="1200" dirty="0"/>
          </a:p>
        </p:txBody>
      </p:sp>
      <p:sp>
        <p:nvSpPr>
          <p:cNvPr id="24" name="Perché"/>
          <p:cNvSpPr/>
          <p:nvPr/>
        </p:nvSpPr>
        <p:spPr>
          <a:xfrm>
            <a:off x="457200" y="3337560"/>
            <a:ext cx="5120640" cy="566928"/>
          </a:xfrm>
          <a:prstGeom prst="roundRect">
            <a:avLst>
              <a:gd name="adj" fmla="val 12903"/>
            </a:avLst>
          </a:prstGeom>
          <a:solidFill>
            <a:schemeClr val="bg1"/>
          </a:solidFill>
          <a:ln/>
        </p:spPr>
      </p:sp>
      <p:sp>
        <p:nvSpPr>
          <p:cNvPr id="25" name="Text 22"/>
          <p:cNvSpPr txBox="1"/>
          <p:nvPr/>
        </p:nvSpPr>
        <p:spPr>
          <a:xfrm>
            <a:off x="594360" y="3337560"/>
            <a:ext cx="1188720" cy="566928"/>
          </a:xfrm>
          <a:prstGeom prst="rect">
            <a:avLst/>
          </a:prstGeom>
          <a:noFill/>
          <a:ln/>
        </p:spPr>
        <p:txBody>
          <a:bodyPr wrap="square" lIns="0" tIns="0" rIns="0" bIns="0" rtlCol="0" anchor="ctr"/>
          <a:lstStyle/>
          <a:p>
            <a:pPr indent="0" marL="0">
              <a:buNone/>
            </a:pPr>
            <a:r>
              <a:rPr lang="en-US" sz="1200" b="1" dirty="0">
                <a:solidFill>
                  <a:schemeClr val="accent1"/>
                </a:solidFill>
              </a:rPr>
              <a:t>Perché</a:t>
            </a:r>
            <a:endParaRPr lang="en-US" sz="1200" dirty="0"/>
          </a:p>
        </p:txBody>
      </p:sp>
      <p:sp>
        <p:nvSpPr>
          <p:cNvPr id="26" name="Text 23"/>
          <p:cNvSpPr txBox="1"/>
          <p:nvPr/>
        </p:nvSpPr>
        <p:spPr>
          <a:xfrm>
            <a:off x="1783080" y="3337560"/>
            <a:ext cx="3657600" cy="566928"/>
          </a:xfrm>
          <a:prstGeom prst="rect">
            <a:avLst/>
          </a:prstGeom>
          <a:noFill/>
          <a:ln/>
        </p:spPr>
        <p:txBody>
          <a:bodyPr wrap="square" lIns="0" tIns="0" rIns="0" bIns="0" rtlCol="0" anchor="ctr"/>
          <a:lstStyle/>
          <a:p>
            <a:pPr indent="0" marL="0">
              <a:buNone/>
            </a:pPr>
            <a:r>
              <a:rPr lang="en-US" sz="1200" dirty="0">
                <a:solidFill>
                  <a:schemeClr val="tx1"/>
                </a:solidFill>
              </a:rPr>
              <a:t>Occasioni d'uso, utilità, tempo, competenze, accesso</a:t>
            </a:r>
            <a:endParaRPr lang="en-US" sz="1200" dirty="0"/>
          </a:p>
        </p:txBody>
      </p:sp>
      <p:sp>
        <p:nvSpPr>
          <p:cNvPr id="27" name="Text 24"/>
          <p:cNvSpPr txBox="1"/>
          <p:nvPr/>
        </p:nvSpPr>
        <p:spPr>
          <a:xfrm>
            <a:off x="457200" y="3931920"/>
            <a:ext cx="5120640" cy="274320"/>
          </a:xfrm>
          <a:prstGeom prst="rect">
            <a:avLst/>
          </a:prstGeom>
          <a:noFill/>
          <a:ln/>
        </p:spPr>
        <p:txBody>
          <a:bodyPr wrap="square" lIns="0" tIns="0" rIns="0" bIns="0" rtlCol="0" anchor="t"/>
          <a:lstStyle/>
          <a:p>
            <a:pPr indent="0" marL="0">
              <a:buNone/>
            </a:pPr>
            <a:r>
              <a:rPr lang="en-US" sz="1100" i="1" dirty="0">
                <a:solidFill>
                  <a:schemeClr val="tx2"/>
                </a:solidFill>
              </a:rPr>
              <a:t>Tendenze generali, non dati: da osservare nella propria azienda.</a:t>
            </a:r>
            <a:endParaRPr lang="en-US" sz="1100" dirty="0"/>
          </a:p>
        </p:txBody>
      </p:sp>
      <p:sp>
        <p:nvSpPr>
          <p:cNvPr id="28" name="scheda Naturale"/>
          <p:cNvSpPr/>
          <p:nvPr/>
        </p:nvSpPr>
        <p:spPr>
          <a:xfrm>
            <a:off x="5806440" y="1051560"/>
            <a:ext cx="2880360" cy="1463040"/>
          </a:xfrm>
          <a:prstGeom prst="roundRect">
            <a:avLst>
              <a:gd name="adj" fmla="val 5000"/>
            </a:avLst>
          </a:prstGeom>
          <a:solidFill>
            <a:schemeClr val="bg2"/>
          </a:solidFill>
          <a:ln/>
        </p:spPr>
      </p:sp>
      <p:sp>
        <p:nvSpPr>
          <p:cNvPr id="29" name="cerchio FiCheck"/>
          <p:cNvSpPr/>
          <p:nvPr/>
        </p:nvSpPr>
        <p:spPr>
          <a:xfrm>
            <a:off x="5989320" y="1234440"/>
            <a:ext cx="457200" cy="457200"/>
          </a:xfrm>
          <a:prstGeom prst="ellipse">
            <a:avLst/>
          </a:prstGeom>
          <a:solidFill>
            <a:schemeClr val="accent1"/>
          </a:solidFill>
          <a:ln/>
        </p:spPr>
      </p:sp>
      <p:pic>
        <p:nvPicPr>
          <p:cNvPr id="30" name="Image 0" descr="FiCheck">    </p:cNvPr>
          <p:cNvPicPr>
            <a:picLocks noChangeAspect="1"/>
          </p:cNvPicPr>
          <p:nvPr/>
        </p:nvPicPr>
        <p:blipFill>
          <a:blip r:embed="rId1"/>
          <a:stretch>
            <a:fillRect/>
          </a:stretch>
        </p:blipFill>
        <p:spPr>
          <a:xfrm>
            <a:off x="6103620" y="1348740"/>
            <a:ext cx="228600" cy="228600"/>
          </a:xfrm>
          <a:prstGeom prst="rect">
            <a:avLst/>
          </a:prstGeom>
        </p:spPr>
      </p:pic>
      <p:sp>
        <p:nvSpPr>
          <p:cNvPr id="31" name="Text 27"/>
          <p:cNvSpPr txBox="1"/>
          <p:nvPr/>
        </p:nvSpPr>
        <p:spPr>
          <a:xfrm>
            <a:off x="6583680" y="123444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Naturale</a:t>
            </a:r>
            <a:endParaRPr lang="en-US" sz="1300" dirty="0"/>
          </a:p>
        </p:txBody>
      </p:sp>
      <p:sp>
        <p:nvSpPr>
          <p:cNvPr id="32" name="Text 28"/>
          <p:cNvSpPr txBox="1"/>
          <p:nvPr/>
        </p:nvSpPr>
        <p:spPr>
          <a:xfrm>
            <a:off x="5989320" y="1828800"/>
            <a:ext cx="2514600" cy="576072"/>
          </a:xfrm>
          <a:prstGeom prst="rect">
            <a:avLst/>
          </a:prstGeom>
          <a:noFill/>
          <a:ln/>
        </p:spPr>
        <p:txBody>
          <a:bodyPr wrap="square" lIns="0" tIns="0" rIns="0" bIns="0" rtlCol="0" anchor="t"/>
          <a:lstStyle/>
          <a:p>
            <a:pPr indent="0" marL="0">
              <a:buNone/>
            </a:pPr>
            <a:r>
              <a:rPr lang="en-US" sz="1200" dirty="0">
                <a:solidFill>
                  <a:schemeClr val="tx2"/>
                </a:solidFill>
              </a:rPr>
              <a:t>Se l'AI è più utile in alcune attività.</a:t>
            </a:r>
            <a:endParaRPr lang="en-US" sz="1200" dirty="0"/>
          </a:p>
        </p:txBody>
      </p:sp>
      <p:sp>
        <p:nvSpPr>
          <p:cNvPr id="33" name="scheda Un problema"/>
          <p:cNvSpPr/>
          <p:nvPr/>
        </p:nvSpPr>
        <p:spPr>
          <a:xfrm>
            <a:off x="5806440" y="2651760"/>
            <a:ext cx="2880360" cy="1463040"/>
          </a:xfrm>
          <a:prstGeom prst="roundRect">
            <a:avLst>
              <a:gd name="adj" fmla="val 5000"/>
            </a:avLst>
          </a:prstGeom>
          <a:solidFill>
            <a:schemeClr val="accent6"/>
          </a:solidFill>
          <a:ln/>
        </p:spPr>
      </p:sp>
      <p:sp>
        <p:nvSpPr>
          <p:cNvPr id="34" name="cerchio FiAlertCircle"/>
          <p:cNvSpPr/>
          <p:nvPr/>
        </p:nvSpPr>
        <p:spPr>
          <a:xfrm>
            <a:off x="5989320" y="2834640"/>
            <a:ext cx="457200" cy="457200"/>
          </a:xfrm>
          <a:prstGeom prst="ellipse">
            <a:avLst/>
          </a:prstGeom>
          <a:solidFill>
            <a:schemeClr val="accent1"/>
          </a:solidFill>
          <a:ln/>
        </p:spPr>
      </p:sp>
      <p:pic>
        <p:nvPicPr>
          <p:cNvPr id="35" name="Image 1" descr="FiAlertCircle">    </p:cNvPr>
          <p:cNvPicPr>
            <a:picLocks noChangeAspect="1"/>
          </p:cNvPicPr>
          <p:nvPr/>
        </p:nvPicPr>
        <p:blipFill>
          <a:blip r:embed="rId2"/>
          <a:stretch>
            <a:fillRect/>
          </a:stretch>
        </p:blipFill>
        <p:spPr>
          <a:xfrm>
            <a:off x="6103620" y="2948940"/>
            <a:ext cx="228600" cy="228600"/>
          </a:xfrm>
          <a:prstGeom prst="rect">
            <a:avLst/>
          </a:prstGeom>
        </p:spPr>
      </p:pic>
      <p:sp>
        <p:nvSpPr>
          <p:cNvPr id="36" name="Text 31"/>
          <p:cNvSpPr txBox="1"/>
          <p:nvPr/>
        </p:nvSpPr>
        <p:spPr>
          <a:xfrm>
            <a:off x="6583680" y="283464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Un problema</a:t>
            </a:r>
            <a:endParaRPr lang="en-US" sz="1300" dirty="0"/>
          </a:p>
        </p:txBody>
      </p:sp>
      <p:sp>
        <p:nvSpPr>
          <p:cNvPr id="37" name="Text 32"/>
          <p:cNvSpPr txBox="1"/>
          <p:nvPr/>
        </p:nvSpPr>
        <p:spPr>
          <a:xfrm>
            <a:off x="5989320" y="3429000"/>
            <a:ext cx="2514600" cy="576072"/>
          </a:xfrm>
          <a:prstGeom prst="rect">
            <a:avLst/>
          </a:prstGeom>
          <a:noFill/>
          <a:ln/>
        </p:spPr>
        <p:txBody>
          <a:bodyPr wrap="square" lIns="0" tIns="0" rIns="0" bIns="0" rtlCol="0" anchor="t"/>
          <a:lstStyle/>
          <a:p>
            <a:pPr indent="0" marL="0">
              <a:buNone/>
            </a:pPr>
            <a:r>
              <a:rPr lang="en-US" sz="1200" dirty="0">
                <a:solidFill>
                  <a:schemeClr val="tx2"/>
                </a:solidFill>
              </a:rPr>
              <a:t>Se dipende da ostacoli evitabili o crea disuguaglianze.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Individuale o strutturale?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5303520"/>
                <a:gridCol w="2926080"/>
              </a:tblGrid>
              <a:tr h="475488">
                <a:tc>
                  <a:txBody>
                    <a:bodyPr/>
                    <a:lstStyle/>
                    <a:p>
                      <a:pPr indent="0" marL="0">
                        <a:buNone/>
                      </a:pPr>
                      <a:r>
                        <a:rPr lang="en-US" sz="1200" b="1" dirty="0">
                          <a:solidFill>
                            <a:schemeClr val="bg1"/>
                          </a:solidFill>
                        </a:rPr>
                        <a:t>Domanda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 sì, probabilmente...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75488">
                <a:tc>
                  <a:txBody>
                    <a:bodyPr/>
                    <a:lstStyle/>
                    <a:p>
                      <a:pPr indent="0" marL="0">
                        <a:buNone/>
                      </a:pPr>
                      <a:r>
                        <a:rPr lang="en-US" sz="1200" b="1" dirty="0">
                          <a:solidFill>
                            <a:schemeClr val="tx1"/>
                          </a:solidFill>
                        </a:rPr>
                        <a:t>Molte persone, in contesti diversi, hanno la stessa difficoltà?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Strutturale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Chi ha tempo e supporto lo usa bene, gli altri 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Strutturale: tempo e supporto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Lo strumento dà risultati scarsi sulle attività tipiche?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Strutturale: strumento inadatto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Poche persone in difficoltà, dove altre lo usano bene?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Individuale: supporto mirato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566160"/>
            <a:ext cx="8229600" cy="822960"/>
          </a:xfrm>
          <a:prstGeom prst="roundRect">
            <a:avLst>
              <a:gd name="adj" fmla="val 8889"/>
            </a:avLst>
          </a:prstGeom>
          <a:solidFill>
            <a:schemeClr val="tx1"/>
          </a:solidFill>
          <a:ln/>
        </p:spPr>
      </p:sp>
      <p:sp>
        <p:nvSpPr>
          <p:cNvPr id="16" name="Text 12"/>
          <p:cNvSpPr txBox="1"/>
          <p:nvPr/>
        </p:nvSpPr>
        <p:spPr>
          <a:xfrm>
            <a:off x="640080" y="3566160"/>
            <a:ext cx="7863840" cy="822960"/>
          </a:xfrm>
          <a:prstGeom prst="rect">
            <a:avLst/>
          </a:prstGeom>
          <a:noFill/>
          <a:ln/>
        </p:spPr>
        <p:txBody>
          <a:bodyPr wrap="square" lIns="0" tIns="0" rIns="0" bIns="0" rtlCol="0" anchor="ctr"/>
          <a:lstStyle/>
          <a:p>
            <a:pPr indent="0" marL="0">
              <a:buNone/>
            </a:pPr>
            <a:r>
              <a:rPr lang="en-US" sz="1300" dirty="0">
                <a:solidFill>
                  <a:schemeClr val="bg1"/>
                </a:solidFill>
              </a:rPr>
              <a:t>Difficoltà strutturali trattate come individuali: altra formazione, altra comunicazione, e frustrazione da entrambe le parti.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ci dicono i segnali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Usano servizi non autorizzati"/>
          <p:cNvSpPr/>
          <p:nvPr/>
        </p:nvSpPr>
        <p:spPr>
          <a:xfrm>
            <a:off x="457200" y="1051560"/>
            <a:ext cx="3977640" cy="2286000"/>
          </a:xfrm>
          <a:prstGeom prst="roundRect">
            <a:avLst>
              <a:gd name="adj" fmla="val 3200"/>
            </a:avLst>
          </a:prstGeom>
          <a:solidFill>
            <a:schemeClr val="bg2"/>
          </a:solidFill>
          <a:ln/>
        </p:spPr>
      </p:sp>
      <p:sp>
        <p:nvSpPr>
          <p:cNvPr id="15" name="cerchio FiExternalLink"/>
          <p:cNvSpPr/>
          <p:nvPr/>
        </p:nvSpPr>
        <p:spPr>
          <a:xfrm>
            <a:off x="640080" y="1234440"/>
            <a:ext cx="457200" cy="457200"/>
          </a:xfrm>
          <a:prstGeom prst="ellipse">
            <a:avLst/>
          </a:prstGeom>
          <a:solidFill>
            <a:schemeClr val="accent1"/>
          </a:solidFill>
          <a:ln/>
        </p:spPr>
      </p:sp>
      <p:sp>
        <p:nvSpPr>
          <p:cNvPr id="16" name="scheda Non usano quelli approvati"/>
          <p:cNvSpPr/>
          <p:nvPr/>
        </p:nvSpPr>
        <p:spPr>
          <a:xfrm>
            <a:off x="4709160" y="1051560"/>
            <a:ext cx="3977640" cy="2286000"/>
          </a:xfrm>
          <a:prstGeom prst="roundRect">
            <a:avLst>
              <a:gd name="adj" fmla="val 3200"/>
            </a:avLst>
          </a:prstGeom>
          <a:solidFill>
            <a:schemeClr val="accent6"/>
          </a:solidFill>
          <a:ln/>
        </p:spPr>
      </p:sp>
      <p:sp>
        <p:nvSpPr>
          <p:cNvPr id="17" name="cerchio FiSlash"/>
          <p:cNvSpPr/>
          <p:nvPr/>
        </p:nvSpPr>
        <p:spPr>
          <a:xfrm>
            <a:off x="4892040" y="1234440"/>
            <a:ext cx="457200" cy="457200"/>
          </a:xfrm>
          <a:prstGeom prst="ellipse">
            <a:avLst/>
          </a:prstGeom>
          <a:solidFill>
            <a:schemeClr val="accent1"/>
          </a:solidFill>
          <a:ln/>
        </p:spPr>
      </p:sp>
      <p:pic>
        <p:nvPicPr>
          <p:cNvPr id="18" name="Image 0" descr="FiSlash">    </p:cNvPr>
          <p:cNvPicPr>
            <a:picLocks noChangeAspect="1"/>
          </p:cNvPicPr>
          <p:nvPr/>
        </p:nvPicPr>
        <p:blipFill>
          <a:blip r:embed="rId1"/>
          <a:stretch>
            <a:fillRect/>
          </a:stretch>
        </p:blipFill>
        <p:spPr>
          <a:xfrm>
            <a:off x="5006340" y="1348740"/>
            <a:ext cx="228600" cy="228600"/>
          </a:xfrm>
          <a:prstGeom prst="rect">
            <a:avLst/>
          </a:prstGeom>
        </p:spPr>
      </p:pic>
      <p:sp>
        <p:nvSpPr>
          <p:cNvPr id="19"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Non usano quelli approvati</a:t>
            </a:r>
            <a:endParaRPr lang="en-US" sz="1500" dirty="0"/>
          </a:p>
        </p:txBody>
      </p:sp>
      <p:sp>
        <p:nvSpPr>
          <p:cNvPr id="20" name="Text 16"/>
          <p:cNvSpPr txBox="1"/>
          <p:nvPr/>
        </p:nvSpPr>
        <p:spPr>
          <a:xfrm>
            <a:off x="489204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Non è utile per le loro attività</a:t>
            </a:r>
            <a:endParaRPr lang="en-US" sz="1300" dirty="0"/>
          </a:p>
          <a:p>
            <a:pPr marL="177800" indent="-177800">
              <a:spcAft>
                <a:spcPts val="500"/>
              </a:spcAft>
              <a:buSzPct val="100000"/>
              <a:buChar char="•"/>
            </a:pPr>
            <a:r>
              <a:rPr lang="en-US" sz="1300" dirty="0">
                <a:solidFill>
                  <a:schemeClr val="tx2"/>
                </a:solidFill>
              </a:rPr>
              <a:t>Dà risultati scarsi, richiede troppo tempo</a:t>
            </a:r>
            <a:endParaRPr lang="en-US" sz="1300" dirty="0"/>
          </a:p>
          <a:p>
            <a:pPr marL="177800" indent="-177800">
              <a:spcAft>
                <a:spcPts val="500"/>
              </a:spcAft>
              <a:buSzPct val="100000"/>
              <a:buChar char="•"/>
            </a:pPr>
            <a:r>
              <a:rPr lang="en-US" sz="1300" dirty="0">
                <a:solidFill>
                  <a:schemeClr val="tx2"/>
                </a:solidFill>
              </a:rPr>
              <a:t>Incertezza su che cosa è consentito</a:t>
            </a:r>
            <a:endParaRPr lang="en-US" sz="1300" dirty="0"/>
          </a:p>
        </p:txBody>
      </p:sp>
      <p:pic>
        <p:nvPicPr>
          <p:cNvPr id="21" name="Image 1" descr="FiExternalLink">    </p:cNvPr>
          <p:cNvPicPr>
            <a:picLocks noChangeAspect="1"/>
          </p:cNvPicPr>
          <p:nvPr/>
        </p:nvPicPr>
        <p:blipFill>
          <a:blip r:embed="rId2"/>
          <a:stretch>
            <a:fillRect/>
          </a:stretch>
        </p:blipFill>
        <p:spPr>
          <a:xfrm>
            <a:off x="75438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Usano servizi non autorizzati</a:t>
            </a:r>
            <a:endParaRPr lang="en-US" sz="1500" dirty="0"/>
          </a:p>
        </p:txBody>
      </p:sp>
      <p:sp>
        <p:nvSpPr>
          <p:cNvPr id="23" name="Text 18"/>
          <p:cNvSpPr txBox="1"/>
          <p:nvPr/>
        </p:nvSpPr>
        <p:spPr>
          <a:xfrm>
            <a:off x="64008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Lo strumento approvato manca o è meno capace</a:t>
            </a:r>
            <a:endParaRPr lang="en-US" sz="1300" dirty="0"/>
          </a:p>
          <a:p>
            <a:pPr marL="177800" indent="-177800">
              <a:spcAft>
                <a:spcPts val="500"/>
              </a:spcAft>
              <a:buSzPct val="100000"/>
              <a:buChar char="•"/>
            </a:pPr>
            <a:r>
              <a:rPr lang="en-US" sz="1300" dirty="0">
                <a:solidFill>
                  <a:schemeClr val="tx2"/>
                </a:solidFill>
              </a:rPr>
              <a:t>È più scomodo, o non conosciuto</a:t>
            </a:r>
            <a:endParaRPr lang="en-US" sz="1300" dirty="0"/>
          </a:p>
          <a:p>
            <a:pPr marL="177800" indent="-177800">
              <a:spcAft>
                <a:spcPts val="500"/>
              </a:spcAft>
              <a:buSzPct val="100000"/>
              <a:buChar char="•"/>
            </a:pPr>
            <a:r>
              <a:rPr lang="en-US" sz="1300" dirty="0">
                <a:solidFill>
                  <a:schemeClr val="tx2"/>
                </a:solidFill>
              </a:rPr>
              <a:t>Le regole non sono chiare</a:t>
            </a:r>
            <a:endParaRPr lang="en-US" sz="1300" dirty="0"/>
          </a:p>
        </p:txBody>
      </p:sp>
      <p:sp>
        <p:nvSpPr>
          <p:cNvPr id="24" name="messaggio"/>
          <p:cNvSpPr/>
          <p:nvPr/>
        </p:nvSpPr>
        <p:spPr>
          <a:xfrm>
            <a:off x="457200" y="3520440"/>
            <a:ext cx="8229600" cy="822960"/>
          </a:xfrm>
          <a:prstGeom prst="roundRect">
            <a:avLst>
              <a:gd name="adj" fmla="val 8889"/>
            </a:avLst>
          </a:prstGeom>
          <a:solidFill>
            <a:schemeClr val="tx1"/>
          </a:solidFill>
          <a:ln/>
        </p:spPr>
      </p:sp>
      <p:sp>
        <p:nvSpPr>
          <p:cNvPr id="25" name="Text 20"/>
          <p:cNvSpPr txBox="1"/>
          <p:nvPr/>
        </p:nvSpPr>
        <p:spPr>
          <a:xfrm>
            <a:off x="640080" y="3520440"/>
            <a:ext cx="7863840" cy="822960"/>
          </a:xfrm>
          <a:prstGeom prst="rect">
            <a:avLst/>
          </a:prstGeom>
          <a:noFill/>
          <a:ln/>
        </p:spPr>
        <p:txBody>
          <a:bodyPr wrap="square" lIns="0" tIns="0" rIns="0" bIns="0" rtlCol="0" anchor="ctr"/>
          <a:lstStyle/>
          <a:p>
            <a:pPr indent="0" marL="0">
              <a:buNone/>
            </a:pPr>
            <a:r>
              <a:rPr lang="en-US" sz="1400" dirty="0">
                <a:solidFill>
                  <a:schemeClr val="bg1"/>
                </a:solidFill>
              </a:rPr>
              <a:t>Comprendere le cause è più utile che attribuire tutto alla resistenza. Lo scetticismo è un'informazione (A, B).</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bassa adozione può dipendere dallo strumento o dalle condizioni operative, non dalla scarsa apertura al cambiamento.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16.2  ·  Fattori e ostacoli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Leadership e management</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leadership non deve solo promuovere l'AI: deve contribuire a renderne possibile l'utilizzo appropriato e utile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Direzione: perché e verso dove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ponsorship"/>
          <p:cNvSpPr/>
          <p:nvPr/>
        </p:nvSpPr>
        <p:spPr>
          <a:xfrm>
            <a:off x="457200" y="1051560"/>
            <a:ext cx="2621280" cy="1828800"/>
          </a:xfrm>
          <a:prstGeom prst="roundRect">
            <a:avLst>
              <a:gd name="adj" fmla="val 4000"/>
            </a:avLst>
          </a:prstGeom>
          <a:solidFill>
            <a:schemeClr val="bg2"/>
          </a:solidFill>
          <a:ln/>
        </p:spPr>
      </p:sp>
      <p:sp>
        <p:nvSpPr>
          <p:cNvPr id="15" name="cerchio FiFlag"/>
          <p:cNvSpPr/>
          <p:nvPr/>
        </p:nvSpPr>
        <p:spPr>
          <a:xfrm>
            <a:off x="621792" y="1216152"/>
            <a:ext cx="438912" cy="438912"/>
          </a:xfrm>
          <a:prstGeom prst="ellipse">
            <a:avLst/>
          </a:prstGeom>
          <a:solidFill>
            <a:schemeClr val="accent1"/>
          </a:solidFill>
          <a:ln/>
        </p:spPr>
      </p:sp>
      <p:pic>
        <p:nvPicPr>
          <p:cNvPr id="16" name="Image 0" descr="FiFlag">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Sponsorship</a:t>
            </a:r>
            <a:endParaRPr lang="en-US" sz="1400" dirty="0"/>
          </a:p>
        </p:txBody>
      </p:sp>
      <p:sp>
        <p:nvSpPr>
          <p:cNvPr id="18" name="Text 14"/>
          <p:cNvSpPr txBox="1"/>
          <p:nvPr/>
        </p:nvSpPr>
        <p:spPr>
          <a:xfrm>
            <a:off x="62179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Sostegno visibile: priorità, risorse, attenzione</a:t>
            </a:r>
            <a:endParaRPr lang="en-US" sz="1200" dirty="0"/>
          </a:p>
        </p:txBody>
      </p:sp>
      <p:sp>
        <p:nvSpPr>
          <p:cNvPr id="19" name="Finalità chiare"/>
          <p:cNvSpPr/>
          <p:nvPr/>
        </p:nvSpPr>
        <p:spPr>
          <a:xfrm>
            <a:off x="3261360" y="1051560"/>
            <a:ext cx="2621280" cy="1828800"/>
          </a:xfrm>
          <a:prstGeom prst="roundRect">
            <a:avLst>
              <a:gd name="adj" fmla="val 4000"/>
            </a:avLst>
          </a:prstGeom>
          <a:solidFill>
            <a:schemeClr val="bg2"/>
          </a:solidFill>
          <a:ln/>
        </p:spPr>
      </p:sp>
      <p:sp>
        <p:nvSpPr>
          <p:cNvPr id="20" name="cerchio FiHelpCircle"/>
          <p:cNvSpPr/>
          <p:nvPr/>
        </p:nvSpPr>
        <p:spPr>
          <a:xfrm>
            <a:off x="3425952" y="1216152"/>
            <a:ext cx="438912" cy="438912"/>
          </a:xfrm>
          <a:prstGeom prst="ellipse">
            <a:avLst/>
          </a:prstGeom>
          <a:solidFill>
            <a:schemeClr val="accent1"/>
          </a:solidFill>
          <a:ln/>
        </p:spPr>
      </p:sp>
      <p:pic>
        <p:nvPicPr>
          <p:cNvPr id="21" name="Image 1" descr="FiHelpCircle">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Finalità chiare</a:t>
            </a:r>
            <a:endParaRPr lang="en-US" sz="1400" dirty="0"/>
          </a:p>
        </p:txBody>
      </p:sp>
      <p:sp>
        <p:nvSpPr>
          <p:cNvPr id="23" name="Text 18"/>
          <p:cNvSpPr txBox="1"/>
          <p:nvPr/>
        </p:nvSpPr>
        <p:spPr>
          <a:xfrm>
            <a:off x="342595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Perché? Se non è chiaro, le persone pensano al peggio</a:t>
            </a:r>
            <a:endParaRPr lang="en-US" sz="1200" dirty="0"/>
          </a:p>
        </p:txBody>
      </p:sp>
      <p:sp>
        <p:nvSpPr>
          <p:cNvPr id="24" name="Obiettivi aziendali"/>
          <p:cNvSpPr/>
          <p:nvPr/>
        </p:nvSpPr>
        <p:spPr>
          <a:xfrm>
            <a:off x="6065520" y="1051560"/>
            <a:ext cx="2621280" cy="1828800"/>
          </a:xfrm>
          <a:prstGeom prst="roundRect">
            <a:avLst>
              <a:gd name="adj" fmla="val 4000"/>
            </a:avLst>
          </a:prstGeom>
          <a:solidFill>
            <a:schemeClr val="bg2"/>
          </a:solidFill>
          <a:ln/>
        </p:spPr>
      </p:sp>
      <p:sp>
        <p:nvSpPr>
          <p:cNvPr id="25" name="cerchio FiTarget"/>
          <p:cNvSpPr/>
          <p:nvPr/>
        </p:nvSpPr>
        <p:spPr>
          <a:xfrm>
            <a:off x="6230112" y="1216152"/>
            <a:ext cx="438912" cy="438912"/>
          </a:xfrm>
          <a:prstGeom prst="ellipse">
            <a:avLst/>
          </a:prstGeom>
          <a:solidFill>
            <a:schemeClr val="accent1"/>
          </a:solidFill>
          <a:ln/>
        </p:spPr>
      </p:sp>
      <p:pic>
        <p:nvPicPr>
          <p:cNvPr id="26" name="Image 2" descr="FiTarget">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Obiettivi aziendali</a:t>
            </a:r>
            <a:endParaRPr lang="en-US" sz="1400" dirty="0"/>
          </a:p>
        </p:txBody>
      </p:sp>
      <p:sp>
        <p:nvSpPr>
          <p:cNvPr id="28" name="Text 22"/>
          <p:cNvSpPr txBox="1"/>
          <p:nvPr/>
        </p:nvSpPr>
        <p:spPr>
          <a:xfrm>
            <a:off x="623011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L'AI come mezzo per problemi reali</a:t>
            </a:r>
            <a:endParaRPr lang="en-US" sz="1200" dirty="0"/>
          </a:p>
        </p:txBody>
      </p:sp>
      <p:sp>
        <p:nvSpPr>
          <p:cNvPr id="29" name="scelte"/>
          <p:cNvSpPr/>
          <p:nvPr/>
        </p:nvSpPr>
        <p:spPr>
          <a:xfrm>
            <a:off x="457200" y="3063240"/>
            <a:ext cx="8229600" cy="685800"/>
          </a:xfrm>
          <a:prstGeom prst="roundRect">
            <a:avLst>
              <a:gd name="adj" fmla="val 10667"/>
            </a:avLst>
          </a:prstGeom>
          <a:solidFill>
            <a:schemeClr val="bg2"/>
          </a:solidFill>
          <a:ln/>
        </p:spPr>
      </p:sp>
      <p:sp>
        <p:nvSpPr>
          <p:cNvPr id="30" name="Text 24"/>
          <p:cNvSpPr txBox="1"/>
          <p:nvPr/>
        </p:nvSpPr>
        <p:spPr>
          <a:xfrm>
            <a:off x="640080" y="3063240"/>
            <a:ext cx="7863840" cy="685800"/>
          </a:xfrm>
          <a:prstGeom prst="rect">
            <a:avLst/>
          </a:prstGeom>
          <a:noFill/>
          <a:ln/>
        </p:spPr>
        <p:txBody>
          <a:bodyPr wrap="square" lIns="0" tIns="0" rIns="0" bIns="0" rtlCol="0" anchor="ctr"/>
          <a:lstStyle/>
          <a:p>
            <a:pPr indent="0" marL="0">
              <a:buNone/>
            </a:pPr>
            <a:r>
              <a:rPr lang="en-US" sz="1300" b="1" dirty="0">
                <a:solidFill>
                  <a:schemeClr val="accent1"/>
                </a:solidFill>
              </a:rPr>
              <a:t>Non solo comunicazione: </a:t>
            </a:r>
            <a:pPr indent="0" marL="0">
              <a:buNone/>
            </a:pPr>
            <a:r>
              <a:rPr lang="en-US" sz="1300" dirty="0">
                <a:solidFill>
                  <a:schemeClr val="tx1"/>
                </a:solidFill>
              </a:rPr>
              <a:t>se la direzione non ha deciso che cosa vuole ottenere, nessuna comunicazione potrà renderlo chiaro.</a:t>
            </a:r>
            <a:endParaRPr lang="en-US" sz="1300" dirty="0"/>
          </a:p>
        </p:txBody>
      </p:sp>
      <p:sp>
        <p:nvSpPr>
          <p:cNvPr id="31" name="messaggio"/>
          <p:cNvSpPr/>
          <p:nvPr/>
        </p:nvSpPr>
        <p:spPr>
          <a:xfrm>
            <a:off x="457200" y="3886200"/>
            <a:ext cx="8229600" cy="594360"/>
          </a:xfrm>
          <a:prstGeom prst="roundRect">
            <a:avLst>
              <a:gd name="adj" fmla="val 12308"/>
            </a:avLst>
          </a:prstGeom>
          <a:solidFill>
            <a:schemeClr val="tx1"/>
          </a:solidFill>
          <a:ln/>
        </p:spPr>
      </p:sp>
      <p:sp>
        <p:nvSpPr>
          <p:cNvPr id="32" name="Text 26"/>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400" dirty="0">
                <a:solidFill>
                  <a:schemeClr val="bg1"/>
                </a:solidFill>
              </a:rPr>
              <a:t>Se finalità dichiarate e reali divergono, le persone se ne accorgono.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manager: creare condizioni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voce 1"/>
          <p:cNvSpPr/>
          <p:nvPr/>
        </p:nvSpPr>
        <p:spPr>
          <a:xfrm>
            <a:off x="457200" y="1051560"/>
            <a:ext cx="8229600" cy="475488"/>
          </a:xfrm>
          <a:prstGeom prst="roundRect">
            <a:avLst>
              <a:gd name="adj" fmla="val 15385"/>
            </a:avLst>
          </a:prstGeom>
          <a:solidFill>
            <a:schemeClr val="bg2"/>
          </a:solidFill>
          <a:ln/>
        </p:spPr>
      </p:sp>
      <p:sp>
        <p:nvSpPr>
          <p:cNvPr id="15" name="Text 12"/>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6" name="Text 13"/>
          <p:cNvSpPr txBox="1"/>
          <p:nvPr/>
        </p:nvSpPr>
        <p:spPr>
          <a:xfrm>
            <a:off x="960120" y="1051560"/>
            <a:ext cx="7589520" cy="475488"/>
          </a:xfrm>
          <a:prstGeom prst="rect">
            <a:avLst/>
          </a:prstGeom>
          <a:noFill/>
          <a:ln/>
        </p:spPr>
        <p:txBody>
          <a:bodyPr wrap="square" lIns="0" tIns="0" rIns="0" bIns="0" rtlCol="0" anchor="ctr"/>
          <a:lstStyle/>
          <a:p>
            <a:pPr indent="0" marL="0">
              <a:buNone/>
            </a:pPr>
            <a:r>
              <a:rPr lang="en-US" sz="1300" dirty="0">
                <a:solidFill>
                  <a:schemeClr val="tx1"/>
                </a:solidFill>
              </a:rPr>
              <a:t>Tempo, risorse e strumenti: alleggerire altri carichi nelle prime settimane</a:t>
            </a:r>
            <a:endParaRPr lang="en-US" sz="1300" dirty="0"/>
          </a:p>
        </p:txBody>
      </p:sp>
      <p:sp>
        <p:nvSpPr>
          <p:cNvPr id="17" name="voce 2"/>
          <p:cNvSpPr/>
          <p:nvPr/>
        </p:nvSpPr>
        <p:spPr>
          <a:xfrm>
            <a:off x="457200" y="1600200"/>
            <a:ext cx="8229600" cy="475488"/>
          </a:xfrm>
          <a:prstGeom prst="roundRect">
            <a:avLst>
              <a:gd name="adj" fmla="val 15385"/>
            </a:avLst>
          </a:prstGeom>
          <a:solidFill>
            <a:schemeClr val="bg1"/>
          </a:solidFill>
          <a:ln/>
        </p:spPr>
      </p:sp>
      <p:sp>
        <p:nvSpPr>
          <p:cNvPr id="18" name="Text 15"/>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9" name="Text 16"/>
          <p:cNvSpPr txBox="1"/>
          <p:nvPr/>
        </p:nvSpPr>
        <p:spPr>
          <a:xfrm>
            <a:off x="960120" y="1600200"/>
            <a:ext cx="7589520" cy="475488"/>
          </a:xfrm>
          <a:prstGeom prst="rect">
            <a:avLst/>
          </a:prstGeom>
          <a:noFill/>
          <a:ln/>
        </p:spPr>
        <p:txBody>
          <a:bodyPr wrap="square" lIns="0" tIns="0" rIns="0" bIns="0" rtlCol="0" anchor="ctr"/>
          <a:lstStyle/>
          <a:p>
            <a:pPr indent="0" marL="0">
              <a:buNone/>
            </a:pPr>
            <a:r>
              <a:rPr lang="en-US" sz="1300" dirty="0">
                <a:solidFill>
                  <a:schemeClr val="tx1"/>
                </a:solidFill>
              </a:rPr>
              <a:t>Individuare gli ostacoli concreti: che cosa impedisce di usarla dove servirebbe?</a:t>
            </a:r>
            <a:endParaRPr lang="en-US" sz="1300" dirty="0"/>
          </a:p>
        </p:txBody>
      </p:sp>
      <p:sp>
        <p:nvSpPr>
          <p:cNvPr id="20" name="voce 3"/>
          <p:cNvSpPr/>
          <p:nvPr/>
        </p:nvSpPr>
        <p:spPr>
          <a:xfrm>
            <a:off x="457200" y="2148840"/>
            <a:ext cx="8229600" cy="475488"/>
          </a:xfrm>
          <a:prstGeom prst="roundRect">
            <a:avLst>
              <a:gd name="adj" fmla="val 15385"/>
            </a:avLst>
          </a:prstGeom>
          <a:solidFill>
            <a:schemeClr val="bg2"/>
          </a:solidFill>
          <a:ln/>
        </p:spPr>
      </p:sp>
      <p:sp>
        <p:nvSpPr>
          <p:cNvPr id="21" name="Text 18"/>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2" name="Text 19"/>
          <p:cNvSpPr txBox="1"/>
          <p:nvPr/>
        </p:nvSpPr>
        <p:spPr>
          <a:xfrm>
            <a:off x="960120" y="2148840"/>
            <a:ext cx="7589520" cy="475488"/>
          </a:xfrm>
          <a:prstGeom prst="rect">
            <a:avLst/>
          </a:prstGeom>
          <a:noFill/>
          <a:ln/>
        </p:spPr>
        <p:txBody>
          <a:bodyPr wrap="square" lIns="0" tIns="0" rIns="0" bIns="0" rtlCol="0" anchor="ctr"/>
          <a:lstStyle/>
          <a:p>
            <a:pPr indent="0" marL="0">
              <a:buNone/>
            </a:pPr>
            <a:r>
              <a:rPr lang="en-US" sz="1300" dirty="0">
                <a:solidFill>
                  <a:schemeClr val="tx1"/>
                </a:solidFill>
              </a:rPr>
              <a:t>Ascoltare esperienze e criticità, positive e negative</a:t>
            </a:r>
            <a:endParaRPr lang="en-US" sz="1300" dirty="0"/>
          </a:p>
        </p:txBody>
      </p:sp>
      <p:sp>
        <p:nvSpPr>
          <p:cNvPr id="23" name="voce 4"/>
          <p:cNvSpPr/>
          <p:nvPr/>
        </p:nvSpPr>
        <p:spPr>
          <a:xfrm>
            <a:off x="457200" y="2697480"/>
            <a:ext cx="8229600" cy="475488"/>
          </a:xfrm>
          <a:prstGeom prst="roundRect">
            <a:avLst>
              <a:gd name="adj" fmla="val 15385"/>
            </a:avLst>
          </a:prstGeom>
          <a:solidFill>
            <a:schemeClr val="bg1"/>
          </a:solidFill>
          <a:ln/>
        </p:spPr>
      </p:sp>
      <p:sp>
        <p:nvSpPr>
          <p:cNvPr id="24" name="Text 21"/>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5" name="Text 22"/>
          <p:cNvSpPr txBox="1"/>
          <p:nvPr/>
        </p:nvSpPr>
        <p:spPr>
          <a:xfrm>
            <a:off x="960120" y="2697480"/>
            <a:ext cx="7589520" cy="475488"/>
          </a:xfrm>
          <a:prstGeom prst="rect">
            <a:avLst/>
          </a:prstGeom>
          <a:noFill/>
          <a:ln/>
        </p:spPr>
        <p:txBody>
          <a:bodyPr wrap="square" lIns="0" tIns="0" rIns="0" bIns="0" rtlCol="0" anchor="ctr"/>
          <a:lstStyle/>
          <a:p>
            <a:pPr indent="0" marL="0">
              <a:buNone/>
            </a:pPr>
            <a:r>
              <a:rPr lang="en-US" sz="1300" dirty="0">
                <a:solidFill>
                  <a:schemeClr val="tx1"/>
                </a:solidFill>
              </a:rPr>
              <a:t>Promuovere la sperimentazione controllata, accettando che alcune prove non funzionino</a:t>
            </a:r>
            <a:endParaRPr lang="en-US" sz="1300" dirty="0"/>
          </a:p>
        </p:txBody>
      </p:sp>
      <p:sp>
        <p:nvSpPr>
          <p:cNvPr id="26" name="messaggio"/>
          <p:cNvSpPr/>
          <p:nvPr/>
        </p:nvSpPr>
        <p:spPr>
          <a:xfrm>
            <a:off x="457200" y="3383280"/>
            <a:ext cx="8229600" cy="914400"/>
          </a:xfrm>
          <a:prstGeom prst="roundRect">
            <a:avLst>
              <a:gd name="adj" fmla="val 8000"/>
            </a:avLst>
          </a:prstGeom>
          <a:solidFill>
            <a:schemeClr val="tx1"/>
          </a:solidFill>
          <a:ln/>
        </p:spPr>
      </p:sp>
      <p:sp>
        <p:nvSpPr>
          <p:cNvPr id="27" name="Text 24"/>
          <p:cNvSpPr txBox="1"/>
          <p:nvPr/>
        </p:nvSpPr>
        <p:spPr>
          <a:xfrm>
            <a:off x="640080" y="3383280"/>
            <a:ext cx="7863840" cy="914400"/>
          </a:xfrm>
          <a:prstGeom prst="rect">
            <a:avLst/>
          </a:prstGeom>
          <a:noFill/>
          <a:ln/>
        </p:spPr>
        <p:txBody>
          <a:bodyPr wrap="square" lIns="0" tIns="0" rIns="0" bIns="0" rtlCol="0" anchor="ctr"/>
          <a:lstStyle/>
          <a:p>
            <a:pPr indent="0" marL="0">
              <a:buNone/>
            </a:pPr>
            <a:r>
              <a:rPr lang="en-US" sz="1400" dirty="0">
                <a:solidFill>
                  <a:schemeClr val="bg1"/>
                </a:solidFill>
              </a:rPr>
              <a:t>Non convincere che l'AI è utile, ma rendere possibile scoprire dove lo è, e rimuovere ciò che ostacola l'uso utile.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Coerenza tra parole e priorità</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474720"/>
                <a:gridCol w="4754880"/>
              </a:tblGrid>
              <a:tr h="457200">
                <a:tc>
                  <a:txBody>
                    <a:bodyPr/>
                    <a:lstStyle/>
                    <a:p>
                      <a:pPr indent="0" marL="0">
                        <a:buNone/>
                      </a:pPr>
                      <a:r>
                        <a:rPr lang="en-US" sz="1300" b="1" dirty="0">
                          <a:solidFill>
                            <a:schemeClr val="bg1"/>
                          </a:solidFill>
                        </a:rPr>
                        <a:t>Si dice (esempi fittizi)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 si fa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300" b="1" dirty="0">
                          <a:solidFill>
                            <a:schemeClr val="tx1"/>
                          </a:solidFill>
                        </a:rPr>
                        <a:t>Sperimentate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Nessun tempo, obiettivi invariati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L'AI è importante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 responsabili non se ne interessano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Segnalate i problemi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Chi li segnala è visto come resistente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300" b="1" dirty="0">
                          <a:solidFill>
                            <a:schemeClr val="tx1"/>
                          </a:solidFill>
                        </a:rPr>
                        <a:t>Usatela per la qualità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 valuta solo la velocità</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474720"/>
            <a:ext cx="8229600" cy="868680"/>
          </a:xfrm>
          <a:prstGeom prst="roundRect">
            <a:avLst>
              <a:gd name="adj" fmla="val 8421"/>
            </a:avLst>
          </a:prstGeom>
          <a:solidFill>
            <a:schemeClr val="tx1"/>
          </a:solidFill>
          <a:ln/>
        </p:spPr>
      </p:sp>
      <p:sp>
        <p:nvSpPr>
          <p:cNvPr id="16" name="Text 12"/>
          <p:cNvSpPr txBox="1"/>
          <p:nvPr/>
        </p:nvSpPr>
        <p:spPr>
          <a:xfrm>
            <a:off x="640080" y="3474720"/>
            <a:ext cx="7863840" cy="868680"/>
          </a:xfrm>
          <a:prstGeom prst="rect">
            <a:avLst/>
          </a:prstGeom>
          <a:noFill/>
          <a:ln/>
        </p:spPr>
        <p:txBody>
          <a:bodyPr wrap="square" lIns="0" tIns="0" rIns="0" bIns="0" rtlCol="0" anchor="ctr"/>
          <a:lstStyle/>
          <a:p>
            <a:pPr indent="0" marL="0">
              <a:buNone/>
            </a:pPr>
            <a:r>
              <a:rPr lang="en-US" sz="1400" dirty="0">
                <a:solidFill>
                  <a:schemeClr val="bg1"/>
                </a:solidFill>
              </a:rPr>
              <a:t>Ogni incoerenza insegna che cosa conta davvero. Le priorità si vedono in tempo, valutazione, riconoscimento.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Incoraggiare o imporre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Incoraggiare"/>
          <p:cNvSpPr/>
          <p:nvPr/>
        </p:nvSpPr>
        <p:spPr>
          <a:xfrm>
            <a:off x="457200" y="1051560"/>
            <a:ext cx="3977640" cy="2194560"/>
          </a:xfrm>
          <a:prstGeom prst="roundRect">
            <a:avLst>
              <a:gd name="adj" fmla="val 3333"/>
            </a:avLst>
          </a:prstGeom>
          <a:solidFill>
            <a:schemeClr val="bg2"/>
          </a:solidFill>
          <a:ln/>
        </p:spPr>
      </p:sp>
      <p:sp>
        <p:nvSpPr>
          <p:cNvPr id="15" name="cerchio FiSun"/>
          <p:cNvSpPr/>
          <p:nvPr/>
        </p:nvSpPr>
        <p:spPr>
          <a:xfrm>
            <a:off x="640080" y="1234440"/>
            <a:ext cx="457200" cy="457200"/>
          </a:xfrm>
          <a:prstGeom prst="ellipse">
            <a:avLst/>
          </a:prstGeom>
          <a:solidFill>
            <a:schemeClr val="accent1"/>
          </a:solidFill>
          <a:ln/>
        </p:spPr>
      </p:sp>
      <p:sp>
        <p:nvSpPr>
          <p:cNvPr id="16" name="scheda Imporre"/>
          <p:cNvSpPr/>
          <p:nvPr/>
        </p:nvSpPr>
        <p:spPr>
          <a:xfrm>
            <a:off x="4709160" y="1051560"/>
            <a:ext cx="3977640" cy="2194560"/>
          </a:xfrm>
          <a:prstGeom prst="roundRect">
            <a:avLst>
              <a:gd name="adj" fmla="val 3333"/>
            </a:avLst>
          </a:prstGeom>
          <a:solidFill>
            <a:schemeClr val="accent6"/>
          </a:solidFill>
          <a:ln/>
        </p:spPr>
      </p:sp>
      <p:sp>
        <p:nvSpPr>
          <p:cNvPr id="17" name="cerchio FiLock"/>
          <p:cNvSpPr/>
          <p:nvPr/>
        </p:nvSpPr>
        <p:spPr>
          <a:xfrm>
            <a:off x="4892040" y="1234440"/>
            <a:ext cx="457200" cy="457200"/>
          </a:xfrm>
          <a:prstGeom prst="ellipse">
            <a:avLst/>
          </a:prstGeom>
          <a:solidFill>
            <a:schemeClr val="accent1"/>
          </a:solidFill>
          <a:ln/>
        </p:spPr>
      </p:sp>
      <p:pic>
        <p:nvPicPr>
          <p:cNvPr id="18" name="Image 0" descr="FiSun">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Incoraggiare</a:t>
            </a:r>
            <a:endParaRPr lang="en-US" sz="1500" dirty="0"/>
          </a:p>
        </p:txBody>
      </p:sp>
      <p:sp>
        <p:nvSpPr>
          <p:cNvPr id="20" name="Text 16"/>
          <p:cNvSpPr txBox="1"/>
          <p:nvPr/>
        </p:nvSpPr>
        <p:spPr>
          <a:xfrm>
            <a:off x="640080" y="218541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Creare condizioni, mostrare esempi</a:t>
            </a:r>
            <a:endParaRPr lang="en-US" sz="1300" dirty="0"/>
          </a:p>
          <a:p>
            <a:pPr marL="177800" indent="-177800">
              <a:spcAft>
                <a:spcPts val="500"/>
              </a:spcAft>
              <a:buSzPct val="100000"/>
              <a:buChar char="•"/>
            </a:pPr>
            <a:r>
              <a:rPr lang="en-US" sz="1300" dirty="0">
                <a:solidFill>
                  <a:schemeClr val="tx2"/>
                </a:solidFill>
              </a:rPr>
              <a:t>Dare tempo, riconoscere gli usi utili</a:t>
            </a:r>
            <a:endParaRPr lang="en-US" sz="1300" dirty="0"/>
          </a:p>
          <a:p>
            <a:pPr marL="177800" indent="-177800">
              <a:spcAft>
                <a:spcPts val="500"/>
              </a:spcAft>
              <a:buSzPct val="100000"/>
              <a:buChar char="•"/>
            </a:pPr>
            <a:r>
              <a:rPr lang="en-US" sz="1300" dirty="0">
                <a:solidFill>
                  <a:schemeClr val="tx2"/>
                </a:solidFill>
              </a:rPr>
              <a:t>Il giudizio su dove e come resta alle persone</a:t>
            </a:r>
            <a:endParaRPr lang="en-US" sz="1300" dirty="0"/>
          </a:p>
        </p:txBody>
      </p:sp>
      <p:pic>
        <p:nvPicPr>
          <p:cNvPr id="21" name="Image 1" descr="FiLock">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Imporre</a:t>
            </a:r>
            <a:endParaRPr lang="en-US" sz="1500" dirty="0"/>
          </a:p>
        </p:txBody>
      </p:sp>
      <p:sp>
        <p:nvSpPr>
          <p:cNvPr id="23" name="Text 18"/>
          <p:cNvSpPr txBox="1"/>
          <p:nvPr/>
        </p:nvSpPr>
        <p:spPr>
          <a:xfrm>
            <a:off x="4892040" y="218541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Uso obbligatorio o misurato come obiettivo</a:t>
            </a:r>
            <a:endParaRPr lang="en-US" sz="1300" dirty="0"/>
          </a:p>
          <a:p>
            <a:pPr marL="177800" indent="-177800">
              <a:spcAft>
                <a:spcPts val="500"/>
              </a:spcAft>
              <a:buSzPct val="100000"/>
              <a:buChar char="•"/>
            </a:pPr>
            <a:r>
              <a:rPr lang="en-US" sz="1300" dirty="0">
                <a:solidFill>
                  <a:schemeClr val="tx2"/>
                </a:solidFill>
              </a:rPr>
              <a:t>Ha senso se il processo è stato riprogettato</a:t>
            </a:r>
            <a:endParaRPr lang="en-US" sz="1300" dirty="0"/>
          </a:p>
          <a:p>
            <a:pPr marL="177800" indent="-177800">
              <a:spcAft>
                <a:spcPts val="500"/>
              </a:spcAft>
              <a:buSzPct val="100000"/>
              <a:buChar char="•"/>
            </a:pPr>
            <a:r>
              <a:rPr lang="en-US" sz="1300" dirty="0">
                <a:solidFill>
                  <a:schemeClr val="tx2"/>
                </a:solidFill>
              </a:rPr>
              <a:t>Generico: adozione simbolica</a:t>
            </a:r>
            <a:endParaRPr lang="en-US" sz="1300" dirty="0"/>
          </a:p>
        </p:txBody>
      </p:sp>
      <p:sp>
        <p:nvSpPr>
          <p:cNvPr id="24" name="goodhart"/>
          <p:cNvSpPr/>
          <p:nvPr/>
        </p:nvSpPr>
        <p:spPr>
          <a:xfrm>
            <a:off x="457200" y="3429000"/>
            <a:ext cx="8229600" cy="960120"/>
          </a:xfrm>
          <a:prstGeom prst="roundRect">
            <a:avLst>
              <a:gd name="adj" fmla="val 7619"/>
            </a:avLst>
          </a:prstGeom>
          <a:solidFill>
            <a:schemeClr val="accent1"/>
          </a:solidFill>
          <a:ln/>
        </p:spPr>
      </p:sp>
      <p:sp>
        <p:nvSpPr>
          <p:cNvPr id="25" name="Text 20"/>
          <p:cNvSpPr txBox="1"/>
          <p:nvPr/>
        </p:nvSpPr>
        <p:spPr>
          <a:xfrm>
            <a:off x="640080" y="3429000"/>
            <a:ext cx="7863840" cy="960120"/>
          </a:xfrm>
          <a:prstGeom prst="rect">
            <a:avLst/>
          </a:prstGeom>
          <a:noFill/>
          <a:ln/>
        </p:spPr>
        <p:txBody>
          <a:bodyPr wrap="square" lIns="0" tIns="0" rIns="0" bIns="0" rtlCol="0" anchor="ctr"/>
          <a:lstStyle/>
          <a:p>
            <a:pPr indent="0" marL="0">
              <a:buNone/>
            </a:pPr>
            <a:r>
              <a:rPr lang="en-US" sz="1400" b="1" dirty="0">
                <a:solidFill>
                  <a:schemeClr val="accent6"/>
                </a:solidFill>
              </a:rPr>
              <a:t>Legge di Goodhart: </a:t>
            </a:r>
            <a:pPr indent="0" marL="0">
              <a:buNone/>
            </a:pPr>
            <a:r>
              <a:rPr lang="en-US" sz="1400" dirty="0">
                <a:solidFill>
                  <a:schemeClr val="bg1"/>
                </a:solidFill>
              </a:rPr>
              <a:t>quando una misura diventa un obiettivo, smette di essere una buona misura. Numeri di utilizzo in crescita, lavoro uguale, o peggiore.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Aspettative realistiche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Tempo"/>
          <p:cNvSpPr/>
          <p:nvPr/>
        </p:nvSpPr>
        <p:spPr>
          <a:xfrm>
            <a:off x="457200" y="1051560"/>
            <a:ext cx="8229600" cy="566928"/>
          </a:xfrm>
          <a:prstGeom prst="roundRect">
            <a:avLst>
              <a:gd name="adj" fmla="val 12903"/>
            </a:avLst>
          </a:prstGeom>
          <a:solidFill>
            <a:schemeClr val="bg2"/>
          </a:solidFill>
          <a:ln/>
        </p:spPr>
      </p:sp>
      <p:sp>
        <p:nvSpPr>
          <p:cNvPr id="15" name="Text 12"/>
          <p:cNvSpPr txBox="1"/>
          <p:nvPr/>
        </p:nvSpPr>
        <p:spPr>
          <a:xfrm>
            <a:off x="594360" y="105156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Tempo</a:t>
            </a:r>
            <a:endParaRPr lang="en-US" sz="1300" dirty="0"/>
          </a:p>
        </p:txBody>
      </p:sp>
      <p:sp>
        <p:nvSpPr>
          <p:cNvPr id="16" name="Text 13"/>
          <p:cNvSpPr txBox="1"/>
          <p:nvPr/>
        </p:nvSpPr>
        <p:spPr>
          <a:xfrm>
            <a:off x="2240280" y="1051560"/>
            <a:ext cx="6309360" cy="566928"/>
          </a:xfrm>
          <a:prstGeom prst="rect">
            <a:avLst/>
          </a:prstGeom>
          <a:noFill/>
          <a:ln/>
        </p:spPr>
        <p:txBody>
          <a:bodyPr wrap="square" lIns="0" tIns="0" rIns="0" bIns="0" rtlCol="0" anchor="ctr"/>
          <a:lstStyle/>
          <a:p>
            <a:pPr indent="0" marL="0">
              <a:buNone/>
            </a:pPr>
            <a:r>
              <a:rPr lang="en-US" sz="1200" dirty="0">
                <a:solidFill>
                  <a:schemeClr val="tx1"/>
                </a:solidFill>
              </a:rPr>
              <a:t>L'adozione richiede tempo: dichiararlo fin dall'inizio</a:t>
            </a:r>
            <a:endParaRPr lang="en-US" sz="1200" dirty="0"/>
          </a:p>
        </p:txBody>
      </p:sp>
      <p:sp>
        <p:nvSpPr>
          <p:cNvPr id="17" name="Osservabili"/>
          <p:cNvSpPr/>
          <p:nvPr/>
        </p:nvSpPr>
        <p:spPr>
          <a:xfrm>
            <a:off x="457200" y="1691640"/>
            <a:ext cx="8229600" cy="566928"/>
          </a:xfrm>
          <a:prstGeom prst="roundRect">
            <a:avLst>
              <a:gd name="adj" fmla="val 12903"/>
            </a:avLst>
          </a:prstGeom>
          <a:solidFill>
            <a:schemeClr val="bg1"/>
          </a:solidFill>
          <a:ln/>
        </p:spPr>
      </p:sp>
      <p:sp>
        <p:nvSpPr>
          <p:cNvPr id="18" name="Text 15"/>
          <p:cNvSpPr txBox="1"/>
          <p:nvPr/>
        </p:nvSpPr>
        <p:spPr>
          <a:xfrm>
            <a:off x="594360" y="169164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Osservabili</a:t>
            </a:r>
            <a:endParaRPr lang="en-US" sz="1300" dirty="0"/>
          </a:p>
        </p:txBody>
      </p:sp>
      <p:sp>
        <p:nvSpPr>
          <p:cNvPr id="19" name="Text 16"/>
          <p:cNvSpPr txBox="1"/>
          <p:nvPr/>
        </p:nvSpPr>
        <p:spPr>
          <a:xfrm>
            <a:off x="2240280" y="1691640"/>
            <a:ext cx="6309360" cy="566928"/>
          </a:xfrm>
          <a:prstGeom prst="rect">
            <a:avLst/>
          </a:prstGeom>
          <a:noFill/>
          <a:ln/>
        </p:spPr>
        <p:txBody>
          <a:bodyPr wrap="square" lIns="0" tIns="0" rIns="0" bIns="0" rtlCol="0" anchor="ctr"/>
          <a:lstStyle/>
          <a:p>
            <a:pPr indent="0" marL="0">
              <a:buNone/>
            </a:pPr>
            <a:r>
              <a:rPr lang="en-US" sz="1200" dirty="0">
                <a:solidFill>
                  <a:schemeClr val="tx1"/>
                </a:solidFill>
              </a:rPr>
              <a:t>Risultati concreti, anche modesti, e come verranno osservati</a:t>
            </a:r>
            <a:endParaRPr lang="en-US" sz="1200" dirty="0"/>
          </a:p>
        </p:txBody>
      </p:sp>
      <p:sp>
        <p:nvSpPr>
          <p:cNvPr id="20" name="Fallimenti"/>
          <p:cNvSpPr/>
          <p:nvPr/>
        </p:nvSpPr>
        <p:spPr>
          <a:xfrm>
            <a:off x="457200" y="2331720"/>
            <a:ext cx="8229600" cy="566928"/>
          </a:xfrm>
          <a:prstGeom prst="roundRect">
            <a:avLst>
              <a:gd name="adj" fmla="val 12903"/>
            </a:avLst>
          </a:prstGeom>
          <a:solidFill>
            <a:schemeClr val="bg2"/>
          </a:solidFill>
          <a:ln/>
        </p:spPr>
      </p:sp>
      <p:sp>
        <p:nvSpPr>
          <p:cNvPr id="21" name="Text 18"/>
          <p:cNvSpPr txBox="1"/>
          <p:nvPr/>
        </p:nvSpPr>
        <p:spPr>
          <a:xfrm>
            <a:off x="594360" y="233172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Fallimenti</a:t>
            </a:r>
            <a:endParaRPr lang="en-US" sz="1300" dirty="0"/>
          </a:p>
        </p:txBody>
      </p:sp>
      <p:sp>
        <p:nvSpPr>
          <p:cNvPr id="22" name="Text 19"/>
          <p:cNvSpPr txBox="1"/>
          <p:nvPr/>
        </p:nvSpPr>
        <p:spPr>
          <a:xfrm>
            <a:off x="2240280" y="2331720"/>
            <a:ext cx="6309360" cy="566928"/>
          </a:xfrm>
          <a:prstGeom prst="rect">
            <a:avLst/>
          </a:prstGeom>
          <a:noFill/>
          <a:ln/>
        </p:spPr>
        <p:txBody>
          <a:bodyPr wrap="square" lIns="0" tIns="0" rIns="0" bIns="0" rtlCol="0" anchor="ctr"/>
          <a:lstStyle/>
          <a:p>
            <a:pPr indent="0" marL="0">
              <a:buNone/>
            </a:pPr>
            <a:r>
              <a:rPr lang="en-US" sz="1200" dirty="0">
                <a:solidFill>
                  <a:schemeClr val="tx1"/>
                </a:solidFill>
              </a:rPr>
              <a:t>Alcune applicazioni non funzioneranno, ed è normale</a:t>
            </a:r>
            <a:endParaRPr lang="en-US" sz="1200" dirty="0"/>
          </a:p>
        </p:txBody>
      </p:sp>
      <p:sp>
        <p:nvSpPr>
          <p:cNvPr id="23" name="Evidenze"/>
          <p:cNvSpPr/>
          <p:nvPr/>
        </p:nvSpPr>
        <p:spPr>
          <a:xfrm>
            <a:off x="457200" y="2971800"/>
            <a:ext cx="8229600" cy="566928"/>
          </a:xfrm>
          <a:prstGeom prst="roundRect">
            <a:avLst>
              <a:gd name="adj" fmla="val 12903"/>
            </a:avLst>
          </a:prstGeom>
          <a:solidFill>
            <a:schemeClr val="bg1"/>
          </a:solidFill>
          <a:ln/>
        </p:spPr>
      </p:sp>
      <p:sp>
        <p:nvSpPr>
          <p:cNvPr id="24" name="Text 21"/>
          <p:cNvSpPr txBox="1"/>
          <p:nvPr/>
        </p:nvSpPr>
        <p:spPr>
          <a:xfrm>
            <a:off x="594360" y="2971800"/>
            <a:ext cx="1645920" cy="566928"/>
          </a:xfrm>
          <a:prstGeom prst="rect">
            <a:avLst/>
          </a:prstGeom>
          <a:noFill/>
          <a:ln/>
        </p:spPr>
        <p:txBody>
          <a:bodyPr wrap="square" lIns="0" tIns="0" rIns="0" bIns="0" rtlCol="0" anchor="ctr"/>
          <a:lstStyle/>
          <a:p>
            <a:pPr indent="0" marL="0">
              <a:buNone/>
            </a:pPr>
            <a:r>
              <a:rPr lang="en-US" sz="1300" b="1" dirty="0">
                <a:solidFill>
                  <a:schemeClr val="accent1"/>
                </a:solidFill>
              </a:rPr>
              <a:t>Evidenze</a:t>
            </a:r>
            <a:endParaRPr lang="en-US" sz="1300" dirty="0"/>
          </a:p>
        </p:txBody>
      </p:sp>
      <p:sp>
        <p:nvSpPr>
          <p:cNvPr id="25" name="Text 22"/>
          <p:cNvSpPr txBox="1"/>
          <p:nvPr/>
        </p:nvSpPr>
        <p:spPr>
          <a:xfrm>
            <a:off x="2240280" y="2971800"/>
            <a:ext cx="6309360" cy="566928"/>
          </a:xfrm>
          <a:prstGeom prst="rect">
            <a:avLst/>
          </a:prstGeom>
          <a:noFill/>
          <a:ln/>
        </p:spPr>
        <p:txBody>
          <a:bodyPr wrap="square" lIns="0" tIns="0" rIns="0" bIns="0" rtlCol="0" anchor="ctr"/>
          <a:lstStyle/>
          <a:p>
            <a:pPr indent="0" marL="0">
              <a:buNone/>
            </a:pPr>
            <a:r>
              <a:rPr lang="en-US" sz="1200" dirty="0">
                <a:solidFill>
                  <a:schemeClr val="tx1"/>
                </a:solidFill>
              </a:rPr>
              <a:t>Attese collegate alle evidenze raccolte prima di partire</a:t>
            </a:r>
            <a:endParaRPr lang="en-US" sz="1200" dirty="0"/>
          </a:p>
        </p:txBody>
      </p:sp>
      <p:sp>
        <p:nvSpPr>
          <p:cNvPr id="26" name="messaggio"/>
          <p:cNvSpPr/>
          <p:nvPr/>
        </p:nvSpPr>
        <p:spPr>
          <a:xfrm>
            <a:off x="457200" y="3840480"/>
            <a:ext cx="8229600" cy="640080"/>
          </a:xfrm>
          <a:prstGeom prst="roundRect">
            <a:avLst>
              <a:gd name="adj" fmla="val 11429"/>
            </a:avLst>
          </a:prstGeom>
          <a:solidFill>
            <a:schemeClr val="tx1"/>
          </a:solidFill>
          <a:ln/>
        </p:spPr>
      </p:sp>
      <p:sp>
        <p:nvSpPr>
          <p:cNvPr id="27" name="Text 24"/>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300" dirty="0">
                <a:solidFill>
                  <a:schemeClr val="bg1"/>
                </a:solidFill>
              </a:rPr>
              <a:t>Non 'l'AI ci renderà più produttivi', ma 'ridurre il tempo di preparazione delle offerte standard'.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 responsabilità condivisa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6400800"/>
              </a:tblGrid>
              <a:tr h="640080">
                <a:tc>
                  <a:txBody>
                    <a:bodyPr/>
                    <a:lstStyle/>
                    <a:p>
                      <a:pPr indent="0" marL="0">
                        <a:buNone/>
                      </a:pPr>
                      <a:r>
                        <a:rPr lang="en-US" sz="1300" b="1" dirty="0">
                          <a:solidFill>
                            <a:schemeClr val="bg1"/>
                          </a:solidFill>
                        </a:rPr>
                        <a:t>Livello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Responsabilità principali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640080">
                <a:tc>
                  <a:txBody>
                    <a:bodyPr/>
                    <a:lstStyle/>
                    <a:p>
                      <a:pPr indent="0" marL="0">
                        <a:buNone/>
                      </a:pPr>
                      <a:r>
                        <a:rPr lang="en-US" sz="1300" b="1" dirty="0">
                          <a:solidFill>
                            <a:schemeClr val="tx1"/>
                          </a:solidFill>
                        </a:rPr>
                        <a:t>Direzione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Orientamento, finalità chiare, sponsorship, risorse, coerenza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640080">
                <a:tc>
                  <a:txBody>
                    <a:bodyPr/>
                    <a:lstStyle/>
                    <a:p>
                      <a:pPr indent="0" marL="0">
                        <a:buNone/>
                      </a:pPr>
                      <a:r>
                        <a:rPr lang="en-US" sz="1300" b="1" dirty="0">
                          <a:solidFill>
                            <a:schemeClr val="tx1"/>
                          </a:solidFill>
                        </a:rPr>
                        <a:t>Manager</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Tempo, ostacoli concreti, ascolto, sperimentazione controllata, valutazione equilibrata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640080">
                <a:tc>
                  <a:txBody>
                    <a:bodyPr/>
                    <a:lstStyle/>
                    <a:p>
                      <a:pPr indent="0" marL="0">
                        <a:buNone/>
                      </a:pPr>
                      <a:r>
                        <a:rPr lang="en-US" sz="1300" b="1" dirty="0">
                          <a:solidFill>
                            <a:schemeClr val="tx1"/>
                          </a:solidFill>
                        </a:rPr>
                        <a:t>Collaboratori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Provare con spirito critico, usare in modo appropriato, segnalare, condividere, mantenere le competenze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657600"/>
            <a:ext cx="8229600" cy="731520"/>
          </a:xfrm>
          <a:prstGeom prst="roundRect">
            <a:avLst>
              <a:gd name="adj" fmla="val 10000"/>
            </a:avLst>
          </a:prstGeom>
          <a:solidFill>
            <a:schemeClr val="tx1"/>
          </a:solidFill>
          <a:ln/>
        </p:spPr>
      </p:sp>
      <p:sp>
        <p:nvSpPr>
          <p:cNvPr id="16" name="Text 12"/>
          <p:cNvSpPr txBox="1"/>
          <p:nvPr/>
        </p:nvSpPr>
        <p:spPr>
          <a:xfrm>
            <a:off x="640080" y="3657600"/>
            <a:ext cx="7863840" cy="731520"/>
          </a:xfrm>
          <a:prstGeom prst="rect">
            <a:avLst/>
          </a:prstGeom>
          <a:noFill/>
          <a:ln/>
        </p:spPr>
        <p:txBody>
          <a:bodyPr wrap="square" lIns="0" tIns="0" rIns="0" bIns="0" rtlCol="0" anchor="ctr"/>
          <a:lstStyle/>
          <a:p>
            <a:pPr indent="0" marL="0">
              <a:buNone/>
            </a:pPr>
            <a:r>
              <a:rPr lang="en-US" sz="1500" dirty="0">
                <a:solidFill>
                  <a:schemeClr val="bg1"/>
                </a:solidFill>
              </a:rPr>
              <a:t>Una responsabilità condivisa: se uno dei tre livelli manca, gli altri due faticano.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leadership non deve solo promuovere l'AI: deve contribuire a rendere possibile il suo uso appropriato e utile.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16.3  ·  Leadership e management</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Competenze e formazione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corso introduttivo avvia l'apprendimento; la competenza operativa si consolida con l'applicazione e il confronto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Generali e per ruolo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base comune"/>
          <p:cNvSpPr/>
          <p:nvPr/>
        </p:nvSpPr>
        <p:spPr>
          <a:xfrm>
            <a:off x="457200" y="2743200"/>
            <a:ext cx="8229600" cy="868680"/>
          </a:xfrm>
          <a:prstGeom prst="roundRect">
            <a:avLst>
              <a:gd name="adj" fmla="val 8421"/>
            </a:avLst>
          </a:prstGeom>
          <a:solidFill>
            <a:schemeClr val="accent1"/>
          </a:solidFill>
          <a:ln/>
        </p:spPr>
      </p:sp>
      <p:sp>
        <p:nvSpPr>
          <p:cNvPr id="15" name="Text 12"/>
          <p:cNvSpPr txBox="1"/>
          <p:nvPr/>
        </p:nvSpPr>
        <p:spPr>
          <a:xfrm>
            <a:off x="640080" y="2743200"/>
            <a:ext cx="7863840" cy="868680"/>
          </a:xfrm>
          <a:prstGeom prst="rect">
            <a:avLst/>
          </a:prstGeom>
          <a:noFill/>
          <a:ln/>
        </p:spPr>
        <p:txBody>
          <a:bodyPr wrap="square" lIns="0" tIns="0" rIns="0" bIns="0" rtlCol="0" anchor="ctr"/>
          <a:lstStyle/>
          <a:p>
            <a:pPr indent="0" marL="0">
              <a:buNone/>
            </a:pPr>
            <a:r>
              <a:rPr lang="en-US" sz="1300" b="1" dirty="0">
                <a:solidFill>
                  <a:schemeClr val="bg1"/>
                </a:solidFill>
              </a:rPr>
              <a:t>Base comune: alfabetizzazione AI. </a:t>
            </a:r>
            <a:pPr indent="0" marL="0">
              <a:buNone/>
            </a:pPr>
            <a:r>
              <a:rPr lang="en-US" sz="1300" dirty="0">
                <a:solidFill>
                  <a:schemeClr val="bg1"/>
                </a:solidFill>
              </a:rPr>
              <a:t>Che cosa sono, come funzionano, limiti, richieste, verifica, regole.</a:t>
            </a:r>
            <a:endParaRPr lang="en-US" sz="1300" dirty="0"/>
          </a:p>
        </p:txBody>
      </p:sp>
      <p:sp>
        <p:nvSpPr>
          <p:cNvPr id="16" name="Commerciale"/>
          <p:cNvSpPr/>
          <p:nvPr/>
        </p:nvSpPr>
        <p:spPr>
          <a:xfrm>
            <a:off x="457200" y="1051560"/>
            <a:ext cx="1965960" cy="1508760"/>
          </a:xfrm>
          <a:prstGeom prst="roundRect">
            <a:avLst>
              <a:gd name="adj" fmla="val 4848"/>
            </a:avLst>
          </a:prstGeom>
          <a:solidFill>
            <a:schemeClr val="bg2"/>
          </a:solidFill>
          <a:ln/>
        </p:spPr>
      </p:sp>
      <p:sp>
        <p:nvSpPr>
          <p:cNvPr id="17" name="Text 14"/>
          <p:cNvSpPr txBox="1"/>
          <p:nvPr/>
        </p:nvSpPr>
        <p:spPr>
          <a:xfrm>
            <a:off x="566928" y="1143000"/>
            <a:ext cx="1746504" cy="365760"/>
          </a:xfrm>
          <a:prstGeom prst="rect">
            <a:avLst/>
          </a:prstGeom>
          <a:noFill/>
          <a:ln/>
        </p:spPr>
        <p:txBody>
          <a:bodyPr wrap="square" lIns="0" tIns="0" rIns="0" bIns="0" rtlCol="0" anchor="t"/>
          <a:lstStyle/>
          <a:p>
            <a:pPr indent="0" marL="0">
              <a:buNone/>
            </a:pPr>
            <a:r>
              <a:rPr lang="en-US" sz="1400" b="1" dirty="0">
                <a:solidFill>
                  <a:schemeClr val="accent1"/>
                </a:solidFill>
              </a:rPr>
              <a:t>Commerciale</a:t>
            </a:r>
            <a:endParaRPr lang="en-US" sz="1400" dirty="0"/>
          </a:p>
        </p:txBody>
      </p:sp>
      <p:sp>
        <p:nvSpPr>
          <p:cNvPr id="18" name="Text 15"/>
          <p:cNvSpPr txBox="1"/>
          <p:nvPr/>
        </p:nvSpPr>
        <p:spPr>
          <a:xfrm>
            <a:off x="566928" y="1554480"/>
            <a:ext cx="1746504" cy="822960"/>
          </a:xfrm>
          <a:prstGeom prst="rect">
            <a:avLst/>
          </a:prstGeom>
          <a:noFill/>
          <a:ln/>
        </p:spPr>
        <p:txBody>
          <a:bodyPr wrap="square" lIns="0" tIns="0" rIns="0" bIns="0" rtlCol="0" anchor="t"/>
          <a:lstStyle/>
          <a:p>
            <a:pPr indent="0" marL="0">
              <a:buNone/>
            </a:pPr>
            <a:r>
              <a:rPr lang="en-US" sz="1200" dirty="0">
                <a:solidFill>
                  <a:schemeClr val="tx1"/>
                </a:solidFill>
              </a:rPr>
              <a:t>Offerte, analisi delle richieste</a:t>
            </a:r>
            <a:endParaRPr lang="en-US" sz="1200" dirty="0"/>
          </a:p>
        </p:txBody>
      </p:sp>
      <p:sp>
        <p:nvSpPr>
          <p:cNvPr id="19" name="Amministrazione"/>
          <p:cNvSpPr/>
          <p:nvPr/>
        </p:nvSpPr>
        <p:spPr>
          <a:xfrm>
            <a:off x="2560320" y="1051560"/>
            <a:ext cx="1965960" cy="1508760"/>
          </a:xfrm>
          <a:prstGeom prst="roundRect">
            <a:avLst>
              <a:gd name="adj" fmla="val 4848"/>
            </a:avLst>
          </a:prstGeom>
          <a:solidFill>
            <a:schemeClr val="accent6"/>
          </a:solidFill>
          <a:ln/>
        </p:spPr>
      </p:sp>
      <p:sp>
        <p:nvSpPr>
          <p:cNvPr id="20" name="Text 17"/>
          <p:cNvSpPr txBox="1"/>
          <p:nvPr/>
        </p:nvSpPr>
        <p:spPr>
          <a:xfrm>
            <a:off x="2670048" y="1143000"/>
            <a:ext cx="1746504" cy="365760"/>
          </a:xfrm>
          <a:prstGeom prst="rect">
            <a:avLst/>
          </a:prstGeom>
          <a:noFill/>
          <a:ln/>
        </p:spPr>
        <p:txBody>
          <a:bodyPr wrap="square" lIns="0" tIns="0" rIns="0" bIns="0" rtlCol="0" anchor="t"/>
          <a:lstStyle/>
          <a:p>
            <a:pPr indent="0" marL="0">
              <a:buNone/>
            </a:pPr>
            <a:r>
              <a:rPr lang="en-US" sz="1400" b="1" dirty="0">
                <a:solidFill>
                  <a:schemeClr val="accent1"/>
                </a:solidFill>
              </a:rPr>
              <a:t>Amministrazione</a:t>
            </a:r>
            <a:endParaRPr lang="en-US" sz="1400" dirty="0"/>
          </a:p>
        </p:txBody>
      </p:sp>
      <p:sp>
        <p:nvSpPr>
          <p:cNvPr id="21" name="Text 18"/>
          <p:cNvSpPr txBox="1"/>
          <p:nvPr/>
        </p:nvSpPr>
        <p:spPr>
          <a:xfrm>
            <a:off x="2670048" y="1554480"/>
            <a:ext cx="1746504" cy="822960"/>
          </a:xfrm>
          <a:prstGeom prst="rect">
            <a:avLst/>
          </a:prstGeom>
          <a:noFill/>
          <a:ln/>
        </p:spPr>
        <p:txBody>
          <a:bodyPr wrap="square" lIns="0" tIns="0" rIns="0" bIns="0" rtlCol="0" anchor="t"/>
          <a:lstStyle/>
          <a:p>
            <a:pPr indent="0" marL="0">
              <a:buNone/>
            </a:pPr>
            <a:r>
              <a:rPr lang="en-US" sz="1200" dirty="0">
                <a:solidFill>
                  <a:schemeClr val="tx1"/>
                </a:solidFill>
              </a:rPr>
              <a:t>Controllo dei documenti</a:t>
            </a:r>
            <a:endParaRPr lang="en-US" sz="1200" dirty="0"/>
          </a:p>
        </p:txBody>
      </p:sp>
      <p:sp>
        <p:nvSpPr>
          <p:cNvPr id="22" name="Tecnico"/>
          <p:cNvSpPr/>
          <p:nvPr/>
        </p:nvSpPr>
        <p:spPr>
          <a:xfrm>
            <a:off x="4663440" y="1051560"/>
            <a:ext cx="1965960" cy="1508760"/>
          </a:xfrm>
          <a:prstGeom prst="roundRect">
            <a:avLst>
              <a:gd name="adj" fmla="val 4848"/>
            </a:avLst>
          </a:prstGeom>
          <a:solidFill>
            <a:schemeClr val="bg2"/>
          </a:solidFill>
          <a:ln/>
        </p:spPr>
      </p:sp>
      <p:sp>
        <p:nvSpPr>
          <p:cNvPr id="23" name="Text 20"/>
          <p:cNvSpPr txBox="1"/>
          <p:nvPr/>
        </p:nvSpPr>
        <p:spPr>
          <a:xfrm>
            <a:off x="4773168" y="1143000"/>
            <a:ext cx="1746504" cy="365760"/>
          </a:xfrm>
          <a:prstGeom prst="rect">
            <a:avLst/>
          </a:prstGeom>
          <a:noFill/>
          <a:ln/>
        </p:spPr>
        <p:txBody>
          <a:bodyPr wrap="square" lIns="0" tIns="0" rIns="0" bIns="0" rtlCol="0" anchor="t"/>
          <a:lstStyle/>
          <a:p>
            <a:pPr indent="0" marL="0">
              <a:buNone/>
            </a:pPr>
            <a:r>
              <a:rPr lang="en-US" sz="1400" b="1" dirty="0">
                <a:solidFill>
                  <a:schemeClr val="accent1"/>
                </a:solidFill>
              </a:rPr>
              <a:t>Tecnico</a:t>
            </a:r>
            <a:endParaRPr lang="en-US" sz="1400" dirty="0"/>
          </a:p>
        </p:txBody>
      </p:sp>
      <p:sp>
        <p:nvSpPr>
          <p:cNvPr id="24" name="Text 21"/>
          <p:cNvSpPr txBox="1"/>
          <p:nvPr/>
        </p:nvSpPr>
        <p:spPr>
          <a:xfrm>
            <a:off x="4773168" y="1554480"/>
            <a:ext cx="1746504" cy="822960"/>
          </a:xfrm>
          <a:prstGeom prst="rect">
            <a:avLst/>
          </a:prstGeom>
          <a:noFill/>
          <a:ln/>
        </p:spPr>
        <p:txBody>
          <a:bodyPr wrap="square" lIns="0" tIns="0" rIns="0" bIns="0" rtlCol="0" anchor="t"/>
          <a:lstStyle/>
          <a:p>
            <a:pPr indent="0" marL="0">
              <a:buNone/>
            </a:pPr>
            <a:r>
              <a:rPr lang="en-US" sz="1200" dirty="0">
                <a:solidFill>
                  <a:schemeClr val="tx1"/>
                </a:solidFill>
              </a:rPr>
              <a:t>Manuali, diagnosi</a:t>
            </a:r>
            <a:endParaRPr lang="en-US" sz="1200" dirty="0"/>
          </a:p>
        </p:txBody>
      </p:sp>
      <p:sp>
        <p:nvSpPr>
          <p:cNvPr id="25" name="Assistenza"/>
          <p:cNvSpPr/>
          <p:nvPr/>
        </p:nvSpPr>
        <p:spPr>
          <a:xfrm>
            <a:off x="6766560" y="1051560"/>
            <a:ext cx="1965960" cy="1508760"/>
          </a:xfrm>
          <a:prstGeom prst="roundRect">
            <a:avLst>
              <a:gd name="adj" fmla="val 4848"/>
            </a:avLst>
          </a:prstGeom>
          <a:solidFill>
            <a:schemeClr val="accent6"/>
          </a:solidFill>
          <a:ln/>
        </p:spPr>
      </p:sp>
      <p:sp>
        <p:nvSpPr>
          <p:cNvPr id="26" name="Text 23"/>
          <p:cNvSpPr txBox="1"/>
          <p:nvPr/>
        </p:nvSpPr>
        <p:spPr>
          <a:xfrm>
            <a:off x="6876288" y="1143000"/>
            <a:ext cx="1746504" cy="365760"/>
          </a:xfrm>
          <a:prstGeom prst="rect">
            <a:avLst/>
          </a:prstGeom>
          <a:noFill/>
          <a:ln/>
        </p:spPr>
        <p:txBody>
          <a:bodyPr wrap="square" lIns="0" tIns="0" rIns="0" bIns="0" rtlCol="0" anchor="t"/>
          <a:lstStyle/>
          <a:p>
            <a:pPr indent="0" marL="0">
              <a:buNone/>
            </a:pPr>
            <a:r>
              <a:rPr lang="en-US" sz="1400" b="1" dirty="0">
                <a:solidFill>
                  <a:schemeClr val="accent1"/>
                </a:solidFill>
              </a:rPr>
              <a:t>Assistenza</a:t>
            </a:r>
            <a:endParaRPr lang="en-US" sz="1400" dirty="0"/>
          </a:p>
        </p:txBody>
      </p:sp>
      <p:sp>
        <p:nvSpPr>
          <p:cNvPr id="27" name="Text 24"/>
          <p:cNvSpPr txBox="1"/>
          <p:nvPr/>
        </p:nvSpPr>
        <p:spPr>
          <a:xfrm>
            <a:off x="6876288" y="1554480"/>
            <a:ext cx="1746504" cy="822960"/>
          </a:xfrm>
          <a:prstGeom prst="rect">
            <a:avLst/>
          </a:prstGeom>
          <a:noFill/>
          <a:ln/>
        </p:spPr>
        <p:txBody>
          <a:bodyPr wrap="square" lIns="0" tIns="0" rIns="0" bIns="0" rtlCol="0" anchor="t"/>
          <a:lstStyle/>
          <a:p>
            <a:pPr indent="0" marL="0">
              <a:buNone/>
            </a:pPr>
            <a:r>
              <a:rPr lang="en-US" sz="1200" dirty="0">
                <a:solidFill>
                  <a:schemeClr val="tx1"/>
                </a:solidFill>
              </a:rPr>
              <a:t>Risposte, sintesi dei casi</a:t>
            </a:r>
            <a:endParaRPr lang="en-US" sz="1200" dirty="0"/>
          </a:p>
        </p:txBody>
      </p:sp>
      <p:sp>
        <p:nvSpPr>
          <p:cNvPr id="28" name="messaggio"/>
          <p:cNvSpPr/>
          <p:nvPr/>
        </p:nvSpPr>
        <p:spPr>
          <a:xfrm>
            <a:off x="457200" y="3749040"/>
            <a:ext cx="8229600" cy="731520"/>
          </a:xfrm>
          <a:prstGeom prst="roundRect">
            <a:avLst>
              <a:gd name="adj" fmla="val 10000"/>
            </a:avLst>
          </a:prstGeom>
          <a:solidFill>
            <a:schemeClr val="tx1"/>
          </a:solidFill>
          <a:ln/>
        </p:spPr>
      </p:sp>
      <p:sp>
        <p:nvSpPr>
          <p:cNvPr id="29" name="Text 26"/>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Esigenze differenziate: troppo generica per alcuni, troppo specifica per altri. L'obiettivo è usarlo bene nel proprio lavoro.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competenze che restano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Giudicare richiede competenza"/>
          <p:cNvSpPr/>
          <p:nvPr/>
        </p:nvSpPr>
        <p:spPr>
          <a:xfrm>
            <a:off x="457200" y="1051560"/>
            <a:ext cx="3977640" cy="2423160"/>
          </a:xfrm>
          <a:prstGeom prst="roundRect">
            <a:avLst>
              <a:gd name="adj" fmla="val 3019"/>
            </a:avLst>
          </a:prstGeom>
          <a:solidFill>
            <a:schemeClr val="bg2"/>
          </a:solidFill>
          <a:ln/>
        </p:spPr>
      </p:sp>
      <p:sp>
        <p:nvSpPr>
          <p:cNvPr id="15" name="cerchio FiAward"/>
          <p:cNvSpPr/>
          <p:nvPr/>
        </p:nvSpPr>
        <p:spPr>
          <a:xfrm>
            <a:off x="640080" y="1234440"/>
            <a:ext cx="457200" cy="457200"/>
          </a:xfrm>
          <a:prstGeom prst="ellipse">
            <a:avLst/>
          </a:prstGeom>
          <a:solidFill>
            <a:schemeClr val="accent1"/>
          </a:solidFill>
          <a:ln/>
        </p:spPr>
      </p:sp>
      <p:sp>
        <p:nvSpPr>
          <p:cNvPr id="16" name="scheda Conseguenze per la formazione"/>
          <p:cNvSpPr/>
          <p:nvPr/>
        </p:nvSpPr>
        <p:spPr>
          <a:xfrm>
            <a:off x="4709160" y="1051560"/>
            <a:ext cx="3977640" cy="2423160"/>
          </a:xfrm>
          <a:prstGeom prst="roundRect">
            <a:avLst>
              <a:gd name="adj" fmla="val 3019"/>
            </a:avLst>
          </a:prstGeom>
          <a:solidFill>
            <a:schemeClr val="accent6"/>
          </a:solidFill>
          <a:ln/>
        </p:spPr>
      </p:sp>
      <p:sp>
        <p:nvSpPr>
          <p:cNvPr id="17" name="cerchio FiBookOpen"/>
          <p:cNvSpPr/>
          <p:nvPr/>
        </p:nvSpPr>
        <p:spPr>
          <a:xfrm>
            <a:off x="4892040" y="1234440"/>
            <a:ext cx="457200" cy="457200"/>
          </a:xfrm>
          <a:prstGeom prst="ellipse">
            <a:avLst/>
          </a:prstGeom>
          <a:solidFill>
            <a:schemeClr val="accent1"/>
          </a:solidFill>
          <a:ln/>
        </p:spPr>
      </p:sp>
      <p:pic>
        <p:nvPicPr>
          <p:cNvPr id="18" name="Image 0" descr="FiBookOpen">    </p:cNvPr>
          <p:cNvPicPr>
            <a:picLocks noChangeAspect="1"/>
          </p:cNvPicPr>
          <p:nvPr/>
        </p:nvPicPr>
        <p:blipFill>
          <a:blip r:embed="rId1"/>
          <a:stretch>
            <a:fillRect/>
          </a:stretch>
        </p:blipFill>
        <p:spPr>
          <a:xfrm>
            <a:off x="5006340" y="1348740"/>
            <a:ext cx="228600" cy="228600"/>
          </a:xfrm>
          <a:prstGeom prst="rect">
            <a:avLst/>
          </a:prstGeom>
        </p:spPr>
      </p:pic>
      <p:sp>
        <p:nvSpPr>
          <p:cNvPr id="19"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Conseguenze per la formazione</a:t>
            </a:r>
            <a:endParaRPr lang="en-US" sz="1500" dirty="0"/>
          </a:p>
        </p:txBody>
      </p:sp>
      <p:sp>
        <p:nvSpPr>
          <p:cNvPr id="20" name="Text 16"/>
          <p:cNvSpPr txBox="1"/>
          <p:nvPr/>
        </p:nvSpPr>
        <p:spPr>
          <a:xfrm>
            <a:off x="489204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Collegare lo strumento alle competenze professionali</a:t>
            </a:r>
            <a:endParaRPr lang="en-US" sz="1300" dirty="0"/>
          </a:p>
          <a:p>
            <a:pPr marL="177800" indent="-177800">
              <a:spcAft>
                <a:spcPts val="400"/>
              </a:spcAft>
              <a:buSzPct val="100000"/>
              <a:buChar char="•"/>
            </a:pPr>
            <a:r>
              <a:rPr lang="en-US" sz="1300" dirty="0">
                <a:solidFill>
                  <a:schemeClr val="tx2"/>
                </a:solidFill>
              </a:rPr>
              <a:t>Mostrare il giudizio esperto che guida e controlla</a:t>
            </a:r>
            <a:endParaRPr lang="en-US" sz="1300" dirty="0"/>
          </a:p>
          <a:p>
            <a:pPr marL="177800" indent="-177800">
              <a:spcAft>
                <a:spcPts val="400"/>
              </a:spcAft>
              <a:buSzPct val="100000"/>
              <a:buChar char="•"/>
            </a:pPr>
            <a:r>
              <a:rPr lang="en-US" sz="1300" dirty="0">
                <a:solidFill>
                  <a:schemeClr val="tx2"/>
                </a:solidFill>
              </a:rPr>
              <a:t>Coinvolgere gli esperti, anche scettici</a:t>
            </a:r>
            <a:endParaRPr lang="en-US" sz="1300" dirty="0"/>
          </a:p>
        </p:txBody>
      </p:sp>
      <p:pic>
        <p:nvPicPr>
          <p:cNvPr id="21" name="Image 1" descr="FiAward">    </p:cNvPr>
          <p:cNvPicPr>
            <a:picLocks noChangeAspect="1"/>
          </p:cNvPicPr>
          <p:nvPr/>
        </p:nvPicPr>
        <p:blipFill>
          <a:blip r:embed="rId2"/>
          <a:stretch>
            <a:fillRect/>
          </a:stretch>
        </p:blipFill>
        <p:spPr>
          <a:xfrm>
            <a:off x="75438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Giudicare richiede competenza</a:t>
            </a:r>
            <a:endParaRPr lang="en-US" sz="1500" dirty="0"/>
          </a:p>
        </p:txBody>
      </p:sp>
      <p:sp>
        <p:nvSpPr>
          <p:cNvPr id="23" name="Text 18"/>
          <p:cNvSpPr txBox="1"/>
          <p:nvPr/>
        </p:nvSpPr>
        <p:spPr>
          <a:xfrm>
            <a:off x="640080" y="2185416"/>
            <a:ext cx="3611880" cy="1179576"/>
          </a:xfrm>
          <a:prstGeom prst="rect">
            <a:avLst/>
          </a:prstGeom>
          <a:noFill/>
          <a:ln/>
        </p:spPr>
        <p:txBody>
          <a:bodyPr wrap="square" lIns="0" tIns="0" rIns="0" bIns="0" rtlCol="0" anchor="t"/>
          <a:lstStyle/>
          <a:p>
            <a:pPr indent="0" marL="0">
              <a:buNone/>
            </a:pPr>
            <a:r>
              <a:rPr lang="en-US" sz="1300" dirty="0">
                <a:solidFill>
                  <a:schemeClr val="tx2"/>
                </a:solidFill>
              </a:rPr>
              <a:t>Per giudicare un'offerta dell'AI serve sapere com'è fatta una buona offerta.</a:t>
            </a:r>
            <a:endParaRPr lang="en-US" sz="1300" dirty="0"/>
          </a:p>
          <a:p>
            <a:pPr indent="0" marL="0">
              <a:buNone/>
            </a:pPr>
            <a:endParaRPr lang="en-US" sz="1300" dirty="0"/>
          </a:p>
          <a:p>
            <a:pPr indent="0" marL="0">
              <a:buNone/>
            </a:pPr>
            <a:r>
              <a:rPr lang="en-US" sz="1300" dirty="0">
                <a:solidFill>
                  <a:schemeClr val="tx2"/>
                </a:solidFill>
              </a:rPr>
              <a:t>L'esperienza è decisiva per riconoscere gli errori.</a:t>
            </a:r>
            <a:endParaRPr lang="en-US" sz="1300" dirty="0"/>
          </a:p>
        </p:txBody>
      </p:sp>
      <p:sp>
        <p:nvSpPr>
          <p:cNvPr id="24" name="messaggio"/>
          <p:cNvSpPr/>
          <p:nvPr/>
        </p:nvSpPr>
        <p:spPr>
          <a:xfrm>
            <a:off x="457200" y="3657600"/>
            <a:ext cx="8229600" cy="777240"/>
          </a:xfrm>
          <a:prstGeom prst="roundRect">
            <a:avLst>
              <a:gd name="adj" fmla="val 9412"/>
            </a:avLst>
          </a:prstGeom>
          <a:solidFill>
            <a:schemeClr val="tx1"/>
          </a:solidFill>
          <a:ln/>
        </p:spPr>
      </p:sp>
      <p:sp>
        <p:nvSpPr>
          <p:cNvPr id="25" name="Text 20"/>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Le competenze professionali non diventano inutili: diventano la condizione per usare l'AI in modo appropriato.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si impara davvero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14" name="Chart 0" descr=""/>
          <p:cNvGraphicFramePr/>
          <p:nvPr/>
        </p:nvGraphicFramePr>
        <p:xfrm>
          <a:off x="365760" y="960120"/>
          <a:ext cx="4206240" cy="2514600"/>
        </p:xfrm>
        <a:graphic xmlns:a="http://schemas.openxmlformats.org/drawingml/2006/main">
          <a:graphicData uri="http://schemas.openxmlformats.org/drawingml/2006/chart">
            <c:chart xmlns:c="http://schemas.openxmlformats.org/drawingml/2006/chart" r:id="rId1"/>
          </a:graphicData>
        </a:graphic>
      </p:graphicFrame>
      <p:sp>
        <p:nvSpPr>
          <p:cNvPr id="15" name="riga 0"/>
          <p:cNvSpPr/>
          <p:nvPr/>
        </p:nvSpPr>
        <p:spPr>
          <a:xfrm>
            <a:off x="4846320" y="1051560"/>
            <a:ext cx="3840480" cy="457200"/>
          </a:xfrm>
          <a:prstGeom prst="roundRect">
            <a:avLst>
              <a:gd name="adj" fmla="val 16000"/>
            </a:avLst>
          </a:prstGeom>
          <a:solidFill>
            <a:schemeClr val="bg2"/>
          </a:solidFill>
          <a:ln/>
        </p:spPr>
      </p:sp>
      <p:sp>
        <p:nvSpPr>
          <p:cNvPr id="16" name="Text 12"/>
          <p:cNvSpPr txBox="1"/>
          <p:nvPr/>
        </p:nvSpPr>
        <p:spPr>
          <a:xfrm>
            <a:off x="5029200" y="1051560"/>
            <a:ext cx="3474720" cy="457200"/>
          </a:xfrm>
          <a:prstGeom prst="rect">
            <a:avLst/>
          </a:prstGeom>
          <a:noFill/>
          <a:ln/>
        </p:spPr>
        <p:txBody>
          <a:bodyPr wrap="square" lIns="0" tIns="0" rIns="0" bIns="0" rtlCol="0" anchor="ctr"/>
          <a:lstStyle/>
          <a:p>
            <a:pPr indent="0" marL="0">
              <a:buNone/>
            </a:pPr>
            <a:r>
              <a:rPr lang="en-US" sz="1200" dirty="0">
                <a:solidFill>
                  <a:schemeClr val="tx1"/>
                </a:solidFill>
              </a:rPr>
              <a:t>Esempi vicini alle attività quotidiane</a:t>
            </a:r>
            <a:endParaRPr lang="en-US" sz="1200" dirty="0"/>
          </a:p>
        </p:txBody>
      </p:sp>
      <p:sp>
        <p:nvSpPr>
          <p:cNvPr id="17" name="riga 1"/>
          <p:cNvSpPr/>
          <p:nvPr/>
        </p:nvSpPr>
        <p:spPr>
          <a:xfrm>
            <a:off x="4846320" y="1581912"/>
            <a:ext cx="3840480" cy="457200"/>
          </a:xfrm>
          <a:prstGeom prst="roundRect">
            <a:avLst>
              <a:gd name="adj" fmla="val 16000"/>
            </a:avLst>
          </a:prstGeom>
          <a:solidFill>
            <a:schemeClr val="bg1"/>
          </a:solidFill>
          <a:ln/>
        </p:spPr>
      </p:sp>
      <p:sp>
        <p:nvSpPr>
          <p:cNvPr id="18" name="Text 14"/>
          <p:cNvSpPr txBox="1"/>
          <p:nvPr/>
        </p:nvSpPr>
        <p:spPr>
          <a:xfrm>
            <a:off x="5029200" y="1581912"/>
            <a:ext cx="3474720" cy="457200"/>
          </a:xfrm>
          <a:prstGeom prst="rect">
            <a:avLst/>
          </a:prstGeom>
          <a:noFill/>
          <a:ln/>
        </p:spPr>
        <p:txBody>
          <a:bodyPr wrap="square" lIns="0" tIns="0" rIns="0" bIns="0" rtlCol="0" anchor="ctr"/>
          <a:lstStyle/>
          <a:p>
            <a:pPr indent="0" marL="0">
              <a:buNone/>
            </a:pPr>
            <a:r>
              <a:rPr lang="en-US" sz="1200" dirty="0">
                <a:solidFill>
                  <a:schemeClr val="tx1"/>
                </a:solidFill>
              </a:rPr>
              <a:t>Esercitazione, feedback, confronto</a:t>
            </a:r>
            <a:endParaRPr lang="en-US" sz="1200" dirty="0"/>
          </a:p>
        </p:txBody>
      </p:sp>
      <p:sp>
        <p:nvSpPr>
          <p:cNvPr id="19" name="riga 2"/>
          <p:cNvSpPr/>
          <p:nvPr/>
        </p:nvSpPr>
        <p:spPr>
          <a:xfrm>
            <a:off x="4846320" y="2112264"/>
            <a:ext cx="3840480" cy="457200"/>
          </a:xfrm>
          <a:prstGeom prst="roundRect">
            <a:avLst>
              <a:gd name="adj" fmla="val 16000"/>
            </a:avLst>
          </a:prstGeom>
          <a:solidFill>
            <a:schemeClr val="bg2"/>
          </a:solidFill>
          <a:ln/>
        </p:spPr>
      </p:sp>
      <p:sp>
        <p:nvSpPr>
          <p:cNvPr id="20" name="Text 16"/>
          <p:cNvSpPr txBox="1"/>
          <p:nvPr/>
        </p:nvSpPr>
        <p:spPr>
          <a:xfrm>
            <a:off x="5029200" y="2112264"/>
            <a:ext cx="3474720" cy="457200"/>
          </a:xfrm>
          <a:prstGeom prst="rect">
            <a:avLst/>
          </a:prstGeom>
          <a:noFill/>
          <a:ln/>
        </p:spPr>
        <p:txBody>
          <a:bodyPr wrap="square" lIns="0" tIns="0" rIns="0" bIns="0" rtlCol="0" anchor="ctr"/>
          <a:lstStyle/>
          <a:p>
            <a:pPr indent="0" marL="0">
              <a:buNone/>
            </a:pPr>
            <a:r>
              <a:rPr lang="en-US" sz="1200" dirty="0">
                <a:solidFill>
                  <a:schemeClr val="tx1"/>
                </a:solidFill>
              </a:rPr>
              <a:t>Apprendimento tra colleghi</a:t>
            </a:r>
            <a:endParaRPr lang="en-US" sz="1200" dirty="0"/>
          </a:p>
        </p:txBody>
      </p:sp>
      <p:sp>
        <p:nvSpPr>
          <p:cNvPr id="21" name="riga 3"/>
          <p:cNvSpPr/>
          <p:nvPr/>
        </p:nvSpPr>
        <p:spPr>
          <a:xfrm>
            <a:off x="4846320" y="2642616"/>
            <a:ext cx="3840480" cy="457200"/>
          </a:xfrm>
          <a:prstGeom prst="roundRect">
            <a:avLst>
              <a:gd name="adj" fmla="val 16000"/>
            </a:avLst>
          </a:prstGeom>
          <a:solidFill>
            <a:schemeClr val="bg1"/>
          </a:solidFill>
          <a:ln/>
        </p:spPr>
      </p:sp>
      <p:sp>
        <p:nvSpPr>
          <p:cNvPr id="22" name="Text 18"/>
          <p:cNvSpPr txBox="1"/>
          <p:nvPr/>
        </p:nvSpPr>
        <p:spPr>
          <a:xfrm>
            <a:off x="5029200" y="2642616"/>
            <a:ext cx="3474720" cy="457200"/>
          </a:xfrm>
          <a:prstGeom prst="rect">
            <a:avLst/>
          </a:prstGeom>
          <a:noFill/>
          <a:ln/>
        </p:spPr>
        <p:txBody>
          <a:bodyPr wrap="square" lIns="0" tIns="0" rIns="0" bIns="0" rtlCol="0" anchor="ctr"/>
          <a:lstStyle/>
          <a:p>
            <a:pPr indent="0" marL="0">
              <a:buNone/>
            </a:pPr>
            <a:r>
              <a:rPr lang="en-US" sz="1200" dirty="0">
                <a:solidFill>
                  <a:schemeClr val="tx1"/>
                </a:solidFill>
              </a:rPr>
              <a:t>Occasioni concrete per applicare</a:t>
            </a:r>
            <a:endParaRPr lang="en-US" sz="1200" dirty="0"/>
          </a:p>
        </p:txBody>
      </p:sp>
      <p:sp>
        <p:nvSpPr>
          <p:cNvPr id="23" name="messaggio"/>
          <p:cNvSpPr/>
          <p:nvPr/>
        </p:nvSpPr>
        <p:spPr>
          <a:xfrm>
            <a:off x="457200" y="3611880"/>
            <a:ext cx="8229600" cy="731520"/>
          </a:xfrm>
          <a:prstGeom prst="roundRect">
            <a:avLst>
              <a:gd name="adj" fmla="val 10000"/>
            </a:avLst>
          </a:prstGeom>
          <a:solidFill>
            <a:schemeClr val="tx1"/>
          </a:solidFill>
          <a:ln/>
        </p:spPr>
      </p:sp>
      <p:sp>
        <p:nvSpPr>
          <p:cNvPr id="24" name="Text 20"/>
          <p:cNvSpPr txBox="1"/>
          <p:nvPr/>
        </p:nvSpPr>
        <p:spPr>
          <a:xfrm>
            <a:off x="640080" y="3611880"/>
            <a:ext cx="7863840" cy="731520"/>
          </a:xfrm>
          <a:prstGeom prst="rect">
            <a:avLst/>
          </a:prstGeom>
          <a:noFill/>
          <a:ln/>
        </p:spPr>
        <p:txBody>
          <a:bodyPr wrap="square" lIns="0" tIns="0" rIns="0" bIns="0" rtlCol="0" anchor="ctr"/>
          <a:lstStyle/>
          <a:p>
            <a:pPr indent="0" marL="0">
              <a:buNone/>
            </a:pPr>
            <a:r>
              <a:rPr lang="en-US" sz="1300" dirty="0">
                <a:solidFill>
                  <a:schemeClr val="bg1"/>
                </a:solidFill>
              </a:rPr>
              <a:t>La formazione in aula come innesco di un apprendimento che continua nel lavoro e tra colleghi.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Dall'aula al lavoro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Formazione"/>
          <p:cNvSpPr/>
          <p:nvPr/>
        </p:nvSpPr>
        <p:spPr>
          <a:xfrm>
            <a:off x="457200" y="1051560"/>
            <a:ext cx="1481328" cy="2011680"/>
          </a:xfrm>
          <a:prstGeom prst="roundRect">
            <a:avLst>
              <a:gd name="adj" fmla="val 4938"/>
            </a:avLst>
          </a:prstGeom>
          <a:solidFill>
            <a:schemeClr val="bg2"/>
          </a:solidFill>
          <a:ln/>
        </p:spPr>
      </p:sp>
      <p:sp>
        <p:nvSpPr>
          <p:cNvPr id="15" name="cerchio FiBookOpen"/>
          <p:cNvSpPr/>
          <p:nvPr/>
        </p:nvSpPr>
        <p:spPr>
          <a:xfrm>
            <a:off x="914400" y="1143000"/>
            <a:ext cx="548640" cy="548640"/>
          </a:xfrm>
          <a:prstGeom prst="ellipse">
            <a:avLst/>
          </a:prstGeom>
          <a:solidFill>
            <a:schemeClr val="accent1"/>
          </a:solidFill>
          <a:ln/>
        </p:spPr>
      </p:sp>
      <p:pic>
        <p:nvPicPr>
          <p:cNvPr id="16" name="Image 0" descr="FiBookOpen">    </p:cNvPr>
          <p:cNvPicPr>
            <a:picLocks noChangeAspect="1"/>
          </p:cNvPicPr>
          <p:nvPr/>
        </p:nvPicPr>
        <p:blipFill>
          <a:blip r:embed="rId1"/>
          <a:stretch>
            <a:fillRect/>
          </a:stretch>
        </p:blipFill>
        <p:spPr>
          <a:xfrm>
            <a:off x="1051560" y="1280160"/>
            <a:ext cx="274320" cy="274320"/>
          </a:xfrm>
          <a:prstGeom prst="rect">
            <a:avLst/>
          </a:prstGeom>
        </p:spPr>
      </p:pic>
      <p:sp>
        <p:nvSpPr>
          <p:cNvPr id="17" name="Text 13"/>
          <p:cNvSpPr txBox="1"/>
          <p:nvPr/>
        </p:nvSpPr>
        <p:spPr>
          <a:xfrm>
            <a:off x="530352" y="1783080"/>
            <a:ext cx="1335024" cy="457200"/>
          </a:xfrm>
          <a:prstGeom prst="rect">
            <a:avLst/>
          </a:prstGeom>
          <a:noFill/>
          <a:ln/>
        </p:spPr>
        <p:txBody>
          <a:bodyPr wrap="square" lIns="0" tIns="0" rIns="0" bIns="0" rtlCol="0" anchor="ctr"/>
          <a:lstStyle/>
          <a:p>
            <a:pPr algn="ctr" indent="0" marL="0">
              <a:buNone/>
            </a:pPr>
            <a:r>
              <a:rPr lang="en-US" sz="1200" b="1" dirty="0">
                <a:solidFill>
                  <a:schemeClr val="tx1"/>
                </a:solidFill>
              </a:rPr>
              <a:t>Formazione</a:t>
            </a:r>
            <a:endParaRPr lang="en-US" sz="1200" dirty="0"/>
          </a:p>
        </p:txBody>
      </p:sp>
      <p:sp>
        <p:nvSpPr>
          <p:cNvPr id="18" name="Text 14"/>
          <p:cNvSpPr txBox="1"/>
          <p:nvPr/>
        </p:nvSpPr>
        <p:spPr>
          <a:xfrm>
            <a:off x="530352" y="2286000"/>
            <a:ext cx="1335024" cy="685800"/>
          </a:xfrm>
          <a:prstGeom prst="rect">
            <a:avLst/>
          </a:prstGeom>
          <a:noFill/>
          <a:ln/>
        </p:spPr>
        <p:txBody>
          <a:bodyPr wrap="square" lIns="0" tIns="0" rIns="0" bIns="0" rtlCol="0" anchor="t"/>
          <a:lstStyle/>
          <a:p>
            <a:pPr algn="ctr" indent="0" marL="0">
              <a:buNone/>
            </a:pPr>
            <a:r>
              <a:rPr lang="en-US" sz="1100" dirty="0">
                <a:solidFill>
                  <a:schemeClr val="tx2"/>
                </a:solidFill>
              </a:rPr>
              <a:t>Necessaria, non sufficiente</a:t>
            </a:r>
            <a:endParaRPr lang="en-US" sz="1100" dirty="0"/>
          </a:p>
        </p:txBody>
      </p:sp>
      <p:sp>
        <p:nvSpPr>
          <p:cNvPr id="19" name="freccia"/>
          <p:cNvSpPr/>
          <p:nvPr/>
        </p:nvSpPr>
        <p:spPr>
          <a:xfrm>
            <a:off x="1947672" y="1920240"/>
            <a:ext cx="173736" cy="292608"/>
          </a:xfrm>
          <a:prstGeom prst="rightArrow">
            <a:avLst/>
          </a:prstGeom>
          <a:solidFill>
            <a:schemeClr val="accent2"/>
          </a:solidFill>
          <a:ln/>
        </p:spPr>
      </p:sp>
      <p:sp>
        <p:nvSpPr>
          <p:cNvPr id="20" name="Strumenti adeguati"/>
          <p:cNvSpPr/>
          <p:nvPr/>
        </p:nvSpPr>
        <p:spPr>
          <a:xfrm>
            <a:off x="2139696" y="1051560"/>
            <a:ext cx="1481328" cy="2011680"/>
          </a:xfrm>
          <a:prstGeom prst="roundRect">
            <a:avLst>
              <a:gd name="adj" fmla="val 4938"/>
            </a:avLst>
          </a:prstGeom>
          <a:solidFill>
            <a:schemeClr val="bg2"/>
          </a:solidFill>
          <a:ln/>
        </p:spPr>
      </p:sp>
      <p:sp>
        <p:nvSpPr>
          <p:cNvPr id="21" name="cerchio FiTool"/>
          <p:cNvSpPr/>
          <p:nvPr/>
        </p:nvSpPr>
        <p:spPr>
          <a:xfrm>
            <a:off x="2596896" y="1143000"/>
            <a:ext cx="548640" cy="548640"/>
          </a:xfrm>
          <a:prstGeom prst="ellipse">
            <a:avLst/>
          </a:prstGeom>
          <a:solidFill>
            <a:schemeClr val="accent1"/>
          </a:solidFill>
          <a:ln/>
        </p:spPr>
      </p:sp>
      <p:pic>
        <p:nvPicPr>
          <p:cNvPr id="22" name="Image 1" descr="FiTool">    </p:cNvPr>
          <p:cNvPicPr>
            <a:picLocks noChangeAspect="1"/>
          </p:cNvPicPr>
          <p:nvPr/>
        </p:nvPicPr>
        <p:blipFill>
          <a:blip r:embed="rId2"/>
          <a:stretch>
            <a:fillRect/>
          </a:stretch>
        </p:blipFill>
        <p:spPr>
          <a:xfrm>
            <a:off x="2734056" y="1280160"/>
            <a:ext cx="274320" cy="274320"/>
          </a:xfrm>
          <a:prstGeom prst="rect">
            <a:avLst/>
          </a:prstGeom>
        </p:spPr>
      </p:pic>
      <p:sp>
        <p:nvSpPr>
          <p:cNvPr id="23" name="Text 18"/>
          <p:cNvSpPr txBox="1"/>
          <p:nvPr/>
        </p:nvSpPr>
        <p:spPr>
          <a:xfrm>
            <a:off x="2212848" y="1783080"/>
            <a:ext cx="1335024" cy="457200"/>
          </a:xfrm>
          <a:prstGeom prst="rect">
            <a:avLst/>
          </a:prstGeom>
          <a:noFill/>
          <a:ln/>
        </p:spPr>
        <p:txBody>
          <a:bodyPr wrap="square" lIns="0" tIns="0" rIns="0" bIns="0" rtlCol="0" anchor="ctr"/>
          <a:lstStyle/>
          <a:p>
            <a:pPr algn="ctr" indent="0" marL="0">
              <a:buNone/>
            </a:pPr>
            <a:r>
              <a:rPr lang="en-US" sz="1200" b="1" dirty="0">
                <a:solidFill>
                  <a:schemeClr val="tx1"/>
                </a:solidFill>
              </a:rPr>
              <a:t>Strumenti adeguati</a:t>
            </a:r>
            <a:endParaRPr lang="en-US" sz="1200" dirty="0"/>
          </a:p>
        </p:txBody>
      </p:sp>
      <p:sp>
        <p:nvSpPr>
          <p:cNvPr id="24" name="Text 19"/>
          <p:cNvSpPr txBox="1"/>
          <p:nvPr/>
        </p:nvSpPr>
        <p:spPr>
          <a:xfrm>
            <a:off x="2212848" y="2286000"/>
            <a:ext cx="1335024" cy="685800"/>
          </a:xfrm>
          <a:prstGeom prst="rect">
            <a:avLst/>
          </a:prstGeom>
          <a:noFill/>
          <a:ln/>
        </p:spPr>
        <p:txBody>
          <a:bodyPr wrap="square" lIns="0" tIns="0" rIns="0" bIns="0" rtlCol="0" anchor="t"/>
          <a:lstStyle/>
          <a:p>
            <a:pPr algn="ctr" indent="0" marL="0">
              <a:buNone/>
            </a:pPr>
            <a:r>
              <a:rPr lang="en-US" sz="1100" dirty="0">
                <a:solidFill>
                  <a:schemeClr val="tx2"/>
                </a:solidFill>
              </a:rPr>
              <a:t>Disponibili per le proprie attività</a:t>
            </a:r>
            <a:endParaRPr lang="en-US" sz="1100" dirty="0"/>
          </a:p>
        </p:txBody>
      </p:sp>
      <p:sp>
        <p:nvSpPr>
          <p:cNvPr id="25" name="freccia"/>
          <p:cNvSpPr/>
          <p:nvPr/>
        </p:nvSpPr>
        <p:spPr>
          <a:xfrm>
            <a:off x="3630168" y="1920240"/>
            <a:ext cx="173736" cy="292608"/>
          </a:xfrm>
          <a:prstGeom prst="rightArrow">
            <a:avLst/>
          </a:prstGeom>
          <a:solidFill>
            <a:schemeClr val="accent2"/>
          </a:solidFill>
          <a:ln/>
        </p:spPr>
      </p:sp>
      <p:sp>
        <p:nvSpPr>
          <p:cNvPr id="26" name="Tempo ed esercizio"/>
          <p:cNvSpPr/>
          <p:nvPr/>
        </p:nvSpPr>
        <p:spPr>
          <a:xfrm>
            <a:off x="3822192" y="1051560"/>
            <a:ext cx="1481328" cy="2011680"/>
          </a:xfrm>
          <a:prstGeom prst="roundRect">
            <a:avLst>
              <a:gd name="adj" fmla="val 4938"/>
            </a:avLst>
          </a:prstGeom>
          <a:solidFill>
            <a:schemeClr val="bg2"/>
          </a:solidFill>
          <a:ln/>
        </p:spPr>
      </p:sp>
      <p:sp>
        <p:nvSpPr>
          <p:cNvPr id="27" name="cerchio FiClock"/>
          <p:cNvSpPr/>
          <p:nvPr/>
        </p:nvSpPr>
        <p:spPr>
          <a:xfrm>
            <a:off x="4279392" y="1143000"/>
            <a:ext cx="548640" cy="548640"/>
          </a:xfrm>
          <a:prstGeom prst="ellipse">
            <a:avLst/>
          </a:prstGeom>
          <a:solidFill>
            <a:schemeClr val="accent1"/>
          </a:solidFill>
          <a:ln/>
        </p:spPr>
      </p:sp>
      <p:pic>
        <p:nvPicPr>
          <p:cNvPr id="28" name="Image 2" descr="FiClock">    </p:cNvPr>
          <p:cNvPicPr>
            <a:picLocks noChangeAspect="1"/>
          </p:cNvPicPr>
          <p:nvPr/>
        </p:nvPicPr>
        <p:blipFill>
          <a:blip r:embed="rId3"/>
          <a:stretch>
            <a:fillRect/>
          </a:stretch>
        </p:blipFill>
        <p:spPr>
          <a:xfrm>
            <a:off x="4416552" y="1280160"/>
            <a:ext cx="274320" cy="274320"/>
          </a:xfrm>
          <a:prstGeom prst="rect">
            <a:avLst/>
          </a:prstGeom>
        </p:spPr>
      </p:pic>
      <p:sp>
        <p:nvSpPr>
          <p:cNvPr id="29" name="Text 23"/>
          <p:cNvSpPr txBox="1"/>
          <p:nvPr/>
        </p:nvSpPr>
        <p:spPr>
          <a:xfrm>
            <a:off x="3895344" y="1783080"/>
            <a:ext cx="1335024" cy="457200"/>
          </a:xfrm>
          <a:prstGeom prst="rect">
            <a:avLst/>
          </a:prstGeom>
          <a:noFill/>
          <a:ln/>
        </p:spPr>
        <p:txBody>
          <a:bodyPr wrap="square" lIns="0" tIns="0" rIns="0" bIns="0" rtlCol="0" anchor="ctr"/>
          <a:lstStyle/>
          <a:p>
            <a:pPr algn="ctr" indent="0" marL="0">
              <a:buNone/>
            </a:pPr>
            <a:r>
              <a:rPr lang="en-US" sz="1200" b="1" dirty="0">
                <a:solidFill>
                  <a:schemeClr val="tx1"/>
                </a:solidFill>
              </a:rPr>
              <a:t>Tempo ed esercizio</a:t>
            </a:r>
            <a:endParaRPr lang="en-US" sz="1200" dirty="0"/>
          </a:p>
        </p:txBody>
      </p:sp>
      <p:sp>
        <p:nvSpPr>
          <p:cNvPr id="30" name="Text 24"/>
          <p:cNvSpPr txBox="1"/>
          <p:nvPr/>
        </p:nvSpPr>
        <p:spPr>
          <a:xfrm>
            <a:off x="3895344" y="2286000"/>
            <a:ext cx="1335024" cy="685800"/>
          </a:xfrm>
          <a:prstGeom prst="rect">
            <a:avLst/>
          </a:prstGeom>
          <a:noFill/>
          <a:ln/>
        </p:spPr>
        <p:txBody>
          <a:bodyPr wrap="square" lIns="0" tIns="0" rIns="0" bIns="0" rtlCol="0" anchor="t"/>
          <a:lstStyle/>
          <a:p>
            <a:pPr algn="ctr" indent="0" marL="0">
              <a:buNone/>
            </a:pPr>
            <a:r>
              <a:rPr lang="en-US" sz="1100" dirty="0">
                <a:solidFill>
                  <a:schemeClr val="tx2"/>
                </a:solidFill>
              </a:rPr>
              <a:t>Occasioni per applicare</a:t>
            </a:r>
            <a:endParaRPr lang="en-US" sz="1100" dirty="0"/>
          </a:p>
        </p:txBody>
      </p:sp>
      <p:sp>
        <p:nvSpPr>
          <p:cNvPr id="31" name="freccia"/>
          <p:cNvSpPr/>
          <p:nvPr/>
        </p:nvSpPr>
        <p:spPr>
          <a:xfrm>
            <a:off x="5312664" y="1920240"/>
            <a:ext cx="173736" cy="292608"/>
          </a:xfrm>
          <a:prstGeom prst="rightArrow">
            <a:avLst/>
          </a:prstGeom>
          <a:solidFill>
            <a:schemeClr val="accent2"/>
          </a:solidFill>
          <a:ln/>
        </p:spPr>
      </p:sp>
      <p:sp>
        <p:nvSpPr>
          <p:cNvPr id="32" name="Supporto"/>
          <p:cNvSpPr/>
          <p:nvPr/>
        </p:nvSpPr>
        <p:spPr>
          <a:xfrm>
            <a:off x="5504688" y="1051560"/>
            <a:ext cx="1481328" cy="2011680"/>
          </a:xfrm>
          <a:prstGeom prst="roundRect">
            <a:avLst>
              <a:gd name="adj" fmla="val 4938"/>
            </a:avLst>
          </a:prstGeom>
          <a:solidFill>
            <a:schemeClr val="bg2"/>
          </a:solidFill>
          <a:ln/>
        </p:spPr>
      </p:sp>
      <p:sp>
        <p:nvSpPr>
          <p:cNvPr id="33" name="cerchio FiLifeBuoy"/>
          <p:cNvSpPr/>
          <p:nvPr/>
        </p:nvSpPr>
        <p:spPr>
          <a:xfrm>
            <a:off x="5961888" y="1143000"/>
            <a:ext cx="548640" cy="548640"/>
          </a:xfrm>
          <a:prstGeom prst="ellipse">
            <a:avLst/>
          </a:prstGeom>
          <a:solidFill>
            <a:schemeClr val="accent1"/>
          </a:solidFill>
          <a:ln/>
        </p:spPr>
      </p:sp>
      <p:pic>
        <p:nvPicPr>
          <p:cNvPr id="34" name="Image 3" descr="FiLifeBuoy">    </p:cNvPr>
          <p:cNvPicPr>
            <a:picLocks noChangeAspect="1"/>
          </p:cNvPicPr>
          <p:nvPr/>
        </p:nvPicPr>
        <p:blipFill>
          <a:blip r:embed="rId4"/>
          <a:stretch>
            <a:fillRect/>
          </a:stretch>
        </p:blipFill>
        <p:spPr>
          <a:xfrm>
            <a:off x="6099048" y="1280160"/>
            <a:ext cx="274320" cy="274320"/>
          </a:xfrm>
          <a:prstGeom prst="rect">
            <a:avLst/>
          </a:prstGeom>
        </p:spPr>
      </p:pic>
      <p:sp>
        <p:nvSpPr>
          <p:cNvPr id="35" name="Text 28"/>
          <p:cNvSpPr txBox="1"/>
          <p:nvPr/>
        </p:nvSpPr>
        <p:spPr>
          <a:xfrm>
            <a:off x="5577840" y="1783080"/>
            <a:ext cx="1335024" cy="457200"/>
          </a:xfrm>
          <a:prstGeom prst="rect">
            <a:avLst/>
          </a:prstGeom>
          <a:noFill/>
          <a:ln/>
        </p:spPr>
        <p:txBody>
          <a:bodyPr wrap="square" lIns="0" tIns="0" rIns="0" bIns="0" rtlCol="0" anchor="ctr"/>
          <a:lstStyle/>
          <a:p>
            <a:pPr algn="ctr" indent="0" marL="0">
              <a:buNone/>
            </a:pPr>
            <a:r>
              <a:rPr lang="en-US" sz="1200" b="1" dirty="0">
                <a:solidFill>
                  <a:schemeClr val="tx1"/>
                </a:solidFill>
              </a:rPr>
              <a:t>Supporto</a:t>
            </a:r>
            <a:endParaRPr lang="en-US" sz="1200" dirty="0"/>
          </a:p>
        </p:txBody>
      </p:sp>
      <p:sp>
        <p:nvSpPr>
          <p:cNvPr id="36" name="Text 29"/>
          <p:cNvSpPr txBox="1"/>
          <p:nvPr/>
        </p:nvSpPr>
        <p:spPr>
          <a:xfrm>
            <a:off x="5577840" y="2286000"/>
            <a:ext cx="1335024" cy="685800"/>
          </a:xfrm>
          <a:prstGeom prst="rect">
            <a:avLst/>
          </a:prstGeom>
          <a:noFill/>
          <a:ln/>
        </p:spPr>
        <p:txBody>
          <a:bodyPr wrap="square" lIns="0" tIns="0" rIns="0" bIns="0" rtlCol="0" anchor="t"/>
          <a:lstStyle/>
          <a:p>
            <a:pPr algn="ctr" indent="0" marL="0">
              <a:buNone/>
            </a:pPr>
            <a:r>
              <a:rPr lang="en-US" sz="1100" dirty="0">
                <a:solidFill>
                  <a:schemeClr val="tx2"/>
                </a:solidFill>
              </a:rPr>
              <a:t>Responsabili e colleghi</a:t>
            </a:r>
            <a:endParaRPr lang="en-US" sz="1100" dirty="0"/>
          </a:p>
        </p:txBody>
      </p:sp>
      <p:sp>
        <p:nvSpPr>
          <p:cNvPr id="37" name="freccia"/>
          <p:cNvSpPr/>
          <p:nvPr/>
        </p:nvSpPr>
        <p:spPr>
          <a:xfrm>
            <a:off x="6995160" y="1920240"/>
            <a:ext cx="173736" cy="292608"/>
          </a:xfrm>
          <a:prstGeom prst="rightArrow">
            <a:avLst/>
          </a:prstGeom>
          <a:solidFill>
            <a:schemeClr val="accent2"/>
          </a:solidFill>
          <a:ln/>
        </p:spPr>
      </p:sp>
      <p:sp>
        <p:nvSpPr>
          <p:cNvPr id="38" name="Lavoro"/>
          <p:cNvSpPr/>
          <p:nvPr/>
        </p:nvSpPr>
        <p:spPr>
          <a:xfrm>
            <a:off x="7187184" y="1051560"/>
            <a:ext cx="1481328" cy="2011680"/>
          </a:xfrm>
          <a:prstGeom prst="roundRect">
            <a:avLst>
              <a:gd name="adj" fmla="val 4938"/>
            </a:avLst>
          </a:prstGeom>
          <a:solidFill>
            <a:schemeClr val="accent1"/>
          </a:solidFill>
          <a:ln/>
        </p:spPr>
      </p:sp>
      <p:sp>
        <p:nvSpPr>
          <p:cNvPr id="39" name="cerchio FiBriefcase"/>
          <p:cNvSpPr/>
          <p:nvPr/>
        </p:nvSpPr>
        <p:spPr>
          <a:xfrm>
            <a:off x="7644384" y="1143000"/>
            <a:ext cx="548640" cy="548640"/>
          </a:xfrm>
          <a:prstGeom prst="ellipse">
            <a:avLst/>
          </a:prstGeom>
          <a:solidFill>
            <a:schemeClr val="bg1"/>
          </a:solidFill>
          <a:ln/>
        </p:spPr>
      </p:sp>
      <p:pic>
        <p:nvPicPr>
          <p:cNvPr id="40" name="Image 4" descr="FiBriefcase">    </p:cNvPr>
          <p:cNvPicPr>
            <a:picLocks noChangeAspect="1"/>
          </p:cNvPicPr>
          <p:nvPr/>
        </p:nvPicPr>
        <p:blipFill>
          <a:blip r:embed="rId5"/>
          <a:stretch>
            <a:fillRect/>
          </a:stretch>
        </p:blipFill>
        <p:spPr>
          <a:xfrm>
            <a:off x="7781544" y="1280160"/>
            <a:ext cx="274320" cy="274320"/>
          </a:xfrm>
          <a:prstGeom prst="rect">
            <a:avLst/>
          </a:prstGeom>
        </p:spPr>
      </p:pic>
      <p:sp>
        <p:nvSpPr>
          <p:cNvPr id="41" name="Text 33"/>
          <p:cNvSpPr txBox="1"/>
          <p:nvPr/>
        </p:nvSpPr>
        <p:spPr>
          <a:xfrm>
            <a:off x="7260336" y="1783080"/>
            <a:ext cx="1335024" cy="457200"/>
          </a:xfrm>
          <a:prstGeom prst="rect">
            <a:avLst/>
          </a:prstGeom>
          <a:noFill/>
          <a:ln/>
        </p:spPr>
        <p:txBody>
          <a:bodyPr wrap="square" lIns="0" tIns="0" rIns="0" bIns="0" rtlCol="0" anchor="ctr"/>
          <a:lstStyle/>
          <a:p>
            <a:pPr algn="ctr" indent="0" marL="0">
              <a:buNone/>
            </a:pPr>
            <a:r>
              <a:rPr lang="en-US" sz="1200" b="1" dirty="0">
                <a:solidFill>
                  <a:schemeClr val="bg1"/>
                </a:solidFill>
              </a:rPr>
              <a:t>Lavoro</a:t>
            </a:r>
            <a:endParaRPr lang="en-US" sz="1200" dirty="0"/>
          </a:p>
        </p:txBody>
      </p:sp>
      <p:sp>
        <p:nvSpPr>
          <p:cNvPr id="42" name="Text 34"/>
          <p:cNvSpPr txBox="1"/>
          <p:nvPr/>
        </p:nvSpPr>
        <p:spPr>
          <a:xfrm>
            <a:off x="7260336" y="2286000"/>
            <a:ext cx="1335024" cy="685800"/>
          </a:xfrm>
          <a:prstGeom prst="rect">
            <a:avLst/>
          </a:prstGeom>
          <a:noFill/>
          <a:ln/>
        </p:spPr>
        <p:txBody>
          <a:bodyPr wrap="square" lIns="0" tIns="0" rIns="0" bIns="0" rtlCol="0" anchor="t"/>
          <a:lstStyle/>
          <a:p>
            <a:pPr algn="ctr" indent="0" marL="0">
              <a:buNone/>
            </a:pPr>
            <a:r>
              <a:rPr lang="en-US" sz="1100" dirty="0">
                <a:solidFill>
                  <a:schemeClr val="bg1"/>
                </a:solidFill>
              </a:rPr>
              <a:t>Competenza che si applica</a:t>
            </a:r>
            <a:endParaRPr lang="en-US" sz="1100" dirty="0"/>
          </a:p>
        </p:txBody>
      </p:sp>
      <p:sp>
        <p:nvSpPr>
          <p:cNvPr id="43" name="messaggio"/>
          <p:cNvSpPr/>
          <p:nvPr/>
        </p:nvSpPr>
        <p:spPr>
          <a:xfrm>
            <a:off x="457200" y="3291840"/>
            <a:ext cx="8229600" cy="914400"/>
          </a:xfrm>
          <a:prstGeom prst="roundRect">
            <a:avLst>
              <a:gd name="adj" fmla="val 8000"/>
            </a:avLst>
          </a:prstGeom>
          <a:solidFill>
            <a:schemeClr val="tx1"/>
          </a:solidFill>
          <a:ln/>
        </p:spPr>
      </p:sp>
      <p:sp>
        <p:nvSpPr>
          <p:cNvPr id="44" name="Text 36"/>
          <p:cNvSpPr txBox="1"/>
          <p:nvPr/>
        </p:nvSpPr>
        <p:spPr>
          <a:xfrm>
            <a:off x="640080" y="3291840"/>
            <a:ext cx="7863840" cy="914400"/>
          </a:xfrm>
          <a:prstGeom prst="rect">
            <a:avLst/>
          </a:prstGeom>
          <a:noFill/>
          <a:ln/>
        </p:spPr>
        <p:txBody>
          <a:bodyPr wrap="square" lIns="0" tIns="0" rIns="0" bIns="0" rtlCol="0" anchor="ctr"/>
          <a:lstStyle/>
          <a:p>
            <a:pPr indent="0" marL="0">
              <a:buNone/>
            </a:pPr>
            <a:r>
              <a:rPr lang="en-US" sz="1300" dirty="0">
                <a:solidFill>
                  <a:schemeClr val="bg1"/>
                </a:solidFill>
              </a:rPr>
              <a:t>Transfer della formazione (Baldwin e Ford, 1988): conta soprattutto l'ambiente di lavoro. La formazione da sola non produce adozione.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Sapere, saper fare, fare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apere"/>
          <p:cNvSpPr/>
          <p:nvPr/>
        </p:nvSpPr>
        <p:spPr>
          <a:xfrm>
            <a:off x="457200" y="1051560"/>
            <a:ext cx="2615184" cy="1463040"/>
          </a:xfrm>
          <a:prstGeom prst="roundRect">
            <a:avLst>
              <a:gd name="adj" fmla="val 5000"/>
            </a:avLst>
          </a:prstGeom>
          <a:solidFill>
            <a:schemeClr val="bg2"/>
          </a:solidFill>
          <a:ln/>
        </p:spPr>
      </p:sp>
      <p:sp>
        <p:nvSpPr>
          <p:cNvPr id="15" name="Text 12"/>
          <p:cNvSpPr txBox="1"/>
          <p:nvPr/>
        </p:nvSpPr>
        <p:spPr>
          <a:xfrm>
            <a:off x="594360" y="1097280"/>
            <a:ext cx="2340864" cy="411480"/>
          </a:xfrm>
          <a:prstGeom prst="rect">
            <a:avLst/>
          </a:prstGeom>
          <a:noFill/>
          <a:ln/>
        </p:spPr>
        <p:txBody>
          <a:bodyPr wrap="square" lIns="0" tIns="0" rIns="0" bIns="0" rtlCol="0" anchor="t"/>
          <a:lstStyle/>
          <a:p>
            <a:pPr indent="0" marL="0">
              <a:buNone/>
            </a:pPr>
            <a:r>
              <a:rPr lang="en-US" sz="1800" b="1" dirty="0">
                <a:solidFill>
                  <a:schemeClr val="accent1"/>
                </a:solidFill>
              </a:rPr>
              <a:t>Sapere</a:t>
            </a:r>
            <a:endParaRPr lang="en-US" sz="1800" dirty="0"/>
          </a:p>
        </p:txBody>
      </p:sp>
      <p:sp>
        <p:nvSpPr>
          <p:cNvPr id="16" name="Text 13"/>
          <p:cNvSpPr txBox="1"/>
          <p:nvPr/>
        </p:nvSpPr>
        <p:spPr>
          <a:xfrm>
            <a:off x="594360" y="1508760"/>
            <a:ext cx="2340864" cy="320040"/>
          </a:xfrm>
          <a:prstGeom prst="rect">
            <a:avLst/>
          </a:prstGeom>
          <a:noFill/>
          <a:ln/>
        </p:spPr>
        <p:txBody>
          <a:bodyPr wrap="square" lIns="0" tIns="0" rIns="0" bIns="0" rtlCol="0" anchor="t"/>
          <a:lstStyle/>
          <a:p>
            <a:pPr indent="0" marL="0">
              <a:buNone/>
            </a:pPr>
            <a:r>
              <a:rPr lang="en-US" sz="1200" b="1" dirty="0">
                <a:solidFill>
                  <a:schemeClr val="tx1"/>
                </a:solidFill>
              </a:rPr>
              <a:t>Apprendimento teorico</a:t>
            </a:r>
            <a:endParaRPr lang="en-US" sz="1200" dirty="0"/>
          </a:p>
        </p:txBody>
      </p:sp>
      <p:sp>
        <p:nvSpPr>
          <p:cNvPr id="17" name="Text 14"/>
          <p:cNvSpPr txBox="1"/>
          <p:nvPr/>
        </p:nvSpPr>
        <p:spPr>
          <a:xfrm>
            <a:off x="594360" y="1828800"/>
            <a:ext cx="2340864" cy="640080"/>
          </a:xfrm>
          <a:prstGeom prst="rect">
            <a:avLst/>
          </a:prstGeom>
          <a:noFill/>
          <a:ln/>
        </p:spPr>
        <p:txBody>
          <a:bodyPr wrap="square" lIns="0" tIns="0" rIns="0" bIns="0" rtlCol="0" anchor="t"/>
          <a:lstStyle/>
          <a:p>
            <a:pPr indent="0" marL="0">
              <a:buNone/>
            </a:pPr>
            <a:r>
              <a:rPr lang="en-US" sz="1100" i="1" dirty="0">
                <a:solidFill>
                  <a:schemeClr val="tx2"/>
                </a:solidFill>
              </a:rPr>
              <a:t>Si costruisce con: Il corso</a:t>
            </a:r>
            <a:endParaRPr lang="en-US" sz="1100" dirty="0"/>
          </a:p>
        </p:txBody>
      </p:sp>
      <p:sp>
        <p:nvSpPr>
          <p:cNvPr id="18" name="freccia"/>
          <p:cNvSpPr/>
          <p:nvPr/>
        </p:nvSpPr>
        <p:spPr>
          <a:xfrm>
            <a:off x="3090672" y="1645920"/>
            <a:ext cx="155448" cy="292608"/>
          </a:xfrm>
          <a:prstGeom prst="rightArrow">
            <a:avLst/>
          </a:prstGeom>
          <a:solidFill>
            <a:schemeClr val="accent2"/>
          </a:solidFill>
          <a:ln/>
        </p:spPr>
      </p:sp>
      <p:sp>
        <p:nvSpPr>
          <p:cNvPr id="19" name="Saper fare"/>
          <p:cNvSpPr/>
          <p:nvPr/>
        </p:nvSpPr>
        <p:spPr>
          <a:xfrm>
            <a:off x="3264408" y="1051560"/>
            <a:ext cx="2615184" cy="1463040"/>
          </a:xfrm>
          <a:prstGeom prst="roundRect">
            <a:avLst>
              <a:gd name="adj" fmla="val 5000"/>
            </a:avLst>
          </a:prstGeom>
          <a:solidFill>
            <a:schemeClr val="accent6"/>
          </a:solidFill>
          <a:ln/>
        </p:spPr>
      </p:sp>
      <p:sp>
        <p:nvSpPr>
          <p:cNvPr id="20" name="Text 17"/>
          <p:cNvSpPr txBox="1"/>
          <p:nvPr/>
        </p:nvSpPr>
        <p:spPr>
          <a:xfrm>
            <a:off x="3401568" y="1097280"/>
            <a:ext cx="2340864" cy="411480"/>
          </a:xfrm>
          <a:prstGeom prst="rect">
            <a:avLst/>
          </a:prstGeom>
          <a:noFill/>
          <a:ln/>
        </p:spPr>
        <p:txBody>
          <a:bodyPr wrap="square" lIns="0" tIns="0" rIns="0" bIns="0" rtlCol="0" anchor="t"/>
          <a:lstStyle/>
          <a:p>
            <a:pPr indent="0" marL="0">
              <a:buNone/>
            </a:pPr>
            <a:r>
              <a:rPr lang="en-US" sz="1800" b="1" dirty="0">
                <a:solidFill>
                  <a:schemeClr val="accent1"/>
                </a:solidFill>
              </a:rPr>
              <a:t>Saper fare</a:t>
            </a:r>
            <a:endParaRPr lang="en-US" sz="1800" dirty="0"/>
          </a:p>
        </p:txBody>
      </p:sp>
      <p:sp>
        <p:nvSpPr>
          <p:cNvPr id="21" name="Text 18"/>
          <p:cNvSpPr txBox="1"/>
          <p:nvPr/>
        </p:nvSpPr>
        <p:spPr>
          <a:xfrm>
            <a:off x="3401568" y="1508760"/>
            <a:ext cx="2340864" cy="320040"/>
          </a:xfrm>
          <a:prstGeom prst="rect">
            <a:avLst/>
          </a:prstGeom>
          <a:noFill/>
          <a:ln/>
        </p:spPr>
        <p:txBody>
          <a:bodyPr wrap="square" lIns="0" tIns="0" rIns="0" bIns="0" rtlCol="0" anchor="t"/>
          <a:lstStyle/>
          <a:p>
            <a:pPr indent="0" marL="0">
              <a:buNone/>
            </a:pPr>
            <a:r>
              <a:rPr lang="en-US" sz="1200" b="1" dirty="0">
                <a:solidFill>
                  <a:schemeClr val="tx1"/>
                </a:solidFill>
              </a:rPr>
              <a:t>Competenza operativa</a:t>
            </a:r>
            <a:endParaRPr lang="en-US" sz="1200" dirty="0"/>
          </a:p>
        </p:txBody>
      </p:sp>
      <p:sp>
        <p:nvSpPr>
          <p:cNvPr id="22" name="Text 19"/>
          <p:cNvSpPr txBox="1"/>
          <p:nvPr/>
        </p:nvSpPr>
        <p:spPr>
          <a:xfrm>
            <a:off x="3401568" y="1828800"/>
            <a:ext cx="2340864" cy="640080"/>
          </a:xfrm>
          <a:prstGeom prst="rect">
            <a:avLst/>
          </a:prstGeom>
          <a:noFill/>
          <a:ln/>
        </p:spPr>
        <p:txBody>
          <a:bodyPr wrap="square" lIns="0" tIns="0" rIns="0" bIns="0" rtlCol="0" anchor="t"/>
          <a:lstStyle/>
          <a:p>
            <a:pPr indent="0" marL="0">
              <a:buNone/>
            </a:pPr>
            <a:r>
              <a:rPr lang="en-US" sz="1100" i="1" dirty="0">
                <a:solidFill>
                  <a:schemeClr val="tx2"/>
                </a:solidFill>
              </a:rPr>
              <a:t>Si costruisce con: L'esercizio</a:t>
            </a:r>
            <a:endParaRPr lang="en-US" sz="1100" dirty="0"/>
          </a:p>
        </p:txBody>
      </p:sp>
      <p:sp>
        <p:nvSpPr>
          <p:cNvPr id="23" name="freccia"/>
          <p:cNvSpPr/>
          <p:nvPr/>
        </p:nvSpPr>
        <p:spPr>
          <a:xfrm>
            <a:off x="5897880" y="1645920"/>
            <a:ext cx="155448" cy="292608"/>
          </a:xfrm>
          <a:prstGeom prst="rightArrow">
            <a:avLst/>
          </a:prstGeom>
          <a:solidFill>
            <a:schemeClr val="accent2"/>
          </a:solidFill>
          <a:ln/>
        </p:spPr>
      </p:sp>
      <p:sp>
        <p:nvSpPr>
          <p:cNvPr id="24" name="Fare"/>
          <p:cNvSpPr/>
          <p:nvPr/>
        </p:nvSpPr>
        <p:spPr>
          <a:xfrm>
            <a:off x="6071616" y="1051560"/>
            <a:ext cx="2615184" cy="1463040"/>
          </a:xfrm>
          <a:prstGeom prst="roundRect">
            <a:avLst>
              <a:gd name="adj" fmla="val 5000"/>
            </a:avLst>
          </a:prstGeom>
          <a:solidFill>
            <a:schemeClr val="accent1"/>
          </a:solidFill>
          <a:ln/>
        </p:spPr>
      </p:sp>
      <p:sp>
        <p:nvSpPr>
          <p:cNvPr id="25" name="Text 22"/>
          <p:cNvSpPr txBox="1"/>
          <p:nvPr/>
        </p:nvSpPr>
        <p:spPr>
          <a:xfrm>
            <a:off x="6208776" y="1097280"/>
            <a:ext cx="2340864" cy="411480"/>
          </a:xfrm>
          <a:prstGeom prst="rect">
            <a:avLst/>
          </a:prstGeom>
          <a:noFill/>
          <a:ln/>
        </p:spPr>
        <p:txBody>
          <a:bodyPr wrap="square" lIns="0" tIns="0" rIns="0" bIns="0" rtlCol="0" anchor="t"/>
          <a:lstStyle/>
          <a:p>
            <a:pPr indent="0" marL="0">
              <a:buNone/>
            </a:pPr>
            <a:r>
              <a:rPr lang="en-US" sz="1800" b="1" dirty="0">
                <a:solidFill>
                  <a:schemeClr val="bg1"/>
                </a:solidFill>
              </a:rPr>
              <a:t>Fare</a:t>
            </a:r>
            <a:endParaRPr lang="en-US" sz="1800" dirty="0"/>
          </a:p>
        </p:txBody>
      </p:sp>
      <p:sp>
        <p:nvSpPr>
          <p:cNvPr id="26" name="Text 23"/>
          <p:cNvSpPr txBox="1"/>
          <p:nvPr/>
        </p:nvSpPr>
        <p:spPr>
          <a:xfrm>
            <a:off x="6208776" y="1508760"/>
            <a:ext cx="2340864" cy="320040"/>
          </a:xfrm>
          <a:prstGeom prst="rect">
            <a:avLst/>
          </a:prstGeom>
          <a:noFill/>
          <a:ln/>
        </p:spPr>
        <p:txBody>
          <a:bodyPr wrap="square" lIns="0" tIns="0" rIns="0" bIns="0" rtlCol="0" anchor="t"/>
          <a:lstStyle/>
          <a:p>
            <a:pPr indent="0" marL="0">
              <a:buNone/>
            </a:pPr>
            <a:r>
              <a:rPr lang="en-US" sz="1200" b="1" dirty="0">
                <a:solidFill>
                  <a:schemeClr val="bg1"/>
                </a:solidFill>
              </a:rPr>
              <a:t>Comportamento abituale</a:t>
            </a:r>
            <a:endParaRPr lang="en-US" sz="1200" dirty="0"/>
          </a:p>
        </p:txBody>
      </p:sp>
      <p:sp>
        <p:nvSpPr>
          <p:cNvPr id="27" name="Text 24"/>
          <p:cNvSpPr txBox="1"/>
          <p:nvPr/>
        </p:nvSpPr>
        <p:spPr>
          <a:xfrm>
            <a:off x="6208776" y="1828800"/>
            <a:ext cx="2340864" cy="640080"/>
          </a:xfrm>
          <a:prstGeom prst="rect">
            <a:avLst/>
          </a:prstGeom>
          <a:noFill/>
          <a:ln/>
        </p:spPr>
        <p:txBody>
          <a:bodyPr wrap="square" lIns="0" tIns="0" rIns="0" bIns="0" rtlCol="0" anchor="t"/>
          <a:lstStyle/>
          <a:p>
            <a:pPr indent="0" marL="0">
              <a:buNone/>
            </a:pPr>
            <a:r>
              <a:rPr lang="en-US" sz="1100" i="1" dirty="0">
                <a:solidFill>
                  <a:schemeClr val="accent6"/>
                </a:solidFill>
              </a:rPr>
              <a:t>Si costruisce con: La ripetizione nel lavoro, in un contesto che sostiene</a:t>
            </a:r>
            <a:endParaRPr lang="en-US" sz="1100" dirty="0"/>
          </a:p>
        </p:txBody>
      </p:sp>
      <p:sp>
        <p:nvSpPr>
          <p:cNvPr id="28" name="Text 25"/>
          <p:cNvSpPr txBox="1"/>
          <p:nvPr/>
        </p:nvSpPr>
        <p:spPr>
          <a:xfrm>
            <a:off x="457200" y="2651760"/>
            <a:ext cx="8229600" cy="292608"/>
          </a:xfrm>
          <a:prstGeom prst="rect">
            <a:avLst/>
          </a:prstGeom>
          <a:noFill/>
          <a:ln/>
        </p:spPr>
        <p:txBody>
          <a:bodyPr wrap="square" lIns="0" tIns="0" rIns="0" bIns="0" rtlCol="0" anchor="t"/>
          <a:lstStyle/>
          <a:p>
            <a:pPr indent="0" marL="0">
              <a:buNone/>
            </a:pPr>
            <a:r>
              <a:rPr lang="en-US" sz="1300" b="1" dirty="0">
                <a:solidFill>
                  <a:schemeClr val="tx1"/>
                </a:solidFill>
              </a:rPr>
              <a:t>I quattro livelli di Kirkpatrick</a:t>
            </a:r>
            <a:endParaRPr lang="en-US" sz="1300" dirty="0"/>
          </a:p>
        </p:txBody>
      </p:sp>
      <p:sp>
        <p:nvSpPr>
          <p:cNvPr id="29" name="blocco 1  Reazione"/>
          <p:cNvSpPr/>
          <p:nvPr/>
        </p:nvSpPr>
        <p:spPr>
          <a:xfrm>
            <a:off x="457200" y="2990088"/>
            <a:ext cx="1965960" cy="502920"/>
          </a:xfrm>
          <a:prstGeom prst="roundRect">
            <a:avLst>
              <a:gd name="adj" fmla="val 21818"/>
            </a:avLst>
          </a:prstGeom>
          <a:solidFill>
            <a:schemeClr val="bg2"/>
          </a:solidFill>
          <a:ln/>
        </p:spPr>
      </p:sp>
      <p:sp>
        <p:nvSpPr>
          <p:cNvPr id="30" name="Text 27"/>
          <p:cNvSpPr txBox="1"/>
          <p:nvPr/>
        </p:nvSpPr>
        <p:spPr>
          <a:xfrm>
            <a:off x="502920" y="2990088"/>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1  Reazione</a:t>
            </a:r>
            <a:endParaRPr lang="en-US" sz="1300" dirty="0"/>
          </a:p>
        </p:txBody>
      </p:sp>
      <p:sp>
        <p:nvSpPr>
          <p:cNvPr id="31" name="blocco 2  Apprendimento"/>
          <p:cNvSpPr/>
          <p:nvPr/>
        </p:nvSpPr>
        <p:spPr>
          <a:xfrm>
            <a:off x="2560320" y="2990088"/>
            <a:ext cx="1965960" cy="502920"/>
          </a:xfrm>
          <a:prstGeom prst="roundRect">
            <a:avLst>
              <a:gd name="adj" fmla="val 21818"/>
            </a:avLst>
          </a:prstGeom>
          <a:solidFill>
            <a:schemeClr val="bg2"/>
          </a:solidFill>
          <a:ln/>
        </p:spPr>
      </p:sp>
      <p:sp>
        <p:nvSpPr>
          <p:cNvPr id="32" name="Text 29"/>
          <p:cNvSpPr txBox="1"/>
          <p:nvPr/>
        </p:nvSpPr>
        <p:spPr>
          <a:xfrm>
            <a:off x="2606040" y="2990088"/>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2  Apprendimento</a:t>
            </a:r>
            <a:endParaRPr lang="en-US" sz="1300" dirty="0"/>
          </a:p>
        </p:txBody>
      </p:sp>
      <p:sp>
        <p:nvSpPr>
          <p:cNvPr id="33" name="blocco 3  Comportamento"/>
          <p:cNvSpPr/>
          <p:nvPr/>
        </p:nvSpPr>
        <p:spPr>
          <a:xfrm>
            <a:off x="4663440" y="2990088"/>
            <a:ext cx="1965960" cy="502920"/>
          </a:xfrm>
          <a:prstGeom prst="roundRect">
            <a:avLst>
              <a:gd name="adj" fmla="val 21818"/>
            </a:avLst>
          </a:prstGeom>
          <a:solidFill>
            <a:schemeClr val="accent6"/>
          </a:solidFill>
          <a:ln/>
        </p:spPr>
      </p:sp>
      <p:sp>
        <p:nvSpPr>
          <p:cNvPr id="34" name="Text 31"/>
          <p:cNvSpPr txBox="1"/>
          <p:nvPr/>
        </p:nvSpPr>
        <p:spPr>
          <a:xfrm>
            <a:off x="4709160" y="2990088"/>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3  Comportamento</a:t>
            </a:r>
            <a:endParaRPr lang="en-US" sz="1300" dirty="0"/>
          </a:p>
        </p:txBody>
      </p:sp>
      <p:sp>
        <p:nvSpPr>
          <p:cNvPr id="35" name="blocco 4  Risultati"/>
          <p:cNvSpPr/>
          <p:nvPr/>
        </p:nvSpPr>
        <p:spPr>
          <a:xfrm>
            <a:off x="6766560" y="2990088"/>
            <a:ext cx="1965960" cy="502920"/>
          </a:xfrm>
          <a:prstGeom prst="roundRect">
            <a:avLst>
              <a:gd name="adj" fmla="val 21818"/>
            </a:avLst>
          </a:prstGeom>
          <a:solidFill>
            <a:schemeClr val="accent6"/>
          </a:solidFill>
          <a:ln/>
        </p:spPr>
      </p:sp>
      <p:sp>
        <p:nvSpPr>
          <p:cNvPr id="36" name="Text 33"/>
          <p:cNvSpPr txBox="1"/>
          <p:nvPr/>
        </p:nvSpPr>
        <p:spPr>
          <a:xfrm>
            <a:off x="6812280" y="2990088"/>
            <a:ext cx="1874520" cy="502920"/>
          </a:xfrm>
          <a:prstGeom prst="rect">
            <a:avLst/>
          </a:prstGeom>
          <a:noFill/>
          <a:ln/>
        </p:spPr>
        <p:txBody>
          <a:bodyPr wrap="square" lIns="0" tIns="0" rIns="0" bIns="0" rtlCol="0" anchor="ctr"/>
          <a:lstStyle/>
          <a:p>
            <a:pPr algn="ctr" indent="0" marL="0">
              <a:buNone/>
            </a:pPr>
            <a:r>
              <a:rPr lang="en-US" sz="1300" b="1" dirty="0">
                <a:solidFill>
                  <a:schemeClr val="tx1"/>
                </a:solidFill>
              </a:rPr>
              <a:t>4  Risultati</a:t>
            </a:r>
            <a:endParaRPr lang="en-US" sz="1300" dirty="0"/>
          </a:p>
        </p:txBody>
      </p:sp>
      <p:sp>
        <p:nvSpPr>
          <p:cNvPr id="37" name="messaggio"/>
          <p:cNvSpPr/>
          <p:nvPr/>
        </p:nvSpPr>
        <p:spPr>
          <a:xfrm>
            <a:off x="457200" y="3657600"/>
            <a:ext cx="8229600" cy="731520"/>
          </a:xfrm>
          <a:prstGeom prst="roundRect">
            <a:avLst>
              <a:gd name="adj" fmla="val 10000"/>
            </a:avLst>
          </a:prstGeom>
          <a:solidFill>
            <a:schemeClr val="tx1"/>
          </a:solidFill>
          <a:ln/>
        </p:spPr>
      </p:sp>
      <p:sp>
        <p:nvSpPr>
          <p:cNvPr id="38" name="Text 35"/>
          <p:cNvSpPr txBox="1"/>
          <p:nvPr/>
        </p:nvSpPr>
        <p:spPr>
          <a:xfrm>
            <a:off x="640080" y="3657600"/>
            <a:ext cx="7863840" cy="731520"/>
          </a:xfrm>
          <a:prstGeom prst="rect">
            <a:avLst/>
          </a:prstGeom>
          <a:noFill/>
          <a:ln/>
        </p:spPr>
        <p:txBody>
          <a:bodyPr wrap="square" lIns="0" tIns="0" rIns="0" bIns="0" rtlCol="0" anchor="ctr"/>
          <a:lstStyle/>
          <a:p>
            <a:pPr indent="0" marL="0">
              <a:buNone/>
            </a:pPr>
            <a:r>
              <a:rPr lang="en-US" sz="1400" dirty="0">
                <a:solidFill>
                  <a:schemeClr val="bg1"/>
                </a:solidFill>
              </a:rPr>
              <a:t>Si misurano quasi sempre i primi due livelli. Il valore si gioca negli ultimi due.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Dopo la formazione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14" name="Chart 0" descr=""/>
          <p:cNvGraphicFramePr/>
          <p:nvPr/>
        </p:nvGraphicFramePr>
        <p:xfrm>
          <a:off x="457200" y="960120"/>
          <a:ext cx="4937760" cy="3108960"/>
        </p:xfrm>
        <a:graphic xmlns:a="http://schemas.openxmlformats.org/drawingml/2006/main">
          <a:graphicData uri="http://schemas.openxmlformats.org/drawingml/2006/chart">
            <c:chart xmlns:c="http://schemas.openxmlformats.org/drawingml/2006/chart" r:id="rId1"/>
          </a:graphicData>
        </a:graphic>
      </p:graphicFrame>
      <p:sp>
        <p:nvSpPr>
          <p:cNvPr id="15" name="Aggiornamento"/>
          <p:cNvSpPr/>
          <p:nvPr/>
        </p:nvSpPr>
        <p:spPr>
          <a:xfrm>
            <a:off x="5623560" y="1051560"/>
            <a:ext cx="3063240" cy="777240"/>
          </a:xfrm>
          <a:prstGeom prst="roundRect">
            <a:avLst>
              <a:gd name="adj" fmla="val 9412"/>
            </a:avLst>
          </a:prstGeom>
          <a:solidFill>
            <a:schemeClr val="bg2"/>
          </a:solidFill>
          <a:ln/>
        </p:spPr>
      </p:sp>
      <p:sp>
        <p:nvSpPr>
          <p:cNvPr id="16" name="Text 12"/>
          <p:cNvSpPr txBox="1"/>
          <p:nvPr/>
        </p:nvSpPr>
        <p:spPr>
          <a:xfrm>
            <a:off x="5760720" y="1051560"/>
            <a:ext cx="1234440" cy="777240"/>
          </a:xfrm>
          <a:prstGeom prst="rect">
            <a:avLst/>
          </a:prstGeom>
          <a:noFill/>
          <a:ln/>
        </p:spPr>
        <p:txBody>
          <a:bodyPr wrap="square" lIns="0" tIns="0" rIns="0" bIns="0" rtlCol="0" anchor="ctr"/>
          <a:lstStyle/>
          <a:p>
            <a:pPr indent="0" marL="0">
              <a:buNone/>
            </a:pPr>
            <a:r>
              <a:rPr lang="en-US" sz="1300" b="1" dirty="0">
                <a:solidFill>
                  <a:schemeClr val="accent1"/>
                </a:solidFill>
              </a:rPr>
              <a:t>Aggiornamento</a:t>
            </a:r>
            <a:endParaRPr lang="en-US" sz="1300" dirty="0"/>
          </a:p>
        </p:txBody>
      </p:sp>
      <p:sp>
        <p:nvSpPr>
          <p:cNvPr id="17" name="Text 13"/>
          <p:cNvSpPr txBox="1"/>
          <p:nvPr/>
        </p:nvSpPr>
        <p:spPr>
          <a:xfrm>
            <a:off x="6995160" y="1051560"/>
            <a:ext cx="1554480" cy="777240"/>
          </a:xfrm>
          <a:prstGeom prst="rect">
            <a:avLst/>
          </a:prstGeom>
          <a:noFill/>
          <a:ln/>
        </p:spPr>
        <p:txBody>
          <a:bodyPr wrap="square" lIns="0" tIns="0" rIns="0" bIns="0" rtlCol="0" anchor="ctr"/>
          <a:lstStyle/>
          <a:p>
            <a:pPr indent="0" marL="0">
              <a:buNone/>
            </a:pPr>
            <a:r>
              <a:rPr lang="en-US" sz="1100" dirty="0">
                <a:solidFill>
                  <a:schemeClr val="tx1"/>
                </a:solidFill>
              </a:rPr>
              <a:t>Gli strumenti cambiano in fretta</a:t>
            </a:r>
            <a:endParaRPr lang="en-US" sz="1100" dirty="0"/>
          </a:p>
        </p:txBody>
      </p:sp>
      <p:sp>
        <p:nvSpPr>
          <p:cNvPr id="18" name="Supporto dopo"/>
          <p:cNvSpPr/>
          <p:nvPr/>
        </p:nvSpPr>
        <p:spPr>
          <a:xfrm>
            <a:off x="5623560" y="1901952"/>
            <a:ext cx="3063240" cy="777240"/>
          </a:xfrm>
          <a:prstGeom prst="roundRect">
            <a:avLst>
              <a:gd name="adj" fmla="val 9412"/>
            </a:avLst>
          </a:prstGeom>
          <a:solidFill>
            <a:schemeClr val="bg1"/>
          </a:solidFill>
          <a:ln/>
        </p:spPr>
      </p:sp>
      <p:sp>
        <p:nvSpPr>
          <p:cNvPr id="19" name="Text 15"/>
          <p:cNvSpPr txBox="1"/>
          <p:nvPr/>
        </p:nvSpPr>
        <p:spPr>
          <a:xfrm>
            <a:off x="5760720" y="1901952"/>
            <a:ext cx="1234440" cy="777240"/>
          </a:xfrm>
          <a:prstGeom prst="rect">
            <a:avLst/>
          </a:prstGeom>
          <a:noFill/>
          <a:ln/>
        </p:spPr>
        <p:txBody>
          <a:bodyPr wrap="square" lIns="0" tIns="0" rIns="0" bIns="0" rtlCol="0" anchor="ctr"/>
          <a:lstStyle/>
          <a:p>
            <a:pPr indent="0" marL="0">
              <a:buNone/>
            </a:pPr>
            <a:r>
              <a:rPr lang="en-US" sz="1300" b="1" dirty="0">
                <a:solidFill>
                  <a:schemeClr val="accent1"/>
                </a:solidFill>
              </a:rPr>
              <a:t>Supporto dopo</a:t>
            </a:r>
            <a:endParaRPr lang="en-US" sz="1300" dirty="0"/>
          </a:p>
        </p:txBody>
      </p:sp>
      <p:sp>
        <p:nvSpPr>
          <p:cNvPr id="20" name="Text 16"/>
          <p:cNvSpPr txBox="1"/>
          <p:nvPr/>
        </p:nvSpPr>
        <p:spPr>
          <a:xfrm>
            <a:off x="6995160" y="1901952"/>
            <a:ext cx="1554480" cy="777240"/>
          </a:xfrm>
          <a:prstGeom prst="rect">
            <a:avLst/>
          </a:prstGeom>
          <a:noFill/>
          <a:ln/>
        </p:spPr>
        <p:txBody>
          <a:bodyPr wrap="square" lIns="0" tIns="0" rIns="0" bIns="0" rtlCol="0" anchor="ctr"/>
          <a:lstStyle/>
          <a:p>
            <a:pPr indent="0" marL="0">
              <a:buNone/>
            </a:pPr>
            <a:r>
              <a:rPr lang="en-US" sz="1100" dirty="0">
                <a:solidFill>
                  <a:schemeClr val="tx1"/>
                </a:solidFill>
              </a:rPr>
              <a:t>Le domande vere arrivano settimane dopo</a:t>
            </a:r>
            <a:endParaRPr lang="en-US" sz="1100" dirty="0"/>
          </a:p>
        </p:txBody>
      </p:sp>
      <p:sp>
        <p:nvSpPr>
          <p:cNvPr id="21" name="Curva dell'oblio"/>
          <p:cNvSpPr/>
          <p:nvPr/>
        </p:nvSpPr>
        <p:spPr>
          <a:xfrm>
            <a:off x="5623560" y="2752344"/>
            <a:ext cx="3063240" cy="777240"/>
          </a:xfrm>
          <a:prstGeom prst="roundRect">
            <a:avLst>
              <a:gd name="adj" fmla="val 9412"/>
            </a:avLst>
          </a:prstGeom>
          <a:solidFill>
            <a:schemeClr val="bg2"/>
          </a:solidFill>
          <a:ln/>
        </p:spPr>
      </p:sp>
      <p:sp>
        <p:nvSpPr>
          <p:cNvPr id="22" name="Text 18"/>
          <p:cNvSpPr txBox="1"/>
          <p:nvPr/>
        </p:nvSpPr>
        <p:spPr>
          <a:xfrm>
            <a:off x="5760720" y="2752344"/>
            <a:ext cx="1234440" cy="777240"/>
          </a:xfrm>
          <a:prstGeom prst="rect">
            <a:avLst/>
          </a:prstGeom>
          <a:noFill/>
          <a:ln/>
        </p:spPr>
        <p:txBody>
          <a:bodyPr wrap="square" lIns="0" tIns="0" rIns="0" bIns="0" rtlCol="0" anchor="ctr"/>
          <a:lstStyle/>
          <a:p>
            <a:pPr indent="0" marL="0">
              <a:buNone/>
            </a:pPr>
            <a:r>
              <a:rPr lang="en-US" sz="1300" b="1" dirty="0">
                <a:solidFill>
                  <a:schemeClr val="accent1"/>
                </a:solidFill>
              </a:rPr>
              <a:t>Curva dell'oblio</a:t>
            </a:r>
            <a:endParaRPr lang="en-US" sz="1300" dirty="0"/>
          </a:p>
        </p:txBody>
      </p:sp>
      <p:sp>
        <p:nvSpPr>
          <p:cNvPr id="23" name="Text 19"/>
          <p:cNvSpPr txBox="1"/>
          <p:nvPr/>
        </p:nvSpPr>
        <p:spPr>
          <a:xfrm>
            <a:off x="6995160" y="2752344"/>
            <a:ext cx="1554480" cy="777240"/>
          </a:xfrm>
          <a:prstGeom prst="rect">
            <a:avLst/>
          </a:prstGeom>
          <a:noFill/>
          <a:ln/>
        </p:spPr>
        <p:txBody>
          <a:bodyPr wrap="square" lIns="0" tIns="0" rIns="0" bIns="0" rtlCol="0" anchor="ctr"/>
          <a:lstStyle/>
          <a:p>
            <a:pPr indent="0" marL="0">
              <a:buNone/>
            </a:pPr>
            <a:r>
              <a:rPr lang="en-US" sz="1100" dirty="0">
                <a:solidFill>
                  <a:schemeClr val="tx1"/>
                </a:solidFill>
              </a:rPr>
              <a:t>Senza ripetizione si dimentica (Ebbinghaus)</a:t>
            </a:r>
            <a:endParaRPr lang="en-US" sz="1100" dirty="0"/>
          </a:p>
        </p:txBody>
      </p:sp>
      <p:sp>
        <p:nvSpPr>
          <p:cNvPr id="24" name="Text 20"/>
          <p:cNvSpPr txBox="1"/>
          <p:nvPr/>
        </p:nvSpPr>
        <p:spPr>
          <a:xfrm>
            <a:off x="5623560" y="3703320"/>
            <a:ext cx="3063240" cy="411480"/>
          </a:xfrm>
          <a:prstGeom prst="rect">
            <a:avLst/>
          </a:prstGeom>
          <a:noFill/>
          <a:ln/>
        </p:spPr>
        <p:txBody>
          <a:bodyPr wrap="square" lIns="0" tIns="0" rIns="0" bIns="0" rtlCol="0" anchor="t"/>
          <a:lstStyle/>
          <a:p>
            <a:pPr indent="0" marL="0">
              <a:buNone/>
            </a:pPr>
            <a:r>
              <a:rPr lang="en-US" sz="1200" b="1" i="1" dirty="0">
                <a:solidFill>
                  <a:schemeClr val="accent1"/>
                </a:solidFill>
              </a:rPr>
              <a:t>Un corso avvia; l'applicazione e il confronto consolidano.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corso introduttivo avvia l'apprendimento: la competenza operativa si consolida con l'applicazione, il confronto e il supporto nel lavoro.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16.4  ·  Competenze e formazione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Sperimentazione e diffusione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Diffondere gradualmente l'AI permette di verificare risultati e condizioni, anziché amplificare rapidamente problemi non compresi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Dimostrazione, pilota, estensione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Dimostrazione"/>
          <p:cNvSpPr/>
          <p:nvPr/>
        </p:nvSpPr>
        <p:spPr>
          <a:xfrm>
            <a:off x="457200" y="1051560"/>
            <a:ext cx="2615184" cy="2240280"/>
          </a:xfrm>
          <a:prstGeom prst="roundRect">
            <a:avLst>
              <a:gd name="adj" fmla="val 3265"/>
            </a:avLst>
          </a:prstGeom>
          <a:solidFill>
            <a:schemeClr val="bg2"/>
          </a:solidFill>
          <a:ln/>
        </p:spPr>
      </p:sp>
      <p:sp>
        <p:nvSpPr>
          <p:cNvPr id="15" name="cerchio FiMonitor"/>
          <p:cNvSpPr/>
          <p:nvPr/>
        </p:nvSpPr>
        <p:spPr>
          <a:xfrm>
            <a:off x="1463040" y="1143000"/>
            <a:ext cx="566928" cy="566928"/>
          </a:xfrm>
          <a:prstGeom prst="ellipse">
            <a:avLst/>
          </a:prstGeom>
          <a:solidFill>
            <a:schemeClr val="accent1"/>
          </a:solidFill>
          <a:ln/>
        </p:spPr>
      </p:sp>
      <p:pic>
        <p:nvPicPr>
          <p:cNvPr id="16" name="Image 0" descr="FiMonitor">    </p:cNvPr>
          <p:cNvPicPr>
            <a:picLocks noChangeAspect="1"/>
          </p:cNvPicPr>
          <p:nvPr/>
        </p:nvPicPr>
        <p:blipFill>
          <a:blip r:embed="rId1"/>
          <a:stretch>
            <a:fillRect/>
          </a:stretch>
        </p:blipFill>
        <p:spPr>
          <a:xfrm>
            <a:off x="1604772" y="1284732"/>
            <a:ext cx="283464" cy="283464"/>
          </a:xfrm>
          <a:prstGeom prst="rect">
            <a:avLst/>
          </a:prstGeom>
        </p:spPr>
      </p:pic>
      <p:sp>
        <p:nvSpPr>
          <p:cNvPr id="17" name="Text 13"/>
          <p:cNvSpPr txBox="1"/>
          <p:nvPr/>
        </p:nvSpPr>
        <p:spPr>
          <a:xfrm>
            <a:off x="594360"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Dimostrazione</a:t>
            </a:r>
            <a:endParaRPr lang="en-US" sz="1500" dirty="0"/>
          </a:p>
        </p:txBody>
      </p:sp>
      <p:sp>
        <p:nvSpPr>
          <p:cNvPr id="18" name="Text 14"/>
          <p:cNvSpPr txBox="1"/>
          <p:nvPr/>
        </p:nvSpPr>
        <p:spPr>
          <a:xfrm>
            <a:off x="594360" y="2176272"/>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Far conoscere, suscitare interesse</a:t>
            </a:r>
            <a:endParaRPr lang="en-US" sz="1200" dirty="0"/>
          </a:p>
        </p:txBody>
      </p:sp>
      <p:sp>
        <p:nvSpPr>
          <p:cNvPr id="19" name="Text 15"/>
          <p:cNvSpPr txBox="1"/>
          <p:nvPr/>
        </p:nvSpPr>
        <p:spPr>
          <a:xfrm>
            <a:off x="594360" y="274320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Non è uso</a:t>
            </a:r>
            <a:endParaRPr lang="en-US" sz="1200" dirty="0"/>
          </a:p>
        </p:txBody>
      </p:sp>
      <p:sp>
        <p:nvSpPr>
          <p:cNvPr id="20" name="freccia"/>
          <p:cNvSpPr/>
          <p:nvPr/>
        </p:nvSpPr>
        <p:spPr>
          <a:xfrm>
            <a:off x="3090672" y="2011680"/>
            <a:ext cx="155448" cy="292608"/>
          </a:xfrm>
          <a:prstGeom prst="rightArrow">
            <a:avLst/>
          </a:prstGeom>
          <a:solidFill>
            <a:schemeClr val="accent2"/>
          </a:solidFill>
          <a:ln/>
        </p:spPr>
      </p:sp>
      <p:sp>
        <p:nvSpPr>
          <p:cNvPr id="21" name="Pilota"/>
          <p:cNvSpPr/>
          <p:nvPr/>
        </p:nvSpPr>
        <p:spPr>
          <a:xfrm>
            <a:off x="3264408" y="1051560"/>
            <a:ext cx="2615184" cy="2240280"/>
          </a:xfrm>
          <a:prstGeom prst="roundRect">
            <a:avLst>
              <a:gd name="adj" fmla="val 3265"/>
            </a:avLst>
          </a:prstGeom>
          <a:solidFill>
            <a:schemeClr val="accent6"/>
          </a:solidFill>
          <a:ln/>
        </p:spPr>
      </p:sp>
      <p:sp>
        <p:nvSpPr>
          <p:cNvPr id="22" name="cerchio FiUsers"/>
          <p:cNvSpPr/>
          <p:nvPr/>
        </p:nvSpPr>
        <p:spPr>
          <a:xfrm>
            <a:off x="4270248" y="1143000"/>
            <a:ext cx="566928" cy="566928"/>
          </a:xfrm>
          <a:prstGeom prst="ellipse">
            <a:avLst/>
          </a:prstGeom>
          <a:solidFill>
            <a:schemeClr val="accent1"/>
          </a:solidFill>
          <a:ln/>
        </p:spPr>
      </p:sp>
      <p:pic>
        <p:nvPicPr>
          <p:cNvPr id="23" name="Image 1" descr="FiUsers">    </p:cNvPr>
          <p:cNvPicPr>
            <a:picLocks noChangeAspect="1"/>
          </p:cNvPicPr>
          <p:nvPr/>
        </p:nvPicPr>
        <p:blipFill>
          <a:blip r:embed="rId2"/>
          <a:stretch>
            <a:fillRect/>
          </a:stretch>
        </p:blipFill>
        <p:spPr>
          <a:xfrm>
            <a:off x="4411980" y="1284732"/>
            <a:ext cx="283464" cy="283464"/>
          </a:xfrm>
          <a:prstGeom prst="rect">
            <a:avLst/>
          </a:prstGeom>
        </p:spPr>
      </p:pic>
      <p:sp>
        <p:nvSpPr>
          <p:cNvPr id="24" name="Text 19"/>
          <p:cNvSpPr txBox="1"/>
          <p:nvPr/>
        </p:nvSpPr>
        <p:spPr>
          <a:xfrm>
            <a:off x="3401568"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Pilota</a:t>
            </a:r>
            <a:endParaRPr lang="en-US" sz="1500" dirty="0"/>
          </a:p>
        </p:txBody>
      </p:sp>
      <p:sp>
        <p:nvSpPr>
          <p:cNvPr id="25" name="Text 20"/>
          <p:cNvSpPr txBox="1"/>
          <p:nvPr/>
        </p:nvSpPr>
        <p:spPr>
          <a:xfrm>
            <a:off x="3401568" y="2176272"/>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Un gruppo, nel lavoro reale, per un periodo definito</a:t>
            </a:r>
            <a:endParaRPr lang="en-US" sz="1200" dirty="0"/>
          </a:p>
        </p:txBody>
      </p:sp>
      <p:sp>
        <p:nvSpPr>
          <p:cNvPr id="26" name="Text 21"/>
          <p:cNvSpPr txBox="1"/>
          <p:nvPr/>
        </p:nvSpPr>
        <p:spPr>
          <a:xfrm>
            <a:off x="3401568" y="274320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Imparare come si inserisce</a:t>
            </a:r>
            <a:endParaRPr lang="en-US" sz="1200" dirty="0"/>
          </a:p>
        </p:txBody>
      </p:sp>
      <p:sp>
        <p:nvSpPr>
          <p:cNvPr id="27" name="freccia"/>
          <p:cNvSpPr/>
          <p:nvPr/>
        </p:nvSpPr>
        <p:spPr>
          <a:xfrm>
            <a:off x="5897880" y="2011680"/>
            <a:ext cx="155448" cy="292608"/>
          </a:xfrm>
          <a:prstGeom prst="rightArrow">
            <a:avLst/>
          </a:prstGeom>
          <a:solidFill>
            <a:schemeClr val="accent2"/>
          </a:solidFill>
          <a:ln/>
        </p:spPr>
      </p:sp>
      <p:sp>
        <p:nvSpPr>
          <p:cNvPr id="28" name="Adozione estesa"/>
          <p:cNvSpPr/>
          <p:nvPr/>
        </p:nvSpPr>
        <p:spPr>
          <a:xfrm>
            <a:off x="6071616" y="1051560"/>
            <a:ext cx="2615184" cy="2240280"/>
          </a:xfrm>
          <a:prstGeom prst="roundRect">
            <a:avLst>
              <a:gd name="adj" fmla="val 3265"/>
            </a:avLst>
          </a:prstGeom>
          <a:solidFill>
            <a:schemeClr val="bg2"/>
          </a:solidFill>
          <a:ln/>
        </p:spPr>
      </p:sp>
      <p:sp>
        <p:nvSpPr>
          <p:cNvPr id="29" name="cerchio FiShare2"/>
          <p:cNvSpPr/>
          <p:nvPr/>
        </p:nvSpPr>
        <p:spPr>
          <a:xfrm>
            <a:off x="7077456" y="1143000"/>
            <a:ext cx="566928" cy="566928"/>
          </a:xfrm>
          <a:prstGeom prst="ellipse">
            <a:avLst/>
          </a:prstGeom>
          <a:solidFill>
            <a:schemeClr val="accent1"/>
          </a:solidFill>
          <a:ln/>
        </p:spPr>
      </p:sp>
      <p:pic>
        <p:nvPicPr>
          <p:cNvPr id="30" name="Image 2" descr="FiShare2">    </p:cNvPr>
          <p:cNvPicPr>
            <a:picLocks noChangeAspect="1"/>
          </p:cNvPicPr>
          <p:nvPr/>
        </p:nvPicPr>
        <p:blipFill>
          <a:blip r:embed="rId3"/>
          <a:stretch>
            <a:fillRect/>
          </a:stretch>
        </p:blipFill>
        <p:spPr>
          <a:xfrm>
            <a:off x="7219188" y="1284732"/>
            <a:ext cx="283464" cy="283464"/>
          </a:xfrm>
          <a:prstGeom prst="rect">
            <a:avLst/>
          </a:prstGeom>
        </p:spPr>
      </p:pic>
      <p:sp>
        <p:nvSpPr>
          <p:cNvPr id="31" name="Text 25"/>
          <p:cNvSpPr txBox="1"/>
          <p:nvPr/>
        </p:nvSpPr>
        <p:spPr>
          <a:xfrm>
            <a:off x="6208776"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Adozione estesa</a:t>
            </a:r>
            <a:endParaRPr lang="en-US" sz="1500" dirty="0"/>
          </a:p>
        </p:txBody>
      </p:sp>
      <p:sp>
        <p:nvSpPr>
          <p:cNvPr id="32" name="Text 26"/>
          <p:cNvSpPr txBox="1"/>
          <p:nvPr/>
        </p:nvSpPr>
        <p:spPr>
          <a:xfrm>
            <a:off x="6208776" y="2176272"/>
            <a:ext cx="2340864" cy="548640"/>
          </a:xfrm>
          <a:prstGeom prst="rect">
            <a:avLst/>
          </a:prstGeom>
          <a:noFill/>
          <a:ln/>
        </p:spPr>
        <p:txBody>
          <a:bodyPr wrap="square" lIns="0" tIns="0" rIns="0" bIns="0" rtlCol="0" anchor="t"/>
          <a:lstStyle/>
          <a:p>
            <a:pPr algn="ctr" indent="0" marL="0">
              <a:buNone/>
            </a:pPr>
            <a:r>
              <a:rPr lang="en-US" sz="1200" dirty="0">
                <a:solidFill>
                  <a:schemeClr val="tx1"/>
                </a:solidFill>
              </a:rPr>
              <a:t>Più ampia, con pratiche e supporti del pilota</a:t>
            </a:r>
            <a:endParaRPr lang="en-US" sz="1200" dirty="0"/>
          </a:p>
        </p:txBody>
      </p:sp>
      <p:sp>
        <p:nvSpPr>
          <p:cNvPr id="33" name="Text 27"/>
          <p:cNvSpPr txBox="1"/>
          <p:nvPr/>
        </p:nvSpPr>
        <p:spPr>
          <a:xfrm>
            <a:off x="6208776" y="274320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Dopo ciò che si è imparato</a:t>
            </a:r>
            <a:endParaRPr lang="en-US" sz="1200" dirty="0"/>
          </a:p>
        </p:txBody>
      </p:sp>
      <p:sp>
        <p:nvSpPr>
          <p:cNvPr id="34" name="messaggio"/>
          <p:cNvSpPr/>
          <p:nvPr/>
        </p:nvSpPr>
        <p:spPr>
          <a:xfrm>
            <a:off x="457200" y="3474720"/>
            <a:ext cx="8229600" cy="868680"/>
          </a:xfrm>
          <a:prstGeom prst="roundRect">
            <a:avLst>
              <a:gd name="adj" fmla="val 8421"/>
            </a:avLst>
          </a:prstGeom>
          <a:solidFill>
            <a:schemeClr val="tx1"/>
          </a:solidFill>
          <a:ln/>
        </p:spPr>
      </p:sp>
      <p:sp>
        <p:nvSpPr>
          <p:cNvPr id="35" name="Text 29"/>
          <p:cNvSpPr txBox="1"/>
          <p:nvPr/>
        </p:nvSpPr>
        <p:spPr>
          <a:xfrm>
            <a:off x="640080" y="3474720"/>
            <a:ext cx="7863840" cy="868680"/>
          </a:xfrm>
          <a:prstGeom prst="rect">
            <a:avLst/>
          </a:prstGeom>
          <a:noFill/>
          <a:ln/>
        </p:spPr>
        <p:txBody>
          <a:bodyPr wrap="square" lIns="0" tIns="0" rIns="0" bIns="0" rtlCol="0" anchor="ctr"/>
          <a:lstStyle/>
          <a:p>
            <a:pPr indent="0" marL="0">
              <a:buNone/>
            </a:pPr>
            <a:r>
              <a:rPr lang="en-US" sz="1300" dirty="0">
                <a:solidFill>
                  <a:schemeClr val="bg1"/>
                </a:solidFill>
              </a:rPr>
              <a:t>Il passaggio dipende da ciò che si è imparato, non dal calendario. Contesti circoscritti: utile, disponibili, errori con poche conseguenze.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ciclo del pilota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Coinvolgere"/>
          <p:cNvSpPr/>
          <p:nvPr/>
        </p:nvSpPr>
        <p:spPr>
          <a:xfrm>
            <a:off x="1874520" y="841248"/>
            <a:ext cx="1737360" cy="694944"/>
          </a:xfrm>
          <a:prstGeom prst="roundRect">
            <a:avLst>
              <a:gd name="adj" fmla="val 10526"/>
            </a:avLst>
          </a:prstGeom>
          <a:solidFill>
            <a:schemeClr val="bg2"/>
          </a:solidFill>
          <a:ln/>
        </p:spPr>
      </p:sp>
      <p:sp>
        <p:nvSpPr>
          <p:cNvPr id="15" name="Text 12"/>
          <p:cNvSpPr txBox="1"/>
          <p:nvPr/>
        </p:nvSpPr>
        <p:spPr>
          <a:xfrm>
            <a:off x="1947672" y="859536"/>
            <a:ext cx="1600200" cy="301752"/>
          </a:xfrm>
          <a:prstGeom prst="rect">
            <a:avLst/>
          </a:prstGeom>
          <a:noFill/>
          <a:ln/>
        </p:spPr>
        <p:txBody>
          <a:bodyPr wrap="square" lIns="0" tIns="0" rIns="0" bIns="0" rtlCol="0" anchor="t"/>
          <a:lstStyle/>
          <a:p>
            <a:pPr indent="0" marL="0">
              <a:buNone/>
            </a:pPr>
            <a:r>
              <a:rPr lang="en-US" sz="1200" b="1" dirty="0">
                <a:solidFill>
                  <a:schemeClr val="accent1"/>
                </a:solidFill>
              </a:rPr>
              <a:t>1  Coinvolgere</a:t>
            </a:r>
            <a:endParaRPr lang="en-US" sz="1200" dirty="0"/>
          </a:p>
        </p:txBody>
      </p:sp>
      <p:sp>
        <p:nvSpPr>
          <p:cNvPr id="16" name="Text 13"/>
          <p:cNvSpPr txBox="1"/>
          <p:nvPr/>
        </p:nvSpPr>
        <p:spPr>
          <a:xfrm>
            <a:off x="1947672" y="1152144"/>
            <a:ext cx="1600200" cy="365760"/>
          </a:xfrm>
          <a:prstGeom prst="rect">
            <a:avLst/>
          </a:prstGeom>
          <a:noFill/>
          <a:ln/>
        </p:spPr>
        <p:txBody>
          <a:bodyPr wrap="square" lIns="0" tIns="0" rIns="0" bIns="0" rtlCol="0" anchor="t"/>
          <a:lstStyle/>
          <a:p>
            <a:pPr indent="0" marL="0">
              <a:buNone/>
            </a:pPr>
            <a:r>
              <a:rPr lang="en-US" sz="900" dirty="0">
                <a:solidFill>
                  <a:schemeClr val="tx1"/>
                </a:solidFill>
              </a:rPr>
              <a:t>Gli utilizzatori come partecipanti</a:t>
            </a:r>
            <a:endParaRPr lang="en-US" sz="900" dirty="0"/>
          </a:p>
        </p:txBody>
      </p:sp>
      <p:sp>
        <p:nvSpPr>
          <p:cNvPr id="17" name="Osservare"/>
          <p:cNvSpPr/>
          <p:nvPr/>
        </p:nvSpPr>
        <p:spPr>
          <a:xfrm>
            <a:off x="3576852" y="1757409"/>
            <a:ext cx="1737360" cy="694944"/>
          </a:xfrm>
          <a:prstGeom prst="roundRect">
            <a:avLst>
              <a:gd name="adj" fmla="val 10526"/>
            </a:avLst>
          </a:prstGeom>
          <a:solidFill>
            <a:schemeClr val="accent6"/>
          </a:solidFill>
          <a:ln/>
        </p:spPr>
      </p:sp>
      <p:sp>
        <p:nvSpPr>
          <p:cNvPr id="18" name="Text 15"/>
          <p:cNvSpPr txBox="1"/>
          <p:nvPr/>
        </p:nvSpPr>
        <p:spPr>
          <a:xfrm>
            <a:off x="3650004" y="1775697"/>
            <a:ext cx="1600200" cy="301752"/>
          </a:xfrm>
          <a:prstGeom prst="rect">
            <a:avLst/>
          </a:prstGeom>
          <a:noFill/>
          <a:ln/>
        </p:spPr>
        <p:txBody>
          <a:bodyPr wrap="square" lIns="0" tIns="0" rIns="0" bIns="0" rtlCol="0" anchor="t"/>
          <a:lstStyle/>
          <a:p>
            <a:pPr indent="0" marL="0">
              <a:buNone/>
            </a:pPr>
            <a:r>
              <a:rPr lang="en-US" sz="1200" b="1" dirty="0">
                <a:solidFill>
                  <a:schemeClr val="accent1"/>
                </a:solidFill>
              </a:rPr>
              <a:t>2  Osservare</a:t>
            </a:r>
            <a:endParaRPr lang="en-US" sz="1200" dirty="0"/>
          </a:p>
        </p:txBody>
      </p:sp>
      <p:sp>
        <p:nvSpPr>
          <p:cNvPr id="19" name="Text 16"/>
          <p:cNvSpPr txBox="1"/>
          <p:nvPr/>
        </p:nvSpPr>
        <p:spPr>
          <a:xfrm>
            <a:off x="3650004" y="2068305"/>
            <a:ext cx="1600200" cy="365760"/>
          </a:xfrm>
          <a:prstGeom prst="rect">
            <a:avLst/>
          </a:prstGeom>
          <a:noFill/>
          <a:ln/>
        </p:spPr>
        <p:txBody>
          <a:bodyPr wrap="square" lIns="0" tIns="0" rIns="0" bIns="0" rtlCol="0" anchor="t"/>
          <a:lstStyle/>
          <a:p>
            <a:pPr indent="0" marL="0">
              <a:buNone/>
            </a:pPr>
            <a:r>
              <a:rPr lang="en-US" sz="900" dirty="0">
                <a:solidFill>
                  <a:schemeClr val="tx1"/>
                </a:solidFill>
              </a:rPr>
              <a:t>Le difficoltà concrete</a:t>
            </a:r>
            <a:endParaRPr lang="en-US" sz="900" dirty="0"/>
          </a:p>
        </p:txBody>
      </p:sp>
      <p:sp>
        <p:nvSpPr>
          <p:cNvPr id="20" name="Raccogliere"/>
          <p:cNvSpPr/>
          <p:nvPr/>
        </p:nvSpPr>
        <p:spPr>
          <a:xfrm>
            <a:off x="2926619" y="3239787"/>
            <a:ext cx="1737360" cy="694944"/>
          </a:xfrm>
          <a:prstGeom prst="roundRect">
            <a:avLst>
              <a:gd name="adj" fmla="val 10526"/>
            </a:avLst>
          </a:prstGeom>
          <a:solidFill>
            <a:schemeClr val="bg2"/>
          </a:solidFill>
          <a:ln/>
        </p:spPr>
      </p:sp>
      <p:sp>
        <p:nvSpPr>
          <p:cNvPr id="21" name="Text 18"/>
          <p:cNvSpPr txBox="1"/>
          <p:nvPr/>
        </p:nvSpPr>
        <p:spPr>
          <a:xfrm>
            <a:off x="2999771" y="3258075"/>
            <a:ext cx="1600200" cy="301752"/>
          </a:xfrm>
          <a:prstGeom prst="rect">
            <a:avLst/>
          </a:prstGeom>
          <a:noFill/>
          <a:ln/>
        </p:spPr>
        <p:txBody>
          <a:bodyPr wrap="square" lIns="0" tIns="0" rIns="0" bIns="0" rtlCol="0" anchor="t"/>
          <a:lstStyle/>
          <a:p>
            <a:pPr indent="0" marL="0">
              <a:buNone/>
            </a:pPr>
            <a:r>
              <a:rPr lang="en-US" sz="1200" b="1" dirty="0">
                <a:solidFill>
                  <a:schemeClr val="accent1"/>
                </a:solidFill>
              </a:rPr>
              <a:t>3  Raccogliere</a:t>
            </a:r>
            <a:endParaRPr lang="en-US" sz="1200" dirty="0"/>
          </a:p>
        </p:txBody>
      </p:sp>
      <p:sp>
        <p:nvSpPr>
          <p:cNvPr id="22" name="Text 19"/>
          <p:cNvSpPr txBox="1"/>
          <p:nvPr/>
        </p:nvSpPr>
        <p:spPr>
          <a:xfrm>
            <a:off x="2999771" y="3550683"/>
            <a:ext cx="1600200" cy="365760"/>
          </a:xfrm>
          <a:prstGeom prst="rect">
            <a:avLst/>
          </a:prstGeom>
          <a:noFill/>
          <a:ln/>
        </p:spPr>
        <p:txBody>
          <a:bodyPr wrap="square" lIns="0" tIns="0" rIns="0" bIns="0" rtlCol="0" anchor="t"/>
          <a:lstStyle/>
          <a:p>
            <a:pPr indent="0" marL="0">
              <a:buNone/>
            </a:pPr>
            <a:r>
              <a:rPr lang="en-US" sz="900" dirty="0">
                <a:solidFill>
                  <a:schemeClr val="tx1"/>
                </a:solidFill>
              </a:rPr>
              <a:t>Feedback strutturato</a:t>
            </a:r>
            <a:endParaRPr lang="en-US" sz="900" dirty="0"/>
          </a:p>
        </p:txBody>
      </p:sp>
      <p:sp>
        <p:nvSpPr>
          <p:cNvPr id="23" name="Valutare"/>
          <p:cNvSpPr/>
          <p:nvPr/>
        </p:nvSpPr>
        <p:spPr>
          <a:xfrm>
            <a:off x="822421" y="3239787"/>
            <a:ext cx="1737360" cy="694944"/>
          </a:xfrm>
          <a:prstGeom prst="roundRect">
            <a:avLst>
              <a:gd name="adj" fmla="val 10526"/>
            </a:avLst>
          </a:prstGeom>
          <a:solidFill>
            <a:schemeClr val="accent6"/>
          </a:solidFill>
          <a:ln/>
        </p:spPr>
      </p:sp>
      <p:sp>
        <p:nvSpPr>
          <p:cNvPr id="24" name="Text 21"/>
          <p:cNvSpPr txBox="1"/>
          <p:nvPr/>
        </p:nvSpPr>
        <p:spPr>
          <a:xfrm>
            <a:off x="895573" y="3258075"/>
            <a:ext cx="1600200" cy="301752"/>
          </a:xfrm>
          <a:prstGeom prst="rect">
            <a:avLst/>
          </a:prstGeom>
          <a:noFill/>
          <a:ln/>
        </p:spPr>
        <p:txBody>
          <a:bodyPr wrap="square" lIns="0" tIns="0" rIns="0" bIns="0" rtlCol="0" anchor="t"/>
          <a:lstStyle/>
          <a:p>
            <a:pPr indent="0" marL="0">
              <a:buNone/>
            </a:pPr>
            <a:r>
              <a:rPr lang="en-US" sz="1200" b="1" dirty="0">
                <a:solidFill>
                  <a:schemeClr val="accent1"/>
                </a:solidFill>
              </a:rPr>
              <a:t>4  Valutare</a:t>
            </a:r>
            <a:endParaRPr lang="en-US" sz="1200" dirty="0"/>
          </a:p>
        </p:txBody>
      </p:sp>
      <p:sp>
        <p:nvSpPr>
          <p:cNvPr id="25" name="Text 22"/>
          <p:cNvSpPr txBox="1"/>
          <p:nvPr/>
        </p:nvSpPr>
        <p:spPr>
          <a:xfrm>
            <a:off x="895573" y="3550683"/>
            <a:ext cx="1600200" cy="365760"/>
          </a:xfrm>
          <a:prstGeom prst="rect">
            <a:avLst/>
          </a:prstGeom>
          <a:noFill/>
          <a:ln/>
        </p:spPr>
        <p:txBody>
          <a:bodyPr wrap="square" lIns="0" tIns="0" rIns="0" bIns="0" rtlCol="0" anchor="t"/>
          <a:lstStyle/>
          <a:p>
            <a:pPr indent="0" marL="0">
              <a:buNone/>
            </a:pPr>
            <a:r>
              <a:rPr lang="en-US" sz="900" dirty="0">
                <a:solidFill>
                  <a:schemeClr val="tx1"/>
                </a:solidFill>
              </a:rPr>
              <a:t>Risultati iniziali, qualità, costo</a:t>
            </a:r>
            <a:endParaRPr lang="en-US" sz="900" dirty="0"/>
          </a:p>
        </p:txBody>
      </p:sp>
      <p:sp>
        <p:nvSpPr>
          <p:cNvPr id="26" name="Rivedere"/>
          <p:cNvSpPr/>
          <p:nvPr/>
        </p:nvSpPr>
        <p:spPr>
          <a:xfrm>
            <a:off x="172188" y="1757409"/>
            <a:ext cx="1737360" cy="694944"/>
          </a:xfrm>
          <a:prstGeom prst="roundRect">
            <a:avLst>
              <a:gd name="adj" fmla="val 10526"/>
            </a:avLst>
          </a:prstGeom>
          <a:solidFill>
            <a:schemeClr val="bg2"/>
          </a:solidFill>
          <a:ln/>
        </p:spPr>
      </p:sp>
      <p:sp>
        <p:nvSpPr>
          <p:cNvPr id="27" name="Text 24"/>
          <p:cNvSpPr txBox="1"/>
          <p:nvPr/>
        </p:nvSpPr>
        <p:spPr>
          <a:xfrm>
            <a:off x="245340" y="1775697"/>
            <a:ext cx="1600200" cy="301752"/>
          </a:xfrm>
          <a:prstGeom prst="rect">
            <a:avLst/>
          </a:prstGeom>
          <a:noFill/>
          <a:ln/>
        </p:spPr>
        <p:txBody>
          <a:bodyPr wrap="square" lIns="0" tIns="0" rIns="0" bIns="0" rtlCol="0" anchor="t"/>
          <a:lstStyle/>
          <a:p>
            <a:pPr indent="0" marL="0">
              <a:buNone/>
            </a:pPr>
            <a:r>
              <a:rPr lang="en-US" sz="1200" b="1" dirty="0">
                <a:solidFill>
                  <a:schemeClr val="accent1"/>
                </a:solidFill>
              </a:rPr>
              <a:t>5  Rivedere</a:t>
            </a:r>
            <a:endParaRPr lang="en-US" sz="1200" dirty="0"/>
          </a:p>
        </p:txBody>
      </p:sp>
      <p:sp>
        <p:nvSpPr>
          <p:cNvPr id="28" name="Text 25"/>
          <p:cNvSpPr txBox="1"/>
          <p:nvPr/>
        </p:nvSpPr>
        <p:spPr>
          <a:xfrm>
            <a:off x="245340" y="2068305"/>
            <a:ext cx="1600200" cy="365760"/>
          </a:xfrm>
          <a:prstGeom prst="rect">
            <a:avLst/>
          </a:prstGeom>
          <a:noFill/>
          <a:ln/>
        </p:spPr>
        <p:txBody>
          <a:bodyPr wrap="square" lIns="0" tIns="0" rIns="0" bIns="0" rtlCol="0" anchor="t"/>
          <a:lstStyle/>
          <a:p>
            <a:pPr indent="0" marL="0">
              <a:buNone/>
            </a:pPr>
            <a:r>
              <a:rPr lang="en-US" sz="900" dirty="0">
                <a:solidFill>
                  <a:schemeClr val="tx1"/>
                </a:solidFill>
              </a:rPr>
              <a:t>Istruzioni, esempi, strumento, attività</a:t>
            </a:r>
            <a:endParaRPr lang="en-US" sz="900" dirty="0"/>
          </a:p>
        </p:txBody>
      </p:sp>
      <p:sp>
        <p:nvSpPr>
          <p:cNvPr id="29" name="centro ciclo"/>
          <p:cNvSpPr/>
          <p:nvPr/>
        </p:nvSpPr>
        <p:spPr>
          <a:xfrm>
            <a:off x="2240280" y="2011680"/>
            <a:ext cx="1005840" cy="1005840"/>
          </a:xfrm>
          <a:prstGeom prst="ellipse">
            <a:avLst/>
          </a:prstGeom>
          <a:solidFill>
            <a:srgbClr val="2E7D7A"/>
          </a:solidFill>
          <a:ln/>
        </p:spPr>
      </p:sp>
      <p:sp>
        <p:nvSpPr>
          <p:cNvPr id="30" name="Text 27"/>
          <p:cNvSpPr txBox="1"/>
          <p:nvPr/>
        </p:nvSpPr>
        <p:spPr>
          <a:xfrm>
            <a:off x="2240280" y="2011680"/>
            <a:ext cx="1005840" cy="1005840"/>
          </a:xfrm>
          <a:prstGeom prst="rect">
            <a:avLst/>
          </a:prstGeom>
          <a:noFill/>
          <a:ln/>
        </p:spPr>
        <p:txBody>
          <a:bodyPr wrap="square" lIns="0" tIns="0" rIns="0" bIns="0" rtlCol="0" anchor="ctr"/>
          <a:lstStyle/>
          <a:p>
            <a:pPr algn="ctr" indent="0" marL="0">
              <a:buNone/>
            </a:pPr>
            <a:r>
              <a:rPr lang="en-US" sz="1000" b="1" dirty="0">
                <a:solidFill>
                  <a:schemeClr val="bg1"/>
                </a:solidFill>
              </a:rPr>
              <a:t>Cicli successivi</a:t>
            </a:r>
            <a:endParaRPr lang="en-US" sz="1000" dirty="0"/>
          </a:p>
        </p:txBody>
      </p:sp>
      <p:sp>
        <p:nvSpPr>
          <p:cNvPr id="31" name="scheda Apprendimento organizzativo"/>
          <p:cNvSpPr/>
          <p:nvPr/>
        </p:nvSpPr>
        <p:spPr>
          <a:xfrm>
            <a:off x="5806440" y="1051560"/>
            <a:ext cx="2880360" cy="1554480"/>
          </a:xfrm>
          <a:prstGeom prst="roundRect">
            <a:avLst>
              <a:gd name="adj" fmla="val 4706"/>
            </a:avLst>
          </a:prstGeom>
          <a:solidFill>
            <a:schemeClr val="bg2"/>
          </a:solidFill>
          <a:ln/>
        </p:spPr>
      </p:sp>
      <p:sp>
        <p:nvSpPr>
          <p:cNvPr id="32" name="cerchio FiRefreshCw"/>
          <p:cNvSpPr/>
          <p:nvPr/>
        </p:nvSpPr>
        <p:spPr>
          <a:xfrm>
            <a:off x="5989320" y="1234440"/>
            <a:ext cx="457200" cy="457200"/>
          </a:xfrm>
          <a:prstGeom prst="ellipse">
            <a:avLst/>
          </a:prstGeom>
          <a:solidFill>
            <a:schemeClr val="accent1"/>
          </a:solidFill>
          <a:ln/>
        </p:spPr>
      </p:sp>
      <p:pic>
        <p:nvPicPr>
          <p:cNvPr id="33" name="Image 0" descr="FiRefreshCw">    </p:cNvPr>
          <p:cNvPicPr>
            <a:picLocks noChangeAspect="1"/>
          </p:cNvPicPr>
          <p:nvPr/>
        </p:nvPicPr>
        <p:blipFill>
          <a:blip r:embed="rId1"/>
          <a:stretch>
            <a:fillRect/>
          </a:stretch>
        </p:blipFill>
        <p:spPr>
          <a:xfrm>
            <a:off x="6103620" y="1348740"/>
            <a:ext cx="228600" cy="228600"/>
          </a:xfrm>
          <a:prstGeom prst="rect">
            <a:avLst/>
          </a:prstGeom>
        </p:spPr>
      </p:pic>
      <p:sp>
        <p:nvSpPr>
          <p:cNvPr id="34" name="Text 30"/>
          <p:cNvSpPr txBox="1"/>
          <p:nvPr/>
        </p:nvSpPr>
        <p:spPr>
          <a:xfrm>
            <a:off x="6583680" y="123444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Apprendimento organizzativo</a:t>
            </a:r>
            <a:endParaRPr lang="en-US" sz="1300" dirty="0"/>
          </a:p>
        </p:txBody>
      </p:sp>
      <p:sp>
        <p:nvSpPr>
          <p:cNvPr id="35" name="Text 31"/>
          <p:cNvSpPr txBox="1"/>
          <p:nvPr/>
        </p:nvSpPr>
        <p:spPr>
          <a:xfrm>
            <a:off x="5989320" y="1828800"/>
            <a:ext cx="2514600" cy="667512"/>
          </a:xfrm>
          <a:prstGeom prst="rect">
            <a:avLst/>
          </a:prstGeom>
          <a:noFill/>
          <a:ln/>
        </p:spPr>
        <p:txBody>
          <a:bodyPr wrap="square" lIns="0" tIns="0" rIns="0" bIns="0" rtlCol="0" anchor="t"/>
          <a:lstStyle/>
          <a:p>
            <a:pPr indent="0" marL="0">
              <a:buNone/>
            </a:pPr>
            <a:r>
              <a:rPr lang="en-US" sz="1200" dirty="0">
                <a:solidFill>
                  <a:schemeClr val="tx2"/>
                </a:solidFill>
              </a:rPr>
              <a:t>Ogni ciclo migliora comprensione e pratiche.</a:t>
            </a:r>
            <a:endParaRPr lang="en-US" sz="1200" dirty="0"/>
          </a:p>
        </p:txBody>
      </p:sp>
      <p:sp>
        <p:nvSpPr>
          <p:cNvPr id="36" name="scheda Plan-Do-Check-Act"/>
          <p:cNvSpPr/>
          <p:nvPr/>
        </p:nvSpPr>
        <p:spPr>
          <a:xfrm>
            <a:off x="5806440" y="2743200"/>
            <a:ext cx="2880360" cy="1417320"/>
          </a:xfrm>
          <a:prstGeom prst="roundRect">
            <a:avLst>
              <a:gd name="adj" fmla="val 5161"/>
            </a:avLst>
          </a:prstGeom>
          <a:solidFill>
            <a:schemeClr val="accent6"/>
          </a:solidFill>
          <a:ln/>
        </p:spPr>
      </p:sp>
      <p:sp>
        <p:nvSpPr>
          <p:cNvPr id="37" name="cerchio FiRotateCw"/>
          <p:cNvSpPr/>
          <p:nvPr/>
        </p:nvSpPr>
        <p:spPr>
          <a:xfrm>
            <a:off x="5989320" y="2926080"/>
            <a:ext cx="457200" cy="457200"/>
          </a:xfrm>
          <a:prstGeom prst="ellipse">
            <a:avLst/>
          </a:prstGeom>
          <a:solidFill>
            <a:schemeClr val="accent1"/>
          </a:solidFill>
          <a:ln/>
        </p:spPr>
      </p:sp>
      <p:pic>
        <p:nvPicPr>
          <p:cNvPr id="38" name="Image 1" descr="FiRotateCw">    </p:cNvPr>
          <p:cNvPicPr>
            <a:picLocks noChangeAspect="1"/>
          </p:cNvPicPr>
          <p:nvPr/>
        </p:nvPicPr>
        <p:blipFill>
          <a:blip r:embed="rId2"/>
          <a:stretch>
            <a:fillRect/>
          </a:stretch>
        </p:blipFill>
        <p:spPr>
          <a:xfrm>
            <a:off x="6103620" y="3040380"/>
            <a:ext cx="228600" cy="228600"/>
          </a:xfrm>
          <a:prstGeom prst="rect">
            <a:avLst/>
          </a:prstGeom>
        </p:spPr>
      </p:pic>
      <p:sp>
        <p:nvSpPr>
          <p:cNvPr id="39" name="Text 34"/>
          <p:cNvSpPr txBox="1"/>
          <p:nvPr/>
        </p:nvSpPr>
        <p:spPr>
          <a:xfrm>
            <a:off x="6583680" y="292608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Plan-Do-Check-Act</a:t>
            </a:r>
            <a:endParaRPr lang="en-US" sz="1300" dirty="0"/>
          </a:p>
        </p:txBody>
      </p:sp>
      <p:sp>
        <p:nvSpPr>
          <p:cNvPr id="40" name="Text 35"/>
          <p:cNvSpPr txBox="1"/>
          <p:nvPr/>
        </p:nvSpPr>
        <p:spPr>
          <a:xfrm>
            <a:off x="5989320" y="3520440"/>
            <a:ext cx="2514600" cy="530352"/>
          </a:xfrm>
          <a:prstGeom prst="rect">
            <a:avLst/>
          </a:prstGeom>
          <a:noFill/>
          <a:ln/>
        </p:spPr>
        <p:txBody>
          <a:bodyPr wrap="square" lIns="0" tIns="0" rIns="0" bIns="0" rtlCol="0" anchor="t"/>
          <a:lstStyle/>
          <a:p>
            <a:pPr indent="0" marL="0">
              <a:buNone/>
            </a:pPr>
            <a:r>
              <a:rPr lang="en-US" sz="1200" dirty="0">
                <a:solidFill>
                  <a:schemeClr val="tx2"/>
                </a:solidFill>
              </a:rPr>
              <a:t>Il miglioramento continuo (Deming), applicato all'adozione.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Pratiche replicabili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riquadro Che cosa si porta via da un pilota (scenario B, fittizio)"/>
          <p:cNvSpPr/>
          <p:nvPr/>
        </p:nvSpPr>
        <p:spPr>
          <a:xfrm>
            <a:off x="457200" y="1051560"/>
            <a:ext cx="3977640" cy="2423160"/>
          </a:xfrm>
          <a:prstGeom prst="roundRect">
            <a:avLst>
              <a:gd name="adj" fmla="val 3019"/>
            </a:avLst>
          </a:prstGeom>
          <a:solidFill>
            <a:schemeClr val="accent6"/>
          </a:solidFill>
          <a:ln/>
        </p:spPr>
      </p:sp>
      <p:sp>
        <p:nvSpPr>
          <p:cNvPr id="15" name="barra"/>
          <p:cNvSpPr/>
          <p:nvPr/>
        </p:nvSpPr>
        <p:spPr>
          <a:xfrm>
            <a:off x="457200" y="1161288"/>
            <a:ext cx="54864" cy="2203704"/>
          </a:xfrm>
          <a:prstGeom prst="rect">
            <a:avLst/>
          </a:prstGeom>
          <a:solidFill>
            <a:schemeClr val="accent1"/>
          </a:solidFill>
          <a:ln/>
        </p:spPr>
      </p:sp>
      <p:sp>
        <p:nvSpPr>
          <p:cNvPr id="16" name="Text 13"/>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Che cosa si porta via da un pilota (scenario B, fittizio)</a:t>
            </a:r>
            <a:endParaRPr lang="en-US" sz="1100" dirty="0"/>
          </a:p>
        </p:txBody>
      </p:sp>
      <p:sp>
        <p:nvSpPr>
          <p:cNvPr id="17" name="Text 14"/>
          <p:cNvSpPr txBox="1"/>
          <p:nvPr/>
        </p:nvSpPr>
        <p:spPr>
          <a:xfrm>
            <a:off x="658368" y="1435608"/>
            <a:ext cx="3611880" cy="1947672"/>
          </a:xfrm>
          <a:prstGeom prst="rect">
            <a:avLst/>
          </a:prstGeom>
          <a:noFill/>
          <a:ln/>
        </p:spPr>
        <p:txBody>
          <a:bodyPr wrap="square" lIns="0" tIns="0" rIns="0" bIns="0" rtlCol="0" anchor="t"/>
          <a:lstStyle/>
          <a:p>
            <a:pPr indent="0" marL="0">
              <a:buNone/>
            </a:pPr>
            <a:r>
              <a:rPr lang="en-US" sz="1300" dirty="0">
                <a:solidFill>
                  <a:schemeClr val="tx1"/>
                </a:solidFill>
              </a:rPr>
              <a:t>Una raccolta di istruzioni per le offerte standard</a:t>
            </a:r>
            <a:endParaRPr lang="en-US" sz="1300" dirty="0"/>
          </a:p>
          <a:p>
            <a:pPr indent="0" marL="0">
              <a:buNone/>
            </a:pPr>
            <a:endParaRPr lang="en-US" sz="1300" dirty="0"/>
          </a:p>
          <a:p>
            <a:pPr indent="0" marL="0">
              <a:buNone/>
            </a:pPr>
            <a:r>
              <a:rPr lang="en-US" sz="1300" dirty="0">
                <a:solidFill>
                  <a:schemeClr val="tx1"/>
                </a:solidFill>
              </a:rPr>
              <a:t>Cinque esempi commentati</a:t>
            </a:r>
            <a:endParaRPr lang="en-US" sz="1300" dirty="0"/>
          </a:p>
          <a:p>
            <a:pPr indent="0" marL="0">
              <a:buNone/>
            </a:pPr>
            <a:endParaRPr lang="en-US" sz="1300" dirty="0"/>
          </a:p>
          <a:p>
            <a:pPr indent="0" marL="0">
              <a:buNone/>
            </a:pPr>
            <a:r>
              <a:rPr lang="en-US" sz="1300" dirty="0">
                <a:solidFill>
                  <a:schemeClr val="tx1"/>
                </a:solidFill>
              </a:rPr>
              <a:t>Gli errori più frequenti</a:t>
            </a:r>
            <a:endParaRPr lang="en-US" sz="1300" dirty="0"/>
          </a:p>
          <a:p>
            <a:pPr indent="0" marL="0">
              <a:buNone/>
            </a:pPr>
            <a:endParaRPr lang="en-US" sz="1300" dirty="0"/>
          </a:p>
          <a:p>
            <a:pPr indent="0" marL="0">
              <a:buNone/>
            </a:pPr>
            <a:r>
              <a:rPr lang="en-US" sz="1300" dirty="0">
                <a:solidFill>
                  <a:schemeClr val="tx1"/>
                </a:solidFill>
              </a:rPr>
              <a:t>Una procedura di verifica</a:t>
            </a:r>
            <a:endParaRPr lang="en-US" sz="1300" dirty="0"/>
          </a:p>
        </p:txBody>
      </p:sp>
      <p:sp>
        <p:nvSpPr>
          <p:cNvPr id="18" name="scheda Rendere trasferibile"/>
          <p:cNvSpPr/>
          <p:nvPr/>
        </p:nvSpPr>
        <p:spPr>
          <a:xfrm>
            <a:off x="4709160" y="1051560"/>
            <a:ext cx="3977640" cy="1143000"/>
          </a:xfrm>
          <a:prstGeom prst="roundRect">
            <a:avLst>
              <a:gd name="adj" fmla="val 6400"/>
            </a:avLst>
          </a:prstGeom>
          <a:solidFill>
            <a:schemeClr val="bg2"/>
          </a:solidFill>
          <a:ln/>
        </p:spPr>
      </p:sp>
      <p:sp>
        <p:nvSpPr>
          <p:cNvPr id="19" name="cerchio FiCopy"/>
          <p:cNvSpPr/>
          <p:nvPr/>
        </p:nvSpPr>
        <p:spPr>
          <a:xfrm>
            <a:off x="4892040" y="1234440"/>
            <a:ext cx="457200" cy="457200"/>
          </a:xfrm>
          <a:prstGeom prst="ellipse">
            <a:avLst/>
          </a:prstGeom>
          <a:solidFill>
            <a:schemeClr val="accent1"/>
          </a:solidFill>
          <a:ln/>
        </p:spPr>
      </p:sp>
      <p:pic>
        <p:nvPicPr>
          <p:cNvPr id="20" name="Image 0" descr="FiCopy">    </p:cNvPr>
          <p:cNvPicPr>
            <a:picLocks noChangeAspect="1"/>
          </p:cNvPicPr>
          <p:nvPr/>
        </p:nvPicPr>
        <p:blipFill>
          <a:blip r:embed="rId1"/>
          <a:stretch>
            <a:fillRect/>
          </a:stretch>
        </p:blipFill>
        <p:spPr>
          <a:xfrm>
            <a:off x="5006340" y="1348740"/>
            <a:ext cx="228600" cy="228600"/>
          </a:xfrm>
          <a:prstGeom prst="rect">
            <a:avLst/>
          </a:prstGeom>
        </p:spPr>
      </p:pic>
      <p:sp>
        <p:nvSpPr>
          <p:cNvPr id="21" name="Text 17"/>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Rendere trasferibile</a:t>
            </a:r>
            <a:endParaRPr lang="en-US" sz="1300" dirty="0"/>
          </a:p>
        </p:txBody>
      </p:sp>
      <p:sp>
        <p:nvSpPr>
          <p:cNvPr id="22" name="Text 18"/>
          <p:cNvSpPr txBox="1"/>
          <p:nvPr/>
        </p:nvSpPr>
        <p:spPr>
          <a:xfrm>
            <a:off x="4892040" y="1828800"/>
            <a:ext cx="3611880" cy="256032"/>
          </a:xfrm>
          <a:prstGeom prst="rect">
            <a:avLst/>
          </a:prstGeom>
          <a:noFill/>
          <a:ln/>
        </p:spPr>
        <p:txBody>
          <a:bodyPr wrap="square" lIns="0" tIns="0" rIns="0" bIns="0" rtlCol="0" anchor="t"/>
          <a:lstStyle/>
          <a:p>
            <a:pPr indent="0" marL="0">
              <a:buNone/>
            </a:pPr>
            <a:r>
              <a:rPr lang="en-US" sz="1200" dirty="0">
                <a:solidFill>
                  <a:schemeClr val="tx2"/>
                </a:solidFill>
              </a:rPr>
              <a:t>Chi viene dopo parte più avanti.</a:t>
            </a:r>
            <a:endParaRPr lang="en-US" sz="1200" dirty="0"/>
          </a:p>
        </p:txBody>
      </p:sp>
      <p:sp>
        <p:nvSpPr>
          <p:cNvPr id="23" name="scheda Adattare"/>
          <p:cNvSpPr/>
          <p:nvPr/>
        </p:nvSpPr>
        <p:spPr>
          <a:xfrm>
            <a:off x="4709160" y="2331720"/>
            <a:ext cx="3977640" cy="1143000"/>
          </a:xfrm>
          <a:prstGeom prst="roundRect">
            <a:avLst>
              <a:gd name="adj" fmla="val 6400"/>
            </a:avLst>
          </a:prstGeom>
          <a:solidFill>
            <a:schemeClr val="accent6"/>
          </a:solidFill>
          <a:ln/>
        </p:spPr>
      </p:sp>
      <p:sp>
        <p:nvSpPr>
          <p:cNvPr id="24" name="cerchio FiSliders"/>
          <p:cNvSpPr/>
          <p:nvPr/>
        </p:nvSpPr>
        <p:spPr>
          <a:xfrm>
            <a:off x="4892040" y="2514600"/>
            <a:ext cx="457200" cy="457200"/>
          </a:xfrm>
          <a:prstGeom prst="ellipse">
            <a:avLst/>
          </a:prstGeom>
          <a:solidFill>
            <a:schemeClr val="accent1"/>
          </a:solidFill>
          <a:ln/>
        </p:spPr>
      </p:sp>
      <p:pic>
        <p:nvPicPr>
          <p:cNvPr id="25" name="Image 1" descr="FiSliders">    </p:cNvPr>
          <p:cNvPicPr>
            <a:picLocks noChangeAspect="1"/>
          </p:cNvPicPr>
          <p:nvPr/>
        </p:nvPicPr>
        <p:blipFill>
          <a:blip r:embed="rId2"/>
          <a:stretch>
            <a:fillRect/>
          </a:stretch>
        </p:blipFill>
        <p:spPr>
          <a:xfrm>
            <a:off x="5006340" y="2628900"/>
            <a:ext cx="228600" cy="228600"/>
          </a:xfrm>
          <a:prstGeom prst="rect">
            <a:avLst/>
          </a:prstGeom>
        </p:spPr>
      </p:pic>
      <p:sp>
        <p:nvSpPr>
          <p:cNvPr id="26" name="Text 21"/>
          <p:cNvSpPr txBox="1"/>
          <p:nvPr/>
        </p:nvSpPr>
        <p:spPr>
          <a:xfrm>
            <a:off x="5486400" y="251460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Adattare</a:t>
            </a:r>
            <a:endParaRPr lang="en-US" sz="1300" dirty="0"/>
          </a:p>
        </p:txBody>
      </p:sp>
      <p:sp>
        <p:nvSpPr>
          <p:cNvPr id="27" name="Text 22"/>
          <p:cNvSpPr txBox="1"/>
          <p:nvPr/>
        </p:nvSpPr>
        <p:spPr>
          <a:xfrm>
            <a:off x="4892040" y="3108960"/>
            <a:ext cx="3611880" cy="256032"/>
          </a:xfrm>
          <a:prstGeom prst="rect">
            <a:avLst/>
          </a:prstGeom>
          <a:noFill/>
          <a:ln/>
        </p:spPr>
        <p:txBody>
          <a:bodyPr wrap="square" lIns="0" tIns="0" rIns="0" bIns="0" rtlCol="0" anchor="t"/>
          <a:lstStyle/>
          <a:p>
            <a:pPr indent="0" marL="0">
              <a:buNone/>
            </a:pPr>
            <a:r>
              <a:rPr lang="en-US" sz="1200" dirty="0">
                <a:solidFill>
                  <a:schemeClr val="tx2"/>
                </a:solidFill>
              </a:rPr>
              <a:t>Altre sedi, altri clienti, altre attività.</a:t>
            </a:r>
            <a:endParaRPr lang="en-US" sz="1200" dirty="0"/>
          </a:p>
        </p:txBody>
      </p:sp>
      <p:sp>
        <p:nvSpPr>
          <p:cNvPr id="28" name="messaggio"/>
          <p:cNvSpPr/>
          <p:nvPr/>
        </p:nvSpPr>
        <p:spPr>
          <a:xfrm>
            <a:off x="457200" y="3657600"/>
            <a:ext cx="8229600" cy="777240"/>
          </a:xfrm>
          <a:prstGeom prst="roundRect">
            <a:avLst>
              <a:gd name="adj" fmla="val 9412"/>
            </a:avLst>
          </a:prstGeom>
          <a:solidFill>
            <a:schemeClr val="tx1"/>
          </a:solidFill>
          <a:ln/>
        </p:spPr>
      </p:sp>
      <p:sp>
        <p:nvSpPr>
          <p:cNvPr id="29" name="Text 24"/>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Il prodotto più prezioso di un pilota è ciò che se ne impara. Un punto di partenza, non una ricetta.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Locale o replicabile?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108960"/>
                <a:gridCol w="3474720"/>
              </a:tblGrid>
              <a:tr h="411480">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Pilota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Estensione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200" b="1" dirty="0">
                          <a:solidFill>
                            <a:schemeClr val="tx1"/>
                          </a:solidFill>
                        </a:rPr>
                        <a:t>Persone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Motivate, scelte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Tutte, anche le meno interessate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Attività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Scelte perché adatte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Più varie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Supporto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Dedicato, diretto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Più diluito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Responsabili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Convinti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Più o meno coinvolti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Attenzione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Alta: effetto novità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Normale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657600"/>
            <a:ext cx="8229600" cy="777240"/>
          </a:xfrm>
          <a:prstGeom prst="roundRect">
            <a:avLst>
              <a:gd name="adj" fmla="val 9412"/>
            </a:avLst>
          </a:prstGeom>
          <a:solidFill>
            <a:schemeClr val="tx1"/>
          </a:solidFill>
          <a:ln/>
        </p:spPr>
      </p:sp>
      <p:sp>
        <p:nvSpPr>
          <p:cNvPr id="16" name="Text 12"/>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Quali condizioni del pilota sono state decisive, e ci sono anche altrove? Un pilota riuscito non è pronto per tutti.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rischi della fretta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Problemi amplificati"/>
          <p:cNvSpPr/>
          <p:nvPr/>
        </p:nvSpPr>
        <p:spPr>
          <a:xfrm>
            <a:off x="457200" y="1051560"/>
            <a:ext cx="2621280" cy="1280160"/>
          </a:xfrm>
          <a:prstGeom prst="roundRect">
            <a:avLst>
              <a:gd name="adj" fmla="val 5714"/>
            </a:avLst>
          </a:prstGeom>
          <a:solidFill>
            <a:schemeClr val="bg2"/>
          </a:solidFill>
          <a:ln/>
        </p:spPr>
      </p:sp>
      <p:sp>
        <p:nvSpPr>
          <p:cNvPr id="15" name="cerchio FiMaximize2"/>
          <p:cNvSpPr/>
          <p:nvPr/>
        </p:nvSpPr>
        <p:spPr>
          <a:xfrm>
            <a:off x="621792" y="1216152"/>
            <a:ext cx="438912" cy="438912"/>
          </a:xfrm>
          <a:prstGeom prst="ellipse">
            <a:avLst/>
          </a:prstGeom>
          <a:solidFill>
            <a:schemeClr val="accent1"/>
          </a:solidFill>
          <a:ln/>
        </p:spPr>
      </p:sp>
      <p:pic>
        <p:nvPicPr>
          <p:cNvPr id="16" name="Image 0" descr="FiMaximize2">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Problemi amplificati</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Istruzioni imperfette ed errori moltiplicati</a:t>
            </a:r>
            <a:endParaRPr lang="en-US" sz="1200" dirty="0"/>
          </a:p>
        </p:txBody>
      </p:sp>
      <p:sp>
        <p:nvSpPr>
          <p:cNvPr id="19" name="Supporto saturato"/>
          <p:cNvSpPr/>
          <p:nvPr/>
        </p:nvSpPr>
        <p:spPr>
          <a:xfrm>
            <a:off x="3261360" y="1051560"/>
            <a:ext cx="2621280" cy="1280160"/>
          </a:xfrm>
          <a:prstGeom prst="roundRect">
            <a:avLst>
              <a:gd name="adj" fmla="val 5714"/>
            </a:avLst>
          </a:prstGeom>
          <a:solidFill>
            <a:schemeClr val="bg2"/>
          </a:solidFill>
          <a:ln/>
        </p:spPr>
      </p:sp>
      <p:sp>
        <p:nvSpPr>
          <p:cNvPr id="20" name="cerchio FiInbox"/>
          <p:cNvSpPr/>
          <p:nvPr/>
        </p:nvSpPr>
        <p:spPr>
          <a:xfrm>
            <a:off x="3425952" y="1216152"/>
            <a:ext cx="438912" cy="438912"/>
          </a:xfrm>
          <a:prstGeom prst="ellipse">
            <a:avLst/>
          </a:prstGeom>
          <a:solidFill>
            <a:schemeClr val="accent1"/>
          </a:solidFill>
          <a:ln/>
        </p:spPr>
      </p:sp>
      <p:pic>
        <p:nvPicPr>
          <p:cNvPr id="21" name="Image 1" descr="FiInbox">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Supporto saturato</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Domande tutte insieme, nessuno che risponda</a:t>
            </a:r>
            <a:endParaRPr lang="en-US" sz="1200" dirty="0"/>
          </a:p>
        </p:txBody>
      </p:sp>
      <p:sp>
        <p:nvSpPr>
          <p:cNvPr id="24" name="Prime esperienze negative"/>
          <p:cNvSpPr/>
          <p:nvPr/>
        </p:nvSpPr>
        <p:spPr>
          <a:xfrm>
            <a:off x="6065520" y="1051560"/>
            <a:ext cx="2621280" cy="1280160"/>
          </a:xfrm>
          <a:prstGeom prst="roundRect">
            <a:avLst>
              <a:gd name="adj" fmla="val 5714"/>
            </a:avLst>
          </a:prstGeom>
          <a:solidFill>
            <a:schemeClr val="bg2"/>
          </a:solidFill>
          <a:ln/>
        </p:spPr>
      </p:sp>
      <p:sp>
        <p:nvSpPr>
          <p:cNvPr id="25" name="cerchio FiThumbsDown"/>
          <p:cNvSpPr/>
          <p:nvPr/>
        </p:nvSpPr>
        <p:spPr>
          <a:xfrm>
            <a:off x="6230112" y="1216152"/>
            <a:ext cx="438912" cy="438912"/>
          </a:xfrm>
          <a:prstGeom prst="ellipse">
            <a:avLst/>
          </a:prstGeom>
          <a:solidFill>
            <a:schemeClr val="accent1"/>
          </a:solidFill>
          <a:ln/>
        </p:spPr>
      </p:sp>
      <p:pic>
        <p:nvPicPr>
          <p:cNvPr id="26" name="Image 2" descr="FiThumbsDown">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Prime esperienze negative</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Difficili da recuperare (16.2)</a:t>
            </a:r>
            <a:endParaRPr lang="en-US" sz="1200" dirty="0"/>
          </a:p>
        </p:txBody>
      </p:sp>
      <p:sp>
        <p:nvSpPr>
          <p:cNvPr id="29" name="Apprendimento disperso"/>
          <p:cNvSpPr/>
          <p:nvPr/>
        </p:nvSpPr>
        <p:spPr>
          <a:xfrm>
            <a:off x="457200" y="2514600"/>
            <a:ext cx="2621280" cy="1280160"/>
          </a:xfrm>
          <a:prstGeom prst="roundRect">
            <a:avLst>
              <a:gd name="adj" fmla="val 5714"/>
            </a:avLst>
          </a:prstGeom>
          <a:solidFill>
            <a:schemeClr val="bg2"/>
          </a:solidFill>
          <a:ln/>
        </p:spPr>
      </p:sp>
      <p:sp>
        <p:nvSpPr>
          <p:cNvPr id="30" name="cerchio FiShuffle"/>
          <p:cNvSpPr/>
          <p:nvPr/>
        </p:nvSpPr>
        <p:spPr>
          <a:xfrm>
            <a:off x="621792" y="2679192"/>
            <a:ext cx="438912" cy="438912"/>
          </a:xfrm>
          <a:prstGeom prst="ellipse">
            <a:avLst/>
          </a:prstGeom>
          <a:solidFill>
            <a:schemeClr val="accent1"/>
          </a:solidFill>
          <a:ln/>
        </p:spPr>
      </p:sp>
      <p:pic>
        <p:nvPicPr>
          <p:cNvPr id="31" name="Image 3" descr="FiShuffle">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Apprendimento disperso</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Troppi modi diversi, difficile capire che cosa funziona</a:t>
            </a:r>
            <a:endParaRPr lang="en-US" sz="1200" dirty="0"/>
          </a:p>
        </p:txBody>
      </p:sp>
      <p:sp>
        <p:nvSpPr>
          <p:cNvPr id="34" name="Abbandono"/>
          <p:cNvSpPr/>
          <p:nvPr/>
        </p:nvSpPr>
        <p:spPr>
          <a:xfrm>
            <a:off x="3261360" y="2514600"/>
            <a:ext cx="2621280" cy="1280160"/>
          </a:xfrm>
          <a:prstGeom prst="roundRect">
            <a:avLst>
              <a:gd name="adj" fmla="val 5714"/>
            </a:avLst>
          </a:prstGeom>
          <a:solidFill>
            <a:schemeClr val="bg2"/>
          </a:solidFill>
          <a:ln/>
        </p:spPr>
      </p:sp>
      <p:sp>
        <p:nvSpPr>
          <p:cNvPr id="35" name="cerchio FiXCircle"/>
          <p:cNvSpPr/>
          <p:nvPr/>
        </p:nvSpPr>
        <p:spPr>
          <a:xfrm>
            <a:off x="3425952" y="2679192"/>
            <a:ext cx="438912" cy="438912"/>
          </a:xfrm>
          <a:prstGeom prst="ellipse">
            <a:avLst/>
          </a:prstGeom>
          <a:solidFill>
            <a:schemeClr val="accent1"/>
          </a:solidFill>
          <a:ln/>
        </p:spPr>
      </p:sp>
      <p:pic>
        <p:nvPicPr>
          <p:cNvPr id="36" name="Image 4" descr="FiXCircle">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Abbandono</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La conclusione errata che l'AI non serve</a:t>
            </a:r>
            <a:endParaRPr lang="en-US" sz="1200" dirty="0"/>
          </a:p>
        </p:txBody>
      </p:sp>
      <p:sp>
        <p:nvSpPr>
          <p:cNvPr id="39" name="Gradualità"/>
          <p:cNvSpPr/>
          <p:nvPr/>
        </p:nvSpPr>
        <p:spPr>
          <a:xfrm>
            <a:off x="6065520" y="2514600"/>
            <a:ext cx="2621280" cy="1280160"/>
          </a:xfrm>
          <a:prstGeom prst="roundRect">
            <a:avLst>
              <a:gd name="adj" fmla="val 5714"/>
            </a:avLst>
          </a:prstGeom>
          <a:solidFill>
            <a:schemeClr val="bg2"/>
          </a:solidFill>
          <a:ln/>
        </p:spPr>
      </p:sp>
      <p:sp>
        <p:nvSpPr>
          <p:cNvPr id="40" name="cerchio FiCheckCircle"/>
          <p:cNvSpPr/>
          <p:nvPr/>
        </p:nvSpPr>
        <p:spPr>
          <a:xfrm>
            <a:off x="6230112" y="2679192"/>
            <a:ext cx="438912" cy="438912"/>
          </a:xfrm>
          <a:prstGeom prst="ellipse">
            <a:avLst/>
          </a:prstGeom>
          <a:solidFill>
            <a:schemeClr val="accent1"/>
          </a:solidFill>
          <a:ln/>
        </p:spPr>
      </p:sp>
      <p:pic>
        <p:nvPicPr>
          <p:cNvPr id="41" name="Image 5" descr="FiCheckCircle">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Gradualità</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Non lentezza indefinita: estendere quando le condizioni sono pronte</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Verificare risultati e condizioni, invece di amplificare problemi non compresi.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pilota riuscito non è automaticamente pronto per tutta l'organizzazione: si estende quando le condizioni del successo sono presenti anche altrove.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16.5  ·  Sperimentazione e diffusione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Cultura, fiducia, partecipazione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cultura favorevole all'AI promuove confronto e fiducia informata, non entusiasmo obbligatorio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Atteggiamenti diversi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Entusiasmo"/>
          <p:cNvSpPr/>
          <p:nvPr/>
        </p:nvSpPr>
        <p:spPr>
          <a:xfrm>
            <a:off x="457200" y="1051560"/>
            <a:ext cx="1965960" cy="1691640"/>
          </a:xfrm>
          <a:prstGeom prst="roundRect">
            <a:avLst>
              <a:gd name="adj" fmla="val 4324"/>
            </a:avLst>
          </a:prstGeom>
          <a:solidFill>
            <a:schemeClr val="bg2"/>
          </a:solidFill>
          <a:ln/>
        </p:spPr>
      </p:sp>
      <p:sp>
        <p:nvSpPr>
          <p:cNvPr id="15" name="cerchio FiZap"/>
          <p:cNvSpPr/>
          <p:nvPr/>
        </p:nvSpPr>
        <p:spPr>
          <a:xfrm>
            <a:off x="1143000" y="1115568"/>
            <a:ext cx="548640" cy="548640"/>
          </a:xfrm>
          <a:prstGeom prst="ellipse">
            <a:avLst/>
          </a:prstGeom>
          <a:solidFill>
            <a:schemeClr val="accent1"/>
          </a:solidFill>
          <a:ln/>
        </p:spPr>
      </p:sp>
      <p:pic>
        <p:nvPicPr>
          <p:cNvPr id="16" name="Image 0" descr="FiZap">    </p:cNvPr>
          <p:cNvPicPr>
            <a:picLocks noChangeAspect="1"/>
          </p:cNvPicPr>
          <p:nvPr/>
        </p:nvPicPr>
        <p:blipFill>
          <a:blip r:embed="rId1"/>
          <a:stretch>
            <a:fillRect/>
          </a:stretch>
        </p:blipFill>
        <p:spPr>
          <a:xfrm>
            <a:off x="1280160" y="1252728"/>
            <a:ext cx="274320" cy="274320"/>
          </a:xfrm>
          <a:prstGeom prst="rect">
            <a:avLst/>
          </a:prstGeom>
        </p:spPr>
      </p:pic>
      <p:sp>
        <p:nvSpPr>
          <p:cNvPr id="17" name="Text 13"/>
          <p:cNvSpPr txBox="1"/>
          <p:nvPr/>
        </p:nvSpPr>
        <p:spPr>
          <a:xfrm>
            <a:off x="548640" y="1719072"/>
            <a:ext cx="1783080" cy="347472"/>
          </a:xfrm>
          <a:prstGeom prst="rect">
            <a:avLst/>
          </a:prstGeom>
          <a:noFill/>
          <a:ln/>
        </p:spPr>
        <p:txBody>
          <a:bodyPr wrap="square" lIns="0" tIns="0" rIns="0" bIns="0" rtlCol="0" anchor="t"/>
          <a:lstStyle/>
          <a:p>
            <a:pPr algn="ctr" indent="0" marL="0">
              <a:buNone/>
            </a:pPr>
            <a:r>
              <a:rPr lang="en-US" sz="1400" b="1" dirty="0">
                <a:solidFill>
                  <a:schemeClr val="tx1"/>
                </a:solidFill>
              </a:rPr>
              <a:t>Entusiasmo</a:t>
            </a:r>
            <a:endParaRPr lang="en-US" sz="1400" dirty="0"/>
          </a:p>
        </p:txBody>
      </p:sp>
      <p:sp>
        <p:nvSpPr>
          <p:cNvPr id="18" name="Text 14"/>
          <p:cNvSpPr txBox="1"/>
          <p:nvPr/>
        </p:nvSpPr>
        <p:spPr>
          <a:xfrm>
            <a:off x="566928" y="2075688"/>
            <a:ext cx="1746504" cy="621792"/>
          </a:xfrm>
          <a:prstGeom prst="rect">
            <a:avLst/>
          </a:prstGeom>
          <a:noFill/>
          <a:ln/>
        </p:spPr>
        <p:txBody>
          <a:bodyPr wrap="square" lIns="0" tIns="0" rIns="0" bIns="0" rtlCol="0" anchor="t"/>
          <a:lstStyle/>
          <a:p>
            <a:pPr algn="ctr" indent="0" marL="0">
              <a:buNone/>
            </a:pPr>
            <a:r>
              <a:rPr lang="en-US" sz="1100" dirty="0">
                <a:solidFill>
                  <a:schemeClr val="tx2"/>
                </a:solidFill>
              </a:rPr>
              <a:t>Porta a sperimentare; rischia di sovrastimare</a:t>
            </a:r>
            <a:endParaRPr lang="en-US" sz="1100" dirty="0"/>
          </a:p>
        </p:txBody>
      </p:sp>
      <p:sp>
        <p:nvSpPr>
          <p:cNvPr id="19" name="Curiosità"/>
          <p:cNvSpPr/>
          <p:nvPr/>
        </p:nvSpPr>
        <p:spPr>
          <a:xfrm>
            <a:off x="2560320" y="1051560"/>
            <a:ext cx="1965960" cy="1691640"/>
          </a:xfrm>
          <a:prstGeom prst="roundRect">
            <a:avLst>
              <a:gd name="adj" fmla="val 4324"/>
            </a:avLst>
          </a:prstGeom>
          <a:solidFill>
            <a:schemeClr val="bg2"/>
          </a:solidFill>
          <a:ln/>
        </p:spPr>
      </p:sp>
      <p:sp>
        <p:nvSpPr>
          <p:cNvPr id="20" name="cerchio FiSearch"/>
          <p:cNvSpPr/>
          <p:nvPr/>
        </p:nvSpPr>
        <p:spPr>
          <a:xfrm>
            <a:off x="3246120" y="1115568"/>
            <a:ext cx="548640" cy="548640"/>
          </a:xfrm>
          <a:prstGeom prst="ellipse">
            <a:avLst/>
          </a:prstGeom>
          <a:solidFill>
            <a:schemeClr val="accent1"/>
          </a:solidFill>
          <a:ln/>
        </p:spPr>
      </p:sp>
      <p:pic>
        <p:nvPicPr>
          <p:cNvPr id="21" name="Image 1" descr="FiSearch">    </p:cNvPr>
          <p:cNvPicPr>
            <a:picLocks noChangeAspect="1"/>
          </p:cNvPicPr>
          <p:nvPr/>
        </p:nvPicPr>
        <p:blipFill>
          <a:blip r:embed="rId2"/>
          <a:stretch>
            <a:fillRect/>
          </a:stretch>
        </p:blipFill>
        <p:spPr>
          <a:xfrm>
            <a:off x="3383280" y="1252728"/>
            <a:ext cx="274320" cy="274320"/>
          </a:xfrm>
          <a:prstGeom prst="rect">
            <a:avLst/>
          </a:prstGeom>
        </p:spPr>
      </p:pic>
      <p:sp>
        <p:nvSpPr>
          <p:cNvPr id="22" name="Text 17"/>
          <p:cNvSpPr txBox="1"/>
          <p:nvPr/>
        </p:nvSpPr>
        <p:spPr>
          <a:xfrm>
            <a:off x="2651760" y="1719072"/>
            <a:ext cx="1783080" cy="347472"/>
          </a:xfrm>
          <a:prstGeom prst="rect">
            <a:avLst/>
          </a:prstGeom>
          <a:noFill/>
          <a:ln/>
        </p:spPr>
        <p:txBody>
          <a:bodyPr wrap="square" lIns="0" tIns="0" rIns="0" bIns="0" rtlCol="0" anchor="t"/>
          <a:lstStyle/>
          <a:p>
            <a:pPr algn="ctr" indent="0" marL="0">
              <a:buNone/>
            </a:pPr>
            <a:r>
              <a:rPr lang="en-US" sz="1400" b="1" dirty="0">
                <a:solidFill>
                  <a:schemeClr val="tx1"/>
                </a:solidFill>
              </a:rPr>
              <a:t>Curiosità</a:t>
            </a:r>
            <a:endParaRPr lang="en-US" sz="1400" dirty="0"/>
          </a:p>
        </p:txBody>
      </p:sp>
      <p:sp>
        <p:nvSpPr>
          <p:cNvPr id="23" name="Text 18"/>
          <p:cNvSpPr txBox="1"/>
          <p:nvPr/>
        </p:nvSpPr>
        <p:spPr>
          <a:xfrm>
            <a:off x="2670048" y="2075688"/>
            <a:ext cx="1746504" cy="621792"/>
          </a:xfrm>
          <a:prstGeom prst="rect">
            <a:avLst/>
          </a:prstGeom>
          <a:noFill/>
          <a:ln/>
        </p:spPr>
        <p:txBody>
          <a:bodyPr wrap="square" lIns="0" tIns="0" rIns="0" bIns="0" rtlCol="0" anchor="t"/>
          <a:lstStyle/>
          <a:p>
            <a:pPr algn="ctr" indent="0" marL="0">
              <a:buNone/>
            </a:pPr>
            <a:r>
              <a:rPr lang="en-US" sz="1100" dirty="0">
                <a:solidFill>
                  <a:schemeClr val="tx2"/>
                </a:solidFill>
              </a:rPr>
              <a:t>Porta a esplorare</a:t>
            </a:r>
            <a:endParaRPr lang="en-US" sz="1100" dirty="0"/>
          </a:p>
        </p:txBody>
      </p:sp>
      <p:sp>
        <p:nvSpPr>
          <p:cNvPr id="24" name="Scetticismo"/>
          <p:cNvSpPr/>
          <p:nvPr/>
        </p:nvSpPr>
        <p:spPr>
          <a:xfrm>
            <a:off x="4663440" y="1051560"/>
            <a:ext cx="1965960" cy="1691640"/>
          </a:xfrm>
          <a:prstGeom prst="roundRect">
            <a:avLst>
              <a:gd name="adj" fmla="val 4324"/>
            </a:avLst>
          </a:prstGeom>
          <a:solidFill>
            <a:schemeClr val="bg2"/>
          </a:solidFill>
          <a:ln/>
        </p:spPr>
      </p:sp>
      <p:sp>
        <p:nvSpPr>
          <p:cNvPr id="25" name="cerchio FiHelpCircle"/>
          <p:cNvSpPr/>
          <p:nvPr/>
        </p:nvSpPr>
        <p:spPr>
          <a:xfrm>
            <a:off x="5349240" y="1115568"/>
            <a:ext cx="548640" cy="548640"/>
          </a:xfrm>
          <a:prstGeom prst="ellipse">
            <a:avLst/>
          </a:prstGeom>
          <a:solidFill>
            <a:schemeClr val="accent1"/>
          </a:solidFill>
          <a:ln/>
        </p:spPr>
      </p:sp>
      <p:pic>
        <p:nvPicPr>
          <p:cNvPr id="26" name="Image 2" descr="FiHelpCircle">    </p:cNvPr>
          <p:cNvPicPr>
            <a:picLocks noChangeAspect="1"/>
          </p:cNvPicPr>
          <p:nvPr/>
        </p:nvPicPr>
        <p:blipFill>
          <a:blip r:embed="rId3"/>
          <a:stretch>
            <a:fillRect/>
          </a:stretch>
        </p:blipFill>
        <p:spPr>
          <a:xfrm>
            <a:off x="5486400" y="1252728"/>
            <a:ext cx="274320" cy="274320"/>
          </a:xfrm>
          <a:prstGeom prst="rect">
            <a:avLst/>
          </a:prstGeom>
        </p:spPr>
      </p:pic>
      <p:sp>
        <p:nvSpPr>
          <p:cNvPr id="27" name="Text 21"/>
          <p:cNvSpPr txBox="1"/>
          <p:nvPr/>
        </p:nvSpPr>
        <p:spPr>
          <a:xfrm>
            <a:off x="4754880" y="1719072"/>
            <a:ext cx="1783080" cy="347472"/>
          </a:xfrm>
          <a:prstGeom prst="rect">
            <a:avLst/>
          </a:prstGeom>
          <a:noFill/>
          <a:ln/>
        </p:spPr>
        <p:txBody>
          <a:bodyPr wrap="square" lIns="0" tIns="0" rIns="0" bIns="0" rtlCol="0" anchor="t"/>
          <a:lstStyle/>
          <a:p>
            <a:pPr algn="ctr" indent="0" marL="0">
              <a:buNone/>
            </a:pPr>
            <a:r>
              <a:rPr lang="en-US" sz="1400" b="1" dirty="0">
                <a:solidFill>
                  <a:schemeClr val="tx1"/>
                </a:solidFill>
              </a:rPr>
              <a:t>Scetticismo</a:t>
            </a:r>
            <a:endParaRPr lang="en-US" sz="1400" dirty="0"/>
          </a:p>
        </p:txBody>
      </p:sp>
      <p:sp>
        <p:nvSpPr>
          <p:cNvPr id="28" name="Text 22"/>
          <p:cNvSpPr txBox="1"/>
          <p:nvPr/>
        </p:nvSpPr>
        <p:spPr>
          <a:xfrm>
            <a:off x="4773168" y="2075688"/>
            <a:ext cx="1746504" cy="621792"/>
          </a:xfrm>
          <a:prstGeom prst="rect">
            <a:avLst/>
          </a:prstGeom>
          <a:noFill/>
          <a:ln/>
        </p:spPr>
        <p:txBody>
          <a:bodyPr wrap="square" lIns="0" tIns="0" rIns="0" bIns="0" rtlCol="0" anchor="t"/>
          <a:lstStyle/>
          <a:p>
            <a:pPr algn="ctr" indent="0" marL="0">
              <a:buNone/>
            </a:pPr>
            <a:r>
              <a:rPr lang="en-US" sz="1100" dirty="0">
                <a:solidFill>
                  <a:schemeClr val="tx2"/>
                </a:solidFill>
              </a:rPr>
              <a:t>Porta a verificare; può bloccare</a:t>
            </a:r>
            <a:endParaRPr lang="en-US" sz="1100" dirty="0"/>
          </a:p>
        </p:txBody>
      </p:sp>
      <p:sp>
        <p:nvSpPr>
          <p:cNvPr id="29" name="Preoccupazione"/>
          <p:cNvSpPr/>
          <p:nvPr/>
        </p:nvSpPr>
        <p:spPr>
          <a:xfrm>
            <a:off x="6766560" y="1051560"/>
            <a:ext cx="1965960" cy="1691640"/>
          </a:xfrm>
          <a:prstGeom prst="roundRect">
            <a:avLst>
              <a:gd name="adj" fmla="val 4324"/>
            </a:avLst>
          </a:prstGeom>
          <a:solidFill>
            <a:schemeClr val="bg2"/>
          </a:solidFill>
          <a:ln/>
        </p:spPr>
      </p:sp>
      <p:sp>
        <p:nvSpPr>
          <p:cNvPr id="30" name="cerchio FiAlertCircle"/>
          <p:cNvSpPr/>
          <p:nvPr/>
        </p:nvSpPr>
        <p:spPr>
          <a:xfrm>
            <a:off x="7452360" y="1115568"/>
            <a:ext cx="548640" cy="548640"/>
          </a:xfrm>
          <a:prstGeom prst="ellipse">
            <a:avLst/>
          </a:prstGeom>
          <a:solidFill>
            <a:schemeClr val="accent1"/>
          </a:solidFill>
          <a:ln/>
        </p:spPr>
      </p:sp>
      <p:pic>
        <p:nvPicPr>
          <p:cNvPr id="31" name="Image 3" descr="FiAlertCircle">    </p:cNvPr>
          <p:cNvPicPr>
            <a:picLocks noChangeAspect="1"/>
          </p:cNvPicPr>
          <p:nvPr/>
        </p:nvPicPr>
        <p:blipFill>
          <a:blip r:embed="rId4"/>
          <a:stretch>
            <a:fillRect/>
          </a:stretch>
        </p:blipFill>
        <p:spPr>
          <a:xfrm>
            <a:off x="7589520" y="1252728"/>
            <a:ext cx="274320" cy="274320"/>
          </a:xfrm>
          <a:prstGeom prst="rect">
            <a:avLst/>
          </a:prstGeom>
        </p:spPr>
      </p:pic>
      <p:sp>
        <p:nvSpPr>
          <p:cNvPr id="32" name="Text 25"/>
          <p:cNvSpPr txBox="1"/>
          <p:nvPr/>
        </p:nvSpPr>
        <p:spPr>
          <a:xfrm>
            <a:off x="6858000" y="1719072"/>
            <a:ext cx="1783080" cy="347472"/>
          </a:xfrm>
          <a:prstGeom prst="rect">
            <a:avLst/>
          </a:prstGeom>
          <a:noFill/>
          <a:ln/>
        </p:spPr>
        <p:txBody>
          <a:bodyPr wrap="square" lIns="0" tIns="0" rIns="0" bIns="0" rtlCol="0" anchor="t"/>
          <a:lstStyle/>
          <a:p>
            <a:pPr algn="ctr" indent="0" marL="0">
              <a:buNone/>
            </a:pPr>
            <a:r>
              <a:rPr lang="en-US" sz="1400" b="1" dirty="0">
                <a:solidFill>
                  <a:schemeClr val="tx1"/>
                </a:solidFill>
              </a:rPr>
              <a:t>Preoccupazione</a:t>
            </a:r>
            <a:endParaRPr lang="en-US" sz="1400" dirty="0"/>
          </a:p>
        </p:txBody>
      </p:sp>
      <p:sp>
        <p:nvSpPr>
          <p:cNvPr id="33" name="Text 26"/>
          <p:cNvSpPr txBox="1"/>
          <p:nvPr/>
        </p:nvSpPr>
        <p:spPr>
          <a:xfrm>
            <a:off x="6876288" y="2075688"/>
            <a:ext cx="1746504" cy="621792"/>
          </a:xfrm>
          <a:prstGeom prst="rect">
            <a:avLst/>
          </a:prstGeom>
          <a:noFill/>
          <a:ln/>
        </p:spPr>
        <p:txBody>
          <a:bodyPr wrap="square" lIns="0" tIns="0" rIns="0" bIns="0" rtlCol="0" anchor="t"/>
          <a:lstStyle/>
          <a:p>
            <a:pPr algn="ctr" indent="0" marL="0">
              <a:buNone/>
            </a:pPr>
            <a:r>
              <a:rPr lang="en-US" sz="1100" dirty="0">
                <a:solidFill>
                  <a:schemeClr val="tx2"/>
                </a:solidFill>
              </a:rPr>
              <a:t>Segnala ciò che conta, merita ascolto</a:t>
            </a:r>
            <a:endParaRPr lang="en-US" sz="1100" dirty="0"/>
          </a:p>
        </p:txBody>
      </p:sp>
      <p:sp>
        <p:nvSpPr>
          <p:cNvPr id="34" name="Text 27"/>
          <p:cNvSpPr txBox="1"/>
          <p:nvPr/>
        </p:nvSpPr>
        <p:spPr>
          <a:xfrm>
            <a:off x="457200" y="2880360"/>
            <a:ext cx="8229600" cy="292608"/>
          </a:xfrm>
          <a:prstGeom prst="rect">
            <a:avLst/>
          </a:prstGeom>
          <a:noFill/>
          <a:ln/>
        </p:spPr>
        <p:txBody>
          <a:bodyPr wrap="square" lIns="0" tIns="0" rIns="0" bIns="0" rtlCol="0" anchor="t"/>
          <a:lstStyle/>
          <a:p>
            <a:pPr indent="0" marL="0">
              <a:buNone/>
            </a:pPr>
            <a:r>
              <a:rPr lang="en-US" sz="1300" b="1" dirty="0">
                <a:solidFill>
                  <a:schemeClr val="tx1"/>
                </a:solidFill>
              </a:rPr>
              <a:t>Timori su mansioni, competenze, autonomia</a:t>
            </a:r>
            <a:endParaRPr lang="en-US" sz="1300" dirty="0"/>
          </a:p>
        </p:txBody>
      </p:sp>
      <p:sp>
        <p:nvSpPr>
          <p:cNvPr id="35" name="blocco Perderò il lavoro?"/>
          <p:cNvSpPr/>
          <p:nvPr/>
        </p:nvSpPr>
        <p:spPr>
          <a:xfrm>
            <a:off x="457200" y="3218688"/>
            <a:ext cx="2615184" cy="502920"/>
          </a:xfrm>
          <a:prstGeom prst="roundRect">
            <a:avLst>
              <a:gd name="adj" fmla="val 21818"/>
            </a:avLst>
          </a:prstGeom>
          <a:solidFill>
            <a:schemeClr val="accent6"/>
          </a:solidFill>
          <a:ln/>
        </p:spPr>
      </p:sp>
      <p:sp>
        <p:nvSpPr>
          <p:cNvPr id="36" name="Text 29"/>
          <p:cNvSpPr txBox="1"/>
          <p:nvPr/>
        </p:nvSpPr>
        <p:spPr>
          <a:xfrm>
            <a:off x="502920" y="3218688"/>
            <a:ext cx="2523744" cy="502920"/>
          </a:xfrm>
          <a:prstGeom prst="rect">
            <a:avLst/>
          </a:prstGeom>
          <a:noFill/>
          <a:ln/>
        </p:spPr>
        <p:txBody>
          <a:bodyPr wrap="square" lIns="0" tIns="0" rIns="0" bIns="0" rtlCol="0" anchor="ctr"/>
          <a:lstStyle/>
          <a:p>
            <a:pPr algn="ctr" indent="0" marL="0">
              <a:buNone/>
            </a:pPr>
            <a:r>
              <a:rPr lang="en-US" sz="1200" b="1" dirty="0">
                <a:solidFill>
                  <a:schemeClr val="tx1"/>
                </a:solidFill>
              </a:rPr>
              <a:t>Perderò il lavoro?</a:t>
            </a:r>
            <a:endParaRPr lang="en-US" sz="1200" dirty="0"/>
          </a:p>
        </p:txBody>
      </p:sp>
      <p:sp>
        <p:nvSpPr>
          <p:cNvPr id="37" name="blocco Le mie competenze varranno ancora?"/>
          <p:cNvSpPr/>
          <p:nvPr/>
        </p:nvSpPr>
        <p:spPr>
          <a:xfrm>
            <a:off x="3264408" y="3218688"/>
            <a:ext cx="2615184" cy="502920"/>
          </a:xfrm>
          <a:prstGeom prst="roundRect">
            <a:avLst>
              <a:gd name="adj" fmla="val 21818"/>
            </a:avLst>
          </a:prstGeom>
          <a:solidFill>
            <a:schemeClr val="accent6"/>
          </a:solidFill>
          <a:ln/>
        </p:spPr>
      </p:sp>
      <p:sp>
        <p:nvSpPr>
          <p:cNvPr id="38" name="Text 31"/>
          <p:cNvSpPr txBox="1"/>
          <p:nvPr/>
        </p:nvSpPr>
        <p:spPr>
          <a:xfrm>
            <a:off x="3310128" y="3218688"/>
            <a:ext cx="2523744" cy="502920"/>
          </a:xfrm>
          <a:prstGeom prst="rect">
            <a:avLst/>
          </a:prstGeom>
          <a:noFill/>
          <a:ln/>
        </p:spPr>
        <p:txBody>
          <a:bodyPr wrap="square" lIns="0" tIns="0" rIns="0" bIns="0" rtlCol="0" anchor="ctr"/>
          <a:lstStyle/>
          <a:p>
            <a:pPr algn="ctr" indent="0" marL="0">
              <a:buNone/>
            </a:pPr>
            <a:r>
              <a:rPr lang="en-US" sz="1200" b="1" dirty="0">
                <a:solidFill>
                  <a:schemeClr val="tx1"/>
                </a:solidFill>
              </a:rPr>
              <a:t>Le mie competenze varranno ancora?</a:t>
            </a:r>
            <a:endParaRPr lang="en-US" sz="1200" dirty="0"/>
          </a:p>
        </p:txBody>
      </p:sp>
      <p:sp>
        <p:nvSpPr>
          <p:cNvPr id="39" name="blocco Dovrò lavorare come dice la macchina?"/>
          <p:cNvSpPr/>
          <p:nvPr/>
        </p:nvSpPr>
        <p:spPr>
          <a:xfrm>
            <a:off x="6071616" y="3218688"/>
            <a:ext cx="2615184" cy="502920"/>
          </a:xfrm>
          <a:prstGeom prst="roundRect">
            <a:avLst>
              <a:gd name="adj" fmla="val 21818"/>
            </a:avLst>
          </a:prstGeom>
          <a:solidFill>
            <a:schemeClr val="accent6"/>
          </a:solidFill>
          <a:ln/>
        </p:spPr>
      </p:sp>
      <p:sp>
        <p:nvSpPr>
          <p:cNvPr id="40" name="Text 33"/>
          <p:cNvSpPr txBox="1"/>
          <p:nvPr/>
        </p:nvSpPr>
        <p:spPr>
          <a:xfrm>
            <a:off x="6117336" y="3218688"/>
            <a:ext cx="2523744" cy="502920"/>
          </a:xfrm>
          <a:prstGeom prst="rect">
            <a:avLst/>
          </a:prstGeom>
          <a:noFill/>
          <a:ln/>
        </p:spPr>
        <p:txBody>
          <a:bodyPr wrap="square" lIns="0" tIns="0" rIns="0" bIns="0" rtlCol="0" anchor="ctr"/>
          <a:lstStyle/>
          <a:p>
            <a:pPr algn="ctr" indent="0" marL="0">
              <a:buNone/>
            </a:pPr>
            <a:r>
              <a:rPr lang="en-US" sz="1200" b="1" dirty="0">
                <a:solidFill>
                  <a:schemeClr val="tx1"/>
                </a:solidFill>
              </a:rPr>
              <a:t>Dovrò lavorare come dice la macchina?</a:t>
            </a:r>
            <a:endParaRPr lang="en-US" sz="1200" dirty="0"/>
          </a:p>
        </p:txBody>
      </p:sp>
      <p:sp>
        <p:nvSpPr>
          <p:cNvPr id="41" name="messaggio"/>
          <p:cNvSpPr/>
          <p:nvPr/>
        </p:nvSpPr>
        <p:spPr>
          <a:xfrm>
            <a:off x="457200" y="3886200"/>
            <a:ext cx="8229600" cy="594360"/>
          </a:xfrm>
          <a:prstGeom prst="roundRect">
            <a:avLst>
              <a:gd name="adj" fmla="val 12308"/>
            </a:avLst>
          </a:prstGeom>
          <a:solidFill>
            <a:schemeClr val="tx1"/>
          </a:solidFill>
          <a:ln/>
        </p:spPr>
      </p:sp>
      <p:sp>
        <p:nvSpPr>
          <p:cNvPr id="42" name="Text 35"/>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400" dirty="0">
                <a:solidFill>
                  <a:schemeClr val="bg1"/>
                </a:solidFill>
              </a:rPr>
              <a:t>Ignorati, i timori diventano sotterranei. Riconoscerli, dire ciò che si sa e ciò che non si sa.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Fiducia informata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fiducia eccessiva"/>
          <p:cNvSpPr/>
          <p:nvPr/>
        </p:nvSpPr>
        <p:spPr>
          <a:xfrm>
            <a:off x="457200" y="1051560"/>
            <a:ext cx="2615184" cy="1828800"/>
          </a:xfrm>
          <a:prstGeom prst="roundRect">
            <a:avLst>
              <a:gd name="adj" fmla="val 4000"/>
            </a:avLst>
          </a:prstGeom>
          <a:solidFill>
            <a:schemeClr val="bg2"/>
          </a:solidFill>
          <a:ln/>
        </p:spPr>
      </p:sp>
      <p:sp>
        <p:nvSpPr>
          <p:cNvPr id="15" name="Text 12"/>
          <p:cNvSpPr txBox="1"/>
          <p:nvPr/>
        </p:nvSpPr>
        <p:spPr>
          <a:xfrm>
            <a:off x="594360" y="1143000"/>
            <a:ext cx="2340864" cy="411480"/>
          </a:xfrm>
          <a:prstGeom prst="rect">
            <a:avLst/>
          </a:prstGeom>
          <a:noFill/>
          <a:ln/>
        </p:spPr>
        <p:txBody>
          <a:bodyPr wrap="square" lIns="0" tIns="0" rIns="0" bIns="0" rtlCol="0" anchor="t"/>
          <a:lstStyle/>
          <a:p>
            <a:pPr algn="ctr" indent="0" marL="0">
              <a:buNone/>
            </a:pPr>
            <a:r>
              <a:rPr lang="en-US" sz="1500" b="1" dirty="0">
                <a:solidFill>
                  <a:schemeClr val="accent1"/>
                </a:solidFill>
              </a:rPr>
              <a:t>Sfiducia eccessiva</a:t>
            </a:r>
            <a:endParaRPr lang="en-US" sz="1500" dirty="0"/>
          </a:p>
        </p:txBody>
      </p:sp>
      <p:sp>
        <p:nvSpPr>
          <p:cNvPr id="16" name="Text 13"/>
          <p:cNvSpPr txBox="1"/>
          <p:nvPr/>
        </p:nvSpPr>
        <p:spPr>
          <a:xfrm>
            <a:off x="594360" y="1600200"/>
            <a:ext cx="2340864" cy="1188720"/>
          </a:xfrm>
          <a:prstGeom prst="rect">
            <a:avLst/>
          </a:prstGeom>
          <a:noFill/>
          <a:ln/>
        </p:spPr>
        <p:txBody>
          <a:bodyPr wrap="square" lIns="0" tIns="0" rIns="0" bIns="0" rtlCol="0" anchor="t"/>
          <a:lstStyle/>
          <a:p>
            <a:pPr algn="ctr" indent="0" marL="0">
              <a:buNone/>
            </a:pPr>
            <a:r>
              <a:rPr lang="en-US" sz="1200" dirty="0">
                <a:solidFill>
                  <a:schemeClr val="tx1"/>
                </a:solidFill>
              </a:rPr>
              <a:t>Rifiuto anche dove sarebbe utile; si vedono solo gli errori</a:t>
            </a:r>
            <a:endParaRPr lang="en-US" sz="1200" dirty="0"/>
          </a:p>
        </p:txBody>
      </p:sp>
      <p:sp>
        <p:nvSpPr>
          <p:cNvPr id="17" name="Fiducia informata"/>
          <p:cNvSpPr/>
          <p:nvPr/>
        </p:nvSpPr>
        <p:spPr>
          <a:xfrm>
            <a:off x="3264408" y="1051560"/>
            <a:ext cx="2615184" cy="1828800"/>
          </a:xfrm>
          <a:prstGeom prst="roundRect">
            <a:avLst>
              <a:gd name="adj" fmla="val 4000"/>
            </a:avLst>
          </a:prstGeom>
          <a:solidFill>
            <a:schemeClr val="accent1"/>
          </a:solidFill>
          <a:ln/>
        </p:spPr>
      </p:sp>
      <p:sp>
        <p:nvSpPr>
          <p:cNvPr id="18" name="Text 15"/>
          <p:cNvSpPr txBox="1"/>
          <p:nvPr/>
        </p:nvSpPr>
        <p:spPr>
          <a:xfrm>
            <a:off x="3401568" y="1143000"/>
            <a:ext cx="2340864" cy="411480"/>
          </a:xfrm>
          <a:prstGeom prst="rect">
            <a:avLst/>
          </a:prstGeom>
          <a:noFill/>
          <a:ln/>
        </p:spPr>
        <p:txBody>
          <a:bodyPr wrap="square" lIns="0" tIns="0" rIns="0" bIns="0" rtlCol="0" anchor="t"/>
          <a:lstStyle/>
          <a:p>
            <a:pPr algn="ctr" indent="0" marL="0">
              <a:buNone/>
            </a:pPr>
            <a:r>
              <a:rPr lang="en-US" sz="1500" b="1" dirty="0">
                <a:solidFill>
                  <a:schemeClr val="bg1"/>
                </a:solidFill>
              </a:rPr>
              <a:t>Fiducia informata</a:t>
            </a:r>
            <a:endParaRPr lang="en-US" sz="1500" dirty="0"/>
          </a:p>
        </p:txBody>
      </p:sp>
      <p:sp>
        <p:nvSpPr>
          <p:cNvPr id="19" name="Text 16"/>
          <p:cNvSpPr txBox="1"/>
          <p:nvPr/>
        </p:nvSpPr>
        <p:spPr>
          <a:xfrm>
            <a:off x="3401568" y="1600200"/>
            <a:ext cx="2340864" cy="1188720"/>
          </a:xfrm>
          <a:prstGeom prst="rect">
            <a:avLst/>
          </a:prstGeom>
          <a:noFill/>
          <a:ln/>
        </p:spPr>
        <p:txBody>
          <a:bodyPr wrap="square" lIns="0" tIns="0" rIns="0" bIns="0" rtlCol="0" anchor="t"/>
          <a:lstStyle/>
          <a:p>
            <a:pPr algn="ctr" indent="0" marL="0">
              <a:buNone/>
            </a:pPr>
            <a:r>
              <a:rPr lang="en-US" sz="1200" dirty="0">
                <a:solidFill>
                  <a:schemeClr val="bg1"/>
                </a:solidFill>
              </a:rPr>
              <a:t>Calibrata sulle capacità effettive: dove funziona, dove sbaglia</a:t>
            </a:r>
            <a:endParaRPr lang="en-US" sz="1200" dirty="0"/>
          </a:p>
        </p:txBody>
      </p:sp>
      <p:sp>
        <p:nvSpPr>
          <p:cNvPr id="20" name="Entusiasmo acritico"/>
          <p:cNvSpPr/>
          <p:nvPr/>
        </p:nvSpPr>
        <p:spPr>
          <a:xfrm>
            <a:off x="6071616" y="1051560"/>
            <a:ext cx="2615184" cy="1828800"/>
          </a:xfrm>
          <a:prstGeom prst="roundRect">
            <a:avLst>
              <a:gd name="adj" fmla="val 4000"/>
            </a:avLst>
          </a:prstGeom>
          <a:solidFill>
            <a:schemeClr val="bg2"/>
          </a:solidFill>
          <a:ln/>
        </p:spPr>
      </p:sp>
      <p:sp>
        <p:nvSpPr>
          <p:cNvPr id="21" name="Text 18"/>
          <p:cNvSpPr txBox="1"/>
          <p:nvPr/>
        </p:nvSpPr>
        <p:spPr>
          <a:xfrm>
            <a:off x="6208776" y="1143000"/>
            <a:ext cx="2340864" cy="411480"/>
          </a:xfrm>
          <a:prstGeom prst="rect">
            <a:avLst/>
          </a:prstGeom>
          <a:noFill/>
          <a:ln/>
        </p:spPr>
        <p:txBody>
          <a:bodyPr wrap="square" lIns="0" tIns="0" rIns="0" bIns="0" rtlCol="0" anchor="t"/>
          <a:lstStyle/>
          <a:p>
            <a:pPr algn="ctr" indent="0" marL="0">
              <a:buNone/>
            </a:pPr>
            <a:r>
              <a:rPr lang="en-US" sz="1500" b="1" dirty="0">
                <a:solidFill>
                  <a:schemeClr val="accent1"/>
                </a:solidFill>
              </a:rPr>
              <a:t>Entusiasmo acritico</a:t>
            </a:r>
            <a:endParaRPr lang="en-US" sz="1500" dirty="0"/>
          </a:p>
        </p:txBody>
      </p:sp>
      <p:sp>
        <p:nvSpPr>
          <p:cNvPr id="22" name="Text 19"/>
          <p:cNvSpPr txBox="1"/>
          <p:nvPr/>
        </p:nvSpPr>
        <p:spPr>
          <a:xfrm>
            <a:off x="6208776" y="1600200"/>
            <a:ext cx="2340864" cy="1188720"/>
          </a:xfrm>
          <a:prstGeom prst="rect">
            <a:avLst/>
          </a:prstGeom>
          <a:noFill/>
          <a:ln/>
        </p:spPr>
        <p:txBody>
          <a:bodyPr wrap="square" lIns="0" tIns="0" rIns="0" bIns="0" rtlCol="0" anchor="t"/>
          <a:lstStyle/>
          <a:p>
            <a:pPr algn="ctr" indent="0" marL="0">
              <a:buNone/>
            </a:pPr>
            <a:r>
              <a:rPr lang="en-US" sz="1200" dirty="0">
                <a:solidFill>
                  <a:schemeClr val="tx1"/>
                </a:solidFill>
              </a:rPr>
              <a:t>Output senza verifica, uso dove non serve, segnali ignorati</a:t>
            </a:r>
            <a:endParaRPr lang="en-US" sz="1200" dirty="0"/>
          </a:p>
        </p:txBody>
      </p:sp>
      <p:sp>
        <p:nvSpPr>
          <p:cNvPr id="23" name="scheda Premiare l'entusiasmo"/>
          <p:cNvSpPr/>
          <p:nvPr/>
        </p:nvSpPr>
        <p:spPr>
          <a:xfrm>
            <a:off x="457200" y="3017520"/>
            <a:ext cx="3977640" cy="1417320"/>
          </a:xfrm>
          <a:prstGeom prst="roundRect">
            <a:avLst>
              <a:gd name="adj" fmla="val 5161"/>
            </a:avLst>
          </a:prstGeom>
          <a:solidFill>
            <a:schemeClr val="bg2"/>
          </a:solidFill>
          <a:ln/>
        </p:spPr>
      </p:sp>
      <p:sp>
        <p:nvSpPr>
          <p:cNvPr id="24" name="cerchio FiAward"/>
          <p:cNvSpPr/>
          <p:nvPr/>
        </p:nvSpPr>
        <p:spPr>
          <a:xfrm>
            <a:off x="640080" y="3200400"/>
            <a:ext cx="457200" cy="457200"/>
          </a:xfrm>
          <a:prstGeom prst="ellipse">
            <a:avLst/>
          </a:prstGeom>
          <a:solidFill>
            <a:schemeClr val="accent1"/>
          </a:solidFill>
          <a:ln/>
        </p:spPr>
      </p:sp>
      <p:sp>
        <p:nvSpPr>
          <p:cNvPr id="25" name="scheda Punire gli errori"/>
          <p:cNvSpPr/>
          <p:nvPr/>
        </p:nvSpPr>
        <p:spPr>
          <a:xfrm>
            <a:off x="4709160" y="3017520"/>
            <a:ext cx="3977640" cy="1417320"/>
          </a:xfrm>
          <a:prstGeom prst="roundRect">
            <a:avLst>
              <a:gd name="adj" fmla="val 5161"/>
            </a:avLst>
          </a:prstGeom>
          <a:solidFill>
            <a:schemeClr val="accent6"/>
          </a:solidFill>
          <a:ln/>
        </p:spPr>
      </p:sp>
      <p:sp>
        <p:nvSpPr>
          <p:cNvPr id="26" name="cerchio FiSlash"/>
          <p:cNvSpPr/>
          <p:nvPr/>
        </p:nvSpPr>
        <p:spPr>
          <a:xfrm>
            <a:off x="4892040" y="3200400"/>
            <a:ext cx="457200" cy="457200"/>
          </a:xfrm>
          <a:prstGeom prst="ellipse">
            <a:avLst/>
          </a:prstGeom>
          <a:solidFill>
            <a:schemeClr val="accent1"/>
          </a:solidFill>
          <a:ln/>
        </p:spPr>
      </p:sp>
      <p:pic>
        <p:nvPicPr>
          <p:cNvPr id="27" name="Image 0" descr="FiAward">    </p:cNvPr>
          <p:cNvPicPr>
            <a:picLocks noChangeAspect="1"/>
          </p:cNvPicPr>
          <p:nvPr/>
        </p:nvPicPr>
        <p:blipFill>
          <a:blip r:embed="rId1"/>
          <a:stretch>
            <a:fillRect/>
          </a:stretch>
        </p:blipFill>
        <p:spPr>
          <a:xfrm>
            <a:off x="754380" y="3314700"/>
            <a:ext cx="228600" cy="228600"/>
          </a:xfrm>
          <a:prstGeom prst="rect">
            <a:avLst/>
          </a:prstGeom>
        </p:spPr>
      </p:pic>
      <p:pic>
        <p:nvPicPr>
          <p:cNvPr id="28" name="Image 1" descr="FiSlash">    </p:cNvPr>
          <p:cNvPicPr>
            <a:picLocks noChangeAspect="1"/>
          </p:cNvPicPr>
          <p:nvPr/>
        </p:nvPicPr>
        <p:blipFill>
          <a:blip r:embed="rId2"/>
          <a:stretch>
            <a:fillRect/>
          </a:stretch>
        </p:blipFill>
        <p:spPr>
          <a:xfrm>
            <a:off x="5006340" y="3314700"/>
            <a:ext cx="228600" cy="228600"/>
          </a:xfrm>
          <a:prstGeom prst="rect">
            <a:avLst/>
          </a:prstGeom>
        </p:spPr>
      </p:pic>
      <p:sp>
        <p:nvSpPr>
          <p:cNvPr id="29" name="Text 24"/>
          <p:cNvSpPr txBox="1"/>
          <p:nvPr/>
        </p:nvSpPr>
        <p:spPr>
          <a:xfrm>
            <a:off x="640080" y="376732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Premiare l'entusiasmo</a:t>
            </a:r>
            <a:endParaRPr lang="en-US" sz="1500" dirty="0"/>
          </a:p>
        </p:txBody>
      </p:sp>
      <p:sp>
        <p:nvSpPr>
          <p:cNvPr id="30" name="Text 25"/>
          <p:cNvSpPr txBox="1"/>
          <p:nvPr/>
        </p:nvSpPr>
        <p:spPr>
          <a:xfrm>
            <a:off x="640080" y="4151376"/>
            <a:ext cx="3611880" cy="173736"/>
          </a:xfrm>
          <a:prstGeom prst="rect">
            <a:avLst/>
          </a:prstGeom>
          <a:noFill/>
          <a:ln/>
        </p:spPr>
        <p:txBody>
          <a:bodyPr wrap="square" lIns="0" tIns="0" rIns="0" bIns="0" rtlCol="0" anchor="t"/>
          <a:lstStyle/>
          <a:p>
            <a:pPr indent="0" marL="0">
              <a:buNone/>
            </a:pPr>
            <a:r>
              <a:rPr lang="en-US" sz="1300" dirty="0">
                <a:solidFill>
                  <a:schemeClr val="tx2"/>
                </a:solidFill>
              </a:rPr>
              <a:t>Celebrare chi usa di più, senza guardare come: spinge verso l'entusiasmo acritico.</a:t>
            </a:r>
            <a:endParaRPr lang="en-US" sz="1300" dirty="0"/>
          </a:p>
        </p:txBody>
      </p:sp>
      <p:sp>
        <p:nvSpPr>
          <p:cNvPr id="31" name="Text 26"/>
          <p:cNvSpPr txBox="1"/>
          <p:nvPr/>
        </p:nvSpPr>
        <p:spPr>
          <a:xfrm>
            <a:off x="4892040" y="376732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Punire gli errori</a:t>
            </a:r>
            <a:endParaRPr lang="en-US" sz="1500" dirty="0"/>
          </a:p>
        </p:txBody>
      </p:sp>
      <p:sp>
        <p:nvSpPr>
          <p:cNvPr id="32" name="Text 27"/>
          <p:cNvSpPr txBox="1"/>
          <p:nvPr/>
        </p:nvSpPr>
        <p:spPr>
          <a:xfrm>
            <a:off x="4892040" y="4151376"/>
            <a:ext cx="3611880" cy="173736"/>
          </a:xfrm>
          <a:prstGeom prst="rect">
            <a:avLst/>
          </a:prstGeom>
          <a:noFill/>
          <a:ln/>
        </p:spPr>
        <p:txBody>
          <a:bodyPr wrap="square" lIns="0" tIns="0" rIns="0" bIns="0" rtlCol="0" anchor="t"/>
          <a:lstStyle/>
          <a:p>
            <a:pPr indent="0" marL="0">
              <a:buNone/>
            </a:pPr>
            <a:r>
              <a:rPr lang="en-US" sz="1300" dirty="0">
                <a:solidFill>
                  <a:schemeClr val="tx2"/>
                </a:solidFill>
              </a:rPr>
              <a:t>Spinge verso la sfiducia, o verso l'uso nascosto.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Poter parlare di ciò che non va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Se si può parlarne"/>
          <p:cNvSpPr/>
          <p:nvPr/>
        </p:nvSpPr>
        <p:spPr>
          <a:xfrm>
            <a:off x="457200" y="1051560"/>
            <a:ext cx="3977640" cy="2011680"/>
          </a:xfrm>
          <a:prstGeom prst="roundRect">
            <a:avLst>
              <a:gd name="adj" fmla="val 3636"/>
            </a:avLst>
          </a:prstGeom>
          <a:solidFill>
            <a:schemeClr val="bg2"/>
          </a:solidFill>
          <a:ln/>
        </p:spPr>
      </p:sp>
      <p:sp>
        <p:nvSpPr>
          <p:cNvPr id="15" name="cerchio FiMessageCircle"/>
          <p:cNvSpPr/>
          <p:nvPr/>
        </p:nvSpPr>
        <p:spPr>
          <a:xfrm>
            <a:off x="640080" y="1234440"/>
            <a:ext cx="457200" cy="457200"/>
          </a:xfrm>
          <a:prstGeom prst="ellipse">
            <a:avLst/>
          </a:prstGeom>
          <a:solidFill>
            <a:schemeClr val="accent1"/>
          </a:solidFill>
          <a:ln/>
        </p:spPr>
      </p:sp>
      <p:sp>
        <p:nvSpPr>
          <p:cNvPr id="16" name="scheda Se si teme il giudizio"/>
          <p:cNvSpPr/>
          <p:nvPr/>
        </p:nvSpPr>
        <p:spPr>
          <a:xfrm>
            <a:off x="4709160" y="1051560"/>
            <a:ext cx="3977640" cy="2011680"/>
          </a:xfrm>
          <a:prstGeom prst="roundRect">
            <a:avLst>
              <a:gd name="adj" fmla="val 3636"/>
            </a:avLst>
          </a:prstGeom>
          <a:solidFill>
            <a:schemeClr val="accent6"/>
          </a:solidFill>
          <a:ln/>
        </p:spPr>
      </p:sp>
      <p:sp>
        <p:nvSpPr>
          <p:cNvPr id="17" name="cerchio FiVolumeX"/>
          <p:cNvSpPr/>
          <p:nvPr/>
        </p:nvSpPr>
        <p:spPr>
          <a:xfrm>
            <a:off x="4892040" y="1234440"/>
            <a:ext cx="457200" cy="457200"/>
          </a:xfrm>
          <a:prstGeom prst="ellipse">
            <a:avLst/>
          </a:prstGeom>
          <a:solidFill>
            <a:schemeClr val="accent1"/>
          </a:solidFill>
          <a:ln/>
        </p:spPr>
      </p:sp>
      <p:pic>
        <p:nvPicPr>
          <p:cNvPr id="18" name="Image 0" descr="FiMessageCircle">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Se si può parlarne</a:t>
            </a:r>
            <a:endParaRPr lang="en-US" sz="1500" dirty="0"/>
          </a:p>
        </p:txBody>
      </p:sp>
      <p:sp>
        <p:nvSpPr>
          <p:cNvPr id="20" name="Text 16"/>
          <p:cNvSpPr txBox="1"/>
          <p:nvPr/>
        </p:nvSpPr>
        <p:spPr>
          <a:xfrm>
            <a:off x="640080" y="2185416"/>
            <a:ext cx="3611880" cy="7680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Gli errori diventano apprendimento</a:t>
            </a:r>
            <a:endParaRPr lang="en-US" sz="1300" dirty="0"/>
          </a:p>
          <a:p>
            <a:pPr marL="177800" indent="-177800">
              <a:spcAft>
                <a:spcPts val="500"/>
              </a:spcAft>
              <a:buSzPct val="100000"/>
              <a:buChar char="•"/>
            </a:pPr>
            <a:r>
              <a:rPr lang="en-US" sz="1300" dirty="0">
                <a:solidFill>
                  <a:schemeClr val="tx2"/>
                </a:solidFill>
              </a:rPr>
              <a:t>Per la persona, i colleghi, l'organizzazione</a:t>
            </a:r>
            <a:endParaRPr lang="en-US" sz="1300" dirty="0"/>
          </a:p>
          <a:p>
            <a:pPr marL="177800" indent="-177800">
              <a:spcAft>
                <a:spcPts val="500"/>
              </a:spcAft>
              <a:buSzPct val="100000"/>
              <a:buChar char="•"/>
            </a:pPr>
            <a:r>
              <a:rPr lang="en-US" sz="1300" dirty="0">
                <a:solidFill>
                  <a:schemeClr val="tx2"/>
                </a:solidFill>
              </a:rPr>
              <a:t>Le pratiche migliorano</a:t>
            </a:r>
            <a:endParaRPr lang="en-US" sz="1300" dirty="0"/>
          </a:p>
        </p:txBody>
      </p:sp>
      <p:pic>
        <p:nvPicPr>
          <p:cNvPr id="21" name="Image 1" descr="FiVolumeX">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Se si teme il giudizio</a:t>
            </a:r>
            <a:endParaRPr lang="en-US" sz="1500" dirty="0"/>
          </a:p>
        </p:txBody>
      </p:sp>
      <p:sp>
        <p:nvSpPr>
          <p:cNvPr id="23" name="Text 18"/>
          <p:cNvSpPr txBox="1"/>
          <p:nvPr/>
        </p:nvSpPr>
        <p:spPr>
          <a:xfrm>
            <a:off x="4892040" y="2185416"/>
            <a:ext cx="3611880" cy="76809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Gli errori si nascondono e si ripetono</a:t>
            </a:r>
            <a:endParaRPr lang="en-US" sz="1300" dirty="0"/>
          </a:p>
          <a:p>
            <a:pPr marL="177800" indent="-177800">
              <a:spcAft>
                <a:spcPts val="500"/>
              </a:spcAft>
              <a:buSzPct val="100000"/>
              <a:buChar char="•"/>
            </a:pPr>
            <a:r>
              <a:rPr lang="en-US" sz="1300" dirty="0">
                <a:solidFill>
                  <a:schemeClr val="tx2"/>
                </a:solidFill>
              </a:rPr>
              <a:t>I problemi restano invisibili</a:t>
            </a:r>
            <a:endParaRPr lang="en-US" sz="1300" dirty="0"/>
          </a:p>
          <a:p>
            <a:pPr marL="177800" indent="-177800">
              <a:spcAft>
                <a:spcPts val="500"/>
              </a:spcAft>
              <a:buSzPct val="100000"/>
              <a:buChar char="•"/>
            </a:pPr>
            <a:r>
              <a:rPr lang="en-US" sz="1300" dirty="0">
                <a:solidFill>
                  <a:schemeClr val="tx2"/>
                </a:solidFill>
              </a:rPr>
              <a:t>Le pratiche non migliorano</a:t>
            </a:r>
            <a:endParaRPr lang="en-US" sz="1300" dirty="0"/>
          </a:p>
        </p:txBody>
      </p:sp>
      <p:sp>
        <p:nvSpPr>
          <p:cNvPr id="24" name="sicurezza psicologica"/>
          <p:cNvSpPr/>
          <p:nvPr/>
        </p:nvSpPr>
        <p:spPr>
          <a:xfrm>
            <a:off x="457200" y="3246120"/>
            <a:ext cx="8229600" cy="1143000"/>
          </a:xfrm>
          <a:prstGeom prst="roundRect">
            <a:avLst>
              <a:gd name="adj" fmla="val 6400"/>
            </a:avLst>
          </a:prstGeom>
          <a:solidFill>
            <a:schemeClr val="accent1"/>
          </a:solidFill>
          <a:ln/>
        </p:spPr>
      </p:sp>
      <p:sp>
        <p:nvSpPr>
          <p:cNvPr id="25" name="Text 20"/>
          <p:cNvSpPr txBox="1"/>
          <p:nvPr/>
        </p:nvSpPr>
        <p:spPr>
          <a:xfrm>
            <a:off x="640080" y="3246120"/>
            <a:ext cx="7863840" cy="1143000"/>
          </a:xfrm>
          <a:prstGeom prst="rect">
            <a:avLst/>
          </a:prstGeom>
          <a:noFill/>
          <a:ln/>
        </p:spPr>
        <p:txBody>
          <a:bodyPr wrap="square" lIns="0" tIns="0" rIns="0" bIns="0" rtlCol="0" anchor="ctr"/>
          <a:lstStyle/>
          <a:p>
            <a:pPr indent="0" marL="0">
              <a:buNone/>
            </a:pPr>
            <a:r>
              <a:rPr lang="en-US" sz="1400" b="1" dirty="0">
                <a:solidFill>
                  <a:schemeClr val="accent6"/>
                </a:solidFill>
              </a:rPr>
              <a:t>Sicurezza psicologica (Edmondson, 1999): </a:t>
            </a:r>
            <a:pPr indent="0" marL="0">
              <a:buNone/>
            </a:pPr>
            <a:r>
              <a:rPr lang="en-US" sz="1400" dirty="0">
                <a:solidFill>
                  <a:schemeClr val="bg1"/>
                </a:solidFill>
              </a:rPr>
              <a:t>poter dire 'ho usato l'AI e ho sbagliato', 'non ho capito come usarla', 'qui non funziona', senza essere visti come incompetenti o resistenti.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Opposizione o obiezione fondata?</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389120"/>
                <a:gridCol w="3840480"/>
              </a:tblGrid>
              <a:tr h="475488">
                <a:tc>
                  <a:txBody>
                    <a:bodyPr/>
                    <a:lstStyle/>
                    <a:p>
                      <a:pPr indent="0" marL="0">
                        <a:buNone/>
                      </a:pPr>
                      <a:r>
                        <a:rPr lang="en-US" sz="1200" b="1" dirty="0">
                          <a:solidFill>
                            <a:schemeClr val="bg1"/>
                          </a:solidFill>
                        </a:rPr>
                        <a:t>Obiezione (esempio fittizio)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potrebbe segnalare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75488">
                <a:tc>
                  <a:txBody>
                    <a:bodyPr/>
                    <a:lstStyle/>
                    <a:p>
                      <a:pPr indent="0" marL="0">
                        <a:buNone/>
                      </a:pPr>
                      <a:r>
                        <a:rPr lang="en-US" sz="1200" b="1" dirty="0">
                          <a:solidFill>
                            <a:schemeClr val="tx1"/>
                          </a:solidFill>
                        </a:rPr>
                        <a:t>'Per le mie offerte tecniche non serve'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Scarsa adeguatezza allo strumento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'Le bozze hanno sempre errori sui codici'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Problemi di 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'Ci metto più tempo a controllarle che a scriverle'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Carichi aggiuntivi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75488">
                <a:tc>
                  <a:txBody>
                    <a:bodyPr/>
                    <a:lstStyle/>
                    <a:p>
                      <a:pPr indent="0" marL="0">
                        <a:buNone/>
                      </a:pPr>
                      <a:r>
                        <a:rPr lang="en-US" sz="1200" b="1" dirty="0">
                          <a:solidFill>
                            <a:schemeClr val="tx1"/>
                          </a:solidFill>
                        </a:rPr>
                        <a:t>'Se il cliente riceve un errore, chi ne risponde?'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Ambiguità nelle responsabilità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566160"/>
            <a:ext cx="8229600" cy="822960"/>
          </a:xfrm>
          <a:prstGeom prst="roundRect">
            <a:avLst>
              <a:gd name="adj" fmla="val 8889"/>
            </a:avLst>
          </a:prstGeom>
          <a:solidFill>
            <a:schemeClr val="tx1"/>
          </a:solidFill>
          <a:ln/>
        </p:spPr>
      </p:sp>
      <p:sp>
        <p:nvSpPr>
          <p:cNvPr id="16" name="Text 12"/>
          <p:cNvSpPr txBox="1"/>
          <p:nvPr/>
        </p:nvSpPr>
        <p:spPr>
          <a:xfrm>
            <a:off x="640080" y="3566160"/>
            <a:ext cx="7863840" cy="822960"/>
          </a:xfrm>
          <a:prstGeom prst="rect">
            <a:avLst/>
          </a:prstGeom>
          <a:noFill/>
          <a:ln/>
        </p:spPr>
        <p:txBody>
          <a:bodyPr wrap="square" lIns="0" tIns="0" rIns="0" bIns="0" rtlCol="0" anchor="ctr"/>
          <a:lstStyle/>
          <a:p>
            <a:pPr indent="0" marL="0">
              <a:buNone/>
            </a:pPr>
            <a:r>
              <a:rPr lang="en-US" sz="1400" dirty="0">
                <a:solidFill>
                  <a:schemeClr val="bg1"/>
                </a:solidFill>
              </a:rPr>
              <a:t>Davanti a un'obiezione: che cosa ci sta dicendo? Trattare tutto come resistenza fa perdere informazioni.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Partecipazione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Gruppi di lavoro"/>
          <p:cNvSpPr/>
          <p:nvPr/>
        </p:nvSpPr>
        <p:spPr>
          <a:xfrm>
            <a:off x="457200" y="1051560"/>
            <a:ext cx="2621280" cy="1280160"/>
          </a:xfrm>
          <a:prstGeom prst="roundRect">
            <a:avLst>
              <a:gd name="adj" fmla="val 5714"/>
            </a:avLst>
          </a:prstGeom>
          <a:solidFill>
            <a:schemeClr val="bg2"/>
          </a:solidFill>
          <a:ln/>
        </p:spPr>
      </p:sp>
      <p:sp>
        <p:nvSpPr>
          <p:cNvPr id="15" name="cerchio FiUsers"/>
          <p:cNvSpPr/>
          <p:nvPr/>
        </p:nvSpPr>
        <p:spPr>
          <a:xfrm>
            <a:off x="621792" y="1216152"/>
            <a:ext cx="438912" cy="438912"/>
          </a:xfrm>
          <a:prstGeom prst="ellipse">
            <a:avLst/>
          </a:prstGeom>
          <a:solidFill>
            <a:schemeClr val="accent1"/>
          </a:solidFill>
          <a:ln/>
        </p:spPr>
      </p:sp>
      <p:pic>
        <p:nvPicPr>
          <p:cNvPr id="16" name="Image 0" descr="FiUsers">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Gruppi di lavoro</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Sui casi d'uso e sulle pratiche</a:t>
            </a:r>
            <a:endParaRPr lang="en-US" sz="1200" dirty="0"/>
          </a:p>
        </p:txBody>
      </p:sp>
      <p:sp>
        <p:nvSpPr>
          <p:cNvPr id="19" name="Confronto periodico"/>
          <p:cNvSpPr/>
          <p:nvPr/>
        </p:nvSpPr>
        <p:spPr>
          <a:xfrm>
            <a:off x="3261360" y="1051560"/>
            <a:ext cx="2621280" cy="1280160"/>
          </a:xfrm>
          <a:prstGeom prst="roundRect">
            <a:avLst>
              <a:gd name="adj" fmla="val 5714"/>
            </a:avLst>
          </a:prstGeom>
          <a:solidFill>
            <a:schemeClr val="bg2"/>
          </a:solidFill>
          <a:ln/>
        </p:spPr>
      </p:sp>
      <p:sp>
        <p:nvSpPr>
          <p:cNvPr id="20" name="cerchio FiMessageSquare"/>
          <p:cNvSpPr/>
          <p:nvPr/>
        </p:nvSpPr>
        <p:spPr>
          <a:xfrm>
            <a:off x="3425952" y="1216152"/>
            <a:ext cx="438912" cy="438912"/>
          </a:xfrm>
          <a:prstGeom prst="ellipse">
            <a:avLst/>
          </a:prstGeom>
          <a:solidFill>
            <a:schemeClr val="accent1"/>
          </a:solidFill>
          <a:ln/>
        </p:spPr>
      </p:sp>
      <p:pic>
        <p:nvPicPr>
          <p:cNvPr id="21" name="Image 1" descr="FiMessageSquare">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Confronto periodico</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Esperienze positive e negative</a:t>
            </a:r>
            <a:endParaRPr lang="en-US" sz="1200" dirty="0"/>
          </a:p>
        </p:txBody>
      </p:sp>
      <p:sp>
        <p:nvSpPr>
          <p:cNvPr id="24" name="Raccolta di proposte"/>
          <p:cNvSpPr/>
          <p:nvPr/>
        </p:nvSpPr>
        <p:spPr>
          <a:xfrm>
            <a:off x="6065520" y="1051560"/>
            <a:ext cx="2621280" cy="1280160"/>
          </a:xfrm>
          <a:prstGeom prst="roundRect">
            <a:avLst>
              <a:gd name="adj" fmla="val 5714"/>
            </a:avLst>
          </a:prstGeom>
          <a:solidFill>
            <a:schemeClr val="bg2"/>
          </a:solidFill>
          <a:ln/>
        </p:spPr>
      </p:sp>
      <p:sp>
        <p:nvSpPr>
          <p:cNvPr id="25" name="cerchio FiInbox"/>
          <p:cNvSpPr/>
          <p:nvPr/>
        </p:nvSpPr>
        <p:spPr>
          <a:xfrm>
            <a:off x="6230112" y="1216152"/>
            <a:ext cx="438912" cy="438912"/>
          </a:xfrm>
          <a:prstGeom prst="ellipse">
            <a:avLst/>
          </a:prstGeom>
          <a:solidFill>
            <a:schemeClr val="accent1"/>
          </a:solidFill>
          <a:ln/>
        </p:spPr>
      </p:sp>
      <p:pic>
        <p:nvPicPr>
          <p:cNvPr id="26" name="Image 2" descr="FiInbox">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Raccolta di proposte</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Usi, problemi, idee</a:t>
            </a:r>
            <a:endParaRPr lang="en-US" sz="1200" dirty="0"/>
          </a:p>
        </p:txBody>
      </p:sp>
      <p:sp>
        <p:nvSpPr>
          <p:cNvPr id="29" name="Riferimenti nei gruppi"/>
          <p:cNvSpPr/>
          <p:nvPr/>
        </p:nvSpPr>
        <p:spPr>
          <a:xfrm>
            <a:off x="457200" y="2514600"/>
            <a:ext cx="2621280" cy="1280160"/>
          </a:xfrm>
          <a:prstGeom prst="roundRect">
            <a:avLst>
              <a:gd name="adj" fmla="val 5714"/>
            </a:avLst>
          </a:prstGeom>
          <a:solidFill>
            <a:schemeClr val="bg2"/>
          </a:solidFill>
          <a:ln/>
        </p:spPr>
      </p:sp>
      <p:sp>
        <p:nvSpPr>
          <p:cNvPr id="30" name="cerchio FiUserCheck"/>
          <p:cNvSpPr/>
          <p:nvPr/>
        </p:nvSpPr>
        <p:spPr>
          <a:xfrm>
            <a:off x="621792" y="2679192"/>
            <a:ext cx="438912" cy="438912"/>
          </a:xfrm>
          <a:prstGeom prst="ellipse">
            <a:avLst/>
          </a:prstGeom>
          <a:solidFill>
            <a:schemeClr val="accent1"/>
          </a:solidFill>
          <a:ln/>
        </p:spPr>
      </p:sp>
      <p:pic>
        <p:nvPicPr>
          <p:cNvPr id="31" name="Image 3" descr="FiUserCheck">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Riferimenti nei gruppi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Colleghi a cui chiedere (16.7)</a:t>
            </a:r>
            <a:endParaRPr lang="en-US" sz="1200" dirty="0"/>
          </a:p>
        </p:txBody>
      </p:sp>
      <p:sp>
        <p:nvSpPr>
          <p:cNvPr id="34" name="Differenze tra professioni"/>
          <p:cNvSpPr/>
          <p:nvPr/>
        </p:nvSpPr>
        <p:spPr>
          <a:xfrm>
            <a:off x="3261360" y="2514600"/>
            <a:ext cx="2621280" cy="1280160"/>
          </a:xfrm>
          <a:prstGeom prst="roundRect">
            <a:avLst>
              <a:gd name="adj" fmla="val 5714"/>
            </a:avLst>
          </a:prstGeom>
          <a:solidFill>
            <a:schemeClr val="bg2"/>
          </a:solidFill>
          <a:ln/>
        </p:spPr>
      </p:sp>
      <p:sp>
        <p:nvSpPr>
          <p:cNvPr id="35" name="cerchio FiGrid"/>
          <p:cNvSpPr/>
          <p:nvPr/>
        </p:nvSpPr>
        <p:spPr>
          <a:xfrm>
            <a:off x="3425952" y="2679192"/>
            <a:ext cx="438912" cy="438912"/>
          </a:xfrm>
          <a:prstGeom prst="ellipse">
            <a:avLst/>
          </a:prstGeom>
          <a:solidFill>
            <a:schemeClr val="accent1"/>
          </a:solidFill>
          <a:ln/>
        </p:spPr>
      </p:sp>
      <p:pic>
        <p:nvPicPr>
          <p:cNvPr id="36" name="Image 4" descr="FiGrid">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Differenze tra professioni</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Tecnologia, autonomia, errore: rapporti diversi</a:t>
            </a:r>
            <a:endParaRPr lang="en-US" sz="1200" dirty="0"/>
          </a:p>
        </p:txBody>
      </p:sp>
      <p:sp>
        <p:nvSpPr>
          <p:cNvPr id="39" name="Decisioni migliori"/>
          <p:cNvSpPr/>
          <p:nvPr/>
        </p:nvSpPr>
        <p:spPr>
          <a:xfrm>
            <a:off x="6065520" y="2514600"/>
            <a:ext cx="2621280" cy="1280160"/>
          </a:xfrm>
          <a:prstGeom prst="roundRect">
            <a:avLst>
              <a:gd name="adj" fmla="val 5714"/>
            </a:avLst>
          </a:prstGeom>
          <a:solidFill>
            <a:schemeClr val="bg2"/>
          </a:solidFill>
          <a:ln/>
        </p:spPr>
      </p:sp>
      <p:sp>
        <p:nvSpPr>
          <p:cNvPr id="40" name="cerchio FiCheckCircle"/>
          <p:cNvSpPr/>
          <p:nvPr/>
        </p:nvSpPr>
        <p:spPr>
          <a:xfrm>
            <a:off x="6230112" y="2679192"/>
            <a:ext cx="438912" cy="438912"/>
          </a:xfrm>
          <a:prstGeom prst="ellipse">
            <a:avLst/>
          </a:prstGeom>
          <a:solidFill>
            <a:schemeClr val="accent1"/>
          </a:solidFill>
          <a:ln/>
        </p:spPr>
      </p:sp>
      <p:pic>
        <p:nvPicPr>
          <p:cNvPr id="41" name="Image 5" descr="FiCheckCircle">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Decisioni migliori</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Chi lavora sa dove serve, e dove no</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La partecipazione non è cortesia: migliora le decisioni, e la disponibilità a usarle.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cultura favorevole all'AI promuove confronto e fiducia informata, non entusiasmo obbligatorio. E le obiezioni sono spesso informazioni.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16.6  ·  Cultura, fiducia, partecipazione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Supporto e coordinamento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L'autonomia individuale è più efficace quando esistono riferimenti operativi e canali di aiuto accessibili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può usare, e come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riquadro Indicazioni d'uso (esempio fittizio)"/>
          <p:cNvSpPr/>
          <p:nvPr/>
        </p:nvSpPr>
        <p:spPr>
          <a:xfrm>
            <a:off x="457200" y="1051560"/>
            <a:ext cx="4937760" cy="2743200"/>
          </a:xfrm>
          <a:prstGeom prst="roundRect">
            <a:avLst>
              <a:gd name="adj" fmla="val 2667"/>
            </a:avLst>
          </a:prstGeom>
          <a:solidFill>
            <a:schemeClr val="accent6"/>
          </a:solidFill>
          <a:ln/>
        </p:spPr>
      </p:sp>
      <p:sp>
        <p:nvSpPr>
          <p:cNvPr id="15" name="barra"/>
          <p:cNvSpPr/>
          <p:nvPr/>
        </p:nvSpPr>
        <p:spPr>
          <a:xfrm>
            <a:off x="457200" y="1161288"/>
            <a:ext cx="54864" cy="2523744"/>
          </a:xfrm>
          <a:prstGeom prst="rect">
            <a:avLst/>
          </a:prstGeom>
          <a:solidFill>
            <a:schemeClr val="accent1"/>
          </a:solidFill>
          <a:ln/>
        </p:spPr>
      </p:sp>
      <p:sp>
        <p:nvSpPr>
          <p:cNvPr id="16" name="Text 13"/>
          <p:cNvSpPr txBox="1"/>
          <p:nvPr/>
        </p:nvSpPr>
        <p:spPr>
          <a:xfrm>
            <a:off x="658368" y="1143000"/>
            <a:ext cx="4572000" cy="256032"/>
          </a:xfrm>
          <a:prstGeom prst="rect">
            <a:avLst/>
          </a:prstGeom>
          <a:noFill/>
          <a:ln/>
        </p:spPr>
        <p:txBody>
          <a:bodyPr wrap="square" lIns="0" tIns="0" rIns="0" bIns="0" rtlCol="0" anchor="t"/>
          <a:lstStyle/>
          <a:p>
            <a:pPr indent="0" marL="0">
              <a:buNone/>
            </a:pPr>
            <a:r>
              <a:rPr lang="en-US" sz="1100" b="1" dirty="0">
                <a:solidFill>
                  <a:schemeClr val="accent1"/>
                </a:solidFill>
              </a:rPr>
              <a:t>Indicazioni d'uso (esempio fittizio)</a:t>
            </a:r>
            <a:endParaRPr lang="en-US" sz="1100" dirty="0"/>
          </a:p>
        </p:txBody>
      </p:sp>
      <p:sp>
        <p:nvSpPr>
          <p:cNvPr id="17" name="Text 14"/>
          <p:cNvSpPr txBox="1"/>
          <p:nvPr/>
        </p:nvSpPr>
        <p:spPr>
          <a:xfrm>
            <a:off x="658368" y="1435608"/>
            <a:ext cx="4572000" cy="2267712"/>
          </a:xfrm>
          <a:prstGeom prst="rect">
            <a:avLst/>
          </a:prstGeom>
          <a:noFill/>
          <a:ln/>
        </p:spPr>
        <p:txBody>
          <a:bodyPr wrap="square" lIns="0" tIns="0" rIns="0" bIns="0" rtlCol="0" anchor="t"/>
          <a:lstStyle/>
          <a:p>
            <a:pPr indent="0" marL="0">
              <a:buNone/>
            </a:pPr>
            <a:r>
              <a:rPr lang="en-US" sz="1200" dirty="0">
                <a:solidFill>
                  <a:schemeClr val="tx1"/>
                </a:solidFill>
              </a:rPr>
              <a:t>Strumento approvato: l'assistente aziendale, con l'account di lavoro.</a:t>
            </a:r>
            <a:endParaRPr lang="en-US" sz="1200" dirty="0"/>
          </a:p>
          <a:p>
            <a:pPr indent="0" marL="0">
              <a:buNone/>
            </a:pPr>
            <a:r>
              <a:rPr lang="en-US" sz="1200" dirty="0">
                <a:solidFill>
                  <a:schemeClr val="tx1"/>
                </a:solidFill>
              </a:rPr>
              <a:t>Sì: bozze, sintesi, riformulazioni, idee.</a:t>
            </a:r>
            <a:endParaRPr lang="en-US" sz="1200" dirty="0"/>
          </a:p>
          <a:p>
            <a:pPr indent="0" marL="0">
              <a:buNone/>
            </a:pPr>
            <a:r>
              <a:rPr lang="en-US" sz="1200" dirty="0">
                <a:solidFill>
                  <a:schemeClr val="tx1"/>
                </a:solidFill>
              </a:rPr>
              <a:t>No: dati personali di clienti e colleghi in strumenti non approvati.</a:t>
            </a:r>
            <a:endParaRPr lang="en-US" sz="1200" dirty="0"/>
          </a:p>
          <a:p>
            <a:pPr indent="0" marL="0">
              <a:buNone/>
            </a:pPr>
            <a:r>
              <a:rPr lang="en-US" sz="1200" dirty="0">
                <a:solidFill>
                  <a:schemeClr val="tx1"/>
                </a:solidFill>
              </a:rPr>
              <a:t>Sempre: verificare cifre, nomi e condizioni prima di inviare.</a:t>
            </a:r>
            <a:endParaRPr lang="en-US" sz="1200" dirty="0"/>
          </a:p>
          <a:p>
            <a:pPr indent="0" marL="0">
              <a:buNone/>
            </a:pPr>
            <a:r>
              <a:rPr lang="en-US" sz="1200" dirty="0">
                <a:solidFill>
                  <a:schemeClr val="tx1"/>
                </a:solidFill>
              </a:rPr>
              <a:t>Dubbi: chiedere al referente del proprio reparto.</a:t>
            </a:r>
            <a:endParaRPr lang="en-US" sz="1200" dirty="0"/>
          </a:p>
        </p:txBody>
      </p:sp>
      <p:sp>
        <p:nvSpPr>
          <p:cNvPr id="18" name="Semplici"/>
          <p:cNvSpPr/>
          <p:nvPr/>
        </p:nvSpPr>
        <p:spPr>
          <a:xfrm>
            <a:off x="5623560" y="1051560"/>
            <a:ext cx="3063240" cy="777240"/>
          </a:xfrm>
          <a:prstGeom prst="roundRect">
            <a:avLst>
              <a:gd name="adj" fmla="val 9412"/>
            </a:avLst>
          </a:prstGeom>
          <a:solidFill>
            <a:schemeClr val="bg2"/>
          </a:solidFill>
          <a:ln/>
        </p:spPr>
      </p:sp>
      <p:sp>
        <p:nvSpPr>
          <p:cNvPr id="19" name="Text 16"/>
          <p:cNvSpPr txBox="1"/>
          <p:nvPr/>
        </p:nvSpPr>
        <p:spPr>
          <a:xfrm>
            <a:off x="5760720" y="1051560"/>
            <a:ext cx="1188720" cy="777240"/>
          </a:xfrm>
          <a:prstGeom prst="rect">
            <a:avLst/>
          </a:prstGeom>
          <a:noFill/>
          <a:ln/>
        </p:spPr>
        <p:txBody>
          <a:bodyPr wrap="square" lIns="0" tIns="0" rIns="0" bIns="0" rtlCol="0" anchor="ctr"/>
          <a:lstStyle/>
          <a:p>
            <a:pPr indent="0" marL="0">
              <a:buNone/>
            </a:pPr>
            <a:r>
              <a:rPr lang="en-US" sz="1300" b="1" dirty="0">
                <a:solidFill>
                  <a:schemeClr val="accent1"/>
                </a:solidFill>
              </a:rPr>
              <a:t>Semplici</a:t>
            </a:r>
            <a:endParaRPr lang="en-US" sz="1300" dirty="0"/>
          </a:p>
        </p:txBody>
      </p:sp>
      <p:sp>
        <p:nvSpPr>
          <p:cNvPr id="20" name="Text 17"/>
          <p:cNvSpPr txBox="1"/>
          <p:nvPr/>
        </p:nvSpPr>
        <p:spPr>
          <a:xfrm>
            <a:off x="6949440" y="1051560"/>
            <a:ext cx="1600200" cy="777240"/>
          </a:xfrm>
          <a:prstGeom prst="rect">
            <a:avLst/>
          </a:prstGeom>
          <a:noFill/>
          <a:ln/>
        </p:spPr>
        <p:txBody>
          <a:bodyPr wrap="square" lIns="0" tIns="0" rIns="0" bIns="0" rtlCol="0" anchor="ctr"/>
          <a:lstStyle/>
          <a:p>
            <a:pPr indent="0" marL="0">
              <a:buNone/>
            </a:pPr>
            <a:r>
              <a:rPr lang="en-US" sz="1100" dirty="0">
                <a:solidFill>
                  <a:schemeClr val="tx1"/>
                </a:solidFill>
              </a:rPr>
              <a:t>Poche indicazioni, non trenta pagine</a:t>
            </a:r>
            <a:endParaRPr lang="en-US" sz="1100" dirty="0"/>
          </a:p>
        </p:txBody>
      </p:sp>
      <p:sp>
        <p:nvSpPr>
          <p:cNvPr id="21" name="Comprensibili"/>
          <p:cNvSpPr/>
          <p:nvPr/>
        </p:nvSpPr>
        <p:spPr>
          <a:xfrm>
            <a:off x="5623560" y="1901952"/>
            <a:ext cx="3063240" cy="777240"/>
          </a:xfrm>
          <a:prstGeom prst="roundRect">
            <a:avLst>
              <a:gd name="adj" fmla="val 9412"/>
            </a:avLst>
          </a:prstGeom>
          <a:solidFill>
            <a:schemeClr val="bg1"/>
          </a:solidFill>
          <a:ln/>
        </p:spPr>
      </p:sp>
      <p:sp>
        <p:nvSpPr>
          <p:cNvPr id="22" name="Text 19"/>
          <p:cNvSpPr txBox="1"/>
          <p:nvPr/>
        </p:nvSpPr>
        <p:spPr>
          <a:xfrm>
            <a:off x="5760720" y="1901952"/>
            <a:ext cx="1188720" cy="777240"/>
          </a:xfrm>
          <a:prstGeom prst="rect">
            <a:avLst/>
          </a:prstGeom>
          <a:noFill/>
          <a:ln/>
        </p:spPr>
        <p:txBody>
          <a:bodyPr wrap="square" lIns="0" tIns="0" rIns="0" bIns="0" rtlCol="0" anchor="ctr"/>
          <a:lstStyle/>
          <a:p>
            <a:pPr indent="0" marL="0">
              <a:buNone/>
            </a:pPr>
            <a:r>
              <a:rPr lang="en-US" sz="1300" b="1" dirty="0">
                <a:solidFill>
                  <a:schemeClr val="accent1"/>
                </a:solidFill>
              </a:rPr>
              <a:t>Comprensibili</a:t>
            </a:r>
            <a:endParaRPr lang="en-US" sz="1300" dirty="0"/>
          </a:p>
        </p:txBody>
      </p:sp>
      <p:sp>
        <p:nvSpPr>
          <p:cNvPr id="23" name="Text 20"/>
          <p:cNvSpPr txBox="1"/>
          <p:nvPr/>
        </p:nvSpPr>
        <p:spPr>
          <a:xfrm>
            <a:off x="6949440" y="1901952"/>
            <a:ext cx="1600200" cy="777240"/>
          </a:xfrm>
          <a:prstGeom prst="rect">
            <a:avLst/>
          </a:prstGeom>
          <a:noFill/>
          <a:ln/>
        </p:spPr>
        <p:txBody>
          <a:bodyPr wrap="square" lIns="0" tIns="0" rIns="0" bIns="0" rtlCol="0" anchor="ctr"/>
          <a:lstStyle/>
          <a:p>
            <a:pPr indent="0" marL="0">
              <a:buNone/>
            </a:pPr>
            <a:r>
              <a:rPr lang="en-US" sz="1100" dirty="0">
                <a:solidFill>
                  <a:schemeClr val="tx1"/>
                </a:solidFill>
              </a:rPr>
              <a:t>Con esempi</a:t>
            </a:r>
            <a:endParaRPr lang="en-US" sz="1100" dirty="0"/>
          </a:p>
        </p:txBody>
      </p:sp>
      <p:sp>
        <p:nvSpPr>
          <p:cNvPr id="24" name="Applicabili"/>
          <p:cNvSpPr/>
          <p:nvPr/>
        </p:nvSpPr>
        <p:spPr>
          <a:xfrm>
            <a:off x="5623560" y="2752344"/>
            <a:ext cx="3063240" cy="777240"/>
          </a:xfrm>
          <a:prstGeom prst="roundRect">
            <a:avLst>
              <a:gd name="adj" fmla="val 9412"/>
            </a:avLst>
          </a:prstGeom>
          <a:solidFill>
            <a:schemeClr val="bg2"/>
          </a:solidFill>
          <a:ln/>
        </p:spPr>
      </p:sp>
      <p:sp>
        <p:nvSpPr>
          <p:cNvPr id="25" name="Text 22"/>
          <p:cNvSpPr txBox="1"/>
          <p:nvPr/>
        </p:nvSpPr>
        <p:spPr>
          <a:xfrm>
            <a:off x="5760720" y="2752344"/>
            <a:ext cx="1188720" cy="777240"/>
          </a:xfrm>
          <a:prstGeom prst="rect">
            <a:avLst/>
          </a:prstGeom>
          <a:noFill/>
          <a:ln/>
        </p:spPr>
        <p:txBody>
          <a:bodyPr wrap="square" lIns="0" tIns="0" rIns="0" bIns="0" rtlCol="0" anchor="ctr"/>
          <a:lstStyle/>
          <a:p>
            <a:pPr indent="0" marL="0">
              <a:buNone/>
            </a:pPr>
            <a:r>
              <a:rPr lang="en-US" sz="1300" b="1" dirty="0">
                <a:solidFill>
                  <a:schemeClr val="accent1"/>
                </a:solidFill>
              </a:rPr>
              <a:t>Applicabili</a:t>
            </a:r>
            <a:endParaRPr lang="en-US" sz="1300" dirty="0"/>
          </a:p>
        </p:txBody>
      </p:sp>
      <p:sp>
        <p:nvSpPr>
          <p:cNvPr id="26" name="Text 23"/>
          <p:cNvSpPr txBox="1"/>
          <p:nvPr/>
        </p:nvSpPr>
        <p:spPr>
          <a:xfrm>
            <a:off x="6949440" y="2752344"/>
            <a:ext cx="1600200" cy="777240"/>
          </a:xfrm>
          <a:prstGeom prst="rect">
            <a:avLst/>
          </a:prstGeom>
          <a:noFill/>
          <a:ln/>
        </p:spPr>
        <p:txBody>
          <a:bodyPr wrap="square" lIns="0" tIns="0" rIns="0" bIns="0" rtlCol="0" anchor="ctr"/>
          <a:lstStyle/>
          <a:p>
            <a:pPr indent="0" marL="0">
              <a:buNone/>
            </a:pPr>
            <a:r>
              <a:rPr lang="en-US" sz="1100" dirty="0">
                <a:solidFill>
                  <a:schemeClr val="tx1"/>
                </a:solidFill>
              </a:rPr>
              <a:t>Nel momento della decisione</a:t>
            </a:r>
            <a:endParaRPr lang="en-US" sz="1100" dirty="0"/>
          </a:p>
        </p:txBody>
      </p:sp>
      <p:sp>
        <p:nvSpPr>
          <p:cNvPr id="27" name="messaggio"/>
          <p:cNvSpPr/>
          <p:nvPr/>
        </p:nvSpPr>
        <p:spPr>
          <a:xfrm>
            <a:off x="457200" y="3931920"/>
            <a:ext cx="8229600" cy="548640"/>
          </a:xfrm>
          <a:prstGeom prst="roundRect">
            <a:avLst>
              <a:gd name="adj" fmla="val 13333"/>
            </a:avLst>
          </a:prstGeom>
          <a:solidFill>
            <a:schemeClr val="tx1"/>
          </a:solidFill>
          <a:ln/>
        </p:spPr>
      </p:sp>
      <p:sp>
        <p:nvSpPr>
          <p:cNvPr id="28" name="Text 25"/>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400" dirty="0">
                <a:solidFill>
                  <a:schemeClr val="bg1"/>
                </a:solidFill>
              </a:rPr>
              <a:t>Le regole formali le definisce l'azienda: qui la loro traduzione operativa.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Materiali e referenti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Materiali riutilizzabili"/>
          <p:cNvSpPr/>
          <p:nvPr/>
        </p:nvSpPr>
        <p:spPr>
          <a:xfrm>
            <a:off x="457200" y="1051560"/>
            <a:ext cx="3977640" cy="2468880"/>
          </a:xfrm>
          <a:prstGeom prst="roundRect">
            <a:avLst>
              <a:gd name="adj" fmla="val 2963"/>
            </a:avLst>
          </a:prstGeom>
          <a:solidFill>
            <a:schemeClr val="bg2"/>
          </a:solidFill>
          <a:ln/>
        </p:spPr>
      </p:sp>
      <p:sp>
        <p:nvSpPr>
          <p:cNvPr id="15" name="cerchio FiFolder"/>
          <p:cNvSpPr/>
          <p:nvPr/>
        </p:nvSpPr>
        <p:spPr>
          <a:xfrm>
            <a:off x="640080" y="1234440"/>
            <a:ext cx="457200" cy="457200"/>
          </a:xfrm>
          <a:prstGeom prst="ellipse">
            <a:avLst/>
          </a:prstGeom>
          <a:solidFill>
            <a:schemeClr val="accent1"/>
          </a:solidFill>
          <a:ln/>
        </p:spPr>
      </p:sp>
      <p:pic>
        <p:nvPicPr>
          <p:cNvPr id="16" name="Image 0" descr="FiFolder">    </p:cNvPr>
          <p:cNvPicPr>
            <a:picLocks noChangeAspect="1"/>
          </p:cNvPicPr>
          <p:nvPr/>
        </p:nvPicPr>
        <p:blipFill>
          <a:blip r:embed="rId1"/>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Materiali riutilizzabili</a:t>
            </a:r>
            <a:endParaRPr lang="en-US" sz="1500" dirty="0"/>
          </a:p>
        </p:txBody>
      </p:sp>
      <p:sp>
        <p:nvSpPr>
          <p:cNvPr id="18" name="Text 14"/>
          <p:cNvSpPr txBox="1"/>
          <p:nvPr/>
        </p:nvSpPr>
        <p:spPr>
          <a:xfrm>
            <a:off x="640080" y="2185416"/>
            <a:ext cx="3611880" cy="12252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Istruzioni per le attività frequenti</a:t>
            </a:r>
            <a:endParaRPr lang="en-US" sz="1200" dirty="0"/>
          </a:p>
          <a:p>
            <a:pPr marL="177800" indent="-177800">
              <a:spcAft>
                <a:spcPts val="400"/>
              </a:spcAft>
              <a:buSzPct val="100000"/>
              <a:buChar char="•"/>
            </a:pPr>
            <a:r>
              <a:rPr lang="en-US" sz="1200" dirty="0">
                <a:solidFill>
                  <a:schemeClr val="tx2"/>
                </a:solidFill>
              </a:rPr>
              <a:t>Esempi commentati, guide brevi</a:t>
            </a:r>
            <a:endParaRPr lang="en-US" sz="1200" dirty="0"/>
          </a:p>
          <a:p>
            <a:pPr marL="177800" indent="-177800">
              <a:spcAft>
                <a:spcPts val="400"/>
              </a:spcAft>
              <a:buSzPct val="100000"/>
              <a:buChar char="•"/>
            </a:pPr>
            <a:r>
              <a:rPr lang="en-US" sz="1200" dirty="0">
                <a:solidFill>
                  <a:schemeClr val="tx2"/>
                </a:solidFill>
              </a:rPr>
              <a:t>Errori comuni</a:t>
            </a:r>
            <a:endParaRPr lang="en-US" sz="1200" dirty="0"/>
          </a:p>
          <a:p>
            <a:pPr marL="177800" indent="-177800">
              <a:spcAft>
                <a:spcPts val="400"/>
              </a:spcAft>
              <a:buSzPct val="100000"/>
              <a:buChar char="•"/>
            </a:pPr>
            <a:r>
              <a:rPr lang="en-US" sz="1200" dirty="0">
                <a:solidFill>
                  <a:schemeClr val="tx2"/>
                </a:solidFill>
              </a:rPr>
              <a:t>Facili da trovare, aggiornati, vicini al lavoro</a:t>
            </a:r>
            <a:endParaRPr lang="en-US" sz="1200" dirty="0"/>
          </a:p>
        </p:txBody>
      </p:sp>
      <p:sp>
        <p:nvSpPr>
          <p:cNvPr id="19" name="scheda Referenti di reparto"/>
          <p:cNvSpPr/>
          <p:nvPr/>
        </p:nvSpPr>
        <p:spPr>
          <a:xfrm>
            <a:off x="4709160" y="1051560"/>
            <a:ext cx="3977640" cy="2468880"/>
          </a:xfrm>
          <a:prstGeom prst="roundRect">
            <a:avLst>
              <a:gd name="adj" fmla="val 2963"/>
            </a:avLst>
          </a:prstGeom>
          <a:solidFill>
            <a:schemeClr val="accent6"/>
          </a:solidFill>
          <a:ln/>
        </p:spPr>
      </p:sp>
      <p:sp>
        <p:nvSpPr>
          <p:cNvPr id="20" name="cerchio FiUserCheck"/>
          <p:cNvSpPr/>
          <p:nvPr/>
        </p:nvSpPr>
        <p:spPr>
          <a:xfrm>
            <a:off x="4892040" y="1234440"/>
            <a:ext cx="457200" cy="457200"/>
          </a:xfrm>
          <a:prstGeom prst="ellipse">
            <a:avLst/>
          </a:prstGeom>
          <a:solidFill>
            <a:schemeClr val="accent1"/>
          </a:solidFill>
          <a:ln/>
        </p:spPr>
      </p:sp>
      <p:pic>
        <p:nvPicPr>
          <p:cNvPr id="21" name="Image 1" descr="FiUserCheck">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Referenti di reparto</a:t>
            </a:r>
            <a:endParaRPr lang="en-US" sz="1500" dirty="0"/>
          </a:p>
        </p:txBody>
      </p:sp>
      <p:sp>
        <p:nvSpPr>
          <p:cNvPr id="23" name="Text 18"/>
          <p:cNvSpPr txBox="1"/>
          <p:nvPr/>
        </p:nvSpPr>
        <p:spPr>
          <a:xfrm>
            <a:off x="4892040" y="2185416"/>
            <a:ext cx="3611880" cy="12252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Colleghi più esperti, vicini al lavoro</a:t>
            </a:r>
            <a:endParaRPr lang="en-US" sz="1200" dirty="0"/>
          </a:p>
          <a:p>
            <a:pPr marL="177800" indent="-177800">
              <a:spcAft>
                <a:spcPts val="400"/>
              </a:spcAft>
              <a:buSzPct val="100000"/>
              <a:buChar char="•"/>
            </a:pPr>
            <a:r>
              <a:rPr lang="en-US" sz="1200" dirty="0">
                <a:solidFill>
                  <a:schemeClr val="tx2"/>
                </a:solidFill>
              </a:rPr>
              <a:t>Aiutano, raccolgono problemi, condividono</a:t>
            </a:r>
            <a:endParaRPr lang="en-US" sz="1200" dirty="0"/>
          </a:p>
          <a:p>
            <a:pPr marL="177800" indent="-177800">
              <a:spcAft>
                <a:spcPts val="400"/>
              </a:spcAft>
              <a:buSzPct val="100000"/>
              <a:buChar char="•"/>
            </a:pPr>
            <a:r>
              <a:rPr lang="en-US" sz="1200" dirty="0">
                <a:solidFill>
                  <a:schemeClr val="tx2"/>
                </a:solidFill>
              </a:rPr>
              <a:t>Servono tempo riconosciuto e collegamento</a:t>
            </a:r>
            <a:endParaRPr lang="en-US" sz="1200" dirty="0"/>
          </a:p>
          <a:p>
            <a:pPr marL="177800" indent="-177800">
              <a:spcAft>
                <a:spcPts val="400"/>
              </a:spcAft>
              <a:buSzPct val="100000"/>
              <a:buChar char="•"/>
            </a:pPr>
            <a:r>
              <a:rPr lang="en-US" sz="1200" dirty="0">
                <a:solidFill>
                  <a:schemeClr val="tx2"/>
                </a:solidFill>
              </a:rPr>
              <a:t>Rischio di sovraccarico</a:t>
            </a:r>
            <a:endParaRPr lang="en-US" sz="1200" dirty="0"/>
          </a:p>
        </p:txBody>
      </p:sp>
      <p:sp>
        <p:nvSpPr>
          <p:cNvPr id="24" name="messaggio"/>
          <p:cNvSpPr/>
          <p:nvPr/>
        </p:nvSpPr>
        <p:spPr>
          <a:xfrm>
            <a:off x="457200" y="3703320"/>
            <a:ext cx="8229600" cy="731520"/>
          </a:xfrm>
          <a:prstGeom prst="roundRect">
            <a:avLst>
              <a:gd name="adj" fmla="val 10000"/>
            </a:avLst>
          </a:prstGeom>
          <a:solidFill>
            <a:schemeClr val="tx1"/>
          </a:solidFill>
          <a:ln/>
        </p:spPr>
      </p:sp>
      <p:sp>
        <p:nvSpPr>
          <p:cNvPr id="25" name="Text 20"/>
          <p:cNvSpPr txBox="1"/>
          <p:nvPr/>
        </p:nvSpPr>
        <p:spPr>
          <a:xfrm>
            <a:off x="640080" y="3703320"/>
            <a:ext cx="7863840" cy="731520"/>
          </a:xfrm>
          <a:prstGeom prst="rect">
            <a:avLst/>
          </a:prstGeom>
          <a:noFill/>
          <a:ln/>
        </p:spPr>
        <p:txBody>
          <a:bodyPr wrap="square" lIns="0" tIns="0" rIns="0" bIns="0" rtlCol="0" anchor="ctr"/>
          <a:lstStyle/>
          <a:p>
            <a:pPr indent="0" marL="0">
              <a:buNone/>
            </a:pPr>
            <a:r>
              <a:rPr lang="en-US" sz="1400" dirty="0">
                <a:solidFill>
                  <a:schemeClr val="bg1"/>
                </a:solidFill>
              </a:rPr>
              <a:t>Nello scenario B, referenti e confronto tra colleghi; nello scenario A, solo l'iniziativa individuale.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Raccogliere e coordinare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scheda Senza coordinamento"/>
          <p:cNvSpPr/>
          <p:nvPr/>
        </p:nvSpPr>
        <p:spPr>
          <a:xfrm>
            <a:off x="457200" y="1051560"/>
            <a:ext cx="3977640" cy="2514600"/>
          </a:xfrm>
          <a:prstGeom prst="roundRect">
            <a:avLst>
              <a:gd name="adj" fmla="val 2909"/>
            </a:avLst>
          </a:prstGeom>
          <a:solidFill>
            <a:schemeClr val="bg2"/>
          </a:solidFill>
          <a:ln/>
        </p:spPr>
      </p:sp>
      <p:sp>
        <p:nvSpPr>
          <p:cNvPr id="15" name="cerchio FiGrid"/>
          <p:cNvSpPr/>
          <p:nvPr/>
        </p:nvSpPr>
        <p:spPr>
          <a:xfrm>
            <a:off x="640080" y="1234440"/>
            <a:ext cx="457200" cy="457200"/>
          </a:xfrm>
          <a:prstGeom prst="ellipse">
            <a:avLst/>
          </a:prstGeom>
          <a:solidFill>
            <a:schemeClr val="accent1"/>
          </a:solidFill>
          <a:ln/>
        </p:spPr>
      </p:sp>
      <p:sp>
        <p:nvSpPr>
          <p:cNvPr id="16" name="scheda Un coordinamento leggero"/>
          <p:cNvSpPr/>
          <p:nvPr/>
        </p:nvSpPr>
        <p:spPr>
          <a:xfrm>
            <a:off x="4709160" y="1051560"/>
            <a:ext cx="3977640" cy="2514600"/>
          </a:xfrm>
          <a:prstGeom prst="roundRect">
            <a:avLst>
              <a:gd name="adj" fmla="val 2909"/>
            </a:avLst>
          </a:prstGeom>
          <a:solidFill>
            <a:schemeClr val="accent6"/>
          </a:solidFill>
          <a:ln/>
        </p:spPr>
      </p:sp>
      <p:sp>
        <p:nvSpPr>
          <p:cNvPr id="17" name="cerchio FiGitMerge"/>
          <p:cNvSpPr/>
          <p:nvPr/>
        </p:nvSpPr>
        <p:spPr>
          <a:xfrm>
            <a:off x="4892040" y="1234440"/>
            <a:ext cx="457200" cy="457200"/>
          </a:xfrm>
          <a:prstGeom prst="ellipse">
            <a:avLst/>
          </a:prstGeom>
          <a:solidFill>
            <a:schemeClr val="accent1"/>
          </a:solidFill>
          <a:ln/>
        </p:spPr>
      </p:sp>
      <p:pic>
        <p:nvPicPr>
          <p:cNvPr id="18" name="Image 0" descr="FiGrid">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Senza coordinamento</a:t>
            </a:r>
            <a:endParaRPr lang="en-US" sz="1500" dirty="0"/>
          </a:p>
        </p:txBody>
      </p:sp>
      <p:sp>
        <p:nvSpPr>
          <p:cNvPr id="20" name="Text 16"/>
          <p:cNvSpPr txBox="1"/>
          <p:nvPr/>
        </p:nvSpPr>
        <p:spPr>
          <a:xfrm>
            <a:off x="64008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Strumenti diversi per esigenze simili</a:t>
            </a:r>
            <a:endParaRPr lang="en-US" sz="1300" dirty="0"/>
          </a:p>
          <a:p>
            <a:pPr marL="177800" indent="-177800">
              <a:spcAft>
                <a:spcPts val="400"/>
              </a:spcAft>
              <a:buSzPct val="100000"/>
              <a:buChar char="•"/>
            </a:pPr>
            <a:r>
              <a:rPr lang="en-US" sz="1300" dirty="0">
                <a:solidFill>
                  <a:schemeClr val="tx2"/>
                </a:solidFill>
              </a:rPr>
              <a:t>Stesse istruzioni sviluppate in parallelo</a:t>
            </a:r>
            <a:endParaRPr lang="en-US" sz="1300" dirty="0"/>
          </a:p>
          <a:p>
            <a:pPr marL="177800" indent="-177800">
              <a:spcAft>
                <a:spcPts val="400"/>
              </a:spcAft>
              <a:buSzPct val="100000"/>
              <a:buChar char="•"/>
            </a:pPr>
            <a:r>
              <a:rPr lang="en-US" sz="1300" dirty="0">
                <a:solidFill>
                  <a:schemeClr val="tx2"/>
                </a:solidFill>
              </a:rPr>
              <a:t>Buone pratiche locali</a:t>
            </a:r>
            <a:endParaRPr lang="en-US" sz="1300" dirty="0"/>
          </a:p>
          <a:p>
            <a:pPr marL="177800" indent="-177800">
              <a:spcAft>
                <a:spcPts val="400"/>
              </a:spcAft>
              <a:buSzPct val="100000"/>
              <a:buChar char="•"/>
            </a:pPr>
            <a:r>
              <a:rPr lang="en-US" sz="1300" dirty="0">
                <a:solidFill>
                  <a:schemeClr val="tx2"/>
                </a:solidFill>
              </a:rPr>
              <a:t>Esigenze comuni che non arrivano a chi decide</a:t>
            </a:r>
            <a:endParaRPr lang="en-US" sz="1300" dirty="0"/>
          </a:p>
        </p:txBody>
      </p:sp>
      <p:pic>
        <p:nvPicPr>
          <p:cNvPr id="21" name="Image 1" descr="FiGitMerge">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Un coordinamento leggero</a:t>
            </a:r>
            <a:endParaRPr lang="en-US" sz="1500" dirty="0"/>
          </a:p>
        </p:txBody>
      </p:sp>
      <p:sp>
        <p:nvSpPr>
          <p:cNvPr id="23" name="Text 18"/>
          <p:cNvSpPr txBox="1"/>
          <p:nvPr/>
        </p:nvSpPr>
        <p:spPr>
          <a:xfrm>
            <a:off x="489204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Un punto di raccolta di esigenze e proposte</a:t>
            </a:r>
            <a:endParaRPr lang="en-US" sz="1300" dirty="0"/>
          </a:p>
          <a:p>
            <a:pPr marL="177800" indent="-177800">
              <a:spcAft>
                <a:spcPts val="400"/>
              </a:spcAft>
              <a:buSzPct val="100000"/>
              <a:buChar char="•"/>
            </a:pPr>
            <a:r>
              <a:rPr lang="en-US" sz="1300" dirty="0">
                <a:solidFill>
                  <a:schemeClr val="tx2"/>
                </a:solidFill>
              </a:rPr>
              <a:t>Scambi periodici tra referenti</a:t>
            </a:r>
            <a:endParaRPr lang="en-US" sz="1300" dirty="0"/>
          </a:p>
          <a:p>
            <a:pPr marL="177800" indent="-177800">
              <a:spcAft>
                <a:spcPts val="400"/>
              </a:spcAft>
              <a:buSzPct val="100000"/>
              <a:buChar char="•"/>
            </a:pPr>
            <a:r>
              <a:rPr lang="en-US" sz="1300" dirty="0">
                <a:solidFill>
                  <a:schemeClr val="tx2"/>
                </a:solidFill>
              </a:rPr>
              <a:t>Uno spazio condiviso per pratiche e materiali</a:t>
            </a:r>
            <a:endParaRPr lang="en-US" sz="1300" dirty="0"/>
          </a:p>
          <a:p>
            <a:pPr marL="177800" indent="-177800">
              <a:spcAft>
                <a:spcPts val="400"/>
              </a:spcAft>
              <a:buSzPct val="100000"/>
              <a:buChar char="•"/>
            </a:pPr>
            <a:r>
              <a:rPr lang="en-US" sz="1300" dirty="0">
                <a:solidFill>
                  <a:schemeClr val="tx2"/>
                </a:solidFill>
              </a:rPr>
              <a:t>Qualcuno con una visione d'insieme</a:t>
            </a:r>
            <a:endParaRPr lang="en-US" sz="1300" dirty="0"/>
          </a:p>
        </p:txBody>
      </p:sp>
      <p:sp>
        <p:nvSpPr>
          <p:cNvPr id="24" name="messaggio"/>
          <p:cNvSpPr/>
          <p:nvPr/>
        </p:nvSpPr>
        <p:spPr>
          <a:xfrm>
            <a:off x="457200" y="3749040"/>
            <a:ext cx="8229600" cy="731520"/>
          </a:xfrm>
          <a:prstGeom prst="roundRect">
            <a:avLst>
              <a:gd name="adj" fmla="val 10000"/>
            </a:avLst>
          </a:prstGeom>
          <a:solidFill>
            <a:schemeClr val="tx1"/>
          </a:solidFill>
          <a:ln/>
        </p:spPr>
      </p:sp>
      <p:sp>
        <p:nvSpPr>
          <p:cNvPr id="25" name="Text 20"/>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Non serve per forza una struttura (centri di eccellenza: solo un accenno): serve che le informazioni circolino.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Autonomia e pratiche comuni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asse"/>
          <p:cNvSpPr/>
          <p:nvPr/>
        </p:nvSpPr>
        <p:spPr>
          <a:xfrm>
            <a:off x="457200" y="1600200"/>
            <a:ext cx="8229600" cy="73152"/>
          </a:xfrm>
          <a:prstGeom prst="rect">
            <a:avLst/>
          </a:prstGeom>
          <a:solidFill>
            <a:srgbClr val="D5D9DE"/>
          </a:solidFill>
          <a:ln/>
        </p:spPr>
      </p:sp>
      <p:sp>
        <p:nvSpPr>
          <p:cNvPr id="15" name="Text 12"/>
          <p:cNvSpPr txBox="1"/>
          <p:nvPr/>
        </p:nvSpPr>
        <p:spPr>
          <a:xfrm>
            <a:off x="457200" y="1051560"/>
            <a:ext cx="2743200" cy="457200"/>
          </a:xfrm>
          <a:prstGeom prst="rect">
            <a:avLst/>
          </a:prstGeom>
          <a:noFill/>
          <a:ln/>
        </p:spPr>
        <p:txBody>
          <a:bodyPr wrap="square" lIns="0" tIns="0" rIns="0" bIns="0" rtlCol="0" anchor="t"/>
          <a:lstStyle/>
          <a:p>
            <a:pPr indent="0" marL="0">
              <a:buNone/>
            </a:pPr>
            <a:r>
              <a:rPr lang="en-US" sz="1400" b="1" dirty="0">
                <a:solidFill>
                  <a:schemeClr val="accent1"/>
                </a:solidFill>
              </a:rPr>
              <a:t>Più autonomia</a:t>
            </a:r>
            <a:endParaRPr lang="en-US" sz="1400" dirty="0"/>
          </a:p>
        </p:txBody>
      </p:sp>
      <p:sp>
        <p:nvSpPr>
          <p:cNvPr id="16" name="Text 13"/>
          <p:cNvSpPr txBox="1"/>
          <p:nvPr/>
        </p:nvSpPr>
        <p:spPr>
          <a:xfrm>
            <a:off x="5943600" y="1051560"/>
            <a:ext cx="2743200" cy="457200"/>
          </a:xfrm>
          <a:prstGeom prst="rect">
            <a:avLst/>
          </a:prstGeom>
          <a:noFill/>
          <a:ln/>
        </p:spPr>
        <p:txBody>
          <a:bodyPr wrap="square" lIns="0" tIns="0" rIns="0" bIns="0" rtlCol="0" anchor="t"/>
          <a:lstStyle/>
          <a:p>
            <a:pPr algn="r" indent="0" marL="0">
              <a:buNone/>
            </a:pPr>
            <a:r>
              <a:rPr lang="en-US" sz="1400" b="1" dirty="0">
                <a:solidFill>
                  <a:schemeClr val="accent1"/>
                </a:solidFill>
              </a:rPr>
              <a:t>Più pratiche comuni</a:t>
            </a:r>
            <a:endParaRPr lang="en-US" sz="1400" dirty="0"/>
          </a:p>
        </p:txBody>
      </p:sp>
      <p:sp>
        <p:nvSpPr>
          <p:cNvPr id="17" name="riquadro Attività interne, basso rischio"/>
          <p:cNvSpPr/>
          <p:nvPr/>
        </p:nvSpPr>
        <p:spPr>
          <a:xfrm>
            <a:off x="457200" y="1828800"/>
            <a:ext cx="3977640" cy="1280160"/>
          </a:xfrm>
          <a:prstGeom prst="roundRect">
            <a:avLst>
              <a:gd name="adj" fmla="val 5714"/>
            </a:avLst>
          </a:prstGeom>
          <a:solidFill>
            <a:schemeClr val="bg2"/>
          </a:solidFill>
          <a:ln/>
        </p:spPr>
      </p:sp>
      <p:sp>
        <p:nvSpPr>
          <p:cNvPr id="18" name="barra"/>
          <p:cNvSpPr/>
          <p:nvPr/>
        </p:nvSpPr>
        <p:spPr>
          <a:xfrm>
            <a:off x="457200" y="1938528"/>
            <a:ext cx="54864" cy="1060704"/>
          </a:xfrm>
          <a:prstGeom prst="rect">
            <a:avLst/>
          </a:prstGeom>
          <a:solidFill>
            <a:schemeClr val="accent1"/>
          </a:solidFill>
          <a:ln/>
        </p:spPr>
      </p:sp>
      <p:sp>
        <p:nvSpPr>
          <p:cNvPr id="19" name="Text 16"/>
          <p:cNvSpPr txBox="1"/>
          <p:nvPr/>
        </p:nvSpPr>
        <p:spPr>
          <a:xfrm>
            <a:off x="658368" y="192024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Attività interne, basso rischio</a:t>
            </a:r>
            <a:endParaRPr lang="en-US" sz="1100" dirty="0"/>
          </a:p>
        </p:txBody>
      </p:sp>
      <p:sp>
        <p:nvSpPr>
          <p:cNvPr id="20" name="Text 17"/>
          <p:cNvSpPr txBox="1"/>
          <p:nvPr/>
        </p:nvSpPr>
        <p:spPr>
          <a:xfrm>
            <a:off x="658368" y="2212848"/>
            <a:ext cx="3611880" cy="804672"/>
          </a:xfrm>
          <a:prstGeom prst="rect">
            <a:avLst/>
          </a:prstGeom>
          <a:noFill/>
          <a:ln/>
        </p:spPr>
        <p:txBody>
          <a:bodyPr wrap="square" lIns="0" tIns="0" rIns="0" bIns="0" rtlCol="0" anchor="t"/>
          <a:lstStyle/>
          <a:p>
            <a:pPr indent="0" marL="0">
              <a:buNone/>
            </a:pPr>
            <a:r>
              <a:rPr lang="en-US" sz="1200" dirty="0">
                <a:solidFill>
                  <a:schemeClr val="tx1"/>
                </a:solidFill>
              </a:rPr>
              <a:t>Bozze per uso personale, idee, sintesi di lavoro: più spazio all'iniziativa.</a:t>
            </a:r>
            <a:endParaRPr lang="en-US" sz="1200" dirty="0"/>
          </a:p>
        </p:txBody>
      </p:sp>
      <p:sp>
        <p:nvSpPr>
          <p:cNvPr id="21" name="riquadro Rischi elevati, effetti all'esterno"/>
          <p:cNvSpPr/>
          <p:nvPr/>
        </p:nvSpPr>
        <p:spPr>
          <a:xfrm>
            <a:off x="4709160" y="1828800"/>
            <a:ext cx="3977640" cy="1280160"/>
          </a:xfrm>
          <a:prstGeom prst="roundRect">
            <a:avLst>
              <a:gd name="adj" fmla="val 5714"/>
            </a:avLst>
          </a:prstGeom>
          <a:solidFill>
            <a:schemeClr val="accent6"/>
          </a:solidFill>
          <a:ln/>
        </p:spPr>
      </p:sp>
      <p:sp>
        <p:nvSpPr>
          <p:cNvPr id="22" name="barra"/>
          <p:cNvSpPr/>
          <p:nvPr/>
        </p:nvSpPr>
        <p:spPr>
          <a:xfrm>
            <a:off x="4709160" y="1938528"/>
            <a:ext cx="54864" cy="1060704"/>
          </a:xfrm>
          <a:prstGeom prst="rect">
            <a:avLst/>
          </a:prstGeom>
          <a:solidFill>
            <a:schemeClr val="accent1"/>
          </a:solidFill>
          <a:ln/>
        </p:spPr>
      </p:sp>
      <p:sp>
        <p:nvSpPr>
          <p:cNvPr id="23" name="Text 20"/>
          <p:cNvSpPr txBox="1"/>
          <p:nvPr/>
        </p:nvSpPr>
        <p:spPr>
          <a:xfrm>
            <a:off x="4910328" y="192024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Rischi elevati, effetti all'esterno</a:t>
            </a:r>
            <a:endParaRPr lang="en-US" sz="1100" dirty="0"/>
          </a:p>
        </p:txBody>
      </p:sp>
      <p:sp>
        <p:nvSpPr>
          <p:cNvPr id="24" name="Text 21"/>
          <p:cNvSpPr txBox="1"/>
          <p:nvPr/>
        </p:nvSpPr>
        <p:spPr>
          <a:xfrm>
            <a:off x="4910328" y="2212848"/>
            <a:ext cx="3611880" cy="804672"/>
          </a:xfrm>
          <a:prstGeom prst="rect">
            <a:avLst/>
          </a:prstGeom>
          <a:noFill/>
          <a:ln/>
        </p:spPr>
        <p:txBody>
          <a:bodyPr wrap="square" lIns="0" tIns="0" rIns="0" bIns="0" rtlCol="0" anchor="t"/>
          <a:lstStyle/>
          <a:p>
            <a:pPr indent="0" marL="0">
              <a:buNone/>
            </a:pPr>
            <a:r>
              <a:rPr lang="en-US" sz="1200" dirty="0">
                <a:solidFill>
                  <a:schemeClr val="tx1"/>
                </a:solidFill>
              </a:rPr>
              <a:t>Comunicazioni ai clienti, documenti contrattuali: pratiche più definite.</a:t>
            </a:r>
            <a:endParaRPr lang="en-US" sz="1200" dirty="0"/>
          </a:p>
        </p:txBody>
      </p:sp>
      <p:sp>
        <p:nvSpPr>
          <p:cNvPr id="25" name="Supporto operativo"/>
          <p:cNvSpPr/>
          <p:nvPr/>
        </p:nvSpPr>
        <p:spPr>
          <a:xfrm>
            <a:off x="457200" y="3291840"/>
            <a:ext cx="8229600" cy="502920"/>
          </a:xfrm>
          <a:prstGeom prst="roundRect">
            <a:avLst>
              <a:gd name="adj" fmla="val 14545"/>
            </a:avLst>
          </a:prstGeom>
          <a:solidFill>
            <a:schemeClr val="bg2"/>
          </a:solidFill>
          <a:ln/>
        </p:spPr>
      </p:sp>
      <p:sp>
        <p:nvSpPr>
          <p:cNvPr id="26" name="Text 23"/>
          <p:cNvSpPr txBox="1"/>
          <p:nvPr/>
        </p:nvSpPr>
        <p:spPr>
          <a:xfrm>
            <a:off x="594360" y="3291840"/>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Supporto operativo</a:t>
            </a:r>
            <a:endParaRPr lang="en-US" sz="1300" dirty="0"/>
          </a:p>
        </p:txBody>
      </p:sp>
      <p:sp>
        <p:nvSpPr>
          <p:cNvPr id="27" name="Text 24"/>
          <p:cNvSpPr txBox="1"/>
          <p:nvPr/>
        </p:nvSpPr>
        <p:spPr>
          <a:xfrm>
            <a:off x="2606040" y="3291840"/>
            <a:ext cx="5943600" cy="502920"/>
          </a:xfrm>
          <a:prstGeom prst="rect">
            <a:avLst/>
          </a:prstGeom>
          <a:noFill/>
          <a:ln/>
        </p:spPr>
        <p:txBody>
          <a:bodyPr wrap="square" lIns="0" tIns="0" rIns="0" bIns="0" rtlCol="0" anchor="ctr"/>
          <a:lstStyle/>
          <a:p>
            <a:pPr indent="0" marL="0">
              <a:buNone/>
            </a:pPr>
            <a:r>
              <a:rPr lang="en-US" sz="1200" dirty="0">
                <a:solidFill>
                  <a:schemeClr val="tx1"/>
                </a:solidFill>
              </a:rPr>
              <a:t>Aiuta le persone a usare bene gli strumenti (16.7)</a:t>
            </a:r>
            <a:endParaRPr lang="en-US" sz="1200" dirty="0"/>
          </a:p>
        </p:txBody>
      </p:sp>
      <p:sp>
        <p:nvSpPr>
          <p:cNvPr id="28" name="Governance formale"/>
          <p:cNvSpPr/>
          <p:nvPr/>
        </p:nvSpPr>
        <p:spPr>
          <a:xfrm>
            <a:off x="457200" y="3867912"/>
            <a:ext cx="8229600" cy="502920"/>
          </a:xfrm>
          <a:prstGeom prst="roundRect">
            <a:avLst>
              <a:gd name="adj" fmla="val 14545"/>
            </a:avLst>
          </a:prstGeom>
          <a:solidFill>
            <a:schemeClr val="bg1"/>
          </a:solidFill>
          <a:ln/>
        </p:spPr>
      </p:sp>
      <p:sp>
        <p:nvSpPr>
          <p:cNvPr id="29" name="Text 26"/>
          <p:cNvSpPr txBox="1"/>
          <p:nvPr/>
        </p:nvSpPr>
        <p:spPr>
          <a:xfrm>
            <a:off x="594360" y="3867912"/>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Governance formale</a:t>
            </a:r>
            <a:endParaRPr lang="en-US" sz="1300" dirty="0"/>
          </a:p>
        </p:txBody>
      </p:sp>
      <p:sp>
        <p:nvSpPr>
          <p:cNvPr id="30" name="Text 27"/>
          <p:cNvSpPr txBox="1"/>
          <p:nvPr/>
        </p:nvSpPr>
        <p:spPr>
          <a:xfrm>
            <a:off x="2606040" y="3867912"/>
            <a:ext cx="5943600" cy="502920"/>
          </a:xfrm>
          <a:prstGeom prst="rect">
            <a:avLst/>
          </a:prstGeom>
          <a:noFill/>
          <a:ln/>
        </p:spPr>
        <p:txBody>
          <a:bodyPr wrap="square" lIns="0" tIns="0" rIns="0" bIns="0" rtlCol="0" anchor="ctr"/>
          <a:lstStyle/>
          <a:p>
            <a:pPr indent="0" marL="0">
              <a:buNone/>
            </a:pPr>
            <a:r>
              <a:rPr lang="en-US" sz="1200" dirty="0">
                <a:solidFill>
                  <a:schemeClr val="tx1"/>
                </a:solidFill>
              </a:rPr>
              <a:t>Regole, responsabilità, controlli, conformità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Gestire gli usi non autorizzati</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Risultati</a:t>
            </a:r>
            <a:endParaRPr lang="en-US" sz="650" dirty="0"/>
          </a:p>
        </p:txBody>
      </p:sp>
      <p:sp>
        <p:nvSpPr>
          <p:cNvPr id="14" name="voce 1"/>
          <p:cNvSpPr/>
          <p:nvPr/>
        </p:nvSpPr>
        <p:spPr>
          <a:xfrm>
            <a:off x="457200" y="1051560"/>
            <a:ext cx="8229600" cy="457200"/>
          </a:xfrm>
          <a:prstGeom prst="roundRect">
            <a:avLst>
              <a:gd name="adj" fmla="val 16000"/>
            </a:avLst>
          </a:prstGeom>
          <a:solidFill>
            <a:schemeClr val="bg2"/>
          </a:solidFill>
          <a:ln/>
        </p:spPr>
      </p:sp>
      <p:sp>
        <p:nvSpPr>
          <p:cNvPr id="15" name="Text 12"/>
          <p:cNvSpPr txBox="1"/>
          <p:nvPr/>
        </p:nvSpPr>
        <p:spPr>
          <a:xfrm>
            <a:off x="566928" y="1051560"/>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6" name="Text 13"/>
          <p:cNvSpPr txBox="1"/>
          <p:nvPr/>
        </p:nvSpPr>
        <p:spPr>
          <a:xfrm>
            <a:off x="960120" y="1051560"/>
            <a:ext cx="7589520" cy="457200"/>
          </a:xfrm>
          <a:prstGeom prst="rect">
            <a:avLst/>
          </a:prstGeom>
          <a:noFill/>
          <a:ln/>
        </p:spPr>
        <p:txBody>
          <a:bodyPr wrap="square" lIns="0" tIns="0" rIns="0" bIns="0" rtlCol="0" anchor="ctr"/>
          <a:lstStyle/>
          <a:p>
            <a:pPr indent="0" marL="0">
              <a:buNone/>
            </a:pPr>
            <a:r>
              <a:rPr lang="en-US" sz="1300" dirty="0">
                <a:solidFill>
                  <a:schemeClr val="tx1"/>
                </a:solidFill>
              </a:rPr>
              <a:t>Capire: perché? quali esigenze soddisfa?</a:t>
            </a:r>
            <a:endParaRPr lang="en-US" sz="1300" dirty="0"/>
          </a:p>
        </p:txBody>
      </p:sp>
      <p:sp>
        <p:nvSpPr>
          <p:cNvPr id="17" name="voce 2"/>
          <p:cNvSpPr/>
          <p:nvPr/>
        </p:nvSpPr>
        <p:spPr>
          <a:xfrm>
            <a:off x="457200" y="1581912"/>
            <a:ext cx="8229600" cy="457200"/>
          </a:xfrm>
          <a:prstGeom prst="roundRect">
            <a:avLst>
              <a:gd name="adj" fmla="val 16000"/>
            </a:avLst>
          </a:prstGeom>
          <a:solidFill>
            <a:schemeClr val="bg1"/>
          </a:solidFill>
          <a:ln/>
        </p:spPr>
      </p:sp>
      <p:sp>
        <p:nvSpPr>
          <p:cNvPr id="18" name="Text 15"/>
          <p:cNvSpPr txBox="1"/>
          <p:nvPr/>
        </p:nvSpPr>
        <p:spPr>
          <a:xfrm>
            <a:off x="566928" y="1581912"/>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9" name="Text 16"/>
          <p:cNvSpPr txBox="1"/>
          <p:nvPr/>
        </p:nvSpPr>
        <p:spPr>
          <a:xfrm>
            <a:off x="960120" y="1581912"/>
            <a:ext cx="7589520" cy="457200"/>
          </a:xfrm>
          <a:prstGeom prst="rect">
            <a:avLst/>
          </a:prstGeom>
          <a:noFill/>
          <a:ln/>
        </p:spPr>
        <p:txBody>
          <a:bodyPr wrap="square" lIns="0" tIns="0" rIns="0" bIns="0" rtlCol="0" anchor="ctr"/>
          <a:lstStyle/>
          <a:p>
            <a:pPr indent="0" marL="0">
              <a:buNone/>
            </a:pPr>
            <a:r>
              <a:rPr lang="en-US" sz="1300" dirty="0">
                <a:solidFill>
                  <a:schemeClr val="tx1"/>
                </a:solidFill>
              </a:rPr>
              <a:t>Offrire alternative: approvate, adeguate, facili, conosciute</a:t>
            </a:r>
            <a:endParaRPr lang="en-US" sz="1300" dirty="0"/>
          </a:p>
        </p:txBody>
      </p:sp>
      <p:sp>
        <p:nvSpPr>
          <p:cNvPr id="20" name="voce 3"/>
          <p:cNvSpPr/>
          <p:nvPr/>
        </p:nvSpPr>
        <p:spPr>
          <a:xfrm>
            <a:off x="457200" y="2112264"/>
            <a:ext cx="8229600" cy="457200"/>
          </a:xfrm>
          <a:prstGeom prst="roundRect">
            <a:avLst>
              <a:gd name="adj" fmla="val 16000"/>
            </a:avLst>
          </a:prstGeom>
          <a:solidFill>
            <a:schemeClr val="bg2"/>
          </a:solidFill>
          <a:ln/>
        </p:spPr>
      </p:sp>
      <p:sp>
        <p:nvSpPr>
          <p:cNvPr id="21" name="Text 18"/>
          <p:cNvSpPr txBox="1"/>
          <p:nvPr/>
        </p:nvSpPr>
        <p:spPr>
          <a:xfrm>
            <a:off x="566928" y="2112264"/>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2" name="Text 19"/>
          <p:cNvSpPr txBox="1"/>
          <p:nvPr/>
        </p:nvSpPr>
        <p:spPr>
          <a:xfrm>
            <a:off x="960120" y="2112264"/>
            <a:ext cx="7589520" cy="457200"/>
          </a:xfrm>
          <a:prstGeom prst="rect">
            <a:avLst/>
          </a:prstGeom>
          <a:noFill/>
          <a:ln/>
        </p:spPr>
        <p:txBody>
          <a:bodyPr wrap="square" lIns="0" tIns="0" rIns="0" bIns="0" rtlCol="0" anchor="ctr"/>
          <a:lstStyle/>
          <a:p>
            <a:pPr indent="0" marL="0">
              <a:buNone/>
            </a:pPr>
            <a:r>
              <a:rPr lang="en-US" sz="1300" dirty="0">
                <a:solidFill>
                  <a:schemeClr val="tx1"/>
                </a:solidFill>
              </a:rPr>
              <a:t>Chiarire: che cosa non si può fare, e perché</a:t>
            </a:r>
            <a:endParaRPr lang="en-US" sz="1300" dirty="0"/>
          </a:p>
        </p:txBody>
      </p:sp>
      <p:sp>
        <p:nvSpPr>
          <p:cNvPr id="23" name="voce 4"/>
          <p:cNvSpPr/>
          <p:nvPr/>
        </p:nvSpPr>
        <p:spPr>
          <a:xfrm>
            <a:off x="457200" y="2642616"/>
            <a:ext cx="8229600" cy="457200"/>
          </a:xfrm>
          <a:prstGeom prst="roundRect">
            <a:avLst>
              <a:gd name="adj" fmla="val 16000"/>
            </a:avLst>
          </a:prstGeom>
          <a:solidFill>
            <a:schemeClr val="bg1"/>
          </a:solidFill>
          <a:ln/>
        </p:spPr>
      </p:sp>
      <p:sp>
        <p:nvSpPr>
          <p:cNvPr id="24" name="Text 21"/>
          <p:cNvSpPr txBox="1"/>
          <p:nvPr/>
        </p:nvSpPr>
        <p:spPr>
          <a:xfrm>
            <a:off x="566928" y="2642616"/>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5" name="Text 22"/>
          <p:cNvSpPr txBox="1"/>
          <p:nvPr/>
        </p:nvSpPr>
        <p:spPr>
          <a:xfrm>
            <a:off x="960120" y="2642616"/>
            <a:ext cx="7589520" cy="457200"/>
          </a:xfrm>
          <a:prstGeom prst="rect">
            <a:avLst/>
          </a:prstGeom>
          <a:noFill/>
          <a:ln/>
        </p:spPr>
        <p:txBody>
          <a:bodyPr wrap="square" lIns="0" tIns="0" rIns="0" bIns="0" rtlCol="0" anchor="ctr"/>
          <a:lstStyle/>
          <a:p>
            <a:pPr indent="0" marL="0">
              <a:buNone/>
            </a:pPr>
            <a:r>
              <a:rPr lang="en-US" sz="1300" dirty="0">
                <a:solidFill>
                  <a:schemeClr val="tx1"/>
                </a:solidFill>
              </a:rPr>
              <a:t>Accompagnare: portare le competenze sugli strumenti approvati</a:t>
            </a:r>
            <a:endParaRPr lang="en-US" sz="1300" dirty="0"/>
          </a:p>
        </p:txBody>
      </p:sp>
      <p:sp>
        <p:nvSpPr>
          <p:cNvPr id="26" name="voce 5"/>
          <p:cNvSpPr/>
          <p:nvPr/>
        </p:nvSpPr>
        <p:spPr>
          <a:xfrm>
            <a:off x="457200" y="3172968"/>
            <a:ext cx="8229600" cy="457200"/>
          </a:xfrm>
          <a:prstGeom prst="roundRect">
            <a:avLst>
              <a:gd name="adj" fmla="val 16000"/>
            </a:avLst>
          </a:prstGeom>
          <a:solidFill>
            <a:schemeClr val="bg2"/>
          </a:solidFill>
          <a:ln/>
        </p:spPr>
      </p:sp>
      <p:sp>
        <p:nvSpPr>
          <p:cNvPr id="27" name="Text 24"/>
          <p:cNvSpPr txBox="1"/>
          <p:nvPr/>
        </p:nvSpPr>
        <p:spPr>
          <a:xfrm>
            <a:off x="566928" y="3172968"/>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8" name="Text 25"/>
          <p:cNvSpPr txBox="1"/>
          <p:nvPr/>
        </p:nvSpPr>
        <p:spPr>
          <a:xfrm>
            <a:off x="960120" y="3172968"/>
            <a:ext cx="7589520" cy="457200"/>
          </a:xfrm>
          <a:prstGeom prst="rect">
            <a:avLst/>
          </a:prstGeom>
          <a:noFill/>
          <a:ln/>
        </p:spPr>
        <p:txBody>
          <a:bodyPr wrap="square" lIns="0" tIns="0" rIns="0" bIns="0" rtlCol="0" anchor="ctr"/>
          <a:lstStyle/>
          <a:p>
            <a:pPr indent="0" marL="0">
              <a:buNone/>
            </a:pPr>
            <a:r>
              <a:rPr lang="en-US" sz="1300" dirty="0">
                <a:solidFill>
                  <a:schemeClr val="tx1"/>
                </a:solidFill>
              </a:rPr>
              <a:t>Controllare dove serve</a:t>
            </a:r>
            <a:endParaRPr lang="en-US" sz="1300" dirty="0"/>
          </a:p>
        </p:txBody>
      </p:sp>
      <p:sp>
        <p:nvSpPr>
          <p:cNvPr id="29" name="messaggio"/>
          <p:cNvSpPr/>
          <p:nvPr/>
        </p:nvSpPr>
        <p:spPr>
          <a:xfrm>
            <a:off x="457200" y="3749040"/>
            <a:ext cx="8229600" cy="731520"/>
          </a:xfrm>
          <a:prstGeom prst="roundRect">
            <a:avLst>
              <a:gd name="adj" fmla="val 10000"/>
            </a:avLst>
          </a:prstGeom>
          <a:solidFill>
            <a:schemeClr val="tx1"/>
          </a:solidFill>
          <a:ln/>
        </p:spPr>
      </p:sp>
      <p:sp>
        <p:nvSpPr>
          <p:cNvPr id="30" name="Text 27"/>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Chiarezza e supporto riducono gli incentivi allo Shadow AI, senza eliminarlo automaticamente.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L'autonomia individuale è più efficace quando esistono riferimenti operativi chiari e canali di aiuto accessibili.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16.7  ·  Supporto e coordinamento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Monitoraggio e sostenibilità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Monitorare significa osservare non soltanto quanto l'AI viene usata, ma come, perché e con quali risultati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Diffusione, intensità, qualità</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Risultati</a:t>
            </a:r>
            <a:endParaRPr lang="en-US" sz="650" dirty="0"/>
          </a:p>
        </p:txBody>
      </p:sp>
      <p:sp>
        <p:nvSpPr>
          <p:cNvPr id="14" name="Diffusione"/>
          <p:cNvSpPr/>
          <p:nvPr/>
        </p:nvSpPr>
        <p:spPr>
          <a:xfrm>
            <a:off x="457200" y="1051560"/>
            <a:ext cx="2615184" cy="2103120"/>
          </a:xfrm>
          <a:prstGeom prst="roundRect">
            <a:avLst>
              <a:gd name="adj" fmla="val 3478"/>
            </a:avLst>
          </a:prstGeom>
          <a:solidFill>
            <a:schemeClr val="bg2"/>
          </a:solidFill>
          <a:ln/>
        </p:spPr>
      </p:sp>
      <p:sp>
        <p:nvSpPr>
          <p:cNvPr id="15" name="cerchio FiUsers"/>
          <p:cNvSpPr/>
          <p:nvPr/>
        </p:nvSpPr>
        <p:spPr>
          <a:xfrm>
            <a:off x="1463040" y="1143000"/>
            <a:ext cx="566928" cy="566928"/>
          </a:xfrm>
          <a:prstGeom prst="ellipse">
            <a:avLst/>
          </a:prstGeom>
          <a:solidFill>
            <a:schemeClr val="accent1"/>
          </a:solidFill>
          <a:ln/>
        </p:spPr>
      </p:sp>
      <p:pic>
        <p:nvPicPr>
          <p:cNvPr id="16" name="Image 0" descr="FiUsers">    </p:cNvPr>
          <p:cNvPicPr>
            <a:picLocks noChangeAspect="1"/>
          </p:cNvPicPr>
          <p:nvPr/>
        </p:nvPicPr>
        <p:blipFill>
          <a:blip r:embed="rId1"/>
          <a:stretch>
            <a:fillRect/>
          </a:stretch>
        </p:blipFill>
        <p:spPr>
          <a:xfrm>
            <a:off x="1604772" y="1284732"/>
            <a:ext cx="283464" cy="283464"/>
          </a:xfrm>
          <a:prstGeom prst="rect">
            <a:avLst/>
          </a:prstGeom>
        </p:spPr>
      </p:pic>
      <p:sp>
        <p:nvSpPr>
          <p:cNvPr id="17" name="Text 13"/>
          <p:cNvSpPr txBox="1"/>
          <p:nvPr/>
        </p:nvSpPr>
        <p:spPr>
          <a:xfrm>
            <a:off x="594360"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Diffusione</a:t>
            </a:r>
            <a:endParaRPr lang="en-US" sz="1500" dirty="0"/>
          </a:p>
        </p:txBody>
      </p:sp>
      <p:sp>
        <p:nvSpPr>
          <p:cNvPr id="18" name="Text 14"/>
          <p:cNvSpPr txBox="1"/>
          <p:nvPr/>
        </p:nvSpPr>
        <p:spPr>
          <a:xfrm>
            <a:off x="594360" y="2167128"/>
            <a:ext cx="2340864" cy="502920"/>
          </a:xfrm>
          <a:prstGeom prst="rect">
            <a:avLst/>
          </a:prstGeom>
          <a:noFill/>
          <a:ln/>
        </p:spPr>
        <p:txBody>
          <a:bodyPr wrap="square" lIns="0" tIns="0" rIns="0" bIns="0" rtlCol="0" anchor="t"/>
          <a:lstStyle/>
          <a:p>
            <a:pPr algn="ctr" indent="0" marL="0">
              <a:buNone/>
            </a:pPr>
            <a:r>
              <a:rPr lang="en-US" sz="1200" dirty="0">
                <a:solidFill>
                  <a:schemeClr val="tx1"/>
                </a:solidFill>
              </a:rPr>
              <a:t>Quante persone?</a:t>
            </a:r>
            <a:endParaRPr lang="en-US" sz="1200" dirty="0"/>
          </a:p>
        </p:txBody>
      </p:sp>
      <p:sp>
        <p:nvSpPr>
          <p:cNvPr id="19" name="Text 15"/>
          <p:cNvSpPr txBox="1"/>
          <p:nvPr/>
        </p:nvSpPr>
        <p:spPr>
          <a:xfrm>
            <a:off x="594360" y="2697480"/>
            <a:ext cx="2340864" cy="365760"/>
          </a:xfrm>
          <a:prstGeom prst="rect">
            <a:avLst/>
          </a:prstGeom>
          <a:noFill/>
          <a:ln/>
        </p:spPr>
        <p:txBody>
          <a:bodyPr wrap="square" lIns="0" tIns="0" rIns="0" bIns="0" rtlCol="0" anchor="t"/>
          <a:lstStyle/>
          <a:p>
            <a:pPr algn="ctr" indent="0" marL="0">
              <a:buNone/>
            </a:pPr>
            <a:r>
              <a:rPr lang="en-US" sz="1100" b="1" dirty="0">
                <a:solidFill>
                  <a:schemeClr val="accent1"/>
                </a:solidFill>
              </a:rPr>
              <a:t>Facile da misurare</a:t>
            </a:r>
            <a:endParaRPr lang="en-US" sz="1100" dirty="0"/>
          </a:p>
        </p:txBody>
      </p:sp>
      <p:sp>
        <p:nvSpPr>
          <p:cNvPr id="20" name="Intensità"/>
          <p:cNvSpPr/>
          <p:nvPr/>
        </p:nvSpPr>
        <p:spPr>
          <a:xfrm>
            <a:off x="3264408" y="1051560"/>
            <a:ext cx="2615184" cy="2103120"/>
          </a:xfrm>
          <a:prstGeom prst="roundRect">
            <a:avLst>
              <a:gd name="adj" fmla="val 3478"/>
            </a:avLst>
          </a:prstGeom>
          <a:solidFill>
            <a:schemeClr val="bg2"/>
          </a:solidFill>
          <a:ln/>
        </p:spPr>
      </p:sp>
      <p:sp>
        <p:nvSpPr>
          <p:cNvPr id="21" name="cerchio FiActivity"/>
          <p:cNvSpPr/>
          <p:nvPr/>
        </p:nvSpPr>
        <p:spPr>
          <a:xfrm>
            <a:off x="4270248" y="1143000"/>
            <a:ext cx="566928" cy="566928"/>
          </a:xfrm>
          <a:prstGeom prst="ellipse">
            <a:avLst/>
          </a:prstGeom>
          <a:solidFill>
            <a:schemeClr val="accent1"/>
          </a:solidFill>
          <a:ln/>
        </p:spPr>
      </p:sp>
      <p:pic>
        <p:nvPicPr>
          <p:cNvPr id="22" name="Image 1" descr="FiActivity">    </p:cNvPr>
          <p:cNvPicPr>
            <a:picLocks noChangeAspect="1"/>
          </p:cNvPicPr>
          <p:nvPr/>
        </p:nvPicPr>
        <p:blipFill>
          <a:blip r:embed="rId2"/>
          <a:stretch>
            <a:fillRect/>
          </a:stretch>
        </p:blipFill>
        <p:spPr>
          <a:xfrm>
            <a:off x="4411980" y="1284732"/>
            <a:ext cx="283464" cy="283464"/>
          </a:xfrm>
          <a:prstGeom prst="rect">
            <a:avLst/>
          </a:prstGeom>
        </p:spPr>
      </p:pic>
      <p:sp>
        <p:nvSpPr>
          <p:cNvPr id="23" name="Text 18"/>
          <p:cNvSpPr txBox="1"/>
          <p:nvPr/>
        </p:nvSpPr>
        <p:spPr>
          <a:xfrm>
            <a:off x="3401568"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Intensità</a:t>
            </a:r>
            <a:endParaRPr lang="en-US" sz="1500" dirty="0"/>
          </a:p>
        </p:txBody>
      </p:sp>
      <p:sp>
        <p:nvSpPr>
          <p:cNvPr id="24" name="Text 19"/>
          <p:cNvSpPr txBox="1"/>
          <p:nvPr/>
        </p:nvSpPr>
        <p:spPr>
          <a:xfrm>
            <a:off x="3401568" y="2167128"/>
            <a:ext cx="2340864" cy="502920"/>
          </a:xfrm>
          <a:prstGeom prst="rect">
            <a:avLst/>
          </a:prstGeom>
          <a:noFill/>
          <a:ln/>
        </p:spPr>
        <p:txBody>
          <a:bodyPr wrap="square" lIns="0" tIns="0" rIns="0" bIns="0" rtlCol="0" anchor="t"/>
          <a:lstStyle/>
          <a:p>
            <a:pPr algn="ctr" indent="0" marL="0">
              <a:buNone/>
            </a:pPr>
            <a:r>
              <a:rPr lang="en-US" sz="1200" dirty="0">
                <a:solidFill>
                  <a:schemeClr val="tx1"/>
                </a:solidFill>
              </a:rPr>
              <a:t>Quanto: frequenza, attività, continuità</a:t>
            </a:r>
            <a:endParaRPr lang="en-US" sz="1200" dirty="0"/>
          </a:p>
        </p:txBody>
      </p:sp>
      <p:sp>
        <p:nvSpPr>
          <p:cNvPr id="25" name="Text 20"/>
          <p:cNvSpPr txBox="1"/>
          <p:nvPr/>
        </p:nvSpPr>
        <p:spPr>
          <a:xfrm>
            <a:off x="3401568" y="2697480"/>
            <a:ext cx="2340864" cy="365760"/>
          </a:xfrm>
          <a:prstGeom prst="rect">
            <a:avLst/>
          </a:prstGeom>
          <a:noFill/>
          <a:ln/>
        </p:spPr>
        <p:txBody>
          <a:bodyPr wrap="square" lIns="0" tIns="0" rIns="0" bIns="0" rtlCol="0" anchor="t"/>
          <a:lstStyle/>
          <a:p>
            <a:pPr algn="ctr" indent="0" marL="0">
              <a:buNone/>
            </a:pPr>
            <a:r>
              <a:rPr lang="en-US" sz="1100" b="1" dirty="0">
                <a:solidFill>
                  <a:schemeClr val="accent1"/>
                </a:solidFill>
              </a:rPr>
              <a:t>Abbastanza facile</a:t>
            </a:r>
            <a:endParaRPr lang="en-US" sz="1100" dirty="0"/>
          </a:p>
        </p:txBody>
      </p:sp>
      <p:sp>
        <p:nvSpPr>
          <p:cNvPr id="26" name="Qualità"/>
          <p:cNvSpPr/>
          <p:nvPr/>
        </p:nvSpPr>
        <p:spPr>
          <a:xfrm>
            <a:off x="6071616" y="1051560"/>
            <a:ext cx="2615184" cy="2103120"/>
          </a:xfrm>
          <a:prstGeom prst="roundRect">
            <a:avLst>
              <a:gd name="adj" fmla="val 3478"/>
            </a:avLst>
          </a:prstGeom>
          <a:solidFill>
            <a:schemeClr val="accent6"/>
          </a:solidFill>
          <a:ln/>
        </p:spPr>
      </p:sp>
      <p:sp>
        <p:nvSpPr>
          <p:cNvPr id="27" name="cerchio FiAward"/>
          <p:cNvSpPr/>
          <p:nvPr/>
        </p:nvSpPr>
        <p:spPr>
          <a:xfrm>
            <a:off x="7077456" y="1143000"/>
            <a:ext cx="566928" cy="566928"/>
          </a:xfrm>
          <a:prstGeom prst="ellipse">
            <a:avLst/>
          </a:prstGeom>
          <a:solidFill>
            <a:schemeClr val="accent1"/>
          </a:solidFill>
          <a:ln/>
        </p:spPr>
      </p:sp>
      <p:pic>
        <p:nvPicPr>
          <p:cNvPr id="28" name="Image 2" descr="FiAward">    </p:cNvPr>
          <p:cNvPicPr>
            <a:picLocks noChangeAspect="1"/>
          </p:cNvPicPr>
          <p:nvPr/>
        </p:nvPicPr>
        <p:blipFill>
          <a:blip r:embed="rId3"/>
          <a:stretch>
            <a:fillRect/>
          </a:stretch>
        </p:blipFill>
        <p:spPr>
          <a:xfrm>
            <a:off x="7219188" y="1284732"/>
            <a:ext cx="283464" cy="283464"/>
          </a:xfrm>
          <a:prstGeom prst="rect">
            <a:avLst/>
          </a:prstGeom>
        </p:spPr>
      </p:pic>
      <p:sp>
        <p:nvSpPr>
          <p:cNvPr id="29" name="Text 23"/>
          <p:cNvSpPr txBox="1"/>
          <p:nvPr/>
        </p:nvSpPr>
        <p:spPr>
          <a:xfrm>
            <a:off x="6208776"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Qualità</a:t>
            </a:r>
            <a:endParaRPr lang="en-US" sz="1500" dirty="0"/>
          </a:p>
        </p:txBody>
      </p:sp>
      <p:sp>
        <p:nvSpPr>
          <p:cNvPr id="30" name="Text 24"/>
          <p:cNvSpPr txBox="1"/>
          <p:nvPr/>
        </p:nvSpPr>
        <p:spPr>
          <a:xfrm>
            <a:off x="6208776" y="2167128"/>
            <a:ext cx="2340864" cy="502920"/>
          </a:xfrm>
          <a:prstGeom prst="rect">
            <a:avLst/>
          </a:prstGeom>
          <a:noFill/>
          <a:ln/>
        </p:spPr>
        <p:txBody>
          <a:bodyPr wrap="square" lIns="0" tIns="0" rIns="0" bIns="0" rtlCol="0" anchor="t"/>
          <a:lstStyle/>
          <a:p>
            <a:pPr algn="ctr" indent="0" marL="0">
              <a:buNone/>
            </a:pPr>
            <a:r>
              <a:rPr lang="en-US" sz="1200" dirty="0">
                <a:solidFill>
                  <a:schemeClr val="tx1"/>
                </a:solidFill>
              </a:rPr>
              <a:t>Come: attività adatte, verifica, risultati</a:t>
            </a:r>
            <a:endParaRPr lang="en-US" sz="1200" dirty="0"/>
          </a:p>
        </p:txBody>
      </p:sp>
      <p:sp>
        <p:nvSpPr>
          <p:cNvPr id="31" name="Text 25"/>
          <p:cNvSpPr txBox="1"/>
          <p:nvPr/>
        </p:nvSpPr>
        <p:spPr>
          <a:xfrm>
            <a:off x="6208776" y="2697480"/>
            <a:ext cx="2340864" cy="365760"/>
          </a:xfrm>
          <a:prstGeom prst="rect">
            <a:avLst/>
          </a:prstGeom>
          <a:noFill/>
          <a:ln/>
        </p:spPr>
        <p:txBody>
          <a:bodyPr wrap="square" lIns="0" tIns="0" rIns="0" bIns="0" rtlCol="0" anchor="t"/>
          <a:lstStyle/>
          <a:p>
            <a:pPr algn="ctr" indent="0" marL="0">
              <a:buNone/>
            </a:pPr>
            <a:r>
              <a:rPr lang="en-US" sz="1100" b="1" dirty="0">
                <a:solidFill>
                  <a:schemeClr val="accent1"/>
                </a:solidFill>
              </a:rPr>
              <a:t>Difficile da osservare</a:t>
            </a:r>
            <a:endParaRPr lang="en-US" sz="1100" dirty="0"/>
          </a:p>
        </p:txBody>
      </p:sp>
      <p:sp>
        <p:nvSpPr>
          <p:cNvPr id="32" name="messaggio"/>
          <p:cNvSpPr/>
          <p:nvPr/>
        </p:nvSpPr>
        <p:spPr>
          <a:xfrm>
            <a:off x="457200" y="3383280"/>
            <a:ext cx="8229600" cy="777240"/>
          </a:xfrm>
          <a:prstGeom prst="roundRect">
            <a:avLst>
              <a:gd name="adj" fmla="val 9412"/>
            </a:avLst>
          </a:prstGeom>
          <a:solidFill>
            <a:schemeClr val="tx1"/>
          </a:solidFill>
          <a:ln/>
        </p:spPr>
      </p:sp>
      <p:sp>
        <p:nvSpPr>
          <p:cNvPr id="33" name="Text 27"/>
          <p:cNvSpPr txBox="1"/>
          <p:nvPr/>
        </p:nvSpPr>
        <p:spPr>
          <a:xfrm>
            <a:off x="640080" y="3383280"/>
            <a:ext cx="7863840" cy="777240"/>
          </a:xfrm>
          <a:prstGeom prst="rect">
            <a:avLst/>
          </a:prstGeom>
          <a:noFill/>
          <a:ln/>
        </p:spPr>
        <p:txBody>
          <a:bodyPr wrap="square" lIns="0" tIns="0" rIns="0" bIns="0" rtlCol="0" anchor="ctr"/>
          <a:lstStyle/>
          <a:p>
            <a:pPr indent="0" marL="0">
              <a:buNone/>
            </a:pPr>
            <a:r>
              <a:rPr lang="en-US" sz="1400" dirty="0">
                <a:solidFill>
                  <a:schemeClr val="bg1"/>
                </a:solidFill>
              </a:rPr>
              <a:t>Possono divergere. La continuità nel tempo è molto informativa. La tentazione è guardare solo la più facile.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Adozione o impatto?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Risultati</a:t>
            </a:r>
            <a:endParaRPr lang="en-US" sz="65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3108960"/>
                <a:gridCol w="3291840"/>
              </a:tblGrid>
              <a:tr h="502920">
                <a:tc>
                  <a:txBody>
                    <a:bodyPr/>
                    <a:lstStyle/>
                    <a:p>
                      <a:pPr indent="0" marL="0">
                        <a:buNone/>
                      </a:pPr>
                      <a:r>
                        <a:rPr lang="en-US" sz="1200" b="1" dirty="0">
                          <a:solidFill>
                            <a:schemeClr val="tx1"/>
                          </a:solidFill>
                        </a:rPr>
                        <a:t>Scenario fittizio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Metriche di adozione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Indicatori di impatto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02920">
                <a:tc>
                  <a:txBody>
                    <a:bodyPr/>
                    <a:lstStyle/>
                    <a:p>
                      <a:pPr indent="0" marL="0">
                        <a:buNone/>
                      </a:pPr>
                      <a:r>
                        <a:rPr lang="en-US" sz="1200" b="1" dirty="0">
                          <a:solidFill>
                            <a:schemeClr val="tx1"/>
                          </a:solidFill>
                        </a:rPr>
                        <a:t>Che cosa misurano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L'uso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Gli effetti su lavoro e risultati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Esempi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Utenti attivi, richieste al giorno, documenti generati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Tempo per offerta, errori nelle offerte, tasso di risposta dei 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Fonte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Spesso lo strumento stesso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Processi, clienti, confronto con il prima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Dicono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 e dove viene usato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 l'uso produce benefici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703320"/>
            <a:ext cx="8229600" cy="731520"/>
          </a:xfrm>
          <a:prstGeom prst="roundRect">
            <a:avLst>
              <a:gd name="adj" fmla="val 10000"/>
            </a:avLst>
          </a:prstGeom>
          <a:solidFill>
            <a:schemeClr val="tx1"/>
          </a:solidFill>
          <a:ln/>
        </p:spPr>
      </p:sp>
      <p:sp>
        <p:nvSpPr>
          <p:cNvPr id="16" name="Text 12"/>
          <p:cNvSpPr txBox="1"/>
          <p:nvPr/>
        </p:nvSpPr>
        <p:spPr>
          <a:xfrm>
            <a:off x="640080" y="3703320"/>
            <a:ext cx="7863840" cy="731520"/>
          </a:xfrm>
          <a:prstGeom prst="rect">
            <a:avLst/>
          </a:prstGeom>
          <a:noFill/>
          <a:ln/>
        </p:spPr>
        <p:txBody>
          <a:bodyPr wrap="square" lIns="0" tIns="0" rIns="0" bIns="0" rtlCol="0" anchor="ctr"/>
          <a:lstStyle/>
          <a:p>
            <a:pPr indent="0" marL="0">
              <a:buNone/>
            </a:pPr>
            <a:r>
              <a:rPr lang="en-US" sz="1500" dirty="0">
                <a:solidFill>
                  <a:schemeClr val="bg1"/>
                </a:solidFill>
              </a:rPr>
              <a:t>Alta adozione con impatto nullo, o negativo, è possibile. Osservare entrambi.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osservare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Risultati</a:t>
            </a:r>
            <a:endParaRPr lang="en-US" sz="650" dirty="0"/>
          </a:p>
        </p:txBody>
      </p:sp>
      <p:sp>
        <p:nvSpPr>
          <p:cNvPr id="14" name="Uso effettivo"/>
          <p:cNvSpPr/>
          <p:nvPr/>
        </p:nvSpPr>
        <p:spPr>
          <a:xfrm>
            <a:off x="457200" y="1051560"/>
            <a:ext cx="2621280" cy="1280160"/>
          </a:xfrm>
          <a:prstGeom prst="roundRect">
            <a:avLst>
              <a:gd name="adj" fmla="val 5714"/>
            </a:avLst>
          </a:prstGeom>
          <a:solidFill>
            <a:schemeClr val="bg2"/>
          </a:solidFill>
          <a:ln/>
        </p:spPr>
      </p:sp>
      <p:sp>
        <p:nvSpPr>
          <p:cNvPr id="15" name="cerchio FiActivity"/>
          <p:cNvSpPr/>
          <p:nvPr/>
        </p:nvSpPr>
        <p:spPr>
          <a:xfrm>
            <a:off x="621792" y="1216152"/>
            <a:ext cx="438912" cy="438912"/>
          </a:xfrm>
          <a:prstGeom prst="ellipse">
            <a:avLst/>
          </a:prstGeom>
          <a:solidFill>
            <a:schemeClr val="accent1"/>
          </a:solidFill>
          <a:ln/>
        </p:spPr>
      </p:sp>
      <p:pic>
        <p:nvPicPr>
          <p:cNvPr id="16" name="Image 0" descr="FiActivity">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Uso effettivo</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Diffusione, intensità, continuità</a:t>
            </a:r>
            <a:endParaRPr lang="en-US" sz="1200" dirty="0"/>
          </a:p>
        </p:txBody>
      </p:sp>
      <p:sp>
        <p:nvSpPr>
          <p:cNvPr id="19" name="Risultati nelle attività"/>
          <p:cNvSpPr/>
          <p:nvPr/>
        </p:nvSpPr>
        <p:spPr>
          <a:xfrm>
            <a:off x="3261360" y="1051560"/>
            <a:ext cx="2621280" cy="1280160"/>
          </a:xfrm>
          <a:prstGeom prst="roundRect">
            <a:avLst>
              <a:gd name="adj" fmla="val 5714"/>
            </a:avLst>
          </a:prstGeom>
          <a:solidFill>
            <a:schemeClr val="bg2"/>
          </a:solidFill>
          <a:ln/>
        </p:spPr>
      </p:sp>
      <p:sp>
        <p:nvSpPr>
          <p:cNvPr id="20" name="cerchio FiTarget"/>
          <p:cNvSpPr/>
          <p:nvPr/>
        </p:nvSpPr>
        <p:spPr>
          <a:xfrm>
            <a:off x="3425952" y="1216152"/>
            <a:ext cx="438912" cy="438912"/>
          </a:xfrm>
          <a:prstGeom prst="ellipse">
            <a:avLst/>
          </a:prstGeom>
          <a:solidFill>
            <a:schemeClr val="accent1"/>
          </a:solidFill>
          <a:ln/>
        </p:spPr>
      </p:sp>
      <p:pic>
        <p:nvPicPr>
          <p:cNvPr id="21" name="Image 1" descr="FiTarget">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Risultati nelle attività</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Tempo, qualità, errori, servizio</a:t>
            </a:r>
            <a:endParaRPr lang="en-US" sz="1200" dirty="0"/>
          </a:p>
        </p:txBody>
      </p:sp>
      <p:sp>
        <p:nvSpPr>
          <p:cNvPr id="24" name="Feedback degli utilizzatori"/>
          <p:cNvSpPr/>
          <p:nvPr/>
        </p:nvSpPr>
        <p:spPr>
          <a:xfrm>
            <a:off x="6065520" y="1051560"/>
            <a:ext cx="2621280" cy="1280160"/>
          </a:xfrm>
          <a:prstGeom prst="roundRect">
            <a:avLst>
              <a:gd name="adj" fmla="val 5714"/>
            </a:avLst>
          </a:prstGeom>
          <a:solidFill>
            <a:schemeClr val="bg2"/>
          </a:solidFill>
          <a:ln/>
        </p:spPr>
      </p:sp>
      <p:sp>
        <p:nvSpPr>
          <p:cNvPr id="25" name="cerchio FiMessageCircle"/>
          <p:cNvSpPr/>
          <p:nvPr/>
        </p:nvSpPr>
        <p:spPr>
          <a:xfrm>
            <a:off x="6230112" y="1216152"/>
            <a:ext cx="438912" cy="438912"/>
          </a:xfrm>
          <a:prstGeom prst="ellipse">
            <a:avLst/>
          </a:prstGeom>
          <a:solidFill>
            <a:schemeClr val="accent1"/>
          </a:solidFill>
          <a:ln/>
        </p:spPr>
      </p:sp>
      <p:pic>
        <p:nvPicPr>
          <p:cNvPr id="26" name="Image 2" descr="FiMessageCircle">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Feedback degli utilizzatori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Che cosa è utile, che cosa frustra</a:t>
            </a:r>
            <a:endParaRPr lang="en-US" sz="1200" dirty="0"/>
          </a:p>
        </p:txBody>
      </p:sp>
      <p:sp>
        <p:nvSpPr>
          <p:cNvPr id="29" name="Ostacoli persistenti"/>
          <p:cNvSpPr/>
          <p:nvPr/>
        </p:nvSpPr>
        <p:spPr>
          <a:xfrm>
            <a:off x="457200" y="2514600"/>
            <a:ext cx="2621280" cy="1280160"/>
          </a:xfrm>
          <a:prstGeom prst="roundRect">
            <a:avLst>
              <a:gd name="adj" fmla="val 5714"/>
            </a:avLst>
          </a:prstGeom>
          <a:solidFill>
            <a:schemeClr val="bg2"/>
          </a:solidFill>
          <a:ln/>
        </p:spPr>
      </p:sp>
      <p:sp>
        <p:nvSpPr>
          <p:cNvPr id="30" name="cerchio FiAlertTriangle"/>
          <p:cNvSpPr/>
          <p:nvPr/>
        </p:nvSpPr>
        <p:spPr>
          <a:xfrm>
            <a:off x="621792" y="2679192"/>
            <a:ext cx="438912" cy="438912"/>
          </a:xfrm>
          <a:prstGeom prst="ellipse">
            <a:avLst/>
          </a:prstGeom>
          <a:solidFill>
            <a:schemeClr val="accent1"/>
          </a:solidFill>
          <a:ln/>
        </p:spPr>
      </p:sp>
      <p:pic>
        <p:nvPicPr>
          <p:cNvPr id="31" name="Image 3" descr="FiAlertTriangle">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Ostacoli persistenti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Probabilmente strutturali</a:t>
            </a:r>
            <a:endParaRPr lang="en-US" sz="1200" dirty="0"/>
          </a:p>
        </p:txBody>
      </p:sp>
      <p:sp>
        <p:nvSpPr>
          <p:cNvPr id="34" name="Costi di supporto"/>
          <p:cNvSpPr/>
          <p:nvPr/>
        </p:nvSpPr>
        <p:spPr>
          <a:xfrm>
            <a:off x="3261360" y="2514600"/>
            <a:ext cx="2621280" cy="1280160"/>
          </a:xfrm>
          <a:prstGeom prst="roundRect">
            <a:avLst>
              <a:gd name="adj" fmla="val 5714"/>
            </a:avLst>
          </a:prstGeom>
          <a:solidFill>
            <a:schemeClr val="bg2"/>
          </a:solidFill>
          <a:ln/>
        </p:spPr>
      </p:sp>
      <p:sp>
        <p:nvSpPr>
          <p:cNvPr id="35" name="cerchio FiDollarSign"/>
          <p:cNvSpPr/>
          <p:nvPr/>
        </p:nvSpPr>
        <p:spPr>
          <a:xfrm>
            <a:off x="3425952" y="2679192"/>
            <a:ext cx="438912" cy="438912"/>
          </a:xfrm>
          <a:prstGeom prst="ellipse">
            <a:avLst/>
          </a:prstGeom>
          <a:solidFill>
            <a:schemeClr val="accent1"/>
          </a:solidFill>
          <a:ln/>
        </p:spPr>
      </p:sp>
      <p:pic>
        <p:nvPicPr>
          <p:cNvPr id="36" name="Image 4" descr="FiDollarSign">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Costi di supporto</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Referenti, materiali, licenze, interventi</a:t>
            </a:r>
            <a:endParaRPr lang="en-US" sz="1200" dirty="0"/>
          </a:p>
        </p:txBody>
      </p:sp>
      <p:sp>
        <p:nvSpPr>
          <p:cNvPr id="39" name="Bisogni formativi e pratiche"/>
          <p:cNvSpPr/>
          <p:nvPr/>
        </p:nvSpPr>
        <p:spPr>
          <a:xfrm>
            <a:off x="6065520" y="2514600"/>
            <a:ext cx="2621280" cy="1280160"/>
          </a:xfrm>
          <a:prstGeom prst="roundRect">
            <a:avLst>
              <a:gd name="adj" fmla="val 5714"/>
            </a:avLst>
          </a:prstGeom>
          <a:solidFill>
            <a:schemeClr val="bg2"/>
          </a:solidFill>
          <a:ln/>
        </p:spPr>
      </p:sp>
      <p:sp>
        <p:nvSpPr>
          <p:cNvPr id="40" name="cerchio FiBookOpen"/>
          <p:cNvSpPr/>
          <p:nvPr/>
        </p:nvSpPr>
        <p:spPr>
          <a:xfrm>
            <a:off x="6230112" y="2679192"/>
            <a:ext cx="438912" cy="438912"/>
          </a:xfrm>
          <a:prstGeom prst="ellipse">
            <a:avLst/>
          </a:prstGeom>
          <a:solidFill>
            <a:schemeClr val="accent1"/>
          </a:solidFill>
          <a:ln/>
        </p:spPr>
      </p:sp>
      <p:pic>
        <p:nvPicPr>
          <p:cNvPr id="41" name="Image 5" descr="FiBookOpen">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Bisogni formativi e pratiche</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Che cosa serve ora? Le indicazioni reggono?</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I numeri dicono che cosa succede, le persone dicono perché. Poche osservazioni regolari bastano.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Diffondere non è adottare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Risultati</a:t>
            </a:r>
            <a:endParaRPr lang="en-US" sz="650" dirty="0"/>
          </a:p>
        </p:txBody>
      </p:sp>
      <p:graphicFrame>
        <p:nvGraphicFramePr>
          <p:cNvPr id="14" name="Chart 0" descr=""/>
          <p:cNvGraphicFramePr/>
          <p:nvPr/>
        </p:nvGraphicFramePr>
        <p:xfrm>
          <a:off x="457200" y="96012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15" name="scheda Rapida"/>
          <p:cNvSpPr/>
          <p:nvPr/>
        </p:nvSpPr>
        <p:spPr>
          <a:xfrm>
            <a:off x="5806440" y="1051560"/>
            <a:ext cx="2880360" cy="1508760"/>
          </a:xfrm>
          <a:prstGeom prst="roundRect">
            <a:avLst>
              <a:gd name="adj" fmla="val 4848"/>
            </a:avLst>
          </a:prstGeom>
          <a:solidFill>
            <a:schemeClr val="bg2"/>
          </a:solidFill>
          <a:ln/>
        </p:spPr>
      </p:sp>
      <p:sp>
        <p:nvSpPr>
          <p:cNvPr id="16" name="cerchio FiFastForward"/>
          <p:cNvSpPr/>
          <p:nvPr/>
        </p:nvSpPr>
        <p:spPr>
          <a:xfrm>
            <a:off x="5989320" y="1234440"/>
            <a:ext cx="457200" cy="457200"/>
          </a:xfrm>
          <a:prstGeom prst="ellipse">
            <a:avLst/>
          </a:prstGeom>
          <a:solidFill>
            <a:schemeClr val="accent1"/>
          </a:solidFill>
          <a:ln/>
        </p:spPr>
      </p:sp>
      <p:pic>
        <p:nvPicPr>
          <p:cNvPr id="17" name="Image 0" descr="FiFastForward">    </p:cNvPr>
          <p:cNvPicPr>
            <a:picLocks noChangeAspect="1"/>
          </p:cNvPicPr>
          <p:nvPr/>
        </p:nvPicPr>
        <p:blipFill>
          <a:blip r:embed="rId2"/>
          <a:stretch>
            <a:fillRect/>
          </a:stretch>
        </p:blipFill>
        <p:spPr>
          <a:xfrm>
            <a:off x="6103620" y="1348740"/>
            <a:ext cx="228600" cy="228600"/>
          </a:xfrm>
          <a:prstGeom prst="rect">
            <a:avLst/>
          </a:prstGeom>
        </p:spPr>
      </p:pic>
      <p:sp>
        <p:nvSpPr>
          <p:cNvPr id="18" name="Text 13"/>
          <p:cNvSpPr txBox="1"/>
          <p:nvPr/>
        </p:nvSpPr>
        <p:spPr>
          <a:xfrm>
            <a:off x="6583680" y="123444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Rapida</a:t>
            </a:r>
            <a:endParaRPr lang="en-US" sz="1300" dirty="0"/>
          </a:p>
        </p:txBody>
      </p:sp>
      <p:sp>
        <p:nvSpPr>
          <p:cNvPr id="19" name="Text 14"/>
          <p:cNvSpPr txBox="1"/>
          <p:nvPr/>
        </p:nvSpPr>
        <p:spPr>
          <a:xfrm>
            <a:off x="5989320" y="1828800"/>
            <a:ext cx="2514600" cy="621792"/>
          </a:xfrm>
          <a:prstGeom prst="rect">
            <a:avLst/>
          </a:prstGeom>
          <a:noFill/>
          <a:ln/>
        </p:spPr>
        <p:txBody>
          <a:bodyPr wrap="square" lIns="0" tIns="0" rIns="0" bIns="0" rtlCol="0" anchor="t"/>
          <a:lstStyle/>
          <a:p>
            <a:pPr indent="0" marL="0">
              <a:buNone/>
            </a:pPr>
            <a:r>
              <a:rPr lang="en-US" sz="1200" dirty="0">
                <a:solidFill>
                  <a:schemeClr val="tx2"/>
                </a:solidFill>
              </a:rPr>
              <a:t>Molti hanno provato, pochi usano davvero.</a:t>
            </a:r>
            <a:endParaRPr lang="en-US" sz="1200" dirty="0"/>
          </a:p>
        </p:txBody>
      </p:sp>
      <p:sp>
        <p:nvSpPr>
          <p:cNvPr id="20" name="scheda Graduale"/>
          <p:cNvSpPr/>
          <p:nvPr/>
        </p:nvSpPr>
        <p:spPr>
          <a:xfrm>
            <a:off x="5806440" y="2697480"/>
            <a:ext cx="2880360" cy="1463040"/>
          </a:xfrm>
          <a:prstGeom prst="roundRect">
            <a:avLst>
              <a:gd name="adj" fmla="val 5000"/>
            </a:avLst>
          </a:prstGeom>
          <a:solidFill>
            <a:schemeClr val="accent6"/>
          </a:solidFill>
          <a:ln/>
        </p:spPr>
      </p:sp>
      <p:sp>
        <p:nvSpPr>
          <p:cNvPr id="21" name="cerchio FiTrendingUp"/>
          <p:cNvSpPr/>
          <p:nvPr/>
        </p:nvSpPr>
        <p:spPr>
          <a:xfrm>
            <a:off x="5989320" y="2880360"/>
            <a:ext cx="457200" cy="457200"/>
          </a:xfrm>
          <a:prstGeom prst="ellipse">
            <a:avLst/>
          </a:prstGeom>
          <a:solidFill>
            <a:schemeClr val="accent1"/>
          </a:solidFill>
          <a:ln/>
        </p:spPr>
      </p:sp>
      <p:pic>
        <p:nvPicPr>
          <p:cNvPr id="22" name="Image 1" descr="FiTrendingUp">    </p:cNvPr>
          <p:cNvPicPr>
            <a:picLocks noChangeAspect="1"/>
          </p:cNvPicPr>
          <p:nvPr/>
        </p:nvPicPr>
        <p:blipFill>
          <a:blip r:embed="rId3"/>
          <a:stretch>
            <a:fillRect/>
          </a:stretch>
        </p:blipFill>
        <p:spPr>
          <a:xfrm>
            <a:off x="6103620" y="2994660"/>
            <a:ext cx="228600" cy="228600"/>
          </a:xfrm>
          <a:prstGeom prst="rect">
            <a:avLst/>
          </a:prstGeom>
        </p:spPr>
      </p:pic>
      <p:sp>
        <p:nvSpPr>
          <p:cNvPr id="23" name="Text 17"/>
          <p:cNvSpPr txBox="1"/>
          <p:nvPr/>
        </p:nvSpPr>
        <p:spPr>
          <a:xfrm>
            <a:off x="6583680" y="2880360"/>
            <a:ext cx="1920240" cy="457200"/>
          </a:xfrm>
          <a:prstGeom prst="rect">
            <a:avLst/>
          </a:prstGeom>
          <a:noFill/>
          <a:ln/>
        </p:spPr>
        <p:txBody>
          <a:bodyPr wrap="square" lIns="0" tIns="0" rIns="0" bIns="0" rtlCol="0" anchor="ctr"/>
          <a:lstStyle/>
          <a:p>
            <a:pPr indent="0" marL="0">
              <a:buNone/>
            </a:pPr>
            <a:r>
              <a:rPr lang="en-US" sz="1300" b="1" dirty="0">
                <a:solidFill>
                  <a:schemeClr val="tx1"/>
                </a:solidFill>
              </a:rPr>
              <a:t>Graduale</a:t>
            </a:r>
            <a:endParaRPr lang="en-US" sz="1300" dirty="0"/>
          </a:p>
        </p:txBody>
      </p:sp>
      <p:sp>
        <p:nvSpPr>
          <p:cNvPr id="24" name="Text 18"/>
          <p:cNvSpPr txBox="1"/>
          <p:nvPr/>
        </p:nvSpPr>
        <p:spPr>
          <a:xfrm>
            <a:off x="5989320" y="3474720"/>
            <a:ext cx="2514600" cy="576072"/>
          </a:xfrm>
          <a:prstGeom prst="rect">
            <a:avLst/>
          </a:prstGeom>
          <a:noFill/>
          <a:ln/>
        </p:spPr>
        <p:txBody>
          <a:bodyPr wrap="square" lIns="0" tIns="0" rIns="0" bIns="0" rtlCol="0" anchor="t"/>
          <a:lstStyle/>
          <a:p>
            <a:pPr indent="0" marL="0">
              <a:buNone/>
            </a:pPr>
            <a:r>
              <a:rPr lang="en-US" sz="1200" dirty="0">
                <a:solidFill>
                  <a:schemeClr val="tx2"/>
                </a:solidFill>
              </a:rPr>
              <a:t>Meno utenti totali, più abituali, più impatto.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Sostenibile nel tempo</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Risultati</a:t>
            </a:r>
            <a:endParaRPr lang="en-US" sz="650" dirty="0"/>
          </a:p>
        </p:txBody>
      </p:sp>
      <p:sp>
        <p:nvSpPr>
          <p:cNvPr id="14" name="domanda 1"/>
          <p:cNvSpPr/>
          <p:nvPr/>
        </p:nvSpPr>
        <p:spPr>
          <a:xfrm>
            <a:off x="457200" y="1024128"/>
            <a:ext cx="2657856" cy="960120"/>
          </a:xfrm>
          <a:prstGeom prst="roundRect">
            <a:avLst>
              <a:gd name="adj" fmla="val 7619"/>
            </a:avLst>
          </a:prstGeom>
          <a:solidFill>
            <a:schemeClr val="bg2"/>
          </a:solidFill>
          <a:ln/>
        </p:spPr>
      </p:sp>
      <p:sp>
        <p:nvSpPr>
          <p:cNvPr id="15" name="Text 1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16" name="Text 13"/>
          <p:cNvSpPr txBox="1"/>
          <p:nvPr/>
        </p:nvSpPr>
        <p:spPr>
          <a:xfrm>
            <a:off x="594360" y="1527048"/>
            <a:ext cx="2429256" cy="411480"/>
          </a:xfrm>
          <a:prstGeom prst="rect">
            <a:avLst/>
          </a:prstGeom>
          <a:noFill/>
          <a:ln/>
        </p:spPr>
        <p:txBody>
          <a:bodyPr wrap="square" lIns="0" tIns="0" rIns="0" bIns="0" rtlCol="0" anchor="t"/>
          <a:lstStyle/>
          <a:p>
            <a:pPr indent="0" marL="0">
              <a:buNone/>
            </a:pPr>
            <a:r>
              <a:rPr lang="en-US" sz="1200" dirty="0">
                <a:solidFill>
                  <a:schemeClr val="tx1"/>
                </a:solidFill>
              </a:rPr>
              <a:t>L'uso dipende da poche persone?</a:t>
            </a:r>
            <a:endParaRPr lang="en-US" sz="1200" dirty="0"/>
          </a:p>
        </p:txBody>
      </p:sp>
      <p:sp>
        <p:nvSpPr>
          <p:cNvPr id="17" name="domanda 2"/>
          <p:cNvSpPr/>
          <p:nvPr/>
        </p:nvSpPr>
        <p:spPr>
          <a:xfrm>
            <a:off x="3243072" y="1024128"/>
            <a:ext cx="2657856" cy="960120"/>
          </a:xfrm>
          <a:prstGeom prst="roundRect">
            <a:avLst>
              <a:gd name="adj" fmla="val 7619"/>
            </a:avLst>
          </a:prstGeom>
          <a:solidFill>
            <a:schemeClr val="bg2"/>
          </a:solidFill>
          <a:ln/>
        </p:spPr>
      </p:sp>
      <p:sp>
        <p:nvSpPr>
          <p:cNvPr id="18" name="Text 15"/>
          <p:cNvSpPr txBox="1"/>
          <p:nvPr/>
        </p:nvSpPr>
        <p:spPr>
          <a:xfrm>
            <a:off x="338023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9" name="Text 16"/>
          <p:cNvSpPr txBox="1"/>
          <p:nvPr/>
        </p:nvSpPr>
        <p:spPr>
          <a:xfrm>
            <a:off x="3380232" y="1527048"/>
            <a:ext cx="2429256" cy="411480"/>
          </a:xfrm>
          <a:prstGeom prst="rect">
            <a:avLst/>
          </a:prstGeom>
          <a:noFill/>
          <a:ln/>
        </p:spPr>
        <p:txBody>
          <a:bodyPr wrap="square" lIns="0" tIns="0" rIns="0" bIns="0" rtlCol="0" anchor="t"/>
          <a:lstStyle/>
          <a:p>
            <a:pPr indent="0" marL="0">
              <a:buNone/>
            </a:pPr>
            <a:r>
              <a:rPr lang="en-US" sz="1200" dirty="0">
                <a:solidFill>
                  <a:schemeClr val="tx1"/>
                </a:solidFill>
              </a:rPr>
              <a:t>Se il referente se ne va?</a:t>
            </a:r>
            <a:endParaRPr lang="en-US" sz="1200" dirty="0"/>
          </a:p>
        </p:txBody>
      </p:sp>
      <p:sp>
        <p:nvSpPr>
          <p:cNvPr id="20" name="domanda 3"/>
          <p:cNvSpPr/>
          <p:nvPr/>
        </p:nvSpPr>
        <p:spPr>
          <a:xfrm>
            <a:off x="6028944" y="1024128"/>
            <a:ext cx="2657856" cy="960120"/>
          </a:xfrm>
          <a:prstGeom prst="roundRect">
            <a:avLst>
              <a:gd name="adj" fmla="val 7619"/>
            </a:avLst>
          </a:prstGeom>
          <a:solidFill>
            <a:schemeClr val="bg2"/>
          </a:solidFill>
          <a:ln/>
        </p:spPr>
      </p:sp>
      <p:sp>
        <p:nvSpPr>
          <p:cNvPr id="21" name="Text 18"/>
          <p:cNvSpPr txBox="1"/>
          <p:nvPr/>
        </p:nvSpPr>
        <p:spPr>
          <a:xfrm>
            <a:off x="616610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22" name="Text 19"/>
          <p:cNvSpPr txBox="1"/>
          <p:nvPr/>
        </p:nvSpPr>
        <p:spPr>
          <a:xfrm>
            <a:off x="6166104" y="1527048"/>
            <a:ext cx="2429256" cy="411480"/>
          </a:xfrm>
          <a:prstGeom prst="rect">
            <a:avLst/>
          </a:prstGeom>
          <a:noFill/>
          <a:ln/>
        </p:spPr>
        <p:txBody>
          <a:bodyPr wrap="square" lIns="0" tIns="0" rIns="0" bIns="0" rtlCol="0" anchor="t"/>
          <a:lstStyle/>
          <a:p>
            <a:pPr indent="0" marL="0">
              <a:buNone/>
            </a:pPr>
            <a:r>
              <a:rPr lang="en-US" sz="1200" dirty="0">
                <a:solidFill>
                  <a:schemeClr val="tx1"/>
                </a:solidFill>
              </a:rPr>
              <a:t>Chi aggiorna materiali e indicazioni?</a:t>
            </a:r>
            <a:endParaRPr lang="en-US" sz="1200" dirty="0"/>
          </a:p>
        </p:txBody>
      </p:sp>
      <p:sp>
        <p:nvSpPr>
          <p:cNvPr id="23" name="domanda 4"/>
          <p:cNvSpPr/>
          <p:nvPr/>
        </p:nvSpPr>
        <p:spPr>
          <a:xfrm>
            <a:off x="457200" y="2121408"/>
            <a:ext cx="2657856" cy="960120"/>
          </a:xfrm>
          <a:prstGeom prst="roundRect">
            <a:avLst>
              <a:gd name="adj" fmla="val 7619"/>
            </a:avLst>
          </a:prstGeom>
          <a:solidFill>
            <a:schemeClr val="bg2"/>
          </a:solidFill>
          <a:ln/>
        </p:spPr>
      </p:sp>
      <p:sp>
        <p:nvSpPr>
          <p:cNvPr id="24" name="Text 21"/>
          <p:cNvSpPr txBox="1"/>
          <p:nvPr/>
        </p:nvSpPr>
        <p:spPr>
          <a:xfrm>
            <a:off x="594360" y="221284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25" name="Text 22"/>
          <p:cNvSpPr txBox="1"/>
          <p:nvPr/>
        </p:nvSpPr>
        <p:spPr>
          <a:xfrm>
            <a:off x="594360" y="2624328"/>
            <a:ext cx="2429256" cy="411480"/>
          </a:xfrm>
          <a:prstGeom prst="rect">
            <a:avLst/>
          </a:prstGeom>
          <a:noFill/>
          <a:ln/>
        </p:spPr>
        <p:txBody>
          <a:bodyPr wrap="square" lIns="0" tIns="0" rIns="0" bIns="0" rtlCol="0" anchor="t"/>
          <a:lstStyle/>
          <a:p>
            <a:pPr indent="0" marL="0">
              <a:buNone/>
            </a:pPr>
            <a:r>
              <a:rPr lang="en-US" sz="1200" dirty="0">
                <a:solidFill>
                  <a:schemeClr val="tx1"/>
                </a:solidFill>
              </a:rPr>
              <a:t>Costi sostenibili rispetto ai benefici?</a:t>
            </a:r>
            <a:endParaRPr lang="en-US" sz="1200" dirty="0"/>
          </a:p>
        </p:txBody>
      </p:sp>
      <p:sp>
        <p:nvSpPr>
          <p:cNvPr id="26" name="domanda 5"/>
          <p:cNvSpPr/>
          <p:nvPr/>
        </p:nvSpPr>
        <p:spPr>
          <a:xfrm>
            <a:off x="3243072" y="2121408"/>
            <a:ext cx="2657856" cy="960120"/>
          </a:xfrm>
          <a:prstGeom prst="roundRect">
            <a:avLst>
              <a:gd name="adj" fmla="val 7619"/>
            </a:avLst>
          </a:prstGeom>
          <a:solidFill>
            <a:schemeClr val="bg2"/>
          </a:solidFill>
          <a:ln/>
        </p:spPr>
      </p:sp>
      <p:sp>
        <p:nvSpPr>
          <p:cNvPr id="27" name="Text 24"/>
          <p:cNvSpPr txBox="1"/>
          <p:nvPr/>
        </p:nvSpPr>
        <p:spPr>
          <a:xfrm>
            <a:off x="3380232" y="221284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28" name="Text 25"/>
          <p:cNvSpPr txBox="1"/>
          <p:nvPr/>
        </p:nvSpPr>
        <p:spPr>
          <a:xfrm>
            <a:off x="3380232" y="2624328"/>
            <a:ext cx="2429256" cy="411480"/>
          </a:xfrm>
          <a:prstGeom prst="rect">
            <a:avLst/>
          </a:prstGeom>
          <a:noFill/>
          <a:ln/>
        </p:spPr>
        <p:txBody>
          <a:bodyPr wrap="square" lIns="0" tIns="0" rIns="0" bIns="0" rtlCol="0" anchor="t"/>
          <a:lstStyle/>
          <a:p>
            <a:pPr indent="0" marL="0">
              <a:buNone/>
            </a:pPr>
            <a:r>
              <a:rPr lang="en-US" sz="1200" dirty="0">
                <a:solidFill>
                  <a:schemeClr val="tx1"/>
                </a:solidFill>
              </a:rPr>
              <a:t>È integrato, o un'aggiunta abbandonabile?</a:t>
            </a:r>
            <a:endParaRPr lang="en-US" sz="1200" dirty="0"/>
          </a:p>
        </p:txBody>
      </p:sp>
      <p:sp>
        <p:nvSpPr>
          <p:cNvPr id="29" name="domanda 6"/>
          <p:cNvSpPr/>
          <p:nvPr/>
        </p:nvSpPr>
        <p:spPr>
          <a:xfrm>
            <a:off x="6028944" y="2121408"/>
            <a:ext cx="2657856" cy="960120"/>
          </a:xfrm>
          <a:prstGeom prst="roundRect">
            <a:avLst>
              <a:gd name="adj" fmla="val 7619"/>
            </a:avLst>
          </a:prstGeom>
          <a:solidFill>
            <a:schemeClr val="bg2"/>
          </a:solidFill>
          <a:ln/>
        </p:spPr>
      </p:sp>
      <p:sp>
        <p:nvSpPr>
          <p:cNvPr id="30" name="Text 27"/>
          <p:cNvSpPr txBox="1"/>
          <p:nvPr/>
        </p:nvSpPr>
        <p:spPr>
          <a:xfrm>
            <a:off x="6166104" y="221284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31" name="Text 28"/>
          <p:cNvSpPr txBox="1"/>
          <p:nvPr/>
        </p:nvSpPr>
        <p:spPr>
          <a:xfrm>
            <a:off x="6166104" y="2624328"/>
            <a:ext cx="2429256" cy="411480"/>
          </a:xfrm>
          <a:prstGeom prst="rect">
            <a:avLst/>
          </a:prstGeom>
          <a:noFill/>
          <a:ln/>
        </p:spPr>
        <p:txBody>
          <a:bodyPr wrap="square" lIns="0" tIns="0" rIns="0" bIns="0" rtlCol="0" anchor="t"/>
          <a:lstStyle/>
          <a:p>
            <a:pPr indent="0" marL="0">
              <a:buNone/>
            </a:pPr>
            <a:r>
              <a:rPr lang="en-US" sz="1200" dirty="0">
                <a:solidFill>
                  <a:schemeClr val="tx1"/>
                </a:solidFill>
              </a:rPr>
              <a:t>I nuovi arrivati imparano a usarlo?</a:t>
            </a:r>
            <a:endParaRPr lang="en-US" sz="1200" dirty="0"/>
          </a:p>
        </p:txBody>
      </p:sp>
      <p:sp>
        <p:nvSpPr>
          <p:cNvPr id="32" name="messaggio"/>
          <p:cNvSpPr/>
          <p:nvPr/>
        </p:nvSpPr>
        <p:spPr>
          <a:xfrm>
            <a:off x="457200" y="3337560"/>
            <a:ext cx="8229600" cy="822960"/>
          </a:xfrm>
          <a:prstGeom prst="roundRect">
            <a:avLst>
              <a:gd name="adj" fmla="val 8889"/>
            </a:avLst>
          </a:prstGeom>
          <a:solidFill>
            <a:schemeClr val="tx1"/>
          </a:solidFill>
          <a:ln/>
        </p:spPr>
      </p:sp>
      <p:sp>
        <p:nvSpPr>
          <p:cNvPr id="33" name="Text 30"/>
          <p:cNvSpPr txBox="1"/>
          <p:nvPr/>
        </p:nvSpPr>
        <p:spPr>
          <a:xfrm>
            <a:off x="640080" y="3337560"/>
            <a:ext cx="7863840" cy="822960"/>
          </a:xfrm>
          <a:prstGeom prst="rect">
            <a:avLst/>
          </a:prstGeom>
          <a:noFill/>
          <a:ln/>
        </p:spPr>
        <p:txBody>
          <a:bodyPr wrap="square" lIns="0" tIns="0" rIns="0" bIns="0" rtlCol="0" anchor="ctr"/>
          <a:lstStyle/>
          <a:p>
            <a:pPr indent="0" marL="0">
              <a:buNone/>
            </a:pPr>
            <a:r>
              <a:rPr lang="en-US" sz="1300" dirty="0">
                <a:solidFill>
                  <a:schemeClr val="bg1"/>
                </a:solidFill>
              </a:rPr>
              <a:t>Regge quando l'attenzione iniziale finisce? Attenzione ai segnali di deterioramento: verifiche superficiali, ritorno ai vecchi metodi.</a:t>
            </a:r>
            <a:endParaRPr lang="en-US" sz="1300" dirty="0"/>
          </a:p>
        </p:txBody>
      </p:sp>
      <p:sp>
        <p:nvSpPr>
          <p:cNvPr id="34" name="Text 31"/>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200" b="1" i="1" dirty="0">
                <a:solidFill>
                  <a:schemeClr val="accent1"/>
                </a:solidFill>
              </a:rPr>
              <a:t>La sostenibilità va progettata, non si produce da sola.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decidere</a:t>
            </a:r>
            <a:endParaRPr lang="en-US" sz="2600" dirty="0"/>
          </a:p>
        </p:txBody>
      </p:sp>
      <p:sp>
        <p:nvSpPr>
          <p:cNvPr id="4" name="dimensione Adozione"/>
          <p:cNvSpPr/>
          <p:nvPr/>
        </p:nvSpPr>
        <p:spPr>
          <a:xfrm>
            <a:off x="5577840" y="384048"/>
            <a:ext cx="60350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577840"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Adozione</a:t>
            </a:r>
            <a:endParaRPr lang="en-US" sz="650" dirty="0"/>
          </a:p>
        </p:txBody>
      </p:sp>
      <p:sp>
        <p:nvSpPr>
          <p:cNvPr id="6" name="dimensione Persone"/>
          <p:cNvSpPr/>
          <p:nvPr/>
        </p:nvSpPr>
        <p:spPr>
          <a:xfrm>
            <a:off x="6199632" y="384048"/>
            <a:ext cx="60350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199632"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Persone</a:t>
            </a:r>
            <a:endParaRPr lang="en-US" sz="650" dirty="0"/>
          </a:p>
        </p:txBody>
      </p:sp>
      <p:sp>
        <p:nvSpPr>
          <p:cNvPr id="8" name="dimensione Competenze"/>
          <p:cNvSpPr/>
          <p:nvPr/>
        </p:nvSpPr>
        <p:spPr>
          <a:xfrm>
            <a:off x="6821424" y="384048"/>
            <a:ext cx="60350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21424"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Competenze</a:t>
            </a:r>
            <a:endParaRPr lang="en-US" sz="650" dirty="0"/>
          </a:p>
        </p:txBody>
      </p:sp>
      <p:sp>
        <p:nvSpPr>
          <p:cNvPr id="10" name="dimensione Diffusione"/>
          <p:cNvSpPr/>
          <p:nvPr/>
        </p:nvSpPr>
        <p:spPr>
          <a:xfrm>
            <a:off x="7443216" y="384048"/>
            <a:ext cx="60350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43216" y="384048"/>
            <a:ext cx="603504" cy="237744"/>
          </a:xfrm>
          <a:prstGeom prst="rect">
            <a:avLst/>
          </a:prstGeom>
          <a:noFill/>
          <a:ln/>
        </p:spPr>
        <p:txBody>
          <a:bodyPr wrap="square" lIns="0" tIns="0" rIns="0" bIns="0" rtlCol="0" anchor="ctr"/>
          <a:lstStyle/>
          <a:p>
            <a:pPr algn="ctr" indent="0" marL="0">
              <a:buNone/>
            </a:pPr>
            <a:r>
              <a:rPr lang="en-US" sz="650" b="1" dirty="0">
                <a:solidFill>
                  <a:schemeClr val="accent1"/>
                </a:solidFill>
              </a:rPr>
              <a:t>Diffusione</a:t>
            </a:r>
            <a:endParaRPr lang="en-US" sz="650" dirty="0"/>
          </a:p>
        </p:txBody>
      </p:sp>
      <p:sp>
        <p:nvSpPr>
          <p:cNvPr id="12" name="dimensione Risultati"/>
          <p:cNvSpPr/>
          <p:nvPr/>
        </p:nvSpPr>
        <p:spPr>
          <a:xfrm>
            <a:off x="8065008" y="384048"/>
            <a:ext cx="60350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65008" y="384048"/>
            <a:ext cx="603504" cy="237744"/>
          </a:xfrm>
          <a:prstGeom prst="rect">
            <a:avLst/>
          </a:prstGeom>
          <a:noFill/>
          <a:ln/>
        </p:spPr>
        <p:txBody>
          <a:bodyPr wrap="square" lIns="0" tIns="0" rIns="0" bIns="0" rtlCol="0" anchor="ctr"/>
          <a:lstStyle/>
          <a:p>
            <a:pPr algn="ctr" indent="0" marL="0">
              <a:buNone/>
            </a:pPr>
            <a:r>
              <a:rPr lang="en-US" sz="650" b="1" dirty="0">
                <a:solidFill>
                  <a:schemeClr val="bg1"/>
                </a:solidFill>
              </a:rPr>
              <a:t>Risultati</a:t>
            </a:r>
            <a:endParaRPr lang="en-US" sz="650" dirty="0"/>
          </a:p>
        </p:txBody>
      </p:sp>
      <p:sp>
        <p:nvSpPr>
          <p:cNvPr id="14" name="Consolidare"/>
          <p:cNvSpPr/>
          <p:nvPr/>
        </p:nvSpPr>
        <p:spPr>
          <a:xfrm>
            <a:off x="457200" y="1051560"/>
            <a:ext cx="1572768" cy="1691640"/>
          </a:xfrm>
          <a:prstGeom prst="roundRect">
            <a:avLst>
              <a:gd name="adj" fmla="val 4651"/>
            </a:avLst>
          </a:prstGeom>
          <a:solidFill>
            <a:schemeClr val="bg2"/>
          </a:solidFill>
          <a:ln/>
        </p:spPr>
      </p:sp>
      <p:sp>
        <p:nvSpPr>
          <p:cNvPr id="15" name="Text 12"/>
          <p:cNvSpPr txBox="1"/>
          <p:nvPr/>
        </p:nvSpPr>
        <p:spPr>
          <a:xfrm>
            <a:off x="548640" y="1115568"/>
            <a:ext cx="1417320" cy="411480"/>
          </a:xfrm>
          <a:prstGeom prst="rect">
            <a:avLst/>
          </a:prstGeom>
          <a:noFill/>
          <a:ln/>
        </p:spPr>
        <p:txBody>
          <a:bodyPr wrap="square" lIns="0" tIns="0" rIns="0" bIns="0" rtlCol="0" anchor="t"/>
          <a:lstStyle/>
          <a:p>
            <a:pPr indent="0" marL="0">
              <a:buNone/>
            </a:pPr>
            <a:r>
              <a:rPr lang="en-US" sz="1300" b="1" dirty="0">
                <a:solidFill>
                  <a:schemeClr val="accent1"/>
                </a:solidFill>
              </a:rPr>
              <a:t>Consolidare</a:t>
            </a:r>
            <a:endParaRPr lang="en-US" sz="1300" dirty="0"/>
          </a:p>
        </p:txBody>
      </p:sp>
      <p:sp>
        <p:nvSpPr>
          <p:cNvPr id="16" name="Text 13"/>
          <p:cNvSpPr txBox="1"/>
          <p:nvPr/>
        </p:nvSpPr>
        <p:spPr>
          <a:xfrm>
            <a:off x="548640" y="1554480"/>
            <a:ext cx="1417320" cy="1097280"/>
          </a:xfrm>
          <a:prstGeom prst="rect">
            <a:avLst/>
          </a:prstGeom>
          <a:noFill/>
          <a:ln/>
        </p:spPr>
        <p:txBody>
          <a:bodyPr wrap="square" lIns="0" tIns="0" rIns="0" bIns="0" rtlCol="0" anchor="t"/>
          <a:lstStyle/>
          <a:p>
            <a:pPr indent="0" marL="0">
              <a:buNone/>
            </a:pPr>
            <a:r>
              <a:rPr lang="en-US" sz="1100" dirty="0">
                <a:solidFill>
                  <a:schemeClr val="tx1"/>
                </a:solidFill>
              </a:rPr>
              <a:t>Funziona: mantenere e curare</a:t>
            </a:r>
            <a:endParaRPr lang="en-US" sz="1100" dirty="0"/>
          </a:p>
        </p:txBody>
      </p:sp>
      <p:sp>
        <p:nvSpPr>
          <p:cNvPr id="17" name="Estendere"/>
          <p:cNvSpPr/>
          <p:nvPr/>
        </p:nvSpPr>
        <p:spPr>
          <a:xfrm>
            <a:off x="2139696" y="1051560"/>
            <a:ext cx="1572768" cy="1691640"/>
          </a:xfrm>
          <a:prstGeom prst="roundRect">
            <a:avLst>
              <a:gd name="adj" fmla="val 4651"/>
            </a:avLst>
          </a:prstGeom>
          <a:solidFill>
            <a:schemeClr val="bg2"/>
          </a:solidFill>
          <a:ln/>
        </p:spPr>
      </p:sp>
      <p:sp>
        <p:nvSpPr>
          <p:cNvPr id="18" name="Text 15"/>
          <p:cNvSpPr txBox="1"/>
          <p:nvPr/>
        </p:nvSpPr>
        <p:spPr>
          <a:xfrm>
            <a:off x="2231136" y="1115568"/>
            <a:ext cx="1417320" cy="411480"/>
          </a:xfrm>
          <a:prstGeom prst="rect">
            <a:avLst/>
          </a:prstGeom>
          <a:noFill/>
          <a:ln/>
        </p:spPr>
        <p:txBody>
          <a:bodyPr wrap="square" lIns="0" tIns="0" rIns="0" bIns="0" rtlCol="0" anchor="t"/>
          <a:lstStyle/>
          <a:p>
            <a:pPr indent="0" marL="0">
              <a:buNone/>
            </a:pPr>
            <a:r>
              <a:rPr lang="en-US" sz="1300" b="1" dirty="0">
                <a:solidFill>
                  <a:schemeClr val="accent1"/>
                </a:solidFill>
              </a:rPr>
              <a:t>Estendere</a:t>
            </a:r>
            <a:endParaRPr lang="en-US" sz="1300" dirty="0"/>
          </a:p>
        </p:txBody>
      </p:sp>
      <p:sp>
        <p:nvSpPr>
          <p:cNvPr id="19" name="Text 16"/>
          <p:cNvSpPr txBox="1"/>
          <p:nvPr/>
        </p:nvSpPr>
        <p:spPr>
          <a:xfrm>
            <a:off x="2231136" y="1554480"/>
            <a:ext cx="1417320" cy="1097280"/>
          </a:xfrm>
          <a:prstGeom prst="rect">
            <a:avLst/>
          </a:prstGeom>
          <a:noFill/>
          <a:ln/>
        </p:spPr>
        <p:txBody>
          <a:bodyPr wrap="square" lIns="0" tIns="0" rIns="0" bIns="0" rtlCol="0" anchor="t"/>
          <a:lstStyle/>
          <a:p>
            <a:pPr indent="0" marL="0">
              <a:buNone/>
            </a:pPr>
            <a:r>
              <a:rPr lang="en-US" sz="1100" dirty="0">
                <a:solidFill>
                  <a:schemeClr val="tx1"/>
                </a:solidFill>
              </a:rPr>
              <a:t>Condizioni presenti altrove (16.5)</a:t>
            </a:r>
            <a:endParaRPr lang="en-US" sz="1100" dirty="0"/>
          </a:p>
        </p:txBody>
      </p:sp>
      <p:sp>
        <p:nvSpPr>
          <p:cNvPr id="20" name="Modificare"/>
          <p:cNvSpPr/>
          <p:nvPr/>
        </p:nvSpPr>
        <p:spPr>
          <a:xfrm>
            <a:off x="3822192" y="1051560"/>
            <a:ext cx="1572768" cy="1691640"/>
          </a:xfrm>
          <a:prstGeom prst="roundRect">
            <a:avLst>
              <a:gd name="adj" fmla="val 4651"/>
            </a:avLst>
          </a:prstGeom>
          <a:solidFill>
            <a:schemeClr val="bg2"/>
          </a:solidFill>
          <a:ln/>
        </p:spPr>
      </p:sp>
      <p:sp>
        <p:nvSpPr>
          <p:cNvPr id="21" name="Text 18"/>
          <p:cNvSpPr txBox="1"/>
          <p:nvPr/>
        </p:nvSpPr>
        <p:spPr>
          <a:xfrm>
            <a:off x="3913632" y="1115568"/>
            <a:ext cx="1417320" cy="411480"/>
          </a:xfrm>
          <a:prstGeom prst="rect">
            <a:avLst/>
          </a:prstGeom>
          <a:noFill/>
          <a:ln/>
        </p:spPr>
        <p:txBody>
          <a:bodyPr wrap="square" lIns="0" tIns="0" rIns="0" bIns="0" rtlCol="0" anchor="t"/>
          <a:lstStyle/>
          <a:p>
            <a:pPr indent="0" marL="0">
              <a:buNone/>
            </a:pPr>
            <a:r>
              <a:rPr lang="en-US" sz="1300" b="1" dirty="0">
                <a:solidFill>
                  <a:schemeClr val="accent1"/>
                </a:solidFill>
              </a:rPr>
              <a:t>Modificare</a:t>
            </a:r>
            <a:endParaRPr lang="en-US" sz="1300" dirty="0"/>
          </a:p>
        </p:txBody>
      </p:sp>
      <p:sp>
        <p:nvSpPr>
          <p:cNvPr id="22" name="Text 19"/>
          <p:cNvSpPr txBox="1"/>
          <p:nvPr/>
        </p:nvSpPr>
        <p:spPr>
          <a:xfrm>
            <a:off x="3913632" y="1554480"/>
            <a:ext cx="1417320" cy="1097280"/>
          </a:xfrm>
          <a:prstGeom prst="rect">
            <a:avLst/>
          </a:prstGeom>
          <a:noFill/>
          <a:ln/>
        </p:spPr>
        <p:txBody>
          <a:bodyPr wrap="square" lIns="0" tIns="0" rIns="0" bIns="0" rtlCol="0" anchor="t"/>
          <a:lstStyle/>
          <a:p>
            <a:pPr indent="0" marL="0">
              <a:buNone/>
            </a:pPr>
            <a:r>
              <a:rPr lang="en-US" sz="1100" dirty="0">
                <a:solidFill>
                  <a:schemeClr val="tx1"/>
                </a:solidFill>
              </a:rPr>
              <a:t>Pratiche, formazione, supporto, attività</a:t>
            </a:r>
            <a:endParaRPr lang="en-US" sz="1100" dirty="0"/>
          </a:p>
        </p:txBody>
      </p:sp>
      <p:sp>
        <p:nvSpPr>
          <p:cNvPr id="23" name="Ridimensionare"/>
          <p:cNvSpPr/>
          <p:nvPr/>
        </p:nvSpPr>
        <p:spPr>
          <a:xfrm>
            <a:off x="5504688" y="1051560"/>
            <a:ext cx="1572768" cy="1691640"/>
          </a:xfrm>
          <a:prstGeom prst="roundRect">
            <a:avLst>
              <a:gd name="adj" fmla="val 4651"/>
            </a:avLst>
          </a:prstGeom>
          <a:solidFill>
            <a:schemeClr val="accent6"/>
          </a:solidFill>
          <a:ln/>
        </p:spPr>
      </p:sp>
      <p:sp>
        <p:nvSpPr>
          <p:cNvPr id="24" name="Text 21"/>
          <p:cNvSpPr txBox="1"/>
          <p:nvPr/>
        </p:nvSpPr>
        <p:spPr>
          <a:xfrm>
            <a:off x="5596128" y="1115568"/>
            <a:ext cx="1417320" cy="411480"/>
          </a:xfrm>
          <a:prstGeom prst="rect">
            <a:avLst/>
          </a:prstGeom>
          <a:noFill/>
          <a:ln/>
        </p:spPr>
        <p:txBody>
          <a:bodyPr wrap="square" lIns="0" tIns="0" rIns="0" bIns="0" rtlCol="0" anchor="t"/>
          <a:lstStyle/>
          <a:p>
            <a:pPr indent="0" marL="0">
              <a:buNone/>
            </a:pPr>
            <a:r>
              <a:rPr lang="en-US" sz="1300" b="1" dirty="0">
                <a:solidFill>
                  <a:schemeClr val="accent1"/>
                </a:solidFill>
              </a:rPr>
              <a:t>Ridimensionare</a:t>
            </a:r>
            <a:endParaRPr lang="en-US" sz="1300" dirty="0"/>
          </a:p>
        </p:txBody>
      </p:sp>
      <p:sp>
        <p:nvSpPr>
          <p:cNvPr id="25" name="Text 22"/>
          <p:cNvSpPr txBox="1"/>
          <p:nvPr/>
        </p:nvSpPr>
        <p:spPr>
          <a:xfrm>
            <a:off x="5596128" y="1554480"/>
            <a:ext cx="1417320" cy="1097280"/>
          </a:xfrm>
          <a:prstGeom prst="rect">
            <a:avLst/>
          </a:prstGeom>
          <a:noFill/>
          <a:ln/>
        </p:spPr>
        <p:txBody>
          <a:bodyPr wrap="square" lIns="0" tIns="0" rIns="0" bIns="0" rtlCol="0" anchor="t"/>
          <a:lstStyle/>
          <a:p>
            <a:pPr indent="0" marL="0">
              <a:buNone/>
            </a:pPr>
            <a:r>
              <a:rPr lang="en-US" sz="1100" dirty="0">
                <a:solidFill>
                  <a:schemeClr val="tx1"/>
                </a:solidFill>
              </a:rPr>
              <a:t>Solo dove produce benefici</a:t>
            </a:r>
            <a:endParaRPr lang="en-US" sz="1100" dirty="0"/>
          </a:p>
        </p:txBody>
      </p:sp>
      <p:sp>
        <p:nvSpPr>
          <p:cNvPr id="26" name="Interrompere"/>
          <p:cNvSpPr/>
          <p:nvPr/>
        </p:nvSpPr>
        <p:spPr>
          <a:xfrm>
            <a:off x="7187184" y="1051560"/>
            <a:ext cx="1572768" cy="1691640"/>
          </a:xfrm>
          <a:prstGeom prst="roundRect">
            <a:avLst>
              <a:gd name="adj" fmla="val 4651"/>
            </a:avLst>
          </a:prstGeom>
          <a:solidFill>
            <a:schemeClr val="accent6"/>
          </a:solidFill>
          <a:ln/>
        </p:spPr>
      </p:sp>
      <p:sp>
        <p:nvSpPr>
          <p:cNvPr id="27" name="Text 24"/>
          <p:cNvSpPr txBox="1"/>
          <p:nvPr/>
        </p:nvSpPr>
        <p:spPr>
          <a:xfrm>
            <a:off x="7278624" y="1115568"/>
            <a:ext cx="1417320" cy="411480"/>
          </a:xfrm>
          <a:prstGeom prst="rect">
            <a:avLst/>
          </a:prstGeom>
          <a:noFill/>
          <a:ln/>
        </p:spPr>
        <p:txBody>
          <a:bodyPr wrap="square" lIns="0" tIns="0" rIns="0" bIns="0" rtlCol="0" anchor="t"/>
          <a:lstStyle/>
          <a:p>
            <a:pPr indent="0" marL="0">
              <a:buNone/>
            </a:pPr>
            <a:r>
              <a:rPr lang="en-US" sz="1300" b="1" dirty="0">
                <a:solidFill>
                  <a:schemeClr val="accent1"/>
                </a:solidFill>
              </a:rPr>
              <a:t>Interrompere</a:t>
            </a:r>
            <a:endParaRPr lang="en-US" sz="1300" dirty="0"/>
          </a:p>
        </p:txBody>
      </p:sp>
      <p:sp>
        <p:nvSpPr>
          <p:cNvPr id="28" name="Text 25"/>
          <p:cNvSpPr txBox="1"/>
          <p:nvPr/>
        </p:nvSpPr>
        <p:spPr>
          <a:xfrm>
            <a:off x="7278624" y="1554480"/>
            <a:ext cx="1417320" cy="1097280"/>
          </a:xfrm>
          <a:prstGeom prst="rect">
            <a:avLst/>
          </a:prstGeom>
          <a:noFill/>
          <a:ln/>
        </p:spPr>
        <p:txBody>
          <a:bodyPr wrap="square" lIns="0" tIns="0" rIns="0" bIns="0" rtlCol="0" anchor="t"/>
          <a:lstStyle/>
          <a:p>
            <a:pPr indent="0" marL="0">
              <a:buNone/>
            </a:pPr>
            <a:r>
              <a:rPr lang="en-US" sz="1100" dirty="0">
                <a:solidFill>
                  <a:schemeClr val="tx1"/>
                </a:solidFill>
              </a:rPr>
              <a:t>Benefici insufficienti, costi o rischi maggiori</a:t>
            </a:r>
            <a:endParaRPr lang="en-US" sz="1100" dirty="0"/>
          </a:p>
        </p:txBody>
      </p:sp>
      <p:sp>
        <p:nvSpPr>
          <p:cNvPr id="29" name="non fallimenti"/>
          <p:cNvSpPr/>
          <p:nvPr/>
        </p:nvSpPr>
        <p:spPr>
          <a:xfrm>
            <a:off x="457200" y="2926080"/>
            <a:ext cx="8229600" cy="685800"/>
          </a:xfrm>
          <a:prstGeom prst="roundRect">
            <a:avLst>
              <a:gd name="adj" fmla="val 10667"/>
            </a:avLst>
          </a:prstGeom>
          <a:solidFill>
            <a:schemeClr val="accent1"/>
          </a:solidFill>
          <a:ln/>
        </p:spPr>
      </p:sp>
      <p:sp>
        <p:nvSpPr>
          <p:cNvPr id="30" name="Text 27"/>
          <p:cNvSpPr txBox="1"/>
          <p:nvPr/>
        </p:nvSpPr>
        <p:spPr>
          <a:xfrm>
            <a:off x="640080" y="2926080"/>
            <a:ext cx="7863840" cy="685800"/>
          </a:xfrm>
          <a:prstGeom prst="rect">
            <a:avLst/>
          </a:prstGeom>
          <a:noFill/>
          <a:ln/>
        </p:spPr>
        <p:txBody>
          <a:bodyPr wrap="square" lIns="0" tIns="0" rIns="0" bIns="0" rtlCol="0" anchor="ctr"/>
          <a:lstStyle/>
          <a:p>
            <a:pPr indent="0" marL="0">
              <a:buNone/>
            </a:pPr>
            <a:r>
              <a:rPr lang="en-US" sz="1400" b="1" dirty="0">
                <a:solidFill>
                  <a:schemeClr val="bg1"/>
                </a:solidFill>
              </a:rPr>
              <a:t>Ridimensionare o interrompere non sono fallimenti: sono decisioni corrette su ciò che si è osservato.</a:t>
            </a:r>
            <a:endParaRPr lang="en-US" sz="1400" dirty="0"/>
          </a:p>
        </p:txBody>
      </p:sp>
      <p:sp>
        <p:nvSpPr>
          <p:cNvPr id="31" name="Text 28"/>
          <p:cNvSpPr txBox="1"/>
          <p:nvPr/>
        </p:nvSpPr>
        <p:spPr>
          <a:xfrm>
            <a:off x="457200" y="3749040"/>
            <a:ext cx="8229600" cy="457200"/>
          </a:xfrm>
          <a:prstGeom prst="rect">
            <a:avLst/>
          </a:prstGeom>
          <a:noFill/>
          <a:ln/>
        </p:spPr>
        <p:txBody>
          <a:bodyPr wrap="square" lIns="0" tIns="0" rIns="0" bIns="0" rtlCol="0" anchor="t"/>
          <a:lstStyle/>
          <a:p>
            <a:pPr indent="0" marL="0">
              <a:buNone/>
            </a:pPr>
            <a:r>
              <a:rPr lang="en-US" sz="1300" i="1" dirty="0">
                <a:solidFill>
                  <a:schemeClr val="accent5"/>
                </a:solidFill>
              </a:rPr>
              <a:t>Un'organizzazione che non ridimensiona mai nulla probabilmente non sta guardando davvero i risultati.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Monitorare significa osservare non soltanto quanto l'AI viene usata, ma come, perché e con quali risultati. Diffondere rapidamente non è adottare efficacemente.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16.8  ·  Monitoraggio e sostenibilità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731520"/>
          </a:xfrm>
          <a:prstGeom prst="roundRect">
            <a:avLst>
              <a:gd name="adj" fmla="val 10000"/>
            </a:avLst>
          </a:prstGeom>
          <a:solidFill>
            <a:schemeClr val="bg2"/>
          </a:solidFill>
          <a:ln/>
        </p:spPr>
      </p:sp>
      <p:sp>
        <p:nvSpPr>
          <p:cNvPr id="5" name="Text 2"/>
          <p:cNvSpPr txBox="1"/>
          <p:nvPr/>
        </p:nvSpPr>
        <p:spPr>
          <a:xfrm>
            <a:off x="54864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Quando c'è adozione reale?</a:t>
            </a:r>
            <a:endParaRPr lang="en-US" sz="1200" dirty="0"/>
          </a:p>
        </p:txBody>
      </p:sp>
      <p:sp>
        <p:nvSpPr>
          <p:cNvPr id="7" name="Text 4"/>
          <p:cNvSpPr txBox="1"/>
          <p:nvPr/>
        </p:nvSpPr>
        <p:spPr>
          <a:xfrm>
            <a:off x="96012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Uso appropriato, continuo, con risultati</a:t>
            </a:r>
            <a:endParaRPr lang="en-US" sz="1100" dirty="0"/>
          </a:p>
        </p:txBody>
      </p:sp>
      <p:sp>
        <p:nvSpPr>
          <p:cNvPr id="8" name="risposta 2"/>
          <p:cNvSpPr/>
          <p:nvPr/>
        </p:nvSpPr>
        <p:spPr>
          <a:xfrm>
            <a:off x="4663440" y="1024128"/>
            <a:ext cx="4023360" cy="731520"/>
          </a:xfrm>
          <a:prstGeom prst="roundRect">
            <a:avLst>
              <a:gd name="adj" fmla="val 10000"/>
            </a:avLst>
          </a:prstGeom>
          <a:solidFill>
            <a:schemeClr val="bg2"/>
          </a:solidFill>
          <a:ln/>
        </p:spPr>
      </p:sp>
      <p:sp>
        <p:nvSpPr>
          <p:cNvPr id="9" name="Text 6"/>
          <p:cNvSpPr txBox="1"/>
          <p:nvPr/>
        </p:nvSpPr>
        <p:spPr>
          <a:xfrm>
            <a:off x="475488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Perché lo strumento non basta?</a:t>
            </a:r>
            <a:endParaRPr lang="en-US" sz="1200" dirty="0"/>
          </a:p>
        </p:txBody>
      </p:sp>
      <p:sp>
        <p:nvSpPr>
          <p:cNvPr id="11" name="Text 8"/>
          <p:cNvSpPr txBox="1"/>
          <p:nvPr/>
        </p:nvSpPr>
        <p:spPr>
          <a:xfrm>
            <a:off x="516636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Utilità percepita, competenze, tempo, condizioni</a:t>
            </a:r>
            <a:endParaRPr lang="en-US" sz="1100" dirty="0"/>
          </a:p>
        </p:txBody>
      </p:sp>
      <p:sp>
        <p:nvSpPr>
          <p:cNvPr id="12" name="risposta 3"/>
          <p:cNvSpPr/>
          <p:nvPr/>
        </p:nvSpPr>
        <p:spPr>
          <a:xfrm>
            <a:off x="457200" y="1847088"/>
            <a:ext cx="4023360" cy="731520"/>
          </a:xfrm>
          <a:prstGeom prst="roundRect">
            <a:avLst>
              <a:gd name="adj" fmla="val 10000"/>
            </a:avLst>
          </a:prstGeom>
          <a:solidFill>
            <a:schemeClr val="bg2"/>
          </a:solidFill>
          <a:ln/>
        </p:spPr>
      </p:sp>
      <p:sp>
        <p:nvSpPr>
          <p:cNvPr id="13" name="Text 10"/>
          <p:cNvSpPr txBox="1"/>
          <p:nvPr/>
        </p:nvSpPr>
        <p:spPr>
          <a:xfrm>
            <a:off x="54864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Persone o condizioni?</a:t>
            </a:r>
            <a:endParaRPr lang="en-US" sz="1200" dirty="0"/>
          </a:p>
        </p:txBody>
      </p:sp>
      <p:sp>
        <p:nvSpPr>
          <p:cNvPr id="15" name="Text 12"/>
          <p:cNvSpPr txBox="1"/>
          <p:nvPr/>
        </p:nvSpPr>
        <p:spPr>
          <a:xfrm>
            <a:off x="96012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Spesso strutturali; rimedi diversi</a:t>
            </a:r>
            <a:endParaRPr lang="en-US" sz="1100" dirty="0"/>
          </a:p>
        </p:txBody>
      </p:sp>
      <p:sp>
        <p:nvSpPr>
          <p:cNvPr id="16" name="risposta 4"/>
          <p:cNvSpPr/>
          <p:nvPr/>
        </p:nvSpPr>
        <p:spPr>
          <a:xfrm>
            <a:off x="4663440" y="1847088"/>
            <a:ext cx="4023360" cy="731520"/>
          </a:xfrm>
          <a:prstGeom prst="roundRect">
            <a:avLst>
              <a:gd name="adj" fmla="val 10000"/>
            </a:avLst>
          </a:prstGeom>
          <a:solidFill>
            <a:schemeClr val="bg2"/>
          </a:solidFill>
          <a:ln/>
        </p:spPr>
      </p:sp>
      <p:sp>
        <p:nvSpPr>
          <p:cNvPr id="17" name="Text 14"/>
          <p:cNvSpPr txBox="1"/>
          <p:nvPr/>
        </p:nvSpPr>
        <p:spPr>
          <a:xfrm>
            <a:off x="475488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Quali responsabilità?</a:t>
            </a:r>
            <a:endParaRPr lang="en-US" sz="1200" dirty="0"/>
          </a:p>
        </p:txBody>
      </p:sp>
      <p:sp>
        <p:nvSpPr>
          <p:cNvPr id="19" name="Text 16"/>
          <p:cNvSpPr txBox="1"/>
          <p:nvPr/>
        </p:nvSpPr>
        <p:spPr>
          <a:xfrm>
            <a:off x="516636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Direzione orienta, manager abilitano, tutti segnalano</a:t>
            </a:r>
            <a:endParaRPr lang="en-US" sz="1100" dirty="0"/>
          </a:p>
        </p:txBody>
      </p:sp>
      <p:sp>
        <p:nvSpPr>
          <p:cNvPr id="20" name="risposta 5"/>
          <p:cNvSpPr/>
          <p:nvPr/>
        </p:nvSpPr>
        <p:spPr>
          <a:xfrm>
            <a:off x="457200" y="2670048"/>
            <a:ext cx="4023360" cy="731520"/>
          </a:xfrm>
          <a:prstGeom prst="roundRect">
            <a:avLst>
              <a:gd name="adj" fmla="val 10000"/>
            </a:avLst>
          </a:prstGeom>
          <a:solidFill>
            <a:schemeClr val="bg2"/>
          </a:solidFill>
          <a:ln/>
        </p:spPr>
      </p:sp>
      <p:sp>
        <p:nvSpPr>
          <p:cNvPr id="21" name="Text 18"/>
          <p:cNvSpPr txBox="1"/>
          <p:nvPr/>
        </p:nvSpPr>
        <p:spPr>
          <a:xfrm>
            <a:off x="54864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Perché la formazione non basta?</a:t>
            </a:r>
            <a:endParaRPr lang="en-US" sz="1200" dirty="0"/>
          </a:p>
        </p:txBody>
      </p:sp>
      <p:sp>
        <p:nvSpPr>
          <p:cNvPr id="23" name="Text 20"/>
          <p:cNvSpPr txBox="1"/>
          <p:nvPr/>
        </p:nvSpPr>
        <p:spPr>
          <a:xfrm>
            <a:off x="96012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Trasferimento: strumenti, tempo, esercizio, supporto</a:t>
            </a:r>
            <a:endParaRPr lang="en-US" sz="1100" dirty="0"/>
          </a:p>
        </p:txBody>
      </p:sp>
      <p:sp>
        <p:nvSpPr>
          <p:cNvPr id="24" name="risposta 6"/>
          <p:cNvSpPr/>
          <p:nvPr/>
        </p:nvSpPr>
        <p:spPr>
          <a:xfrm>
            <a:off x="4663440" y="2670048"/>
            <a:ext cx="4023360" cy="731520"/>
          </a:xfrm>
          <a:prstGeom prst="roundRect">
            <a:avLst>
              <a:gd name="adj" fmla="val 10000"/>
            </a:avLst>
          </a:prstGeom>
          <a:solidFill>
            <a:schemeClr val="bg2"/>
          </a:solidFill>
          <a:ln/>
        </p:spPr>
      </p:sp>
      <p:sp>
        <p:nvSpPr>
          <p:cNvPr id="25" name="Text 22"/>
          <p:cNvSpPr txBox="1"/>
          <p:nvPr/>
        </p:nvSpPr>
        <p:spPr>
          <a:xfrm>
            <a:off x="475488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Fiducia e partecipazione?</a:t>
            </a:r>
            <a:endParaRPr lang="en-US" sz="1200" dirty="0"/>
          </a:p>
        </p:txBody>
      </p:sp>
      <p:sp>
        <p:nvSpPr>
          <p:cNvPr id="27" name="Text 24"/>
          <p:cNvSpPr txBox="1"/>
          <p:nvPr/>
        </p:nvSpPr>
        <p:spPr>
          <a:xfrm>
            <a:off x="516636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Fiducia informata, sicurezza psicologica, obiezioni ascoltate</a:t>
            </a:r>
            <a:endParaRPr lang="en-US" sz="1100" dirty="0"/>
          </a:p>
        </p:txBody>
      </p:sp>
      <p:sp>
        <p:nvSpPr>
          <p:cNvPr id="28" name="risposta 7"/>
          <p:cNvSpPr/>
          <p:nvPr/>
        </p:nvSpPr>
        <p:spPr>
          <a:xfrm>
            <a:off x="457200" y="3493008"/>
            <a:ext cx="4023360" cy="731520"/>
          </a:xfrm>
          <a:prstGeom prst="roundRect">
            <a:avLst>
              <a:gd name="adj" fmla="val 10000"/>
            </a:avLst>
          </a:prstGeom>
          <a:solidFill>
            <a:schemeClr val="bg2"/>
          </a:solidFill>
          <a:ln/>
        </p:spPr>
      </p:sp>
      <p:sp>
        <p:nvSpPr>
          <p:cNvPr id="29" name="Text 26"/>
          <p:cNvSpPr txBox="1"/>
          <p:nvPr/>
        </p:nvSpPr>
        <p:spPr>
          <a:xfrm>
            <a:off x="54864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Quale supporto?</a:t>
            </a:r>
            <a:endParaRPr lang="en-US" sz="1200" dirty="0"/>
          </a:p>
        </p:txBody>
      </p:sp>
      <p:sp>
        <p:nvSpPr>
          <p:cNvPr id="31" name="Text 28"/>
          <p:cNvSpPr txBox="1"/>
          <p:nvPr/>
        </p:nvSpPr>
        <p:spPr>
          <a:xfrm>
            <a:off x="96012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Indicazioni semplici, materiali, referenti, coordinamento</a:t>
            </a:r>
            <a:endParaRPr lang="en-US" sz="1100" dirty="0"/>
          </a:p>
        </p:txBody>
      </p:sp>
      <p:sp>
        <p:nvSpPr>
          <p:cNvPr id="32" name="risposta 8"/>
          <p:cNvSpPr/>
          <p:nvPr/>
        </p:nvSpPr>
        <p:spPr>
          <a:xfrm>
            <a:off x="4663440" y="3493008"/>
            <a:ext cx="4023360" cy="731520"/>
          </a:xfrm>
          <a:prstGeom prst="roundRect">
            <a:avLst>
              <a:gd name="adj" fmla="val 10000"/>
            </a:avLst>
          </a:prstGeom>
          <a:solidFill>
            <a:schemeClr val="bg2"/>
          </a:solidFill>
          <a:ln/>
        </p:spPr>
      </p:sp>
      <p:sp>
        <p:nvSpPr>
          <p:cNvPr id="33" name="Text 30"/>
          <p:cNvSpPr txBox="1"/>
          <p:nvPr/>
        </p:nvSpPr>
        <p:spPr>
          <a:xfrm>
            <a:off x="475488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Efficace e sostenibile?</a:t>
            </a:r>
            <a:endParaRPr lang="en-US" sz="1200" dirty="0"/>
          </a:p>
        </p:txBody>
      </p:sp>
      <p:sp>
        <p:nvSpPr>
          <p:cNvPr id="35" name="Text 32"/>
          <p:cNvSpPr txBox="1"/>
          <p:nvPr/>
        </p:nvSpPr>
        <p:spPr>
          <a:xfrm>
            <a:off x="516636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Qualità e impatto; modificare o interrompere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Disponibilità, uso, adozione, valore</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Fattori abilitanti e ostacoli</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Ruolo di direzione e responsabili</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Formazione e applicazione</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Sperimentazione progressiva e feedback</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Fiducia informata o entusiasmo acritico</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Dubbi e resistenze come segnali</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Lo Shadow AI come fenomeno organizzativo</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Supporto, indicazioni, coordinamento</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Diffusione rapida o adozione efficace</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Monitorare qualità e risultati</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Adattare, ridimensionare, interrompere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Domande per un'iniziativa di adozione</a:t>
            </a:r>
            <a:endParaRPr lang="en-US" sz="2600" dirty="0"/>
          </a:p>
        </p:txBody>
      </p:sp>
      <p:sp>
        <p:nvSpPr>
          <p:cNvPr id="4" name="Adozione"/>
          <p:cNvSpPr/>
          <p:nvPr/>
        </p:nvSpPr>
        <p:spPr>
          <a:xfrm>
            <a:off x="457200" y="1051560"/>
            <a:ext cx="1572768" cy="2743200"/>
          </a:xfrm>
          <a:prstGeom prst="roundRect">
            <a:avLst>
              <a:gd name="adj" fmla="val 4651"/>
            </a:avLst>
          </a:prstGeom>
          <a:solidFill>
            <a:schemeClr val="bg2"/>
          </a:solidFill>
          <a:ln/>
        </p:spPr>
      </p:sp>
      <p:sp>
        <p:nvSpPr>
          <p:cNvPr id="5" name="Text 2"/>
          <p:cNvSpPr txBox="1"/>
          <p:nvPr/>
        </p:nvSpPr>
        <p:spPr>
          <a:xfrm>
            <a:off x="548640" y="1115568"/>
            <a:ext cx="1417320" cy="365760"/>
          </a:xfrm>
          <a:prstGeom prst="rect">
            <a:avLst/>
          </a:prstGeom>
          <a:noFill/>
          <a:ln/>
        </p:spPr>
        <p:txBody>
          <a:bodyPr wrap="square" lIns="0" tIns="0" rIns="0" bIns="0" rtlCol="0" anchor="t"/>
          <a:lstStyle/>
          <a:p>
            <a:pPr indent="0" marL="0">
              <a:buNone/>
            </a:pPr>
            <a:r>
              <a:rPr lang="en-US" sz="1300" b="1" dirty="0">
                <a:solidFill>
                  <a:schemeClr val="accent1"/>
                </a:solidFill>
              </a:rPr>
              <a:t>Adozione</a:t>
            </a:r>
            <a:endParaRPr lang="en-US" sz="1300" dirty="0"/>
          </a:p>
        </p:txBody>
      </p:sp>
      <p:sp>
        <p:nvSpPr>
          <p:cNvPr id="6" name="Text 3"/>
          <p:cNvSpPr txBox="1"/>
          <p:nvPr/>
        </p:nvSpPr>
        <p:spPr>
          <a:xfrm>
            <a:off x="548640"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A che livello?</a:t>
            </a:r>
            <a:endParaRPr lang="en-US" sz="1100" dirty="0"/>
          </a:p>
          <a:p>
            <a:pPr marL="177800" indent="-177800">
              <a:spcAft>
                <a:spcPts val="600"/>
              </a:spcAft>
              <a:buSzPct val="100000"/>
              <a:buChar char="•"/>
            </a:pPr>
            <a:r>
              <a:rPr lang="en-US" sz="1100" dirty="0">
                <a:solidFill>
                  <a:schemeClr val="tx1"/>
                </a:solidFill>
              </a:rPr>
              <a:t>Utile per le attività reali?</a:t>
            </a:r>
            <a:endParaRPr lang="en-US" sz="1100" dirty="0"/>
          </a:p>
          <a:p>
            <a:pPr marL="177800" indent="-177800">
              <a:spcAft>
                <a:spcPts val="600"/>
              </a:spcAft>
              <a:buSzPct val="100000"/>
              <a:buChar char="•"/>
            </a:pPr>
            <a:r>
              <a:rPr lang="en-US" sz="1100" dirty="0">
                <a:solidFill>
                  <a:schemeClr val="tx1"/>
                </a:solidFill>
              </a:rPr>
              <a:t>Ostacoli strutturali?</a:t>
            </a:r>
            <a:endParaRPr lang="en-US" sz="1100" dirty="0"/>
          </a:p>
        </p:txBody>
      </p:sp>
      <p:sp>
        <p:nvSpPr>
          <p:cNvPr id="7" name="Persone"/>
          <p:cNvSpPr/>
          <p:nvPr/>
        </p:nvSpPr>
        <p:spPr>
          <a:xfrm>
            <a:off x="2139696" y="1051560"/>
            <a:ext cx="1572768" cy="2743200"/>
          </a:xfrm>
          <a:prstGeom prst="roundRect">
            <a:avLst>
              <a:gd name="adj" fmla="val 4651"/>
            </a:avLst>
          </a:prstGeom>
          <a:solidFill>
            <a:schemeClr val="accent6"/>
          </a:solidFill>
          <a:ln/>
        </p:spPr>
      </p:sp>
      <p:sp>
        <p:nvSpPr>
          <p:cNvPr id="8" name="Text 5"/>
          <p:cNvSpPr txBox="1"/>
          <p:nvPr/>
        </p:nvSpPr>
        <p:spPr>
          <a:xfrm>
            <a:off x="2231136" y="1115568"/>
            <a:ext cx="1417320" cy="365760"/>
          </a:xfrm>
          <a:prstGeom prst="rect">
            <a:avLst/>
          </a:prstGeom>
          <a:noFill/>
          <a:ln/>
        </p:spPr>
        <p:txBody>
          <a:bodyPr wrap="square" lIns="0" tIns="0" rIns="0" bIns="0" rtlCol="0" anchor="t"/>
          <a:lstStyle/>
          <a:p>
            <a:pPr indent="0" marL="0">
              <a:buNone/>
            </a:pPr>
            <a:r>
              <a:rPr lang="en-US" sz="1300" b="1" dirty="0">
                <a:solidFill>
                  <a:schemeClr val="accent1"/>
                </a:solidFill>
              </a:rPr>
              <a:t>Persone</a:t>
            </a:r>
            <a:endParaRPr lang="en-US" sz="1300" dirty="0"/>
          </a:p>
        </p:txBody>
      </p:sp>
      <p:sp>
        <p:nvSpPr>
          <p:cNvPr id="9" name="Text 6"/>
          <p:cNvSpPr txBox="1"/>
          <p:nvPr/>
        </p:nvSpPr>
        <p:spPr>
          <a:xfrm>
            <a:off x="2231136"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Finalità chiare?</a:t>
            </a:r>
            <a:endParaRPr lang="en-US" sz="1100" dirty="0"/>
          </a:p>
          <a:p>
            <a:pPr marL="177800" indent="-177800">
              <a:spcAft>
                <a:spcPts val="600"/>
              </a:spcAft>
              <a:buSzPct val="100000"/>
              <a:buChar char="•"/>
            </a:pPr>
            <a:r>
              <a:rPr lang="en-US" sz="1100" dirty="0">
                <a:solidFill>
                  <a:schemeClr val="tx1"/>
                </a:solidFill>
              </a:rPr>
              <a:t>Tempo e ascolto?</a:t>
            </a:r>
            <a:endParaRPr lang="en-US" sz="1100" dirty="0"/>
          </a:p>
          <a:p>
            <a:pPr marL="177800" indent="-177800">
              <a:spcAft>
                <a:spcPts val="600"/>
              </a:spcAft>
              <a:buSzPct val="100000"/>
              <a:buChar char="•"/>
            </a:pPr>
            <a:r>
              <a:rPr lang="en-US" sz="1100" dirty="0">
                <a:solidFill>
                  <a:schemeClr val="tx1"/>
                </a:solidFill>
              </a:rPr>
              <a:t>Obiezioni ascoltate?</a:t>
            </a:r>
            <a:endParaRPr lang="en-US" sz="1100" dirty="0"/>
          </a:p>
          <a:p>
            <a:pPr marL="177800" indent="-177800">
              <a:spcAft>
                <a:spcPts val="600"/>
              </a:spcAft>
              <a:buSzPct val="100000"/>
              <a:buChar char="•"/>
            </a:pPr>
            <a:r>
              <a:rPr lang="en-US" sz="1100" dirty="0">
                <a:solidFill>
                  <a:schemeClr val="tx1"/>
                </a:solidFill>
              </a:rPr>
              <a:t>Si parla di errori?</a:t>
            </a:r>
            <a:endParaRPr lang="en-US" sz="1100" dirty="0"/>
          </a:p>
        </p:txBody>
      </p:sp>
      <p:sp>
        <p:nvSpPr>
          <p:cNvPr id="10" name="Competenze"/>
          <p:cNvSpPr/>
          <p:nvPr/>
        </p:nvSpPr>
        <p:spPr>
          <a:xfrm>
            <a:off x="3822192" y="1051560"/>
            <a:ext cx="1572768" cy="2743200"/>
          </a:xfrm>
          <a:prstGeom prst="roundRect">
            <a:avLst>
              <a:gd name="adj" fmla="val 4651"/>
            </a:avLst>
          </a:prstGeom>
          <a:solidFill>
            <a:schemeClr val="bg2"/>
          </a:solidFill>
          <a:ln/>
        </p:spPr>
      </p:sp>
      <p:sp>
        <p:nvSpPr>
          <p:cNvPr id="11" name="Text 8"/>
          <p:cNvSpPr txBox="1"/>
          <p:nvPr/>
        </p:nvSpPr>
        <p:spPr>
          <a:xfrm>
            <a:off x="3913632" y="1115568"/>
            <a:ext cx="1417320" cy="365760"/>
          </a:xfrm>
          <a:prstGeom prst="rect">
            <a:avLst/>
          </a:prstGeom>
          <a:noFill/>
          <a:ln/>
        </p:spPr>
        <p:txBody>
          <a:bodyPr wrap="square" lIns="0" tIns="0" rIns="0" bIns="0" rtlCol="0" anchor="t"/>
          <a:lstStyle/>
          <a:p>
            <a:pPr indent="0" marL="0">
              <a:buNone/>
            </a:pPr>
            <a:r>
              <a:rPr lang="en-US" sz="1300" b="1" dirty="0">
                <a:solidFill>
                  <a:schemeClr val="accent1"/>
                </a:solidFill>
              </a:rPr>
              <a:t>Competenze</a:t>
            </a:r>
            <a:endParaRPr lang="en-US" sz="1300" dirty="0"/>
          </a:p>
        </p:txBody>
      </p:sp>
      <p:sp>
        <p:nvSpPr>
          <p:cNvPr id="12" name="Text 9"/>
          <p:cNvSpPr txBox="1"/>
          <p:nvPr/>
        </p:nvSpPr>
        <p:spPr>
          <a:xfrm>
            <a:off x="3913632"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Formazione per ruolo?</a:t>
            </a:r>
            <a:endParaRPr lang="en-US" sz="1100" dirty="0"/>
          </a:p>
          <a:p>
            <a:pPr marL="177800" indent="-177800">
              <a:spcAft>
                <a:spcPts val="600"/>
              </a:spcAft>
              <a:buSzPct val="100000"/>
              <a:buChar char="•"/>
            </a:pPr>
            <a:r>
              <a:rPr lang="en-US" sz="1100" dirty="0">
                <a:solidFill>
                  <a:schemeClr val="tx1"/>
                </a:solidFill>
              </a:rPr>
              <a:t>Occasioni per applicare?</a:t>
            </a:r>
            <a:endParaRPr lang="en-US" sz="1100" dirty="0"/>
          </a:p>
          <a:p>
            <a:pPr marL="177800" indent="-177800">
              <a:spcAft>
                <a:spcPts val="600"/>
              </a:spcAft>
              <a:buSzPct val="100000"/>
              <a:buChar char="•"/>
            </a:pPr>
            <a:r>
              <a:rPr lang="en-US" sz="1100" dirty="0">
                <a:solidFill>
                  <a:schemeClr val="tx1"/>
                </a:solidFill>
              </a:rPr>
              <a:t>Supporto dopo?</a:t>
            </a:r>
            <a:endParaRPr lang="en-US" sz="1100" dirty="0"/>
          </a:p>
        </p:txBody>
      </p:sp>
      <p:sp>
        <p:nvSpPr>
          <p:cNvPr id="13" name="Diffusione"/>
          <p:cNvSpPr/>
          <p:nvPr/>
        </p:nvSpPr>
        <p:spPr>
          <a:xfrm>
            <a:off x="5504688" y="1051560"/>
            <a:ext cx="1572768" cy="2743200"/>
          </a:xfrm>
          <a:prstGeom prst="roundRect">
            <a:avLst>
              <a:gd name="adj" fmla="val 4651"/>
            </a:avLst>
          </a:prstGeom>
          <a:solidFill>
            <a:schemeClr val="accent6"/>
          </a:solidFill>
          <a:ln/>
        </p:spPr>
      </p:sp>
      <p:sp>
        <p:nvSpPr>
          <p:cNvPr id="14" name="Text 11"/>
          <p:cNvSpPr txBox="1"/>
          <p:nvPr/>
        </p:nvSpPr>
        <p:spPr>
          <a:xfrm>
            <a:off x="5596128" y="1115568"/>
            <a:ext cx="1417320" cy="365760"/>
          </a:xfrm>
          <a:prstGeom prst="rect">
            <a:avLst/>
          </a:prstGeom>
          <a:noFill/>
          <a:ln/>
        </p:spPr>
        <p:txBody>
          <a:bodyPr wrap="square" lIns="0" tIns="0" rIns="0" bIns="0" rtlCol="0" anchor="t"/>
          <a:lstStyle/>
          <a:p>
            <a:pPr indent="0" marL="0">
              <a:buNone/>
            </a:pPr>
            <a:r>
              <a:rPr lang="en-US" sz="1300" b="1" dirty="0">
                <a:solidFill>
                  <a:schemeClr val="accent1"/>
                </a:solidFill>
              </a:rPr>
              <a:t>Diffusione</a:t>
            </a:r>
            <a:endParaRPr lang="en-US" sz="1300" dirty="0"/>
          </a:p>
        </p:txBody>
      </p:sp>
      <p:sp>
        <p:nvSpPr>
          <p:cNvPr id="15" name="Text 12"/>
          <p:cNvSpPr txBox="1"/>
          <p:nvPr/>
        </p:nvSpPr>
        <p:spPr>
          <a:xfrm>
            <a:off x="5596128"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Pilota, che cosa imparato?</a:t>
            </a:r>
            <a:endParaRPr lang="en-US" sz="1100" dirty="0"/>
          </a:p>
          <a:p>
            <a:pPr marL="177800" indent="-177800">
              <a:spcAft>
                <a:spcPts val="600"/>
              </a:spcAft>
              <a:buSzPct val="100000"/>
              <a:buChar char="•"/>
            </a:pPr>
            <a:r>
              <a:rPr lang="en-US" sz="1100" dirty="0">
                <a:solidFill>
                  <a:schemeClr val="tx1"/>
                </a:solidFill>
              </a:rPr>
              <a:t>Condizioni altrove?</a:t>
            </a:r>
            <a:endParaRPr lang="en-US" sz="1100" dirty="0"/>
          </a:p>
          <a:p>
            <a:pPr marL="177800" indent="-177800">
              <a:spcAft>
                <a:spcPts val="600"/>
              </a:spcAft>
              <a:buSzPct val="100000"/>
              <a:buChar char="•"/>
            </a:pPr>
            <a:r>
              <a:rPr lang="en-US" sz="1100" dirty="0">
                <a:solidFill>
                  <a:schemeClr val="tx1"/>
                </a:solidFill>
              </a:rPr>
              <a:t>Indicazioni, referenti?</a:t>
            </a:r>
            <a:endParaRPr lang="en-US" sz="1100" dirty="0"/>
          </a:p>
        </p:txBody>
      </p:sp>
      <p:sp>
        <p:nvSpPr>
          <p:cNvPr id="16" name="Risultati"/>
          <p:cNvSpPr/>
          <p:nvPr/>
        </p:nvSpPr>
        <p:spPr>
          <a:xfrm>
            <a:off x="7187184" y="1051560"/>
            <a:ext cx="1572768" cy="2743200"/>
          </a:xfrm>
          <a:prstGeom prst="roundRect">
            <a:avLst>
              <a:gd name="adj" fmla="val 4651"/>
            </a:avLst>
          </a:prstGeom>
          <a:solidFill>
            <a:schemeClr val="bg2"/>
          </a:solidFill>
          <a:ln/>
        </p:spPr>
      </p:sp>
      <p:sp>
        <p:nvSpPr>
          <p:cNvPr id="17" name="Text 14"/>
          <p:cNvSpPr txBox="1"/>
          <p:nvPr/>
        </p:nvSpPr>
        <p:spPr>
          <a:xfrm>
            <a:off x="7278624" y="1115568"/>
            <a:ext cx="1417320" cy="365760"/>
          </a:xfrm>
          <a:prstGeom prst="rect">
            <a:avLst/>
          </a:prstGeom>
          <a:noFill/>
          <a:ln/>
        </p:spPr>
        <p:txBody>
          <a:bodyPr wrap="square" lIns="0" tIns="0" rIns="0" bIns="0" rtlCol="0" anchor="t"/>
          <a:lstStyle/>
          <a:p>
            <a:pPr indent="0" marL="0">
              <a:buNone/>
            </a:pPr>
            <a:r>
              <a:rPr lang="en-US" sz="1300" b="1" dirty="0">
                <a:solidFill>
                  <a:schemeClr val="accent1"/>
                </a:solidFill>
              </a:rPr>
              <a:t>Risultati</a:t>
            </a:r>
            <a:endParaRPr lang="en-US" sz="1300" dirty="0"/>
          </a:p>
        </p:txBody>
      </p:sp>
      <p:sp>
        <p:nvSpPr>
          <p:cNvPr id="18" name="Text 15"/>
          <p:cNvSpPr txBox="1"/>
          <p:nvPr/>
        </p:nvSpPr>
        <p:spPr>
          <a:xfrm>
            <a:off x="7278624" y="1536192"/>
            <a:ext cx="1444752" cy="21945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Qualità e impatto?</a:t>
            </a:r>
            <a:endParaRPr lang="en-US" sz="1100" dirty="0"/>
          </a:p>
          <a:p>
            <a:pPr marL="177800" indent="-177800">
              <a:spcAft>
                <a:spcPts val="600"/>
              </a:spcAft>
              <a:buSzPct val="100000"/>
              <a:buChar char="•"/>
            </a:pPr>
            <a:r>
              <a:rPr lang="en-US" sz="1100" dirty="0">
                <a:solidFill>
                  <a:schemeClr val="tx1"/>
                </a:solidFill>
              </a:rPr>
              <a:t>Sostenibile?</a:t>
            </a:r>
            <a:endParaRPr lang="en-US" sz="1100" dirty="0"/>
          </a:p>
          <a:p>
            <a:pPr marL="177800" indent="-177800">
              <a:spcAft>
                <a:spcPts val="600"/>
              </a:spcAft>
              <a:buSzPct val="100000"/>
              <a:buChar char="•"/>
            </a:pPr>
            <a:r>
              <a:rPr lang="en-US" sz="1100" dirty="0">
                <a:solidFill>
                  <a:schemeClr val="tx1"/>
                </a:solidFill>
              </a:rPr>
              <a:t>Quando ridimensionare?</a:t>
            </a:r>
            <a:endParaRPr lang="en-US" sz="1100" dirty="0"/>
          </a:p>
        </p:txBody>
      </p:sp>
      <p:sp>
        <p:nvSpPr>
          <p:cNvPr id="19" name="messaggio"/>
          <p:cNvSpPr/>
          <p:nvPr/>
        </p:nvSpPr>
        <p:spPr>
          <a:xfrm>
            <a:off x="457200" y="3931920"/>
            <a:ext cx="8229600" cy="594360"/>
          </a:xfrm>
          <a:prstGeom prst="roundRect">
            <a:avLst>
              <a:gd name="adj" fmla="val 12308"/>
            </a:avLst>
          </a:prstGeom>
          <a:solidFill>
            <a:schemeClr val="tx1"/>
          </a:solidFill>
          <a:ln/>
        </p:spPr>
      </p:sp>
      <p:sp>
        <p:nvSpPr>
          <p:cNvPr id="20" name="Text 17"/>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400" dirty="0">
                <a:solidFill>
                  <a:schemeClr val="bg1"/>
                </a:solidFill>
              </a:rPr>
              <a:t>Domande utili a chiunque, non solo a chi guida il progetto. E valgono anche per questo percorso.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sp>
      <p:sp>
        <p:nvSpPr>
          <p:cNvPr id="5" name="cerchio FiKey"/>
          <p:cNvSpPr/>
          <p:nvPr/>
        </p:nvSpPr>
        <p:spPr>
          <a:xfrm>
            <a:off x="621792" y="1216152"/>
            <a:ext cx="457200" cy="457200"/>
          </a:xfrm>
          <a:prstGeom prst="ellipse">
            <a:avLst/>
          </a:prstGeom>
          <a:solidFill>
            <a:schemeClr val="accent5"/>
          </a:solidFill>
          <a:ln/>
        </p:spPr>
      </p:sp>
      <p:pic>
        <p:nvPicPr>
          <p:cNvPr id="6" name="Image 0" descr="FiKey">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"Abbiamo dato le licenze a tutti"</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Distribuire non è adottare</a:t>
            </a:r>
            <a:endParaRPr lang="en-US" sz="1200" dirty="0"/>
          </a:p>
        </p:txBody>
      </p:sp>
      <p:sp>
        <p:nvSpPr>
          <p:cNvPr id="9" name="Text 5"/>
          <p:cNvSpPr txBox="1"/>
          <p:nvPr/>
        </p:nvSpPr>
        <p:spPr>
          <a:xfrm>
            <a:off x="384048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16.1</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sp>
      <p:sp>
        <p:nvSpPr>
          <p:cNvPr id="11" name="cerchio FiUserX"/>
          <p:cNvSpPr/>
          <p:nvPr/>
        </p:nvSpPr>
        <p:spPr>
          <a:xfrm>
            <a:off x="4828032" y="1216152"/>
            <a:ext cx="457200" cy="457200"/>
          </a:xfrm>
          <a:prstGeom prst="ellipse">
            <a:avLst/>
          </a:prstGeom>
          <a:solidFill>
            <a:schemeClr val="accent5"/>
          </a:solidFill>
          <a:ln/>
        </p:spPr>
      </p:sp>
      <p:pic>
        <p:nvPicPr>
          <p:cNvPr id="12" name="Image 1" descr="FiUserX">    </p:cNvPr>
          <p:cNvPicPr>
            <a:picLocks noChangeAspect="1"/>
          </p:cNvPicPr>
          <p:nvPr/>
        </p:nvPicPr>
        <p:blipFill>
          <a:blip r:embed="rId2"/>
          <a:stretch>
            <a:fillRect/>
          </a:stretch>
        </p:blipFill>
        <p:spPr>
          <a:xfrm>
            <a:off x="4942332" y="1330452"/>
            <a:ext cx="228600" cy="228600"/>
          </a:xfrm>
          <a:prstGeom prst="rect">
            <a:avLst/>
          </a:prstGeom>
        </p:spPr>
      </p:pic>
      <p:sp>
        <p:nvSpPr>
          <p:cNvPr id="13" name="Text 8"/>
          <p:cNvSpPr txBox="1"/>
          <p:nvPr/>
        </p:nvSpPr>
        <p:spPr>
          <a:xfrm>
            <a:off x="539496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"Le persone resistono al cambiamento"</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Spesso l'ostacolo è strutturale</a:t>
            </a:r>
            <a:endParaRPr lang="en-US" sz="1200" dirty="0"/>
          </a:p>
        </p:txBody>
      </p:sp>
      <p:sp>
        <p:nvSpPr>
          <p:cNvPr id="15" name="Text 10"/>
          <p:cNvSpPr txBox="1"/>
          <p:nvPr/>
        </p:nvSpPr>
        <p:spPr>
          <a:xfrm>
            <a:off x="804672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16.2</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sp>
      <p:sp>
        <p:nvSpPr>
          <p:cNvPr id="17" name="cerchio FiTarget"/>
          <p:cNvSpPr/>
          <p:nvPr/>
        </p:nvSpPr>
        <p:spPr>
          <a:xfrm>
            <a:off x="621792" y="2377440"/>
            <a:ext cx="457200" cy="457200"/>
          </a:xfrm>
          <a:prstGeom prst="ellipse">
            <a:avLst/>
          </a:prstGeom>
          <a:solidFill>
            <a:schemeClr val="accent5"/>
          </a:solidFill>
          <a:ln/>
        </p:spPr>
      </p:sp>
      <p:pic>
        <p:nvPicPr>
          <p:cNvPr id="18" name="Image 2" descr="FiTarget">    </p:cNvPr>
          <p:cNvPicPr>
            <a:picLocks noChangeAspect="1"/>
          </p:cNvPicPr>
          <p:nvPr/>
        </p:nvPicPr>
        <p:blipFill>
          <a:blip r:embed="rId3"/>
          <a:stretch>
            <a:fillRect/>
          </a:stretch>
        </p:blipFill>
        <p:spPr>
          <a:xfrm>
            <a:off x="736092" y="2491740"/>
            <a:ext cx="228600" cy="228600"/>
          </a:xfrm>
          <a:prstGeom prst="rect">
            <a:avLst/>
          </a:prstGeom>
        </p:spPr>
      </p:pic>
      <p:sp>
        <p:nvSpPr>
          <p:cNvPr id="19" name="Text 13"/>
          <p:cNvSpPr txBox="1"/>
          <p:nvPr/>
        </p:nvSpPr>
        <p:spPr>
          <a:xfrm>
            <a:off x="118872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"Ognuno deve usarlo ogni giorno"</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Obiettivi d'uso, adozione simbolica</a:t>
            </a:r>
            <a:endParaRPr lang="en-US" sz="1200" dirty="0"/>
          </a:p>
        </p:txBody>
      </p:sp>
      <p:sp>
        <p:nvSpPr>
          <p:cNvPr id="21" name="Text 15"/>
          <p:cNvSpPr txBox="1"/>
          <p:nvPr/>
        </p:nvSpPr>
        <p:spPr>
          <a:xfrm>
            <a:off x="384048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16.3</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sp>
      <p:sp>
        <p:nvSpPr>
          <p:cNvPr id="23" name="cerchio FiBookOpen"/>
          <p:cNvSpPr/>
          <p:nvPr/>
        </p:nvSpPr>
        <p:spPr>
          <a:xfrm>
            <a:off x="4828032" y="2377440"/>
            <a:ext cx="457200" cy="457200"/>
          </a:xfrm>
          <a:prstGeom prst="ellipse">
            <a:avLst/>
          </a:prstGeom>
          <a:solidFill>
            <a:schemeClr val="accent5"/>
          </a:solidFill>
          <a:ln/>
        </p:spPr>
      </p:sp>
      <p:pic>
        <p:nvPicPr>
          <p:cNvPr id="24" name="Image 3" descr="FiBookOpen">    </p:cNvPr>
          <p:cNvPicPr>
            <a:picLocks noChangeAspect="1"/>
          </p:cNvPicPr>
          <p:nvPr/>
        </p:nvPicPr>
        <p:blipFill>
          <a:blip r:embed="rId4"/>
          <a:stretch>
            <a:fillRect/>
          </a:stretch>
        </p:blipFill>
        <p:spPr>
          <a:xfrm>
            <a:off x="4942332" y="2491740"/>
            <a:ext cx="228600" cy="228600"/>
          </a:xfrm>
          <a:prstGeom prst="rect">
            <a:avLst/>
          </a:prstGeom>
        </p:spPr>
      </p:pic>
      <p:sp>
        <p:nvSpPr>
          <p:cNvPr id="25" name="Text 18"/>
          <p:cNvSpPr txBox="1"/>
          <p:nvPr/>
        </p:nvSpPr>
        <p:spPr>
          <a:xfrm>
            <a:off x="539496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"Abbiamo fatto il corso"</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La formazione da sola non basta</a:t>
            </a:r>
            <a:endParaRPr lang="en-US" sz="1200" dirty="0"/>
          </a:p>
        </p:txBody>
      </p:sp>
      <p:sp>
        <p:nvSpPr>
          <p:cNvPr id="27" name="Text 20"/>
          <p:cNvSpPr txBox="1"/>
          <p:nvPr/>
        </p:nvSpPr>
        <p:spPr>
          <a:xfrm>
            <a:off x="804672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16.4</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sp>
      <p:sp>
        <p:nvSpPr>
          <p:cNvPr id="29" name="cerchio FiCopy"/>
          <p:cNvSpPr/>
          <p:nvPr/>
        </p:nvSpPr>
        <p:spPr>
          <a:xfrm>
            <a:off x="621792" y="3538728"/>
            <a:ext cx="457200" cy="457200"/>
          </a:xfrm>
          <a:prstGeom prst="ellipse">
            <a:avLst/>
          </a:prstGeom>
          <a:solidFill>
            <a:schemeClr val="accent5"/>
          </a:solidFill>
          <a:ln/>
        </p:spPr>
      </p:sp>
      <p:pic>
        <p:nvPicPr>
          <p:cNvPr id="30" name="Image 4" descr="FiCopy">    </p:cNvPr>
          <p:cNvPicPr>
            <a:picLocks noChangeAspect="1"/>
          </p:cNvPicPr>
          <p:nvPr/>
        </p:nvPicPr>
        <p:blipFill>
          <a:blip r:embed="rId5"/>
          <a:stretch>
            <a:fillRect/>
          </a:stretch>
        </p:blipFill>
        <p:spPr>
          <a:xfrm>
            <a:off x="736092" y="3653028"/>
            <a:ext cx="228600" cy="228600"/>
          </a:xfrm>
          <a:prstGeom prst="rect">
            <a:avLst/>
          </a:prstGeom>
        </p:spPr>
      </p:pic>
      <p:sp>
        <p:nvSpPr>
          <p:cNvPr id="31" name="Text 23"/>
          <p:cNvSpPr txBox="1"/>
          <p:nvPr/>
        </p:nvSpPr>
        <p:spPr>
          <a:xfrm>
            <a:off x="118872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"Il pilota è andato bene: a tutti"</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Prima capire perché ha funzionato</a:t>
            </a:r>
            <a:endParaRPr lang="en-US" sz="1200" dirty="0"/>
          </a:p>
        </p:txBody>
      </p:sp>
      <p:sp>
        <p:nvSpPr>
          <p:cNvPr id="33" name="Text 25"/>
          <p:cNvSpPr txBox="1"/>
          <p:nvPr/>
        </p:nvSpPr>
        <p:spPr>
          <a:xfrm>
            <a:off x="384048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16.5</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sp>
      <p:sp>
        <p:nvSpPr>
          <p:cNvPr id="35" name="cerchio FiUsers"/>
          <p:cNvSpPr/>
          <p:nvPr/>
        </p:nvSpPr>
        <p:spPr>
          <a:xfrm>
            <a:off x="4828032" y="3538728"/>
            <a:ext cx="457200" cy="457200"/>
          </a:xfrm>
          <a:prstGeom prst="ellipse">
            <a:avLst/>
          </a:prstGeom>
          <a:solidFill>
            <a:schemeClr val="accent5"/>
          </a:solidFill>
          <a:ln/>
        </p:spPr>
      </p:sp>
      <p:pic>
        <p:nvPicPr>
          <p:cNvPr id="36" name="Image 5" descr="FiUsers">    </p:cNvPr>
          <p:cNvPicPr>
            <a:picLocks noChangeAspect="1"/>
          </p:cNvPicPr>
          <p:nvPr/>
        </p:nvPicPr>
        <p:blipFill>
          <a:blip r:embed="rId6"/>
          <a:stretch>
            <a:fillRect/>
          </a:stretch>
        </p:blipFill>
        <p:spPr>
          <a:xfrm>
            <a:off x="4942332" y="3653028"/>
            <a:ext cx="228600" cy="228600"/>
          </a:xfrm>
          <a:prstGeom prst="rect">
            <a:avLst/>
          </a:prstGeom>
        </p:spPr>
      </p:pic>
      <p:sp>
        <p:nvSpPr>
          <p:cNvPr id="37" name="Text 28"/>
          <p:cNvSpPr txBox="1"/>
          <p:nvPr/>
        </p:nvSpPr>
        <p:spPr>
          <a:xfrm>
            <a:off x="539496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"Guardiamo quanti utenti attivi"</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Uso, qualità e impatto, non accessi</a:t>
            </a:r>
            <a:endParaRPr lang="en-US" sz="1200" dirty="0"/>
          </a:p>
        </p:txBody>
      </p:sp>
      <p:sp>
        <p:nvSpPr>
          <p:cNvPr id="39" name="Text 30"/>
          <p:cNvSpPr txBox="1"/>
          <p:nvPr/>
        </p:nvSpPr>
        <p:spPr>
          <a:xfrm>
            <a:off x="804672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16.8</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19456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47802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816352"/>
            <a:ext cx="3566160" cy="292608"/>
          </a:xfrm>
          <a:prstGeom prst="rect">
            <a:avLst/>
          </a:prstGeom>
          <a:noFill/>
          <a:ln/>
        </p:spPr>
        <p:txBody>
          <a:bodyPr wrap="square" lIns="0" tIns="0" rIns="0" bIns="0" rtlCol="0" anchor="t"/>
          <a:lstStyle/>
          <a:p>
            <a:pPr indent="0" marL="0">
              <a:buNone/>
            </a:pPr>
            <a:r>
              <a:rPr lang="en-US" sz="1400" b="1" dirty="0">
                <a:solidFill>
                  <a:schemeClr val="tx1"/>
                </a:solidFill>
              </a:rPr>
              <a:t>Esplorare le possibilità dell'AI</a:t>
            </a:r>
            <a:endParaRPr lang="en-US" sz="1400" dirty="0"/>
          </a:p>
        </p:txBody>
      </p:sp>
      <p:sp>
        <p:nvSpPr>
          <p:cNvPr id="11" name="Text 8"/>
          <p:cNvSpPr txBox="1"/>
          <p:nvPr/>
        </p:nvSpPr>
        <p:spPr>
          <a:xfrm>
            <a:off x="685800" y="3099816"/>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8-11</a:t>
            </a:r>
            <a:endParaRPr lang="en-US" sz="1200" dirty="0"/>
          </a:p>
        </p:txBody>
      </p:sp>
      <p:sp>
        <p:nvSpPr>
          <p:cNvPr id="12" name="Text 9"/>
          <p:cNvSpPr txBox="1"/>
          <p:nvPr/>
        </p:nvSpPr>
        <p:spPr>
          <a:xfrm>
            <a:off x="685800" y="3438144"/>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Comprendere il valore per l'azienda</a:t>
            </a:r>
            <a:endParaRPr lang="en-US" sz="1400" dirty="0"/>
          </a:p>
        </p:txBody>
      </p:sp>
      <p:sp>
        <p:nvSpPr>
          <p:cNvPr id="13" name="Text 10"/>
          <p:cNvSpPr txBox="1"/>
          <p:nvPr/>
        </p:nvSpPr>
        <p:spPr>
          <a:xfrm>
            <a:off x="685800" y="3721608"/>
            <a:ext cx="3566160" cy="365760"/>
          </a:xfrm>
          <a:prstGeom prst="rect">
            <a:avLst/>
          </a:prstGeom>
          <a:noFill/>
          <a:ln/>
        </p:spPr>
        <p:txBody>
          <a:bodyPr wrap="square" lIns="0" tIns="0" rIns="0" bIns="0" rtlCol="0" anchor="t"/>
          <a:lstStyle/>
          <a:p>
            <a:pPr indent="0" marL="0">
              <a:buNone/>
            </a:pPr>
            <a:r>
              <a:rPr lang="en-US" sz="1200" dirty="0">
                <a:solidFill>
                  <a:schemeClr val="tx2"/>
                </a:solidFill>
              </a:rPr>
              <a:t>Temi 12-16 (area completata)</a:t>
            </a:r>
            <a:endParaRPr lang="en-US" sz="1200" dirty="0"/>
          </a:p>
        </p:txBody>
      </p:sp>
      <p:sp>
        <p:nvSpPr>
          <p:cNvPr id="14" name="prossimi"/>
          <p:cNvSpPr/>
          <p:nvPr/>
        </p:nvSpPr>
        <p:spPr>
          <a:xfrm>
            <a:off x="4709160" y="1097280"/>
            <a:ext cx="3977640" cy="3429000"/>
          </a:xfrm>
          <a:prstGeom prst="roundRect">
            <a:avLst>
              <a:gd name="adj" fmla="val 2133"/>
            </a:avLst>
          </a:prstGeom>
          <a:solidFill>
            <a:schemeClr val="tx1"/>
          </a:solidFill>
          <a:ln/>
        </p:spPr>
      </p:sp>
      <p:sp>
        <p:nvSpPr>
          <p:cNvPr id="15" name="Text 12"/>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PROSSIMA AREA</a:t>
            </a:r>
            <a:endParaRPr lang="en-US" sz="1200" dirty="0"/>
          </a:p>
        </p:txBody>
      </p:sp>
      <p:sp>
        <p:nvSpPr>
          <p:cNvPr id="16" name="Text 13"/>
          <p:cNvSpPr txBox="1"/>
          <p:nvPr/>
        </p:nvSpPr>
        <p:spPr>
          <a:xfrm>
            <a:off x="4937760" y="1572768"/>
            <a:ext cx="3566160" cy="457200"/>
          </a:xfrm>
          <a:prstGeom prst="rect">
            <a:avLst/>
          </a:prstGeom>
          <a:noFill/>
          <a:ln/>
        </p:spPr>
        <p:txBody>
          <a:bodyPr wrap="square" lIns="0" tIns="0" rIns="0" bIns="0" rtlCol="0" anchor="t"/>
          <a:lstStyle/>
          <a:p>
            <a:pPr indent="0" marL="0">
              <a:buNone/>
            </a:pPr>
            <a:r>
              <a:rPr lang="en-US" sz="1500" b="1" dirty="0">
                <a:solidFill>
                  <a:schemeClr val="bg1"/>
                </a:solidFill>
              </a:rPr>
              <a:t>Utilizzo responsabile dell'AI</a:t>
            </a:r>
            <a:endParaRPr lang="en-US" sz="1500" dirty="0"/>
          </a:p>
        </p:txBody>
      </p:sp>
      <p:sp>
        <p:nvSpPr>
          <p:cNvPr id="17" name="Text 14"/>
          <p:cNvSpPr txBox="1"/>
          <p:nvPr/>
        </p:nvSpPr>
        <p:spPr>
          <a:xfrm>
            <a:off x="4937760" y="2057400"/>
            <a:ext cx="3566160" cy="594360"/>
          </a:xfrm>
          <a:prstGeom prst="rect">
            <a:avLst/>
          </a:prstGeom>
          <a:noFill/>
          <a:ln/>
        </p:spPr>
        <p:txBody>
          <a:bodyPr wrap="square" lIns="0" tIns="0" rIns="0" bIns="0" rtlCol="0" anchor="t"/>
          <a:lstStyle/>
          <a:p>
            <a:pPr indent="0" marL="0">
              <a:buNone/>
            </a:pPr>
            <a:r>
              <a:rPr lang="en-US" sz="1200" i="1" dirty="0">
                <a:solidFill>
                  <a:schemeClr val="accent3"/>
                </a:solidFill>
              </a:rPr>
              <a:t>Temi 17 e 18: dati, sicurezza, persone, norme, responsabilità, governance</a:t>
            </a:r>
            <a:endParaRPr lang="en-US" sz="1200" dirty="0"/>
          </a:p>
        </p:txBody>
      </p:sp>
      <p:sp>
        <p:nvSpPr>
          <p:cNvPr id="18" name="Text 15"/>
          <p:cNvSpPr txBox="1"/>
          <p:nvPr/>
        </p:nvSpPr>
        <p:spPr>
          <a:xfrm>
            <a:off x="4937760" y="278892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 RIPRENDERE</a:t>
            </a:r>
            <a:endParaRPr lang="en-US" sz="1200" dirty="0"/>
          </a:p>
        </p:txBody>
      </p:sp>
      <p:sp>
        <p:nvSpPr>
          <p:cNvPr id="19" name="Text 16"/>
          <p:cNvSpPr txBox="1"/>
          <p:nvPr/>
        </p:nvSpPr>
        <p:spPr>
          <a:xfrm>
            <a:off x="4937760" y="3108960"/>
            <a:ext cx="356616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Lo Shadow AI dal punto di vista dei rischi e delle regole</a:t>
            </a:r>
            <a:endParaRPr lang="en-US" sz="1300" dirty="0"/>
          </a:p>
          <a:p>
            <a:pPr marL="177800" indent="-177800">
              <a:spcAft>
                <a:spcPts val="500"/>
              </a:spcAft>
              <a:buSzPct val="100000"/>
              <a:buChar char="•"/>
            </a:pPr>
            <a:r>
              <a:rPr lang="en-US" sz="1300" dirty="0">
                <a:solidFill>
                  <a:schemeClr val="bg1"/>
                </a:solidFill>
              </a:rPr>
              <a:t>Le condizioni di esclusione del Tema 15</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05840"/>
            <a:ext cx="7498080" cy="32461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Rogers, E. M. (2003). Diffusion of Innovations, 5a ed. Free Press (ed. orig. 1962).</a:t>
            </a:r>
            <a:endParaRPr lang="en-US" sz="1100" dirty="0"/>
          </a:p>
          <a:p>
            <a:pPr marL="177800" indent="-177800">
              <a:spcAft>
                <a:spcPts val="600"/>
              </a:spcAft>
              <a:buSzPct val="100000"/>
              <a:buChar char="•"/>
            </a:pPr>
            <a:r>
              <a:rPr lang="en-US" sz="1100" dirty="0">
                <a:solidFill>
                  <a:schemeClr val="tx1"/>
                </a:solidFill>
              </a:rPr>
              <a:t>Davis, F. D. (1989). Perceived Usefulness, Perceived Ease of Use, and User Acceptance of Information Technology. MIS Quarterly, 13(3), 319-340.</a:t>
            </a:r>
            <a:endParaRPr lang="en-US" sz="1100" dirty="0"/>
          </a:p>
          <a:p>
            <a:pPr marL="177800" indent="-177800">
              <a:spcAft>
                <a:spcPts val="600"/>
              </a:spcAft>
              <a:buSzPct val="100000"/>
              <a:buChar char="•"/>
            </a:pPr>
            <a:r>
              <a:rPr lang="en-US" sz="1100" dirty="0">
                <a:solidFill>
                  <a:schemeClr val="tx1"/>
                </a:solidFill>
              </a:rPr>
              <a:t>Venkatesh, V. et al. (2003). User Acceptance of Information Technology: Toward a Unified View. MIS Quarterly, 27(3), 425-478.</a:t>
            </a:r>
            <a:endParaRPr lang="en-US" sz="1100" dirty="0"/>
          </a:p>
          <a:p>
            <a:pPr marL="177800" indent="-177800">
              <a:spcAft>
                <a:spcPts val="600"/>
              </a:spcAft>
              <a:buSzPct val="100000"/>
              <a:buChar char="•"/>
            </a:pPr>
            <a:r>
              <a:rPr lang="en-US" sz="1100" dirty="0">
                <a:solidFill>
                  <a:schemeClr val="tx1"/>
                </a:solidFill>
              </a:rPr>
              <a:t>Baldwin, T. T., Ford, J. K. (1988). Transfer of Training: A Review and Directions for Future Research. Personnel Psychology, 41(1), 63-105.</a:t>
            </a:r>
            <a:endParaRPr lang="en-US" sz="1100" dirty="0"/>
          </a:p>
          <a:p>
            <a:pPr marL="177800" indent="-177800">
              <a:spcAft>
                <a:spcPts val="600"/>
              </a:spcAft>
              <a:buSzPct val="100000"/>
              <a:buChar char="•"/>
            </a:pPr>
            <a:r>
              <a:rPr lang="en-US" sz="1100" dirty="0">
                <a:solidFill>
                  <a:schemeClr val="tx1"/>
                </a:solidFill>
              </a:rPr>
              <a:t>Kirkpatrick, D. L. (1994). Evaluating Training Programs: The Four Levels. Berrett-Koehler.</a:t>
            </a:r>
            <a:endParaRPr lang="en-US" sz="1100" dirty="0"/>
          </a:p>
          <a:p>
            <a:pPr marL="177800" indent="-177800">
              <a:spcAft>
                <a:spcPts val="600"/>
              </a:spcAft>
              <a:buSzPct val="100000"/>
              <a:buChar char="•"/>
            </a:pPr>
            <a:r>
              <a:rPr lang="en-US" sz="1100" dirty="0">
                <a:solidFill>
                  <a:schemeClr val="tx1"/>
                </a:solidFill>
              </a:rPr>
              <a:t>Edmondson, A. (1999). Psychological Safety and Learning Behavior in Work Teams. Administrative Science Quarterly, 44(2), 350-383.</a:t>
            </a:r>
            <a:endParaRPr lang="en-US" sz="1100" dirty="0"/>
          </a:p>
          <a:p>
            <a:pPr marL="177800" indent="-177800">
              <a:spcAft>
                <a:spcPts val="600"/>
              </a:spcAft>
              <a:buSzPct val="100000"/>
              <a:buChar char="•"/>
            </a:pPr>
            <a:r>
              <a:rPr lang="en-US" sz="1100" dirty="0">
                <a:solidFill>
                  <a:schemeClr val="tx1"/>
                </a:solidFill>
              </a:rPr>
              <a:t>Microsoft e LinkedIn (2024). Work Trend Index: AI at Work Is Here. Now Comes the Hard Part. Per l'uso di strumenti personali.</a:t>
            </a:r>
            <a:endParaRPr lang="en-US" sz="1100" dirty="0"/>
          </a:p>
          <a:p>
            <a:pPr marL="177800" indent="-177800">
              <a:spcAft>
                <a:spcPts val="600"/>
              </a:spcAft>
              <a:buSzPct val="100000"/>
              <a:buChar char="•"/>
            </a:pPr>
            <a:r>
              <a:rPr lang="en-US" sz="1100" dirty="0">
                <a:solidFill>
                  <a:schemeClr val="tx1"/>
                </a:solidFill>
              </a:rPr>
              <a:t>Gli esempi aziendali e i numeri delle slide sono inventati a scopo didattico.</a:t>
            </a:r>
            <a:endParaRPr lang="en-US" sz="11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76</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16: Adozione dell'AI e cambiamento organizzativo</dc:title>
  <dc:subject>Percorso AI Literacy</dc:subject>
  <dc:creator>Percorso AI Literacy</dc:creator>
  <cp:lastModifiedBy>Percorso AI Literacy</cp:lastModifiedBy>
  <cp:revision>1</cp:revision>
  <dcterms:created xsi:type="dcterms:W3CDTF">2026-10-09T13:59:34Z</dcterms:created>
  <dcterms:modified xsi:type="dcterms:W3CDTF">2026-10-09T13:59:34Z</dcterms:modified>
</cp:coreProperties>
</file>