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7b295276-f693-94e0-9777-ff78a02ea2fc}">
          <p14:sldIdLst>
            <p14:sldId id="256"/>
            <p14:sldId id="257"/>
            <p14:sldId id="258"/>
          </p14:sldIdLst>
        </p14:section>
        <p14:section name="6.1 Fondamenti" id="{7cd6a184-8398-02cf-1f56-5f6969554e54}">
          <p14:sldIdLst>
            <p14:sldId id="259"/>
            <p14:sldId id="260"/>
            <p14:sldId id="261"/>
            <p14:sldId id="262"/>
            <p14:sldId id="263"/>
            <p14:sldId id="264"/>
            <p14:sldId id="265"/>
          </p14:sldIdLst>
        </p14:section>
        <p14:section name="6.2 Elementi di una richiesta" id="{2ce19f89-46b6-0b17-df57-ccf075a89931}">
          <p14:sldIdLst>
            <p14:sldId id="266"/>
            <p14:sldId id="267"/>
            <p14:sldId id="268"/>
            <p14:sldId id="269"/>
            <p14:sldId id="270"/>
            <p14:sldId id="271"/>
          </p14:sldIdLst>
        </p14:section>
        <p14:section name="6.3 Il contesto" id="{3bb3d906-920f-4418-5bc2-e1dc62d8c2c6}">
          <p14:sldIdLst>
            <p14:sldId id="272"/>
            <p14:sldId id="273"/>
            <p14:sldId id="274"/>
            <p14:sldId id="275"/>
            <p14:sldId id="276"/>
            <p14:sldId id="277"/>
          </p14:sldIdLst>
        </p14:section>
        <p14:section name="6.4 Tecniche fondamentali" id="{a1c793a6-b45e-83b3-d2bd-36ce9b97a353}">
          <p14:sldIdLst>
            <p14:sldId id="278"/>
            <p14:sldId id="279"/>
            <p14:sldId id="280"/>
            <p14:sldId id="281"/>
            <p14:sldId id="282"/>
            <p14:sldId id="283"/>
          </p14:sldIdLst>
        </p14:section>
        <p14:section name="6.5 Prompting iterativo" id="{8d3a8c56-2dc7-4282-f456-9d6cbb52ec02}">
          <p14:sldIdLst>
            <p14:sldId id="284"/>
            <p14:sldId id="285"/>
            <p14:sldId id="286"/>
            <p14:sldId id="287"/>
            <p14:sldId id="288"/>
            <p14:sldId id="289"/>
            <p14:sldId id="290"/>
          </p14:sldIdLst>
        </p14:section>
        <p14:section name="6.6 Formato e struttura" id="{e6b0027e-2363-38a8-708d-496b22110f9c}">
          <p14:sldIdLst>
            <p14:sldId id="291"/>
            <p14:sldId id="292"/>
            <p14:sldId id="293"/>
            <p14:sldId id="294"/>
            <p14:sldId id="295"/>
          </p14:sldIdLst>
        </p14:section>
        <p14:section name="6.7 Attività professionali" id="{49dfb2b3-31bf-5179-4be3-17be55295174}">
          <p14:sldIdLst>
            <p14:sldId id="296"/>
            <p14:sldId id="297"/>
            <p14:sldId id="298"/>
            <p14:sldId id="299"/>
            <p14:sldId id="300"/>
            <p14:sldId id="301"/>
            <p14:sldId id="302"/>
          </p14:sldIdLst>
        </p14:section>
        <p14:section name="6.8 Istruzioni riutilizzabili" id="{4bb917a8-5e87-853d-285d-ee824fc4f56f}">
          <p14:sldIdLst>
            <p14:sldId id="303"/>
            <p14:sldId id="304"/>
            <p14:sldId id="305"/>
            <p14:sldId id="306"/>
            <p14:sldId id="307"/>
            <p14:sldId id="308"/>
          </p14:sldIdLst>
        </p14:section>
        <p14:section name="Conclusioni" id="{d694480e-d679-d8b5-8370-e63603ed3c9a}">
          <p14:sldIdLst>
            <p14:sldId id="309"/>
            <p14:sldId id="310"/>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sesto tema, il più operativo dell'area 'Interagire con l'AI'. Nel Tema 5 abbiamo visto il senso del dialogo con l'AI, i ruoli che può assumere, la collaborazione e i livelli di delega. Ora passiamo al metodo: come formulare richieste efficaci, come dare il contesto giusto, quali tecniche usare, come costruire il risultato per passi, come ottenere il formato più utile, come applicare tutto questo alle attività professionali e come rendere riutilizzabili le istruzioni che funzionano. Il messaggio del modulo: il prompting è la capacità di collaborare efficacemente con l'AI per trasformare obiettivi, informazioni e idee in risultati utili. Non è un repertorio di formule magiche: insegna principi trasferibili tra strumenti diversi. Nota per il relatore: i contenuti sono stati verificati a ottobre 2026 rispetto alle guide al prompting dei principali fornitori, che vengono aggiornate con l'evoluzione dei modelli; ricontrollarle prima di ogni edizione. Il modulo si presta molto alla pratica: quando possibile, mostrare gli esempi dal vivo su uno strumento autorizzato dall'azienda, senza inserire dati riservati.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sviluppare la capacità di formulare richieste efficaci, dare un contesto pertinente, usare tecniche diverse in modo proporzionato e migliorare progressivamente i risultati dialogando con il sistema. Il messaggio centrale, che ritroveremo in tutto il modulo: il prompting è la capacità di collaborare efficacemente con l'AI per trasformare obiettivi, informazioni e idee in risultati utili. Collaborare significa che il risultato nasce da un lavoro comune: la persona porta il problema, il contesto, i criteri e il giudizio; il sistema porta velocità, ampiezza di conoscenze generali e capacità di produrre e rielaborare testi, dati e idee. Non ci sono formule rigide da imparare a memoria: ci sono principi che funzionano con strumenti diversi e che si adattano al compito. Una richiesta ben costruita rende il risultato molto più utile; per i contenuti importanti resta buona pratica verificare, in proporzione a ciò che è in gioco.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percorso segue il lavoro reale di chi usa l'AI, in quattro passi, ciascuno con due sottotemi. Primo: definire, cioè capire che cos'è un prompt e quali elementi rendono efficace una richiesta, a partire dal problema da risolvere (6.1 e 6.2). Secondo: contesto e tecnica, cioè dare le informazioni che cambiano il risultato e scegliere lo strumento proporzionato al compito (6.3 e 6.4). Terzo: dialogare e dare forma, cioè costruire il risultato per passi con feedback specifici e ottenere un formato subito utilizzabile (6.5 e 6.6). Quarto: applicare e riutilizzare, cioè adattare il metodo alle attività professionali e trasformare ciò che funziona in istruzioni riutilizzabili (6.7 e 6.8). Sette sottotemi hanno priorità alta, l'ultimo media. Vanno compresi e applicati: definizione del problema, struttura della richiesta, contesto, istruzioni chiare, iterazione e feedback. Vanno conosciuti e sperimentati: zero-shot, few-shot, scomposizione, alternative, output strutturati, template. Vanno solo accennati: prompt engineering specialistico, ottimizzazione sistematica, tecniche per architetture specifiche. Confini: non ripetiamo il funzionamento tecnico del Tema 2 né l'analisi degli errori del Tema 3; le metodologie di verifica sono l'oggetto del Tema 7; privacy, riservatezza e sicurezza sono trattate nei Temi 14, 17 e 18, ma negli esempi evitiamo sempre di inserire dati riservati in strumenti non autorizzati.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dai fondamenti, da comprendere bene: che cos'è un prompt e quali forme può assumere, come cambia il risultato quando la richiesta si arricchisce delle informazioni giuste, quali qualità rendono chiara una richiesta, come aumentare la qualità delle risposte e in che cosa il prompting differisce dalla programmazione tradizionale. Senza ripetere il funzionamento tecnico visto nel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prompt è il testo con cui comunichiamo a un sistema AI che cosa vogliamo, insieme alle informazioni che servono: obiettivi, cioè che cosa vogliamo ottenere; aspettative, cioè come dovrebbe essere il risultato; informazioni, cioè il materiale su cui lavorare. Nel Tema 2 abbiamo visto che il modello riceve anche altre informazioni, come le istruzioni di sistema e la cronologia, ma il prompt è la parte che controlliamo direttamente. Scrivere un prompt assomiglia a dare un incarico a un collaboratore capace, molto rapido, con un'ampia cultura generale, che però non conosce la nostra situazione: più l'incarico è chiaro, più il risultato si avvicina a ciò che serve. Un prompt può assumere tre forme. La domanda chiede un'informazione o una spiegazione: 'Che differenza c'è tra un contratto di appalto e uno di somministrazione?'. L'istruzione indica come comportarsi o impostare il lavoro: 'Rispondi in modo sintetico, comprensibile a chi non ha una formazione giuridica'. La richiesta di esecuzione chiede di produrre qualcosa: 'Riassumi il documento allegato in dieci punti'. Le richieste efficaci spesso combinano le tre forme: un compito, con istruzioni su come svolgerlo. Riconoscere la forma aiuta a capire che cosa manca: una domanda senza istruzioni può ricevere una risposta troppo lunga o tecnica; una richiesta di esecuzione senza indicazioni sul risultato atteso può produrre qualcosa di generico. Il termine 'prompt engineering' indica l'insieme delle tecniche per formulare richieste efficaci; qui ci occupiamo di quelle utili a chi usa l'AI nel lavoro quotidiano.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un esempio completo, in tre passaggi: questa slide mostra i primi due, la successiva il confronto dei risultati. Primo passaggio, la richiesta generica: 'Scrivi un'email per sollecitare un pagamento'. È una richiesta legittima, e il sistema produrrà un'email corretta nella forma, ma non sa a chi è rivolta, quanto è il ritardo, che relazione c'è con il cliente, che cosa vogliamo ottenere. Secondo passaggio, la richiesta migliorata: aggiungiamo quattro informazioni, evidenziate in slide. L'obiettivo: ottenere il pagamento senza compromettere la relazione. Il contesto: primo sollecito, fattura scaduta da trenta giorni, cliente storico e finora puntuale. Il destinatario: il responsabile amministrativo. Il formato: oggetto e al massimo otto righe, tono cortese ma chiaro, con la proposta di una breve telefonata. Sono quattro righe in più, che richiedono un minuto. Si noti che la richiesta non contiene dati riservati: nome del cliente, numero e importo della fattura si inseriscono dopo, nel testo finale. È una buona abitudine, coerente con le regole sull'uso di dati riservati in strumenti non autorizzati.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Terzo passaggio: il confronto dei risultati. I due testi in slide sono output illustrativi, scritti per il corso per rappresentare in modo tipico ciò che si ottiene con le due richieste; non sono stati generati da un modello specifico. Il consiglio è di ripetere la prova dal vivo con lo strumento autorizzato: i testi saranno diversi, ma la differenza tra le due versioni sarà simile. Il primo risultato è corretto nella forma ma impersonale: potrebbe essere inviato a chiunque, e con un cliente storico rischia di suonare freddo. Il secondo si avvicina a ciò che serve, e ogni miglioramento dipende da un'informazione aggiunta. Il contesto, cliente storico e puntuale, ha prodotto un tono che riconosce la relazione e ipotizza una svista. Il destinatario ha orientato il registro. L'obiettivo ha portato a una proposta concreta, la telefonata, invece di un semplice richiamo. Il formato ha prodotto un oggetto chiaro e un testo breve. Il messaggio didattico: non abbiamo usato formule speciali, abbiamo dato al sistema le informazioni che un collega avrebbe chiesto. E il risultato richiede meno correzioni. Domanda per l'aula: quale altra informazione cambierebbe ancora il testo? Per esempio, se esiste già un contatto diretto con il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qualità caratterizzano una buona richiesta. La chiarezza: la richiesta si può interpretare in un solo modo; non contiene termini vaghi come 'breve', 'professionale', 'migliora', senza precisare che cosa significano. La specificità: indica ciò che conta per quel compito, come destinatario, scopo, formato, vincoli; non lascia al sistema scelte importanti che preferiremmo fare noi. La pertinenza: contiene le informazioni utili e non quelle superflue o fuorvianti. Il contrario di queste qualità sono l'ambiguità, le informazioni mancanti e il rumore. Quando la richiesta è ambigua, il sistema sceglie un'interpretazione, spesso la più comune; quando mancano informazioni, completa con ipotesi ragionevoli, che però non sempre dichiara. Il risultato può essere sensato ma non adatto. Un test pratico, molto efficace in aula: rileggere la richiesta immaginando di darla a un collega competente che non sa nulla della situazione. Che domande farebbe? Le risposte a quelle domande sono ciò che manca. Domanda di verifica: prendete una richiesta che avete fatto di recente all'AI. Supera il test del collega?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qualità della richiesta incide molto sull'utilità del risultato: sulla pertinenza al compito, sull'aderenza a obiettivi e vincoli, su formato, tono e livello di dettaglio, e quindi sul numero di correzioni necessarie. L'output tende a essere generico quanto l'input. Tre comportamenti aiutano a ottenere risposte migliori. Primo: fornire le informazioni pertinenti. Il sistema ha un'ampia conoscenza generale, ma non conosce la nostra situazione, i nostri documenti, le decisioni già prese: ciò che serve va fornito. Secondo: chiedere chiarimenti quando necessario, in entrambe le direzioni. Possiamo invitare il sistema a farci domande se mancano informazioni, e possiamo chiedergli di spiegare un passaggio o di indicare su quali ipotesi si basa. Lo vedremo nel 6.3. Terzo: verificare i contenuti in proporzione all'importanza del compito. Una bozza di email interna richiede una rilettura; una sintesi contrattuale da cui dipende una decisione richiede un controllo sulla fonte. Il prompting rende il risultato più utile; la verifica, quando serve, lo rende utilizzabile con fiducia. Le metodologie di verifica sono l'oggetto del Tema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prompting viene talvolta descritto come programmazione in linguaggio naturale. Il paragone è utile, ma va precisato. Nella programmazione tradizionale si scrivono istruzioni in un linguaggio formale, con una sintassi rigida, che il programma esegue secondo la logica del codice. Il comportamento del software non dipende però solo dal codice: dipende anche dai dati in ingresso, dallo stato del sistema e dall'ambiente in cui gira. Nel prompting si usano prevalentemente richieste in linguaggio naturale, che il modello interpreta: per questo la stessa richiesta può produrre risultati diversi, e le istruzioni sono seguite tanto meglio quanto più sono chiare, coerenti e non in conflitto tra loro. Ne derivano due indicazioni pratiche. Primo: ciascun approccio ha i suoi punti di forza. Per regole fisse e calcoli esatti, il software tradizionale e gli strumenti di calcolo restano la scelta naturale; per testi, linguaggio e compiti aperti, l'AI generativa offre una flessibilità che il codice tradizionale non ha. Secondo: i due approcci sono complementari. Molti assistenti AI scrivono ed eseguono codice per fare calcoli, e molti software integrano l'AI generativa nelle loro funzioni. Nel prompting contano soprattutto qualità comunicative: chiarezza, contesto, esempi, le stesse che servono per spiegare un compito a una persona. Il prompt comunica obiettivi e aspettative; non è un comando che assicura un risultato identico e sempre corretto.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ora il quadro completo degli elementi che possono comporre una richiesta efficace. È un sottotema da comprendere e applicare, complementare ai due successivi: qui presentiamo il quadro, nel 6.3 approfondiamo il contesto, nel 6.4 le tecniche. Partiamo da un passo che precede la scrittura: la definizione del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di scrivere la richiesta conviene capire quale problema si vuole risolvere. Molti prompt deludenti non sono scritti male: sono la risposta giusta alla domanda sbagliata. Tre domande aiutano. Quale problema voglio risolvere? Per esempio, non 'scrivere una presentazione', ma 'ottenere l'approvazione di un investimento'. A quale scopo serve il risultato? Che cosa ne farò, chi lo userà, quale decisione o azione deve rendere possibile? Con quali criteri di successo? Come capirò che il risultato è buono: che cosa deve contenere, che cosa lo renderebbe inutilizzabile? Le risposte sono già metà del prompt, e forniscono anche il criterio per valutare il risultato. Quando non si riesce a rispondere, il problema non è ancora chiaro: in questo caso, come visto nel Tema 5, il dialogo con l'AI aiuta a chiarirlo, chiedendo al sistema di porci domande prima di procedere.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gli otto elementi che possono comporre una richiesta efficace, ciascuno con un esempio. Il problema e l'obiettivo, che abbiamo appena visto. Il compito: che cosa deve fare concretamente il sistema, per esempio scrivere, riassumere, confrontare, classificare. Il contesto e il destinatario: la situazione, le informazioni di riferimento, chi leggerà o userà il risultato. I vincoli e i requisiti: lunghezza, fonti da usare, cose da includere o evitare, regole da rispettare, come 'usa solo le informazioni del documento' o 'rispetta la terminologia del glossario'. Il formato e il livello di dettaglio: come deve essere strutturato il risultato; lo approfondiremo nel 6.6. I criteri di successo: che cosa rende buono il risultato, per esempio 'leggibile ad alta voce in un minuto'; orientano il lavoro del sistema e ci danno un metro per valutarlo. Il ruolo e la prospettiva: da quale punto di vista affrontare il compito. Precisazione importante: non tutti gli elementi servono sempre. Una richiesta efficace rende espliciti quelli rilevanti per quel compito, e può essere lunga una riga o una pagina. Esercizio suggerito: riscrivere una propria richiesta recente usando la lista come controllo, e notare quali elementi mancavano e quali erano superflui.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una richiesta completa, scomposta per rendere visibili gli elementi: è lo stesso caso degli esempi della lista di controllo. Il compito: preparare una sintesi del report trimestrale sui reclami. Lo scopo: la sintesi servirà alla riunione di direzione per decidere su quali problemi intervenire per primi. Il destinatario: dirigenti che non conoscono i dettagli operativi. I vincoli: massimo una pagina, solo informazioni presenti nel report. Il formato: tre problemi principali, ciascuno con dimensione, tendenza e possibile causa, poi una raccomandazione. Il criterio di successo: un dirigente deve poter capire le priorità in due minuti. Ogni elemento cambia il risultato: senza il destinatario, la sintesi potrebbe essere troppo tecnica; senza lo scopo, descrittiva invece che orientata alla decisione; senza il vincolo sulle fonti, potrebbe includere considerazioni generali non presenti nel report. Nella pratica, la richiesta si scrive di seguito, in poche righe: la scomposizione serve solo a renderla leggibile in aula. Il report, naturalmente, va condiviso solo con strumenti autorizzati a trattarlo.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Ruoli e prospettive sono uno strumento semplice e molto utile. Assegnare un ruolo, come 'agisci come un revisore attento alla chiarezza' o 'rispondi come un formatore che spiega a principianti', orienta tono, lessico, livello di dettaglio e aspetti considerati. Indicare una prospettiva è spesso ancora più efficace: 'valuta questa proposta dal punto di vista di un cliente attento ai costi', 'rileggi il testo come lo leggerebbe un nuovo assunto'. Le prospettive fanno emergere aspetti che altrimenti resterebbero in ombra, e si possono combinare chiedendo più punti di vista sullo stesso contenuto. Due indicazioni per usarli bene, già incontrate nel Tema 5. Il ruolo orienta lo stile e l'impostazione, ma non aggiunge conoscenze che il sistema non ha: il risultato si valuta come qualsiasi altro. E il ruolo funziona meglio insieme agli altri elementi: 'sei un esperto di marketing' da solo produce un risultato generico; con obiettivo, destinatario e contesto diventa un'indicazione preziosa.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prompt efficace rende espliciti i requisiti rilevanti; non deve necessariamente essere lungo o contenere tutti gli elementi. La complessità della richiesta è proporzionata al compito. Per compiti semplici, una richiesta breve è perfettamente adeguata: 'Traduci in inglese questo paragrafo mantenendo il tono formale'. Aggiungere ruolo, criteri e formato sarebbe inutile. Per compiti complessi, con un destinatario specifico e requisiti precisi, conviene una richiesta strutturata, come quella dell'anatomia. Due errori opposti da evitare. La richiesta troppo povera per un compito complesso, che produce risultati generici e molte iterazioni. E la richiesta sovraccarica: istruzioni ridondanti, vincoli in conflitto, informazioni non pertinenti, che possono confondere il sistema e rendere il prompt difficile da mantenere. La domanda da porsi: quali informazioni cambierebbero il risultato in modo significativo? Quelle vanno incluse; le altre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contesto è l'elemento che più spesso fa la differenza tra un risultato generico e uno utile. In questo sottotema, da comprendere e applicare, vediamo quali informazioni fornire e con quali qualità, come organizzarle, come far emergere le informazioni mancanti, come gestire quelle contraddittorie e come lavorare bene con materiali lunghi, senza ripetere la spiegazione tecnica del Tema 2. I documenti aziendali vanno condivisi solo con strumenti autorizzati a trattarli.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Possiamo distinguere tre tipi di contesto. Le informazioni preliminari: la situazione di partenza, i fatti rilevanti, le definizioni usate in azienda, le decisioni già prese. Il contesto aziendale e professionale: organizzazione, settore, pubblico, prassi, tono abituale, vincoli interni. I documenti e i materiali: testi, dati, esempi di lavori precedenti, linee guida, modelli da seguire. Il sistema ha un'ampia conoscenza generale, ma ciò che è specifico della nostra situazione e cambierebbe il risultato va fornito. Più informazioni, però, non significano automaticamente risultati migliori: il contesto efficace ha tre qualità. È pertinente: contiene ciò che serve per quel compito; se alleghiamo dieci documenti per una domanda che ne riguarda uno, la risposta può mescolarli. È sufficientemente completo: tutto ciò che cambierebbe il risultato, non tutto ciò che sappiamo. È comprensibile: documenti leggibili, informazioni ordinate, sigle interne spiegate, dati in formato chiaro. L'esempio in slide: 'proponi un piano di formazione sull'AI' produce un piano generico; aggiungere numero di dipendenti, familiarità con il digitale, tempo disponibile e regole interne esistenti produce un piano su misura. Domanda di verifica: per un compito ricorrente del vostro lavoro, quali informazioni sono indispensabili e quali aggiungete per abitudine?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una richiesta contiene molto materiale, è importante che il sistema capisca il ruolo di ciascuna parte. Le informazioni sono il materiale su cui lavorare: un documento, dei dati, una descrizione della situazione. Le istruzioni dicono che cosa fare con quelle informazioni. Gli esempi mostrano come dovrebbe essere il risultato. Se i tre tipi si mescolano, il sistema può confonderli: per esempio trattare una frase di un documento come un'istruzione, o copiare un esempio invece di usarlo come modello. Pensiamo a un documento allegato che contiene la frase 'rispondere entro cinque giorni': è un contenuto da analizzare, non un'istruzione per il sistema. La soluzione è semplice: separare le parti con titoli o delimitatori, e dire esplicitamente il ruolo di ciascuna. 'Di seguito trovi il testo da analizzare', 'Questo è un esempio del formato che desidero, non del contenuto'. La tecnica della delimitazione sarà ripresa nel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Spesso non sappiamo di aver omesso informazioni importanti, e il sistema, se non glielo chiediamo, tende a procedere completando con ipotesi ragionevoli. Possiamo cambiare questo comportamento con una o due istruzioni. La prima: chiedere domande di chiarimento prima di procedere. Invece di chiedere direttamente il risultato, si invita il sistema a porre le domande più importanti, e a procedere dopo le risposte. È particolarmente utile in tre situazioni: quando il compito è complesso, quando il risultato ha conseguenze importanti, quando stiamo ancora definendo che cosa ci serve. Due accorgimenti la rendono efficace: limitare il numero di domande, per esempio al massimo tre, e chiedere di procedere direttamente se le informazioni bastano, per non rallentare i compiti semplici. La seconda istruzione: chiedere di distinguere ciò che deriva dalle informazioni fornite da ciò che è un'ipotesi del sistema, così da poterla verificare o correggere. Il beneficio è duplice: le lacune emergono prima, invece di nascondersi in un risultato apparentemente completo, e le ipotesi diventano visibili. Il sistema non sempre individua ogni lacuna, ma la trasparenza migliora molto. Questa tecnica è richiamata anche nella guida alla scelta delle tecniche del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 spesso che il contesto contenga informazioni in contrasto: due versioni di una procedura, documenti con dati diversi, una richiesta che dice una cosa e un allegato che ne dice un'altra. I modelli attuali sono in grado di riconoscere le contraddizioni, soprattutto quando si chiede loro di cercarle; ma non sempre le segnalano spontaneamente, e possono scegliere una delle versioni o combinarle senza dirlo. La soluzione è renderlo un compito esplicito. Prima di tutto, prevenire: fornire le versioni aggiornate dei documenti, eliminare il materiale superato, rileggere le proprie istruzioni. Poi indicare una regola di priorità: 'se il documento e le mie indicazioni sono in conflitto, segui le mie indicazioni', oppure 'prevale la versione più recente'. Infine chiedere di individuare le incongruenze e di distinguere le fonti: 'se trovi informazioni in contrasto, elencale indicando da quale documento proviene ciascuna, e chiedimi quale seguire'. Quest'ultima istruzione è particolarmente utile con documenti che non si conoscono bene, perché trasforma una contraddizione nascosta in un'informazione utile, e spesso fa emergere problemi reali nei documenti stessi.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2 abbiamo visto che cos'è la finestra di contesto e perché è limitata. Qui ci interessano le strategie pratiche, che aiutano anche con gli strumenti più capienti. Primo: con documenti molto lunghi o molti allegati, conviene indicare su quali parti concentrarsi, oppure fornire solo le sezioni pertinenti, perché il sistema può dare meno peso ad alcune parti. Secondo: in una conversazione lunga, le istruzioni date all'inizio possono perdere peso; se sono importanti, conviene ripeterle o riassumerle quando si passa a un nuovo compito. Terzo: per lavori su molti documenti, è spesso più efficace procedere per parti, per esempio riassumendo un documento alla volta e poi chiedendo una sintesi complessiva. Quarto: quando la conversazione diventa lunga o confusa, aprire una nuova conversazione con un riepilogo essenziale. Le soglie dipendono dallo strumento, e molte applicazioni gestiscono automaticamente parte di questi aspetti, ma i principi restano validi.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alle tecniche, da conoscere e sperimentare. Sono strategie per guidare il sistema, complementari agli elementi del 6.2 e al contesto del 6.3. Partiamo da una guida alla scelta, poi vediamo le tecniche principali con esempi utilizzabili: zero-shot e few-shot, istruzioni strutturate e delimitazione, scomposizione, alternative e confronto con criteri. Il criterio del modulo: non formule da applicare sempre, ma strumenti da scegliere.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la cassetta degli attrezzi, con un orientamento su quando usare ciascuno strumento. Per compiti semplici e ben definiti, come tradurre, riformulare o rispondere a una domanda, basta lo zero-shot: una richiesta chiara, senza esempi. Quando serve uno stile o un formato preciso, difficile da descrivere, il few-shot, cioè alcuni esempi. Quando la richiesta ha molti elementi o sarà riutilizzata, istruzioni strutturate e delimitazione. Per compiti complessi con più fasi, la scomposizione. Per compiti creativi o decisioni con più opzioni, alternative e confronto con criteri. Quando le informazioni potrebbero essere incomplete, la richiesta di chiarimenti, che abbiamo visto nel 6.3. Le tecniche si combinano: una richiesta strutturata può contenere esempi e chiedere chiarimenti. Ma ogni tecnica aggiunge complessità, e usarle tutte sempre non migliora i risultati. La regola: iniziare con la richiesta più semplice che può funzionare, e aggiungere tecniche quando il risultato mostra che servono. Nota di attualità, verificata a ottobre 2026 sulla guida ufficiale OpenAI 'Reasoning best practices': molti modelli recenti ragionano prima di rispondere. Con questi modelli conviene provare prima senza esempi e aggiungerli solo se servono, e non è necessario chiedere di 'ragionare passo passo', perché lo fanno già; l'istruzione può perfino peggiorare il risultato. Contano di più obiettivo, contesto e criteri chiari. La scomposizione resta utile, ma per una ragione diversa: serve alla persona per controllare ogni passaggio. Esercizio suggerito: dare tre compiti diversi, per esempio una traduzione, una classificazione con categorie aziendali e la preparazione di un piano, e chiedere quale tecnica scegliere per ciascuno e perché.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Zero-shot significa chiedere al sistema di svolgere un compito senza fornire esempi, basandosi solo sulla descrizione. È il modo più comune e funziona bene per la grande maggioranza dei compiti, perché i modelli attuali sanno già svolgerne moltissimi. Few-shot significa fornire alcuni esempi, di solito da due a cinque, del risultato desiderato, prima di chiedere al sistema di svolgere il compito su un nuovo caso. Gli esempi comunicano in modo molto efficace ciò che è difficile descrivere a parole: uno stile, un formato preciso, un criterio di classificazione. L'esempio in slide è la classificazione delle richieste dei clienti: con due esempi il sistema capisce le categorie e il formato della risposta, e il risultato è pronto per essere ordinato o contato. Un accorgimento: gli esempi devono essere rappresentativi e vari, perché il sistema tende a imitarli anche in aspetti non voluti, come la lunghezza o il tipo di caso. Con categorie aziendali proprie, conviene aggiungere una breve definizione di ciascuna categoria.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una richiesta contiene molti elementi, organizzarla in sezioni ordinate la rende più chiara sia per il sistema sia per chi la scrive e la rilegge. Le istruzioni strutturate dividono la richiesta in parti con un titolo: obiettivo, contesto, compito, vincoli, formato. La delimitazione separa i contenuti da elaborare dalle istruzioni, con segni riconoscibili come linee, virgolette, titoli o etichette di apertura e chiusura. Così il sistema non confonde il testo da analizzare con le istruzioni, e ci si può riferire ai contenuti in modo preciso: 'nel testo tra le linee', 'nel documento A'. L'esempio in slide è una richiesta strutturata per rispondere a un cliente. Non serve una sintassi particolare: qualunque convenzione chiara e coerente funziona. Le guide dei fornitori suggeriscono convenzioni specifiche, come titoli in stile Markdown o etichette tra parentesi angolari, ma il principio è lo stesso: ordine e confini chiari. È la base dei template riutilizzabili, che vedremo nel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compito complesso affidato in una sola richiesta può dare risultati validi, ma difficili da controllare: tutto arriva insieme, e se un passaggio iniziale è impostato male, il problema si porta fino alla fine. La scomposizione divide il compito in fasi, da svolgere in sequenza, rivedendo il risultato di ciascuna prima di passare alla successiva. Prendiamo una proposta di miglioramento del processo di gestione degli ordini. Invece di chiederla in un colpo solo, si procede così: descrivere il processo attuale a partire dalle informazioni fornite; individuare i problemi principali; proporre interventi per ciascuno; valutarli secondo costo, impatto e tempi; redigere la proposta. Il vantaggio principale non è una promessa di maggiore accuratezza, ma il controllo: i risultati intermedi si possono verificare, correggere e migliorare prima di costruirci sopra, e la persona guida il percorso. Si può anche chiedere al sistema di proporre una scomposizione, da rivedere prima di procedere. La scomposizione è anche il principio su cui si basano molti flussi di lavoro con AI e agenti, trattati nel Tema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tecniche collegate, molto utili per decidere e per creare. La richiesta di alternative: invece di una sola risposta, chiedere più versioni o soluzioni. 'Proponi tre possibili titoli', 'suggerisci tre approcci diversi', 'scrivi due versioni dell'introduzione, una formale e una diretta'. Le alternative ampliano le possibilità, evitano di fermarsi alla prima idea e permettono di scegliere o combinare. Conviene chiedere esplicitamente che siano davvero diverse tra loro, altrimenti si ottengono spesso variazioni minime. Il confronto con criteri definiti: valutare le alternative secondo criteri espliciti, scelti da noi. 'Confronta le tre soluzioni secondo costo, tempi di realizzazione e impatto sui clienti, in una tabella, evidenziando i compromessi'. Definire noi i criteri rende il confronto pertinente alla nostra situazione, ed evita valutazioni su criteri generici. Il confronto aiuta a ragionare in modo ordinato; la scelta resta della persona, che conosce pesi e priorità reali.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5 abbiamo visto il valore del dialogo con l'AI. Qui sviluppiamo il metodo operativo: il prompting come conversazione, come capire che cosa migliorare, come formulare feedback efficaci, come raffinare e quando ricominciare. E chiariremo una distinzione utile: il dialogo migliora l'aderenza al bisogno, mentre la correttezza dei contenuti importanti si controlla in una fase distinta.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messaggio liberatorio per molti partecipanti: non è necessario formulare subito il prompt perfetto. Con l'AI generativa si lavora in dialogo, come con un interlocutore operativo con cui sviluppare progressivamente un lavoro. Il ciclo tipico ha cinque momenti. Una richiesta iniziale ragionevole, anche incompleta. Una prima risposta, che è già materiale di lavoro: mostra come il sistema ha capito la richiesta e fa emergere ciò che manca. Un chiarimento, nostro o del sistema: aggiungiamo informazioni, correggiamo l'interpretazione, rispondiamo alle sue domande. Un approfondimento: sviluppiamo un punto, chiediamo alternative, cambiamo forma. E infine un risultato utilizzabile. L'esempio in slide, illustrativo, mostra come la prima risposta diventi l'occasione per un chiarimento che migliora molto il risultato. Due indicazioni. Il dialogo migliora l'aderenza al bisogno: il risultato diventa sempre più simile a ciò che serve. Per i contenuti importanti, la verifica resta una fase distinta, che il dialogo non sostituisce. Spesso conviene chiedere esplicitamente al sistema di fare domande, come visto nel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far avanzare il dialogo, il passaggio chiave è l'analisi del risultato: confrontarlo con l'obiettivo e con i criteri di successo definiti all'inizio, come visto nel 6.2, e individuare con precisione che cosa non va. Se non sappiamo dire che cosa non va, non possiamo chiedere di migliorarlo. Le carenze più comuni ricadono in poche categorie, ciascuna con una domanda guida. Il contenuto: manca qualcosa, o c'è qualcosa di superfluo? Il tono o registro: è adatto al destinatario? La struttura o il formato: è quella che serve per l'uso successivo? Il livello di dettaglio: è troppo generico o troppo minuzioso? L'interpretazione del compito: il sistema ha capito che cosa volevamo? Riconoscere la categoria aiuta a formulare il feedback giusto, che vediamo nella slide successiva. Quando l'interpretazione del compito è sbagliata, spesso conviene riformulare la richiesta piuttosto che correggere il risultato.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qualità del feedback determina la qualità della revisione. Un feedback generico, come 'non mi piace, rifallo' o 'miglioralo', produce di solito un risultato diverso ma non necessariamente migliore, perché il sistema non sa che cosa cambiare. Un feedback efficace è specifico, cioè indica che cosa non va e dove; motivato, cioè spiega perché, così che il sistema possa applicare il criterio anche ad altre parti; costruttivo, cioè indica la direzione del cambiamento. La tabella mostra alcune trasformazioni. Invece di 'troppo lungo', 'riduci a metà, eliminando gli esempi e mantenendo le tre raccomandazioni'. Invece di 'non è professionale', 'usa un tono più formale, senza espressioni colloquiali'. Invece di 'manca qualcosa', 'aggiungi un paragrafo sui tempi di attuazione, che per la direzione è il punto più importante'. Un accorgimento prezioso: dire anche che cosa va bene e deve restare invariato. 'Mantieni la struttura e l'introduzione, cambia solo la conclusione'. Esercizio suggerito: prendere un risultato insoddisfacente e far scrivere un feedback generico e uno efficace, confrontando poi le due revisioni.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Oltre a correggere, il dialogo permette di fare altre tre cose. Raffinare: aggiungere i requisiti che emergono osservando i risultati. Spesso ci si accorge solo vedendo la prima versione di un vincolo implicito, per esempio che il testo non deve citare un concorrente, o che serve un certo ordine degli argomenti. Approfondire: chiedere di sviluppare un punto, aggiungere dettagli, esempi o spiegazioni: 'sviluppa il secondo punto con un esempio concreto', 'spiega meglio come hai stimato i tempi'. Riformulare: chiedere di riscrivere il risultato per un altro pubblico o con un'altra struttura, oppure riformulare la propria richiesta quando ci si accorge che era impostata male. Un suggerimento pratico: quando il dialogo fa emergere un requisito importante, conviene annotarlo e includerlo nella richiesta iniziale la volta successiva, o nel template, come vedremo nel 6.8. Così ciò che si impara in una conversazione diventa patrimonio per le successive.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Nelle conversazioni articolate arriva il momento di chiedersi se continuare a correggere o ricominciare. Conviene continuare quando il risultato si sta avvicinando a ciò che serve, le correzioni sono puntuali e il contesto accumulato è utile. Conviene ricominciare, con una nuova richiesta in una nuova conversazione, quando dopo più iterazioni il risultato non migliora; quando lo stesso errore si ripete nonostante le correzioni; quando ci si accorge che la richiesta iniziale era impostata male; quando la conversazione è diventata lunga e confusa. Ricominciare non significa perdere il lavoro fatto: si scrive una nuova richiesta che incorpora ciò che si è imparato, cioè i requisiti emersi, gli errori da evitare, la parte migliore del risultato ottenuto. Spesso una richiesta nuova e ben impostata ottiene in un passaggio ciò che dieci correzioni non avevano ottenuto. Se nemmeno così il risultato migliora, come visto nel Tema 5, probabilmente mancano informazioni essenziali o il compito richiede un altro strumento.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utile per usare bene il dialogo. L'aderenza è la corrispondenza del risultato a ciò che abbiamo chiesto: tono, formato, struttura, contenuti indicati. L'iterazione la migliora molto, ed è il motivo per cui il dialogo è così efficace. La correttezza è la corrispondenza dei contenuti ai fatti: dati, nomi, date, riferimenti, ragionamenti. Su questo l'iterazione aiuta solo in parte, per esempio quando forniamo nuove informazioni o chiediamo di indicare le fonti, ma non sostituisce un controllo. Un testo può essere perfettamente aderente nel tono e nel formato e contenere un dato da correggere; e la cura della forma può farci sembrare 'finito' un testo di cui non abbiamo ancora controllato i fatti. Anche chiedere al sistema 'sei sicuro?' non equivale a una verifica, come visto nel Tema 3. La pratica è semplice: quando il contenuto conta, controllare dati, fonti e passaggi chiave con metodi proporzionati all'importanza. Le metodologie di verifica sono l'oggetto del Tema 7. Concetto chiave del sottotema: l'iterazione migliora l'aderenza al compito; la verifica della correttezza appartiene a una fase distinta.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risultato pertinente può essere poco utile se ha la forma sbagliata: un testo lungo quando serviva una tabella, un linguaggio tecnico per un pubblico non esperto, un elenco disordinato quando serviva un formato da importare. In questo sottotema, da applicare, vediamo come guidare formato, struttura, dettaglio, tono e destinatario, con un'introduzione agli output strutturati come CSV e JSON e ai criteri verificabili.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Senza indicazioni, il sistema sceglie un formato 'medio', di solito testo con paragrafi, talvolta con titoli ed elenchi. Specificare il formato fa risparmiare molto lavoro di adattamento. Le opzioni principali: testo strutturato con titoli e paragrafi, per documenti e spiegazioni; elenchi, per passaggi, requisiti, sintesi; tabelle, per confronti e dati con più attributi; schemi, come sequenze di passaggi, gerarchie, alberi decisionali; documenti professionali, come report, verbali, email; formati strutturati, come CSV e JSON, per altri programmi. La domanda da porsi è: che cosa farò con il risultato? Se va incollato in una presentazione, servono punti brevi; se va confrontato, una tabella; se va importato in un foglio di calcolo, un CSV. Per i documenti professionali, il formato comprende la struttura delle sezioni: indicarla, come nell'esempio del report, è uno dei modi più efficaci per ottenere documenti utilizzabili. Se l'azienda ha modelli propri, fornire un modello vuoto o un esempio ben fatto senza dati riservati è la via più rapida, ed è un'applicazione del few-shot. Anche la lunghezza va indicata in modo concreto: 'una pagina', 'massimo 200 parole', piuttosto che 'breve'. Le strutture di altri documenti ricorrono nel modulo: l'email nel 6.1, il verbale nel template del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contenuto cambia forma a seconda di chi lo riceverà. Tre aspetti vanno guidati: il livello di dettaglio, il tono e lo stile, l'adattamento al destinatario, cioè il suo ruolo, le sue conoscenze, le sue priorità, ciò che deve fare dopo aver letto. L'esempio in slide mostra la stessa informazione, l'introduzione di un nuovo software per le note spese, adattata a tre destinatari: la direzione, interessata a costi, benefici e tempi; i dipendenti, interessati a che cosa cambia per loro e a come fare; l'amministrazione, interessata a controlli, scadenze e integrazione contabile. Un modo efficace per guidare questi aspetti è descrivere il destinatario invece di elencare aggettivi sul tono: 'il testo è per colleghi del magazzino che usano poco il computer' comunica più di 'semplice e chiaro'. E si possono chiedere in un solo passaggio più versioni per destinatari diversi a partire dallo stesso contenuto: è uno degli usi più apprezzati dell'AI nella comunicazione interna.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output strutturati sono formati pensati per essere letti da altri programmi, oltre che dalle persone. I due più comuni sono il CSV e il JSON. Il CSV è una tabella in formato testo, con una riga per ogni record e i valori separati da un segno, di solito virgola o punto e virgola: si apre direttamente in un foglio di calcolo. Il JSON è un formato con coppie di nomi e valori, molto usato per lo scambio di dati tra applicazioni. Sono utili anche a chi non programma, perché trasformano informazioni disordinate in dati ordinati e riutilizzabili: per esempio, estrarre da venti email dei clienti l'azienda, il prodotto richiesto e la quantità, in un CSV da aprire in un foglio di calcolo. Conviene specificare esattamente i campi, il loro ordine, il separatore e come trattare i valori mancanti. Prima di importare il risultato, conviene dare un'occhiata alla struttura, e controllare a campione i valori più importanti. L'uso di questi formati in integrazioni automatiche è solo accennato in questo modulo.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Oltre al formato generale, si possono indicare vincoli di presentazione precisi: lunghezze massime, numero di punti, presenza o assenza di titoli, lingua, convenzioni per date e numeri, terminologia da usare o evitare. Per esempio: 'date nel formato gg/mm/aaaa', 'importi in euro con due decimali', 'usa sempre il termine collaboratore, non dipendente'. Ancora più utile è formulare criteri verificabili, cioè requisiti che si possono controllare in modo oggettivo sul risultato: 'ogni azione ha un responsabile e una scadenza', 'ogni raccomandazione cita un dato del report', 'leggibile ad alta voce in un minuto'. Hanno un doppio vantaggio: orientano il sistema in modo preciso, e permettono di controllare rapidamente il risultato. Si può anche chiedere al sistema di controllarli prima di consegnare e di segnalare ciò che non è rispettato, come nell'esempio in slide; una rapida rilettura conferma il controllo. Ricordiamo infine che una tabella ordinata o un report ben impaginato rendono il risultato utilizzabile, ma la qualità della forma non dice nulla sulla correttezza dei contenuti. Esercizio suggerito: trasformare un elenco di appunti disordinati in una tabella con colonne definite dai partecipanti.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Applichiamo ora i principi alle attività professionali più comuni. Non costruiamo un catalogo di casi d'uso, oggetto dei Temi 8-11, né un repertorio di prompt da memorizzare: vediamo come gli stessi principi si adattano ad attività diverse, con richieste utilizzabili. Gli esempi sono volutamente privi di dati riservati: nella pratica, documenti e dati aziendali vanno usati solo con strumenti autorizzati.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attività professionali in cui si usa l'AI si possono ricondurre a tre famiglie, che richiedono approcci diversi. Le attività creative, come brainstorming, scrittura di contenuti, ideazione di nomi o campagne: si cercano varietà e originalità. Conviene chiedere molte alternative, indicare tono e vincoli lasciando spazio, iterare per selezionare e combinare. Le attività analitiche, come sintesi documentale, analisi di dati, confronto di alternative: si cercano accuratezza e fedeltà alle fonti. Conviene fornire i materiali, chiedere di basarsi su di essi, distinguere fatti e interpretazioni, definire criteri espliciti e verificare i punti importanti. Le attività operative, come comunicazioni standard, estrazione di dati, compilazione di documenti: si cercano coerenza e ripetibilità. Conviene usare istruzioni strutturate, esempi, formati precisi, template. Riconoscere la natura dell'attività è il primo passo per scegliere il metodo giusto.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scrittura è l'attività più diffusa. Per scrivere: dichiarare scopo e destinatario, indicare il messaggio principale, fornire i punti da trattare e i vincoli, chiedere formato e lunghezza, come abbiamo fatto con l'email di sollecito. Qui ci concentriamo sulla revisione di un testo proprio, uno degli usi più efficaci. Conviene indicare che cosa si vuole migliorare, per esempio chiarezza, sintesi, tono, correttezza linguistica, e che cosa deve restare invariato, per esempio i contenuti o la struttura: così il sistema migliora la forma senza cambiare ciò che andava bene. Un'altra richiesta utile è chiedere le modifiche principali con una breve motivazione: si mantiene il controllo e si impara. L'esempio in slide mostra una richiesta di revisione pronta da usare. Come visto nel Tema 5, partire da una propria bozza e chiedere all'AI di rivederla valorizza il pensiero originale della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L'analisi e la sintesi di documenti sono tra gli usi più utili dell'AI nel lavoro: permettono di estrarre in pochi minuti obblighi, scadenze, punti chiave da documenti lunghi. Qui la fedeltà alla fonte conta molto, e alcuni accorgimenti la rendono controllabile. Fornire il documento, invece di affidarsi alla conoscenza generale del sistema. Indicare lo scopo: una sintesi per decidere è diversa da una per informare. Chiedere di basarsi sul documento e di segnalare quando un'informazione non è presente. Chiedere riferimenti alle parti, come sezione, pagina o articolo, per poter controllare rapidamente. Distinguere ciò che il documento dice da ciò che il sistema interpreta. Per documenti lunghi, procedere per parti. L'esempio in slide è una richiesta pronta per analizzare un contratto di fornitura. Per i documenti rilevanti, i riferimenti agli articoli rendono semplice controllare sulla fonte i punti importanti, anche perché una sintesi può essere accurata frase per frase e tralasciare un aspetto rilevante.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attività vicine. Organizzare informazioni: trasformare appunti, email, messaggi in strutture ordinate, come elenchi di azioni, tabelle, schede. Qui i formati del 6.6 sono preziosi: definire colonne e campi, chiedere di non completare i dati mancanti con stime, indicare come trattare i casi ambigui. Analizzare dati: individuare tendenze, confrontare periodi, spiegare variazioni, preparare grafici. Tre accorgimenti. Quando lo strumento lo consente, chiedere che i calcoli vengano eseguiti con codice e di mostrare come sono stati fatti: molti assistenti oggi lo fanno, con risultati affidabili e controllabili. Chiedere di distinguere ciò che i dati mostrano da ciò che è un'ipotesi interpretativa: 'le vendite sono calate del 12%' è un dato, 'probabilmente per la stagionalità' è un'ipotesi, utile ma da valutare. Spiegare il significato delle colonne e delle sigle interne, che il sistema non conosce. I dati aziendali vanno caricati solo in strumenti autorizzati.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gruppo di attività orientate al pensiero, in cui l'AI è un interlocutore particolarmente prezioso. Per la ricerca: definire che cosa si cerca e con quali criteri, chiedere fonti consultabili quando lo strumento ha accesso alla ricerca, e usare i risultati come punto di partenza da approfondire. Per il brainstorming: chiedere molte idee, davvero diverse, eventualmente in categorie; indicare i vincoli senza restringere troppo; poi selezionare, combinare e sviluppare le migliori. Se le idee sembrano prevedibili, chiedere esplicitamente proposte meno convenzionali. Per il problem solving: usare la scomposizione, chiedere le possibili cause prima delle soluzioni, chiedere alternative con criteri definiti, e chiedere esplicitamente obiezioni e rischi, applicando il ruolo di interlocutore critico visto nel Tema 5. L'esempio in slide è una richiesta di problem solving in fasi, pronta da adattare. Il valore dell'AI sta nell'ampliare e strutturare il ragionamento; valutazione e scelta restano della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report, comunicazioni organizzative, offerte e altri documenti importanti, una strategia molto efficace combina scomposizione e dialogo in quattro fasi. Prima chiedere una scaletta e rivederla: è il momento in cui si decide che cosa dire, e correggere una scaletta costa molto meno che correggere un testo. Poi far sviluppare il testo sezione per sezione. Poi chiedere una revisione critica, per esempio dal punto di vista del destinatario: 'quali domande farebbe la direzione leggendo questo report?'. Infine rileggere e controllare personalmente i contenuti. Per le comunicazioni, gli elementi da dare sono il messaggio principale, il destinatario, il tono, l'azione richiesta e il canale, perché un'email, un messaggio in chat e un avviso in bacheca hanno forme diverse. L'esempio in slide mostra la richiesta della prima fase. Il metodo è lo stesso per un report trimestrale o un'offerta commerciale: cambiano contenuti e requisiti, non i principi. Concetto chiave del sottotema: il metodo si adatta allo scopo e al contesto; si imparano principi, non prompt universali. Esercizio suggerito: ciascun partecipante sceglie un'attività reale, la classifica come creativa, analitica o operativa e scrive una richiesta applicando i principi del modulo; lo sviluppiamo nell'esercitazione del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a priorità media, da comprendere e conoscere. Quando un'attività si ripete, ha senso non riscrivere ogni volta la richiesta da zero, ma costruire istruzioni riutilizzabili: template, librerie condivise, istruzioni persistenti, assistenti configurati. Vediamo come costruirle, i benefici e le poche attenzioni per mantenerle efficaci. La configurazione tecnica di sistemi complessi appartiene al Tema 11. Chiudiamo con un'esercitazione pratica che percorre tutto il modulo.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distinzione riguarda la frequenza. Un prompt occasionale serve per un'esigenza unica o rara: si scrive, si itera, si usa il risultato, e non vale la pena conservarlo. Un prompt ricorrente serve per un'attività che si ripete: il verbale delle riunioni settimanali, la risposta a un tipo di richiesta frequente, la sintesi mensile di un report, la revisione di testi secondo le regole aziendali. Per i prompt ricorrenti, riscrivere ogni volta la richiesta fa perdere tempo, fa dimenticare requisiti emersi in passato, e produce risultati che variano a seconda di chi scrive. Trasformare la richiesta in un'istruzione riutilizzabile risolve tutti e tre i problemi. Conviene farlo quando l'attività si ripete con una certa frequenza, quando la richiesta ha richiesto diverse iterazioni per funzionare bene, quando più persone svolgono la stessa attività e serve coerenza, quando il risultato deve rispettare standard precisi.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template è una richiesta riutilizzabile, con una parte fissa, cioè le istruzioni che valgono sempre, e alcune parti variabili, indicate da segnaposto da compilare ogni volta. L'esempio in slide è un template per il verbale di riunione. La parte fissa contiene il compito, il formato e le regole, come assegnare sempre un responsabile e una scadenza alle azioni e scrivere 'da definire' quando mancano. Le parti variabili, tra parentesi quadre, sono il tipo di riunione, i destinatari e gli appunti. Un buon template incorpora ciò che si è imparato con le iterazioni: i requisiti emersi, gli errori da evitare, gli esempi che funzionano. Per questo costruire un template è anche un modo per consolidare l'esperienza e condividerla. Alcuni consigli: usare istruzioni strutturate e delimitazione, come visto nel 6.4; tenere il template il più semplice possibile; indicare in testa a che cosa serve e chi l'ha scritto; provarlo su casi diversi prima di condividerlo.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istruzioni riutilizzabili si possono conservare e usare in diversi modi, sempre più integrati negli strumenti. Le librerie condivise: raccolte di template organizzate per attività, condivise in un gruppo di lavoro o in azienda, in un documento o in uno spazio comune. Diffondono le buone pratiche e permettono di non ripartire da zero. Le istruzioni persistenti: molti strumenti permettono di impostare istruzioni valide per tutte le conversazioni, come il proprio ruolo, il tono preferito, il formato abituale. Fanno risparmiare tempo ogni giorno; conviene rileggerle ogni tanto, perché si applicano a tutte le richieste e vanno aggiornate quando cambia il lavoro. Gli assistenti configurati: molti strumenti, come visto nel Tema 4, permettono di creare assistenti con istruzioni, documenti di riferimento e talvolta collegamenti propri, dedicati a un'attività, e di condividerli con i colleghi. Sono l'evoluzione naturale di un template molto usato: chi lo usa trova già il contesto e le regole, e deve solo fornire il caso specifico. Due precisazioni. Il comportamento effettivo dipende dalle funzionalità dello strumento: che cosa si può configurare, come vengono usati i documenti, che cosa si condivide. E le configurazioni vanno mantenute aggiornate, come i template. La configurazione tecnica degli assistenti è trattata nel Tema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le istruzioni sono usate da più persone o per attività importanti, la standardizzazione porta benefici concreti. Riduce il lavoro ripetitivo: non si riscrive ogni volta la stessa richiesta. Rende coerenti i risultati, indipendentemente da chi usa l'istruzione. Permette di condividere le buone pratiche: ciò che una persona ha imparato con molte iterazioni diventa disponibile a tutti. Facilita l'onboarding: un nuovo collega parte da istruzioni che funzionano. E apre al miglioramento continuo: un template condiviso si può perfezionare con il contributo di chi lo usa. Per mantenere questi benefici bastano poche attenzioni, le stesse di qualsiasi documento aziendale come una procedura o un modulo. Indicare versione e responsabile di ogni istruzione condivisa. Provarla periodicamente su casi reali, anche quando cambia il modello. Aggiornarla quando cambiano procedure, documenti o esigenze. E adattarla ai casi particolari: chi usa un template ne comprende la logica e sa quando serve una modifica. I risultati dei template si controllano come tutti gli altri, in proporzione all'importanza. Concetto chiave del sottotema: le istruzioni riutilizzabili favoriscono coerenza e produttività; vanno mantenute e non sostituiscono il controllo dei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Esercitazione conclusiva, applicabile a qualsiasi contesto professionale, da svolgere individualmente o a coppie, in circa 25 minuti, su uno strumento autorizzato e senza dati riservati. I partecipanti seguono sei passi. Uno: individuare un'attività reale del proprio lavoro, per esempio una comunicazione, una sintesi, una classificazione, una preparazione di riunione. Due: formulare una richiesta iniziale, come la scriverebbero d'abitudine, e salvare il risultato. Tre: migliorare la richiesta aggiungendo contesto e criteri, usando la lista di controllo del 6.2, e salvare il nuovo risultato. Quattro: analizzare il risultato con le domande del 6.5. Cinque: dare un feedback specifico, motivato e costruttivo, e osservare la revisione. Sei: valutare se l'attività è ricorrente e, in caso affermativo, trasformare la richiesta finale in un template con parti fisse e segnaposto. Risultato atteso: due versioni della richiesta con i rispettivi risultati, il feedback dato e, se pertinente, una bozza di template. Criterio di confronto, semplice e uguale per tutti: per ogni versione, quante modifiche servono prima di poter usare il risultato? Si assegna un punteggio da 0, pronto all'uso, a 3, da rifare. In plenaria, due o tre partecipanti mostrano la differenza tra le versioni e quale informazione aggiunta ha fatto più differenza. Di solito la versione migliorata ottiene un punteggio nettamente migliore: è la dimostrazione pratica del messaggio del modulo.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le competenze sviluppate, una per sottotema. Suggerimento: chiedere ai partecipanti di formularle con parole proprie prima di mostrare la slide. 6.1: spiegare che cos'è un prompt e come la qualità della richiesta incide sul risultato. 6.2: definire il problema e rendere espliciti i requisiti rilevanti, senza allungare inutilmente la richiesta. 6.3: fornire un contesto pertinente, sufficiente e comprensibile, e far emergere informazioni mancanti, ipotesi e contraddizioni. 6.4: scegliere tecniche proporzionate al compito, partendo dalla richiesta più semplice. 6.5: costruire il risultato dialogando, con feedback specifici, distinguendo l'aderenza alla richiesta dalla correttezza dei contenuti. 6.6: ottenere formati subito utilizzabili, con criteri verificabili. 6.7: applicare il metodo alle attività professionali, adattandolo alla loro natura. 6.8: costruire, condividere e mantenere istruzioni riutilizzabili. Il filo che le unisce è il messaggio del modulo: il prompting è la capacità di collaborare efficacemente con l'AI per trasformare obiettivi, informazioni e idee in risultati utili.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tema in uno strumento pratico: uno schema per le richieste importanti, da usare come lista di controllo, non come modulo obbligatorio. Prima di scrivere: qual è il problema, lo scopo, il criterio di successo? Nella richiesta: compito, contesto e destinatario, vincoli, formato; se utile, esempi, ruolo o prospettiva, e l'invito a porre domande se mancano informazioni. Dopo il primo risultato: analizzare che cosa migliorare e dare feedback specifico, oppure ricominciare con una richiesta migliore. Prima di usare il risultato: ricordare che aderenza non significa correttezza, e verificare in proporzione all'importanza, come vedremo nel Tema 7. Se l'attività è ricorrente: trasformare la richiesta in un template. E sempre: nessun dato riservato in strumenti non autorizzati.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percorso prosegue con il Tema 7, dedicato alla verifica degli output e al pensiero critico. In questo modulo abbiamo visto come il prompting e il dialogo rendano il risultato sempre più aderente al bisogno; il Tema 7 completa il ciclo con la verifica dei contenuti: come controllarli, come verificare fatti e fonti, come valutare un ragionamento, come esercitare il pensiero critico nell'uso quotidiano dell'AI, in proporzione all'importanza del compito. Lasciare spazio alle domande finali. Slide facoltativa: se il modulo è presentato da solo o in una selezione di slide, può essere nascosta o tolta senza perdere nulla del contenuto.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è pensata per il relatore. I principi del modulo sono coerenti con le guide al prompting pubblicate dai principali fornitori di modelli, che vengono riviste con l'evoluzione dei modelli: vale la pena consultarle prima di ogni edizione. Guide citate, verificate il 16 ottobre 2026. Anthropic, 'Prompt engineering overview', su platform.claude.com (il vecchio indirizzo docs.claude.com reindirizza qui). OpenAI, 'Prompt engineering' e 'Reasoning best practices', su developers.openai.com (il vecchio indirizzo platform.openai.com reindirizza qui); la seconda conferma le indicazioni sui modelli che ragionano citate nelle note della slide 'Le tecniche e quando usarle'. Google, 'Prompt design strategies' per la Gemini API, su ai.google.dev. Le pagine vengono riorganizzate spesso: se un indirizzo non funziona, cercare il titolo della guida. Gli esempi di prompt e i due output della slide 'Che cosa cambia nel risultato' sono illustrativi, costruiti per il corso e privi di dati riservati: vanno adattati alla realtà aziendale, preferibilmente con casi proposti dai partecipanti, e provati sullo strumento autorizzato prima della sessione.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6  ·  Prompting e tecniche di interazione</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6  ·  Prompting e tecniche di interazione</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6  ·  Prompting e tecniche di interazione</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4.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4.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4.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4.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4.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4.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4.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4.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slideLayout" Target="../slideLayouts/slideLayout4.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6</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Prompting e tecniche di interazione con l'AI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Interagire con l'AI</a:t>
            </a:r>
            <a:endParaRPr lang="en-US" sz="1600" dirty="0"/>
          </a:p>
          <a:p>
            <a:pPr indent="0" marL="0">
              <a:buNone/>
            </a:pPr>
            <a:r>
              <a:rPr lang="en-US" sz="1600" dirty="0">
                <a:solidFill>
                  <a:schemeClr val="accent3"/>
                </a:solidFill>
              </a:rPr>
              <a:t>Contenuti aggiornati a ottobre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2"/>
                </a:solidFill>
              </a:rPr>
              <a:t>Formulare richieste efficaci</a:t>
            </a:r>
            <a:endParaRPr lang="en-US" sz="1400" dirty="0"/>
          </a:p>
          <a:p>
            <a:pPr marL="177800" indent="-177800">
              <a:spcAft>
                <a:spcPts val="500"/>
              </a:spcAft>
              <a:buSzPct val="100000"/>
              <a:buChar char="•"/>
            </a:pPr>
            <a:r>
              <a:rPr lang="en-US" sz="1400" dirty="0">
                <a:solidFill>
                  <a:schemeClr val="tx2"/>
                </a:solidFill>
              </a:rPr>
              <a:t>Dare un contesto pertinente</a:t>
            </a:r>
            <a:endParaRPr lang="en-US" sz="1400" dirty="0"/>
          </a:p>
          <a:p>
            <a:pPr marL="177800" indent="-177800">
              <a:spcAft>
                <a:spcPts val="500"/>
              </a:spcAft>
              <a:buSzPct val="100000"/>
              <a:buChar char="•"/>
            </a:pPr>
            <a:r>
              <a:rPr lang="en-US" sz="1400" dirty="0">
                <a:solidFill>
                  <a:schemeClr val="tx2"/>
                </a:solidFill>
              </a:rPr>
              <a:t>Usare tecniche in modo proporzionato</a:t>
            </a:r>
            <a:endParaRPr lang="en-US" sz="1400" dirty="0"/>
          </a:p>
          <a:p>
            <a:pPr marL="177800" indent="-177800">
              <a:spcAft>
                <a:spcPts val="500"/>
              </a:spcAft>
              <a:buSzPct val="100000"/>
              <a:buChar char="•"/>
            </a:pPr>
            <a:r>
              <a:rPr lang="en-US" sz="1400" dirty="0">
                <a:solidFill>
                  <a:schemeClr val="tx2"/>
                </a:solidFill>
              </a:rPr>
              <a:t>Costruire il risultato per passi, dialogando</a:t>
            </a:r>
            <a:endParaRPr lang="en-US" sz="1400" dirty="0"/>
          </a:p>
          <a:p>
            <a:pPr marL="177800" indent="-177800">
              <a:spcAft>
                <a:spcPts val="500"/>
              </a:spcAft>
              <a:buSzPct val="100000"/>
              <a:buChar char="•"/>
            </a:pPr>
            <a:r>
              <a:rPr lang="en-US" sz="1400" dirty="0">
                <a:solidFill>
                  <a:schemeClr val="tx2"/>
                </a:solidFill>
              </a:rPr>
              <a:t>Riutilizzare ciò che funziona</a:t>
            </a:r>
            <a:endParaRPr lang="en-US" sz="1400" dirty="0"/>
          </a:p>
        </p:txBody>
      </p:sp>
      <p:sp>
        <p:nvSpPr>
          <p:cNvPr id="9" name="messaggio del modulo"/>
          <p:cNvSpPr/>
          <p:nvPr/>
        </p:nvSpPr>
        <p:spPr>
          <a:xfrm>
            <a:off x="4709160" y="1097280"/>
            <a:ext cx="3977640" cy="3429000"/>
          </a:xfrm>
          <a:prstGeom prst="roundRect">
            <a:avLst>
              <a:gd name="adj" fmla="val 2133"/>
            </a:avLst>
          </a:prstGeom>
          <a:solidFill>
            <a:schemeClr val="tx1"/>
          </a:solidFill>
          <a:ln/>
        </p:spPr>
      </p:sp>
      <p:sp>
        <p:nvSpPr>
          <p:cNvPr id="10" name="Text 6"/>
          <p:cNvSpPr txBox="1"/>
          <p:nvPr/>
        </p:nvSpPr>
        <p:spPr>
          <a:xfrm>
            <a:off x="4937760" y="1280160"/>
            <a:ext cx="356616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IL MESSAGGIO DEL MODULO</a:t>
            </a:r>
            <a:endParaRPr lang="en-US" sz="1100" dirty="0"/>
          </a:p>
        </p:txBody>
      </p:sp>
      <p:sp>
        <p:nvSpPr>
          <p:cNvPr id="11" name="Text 7"/>
          <p:cNvSpPr txBox="1"/>
          <p:nvPr/>
        </p:nvSpPr>
        <p:spPr>
          <a:xfrm>
            <a:off x="4937760" y="1691640"/>
            <a:ext cx="3566160" cy="1645920"/>
          </a:xfrm>
          <a:prstGeom prst="rect">
            <a:avLst/>
          </a:prstGeom>
          <a:noFill/>
          <a:ln/>
        </p:spPr>
        <p:txBody>
          <a:bodyPr wrap="square" lIns="0" tIns="0" rIns="0" bIns="0" rtlCol="0" anchor="t"/>
          <a:lstStyle/>
          <a:p>
            <a:pPr indent="0" marL="0">
              <a:buNone/>
            </a:pPr>
            <a:r>
              <a:rPr lang="en-US" sz="1700" b="1" dirty="0">
                <a:solidFill>
                  <a:schemeClr val="bg1"/>
                </a:solidFill>
              </a:rPr>
              <a:t>Il prompting è la capacità di collaborare efficacemente con l'AI per trasformare obiettivi, informazioni e idee in risultati utili.</a:t>
            </a:r>
            <a:endParaRPr lang="en-US" sz="1700" dirty="0"/>
          </a:p>
        </p:txBody>
      </p:sp>
      <p:sp>
        <p:nvSpPr>
          <p:cNvPr id="12" name="Text 8"/>
          <p:cNvSpPr txBox="1"/>
          <p:nvPr/>
        </p:nvSpPr>
        <p:spPr>
          <a:xfrm>
            <a:off x="4937760" y="3611880"/>
            <a:ext cx="3566160" cy="640080"/>
          </a:xfrm>
          <a:prstGeom prst="rect">
            <a:avLst/>
          </a:prstGeom>
          <a:noFill/>
          <a:ln/>
        </p:spPr>
        <p:txBody>
          <a:bodyPr wrap="square" lIns="0" tIns="0" rIns="0" bIns="0" rtlCol="0" anchor="t"/>
          <a:lstStyle/>
          <a:p>
            <a:pPr indent="0" marL="0">
              <a:buNone/>
            </a:pPr>
            <a:r>
              <a:rPr lang="en-US" sz="1300" i="1" dirty="0">
                <a:solidFill>
                  <a:schemeClr val="accent3"/>
                </a:solidFill>
              </a:rPr>
              <a:t>Principi trasferibili tra strumenti diversi, non formule magiche.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Definire"/>
          <p:cNvSpPr/>
          <p:nvPr/>
        </p:nvSpPr>
        <p:spPr>
          <a:xfrm>
            <a:off x="457200" y="1097280"/>
            <a:ext cx="1874520" cy="2377440"/>
          </a:xfrm>
          <a:prstGeom prst="roundRect">
            <a:avLst>
              <a:gd name="adj" fmla="val 3902"/>
            </a:avLst>
          </a:prstGeom>
          <a:solidFill>
            <a:schemeClr val="bg2"/>
          </a:solidFill>
          <a:ln/>
        </p:spPr>
      </p:sp>
      <p:sp>
        <p:nvSpPr>
          <p:cNvPr id="5" name="cerchio FiCrosshair"/>
          <p:cNvSpPr/>
          <p:nvPr/>
        </p:nvSpPr>
        <p:spPr>
          <a:xfrm>
            <a:off x="621792" y="1234440"/>
            <a:ext cx="457200" cy="457200"/>
          </a:xfrm>
          <a:prstGeom prst="ellipse">
            <a:avLst/>
          </a:prstGeom>
          <a:solidFill>
            <a:schemeClr val="accent1"/>
          </a:solidFill>
          <a:ln/>
        </p:spPr>
      </p:sp>
      <p:pic>
        <p:nvPicPr>
          <p:cNvPr id="6" name="Image 0" descr="FiCrosshair">    </p:cNvPr>
          <p:cNvPicPr>
            <a:picLocks noChangeAspect="1"/>
          </p:cNvPicPr>
          <p:nvPr/>
        </p:nvPicPr>
        <p:blipFill>
          <a:blip r:embed="rId1"/>
          <a:stretch>
            <a:fillRect/>
          </a:stretch>
        </p:blipFill>
        <p:spPr>
          <a:xfrm>
            <a:off x="736092" y="1348740"/>
            <a:ext cx="228600" cy="228600"/>
          </a:xfrm>
          <a:prstGeom prst="rect">
            <a:avLst/>
          </a:prstGeom>
        </p:spPr>
      </p:pic>
      <p:sp>
        <p:nvSpPr>
          <p:cNvPr id="7" name="Text 3"/>
          <p:cNvSpPr txBox="1"/>
          <p:nvPr/>
        </p:nvSpPr>
        <p:spPr>
          <a:xfrm>
            <a:off x="621792" y="1783080"/>
            <a:ext cx="1600200" cy="457200"/>
          </a:xfrm>
          <a:prstGeom prst="rect">
            <a:avLst/>
          </a:prstGeom>
          <a:noFill/>
          <a:ln/>
        </p:spPr>
        <p:txBody>
          <a:bodyPr wrap="square" lIns="0" tIns="0" rIns="0" bIns="0" rtlCol="0" anchor="t"/>
          <a:lstStyle/>
          <a:p>
            <a:pPr indent="0" marL="0">
              <a:buNone/>
            </a:pPr>
            <a:r>
              <a:rPr lang="en-US" sz="1400" b="1" dirty="0">
                <a:solidFill>
                  <a:schemeClr val="tx1"/>
                </a:solidFill>
              </a:rPr>
              <a:t>Definire</a:t>
            </a:r>
            <a:endParaRPr lang="en-US" sz="1400" dirty="0"/>
          </a:p>
        </p:txBody>
      </p:sp>
      <p:sp>
        <p:nvSpPr>
          <p:cNvPr id="8" name="Text 4"/>
          <p:cNvSpPr txBox="1"/>
          <p:nvPr/>
        </p:nvSpPr>
        <p:spPr>
          <a:xfrm>
            <a:off x="621792" y="2286000"/>
            <a:ext cx="1600200" cy="1097280"/>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6.1 Fondamenti del prompting</a:t>
            </a:r>
            <a:endParaRPr lang="en-US" sz="1100" dirty="0"/>
          </a:p>
          <a:p>
            <a:pPr indent="0" marL="0">
              <a:buNone/>
            </a:pPr>
            <a:r>
              <a:rPr lang="en-US" sz="1100" dirty="0">
                <a:solidFill>
                  <a:schemeClr val="tx2"/>
                </a:solidFill>
              </a:rPr>
              <a:t>6.2 Elementi di una richiesta efficace</a:t>
            </a:r>
            <a:endParaRPr lang="en-US" sz="1100" dirty="0"/>
          </a:p>
        </p:txBody>
      </p:sp>
      <p:sp>
        <p:nvSpPr>
          <p:cNvPr id="9" name="freccia"/>
          <p:cNvSpPr/>
          <p:nvPr/>
        </p:nvSpPr>
        <p:spPr>
          <a:xfrm>
            <a:off x="2350008" y="2148840"/>
            <a:ext cx="219456" cy="292608"/>
          </a:xfrm>
          <a:prstGeom prst="rightArrow">
            <a:avLst/>
          </a:prstGeom>
          <a:solidFill>
            <a:schemeClr val="accent2"/>
          </a:solidFill>
          <a:ln/>
        </p:spPr>
      </p:sp>
      <p:sp>
        <p:nvSpPr>
          <p:cNvPr id="10" name="Contesto e tecnica"/>
          <p:cNvSpPr/>
          <p:nvPr/>
        </p:nvSpPr>
        <p:spPr>
          <a:xfrm>
            <a:off x="2587752" y="1097280"/>
            <a:ext cx="1874520" cy="2377440"/>
          </a:xfrm>
          <a:prstGeom prst="roundRect">
            <a:avLst>
              <a:gd name="adj" fmla="val 3902"/>
            </a:avLst>
          </a:prstGeom>
          <a:solidFill>
            <a:schemeClr val="accent6"/>
          </a:solidFill>
          <a:ln/>
        </p:spPr>
      </p:sp>
      <p:sp>
        <p:nvSpPr>
          <p:cNvPr id="11" name="cerchio FiLayers"/>
          <p:cNvSpPr/>
          <p:nvPr/>
        </p:nvSpPr>
        <p:spPr>
          <a:xfrm>
            <a:off x="2752344" y="1234440"/>
            <a:ext cx="457200" cy="457200"/>
          </a:xfrm>
          <a:prstGeom prst="ellipse">
            <a:avLst/>
          </a:prstGeom>
          <a:solidFill>
            <a:schemeClr val="accent1"/>
          </a:solidFill>
          <a:ln/>
        </p:spPr>
      </p:sp>
      <p:pic>
        <p:nvPicPr>
          <p:cNvPr id="12" name="Image 1" descr="FiLayers">    </p:cNvPr>
          <p:cNvPicPr>
            <a:picLocks noChangeAspect="1"/>
          </p:cNvPicPr>
          <p:nvPr/>
        </p:nvPicPr>
        <p:blipFill>
          <a:blip r:embed="rId2"/>
          <a:stretch>
            <a:fillRect/>
          </a:stretch>
        </p:blipFill>
        <p:spPr>
          <a:xfrm>
            <a:off x="2866644" y="1348740"/>
            <a:ext cx="228600" cy="228600"/>
          </a:xfrm>
          <a:prstGeom prst="rect">
            <a:avLst/>
          </a:prstGeom>
        </p:spPr>
      </p:pic>
      <p:sp>
        <p:nvSpPr>
          <p:cNvPr id="13" name="Text 8"/>
          <p:cNvSpPr txBox="1"/>
          <p:nvPr/>
        </p:nvSpPr>
        <p:spPr>
          <a:xfrm>
            <a:off x="2752344" y="1783080"/>
            <a:ext cx="1600200" cy="457200"/>
          </a:xfrm>
          <a:prstGeom prst="rect">
            <a:avLst/>
          </a:prstGeom>
          <a:noFill/>
          <a:ln/>
        </p:spPr>
        <p:txBody>
          <a:bodyPr wrap="square" lIns="0" tIns="0" rIns="0" bIns="0" rtlCol="0" anchor="t"/>
          <a:lstStyle/>
          <a:p>
            <a:pPr indent="0" marL="0">
              <a:buNone/>
            </a:pPr>
            <a:r>
              <a:rPr lang="en-US" sz="1400" b="1" dirty="0">
                <a:solidFill>
                  <a:schemeClr val="tx1"/>
                </a:solidFill>
              </a:rPr>
              <a:t>Contesto e tecnica</a:t>
            </a:r>
            <a:endParaRPr lang="en-US" sz="1400" dirty="0"/>
          </a:p>
        </p:txBody>
      </p:sp>
      <p:sp>
        <p:nvSpPr>
          <p:cNvPr id="14" name="Text 9"/>
          <p:cNvSpPr txBox="1"/>
          <p:nvPr/>
        </p:nvSpPr>
        <p:spPr>
          <a:xfrm>
            <a:off x="2752344" y="2286000"/>
            <a:ext cx="1600200" cy="1097280"/>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6.3 Il ruolo del contesto</a:t>
            </a:r>
            <a:endParaRPr lang="en-US" sz="1100" dirty="0"/>
          </a:p>
          <a:p>
            <a:pPr indent="0" marL="0">
              <a:buNone/>
            </a:pPr>
            <a:r>
              <a:rPr lang="en-US" sz="1100" dirty="0">
                <a:solidFill>
                  <a:schemeClr val="tx2"/>
                </a:solidFill>
              </a:rPr>
              <a:t>6.4 Tecniche fondamentali</a:t>
            </a:r>
            <a:endParaRPr lang="en-US" sz="1100" dirty="0"/>
          </a:p>
        </p:txBody>
      </p:sp>
      <p:sp>
        <p:nvSpPr>
          <p:cNvPr id="15" name="freccia"/>
          <p:cNvSpPr/>
          <p:nvPr/>
        </p:nvSpPr>
        <p:spPr>
          <a:xfrm>
            <a:off x="4480560" y="2148840"/>
            <a:ext cx="219456" cy="292608"/>
          </a:xfrm>
          <a:prstGeom prst="rightArrow">
            <a:avLst/>
          </a:prstGeom>
          <a:solidFill>
            <a:schemeClr val="accent2"/>
          </a:solidFill>
          <a:ln/>
        </p:spPr>
      </p:sp>
      <p:sp>
        <p:nvSpPr>
          <p:cNvPr id="16" name="Dialogare e dare forma"/>
          <p:cNvSpPr/>
          <p:nvPr/>
        </p:nvSpPr>
        <p:spPr>
          <a:xfrm>
            <a:off x="4718304" y="1097280"/>
            <a:ext cx="1874520" cy="2377440"/>
          </a:xfrm>
          <a:prstGeom prst="roundRect">
            <a:avLst>
              <a:gd name="adj" fmla="val 3902"/>
            </a:avLst>
          </a:prstGeom>
          <a:solidFill>
            <a:schemeClr val="bg2"/>
          </a:solidFill>
          <a:ln/>
        </p:spPr>
      </p:sp>
      <p:sp>
        <p:nvSpPr>
          <p:cNvPr id="17" name="cerchio FiMessageSquare"/>
          <p:cNvSpPr/>
          <p:nvPr/>
        </p:nvSpPr>
        <p:spPr>
          <a:xfrm>
            <a:off x="4882896" y="1234440"/>
            <a:ext cx="457200" cy="457200"/>
          </a:xfrm>
          <a:prstGeom prst="ellipse">
            <a:avLst/>
          </a:prstGeom>
          <a:solidFill>
            <a:schemeClr val="accent1"/>
          </a:solidFill>
          <a:ln/>
        </p:spPr>
      </p:sp>
      <p:pic>
        <p:nvPicPr>
          <p:cNvPr id="18" name="Image 2" descr="FiMessageSquare">    </p:cNvPr>
          <p:cNvPicPr>
            <a:picLocks noChangeAspect="1"/>
          </p:cNvPicPr>
          <p:nvPr/>
        </p:nvPicPr>
        <p:blipFill>
          <a:blip r:embed="rId3"/>
          <a:stretch>
            <a:fillRect/>
          </a:stretch>
        </p:blipFill>
        <p:spPr>
          <a:xfrm>
            <a:off x="4997196" y="1348740"/>
            <a:ext cx="228600" cy="228600"/>
          </a:xfrm>
          <a:prstGeom prst="rect">
            <a:avLst/>
          </a:prstGeom>
        </p:spPr>
      </p:pic>
      <p:sp>
        <p:nvSpPr>
          <p:cNvPr id="19" name="Text 13"/>
          <p:cNvSpPr txBox="1"/>
          <p:nvPr/>
        </p:nvSpPr>
        <p:spPr>
          <a:xfrm>
            <a:off x="4882896" y="1783080"/>
            <a:ext cx="1600200" cy="457200"/>
          </a:xfrm>
          <a:prstGeom prst="rect">
            <a:avLst/>
          </a:prstGeom>
          <a:noFill/>
          <a:ln/>
        </p:spPr>
        <p:txBody>
          <a:bodyPr wrap="square" lIns="0" tIns="0" rIns="0" bIns="0" rtlCol="0" anchor="t"/>
          <a:lstStyle/>
          <a:p>
            <a:pPr indent="0" marL="0">
              <a:buNone/>
            </a:pPr>
            <a:r>
              <a:rPr lang="en-US" sz="1400" b="1" dirty="0">
                <a:solidFill>
                  <a:schemeClr val="tx1"/>
                </a:solidFill>
              </a:rPr>
              <a:t>Dialogare e dare forma</a:t>
            </a:r>
            <a:endParaRPr lang="en-US" sz="1400" dirty="0"/>
          </a:p>
        </p:txBody>
      </p:sp>
      <p:sp>
        <p:nvSpPr>
          <p:cNvPr id="20" name="Text 14"/>
          <p:cNvSpPr txBox="1"/>
          <p:nvPr/>
        </p:nvSpPr>
        <p:spPr>
          <a:xfrm>
            <a:off x="4882896" y="2286000"/>
            <a:ext cx="1600200" cy="1097280"/>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6.5 Prompting iterativo</a:t>
            </a:r>
            <a:endParaRPr lang="en-US" sz="1100" dirty="0"/>
          </a:p>
          <a:p>
            <a:pPr indent="0" marL="0">
              <a:buNone/>
            </a:pPr>
            <a:r>
              <a:rPr lang="en-US" sz="1100" dirty="0">
                <a:solidFill>
                  <a:schemeClr val="tx2"/>
                </a:solidFill>
              </a:rPr>
              <a:t>6.6 Formato e struttura degli output</a:t>
            </a:r>
            <a:endParaRPr lang="en-US" sz="1100" dirty="0"/>
          </a:p>
        </p:txBody>
      </p:sp>
      <p:sp>
        <p:nvSpPr>
          <p:cNvPr id="21" name="freccia"/>
          <p:cNvSpPr/>
          <p:nvPr/>
        </p:nvSpPr>
        <p:spPr>
          <a:xfrm>
            <a:off x="6611112" y="2148840"/>
            <a:ext cx="219456" cy="292608"/>
          </a:xfrm>
          <a:prstGeom prst="rightArrow">
            <a:avLst/>
          </a:prstGeom>
          <a:solidFill>
            <a:schemeClr val="accent2"/>
          </a:solidFill>
          <a:ln/>
        </p:spPr>
      </p:sp>
      <p:sp>
        <p:nvSpPr>
          <p:cNvPr id="22" name="Applicare e riutilizzare"/>
          <p:cNvSpPr/>
          <p:nvPr/>
        </p:nvSpPr>
        <p:spPr>
          <a:xfrm>
            <a:off x="6848856" y="1097280"/>
            <a:ext cx="1874520" cy="2377440"/>
          </a:xfrm>
          <a:prstGeom prst="roundRect">
            <a:avLst>
              <a:gd name="adj" fmla="val 3902"/>
            </a:avLst>
          </a:prstGeom>
          <a:solidFill>
            <a:schemeClr val="accent6"/>
          </a:solidFill>
          <a:ln/>
        </p:spPr>
      </p:sp>
      <p:sp>
        <p:nvSpPr>
          <p:cNvPr id="23" name="cerchio FiBriefcase"/>
          <p:cNvSpPr/>
          <p:nvPr/>
        </p:nvSpPr>
        <p:spPr>
          <a:xfrm>
            <a:off x="7013448" y="1234440"/>
            <a:ext cx="457200" cy="457200"/>
          </a:xfrm>
          <a:prstGeom prst="ellipse">
            <a:avLst/>
          </a:prstGeom>
          <a:solidFill>
            <a:schemeClr val="accent1"/>
          </a:solidFill>
          <a:ln/>
        </p:spPr>
      </p:sp>
      <p:pic>
        <p:nvPicPr>
          <p:cNvPr id="24" name="Image 3" descr="FiBriefcase">    </p:cNvPr>
          <p:cNvPicPr>
            <a:picLocks noChangeAspect="1"/>
          </p:cNvPicPr>
          <p:nvPr/>
        </p:nvPicPr>
        <p:blipFill>
          <a:blip r:embed="rId4"/>
          <a:stretch>
            <a:fillRect/>
          </a:stretch>
        </p:blipFill>
        <p:spPr>
          <a:xfrm>
            <a:off x="7127748" y="1348740"/>
            <a:ext cx="228600" cy="228600"/>
          </a:xfrm>
          <a:prstGeom prst="rect">
            <a:avLst/>
          </a:prstGeom>
        </p:spPr>
      </p:pic>
      <p:sp>
        <p:nvSpPr>
          <p:cNvPr id="25" name="Text 18"/>
          <p:cNvSpPr txBox="1"/>
          <p:nvPr/>
        </p:nvSpPr>
        <p:spPr>
          <a:xfrm>
            <a:off x="7013448" y="1783080"/>
            <a:ext cx="1600200" cy="457200"/>
          </a:xfrm>
          <a:prstGeom prst="rect">
            <a:avLst/>
          </a:prstGeom>
          <a:noFill/>
          <a:ln/>
        </p:spPr>
        <p:txBody>
          <a:bodyPr wrap="square" lIns="0" tIns="0" rIns="0" bIns="0" rtlCol="0" anchor="t"/>
          <a:lstStyle/>
          <a:p>
            <a:pPr indent="0" marL="0">
              <a:buNone/>
            </a:pPr>
            <a:r>
              <a:rPr lang="en-US" sz="1400" b="1" dirty="0">
                <a:solidFill>
                  <a:schemeClr val="tx1"/>
                </a:solidFill>
              </a:rPr>
              <a:t>Applicare e riutilizzare</a:t>
            </a:r>
            <a:endParaRPr lang="en-US" sz="1400" dirty="0"/>
          </a:p>
        </p:txBody>
      </p:sp>
      <p:sp>
        <p:nvSpPr>
          <p:cNvPr id="26" name="Text 19"/>
          <p:cNvSpPr txBox="1"/>
          <p:nvPr/>
        </p:nvSpPr>
        <p:spPr>
          <a:xfrm>
            <a:off x="7013448" y="2286000"/>
            <a:ext cx="1600200" cy="1097280"/>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6.7 Attività professionali</a:t>
            </a:r>
            <a:endParaRPr lang="en-US" sz="1100" dirty="0"/>
          </a:p>
          <a:p>
            <a:pPr indent="0" marL="0">
              <a:buNone/>
            </a:pPr>
            <a:r>
              <a:rPr lang="en-US" sz="1100" dirty="0">
                <a:solidFill>
                  <a:schemeClr val="tx2"/>
                </a:solidFill>
              </a:rPr>
              <a:t>6.8 Istruzioni riutilizzabili</a:t>
            </a:r>
            <a:endParaRPr lang="en-US" sz="1100" dirty="0"/>
          </a:p>
        </p:txBody>
      </p:sp>
      <p:sp>
        <p:nvSpPr>
          <p:cNvPr id="27" name="livello Comprendere e applicare"/>
          <p:cNvSpPr/>
          <p:nvPr/>
        </p:nvSpPr>
        <p:spPr>
          <a:xfrm>
            <a:off x="457200" y="3639312"/>
            <a:ext cx="2615184" cy="896112"/>
          </a:xfrm>
          <a:prstGeom prst="roundRect">
            <a:avLst>
              <a:gd name="adj" fmla="val 8163"/>
            </a:avLst>
          </a:prstGeom>
          <a:solidFill>
            <a:schemeClr val="accent1"/>
          </a:solidFill>
          <a:ln/>
        </p:spPr>
      </p:sp>
      <p:sp>
        <p:nvSpPr>
          <p:cNvPr id="28" name="Text 21"/>
          <p:cNvSpPr txBox="1"/>
          <p:nvPr/>
        </p:nvSpPr>
        <p:spPr>
          <a:xfrm>
            <a:off x="594360" y="3694176"/>
            <a:ext cx="2377440" cy="274320"/>
          </a:xfrm>
          <a:prstGeom prst="rect">
            <a:avLst/>
          </a:prstGeom>
          <a:noFill/>
          <a:ln/>
        </p:spPr>
        <p:txBody>
          <a:bodyPr wrap="square" lIns="0" tIns="0" rIns="0" bIns="0" rtlCol="0" anchor="t"/>
          <a:lstStyle/>
          <a:p>
            <a:pPr indent="0" marL="0">
              <a:buNone/>
            </a:pPr>
            <a:r>
              <a:rPr lang="en-US" sz="1200" b="1" dirty="0">
                <a:solidFill>
                  <a:schemeClr val="bg1"/>
                </a:solidFill>
              </a:rPr>
              <a:t>Comprendere e applicare</a:t>
            </a:r>
            <a:endParaRPr lang="en-US" sz="1200" dirty="0"/>
          </a:p>
        </p:txBody>
      </p:sp>
      <p:sp>
        <p:nvSpPr>
          <p:cNvPr id="29" name="Text 22"/>
          <p:cNvSpPr txBox="1"/>
          <p:nvPr/>
        </p:nvSpPr>
        <p:spPr>
          <a:xfrm>
            <a:off x="594360" y="3968496"/>
            <a:ext cx="2377440" cy="530352"/>
          </a:xfrm>
          <a:prstGeom prst="rect">
            <a:avLst/>
          </a:prstGeom>
          <a:noFill/>
          <a:ln/>
        </p:spPr>
        <p:txBody>
          <a:bodyPr wrap="square" lIns="0" tIns="0" rIns="0" bIns="0" rtlCol="0" anchor="t"/>
          <a:lstStyle/>
          <a:p>
            <a:pPr indent="0" marL="0">
              <a:buNone/>
            </a:pPr>
            <a:r>
              <a:rPr lang="en-US" sz="1000" dirty="0">
                <a:solidFill>
                  <a:schemeClr val="bg1"/>
                </a:solidFill>
              </a:rPr>
              <a:t>Problema, richiesta, contesto, istruzioni chiare, iterazione e feedback</a:t>
            </a:r>
            <a:endParaRPr lang="en-US" sz="1000" dirty="0"/>
          </a:p>
        </p:txBody>
      </p:sp>
      <p:sp>
        <p:nvSpPr>
          <p:cNvPr id="30" name="livello Conoscere e sperimentare"/>
          <p:cNvSpPr/>
          <p:nvPr/>
        </p:nvSpPr>
        <p:spPr>
          <a:xfrm>
            <a:off x="3264408" y="3639312"/>
            <a:ext cx="2615184" cy="896112"/>
          </a:xfrm>
          <a:prstGeom prst="roundRect">
            <a:avLst>
              <a:gd name="adj" fmla="val 8163"/>
            </a:avLst>
          </a:prstGeom>
          <a:solidFill>
            <a:schemeClr val="accent6"/>
          </a:solidFill>
          <a:ln/>
        </p:spPr>
      </p:sp>
      <p:sp>
        <p:nvSpPr>
          <p:cNvPr id="31" name="Text 24"/>
          <p:cNvSpPr txBox="1"/>
          <p:nvPr/>
        </p:nvSpPr>
        <p:spPr>
          <a:xfrm>
            <a:off x="3401568" y="3694176"/>
            <a:ext cx="2377440" cy="274320"/>
          </a:xfrm>
          <a:prstGeom prst="rect">
            <a:avLst/>
          </a:prstGeom>
          <a:noFill/>
          <a:ln/>
        </p:spPr>
        <p:txBody>
          <a:bodyPr wrap="square" lIns="0" tIns="0" rIns="0" bIns="0" rtlCol="0" anchor="t"/>
          <a:lstStyle/>
          <a:p>
            <a:pPr indent="0" marL="0">
              <a:buNone/>
            </a:pPr>
            <a:r>
              <a:rPr lang="en-US" sz="1200" b="1" dirty="0">
                <a:solidFill>
                  <a:schemeClr val="tx1"/>
                </a:solidFill>
              </a:rPr>
              <a:t>Conoscere e sperimentare</a:t>
            </a:r>
            <a:endParaRPr lang="en-US" sz="1200" dirty="0"/>
          </a:p>
        </p:txBody>
      </p:sp>
      <p:sp>
        <p:nvSpPr>
          <p:cNvPr id="32" name="Text 25"/>
          <p:cNvSpPr txBox="1"/>
          <p:nvPr/>
        </p:nvSpPr>
        <p:spPr>
          <a:xfrm>
            <a:off x="3401568" y="3968496"/>
            <a:ext cx="2377440" cy="530352"/>
          </a:xfrm>
          <a:prstGeom prst="rect">
            <a:avLst/>
          </a:prstGeom>
          <a:noFill/>
          <a:ln/>
        </p:spPr>
        <p:txBody>
          <a:bodyPr wrap="square" lIns="0" tIns="0" rIns="0" bIns="0" rtlCol="0" anchor="t"/>
          <a:lstStyle/>
          <a:p>
            <a:pPr indent="0" marL="0">
              <a:buNone/>
            </a:pPr>
            <a:r>
              <a:rPr lang="en-US" sz="1000" dirty="0">
                <a:solidFill>
                  <a:schemeClr val="tx1"/>
                </a:solidFill>
              </a:rPr>
              <a:t>Zero-shot, few-shot, scomposizione, alternative, output strutturati, template</a:t>
            </a:r>
            <a:endParaRPr lang="en-US" sz="1000" dirty="0"/>
          </a:p>
        </p:txBody>
      </p:sp>
      <p:sp>
        <p:nvSpPr>
          <p:cNvPr id="33" name="livello Solo accennare"/>
          <p:cNvSpPr/>
          <p:nvPr/>
        </p:nvSpPr>
        <p:spPr>
          <a:xfrm>
            <a:off x="6071616" y="3639312"/>
            <a:ext cx="2615184" cy="896112"/>
          </a:xfrm>
          <a:prstGeom prst="roundRect">
            <a:avLst>
              <a:gd name="adj" fmla="val 8163"/>
            </a:avLst>
          </a:prstGeom>
          <a:solidFill>
            <a:schemeClr val="bg2"/>
          </a:solidFill>
          <a:ln/>
        </p:spPr>
      </p:sp>
      <p:sp>
        <p:nvSpPr>
          <p:cNvPr id="34" name="Text 27"/>
          <p:cNvSpPr txBox="1"/>
          <p:nvPr/>
        </p:nvSpPr>
        <p:spPr>
          <a:xfrm>
            <a:off x="6208776" y="3694176"/>
            <a:ext cx="2377440" cy="274320"/>
          </a:xfrm>
          <a:prstGeom prst="rect">
            <a:avLst/>
          </a:prstGeom>
          <a:noFill/>
          <a:ln/>
        </p:spPr>
        <p:txBody>
          <a:bodyPr wrap="square" lIns="0" tIns="0" rIns="0" bIns="0" rtlCol="0" anchor="t"/>
          <a:lstStyle/>
          <a:p>
            <a:pPr indent="0" marL="0">
              <a:buNone/>
            </a:pPr>
            <a:r>
              <a:rPr lang="en-US" sz="1200" b="1" dirty="0">
                <a:solidFill>
                  <a:schemeClr val="tx1"/>
                </a:solidFill>
              </a:rPr>
              <a:t>Solo accennare</a:t>
            </a:r>
            <a:endParaRPr lang="en-US" sz="1200" dirty="0"/>
          </a:p>
        </p:txBody>
      </p:sp>
      <p:sp>
        <p:nvSpPr>
          <p:cNvPr id="35" name="Text 28"/>
          <p:cNvSpPr txBox="1"/>
          <p:nvPr/>
        </p:nvSpPr>
        <p:spPr>
          <a:xfrm>
            <a:off x="6208776" y="3968496"/>
            <a:ext cx="2377440" cy="530352"/>
          </a:xfrm>
          <a:prstGeom prst="rect">
            <a:avLst/>
          </a:prstGeom>
          <a:noFill/>
          <a:ln/>
        </p:spPr>
        <p:txBody>
          <a:bodyPr wrap="square" lIns="0" tIns="0" rIns="0" bIns="0" rtlCol="0" anchor="t"/>
          <a:lstStyle/>
          <a:p>
            <a:pPr indent="0" marL="0">
              <a:buNone/>
            </a:pPr>
            <a:r>
              <a:rPr lang="en-US" sz="1000" dirty="0">
                <a:solidFill>
                  <a:schemeClr val="tx1"/>
                </a:solidFill>
              </a:rPr>
              <a:t>Prompt engineering specialistico, ottimizzazione sistematica</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6.1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Fondamenti del prompting</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prompt comunica obiettivi, contesto e aspettative: più è chiaro, più il risultato tende a essere utile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cos'è un prompt</a:t>
            </a:r>
            <a:endParaRPr lang="en-US" sz="2600" dirty="0"/>
          </a:p>
        </p:txBody>
      </p:sp>
      <p:sp>
        <p:nvSpPr>
          <p:cNvPr id="4" name="definizione prompt"/>
          <p:cNvSpPr/>
          <p:nvPr/>
        </p:nvSpPr>
        <p:spPr>
          <a:xfrm>
            <a:off x="457200" y="1097280"/>
            <a:ext cx="3657600" cy="3429000"/>
          </a:xfrm>
          <a:prstGeom prst="roundRect">
            <a:avLst>
              <a:gd name="adj" fmla="val 2133"/>
            </a:avLst>
          </a:prstGeom>
          <a:solidFill>
            <a:schemeClr val="tx1"/>
          </a:solidFill>
          <a:ln/>
        </p:spPr>
      </p:sp>
      <p:sp>
        <p:nvSpPr>
          <p:cNvPr id="5" name="Text 2"/>
          <p:cNvSpPr txBox="1"/>
          <p:nvPr/>
        </p:nvSpPr>
        <p:spPr>
          <a:xfrm>
            <a:off x="685800" y="1261872"/>
            <a:ext cx="32004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PROMPT</a:t>
            </a:r>
            <a:endParaRPr lang="en-US" sz="1100" dirty="0"/>
          </a:p>
        </p:txBody>
      </p:sp>
      <p:sp>
        <p:nvSpPr>
          <p:cNvPr id="6" name="Text 3"/>
          <p:cNvSpPr txBox="1"/>
          <p:nvPr/>
        </p:nvSpPr>
        <p:spPr>
          <a:xfrm>
            <a:off x="685800" y="1645920"/>
            <a:ext cx="3200400" cy="1188720"/>
          </a:xfrm>
          <a:prstGeom prst="rect">
            <a:avLst/>
          </a:prstGeom>
          <a:noFill/>
          <a:ln/>
        </p:spPr>
        <p:txBody>
          <a:bodyPr wrap="square" lIns="0" tIns="0" rIns="0" bIns="0" rtlCol="0" anchor="t"/>
          <a:lstStyle/>
          <a:p>
            <a:pPr indent="0" marL="0">
              <a:buNone/>
            </a:pPr>
            <a:r>
              <a:rPr lang="en-US" sz="1700" dirty="0">
                <a:solidFill>
                  <a:schemeClr val="bg1"/>
                </a:solidFill>
              </a:rPr>
              <a:t>Il testo con cui comunichiamo a un sistema AI obiettivi, aspettative e informazioni.</a:t>
            </a:r>
            <a:endParaRPr lang="en-US" sz="1700" dirty="0"/>
          </a:p>
        </p:txBody>
      </p:sp>
      <p:sp>
        <p:nvSpPr>
          <p:cNvPr id="7" name="Text 4"/>
          <p:cNvSpPr txBox="1"/>
          <p:nvPr/>
        </p:nvSpPr>
        <p:spPr>
          <a:xfrm>
            <a:off x="685800" y="3154680"/>
            <a:ext cx="3200400" cy="1097280"/>
          </a:xfrm>
          <a:prstGeom prst="rect">
            <a:avLst/>
          </a:prstGeom>
          <a:noFill/>
          <a:ln/>
        </p:spPr>
        <p:txBody>
          <a:bodyPr wrap="square" lIns="0" tIns="0" rIns="0" bIns="0" rtlCol="0" anchor="t"/>
          <a:lstStyle/>
          <a:p>
            <a:pPr indent="0" marL="0">
              <a:buNone/>
            </a:pPr>
            <a:r>
              <a:rPr lang="en-US" sz="1300" i="1" dirty="0">
                <a:solidFill>
                  <a:schemeClr val="accent3"/>
                </a:solidFill>
              </a:rPr>
              <a:t>Come dare un incarico a un collaboratore capace e rapido, che però non conosce la nostra situazione.</a:t>
            </a:r>
            <a:endParaRPr lang="en-US" sz="1300" dirty="0"/>
          </a:p>
        </p:txBody>
      </p:sp>
      <p:sp>
        <p:nvSpPr>
          <p:cNvPr id="8" name="Text 5"/>
          <p:cNvSpPr txBox="1"/>
          <p:nvPr/>
        </p:nvSpPr>
        <p:spPr>
          <a:xfrm>
            <a:off x="4389120" y="1097280"/>
            <a:ext cx="4297680" cy="320040"/>
          </a:xfrm>
          <a:prstGeom prst="rect">
            <a:avLst/>
          </a:prstGeom>
          <a:noFill/>
          <a:ln/>
        </p:spPr>
        <p:txBody>
          <a:bodyPr wrap="square" lIns="0" tIns="0" rIns="0" bIns="0" rtlCol="0" anchor="t"/>
          <a:lstStyle/>
          <a:p>
            <a:pPr indent="0" marL="0">
              <a:buNone/>
            </a:pPr>
            <a:r>
              <a:rPr lang="en-US" sz="1500" b="1" dirty="0">
                <a:solidFill>
                  <a:schemeClr val="tx1"/>
                </a:solidFill>
              </a:rPr>
              <a:t>Tre forme, spesso combinate</a:t>
            </a:r>
            <a:endParaRPr lang="en-US" sz="1500" dirty="0"/>
          </a:p>
        </p:txBody>
      </p:sp>
      <p:sp>
        <p:nvSpPr>
          <p:cNvPr id="9" name="Domanda"/>
          <p:cNvSpPr/>
          <p:nvPr/>
        </p:nvSpPr>
        <p:spPr>
          <a:xfrm>
            <a:off x="4389120" y="1508760"/>
            <a:ext cx="4297680" cy="694944"/>
          </a:xfrm>
          <a:prstGeom prst="roundRect">
            <a:avLst>
              <a:gd name="adj" fmla="val 10526"/>
            </a:avLst>
          </a:prstGeom>
          <a:solidFill>
            <a:schemeClr val="bg2"/>
          </a:solidFill>
          <a:ln/>
        </p:spPr>
      </p:sp>
      <p:sp>
        <p:nvSpPr>
          <p:cNvPr id="10" name="cerchio FiHelpCircle"/>
          <p:cNvSpPr/>
          <p:nvPr/>
        </p:nvSpPr>
        <p:spPr>
          <a:xfrm>
            <a:off x="4507992" y="1636776"/>
            <a:ext cx="438912" cy="438912"/>
          </a:xfrm>
          <a:prstGeom prst="ellipse">
            <a:avLst/>
          </a:prstGeom>
          <a:solidFill>
            <a:schemeClr val="accent1"/>
          </a:solidFill>
          <a:ln/>
        </p:spPr>
      </p:sp>
      <p:pic>
        <p:nvPicPr>
          <p:cNvPr id="11" name="Image 0" descr="FiHelpCircle">    </p:cNvPr>
          <p:cNvPicPr>
            <a:picLocks noChangeAspect="1"/>
          </p:cNvPicPr>
          <p:nvPr/>
        </p:nvPicPr>
        <p:blipFill>
          <a:blip r:embed="rId1"/>
          <a:stretch>
            <a:fillRect/>
          </a:stretch>
        </p:blipFill>
        <p:spPr>
          <a:xfrm>
            <a:off x="4617720" y="1746504"/>
            <a:ext cx="219456" cy="219456"/>
          </a:xfrm>
          <a:prstGeom prst="rect">
            <a:avLst/>
          </a:prstGeom>
        </p:spPr>
      </p:pic>
      <p:sp>
        <p:nvSpPr>
          <p:cNvPr id="12" name="Text 8"/>
          <p:cNvSpPr txBox="1"/>
          <p:nvPr/>
        </p:nvSpPr>
        <p:spPr>
          <a:xfrm>
            <a:off x="5074920" y="1554480"/>
            <a:ext cx="3520440" cy="274320"/>
          </a:xfrm>
          <a:prstGeom prst="rect">
            <a:avLst/>
          </a:prstGeom>
          <a:noFill/>
          <a:ln/>
        </p:spPr>
        <p:txBody>
          <a:bodyPr wrap="square" lIns="0" tIns="0" rIns="0" bIns="0" rtlCol="0" anchor="t"/>
          <a:lstStyle/>
          <a:p>
            <a:pPr indent="0" marL="0">
              <a:buNone/>
            </a:pPr>
            <a:r>
              <a:rPr lang="en-US" sz="1300" b="1" dirty="0">
                <a:solidFill>
                  <a:schemeClr val="tx1"/>
                </a:solidFill>
              </a:rPr>
              <a:t>Domanda</a:t>
            </a:r>
            <a:endParaRPr lang="en-US" sz="1300" dirty="0"/>
          </a:p>
        </p:txBody>
      </p:sp>
      <p:sp>
        <p:nvSpPr>
          <p:cNvPr id="13" name="Text 9"/>
          <p:cNvSpPr txBox="1"/>
          <p:nvPr/>
        </p:nvSpPr>
        <p:spPr>
          <a:xfrm>
            <a:off x="5074920" y="1828800"/>
            <a:ext cx="3520440" cy="347472"/>
          </a:xfrm>
          <a:prstGeom prst="rect">
            <a:avLst/>
          </a:prstGeom>
          <a:noFill/>
          <a:ln/>
        </p:spPr>
        <p:txBody>
          <a:bodyPr wrap="square" lIns="0" tIns="0" rIns="0" bIns="0" rtlCol="0" anchor="t"/>
          <a:lstStyle/>
          <a:p>
            <a:pPr indent="0" marL="0">
              <a:buNone/>
            </a:pPr>
            <a:r>
              <a:rPr lang="en-US" sz="1100" i="1" dirty="0">
                <a:solidFill>
                  <a:schemeClr val="tx2"/>
                </a:solidFill>
              </a:rPr>
              <a:t>"Che differenza c'è tra appalto e somministrazione?"</a:t>
            </a:r>
            <a:endParaRPr lang="en-US" sz="1100" dirty="0"/>
          </a:p>
        </p:txBody>
      </p:sp>
      <p:sp>
        <p:nvSpPr>
          <p:cNvPr id="14" name="Istruzione"/>
          <p:cNvSpPr/>
          <p:nvPr/>
        </p:nvSpPr>
        <p:spPr>
          <a:xfrm>
            <a:off x="4389120" y="2295144"/>
            <a:ext cx="4297680" cy="694944"/>
          </a:xfrm>
          <a:prstGeom prst="roundRect">
            <a:avLst>
              <a:gd name="adj" fmla="val 10526"/>
            </a:avLst>
          </a:prstGeom>
          <a:solidFill>
            <a:schemeClr val="bg2"/>
          </a:solidFill>
          <a:ln/>
        </p:spPr>
      </p:sp>
      <p:sp>
        <p:nvSpPr>
          <p:cNvPr id="15" name="cerchio FiSliders"/>
          <p:cNvSpPr/>
          <p:nvPr/>
        </p:nvSpPr>
        <p:spPr>
          <a:xfrm>
            <a:off x="4507992" y="2423160"/>
            <a:ext cx="438912" cy="438912"/>
          </a:xfrm>
          <a:prstGeom prst="ellipse">
            <a:avLst/>
          </a:prstGeom>
          <a:solidFill>
            <a:schemeClr val="accent1"/>
          </a:solidFill>
          <a:ln/>
        </p:spPr>
      </p:sp>
      <p:pic>
        <p:nvPicPr>
          <p:cNvPr id="16" name="Image 1" descr="FiSliders">    </p:cNvPr>
          <p:cNvPicPr>
            <a:picLocks noChangeAspect="1"/>
          </p:cNvPicPr>
          <p:nvPr/>
        </p:nvPicPr>
        <p:blipFill>
          <a:blip r:embed="rId2"/>
          <a:stretch>
            <a:fillRect/>
          </a:stretch>
        </p:blipFill>
        <p:spPr>
          <a:xfrm>
            <a:off x="4617720" y="2532888"/>
            <a:ext cx="219456" cy="219456"/>
          </a:xfrm>
          <a:prstGeom prst="rect">
            <a:avLst/>
          </a:prstGeom>
        </p:spPr>
      </p:pic>
      <p:sp>
        <p:nvSpPr>
          <p:cNvPr id="17" name="Text 12"/>
          <p:cNvSpPr txBox="1"/>
          <p:nvPr/>
        </p:nvSpPr>
        <p:spPr>
          <a:xfrm>
            <a:off x="5074920" y="2340864"/>
            <a:ext cx="3520440" cy="274320"/>
          </a:xfrm>
          <a:prstGeom prst="rect">
            <a:avLst/>
          </a:prstGeom>
          <a:noFill/>
          <a:ln/>
        </p:spPr>
        <p:txBody>
          <a:bodyPr wrap="square" lIns="0" tIns="0" rIns="0" bIns="0" rtlCol="0" anchor="t"/>
          <a:lstStyle/>
          <a:p>
            <a:pPr indent="0" marL="0">
              <a:buNone/>
            </a:pPr>
            <a:r>
              <a:rPr lang="en-US" sz="1300" b="1" dirty="0">
                <a:solidFill>
                  <a:schemeClr val="tx1"/>
                </a:solidFill>
              </a:rPr>
              <a:t>Istruzione</a:t>
            </a:r>
            <a:endParaRPr lang="en-US" sz="1300" dirty="0"/>
          </a:p>
        </p:txBody>
      </p:sp>
      <p:sp>
        <p:nvSpPr>
          <p:cNvPr id="18" name="Text 13"/>
          <p:cNvSpPr txBox="1"/>
          <p:nvPr/>
        </p:nvSpPr>
        <p:spPr>
          <a:xfrm>
            <a:off x="5074920" y="2615184"/>
            <a:ext cx="3520440" cy="347472"/>
          </a:xfrm>
          <a:prstGeom prst="rect">
            <a:avLst/>
          </a:prstGeom>
          <a:noFill/>
          <a:ln/>
        </p:spPr>
        <p:txBody>
          <a:bodyPr wrap="square" lIns="0" tIns="0" rIns="0" bIns="0" rtlCol="0" anchor="t"/>
          <a:lstStyle/>
          <a:p>
            <a:pPr indent="0" marL="0">
              <a:buNone/>
            </a:pPr>
            <a:r>
              <a:rPr lang="en-US" sz="1100" i="1" dirty="0">
                <a:solidFill>
                  <a:schemeClr val="tx2"/>
                </a:solidFill>
              </a:rPr>
              <a:t>"Rispondi in modo sintetico, comprensibile a chi non è giurista."</a:t>
            </a:r>
            <a:endParaRPr lang="en-US" sz="1100" dirty="0"/>
          </a:p>
        </p:txBody>
      </p:sp>
      <p:sp>
        <p:nvSpPr>
          <p:cNvPr id="19" name="Richiesta di esecuzione"/>
          <p:cNvSpPr/>
          <p:nvPr/>
        </p:nvSpPr>
        <p:spPr>
          <a:xfrm>
            <a:off x="4389120" y="3081528"/>
            <a:ext cx="4297680" cy="694944"/>
          </a:xfrm>
          <a:prstGeom prst="roundRect">
            <a:avLst>
              <a:gd name="adj" fmla="val 10526"/>
            </a:avLst>
          </a:prstGeom>
          <a:solidFill>
            <a:schemeClr val="accent6"/>
          </a:solidFill>
          <a:ln/>
        </p:spPr>
      </p:sp>
      <p:sp>
        <p:nvSpPr>
          <p:cNvPr id="20" name="cerchio FiPlay"/>
          <p:cNvSpPr/>
          <p:nvPr/>
        </p:nvSpPr>
        <p:spPr>
          <a:xfrm>
            <a:off x="4507992" y="3209544"/>
            <a:ext cx="438912" cy="438912"/>
          </a:xfrm>
          <a:prstGeom prst="ellipse">
            <a:avLst/>
          </a:prstGeom>
          <a:solidFill>
            <a:schemeClr val="accent1"/>
          </a:solidFill>
          <a:ln/>
        </p:spPr>
      </p:sp>
      <p:pic>
        <p:nvPicPr>
          <p:cNvPr id="21" name="Image 2" descr="FiPlay">    </p:cNvPr>
          <p:cNvPicPr>
            <a:picLocks noChangeAspect="1"/>
          </p:cNvPicPr>
          <p:nvPr/>
        </p:nvPicPr>
        <p:blipFill>
          <a:blip r:embed="rId3"/>
          <a:stretch>
            <a:fillRect/>
          </a:stretch>
        </p:blipFill>
        <p:spPr>
          <a:xfrm>
            <a:off x="4617720" y="3319272"/>
            <a:ext cx="219456" cy="219456"/>
          </a:xfrm>
          <a:prstGeom prst="rect">
            <a:avLst/>
          </a:prstGeom>
        </p:spPr>
      </p:pic>
      <p:sp>
        <p:nvSpPr>
          <p:cNvPr id="22" name="Text 16"/>
          <p:cNvSpPr txBox="1"/>
          <p:nvPr/>
        </p:nvSpPr>
        <p:spPr>
          <a:xfrm>
            <a:off x="5074920" y="3127248"/>
            <a:ext cx="3520440" cy="274320"/>
          </a:xfrm>
          <a:prstGeom prst="rect">
            <a:avLst/>
          </a:prstGeom>
          <a:noFill/>
          <a:ln/>
        </p:spPr>
        <p:txBody>
          <a:bodyPr wrap="square" lIns="0" tIns="0" rIns="0" bIns="0" rtlCol="0" anchor="t"/>
          <a:lstStyle/>
          <a:p>
            <a:pPr indent="0" marL="0">
              <a:buNone/>
            </a:pPr>
            <a:r>
              <a:rPr lang="en-US" sz="1300" b="1" dirty="0">
                <a:solidFill>
                  <a:schemeClr val="tx1"/>
                </a:solidFill>
              </a:rPr>
              <a:t>Richiesta di esecuzione</a:t>
            </a:r>
            <a:endParaRPr lang="en-US" sz="1300" dirty="0"/>
          </a:p>
        </p:txBody>
      </p:sp>
      <p:sp>
        <p:nvSpPr>
          <p:cNvPr id="23" name="Text 17"/>
          <p:cNvSpPr txBox="1"/>
          <p:nvPr/>
        </p:nvSpPr>
        <p:spPr>
          <a:xfrm>
            <a:off x="5074920" y="3401568"/>
            <a:ext cx="3520440" cy="347472"/>
          </a:xfrm>
          <a:prstGeom prst="rect">
            <a:avLst/>
          </a:prstGeom>
          <a:noFill/>
          <a:ln/>
        </p:spPr>
        <p:txBody>
          <a:bodyPr wrap="square" lIns="0" tIns="0" rIns="0" bIns="0" rtlCol="0" anchor="t"/>
          <a:lstStyle/>
          <a:p>
            <a:pPr indent="0" marL="0">
              <a:buNone/>
            </a:pPr>
            <a:r>
              <a:rPr lang="en-US" sz="1100" i="1" dirty="0">
                <a:solidFill>
                  <a:schemeClr val="tx2"/>
                </a:solidFill>
              </a:rPr>
              <a:t>"Riassumi il documento allegato in dieci punti."</a:t>
            </a:r>
            <a:endParaRPr lang="en-US" sz="1100" dirty="0"/>
          </a:p>
        </p:txBody>
      </p:sp>
      <p:sp>
        <p:nvSpPr>
          <p:cNvPr id="24" name="Text 18"/>
          <p:cNvSpPr txBox="1"/>
          <p:nvPr/>
        </p:nvSpPr>
        <p:spPr>
          <a:xfrm>
            <a:off x="4389120" y="3931920"/>
            <a:ext cx="4297680" cy="548640"/>
          </a:xfrm>
          <a:prstGeom prst="rect">
            <a:avLst/>
          </a:prstGeom>
          <a:noFill/>
          <a:ln/>
        </p:spPr>
        <p:txBody>
          <a:bodyPr wrap="square" lIns="0" tIns="0" rIns="0" bIns="0" rtlCol="0" anchor="t"/>
          <a:lstStyle/>
          <a:p>
            <a:pPr indent="0" marL="0">
              <a:buNone/>
            </a:pPr>
            <a:r>
              <a:rPr lang="en-US" sz="1200" b="1" dirty="0">
                <a:solidFill>
                  <a:schemeClr val="accent1"/>
                </a:solidFill>
              </a:rPr>
              <a:t>Le richieste efficaci combinano spesso un compito con istruzioni su come svolgerlo.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 una richiesta generica a un risultato utile</a:t>
            </a:r>
            <a:endParaRPr lang="en-US" sz="2600" dirty="0"/>
          </a:p>
        </p:txBody>
      </p:sp>
      <p:sp>
        <p:nvSpPr>
          <p:cNvPr id="4" name="prompt"/>
          <p:cNvSpPr/>
          <p:nvPr/>
        </p:nvSpPr>
        <p:spPr>
          <a:xfrm>
            <a:off x="457200" y="1097280"/>
            <a:ext cx="3291840" cy="1417320"/>
          </a:xfrm>
          <a:prstGeom prst="roundRect">
            <a:avLst>
              <a:gd name="adj" fmla="val 5161"/>
            </a:avLst>
          </a:prstGeom>
          <a:solidFill>
            <a:schemeClr val="bg2"/>
          </a:solidFill>
          <a:ln/>
        </p:spPr>
      </p:sp>
      <p:sp>
        <p:nvSpPr>
          <p:cNvPr id="5" name="Text 2"/>
          <p:cNvSpPr txBox="1"/>
          <p:nvPr/>
        </p:nvSpPr>
        <p:spPr>
          <a:xfrm>
            <a:off x="621792" y="1188720"/>
            <a:ext cx="2962656" cy="256032"/>
          </a:xfrm>
          <a:prstGeom prst="rect">
            <a:avLst/>
          </a:prstGeom>
          <a:noFill/>
          <a:ln/>
        </p:spPr>
        <p:txBody>
          <a:bodyPr wrap="square" lIns="0" tIns="0" rIns="0" bIns="0" rtlCol="0" anchor="t"/>
          <a:lstStyle/>
          <a:p>
            <a:pPr indent="0" marL="0">
              <a:buNone/>
            </a:pPr>
            <a:r>
              <a:rPr lang="en-US" sz="1100" b="1" dirty="0">
                <a:solidFill>
                  <a:schemeClr val="accent2"/>
                </a:solidFill>
              </a:rPr>
              <a:t>1. Richiesta iniziale generica</a:t>
            </a:r>
            <a:endParaRPr lang="en-US" sz="1100" dirty="0"/>
          </a:p>
        </p:txBody>
      </p:sp>
      <p:sp>
        <p:nvSpPr>
          <p:cNvPr id="6" name="Text 3"/>
          <p:cNvSpPr txBox="1"/>
          <p:nvPr/>
        </p:nvSpPr>
        <p:spPr>
          <a:xfrm>
            <a:off x="621792" y="1463040"/>
            <a:ext cx="2962656" cy="96012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Scrivi un'email per sollecitare un pagamento.</a:t>
            </a:r>
            <a:endParaRPr lang="en-US" sz="1200" dirty="0"/>
          </a:p>
        </p:txBody>
      </p:sp>
      <p:sp>
        <p:nvSpPr>
          <p:cNvPr id="7" name="Text 4"/>
          <p:cNvSpPr txBox="1"/>
          <p:nvPr/>
        </p:nvSpPr>
        <p:spPr>
          <a:xfrm>
            <a:off x="457200" y="2651760"/>
            <a:ext cx="3291840" cy="685800"/>
          </a:xfrm>
          <a:prstGeom prst="rect">
            <a:avLst/>
          </a:prstGeom>
          <a:noFill/>
          <a:ln/>
        </p:spPr>
        <p:txBody>
          <a:bodyPr wrap="square" lIns="0" tIns="0" rIns="0" bIns="0" rtlCol="0" anchor="t"/>
          <a:lstStyle/>
          <a:p>
            <a:pPr indent="0" marL="0">
              <a:buNone/>
            </a:pPr>
            <a:r>
              <a:rPr lang="en-US" sz="1200" i="1" dirty="0">
                <a:solidFill>
                  <a:schemeClr val="tx2"/>
                </a:solidFill>
              </a:rPr>
              <a:t>Il sistema deve indovinare destinatario, ritardo, relazione, obiettivo e tono.</a:t>
            </a:r>
            <a:endParaRPr lang="en-US" sz="1200" dirty="0"/>
          </a:p>
        </p:txBody>
      </p:sp>
      <p:sp>
        <p:nvSpPr>
          <p:cNvPr id="8" name="freccia"/>
          <p:cNvSpPr/>
          <p:nvPr/>
        </p:nvSpPr>
        <p:spPr>
          <a:xfrm>
            <a:off x="3840480" y="2103120"/>
            <a:ext cx="365760" cy="292608"/>
          </a:xfrm>
          <a:prstGeom prst="rightArrow">
            <a:avLst/>
          </a:prstGeom>
          <a:solidFill>
            <a:schemeClr val="accent1"/>
          </a:solidFill>
          <a:ln/>
        </p:spPr>
      </p:sp>
      <p:sp>
        <p:nvSpPr>
          <p:cNvPr id="9" name="richiesta migliorata"/>
          <p:cNvSpPr/>
          <p:nvPr/>
        </p:nvSpPr>
        <p:spPr>
          <a:xfrm>
            <a:off x="4297680" y="1097280"/>
            <a:ext cx="4389120" cy="2743200"/>
          </a:xfrm>
          <a:prstGeom prst="roundRect">
            <a:avLst>
              <a:gd name="adj" fmla="val 2667"/>
            </a:avLst>
          </a:prstGeom>
          <a:solidFill>
            <a:schemeClr val="accent6"/>
          </a:solidFill>
          <a:ln/>
        </p:spPr>
      </p:sp>
      <p:sp>
        <p:nvSpPr>
          <p:cNvPr id="10" name="Text 7"/>
          <p:cNvSpPr txBox="1"/>
          <p:nvPr/>
        </p:nvSpPr>
        <p:spPr>
          <a:xfrm>
            <a:off x="4462272" y="1188720"/>
            <a:ext cx="4023360" cy="256032"/>
          </a:xfrm>
          <a:prstGeom prst="rect">
            <a:avLst/>
          </a:prstGeom>
          <a:noFill/>
          <a:ln/>
        </p:spPr>
        <p:txBody>
          <a:bodyPr wrap="square" lIns="0" tIns="0" rIns="0" bIns="0" rtlCol="0" anchor="t"/>
          <a:lstStyle/>
          <a:p>
            <a:pPr indent="0" marL="0">
              <a:buNone/>
            </a:pPr>
            <a:r>
              <a:rPr lang="en-US" sz="1100" b="1" dirty="0">
                <a:solidFill>
                  <a:schemeClr val="accent1"/>
                </a:solidFill>
              </a:rPr>
              <a:t>2. Richiesta migliorata</a:t>
            </a:r>
            <a:endParaRPr lang="en-US" sz="1100" dirty="0"/>
          </a:p>
        </p:txBody>
      </p:sp>
      <p:sp>
        <p:nvSpPr>
          <p:cNvPr id="11" name="Text 8"/>
          <p:cNvSpPr txBox="1"/>
          <p:nvPr/>
        </p:nvSpPr>
        <p:spPr>
          <a:xfrm>
            <a:off x="4462272" y="1481328"/>
            <a:ext cx="4069080" cy="41148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Scrivi un'email di primo sollecito per una fattura scaduta da 30 giorni.</a:t>
            </a:r>
            <a:endParaRPr lang="en-US" sz="1100" dirty="0"/>
          </a:p>
        </p:txBody>
      </p:sp>
      <p:sp>
        <p:nvSpPr>
          <p:cNvPr id="12" name="etichetta Obiettivo"/>
          <p:cNvSpPr/>
          <p:nvPr/>
        </p:nvSpPr>
        <p:spPr>
          <a:xfrm>
            <a:off x="4462272" y="1984248"/>
            <a:ext cx="1051560" cy="292608"/>
          </a:xfrm>
          <a:prstGeom prst="roundRect">
            <a:avLst>
              <a:gd name="adj" fmla="val 25000"/>
            </a:avLst>
          </a:prstGeom>
          <a:solidFill>
            <a:schemeClr val="accent1"/>
          </a:solidFill>
          <a:ln/>
        </p:spPr>
      </p:sp>
      <p:sp>
        <p:nvSpPr>
          <p:cNvPr id="13" name="Text 10"/>
          <p:cNvSpPr txBox="1"/>
          <p:nvPr/>
        </p:nvSpPr>
        <p:spPr>
          <a:xfrm>
            <a:off x="4462272" y="1984248"/>
            <a:ext cx="1051560" cy="292608"/>
          </a:xfrm>
          <a:prstGeom prst="rect">
            <a:avLst/>
          </a:prstGeom>
          <a:noFill/>
          <a:ln/>
        </p:spPr>
        <p:txBody>
          <a:bodyPr wrap="square" lIns="0" tIns="0" rIns="0" bIns="0" rtlCol="0" anchor="ctr"/>
          <a:lstStyle/>
          <a:p>
            <a:pPr algn="ctr" indent="0" marL="0">
              <a:buNone/>
            </a:pPr>
            <a:r>
              <a:rPr lang="en-US" sz="1000" b="1" dirty="0">
                <a:solidFill>
                  <a:schemeClr val="bg1"/>
                </a:solidFill>
              </a:rPr>
              <a:t>Obiettivo</a:t>
            </a:r>
            <a:endParaRPr lang="en-US" sz="1000" dirty="0"/>
          </a:p>
        </p:txBody>
      </p:sp>
      <p:sp>
        <p:nvSpPr>
          <p:cNvPr id="14" name="Text 11"/>
          <p:cNvSpPr txBox="1"/>
          <p:nvPr/>
        </p:nvSpPr>
        <p:spPr>
          <a:xfrm>
            <a:off x="5596128" y="1938528"/>
            <a:ext cx="2971800" cy="41148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ottenere il pagamento senza compromettere la relazione.</a:t>
            </a:r>
            <a:endParaRPr lang="en-US" sz="1000" dirty="0"/>
          </a:p>
        </p:txBody>
      </p:sp>
      <p:sp>
        <p:nvSpPr>
          <p:cNvPr id="15" name="etichetta Contesto"/>
          <p:cNvSpPr/>
          <p:nvPr/>
        </p:nvSpPr>
        <p:spPr>
          <a:xfrm>
            <a:off x="4462272" y="2441448"/>
            <a:ext cx="1051560" cy="292608"/>
          </a:xfrm>
          <a:prstGeom prst="roundRect">
            <a:avLst>
              <a:gd name="adj" fmla="val 25000"/>
            </a:avLst>
          </a:prstGeom>
          <a:solidFill>
            <a:schemeClr val="accent1"/>
          </a:solidFill>
          <a:ln/>
        </p:spPr>
      </p:sp>
      <p:sp>
        <p:nvSpPr>
          <p:cNvPr id="16" name="Text 13"/>
          <p:cNvSpPr txBox="1"/>
          <p:nvPr/>
        </p:nvSpPr>
        <p:spPr>
          <a:xfrm>
            <a:off x="4462272" y="2441448"/>
            <a:ext cx="1051560" cy="292608"/>
          </a:xfrm>
          <a:prstGeom prst="rect">
            <a:avLst/>
          </a:prstGeom>
          <a:noFill/>
          <a:ln/>
        </p:spPr>
        <p:txBody>
          <a:bodyPr wrap="square" lIns="0" tIns="0" rIns="0" bIns="0" rtlCol="0" anchor="ctr"/>
          <a:lstStyle/>
          <a:p>
            <a:pPr algn="ctr" indent="0" marL="0">
              <a:buNone/>
            </a:pPr>
            <a:r>
              <a:rPr lang="en-US" sz="1000" b="1" dirty="0">
                <a:solidFill>
                  <a:schemeClr val="bg1"/>
                </a:solidFill>
              </a:rPr>
              <a:t>Contesto</a:t>
            </a:r>
            <a:endParaRPr lang="en-US" sz="1000" dirty="0"/>
          </a:p>
        </p:txBody>
      </p:sp>
      <p:sp>
        <p:nvSpPr>
          <p:cNvPr id="17" name="Text 14"/>
          <p:cNvSpPr txBox="1"/>
          <p:nvPr/>
        </p:nvSpPr>
        <p:spPr>
          <a:xfrm>
            <a:off x="5596128" y="2395728"/>
            <a:ext cx="2971800" cy="41148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cliente storico, finora sempre puntuale.</a:t>
            </a:r>
            <a:endParaRPr lang="en-US" sz="1000" dirty="0"/>
          </a:p>
        </p:txBody>
      </p:sp>
      <p:sp>
        <p:nvSpPr>
          <p:cNvPr id="18" name="etichetta Destinatario"/>
          <p:cNvSpPr/>
          <p:nvPr/>
        </p:nvSpPr>
        <p:spPr>
          <a:xfrm>
            <a:off x="4462272" y="2898648"/>
            <a:ext cx="1051560" cy="292608"/>
          </a:xfrm>
          <a:prstGeom prst="roundRect">
            <a:avLst>
              <a:gd name="adj" fmla="val 25000"/>
            </a:avLst>
          </a:prstGeom>
          <a:solidFill>
            <a:schemeClr val="accent1"/>
          </a:solidFill>
          <a:ln/>
        </p:spPr>
      </p:sp>
      <p:sp>
        <p:nvSpPr>
          <p:cNvPr id="19" name="Text 16"/>
          <p:cNvSpPr txBox="1"/>
          <p:nvPr/>
        </p:nvSpPr>
        <p:spPr>
          <a:xfrm>
            <a:off x="4462272" y="2898648"/>
            <a:ext cx="1051560" cy="292608"/>
          </a:xfrm>
          <a:prstGeom prst="rect">
            <a:avLst/>
          </a:prstGeom>
          <a:noFill/>
          <a:ln/>
        </p:spPr>
        <p:txBody>
          <a:bodyPr wrap="square" lIns="0" tIns="0" rIns="0" bIns="0" rtlCol="0" anchor="ctr"/>
          <a:lstStyle/>
          <a:p>
            <a:pPr algn="ctr" indent="0" marL="0">
              <a:buNone/>
            </a:pPr>
            <a:r>
              <a:rPr lang="en-US" sz="1000" b="1" dirty="0">
                <a:solidFill>
                  <a:schemeClr val="bg1"/>
                </a:solidFill>
              </a:rPr>
              <a:t>Destinatario</a:t>
            </a:r>
            <a:endParaRPr lang="en-US" sz="1000" dirty="0"/>
          </a:p>
        </p:txBody>
      </p:sp>
      <p:sp>
        <p:nvSpPr>
          <p:cNvPr id="20" name="Text 17"/>
          <p:cNvSpPr txBox="1"/>
          <p:nvPr/>
        </p:nvSpPr>
        <p:spPr>
          <a:xfrm>
            <a:off x="5596128" y="2852928"/>
            <a:ext cx="2971800" cy="41148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il responsabile amministrativo.</a:t>
            </a:r>
            <a:endParaRPr lang="en-US" sz="1000" dirty="0"/>
          </a:p>
        </p:txBody>
      </p:sp>
      <p:sp>
        <p:nvSpPr>
          <p:cNvPr id="21" name="etichetta Formato"/>
          <p:cNvSpPr/>
          <p:nvPr/>
        </p:nvSpPr>
        <p:spPr>
          <a:xfrm>
            <a:off x="4462272" y="3355848"/>
            <a:ext cx="1051560" cy="292608"/>
          </a:xfrm>
          <a:prstGeom prst="roundRect">
            <a:avLst>
              <a:gd name="adj" fmla="val 25000"/>
            </a:avLst>
          </a:prstGeom>
          <a:solidFill>
            <a:schemeClr val="accent1"/>
          </a:solidFill>
          <a:ln/>
        </p:spPr>
      </p:sp>
      <p:sp>
        <p:nvSpPr>
          <p:cNvPr id="22" name="Text 19"/>
          <p:cNvSpPr txBox="1"/>
          <p:nvPr/>
        </p:nvSpPr>
        <p:spPr>
          <a:xfrm>
            <a:off x="4462272" y="3355848"/>
            <a:ext cx="1051560" cy="292608"/>
          </a:xfrm>
          <a:prstGeom prst="rect">
            <a:avLst/>
          </a:prstGeom>
          <a:noFill/>
          <a:ln/>
        </p:spPr>
        <p:txBody>
          <a:bodyPr wrap="square" lIns="0" tIns="0" rIns="0" bIns="0" rtlCol="0" anchor="ctr"/>
          <a:lstStyle/>
          <a:p>
            <a:pPr algn="ctr" indent="0" marL="0">
              <a:buNone/>
            </a:pPr>
            <a:r>
              <a:rPr lang="en-US" sz="1000" b="1" dirty="0">
                <a:solidFill>
                  <a:schemeClr val="bg1"/>
                </a:solidFill>
              </a:rPr>
              <a:t>Formato</a:t>
            </a:r>
            <a:endParaRPr lang="en-US" sz="1000" dirty="0"/>
          </a:p>
        </p:txBody>
      </p:sp>
      <p:sp>
        <p:nvSpPr>
          <p:cNvPr id="23" name="Text 20"/>
          <p:cNvSpPr txBox="1"/>
          <p:nvPr/>
        </p:nvSpPr>
        <p:spPr>
          <a:xfrm>
            <a:off x="5596128" y="3310128"/>
            <a:ext cx="2971800" cy="41148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oggetto e massimo 8 righe; tono cortese ma chiaro; proponi una breve telefonata.</a:t>
            </a:r>
            <a:endParaRPr lang="en-US" sz="1000" dirty="0"/>
          </a:p>
        </p:txBody>
      </p:sp>
      <p:sp>
        <p:nvSpPr>
          <p:cNvPr id="24" name="messaggio"/>
          <p:cNvSpPr/>
          <p:nvPr/>
        </p:nvSpPr>
        <p:spPr>
          <a:xfrm>
            <a:off x="457200" y="4005072"/>
            <a:ext cx="8229600" cy="548640"/>
          </a:xfrm>
          <a:prstGeom prst="roundRect">
            <a:avLst>
              <a:gd name="adj" fmla="val 13333"/>
            </a:avLst>
          </a:prstGeom>
          <a:solidFill>
            <a:schemeClr val="tx1"/>
          </a:solidFill>
          <a:ln/>
        </p:spPr>
      </p:sp>
      <p:sp>
        <p:nvSpPr>
          <p:cNvPr id="25" name="Text 22"/>
          <p:cNvSpPr txBox="1"/>
          <p:nvPr/>
        </p:nvSpPr>
        <p:spPr>
          <a:xfrm>
            <a:off x="640080" y="4005072"/>
            <a:ext cx="7863840" cy="548640"/>
          </a:xfrm>
          <a:prstGeom prst="rect">
            <a:avLst/>
          </a:prstGeom>
          <a:noFill/>
          <a:ln/>
        </p:spPr>
        <p:txBody>
          <a:bodyPr wrap="square" lIns="0" tIns="0" rIns="0" bIns="0" rtlCol="0" anchor="ctr"/>
          <a:lstStyle/>
          <a:p>
            <a:pPr indent="0" marL="0">
              <a:buNone/>
            </a:pPr>
            <a:r>
              <a:rPr lang="en-US" sz="1300" dirty="0">
                <a:solidFill>
                  <a:schemeClr val="bg1"/>
                </a:solidFill>
              </a:rPr>
              <a:t>Nome del cliente, numero e importo si inseriscono dopo: per un buon testo non servono dati riservati.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cambia nel risultato</a:t>
            </a:r>
            <a:endParaRPr lang="en-US" sz="2600" dirty="0"/>
          </a:p>
        </p:txBody>
      </p:sp>
      <p:sp>
        <p:nvSpPr>
          <p:cNvPr id="4" name="prompt"/>
          <p:cNvSpPr/>
          <p:nvPr/>
        </p:nvSpPr>
        <p:spPr>
          <a:xfrm>
            <a:off x="457200" y="1097280"/>
            <a:ext cx="3977640" cy="2148840"/>
          </a:xfrm>
          <a:prstGeom prst="roundRect">
            <a:avLst>
              <a:gd name="adj" fmla="val 3404"/>
            </a:avLst>
          </a:prstGeom>
          <a:solidFill>
            <a:schemeClr val="bg2"/>
          </a:solidFill>
          <a:ln/>
        </p:spPr>
      </p:sp>
      <p:sp>
        <p:nvSpPr>
          <p:cNvPr id="5" name="Text 2"/>
          <p:cNvSpPr txBox="1"/>
          <p:nvPr/>
        </p:nvSpPr>
        <p:spPr>
          <a:xfrm>
            <a:off x="621792" y="1188720"/>
            <a:ext cx="3648456" cy="256032"/>
          </a:xfrm>
          <a:prstGeom prst="rect">
            <a:avLst/>
          </a:prstGeom>
          <a:noFill/>
          <a:ln/>
        </p:spPr>
        <p:txBody>
          <a:bodyPr wrap="square" lIns="0" tIns="0" rIns="0" bIns="0" rtlCol="0" anchor="t"/>
          <a:lstStyle/>
          <a:p>
            <a:pPr indent="0" marL="0">
              <a:buNone/>
            </a:pPr>
            <a:r>
              <a:rPr lang="en-US" sz="1100" b="1" dirty="0">
                <a:solidFill>
                  <a:schemeClr val="accent2"/>
                </a:solidFill>
              </a:rPr>
              <a:t>Con la richiesta generica</a:t>
            </a:r>
            <a:endParaRPr lang="en-US" sz="1100" dirty="0"/>
          </a:p>
        </p:txBody>
      </p:sp>
      <p:sp>
        <p:nvSpPr>
          <p:cNvPr id="6" name="Text 3"/>
          <p:cNvSpPr txBox="1"/>
          <p:nvPr/>
        </p:nvSpPr>
        <p:spPr>
          <a:xfrm>
            <a:off x="621792" y="1463040"/>
            <a:ext cx="3648456" cy="169164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Oggetto: Sollecito di pagamento</a:t>
            </a:r>
            <a:endParaRPr lang="en-US" sz="1000" dirty="0"/>
          </a:p>
          <a:p>
            <a:pPr indent="0" marL="0">
              <a:buNone/>
            </a:pP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Gentile Cliente,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le ricordiamo che la fattura [n.] risulta ancora da saldare. La invitiamo a provvedere al più presto.</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Distinti saluti</a:t>
            </a:r>
            <a:endParaRPr lang="en-US" sz="1000" dirty="0"/>
          </a:p>
        </p:txBody>
      </p:sp>
      <p:sp>
        <p:nvSpPr>
          <p:cNvPr id="7" name="prompt"/>
          <p:cNvSpPr/>
          <p:nvPr/>
        </p:nvSpPr>
        <p:spPr>
          <a:xfrm>
            <a:off x="4709160" y="1097280"/>
            <a:ext cx="3977640" cy="2148840"/>
          </a:xfrm>
          <a:prstGeom prst="roundRect">
            <a:avLst>
              <a:gd name="adj" fmla="val 3404"/>
            </a:avLst>
          </a:prstGeom>
          <a:solidFill>
            <a:schemeClr val="accent6"/>
          </a:solidFill>
          <a:ln/>
        </p:spPr>
      </p:sp>
      <p:sp>
        <p:nvSpPr>
          <p:cNvPr id="8" name="Text 5"/>
          <p:cNvSpPr txBox="1"/>
          <p:nvPr/>
        </p:nvSpPr>
        <p:spPr>
          <a:xfrm>
            <a:off x="4873752" y="1188720"/>
            <a:ext cx="3648456" cy="256032"/>
          </a:xfrm>
          <a:prstGeom prst="rect">
            <a:avLst/>
          </a:prstGeom>
          <a:noFill/>
          <a:ln/>
        </p:spPr>
        <p:txBody>
          <a:bodyPr wrap="square" lIns="0" tIns="0" rIns="0" bIns="0" rtlCol="0" anchor="t"/>
          <a:lstStyle/>
          <a:p>
            <a:pPr indent="0" marL="0">
              <a:buNone/>
            </a:pPr>
            <a:r>
              <a:rPr lang="en-US" sz="1100" b="1" dirty="0">
                <a:solidFill>
                  <a:schemeClr val="accent1"/>
                </a:solidFill>
              </a:rPr>
              <a:t>Con la richiesta migliorata</a:t>
            </a:r>
            <a:endParaRPr lang="en-US" sz="1100" dirty="0"/>
          </a:p>
        </p:txBody>
      </p:sp>
      <p:sp>
        <p:nvSpPr>
          <p:cNvPr id="9" name="Text 6"/>
          <p:cNvSpPr txBox="1"/>
          <p:nvPr/>
        </p:nvSpPr>
        <p:spPr>
          <a:xfrm>
            <a:off x="4873752" y="1463040"/>
            <a:ext cx="3648456" cy="169164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Oggetto: Fattura [n.] scaduta da 30 giorni</a:t>
            </a:r>
            <a:endParaRPr lang="en-US" sz="1000" dirty="0"/>
          </a:p>
          <a:p>
            <a:pPr indent="0" marL="0">
              <a:buNone/>
            </a:pP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Gentile [Nome],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dai nostri controlli la fattura [n.] risulta ancora aperta: immagino si tratti di una svista, vista la puntualità di sempre. Se ci fosse qualche problema, possiamo sentirci al telefono questa settimana.</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Un cordiale saluto</a:t>
            </a:r>
            <a:endParaRPr lang="en-US" sz="1000" dirty="0"/>
          </a:p>
        </p:txBody>
      </p:sp>
      <p:sp>
        <p:nvSpPr>
          <p:cNvPr id="10" name="effetto Contesto"/>
          <p:cNvSpPr/>
          <p:nvPr/>
        </p:nvSpPr>
        <p:spPr>
          <a:xfrm>
            <a:off x="457200" y="3383280"/>
            <a:ext cx="1965960" cy="731520"/>
          </a:xfrm>
          <a:prstGeom prst="roundRect">
            <a:avLst>
              <a:gd name="adj" fmla="val 10000"/>
            </a:avLst>
          </a:prstGeom>
          <a:solidFill>
            <a:schemeClr val="bg2"/>
          </a:solidFill>
          <a:ln/>
        </p:spPr>
      </p:sp>
      <p:sp>
        <p:nvSpPr>
          <p:cNvPr id="11" name="Text 8"/>
          <p:cNvSpPr txBox="1"/>
          <p:nvPr/>
        </p:nvSpPr>
        <p:spPr>
          <a:xfrm>
            <a:off x="566928" y="3419856"/>
            <a:ext cx="1783080" cy="274320"/>
          </a:xfrm>
          <a:prstGeom prst="rect">
            <a:avLst/>
          </a:prstGeom>
          <a:noFill/>
          <a:ln/>
        </p:spPr>
        <p:txBody>
          <a:bodyPr wrap="square" lIns="0" tIns="0" rIns="0" bIns="0" rtlCol="0" anchor="t"/>
          <a:lstStyle/>
          <a:p>
            <a:pPr indent="0" marL="0">
              <a:buNone/>
            </a:pPr>
            <a:r>
              <a:rPr lang="en-US" sz="1200" b="1" dirty="0">
                <a:solidFill>
                  <a:schemeClr val="accent1"/>
                </a:solidFill>
              </a:rPr>
              <a:t>Contesto</a:t>
            </a:r>
            <a:endParaRPr lang="en-US" sz="1200" dirty="0"/>
          </a:p>
        </p:txBody>
      </p:sp>
      <p:sp>
        <p:nvSpPr>
          <p:cNvPr id="12" name="Text 9"/>
          <p:cNvSpPr txBox="1"/>
          <p:nvPr/>
        </p:nvSpPr>
        <p:spPr>
          <a:xfrm>
            <a:off x="566928" y="3694176"/>
            <a:ext cx="1783080" cy="365760"/>
          </a:xfrm>
          <a:prstGeom prst="rect">
            <a:avLst/>
          </a:prstGeom>
          <a:noFill/>
          <a:ln/>
        </p:spPr>
        <p:txBody>
          <a:bodyPr wrap="square" lIns="0" tIns="0" rIns="0" bIns="0" rtlCol="0" anchor="t"/>
          <a:lstStyle/>
          <a:p>
            <a:pPr indent="0" marL="0">
              <a:buNone/>
            </a:pPr>
            <a:r>
              <a:rPr lang="en-US" sz="1100" dirty="0">
                <a:solidFill>
                  <a:schemeClr val="tx1"/>
                </a:solidFill>
              </a:rPr>
              <a:t>tono che riconosce la relazione</a:t>
            </a:r>
            <a:endParaRPr lang="en-US" sz="1100" dirty="0"/>
          </a:p>
        </p:txBody>
      </p:sp>
      <p:sp>
        <p:nvSpPr>
          <p:cNvPr id="13" name="effetto Destinatario"/>
          <p:cNvSpPr/>
          <p:nvPr/>
        </p:nvSpPr>
        <p:spPr>
          <a:xfrm>
            <a:off x="2560320" y="3383280"/>
            <a:ext cx="1965960" cy="731520"/>
          </a:xfrm>
          <a:prstGeom prst="roundRect">
            <a:avLst>
              <a:gd name="adj" fmla="val 10000"/>
            </a:avLst>
          </a:prstGeom>
          <a:solidFill>
            <a:schemeClr val="bg2"/>
          </a:solidFill>
          <a:ln/>
        </p:spPr>
      </p:sp>
      <p:sp>
        <p:nvSpPr>
          <p:cNvPr id="14" name="Text 11"/>
          <p:cNvSpPr txBox="1"/>
          <p:nvPr/>
        </p:nvSpPr>
        <p:spPr>
          <a:xfrm>
            <a:off x="2670048" y="3419856"/>
            <a:ext cx="1783080" cy="274320"/>
          </a:xfrm>
          <a:prstGeom prst="rect">
            <a:avLst/>
          </a:prstGeom>
          <a:noFill/>
          <a:ln/>
        </p:spPr>
        <p:txBody>
          <a:bodyPr wrap="square" lIns="0" tIns="0" rIns="0" bIns="0" rtlCol="0" anchor="t"/>
          <a:lstStyle/>
          <a:p>
            <a:pPr indent="0" marL="0">
              <a:buNone/>
            </a:pPr>
            <a:r>
              <a:rPr lang="en-US" sz="1200" b="1" dirty="0">
                <a:solidFill>
                  <a:schemeClr val="accent1"/>
                </a:solidFill>
              </a:rPr>
              <a:t>Destinatario</a:t>
            </a:r>
            <a:endParaRPr lang="en-US" sz="1200" dirty="0"/>
          </a:p>
        </p:txBody>
      </p:sp>
      <p:sp>
        <p:nvSpPr>
          <p:cNvPr id="15" name="Text 12"/>
          <p:cNvSpPr txBox="1"/>
          <p:nvPr/>
        </p:nvSpPr>
        <p:spPr>
          <a:xfrm>
            <a:off x="2670048" y="3694176"/>
            <a:ext cx="1783080" cy="365760"/>
          </a:xfrm>
          <a:prstGeom prst="rect">
            <a:avLst/>
          </a:prstGeom>
          <a:noFill/>
          <a:ln/>
        </p:spPr>
        <p:txBody>
          <a:bodyPr wrap="square" lIns="0" tIns="0" rIns="0" bIns="0" rtlCol="0" anchor="t"/>
          <a:lstStyle/>
          <a:p>
            <a:pPr indent="0" marL="0">
              <a:buNone/>
            </a:pPr>
            <a:r>
              <a:rPr lang="en-US" sz="1100" dirty="0">
                <a:solidFill>
                  <a:schemeClr val="tx1"/>
                </a:solidFill>
              </a:rPr>
              <a:t>registro adatto</a:t>
            </a:r>
            <a:endParaRPr lang="en-US" sz="1100" dirty="0"/>
          </a:p>
        </p:txBody>
      </p:sp>
      <p:sp>
        <p:nvSpPr>
          <p:cNvPr id="16" name="effetto Obiettivo"/>
          <p:cNvSpPr/>
          <p:nvPr/>
        </p:nvSpPr>
        <p:spPr>
          <a:xfrm>
            <a:off x="4663440" y="3383280"/>
            <a:ext cx="1965960" cy="731520"/>
          </a:xfrm>
          <a:prstGeom prst="roundRect">
            <a:avLst>
              <a:gd name="adj" fmla="val 10000"/>
            </a:avLst>
          </a:prstGeom>
          <a:solidFill>
            <a:schemeClr val="bg2"/>
          </a:solidFill>
          <a:ln/>
        </p:spPr>
      </p:sp>
      <p:sp>
        <p:nvSpPr>
          <p:cNvPr id="17" name="Text 14"/>
          <p:cNvSpPr txBox="1"/>
          <p:nvPr/>
        </p:nvSpPr>
        <p:spPr>
          <a:xfrm>
            <a:off x="4773168" y="3419856"/>
            <a:ext cx="1783080" cy="274320"/>
          </a:xfrm>
          <a:prstGeom prst="rect">
            <a:avLst/>
          </a:prstGeom>
          <a:noFill/>
          <a:ln/>
        </p:spPr>
        <p:txBody>
          <a:bodyPr wrap="square" lIns="0" tIns="0" rIns="0" bIns="0" rtlCol="0" anchor="t"/>
          <a:lstStyle/>
          <a:p>
            <a:pPr indent="0" marL="0">
              <a:buNone/>
            </a:pPr>
            <a:r>
              <a:rPr lang="en-US" sz="1200" b="1" dirty="0">
                <a:solidFill>
                  <a:schemeClr val="accent1"/>
                </a:solidFill>
              </a:rPr>
              <a:t>Obiettivo</a:t>
            </a:r>
            <a:endParaRPr lang="en-US" sz="1200" dirty="0"/>
          </a:p>
        </p:txBody>
      </p:sp>
      <p:sp>
        <p:nvSpPr>
          <p:cNvPr id="18" name="Text 15"/>
          <p:cNvSpPr txBox="1"/>
          <p:nvPr/>
        </p:nvSpPr>
        <p:spPr>
          <a:xfrm>
            <a:off x="4773168" y="3694176"/>
            <a:ext cx="1783080" cy="365760"/>
          </a:xfrm>
          <a:prstGeom prst="rect">
            <a:avLst/>
          </a:prstGeom>
          <a:noFill/>
          <a:ln/>
        </p:spPr>
        <p:txBody>
          <a:bodyPr wrap="square" lIns="0" tIns="0" rIns="0" bIns="0" rtlCol="0" anchor="t"/>
          <a:lstStyle/>
          <a:p>
            <a:pPr indent="0" marL="0">
              <a:buNone/>
            </a:pPr>
            <a:r>
              <a:rPr lang="en-US" sz="1100" dirty="0">
                <a:solidFill>
                  <a:schemeClr val="tx1"/>
                </a:solidFill>
              </a:rPr>
              <a:t>propone una soluzione</a:t>
            </a:r>
            <a:endParaRPr lang="en-US" sz="1100" dirty="0"/>
          </a:p>
        </p:txBody>
      </p:sp>
      <p:sp>
        <p:nvSpPr>
          <p:cNvPr id="19" name="effetto Formato"/>
          <p:cNvSpPr/>
          <p:nvPr/>
        </p:nvSpPr>
        <p:spPr>
          <a:xfrm>
            <a:off x="6766560" y="3383280"/>
            <a:ext cx="1965960" cy="731520"/>
          </a:xfrm>
          <a:prstGeom prst="roundRect">
            <a:avLst>
              <a:gd name="adj" fmla="val 10000"/>
            </a:avLst>
          </a:prstGeom>
          <a:solidFill>
            <a:schemeClr val="bg2"/>
          </a:solidFill>
          <a:ln/>
        </p:spPr>
      </p:sp>
      <p:sp>
        <p:nvSpPr>
          <p:cNvPr id="20" name="Text 17"/>
          <p:cNvSpPr txBox="1"/>
          <p:nvPr/>
        </p:nvSpPr>
        <p:spPr>
          <a:xfrm>
            <a:off x="6876288" y="3419856"/>
            <a:ext cx="1783080" cy="274320"/>
          </a:xfrm>
          <a:prstGeom prst="rect">
            <a:avLst/>
          </a:prstGeom>
          <a:noFill/>
          <a:ln/>
        </p:spPr>
        <p:txBody>
          <a:bodyPr wrap="square" lIns="0" tIns="0" rIns="0" bIns="0" rtlCol="0" anchor="t"/>
          <a:lstStyle/>
          <a:p>
            <a:pPr indent="0" marL="0">
              <a:buNone/>
            </a:pPr>
            <a:r>
              <a:rPr lang="en-US" sz="1200" b="1" dirty="0">
                <a:solidFill>
                  <a:schemeClr val="accent1"/>
                </a:solidFill>
              </a:rPr>
              <a:t>Formato</a:t>
            </a:r>
            <a:endParaRPr lang="en-US" sz="1200" dirty="0"/>
          </a:p>
        </p:txBody>
      </p:sp>
      <p:sp>
        <p:nvSpPr>
          <p:cNvPr id="21" name="Text 18"/>
          <p:cNvSpPr txBox="1"/>
          <p:nvPr/>
        </p:nvSpPr>
        <p:spPr>
          <a:xfrm>
            <a:off x="6876288" y="3694176"/>
            <a:ext cx="1783080" cy="365760"/>
          </a:xfrm>
          <a:prstGeom prst="rect">
            <a:avLst/>
          </a:prstGeom>
          <a:noFill/>
          <a:ln/>
        </p:spPr>
        <p:txBody>
          <a:bodyPr wrap="square" lIns="0" tIns="0" rIns="0" bIns="0" rtlCol="0" anchor="t"/>
          <a:lstStyle/>
          <a:p>
            <a:pPr indent="0" marL="0">
              <a:buNone/>
            </a:pPr>
            <a:r>
              <a:rPr lang="en-US" sz="1100" dirty="0">
                <a:solidFill>
                  <a:schemeClr val="tx1"/>
                </a:solidFill>
              </a:rPr>
              <a:t>oggetto chiaro, testo breve</a:t>
            </a:r>
            <a:endParaRPr lang="en-US" sz="1100" dirty="0"/>
          </a:p>
        </p:txBody>
      </p:sp>
      <p:sp>
        <p:nvSpPr>
          <p:cNvPr id="22" name="Text 19"/>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100" i="1" dirty="0">
                <a:solidFill>
                  <a:schemeClr val="tx2"/>
                </a:solidFill>
              </a:rPr>
              <a:t>Output illustrativi, scritti per il corso: ripetere la prova dal vivo con lo strumento autorizzato.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Chiarezza, specificità, pertinenza</a:t>
            </a:r>
            <a:endParaRPr lang="en-US" sz="2600" dirty="0"/>
          </a:p>
        </p:txBody>
      </p:sp>
      <p:sp>
        <p:nvSpPr>
          <p:cNvPr id="4" name="scheda Chiarezza"/>
          <p:cNvSpPr/>
          <p:nvPr/>
        </p:nvSpPr>
        <p:spPr>
          <a:xfrm>
            <a:off x="457200" y="1097280"/>
            <a:ext cx="2615184" cy="2514600"/>
          </a:xfrm>
          <a:prstGeom prst="roundRect">
            <a:avLst>
              <a:gd name="adj" fmla="val 2909"/>
            </a:avLst>
          </a:prstGeom>
          <a:solidFill>
            <a:schemeClr val="bg2"/>
          </a:solidFill>
          <a:ln/>
        </p:spPr>
      </p:sp>
      <p:sp>
        <p:nvSpPr>
          <p:cNvPr id="5" name="cerchio FiEye"/>
          <p:cNvSpPr/>
          <p:nvPr/>
        </p:nvSpPr>
        <p:spPr>
          <a:xfrm>
            <a:off x="640080" y="1280160"/>
            <a:ext cx="457200" cy="457200"/>
          </a:xfrm>
          <a:prstGeom prst="ellipse">
            <a:avLst/>
          </a:prstGeom>
          <a:solidFill>
            <a:schemeClr val="accent1"/>
          </a:solidFill>
          <a:ln/>
        </p:spPr>
      </p:sp>
      <p:pic>
        <p:nvPicPr>
          <p:cNvPr id="6" name="Image 0" descr="FiEye">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indent="0" marL="0">
              <a:buNone/>
            </a:pPr>
            <a:r>
              <a:rPr lang="en-US" sz="1600" b="1" dirty="0">
                <a:solidFill>
                  <a:schemeClr val="tx1"/>
                </a:solidFill>
              </a:rPr>
              <a:t>Chiarezza</a:t>
            </a:r>
            <a:endParaRPr lang="en-US" sz="1600" dirty="0"/>
          </a:p>
        </p:txBody>
      </p:sp>
      <p:sp>
        <p:nvSpPr>
          <p:cNvPr id="8" name="Text 4"/>
          <p:cNvSpPr txBox="1"/>
          <p:nvPr/>
        </p:nvSpPr>
        <p:spPr>
          <a:xfrm>
            <a:off x="640080" y="2231136"/>
            <a:ext cx="2249424" cy="1271016"/>
          </a:xfrm>
          <a:prstGeom prst="rect">
            <a:avLst/>
          </a:prstGeom>
          <a:noFill/>
          <a:ln/>
        </p:spPr>
        <p:txBody>
          <a:bodyPr wrap="square" lIns="0" tIns="0" rIns="0" bIns="0" rtlCol="0" anchor="t"/>
          <a:lstStyle/>
          <a:p>
            <a:pPr indent="0" marL="0">
              <a:spcAft>
                <a:spcPts val="1000"/>
              </a:spcAft>
              <a:buNone/>
            </a:pPr>
            <a:r>
              <a:rPr lang="en-US" sz="1200" dirty="0">
                <a:solidFill>
                  <a:schemeClr val="tx2"/>
                </a:solidFill>
              </a:rPr>
              <a:t>Interpretabile in un solo modo. Niente termini vaghi non precisati.</a:t>
            </a:r>
            <a:endParaRPr lang="en-US" sz="1200" dirty="0"/>
          </a:p>
          <a:p>
            <a:pPr indent="0" marL="0">
              <a:buNone/>
            </a:pPr>
            <a:r>
              <a:rPr lang="en-US" sz="1200" b="1" dirty="0">
                <a:solidFill>
                  <a:schemeClr val="accent5"/>
                </a:solidFill>
              </a:rPr>
              <a:t>Contrario: ambiguità</a:t>
            </a:r>
            <a:endParaRPr lang="en-US" sz="1200" dirty="0"/>
          </a:p>
        </p:txBody>
      </p:sp>
      <p:sp>
        <p:nvSpPr>
          <p:cNvPr id="9" name="scheda Specificità"/>
          <p:cNvSpPr/>
          <p:nvPr/>
        </p:nvSpPr>
        <p:spPr>
          <a:xfrm>
            <a:off x="3264408" y="1097280"/>
            <a:ext cx="2615184" cy="2514600"/>
          </a:xfrm>
          <a:prstGeom prst="roundRect">
            <a:avLst>
              <a:gd name="adj" fmla="val 2909"/>
            </a:avLst>
          </a:prstGeom>
          <a:solidFill>
            <a:schemeClr val="bg2"/>
          </a:solidFill>
          <a:ln/>
        </p:spPr>
      </p:sp>
      <p:sp>
        <p:nvSpPr>
          <p:cNvPr id="10" name="cerchio FiCrosshair"/>
          <p:cNvSpPr/>
          <p:nvPr/>
        </p:nvSpPr>
        <p:spPr>
          <a:xfrm>
            <a:off x="3447288" y="1280160"/>
            <a:ext cx="457200" cy="457200"/>
          </a:xfrm>
          <a:prstGeom prst="ellipse">
            <a:avLst/>
          </a:prstGeom>
          <a:solidFill>
            <a:schemeClr val="accent1"/>
          </a:solidFill>
          <a:ln/>
        </p:spPr>
      </p:sp>
      <p:pic>
        <p:nvPicPr>
          <p:cNvPr id="11" name="Image 1" descr="FiCrosshair">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indent="0" marL="0">
              <a:buNone/>
            </a:pPr>
            <a:r>
              <a:rPr lang="en-US" sz="1600" b="1" dirty="0">
                <a:solidFill>
                  <a:schemeClr val="tx1"/>
                </a:solidFill>
              </a:rPr>
              <a:t>Specificità</a:t>
            </a:r>
            <a:endParaRPr lang="en-US" sz="1600" dirty="0"/>
          </a:p>
        </p:txBody>
      </p:sp>
      <p:sp>
        <p:nvSpPr>
          <p:cNvPr id="13" name="Text 8"/>
          <p:cNvSpPr txBox="1"/>
          <p:nvPr/>
        </p:nvSpPr>
        <p:spPr>
          <a:xfrm>
            <a:off x="3447288" y="2231136"/>
            <a:ext cx="2249424" cy="1271016"/>
          </a:xfrm>
          <a:prstGeom prst="rect">
            <a:avLst/>
          </a:prstGeom>
          <a:noFill/>
          <a:ln/>
        </p:spPr>
        <p:txBody>
          <a:bodyPr wrap="square" lIns="0" tIns="0" rIns="0" bIns="0" rtlCol="0" anchor="t"/>
          <a:lstStyle/>
          <a:p>
            <a:pPr indent="0" marL="0">
              <a:spcAft>
                <a:spcPts val="1000"/>
              </a:spcAft>
              <a:buNone/>
            </a:pPr>
            <a:r>
              <a:rPr lang="en-US" sz="1200" dirty="0">
                <a:solidFill>
                  <a:schemeClr val="tx2"/>
                </a:solidFill>
              </a:rPr>
              <a:t>Indica destinatario, scopo, formato, vincoli. Non lascia al sistema le scelte importanti.</a:t>
            </a:r>
            <a:endParaRPr lang="en-US" sz="1200" dirty="0"/>
          </a:p>
          <a:p>
            <a:pPr indent="0" marL="0">
              <a:buNone/>
            </a:pPr>
            <a:r>
              <a:rPr lang="en-US" sz="1200" b="1" dirty="0">
                <a:solidFill>
                  <a:schemeClr val="accent5"/>
                </a:solidFill>
              </a:rPr>
              <a:t>Contrario: informazioni mancanti</a:t>
            </a:r>
            <a:endParaRPr lang="en-US" sz="1200" dirty="0"/>
          </a:p>
        </p:txBody>
      </p:sp>
      <p:sp>
        <p:nvSpPr>
          <p:cNvPr id="14" name="scheda Pertinenza"/>
          <p:cNvSpPr/>
          <p:nvPr/>
        </p:nvSpPr>
        <p:spPr>
          <a:xfrm>
            <a:off x="6071616" y="1097280"/>
            <a:ext cx="2615184" cy="2514600"/>
          </a:xfrm>
          <a:prstGeom prst="roundRect">
            <a:avLst>
              <a:gd name="adj" fmla="val 2909"/>
            </a:avLst>
          </a:prstGeom>
          <a:solidFill>
            <a:schemeClr val="bg2"/>
          </a:solidFill>
          <a:ln/>
        </p:spPr>
      </p:sp>
      <p:sp>
        <p:nvSpPr>
          <p:cNvPr id="15" name="cerchio FiFilter"/>
          <p:cNvSpPr/>
          <p:nvPr/>
        </p:nvSpPr>
        <p:spPr>
          <a:xfrm>
            <a:off x="6254496" y="1280160"/>
            <a:ext cx="457200" cy="457200"/>
          </a:xfrm>
          <a:prstGeom prst="ellipse">
            <a:avLst/>
          </a:prstGeom>
          <a:solidFill>
            <a:schemeClr val="accent1"/>
          </a:solidFill>
          <a:ln/>
        </p:spPr>
      </p:sp>
      <p:pic>
        <p:nvPicPr>
          <p:cNvPr id="16" name="Image 2" descr="FiFilter">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indent="0" marL="0">
              <a:buNone/>
            </a:pPr>
            <a:r>
              <a:rPr lang="en-US" sz="1600" b="1" dirty="0">
                <a:solidFill>
                  <a:schemeClr val="tx1"/>
                </a:solidFill>
              </a:rPr>
              <a:t>Pertinenza</a:t>
            </a:r>
            <a:endParaRPr lang="en-US" sz="1600" dirty="0"/>
          </a:p>
        </p:txBody>
      </p:sp>
      <p:sp>
        <p:nvSpPr>
          <p:cNvPr id="18" name="Text 12"/>
          <p:cNvSpPr txBox="1"/>
          <p:nvPr/>
        </p:nvSpPr>
        <p:spPr>
          <a:xfrm>
            <a:off x="6254496" y="2231136"/>
            <a:ext cx="2249424" cy="1271016"/>
          </a:xfrm>
          <a:prstGeom prst="rect">
            <a:avLst/>
          </a:prstGeom>
          <a:noFill/>
          <a:ln/>
        </p:spPr>
        <p:txBody>
          <a:bodyPr wrap="square" lIns="0" tIns="0" rIns="0" bIns="0" rtlCol="0" anchor="t"/>
          <a:lstStyle/>
          <a:p>
            <a:pPr indent="0" marL="0">
              <a:spcAft>
                <a:spcPts val="1000"/>
              </a:spcAft>
              <a:buNone/>
            </a:pPr>
            <a:r>
              <a:rPr lang="en-US" sz="1200" dirty="0">
                <a:solidFill>
                  <a:schemeClr val="tx2"/>
                </a:solidFill>
              </a:rPr>
              <a:t>Solo informazioni utili, niente di superfluo o fuorviante.</a:t>
            </a:r>
            <a:endParaRPr lang="en-US" sz="1200" dirty="0"/>
          </a:p>
          <a:p>
            <a:pPr indent="0" marL="0">
              <a:buNone/>
            </a:pPr>
            <a:r>
              <a:rPr lang="en-US" sz="1200" b="1" dirty="0">
                <a:solidFill>
                  <a:schemeClr val="accent5"/>
                </a:solidFill>
              </a:rPr>
              <a:t>Contrario: rumore</a:t>
            </a:r>
            <a:endParaRPr lang="en-US" sz="1200" dirty="0"/>
          </a:p>
        </p:txBody>
      </p:sp>
      <p:sp>
        <p:nvSpPr>
          <p:cNvPr id="19" name="test collega"/>
          <p:cNvSpPr/>
          <p:nvPr/>
        </p:nvSpPr>
        <p:spPr>
          <a:xfrm>
            <a:off x="457200" y="3749040"/>
            <a:ext cx="8229600" cy="777240"/>
          </a:xfrm>
          <a:prstGeom prst="roundRect">
            <a:avLst>
              <a:gd name="adj" fmla="val 9412"/>
            </a:avLst>
          </a:prstGeom>
          <a:solidFill>
            <a:schemeClr val="tx1"/>
          </a:solidFill>
          <a:ln/>
        </p:spPr>
      </p:sp>
      <p:sp>
        <p:nvSpPr>
          <p:cNvPr id="20" name="cerchio FiUser"/>
          <p:cNvSpPr/>
          <p:nvPr/>
        </p:nvSpPr>
        <p:spPr>
          <a:xfrm>
            <a:off x="640080" y="3867912"/>
            <a:ext cx="512064" cy="512064"/>
          </a:xfrm>
          <a:prstGeom prst="ellipse">
            <a:avLst/>
          </a:prstGeom>
          <a:solidFill>
            <a:schemeClr val="accent1"/>
          </a:solidFill>
          <a:ln/>
        </p:spPr>
      </p:sp>
      <p:pic>
        <p:nvPicPr>
          <p:cNvPr id="21" name="Image 3" descr="FiUser">    </p:cNvPr>
          <p:cNvPicPr>
            <a:picLocks noChangeAspect="1"/>
          </p:cNvPicPr>
          <p:nvPr/>
        </p:nvPicPr>
        <p:blipFill>
          <a:blip r:embed="rId4"/>
          <a:stretch>
            <a:fillRect/>
          </a:stretch>
        </p:blipFill>
        <p:spPr>
          <a:xfrm>
            <a:off x="768096" y="3995928"/>
            <a:ext cx="256032" cy="256032"/>
          </a:xfrm>
          <a:prstGeom prst="rect">
            <a:avLst/>
          </a:prstGeom>
        </p:spPr>
      </p:pic>
      <p:sp>
        <p:nvSpPr>
          <p:cNvPr id="22" name="Text 15"/>
          <p:cNvSpPr txBox="1"/>
          <p:nvPr/>
        </p:nvSpPr>
        <p:spPr>
          <a:xfrm>
            <a:off x="1325880" y="3749040"/>
            <a:ext cx="7223760" cy="777240"/>
          </a:xfrm>
          <a:prstGeom prst="rect">
            <a:avLst/>
          </a:prstGeom>
          <a:noFill/>
          <a:ln/>
        </p:spPr>
        <p:txBody>
          <a:bodyPr wrap="square" lIns="0" tIns="0" rIns="0" bIns="0" rtlCol="0" anchor="ctr"/>
          <a:lstStyle/>
          <a:p>
            <a:pPr indent="0" marL="0">
              <a:buNone/>
            </a:pPr>
            <a:r>
              <a:rPr lang="en-US" sz="1300" dirty="0">
                <a:solidFill>
                  <a:schemeClr val="bg1"/>
                </a:solidFill>
              </a:rPr>
              <a:t>Il test del collega: quali domande farebbe un collega competente che non sa nulla della situazione? Le risposte sono ciò che manca.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Come aumentare la qualità delle risposte</a:t>
            </a:r>
            <a:endParaRPr lang="en-US" sz="2600" dirty="0"/>
          </a:p>
        </p:txBody>
      </p:sp>
      <p:sp>
        <p:nvSpPr>
          <p:cNvPr id="4" name="scheda Una buona richiesta migliora"/>
          <p:cNvSpPr/>
          <p:nvPr/>
        </p:nvSpPr>
        <p:spPr>
          <a:xfrm>
            <a:off x="457200" y="1097280"/>
            <a:ext cx="3291840" cy="3429000"/>
          </a:xfrm>
          <a:prstGeom prst="roundRect">
            <a:avLst>
              <a:gd name="adj" fmla="val 2222"/>
            </a:avLst>
          </a:prstGeom>
          <a:solidFill>
            <a:schemeClr val="accent6"/>
          </a:solidFill>
          <a:ln/>
        </p:spPr>
      </p:sp>
      <p:sp>
        <p:nvSpPr>
          <p:cNvPr id="5" name="cerchio FiTrendingUp"/>
          <p:cNvSpPr/>
          <p:nvPr/>
        </p:nvSpPr>
        <p:spPr>
          <a:xfrm>
            <a:off x="640080" y="1280160"/>
            <a:ext cx="457200" cy="457200"/>
          </a:xfrm>
          <a:prstGeom prst="ellipse">
            <a:avLst/>
          </a:prstGeom>
          <a:solidFill>
            <a:schemeClr val="accent1"/>
          </a:solidFill>
          <a:ln/>
        </p:spPr>
      </p:sp>
      <p:pic>
        <p:nvPicPr>
          <p:cNvPr id="6" name="Image 0" descr="FiTrendingUp">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926080" cy="347472"/>
          </a:xfrm>
          <a:prstGeom prst="rect">
            <a:avLst/>
          </a:prstGeom>
          <a:noFill/>
          <a:ln/>
        </p:spPr>
        <p:txBody>
          <a:bodyPr wrap="square" lIns="0" tIns="0" rIns="0" bIns="0" rtlCol="0" anchor="t"/>
          <a:lstStyle/>
          <a:p>
            <a:pPr indent="0" marL="0">
              <a:buNone/>
            </a:pPr>
            <a:r>
              <a:rPr lang="en-US" sz="1500" b="1" dirty="0">
                <a:solidFill>
                  <a:schemeClr val="tx1"/>
                </a:solidFill>
              </a:rPr>
              <a:t>Una buona richiesta migliora</a:t>
            </a:r>
            <a:endParaRPr lang="en-US" sz="1500" dirty="0"/>
          </a:p>
        </p:txBody>
      </p:sp>
      <p:sp>
        <p:nvSpPr>
          <p:cNvPr id="8" name="Text 4"/>
          <p:cNvSpPr txBox="1"/>
          <p:nvPr/>
        </p:nvSpPr>
        <p:spPr>
          <a:xfrm>
            <a:off x="640080" y="2231136"/>
            <a:ext cx="2926080" cy="2185416"/>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Pertinenza al compito</a:t>
            </a:r>
            <a:endParaRPr lang="en-US" sz="1300" dirty="0"/>
          </a:p>
          <a:p>
            <a:pPr marL="177800" indent="-177800">
              <a:spcAft>
                <a:spcPts val="600"/>
              </a:spcAft>
              <a:buSzPct val="100000"/>
              <a:buChar char="•"/>
            </a:pPr>
            <a:r>
              <a:rPr lang="en-US" sz="1300" dirty="0">
                <a:solidFill>
                  <a:schemeClr val="tx2"/>
                </a:solidFill>
              </a:rPr>
              <a:t>Aderenza a obiettivi e vincoli</a:t>
            </a:r>
            <a:endParaRPr lang="en-US" sz="1300" dirty="0"/>
          </a:p>
          <a:p>
            <a:pPr marL="177800" indent="-177800">
              <a:spcAft>
                <a:spcPts val="600"/>
              </a:spcAft>
              <a:buSzPct val="100000"/>
              <a:buChar char="•"/>
            </a:pPr>
            <a:r>
              <a:rPr lang="en-US" sz="1300" dirty="0">
                <a:solidFill>
                  <a:schemeClr val="tx2"/>
                </a:solidFill>
              </a:rPr>
              <a:t>Formato, tono, livello di dettaglio</a:t>
            </a:r>
            <a:endParaRPr lang="en-US" sz="1300" dirty="0"/>
          </a:p>
          <a:p>
            <a:pPr marL="177800" indent="-177800">
              <a:spcAft>
                <a:spcPts val="600"/>
              </a:spcAft>
              <a:buSzPct val="100000"/>
              <a:buChar char="•"/>
            </a:pPr>
            <a:r>
              <a:rPr lang="en-US" sz="1300" dirty="0">
                <a:solidFill>
                  <a:schemeClr val="tx2"/>
                </a:solidFill>
              </a:rPr>
              <a:t>Numero di correzioni necessarie</a:t>
            </a:r>
            <a:endParaRPr lang="en-US" sz="1300" dirty="0"/>
          </a:p>
        </p:txBody>
      </p:sp>
      <p:sp>
        <p:nvSpPr>
          <p:cNvPr id="9" name="Text 5"/>
          <p:cNvSpPr txBox="1"/>
          <p:nvPr/>
        </p:nvSpPr>
        <p:spPr>
          <a:xfrm>
            <a:off x="3977640" y="1097280"/>
            <a:ext cx="4709160" cy="320040"/>
          </a:xfrm>
          <a:prstGeom prst="rect">
            <a:avLst/>
          </a:prstGeom>
          <a:noFill/>
          <a:ln/>
        </p:spPr>
        <p:txBody>
          <a:bodyPr wrap="square" lIns="0" tIns="0" rIns="0" bIns="0" rtlCol="0" anchor="t"/>
          <a:lstStyle/>
          <a:p>
            <a:pPr indent="0" marL="0">
              <a:buNone/>
            </a:pPr>
            <a:r>
              <a:rPr lang="en-US" sz="1500" b="1" dirty="0">
                <a:solidFill>
                  <a:schemeClr val="tx1"/>
                </a:solidFill>
              </a:rPr>
              <a:t>Tre comportamenti che fanno la differenza</a:t>
            </a:r>
            <a:endParaRPr lang="en-US" sz="1500" dirty="0"/>
          </a:p>
        </p:txBody>
      </p:sp>
      <p:sp>
        <p:nvSpPr>
          <p:cNvPr id="10" name="Fornire informazioni pertinenti"/>
          <p:cNvSpPr/>
          <p:nvPr/>
        </p:nvSpPr>
        <p:spPr>
          <a:xfrm>
            <a:off x="3977640" y="1508760"/>
            <a:ext cx="4709160" cy="914400"/>
          </a:xfrm>
          <a:prstGeom prst="roundRect">
            <a:avLst>
              <a:gd name="adj" fmla="val 8000"/>
            </a:avLst>
          </a:prstGeom>
          <a:solidFill>
            <a:schemeClr val="bg2"/>
          </a:solidFill>
          <a:ln/>
        </p:spPr>
      </p:sp>
      <p:sp>
        <p:nvSpPr>
          <p:cNvPr id="11" name="cerchio FiFileText"/>
          <p:cNvSpPr/>
          <p:nvPr/>
        </p:nvSpPr>
        <p:spPr>
          <a:xfrm>
            <a:off x="4114800" y="1719072"/>
            <a:ext cx="493776" cy="493776"/>
          </a:xfrm>
          <a:prstGeom prst="ellipse">
            <a:avLst/>
          </a:prstGeom>
          <a:solidFill>
            <a:schemeClr val="accent1"/>
          </a:solidFill>
          <a:ln/>
        </p:spPr>
      </p:sp>
      <p:pic>
        <p:nvPicPr>
          <p:cNvPr id="12" name="Image 1" descr="FiFileText">    </p:cNvPr>
          <p:cNvPicPr>
            <a:picLocks noChangeAspect="1"/>
          </p:cNvPicPr>
          <p:nvPr/>
        </p:nvPicPr>
        <p:blipFill>
          <a:blip r:embed="rId2"/>
          <a:stretch>
            <a:fillRect/>
          </a:stretch>
        </p:blipFill>
        <p:spPr>
          <a:xfrm>
            <a:off x="4238244" y="1842516"/>
            <a:ext cx="246888" cy="246888"/>
          </a:xfrm>
          <a:prstGeom prst="rect">
            <a:avLst/>
          </a:prstGeom>
        </p:spPr>
      </p:pic>
      <p:sp>
        <p:nvSpPr>
          <p:cNvPr id="13" name="Text 8"/>
          <p:cNvSpPr txBox="1"/>
          <p:nvPr/>
        </p:nvSpPr>
        <p:spPr>
          <a:xfrm>
            <a:off x="4754880" y="1600200"/>
            <a:ext cx="3840480" cy="320040"/>
          </a:xfrm>
          <a:prstGeom prst="rect">
            <a:avLst/>
          </a:prstGeom>
          <a:noFill/>
          <a:ln/>
        </p:spPr>
        <p:txBody>
          <a:bodyPr wrap="square" lIns="0" tIns="0" rIns="0" bIns="0" rtlCol="0" anchor="t"/>
          <a:lstStyle/>
          <a:p>
            <a:pPr indent="0" marL="0">
              <a:buNone/>
            </a:pPr>
            <a:r>
              <a:rPr lang="en-US" sz="1300" b="1" dirty="0">
                <a:solidFill>
                  <a:schemeClr val="tx1"/>
                </a:solidFill>
              </a:rPr>
              <a:t>Fornire informazioni pertinenti</a:t>
            </a:r>
            <a:endParaRPr lang="en-US" sz="1300" dirty="0"/>
          </a:p>
        </p:txBody>
      </p:sp>
      <p:sp>
        <p:nvSpPr>
          <p:cNvPr id="14" name="Text 9"/>
          <p:cNvSpPr txBox="1"/>
          <p:nvPr/>
        </p:nvSpPr>
        <p:spPr>
          <a:xfrm>
            <a:off x="4754880" y="1920240"/>
            <a:ext cx="3840480" cy="457200"/>
          </a:xfrm>
          <a:prstGeom prst="rect">
            <a:avLst/>
          </a:prstGeom>
          <a:noFill/>
          <a:ln/>
        </p:spPr>
        <p:txBody>
          <a:bodyPr wrap="square" lIns="0" tIns="0" rIns="0" bIns="0" rtlCol="0" anchor="t"/>
          <a:lstStyle/>
          <a:p>
            <a:pPr indent="0" marL="0">
              <a:buNone/>
            </a:pPr>
            <a:r>
              <a:rPr lang="en-US" sz="1200" dirty="0">
                <a:solidFill>
                  <a:schemeClr val="tx2"/>
                </a:solidFill>
              </a:rPr>
              <a:t>Ciò che riguarda la nostra situazione va dato al sistema.</a:t>
            </a:r>
            <a:endParaRPr lang="en-US" sz="1200" dirty="0"/>
          </a:p>
        </p:txBody>
      </p:sp>
      <p:sp>
        <p:nvSpPr>
          <p:cNvPr id="15" name="Chiedere chiarimenti quando serve"/>
          <p:cNvSpPr/>
          <p:nvPr/>
        </p:nvSpPr>
        <p:spPr>
          <a:xfrm>
            <a:off x="3977640" y="2532888"/>
            <a:ext cx="4709160" cy="914400"/>
          </a:xfrm>
          <a:prstGeom prst="roundRect">
            <a:avLst>
              <a:gd name="adj" fmla="val 8000"/>
            </a:avLst>
          </a:prstGeom>
          <a:solidFill>
            <a:schemeClr val="bg2"/>
          </a:solidFill>
          <a:ln/>
        </p:spPr>
      </p:sp>
      <p:sp>
        <p:nvSpPr>
          <p:cNvPr id="16" name="cerchio FiHelpCircle"/>
          <p:cNvSpPr/>
          <p:nvPr/>
        </p:nvSpPr>
        <p:spPr>
          <a:xfrm>
            <a:off x="4114800" y="2743200"/>
            <a:ext cx="493776" cy="493776"/>
          </a:xfrm>
          <a:prstGeom prst="ellipse">
            <a:avLst/>
          </a:prstGeom>
          <a:solidFill>
            <a:schemeClr val="accent1"/>
          </a:solidFill>
          <a:ln/>
        </p:spPr>
      </p:sp>
      <p:pic>
        <p:nvPicPr>
          <p:cNvPr id="17" name="Image 2" descr="FiHelpCircle">    </p:cNvPr>
          <p:cNvPicPr>
            <a:picLocks noChangeAspect="1"/>
          </p:cNvPicPr>
          <p:nvPr/>
        </p:nvPicPr>
        <p:blipFill>
          <a:blip r:embed="rId3"/>
          <a:stretch>
            <a:fillRect/>
          </a:stretch>
        </p:blipFill>
        <p:spPr>
          <a:xfrm>
            <a:off x="4238244" y="2866644"/>
            <a:ext cx="246888" cy="246888"/>
          </a:xfrm>
          <a:prstGeom prst="rect">
            <a:avLst/>
          </a:prstGeom>
        </p:spPr>
      </p:pic>
      <p:sp>
        <p:nvSpPr>
          <p:cNvPr id="18" name="Text 12"/>
          <p:cNvSpPr txBox="1"/>
          <p:nvPr/>
        </p:nvSpPr>
        <p:spPr>
          <a:xfrm>
            <a:off x="4754880" y="2624328"/>
            <a:ext cx="3840480" cy="320040"/>
          </a:xfrm>
          <a:prstGeom prst="rect">
            <a:avLst/>
          </a:prstGeom>
          <a:noFill/>
          <a:ln/>
        </p:spPr>
        <p:txBody>
          <a:bodyPr wrap="square" lIns="0" tIns="0" rIns="0" bIns="0" rtlCol="0" anchor="t"/>
          <a:lstStyle/>
          <a:p>
            <a:pPr indent="0" marL="0">
              <a:buNone/>
            </a:pPr>
            <a:r>
              <a:rPr lang="en-US" sz="1300" b="1" dirty="0">
                <a:solidFill>
                  <a:schemeClr val="tx1"/>
                </a:solidFill>
              </a:rPr>
              <a:t>Chiedere chiarimenti quando serve</a:t>
            </a:r>
            <a:endParaRPr lang="en-US" sz="1300" dirty="0"/>
          </a:p>
        </p:txBody>
      </p:sp>
      <p:sp>
        <p:nvSpPr>
          <p:cNvPr id="19" name="Text 13"/>
          <p:cNvSpPr txBox="1"/>
          <p:nvPr/>
        </p:nvSpPr>
        <p:spPr>
          <a:xfrm>
            <a:off x="4754880" y="2944368"/>
            <a:ext cx="3840480" cy="457200"/>
          </a:xfrm>
          <a:prstGeom prst="rect">
            <a:avLst/>
          </a:prstGeom>
          <a:noFill/>
          <a:ln/>
        </p:spPr>
        <p:txBody>
          <a:bodyPr wrap="square" lIns="0" tIns="0" rIns="0" bIns="0" rtlCol="0" anchor="t"/>
          <a:lstStyle/>
          <a:p>
            <a:pPr indent="0" marL="0">
              <a:buNone/>
            </a:pPr>
            <a:r>
              <a:rPr lang="en-US" sz="1200" dirty="0">
                <a:solidFill>
                  <a:schemeClr val="tx2"/>
                </a:solidFill>
              </a:rPr>
              <a:t>Far emergere dati mancanti e ipotesi, in entrambe le direzioni.</a:t>
            </a:r>
            <a:endParaRPr lang="en-US" sz="1200" dirty="0"/>
          </a:p>
        </p:txBody>
      </p:sp>
      <p:sp>
        <p:nvSpPr>
          <p:cNvPr id="20" name="Verificare in proporzione all'importanza"/>
          <p:cNvSpPr/>
          <p:nvPr/>
        </p:nvSpPr>
        <p:spPr>
          <a:xfrm>
            <a:off x="3977640" y="3557016"/>
            <a:ext cx="4709160" cy="914400"/>
          </a:xfrm>
          <a:prstGeom prst="roundRect">
            <a:avLst>
              <a:gd name="adj" fmla="val 8000"/>
            </a:avLst>
          </a:prstGeom>
          <a:solidFill>
            <a:schemeClr val="bg2"/>
          </a:solidFill>
          <a:ln/>
        </p:spPr>
      </p:sp>
      <p:sp>
        <p:nvSpPr>
          <p:cNvPr id="21" name="cerchio FiCheckCircle"/>
          <p:cNvSpPr/>
          <p:nvPr/>
        </p:nvSpPr>
        <p:spPr>
          <a:xfrm>
            <a:off x="4114800" y="3767328"/>
            <a:ext cx="493776" cy="493776"/>
          </a:xfrm>
          <a:prstGeom prst="ellipse">
            <a:avLst/>
          </a:prstGeom>
          <a:solidFill>
            <a:schemeClr val="accent1"/>
          </a:solidFill>
          <a:ln/>
        </p:spPr>
      </p:sp>
      <p:pic>
        <p:nvPicPr>
          <p:cNvPr id="22" name="Image 3" descr="FiCheckCircle">    </p:cNvPr>
          <p:cNvPicPr>
            <a:picLocks noChangeAspect="1"/>
          </p:cNvPicPr>
          <p:nvPr/>
        </p:nvPicPr>
        <p:blipFill>
          <a:blip r:embed="rId4"/>
          <a:stretch>
            <a:fillRect/>
          </a:stretch>
        </p:blipFill>
        <p:spPr>
          <a:xfrm>
            <a:off x="4238244" y="3890772"/>
            <a:ext cx="246888" cy="246888"/>
          </a:xfrm>
          <a:prstGeom prst="rect">
            <a:avLst/>
          </a:prstGeom>
        </p:spPr>
      </p:pic>
      <p:sp>
        <p:nvSpPr>
          <p:cNvPr id="23" name="Text 16"/>
          <p:cNvSpPr txBox="1"/>
          <p:nvPr/>
        </p:nvSpPr>
        <p:spPr>
          <a:xfrm>
            <a:off x="4754880" y="3648456"/>
            <a:ext cx="3840480" cy="320040"/>
          </a:xfrm>
          <a:prstGeom prst="rect">
            <a:avLst/>
          </a:prstGeom>
          <a:noFill/>
          <a:ln/>
        </p:spPr>
        <p:txBody>
          <a:bodyPr wrap="square" lIns="0" tIns="0" rIns="0" bIns="0" rtlCol="0" anchor="t"/>
          <a:lstStyle/>
          <a:p>
            <a:pPr indent="0" marL="0">
              <a:buNone/>
            </a:pPr>
            <a:r>
              <a:rPr lang="en-US" sz="1300" b="1" dirty="0">
                <a:solidFill>
                  <a:schemeClr val="tx1"/>
                </a:solidFill>
              </a:rPr>
              <a:t>Verificare in proporzione all'importanza</a:t>
            </a:r>
            <a:endParaRPr lang="en-US" sz="1300" dirty="0"/>
          </a:p>
        </p:txBody>
      </p:sp>
      <p:sp>
        <p:nvSpPr>
          <p:cNvPr id="24" name="Text 17"/>
          <p:cNvSpPr txBox="1"/>
          <p:nvPr/>
        </p:nvSpPr>
        <p:spPr>
          <a:xfrm>
            <a:off x="4754880" y="3968496"/>
            <a:ext cx="3840480" cy="457200"/>
          </a:xfrm>
          <a:prstGeom prst="rect">
            <a:avLst/>
          </a:prstGeom>
          <a:noFill/>
          <a:ln/>
        </p:spPr>
        <p:txBody>
          <a:bodyPr wrap="square" lIns="0" tIns="0" rIns="0" bIns="0" rtlCol="0" anchor="t"/>
          <a:lstStyle/>
          <a:p>
            <a:pPr indent="0" marL="0">
              <a:buNone/>
            </a:pPr>
            <a:r>
              <a:rPr lang="en-US" sz="1200" dirty="0">
                <a:solidFill>
                  <a:schemeClr val="tx2"/>
                </a:solidFill>
              </a:rPr>
              <a:t>Una rilettura per una bozza, un controllo sulla fonte per una decisione.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Prompting e programmazione tradizionale</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3246120"/>
                <a:gridCol w="3246120"/>
              </a:tblGrid>
              <a:tr h="475488">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Programmazione tradizionale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Prompting</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75488">
                <a:tc>
                  <a:txBody>
                    <a:bodyPr/>
                    <a:lstStyle/>
                    <a:p>
                      <a:pPr indent="0" marL="0">
                        <a:buNone/>
                      </a:pPr>
                      <a:r>
                        <a:rPr lang="en-US" sz="1200" b="1" dirty="0">
                          <a:solidFill>
                            <a:schemeClr val="tx1"/>
                          </a:solidFill>
                        </a:rPr>
                        <a:t>Linguaggio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Formale, sintassi rigida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Prevalentemente naturale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Come opera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Esegue la logica del codice; l'esito dipende anche da input, stato e ambiente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Interpreta la richiesta; può dare risultati diversi a parità di richiesta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Istruzioni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Applicate come scritte nel codice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Seguite meglio se chiare, coerenti e non in conflitto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Punti di forza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Regole fisse, calcoli esatti, ripetibilità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Testi, linguaggio, compiti aperti, flessibilità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Competenze chiave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Tecniche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Comunicative: chiarezza, contesto, esempi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messaggio"/>
          <p:cNvSpPr/>
          <p:nvPr/>
        </p:nvSpPr>
        <p:spPr>
          <a:xfrm>
            <a:off x="457200" y="4069080"/>
            <a:ext cx="8229600" cy="475488"/>
          </a:xfrm>
          <a:prstGeom prst="roundRect">
            <a:avLst>
              <a:gd name="adj" fmla="val 15385"/>
            </a:avLst>
          </a:prstGeom>
          <a:solidFill>
            <a:schemeClr val="tx1"/>
          </a:solidFill>
          <a:ln/>
        </p:spPr>
      </p:sp>
      <p:sp>
        <p:nvSpPr>
          <p:cNvPr id="6" name="Text 2"/>
          <p:cNvSpPr txBox="1"/>
          <p:nvPr/>
        </p:nvSpPr>
        <p:spPr>
          <a:xfrm>
            <a:off x="640080" y="4069080"/>
            <a:ext cx="7863840" cy="475488"/>
          </a:xfrm>
          <a:prstGeom prst="rect">
            <a:avLst/>
          </a:prstGeom>
          <a:noFill/>
          <a:ln/>
        </p:spPr>
        <p:txBody>
          <a:bodyPr wrap="square" lIns="0" tIns="0" rIns="0" bIns="0" rtlCol="0" anchor="ctr"/>
          <a:lstStyle/>
          <a:p>
            <a:pPr indent="0" marL="0">
              <a:buNone/>
            </a:pPr>
            <a:r>
              <a:rPr lang="en-US" sz="1300" dirty="0">
                <a:solidFill>
                  <a:schemeClr val="bg1"/>
                </a:solidFill>
              </a:rPr>
              <a:t>Approcci complementari: l'AI può scrivere codice e usare strumenti di calcolo, e molti software integrano l'AI.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6.2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Gli elementi di una richiesta efficace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 prompt efficace rende espliciti i requisiti rilevanti; non deve essere necessariamente lungo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Prima il problema, poi il prompt</a:t>
            </a:r>
            <a:endParaRPr lang="en-US" sz="2600" dirty="0"/>
          </a:p>
        </p:txBody>
      </p:sp>
      <p:sp>
        <p:nvSpPr>
          <p:cNvPr id="4" name="Quale problema voglio risolvere?"/>
          <p:cNvSpPr/>
          <p:nvPr/>
        </p:nvSpPr>
        <p:spPr>
          <a:xfrm>
            <a:off x="457200" y="1097280"/>
            <a:ext cx="8229600" cy="749808"/>
          </a:xfrm>
          <a:prstGeom prst="roundRect">
            <a:avLst>
              <a:gd name="adj" fmla="val 9756"/>
            </a:avLst>
          </a:prstGeom>
          <a:solidFill>
            <a:schemeClr val="bg2"/>
          </a:solidFill>
          <a:ln/>
        </p:spPr>
      </p:sp>
      <p:sp>
        <p:nvSpPr>
          <p:cNvPr id="5" name="Text 2"/>
          <p:cNvSpPr txBox="1"/>
          <p:nvPr/>
        </p:nvSpPr>
        <p:spPr>
          <a:xfrm>
            <a:off x="594360" y="1097280"/>
            <a:ext cx="457200" cy="749808"/>
          </a:xfrm>
          <a:prstGeom prst="rect">
            <a:avLst/>
          </a:prstGeom>
          <a:noFill/>
          <a:ln/>
        </p:spPr>
        <p:txBody>
          <a:bodyPr wrap="square" lIns="0" tIns="0" rIns="0" bIns="0" rtlCol="0" anchor="ctr"/>
          <a:lstStyle/>
          <a:p>
            <a:pPr indent="0" marL="0">
              <a:buNone/>
            </a:pPr>
            <a:r>
              <a:rPr lang="en-US" sz="2400" b="1" dirty="0">
                <a:solidFill>
                  <a:schemeClr val="accent1"/>
                </a:solidFill>
              </a:rPr>
              <a:t>1</a:t>
            </a:r>
            <a:endParaRPr lang="en-US" sz="2400" dirty="0"/>
          </a:p>
        </p:txBody>
      </p:sp>
      <p:sp>
        <p:nvSpPr>
          <p:cNvPr id="6" name="Text 3"/>
          <p:cNvSpPr txBox="1"/>
          <p:nvPr/>
        </p:nvSpPr>
        <p:spPr>
          <a:xfrm>
            <a:off x="1097280" y="1097280"/>
            <a:ext cx="3200400" cy="749808"/>
          </a:xfrm>
          <a:prstGeom prst="rect">
            <a:avLst/>
          </a:prstGeom>
          <a:noFill/>
          <a:ln/>
        </p:spPr>
        <p:txBody>
          <a:bodyPr wrap="square" lIns="0" tIns="0" rIns="0" bIns="0" rtlCol="0" anchor="ctr"/>
          <a:lstStyle/>
          <a:p>
            <a:pPr indent="0" marL="0">
              <a:buNone/>
            </a:pPr>
            <a:r>
              <a:rPr lang="en-US" sz="1500" b="1" dirty="0">
                <a:solidFill>
                  <a:schemeClr val="tx1"/>
                </a:solidFill>
              </a:rPr>
              <a:t>Quale problema voglio risolvere?</a:t>
            </a:r>
            <a:endParaRPr lang="en-US" sz="1500" dirty="0"/>
          </a:p>
        </p:txBody>
      </p:sp>
      <p:sp>
        <p:nvSpPr>
          <p:cNvPr id="7" name="Text 4"/>
          <p:cNvSpPr txBox="1"/>
          <p:nvPr/>
        </p:nvSpPr>
        <p:spPr>
          <a:xfrm>
            <a:off x="4389120" y="1097280"/>
            <a:ext cx="4160520" cy="749808"/>
          </a:xfrm>
          <a:prstGeom prst="rect">
            <a:avLst/>
          </a:prstGeom>
          <a:noFill/>
          <a:ln/>
        </p:spPr>
        <p:txBody>
          <a:bodyPr wrap="square" lIns="0" tIns="0" rIns="0" bIns="0" rtlCol="0" anchor="ctr"/>
          <a:lstStyle/>
          <a:p>
            <a:pPr indent="0" marL="0">
              <a:buNone/>
            </a:pPr>
            <a:r>
              <a:rPr lang="en-US" sz="1200" dirty="0">
                <a:solidFill>
                  <a:schemeClr val="tx2"/>
                </a:solidFill>
              </a:rPr>
              <a:t>Non "scrivere una presentazione", ma "ottenere l'approvazione di un investimento"</a:t>
            </a:r>
            <a:endParaRPr lang="en-US" sz="1200" dirty="0"/>
          </a:p>
        </p:txBody>
      </p:sp>
      <p:sp>
        <p:nvSpPr>
          <p:cNvPr id="8" name="A quale scopo serve il risultato?"/>
          <p:cNvSpPr/>
          <p:nvPr/>
        </p:nvSpPr>
        <p:spPr>
          <a:xfrm>
            <a:off x="457200" y="1965960"/>
            <a:ext cx="8229600" cy="749808"/>
          </a:xfrm>
          <a:prstGeom prst="roundRect">
            <a:avLst>
              <a:gd name="adj" fmla="val 9756"/>
            </a:avLst>
          </a:prstGeom>
          <a:solidFill>
            <a:schemeClr val="bg1"/>
          </a:solidFill>
          <a:ln/>
        </p:spPr>
      </p:sp>
      <p:sp>
        <p:nvSpPr>
          <p:cNvPr id="9" name="Text 6"/>
          <p:cNvSpPr txBox="1"/>
          <p:nvPr/>
        </p:nvSpPr>
        <p:spPr>
          <a:xfrm>
            <a:off x="594360" y="1965960"/>
            <a:ext cx="457200" cy="749808"/>
          </a:xfrm>
          <a:prstGeom prst="rect">
            <a:avLst/>
          </a:prstGeom>
          <a:noFill/>
          <a:ln/>
        </p:spPr>
        <p:txBody>
          <a:bodyPr wrap="square" lIns="0" tIns="0" rIns="0" bIns="0" rtlCol="0" anchor="ctr"/>
          <a:lstStyle/>
          <a:p>
            <a:pPr indent="0" marL="0">
              <a:buNone/>
            </a:pPr>
            <a:r>
              <a:rPr lang="en-US" sz="2400" b="1" dirty="0">
                <a:solidFill>
                  <a:schemeClr val="accent1"/>
                </a:solidFill>
              </a:rPr>
              <a:t>2</a:t>
            </a:r>
            <a:endParaRPr lang="en-US" sz="2400" dirty="0"/>
          </a:p>
        </p:txBody>
      </p:sp>
      <p:sp>
        <p:nvSpPr>
          <p:cNvPr id="10" name="Text 7"/>
          <p:cNvSpPr txBox="1"/>
          <p:nvPr/>
        </p:nvSpPr>
        <p:spPr>
          <a:xfrm>
            <a:off x="1097280" y="1965960"/>
            <a:ext cx="3200400" cy="749808"/>
          </a:xfrm>
          <a:prstGeom prst="rect">
            <a:avLst/>
          </a:prstGeom>
          <a:noFill/>
          <a:ln/>
        </p:spPr>
        <p:txBody>
          <a:bodyPr wrap="square" lIns="0" tIns="0" rIns="0" bIns="0" rtlCol="0" anchor="ctr"/>
          <a:lstStyle/>
          <a:p>
            <a:pPr indent="0" marL="0">
              <a:buNone/>
            </a:pPr>
            <a:r>
              <a:rPr lang="en-US" sz="1500" b="1" dirty="0">
                <a:solidFill>
                  <a:schemeClr val="tx1"/>
                </a:solidFill>
              </a:rPr>
              <a:t>A quale scopo serve il risultato?</a:t>
            </a:r>
            <a:endParaRPr lang="en-US" sz="1500" dirty="0"/>
          </a:p>
        </p:txBody>
      </p:sp>
      <p:sp>
        <p:nvSpPr>
          <p:cNvPr id="11" name="Text 8"/>
          <p:cNvSpPr txBox="1"/>
          <p:nvPr/>
        </p:nvSpPr>
        <p:spPr>
          <a:xfrm>
            <a:off x="4389120" y="1965960"/>
            <a:ext cx="4160520" cy="749808"/>
          </a:xfrm>
          <a:prstGeom prst="rect">
            <a:avLst/>
          </a:prstGeom>
          <a:noFill/>
          <a:ln/>
        </p:spPr>
        <p:txBody>
          <a:bodyPr wrap="square" lIns="0" tIns="0" rIns="0" bIns="0" rtlCol="0" anchor="ctr"/>
          <a:lstStyle/>
          <a:p>
            <a:pPr indent="0" marL="0">
              <a:buNone/>
            </a:pPr>
            <a:r>
              <a:rPr lang="en-US" sz="1200" dirty="0">
                <a:solidFill>
                  <a:schemeClr val="tx2"/>
                </a:solidFill>
              </a:rPr>
              <a:t>Chi lo userà, quale decisione o azione deve rendere possibile</a:t>
            </a:r>
            <a:endParaRPr lang="en-US" sz="1200" dirty="0"/>
          </a:p>
        </p:txBody>
      </p:sp>
      <p:sp>
        <p:nvSpPr>
          <p:cNvPr id="12" name="Con quali criteri di successo?"/>
          <p:cNvSpPr/>
          <p:nvPr/>
        </p:nvSpPr>
        <p:spPr>
          <a:xfrm>
            <a:off x="457200" y="2834640"/>
            <a:ext cx="8229600" cy="749808"/>
          </a:xfrm>
          <a:prstGeom prst="roundRect">
            <a:avLst>
              <a:gd name="adj" fmla="val 9756"/>
            </a:avLst>
          </a:prstGeom>
          <a:solidFill>
            <a:schemeClr val="bg2"/>
          </a:solidFill>
          <a:ln/>
        </p:spPr>
      </p:sp>
      <p:sp>
        <p:nvSpPr>
          <p:cNvPr id="13" name="Text 10"/>
          <p:cNvSpPr txBox="1"/>
          <p:nvPr/>
        </p:nvSpPr>
        <p:spPr>
          <a:xfrm>
            <a:off x="594360" y="2834640"/>
            <a:ext cx="457200" cy="749808"/>
          </a:xfrm>
          <a:prstGeom prst="rect">
            <a:avLst/>
          </a:prstGeom>
          <a:noFill/>
          <a:ln/>
        </p:spPr>
        <p:txBody>
          <a:bodyPr wrap="square" lIns="0" tIns="0" rIns="0" bIns="0" rtlCol="0" anchor="ctr"/>
          <a:lstStyle/>
          <a:p>
            <a:pPr indent="0" marL="0">
              <a:buNone/>
            </a:pPr>
            <a:r>
              <a:rPr lang="en-US" sz="2400" b="1" dirty="0">
                <a:solidFill>
                  <a:schemeClr val="accent1"/>
                </a:solidFill>
              </a:rPr>
              <a:t>3</a:t>
            </a:r>
            <a:endParaRPr lang="en-US" sz="2400" dirty="0"/>
          </a:p>
        </p:txBody>
      </p:sp>
      <p:sp>
        <p:nvSpPr>
          <p:cNvPr id="14" name="Text 11"/>
          <p:cNvSpPr txBox="1"/>
          <p:nvPr/>
        </p:nvSpPr>
        <p:spPr>
          <a:xfrm>
            <a:off x="1097280" y="2834640"/>
            <a:ext cx="3200400" cy="749808"/>
          </a:xfrm>
          <a:prstGeom prst="rect">
            <a:avLst/>
          </a:prstGeom>
          <a:noFill/>
          <a:ln/>
        </p:spPr>
        <p:txBody>
          <a:bodyPr wrap="square" lIns="0" tIns="0" rIns="0" bIns="0" rtlCol="0" anchor="ctr"/>
          <a:lstStyle/>
          <a:p>
            <a:pPr indent="0" marL="0">
              <a:buNone/>
            </a:pPr>
            <a:r>
              <a:rPr lang="en-US" sz="1500" b="1" dirty="0">
                <a:solidFill>
                  <a:schemeClr val="tx1"/>
                </a:solidFill>
              </a:rPr>
              <a:t>Con quali criteri di successo?</a:t>
            </a:r>
            <a:endParaRPr lang="en-US" sz="1500" dirty="0"/>
          </a:p>
        </p:txBody>
      </p:sp>
      <p:sp>
        <p:nvSpPr>
          <p:cNvPr id="15" name="Text 12"/>
          <p:cNvSpPr txBox="1"/>
          <p:nvPr/>
        </p:nvSpPr>
        <p:spPr>
          <a:xfrm>
            <a:off x="4389120" y="2834640"/>
            <a:ext cx="4160520" cy="749808"/>
          </a:xfrm>
          <a:prstGeom prst="rect">
            <a:avLst/>
          </a:prstGeom>
          <a:noFill/>
          <a:ln/>
        </p:spPr>
        <p:txBody>
          <a:bodyPr wrap="square" lIns="0" tIns="0" rIns="0" bIns="0" rtlCol="0" anchor="ctr"/>
          <a:lstStyle/>
          <a:p>
            <a:pPr indent="0" marL="0">
              <a:buNone/>
            </a:pPr>
            <a:r>
              <a:rPr lang="en-US" sz="1200" dirty="0">
                <a:solidFill>
                  <a:schemeClr val="tx2"/>
                </a:solidFill>
              </a:rPr>
              <a:t>Che cosa deve contenere, che cosa lo renderebbe inutilizzabile</a:t>
            </a:r>
            <a:endParaRPr lang="en-US" sz="1200" dirty="0"/>
          </a:p>
        </p:txBody>
      </p:sp>
      <p:sp>
        <p:nvSpPr>
          <p:cNvPr id="16" name="messaggio"/>
          <p:cNvSpPr/>
          <p:nvPr/>
        </p:nvSpPr>
        <p:spPr>
          <a:xfrm>
            <a:off x="457200" y="3794760"/>
            <a:ext cx="8229600" cy="731520"/>
          </a:xfrm>
          <a:prstGeom prst="roundRect">
            <a:avLst>
              <a:gd name="adj" fmla="val 10000"/>
            </a:avLst>
          </a:prstGeom>
          <a:solidFill>
            <a:schemeClr val="tx1"/>
          </a:solidFill>
          <a:ln/>
        </p:spPr>
      </p:sp>
      <p:sp>
        <p:nvSpPr>
          <p:cNvPr id="17" name="Text 14"/>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Molti prompt deludenti sono la risposta giusta alla domanda sbagliata. Le risposte alle tre domande sono già metà del prompt.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Gli elementi di una richiesta: una lista di controllo</a:t>
            </a:r>
            <a:endParaRPr lang="en-US" sz="2600" dirty="0"/>
          </a:p>
        </p:txBody>
      </p:sp>
      <p:sp>
        <p:nvSpPr>
          <p:cNvPr id="4" name="Problema"/>
          <p:cNvSpPr/>
          <p:nvPr/>
        </p:nvSpPr>
        <p:spPr>
          <a:xfrm>
            <a:off x="457200" y="1097280"/>
            <a:ext cx="1965960" cy="1261872"/>
          </a:xfrm>
          <a:prstGeom prst="roundRect">
            <a:avLst>
              <a:gd name="adj" fmla="val 5797"/>
            </a:avLst>
          </a:prstGeom>
          <a:solidFill>
            <a:schemeClr val="accent6"/>
          </a:solidFill>
          <a:ln/>
        </p:spPr>
      </p:sp>
      <p:sp>
        <p:nvSpPr>
          <p:cNvPr id="5" name="cerchio FiHelpCircle"/>
          <p:cNvSpPr/>
          <p:nvPr/>
        </p:nvSpPr>
        <p:spPr>
          <a:xfrm>
            <a:off x="594360" y="1234440"/>
            <a:ext cx="402336" cy="402336"/>
          </a:xfrm>
          <a:prstGeom prst="ellipse">
            <a:avLst/>
          </a:prstGeom>
          <a:solidFill>
            <a:schemeClr val="accent1"/>
          </a:solidFill>
          <a:ln/>
        </p:spPr>
      </p:sp>
      <p:pic>
        <p:nvPicPr>
          <p:cNvPr id="6" name="Image 0" descr="FiHelpCircle">    </p:cNvPr>
          <p:cNvPicPr>
            <a:picLocks noChangeAspect="1"/>
          </p:cNvPicPr>
          <p:nvPr/>
        </p:nvPicPr>
        <p:blipFill>
          <a:blip r:embed="rId1"/>
          <a:stretch>
            <a:fillRect/>
          </a:stretch>
        </p:blipFill>
        <p:spPr>
          <a:xfrm>
            <a:off x="694944" y="1335024"/>
            <a:ext cx="201168" cy="201168"/>
          </a:xfrm>
          <a:prstGeom prst="rect">
            <a:avLst/>
          </a:prstGeom>
        </p:spPr>
      </p:pic>
      <p:sp>
        <p:nvSpPr>
          <p:cNvPr id="7" name="Text 3"/>
          <p:cNvSpPr txBox="1"/>
          <p:nvPr/>
        </p:nvSpPr>
        <p:spPr>
          <a:xfrm>
            <a:off x="1060704" y="1188720"/>
            <a:ext cx="1298448" cy="502920"/>
          </a:xfrm>
          <a:prstGeom prst="rect">
            <a:avLst/>
          </a:prstGeom>
          <a:noFill/>
          <a:ln/>
        </p:spPr>
        <p:txBody>
          <a:bodyPr wrap="square" lIns="0" tIns="0" rIns="0" bIns="0" rtlCol="0" anchor="ctr"/>
          <a:lstStyle/>
          <a:p>
            <a:pPr indent="0" marL="0">
              <a:buNone/>
            </a:pPr>
            <a:r>
              <a:rPr lang="en-US" sz="1200" b="1" dirty="0">
                <a:solidFill>
                  <a:schemeClr val="tx1"/>
                </a:solidFill>
              </a:rPr>
              <a:t>Problema</a:t>
            </a:r>
            <a:endParaRPr lang="en-US" sz="1200" dirty="0"/>
          </a:p>
        </p:txBody>
      </p:sp>
      <p:sp>
        <p:nvSpPr>
          <p:cNvPr id="8" name="Text 4"/>
          <p:cNvSpPr txBox="1"/>
          <p:nvPr/>
        </p:nvSpPr>
        <p:spPr>
          <a:xfrm>
            <a:off x="594360" y="1755648"/>
            <a:ext cx="1719072" cy="548640"/>
          </a:xfrm>
          <a:prstGeom prst="rect">
            <a:avLst/>
          </a:prstGeom>
          <a:noFill/>
          <a:ln/>
        </p:spPr>
        <p:txBody>
          <a:bodyPr wrap="square" lIns="0" tIns="0" rIns="0" bIns="0" rtlCol="0" anchor="t"/>
          <a:lstStyle/>
          <a:p>
            <a:pPr indent="0" marL="0">
              <a:buNone/>
            </a:pPr>
            <a:r>
              <a:rPr lang="en-US" sz="1100" i="1" dirty="0">
                <a:solidFill>
                  <a:schemeClr val="tx2"/>
                </a:solidFill>
              </a:rPr>
              <a:t>I reclami crescono: da dove partire?</a:t>
            </a:r>
            <a:endParaRPr lang="en-US" sz="1100" dirty="0"/>
          </a:p>
        </p:txBody>
      </p:sp>
      <p:sp>
        <p:nvSpPr>
          <p:cNvPr id="9" name="Obiettivo"/>
          <p:cNvSpPr/>
          <p:nvPr/>
        </p:nvSpPr>
        <p:spPr>
          <a:xfrm>
            <a:off x="2560320" y="1097280"/>
            <a:ext cx="1965960" cy="1261872"/>
          </a:xfrm>
          <a:prstGeom prst="roundRect">
            <a:avLst>
              <a:gd name="adj" fmla="val 5797"/>
            </a:avLst>
          </a:prstGeom>
          <a:solidFill>
            <a:schemeClr val="accent6"/>
          </a:solidFill>
          <a:ln/>
        </p:spPr>
      </p:sp>
      <p:sp>
        <p:nvSpPr>
          <p:cNvPr id="10" name="cerchio FiTarget"/>
          <p:cNvSpPr/>
          <p:nvPr/>
        </p:nvSpPr>
        <p:spPr>
          <a:xfrm>
            <a:off x="2697480" y="1234440"/>
            <a:ext cx="402336" cy="402336"/>
          </a:xfrm>
          <a:prstGeom prst="ellipse">
            <a:avLst/>
          </a:prstGeom>
          <a:solidFill>
            <a:schemeClr val="accent1"/>
          </a:solidFill>
          <a:ln/>
        </p:spPr>
      </p:sp>
      <p:pic>
        <p:nvPicPr>
          <p:cNvPr id="11" name="Image 1" descr="FiTarget">    </p:cNvPr>
          <p:cNvPicPr>
            <a:picLocks noChangeAspect="1"/>
          </p:cNvPicPr>
          <p:nvPr/>
        </p:nvPicPr>
        <p:blipFill>
          <a:blip r:embed="rId2"/>
          <a:stretch>
            <a:fillRect/>
          </a:stretch>
        </p:blipFill>
        <p:spPr>
          <a:xfrm>
            <a:off x="2798064" y="1335024"/>
            <a:ext cx="201168" cy="201168"/>
          </a:xfrm>
          <a:prstGeom prst="rect">
            <a:avLst/>
          </a:prstGeom>
        </p:spPr>
      </p:pic>
      <p:sp>
        <p:nvSpPr>
          <p:cNvPr id="12" name="Text 7"/>
          <p:cNvSpPr txBox="1"/>
          <p:nvPr/>
        </p:nvSpPr>
        <p:spPr>
          <a:xfrm>
            <a:off x="3163824" y="1188720"/>
            <a:ext cx="1298448" cy="502920"/>
          </a:xfrm>
          <a:prstGeom prst="rect">
            <a:avLst/>
          </a:prstGeom>
          <a:noFill/>
          <a:ln/>
        </p:spPr>
        <p:txBody>
          <a:bodyPr wrap="square" lIns="0" tIns="0" rIns="0" bIns="0" rtlCol="0" anchor="ctr"/>
          <a:lstStyle/>
          <a:p>
            <a:pPr indent="0" marL="0">
              <a:buNone/>
            </a:pPr>
            <a:r>
              <a:rPr lang="en-US" sz="1200" b="1" dirty="0">
                <a:solidFill>
                  <a:schemeClr val="tx1"/>
                </a:solidFill>
              </a:rPr>
              <a:t>Obiettivo</a:t>
            </a:r>
            <a:endParaRPr lang="en-US" sz="1200" dirty="0"/>
          </a:p>
        </p:txBody>
      </p:sp>
      <p:sp>
        <p:nvSpPr>
          <p:cNvPr id="13" name="Text 8"/>
          <p:cNvSpPr txBox="1"/>
          <p:nvPr/>
        </p:nvSpPr>
        <p:spPr>
          <a:xfrm>
            <a:off x="2697480" y="1755648"/>
            <a:ext cx="1719072" cy="548640"/>
          </a:xfrm>
          <a:prstGeom prst="rect">
            <a:avLst/>
          </a:prstGeom>
          <a:noFill/>
          <a:ln/>
        </p:spPr>
        <p:txBody>
          <a:bodyPr wrap="square" lIns="0" tIns="0" rIns="0" bIns="0" rtlCol="0" anchor="t"/>
          <a:lstStyle/>
          <a:p>
            <a:pPr indent="0" marL="0">
              <a:buNone/>
            </a:pPr>
            <a:r>
              <a:rPr lang="en-US" sz="1100" i="1" dirty="0">
                <a:solidFill>
                  <a:schemeClr val="tx2"/>
                </a:solidFill>
              </a:rPr>
              <a:t>Decidere le priorità di intervento</a:t>
            </a:r>
            <a:endParaRPr lang="en-US" sz="1100" dirty="0"/>
          </a:p>
        </p:txBody>
      </p:sp>
      <p:sp>
        <p:nvSpPr>
          <p:cNvPr id="14" name="Compito"/>
          <p:cNvSpPr/>
          <p:nvPr/>
        </p:nvSpPr>
        <p:spPr>
          <a:xfrm>
            <a:off x="4663440" y="1097280"/>
            <a:ext cx="1965960" cy="1261872"/>
          </a:xfrm>
          <a:prstGeom prst="roundRect">
            <a:avLst>
              <a:gd name="adj" fmla="val 5797"/>
            </a:avLst>
          </a:prstGeom>
          <a:solidFill>
            <a:schemeClr val="bg2"/>
          </a:solidFill>
          <a:ln/>
        </p:spPr>
      </p:sp>
      <p:sp>
        <p:nvSpPr>
          <p:cNvPr id="15" name="cerchio FiPlay"/>
          <p:cNvSpPr/>
          <p:nvPr/>
        </p:nvSpPr>
        <p:spPr>
          <a:xfrm>
            <a:off x="4800600" y="1234440"/>
            <a:ext cx="402336" cy="402336"/>
          </a:xfrm>
          <a:prstGeom prst="ellipse">
            <a:avLst/>
          </a:prstGeom>
          <a:solidFill>
            <a:schemeClr val="accent1"/>
          </a:solidFill>
          <a:ln/>
        </p:spPr>
      </p:sp>
      <p:pic>
        <p:nvPicPr>
          <p:cNvPr id="16" name="Image 2" descr="FiPlay">    </p:cNvPr>
          <p:cNvPicPr>
            <a:picLocks noChangeAspect="1"/>
          </p:cNvPicPr>
          <p:nvPr/>
        </p:nvPicPr>
        <p:blipFill>
          <a:blip r:embed="rId3"/>
          <a:stretch>
            <a:fillRect/>
          </a:stretch>
        </p:blipFill>
        <p:spPr>
          <a:xfrm>
            <a:off x="4901184" y="1335024"/>
            <a:ext cx="201168" cy="201168"/>
          </a:xfrm>
          <a:prstGeom prst="rect">
            <a:avLst/>
          </a:prstGeom>
        </p:spPr>
      </p:pic>
      <p:sp>
        <p:nvSpPr>
          <p:cNvPr id="17" name="Text 11"/>
          <p:cNvSpPr txBox="1"/>
          <p:nvPr/>
        </p:nvSpPr>
        <p:spPr>
          <a:xfrm>
            <a:off x="5266944" y="1188720"/>
            <a:ext cx="1298448" cy="502920"/>
          </a:xfrm>
          <a:prstGeom prst="rect">
            <a:avLst/>
          </a:prstGeom>
          <a:noFill/>
          <a:ln/>
        </p:spPr>
        <p:txBody>
          <a:bodyPr wrap="square" lIns="0" tIns="0" rIns="0" bIns="0" rtlCol="0" anchor="ctr"/>
          <a:lstStyle/>
          <a:p>
            <a:pPr indent="0" marL="0">
              <a:buNone/>
            </a:pPr>
            <a:r>
              <a:rPr lang="en-US" sz="1200" b="1" dirty="0">
                <a:solidFill>
                  <a:schemeClr val="tx1"/>
                </a:solidFill>
              </a:rPr>
              <a:t>Compito</a:t>
            </a:r>
            <a:endParaRPr lang="en-US" sz="1200" dirty="0"/>
          </a:p>
        </p:txBody>
      </p:sp>
      <p:sp>
        <p:nvSpPr>
          <p:cNvPr id="18" name="Text 12"/>
          <p:cNvSpPr txBox="1"/>
          <p:nvPr/>
        </p:nvSpPr>
        <p:spPr>
          <a:xfrm>
            <a:off x="4800600" y="1755648"/>
            <a:ext cx="1719072" cy="548640"/>
          </a:xfrm>
          <a:prstGeom prst="rect">
            <a:avLst/>
          </a:prstGeom>
          <a:noFill/>
          <a:ln/>
        </p:spPr>
        <p:txBody>
          <a:bodyPr wrap="square" lIns="0" tIns="0" rIns="0" bIns="0" rtlCol="0" anchor="t"/>
          <a:lstStyle/>
          <a:p>
            <a:pPr indent="0" marL="0">
              <a:buNone/>
            </a:pPr>
            <a:r>
              <a:rPr lang="en-US" sz="1100" i="1" dirty="0">
                <a:solidFill>
                  <a:schemeClr val="tx2"/>
                </a:solidFill>
              </a:rPr>
              <a:t>Scrivi, riassumi, confronta, classifica</a:t>
            </a:r>
            <a:endParaRPr lang="en-US" sz="1100" dirty="0"/>
          </a:p>
        </p:txBody>
      </p:sp>
      <p:sp>
        <p:nvSpPr>
          <p:cNvPr id="19" name="Contesto e destinatario"/>
          <p:cNvSpPr/>
          <p:nvPr/>
        </p:nvSpPr>
        <p:spPr>
          <a:xfrm>
            <a:off x="6766560" y="1097280"/>
            <a:ext cx="1965960" cy="1261872"/>
          </a:xfrm>
          <a:prstGeom prst="roundRect">
            <a:avLst>
              <a:gd name="adj" fmla="val 5797"/>
            </a:avLst>
          </a:prstGeom>
          <a:solidFill>
            <a:schemeClr val="bg2"/>
          </a:solidFill>
          <a:ln/>
        </p:spPr>
      </p:sp>
      <p:sp>
        <p:nvSpPr>
          <p:cNvPr id="20" name="cerchio FiUsers"/>
          <p:cNvSpPr/>
          <p:nvPr/>
        </p:nvSpPr>
        <p:spPr>
          <a:xfrm>
            <a:off x="6903720" y="1234440"/>
            <a:ext cx="402336" cy="402336"/>
          </a:xfrm>
          <a:prstGeom prst="ellipse">
            <a:avLst/>
          </a:prstGeom>
          <a:solidFill>
            <a:schemeClr val="accent1"/>
          </a:solidFill>
          <a:ln/>
        </p:spPr>
      </p:sp>
      <p:pic>
        <p:nvPicPr>
          <p:cNvPr id="21" name="Image 3" descr="FiUsers">    </p:cNvPr>
          <p:cNvPicPr>
            <a:picLocks noChangeAspect="1"/>
          </p:cNvPicPr>
          <p:nvPr/>
        </p:nvPicPr>
        <p:blipFill>
          <a:blip r:embed="rId4"/>
          <a:stretch>
            <a:fillRect/>
          </a:stretch>
        </p:blipFill>
        <p:spPr>
          <a:xfrm>
            <a:off x="7004304" y="1335024"/>
            <a:ext cx="201168" cy="201168"/>
          </a:xfrm>
          <a:prstGeom prst="rect">
            <a:avLst/>
          </a:prstGeom>
        </p:spPr>
      </p:pic>
      <p:sp>
        <p:nvSpPr>
          <p:cNvPr id="22" name="Text 15"/>
          <p:cNvSpPr txBox="1"/>
          <p:nvPr/>
        </p:nvSpPr>
        <p:spPr>
          <a:xfrm>
            <a:off x="7370064" y="1188720"/>
            <a:ext cx="1298448" cy="502920"/>
          </a:xfrm>
          <a:prstGeom prst="rect">
            <a:avLst/>
          </a:prstGeom>
          <a:noFill/>
          <a:ln/>
        </p:spPr>
        <p:txBody>
          <a:bodyPr wrap="square" lIns="0" tIns="0" rIns="0" bIns="0" rtlCol="0" anchor="ctr"/>
          <a:lstStyle/>
          <a:p>
            <a:pPr indent="0" marL="0">
              <a:buNone/>
            </a:pPr>
            <a:r>
              <a:rPr lang="en-US" sz="1200" b="1" dirty="0">
                <a:solidFill>
                  <a:schemeClr val="tx1"/>
                </a:solidFill>
              </a:rPr>
              <a:t>Contesto e destinatario</a:t>
            </a:r>
            <a:endParaRPr lang="en-US" sz="1200" dirty="0"/>
          </a:p>
        </p:txBody>
      </p:sp>
      <p:sp>
        <p:nvSpPr>
          <p:cNvPr id="23" name="Text 16"/>
          <p:cNvSpPr txBox="1"/>
          <p:nvPr/>
        </p:nvSpPr>
        <p:spPr>
          <a:xfrm>
            <a:off x="6903720" y="1755648"/>
            <a:ext cx="1719072" cy="548640"/>
          </a:xfrm>
          <a:prstGeom prst="rect">
            <a:avLst/>
          </a:prstGeom>
          <a:noFill/>
          <a:ln/>
        </p:spPr>
        <p:txBody>
          <a:bodyPr wrap="square" lIns="0" tIns="0" rIns="0" bIns="0" rtlCol="0" anchor="t"/>
          <a:lstStyle/>
          <a:p>
            <a:pPr indent="0" marL="0">
              <a:buNone/>
            </a:pPr>
            <a:r>
              <a:rPr lang="en-US" sz="1100" i="1" dirty="0">
                <a:solidFill>
                  <a:schemeClr val="tx2"/>
                </a:solidFill>
              </a:rPr>
              <a:t>Riunione di direzione, dirigenti non tecnici</a:t>
            </a:r>
            <a:endParaRPr lang="en-US" sz="1100" dirty="0"/>
          </a:p>
        </p:txBody>
      </p:sp>
      <p:sp>
        <p:nvSpPr>
          <p:cNvPr id="24" name="Vincoli e requisiti"/>
          <p:cNvSpPr/>
          <p:nvPr/>
        </p:nvSpPr>
        <p:spPr>
          <a:xfrm>
            <a:off x="457200" y="2487168"/>
            <a:ext cx="1965960" cy="1261872"/>
          </a:xfrm>
          <a:prstGeom prst="roundRect">
            <a:avLst>
              <a:gd name="adj" fmla="val 5797"/>
            </a:avLst>
          </a:prstGeom>
          <a:solidFill>
            <a:schemeClr val="bg2"/>
          </a:solidFill>
          <a:ln/>
        </p:spPr>
      </p:sp>
      <p:sp>
        <p:nvSpPr>
          <p:cNvPr id="25" name="cerchio FiSliders"/>
          <p:cNvSpPr/>
          <p:nvPr/>
        </p:nvSpPr>
        <p:spPr>
          <a:xfrm>
            <a:off x="594360" y="2624328"/>
            <a:ext cx="402336" cy="402336"/>
          </a:xfrm>
          <a:prstGeom prst="ellipse">
            <a:avLst/>
          </a:prstGeom>
          <a:solidFill>
            <a:schemeClr val="accent1"/>
          </a:solidFill>
          <a:ln/>
        </p:spPr>
      </p:sp>
      <p:pic>
        <p:nvPicPr>
          <p:cNvPr id="26" name="Image 4" descr="FiSliders">    </p:cNvPr>
          <p:cNvPicPr>
            <a:picLocks noChangeAspect="1"/>
          </p:cNvPicPr>
          <p:nvPr/>
        </p:nvPicPr>
        <p:blipFill>
          <a:blip r:embed="rId5"/>
          <a:stretch>
            <a:fillRect/>
          </a:stretch>
        </p:blipFill>
        <p:spPr>
          <a:xfrm>
            <a:off x="694944" y="2724912"/>
            <a:ext cx="201168" cy="201168"/>
          </a:xfrm>
          <a:prstGeom prst="rect">
            <a:avLst/>
          </a:prstGeom>
        </p:spPr>
      </p:pic>
      <p:sp>
        <p:nvSpPr>
          <p:cNvPr id="27" name="Text 19"/>
          <p:cNvSpPr txBox="1"/>
          <p:nvPr/>
        </p:nvSpPr>
        <p:spPr>
          <a:xfrm>
            <a:off x="1060704" y="2578608"/>
            <a:ext cx="1298448" cy="502920"/>
          </a:xfrm>
          <a:prstGeom prst="rect">
            <a:avLst/>
          </a:prstGeom>
          <a:noFill/>
          <a:ln/>
        </p:spPr>
        <p:txBody>
          <a:bodyPr wrap="square" lIns="0" tIns="0" rIns="0" bIns="0" rtlCol="0" anchor="ctr"/>
          <a:lstStyle/>
          <a:p>
            <a:pPr indent="0" marL="0">
              <a:buNone/>
            </a:pPr>
            <a:r>
              <a:rPr lang="en-US" sz="1200" b="1" dirty="0">
                <a:solidFill>
                  <a:schemeClr val="tx1"/>
                </a:solidFill>
              </a:rPr>
              <a:t>Vincoli e requisiti</a:t>
            </a:r>
            <a:endParaRPr lang="en-US" sz="1200" dirty="0"/>
          </a:p>
        </p:txBody>
      </p:sp>
      <p:sp>
        <p:nvSpPr>
          <p:cNvPr id="28" name="Text 20"/>
          <p:cNvSpPr txBox="1"/>
          <p:nvPr/>
        </p:nvSpPr>
        <p:spPr>
          <a:xfrm>
            <a:off x="594360" y="3145536"/>
            <a:ext cx="1719072" cy="548640"/>
          </a:xfrm>
          <a:prstGeom prst="rect">
            <a:avLst/>
          </a:prstGeom>
          <a:noFill/>
          <a:ln/>
        </p:spPr>
        <p:txBody>
          <a:bodyPr wrap="square" lIns="0" tIns="0" rIns="0" bIns="0" rtlCol="0" anchor="t"/>
          <a:lstStyle/>
          <a:p>
            <a:pPr indent="0" marL="0">
              <a:buNone/>
            </a:pPr>
            <a:r>
              <a:rPr lang="en-US" sz="1100" i="1" dirty="0">
                <a:solidFill>
                  <a:schemeClr val="tx2"/>
                </a:solidFill>
              </a:rPr>
              <a:t>Una pagina; solo dati del report</a:t>
            </a:r>
            <a:endParaRPr lang="en-US" sz="1100" dirty="0"/>
          </a:p>
        </p:txBody>
      </p:sp>
      <p:sp>
        <p:nvSpPr>
          <p:cNvPr id="29" name="Formato e dettaglio"/>
          <p:cNvSpPr/>
          <p:nvPr/>
        </p:nvSpPr>
        <p:spPr>
          <a:xfrm>
            <a:off x="2560320" y="2487168"/>
            <a:ext cx="1965960" cy="1261872"/>
          </a:xfrm>
          <a:prstGeom prst="roundRect">
            <a:avLst>
              <a:gd name="adj" fmla="val 5797"/>
            </a:avLst>
          </a:prstGeom>
          <a:solidFill>
            <a:schemeClr val="bg2"/>
          </a:solidFill>
          <a:ln/>
        </p:spPr>
      </p:sp>
      <p:sp>
        <p:nvSpPr>
          <p:cNvPr id="30" name="cerchio FiLayout"/>
          <p:cNvSpPr/>
          <p:nvPr/>
        </p:nvSpPr>
        <p:spPr>
          <a:xfrm>
            <a:off x="2697480" y="2624328"/>
            <a:ext cx="402336" cy="402336"/>
          </a:xfrm>
          <a:prstGeom prst="ellipse">
            <a:avLst/>
          </a:prstGeom>
          <a:solidFill>
            <a:schemeClr val="accent1"/>
          </a:solidFill>
          <a:ln/>
        </p:spPr>
      </p:sp>
      <p:pic>
        <p:nvPicPr>
          <p:cNvPr id="31" name="Image 5" descr="FiLayout">    </p:cNvPr>
          <p:cNvPicPr>
            <a:picLocks noChangeAspect="1"/>
          </p:cNvPicPr>
          <p:nvPr/>
        </p:nvPicPr>
        <p:blipFill>
          <a:blip r:embed="rId6"/>
          <a:stretch>
            <a:fillRect/>
          </a:stretch>
        </p:blipFill>
        <p:spPr>
          <a:xfrm>
            <a:off x="2798064" y="2724912"/>
            <a:ext cx="201168" cy="201168"/>
          </a:xfrm>
          <a:prstGeom prst="rect">
            <a:avLst/>
          </a:prstGeom>
        </p:spPr>
      </p:pic>
      <p:sp>
        <p:nvSpPr>
          <p:cNvPr id="32" name="Text 23"/>
          <p:cNvSpPr txBox="1"/>
          <p:nvPr/>
        </p:nvSpPr>
        <p:spPr>
          <a:xfrm>
            <a:off x="3163824" y="2578608"/>
            <a:ext cx="1298448" cy="502920"/>
          </a:xfrm>
          <a:prstGeom prst="rect">
            <a:avLst/>
          </a:prstGeom>
          <a:noFill/>
          <a:ln/>
        </p:spPr>
        <p:txBody>
          <a:bodyPr wrap="square" lIns="0" tIns="0" rIns="0" bIns="0" rtlCol="0" anchor="ctr"/>
          <a:lstStyle/>
          <a:p>
            <a:pPr indent="0" marL="0">
              <a:buNone/>
            </a:pPr>
            <a:r>
              <a:rPr lang="en-US" sz="1200" b="1" dirty="0">
                <a:solidFill>
                  <a:schemeClr val="tx1"/>
                </a:solidFill>
              </a:rPr>
              <a:t>Formato e dettaglio</a:t>
            </a:r>
            <a:endParaRPr lang="en-US" sz="1200" dirty="0"/>
          </a:p>
        </p:txBody>
      </p:sp>
      <p:sp>
        <p:nvSpPr>
          <p:cNvPr id="33" name="Text 24"/>
          <p:cNvSpPr txBox="1"/>
          <p:nvPr/>
        </p:nvSpPr>
        <p:spPr>
          <a:xfrm>
            <a:off x="2697480" y="3145536"/>
            <a:ext cx="1719072" cy="548640"/>
          </a:xfrm>
          <a:prstGeom prst="rect">
            <a:avLst/>
          </a:prstGeom>
          <a:noFill/>
          <a:ln/>
        </p:spPr>
        <p:txBody>
          <a:bodyPr wrap="square" lIns="0" tIns="0" rIns="0" bIns="0" rtlCol="0" anchor="t"/>
          <a:lstStyle/>
          <a:p>
            <a:pPr indent="0" marL="0">
              <a:buNone/>
            </a:pPr>
            <a:r>
              <a:rPr lang="en-US" sz="1100" i="1" dirty="0">
                <a:solidFill>
                  <a:schemeClr val="tx2"/>
                </a:solidFill>
              </a:rPr>
              <a:t>Tre punti, poi una raccomandazione</a:t>
            </a:r>
            <a:endParaRPr lang="en-US" sz="1100" dirty="0"/>
          </a:p>
        </p:txBody>
      </p:sp>
      <p:sp>
        <p:nvSpPr>
          <p:cNvPr id="34" name="Criteri di successo"/>
          <p:cNvSpPr/>
          <p:nvPr/>
        </p:nvSpPr>
        <p:spPr>
          <a:xfrm>
            <a:off x="4663440" y="2487168"/>
            <a:ext cx="1965960" cy="1261872"/>
          </a:xfrm>
          <a:prstGeom prst="roundRect">
            <a:avLst>
              <a:gd name="adj" fmla="val 5797"/>
            </a:avLst>
          </a:prstGeom>
          <a:solidFill>
            <a:schemeClr val="bg2"/>
          </a:solidFill>
          <a:ln/>
        </p:spPr>
      </p:sp>
      <p:sp>
        <p:nvSpPr>
          <p:cNvPr id="35" name="cerchio FiCheckSquare"/>
          <p:cNvSpPr/>
          <p:nvPr/>
        </p:nvSpPr>
        <p:spPr>
          <a:xfrm>
            <a:off x="4800600" y="2624328"/>
            <a:ext cx="402336" cy="402336"/>
          </a:xfrm>
          <a:prstGeom prst="ellipse">
            <a:avLst/>
          </a:prstGeom>
          <a:solidFill>
            <a:schemeClr val="accent1"/>
          </a:solidFill>
          <a:ln/>
        </p:spPr>
      </p:sp>
      <p:pic>
        <p:nvPicPr>
          <p:cNvPr id="36" name="Image 6" descr="FiCheckSquare">    </p:cNvPr>
          <p:cNvPicPr>
            <a:picLocks noChangeAspect="1"/>
          </p:cNvPicPr>
          <p:nvPr/>
        </p:nvPicPr>
        <p:blipFill>
          <a:blip r:embed="rId7"/>
          <a:stretch>
            <a:fillRect/>
          </a:stretch>
        </p:blipFill>
        <p:spPr>
          <a:xfrm>
            <a:off x="4901184" y="2724912"/>
            <a:ext cx="201168" cy="201168"/>
          </a:xfrm>
          <a:prstGeom prst="rect">
            <a:avLst/>
          </a:prstGeom>
        </p:spPr>
      </p:pic>
      <p:sp>
        <p:nvSpPr>
          <p:cNvPr id="37" name="Text 27"/>
          <p:cNvSpPr txBox="1"/>
          <p:nvPr/>
        </p:nvSpPr>
        <p:spPr>
          <a:xfrm>
            <a:off x="5266944" y="2578608"/>
            <a:ext cx="1298448" cy="502920"/>
          </a:xfrm>
          <a:prstGeom prst="rect">
            <a:avLst/>
          </a:prstGeom>
          <a:noFill/>
          <a:ln/>
        </p:spPr>
        <p:txBody>
          <a:bodyPr wrap="square" lIns="0" tIns="0" rIns="0" bIns="0" rtlCol="0" anchor="ctr"/>
          <a:lstStyle/>
          <a:p>
            <a:pPr indent="0" marL="0">
              <a:buNone/>
            </a:pPr>
            <a:r>
              <a:rPr lang="en-US" sz="1200" b="1" dirty="0">
                <a:solidFill>
                  <a:schemeClr val="tx1"/>
                </a:solidFill>
              </a:rPr>
              <a:t>Criteri di successo</a:t>
            </a:r>
            <a:endParaRPr lang="en-US" sz="1200" dirty="0"/>
          </a:p>
        </p:txBody>
      </p:sp>
      <p:sp>
        <p:nvSpPr>
          <p:cNvPr id="38" name="Text 28"/>
          <p:cNvSpPr txBox="1"/>
          <p:nvPr/>
        </p:nvSpPr>
        <p:spPr>
          <a:xfrm>
            <a:off x="4800600" y="3145536"/>
            <a:ext cx="1719072" cy="548640"/>
          </a:xfrm>
          <a:prstGeom prst="rect">
            <a:avLst/>
          </a:prstGeom>
          <a:noFill/>
          <a:ln/>
        </p:spPr>
        <p:txBody>
          <a:bodyPr wrap="square" lIns="0" tIns="0" rIns="0" bIns="0" rtlCol="0" anchor="t"/>
          <a:lstStyle/>
          <a:p>
            <a:pPr indent="0" marL="0">
              <a:buNone/>
            </a:pPr>
            <a:r>
              <a:rPr lang="en-US" sz="1100" i="1" dirty="0">
                <a:solidFill>
                  <a:schemeClr val="tx2"/>
                </a:solidFill>
              </a:rPr>
              <a:t>Priorità chiare in due minuti</a:t>
            </a:r>
            <a:endParaRPr lang="en-US" sz="1100" dirty="0"/>
          </a:p>
        </p:txBody>
      </p:sp>
      <p:sp>
        <p:nvSpPr>
          <p:cNvPr id="39" name="Ruolo e prospettiva"/>
          <p:cNvSpPr/>
          <p:nvPr/>
        </p:nvSpPr>
        <p:spPr>
          <a:xfrm>
            <a:off x="6766560" y="2487168"/>
            <a:ext cx="1965960" cy="1261872"/>
          </a:xfrm>
          <a:prstGeom prst="roundRect">
            <a:avLst>
              <a:gd name="adj" fmla="val 5797"/>
            </a:avLst>
          </a:prstGeom>
          <a:solidFill>
            <a:schemeClr val="bg2"/>
          </a:solidFill>
          <a:ln/>
        </p:spPr>
      </p:sp>
      <p:sp>
        <p:nvSpPr>
          <p:cNvPr id="40" name="cerchio FiUser"/>
          <p:cNvSpPr/>
          <p:nvPr/>
        </p:nvSpPr>
        <p:spPr>
          <a:xfrm>
            <a:off x="6903720" y="2624328"/>
            <a:ext cx="402336" cy="402336"/>
          </a:xfrm>
          <a:prstGeom prst="ellipse">
            <a:avLst/>
          </a:prstGeom>
          <a:solidFill>
            <a:schemeClr val="accent1"/>
          </a:solidFill>
          <a:ln/>
        </p:spPr>
      </p:sp>
      <p:pic>
        <p:nvPicPr>
          <p:cNvPr id="41" name="Image 7" descr="FiUser">    </p:cNvPr>
          <p:cNvPicPr>
            <a:picLocks noChangeAspect="1"/>
          </p:cNvPicPr>
          <p:nvPr/>
        </p:nvPicPr>
        <p:blipFill>
          <a:blip r:embed="rId8"/>
          <a:stretch>
            <a:fillRect/>
          </a:stretch>
        </p:blipFill>
        <p:spPr>
          <a:xfrm>
            <a:off x="7004304" y="2724912"/>
            <a:ext cx="201168" cy="201168"/>
          </a:xfrm>
          <a:prstGeom prst="rect">
            <a:avLst/>
          </a:prstGeom>
        </p:spPr>
      </p:pic>
      <p:sp>
        <p:nvSpPr>
          <p:cNvPr id="42" name="Text 31"/>
          <p:cNvSpPr txBox="1"/>
          <p:nvPr/>
        </p:nvSpPr>
        <p:spPr>
          <a:xfrm>
            <a:off x="7370064" y="2578608"/>
            <a:ext cx="1298448" cy="502920"/>
          </a:xfrm>
          <a:prstGeom prst="rect">
            <a:avLst/>
          </a:prstGeom>
          <a:noFill/>
          <a:ln/>
        </p:spPr>
        <p:txBody>
          <a:bodyPr wrap="square" lIns="0" tIns="0" rIns="0" bIns="0" rtlCol="0" anchor="ctr"/>
          <a:lstStyle/>
          <a:p>
            <a:pPr indent="0" marL="0">
              <a:buNone/>
            </a:pPr>
            <a:r>
              <a:rPr lang="en-US" sz="1200" b="1" dirty="0">
                <a:solidFill>
                  <a:schemeClr val="tx1"/>
                </a:solidFill>
              </a:rPr>
              <a:t>Ruolo e prospettiva</a:t>
            </a:r>
            <a:endParaRPr lang="en-US" sz="1200" dirty="0"/>
          </a:p>
        </p:txBody>
      </p:sp>
      <p:sp>
        <p:nvSpPr>
          <p:cNvPr id="43" name="Text 32"/>
          <p:cNvSpPr txBox="1"/>
          <p:nvPr/>
        </p:nvSpPr>
        <p:spPr>
          <a:xfrm>
            <a:off x="6903720" y="3145536"/>
            <a:ext cx="1719072" cy="548640"/>
          </a:xfrm>
          <a:prstGeom prst="rect">
            <a:avLst/>
          </a:prstGeom>
          <a:noFill/>
          <a:ln/>
        </p:spPr>
        <p:txBody>
          <a:bodyPr wrap="square" lIns="0" tIns="0" rIns="0" bIns="0" rtlCol="0" anchor="t"/>
          <a:lstStyle/>
          <a:p>
            <a:pPr indent="0" marL="0">
              <a:buNone/>
            </a:pPr>
            <a:r>
              <a:rPr lang="en-US" sz="1100" i="1" dirty="0">
                <a:solidFill>
                  <a:schemeClr val="tx2"/>
                </a:solidFill>
              </a:rPr>
              <a:t>Rileggilo come un nuovo assunto</a:t>
            </a:r>
            <a:endParaRPr lang="en-US" sz="1100" dirty="0"/>
          </a:p>
        </p:txBody>
      </p:sp>
      <p:sp>
        <p:nvSpPr>
          <p:cNvPr id="44" name="messaggio"/>
          <p:cNvSpPr/>
          <p:nvPr/>
        </p:nvSpPr>
        <p:spPr>
          <a:xfrm>
            <a:off x="457200" y="3950208"/>
            <a:ext cx="8229600" cy="576072"/>
          </a:xfrm>
          <a:prstGeom prst="roundRect">
            <a:avLst>
              <a:gd name="adj" fmla="val 12698"/>
            </a:avLst>
          </a:prstGeom>
          <a:solidFill>
            <a:schemeClr val="tx1"/>
          </a:solidFill>
          <a:ln/>
        </p:spPr>
      </p:sp>
      <p:sp>
        <p:nvSpPr>
          <p:cNvPr id="45" name="Text 34"/>
          <p:cNvSpPr txBox="1"/>
          <p:nvPr/>
        </p:nvSpPr>
        <p:spPr>
          <a:xfrm>
            <a:off x="640080" y="3950208"/>
            <a:ext cx="7863840" cy="576072"/>
          </a:xfrm>
          <a:prstGeom prst="rect">
            <a:avLst/>
          </a:prstGeom>
          <a:noFill/>
          <a:ln/>
        </p:spPr>
        <p:txBody>
          <a:bodyPr wrap="square" lIns="0" tIns="0" rIns="0" bIns="0" rtlCol="0" anchor="ctr"/>
          <a:lstStyle/>
          <a:p>
            <a:pPr indent="0" marL="0">
              <a:buNone/>
            </a:pPr>
            <a:r>
              <a:rPr lang="en-US" sz="1300" dirty="0">
                <a:solidFill>
                  <a:schemeClr val="bg1"/>
                </a:solidFill>
              </a:rPr>
              <a:t>Una lista di controllo, non un modulo da compilare: si esplicita ciò che cambia il risultato.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Anatomia di una richiesta</a:t>
            </a:r>
            <a:endParaRPr lang="en-US" sz="2600" dirty="0"/>
          </a:p>
        </p:txBody>
      </p:sp>
      <p:sp>
        <p:nvSpPr>
          <p:cNvPr id="4" name="Compito"/>
          <p:cNvSpPr/>
          <p:nvPr/>
        </p:nvSpPr>
        <p:spPr>
          <a:xfrm>
            <a:off x="457200" y="1051560"/>
            <a:ext cx="1554480" cy="475488"/>
          </a:xfrm>
          <a:prstGeom prst="roundRect">
            <a:avLst>
              <a:gd name="adj" fmla="val 15385"/>
            </a:avLst>
          </a:prstGeom>
          <a:solidFill>
            <a:schemeClr val="accent1"/>
          </a:solidFill>
          <a:ln/>
        </p:spPr>
      </p:sp>
      <p:sp>
        <p:nvSpPr>
          <p:cNvPr id="5" name="Text 2"/>
          <p:cNvSpPr txBox="1"/>
          <p:nvPr/>
        </p:nvSpPr>
        <p:spPr>
          <a:xfrm>
            <a:off x="502920" y="1051560"/>
            <a:ext cx="1463040" cy="475488"/>
          </a:xfrm>
          <a:prstGeom prst="rect">
            <a:avLst/>
          </a:prstGeom>
          <a:noFill/>
          <a:ln/>
        </p:spPr>
        <p:txBody>
          <a:bodyPr wrap="square" lIns="0" tIns="0" rIns="0" bIns="0" rtlCol="0" anchor="ctr"/>
          <a:lstStyle/>
          <a:p>
            <a:pPr algn="ctr" indent="0" marL="0">
              <a:buNone/>
            </a:pPr>
            <a:r>
              <a:rPr lang="en-US" sz="1200" b="1" dirty="0">
                <a:solidFill>
                  <a:schemeClr val="bg1"/>
                </a:solidFill>
              </a:rPr>
              <a:t>Compito</a:t>
            </a:r>
            <a:endParaRPr lang="en-US" sz="1200" dirty="0"/>
          </a:p>
        </p:txBody>
      </p:sp>
      <p:sp>
        <p:nvSpPr>
          <p:cNvPr id="6" name="testo Compito"/>
          <p:cNvSpPr/>
          <p:nvPr/>
        </p:nvSpPr>
        <p:spPr>
          <a:xfrm>
            <a:off x="2103120" y="1051560"/>
            <a:ext cx="6583680" cy="475488"/>
          </a:xfrm>
          <a:prstGeom prst="roundRect">
            <a:avLst>
              <a:gd name="adj" fmla="val 15385"/>
            </a:avLst>
          </a:prstGeom>
          <a:solidFill>
            <a:schemeClr val="bg2"/>
          </a:solidFill>
          <a:ln/>
        </p:spPr>
      </p:sp>
      <p:sp>
        <p:nvSpPr>
          <p:cNvPr id="7" name="Text 4"/>
          <p:cNvSpPr txBox="1"/>
          <p:nvPr/>
        </p:nvSpPr>
        <p:spPr>
          <a:xfrm>
            <a:off x="2240280" y="105156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Prepara una sintesi del report trimestrale sui reclami allegato.</a:t>
            </a:r>
            <a:endParaRPr lang="en-US" sz="1200" dirty="0"/>
          </a:p>
        </p:txBody>
      </p:sp>
      <p:sp>
        <p:nvSpPr>
          <p:cNvPr id="8" name="Scopo"/>
          <p:cNvSpPr/>
          <p:nvPr/>
        </p:nvSpPr>
        <p:spPr>
          <a:xfrm>
            <a:off x="457200" y="1600200"/>
            <a:ext cx="1554480" cy="475488"/>
          </a:xfrm>
          <a:prstGeom prst="roundRect">
            <a:avLst>
              <a:gd name="adj" fmla="val 15385"/>
            </a:avLst>
          </a:prstGeom>
          <a:solidFill>
            <a:schemeClr val="accent6"/>
          </a:solidFill>
          <a:ln/>
        </p:spPr>
      </p:sp>
      <p:sp>
        <p:nvSpPr>
          <p:cNvPr id="9" name="Text 6"/>
          <p:cNvSpPr txBox="1"/>
          <p:nvPr/>
        </p:nvSpPr>
        <p:spPr>
          <a:xfrm>
            <a:off x="502920" y="1600200"/>
            <a:ext cx="1463040" cy="475488"/>
          </a:xfrm>
          <a:prstGeom prst="rect">
            <a:avLst/>
          </a:prstGeom>
          <a:noFill/>
          <a:ln/>
        </p:spPr>
        <p:txBody>
          <a:bodyPr wrap="square" lIns="0" tIns="0" rIns="0" bIns="0" rtlCol="0" anchor="ctr"/>
          <a:lstStyle/>
          <a:p>
            <a:pPr algn="ctr" indent="0" marL="0">
              <a:buNone/>
            </a:pPr>
            <a:r>
              <a:rPr lang="en-US" sz="1200" b="1" dirty="0">
                <a:solidFill>
                  <a:schemeClr val="tx1"/>
                </a:solidFill>
              </a:rPr>
              <a:t>Scopo</a:t>
            </a:r>
            <a:endParaRPr lang="en-US" sz="1200" dirty="0"/>
          </a:p>
        </p:txBody>
      </p:sp>
      <p:sp>
        <p:nvSpPr>
          <p:cNvPr id="10" name="testo Scopo"/>
          <p:cNvSpPr/>
          <p:nvPr/>
        </p:nvSpPr>
        <p:spPr>
          <a:xfrm>
            <a:off x="2103120" y="1600200"/>
            <a:ext cx="6583680" cy="475488"/>
          </a:xfrm>
          <a:prstGeom prst="roundRect">
            <a:avLst>
              <a:gd name="adj" fmla="val 15385"/>
            </a:avLst>
          </a:prstGeom>
          <a:solidFill>
            <a:schemeClr val="bg2"/>
          </a:solidFill>
          <a:ln/>
        </p:spPr>
      </p:sp>
      <p:sp>
        <p:nvSpPr>
          <p:cNvPr id="11" name="Text 8"/>
          <p:cNvSpPr txBox="1"/>
          <p:nvPr/>
        </p:nvSpPr>
        <p:spPr>
          <a:xfrm>
            <a:off x="2240280" y="160020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Servirà alla riunione di direzione per decidere su quali problemi intervenire per primi.</a:t>
            </a:r>
            <a:endParaRPr lang="en-US" sz="1200" dirty="0"/>
          </a:p>
        </p:txBody>
      </p:sp>
      <p:sp>
        <p:nvSpPr>
          <p:cNvPr id="12" name="Destinatario"/>
          <p:cNvSpPr/>
          <p:nvPr/>
        </p:nvSpPr>
        <p:spPr>
          <a:xfrm>
            <a:off x="457200" y="2148840"/>
            <a:ext cx="1554480" cy="475488"/>
          </a:xfrm>
          <a:prstGeom prst="roundRect">
            <a:avLst>
              <a:gd name="adj" fmla="val 15385"/>
            </a:avLst>
          </a:prstGeom>
          <a:solidFill>
            <a:schemeClr val="accent1"/>
          </a:solidFill>
          <a:ln/>
        </p:spPr>
      </p:sp>
      <p:sp>
        <p:nvSpPr>
          <p:cNvPr id="13" name="Text 10"/>
          <p:cNvSpPr txBox="1"/>
          <p:nvPr/>
        </p:nvSpPr>
        <p:spPr>
          <a:xfrm>
            <a:off x="502920" y="2148840"/>
            <a:ext cx="1463040" cy="475488"/>
          </a:xfrm>
          <a:prstGeom prst="rect">
            <a:avLst/>
          </a:prstGeom>
          <a:noFill/>
          <a:ln/>
        </p:spPr>
        <p:txBody>
          <a:bodyPr wrap="square" lIns="0" tIns="0" rIns="0" bIns="0" rtlCol="0" anchor="ctr"/>
          <a:lstStyle/>
          <a:p>
            <a:pPr algn="ctr" indent="0" marL="0">
              <a:buNone/>
            </a:pPr>
            <a:r>
              <a:rPr lang="en-US" sz="1200" b="1" dirty="0">
                <a:solidFill>
                  <a:schemeClr val="bg1"/>
                </a:solidFill>
              </a:rPr>
              <a:t>Destinatario</a:t>
            </a:r>
            <a:endParaRPr lang="en-US" sz="1200" dirty="0"/>
          </a:p>
        </p:txBody>
      </p:sp>
      <p:sp>
        <p:nvSpPr>
          <p:cNvPr id="14" name="testo Destinatario"/>
          <p:cNvSpPr/>
          <p:nvPr/>
        </p:nvSpPr>
        <p:spPr>
          <a:xfrm>
            <a:off x="2103120" y="2148840"/>
            <a:ext cx="6583680" cy="475488"/>
          </a:xfrm>
          <a:prstGeom prst="roundRect">
            <a:avLst>
              <a:gd name="adj" fmla="val 15385"/>
            </a:avLst>
          </a:prstGeom>
          <a:solidFill>
            <a:schemeClr val="bg2"/>
          </a:solidFill>
          <a:ln/>
        </p:spPr>
      </p:sp>
      <p:sp>
        <p:nvSpPr>
          <p:cNvPr id="15" name="Text 12"/>
          <p:cNvSpPr txBox="1"/>
          <p:nvPr/>
        </p:nvSpPr>
        <p:spPr>
          <a:xfrm>
            <a:off x="2240280" y="214884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Dirigenti che non conoscono i dettagli operativi.</a:t>
            </a:r>
            <a:endParaRPr lang="en-US" sz="1200" dirty="0"/>
          </a:p>
        </p:txBody>
      </p:sp>
      <p:sp>
        <p:nvSpPr>
          <p:cNvPr id="16" name="Vincoli"/>
          <p:cNvSpPr/>
          <p:nvPr/>
        </p:nvSpPr>
        <p:spPr>
          <a:xfrm>
            <a:off x="457200" y="2697480"/>
            <a:ext cx="1554480" cy="475488"/>
          </a:xfrm>
          <a:prstGeom prst="roundRect">
            <a:avLst>
              <a:gd name="adj" fmla="val 15385"/>
            </a:avLst>
          </a:prstGeom>
          <a:solidFill>
            <a:schemeClr val="accent6"/>
          </a:solidFill>
          <a:ln/>
        </p:spPr>
      </p:sp>
      <p:sp>
        <p:nvSpPr>
          <p:cNvPr id="17" name="Text 14"/>
          <p:cNvSpPr txBox="1"/>
          <p:nvPr/>
        </p:nvSpPr>
        <p:spPr>
          <a:xfrm>
            <a:off x="502920" y="2697480"/>
            <a:ext cx="1463040" cy="475488"/>
          </a:xfrm>
          <a:prstGeom prst="rect">
            <a:avLst/>
          </a:prstGeom>
          <a:noFill/>
          <a:ln/>
        </p:spPr>
        <p:txBody>
          <a:bodyPr wrap="square" lIns="0" tIns="0" rIns="0" bIns="0" rtlCol="0" anchor="ctr"/>
          <a:lstStyle/>
          <a:p>
            <a:pPr algn="ctr" indent="0" marL="0">
              <a:buNone/>
            </a:pPr>
            <a:r>
              <a:rPr lang="en-US" sz="1200" b="1" dirty="0">
                <a:solidFill>
                  <a:schemeClr val="tx1"/>
                </a:solidFill>
              </a:rPr>
              <a:t>Vincoli</a:t>
            </a:r>
            <a:endParaRPr lang="en-US" sz="1200" dirty="0"/>
          </a:p>
        </p:txBody>
      </p:sp>
      <p:sp>
        <p:nvSpPr>
          <p:cNvPr id="18" name="testo Vincoli"/>
          <p:cNvSpPr/>
          <p:nvPr/>
        </p:nvSpPr>
        <p:spPr>
          <a:xfrm>
            <a:off x="2103120" y="2697480"/>
            <a:ext cx="6583680" cy="475488"/>
          </a:xfrm>
          <a:prstGeom prst="roundRect">
            <a:avLst>
              <a:gd name="adj" fmla="val 15385"/>
            </a:avLst>
          </a:prstGeom>
          <a:solidFill>
            <a:schemeClr val="bg2"/>
          </a:solidFill>
          <a:ln/>
        </p:spPr>
      </p:sp>
      <p:sp>
        <p:nvSpPr>
          <p:cNvPr id="19" name="Text 16"/>
          <p:cNvSpPr txBox="1"/>
          <p:nvPr/>
        </p:nvSpPr>
        <p:spPr>
          <a:xfrm>
            <a:off x="2240280" y="269748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Massimo una pagina. Usa solo informazioni presenti nel report.</a:t>
            </a:r>
            <a:endParaRPr lang="en-US" sz="1200" dirty="0"/>
          </a:p>
        </p:txBody>
      </p:sp>
      <p:sp>
        <p:nvSpPr>
          <p:cNvPr id="20" name="Formato"/>
          <p:cNvSpPr/>
          <p:nvPr/>
        </p:nvSpPr>
        <p:spPr>
          <a:xfrm>
            <a:off x="457200" y="3246120"/>
            <a:ext cx="1554480" cy="475488"/>
          </a:xfrm>
          <a:prstGeom prst="roundRect">
            <a:avLst>
              <a:gd name="adj" fmla="val 15385"/>
            </a:avLst>
          </a:prstGeom>
          <a:solidFill>
            <a:schemeClr val="accent1"/>
          </a:solidFill>
          <a:ln/>
        </p:spPr>
      </p:sp>
      <p:sp>
        <p:nvSpPr>
          <p:cNvPr id="21" name="Text 18"/>
          <p:cNvSpPr txBox="1"/>
          <p:nvPr/>
        </p:nvSpPr>
        <p:spPr>
          <a:xfrm>
            <a:off x="502920" y="3246120"/>
            <a:ext cx="1463040" cy="475488"/>
          </a:xfrm>
          <a:prstGeom prst="rect">
            <a:avLst/>
          </a:prstGeom>
          <a:noFill/>
          <a:ln/>
        </p:spPr>
        <p:txBody>
          <a:bodyPr wrap="square" lIns="0" tIns="0" rIns="0" bIns="0" rtlCol="0" anchor="ctr"/>
          <a:lstStyle/>
          <a:p>
            <a:pPr algn="ctr" indent="0" marL="0">
              <a:buNone/>
            </a:pPr>
            <a:r>
              <a:rPr lang="en-US" sz="1200" b="1" dirty="0">
                <a:solidFill>
                  <a:schemeClr val="bg1"/>
                </a:solidFill>
              </a:rPr>
              <a:t>Formato</a:t>
            </a:r>
            <a:endParaRPr lang="en-US" sz="1200" dirty="0"/>
          </a:p>
        </p:txBody>
      </p:sp>
      <p:sp>
        <p:nvSpPr>
          <p:cNvPr id="22" name="testo Formato"/>
          <p:cNvSpPr/>
          <p:nvPr/>
        </p:nvSpPr>
        <p:spPr>
          <a:xfrm>
            <a:off x="2103120" y="3246120"/>
            <a:ext cx="6583680" cy="475488"/>
          </a:xfrm>
          <a:prstGeom prst="roundRect">
            <a:avLst>
              <a:gd name="adj" fmla="val 15385"/>
            </a:avLst>
          </a:prstGeom>
          <a:solidFill>
            <a:schemeClr val="bg2"/>
          </a:solidFill>
          <a:ln/>
        </p:spPr>
      </p:sp>
      <p:sp>
        <p:nvSpPr>
          <p:cNvPr id="23" name="Text 20"/>
          <p:cNvSpPr txBox="1"/>
          <p:nvPr/>
        </p:nvSpPr>
        <p:spPr>
          <a:xfrm>
            <a:off x="2240280" y="324612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I tre problemi principali, ciascuno con dimensione, tendenza e possibile causa; poi una raccomandazione.</a:t>
            </a:r>
            <a:endParaRPr lang="en-US" sz="1200" dirty="0"/>
          </a:p>
        </p:txBody>
      </p:sp>
      <p:sp>
        <p:nvSpPr>
          <p:cNvPr id="24" name="Criterio"/>
          <p:cNvSpPr/>
          <p:nvPr/>
        </p:nvSpPr>
        <p:spPr>
          <a:xfrm>
            <a:off x="457200" y="3794760"/>
            <a:ext cx="1554480" cy="475488"/>
          </a:xfrm>
          <a:prstGeom prst="roundRect">
            <a:avLst>
              <a:gd name="adj" fmla="val 15385"/>
            </a:avLst>
          </a:prstGeom>
          <a:solidFill>
            <a:schemeClr val="accent6"/>
          </a:solidFill>
          <a:ln/>
        </p:spPr>
      </p:sp>
      <p:sp>
        <p:nvSpPr>
          <p:cNvPr id="25" name="Text 22"/>
          <p:cNvSpPr txBox="1"/>
          <p:nvPr/>
        </p:nvSpPr>
        <p:spPr>
          <a:xfrm>
            <a:off x="502920" y="3794760"/>
            <a:ext cx="1463040" cy="475488"/>
          </a:xfrm>
          <a:prstGeom prst="rect">
            <a:avLst/>
          </a:prstGeom>
          <a:noFill/>
          <a:ln/>
        </p:spPr>
        <p:txBody>
          <a:bodyPr wrap="square" lIns="0" tIns="0" rIns="0" bIns="0" rtlCol="0" anchor="ctr"/>
          <a:lstStyle/>
          <a:p>
            <a:pPr algn="ctr" indent="0" marL="0">
              <a:buNone/>
            </a:pPr>
            <a:r>
              <a:rPr lang="en-US" sz="1200" b="1" dirty="0">
                <a:solidFill>
                  <a:schemeClr val="tx1"/>
                </a:solidFill>
              </a:rPr>
              <a:t>Criterio</a:t>
            </a:r>
            <a:endParaRPr lang="en-US" sz="1200" dirty="0"/>
          </a:p>
        </p:txBody>
      </p:sp>
      <p:sp>
        <p:nvSpPr>
          <p:cNvPr id="26" name="testo Criterio"/>
          <p:cNvSpPr/>
          <p:nvPr/>
        </p:nvSpPr>
        <p:spPr>
          <a:xfrm>
            <a:off x="2103120" y="3794760"/>
            <a:ext cx="6583680" cy="475488"/>
          </a:xfrm>
          <a:prstGeom prst="roundRect">
            <a:avLst>
              <a:gd name="adj" fmla="val 15385"/>
            </a:avLst>
          </a:prstGeom>
          <a:solidFill>
            <a:schemeClr val="bg2"/>
          </a:solidFill>
          <a:ln/>
        </p:spPr>
      </p:sp>
      <p:sp>
        <p:nvSpPr>
          <p:cNvPr id="27" name="Text 24"/>
          <p:cNvSpPr txBox="1"/>
          <p:nvPr/>
        </p:nvSpPr>
        <p:spPr>
          <a:xfrm>
            <a:off x="2240280" y="379476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Un dirigente deve capire le priorità in due minuti.</a:t>
            </a:r>
            <a:endParaRPr lang="en-US" sz="1200" dirty="0"/>
          </a:p>
        </p:txBody>
      </p:sp>
      <p:sp>
        <p:nvSpPr>
          <p:cNvPr id="28" name="Text 25"/>
          <p:cNvSpPr txBox="1"/>
          <p:nvPr/>
        </p:nvSpPr>
        <p:spPr>
          <a:xfrm>
            <a:off x="457200" y="4389120"/>
            <a:ext cx="8229600" cy="320040"/>
          </a:xfrm>
          <a:prstGeom prst="rect">
            <a:avLst/>
          </a:prstGeom>
          <a:noFill/>
          <a:ln/>
        </p:spPr>
        <p:txBody>
          <a:bodyPr wrap="square" lIns="0" tIns="0" rIns="0" bIns="0" rtlCol="0" anchor="t"/>
          <a:lstStyle/>
          <a:p>
            <a:pPr indent="0" marL="0">
              <a:buNone/>
            </a:pPr>
            <a:r>
              <a:rPr lang="en-US" sz="1100" i="1" dirty="0">
                <a:solidFill>
                  <a:schemeClr val="tx2"/>
                </a:solidFill>
              </a:rPr>
              <a:t>Ogni elemento cambia il risultato: senza destinatario troppo tecnico, senza scopo solo descrittivo, senza vincolo sulle fonti generico.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Ruoli e prospettive</a:t>
            </a:r>
            <a:endParaRPr lang="en-US" sz="2600" dirty="0"/>
          </a:p>
        </p:txBody>
      </p:sp>
      <p:sp>
        <p:nvSpPr>
          <p:cNvPr id="4" name="scheda Ruolo"/>
          <p:cNvSpPr/>
          <p:nvPr/>
        </p:nvSpPr>
        <p:spPr>
          <a:xfrm>
            <a:off x="457200" y="1097280"/>
            <a:ext cx="3977640" cy="2377440"/>
          </a:xfrm>
          <a:prstGeom prst="roundRect">
            <a:avLst>
              <a:gd name="adj" fmla="val 3077"/>
            </a:avLst>
          </a:prstGeom>
          <a:solidFill>
            <a:schemeClr val="bg2"/>
          </a:solidFill>
          <a:ln/>
        </p:spPr>
      </p:sp>
      <p:sp>
        <p:nvSpPr>
          <p:cNvPr id="5" name="cerchio FiUser"/>
          <p:cNvSpPr/>
          <p:nvPr/>
        </p:nvSpPr>
        <p:spPr>
          <a:xfrm>
            <a:off x="640080" y="1280160"/>
            <a:ext cx="457200" cy="457200"/>
          </a:xfrm>
          <a:prstGeom prst="ellipse">
            <a:avLst/>
          </a:prstGeom>
          <a:solidFill>
            <a:schemeClr val="accent1"/>
          </a:solidFill>
          <a:ln/>
        </p:spPr>
      </p:sp>
      <p:pic>
        <p:nvPicPr>
          <p:cNvPr id="6" name="Image 0" descr="FiUser">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Ruolo</a:t>
            </a:r>
            <a:endParaRPr lang="en-US" sz="1600" dirty="0"/>
          </a:p>
        </p:txBody>
      </p:sp>
      <p:sp>
        <p:nvSpPr>
          <p:cNvPr id="8" name="Text 4"/>
          <p:cNvSpPr txBox="1"/>
          <p:nvPr/>
        </p:nvSpPr>
        <p:spPr>
          <a:xfrm>
            <a:off x="640080" y="2231136"/>
            <a:ext cx="3611880" cy="1133856"/>
          </a:xfrm>
          <a:prstGeom prst="rect">
            <a:avLst/>
          </a:prstGeom>
          <a:noFill/>
          <a:ln/>
        </p:spPr>
        <p:txBody>
          <a:bodyPr wrap="square" lIns="0" tIns="0" rIns="0" bIns="0" rtlCol="0" anchor="t"/>
          <a:lstStyle/>
          <a:p>
            <a:pPr indent="0" marL="0">
              <a:spcAft>
                <a:spcPts val="800"/>
              </a:spcAft>
              <a:buNone/>
            </a:pPr>
            <a:r>
              <a:rPr lang="en-US" sz="1200" b="1" dirty="0">
                <a:solidFill>
                  <a:schemeClr val="tx1"/>
                </a:solidFill>
              </a:rPr>
              <a:t>Orienta tono, lessico, dettaglio</a:t>
            </a:r>
            <a:endParaRPr lang="en-US" sz="1200" dirty="0"/>
          </a:p>
          <a:p>
            <a:pPr marL="177800" indent="-177800">
              <a:spcAft>
                <a:spcPts val="400"/>
              </a:spcAft>
              <a:buSzPct val="100000"/>
              <a:buChar char="•"/>
            </a:pPr>
            <a:r>
              <a:rPr lang="en-US" sz="1200" dirty="0">
                <a:solidFill>
                  <a:schemeClr val="tx2"/>
                </a:solidFill>
              </a:rPr>
              <a:t>"Agisci come un revisore attento alla chiarezza"</a:t>
            </a:r>
            <a:endParaRPr lang="en-US" sz="1200" dirty="0"/>
          </a:p>
          <a:p>
            <a:pPr marL="177800" indent="-177800">
              <a:spcAft>
                <a:spcPts val="400"/>
              </a:spcAft>
              <a:buSzPct val="100000"/>
              <a:buChar char="•"/>
            </a:pPr>
            <a:r>
              <a:rPr lang="en-US" sz="1200" dirty="0">
                <a:solidFill>
                  <a:schemeClr val="tx2"/>
                </a:solidFill>
              </a:rPr>
              <a:t>"Rispondi come un formatore per principianti"</a:t>
            </a:r>
            <a:endParaRPr lang="en-US" sz="1200" dirty="0"/>
          </a:p>
        </p:txBody>
      </p:sp>
      <p:sp>
        <p:nvSpPr>
          <p:cNvPr id="9" name="scheda Prospettiva"/>
          <p:cNvSpPr/>
          <p:nvPr/>
        </p:nvSpPr>
        <p:spPr>
          <a:xfrm>
            <a:off x="4709160" y="1097280"/>
            <a:ext cx="3977640" cy="2377440"/>
          </a:xfrm>
          <a:prstGeom prst="roundRect">
            <a:avLst>
              <a:gd name="adj" fmla="val 3077"/>
            </a:avLst>
          </a:prstGeom>
          <a:solidFill>
            <a:schemeClr val="accent6"/>
          </a:solidFill>
          <a:ln/>
        </p:spPr>
      </p:sp>
      <p:sp>
        <p:nvSpPr>
          <p:cNvPr id="10" name="cerchio FiEye"/>
          <p:cNvSpPr/>
          <p:nvPr/>
        </p:nvSpPr>
        <p:spPr>
          <a:xfrm>
            <a:off x="4892040" y="1280160"/>
            <a:ext cx="457200" cy="457200"/>
          </a:xfrm>
          <a:prstGeom prst="ellipse">
            <a:avLst/>
          </a:prstGeom>
          <a:solidFill>
            <a:schemeClr val="accent1"/>
          </a:solidFill>
          <a:ln/>
        </p:spPr>
      </p:sp>
      <p:pic>
        <p:nvPicPr>
          <p:cNvPr id="11" name="Image 1" descr="FiEye">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Prospettiva</a:t>
            </a:r>
            <a:endParaRPr lang="en-US" sz="1600" dirty="0"/>
          </a:p>
        </p:txBody>
      </p:sp>
      <p:sp>
        <p:nvSpPr>
          <p:cNvPr id="13" name="Text 8"/>
          <p:cNvSpPr txBox="1"/>
          <p:nvPr/>
        </p:nvSpPr>
        <p:spPr>
          <a:xfrm>
            <a:off x="4892040" y="2231136"/>
            <a:ext cx="3611880" cy="1133856"/>
          </a:xfrm>
          <a:prstGeom prst="rect">
            <a:avLst/>
          </a:prstGeom>
          <a:noFill/>
          <a:ln/>
        </p:spPr>
        <p:txBody>
          <a:bodyPr wrap="square" lIns="0" tIns="0" rIns="0" bIns="0" rtlCol="0" anchor="t"/>
          <a:lstStyle/>
          <a:p>
            <a:pPr indent="0" marL="0">
              <a:spcAft>
                <a:spcPts val="800"/>
              </a:spcAft>
              <a:buNone/>
            </a:pPr>
            <a:r>
              <a:rPr lang="en-US" sz="1200" b="1" dirty="0">
                <a:solidFill>
                  <a:schemeClr val="tx1"/>
                </a:solidFill>
              </a:rPr>
              <a:t>Fa emergere aspetti in ombra</a:t>
            </a:r>
            <a:endParaRPr lang="en-US" sz="1200" dirty="0"/>
          </a:p>
          <a:p>
            <a:pPr marL="177800" indent="-177800">
              <a:spcAft>
                <a:spcPts val="400"/>
              </a:spcAft>
              <a:buSzPct val="100000"/>
              <a:buChar char="•"/>
            </a:pPr>
            <a:r>
              <a:rPr lang="en-US" sz="1200" dirty="0">
                <a:solidFill>
                  <a:schemeClr val="tx2"/>
                </a:solidFill>
              </a:rPr>
              <a:t>"Valutala come un cliente attento ai costi"</a:t>
            </a:r>
            <a:endParaRPr lang="en-US" sz="1200" dirty="0"/>
          </a:p>
          <a:p>
            <a:pPr marL="177800" indent="-177800">
              <a:spcAft>
                <a:spcPts val="400"/>
              </a:spcAft>
              <a:buSzPct val="100000"/>
              <a:buChar char="•"/>
            </a:pPr>
            <a:r>
              <a:rPr lang="en-US" sz="1200" dirty="0">
                <a:solidFill>
                  <a:schemeClr val="tx2"/>
                </a:solidFill>
              </a:rPr>
              <a:t>"Rileggilo come un nuovo assunto"</a:t>
            </a:r>
            <a:endParaRPr lang="en-US" sz="1200" dirty="0"/>
          </a:p>
        </p:txBody>
      </p:sp>
      <p:sp>
        <p:nvSpPr>
          <p:cNvPr id="14" name="scheda Il ruolo orienta lo stile, non aggiunge conoscenze"/>
          <p:cNvSpPr/>
          <p:nvPr/>
        </p:nvSpPr>
        <p:spPr>
          <a:xfrm>
            <a:off x="457200" y="3611880"/>
            <a:ext cx="3977640" cy="914400"/>
          </a:xfrm>
          <a:prstGeom prst="roundRect">
            <a:avLst>
              <a:gd name="adj" fmla="val 8000"/>
            </a:avLst>
          </a:prstGeom>
          <a:solidFill>
            <a:schemeClr val="bg2"/>
          </a:solidFill>
          <a:ln/>
        </p:spPr>
      </p:sp>
      <p:sp>
        <p:nvSpPr>
          <p:cNvPr id="15" name="cerchio FiSliders"/>
          <p:cNvSpPr/>
          <p:nvPr/>
        </p:nvSpPr>
        <p:spPr>
          <a:xfrm>
            <a:off x="640080" y="3794760"/>
            <a:ext cx="457200" cy="457200"/>
          </a:xfrm>
          <a:prstGeom prst="ellipse">
            <a:avLst/>
          </a:prstGeom>
          <a:solidFill>
            <a:schemeClr val="accent1"/>
          </a:solidFill>
          <a:ln/>
        </p:spPr>
      </p:sp>
      <p:pic>
        <p:nvPicPr>
          <p:cNvPr id="16" name="Image 2" descr="FiSliders">    </p:cNvPr>
          <p:cNvPicPr>
            <a:picLocks noChangeAspect="1"/>
          </p:cNvPicPr>
          <p:nvPr/>
        </p:nvPicPr>
        <p:blipFill>
          <a:blip r:embed="rId3"/>
          <a:stretch>
            <a:fillRect/>
          </a:stretch>
        </p:blipFill>
        <p:spPr>
          <a:xfrm>
            <a:off x="754380" y="3909060"/>
            <a:ext cx="228600" cy="228600"/>
          </a:xfrm>
          <a:prstGeom prst="rect">
            <a:avLst/>
          </a:prstGeom>
        </p:spPr>
      </p:pic>
      <p:sp>
        <p:nvSpPr>
          <p:cNvPr id="17" name="Text 11"/>
          <p:cNvSpPr txBox="1"/>
          <p:nvPr/>
        </p:nvSpPr>
        <p:spPr>
          <a:xfrm>
            <a:off x="1234440" y="379476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Il ruolo orienta lo stile, non aggiunge conoscenze</a:t>
            </a:r>
            <a:endParaRPr lang="en-US" sz="1300" dirty="0"/>
          </a:p>
        </p:txBody>
      </p:sp>
      <p:sp>
        <p:nvSpPr>
          <p:cNvPr id="18" name="scheda Rende di più insieme a obiettivo e contesto"/>
          <p:cNvSpPr/>
          <p:nvPr/>
        </p:nvSpPr>
        <p:spPr>
          <a:xfrm>
            <a:off x="4709160" y="3611880"/>
            <a:ext cx="3977640" cy="914400"/>
          </a:xfrm>
          <a:prstGeom prst="roundRect">
            <a:avLst>
              <a:gd name="adj" fmla="val 8000"/>
            </a:avLst>
          </a:prstGeom>
          <a:solidFill>
            <a:schemeClr val="bg2"/>
          </a:solidFill>
          <a:ln/>
        </p:spPr>
      </p:sp>
      <p:sp>
        <p:nvSpPr>
          <p:cNvPr id="19" name="cerchio FiLink"/>
          <p:cNvSpPr/>
          <p:nvPr/>
        </p:nvSpPr>
        <p:spPr>
          <a:xfrm>
            <a:off x="4892040" y="3794760"/>
            <a:ext cx="457200" cy="457200"/>
          </a:xfrm>
          <a:prstGeom prst="ellipse">
            <a:avLst/>
          </a:prstGeom>
          <a:solidFill>
            <a:schemeClr val="accent1"/>
          </a:solidFill>
          <a:ln/>
        </p:spPr>
      </p:sp>
      <p:pic>
        <p:nvPicPr>
          <p:cNvPr id="20" name="Image 3" descr="FiLink">    </p:cNvPr>
          <p:cNvPicPr>
            <a:picLocks noChangeAspect="1"/>
          </p:cNvPicPr>
          <p:nvPr/>
        </p:nvPicPr>
        <p:blipFill>
          <a:blip r:embed="rId4"/>
          <a:stretch>
            <a:fillRect/>
          </a:stretch>
        </p:blipFill>
        <p:spPr>
          <a:xfrm>
            <a:off x="5006340" y="3909060"/>
            <a:ext cx="228600" cy="228600"/>
          </a:xfrm>
          <a:prstGeom prst="rect">
            <a:avLst/>
          </a:prstGeom>
        </p:spPr>
      </p:pic>
      <p:sp>
        <p:nvSpPr>
          <p:cNvPr id="21" name="Text 14"/>
          <p:cNvSpPr txBox="1"/>
          <p:nvPr/>
        </p:nvSpPr>
        <p:spPr>
          <a:xfrm>
            <a:off x="5486400" y="379476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Rende di più insieme a obiettivo e contesto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Non serve sempre un prompt lungo</a:t>
            </a:r>
            <a:endParaRPr lang="en-US" sz="2600" dirty="0"/>
          </a:p>
        </p:txBody>
      </p:sp>
      <p:sp>
        <p:nvSpPr>
          <p:cNvPr id="4" name="prompt"/>
          <p:cNvSpPr/>
          <p:nvPr/>
        </p:nvSpPr>
        <p:spPr>
          <a:xfrm>
            <a:off x="457200" y="1097280"/>
            <a:ext cx="3977640" cy="1234440"/>
          </a:xfrm>
          <a:prstGeom prst="roundRect">
            <a:avLst>
              <a:gd name="adj" fmla="val 5926"/>
            </a:avLst>
          </a:prstGeom>
          <a:solidFill>
            <a:schemeClr val="bg2"/>
          </a:solidFill>
          <a:ln/>
        </p:spPr>
      </p:sp>
      <p:sp>
        <p:nvSpPr>
          <p:cNvPr id="5" name="Text 2"/>
          <p:cNvSpPr txBox="1"/>
          <p:nvPr/>
        </p:nvSpPr>
        <p:spPr>
          <a:xfrm>
            <a:off x="621792" y="1188720"/>
            <a:ext cx="3648456" cy="256032"/>
          </a:xfrm>
          <a:prstGeom prst="rect">
            <a:avLst/>
          </a:prstGeom>
          <a:noFill/>
          <a:ln/>
        </p:spPr>
        <p:txBody>
          <a:bodyPr wrap="square" lIns="0" tIns="0" rIns="0" bIns="0" rtlCol="0" anchor="t"/>
          <a:lstStyle/>
          <a:p>
            <a:pPr indent="0" marL="0">
              <a:buNone/>
            </a:pPr>
            <a:r>
              <a:rPr lang="en-US" sz="1100" b="1" dirty="0">
                <a:solidFill>
                  <a:schemeClr val="accent1"/>
                </a:solidFill>
              </a:rPr>
              <a:t>Compito semplice: richiesta breve</a:t>
            </a:r>
            <a:endParaRPr lang="en-US" sz="1100" dirty="0"/>
          </a:p>
        </p:txBody>
      </p:sp>
      <p:sp>
        <p:nvSpPr>
          <p:cNvPr id="6" name="Text 3"/>
          <p:cNvSpPr txBox="1"/>
          <p:nvPr/>
        </p:nvSpPr>
        <p:spPr>
          <a:xfrm>
            <a:off x="621792" y="1463040"/>
            <a:ext cx="3648456" cy="7772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Traduci in inglese questo paragrafo mantenendo il tono formale.</a:t>
            </a:r>
            <a:endParaRPr lang="en-US" sz="1200" dirty="0"/>
          </a:p>
        </p:txBody>
      </p:sp>
      <p:sp>
        <p:nvSpPr>
          <p:cNvPr id="7" name="prompt"/>
          <p:cNvSpPr/>
          <p:nvPr/>
        </p:nvSpPr>
        <p:spPr>
          <a:xfrm>
            <a:off x="4709160" y="1097280"/>
            <a:ext cx="3977640" cy="1234440"/>
          </a:xfrm>
          <a:prstGeom prst="roundRect">
            <a:avLst>
              <a:gd name="adj" fmla="val 5926"/>
            </a:avLst>
          </a:prstGeom>
          <a:solidFill>
            <a:schemeClr val="accent6"/>
          </a:solidFill>
          <a:ln/>
        </p:spPr>
      </p:sp>
      <p:sp>
        <p:nvSpPr>
          <p:cNvPr id="8" name="Text 5"/>
          <p:cNvSpPr txBox="1"/>
          <p:nvPr/>
        </p:nvSpPr>
        <p:spPr>
          <a:xfrm>
            <a:off x="4873752" y="1188720"/>
            <a:ext cx="3648456" cy="256032"/>
          </a:xfrm>
          <a:prstGeom prst="rect">
            <a:avLst/>
          </a:prstGeom>
          <a:noFill/>
          <a:ln/>
        </p:spPr>
        <p:txBody>
          <a:bodyPr wrap="square" lIns="0" tIns="0" rIns="0" bIns="0" rtlCol="0" anchor="t"/>
          <a:lstStyle/>
          <a:p>
            <a:pPr indent="0" marL="0">
              <a:buNone/>
            </a:pPr>
            <a:r>
              <a:rPr lang="en-US" sz="1100" b="1" dirty="0">
                <a:solidFill>
                  <a:schemeClr val="accent1"/>
                </a:solidFill>
              </a:rPr>
              <a:t>Compito complesso: richiesta strutturata</a:t>
            </a:r>
            <a:endParaRPr lang="en-US" sz="1100" dirty="0"/>
          </a:p>
        </p:txBody>
      </p:sp>
      <p:sp>
        <p:nvSpPr>
          <p:cNvPr id="9" name="Text 6"/>
          <p:cNvSpPr txBox="1"/>
          <p:nvPr/>
        </p:nvSpPr>
        <p:spPr>
          <a:xfrm>
            <a:off x="4873752" y="1463040"/>
            <a:ext cx="3648456" cy="7772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Compito, scopo, destinatario, vincoli, formato, criterio di successo (come nell'anatomia).</a:t>
            </a:r>
            <a:endParaRPr lang="en-US" sz="1200" dirty="0"/>
          </a:p>
        </p:txBody>
      </p:sp>
      <p:sp>
        <p:nvSpPr>
          <p:cNvPr id="10" name="scheda Troppo povera"/>
          <p:cNvSpPr/>
          <p:nvPr/>
        </p:nvSpPr>
        <p:spPr>
          <a:xfrm>
            <a:off x="457200" y="2468880"/>
            <a:ext cx="3977640" cy="1280160"/>
          </a:xfrm>
          <a:prstGeom prst="roundRect">
            <a:avLst>
              <a:gd name="adj" fmla="val 5714"/>
            </a:avLst>
          </a:prstGeom>
          <a:solidFill>
            <a:schemeClr val="bg2"/>
          </a:solidFill>
          <a:ln/>
        </p:spPr>
      </p:sp>
      <p:sp>
        <p:nvSpPr>
          <p:cNvPr id="11" name="cerchio FiMinusCircle"/>
          <p:cNvSpPr/>
          <p:nvPr/>
        </p:nvSpPr>
        <p:spPr>
          <a:xfrm>
            <a:off x="640080" y="2651760"/>
            <a:ext cx="457200" cy="457200"/>
          </a:xfrm>
          <a:prstGeom prst="ellipse">
            <a:avLst/>
          </a:prstGeom>
          <a:solidFill>
            <a:schemeClr val="accent1"/>
          </a:solidFill>
          <a:ln/>
        </p:spPr>
      </p:sp>
      <p:pic>
        <p:nvPicPr>
          <p:cNvPr id="12" name="Image 0" descr="FiMinusCircle">    </p:cNvPr>
          <p:cNvPicPr>
            <a:picLocks noChangeAspect="1"/>
          </p:cNvPicPr>
          <p:nvPr/>
        </p:nvPicPr>
        <p:blipFill>
          <a:blip r:embed="rId1"/>
          <a:stretch>
            <a:fillRect/>
          </a:stretch>
        </p:blipFill>
        <p:spPr>
          <a:xfrm>
            <a:off x="754380" y="2766060"/>
            <a:ext cx="228600" cy="228600"/>
          </a:xfrm>
          <a:prstGeom prst="rect">
            <a:avLst/>
          </a:prstGeom>
        </p:spPr>
      </p:pic>
      <p:sp>
        <p:nvSpPr>
          <p:cNvPr id="13" name="Text 9"/>
          <p:cNvSpPr txBox="1"/>
          <p:nvPr/>
        </p:nvSpPr>
        <p:spPr>
          <a:xfrm>
            <a:off x="1234440" y="26517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Troppo povera</a:t>
            </a:r>
            <a:endParaRPr lang="en-US" sz="1500" dirty="0"/>
          </a:p>
        </p:txBody>
      </p:sp>
      <p:sp>
        <p:nvSpPr>
          <p:cNvPr id="14" name="Text 10"/>
          <p:cNvSpPr txBox="1"/>
          <p:nvPr/>
        </p:nvSpPr>
        <p:spPr>
          <a:xfrm>
            <a:off x="640080" y="3246120"/>
            <a:ext cx="3611880" cy="393192"/>
          </a:xfrm>
          <a:prstGeom prst="rect">
            <a:avLst/>
          </a:prstGeom>
          <a:noFill/>
          <a:ln/>
        </p:spPr>
        <p:txBody>
          <a:bodyPr wrap="square" lIns="0" tIns="0" rIns="0" bIns="0" rtlCol="0" anchor="t"/>
          <a:lstStyle/>
          <a:p>
            <a:pPr indent="0" marL="0">
              <a:buNone/>
            </a:pPr>
            <a:r>
              <a:rPr lang="en-US" sz="1200" dirty="0">
                <a:solidFill>
                  <a:schemeClr val="tx2"/>
                </a:solidFill>
              </a:rPr>
              <a:t>Per un compito complesso: risultati generici, molte iterazioni.</a:t>
            </a:r>
            <a:endParaRPr lang="en-US" sz="1200" dirty="0"/>
          </a:p>
        </p:txBody>
      </p:sp>
      <p:sp>
        <p:nvSpPr>
          <p:cNvPr id="15" name="scheda Sovraccarica"/>
          <p:cNvSpPr/>
          <p:nvPr/>
        </p:nvSpPr>
        <p:spPr>
          <a:xfrm>
            <a:off x="4709160" y="2468880"/>
            <a:ext cx="3977640" cy="1280160"/>
          </a:xfrm>
          <a:prstGeom prst="roundRect">
            <a:avLst>
              <a:gd name="adj" fmla="val 5714"/>
            </a:avLst>
          </a:prstGeom>
          <a:solidFill>
            <a:schemeClr val="bg2"/>
          </a:solidFill>
          <a:ln/>
        </p:spPr>
      </p:sp>
      <p:sp>
        <p:nvSpPr>
          <p:cNvPr id="16" name="cerchio FiPlusCircle"/>
          <p:cNvSpPr/>
          <p:nvPr/>
        </p:nvSpPr>
        <p:spPr>
          <a:xfrm>
            <a:off x="4892040" y="2651760"/>
            <a:ext cx="457200" cy="457200"/>
          </a:xfrm>
          <a:prstGeom prst="ellipse">
            <a:avLst/>
          </a:prstGeom>
          <a:solidFill>
            <a:schemeClr val="accent1"/>
          </a:solidFill>
          <a:ln/>
        </p:spPr>
      </p:sp>
      <p:pic>
        <p:nvPicPr>
          <p:cNvPr id="17" name="Image 1" descr="FiPlusCircle">    </p:cNvPr>
          <p:cNvPicPr>
            <a:picLocks noChangeAspect="1"/>
          </p:cNvPicPr>
          <p:nvPr/>
        </p:nvPicPr>
        <p:blipFill>
          <a:blip r:embed="rId2"/>
          <a:stretch>
            <a:fillRect/>
          </a:stretch>
        </p:blipFill>
        <p:spPr>
          <a:xfrm>
            <a:off x="5006340" y="2766060"/>
            <a:ext cx="228600" cy="228600"/>
          </a:xfrm>
          <a:prstGeom prst="rect">
            <a:avLst/>
          </a:prstGeom>
        </p:spPr>
      </p:pic>
      <p:sp>
        <p:nvSpPr>
          <p:cNvPr id="18" name="Text 13"/>
          <p:cNvSpPr txBox="1"/>
          <p:nvPr/>
        </p:nvSpPr>
        <p:spPr>
          <a:xfrm>
            <a:off x="5486400" y="26517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Sovraccarica</a:t>
            </a:r>
            <a:endParaRPr lang="en-US" sz="1500" dirty="0"/>
          </a:p>
        </p:txBody>
      </p:sp>
      <p:sp>
        <p:nvSpPr>
          <p:cNvPr id="19" name="Text 14"/>
          <p:cNvSpPr txBox="1"/>
          <p:nvPr/>
        </p:nvSpPr>
        <p:spPr>
          <a:xfrm>
            <a:off x="4892040" y="3246120"/>
            <a:ext cx="3611880" cy="393192"/>
          </a:xfrm>
          <a:prstGeom prst="rect">
            <a:avLst/>
          </a:prstGeom>
          <a:noFill/>
          <a:ln/>
        </p:spPr>
        <p:txBody>
          <a:bodyPr wrap="square" lIns="0" tIns="0" rIns="0" bIns="0" rtlCol="0" anchor="t"/>
          <a:lstStyle/>
          <a:p>
            <a:pPr indent="0" marL="0">
              <a:buNone/>
            </a:pPr>
            <a:r>
              <a:rPr lang="en-US" sz="1200" dirty="0">
                <a:solidFill>
                  <a:schemeClr val="tx2"/>
                </a:solidFill>
              </a:rPr>
              <a:t>Istruzioni ridondanti o in conflitto, informazioni non pertinenti.</a:t>
            </a:r>
            <a:endParaRPr lang="en-US" sz="1200" dirty="0"/>
          </a:p>
        </p:txBody>
      </p:sp>
      <p:sp>
        <p:nvSpPr>
          <p:cNvPr id="20" name="messaggio"/>
          <p:cNvSpPr/>
          <p:nvPr/>
        </p:nvSpPr>
        <p:spPr>
          <a:xfrm>
            <a:off x="457200" y="3886200"/>
            <a:ext cx="8229600" cy="685800"/>
          </a:xfrm>
          <a:prstGeom prst="roundRect">
            <a:avLst>
              <a:gd name="adj" fmla="val 10667"/>
            </a:avLst>
          </a:prstGeom>
          <a:solidFill>
            <a:schemeClr val="tx1"/>
          </a:solidFill>
          <a:ln/>
        </p:spPr>
      </p:sp>
      <p:sp>
        <p:nvSpPr>
          <p:cNvPr id="21" name="Text 16"/>
          <p:cNvSpPr txBox="1"/>
          <p:nvPr/>
        </p:nvSpPr>
        <p:spPr>
          <a:xfrm>
            <a:off x="640080" y="3886200"/>
            <a:ext cx="7863840" cy="685800"/>
          </a:xfrm>
          <a:prstGeom prst="rect">
            <a:avLst/>
          </a:prstGeom>
          <a:noFill/>
          <a:ln/>
        </p:spPr>
        <p:txBody>
          <a:bodyPr wrap="square" lIns="0" tIns="0" rIns="0" bIns="0" rtlCol="0" anchor="ctr"/>
          <a:lstStyle/>
          <a:p>
            <a:pPr indent="0" marL="0">
              <a:buNone/>
            </a:pPr>
            <a:r>
              <a:rPr lang="en-US" sz="1300" dirty="0">
                <a:solidFill>
                  <a:schemeClr val="bg1"/>
                </a:solidFill>
              </a:rPr>
              <a:t>Quali informazioni cambierebbero il risultato in modo significativo? Quelle vanno incluse; le altre 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6.3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Il ruolo del contesto nel prompting</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contesto giusto trasforma una risposta generica in una su misura: pertinente, sufficiente, comprensibile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è contesto e come renderlo efficace</a:t>
            </a:r>
            <a:endParaRPr lang="en-US" sz="2600" dirty="0"/>
          </a:p>
        </p:txBody>
      </p:sp>
      <p:sp>
        <p:nvSpPr>
          <p:cNvPr id="4" name="scheda Informazioni preliminari"/>
          <p:cNvSpPr/>
          <p:nvPr/>
        </p:nvSpPr>
        <p:spPr>
          <a:xfrm>
            <a:off x="457200" y="1097280"/>
            <a:ext cx="2615184" cy="1234440"/>
          </a:xfrm>
          <a:prstGeom prst="roundRect">
            <a:avLst>
              <a:gd name="adj" fmla="val 5926"/>
            </a:avLst>
          </a:prstGeom>
          <a:solidFill>
            <a:schemeClr val="bg2"/>
          </a:solidFill>
          <a:ln/>
        </p:spPr>
      </p:sp>
      <p:sp>
        <p:nvSpPr>
          <p:cNvPr id="5" name="cerchio FiInfo"/>
          <p:cNvSpPr/>
          <p:nvPr/>
        </p:nvSpPr>
        <p:spPr>
          <a:xfrm>
            <a:off x="640080" y="1280160"/>
            <a:ext cx="457200" cy="457200"/>
          </a:xfrm>
          <a:prstGeom prst="ellipse">
            <a:avLst/>
          </a:prstGeom>
          <a:solidFill>
            <a:schemeClr val="accent1"/>
          </a:solidFill>
          <a:ln/>
        </p:spPr>
      </p:sp>
      <p:pic>
        <p:nvPicPr>
          <p:cNvPr id="6" name="Image 0" descr="FiInfo">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1234440" y="1280160"/>
            <a:ext cx="1655064" cy="457200"/>
          </a:xfrm>
          <a:prstGeom prst="rect">
            <a:avLst/>
          </a:prstGeom>
          <a:noFill/>
          <a:ln/>
        </p:spPr>
        <p:txBody>
          <a:bodyPr wrap="square" lIns="0" tIns="0" rIns="0" bIns="0" rtlCol="0" anchor="ctr"/>
          <a:lstStyle/>
          <a:p>
            <a:pPr indent="0" marL="0">
              <a:buNone/>
            </a:pPr>
            <a:r>
              <a:rPr lang="en-US" sz="1300" b="1" dirty="0">
                <a:solidFill>
                  <a:schemeClr val="tx1"/>
                </a:solidFill>
              </a:rPr>
              <a:t>Informazioni preliminari</a:t>
            </a:r>
            <a:endParaRPr lang="en-US" sz="1300" dirty="0"/>
          </a:p>
        </p:txBody>
      </p:sp>
      <p:sp>
        <p:nvSpPr>
          <p:cNvPr id="8" name="Text 4"/>
          <p:cNvSpPr txBox="1"/>
          <p:nvPr/>
        </p:nvSpPr>
        <p:spPr>
          <a:xfrm>
            <a:off x="640080" y="1874520"/>
            <a:ext cx="2249424" cy="347472"/>
          </a:xfrm>
          <a:prstGeom prst="rect">
            <a:avLst/>
          </a:prstGeom>
          <a:noFill/>
          <a:ln/>
        </p:spPr>
        <p:txBody>
          <a:bodyPr wrap="square" lIns="0" tIns="0" rIns="0" bIns="0" rtlCol="0" anchor="t"/>
          <a:lstStyle/>
          <a:p>
            <a:pPr indent="0" marL="0">
              <a:buNone/>
            </a:pPr>
            <a:r>
              <a:rPr lang="en-US" sz="1100" dirty="0">
                <a:solidFill>
                  <a:schemeClr val="tx2"/>
                </a:solidFill>
              </a:rPr>
              <a:t>Situazione, fatti, definizioni, decisioni già prese</a:t>
            </a:r>
            <a:endParaRPr lang="en-US" sz="1100" dirty="0"/>
          </a:p>
        </p:txBody>
      </p:sp>
      <p:sp>
        <p:nvSpPr>
          <p:cNvPr id="9" name="scheda Contesto aziendale"/>
          <p:cNvSpPr/>
          <p:nvPr/>
        </p:nvSpPr>
        <p:spPr>
          <a:xfrm>
            <a:off x="3264408" y="1097280"/>
            <a:ext cx="2615184" cy="1234440"/>
          </a:xfrm>
          <a:prstGeom prst="roundRect">
            <a:avLst>
              <a:gd name="adj" fmla="val 5926"/>
            </a:avLst>
          </a:prstGeom>
          <a:solidFill>
            <a:schemeClr val="bg2"/>
          </a:solidFill>
          <a:ln/>
        </p:spPr>
      </p:sp>
      <p:sp>
        <p:nvSpPr>
          <p:cNvPr id="10" name="cerchio FiBriefcase"/>
          <p:cNvSpPr/>
          <p:nvPr/>
        </p:nvSpPr>
        <p:spPr>
          <a:xfrm>
            <a:off x="3447288" y="1280160"/>
            <a:ext cx="457200" cy="457200"/>
          </a:xfrm>
          <a:prstGeom prst="ellipse">
            <a:avLst/>
          </a:prstGeom>
          <a:solidFill>
            <a:schemeClr val="accent1"/>
          </a:solidFill>
          <a:ln/>
        </p:spPr>
      </p:sp>
      <p:pic>
        <p:nvPicPr>
          <p:cNvPr id="11" name="Image 1" descr="FiBriefcase">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4041648" y="1280160"/>
            <a:ext cx="1655064" cy="457200"/>
          </a:xfrm>
          <a:prstGeom prst="rect">
            <a:avLst/>
          </a:prstGeom>
          <a:noFill/>
          <a:ln/>
        </p:spPr>
        <p:txBody>
          <a:bodyPr wrap="square" lIns="0" tIns="0" rIns="0" bIns="0" rtlCol="0" anchor="ctr"/>
          <a:lstStyle/>
          <a:p>
            <a:pPr indent="0" marL="0">
              <a:buNone/>
            </a:pPr>
            <a:r>
              <a:rPr lang="en-US" sz="1300" b="1" dirty="0">
                <a:solidFill>
                  <a:schemeClr val="tx1"/>
                </a:solidFill>
              </a:rPr>
              <a:t>Contesto aziendale</a:t>
            </a:r>
            <a:endParaRPr lang="en-US" sz="1300" dirty="0"/>
          </a:p>
        </p:txBody>
      </p:sp>
      <p:sp>
        <p:nvSpPr>
          <p:cNvPr id="13" name="Text 8"/>
          <p:cNvSpPr txBox="1"/>
          <p:nvPr/>
        </p:nvSpPr>
        <p:spPr>
          <a:xfrm>
            <a:off x="3447288" y="1874520"/>
            <a:ext cx="2249424" cy="347472"/>
          </a:xfrm>
          <a:prstGeom prst="rect">
            <a:avLst/>
          </a:prstGeom>
          <a:noFill/>
          <a:ln/>
        </p:spPr>
        <p:txBody>
          <a:bodyPr wrap="square" lIns="0" tIns="0" rIns="0" bIns="0" rtlCol="0" anchor="t"/>
          <a:lstStyle/>
          <a:p>
            <a:pPr indent="0" marL="0">
              <a:buNone/>
            </a:pPr>
            <a:r>
              <a:rPr lang="en-US" sz="1100" dirty="0">
                <a:solidFill>
                  <a:schemeClr val="tx2"/>
                </a:solidFill>
              </a:rPr>
              <a:t>Organizzazione, settore, pubblico, prassi, tono</a:t>
            </a:r>
            <a:endParaRPr lang="en-US" sz="1100" dirty="0"/>
          </a:p>
        </p:txBody>
      </p:sp>
      <p:sp>
        <p:nvSpPr>
          <p:cNvPr id="14" name="scheda Documenti e materiali"/>
          <p:cNvSpPr/>
          <p:nvPr/>
        </p:nvSpPr>
        <p:spPr>
          <a:xfrm>
            <a:off x="6071616" y="1097280"/>
            <a:ext cx="2615184" cy="1234440"/>
          </a:xfrm>
          <a:prstGeom prst="roundRect">
            <a:avLst>
              <a:gd name="adj" fmla="val 5926"/>
            </a:avLst>
          </a:prstGeom>
          <a:solidFill>
            <a:schemeClr val="bg2"/>
          </a:solidFill>
          <a:ln/>
        </p:spPr>
      </p:sp>
      <p:sp>
        <p:nvSpPr>
          <p:cNvPr id="15" name="cerchio FiFolder"/>
          <p:cNvSpPr/>
          <p:nvPr/>
        </p:nvSpPr>
        <p:spPr>
          <a:xfrm>
            <a:off x="6254496" y="1280160"/>
            <a:ext cx="457200" cy="457200"/>
          </a:xfrm>
          <a:prstGeom prst="ellipse">
            <a:avLst/>
          </a:prstGeom>
          <a:solidFill>
            <a:schemeClr val="accent1"/>
          </a:solidFill>
          <a:ln/>
        </p:spPr>
      </p:sp>
      <p:pic>
        <p:nvPicPr>
          <p:cNvPr id="16" name="Image 2" descr="FiFolder">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848856" y="1280160"/>
            <a:ext cx="1655064" cy="457200"/>
          </a:xfrm>
          <a:prstGeom prst="rect">
            <a:avLst/>
          </a:prstGeom>
          <a:noFill/>
          <a:ln/>
        </p:spPr>
        <p:txBody>
          <a:bodyPr wrap="square" lIns="0" tIns="0" rIns="0" bIns="0" rtlCol="0" anchor="ctr"/>
          <a:lstStyle/>
          <a:p>
            <a:pPr indent="0" marL="0">
              <a:buNone/>
            </a:pPr>
            <a:r>
              <a:rPr lang="en-US" sz="1300" b="1" dirty="0">
                <a:solidFill>
                  <a:schemeClr val="tx1"/>
                </a:solidFill>
              </a:rPr>
              <a:t>Documenti e materiali</a:t>
            </a:r>
            <a:endParaRPr lang="en-US" sz="1300" dirty="0"/>
          </a:p>
        </p:txBody>
      </p:sp>
      <p:sp>
        <p:nvSpPr>
          <p:cNvPr id="18" name="Text 12"/>
          <p:cNvSpPr txBox="1"/>
          <p:nvPr/>
        </p:nvSpPr>
        <p:spPr>
          <a:xfrm>
            <a:off x="6254496" y="1874520"/>
            <a:ext cx="2249424" cy="347472"/>
          </a:xfrm>
          <a:prstGeom prst="rect">
            <a:avLst/>
          </a:prstGeom>
          <a:noFill/>
          <a:ln/>
        </p:spPr>
        <p:txBody>
          <a:bodyPr wrap="square" lIns="0" tIns="0" rIns="0" bIns="0" rtlCol="0" anchor="t"/>
          <a:lstStyle/>
          <a:p>
            <a:pPr indent="0" marL="0">
              <a:buNone/>
            </a:pPr>
            <a:r>
              <a:rPr lang="en-US" sz="1100" dirty="0">
                <a:solidFill>
                  <a:schemeClr val="tx2"/>
                </a:solidFill>
              </a:rPr>
              <a:t>Testi, dati, esempi precedenti, linee guida, modelli</a:t>
            </a:r>
            <a:endParaRPr lang="en-US" sz="1100" dirty="0"/>
          </a:p>
        </p:txBody>
      </p:sp>
      <p:sp>
        <p:nvSpPr>
          <p:cNvPr id="19" name="qualità Pertinente"/>
          <p:cNvSpPr/>
          <p:nvPr/>
        </p:nvSpPr>
        <p:spPr>
          <a:xfrm>
            <a:off x="457200" y="2468880"/>
            <a:ext cx="2615184" cy="566928"/>
          </a:xfrm>
          <a:prstGeom prst="roundRect">
            <a:avLst>
              <a:gd name="adj" fmla="val 12903"/>
            </a:avLst>
          </a:prstGeom>
          <a:solidFill>
            <a:schemeClr val="tx1"/>
          </a:solidFill>
          <a:ln/>
        </p:spPr>
      </p:sp>
      <p:sp>
        <p:nvSpPr>
          <p:cNvPr id="20" name="Text 14"/>
          <p:cNvSpPr txBox="1"/>
          <p:nvPr/>
        </p:nvSpPr>
        <p:spPr>
          <a:xfrm>
            <a:off x="594360" y="2468880"/>
            <a:ext cx="2377440" cy="566928"/>
          </a:xfrm>
          <a:prstGeom prst="rect">
            <a:avLst/>
          </a:prstGeom>
          <a:noFill/>
          <a:ln/>
        </p:spPr>
        <p:txBody>
          <a:bodyPr wrap="square" lIns="0" tIns="0" rIns="0" bIns="0" rtlCol="0" anchor="ctr"/>
          <a:lstStyle/>
          <a:p>
            <a:pPr indent="0" marL="0">
              <a:buNone/>
            </a:pPr>
            <a:r>
              <a:rPr lang="en-US" sz="1200" b="1" dirty="0">
                <a:solidFill>
                  <a:schemeClr val="accent6"/>
                </a:solidFill>
              </a:rPr>
              <a:t>Pertinente: </a:t>
            </a:r>
            <a:pPr indent="0" marL="0">
              <a:buNone/>
            </a:pPr>
            <a:r>
              <a:rPr lang="en-US" sz="1200" dirty="0">
                <a:solidFill>
                  <a:schemeClr val="bg1"/>
                </a:solidFill>
              </a:rPr>
              <a:t>ciò che serve per quel compito</a:t>
            </a:r>
            <a:endParaRPr lang="en-US" sz="1200" dirty="0"/>
          </a:p>
        </p:txBody>
      </p:sp>
      <p:sp>
        <p:nvSpPr>
          <p:cNvPr id="21" name="qualità Sufficiente"/>
          <p:cNvSpPr/>
          <p:nvPr/>
        </p:nvSpPr>
        <p:spPr>
          <a:xfrm>
            <a:off x="3264408" y="2468880"/>
            <a:ext cx="2615184" cy="566928"/>
          </a:xfrm>
          <a:prstGeom prst="roundRect">
            <a:avLst>
              <a:gd name="adj" fmla="val 12903"/>
            </a:avLst>
          </a:prstGeom>
          <a:solidFill>
            <a:schemeClr val="tx1"/>
          </a:solidFill>
          <a:ln/>
        </p:spPr>
      </p:sp>
      <p:sp>
        <p:nvSpPr>
          <p:cNvPr id="22" name="Text 16"/>
          <p:cNvSpPr txBox="1"/>
          <p:nvPr/>
        </p:nvSpPr>
        <p:spPr>
          <a:xfrm>
            <a:off x="3401568" y="2468880"/>
            <a:ext cx="2377440" cy="566928"/>
          </a:xfrm>
          <a:prstGeom prst="rect">
            <a:avLst/>
          </a:prstGeom>
          <a:noFill/>
          <a:ln/>
        </p:spPr>
        <p:txBody>
          <a:bodyPr wrap="square" lIns="0" tIns="0" rIns="0" bIns="0" rtlCol="0" anchor="ctr"/>
          <a:lstStyle/>
          <a:p>
            <a:pPr indent="0" marL="0">
              <a:buNone/>
            </a:pPr>
            <a:r>
              <a:rPr lang="en-US" sz="1200" b="1" dirty="0">
                <a:solidFill>
                  <a:schemeClr val="accent6"/>
                </a:solidFill>
              </a:rPr>
              <a:t>Sufficiente: </a:t>
            </a:r>
            <a:pPr indent="0" marL="0">
              <a:buNone/>
            </a:pPr>
            <a:r>
              <a:rPr lang="en-US" sz="1200" dirty="0">
                <a:solidFill>
                  <a:schemeClr val="bg1"/>
                </a:solidFill>
              </a:rPr>
              <a:t>ciò che cambierebbe il risultato</a:t>
            </a:r>
            <a:endParaRPr lang="en-US" sz="1200" dirty="0"/>
          </a:p>
        </p:txBody>
      </p:sp>
      <p:sp>
        <p:nvSpPr>
          <p:cNvPr id="23" name="qualità Comprensibile"/>
          <p:cNvSpPr/>
          <p:nvPr/>
        </p:nvSpPr>
        <p:spPr>
          <a:xfrm>
            <a:off x="6071616" y="2468880"/>
            <a:ext cx="2615184" cy="566928"/>
          </a:xfrm>
          <a:prstGeom prst="roundRect">
            <a:avLst>
              <a:gd name="adj" fmla="val 12903"/>
            </a:avLst>
          </a:prstGeom>
          <a:solidFill>
            <a:schemeClr val="tx1"/>
          </a:solidFill>
          <a:ln/>
        </p:spPr>
      </p:sp>
      <p:sp>
        <p:nvSpPr>
          <p:cNvPr id="24" name="Text 18"/>
          <p:cNvSpPr txBox="1"/>
          <p:nvPr/>
        </p:nvSpPr>
        <p:spPr>
          <a:xfrm>
            <a:off x="6208776" y="2468880"/>
            <a:ext cx="2377440" cy="566928"/>
          </a:xfrm>
          <a:prstGeom prst="rect">
            <a:avLst/>
          </a:prstGeom>
          <a:noFill/>
          <a:ln/>
        </p:spPr>
        <p:txBody>
          <a:bodyPr wrap="square" lIns="0" tIns="0" rIns="0" bIns="0" rtlCol="0" anchor="ctr"/>
          <a:lstStyle/>
          <a:p>
            <a:pPr indent="0" marL="0">
              <a:buNone/>
            </a:pPr>
            <a:r>
              <a:rPr lang="en-US" sz="1200" b="1" dirty="0">
                <a:solidFill>
                  <a:schemeClr val="accent6"/>
                </a:solidFill>
              </a:rPr>
              <a:t>Comprensibile: </a:t>
            </a:r>
            <a:pPr indent="0" marL="0">
              <a:buNone/>
            </a:pPr>
            <a:r>
              <a:rPr lang="en-US" sz="1200" dirty="0">
                <a:solidFill>
                  <a:schemeClr val="bg1"/>
                </a:solidFill>
              </a:rPr>
              <a:t>ordinato, sigle spiegate</a:t>
            </a:r>
            <a:endParaRPr lang="en-US" sz="1200" dirty="0"/>
          </a:p>
        </p:txBody>
      </p:sp>
      <p:sp>
        <p:nvSpPr>
          <p:cNvPr id="25" name="prompt"/>
          <p:cNvSpPr/>
          <p:nvPr/>
        </p:nvSpPr>
        <p:spPr>
          <a:xfrm>
            <a:off x="457200" y="3172968"/>
            <a:ext cx="8229600" cy="1371600"/>
          </a:xfrm>
          <a:prstGeom prst="roundRect">
            <a:avLst>
              <a:gd name="adj" fmla="val 5333"/>
            </a:avLst>
          </a:prstGeom>
          <a:solidFill>
            <a:schemeClr val="accent6"/>
          </a:solidFill>
          <a:ln/>
        </p:spPr>
      </p:sp>
      <p:sp>
        <p:nvSpPr>
          <p:cNvPr id="26" name="Text 20"/>
          <p:cNvSpPr txBox="1"/>
          <p:nvPr/>
        </p:nvSpPr>
        <p:spPr>
          <a:xfrm>
            <a:off x="621792" y="3264408"/>
            <a:ext cx="7900416" cy="256032"/>
          </a:xfrm>
          <a:prstGeom prst="rect">
            <a:avLst/>
          </a:prstGeom>
          <a:noFill/>
          <a:ln/>
        </p:spPr>
        <p:txBody>
          <a:bodyPr wrap="square" lIns="0" tIns="0" rIns="0" bIns="0" rtlCol="0" anchor="t"/>
          <a:lstStyle/>
          <a:p>
            <a:pPr indent="0" marL="0">
              <a:buNone/>
            </a:pPr>
            <a:r>
              <a:rPr lang="en-US" sz="1100" b="1" dirty="0">
                <a:solidFill>
                  <a:schemeClr val="accent1"/>
                </a:solidFill>
              </a:rPr>
              <a:t>Esempio: il contesto rende il piano su misura</a:t>
            </a:r>
            <a:endParaRPr lang="en-US" sz="1100" dirty="0"/>
          </a:p>
        </p:txBody>
      </p:sp>
      <p:sp>
        <p:nvSpPr>
          <p:cNvPr id="27" name="Text 21"/>
          <p:cNvSpPr txBox="1"/>
          <p:nvPr/>
        </p:nvSpPr>
        <p:spPr>
          <a:xfrm>
            <a:off x="621792" y="3538728"/>
            <a:ext cx="7900416" cy="9144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Proponi un piano di formazione sull'AI per la nostra azienda: 80 dipendenti, metà in produzione con poca familiarità con il digitale. Tempo disponibile: quattro mezze giornate. Esistono già regole interne sull'uso dell'AI, da integrare nel percorso.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Distinguere informazioni, istruzioni, esempi</a:t>
            </a:r>
            <a:endParaRPr lang="en-US" sz="2600" dirty="0"/>
          </a:p>
        </p:txBody>
      </p:sp>
      <p:sp>
        <p:nvSpPr>
          <p:cNvPr id="4" name="Informazioni"/>
          <p:cNvSpPr/>
          <p:nvPr/>
        </p:nvSpPr>
        <p:spPr>
          <a:xfrm>
            <a:off x="457200" y="1097280"/>
            <a:ext cx="2615184" cy="2240280"/>
          </a:xfrm>
          <a:prstGeom prst="roundRect">
            <a:avLst>
              <a:gd name="adj" fmla="val 3265"/>
            </a:avLst>
          </a:prstGeom>
          <a:solidFill>
            <a:schemeClr val="bg2"/>
          </a:solidFill>
          <a:ln/>
        </p:spPr>
      </p:sp>
      <p:sp>
        <p:nvSpPr>
          <p:cNvPr id="5" name="Text 2"/>
          <p:cNvSpPr txBox="1"/>
          <p:nvPr/>
        </p:nvSpPr>
        <p:spPr>
          <a:xfrm>
            <a:off x="640080" y="1207008"/>
            <a:ext cx="2249424" cy="365760"/>
          </a:xfrm>
          <a:prstGeom prst="rect">
            <a:avLst/>
          </a:prstGeom>
          <a:noFill/>
          <a:ln/>
        </p:spPr>
        <p:txBody>
          <a:bodyPr wrap="square" lIns="0" tIns="0" rIns="0" bIns="0" rtlCol="0" anchor="t"/>
          <a:lstStyle/>
          <a:p>
            <a:pPr indent="0" marL="0">
              <a:buNone/>
            </a:pPr>
            <a:r>
              <a:rPr lang="en-US" sz="1700" b="1" dirty="0">
                <a:solidFill>
                  <a:schemeClr val="accent1"/>
                </a:solidFill>
              </a:rPr>
              <a:t>Informazioni</a:t>
            </a:r>
            <a:endParaRPr lang="en-US" sz="1700" dirty="0"/>
          </a:p>
        </p:txBody>
      </p:sp>
      <p:sp>
        <p:nvSpPr>
          <p:cNvPr id="6" name="Text 3"/>
          <p:cNvSpPr txBox="1"/>
          <p:nvPr/>
        </p:nvSpPr>
        <p:spPr>
          <a:xfrm>
            <a:off x="640080" y="1600200"/>
            <a:ext cx="2249424" cy="548640"/>
          </a:xfrm>
          <a:prstGeom prst="rect">
            <a:avLst/>
          </a:prstGeom>
          <a:noFill/>
          <a:ln/>
        </p:spPr>
        <p:txBody>
          <a:bodyPr wrap="square" lIns="0" tIns="0" rIns="0" bIns="0" rtlCol="0" anchor="t"/>
          <a:lstStyle/>
          <a:p>
            <a:pPr indent="0" marL="0">
              <a:buNone/>
            </a:pPr>
            <a:r>
              <a:rPr lang="en-US" sz="1300" b="1" dirty="0">
                <a:solidFill>
                  <a:schemeClr val="tx1"/>
                </a:solidFill>
              </a:rPr>
              <a:t>Il materiale su cui lavorare</a:t>
            </a:r>
            <a:endParaRPr lang="en-US" sz="1300" dirty="0"/>
          </a:p>
        </p:txBody>
      </p:sp>
      <p:sp>
        <p:nvSpPr>
          <p:cNvPr id="7" name="Text 4"/>
          <p:cNvSpPr txBox="1"/>
          <p:nvPr/>
        </p:nvSpPr>
        <p:spPr>
          <a:xfrm>
            <a:off x="640080" y="2240280"/>
            <a:ext cx="2249424" cy="1005840"/>
          </a:xfrm>
          <a:prstGeom prst="rect">
            <a:avLst/>
          </a:prstGeom>
          <a:noFill/>
          <a:ln/>
        </p:spPr>
        <p:txBody>
          <a:bodyPr wrap="square" lIns="0" tIns="0" rIns="0" bIns="0" rtlCol="0" anchor="t"/>
          <a:lstStyle/>
          <a:p>
            <a:pPr indent="0" marL="0">
              <a:buNone/>
            </a:pPr>
            <a:r>
              <a:rPr lang="en-US" sz="1200" i="1" dirty="0">
                <a:solidFill>
                  <a:schemeClr val="tx2"/>
                </a:solidFill>
                <a:latin typeface="Courier New" pitchFamily="34" charset="0"/>
                <a:ea typeface="Courier New" pitchFamily="34" charset="-122"/>
                <a:cs typeface="Courier New" pitchFamily="34" charset="-120"/>
              </a:rPr>
              <a:t>"Di seguito trovi il testo da analizzare."</a:t>
            </a:r>
            <a:endParaRPr lang="en-US" sz="1200" dirty="0"/>
          </a:p>
        </p:txBody>
      </p:sp>
      <p:sp>
        <p:nvSpPr>
          <p:cNvPr id="8" name="Istruzioni"/>
          <p:cNvSpPr/>
          <p:nvPr/>
        </p:nvSpPr>
        <p:spPr>
          <a:xfrm>
            <a:off x="3264408" y="1097280"/>
            <a:ext cx="2615184" cy="2240280"/>
          </a:xfrm>
          <a:prstGeom prst="roundRect">
            <a:avLst>
              <a:gd name="adj" fmla="val 3265"/>
            </a:avLst>
          </a:prstGeom>
          <a:solidFill>
            <a:schemeClr val="accent6"/>
          </a:solidFill>
          <a:ln/>
        </p:spPr>
      </p:sp>
      <p:sp>
        <p:nvSpPr>
          <p:cNvPr id="9" name="Text 6"/>
          <p:cNvSpPr txBox="1"/>
          <p:nvPr/>
        </p:nvSpPr>
        <p:spPr>
          <a:xfrm>
            <a:off x="3447288" y="1207008"/>
            <a:ext cx="2249424" cy="365760"/>
          </a:xfrm>
          <a:prstGeom prst="rect">
            <a:avLst/>
          </a:prstGeom>
          <a:noFill/>
          <a:ln/>
        </p:spPr>
        <p:txBody>
          <a:bodyPr wrap="square" lIns="0" tIns="0" rIns="0" bIns="0" rtlCol="0" anchor="t"/>
          <a:lstStyle/>
          <a:p>
            <a:pPr indent="0" marL="0">
              <a:buNone/>
            </a:pPr>
            <a:r>
              <a:rPr lang="en-US" sz="1700" b="1" dirty="0">
                <a:solidFill>
                  <a:schemeClr val="accent1"/>
                </a:solidFill>
              </a:rPr>
              <a:t>Istruzioni</a:t>
            </a:r>
            <a:endParaRPr lang="en-US" sz="1700" dirty="0"/>
          </a:p>
        </p:txBody>
      </p:sp>
      <p:sp>
        <p:nvSpPr>
          <p:cNvPr id="10" name="Text 7"/>
          <p:cNvSpPr txBox="1"/>
          <p:nvPr/>
        </p:nvSpPr>
        <p:spPr>
          <a:xfrm>
            <a:off x="3447288" y="1600200"/>
            <a:ext cx="2249424" cy="548640"/>
          </a:xfrm>
          <a:prstGeom prst="rect">
            <a:avLst/>
          </a:prstGeom>
          <a:noFill/>
          <a:ln/>
        </p:spPr>
        <p:txBody>
          <a:bodyPr wrap="square" lIns="0" tIns="0" rIns="0" bIns="0" rtlCol="0" anchor="t"/>
          <a:lstStyle/>
          <a:p>
            <a:pPr indent="0" marL="0">
              <a:buNone/>
            </a:pPr>
            <a:r>
              <a:rPr lang="en-US" sz="1300" b="1" dirty="0">
                <a:solidFill>
                  <a:schemeClr val="tx1"/>
                </a:solidFill>
              </a:rPr>
              <a:t>Che cosa fare con le informazioni</a:t>
            </a:r>
            <a:endParaRPr lang="en-US" sz="1300" dirty="0"/>
          </a:p>
        </p:txBody>
      </p:sp>
      <p:sp>
        <p:nvSpPr>
          <p:cNvPr id="11" name="Text 8"/>
          <p:cNvSpPr txBox="1"/>
          <p:nvPr/>
        </p:nvSpPr>
        <p:spPr>
          <a:xfrm>
            <a:off x="3447288" y="2240280"/>
            <a:ext cx="2249424" cy="1005840"/>
          </a:xfrm>
          <a:prstGeom prst="rect">
            <a:avLst/>
          </a:prstGeom>
          <a:noFill/>
          <a:ln/>
        </p:spPr>
        <p:txBody>
          <a:bodyPr wrap="square" lIns="0" tIns="0" rIns="0" bIns="0" rtlCol="0" anchor="t"/>
          <a:lstStyle/>
          <a:p>
            <a:pPr indent="0" marL="0">
              <a:buNone/>
            </a:pPr>
            <a:r>
              <a:rPr lang="en-US" sz="1200" i="1" dirty="0">
                <a:solidFill>
                  <a:schemeClr val="tx2"/>
                </a:solidFill>
                <a:latin typeface="Courier New" pitchFamily="34" charset="0"/>
                <a:ea typeface="Courier New" pitchFamily="34" charset="-122"/>
                <a:cs typeface="Courier New" pitchFamily="34" charset="-120"/>
              </a:rPr>
              <a:t>"Estrai le scadenze e chi ne è responsabile."</a:t>
            </a:r>
            <a:endParaRPr lang="en-US" sz="1200" dirty="0"/>
          </a:p>
        </p:txBody>
      </p:sp>
      <p:sp>
        <p:nvSpPr>
          <p:cNvPr id="12" name="Esempi"/>
          <p:cNvSpPr/>
          <p:nvPr/>
        </p:nvSpPr>
        <p:spPr>
          <a:xfrm>
            <a:off x="6071616" y="1097280"/>
            <a:ext cx="2615184" cy="2240280"/>
          </a:xfrm>
          <a:prstGeom prst="roundRect">
            <a:avLst>
              <a:gd name="adj" fmla="val 3265"/>
            </a:avLst>
          </a:prstGeom>
          <a:solidFill>
            <a:schemeClr val="bg2"/>
          </a:solidFill>
          <a:ln/>
        </p:spPr>
      </p:sp>
      <p:sp>
        <p:nvSpPr>
          <p:cNvPr id="13" name="Text 10"/>
          <p:cNvSpPr txBox="1"/>
          <p:nvPr/>
        </p:nvSpPr>
        <p:spPr>
          <a:xfrm>
            <a:off x="6254496" y="1207008"/>
            <a:ext cx="2249424" cy="365760"/>
          </a:xfrm>
          <a:prstGeom prst="rect">
            <a:avLst/>
          </a:prstGeom>
          <a:noFill/>
          <a:ln/>
        </p:spPr>
        <p:txBody>
          <a:bodyPr wrap="square" lIns="0" tIns="0" rIns="0" bIns="0" rtlCol="0" anchor="t"/>
          <a:lstStyle/>
          <a:p>
            <a:pPr indent="0" marL="0">
              <a:buNone/>
            </a:pPr>
            <a:r>
              <a:rPr lang="en-US" sz="1700" b="1" dirty="0">
                <a:solidFill>
                  <a:schemeClr val="accent1"/>
                </a:solidFill>
              </a:rPr>
              <a:t>Esempi</a:t>
            </a:r>
            <a:endParaRPr lang="en-US" sz="1700" dirty="0"/>
          </a:p>
        </p:txBody>
      </p:sp>
      <p:sp>
        <p:nvSpPr>
          <p:cNvPr id="14" name="Text 11"/>
          <p:cNvSpPr txBox="1"/>
          <p:nvPr/>
        </p:nvSpPr>
        <p:spPr>
          <a:xfrm>
            <a:off x="6254496" y="1600200"/>
            <a:ext cx="2249424" cy="548640"/>
          </a:xfrm>
          <a:prstGeom prst="rect">
            <a:avLst/>
          </a:prstGeom>
          <a:noFill/>
          <a:ln/>
        </p:spPr>
        <p:txBody>
          <a:bodyPr wrap="square" lIns="0" tIns="0" rIns="0" bIns="0" rtlCol="0" anchor="t"/>
          <a:lstStyle/>
          <a:p>
            <a:pPr indent="0" marL="0">
              <a:buNone/>
            </a:pPr>
            <a:r>
              <a:rPr lang="en-US" sz="1300" b="1" dirty="0">
                <a:solidFill>
                  <a:schemeClr val="tx1"/>
                </a:solidFill>
              </a:rPr>
              <a:t>Come dovrebbe essere il risultato</a:t>
            </a:r>
            <a:endParaRPr lang="en-US" sz="1300" dirty="0"/>
          </a:p>
        </p:txBody>
      </p:sp>
      <p:sp>
        <p:nvSpPr>
          <p:cNvPr id="15" name="Text 12"/>
          <p:cNvSpPr txBox="1"/>
          <p:nvPr/>
        </p:nvSpPr>
        <p:spPr>
          <a:xfrm>
            <a:off x="6254496" y="2240280"/>
            <a:ext cx="2249424" cy="1005840"/>
          </a:xfrm>
          <a:prstGeom prst="rect">
            <a:avLst/>
          </a:prstGeom>
          <a:noFill/>
          <a:ln/>
        </p:spPr>
        <p:txBody>
          <a:bodyPr wrap="square" lIns="0" tIns="0" rIns="0" bIns="0" rtlCol="0" anchor="t"/>
          <a:lstStyle/>
          <a:p>
            <a:pPr indent="0" marL="0">
              <a:buNone/>
            </a:pPr>
            <a:r>
              <a:rPr lang="en-US" sz="1200" i="1" dirty="0">
                <a:solidFill>
                  <a:schemeClr val="tx2"/>
                </a:solidFill>
                <a:latin typeface="Courier New" pitchFamily="34" charset="0"/>
                <a:ea typeface="Courier New" pitchFamily="34" charset="-122"/>
                <a:cs typeface="Courier New" pitchFamily="34" charset="-120"/>
              </a:rPr>
              <a:t>"Questo è un esempio del formato, non del contenuto."</a:t>
            </a:r>
            <a:endParaRPr lang="en-US" sz="1200" dirty="0"/>
          </a:p>
        </p:txBody>
      </p:sp>
      <p:sp>
        <p:nvSpPr>
          <p:cNvPr id="16" name="messaggio"/>
          <p:cNvSpPr/>
          <p:nvPr/>
        </p:nvSpPr>
        <p:spPr>
          <a:xfrm>
            <a:off x="457200" y="3520440"/>
            <a:ext cx="8229600" cy="502920"/>
          </a:xfrm>
          <a:prstGeom prst="roundRect">
            <a:avLst>
              <a:gd name="adj" fmla="val 14545"/>
            </a:avLst>
          </a:prstGeom>
          <a:solidFill>
            <a:schemeClr val="tx1"/>
          </a:solidFill>
          <a:ln/>
        </p:spPr>
      </p:sp>
      <p:sp>
        <p:nvSpPr>
          <p:cNvPr id="17" name="Text 14"/>
          <p:cNvSpPr txBox="1"/>
          <p:nvPr/>
        </p:nvSpPr>
        <p:spPr>
          <a:xfrm>
            <a:off x="640080" y="3520440"/>
            <a:ext cx="7863840" cy="502920"/>
          </a:xfrm>
          <a:prstGeom prst="rect">
            <a:avLst/>
          </a:prstGeom>
          <a:noFill/>
          <a:ln/>
        </p:spPr>
        <p:txBody>
          <a:bodyPr wrap="square" lIns="0" tIns="0" rIns="0" bIns="0" rtlCol="0" anchor="ctr"/>
          <a:lstStyle/>
          <a:p>
            <a:pPr indent="0" marL="0">
              <a:buNone/>
            </a:pPr>
            <a:r>
              <a:rPr lang="en-US" sz="1300" dirty="0">
                <a:solidFill>
                  <a:schemeClr val="bg1"/>
                </a:solidFill>
              </a:rPr>
              <a:t>Separare le parti con titoli o delimitatori e dichiararne il ruolo.</a:t>
            </a:r>
            <a:endParaRPr lang="en-US" sz="1300" dirty="0"/>
          </a:p>
        </p:txBody>
      </p:sp>
      <p:sp>
        <p:nvSpPr>
          <p:cNvPr id="18" name="Text 15"/>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00" i="1" dirty="0">
                <a:solidFill>
                  <a:schemeClr val="tx2"/>
                </a:solidFill>
              </a:rPr>
              <a:t>Così il sistema non scambia un contenuto per un'istruzione e usa gli esempi come modello, senza copiarli.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Far emergere informazioni mancanti e ipotesi</a:t>
            </a:r>
            <a:endParaRPr lang="en-US" sz="2600" dirty="0"/>
          </a:p>
        </p:txBody>
      </p:sp>
      <p:sp>
        <p:nvSpPr>
          <p:cNvPr id="4" name="prompt"/>
          <p:cNvSpPr/>
          <p:nvPr/>
        </p:nvSpPr>
        <p:spPr>
          <a:xfrm>
            <a:off x="457200" y="1097280"/>
            <a:ext cx="5120640" cy="2331720"/>
          </a:xfrm>
          <a:prstGeom prst="roundRect">
            <a:avLst>
              <a:gd name="adj" fmla="val 3137"/>
            </a:avLst>
          </a:prstGeom>
          <a:solidFill>
            <a:schemeClr val="accent6"/>
          </a:solidFill>
          <a:ln/>
        </p:spPr>
      </p:sp>
      <p:sp>
        <p:nvSpPr>
          <p:cNvPr id="5" name="Text 2"/>
          <p:cNvSpPr txBox="1"/>
          <p:nvPr/>
        </p:nvSpPr>
        <p:spPr>
          <a:xfrm>
            <a:off x="621792" y="1188720"/>
            <a:ext cx="4791456" cy="256032"/>
          </a:xfrm>
          <a:prstGeom prst="rect">
            <a:avLst/>
          </a:prstGeom>
          <a:noFill/>
          <a:ln/>
        </p:spPr>
        <p:txBody>
          <a:bodyPr wrap="square" lIns="0" tIns="0" rIns="0" bIns="0" rtlCol="0" anchor="t"/>
          <a:lstStyle/>
          <a:p>
            <a:pPr indent="0" marL="0">
              <a:buNone/>
            </a:pPr>
            <a:r>
              <a:rPr lang="en-US" sz="1100" b="1" dirty="0">
                <a:solidFill>
                  <a:schemeClr val="accent1"/>
                </a:solidFill>
              </a:rPr>
              <a:t>Esempio</a:t>
            </a:r>
            <a:endParaRPr lang="en-US" sz="1100" dirty="0"/>
          </a:p>
        </p:txBody>
      </p:sp>
      <p:sp>
        <p:nvSpPr>
          <p:cNvPr id="6" name="Text 3"/>
          <p:cNvSpPr txBox="1"/>
          <p:nvPr/>
        </p:nvSpPr>
        <p:spPr>
          <a:xfrm>
            <a:off x="621792" y="1463040"/>
            <a:ext cx="4791456" cy="187452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Devo organizzare una giornata di formazione per il team commerciale. Prima di proporre un programma, fammi al massimo tre domande, le più importanti. Se le informazioni bastano, procedi direttamente.</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Nel programma, distingui ciò che deriva dalle mie indicazioni da ciò che è una tua ipotesi.</a:t>
            </a:r>
            <a:endParaRPr lang="en-US" sz="1200" dirty="0"/>
          </a:p>
        </p:txBody>
      </p:sp>
      <p:sp>
        <p:nvSpPr>
          <p:cNvPr id="7" name="Text 4"/>
          <p:cNvSpPr txBox="1"/>
          <p:nvPr/>
        </p:nvSpPr>
        <p:spPr>
          <a:xfrm>
            <a:off x="5806440" y="1097280"/>
            <a:ext cx="2880360" cy="274320"/>
          </a:xfrm>
          <a:prstGeom prst="rect">
            <a:avLst/>
          </a:prstGeom>
          <a:noFill/>
          <a:ln/>
        </p:spPr>
        <p:txBody>
          <a:bodyPr wrap="square" lIns="0" tIns="0" rIns="0" bIns="0" rtlCol="0" anchor="t"/>
          <a:lstStyle/>
          <a:p>
            <a:pPr indent="0" marL="0">
              <a:buNone/>
            </a:pPr>
            <a:r>
              <a:rPr lang="en-US" sz="1400" b="1" dirty="0">
                <a:solidFill>
                  <a:schemeClr val="tx1"/>
                </a:solidFill>
              </a:rPr>
              <a:t>Utile quando</a:t>
            </a:r>
            <a:endParaRPr lang="en-US" sz="1400" dirty="0"/>
          </a:p>
        </p:txBody>
      </p:sp>
      <p:sp>
        <p:nvSpPr>
          <p:cNvPr id="8" name="riga 0"/>
          <p:cNvSpPr/>
          <p:nvPr/>
        </p:nvSpPr>
        <p:spPr>
          <a:xfrm>
            <a:off x="5806440" y="1463040"/>
            <a:ext cx="2880360" cy="411480"/>
          </a:xfrm>
          <a:prstGeom prst="roundRect">
            <a:avLst>
              <a:gd name="adj" fmla="val 17778"/>
            </a:avLst>
          </a:prstGeom>
          <a:solidFill>
            <a:schemeClr val="bg2"/>
          </a:solidFill>
          <a:ln/>
        </p:spPr>
      </p:sp>
      <p:sp>
        <p:nvSpPr>
          <p:cNvPr id="9" name="Text 6"/>
          <p:cNvSpPr txBox="1"/>
          <p:nvPr/>
        </p:nvSpPr>
        <p:spPr>
          <a:xfrm>
            <a:off x="5989320" y="1463040"/>
            <a:ext cx="2514600" cy="411480"/>
          </a:xfrm>
          <a:prstGeom prst="rect">
            <a:avLst/>
          </a:prstGeom>
          <a:noFill/>
          <a:ln/>
        </p:spPr>
        <p:txBody>
          <a:bodyPr wrap="square" lIns="0" tIns="0" rIns="0" bIns="0" rtlCol="0" anchor="ctr"/>
          <a:lstStyle/>
          <a:p>
            <a:pPr indent="0" marL="0">
              <a:buNone/>
            </a:pPr>
            <a:r>
              <a:rPr lang="en-US" sz="1200" dirty="0">
                <a:solidFill>
                  <a:schemeClr val="tx1"/>
                </a:solidFill>
              </a:rPr>
              <a:t>Il compito è complesso</a:t>
            </a:r>
            <a:endParaRPr lang="en-US" sz="1200" dirty="0"/>
          </a:p>
        </p:txBody>
      </p:sp>
      <p:sp>
        <p:nvSpPr>
          <p:cNvPr id="10" name="riga 1"/>
          <p:cNvSpPr/>
          <p:nvPr/>
        </p:nvSpPr>
        <p:spPr>
          <a:xfrm>
            <a:off x="5806440" y="1947672"/>
            <a:ext cx="2880360" cy="411480"/>
          </a:xfrm>
          <a:prstGeom prst="roundRect">
            <a:avLst>
              <a:gd name="adj" fmla="val 17778"/>
            </a:avLst>
          </a:prstGeom>
          <a:solidFill>
            <a:schemeClr val="bg1"/>
          </a:solidFill>
          <a:ln/>
        </p:spPr>
      </p:sp>
      <p:sp>
        <p:nvSpPr>
          <p:cNvPr id="11" name="Text 8"/>
          <p:cNvSpPr txBox="1"/>
          <p:nvPr/>
        </p:nvSpPr>
        <p:spPr>
          <a:xfrm>
            <a:off x="5989320" y="1947672"/>
            <a:ext cx="2514600" cy="411480"/>
          </a:xfrm>
          <a:prstGeom prst="rect">
            <a:avLst/>
          </a:prstGeom>
          <a:noFill/>
          <a:ln/>
        </p:spPr>
        <p:txBody>
          <a:bodyPr wrap="square" lIns="0" tIns="0" rIns="0" bIns="0" rtlCol="0" anchor="ctr"/>
          <a:lstStyle/>
          <a:p>
            <a:pPr indent="0" marL="0">
              <a:buNone/>
            </a:pPr>
            <a:r>
              <a:rPr lang="en-US" sz="1200" dirty="0">
                <a:solidFill>
                  <a:schemeClr val="tx1"/>
                </a:solidFill>
              </a:rPr>
              <a:t>Le conseguenze sono importanti</a:t>
            </a:r>
            <a:endParaRPr lang="en-US" sz="1200" dirty="0"/>
          </a:p>
        </p:txBody>
      </p:sp>
      <p:sp>
        <p:nvSpPr>
          <p:cNvPr id="12" name="riga 2"/>
          <p:cNvSpPr/>
          <p:nvPr/>
        </p:nvSpPr>
        <p:spPr>
          <a:xfrm>
            <a:off x="5806440" y="2432304"/>
            <a:ext cx="2880360" cy="411480"/>
          </a:xfrm>
          <a:prstGeom prst="roundRect">
            <a:avLst>
              <a:gd name="adj" fmla="val 17778"/>
            </a:avLst>
          </a:prstGeom>
          <a:solidFill>
            <a:schemeClr val="bg2"/>
          </a:solidFill>
          <a:ln/>
        </p:spPr>
      </p:sp>
      <p:sp>
        <p:nvSpPr>
          <p:cNvPr id="13" name="Text 10"/>
          <p:cNvSpPr txBox="1"/>
          <p:nvPr/>
        </p:nvSpPr>
        <p:spPr>
          <a:xfrm>
            <a:off x="5989320" y="2432304"/>
            <a:ext cx="2514600" cy="411480"/>
          </a:xfrm>
          <a:prstGeom prst="rect">
            <a:avLst/>
          </a:prstGeom>
          <a:noFill/>
          <a:ln/>
        </p:spPr>
        <p:txBody>
          <a:bodyPr wrap="square" lIns="0" tIns="0" rIns="0" bIns="0" rtlCol="0" anchor="ctr"/>
          <a:lstStyle/>
          <a:p>
            <a:pPr indent="0" marL="0">
              <a:buNone/>
            </a:pPr>
            <a:r>
              <a:rPr lang="en-US" sz="1200" dirty="0">
                <a:solidFill>
                  <a:schemeClr val="tx1"/>
                </a:solidFill>
              </a:rPr>
              <a:t>Si sta ancora definendo il bisogno</a:t>
            </a:r>
            <a:endParaRPr lang="en-US" sz="1200" dirty="0"/>
          </a:p>
        </p:txBody>
      </p:sp>
      <p:sp>
        <p:nvSpPr>
          <p:cNvPr id="14" name="blocco Domande limitate"/>
          <p:cNvSpPr/>
          <p:nvPr/>
        </p:nvSpPr>
        <p:spPr>
          <a:xfrm>
            <a:off x="5806440" y="2944368"/>
            <a:ext cx="1371600" cy="502920"/>
          </a:xfrm>
          <a:prstGeom prst="roundRect">
            <a:avLst>
              <a:gd name="adj" fmla="val 21818"/>
            </a:avLst>
          </a:prstGeom>
          <a:solidFill>
            <a:schemeClr val="bg1"/>
          </a:solidFill>
          <a:ln w="12700">
            <a:solidFill>
              <a:schemeClr val="accent1"/>
            </a:solidFill>
            <a:prstDash val="solid"/>
          </a:ln>
        </p:spPr>
      </p:sp>
      <p:sp>
        <p:nvSpPr>
          <p:cNvPr id="15" name="Text 12"/>
          <p:cNvSpPr txBox="1"/>
          <p:nvPr/>
        </p:nvSpPr>
        <p:spPr>
          <a:xfrm>
            <a:off x="5852160" y="2944368"/>
            <a:ext cx="1280160" cy="502920"/>
          </a:xfrm>
          <a:prstGeom prst="rect">
            <a:avLst/>
          </a:prstGeom>
          <a:noFill/>
          <a:ln/>
        </p:spPr>
        <p:txBody>
          <a:bodyPr wrap="square" lIns="0" tIns="0" rIns="0" bIns="0" rtlCol="0" anchor="ctr"/>
          <a:lstStyle/>
          <a:p>
            <a:pPr algn="ctr" indent="0" marL="0">
              <a:buNone/>
            </a:pPr>
            <a:r>
              <a:rPr lang="en-US" sz="1100" b="1" dirty="0">
                <a:solidFill>
                  <a:schemeClr val="tx1"/>
                </a:solidFill>
              </a:rPr>
              <a:t>Domande limitate</a:t>
            </a:r>
            <a:endParaRPr lang="en-US" sz="1100" dirty="0"/>
          </a:p>
        </p:txBody>
      </p:sp>
      <p:sp>
        <p:nvSpPr>
          <p:cNvPr id="16" name="blocco Procedere se basta"/>
          <p:cNvSpPr/>
          <p:nvPr/>
        </p:nvSpPr>
        <p:spPr>
          <a:xfrm>
            <a:off x="7315200" y="2944368"/>
            <a:ext cx="1371600" cy="502920"/>
          </a:xfrm>
          <a:prstGeom prst="roundRect">
            <a:avLst>
              <a:gd name="adj" fmla="val 21818"/>
            </a:avLst>
          </a:prstGeom>
          <a:solidFill>
            <a:schemeClr val="bg1"/>
          </a:solidFill>
          <a:ln w="12700">
            <a:solidFill>
              <a:schemeClr val="accent1"/>
            </a:solidFill>
            <a:prstDash val="solid"/>
          </a:ln>
        </p:spPr>
      </p:sp>
      <p:sp>
        <p:nvSpPr>
          <p:cNvPr id="17" name="Text 14"/>
          <p:cNvSpPr txBox="1"/>
          <p:nvPr/>
        </p:nvSpPr>
        <p:spPr>
          <a:xfrm>
            <a:off x="7360920" y="2944368"/>
            <a:ext cx="1280160" cy="502920"/>
          </a:xfrm>
          <a:prstGeom prst="rect">
            <a:avLst/>
          </a:prstGeom>
          <a:noFill/>
          <a:ln/>
        </p:spPr>
        <p:txBody>
          <a:bodyPr wrap="square" lIns="0" tIns="0" rIns="0" bIns="0" rtlCol="0" anchor="ctr"/>
          <a:lstStyle/>
          <a:p>
            <a:pPr algn="ctr" indent="0" marL="0">
              <a:buNone/>
            </a:pPr>
            <a:r>
              <a:rPr lang="en-US" sz="1100" b="1" dirty="0">
                <a:solidFill>
                  <a:schemeClr val="tx1"/>
                </a:solidFill>
              </a:rPr>
              <a:t>Procedere se basta</a:t>
            </a:r>
            <a:endParaRPr lang="en-US" sz="1100" dirty="0"/>
          </a:p>
        </p:txBody>
      </p:sp>
      <p:sp>
        <p:nvSpPr>
          <p:cNvPr id="18" name="messaggio"/>
          <p:cNvSpPr/>
          <p:nvPr/>
        </p:nvSpPr>
        <p:spPr>
          <a:xfrm>
            <a:off x="457200" y="3611880"/>
            <a:ext cx="8229600" cy="566928"/>
          </a:xfrm>
          <a:prstGeom prst="roundRect">
            <a:avLst>
              <a:gd name="adj" fmla="val 12903"/>
            </a:avLst>
          </a:prstGeom>
          <a:solidFill>
            <a:schemeClr val="tx1"/>
          </a:solidFill>
          <a:ln/>
        </p:spPr>
      </p:sp>
      <p:sp>
        <p:nvSpPr>
          <p:cNvPr id="19" name="Text 16"/>
          <p:cNvSpPr txBox="1"/>
          <p:nvPr/>
        </p:nvSpPr>
        <p:spPr>
          <a:xfrm>
            <a:off x="640080" y="3611880"/>
            <a:ext cx="7863840" cy="566928"/>
          </a:xfrm>
          <a:prstGeom prst="rect">
            <a:avLst/>
          </a:prstGeom>
          <a:noFill/>
          <a:ln/>
        </p:spPr>
        <p:txBody>
          <a:bodyPr wrap="square" lIns="0" tIns="0" rIns="0" bIns="0" rtlCol="0" anchor="ctr"/>
          <a:lstStyle/>
          <a:p>
            <a:pPr indent="0" marL="0">
              <a:buNone/>
            </a:pPr>
            <a:r>
              <a:rPr lang="en-US" sz="1300" dirty="0">
                <a:solidFill>
                  <a:schemeClr val="bg1"/>
                </a:solidFill>
              </a:rPr>
              <a:t>Le lacune emergono prima e le ipotesi diventano visibili, quindi verificabili e correggibili.</a:t>
            </a:r>
            <a:endParaRPr lang="en-US" sz="1300" dirty="0"/>
          </a:p>
        </p:txBody>
      </p:sp>
      <p:sp>
        <p:nvSpPr>
          <p:cNvPr id="20" name="Text 17"/>
          <p:cNvSpPr txBox="1"/>
          <p:nvPr/>
        </p:nvSpPr>
        <p:spPr>
          <a:xfrm>
            <a:off x="457200" y="4279392"/>
            <a:ext cx="8229600" cy="274320"/>
          </a:xfrm>
          <a:prstGeom prst="rect">
            <a:avLst/>
          </a:prstGeom>
          <a:noFill/>
          <a:ln/>
        </p:spPr>
        <p:txBody>
          <a:bodyPr wrap="square" lIns="0" tIns="0" rIns="0" bIns="0" rtlCol="0" anchor="t"/>
          <a:lstStyle/>
          <a:p>
            <a:pPr indent="0" marL="0">
              <a:buNone/>
            </a:pPr>
            <a:r>
              <a:rPr lang="en-US" sz="1100" i="1" dirty="0">
                <a:solidFill>
                  <a:schemeClr val="tx2"/>
                </a:solidFill>
              </a:rPr>
              <a:t>La trasparenza migliora molto, anche se il sistema non individua sempre ogni lacuna.</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Informazioni contraddittorie</a:t>
            </a:r>
            <a:endParaRPr lang="en-US" sz="2600" dirty="0"/>
          </a:p>
        </p:txBody>
      </p:sp>
      <p:sp>
        <p:nvSpPr>
          <p:cNvPr id="4" name="scheda Prevenire"/>
          <p:cNvSpPr/>
          <p:nvPr/>
        </p:nvSpPr>
        <p:spPr>
          <a:xfrm>
            <a:off x="457200" y="1097280"/>
            <a:ext cx="2615184" cy="2514600"/>
          </a:xfrm>
          <a:prstGeom prst="roundRect">
            <a:avLst>
              <a:gd name="adj" fmla="val 2909"/>
            </a:avLst>
          </a:prstGeom>
          <a:solidFill>
            <a:schemeClr val="bg2"/>
          </a:solidFill>
          <a:ln/>
        </p:spPr>
      </p:sp>
      <p:sp>
        <p:nvSpPr>
          <p:cNvPr id="5" name="cerchio FiShield"/>
          <p:cNvSpPr/>
          <p:nvPr/>
        </p:nvSpPr>
        <p:spPr>
          <a:xfrm>
            <a:off x="640080" y="1280160"/>
            <a:ext cx="457200" cy="457200"/>
          </a:xfrm>
          <a:prstGeom prst="ellipse">
            <a:avLst/>
          </a:prstGeom>
          <a:solidFill>
            <a:schemeClr val="accent1"/>
          </a:solidFill>
          <a:ln/>
        </p:spPr>
      </p:sp>
      <p:pic>
        <p:nvPicPr>
          <p:cNvPr id="6" name="Image 0" descr="FiShield">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Prevenire</a:t>
            </a:r>
            <a:endParaRPr lang="en-US" sz="1500" dirty="0"/>
          </a:p>
        </p:txBody>
      </p:sp>
      <p:sp>
        <p:nvSpPr>
          <p:cNvPr id="8" name="Text 4"/>
          <p:cNvSpPr txBox="1"/>
          <p:nvPr/>
        </p:nvSpPr>
        <p:spPr>
          <a:xfrm>
            <a:off x="640080" y="2231136"/>
            <a:ext cx="2249424" cy="1271016"/>
          </a:xfrm>
          <a:prstGeom prst="rect">
            <a:avLst/>
          </a:prstGeom>
          <a:noFill/>
          <a:ln/>
        </p:spPr>
        <p:txBody>
          <a:bodyPr wrap="square" lIns="0" tIns="0" rIns="0" bIns="0" rtlCol="0" anchor="t"/>
          <a:lstStyle/>
          <a:p>
            <a:pPr indent="0" marL="0">
              <a:buNone/>
            </a:pPr>
            <a:r>
              <a:rPr lang="en-US" sz="1200" dirty="0">
                <a:solidFill>
                  <a:schemeClr val="tx2"/>
                </a:solidFill>
              </a:rPr>
              <a:t>Versioni aggiornate, materiale superato eliminato, istruzioni rilette.</a:t>
            </a:r>
            <a:endParaRPr lang="en-US" sz="1200" dirty="0"/>
          </a:p>
        </p:txBody>
      </p:sp>
      <p:sp>
        <p:nvSpPr>
          <p:cNvPr id="9" name="scheda Indicare una priorità"/>
          <p:cNvSpPr/>
          <p:nvPr/>
        </p:nvSpPr>
        <p:spPr>
          <a:xfrm>
            <a:off x="3264408" y="1097280"/>
            <a:ext cx="2615184" cy="2514600"/>
          </a:xfrm>
          <a:prstGeom prst="roundRect">
            <a:avLst>
              <a:gd name="adj" fmla="val 2909"/>
            </a:avLst>
          </a:prstGeom>
          <a:solidFill>
            <a:schemeClr val="bg2"/>
          </a:solidFill>
          <a:ln/>
        </p:spPr>
      </p:sp>
      <p:sp>
        <p:nvSpPr>
          <p:cNvPr id="10" name="cerchio FiList"/>
          <p:cNvSpPr/>
          <p:nvPr/>
        </p:nvSpPr>
        <p:spPr>
          <a:xfrm>
            <a:off x="3447288" y="1280160"/>
            <a:ext cx="457200" cy="457200"/>
          </a:xfrm>
          <a:prstGeom prst="ellipse">
            <a:avLst/>
          </a:prstGeom>
          <a:solidFill>
            <a:schemeClr val="accent1"/>
          </a:solidFill>
          <a:ln/>
        </p:spPr>
      </p:sp>
      <p:pic>
        <p:nvPicPr>
          <p:cNvPr id="11" name="Image 1" descr="FiList">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Indicare una priorità</a:t>
            </a:r>
            <a:endParaRPr lang="en-US" sz="1500" dirty="0"/>
          </a:p>
        </p:txBody>
      </p:sp>
      <p:sp>
        <p:nvSpPr>
          <p:cNvPr id="13" name="Text 8"/>
          <p:cNvSpPr txBox="1"/>
          <p:nvPr/>
        </p:nvSpPr>
        <p:spPr>
          <a:xfrm>
            <a:off x="3447288" y="2231136"/>
            <a:ext cx="2249424" cy="1271016"/>
          </a:xfrm>
          <a:prstGeom prst="rect">
            <a:avLst/>
          </a:prstGeom>
          <a:noFill/>
          <a:ln/>
        </p:spPr>
        <p:txBody>
          <a:bodyPr wrap="square" lIns="0" tIns="0" rIns="0" bIns="0" rtlCol="0" anchor="t"/>
          <a:lstStyle/>
          <a:p>
            <a:pPr indent="0" marL="0">
              <a:buNone/>
            </a:pPr>
            <a:r>
              <a:rPr lang="en-US" sz="1200" dirty="0">
                <a:solidFill>
                  <a:schemeClr val="tx2"/>
                </a:solidFill>
              </a:rPr>
              <a:t>"Se il documento e le mie indicazioni sono in conflitto, segui le mie indicazioni."</a:t>
            </a:r>
            <a:endParaRPr lang="en-US" sz="1200" dirty="0"/>
          </a:p>
        </p:txBody>
      </p:sp>
      <p:sp>
        <p:nvSpPr>
          <p:cNvPr id="14" name="scheda Chiedere di individuarle"/>
          <p:cNvSpPr/>
          <p:nvPr/>
        </p:nvSpPr>
        <p:spPr>
          <a:xfrm>
            <a:off x="6071616" y="1097280"/>
            <a:ext cx="2615184" cy="2514600"/>
          </a:xfrm>
          <a:prstGeom prst="roundRect">
            <a:avLst>
              <a:gd name="adj" fmla="val 2909"/>
            </a:avLst>
          </a:prstGeom>
          <a:solidFill>
            <a:schemeClr val="accent6"/>
          </a:solidFill>
          <a:ln/>
        </p:spPr>
      </p:sp>
      <p:sp>
        <p:nvSpPr>
          <p:cNvPr id="15" name="cerchio FiSearch"/>
          <p:cNvSpPr/>
          <p:nvPr/>
        </p:nvSpPr>
        <p:spPr>
          <a:xfrm>
            <a:off x="6254496" y="1280160"/>
            <a:ext cx="457200" cy="457200"/>
          </a:xfrm>
          <a:prstGeom prst="ellipse">
            <a:avLst/>
          </a:prstGeom>
          <a:solidFill>
            <a:schemeClr val="accent1"/>
          </a:solidFill>
          <a:ln/>
        </p:spPr>
      </p:sp>
      <p:pic>
        <p:nvPicPr>
          <p:cNvPr id="16" name="Image 2" descr="FiSearch">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Chiedere di individuarle</a:t>
            </a:r>
            <a:endParaRPr lang="en-US" sz="1500" dirty="0"/>
          </a:p>
        </p:txBody>
      </p:sp>
      <p:sp>
        <p:nvSpPr>
          <p:cNvPr id="18" name="Text 12"/>
          <p:cNvSpPr txBox="1"/>
          <p:nvPr/>
        </p:nvSpPr>
        <p:spPr>
          <a:xfrm>
            <a:off x="6254496" y="2231136"/>
            <a:ext cx="2249424" cy="1271016"/>
          </a:xfrm>
          <a:prstGeom prst="rect">
            <a:avLst/>
          </a:prstGeom>
          <a:noFill/>
          <a:ln/>
        </p:spPr>
        <p:txBody>
          <a:bodyPr wrap="square" lIns="0" tIns="0" rIns="0" bIns="0" rtlCol="0" anchor="t"/>
          <a:lstStyle/>
          <a:p>
            <a:pPr indent="0" marL="0">
              <a:buNone/>
            </a:pPr>
            <a:r>
              <a:rPr lang="en-US" sz="1200" dirty="0">
                <a:solidFill>
                  <a:schemeClr val="tx2"/>
                </a:solidFill>
              </a:rPr>
              <a:t>"Se trovi informazioni in contrasto, elencale con la fonte di ciascuna e chiedimi quale seguire."</a:t>
            </a:r>
            <a:endParaRPr lang="en-US" sz="1200" dirty="0"/>
          </a:p>
        </p:txBody>
      </p:sp>
      <p:sp>
        <p:nvSpPr>
          <p:cNvPr id="19" name="messaggio"/>
          <p:cNvSpPr/>
          <p:nvPr/>
        </p:nvSpPr>
        <p:spPr>
          <a:xfrm>
            <a:off x="457200" y="3749040"/>
            <a:ext cx="8229600" cy="777240"/>
          </a:xfrm>
          <a:prstGeom prst="roundRect">
            <a:avLst>
              <a:gd name="adj" fmla="val 9412"/>
            </a:avLst>
          </a:prstGeom>
          <a:solidFill>
            <a:schemeClr val="tx1"/>
          </a:solidFill>
          <a:ln/>
        </p:spPr>
      </p:sp>
      <p:sp>
        <p:nvSpPr>
          <p:cNvPr id="20" name="Text 14"/>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00" dirty="0">
                <a:solidFill>
                  <a:schemeClr val="bg1"/>
                </a:solidFill>
              </a:rPr>
              <a:t>L'AI può riconoscere le contraddizioni, ma non sempre le segnala spontaneamente: chiederlo esplicitamente le fa emergere.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Lavorare con materiali lunghi</a:t>
            </a:r>
            <a:endParaRPr lang="en-US" sz="2600" dirty="0"/>
          </a:p>
        </p:txBody>
      </p:sp>
      <p:sp>
        <p:nvSpPr>
          <p:cNvPr id="4" name="Indicare su che cosa concentrarsi"/>
          <p:cNvSpPr/>
          <p:nvPr/>
        </p:nvSpPr>
        <p:spPr>
          <a:xfrm>
            <a:off x="457200" y="1097280"/>
            <a:ext cx="4023360" cy="1234440"/>
          </a:xfrm>
          <a:prstGeom prst="roundRect">
            <a:avLst>
              <a:gd name="adj" fmla="val 5926"/>
            </a:avLst>
          </a:prstGeom>
          <a:solidFill>
            <a:schemeClr val="bg2"/>
          </a:solidFill>
          <a:ln/>
        </p:spPr>
      </p:sp>
      <p:sp>
        <p:nvSpPr>
          <p:cNvPr id="5" name="cerchio FiTarget"/>
          <p:cNvSpPr/>
          <p:nvPr/>
        </p:nvSpPr>
        <p:spPr>
          <a:xfrm>
            <a:off x="621792" y="1261872"/>
            <a:ext cx="438912" cy="438912"/>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31520" y="1371600"/>
            <a:ext cx="219456" cy="219456"/>
          </a:xfrm>
          <a:prstGeom prst="rect">
            <a:avLst/>
          </a:prstGeom>
        </p:spPr>
      </p:pic>
      <p:sp>
        <p:nvSpPr>
          <p:cNvPr id="7" name="Text 3"/>
          <p:cNvSpPr txBox="1"/>
          <p:nvPr/>
        </p:nvSpPr>
        <p:spPr>
          <a:xfrm>
            <a:off x="1170432" y="122529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Indicare su che cosa concentrarsi</a:t>
            </a:r>
            <a:endParaRPr lang="en-US" sz="1400" dirty="0"/>
          </a:p>
        </p:txBody>
      </p:sp>
      <p:sp>
        <p:nvSpPr>
          <p:cNvPr id="8" name="Text 4"/>
          <p:cNvSpPr txBox="1"/>
          <p:nvPr/>
        </p:nvSpPr>
        <p:spPr>
          <a:xfrm>
            <a:off x="621792" y="1810512"/>
            <a:ext cx="3694176" cy="429768"/>
          </a:xfrm>
          <a:prstGeom prst="rect">
            <a:avLst/>
          </a:prstGeom>
          <a:noFill/>
          <a:ln/>
        </p:spPr>
        <p:txBody>
          <a:bodyPr wrap="square" lIns="0" tIns="0" rIns="0" bIns="0" rtlCol="0" anchor="t"/>
          <a:lstStyle/>
          <a:p>
            <a:pPr indent="0" marL="0">
              <a:buNone/>
            </a:pPr>
            <a:r>
              <a:rPr lang="en-US" sz="1200" dirty="0">
                <a:solidFill>
                  <a:schemeClr val="tx2"/>
                </a:solidFill>
              </a:rPr>
              <a:t>o fornire solo le sezioni pertinenti</a:t>
            </a:r>
            <a:endParaRPr lang="en-US" sz="1200" dirty="0"/>
          </a:p>
        </p:txBody>
      </p:sp>
      <p:sp>
        <p:nvSpPr>
          <p:cNvPr id="9" name="Ripetere le istruzioni importanti"/>
          <p:cNvSpPr/>
          <p:nvPr/>
        </p:nvSpPr>
        <p:spPr>
          <a:xfrm>
            <a:off x="4663440" y="1097280"/>
            <a:ext cx="4023360" cy="1234440"/>
          </a:xfrm>
          <a:prstGeom prst="roundRect">
            <a:avLst>
              <a:gd name="adj" fmla="val 5926"/>
            </a:avLst>
          </a:prstGeom>
          <a:solidFill>
            <a:schemeClr val="bg2"/>
          </a:solidFill>
          <a:ln/>
        </p:spPr>
      </p:sp>
      <p:sp>
        <p:nvSpPr>
          <p:cNvPr id="10" name="cerchio FiRepeat"/>
          <p:cNvSpPr/>
          <p:nvPr/>
        </p:nvSpPr>
        <p:spPr>
          <a:xfrm>
            <a:off x="4828032" y="1261872"/>
            <a:ext cx="438912" cy="438912"/>
          </a:xfrm>
          <a:prstGeom prst="ellipse">
            <a:avLst/>
          </a:prstGeom>
          <a:solidFill>
            <a:schemeClr val="accent1"/>
          </a:solidFill>
          <a:ln/>
        </p:spPr>
      </p:sp>
      <p:pic>
        <p:nvPicPr>
          <p:cNvPr id="11" name="Image 1" descr="FiRepeat">    </p:cNvPr>
          <p:cNvPicPr>
            <a:picLocks noChangeAspect="1"/>
          </p:cNvPicPr>
          <p:nvPr/>
        </p:nvPicPr>
        <p:blipFill>
          <a:blip r:embed="rId2"/>
          <a:stretch>
            <a:fillRect/>
          </a:stretch>
        </p:blipFill>
        <p:spPr>
          <a:xfrm>
            <a:off x="4937760" y="1371600"/>
            <a:ext cx="219456" cy="219456"/>
          </a:xfrm>
          <a:prstGeom prst="rect">
            <a:avLst/>
          </a:prstGeom>
        </p:spPr>
      </p:pic>
      <p:sp>
        <p:nvSpPr>
          <p:cNvPr id="12" name="Text 7"/>
          <p:cNvSpPr txBox="1"/>
          <p:nvPr/>
        </p:nvSpPr>
        <p:spPr>
          <a:xfrm>
            <a:off x="5376672" y="122529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Ripetere le istruzioni importanti</a:t>
            </a:r>
            <a:endParaRPr lang="en-US" sz="1400" dirty="0"/>
          </a:p>
        </p:txBody>
      </p:sp>
      <p:sp>
        <p:nvSpPr>
          <p:cNvPr id="13" name="Text 8"/>
          <p:cNvSpPr txBox="1"/>
          <p:nvPr/>
        </p:nvSpPr>
        <p:spPr>
          <a:xfrm>
            <a:off x="4828032" y="1810512"/>
            <a:ext cx="3694176" cy="429768"/>
          </a:xfrm>
          <a:prstGeom prst="rect">
            <a:avLst/>
          </a:prstGeom>
          <a:noFill/>
          <a:ln/>
        </p:spPr>
        <p:txBody>
          <a:bodyPr wrap="square" lIns="0" tIns="0" rIns="0" bIns="0" rtlCol="0" anchor="t"/>
          <a:lstStyle/>
          <a:p>
            <a:pPr indent="0" marL="0">
              <a:buNone/>
            </a:pPr>
            <a:r>
              <a:rPr lang="en-US" sz="1200" dirty="0">
                <a:solidFill>
                  <a:schemeClr val="tx2"/>
                </a:solidFill>
              </a:rPr>
              <a:t>quando si passa a un nuovo compito</a:t>
            </a:r>
            <a:endParaRPr lang="en-US" sz="1200" dirty="0"/>
          </a:p>
        </p:txBody>
      </p:sp>
      <p:sp>
        <p:nvSpPr>
          <p:cNvPr id="14" name="Procedere per parti"/>
          <p:cNvSpPr/>
          <p:nvPr/>
        </p:nvSpPr>
        <p:spPr>
          <a:xfrm>
            <a:off x="457200" y="2514600"/>
            <a:ext cx="4023360" cy="1234440"/>
          </a:xfrm>
          <a:prstGeom prst="roundRect">
            <a:avLst>
              <a:gd name="adj" fmla="val 5926"/>
            </a:avLst>
          </a:prstGeom>
          <a:solidFill>
            <a:schemeClr val="bg2"/>
          </a:solidFill>
          <a:ln/>
        </p:spPr>
      </p:sp>
      <p:sp>
        <p:nvSpPr>
          <p:cNvPr id="15" name="cerchio FiLayers"/>
          <p:cNvSpPr/>
          <p:nvPr/>
        </p:nvSpPr>
        <p:spPr>
          <a:xfrm>
            <a:off x="621792" y="2679192"/>
            <a:ext cx="438912" cy="438912"/>
          </a:xfrm>
          <a:prstGeom prst="ellipse">
            <a:avLst/>
          </a:prstGeom>
          <a:solidFill>
            <a:schemeClr val="accent1"/>
          </a:solidFill>
          <a:ln/>
        </p:spPr>
      </p:sp>
      <p:pic>
        <p:nvPicPr>
          <p:cNvPr id="16" name="Image 2" descr="FiLayers">    </p:cNvPr>
          <p:cNvPicPr>
            <a:picLocks noChangeAspect="1"/>
          </p:cNvPicPr>
          <p:nvPr/>
        </p:nvPicPr>
        <p:blipFill>
          <a:blip r:embed="rId3"/>
          <a:stretch>
            <a:fillRect/>
          </a:stretch>
        </p:blipFill>
        <p:spPr>
          <a:xfrm>
            <a:off x="731520" y="2788920"/>
            <a:ext cx="219456" cy="219456"/>
          </a:xfrm>
          <a:prstGeom prst="rect">
            <a:avLst/>
          </a:prstGeom>
        </p:spPr>
      </p:pic>
      <p:sp>
        <p:nvSpPr>
          <p:cNvPr id="17" name="Text 11"/>
          <p:cNvSpPr txBox="1"/>
          <p:nvPr/>
        </p:nvSpPr>
        <p:spPr>
          <a:xfrm>
            <a:off x="1170432" y="264261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Procedere per parti</a:t>
            </a:r>
            <a:endParaRPr lang="en-US" sz="1400" dirty="0"/>
          </a:p>
        </p:txBody>
      </p:sp>
      <p:sp>
        <p:nvSpPr>
          <p:cNvPr id="18" name="Text 12"/>
          <p:cNvSpPr txBox="1"/>
          <p:nvPr/>
        </p:nvSpPr>
        <p:spPr>
          <a:xfrm>
            <a:off x="621792" y="3227832"/>
            <a:ext cx="3694176" cy="429768"/>
          </a:xfrm>
          <a:prstGeom prst="rect">
            <a:avLst/>
          </a:prstGeom>
          <a:noFill/>
          <a:ln/>
        </p:spPr>
        <p:txBody>
          <a:bodyPr wrap="square" lIns="0" tIns="0" rIns="0" bIns="0" rtlCol="0" anchor="t"/>
          <a:lstStyle/>
          <a:p>
            <a:pPr indent="0" marL="0">
              <a:buNone/>
            </a:pPr>
            <a:r>
              <a:rPr lang="en-US" sz="1200" dirty="0">
                <a:solidFill>
                  <a:schemeClr val="tx2"/>
                </a:solidFill>
              </a:rPr>
              <a:t>un documento alla volta, poi la sintesi</a:t>
            </a:r>
            <a:endParaRPr lang="en-US" sz="1200" dirty="0"/>
          </a:p>
        </p:txBody>
      </p:sp>
      <p:sp>
        <p:nvSpPr>
          <p:cNvPr id="19" name="Ripartire con un riepilogo"/>
          <p:cNvSpPr/>
          <p:nvPr/>
        </p:nvSpPr>
        <p:spPr>
          <a:xfrm>
            <a:off x="4663440" y="2514600"/>
            <a:ext cx="4023360" cy="1234440"/>
          </a:xfrm>
          <a:prstGeom prst="roundRect">
            <a:avLst>
              <a:gd name="adj" fmla="val 5926"/>
            </a:avLst>
          </a:prstGeom>
          <a:solidFill>
            <a:schemeClr val="bg2"/>
          </a:solidFill>
          <a:ln/>
        </p:spPr>
      </p:sp>
      <p:sp>
        <p:nvSpPr>
          <p:cNvPr id="20" name="cerchio FiRefreshCw"/>
          <p:cNvSpPr/>
          <p:nvPr/>
        </p:nvSpPr>
        <p:spPr>
          <a:xfrm>
            <a:off x="4828032" y="2679192"/>
            <a:ext cx="438912" cy="438912"/>
          </a:xfrm>
          <a:prstGeom prst="ellipse">
            <a:avLst/>
          </a:prstGeom>
          <a:solidFill>
            <a:schemeClr val="accent1"/>
          </a:solidFill>
          <a:ln/>
        </p:spPr>
      </p:sp>
      <p:pic>
        <p:nvPicPr>
          <p:cNvPr id="21" name="Image 3" descr="FiRefreshCw">    </p:cNvPr>
          <p:cNvPicPr>
            <a:picLocks noChangeAspect="1"/>
          </p:cNvPicPr>
          <p:nvPr/>
        </p:nvPicPr>
        <p:blipFill>
          <a:blip r:embed="rId4"/>
          <a:stretch>
            <a:fillRect/>
          </a:stretch>
        </p:blipFill>
        <p:spPr>
          <a:xfrm>
            <a:off x="4937760" y="2788920"/>
            <a:ext cx="219456" cy="219456"/>
          </a:xfrm>
          <a:prstGeom prst="rect">
            <a:avLst/>
          </a:prstGeom>
        </p:spPr>
      </p:pic>
      <p:sp>
        <p:nvSpPr>
          <p:cNvPr id="22" name="Text 15"/>
          <p:cNvSpPr txBox="1"/>
          <p:nvPr/>
        </p:nvSpPr>
        <p:spPr>
          <a:xfrm>
            <a:off x="5376672" y="264261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Ripartire con un riepilogo</a:t>
            </a:r>
            <a:endParaRPr lang="en-US" sz="1400" dirty="0"/>
          </a:p>
        </p:txBody>
      </p:sp>
      <p:sp>
        <p:nvSpPr>
          <p:cNvPr id="23" name="Text 16"/>
          <p:cNvSpPr txBox="1"/>
          <p:nvPr/>
        </p:nvSpPr>
        <p:spPr>
          <a:xfrm>
            <a:off x="4828032" y="3227832"/>
            <a:ext cx="3694176" cy="429768"/>
          </a:xfrm>
          <a:prstGeom prst="rect">
            <a:avLst/>
          </a:prstGeom>
          <a:noFill/>
          <a:ln/>
        </p:spPr>
        <p:txBody>
          <a:bodyPr wrap="square" lIns="0" tIns="0" rIns="0" bIns="0" rtlCol="0" anchor="t"/>
          <a:lstStyle/>
          <a:p>
            <a:pPr indent="0" marL="0">
              <a:buNone/>
            </a:pPr>
            <a:r>
              <a:rPr lang="en-US" sz="1200" dirty="0">
                <a:solidFill>
                  <a:schemeClr val="tx2"/>
                </a:solidFill>
              </a:rPr>
              <a:t>quando la conversazione è troppo lunga</a:t>
            </a:r>
            <a:endParaRPr lang="en-US" sz="1200" dirty="0"/>
          </a:p>
        </p:txBody>
      </p:sp>
      <p:sp>
        <p:nvSpPr>
          <p:cNvPr id="24" name="Text 17"/>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300" i="1" dirty="0">
                <a:solidFill>
                  <a:schemeClr val="tx1"/>
                </a:solidFill>
              </a:rPr>
              <a:t>Le soglie dipendono dallo strumento; i principi restano validi.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6.4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Tecniche fondamentali di prompting</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Strumenti diversi per compiti diversi: si parte dalla richiesta più semplice e si aggiunge ciò che serve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tecniche e quando usarle</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023360"/>
                <a:gridCol w="4206240"/>
              </a:tblGrid>
              <a:tr h="411480">
                <a:tc>
                  <a:txBody>
                    <a:bodyPr/>
                    <a:lstStyle/>
                    <a:p>
                      <a:pPr indent="0" marL="0">
                        <a:buNone/>
                      </a:pPr>
                      <a:r>
                        <a:rPr lang="en-US" sz="1300" b="1" dirty="0">
                          <a:solidFill>
                            <a:schemeClr val="bg1"/>
                          </a:solidFill>
                        </a:rPr>
                        <a:t>Situazione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Tecnica indicata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11480">
                <a:tc>
                  <a:txBody>
                    <a:bodyPr/>
                    <a:lstStyle/>
                    <a:p>
                      <a:pPr indent="0" marL="0">
                        <a:buNone/>
                      </a:pPr>
                      <a:r>
                        <a:rPr lang="en-US" sz="1300" b="1" dirty="0">
                          <a:solidFill>
                            <a:schemeClr val="tx1"/>
                          </a:solidFill>
                        </a:rPr>
                        <a:t>Compito semplice e ben definito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Zero-shot: richiesta chiara, senza esempi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Stile o formato difficile da descrivere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Few-shot: alcuni esempi del risultato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Molti elementi o richiesta da riutilizzare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Istruzioni strutturate e delimitazione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Compito complesso con più fasi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Scomposizione in passaggi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Compito creativo o decisione con opzioni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Alternative e confronto con criteri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Informazioni forse incomplete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Chiarimenti prima dell'esecuzione (6.3)</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messaggio"/>
          <p:cNvSpPr/>
          <p:nvPr/>
        </p:nvSpPr>
        <p:spPr>
          <a:xfrm>
            <a:off x="457200" y="4114800"/>
            <a:ext cx="8229600" cy="429768"/>
          </a:xfrm>
          <a:prstGeom prst="roundRect">
            <a:avLst>
              <a:gd name="adj" fmla="val 17021"/>
            </a:avLst>
          </a:prstGeom>
          <a:solidFill>
            <a:schemeClr val="tx1"/>
          </a:solidFill>
          <a:ln/>
        </p:spPr>
      </p:sp>
      <p:sp>
        <p:nvSpPr>
          <p:cNvPr id="6" name="Text 2"/>
          <p:cNvSpPr txBox="1"/>
          <p:nvPr/>
        </p:nvSpPr>
        <p:spPr>
          <a:xfrm>
            <a:off x="640080" y="4114800"/>
            <a:ext cx="7863840" cy="429768"/>
          </a:xfrm>
          <a:prstGeom prst="rect">
            <a:avLst/>
          </a:prstGeom>
          <a:noFill/>
          <a:ln/>
        </p:spPr>
        <p:txBody>
          <a:bodyPr wrap="square" lIns="0" tIns="0" rIns="0" bIns="0" rtlCol="0" anchor="ctr"/>
          <a:lstStyle/>
          <a:p>
            <a:pPr indent="0" marL="0">
              <a:buNone/>
            </a:pPr>
            <a:r>
              <a:rPr lang="en-US" sz="1300" dirty="0">
                <a:solidFill>
                  <a:schemeClr val="bg1"/>
                </a:solidFill>
              </a:rPr>
              <a:t>Iniziare con la richiesta più semplice che può funzionare; aggiungere tecniche quando servono.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Zero-shot e few-shot</a:t>
            </a:r>
            <a:endParaRPr lang="en-US" sz="2600" dirty="0"/>
          </a:p>
        </p:txBody>
      </p:sp>
      <p:sp>
        <p:nvSpPr>
          <p:cNvPr id="4" name="prompt"/>
          <p:cNvSpPr/>
          <p:nvPr/>
        </p:nvSpPr>
        <p:spPr>
          <a:xfrm>
            <a:off x="457200" y="1097280"/>
            <a:ext cx="3291840" cy="1463040"/>
          </a:xfrm>
          <a:prstGeom prst="roundRect">
            <a:avLst>
              <a:gd name="adj" fmla="val 5000"/>
            </a:avLst>
          </a:prstGeom>
          <a:solidFill>
            <a:schemeClr val="bg2"/>
          </a:solidFill>
          <a:ln/>
        </p:spPr>
      </p:sp>
      <p:sp>
        <p:nvSpPr>
          <p:cNvPr id="5" name="Text 2"/>
          <p:cNvSpPr txBox="1"/>
          <p:nvPr/>
        </p:nvSpPr>
        <p:spPr>
          <a:xfrm>
            <a:off x="621792" y="1188720"/>
            <a:ext cx="2962656" cy="256032"/>
          </a:xfrm>
          <a:prstGeom prst="rect">
            <a:avLst/>
          </a:prstGeom>
          <a:noFill/>
          <a:ln/>
        </p:spPr>
        <p:txBody>
          <a:bodyPr wrap="square" lIns="0" tIns="0" rIns="0" bIns="0" rtlCol="0" anchor="t"/>
          <a:lstStyle/>
          <a:p>
            <a:pPr indent="0" marL="0">
              <a:buNone/>
            </a:pPr>
            <a:r>
              <a:rPr lang="en-US" sz="1100" b="1" dirty="0">
                <a:solidFill>
                  <a:schemeClr val="accent1"/>
                </a:solidFill>
              </a:rPr>
              <a:t>Zero-shot: senza esempi</a:t>
            </a:r>
            <a:endParaRPr lang="en-US" sz="1100" dirty="0"/>
          </a:p>
        </p:txBody>
      </p:sp>
      <p:sp>
        <p:nvSpPr>
          <p:cNvPr id="6" name="Text 3"/>
          <p:cNvSpPr txBox="1"/>
          <p:nvPr/>
        </p:nvSpPr>
        <p:spPr>
          <a:xfrm>
            <a:off x="621792" y="1463040"/>
            <a:ext cx="2962656" cy="10058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Classifica questa richiesta del cliente come: Informazione, Reclamo o Ordine.</a:t>
            </a:r>
            <a:endParaRPr lang="en-US" sz="1200" dirty="0"/>
          </a:p>
        </p:txBody>
      </p:sp>
      <p:sp>
        <p:nvSpPr>
          <p:cNvPr id="7" name="prompt"/>
          <p:cNvSpPr/>
          <p:nvPr/>
        </p:nvSpPr>
        <p:spPr>
          <a:xfrm>
            <a:off x="3931920" y="1097280"/>
            <a:ext cx="4754880" cy="2514600"/>
          </a:xfrm>
          <a:prstGeom prst="roundRect">
            <a:avLst>
              <a:gd name="adj" fmla="val 2909"/>
            </a:avLst>
          </a:prstGeom>
          <a:solidFill>
            <a:schemeClr val="accent6"/>
          </a:solidFill>
          <a:ln/>
        </p:spPr>
      </p:sp>
      <p:sp>
        <p:nvSpPr>
          <p:cNvPr id="8" name="Text 5"/>
          <p:cNvSpPr txBox="1"/>
          <p:nvPr/>
        </p:nvSpPr>
        <p:spPr>
          <a:xfrm>
            <a:off x="4096512" y="1188720"/>
            <a:ext cx="4425696" cy="256032"/>
          </a:xfrm>
          <a:prstGeom prst="rect">
            <a:avLst/>
          </a:prstGeom>
          <a:noFill/>
          <a:ln/>
        </p:spPr>
        <p:txBody>
          <a:bodyPr wrap="square" lIns="0" tIns="0" rIns="0" bIns="0" rtlCol="0" anchor="t"/>
          <a:lstStyle/>
          <a:p>
            <a:pPr indent="0" marL="0">
              <a:buNone/>
            </a:pPr>
            <a:r>
              <a:rPr lang="en-US" sz="1100" b="1" dirty="0">
                <a:solidFill>
                  <a:schemeClr val="accent1"/>
                </a:solidFill>
              </a:rPr>
              <a:t>Few-shot: con esempi</a:t>
            </a:r>
            <a:endParaRPr lang="en-US" sz="1100" dirty="0"/>
          </a:p>
        </p:txBody>
      </p:sp>
      <p:sp>
        <p:nvSpPr>
          <p:cNvPr id="9" name="Text 6"/>
          <p:cNvSpPr txBox="1"/>
          <p:nvPr/>
        </p:nvSpPr>
        <p:spPr>
          <a:xfrm>
            <a:off x="4096512" y="1463040"/>
            <a:ext cx="4425696" cy="20574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Classifica le richieste come negli esempi.</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Richiesta: "Quando arriva il mio pacco?"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Categoria: Informazione</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Richiesta: "Il prodotto è arrivato rotto."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Categoria: Reclamo</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Richiesta: "[nuova richiesta]"</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Categoria:</a:t>
            </a:r>
            <a:endParaRPr lang="en-US" sz="1200" dirty="0"/>
          </a:p>
        </p:txBody>
      </p:sp>
      <p:sp>
        <p:nvSpPr>
          <p:cNvPr id="10" name="Text 7"/>
          <p:cNvSpPr txBox="1"/>
          <p:nvPr/>
        </p:nvSpPr>
        <p:spPr>
          <a:xfrm>
            <a:off x="457200" y="2743200"/>
            <a:ext cx="3291840" cy="822960"/>
          </a:xfrm>
          <a:prstGeom prst="rect">
            <a:avLst/>
          </a:prstGeom>
          <a:noFill/>
          <a:ln/>
        </p:spPr>
        <p:txBody>
          <a:bodyPr wrap="square" lIns="0" tIns="0" rIns="0" bIns="0" rtlCol="0" anchor="t"/>
          <a:lstStyle/>
          <a:p>
            <a:pPr indent="0" marL="0">
              <a:buNone/>
            </a:pPr>
            <a:r>
              <a:rPr lang="en-US" sz="1300" i="1" dirty="0">
                <a:solidFill>
                  <a:schemeClr val="tx2"/>
                </a:solidFill>
              </a:rPr>
              <a:t>Gli esempi comunicano ciò che è difficile descrivere: stile, formato, criteri.</a:t>
            </a:r>
            <a:endParaRPr lang="en-US" sz="1300" dirty="0"/>
          </a:p>
        </p:txBody>
      </p:sp>
      <p:sp>
        <p:nvSpPr>
          <p:cNvPr id="11" name="messaggio"/>
          <p:cNvSpPr/>
          <p:nvPr/>
        </p:nvSpPr>
        <p:spPr>
          <a:xfrm>
            <a:off x="457200" y="3794760"/>
            <a:ext cx="8229600" cy="685800"/>
          </a:xfrm>
          <a:prstGeom prst="roundRect">
            <a:avLst>
              <a:gd name="adj" fmla="val 10667"/>
            </a:avLst>
          </a:prstGeom>
          <a:solidFill>
            <a:schemeClr val="tx1"/>
          </a:solidFill>
          <a:ln/>
        </p:spPr>
      </p:sp>
      <p:sp>
        <p:nvSpPr>
          <p:cNvPr id="12" name="Text 9"/>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300" dirty="0">
                <a:solidFill>
                  <a:schemeClr val="bg1"/>
                </a:solidFill>
              </a:rPr>
              <a:t>Esempi rappresentativi e vari: il sistema coglie il criterio senza copiare i dettagli.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Istruzioni strutturate e delimitazione</a:t>
            </a:r>
            <a:endParaRPr lang="en-US" sz="2600" dirty="0"/>
          </a:p>
        </p:txBody>
      </p:sp>
      <p:sp>
        <p:nvSpPr>
          <p:cNvPr id="4" name="prompt"/>
          <p:cNvSpPr/>
          <p:nvPr/>
        </p:nvSpPr>
        <p:spPr>
          <a:xfrm>
            <a:off x="457200" y="1097280"/>
            <a:ext cx="5120640" cy="3429000"/>
          </a:xfrm>
          <a:prstGeom prst="roundRect">
            <a:avLst>
              <a:gd name="adj" fmla="val 2133"/>
            </a:avLst>
          </a:prstGeom>
          <a:solidFill>
            <a:schemeClr val="accent6"/>
          </a:solidFill>
          <a:ln/>
        </p:spPr>
      </p:sp>
      <p:sp>
        <p:nvSpPr>
          <p:cNvPr id="5" name="Text 2"/>
          <p:cNvSpPr txBox="1"/>
          <p:nvPr/>
        </p:nvSpPr>
        <p:spPr>
          <a:xfrm>
            <a:off x="621792" y="1188720"/>
            <a:ext cx="4791456" cy="256032"/>
          </a:xfrm>
          <a:prstGeom prst="rect">
            <a:avLst/>
          </a:prstGeom>
          <a:noFill/>
          <a:ln/>
        </p:spPr>
        <p:txBody>
          <a:bodyPr wrap="square" lIns="0" tIns="0" rIns="0" bIns="0" rtlCol="0" anchor="t"/>
          <a:lstStyle/>
          <a:p>
            <a:pPr indent="0" marL="0">
              <a:buNone/>
            </a:pPr>
            <a:r>
              <a:rPr lang="en-US" sz="1100" b="1" dirty="0">
                <a:solidFill>
                  <a:schemeClr val="accent1"/>
                </a:solidFill>
              </a:rPr>
              <a:t>Richiesta strutturata con testo delimitato</a:t>
            </a:r>
            <a:endParaRPr lang="en-US" sz="1100" dirty="0"/>
          </a:p>
        </p:txBody>
      </p:sp>
      <p:sp>
        <p:nvSpPr>
          <p:cNvPr id="6" name="Text 3"/>
          <p:cNvSpPr txBox="1"/>
          <p:nvPr/>
        </p:nvSpPr>
        <p:spPr>
          <a:xfrm>
            <a:off x="621792" y="1463040"/>
            <a:ext cx="4791456" cy="29718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OBIETTIVO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Preparare la risposta a un cliente.</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CONTESTO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Cliente storico; primo reclamo.</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COMPITO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Scrivi una risposta al messaggio tra le linee.</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VINCOLI</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Tono cortese; massimo 10 righe; nessun impegno su rimborsi.</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[messaggio del cliente]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7" name="scheda Struttura"/>
          <p:cNvSpPr/>
          <p:nvPr/>
        </p:nvSpPr>
        <p:spPr>
          <a:xfrm>
            <a:off x="5806440" y="1097280"/>
            <a:ext cx="2880360" cy="1600200"/>
          </a:xfrm>
          <a:prstGeom prst="roundRect">
            <a:avLst>
              <a:gd name="adj" fmla="val 4571"/>
            </a:avLst>
          </a:prstGeom>
          <a:solidFill>
            <a:schemeClr val="bg2"/>
          </a:solidFill>
          <a:ln/>
        </p:spPr>
      </p:sp>
      <p:sp>
        <p:nvSpPr>
          <p:cNvPr id="8" name="cerchio FiList"/>
          <p:cNvSpPr/>
          <p:nvPr/>
        </p:nvSpPr>
        <p:spPr>
          <a:xfrm>
            <a:off x="5989320" y="1280160"/>
            <a:ext cx="457200" cy="457200"/>
          </a:xfrm>
          <a:prstGeom prst="ellipse">
            <a:avLst/>
          </a:prstGeom>
          <a:solidFill>
            <a:schemeClr val="accent1"/>
          </a:solidFill>
          <a:ln/>
        </p:spPr>
      </p:sp>
      <p:pic>
        <p:nvPicPr>
          <p:cNvPr id="9" name="Image 0" descr="FiList">    </p:cNvPr>
          <p:cNvPicPr>
            <a:picLocks noChangeAspect="1"/>
          </p:cNvPicPr>
          <p:nvPr/>
        </p:nvPicPr>
        <p:blipFill>
          <a:blip r:embed="rId1"/>
          <a:stretch>
            <a:fillRect/>
          </a:stretch>
        </p:blipFill>
        <p:spPr>
          <a:xfrm>
            <a:off x="6103620" y="1394460"/>
            <a:ext cx="228600" cy="228600"/>
          </a:xfrm>
          <a:prstGeom prst="rect">
            <a:avLst/>
          </a:prstGeom>
        </p:spPr>
      </p:pic>
      <p:sp>
        <p:nvSpPr>
          <p:cNvPr id="10" name="Text 6"/>
          <p:cNvSpPr txBox="1"/>
          <p:nvPr/>
        </p:nvSpPr>
        <p:spPr>
          <a:xfrm>
            <a:off x="6583680" y="1280160"/>
            <a:ext cx="1920240" cy="457200"/>
          </a:xfrm>
          <a:prstGeom prst="rect">
            <a:avLst/>
          </a:prstGeom>
          <a:noFill/>
          <a:ln/>
        </p:spPr>
        <p:txBody>
          <a:bodyPr wrap="square" lIns="0" tIns="0" rIns="0" bIns="0" rtlCol="0" anchor="ctr"/>
          <a:lstStyle/>
          <a:p>
            <a:pPr indent="0" marL="0">
              <a:buNone/>
            </a:pPr>
            <a:r>
              <a:rPr lang="en-US" sz="1500" b="1" dirty="0">
                <a:solidFill>
                  <a:schemeClr val="tx1"/>
                </a:solidFill>
              </a:rPr>
              <a:t>Struttura</a:t>
            </a:r>
            <a:endParaRPr lang="en-US" sz="1500" dirty="0"/>
          </a:p>
        </p:txBody>
      </p:sp>
      <p:sp>
        <p:nvSpPr>
          <p:cNvPr id="11" name="Text 7"/>
          <p:cNvSpPr txBox="1"/>
          <p:nvPr/>
        </p:nvSpPr>
        <p:spPr>
          <a:xfrm>
            <a:off x="5989320" y="1874520"/>
            <a:ext cx="2514600" cy="713232"/>
          </a:xfrm>
          <a:prstGeom prst="rect">
            <a:avLst/>
          </a:prstGeom>
          <a:noFill/>
          <a:ln/>
        </p:spPr>
        <p:txBody>
          <a:bodyPr wrap="square" lIns="0" tIns="0" rIns="0" bIns="0" rtlCol="0" anchor="t"/>
          <a:lstStyle/>
          <a:p>
            <a:pPr indent="0" marL="0">
              <a:buNone/>
            </a:pPr>
            <a:r>
              <a:rPr lang="en-US" sz="1200" dirty="0">
                <a:solidFill>
                  <a:schemeClr val="tx2"/>
                </a:solidFill>
              </a:rPr>
              <a:t>Sezioni con titolo: chiaro per il sistema e per chi rilegge.</a:t>
            </a:r>
            <a:endParaRPr lang="en-US" sz="1200" dirty="0"/>
          </a:p>
        </p:txBody>
      </p:sp>
      <p:sp>
        <p:nvSpPr>
          <p:cNvPr id="12" name="scheda Delimitazione"/>
          <p:cNvSpPr/>
          <p:nvPr/>
        </p:nvSpPr>
        <p:spPr>
          <a:xfrm>
            <a:off x="5806440" y="2834640"/>
            <a:ext cx="2880360" cy="1691640"/>
          </a:xfrm>
          <a:prstGeom prst="roundRect">
            <a:avLst>
              <a:gd name="adj" fmla="val 4324"/>
            </a:avLst>
          </a:prstGeom>
          <a:solidFill>
            <a:schemeClr val="bg2"/>
          </a:solidFill>
          <a:ln/>
        </p:spPr>
      </p:sp>
      <p:sp>
        <p:nvSpPr>
          <p:cNvPr id="13" name="cerchio FiColumns"/>
          <p:cNvSpPr/>
          <p:nvPr/>
        </p:nvSpPr>
        <p:spPr>
          <a:xfrm>
            <a:off x="5989320" y="3017520"/>
            <a:ext cx="457200" cy="457200"/>
          </a:xfrm>
          <a:prstGeom prst="ellipse">
            <a:avLst/>
          </a:prstGeom>
          <a:solidFill>
            <a:schemeClr val="accent1"/>
          </a:solidFill>
          <a:ln/>
        </p:spPr>
      </p:sp>
      <p:pic>
        <p:nvPicPr>
          <p:cNvPr id="14" name="Image 1" descr="FiColumns">    </p:cNvPr>
          <p:cNvPicPr>
            <a:picLocks noChangeAspect="1"/>
          </p:cNvPicPr>
          <p:nvPr/>
        </p:nvPicPr>
        <p:blipFill>
          <a:blip r:embed="rId2"/>
          <a:stretch>
            <a:fillRect/>
          </a:stretch>
        </p:blipFill>
        <p:spPr>
          <a:xfrm>
            <a:off x="6103620" y="3131820"/>
            <a:ext cx="228600" cy="228600"/>
          </a:xfrm>
          <a:prstGeom prst="rect">
            <a:avLst/>
          </a:prstGeom>
        </p:spPr>
      </p:pic>
      <p:sp>
        <p:nvSpPr>
          <p:cNvPr id="15" name="Text 10"/>
          <p:cNvSpPr txBox="1"/>
          <p:nvPr/>
        </p:nvSpPr>
        <p:spPr>
          <a:xfrm>
            <a:off x="6583680" y="3017520"/>
            <a:ext cx="1920240" cy="457200"/>
          </a:xfrm>
          <a:prstGeom prst="rect">
            <a:avLst/>
          </a:prstGeom>
          <a:noFill/>
          <a:ln/>
        </p:spPr>
        <p:txBody>
          <a:bodyPr wrap="square" lIns="0" tIns="0" rIns="0" bIns="0" rtlCol="0" anchor="ctr"/>
          <a:lstStyle/>
          <a:p>
            <a:pPr indent="0" marL="0">
              <a:buNone/>
            </a:pPr>
            <a:r>
              <a:rPr lang="en-US" sz="1500" b="1" dirty="0">
                <a:solidFill>
                  <a:schemeClr val="tx1"/>
                </a:solidFill>
              </a:rPr>
              <a:t>Delimitazione</a:t>
            </a:r>
            <a:endParaRPr lang="en-US" sz="1500" dirty="0"/>
          </a:p>
        </p:txBody>
      </p:sp>
      <p:sp>
        <p:nvSpPr>
          <p:cNvPr id="16" name="Text 11"/>
          <p:cNvSpPr txBox="1"/>
          <p:nvPr/>
        </p:nvSpPr>
        <p:spPr>
          <a:xfrm>
            <a:off x="5989320" y="3611880"/>
            <a:ext cx="2514600" cy="804672"/>
          </a:xfrm>
          <a:prstGeom prst="rect">
            <a:avLst/>
          </a:prstGeom>
          <a:noFill/>
          <a:ln/>
        </p:spPr>
        <p:txBody>
          <a:bodyPr wrap="square" lIns="0" tIns="0" rIns="0" bIns="0" rtlCol="0" anchor="t"/>
          <a:lstStyle/>
          <a:p>
            <a:pPr indent="0" marL="0">
              <a:buNone/>
            </a:pPr>
            <a:r>
              <a:rPr lang="en-US" sz="1200" dirty="0">
                <a:solidFill>
                  <a:schemeClr val="tx2"/>
                </a:solidFill>
              </a:rPr>
              <a:t>Confini chiari tra istruzioni e contenuti. Qualunque convenzione coerente funziona.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Scomporre i compiti complessi</a:t>
            </a:r>
            <a:endParaRPr lang="en-US" sz="2600" dirty="0"/>
          </a:p>
        </p:txBody>
      </p:sp>
      <p:sp>
        <p:nvSpPr>
          <p:cNvPr id="4" name="Descrivere il processo attuale"/>
          <p:cNvSpPr/>
          <p:nvPr/>
        </p:nvSpPr>
        <p:spPr>
          <a:xfrm>
            <a:off x="457200" y="1143000"/>
            <a:ext cx="1536192" cy="1600200"/>
          </a:xfrm>
          <a:prstGeom prst="roundRect">
            <a:avLst>
              <a:gd name="adj" fmla="val 4762"/>
            </a:avLst>
          </a:prstGeom>
          <a:solidFill>
            <a:schemeClr val="bg2"/>
          </a:solidFill>
          <a:ln/>
        </p:spPr>
      </p:sp>
      <p:sp>
        <p:nvSpPr>
          <p:cNvPr id="5" name="Text 2"/>
          <p:cNvSpPr txBox="1"/>
          <p:nvPr/>
        </p:nvSpPr>
        <p:spPr>
          <a:xfrm>
            <a:off x="566928" y="1207008"/>
            <a:ext cx="457200" cy="41148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66928" y="1645920"/>
            <a:ext cx="1325880" cy="1005840"/>
          </a:xfrm>
          <a:prstGeom prst="rect">
            <a:avLst/>
          </a:prstGeom>
          <a:noFill/>
          <a:ln/>
        </p:spPr>
        <p:txBody>
          <a:bodyPr wrap="square" lIns="0" tIns="0" rIns="0" bIns="0" rtlCol="0" anchor="t"/>
          <a:lstStyle/>
          <a:p>
            <a:pPr indent="0" marL="0">
              <a:buNone/>
            </a:pPr>
            <a:r>
              <a:rPr lang="en-US" sz="1200" b="1" dirty="0">
                <a:solidFill>
                  <a:schemeClr val="tx1"/>
                </a:solidFill>
              </a:rPr>
              <a:t>Descrivere il processo attuale</a:t>
            </a:r>
            <a:endParaRPr lang="en-US" sz="1200" dirty="0"/>
          </a:p>
        </p:txBody>
      </p:sp>
      <p:sp>
        <p:nvSpPr>
          <p:cNvPr id="7" name="freccia"/>
          <p:cNvSpPr/>
          <p:nvPr/>
        </p:nvSpPr>
        <p:spPr>
          <a:xfrm>
            <a:off x="2002536" y="1810512"/>
            <a:ext cx="137160" cy="292608"/>
          </a:xfrm>
          <a:prstGeom prst="rightArrow">
            <a:avLst/>
          </a:prstGeom>
          <a:solidFill>
            <a:schemeClr val="accent2"/>
          </a:solidFill>
          <a:ln/>
        </p:spPr>
      </p:sp>
      <p:sp>
        <p:nvSpPr>
          <p:cNvPr id="8" name="Individuare i problemi principali"/>
          <p:cNvSpPr/>
          <p:nvPr/>
        </p:nvSpPr>
        <p:spPr>
          <a:xfrm>
            <a:off x="2139696" y="1143000"/>
            <a:ext cx="1536192" cy="1600200"/>
          </a:xfrm>
          <a:prstGeom prst="roundRect">
            <a:avLst>
              <a:gd name="adj" fmla="val 4762"/>
            </a:avLst>
          </a:prstGeom>
          <a:solidFill>
            <a:schemeClr val="bg2"/>
          </a:solidFill>
          <a:ln/>
        </p:spPr>
      </p:sp>
      <p:sp>
        <p:nvSpPr>
          <p:cNvPr id="9" name="Text 6"/>
          <p:cNvSpPr txBox="1"/>
          <p:nvPr/>
        </p:nvSpPr>
        <p:spPr>
          <a:xfrm>
            <a:off x="2249424" y="1207008"/>
            <a:ext cx="457200" cy="41148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10" name="Text 7"/>
          <p:cNvSpPr txBox="1"/>
          <p:nvPr/>
        </p:nvSpPr>
        <p:spPr>
          <a:xfrm>
            <a:off x="2249424" y="1645920"/>
            <a:ext cx="1325880" cy="1005840"/>
          </a:xfrm>
          <a:prstGeom prst="rect">
            <a:avLst/>
          </a:prstGeom>
          <a:noFill/>
          <a:ln/>
        </p:spPr>
        <p:txBody>
          <a:bodyPr wrap="square" lIns="0" tIns="0" rIns="0" bIns="0" rtlCol="0" anchor="t"/>
          <a:lstStyle/>
          <a:p>
            <a:pPr indent="0" marL="0">
              <a:buNone/>
            </a:pPr>
            <a:r>
              <a:rPr lang="en-US" sz="1200" b="1" dirty="0">
                <a:solidFill>
                  <a:schemeClr val="tx1"/>
                </a:solidFill>
              </a:rPr>
              <a:t>Individuare i problemi principali</a:t>
            </a:r>
            <a:endParaRPr lang="en-US" sz="1200" dirty="0"/>
          </a:p>
        </p:txBody>
      </p:sp>
      <p:sp>
        <p:nvSpPr>
          <p:cNvPr id="11" name="freccia"/>
          <p:cNvSpPr/>
          <p:nvPr/>
        </p:nvSpPr>
        <p:spPr>
          <a:xfrm>
            <a:off x="3685032" y="1810512"/>
            <a:ext cx="137160" cy="292608"/>
          </a:xfrm>
          <a:prstGeom prst="rightArrow">
            <a:avLst/>
          </a:prstGeom>
          <a:solidFill>
            <a:schemeClr val="accent2"/>
          </a:solidFill>
          <a:ln/>
        </p:spPr>
      </p:sp>
      <p:sp>
        <p:nvSpPr>
          <p:cNvPr id="12" name="Proporre interventi per ciascuno"/>
          <p:cNvSpPr/>
          <p:nvPr/>
        </p:nvSpPr>
        <p:spPr>
          <a:xfrm>
            <a:off x="3822192" y="1143000"/>
            <a:ext cx="1536192" cy="1600200"/>
          </a:xfrm>
          <a:prstGeom prst="roundRect">
            <a:avLst>
              <a:gd name="adj" fmla="val 4762"/>
            </a:avLst>
          </a:prstGeom>
          <a:solidFill>
            <a:schemeClr val="bg2"/>
          </a:solidFill>
          <a:ln/>
        </p:spPr>
      </p:sp>
      <p:sp>
        <p:nvSpPr>
          <p:cNvPr id="13" name="Text 10"/>
          <p:cNvSpPr txBox="1"/>
          <p:nvPr/>
        </p:nvSpPr>
        <p:spPr>
          <a:xfrm>
            <a:off x="3931920" y="1207008"/>
            <a:ext cx="457200" cy="41148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4" name="Text 11"/>
          <p:cNvSpPr txBox="1"/>
          <p:nvPr/>
        </p:nvSpPr>
        <p:spPr>
          <a:xfrm>
            <a:off x="3931920" y="1645920"/>
            <a:ext cx="1325880" cy="1005840"/>
          </a:xfrm>
          <a:prstGeom prst="rect">
            <a:avLst/>
          </a:prstGeom>
          <a:noFill/>
          <a:ln/>
        </p:spPr>
        <p:txBody>
          <a:bodyPr wrap="square" lIns="0" tIns="0" rIns="0" bIns="0" rtlCol="0" anchor="t"/>
          <a:lstStyle/>
          <a:p>
            <a:pPr indent="0" marL="0">
              <a:buNone/>
            </a:pPr>
            <a:r>
              <a:rPr lang="en-US" sz="1200" b="1" dirty="0">
                <a:solidFill>
                  <a:schemeClr val="tx1"/>
                </a:solidFill>
              </a:rPr>
              <a:t>Proporre interventi per ciascuno</a:t>
            </a:r>
            <a:endParaRPr lang="en-US" sz="1200" dirty="0"/>
          </a:p>
        </p:txBody>
      </p:sp>
      <p:sp>
        <p:nvSpPr>
          <p:cNvPr id="15" name="freccia"/>
          <p:cNvSpPr/>
          <p:nvPr/>
        </p:nvSpPr>
        <p:spPr>
          <a:xfrm>
            <a:off x="5367528" y="1810512"/>
            <a:ext cx="137160" cy="292608"/>
          </a:xfrm>
          <a:prstGeom prst="rightArrow">
            <a:avLst/>
          </a:prstGeom>
          <a:solidFill>
            <a:schemeClr val="accent2"/>
          </a:solidFill>
          <a:ln/>
        </p:spPr>
      </p:sp>
      <p:sp>
        <p:nvSpPr>
          <p:cNvPr id="16" name="Valutarli per costo, impatto, tempi"/>
          <p:cNvSpPr/>
          <p:nvPr/>
        </p:nvSpPr>
        <p:spPr>
          <a:xfrm>
            <a:off x="5504688" y="1143000"/>
            <a:ext cx="1536192" cy="1600200"/>
          </a:xfrm>
          <a:prstGeom prst="roundRect">
            <a:avLst>
              <a:gd name="adj" fmla="val 4762"/>
            </a:avLst>
          </a:prstGeom>
          <a:solidFill>
            <a:schemeClr val="bg2"/>
          </a:solidFill>
          <a:ln/>
        </p:spPr>
      </p:sp>
      <p:sp>
        <p:nvSpPr>
          <p:cNvPr id="17" name="Text 14"/>
          <p:cNvSpPr txBox="1"/>
          <p:nvPr/>
        </p:nvSpPr>
        <p:spPr>
          <a:xfrm>
            <a:off x="5614416" y="1207008"/>
            <a:ext cx="457200" cy="411480"/>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8" name="Text 15"/>
          <p:cNvSpPr txBox="1"/>
          <p:nvPr/>
        </p:nvSpPr>
        <p:spPr>
          <a:xfrm>
            <a:off x="5614416" y="1645920"/>
            <a:ext cx="1325880" cy="1005840"/>
          </a:xfrm>
          <a:prstGeom prst="rect">
            <a:avLst/>
          </a:prstGeom>
          <a:noFill/>
          <a:ln/>
        </p:spPr>
        <p:txBody>
          <a:bodyPr wrap="square" lIns="0" tIns="0" rIns="0" bIns="0" rtlCol="0" anchor="t"/>
          <a:lstStyle/>
          <a:p>
            <a:pPr indent="0" marL="0">
              <a:buNone/>
            </a:pPr>
            <a:r>
              <a:rPr lang="en-US" sz="1200" b="1" dirty="0">
                <a:solidFill>
                  <a:schemeClr val="tx1"/>
                </a:solidFill>
              </a:rPr>
              <a:t>Valutarli per costo, impatto, tempi</a:t>
            </a:r>
            <a:endParaRPr lang="en-US" sz="1200" dirty="0"/>
          </a:p>
        </p:txBody>
      </p:sp>
      <p:sp>
        <p:nvSpPr>
          <p:cNvPr id="19" name="freccia"/>
          <p:cNvSpPr/>
          <p:nvPr/>
        </p:nvSpPr>
        <p:spPr>
          <a:xfrm>
            <a:off x="7050024" y="1810512"/>
            <a:ext cx="137160" cy="292608"/>
          </a:xfrm>
          <a:prstGeom prst="rightArrow">
            <a:avLst/>
          </a:prstGeom>
          <a:solidFill>
            <a:schemeClr val="accent2"/>
          </a:solidFill>
          <a:ln/>
        </p:spPr>
      </p:sp>
      <p:sp>
        <p:nvSpPr>
          <p:cNvPr id="20" name="Redigere la proposta"/>
          <p:cNvSpPr/>
          <p:nvPr/>
        </p:nvSpPr>
        <p:spPr>
          <a:xfrm>
            <a:off x="7187184" y="1143000"/>
            <a:ext cx="1536192" cy="1600200"/>
          </a:xfrm>
          <a:prstGeom prst="roundRect">
            <a:avLst>
              <a:gd name="adj" fmla="val 4762"/>
            </a:avLst>
          </a:prstGeom>
          <a:solidFill>
            <a:schemeClr val="accent1"/>
          </a:solidFill>
          <a:ln/>
        </p:spPr>
      </p:sp>
      <p:sp>
        <p:nvSpPr>
          <p:cNvPr id="21" name="Text 18"/>
          <p:cNvSpPr txBox="1"/>
          <p:nvPr/>
        </p:nvSpPr>
        <p:spPr>
          <a:xfrm>
            <a:off x="7296912" y="1207008"/>
            <a:ext cx="457200" cy="411480"/>
          </a:xfrm>
          <a:prstGeom prst="rect">
            <a:avLst/>
          </a:prstGeom>
          <a:noFill/>
          <a:ln/>
        </p:spPr>
        <p:txBody>
          <a:bodyPr wrap="square" lIns="0" tIns="0" rIns="0" bIns="0" rtlCol="0" anchor="t"/>
          <a:lstStyle/>
          <a:p>
            <a:pPr indent="0" marL="0">
              <a:buNone/>
            </a:pPr>
            <a:r>
              <a:rPr lang="en-US" sz="2000" b="1" dirty="0">
                <a:solidFill>
                  <a:schemeClr val="bg1"/>
                </a:solidFill>
              </a:rPr>
              <a:t>5</a:t>
            </a:r>
            <a:endParaRPr lang="en-US" sz="2000" dirty="0"/>
          </a:p>
        </p:txBody>
      </p:sp>
      <p:sp>
        <p:nvSpPr>
          <p:cNvPr id="22" name="Text 19"/>
          <p:cNvSpPr txBox="1"/>
          <p:nvPr/>
        </p:nvSpPr>
        <p:spPr>
          <a:xfrm>
            <a:off x="7296912" y="1645920"/>
            <a:ext cx="1325880" cy="1005840"/>
          </a:xfrm>
          <a:prstGeom prst="rect">
            <a:avLst/>
          </a:prstGeom>
          <a:noFill/>
          <a:ln/>
        </p:spPr>
        <p:txBody>
          <a:bodyPr wrap="square" lIns="0" tIns="0" rIns="0" bIns="0" rtlCol="0" anchor="t"/>
          <a:lstStyle/>
          <a:p>
            <a:pPr indent="0" marL="0">
              <a:buNone/>
            </a:pPr>
            <a:r>
              <a:rPr lang="en-US" sz="1200" b="1" dirty="0">
                <a:solidFill>
                  <a:schemeClr val="bg1"/>
                </a:solidFill>
              </a:rPr>
              <a:t>Redigere la proposta</a:t>
            </a:r>
            <a:endParaRPr lang="en-US" sz="1200" dirty="0"/>
          </a:p>
        </p:txBody>
      </p:sp>
      <p:sp>
        <p:nvSpPr>
          <p:cNvPr id="23" name="Text 20"/>
          <p:cNvSpPr txBox="1"/>
          <p:nvPr/>
        </p:nvSpPr>
        <p:spPr>
          <a:xfrm>
            <a:off x="457200" y="2834640"/>
            <a:ext cx="8229600" cy="320040"/>
          </a:xfrm>
          <a:prstGeom prst="rect">
            <a:avLst/>
          </a:prstGeom>
          <a:noFill/>
          <a:ln/>
        </p:spPr>
        <p:txBody>
          <a:bodyPr wrap="square" lIns="0" tIns="0" rIns="0" bIns="0" rtlCol="0" anchor="t"/>
          <a:lstStyle/>
          <a:p>
            <a:pPr indent="0" marL="0">
              <a:buNone/>
            </a:pPr>
            <a:r>
              <a:rPr lang="en-US" sz="1200" i="1" dirty="0">
                <a:solidFill>
                  <a:schemeClr val="tx2"/>
                </a:solidFill>
              </a:rPr>
              <a:t>Invece di: "Scrivi una proposta per migliorare il processo di gestione degli ordini"</a:t>
            </a:r>
            <a:endParaRPr lang="en-US" sz="1200" dirty="0"/>
          </a:p>
        </p:txBody>
      </p:sp>
      <p:sp>
        <p:nvSpPr>
          <p:cNvPr id="24" name="scheda Risultati intermedi controllabili"/>
          <p:cNvSpPr/>
          <p:nvPr/>
        </p:nvSpPr>
        <p:spPr>
          <a:xfrm>
            <a:off x="457200" y="3291840"/>
            <a:ext cx="2615184" cy="1234440"/>
          </a:xfrm>
          <a:prstGeom prst="roundRect">
            <a:avLst>
              <a:gd name="adj" fmla="val 5926"/>
            </a:avLst>
          </a:prstGeom>
          <a:solidFill>
            <a:schemeClr val="bg2"/>
          </a:solidFill>
          <a:ln/>
        </p:spPr>
      </p:sp>
      <p:sp>
        <p:nvSpPr>
          <p:cNvPr id="25" name="cerchio FiEye"/>
          <p:cNvSpPr/>
          <p:nvPr/>
        </p:nvSpPr>
        <p:spPr>
          <a:xfrm>
            <a:off x="640080" y="3474720"/>
            <a:ext cx="457200" cy="457200"/>
          </a:xfrm>
          <a:prstGeom prst="ellipse">
            <a:avLst/>
          </a:prstGeom>
          <a:solidFill>
            <a:schemeClr val="accent1"/>
          </a:solidFill>
          <a:ln/>
        </p:spPr>
      </p:sp>
      <p:pic>
        <p:nvPicPr>
          <p:cNvPr id="26" name="Image 0" descr="FiEye">    </p:cNvPr>
          <p:cNvPicPr>
            <a:picLocks noChangeAspect="1"/>
          </p:cNvPicPr>
          <p:nvPr/>
        </p:nvPicPr>
        <p:blipFill>
          <a:blip r:embed="rId1"/>
          <a:stretch>
            <a:fillRect/>
          </a:stretch>
        </p:blipFill>
        <p:spPr>
          <a:xfrm>
            <a:off x="754380" y="3589020"/>
            <a:ext cx="228600" cy="228600"/>
          </a:xfrm>
          <a:prstGeom prst="rect">
            <a:avLst/>
          </a:prstGeom>
        </p:spPr>
      </p:pic>
      <p:sp>
        <p:nvSpPr>
          <p:cNvPr id="27" name="Text 23"/>
          <p:cNvSpPr txBox="1"/>
          <p:nvPr/>
        </p:nvSpPr>
        <p:spPr>
          <a:xfrm>
            <a:off x="1234440" y="3474720"/>
            <a:ext cx="1655064" cy="457200"/>
          </a:xfrm>
          <a:prstGeom prst="rect">
            <a:avLst/>
          </a:prstGeom>
          <a:noFill/>
          <a:ln/>
        </p:spPr>
        <p:txBody>
          <a:bodyPr wrap="square" lIns="0" tIns="0" rIns="0" bIns="0" rtlCol="0" anchor="ctr"/>
          <a:lstStyle/>
          <a:p>
            <a:pPr indent="0" marL="0">
              <a:buNone/>
            </a:pPr>
            <a:r>
              <a:rPr lang="en-US" sz="1300" b="1" dirty="0">
                <a:solidFill>
                  <a:schemeClr val="tx1"/>
                </a:solidFill>
              </a:rPr>
              <a:t>Risultati intermedi controllabili</a:t>
            </a:r>
            <a:endParaRPr lang="en-US" sz="1300" dirty="0"/>
          </a:p>
        </p:txBody>
      </p:sp>
      <p:sp>
        <p:nvSpPr>
          <p:cNvPr id="28" name="scheda Correzioni mirate prima di proseguire"/>
          <p:cNvSpPr/>
          <p:nvPr/>
        </p:nvSpPr>
        <p:spPr>
          <a:xfrm>
            <a:off x="3264408" y="3291840"/>
            <a:ext cx="2615184" cy="1234440"/>
          </a:xfrm>
          <a:prstGeom prst="roundRect">
            <a:avLst>
              <a:gd name="adj" fmla="val 5926"/>
            </a:avLst>
          </a:prstGeom>
          <a:solidFill>
            <a:schemeClr val="bg2"/>
          </a:solidFill>
          <a:ln/>
        </p:spPr>
      </p:sp>
      <p:sp>
        <p:nvSpPr>
          <p:cNvPr id="29" name="cerchio FiEdit3"/>
          <p:cNvSpPr/>
          <p:nvPr/>
        </p:nvSpPr>
        <p:spPr>
          <a:xfrm>
            <a:off x="3447288" y="3474720"/>
            <a:ext cx="457200" cy="457200"/>
          </a:xfrm>
          <a:prstGeom prst="ellipse">
            <a:avLst/>
          </a:prstGeom>
          <a:solidFill>
            <a:schemeClr val="accent1"/>
          </a:solidFill>
          <a:ln/>
        </p:spPr>
      </p:sp>
      <p:pic>
        <p:nvPicPr>
          <p:cNvPr id="30" name="Image 1" descr="FiEdit3">    </p:cNvPr>
          <p:cNvPicPr>
            <a:picLocks noChangeAspect="1"/>
          </p:cNvPicPr>
          <p:nvPr/>
        </p:nvPicPr>
        <p:blipFill>
          <a:blip r:embed="rId2"/>
          <a:stretch>
            <a:fillRect/>
          </a:stretch>
        </p:blipFill>
        <p:spPr>
          <a:xfrm>
            <a:off x="3561588" y="3589020"/>
            <a:ext cx="228600" cy="228600"/>
          </a:xfrm>
          <a:prstGeom prst="rect">
            <a:avLst/>
          </a:prstGeom>
        </p:spPr>
      </p:pic>
      <p:sp>
        <p:nvSpPr>
          <p:cNvPr id="31" name="Text 26"/>
          <p:cNvSpPr txBox="1"/>
          <p:nvPr/>
        </p:nvSpPr>
        <p:spPr>
          <a:xfrm>
            <a:off x="4041648" y="3474720"/>
            <a:ext cx="1655064" cy="457200"/>
          </a:xfrm>
          <a:prstGeom prst="rect">
            <a:avLst/>
          </a:prstGeom>
          <a:noFill/>
          <a:ln/>
        </p:spPr>
        <p:txBody>
          <a:bodyPr wrap="square" lIns="0" tIns="0" rIns="0" bIns="0" rtlCol="0" anchor="ctr"/>
          <a:lstStyle/>
          <a:p>
            <a:pPr indent="0" marL="0">
              <a:buNone/>
            </a:pPr>
            <a:r>
              <a:rPr lang="en-US" sz="1300" b="1" dirty="0">
                <a:solidFill>
                  <a:schemeClr val="tx1"/>
                </a:solidFill>
              </a:rPr>
              <a:t>Correzioni mirate prima di proseguire</a:t>
            </a:r>
            <a:endParaRPr lang="en-US" sz="1300" dirty="0"/>
          </a:p>
        </p:txBody>
      </p:sp>
      <p:sp>
        <p:nvSpPr>
          <p:cNvPr id="32" name="scheda La persona guida il percorso"/>
          <p:cNvSpPr/>
          <p:nvPr/>
        </p:nvSpPr>
        <p:spPr>
          <a:xfrm>
            <a:off x="6071616" y="3291840"/>
            <a:ext cx="2615184" cy="1234440"/>
          </a:xfrm>
          <a:prstGeom prst="roundRect">
            <a:avLst>
              <a:gd name="adj" fmla="val 5926"/>
            </a:avLst>
          </a:prstGeom>
          <a:solidFill>
            <a:schemeClr val="bg2"/>
          </a:solidFill>
          <a:ln/>
        </p:spPr>
      </p:sp>
      <p:sp>
        <p:nvSpPr>
          <p:cNvPr id="33" name="cerchio FiUserCheck"/>
          <p:cNvSpPr/>
          <p:nvPr/>
        </p:nvSpPr>
        <p:spPr>
          <a:xfrm>
            <a:off x="6254496" y="3474720"/>
            <a:ext cx="457200" cy="457200"/>
          </a:xfrm>
          <a:prstGeom prst="ellipse">
            <a:avLst/>
          </a:prstGeom>
          <a:solidFill>
            <a:schemeClr val="accent1"/>
          </a:solidFill>
          <a:ln/>
        </p:spPr>
      </p:sp>
      <p:pic>
        <p:nvPicPr>
          <p:cNvPr id="34" name="Image 2" descr="FiUserCheck">    </p:cNvPr>
          <p:cNvPicPr>
            <a:picLocks noChangeAspect="1"/>
          </p:cNvPicPr>
          <p:nvPr/>
        </p:nvPicPr>
        <p:blipFill>
          <a:blip r:embed="rId3"/>
          <a:stretch>
            <a:fillRect/>
          </a:stretch>
        </p:blipFill>
        <p:spPr>
          <a:xfrm>
            <a:off x="6368796" y="3589020"/>
            <a:ext cx="228600" cy="228600"/>
          </a:xfrm>
          <a:prstGeom prst="rect">
            <a:avLst/>
          </a:prstGeom>
        </p:spPr>
      </p:pic>
      <p:sp>
        <p:nvSpPr>
          <p:cNvPr id="35" name="Text 29"/>
          <p:cNvSpPr txBox="1"/>
          <p:nvPr/>
        </p:nvSpPr>
        <p:spPr>
          <a:xfrm>
            <a:off x="6848856" y="3474720"/>
            <a:ext cx="1655064" cy="457200"/>
          </a:xfrm>
          <a:prstGeom prst="rect">
            <a:avLst/>
          </a:prstGeom>
          <a:noFill/>
          <a:ln/>
        </p:spPr>
        <p:txBody>
          <a:bodyPr wrap="square" lIns="0" tIns="0" rIns="0" bIns="0" rtlCol="0" anchor="ctr"/>
          <a:lstStyle/>
          <a:p>
            <a:pPr indent="0" marL="0">
              <a:buNone/>
            </a:pPr>
            <a:r>
              <a:rPr lang="en-US" sz="1300" b="1" dirty="0">
                <a:solidFill>
                  <a:schemeClr val="tx1"/>
                </a:solidFill>
              </a:rPr>
              <a:t>La persona guida il percorso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Alternative e confronto con criteri</a:t>
            </a:r>
            <a:endParaRPr lang="en-US" sz="2600" dirty="0"/>
          </a:p>
        </p:txBody>
      </p:sp>
      <p:sp>
        <p:nvSpPr>
          <p:cNvPr id="4" name="prompt"/>
          <p:cNvSpPr/>
          <p:nvPr/>
        </p:nvSpPr>
        <p:spPr>
          <a:xfrm>
            <a:off x="457200" y="1097280"/>
            <a:ext cx="3977640" cy="2011680"/>
          </a:xfrm>
          <a:prstGeom prst="roundRect">
            <a:avLst>
              <a:gd name="adj" fmla="val 3636"/>
            </a:avLst>
          </a:prstGeom>
          <a:solidFill>
            <a:schemeClr val="bg2"/>
          </a:solidFill>
          <a:ln/>
        </p:spPr>
      </p:sp>
      <p:sp>
        <p:nvSpPr>
          <p:cNvPr id="5" name="Text 2"/>
          <p:cNvSpPr txBox="1"/>
          <p:nvPr/>
        </p:nvSpPr>
        <p:spPr>
          <a:xfrm>
            <a:off x="621792" y="1188720"/>
            <a:ext cx="3648456" cy="256032"/>
          </a:xfrm>
          <a:prstGeom prst="rect">
            <a:avLst/>
          </a:prstGeom>
          <a:noFill/>
          <a:ln/>
        </p:spPr>
        <p:txBody>
          <a:bodyPr wrap="square" lIns="0" tIns="0" rIns="0" bIns="0" rtlCol="0" anchor="t"/>
          <a:lstStyle/>
          <a:p>
            <a:pPr indent="0" marL="0">
              <a:buNone/>
            </a:pPr>
            <a:r>
              <a:rPr lang="en-US" sz="1100" b="1" dirty="0">
                <a:solidFill>
                  <a:schemeClr val="accent1"/>
                </a:solidFill>
              </a:rPr>
              <a:t>Richiesta di alternative</a:t>
            </a:r>
            <a:endParaRPr lang="en-US" sz="1100" dirty="0"/>
          </a:p>
        </p:txBody>
      </p:sp>
      <p:sp>
        <p:nvSpPr>
          <p:cNvPr id="6" name="Text 3"/>
          <p:cNvSpPr txBox="1"/>
          <p:nvPr/>
        </p:nvSpPr>
        <p:spPr>
          <a:xfrm>
            <a:off x="621792" y="1463040"/>
            <a:ext cx="3648456" cy="15544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Proponi tre approcci davvero diversi per ridurre i tempi di risposta alle richieste dei clienti. Per ciascuno: idea, vantaggi, rischi.</a:t>
            </a:r>
            <a:endParaRPr lang="en-US" sz="1200" dirty="0"/>
          </a:p>
        </p:txBody>
      </p:sp>
      <p:sp>
        <p:nvSpPr>
          <p:cNvPr id="7" name="prompt"/>
          <p:cNvSpPr/>
          <p:nvPr/>
        </p:nvSpPr>
        <p:spPr>
          <a:xfrm>
            <a:off x="4709160" y="1097280"/>
            <a:ext cx="3977640" cy="2011680"/>
          </a:xfrm>
          <a:prstGeom prst="roundRect">
            <a:avLst>
              <a:gd name="adj" fmla="val 3636"/>
            </a:avLst>
          </a:prstGeom>
          <a:solidFill>
            <a:schemeClr val="accent6"/>
          </a:solidFill>
          <a:ln/>
        </p:spPr>
      </p:sp>
      <p:sp>
        <p:nvSpPr>
          <p:cNvPr id="8" name="Text 5"/>
          <p:cNvSpPr txBox="1"/>
          <p:nvPr/>
        </p:nvSpPr>
        <p:spPr>
          <a:xfrm>
            <a:off x="4873752" y="1188720"/>
            <a:ext cx="3648456" cy="256032"/>
          </a:xfrm>
          <a:prstGeom prst="rect">
            <a:avLst/>
          </a:prstGeom>
          <a:noFill/>
          <a:ln/>
        </p:spPr>
        <p:txBody>
          <a:bodyPr wrap="square" lIns="0" tIns="0" rIns="0" bIns="0" rtlCol="0" anchor="t"/>
          <a:lstStyle/>
          <a:p>
            <a:pPr indent="0" marL="0">
              <a:buNone/>
            </a:pPr>
            <a:r>
              <a:rPr lang="en-US" sz="1100" b="1" dirty="0">
                <a:solidFill>
                  <a:schemeClr val="accent1"/>
                </a:solidFill>
              </a:rPr>
              <a:t>Confronto con criteri definiti</a:t>
            </a:r>
            <a:endParaRPr lang="en-US" sz="1100" dirty="0"/>
          </a:p>
        </p:txBody>
      </p:sp>
      <p:sp>
        <p:nvSpPr>
          <p:cNvPr id="9" name="Text 6"/>
          <p:cNvSpPr txBox="1"/>
          <p:nvPr/>
        </p:nvSpPr>
        <p:spPr>
          <a:xfrm>
            <a:off x="4873752" y="1463040"/>
            <a:ext cx="3648456" cy="15544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Confronta i tre approcci secondo: costo, tempi di realizzazione, impatto sui clienti. Usa una tabella ed evidenzia i compromessi.</a:t>
            </a:r>
            <a:endParaRPr lang="en-US" sz="1200" dirty="0"/>
          </a:p>
        </p:txBody>
      </p:sp>
      <p:sp>
        <p:nvSpPr>
          <p:cNvPr id="10" name="scheda Chiedere che siano davvero diverse"/>
          <p:cNvSpPr/>
          <p:nvPr/>
        </p:nvSpPr>
        <p:spPr>
          <a:xfrm>
            <a:off x="457200" y="3291840"/>
            <a:ext cx="3977640" cy="1234440"/>
          </a:xfrm>
          <a:prstGeom prst="roundRect">
            <a:avLst>
              <a:gd name="adj" fmla="val 5926"/>
            </a:avLst>
          </a:prstGeom>
          <a:solidFill>
            <a:schemeClr val="bg2"/>
          </a:solidFill>
          <a:ln/>
        </p:spPr>
      </p:sp>
      <p:sp>
        <p:nvSpPr>
          <p:cNvPr id="11" name="cerchio FiShuffle"/>
          <p:cNvSpPr/>
          <p:nvPr/>
        </p:nvSpPr>
        <p:spPr>
          <a:xfrm>
            <a:off x="640080" y="3474720"/>
            <a:ext cx="457200" cy="457200"/>
          </a:xfrm>
          <a:prstGeom prst="ellipse">
            <a:avLst/>
          </a:prstGeom>
          <a:solidFill>
            <a:schemeClr val="accent1"/>
          </a:solidFill>
          <a:ln/>
        </p:spPr>
      </p:sp>
      <p:pic>
        <p:nvPicPr>
          <p:cNvPr id="12" name="Image 0" descr="FiShuffle">    </p:cNvPr>
          <p:cNvPicPr>
            <a:picLocks noChangeAspect="1"/>
          </p:cNvPicPr>
          <p:nvPr/>
        </p:nvPicPr>
        <p:blipFill>
          <a:blip r:embed="rId1"/>
          <a:stretch>
            <a:fillRect/>
          </a:stretch>
        </p:blipFill>
        <p:spPr>
          <a:xfrm>
            <a:off x="754380" y="3589020"/>
            <a:ext cx="228600" cy="228600"/>
          </a:xfrm>
          <a:prstGeom prst="rect">
            <a:avLst/>
          </a:prstGeom>
        </p:spPr>
      </p:pic>
      <p:sp>
        <p:nvSpPr>
          <p:cNvPr id="13" name="Text 9"/>
          <p:cNvSpPr txBox="1"/>
          <p:nvPr/>
        </p:nvSpPr>
        <p:spPr>
          <a:xfrm>
            <a:off x="1234440" y="34747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Chiedere che siano davvero diverse</a:t>
            </a:r>
            <a:endParaRPr lang="en-US" sz="1500" dirty="0"/>
          </a:p>
        </p:txBody>
      </p:sp>
      <p:sp>
        <p:nvSpPr>
          <p:cNvPr id="14" name="Text 10"/>
          <p:cNvSpPr txBox="1"/>
          <p:nvPr/>
        </p:nvSpPr>
        <p:spPr>
          <a:xfrm>
            <a:off x="640080" y="4069080"/>
            <a:ext cx="3611880" cy="347472"/>
          </a:xfrm>
          <a:prstGeom prst="rect">
            <a:avLst/>
          </a:prstGeom>
          <a:noFill/>
          <a:ln/>
        </p:spPr>
        <p:txBody>
          <a:bodyPr wrap="square" lIns="0" tIns="0" rIns="0" bIns="0" rtlCol="0" anchor="t"/>
          <a:lstStyle/>
          <a:p>
            <a:pPr indent="0" marL="0">
              <a:buNone/>
            </a:pPr>
            <a:r>
              <a:rPr lang="en-US" sz="1200" dirty="0">
                <a:solidFill>
                  <a:schemeClr val="tx2"/>
                </a:solidFill>
              </a:rPr>
              <a:t>Più idee tra cui scegliere o da combinare.</a:t>
            </a:r>
            <a:endParaRPr lang="en-US" sz="1200" dirty="0"/>
          </a:p>
        </p:txBody>
      </p:sp>
      <p:sp>
        <p:nvSpPr>
          <p:cNvPr id="15" name="scheda I criteri li sceglie la persona"/>
          <p:cNvSpPr/>
          <p:nvPr/>
        </p:nvSpPr>
        <p:spPr>
          <a:xfrm>
            <a:off x="4709160" y="3291840"/>
            <a:ext cx="3977640" cy="1234440"/>
          </a:xfrm>
          <a:prstGeom prst="roundRect">
            <a:avLst>
              <a:gd name="adj" fmla="val 5926"/>
            </a:avLst>
          </a:prstGeom>
          <a:solidFill>
            <a:schemeClr val="bg2"/>
          </a:solidFill>
          <a:ln/>
        </p:spPr>
      </p:sp>
      <p:sp>
        <p:nvSpPr>
          <p:cNvPr id="16" name="cerchio FiUserCheck"/>
          <p:cNvSpPr/>
          <p:nvPr/>
        </p:nvSpPr>
        <p:spPr>
          <a:xfrm>
            <a:off x="4892040" y="3474720"/>
            <a:ext cx="457200" cy="457200"/>
          </a:xfrm>
          <a:prstGeom prst="ellipse">
            <a:avLst/>
          </a:prstGeom>
          <a:solidFill>
            <a:schemeClr val="accent1"/>
          </a:solidFill>
          <a:ln/>
        </p:spPr>
      </p:sp>
      <p:pic>
        <p:nvPicPr>
          <p:cNvPr id="17" name="Image 1" descr="FiUserCheck">    </p:cNvPr>
          <p:cNvPicPr>
            <a:picLocks noChangeAspect="1"/>
          </p:cNvPicPr>
          <p:nvPr/>
        </p:nvPicPr>
        <p:blipFill>
          <a:blip r:embed="rId2"/>
          <a:stretch>
            <a:fillRect/>
          </a:stretch>
        </p:blipFill>
        <p:spPr>
          <a:xfrm>
            <a:off x="5006340" y="3589020"/>
            <a:ext cx="228600" cy="228600"/>
          </a:xfrm>
          <a:prstGeom prst="rect">
            <a:avLst/>
          </a:prstGeom>
        </p:spPr>
      </p:pic>
      <p:sp>
        <p:nvSpPr>
          <p:cNvPr id="18" name="Text 13"/>
          <p:cNvSpPr txBox="1"/>
          <p:nvPr/>
        </p:nvSpPr>
        <p:spPr>
          <a:xfrm>
            <a:off x="5486400" y="34747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I criteri li sceglie la persona</a:t>
            </a:r>
            <a:endParaRPr lang="en-US" sz="1500" dirty="0"/>
          </a:p>
        </p:txBody>
      </p:sp>
      <p:sp>
        <p:nvSpPr>
          <p:cNvPr id="19" name="Text 14"/>
          <p:cNvSpPr txBox="1"/>
          <p:nvPr/>
        </p:nvSpPr>
        <p:spPr>
          <a:xfrm>
            <a:off x="4892040" y="4069080"/>
            <a:ext cx="3611880" cy="347472"/>
          </a:xfrm>
          <a:prstGeom prst="rect">
            <a:avLst/>
          </a:prstGeom>
          <a:noFill/>
          <a:ln/>
        </p:spPr>
        <p:txBody>
          <a:bodyPr wrap="square" lIns="0" tIns="0" rIns="0" bIns="0" rtlCol="0" anchor="t"/>
          <a:lstStyle/>
          <a:p>
            <a:pPr indent="0" marL="0">
              <a:buNone/>
            </a:pPr>
            <a:r>
              <a:rPr lang="en-US" sz="1200" dirty="0">
                <a:solidFill>
                  <a:schemeClr val="tx2"/>
                </a:solidFill>
              </a:rPr>
              <a:t>Il confronto ordina il ragionamento; la scelta resta umana.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6.5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Prompting iterativo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risultato si costruisce per passi: il dialogo migliora l'aderenza al bisogno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prompting come conversazione</a:t>
            </a:r>
            <a:endParaRPr lang="en-US" sz="2600" dirty="0"/>
          </a:p>
        </p:txBody>
      </p:sp>
      <p:sp>
        <p:nvSpPr>
          <p:cNvPr id="4" name="Richiesta iniziale"/>
          <p:cNvSpPr/>
          <p:nvPr/>
        </p:nvSpPr>
        <p:spPr>
          <a:xfrm>
            <a:off x="457200" y="1097280"/>
            <a:ext cx="1470355" cy="658368"/>
          </a:xfrm>
          <a:prstGeom prst="roundRect">
            <a:avLst>
              <a:gd name="adj" fmla="val 11111"/>
            </a:avLst>
          </a:prstGeom>
          <a:solidFill>
            <a:schemeClr val="bg2"/>
          </a:solidFill>
          <a:ln/>
        </p:spPr>
      </p:sp>
      <p:sp>
        <p:nvSpPr>
          <p:cNvPr id="5" name="Text 2"/>
          <p:cNvSpPr txBox="1"/>
          <p:nvPr/>
        </p:nvSpPr>
        <p:spPr>
          <a:xfrm>
            <a:off x="530352" y="1234440"/>
            <a:ext cx="1324051" cy="384048"/>
          </a:xfrm>
          <a:prstGeom prst="rect">
            <a:avLst/>
          </a:prstGeom>
          <a:noFill/>
          <a:ln/>
        </p:spPr>
        <p:txBody>
          <a:bodyPr wrap="square" lIns="0" tIns="0" rIns="0" bIns="0" rtlCol="0" anchor="ctr"/>
          <a:lstStyle/>
          <a:p>
            <a:pPr algn="ctr" indent="0" marL="0">
              <a:buNone/>
            </a:pPr>
            <a:r>
              <a:rPr lang="en-US" sz="1200" b="1" dirty="0">
                <a:solidFill>
                  <a:schemeClr val="tx1"/>
                </a:solidFill>
              </a:rPr>
              <a:t>Richiesta iniziale</a:t>
            </a:r>
            <a:endParaRPr lang="en-US" sz="1200" dirty="0"/>
          </a:p>
        </p:txBody>
      </p:sp>
      <p:sp>
        <p:nvSpPr>
          <p:cNvPr id="6" name="freccia"/>
          <p:cNvSpPr/>
          <p:nvPr/>
        </p:nvSpPr>
        <p:spPr>
          <a:xfrm>
            <a:off x="1945843" y="1280160"/>
            <a:ext cx="182880" cy="292608"/>
          </a:xfrm>
          <a:prstGeom prst="rightArrow">
            <a:avLst/>
          </a:prstGeom>
          <a:solidFill>
            <a:schemeClr val="accent2"/>
          </a:solidFill>
          <a:ln/>
        </p:spPr>
      </p:sp>
      <p:sp>
        <p:nvSpPr>
          <p:cNvPr id="7" name="Prima risposta"/>
          <p:cNvSpPr/>
          <p:nvPr/>
        </p:nvSpPr>
        <p:spPr>
          <a:xfrm>
            <a:off x="2147011" y="1097280"/>
            <a:ext cx="1470355" cy="658368"/>
          </a:xfrm>
          <a:prstGeom prst="roundRect">
            <a:avLst>
              <a:gd name="adj" fmla="val 11111"/>
            </a:avLst>
          </a:prstGeom>
          <a:solidFill>
            <a:schemeClr val="bg2"/>
          </a:solidFill>
          <a:ln/>
        </p:spPr>
      </p:sp>
      <p:sp>
        <p:nvSpPr>
          <p:cNvPr id="8" name="Text 5"/>
          <p:cNvSpPr txBox="1"/>
          <p:nvPr/>
        </p:nvSpPr>
        <p:spPr>
          <a:xfrm>
            <a:off x="2220163" y="1234440"/>
            <a:ext cx="1324051" cy="384048"/>
          </a:xfrm>
          <a:prstGeom prst="rect">
            <a:avLst/>
          </a:prstGeom>
          <a:noFill/>
          <a:ln/>
        </p:spPr>
        <p:txBody>
          <a:bodyPr wrap="square" lIns="0" tIns="0" rIns="0" bIns="0" rtlCol="0" anchor="ctr"/>
          <a:lstStyle/>
          <a:p>
            <a:pPr algn="ctr" indent="0" marL="0">
              <a:buNone/>
            </a:pPr>
            <a:r>
              <a:rPr lang="en-US" sz="1200" b="1" dirty="0">
                <a:solidFill>
                  <a:schemeClr val="tx1"/>
                </a:solidFill>
              </a:rPr>
              <a:t>Prima risposta</a:t>
            </a:r>
            <a:endParaRPr lang="en-US" sz="1200" dirty="0"/>
          </a:p>
        </p:txBody>
      </p:sp>
      <p:sp>
        <p:nvSpPr>
          <p:cNvPr id="9" name="freccia"/>
          <p:cNvSpPr/>
          <p:nvPr/>
        </p:nvSpPr>
        <p:spPr>
          <a:xfrm>
            <a:off x="3635654" y="1280160"/>
            <a:ext cx="182880" cy="292608"/>
          </a:xfrm>
          <a:prstGeom prst="rightArrow">
            <a:avLst/>
          </a:prstGeom>
          <a:solidFill>
            <a:schemeClr val="accent2"/>
          </a:solidFill>
          <a:ln/>
        </p:spPr>
      </p:sp>
      <p:sp>
        <p:nvSpPr>
          <p:cNvPr id="10" name="Chiarimento"/>
          <p:cNvSpPr/>
          <p:nvPr/>
        </p:nvSpPr>
        <p:spPr>
          <a:xfrm>
            <a:off x="3836822" y="1097280"/>
            <a:ext cx="1470355" cy="658368"/>
          </a:xfrm>
          <a:prstGeom prst="roundRect">
            <a:avLst>
              <a:gd name="adj" fmla="val 11111"/>
            </a:avLst>
          </a:prstGeom>
          <a:solidFill>
            <a:schemeClr val="bg2"/>
          </a:solidFill>
          <a:ln/>
        </p:spPr>
      </p:sp>
      <p:sp>
        <p:nvSpPr>
          <p:cNvPr id="11" name="Text 8"/>
          <p:cNvSpPr txBox="1"/>
          <p:nvPr/>
        </p:nvSpPr>
        <p:spPr>
          <a:xfrm>
            <a:off x="3909974" y="1234440"/>
            <a:ext cx="1324051" cy="384048"/>
          </a:xfrm>
          <a:prstGeom prst="rect">
            <a:avLst/>
          </a:prstGeom>
          <a:noFill/>
          <a:ln/>
        </p:spPr>
        <p:txBody>
          <a:bodyPr wrap="square" lIns="0" tIns="0" rIns="0" bIns="0" rtlCol="0" anchor="ctr"/>
          <a:lstStyle/>
          <a:p>
            <a:pPr algn="ctr" indent="0" marL="0">
              <a:buNone/>
            </a:pPr>
            <a:r>
              <a:rPr lang="en-US" sz="1200" b="1" dirty="0">
                <a:solidFill>
                  <a:schemeClr val="tx1"/>
                </a:solidFill>
              </a:rPr>
              <a:t>Chiarimento</a:t>
            </a:r>
            <a:endParaRPr lang="en-US" sz="1200" dirty="0"/>
          </a:p>
        </p:txBody>
      </p:sp>
      <p:sp>
        <p:nvSpPr>
          <p:cNvPr id="12" name="freccia"/>
          <p:cNvSpPr/>
          <p:nvPr/>
        </p:nvSpPr>
        <p:spPr>
          <a:xfrm>
            <a:off x="5325466" y="1280160"/>
            <a:ext cx="182880" cy="292608"/>
          </a:xfrm>
          <a:prstGeom prst="rightArrow">
            <a:avLst/>
          </a:prstGeom>
          <a:solidFill>
            <a:schemeClr val="accent2"/>
          </a:solidFill>
          <a:ln/>
        </p:spPr>
      </p:sp>
      <p:sp>
        <p:nvSpPr>
          <p:cNvPr id="13" name="Approfondimento"/>
          <p:cNvSpPr/>
          <p:nvPr/>
        </p:nvSpPr>
        <p:spPr>
          <a:xfrm>
            <a:off x="5526634" y="1097280"/>
            <a:ext cx="1470355" cy="658368"/>
          </a:xfrm>
          <a:prstGeom prst="roundRect">
            <a:avLst>
              <a:gd name="adj" fmla="val 11111"/>
            </a:avLst>
          </a:prstGeom>
          <a:solidFill>
            <a:schemeClr val="bg2"/>
          </a:solidFill>
          <a:ln/>
        </p:spPr>
      </p:sp>
      <p:sp>
        <p:nvSpPr>
          <p:cNvPr id="14" name="Text 11"/>
          <p:cNvSpPr txBox="1"/>
          <p:nvPr/>
        </p:nvSpPr>
        <p:spPr>
          <a:xfrm>
            <a:off x="5599786" y="1234440"/>
            <a:ext cx="1324051" cy="384048"/>
          </a:xfrm>
          <a:prstGeom prst="rect">
            <a:avLst/>
          </a:prstGeom>
          <a:noFill/>
          <a:ln/>
        </p:spPr>
        <p:txBody>
          <a:bodyPr wrap="square" lIns="0" tIns="0" rIns="0" bIns="0" rtlCol="0" anchor="ctr"/>
          <a:lstStyle/>
          <a:p>
            <a:pPr algn="ctr" indent="0" marL="0">
              <a:buNone/>
            </a:pPr>
            <a:r>
              <a:rPr lang="en-US" sz="1200" b="1" dirty="0">
                <a:solidFill>
                  <a:schemeClr val="tx1"/>
                </a:solidFill>
              </a:rPr>
              <a:t>Approfondimento</a:t>
            </a:r>
            <a:endParaRPr lang="en-US" sz="1200" dirty="0"/>
          </a:p>
        </p:txBody>
      </p:sp>
      <p:sp>
        <p:nvSpPr>
          <p:cNvPr id="15" name="freccia"/>
          <p:cNvSpPr/>
          <p:nvPr/>
        </p:nvSpPr>
        <p:spPr>
          <a:xfrm>
            <a:off x="7015277" y="1280160"/>
            <a:ext cx="182880" cy="292608"/>
          </a:xfrm>
          <a:prstGeom prst="rightArrow">
            <a:avLst/>
          </a:prstGeom>
          <a:solidFill>
            <a:schemeClr val="accent2"/>
          </a:solidFill>
          <a:ln/>
        </p:spPr>
      </p:sp>
      <p:sp>
        <p:nvSpPr>
          <p:cNvPr id="16" name="Risultato utilizzabile"/>
          <p:cNvSpPr/>
          <p:nvPr/>
        </p:nvSpPr>
        <p:spPr>
          <a:xfrm>
            <a:off x="7216445" y="1097280"/>
            <a:ext cx="1470355" cy="658368"/>
          </a:xfrm>
          <a:prstGeom prst="roundRect">
            <a:avLst>
              <a:gd name="adj" fmla="val 11111"/>
            </a:avLst>
          </a:prstGeom>
          <a:solidFill>
            <a:schemeClr val="accent1"/>
          </a:solidFill>
          <a:ln/>
        </p:spPr>
      </p:sp>
      <p:sp>
        <p:nvSpPr>
          <p:cNvPr id="17" name="Text 14"/>
          <p:cNvSpPr txBox="1"/>
          <p:nvPr/>
        </p:nvSpPr>
        <p:spPr>
          <a:xfrm>
            <a:off x="7289597" y="1234440"/>
            <a:ext cx="1324051" cy="384048"/>
          </a:xfrm>
          <a:prstGeom prst="rect">
            <a:avLst/>
          </a:prstGeom>
          <a:noFill/>
          <a:ln/>
        </p:spPr>
        <p:txBody>
          <a:bodyPr wrap="square" lIns="0" tIns="0" rIns="0" bIns="0" rtlCol="0" anchor="ctr"/>
          <a:lstStyle/>
          <a:p>
            <a:pPr algn="ctr" indent="0" marL="0">
              <a:buNone/>
            </a:pPr>
            <a:r>
              <a:rPr lang="en-US" sz="1200" b="1" dirty="0">
                <a:solidFill>
                  <a:schemeClr val="bg1"/>
                </a:solidFill>
              </a:rPr>
              <a:t>Risultato utilizzabile</a:t>
            </a:r>
            <a:endParaRPr lang="en-US" sz="1200" dirty="0"/>
          </a:p>
        </p:txBody>
      </p:sp>
      <p:sp>
        <p:nvSpPr>
          <p:cNvPr id="18" name="dialogo esempio"/>
          <p:cNvSpPr/>
          <p:nvPr/>
        </p:nvSpPr>
        <p:spPr>
          <a:xfrm>
            <a:off x="457200" y="1920240"/>
            <a:ext cx="8229600" cy="1783080"/>
          </a:xfrm>
          <a:prstGeom prst="roundRect">
            <a:avLst>
              <a:gd name="adj" fmla="val 4103"/>
            </a:avLst>
          </a:prstGeom>
          <a:solidFill>
            <a:schemeClr val="bg2"/>
          </a:solidFill>
          <a:ln/>
        </p:spPr>
      </p:sp>
      <p:sp>
        <p:nvSpPr>
          <p:cNvPr id="19" name="Text 16"/>
          <p:cNvSpPr txBox="1"/>
          <p:nvPr/>
        </p:nvSpPr>
        <p:spPr>
          <a:xfrm>
            <a:off x="640080" y="1984248"/>
            <a:ext cx="3657600" cy="256032"/>
          </a:xfrm>
          <a:prstGeom prst="rect">
            <a:avLst/>
          </a:prstGeom>
          <a:noFill/>
          <a:ln/>
        </p:spPr>
        <p:txBody>
          <a:bodyPr wrap="square" lIns="0" tIns="0" rIns="0" bIns="0" rtlCol="0" anchor="t"/>
          <a:lstStyle/>
          <a:p>
            <a:pPr indent="0" marL="0">
              <a:buNone/>
            </a:pPr>
            <a:r>
              <a:rPr lang="en-US" sz="1100" b="1" dirty="0">
                <a:solidFill>
                  <a:schemeClr val="accent1"/>
                </a:solidFill>
              </a:rPr>
              <a:t>Esempio illustrativo</a:t>
            </a:r>
            <a:endParaRPr lang="en-US" sz="1100" dirty="0"/>
          </a:p>
        </p:txBody>
      </p:sp>
      <p:sp>
        <p:nvSpPr>
          <p:cNvPr id="20" name="Text 17"/>
          <p:cNvSpPr txBox="1"/>
          <p:nvPr/>
        </p:nvSpPr>
        <p:spPr>
          <a:xfrm>
            <a:off x="640080" y="2267712"/>
            <a:ext cx="822960" cy="310896"/>
          </a:xfrm>
          <a:prstGeom prst="rect">
            <a:avLst/>
          </a:prstGeom>
          <a:noFill/>
          <a:ln/>
        </p:spPr>
        <p:txBody>
          <a:bodyPr wrap="square" lIns="0" tIns="0" rIns="0" bIns="0" rtlCol="0" anchor="ctr"/>
          <a:lstStyle/>
          <a:p>
            <a:pPr indent="0" marL="0">
              <a:buNone/>
            </a:pPr>
            <a:r>
              <a:rPr lang="en-US" sz="1100" b="1" dirty="0">
                <a:solidFill>
                  <a:schemeClr val="tx1"/>
                </a:solidFill>
              </a:rPr>
              <a:t>Persona</a:t>
            </a:r>
            <a:endParaRPr lang="en-US" sz="1100" dirty="0"/>
          </a:p>
        </p:txBody>
      </p:sp>
      <p:sp>
        <p:nvSpPr>
          <p:cNvPr id="21" name="Text 18"/>
          <p:cNvSpPr txBox="1"/>
          <p:nvPr/>
        </p:nvSpPr>
        <p:spPr>
          <a:xfrm>
            <a:off x="1463040" y="2267712"/>
            <a:ext cx="7086600" cy="310896"/>
          </a:xfrm>
          <a:prstGeom prst="rect">
            <a:avLst/>
          </a:prstGeom>
          <a:noFill/>
          <a:ln/>
        </p:spPr>
        <p:txBody>
          <a:bodyPr wrap="square" lIns="0" tIns="0" rIns="0" bIns="0" rtlCol="0" anchor="ctr"/>
          <a:lstStyle/>
          <a:p>
            <a:pPr indent="0" marL="0">
              <a:buNone/>
            </a:pPr>
            <a:r>
              <a:rPr lang="en-US" sz="1100" dirty="0">
                <a:solidFill>
                  <a:schemeClr val="tx1"/>
                </a:solidFill>
              </a:rPr>
              <a:t>Aiutami a preparare l'agenda della riunione di avvio del progetto.</a:t>
            </a:r>
            <a:endParaRPr lang="en-US" sz="1100" dirty="0"/>
          </a:p>
        </p:txBody>
      </p:sp>
      <p:sp>
        <p:nvSpPr>
          <p:cNvPr id="22" name="Text 19"/>
          <p:cNvSpPr txBox="1"/>
          <p:nvPr/>
        </p:nvSpPr>
        <p:spPr>
          <a:xfrm>
            <a:off x="640080" y="2615184"/>
            <a:ext cx="822960" cy="310896"/>
          </a:xfrm>
          <a:prstGeom prst="rect">
            <a:avLst/>
          </a:prstGeom>
          <a:noFill/>
          <a:ln/>
        </p:spPr>
        <p:txBody>
          <a:bodyPr wrap="square" lIns="0" tIns="0" rIns="0" bIns="0" rtlCol="0" anchor="ctr"/>
          <a:lstStyle/>
          <a:p>
            <a:pPr indent="0" marL="0">
              <a:buNone/>
            </a:pPr>
            <a:r>
              <a:rPr lang="en-US" sz="1100" b="1" dirty="0">
                <a:solidFill>
                  <a:schemeClr val="accent1"/>
                </a:solidFill>
              </a:rPr>
              <a:t>AI</a:t>
            </a:r>
            <a:endParaRPr lang="en-US" sz="1100" dirty="0"/>
          </a:p>
        </p:txBody>
      </p:sp>
      <p:sp>
        <p:nvSpPr>
          <p:cNvPr id="23" name="Text 20"/>
          <p:cNvSpPr txBox="1"/>
          <p:nvPr/>
        </p:nvSpPr>
        <p:spPr>
          <a:xfrm>
            <a:off x="1463040" y="2615184"/>
            <a:ext cx="7086600" cy="310896"/>
          </a:xfrm>
          <a:prstGeom prst="rect">
            <a:avLst/>
          </a:prstGeom>
          <a:noFill/>
          <a:ln/>
        </p:spPr>
        <p:txBody>
          <a:bodyPr wrap="square" lIns="0" tIns="0" rIns="0" bIns="0" rtlCol="0" anchor="ctr"/>
          <a:lstStyle/>
          <a:p>
            <a:pPr indent="0" marL="0">
              <a:buNone/>
            </a:pPr>
            <a:r>
              <a:rPr lang="en-US" sz="1100" i="1" dirty="0">
                <a:solidFill>
                  <a:schemeClr val="tx1"/>
                </a:solidFill>
              </a:rPr>
              <a:t>Propone un'agenda e chiede: quanto dura, chi partecipa, che cosa va deciso?</a:t>
            </a:r>
            <a:endParaRPr lang="en-US" sz="1100" dirty="0"/>
          </a:p>
        </p:txBody>
      </p:sp>
      <p:sp>
        <p:nvSpPr>
          <p:cNvPr id="24" name="Text 21"/>
          <p:cNvSpPr txBox="1"/>
          <p:nvPr/>
        </p:nvSpPr>
        <p:spPr>
          <a:xfrm>
            <a:off x="640080" y="2962656"/>
            <a:ext cx="822960" cy="310896"/>
          </a:xfrm>
          <a:prstGeom prst="rect">
            <a:avLst/>
          </a:prstGeom>
          <a:noFill/>
          <a:ln/>
        </p:spPr>
        <p:txBody>
          <a:bodyPr wrap="square" lIns="0" tIns="0" rIns="0" bIns="0" rtlCol="0" anchor="ctr"/>
          <a:lstStyle/>
          <a:p>
            <a:pPr indent="0" marL="0">
              <a:buNone/>
            </a:pPr>
            <a:r>
              <a:rPr lang="en-US" sz="1100" b="1" dirty="0">
                <a:solidFill>
                  <a:schemeClr val="tx1"/>
                </a:solidFill>
              </a:rPr>
              <a:t>Persona</a:t>
            </a:r>
            <a:endParaRPr lang="en-US" sz="1100" dirty="0"/>
          </a:p>
        </p:txBody>
      </p:sp>
      <p:sp>
        <p:nvSpPr>
          <p:cNvPr id="25" name="Text 22"/>
          <p:cNvSpPr txBox="1"/>
          <p:nvPr/>
        </p:nvSpPr>
        <p:spPr>
          <a:xfrm>
            <a:off x="1463040" y="2962656"/>
            <a:ext cx="7086600" cy="310896"/>
          </a:xfrm>
          <a:prstGeom prst="rect">
            <a:avLst/>
          </a:prstGeom>
          <a:noFill/>
          <a:ln/>
        </p:spPr>
        <p:txBody>
          <a:bodyPr wrap="square" lIns="0" tIns="0" rIns="0" bIns="0" rtlCol="0" anchor="ctr"/>
          <a:lstStyle/>
          <a:p>
            <a:pPr indent="0" marL="0">
              <a:buNone/>
            </a:pPr>
            <a:r>
              <a:rPr lang="en-US" sz="1100" dirty="0">
                <a:solidFill>
                  <a:schemeClr val="tx1"/>
                </a:solidFill>
              </a:rPr>
              <a:t>Un'ora, otto persone di tre reparti: dobbiamo decidere responsabilità e tempi.</a:t>
            </a:r>
            <a:endParaRPr lang="en-US" sz="1100" dirty="0"/>
          </a:p>
        </p:txBody>
      </p:sp>
      <p:sp>
        <p:nvSpPr>
          <p:cNvPr id="26" name="Text 23"/>
          <p:cNvSpPr txBox="1"/>
          <p:nvPr/>
        </p:nvSpPr>
        <p:spPr>
          <a:xfrm>
            <a:off x="640080" y="3310128"/>
            <a:ext cx="822960" cy="310896"/>
          </a:xfrm>
          <a:prstGeom prst="rect">
            <a:avLst/>
          </a:prstGeom>
          <a:noFill/>
          <a:ln/>
        </p:spPr>
        <p:txBody>
          <a:bodyPr wrap="square" lIns="0" tIns="0" rIns="0" bIns="0" rtlCol="0" anchor="ctr"/>
          <a:lstStyle/>
          <a:p>
            <a:pPr indent="0" marL="0">
              <a:buNone/>
            </a:pPr>
            <a:r>
              <a:rPr lang="en-US" sz="1100" b="1" dirty="0">
                <a:solidFill>
                  <a:schemeClr val="accent1"/>
                </a:solidFill>
              </a:rPr>
              <a:t>AI</a:t>
            </a:r>
            <a:endParaRPr lang="en-US" sz="1100" dirty="0"/>
          </a:p>
        </p:txBody>
      </p:sp>
      <p:sp>
        <p:nvSpPr>
          <p:cNvPr id="27" name="Text 24"/>
          <p:cNvSpPr txBox="1"/>
          <p:nvPr/>
        </p:nvSpPr>
        <p:spPr>
          <a:xfrm>
            <a:off x="1463040" y="3310128"/>
            <a:ext cx="7086600" cy="310896"/>
          </a:xfrm>
          <a:prstGeom prst="rect">
            <a:avLst/>
          </a:prstGeom>
          <a:noFill/>
          <a:ln/>
        </p:spPr>
        <p:txBody>
          <a:bodyPr wrap="square" lIns="0" tIns="0" rIns="0" bIns="0" rtlCol="0" anchor="ctr"/>
          <a:lstStyle/>
          <a:p>
            <a:pPr indent="0" marL="0">
              <a:buNone/>
            </a:pPr>
            <a:r>
              <a:rPr lang="en-US" sz="1100" i="1" dirty="0">
                <a:solidFill>
                  <a:schemeClr val="tx1"/>
                </a:solidFill>
              </a:rPr>
              <a:t>Rivede l'agenda: tempi per punto, decisione sui ruoli, riepilogo delle azioni.</a:t>
            </a:r>
            <a:endParaRPr lang="en-US" sz="1100" dirty="0"/>
          </a:p>
        </p:txBody>
      </p:sp>
      <p:sp>
        <p:nvSpPr>
          <p:cNvPr id="28" name="scheda Non serve il prompt perfetto al primo colpo"/>
          <p:cNvSpPr/>
          <p:nvPr/>
        </p:nvSpPr>
        <p:spPr>
          <a:xfrm>
            <a:off x="457200" y="3840480"/>
            <a:ext cx="3977640" cy="713232"/>
          </a:xfrm>
          <a:prstGeom prst="roundRect">
            <a:avLst>
              <a:gd name="adj" fmla="val 10256"/>
            </a:avLst>
          </a:prstGeom>
          <a:solidFill>
            <a:schemeClr val="bg2"/>
          </a:solidFill>
          <a:ln/>
        </p:spPr>
      </p:sp>
      <p:sp>
        <p:nvSpPr>
          <p:cNvPr id="29" name="cerchio FiSmile"/>
          <p:cNvSpPr/>
          <p:nvPr/>
        </p:nvSpPr>
        <p:spPr>
          <a:xfrm>
            <a:off x="640080" y="4023360"/>
            <a:ext cx="457200" cy="457200"/>
          </a:xfrm>
          <a:prstGeom prst="ellipse">
            <a:avLst/>
          </a:prstGeom>
          <a:solidFill>
            <a:schemeClr val="accent1"/>
          </a:solidFill>
          <a:ln/>
        </p:spPr>
      </p:sp>
      <p:pic>
        <p:nvPicPr>
          <p:cNvPr id="30" name="Image 0" descr="FiSmile">    </p:cNvPr>
          <p:cNvPicPr>
            <a:picLocks noChangeAspect="1"/>
          </p:cNvPicPr>
          <p:nvPr/>
        </p:nvPicPr>
        <p:blipFill>
          <a:blip r:embed="rId1"/>
          <a:stretch>
            <a:fillRect/>
          </a:stretch>
        </p:blipFill>
        <p:spPr>
          <a:xfrm>
            <a:off x="754380" y="4137660"/>
            <a:ext cx="228600" cy="228600"/>
          </a:xfrm>
          <a:prstGeom prst="rect">
            <a:avLst/>
          </a:prstGeom>
        </p:spPr>
      </p:pic>
      <p:sp>
        <p:nvSpPr>
          <p:cNvPr id="31" name="Text 27"/>
          <p:cNvSpPr txBox="1"/>
          <p:nvPr/>
        </p:nvSpPr>
        <p:spPr>
          <a:xfrm>
            <a:off x="1234440" y="4023360"/>
            <a:ext cx="3017520" cy="457200"/>
          </a:xfrm>
          <a:prstGeom prst="rect">
            <a:avLst/>
          </a:prstGeom>
          <a:noFill/>
          <a:ln/>
        </p:spPr>
        <p:txBody>
          <a:bodyPr wrap="square" lIns="0" tIns="0" rIns="0" bIns="0" rtlCol="0" anchor="ctr"/>
          <a:lstStyle/>
          <a:p>
            <a:pPr indent="0" marL="0">
              <a:buNone/>
            </a:pPr>
            <a:r>
              <a:rPr lang="en-US" sz="1200" b="1" dirty="0">
                <a:solidFill>
                  <a:schemeClr val="tx1"/>
                </a:solidFill>
              </a:rPr>
              <a:t>Non serve il prompt perfetto al primo colpo</a:t>
            </a:r>
            <a:endParaRPr lang="en-US" sz="1200" dirty="0"/>
          </a:p>
        </p:txBody>
      </p:sp>
      <p:sp>
        <p:nvSpPr>
          <p:cNvPr id="32" name="scheda Il dialogo affina il risultato; i contenuti importanti si verificano"/>
          <p:cNvSpPr/>
          <p:nvPr/>
        </p:nvSpPr>
        <p:spPr>
          <a:xfrm>
            <a:off x="4709160" y="3840480"/>
            <a:ext cx="3977640" cy="713232"/>
          </a:xfrm>
          <a:prstGeom prst="roundRect">
            <a:avLst>
              <a:gd name="adj" fmla="val 10256"/>
            </a:avLst>
          </a:prstGeom>
          <a:solidFill>
            <a:schemeClr val="accent6"/>
          </a:solidFill>
          <a:ln/>
        </p:spPr>
      </p:sp>
      <p:sp>
        <p:nvSpPr>
          <p:cNvPr id="33" name="cerchio FiCheckCircle"/>
          <p:cNvSpPr/>
          <p:nvPr/>
        </p:nvSpPr>
        <p:spPr>
          <a:xfrm>
            <a:off x="4892040" y="4023360"/>
            <a:ext cx="457200" cy="457200"/>
          </a:xfrm>
          <a:prstGeom prst="ellipse">
            <a:avLst/>
          </a:prstGeom>
          <a:solidFill>
            <a:schemeClr val="accent1"/>
          </a:solidFill>
          <a:ln/>
        </p:spPr>
      </p:sp>
      <p:pic>
        <p:nvPicPr>
          <p:cNvPr id="34" name="Image 1" descr="FiCheckCircle">    </p:cNvPr>
          <p:cNvPicPr>
            <a:picLocks noChangeAspect="1"/>
          </p:cNvPicPr>
          <p:nvPr/>
        </p:nvPicPr>
        <p:blipFill>
          <a:blip r:embed="rId2"/>
          <a:stretch>
            <a:fillRect/>
          </a:stretch>
        </p:blipFill>
        <p:spPr>
          <a:xfrm>
            <a:off x="5006340" y="4137660"/>
            <a:ext cx="228600" cy="228600"/>
          </a:xfrm>
          <a:prstGeom prst="rect">
            <a:avLst/>
          </a:prstGeom>
        </p:spPr>
      </p:pic>
      <p:sp>
        <p:nvSpPr>
          <p:cNvPr id="35" name="Text 30"/>
          <p:cNvSpPr txBox="1"/>
          <p:nvPr/>
        </p:nvSpPr>
        <p:spPr>
          <a:xfrm>
            <a:off x="5486400" y="4023360"/>
            <a:ext cx="3017520" cy="457200"/>
          </a:xfrm>
          <a:prstGeom prst="rect">
            <a:avLst/>
          </a:prstGeom>
          <a:noFill/>
          <a:ln/>
        </p:spPr>
        <p:txBody>
          <a:bodyPr wrap="square" lIns="0" tIns="0" rIns="0" bIns="0" rtlCol="0" anchor="ctr"/>
          <a:lstStyle/>
          <a:p>
            <a:pPr indent="0" marL="0">
              <a:buNone/>
            </a:pPr>
            <a:r>
              <a:rPr lang="en-US" sz="1200" b="1" dirty="0">
                <a:solidFill>
                  <a:schemeClr val="tx1"/>
                </a:solidFill>
              </a:rPr>
              <a:t>Il dialogo affina il risultato; i contenuti importanti si verificano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Capire che cosa migliorare</a:t>
            </a:r>
            <a:endParaRPr lang="en-US" sz="2600" dirty="0"/>
          </a:p>
        </p:txBody>
      </p:sp>
      <p:sp>
        <p:nvSpPr>
          <p:cNvPr id="4" name="Contenuto"/>
          <p:cNvSpPr/>
          <p:nvPr/>
        </p:nvSpPr>
        <p:spPr>
          <a:xfrm>
            <a:off x="457200" y="1097280"/>
            <a:ext cx="1536192" cy="2286000"/>
          </a:xfrm>
          <a:prstGeom prst="roundRect">
            <a:avLst>
              <a:gd name="adj" fmla="val 4762"/>
            </a:avLst>
          </a:prstGeom>
          <a:solidFill>
            <a:schemeClr val="bg2"/>
          </a:solidFill>
          <a:ln/>
        </p:spPr>
      </p:sp>
      <p:sp>
        <p:nvSpPr>
          <p:cNvPr id="5" name="cerchio FiFileText"/>
          <p:cNvSpPr/>
          <p:nvPr/>
        </p:nvSpPr>
        <p:spPr>
          <a:xfrm>
            <a:off x="969264" y="1234440"/>
            <a:ext cx="512064" cy="512064"/>
          </a:xfrm>
          <a:prstGeom prst="ellipse">
            <a:avLst/>
          </a:prstGeom>
          <a:solidFill>
            <a:schemeClr val="accent1"/>
          </a:solidFill>
          <a:ln/>
        </p:spPr>
      </p:sp>
      <p:pic>
        <p:nvPicPr>
          <p:cNvPr id="6" name="Image 0" descr="FiFileText">    </p:cNvPr>
          <p:cNvPicPr>
            <a:picLocks noChangeAspect="1"/>
          </p:cNvPicPr>
          <p:nvPr/>
        </p:nvPicPr>
        <p:blipFill>
          <a:blip r:embed="rId1"/>
          <a:stretch>
            <a:fillRect/>
          </a:stretch>
        </p:blipFill>
        <p:spPr>
          <a:xfrm>
            <a:off x="1097280" y="1362456"/>
            <a:ext cx="256032" cy="256032"/>
          </a:xfrm>
          <a:prstGeom prst="rect">
            <a:avLst/>
          </a:prstGeom>
        </p:spPr>
      </p:pic>
      <p:sp>
        <p:nvSpPr>
          <p:cNvPr id="7" name="Text 3"/>
          <p:cNvSpPr txBox="1"/>
          <p:nvPr/>
        </p:nvSpPr>
        <p:spPr>
          <a:xfrm>
            <a:off x="548640" y="1828800"/>
            <a:ext cx="1353312" cy="502920"/>
          </a:xfrm>
          <a:prstGeom prst="rect">
            <a:avLst/>
          </a:prstGeom>
          <a:noFill/>
          <a:ln/>
        </p:spPr>
        <p:txBody>
          <a:bodyPr wrap="square" lIns="0" tIns="0" rIns="0" bIns="0" rtlCol="0" anchor="ctr"/>
          <a:lstStyle/>
          <a:p>
            <a:pPr algn="ctr" indent="0" marL="0">
              <a:buNone/>
            </a:pPr>
            <a:r>
              <a:rPr lang="en-US" sz="1300" b="1" dirty="0">
                <a:solidFill>
                  <a:schemeClr val="tx1"/>
                </a:solidFill>
              </a:rPr>
              <a:t>Contenuto</a:t>
            </a:r>
            <a:endParaRPr lang="en-US" sz="1300" dirty="0"/>
          </a:p>
        </p:txBody>
      </p:sp>
      <p:sp>
        <p:nvSpPr>
          <p:cNvPr id="8" name="Text 4"/>
          <p:cNvSpPr txBox="1"/>
          <p:nvPr/>
        </p:nvSpPr>
        <p:spPr>
          <a:xfrm>
            <a:off x="566928" y="2377440"/>
            <a:ext cx="1316736" cy="868680"/>
          </a:xfrm>
          <a:prstGeom prst="rect">
            <a:avLst/>
          </a:prstGeom>
          <a:noFill/>
          <a:ln/>
        </p:spPr>
        <p:txBody>
          <a:bodyPr wrap="square" lIns="0" tIns="0" rIns="0" bIns="0" rtlCol="0" anchor="t"/>
          <a:lstStyle/>
          <a:p>
            <a:pPr algn="ctr" indent="0" marL="0">
              <a:buNone/>
            </a:pPr>
            <a:r>
              <a:rPr lang="en-US" sz="1100" dirty="0">
                <a:solidFill>
                  <a:schemeClr val="tx2"/>
                </a:solidFill>
              </a:rPr>
              <a:t>Manca qualcosa? C'è del superfluo?</a:t>
            </a:r>
            <a:endParaRPr lang="en-US" sz="1100" dirty="0"/>
          </a:p>
        </p:txBody>
      </p:sp>
      <p:sp>
        <p:nvSpPr>
          <p:cNvPr id="9" name="Tono o registro"/>
          <p:cNvSpPr/>
          <p:nvPr/>
        </p:nvSpPr>
        <p:spPr>
          <a:xfrm>
            <a:off x="2139696" y="1097280"/>
            <a:ext cx="1536192" cy="2286000"/>
          </a:xfrm>
          <a:prstGeom prst="roundRect">
            <a:avLst>
              <a:gd name="adj" fmla="val 4762"/>
            </a:avLst>
          </a:prstGeom>
          <a:solidFill>
            <a:schemeClr val="bg2"/>
          </a:solidFill>
          <a:ln/>
        </p:spPr>
      </p:sp>
      <p:sp>
        <p:nvSpPr>
          <p:cNvPr id="10" name="cerchio FiVolume2"/>
          <p:cNvSpPr/>
          <p:nvPr/>
        </p:nvSpPr>
        <p:spPr>
          <a:xfrm>
            <a:off x="2651760" y="1234440"/>
            <a:ext cx="512064" cy="512064"/>
          </a:xfrm>
          <a:prstGeom prst="ellipse">
            <a:avLst/>
          </a:prstGeom>
          <a:solidFill>
            <a:schemeClr val="accent1"/>
          </a:solidFill>
          <a:ln/>
        </p:spPr>
      </p:sp>
      <p:pic>
        <p:nvPicPr>
          <p:cNvPr id="11" name="Image 1" descr="FiVolume2">    </p:cNvPr>
          <p:cNvPicPr>
            <a:picLocks noChangeAspect="1"/>
          </p:cNvPicPr>
          <p:nvPr/>
        </p:nvPicPr>
        <p:blipFill>
          <a:blip r:embed="rId2"/>
          <a:stretch>
            <a:fillRect/>
          </a:stretch>
        </p:blipFill>
        <p:spPr>
          <a:xfrm>
            <a:off x="2779776" y="1362456"/>
            <a:ext cx="256032" cy="256032"/>
          </a:xfrm>
          <a:prstGeom prst="rect">
            <a:avLst/>
          </a:prstGeom>
        </p:spPr>
      </p:pic>
      <p:sp>
        <p:nvSpPr>
          <p:cNvPr id="12" name="Text 7"/>
          <p:cNvSpPr txBox="1"/>
          <p:nvPr/>
        </p:nvSpPr>
        <p:spPr>
          <a:xfrm>
            <a:off x="2231136" y="1828800"/>
            <a:ext cx="1353312" cy="502920"/>
          </a:xfrm>
          <a:prstGeom prst="rect">
            <a:avLst/>
          </a:prstGeom>
          <a:noFill/>
          <a:ln/>
        </p:spPr>
        <p:txBody>
          <a:bodyPr wrap="square" lIns="0" tIns="0" rIns="0" bIns="0" rtlCol="0" anchor="ctr"/>
          <a:lstStyle/>
          <a:p>
            <a:pPr algn="ctr" indent="0" marL="0">
              <a:buNone/>
            </a:pPr>
            <a:r>
              <a:rPr lang="en-US" sz="1300" b="1" dirty="0">
                <a:solidFill>
                  <a:schemeClr val="tx1"/>
                </a:solidFill>
              </a:rPr>
              <a:t>Tono o registro</a:t>
            </a:r>
            <a:endParaRPr lang="en-US" sz="1300" dirty="0"/>
          </a:p>
        </p:txBody>
      </p:sp>
      <p:sp>
        <p:nvSpPr>
          <p:cNvPr id="13" name="Text 8"/>
          <p:cNvSpPr txBox="1"/>
          <p:nvPr/>
        </p:nvSpPr>
        <p:spPr>
          <a:xfrm>
            <a:off x="2249424" y="2377440"/>
            <a:ext cx="1316736" cy="868680"/>
          </a:xfrm>
          <a:prstGeom prst="rect">
            <a:avLst/>
          </a:prstGeom>
          <a:noFill/>
          <a:ln/>
        </p:spPr>
        <p:txBody>
          <a:bodyPr wrap="square" lIns="0" tIns="0" rIns="0" bIns="0" rtlCol="0" anchor="t"/>
          <a:lstStyle/>
          <a:p>
            <a:pPr algn="ctr" indent="0" marL="0">
              <a:buNone/>
            </a:pPr>
            <a:r>
              <a:rPr lang="en-US" sz="1100" dirty="0">
                <a:solidFill>
                  <a:schemeClr val="tx2"/>
                </a:solidFill>
              </a:rPr>
              <a:t>È adatto al destinatario?</a:t>
            </a:r>
            <a:endParaRPr lang="en-US" sz="1100" dirty="0"/>
          </a:p>
        </p:txBody>
      </p:sp>
      <p:sp>
        <p:nvSpPr>
          <p:cNvPr id="14" name="Struttura o formato"/>
          <p:cNvSpPr/>
          <p:nvPr/>
        </p:nvSpPr>
        <p:spPr>
          <a:xfrm>
            <a:off x="3822192" y="1097280"/>
            <a:ext cx="1536192" cy="2286000"/>
          </a:xfrm>
          <a:prstGeom prst="roundRect">
            <a:avLst>
              <a:gd name="adj" fmla="val 4762"/>
            </a:avLst>
          </a:prstGeom>
          <a:solidFill>
            <a:schemeClr val="bg2"/>
          </a:solidFill>
          <a:ln/>
        </p:spPr>
      </p:sp>
      <p:sp>
        <p:nvSpPr>
          <p:cNvPr id="15" name="cerchio FiLayout"/>
          <p:cNvSpPr/>
          <p:nvPr/>
        </p:nvSpPr>
        <p:spPr>
          <a:xfrm>
            <a:off x="4334256" y="1234440"/>
            <a:ext cx="512064" cy="512064"/>
          </a:xfrm>
          <a:prstGeom prst="ellipse">
            <a:avLst/>
          </a:prstGeom>
          <a:solidFill>
            <a:schemeClr val="accent1"/>
          </a:solidFill>
          <a:ln/>
        </p:spPr>
      </p:sp>
      <p:pic>
        <p:nvPicPr>
          <p:cNvPr id="16" name="Image 2" descr="FiLayout">    </p:cNvPr>
          <p:cNvPicPr>
            <a:picLocks noChangeAspect="1"/>
          </p:cNvPicPr>
          <p:nvPr/>
        </p:nvPicPr>
        <p:blipFill>
          <a:blip r:embed="rId3"/>
          <a:stretch>
            <a:fillRect/>
          </a:stretch>
        </p:blipFill>
        <p:spPr>
          <a:xfrm>
            <a:off x="4462272" y="1362456"/>
            <a:ext cx="256032" cy="256032"/>
          </a:xfrm>
          <a:prstGeom prst="rect">
            <a:avLst/>
          </a:prstGeom>
        </p:spPr>
      </p:pic>
      <p:sp>
        <p:nvSpPr>
          <p:cNvPr id="17" name="Text 11"/>
          <p:cNvSpPr txBox="1"/>
          <p:nvPr/>
        </p:nvSpPr>
        <p:spPr>
          <a:xfrm>
            <a:off x="3913632" y="1828800"/>
            <a:ext cx="1353312" cy="502920"/>
          </a:xfrm>
          <a:prstGeom prst="rect">
            <a:avLst/>
          </a:prstGeom>
          <a:noFill/>
          <a:ln/>
        </p:spPr>
        <p:txBody>
          <a:bodyPr wrap="square" lIns="0" tIns="0" rIns="0" bIns="0" rtlCol="0" anchor="ctr"/>
          <a:lstStyle/>
          <a:p>
            <a:pPr algn="ctr" indent="0" marL="0">
              <a:buNone/>
            </a:pPr>
            <a:r>
              <a:rPr lang="en-US" sz="1300" b="1" dirty="0">
                <a:solidFill>
                  <a:schemeClr val="tx1"/>
                </a:solidFill>
              </a:rPr>
              <a:t>Struttura o formato</a:t>
            </a:r>
            <a:endParaRPr lang="en-US" sz="1300" dirty="0"/>
          </a:p>
        </p:txBody>
      </p:sp>
      <p:sp>
        <p:nvSpPr>
          <p:cNvPr id="18" name="Text 12"/>
          <p:cNvSpPr txBox="1"/>
          <p:nvPr/>
        </p:nvSpPr>
        <p:spPr>
          <a:xfrm>
            <a:off x="3931920" y="2377440"/>
            <a:ext cx="1316736" cy="868680"/>
          </a:xfrm>
          <a:prstGeom prst="rect">
            <a:avLst/>
          </a:prstGeom>
          <a:noFill/>
          <a:ln/>
        </p:spPr>
        <p:txBody>
          <a:bodyPr wrap="square" lIns="0" tIns="0" rIns="0" bIns="0" rtlCol="0" anchor="t"/>
          <a:lstStyle/>
          <a:p>
            <a:pPr algn="ctr" indent="0" marL="0">
              <a:buNone/>
            </a:pPr>
            <a:r>
              <a:rPr lang="en-US" sz="1100" dirty="0">
                <a:solidFill>
                  <a:schemeClr val="tx2"/>
                </a:solidFill>
              </a:rPr>
              <a:t>Serve per l'uso successivo?</a:t>
            </a:r>
            <a:endParaRPr lang="en-US" sz="1100" dirty="0"/>
          </a:p>
        </p:txBody>
      </p:sp>
      <p:sp>
        <p:nvSpPr>
          <p:cNvPr id="19" name="Livello di dettaglio"/>
          <p:cNvSpPr/>
          <p:nvPr/>
        </p:nvSpPr>
        <p:spPr>
          <a:xfrm>
            <a:off x="5504688" y="1097280"/>
            <a:ext cx="1536192" cy="2286000"/>
          </a:xfrm>
          <a:prstGeom prst="roundRect">
            <a:avLst>
              <a:gd name="adj" fmla="val 4762"/>
            </a:avLst>
          </a:prstGeom>
          <a:solidFill>
            <a:schemeClr val="bg2"/>
          </a:solidFill>
          <a:ln/>
        </p:spPr>
      </p:sp>
      <p:sp>
        <p:nvSpPr>
          <p:cNvPr id="20" name="cerchio FiZoomIn"/>
          <p:cNvSpPr/>
          <p:nvPr/>
        </p:nvSpPr>
        <p:spPr>
          <a:xfrm>
            <a:off x="6016752" y="1234440"/>
            <a:ext cx="512064" cy="512064"/>
          </a:xfrm>
          <a:prstGeom prst="ellipse">
            <a:avLst/>
          </a:prstGeom>
          <a:solidFill>
            <a:schemeClr val="accent1"/>
          </a:solidFill>
          <a:ln/>
        </p:spPr>
      </p:sp>
      <p:pic>
        <p:nvPicPr>
          <p:cNvPr id="21" name="Image 3" descr="FiZoomIn">    </p:cNvPr>
          <p:cNvPicPr>
            <a:picLocks noChangeAspect="1"/>
          </p:cNvPicPr>
          <p:nvPr/>
        </p:nvPicPr>
        <p:blipFill>
          <a:blip r:embed="rId4"/>
          <a:stretch>
            <a:fillRect/>
          </a:stretch>
        </p:blipFill>
        <p:spPr>
          <a:xfrm>
            <a:off x="6144768" y="1362456"/>
            <a:ext cx="256032" cy="256032"/>
          </a:xfrm>
          <a:prstGeom prst="rect">
            <a:avLst/>
          </a:prstGeom>
        </p:spPr>
      </p:pic>
      <p:sp>
        <p:nvSpPr>
          <p:cNvPr id="22" name="Text 15"/>
          <p:cNvSpPr txBox="1"/>
          <p:nvPr/>
        </p:nvSpPr>
        <p:spPr>
          <a:xfrm>
            <a:off x="5596128" y="1828800"/>
            <a:ext cx="1353312" cy="502920"/>
          </a:xfrm>
          <a:prstGeom prst="rect">
            <a:avLst/>
          </a:prstGeom>
          <a:noFill/>
          <a:ln/>
        </p:spPr>
        <p:txBody>
          <a:bodyPr wrap="square" lIns="0" tIns="0" rIns="0" bIns="0" rtlCol="0" anchor="ctr"/>
          <a:lstStyle/>
          <a:p>
            <a:pPr algn="ctr" indent="0" marL="0">
              <a:buNone/>
            </a:pPr>
            <a:r>
              <a:rPr lang="en-US" sz="1300" b="1" dirty="0">
                <a:solidFill>
                  <a:schemeClr val="tx1"/>
                </a:solidFill>
              </a:rPr>
              <a:t>Livello di dettaglio</a:t>
            </a:r>
            <a:endParaRPr lang="en-US" sz="1300" dirty="0"/>
          </a:p>
        </p:txBody>
      </p:sp>
      <p:sp>
        <p:nvSpPr>
          <p:cNvPr id="23" name="Text 16"/>
          <p:cNvSpPr txBox="1"/>
          <p:nvPr/>
        </p:nvSpPr>
        <p:spPr>
          <a:xfrm>
            <a:off x="5614416" y="2377440"/>
            <a:ext cx="1316736" cy="868680"/>
          </a:xfrm>
          <a:prstGeom prst="rect">
            <a:avLst/>
          </a:prstGeom>
          <a:noFill/>
          <a:ln/>
        </p:spPr>
        <p:txBody>
          <a:bodyPr wrap="square" lIns="0" tIns="0" rIns="0" bIns="0" rtlCol="0" anchor="t"/>
          <a:lstStyle/>
          <a:p>
            <a:pPr algn="ctr" indent="0" marL="0">
              <a:buNone/>
            </a:pPr>
            <a:r>
              <a:rPr lang="en-US" sz="1100" dirty="0">
                <a:solidFill>
                  <a:schemeClr val="tx2"/>
                </a:solidFill>
              </a:rPr>
              <a:t>Troppo generico o troppo minuzioso?</a:t>
            </a:r>
            <a:endParaRPr lang="en-US" sz="1100" dirty="0"/>
          </a:p>
        </p:txBody>
      </p:sp>
      <p:sp>
        <p:nvSpPr>
          <p:cNvPr id="24" name="Interpretazione"/>
          <p:cNvSpPr/>
          <p:nvPr/>
        </p:nvSpPr>
        <p:spPr>
          <a:xfrm>
            <a:off x="7187184" y="1097280"/>
            <a:ext cx="1536192" cy="2286000"/>
          </a:xfrm>
          <a:prstGeom prst="roundRect">
            <a:avLst>
              <a:gd name="adj" fmla="val 4762"/>
            </a:avLst>
          </a:prstGeom>
          <a:solidFill>
            <a:schemeClr val="accent6"/>
          </a:solidFill>
          <a:ln/>
        </p:spPr>
      </p:sp>
      <p:sp>
        <p:nvSpPr>
          <p:cNvPr id="25" name="cerchio FiCompass"/>
          <p:cNvSpPr/>
          <p:nvPr/>
        </p:nvSpPr>
        <p:spPr>
          <a:xfrm>
            <a:off x="7699248" y="1234440"/>
            <a:ext cx="512064" cy="512064"/>
          </a:xfrm>
          <a:prstGeom prst="ellipse">
            <a:avLst/>
          </a:prstGeom>
          <a:solidFill>
            <a:schemeClr val="accent1"/>
          </a:solidFill>
          <a:ln/>
        </p:spPr>
      </p:sp>
      <p:pic>
        <p:nvPicPr>
          <p:cNvPr id="26" name="Image 4" descr="FiCompass">    </p:cNvPr>
          <p:cNvPicPr>
            <a:picLocks noChangeAspect="1"/>
          </p:cNvPicPr>
          <p:nvPr/>
        </p:nvPicPr>
        <p:blipFill>
          <a:blip r:embed="rId5"/>
          <a:stretch>
            <a:fillRect/>
          </a:stretch>
        </p:blipFill>
        <p:spPr>
          <a:xfrm>
            <a:off x="7827264" y="1362456"/>
            <a:ext cx="256032" cy="256032"/>
          </a:xfrm>
          <a:prstGeom prst="rect">
            <a:avLst/>
          </a:prstGeom>
        </p:spPr>
      </p:pic>
      <p:sp>
        <p:nvSpPr>
          <p:cNvPr id="27" name="Text 19"/>
          <p:cNvSpPr txBox="1"/>
          <p:nvPr/>
        </p:nvSpPr>
        <p:spPr>
          <a:xfrm>
            <a:off x="7278624" y="1828800"/>
            <a:ext cx="1353312" cy="502920"/>
          </a:xfrm>
          <a:prstGeom prst="rect">
            <a:avLst/>
          </a:prstGeom>
          <a:noFill/>
          <a:ln/>
        </p:spPr>
        <p:txBody>
          <a:bodyPr wrap="square" lIns="0" tIns="0" rIns="0" bIns="0" rtlCol="0" anchor="ctr"/>
          <a:lstStyle/>
          <a:p>
            <a:pPr algn="ctr" indent="0" marL="0">
              <a:buNone/>
            </a:pPr>
            <a:r>
              <a:rPr lang="en-US" sz="1300" b="1" dirty="0">
                <a:solidFill>
                  <a:schemeClr val="tx1"/>
                </a:solidFill>
              </a:rPr>
              <a:t>Interpretazione</a:t>
            </a:r>
            <a:endParaRPr lang="en-US" sz="1300" dirty="0"/>
          </a:p>
        </p:txBody>
      </p:sp>
      <p:sp>
        <p:nvSpPr>
          <p:cNvPr id="28" name="Text 20"/>
          <p:cNvSpPr txBox="1"/>
          <p:nvPr/>
        </p:nvSpPr>
        <p:spPr>
          <a:xfrm>
            <a:off x="7296912" y="2377440"/>
            <a:ext cx="1316736" cy="868680"/>
          </a:xfrm>
          <a:prstGeom prst="rect">
            <a:avLst/>
          </a:prstGeom>
          <a:noFill/>
          <a:ln/>
        </p:spPr>
        <p:txBody>
          <a:bodyPr wrap="square" lIns="0" tIns="0" rIns="0" bIns="0" rtlCol="0" anchor="t"/>
          <a:lstStyle/>
          <a:p>
            <a:pPr algn="ctr" indent="0" marL="0">
              <a:buNone/>
            </a:pPr>
            <a:r>
              <a:rPr lang="en-US" sz="1100" dirty="0">
                <a:solidFill>
                  <a:schemeClr val="tx2"/>
                </a:solidFill>
              </a:rPr>
              <a:t>Il compito è stato capito?</a:t>
            </a:r>
            <a:endParaRPr lang="en-US" sz="1100" dirty="0"/>
          </a:p>
        </p:txBody>
      </p:sp>
      <p:sp>
        <p:nvSpPr>
          <p:cNvPr id="29" name="messaggio"/>
          <p:cNvSpPr/>
          <p:nvPr/>
        </p:nvSpPr>
        <p:spPr>
          <a:xfrm>
            <a:off x="457200" y="3566160"/>
            <a:ext cx="8229600" cy="548640"/>
          </a:xfrm>
          <a:prstGeom prst="roundRect">
            <a:avLst>
              <a:gd name="adj" fmla="val 13333"/>
            </a:avLst>
          </a:prstGeom>
          <a:solidFill>
            <a:schemeClr val="tx1"/>
          </a:solidFill>
          <a:ln/>
        </p:spPr>
      </p:sp>
      <p:sp>
        <p:nvSpPr>
          <p:cNvPr id="30" name="Text 22"/>
          <p:cNvSpPr txBox="1"/>
          <p:nvPr/>
        </p:nvSpPr>
        <p:spPr>
          <a:xfrm>
            <a:off x="640080" y="3566160"/>
            <a:ext cx="7863840" cy="548640"/>
          </a:xfrm>
          <a:prstGeom prst="rect">
            <a:avLst/>
          </a:prstGeom>
          <a:noFill/>
          <a:ln/>
        </p:spPr>
        <p:txBody>
          <a:bodyPr wrap="square" lIns="0" tIns="0" rIns="0" bIns="0" rtlCol="0" anchor="ctr"/>
          <a:lstStyle/>
          <a:p>
            <a:pPr indent="0" marL="0">
              <a:buNone/>
            </a:pPr>
            <a:r>
              <a:rPr lang="en-US" sz="1300" dirty="0">
                <a:solidFill>
                  <a:schemeClr val="bg1"/>
                </a:solidFill>
              </a:rPr>
              <a:t>Il metro di valutazione sono l'obiettivo e i criteri di successo definiti all'inizio.</a:t>
            </a:r>
            <a:endParaRPr lang="en-US" sz="1300" dirty="0"/>
          </a:p>
        </p:txBody>
      </p:sp>
      <p:sp>
        <p:nvSpPr>
          <p:cNvPr id="31" name="Text 23"/>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200" i="1" dirty="0">
                <a:solidFill>
                  <a:schemeClr val="tx2"/>
                </a:solidFill>
              </a:rPr>
              <a:t>Se il compito è stato frainteso, spesso conviene riformulare la richiesta invece di correggere il risultato.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Feedback efficaci</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gridCol w="5852160"/>
              </a:tblGrid>
              <a:tr h="566928">
                <a:tc>
                  <a:txBody>
                    <a:bodyPr/>
                    <a:lstStyle/>
                    <a:p>
                      <a:pPr indent="0" marL="0">
                        <a:buNone/>
                      </a:pPr>
                      <a:r>
                        <a:rPr lang="en-US" sz="1200" b="1" dirty="0">
                          <a:solidFill>
                            <a:schemeClr val="bg1"/>
                          </a:solidFill>
                        </a:rPr>
                        <a:t>Feedback generico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Feedback efficace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566928">
                <a:tc>
                  <a:txBody>
                    <a:bodyPr/>
                    <a:lstStyle/>
                    <a:p>
                      <a:pPr indent="0" marL="0">
                        <a:buNone/>
                      </a:pPr>
                      <a:r>
                        <a:rPr lang="en-US" sz="1200" b="1" dirty="0">
                          <a:solidFill>
                            <a:schemeClr val="tx1"/>
                          </a:solidFill>
                        </a:rPr>
                        <a:t>"Troppo lungo"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"Riduci a metà: elimina gli esempi, mantieni le tre raccomandazioni"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66928">
                <a:tc>
                  <a:txBody>
                    <a:bodyPr/>
                    <a:lstStyle/>
                    <a:p>
                      <a:pPr indent="0" marL="0">
                        <a:buNone/>
                      </a:pPr>
                      <a:r>
                        <a:rPr lang="en-US" sz="1200" b="1" dirty="0">
                          <a:solidFill>
                            <a:schemeClr val="tx1"/>
                          </a:solidFill>
                        </a:rPr>
                        <a:t>"Non è professionale"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"Tono più formale: niente espressioni colloquiali, prima persona plurale"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66928">
                <a:tc>
                  <a:txBody>
                    <a:bodyPr/>
                    <a:lstStyle/>
                    <a:p>
                      <a:pPr indent="0" marL="0">
                        <a:buNone/>
                      </a:pPr>
                      <a:r>
                        <a:rPr lang="en-US" sz="1200" b="1" dirty="0">
                          <a:solidFill>
                            <a:schemeClr val="tx1"/>
                          </a:solidFill>
                        </a:rPr>
                        <a:t>"Manca qualcosa"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"Aggiungi un paragrafo sui tempi di attuazione, il punto più importante per la direzione"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66928">
                <a:tc>
                  <a:txBody>
                    <a:bodyPr/>
                    <a:lstStyle/>
                    <a:p>
                      <a:pPr indent="0" marL="0">
                        <a:buNone/>
                      </a:pPr>
                      <a:r>
                        <a:rPr lang="en-US" sz="1200" b="1" dirty="0">
                          <a:solidFill>
                            <a:schemeClr val="tx1"/>
                          </a:solidFill>
                        </a:rPr>
                        <a:t>"Miglioralo"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"Mantieni struttura e introduzione; rendi la conclusione più concreta"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blocco Specifico: che cosa e dove"/>
          <p:cNvSpPr/>
          <p:nvPr/>
        </p:nvSpPr>
        <p:spPr>
          <a:xfrm>
            <a:off x="457200" y="4069080"/>
            <a:ext cx="1975104" cy="457200"/>
          </a:xfrm>
          <a:prstGeom prst="roundRect">
            <a:avLst>
              <a:gd name="adj" fmla="val 24000"/>
            </a:avLst>
          </a:prstGeom>
          <a:solidFill>
            <a:schemeClr val="accent6"/>
          </a:solidFill>
          <a:ln/>
        </p:spPr>
      </p:sp>
      <p:sp>
        <p:nvSpPr>
          <p:cNvPr id="6" name="Text 2"/>
          <p:cNvSpPr txBox="1"/>
          <p:nvPr/>
        </p:nvSpPr>
        <p:spPr>
          <a:xfrm>
            <a:off x="502920" y="4069080"/>
            <a:ext cx="1883664" cy="457200"/>
          </a:xfrm>
          <a:prstGeom prst="rect">
            <a:avLst/>
          </a:prstGeom>
          <a:noFill/>
          <a:ln/>
        </p:spPr>
        <p:txBody>
          <a:bodyPr wrap="square" lIns="0" tIns="0" rIns="0" bIns="0" rtlCol="0" anchor="ctr"/>
          <a:lstStyle/>
          <a:p>
            <a:pPr algn="ctr" indent="0" marL="0">
              <a:buNone/>
            </a:pPr>
            <a:r>
              <a:rPr lang="en-US" sz="1100" b="1" dirty="0">
                <a:solidFill>
                  <a:schemeClr val="tx1"/>
                </a:solidFill>
              </a:rPr>
              <a:t>Specifico: che cosa e dove</a:t>
            </a:r>
            <a:endParaRPr lang="en-US" sz="1100" dirty="0"/>
          </a:p>
        </p:txBody>
      </p:sp>
      <p:sp>
        <p:nvSpPr>
          <p:cNvPr id="7" name="blocco Motivato: perché"/>
          <p:cNvSpPr/>
          <p:nvPr/>
        </p:nvSpPr>
        <p:spPr>
          <a:xfrm>
            <a:off x="2542032" y="4069080"/>
            <a:ext cx="1975104" cy="457200"/>
          </a:xfrm>
          <a:prstGeom prst="roundRect">
            <a:avLst>
              <a:gd name="adj" fmla="val 24000"/>
            </a:avLst>
          </a:prstGeom>
          <a:solidFill>
            <a:schemeClr val="accent6"/>
          </a:solidFill>
          <a:ln/>
        </p:spPr>
      </p:sp>
      <p:sp>
        <p:nvSpPr>
          <p:cNvPr id="8" name="Text 4"/>
          <p:cNvSpPr txBox="1"/>
          <p:nvPr/>
        </p:nvSpPr>
        <p:spPr>
          <a:xfrm>
            <a:off x="2587752" y="4069080"/>
            <a:ext cx="1883664" cy="457200"/>
          </a:xfrm>
          <a:prstGeom prst="rect">
            <a:avLst/>
          </a:prstGeom>
          <a:noFill/>
          <a:ln/>
        </p:spPr>
        <p:txBody>
          <a:bodyPr wrap="square" lIns="0" tIns="0" rIns="0" bIns="0" rtlCol="0" anchor="ctr"/>
          <a:lstStyle/>
          <a:p>
            <a:pPr algn="ctr" indent="0" marL="0">
              <a:buNone/>
            </a:pPr>
            <a:r>
              <a:rPr lang="en-US" sz="1100" b="1" dirty="0">
                <a:solidFill>
                  <a:schemeClr val="tx1"/>
                </a:solidFill>
              </a:rPr>
              <a:t>Motivato: perché</a:t>
            </a:r>
            <a:endParaRPr lang="en-US" sz="1100" dirty="0"/>
          </a:p>
        </p:txBody>
      </p:sp>
      <p:sp>
        <p:nvSpPr>
          <p:cNvPr id="9" name="blocco Costruttivo: in che direzione"/>
          <p:cNvSpPr/>
          <p:nvPr/>
        </p:nvSpPr>
        <p:spPr>
          <a:xfrm>
            <a:off x="4626864" y="4069080"/>
            <a:ext cx="1975104" cy="457200"/>
          </a:xfrm>
          <a:prstGeom prst="roundRect">
            <a:avLst>
              <a:gd name="adj" fmla="val 24000"/>
            </a:avLst>
          </a:prstGeom>
          <a:solidFill>
            <a:schemeClr val="accent6"/>
          </a:solidFill>
          <a:ln/>
        </p:spPr>
      </p:sp>
      <p:sp>
        <p:nvSpPr>
          <p:cNvPr id="10" name="Text 6"/>
          <p:cNvSpPr txBox="1"/>
          <p:nvPr/>
        </p:nvSpPr>
        <p:spPr>
          <a:xfrm>
            <a:off x="4672584" y="4069080"/>
            <a:ext cx="1883664" cy="457200"/>
          </a:xfrm>
          <a:prstGeom prst="rect">
            <a:avLst/>
          </a:prstGeom>
          <a:noFill/>
          <a:ln/>
        </p:spPr>
        <p:txBody>
          <a:bodyPr wrap="square" lIns="0" tIns="0" rIns="0" bIns="0" rtlCol="0" anchor="ctr"/>
          <a:lstStyle/>
          <a:p>
            <a:pPr algn="ctr" indent="0" marL="0">
              <a:buNone/>
            </a:pPr>
            <a:r>
              <a:rPr lang="en-US" sz="1100" b="1" dirty="0">
                <a:solidFill>
                  <a:schemeClr val="tx1"/>
                </a:solidFill>
              </a:rPr>
              <a:t>Costruttivo: in che direzione</a:t>
            </a:r>
            <a:endParaRPr lang="en-US" sz="1100" dirty="0"/>
          </a:p>
        </p:txBody>
      </p:sp>
      <p:sp>
        <p:nvSpPr>
          <p:cNvPr id="11" name="blocco Dire anche che cosa mantenere"/>
          <p:cNvSpPr/>
          <p:nvPr/>
        </p:nvSpPr>
        <p:spPr>
          <a:xfrm>
            <a:off x="6711696" y="4069080"/>
            <a:ext cx="1975104" cy="457200"/>
          </a:xfrm>
          <a:prstGeom prst="roundRect">
            <a:avLst>
              <a:gd name="adj" fmla="val 24000"/>
            </a:avLst>
          </a:prstGeom>
          <a:solidFill>
            <a:schemeClr val="accent6"/>
          </a:solidFill>
          <a:ln/>
        </p:spPr>
      </p:sp>
      <p:sp>
        <p:nvSpPr>
          <p:cNvPr id="12" name="Text 8"/>
          <p:cNvSpPr txBox="1"/>
          <p:nvPr/>
        </p:nvSpPr>
        <p:spPr>
          <a:xfrm>
            <a:off x="6757416" y="4069080"/>
            <a:ext cx="1883664" cy="457200"/>
          </a:xfrm>
          <a:prstGeom prst="rect">
            <a:avLst/>
          </a:prstGeom>
          <a:noFill/>
          <a:ln/>
        </p:spPr>
        <p:txBody>
          <a:bodyPr wrap="square" lIns="0" tIns="0" rIns="0" bIns="0" rtlCol="0" anchor="ctr"/>
          <a:lstStyle/>
          <a:p>
            <a:pPr algn="ctr" indent="0" marL="0">
              <a:buNone/>
            </a:pPr>
            <a:r>
              <a:rPr lang="en-US" sz="1100" b="1" dirty="0">
                <a:solidFill>
                  <a:schemeClr val="tx1"/>
                </a:solidFill>
              </a:rPr>
              <a:t>Dire anche che cosa mantenere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Raffinare, approfondire, riformulare</a:t>
            </a:r>
            <a:endParaRPr lang="en-US" sz="2600" dirty="0"/>
          </a:p>
        </p:txBody>
      </p:sp>
      <p:sp>
        <p:nvSpPr>
          <p:cNvPr id="4" name="scheda Raffinare"/>
          <p:cNvSpPr/>
          <p:nvPr/>
        </p:nvSpPr>
        <p:spPr>
          <a:xfrm>
            <a:off x="457200" y="1097280"/>
            <a:ext cx="2615184" cy="2743200"/>
          </a:xfrm>
          <a:prstGeom prst="roundRect">
            <a:avLst>
              <a:gd name="adj" fmla="val 2797"/>
            </a:avLst>
          </a:prstGeom>
          <a:solidFill>
            <a:schemeClr val="bg2"/>
          </a:solidFill>
          <a:ln/>
        </p:spPr>
      </p:sp>
      <p:sp>
        <p:nvSpPr>
          <p:cNvPr id="5" name="cerchio FiSliders"/>
          <p:cNvSpPr/>
          <p:nvPr/>
        </p:nvSpPr>
        <p:spPr>
          <a:xfrm>
            <a:off x="640080" y="1280160"/>
            <a:ext cx="457200" cy="457200"/>
          </a:xfrm>
          <a:prstGeom prst="ellipse">
            <a:avLst/>
          </a:prstGeom>
          <a:solidFill>
            <a:schemeClr val="accent1"/>
          </a:solidFill>
          <a:ln/>
        </p:spPr>
      </p:sp>
      <p:pic>
        <p:nvPicPr>
          <p:cNvPr id="6" name="Image 0" descr="FiSliders">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indent="0" marL="0">
              <a:buNone/>
            </a:pPr>
            <a:r>
              <a:rPr lang="en-US" sz="1600" b="1" dirty="0">
                <a:solidFill>
                  <a:schemeClr val="tx1"/>
                </a:solidFill>
              </a:rPr>
              <a:t>Raffinare</a:t>
            </a:r>
            <a:endParaRPr lang="en-US" sz="1600" dirty="0"/>
          </a:p>
        </p:txBody>
      </p:sp>
      <p:sp>
        <p:nvSpPr>
          <p:cNvPr id="8" name="Text 4"/>
          <p:cNvSpPr txBox="1"/>
          <p:nvPr/>
        </p:nvSpPr>
        <p:spPr>
          <a:xfrm>
            <a:off x="640080" y="2231136"/>
            <a:ext cx="2249424" cy="1499616"/>
          </a:xfrm>
          <a:prstGeom prst="rect">
            <a:avLst/>
          </a:prstGeom>
          <a:noFill/>
          <a:ln/>
        </p:spPr>
        <p:txBody>
          <a:bodyPr wrap="square" lIns="0" tIns="0" rIns="0" bIns="0" rtlCol="0" anchor="t"/>
          <a:lstStyle/>
          <a:p>
            <a:pPr indent="0" marL="0">
              <a:spcAft>
                <a:spcPts val="1000"/>
              </a:spcAft>
              <a:buNone/>
            </a:pPr>
            <a:r>
              <a:rPr lang="en-US" sz="1200" b="1" dirty="0">
                <a:solidFill>
                  <a:schemeClr val="tx1"/>
                </a:solidFill>
              </a:rPr>
              <a:t>Aggiungere i requisiti emersi dai risultati</a:t>
            </a:r>
            <a:endParaRPr lang="en-US" sz="1200" dirty="0"/>
          </a:p>
          <a:p>
            <a:pPr indent="0" marL="0">
              <a:buNone/>
            </a:pPr>
            <a:r>
              <a:rPr lang="en-US" sz="1200" i="1" dirty="0">
                <a:solidFill>
                  <a:schemeClr val="tx2"/>
                </a:solidFill>
              </a:rPr>
              <a:t>"Non citare i concorrenti; inizia dai benefici per il cliente."</a:t>
            </a:r>
            <a:endParaRPr lang="en-US" sz="1200" dirty="0"/>
          </a:p>
        </p:txBody>
      </p:sp>
      <p:sp>
        <p:nvSpPr>
          <p:cNvPr id="9" name="scheda Approfondire"/>
          <p:cNvSpPr/>
          <p:nvPr/>
        </p:nvSpPr>
        <p:spPr>
          <a:xfrm>
            <a:off x="3264408" y="1097280"/>
            <a:ext cx="2615184" cy="2743200"/>
          </a:xfrm>
          <a:prstGeom prst="roundRect">
            <a:avLst>
              <a:gd name="adj" fmla="val 2797"/>
            </a:avLst>
          </a:prstGeom>
          <a:solidFill>
            <a:schemeClr val="bg2"/>
          </a:solidFill>
          <a:ln/>
        </p:spPr>
      </p:sp>
      <p:sp>
        <p:nvSpPr>
          <p:cNvPr id="10" name="cerchio FiZoomIn"/>
          <p:cNvSpPr/>
          <p:nvPr/>
        </p:nvSpPr>
        <p:spPr>
          <a:xfrm>
            <a:off x="3447288" y="1280160"/>
            <a:ext cx="457200" cy="457200"/>
          </a:xfrm>
          <a:prstGeom prst="ellipse">
            <a:avLst/>
          </a:prstGeom>
          <a:solidFill>
            <a:schemeClr val="accent1"/>
          </a:solidFill>
          <a:ln/>
        </p:spPr>
      </p:sp>
      <p:pic>
        <p:nvPicPr>
          <p:cNvPr id="11" name="Image 1" descr="FiZoomIn">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indent="0" marL="0">
              <a:buNone/>
            </a:pPr>
            <a:r>
              <a:rPr lang="en-US" sz="1600" b="1" dirty="0">
                <a:solidFill>
                  <a:schemeClr val="tx1"/>
                </a:solidFill>
              </a:rPr>
              <a:t>Approfondire</a:t>
            </a:r>
            <a:endParaRPr lang="en-US" sz="1600" dirty="0"/>
          </a:p>
        </p:txBody>
      </p:sp>
      <p:sp>
        <p:nvSpPr>
          <p:cNvPr id="13" name="Text 8"/>
          <p:cNvSpPr txBox="1"/>
          <p:nvPr/>
        </p:nvSpPr>
        <p:spPr>
          <a:xfrm>
            <a:off x="3447288" y="2231136"/>
            <a:ext cx="2249424" cy="1499616"/>
          </a:xfrm>
          <a:prstGeom prst="rect">
            <a:avLst/>
          </a:prstGeom>
          <a:noFill/>
          <a:ln/>
        </p:spPr>
        <p:txBody>
          <a:bodyPr wrap="square" lIns="0" tIns="0" rIns="0" bIns="0" rtlCol="0" anchor="t"/>
          <a:lstStyle/>
          <a:p>
            <a:pPr indent="0" marL="0">
              <a:spcAft>
                <a:spcPts val="1000"/>
              </a:spcAft>
              <a:buNone/>
            </a:pPr>
            <a:r>
              <a:rPr lang="en-US" sz="1200" b="1" dirty="0">
                <a:solidFill>
                  <a:schemeClr val="tx1"/>
                </a:solidFill>
              </a:rPr>
              <a:t>Sviluppare un punto, aggiungere dettagli o spiegazioni</a:t>
            </a:r>
            <a:endParaRPr lang="en-US" sz="1200" dirty="0"/>
          </a:p>
          <a:p>
            <a:pPr indent="0" marL="0">
              <a:buNone/>
            </a:pPr>
            <a:r>
              <a:rPr lang="en-US" sz="1200" i="1" dirty="0">
                <a:solidFill>
                  <a:schemeClr val="tx2"/>
                </a:solidFill>
              </a:rPr>
              <a:t>"Sviluppa il secondo punto con un esempio concreto."</a:t>
            </a:r>
            <a:endParaRPr lang="en-US" sz="1200" dirty="0"/>
          </a:p>
        </p:txBody>
      </p:sp>
      <p:sp>
        <p:nvSpPr>
          <p:cNvPr id="14" name="scheda Riformulare"/>
          <p:cNvSpPr/>
          <p:nvPr/>
        </p:nvSpPr>
        <p:spPr>
          <a:xfrm>
            <a:off x="6071616" y="1097280"/>
            <a:ext cx="2615184" cy="2743200"/>
          </a:xfrm>
          <a:prstGeom prst="roundRect">
            <a:avLst>
              <a:gd name="adj" fmla="val 2797"/>
            </a:avLst>
          </a:prstGeom>
          <a:solidFill>
            <a:schemeClr val="bg2"/>
          </a:solidFill>
          <a:ln/>
        </p:spPr>
      </p:sp>
      <p:sp>
        <p:nvSpPr>
          <p:cNvPr id="15" name="cerchio FiRepeat"/>
          <p:cNvSpPr/>
          <p:nvPr/>
        </p:nvSpPr>
        <p:spPr>
          <a:xfrm>
            <a:off x="6254496" y="1280160"/>
            <a:ext cx="457200" cy="457200"/>
          </a:xfrm>
          <a:prstGeom prst="ellipse">
            <a:avLst/>
          </a:prstGeom>
          <a:solidFill>
            <a:schemeClr val="accent1"/>
          </a:solidFill>
          <a:ln/>
        </p:spPr>
      </p:sp>
      <p:pic>
        <p:nvPicPr>
          <p:cNvPr id="16" name="Image 2" descr="FiRepeat">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indent="0" marL="0">
              <a:buNone/>
            </a:pPr>
            <a:r>
              <a:rPr lang="en-US" sz="1600" b="1" dirty="0">
                <a:solidFill>
                  <a:schemeClr val="tx1"/>
                </a:solidFill>
              </a:rPr>
              <a:t>Riformulare</a:t>
            </a:r>
            <a:endParaRPr lang="en-US" sz="1600" dirty="0"/>
          </a:p>
        </p:txBody>
      </p:sp>
      <p:sp>
        <p:nvSpPr>
          <p:cNvPr id="18" name="Text 12"/>
          <p:cNvSpPr txBox="1"/>
          <p:nvPr/>
        </p:nvSpPr>
        <p:spPr>
          <a:xfrm>
            <a:off x="6254496" y="2231136"/>
            <a:ext cx="2249424" cy="1499616"/>
          </a:xfrm>
          <a:prstGeom prst="rect">
            <a:avLst/>
          </a:prstGeom>
          <a:noFill/>
          <a:ln/>
        </p:spPr>
        <p:txBody>
          <a:bodyPr wrap="square" lIns="0" tIns="0" rIns="0" bIns="0" rtlCol="0" anchor="t"/>
          <a:lstStyle/>
          <a:p>
            <a:pPr indent="0" marL="0">
              <a:spcAft>
                <a:spcPts val="1000"/>
              </a:spcAft>
              <a:buNone/>
            </a:pPr>
            <a:r>
              <a:rPr lang="en-US" sz="1200" b="1" dirty="0">
                <a:solidFill>
                  <a:schemeClr val="tx1"/>
                </a:solidFill>
              </a:rPr>
              <a:t>Riscrivere per altro pubblico o struttura; correggere la richiesta</a:t>
            </a:r>
            <a:endParaRPr lang="en-US" sz="1200" dirty="0"/>
          </a:p>
          <a:p>
            <a:pPr indent="0" marL="0">
              <a:buNone/>
            </a:pPr>
            <a:r>
              <a:rPr lang="en-US" sz="1200" i="1" dirty="0">
                <a:solidFill>
                  <a:schemeClr val="tx2"/>
                </a:solidFill>
              </a:rPr>
              <a:t>"Riscrivilo per i colleghi del magazzino."</a:t>
            </a:r>
            <a:endParaRPr lang="en-US" sz="1200" dirty="0"/>
          </a:p>
        </p:txBody>
      </p:sp>
      <p:sp>
        <p:nvSpPr>
          <p:cNvPr id="19" name="messaggio"/>
          <p:cNvSpPr/>
          <p:nvPr/>
        </p:nvSpPr>
        <p:spPr>
          <a:xfrm>
            <a:off x="457200" y="3977640"/>
            <a:ext cx="8229600" cy="548640"/>
          </a:xfrm>
          <a:prstGeom prst="roundRect">
            <a:avLst>
              <a:gd name="adj" fmla="val 13333"/>
            </a:avLst>
          </a:prstGeom>
          <a:solidFill>
            <a:schemeClr val="tx1"/>
          </a:solidFill>
          <a:ln/>
        </p:spPr>
      </p:sp>
      <p:sp>
        <p:nvSpPr>
          <p:cNvPr id="20" name="Text 1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I requisiti emersi in un dialogo si annotano e si includono la volta successiva, o nel template (6.8).</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Continuare o ricominciare</a:t>
            </a:r>
            <a:endParaRPr lang="en-US" sz="2600" dirty="0"/>
          </a:p>
        </p:txBody>
      </p:sp>
      <p:sp>
        <p:nvSpPr>
          <p:cNvPr id="4" name="scheda Continuare"/>
          <p:cNvSpPr/>
          <p:nvPr/>
        </p:nvSpPr>
        <p:spPr>
          <a:xfrm>
            <a:off x="457200" y="1097280"/>
            <a:ext cx="3977640" cy="2560320"/>
          </a:xfrm>
          <a:prstGeom prst="roundRect">
            <a:avLst>
              <a:gd name="adj" fmla="val 2857"/>
            </a:avLst>
          </a:prstGeom>
          <a:solidFill>
            <a:schemeClr val="accent6"/>
          </a:solidFill>
          <a:ln/>
        </p:spPr>
      </p:sp>
      <p:sp>
        <p:nvSpPr>
          <p:cNvPr id="5" name="cerchio FiArrowRight"/>
          <p:cNvSpPr/>
          <p:nvPr/>
        </p:nvSpPr>
        <p:spPr>
          <a:xfrm>
            <a:off x="640080" y="1280160"/>
            <a:ext cx="457200" cy="457200"/>
          </a:xfrm>
          <a:prstGeom prst="ellipse">
            <a:avLst/>
          </a:prstGeom>
          <a:solidFill>
            <a:schemeClr val="accent1"/>
          </a:solidFill>
          <a:ln/>
        </p:spPr>
      </p:sp>
      <p:pic>
        <p:nvPicPr>
          <p:cNvPr id="6" name="Image 0" descr="FiArrowRigh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Continuare</a:t>
            </a:r>
            <a:endParaRPr lang="en-US" sz="1600" dirty="0"/>
          </a:p>
        </p:txBody>
      </p:sp>
      <p:sp>
        <p:nvSpPr>
          <p:cNvPr id="8" name="Text 4"/>
          <p:cNvSpPr txBox="1"/>
          <p:nvPr/>
        </p:nvSpPr>
        <p:spPr>
          <a:xfrm>
            <a:off x="640080" y="2231136"/>
            <a:ext cx="3611880" cy="131673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Il risultato si sta avvicinando</a:t>
            </a:r>
            <a:endParaRPr lang="en-US" sz="1300" dirty="0"/>
          </a:p>
          <a:p>
            <a:pPr marL="177800" indent="-177800">
              <a:spcAft>
                <a:spcPts val="400"/>
              </a:spcAft>
              <a:buSzPct val="100000"/>
              <a:buChar char="•"/>
            </a:pPr>
            <a:r>
              <a:rPr lang="en-US" sz="1300" dirty="0">
                <a:solidFill>
                  <a:schemeClr val="tx2"/>
                </a:solidFill>
              </a:rPr>
              <a:t>Le correzioni sono puntuali</a:t>
            </a:r>
            <a:endParaRPr lang="en-US" sz="1300" dirty="0"/>
          </a:p>
          <a:p>
            <a:pPr marL="177800" indent="-177800">
              <a:spcAft>
                <a:spcPts val="400"/>
              </a:spcAft>
              <a:buSzPct val="100000"/>
              <a:buChar char="•"/>
            </a:pPr>
            <a:r>
              <a:rPr lang="en-US" sz="1300" dirty="0">
                <a:solidFill>
                  <a:schemeClr val="tx2"/>
                </a:solidFill>
              </a:rPr>
              <a:t>Il contesto accumulato è utile</a:t>
            </a:r>
            <a:endParaRPr lang="en-US" sz="1300" dirty="0"/>
          </a:p>
        </p:txBody>
      </p:sp>
      <p:sp>
        <p:nvSpPr>
          <p:cNvPr id="9" name="scheda Ricominciare"/>
          <p:cNvSpPr/>
          <p:nvPr/>
        </p:nvSpPr>
        <p:spPr>
          <a:xfrm>
            <a:off x="4709160" y="1097280"/>
            <a:ext cx="3977640" cy="2560320"/>
          </a:xfrm>
          <a:prstGeom prst="roundRect">
            <a:avLst>
              <a:gd name="adj" fmla="val 2857"/>
            </a:avLst>
          </a:prstGeom>
          <a:solidFill>
            <a:schemeClr val="bg2"/>
          </a:solidFill>
          <a:ln/>
        </p:spPr>
      </p:sp>
      <p:sp>
        <p:nvSpPr>
          <p:cNvPr id="10" name="cerchio FiRefreshCw"/>
          <p:cNvSpPr/>
          <p:nvPr/>
        </p:nvSpPr>
        <p:spPr>
          <a:xfrm>
            <a:off x="4892040" y="1280160"/>
            <a:ext cx="457200" cy="457200"/>
          </a:xfrm>
          <a:prstGeom prst="ellipse">
            <a:avLst/>
          </a:prstGeom>
          <a:solidFill>
            <a:schemeClr val="accent1"/>
          </a:solidFill>
          <a:ln/>
        </p:spPr>
      </p:sp>
      <p:pic>
        <p:nvPicPr>
          <p:cNvPr id="11" name="Image 1" descr="FiRefreshCw">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Ricominciare</a:t>
            </a:r>
            <a:endParaRPr lang="en-US" sz="1600" dirty="0"/>
          </a:p>
        </p:txBody>
      </p:sp>
      <p:sp>
        <p:nvSpPr>
          <p:cNvPr id="13" name="Text 8"/>
          <p:cNvSpPr txBox="1"/>
          <p:nvPr/>
        </p:nvSpPr>
        <p:spPr>
          <a:xfrm>
            <a:off x="4892040" y="2231136"/>
            <a:ext cx="3611880" cy="131673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Più iterazioni senza miglioramenti</a:t>
            </a:r>
            <a:endParaRPr lang="en-US" sz="1300" dirty="0"/>
          </a:p>
          <a:p>
            <a:pPr marL="177800" indent="-177800">
              <a:spcAft>
                <a:spcPts val="300"/>
              </a:spcAft>
              <a:buSzPct val="100000"/>
              <a:buChar char="•"/>
            </a:pPr>
            <a:r>
              <a:rPr lang="en-US" sz="1300" dirty="0">
                <a:solidFill>
                  <a:schemeClr val="tx2"/>
                </a:solidFill>
              </a:rPr>
              <a:t>Lo stesso errore si ripete</a:t>
            </a:r>
            <a:endParaRPr lang="en-US" sz="1300" dirty="0"/>
          </a:p>
          <a:p>
            <a:pPr marL="177800" indent="-177800">
              <a:spcAft>
                <a:spcPts val="300"/>
              </a:spcAft>
              <a:buSzPct val="100000"/>
              <a:buChar char="•"/>
            </a:pPr>
            <a:r>
              <a:rPr lang="en-US" sz="1300" dirty="0">
                <a:solidFill>
                  <a:schemeClr val="tx2"/>
                </a:solidFill>
              </a:rPr>
              <a:t>La richiesta iniziale era impostata male</a:t>
            </a:r>
            <a:endParaRPr lang="en-US" sz="1300" dirty="0"/>
          </a:p>
          <a:p>
            <a:pPr marL="177800" indent="-177800">
              <a:spcAft>
                <a:spcPts val="300"/>
              </a:spcAft>
              <a:buSzPct val="100000"/>
              <a:buChar char="•"/>
            </a:pPr>
            <a:r>
              <a:rPr lang="en-US" sz="1300" dirty="0">
                <a:solidFill>
                  <a:schemeClr val="tx2"/>
                </a:solidFill>
              </a:rPr>
              <a:t>Conversazione lunga e confusa</a:t>
            </a:r>
            <a:endParaRPr lang="en-US" sz="1300" dirty="0"/>
          </a:p>
        </p:txBody>
      </p:sp>
      <p:sp>
        <p:nvSpPr>
          <p:cNvPr id="14" name="messaggio"/>
          <p:cNvSpPr/>
          <p:nvPr/>
        </p:nvSpPr>
        <p:spPr>
          <a:xfrm>
            <a:off x="457200" y="3794760"/>
            <a:ext cx="8229600" cy="731520"/>
          </a:xfrm>
          <a:prstGeom prst="roundRect">
            <a:avLst>
              <a:gd name="adj" fmla="val 10000"/>
            </a:avLst>
          </a:prstGeom>
          <a:solidFill>
            <a:schemeClr val="tx1"/>
          </a:solidFill>
          <a:ln/>
        </p:spPr>
      </p:sp>
      <p:sp>
        <p:nvSpPr>
          <p:cNvPr id="15" name="Text 10"/>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Ricominciare con una richiesta che incorpora ciò che si è imparato: requisiti, errori da evitare, parti migliori.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Aderenza e correttezza</a:t>
            </a:r>
            <a:endParaRPr lang="en-US" sz="2600" dirty="0"/>
          </a:p>
        </p:txBody>
      </p:sp>
      <p:sp>
        <p:nvSpPr>
          <p:cNvPr id="4" name="aderenza"/>
          <p:cNvSpPr/>
          <p:nvPr/>
        </p:nvSpPr>
        <p:spPr>
          <a:xfrm>
            <a:off x="457200" y="1097280"/>
            <a:ext cx="3977640" cy="2514600"/>
          </a:xfrm>
          <a:prstGeom prst="roundRect">
            <a:avLst>
              <a:gd name="adj" fmla="val 2909"/>
            </a:avLst>
          </a:prstGeom>
          <a:solidFill>
            <a:schemeClr val="accent6"/>
          </a:solidFill>
          <a:ln/>
        </p:spPr>
      </p:sp>
      <p:sp>
        <p:nvSpPr>
          <p:cNvPr id="5" name="cerchio FiTarget"/>
          <p:cNvSpPr/>
          <p:nvPr/>
        </p:nvSpPr>
        <p:spPr>
          <a:xfrm>
            <a:off x="640080" y="1234440"/>
            <a:ext cx="475488" cy="475488"/>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8952" y="1353312"/>
            <a:ext cx="237744" cy="237744"/>
          </a:xfrm>
          <a:prstGeom prst="rect">
            <a:avLst/>
          </a:prstGeom>
        </p:spPr>
      </p:pic>
      <p:sp>
        <p:nvSpPr>
          <p:cNvPr id="7" name="Text 3"/>
          <p:cNvSpPr txBox="1"/>
          <p:nvPr/>
        </p:nvSpPr>
        <p:spPr>
          <a:xfrm>
            <a:off x="1234440" y="1234440"/>
            <a:ext cx="3017520" cy="475488"/>
          </a:xfrm>
          <a:prstGeom prst="rect">
            <a:avLst/>
          </a:prstGeom>
          <a:noFill/>
          <a:ln/>
        </p:spPr>
        <p:txBody>
          <a:bodyPr wrap="square" lIns="0" tIns="0" rIns="0" bIns="0" rtlCol="0" anchor="ctr"/>
          <a:lstStyle/>
          <a:p>
            <a:pPr indent="0" marL="0">
              <a:buNone/>
            </a:pPr>
            <a:r>
              <a:rPr lang="en-US" sz="1800" b="1" dirty="0">
                <a:solidFill>
                  <a:schemeClr val="accent1"/>
                </a:solidFill>
              </a:rPr>
              <a:t>Aderenza</a:t>
            </a:r>
            <a:endParaRPr lang="en-US" sz="1800" dirty="0"/>
          </a:p>
        </p:txBody>
      </p:sp>
      <p:sp>
        <p:nvSpPr>
          <p:cNvPr id="8" name="Text 4"/>
          <p:cNvSpPr txBox="1"/>
          <p:nvPr/>
        </p:nvSpPr>
        <p:spPr>
          <a:xfrm>
            <a:off x="640080" y="1874520"/>
            <a:ext cx="3611880" cy="868680"/>
          </a:xfrm>
          <a:prstGeom prst="rect">
            <a:avLst/>
          </a:prstGeom>
          <a:noFill/>
          <a:ln/>
        </p:spPr>
        <p:txBody>
          <a:bodyPr wrap="square" lIns="0" tIns="0" rIns="0" bIns="0" rtlCol="0" anchor="t"/>
          <a:lstStyle/>
          <a:p>
            <a:pPr indent="0" marL="0">
              <a:buNone/>
            </a:pPr>
            <a:r>
              <a:rPr lang="en-US" sz="1300" dirty="0">
                <a:solidFill>
                  <a:schemeClr val="tx1"/>
                </a:solidFill>
              </a:rPr>
              <a:t>Il risultato corrisponde a ciò che è stato chiesto: tono, formato, struttura, contenuti indicati.</a:t>
            </a:r>
            <a:endParaRPr lang="en-US" sz="1300" dirty="0"/>
          </a:p>
        </p:txBody>
      </p:sp>
      <p:sp>
        <p:nvSpPr>
          <p:cNvPr id="9" name="Text 5"/>
          <p:cNvSpPr txBox="1"/>
          <p:nvPr/>
        </p:nvSpPr>
        <p:spPr>
          <a:xfrm>
            <a:off x="640080" y="2926080"/>
            <a:ext cx="3611880" cy="365760"/>
          </a:xfrm>
          <a:prstGeom prst="rect">
            <a:avLst/>
          </a:prstGeom>
          <a:noFill/>
          <a:ln/>
        </p:spPr>
        <p:txBody>
          <a:bodyPr wrap="square" lIns="0" tIns="0" rIns="0" bIns="0" rtlCol="0" anchor="t"/>
          <a:lstStyle/>
          <a:p>
            <a:pPr indent="0" marL="0">
              <a:buNone/>
            </a:pPr>
            <a:r>
              <a:rPr lang="en-US" sz="1300" b="1" dirty="0">
                <a:solidFill>
                  <a:schemeClr val="accent1"/>
                </a:solidFill>
              </a:rPr>
              <a:t>Il dialogo la migliora molto.</a:t>
            </a:r>
            <a:endParaRPr lang="en-US" sz="1300" dirty="0"/>
          </a:p>
        </p:txBody>
      </p:sp>
      <p:sp>
        <p:nvSpPr>
          <p:cNvPr id="10" name="correttezza"/>
          <p:cNvSpPr/>
          <p:nvPr/>
        </p:nvSpPr>
        <p:spPr>
          <a:xfrm>
            <a:off x="4709160" y="1097280"/>
            <a:ext cx="3977640" cy="2514600"/>
          </a:xfrm>
          <a:prstGeom prst="roundRect">
            <a:avLst>
              <a:gd name="adj" fmla="val 2909"/>
            </a:avLst>
          </a:prstGeom>
          <a:solidFill>
            <a:schemeClr val="tx1"/>
          </a:solidFill>
          <a:ln/>
        </p:spPr>
      </p:sp>
      <p:sp>
        <p:nvSpPr>
          <p:cNvPr id="11" name="cerchio FiCheckCircle"/>
          <p:cNvSpPr/>
          <p:nvPr/>
        </p:nvSpPr>
        <p:spPr>
          <a:xfrm>
            <a:off x="4892040" y="1234440"/>
            <a:ext cx="475488" cy="475488"/>
          </a:xfrm>
          <a:prstGeom prst="ellipse">
            <a:avLst/>
          </a:prstGeom>
          <a:solidFill>
            <a:schemeClr val="accent1"/>
          </a:solidFill>
          <a:ln/>
        </p:spPr>
      </p:sp>
      <p:pic>
        <p:nvPicPr>
          <p:cNvPr id="12" name="Image 1" descr="FiCheckCircle">    </p:cNvPr>
          <p:cNvPicPr>
            <a:picLocks noChangeAspect="1"/>
          </p:cNvPicPr>
          <p:nvPr/>
        </p:nvPicPr>
        <p:blipFill>
          <a:blip r:embed="rId2"/>
          <a:stretch>
            <a:fillRect/>
          </a:stretch>
        </p:blipFill>
        <p:spPr>
          <a:xfrm>
            <a:off x="5010912" y="1353312"/>
            <a:ext cx="237744" cy="237744"/>
          </a:xfrm>
          <a:prstGeom prst="rect">
            <a:avLst/>
          </a:prstGeom>
        </p:spPr>
      </p:pic>
      <p:sp>
        <p:nvSpPr>
          <p:cNvPr id="13" name="Text 8"/>
          <p:cNvSpPr txBox="1"/>
          <p:nvPr/>
        </p:nvSpPr>
        <p:spPr>
          <a:xfrm>
            <a:off x="5486400" y="1234440"/>
            <a:ext cx="3017520" cy="475488"/>
          </a:xfrm>
          <a:prstGeom prst="rect">
            <a:avLst/>
          </a:prstGeom>
          <a:noFill/>
          <a:ln/>
        </p:spPr>
        <p:txBody>
          <a:bodyPr wrap="square" lIns="0" tIns="0" rIns="0" bIns="0" rtlCol="0" anchor="ctr"/>
          <a:lstStyle/>
          <a:p>
            <a:pPr indent="0" marL="0">
              <a:buNone/>
            </a:pPr>
            <a:r>
              <a:rPr lang="en-US" sz="1800" b="1" dirty="0">
                <a:solidFill>
                  <a:schemeClr val="bg1"/>
                </a:solidFill>
              </a:rPr>
              <a:t>Correttezza</a:t>
            </a:r>
            <a:endParaRPr lang="en-US" sz="1800" dirty="0"/>
          </a:p>
        </p:txBody>
      </p:sp>
      <p:sp>
        <p:nvSpPr>
          <p:cNvPr id="14" name="Text 9"/>
          <p:cNvSpPr txBox="1"/>
          <p:nvPr/>
        </p:nvSpPr>
        <p:spPr>
          <a:xfrm>
            <a:off x="4892040" y="1874520"/>
            <a:ext cx="3611880" cy="868680"/>
          </a:xfrm>
          <a:prstGeom prst="rect">
            <a:avLst/>
          </a:prstGeom>
          <a:noFill/>
          <a:ln/>
        </p:spPr>
        <p:txBody>
          <a:bodyPr wrap="square" lIns="0" tIns="0" rIns="0" bIns="0" rtlCol="0" anchor="t"/>
          <a:lstStyle/>
          <a:p>
            <a:pPr indent="0" marL="0">
              <a:buNone/>
            </a:pPr>
            <a:r>
              <a:rPr lang="en-US" sz="1300" dirty="0">
                <a:solidFill>
                  <a:schemeClr val="accent3"/>
                </a:solidFill>
              </a:rPr>
              <a:t>I contenuti corrispondono ai fatti: dati, nomi, date, riferimenti, ragionamenti.</a:t>
            </a:r>
            <a:endParaRPr lang="en-US" sz="1300" dirty="0"/>
          </a:p>
        </p:txBody>
      </p:sp>
      <p:sp>
        <p:nvSpPr>
          <p:cNvPr id="15" name="Text 10"/>
          <p:cNvSpPr txBox="1"/>
          <p:nvPr/>
        </p:nvSpPr>
        <p:spPr>
          <a:xfrm>
            <a:off x="4892040" y="2926080"/>
            <a:ext cx="3611880" cy="365760"/>
          </a:xfrm>
          <a:prstGeom prst="rect">
            <a:avLst/>
          </a:prstGeom>
          <a:noFill/>
          <a:ln/>
        </p:spPr>
        <p:txBody>
          <a:bodyPr wrap="square" lIns="0" tIns="0" rIns="0" bIns="0" rtlCol="0" anchor="t"/>
          <a:lstStyle/>
          <a:p>
            <a:pPr indent="0" marL="0">
              <a:buNone/>
            </a:pPr>
            <a:r>
              <a:rPr lang="en-US" sz="1300" b="1" dirty="0">
                <a:solidFill>
                  <a:schemeClr val="accent1"/>
                </a:solidFill>
              </a:rPr>
              <a:t>Si controlla in una fase distinta.</a:t>
            </a:r>
            <a:endParaRPr lang="en-US" sz="1300" dirty="0"/>
          </a:p>
        </p:txBody>
      </p:sp>
      <p:sp>
        <p:nvSpPr>
          <p:cNvPr id="16" name="messaggio"/>
          <p:cNvSpPr/>
          <p:nvPr/>
        </p:nvSpPr>
        <p:spPr>
          <a:xfrm>
            <a:off x="457200" y="3749040"/>
            <a:ext cx="8229600" cy="777240"/>
          </a:xfrm>
          <a:prstGeom prst="roundRect">
            <a:avLst>
              <a:gd name="adj" fmla="val 9412"/>
            </a:avLst>
          </a:prstGeom>
          <a:solidFill>
            <a:schemeClr val="tx1"/>
          </a:solidFill>
          <a:ln/>
        </p:spPr>
      </p:sp>
      <p:sp>
        <p:nvSpPr>
          <p:cNvPr id="17" name="Text 12"/>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00" dirty="0">
                <a:solidFill>
                  <a:schemeClr val="bg1"/>
                </a:solidFill>
              </a:rPr>
              <a:t>Quando il contenuto conta, controllare dati, fonti e passaggi chiave, in proporzione all'importanza del compito.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6.6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Guidare il formato e la struttura degli output</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forma giusta rende il risultato subito utilizzabile nelle attività successive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Scegliere il formato in base all'uso</a:t>
            </a:r>
            <a:endParaRPr lang="en-US" sz="2600" dirty="0"/>
          </a:p>
        </p:txBody>
      </p:sp>
      <p:sp>
        <p:nvSpPr>
          <p:cNvPr id="4" name="Testo strutturato"/>
          <p:cNvSpPr/>
          <p:nvPr/>
        </p:nvSpPr>
        <p:spPr>
          <a:xfrm>
            <a:off x="457200" y="1097280"/>
            <a:ext cx="2621280" cy="1028700"/>
          </a:xfrm>
          <a:prstGeom prst="roundRect">
            <a:avLst>
              <a:gd name="adj" fmla="val 7111"/>
            </a:avLst>
          </a:prstGeom>
          <a:solidFill>
            <a:schemeClr val="bg2"/>
          </a:solidFill>
          <a:ln/>
        </p:spPr>
      </p:sp>
      <p:sp>
        <p:nvSpPr>
          <p:cNvPr id="5" name="cerchio FiAlignLeft"/>
          <p:cNvSpPr/>
          <p:nvPr/>
        </p:nvSpPr>
        <p:spPr>
          <a:xfrm>
            <a:off x="621792" y="1261872"/>
            <a:ext cx="438912" cy="438912"/>
          </a:xfrm>
          <a:prstGeom prst="ellipse">
            <a:avLst/>
          </a:prstGeom>
          <a:solidFill>
            <a:schemeClr val="accent1"/>
          </a:solidFill>
          <a:ln/>
        </p:spPr>
      </p:sp>
      <p:pic>
        <p:nvPicPr>
          <p:cNvPr id="6" name="Image 0" descr="FiAlignLeft">    </p:cNvPr>
          <p:cNvPicPr>
            <a:picLocks noChangeAspect="1"/>
          </p:cNvPicPr>
          <p:nvPr/>
        </p:nvPicPr>
        <p:blipFill>
          <a:blip r:embed="rId1"/>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Testo strutturato</a:t>
            </a:r>
            <a:endParaRPr lang="en-US" sz="1300" dirty="0"/>
          </a:p>
        </p:txBody>
      </p:sp>
      <p:sp>
        <p:nvSpPr>
          <p:cNvPr id="8" name="Text 4"/>
          <p:cNvSpPr txBox="1"/>
          <p:nvPr/>
        </p:nvSpPr>
        <p:spPr>
          <a:xfrm>
            <a:off x="621792" y="1810512"/>
            <a:ext cx="2292096" cy="224028"/>
          </a:xfrm>
          <a:prstGeom prst="rect">
            <a:avLst/>
          </a:prstGeom>
          <a:noFill/>
          <a:ln/>
        </p:spPr>
        <p:txBody>
          <a:bodyPr wrap="square" lIns="0" tIns="0" rIns="0" bIns="0" rtlCol="0" anchor="t"/>
          <a:lstStyle/>
          <a:p>
            <a:pPr indent="0" marL="0">
              <a:buNone/>
            </a:pPr>
            <a:r>
              <a:rPr lang="en-US" sz="1200" dirty="0">
                <a:solidFill>
                  <a:schemeClr val="tx2"/>
                </a:solidFill>
              </a:rPr>
              <a:t>Documenti, spiegazioni</a:t>
            </a:r>
            <a:endParaRPr lang="en-US" sz="1200" dirty="0"/>
          </a:p>
        </p:txBody>
      </p:sp>
      <p:sp>
        <p:nvSpPr>
          <p:cNvPr id="9" name="Elenchi"/>
          <p:cNvSpPr/>
          <p:nvPr/>
        </p:nvSpPr>
        <p:spPr>
          <a:xfrm>
            <a:off x="3261360" y="1097280"/>
            <a:ext cx="2621280" cy="1028700"/>
          </a:xfrm>
          <a:prstGeom prst="roundRect">
            <a:avLst>
              <a:gd name="adj" fmla="val 7111"/>
            </a:avLst>
          </a:prstGeom>
          <a:solidFill>
            <a:schemeClr val="bg2"/>
          </a:solidFill>
          <a:ln/>
        </p:spPr>
      </p:sp>
      <p:sp>
        <p:nvSpPr>
          <p:cNvPr id="10" name="cerchio FiList"/>
          <p:cNvSpPr/>
          <p:nvPr/>
        </p:nvSpPr>
        <p:spPr>
          <a:xfrm>
            <a:off x="3425952" y="1261872"/>
            <a:ext cx="438912" cy="438912"/>
          </a:xfrm>
          <a:prstGeom prst="ellipse">
            <a:avLst/>
          </a:prstGeom>
          <a:solidFill>
            <a:schemeClr val="accent1"/>
          </a:solidFill>
          <a:ln/>
        </p:spPr>
      </p:sp>
      <p:pic>
        <p:nvPicPr>
          <p:cNvPr id="11" name="Image 1" descr="FiList">    </p:cNvPr>
          <p:cNvPicPr>
            <a:picLocks noChangeAspect="1"/>
          </p:cNvPicPr>
          <p:nvPr/>
        </p:nvPicPr>
        <p:blipFill>
          <a:blip r:embed="rId2"/>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Elenchi</a:t>
            </a:r>
            <a:endParaRPr lang="en-US" sz="1300" dirty="0"/>
          </a:p>
        </p:txBody>
      </p:sp>
      <p:sp>
        <p:nvSpPr>
          <p:cNvPr id="13" name="Text 8"/>
          <p:cNvSpPr txBox="1"/>
          <p:nvPr/>
        </p:nvSpPr>
        <p:spPr>
          <a:xfrm>
            <a:off x="3425952" y="1810512"/>
            <a:ext cx="2292096" cy="224028"/>
          </a:xfrm>
          <a:prstGeom prst="rect">
            <a:avLst/>
          </a:prstGeom>
          <a:noFill/>
          <a:ln/>
        </p:spPr>
        <p:txBody>
          <a:bodyPr wrap="square" lIns="0" tIns="0" rIns="0" bIns="0" rtlCol="0" anchor="t"/>
          <a:lstStyle/>
          <a:p>
            <a:pPr indent="0" marL="0">
              <a:buNone/>
            </a:pPr>
            <a:r>
              <a:rPr lang="en-US" sz="1200" dirty="0">
                <a:solidFill>
                  <a:schemeClr val="tx2"/>
                </a:solidFill>
              </a:rPr>
              <a:t>Passaggi, requisiti, sintesi</a:t>
            </a:r>
            <a:endParaRPr lang="en-US" sz="1200" dirty="0"/>
          </a:p>
        </p:txBody>
      </p:sp>
      <p:sp>
        <p:nvSpPr>
          <p:cNvPr id="14" name="Tabelle"/>
          <p:cNvSpPr/>
          <p:nvPr/>
        </p:nvSpPr>
        <p:spPr>
          <a:xfrm>
            <a:off x="6065520" y="1097280"/>
            <a:ext cx="2621280" cy="1028700"/>
          </a:xfrm>
          <a:prstGeom prst="roundRect">
            <a:avLst>
              <a:gd name="adj" fmla="val 7111"/>
            </a:avLst>
          </a:prstGeom>
          <a:solidFill>
            <a:schemeClr val="bg2"/>
          </a:solidFill>
          <a:ln/>
        </p:spPr>
      </p:sp>
      <p:sp>
        <p:nvSpPr>
          <p:cNvPr id="15" name="cerchio FiGrid"/>
          <p:cNvSpPr/>
          <p:nvPr/>
        </p:nvSpPr>
        <p:spPr>
          <a:xfrm>
            <a:off x="6230112" y="1261872"/>
            <a:ext cx="438912" cy="438912"/>
          </a:xfrm>
          <a:prstGeom prst="ellipse">
            <a:avLst/>
          </a:prstGeom>
          <a:solidFill>
            <a:schemeClr val="accent1"/>
          </a:solidFill>
          <a:ln/>
        </p:spPr>
      </p:sp>
      <p:pic>
        <p:nvPicPr>
          <p:cNvPr id="16" name="Image 2" descr="FiGrid">    </p:cNvPr>
          <p:cNvPicPr>
            <a:picLocks noChangeAspect="1"/>
          </p:cNvPicPr>
          <p:nvPr/>
        </p:nvPicPr>
        <p:blipFill>
          <a:blip r:embed="rId3"/>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Tabelle</a:t>
            </a:r>
            <a:endParaRPr lang="en-US" sz="1300" dirty="0"/>
          </a:p>
        </p:txBody>
      </p:sp>
      <p:sp>
        <p:nvSpPr>
          <p:cNvPr id="18" name="Text 12"/>
          <p:cNvSpPr txBox="1"/>
          <p:nvPr/>
        </p:nvSpPr>
        <p:spPr>
          <a:xfrm>
            <a:off x="6230112" y="1810512"/>
            <a:ext cx="2292096" cy="224028"/>
          </a:xfrm>
          <a:prstGeom prst="rect">
            <a:avLst/>
          </a:prstGeom>
          <a:noFill/>
          <a:ln/>
        </p:spPr>
        <p:txBody>
          <a:bodyPr wrap="square" lIns="0" tIns="0" rIns="0" bIns="0" rtlCol="0" anchor="t"/>
          <a:lstStyle/>
          <a:p>
            <a:pPr indent="0" marL="0">
              <a:buNone/>
            </a:pPr>
            <a:r>
              <a:rPr lang="en-US" sz="1200" dirty="0">
                <a:solidFill>
                  <a:schemeClr val="tx2"/>
                </a:solidFill>
              </a:rPr>
              <a:t>Confronti, dati con più attributi</a:t>
            </a:r>
            <a:endParaRPr lang="en-US" sz="1200" dirty="0"/>
          </a:p>
        </p:txBody>
      </p:sp>
      <p:sp>
        <p:nvSpPr>
          <p:cNvPr id="19" name="Schemi"/>
          <p:cNvSpPr/>
          <p:nvPr/>
        </p:nvSpPr>
        <p:spPr>
          <a:xfrm>
            <a:off x="457200" y="2308860"/>
            <a:ext cx="2621280" cy="1028700"/>
          </a:xfrm>
          <a:prstGeom prst="roundRect">
            <a:avLst>
              <a:gd name="adj" fmla="val 7111"/>
            </a:avLst>
          </a:prstGeom>
          <a:solidFill>
            <a:schemeClr val="bg2"/>
          </a:solidFill>
          <a:ln/>
        </p:spPr>
      </p:sp>
      <p:sp>
        <p:nvSpPr>
          <p:cNvPr id="20" name="cerchio FiGitBranch"/>
          <p:cNvSpPr/>
          <p:nvPr/>
        </p:nvSpPr>
        <p:spPr>
          <a:xfrm>
            <a:off x="621792" y="2473452"/>
            <a:ext cx="438912" cy="438912"/>
          </a:xfrm>
          <a:prstGeom prst="ellipse">
            <a:avLst/>
          </a:prstGeom>
          <a:solidFill>
            <a:schemeClr val="accent1"/>
          </a:solidFill>
          <a:ln/>
        </p:spPr>
      </p:sp>
      <p:pic>
        <p:nvPicPr>
          <p:cNvPr id="21" name="Image 3" descr="FiGitBranch">    </p:cNvPr>
          <p:cNvPicPr>
            <a:picLocks noChangeAspect="1"/>
          </p:cNvPicPr>
          <p:nvPr/>
        </p:nvPicPr>
        <p:blipFill>
          <a:blip r:embed="rId4"/>
          <a:stretch>
            <a:fillRect/>
          </a:stretch>
        </p:blipFill>
        <p:spPr>
          <a:xfrm>
            <a:off x="731520" y="2583180"/>
            <a:ext cx="219456" cy="219456"/>
          </a:xfrm>
          <a:prstGeom prst="rect">
            <a:avLst/>
          </a:prstGeom>
        </p:spPr>
      </p:pic>
      <p:sp>
        <p:nvSpPr>
          <p:cNvPr id="22" name="Text 15"/>
          <p:cNvSpPr txBox="1"/>
          <p:nvPr/>
        </p:nvSpPr>
        <p:spPr>
          <a:xfrm>
            <a:off x="1170432" y="24368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Schemi</a:t>
            </a:r>
            <a:endParaRPr lang="en-US" sz="1300" dirty="0"/>
          </a:p>
        </p:txBody>
      </p:sp>
      <p:sp>
        <p:nvSpPr>
          <p:cNvPr id="23" name="Text 16"/>
          <p:cNvSpPr txBox="1"/>
          <p:nvPr/>
        </p:nvSpPr>
        <p:spPr>
          <a:xfrm>
            <a:off x="621792" y="3022092"/>
            <a:ext cx="2292096" cy="224028"/>
          </a:xfrm>
          <a:prstGeom prst="rect">
            <a:avLst/>
          </a:prstGeom>
          <a:noFill/>
          <a:ln/>
        </p:spPr>
        <p:txBody>
          <a:bodyPr wrap="square" lIns="0" tIns="0" rIns="0" bIns="0" rtlCol="0" anchor="t"/>
          <a:lstStyle/>
          <a:p>
            <a:pPr indent="0" marL="0">
              <a:buNone/>
            </a:pPr>
            <a:r>
              <a:rPr lang="en-US" sz="1200" dirty="0">
                <a:solidFill>
                  <a:schemeClr val="tx2"/>
                </a:solidFill>
              </a:rPr>
              <a:t>Sequenze, gerarchie, decisioni</a:t>
            </a:r>
            <a:endParaRPr lang="en-US" sz="1200" dirty="0"/>
          </a:p>
        </p:txBody>
      </p:sp>
      <p:sp>
        <p:nvSpPr>
          <p:cNvPr id="24" name="Documenti professionali"/>
          <p:cNvSpPr/>
          <p:nvPr/>
        </p:nvSpPr>
        <p:spPr>
          <a:xfrm>
            <a:off x="3261360" y="2308860"/>
            <a:ext cx="2621280" cy="1028700"/>
          </a:xfrm>
          <a:prstGeom prst="roundRect">
            <a:avLst>
              <a:gd name="adj" fmla="val 7111"/>
            </a:avLst>
          </a:prstGeom>
          <a:solidFill>
            <a:schemeClr val="bg2"/>
          </a:solidFill>
          <a:ln/>
        </p:spPr>
      </p:sp>
      <p:sp>
        <p:nvSpPr>
          <p:cNvPr id="25" name="cerchio FiFileText"/>
          <p:cNvSpPr/>
          <p:nvPr/>
        </p:nvSpPr>
        <p:spPr>
          <a:xfrm>
            <a:off x="3425952" y="2473452"/>
            <a:ext cx="438912" cy="438912"/>
          </a:xfrm>
          <a:prstGeom prst="ellipse">
            <a:avLst/>
          </a:prstGeom>
          <a:solidFill>
            <a:schemeClr val="accent1"/>
          </a:solidFill>
          <a:ln/>
        </p:spPr>
      </p:sp>
      <p:pic>
        <p:nvPicPr>
          <p:cNvPr id="26" name="Image 4" descr="FiFileText">    </p:cNvPr>
          <p:cNvPicPr>
            <a:picLocks noChangeAspect="1"/>
          </p:cNvPicPr>
          <p:nvPr/>
        </p:nvPicPr>
        <p:blipFill>
          <a:blip r:embed="rId5"/>
          <a:stretch>
            <a:fillRect/>
          </a:stretch>
        </p:blipFill>
        <p:spPr>
          <a:xfrm>
            <a:off x="3535680" y="2583180"/>
            <a:ext cx="219456" cy="219456"/>
          </a:xfrm>
          <a:prstGeom prst="rect">
            <a:avLst/>
          </a:prstGeom>
        </p:spPr>
      </p:pic>
      <p:sp>
        <p:nvSpPr>
          <p:cNvPr id="27" name="Text 19"/>
          <p:cNvSpPr txBox="1"/>
          <p:nvPr/>
        </p:nvSpPr>
        <p:spPr>
          <a:xfrm>
            <a:off x="3974592" y="24368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Documenti professionali</a:t>
            </a:r>
            <a:endParaRPr lang="en-US" sz="1300" dirty="0"/>
          </a:p>
        </p:txBody>
      </p:sp>
      <p:sp>
        <p:nvSpPr>
          <p:cNvPr id="28" name="Text 20"/>
          <p:cNvSpPr txBox="1"/>
          <p:nvPr/>
        </p:nvSpPr>
        <p:spPr>
          <a:xfrm>
            <a:off x="3425952" y="3022092"/>
            <a:ext cx="2292096" cy="224028"/>
          </a:xfrm>
          <a:prstGeom prst="rect">
            <a:avLst/>
          </a:prstGeom>
          <a:noFill/>
          <a:ln/>
        </p:spPr>
        <p:txBody>
          <a:bodyPr wrap="square" lIns="0" tIns="0" rIns="0" bIns="0" rtlCol="0" anchor="t"/>
          <a:lstStyle/>
          <a:p>
            <a:pPr indent="0" marL="0">
              <a:buNone/>
            </a:pPr>
            <a:r>
              <a:rPr lang="en-US" sz="1200" dirty="0">
                <a:solidFill>
                  <a:schemeClr val="tx2"/>
                </a:solidFill>
              </a:rPr>
              <a:t>Sezioni indicate o un modello</a:t>
            </a:r>
            <a:endParaRPr lang="en-US" sz="1200" dirty="0"/>
          </a:p>
        </p:txBody>
      </p:sp>
      <p:sp>
        <p:nvSpPr>
          <p:cNvPr id="29" name="Formati strutturati"/>
          <p:cNvSpPr/>
          <p:nvPr/>
        </p:nvSpPr>
        <p:spPr>
          <a:xfrm>
            <a:off x="6065520" y="2308860"/>
            <a:ext cx="2621280" cy="1028700"/>
          </a:xfrm>
          <a:prstGeom prst="roundRect">
            <a:avLst>
              <a:gd name="adj" fmla="val 7111"/>
            </a:avLst>
          </a:prstGeom>
          <a:solidFill>
            <a:schemeClr val="bg2"/>
          </a:solidFill>
          <a:ln/>
        </p:spPr>
      </p:sp>
      <p:sp>
        <p:nvSpPr>
          <p:cNvPr id="30" name="cerchio FiCode"/>
          <p:cNvSpPr/>
          <p:nvPr/>
        </p:nvSpPr>
        <p:spPr>
          <a:xfrm>
            <a:off x="6230112" y="2473452"/>
            <a:ext cx="438912" cy="438912"/>
          </a:xfrm>
          <a:prstGeom prst="ellipse">
            <a:avLst/>
          </a:prstGeom>
          <a:solidFill>
            <a:schemeClr val="accent1"/>
          </a:solidFill>
          <a:ln/>
        </p:spPr>
      </p:sp>
      <p:pic>
        <p:nvPicPr>
          <p:cNvPr id="31" name="Image 5" descr="FiCode">    </p:cNvPr>
          <p:cNvPicPr>
            <a:picLocks noChangeAspect="1"/>
          </p:cNvPicPr>
          <p:nvPr/>
        </p:nvPicPr>
        <p:blipFill>
          <a:blip r:embed="rId6"/>
          <a:stretch>
            <a:fillRect/>
          </a:stretch>
        </p:blipFill>
        <p:spPr>
          <a:xfrm>
            <a:off x="6339840" y="2583180"/>
            <a:ext cx="219456" cy="219456"/>
          </a:xfrm>
          <a:prstGeom prst="rect">
            <a:avLst/>
          </a:prstGeom>
        </p:spPr>
      </p:pic>
      <p:sp>
        <p:nvSpPr>
          <p:cNvPr id="32" name="Text 23"/>
          <p:cNvSpPr txBox="1"/>
          <p:nvPr/>
        </p:nvSpPr>
        <p:spPr>
          <a:xfrm>
            <a:off x="6778752" y="24368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Formati strutturati</a:t>
            </a:r>
            <a:endParaRPr lang="en-US" sz="1300" dirty="0"/>
          </a:p>
        </p:txBody>
      </p:sp>
      <p:sp>
        <p:nvSpPr>
          <p:cNvPr id="33" name="Text 24"/>
          <p:cNvSpPr txBox="1"/>
          <p:nvPr/>
        </p:nvSpPr>
        <p:spPr>
          <a:xfrm>
            <a:off x="6230112" y="3022092"/>
            <a:ext cx="2292096" cy="224028"/>
          </a:xfrm>
          <a:prstGeom prst="rect">
            <a:avLst/>
          </a:prstGeom>
          <a:noFill/>
          <a:ln/>
        </p:spPr>
        <p:txBody>
          <a:bodyPr wrap="square" lIns="0" tIns="0" rIns="0" bIns="0" rtlCol="0" anchor="t"/>
          <a:lstStyle/>
          <a:p>
            <a:pPr indent="0" marL="0">
              <a:buNone/>
            </a:pPr>
            <a:r>
              <a:rPr lang="en-US" sz="1200" dirty="0">
                <a:solidFill>
                  <a:schemeClr val="tx2"/>
                </a:solidFill>
              </a:rPr>
              <a:t>CSV, JSON per altri programmi</a:t>
            </a:r>
            <a:endParaRPr lang="en-US" sz="1200" dirty="0"/>
          </a:p>
        </p:txBody>
      </p:sp>
      <p:sp>
        <p:nvSpPr>
          <p:cNvPr id="34" name="prompt"/>
          <p:cNvSpPr/>
          <p:nvPr/>
        </p:nvSpPr>
        <p:spPr>
          <a:xfrm>
            <a:off x="457200" y="3474720"/>
            <a:ext cx="5120640" cy="1051560"/>
          </a:xfrm>
          <a:prstGeom prst="roundRect">
            <a:avLst>
              <a:gd name="adj" fmla="val 6957"/>
            </a:avLst>
          </a:prstGeom>
          <a:solidFill>
            <a:schemeClr val="accent6"/>
          </a:solidFill>
          <a:ln/>
        </p:spPr>
      </p:sp>
      <p:sp>
        <p:nvSpPr>
          <p:cNvPr id="35" name="Text 26"/>
          <p:cNvSpPr txBox="1"/>
          <p:nvPr/>
        </p:nvSpPr>
        <p:spPr>
          <a:xfrm>
            <a:off x="621792" y="3566160"/>
            <a:ext cx="4791456" cy="256032"/>
          </a:xfrm>
          <a:prstGeom prst="rect">
            <a:avLst/>
          </a:prstGeom>
          <a:noFill/>
          <a:ln/>
        </p:spPr>
        <p:txBody>
          <a:bodyPr wrap="square" lIns="0" tIns="0" rIns="0" bIns="0" rtlCol="0" anchor="t"/>
          <a:lstStyle/>
          <a:p>
            <a:pPr indent="0" marL="0">
              <a:buNone/>
            </a:pPr>
            <a:r>
              <a:rPr lang="en-US" sz="1100" b="1" dirty="0">
                <a:solidFill>
                  <a:schemeClr val="accent1"/>
                </a:solidFill>
              </a:rPr>
              <a:t>Esempio: struttura di un report</a:t>
            </a:r>
            <a:endParaRPr lang="en-US" sz="1100" dirty="0"/>
          </a:p>
        </p:txBody>
      </p:sp>
      <p:sp>
        <p:nvSpPr>
          <p:cNvPr id="36" name="Text 27"/>
          <p:cNvSpPr txBox="1"/>
          <p:nvPr/>
        </p:nvSpPr>
        <p:spPr>
          <a:xfrm>
            <a:off x="621792" y="3840480"/>
            <a:ext cx="4791456" cy="59436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Struttura: sintesi in tre righe; contesto; analisi; conclusioni; raccomandazioni. Massimo una pagina.</a:t>
            </a:r>
            <a:endParaRPr lang="en-US" sz="1100" dirty="0"/>
          </a:p>
        </p:txBody>
      </p:sp>
      <p:sp>
        <p:nvSpPr>
          <p:cNvPr id="37" name="domanda formato"/>
          <p:cNvSpPr/>
          <p:nvPr/>
        </p:nvSpPr>
        <p:spPr>
          <a:xfrm>
            <a:off x="5760720" y="3474720"/>
            <a:ext cx="2926080" cy="1051560"/>
          </a:xfrm>
          <a:prstGeom prst="roundRect">
            <a:avLst>
              <a:gd name="adj" fmla="val 6957"/>
            </a:avLst>
          </a:prstGeom>
          <a:solidFill>
            <a:schemeClr val="tx1"/>
          </a:solidFill>
          <a:ln/>
        </p:spPr>
      </p:sp>
      <p:sp>
        <p:nvSpPr>
          <p:cNvPr id="38" name="Text 29"/>
          <p:cNvSpPr txBox="1"/>
          <p:nvPr/>
        </p:nvSpPr>
        <p:spPr>
          <a:xfrm>
            <a:off x="5943600" y="3474720"/>
            <a:ext cx="2606040" cy="1051560"/>
          </a:xfrm>
          <a:prstGeom prst="rect">
            <a:avLst/>
          </a:prstGeom>
          <a:noFill/>
          <a:ln/>
        </p:spPr>
        <p:txBody>
          <a:bodyPr wrap="square" lIns="0" tIns="0" rIns="0" bIns="0" rtlCol="0" anchor="ctr"/>
          <a:lstStyle/>
          <a:p>
            <a:pPr indent="0" marL="0">
              <a:buNone/>
            </a:pPr>
            <a:r>
              <a:rPr lang="en-US" sz="1500" b="1" dirty="0">
                <a:solidFill>
                  <a:schemeClr val="bg1"/>
                </a:solidFill>
              </a:rPr>
              <a:t>Che cosa farò con il risultato?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Dettaglio, tono e destinatario</a:t>
            </a:r>
            <a:endParaRPr lang="en-US" sz="2600" dirty="0"/>
          </a:p>
        </p:txBody>
      </p:sp>
      <p:sp>
        <p:nvSpPr>
          <p:cNvPr id="4" name="Text 1"/>
          <p:cNvSpPr txBox="1"/>
          <p:nvPr/>
        </p:nvSpPr>
        <p:spPr>
          <a:xfrm>
            <a:off x="457200" y="1051560"/>
            <a:ext cx="8229600" cy="320040"/>
          </a:xfrm>
          <a:prstGeom prst="rect">
            <a:avLst/>
          </a:prstGeom>
          <a:noFill/>
          <a:ln/>
        </p:spPr>
        <p:txBody>
          <a:bodyPr wrap="square" lIns="0" tIns="0" rIns="0" bIns="0" rtlCol="0" anchor="t"/>
          <a:lstStyle/>
          <a:p>
            <a:pPr indent="0" marL="0">
              <a:buNone/>
            </a:pPr>
            <a:r>
              <a:rPr lang="en-US" sz="1400" b="1" dirty="0">
                <a:solidFill>
                  <a:schemeClr val="tx1"/>
                </a:solidFill>
              </a:rPr>
              <a:t>Stessa informazione: il nuovo software per le note spese</a:t>
            </a:r>
            <a:endParaRPr lang="en-US" sz="1400" dirty="0"/>
          </a:p>
        </p:txBody>
      </p:sp>
      <p:sp>
        <p:nvSpPr>
          <p:cNvPr id="5" name="scheda Direzione"/>
          <p:cNvSpPr/>
          <p:nvPr/>
        </p:nvSpPr>
        <p:spPr>
          <a:xfrm>
            <a:off x="457200" y="1463040"/>
            <a:ext cx="2615184" cy="2011680"/>
          </a:xfrm>
          <a:prstGeom prst="roundRect">
            <a:avLst>
              <a:gd name="adj" fmla="val 3636"/>
            </a:avLst>
          </a:prstGeom>
          <a:solidFill>
            <a:schemeClr val="bg2"/>
          </a:solidFill>
          <a:ln/>
        </p:spPr>
      </p:sp>
      <p:sp>
        <p:nvSpPr>
          <p:cNvPr id="6" name="cerchio FiBriefcase"/>
          <p:cNvSpPr/>
          <p:nvPr/>
        </p:nvSpPr>
        <p:spPr>
          <a:xfrm>
            <a:off x="640080" y="1645920"/>
            <a:ext cx="457200" cy="457200"/>
          </a:xfrm>
          <a:prstGeom prst="ellipse">
            <a:avLst/>
          </a:prstGeom>
          <a:solidFill>
            <a:schemeClr val="accent1"/>
          </a:solidFill>
          <a:ln/>
        </p:spPr>
      </p:sp>
      <p:pic>
        <p:nvPicPr>
          <p:cNvPr id="7" name="Image 0" descr="FiBriefcase">    </p:cNvPr>
          <p:cNvPicPr>
            <a:picLocks noChangeAspect="1"/>
          </p:cNvPicPr>
          <p:nvPr/>
        </p:nvPicPr>
        <p:blipFill>
          <a:blip r:embed="rId1"/>
          <a:stretch>
            <a:fillRect/>
          </a:stretch>
        </p:blipFill>
        <p:spPr>
          <a:xfrm>
            <a:off x="754380" y="1760220"/>
            <a:ext cx="228600" cy="228600"/>
          </a:xfrm>
          <a:prstGeom prst="rect">
            <a:avLst/>
          </a:prstGeom>
        </p:spPr>
      </p:pic>
      <p:sp>
        <p:nvSpPr>
          <p:cNvPr id="8" name="Text 4"/>
          <p:cNvSpPr txBox="1"/>
          <p:nvPr/>
        </p:nvSpPr>
        <p:spPr>
          <a:xfrm>
            <a:off x="640080" y="2212848"/>
            <a:ext cx="2249424" cy="347472"/>
          </a:xfrm>
          <a:prstGeom prst="rect">
            <a:avLst/>
          </a:prstGeom>
          <a:noFill/>
          <a:ln/>
        </p:spPr>
        <p:txBody>
          <a:bodyPr wrap="square" lIns="0" tIns="0" rIns="0" bIns="0" rtlCol="0" anchor="t"/>
          <a:lstStyle/>
          <a:p>
            <a:pPr indent="0" marL="0">
              <a:buNone/>
            </a:pPr>
            <a:r>
              <a:rPr lang="en-US" sz="1500" b="1" dirty="0">
                <a:solidFill>
                  <a:schemeClr val="tx1"/>
                </a:solidFill>
              </a:rPr>
              <a:t>Direzione</a:t>
            </a:r>
            <a:endParaRPr lang="en-US" sz="1500" dirty="0"/>
          </a:p>
        </p:txBody>
      </p:sp>
      <p:sp>
        <p:nvSpPr>
          <p:cNvPr id="9" name="Text 5"/>
          <p:cNvSpPr txBox="1"/>
          <p:nvPr/>
        </p:nvSpPr>
        <p:spPr>
          <a:xfrm>
            <a:off x="640080" y="2596896"/>
            <a:ext cx="2249424" cy="768096"/>
          </a:xfrm>
          <a:prstGeom prst="rect">
            <a:avLst/>
          </a:prstGeom>
          <a:noFill/>
          <a:ln/>
        </p:spPr>
        <p:txBody>
          <a:bodyPr wrap="square" lIns="0" tIns="0" rIns="0" bIns="0" rtlCol="0" anchor="t"/>
          <a:lstStyle/>
          <a:p>
            <a:pPr indent="0" marL="0">
              <a:spcAft>
                <a:spcPts val="600"/>
              </a:spcAft>
              <a:buNone/>
            </a:pPr>
            <a:r>
              <a:rPr lang="en-US" sz="1200" b="1" dirty="0">
                <a:solidFill>
                  <a:schemeClr val="tx1"/>
                </a:solidFill>
              </a:rPr>
              <a:t>Costi, benefici, tempi di adozione</a:t>
            </a:r>
            <a:endParaRPr lang="en-US" sz="1200" dirty="0"/>
          </a:p>
          <a:p>
            <a:pPr indent="0" marL="0">
              <a:buNone/>
            </a:pPr>
            <a:r>
              <a:rPr lang="en-US" sz="1200" dirty="0">
                <a:solidFill>
                  <a:schemeClr val="tx2"/>
                </a:solidFill>
              </a:rPr>
              <a:t>Sintetico, orientato alla decisione</a:t>
            </a:r>
            <a:endParaRPr lang="en-US" sz="1200" dirty="0"/>
          </a:p>
        </p:txBody>
      </p:sp>
      <p:sp>
        <p:nvSpPr>
          <p:cNvPr id="10" name="scheda Dipendenti"/>
          <p:cNvSpPr/>
          <p:nvPr/>
        </p:nvSpPr>
        <p:spPr>
          <a:xfrm>
            <a:off x="3264408" y="1463040"/>
            <a:ext cx="2615184" cy="2011680"/>
          </a:xfrm>
          <a:prstGeom prst="roundRect">
            <a:avLst>
              <a:gd name="adj" fmla="val 3636"/>
            </a:avLst>
          </a:prstGeom>
          <a:solidFill>
            <a:schemeClr val="accent6"/>
          </a:solidFill>
          <a:ln/>
        </p:spPr>
      </p:sp>
      <p:sp>
        <p:nvSpPr>
          <p:cNvPr id="11" name="cerchio FiUsers"/>
          <p:cNvSpPr/>
          <p:nvPr/>
        </p:nvSpPr>
        <p:spPr>
          <a:xfrm>
            <a:off x="3447288" y="1645920"/>
            <a:ext cx="457200" cy="457200"/>
          </a:xfrm>
          <a:prstGeom prst="ellipse">
            <a:avLst/>
          </a:prstGeom>
          <a:solidFill>
            <a:schemeClr val="accent1"/>
          </a:solidFill>
          <a:ln/>
        </p:spPr>
      </p:sp>
      <p:pic>
        <p:nvPicPr>
          <p:cNvPr id="12" name="Image 1" descr="FiUsers">    </p:cNvPr>
          <p:cNvPicPr>
            <a:picLocks noChangeAspect="1"/>
          </p:cNvPicPr>
          <p:nvPr/>
        </p:nvPicPr>
        <p:blipFill>
          <a:blip r:embed="rId2"/>
          <a:stretch>
            <a:fillRect/>
          </a:stretch>
        </p:blipFill>
        <p:spPr>
          <a:xfrm>
            <a:off x="3561588" y="1760220"/>
            <a:ext cx="228600" cy="228600"/>
          </a:xfrm>
          <a:prstGeom prst="rect">
            <a:avLst/>
          </a:prstGeom>
        </p:spPr>
      </p:pic>
      <p:sp>
        <p:nvSpPr>
          <p:cNvPr id="13" name="Text 8"/>
          <p:cNvSpPr txBox="1"/>
          <p:nvPr/>
        </p:nvSpPr>
        <p:spPr>
          <a:xfrm>
            <a:off x="3447288" y="2212848"/>
            <a:ext cx="2249424" cy="347472"/>
          </a:xfrm>
          <a:prstGeom prst="rect">
            <a:avLst/>
          </a:prstGeom>
          <a:noFill/>
          <a:ln/>
        </p:spPr>
        <p:txBody>
          <a:bodyPr wrap="square" lIns="0" tIns="0" rIns="0" bIns="0" rtlCol="0" anchor="t"/>
          <a:lstStyle/>
          <a:p>
            <a:pPr indent="0" marL="0">
              <a:buNone/>
            </a:pPr>
            <a:r>
              <a:rPr lang="en-US" sz="1500" b="1" dirty="0">
                <a:solidFill>
                  <a:schemeClr val="tx1"/>
                </a:solidFill>
              </a:rPr>
              <a:t>Dipendenti</a:t>
            </a:r>
            <a:endParaRPr lang="en-US" sz="1500" dirty="0"/>
          </a:p>
        </p:txBody>
      </p:sp>
      <p:sp>
        <p:nvSpPr>
          <p:cNvPr id="14" name="Text 9"/>
          <p:cNvSpPr txBox="1"/>
          <p:nvPr/>
        </p:nvSpPr>
        <p:spPr>
          <a:xfrm>
            <a:off x="3447288" y="2596896"/>
            <a:ext cx="2249424" cy="768096"/>
          </a:xfrm>
          <a:prstGeom prst="rect">
            <a:avLst/>
          </a:prstGeom>
          <a:noFill/>
          <a:ln/>
        </p:spPr>
        <p:txBody>
          <a:bodyPr wrap="square" lIns="0" tIns="0" rIns="0" bIns="0" rtlCol="0" anchor="t"/>
          <a:lstStyle/>
          <a:p>
            <a:pPr indent="0" marL="0">
              <a:spcAft>
                <a:spcPts val="600"/>
              </a:spcAft>
              <a:buNone/>
            </a:pPr>
            <a:r>
              <a:rPr lang="en-US" sz="1200" b="1" dirty="0">
                <a:solidFill>
                  <a:schemeClr val="tx1"/>
                </a:solidFill>
              </a:rPr>
              <a:t>Che cosa cambia per me, come si fa</a:t>
            </a:r>
            <a:endParaRPr lang="en-US" sz="1200" dirty="0"/>
          </a:p>
          <a:p>
            <a:pPr indent="0" marL="0">
              <a:buNone/>
            </a:pPr>
            <a:r>
              <a:rPr lang="en-US" sz="1200" dirty="0">
                <a:solidFill>
                  <a:schemeClr val="tx2"/>
                </a:solidFill>
              </a:rPr>
              <a:t>Semplice, pratico, passo passo</a:t>
            </a:r>
            <a:endParaRPr lang="en-US" sz="1200" dirty="0"/>
          </a:p>
        </p:txBody>
      </p:sp>
      <p:sp>
        <p:nvSpPr>
          <p:cNvPr id="15" name="scheda Amministrazione"/>
          <p:cNvSpPr/>
          <p:nvPr/>
        </p:nvSpPr>
        <p:spPr>
          <a:xfrm>
            <a:off x="6071616" y="1463040"/>
            <a:ext cx="2615184" cy="2011680"/>
          </a:xfrm>
          <a:prstGeom prst="roundRect">
            <a:avLst>
              <a:gd name="adj" fmla="val 3636"/>
            </a:avLst>
          </a:prstGeom>
          <a:solidFill>
            <a:schemeClr val="bg2"/>
          </a:solidFill>
          <a:ln/>
        </p:spPr>
      </p:sp>
      <p:sp>
        <p:nvSpPr>
          <p:cNvPr id="16" name="cerchio FiDollarSign"/>
          <p:cNvSpPr/>
          <p:nvPr/>
        </p:nvSpPr>
        <p:spPr>
          <a:xfrm>
            <a:off x="6254496" y="1645920"/>
            <a:ext cx="457200" cy="457200"/>
          </a:xfrm>
          <a:prstGeom prst="ellipse">
            <a:avLst/>
          </a:prstGeom>
          <a:solidFill>
            <a:schemeClr val="accent1"/>
          </a:solidFill>
          <a:ln/>
        </p:spPr>
      </p:sp>
      <p:pic>
        <p:nvPicPr>
          <p:cNvPr id="17" name="Image 2" descr="FiDollarSign">    </p:cNvPr>
          <p:cNvPicPr>
            <a:picLocks noChangeAspect="1"/>
          </p:cNvPicPr>
          <p:nvPr/>
        </p:nvPicPr>
        <p:blipFill>
          <a:blip r:embed="rId3"/>
          <a:stretch>
            <a:fillRect/>
          </a:stretch>
        </p:blipFill>
        <p:spPr>
          <a:xfrm>
            <a:off x="6368796" y="1760220"/>
            <a:ext cx="228600" cy="228600"/>
          </a:xfrm>
          <a:prstGeom prst="rect">
            <a:avLst/>
          </a:prstGeom>
        </p:spPr>
      </p:pic>
      <p:sp>
        <p:nvSpPr>
          <p:cNvPr id="18" name="Text 12"/>
          <p:cNvSpPr txBox="1"/>
          <p:nvPr/>
        </p:nvSpPr>
        <p:spPr>
          <a:xfrm>
            <a:off x="6254496" y="2212848"/>
            <a:ext cx="2249424" cy="347472"/>
          </a:xfrm>
          <a:prstGeom prst="rect">
            <a:avLst/>
          </a:prstGeom>
          <a:noFill/>
          <a:ln/>
        </p:spPr>
        <p:txBody>
          <a:bodyPr wrap="square" lIns="0" tIns="0" rIns="0" bIns="0" rtlCol="0" anchor="t"/>
          <a:lstStyle/>
          <a:p>
            <a:pPr indent="0" marL="0">
              <a:buNone/>
            </a:pPr>
            <a:r>
              <a:rPr lang="en-US" sz="1500" b="1" dirty="0">
                <a:solidFill>
                  <a:schemeClr val="tx1"/>
                </a:solidFill>
              </a:rPr>
              <a:t>Amministrazione</a:t>
            </a:r>
            <a:endParaRPr lang="en-US" sz="1500" dirty="0"/>
          </a:p>
        </p:txBody>
      </p:sp>
      <p:sp>
        <p:nvSpPr>
          <p:cNvPr id="19" name="Text 13"/>
          <p:cNvSpPr txBox="1"/>
          <p:nvPr/>
        </p:nvSpPr>
        <p:spPr>
          <a:xfrm>
            <a:off x="6254496" y="2596896"/>
            <a:ext cx="2249424" cy="768096"/>
          </a:xfrm>
          <a:prstGeom prst="rect">
            <a:avLst/>
          </a:prstGeom>
          <a:noFill/>
          <a:ln/>
        </p:spPr>
        <p:txBody>
          <a:bodyPr wrap="square" lIns="0" tIns="0" rIns="0" bIns="0" rtlCol="0" anchor="t"/>
          <a:lstStyle/>
          <a:p>
            <a:pPr indent="0" marL="0">
              <a:spcAft>
                <a:spcPts val="600"/>
              </a:spcAft>
              <a:buNone/>
            </a:pPr>
            <a:r>
              <a:rPr lang="en-US" sz="1200" b="1" dirty="0">
                <a:solidFill>
                  <a:schemeClr val="tx1"/>
                </a:solidFill>
              </a:rPr>
              <a:t>Controlli, scadenze, integrazione contabile</a:t>
            </a:r>
            <a:endParaRPr lang="en-US" sz="1200" dirty="0"/>
          </a:p>
          <a:p>
            <a:pPr indent="0" marL="0">
              <a:buNone/>
            </a:pPr>
            <a:r>
              <a:rPr lang="en-US" sz="1200" dirty="0">
                <a:solidFill>
                  <a:schemeClr val="tx2"/>
                </a:solidFill>
              </a:rPr>
              <a:t>Preciso, tecnico, completo</a:t>
            </a:r>
            <a:endParaRPr lang="en-US" sz="1200" dirty="0"/>
          </a:p>
        </p:txBody>
      </p:sp>
      <p:sp>
        <p:nvSpPr>
          <p:cNvPr id="20" name="messaggio"/>
          <p:cNvSpPr/>
          <p:nvPr/>
        </p:nvSpPr>
        <p:spPr>
          <a:xfrm>
            <a:off x="457200" y="3657600"/>
            <a:ext cx="8229600" cy="868680"/>
          </a:xfrm>
          <a:prstGeom prst="roundRect">
            <a:avLst>
              <a:gd name="adj" fmla="val 8421"/>
            </a:avLst>
          </a:prstGeom>
          <a:solidFill>
            <a:schemeClr val="tx1"/>
          </a:solidFill>
          <a:ln/>
        </p:spPr>
      </p:sp>
      <p:sp>
        <p:nvSpPr>
          <p:cNvPr id="21" name="Text 15"/>
          <p:cNvSpPr txBox="1"/>
          <p:nvPr/>
        </p:nvSpPr>
        <p:spPr>
          <a:xfrm>
            <a:off x="640080" y="3657600"/>
            <a:ext cx="7863840" cy="868680"/>
          </a:xfrm>
          <a:prstGeom prst="rect">
            <a:avLst/>
          </a:prstGeom>
          <a:noFill/>
          <a:ln/>
        </p:spPr>
        <p:txBody>
          <a:bodyPr wrap="square" lIns="0" tIns="0" rIns="0" bIns="0" rtlCol="0" anchor="ctr"/>
          <a:lstStyle/>
          <a:p>
            <a:pPr indent="0" marL="0">
              <a:buNone/>
            </a:pPr>
            <a:r>
              <a:rPr lang="en-US" sz="1300" dirty="0">
                <a:solidFill>
                  <a:schemeClr val="bg1"/>
                </a:solidFill>
              </a:rPr>
              <a:t>Descrivere il destinatario comunica più di un elenco di aggettivi: "colleghi del magazzino che usano poco il computer".</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Introduzione agli output strutturati</a:t>
            </a:r>
            <a:endParaRPr lang="en-US" sz="2600" dirty="0"/>
          </a:p>
        </p:txBody>
      </p:sp>
      <p:sp>
        <p:nvSpPr>
          <p:cNvPr id="4" name="prompt"/>
          <p:cNvSpPr/>
          <p:nvPr/>
        </p:nvSpPr>
        <p:spPr>
          <a:xfrm>
            <a:off x="457200" y="1097280"/>
            <a:ext cx="3977640" cy="1463040"/>
          </a:xfrm>
          <a:prstGeom prst="roundRect">
            <a:avLst>
              <a:gd name="adj" fmla="val 5000"/>
            </a:avLst>
          </a:prstGeom>
          <a:solidFill>
            <a:schemeClr val="bg2"/>
          </a:solidFill>
          <a:ln/>
        </p:spPr>
      </p:sp>
      <p:sp>
        <p:nvSpPr>
          <p:cNvPr id="5" name="Text 2"/>
          <p:cNvSpPr txBox="1"/>
          <p:nvPr/>
        </p:nvSpPr>
        <p:spPr>
          <a:xfrm>
            <a:off x="621792" y="1188720"/>
            <a:ext cx="3648456" cy="256032"/>
          </a:xfrm>
          <a:prstGeom prst="rect">
            <a:avLst/>
          </a:prstGeom>
          <a:noFill/>
          <a:ln/>
        </p:spPr>
        <p:txBody>
          <a:bodyPr wrap="square" lIns="0" tIns="0" rIns="0" bIns="0" rtlCol="0" anchor="t"/>
          <a:lstStyle/>
          <a:p>
            <a:pPr indent="0" marL="0">
              <a:buNone/>
            </a:pPr>
            <a:r>
              <a:rPr lang="en-US" sz="1100" b="1" dirty="0">
                <a:solidFill>
                  <a:schemeClr val="accent1"/>
                </a:solidFill>
              </a:rPr>
              <a:t>Richiesta</a:t>
            </a:r>
            <a:endParaRPr lang="en-US" sz="1100" dirty="0"/>
          </a:p>
        </p:txBody>
      </p:sp>
      <p:sp>
        <p:nvSpPr>
          <p:cNvPr id="6" name="Text 3"/>
          <p:cNvSpPr txBox="1"/>
          <p:nvPr/>
        </p:nvSpPr>
        <p:spPr>
          <a:xfrm>
            <a:off x="621792" y="1463040"/>
            <a:ext cx="3648456" cy="100584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Estrai da ogni email: azienda, prodotto, quantità. Restituisci un CSV con separatore punto e virgola e intestazione. Se un dato manca, scrivi ND.</a:t>
            </a:r>
            <a:endParaRPr lang="en-US" sz="1100" dirty="0"/>
          </a:p>
        </p:txBody>
      </p:sp>
      <p:sp>
        <p:nvSpPr>
          <p:cNvPr id="7" name="prompt"/>
          <p:cNvSpPr/>
          <p:nvPr/>
        </p:nvSpPr>
        <p:spPr>
          <a:xfrm>
            <a:off x="457200" y="2697480"/>
            <a:ext cx="3977640" cy="1280160"/>
          </a:xfrm>
          <a:prstGeom prst="roundRect">
            <a:avLst>
              <a:gd name="adj" fmla="val 5714"/>
            </a:avLst>
          </a:prstGeom>
          <a:solidFill>
            <a:schemeClr val="accent6"/>
          </a:solidFill>
          <a:ln/>
        </p:spPr>
      </p:sp>
      <p:sp>
        <p:nvSpPr>
          <p:cNvPr id="8" name="Text 5"/>
          <p:cNvSpPr txBox="1"/>
          <p:nvPr/>
        </p:nvSpPr>
        <p:spPr>
          <a:xfrm>
            <a:off x="621792" y="2788920"/>
            <a:ext cx="3648456" cy="256032"/>
          </a:xfrm>
          <a:prstGeom prst="rect">
            <a:avLst/>
          </a:prstGeom>
          <a:noFill/>
          <a:ln/>
        </p:spPr>
        <p:txBody>
          <a:bodyPr wrap="square" lIns="0" tIns="0" rIns="0" bIns="0" rtlCol="0" anchor="t"/>
          <a:lstStyle/>
          <a:p>
            <a:pPr indent="0" marL="0">
              <a:buNone/>
            </a:pPr>
            <a:r>
              <a:rPr lang="en-US" sz="1100" b="1" dirty="0">
                <a:solidFill>
                  <a:schemeClr val="accent1"/>
                </a:solidFill>
              </a:rPr>
              <a:t>CSV: si apre in un foglio di calcolo</a:t>
            </a:r>
            <a:endParaRPr lang="en-US" sz="1100" dirty="0"/>
          </a:p>
        </p:txBody>
      </p:sp>
      <p:sp>
        <p:nvSpPr>
          <p:cNvPr id="9" name="Text 6"/>
          <p:cNvSpPr txBox="1"/>
          <p:nvPr/>
        </p:nvSpPr>
        <p:spPr>
          <a:xfrm>
            <a:off x="621792" y="3063240"/>
            <a:ext cx="3648456" cy="82296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azienda;prodotto;quantità</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Alfa Srl;Modello A;20</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Beta Spa;Modello C;ND</a:t>
            </a:r>
            <a:endParaRPr lang="en-US" sz="1100" dirty="0"/>
          </a:p>
        </p:txBody>
      </p:sp>
      <p:sp>
        <p:nvSpPr>
          <p:cNvPr id="10" name="prompt"/>
          <p:cNvSpPr/>
          <p:nvPr/>
        </p:nvSpPr>
        <p:spPr>
          <a:xfrm>
            <a:off x="4709160" y="1097280"/>
            <a:ext cx="3977640" cy="1920240"/>
          </a:xfrm>
          <a:prstGeom prst="roundRect">
            <a:avLst>
              <a:gd name="adj" fmla="val 3810"/>
            </a:avLst>
          </a:prstGeom>
          <a:solidFill>
            <a:schemeClr val="bg2"/>
          </a:solidFill>
          <a:ln/>
        </p:spPr>
      </p:sp>
      <p:sp>
        <p:nvSpPr>
          <p:cNvPr id="11" name="Text 8"/>
          <p:cNvSpPr txBox="1"/>
          <p:nvPr/>
        </p:nvSpPr>
        <p:spPr>
          <a:xfrm>
            <a:off x="4873752" y="1188720"/>
            <a:ext cx="3648456" cy="256032"/>
          </a:xfrm>
          <a:prstGeom prst="rect">
            <a:avLst/>
          </a:prstGeom>
          <a:noFill/>
          <a:ln/>
        </p:spPr>
        <p:txBody>
          <a:bodyPr wrap="square" lIns="0" tIns="0" rIns="0" bIns="0" rtlCol="0" anchor="t"/>
          <a:lstStyle/>
          <a:p>
            <a:pPr indent="0" marL="0">
              <a:buNone/>
            </a:pPr>
            <a:r>
              <a:rPr lang="en-US" sz="1100" b="1" dirty="0">
                <a:solidFill>
                  <a:schemeClr val="accent1"/>
                </a:solidFill>
              </a:rPr>
              <a:t>JSON: coppie di nomi e valori</a:t>
            </a:r>
            <a:endParaRPr lang="en-US" sz="1100" dirty="0"/>
          </a:p>
        </p:txBody>
      </p:sp>
      <p:sp>
        <p:nvSpPr>
          <p:cNvPr id="12" name="Text 9"/>
          <p:cNvSpPr txBox="1"/>
          <p:nvPr/>
        </p:nvSpPr>
        <p:spPr>
          <a:xfrm>
            <a:off x="4873752" y="1463040"/>
            <a:ext cx="3648456" cy="146304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"azienda": "Alfa Srl",</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"prodotto": "Modello A",</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"quantità": 20</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p:txBody>
      </p:sp>
      <p:sp>
        <p:nvSpPr>
          <p:cNvPr id="13" name="scheda Specificare campi, ordine, separatore, valori mancanti"/>
          <p:cNvSpPr/>
          <p:nvPr/>
        </p:nvSpPr>
        <p:spPr>
          <a:xfrm>
            <a:off x="4709160" y="3154680"/>
            <a:ext cx="3977640" cy="822960"/>
          </a:xfrm>
          <a:prstGeom prst="roundRect">
            <a:avLst>
              <a:gd name="adj" fmla="val 8889"/>
            </a:avLst>
          </a:prstGeom>
          <a:solidFill>
            <a:schemeClr val="bg2"/>
          </a:solidFill>
          <a:ln/>
        </p:spPr>
      </p:sp>
      <p:sp>
        <p:nvSpPr>
          <p:cNvPr id="14" name="cerchio FiList"/>
          <p:cNvSpPr/>
          <p:nvPr/>
        </p:nvSpPr>
        <p:spPr>
          <a:xfrm>
            <a:off x="4892040" y="3337560"/>
            <a:ext cx="457200" cy="457200"/>
          </a:xfrm>
          <a:prstGeom prst="ellipse">
            <a:avLst/>
          </a:prstGeom>
          <a:solidFill>
            <a:schemeClr val="accent1"/>
          </a:solidFill>
          <a:ln/>
        </p:spPr>
      </p:sp>
      <p:pic>
        <p:nvPicPr>
          <p:cNvPr id="15" name="Image 0" descr="FiList">    </p:cNvPr>
          <p:cNvPicPr>
            <a:picLocks noChangeAspect="1"/>
          </p:cNvPicPr>
          <p:nvPr/>
        </p:nvPicPr>
        <p:blipFill>
          <a:blip r:embed="rId1"/>
          <a:stretch>
            <a:fillRect/>
          </a:stretch>
        </p:blipFill>
        <p:spPr>
          <a:xfrm>
            <a:off x="5006340" y="3451860"/>
            <a:ext cx="228600" cy="228600"/>
          </a:xfrm>
          <a:prstGeom prst="rect">
            <a:avLst/>
          </a:prstGeom>
        </p:spPr>
      </p:pic>
      <p:sp>
        <p:nvSpPr>
          <p:cNvPr id="16" name="Text 12"/>
          <p:cNvSpPr txBox="1"/>
          <p:nvPr/>
        </p:nvSpPr>
        <p:spPr>
          <a:xfrm>
            <a:off x="5486400" y="3337560"/>
            <a:ext cx="3017520" cy="457200"/>
          </a:xfrm>
          <a:prstGeom prst="rect">
            <a:avLst/>
          </a:prstGeom>
          <a:noFill/>
          <a:ln/>
        </p:spPr>
        <p:txBody>
          <a:bodyPr wrap="square" lIns="0" tIns="0" rIns="0" bIns="0" rtlCol="0" anchor="ctr"/>
          <a:lstStyle/>
          <a:p>
            <a:pPr indent="0" marL="0">
              <a:buNone/>
            </a:pPr>
            <a:r>
              <a:rPr lang="en-US" sz="1200" b="1" dirty="0">
                <a:solidFill>
                  <a:schemeClr val="tx1"/>
                </a:solidFill>
              </a:rPr>
              <a:t>Specificare campi, ordine, separatore, valori mancanti</a:t>
            </a:r>
            <a:endParaRPr lang="en-US" sz="1200" dirty="0"/>
          </a:p>
        </p:txBody>
      </p:sp>
      <p:sp>
        <p:nvSpPr>
          <p:cNvPr id="17" name="messaggio"/>
          <p:cNvSpPr/>
          <p:nvPr/>
        </p:nvSpPr>
        <p:spPr>
          <a:xfrm>
            <a:off x="457200" y="4114800"/>
            <a:ext cx="8229600" cy="438912"/>
          </a:xfrm>
          <a:prstGeom prst="roundRect">
            <a:avLst>
              <a:gd name="adj" fmla="val 16667"/>
            </a:avLst>
          </a:prstGeom>
          <a:solidFill>
            <a:schemeClr val="tx1"/>
          </a:solidFill>
          <a:ln/>
        </p:spPr>
      </p:sp>
      <p:sp>
        <p:nvSpPr>
          <p:cNvPr id="18" name="Text 14"/>
          <p:cNvSpPr txBox="1"/>
          <p:nvPr/>
        </p:nvSpPr>
        <p:spPr>
          <a:xfrm>
            <a:off x="640080" y="4114800"/>
            <a:ext cx="7863840" cy="438912"/>
          </a:xfrm>
          <a:prstGeom prst="rect">
            <a:avLst/>
          </a:prstGeom>
          <a:noFill/>
          <a:ln/>
        </p:spPr>
        <p:txBody>
          <a:bodyPr wrap="square" lIns="0" tIns="0" rIns="0" bIns="0" rtlCol="0" anchor="ctr"/>
          <a:lstStyle/>
          <a:p>
            <a:pPr indent="0" marL="0">
              <a:buNone/>
            </a:pPr>
            <a:r>
              <a:rPr lang="en-US" sz="1200" dirty="0">
                <a:solidFill>
                  <a:schemeClr val="bg1"/>
                </a:solidFill>
              </a:rPr>
              <a:t>Da informazioni sparse a dati pronti da usare: prima di importarli, un rapido controllo di struttura e valori.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Vincoli di presentazione e criteri verificabili</a:t>
            </a:r>
            <a:endParaRPr lang="en-US" sz="2600" dirty="0"/>
          </a:p>
        </p:txBody>
      </p:sp>
      <p:sp>
        <p:nvSpPr>
          <p:cNvPr id="4" name="scheda Vincoli di presentazione"/>
          <p:cNvSpPr/>
          <p:nvPr/>
        </p:nvSpPr>
        <p:spPr>
          <a:xfrm>
            <a:off x="457200" y="1097280"/>
            <a:ext cx="3977640" cy="2103120"/>
          </a:xfrm>
          <a:prstGeom prst="roundRect">
            <a:avLst>
              <a:gd name="adj" fmla="val 3478"/>
            </a:avLst>
          </a:prstGeom>
          <a:solidFill>
            <a:schemeClr val="bg2"/>
          </a:solidFill>
          <a:ln/>
        </p:spPr>
      </p:sp>
      <p:sp>
        <p:nvSpPr>
          <p:cNvPr id="5" name="cerchio FiLayout"/>
          <p:cNvSpPr/>
          <p:nvPr/>
        </p:nvSpPr>
        <p:spPr>
          <a:xfrm>
            <a:off x="640080" y="1280160"/>
            <a:ext cx="457200" cy="457200"/>
          </a:xfrm>
          <a:prstGeom prst="ellipse">
            <a:avLst/>
          </a:prstGeom>
          <a:solidFill>
            <a:schemeClr val="accent1"/>
          </a:solidFill>
          <a:ln/>
        </p:spPr>
      </p:sp>
      <p:pic>
        <p:nvPicPr>
          <p:cNvPr id="6" name="Image 0" descr="FiLayou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Vincoli di presentazione</a:t>
            </a:r>
            <a:endParaRPr lang="en-US" sz="1500" dirty="0"/>
          </a:p>
        </p:txBody>
      </p:sp>
      <p:sp>
        <p:nvSpPr>
          <p:cNvPr id="8" name="Text 4"/>
          <p:cNvSpPr txBox="1"/>
          <p:nvPr/>
        </p:nvSpPr>
        <p:spPr>
          <a:xfrm>
            <a:off x="640080" y="2231136"/>
            <a:ext cx="3611880" cy="8595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"Date nel formato gg/mm/aaaa"</a:t>
            </a:r>
            <a:endParaRPr lang="en-US" sz="1200" dirty="0"/>
          </a:p>
          <a:p>
            <a:pPr marL="177800" indent="-177800">
              <a:spcAft>
                <a:spcPts val="400"/>
              </a:spcAft>
              <a:buSzPct val="100000"/>
              <a:buChar char="•"/>
            </a:pPr>
            <a:r>
              <a:rPr lang="en-US" sz="1200" dirty="0">
                <a:solidFill>
                  <a:schemeClr val="tx2"/>
                </a:solidFill>
              </a:rPr>
              <a:t>"Importi in euro con due decimali"</a:t>
            </a:r>
            <a:endParaRPr lang="en-US" sz="1200" dirty="0"/>
          </a:p>
          <a:p>
            <a:pPr marL="177800" indent="-177800">
              <a:spcAft>
                <a:spcPts val="400"/>
              </a:spcAft>
              <a:buSzPct val="100000"/>
              <a:buChar char="•"/>
            </a:pPr>
            <a:r>
              <a:rPr lang="en-US" sz="1200" dirty="0">
                <a:solidFill>
                  <a:schemeClr val="tx2"/>
                </a:solidFill>
              </a:rPr>
              <a:t>"Usa sempre il termine collaboratore"</a:t>
            </a:r>
            <a:endParaRPr lang="en-US" sz="1200" dirty="0"/>
          </a:p>
        </p:txBody>
      </p:sp>
      <p:sp>
        <p:nvSpPr>
          <p:cNvPr id="9" name="scheda Criteri verificabili"/>
          <p:cNvSpPr/>
          <p:nvPr/>
        </p:nvSpPr>
        <p:spPr>
          <a:xfrm>
            <a:off x="4709160" y="1097280"/>
            <a:ext cx="3977640" cy="2103120"/>
          </a:xfrm>
          <a:prstGeom prst="roundRect">
            <a:avLst>
              <a:gd name="adj" fmla="val 3478"/>
            </a:avLst>
          </a:prstGeom>
          <a:solidFill>
            <a:schemeClr val="accent6"/>
          </a:solidFill>
          <a:ln/>
        </p:spPr>
      </p:sp>
      <p:sp>
        <p:nvSpPr>
          <p:cNvPr id="10" name="cerchio FiCheckSquare"/>
          <p:cNvSpPr/>
          <p:nvPr/>
        </p:nvSpPr>
        <p:spPr>
          <a:xfrm>
            <a:off x="4892040" y="1280160"/>
            <a:ext cx="457200" cy="457200"/>
          </a:xfrm>
          <a:prstGeom prst="ellipse">
            <a:avLst/>
          </a:prstGeom>
          <a:solidFill>
            <a:schemeClr val="accent1"/>
          </a:solidFill>
          <a:ln/>
        </p:spPr>
      </p:sp>
      <p:pic>
        <p:nvPicPr>
          <p:cNvPr id="11" name="Image 1" descr="FiCheckSquare">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Criteri verificabili</a:t>
            </a:r>
            <a:endParaRPr lang="en-US" sz="1500" dirty="0"/>
          </a:p>
        </p:txBody>
      </p:sp>
      <p:sp>
        <p:nvSpPr>
          <p:cNvPr id="13" name="Text 8"/>
          <p:cNvSpPr txBox="1"/>
          <p:nvPr/>
        </p:nvSpPr>
        <p:spPr>
          <a:xfrm>
            <a:off x="4892040" y="2231136"/>
            <a:ext cx="3611880" cy="8595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"Ogni azione ha responsabile e scadenza"</a:t>
            </a:r>
            <a:endParaRPr lang="en-US" sz="1200" dirty="0"/>
          </a:p>
          <a:p>
            <a:pPr marL="177800" indent="-177800">
              <a:spcAft>
                <a:spcPts val="400"/>
              </a:spcAft>
              <a:buSzPct val="100000"/>
              <a:buChar char="•"/>
            </a:pPr>
            <a:r>
              <a:rPr lang="en-US" sz="1200" dirty="0">
                <a:solidFill>
                  <a:schemeClr val="tx2"/>
                </a:solidFill>
              </a:rPr>
              <a:t>"Ogni raccomandazione cita un dato del report"</a:t>
            </a:r>
            <a:endParaRPr lang="en-US" sz="1200" dirty="0"/>
          </a:p>
          <a:p>
            <a:pPr marL="177800" indent="-177800">
              <a:spcAft>
                <a:spcPts val="400"/>
              </a:spcAft>
              <a:buSzPct val="100000"/>
              <a:buChar char="•"/>
            </a:pPr>
            <a:r>
              <a:rPr lang="en-US" sz="1200" dirty="0">
                <a:solidFill>
                  <a:schemeClr val="tx2"/>
                </a:solidFill>
              </a:rPr>
              <a:t>"Leggibile ad alta voce in un minuto"</a:t>
            </a:r>
            <a:endParaRPr lang="en-US" sz="1200" dirty="0"/>
          </a:p>
        </p:txBody>
      </p:sp>
      <p:sp>
        <p:nvSpPr>
          <p:cNvPr id="14" name="prompt"/>
          <p:cNvSpPr/>
          <p:nvPr/>
        </p:nvSpPr>
        <p:spPr>
          <a:xfrm>
            <a:off x="457200" y="3337560"/>
            <a:ext cx="8229600" cy="749808"/>
          </a:xfrm>
          <a:prstGeom prst="roundRect">
            <a:avLst>
              <a:gd name="adj" fmla="val 9756"/>
            </a:avLst>
          </a:prstGeom>
          <a:solidFill>
            <a:schemeClr val="bg2"/>
          </a:solidFill>
          <a:ln/>
        </p:spPr>
      </p:sp>
      <p:sp>
        <p:nvSpPr>
          <p:cNvPr id="15" name="Text 10"/>
          <p:cNvSpPr txBox="1"/>
          <p:nvPr/>
        </p:nvSpPr>
        <p:spPr>
          <a:xfrm>
            <a:off x="621792" y="3429000"/>
            <a:ext cx="7900416" cy="256032"/>
          </a:xfrm>
          <a:prstGeom prst="rect">
            <a:avLst/>
          </a:prstGeom>
          <a:noFill/>
          <a:ln/>
        </p:spPr>
        <p:txBody>
          <a:bodyPr wrap="square" lIns="0" tIns="0" rIns="0" bIns="0" rtlCol="0" anchor="t"/>
          <a:lstStyle/>
          <a:p>
            <a:pPr indent="0" marL="0">
              <a:buNone/>
            </a:pPr>
            <a:r>
              <a:rPr lang="en-US" sz="1100" b="1" dirty="0">
                <a:solidFill>
                  <a:schemeClr val="accent1"/>
                </a:solidFill>
              </a:rPr>
              <a:t>Si può chiedere un autocontrollo</a:t>
            </a:r>
            <a:endParaRPr lang="en-US" sz="1100" dirty="0"/>
          </a:p>
        </p:txBody>
      </p:sp>
      <p:sp>
        <p:nvSpPr>
          <p:cNvPr id="16" name="Text 11"/>
          <p:cNvSpPr txBox="1"/>
          <p:nvPr/>
        </p:nvSpPr>
        <p:spPr>
          <a:xfrm>
            <a:off x="621792" y="3703320"/>
            <a:ext cx="7900416" cy="29260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Prima di consegnare, controlla i criteri elencati e segnalami quelli non rispettati.</a:t>
            </a:r>
            <a:endParaRPr lang="en-US" sz="1200" dirty="0"/>
          </a:p>
        </p:txBody>
      </p:sp>
      <p:sp>
        <p:nvSpPr>
          <p:cNvPr id="17" name="Text 1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i="1" dirty="0">
                <a:solidFill>
                  <a:schemeClr val="tx1"/>
                </a:solidFill>
              </a:rPr>
              <a:t>I criteri verificabili orientano il sistema e rendono rapido il controllo; una rilettura lo conferma.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6.7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Prompting per attività professionali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Gli stessi principi si adattano ad attività diverse: si imparano metodi, non prompt universali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Attività creative, analitiche e operative</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2148840"/>
                <a:gridCol w="2194560"/>
                <a:gridCol w="2148840"/>
              </a:tblGrid>
              <a:tr h="585216">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Creative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Analitiche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Operative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85216">
                <a:tc>
                  <a:txBody>
                    <a:bodyPr/>
                    <a:lstStyle/>
                    <a:p>
                      <a:pPr indent="0" marL="0">
                        <a:buNone/>
                      </a:pPr>
                      <a:r>
                        <a:rPr lang="en-US" sz="1200" b="1" dirty="0">
                          <a:solidFill>
                            <a:schemeClr val="tx1"/>
                          </a:solidFill>
                        </a:rPr>
                        <a:t>Si cerca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Varietà, originalità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Accuratezza, fedeltà alle fonti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Coerenza, ripetibilità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85216">
                <a:tc>
                  <a:txBody>
                    <a:bodyPr/>
                    <a:lstStyle/>
                    <a:p>
                      <a:pPr indent="0" marL="0">
                        <a:buNone/>
                      </a:pPr>
                      <a:r>
                        <a:rPr lang="en-US" sz="1200" b="1" dirty="0">
                          <a:solidFill>
                            <a:schemeClr val="tx1"/>
                          </a:solidFill>
                        </a:rPr>
                        <a:t>Tecniche utili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Molte alternative, iterazione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Materiali forniti, criteri espliciti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Struttura, esempi, template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85216">
                <a:tc>
                  <a:txBody>
                    <a:bodyPr/>
                    <a:lstStyle/>
                    <a:p>
                      <a:pPr indent="0" marL="0">
                        <a:buNone/>
                      </a:pPr>
                      <a:r>
                        <a:rPr lang="en-US" sz="1200" b="1" dirty="0">
                          <a:solidFill>
                            <a:schemeClr val="tx1"/>
                          </a:solidFill>
                        </a:rPr>
                        <a:t>Istruzione tipica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"Proponi dieci idee diverse"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"Usa solo il documento fornito"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"Segui esattamente questo formato"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85216">
                <a:tc>
                  <a:txBody>
                    <a:bodyPr/>
                    <a:lstStyle/>
                    <a:p>
                      <a:pPr indent="0" marL="0">
                        <a:buNone/>
                      </a:pPr>
                      <a:r>
                        <a:rPr lang="en-US" sz="1200" b="1" dirty="0">
                          <a:solidFill>
                            <a:schemeClr val="tx1"/>
                          </a:solidFill>
                        </a:rPr>
                        <a:t>Valutazione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Gusto, adeguatezza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Controllo dei punti importanti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Controllo di requisiti e campioni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4389120"/>
            <a:ext cx="8229600" cy="320040"/>
          </a:xfrm>
          <a:prstGeom prst="rect">
            <a:avLst/>
          </a:prstGeom>
          <a:noFill/>
          <a:ln/>
        </p:spPr>
        <p:txBody>
          <a:bodyPr wrap="square" lIns="0" tIns="0" rIns="0" bIns="0" rtlCol="0" anchor="t"/>
          <a:lstStyle/>
          <a:p>
            <a:pPr indent="0" marL="0">
              <a:buNone/>
            </a:pPr>
            <a:r>
              <a:rPr lang="en-US" sz="1300" i="1" dirty="0">
                <a:solidFill>
                  <a:schemeClr val="tx1"/>
                </a:solidFill>
              </a:rPr>
              <a:t>Riconoscere la natura dell'attività è il primo passo per scegliere il metodo.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Scrittura e revisione di contenuti</a:t>
            </a:r>
            <a:endParaRPr lang="en-US" sz="2600" dirty="0"/>
          </a:p>
        </p:txBody>
      </p:sp>
      <p:sp>
        <p:nvSpPr>
          <p:cNvPr id="4" name="prompt"/>
          <p:cNvSpPr/>
          <p:nvPr/>
        </p:nvSpPr>
        <p:spPr>
          <a:xfrm>
            <a:off x="457200" y="1097280"/>
            <a:ext cx="5120640" cy="2468880"/>
          </a:xfrm>
          <a:prstGeom prst="roundRect">
            <a:avLst>
              <a:gd name="adj" fmla="val 2963"/>
            </a:avLst>
          </a:prstGeom>
          <a:solidFill>
            <a:schemeClr val="accent6"/>
          </a:solidFill>
          <a:ln/>
        </p:spPr>
      </p:sp>
      <p:sp>
        <p:nvSpPr>
          <p:cNvPr id="5" name="Text 2"/>
          <p:cNvSpPr txBox="1"/>
          <p:nvPr/>
        </p:nvSpPr>
        <p:spPr>
          <a:xfrm>
            <a:off x="621792" y="1188720"/>
            <a:ext cx="4791456" cy="256032"/>
          </a:xfrm>
          <a:prstGeom prst="rect">
            <a:avLst/>
          </a:prstGeom>
          <a:noFill/>
          <a:ln/>
        </p:spPr>
        <p:txBody>
          <a:bodyPr wrap="square" lIns="0" tIns="0" rIns="0" bIns="0" rtlCol="0" anchor="t"/>
          <a:lstStyle/>
          <a:p>
            <a:pPr indent="0" marL="0">
              <a:buNone/>
            </a:pPr>
            <a:r>
              <a:rPr lang="en-US" sz="1100" b="1" dirty="0">
                <a:solidFill>
                  <a:schemeClr val="accent1"/>
                </a:solidFill>
              </a:rPr>
              <a:t>Esempio: revisione</a:t>
            </a:r>
            <a:endParaRPr lang="en-US" sz="1100" dirty="0"/>
          </a:p>
        </p:txBody>
      </p:sp>
      <p:sp>
        <p:nvSpPr>
          <p:cNvPr id="6" name="Text 3"/>
          <p:cNvSpPr txBox="1"/>
          <p:nvPr/>
        </p:nvSpPr>
        <p:spPr>
          <a:xfrm>
            <a:off x="621792" y="1463040"/>
            <a:ext cx="4791456" cy="20116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Rivedi il testo tra le linee per renderlo più chiaro e sintetico.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Non modificare i contenuti né aggiungere informazioni.</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Mantieni la struttura in tre paragrafi.</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Indica le modifiche principali con una breve motivazione.</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[testo]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7" name="Scrittura"/>
          <p:cNvSpPr/>
          <p:nvPr/>
        </p:nvSpPr>
        <p:spPr>
          <a:xfrm>
            <a:off x="5806440" y="1097280"/>
            <a:ext cx="2880360" cy="749808"/>
          </a:xfrm>
          <a:prstGeom prst="roundRect">
            <a:avLst>
              <a:gd name="adj" fmla="val 9756"/>
            </a:avLst>
          </a:prstGeom>
          <a:solidFill>
            <a:schemeClr val="bg2"/>
          </a:solidFill>
          <a:ln/>
        </p:spPr>
      </p:sp>
      <p:sp>
        <p:nvSpPr>
          <p:cNvPr id="8" name="Text 5"/>
          <p:cNvSpPr txBox="1"/>
          <p:nvPr/>
        </p:nvSpPr>
        <p:spPr>
          <a:xfrm>
            <a:off x="5943600" y="1143000"/>
            <a:ext cx="2651760" cy="274320"/>
          </a:xfrm>
          <a:prstGeom prst="rect">
            <a:avLst/>
          </a:prstGeom>
          <a:noFill/>
          <a:ln/>
        </p:spPr>
        <p:txBody>
          <a:bodyPr wrap="square" lIns="0" tIns="0" rIns="0" bIns="0" rtlCol="0" anchor="t"/>
          <a:lstStyle/>
          <a:p>
            <a:pPr indent="0" marL="0">
              <a:buNone/>
            </a:pPr>
            <a:r>
              <a:rPr lang="en-US" sz="1300" b="1" dirty="0">
                <a:solidFill>
                  <a:schemeClr val="accent1"/>
                </a:solidFill>
              </a:rPr>
              <a:t>Scrittura</a:t>
            </a:r>
            <a:endParaRPr lang="en-US" sz="1300" dirty="0"/>
          </a:p>
        </p:txBody>
      </p:sp>
      <p:sp>
        <p:nvSpPr>
          <p:cNvPr id="9" name="Text 6"/>
          <p:cNvSpPr txBox="1"/>
          <p:nvPr/>
        </p:nvSpPr>
        <p:spPr>
          <a:xfrm>
            <a:off x="5943600" y="1426464"/>
            <a:ext cx="2651760" cy="402336"/>
          </a:xfrm>
          <a:prstGeom prst="rect">
            <a:avLst/>
          </a:prstGeom>
          <a:noFill/>
          <a:ln/>
        </p:spPr>
        <p:txBody>
          <a:bodyPr wrap="square" lIns="0" tIns="0" rIns="0" bIns="0" rtlCol="0" anchor="t"/>
          <a:lstStyle/>
          <a:p>
            <a:pPr indent="0" marL="0">
              <a:buNone/>
            </a:pPr>
            <a:r>
              <a:rPr lang="en-US" sz="1100" dirty="0">
                <a:solidFill>
                  <a:schemeClr val="tx1"/>
                </a:solidFill>
              </a:rPr>
              <a:t>Scopo, destinatario, messaggio principale, punti, vincoli, formato</a:t>
            </a:r>
            <a:endParaRPr lang="en-US" sz="1100" dirty="0"/>
          </a:p>
        </p:txBody>
      </p:sp>
      <p:sp>
        <p:nvSpPr>
          <p:cNvPr id="10" name="Revisione"/>
          <p:cNvSpPr/>
          <p:nvPr/>
        </p:nvSpPr>
        <p:spPr>
          <a:xfrm>
            <a:off x="5806440" y="1965960"/>
            <a:ext cx="2880360" cy="749808"/>
          </a:xfrm>
          <a:prstGeom prst="roundRect">
            <a:avLst>
              <a:gd name="adj" fmla="val 9756"/>
            </a:avLst>
          </a:prstGeom>
          <a:solidFill>
            <a:schemeClr val="bg2"/>
          </a:solidFill>
          <a:ln/>
        </p:spPr>
      </p:sp>
      <p:sp>
        <p:nvSpPr>
          <p:cNvPr id="11" name="Text 8"/>
          <p:cNvSpPr txBox="1"/>
          <p:nvPr/>
        </p:nvSpPr>
        <p:spPr>
          <a:xfrm>
            <a:off x="5943600" y="2011680"/>
            <a:ext cx="2651760" cy="274320"/>
          </a:xfrm>
          <a:prstGeom prst="rect">
            <a:avLst/>
          </a:prstGeom>
          <a:noFill/>
          <a:ln/>
        </p:spPr>
        <p:txBody>
          <a:bodyPr wrap="square" lIns="0" tIns="0" rIns="0" bIns="0" rtlCol="0" anchor="t"/>
          <a:lstStyle/>
          <a:p>
            <a:pPr indent="0" marL="0">
              <a:buNone/>
            </a:pPr>
            <a:r>
              <a:rPr lang="en-US" sz="1300" b="1" dirty="0">
                <a:solidFill>
                  <a:schemeClr val="accent1"/>
                </a:solidFill>
              </a:rPr>
              <a:t>Revisione</a:t>
            </a:r>
            <a:endParaRPr lang="en-US" sz="1300" dirty="0"/>
          </a:p>
        </p:txBody>
      </p:sp>
      <p:sp>
        <p:nvSpPr>
          <p:cNvPr id="12" name="Text 9"/>
          <p:cNvSpPr txBox="1"/>
          <p:nvPr/>
        </p:nvSpPr>
        <p:spPr>
          <a:xfrm>
            <a:off x="5943600" y="2295144"/>
            <a:ext cx="2651760" cy="402336"/>
          </a:xfrm>
          <a:prstGeom prst="rect">
            <a:avLst/>
          </a:prstGeom>
          <a:noFill/>
          <a:ln/>
        </p:spPr>
        <p:txBody>
          <a:bodyPr wrap="square" lIns="0" tIns="0" rIns="0" bIns="0" rtlCol="0" anchor="t"/>
          <a:lstStyle/>
          <a:p>
            <a:pPr indent="0" marL="0">
              <a:buNone/>
            </a:pPr>
            <a:r>
              <a:rPr lang="en-US" sz="1100" dirty="0">
                <a:solidFill>
                  <a:schemeClr val="tx1"/>
                </a:solidFill>
              </a:rPr>
              <a:t>Che cosa migliorare e che cosa non toccare</a:t>
            </a:r>
            <a:endParaRPr lang="en-US" sz="1100" dirty="0"/>
          </a:p>
        </p:txBody>
      </p:sp>
      <p:sp>
        <p:nvSpPr>
          <p:cNvPr id="13" name="Modifiche motivate"/>
          <p:cNvSpPr/>
          <p:nvPr/>
        </p:nvSpPr>
        <p:spPr>
          <a:xfrm>
            <a:off x="5806440" y="2834640"/>
            <a:ext cx="2880360" cy="749808"/>
          </a:xfrm>
          <a:prstGeom prst="roundRect">
            <a:avLst>
              <a:gd name="adj" fmla="val 9756"/>
            </a:avLst>
          </a:prstGeom>
          <a:solidFill>
            <a:schemeClr val="bg2"/>
          </a:solidFill>
          <a:ln/>
        </p:spPr>
      </p:sp>
      <p:sp>
        <p:nvSpPr>
          <p:cNvPr id="14" name="Text 11"/>
          <p:cNvSpPr txBox="1"/>
          <p:nvPr/>
        </p:nvSpPr>
        <p:spPr>
          <a:xfrm>
            <a:off x="5943600" y="2880360"/>
            <a:ext cx="2651760" cy="274320"/>
          </a:xfrm>
          <a:prstGeom prst="rect">
            <a:avLst/>
          </a:prstGeom>
          <a:noFill/>
          <a:ln/>
        </p:spPr>
        <p:txBody>
          <a:bodyPr wrap="square" lIns="0" tIns="0" rIns="0" bIns="0" rtlCol="0" anchor="t"/>
          <a:lstStyle/>
          <a:p>
            <a:pPr indent="0" marL="0">
              <a:buNone/>
            </a:pPr>
            <a:r>
              <a:rPr lang="en-US" sz="1300" b="1" dirty="0">
                <a:solidFill>
                  <a:schemeClr val="accent1"/>
                </a:solidFill>
              </a:rPr>
              <a:t>Modifiche motivate</a:t>
            </a:r>
            <a:endParaRPr lang="en-US" sz="1300" dirty="0"/>
          </a:p>
        </p:txBody>
      </p:sp>
      <p:sp>
        <p:nvSpPr>
          <p:cNvPr id="15" name="Text 12"/>
          <p:cNvSpPr txBox="1"/>
          <p:nvPr/>
        </p:nvSpPr>
        <p:spPr>
          <a:xfrm>
            <a:off x="5943600" y="3163824"/>
            <a:ext cx="2651760" cy="402336"/>
          </a:xfrm>
          <a:prstGeom prst="rect">
            <a:avLst/>
          </a:prstGeom>
          <a:noFill/>
          <a:ln/>
        </p:spPr>
        <p:txBody>
          <a:bodyPr wrap="square" lIns="0" tIns="0" rIns="0" bIns="0" rtlCol="0" anchor="t"/>
          <a:lstStyle/>
          <a:p>
            <a:pPr indent="0" marL="0">
              <a:buNone/>
            </a:pPr>
            <a:r>
              <a:rPr lang="en-US" sz="1100" dirty="0">
                <a:solidFill>
                  <a:schemeClr val="tx1"/>
                </a:solidFill>
              </a:rPr>
              <a:t>Controllo sulle scelte e apprendimento</a:t>
            </a:r>
            <a:endParaRPr lang="en-US" sz="1100" dirty="0"/>
          </a:p>
        </p:txBody>
      </p:sp>
      <p:sp>
        <p:nvSpPr>
          <p:cNvPr id="16" name="messaggio"/>
          <p:cNvSpPr/>
          <p:nvPr/>
        </p:nvSpPr>
        <p:spPr>
          <a:xfrm>
            <a:off x="457200" y="3749040"/>
            <a:ext cx="8229600" cy="777240"/>
          </a:xfrm>
          <a:prstGeom prst="roundRect">
            <a:avLst>
              <a:gd name="adj" fmla="val 9412"/>
            </a:avLst>
          </a:prstGeom>
          <a:solidFill>
            <a:schemeClr val="tx1"/>
          </a:solidFill>
          <a:ln/>
        </p:spPr>
      </p:sp>
      <p:sp>
        <p:nvSpPr>
          <p:cNvPr id="17" name="Text 14"/>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00" dirty="0">
                <a:solidFill>
                  <a:schemeClr val="bg1"/>
                </a:solidFill>
              </a:rPr>
              <a:t>Dire che cosa non toccare permette al sistema di migliorare la forma lasciando intatto ciò che funziona.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Analisi e sintesi documentale</a:t>
            </a:r>
            <a:endParaRPr lang="en-US" sz="2600" dirty="0"/>
          </a:p>
        </p:txBody>
      </p:sp>
      <p:sp>
        <p:nvSpPr>
          <p:cNvPr id="4" name="prompt"/>
          <p:cNvSpPr/>
          <p:nvPr/>
        </p:nvSpPr>
        <p:spPr>
          <a:xfrm>
            <a:off x="457200" y="1097280"/>
            <a:ext cx="5120640" cy="2240280"/>
          </a:xfrm>
          <a:prstGeom prst="roundRect">
            <a:avLst>
              <a:gd name="adj" fmla="val 3265"/>
            </a:avLst>
          </a:prstGeom>
          <a:solidFill>
            <a:schemeClr val="accent6"/>
          </a:solidFill>
          <a:ln/>
        </p:spPr>
      </p:sp>
      <p:sp>
        <p:nvSpPr>
          <p:cNvPr id="5" name="Text 2"/>
          <p:cNvSpPr txBox="1"/>
          <p:nvPr/>
        </p:nvSpPr>
        <p:spPr>
          <a:xfrm>
            <a:off x="621792" y="1188720"/>
            <a:ext cx="4791456" cy="256032"/>
          </a:xfrm>
          <a:prstGeom prst="rect">
            <a:avLst/>
          </a:prstGeom>
          <a:noFill/>
          <a:ln/>
        </p:spPr>
        <p:txBody>
          <a:bodyPr wrap="square" lIns="0" tIns="0" rIns="0" bIns="0" rtlCol="0" anchor="t"/>
          <a:lstStyle/>
          <a:p>
            <a:pPr indent="0" marL="0">
              <a:buNone/>
            </a:pPr>
            <a:r>
              <a:rPr lang="en-US" sz="1100" b="1" dirty="0">
                <a:solidFill>
                  <a:schemeClr val="accent1"/>
                </a:solidFill>
              </a:rPr>
              <a:t>Esempio: analisi documentale</a:t>
            </a:r>
            <a:endParaRPr lang="en-US" sz="1100" dirty="0"/>
          </a:p>
        </p:txBody>
      </p:sp>
      <p:sp>
        <p:nvSpPr>
          <p:cNvPr id="6" name="Text 3"/>
          <p:cNvSpPr txBox="1"/>
          <p:nvPr/>
        </p:nvSpPr>
        <p:spPr>
          <a:xfrm>
            <a:off x="621792" y="1463040"/>
            <a:ext cx="4791456" cy="17830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Analizza il contratto di fornitura allegato.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Elenca in una tabella: obblighi del fornitore, obblighi nostri, scadenze, penali.</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Per ogni voce indica l'articolo di riferimento.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Usa solo il testo del contratto; se un elemento non è presente, scrivi "non indicato".</a:t>
            </a:r>
            <a:endParaRPr lang="en-US" sz="1200" dirty="0"/>
          </a:p>
        </p:txBody>
      </p:sp>
      <p:sp>
        <p:nvSpPr>
          <p:cNvPr id="7" name="Text 4"/>
          <p:cNvSpPr txBox="1"/>
          <p:nvPr/>
        </p:nvSpPr>
        <p:spPr>
          <a:xfrm>
            <a:off x="5806440" y="1097280"/>
            <a:ext cx="2880360" cy="274320"/>
          </a:xfrm>
          <a:prstGeom prst="rect">
            <a:avLst/>
          </a:prstGeom>
          <a:noFill/>
          <a:ln/>
        </p:spPr>
        <p:txBody>
          <a:bodyPr wrap="square" lIns="0" tIns="0" rIns="0" bIns="0" rtlCol="0" anchor="t"/>
          <a:lstStyle/>
          <a:p>
            <a:pPr indent="0" marL="0">
              <a:buNone/>
            </a:pPr>
            <a:r>
              <a:rPr lang="en-US" sz="1400" b="1" dirty="0">
                <a:solidFill>
                  <a:schemeClr val="tx1"/>
                </a:solidFill>
              </a:rPr>
              <a:t>Principi</a:t>
            </a:r>
            <a:endParaRPr lang="en-US" sz="1400" dirty="0"/>
          </a:p>
        </p:txBody>
      </p:sp>
      <p:sp>
        <p:nvSpPr>
          <p:cNvPr id="8" name="riga 0"/>
          <p:cNvSpPr/>
          <p:nvPr/>
        </p:nvSpPr>
        <p:spPr>
          <a:xfrm>
            <a:off x="5806440" y="1417320"/>
            <a:ext cx="2880360" cy="365760"/>
          </a:xfrm>
          <a:prstGeom prst="roundRect">
            <a:avLst>
              <a:gd name="adj" fmla="val 20000"/>
            </a:avLst>
          </a:prstGeom>
          <a:solidFill>
            <a:schemeClr val="bg2"/>
          </a:solidFill>
          <a:ln/>
        </p:spPr>
      </p:sp>
      <p:sp>
        <p:nvSpPr>
          <p:cNvPr id="9" name="Text 6"/>
          <p:cNvSpPr txBox="1"/>
          <p:nvPr/>
        </p:nvSpPr>
        <p:spPr>
          <a:xfrm>
            <a:off x="5989320" y="1417320"/>
            <a:ext cx="2514600" cy="365760"/>
          </a:xfrm>
          <a:prstGeom prst="rect">
            <a:avLst/>
          </a:prstGeom>
          <a:noFill/>
          <a:ln/>
        </p:spPr>
        <p:txBody>
          <a:bodyPr wrap="square" lIns="0" tIns="0" rIns="0" bIns="0" rtlCol="0" anchor="ctr"/>
          <a:lstStyle/>
          <a:p>
            <a:pPr indent="0" marL="0">
              <a:buNone/>
            </a:pPr>
            <a:r>
              <a:rPr lang="en-US" sz="1200" dirty="0">
                <a:solidFill>
                  <a:schemeClr val="tx1"/>
                </a:solidFill>
              </a:rPr>
              <a:t>Fornire il documento</a:t>
            </a:r>
            <a:endParaRPr lang="en-US" sz="1200" dirty="0"/>
          </a:p>
        </p:txBody>
      </p:sp>
      <p:sp>
        <p:nvSpPr>
          <p:cNvPr id="10" name="riga 1"/>
          <p:cNvSpPr/>
          <p:nvPr/>
        </p:nvSpPr>
        <p:spPr>
          <a:xfrm>
            <a:off x="5806440" y="1856232"/>
            <a:ext cx="2880360" cy="365760"/>
          </a:xfrm>
          <a:prstGeom prst="roundRect">
            <a:avLst>
              <a:gd name="adj" fmla="val 20000"/>
            </a:avLst>
          </a:prstGeom>
          <a:solidFill>
            <a:schemeClr val="bg1"/>
          </a:solidFill>
          <a:ln/>
        </p:spPr>
      </p:sp>
      <p:sp>
        <p:nvSpPr>
          <p:cNvPr id="11" name="Text 8"/>
          <p:cNvSpPr txBox="1"/>
          <p:nvPr/>
        </p:nvSpPr>
        <p:spPr>
          <a:xfrm>
            <a:off x="5989320" y="1856232"/>
            <a:ext cx="2514600" cy="365760"/>
          </a:xfrm>
          <a:prstGeom prst="rect">
            <a:avLst/>
          </a:prstGeom>
          <a:noFill/>
          <a:ln/>
        </p:spPr>
        <p:txBody>
          <a:bodyPr wrap="square" lIns="0" tIns="0" rIns="0" bIns="0" rtlCol="0" anchor="ctr"/>
          <a:lstStyle/>
          <a:p>
            <a:pPr indent="0" marL="0">
              <a:buNone/>
            </a:pPr>
            <a:r>
              <a:rPr lang="en-US" sz="1200" dirty="0">
                <a:solidFill>
                  <a:schemeClr val="tx1"/>
                </a:solidFill>
              </a:rPr>
              <a:t>Indicare lo scopo</a:t>
            </a:r>
            <a:endParaRPr lang="en-US" sz="1200" dirty="0"/>
          </a:p>
        </p:txBody>
      </p:sp>
      <p:sp>
        <p:nvSpPr>
          <p:cNvPr id="12" name="riga 2"/>
          <p:cNvSpPr/>
          <p:nvPr/>
        </p:nvSpPr>
        <p:spPr>
          <a:xfrm>
            <a:off x="5806440" y="2295144"/>
            <a:ext cx="2880360" cy="365760"/>
          </a:xfrm>
          <a:prstGeom prst="roundRect">
            <a:avLst>
              <a:gd name="adj" fmla="val 20000"/>
            </a:avLst>
          </a:prstGeom>
          <a:solidFill>
            <a:schemeClr val="bg2"/>
          </a:solidFill>
          <a:ln/>
        </p:spPr>
      </p:sp>
      <p:sp>
        <p:nvSpPr>
          <p:cNvPr id="13" name="Text 10"/>
          <p:cNvSpPr txBox="1"/>
          <p:nvPr/>
        </p:nvSpPr>
        <p:spPr>
          <a:xfrm>
            <a:off x="5989320" y="2295144"/>
            <a:ext cx="2514600" cy="365760"/>
          </a:xfrm>
          <a:prstGeom prst="rect">
            <a:avLst/>
          </a:prstGeom>
          <a:noFill/>
          <a:ln/>
        </p:spPr>
        <p:txBody>
          <a:bodyPr wrap="square" lIns="0" tIns="0" rIns="0" bIns="0" rtlCol="0" anchor="ctr"/>
          <a:lstStyle/>
          <a:p>
            <a:pPr indent="0" marL="0">
              <a:buNone/>
            </a:pPr>
            <a:r>
              <a:rPr lang="en-US" sz="1200" dirty="0">
                <a:solidFill>
                  <a:schemeClr val="tx1"/>
                </a:solidFill>
              </a:rPr>
              <a:t>Basarsi sul documento</a:t>
            </a:r>
            <a:endParaRPr lang="en-US" sz="1200" dirty="0"/>
          </a:p>
        </p:txBody>
      </p:sp>
      <p:sp>
        <p:nvSpPr>
          <p:cNvPr id="14" name="riga 3"/>
          <p:cNvSpPr/>
          <p:nvPr/>
        </p:nvSpPr>
        <p:spPr>
          <a:xfrm>
            <a:off x="5806440" y="2734056"/>
            <a:ext cx="2880360" cy="365760"/>
          </a:xfrm>
          <a:prstGeom prst="roundRect">
            <a:avLst>
              <a:gd name="adj" fmla="val 20000"/>
            </a:avLst>
          </a:prstGeom>
          <a:solidFill>
            <a:schemeClr val="bg1"/>
          </a:solidFill>
          <a:ln/>
        </p:spPr>
      </p:sp>
      <p:sp>
        <p:nvSpPr>
          <p:cNvPr id="15" name="Text 12"/>
          <p:cNvSpPr txBox="1"/>
          <p:nvPr/>
        </p:nvSpPr>
        <p:spPr>
          <a:xfrm>
            <a:off x="5989320" y="2734056"/>
            <a:ext cx="2514600" cy="365760"/>
          </a:xfrm>
          <a:prstGeom prst="rect">
            <a:avLst/>
          </a:prstGeom>
          <a:noFill/>
          <a:ln/>
        </p:spPr>
        <p:txBody>
          <a:bodyPr wrap="square" lIns="0" tIns="0" rIns="0" bIns="0" rtlCol="0" anchor="ctr"/>
          <a:lstStyle/>
          <a:p>
            <a:pPr indent="0" marL="0">
              <a:buNone/>
            </a:pPr>
            <a:r>
              <a:rPr lang="en-US" sz="1200" dirty="0">
                <a:solidFill>
                  <a:schemeClr val="tx1"/>
                </a:solidFill>
              </a:rPr>
              <a:t>Riferimenti alle parti</a:t>
            </a:r>
            <a:endParaRPr lang="en-US" sz="1200" dirty="0"/>
          </a:p>
        </p:txBody>
      </p:sp>
      <p:sp>
        <p:nvSpPr>
          <p:cNvPr id="16" name="riga 4"/>
          <p:cNvSpPr/>
          <p:nvPr/>
        </p:nvSpPr>
        <p:spPr>
          <a:xfrm>
            <a:off x="5806440" y="3172968"/>
            <a:ext cx="2880360" cy="365760"/>
          </a:xfrm>
          <a:prstGeom prst="roundRect">
            <a:avLst>
              <a:gd name="adj" fmla="val 20000"/>
            </a:avLst>
          </a:prstGeom>
          <a:solidFill>
            <a:schemeClr val="bg2"/>
          </a:solidFill>
          <a:ln/>
        </p:spPr>
      </p:sp>
      <p:sp>
        <p:nvSpPr>
          <p:cNvPr id="17" name="Text 14"/>
          <p:cNvSpPr txBox="1"/>
          <p:nvPr/>
        </p:nvSpPr>
        <p:spPr>
          <a:xfrm>
            <a:off x="5989320" y="3172968"/>
            <a:ext cx="2514600" cy="365760"/>
          </a:xfrm>
          <a:prstGeom prst="rect">
            <a:avLst/>
          </a:prstGeom>
          <a:noFill/>
          <a:ln/>
        </p:spPr>
        <p:txBody>
          <a:bodyPr wrap="square" lIns="0" tIns="0" rIns="0" bIns="0" rtlCol="0" anchor="ctr"/>
          <a:lstStyle/>
          <a:p>
            <a:pPr indent="0" marL="0">
              <a:buNone/>
            </a:pPr>
            <a:r>
              <a:rPr lang="en-US" sz="1200" dirty="0">
                <a:solidFill>
                  <a:schemeClr val="tx1"/>
                </a:solidFill>
              </a:rPr>
              <a:t>Fatti distinti da interpretazioni</a:t>
            </a:r>
            <a:endParaRPr lang="en-US" sz="1200" dirty="0"/>
          </a:p>
        </p:txBody>
      </p:sp>
      <p:sp>
        <p:nvSpPr>
          <p:cNvPr id="18" name="messaggio"/>
          <p:cNvSpPr/>
          <p:nvPr/>
        </p:nvSpPr>
        <p:spPr>
          <a:xfrm>
            <a:off x="457200" y="3749040"/>
            <a:ext cx="8229600" cy="685800"/>
          </a:xfrm>
          <a:prstGeom prst="roundRect">
            <a:avLst>
              <a:gd name="adj" fmla="val 10667"/>
            </a:avLst>
          </a:prstGeom>
          <a:solidFill>
            <a:schemeClr val="tx1"/>
          </a:solidFill>
          <a:ln/>
        </p:spPr>
      </p:sp>
      <p:sp>
        <p:nvSpPr>
          <p:cNvPr id="19" name="Text 16"/>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300" dirty="0">
                <a:solidFill>
                  <a:schemeClr val="bg1"/>
                </a:solidFill>
              </a:rPr>
              <a:t>I riferimenti agli articoli rendono rapido il controllo sulla fonte dei punti importanti.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Informazioni e dati</a:t>
            </a:r>
            <a:endParaRPr lang="en-US" sz="2600" dirty="0"/>
          </a:p>
        </p:txBody>
      </p:sp>
      <p:sp>
        <p:nvSpPr>
          <p:cNvPr id="4" name="scheda Organizzare informazioni"/>
          <p:cNvSpPr/>
          <p:nvPr/>
        </p:nvSpPr>
        <p:spPr>
          <a:xfrm>
            <a:off x="457200" y="1097280"/>
            <a:ext cx="3977640" cy="2560320"/>
          </a:xfrm>
          <a:prstGeom prst="roundRect">
            <a:avLst>
              <a:gd name="adj" fmla="val 2857"/>
            </a:avLst>
          </a:prstGeom>
          <a:solidFill>
            <a:schemeClr val="bg2"/>
          </a:solidFill>
          <a:ln/>
        </p:spPr>
      </p:sp>
      <p:sp>
        <p:nvSpPr>
          <p:cNvPr id="5" name="cerchio FiInbox"/>
          <p:cNvSpPr/>
          <p:nvPr/>
        </p:nvSpPr>
        <p:spPr>
          <a:xfrm>
            <a:off x="640080" y="1280160"/>
            <a:ext cx="457200" cy="457200"/>
          </a:xfrm>
          <a:prstGeom prst="ellipse">
            <a:avLst/>
          </a:prstGeom>
          <a:solidFill>
            <a:schemeClr val="accent1"/>
          </a:solidFill>
          <a:ln/>
        </p:spPr>
      </p:sp>
      <p:pic>
        <p:nvPicPr>
          <p:cNvPr id="6" name="Image 0" descr="FiInbox">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Organizzare informazioni</a:t>
            </a:r>
            <a:endParaRPr lang="en-US" sz="1500" dirty="0"/>
          </a:p>
        </p:txBody>
      </p:sp>
      <p:sp>
        <p:nvSpPr>
          <p:cNvPr id="8" name="Text 4"/>
          <p:cNvSpPr txBox="1"/>
          <p:nvPr/>
        </p:nvSpPr>
        <p:spPr>
          <a:xfrm>
            <a:off x="640080" y="2231136"/>
            <a:ext cx="3611880" cy="131673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Da appunti ed email a tabelle, azioni, schede</a:t>
            </a:r>
            <a:endParaRPr lang="en-US" sz="1200" dirty="0"/>
          </a:p>
          <a:p>
            <a:pPr marL="177800" indent="-177800">
              <a:spcAft>
                <a:spcPts val="300"/>
              </a:spcAft>
              <a:buSzPct val="100000"/>
              <a:buChar char="•"/>
            </a:pPr>
            <a:r>
              <a:rPr lang="en-US" sz="1200" dirty="0">
                <a:solidFill>
                  <a:schemeClr val="tx2"/>
                </a:solidFill>
              </a:rPr>
              <a:t>Definire colonne e campi</a:t>
            </a:r>
            <a:endParaRPr lang="en-US" sz="1200" dirty="0"/>
          </a:p>
          <a:p>
            <a:pPr marL="177800" indent="-177800">
              <a:spcAft>
                <a:spcPts val="300"/>
              </a:spcAft>
              <a:buSzPct val="100000"/>
              <a:buChar char="•"/>
            </a:pPr>
            <a:r>
              <a:rPr lang="en-US" sz="1200" dirty="0">
                <a:solidFill>
                  <a:schemeClr val="tx2"/>
                </a:solidFill>
              </a:rPr>
              <a:t>Non completare i dati mancanti con stime</a:t>
            </a:r>
            <a:endParaRPr lang="en-US" sz="1200" dirty="0"/>
          </a:p>
          <a:p>
            <a:pPr marL="177800" indent="-177800">
              <a:spcAft>
                <a:spcPts val="300"/>
              </a:spcAft>
              <a:buSzPct val="100000"/>
              <a:buChar char="•"/>
            </a:pPr>
            <a:r>
              <a:rPr lang="en-US" sz="1200" dirty="0">
                <a:solidFill>
                  <a:schemeClr val="tx2"/>
                </a:solidFill>
              </a:rPr>
              <a:t>Indicare come trattare i casi ambigui</a:t>
            </a:r>
            <a:endParaRPr lang="en-US" sz="1200" dirty="0"/>
          </a:p>
        </p:txBody>
      </p:sp>
      <p:sp>
        <p:nvSpPr>
          <p:cNvPr id="9" name="scheda Analizzare dati"/>
          <p:cNvSpPr/>
          <p:nvPr/>
        </p:nvSpPr>
        <p:spPr>
          <a:xfrm>
            <a:off x="4709160" y="1097280"/>
            <a:ext cx="3977640" cy="2560320"/>
          </a:xfrm>
          <a:prstGeom prst="roundRect">
            <a:avLst>
              <a:gd name="adj" fmla="val 2857"/>
            </a:avLst>
          </a:prstGeom>
          <a:solidFill>
            <a:schemeClr val="accent6"/>
          </a:solidFill>
          <a:ln/>
        </p:spPr>
      </p:sp>
      <p:sp>
        <p:nvSpPr>
          <p:cNvPr id="10" name="cerchio FiBarChart2"/>
          <p:cNvSpPr/>
          <p:nvPr/>
        </p:nvSpPr>
        <p:spPr>
          <a:xfrm>
            <a:off x="4892040" y="1280160"/>
            <a:ext cx="457200" cy="457200"/>
          </a:xfrm>
          <a:prstGeom prst="ellipse">
            <a:avLst/>
          </a:prstGeom>
          <a:solidFill>
            <a:schemeClr val="accent1"/>
          </a:solidFill>
          <a:ln/>
        </p:spPr>
      </p:sp>
      <p:pic>
        <p:nvPicPr>
          <p:cNvPr id="11" name="Image 1" descr="FiBarChart2">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Analizzare dati</a:t>
            </a:r>
            <a:endParaRPr lang="en-US" sz="1500" dirty="0"/>
          </a:p>
        </p:txBody>
      </p:sp>
      <p:sp>
        <p:nvSpPr>
          <p:cNvPr id="13" name="Text 8"/>
          <p:cNvSpPr txBox="1"/>
          <p:nvPr/>
        </p:nvSpPr>
        <p:spPr>
          <a:xfrm>
            <a:off x="4892040" y="2231136"/>
            <a:ext cx="3611880" cy="131673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Calcoli eseguiti con codice, mostrando come</a:t>
            </a:r>
            <a:endParaRPr lang="en-US" sz="1200" dirty="0"/>
          </a:p>
          <a:p>
            <a:pPr marL="177800" indent="-177800">
              <a:spcAft>
                <a:spcPts val="300"/>
              </a:spcAft>
              <a:buSzPct val="100000"/>
              <a:buChar char="•"/>
            </a:pPr>
            <a:r>
              <a:rPr lang="en-US" sz="1200" dirty="0">
                <a:solidFill>
                  <a:schemeClr val="tx2"/>
                </a:solidFill>
              </a:rPr>
              <a:t>Dati distinti da ipotesi interpretative</a:t>
            </a:r>
            <a:endParaRPr lang="en-US" sz="1200" dirty="0"/>
          </a:p>
          <a:p>
            <a:pPr marL="177800" indent="-177800">
              <a:spcAft>
                <a:spcPts val="300"/>
              </a:spcAft>
              <a:buSzPct val="100000"/>
              <a:buChar char="•"/>
            </a:pPr>
            <a:r>
              <a:rPr lang="en-US" sz="1200" dirty="0">
                <a:solidFill>
                  <a:schemeClr val="tx2"/>
                </a:solidFill>
              </a:rPr>
              <a:t>Spiegare colonne e sigle interne</a:t>
            </a:r>
            <a:endParaRPr lang="en-US" sz="1200" dirty="0"/>
          </a:p>
        </p:txBody>
      </p:sp>
      <p:sp>
        <p:nvSpPr>
          <p:cNvPr id="14" name="messaggio"/>
          <p:cNvSpPr/>
          <p:nvPr/>
        </p:nvSpPr>
        <p:spPr>
          <a:xfrm>
            <a:off x="457200" y="3794760"/>
            <a:ext cx="8229600" cy="731520"/>
          </a:xfrm>
          <a:prstGeom prst="roundRect">
            <a:avLst>
              <a:gd name="adj" fmla="val 10000"/>
            </a:avLst>
          </a:prstGeom>
          <a:solidFill>
            <a:schemeClr val="tx1"/>
          </a:solidFill>
          <a:ln/>
        </p:spPr>
      </p:sp>
      <p:sp>
        <p:nvSpPr>
          <p:cNvPr id="15" name="Text 10"/>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"Le vendite sono calate del 12%" è un dato. "Probabilmente per la stagionalità" è un'ipotesi.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Ricerca, brainstorming e problem solving</a:t>
            </a:r>
            <a:endParaRPr lang="en-US" sz="2600" dirty="0"/>
          </a:p>
        </p:txBody>
      </p:sp>
      <p:sp>
        <p:nvSpPr>
          <p:cNvPr id="4" name="prompt"/>
          <p:cNvSpPr/>
          <p:nvPr/>
        </p:nvSpPr>
        <p:spPr>
          <a:xfrm>
            <a:off x="457200" y="1097280"/>
            <a:ext cx="5120640" cy="2743200"/>
          </a:xfrm>
          <a:prstGeom prst="roundRect">
            <a:avLst>
              <a:gd name="adj" fmla="val 2667"/>
            </a:avLst>
          </a:prstGeom>
          <a:solidFill>
            <a:schemeClr val="accent6"/>
          </a:solidFill>
          <a:ln/>
        </p:spPr>
      </p:sp>
      <p:sp>
        <p:nvSpPr>
          <p:cNvPr id="5" name="Text 2"/>
          <p:cNvSpPr txBox="1"/>
          <p:nvPr/>
        </p:nvSpPr>
        <p:spPr>
          <a:xfrm>
            <a:off x="621792" y="1188720"/>
            <a:ext cx="4791456" cy="256032"/>
          </a:xfrm>
          <a:prstGeom prst="rect">
            <a:avLst/>
          </a:prstGeom>
          <a:noFill/>
          <a:ln/>
        </p:spPr>
        <p:txBody>
          <a:bodyPr wrap="square" lIns="0" tIns="0" rIns="0" bIns="0" rtlCol="0" anchor="t"/>
          <a:lstStyle/>
          <a:p>
            <a:pPr indent="0" marL="0">
              <a:buNone/>
            </a:pPr>
            <a:r>
              <a:rPr lang="en-US" sz="1100" b="1" dirty="0">
                <a:solidFill>
                  <a:schemeClr val="accent1"/>
                </a:solidFill>
              </a:rPr>
              <a:t>Esempio: problem solving per fasi</a:t>
            </a:r>
            <a:endParaRPr lang="en-US" sz="1100" dirty="0"/>
          </a:p>
        </p:txBody>
      </p:sp>
      <p:sp>
        <p:nvSpPr>
          <p:cNvPr id="6" name="Text 3"/>
          <p:cNvSpPr txBox="1"/>
          <p:nvPr/>
        </p:nvSpPr>
        <p:spPr>
          <a:xfrm>
            <a:off x="621792" y="1463040"/>
            <a:ext cx="4791456" cy="22860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Il tasso di resi di un nostro prodotto è aumentato negli ultimi tre mesi.</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1. Elenca le possibili cause, raggruppate per area.</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2. Per ciascuna, indica quali dati servirebbero per confermarla.</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3. Proponi tre interventi e confrontali per costo, tempi e impatto.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4. Indica i rischi principali di ciascun intervento.</a:t>
            </a:r>
            <a:endParaRPr lang="en-US" sz="1200" dirty="0"/>
          </a:p>
        </p:txBody>
      </p:sp>
      <p:sp>
        <p:nvSpPr>
          <p:cNvPr id="7" name="Ricerca"/>
          <p:cNvSpPr/>
          <p:nvPr/>
        </p:nvSpPr>
        <p:spPr>
          <a:xfrm>
            <a:off x="5806440" y="1097280"/>
            <a:ext cx="2880360" cy="804672"/>
          </a:xfrm>
          <a:prstGeom prst="roundRect">
            <a:avLst>
              <a:gd name="adj" fmla="val 9091"/>
            </a:avLst>
          </a:prstGeom>
          <a:solidFill>
            <a:schemeClr val="bg2"/>
          </a:solidFill>
          <a:ln/>
        </p:spPr>
      </p:sp>
      <p:sp>
        <p:nvSpPr>
          <p:cNvPr id="8" name="Text 5"/>
          <p:cNvSpPr txBox="1"/>
          <p:nvPr/>
        </p:nvSpPr>
        <p:spPr>
          <a:xfrm>
            <a:off x="5943600" y="1143000"/>
            <a:ext cx="2651760" cy="320040"/>
          </a:xfrm>
          <a:prstGeom prst="rect">
            <a:avLst/>
          </a:prstGeom>
          <a:noFill/>
          <a:ln/>
        </p:spPr>
        <p:txBody>
          <a:bodyPr wrap="square" lIns="0" tIns="0" rIns="0" bIns="0" rtlCol="0" anchor="t"/>
          <a:lstStyle/>
          <a:p>
            <a:pPr indent="0" marL="0">
              <a:buNone/>
            </a:pPr>
            <a:r>
              <a:rPr lang="en-US" sz="1400" b="1" dirty="0">
                <a:solidFill>
                  <a:schemeClr val="accent1"/>
                </a:solidFill>
              </a:rPr>
              <a:t>Ricerca</a:t>
            </a:r>
            <a:endParaRPr lang="en-US" sz="1400" dirty="0"/>
          </a:p>
        </p:txBody>
      </p:sp>
      <p:sp>
        <p:nvSpPr>
          <p:cNvPr id="9" name="Text 6"/>
          <p:cNvSpPr txBox="1"/>
          <p:nvPr/>
        </p:nvSpPr>
        <p:spPr>
          <a:xfrm>
            <a:off x="5943600" y="1481328"/>
            <a:ext cx="2651760" cy="384048"/>
          </a:xfrm>
          <a:prstGeom prst="rect">
            <a:avLst/>
          </a:prstGeom>
          <a:noFill/>
          <a:ln/>
        </p:spPr>
        <p:txBody>
          <a:bodyPr wrap="square" lIns="0" tIns="0" rIns="0" bIns="0" rtlCol="0" anchor="t"/>
          <a:lstStyle/>
          <a:p>
            <a:pPr indent="0" marL="0">
              <a:buNone/>
            </a:pPr>
            <a:r>
              <a:rPr lang="en-US" sz="1200" dirty="0">
                <a:solidFill>
                  <a:schemeClr val="tx1"/>
                </a:solidFill>
              </a:rPr>
              <a:t>Criteri chiari, fonti consultabili</a:t>
            </a:r>
            <a:endParaRPr lang="en-US" sz="1200" dirty="0"/>
          </a:p>
        </p:txBody>
      </p:sp>
      <p:sp>
        <p:nvSpPr>
          <p:cNvPr id="10" name="Brainstorming"/>
          <p:cNvSpPr/>
          <p:nvPr/>
        </p:nvSpPr>
        <p:spPr>
          <a:xfrm>
            <a:off x="5806440" y="2011680"/>
            <a:ext cx="2880360" cy="804672"/>
          </a:xfrm>
          <a:prstGeom prst="roundRect">
            <a:avLst>
              <a:gd name="adj" fmla="val 9091"/>
            </a:avLst>
          </a:prstGeom>
          <a:solidFill>
            <a:schemeClr val="bg2"/>
          </a:solidFill>
          <a:ln/>
        </p:spPr>
      </p:sp>
      <p:sp>
        <p:nvSpPr>
          <p:cNvPr id="11" name="Text 8"/>
          <p:cNvSpPr txBox="1"/>
          <p:nvPr/>
        </p:nvSpPr>
        <p:spPr>
          <a:xfrm>
            <a:off x="5943600" y="2057400"/>
            <a:ext cx="2651760" cy="320040"/>
          </a:xfrm>
          <a:prstGeom prst="rect">
            <a:avLst/>
          </a:prstGeom>
          <a:noFill/>
          <a:ln/>
        </p:spPr>
        <p:txBody>
          <a:bodyPr wrap="square" lIns="0" tIns="0" rIns="0" bIns="0" rtlCol="0" anchor="t"/>
          <a:lstStyle/>
          <a:p>
            <a:pPr indent="0" marL="0">
              <a:buNone/>
            </a:pPr>
            <a:r>
              <a:rPr lang="en-US" sz="1400" b="1" dirty="0">
                <a:solidFill>
                  <a:schemeClr val="accent1"/>
                </a:solidFill>
              </a:rPr>
              <a:t>Brainstorming</a:t>
            </a:r>
            <a:endParaRPr lang="en-US" sz="1400" dirty="0"/>
          </a:p>
        </p:txBody>
      </p:sp>
      <p:sp>
        <p:nvSpPr>
          <p:cNvPr id="12" name="Text 9"/>
          <p:cNvSpPr txBox="1"/>
          <p:nvPr/>
        </p:nvSpPr>
        <p:spPr>
          <a:xfrm>
            <a:off x="5943600" y="2395728"/>
            <a:ext cx="2651760" cy="384048"/>
          </a:xfrm>
          <a:prstGeom prst="rect">
            <a:avLst/>
          </a:prstGeom>
          <a:noFill/>
          <a:ln/>
        </p:spPr>
        <p:txBody>
          <a:bodyPr wrap="square" lIns="0" tIns="0" rIns="0" bIns="0" rtlCol="0" anchor="t"/>
          <a:lstStyle/>
          <a:p>
            <a:pPr indent="0" marL="0">
              <a:buNone/>
            </a:pPr>
            <a:r>
              <a:rPr lang="en-US" sz="1200" dirty="0">
                <a:solidFill>
                  <a:schemeClr val="tx1"/>
                </a:solidFill>
              </a:rPr>
              <a:t>Molte idee diverse, poi selezione</a:t>
            </a:r>
            <a:endParaRPr lang="en-US" sz="1200" dirty="0"/>
          </a:p>
        </p:txBody>
      </p:sp>
      <p:sp>
        <p:nvSpPr>
          <p:cNvPr id="13" name="Problem solving"/>
          <p:cNvSpPr/>
          <p:nvPr/>
        </p:nvSpPr>
        <p:spPr>
          <a:xfrm>
            <a:off x="5806440" y="2926080"/>
            <a:ext cx="2880360" cy="804672"/>
          </a:xfrm>
          <a:prstGeom prst="roundRect">
            <a:avLst>
              <a:gd name="adj" fmla="val 9091"/>
            </a:avLst>
          </a:prstGeom>
          <a:solidFill>
            <a:schemeClr val="bg2"/>
          </a:solidFill>
          <a:ln/>
        </p:spPr>
      </p:sp>
      <p:sp>
        <p:nvSpPr>
          <p:cNvPr id="14" name="Text 11"/>
          <p:cNvSpPr txBox="1"/>
          <p:nvPr/>
        </p:nvSpPr>
        <p:spPr>
          <a:xfrm>
            <a:off x="5943600" y="2971800"/>
            <a:ext cx="2651760" cy="320040"/>
          </a:xfrm>
          <a:prstGeom prst="rect">
            <a:avLst/>
          </a:prstGeom>
          <a:noFill/>
          <a:ln/>
        </p:spPr>
        <p:txBody>
          <a:bodyPr wrap="square" lIns="0" tIns="0" rIns="0" bIns="0" rtlCol="0" anchor="t"/>
          <a:lstStyle/>
          <a:p>
            <a:pPr indent="0" marL="0">
              <a:buNone/>
            </a:pPr>
            <a:r>
              <a:rPr lang="en-US" sz="1400" b="1" dirty="0">
                <a:solidFill>
                  <a:schemeClr val="accent1"/>
                </a:solidFill>
              </a:rPr>
              <a:t>Problem solving</a:t>
            </a:r>
            <a:endParaRPr lang="en-US" sz="1400" dirty="0"/>
          </a:p>
        </p:txBody>
      </p:sp>
      <p:sp>
        <p:nvSpPr>
          <p:cNvPr id="15" name="Text 12"/>
          <p:cNvSpPr txBox="1"/>
          <p:nvPr/>
        </p:nvSpPr>
        <p:spPr>
          <a:xfrm>
            <a:off x="5943600" y="3310128"/>
            <a:ext cx="2651760" cy="384048"/>
          </a:xfrm>
          <a:prstGeom prst="rect">
            <a:avLst/>
          </a:prstGeom>
          <a:noFill/>
          <a:ln/>
        </p:spPr>
        <p:txBody>
          <a:bodyPr wrap="square" lIns="0" tIns="0" rIns="0" bIns="0" rtlCol="0" anchor="t"/>
          <a:lstStyle/>
          <a:p>
            <a:pPr indent="0" marL="0">
              <a:buNone/>
            </a:pPr>
            <a:r>
              <a:rPr lang="en-US" sz="1200" dirty="0">
                <a:solidFill>
                  <a:schemeClr val="tx1"/>
                </a:solidFill>
              </a:rPr>
              <a:t>Cause, alternative, criteri, rischi</a:t>
            </a:r>
            <a:endParaRPr lang="en-US" sz="1200" dirty="0"/>
          </a:p>
        </p:txBody>
      </p:sp>
      <p:sp>
        <p:nvSpPr>
          <p:cNvPr id="16" name="messaggio"/>
          <p:cNvSpPr/>
          <p:nvPr/>
        </p:nvSpPr>
        <p:spPr>
          <a:xfrm>
            <a:off x="457200" y="4023360"/>
            <a:ext cx="8229600" cy="502920"/>
          </a:xfrm>
          <a:prstGeom prst="roundRect">
            <a:avLst>
              <a:gd name="adj" fmla="val 14545"/>
            </a:avLst>
          </a:prstGeom>
          <a:solidFill>
            <a:schemeClr val="tx1"/>
          </a:solidFill>
          <a:ln/>
        </p:spPr>
      </p:sp>
      <p:sp>
        <p:nvSpPr>
          <p:cNvPr id="17" name="Text 14"/>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300" dirty="0">
                <a:solidFill>
                  <a:schemeClr val="bg1"/>
                </a:solidFill>
              </a:rPr>
              <a:t>L'AI amplia e struttura il ragionamento; valutazione e scelta restano della persona.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Documenti importanti: lavorare per fasi</a:t>
            </a:r>
            <a:endParaRPr lang="en-US" sz="2600" dirty="0"/>
          </a:p>
        </p:txBody>
      </p:sp>
      <p:sp>
        <p:nvSpPr>
          <p:cNvPr id="4" name="Scaletta"/>
          <p:cNvSpPr/>
          <p:nvPr/>
        </p:nvSpPr>
        <p:spPr>
          <a:xfrm>
            <a:off x="457200" y="1097280"/>
            <a:ext cx="1865376" cy="1828800"/>
          </a:xfrm>
          <a:prstGeom prst="roundRect">
            <a:avLst>
              <a:gd name="adj" fmla="val 4000"/>
            </a:avLst>
          </a:prstGeom>
          <a:solidFill>
            <a:schemeClr val="bg2"/>
          </a:solidFill>
          <a:ln/>
        </p:spPr>
      </p:sp>
      <p:sp>
        <p:nvSpPr>
          <p:cNvPr id="5" name="cerchio FiList"/>
          <p:cNvSpPr/>
          <p:nvPr/>
        </p:nvSpPr>
        <p:spPr>
          <a:xfrm>
            <a:off x="1143000" y="1225296"/>
            <a:ext cx="493776" cy="493776"/>
          </a:xfrm>
          <a:prstGeom prst="ellipse">
            <a:avLst/>
          </a:prstGeom>
          <a:solidFill>
            <a:schemeClr val="accent1"/>
          </a:solidFill>
          <a:ln/>
        </p:spPr>
      </p:sp>
      <p:pic>
        <p:nvPicPr>
          <p:cNvPr id="6" name="Image 0" descr="FiList">    </p:cNvPr>
          <p:cNvPicPr>
            <a:picLocks noChangeAspect="1"/>
          </p:cNvPicPr>
          <p:nvPr/>
        </p:nvPicPr>
        <p:blipFill>
          <a:blip r:embed="rId1"/>
          <a:stretch>
            <a:fillRect/>
          </a:stretch>
        </p:blipFill>
        <p:spPr>
          <a:xfrm>
            <a:off x="1266444" y="1348740"/>
            <a:ext cx="246888" cy="246888"/>
          </a:xfrm>
          <a:prstGeom prst="rect">
            <a:avLst/>
          </a:prstGeom>
        </p:spPr>
      </p:pic>
      <p:sp>
        <p:nvSpPr>
          <p:cNvPr id="7" name="Text 3"/>
          <p:cNvSpPr txBox="1"/>
          <p:nvPr/>
        </p:nvSpPr>
        <p:spPr>
          <a:xfrm>
            <a:off x="530352" y="1792224"/>
            <a:ext cx="1719072" cy="384048"/>
          </a:xfrm>
          <a:prstGeom prst="rect">
            <a:avLst/>
          </a:prstGeom>
          <a:noFill/>
          <a:ln/>
        </p:spPr>
        <p:txBody>
          <a:bodyPr wrap="square" lIns="0" tIns="0" rIns="0" bIns="0" rtlCol="0" anchor="ctr"/>
          <a:lstStyle/>
          <a:p>
            <a:pPr algn="ctr" indent="0" marL="0">
              <a:buNone/>
            </a:pPr>
            <a:r>
              <a:rPr lang="en-US" sz="1300" b="1" dirty="0">
                <a:solidFill>
                  <a:schemeClr val="tx1"/>
                </a:solidFill>
              </a:rPr>
              <a:t>1. Scaletta</a:t>
            </a:r>
            <a:endParaRPr lang="en-US" sz="1300" dirty="0"/>
          </a:p>
        </p:txBody>
      </p:sp>
      <p:sp>
        <p:nvSpPr>
          <p:cNvPr id="8" name="Text 4"/>
          <p:cNvSpPr txBox="1"/>
          <p:nvPr/>
        </p:nvSpPr>
        <p:spPr>
          <a:xfrm>
            <a:off x="548640" y="2176272"/>
            <a:ext cx="1682496" cy="694944"/>
          </a:xfrm>
          <a:prstGeom prst="rect">
            <a:avLst/>
          </a:prstGeom>
          <a:noFill/>
          <a:ln/>
        </p:spPr>
        <p:txBody>
          <a:bodyPr wrap="square" lIns="0" tIns="0" rIns="0" bIns="0" rtlCol="0" anchor="t"/>
          <a:lstStyle/>
          <a:p>
            <a:pPr algn="ctr" indent="0" marL="0">
              <a:buNone/>
            </a:pPr>
            <a:r>
              <a:rPr lang="en-US" sz="1100" dirty="0">
                <a:solidFill>
                  <a:schemeClr val="tx2"/>
                </a:solidFill>
              </a:rPr>
              <a:t>Chiedere e rivedere la struttura</a:t>
            </a:r>
            <a:endParaRPr lang="en-US" sz="1100" dirty="0"/>
          </a:p>
        </p:txBody>
      </p:sp>
      <p:sp>
        <p:nvSpPr>
          <p:cNvPr id="9" name="freccia"/>
          <p:cNvSpPr/>
          <p:nvPr/>
        </p:nvSpPr>
        <p:spPr>
          <a:xfrm>
            <a:off x="2340864" y="1865376"/>
            <a:ext cx="219456" cy="292608"/>
          </a:xfrm>
          <a:prstGeom prst="rightArrow">
            <a:avLst/>
          </a:prstGeom>
          <a:solidFill>
            <a:schemeClr val="accent2"/>
          </a:solidFill>
          <a:ln/>
        </p:spPr>
      </p:sp>
      <p:sp>
        <p:nvSpPr>
          <p:cNvPr id="10" name="Sviluppo"/>
          <p:cNvSpPr/>
          <p:nvPr/>
        </p:nvSpPr>
        <p:spPr>
          <a:xfrm>
            <a:off x="2578608" y="1097280"/>
            <a:ext cx="1865376" cy="1828800"/>
          </a:xfrm>
          <a:prstGeom prst="roundRect">
            <a:avLst>
              <a:gd name="adj" fmla="val 4000"/>
            </a:avLst>
          </a:prstGeom>
          <a:solidFill>
            <a:schemeClr val="bg2"/>
          </a:solidFill>
          <a:ln/>
        </p:spPr>
      </p:sp>
      <p:sp>
        <p:nvSpPr>
          <p:cNvPr id="11" name="cerchio FiEdit3"/>
          <p:cNvSpPr/>
          <p:nvPr/>
        </p:nvSpPr>
        <p:spPr>
          <a:xfrm>
            <a:off x="3264408" y="1225296"/>
            <a:ext cx="493776" cy="493776"/>
          </a:xfrm>
          <a:prstGeom prst="ellipse">
            <a:avLst/>
          </a:prstGeom>
          <a:solidFill>
            <a:schemeClr val="accent1"/>
          </a:solidFill>
          <a:ln/>
        </p:spPr>
      </p:sp>
      <p:pic>
        <p:nvPicPr>
          <p:cNvPr id="12" name="Image 1" descr="FiEdit3">    </p:cNvPr>
          <p:cNvPicPr>
            <a:picLocks noChangeAspect="1"/>
          </p:cNvPicPr>
          <p:nvPr/>
        </p:nvPicPr>
        <p:blipFill>
          <a:blip r:embed="rId2"/>
          <a:stretch>
            <a:fillRect/>
          </a:stretch>
        </p:blipFill>
        <p:spPr>
          <a:xfrm>
            <a:off x="3387852" y="1348740"/>
            <a:ext cx="246888" cy="246888"/>
          </a:xfrm>
          <a:prstGeom prst="rect">
            <a:avLst/>
          </a:prstGeom>
        </p:spPr>
      </p:pic>
      <p:sp>
        <p:nvSpPr>
          <p:cNvPr id="13" name="Text 8"/>
          <p:cNvSpPr txBox="1"/>
          <p:nvPr/>
        </p:nvSpPr>
        <p:spPr>
          <a:xfrm>
            <a:off x="2651760" y="1792224"/>
            <a:ext cx="1719072" cy="384048"/>
          </a:xfrm>
          <a:prstGeom prst="rect">
            <a:avLst/>
          </a:prstGeom>
          <a:noFill/>
          <a:ln/>
        </p:spPr>
        <p:txBody>
          <a:bodyPr wrap="square" lIns="0" tIns="0" rIns="0" bIns="0" rtlCol="0" anchor="ctr"/>
          <a:lstStyle/>
          <a:p>
            <a:pPr algn="ctr" indent="0" marL="0">
              <a:buNone/>
            </a:pPr>
            <a:r>
              <a:rPr lang="en-US" sz="1300" b="1" dirty="0">
                <a:solidFill>
                  <a:schemeClr val="tx1"/>
                </a:solidFill>
              </a:rPr>
              <a:t>2. Sviluppo</a:t>
            </a:r>
            <a:endParaRPr lang="en-US" sz="1300" dirty="0"/>
          </a:p>
        </p:txBody>
      </p:sp>
      <p:sp>
        <p:nvSpPr>
          <p:cNvPr id="14" name="Text 9"/>
          <p:cNvSpPr txBox="1"/>
          <p:nvPr/>
        </p:nvSpPr>
        <p:spPr>
          <a:xfrm>
            <a:off x="2670048" y="2176272"/>
            <a:ext cx="1682496" cy="694944"/>
          </a:xfrm>
          <a:prstGeom prst="rect">
            <a:avLst/>
          </a:prstGeom>
          <a:noFill/>
          <a:ln/>
        </p:spPr>
        <p:txBody>
          <a:bodyPr wrap="square" lIns="0" tIns="0" rIns="0" bIns="0" rtlCol="0" anchor="t"/>
          <a:lstStyle/>
          <a:p>
            <a:pPr algn="ctr" indent="0" marL="0">
              <a:buNone/>
            </a:pPr>
            <a:r>
              <a:rPr lang="en-US" sz="1100" dirty="0">
                <a:solidFill>
                  <a:schemeClr val="tx2"/>
                </a:solidFill>
              </a:rPr>
              <a:t>Testo sezione per sezione</a:t>
            </a:r>
            <a:endParaRPr lang="en-US" sz="1100" dirty="0"/>
          </a:p>
        </p:txBody>
      </p:sp>
      <p:sp>
        <p:nvSpPr>
          <p:cNvPr id="15" name="freccia"/>
          <p:cNvSpPr/>
          <p:nvPr/>
        </p:nvSpPr>
        <p:spPr>
          <a:xfrm>
            <a:off x="4462272" y="1865376"/>
            <a:ext cx="219456" cy="292608"/>
          </a:xfrm>
          <a:prstGeom prst="rightArrow">
            <a:avLst/>
          </a:prstGeom>
          <a:solidFill>
            <a:schemeClr val="accent2"/>
          </a:solidFill>
          <a:ln/>
        </p:spPr>
      </p:sp>
      <p:sp>
        <p:nvSpPr>
          <p:cNvPr id="16" name="Revisione critica"/>
          <p:cNvSpPr/>
          <p:nvPr/>
        </p:nvSpPr>
        <p:spPr>
          <a:xfrm>
            <a:off x="4700016" y="1097280"/>
            <a:ext cx="1865376" cy="1828800"/>
          </a:xfrm>
          <a:prstGeom prst="roundRect">
            <a:avLst>
              <a:gd name="adj" fmla="val 4000"/>
            </a:avLst>
          </a:prstGeom>
          <a:solidFill>
            <a:schemeClr val="bg2"/>
          </a:solidFill>
          <a:ln/>
        </p:spPr>
      </p:sp>
      <p:sp>
        <p:nvSpPr>
          <p:cNvPr id="17" name="cerchio FiEye"/>
          <p:cNvSpPr/>
          <p:nvPr/>
        </p:nvSpPr>
        <p:spPr>
          <a:xfrm>
            <a:off x="5385816" y="1225296"/>
            <a:ext cx="493776" cy="493776"/>
          </a:xfrm>
          <a:prstGeom prst="ellipse">
            <a:avLst/>
          </a:prstGeom>
          <a:solidFill>
            <a:schemeClr val="accent1"/>
          </a:solidFill>
          <a:ln/>
        </p:spPr>
      </p:sp>
      <p:pic>
        <p:nvPicPr>
          <p:cNvPr id="18" name="Image 2" descr="FiEye">    </p:cNvPr>
          <p:cNvPicPr>
            <a:picLocks noChangeAspect="1"/>
          </p:cNvPicPr>
          <p:nvPr/>
        </p:nvPicPr>
        <p:blipFill>
          <a:blip r:embed="rId3"/>
          <a:stretch>
            <a:fillRect/>
          </a:stretch>
        </p:blipFill>
        <p:spPr>
          <a:xfrm>
            <a:off x="5509260" y="1348740"/>
            <a:ext cx="246888" cy="246888"/>
          </a:xfrm>
          <a:prstGeom prst="rect">
            <a:avLst/>
          </a:prstGeom>
        </p:spPr>
      </p:pic>
      <p:sp>
        <p:nvSpPr>
          <p:cNvPr id="19" name="Text 13"/>
          <p:cNvSpPr txBox="1"/>
          <p:nvPr/>
        </p:nvSpPr>
        <p:spPr>
          <a:xfrm>
            <a:off x="4773168" y="1792224"/>
            <a:ext cx="1719072" cy="384048"/>
          </a:xfrm>
          <a:prstGeom prst="rect">
            <a:avLst/>
          </a:prstGeom>
          <a:noFill/>
          <a:ln/>
        </p:spPr>
        <p:txBody>
          <a:bodyPr wrap="square" lIns="0" tIns="0" rIns="0" bIns="0" rtlCol="0" anchor="ctr"/>
          <a:lstStyle/>
          <a:p>
            <a:pPr algn="ctr" indent="0" marL="0">
              <a:buNone/>
            </a:pPr>
            <a:r>
              <a:rPr lang="en-US" sz="1300" b="1" dirty="0">
                <a:solidFill>
                  <a:schemeClr val="tx1"/>
                </a:solidFill>
              </a:rPr>
              <a:t>3. Revisione critica</a:t>
            </a:r>
            <a:endParaRPr lang="en-US" sz="1300" dirty="0"/>
          </a:p>
        </p:txBody>
      </p:sp>
      <p:sp>
        <p:nvSpPr>
          <p:cNvPr id="20" name="Text 14"/>
          <p:cNvSpPr txBox="1"/>
          <p:nvPr/>
        </p:nvSpPr>
        <p:spPr>
          <a:xfrm>
            <a:off x="4791456" y="2176272"/>
            <a:ext cx="1682496" cy="694944"/>
          </a:xfrm>
          <a:prstGeom prst="rect">
            <a:avLst/>
          </a:prstGeom>
          <a:noFill/>
          <a:ln/>
        </p:spPr>
        <p:txBody>
          <a:bodyPr wrap="square" lIns="0" tIns="0" rIns="0" bIns="0" rtlCol="0" anchor="t"/>
          <a:lstStyle/>
          <a:p>
            <a:pPr algn="ctr" indent="0" marL="0">
              <a:buNone/>
            </a:pPr>
            <a:r>
              <a:rPr lang="en-US" sz="1100" dirty="0">
                <a:solidFill>
                  <a:schemeClr val="tx2"/>
                </a:solidFill>
              </a:rPr>
              <a:t>Dal punto di vista del destinatario</a:t>
            </a:r>
            <a:endParaRPr lang="en-US" sz="1100" dirty="0"/>
          </a:p>
        </p:txBody>
      </p:sp>
      <p:sp>
        <p:nvSpPr>
          <p:cNvPr id="21" name="freccia"/>
          <p:cNvSpPr/>
          <p:nvPr/>
        </p:nvSpPr>
        <p:spPr>
          <a:xfrm>
            <a:off x="6583680" y="1865376"/>
            <a:ext cx="219456" cy="292608"/>
          </a:xfrm>
          <a:prstGeom prst="rightArrow">
            <a:avLst/>
          </a:prstGeom>
          <a:solidFill>
            <a:schemeClr val="accent2"/>
          </a:solidFill>
          <a:ln/>
        </p:spPr>
      </p:sp>
      <p:sp>
        <p:nvSpPr>
          <p:cNvPr id="22" name="Verifica personale"/>
          <p:cNvSpPr/>
          <p:nvPr/>
        </p:nvSpPr>
        <p:spPr>
          <a:xfrm>
            <a:off x="6821424" y="1097280"/>
            <a:ext cx="1865376" cy="1828800"/>
          </a:xfrm>
          <a:prstGeom prst="roundRect">
            <a:avLst>
              <a:gd name="adj" fmla="val 4000"/>
            </a:avLst>
          </a:prstGeom>
          <a:solidFill>
            <a:schemeClr val="accent1"/>
          </a:solidFill>
          <a:ln/>
        </p:spPr>
      </p:sp>
      <p:sp>
        <p:nvSpPr>
          <p:cNvPr id="23" name="cerchio FiUserCheck"/>
          <p:cNvSpPr/>
          <p:nvPr/>
        </p:nvSpPr>
        <p:spPr>
          <a:xfrm>
            <a:off x="7507224" y="1225296"/>
            <a:ext cx="493776" cy="493776"/>
          </a:xfrm>
          <a:prstGeom prst="ellipse">
            <a:avLst/>
          </a:prstGeom>
          <a:solidFill>
            <a:schemeClr val="bg1"/>
          </a:solidFill>
          <a:ln/>
        </p:spPr>
      </p:sp>
      <p:pic>
        <p:nvPicPr>
          <p:cNvPr id="24" name="Image 3" descr="FiUserCheck">    </p:cNvPr>
          <p:cNvPicPr>
            <a:picLocks noChangeAspect="1"/>
          </p:cNvPicPr>
          <p:nvPr/>
        </p:nvPicPr>
        <p:blipFill>
          <a:blip r:embed="rId4"/>
          <a:stretch>
            <a:fillRect/>
          </a:stretch>
        </p:blipFill>
        <p:spPr>
          <a:xfrm>
            <a:off x="7630668" y="1348740"/>
            <a:ext cx="246888" cy="246888"/>
          </a:xfrm>
          <a:prstGeom prst="rect">
            <a:avLst/>
          </a:prstGeom>
        </p:spPr>
      </p:pic>
      <p:sp>
        <p:nvSpPr>
          <p:cNvPr id="25" name="Text 18"/>
          <p:cNvSpPr txBox="1"/>
          <p:nvPr/>
        </p:nvSpPr>
        <p:spPr>
          <a:xfrm>
            <a:off x="6894576" y="1792224"/>
            <a:ext cx="1719072" cy="384048"/>
          </a:xfrm>
          <a:prstGeom prst="rect">
            <a:avLst/>
          </a:prstGeom>
          <a:noFill/>
          <a:ln/>
        </p:spPr>
        <p:txBody>
          <a:bodyPr wrap="square" lIns="0" tIns="0" rIns="0" bIns="0" rtlCol="0" anchor="ctr"/>
          <a:lstStyle/>
          <a:p>
            <a:pPr algn="ctr" indent="0" marL="0">
              <a:buNone/>
            </a:pPr>
            <a:r>
              <a:rPr lang="en-US" sz="1300" b="1" dirty="0">
                <a:solidFill>
                  <a:schemeClr val="bg1"/>
                </a:solidFill>
              </a:rPr>
              <a:t>4. Verifica personale</a:t>
            </a:r>
            <a:endParaRPr lang="en-US" sz="1300" dirty="0"/>
          </a:p>
        </p:txBody>
      </p:sp>
      <p:sp>
        <p:nvSpPr>
          <p:cNvPr id="26" name="Text 19"/>
          <p:cNvSpPr txBox="1"/>
          <p:nvPr/>
        </p:nvSpPr>
        <p:spPr>
          <a:xfrm>
            <a:off x="6912864" y="2176272"/>
            <a:ext cx="1682496" cy="694944"/>
          </a:xfrm>
          <a:prstGeom prst="rect">
            <a:avLst/>
          </a:prstGeom>
          <a:noFill/>
          <a:ln/>
        </p:spPr>
        <p:txBody>
          <a:bodyPr wrap="square" lIns="0" tIns="0" rIns="0" bIns="0" rtlCol="0" anchor="t"/>
          <a:lstStyle/>
          <a:p>
            <a:pPr algn="ctr" indent="0" marL="0">
              <a:buNone/>
            </a:pPr>
            <a:r>
              <a:rPr lang="en-US" sz="1100" dirty="0">
                <a:solidFill>
                  <a:schemeClr val="accent6"/>
                </a:solidFill>
              </a:rPr>
              <a:t>Rilettura e controllo dei contenuti</a:t>
            </a:r>
            <a:endParaRPr lang="en-US" sz="1100" dirty="0"/>
          </a:p>
        </p:txBody>
      </p:sp>
      <p:sp>
        <p:nvSpPr>
          <p:cNvPr id="27" name="prompt"/>
          <p:cNvSpPr/>
          <p:nvPr/>
        </p:nvSpPr>
        <p:spPr>
          <a:xfrm>
            <a:off x="457200" y="3108960"/>
            <a:ext cx="5120640" cy="1417320"/>
          </a:xfrm>
          <a:prstGeom prst="roundRect">
            <a:avLst>
              <a:gd name="adj" fmla="val 5161"/>
            </a:avLst>
          </a:prstGeom>
          <a:solidFill>
            <a:schemeClr val="accent6"/>
          </a:solidFill>
          <a:ln/>
        </p:spPr>
      </p:sp>
      <p:sp>
        <p:nvSpPr>
          <p:cNvPr id="28" name="Text 21"/>
          <p:cNvSpPr txBox="1"/>
          <p:nvPr/>
        </p:nvSpPr>
        <p:spPr>
          <a:xfrm>
            <a:off x="621792" y="3200400"/>
            <a:ext cx="4791456" cy="256032"/>
          </a:xfrm>
          <a:prstGeom prst="rect">
            <a:avLst/>
          </a:prstGeom>
          <a:noFill/>
          <a:ln/>
        </p:spPr>
        <p:txBody>
          <a:bodyPr wrap="square" lIns="0" tIns="0" rIns="0" bIns="0" rtlCol="0" anchor="t"/>
          <a:lstStyle/>
          <a:p>
            <a:pPr indent="0" marL="0">
              <a:buNone/>
            </a:pPr>
            <a:r>
              <a:rPr lang="en-US" sz="1100" b="1" dirty="0">
                <a:solidFill>
                  <a:schemeClr val="accent1"/>
                </a:solidFill>
              </a:rPr>
              <a:t>Esempio: la richiesta della prima fase</a:t>
            </a:r>
            <a:endParaRPr lang="en-US" sz="1100" dirty="0"/>
          </a:p>
        </p:txBody>
      </p:sp>
      <p:sp>
        <p:nvSpPr>
          <p:cNvPr id="29" name="Text 22"/>
          <p:cNvSpPr txBox="1"/>
          <p:nvPr/>
        </p:nvSpPr>
        <p:spPr>
          <a:xfrm>
            <a:off x="621792" y="3474720"/>
            <a:ext cx="4791456" cy="96012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Prepara la scaletta di una comunicazione ai colleghi sul nuovo orario del magazzino: messaggio principale, tre punti, azione richiesta. Non scrivere ancora il testo.</a:t>
            </a:r>
            <a:endParaRPr lang="en-US" sz="1100" dirty="0"/>
          </a:p>
        </p:txBody>
      </p:sp>
      <p:sp>
        <p:nvSpPr>
          <p:cNvPr id="30" name="scheda Per le comunicazioni"/>
          <p:cNvSpPr/>
          <p:nvPr/>
        </p:nvSpPr>
        <p:spPr>
          <a:xfrm>
            <a:off x="5806440" y="3108960"/>
            <a:ext cx="2880360" cy="1417320"/>
          </a:xfrm>
          <a:prstGeom prst="roundRect">
            <a:avLst>
              <a:gd name="adj" fmla="val 5161"/>
            </a:avLst>
          </a:prstGeom>
          <a:solidFill>
            <a:schemeClr val="bg2"/>
          </a:solidFill>
          <a:ln/>
        </p:spPr>
      </p:sp>
      <p:sp>
        <p:nvSpPr>
          <p:cNvPr id="31" name="Text 24"/>
          <p:cNvSpPr txBox="1"/>
          <p:nvPr/>
        </p:nvSpPr>
        <p:spPr>
          <a:xfrm>
            <a:off x="5989320" y="3291840"/>
            <a:ext cx="2514600" cy="347472"/>
          </a:xfrm>
          <a:prstGeom prst="rect">
            <a:avLst/>
          </a:prstGeom>
          <a:noFill/>
          <a:ln/>
        </p:spPr>
        <p:txBody>
          <a:bodyPr wrap="square" lIns="0" tIns="0" rIns="0" bIns="0" rtlCol="0" anchor="t"/>
          <a:lstStyle/>
          <a:p>
            <a:pPr indent="0" marL="0">
              <a:buNone/>
            </a:pPr>
            <a:r>
              <a:rPr lang="en-US" sz="1300" b="1" dirty="0">
                <a:solidFill>
                  <a:schemeClr val="tx1"/>
                </a:solidFill>
              </a:rPr>
              <a:t>Per le comunicazioni</a:t>
            </a:r>
            <a:endParaRPr lang="en-US" sz="1300" dirty="0"/>
          </a:p>
        </p:txBody>
      </p:sp>
      <p:sp>
        <p:nvSpPr>
          <p:cNvPr id="32" name="Text 25"/>
          <p:cNvSpPr txBox="1"/>
          <p:nvPr/>
        </p:nvSpPr>
        <p:spPr>
          <a:xfrm>
            <a:off x="5989320" y="3675888"/>
            <a:ext cx="2514600" cy="740664"/>
          </a:xfrm>
          <a:prstGeom prst="rect">
            <a:avLst/>
          </a:prstGeom>
          <a:noFill/>
          <a:ln/>
        </p:spPr>
        <p:txBody>
          <a:bodyPr wrap="square" lIns="0" tIns="0" rIns="0" bIns="0" rtlCol="0" anchor="t"/>
          <a:lstStyle/>
          <a:p>
            <a:pPr indent="0" marL="0">
              <a:buNone/>
            </a:pPr>
            <a:r>
              <a:rPr lang="en-US" sz="1100" dirty="0">
                <a:solidFill>
                  <a:schemeClr val="tx2"/>
                </a:solidFill>
              </a:rPr>
              <a:t>Messaggio principale, destinatario, tono, azione richiesta, canale.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6.8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Istruzioni riutilizzabili e standardizzazione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Ciò che funziona si conserva e si condivide: template e assistenti configurati, mantenuti aggiornati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Prompt occasionali e ricorrenti</a:t>
            </a:r>
            <a:endParaRPr lang="en-US" sz="2600" dirty="0"/>
          </a:p>
        </p:txBody>
      </p:sp>
      <p:sp>
        <p:nvSpPr>
          <p:cNvPr id="4" name="scheda Prompt occasionale"/>
          <p:cNvSpPr/>
          <p:nvPr/>
        </p:nvSpPr>
        <p:spPr>
          <a:xfrm>
            <a:off x="457200" y="1097280"/>
            <a:ext cx="3977640" cy="2011680"/>
          </a:xfrm>
          <a:prstGeom prst="roundRect">
            <a:avLst>
              <a:gd name="adj" fmla="val 3636"/>
            </a:avLst>
          </a:prstGeom>
          <a:solidFill>
            <a:schemeClr val="bg2"/>
          </a:solidFill>
          <a:ln/>
        </p:spPr>
      </p:sp>
      <p:sp>
        <p:nvSpPr>
          <p:cNvPr id="5" name="cerchio FiZap"/>
          <p:cNvSpPr/>
          <p:nvPr/>
        </p:nvSpPr>
        <p:spPr>
          <a:xfrm>
            <a:off x="640080" y="1280160"/>
            <a:ext cx="457200" cy="457200"/>
          </a:xfrm>
          <a:prstGeom prst="ellipse">
            <a:avLst/>
          </a:prstGeom>
          <a:solidFill>
            <a:schemeClr val="accent1"/>
          </a:solidFill>
          <a:ln/>
        </p:spPr>
      </p:sp>
      <p:pic>
        <p:nvPicPr>
          <p:cNvPr id="6" name="Image 0" descr="FiZap">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Prompt occasionale</a:t>
            </a:r>
            <a:endParaRPr lang="en-US" sz="1600" dirty="0"/>
          </a:p>
        </p:txBody>
      </p:sp>
      <p:sp>
        <p:nvSpPr>
          <p:cNvPr id="8" name="Text 4"/>
          <p:cNvSpPr txBox="1"/>
          <p:nvPr/>
        </p:nvSpPr>
        <p:spPr>
          <a:xfrm>
            <a:off x="640080" y="2231136"/>
            <a:ext cx="3611880" cy="768096"/>
          </a:xfrm>
          <a:prstGeom prst="rect">
            <a:avLst/>
          </a:prstGeom>
          <a:noFill/>
          <a:ln/>
        </p:spPr>
        <p:txBody>
          <a:bodyPr wrap="square" lIns="0" tIns="0" rIns="0" bIns="0" rtlCol="0" anchor="t"/>
          <a:lstStyle/>
          <a:p>
            <a:pPr indent="0" marL="0">
              <a:buNone/>
            </a:pPr>
            <a:r>
              <a:rPr lang="en-US" sz="1300" dirty="0">
                <a:solidFill>
                  <a:schemeClr val="tx2"/>
                </a:solidFill>
              </a:rPr>
              <a:t>Esigenza unica o rara: si scrive, si itera, si usa. Non serve conservarlo.</a:t>
            </a:r>
            <a:endParaRPr lang="en-US" sz="1300" dirty="0"/>
          </a:p>
        </p:txBody>
      </p:sp>
      <p:sp>
        <p:nvSpPr>
          <p:cNvPr id="9" name="scheda Prompt ricorrente"/>
          <p:cNvSpPr/>
          <p:nvPr/>
        </p:nvSpPr>
        <p:spPr>
          <a:xfrm>
            <a:off x="4709160" y="1097280"/>
            <a:ext cx="3977640" cy="2011680"/>
          </a:xfrm>
          <a:prstGeom prst="roundRect">
            <a:avLst>
              <a:gd name="adj" fmla="val 3636"/>
            </a:avLst>
          </a:prstGeom>
          <a:solidFill>
            <a:schemeClr val="accent6"/>
          </a:solidFill>
          <a:ln/>
        </p:spPr>
      </p:sp>
      <p:sp>
        <p:nvSpPr>
          <p:cNvPr id="10" name="cerchio FiRepeat"/>
          <p:cNvSpPr/>
          <p:nvPr/>
        </p:nvSpPr>
        <p:spPr>
          <a:xfrm>
            <a:off x="4892040" y="1280160"/>
            <a:ext cx="457200" cy="457200"/>
          </a:xfrm>
          <a:prstGeom prst="ellipse">
            <a:avLst/>
          </a:prstGeom>
          <a:solidFill>
            <a:schemeClr val="accent1"/>
          </a:solidFill>
          <a:ln/>
        </p:spPr>
      </p:sp>
      <p:pic>
        <p:nvPicPr>
          <p:cNvPr id="11" name="Image 1" descr="FiRepeat">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Prompt ricorrente</a:t>
            </a:r>
            <a:endParaRPr lang="en-US" sz="1600" dirty="0"/>
          </a:p>
        </p:txBody>
      </p:sp>
      <p:sp>
        <p:nvSpPr>
          <p:cNvPr id="13" name="Text 8"/>
          <p:cNvSpPr txBox="1"/>
          <p:nvPr/>
        </p:nvSpPr>
        <p:spPr>
          <a:xfrm>
            <a:off x="4892040" y="2231136"/>
            <a:ext cx="3611880" cy="768096"/>
          </a:xfrm>
          <a:prstGeom prst="rect">
            <a:avLst/>
          </a:prstGeom>
          <a:noFill/>
          <a:ln/>
        </p:spPr>
        <p:txBody>
          <a:bodyPr wrap="square" lIns="0" tIns="0" rIns="0" bIns="0" rtlCol="0" anchor="t"/>
          <a:lstStyle/>
          <a:p>
            <a:pPr indent="0" marL="0">
              <a:buNone/>
            </a:pPr>
            <a:r>
              <a:rPr lang="en-US" sz="1300" dirty="0">
                <a:solidFill>
                  <a:schemeClr val="tx2"/>
                </a:solidFill>
              </a:rPr>
              <a:t>Attività che si ripete: verbali, risposte frequenti, sintesi periodiche, revisioni secondo regole.</a:t>
            </a:r>
            <a:endParaRPr lang="en-US" sz="1300" dirty="0"/>
          </a:p>
        </p:txBody>
      </p:sp>
      <p:sp>
        <p:nvSpPr>
          <p:cNvPr id="14" name="Text 9"/>
          <p:cNvSpPr txBox="1"/>
          <p:nvPr/>
        </p:nvSpPr>
        <p:spPr>
          <a:xfrm>
            <a:off x="457200" y="3291840"/>
            <a:ext cx="8229600" cy="274320"/>
          </a:xfrm>
          <a:prstGeom prst="rect">
            <a:avLst/>
          </a:prstGeom>
          <a:noFill/>
          <a:ln/>
        </p:spPr>
        <p:txBody>
          <a:bodyPr wrap="square" lIns="0" tIns="0" rIns="0" bIns="0" rtlCol="0" anchor="t"/>
          <a:lstStyle/>
          <a:p>
            <a:pPr indent="0" marL="0">
              <a:buNone/>
            </a:pPr>
            <a:r>
              <a:rPr lang="en-US" sz="1400" b="1" dirty="0">
                <a:solidFill>
                  <a:schemeClr val="tx1"/>
                </a:solidFill>
              </a:rPr>
              <a:t>Quando trasformarlo in istruzione riutilizzabile</a:t>
            </a:r>
            <a:endParaRPr lang="en-US" sz="1400" dirty="0"/>
          </a:p>
        </p:txBody>
      </p:sp>
      <p:sp>
        <p:nvSpPr>
          <p:cNvPr id="15" name="blocco Attività frequente"/>
          <p:cNvSpPr/>
          <p:nvPr/>
        </p:nvSpPr>
        <p:spPr>
          <a:xfrm>
            <a:off x="457200" y="3657600"/>
            <a:ext cx="1965960" cy="640080"/>
          </a:xfrm>
          <a:prstGeom prst="roundRect">
            <a:avLst>
              <a:gd name="adj" fmla="val 17143"/>
            </a:avLst>
          </a:prstGeom>
          <a:solidFill>
            <a:schemeClr val="bg2"/>
          </a:solidFill>
          <a:ln/>
        </p:spPr>
      </p:sp>
      <p:sp>
        <p:nvSpPr>
          <p:cNvPr id="16" name="Text 11"/>
          <p:cNvSpPr txBox="1"/>
          <p:nvPr/>
        </p:nvSpPr>
        <p:spPr>
          <a:xfrm>
            <a:off x="502920" y="3657600"/>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Attività frequente</a:t>
            </a:r>
            <a:endParaRPr lang="en-US" sz="1200" dirty="0"/>
          </a:p>
        </p:txBody>
      </p:sp>
      <p:sp>
        <p:nvSpPr>
          <p:cNvPr id="17" name="blocco Ha richiesto molte iterazioni"/>
          <p:cNvSpPr/>
          <p:nvPr/>
        </p:nvSpPr>
        <p:spPr>
          <a:xfrm>
            <a:off x="2560320" y="3657600"/>
            <a:ext cx="1965960" cy="640080"/>
          </a:xfrm>
          <a:prstGeom prst="roundRect">
            <a:avLst>
              <a:gd name="adj" fmla="val 17143"/>
            </a:avLst>
          </a:prstGeom>
          <a:solidFill>
            <a:schemeClr val="bg2"/>
          </a:solidFill>
          <a:ln/>
        </p:spPr>
      </p:sp>
      <p:sp>
        <p:nvSpPr>
          <p:cNvPr id="18" name="Text 13"/>
          <p:cNvSpPr txBox="1"/>
          <p:nvPr/>
        </p:nvSpPr>
        <p:spPr>
          <a:xfrm>
            <a:off x="2606040" y="3657600"/>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Ha richiesto molte iterazioni</a:t>
            </a:r>
            <a:endParaRPr lang="en-US" sz="1200" dirty="0"/>
          </a:p>
        </p:txBody>
      </p:sp>
      <p:sp>
        <p:nvSpPr>
          <p:cNvPr id="19" name="blocco Più persone, serve coerenza"/>
          <p:cNvSpPr/>
          <p:nvPr/>
        </p:nvSpPr>
        <p:spPr>
          <a:xfrm>
            <a:off x="4663440" y="3657600"/>
            <a:ext cx="1965960" cy="640080"/>
          </a:xfrm>
          <a:prstGeom prst="roundRect">
            <a:avLst>
              <a:gd name="adj" fmla="val 17143"/>
            </a:avLst>
          </a:prstGeom>
          <a:solidFill>
            <a:schemeClr val="bg2"/>
          </a:solidFill>
          <a:ln/>
        </p:spPr>
      </p:sp>
      <p:sp>
        <p:nvSpPr>
          <p:cNvPr id="20" name="Text 15"/>
          <p:cNvSpPr txBox="1"/>
          <p:nvPr/>
        </p:nvSpPr>
        <p:spPr>
          <a:xfrm>
            <a:off x="4709160" y="3657600"/>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Più persone, serve coerenza</a:t>
            </a:r>
            <a:endParaRPr lang="en-US" sz="1200" dirty="0"/>
          </a:p>
        </p:txBody>
      </p:sp>
      <p:sp>
        <p:nvSpPr>
          <p:cNvPr id="21" name="blocco Standard precisi da rispettare"/>
          <p:cNvSpPr/>
          <p:nvPr/>
        </p:nvSpPr>
        <p:spPr>
          <a:xfrm>
            <a:off x="6766560" y="3657600"/>
            <a:ext cx="1965960" cy="640080"/>
          </a:xfrm>
          <a:prstGeom prst="roundRect">
            <a:avLst>
              <a:gd name="adj" fmla="val 17143"/>
            </a:avLst>
          </a:prstGeom>
          <a:solidFill>
            <a:schemeClr val="bg2"/>
          </a:solidFill>
          <a:ln/>
        </p:spPr>
      </p:sp>
      <p:sp>
        <p:nvSpPr>
          <p:cNvPr id="22" name="Text 17"/>
          <p:cNvSpPr txBox="1"/>
          <p:nvPr/>
        </p:nvSpPr>
        <p:spPr>
          <a:xfrm>
            <a:off x="6812280" y="3657600"/>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Standard precisi da rispettare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Template di prompt</a:t>
            </a:r>
            <a:endParaRPr lang="en-US" sz="2600" dirty="0"/>
          </a:p>
        </p:txBody>
      </p:sp>
      <p:sp>
        <p:nvSpPr>
          <p:cNvPr id="4" name="prompt"/>
          <p:cNvSpPr/>
          <p:nvPr/>
        </p:nvSpPr>
        <p:spPr>
          <a:xfrm>
            <a:off x="457200" y="1097280"/>
            <a:ext cx="5303520" cy="3429000"/>
          </a:xfrm>
          <a:prstGeom prst="roundRect">
            <a:avLst>
              <a:gd name="adj" fmla="val 2133"/>
            </a:avLst>
          </a:prstGeom>
          <a:solidFill>
            <a:schemeClr val="accent6"/>
          </a:solidFill>
          <a:ln/>
        </p:spPr>
      </p:sp>
      <p:sp>
        <p:nvSpPr>
          <p:cNvPr id="5" name="Text 2"/>
          <p:cNvSpPr txBox="1"/>
          <p:nvPr/>
        </p:nvSpPr>
        <p:spPr>
          <a:xfrm>
            <a:off x="621792" y="1188720"/>
            <a:ext cx="4974336" cy="256032"/>
          </a:xfrm>
          <a:prstGeom prst="rect">
            <a:avLst/>
          </a:prstGeom>
          <a:noFill/>
          <a:ln/>
        </p:spPr>
        <p:txBody>
          <a:bodyPr wrap="square" lIns="0" tIns="0" rIns="0" bIns="0" rtlCol="0" anchor="t"/>
          <a:lstStyle/>
          <a:p>
            <a:pPr indent="0" marL="0">
              <a:buNone/>
            </a:pPr>
            <a:r>
              <a:rPr lang="en-US" sz="1100" b="1" dirty="0">
                <a:solidFill>
                  <a:schemeClr val="accent1"/>
                </a:solidFill>
              </a:rPr>
              <a:t>Template: verbale di riunione</a:t>
            </a:r>
            <a:endParaRPr lang="en-US" sz="1100" dirty="0"/>
          </a:p>
        </p:txBody>
      </p:sp>
      <p:sp>
        <p:nvSpPr>
          <p:cNvPr id="6" name="Text 3"/>
          <p:cNvSpPr txBox="1"/>
          <p:nvPr/>
        </p:nvSpPr>
        <p:spPr>
          <a:xfrm>
            <a:off x="621792" y="1463040"/>
            <a:ext cx="4974336" cy="29718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COMPITO</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Redigi il verbale della riunione [TIPO DI RIUNIONE] per [DESTINATARI].</a:t>
            </a:r>
            <a:endParaRPr lang="en-US" sz="1000" dirty="0"/>
          </a:p>
          <a:p>
            <a:pPr indent="0" marL="0">
              <a:buNone/>
            </a:pP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FORMATO</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1. Partecipanti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2. Decisioni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3. Azioni (responsabile, scadenza)</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4. Prossimi passi</a:t>
            </a:r>
            <a:endParaRPr lang="en-US" sz="1000" dirty="0"/>
          </a:p>
          <a:p>
            <a:pPr indent="0" marL="0">
              <a:buNone/>
            </a:pP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REGOLE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Ogni azione ha un responsabile e una scadenza; se mancano, scrivi "da definire".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Usa solo le informazioni degli appunti.</a:t>
            </a:r>
            <a:endParaRPr lang="en-US" sz="1000" dirty="0"/>
          </a:p>
          <a:p>
            <a:pPr indent="0" marL="0">
              <a:buNone/>
            </a:pP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APPUNTI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[APPUNTI]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a:t>
            </a:r>
            <a:endParaRPr lang="en-US" sz="1000" dirty="0"/>
          </a:p>
        </p:txBody>
      </p:sp>
      <p:sp>
        <p:nvSpPr>
          <p:cNvPr id="7" name="scheda Parte fissa"/>
          <p:cNvSpPr/>
          <p:nvPr/>
        </p:nvSpPr>
        <p:spPr>
          <a:xfrm>
            <a:off x="5989320" y="1097280"/>
            <a:ext cx="2697480" cy="1600200"/>
          </a:xfrm>
          <a:prstGeom prst="roundRect">
            <a:avLst>
              <a:gd name="adj" fmla="val 4571"/>
            </a:avLst>
          </a:prstGeom>
          <a:solidFill>
            <a:schemeClr val="bg2"/>
          </a:solidFill>
          <a:ln/>
        </p:spPr>
      </p:sp>
      <p:sp>
        <p:nvSpPr>
          <p:cNvPr id="8" name="Text 5"/>
          <p:cNvSpPr txBox="1"/>
          <p:nvPr/>
        </p:nvSpPr>
        <p:spPr>
          <a:xfrm>
            <a:off x="6172200" y="1280160"/>
            <a:ext cx="2331720" cy="347472"/>
          </a:xfrm>
          <a:prstGeom prst="rect">
            <a:avLst/>
          </a:prstGeom>
          <a:noFill/>
          <a:ln/>
        </p:spPr>
        <p:txBody>
          <a:bodyPr wrap="square" lIns="0" tIns="0" rIns="0" bIns="0" rtlCol="0" anchor="t"/>
          <a:lstStyle/>
          <a:p>
            <a:pPr indent="0" marL="0">
              <a:buNone/>
            </a:pPr>
            <a:r>
              <a:rPr lang="en-US" sz="1400" b="1" dirty="0">
                <a:solidFill>
                  <a:schemeClr val="tx1"/>
                </a:solidFill>
              </a:rPr>
              <a:t>Parte fissa</a:t>
            </a:r>
            <a:endParaRPr lang="en-US" sz="1400" dirty="0"/>
          </a:p>
        </p:txBody>
      </p:sp>
      <p:sp>
        <p:nvSpPr>
          <p:cNvPr id="9" name="Text 6"/>
          <p:cNvSpPr txBox="1"/>
          <p:nvPr/>
        </p:nvSpPr>
        <p:spPr>
          <a:xfrm>
            <a:off x="6172200" y="1664208"/>
            <a:ext cx="2331720" cy="923544"/>
          </a:xfrm>
          <a:prstGeom prst="rect">
            <a:avLst/>
          </a:prstGeom>
          <a:noFill/>
          <a:ln/>
        </p:spPr>
        <p:txBody>
          <a:bodyPr wrap="square" lIns="0" tIns="0" rIns="0" bIns="0" rtlCol="0" anchor="t"/>
          <a:lstStyle/>
          <a:p>
            <a:pPr indent="0" marL="0">
              <a:buNone/>
            </a:pPr>
            <a:r>
              <a:rPr lang="en-US" sz="1200" dirty="0">
                <a:solidFill>
                  <a:schemeClr val="tx2"/>
                </a:solidFill>
              </a:rPr>
              <a:t>Compito, formato, regole: ciò che vale sempre.</a:t>
            </a:r>
            <a:endParaRPr lang="en-US" sz="1200" dirty="0"/>
          </a:p>
        </p:txBody>
      </p:sp>
      <p:sp>
        <p:nvSpPr>
          <p:cNvPr id="10" name="scheda Parti variabili"/>
          <p:cNvSpPr/>
          <p:nvPr/>
        </p:nvSpPr>
        <p:spPr>
          <a:xfrm>
            <a:off x="5989320" y="2834640"/>
            <a:ext cx="2697480" cy="1691640"/>
          </a:xfrm>
          <a:prstGeom prst="roundRect">
            <a:avLst>
              <a:gd name="adj" fmla="val 4324"/>
            </a:avLst>
          </a:prstGeom>
          <a:solidFill>
            <a:schemeClr val="bg2"/>
          </a:solidFill>
          <a:ln/>
        </p:spPr>
      </p:sp>
      <p:sp>
        <p:nvSpPr>
          <p:cNvPr id="11" name="Text 8"/>
          <p:cNvSpPr txBox="1"/>
          <p:nvPr/>
        </p:nvSpPr>
        <p:spPr>
          <a:xfrm>
            <a:off x="6172200" y="3017520"/>
            <a:ext cx="2331720" cy="347472"/>
          </a:xfrm>
          <a:prstGeom prst="rect">
            <a:avLst/>
          </a:prstGeom>
          <a:noFill/>
          <a:ln/>
        </p:spPr>
        <p:txBody>
          <a:bodyPr wrap="square" lIns="0" tIns="0" rIns="0" bIns="0" rtlCol="0" anchor="t"/>
          <a:lstStyle/>
          <a:p>
            <a:pPr indent="0" marL="0">
              <a:buNone/>
            </a:pPr>
            <a:r>
              <a:rPr lang="en-US" sz="1400" b="1" dirty="0">
                <a:solidFill>
                  <a:schemeClr val="tx1"/>
                </a:solidFill>
              </a:rPr>
              <a:t>Parti variabili</a:t>
            </a:r>
            <a:endParaRPr lang="en-US" sz="1400" dirty="0"/>
          </a:p>
        </p:txBody>
      </p:sp>
      <p:sp>
        <p:nvSpPr>
          <p:cNvPr id="12" name="Text 9"/>
          <p:cNvSpPr txBox="1"/>
          <p:nvPr/>
        </p:nvSpPr>
        <p:spPr>
          <a:xfrm>
            <a:off x="6172200" y="3401568"/>
            <a:ext cx="2331720" cy="1014984"/>
          </a:xfrm>
          <a:prstGeom prst="rect">
            <a:avLst/>
          </a:prstGeom>
          <a:noFill/>
          <a:ln/>
        </p:spPr>
        <p:txBody>
          <a:bodyPr wrap="square" lIns="0" tIns="0" rIns="0" bIns="0" rtlCol="0" anchor="t"/>
          <a:lstStyle/>
          <a:p>
            <a:pPr indent="0" marL="0">
              <a:buNone/>
            </a:pPr>
            <a:r>
              <a:rPr lang="en-US" sz="1200" dirty="0">
                <a:solidFill>
                  <a:schemeClr val="tx2"/>
                </a:solidFill>
              </a:rPr>
              <a:t>[Segnaposto] da compilare ogni volta.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Librerie, istruzioni persistenti, assistenti configurati</a:t>
            </a:r>
            <a:endParaRPr lang="en-US" sz="2600" dirty="0"/>
          </a:p>
        </p:txBody>
      </p:sp>
      <p:sp>
        <p:nvSpPr>
          <p:cNvPr id="4" name="scheda Librerie condivise"/>
          <p:cNvSpPr/>
          <p:nvPr/>
        </p:nvSpPr>
        <p:spPr>
          <a:xfrm>
            <a:off x="457200" y="1097280"/>
            <a:ext cx="2615184" cy="2697480"/>
          </a:xfrm>
          <a:prstGeom prst="roundRect">
            <a:avLst>
              <a:gd name="adj" fmla="val 2797"/>
            </a:avLst>
          </a:prstGeom>
          <a:solidFill>
            <a:schemeClr val="bg2"/>
          </a:solidFill>
          <a:ln/>
        </p:spPr>
      </p:sp>
      <p:sp>
        <p:nvSpPr>
          <p:cNvPr id="5" name="cerchio FiBookOpen"/>
          <p:cNvSpPr/>
          <p:nvPr/>
        </p:nvSpPr>
        <p:spPr>
          <a:xfrm>
            <a:off x="640080" y="1280160"/>
            <a:ext cx="457200" cy="457200"/>
          </a:xfrm>
          <a:prstGeom prst="ellipse">
            <a:avLst/>
          </a:prstGeom>
          <a:solidFill>
            <a:schemeClr val="accent1"/>
          </a:solidFill>
          <a:ln/>
        </p:spPr>
      </p:sp>
      <p:pic>
        <p:nvPicPr>
          <p:cNvPr id="6" name="Image 0" descr="FiBookOpen">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Librerie condivise</a:t>
            </a:r>
            <a:endParaRPr lang="en-US" sz="1500" dirty="0"/>
          </a:p>
        </p:txBody>
      </p:sp>
      <p:sp>
        <p:nvSpPr>
          <p:cNvPr id="8" name="Text 4"/>
          <p:cNvSpPr txBox="1"/>
          <p:nvPr/>
        </p:nvSpPr>
        <p:spPr>
          <a:xfrm>
            <a:off x="640080" y="2231136"/>
            <a:ext cx="2249424" cy="1453896"/>
          </a:xfrm>
          <a:prstGeom prst="rect">
            <a:avLst/>
          </a:prstGeom>
          <a:noFill/>
          <a:ln/>
        </p:spPr>
        <p:txBody>
          <a:bodyPr wrap="square" lIns="0" tIns="0" rIns="0" bIns="0" rtlCol="0" anchor="t"/>
          <a:lstStyle/>
          <a:p>
            <a:pPr indent="0" marL="0">
              <a:spcAft>
                <a:spcPts val="1000"/>
              </a:spcAft>
              <a:buNone/>
            </a:pPr>
            <a:r>
              <a:rPr lang="en-US" sz="1200" dirty="0">
                <a:solidFill>
                  <a:schemeClr val="tx2"/>
                </a:solidFill>
              </a:rPr>
              <a:t>Template organizzati per attività, condivisi nel gruppo o in azienda</a:t>
            </a:r>
            <a:endParaRPr lang="en-US" sz="1200" dirty="0"/>
          </a:p>
          <a:p>
            <a:pPr indent="0" marL="0">
              <a:buNone/>
            </a:pPr>
            <a:r>
              <a:rPr lang="en-US" sz="1200" b="1" dirty="0">
                <a:solidFill>
                  <a:schemeClr val="accent1"/>
                </a:solidFill>
              </a:rPr>
              <a:t>Diffondono le buone pratiche</a:t>
            </a:r>
            <a:endParaRPr lang="en-US" sz="1200" dirty="0"/>
          </a:p>
        </p:txBody>
      </p:sp>
      <p:sp>
        <p:nvSpPr>
          <p:cNvPr id="9" name="scheda Istruzioni persistenti"/>
          <p:cNvSpPr/>
          <p:nvPr/>
        </p:nvSpPr>
        <p:spPr>
          <a:xfrm>
            <a:off x="3264408" y="1097280"/>
            <a:ext cx="2615184" cy="2697480"/>
          </a:xfrm>
          <a:prstGeom prst="roundRect">
            <a:avLst>
              <a:gd name="adj" fmla="val 2797"/>
            </a:avLst>
          </a:prstGeom>
          <a:solidFill>
            <a:schemeClr val="bg2"/>
          </a:solidFill>
          <a:ln/>
        </p:spPr>
      </p:sp>
      <p:sp>
        <p:nvSpPr>
          <p:cNvPr id="10" name="cerchio FiUser"/>
          <p:cNvSpPr/>
          <p:nvPr/>
        </p:nvSpPr>
        <p:spPr>
          <a:xfrm>
            <a:off x="3447288" y="1280160"/>
            <a:ext cx="457200" cy="457200"/>
          </a:xfrm>
          <a:prstGeom prst="ellipse">
            <a:avLst/>
          </a:prstGeom>
          <a:solidFill>
            <a:schemeClr val="accent1"/>
          </a:solidFill>
          <a:ln/>
        </p:spPr>
      </p:sp>
      <p:pic>
        <p:nvPicPr>
          <p:cNvPr id="11" name="Image 1" descr="FiUser">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Istruzioni persistenti</a:t>
            </a:r>
            <a:endParaRPr lang="en-US" sz="1500" dirty="0"/>
          </a:p>
        </p:txBody>
      </p:sp>
      <p:sp>
        <p:nvSpPr>
          <p:cNvPr id="13" name="Text 8"/>
          <p:cNvSpPr txBox="1"/>
          <p:nvPr/>
        </p:nvSpPr>
        <p:spPr>
          <a:xfrm>
            <a:off x="3447288" y="2231136"/>
            <a:ext cx="2249424" cy="1453896"/>
          </a:xfrm>
          <a:prstGeom prst="rect">
            <a:avLst/>
          </a:prstGeom>
          <a:noFill/>
          <a:ln/>
        </p:spPr>
        <p:txBody>
          <a:bodyPr wrap="square" lIns="0" tIns="0" rIns="0" bIns="0" rtlCol="0" anchor="t"/>
          <a:lstStyle/>
          <a:p>
            <a:pPr indent="0" marL="0">
              <a:spcAft>
                <a:spcPts val="1000"/>
              </a:spcAft>
              <a:buNone/>
            </a:pPr>
            <a:r>
              <a:rPr lang="en-US" sz="1200" dirty="0">
                <a:solidFill>
                  <a:schemeClr val="tx2"/>
                </a:solidFill>
              </a:rPr>
              <a:t>Ruolo, tono, formato abituale validi per tutte le conversazioni</a:t>
            </a:r>
            <a:endParaRPr lang="en-US" sz="1200" dirty="0"/>
          </a:p>
          <a:p>
            <a:pPr indent="0" marL="0">
              <a:buNone/>
            </a:pPr>
            <a:r>
              <a:rPr lang="en-US" sz="1200" b="1" dirty="0">
                <a:solidFill>
                  <a:schemeClr val="accent1"/>
                </a:solidFill>
              </a:rPr>
              <a:t>Da rileggere quando cambia il lavoro</a:t>
            </a:r>
            <a:endParaRPr lang="en-US" sz="1200" dirty="0"/>
          </a:p>
        </p:txBody>
      </p:sp>
      <p:sp>
        <p:nvSpPr>
          <p:cNvPr id="14" name="scheda Assistenti configurati"/>
          <p:cNvSpPr/>
          <p:nvPr/>
        </p:nvSpPr>
        <p:spPr>
          <a:xfrm>
            <a:off x="6071616" y="1097280"/>
            <a:ext cx="2615184" cy="2697480"/>
          </a:xfrm>
          <a:prstGeom prst="roundRect">
            <a:avLst>
              <a:gd name="adj" fmla="val 2797"/>
            </a:avLst>
          </a:prstGeom>
          <a:solidFill>
            <a:schemeClr val="accent6"/>
          </a:solidFill>
          <a:ln/>
        </p:spPr>
      </p:sp>
      <p:sp>
        <p:nvSpPr>
          <p:cNvPr id="15" name="cerchio FiUserCheck"/>
          <p:cNvSpPr/>
          <p:nvPr/>
        </p:nvSpPr>
        <p:spPr>
          <a:xfrm>
            <a:off x="6254496" y="1280160"/>
            <a:ext cx="457200" cy="457200"/>
          </a:xfrm>
          <a:prstGeom prst="ellipse">
            <a:avLst/>
          </a:prstGeom>
          <a:solidFill>
            <a:schemeClr val="accent1"/>
          </a:solidFill>
          <a:ln/>
        </p:spPr>
      </p:sp>
      <p:pic>
        <p:nvPicPr>
          <p:cNvPr id="16" name="Image 2" descr="FiUserCheck">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Assistenti configurati</a:t>
            </a:r>
            <a:endParaRPr lang="en-US" sz="1500" dirty="0"/>
          </a:p>
        </p:txBody>
      </p:sp>
      <p:sp>
        <p:nvSpPr>
          <p:cNvPr id="18" name="Text 12"/>
          <p:cNvSpPr txBox="1"/>
          <p:nvPr/>
        </p:nvSpPr>
        <p:spPr>
          <a:xfrm>
            <a:off x="6254496" y="2231136"/>
            <a:ext cx="2249424" cy="1453896"/>
          </a:xfrm>
          <a:prstGeom prst="rect">
            <a:avLst/>
          </a:prstGeom>
          <a:noFill/>
          <a:ln/>
        </p:spPr>
        <p:txBody>
          <a:bodyPr wrap="square" lIns="0" tIns="0" rIns="0" bIns="0" rtlCol="0" anchor="t"/>
          <a:lstStyle/>
          <a:p>
            <a:pPr indent="0" marL="0">
              <a:spcAft>
                <a:spcPts val="1000"/>
              </a:spcAft>
              <a:buNone/>
            </a:pPr>
            <a:r>
              <a:rPr lang="en-US" sz="1200" dirty="0">
                <a:solidFill>
                  <a:schemeClr val="tx2"/>
                </a:solidFill>
              </a:rPr>
              <a:t>Istruzioni, documenti e collegamenti dedicati a un'attività</a:t>
            </a:r>
            <a:endParaRPr lang="en-US" sz="1200" dirty="0"/>
          </a:p>
          <a:p>
            <a:pPr indent="0" marL="0">
              <a:buNone/>
            </a:pPr>
            <a:r>
              <a:rPr lang="en-US" sz="1200" b="1" dirty="0">
                <a:solidFill>
                  <a:schemeClr val="accent1"/>
                </a:solidFill>
              </a:rPr>
              <a:t>L'evoluzione di un template molto usato</a:t>
            </a:r>
            <a:endParaRPr lang="en-US" sz="1200" dirty="0"/>
          </a:p>
        </p:txBody>
      </p:sp>
      <p:sp>
        <p:nvSpPr>
          <p:cNvPr id="19" name="messaggio"/>
          <p:cNvSpPr/>
          <p:nvPr/>
        </p:nvSpPr>
        <p:spPr>
          <a:xfrm>
            <a:off x="457200" y="3931920"/>
            <a:ext cx="8229600" cy="594360"/>
          </a:xfrm>
          <a:prstGeom prst="roundRect">
            <a:avLst>
              <a:gd name="adj" fmla="val 12308"/>
            </a:avLst>
          </a:prstGeom>
          <a:solidFill>
            <a:schemeClr val="tx1"/>
          </a:solidFill>
          <a:ln/>
        </p:spPr>
      </p:sp>
      <p:sp>
        <p:nvSpPr>
          <p:cNvPr id="20"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Il comportamento dipende dalle funzionalità dello strumento; le configurazioni vanno mantenute aggiornate.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Standardizzare: benefici e manutenzione</a:t>
            </a:r>
            <a:endParaRPr lang="en-US" sz="2600" dirty="0"/>
          </a:p>
        </p:txBody>
      </p:sp>
      <p:sp>
        <p:nvSpPr>
          <p:cNvPr id="4" name="Text 1"/>
          <p:cNvSpPr txBox="1"/>
          <p:nvPr/>
        </p:nvSpPr>
        <p:spPr>
          <a:xfrm>
            <a:off x="457200" y="1051560"/>
            <a:ext cx="4937760" cy="320040"/>
          </a:xfrm>
          <a:prstGeom prst="rect">
            <a:avLst/>
          </a:prstGeom>
          <a:noFill/>
          <a:ln/>
        </p:spPr>
        <p:txBody>
          <a:bodyPr wrap="square" lIns="0" tIns="0" rIns="0" bIns="0" rtlCol="0" anchor="t"/>
          <a:lstStyle/>
          <a:p>
            <a:pPr indent="0" marL="0">
              <a:buNone/>
            </a:pPr>
            <a:r>
              <a:rPr lang="en-US" sz="1500" b="1" dirty="0">
                <a:solidFill>
                  <a:schemeClr val="accent1"/>
                </a:solidFill>
              </a:rPr>
              <a:t>Benefici</a:t>
            </a:r>
            <a:endParaRPr lang="en-US" sz="1500" dirty="0"/>
          </a:p>
        </p:txBody>
      </p:sp>
      <p:sp>
        <p:nvSpPr>
          <p:cNvPr id="5" name="Meno lavoro ripetitivo"/>
          <p:cNvSpPr/>
          <p:nvPr/>
        </p:nvSpPr>
        <p:spPr>
          <a:xfrm>
            <a:off x="457200" y="1444752"/>
            <a:ext cx="4937760" cy="530352"/>
          </a:xfrm>
          <a:prstGeom prst="roundRect">
            <a:avLst>
              <a:gd name="adj" fmla="val 13793"/>
            </a:avLst>
          </a:prstGeom>
          <a:solidFill>
            <a:schemeClr val="bg2"/>
          </a:solidFill>
          <a:ln/>
        </p:spPr>
      </p:sp>
      <p:sp>
        <p:nvSpPr>
          <p:cNvPr id="6" name="cerchio FiZap"/>
          <p:cNvSpPr/>
          <p:nvPr/>
        </p:nvSpPr>
        <p:spPr>
          <a:xfrm>
            <a:off x="566928" y="1508760"/>
            <a:ext cx="402336" cy="402336"/>
          </a:xfrm>
          <a:prstGeom prst="ellipse">
            <a:avLst/>
          </a:prstGeom>
          <a:solidFill>
            <a:schemeClr val="accent1"/>
          </a:solidFill>
          <a:ln/>
        </p:spPr>
      </p:sp>
      <p:pic>
        <p:nvPicPr>
          <p:cNvPr id="7" name="Image 0" descr="FiZap">    </p:cNvPr>
          <p:cNvPicPr>
            <a:picLocks noChangeAspect="1"/>
          </p:cNvPicPr>
          <p:nvPr/>
        </p:nvPicPr>
        <p:blipFill>
          <a:blip r:embed="rId1"/>
          <a:stretch>
            <a:fillRect/>
          </a:stretch>
        </p:blipFill>
        <p:spPr>
          <a:xfrm>
            <a:off x="667512" y="1609344"/>
            <a:ext cx="201168" cy="201168"/>
          </a:xfrm>
          <a:prstGeom prst="rect">
            <a:avLst/>
          </a:prstGeom>
        </p:spPr>
      </p:pic>
      <p:sp>
        <p:nvSpPr>
          <p:cNvPr id="8" name="Text 4"/>
          <p:cNvSpPr txBox="1"/>
          <p:nvPr/>
        </p:nvSpPr>
        <p:spPr>
          <a:xfrm>
            <a:off x="1097280" y="1444752"/>
            <a:ext cx="4206240" cy="530352"/>
          </a:xfrm>
          <a:prstGeom prst="rect">
            <a:avLst/>
          </a:prstGeom>
          <a:noFill/>
          <a:ln/>
        </p:spPr>
        <p:txBody>
          <a:bodyPr wrap="square" lIns="0" tIns="0" rIns="0" bIns="0" rtlCol="0" anchor="ctr"/>
          <a:lstStyle/>
          <a:p>
            <a:pPr indent="0" marL="0">
              <a:buNone/>
            </a:pPr>
            <a:r>
              <a:rPr lang="en-US" sz="1400" b="1" dirty="0">
                <a:solidFill>
                  <a:schemeClr val="tx1"/>
                </a:solidFill>
              </a:rPr>
              <a:t>Meno lavoro ripetitivo</a:t>
            </a:r>
            <a:endParaRPr lang="en-US" sz="1400" dirty="0"/>
          </a:p>
        </p:txBody>
      </p:sp>
      <p:sp>
        <p:nvSpPr>
          <p:cNvPr id="9" name="Risultati coerenti"/>
          <p:cNvSpPr/>
          <p:nvPr/>
        </p:nvSpPr>
        <p:spPr>
          <a:xfrm>
            <a:off x="457200" y="2066544"/>
            <a:ext cx="4937760" cy="530352"/>
          </a:xfrm>
          <a:prstGeom prst="roundRect">
            <a:avLst>
              <a:gd name="adj" fmla="val 13793"/>
            </a:avLst>
          </a:prstGeom>
          <a:solidFill>
            <a:schemeClr val="bg1"/>
          </a:solidFill>
          <a:ln/>
        </p:spPr>
      </p:sp>
      <p:sp>
        <p:nvSpPr>
          <p:cNvPr id="10" name="cerchio FiCopy"/>
          <p:cNvSpPr/>
          <p:nvPr/>
        </p:nvSpPr>
        <p:spPr>
          <a:xfrm>
            <a:off x="566928" y="2130552"/>
            <a:ext cx="402336" cy="402336"/>
          </a:xfrm>
          <a:prstGeom prst="ellipse">
            <a:avLst/>
          </a:prstGeom>
          <a:solidFill>
            <a:schemeClr val="accent1"/>
          </a:solidFill>
          <a:ln/>
        </p:spPr>
      </p:sp>
      <p:pic>
        <p:nvPicPr>
          <p:cNvPr id="11" name="Image 1" descr="FiCopy">    </p:cNvPr>
          <p:cNvPicPr>
            <a:picLocks noChangeAspect="1"/>
          </p:cNvPicPr>
          <p:nvPr/>
        </p:nvPicPr>
        <p:blipFill>
          <a:blip r:embed="rId2"/>
          <a:stretch>
            <a:fillRect/>
          </a:stretch>
        </p:blipFill>
        <p:spPr>
          <a:xfrm>
            <a:off x="667512" y="2231136"/>
            <a:ext cx="201168" cy="201168"/>
          </a:xfrm>
          <a:prstGeom prst="rect">
            <a:avLst/>
          </a:prstGeom>
        </p:spPr>
      </p:pic>
      <p:sp>
        <p:nvSpPr>
          <p:cNvPr id="12" name="Text 7"/>
          <p:cNvSpPr txBox="1"/>
          <p:nvPr/>
        </p:nvSpPr>
        <p:spPr>
          <a:xfrm>
            <a:off x="1097280" y="2066544"/>
            <a:ext cx="4206240" cy="530352"/>
          </a:xfrm>
          <a:prstGeom prst="rect">
            <a:avLst/>
          </a:prstGeom>
          <a:noFill/>
          <a:ln/>
        </p:spPr>
        <p:txBody>
          <a:bodyPr wrap="square" lIns="0" tIns="0" rIns="0" bIns="0" rtlCol="0" anchor="ctr"/>
          <a:lstStyle/>
          <a:p>
            <a:pPr indent="0" marL="0">
              <a:buNone/>
            </a:pPr>
            <a:r>
              <a:rPr lang="en-US" sz="1400" b="1" dirty="0">
                <a:solidFill>
                  <a:schemeClr val="tx1"/>
                </a:solidFill>
              </a:rPr>
              <a:t>Risultati coerenti</a:t>
            </a:r>
            <a:endParaRPr lang="en-US" sz="1400" dirty="0"/>
          </a:p>
        </p:txBody>
      </p:sp>
      <p:sp>
        <p:nvSpPr>
          <p:cNvPr id="13" name="Buone pratiche condivise"/>
          <p:cNvSpPr/>
          <p:nvPr/>
        </p:nvSpPr>
        <p:spPr>
          <a:xfrm>
            <a:off x="457200" y="2688336"/>
            <a:ext cx="4937760" cy="530352"/>
          </a:xfrm>
          <a:prstGeom prst="roundRect">
            <a:avLst>
              <a:gd name="adj" fmla="val 13793"/>
            </a:avLst>
          </a:prstGeom>
          <a:solidFill>
            <a:schemeClr val="bg2"/>
          </a:solidFill>
          <a:ln/>
        </p:spPr>
      </p:sp>
      <p:sp>
        <p:nvSpPr>
          <p:cNvPr id="14" name="cerchio FiShare2"/>
          <p:cNvSpPr/>
          <p:nvPr/>
        </p:nvSpPr>
        <p:spPr>
          <a:xfrm>
            <a:off x="566928" y="2752344"/>
            <a:ext cx="402336" cy="402336"/>
          </a:xfrm>
          <a:prstGeom prst="ellipse">
            <a:avLst/>
          </a:prstGeom>
          <a:solidFill>
            <a:schemeClr val="accent1"/>
          </a:solidFill>
          <a:ln/>
        </p:spPr>
      </p:sp>
      <p:pic>
        <p:nvPicPr>
          <p:cNvPr id="15" name="Image 2" descr="FiShare2">    </p:cNvPr>
          <p:cNvPicPr>
            <a:picLocks noChangeAspect="1"/>
          </p:cNvPicPr>
          <p:nvPr/>
        </p:nvPicPr>
        <p:blipFill>
          <a:blip r:embed="rId3"/>
          <a:stretch>
            <a:fillRect/>
          </a:stretch>
        </p:blipFill>
        <p:spPr>
          <a:xfrm>
            <a:off x="667512" y="2852928"/>
            <a:ext cx="201168" cy="201168"/>
          </a:xfrm>
          <a:prstGeom prst="rect">
            <a:avLst/>
          </a:prstGeom>
        </p:spPr>
      </p:pic>
      <p:sp>
        <p:nvSpPr>
          <p:cNvPr id="16" name="Text 10"/>
          <p:cNvSpPr txBox="1"/>
          <p:nvPr/>
        </p:nvSpPr>
        <p:spPr>
          <a:xfrm>
            <a:off x="1097280" y="2688336"/>
            <a:ext cx="4206240" cy="530352"/>
          </a:xfrm>
          <a:prstGeom prst="rect">
            <a:avLst/>
          </a:prstGeom>
          <a:noFill/>
          <a:ln/>
        </p:spPr>
        <p:txBody>
          <a:bodyPr wrap="square" lIns="0" tIns="0" rIns="0" bIns="0" rtlCol="0" anchor="ctr"/>
          <a:lstStyle/>
          <a:p>
            <a:pPr indent="0" marL="0">
              <a:buNone/>
            </a:pPr>
            <a:r>
              <a:rPr lang="en-US" sz="1400" b="1" dirty="0">
                <a:solidFill>
                  <a:schemeClr val="tx1"/>
                </a:solidFill>
              </a:rPr>
              <a:t>Buone pratiche condivise</a:t>
            </a:r>
            <a:endParaRPr lang="en-US" sz="1400" dirty="0"/>
          </a:p>
        </p:txBody>
      </p:sp>
      <p:sp>
        <p:nvSpPr>
          <p:cNvPr id="17" name="Onboarding più facile"/>
          <p:cNvSpPr/>
          <p:nvPr/>
        </p:nvSpPr>
        <p:spPr>
          <a:xfrm>
            <a:off x="457200" y="3310128"/>
            <a:ext cx="4937760" cy="530352"/>
          </a:xfrm>
          <a:prstGeom prst="roundRect">
            <a:avLst>
              <a:gd name="adj" fmla="val 13793"/>
            </a:avLst>
          </a:prstGeom>
          <a:solidFill>
            <a:schemeClr val="bg1"/>
          </a:solidFill>
          <a:ln/>
        </p:spPr>
      </p:sp>
      <p:sp>
        <p:nvSpPr>
          <p:cNvPr id="18" name="cerchio FiUserPlus"/>
          <p:cNvSpPr/>
          <p:nvPr/>
        </p:nvSpPr>
        <p:spPr>
          <a:xfrm>
            <a:off x="566928" y="3374136"/>
            <a:ext cx="402336" cy="402336"/>
          </a:xfrm>
          <a:prstGeom prst="ellipse">
            <a:avLst/>
          </a:prstGeom>
          <a:solidFill>
            <a:schemeClr val="accent1"/>
          </a:solidFill>
          <a:ln/>
        </p:spPr>
      </p:sp>
      <p:pic>
        <p:nvPicPr>
          <p:cNvPr id="19" name="Image 3" descr="FiUserPlus">    </p:cNvPr>
          <p:cNvPicPr>
            <a:picLocks noChangeAspect="1"/>
          </p:cNvPicPr>
          <p:nvPr/>
        </p:nvPicPr>
        <p:blipFill>
          <a:blip r:embed="rId4"/>
          <a:stretch>
            <a:fillRect/>
          </a:stretch>
        </p:blipFill>
        <p:spPr>
          <a:xfrm>
            <a:off x="667512" y="3474720"/>
            <a:ext cx="201168" cy="201168"/>
          </a:xfrm>
          <a:prstGeom prst="rect">
            <a:avLst/>
          </a:prstGeom>
        </p:spPr>
      </p:pic>
      <p:sp>
        <p:nvSpPr>
          <p:cNvPr id="20" name="Text 13"/>
          <p:cNvSpPr txBox="1"/>
          <p:nvPr/>
        </p:nvSpPr>
        <p:spPr>
          <a:xfrm>
            <a:off x="1097280" y="3310128"/>
            <a:ext cx="4206240" cy="530352"/>
          </a:xfrm>
          <a:prstGeom prst="rect">
            <a:avLst/>
          </a:prstGeom>
          <a:noFill/>
          <a:ln/>
        </p:spPr>
        <p:txBody>
          <a:bodyPr wrap="square" lIns="0" tIns="0" rIns="0" bIns="0" rtlCol="0" anchor="ctr"/>
          <a:lstStyle/>
          <a:p>
            <a:pPr indent="0" marL="0">
              <a:buNone/>
            </a:pPr>
            <a:r>
              <a:rPr lang="en-US" sz="1400" b="1" dirty="0">
                <a:solidFill>
                  <a:schemeClr val="tx1"/>
                </a:solidFill>
              </a:rPr>
              <a:t>Onboarding più facile</a:t>
            </a:r>
            <a:endParaRPr lang="en-US" sz="1400" dirty="0"/>
          </a:p>
        </p:txBody>
      </p:sp>
      <p:sp>
        <p:nvSpPr>
          <p:cNvPr id="21" name="Miglioramento continuo"/>
          <p:cNvSpPr/>
          <p:nvPr/>
        </p:nvSpPr>
        <p:spPr>
          <a:xfrm>
            <a:off x="457200" y="3931920"/>
            <a:ext cx="4937760" cy="530352"/>
          </a:xfrm>
          <a:prstGeom prst="roundRect">
            <a:avLst>
              <a:gd name="adj" fmla="val 13793"/>
            </a:avLst>
          </a:prstGeom>
          <a:solidFill>
            <a:schemeClr val="bg2"/>
          </a:solidFill>
          <a:ln/>
        </p:spPr>
      </p:sp>
      <p:sp>
        <p:nvSpPr>
          <p:cNvPr id="22" name="cerchio FiTrendingUp"/>
          <p:cNvSpPr/>
          <p:nvPr/>
        </p:nvSpPr>
        <p:spPr>
          <a:xfrm>
            <a:off x="566928" y="3995928"/>
            <a:ext cx="402336" cy="402336"/>
          </a:xfrm>
          <a:prstGeom prst="ellipse">
            <a:avLst/>
          </a:prstGeom>
          <a:solidFill>
            <a:schemeClr val="accent1"/>
          </a:solidFill>
          <a:ln/>
        </p:spPr>
      </p:sp>
      <p:pic>
        <p:nvPicPr>
          <p:cNvPr id="23" name="Image 4" descr="FiTrendingUp">    </p:cNvPr>
          <p:cNvPicPr>
            <a:picLocks noChangeAspect="1"/>
          </p:cNvPicPr>
          <p:nvPr/>
        </p:nvPicPr>
        <p:blipFill>
          <a:blip r:embed="rId5"/>
          <a:stretch>
            <a:fillRect/>
          </a:stretch>
        </p:blipFill>
        <p:spPr>
          <a:xfrm>
            <a:off x="667512" y="4096512"/>
            <a:ext cx="201168" cy="201168"/>
          </a:xfrm>
          <a:prstGeom prst="rect">
            <a:avLst/>
          </a:prstGeom>
        </p:spPr>
      </p:pic>
      <p:sp>
        <p:nvSpPr>
          <p:cNvPr id="24" name="Text 16"/>
          <p:cNvSpPr txBox="1"/>
          <p:nvPr/>
        </p:nvSpPr>
        <p:spPr>
          <a:xfrm>
            <a:off x="1097280" y="3931920"/>
            <a:ext cx="4206240" cy="530352"/>
          </a:xfrm>
          <a:prstGeom prst="rect">
            <a:avLst/>
          </a:prstGeom>
          <a:noFill/>
          <a:ln/>
        </p:spPr>
        <p:txBody>
          <a:bodyPr wrap="square" lIns="0" tIns="0" rIns="0" bIns="0" rtlCol="0" anchor="ctr"/>
          <a:lstStyle/>
          <a:p>
            <a:pPr indent="0" marL="0">
              <a:buNone/>
            </a:pPr>
            <a:r>
              <a:rPr lang="en-US" sz="1400" b="1" dirty="0">
                <a:solidFill>
                  <a:schemeClr val="tx1"/>
                </a:solidFill>
              </a:rPr>
              <a:t>Miglioramento continuo</a:t>
            </a:r>
            <a:endParaRPr lang="en-US" sz="1400" dirty="0"/>
          </a:p>
        </p:txBody>
      </p:sp>
      <p:sp>
        <p:nvSpPr>
          <p:cNvPr id="25" name="scheda Per mantenerli efficaci"/>
          <p:cNvSpPr/>
          <p:nvPr/>
        </p:nvSpPr>
        <p:spPr>
          <a:xfrm>
            <a:off x="5623560" y="1097280"/>
            <a:ext cx="3063240" cy="3429000"/>
          </a:xfrm>
          <a:prstGeom prst="roundRect">
            <a:avLst>
              <a:gd name="adj" fmla="val 2388"/>
            </a:avLst>
          </a:prstGeom>
          <a:solidFill>
            <a:schemeClr val="accent6"/>
          </a:solidFill>
          <a:ln/>
        </p:spPr>
      </p:sp>
      <p:sp>
        <p:nvSpPr>
          <p:cNvPr id="26" name="cerchio FiTool"/>
          <p:cNvSpPr/>
          <p:nvPr/>
        </p:nvSpPr>
        <p:spPr>
          <a:xfrm>
            <a:off x="5806440" y="1280160"/>
            <a:ext cx="457200" cy="457200"/>
          </a:xfrm>
          <a:prstGeom prst="ellipse">
            <a:avLst/>
          </a:prstGeom>
          <a:solidFill>
            <a:schemeClr val="accent1"/>
          </a:solidFill>
          <a:ln/>
        </p:spPr>
      </p:sp>
      <p:pic>
        <p:nvPicPr>
          <p:cNvPr id="27" name="Image 5" descr="FiTool">    </p:cNvPr>
          <p:cNvPicPr>
            <a:picLocks noChangeAspect="1"/>
          </p:cNvPicPr>
          <p:nvPr/>
        </p:nvPicPr>
        <p:blipFill>
          <a:blip r:embed="rId6"/>
          <a:stretch>
            <a:fillRect/>
          </a:stretch>
        </p:blipFill>
        <p:spPr>
          <a:xfrm>
            <a:off x="5920740" y="1394460"/>
            <a:ext cx="228600" cy="228600"/>
          </a:xfrm>
          <a:prstGeom prst="rect">
            <a:avLst/>
          </a:prstGeom>
        </p:spPr>
      </p:pic>
      <p:sp>
        <p:nvSpPr>
          <p:cNvPr id="28" name="Text 19"/>
          <p:cNvSpPr txBox="1"/>
          <p:nvPr/>
        </p:nvSpPr>
        <p:spPr>
          <a:xfrm>
            <a:off x="5806440" y="1847088"/>
            <a:ext cx="2697480" cy="347472"/>
          </a:xfrm>
          <a:prstGeom prst="rect">
            <a:avLst/>
          </a:prstGeom>
          <a:noFill/>
          <a:ln/>
        </p:spPr>
        <p:txBody>
          <a:bodyPr wrap="square" lIns="0" tIns="0" rIns="0" bIns="0" rtlCol="0" anchor="t"/>
          <a:lstStyle/>
          <a:p>
            <a:pPr indent="0" marL="0">
              <a:buNone/>
            </a:pPr>
            <a:r>
              <a:rPr lang="en-US" sz="1500" b="1" dirty="0">
                <a:solidFill>
                  <a:schemeClr val="tx1"/>
                </a:solidFill>
              </a:rPr>
              <a:t>Per mantenerli efficaci</a:t>
            </a:r>
            <a:endParaRPr lang="en-US" sz="1500" dirty="0"/>
          </a:p>
        </p:txBody>
      </p:sp>
      <p:sp>
        <p:nvSpPr>
          <p:cNvPr id="29" name="Text 20"/>
          <p:cNvSpPr txBox="1"/>
          <p:nvPr/>
        </p:nvSpPr>
        <p:spPr>
          <a:xfrm>
            <a:off x="5806440" y="2231136"/>
            <a:ext cx="2697480" cy="21854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2"/>
                </a:solidFill>
              </a:rPr>
              <a:t>Versione e responsabile</a:t>
            </a:r>
            <a:endParaRPr lang="en-US" sz="1200" dirty="0"/>
          </a:p>
          <a:p>
            <a:pPr marL="177800" indent="-177800">
              <a:spcAft>
                <a:spcPts val="600"/>
              </a:spcAft>
              <a:buSzPct val="100000"/>
              <a:buChar char="•"/>
            </a:pPr>
            <a:r>
              <a:rPr lang="en-US" sz="1200" dirty="0">
                <a:solidFill>
                  <a:schemeClr val="tx2"/>
                </a:solidFill>
              </a:rPr>
              <a:t>Prove periodiche su casi reali</a:t>
            </a:r>
            <a:endParaRPr lang="en-US" sz="1200" dirty="0"/>
          </a:p>
          <a:p>
            <a:pPr marL="177800" indent="-177800">
              <a:spcAft>
                <a:spcPts val="600"/>
              </a:spcAft>
              <a:buSzPct val="100000"/>
              <a:buChar char="•"/>
            </a:pPr>
            <a:r>
              <a:rPr lang="en-US" sz="1200" dirty="0">
                <a:solidFill>
                  <a:schemeClr val="tx2"/>
                </a:solidFill>
              </a:rPr>
              <a:t>Aggiornare quando cambiano procedure o modelli</a:t>
            </a:r>
            <a:endParaRPr lang="en-US" sz="1200" dirty="0"/>
          </a:p>
          <a:p>
            <a:pPr marL="177800" indent="-177800">
              <a:spcAft>
                <a:spcPts val="600"/>
              </a:spcAft>
              <a:buSzPct val="100000"/>
              <a:buChar char="•"/>
            </a:pPr>
            <a:r>
              <a:rPr lang="en-US" sz="1200" dirty="0">
                <a:solidFill>
                  <a:schemeClr val="tx2"/>
                </a:solidFill>
              </a:rPr>
              <a:t>Adattare ai casi particolari, capendone la logica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Esercitazione: dal compito reale al template</a:t>
            </a:r>
            <a:endParaRPr lang="en-US" sz="2600" dirty="0"/>
          </a:p>
        </p:txBody>
      </p:sp>
      <p:sp>
        <p:nvSpPr>
          <p:cNvPr id="4" name="passo 1"/>
          <p:cNvSpPr/>
          <p:nvPr/>
        </p:nvSpPr>
        <p:spPr>
          <a:xfrm>
            <a:off x="457200" y="1051560"/>
            <a:ext cx="4572000" cy="475488"/>
          </a:xfrm>
          <a:prstGeom prst="roundRect">
            <a:avLst>
              <a:gd name="adj" fmla="val 15385"/>
            </a:avLst>
          </a:prstGeom>
          <a:solidFill>
            <a:schemeClr val="bg2"/>
          </a:solidFill>
          <a:ln/>
        </p:spPr>
      </p:sp>
      <p:sp>
        <p:nvSpPr>
          <p:cNvPr id="5" name="Text 2"/>
          <p:cNvSpPr txBox="1"/>
          <p:nvPr/>
        </p:nvSpPr>
        <p:spPr>
          <a:xfrm>
            <a:off x="566928" y="1051560"/>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1</a:t>
            </a:r>
            <a:endParaRPr lang="en-US" sz="1600" dirty="0"/>
          </a:p>
        </p:txBody>
      </p:sp>
      <p:sp>
        <p:nvSpPr>
          <p:cNvPr id="6" name="Text 3"/>
          <p:cNvSpPr txBox="1"/>
          <p:nvPr/>
        </p:nvSpPr>
        <p:spPr>
          <a:xfrm>
            <a:off x="960120" y="1051560"/>
            <a:ext cx="3977640" cy="475488"/>
          </a:xfrm>
          <a:prstGeom prst="rect">
            <a:avLst/>
          </a:prstGeom>
          <a:noFill/>
          <a:ln/>
        </p:spPr>
        <p:txBody>
          <a:bodyPr wrap="square" lIns="0" tIns="0" rIns="0" bIns="0" rtlCol="0" anchor="ctr"/>
          <a:lstStyle/>
          <a:p>
            <a:pPr indent="0" marL="0">
              <a:buNone/>
            </a:pPr>
            <a:r>
              <a:rPr lang="en-US" sz="1300" dirty="0">
                <a:solidFill>
                  <a:schemeClr val="tx1"/>
                </a:solidFill>
              </a:rPr>
              <a:t>Individuare un'attività reale</a:t>
            </a:r>
            <a:endParaRPr lang="en-US" sz="1300" dirty="0"/>
          </a:p>
        </p:txBody>
      </p:sp>
      <p:sp>
        <p:nvSpPr>
          <p:cNvPr id="7" name="passo 2"/>
          <p:cNvSpPr/>
          <p:nvPr/>
        </p:nvSpPr>
        <p:spPr>
          <a:xfrm>
            <a:off x="457200" y="1600200"/>
            <a:ext cx="4572000" cy="475488"/>
          </a:xfrm>
          <a:prstGeom prst="roundRect">
            <a:avLst>
              <a:gd name="adj" fmla="val 15385"/>
            </a:avLst>
          </a:prstGeom>
          <a:solidFill>
            <a:schemeClr val="bg1"/>
          </a:solidFill>
          <a:ln/>
        </p:spPr>
      </p:sp>
      <p:sp>
        <p:nvSpPr>
          <p:cNvPr id="8" name="Text 5"/>
          <p:cNvSpPr txBox="1"/>
          <p:nvPr/>
        </p:nvSpPr>
        <p:spPr>
          <a:xfrm>
            <a:off x="566928" y="1600200"/>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2</a:t>
            </a:r>
            <a:endParaRPr lang="en-US" sz="1600" dirty="0"/>
          </a:p>
        </p:txBody>
      </p:sp>
      <p:sp>
        <p:nvSpPr>
          <p:cNvPr id="9" name="Text 6"/>
          <p:cNvSpPr txBox="1"/>
          <p:nvPr/>
        </p:nvSpPr>
        <p:spPr>
          <a:xfrm>
            <a:off x="960120" y="1600200"/>
            <a:ext cx="3977640" cy="475488"/>
          </a:xfrm>
          <a:prstGeom prst="rect">
            <a:avLst/>
          </a:prstGeom>
          <a:noFill/>
          <a:ln/>
        </p:spPr>
        <p:txBody>
          <a:bodyPr wrap="square" lIns="0" tIns="0" rIns="0" bIns="0" rtlCol="0" anchor="ctr"/>
          <a:lstStyle/>
          <a:p>
            <a:pPr indent="0" marL="0">
              <a:buNone/>
            </a:pPr>
            <a:r>
              <a:rPr lang="en-US" sz="1300" dirty="0">
                <a:solidFill>
                  <a:schemeClr val="tx1"/>
                </a:solidFill>
              </a:rPr>
              <a:t>Formulare una richiesta iniziale</a:t>
            </a:r>
            <a:endParaRPr lang="en-US" sz="1300" dirty="0"/>
          </a:p>
        </p:txBody>
      </p:sp>
      <p:sp>
        <p:nvSpPr>
          <p:cNvPr id="10" name="passo 3"/>
          <p:cNvSpPr/>
          <p:nvPr/>
        </p:nvSpPr>
        <p:spPr>
          <a:xfrm>
            <a:off x="457200" y="2148840"/>
            <a:ext cx="4572000" cy="475488"/>
          </a:xfrm>
          <a:prstGeom prst="roundRect">
            <a:avLst>
              <a:gd name="adj" fmla="val 15385"/>
            </a:avLst>
          </a:prstGeom>
          <a:solidFill>
            <a:schemeClr val="bg2"/>
          </a:solidFill>
          <a:ln/>
        </p:spPr>
      </p:sp>
      <p:sp>
        <p:nvSpPr>
          <p:cNvPr id="11" name="Text 8"/>
          <p:cNvSpPr txBox="1"/>
          <p:nvPr/>
        </p:nvSpPr>
        <p:spPr>
          <a:xfrm>
            <a:off x="566928" y="2148840"/>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3</a:t>
            </a:r>
            <a:endParaRPr lang="en-US" sz="1600" dirty="0"/>
          </a:p>
        </p:txBody>
      </p:sp>
      <p:sp>
        <p:nvSpPr>
          <p:cNvPr id="12" name="Text 9"/>
          <p:cNvSpPr txBox="1"/>
          <p:nvPr/>
        </p:nvSpPr>
        <p:spPr>
          <a:xfrm>
            <a:off x="960120" y="2148840"/>
            <a:ext cx="3977640" cy="475488"/>
          </a:xfrm>
          <a:prstGeom prst="rect">
            <a:avLst/>
          </a:prstGeom>
          <a:noFill/>
          <a:ln/>
        </p:spPr>
        <p:txBody>
          <a:bodyPr wrap="square" lIns="0" tIns="0" rIns="0" bIns="0" rtlCol="0" anchor="ctr"/>
          <a:lstStyle/>
          <a:p>
            <a:pPr indent="0" marL="0">
              <a:buNone/>
            </a:pPr>
            <a:r>
              <a:rPr lang="en-US" sz="1300" dirty="0">
                <a:solidFill>
                  <a:schemeClr val="tx1"/>
                </a:solidFill>
              </a:rPr>
              <a:t>Migliorarla con contesto e criteri</a:t>
            </a:r>
            <a:endParaRPr lang="en-US" sz="1300" dirty="0"/>
          </a:p>
        </p:txBody>
      </p:sp>
      <p:sp>
        <p:nvSpPr>
          <p:cNvPr id="13" name="passo 4"/>
          <p:cNvSpPr/>
          <p:nvPr/>
        </p:nvSpPr>
        <p:spPr>
          <a:xfrm>
            <a:off x="457200" y="2697480"/>
            <a:ext cx="4572000" cy="475488"/>
          </a:xfrm>
          <a:prstGeom prst="roundRect">
            <a:avLst>
              <a:gd name="adj" fmla="val 15385"/>
            </a:avLst>
          </a:prstGeom>
          <a:solidFill>
            <a:schemeClr val="bg1"/>
          </a:solidFill>
          <a:ln/>
        </p:spPr>
      </p:sp>
      <p:sp>
        <p:nvSpPr>
          <p:cNvPr id="14" name="Text 11"/>
          <p:cNvSpPr txBox="1"/>
          <p:nvPr/>
        </p:nvSpPr>
        <p:spPr>
          <a:xfrm>
            <a:off x="566928" y="2697480"/>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4</a:t>
            </a:r>
            <a:endParaRPr lang="en-US" sz="1600" dirty="0"/>
          </a:p>
        </p:txBody>
      </p:sp>
      <p:sp>
        <p:nvSpPr>
          <p:cNvPr id="15" name="Text 12"/>
          <p:cNvSpPr txBox="1"/>
          <p:nvPr/>
        </p:nvSpPr>
        <p:spPr>
          <a:xfrm>
            <a:off x="960120" y="2697480"/>
            <a:ext cx="3977640" cy="475488"/>
          </a:xfrm>
          <a:prstGeom prst="rect">
            <a:avLst/>
          </a:prstGeom>
          <a:noFill/>
          <a:ln/>
        </p:spPr>
        <p:txBody>
          <a:bodyPr wrap="square" lIns="0" tIns="0" rIns="0" bIns="0" rtlCol="0" anchor="ctr"/>
          <a:lstStyle/>
          <a:p>
            <a:pPr indent="0" marL="0">
              <a:buNone/>
            </a:pPr>
            <a:r>
              <a:rPr lang="en-US" sz="1300" dirty="0">
                <a:solidFill>
                  <a:schemeClr val="tx1"/>
                </a:solidFill>
              </a:rPr>
              <a:t>Analizzare il risultato</a:t>
            </a:r>
            <a:endParaRPr lang="en-US" sz="1300" dirty="0"/>
          </a:p>
        </p:txBody>
      </p:sp>
      <p:sp>
        <p:nvSpPr>
          <p:cNvPr id="16" name="passo 5"/>
          <p:cNvSpPr/>
          <p:nvPr/>
        </p:nvSpPr>
        <p:spPr>
          <a:xfrm>
            <a:off x="457200" y="3246120"/>
            <a:ext cx="4572000" cy="475488"/>
          </a:xfrm>
          <a:prstGeom prst="roundRect">
            <a:avLst>
              <a:gd name="adj" fmla="val 15385"/>
            </a:avLst>
          </a:prstGeom>
          <a:solidFill>
            <a:schemeClr val="bg2"/>
          </a:solidFill>
          <a:ln/>
        </p:spPr>
      </p:sp>
      <p:sp>
        <p:nvSpPr>
          <p:cNvPr id="17" name="Text 14"/>
          <p:cNvSpPr txBox="1"/>
          <p:nvPr/>
        </p:nvSpPr>
        <p:spPr>
          <a:xfrm>
            <a:off x="566928" y="3246120"/>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5</a:t>
            </a:r>
            <a:endParaRPr lang="en-US" sz="1600" dirty="0"/>
          </a:p>
        </p:txBody>
      </p:sp>
      <p:sp>
        <p:nvSpPr>
          <p:cNvPr id="18" name="Text 15"/>
          <p:cNvSpPr txBox="1"/>
          <p:nvPr/>
        </p:nvSpPr>
        <p:spPr>
          <a:xfrm>
            <a:off x="960120" y="3246120"/>
            <a:ext cx="3977640" cy="475488"/>
          </a:xfrm>
          <a:prstGeom prst="rect">
            <a:avLst/>
          </a:prstGeom>
          <a:noFill/>
          <a:ln/>
        </p:spPr>
        <p:txBody>
          <a:bodyPr wrap="square" lIns="0" tIns="0" rIns="0" bIns="0" rtlCol="0" anchor="ctr"/>
          <a:lstStyle/>
          <a:p>
            <a:pPr indent="0" marL="0">
              <a:buNone/>
            </a:pPr>
            <a:r>
              <a:rPr lang="en-US" sz="1300" dirty="0">
                <a:solidFill>
                  <a:schemeClr val="tx1"/>
                </a:solidFill>
              </a:rPr>
              <a:t>Dare un feedback specifico</a:t>
            </a:r>
            <a:endParaRPr lang="en-US" sz="1300" dirty="0"/>
          </a:p>
        </p:txBody>
      </p:sp>
      <p:sp>
        <p:nvSpPr>
          <p:cNvPr id="19" name="passo 6"/>
          <p:cNvSpPr/>
          <p:nvPr/>
        </p:nvSpPr>
        <p:spPr>
          <a:xfrm>
            <a:off x="457200" y="3794760"/>
            <a:ext cx="4572000" cy="475488"/>
          </a:xfrm>
          <a:prstGeom prst="roundRect">
            <a:avLst>
              <a:gd name="adj" fmla="val 15385"/>
            </a:avLst>
          </a:prstGeom>
          <a:solidFill>
            <a:schemeClr val="bg1"/>
          </a:solidFill>
          <a:ln/>
        </p:spPr>
      </p:sp>
      <p:sp>
        <p:nvSpPr>
          <p:cNvPr id="20" name="Text 17"/>
          <p:cNvSpPr txBox="1"/>
          <p:nvPr/>
        </p:nvSpPr>
        <p:spPr>
          <a:xfrm>
            <a:off x="566928" y="3794760"/>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6</a:t>
            </a:r>
            <a:endParaRPr lang="en-US" sz="1600" dirty="0"/>
          </a:p>
        </p:txBody>
      </p:sp>
      <p:sp>
        <p:nvSpPr>
          <p:cNvPr id="21" name="Text 18"/>
          <p:cNvSpPr txBox="1"/>
          <p:nvPr/>
        </p:nvSpPr>
        <p:spPr>
          <a:xfrm>
            <a:off x="960120" y="3794760"/>
            <a:ext cx="3977640" cy="475488"/>
          </a:xfrm>
          <a:prstGeom prst="rect">
            <a:avLst/>
          </a:prstGeom>
          <a:noFill/>
          <a:ln/>
        </p:spPr>
        <p:txBody>
          <a:bodyPr wrap="square" lIns="0" tIns="0" rIns="0" bIns="0" rtlCol="0" anchor="ctr"/>
          <a:lstStyle/>
          <a:p>
            <a:pPr indent="0" marL="0">
              <a:buNone/>
            </a:pPr>
            <a:r>
              <a:rPr lang="en-US" sz="1300" dirty="0">
                <a:solidFill>
                  <a:schemeClr val="tx1"/>
                </a:solidFill>
              </a:rPr>
              <a:t>Valutare se farne un template</a:t>
            </a:r>
            <a:endParaRPr lang="en-US" sz="1300" dirty="0"/>
          </a:p>
        </p:txBody>
      </p:sp>
      <p:sp>
        <p:nvSpPr>
          <p:cNvPr id="22" name="scheda Risultato atteso"/>
          <p:cNvSpPr/>
          <p:nvPr/>
        </p:nvSpPr>
        <p:spPr>
          <a:xfrm>
            <a:off x="5257800" y="1051560"/>
            <a:ext cx="3429000" cy="1600200"/>
          </a:xfrm>
          <a:prstGeom prst="roundRect">
            <a:avLst>
              <a:gd name="adj" fmla="val 4571"/>
            </a:avLst>
          </a:prstGeom>
          <a:solidFill>
            <a:schemeClr val="bg2"/>
          </a:solidFill>
          <a:ln/>
        </p:spPr>
      </p:sp>
      <p:sp>
        <p:nvSpPr>
          <p:cNvPr id="23" name="cerchio FiFlag"/>
          <p:cNvSpPr/>
          <p:nvPr/>
        </p:nvSpPr>
        <p:spPr>
          <a:xfrm>
            <a:off x="5440680" y="1234440"/>
            <a:ext cx="457200" cy="457200"/>
          </a:xfrm>
          <a:prstGeom prst="ellipse">
            <a:avLst/>
          </a:prstGeom>
          <a:solidFill>
            <a:schemeClr val="accent1"/>
          </a:solidFill>
          <a:ln/>
        </p:spPr>
      </p:sp>
      <p:pic>
        <p:nvPicPr>
          <p:cNvPr id="24" name="Image 0" descr="FiFlag">    </p:cNvPr>
          <p:cNvPicPr>
            <a:picLocks noChangeAspect="1"/>
          </p:cNvPicPr>
          <p:nvPr/>
        </p:nvPicPr>
        <p:blipFill>
          <a:blip r:embed="rId1"/>
          <a:stretch>
            <a:fillRect/>
          </a:stretch>
        </p:blipFill>
        <p:spPr>
          <a:xfrm>
            <a:off x="5554980" y="1348740"/>
            <a:ext cx="228600" cy="228600"/>
          </a:xfrm>
          <a:prstGeom prst="rect">
            <a:avLst/>
          </a:prstGeom>
        </p:spPr>
      </p:pic>
      <p:sp>
        <p:nvSpPr>
          <p:cNvPr id="25" name="Text 21"/>
          <p:cNvSpPr txBox="1"/>
          <p:nvPr/>
        </p:nvSpPr>
        <p:spPr>
          <a:xfrm>
            <a:off x="6035040" y="1234440"/>
            <a:ext cx="2468880" cy="457200"/>
          </a:xfrm>
          <a:prstGeom prst="rect">
            <a:avLst/>
          </a:prstGeom>
          <a:noFill/>
          <a:ln/>
        </p:spPr>
        <p:txBody>
          <a:bodyPr wrap="square" lIns="0" tIns="0" rIns="0" bIns="0" rtlCol="0" anchor="ctr"/>
          <a:lstStyle/>
          <a:p>
            <a:pPr indent="0" marL="0">
              <a:buNone/>
            </a:pPr>
            <a:r>
              <a:rPr lang="en-US" sz="1400" b="1" dirty="0">
                <a:solidFill>
                  <a:schemeClr val="tx1"/>
                </a:solidFill>
              </a:rPr>
              <a:t>Risultato atteso</a:t>
            </a:r>
            <a:endParaRPr lang="en-US" sz="1400" dirty="0"/>
          </a:p>
        </p:txBody>
      </p:sp>
      <p:sp>
        <p:nvSpPr>
          <p:cNvPr id="26" name="Text 22"/>
          <p:cNvSpPr txBox="1"/>
          <p:nvPr/>
        </p:nvSpPr>
        <p:spPr>
          <a:xfrm>
            <a:off x="5440680" y="1828800"/>
            <a:ext cx="3063240" cy="713232"/>
          </a:xfrm>
          <a:prstGeom prst="rect">
            <a:avLst/>
          </a:prstGeom>
          <a:noFill/>
          <a:ln/>
        </p:spPr>
        <p:txBody>
          <a:bodyPr wrap="square" lIns="0" tIns="0" rIns="0" bIns="0" rtlCol="0" anchor="t"/>
          <a:lstStyle/>
          <a:p>
            <a:pPr indent="0" marL="0">
              <a:buNone/>
            </a:pPr>
            <a:r>
              <a:rPr lang="en-US" sz="1100" dirty="0">
                <a:solidFill>
                  <a:schemeClr val="tx2"/>
                </a:solidFill>
              </a:rPr>
              <a:t>Due versioni della richiesta con i risultati, il feedback dato e, se utile, una bozza di template.</a:t>
            </a:r>
            <a:endParaRPr lang="en-US" sz="1100" dirty="0"/>
          </a:p>
        </p:txBody>
      </p:sp>
      <p:sp>
        <p:nvSpPr>
          <p:cNvPr id="27" name="criterio di confronto"/>
          <p:cNvSpPr/>
          <p:nvPr/>
        </p:nvSpPr>
        <p:spPr>
          <a:xfrm>
            <a:off x="5257800" y="2788920"/>
            <a:ext cx="3429000" cy="1508760"/>
          </a:xfrm>
          <a:prstGeom prst="roundRect">
            <a:avLst>
              <a:gd name="adj" fmla="val 4848"/>
            </a:avLst>
          </a:prstGeom>
          <a:solidFill>
            <a:schemeClr val="tx1"/>
          </a:solidFill>
          <a:ln/>
        </p:spPr>
      </p:sp>
      <p:sp>
        <p:nvSpPr>
          <p:cNvPr id="28" name="Text 24"/>
          <p:cNvSpPr txBox="1"/>
          <p:nvPr/>
        </p:nvSpPr>
        <p:spPr>
          <a:xfrm>
            <a:off x="5440680" y="2852928"/>
            <a:ext cx="3108960" cy="320040"/>
          </a:xfrm>
          <a:prstGeom prst="rect">
            <a:avLst/>
          </a:prstGeom>
          <a:noFill/>
          <a:ln/>
        </p:spPr>
        <p:txBody>
          <a:bodyPr wrap="square" lIns="0" tIns="0" rIns="0" bIns="0" rtlCol="0" anchor="t"/>
          <a:lstStyle/>
          <a:p>
            <a:pPr indent="0" marL="0">
              <a:buNone/>
            </a:pPr>
            <a:r>
              <a:rPr lang="en-US" sz="1400" b="1" dirty="0">
                <a:solidFill>
                  <a:schemeClr val="accent1"/>
                </a:solidFill>
              </a:rPr>
              <a:t>Criterio di confronto</a:t>
            </a:r>
            <a:endParaRPr lang="en-US" sz="1400" dirty="0"/>
          </a:p>
        </p:txBody>
      </p:sp>
      <p:sp>
        <p:nvSpPr>
          <p:cNvPr id="29" name="Text 25"/>
          <p:cNvSpPr txBox="1"/>
          <p:nvPr/>
        </p:nvSpPr>
        <p:spPr>
          <a:xfrm>
            <a:off x="5440680" y="3200400"/>
            <a:ext cx="3108960" cy="1005840"/>
          </a:xfrm>
          <a:prstGeom prst="rect">
            <a:avLst/>
          </a:prstGeom>
          <a:noFill/>
          <a:ln/>
        </p:spPr>
        <p:txBody>
          <a:bodyPr wrap="square" lIns="0" tIns="0" rIns="0" bIns="0" rtlCol="0" anchor="t"/>
          <a:lstStyle/>
          <a:p>
            <a:pPr indent="0" marL="0">
              <a:buNone/>
            </a:pPr>
            <a:r>
              <a:rPr lang="en-US" sz="1200" dirty="0">
                <a:solidFill>
                  <a:schemeClr val="bg1"/>
                </a:solidFill>
              </a:rPr>
              <a:t>Quante modifiche servono prima di usare il risultato? Da 0 (pronto) a 3 (da rifare).</a:t>
            </a:r>
            <a:endParaRPr lang="en-US" sz="1200" dirty="0"/>
          </a:p>
        </p:txBody>
      </p:sp>
      <p:sp>
        <p:nvSpPr>
          <p:cNvPr id="30" name="Text 26"/>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100" i="1" dirty="0">
                <a:solidFill>
                  <a:schemeClr val="tx2"/>
                </a:solidFill>
              </a:rPr>
              <a:t>Circa 25 minuti, su uno strumento autorizzato, senza dati riservati.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competenza 6.1"/>
          <p:cNvSpPr/>
          <p:nvPr/>
        </p:nvSpPr>
        <p:spPr>
          <a:xfrm>
            <a:off x="457200" y="1024128"/>
            <a:ext cx="4023360" cy="566928"/>
          </a:xfrm>
          <a:prstGeom prst="roundRect">
            <a:avLst>
              <a:gd name="adj" fmla="val 12903"/>
            </a:avLst>
          </a:prstGeom>
          <a:solidFill>
            <a:schemeClr val="bg2"/>
          </a:solidFill>
          <a:ln/>
        </p:spPr>
      </p:sp>
      <p:sp>
        <p:nvSpPr>
          <p:cNvPr id="5" name="Text 2"/>
          <p:cNvSpPr txBox="1"/>
          <p:nvPr/>
        </p:nvSpPr>
        <p:spPr>
          <a:xfrm>
            <a:off x="566928" y="1024128"/>
            <a:ext cx="502920" cy="566928"/>
          </a:xfrm>
          <a:prstGeom prst="rect">
            <a:avLst/>
          </a:prstGeom>
          <a:noFill/>
          <a:ln/>
        </p:spPr>
        <p:txBody>
          <a:bodyPr wrap="square" lIns="0" tIns="0" rIns="0" bIns="0" rtlCol="0" anchor="ctr"/>
          <a:lstStyle/>
          <a:p>
            <a:pPr indent="0" marL="0">
              <a:buNone/>
            </a:pPr>
            <a:r>
              <a:rPr lang="en-US" sz="1300" b="1" dirty="0">
                <a:solidFill>
                  <a:schemeClr val="accent1"/>
                </a:solidFill>
              </a:rPr>
              <a:t>6.1</a:t>
            </a:r>
            <a:endParaRPr lang="en-US" sz="1300" dirty="0"/>
          </a:p>
        </p:txBody>
      </p:sp>
      <p:sp>
        <p:nvSpPr>
          <p:cNvPr id="6" name="Text 3"/>
          <p:cNvSpPr txBox="1"/>
          <p:nvPr/>
        </p:nvSpPr>
        <p:spPr>
          <a:xfrm>
            <a:off x="1097280" y="1024128"/>
            <a:ext cx="3291840" cy="566928"/>
          </a:xfrm>
          <a:prstGeom prst="rect">
            <a:avLst/>
          </a:prstGeom>
          <a:noFill/>
          <a:ln/>
        </p:spPr>
        <p:txBody>
          <a:bodyPr wrap="square" lIns="0" tIns="0" rIns="0" bIns="0" rtlCol="0" anchor="ctr"/>
          <a:lstStyle/>
          <a:p>
            <a:pPr indent="0" marL="0">
              <a:buNone/>
            </a:pPr>
            <a:r>
              <a:rPr lang="en-US" sz="1200" dirty="0">
                <a:solidFill>
                  <a:schemeClr val="tx1"/>
                </a:solidFill>
              </a:rPr>
              <a:t>Capire come la richiesta incide sul risultato</a:t>
            </a:r>
            <a:endParaRPr lang="en-US" sz="1200" dirty="0"/>
          </a:p>
        </p:txBody>
      </p:sp>
      <p:sp>
        <p:nvSpPr>
          <p:cNvPr id="7" name="competenza 6.2"/>
          <p:cNvSpPr/>
          <p:nvPr/>
        </p:nvSpPr>
        <p:spPr>
          <a:xfrm>
            <a:off x="4663440" y="1024128"/>
            <a:ext cx="4023360" cy="566928"/>
          </a:xfrm>
          <a:prstGeom prst="roundRect">
            <a:avLst>
              <a:gd name="adj" fmla="val 12903"/>
            </a:avLst>
          </a:prstGeom>
          <a:solidFill>
            <a:schemeClr val="bg2"/>
          </a:solidFill>
          <a:ln/>
        </p:spPr>
      </p:sp>
      <p:sp>
        <p:nvSpPr>
          <p:cNvPr id="8" name="Text 5"/>
          <p:cNvSpPr txBox="1"/>
          <p:nvPr/>
        </p:nvSpPr>
        <p:spPr>
          <a:xfrm>
            <a:off x="4773168" y="1024128"/>
            <a:ext cx="502920" cy="566928"/>
          </a:xfrm>
          <a:prstGeom prst="rect">
            <a:avLst/>
          </a:prstGeom>
          <a:noFill/>
          <a:ln/>
        </p:spPr>
        <p:txBody>
          <a:bodyPr wrap="square" lIns="0" tIns="0" rIns="0" bIns="0" rtlCol="0" anchor="ctr"/>
          <a:lstStyle/>
          <a:p>
            <a:pPr indent="0" marL="0">
              <a:buNone/>
            </a:pPr>
            <a:r>
              <a:rPr lang="en-US" sz="1300" b="1" dirty="0">
                <a:solidFill>
                  <a:schemeClr val="accent1"/>
                </a:solidFill>
              </a:rPr>
              <a:t>6.2</a:t>
            </a:r>
            <a:endParaRPr lang="en-US" sz="1300" dirty="0"/>
          </a:p>
        </p:txBody>
      </p:sp>
      <p:sp>
        <p:nvSpPr>
          <p:cNvPr id="9" name="Text 6"/>
          <p:cNvSpPr txBox="1"/>
          <p:nvPr/>
        </p:nvSpPr>
        <p:spPr>
          <a:xfrm>
            <a:off x="5303520" y="1024128"/>
            <a:ext cx="3291840" cy="566928"/>
          </a:xfrm>
          <a:prstGeom prst="rect">
            <a:avLst/>
          </a:prstGeom>
          <a:noFill/>
          <a:ln/>
        </p:spPr>
        <p:txBody>
          <a:bodyPr wrap="square" lIns="0" tIns="0" rIns="0" bIns="0" rtlCol="0" anchor="ctr"/>
          <a:lstStyle/>
          <a:p>
            <a:pPr indent="0" marL="0">
              <a:buNone/>
            </a:pPr>
            <a:r>
              <a:rPr lang="en-US" sz="1200" dirty="0">
                <a:solidFill>
                  <a:schemeClr val="tx1"/>
                </a:solidFill>
              </a:rPr>
              <a:t>Definire il problema ed esplicitare i requisiti rilevanti</a:t>
            </a:r>
            <a:endParaRPr lang="en-US" sz="1200" dirty="0"/>
          </a:p>
        </p:txBody>
      </p:sp>
      <p:sp>
        <p:nvSpPr>
          <p:cNvPr id="10" name="competenza 6.3"/>
          <p:cNvSpPr/>
          <p:nvPr/>
        </p:nvSpPr>
        <p:spPr>
          <a:xfrm>
            <a:off x="457200" y="1664208"/>
            <a:ext cx="4023360" cy="566928"/>
          </a:xfrm>
          <a:prstGeom prst="roundRect">
            <a:avLst>
              <a:gd name="adj" fmla="val 12903"/>
            </a:avLst>
          </a:prstGeom>
          <a:solidFill>
            <a:schemeClr val="bg1"/>
          </a:solidFill>
          <a:ln/>
        </p:spPr>
      </p:sp>
      <p:sp>
        <p:nvSpPr>
          <p:cNvPr id="11" name="Text 8"/>
          <p:cNvSpPr txBox="1"/>
          <p:nvPr/>
        </p:nvSpPr>
        <p:spPr>
          <a:xfrm>
            <a:off x="566928" y="1664208"/>
            <a:ext cx="502920" cy="566928"/>
          </a:xfrm>
          <a:prstGeom prst="rect">
            <a:avLst/>
          </a:prstGeom>
          <a:noFill/>
          <a:ln/>
        </p:spPr>
        <p:txBody>
          <a:bodyPr wrap="square" lIns="0" tIns="0" rIns="0" bIns="0" rtlCol="0" anchor="ctr"/>
          <a:lstStyle/>
          <a:p>
            <a:pPr indent="0" marL="0">
              <a:buNone/>
            </a:pPr>
            <a:r>
              <a:rPr lang="en-US" sz="1300" b="1" dirty="0">
                <a:solidFill>
                  <a:schemeClr val="accent1"/>
                </a:solidFill>
              </a:rPr>
              <a:t>6.3</a:t>
            </a:r>
            <a:endParaRPr lang="en-US" sz="1300" dirty="0"/>
          </a:p>
        </p:txBody>
      </p:sp>
      <p:sp>
        <p:nvSpPr>
          <p:cNvPr id="12" name="Text 9"/>
          <p:cNvSpPr txBox="1"/>
          <p:nvPr/>
        </p:nvSpPr>
        <p:spPr>
          <a:xfrm>
            <a:off x="1097280" y="1664208"/>
            <a:ext cx="3291840" cy="566928"/>
          </a:xfrm>
          <a:prstGeom prst="rect">
            <a:avLst/>
          </a:prstGeom>
          <a:noFill/>
          <a:ln/>
        </p:spPr>
        <p:txBody>
          <a:bodyPr wrap="square" lIns="0" tIns="0" rIns="0" bIns="0" rtlCol="0" anchor="ctr"/>
          <a:lstStyle/>
          <a:p>
            <a:pPr indent="0" marL="0">
              <a:buNone/>
            </a:pPr>
            <a:r>
              <a:rPr lang="en-US" sz="1200" dirty="0">
                <a:solidFill>
                  <a:schemeClr val="tx1"/>
                </a:solidFill>
              </a:rPr>
              <a:t>Dare un contesto pertinente e far emergere ciò che manca</a:t>
            </a:r>
            <a:endParaRPr lang="en-US" sz="1200" dirty="0"/>
          </a:p>
        </p:txBody>
      </p:sp>
      <p:sp>
        <p:nvSpPr>
          <p:cNvPr id="13" name="competenza 6.4"/>
          <p:cNvSpPr/>
          <p:nvPr/>
        </p:nvSpPr>
        <p:spPr>
          <a:xfrm>
            <a:off x="4663440" y="1664208"/>
            <a:ext cx="4023360" cy="566928"/>
          </a:xfrm>
          <a:prstGeom prst="roundRect">
            <a:avLst>
              <a:gd name="adj" fmla="val 12903"/>
            </a:avLst>
          </a:prstGeom>
          <a:solidFill>
            <a:schemeClr val="bg1"/>
          </a:solidFill>
          <a:ln/>
        </p:spPr>
      </p:sp>
      <p:sp>
        <p:nvSpPr>
          <p:cNvPr id="14" name="Text 11"/>
          <p:cNvSpPr txBox="1"/>
          <p:nvPr/>
        </p:nvSpPr>
        <p:spPr>
          <a:xfrm>
            <a:off x="4773168" y="1664208"/>
            <a:ext cx="502920" cy="566928"/>
          </a:xfrm>
          <a:prstGeom prst="rect">
            <a:avLst/>
          </a:prstGeom>
          <a:noFill/>
          <a:ln/>
        </p:spPr>
        <p:txBody>
          <a:bodyPr wrap="square" lIns="0" tIns="0" rIns="0" bIns="0" rtlCol="0" anchor="ctr"/>
          <a:lstStyle/>
          <a:p>
            <a:pPr indent="0" marL="0">
              <a:buNone/>
            </a:pPr>
            <a:r>
              <a:rPr lang="en-US" sz="1300" b="1" dirty="0">
                <a:solidFill>
                  <a:schemeClr val="accent1"/>
                </a:solidFill>
              </a:rPr>
              <a:t>6.4</a:t>
            </a:r>
            <a:endParaRPr lang="en-US" sz="1300" dirty="0"/>
          </a:p>
        </p:txBody>
      </p:sp>
      <p:sp>
        <p:nvSpPr>
          <p:cNvPr id="15" name="Text 12"/>
          <p:cNvSpPr txBox="1"/>
          <p:nvPr/>
        </p:nvSpPr>
        <p:spPr>
          <a:xfrm>
            <a:off x="5303520" y="1664208"/>
            <a:ext cx="3291840" cy="566928"/>
          </a:xfrm>
          <a:prstGeom prst="rect">
            <a:avLst/>
          </a:prstGeom>
          <a:noFill/>
          <a:ln/>
        </p:spPr>
        <p:txBody>
          <a:bodyPr wrap="square" lIns="0" tIns="0" rIns="0" bIns="0" rtlCol="0" anchor="ctr"/>
          <a:lstStyle/>
          <a:p>
            <a:pPr indent="0" marL="0">
              <a:buNone/>
            </a:pPr>
            <a:r>
              <a:rPr lang="en-US" sz="1200" dirty="0">
                <a:solidFill>
                  <a:schemeClr val="tx1"/>
                </a:solidFill>
              </a:rPr>
              <a:t>Scegliere tecniche proporzionate al compito</a:t>
            </a:r>
            <a:endParaRPr lang="en-US" sz="1200" dirty="0"/>
          </a:p>
        </p:txBody>
      </p:sp>
      <p:sp>
        <p:nvSpPr>
          <p:cNvPr id="16" name="competenza 6.5"/>
          <p:cNvSpPr/>
          <p:nvPr/>
        </p:nvSpPr>
        <p:spPr>
          <a:xfrm>
            <a:off x="457200" y="2304288"/>
            <a:ext cx="4023360" cy="566928"/>
          </a:xfrm>
          <a:prstGeom prst="roundRect">
            <a:avLst>
              <a:gd name="adj" fmla="val 12903"/>
            </a:avLst>
          </a:prstGeom>
          <a:solidFill>
            <a:schemeClr val="bg2"/>
          </a:solidFill>
          <a:ln/>
        </p:spPr>
      </p:sp>
      <p:sp>
        <p:nvSpPr>
          <p:cNvPr id="17" name="Text 14"/>
          <p:cNvSpPr txBox="1"/>
          <p:nvPr/>
        </p:nvSpPr>
        <p:spPr>
          <a:xfrm>
            <a:off x="566928" y="2304288"/>
            <a:ext cx="502920" cy="566928"/>
          </a:xfrm>
          <a:prstGeom prst="rect">
            <a:avLst/>
          </a:prstGeom>
          <a:noFill/>
          <a:ln/>
        </p:spPr>
        <p:txBody>
          <a:bodyPr wrap="square" lIns="0" tIns="0" rIns="0" bIns="0" rtlCol="0" anchor="ctr"/>
          <a:lstStyle/>
          <a:p>
            <a:pPr indent="0" marL="0">
              <a:buNone/>
            </a:pPr>
            <a:r>
              <a:rPr lang="en-US" sz="1300" b="1" dirty="0">
                <a:solidFill>
                  <a:schemeClr val="accent1"/>
                </a:solidFill>
              </a:rPr>
              <a:t>6.5</a:t>
            </a:r>
            <a:endParaRPr lang="en-US" sz="1300" dirty="0"/>
          </a:p>
        </p:txBody>
      </p:sp>
      <p:sp>
        <p:nvSpPr>
          <p:cNvPr id="18" name="Text 15"/>
          <p:cNvSpPr txBox="1"/>
          <p:nvPr/>
        </p:nvSpPr>
        <p:spPr>
          <a:xfrm>
            <a:off x="1097280" y="2304288"/>
            <a:ext cx="3291840" cy="566928"/>
          </a:xfrm>
          <a:prstGeom prst="rect">
            <a:avLst/>
          </a:prstGeom>
          <a:noFill/>
          <a:ln/>
        </p:spPr>
        <p:txBody>
          <a:bodyPr wrap="square" lIns="0" tIns="0" rIns="0" bIns="0" rtlCol="0" anchor="ctr"/>
          <a:lstStyle/>
          <a:p>
            <a:pPr indent="0" marL="0">
              <a:buNone/>
            </a:pPr>
            <a:r>
              <a:rPr lang="en-US" sz="1200" dirty="0">
                <a:solidFill>
                  <a:schemeClr val="tx1"/>
                </a:solidFill>
              </a:rPr>
              <a:t>Costruire il risultato dialogando, distinguendo aderenza e correttezza</a:t>
            </a:r>
            <a:endParaRPr lang="en-US" sz="1200" dirty="0"/>
          </a:p>
        </p:txBody>
      </p:sp>
      <p:sp>
        <p:nvSpPr>
          <p:cNvPr id="19" name="competenza 6.6"/>
          <p:cNvSpPr/>
          <p:nvPr/>
        </p:nvSpPr>
        <p:spPr>
          <a:xfrm>
            <a:off x="4663440" y="2304288"/>
            <a:ext cx="4023360" cy="566928"/>
          </a:xfrm>
          <a:prstGeom prst="roundRect">
            <a:avLst>
              <a:gd name="adj" fmla="val 12903"/>
            </a:avLst>
          </a:prstGeom>
          <a:solidFill>
            <a:schemeClr val="bg2"/>
          </a:solidFill>
          <a:ln/>
        </p:spPr>
      </p:sp>
      <p:sp>
        <p:nvSpPr>
          <p:cNvPr id="20" name="Text 17"/>
          <p:cNvSpPr txBox="1"/>
          <p:nvPr/>
        </p:nvSpPr>
        <p:spPr>
          <a:xfrm>
            <a:off x="4773168" y="2304288"/>
            <a:ext cx="502920" cy="566928"/>
          </a:xfrm>
          <a:prstGeom prst="rect">
            <a:avLst/>
          </a:prstGeom>
          <a:noFill/>
          <a:ln/>
        </p:spPr>
        <p:txBody>
          <a:bodyPr wrap="square" lIns="0" tIns="0" rIns="0" bIns="0" rtlCol="0" anchor="ctr"/>
          <a:lstStyle/>
          <a:p>
            <a:pPr indent="0" marL="0">
              <a:buNone/>
            </a:pPr>
            <a:r>
              <a:rPr lang="en-US" sz="1300" b="1" dirty="0">
                <a:solidFill>
                  <a:schemeClr val="accent1"/>
                </a:solidFill>
              </a:rPr>
              <a:t>6.6</a:t>
            </a:r>
            <a:endParaRPr lang="en-US" sz="1300" dirty="0"/>
          </a:p>
        </p:txBody>
      </p:sp>
      <p:sp>
        <p:nvSpPr>
          <p:cNvPr id="21" name="Text 18"/>
          <p:cNvSpPr txBox="1"/>
          <p:nvPr/>
        </p:nvSpPr>
        <p:spPr>
          <a:xfrm>
            <a:off x="5303520" y="2304288"/>
            <a:ext cx="3291840" cy="566928"/>
          </a:xfrm>
          <a:prstGeom prst="rect">
            <a:avLst/>
          </a:prstGeom>
          <a:noFill/>
          <a:ln/>
        </p:spPr>
        <p:txBody>
          <a:bodyPr wrap="square" lIns="0" tIns="0" rIns="0" bIns="0" rtlCol="0" anchor="ctr"/>
          <a:lstStyle/>
          <a:p>
            <a:pPr indent="0" marL="0">
              <a:buNone/>
            </a:pPr>
            <a:r>
              <a:rPr lang="en-US" sz="1200" dirty="0">
                <a:solidFill>
                  <a:schemeClr val="tx1"/>
                </a:solidFill>
              </a:rPr>
              <a:t>Ottenere formati subito utilizzabili</a:t>
            </a:r>
            <a:endParaRPr lang="en-US" sz="1200" dirty="0"/>
          </a:p>
        </p:txBody>
      </p:sp>
      <p:sp>
        <p:nvSpPr>
          <p:cNvPr id="22" name="competenza 6.7"/>
          <p:cNvSpPr/>
          <p:nvPr/>
        </p:nvSpPr>
        <p:spPr>
          <a:xfrm>
            <a:off x="457200" y="2944368"/>
            <a:ext cx="4023360" cy="566928"/>
          </a:xfrm>
          <a:prstGeom prst="roundRect">
            <a:avLst>
              <a:gd name="adj" fmla="val 12903"/>
            </a:avLst>
          </a:prstGeom>
          <a:solidFill>
            <a:schemeClr val="bg1"/>
          </a:solidFill>
          <a:ln/>
        </p:spPr>
      </p:sp>
      <p:sp>
        <p:nvSpPr>
          <p:cNvPr id="23" name="Text 20"/>
          <p:cNvSpPr txBox="1"/>
          <p:nvPr/>
        </p:nvSpPr>
        <p:spPr>
          <a:xfrm>
            <a:off x="566928" y="2944368"/>
            <a:ext cx="502920" cy="566928"/>
          </a:xfrm>
          <a:prstGeom prst="rect">
            <a:avLst/>
          </a:prstGeom>
          <a:noFill/>
          <a:ln/>
        </p:spPr>
        <p:txBody>
          <a:bodyPr wrap="square" lIns="0" tIns="0" rIns="0" bIns="0" rtlCol="0" anchor="ctr"/>
          <a:lstStyle/>
          <a:p>
            <a:pPr indent="0" marL="0">
              <a:buNone/>
            </a:pPr>
            <a:r>
              <a:rPr lang="en-US" sz="1300" b="1" dirty="0">
                <a:solidFill>
                  <a:schemeClr val="accent1"/>
                </a:solidFill>
              </a:rPr>
              <a:t>6.7</a:t>
            </a:r>
            <a:endParaRPr lang="en-US" sz="1300" dirty="0"/>
          </a:p>
        </p:txBody>
      </p:sp>
      <p:sp>
        <p:nvSpPr>
          <p:cNvPr id="24" name="Text 21"/>
          <p:cNvSpPr txBox="1"/>
          <p:nvPr/>
        </p:nvSpPr>
        <p:spPr>
          <a:xfrm>
            <a:off x="1097280" y="2944368"/>
            <a:ext cx="3291840" cy="566928"/>
          </a:xfrm>
          <a:prstGeom prst="rect">
            <a:avLst/>
          </a:prstGeom>
          <a:noFill/>
          <a:ln/>
        </p:spPr>
        <p:txBody>
          <a:bodyPr wrap="square" lIns="0" tIns="0" rIns="0" bIns="0" rtlCol="0" anchor="ctr"/>
          <a:lstStyle/>
          <a:p>
            <a:pPr indent="0" marL="0">
              <a:buNone/>
            </a:pPr>
            <a:r>
              <a:rPr lang="en-US" sz="1200" dirty="0">
                <a:solidFill>
                  <a:schemeClr val="tx1"/>
                </a:solidFill>
              </a:rPr>
              <a:t>Applicare il metodo alle attività professionali</a:t>
            </a:r>
            <a:endParaRPr lang="en-US" sz="1200" dirty="0"/>
          </a:p>
        </p:txBody>
      </p:sp>
      <p:sp>
        <p:nvSpPr>
          <p:cNvPr id="25" name="competenza 6.8"/>
          <p:cNvSpPr/>
          <p:nvPr/>
        </p:nvSpPr>
        <p:spPr>
          <a:xfrm>
            <a:off x="4663440" y="2944368"/>
            <a:ext cx="4023360" cy="566928"/>
          </a:xfrm>
          <a:prstGeom prst="roundRect">
            <a:avLst>
              <a:gd name="adj" fmla="val 12903"/>
            </a:avLst>
          </a:prstGeom>
          <a:solidFill>
            <a:schemeClr val="bg1"/>
          </a:solidFill>
          <a:ln/>
        </p:spPr>
      </p:sp>
      <p:sp>
        <p:nvSpPr>
          <p:cNvPr id="26" name="Text 23"/>
          <p:cNvSpPr txBox="1"/>
          <p:nvPr/>
        </p:nvSpPr>
        <p:spPr>
          <a:xfrm>
            <a:off x="4773168" y="2944368"/>
            <a:ext cx="502920" cy="566928"/>
          </a:xfrm>
          <a:prstGeom prst="rect">
            <a:avLst/>
          </a:prstGeom>
          <a:noFill/>
          <a:ln/>
        </p:spPr>
        <p:txBody>
          <a:bodyPr wrap="square" lIns="0" tIns="0" rIns="0" bIns="0" rtlCol="0" anchor="ctr"/>
          <a:lstStyle/>
          <a:p>
            <a:pPr indent="0" marL="0">
              <a:buNone/>
            </a:pPr>
            <a:r>
              <a:rPr lang="en-US" sz="1300" b="1" dirty="0">
                <a:solidFill>
                  <a:schemeClr val="accent1"/>
                </a:solidFill>
              </a:rPr>
              <a:t>6.8</a:t>
            </a:r>
            <a:endParaRPr lang="en-US" sz="1300" dirty="0"/>
          </a:p>
        </p:txBody>
      </p:sp>
      <p:sp>
        <p:nvSpPr>
          <p:cNvPr id="27" name="Text 24"/>
          <p:cNvSpPr txBox="1"/>
          <p:nvPr/>
        </p:nvSpPr>
        <p:spPr>
          <a:xfrm>
            <a:off x="5303520" y="2944368"/>
            <a:ext cx="3291840" cy="566928"/>
          </a:xfrm>
          <a:prstGeom prst="rect">
            <a:avLst/>
          </a:prstGeom>
          <a:noFill/>
          <a:ln/>
        </p:spPr>
        <p:txBody>
          <a:bodyPr wrap="square" lIns="0" tIns="0" rIns="0" bIns="0" rtlCol="0" anchor="ctr"/>
          <a:lstStyle/>
          <a:p>
            <a:pPr indent="0" marL="0">
              <a:buNone/>
            </a:pPr>
            <a:r>
              <a:rPr lang="en-US" sz="1200" dirty="0">
                <a:solidFill>
                  <a:schemeClr val="tx1"/>
                </a:solidFill>
              </a:rPr>
              <a:t>Costruire e mantenere istruzioni riutilizzabili</a:t>
            </a:r>
            <a:endParaRPr lang="en-US" sz="1200" dirty="0"/>
          </a:p>
        </p:txBody>
      </p:sp>
      <p:sp>
        <p:nvSpPr>
          <p:cNvPr id="28" name="messaggio"/>
          <p:cNvSpPr/>
          <p:nvPr/>
        </p:nvSpPr>
        <p:spPr>
          <a:xfrm>
            <a:off x="457200" y="3703320"/>
            <a:ext cx="8229600" cy="822960"/>
          </a:xfrm>
          <a:prstGeom prst="roundRect">
            <a:avLst>
              <a:gd name="adj" fmla="val 8889"/>
            </a:avLst>
          </a:prstGeom>
          <a:solidFill>
            <a:schemeClr val="tx1"/>
          </a:solidFill>
          <a:ln/>
        </p:spPr>
      </p:sp>
      <p:sp>
        <p:nvSpPr>
          <p:cNvPr id="29" name="Text 26"/>
          <p:cNvSpPr txBox="1"/>
          <p:nvPr/>
        </p:nvSpPr>
        <p:spPr>
          <a:xfrm>
            <a:off x="640080" y="3703320"/>
            <a:ext cx="7863840" cy="822960"/>
          </a:xfrm>
          <a:prstGeom prst="rect">
            <a:avLst/>
          </a:prstGeom>
          <a:noFill/>
          <a:ln/>
        </p:spPr>
        <p:txBody>
          <a:bodyPr wrap="square" lIns="0" tIns="0" rIns="0" bIns="0" rtlCol="0" anchor="ctr"/>
          <a:lstStyle/>
          <a:p>
            <a:pPr indent="0" marL="0">
              <a:buNone/>
            </a:pPr>
            <a:r>
              <a:rPr lang="en-US" sz="1400" dirty="0">
                <a:solidFill>
                  <a:schemeClr val="bg1"/>
                </a:solidFill>
              </a:rPr>
              <a:t>Il prompting è la capacità di collaborare efficacemente con l'AI per trasformare obiettivi, informazioni e idee in risultati utili.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Uno schema per le richieste importanti</a:t>
            </a:r>
            <a:endParaRPr lang="en-US" sz="2600" dirty="0"/>
          </a:p>
        </p:txBody>
      </p:sp>
      <p:sp>
        <p:nvSpPr>
          <p:cNvPr id="4" name="Prima di scrivere"/>
          <p:cNvSpPr/>
          <p:nvPr/>
        </p:nvSpPr>
        <p:spPr>
          <a:xfrm>
            <a:off x="457200" y="1024128"/>
            <a:ext cx="8229600" cy="548640"/>
          </a:xfrm>
          <a:prstGeom prst="roundRect">
            <a:avLst>
              <a:gd name="adj" fmla="val 13333"/>
            </a:avLst>
          </a:prstGeom>
          <a:solidFill>
            <a:schemeClr val="bg2"/>
          </a:solidFill>
          <a:ln/>
        </p:spPr>
      </p:sp>
      <p:sp>
        <p:nvSpPr>
          <p:cNvPr id="5" name="Text 2"/>
          <p:cNvSpPr txBox="1"/>
          <p:nvPr/>
        </p:nvSpPr>
        <p:spPr>
          <a:xfrm>
            <a:off x="594360" y="1024128"/>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Prima di scrivere</a:t>
            </a:r>
            <a:endParaRPr lang="en-US" sz="1300" dirty="0"/>
          </a:p>
        </p:txBody>
      </p:sp>
      <p:sp>
        <p:nvSpPr>
          <p:cNvPr id="6" name="Text 3"/>
          <p:cNvSpPr txBox="1"/>
          <p:nvPr/>
        </p:nvSpPr>
        <p:spPr>
          <a:xfrm>
            <a:off x="2926080" y="1024128"/>
            <a:ext cx="5669280" cy="548640"/>
          </a:xfrm>
          <a:prstGeom prst="rect">
            <a:avLst/>
          </a:prstGeom>
          <a:noFill/>
          <a:ln/>
        </p:spPr>
        <p:txBody>
          <a:bodyPr wrap="square" lIns="0" tIns="0" rIns="0" bIns="0" rtlCol="0" anchor="ctr"/>
          <a:lstStyle/>
          <a:p>
            <a:pPr indent="0" marL="0">
              <a:buNone/>
            </a:pPr>
            <a:r>
              <a:rPr lang="en-US" sz="1200" dirty="0">
                <a:solidFill>
                  <a:schemeClr val="tx1"/>
                </a:solidFill>
              </a:rPr>
              <a:t>Problema, scopo, criterio di successo</a:t>
            </a:r>
            <a:endParaRPr lang="en-US" sz="1200" dirty="0"/>
          </a:p>
        </p:txBody>
      </p:sp>
      <p:sp>
        <p:nvSpPr>
          <p:cNvPr id="7" name="Nella richiesta"/>
          <p:cNvSpPr/>
          <p:nvPr/>
        </p:nvSpPr>
        <p:spPr>
          <a:xfrm>
            <a:off x="457200" y="1645920"/>
            <a:ext cx="8229600" cy="548640"/>
          </a:xfrm>
          <a:prstGeom prst="roundRect">
            <a:avLst>
              <a:gd name="adj" fmla="val 13333"/>
            </a:avLst>
          </a:prstGeom>
          <a:solidFill>
            <a:schemeClr val="accent6"/>
          </a:solidFill>
          <a:ln/>
        </p:spPr>
      </p:sp>
      <p:sp>
        <p:nvSpPr>
          <p:cNvPr id="8" name="Text 5"/>
          <p:cNvSpPr txBox="1"/>
          <p:nvPr/>
        </p:nvSpPr>
        <p:spPr>
          <a:xfrm>
            <a:off x="594360" y="1645920"/>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Nella richiesta</a:t>
            </a:r>
            <a:endParaRPr lang="en-US" sz="1300" dirty="0"/>
          </a:p>
        </p:txBody>
      </p:sp>
      <p:sp>
        <p:nvSpPr>
          <p:cNvPr id="9" name="Text 6"/>
          <p:cNvSpPr txBox="1"/>
          <p:nvPr/>
        </p:nvSpPr>
        <p:spPr>
          <a:xfrm>
            <a:off x="2926080" y="1645920"/>
            <a:ext cx="5669280" cy="548640"/>
          </a:xfrm>
          <a:prstGeom prst="rect">
            <a:avLst/>
          </a:prstGeom>
          <a:noFill/>
          <a:ln/>
        </p:spPr>
        <p:txBody>
          <a:bodyPr wrap="square" lIns="0" tIns="0" rIns="0" bIns="0" rtlCol="0" anchor="ctr"/>
          <a:lstStyle/>
          <a:p>
            <a:pPr indent="0" marL="0">
              <a:buNone/>
            </a:pPr>
            <a:r>
              <a:rPr lang="en-US" sz="1200" dirty="0">
                <a:solidFill>
                  <a:schemeClr val="tx1"/>
                </a:solidFill>
              </a:rPr>
              <a:t>Compito, contesto e destinatario, vincoli, formato; se utile esempi, ruolo, domande di chiarimento</a:t>
            </a:r>
            <a:endParaRPr lang="en-US" sz="1200" dirty="0"/>
          </a:p>
        </p:txBody>
      </p:sp>
      <p:sp>
        <p:nvSpPr>
          <p:cNvPr id="10" name="Dopo il primo risultato"/>
          <p:cNvSpPr/>
          <p:nvPr/>
        </p:nvSpPr>
        <p:spPr>
          <a:xfrm>
            <a:off x="457200" y="2267712"/>
            <a:ext cx="8229600" cy="548640"/>
          </a:xfrm>
          <a:prstGeom prst="roundRect">
            <a:avLst>
              <a:gd name="adj" fmla="val 13333"/>
            </a:avLst>
          </a:prstGeom>
          <a:solidFill>
            <a:schemeClr val="bg2"/>
          </a:solidFill>
          <a:ln/>
        </p:spPr>
      </p:sp>
      <p:sp>
        <p:nvSpPr>
          <p:cNvPr id="11" name="Text 8"/>
          <p:cNvSpPr txBox="1"/>
          <p:nvPr/>
        </p:nvSpPr>
        <p:spPr>
          <a:xfrm>
            <a:off x="594360" y="2267712"/>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Dopo il primo risultato</a:t>
            </a:r>
            <a:endParaRPr lang="en-US" sz="1300" dirty="0"/>
          </a:p>
        </p:txBody>
      </p:sp>
      <p:sp>
        <p:nvSpPr>
          <p:cNvPr id="12" name="Text 9"/>
          <p:cNvSpPr txBox="1"/>
          <p:nvPr/>
        </p:nvSpPr>
        <p:spPr>
          <a:xfrm>
            <a:off x="2926080" y="2267712"/>
            <a:ext cx="5669280" cy="548640"/>
          </a:xfrm>
          <a:prstGeom prst="rect">
            <a:avLst/>
          </a:prstGeom>
          <a:noFill/>
          <a:ln/>
        </p:spPr>
        <p:txBody>
          <a:bodyPr wrap="square" lIns="0" tIns="0" rIns="0" bIns="0" rtlCol="0" anchor="ctr"/>
          <a:lstStyle/>
          <a:p>
            <a:pPr indent="0" marL="0">
              <a:buNone/>
            </a:pPr>
            <a:r>
              <a:rPr lang="en-US" sz="1200" dirty="0">
                <a:solidFill>
                  <a:schemeClr val="tx1"/>
                </a:solidFill>
              </a:rPr>
              <a:t>Che cosa migliorare e feedback specifico, o una nuova richiesta</a:t>
            </a:r>
            <a:endParaRPr lang="en-US" sz="1200" dirty="0"/>
          </a:p>
        </p:txBody>
      </p:sp>
      <p:sp>
        <p:nvSpPr>
          <p:cNvPr id="13" name="Prima di usarlo"/>
          <p:cNvSpPr/>
          <p:nvPr/>
        </p:nvSpPr>
        <p:spPr>
          <a:xfrm>
            <a:off x="457200" y="2889504"/>
            <a:ext cx="8229600" cy="548640"/>
          </a:xfrm>
          <a:prstGeom prst="roundRect">
            <a:avLst>
              <a:gd name="adj" fmla="val 13333"/>
            </a:avLst>
          </a:prstGeom>
          <a:solidFill>
            <a:schemeClr val="accent6"/>
          </a:solidFill>
          <a:ln/>
        </p:spPr>
      </p:sp>
      <p:sp>
        <p:nvSpPr>
          <p:cNvPr id="14" name="Text 11"/>
          <p:cNvSpPr txBox="1"/>
          <p:nvPr/>
        </p:nvSpPr>
        <p:spPr>
          <a:xfrm>
            <a:off x="594360" y="2889504"/>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Prima di usarlo</a:t>
            </a:r>
            <a:endParaRPr lang="en-US" sz="1300" dirty="0"/>
          </a:p>
        </p:txBody>
      </p:sp>
      <p:sp>
        <p:nvSpPr>
          <p:cNvPr id="15" name="Text 12"/>
          <p:cNvSpPr txBox="1"/>
          <p:nvPr/>
        </p:nvSpPr>
        <p:spPr>
          <a:xfrm>
            <a:off x="2926080" y="2889504"/>
            <a:ext cx="5669280" cy="548640"/>
          </a:xfrm>
          <a:prstGeom prst="rect">
            <a:avLst/>
          </a:prstGeom>
          <a:noFill/>
          <a:ln/>
        </p:spPr>
        <p:txBody>
          <a:bodyPr wrap="square" lIns="0" tIns="0" rIns="0" bIns="0" rtlCol="0" anchor="ctr"/>
          <a:lstStyle/>
          <a:p>
            <a:pPr indent="0" marL="0">
              <a:buNone/>
            </a:pPr>
            <a:r>
              <a:rPr lang="en-US" sz="1200" dirty="0">
                <a:solidFill>
                  <a:schemeClr val="tx1"/>
                </a:solidFill>
              </a:rPr>
              <a:t>Aderenza non è correttezza: verifica proporzionata all'importanza</a:t>
            </a:r>
            <a:endParaRPr lang="en-US" sz="1200" dirty="0"/>
          </a:p>
        </p:txBody>
      </p:sp>
      <p:sp>
        <p:nvSpPr>
          <p:cNvPr id="16" name="Se è ricorrente"/>
          <p:cNvSpPr/>
          <p:nvPr/>
        </p:nvSpPr>
        <p:spPr>
          <a:xfrm>
            <a:off x="457200" y="3511296"/>
            <a:ext cx="8229600" cy="548640"/>
          </a:xfrm>
          <a:prstGeom prst="roundRect">
            <a:avLst>
              <a:gd name="adj" fmla="val 13333"/>
            </a:avLst>
          </a:prstGeom>
          <a:solidFill>
            <a:schemeClr val="bg2"/>
          </a:solidFill>
          <a:ln/>
        </p:spPr>
      </p:sp>
      <p:sp>
        <p:nvSpPr>
          <p:cNvPr id="17" name="Text 14"/>
          <p:cNvSpPr txBox="1"/>
          <p:nvPr/>
        </p:nvSpPr>
        <p:spPr>
          <a:xfrm>
            <a:off x="594360" y="3511296"/>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Se è ricorrente</a:t>
            </a:r>
            <a:endParaRPr lang="en-US" sz="1300" dirty="0"/>
          </a:p>
        </p:txBody>
      </p:sp>
      <p:sp>
        <p:nvSpPr>
          <p:cNvPr id="18" name="Text 15"/>
          <p:cNvSpPr txBox="1"/>
          <p:nvPr/>
        </p:nvSpPr>
        <p:spPr>
          <a:xfrm>
            <a:off x="2926080" y="3511296"/>
            <a:ext cx="5669280" cy="548640"/>
          </a:xfrm>
          <a:prstGeom prst="rect">
            <a:avLst/>
          </a:prstGeom>
          <a:noFill/>
          <a:ln/>
        </p:spPr>
        <p:txBody>
          <a:bodyPr wrap="square" lIns="0" tIns="0" rIns="0" bIns="0" rtlCol="0" anchor="ctr"/>
          <a:lstStyle/>
          <a:p>
            <a:pPr indent="0" marL="0">
              <a:buNone/>
            </a:pPr>
            <a:r>
              <a:rPr lang="en-US" sz="1200" dirty="0">
                <a:solidFill>
                  <a:schemeClr val="tx1"/>
                </a:solidFill>
              </a:rPr>
              <a:t>Trasformarla in un template</a:t>
            </a:r>
            <a:endParaRPr lang="en-US" sz="1200" dirty="0"/>
          </a:p>
        </p:txBody>
      </p:sp>
      <p:sp>
        <p:nvSpPr>
          <p:cNvPr id="19" name="messaggio"/>
          <p:cNvSpPr/>
          <p:nvPr/>
        </p:nvSpPr>
        <p:spPr>
          <a:xfrm>
            <a:off x="457200" y="4206240"/>
            <a:ext cx="8229600" cy="384048"/>
          </a:xfrm>
          <a:prstGeom prst="roundRect">
            <a:avLst>
              <a:gd name="adj" fmla="val 19048"/>
            </a:avLst>
          </a:prstGeom>
          <a:solidFill>
            <a:schemeClr val="tx1"/>
          </a:solidFill>
          <a:ln/>
        </p:spPr>
      </p:sp>
      <p:sp>
        <p:nvSpPr>
          <p:cNvPr id="20" name="Text 17"/>
          <p:cNvSpPr txBox="1"/>
          <p:nvPr/>
        </p:nvSpPr>
        <p:spPr>
          <a:xfrm>
            <a:off x="640080" y="4206240"/>
            <a:ext cx="7863840" cy="384048"/>
          </a:xfrm>
          <a:prstGeom prst="rect">
            <a:avLst/>
          </a:prstGeom>
          <a:noFill/>
          <a:ln/>
        </p:spPr>
        <p:txBody>
          <a:bodyPr wrap="square" lIns="0" tIns="0" rIns="0" bIns="0" rtlCol="0" anchor="ctr"/>
          <a:lstStyle/>
          <a:p>
            <a:pPr indent="0" marL="0">
              <a:buNone/>
            </a:pPr>
            <a:r>
              <a:rPr lang="en-US" sz="1200" dirty="0">
                <a:solidFill>
                  <a:schemeClr val="bg1"/>
                </a:solidFill>
              </a:rPr>
              <a:t>E sempre: nessun dato riservato in strumenti non autorizzati.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Prossimo passo: il Tema 7</a:t>
            </a:r>
            <a:endParaRPr lang="en-US" sz="2600" dirty="0"/>
          </a:p>
        </p:txBody>
      </p:sp>
      <p:sp>
        <p:nvSpPr>
          <p:cNvPr id="4" name="tema 6"/>
          <p:cNvSpPr/>
          <p:nvPr/>
        </p:nvSpPr>
        <p:spPr>
          <a:xfrm>
            <a:off x="457200" y="1097280"/>
            <a:ext cx="3291840" cy="3429000"/>
          </a:xfrm>
          <a:prstGeom prst="roundRect">
            <a:avLst>
              <a:gd name="adj" fmla="val 2222"/>
            </a:avLst>
          </a:prstGeom>
          <a:solidFill>
            <a:schemeClr val="bg2"/>
          </a:solidFill>
          <a:ln/>
        </p:spPr>
      </p:sp>
      <p:sp>
        <p:nvSpPr>
          <p:cNvPr id="5" name="Text 2"/>
          <p:cNvSpPr txBox="1"/>
          <p:nvPr/>
        </p:nvSpPr>
        <p:spPr>
          <a:xfrm>
            <a:off x="685800" y="1280160"/>
            <a:ext cx="283464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TEMA 6</a:t>
            </a:r>
            <a:endParaRPr lang="en-US" sz="1300" dirty="0"/>
          </a:p>
        </p:txBody>
      </p:sp>
      <p:sp>
        <p:nvSpPr>
          <p:cNvPr id="6" name="Text 3"/>
          <p:cNvSpPr txBox="1"/>
          <p:nvPr/>
        </p:nvSpPr>
        <p:spPr>
          <a:xfrm>
            <a:off x="685800" y="1645920"/>
            <a:ext cx="2834640" cy="685800"/>
          </a:xfrm>
          <a:prstGeom prst="rect">
            <a:avLst/>
          </a:prstGeom>
          <a:noFill/>
          <a:ln/>
        </p:spPr>
        <p:txBody>
          <a:bodyPr wrap="square" lIns="0" tIns="0" rIns="0" bIns="0" rtlCol="0" anchor="t"/>
          <a:lstStyle/>
          <a:p>
            <a:pPr indent="0" marL="0">
              <a:buNone/>
            </a:pPr>
            <a:r>
              <a:rPr lang="en-US" sz="1800" b="1" dirty="0">
                <a:solidFill>
                  <a:schemeClr val="tx1"/>
                </a:solidFill>
              </a:rPr>
              <a:t>Prompting e tecniche di interazione</a:t>
            </a:r>
            <a:endParaRPr lang="en-US" sz="1800" dirty="0"/>
          </a:p>
        </p:txBody>
      </p:sp>
      <p:sp>
        <p:nvSpPr>
          <p:cNvPr id="7" name="Text 4"/>
          <p:cNvSpPr txBox="1"/>
          <p:nvPr/>
        </p:nvSpPr>
        <p:spPr>
          <a:xfrm>
            <a:off x="685800" y="2468880"/>
            <a:ext cx="2834640" cy="18288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2"/>
                </a:solidFill>
              </a:rPr>
              <a:t>Definire il problema</a:t>
            </a:r>
            <a:endParaRPr lang="en-US" sz="1400" dirty="0"/>
          </a:p>
          <a:p>
            <a:pPr marL="177800" indent="-177800">
              <a:spcAft>
                <a:spcPts val="400"/>
              </a:spcAft>
              <a:buSzPct val="100000"/>
              <a:buChar char="•"/>
            </a:pPr>
            <a:r>
              <a:rPr lang="en-US" sz="1400" dirty="0">
                <a:solidFill>
                  <a:schemeClr val="tx2"/>
                </a:solidFill>
              </a:rPr>
              <a:t>Formulare la richiesta</a:t>
            </a:r>
            <a:endParaRPr lang="en-US" sz="1400" dirty="0"/>
          </a:p>
          <a:p>
            <a:pPr marL="177800" indent="-177800">
              <a:spcAft>
                <a:spcPts val="400"/>
              </a:spcAft>
              <a:buSzPct val="100000"/>
              <a:buChar char="•"/>
            </a:pPr>
            <a:r>
              <a:rPr lang="en-US" sz="1400" dirty="0">
                <a:solidFill>
                  <a:schemeClr val="tx2"/>
                </a:solidFill>
              </a:rPr>
              <a:t>Dialogare e dare forma</a:t>
            </a:r>
            <a:endParaRPr lang="en-US" sz="1400" dirty="0"/>
          </a:p>
          <a:p>
            <a:pPr marL="177800" indent="-177800">
              <a:spcAft>
                <a:spcPts val="400"/>
              </a:spcAft>
              <a:buSzPct val="100000"/>
              <a:buChar char="•"/>
            </a:pPr>
            <a:r>
              <a:rPr lang="en-US" sz="1400" dirty="0">
                <a:solidFill>
                  <a:schemeClr val="tx2"/>
                </a:solidFill>
              </a:rPr>
              <a:t>Riutilizzare</a:t>
            </a:r>
            <a:endParaRPr lang="en-US" sz="1400" dirty="0"/>
          </a:p>
        </p:txBody>
      </p:sp>
      <p:sp>
        <p:nvSpPr>
          <p:cNvPr id="8" name="freccia"/>
          <p:cNvSpPr/>
          <p:nvPr/>
        </p:nvSpPr>
        <p:spPr>
          <a:xfrm>
            <a:off x="3886200" y="2651760"/>
            <a:ext cx="502920" cy="292608"/>
          </a:xfrm>
          <a:prstGeom prst="rightArrow">
            <a:avLst/>
          </a:prstGeom>
          <a:solidFill>
            <a:schemeClr val="accent1"/>
          </a:solidFill>
          <a:ln/>
        </p:spPr>
      </p:sp>
      <p:sp>
        <p:nvSpPr>
          <p:cNvPr id="9" name="tema 7"/>
          <p:cNvSpPr/>
          <p:nvPr/>
        </p:nvSpPr>
        <p:spPr>
          <a:xfrm>
            <a:off x="4526280" y="1097280"/>
            <a:ext cx="4160520" cy="3429000"/>
          </a:xfrm>
          <a:prstGeom prst="roundRect">
            <a:avLst>
              <a:gd name="adj" fmla="val 2133"/>
            </a:avLst>
          </a:prstGeom>
          <a:solidFill>
            <a:schemeClr val="tx1"/>
          </a:solidFill>
          <a:ln/>
        </p:spPr>
      </p:sp>
      <p:sp>
        <p:nvSpPr>
          <p:cNvPr id="10" name="Text 7"/>
          <p:cNvSpPr txBox="1"/>
          <p:nvPr/>
        </p:nvSpPr>
        <p:spPr>
          <a:xfrm>
            <a:off x="4754880" y="1280160"/>
            <a:ext cx="36576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TEMA 7</a:t>
            </a:r>
            <a:endParaRPr lang="en-US" sz="1300" dirty="0"/>
          </a:p>
        </p:txBody>
      </p:sp>
      <p:sp>
        <p:nvSpPr>
          <p:cNvPr id="11" name="Text 8"/>
          <p:cNvSpPr txBox="1"/>
          <p:nvPr/>
        </p:nvSpPr>
        <p:spPr>
          <a:xfrm>
            <a:off x="4754880" y="1645920"/>
            <a:ext cx="3749040" cy="685800"/>
          </a:xfrm>
          <a:prstGeom prst="rect">
            <a:avLst/>
          </a:prstGeom>
          <a:noFill/>
          <a:ln/>
        </p:spPr>
        <p:txBody>
          <a:bodyPr wrap="square" lIns="0" tIns="0" rIns="0" bIns="0" rtlCol="0" anchor="t"/>
          <a:lstStyle/>
          <a:p>
            <a:pPr indent="0" marL="0">
              <a:buNone/>
            </a:pPr>
            <a:r>
              <a:rPr lang="en-US" sz="1800" b="1" dirty="0">
                <a:solidFill>
                  <a:schemeClr val="bg1"/>
                </a:solidFill>
              </a:rPr>
              <a:t>Verifica degli output e pensiero critico</a:t>
            </a:r>
            <a:endParaRPr lang="en-US" sz="1800" dirty="0"/>
          </a:p>
        </p:txBody>
      </p:sp>
      <p:sp>
        <p:nvSpPr>
          <p:cNvPr id="12" name="Text 9"/>
          <p:cNvSpPr txBox="1"/>
          <p:nvPr/>
        </p:nvSpPr>
        <p:spPr>
          <a:xfrm>
            <a:off x="4754880" y="2468880"/>
            <a:ext cx="3749040" cy="18288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accent3"/>
                </a:solidFill>
              </a:rPr>
              <a:t>Controllare i contenuti</a:t>
            </a:r>
            <a:endParaRPr lang="en-US" sz="1400" dirty="0"/>
          </a:p>
          <a:p>
            <a:pPr marL="177800" indent="-177800">
              <a:spcAft>
                <a:spcPts val="300"/>
              </a:spcAft>
              <a:buSzPct val="100000"/>
              <a:buChar char="•"/>
            </a:pPr>
            <a:r>
              <a:rPr lang="en-US" sz="1400" dirty="0">
                <a:solidFill>
                  <a:schemeClr val="accent3"/>
                </a:solidFill>
              </a:rPr>
              <a:t>Verificare fatti e fonti</a:t>
            </a:r>
            <a:endParaRPr lang="en-US" sz="1400" dirty="0"/>
          </a:p>
          <a:p>
            <a:pPr marL="177800" indent="-177800">
              <a:spcAft>
                <a:spcPts val="300"/>
              </a:spcAft>
              <a:buSzPct val="100000"/>
              <a:buChar char="•"/>
            </a:pPr>
            <a:r>
              <a:rPr lang="en-US" sz="1400" dirty="0">
                <a:solidFill>
                  <a:schemeClr val="accent3"/>
                </a:solidFill>
              </a:rPr>
              <a:t>Valutare i ragionamenti</a:t>
            </a:r>
            <a:endParaRPr lang="en-US" sz="1400" dirty="0"/>
          </a:p>
          <a:p>
            <a:pPr marL="177800" indent="-177800">
              <a:spcAft>
                <a:spcPts val="300"/>
              </a:spcAft>
              <a:buSzPct val="100000"/>
              <a:buChar char="•"/>
            </a:pPr>
            <a:r>
              <a:rPr lang="en-US" sz="1400" dirty="0">
                <a:solidFill>
                  <a:schemeClr val="accent3"/>
                </a:solidFill>
              </a:rPr>
              <a:t>Esercitare il pensiero critico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Nota sulle fonti e sugli esempi</a:t>
            </a:r>
            <a:endParaRPr lang="en-US" sz="2600" dirty="0"/>
          </a:p>
        </p:txBody>
      </p:sp>
      <p:sp>
        <p:nvSpPr>
          <p:cNvPr id="4" name="cerchio FiBookmark"/>
          <p:cNvSpPr/>
          <p:nvPr/>
        </p:nvSpPr>
        <p:spPr>
          <a:xfrm>
            <a:off x="457200" y="1097280"/>
            <a:ext cx="548640" cy="54864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94360" y="1234440"/>
            <a:ext cx="274320" cy="274320"/>
          </a:xfrm>
          <a:prstGeom prst="rect">
            <a:avLst/>
          </a:prstGeom>
        </p:spPr>
      </p:pic>
      <p:sp>
        <p:nvSpPr>
          <p:cNvPr id="6" name="Text 2"/>
          <p:cNvSpPr txBox="1"/>
          <p:nvPr/>
        </p:nvSpPr>
        <p:spPr>
          <a:xfrm>
            <a:off x="1188720" y="1097280"/>
            <a:ext cx="7498080" cy="548640"/>
          </a:xfrm>
          <a:prstGeom prst="rect">
            <a:avLst/>
          </a:prstGeom>
          <a:noFill/>
          <a:ln/>
        </p:spPr>
        <p:txBody>
          <a:bodyPr wrap="square" lIns="0" tIns="0" rIns="0" bIns="0" rtlCol="0" anchor="ctr"/>
          <a:lstStyle/>
          <a:p>
            <a:pPr indent="0" marL="0">
              <a:buNone/>
            </a:pPr>
            <a:r>
              <a:rPr lang="en-US" sz="1600" b="1" dirty="0">
                <a:solidFill>
                  <a:schemeClr val="tx1"/>
                </a:solidFill>
              </a:rPr>
              <a:t>Per il relatore</a:t>
            </a:r>
            <a:endParaRPr lang="en-US" sz="1600" dirty="0"/>
          </a:p>
        </p:txBody>
      </p:sp>
      <p:sp>
        <p:nvSpPr>
          <p:cNvPr id="7" name="riga 0"/>
          <p:cNvSpPr/>
          <p:nvPr/>
        </p:nvSpPr>
        <p:spPr>
          <a:xfrm>
            <a:off x="457200" y="1737360"/>
            <a:ext cx="8229600" cy="420624"/>
          </a:xfrm>
          <a:prstGeom prst="roundRect">
            <a:avLst>
              <a:gd name="adj" fmla="val 17391"/>
            </a:avLst>
          </a:prstGeom>
          <a:solidFill>
            <a:schemeClr val="bg2"/>
          </a:solidFill>
          <a:ln/>
        </p:spPr>
      </p:sp>
      <p:sp>
        <p:nvSpPr>
          <p:cNvPr id="8" name="Text 4"/>
          <p:cNvSpPr txBox="1"/>
          <p:nvPr/>
        </p:nvSpPr>
        <p:spPr>
          <a:xfrm>
            <a:off x="640080" y="1737360"/>
            <a:ext cx="7863840" cy="420624"/>
          </a:xfrm>
          <a:prstGeom prst="rect">
            <a:avLst/>
          </a:prstGeom>
          <a:noFill/>
          <a:ln/>
        </p:spPr>
        <p:txBody>
          <a:bodyPr wrap="square" lIns="0" tIns="0" rIns="0" bIns="0" rtlCol="0" anchor="ctr"/>
          <a:lstStyle/>
          <a:p>
            <a:pPr indent="0" marL="0">
              <a:buNone/>
            </a:pPr>
            <a:r>
              <a:rPr lang="en-US" sz="1300" dirty="0">
                <a:solidFill>
                  <a:schemeClr val="tx1"/>
                </a:solidFill>
              </a:rPr>
              <a:t>Anthropic: Prompt engineering overview (platform.claude.com)</a:t>
            </a:r>
            <a:endParaRPr lang="en-US" sz="1300" dirty="0"/>
          </a:p>
        </p:txBody>
      </p:sp>
      <p:sp>
        <p:nvSpPr>
          <p:cNvPr id="9" name="riga 1"/>
          <p:cNvSpPr/>
          <p:nvPr/>
        </p:nvSpPr>
        <p:spPr>
          <a:xfrm>
            <a:off x="457200" y="2231136"/>
            <a:ext cx="8229600" cy="420624"/>
          </a:xfrm>
          <a:prstGeom prst="roundRect">
            <a:avLst>
              <a:gd name="adj" fmla="val 17391"/>
            </a:avLst>
          </a:prstGeom>
          <a:solidFill>
            <a:schemeClr val="bg1"/>
          </a:solidFill>
          <a:ln/>
        </p:spPr>
      </p:sp>
      <p:sp>
        <p:nvSpPr>
          <p:cNvPr id="10" name="Text 6"/>
          <p:cNvSpPr txBox="1"/>
          <p:nvPr/>
        </p:nvSpPr>
        <p:spPr>
          <a:xfrm>
            <a:off x="640080" y="2231136"/>
            <a:ext cx="7863840" cy="420624"/>
          </a:xfrm>
          <a:prstGeom prst="rect">
            <a:avLst/>
          </a:prstGeom>
          <a:noFill/>
          <a:ln/>
        </p:spPr>
        <p:txBody>
          <a:bodyPr wrap="square" lIns="0" tIns="0" rIns="0" bIns="0" rtlCol="0" anchor="ctr"/>
          <a:lstStyle/>
          <a:p>
            <a:pPr indent="0" marL="0">
              <a:buNone/>
            </a:pPr>
            <a:r>
              <a:rPr lang="en-US" sz="1300" dirty="0">
                <a:solidFill>
                  <a:schemeClr val="tx1"/>
                </a:solidFill>
              </a:rPr>
              <a:t>OpenAI: Prompt engineering; Reasoning best practices (developers.openai.com)</a:t>
            </a:r>
            <a:endParaRPr lang="en-US" sz="1300" dirty="0"/>
          </a:p>
        </p:txBody>
      </p:sp>
      <p:sp>
        <p:nvSpPr>
          <p:cNvPr id="11" name="riga 2"/>
          <p:cNvSpPr/>
          <p:nvPr/>
        </p:nvSpPr>
        <p:spPr>
          <a:xfrm>
            <a:off x="457200" y="2724912"/>
            <a:ext cx="8229600" cy="420624"/>
          </a:xfrm>
          <a:prstGeom prst="roundRect">
            <a:avLst>
              <a:gd name="adj" fmla="val 17391"/>
            </a:avLst>
          </a:prstGeom>
          <a:solidFill>
            <a:schemeClr val="bg2"/>
          </a:solidFill>
          <a:ln/>
        </p:spPr>
      </p:sp>
      <p:sp>
        <p:nvSpPr>
          <p:cNvPr id="12" name="Text 8"/>
          <p:cNvSpPr txBox="1"/>
          <p:nvPr/>
        </p:nvSpPr>
        <p:spPr>
          <a:xfrm>
            <a:off x="640080" y="2724912"/>
            <a:ext cx="7863840" cy="420624"/>
          </a:xfrm>
          <a:prstGeom prst="rect">
            <a:avLst/>
          </a:prstGeom>
          <a:noFill/>
          <a:ln/>
        </p:spPr>
        <p:txBody>
          <a:bodyPr wrap="square" lIns="0" tIns="0" rIns="0" bIns="0" rtlCol="0" anchor="ctr"/>
          <a:lstStyle/>
          <a:p>
            <a:pPr indent="0" marL="0">
              <a:buNone/>
            </a:pPr>
            <a:r>
              <a:rPr lang="en-US" sz="1300" dirty="0">
                <a:solidFill>
                  <a:schemeClr val="tx1"/>
                </a:solidFill>
              </a:rPr>
              <a:t>Google: Prompt design strategies, Gemini API (ai.google.dev)</a:t>
            </a:r>
            <a:endParaRPr lang="en-US" sz="1300" dirty="0"/>
          </a:p>
        </p:txBody>
      </p:sp>
      <p:sp>
        <p:nvSpPr>
          <p:cNvPr id="13" name="riga 3"/>
          <p:cNvSpPr/>
          <p:nvPr/>
        </p:nvSpPr>
        <p:spPr>
          <a:xfrm>
            <a:off x="457200" y="3218688"/>
            <a:ext cx="8229600" cy="420624"/>
          </a:xfrm>
          <a:prstGeom prst="roundRect">
            <a:avLst>
              <a:gd name="adj" fmla="val 17391"/>
            </a:avLst>
          </a:prstGeom>
          <a:solidFill>
            <a:schemeClr val="bg1"/>
          </a:solidFill>
          <a:ln/>
        </p:spPr>
      </p:sp>
      <p:sp>
        <p:nvSpPr>
          <p:cNvPr id="14" name="Text 10"/>
          <p:cNvSpPr txBox="1"/>
          <p:nvPr/>
        </p:nvSpPr>
        <p:spPr>
          <a:xfrm>
            <a:off x="640080" y="3218688"/>
            <a:ext cx="7863840" cy="420624"/>
          </a:xfrm>
          <a:prstGeom prst="rect">
            <a:avLst/>
          </a:prstGeom>
          <a:noFill/>
          <a:ln/>
        </p:spPr>
        <p:txBody>
          <a:bodyPr wrap="square" lIns="0" tIns="0" rIns="0" bIns="0" rtlCol="0" anchor="ctr"/>
          <a:lstStyle/>
          <a:p>
            <a:pPr indent="0" marL="0">
              <a:buNone/>
            </a:pPr>
            <a:r>
              <a:rPr lang="en-US" sz="1300" dirty="0">
                <a:solidFill>
                  <a:schemeClr val="tx1"/>
                </a:solidFill>
              </a:rPr>
              <a:t>Le guide vengono aggiornate: consultarle prima di ogni edizione</a:t>
            </a:r>
            <a:endParaRPr lang="en-US" sz="1300" dirty="0"/>
          </a:p>
        </p:txBody>
      </p:sp>
      <p:sp>
        <p:nvSpPr>
          <p:cNvPr id="15" name="riga 4"/>
          <p:cNvSpPr/>
          <p:nvPr/>
        </p:nvSpPr>
        <p:spPr>
          <a:xfrm>
            <a:off x="457200" y="3712464"/>
            <a:ext cx="8229600" cy="420624"/>
          </a:xfrm>
          <a:prstGeom prst="roundRect">
            <a:avLst>
              <a:gd name="adj" fmla="val 17391"/>
            </a:avLst>
          </a:prstGeom>
          <a:solidFill>
            <a:schemeClr val="bg2"/>
          </a:solidFill>
          <a:ln/>
        </p:spPr>
      </p:sp>
      <p:sp>
        <p:nvSpPr>
          <p:cNvPr id="16" name="Text 12"/>
          <p:cNvSpPr txBox="1"/>
          <p:nvPr/>
        </p:nvSpPr>
        <p:spPr>
          <a:xfrm>
            <a:off x="640080" y="3712464"/>
            <a:ext cx="7863840" cy="420624"/>
          </a:xfrm>
          <a:prstGeom prst="rect">
            <a:avLst/>
          </a:prstGeom>
          <a:noFill/>
          <a:ln/>
        </p:spPr>
        <p:txBody>
          <a:bodyPr wrap="square" lIns="0" tIns="0" rIns="0" bIns="0" rtlCol="0" anchor="ctr"/>
          <a:lstStyle/>
          <a:p>
            <a:pPr indent="0" marL="0">
              <a:buNone/>
            </a:pPr>
            <a:r>
              <a:rPr lang="en-US" sz="1300" dirty="0">
                <a:solidFill>
                  <a:schemeClr val="tx1"/>
                </a:solidFill>
              </a:rPr>
              <a:t>Esempi e output illustrativi, senza dati riservati: adattarli e provarli sullo strumento autorizzato</a:t>
            </a:r>
            <a:endParaRPr lang="en-US" sz="1300" dirty="0"/>
          </a:p>
        </p:txBody>
      </p:sp>
      <p:sp>
        <p:nvSpPr>
          <p:cNvPr id="17" name="Text 13"/>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i="1" dirty="0">
                <a:solidFill>
                  <a:schemeClr val="tx2"/>
                </a:solidFill>
              </a:rPr>
              <a:t>Fonti verificate a ottobre 2026: ricontrollarle prima di ogni edizione.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6: Prompting e tecniche di interazione con l'AI</dc:title>
  <dc:subject>Percorso AI Literacy</dc:subject>
  <dc:creator>Percorso AI Literacy</dc:creator>
  <cp:lastModifiedBy>Percorso AI Literacy</cp:lastModifiedBy>
  <cp:revision>1</cp:revision>
  <dcterms:created xsi:type="dcterms:W3CDTF">2026-10-16T11:07:20Z</dcterms:created>
  <dcterms:modified xsi:type="dcterms:W3CDTF">2026-10-16T11:07:20Z</dcterms:modified>
</cp:coreProperties>
</file>