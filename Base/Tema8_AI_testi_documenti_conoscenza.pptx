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e7770f43-8d91-c896-6379-762fe375bf04}">
          <p14:sldIdLst>
            <p14:sldId id="256"/>
            <p14:sldId id="257"/>
            <p14:sldId id="258"/>
            <p14:sldId id="259"/>
            <p14:sldId id="260"/>
            <p14:sldId id="261"/>
          </p14:sldIdLst>
        </p14:section>
        <p14:section name="8.1 Generazione" id="{422d5cd6-8f7f-58bb-7e02-0b5bd7175161}">
          <p14:sldIdLst>
            <p14:sldId id="262"/>
            <p14:sldId id="263"/>
            <p14:sldId id="264"/>
            <p14:sldId id="265"/>
            <p14:sldId id="266"/>
            <p14:sldId id="267"/>
            <p14:sldId id="268"/>
            <p14:sldId id="269"/>
          </p14:sldIdLst>
        </p14:section>
        <p14:section name="8.2 Trasformazione" id="{45bfcd33-e089-7e02-d054-ce45f7c9fba9}">
          <p14:sldIdLst>
            <p14:sldId id="270"/>
            <p14:sldId id="271"/>
            <p14:sldId id="272"/>
            <p14:sldId id="273"/>
            <p14:sldId id="274"/>
            <p14:sldId id="275"/>
            <p14:sldId id="276"/>
            <p14:sldId id="277"/>
            <p14:sldId id="278"/>
          </p14:sldIdLst>
        </p14:section>
        <p14:section name="8.3 Sintesi e analisi" id="{0b5f8a23-aceb-67d1-4392-e5e12e4b1df3}">
          <p14:sldIdLst>
            <p14:sldId id="279"/>
            <p14:sldId id="280"/>
            <p14:sldId id="281"/>
            <p14:sldId id="282"/>
            <p14:sldId id="283"/>
            <p14:sldId id="284"/>
            <p14:sldId id="285"/>
            <p14:sldId id="286"/>
            <p14:sldId id="287"/>
            <p14:sldId id="288"/>
          </p14:sldIdLst>
        </p14:section>
        <p14:section name="8.4 Estrazione" id="{418db666-a49b-4c55-d340-8923ab0ffce1}">
          <p14:sldIdLst>
            <p14:sldId id="289"/>
            <p14:sldId id="290"/>
            <p14:sldId id="291"/>
            <p14:sldId id="292"/>
            <p14:sldId id="293"/>
            <p14:sldId id="294"/>
            <p14:sldId id="295"/>
            <p14:sldId id="296"/>
            <p14:sldId id="297"/>
          </p14:sldIdLst>
        </p14:section>
        <p14:section name="8.5 Confronto" id="{2d5bab8d-084e-dce4-4ae4-9611246de6ae}">
          <p14:sldIdLst>
            <p14:sldId id="298"/>
            <p14:sldId id="299"/>
            <p14:sldId id="300"/>
            <p14:sldId id="301"/>
            <p14:sldId id="302"/>
            <p14:sldId id="303"/>
            <p14:sldId id="304"/>
            <p14:sldId id="305"/>
          </p14:sldIdLst>
        </p14:section>
        <p14:section name="8.6 Ricerca" id="{30def634-a64e-c286-dbf2-6f34dce81cdd}">
          <p14:sldIdLst>
            <p14:sldId id="306"/>
            <p14:sldId id="307"/>
            <p14:sldId id="308"/>
            <p14:sldId id="309"/>
            <p14:sldId id="310"/>
            <p14:sldId id="311"/>
            <p14:sldId id="312"/>
            <p14:sldId id="313"/>
          </p14:sldIdLst>
        </p14:section>
        <p14:section name="8.7 Conoscenza" id="{a893660b-45d1-479c-edbc-1aaccb6ef978}">
          <p14:sldIdLst>
            <p14:sldId id="314"/>
            <p14:sldId id="315"/>
            <p14:sldId id="316"/>
            <p14:sldId id="317"/>
            <p14:sldId id="318"/>
            <p14:sldId id="319"/>
            <p14:sldId id="320"/>
            <p14:sldId id="321"/>
            <p14:sldId id="322"/>
          </p14:sldIdLst>
        </p14:section>
        <p14:section name="8.8 Limiti" id="{f465a7a4-beca-b45c-638f-e5ffe4c87f2d}">
          <p14:sldIdLst>
            <p14:sldId id="323"/>
            <p14:sldId id="324"/>
            <p14:sldId id="325"/>
            <p14:sldId id="326"/>
            <p14:sldId id="327"/>
            <p14:sldId id="328"/>
            <p14:sldId id="329"/>
            <p14:sldId id="330"/>
            <p14:sldId id="331"/>
          </p14:sldIdLst>
        </p14:section>
        <p14:section name="Conclusioni" id="{fb32d20b-5a3f-8b4c-3581-b291760ad03a}">
          <p14:sldIdLst>
            <p14:sldId id="332"/>
            <p14:sldId id="333"/>
            <p14:sldId id="334"/>
            <p14:sldId id="335"/>
            <p14:sldId id="336"/>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all'ottavo tema, che apre una nuova area del percorso: 'Esplorare le possibilità dell'AI'. Nelle aree precedenti abbiamo costruito le basi: che cos'è l'AI e come funziona, quali sono i suoi limiti, come dialogare con essa, come formulare richieste e come verificare i risultati. Ora guardiamo a che cosa si può fare concretamente, partendo dall'ambito in cui l'AI generativa è più matura e più usata: i testi, i documenti e la conoscenza. È un tema che riguarda praticamente ogni ruolo aziendale, perché quasi ogni lavoro produce, legge, trasforma e cerca informazioni scritte. Il punto di vista è quello dell'utilizzatore: capacità applicative e condizioni di efficacia, non configurazione tecnica di sistemi documentali. E il tema va oltre la semplice scrittura: il suo nucleo distintivo è la capacità di sintetizzare, estrarre, confrontare e consultare documenti. Suggerimento per l'apertura: chiedere ai partecipanti quante ore a settimana dedicano a leggere, scrivere, riassumere o cercare informazioni nei documenti. La risposta, di solito sorprendente, mostra perché il tema è rilevante. Nota per il relatore: i contenuti sono stati verificati a ottobre 2026; le capacità degli strumenti su documenti lunghi, tabelle e scansioni migliorano di continuo, quindi esempi e limiti vanno ricontrollati sugli strumenti autorizzati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comprensione delle principali possibilità dell'AI nella produzione, trasformazione, analisi, estrazione e organizzazione di contenuti testuali e documentali, con le relative opportunità, condizioni di efficacia e limiti. La consapevolezza da sviluppare ha due facce. Da un lato, l'AI può supportare molte attività basate sulle informazioni, dalla redazione di un'email alla consultazione di un archivio di procedure. Dall'altro, il valore del risultato dipende da quattro fattori: la qualità delle fonti, la fedeltà dell'elaborazione, la tracciabilità delle informazioni e la capacità di verificarne l'adeguatezza. Un punto chiave che svilupperemo: generare, trasformare, analizzare ed estrarre informazioni sono attività distinte, con esigenze di controllo diverse. Il messaggio centrale del tema: l'AI può generare testi e trasformare documenti in informazioni organizzate, confrontabili e consultabili, ma il valore effettivo richiede di preservare correttezza, significato e tracciabilità, senza confondere un'elaborazione convincente con un'elaborazione completa e verificata.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undici domande guida accompagnano il modulo. Le prime due riguardano la produzione di testi: che cosa può fare l'AI oltre alla scrittura, e quando conviene generare un testo nuovo invece di trasformarne uno esistente. Le successive riguardano l'analisi dei documenti: come sintetizzare senza perdere condizioni ed eccezioni, che differenza c'è tra sintetizzare ed estrarre dati, come confrontare documenti mantenendo il collegamento ai passaggi originali. Poi la conoscenza: la differenza tra ricerca su fonti esterne e interrogazione di una raccolta documentale, e che cosa rende una raccolta davvero interrogabile. L'ottava riguarda il passaggio da informazioni non strutturate a dati utilizzabili. Le ultime tre riguardano i limiti: formati, scansioni, tabelle e documenti lunghi; come distinguere una sintesi apparentemente corretta da una fedele; quando risalire alle fonti.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 filo conduttore: quattro modalità applicative, che corrispondono a quattro tipi diversi di lavoro informativo. Produrre: creare contenuti nuovi a partire da istruzioni, come un'email, una relazione, una descrizione. Corrisponde al sottotema 8.1. Trasformare: lavorare su un testo esistente, correggendolo, semplificandolo, traducendolo, cambiandone il formato. Corrisponde all'8.2. Analizzare e strutturare: ricavare da uno o più documenti sintesi, dati strutturati, confronti. Corrispondono l'8.3, l'8.4 e l'8.5, che sono il nucleo distintivo del tema. Recuperare conoscenza: cercare, approfondire e consultare informazioni, sia all'esterno sia in raccolte documentali organizzate. Corrispondono l'8.6 e l'8.7. L'8.8, sui limiti e le condizioni di efficacia, attraversa tutte le modalità. Una precisazione: non è una sequenza obbligatoria. Sono modalità diverse, che spesso si combinano: per preparare un dossier si può cercare, sintetizzare, estrarre e infine produrre un testo. Nelle slide, un indicatore in alto a destra ricorda la modalità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concettuale più importante del tema è che generare, trasformare, analizzare ed estrarre sono attività diverse, con rischi e controlli diversi. Quando si genera, il rischio principale è che il sistema inventi o aggiunga contenuti non corretti o non adatti: il controllo riguarda l'accuratezza e l'adeguatezza al destinatario. Quando si trasforma, il rischio è che la nuova versione alteri il significato del testo di partenza: il controllo è un confronto con l'originale. Quando si sintetizza o si analizza, il rischio è perdere elementi decisivi, come condizioni ed eccezioni: il controllo riguarda la fedeltà e la completezza rispetto al documento. Quando si estrae, il rischio è un dato sbagliato, mancante o inventato, che poi viene usato in attività successive: il controllo riguarda l'accuratezza campo per campo. Quando si recupera conoscenza, il rischio è un'informazione superata, non pertinente o senza fonte: il controllo riguarda attualità, attendibilità e collegamento al documento originale. Non ripetiamo qui i metodi generali di verifica del Tema 7: li applichiamo, in ciascun sottotema, ai contenuti documentali.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tutti con priorità alta e tutti mantenuti distinti. Vanno compresi e sperimentati: generazione, trasformazione e sintesi di testi, estrazione di informazioni, confronto documentale e tracciabilità delle fonti. Vanno conosciuti e compresi: ricerca informativa, gestione della conoscenza, interrogazione documentale, limiti di formati e qualità dei documenti. Vanno solo accennati: architetture RAG, pipeline documentali, sistemi di indicizzazione, database vettoriali, configurazioni di ricerca semantica e integrazioni tecniche. L'enfasi va su 8.3, 8.4, 8.5 e 8.7, il nucleo distintivo del tema, perché mostrano il potenziale dell'AI oltre la generazione di testo. Confini: non ripetiamo i meccanismi tecnici del Tema 2, la teoria delle allucinazioni del Tema 3, le tecniche di prompting del Tema 6, i metodi di verifica del Tema 7. Non approfondiamo l'analisi quantitativa, che è del Tema 9, la multimodalità, del Tema 10, gli agenti e i workflow, del Tema 11, né la progettazione dei sistemi di conoscenza aziendale, del Tema 14. Un'avvertenza pratica valida per tutto il modulo: i documenti di lavoro vanno caricati solo negli strumenti autorizzati dall'azienda, secondo le regole sulla riservatezza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dalla modalità più nota: produrre testi nuovi. È quella che quasi tutti hanno già provato, ed è anche quella in cui è più facile sopravvalutare il risultato, perché un testo generato è quasi sempre scorrevole e ben impaginato. In questo sottotema, da comprendere e sperimentare, vediamo che cosa si può produrre, come adattare i testi a destinatari e registri diversi, come usare bozze e versioni alternative e, soprattutto, la differenza tra generazione automatica e redazione supervisionata. Come si formulano le richieste l'abbiamo visto nel Tema 6: qui ci concentriamo sulle possibilità e sulle condizioni di efficacia.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generazione di testi a partire da istruzioni copre una gamma ampia di contenuti professionali. Comunicazioni: email, risposte a richieste, messaggi, avvisi, comunicazioni interne. Documenti di lavoro: relazioni, report, verbali a partire da appunti, proposte, presentazioni testuali. Contenuti informativi: descrizioni di prodotti o servizi, schede, FAQ, testi per il sito o per la intranet, istruzioni. Bozze e strutture: scalette, indici, prime versioni da completare, modelli riutilizzabili. Il valore principale non è tanto scrivere al posto della persona, quanto superare la pagina bianca e ridurre il tempo delle parti più ripetitive, lasciando più tempo per contenuto, verifica e cura. Un punto da sottolineare: la qualità del testo generato dipende in gran parte dalle informazioni fornite. Se il sistema non conosce i fatti specifici, tende a riempire i vuoti con contenuti generici o inventati. Più il testo riguarda fatti, dati e decisioni specifici dell'azienda, più è importante fornire il materiale di partenza invece di chiedere al sistema di produrlo da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testo generato è il risultato di tre ingredienti, e la sua qualità dipende da tutti e tre. Il primo sono le istruzioni: scopo, destinatario, tono, lunghezza, struttura. Le tecniche per formularle le abbiamo viste nel Tema 6. Il secondo è il materiale di partenza: fatti, dati, appunti, documenti, decisioni già prese. È l'ingrediente più trascurato e il più importante per i testi professionali. Senza materiale, il sistema produce un testo plausibile ma generico, o peggio inventa dettagli verosimili, come date, nomi, numeri, impegni. Il terzo sono gli esempi e i riferimenti di stile: un testo simile già approvato, le linee guida di comunicazione, il modo in cui l'azienda si rivolge ai clienti. Lo schema in slide mostra il rapporto: le istruzioni dicono come scrivere, il materiale dice che cosa scrivere, gli esempi dicono in che stile. Quando un testo generato delude, conviene chiedersi quale dei tre ingredienti mancava. Spesso il problema non è il sistema, ma il fatto che gli abbiamo chiesto di scrivere qualcosa che non poteva sapere.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degli usi più utili della generazione è adattare uno stesso contenuto a destinatari diversi. Lo stesso fatto, per esempio una modifica dell'orario del servizio clienti, va comunicato in modo diverso alla direzione, ai colleghi del servizio clienti e ai clienti. Per la direzione conta il perché e l'impatto: motivazione, costi, effetti attesi. Per i colleghi conta che cosa cambia operativamente: da quando, che cosa devono fare, a chi rivolgersi. Per i clienti conta che cosa cambia per loro, con un tono cortese e senza dettagli interni. L'AI è molto efficace nel produrre rapidamente queste versioni, partendo da un unico contenuto di base. Due attenzioni. Primo, il contenuto di base deve essere corretto e completo: ogni versione eredita gli errori della base. Secondo, ogni versione va controllata per il proprio destinatario: è facile che nella versione per i clienti finisca un dettaglio interno che non dovrebbe esserci, o che nella versione sintetica per la direzione sparisca un'informazione importante. Esempio fittizio in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concetti vicini ma distinti, utili per dare istruzioni precise e valutare il risultato. Il tono è l'atteggiamento verso il destinatario: cordiale, formale, rassicurante, deciso, empatico. Lo stile riguarda le scelte di scrittura: frasi brevi o articolate, lessico tecnico o comune, struttura con elenchi o testo continuo. Il registro è il livello di formalità adatto al contesto: una comunicazione a un ente pubblico, un'email a un collega, un post sulla intranet. L'AI è molto flessibile su tutti e tre: può riscrivere lo stesso contenuto in molte varianti. Alcune attenzioni pratiche. Il tono di default dei sistemi tende a essere entusiasta, cerimonioso e ricco di formule generiche, che in un contesto professionale possono suonare artificiali o poco credibili: conviene indicare esplicitamente il tono desiderato o fornire un esempio. La coerenza con la comunicazione aziendale non è automatica: se l'azienda ha linee guida di stile, vanno fornite. Infine, il tono può cambiare il significato percepito: un messaggio troppo rassicurante su un problema serio, o troppo deciso in una trattativa, può creare aspettative o tensioni non volute.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usi della generazione meritano attenzione perché cambiano il modo di lavorare. Le bozze: l'AI è molto efficace nel produrre una prima versione su cui lavorare. Il valore sta nel ridurre il tempo per arrivare a qualcosa di concreto da migliorare. Ma una bozza è appunto una bozza: va letta, corretta e completata, non solo ritoccata. Le versioni alternative: si possono chiedere più versioni dello stesso testo, con impostazioni diverse, per esempio una più sintetica e una più dettagliata, una più formale e una più diretta, tre possibili oggetti per un'email, due aperture per una relazione. Confrontare alternative aiuta a capire che cosa si vuole davvero e spesso porta a combinare elementi di versioni diverse. Due rischi da conoscere. Il primo è l'ancoraggio, visto nel Tema 5: la prima bozza tende a definire struttura e contenuti anche quando sarebbe meglio un'impostazione diversa. Chiedere alternative fin dall'inizio aiuta a contrastarlo. Il secondo è l'omologazione: testi generati da molte persone con gli stessi strumenti tendono ad assomigliarsi, con le stesse formule e le stesse strutture. Il contributo personale resta ciò che rende un testo riconoscibile.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distinzione più importante del sottotema. Nella generazione automatica, il testo prodotto dal sistema viene usato così com'è, senza una revisione sostanziale: è il caso di risposte automatiche, descrizioni generate in serie, testi pubblicati direttamente. Nella redazione supervisionata, il sistema produce una proposta e una persona la rivede, la corregge, la completa e ne risponde. Tra i due estremi ci sono gradi intermedi, come una revisione a campione su testi generati in serie. Il livello di supervisione adeguato dipende da tre fattori, coerenti con quanto visto nel Tema 7: le conseguenze di un errore, la visibilità del testo, cioè chi lo leggerà, e la presenza di fatti specifici, dati o impegni. Una bozza di email interna può richiedere una rilettura; una comunicazione a tutti i clienti, un testo contrattuale o una risposta su temi legali o sanitari richiedono una redazione pienamente supervisionata, eventualmente con esperti. La generazione automatica senza revisione è adatta solo a contenuti a basso rischio, con controlli organizzativi definiti. In ogni caso, chi usa e firma il testo ne risponde, come detto nel Tema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Generare testi è la modalità più nota e immediata: email, relazioni, descrizioni, bozze, versioni per destinatari diversi. Ma la qualità dipende da istruzioni, materiale di partenza ed esempi; il tono di default e l'omologazione vanno gestiti; e soprattutto, il livello di supervisione deve essere proporzionato alle conseguenze di un errore e alla visibilità del testo. Si noti che il concetto chiave parla di revisione umana e organizzativa: non basta la buona volontà del singolo, servono anche regole su quali testi richiedono quale revisione. Esercizio suggerito: partire da un contenuto di base fittizio e chiedere ai partecipanti di generare tre versioni per destinatari diversi, poi confrontarle per individuare informazioni perse o aggiunte.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modalità: trasformare. Qui il punto di partenza non sono istruzioni, ma un testo che esiste già, nostro o di altri. L'AI può correggerlo, renderlo più chiaro, semplificarlo, riformularlo, tradurlo, cambiarne il formato o la struttura. È una modalità molto potente e spesso sottovalutata, perché il controllo è più semplice che nella generazione: c'è un originale con cui confrontare il risultato. Ma ha un rischio specifico, che è il filo rosso del sottotema: la trasformazione può alterare il significato senza che ce ne accorgiamo. In questo sottotema, da comprendere e sperimentare, vediamo le principali trasformazioni e come distinguere modifiche formali da modifiche sostanziali.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domande guida chiede quando conviene generare un testo nuovo e quando è più opportuno trasformarne uno esistente. Generare conviene quando non esiste un punto di partenza adatto e il contenuto è relativamente generico, oppure quando si vuole esplorare impostazioni diverse. Trasformare conviene quando esiste già un testo che contiene i contenuti corretti: una procedura approvata da semplificare, una relazione tecnica da rendere comprensibile alla direzione, appunti di una riunione da trasformare in verbale, un testo da tradurre. In questi casi la trasformazione ha due vantaggi importanti. Il primo è l'affidabilità: il sistema lavora su contenuti forniti, invece di produrli, e quindi il rischio di invenzioni si riduce, anche se non si azzera. Il secondo è la verificabilità: c'è un originale con cui confrontare il risultato, e quindi il controllo è più semplice e più mirato. Per questo, per i testi professionali che riguardano fatti specifici, una buona regola è partire dal materiale esistente quando c'è, e usare l'AI per trasformarlo, invece di chiederle di generare da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panoramica delle trasformazioni più utili. Correzione grammaticale e stilistica: refusi, concordanze, punteggiatura, ripetizioni. Miglioramento di chiarezza e leggibilità: frasi più brevi, ordine logico, eliminazione di ambiguità. Semplificazione: rendere comprensibile un testo complesso a chi non è esperto. Riformulazione e adattamento del linguaggio: cambiare registro, tono o lessico per un destinatario diverso. Traduzione e localizzazione: non solo tradurre, ma adattare a un contesto culturale e locale, con formati di date, unità, riferimenti. Trasformazione tra formati: da appunti a verbale, da relazione a slide, da procedura a FAQ, da email lunga a messaggio breve. Revisione della struttura: riorganizzare un testo, aggiungere titoli, spostare le informazioni importanti all'inizio. Le prime trasformazioni dell'elenco tendono a intervenire più sulla forma, le ultime più profondamente sul contenuto e sulla sua organizzazione. Più la trasformazione è profonda, più è alto il rischio di alterare il significato, e più è importante il controllo.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semplificazione è una delle trasformazioni più utili e più delicate. Utile, perché molti testi aziendali, come procedure, regolamenti, documentazione tecnica e comunicazioni normative, sono difficili da leggere per chi deve applicarli. Delicata, perché semplificare significa scegliere che cosa togliere e come riformulare, e in queste scelte si nascondono i rischi. L'esempio fittizio in slide mostra una clausola di una procedura interna e una semplificazione apparentemente ben fatta. La versione semplificata è chiara e scorrevole, ma ha perso due elementi: il limite di importo oltre il quale serve l'autorizzazione, e l'eccezione per gli acquisti urgenti, che ha un iter diverso. Chi la legge applicherà la regola in modo sbagliato in due casi su tre. Il problema non è la semplificazione, ma la mancanza di controllo. Per semplificare in modo fedele conviene indicare esplicitamente che cosa deve restare, per esempio importi, scadenze, condizioni ed eccezioni, e poi confrontare punto per punto la versione semplificata con l'originale. Nei testi con valore normativo o contrattuale, la versione semplificata dovrebbe rimandare all'originale come riferimento valido.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traduzione è uno degli ambiti in cui i sistemi linguistici danno risultati migliori, soprattutto tra lingue molto diffuse. Ma tradurre un testo professionale non è solo cambiare lingua. La localizzazione adatta il testo al contesto del destinatario: formati di date, numeri e valute, unità di misura, riferimenti normativi o istituzionali che possono non avere un equivalente, convenzioni di cortesia, esempi culturalmente appropriati. Alcune attenzioni specifiche. La terminologia tecnica e aziendale: un termine di settore può avere più traduzioni possibili, e il sistema può sceglierne una diversa da quella usata in azienda o nel settore; conviene fornire un glossario. I falsi amici e le sfumature: termini simili con significato diverso, gradi di obbligo come 'deve' e 'dovrebbe', che in un contratto fanno una grande differenza. Le lingue meno diffuse, per cui la qualità può essere inferiore. I testi con valore legale o contrattuale, per cui una traduzione automatica non sostituisce la traduzione professionale certificata quando richiesta. Un controllo utile, quando non si conosce bene la lingua di arrivo, è far ritradurre il testo nella lingua originale da uno strumento diverso: non è una prova, ma fa emergere molti scostamenti di significato.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trasformazioni che cambiano l'organizzazione del contenuto più che le singole frasi. La trasformazione tra formati testuali porta lo stesso contenuto in una forma diversa, adatta a un altro uso: appunti di riunione in un verbale con decisioni e azioni; una relazione lunga in una sintesi per la direzione o in punti per una presentazione; una procedura in una lista di controllo o in FAQ; una email lunga in un messaggio breve; un testo in una tabella. La revisione della struttura riorganizza un testo esistente: mettere all'inizio le informazioni più importanti, aggiungere titoli e sezioni, raggruppare argomenti dispersi, eliminare ripetizioni, separare ciò che è obbligatorio da ciò che è consigliato. Sono trasformazioni molto utili, ma con un rischio specifico: nel cambiare forma, alcune informazioni possono andare perse o cambiare peso. Nel passaggio da appunti a verbale, per esempio, il sistema può trasformare un'ipotesi discussa in una decisione presa, o attribuire un'azione alla persona sbagliata. Nel passaggio da testo a elenco puntato, i legami logici, come 'solo se' o 'a meno che', possono sparire. Il controllo consiste nel verificare che ogni elemento importante dell'originale sia presente, con lo stesso peso e lo stesso significato.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chiave del sottotema. Una modifica formale cambia il modo in cui una cosa è detta, senza cambiare che cosa è detto: correggere un refuso, spezzare una frase lunga, sostituire un termine con un sinonimo davvero equivalente, riordinare elementi senza legami logici. Una modifica sostanziale cambia il contenuto: un'informazione aggiunta o tolta, un grado di obbligo modificato, una condizione eliminata, un'attribuzione cambiata, un numero alterato. Il problema è che molte modifiche che sembrano formali sono in realtà sostanziali. La tabella mostra alcuni esempi. Passare da 'entro il 15' a 'verso metà mese' sembra una semplificazione, ma cambia una scadenza in un'indicazione vaga. Passare da 'si raccomanda' a 'è obbligatorio' sembra una riformulazione, ma cambia il grado di obbligo. Passare da 'in alcuni casi' a 'spesso' cambia la frequenza. Eliminare 'salvo diversa indicazione' cancella un'eccezione. Quando si chiede una trasformazione, conviene esplicitare il tipo di modifiche ammesse, per esempio 'correggi solo grammatica e punteggiatura, non cambiare contenuti'. E chiedere al sistema di segnalare le modifiche sostanziali che ritiene necessarie, invece di applicarle.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controlla, in pratica, che una trasformazione abbia preservato il significato? Alcune tecniche, dalla più semplice alla più strutturata. Primo, definire in anticipo che cosa deve restare invariato: importi, date, scadenze, nomi, condizioni, eccezioni, gradi di obbligo, impegni. Sono gli elementi più a rischio e quelli con le conseguenze più serie. Secondo, chiedere al sistema di elencare le modifiche apportate, distinguendo quelle formali da quelle che potrebbero toccare il contenuto. Non è una garanzia, come visto nel Tema 7, ma aiuta a dirigere l'attenzione. Terzo, usare il confronto tra versioni, con gli strumenti di revisione dei programmi di scrittura, per vedere esattamente che cosa è cambiato. Quarto, per i testi importanti, rileggere l'originale e il trasformato affiancati, punto per punto, controllando gli elementi critici. Quinto, per i testi con valore normativo, contrattuale o tecnico, far validare la versione trasformata da chi conosce la materia, e mantenere l'originale come riferimento. Il principio è semplice: più il testo ha conseguenze, più il confronto con l'originale deve essere sistematico.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Trasformare un testo esistente è spesso preferibile a generarlo da zero, perché riduce le invenzioni e offre un originale con cui confrontare il risultato. Le trasformazioni possibili sono molte: correzione, chiarezza, semplificazione, riformulazione, traduzione, cambio di formato e di struttura. Il rischio comune è l'alterazione del significato, spesso nascosta in modifiche che sembrano formali. Il concetto chiave cita anche le intenzioni: un testo riformulato può dire le stesse cose con un'intenzione diversa, per esempio più perentoria o più accomodante. Esercizio suggerito: dare ai partecipanti un paragrafo fittizio di procedura, farlo semplificare con l'AI e chiedere di trovare tutte le differenze di contenuto tra originale e semplificato.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 nucleo distintivo del tema. Con i sottotemi 8.3, 8.4 e 8.5 l'AI non produce testi nuovi né riscrive testi esistenti: lavora sui documenti per ricavarne qualcosa. In questo sottotema, da comprendere e sperimentare, vediamo la sintesi e l'analisi dei documenti: riassunti, sintesi esecutive, individuazione dei concetti e dei passaggi rilevanti, analisi di documentazione tecnica e organizzativa. E due integrazioni importanti: la tracciabilità, cioè la possibilità di risalire ai passaggi originali, e il rischio di perdita di significato, cioè sintesi che sembrano fedeli ma hanno eliminato elementi decisivi.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possibilità dell'AI nella sintesi e nell'analisi di documenti sono molte e, per chi lavora con grandi quantità di materiale, di grande valore. Riassumere: ridurre un documento ai suoi contenuti principali, con lunghezza e livello di dettaglio scelti. Sintetizzare contenuti lunghi e articolati: rapporti, verbali di più riunioni, documentazione di progetto. Identificare i concetti principali: i temi, le tesi, le decisioni, le richieste. Individuare informazioni e passaggi rilevanti: dove il documento parla di un certo argomento, che cosa dice su penali, scadenze, responsabilità. Produrre sintesi esecutive: una pagina per chi deve decidere, con ciò che serve sapere. Analizzare documentazione tecnica e organizzativa: capire che cosa prevede una procedura, che cosa richiede un capitolato, quali sono i punti aperti di un progetto. I sistemi attuali possono lavorare con i formati più comuni, come PDF, Word e testo, e molti accettano più documenti insieme. Il valore principale è il tempo: un primo orientamento su un documento di cento pagine in pochi minuti. Ma, come vedremo, un primo orientamento non è una lettura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esiste la sintesi giusta in assoluto: esiste la sintesi adatta a uno scopo. Lo stesso documento, per esempio un contratto di fornitura, può essere sintetizzato in modi molto diversi. Una sintesi informativa generale riassume di che cosa parla e quali sono i contenuti principali: utile per orientarsi. Una sintesi esecutiva evidenzia ciò che serve a chi deve decidere: condizioni economiche, durata, rischi, punti da negoziare. Una sintesi operativa estrae ciò che serve a chi deve applicare il documento: scadenze, adempimenti, responsabilità, contatti. Una sintesi mirata risponde a una domanda specifica: che cosa prevede il contratto in caso di ritardo nelle consegne? Dichiarare lo scopo della sintesi, come visto nel Tema 6, migliora molto il risultato, perché guida il sistema nella scelta di che cosa tenere. Senza indicazioni, il sistema tende a produrre una sintesi generica, equilibrata in apparenza, che dà lo stesso spazio a elementi importanti e secondari, e può trascurare proprio ciò che serviva. Lo scopo determina anche il controllo: una sintesi per orientarsi richiede meno verifica di una sintesi su cui si basa una decisione.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integrazione del sottotema: la tracciabilità delle informazioni e il collegamento alle fonti. Una sintesi è tanto più utile quanto più permette, quando serve, di risalire ai passaggi del documento originale. Se una sintesi dice che il contratto prevede una penale del 2 per cento per ogni settimana di ritardo, poter andare subito all'articolo e al paragrafo in cui lo dice trasforma un'affermazione da prendere sulla fiducia in un'affermazione controllabile in pochi secondi. Per questo, quando l'uso lo richiede, conviene chiedere esplicitamente che ogni punto della sintesi indichi la sezione, l'articolo, la pagina o il passaggio da cui deriva, e, per i punti critici, anche una breve citazione testuale. L'esempio fittizio in slide mostra una sintesi con riferimenti. Il vantaggio è doppio: rende la verifica rapida e mirata, e rende visibili i punti della sintesi che non hanno un riferimento, che sono quelli da trattare con più cautela, perché potrebbero essere interpretazioni del sistema o informazioni non presenti nel documento. La tracciabilità è richiesta anche da molti strumenti aziendali di consultazione documentale, come vedremo nell'8.7.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parte dell'integrazione sulla tracciabilità è un'avvertenza: un riferimento presentato dall'AI deve essere realmente controllabile. Non basta che la sintesi contenga dei riferimenti: occorre che siano corretti. I sistemi possono indicare un articolo sbagliato, un numero di pagina approssimativo, una sezione che non esiste, o una citazione testuale che in realtà è una parafrasi, magari con piccole differenze di significato. È lo stesso fenomeno visto nel Tema 3 per le fonti inventate, applicato ai riferimenti interni a un documento. Per i numeri di pagina, in particolare, l'affidabilità dipende dal formato del documento e dal modo in cui lo strumento lo elabora. Il controllo, per i punti importanti, è semplice: aprire il documento nel punto indicato e leggere il passaggio. Tre verifiche, coerenti con quelle viste nel Tema 7 per le fonti: il passaggio esiste nel punto indicato; dice ciò che la sintesi afferma, con le stesse condizioni; la citazione, se presentata come testuale, corrisponde parola per parola. Un buon segnale pratico: gli strumenti che mostrano direttamente il passaggio citato, con un collegamento cliccabile al documento, rendono questo controllo molto più rapido.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integrazione, forse la più importante del tema: il rischio di perdita di significato nella sintesi. Una sintesi può apparire fedele pur avendo eliminato eccezioni, vincoli, sfumature o elementi decisivi. Il motivo è intrinseco: sintetizzare significa togliere, e il sistema sceglie che cosa togliere secondo criteri che non conosciamo e che non coincidono necessariamente con ciò che per noi è importante. Gli elementi più a rischio sono proprio quelli che, in un testo, occupano poco spazio ma hanno grande peso: una condizione introdotta da 'solo se', un'eccezione introdotta da 'salvo', una negazione, un limite numerico, una scadenza, un'attribuzione di responsabilità, un'espressione di incertezza come 'in via preliminare' o 'da confermare'. L'esempio fittizio in slide mostra un estratto di verbale e una sintesi che sembra corretta: ogni frase è vera, ma la decisione appare definitiva, mentre era condizionata all'approvazione del budget, e l'incertezza sui tempi è sparita. Chi legge la sintesi crede che il progetto sia approvato. Il punto chiave è che queste perdite non si vedono leggendo la sintesi: la sintesi è scorrevole, coerente, ben organizzata. Si vedono solo confrontandola con l'originale, o sapendo che cosa cercare.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controllare una sintesi in modo efficiente, conviene sapere dove cercare. Gli elementi più a rischio sono quelli che occupano poco spazio nel testo ma cambiano le conseguenze. Condizioni: 'solo se', 'a condizione che', 'subordinatamente a'. Eccezioni: 'salvo', 'tranne', 'ad eccezione di'. Limiti e soglie: importi massimi, percentuali, quantità. Scadenze e tempi: date, termini, durate, preavvisi. Responsabilità: chi deve fare che cosa, chi risponde di che cosa. Gradi di certezza e di obbligo: 'in via preliminare', 'da confermare', 'si raccomanda', 'è obbligatorio'. Negazioni e limitazioni: 'non si applica', 'esclusivamente', 'non oltre'. Posizioni minoritarie o dissenzienti: in un verbale, un'obiezione registrata; in un rapporto, un rischio segnalato in una nota. Una tecnica pratica è chiedere al sistema, insieme alla sintesi, un elenco separato di tutte le condizioni, eccezioni, scadenze e limiti presenti nel documento, con il riferimento. È più facile controllare un elenco mirato che cercare le perdite in una sintesi scorrevole.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Mettiamo insieme le tecniche viste in una procedura di controllo, da applicare con intensità proporzionata all'uso della sintesi. Prima di chiedere la sintesi: dichiarare lo scopo e indicare gli elementi che devono essere presenti, come condizioni, scadenze, importi, responsabilità. Durante: chiedere i riferimenti ai passaggi originali e un elenco separato di condizioni ed eccezioni. Dopo, per una sintesi usata per orientarsi, basta una lettura critica: è plausibile? Manca qualcosa che ci si aspetterebbe? Per una sintesi su cui si basa una decisione o un'azione, conviene controllare sul documento i punti critici, usando i riferimenti, e verificare che condizioni ed eccezioni importanti siano state riportate. Per una sintesi destinata ad altri, specie all'esterno o a chi non leggerà l'originale, conviene un controllo sistematico, e indicare nella sintesi stessa che si tratta di una sintesi e dove trovare l'originale. Un principio di fondo: chi legge una sintesi tende a considerarla equivalente al documento. Più la sintesi sostituisce la lettura dell'originale, più deve essere controllata.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anche di conoscere i limiti dell'analisi di documentazione complessa, che approfondiremo nell'8.8. Ne anticipiamo i principali, per come incidono sulla sintesi. Documenti molto lunghi: anche quando il sistema accetta il documento intero, non è detto che ne consideri tutte le parti con la stessa attenzione. Studi sui modelli linguistici hanno mostrato che le informazioni al centro di testi lunghi tendono a essere usate meno di quelle all'inizio e alla fine. Rimandi interni e allegati: un contratto in cui l'articolo 9 rimanda all'allegato C, che a sua volta modifica l'articolo 4, richiede di collegare parti lontane, e qui gli errori sono più frequenti. Tabelle, grafici e impaginazioni complesse: possono essere lette in modo incompleto o scorretto. Linguaggio tecnico e specialistico: il sistema può riassumere in modo scorrevole un contenuto che non interpreta correttamente. Più documenti insieme: aumentano il rischio di confondere a quale documento appartiene un'informazione. In tutti questi casi, la sintesi resta utile come primo orientamento, ma la lettura dei passaggi critici diventa indispensabile.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8.3. L'AI offre grandi possibilità nella sintesi e nell'analisi dei documenti: riassunti, sintesi esecutive e operative, individuazione di concetti e passaggi rilevanti. Ma una sintesi va pensata per uno scopo, deve permettere di risalire ai passaggi originali con riferimenti realmente controllabili, e può perdere proprio gli elementi che contano di più: condizioni, eccezioni, limiti, scadenze, gradi di certezza. Il controllo va proporzionato all'uso: più la sintesi sostituisce la lettura dell'originale, più va verificata. Esercizio suggerito: dare ai partecipanti un documento fittizio di due o tre pagine con alcune condizioni ed eccezioni, farlo sintetizzare con l'AI, e chiedere di verificare quali elementi decisivi sono stati conservati e quali persi.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dalla sintesi all'estrazione. Qui l'obiettivo non è ridurre un documento, ma ricavarne informazioni puntuali e organizzarle in una struttura: una tabella, un elenco di campi, una classificazione. È una delle possibilità più concrete e meno conosciute dell'AI generativa, perché permette di trasformare testi non strutturati, come email, contratti, moduli, verbali, in dati utilizzabili da attività successive. In questo sottotema, da comprendere e sperimentare, vediamo che cosa si può estrarre, come si passa dal testo al dato, come gestire campi mancanti o ambigui e, soprattutto, come controllare la qualità dell'estrazione prima di usarla.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domanda guida chiede la differenza tra sintetizzare un documento ed estrarne dati strutturati. La distinzione, indicata anche dal documento di perimetro, è netta. La sintesi produce un testo più breve, che interpreta e seleziona i contenuti: il risultato si legge. L'estrazione produce dati puntuali, organizzati in campi definiti in anticipo, come nome del fornitore, data di scadenza, importo, numero d'ordine: il risultato si usa, per esempio in una tabella, in un confronto, in un sistema gestionale, in un'analisi. Le due attività hanno esigenze diverse. La sintesi richiede di non perdere significato; l'estrazione richiede precisione su ogni singolo valore e completezza su tutti i documenti. In una sintesi, un piccolo errore può passare inosservato senza grandi conseguenze; in un'estrazione, un importo sbagliato o una data invertita entra in un foglio di calcolo e da lì in decisioni e processi, spesso senza che nessuno torni più a guardare il documento originale. Per questo il controllo dell'estrazione è diverso: non si valuta la fedeltà complessiva, ma l'accuratezza campo per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possibilità di estrazione sono molte. Informazioni anagrafiche e identificative: nomi di persone e aziende, ruoli, indirizzi, codici, numeri di documento. Date e scadenze: data del documento, decorrenza, termini, rinnovi. Importi e quantità: prezzi, totali, sconti, penali, quantità ordinate. Riferimenti: numeri d'ordine, di contratto, di pratica, rimandi normativi. Classificazioni: il tipo di richiesta in un'email, l'argomento di un reclamo, il livello di urgenza, il reparto competente. Elementi ricorrenti: i motivi più frequenti di reclamo in cento email, le clausole presenti o assenti in un gruppo di contratti, i temi che ricorrono in una serie di verbali. Le prime quattro categorie riguardano informazioni esplicitamente scritte nel testo, e l'estrazione è relativamente affidabile, pur con errori possibili. Le ultime due richiedono un'interpretazione: classificare significa giudicare, e due persone potrebbero classificare diversamente la stessa email. In questi casi, la qualità dipende molto dalla chiarezza delle categorie e dei criteri forniti.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integrazione del sottotema: dall'informazione non strutturata al dato utilizzabile. Gran parte delle informazioni aziendali vive in testi: email, contratti, moduli compilati a mano o in formato libero, verbali, segnalazioni, curricula, offerte. Sono informazioni preziose, ma difficili da usare in modo sistematico: per sapere quanti contratti scadono nel prossimo trimestre, bisogna aprirli uno per uno. L'AI può trasformare questi testi in campi e categorie riutilizzabili. L'esempio fittizio in slide mostra un'email di un cliente trasformata in un record strutturato: cliente, numero d'ordine, tipo di richiesta, prodotto, data richiesta, urgenza. Su cento email, questo produce una tabella che si può ordinare, filtrare, contare, collegare ad altri dati. È il passaggio che rende utilizzabile da attività successive un'informazione che prima era solo leggibile. La condizione, indicata esplicitamente dal documento di perimetro, è che la qualità dell'estrazione sia controllata prima dell'impiego operativo. L'analisi quantitativa dei dati così ottenuti appartiene al Tema 9; i flussi automatici che fanno questo in modo continuo, al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forme di strutturazione che vanno oltre l'estrazione di singoli valori. La classificazione assegna ogni contenuto a una categoria: il tipo di richiesta, il reparto competente, il tema di un reclamo, il livello di priorità. Le ricorrenze emergono confrontando molti contenuti: quali problemi si ripetono nelle segnalazioni, quali clausole compaiono in tutti i contratti tranne uno, quali argomenti tornano nelle riunioni. Sono utilizzi di grande valore perché permettono di vedere schemi che in una lettura documento per documento sfuggono. Ma richiedono attenzione a tre aspetti. Le categorie devono essere definite bene: se non sono chiare e mutuamente esclusive, il sistema le applicherà in modo incoerente, e anche due persone farebbero lo stesso. Conviene fornire per ogni categoria una definizione e qualche esempio, e prevedere una categoria 'altro' o 'non classificabile', per evitare forzature. La coerenza va controllata: lo stesso tipo di contenuto deve finire sempre nella stessa categoria, anche in documenti elaborati in momenti diversi. I conteggi vanno verificati: se il sistema dice che il 40 per cento dei reclami riguarda le consegne, conviene controllare su un campione, perché i numeri su grandi insiemi sono tra gli errori più difficili da notare.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degli aspetti più importanti dell'estrazione, e uno dei più trascurati, è che cosa succede quando l'informazione cercata non c'è o non è chiara. Il rischio principale è che il sistema, invece di lasciare il campo vuoto, lo riempia con un valore plausibile: una data dedotta, un importo calcolato, un nome preso da un'altra parte del documento. È il comportamento visto nel Tema 3: il sistema tende a produrre una risposta piuttosto che dichiarare che non c'è. In un'estrazione, questo è particolarmente pericoloso, perché un valore inventato in una tabella ha lo stesso aspetto di un valore estratto. La soluzione è definire in anticipo regole esplicite. Se l'informazione non è presente, il campo resta vuoto o riporta 'non presente', mai un valore stimato. Se l'informazione è ambigua, per esempio due date diverse o un importo con e senza IVA, il campo riporta 'ambiguo' con una nota che spiega perché. Se il valore è stato dedotto e non letto, per esempio una scadenza calcolata dalla data di inizio e dalla durata, va segnalato come dedotto. Queste tre etichette rendono visibili i casi da controllare e impediscono che un'incertezza diventi un dato apparentemente 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verifica un'estrazione? Due dimensioni distinte. L'accuratezza: i valori estratti corrispondono a quelli del documento? Errori tipici: cifre invertite, importi con o senza IVA confusi, date in formato diverso interpretate male, come 03/04 letto come 3 aprile o 4 marzo, valori presi dal punto sbagliato del documento, nomi storpiati. La completezza: sono stati estratti tutti i documenti, tutte le righe, tutti i campi? Errori tipici: documenti saltati, righe di una tabella omesse, campi lasciati vuoti anche se l'informazione c'era. Tecniche di controllo pratiche. Controllo a campione: confrontare con gli originali una parte dei record, scelti a caso e tra quelli con valori anomali; se il campione rivela errori, allargare il controllo. Controllo dei conteggi: il numero di record corrisponde al numero di documenti? Le somme tornano con un totale noto? Controllo di plausibilità, come visto nel Tema 7: date future dove non dovrebbero esserci, importi fuori scala, categorie inattese. Controllo dei campi segnalati: tutti i 'non presente', 'ambiguo' e 'dedotto' vanno guardati. Per le estrazioni ripetute nel tempo, una verifica iniziale approfondita può giustificare controlli più leggeri e periodici.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chiave del sottotema merita una slide dedicata: un dato estratto non è automaticamente un dato validato. Tra il momento in cui l'AI produce una tabella e il momento in cui quei dati vengono usati in un processo, in un sistema gestionale o in una decisione, deve esserci un passaggio di controllo. Lo schema in slide mostra il percorso: il documento originale, il dato estratto dall'AI, il dato controllato secondo le tecniche viste, il dato validato per un uso specifico, e infine l'impiego operativo. Il rischio tipico è saltare il passaggio centrale: la tabella sembra ordinata, completa e precisa, e viene usata direttamente. Gli errori, a quel punto, si propagano: un importo sbagliato entra in un report, una scadenza mancata non genera l'avviso, un fornitore classificato male finisce nell'analisi sbagliata. E più ci si allontana dal documento originale, più è difficile accorgersene. Un accorgimento utile è conservare per ogni dato estratto il collegamento al documento e al passaggio da cui proviene: la tracciabilità rende possibile controllare anche a distanza di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8.4. L'estrazione trasforma testi non strutturati in dati utilizzabili: nomi, date, importi, riferimenti, classificazioni, ricorrenze. È una delle possibilità più concrete dell'AI, perché rende sistematicamente usabili informazioni che prima erano solo leggibili. Ma richiede regole per i campi mancanti, ambigui o dedotti, categorie ben definite, controlli di accuratezza e completezza, e soprattutto un passaggio di validazione prima dell'impiego operativo. Esercizio suggerito: preparare cinque o sei email fittizie di clienti, chiedere all'AI di estrarne una tabella con campi definiti, e far controllare ai partecipanti ogni valore, contando errori, campi inventati e campi correttamente segnalati come mancanti.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sottotema del nucleo distintivo: il confronto tra documenti. Mentre l'8.3 lavora su un documento per volta, qui il valore sta nelle relazioni tra documenti diversi: due versioni dello stesso contratto, tre offerte di fornitori, una procedura e il regolamento a cui dovrebbe conformarsi. Confrontare documenti è un'attività lunga, faticosa e soggetta a errori di attenzione quando la si fa a mano, e l'AI può renderla molto più rapida. In questo sottotema, da comprendere e sperimentare, vediamo i principali tipi di confronto, le matrici comparative, l'analisi di contraddizioni e lacune, la distinzione tra differenze formali e sostanziali e la tracciabilità delle differenze.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comprende tre famiglie di confronto, con obiettivi diversi. Il confronto tra versioni di uno stesso documento: che cosa è cambiato tra la bozza di contratto inviata e quella ricevuta dalla controparte? Tra la procedura dell'anno scorso e quella aggiornata? L'obiettivo è identificare le modifiche, e in particolare quelle non dichiarate. Il confronto tra documenti alternativi: tre offerte di fornitori, più proposte progettuali, condizioni di diversi contratti. L'obiettivo è individuare elementi comuni e differenze, per valutare e scegliere. Il confronto tra documenti collegati: una procedura e il regolamento che dovrebbe applicare, un capitolato e l'offerta che dovrebbe rispondervi, un verbale e il piano di progetto. L'obiettivo è trovare contraddizioni, incoerenze e informazioni mancanti. In tutti e tre i casi, l'AI può produrre rapidamente un primo quadro delle differenze. Si noti che per il confronto tra versioni esistono anche strumenti tradizionali, come la funzione di confronto dei programmi di scrittura, che sono esatti sulle modifiche testuali: l'AI aggiunge la capacità di interpretarle, distinguendo quelle rilevanti, e di confrontare documenti con struttura diversa.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versioni è un caso d'uso molto concreto: quando una controparte restituisce un contratto o un accordo, non sempre segnala tutte le modifiche, e controllare a mano un documento di trenta pagine è lungo e soggetto a distrazioni. Gli strumenti tradizionali di confronto mostrano ogni differenza testuale, ma non distinguono un refuso corretto da una clausola modificata, e funzionano male quando il documento è stato riorganizzato o riformattato. L'AI può aiutare in tre modi: elencare le modifiche raggruppandole per importanza, spiegare in linguaggio semplice che cosa cambia in pratica, e segnalare le modifiche che potrebbero avere conseguenze. L'esempio fittizio in slide mostra tre modifiche tra due versioni di un accordo: una formale e due sostanziali, di cui una, il passaggio da 30 a 60 giorni per il pagamento, cambia le condizioni economiche. Due avvertenze. La prima: un elenco di modifiche prodotto dall'AI può non essere completo; per i documenti importanti, conviene usare anche il confronto tradizionale, che è esaustivo sulle differenze testuali. La seconda: la valutazione dell'importanza di una modifica dipende dal contesto, che il sistema conosce solo in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i documenti alternativi, lo strumento più utile è la matrice comparativa: una tabella con i documenti in colonna e i criteri di confronto in riga. L'esempio fittizio in slide confronta tre offerte di fornitori su prezzo, tempi di consegna, garanzia e assistenza. L'AI è molto efficace nel costruire queste matrici, a condizione di definire bene i criteri: se li scegliamo noi, in base a ciò che conta per la decisione, il confronto è mirato; se li lasciamo scegliere al sistema, rischiamo un confronto sui criteri più facili da estrarre, non su quelli più importanti. Tre elementi rendono una matrice affidabile. I riferimenti: ogni cella dovrebbe indicare da quale passaggio del documento deriva il valore. La gestione dei vuoti: se un'offerta non specifica un elemento, la cella deve dirlo, come nell'esempio per l'assistenza del fornitore C, invece di riportare un valore dedotto. La comparabilità: i valori devono essere confrontabili, per esempio prezzi tutti con o tutti senza IVA, tempi tutti in giorni lavorativi o tutti in giorni di calendario. Una matrice che mette accanto valori non omogenei produce un confronto sbagliato con l'aspetto di un confronto preciso.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documenti collegati serve soprattutto a trovare due tipi di problemi. Le contraddizioni: due documenti, o due parti dello stesso documento, che dicono cose incompatibili. Una procedura che prevede un'approvazione in due giorni, mentre il regolamento ne prevede cinque. Un'offerta che indica una garanzia di 24 mesi nella premessa e di 12 nelle condizioni generali. Un verbale che attribuisce un'attività a un reparto diverso da quello del piano di progetto. Le informazioni mancanti: elementi richiesti da un documento e assenti nell'altro. Un capitolato che chiede certificazioni, piano di manutenzione e referenze, e un'offerta che risponde solo sulle prime due. Una procedura che non disciplina un caso previsto dal regolamento. L'AI può essere molto utile qui, perché questi problemi richiedono di tenere a mente molti dettagli e incrociarli, attività in cui l'attenzione umana cala rapidamente. Ma due cautele. Le lacune sono più difficili da trovare delle contraddizioni, come visto nel Tema 7 per le omissioni: conviene fornire esplicitamente l'elenco dei requisiti da controllare. E il sistema può segnalare false contraddizioni, dovute a una lettura imprecisa: ogni contraddizione segnalata va verificata sui due passaggi.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per le trasformazioni nell'8.2, anche nel confronto è essenziale distinguere differenze formali e sostanziali. Le differenze formali riguardano il modo di esprimersi: un sinonimo, un ordine diverso, una formattazione, una numerazione cambiata, un refuso. Le differenze sostanziali riguardano il contenuto: obblighi, importi, scadenze, responsabilità, condizioni, esclusioni. Un buon confronto non elenca tutte le differenze con lo stesso peso: le seleziona, le classifica, e porta in evidenza quelle sostanziali. Altrimenti si ottiene un elenco lunghissimo in cui la modifica decisiva si perde tra decine di cambiamenti irrilevanti, o, al contrario, un elenco breve che ha scartato come formale una modifica sostanziale. Il caso più insidioso è proprio questo: differenze che sembrano formali ma non lo sono. 'Si impegna a' contro 'si adopera per', 'entro' contro 'indicativamente entro', 'il cliente' contro 'il cliente o i suoi incaricati'. Per i confronti importanti, conviene chiedere al sistema di classificare ogni differenza e di motivare la classificazione, e poi controllare in particolare quelle classificate come formali in clausole rilevanti, come obblighi, importi e scadenze.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riprende l'integrazione sulla tracciabilità: le differenze e le conclusioni di un confronto devono poter essere ricondotte ai passaggi dei documenti confrontati. In un confronto la tracciabilità è ancora più importante che in una sintesi, per due ragioni. Primo, i documenti sono più di uno, e il rischio di attribuire un'informazione al documento sbagliato è reale: il sistema può riportare nella colonna del fornitore A una condizione che compare nell'offerta del fornitore B. Secondo, i confronti sono spesso usati per decisioni con conseguenze, come la scelta di un fornitore o l'accettazione di un contratto, e per comunicazioni a terzi, come la richiesta di chiarimenti a un fornitore. Indicare che 'l'offerta B non prevede assistenza' a un fornitore che invece la prevede a pagina 12 è un errore che si paga. Per ogni differenza rilevante, quindi, il confronto dovrebbe indicare i due passaggi a confronto, con il riferimento nel rispettivo documento, così che la differenza si possa verificare affiancandoli. Le conclusioni, come 'l'offerta A è la più completa', dovrebbero indicare su quali differenze si basano.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8.5. L'AI rende molto più rapido il confronto tra versioni, tra documenti alternativi e tra documenti collegati: identifica modifiche, costruisce matrici comparative, trova contraddizioni e lacune. Il valore del confronto dipende da tre condizioni, che il concetto chiave riassume: individuare le differenze rilevanti, non tutte con lo stesso peso; distinguerne la natura, formale o sostanziale, con attenzione a quelle che sembrano formali; permettere di verificarle nelle fonti, con riferimenti ai passaggi di ciascun documento. Esercizio suggerito: preparare due versioni fittizie di un breve accordo, con alcune modifiche formali e due o tre sostanziali, di cui una mascherata da modifica formale, e chiedere ai partecipanti di confrontarle con l'AI e con il confronto tradizionale, valutando che cosa trova ciascun metodo.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alla quarta modalità: recuperare conoscenza. In questo sottotema, da comprendere, guardiamo all'AI come supporto alla ricerca informativa e all'approfondimento di argomenti: trovare fonti, esplorare un tema, organizzare ciò che si è raccolto, preparare dossier. È un uso molto diffuso, che cambia il modo di cercare informazioni rispetto ai motori di ricerca tradizionali. La distinzione centrale del sottotema è tra la conoscenza incorporata nel modello e le informazioni recuperate da fonti esterne, e tra ricerca assistita e verifica delle fonti. Il metodo di verifica l'abbiamo visto nel Tema 7: qui ci concentriamo su come l'AI può sostenere la ricerca, e su che cosa non può garantire.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intervenire in diverse fasi del lavoro di ricerca e approfondimento. Nell'orientamento: capire rapidamente i concetti di base di un argomento nuovo, il lessico, le questioni principali, le domande giuste da porsi. Nell'identificazione di fonti e materiali: suggerire tipi di fonti, enti di riferimento, documenti normativi, parole chiave per la ricerca; con gli strumenti dotati di ricerca web, trovare e citare pagine specifiche. Nell'approfondimento: esplorare un aspetto specifico, chiedere spiegazioni, esempi, collegamenti. Nell'organizzazione: raggruppare le informazioni raccolte per tema, individuare sovrapposizioni e lacune, costruire uno schema. Nella produzione: preparare un dossier, una sintesi tematica, una nota di aggiornamento. Il valore principale è la velocità di orientamento: in pochi minuti si passa da 'non so nulla di questo argomento' a 'so che cosa cercare e dove'. Il limite principale, che svilupperemo, è che velocità di orientamento non significa attendibilità delle informazioni. Alcune funzioni di ricerca approfondita svolgono molte ricerche in sequenza e producono rapporti estesi con molte fonti: utili, ma con le stesse esigenze di verifica.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fondamentale, introdotta nel Tema 2 e qui ripresa per le sue conseguenze pratiche. La conoscenza incorporata nel modello è ciò che il modello ha appreso durante l'addestramento: è vasta, ma ha una data limite, può contenere errori, non ha fonti precise da citare, e quando manca il sistema tende a ricostruire risposte plausibili. Le informazioni recuperate esternamente sono quelle che il sistema ottiene durante la conversazione: da una ricerca web, da documenti caricati, da una base documentale aziendale. Sono più aggiornate, possono essere citate e verificate, ma dipendono dalla qualità delle fonti trovate e dalla correttezza con cui il sistema le legge e le riporta. In pratica, la domanda da porsi davanti a una risposta è: da dove viene questa informazione? Se lo strumento indica le fonti consultate, la risposta si basa almeno in parte su informazioni recuperate, e si può controllare. Se non le indica, la risposta probabilmente viene dalla conoscenza incorporata, e va trattata con più cautela, soprattutto per fatti recenti, dati specifici, norme, prezzi, persone. Molti strumenti combinano le due cose nella stessa risposta, e non sempre distinguono chiaramente quale parte viene da dove.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requisiti delle informazioni trovate, che l'AI non garantisce automaticamente. L'attualità: un'informazione corretta un anno fa può non esserlo oggi. Riguarda in particolare norme e scadenze, prezzi e tariffe, organigrammi e ruoli, prodotti e versioni, dati di mercato, eventi recenti. Se l'informazione viene dalla conoscenza incorporata, può essere superata senza alcun segnale. Se viene da una ricerca, può essere stata trovata in una pagina vecchia. Conviene verificare la data della fonte e, per le informazioni sensibili al tempo, cercare esplicitamente la versione più recente. L'attendibilità: chi ha prodotto l'informazione, con quali competenze e quali interessi? I criteri sono quelli visti nel Tema 7. Qui aggiungiamo un rischio specifico della ricerca assistita: il sistema seleziona e sintetizza le fonti secondo criteri non trasparenti, e può dare lo stesso peso a una fonte istituzionale e a un blog, o presentare come consolidata una posizione che compare in poche fonti. Inoltre la sintesi delle fonti può introdurre le stesse perdite di significato viste nell'8.3. Il risultato è che una risposta con molte fonti citate può sembrare più solida di quanto 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raccolte le informazioni, l'AI è molto utile per organizzarle. Raggruppare per tema: da trenta appunti e documenti sparsi a una struttura per argomenti. Individuare sovrapposizioni, contraddizioni e lacune tra il materiale raccolto, applicando quanto visto nell'8.5. Costruire uno schema o un indice per un documento da produrre. Preparare un dossier: un documento che raccoglie e organizza le informazioni su un tema, per esempio un fornitore, un mercato, una normativa, in vista di una riunione o di una decisione. Preparare sintesi tematiche: note di aggiornamento periodiche su un argomento. Il modo più affidabile di farlo, coerente con quanto detto finora, è separare le fasi: prima raccogliere le fonti e verificarne attendibilità e attualità; poi fornire al sistema il materiale raccolto e chiedergli di organizzarlo, citando le fonti per ogni punto; infine rivedere il risultato. In questo modo il dossier si basa su fonti scelte e controllate, e non sulla conoscenza incorporata del modello. Un buon dossier dichiara le sue fonti, la data a cui è aggiornato e i punti che restano incerti o da approfondire.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uso prezioso dell'AI nella ricerca è il confronto tra fonti e prospettive. Su molti argomenti, specialmente quelli complessi o dibattuti, esistono posizioni diverse: interpretazioni diverse di una norma, valutazioni diverse di una tecnologia, previsioni diverse su un mercato. Il sistema può aiutare a mappare queste posizioni, a individuare su che cosa concordano e su che cosa divergono, e a capire su quali assunzioni si basano. È un modo efficace per evitare di fermarsi alla prima fonte trovata, che è una forma del bias di conferma visto nel Tema 7. Ma ci sono tre cautele. Primo, il sistema tende a produrre un quadro equilibrato in apparenza, che può dare lo stesso peso a una posizione largamente condivisa e a una minoritaria, o al contrario ignorare posizioni minoritarie ma rilevanti. Secondo, la presentazione delle posizioni può semplificarle o deformarle: conviene risalire alle fonti delle posizioni più rilevanti per la decisione. Terzo, come per la generazione, il modo in cui poniamo la domanda può orientare la risposta: chiedere 'quali sono i vantaggi di' produce un quadro diverso da 'quali sono le valutazioni 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è una distinzione che riprende il Tema 7: la ricerca assistita non è una verifica delle fonti. Quando il sistema trova e cita fonti, ha svolto una ricerca: ha individuato pagine o documenti che ritiene pertinenti e ne ha riportato il contenuto. Ma non ha verificato che le fonti siano attendibili, aggiornate, e che sostengano davvero ciò che la risposta afferma. Queste verifiche restano a chi usa il risultato, con l'intensità proporzionata all'uso. In particolare, i problemi visti nel Tema 7 si presentano anche qui: fonti citate che non contengono l'affermazione attribuita, fonti che la contengono con condizioni diverse, fonti esistenti ma poco attendibili. La ricerca assistita sposta il lavoro, non lo elimina: riduce molto il tempo per trovare il materiale, e lascia il tempo per valutarlo. Il rischio è che la comodità di una risposta già accompagnata da fonti faccia saltare proprio quel passaggio. Il concetto chiave del sottotema lo dice chiaramente: l'AI sostiene la ricerca, senza rendere automaticamente attendibili le informazioni trovate o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8.6. L'AI accelera molto l'orientamento su un argomento, la ricerca di fonti, l'approfondimento, l'organizzazione del materiale e la preparazione di dossier. Ma bisogna distinguere la conoscenza incorporata nel modello dalle informazioni recuperate esternamente, controllare attualità e attendibilità, leggere con cautela i quadri di sintesi su posizioni diverse, e ricordare che la ricerca assistita non è una verifica delle fonti. Esercizio suggerito: scegliere un argomento professionale con aspetti recenti, porre la stessa domanda a uno strumento senza ricerca web e a uno con ricerca web, e confrontare le risposte per attualità, fonti indicate e affermazioni verificabili.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del nucleo distintivo: la gestione della conoscenza. Mentre l'8.6 riguardava la ricerca su fonti esterne, qui guardiamo al patrimonio documentale dell'organizzazione: procedure, manuali, contratti, documentazione tecnica, verbali, FAQ. Le aziende producono enormi quantità di documenti, ma spesso trovare la risposta giusta al momento giusto resta difficile. L'AI apre una possibilità nuova: interrogare una raccolta documentale in linguaggio naturale, come si farebbe con un collega esperto. In questo sottotema, da comprendere nelle sue opportunità, vediamo che cosa significa, quali condizioni servono perché funzioni, e perché un archivio non è automaticamente conoscenza interrogabile. Gli aspetti tecnici, come l'architettura RAG vista nel Tema 2, restano solo accennati; la progettazione di questi sistemi in azienda appartiene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 quattro concetti che nel linguaggio comune si confondono, ma che è utile distinguere. I dati sono elementi elementari, come un numero, una data, un codice: '45', '12/03', 'ORD-4471'. Le informazioni sono dati con un significato e un contesto: 'l'ordine 4471 è stato consegnato il 12 marzo con 45 giorni di ritardo'. I documenti sono contenitori organizzati di informazioni, prodotti per uno scopo: un contratto, una procedura, un verbale, un manuale. La conoscenza è la capacità di usare le informazioni per capire, decidere e agire: sapere che cosa fare quando un ordine arriva in ritardo, quale clausola applicare, chi contattare, quali eccezioni esistono. In azienda, gran parte della conoscenza è distribuita: in parte nei documenti, in parte nelle persone, nella loro esperienza e nelle pratiche consolidate. La gestione della conoscenza si occupa di renderla accessibile a chi ne ha bisogno. L'AI interviene in questo passaggio: può aiutare a trovare e collegare le informazioni contenute nei documenti, e a presentarle in risposta a una domanda. Ma la conoscenza non scritta, o scritta male, resta fuori dalla sua portata.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l'integrazione D del tema, ed è forse il messaggio più importante per chi pensa di introdurre in azienda un assistente basato sulla documentazione: possedere un archivio di documenti non equivale a poterlo interrogare in modo affidabile. Un archivio documentale è una raccolta di file, organizzata per cartelle o in un sistema di gestione: si cerca un documento, lo si apre, lo si legge. La conoscenza interrogabile è una raccolta su cui si può porre una domanda e ottenere una risposta corretta, basata sui documenti pertinenti e collegata ad essi. Il passaggio dall'uno all'altro non avviene semplicemente collegando un sistema AI all'archivio. Contano cinque condizioni. La reperibilità: i documenti giusti devono poter essere trovati dal sistema. La struttura: documenti chiari, con titoli, sezioni e informazioni esplicite, funzionano meglio di documenti confusi. L'aggiornamento: se l'archivio contiene versioni superate, il sistema può rispondere in base a quelle. La qualità: documenti contraddittori, incompleti o scritti male producono risposte contraddittorie, incomplete o sbagliate. La possibilità di verifica: le risposte devono rimandare ai documenti originali. In sintesi: l'AI rende interrogabile un archivio nella misura in cui l'archivio è già ben 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entrare nell'architettura tecnica, che il documento di perimetro chiede solo di accennare, è utile capire dal punto di vista dell'utilizzatore che cosa succede quando si interroga una raccolta documentale. Il funzionamento tipico, che nel Tema 2 abbiamo chiamato RAG, avviene in due passaggi. Primo, il recupero: a partire dalla domanda, il sistema cerca nella raccolta i passaggi più pertinenti. Secondo, la generazione: il modello produce una risposta basandosi su quei passaggi, e idealmente li cita. Questa semplice descrizione spiega molti comportamenti che l'utente osserva. Se il recupero non trova il passaggio giusto, perché la domanda usa parole diverse dal documento o perché il documento è mal strutturato, la risposta sarà incompleta o sbagliata, anche se l'informazione è nella raccolta. Se il recupero trova passaggi di documenti superati, la risposta sarà superata. Se il recupero non trova nulla di pertinente, un buon sistema dovrebbe dirlo, ma alcuni rispondono comunque con la conoscenza generale del modello. E se la generazione riporta male i passaggi trovati, la risposta sarà sbagliata nonostante il recupero corretto. Per l'utente, la conseguenza pratica è una: controllare i passaggi citati, non solo la risposta.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assistenti basati sulla documentazione sono strumenti che permettono di interrogare in linguaggio naturale una raccolta definita di documenti. Le opportunità sono concrete. Un assistente sulle procedure interne risponde a domande come 'come si richiede un rimborso spese per una trasferta all'estero?'. Un assistente sulla documentazione tecnica aiuta il servizio di assistenza a trovare la soluzione a un problema descritto dal cliente. Un assistente sulle condizioni contrattuali aiuta il commerciale a rispondere a domande su garanzie e tempi. Un assistente per l'inserimento dei nuovi colleghi raccoglie regole, contatti e prassi. Il valore è di ridurre il tempo per trovare le informazioni, rendere accessibile la conoscenza anche a chi non sa dove cercare, e alleggerire le persone esperte dalle domande ripetitive. Molti strumenti di uso comune permettono già oggi di creare piccoli assistenti su un insieme di documenti, mentre le soluzioni aziendali su larga scala richiedono progettazione, integrazione e gestione dei permessi, temi che appartengono al Tema 14. La progettazione di assistenti e agenti che svolgono azioni appartiene invece al Tema 11. Qui ci interessa che cosa possono offrire, e a quali condizioni.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riprende l'integrazione sulla tracciabilità: l'accesso alla conoscenza è più controllabile quando la risposta rimanda ai documenti e ai passaggi rilevanti. L'esempio fittizio in slide mostra una risposta di un assistente sulle procedure interne. La risposta indica il documento, la versione, la sezione, e riporta il passaggio. Questo permette all'utente tre cose. Verificare rapidamente che la risposta corrisponda a ciò che dice il documento. Controllare che il documento sia quello giusto e aggiornato: in questo caso la versione e la data. Approfondire, leggendo il contesto del passaggio, che spesso contiene condizioni ed eccezioni che la risposta ha omesso. Una risposta senza riferimenti, invece, non permette di distinguere un'informazione tratta dalla documentazione aziendale da un'informazione generica prodotta dal modello. Per chi valuta o sceglie uno strumento di questo tipo, la presenza di riferimenti precisi e cliccabili è un requisito importante. Per chi lo usa, la buona pratica è aprire il riferimento ogni volta che la risposta servirà per una decisione o un'azione con conseguenze.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aspetto spesso sottovalutato della conoscenza interrogabile è il tempo. Le procedure cambiano, i listini si aggiornano, i contratti vengono rinnovati, le persone cambiano ruolo. Un archivio che contiene più versioni dello stesso documento, senza indicare quale è valida, è un problema già per una persona; per un sistema AI lo è di più, perché il recupero può trovare il passaggio della versione vecchia, magari perché è scritto in modo più simile alla domanda, e la risposta viene presentata con la stessa sicurezza. Il risultato è un'informazione superata, con l'aspetto di un'informazione aggiornata e documentata. Alcune condizioni rendono la raccolta più affidabile nel tempo. Chiarezza sulla versione valida: documenti superati rimossi o chiaramente marcati come tali. Date e numeri di versione visibili nei documenti. Responsabilità definite per l'aggiornamento di ciascun documento. Riesami periodici della raccolta. Per l'utente, il comportamento pratico è controllare la versione e la data del documento citato, specialmente per regole, prezzi e scadenze. Le modalità con cui l'azienda gestisce questi processi appartengono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le condizioni necessarie per ottenere risposte utili da una raccolta documentale, che il sottotema chiede di comprendere. Sul lato dei documenti: contenuti corretti, aggiornati e non contraddittori; una struttura chiara, con titoli e sezioni che rendano facile trovare le informazioni; informazioni esplicite, perché ciò che è dato per scontato o è solo nella testa delle persone non può essere recuperato; formati leggibili, tema dell'8.8. Sul lato della raccolta: un perimetro chiaro, cioè sapere quali documenti contiene e quali no; versioni gestite; permessi coerenti, perché ciascuno dovrebbe poter interrogare solo ciò che è autorizzato a vedere. Sul lato dell'uso: domande chiare e specifiche, che usino quando possibile il lessico dei documenti; consapevolezza del perimetro, perché se la risposta non è nella raccolta il sistema potrebbe comunque rispondere; controllo dei riferimenti per le risposte con conseguenze. Il concetto chiave lo riassume: l'AI agevola l'accesso, ma non risolve da sola i problemi di organizzazione e qualità della conoscenza. Anzi, spesso li rende più visibili.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8.7. L'AI permette di interrogare raccolte documentali in linguaggio naturale, con assistenti sulle procedure, sulla documentazione tecnica, sulle condizioni contrattuali. È una possibilità di grande valore. Ma un archivio non è automaticamente conoscenza interrogabile: servono reperibilità, struttura, aggiornamento, qualità e possibilità di verifica. Il funzionamento in due passaggi, recupero e generazione, spiega perché le risposte possono essere incomplete, superate o sbagliate anche quando l'informazione è nella raccolta. Le risposte collegate ai documenti, con versione e passaggio, rendono l'accesso controllabile. Esercizio suggerito: se in azienda è disponibile uno strumento autorizzato per creare un piccolo assistente su documenti, caricare alcune procedure fittizie, di cui una in due versioni contraddittorie, e osservare come risponde alle domande, verificando i riferimenti.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di consapevolezza critica, che attraversa tutte le modalità. Nei sottotemi precedenti abbiamo incontrato più volte limiti specifici: perdite di significato, riferimenti imprecisi, campi inventati, versioni superate. Qui li mettiamo insieme e li guardiamo dal punto di vista delle condizioni di efficacia: da che cosa dipende il fatto che un'elaborazione documentale funzioni bene o male. Non ripetiamo la teoria generale delle allucinazioni e dell'affidabilità del Tema 3: ne consideriamo gli effetti specifici sui documenti. E concludiamo con il principio dei controlli proporzionati all'uso, applicato al lavoro documentale.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chiave del sottotema contiene un'osservazione che vale la pena mettere all'inizio: poter caricare un documento non garantisce che il sistema ne abbia elaborato tutte le parti, interpretato correttamente il contenuto e preservato il significato. Quando carichiamo un file e otteniamo una risposta sicura e ben organizzata, tendiamo a pensare che il sistema abbia letto il documento come lo leggeremmo noi, tutto e con attenzione. Non è necessariamente così, per diversi motivi che vedremo. Il file può essere stato convertito in testo in modo incompleto: le tabelle possono essere state appiattite, le immagini ignorate, le scansioni lette male. Il documento può essere troppo lungo per essere elaborato interamente, oppure alcune parti possono ricevere meno attenzione di altre. Alcuni strumenti, con documenti molto grandi, ne usano solo i passaggi ritenuti pertinenti alla domanda. E anche quando il testo è tutto disponibile, l'interpretazione può essere sbagliata. Il problema è che nulla di tutto questo è visibile nella risposta. La risposta ha sempre lo stesso aspetto, sicuro e completo, sia quando il sistema ha elaborato tutto, sia quando ne ha elaborato una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condizione di efficacia riguarda i documenti di partenza. Un principio noto nell'informatica dice: se entra spazzatura, esce spazzatura. Vale anche qui, con una differenza importante: con l'AI, da documenti di scarsa qualità esce un risultato che non sembra spazzatura, perché è ben scritto e ben organizzato. Che cosa rende un documento adatto all'elaborazione? Un contenuto corretto, completo e coerente: se il documento contiene errori o contraddizioni, il sistema li riporterà, o sceglierà una delle versioni contraddittorie senza segnalarlo. Una struttura chiara: titoli, sezioni, numerazione, paragrafi con un tema ciascuno. Il linguaggio esplicito: abbreviazioni non spiegate, riferimenti impliciti come 'come concordato' o 'la solita procedura' non sono interpretabili. Un formato digitale nativo, cioè un file prodotto da un programma di scrittura, piuttosto che una scansione. Documenti con queste caratteristiche producono risultati migliori, sono più facili da controllare, e sono gli stessi che funzionano meglio anche per i lettori umani. Migliorare la qualità dei documenti è quindi un investimento che vale doppio.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formato del documento incide molto sulla qualità dell'elaborazione. Un documento digitale nativo, come un file Word o un PDF prodotto da un programma, contiene il testo in forma leggibile dal computer. Un documento scansionato è invece un'immagine: per elaborarlo, il testo deve essere riconosciuto, con tecniche di riconoscimento ottico o con le capacità visive dei modelli multimodali. Il riconoscimento può sbagliare, specialmente con scansioni di bassa qualità, scritture a mano, timbri, firme, caratteri piccoli, documenti storti o macchiati. E un errore di riconoscimento su una cifra cambia un importo. Anche nei documenti digitali, alcune parti sono più difficili del testo continuo. Le tabelle: possono essere lette riga per riga in modo corretto, oppure appiattite, con le celle mescolate e i valori associati alle intestazioni sbagliate. Le immagini e i grafici: a seconda dello strumento possono essere ignorati, descritti in modo generico o interpretati in modo impreciso. Le impaginazioni complesse: testo su più colonne, note a piè di pagina, riquadri, intestazioni ripetute, possono essere lette nell'ordine sbagliato. La multimodalità in sé appartiene al Tema 10: qui ci interessa il suo impatto sulla lettura dei documenti.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limite specifico riguarda i contenuti molto lunghi. Anche se i sistemi attuali accettano documenti di centinaia di pagine, la lunghezza crea tre problemi. Il primo è il limite di contesto, visto nel Tema 2: oltre una certa dimensione, il documento non può essere considerato tutto insieme, e lo strumento ne usa solo una parte, o lo elabora a pezzi, spesso senza avvisare. Il secondo è l'attenzione non uniforme: studi sui modelli linguistici, come quello di Liu e colleghi sul fenomeno chiamato 'lost in the middle', hanno mostrato che le informazioni nella parte centrale di testi lunghi tendono a essere usate meno di quelle all'inizio e alla fine. I modelli più recenti hanno migliorato questo aspetto, ma non lo hanno eliminato. Il terzo è la copertura: in una sintesi o in un'analisi di un documento lungo, alcune sezioni possono essere trattate in dettaglio e altre ignorate, senza che la risposta lo dica. Per valutare la copertura, alcune tecniche pratiche: chiedere una sintesi per sezioni, che rende visibile se una sezione manca; porre domande mirate su parti specifiche, specialmente centrali; per i documenti lunghi e importanti, elaborarli per parti, con richieste distinte, e poi ricomporre.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Altri due limiti, frequenti nella documentazione aziendale. Il linguaggio tecnico e specialistico: documenti giuridici, tecnici, medici, finanziari usano termini con significati precisi, spesso diversi dal significato comune. 'Risoluzione' in un contratto, 'tolleranza' in una specifica tecnica, 'competenza' in contabilità. Il sistema conosce molti linguaggi specialistici, ma può interpretare un termine nel senso comune, confondere termini vicini, o non conoscere il gergo specifico di un settore o di un'azienda, con le sue sigle e i suoi codici. Il risultato può essere una sintesi scorrevole e sbagliata, difficile da riconoscere per chi non è esperto. Per questo, sui documenti specialistici, la revisione di chi conosce la materia resta indispensabile, come visto nel Tema 7. I riferimenti puntuali: come visto nell'8.3, i sistemi possono indicare articoli, pagine o sezioni in modo impreciso. La precisione dipende dallo strumento e dal formato: alcuni strumenti mostrano il passaggio esatto, altri ricostruiscono il riferimento in modo approssimativo. I numeri di pagina sono particolarmente fragili, perché la numerazione del documento può non coincidere con quella del file. Per i riferimenti importanti, aprire il documento nel punto indicato resta l'unico controllo affidabile.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in chiusura, ai rischi che attraversano tutto il tema: omissioni e alterazioni. L'integrazione C, già vista nell'8.3, viene ripresa qui in forma generale: la riduzione o trasformazione di un documento può nascondere elementi decisivi anche quando il risultato appare scorrevole e ben organizzato. Le omissioni sono elementi presenti nel documento e assenti nel risultato: una condizione, un'eccezione, un rischio, una sezione intera. Le alterazioni sono elementi presenti in entrambi, ma con un significato diverso: un obbligo attenuato, un'incertezza trasformata in certezza, un importo cambiato, un'attribuzione spostata. Si aggiungono le aggiunte: elementi presenti nel risultato e assenti nel documento, dedotti o inventati dal sistema. In tutte le modalità del tema ritroviamo questi tre rischi in forme diverse: nella trasformazione dei testi, nella sintesi, nell'estrazione, nel confronto, nella consultazione documentale. Il denominatore comune è che sono difficili da vedere guardando solo il risultato. Si vedono confrontandolo con l'originale, sapendo che cosa cercare. Per questo la tracciabilità, che abbiamo incontrato in quasi tutti i sottotemi, non è un dettaglio tecnico: è la condizione che rende possibile il controllo.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è la necessità di controlli proporzionati all'utilizzo previsto, il principio che abbiamo sviluppato nel Tema 7 e che qui applichiamo al lavoro documentale. Non ogni elaborazione richiede lo stesso controllo. La matrice in slide propone tre livelli. Per orientarsi, cioè per capire di che cosa parla un documento, decidere se leggerlo, prepararsi a una riunione, basta una lettura critica del risultato: è plausibile, manca qualcosa di ovvio? Per lavorare, cioè quando il risultato serve per un'attività interna, come una bozza, un'analisi preliminare, una tabella di lavoro, conviene controllare a campione e sui punti critici, usando i riferimenti. Per decidere o comunicare all'esterno, cioè quando il risultato sostituisce la lettura dell'originale per una decisione con conseguenze, o arriva a clienti, fornitori, enti, serve un controllo sistematico sugli elementi critici, con il confronto con l'originale e, se necessario, la revisione di un esperto. Due fattori alzano il livello: documenti di qualità incerta, come scansioni o documenti lunghi e complessi, e contenuti specialistici o con valore legale.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L'efficacia dell'elaborazione documentale dipende dalla qualità e dalla struttura dei documenti, dal formato, dalla presenza di tabelle, immagini e impaginazioni complesse, dalla lunghezza, dal linguaggio specialistico. Omissioni, alterazioni e aggiunte attraversano tutte le modalità e sono difficili da vedere guardando solo il risultato. Per questo servono tracciabilità e controlli proporzionati all'uso. Esercizio suggerito: caricare in uno strumento autorizzato un documento fittizio con una tabella, una nota a piè di pagina e una sezione centrale contenente un'informazione chiave, e verificare con domande mirate che cosa il sistema ha effettivamente elaborato.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undici domande guida. Attività oltre la scrittura: trasformare, sintetizzare, estrarre, confrontare, ricercare, consultare raccolte documentali. Generare o trasformare: trasformare quando esiste materiale corretto, perché riduce le invenzioni e offre un originale per il controllo. Sintetizzare senza perdere condizioni: dichiarare lo scopo, chiedere riferimenti e un elenco separato di condizioni ed eccezioni. Sintesi o estrazione: la prima produce un testo da leggere, la seconda dati da usare, con controllo campo per campo. Confrontare documenti: riferimenti a entrambi i passaggi, differenze classificate per natura. Ricerca o raccolta: fonti esterne da verificare, oppure documenti dell'organizzazione con risposte collegate. Raccolta interrogabile: reperibilità, struttura, aggiornamento, qualità, verificabilità. Dal non strutturato ai dati: campi definiti, regole per i mancanti, validazione prima dell'uso. Formati e lunghezza: conversione, attenzione non uniforme, copertura. Sintesi fedele: confronto con l'originale sugli elementi decisivi. Quando risalire alle fonti: in proporzione all'uso, sempre quando il risultato sostituisce l'originale.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riconoscere le possibilità dell'AI per testi e documenti; distinguere generazione, trasformazione, analisi ed estrazione; comprendere opportunità e limiti nella redazione e revisione; identificare utilizzi nella sintesi e nell'analisi documentale; comprendere come ottenere dati strutturati da informazioni non strutturate; riconoscere modalità di confronto tra documenti e versioni; distinguere ricerca informativa e interrogazione di una raccolta documentale; comprendere il potenziale della conoscenza documentale interrogabile; riconoscere l'importanza della tracciabilità verso le fonti originali; individuare rischi di omissione, perdita di significato e interpretazione errata; comprendere come qualità dei file, formati e complessità incidano sull'elaborazione; riconoscere quando serve una verifica più approfondita.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organizzata per modalità. Produrre: fornire il materiale di partenza, indicare destinatario e tono, scegliere il livello di supervisione in base alle conseguenze e alla visibilità del testo. Trasformare: partire da materiale corretto, dichiarare le modifiche ammesse, confrontare con l'originale gli elementi che non devono cambiare. Analizzare e strutturare: dichiarare lo scopo della sintesi, chiedere riferimenti ai passaggi, definire campi e regole per i mancanti nelle estrazioni, classificare le differenze nei confronti, validare prima dell'uso. Recuperare conoscenza: chiedersi da dove viene l'informazione, controllare attualità e attendibilità, aprire i riferimenti, controllare versione e data dei documenti. E per tutte le modalità: caricare i documenti solo negli strumenti autorizzati; tenere presenti i limiti di formato, lunghezza e linguaggio; proporzionare i controlli all'uso. Non confondere un'elaborazione convincente con un'elaborazione completa e verificata: è il messaggio centrale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errori tipici nel lavoro su testi e documenti, uno per ciascuno dei principali messaggi del modulo. Primo: generare da zero quando esiste già un testo con i contenuti corretti. Trasformare il materiale esistente riduce le invenzioni e rende il controllo più semplice. Secondo: pensare che una sintesi sia fedele perché ogni frase è vera. Le perdite di significato stanno in ciò che manca: condizioni, eccezioni, incertezze. Terzo: usare un dato estratto come se fosse già validato. Gli errori di estrazione si propagano nei fogli di calcolo, nei report, nelle decisioni. Quarto: credere che l'AI abbia trovato tutte le differenze tra due versioni. L'elenco può essere incompleto, e per i documenti importanti serve anche il confronto tradizionale. Quinto: pensare che basti collegare l'AI all'archivio. Senza documenti aggiornati, strutturati e con le versioni gestite, le risposte ereditano il disordine. Sesto: dare per scontato che un documento caricato sia stato letto tutto. Conversione, attenzione e copertura possono fallire senza segnali. Suggerimento: chiedere ai partecipanti quale di questi errori vedono più spesso nel proprio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8 si apre l'area 'Esplorare le possibilità dell'AI', che guarda a che cosa si può fare concretamente con l'AI nei diversi ambiti di lavoro. Abbiamo iniziato dai testi, dai documenti e dalla conoscenza, perché è l'ambito più maturo e più trasversale. Il tema successivo, il Tema 9, è dedicato all'AI per dati e analisi: preparazione, elaborazione, analisi, interpretazione e rappresentazione dei dati. È il naturale proseguimento dell'8.4: abbiamo visto come trasformare testi in dati strutturati, ora vedremo come analizzarli. I documenti di perimetro richiamano poi altri temi dell'area e del percorso: l'AI multimodale, nel Tema 10; assistenti, agenti e automazioni, nel Tema 11, dove torneranno gli assistenti documentali e i flussi di estrazione automatica; AI, dati e conoscenza aziendale, nel Tema 14, dove si affronta la progettazione dei sistemi di conoscenza in azienda. In tutti questi temi resteranno validi i principi di questo modulo: fedeltà del significato, completezza, tracciabilità verso le fonti.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Lo studio di Liu e colleghi è già presentato nel Tema 2; il lavoro di Lewis e colleghi introduce l'architettura RAG, qui solo accennata e approfondita nel Tema 14. Il modulo si basa soprattutto sull'esperienza pratica dell'uso dell'AI su testi e documenti, che evolve rapidamente: le capacità degli strumenti nella gestione di documenti lunghi, tabelle e scansioni migliorano di continuo. Prima di ogni edizione è consigliabile verificare le funzionalità degli strumenti autorizzati in azienda, e aggiornare gli esempi di conseguenza. Gli esempi usati nelle slide sono tutti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4.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4.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4.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4.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4.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4.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4.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4.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slideLayout" Target="../slideLayouts/slideLayout4.xml"/><Relationship Id="rId8"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8</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per testi, documenti e conoscenza</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Esplorare le possibilità dell'AI</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Conoscere le possibilità dell'AI su testi e documenti</a:t>
            </a:r>
            <a:endParaRPr lang="en-US" sz="1400" dirty="0"/>
          </a:p>
          <a:p>
            <a:pPr marL="177800" indent="-177800">
              <a:spcAft>
                <a:spcPts val="600"/>
              </a:spcAft>
              <a:buSzPct val="100000"/>
              <a:buChar char="•"/>
            </a:pPr>
            <a:r>
              <a:rPr lang="en-US" sz="1400" dirty="0">
                <a:solidFill>
                  <a:schemeClr val="tx2"/>
                </a:solidFill>
              </a:rPr>
              <a:t>Distinguere produrre, trasformare, analizzare, estrarre</a:t>
            </a:r>
            <a:endParaRPr lang="en-US" sz="1400" dirty="0"/>
          </a:p>
          <a:p>
            <a:pPr marL="177800" indent="-177800">
              <a:spcAft>
                <a:spcPts val="600"/>
              </a:spcAft>
              <a:buSzPct val="100000"/>
              <a:buChar char="•"/>
            </a:pPr>
            <a:r>
              <a:rPr lang="en-US" sz="1400" dirty="0">
                <a:solidFill>
                  <a:schemeClr val="tx2"/>
                </a:solidFill>
              </a:rPr>
              <a:t>Riconoscere opportunità, condizioni di efficacia e limiti</a:t>
            </a:r>
            <a:endParaRPr lang="en-US" sz="1400" dirty="0"/>
          </a:p>
        </p:txBody>
      </p:sp>
      <p:sp>
        <p:nvSpPr>
          <p:cNvPr id="9" name="scheda Da che cosa dipende il valore"/>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Da che cosa dipende il valore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Qualità delle fonti</a:t>
            </a:r>
            <a:endParaRPr lang="en-US" sz="1400" dirty="0"/>
          </a:p>
          <a:p>
            <a:pPr marL="177800" indent="-177800">
              <a:spcAft>
                <a:spcPts val="600"/>
              </a:spcAft>
              <a:buSzPct val="100000"/>
              <a:buChar char="•"/>
            </a:pPr>
            <a:r>
              <a:rPr lang="en-US" sz="1400" dirty="0">
                <a:solidFill>
                  <a:schemeClr val="tx2"/>
                </a:solidFill>
              </a:rPr>
              <a:t>Fedeltà dell'elaborazione</a:t>
            </a:r>
            <a:endParaRPr lang="en-US" sz="1400" dirty="0"/>
          </a:p>
          <a:p>
            <a:pPr marL="177800" indent="-177800">
              <a:spcAft>
                <a:spcPts val="600"/>
              </a:spcAft>
              <a:buSzPct val="100000"/>
              <a:buChar char="•"/>
            </a:pPr>
            <a:r>
              <a:rPr lang="en-US" sz="1400" dirty="0">
                <a:solidFill>
                  <a:schemeClr val="tx2"/>
                </a:solidFill>
              </a:rPr>
              <a:t>Tracciabilità delle informazioni</a:t>
            </a:r>
            <a:endParaRPr lang="en-US" sz="1400" dirty="0"/>
          </a:p>
          <a:p>
            <a:pPr marL="177800" indent="-177800">
              <a:spcAft>
                <a:spcPts val="600"/>
              </a:spcAft>
              <a:buSzPct val="100000"/>
              <a:buChar char="•"/>
            </a:pPr>
            <a:r>
              <a:rPr lang="en-US" sz="1400" dirty="0">
                <a:solidFill>
                  <a:schemeClr val="tx2"/>
                </a:solidFill>
              </a:rPr>
              <a:t>Capacità di verificarne l'adeguatezza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Undici domande guida</a:t>
            </a:r>
            <a:endParaRPr lang="en-US" sz="2600" dirty="0"/>
          </a:p>
        </p:txBody>
      </p:sp>
      <p:sp>
        <p:nvSpPr>
          <p:cNvPr id="4" name="domanda 1"/>
          <p:cNvSpPr/>
          <p:nvPr/>
        </p:nvSpPr>
        <p:spPr>
          <a:xfrm>
            <a:off x="457200" y="1051560"/>
            <a:ext cx="1961388" cy="987552"/>
          </a:xfrm>
          <a:prstGeom prst="roundRect">
            <a:avLst>
              <a:gd name="adj" fmla="val 7407"/>
            </a:avLst>
          </a:prstGeom>
          <a:solidFill>
            <a:schemeClr val="bg2"/>
          </a:solidFill>
          <a:ln/>
        </p:spPr>
      </p:sp>
      <p:sp>
        <p:nvSpPr>
          <p:cNvPr id="5" name="Text 2"/>
          <p:cNvSpPr txBox="1"/>
          <p:nvPr/>
        </p:nvSpPr>
        <p:spPr>
          <a:xfrm>
            <a:off x="594360" y="114300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54480"/>
            <a:ext cx="1732788" cy="438912"/>
          </a:xfrm>
          <a:prstGeom prst="rect">
            <a:avLst/>
          </a:prstGeom>
          <a:noFill/>
          <a:ln/>
        </p:spPr>
        <p:txBody>
          <a:bodyPr wrap="square" lIns="0" tIns="0" rIns="0" bIns="0" rtlCol="0" anchor="t"/>
          <a:lstStyle/>
          <a:p>
            <a:pPr indent="0" marL="0">
              <a:buNone/>
            </a:pPr>
            <a:r>
              <a:rPr lang="en-US" sz="1100" dirty="0">
                <a:solidFill>
                  <a:schemeClr val="tx1"/>
                </a:solidFill>
              </a:rPr>
              <a:t>Quali attività sui testi oltre alla scrittura?</a:t>
            </a:r>
            <a:endParaRPr lang="en-US" sz="1100" dirty="0"/>
          </a:p>
        </p:txBody>
      </p:sp>
      <p:sp>
        <p:nvSpPr>
          <p:cNvPr id="7" name="domanda 2"/>
          <p:cNvSpPr/>
          <p:nvPr/>
        </p:nvSpPr>
        <p:spPr>
          <a:xfrm>
            <a:off x="2546604" y="1051560"/>
            <a:ext cx="1961388" cy="987552"/>
          </a:xfrm>
          <a:prstGeom prst="roundRect">
            <a:avLst>
              <a:gd name="adj" fmla="val 7407"/>
            </a:avLst>
          </a:prstGeom>
          <a:solidFill>
            <a:schemeClr val="bg2"/>
          </a:solidFill>
          <a:ln/>
        </p:spPr>
      </p:sp>
      <p:sp>
        <p:nvSpPr>
          <p:cNvPr id="8" name="Text 5"/>
          <p:cNvSpPr txBox="1"/>
          <p:nvPr/>
        </p:nvSpPr>
        <p:spPr>
          <a:xfrm>
            <a:off x="2683764" y="114300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554480"/>
            <a:ext cx="1732788" cy="438912"/>
          </a:xfrm>
          <a:prstGeom prst="rect">
            <a:avLst/>
          </a:prstGeom>
          <a:noFill/>
          <a:ln/>
        </p:spPr>
        <p:txBody>
          <a:bodyPr wrap="square" lIns="0" tIns="0" rIns="0" bIns="0" rtlCol="0" anchor="t"/>
          <a:lstStyle/>
          <a:p>
            <a:pPr indent="0" marL="0">
              <a:buNone/>
            </a:pPr>
            <a:r>
              <a:rPr lang="en-US" sz="1100" dirty="0">
                <a:solidFill>
                  <a:schemeClr val="tx1"/>
                </a:solidFill>
              </a:rPr>
              <a:t>Quando generare e quando trasformare un testo esistente?</a:t>
            </a:r>
            <a:endParaRPr lang="en-US" sz="1100" dirty="0"/>
          </a:p>
        </p:txBody>
      </p:sp>
      <p:sp>
        <p:nvSpPr>
          <p:cNvPr id="10" name="domanda 3"/>
          <p:cNvSpPr/>
          <p:nvPr/>
        </p:nvSpPr>
        <p:spPr>
          <a:xfrm>
            <a:off x="4636008" y="1051560"/>
            <a:ext cx="1961388" cy="987552"/>
          </a:xfrm>
          <a:prstGeom prst="roundRect">
            <a:avLst>
              <a:gd name="adj" fmla="val 7407"/>
            </a:avLst>
          </a:prstGeom>
          <a:solidFill>
            <a:schemeClr val="bg2"/>
          </a:solidFill>
          <a:ln/>
        </p:spPr>
      </p:sp>
      <p:sp>
        <p:nvSpPr>
          <p:cNvPr id="11" name="Text 8"/>
          <p:cNvSpPr txBox="1"/>
          <p:nvPr/>
        </p:nvSpPr>
        <p:spPr>
          <a:xfrm>
            <a:off x="4773168" y="114300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554480"/>
            <a:ext cx="1732788" cy="438912"/>
          </a:xfrm>
          <a:prstGeom prst="rect">
            <a:avLst/>
          </a:prstGeom>
          <a:noFill/>
          <a:ln/>
        </p:spPr>
        <p:txBody>
          <a:bodyPr wrap="square" lIns="0" tIns="0" rIns="0" bIns="0" rtlCol="0" anchor="t"/>
          <a:lstStyle/>
          <a:p>
            <a:pPr indent="0" marL="0">
              <a:buNone/>
            </a:pPr>
            <a:r>
              <a:rPr lang="en-US" sz="1100" dirty="0">
                <a:solidFill>
                  <a:schemeClr val="tx1"/>
                </a:solidFill>
              </a:rPr>
              <a:t>Come sintetizzare senza perdere condizioni ed eccezioni?</a:t>
            </a:r>
            <a:endParaRPr lang="en-US" sz="1100" dirty="0"/>
          </a:p>
        </p:txBody>
      </p:sp>
      <p:sp>
        <p:nvSpPr>
          <p:cNvPr id="13" name="domanda 4"/>
          <p:cNvSpPr/>
          <p:nvPr/>
        </p:nvSpPr>
        <p:spPr>
          <a:xfrm>
            <a:off x="6725412" y="1051560"/>
            <a:ext cx="1961388" cy="987552"/>
          </a:xfrm>
          <a:prstGeom prst="roundRect">
            <a:avLst>
              <a:gd name="adj" fmla="val 7407"/>
            </a:avLst>
          </a:prstGeom>
          <a:solidFill>
            <a:schemeClr val="bg2"/>
          </a:solidFill>
          <a:ln/>
        </p:spPr>
      </p:sp>
      <p:sp>
        <p:nvSpPr>
          <p:cNvPr id="14" name="Text 11"/>
          <p:cNvSpPr txBox="1"/>
          <p:nvPr/>
        </p:nvSpPr>
        <p:spPr>
          <a:xfrm>
            <a:off x="6862572" y="114300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554480"/>
            <a:ext cx="1732788" cy="438912"/>
          </a:xfrm>
          <a:prstGeom prst="rect">
            <a:avLst/>
          </a:prstGeom>
          <a:noFill/>
          <a:ln/>
        </p:spPr>
        <p:txBody>
          <a:bodyPr wrap="square" lIns="0" tIns="0" rIns="0" bIns="0" rtlCol="0" anchor="t"/>
          <a:lstStyle/>
          <a:p>
            <a:pPr indent="0" marL="0">
              <a:buNone/>
            </a:pPr>
            <a:r>
              <a:rPr lang="en-US" sz="1100" dirty="0">
                <a:solidFill>
                  <a:schemeClr val="tx1"/>
                </a:solidFill>
              </a:rPr>
              <a:t>Che differenza tra sintetizzare ed estrarre dati strutturati?</a:t>
            </a:r>
            <a:endParaRPr lang="en-US" sz="1100" dirty="0"/>
          </a:p>
        </p:txBody>
      </p:sp>
      <p:sp>
        <p:nvSpPr>
          <p:cNvPr id="16" name="domanda 5"/>
          <p:cNvSpPr/>
          <p:nvPr/>
        </p:nvSpPr>
        <p:spPr>
          <a:xfrm>
            <a:off x="457200" y="2176272"/>
            <a:ext cx="1961388" cy="987552"/>
          </a:xfrm>
          <a:prstGeom prst="roundRect">
            <a:avLst>
              <a:gd name="adj" fmla="val 7407"/>
            </a:avLst>
          </a:prstGeom>
          <a:solidFill>
            <a:schemeClr val="bg2"/>
          </a:solidFill>
          <a:ln/>
        </p:spPr>
      </p:sp>
      <p:sp>
        <p:nvSpPr>
          <p:cNvPr id="17" name="Text 14"/>
          <p:cNvSpPr txBox="1"/>
          <p:nvPr/>
        </p:nvSpPr>
        <p:spPr>
          <a:xfrm>
            <a:off x="594360" y="2267712"/>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2679192"/>
            <a:ext cx="1732788" cy="438912"/>
          </a:xfrm>
          <a:prstGeom prst="rect">
            <a:avLst/>
          </a:prstGeom>
          <a:noFill/>
          <a:ln/>
        </p:spPr>
        <p:txBody>
          <a:bodyPr wrap="square" lIns="0" tIns="0" rIns="0" bIns="0" rtlCol="0" anchor="t"/>
          <a:lstStyle/>
          <a:p>
            <a:pPr indent="0" marL="0">
              <a:buNone/>
            </a:pPr>
            <a:r>
              <a:rPr lang="en-US" sz="1100" dirty="0">
                <a:solidFill>
                  <a:schemeClr val="tx1"/>
                </a:solidFill>
              </a:rPr>
              <a:t>Come confrontare documenti restando legati ai passaggi originali?</a:t>
            </a:r>
            <a:endParaRPr lang="en-US" sz="1100" dirty="0"/>
          </a:p>
        </p:txBody>
      </p:sp>
      <p:sp>
        <p:nvSpPr>
          <p:cNvPr id="19" name="domanda 6"/>
          <p:cNvSpPr/>
          <p:nvPr/>
        </p:nvSpPr>
        <p:spPr>
          <a:xfrm>
            <a:off x="2546604" y="2176272"/>
            <a:ext cx="1961388" cy="987552"/>
          </a:xfrm>
          <a:prstGeom prst="roundRect">
            <a:avLst>
              <a:gd name="adj" fmla="val 7407"/>
            </a:avLst>
          </a:prstGeom>
          <a:solidFill>
            <a:schemeClr val="bg2"/>
          </a:solidFill>
          <a:ln/>
        </p:spPr>
      </p:sp>
      <p:sp>
        <p:nvSpPr>
          <p:cNvPr id="20" name="Text 17"/>
          <p:cNvSpPr txBox="1"/>
          <p:nvPr/>
        </p:nvSpPr>
        <p:spPr>
          <a:xfrm>
            <a:off x="2683764" y="2267712"/>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2679192"/>
            <a:ext cx="1732788" cy="438912"/>
          </a:xfrm>
          <a:prstGeom prst="rect">
            <a:avLst/>
          </a:prstGeom>
          <a:noFill/>
          <a:ln/>
        </p:spPr>
        <p:txBody>
          <a:bodyPr wrap="square" lIns="0" tIns="0" rIns="0" bIns="0" rtlCol="0" anchor="t"/>
          <a:lstStyle/>
          <a:p>
            <a:pPr indent="0" marL="0">
              <a:buNone/>
            </a:pPr>
            <a:r>
              <a:rPr lang="en-US" sz="1100" dirty="0">
                <a:solidFill>
                  <a:schemeClr val="tx1"/>
                </a:solidFill>
              </a:rPr>
              <a:t>Ricerca su fonti esterne o interrogazione di una raccolta?</a:t>
            </a:r>
            <a:endParaRPr lang="en-US" sz="1100" dirty="0"/>
          </a:p>
        </p:txBody>
      </p:sp>
      <p:sp>
        <p:nvSpPr>
          <p:cNvPr id="22" name="domanda 7"/>
          <p:cNvSpPr/>
          <p:nvPr/>
        </p:nvSpPr>
        <p:spPr>
          <a:xfrm>
            <a:off x="4636008" y="2176272"/>
            <a:ext cx="1961388" cy="987552"/>
          </a:xfrm>
          <a:prstGeom prst="roundRect">
            <a:avLst>
              <a:gd name="adj" fmla="val 7407"/>
            </a:avLst>
          </a:prstGeom>
          <a:solidFill>
            <a:schemeClr val="bg2"/>
          </a:solidFill>
          <a:ln/>
        </p:spPr>
      </p:sp>
      <p:sp>
        <p:nvSpPr>
          <p:cNvPr id="23" name="Text 20"/>
          <p:cNvSpPr txBox="1"/>
          <p:nvPr/>
        </p:nvSpPr>
        <p:spPr>
          <a:xfrm>
            <a:off x="4773168" y="2267712"/>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2679192"/>
            <a:ext cx="1732788" cy="438912"/>
          </a:xfrm>
          <a:prstGeom prst="rect">
            <a:avLst/>
          </a:prstGeom>
          <a:noFill/>
          <a:ln/>
        </p:spPr>
        <p:txBody>
          <a:bodyPr wrap="square" lIns="0" tIns="0" rIns="0" bIns="0" rtlCol="0" anchor="t"/>
          <a:lstStyle/>
          <a:p>
            <a:pPr indent="0" marL="0">
              <a:buNone/>
            </a:pPr>
            <a:r>
              <a:rPr lang="en-US" sz="1100" dirty="0">
                <a:solidFill>
                  <a:schemeClr val="tx1"/>
                </a:solidFill>
              </a:rPr>
              <a:t>Che cosa rende una raccolta davvero interrogabile?</a:t>
            </a:r>
            <a:endParaRPr lang="en-US" sz="1100" dirty="0"/>
          </a:p>
        </p:txBody>
      </p:sp>
      <p:sp>
        <p:nvSpPr>
          <p:cNvPr id="25" name="domanda 8"/>
          <p:cNvSpPr/>
          <p:nvPr/>
        </p:nvSpPr>
        <p:spPr>
          <a:xfrm>
            <a:off x="6725412" y="2176272"/>
            <a:ext cx="1961388" cy="987552"/>
          </a:xfrm>
          <a:prstGeom prst="roundRect">
            <a:avLst>
              <a:gd name="adj" fmla="val 7407"/>
            </a:avLst>
          </a:prstGeom>
          <a:solidFill>
            <a:schemeClr val="bg2"/>
          </a:solidFill>
          <a:ln/>
        </p:spPr>
      </p:sp>
      <p:sp>
        <p:nvSpPr>
          <p:cNvPr id="26" name="Text 23"/>
          <p:cNvSpPr txBox="1"/>
          <p:nvPr/>
        </p:nvSpPr>
        <p:spPr>
          <a:xfrm>
            <a:off x="6862572" y="2267712"/>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2679192"/>
            <a:ext cx="1732788" cy="438912"/>
          </a:xfrm>
          <a:prstGeom prst="rect">
            <a:avLst/>
          </a:prstGeom>
          <a:noFill/>
          <a:ln/>
        </p:spPr>
        <p:txBody>
          <a:bodyPr wrap="square" lIns="0" tIns="0" rIns="0" bIns="0" rtlCol="0" anchor="t"/>
          <a:lstStyle/>
          <a:p>
            <a:pPr indent="0" marL="0">
              <a:buNone/>
            </a:pPr>
            <a:r>
              <a:rPr lang="en-US" sz="1100" dirty="0">
                <a:solidFill>
                  <a:schemeClr val="tx1"/>
                </a:solidFill>
              </a:rPr>
              <a:t>Come passare da testo non strutturato a dati utilizzabili?</a:t>
            </a:r>
            <a:endParaRPr lang="en-US" sz="1100" dirty="0"/>
          </a:p>
        </p:txBody>
      </p:sp>
      <p:sp>
        <p:nvSpPr>
          <p:cNvPr id="28" name="domanda 9"/>
          <p:cNvSpPr/>
          <p:nvPr/>
        </p:nvSpPr>
        <p:spPr>
          <a:xfrm>
            <a:off x="457200" y="3300984"/>
            <a:ext cx="1961388" cy="987552"/>
          </a:xfrm>
          <a:prstGeom prst="roundRect">
            <a:avLst>
              <a:gd name="adj" fmla="val 7407"/>
            </a:avLst>
          </a:prstGeom>
          <a:solidFill>
            <a:schemeClr val="bg2"/>
          </a:solidFill>
          <a:ln/>
        </p:spPr>
      </p:sp>
      <p:sp>
        <p:nvSpPr>
          <p:cNvPr id="29" name="Text 26"/>
          <p:cNvSpPr txBox="1"/>
          <p:nvPr/>
        </p:nvSpPr>
        <p:spPr>
          <a:xfrm>
            <a:off x="594360" y="3392424"/>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9</a:t>
            </a:r>
            <a:endParaRPr lang="en-US" sz="2000" dirty="0"/>
          </a:p>
        </p:txBody>
      </p:sp>
      <p:sp>
        <p:nvSpPr>
          <p:cNvPr id="30" name="Text 27"/>
          <p:cNvSpPr txBox="1"/>
          <p:nvPr/>
        </p:nvSpPr>
        <p:spPr>
          <a:xfrm>
            <a:off x="594360" y="3803904"/>
            <a:ext cx="1732788" cy="438912"/>
          </a:xfrm>
          <a:prstGeom prst="rect">
            <a:avLst/>
          </a:prstGeom>
          <a:noFill/>
          <a:ln/>
        </p:spPr>
        <p:txBody>
          <a:bodyPr wrap="square" lIns="0" tIns="0" rIns="0" bIns="0" rtlCol="0" anchor="t"/>
          <a:lstStyle/>
          <a:p>
            <a:pPr indent="0" marL="0">
              <a:buNone/>
            </a:pPr>
            <a:r>
              <a:rPr lang="en-US" sz="1100" dirty="0">
                <a:solidFill>
                  <a:schemeClr val="tx1"/>
                </a:solidFill>
              </a:rPr>
              <a:t>Perché formati, scansioni, tabelle e lunghezza complicano?</a:t>
            </a:r>
            <a:endParaRPr lang="en-US" sz="1100" dirty="0"/>
          </a:p>
        </p:txBody>
      </p:sp>
      <p:sp>
        <p:nvSpPr>
          <p:cNvPr id="31" name="domanda 10"/>
          <p:cNvSpPr/>
          <p:nvPr/>
        </p:nvSpPr>
        <p:spPr>
          <a:xfrm>
            <a:off x="2546604" y="3300984"/>
            <a:ext cx="1961388" cy="987552"/>
          </a:xfrm>
          <a:prstGeom prst="roundRect">
            <a:avLst>
              <a:gd name="adj" fmla="val 7407"/>
            </a:avLst>
          </a:prstGeom>
          <a:solidFill>
            <a:schemeClr val="bg2"/>
          </a:solidFill>
          <a:ln/>
        </p:spPr>
      </p:sp>
      <p:sp>
        <p:nvSpPr>
          <p:cNvPr id="32" name="Text 29"/>
          <p:cNvSpPr txBox="1"/>
          <p:nvPr/>
        </p:nvSpPr>
        <p:spPr>
          <a:xfrm>
            <a:off x="2683764" y="3392424"/>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10</a:t>
            </a:r>
            <a:endParaRPr lang="en-US" sz="2000" dirty="0"/>
          </a:p>
        </p:txBody>
      </p:sp>
      <p:sp>
        <p:nvSpPr>
          <p:cNvPr id="33" name="Text 30"/>
          <p:cNvSpPr txBox="1"/>
          <p:nvPr/>
        </p:nvSpPr>
        <p:spPr>
          <a:xfrm>
            <a:off x="2683764" y="3803904"/>
            <a:ext cx="1732788" cy="438912"/>
          </a:xfrm>
          <a:prstGeom prst="rect">
            <a:avLst/>
          </a:prstGeom>
          <a:noFill/>
          <a:ln/>
        </p:spPr>
        <p:txBody>
          <a:bodyPr wrap="square" lIns="0" tIns="0" rIns="0" bIns="0" rtlCol="0" anchor="t"/>
          <a:lstStyle/>
          <a:p>
            <a:pPr indent="0" marL="0">
              <a:buNone/>
            </a:pPr>
            <a:r>
              <a:rPr lang="en-US" sz="1100" dirty="0">
                <a:solidFill>
                  <a:schemeClr val="tx1"/>
                </a:solidFill>
              </a:rPr>
              <a:t>Sintesi apparentemente corretta o fedele e completa?</a:t>
            </a:r>
            <a:endParaRPr lang="en-US" sz="1100" dirty="0"/>
          </a:p>
        </p:txBody>
      </p:sp>
      <p:sp>
        <p:nvSpPr>
          <p:cNvPr id="34" name="domanda 11"/>
          <p:cNvSpPr/>
          <p:nvPr/>
        </p:nvSpPr>
        <p:spPr>
          <a:xfrm>
            <a:off x="4636008" y="3300984"/>
            <a:ext cx="1961388" cy="987552"/>
          </a:xfrm>
          <a:prstGeom prst="roundRect">
            <a:avLst>
              <a:gd name="adj" fmla="val 7407"/>
            </a:avLst>
          </a:prstGeom>
          <a:solidFill>
            <a:schemeClr val="bg2"/>
          </a:solidFill>
          <a:ln/>
        </p:spPr>
      </p:sp>
      <p:sp>
        <p:nvSpPr>
          <p:cNvPr id="35" name="Text 32"/>
          <p:cNvSpPr txBox="1"/>
          <p:nvPr/>
        </p:nvSpPr>
        <p:spPr>
          <a:xfrm>
            <a:off x="4773168" y="3392424"/>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11</a:t>
            </a:r>
            <a:endParaRPr lang="en-US" sz="2000" dirty="0"/>
          </a:p>
        </p:txBody>
      </p:sp>
      <p:sp>
        <p:nvSpPr>
          <p:cNvPr id="36" name="Text 33"/>
          <p:cNvSpPr txBox="1"/>
          <p:nvPr/>
        </p:nvSpPr>
        <p:spPr>
          <a:xfrm>
            <a:off x="4773168" y="3803904"/>
            <a:ext cx="1732788" cy="438912"/>
          </a:xfrm>
          <a:prstGeom prst="rect">
            <a:avLst/>
          </a:prstGeom>
          <a:noFill/>
          <a:ln/>
        </p:spPr>
        <p:txBody>
          <a:bodyPr wrap="square" lIns="0" tIns="0" rIns="0" bIns="0" rtlCol="0" anchor="t"/>
          <a:lstStyle/>
          <a:p>
            <a:pPr indent="0" marL="0">
              <a:buNone/>
            </a:pPr>
            <a:r>
              <a:rPr lang="en-US" sz="1100" dirty="0">
                <a:solidFill>
                  <a:schemeClr val="tx1"/>
                </a:solidFill>
              </a:rPr>
              <a:t>Quando risalire alle fonti e verificare l'elaborazione?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 quattro modalità</a:t>
            </a:r>
            <a:endParaRPr lang="en-US" sz="2600" dirty="0"/>
          </a:p>
        </p:txBody>
      </p:sp>
      <p:sp>
        <p:nvSpPr>
          <p:cNvPr id="4" name="Produrre"/>
          <p:cNvSpPr/>
          <p:nvPr/>
        </p:nvSpPr>
        <p:spPr>
          <a:xfrm>
            <a:off x="457200" y="1097280"/>
            <a:ext cx="1920240" cy="2514600"/>
          </a:xfrm>
          <a:prstGeom prst="roundRect">
            <a:avLst>
              <a:gd name="adj" fmla="val 3810"/>
            </a:avLst>
          </a:prstGeom>
          <a:solidFill>
            <a:schemeClr val="bg2"/>
          </a:solidFill>
          <a:ln/>
        </p:spPr>
      </p:sp>
      <p:sp>
        <p:nvSpPr>
          <p:cNvPr id="5" name="cerchio FiEdit3"/>
          <p:cNvSpPr/>
          <p:nvPr/>
        </p:nvSpPr>
        <p:spPr>
          <a:xfrm>
            <a:off x="1097280" y="1234440"/>
            <a:ext cx="640080" cy="640080"/>
          </a:xfrm>
          <a:prstGeom prst="ellipse">
            <a:avLst/>
          </a:prstGeom>
          <a:solidFill>
            <a:schemeClr val="accent1"/>
          </a:solidFill>
          <a:ln/>
        </p:spPr>
      </p:sp>
      <p:pic>
        <p:nvPicPr>
          <p:cNvPr id="6" name="Image 0" descr="FiEdit3">    </p:cNvPr>
          <p:cNvPicPr>
            <a:picLocks noChangeAspect="1"/>
          </p:cNvPicPr>
          <p:nvPr/>
        </p:nvPicPr>
        <p:blipFill>
          <a:blip r:embed="rId1"/>
          <a:stretch>
            <a:fillRect/>
          </a:stretch>
        </p:blipFill>
        <p:spPr>
          <a:xfrm>
            <a:off x="1257300" y="1394460"/>
            <a:ext cx="320040" cy="320040"/>
          </a:xfrm>
          <a:prstGeom prst="rect">
            <a:avLst/>
          </a:prstGeom>
        </p:spPr>
      </p:pic>
      <p:sp>
        <p:nvSpPr>
          <p:cNvPr id="7" name="Text 3"/>
          <p:cNvSpPr txBox="1"/>
          <p:nvPr/>
        </p:nvSpPr>
        <p:spPr>
          <a:xfrm>
            <a:off x="54864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Produrre</a:t>
            </a:r>
            <a:endParaRPr lang="en-US" sz="1500" dirty="0"/>
          </a:p>
        </p:txBody>
      </p:sp>
      <p:sp>
        <p:nvSpPr>
          <p:cNvPr id="8" name="Text 4"/>
          <p:cNvSpPr txBox="1"/>
          <p:nvPr/>
        </p:nvSpPr>
        <p:spPr>
          <a:xfrm>
            <a:off x="59436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Creare contenuti nuovi da istruzioni</a:t>
            </a:r>
            <a:endParaRPr lang="en-US" sz="1200" dirty="0"/>
          </a:p>
        </p:txBody>
      </p:sp>
      <p:sp>
        <p:nvSpPr>
          <p:cNvPr id="9" name="Text 5"/>
          <p:cNvSpPr txBox="1"/>
          <p:nvPr/>
        </p:nvSpPr>
        <p:spPr>
          <a:xfrm>
            <a:off x="54864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8.1</a:t>
            </a:r>
            <a:endParaRPr lang="en-US" sz="1200" dirty="0"/>
          </a:p>
        </p:txBody>
      </p:sp>
      <p:sp>
        <p:nvSpPr>
          <p:cNvPr id="10" name="freccia"/>
          <p:cNvSpPr/>
          <p:nvPr/>
        </p:nvSpPr>
        <p:spPr>
          <a:xfrm>
            <a:off x="2386584" y="2194560"/>
            <a:ext cx="155448" cy="292608"/>
          </a:xfrm>
          <a:prstGeom prst="rightArrow">
            <a:avLst/>
          </a:prstGeom>
          <a:solidFill>
            <a:schemeClr val="accent2"/>
          </a:solidFill>
          <a:ln/>
        </p:spPr>
      </p:sp>
      <p:sp>
        <p:nvSpPr>
          <p:cNvPr id="11" name="Trasformare"/>
          <p:cNvSpPr/>
          <p:nvPr/>
        </p:nvSpPr>
        <p:spPr>
          <a:xfrm>
            <a:off x="2560320" y="1097280"/>
            <a:ext cx="1920240" cy="2514600"/>
          </a:xfrm>
          <a:prstGeom prst="roundRect">
            <a:avLst>
              <a:gd name="adj" fmla="val 3810"/>
            </a:avLst>
          </a:prstGeom>
          <a:solidFill>
            <a:schemeClr val="bg2"/>
          </a:solidFill>
          <a:ln/>
        </p:spPr>
      </p:sp>
      <p:sp>
        <p:nvSpPr>
          <p:cNvPr id="12" name="cerchio FiRefreshCw"/>
          <p:cNvSpPr/>
          <p:nvPr/>
        </p:nvSpPr>
        <p:spPr>
          <a:xfrm>
            <a:off x="3200400" y="1234440"/>
            <a:ext cx="640080" cy="640080"/>
          </a:xfrm>
          <a:prstGeom prst="ellipse">
            <a:avLst/>
          </a:prstGeom>
          <a:solidFill>
            <a:schemeClr val="accent1"/>
          </a:solidFill>
          <a:ln/>
        </p:spPr>
      </p:sp>
      <p:pic>
        <p:nvPicPr>
          <p:cNvPr id="13" name="Image 1" descr="FiRefreshCw">    </p:cNvPr>
          <p:cNvPicPr>
            <a:picLocks noChangeAspect="1"/>
          </p:cNvPicPr>
          <p:nvPr/>
        </p:nvPicPr>
        <p:blipFill>
          <a:blip r:embed="rId2"/>
          <a:stretch>
            <a:fillRect/>
          </a:stretch>
        </p:blipFill>
        <p:spPr>
          <a:xfrm>
            <a:off x="3360420" y="1394460"/>
            <a:ext cx="320040" cy="320040"/>
          </a:xfrm>
          <a:prstGeom prst="rect">
            <a:avLst/>
          </a:prstGeom>
        </p:spPr>
      </p:pic>
      <p:sp>
        <p:nvSpPr>
          <p:cNvPr id="14" name="Text 9"/>
          <p:cNvSpPr txBox="1"/>
          <p:nvPr/>
        </p:nvSpPr>
        <p:spPr>
          <a:xfrm>
            <a:off x="265176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Trasformare</a:t>
            </a:r>
            <a:endParaRPr lang="en-US" sz="1500" dirty="0"/>
          </a:p>
        </p:txBody>
      </p:sp>
      <p:sp>
        <p:nvSpPr>
          <p:cNvPr id="15" name="Text 10"/>
          <p:cNvSpPr txBox="1"/>
          <p:nvPr/>
        </p:nvSpPr>
        <p:spPr>
          <a:xfrm>
            <a:off x="269748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Lavorare su un testo esistente</a:t>
            </a:r>
            <a:endParaRPr lang="en-US" sz="1200" dirty="0"/>
          </a:p>
        </p:txBody>
      </p:sp>
      <p:sp>
        <p:nvSpPr>
          <p:cNvPr id="16" name="Text 11"/>
          <p:cNvSpPr txBox="1"/>
          <p:nvPr/>
        </p:nvSpPr>
        <p:spPr>
          <a:xfrm>
            <a:off x="265176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8.2</a:t>
            </a:r>
            <a:endParaRPr lang="en-US" sz="1200" dirty="0"/>
          </a:p>
        </p:txBody>
      </p:sp>
      <p:sp>
        <p:nvSpPr>
          <p:cNvPr id="17" name="freccia"/>
          <p:cNvSpPr/>
          <p:nvPr/>
        </p:nvSpPr>
        <p:spPr>
          <a:xfrm>
            <a:off x="4489704" y="2194560"/>
            <a:ext cx="155448" cy="292608"/>
          </a:xfrm>
          <a:prstGeom prst="rightArrow">
            <a:avLst/>
          </a:prstGeom>
          <a:solidFill>
            <a:schemeClr val="accent2"/>
          </a:solidFill>
          <a:ln/>
        </p:spPr>
      </p:sp>
      <p:sp>
        <p:nvSpPr>
          <p:cNvPr id="18" name="Analizzare e strutturare"/>
          <p:cNvSpPr/>
          <p:nvPr/>
        </p:nvSpPr>
        <p:spPr>
          <a:xfrm>
            <a:off x="4663440" y="1097280"/>
            <a:ext cx="1920240" cy="2514600"/>
          </a:xfrm>
          <a:prstGeom prst="roundRect">
            <a:avLst>
              <a:gd name="adj" fmla="val 3810"/>
            </a:avLst>
          </a:prstGeom>
          <a:solidFill>
            <a:schemeClr val="accent1"/>
          </a:solidFill>
          <a:ln/>
        </p:spPr>
      </p:sp>
      <p:sp>
        <p:nvSpPr>
          <p:cNvPr id="19" name="cerchio FiLayers"/>
          <p:cNvSpPr/>
          <p:nvPr/>
        </p:nvSpPr>
        <p:spPr>
          <a:xfrm>
            <a:off x="5303520" y="1234440"/>
            <a:ext cx="640080" cy="640080"/>
          </a:xfrm>
          <a:prstGeom prst="ellipse">
            <a:avLst/>
          </a:prstGeom>
          <a:solidFill>
            <a:schemeClr val="bg1"/>
          </a:solidFill>
          <a:ln/>
        </p:spPr>
      </p:sp>
      <p:pic>
        <p:nvPicPr>
          <p:cNvPr id="20" name="Image 2" descr="FiLayers">    </p:cNvPr>
          <p:cNvPicPr>
            <a:picLocks noChangeAspect="1"/>
          </p:cNvPicPr>
          <p:nvPr/>
        </p:nvPicPr>
        <p:blipFill>
          <a:blip r:embed="rId3"/>
          <a:stretch>
            <a:fillRect/>
          </a:stretch>
        </p:blipFill>
        <p:spPr>
          <a:xfrm>
            <a:off x="5463540" y="1394460"/>
            <a:ext cx="320040" cy="320040"/>
          </a:xfrm>
          <a:prstGeom prst="rect">
            <a:avLst/>
          </a:prstGeom>
        </p:spPr>
      </p:pic>
      <p:sp>
        <p:nvSpPr>
          <p:cNvPr id="21" name="Text 15"/>
          <p:cNvSpPr txBox="1"/>
          <p:nvPr/>
        </p:nvSpPr>
        <p:spPr>
          <a:xfrm>
            <a:off x="4754880" y="1965960"/>
            <a:ext cx="1737360" cy="548640"/>
          </a:xfrm>
          <a:prstGeom prst="rect">
            <a:avLst/>
          </a:prstGeom>
          <a:noFill/>
          <a:ln/>
        </p:spPr>
        <p:txBody>
          <a:bodyPr wrap="square" lIns="0" tIns="0" rIns="0" bIns="0" rtlCol="0" anchor="ctr"/>
          <a:lstStyle/>
          <a:p>
            <a:pPr algn="ctr" indent="0" marL="0">
              <a:buNone/>
            </a:pPr>
            <a:r>
              <a:rPr lang="en-US" sz="1500" b="1" dirty="0">
                <a:solidFill>
                  <a:schemeClr val="bg1"/>
                </a:solidFill>
              </a:rPr>
              <a:t>Analizzare e strutturare</a:t>
            </a:r>
            <a:endParaRPr lang="en-US" sz="1500" dirty="0"/>
          </a:p>
        </p:txBody>
      </p:sp>
      <p:sp>
        <p:nvSpPr>
          <p:cNvPr id="22" name="Text 16"/>
          <p:cNvSpPr txBox="1"/>
          <p:nvPr/>
        </p:nvSpPr>
        <p:spPr>
          <a:xfrm>
            <a:off x="4800600" y="2560320"/>
            <a:ext cx="1645920" cy="548640"/>
          </a:xfrm>
          <a:prstGeom prst="rect">
            <a:avLst/>
          </a:prstGeom>
          <a:noFill/>
          <a:ln/>
        </p:spPr>
        <p:txBody>
          <a:bodyPr wrap="square" lIns="0" tIns="0" rIns="0" bIns="0" rtlCol="0" anchor="t"/>
          <a:lstStyle/>
          <a:p>
            <a:pPr algn="ctr" indent="0" marL="0">
              <a:buNone/>
            </a:pPr>
            <a:r>
              <a:rPr lang="en-US" sz="1200" dirty="0">
                <a:solidFill>
                  <a:schemeClr val="bg1"/>
                </a:solidFill>
              </a:rPr>
              <a:t>Sintesi, estrazione, confronto</a:t>
            </a:r>
            <a:endParaRPr lang="en-US" sz="1200" dirty="0"/>
          </a:p>
        </p:txBody>
      </p:sp>
      <p:sp>
        <p:nvSpPr>
          <p:cNvPr id="23" name="Text 17"/>
          <p:cNvSpPr txBox="1"/>
          <p:nvPr/>
        </p:nvSpPr>
        <p:spPr>
          <a:xfrm>
            <a:off x="475488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8.3  8.4  8.5</a:t>
            </a:r>
            <a:endParaRPr lang="en-US" sz="1200" dirty="0"/>
          </a:p>
        </p:txBody>
      </p:sp>
      <p:sp>
        <p:nvSpPr>
          <p:cNvPr id="24" name="freccia"/>
          <p:cNvSpPr/>
          <p:nvPr/>
        </p:nvSpPr>
        <p:spPr>
          <a:xfrm>
            <a:off x="6592824" y="2194560"/>
            <a:ext cx="155448" cy="292608"/>
          </a:xfrm>
          <a:prstGeom prst="rightArrow">
            <a:avLst/>
          </a:prstGeom>
          <a:solidFill>
            <a:schemeClr val="accent2"/>
          </a:solidFill>
          <a:ln/>
        </p:spPr>
      </p:sp>
      <p:sp>
        <p:nvSpPr>
          <p:cNvPr id="25" name="Recuperare conoscenza"/>
          <p:cNvSpPr/>
          <p:nvPr/>
        </p:nvSpPr>
        <p:spPr>
          <a:xfrm>
            <a:off x="6766560" y="1097280"/>
            <a:ext cx="1920240" cy="2514600"/>
          </a:xfrm>
          <a:prstGeom prst="roundRect">
            <a:avLst>
              <a:gd name="adj" fmla="val 3810"/>
            </a:avLst>
          </a:prstGeom>
          <a:solidFill>
            <a:schemeClr val="bg2"/>
          </a:solidFill>
          <a:ln/>
        </p:spPr>
      </p:sp>
      <p:sp>
        <p:nvSpPr>
          <p:cNvPr id="26" name="cerchio FiDatabase"/>
          <p:cNvSpPr/>
          <p:nvPr/>
        </p:nvSpPr>
        <p:spPr>
          <a:xfrm>
            <a:off x="7406640" y="1234440"/>
            <a:ext cx="640080" cy="640080"/>
          </a:xfrm>
          <a:prstGeom prst="ellipse">
            <a:avLst/>
          </a:prstGeom>
          <a:solidFill>
            <a:schemeClr val="accent1"/>
          </a:solidFill>
          <a:ln/>
        </p:spPr>
      </p:sp>
      <p:pic>
        <p:nvPicPr>
          <p:cNvPr id="27" name="Image 3" descr="FiDatabase">    </p:cNvPr>
          <p:cNvPicPr>
            <a:picLocks noChangeAspect="1"/>
          </p:cNvPicPr>
          <p:nvPr/>
        </p:nvPicPr>
        <p:blipFill>
          <a:blip r:embed="rId4"/>
          <a:stretch>
            <a:fillRect/>
          </a:stretch>
        </p:blipFill>
        <p:spPr>
          <a:xfrm>
            <a:off x="7566660" y="1394460"/>
            <a:ext cx="320040" cy="320040"/>
          </a:xfrm>
          <a:prstGeom prst="rect">
            <a:avLst/>
          </a:prstGeom>
        </p:spPr>
      </p:pic>
      <p:sp>
        <p:nvSpPr>
          <p:cNvPr id="28" name="Text 21"/>
          <p:cNvSpPr txBox="1"/>
          <p:nvPr/>
        </p:nvSpPr>
        <p:spPr>
          <a:xfrm>
            <a:off x="685800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Recuperare conoscenza</a:t>
            </a:r>
            <a:endParaRPr lang="en-US" sz="1500" dirty="0"/>
          </a:p>
        </p:txBody>
      </p:sp>
      <p:sp>
        <p:nvSpPr>
          <p:cNvPr id="29" name="Text 22"/>
          <p:cNvSpPr txBox="1"/>
          <p:nvPr/>
        </p:nvSpPr>
        <p:spPr>
          <a:xfrm>
            <a:off x="690372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Ricerca e raccolte documentali</a:t>
            </a:r>
            <a:endParaRPr lang="en-US" sz="1200" dirty="0"/>
          </a:p>
        </p:txBody>
      </p:sp>
      <p:sp>
        <p:nvSpPr>
          <p:cNvPr id="30" name="Text 23"/>
          <p:cNvSpPr txBox="1"/>
          <p:nvPr/>
        </p:nvSpPr>
        <p:spPr>
          <a:xfrm>
            <a:off x="685800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8.6  8.7</a:t>
            </a:r>
            <a:endParaRPr lang="en-US" sz="1200" dirty="0"/>
          </a:p>
        </p:txBody>
      </p:sp>
      <p:sp>
        <p:nvSpPr>
          <p:cNvPr id="31" name="limiti trasversali"/>
          <p:cNvSpPr/>
          <p:nvPr/>
        </p:nvSpPr>
        <p:spPr>
          <a:xfrm>
            <a:off x="457200" y="3749040"/>
            <a:ext cx="8229600" cy="777240"/>
          </a:xfrm>
          <a:prstGeom prst="roundRect">
            <a:avLst>
              <a:gd name="adj" fmla="val 9412"/>
            </a:avLst>
          </a:prstGeom>
          <a:solidFill>
            <a:schemeClr val="accent6"/>
          </a:solidFill>
          <a:ln/>
        </p:spPr>
      </p:sp>
      <p:sp>
        <p:nvSpPr>
          <p:cNvPr id="32" name="Text 25"/>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b="1" dirty="0">
                <a:solidFill>
                  <a:schemeClr val="accent1"/>
                </a:solidFill>
              </a:rPr>
              <a:t>8.8 Limiti e condizioni di efficacia: </a:t>
            </a:r>
            <a:pPr indent="0" marL="0">
              <a:buNone/>
            </a:pPr>
            <a:r>
              <a:rPr lang="en-US" sz="1300" dirty="0">
                <a:solidFill>
                  <a:schemeClr val="tx1"/>
                </a:solidFill>
              </a:rPr>
              <a:t>attraversano tutte le modalità. Non è una sequenza obbligatoria: le modalità spesso si combinano.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Attività diverse, controlli diversi</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2926080"/>
                <a:gridCol w="3291840"/>
              </a:tblGrid>
              <a:tr h="457200">
                <a:tc>
                  <a:txBody>
                    <a:bodyPr/>
                    <a:lstStyle/>
                    <a:p>
                      <a:pPr indent="0" marL="0">
                        <a:buNone/>
                      </a:pPr>
                      <a:r>
                        <a:rPr lang="en-US" sz="1200" b="1" dirty="0">
                          <a:solidFill>
                            <a:schemeClr val="bg1"/>
                          </a:solidFill>
                        </a:rPr>
                        <a:t>Attività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Rischio principale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Controllo principale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Generare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Contenuti inventati o inadatti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Accuratezza, adeguatezza al destinatario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Trasformare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Significato alterato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Confronto con l'originale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Sintetizzare, analizzare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Elementi decisivi persi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Fedeltà e completezza rispetto al documento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Estrarre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Dato errato, mancante o inventato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Accuratezza campo per campo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Recuperare conoscenza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Informazione superata o senza fonte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Attualità, attendibilità, collegamento alla fonte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messaggio"/>
          <p:cNvSpPr/>
          <p:nvPr/>
        </p:nvSpPr>
        <p:spPr>
          <a:xfrm>
            <a:off x="457200" y="3977640"/>
            <a:ext cx="8229600" cy="548640"/>
          </a:xfrm>
          <a:prstGeom prst="roundRect">
            <a:avLst>
              <a:gd name="adj" fmla="val 13333"/>
            </a:avLst>
          </a:prstGeom>
          <a:solidFill>
            <a:schemeClr val="tx1"/>
          </a:solidFill>
          <a:ln/>
        </p:spPr>
      </p:sp>
      <p:sp>
        <p:nvSpPr>
          <p:cNvPr id="6" name="Text 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Non è sempre lo stesso controllo: dipende dal tipo di lavoro che l'AI ha svolto.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8.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Generazione di contenuti testuali</a:t>
            </a:r>
            <a:endParaRPr lang="en-US" sz="1300" dirty="0"/>
          </a:p>
        </p:txBody>
      </p:sp>
      <p:sp>
        <p:nvSpPr>
          <p:cNvPr id="7" name="priorità 8.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8.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Revisione e trasformazione dei testi</a:t>
            </a:r>
            <a:endParaRPr lang="en-US" sz="1300" dirty="0"/>
          </a:p>
        </p:txBody>
      </p:sp>
      <p:sp>
        <p:nvSpPr>
          <p:cNvPr id="12" name="priorità 8.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8.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Sintesi e analisi documentale</a:t>
            </a:r>
            <a:endParaRPr lang="en-US" sz="1300" dirty="0"/>
          </a:p>
        </p:txBody>
      </p:sp>
      <p:sp>
        <p:nvSpPr>
          <p:cNvPr id="17" name="priorità 8.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8.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Estrazione e strutturazione</a:t>
            </a:r>
            <a:endParaRPr lang="en-US" sz="1300" dirty="0"/>
          </a:p>
        </p:txBody>
      </p:sp>
      <p:sp>
        <p:nvSpPr>
          <p:cNvPr id="22" name="priorità 8.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8.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Confronto documentale</a:t>
            </a:r>
            <a:endParaRPr lang="en-US" sz="1300" dirty="0"/>
          </a:p>
        </p:txBody>
      </p:sp>
      <p:sp>
        <p:nvSpPr>
          <p:cNvPr id="27" name="priorità 8.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8.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Ricerca e organizzazione</a:t>
            </a:r>
            <a:endParaRPr lang="en-US" sz="1300" dirty="0"/>
          </a:p>
        </p:txBody>
      </p:sp>
      <p:sp>
        <p:nvSpPr>
          <p:cNvPr id="32" name="priorità 8.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8.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Gestione della conoscenza</a:t>
            </a:r>
            <a:endParaRPr lang="en-US" sz="1300" dirty="0"/>
          </a:p>
        </p:txBody>
      </p:sp>
      <p:sp>
        <p:nvSpPr>
          <p:cNvPr id="37" name="priorità 8.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8.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8.8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Limiti e condizioni di efficacia</a:t>
            </a:r>
            <a:endParaRPr lang="en-US" sz="1300" dirty="0"/>
          </a:p>
        </p:txBody>
      </p:sp>
      <p:sp>
        <p:nvSpPr>
          <p:cNvPr id="42" name="priorità 8.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speriment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sperimentare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Generazione, trasformazione, sintesi, estrazione, confronto, tracciabilità</a:t>
            </a:r>
            <a:endParaRPr lang="en-US" sz="1000" dirty="0"/>
          </a:p>
        </p:txBody>
      </p:sp>
      <p:sp>
        <p:nvSpPr>
          <p:cNvPr id="47" name="livello Conoscere e comprend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 e comprendere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Ricerca, gestione della conoscenza, interrogazione documentale, limiti dei formati</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RAG, pipeline documentali, indicizzazione, database vettoriali, ricerca semantica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Generazione di contenuti testuali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può accelerare la produzione di contenuti, ma qualità e adeguatezza vanno presidiate dalla revisione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produrre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municazioni"/>
          <p:cNvSpPr/>
          <p:nvPr/>
        </p:nvSpPr>
        <p:spPr>
          <a:xfrm>
            <a:off x="457200" y="1097280"/>
            <a:ext cx="4023360" cy="1234440"/>
          </a:xfrm>
          <a:prstGeom prst="roundRect">
            <a:avLst>
              <a:gd name="adj" fmla="val 5926"/>
            </a:avLst>
          </a:prstGeom>
          <a:solidFill>
            <a:schemeClr val="bg2"/>
          </a:solidFill>
          <a:ln/>
        </p:spPr>
      </p:sp>
      <p:sp>
        <p:nvSpPr>
          <p:cNvPr id="13" name="cerchio FiMail"/>
          <p:cNvSpPr/>
          <p:nvPr/>
        </p:nvSpPr>
        <p:spPr>
          <a:xfrm>
            <a:off x="621792" y="1261872"/>
            <a:ext cx="438912" cy="438912"/>
          </a:xfrm>
          <a:prstGeom prst="ellipse">
            <a:avLst/>
          </a:prstGeom>
          <a:solidFill>
            <a:schemeClr val="accent1"/>
          </a:solidFill>
          <a:ln/>
        </p:spPr>
      </p:sp>
      <p:pic>
        <p:nvPicPr>
          <p:cNvPr id="14" name="Image 0" descr="FiMail">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Comunicazioni</a:t>
            </a:r>
            <a:endParaRPr lang="en-US" sz="1500" dirty="0"/>
          </a:p>
        </p:txBody>
      </p:sp>
      <p:sp>
        <p:nvSpPr>
          <p:cNvPr id="16" name="Text 12"/>
          <p:cNvSpPr txBox="1"/>
          <p:nvPr/>
        </p:nvSpPr>
        <p:spPr>
          <a:xfrm>
            <a:off x="621792" y="1810512"/>
            <a:ext cx="3694176" cy="429768"/>
          </a:xfrm>
          <a:prstGeom prst="rect">
            <a:avLst/>
          </a:prstGeom>
          <a:noFill/>
          <a:ln/>
        </p:spPr>
        <p:txBody>
          <a:bodyPr wrap="square" lIns="0" tIns="0" rIns="0" bIns="0" rtlCol="0" anchor="t"/>
          <a:lstStyle/>
          <a:p>
            <a:pPr indent="0" marL="0">
              <a:buNone/>
            </a:pPr>
            <a:r>
              <a:rPr lang="en-US" sz="1300" dirty="0">
                <a:solidFill>
                  <a:schemeClr val="tx2"/>
                </a:solidFill>
              </a:rPr>
              <a:t>Email, risposte, avvisi, comunicazioni interne</a:t>
            </a:r>
            <a:endParaRPr lang="en-US" sz="1300" dirty="0"/>
          </a:p>
        </p:txBody>
      </p:sp>
      <p:sp>
        <p:nvSpPr>
          <p:cNvPr id="17" name="Documenti di lavoro"/>
          <p:cNvSpPr/>
          <p:nvPr/>
        </p:nvSpPr>
        <p:spPr>
          <a:xfrm>
            <a:off x="4663440" y="1097280"/>
            <a:ext cx="4023360" cy="1234440"/>
          </a:xfrm>
          <a:prstGeom prst="roundRect">
            <a:avLst>
              <a:gd name="adj" fmla="val 5926"/>
            </a:avLst>
          </a:prstGeom>
          <a:solidFill>
            <a:schemeClr val="bg2"/>
          </a:solidFill>
          <a:ln/>
        </p:spPr>
      </p:sp>
      <p:sp>
        <p:nvSpPr>
          <p:cNvPr id="18" name="cerchio FiFileText"/>
          <p:cNvSpPr/>
          <p:nvPr/>
        </p:nvSpPr>
        <p:spPr>
          <a:xfrm>
            <a:off x="4828032" y="1261872"/>
            <a:ext cx="438912" cy="438912"/>
          </a:xfrm>
          <a:prstGeom prst="ellipse">
            <a:avLst/>
          </a:prstGeom>
          <a:solidFill>
            <a:schemeClr val="accent1"/>
          </a:solidFill>
          <a:ln/>
        </p:spPr>
      </p:sp>
      <p:pic>
        <p:nvPicPr>
          <p:cNvPr id="19" name="Image 1" descr="FiFileText">    </p:cNvPr>
          <p:cNvPicPr>
            <a:picLocks noChangeAspect="1"/>
          </p:cNvPicPr>
          <p:nvPr/>
        </p:nvPicPr>
        <p:blipFill>
          <a:blip r:embed="rId2"/>
          <a:stretch>
            <a:fillRect/>
          </a:stretch>
        </p:blipFill>
        <p:spPr>
          <a:xfrm>
            <a:off x="4937760" y="1371600"/>
            <a:ext cx="219456" cy="219456"/>
          </a:xfrm>
          <a:prstGeom prst="rect">
            <a:avLst/>
          </a:prstGeom>
        </p:spPr>
      </p:pic>
      <p:sp>
        <p:nvSpPr>
          <p:cNvPr id="20" name="Text 15"/>
          <p:cNvSpPr txBox="1"/>
          <p:nvPr/>
        </p:nvSpPr>
        <p:spPr>
          <a:xfrm>
            <a:off x="5376672" y="122529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Documenti di lavoro</a:t>
            </a:r>
            <a:endParaRPr lang="en-US" sz="1500" dirty="0"/>
          </a:p>
        </p:txBody>
      </p:sp>
      <p:sp>
        <p:nvSpPr>
          <p:cNvPr id="21" name="Text 16"/>
          <p:cNvSpPr txBox="1"/>
          <p:nvPr/>
        </p:nvSpPr>
        <p:spPr>
          <a:xfrm>
            <a:off x="4828032" y="1810512"/>
            <a:ext cx="3694176" cy="429768"/>
          </a:xfrm>
          <a:prstGeom prst="rect">
            <a:avLst/>
          </a:prstGeom>
          <a:noFill/>
          <a:ln/>
        </p:spPr>
        <p:txBody>
          <a:bodyPr wrap="square" lIns="0" tIns="0" rIns="0" bIns="0" rtlCol="0" anchor="t"/>
          <a:lstStyle/>
          <a:p>
            <a:pPr indent="0" marL="0">
              <a:buNone/>
            </a:pPr>
            <a:r>
              <a:rPr lang="en-US" sz="1300" dirty="0">
                <a:solidFill>
                  <a:schemeClr val="tx2"/>
                </a:solidFill>
              </a:rPr>
              <a:t>Relazioni, report, verbali da appunti, proposte</a:t>
            </a:r>
            <a:endParaRPr lang="en-US" sz="1300" dirty="0"/>
          </a:p>
        </p:txBody>
      </p:sp>
      <p:sp>
        <p:nvSpPr>
          <p:cNvPr id="22" name="Contenuti informativi"/>
          <p:cNvSpPr/>
          <p:nvPr/>
        </p:nvSpPr>
        <p:spPr>
          <a:xfrm>
            <a:off x="457200" y="2514600"/>
            <a:ext cx="4023360" cy="1234440"/>
          </a:xfrm>
          <a:prstGeom prst="roundRect">
            <a:avLst>
              <a:gd name="adj" fmla="val 5926"/>
            </a:avLst>
          </a:prstGeom>
          <a:solidFill>
            <a:schemeClr val="bg2"/>
          </a:solidFill>
          <a:ln/>
        </p:spPr>
      </p:sp>
      <p:sp>
        <p:nvSpPr>
          <p:cNvPr id="23" name="cerchio FiInfo"/>
          <p:cNvSpPr/>
          <p:nvPr/>
        </p:nvSpPr>
        <p:spPr>
          <a:xfrm>
            <a:off x="621792" y="2679192"/>
            <a:ext cx="438912" cy="438912"/>
          </a:xfrm>
          <a:prstGeom prst="ellipse">
            <a:avLst/>
          </a:prstGeom>
          <a:solidFill>
            <a:schemeClr val="accent1"/>
          </a:solidFill>
          <a:ln/>
        </p:spPr>
      </p:sp>
      <p:pic>
        <p:nvPicPr>
          <p:cNvPr id="24" name="Image 2" descr="FiInfo">    </p:cNvPr>
          <p:cNvPicPr>
            <a:picLocks noChangeAspect="1"/>
          </p:cNvPicPr>
          <p:nvPr/>
        </p:nvPicPr>
        <p:blipFill>
          <a:blip r:embed="rId3"/>
          <a:stretch>
            <a:fillRect/>
          </a:stretch>
        </p:blipFill>
        <p:spPr>
          <a:xfrm>
            <a:off x="731520" y="2788920"/>
            <a:ext cx="219456" cy="219456"/>
          </a:xfrm>
          <a:prstGeom prst="rect">
            <a:avLst/>
          </a:prstGeom>
        </p:spPr>
      </p:pic>
      <p:sp>
        <p:nvSpPr>
          <p:cNvPr id="25" name="Text 19"/>
          <p:cNvSpPr txBox="1"/>
          <p:nvPr/>
        </p:nvSpPr>
        <p:spPr>
          <a:xfrm>
            <a:off x="1170432" y="264261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Contenuti informativi</a:t>
            </a:r>
            <a:endParaRPr lang="en-US" sz="1500" dirty="0"/>
          </a:p>
        </p:txBody>
      </p:sp>
      <p:sp>
        <p:nvSpPr>
          <p:cNvPr id="26" name="Text 20"/>
          <p:cNvSpPr txBox="1"/>
          <p:nvPr/>
        </p:nvSpPr>
        <p:spPr>
          <a:xfrm>
            <a:off x="621792" y="3227832"/>
            <a:ext cx="3694176" cy="429768"/>
          </a:xfrm>
          <a:prstGeom prst="rect">
            <a:avLst/>
          </a:prstGeom>
          <a:noFill/>
          <a:ln/>
        </p:spPr>
        <p:txBody>
          <a:bodyPr wrap="square" lIns="0" tIns="0" rIns="0" bIns="0" rtlCol="0" anchor="t"/>
          <a:lstStyle/>
          <a:p>
            <a:pPr indent="0" marL="0">
              <a:buNone/>
            </a:pPr>
            <a:r>
              <a:rPr lang="en-US" sz="1300" dirty="0">
                <a:solidFill>
                  <a:schemeClr val="tx2"/>
                </a:solidFill>
              </a:rPr>
              <a:t>Descrizioni, schede, FAQ, istruzioni, testi per la intranet</a:t>
            </a:r>
            <a:endParaRPr lang="en-US" sz="1300" dirty="0"/>
          </a:p>
        </p:txBody>
      </p:sp>
      <p:sp>
        <p:nvSpPr>
          <p:cNvPr id="27" name="Bozze e strutture"/>
          <p:cNvSpPr/>
          <p:nvPr/>
        </p:nvSpPr>
        <p:spPr>
          <a:xfrm>
            <a:off x="4663440" y="2514600"/>
            <a:ext cx="4023360" cy="1234440"/>
          </a:xfrm>
          <a:prstGeom prst="roundRect">
            <a:avLst>
              <a:gd name="adj" fmla="val 5926"/>
            </a:avLst>
          </a:prstGeom>
          <a:solidFill>
            <a:schemeClr val="bg2"/>
          </a:solidFill>
          <a:ln/>
        </p:spPr>
      </p:sp>
      <p:sp>
        <p:nvSpPr>
          <p:cNvPr id="28" name="cerchio FiList"/>
          <p:cNvSpPr/>
          <p:nvPr/>
        </p:nvSpPr>
        <p:spPr>
          <a:xfrm>
            <a:off x="4828032" y="2679192"/>
            <a:ext cx="438912" cy="438912"/>
          </a:xfrm>
          <a:prstGeom prst="ellipse">
            <a:avLst/>
          </a:prstGeom>
          <a:solidFill>
            <a:schemeClr val="accent1"/>
          </a:solidFill>
          <a:ln/>
        </p:spPr>
      </p:sp>
      <p:pic>
        <p:nvPicPr>
          <p:cNvPr id="29" name="Image 3" descr="FiList">    </p:cNvPr>
          <p:cNvPicPr>
            <a:picLocks noChangeAspect="1"/>
          </p:cNvPicPr>
          <p:nvPr/>
        </p:nvPicPr>
        <p:blipFill>
          <a:blip r:embed="rId4"/>
          <a:stretch>
            <a:fillRect/>
          </a:stretch>
        </p:blipFill>
        <p:spPr>
          <a:xfrm>
            <a:off x="4937760" y="2788920"/>
            <a:ext cx="219456" cy="219456"/>
          </a:xfrm>
          <a:prstGeom prst="rect">
            <a:avLst/>
          </a:prstGeom>
        </p:spPr>
      </p:pic>
      <p:sp>
        <p:nvSpPr>
          <p:cNvPr id="30" name="Text 23"/>
          <p:cNvSpPr txBox="1"/>
          <p:nvPr/>
        </p:nvSpPr>
        <p:spPr>
          <a:xfrm>
            <a:off x="5376672" y="264261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Bozze e strutture</a:t>
            </a:r>
            <a:endParaRPr lang="en-US" sz="1500" dirty="0"/>
          </a:p>
        </p:txBody>
      </p:sp>
      <p:sp>
        <p:nvSpPr>
          <p:cNvPr id="31" name="Text 24"/>
          <p:cNvSpPr txBox="1"/>
          <p:nvPr/>
        </p:nvSpPr>
        <p:spPr>
          <a:xfrm>
            <a:off x="4828032" y="3227832"/>
            <a:ext cx="3694176" cy="429768"/>
          </a:xfrm>
          <a:prstGeom prst="rect">
            <a:avLst/>
          </a:prstGeom>
          <a:noFill/>
          <a:ln/>
        </p:spPr>
        <p:txBody>
          <a:bodyPr wrap="square" lIns="0" tIns="0" rIns="0" bIns="0" rtlCol="0" anchor="t"/>
          <a:lstStyle/>
          <a:p>
            <a:pPr indent="0" marL="0">
              <a:buNone/>
            </a:pPr>
            <a:r>
              <a:rPr lang="en-US" sz="1300" dirty="0">
                <a:solidFill>
                  <a:schemeClr val="tx2"/>
                </a:solidFill>
              </a:rPr>
              <a:t>Scalette, indici, prime versioni, modelli riutilizzabili</a:t>
            </a:r>
            <a:endParaRPr lang="en-US" sz="1300" dirty="0"/>
          </a:p>
        </p:txBody>
      </p:sp>
      <p:sp>
        <p:nvSpPr>
          <p:cNvPr id="32" name="messaggio"/>
          <p:cNvSpPr/>
          <p:nvPr/>
        </p:nvSpPr>
        <p:spPr>
          <a:xfrm>
            <a:off x="457200" y="3931920"/>
            <a:ext cx="8229600" cy="594360"/>
          </a:xfrm>
          <a:prstGeom prst="roundRect">
            <a:avLst>
              <a:gd name="adj" fmla="val 12308"/>
            </a:avLst>
          </a:prstGeom>
          <a:solidFill>
            <a:schemeClr val="tx1"/>
          </a:solidFill>
          <a:ln/>
        </p:spPr>
      </p:sp>
      <p:sp>
        <p:nvSpPr>
          <p:cNvPr id="33" name="Text 26"/>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Più il testo riguarda fatti specifici, più conta fornire il materiale di partenza: altrimenti il sistema riempie i vuoti.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Dalle istruzioni al testo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Istruzioni"/>
          <p:cNvSpPr/>
          <p:nvPr/>
        </p:nvSpPr>
        <p:spPr>
          <a:xfrm>
            <a:off x="457200" y="1051560"/>
            <a:ext cx="4846320" cy="804672"/>
          </a:xfrm>
          <a:prstGeom prst="roundRect">
            <a:avLst>
              <a:gd name="adj" fmla="val 9091"/>
            </a:avLst>
          </a:prstGeom>
          <a:solidFill>
            <a:schemeClr val="bg2"/>
          </a:solidFill>
          <a:ln/>
        </p:spPr>
      </p:sp>
      <p:sp>
        <p:nvSpPr>
          <p:cNvPr id="13" name="cerchio FiSliders"/>
          <p:cNvSpPr/>
          <p:nvPr/>
        </p:nvSpPr>
        <p:spPr>
          <a:xfrm>
            <a:off x="621792" y="1207008"/>
            <a:ext cx="493776" cy="493776"/>
          </a:xfrm>
          <a:prstGeom prst="ellipse">
            <a:avLst/>
          </a:prstGeom>
          <a:solidFill>
            <a:schemeClr val="accent1"/>
          </a:solidFill>
          <a:ln/>
        </p:spPr>
      </p:sp>
      <p:pic>
        <p:nvPicPr>
          <p:cNvPr id="14" name="Image 0" descr="FiSliders">    </p:cNvPr>
          <p:cNvPicPr>
            <a:picLocks noChangeAspect="1"/>
          </p:cNvPicPr>
          <p:nvPr/>
        </p:nvPicPr>
        <p:blipFill>
          <a:blip r:embed="rId1"/>
          <a:stretch>
            <a:fillRect/>
          </a:stretch>
        </p:blipFill>
        <p:spPr>
          <a:xfrm>
            <a:off x="745236" y="1330452"/>
            <a:ext cx="246888" cy="246888"/>
          </a:xfrm>
          <a:prstGeom prst="rect">
            <a:avLst/>
          </a:prstGeom>
        </p:spPr>
      </p:pic>
      <p:sp>
        <p:nvSpPr>
          <p:cNvPr id="15" name="Text 11"/>
          <p:cNvSpPr txBox="1"/>
          <p:nvPr/>
        </p:nvSpPr>
        <p:spPr>
          <a:xfrm>
            <a:off x="1280160" y="1124712"/>
            <a:ext cx="2103120" cy="329184"/>
          </a:xfrm>
          <a:prstGeom prst="rect">
            <a:avLst/>
          </a:prstGeom>
          <a:noFill/>
          <a:ln/>
        </p:spPr>
        <p:txBody>
          <a:bodyPr wrap="square" lIns="0" tIns="0" rIns="0" bIns="0" rtlCol="0" anchor="t"/>
          <a:lstStyle/>
          <a:p>
            <a:pPr indent="0" marL="0">
              <a:buNone/>
            </a:pPr>
            <a:r>
              <a:rPr lang="en-US" sz="1400" b="1" dirty="0">
                <a:solidFill>
                  <a:schemeClr val="tx1"/>
                </a:solidFill>
              </a:rPr>
              <a:t>Istruzioni</a:t>
            </a:r>
            <a:endParaRPr lang="en-US" sz="1400" dirty="0"/>
          </a:p>
        </p:txBody>
      </p:sp>
      <p:sp>
        <p:nvSpPr>
          <p:cNvPr id="16" name="Text 12"/>
          <p:cNvSpPr txBox="1"/>
          <p:nvPr/>
        </p:nvSpPr>
        <p:spPr>
          <a:xfrm>
            <a:off x="3383280" y="1124712"/>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Come scrivere</a:t>
            </a:r>
            <a:endParaRPr lang="en-US" sz="1200" dirty="0"/>
          </a:p>
        </p:txBody>
      </p:sp>
      <p:sp>
        <p:nvSpPr>
          <p:cNvPr id="17" name="Text 13"/>
          <p:cNvSpPr txBox="1"/>
          <p:nvPr/>
        </p:nvSpPr>
        <p:spPr>
          <a:xfrm>
            <a:off x="1280160" y="1463040"/>
            <a:ext cx="3931920" cy="347472"/>
          </a:xfrm>
          <a:prstGeom prst="rect">
            <a:avLst/>
          </a:prstGeom>
          <a:noFill/>
          <a:ln/>
        </p:spPr>
        <p:txBody>
          <a:bodyPr wrap="square" lIns="0" tIns="0" rIns="0" bIns="0" rtlCol="0" anchor="t"/>
          <a:lstStyle/>
          <a:p>
            <a:pPr indent="0" marL="0">
              <a:buNone/>
            </a:pPr>
            <a:r>
              <a:rPr lang="en-US" sz="1200" dirty="0">
                <a:solidFill>
                  <a:schemeClr val="tx2"/>
                </a:solidFill>
              </a:rPr>
              <a:t>Scopo, destinatario, tono, lunghezza, struttura</a:t>
            </a:r>
            <a:endParaRPr lang="en-US" sz="1200" dirty="0"/>
          </a:p>
        </p:txBody>
      </p:sp>
      <p:sp>
        <p:nvSpPr>
          <p:cNvPr id="18" name="Materiale di partenza"/>
          <p:cNvSpPr/>
          <p:nvPr/>
        </p:nvSpPr>
        <p:spPr>
          <a:xfrm>
            <a:off x="457200" y="1965960"/>
            <a:ext cx="4846320" cy="804672"/>
          </a:xfrm>
          <a:prstGeom prst="roundRect">
            <a:avLst>
              <a:gd name="adj" fmla="val 9091"/>
            </a:avLst>
          </a:prstGeom>
          <a:solidFill>
            <a:schemeClr val="accent6"/>
          </a:solidFill>
          <a:ln/>
        </p:spPr>
      </p:sp>
      <p:sp>
        <p:nvSpPr>
          <p:cNvPr id="19" name="cerchio FiFolder"/>
          <p:cNvSpPr/>
          <p:nvPr/>
        </p:nvSpPr>
        <p:spPr>
          <a:xfrm>
            <a:off x="621792" y="2121408"/>
            <a:ext cx="493776" cy="493776"/>
          </a:xfrm>
          <a:prstGeom prst="ellipse">
            <a:avLst/>
          </a:prstGeom>
          <a:solidFill>
            <a:schemeClr val="accent1"/>
          </a:solidFill>
          <a:ln/>
        </p:spPr>
      </p:sp>
      <p:pic>
        <p:nvPicPr>
          <p:cNvPr id="20" name="Image 1" descr="FiFolder">    </p:cNvPr>
          <p:cNvPicPr>
            <a:picLocks noChangeAspect="1"/>
          </p:cNvPicPr>
          <p:nvPr/>
        </p:nvPicPr>
        <p:blipFill>
          <a:blip r:embed="rId2"/>
          <a:stretch>
            <a:fillRect/>
          </a:stretch>
        </p:blipFill>
        <p:spPr>
          <a:xfrm>
            <a:off x="745236" y="2244852"/>
            <a:ext cx="246888" cy="246888"/>
          </a:xfrm>
          <a:prstGeom prst="rect">
            <a:avLst/>
          </a:prstGeom>
        </p:spPr>
      </p:pic>
      <p:sp>
        <p:nvSpPr>
          <p:cNvPr id="21" name="Text 16"/>
          <p:cNvSpPr txBox="1"/>
          <p:nvPr/>
        </p:nvSpPr>
        <p:spPr>
          <a:xfrm>
            <a:off x="1280160" y="2039112"/>
            <a:ext cx="2103120" cy="329184"/>
          </a:xfrm>
          <a:prstGeom prst="rect">
            <a:avLst/>
          </a:prstGeom>
          <a:noFill/>
          <a:ln/>
        </p:spPr>
        <p:txBody>
          <a:bodyPr wrap="square" lIns="0" tIns="0" rIns="0" bIns="0" rtlCol="0" anchor="t"/>
          <a:lstStyle/>
          <a:p>
            <a:pPr indent="0" marL="0">
              <a:buNone/>
            </a:pPr>
            <a:r>
              <a:rPr lang="en-US" sz="1400" b="1" dirty="0">
                <a:solidFill>
                  <a:schemeClr val="tx1"/>
                </a:solidFill>
              </a:rPr>
              <a:t>Materiale di partenza</a:t>
            </a:r>
            <a:endParaRPr lang="en-US" sz="1400" dirty="0"/>
          </a:p>
        </p:txBody>
      </p:sp>
      <p:sp>
        <p:nvSpPr>
          <p:cNvPr id="22" name="Text 17"/>
          <p:cNvSpPr txBox="1"/>
          <p:nvPr/>
        </p:nvSpPr>
        <p:spPr>
          <a:xfrm>
            <a:off x="3383280" y="2039112"/>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Che cosa scrivere</a:t>
            </a:r>
            <a:endParaRPr lang="en-US" sz="1200" dirty="0"/>
          </a:p>
        </p:txBody>
      </p:sp>
      <p:sp>
        <p:nvSpPr>
          <p:cNvPr id="23" name="Text 18"/>
          <p:cNvSpPr txBox="1"/>
          <p:nvPr/>
        </p:nvSpPr>
        <p:spPr>
          <a:xfrm>
            <a:off x="1280160" y="2377440"/>
            <a:ext cx="3931920" cy="347472"/>
          </a:xfrm>
          <a:prstGeom prst="rect">
            <a:avLst/>
          </a:prstGeom>
          <a:noFill/>
          <a:ln/>
        </p:spPr>
        <p:txBody>
          <a:bodyPr wrap="square" lIns="0" tIns="0" rIns="0" bIns="0" rtlCol="0" anchor="t"/>
          <a:lstStyle/>
          <a:p>
            <a:pPr indent="0" marL="0">
              <a:buNone/>
            </a:pPr>
            <a:r>
              <a:rPr lang="en-US" sz="1200" dirty="0">
                <a:solidFill>
                  <a:schemeClr val="tx2"/>
                </a:solidFill>
              </a:rPr>
              <a:t>Fatti, dati, appunti, decisioni già prese</a:t>
            </a:r>
            <a:endParaRPr lang="en-US" sz="1200" dirty="0"/>
          </a:p>
        </p:txBody>
      </p:sp>
      <p:sp>
        <p:nvSpPr>
          <p:cNvPr id="24" name="Esempi e stile"/>
          <p:cNvSpPr/>
          <p:nvPr/>
        </p:nvSpPr>
        <p:spPr>
          <a:xfrm>
            <a:off x="457200" y="2880360"/>
            <a:ext cx="4846320" cy="804672"/>
          </a:xfrm>
          <a:prstGeom prst="roundRect">
            <a:avLst>
              <a:gd name="adj" fmla="val 9091"/>
            </a:avLst>
          </a:prstGeom>
          <a:solidFill>
            <a:schemeClr val="bg2"/>
          </a:solidFill>
          <a:ln/>
        </p:spPr>
      </p:sp>
      <p:sp>
        <p:nvSpPr>
          <p:cNvPr id="25" name="cerchio FiBookmark"/>
          <p:cNvSpPr/>
          <p:nvPr/>
        </p:nvSpPr>
        <p:spPr>
          <a:xfrm>
            <a:off x="621792" y="3035808"/>
            <a:ext cx="493776" cy="493776"/>
          </a:xfrm>
          <a:prstGeom prst="ellipse">
            <a:avLst/>
          </a:prstGeom>
          <a:solidFill>
            <a:schemeClr val="accent1"/>
          </a:solidFill>
          <a:ln/>
        </p:spPr>
      </p:sp>
      <p:pic>
        <p:nvPicPr>
          <p:cNvPr id="26" name="Image 2" descr="FiBookmark">    </p:cNvPr>
          <p:cNvPicPr>
            <a:picLocks noChangeAspect="1"/>
          </p:cNvPicPr>
          <p:nvPr/>
        </p:nvPicPr>
        <p:blipFill>
          <a:blip r:embed="rId3"/>
          <a:stretch>
            <a:fillRect/>
          </a:stretch>
        </p:blipFill>
        <p:spPr>
          <a:xfrm>
            <a:off x="745236" y="3159252"/>
            <a:ext cx="246888" cy="246888"/>
          </a:xfrm>
          <a:prstGeom prst="rect">
            <a:avLst/>
          </a:prstGeom>
        </p:spPr>
      </p:pic>
      <p:sp>
        <p:nvSpPr>
          <p:cNvPr id="27" name="Text 21"/>
          <p:cNvSpPr txBox="1"/>
          <p:nvPr/>
        </p:nvSpPr>
        <p:spPr>
          <a:xfrm>
            <a:off x="1280160" y="2953512"/>
            <a:ext cx="2103120" cy="329184"/>
          </a:xfrm>
          <a:prstGeom prst="rect">
            <a:avLst/>
          </a:prstGeom>
          <a:noFill/>
          <a:ln/>
        </p:spPr>
        <p:txBody>
          <a:bodyPr wrap="square" lIns="0" tIns="0" rIns="0" bIns="0" rtlCol="0" anchor="t"/>
          <a:lstStyle/>
          <a:p>
            <a:pPr indent="0" marL="0">
              <a:buNone/>
            </a:pPr>
            <a:r>
              <a:rPr lang="en-US" sz="1400" b="1" dirty="0">
                <a:solidFill>
                  <a:schemeClr val="tx1"/>
                </a:solidFill>
              </a:rPr>
              <a:t>Esempi e stile</a:t>
            </a:r>
            <a:endParaRPr lang="en-US" sz="1400" dirty="0"/>
          </a:p>
        </p:txBody>
      </p:sp>
      <p:sp>
        <p:nvSpPr>
          <p:cNvPr id="28" name="Text 22"/>
          <p:cNvSpPr txBox="1"/>
          <p:nvPr/>
        </p:nvSpPr>
        <p:spPr>
          <a:xfrm>
            <a:off x="3383280" y="2953512"/>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In che stile</a:t>
            </a:r>
            <a:endParaRPr lang="en-US" sz="1200" dirty="0"/>
          </a:p>
        </p:txBody>
      </p:sp>
      <p:sp>
        <p:nvSpPr>
          <p:cNvPr id="29" name="Text 23"/>
          <p:cNvSpPr txBox="1"/>
          <p:nvPr/>
        </p:nvSpPr>
        <p:spPr>
          <a:xfrm>
            <a:off x="1280160" y="3291840"/>
            <a:ext cx="3931920" cy="347472"/>
          </a:xfrm>
          <a:prstGeom prst="rect">
            <a:avLst/>
          </a:prstGeom>
          <a:noFill/>
          <a:ln/>
        </p:spPr>
        <p:txBody>
          <a:bodyPr wrap="square" lIns="0" tIns="0" rIns="0" bIns="0" rtlCol="0" anchor="t"/>
          <a:lstStyle/>
          <a:p>
            <a:pPr indent="0" marL="0">
              <a:buNone/>
            </a:pPr>
            <a:r>
              <a:rPr lang="en-US" sz="1200" dirty="0">
                <a:solidFill>
                  <a:schemeClr val="tx2"/>
                </a:solidFill>
              </a:rPr>
              <a:t>Testi approvati, linee guida, modo di rivolgersi</a:t>
            </a:r>
            <a:endParaRPr lang="en-US" sz="1200" dirty="0"/>
          </a:p>
        </p:txBody>
      </p:sp>
      <p:sp>
        <p:nvSpPr>
          <p:cNvPr id="30" name="freccia"/>
          <p:cNvSpPr/>
          <p:nvPr/>
        </p:nvSpPr>
        <p:spPr>
          <a:xfrm>
            <a:off x="5440680" y="2103120"/>
            <a:ext cx="365760" cy="292608"/>
          </a:xfrm>
          <a:prstGeom prst="rightArrow">
            <a:avLst/>
          </a:prstGeom>
          <a:solidFill>
            <a:schemeClr val="accent2"/>
          </a:solidFill>
          <a:ln/>
        </p:spPr>
      </p:sp>
      <p:sp>
        <p:nvSpPr>
          <p:cNvPr id="31" name="testo"/>
          <p:cNvSpPr/>
          <p:nvPr/>
        </p:nvSpPr>
        <p:spPr>
          <a:xfrm>
            <a:off x="5943600" y="1051560"/>
            <a:ext cx="2743200" cy="2633472"/>
          </a:xfrm>
          <a:prstGeom prst="roundRect">
            <a:avLst>
              <a:gd name="adj" fmla="val 2778"/>
            </a:avLst>
          </a:prstGeom>
          <a:solidFill>
            <a:schemeClr val="tx1"/>
          </a:solidFill>
          <a:ln/>
        </p:spPr>
      </p:sp>
      <p:sp>
        <p:nvSpPr>
          <p:cNvPr id="32" name="cerchio FiFileText"/>
          <p:cNvSpPr/>
          <p:nvPr/>
        </p:nvSpPr>
        <p:spPr>
          <a:xfrm>
            <a:off x="6995160" y="1234440"/>
            <a:ext cx="640080" cy="640080"/>
          </a:xfrm>
          <a:prstGeom prst="ellipse">
            <a:avLst/>
          </a:prstGeom>
          <a:solidFill>
            <a:schemeClr val="accent1"/>
          </a:solidFill>
          <a:ln/>
        </p:spPr>
      </p:sp>
      <p:pic>
        <p:nvPicPr>
          <p:cNvPr id="33" name="Image 3" descr="FiFileText">    </p:cNvPr>
          <p:cNvPicPr>
            <a:picLocks noChangeAspect="1"/>
          </p:cNvPicPr>
          <p:nvPr/>
        </p:nvPicPr>
        <p:blipFill>
          <a:blip r:embed="rId4"/>
          <a:stretch>
            <a:fillRect/>
          </a:stretch>
        </p:blipFill>
        <p:spPr>
          <a:xfrm>
            <a:off x="7155180" y="1394460"/>
            <a:ext cx="320040" cy="320040"/>
          </a:xfrm>
          <a:prstGeom prst="rect">
            <a:avLst/>
          </a:prstGeom>
        </p:spPr>
      </p:pic>
      <p:sp>
        <p:nvSpPr>
          <p:cNvPr id="34" name="Text 27"/>
          <p:cNvSpPr txBox="1"/>
          <p:nvPr/>
        </p:nvSpPr>
        <p:spPr>
          <a:xfrm>
            <a:off x="6080760" y="1965960"/>
            <a:ext cx="2468880" cy="365760"/>
          </a:xfrm>
          <a:prstGeom prst="rect">
            <a:avLst/>
          </a:prstGeom>
          <a:noFill/>
          <a:ln/>
        </p:spPr>
        <p:txBody>
          <a:bodyPr wrap="square" lIns="0" tIns="0" rIns="0" bIns="0" rtlCol="0" anchor="t"/>
          <a:lstStyle/>
          <a:p>
            <a:pPr algn="ctr" indent="0" marL="0">
              <a:buNone/>
            </a:pPr>
            <a:r>
              <a:rPr lang="en-US" sz="1600" b="1" dirty="0">
                <a:solidFill>
                  <a:schemeClr val="bg1"/>
                </a:solidFill>
              </a:rPr>
              <a:t>Testo generato</a:t>
            </a:r>
            <a:endParaRPr lang="en-US" sz="1600" dirty="0"/>
          </a:p>
        </p:txBody>
      </p:sp>
      <p:sp>
        <p:nvSpPr>
          <p:cNvPr id="35" name="Text 28"/>
          <p:cNvSpPr txBox="1"/>
          <p:nvPr/>
        </p:nvSpPr>
        <p:spPr>
          <a:xfrm>
            <a:off x="6126480" y="2377440"/>
            <a:ext cx="2377440" cy="822960"/>
          </a:xfrm>
          <a:prstGeom prst="rect">
            <a:avLst/>
          </a:prstGeom>
          <a:noFill/>
          <a:ln/>
        </p:spPr>
        <p:txBody>
          <a:bodyPr wrap="square" lIns="0" tIns="0" rIns="0" bIns="0" rtlCol="0" anchor="t"/>
          <a:lstStyle/>
          <a:p>
            <a:pPr algn="ctr" indent="0" marL="0">
              <a:buNone/>
            </a:pPr>
            <a:r>
              <a:rPr lang="en-US" sz="1200" dirty="0">
                <a:solidFill>
                  <a:schemeClr val="accent3"/>
                </a:solidFill>
              </a:rPr>
              <a:t>La qualità dipende da tutti e tre gli ingredienti</a:t>
            </a:r>
            <a:endParaRPr lang="en-US" sz="1200" dirty="0"/>
          </a:p>
        </p:txBody>
      </p:sp>
      <p:sp>
        <p:nvSpPr>
          <p:cNvPr id="36" name="Text 29"/>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300" b="1" i="1" dirty="0">
                <a:solidFill>
                  <a:schemeClr val="accent5"/>
                </a:solidFill>
              </a:rPr>
              <a:t>Senza materiale, il testo è generico, o inventa dettagli verosimili: date, nomi, numeri, impegni.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Adattare il testo ai destinatari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Contenuto di base (esempio fittizio)"/>
          <p:cNvSpPr/>
          <p:nvPr/>
        </p:nvSpPr>
        <p:spPr>
          <a:xfrm>
            <a:off x="457200" y="1051560"/>
            <a:ext cx="8229600" cy="685800"/>
          </a:xfrm>
          <a:prstGeom prst="roundRect">
            <a:avLst>
              <a:gd name="adj" fmla="val 10667"/>
            </a:avLst>
          </a:prstGeom>
          <a:solidFill>
            <a:schemeClr val="bg2"/>
          </a:solidFill>
          <a:ln/>
        </p:spPr>
      </p:sp>
      <p:sp>
        <p:nvSpPr>
          <p:cNvPr id="13" name="barra"/>
          <p:cNvSpPr/>
          <p:nvPr/>
        </p:nvSpPr>
        <p:spPr>
          <a:xfrm>
            <a:off x="457200" y="1161288"/>
            <a:ext cx="54864" cy="466344"/>
          </a:xfrm>
          <a:prstGeom prst="rect">
            <a:avLst/>
          </a:prstGeom>
          <a:solidFill>
            <a:schemeClr val="accent1"/>
          </a:solidFill>
          <a:ln/>
        </p:spPr>
      </p:sp>
      <p:sp>
        <p:nvSpPr>
          <p:cNvPr id="14" name="Text 11"/>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Contenuto di base (esempio fittizio)</a:t>
            </a:r>
            <a:endParaRPr lang="en-US" sz="1100" dirty="0"/>
          </a:p>
        </p:txBody>
      </p:sp>
      <p:sp>
        <p:nvSpPr>
          <p:cNvPr id="15" name="Text 12"/>
          <p:cNvSpPr txBox="1"/>
          <p:nvPr/>
        </p:nvSpPr>
        <p:spPr>
          <a:xfrm>
            <a:off x="658368" y="1435608"/>
            <a:ext cx="7863840" cy="210312"/>
          </a:xfrm>
          <a:prstGeom prst="rect">
            <a:avLst/>
          </a:prstGeom>
          <a:noFill/>
          <a:ln/>
        </p:spPr>
        <p:txBody>
          <a:bodyPr wrap="square" lIns="0" tIns="0" rIns="0" bIns="0" rtlCol="0" anchor="t"/>
          <a:lstStyle/>
          <a:p>
            <a:pPr indent="0" marL="0">
              <a:buNone/>
            </a:pPr>
            <a:r>
              <a:rPr lang="en-US" sz="1200" dirty="0">
                <a:solidFill>
                  <a:schemeClr val="tx1"/>
                </a:solidFill>
              </a:rPr>
              <a:t>Dal 1° marzo il servizio clienti telefonico sarà attivo dalle 8 alle 18, invece che dalle 9 alle 17.</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8229600" cy="914400"/>
        </p:xfrm>
        <a:graphic>
          <a:graphicData uri="http://schemas.openxmlformats.org/drawingml/2006/table">
            <a:tbl>
              <a:tblPr/>
              <a:tblGrid>
                <a:gridCol w="2011680"/>
                <a:gridCol w="3383280"/>
                <a:gridCol w="2834640"/>
              </a:tblGrid>
              <a:tr h="411480">
                <a:tc>
                  <a:txBody>
                    <a:bodyPr/>
                    <a:lstStyle/>
                    <a:p>
                      <a:pPr indent="0" marL="0">
                        <a:buNone/>
                      </a:pPr>
                      <a:r>
                        <a:rPr lang="en-US" sz="1200" b="1" dirty="0">
                          <a:solidFill>
                            <a:schemeClr val="bg1"/>
                          </a:solidFill>
                        </a:rPr>
                        <a:t>Destinatario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conta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Registro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1"/>
                          </a:solidFill>
                        </a:rPr>
                        <a:t>Direzione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Motivazione, costi, effetti attesi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Sintetico, orientato alle decisioni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Colleghi del servizio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 quando, nuovi turni, a chi rivolgersi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Operativo, diretto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 cosa cambia per loro, come contattarci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Cortese, senza dettagli interni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7" name="messaggio"/>
          <p:cNvSpPr/>
          <p:nvPr/>
        </p:nvSpPr>
        <p:spPr>
          <a:xfrm>
            <a:off x="457200" y="3749040"/>
            <a:ext cx="8229600" cy="548640"/>
          </a:xfrm>
          <a:prstGeom prst="roundRect">
            <a:avLst>
              <a:gd name="adj" fmla="val 13333"/>
            </a:avLst>
          </a:prstGeom>
          <a:solidFill>
            <a:schemeClr val="tx1"/>
          </a:solidFill>
          <a:ln/>
        </p:spPr>
      </p:sp>
      <p:sp>
        <p:nvSpPr>
          <p:cNvPr id="18" name="Text 14"/>
          <p:cNvSpPr txBox="1"/>
          <p:nvPr/>
        </p:nvSpPr>
        <p:spPr>
          <a:xfrm>
            <a:off x="640080" y="3749040"/>
            <a:ext cx="7863840" cy="548640"/>
          </a:xfrm>
          <a:prstGeom prst="rect">
            <a:avLst/>
          </a:prstGeom>
          <a:noFill/>
          <a:ln/>
        </p:spPr>
        <p:txBody>
          <a:bodyPr wrap="square" lIns="0" tIns="0" rIns="0" bIns="0" rtlCol="0" anchor="ctr"/>
          <a:lstStyle/>
          <a:p>
            <a:pPr indent="0" marL="0">
              <a:buNone/>
            </a:pPr>
            <a:r>
              <a:rPr lang="en-US" sz="1300" dirty="0">
                <a:solidFill>
                  <a:schemeClr val="bg1"/>
                </a:solidFill>
              </a:rPr>
              <a:t>Ogni versione eredita gli errori della base, e va controllata per il proprio destinatario.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Tono, stile e registro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Tono"/>
          <p:cNvSpPr/>
          <p:nvPr/>
        </p:nvSpPr>
        <p:spPr>
          <a:xfrm>
            <a:off x="457200" y="1097280"/>
            <a:ext cx="2621280" cy="1463040"/>
          </a:xfrm>
          <a:prstGeom prst="roundRect">
            <a:avLst>
              <a:gd name="adj" fmla="val 5000"/>
            </a:avLst>
          </a:prstGeom>
          <a:solidFill>
            <a:schemeClr val="bg2"/>
          </a:solidFill>
          <a:ln/>
        </p:spPr>
      </p:sp>
      <p:sp>
        <p:nvSpPr>
          <p:cNvPr id="13" name="cerchio FiSmile"/>
          <p:cNvSpPr/>
          <p:nvPr/>
        </p:nvSpPr>
        <p:spPr>
          <a:xfrm>
            <a:off x="621792" y="1261872"/>
            <a:ext cx="438912" cy="438912"/>
          </a:xfrm>
          <a:prstGeom prst="ellipse">
            <a:avLst/>
          </a:prstGeom>
          <a:solidFill>
            <a:schemeClr val="accent1"/>
          </a:solidFill>
          <a:ln/>
        </p:spPr>
      </p:sp>
      <p:pic>
        <p:nvPicPr>
          <p:cNvPr id="14" name="Image 0" descr="FiSmile">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500" b="1" dirty="0">
                <a:solidFill>
                  <a:schemeClr val="tx1"/>
                </a:solidFill>
              </a:rPr>
              <a:t>Tono</a:t>
            </a:r>
            <a:endParaRPr lang="en-US" sz="1500" dirty="0"/>
          </a:p>
        </p:txBody>
      </p:sp>
      <p:sp>
        <p:nvSpPr>
          <p:cNvPr id="16" name="Text 12"/>
          <p:cNvSpPr txBox="1"/>
          <p:nvPr/>
        </p:nvSpPr>
        <p:spPr>
          <a:xfrm>
            <a:off x="62179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L'atteggiamento verso il destinatario: cordiale, formale, rassicurante, deciso</a:t>
            </a:r>
            <a:endParaRPr lang="en-US" sz="1200" dirty="0"/>
          </a:p>
        </p:txBody>
      </p:sp>
      <p:sp>
        <p:nvSpPr>
          <p:cNvPr id="17" name="Stile"/>
          <p:cNvSpPr/>
          <p:nvPr/>
        </p:nvSpPr>
        <p:spPr>
          <a:xfrm>
            <a:off x="3261360" y="1097280"/>
            <a:ext cx="2621280" cy="1463040"/>
          </a:xfrm>
          <a:prstGeom prst="roundRect">
            <a:avLst>
              <a:gd name="adj" fmla="val 5000"/>
            </a:avLst>
          </a:prstGeom>
          <a:solidFill>
            <a:schemeClr val="bg2"/>
          </a:solidFill>
          <a:ln/>
        </p:spPr>
      </p:sp>
      <p:sp>
        <p:nvSpPr>
          <p:cNvPr id="18" name="cerchio FiFeather"/>
          <p:cNvSpPr/>
          <p:nvPr/>
        </p:nvSpPr>
        <p:spPr>
          <a:xfrm>
            <a:off x="3425952" y="1261872"/>
            <a:ext cx="438912" cy="438912"/>
          </a:xfrm>
          <a:prstGeom prst="ellipse">
            <a:avLst/>
          </a:prstGeom>
          <a:solidFill>
            <a:schemeClr val="accent1"/>
          </a:solidFill>
          <a:ln/>
        </p:spPr>
      </p:sp>
      <p:pic>
        <p:nvPicPr>
          <p:cNvPr id="19" name="Image 1" descr="FiFeather">    </p:cNvPr>
          <p:cNvPicPr>
            <a:picLocks noChangeAspect="1"/>
          </p:cNvPicPr>
          <p:nvPr/>
        </p:nvPicPr>
        <p:blipFill>
          <a:blip r:embed="rId2"/>
          <a:stretch>
            <a:fillRect/>
          </a:stretch>
        </p:blipFill>
        <p:spPr>
          <a:xfrm>
            <a:off x="3535680" y="1371600"/>
            <a:ext cx="219456" cy="219456"/>
          </a:xfrm>
          <a:prstGeom prst="rect">
            <a:avLst/>
          </a:prstGeom>
        </p:spPr>
      </p:pic>
      <p:sp>
        <p:nvSpPr>
          <p:cNvPr id="20" name="Text 15"/>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500" b="1" dirty="0">
                <a:solidFill>
                  <a:schemeClr val="tx1"/>
                </a:solidFill>
              </a:rPr>
              <a:t>Stile</a:t>
            </a:r>
            <a:endParaRPr lang="en-US" sz="1500" dirty="0"/>
          </a:p>
        </p:txBody>
      </p:sp>
      <p:sp>
        <p:nvSpPr>
          <p:cNvPr id="21" name="Text 16"/>
          <p:cNvSpPr txBox="1"/>
          <p:nvPr/>
        </p:nvSpPr>
        <p:spPr>
          <a:xfrm>
            <a:off x="342595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Le scelte di scrittura: frasi, lessico, struttura</a:t>
            </a:r>
            <a:endParaRPr lang="en-US" sz="1200" dirty="0"/>
          </a:p>
        </p:txBody>
      </p:sp>
      <p:sp>
        <p:nvSpPr>
          <p:cNvPr id="22" name="Registro"/>
          <p:cNvSpPr/>
          <p:nvPr/>
        </p:nvSpPr>
        <p:spPr>
          <a:xfrm>
            <a:off x="6065520" y="1097280"/>
            <a:ext cx="2621280" cy="1463040"/>
          </a:xfrm>
          <a:prstGeom prst="roundRect">
            <a:avLst>
              <a:gd name="adj" fmla="val 5000"/>
            </a:avLst>
          </a:prstGeom>
          <a:solidFill>
            <a:schemeClr val="bg2"/>
          </a:solidFill>
          <a:ln/>
        </p:spPr>
      </p:sp>
      <p:sp>
        <p:nvSpPr>
          <p:cNvPr id="23" name="cerchio FiLayers"/>
          <p:cNvSpPr/>
          <p:nvPr/>
        </p:nvSpPr>
        <p:spPr>
          <a:xfrm>
            <a:off x="6230112" y="1261872"/>
            <a:ext cx="438912" cy="438912"/>
          </a:xfrm>
          <a:prstGeom prst="ellipse">
            <a:avLst/>
          </a:prstGeom>
          <a:solidFill>
            <a:schemeClr val="accent1"/>
          </a:solidFill>
          <a:ln/>
        </p:spPr>
      </p:sp>
      <p:pic>
        <p:nvPicPr>
          <p:cNvPr id="24" name="Image 2" descr="FiLayers">    </p:cNvPr>
          <p:cNvPicPr>
            <a:picLocks noChangeAspect="1"/>
          </p:cNvPicPr>
          <p:nvPr/>
        </p:nvPicPr>
        <p:blipFill>
          <a:blip r:embed="rId3"/>
          <a:stretch>
            <a:fillRect/>
          </a:stretch>
        </p:blipFill>
        <p:spPr>
          <a:xfrm>
            <a:off x="6339840" y="1371600"/>
            <a:ext cx="219456" cy="219456"/>
          </a:xfrm>
          <a:prstGeom prst="rect">
            <a:avLst/>
          </a:prstGeom>
        </p:spPr>
      </p:pic>
      <p:sp>
        <p:nvSpPr>
          <p:cNvPr id="25" name="Text 19"/>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500" b="1" dirty="0">
                <a:solidFill>
                  <a:schemeClr val="tx1"/>
                </a:solidFill>
              </a:rPr>
              <a:t>Registro</a:t>
            </a:r>
            <a:endParaRPr lang="en-US" sz="1500" dirty="0"/>
          </a:p>
        </p:txBody>
      </p:sp>
      <p:sp>
        <p:nvSpPr>
          <p:cNvPr id="26" name="Text 20"/>
          <p:cNvSpPr txBox="1"/>
          <p:nvPr/>
        </p:nvSpPr>
        <p:spPr>
          <a:xfrm>
            <a:off x="623011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Il livello di formalità adatto al contesto</a:t>
            </a:r>
            <a:endParaRPr lang="en-US" sz="1200" dirty="0"/>
          </a:p>
        </p:txBody>
      </p:sp>
      <p:sp>
        <p:nvSpPr>
          <p:cNvPr id="27" name="Tono di default"/>
          <p:cNvSpPr/>
          <p:nvPr/>
        </p:nvSpPr>
        <p:spPr>
          <a:xfrm>
            <a:off x="457200" y="2743200"/>
            <a:ext cx="8229600" cy="493776"/>
          </a:xfrm>
          <a:prstGeom prst="roundRect">
            <a:avLst>
              <a:gd name="adj" fmla="val 14815"/>
            </a:avLst>
          </a:prstGeom>
          <a:solidFill>
            <a:schemeClr val="bg2"/>
          </a:solidFill>
          <a:ln/>
        </p:spPr>
      </p:sp>
      <p:sp>
        <p:nvSpPr>
          <p:cNvPr id="28" name="Text 22"/>
          <p:cNvSpPr txBox="1"/>
          <p:nvPr/>
        </p:nvSpPr>
        <p:spPr>
          <a:xfrm>
            <a:off x="640080" y="2743200"/>
            <a:ext cx="2194560" cy="493776"/>
          </a:xfrm>
          <a:prstGeom prst="rect">
            <a:avLst/>
          </a:prstGeom>
          <a:noFill/>
          <a:ln/>
        </p:spPr>
        <p:txBody>
          <a:bodyPr wrap="square" lIns="0" tIns="0" rIns="0" bIns="0" rtlCol="0" anchor="ctr"/>
          <a:lstStyle/>
          <a:p>
            <a:pPr indent="0" marL="0">
              <a:buNone/>
            </a:pPr>
            <a:r>
              <a:rPr lang="en-US" sz="1300" b="1" dirty="0">
                <a:solidFill>
                  <a:schemeClr val="accent1"/>
                </a:solidFill>
              </a:rPr>
              <a:t>Tono di default</a:t>
            </a:r>
            <a:endParaRPr lang="en-US" sz="1300" dirty="0"/>
          </a:p>
        </p:txBody>
      </p:sp>
      <p:sp>
        <p:nvSpPr>
          <p:cNvPr id="29" name="Text 23"/>
          <p:cNvSpPr txBox="1"/>
          <p:nvPr/>
        </p:nvSpPr>
        <p:spPr>
          <a:xfrm>
            <a:off x="2834640" y="2743200"/>
            <a:ext cx="5669280" cy="493776"/>
          </a:xfrm>
          <a:prstGeom prst="rect">
            <a:avLst/>
          </a:prstGeom>
          <a:noFill/>
          <a:ln/>
        </p:spPr>
        <p:txBody>
          <a:bodyPr wrap="square" lIns="0" tIns="0" rIns="0" bIns="0" rtlCol="0" anchor="ctr"/>
          <a:lstStyle/>
          <a:p>
            <a:pPr indent="0" marL="0">
              <a:buNone/>
            </a:pPr>
            <a:r>
              <a:rPr lang="en-US" sz="1300" dirty="0">
                <a:solidFill>
                  <a:schemeClr val="tx1"/>
                </a:solidFill>
              </a:rPr>
              <a:t>Spesso entusiasta e cerimonioso: indicare il tono o dare un esempio</a:t>
            </a:r>
            <a:endParaRPr lang="en-US" sz="1300" dirty="0"/>
          </a:p>
        </p:txBody>
      </p:sp>
      <p:sp>
        <p:nvSpPr>
          <p:cNvPr id="30" name="Coerenza aziendale"/>
          <p:cNvSpPr/>
          <p:nvPr/>
        </p:nvSpPr>
        <p:spPr>
          <a:xfrm>
            <a:off x="457200" y="3310128"/>
            <a:ext cx="8229600" cy="493776"/>
          </a:xfrm>
          <a:prstGeom prst="roundRect">
            <a:avLst>
              <a:gd name="adj" fmla="val 14815"/>
            </a:avLst>
          </a:prstGeom>
          <a:solidFill>
            <a:schemeClr val="bg1"/>
          </a:solidFill>
          <a:ln/>
        </p:spPr>
      </p:sp>
      <p:sp>
        <p:nvSpPr>
          <p:cNvPr id="31" name="Text 25"/>
          <p:cNvSpPr txBox="1"/>
          <p:nvPr/>
        </p:nvSpPr>
        <p:spPr>
          <a:xfrm>
            <a:off x="640080" y="3310128"/>
            <a:ext cx="2194560" cy="493776"/>
          </a:xfrm>
          <a:prstGeom prst="rect">
            <a:avLst/>
          </a:prstGeom>
          <a:noFill/>
          <a:ln/>
        </p:spPr>
        <p:txBody>
          <a:bodyPr wrap="square" lIns="0" tIns="0" rIns="0" bIns="0" rtlCol="0" anchor="ctr"/>
          <a:lstStyle/>
          <a:p>
            <a:pPr indent="0" marL="0">
              <a:buNone/>
            </a:pPr>
            <a:r>
              <a:rPr lang="en-US" sz="1300" b="1" dirty="0">
                <a:solidFill>
                  <a:schemeClr val="accent1"/>
                </a:solidFill>
              </a:rPr>
              <a:t>Coerenza aziendale</a:t>
            </a:r>
            <a:endParaRPr lang="en-US" sz="1300" dirty="0"/>
          </a:p>
        </p:txBody>
      </p:sp>
      <p:sp>
        <p:nvSpPr>
          <p:cNvPr id="32" name="Text 26"/>
          <p:cNvSpPr txBox="1"/>
          <p:nvPr/>
        </p:nvSpPr>
        <p:spPr>
          <a:xfrm>
            <a:off x="2834640" y="3310128"/>
            <a:ext cx="5669280" cy="493776"/>
          </a:xfrm>
          <a:prstGeom prst="rect">
            <a:avLst/>
          </a:prstGeom>
          <a:noFill/>
          <a:ln/>
        </p:spPr>
        <p:txBody>
          <a:bodyPr wrap="square" lIns="0" tIns="0" rIns="0" bIns="0" rtlCol="0" anchor="ctr"/>
          <a:lstStyle/>
          <a:p>
            <a:pPr indent="0" marL="0">
              <a:buNone/>
            </a:pPr>
            <a:r>
              <a:rPr lang="en-US" sz="1300" dirty="0">
                <a:solidFill>
                  <a:schemeClr val="tx1"/>
                </a:solidFill>
              </a:rPr>
              <a:t>Non automatica: fornire le linee guida di stile</a:t>
            </a:r>
            <a:endParaRPr lang="en-US" sz="1300" dirty="0"/>
          </a:p>
        </p:txBody>
      </p:sp>
      <p:sp>
        <p:nvSpPr>
          <p:cNvPr id="33" name="Significato percepito"/>
          <p:cNvSpPr/>
          <p:nvPr/>
        </p:nvSpPr>
        <p:spPr>
          <a:xfrm>
            <a:off x="457200" y="3877056"/>
            <a:ext cx="8229600" cy="493776"/>
          </a:xfrm>
          <a:prstGeom prst="roundRect">
            <a:avLst>
              <a:gd name="adj" fmla="val 14815"/>
            </a:avLst>
          </a:prstGeom>
          <a:solidFill>
            <a:schemeClr val="bg2"/>
          </a:solidFill>
          <a:ln/>
        </p:spPr>
      </p:sp>
      <p:sp>
        <p:nvSpPr>
          <p:cNvPr id="34" name="Text 28"/>
          <p:cNvSpPr txBox="1"/>
          <p:nvPr/>
        </p:nvSpPr>
        <p:spPr>
          <a:xfrm>
            <a:off x="640080" y="3877056"/>
            <a:ext cx="2194560" cy="493776"/>
          </a:xfrm>
          <a:prstGeom prst="rect">
            <a:avLst/>
          </a:prstGeom>
          <a:noFill/>
          <a:ln/>
        </p:spPr>
        <p:txBody>
          <a:bodyPr wrap="square" lIns="0" tIns="0" rIns="0" bIns="0" rtlCol="0" anchor="ctr"/>
          <a:lstStyle/>
          <a:p>
            <a:pPr indent="0" marL="0">
              <a:buNone/>
            </a:pPr>
            <a:r>
              <a:rPr lang="en-US" sz="1300" b="1" dirty="0">
                <a:solidFill>
                  <a:schemeClr val="accent1"/>
                </a:solidFill>
              </a:rPr>
              <a:t>Significato percepito</a:t>
            </a:r>
            <a:endParaRPr lang="en-US" sz="1300" dirty="0"/>
          </a:p>
        </p:txBody>
      </p:sp>
      <p:sp>
        <p:nvSpPr>
          <p:cNvPr id="35" name="Text 29"/>
          <p:cNvSpPr txBox="1"/>
          <p:nvPr/>
        </p:nvSpPr>
        <p:spPr>
          <a:xfrm>
            <a:off x="2834640" y="3877056"/>
            <a:ext cx="5669280" cy="493776"/>
          </a:xfrm>
          <a:prstGeom prst="rect">
            <a:avLst/>
          </a:prstGeom>
          <a:noFill/>
          <a:ln/>
        </p:spPr>
        <p:txBody>
          <a:bodyPr wrap="square" lIns="0" tIns="0" rIns="0" bIns="0" rtlCol="0" anchor="ctr"/>
          <a:lstStyle/>
          <a:p>
            <a:pPr indent="0" marL="0">
              <a:buNone/>
            </a:pPr>
            <a:r>
              <a:rPr lang="en-US" sz="1300" dirty="0">
                <a:solidFill>
                  <a:schemeClr val="tx1"/>
                </a:solidFill>
              </a:rPr>
              <a:t>Il tono può creare aspettative o tensioni non volute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Bozze e versioni alternative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Bozze"/>
          <p:cNvSpPr/>
          <p:nvPr/>
        </p:nvSpPr>
        <p:spPr>
          <a:xfrm>
            <a:off x="457200" y="1097280"/>
            <a:ext cx="3977640" cy="2240280"/>
          </a:xfrm>
          <a:prstGeom prst="roundRect">
            <a:avLst>
              <a:gd name="adj" fmla="val 3265"/>
            </a:avLst>
          </a:prstGeom>
          <a:solidFill>
            <a:schemeClr val="bg2"/>
          </a:solidFill>
          <a:ln/>
        </p:spPr>
      </p:sp>
      <p:sp>
        <p:nvSpPr>
          <p:cNvPr id="13" name="cerchio FiEdit"/>
          <p:cNvSpPr/>
          <p:nvPr/>
        </p:nvSpPr>
        <p:spPr>
          <a:xfrm>
            <a:off x="640080" y="1280160"/>
            <a:ext cx="457200" cy="457200"/>
          </a:xfrm>
          <a:prstGeom prst="ellipse">
            <a:avLst/>
          </a:prstGeom>
          <a:solidFill>
            <a:schemeClr val="accent1"/>
          </a:solidFill>
          <a:ln/>
        </p:spPr>
      </p:sp>
      <p:pic>
        <p:nvPicPr>
          <p:cNvPr id="14" name="Image 0" descr="FiEdit">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Bozze</a:t>
            </a:r>
            <a:endParaRPr lang="en-US" sz="1600" dirty="0"/>
          </a:p>
        </p:txBody>
      </p:sp>
      <p:sp>
        <p:nvSpPr>
          <p:cNvPr id="16" name="Text 12"/>
          <p:cNvSpPr txBox="1"/>
          <p:nvPr/>
        </p:nvSpPr>
        <p:spPr>
          <a:xfrm>
            <a:off x="640080" y="223113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Arrivare rapidamente a qualcosa di concreto</a:t>
            </a:r>
            <a:endParaRPr lang="en-US" sz="1300" dirty="0"/>
          </a:p>
          <a:p>
            <a:pPr marL="177800" indent="-177800">
              <a:spcAft>
                <a:spcPts val="500"/>
              </a:spcAft>
              <a:buSzPct val="100000"/>
              <a:buChar char="•"/>
            </a:pPr>
            <a:r>
              <a:rPr lang="en-US" sz="1300" dirty="0">
                <a:solidFill>
                  <a:schemeClr val="tx2"/>
                </a:solidFill>
              </a:rPr>
              <a:t>Da leggere, correggere, completare</a:t>
            </a:r>
            <a:endParaRPr lang="en-US" sz="1300" dirty="0"/>
          </a:p>
          <a:p>
            <a:pPr marL="177800" indent="-177800">
              <a:spcAft>
                <a:spcPts val="500"/>
              </a:spcAft>
              <a:buSzPct val="100000"/>
              <a:buChar char="•"/>
            </a:pPr>
            <a:r>
              <a:rPr lang="en-US" sz="1300" dirty="0">
                <a:solidFill>
                  <a:schemeClr val="tx2"/>
                </a:solidFill>
              </a:rPr>
              <a:t>Non solo da ritoccare</a:t>
            </a:r>
            <a:endParaRPr lang="en-US" sz="1300" dirty="0"/>
          </a:p>
        </p:txBody>
      </p:sp>
      <p:sp>
        <p:nvSpPr>
          <p:cNvPr id="17" name="scheda Versioni alternative"/>
          <p:cNvSpPr/>
          <p:nvPr/>
        </p:nvSpPr>
        <p:spPr>
          <a:xfrm>
            <a:off x="4709160" y="1097280"/>
            <a:ext cx="3977640" cy="2240280"/>
          </a:xfrm>
          <a:prstGeom prst="roundRect">
            <a:avLst>
              <a:gd name="adj" fmla="val 3265"/>
            </a:avLst>
          </a:prstGeom>
          <a:solidFill>
            <a:schemeClr val="accent6"/>
          </a:solidFill>
          <a:ln/>
        </p:spPr>
      </p:sp>
      <p:sp>
        <p:nvSpPr>
          <p:cNvPr id="18" name="cerchio FiCopy"/>
          <p:cNvSpPr/>
          <p:nvPr/>
        </p:nvSpPr>
        <p:spPr>
          <a:xfrm>
            <a:off x="4892040" y="1280160"/>
            <a:ext cx="457200" cy="457200"/>
          </a:xfrm>
          <a:prstGeom prst="ellipse">
            <a:avLst/>
          </a:prstGeom>
          <a:solidFill>
            <a:schemeClr val="accent1"/>
          </a:solidFill>
          <a:ln/>
        </p:spPr>
      </p:sp>
      <p:pic>
        <p:nvPicPr>
          <p:cNvPr id="19" name="Image 1" descr="FiCopy">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Versioni alternative</a:t>
            </a:r>
            <a:endParaRPr lang="en-US" sz="1600" dirty="0"/>
          </a:p>
        </p:txBody>
      </p:sp>
      <p:sp>
        <p:nvSpPr>
          <p:cNvPr id="21" name="Text 16"/>
          <p:cNvSpPr txBox="1"/>
          <p:nvPr/>
        </p:nvSpPr>
        <p:spPr>
          <a:xfrm>
            <a:off x="4892040" y="223113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Sintetica o dettagliata, formale o diretta</a:t>
            </a:r>
            <a:endParaRPr lang="en-US" sz="1300" dirty="0"/>
          </a:p>
          <a:p>
            <a:pPr marL="177800" indent="-177800">
              <a:spcAft>
                <a:spcPts val="500"/>
              </a:spcAft>
              <a:buSzPct val="100000"/>
              <a:buChar char="•"/>
            </a:pPr>
            <a:r>
              <a:rPr lang="en-US" sz="1300" dirty="0">
                <a:solidFill>
                  <a:schemeClr val="tx2"/>
                </a:solidFill>
              </a:rPr>
              <a:t>Più oggetti, più aperture</a:t>
            </a:r>
            <a:endParaRPr lang="en-US" sz="1300" dirty="0"/>
          </a:p>
          <a:p>
            <a:pPr marL="177800" indent="-177800">
              <a:spcAft>
                <a:spcPts val="500"/>
              </a:spcAft>
              <a:buSzPct val="100000"/>
              <a:buChar char="•"/>
            </a:pPr>
            <a:r>
              <a:rPr lang="en-US" sz="1300" dirty="0">
                <a:solidFill>
                  <a:schemeClr val="tx2"/>
                </a:solidFill>
              </a:rPr>
              <a:t>Confrontare e combinare</a:t>
            </a:r>
            <a:endParaRPr lang="en-US" sz="1300" dirty="0"/>
          </a:p>
        </p:txBody>
      </p:sp>
      <p:sp>
        <p:nvSpPr>
          <p:cNvPr id="22" name="Ancoraggio"/>
          <p:cNvSpPr/>
          <p:nvPr/>
        </p:nvSpPr>
        <p:spPr>
          <a:xfrm>
            <a:off x="457200" y="3520440"/>
            <a:ext cx="3977640" cy="1005840"/>
          </a:xfrm>
          <a:prstGeom prst="roundRect">
            <a:avLst>
              <a:gd name="adj" fmla="val 7273"/>
            </a:avLst>
          </a:prstGeom>
          <a:solidFill>
            <a:schemeClr val="tx1"/>
          </a:solidFill>
          <a:ln/>
        </p:spPr>
      </p:sp>
      <p:sp>
        <p:nvSpPr>
          <p:cNvPr id="23" name="Text 18"/>
          <p:cNvSpPr txBox="1"/>
          <p:nvPr/>
        </p:nvSpPr>
        <p:spPr>
          <a:xfrm>
            <a:off x="640080" y="3611880"/>
            <a:ext cx="3611880" cy="320040"/>
          </a:xfrm>
          <a:prstGeom prst="rect">
            <a:avLst/>
          </a:prstGeom>
          <a:noFill/>
          <a:ln/>
        </p:spPr>
        <p:txBody>
          <a:bodyPr wrap="square" lIns="0" tIns="0" rIns="0" bIns="0" rtlCol="0" anchor="t"/>
          <a:lstStyle/>
          <a:p>
            <a:pPr indent="0" marL="0">
              <a:buNone/>
            </a:pPr>
            <a:r>
              <a:rPr lang="en-US" sz="1400" b="1" dirty="0">
                <a:solidFill>
                  <a:schemeClr val="accent6"/>
                </a:solidFill>
              </a:rPr>
              <a:t>Ancoraggio</a:t>
            </a:r>
            <a:endParaRPr lang="en-US" sz="1400" dirty="0"/>
          </a:p>
        </p:txBody>
      </p:sp>
      <p:sp>
        <p:nvSpPr>
          <p:cNvPr id="24" name="Text 19"/>
          <p:cNvSpPr txBox="1"/>
          <p:nvPr/>
        </p:nvSpPr>
        <p:spPr>
          <a:xfrm>
            <a:off x="640080" y="3931920"/>
            <a:ext cx="3611880" cy="548640"/>
          </a:xfrm>
          <a:prstGeom prst="rect">
            <a:avLst/>
          </a:prstGeom>
          <a:noFill/>
          <a:ln/>
        </p:spPr>
        <p:txBody>
          <a:bodyPr wrap="square" lIns="0" tIns="0" rIns="0" bIns="0" rtlCol="0" anchor="t"/>
          <a:lstStyle/>
          <a:p>
            <a:pPr indent="0" marL="0">
              <a:buNone/>
            </a:pPr>
            <a:r>
              <a:rPr lang="en-US" sz="1200" dirty="0">
                <a:solidFill>
                  <a:schemeClr val="bg1"/>
                </a:solidFill>
              </a:rPr>
              <a:t>La prima bozza definisce l'impostazione: chiedere alternative fin dall'inizio</a:t>
            </a:r>
            <a:endParaRPr lang="en-US" sz="1200" dirty="0"/>
          </a:p>
        </p:txBody>
      </p:sp>
      <p:sp>
        <p:nvSpPr>
          <p:cNvPr id="25" name="Omologazione"/>
          <p:cNvSpPr/>
          <p:nvPr/>
        </p:nvSpPr>
        <p:spPr>
          <a:xfrm>
            <a:off x="4709160" y="3520440"/>
            <a:ext cx="3977640" cy="1005840"/>
          </a:xfrm>
          <a:prstGeom prst="roundRect">
            <a:avLst>
              <a:gd name="adj" fmla="val 7273"/>
            </a:avLst>
          </a:prstGeom>
          <a:solidFill>
            <a:schemeClr val="tx1"/>
          </a:solidFill>
          <a:ln/>
        </p:spPr>
      </p:sp>
      <p:sp>
        <p:nvSpPr>
          <p:cNvPr id="26" name="Text 21"/>
          <p:cNvSpPr txBox="1"/>
          <p:nvPr/>
        </p:nvSpPr>
        <p:spPr>
          <a:xfrm>
            <a:off x="4892040" y="3611880"/>
            <a:ext cx="3611880" cy="320040"/>
          </a:xfrm>
          <a:prstGeom prst="rect">
            <a:avLst/>
          </a:prstGeom>
          <a:noFill/>
          <a:ln/>
        </p:spPr>
        <p:txBody>
          <a:bodyPr wrap="square" lIns="0" tIns="0" rIns="0" bIns="0" rtlCol="0" anchor="t"/>
          <a:lstStyle/>
          <a:p>
            <a:pPr indent="0" marL="0">
              <a:buNone/>
            </a:pPr>
            <a:r>
              <a:rPr lang="en-US" sz="1400" b="1" dirty="0">
                <a:solidFill>
                  <a:schemeClr val="accent6"/>
                </a:solidFill>
              </a:rPr>
              <a:t>Omologazione</a:t>
            </a:r>
            <a:endParaRPr lang="en-US" sz="1400" dirty="0"/>
          </a:p>
        </p:txBody>
      </p:sp>
      <p:sp>
        <p:nvSpPr>
          <p:cNvPr id="27" name="Text 22"/>
          <p:cNvSpPr txBox="1"/>
          <p:nvPr/>
        </p:nvSpPr>
        <p:spPr>
          <a:xfrm>
            <a:off x="4892040" y="3931920"/>
            <a:ext cx="3611880" cy="548640"/>
          </a:xfrm>
          <a:prstGeom prst="rect">
            <a:avLst/>
          </a:prstGeom>
          <a:noFill/>
          <a:ln/>
        </p:spPr>
        <p:txBody>
          <a:bodyPr wrap="square" lIns="0" tIns="0" rIns="0" bIns="0" rtlCol="0" anchor="t"/>
          <a:lstStyle/>
          <a:p>
            <a:pPr indent="0" marL="0">
              <a:buNone/>
            </a:pPr>
            <a:r>
              <a:rPr lang="en-US" sz="1200" dirty="0">
                <a:solidFill>
                  <a:schemeClr val="bg1"/>
                </a:solidFill>
              </a:rPr>
              <a:t>Testi tutti simili: il contributo personale li rende riconoscibili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Automatica o supervisionata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Generazione automatica"/>
          <p:cNvSpPr/>
          <p:nvPr/>
        </p:nvSpPr>
        <p:spPr>
          <a:xfrm>
            <a:off x="457200" y="1097280"/>
            <a:ext cx="2615184" cy="1234440"/>
          </a:xfrm>
          <a:prstGeom prst="roundRect">
            <a:avLst>
              <a:gd name="adj" fmla="val 5926"/>
            </a:avLst>
          </a:prstGeom>
          <a:solidFill>
            <a:schemeClr val="bg2"/>
          </a:solidFill>
          <a:ln/>
        </p:spPr>
      </p:sp>
      <p:sp>
        <p:nvSpPr>
          <p:cNvPr id="13" name="Text 10"/>
          <p:cNvSpPr txBox="1"/>
          <p:nvPr/>
        </p:nvSpPr>
        <p:spPr>
          <a:xfrm>
            <a:off x="594360" y="1188720"/>
            <a:ext cx="2340864" cy="457200"/>
          </a:xfrm>
          <a:prstGeom prst="rect">
            <a:avLst/>
          </a:prstGeom>
          <a:noFill/>
          <a:ln/>
        </p:spPr>
        <p:txBody>
          <a:bodyPr wrap="square" lIns="0" tIns="0" rIns="0" bIns="0" rtlCol="0" anchor="ctr"/>
          <a:lstStyle/>
          <a:p>
            <a:pPr algn="ctr" indent="0" marL="0">
              <a:buNone/>
            </a:pPr>
            <a:r>
              <a:rPr lang="en-US" sz="1500" b="1" dirty="0">
                <a:solidFill>
                  <a:schemeClr val="tx1"/>
                </a:solidFill>
              </a:rPr>
              <a:t>Generazione automatica</a:t>
            </a:r>
            <a:endParaRPr lang="en-US" sz="1500" dirty="0"/>
          </a:p>
        </p:txBody>
      </p:sp>
      <p:sp>
        <p:nvSpPr>
          <p:cNvPr id="14" name="Text 11"/>
          <p:cNvSpPr txBox="1"/>
          <p:nvPr/>
        </p:nvSpPr>
        <p:spPr>
          <a:xfrm>
            <a:off x="594360" y="1691640"/>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Il testo è usato così com'è</a:t>
            </a:r>
            <a:endParaRPr lang="en-US" sz="1200" dirty="0"/>
          </a:p>
        </p:txBody>
      </p:sp>
      <p:sp>
        <p:nvSpPr>
          <p:cNvPr id="15" name="freccia"/>
          <p:cNvSpPr/>
          <p:nvPr/>
        </p:nvSpPr>
        <p:spPr>
          <a:xfrm>
            <a:off x="3090672" y="1572768"/>
            <a:ext cx="155448" cy="292608"/>
          </a:xfrm>
          <a:prstGeom prst="rightArrow">
            <a:avLst/>
          </a:prstGeom>
          <a:solidFill>
            <a:schemeClr val="accent2"/>
          </a:solidFill>
          <a:ln/>
        </p:spPr>
      </p:sp>
      <p:sp>
        <p:nvSpPr>
          <p:cNvPr id="16" name="Supervisione a campione"/>
          <p:cNvSpPr/>
          <p:nvPr/>
        </p:nvSpPr>
        <p:spPr>
          <a:xfrm>
            <a:off x="3264408" y="1097280"/>
            <a:ext cx="2615184" cy="1234440"/>
          </a:xfrm>
          <a:prstGeom prst="roundRect">
            <a:avLst>
              <a:gd name="adj" fmla="val 5926"/>
            </a:avLst>
          </a:prstGeom>
          <a:solidFill>
            <a:schemeClr val="accent6"/>
          </a:solidFill>
          <a:ln/>
        </p:spPr>
      </p:sp>
      <p:sp>
        <p:nvSpPr>
          <p:cNvPr id="17" name="Text 14"/>
          <p:cNvSpPr txBox="1"/>
          <p:nvPr/>
        </p:nvSpPr>
        <p:spPr>
          <a:xfrm>
            <a:off x="3401568" y="1188720"/>
            <a:ext cx="2340864" cy="457200"/>
          </a:xfrm>
          <a:prstGeom prst="rect">
            <a:avLst/>
          </a:prstGeom>
          <a:noFill/>
          <a:ln/>
        </p:spPr>
        <p:txBody>
          <a:bodyPr wrap="square" lIns="0" tIns="0" rIns="0" bIns="0" rtlCol="0" anchor="ctr"/>
          <a:lstStyle/>
          <a:p>
            <a:pPr algn="ctr" indent="0" marL="0">
              <a:buNone/>
            </a:pPr>
            <a:r>
              <a:rPr lang="en-US" sz="1500" b="1" dirty="0">
                <a:solidFill>
                  <a:schemeClr val="tx1"/>
                </a:solidFill>
              </a:rPr>
              <a:t>Supervisione a campione</a:t>
            </a:r>
            <a:endParaRPr lang="en-US" sz="1500" dirty="0"/>
          </a:p>
        </p:txBody>
      </p:sp>
      <p:sp>
        <p:nvSpPr>
          <p:cNvPr id="18" name="Text 15"/>
          <p:cNvSpPr txBox="1"/>
          <p:nvPr/>
        </p:nvSpPr>
        <p:spPr>
          <a:xfrm>
            <a:off x="3401568" y="1691640"/>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Testi in serie, controlli periodici</a:t>
            </a:r>
            <a:endParaRPr lang="en-US" sz="1200" dirty="0"/>
          </a:p>
        </p:txBody>
      </p:sp>
      <p:sp>
        <p:nvSpPr>
          <p:cNvPr id="19" name="freccia"/>
          <p:cNvSpPr/>
          <p:nvPr/>
        </p:nvSpPr>
        <p:spPr>
          <a:xfrm>
            <a:off x="5897880" y="1572768"/>
            <a:ext cx="155448" cy="292608"/>
          </a:xfrm>
          <a:prstGeom prst="rightArrow">
            <a:avLst/>
          </a:prstGeom>
          <a:solidFill>
            <a:schemeClr val="accent2"/>
          </a:solidFill>
          <a:ln/>
        </p:spPr>
      </p:sp>
      <p:sp>
        <p:nvSpPr>
          <p:cNvPr id="20" name="Redazione supervisionata"/>
          <p:cNvSpPr/>
          <p:nvPr/>
        </p:nvSpPr>
        <p:spPr>
          <a:xfrm>
            <a:off x="6071616" y="1097280"/>
            <a:ext cx="2615184" cy="1234440"/>
          </a:xfrm>
          <a:prstGeom prst="roundRect">
            <a:avLst>
              <a:gd name="adj" fmla="val 5926"/>
            </a:avLst>
          </a:prstGeom>
          <a:solidFill>
            <a:schemeClr val="accent1"/>
          </a:solidFill>
          <a:ln/>
        </p:spPr>
      </p:sp>
      <p:sp>
        <p:nvSpPr>
          <p:cNvPr id="21" name="Text 18"/>
          <p:cNvSpPr txBox="1"/>
          <p:nvPr/>
        </p:nvSpPr>
        <p:spPr>
          <a:xfrm>
            <a:off x="6208776" y="1188720"/>
            <a:ext cx="2340864" cy="457200"/>
          </a:xfrm>
          <a:prstGeom prst="rect">
            <a:avLst/>
          </a:prstGeom>
          <a:noFill/>
          <a:ln/>
        </p:spPr>
        <p:txBody>
          <a:bodyPr wrap="square" lIns="0" tIns="0" rIns="0" bIns="0" rtlCol="0" anchor="ctr"/>
          <a:lstStyle/>
          <a:p>
            <a:pPr algn="ctr" indent="0" marL="0">
              <a:buNone/>
            </a:pPr>
            <a:r>
              <a:rPr lang="en-US" sz="1500" b="1" dirty="0">
                <a:solidFill>
                  <a:schemeClr val="bg1"/>
                </a:solidFill>
              </a:rPr>
              <a:t>Redazione supervisionata</a:t>
            </a:r>
            <a:endParaRPr lang="en-US" sz="1500" dirty="0"/>
          </a:p>
        </p:txBody>
      </p:sp>
      <p:sp>
        <p:nvSpPr>
          <p:cNvPr id="22" name="Text 19"/>
          <p:cNvSpPr txBox="1"/>
          <p:nvPr/>
        </p:nvSpPr>
        <p:spPr>
          <a:xfrm>
            <a:off x="6208776" y="1691640"/>
            <a:ext cx="2340864" cy="548640"/>
          </a:xfrm>
          <a:prstGeom prst="rect">
            <a:avLst/>
          </a:prstGeom>
          <a:noFill/>
          <a:ln/>
        </p:spPr>
        <p:txBody>
          <a:bodyPr wrap="square" lIns="0" tIns="0" rIns="0" bIns="0" rtlCol="0" anchor="t"/>
          <a:lstStyle/>
          <a:p>
            <a:pPr algn="ctr" indent="0" marL="0">
              <a:buNone/>
            </a:pPr>
            <a:r>
              <a:rPr lang="en-US" sz="1200" dirty="0">
                <a:solidFill>
                  <a:schemeClr val="bg1"/>
                </a:solidFill>
              </a:rPr>
              <a:t>Una persona rivede, completa e ne risponde</a:t>
            </a:r>
            <a:endParaRPr lang="en-US" sz="1200" dirty="0"/>
          </a:p>
        </p:txBody>
      </p:sp>
      <p:sp>
        <p:nvSpPr>
          <p:cNvPr id="23" name="Text 20"/>
          <p:cNvSpPr txBox="1"/>
          <p:nvPr/>
        </p:nvSpPr>
        <p:spPr>
          <a:xfrm>
            <a:off x="457200" y="2514600"/>
            <a:ext cx="8229600" cy="320040"/>
          </a:xfrm>
          <a:prstGeom prst="rect">
            <a:avLst/>
          </a:prstGeom>
          <a:noFill/>
          <a:ln/>
        </p:spPr>
        <p:txBody>
          <a:bodyPr wrap="square" lIns="0" tIns="0" rIns="0" bIns="0" rtlCol="0" anchor="t"/>
          <a:lstStyle/>
          <a:p>
            <a:pPr indent="0" marL="0">
              <a:buNone/>
            </a:pPr>
            <a:r>
              <a:rPr lang="en-US" sz="1300" b="1" dirty="0">
                <a:solidFill>
                  <a:schemeClr val="tx1"/>
                </a:solidFill>
              </a:rPr>
              <a:t>Più supervisione quando aumentano</a:t>
            </a:r>
            <a:endParaRPr lang="en-US" sz="1300" dirty="0"/>
          </a:p>
        </p:txBody>
      </p:sp>
      <p:sp>
        <p:nvSpPr>
          <p:cNvPr id="24" name="blocco Conseguenze di un errore"/>
          <p:cNvSpPr/>
          <p:nvPr/>
        </p:nvSpPr>
        <p:spPr>
          <a:xfrm>
            <a:off x="457200" y="2880360"/>
            <a:ext cx="2651760" cy="457200"/>
          </a:xfrm>
          <a:prstGeom prst="roundRect">
            <a:avLst>
              <a:gd name="adj" fmla="val 24000"/>
            </a:avLst>
          </a:prstGeom>
          <a:solidFill>
            <a:schemeClr val="bg2"/>
          </a:solidFill>
          <a:ln/>
        </p:spPr>
      </p:sp>
      <p:sp>
        <p:nvSpPr>
          <p:cNvPr id="25" name="Text 22"/>
          <p:cNvSpPr txBox="1"/>
          <p:nvPr/>
        </p:nvSpPr>
        <p:spPr>
          <a:xfrm>
            <a:off x="502920" y="2880360"/>
            <a:ext cx="2560320" cy="457200"/>
          </a:xfrm>
          <a:prstGeom prst="rect">
            <a:avLst/>
          </a:prstGeom>
          <a:noFill/>
          <a:ln/>
        </p:spPr>
        <p:txBody>
          <a:bodyPr wrap="square" lIns="0" tIns="0" rIns="0" bIns="0" rtlCol="0" anchor="ctr"/>
          <a:lstStyle/>
          <a:p>
            <a:pPr algn="ctr" indent="0" marL="0">
              <a:buNone/>
            </a:pPr>
            <a:r>
              <a:rPr lang="en-US" sz="1300" b="1" dirty="0">
                <a:solidFill>
                  <a:schemeClr val="tx1"/>
                </a:solidFill>
              </a:rPr>
              <a:t>Conseguenze di un errore</a:t>
            </a:r>
            <a:endParaRPr lang="en-US" sz="1300" dirty="0"/>
          </a:p>
        </p:txBody>
      </p:sp>
      <p:sp>
        <p:nvSpPr>
          <p:cNvPr id="26" name="blocco Visibilità del testo"/>
          <p:cNvSpPr/>
          <p:nvPr/>
        </p:nvSpPr>
        <p:spPr>
          <a:xfrm>
            <a:off x="3246120" y="2880360"/>
            <a:ext cx="2651760" cy="457200"/>
          </a:xfrm>
          <a:prstGeom prst="roundRect">
            <a:avLst>
              <a:gd name="adj" fmla="val 24000"/>
            </a:avLst>
          </a:prstGeom>
          <a:solidFill>
            <a:schemeClr val="bg2"/>
          </a:solidFill>
          <a:ln/>
        </p:spPr>
      </p:sp>
      <p:sp>
        <p:nvSpPr>
          <p:cNvPr id="27" name="Text 24"/>
          <p:cNvSpPr txBox="1"/>
          <p:nvPr/>
        </p:nvSpPr>
        <p:spPr>
          <a:xfrm>
            <a:off x="3291840" y="2880360"/>
            <a:ext cx="2560320" cy="457200"/>
          </a:xfrm>
          <a:prstGeom prst="rect">
            <a:avLst/>
          </a:prstGeom>
          <a:noFill/>
          <a:ln/>
        </p:spPr>
        <p:txBody>
          <a:bodyPr wrap="square" lIns="0" tIns="0" rIns="0" bIns="0" rtlCol="0" anchor="ctr"/>
          <a:lstStyle/>
          <a:p>
            <a:pPr algn="ctr" indent="0" marL="0">
              <a:buNone/>
            </a:pPr>
            <a:r>
              <a:rPr lang="en-US" sz="1300" b="1" dirty="0">
                <a:solidFill>
                  <a:schemeClr val="tx1"/>
                </a:solidFill>
              </a:rPr>
              <a:t>Visibilità del testo</a:t>
            </a:r>
            <a:endParaRPr lang="en-US" sz="1300" dirty="0"/>
          </a:p>
        </p:txBody>
      </p:sp>
      <p:sp>
        <p:nvSpPr>
          <p:cNvPr id="28" name="blocco Fatti, dati, impegni"/>
          <p:cNvSpPr/>
          <p:nvPr/>
        </p:nvSpPr>
        <p:spPr>
          <a:xfrm>
            <a:off x="6035040" y="2880360"/>
            <a:ext cx="2651760" cy="457200"/>
          </a:xfrm>
          <a:prstGeom prst="roundRect">
            <a:avLst>
              <a:gd name="adj" fmla="val 24000"/>
            </a:avLst>
          </a:prstGeom>
          <a:solidFill>
            <a:schemeClr val="bg2"/>
          </a:solidFill>
          <a:ln/>
        </p:spPr>
      </p:sp>
      <p:sp>
        <p:nvSpPr>
          <p:cNvPr id="29" name="Text 26"/>
          <p:cNvSpPr txBox="1"/>
          <p:nvPr/>
        </p:nvSpPr>
        <p:spPr>
          <a:xfrm>
            <a:off x="6080760" y="2880360"/>
            <a:ext cx="2560320" cy="457200"/>
          </a:xfrm>
          <a:prstGeom prst="rect">
            <a:avLst/>
          </a:prstGeom>
          <a:noFill/>
          <a:ln/>
        </p:spPr>
        <p:txBody>
          <a:bodyPr wrap="square" lIns="0" tIns="0" rIns="0" bIns="0" rtlCol="0" anchor="ctr"/>
          <a:lstStyle/>
          <a:p>
            <a:pPr algn="ctr" indent="0" marL="0">
              <a:buNone/>
            </a:pPr>
            <a:r>
              <a:rPr lang="en-US" sz="1300" b="1" dirty="0">
                <a:solidFill>
                  <a:schemeClr val="tx1"/>
                </a:solidFill>
              </a:rPr>
              <a:t>Fatti, dati, impegni</a:t>
            </a:r>
            <a:endParaRPr lang="en-US" sz="1300" dirty="0"/>
          </a:p>
        </p:txBody>
      </p:sp>
      <p:sp>
        <p:nvSpPr>
          <p:cNvPr id="30" name="messaggio"/>
          <p:cNvSpPr/>
          <p:nvPr/>
        </p:nvSpPr>
        <p:spPr>
          <a:xfrm>
            <a:off x="457200" y="3611880"/>
            <a:ext cx="8229600" cy="822960"/>
          </a:xfrm>
          <a:prstGeom prst="roundRect">
            <a:avLst>
              <a:gd name="adj" fmla="val 8889"/>
            </a:avLst>
          </a:prstGeom>
          <a:solidFill>
            <a:schemeClr val="tx1"/>
          </a:solidFill>
          <a:ln/>
        </p:spPr>
      </p:sp>
      <p:sp>
        <p:nvSpPr>
          <p:cNvPr id="31" name="Text 28"/>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Generazione automatica solo per contenuti a basso rischio, con controlli definiti. Chi usa il testo ne risponde.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accelerare la produzione di contenuti, ma qualità, accuratezza e adeguatezza devono essere presidiate dal processo di revisione umano e organizzativo.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8.1  ·  Generazione di contenuti testuali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Revisione, riscrittura e trasformazione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Trasformare un testo richiede di controllare che la nuova formulazione non alteri significati e informazioni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Generare o trasformare?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Generare conviene se"/>
          <p:cNvSpPr/>
          <p:nvPr/>
        </p:nvSpPr>
        <p:spPr>
          <a:xfrm>
            <a:off x="457200" y="1097280"/>
            <a:ext cx="3977640" cy="2377440"/>
          </a:xfrm>
          <a:prstGeom prst="roundRect">
            <a:avLst>
              <a:gd name="adj" fmla="val 3077"/>
            </a:avLst>
          </a:prstGeom>
          <a:solidFill>
            <a:schemeClr val="bg2"/>
          </a:solidFill>
          <a:ln/>
        </p:spPr>
      </p:sp>
      <p:sp>
        <p:nvSpPr>
          <p:cNvPr id="13" name="cerchio FiEdit3"/>
          <p:cNvSpPr/>
          <p:nvPr/>
        </p:nvSpPr>
        <p:spPr>
          <a:xfrm>
            <a:off x="640080" y="1280160"/>
            <a:ext cx="457200" cy="457200"/>
          </a:xfrm>
          <a:prstGeom prst="ellipse">
            <a:avLst/>
          </a:prstGeom>
          <a:solidFill>
            <a:schemeClr val="accent1"/>
          </a:solidFill>
          <a:ln/>
        </p:spPr>
      </p:sp>
      <p:pic>
        <p:nvPicPr>
          <p:cNvPr id="14" name="Image 0" descr="FiEdit3">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Generare conviene se</a:t>
            </a:r>
            <a:endParaRPr lang="en-US" sz="1600" dirty="0"/>
          </a:p>
        </p:txBody>
      </p:sp>
      <p:sp>
        <p:nvSpPr>
          <p:cNvPr id="16" name="Text 12"/>
          <p:cNvSpPr txBox="1"/>
          <p:nvPr/>
        </p:nvSpPr>
        <p:spPr>
          <a:xfrm>
            <a:off x="64008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Non c'è un punto di partenza adatto</a:t>
            </a:r>
            <a:endParaRPr lang="en-US" sz="1300" dirty="0"/>
          </a:p>
          <a:p>
            <a:pPr marL="177800" indent="-177800">
              <a:spcAft>
                <a:spcPts val="500"/>
              </a:spcAft>
              <a:buSzPct val="100000"/>
              <a:buChar char="•"/>
            </a:pPr>
            <a:r>
              <a:rPr lang="en-US" sz="1300" dirty="0">
                <a:solidFill>
                  <a:schemeClr val="tx2"/>
                </a:solidFill>
              </a:rPr>
              <a:t>Il contenuto è relativamente generico</a:t>
            </a:r>
            <a:endParaRPr lang="en-US" sz="1300" dirty="0"/>
          </a:p>
          <a:p>
            <a:pPr marL="177800" indent="-177800">
              <a:spcAft>
                <a:spcPts val="500"/>
              </a:spcAft>
              <a:buSzPct val="100000"/>
              <a:buChar char="•"/>
            </a:pPr>
            <a:r>
              <a:rPr lang="en-US" sz="1300" dirty="0">
                <a:solidFill>
                  <a:schemeClr val="tx2"/>
                </a:solidFill>
              </a:rPr>
              <a:t>Si vogliono esplorare impostazioni diverse</a:t>
            </a:r>
            <a:endParaRPr lang="en-US" sz="1300" dirty="0"/>
          </a:p>
        </p:txBody>
      </p:sp>
      <p:sp>
        <p:nvSpPr>
          <p:cNvPr id="17" name="scheda Trasformare conviene se"/>
          <p:cNvSpPr/>
          <p:nvPr/>
        </p:nvSpPr>
        <p:spPr>
          <a:xfrm>
            <a:off x="4709160" y="1097280"/>
            <a:ext cx="3977640" cy="2377440"/>
          </a:xfrm>
          <a:prstGeom prst="roundRect">
            <a:avLst>
              <a:gd name="adj" fmla="val 3077"/>
            </a:avLst>
          </a:prstGeom>
          <a:solidFill>
            <a:schemeClr val="accent6"/>
          </a:solidFill>
          <a:ln/>
        </p:spPr>
      </p:sp>
      <p:sp>
        <p:nvSpPr>
          <p:cNvPr id="18" name="cerchio FiRefreshCw"/>
          <p:cNvSpPr/>
          <p:nvPr/>
        </p:nvSpPr>
        <p:spPr>
          <a:xfrm>
            <a:off x="4892040" y="1280160"/>
            <a:ext cx="457200" cy="457200"/>
          </a:xfrm>
          <a:prstGeom prst="ellipse">
            <a:avLst/>
          </a:prstGeom>
          <a:solidFill>
            <a:schemeClr val="accent1"/>
          </a:solidFill>
          <a:ln/>
        </p:spPr>
      </p:sp>
      <p:pic>
        <p:nvPicPr>
          <p:cNvPr id="19" name="Image 1" descr="FiRefreshCw">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Trasformare conviene se</a:t>
            </a:r>
            <a:endParaRPr lang="en-US" sz="1600" dirty="0"/>
          </a:p>
        </p:txBody>
      </p:sp>
      <p:sp>
        <p:nvSpPr>
          <p:cNvPr id="21" name="Text 16"/>
          <p:cNvSpPr txBox="1"/>
          <p:nvPr/>
        </p:nvSpPr>
        <p:spPr>
          <a:xfrm>
            <a:off x="489204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Esiste un testo con i contenuti corretti</a:t>
            </a:r>
            <a:endParaRPr lang="en-US" sz="1300" dirty="0"/>
          </a:p>
          <a:p>
            <a:pPr marL="177800" indent="-177800">
              <a:spcAft>
                <a:spcPts val="500"/>
              </a:spcAft>
              <a:buSzPct val="100000"/>
              <a:buChar char="•"/>
            </a:pPr>
            <a:r>
              <a:rPr lang="en-US" sz="1300" dirty="0">
                <a:solidFill>
                  <a:schemeClr val="tx2"/>
                </a:solidFill>
              </a:rPr>
              <a:t>Procedure, relazioni, appunti, testi da tradurre</a:t>
            </a:r>
            <a:endParaRPr lang="en-US" sz="1300" dirty="0"/>
          </a:p>
          <a:p>
            <a:pPr marL="177800" indent="-177800">
              <a:spcAft>
                <a:spcPts val="500"/>
              </a:spcAft>
              <a:buSzPct val="100000"/>
              <a:buChar char="•"/>
            </a:pPr>
            <a:r>
              <a:rPr lang="en-US" sz="1300" dirty="0">
                <a:solidFill>
                  <a:schemeClr val="tx2"/>
                </a:solidFill>
              </a:rPr>
              <a:t>Meno invenzioni, controllo più semplice</a:t>
            </a:r>
            <a:endParaRPr lang="en-US" sz="1300" dirty="0"/>
          </a:p>
        </p:txBody>
      </p:sp>
      <p:sp>
        <p:nvSpPr>
          <p:cNvPr id="22" name="messaggio"/>
          <p:cNvSpPr/>
          <p:nvPr/>
        </p:nvSpPr>
        <p:spPr>
          <a:xfrm>
            <a:off x="457200" y="3657600"/>
            <a:ext cx="8229600" cy="731520"/>
          </a:xfrm>
          <a:prstGeom prst="roundRect">
            <a:avLst>
              <a:gd name="adj" fmla="val 10000"/>
            </a:avLst>
          </a:prstGeom>
          <a:solidFill>
            <a:schemeClr val="tx1"/>
          </a:solidFill>
          <a:ln/>
        </p:spPr>
      </p:sp>
      <p:sp>
        <p:nvSpPr>
          <p:cNvPr id="23" name="Text 18"/>
          <p:cNvSpPr txBox="1"/>
          <p:nvPr/>
        </p:nvSpPr>
        <p:spPr>
          <a:xfrm>
            <a:off x="640080" y="3657600"/>
            <a:ext cx="7863840" cy="731520"/>
          </a:xfrm>
          <a:prstGeom prst="rect">
            <a:avLst/>
          </a:prstGeom>
          <a:noFill/>
          <a:ln/>
        </p:spPr>
        <p:txBody>
          <a:bodyPr wrap="square" lIns="0" tIns="0" rIns="0" bIns="0" rtlCol="0" anchor="ctr"/>
          <a:lstStyle/>
          <a:p>
            <a:pPr indent="0" marL="0">
              <a:buNone/>
            </a:pPr>
            <a:r>
              <a:rPr lang="en-US" sz="1400" dirty="0">
                <a:solidFill>
                  <a:schemeClr val="bg1"/>
                </a:solidFill>
              </a:rPr>
              <a:t>Per i testi su fatti specifici: partire dal materiale esistente, quando c'è, e trasformarlo.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principali trasformazioni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rrezione"/>
          <p:cNvSpPr/>
          <p:nvPr/>
        </p:nvSpPr>
        <p:spPr>
          <a:xfrm>
            <a:off x="457200" y="1051560"/>
            <a:ext cx="2621280" cy="1211580"/>
          </a:xfrm>
          <a:prstGeom prst="roundRect">
            <a:avLst>
              <a:gd name="adj" fmla="val 6038"/>
            </a:avLst>
          </a:prstGeom>
          <a:solidFill>
            <a:schemeClr val="bg2"/>
          </a:solidFill>
          <a:ln/>
        </p:spPr>
      </p:sp>
      <p:sp>
        <p:nvSpPr>
          <p:cNvPr id="13" name="cerchio FiCheckSquare"/>
          <p:cNvSpPr/>
          <p:nvPr/>
        </p:nvSpPr>
        <p:spPr>
          <a:xfrm>
            <a:off x="621792" y="1216152"/>
            <a:ext cx="438912" cy="438912"/>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Correzione</a:t>
            </a:r>
            <a:endParaRPr lang="en-US" sz="1300" dirty="0"/>
          </a:p>
        </p:txBody>
      </p:sp>
      <p:sp>
        <p:nvSpPr>
          <p:cNvPr id="16" name="Text 12"/>
          <p:cNvSpPr txBox="1"/>
          <p:nvPr/>
        </p:nvSpPr>
        <p:spPr>
          <a:xfrm>
            <a:off x="62179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Refusi, concordanze, punteggiatura</a:t>
            </a:r>
            <a:endParaRPr lang="en-US" sz="1200" dirty="0"/>
          </a:p>
        </p:txBody>
      </p:sp>
      <p:sp>
        <p:nvSpPr>
          <p:cNvPr id="17" name="Chiarezza e leggibilità"/>
          <p:cNvSpPr/>
          <p:nvPr/>
        </p:nvSpPr>
        <p:spPr>
          <a:xfrm>
            <a:off x="3261360" y="1051560"/>
            <a:ext cx="2621280" cy="1211580"/>
          </a:xfrm>
          <a:prstGeom prst="roundRect">
            <a:avLst>
              <a:gd name="adj" fmla="val 6038"/>
            </a:avLst>
          </a:prstGeom>
          <a:solidFill>
            <a:schemeClr val="bg2"/>
          </a:solidFill>
          <a:ln/>
        </p:spPr>
      </p:sp>
      <p:sp>
        <p:nvSpPr>
          <p:cNvPr id="18" name="cerchio FiEye"/>
          <p:cNvSpPr/>
          <p:nvPr/>
        </p:nvSpPr>
        <p:spPr>
          <a:xfrm>
            <a:off x="3425952" y="1216152"/>
            <a:ext cx="438912" cy="438912"/>
          </a:xfrm>
          <a:prstGeom prst="ellipse">
            <a:avLst/>
          </a:prstGeom>
          <a:solidFill>
            <a:schemeClr val="accent1"/>
          </a:solidFill>
          <a:ln/>
        </p:spPr>
      </p:sp>
      <p:pic>
        <p:nvPicPr>
          <p:cNvPr id="19" name="Image 1" descr="FiEy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Chiarezza e leggibilità</a:t>
            </a:r>
            <a:endParaRPr lang="en-US" sz="1300" dirty="0"/>
          </a:p>
        </p:txBody>
      </p:sp>
      <p:sp>
        <p:nvSpPr>
          <p:cNvPr id="21" name="Text 16"/>
          <p:cNvSpPr txBox="1"/>
          <p:nvPr/>
        </p:nvSpPr>
        <p:spPr>
          <a:xfrm>
            <a:off x="342595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Frasi brevi, ordine logico, meno ambiguità</a:t>
            </a:r>
            <a:endParaRPr lang="en-US" sz="1200" dirty="0"/>
          </a:p>
        </p:txBody>
      </p:sp>
      <p:sp>
        <p:nvSpPr>
          <p:cNvPr id="22" name="Semplificazione"/>
          <p:cNvSpPr/>
          <p:nvPr/>
        </p:nvSpPr>
        <p:spPr>
          <a:xfrm>
            <a:off x="6065520" y="1051560"/>
            <a:ext cx="2621280" cy="1211580"/>
          </a:xfrm>
          <a:prstGeom prst="roundRect">
            <a:avLst>
              <a:gd name="adj" fmla="val 6038"/>
            </a:avLst>
          </a:prstGeom>
          <a:solidFill>
            <a:schemeClr val="bg2"/>
          </a:solidFill>
          <a:ln/>
        </p:spPr>
      </p:sp>
      <p:sp>
        <p:nvSpPr>
          <p:cNvPr id="23" name="cerchio FiMinimize2"/>
          <p:cNvSpPr/>
          <p:nvPr/>
        </p:nvSpPr>
        <p:spPr>
          <a:xfrm>
            <a:off x="6230112" y="1216152"/>
            <a:ext cx="438912" cy="438912"/>
          </a:xfrm>
          <a:prstGeom prst="ellipse">
            <a:avLst/>
          </a:prstGeom>
          <a:solidFill>
            <a:schemeClr val="accent1"/>
          </a:solidFill>
          <a:ln/>
        </p:spPr>
      </p:sp>
      <p:pic>
        <p:nvPicPr>
          <p:cNvPr id="24" name="Image 2" descr="FiMinimize2">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Semplificazione</a:t>
            </a:r>
            <a:endParaRPr lang="en-US" sz="1300" dirty="0"/>
          </a:p>
        </p:txBody>
      </p:sp>
      <p:sp>
        <p:nvSpPr>
          <p:cNvPr id="26" name="Text 20"/>
          <p:cNvSpPr txBox="1"/>
          <p:nvPr/>
        </p:nvSpPr>
        <p:spPr>
          <a:xfrm>
            <a:off x="623011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Comprensibile anche ai non esperti</a:t>
            </a:r>
            <a:endParaRPr lang="en-US" sz="1200" dirty="0"/>
          </a:p>
        </p:txBody>
      </p:sp>
      <p:sp>
        <p:nvSpPr>
          <p:cNvPr id="27" name="Riformulazione"/>
          <p:cNvSpPr/>
          <p:nvPr/>
        </p:nvSpPr>
        <p:spPr>
          <a:xfrm>
            <a:off x="457200" y="2446020"/>
            <a:ext cx="2621280" cy="1211580"/>
          </a:xfrm>
          <a:prstGeom prst="roundRect">
            <a:avLst>
              <a:gd name="adj" fmla="val 6038"/>
            </a:avLst>
          </a:prstGeom>
          <a:solidFill>
            <a:schemeClr val="bg2"/>
          </a:solidFill>
          <a:ln/>
        </p:spPr>
      </p:sp>
      <p:sp>
        <p:nvSpPr>
          <p:cNvPr id="28" name="cerchio FiRepeat"/>
          <p:cNvSpPr/>
          <p:nvPr/>
        </p:nvSpPr>
        <p:spPr>
          <a:xfrm>
            <a:off x="621792" y="2610612"/>
            <a:ext cx="438912" cy="438912"/>
          </a:xfrm>
          <a:prstGeom prst="ellipse">
            <a:avLst/>
          </a:prstGeom>
          <a:solidFill>
            <a:schemeClr val="accent1"/>
          </a:solidFill>
          <a:ln/>
        </p:spPr>
      </p:sp>
      <p:pic>
        <p:nvPicPr>
          <p:cNvPr id="29" name="Image 3" descr="FiRepeat">    </p:cNvPr>
          <p:cNvPicPr>
            <a:picLocks noChangeAspect="1"/>
          </p:cNvPicPr>
          <p:nvPr/>
        </p:nvPicPr>
        <p:blipFill>
          <a:blip r:embed="rId4"/>
          <a:stretch>
            <a:fillRect/>
          </a:stretch>
        </p:blipFill>
        <p:spPr>
          <a:xfrm>
            <a:off x="731520" y="2720340"/>
            <a:ext cx="219456" cy="219456"/>
          </a:xfrm>
          <a:prstGeom prst="rect">
            <a:avLst/>
          </a:prstGeom>
        </p:spPr>
      </p:pic>
      <p:sp>
        <p:nvSpPr>
          <p:cNvPr id="30" name="Text 23"/>
          <p:cNvSpPr txBox="1"/>
          <p:nvPr/>
        </p:nvSpPr>
        <p:spPr>
          <a:xfrm>
            <a:off x="117043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Riformulazione</a:t>
            </a:r>
            <a:endParaRPr lang="en-US" sz="1300" dirty="0"/>
          </a:p>
        </p:txBody>
      </p:sp>
      <p:sp>
        <p:nvSpPr>
          <p:cNvPr id="31" name="Text 24"/>
          <p:cNvSpPr txBox="1"/>
          <p:nvPr/>
        </p:nvSpPr>
        <p:spPr>
          <a:xfrm>
            <a:off x="62179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Registro, tono, lessico per un altro destinatario</a:t>
            </a:r>
            <a:endParaRPr lang="en-US" sz="1200" dirty="0"/>
          </a:p>
        </p:txBody>
      </p:sp>
      <p:sp>
        <p:nvSpPr>
          <p:cNvPr id="32" name="Traduzione e localizzazione"/>
          <p:cNvSpPr/>
          <p:nvPr/>
        </p:nvSpPr>
        <p:spPr>
          <a:xfrm>
            <a:off x="3261360" y="2446020"/>
            <a:ext cx="2621280" cy="1211580"/>
          </a:xfrm>
          <a:prstGeom prst="roundRect">
            <a:avLst>
              <a:gd name="adj" fmla="val 6038"/>
            </a:avLst>
          </a:prstGeom>
          <a:solidFill>
            <a:schemeClr val="bg2"/>
          </a:solidFill>
          <a:ln/>
        </p:spPr>
      </p:sp>
      <p:sp>
        <p:nvSpPr>
          <p:cNvPr id="33" name="cerchio FiGlobe"/>
          <p:cNvSpPr/>
          <p:nvPr/>
        </p:nvSpPr>
        <p:spPr>
          <a:xfrm>
            <a:off x="3425952" y="2610612"/>
            <a:ext cx="438912" cy="438912"/>
          </a:xfrm>
          <a:prstGeom prst="ellipse">
            <a:avLst/>
          </a:prstGeom>
          <a:solidFill>
            <a:schemeClr val="accent1"/>
          </a:solidFill>
          <a:ln/>
        </p:spPr>
      </p:sp>
      <p:pic>
        <p:nvPicPr>
          <p:cNvPr id="34" name="Image 4" descr="FiGlobe">    </p:cNvPr>
          <p:cNvPicPr>
            <a:picLocks noChangeAspect="1"/>
          </p:cNvPicPr>
          <p:nvPr/>
        </p:nvPicPr>
        <p:blipFill>
          <a:blip r:embed="rId5"/>
          <a:stretch>
            <a:fillRect/>
          </a:stretch>
        </p:blipFill>
        <p:spPr>
          <a:xfrm>
            <a:off x="3535680" y="2720340"/>
            <a:ext cx="219456" cy="219456"/>
          </a:xfrm>
          <a:prstGeom prst="rect">
            <a:avLst/>
          </a:prstGeom>
        </p:spPr>
      </p:pic>
      <p:sp>
        <p:nvSpPr>
          <p:cNvPr id="35" name="Text 27"/>
          <p:cNvSpPr txBox="1"/>
          <p:nvPr/>
        </p:nvSpPr>
        <p:spPr>
          <a:xfrm>
            <a:off x="397459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Traduzione e localizzazione</a:t>
            </a:r>
            <a:endParaRPr lang="en-US" sz="1300" dirty="0"/>
          </a:p>
        </p:txBody>
      </p:sp>
      <p:sp>
        <p:nvSpPr>
          <p:cNvPr id="36" name="Text 28"/>
          <p:cNvSpPr txBox="1"/>
          <p:nvPr/>
        </p:nvSpPr>
        <p:spPr>
          <a:xfrm>
            <a:off x="342595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Lingua, contesto culturale, formati locali</a:t>
            </a:r>
            <a:endParaRPr lang="en-US" sz="1200" dirty="0"/>
          </a:p>
        </p:txBody>
      </p:sp>
      <p:sp>
        <p:nvSpPr>
          <p:cNvPr id="37" name="Cambio di formato"/>
          <p:cNvSpPr/>
          <p:nvPr/>
        </p:nvSpPr>
        <p:spPr>
          <a:xfrm>
            <a:off x="6065520" y="2446020"/>
            <a:ext cx="2621280" cy="1211580"/>
          </a:xfrm>
          <a:prstGeom prst="roundRect">
            <a:avLst>
              <a:gd name="adj" fmla="val 6038"/>
            </a:avLst>
          </a:prstGeom>
          <a:solidFill>
            <a:schemeClr val="bg2"/>
          </a:solidFill>
          <a:ln/>
        </p:spPr>
      </p:sp>
      <p:sp>
        <p:nvSpPr>
          <p:cNvPr id="38" name="cerchio FiShuffle"/>
          <p:cNvSpPr/>
          <p:nvPr/>
        </p:nvSpPr>
        <p:spPr>
          <a:xfrm>
            <a:off x="6230112" y="2610612"/>
            <a:ext cx="438912" cy="438912"/>
          </a:xfrm>
          <a:prstGeom prst="ellipse">
            <a:avLst/>
          </a:prstGeom>
          <a:solidFill>
            <a:schemeClr val="accent1"/>
          </a:solidFill>
          <a:ln/>
        </p:spPr>
      </p:sp>
      <p:pic>
        <p:nvPicPr>
          <p:cNvPr id="39" name="Image 5" descr="FiShuffle">    </p:cNvPr>
          <p:cNvPicPr>
            <a:picLocks noChangeAspect="1"/>
          </p:cNvPicPr>
          <p:nvPr/>
        </p:nvPicPr>
        <p:blipFill>
          <a:blip r:embed="rId6"/>
          <a:stretch>
            <a:fillRect/>
          </a:stretch>
        </p:blipFill>
        <p:spPr>
          <a:xfrm>
            <a:off x="6339840" y="2720340"/>
            <a:ext cx="219456" cy="219456"/>
          </a:xfrm>
          <a:prstGeom prst="rect">
            <a:avLst/>
          </a:prstGeom>
        </p:spPr>
      </p:pic>
      <p:sp>
        <p:nvSpPr>
          <p:cNvPr id="40" name="Text 31"/>
          <p:cNvSpPr txBox="1"/>
          <p:nvPr/>
        </p:nvSpPr>
        <p:spPr>
          <a:xfrm>
            <a:off x="677875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Cambio di formato</a:t>
            </a:r>
            <a:endParaRPr lang="en-US" sz="1300" dirty="0"/>
          </a:p>
        </p:txBody>
      </p:sp>
      <p:sp>
        <p:nvSpPr>
          <p:cNvPr id="41" name="Text 32"/>
          <p:cNvSpPr txBox="1"/>
          <p:nvPr/>
        </p:nvSpPr>
        <p:spPr>
          <a:xfrm>
            <a:off x="623011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Appunti in verbale, procedura in FAQ</a:t>
            </a:r>
            <a:endParaRPr lang="en-US" sz="1200" dirty="0"/>
          </a:p>
        </p:txBody>
      </p:sp>
      <p:sp>
        <p:nvSpPr>
          <p:cNvPr id="42" name="Text 33"/>
          <p:cNvSpPr txBox="1"/>
          <p:nvPr/>
        </p:nvSpPr>
        <p:spPr>
          <a:xfrm>
            <a:off x="457200" y="3840480"/>
            <a:ext cx="2377440" cy="457200"/>
          </a:xfrm>
          <a:prstGeom prst="rect">
            <a:avLst/>
          </a:prstGeom>
          <a:noFill/>
          <a:ln/>
        </p:spPr>
        <p:txBody>
          <a:bodyPr wrap="square" lIns="0" tIns="0" rIns="0" bIns="0" rtlCol="0" anchor="ctr"/>
          <a:lstStyle/>
          <a:p>
            <a:pPr indent="0" marL="0">
              <a:buNone/>
            </a:pPr>
            <a:r>
              <a:rPr lang="en-US" sz="1200" b="1" dirty="0">
                <a:solidFill>
                  <a:schemeClr val="tx1"/>
                </a:solidFill>
              </a:rPr>
              <a:t>Più profonda la trasformazione</a:t>
            </a:r>
            <a:endParaRPr lang="en-US" sz="1200" dirty="0"/>
          </a:p>
        </p:txBody>
      </p:sp>
      <p:sp>
        <p:nvSpPr>
          <p:cNvPr id="43" name="freccia rischio"/>
          <p:cNvSpPr/>
          <p:nvPr/>
        </p:nvSpPr>
        <p:spPr>
          <a:xfrm>
            <a:off x="2834640" y="3922776"/>
            <a:ext cx="2377440" cy="292608"/>
          </a:xfrm>
          <a:prstGeom prst="rightArrow">
            <a:avLst/>
          </a:prstGeom>
          <a:solidFill>
            <a:schemeClr val="accent5"/>
          </a:solidFill>
          <a:ln/>
        </p:spPr>
      </p:sp>
      <p:sp>
        <p:nvSpPr>
          <p:cNvPr id="44" name="Text 35"/>
          <p:cNvSpPr txBox="1"/>
          <p:nvPr/>
        </p:nvSpPr>
        <p:spPr>
          <a:xfrm>
            <a:off x="5349240" y="3840480"/>
            <a:ext cx="3337560" cy="457200"/>
          </a:xfrm>
          <a:prstGeom prst="rect">
            <a:avLst/>
          </a:prstGeom>
          <a:noFill/>
          <a:ln/>
        </p:spPr>
        <p:txBody>
          <a:bodyPr wrap="square" lIns="0" tIns="0" rIns="0" bIns="0" rtlCol="0" anchor="ctr"/>
          <a:lstStyle/>
          <a:p>
            <a:pPr indent="0" marL="0">
              <a:buNone/>
            </a:pPr>
            <a:r>
              <a:rPr lang="en-US" sz="1200" b="1" dirty="0">
                <a:solidFill>
                  <a:schemeClr val="accent5"/>
                </a:solidFill>
              </a:rPr>
              <a:t>più alto il rischio di alterare il significato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Semplificare senza tradire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Originale (esempio fittizio)"/>
          <p:cNvSpPr/>
          <p:nvPr/>
        </p:nvSpPr>
        <p:spPr>
          <a:xfrm>
            <a:off x="457200" y="1051560"/>
            <a:ext cx="3977640" cy="2423160"/>
          </a:xfrm>
          <a:prstGeom prst="roundRect">
            <a:avLst>
              <a:gd name="adj" fmla="val 3019"/>
            </a:avLst>
          </a:prstGeom>
          <a:solidFill>
            <a:schemeClr val="bg2"/>
          </a:solidFill>
          <a:ln/>
        </p:spPr>
      </p:sp>
      <p:sp>
        <p:nvSpPr>
          <p:cNvPr id="13" name="barra"/>
          <p:cNvSpPr/>
          <p:nvPr/>
        </p:nvSpPr>
        <p:spPr>
          <a:xfrm>
            <a:off x="457200" y="1161288"/>
            <a:ext cx="54864" cy="220370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Originale (esempio fittizio)</a:t>
            </a:r>
            <a:endParaRPr lang="en-US" sz="1100" dirty="0"/>
          </a:p>
        </p:txBody>
      </p:sp>
      <p:sp>
        <p:nvSpPr>
          <p:cNvPr id="15" name="Text 12"/>
          <p:cNvSpPr txBox="1"/>
          <p:nvPr/>
        </p:nvSpPr>
        <p:spPr>
          <a:xfrm>
            <a:off x="658368" y="1435608"/>
            <a:ext cx="3611880" cy="1947672"/>
          </a:xfrm>
          <a:prstGeom prst="rect">
            <a:avLst/>
          </a:prstGeom>
          <a:noFill/>
          <a:ln/>
        </p:spPr>
        <p:txBody>
          <a:bodyPr wrap="square" lIns="0" tIns="0" rIns="0" bIns="0" rtlCol="0" anchor="t"/>
          <a:lstStyle/>
          <a:p>
            <a:pPr indent="0" marL="0">
              <a:buNone/>
            </a:pPr>
            <a:r>
              <a:rPr lang="en-US" sz="1200" dirty="0">
                <a:solidFill>
                  <a:schemeClr val="tx1"/>
                </a:solidFill>
              </a:rPr>
              <a:t>Gli acquisti di importo superiore a 5.000 euro richiedono l'autorizzazione preventiva del responsabile di funzione e dell'ufficio acquisti. Per gli acquisti urgenti, documentati come tali, l'autorizzazione dell'ufficio acquisti può essere richiesta entro tre giorni lavorativi successivi.</a:t>
            </a:r>
            <a:endParaRPr lang="en-US" sz="1200" dirty="0"/>
          </a:p>
        </p:txBody>
      </p:sp>
      <p:sp>
        <p:nvSpPr>
          <p:cNvPr id="16" name="documento Versione semplificata"/>
          <p:cNvSpPr/>
          <p:nvPr/>
        </p:nvSpPr>
        <p:spPr>
          <a:xfrm>
            <a:off x="4709160" y="1051560"/>
            <a:ext cx="3977640" cy="2423160"/>
          </a:xfrm>
          <a:prstGeom prst="roundRect">
            <a:avLst>
              <a:gd name="adj" fmla="val 3019"/>
            </a:avLst>
          </a:prstGeom>
          <a:solidFill>
            <a:schemeClr val="accent6"/>
          </a:solidFill>
          <a:ln/>
        </p:spPr>
      </p:sp>
      <p:sp>
        <p:nvSpPr>
          <p:cNvPr id="17" name="barra"/>
          <p:cNvSpPr/>
          <p:nvPr/>
        </p:nvSpPr>
        <p:spPr>
          <a:xfrm>
            <a:off x="4709160" y="1161288"/>
            <a:ext cx="54864" cy="2203704"/>
          </a:xfrm>
          <a:prstGeom prst="rect">
            <a:avLst/>
          </a:prstGeom>
          <a:solidFill>
            <a:schemeClr val="accent1"/>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Versione semplificata</a:t>
            </a:r>
            <a:endParaRPr lang="en-US" sz="1100" dirty="0"/>
          </a:p>
        </p:txBody>
      </p:sp>
      <p:sp>
        <p:nvSpPr>
          <p:cNvPr id="19" name="Text 16"/>
          <p:cNvSpPr txBox="1"/>
          <p:nvPr/>
        </p:nvSpPr>
        <p:spPr>
          <a:xfrm>
            <a:off x="4910328" y="1435608"/>
            <a:ext cx="3611880" cy="1947672"/>
          </a:xfrm>
          <a:prstGeom prst="rect">
            <a:avLst/>
          </a:prstGeom>
          <a:noFill/>
          <a:ln/>
        </p:spPr>
        <p:txBody>
          <a:bodyPr wrap="square" lIns="0" tIns="0" rIns="0" bIns="0" rtlCol="0" anchor="t"/>
          <a:lstStyle/>
          <a:p>
            <a:pPr indent="0" marL="0">
              <a:buNone/>
            </a:pPr>
            <a:r>
              <a:rPr lang="en-US" sz="1300" dirty="0">
                <a:solidFill>
                  <a:schemeClr val="tx1"/>
                </a:solidFill>
              </a:rPr>
              <a:t>Prima di fare un acquisto serve l'autorizzazione del proprio responsabile e dell'ufficio acquisti.</a:t>
            </a:r>
            <a:endParaRPr lang="en-US" sz="1300" dirty="0"/>
          </a:p>
        </p:txBody>
      </p:sp>
      <p:sp>
        <p:nvSpPr>
          <p:cNvPr id="20" name="blocco Manca la soglia"/>
          <p:cNvSpPr/>
          <p:nvPr/>
        </p:nvSpPr>
        <p:spPr>
          <a:xfrm>
            <a:off x="4892040" y="2240280"/>
            <a:ext cx="1783080" cy="384048"/>
          </a:xfrm>
          <a:prstGeom prst="roundRect">
            <a:avLst>
              <a:gd name="adj" fmla="val 28571"/>
            </a:avLst>
          </a:prstGeom>
          <a:solidFill>
            <a:schemeClr val="accent5"/>
          </a:solidFill>
          <a:ln/>
        </p:spPr>
      </p:sp>
      <p:sp>
        <p:nvSpPr>
          <p:cNvPr id="21" name="Text 18"/>
          <p:cNvSpPr txBox="1"/>
          <p:nvPr/>
        </p:nvSpPr>
        <p:spPr>
          <a:xfrm>
            <a:off x="4937760" y="2240280"/>
            <a:ext cx="1691640" cy="384048"/>
          </a:xfrm>
          <a:prstGeom prst="rect">
            <a:avLst/>
          </a:prstGeom>
          <a:noFill/>
          <a:ln/>
        </p:spPr>
        <p:txBody>
          <a:bodyPr wrap="square" lIns="0" tIns="0" rIns="0" bIns="0" rtlCol="0" anchor="ctr"/>
          <a:lstStyle/>
          <a:p>
            <a:pPr algn="ctr" indent="0" marL="0">
              <a:buNone/>
            </a:pPr>
            <a:r>
              <a:rPr lang="en-US" sz="1100" b="1" dirty="0">
                <a:solidFill>
                  <a:schemeClr val="bg1"/>
                </a:solidFill>
              </a:rPr>
              <a:t>Manca la soglia</a:t>
            </a:r>
            <a:endParaRPr lang="en-US" sz="1100" dirty="0"/>
          </a:p>
        </p:txBody>
      </p:sp>
      <p:sp>
        <p:nvSpPr>
          <p:cNvPr id="22" name="blocco Manca l'eccezione"/>
          <p:cNvSpPr/>
          <p:nvPr/>
        </p:nvSpPr>
        <p:spPr>
          <a:xfrm>
            <a:off x="6766560" y="2240280"/>
            <a:ext cx="1737360" cy="384048"/>
          </a:xfrm>
          <a:prstGeom prst="roundRect">
            <a:avLst>
              <a:gd name="adj" fmla="val 28571"/>
            </a:avLst>
          </a:prstGeom>
          <a:solidFill>
            <a:schemeClr val="accent5"/>
          </a:solidFill>
          <a:ln/>
        </p:spPr>
      </p:sp>
      <p:sp>
        <p:nvSpPr>
          <p:cNvPr id="23" name="Text 20"/>
          <p:cNvSpPr txBox="1"/>
          <p:nvPr/>
        </p:nvSpPr>
        <p:spPr>
          <a:xfrm>
            <a:off x="6812280" y="2240280"/>
            <a:ext cx="1645920" cy="384048"/>
          </a:xfrm>
          <a:prstGeom prst="rect">
            <a:avLst/>
          </a:prstGeom>
          <a:noFill/>
          <a:ln/>
        </p:spPr>
        <p:txBody>
          <a:bodyPr wrap="square" lIns="0" tIns="0" rIns="0" bIns="0" rtlCol="0" anchor="ctr"/>
          <a:lstStyle/>
          <a:p>
            <a:pPr algn="ctr" indent="0" marL="0">
              <a:buNone/>
            </a:pPr>
            <a:r>
              <a:rPr lang="en-US" sz="1100" b="1" dirty="0">
                <a:solidFill>
                  <a:schemeClr val="bg1"/>
                </a:solidFill>
              </a:rPr>
              <a:t>Manca l'eccezione</a:t>
            </a:r>
            <a:endParaRPr lang="en-US" sz="1100" dirty="0"/>
          </a:p>
        </p:txBody>
      </p:sp>
      <p:sp>
        <p:nvSpPr>
          <p:cNvPr id="24" name="messaggio"/>
          <p:cNvSpPr/>
          <p:nvPr/>
        </p:nvSpPr>
        <p:spPr>
          <a:xfrm>
            <a:off x="457200" y="3657600"/>
            <a:ext cx="8229600" cy="777240"/>
          </a:xfrm>
          <a:prstGeom prst="roundRect">
            <a:avLst>
              <a:gd name="adj" fmla="val 9412"/>
            </a:avLst>
          </a:prstGeom>
          <a:solidFill>
            <a:schemeClr val="tx1"/>
          </a:solidFill>
          <a:ln/>
        </p:spPr>
      </p:sp>
      <p:sp>
        <p:nvSpPr>
          <p:cNvPr id="25" name="Text 22"/>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Chiara, scorrevole e sbagliata. Indicare che cosa deve restare e confrontare punto per punto con l'originale.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Tradurre e localizzare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Localizzare significa adattare"/>
          <p:cNvSpPr/>
          <p:nvPr/>
        </p:nvSpPr>
        <p:spPr>
          <a:xfrm>
            <a:off x="457200" y="1097280"/>
            <a:ext cx="3977640" cy="2011680"/>
          </a:xfrm>
          <a:prstGeom prst="roundRect">
            <a:avLst>
              <a:gd name="adj" fmla="val 3636"/>
            </a:avLst>
          </a:prstGeom>
          <a:solidFill>
            <a:schemeClr val="bg2"/>
          </a:solidFill>
          <a:ln/>
        </p:spPr>
      </p:sp>
      <p:sp>
        <p:nvSpPr>
          <p:cNvPr id="13" name="cerchio FiGlobe"/>
          <p:cNvSpPr/>
          <p:nvPr/>
        </p:nvSpPr>
        <p:spPr>
          <a:xfrm>
            <a:off x="640080" y="1280160"/>
            <a:ext cx="457200" cy="457200"/>
          </a:xfrm>
          <a:prstGeom prst="ellipse">
            <a:avLst/>
          </a:prstGeom>
          <a:solidFill>
            <a:schemeClr val="accent1"/>
          </a:solidFill>
          <a:ln/>
        </p:spPr>
      </p:sp>
      <p:pic>
        <p:nvPicPr>
          <p:cNvPr id="14" name="Image 0" descr="FiGlob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Localizzare significa adattare</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Date, numeri, valute, unità di misura</a:t>
            </a:r>
            <a:endParaRPr lang="en-US" sz="1300" dirty="0"/>
          </a:p>
          <a:p>
            <a:pPr marL="177800" indent="-177800">
              <a:spcAft>
                <a:spcPts val="400"/>
              </a:spcAft>
              <a:buSzPct val="100000"/>
              <a:buChar char="•"/>
            </a:pPr>
            <a:r>
              <a:rPr lang="en-US" sz="1300" dirty="0">
                <a:solidFill>
                  <a:schemeClr val="tx2"/>
                </a:solidFill>
              </a:rPr>
              <a:t>Riferimenti normativi e istituzionali</a:t>
            </a:r>
            <a:endParaRPr lang="en-US" sz="1300" dirty="0"/>
          </a:p>
          <a:p>
            <a:pPr marL="177800" indent="-177800">
              <a:spcAft>
                <a:spcPts val="400"/>
              </a:spcAft>
              <a:buSzPct val="100000"/>
              <a:buChar char="•"/>
            </a:pPr>
            <a:r>
              <a:rPr lang="en-US" sz="1300" dirty="0">
                <a:solidFill>
                  <a:schemeClr val="tx2"/>
                </a:solidFill>
              </a:rPr>
              <a:t>Convenzioni di cortesia, esempi culturali</a:t>
            </a:r>
            <a:endParaRPr lang="en-US" sz="1300" dirty="0"/>
          </a:p>
        </p:txBody>
      </p:sp>
      <p:sp>
        <p:nvSpPr>
          <p:cNvPr id="17" name="scheda Attenzioni"/>
          <p:cNvSpPr/>
          <p:nvPr/>
        </p:nvSpPr>
        <p:spPr>
          <a:xfrm>
            <a:off x="4709160" y="1097280"/>
            <a:ext cx="3977640" cy="2011680"/>
          </a:xfrm>
          <a:prstGeom prst="roundRect">
            <a:avLst>
              <a:gd name="adj" fmla="val 3636"/>
            </a:avLst>
          </a:prstGeom>
          <a:solidFill>
            <a:schemeClr val="accent6"/>
          </a:solidFill>
          <a:ln/>
        </p:spPr>
      </p:sp>
      <p:sp>
        <p:nvSpPr>
          <p:cNvPr id="18" name="cerchio FiAlertTriangle"/>
          <p:cNvSpPr/>
          <p:nvPr/>
        </p:nvSpPr>
        <p:spPr>
          <a:xfrm>
            <a:off x="4892040" y="1280160"/>
            <a:ext cx="457200" cy="457200"/>
          </a:xfrm>
          <a:prstGeom prst="ellipse">
            <a:avLst/>
          </a:prstGeom>
          <a:solidFill>
            <a:schemeClr val="accent5"/>
          </a:solidFill>
          <a:ln/>
        </p:spPr>
      </p:sp>
      <p:pic>
        <p:nvPicPr>
          <p:cNvPr id="19" name="Image 1" descr="FiAlertTriang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Attenzioni</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Terminologia: fornire un glossario</a:t>
            </a:r>
            <a:endParaRPr lang="en-US" sz="1300" dirty="0"/>
          </a:p>
          <a:p>
            <a:pPr marL="177800" indent="-177800">
              <a:spcAft>
                <a:spcPts val="400"/>
              </a:spcAft>
              <a:buSzPct val="100000"/>
              <a:buChar char="•"/>
            </a:pPr>
            <a:r>
              <a:rPr lang="en-US" sz="1300" dirty="0">
                <a:solidFill>
                  <a:schemeClr val="tx2"/>
                </a:solidFill>
              </a:rPr>
              <a:t>Sfumature: 'deve' e 'dovrebbe' non sono uguali</a:t>
            </a:r>
            <a:endParaRPr lang="en-US" sz="1300" dirty="0"/>
          </a:p>
          <a:p>
            <a:pPr marL="177800" indent="-177800">
              <a:spcAft>
                <a:spcPts val="400"/>
              </a:spcAft>
              <a:buSzPct val="100000"/>
              <a:buChar char="•"/>
            </a:pPr>
            <a:r>
              <a:rPr lang="en-US" sz="1300" dirty="0">
                <a:solidFill>
                  <a:schemeClr val="tx2"/>
                </a:solidFill>
              </a:rPr>
              <a:t>Lingue meno diffuse, testi con valore legale</a:t>
            </a:r>
            <a:endParaRPr lang="en-US" sz="1300" dirty="0"/>
          </a:p>
        </p:txBody>
      </p:sp>
      <p:sp>
        <p:nvSpPr>
          <p:cNvPr id="22" name="ritraduzione"/>
          <p:cNvSpPr/>
          <p:nvPr/>
        </p:nvSpPr>
        <p:spPr>
          <a:xfrm>
            <a:off x="457200" y="3291840"/>
            <a:ext cx="8229600" cy="1188720"/>
          </a:xfrm>
          <a:prstGeom prst="roundRect">
            <a:avLst>
              <a:gd name="adj" fmla="val 6154"/>
            </a:avLst>
          </a:prstGeom>
          <a:solidFill>
            <a:schemeClr val="bg2"/>
          </a:solidFill>
          <a:ln/>
        </p:spPr>
      </p:sp>
      <p:sp>
        <p:nvSpPr>
          <p:cNvPr id="23" name="cerchio FiRepeat"/>
          <p:cNvSpPr/>
          <p:nvPr/>
        </p:nvSpPr>
        <p:spPr>
          <a:xfrm>
            <a:off x="640080" y="3520440"/>
            <a:ext cx="548640" cy="548640"/>
          </a:xfrm>
          <a:prstGeom prst="ellipse">
            <a:avLst/>
          </a:prstGeom>
          <a:solidFill>
            <a:schemeClr val="accent1"/>
          </a:solidFill>
          <a:ln/>
        </p:spPr>
      </p:sp>
      <p:pic>
        <p:nvPicPr>
          <p:cNvPr id="24" name="Image 2" descr="FiRepeat">    </p:cNvPr>
          <p:cNvPicPr>
            <a:picLocks noChangeAspect="1"/>
          </p:cNvPicPr>
          <p:nvPr/>
        </p:nvPicPr>
        <p:blipFill>
          <a:blip r:embed="rId3"/>
          <a:stretch>
            <a:fillRect/>
          </a:stretch>
        </p:blipFill>
        <p:spPr>
          <a:xfrm>
            <a:off x="777240" y="3657600"/>
            <a:ext cx="274320" cy="274320"/>
          </a:xfrm>
          <a:prstGeom prst="rect">
            <a:avLst/>
          </a:prstGeom>
        </p:spPr>
      </p:pic>
      <p:sp>
        <p:nvSpPr>
          <p:cNvPr id="25" name="Text 19"/>
          <p:cNvSpPr txBox="1"/>
          <p:nvPr/>
        </p:nvSpPr>
        <p:spPr>
          <a:xfrm>
            <a:off x="1371600" y="3383280"/>
            <a:ext cx="7132320" cy="365760"/>
          </a:xfrm>
          <a:prstGeom prst="rect">
            <a:avLst/>
          </a:prstGeom>
          <a:noFill/>
          <a:ln/>
        </p:spPr>
        <p:txBody>
          <a:bodyPr wrap="square" lIns="0" tIns="0" rIns="0" bIns="0" rtlCol="0" anchor="t"/>
          <a:lstStyle/>
          <a:p>
            <a:pPr indent="0" marL="0">
              <a:buNone/>
            </a:pPr>
            <a:r>
              <a:rPr lang="en-US" sz="1400" b="1" dirty="0">
                <a:solidFill>
                  <a:schemeClr val="tx1"/>
                </a:solidFill>
              </a:rPr>
              <a:t>Controllo utile se non si conosce la lingua di arrivo</a:t>
            </a:r>
            <a:endParaRPr lang="en-US" sz="1400" dirty="0"/>
          </a:p>
        </p:txBody>
      </p:sp>
      <p:sp>
        <p:nvSpPr>
          <p:cNvPr id="26" name="Text 20"/>
          <p:cNvSpPr txBox="1"/>
          <p:nvPr/>
        </p:nvSpPr>
        <p:spPr>
          <a:xfrm>
            <a:off x="1371600" y="3749040"/>
            <a:ext cx="7132320" cy="640080"/>
          </a:xfrm>
          <a:prstGeom prst="rect">
            <a:avLst/>
          </a:prstGeom>
          <a:noFill/>
          <a:ln/>
        </p:spPr>
        <p:txBody>
          <a:bodyPr wrap="square" lIns="0" tIns="0" rIns="0" bIns="0" rtlCol="0" anchor="t"/>
          <a:lstStyle/>
          <a:p>
            <a:pPr indent="0" marL="0">
              <a:buNone/>
            </a:pPr>
            <a:r>
              <a:rPr lang="en-US" sz="1300" dirty="0">
                <a:solidFill>
                  <a:schemeClr val="tx2"/>
                </a:solidFill>
              </a:rPr>
              <a:t>Ritradurre nella lingua originale con uno strumento diverso: non è una prova, ma fa emergere molti scostamenti di significato.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Cambiare formato e struttura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blocco Appunti"/>
          <p:cNvSpPr/>
          <p:nvPr/>
        </p:nvSpPr>
        <p:spPr>
          <a:xfrm>
            <a:off x="457200" y="1051560"/>
            <a:ext cx="1737360" cy="457200"/>
          </a:xfrm>
          <a:prstGeom prst="roundRect">
            <a:avLst>
              <a:gd name="adj" fmla="val 24000"/>
            </a:avLst>
          </a:prstGeom>
          <a:solidFill>
            <a:schemeClr val="bg2"/>
          </a:solidFill>
          <a:ln/>
        </p:spPr>
      </p:sp>
      <p:sp>
        <p:nvSpPr>
          <p:cNvPr id="13" name="Text 10"/>
          <p:cNvSpPr txBox="1"/>
          <p:nvPr/>
        </p:nvSpPr>
        <p:spPr>
          <a:xfrm>
            <a:off x="502920" y="1051560"/>
            <a:ext cx="1645920" cy="457200"/>
          </a:xfrm>
          <a:prstGeom prst="rect">
            <a:avLst/>
          </a:prstGeom>
          <a:noFill/>
          <a:ln/>
        </p:spPr>
        <p:txBody>
          <a:bodyPr wrap="square" lIns="0" tIns="0" rIns="0" bIns="0" rtlCol="0" anchor="ctr"/>
          <a:lstStyle/>
          <a:p>
            <a:pPr algn="ctr" indent="0" marL="0">
              <a:buNone/>
            </a:pPr>
            <a:r>
              <a:rPr lang="en-US" sz="1200" b="1" dirty="0">
                <a:solidFill>
                  <a:schemeClr val="tx1"/>
                </a:solidFill>
              </a:rPr>
              <a:t>Appunti</a:t>
            </a:r>
            <a:endParaRPr lang="en-US" sz="1200" dirty="0"/>
          </a:p>
        </p:txBody>
      </p:sp>
      <p:sp>
        <p:nvSpPr>
          <p:cNvPr id="14" name="freccia"/>
          <p:cNvSpPr/>
          <p:nvPr/>
        </p:nvSpPr>
        <p:spPr>
          <a:xfrm>
            <a:off x="2286000" y="1133856"/>
            <a:ext cx="320040" cy="292608"/>
          </a:xfrm>
          <a:prstGeom prst="rightArrow">
            <a:avLst/>
          </a:prstGeom>
          <a:solidFill>
            <a:schemeClr val="accent2"/>
          </a:solidFill>
          <a:ln/>
        </p:spPr>
      </p:sp>
      <p:sp>
        <p:nvSpPr>
          <p:cNvPr id="15" name="blocco Verbale con decisioni e azioni"/>
          <p:cNvSpPr/>
          <p:nvPr/>
        </p:nvSpPr>
        <p:spPr>
          <a:xfrm>
            <a:off x="2697480" y="1051560"/>
            <a:ext cx="2148840" cy="457200"/>
          </a:xfrm>
          <a:prstGeom prst="roundRect">
            <a:avLst>
              <a:gd name="adj" fmla="val 24000"/>
            </a:avLst>
          </a:prstGeom>
          <a:solidFill>
            <a:schemeClr val="accent6"/>
          </a:solidFill>
          <a:ln/>
        </p:spPr>
      </p:sp>
      <p:sp>
        <p:nvSpPr>
          <p:cNvPr id="16" name="Text 13"/>
          <p:cNvSpPr txBox="1"/>
          <p:nvPr/>
        </p:nvSpPr>
        <p:spPr>
          <a:xfrm>
            <a:off x="2743200" y="1051560"/>
            <a:ext cx="2057400" cy="457200"/>
          </a:xfrm>
          <a:prstGeom prst="rect">
            <a:avLst/>
          </a:prstGeom>
          <a:noFill/>
          <a:ln/>
        </p:spPr>
        <p:txBody>
          <a:bodyPr wrap="square" lIns="0" tIns="0" rIns="0" bIns="0" rtlCol="0" anchor="ctr"/>
          <a:lstStyle/>
          <a:p>
            <a:pPr algn="ctr" indent="0" marL="0">
              <a:buNone/>
            </a:pPr>
            <a:r>
              <a:rPr lang="en-US" sz="1200" b="1" dirty="0">
                <a:solidFill>
                  <a:schemeClr val="tx1"/>
                </a:solidFill>
              </a:rPr>
              <a:t>Verbale con decisioni e azioni</a:t>
            </a:r>
            <a:endParaRPr lang="en-US" sz="1200" dirty="0"/>
          </a:p>
        </p:txBody>
      </p:sp>
      <p:sp>
        <p:nvSpPr>
          <p:cNvPr id="17" name="blocco Relazione lunga"/>
          <p:cNvSpPr/>
          <p:nvPr/>
        </p:nvSpPr>
        <p:spPr>
          <a:xfrm>
            <a:off x="457200" y="1600200"/>
            <a:ext cx="1737360" cy="457200"/>
          </a:xfrm>
          <a:prstGeom prst="roundRect">
            <a:avLst>
              <a:gd name="adj" fmla="val 24000"/>
            </a:avLst>
          </a:prstGeom>
          <a:solidFill>
            <a:schemeClr val="bg2"/>
          </a:solidFill>
          <a:ln/>
        </p:spPr>
      </p:sp>
      <p:sp>
        <p:nvSpPr>
          <p:cNvPr id="18" name="Text 15"/>
          <p:cNvSpPr txBox="1"/>
          <p:nvPr/>
        </p:nvSpPr>
        <p:spPr>
          <a:xfrm>
            <a:off x="502920" y="1600200"/>
            <a:ext cx="1645920" cy="457200"/>
          </a:xfrm>
          <a:prstGeom prst="rect">
            <a:avLst/>
          </a:prstGeom>
          <a:noFill/>
          <a:ln/>
        </p:spPr>
        <p:txBody>
          <a:bodyPr wrap="square" lIns="0" tIns="0" rIns="0" bIns="0" rtlCol="0" anchor="ctr"/>
          <a:lstStyle/>
          <a:p>
            <a:pPr algn="ctr" indent="0" marL="0">
              <a:buNone/>
            </a:pPr>
            <a:r>
              <a:rPr lang="en-US" sz="1200" b="1" dirty="0">
                <a:solidFill>
                  <a:schemeClr val="tx1"/>
                </a:solidFill>
              </a:rPr>
              <a:t>Relazione lunga</a:t>
            </a:r>
            <a:endParaRPr lang="en-US" sz="1200" dirty="0"/>
          </a:p>
        </p:txBody>
      </p:sp>
      <p:sp>
        <p:nvSpPr>
          <p:cNvPr id="19" name="freccia"/>
          <p:cNvSpPr/>
          <p:nvPr/>
        </p:nvSpPr>
        <p:spPr>
          <a:xfrm>
            <a:off x="2286000" y="1682496"/>
            <a:ext cx="320040" cy="292608"/>
          </a:xfrm>
          <a:prstGeom prst="rightArrow">
            <a:avLst/>
          </a:prstGeom>
          <a:solidFill>
            <a:schemeClr val="accent2"/>
          </a:solidFill>
          <a:ln/>
        </p:spPr>
      </p:sp>
      <p:sp>
        <p:nvSpPr>
          <p:cNvPr id="20" name="blocco Sintesi per la direzione"/>
          <p:cNvSpPr/>
          <p:nvPr/>
        </p:nvSpPr>
        <p:spPr>
          <a:xfrm>
            <a:off x="2697480" y="1600200"/>
            <a:ext cx="2148840" cy="457200"/>
          </a:xfrm>
          <a:prstGeom prst="roundRect">
            <a:avLst>
              <a:gd name="adj" fmla="val 24000"/>
            </a:avLst>
          </a:prstGeom>
          <a:solidFill>
            <a:schemeClr val="accent6"/>
          </a:solidFill>
          <a:ln/>
        </p:spPr>
      </p:sp>
      <p:sp>
        <p:nvSpPr>
          <p:cNvPr id="21" name="Text 18"/>
          <p:cNvSpPr txBox="1"/>
          <p:nvPr/>
        </p:nvSpPr>
        <p:spPr>
          <a:xfrm>
            <a:off x="2743200" y="1600200"/>
            <a:ext cx="2057400" cy="457200"/>
          </a:xfrm>
          <a:prstGeom prst="rect">
            <a:avLst/>
          </a:prstGeom>
          <a:noFill/>
          <a:ln/>
        </p:spPr>
        <p:txBody>
          <a:bodyPr wrap="square" lIns="0" tIns="0" rIns="0" bIns="0" rtlCol="0" anchor="ctr"/>
          <a:lstStyle/>
          <a:p>
            <a:pPr algn="ctr" indent="0" marL="0">
              <a:buNone/>
            </a:pPr>
            <a:r>
              <a:rPr lang="en-US" sz="1200" b="1" dirty="0">
                <a:solidFill>
                  <a:schemeClr val="tx1"/>
                </a:solidFill>
              </a:rPr>
              <a:t>Sintesi per la direzione</a:t>
            </a:r>
            <a:endParaRPr lang="en-US" sz="1200" dirty="0"/>
          </a:p>
        </p:txBody>
      </p:sp>
      <p:sp>
        <p:nvSpPr>
          <p:cNvPr id="22" name="blocco Procedura"/>
          <p:cNvSpPr/>
          <p:nvPr/>
        </p:nvSpPr>
        <p:spPr>
          <a:xfrm>
            <a:off x="457200" y="2148840"/>
            <a:ext cx="1737360" cy="457200"/>
          </a:xfrm>
          <a:prstGeom prst="roundRect">
            <a:avLst>
              <a:gd name="adj" fmla="val 24000"/>
            </a:avLst>
          </a:prstGeom>
          <a:solidFill>
            <a:schemeClr val="bg2"/>
          </a:solidFill>
          <a:ln/>
        </p:spPr>
      </p:sp>
      <p:sp>
        <p:nvSpPr>
          <p:cNvPr id="23" name="Text 20"/>
          <p:cNvSpPr txBox="1"/>
          <p:nvPr/>
        </p:nvSpPr>
        <p:spPr>
          <a:xfrm>
            <a:off x="502920" y="2148840"/>
            <a:ext cx="1645920" cy="457200"/>
          </a:xfrm>
          <a:prstGeom prst="rect">
            <a:avLst/>
          </a:prstGeom>
          <a:noFill/>
          <a:ln/>
        </p:spPr>
        <p:txBody>
          <a:bodyPr wrap="square" lIns="0" tIns="0" rIns="0" bIns="0" rtlCol="0" anchor="ctr"/>
          <a:lstStyle/>
          <a:p>
            <a:pPr algn="ctr" indent="0" marL="0">
              <a:buNone/>
            </a:pPr>
            <a:r>
              <a:rPr lang="en-US" sz="1200" b="1" dirty="0">
                <a:solidFill>
                  <a:schemeClr val="tx1"/>
                </a:solidFill>
              </a:rPr>
              <a:t>Procedura</a:t>
            </a:r>
            <a:endParaRPr lang="en-US" sz="1200" dirty="0"/>
          </a:p>
        </p:txBody>
      </p:sp>
      <p:sp>
        <p:nvSpPr>
          <p:cNvPr id="24" name="freccia"/>
          <p:cNvSpPr/>
          <p:nvPr/>
        </p:nvSpPr>
        <p:spPr>
          <a:xfrm>
            <a:off x="2286000" y="2231136"/>
            <a:ext cx="320040" cy="292608"/>
          </a:xfrm>
          <a:prstGeom prst="rightArrow">
            <a:avLst/>
          </a:prstGeom>
          <a:solidFill>
            <a:schemeClr val="accent2"/>
          </a:solidFill>
          <a:ln/>
        </p:spPr>
      </p:sp>
      <p:sp>
        <p:nvSpPr>
          <p:cNvPr id="25" name="blocco Lista di controllo o FAQ"/>
          <p:cNvSpPr/>
          <p:nvPr/>
        </p:nvSpPr>
        <p:spPr>
          <a:xfrm>
            <a:off x="2697480" y="2148840"/>
            <a:ext cx="2148840" cy="457200"/>
          </a:xfrm>
          <a:prstGeom prst="roundRect">
            <a:avLst>
              <a:gd name="adj" fmla="val 24000"/>
            </a:avLst>
          </a:prstGeom>
          <a:solidFill>
            <a:schemeClr val="accent6"/>
          </a:solidFill>
          <a:ln/>
        </p:spPr>
      </p:sp>
      <p:sp>
        <p:nvSpPr>
          <p:cNvPr id="26" name="Text 23"/>
          <p:cNvSpPr txBox="1"/>
          <p:nvPr/>
        </p:nvSpPr>
        <p:spPr>
          <a:xfrm>
            <a:off x="2743200" y="2148840"/>
            <a:ext cx="2057400" cy="457200"/>
          </a:xfrm>
          <a:prstGeom prst="rect">
            <a:avLst/>
          </a:prstGeom>
          <a:noFill/>
          <a:ln/>
        </p:spPr>
        <p:txBody>
          <a:bodyPr wrap="square" lIns="0" tIns="0" rIns="0" bIns="0" rtlCol="0" anchor="ctr"/>
          <a:lstStyle/>
          <a:p>
            <a:pPr algn="ctr" indent="0" marL="0">
              <a:buNone/>
            </a:pPr>
            <a:r>
              <a:rPr lang="en-US" sz="1200" b="1" dirty="0">
                <a:solidFill>
                  <a:schemeClr val="tx1"/>
                </a:solidFill>
              </a:rPr>
              <a:t>Lista di controllo o FAQ</a:t>
            </a:r>
            <a:endParaRPr lang="en-US" sz="1200" dirty="0"/>
          </a:p>
        </p:txBody>
      </p:sp>
      <p:sp>
        <p:nvSpPr>
          <p:cNvPr id="27" name="blocco Testo continuo"/>
          <p:cNvSpPr/>
          <p:nvPr/>
        </p:nvSpPr>
        <p:spPr>
          <a:xfrm>
            <a:off x="457200" y="2697480"/>
            <a:ext cx="1737360" cy="457200"/>
          </a:xfrm>
          <a:prstGeom prst="roundRect">
            <a:avLst>
              <a:gd name="adj" fmla="val 24000"/>
            </a:avLst>
          </a:prstGeom>
          <a:solidFill>
            <a:schemeClr val="bg2"/>
          </a:solidFill>
          <a:ln/>
        </p:spPr>
      </p:sp>
      <p:sp>
        <p:nvSpPr>
          <p:cNvPr id="28" name="Text 25"/>
          <p:cNvSpPr txBox="1"/>
          <p:nvPr/>
        </p:nvSpPr>
        <p:spPr>
          <a:xfrm>
            <a:off x="502920" y="2697480"/>
            <a:ext cx="1645920" cy="457200"/>
          </a:xfrm>
          <a:prstGeom prst="rect">
            <a:avLst/>
          </a:prstGeom>
          <a:noFill/>
          <a:ln/>
        </p:spPr>
        <p:txBody>
          <a:bodyPr wrap="square" lIns="0" tIns="0" rIns="0" bIns="0" rtlCol="0" anchor="ctr"/>
          <a:lstStyle/>
          <a:p>
            <a:pPr algn="ctr" indent="0" marL="0">
              <a:buNone/>
            </a:pPr>
            <a:r>
              <a:rPr lang="en-US" sz="1200" b="1" dirty="0">
                <a:solidFill>
                  <a:schemeClr val="tx1"/>
                </a:solidFill>
              </a:rPr>
              <a:t>Testo continuo</a:t>
            </a:r>
            <a:endParaRPr lang="en-US" sz="1200" dirty="0"/>
          </a:p>
        </p:txBody>
      </p:sp>
      <p:sp>
        <p:nvSpPr>
          <p:cNvPr id="29" name="freccia"/>
          <p:cNvSpPr/>
          <p:nvPr/>
        </p:nvSpPr>
        <p:spPr>
          <a:xfrm>
            <a:off x="2286000" y="2779776"/>
            <a:ext cx="320040" cy="292608"/>
          </a:xfrm>
          <a:prstGeom prst="rightArrow">
            <a:avLst/>
          </a:prstGeom>
          <a:solidFill>
            <a:schemeClr val="accent2"/>
          </a:solidFill>
          <a:ln/>
        </p:spPr>
      </p:sp>
      <p:sp>
        <p:nvSpPr>
          <p:cNvPr id="30" name="blocco Tabella o elenco"/>
          <p:cNvSpPr/>
          <p:nvPr/>
        </p:nvSpPr>
        <p:spPr>
          <a:xfrm>
            <a:off x="2697480" y="2697480"/>
            <a:ext cx="2148840" cy="457200"/>
          </a:xfrm>
          <a:prstGeom prst="roundRect">
            <a:avLst>
              <a:gd name="adj" fmla="val 24000"/>
            </a:avLst>
          </a:prstGeom>
          <a:solidFill>
            <a:schemeClr val="accent6"/>
          </a:solidFill>
          <a:ln/>
        </p:spPr>
      </p:sp>
      <p:sp>
        <p:nvSpPr>
          <p:cNvPr id="31" name="Text 28"/>
          <p:cNvSpPr txBox="1"/>
          <p:nvPr/>
        </p:nvSpPr>
        <p:spPr>
          <a:xfrm>
            <a:off x="2743200" y="2697480"/>
            <a:ext cx="2057400" cy="457200"/>
          </a:xfrm>
          <a:prstGeom prst="rect">
            <a:avLst/>
          </a:prstGeom>
          <a:noFill/>
          <a:ln/>
        </p:spPr>
        <p:txBody>
          <a:bodyPr wrap="square" lIns="0" tIns="0" rIns="0" bIns="0" rtlCol="0" anchor="ctr"/>
          <a:lstStyle/>
          <a:p>
            <a:pPr algn="ctr" indent="0" marL="0">
              <a:buNone/>
            </a:pPr>
            <a:r>
              <a:rPr lang="en-US" sz="1200" b="1" dirty="0">
                <a:solidFill>
                  <a:schemeClr val="tx1"/>
                </a:solidFill>
              </a:rPr>
              <a:t>Tabella o elenco</a:t>
            </a:r>
            <a:endParaRPr lang="en-US" sz="1200" dirty="0"/>
          </a:p>
        </p:txBody>
      </p:sp>
      <p:sp>
        <p:nvSpPr>
          <p:cNvPr id="32" name="scheda Che cosa può succedere"/>
          <p:cNvSpPr/>
          <p:nvPr/>
        </p:nvSpPr>
        <p:spPr>
          <a:xfrm>
            <a:off x="5074920" y="1051560"/>
            <a:ext cx="3611880" cy="2103120"/>
          </a:xfrm>
          <a:prstGeom prst="roundRect">
            <a:avLst>
              <a:gd name="adj" fmla="val 3478"/>
            </a:avLst>
          </a:prstGeom>
          <a:solidFill>
            <a:schemeClr val="bg2"/>
          </a:solidFill>
          <a:ln/>
        </p:spPr>
      </p:sp>
      <p:sp>
        <p:nvSpPr>
          <p:cNvPr id="33" name="cerchio FiAlertTriangle"/>
          <p:cNvSpPr/>
          <p:nvPr/>
        </p:nvSpPr>
        <p:spPr>
          <a:xfrm>
            <a:off x="5257800" y="1234440"/>
            <a:ext cx="457200" cy="457200"/>
          </a:xfrm>
          <a:prstGeom prst="ellipse">
            <a:avLst/>
          </a:prstGeom>
          <a:solidFill>
            <a:schemeClr val="accent5"/>
          </a:solidFill>
          <a:ln/>
        </p:spPr>
      </p:sp>
      <p:pic>
        <p:nvPicPr>
          <p:cNvPr id="34" name="Image 0" descr="FiAlertTriangle">    </p:cNvPr>
          <p:cNvPicPr>
            <a:picLocks noChangeAspect="1"/>
          </p:cNvPicPr>
          <p:nvPr/>
        </p:nvPicPr>
        <p:blipFill>
          <a:blip r:embed="rId1"/>
          <a:stretch>
            <a:fillRect/>
          </a:stretch>
        </p:blipFill>
        <p:spPr>
          <a:xfrm>
            <a:off x="5372100" y="1348740"/>
            <a:ext cx="228600" cy="228600"/>
          </a:xfrm>
          <a:prstGeom prst="rect">
            <a:avLst/>
          </a:prstGeom>
        </p:spPr>
      </p:pic>
      <p:sp>
        <p:nvSpPr>
          <p:cNvPr id="35" name="Text 31"/>
          <p:cNvSpPr txBox="1"/>
          <p:nvPr/>
        </p:nvSpPr>
        <p:spPr>
          <a:xfrm>
            <a:off x="5852160" y="123444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Che cosa può succedere</a:t>
            </a:r>
            <a:endParaRPr lang="en-US" sz="1400" dirty="0"/>
          </a:p>
        </p:txBody>
      </p:sp>
      <p:sp>
        <p:nvSpPr>
          <p:cNvPr id="36" name="Text 32"/>
          <p:cNvSpPr txBox="1"/>
          <p:nvPr/>
        </p:nvSpPr>
        <p:spPr>
          <a:xfrm>
            <a:off x="5257800" y="1828800"/>
            <a:ext cx="3246120" cy="1216152"/>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Un'ipotesi discussa diventa una decisione</a:t>
            </a:r>
            <a:endParaRPr lang="en-US" sz="1200" dirty="0"/>
          </a:p>
          <a:p>
            <a:pPr marL="177800" indent="-177800">
              <a:spcAft>
                <a:spcPts val="400"/>
              </a:spcAft>
              <a:buSzPct val="100000"/>
              <a:buChar char="•"/>
            </a:pPr>
            <a:r>
              <a:rPr lang="en-US" sz="1200" dirty="0">
                <a:solidFill>
                  <a:schemeClr val="tx2"/>
                </a:solidFill>
              </a:rPr>
              <a:t>Un'azione attribuita alla persona sbagliata</a:t>
            </a:r>
            <a:endParaRPr lang="en-US" sz="1200" dirty="0"/>
          </a:p>
          <a:p>
            <a:pPr marL="177800" indent="-177800">
              <a:spcAft>
                <a:spcPts val="400"/>
              </a:spcAft>
              <a:buSzPct val="100000"/>
              <a:buChar char="•"/>
            </a:pPr>
            <a:r>
              <a:rPr lang="en-US" sz="1200" dirty="0">
                <a:solidFill>
                  <a:schemeClr val="tx2"/>
                </a:solidFill>
              </a:rPr>
              <a:t>Spariscono 'solo se' e 'a meno che'</a:t>
            </a:r>
            <a:endParaRPr lang="en-US" sz="1200" dirty="0"/>
          </a:p>
          <a:p>
            <a:pPr marL="177800" indent="-177800">
              <a:spcAft>
                <a:spcPts val="400"/>
              </a:spcAft>
              <a:buSzPct val="100000"/>
              <a:buChar char="•"/>
            </a:pPr>
            <a:r>
              <a:rPr lang="en-US" sz="1200" dirty="0">
                <a:solidFill>
                  <a:schemeClr val="tx2"/>
                </a:solidFill>
              </a:rPr>
              <a:t>Un dettaglio secondario diventa centrale</a:t>
            </a:r>
            <a:endParaRPr lang="en-US" sz="1200" dirty="0"/>
          </a:p>
        </p:txBody>
      </p:sp>
      <p:sp>
        <p:nvSpPr>
          <p:cNvPr id="37" name="messaggio"/>
          <p:cNvSpPr/>
          <p:nvPr/>
        </p:nvSpPr>
        <p:spPr>
          <a:xfrm>
            <a:off x="457200" y="3429000"/>
            <a:ext cx="8229600" cy="685800"/>
          </a:xfrm>
          <a:prstGeom prst="roundRect">
            <a:avLst>
              <a:gd name="adj" fmla="val 10667"/>
            </a:avLst>
          </a:prstGeom>
          <a:solidFill>
            <a:schemeClr val="tx1"/>
          </a:solidFill>
          <a:ln/>
        </p:spPr>
      </p:sp>
      <p:sp>
        <p:nvSpPr>
          <p:cNvPr id="38" name="Text 34"/>
          <p:cNvSpPr txBox="1"/>
          <p:nvPr/>
        </p:nvSpPr>
        <p:spPr>
          <a:xfrm>
            <a:off x="640080" y="3429000"/>
            <a:ext cx="7863840" cy="685800"/>
          </a:xfrm>
          <a:prstGeom prst="rect">
            <a:avLst/>
          </a:prstGeom>
          <a:noFill/>
          <a:ln/>
        </p:spPr>
        <p:txBody>
          <a:bodyPr wrap="square" lIns="0" tIns="0" rIns="0" bIns="0" rtlCol="0" anchor="ctr"/>
          <a:lstStyle/>
          <a:p>
            <a:pPr indent="0" marL="0">
              <a:buNone/>
            </a:pPr>
            <a:r>
              <a:rPr lang="en-US" sz="1300" dirty="0">
                <a:solidFill>
                  <a:schemeClr val="bg1"/>
                </a:solidFill>
              </a:rPr>
              <a:t>Controllo: ogni elemento importante dell'originale è presente, con lo stesso peso e lo stesso significato?</a:t>
            </a:r>
            <a:endParaRPr lang="en-US" sz="1300" dirty="0"/>
          </a:p>
        </p:txBody>
      </p:sp>
      <p:sp>
        <p:nvSpPr>
          <p:cNvPr id="39" name="Text 35"/>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200" i="1" dirty="0">
                <a:solidFill>
                  <a:schemeClr val="tx2"/>
                </a:solidFill>
              </a:rPr>
              <a:t>Revisione della struttura: informazioni importanti all'inizio, titoli, raggruppamenti, obbligatorio separato da consigliato.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Modifiche formali e sostanziali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468880"/>
                <a:gridCol w="3017520"/>
              </a:tblGrid>
              <a:tr h="384048">
                <a:tc>
                  <a:txBody>
                    <a:bodyPr/>
                    <a:lstStyle/>
                    <a:p>
                      <a:pPr indent="0" marL="0">
                        <a:buNone/>
                      </a:pPr>
                      <a:r>
                        <a:rPr lang="en-US" sz="1200" b="1" dirty="0">
                          <a:solidFill>
                            <a:schemeClr val="bg1"/>
                          </a:solidFill>
                        </a:rPr>
                        <a:t>Originale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Trasformato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è cambiato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Entro il 15 del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Verso metà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Una scadenza diventa vaga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Si raccomanda di...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È obbligatorio...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 grado di obbligo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In alcuni casi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 frequenza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Salvo diversa indicazione, ...</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(eliminato)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Un'eccezione cancellata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Il fornitore propone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garantisce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impegno attribuito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520440"/>
            <a:ext cx="8229600" cy="548640"/>
          </a:xfrm>
          <a:prstGeom prst="roundRect">
            <a:avLst>
              <a:gd name="adj" fmla="val 13333"/>
            </a:avLst>
          </a:prstGeom>
          <a:solidFill>
            <a:schemeClr val="tx1"/>
          </a:solidFill>
          <a:ln/>
        </p:spPr>
      </p:sp>
      <p:sp>
        <p:nvSpPr>
          <p:cNvPr id="14" name="Text 10"/>
          <p:cNvSpPr txBox="1"/>
          <p:nvPr/>
        </p:nvSpPr>
        <p:spPr>
          <a:xfrm>
            <a:off x="640080" y="3520440"/>
            <a:ext cx="7863840" cy="548640"/>
          </a:xfrm>
          <a:prstGeom prst="rect">
            <a:avLst/>
          </a:prstGeom>
          <a:noFill/>
          <a:ln/>
        </p:spPr>
        <p:txBody>
          <a:bodyPr wrap="square" lIns="0" tIns="0" rIns="0" bIns="0" rtlCol="0" anchor="ctr"/>
          <a:lstStyle/>
          <a:p>
            <a:pPr indent="0" marL="0">
              <a:buNone/>
            </a:pPr>
            <a:r>
              <a:rPr lang="en-US" sz="1300" dirty="0">
                <a:solidFill>
                  <a:schemeClr val="bg1"/>
                </a:solidFill>
              </a:rPr>
              <a:t>Esplicitare le modifiche ammesse e chiedere di segnalare, non applicare, quelle sostanziali.</a:t>
            </a:r>
            <a:endParaRPr lang="en-US" sz="1300" dirty="0"/>
          </a:p>
        </p:txBody>
      </p:sp>
      <p:sp>
        <p:nvSpPr>
          <p:cNvPr id="15" name="Text 11"/>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b="1" i="1" dirty="0">
                <a:solidFill>
                  <a:schemeClr val="accent5"/>
                </a:solidFill>
              </a:rPr>
              <a:t>Molte modifiche che sembrano formali sono sostanziali.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Preservare il significato originale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voce 1"/>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4" name="Text 11"/>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Definire in anticipo che cosa non deve cambiare: importi, date, condizioni, eccezioni, obblighi</a:t>
            </a:r>
            <a:endParaRPr lang="en-US" sz="1300" dirty="0"/>
          </a:p>
        </p:txBody>
      </p:sp>
      <p:sp>
        <p:nvSpPr>
          <p:cNvPr id="15" name="voce 2"/>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7" name="Text 14"/>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Chiedere l'elenco delle modifiche, formali e potenzialmente sostanziali</a:t>
            </a:r>
            <a:endParaRPr lang="en-US" sz="1300" dirty="0"/>
          </a:p>
        </p:txBody>
      </p:sp>
      <p:sp>
        <p:nvSpPr>
          <p:cNvPr id="18" name="voce 3"/>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0" name="Text 17"/>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Usare il confronto tra versioni per vedere che cosa è cambiato</a:t>
            </a:r>
            <a:endParaRPr lang="en-US" sz="1300" dirty="0"/>
          </a:p>
        </p:txBody>
      </p:sp>
      <p:sp>
        <p:nvSpPr>
          <p:cNvPr id="21" name="voce 4"/>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3" name="Text 20"/>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Rileggere originale e trasformato affiancati, sui punti critici</a:t>
            </a:r>
            <a:endParaRPr lang="en-US" sz="1300" dirty="0"/>
          </a:p>
        </p:txBody>
      </p:sp>
      <p:sp>
        <p:nvSpPr>
          <p:cNvPr id="24" name="voce 5"/>
          <p:cNvSpPr/>
          <p:nvPr/>
        </p:nvSpPr>
        <p:spPr>
          <a:xfrm>
            <a:off x="457200" y="3246120"/>
            <a:ext cx="8229600" cy="475488"/>
          </a:xfrm>
          <a:prstGeom prst="roundRect">
            <a:avLst>
              <a:gd name="adj" fmla="val 15385"/>
            </a:avLst>
          </a:prstGeom>
          <a:solidFill>
            <a:schemeClr val="bg2"/>
          </a:solidFill>
          <a:ln/>
        </p:spPr>
      </p:sp>
      <p:sp>
        <p:nvSpPr>
          <p:cNvPr id="25" name="Text 22"/>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6" name="Text 23"/>
          <p:cNvSpPr txBox="1"/>
          <p:nvPr/>
        </p:nvSpPr>
        <p:spPr>
          <a:xfrm>
            <a:off x="960120" y="3246120"/>
            <a:ext cx="7589520" cy="475488"/>
          </a:xfrm>
          <a:prstGeom prst="rect">
            <a:avLst/>
          </a:prstGeom>
          <a:noFill/>
          <a:ln/>
        </p:spPr>
        <p:txBody>
          <a:bodyPr wrap="square" lIns="0" tIns="0" rIns="0" bIns="0" rtlCol="0" anchor="ctr"/>
          <a:lstStyle/>
          <a:p>
            <a:pPr indent="0" marL="0">
              <a:buNone/>
            </a:pPr>
            <a:r>
              <a:rPr lang="en-US" sz="1300" dirty="0">
                <a:solidFill>
                  <a:schemeClr val="tx1"/>
                </a:solidFill>
              </a:rPr>
              <a:t>Per testi normativi, contrattuali o tecnici: validazione esperta, originale come riferimento</a:t>
            </a:r>
            <a:endParaRPr lang="en-US" sz="1300" dirty="0"/>
          </a:p>
        </p:txBody>
      </p:sp>
      <p:sp>
        <p:nvSpPr>
          <p:cNvPr id="27" name="messaggio"/>
          <p:cNvSpPr/>
          <p:nvPr/>
        </p:nvSpPr>
        <p:spPr>
          <a:xfrm>
            <a:off x="457200" y="3886200"/>
            <a:ext cx="8229600" cy="594360"/>
          </a:xfrm>
          <a:prstGeom prst="roundRect">
            <a:avLst>
              <a:gd name="adj" fmla="val 12308"/>
            </a:avLst>
          </a:prstGeom>
          <a:solidFill>
            <a:schemeClr val="tx1"/>
          </a:solidFill>
          <a:ln/>
        </p:spPr>
      </p:sp>
      <p:sp>
        <p:nvSpPr>
          <p:cNvPr id="28" name="Text 25"/>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300" dirty="0">
                <a:solidFill>
                  <a:schemeClr val="bg1"/>
                </a:solidFill>
              </a:rPr>
              <a:t>Più il testo ha conseguenze, più il confronto con l'originale deve essere sistematico.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Trasformare un testo richiede di controllare che la nuova formulazione non alteri significati, intenzioni o informazioni rilevanti.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8.2  ·  Revisione, riscrittura e trasformazione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Sintesi e analisi documentale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sintesi utile rappresenta fedelmente gli elementi essenziali e consente controlli sui contenuti originali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possibilità su un documento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Riassumere"/>
          <p:cNvSpPr/>
          <p:nvPr/>
        </p:nvSpPr>
        <p:spPr>
          <a:xfrm>
            <a:off x="457200" y="1051560"/>
            <a:ext cx="2621280" cy="1280160"/>
          </a:xfrm>
          <a:prstGeom prst="roundRect">
            <a:avLst>
              <a:gd name="adj" fmla="val 5714"/>
            </a:avLst>
          </a:prstGeom>
          <a:solidFill>
            <a:schemeClr val="bg2"/>
          </a:solidFill>
          <a:ln/>
        </p:spPr>
      </p:sp>
      <p:sp>
        <p:nvSpPr>
          <p:cNvPr id="13" name="cerchio FiAlignLeft"/>
          <p:cNvSpPr/>
          <p:nvPr/>
        </p:nvSpPr>
        <p:spPr>
          <a:xfrm>
            <a:off x="621792" y="1216152"/>
            <a:ext cx="438912" cy="438912"/>
          </a:xfrm>
          <a:prstGeom prst="ellipse">
            <a:avLst/>
          </a:prstGeom>
          <a:solidFill>
            <a:schemeClr val="accent1"/>
          </a:solidFill>
          <a:ln/>
        </p:spPr>
      </p:sp>
      <p:pic>
        <p:nvPicPr>
          <p:cNvPr id="14" name="Image 0" descr="FiAlignLeft">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Riassumere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Contenuti principali, lunghezza e dettaglio scelti</a:t>
            </a:r>
            <a:endParaRPr lang="en-US" sz="1200" dirty="0"/>
          </a:p>
        </p:txBody>
      </p:sp>
      <p:sp>
        <p:nvSpPr>
          <p:cNvPr id="17" name="Concetti principali"/>
          <p:cNvSpPr/>
          <p:nvPr/>
        </p:nvSpPr>
        <p:spPr>
          <a:xfrm>
            <a:off x="3261360" y="1051560"/>
            <a:ext cx="2621280" cy="1280160"/>
          </a:xfrm>
          <a:prstGeom prst="roundRect">
            <a:avLst>
              <a:gd name="adj" fmla="val 5714"/>
            </a:avLst>
          </a:prstGeom>
          <a:solidFill>
            <a:schemeClr val="bg2"/>
          </a:solidFill>
          <a:ln/>
        </p:spPr>
      </p:sp>
      <p:sp>
        <p:nvSpPr>
          <p:cNvPr id="18" name="cerchio FiTarget"/>
          <p:cNvSpPr/>
          <p:nvPr/>
        </p:nvSpPr>
        <p:spPr>
          <a:xfrm>
            <a:off x="3425952" y="1216152"/>
            <a:ext cx="438912" cy="438912"/>
          </a:xfrm>
          <a:prstGeom prst="ellipse">
            <a:avLst/>
          </a:prstGeom>
          <a:solidFill>
            <a:schemeClr val="accent1"/>
          </a:solidFill>
          <a:ln/>
        </p:spPr>
      </p:sp>
      <p:pic>
        <p:nvPicPr>
          <p:cNvPr id="19" name="Image 1" descr="FiTarget">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Concetti principali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Temi, tesi, decisioni, richieste</a:t>
            </a:r>
            <a:endParaRPr lang="en-US" sz="1200" dirty="0"/>
          </a:p>
        </p:txBody>
      </p:sp>
      <p:sp>
        <p:nvSpPr>
          <p:cNvPr id="22" name="Passaggi rilevanti"/>
          <p:cNvSpPr/>
          <p:nvPr/>
        </p:nvSpPr>
        <p:spPr>
          <a:xfrm>
            <a:off x="6065520" y="1051560"/>
            <a:ext cx="2621280" cy="1280160"/>
          </a:xfrm>
          <a:prstGeom prst="roundRect">
            <a:avLst>
              <a:gd name="adj" fmla="val 5714"/>
            </a:avLst>
          </a:prstGeom>
          <a:solidFill>
            <a:schemeClr val="bg2"/>
          </a:solidFill>
          <a:ln/>
        </p:spPr>
      </p:sp>
      <p:sp>
        <p:nvSpPr>
          <p:cNvPr id="23" name="cerchio FiSearch"/>
          <p:cNvSpPr/>
          <p:nvPr/>
        </p:nvSpPr>
        <p:spPr>
          <a:xfrm>
            <a:off x="6230112" y="1216152"/>
            <a:ext cx="438912" cy="438912"/>
          </a:xfrm>
          <a:prstGeom prst="ellipse">
            <a:avLst/>
          </a:prstGeom>
          <a:solidFill>
            <a:schemeClr val="accent1"/>
          </a:solidFill>
          <a:ln/>
        </p:spPr>
      </p:sp>
      <p:pic>
        <p:nvPicPr>
          <p:cNvPr id="24" name="Image 2" descr="FiSearch">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Passaggi rilevanti</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Dove e che cosa dice su penali, scadenze, responsabilità</a:t>
            </a:r>
            <a:endParaRPr lang="en-US" sz="1200" dirty="0"/>
          </a:p>
        </p:txBody>
      </p:sp>
      <p:sp>
        <p:nvSpPr>
          <p:cNvPr id="27" name="Sintesi esecutive"/>
          <p:cNvSpPr/>
          <p:nvPr/>
        </p:nvSpPr>
        <p:spPr>
          <a:xfrm>
            <a:off x="457200" y="2514600"/>
            <a:ext cx="2621280" cy="1280160"/>
          </a:xfrm>
          <a:prstGeom prst="roundRect">
            <a:avLst>
              <a:gd name="adj" fmla="val 5714"/>
            </a:avLst>
          </a:prstGeom>
          <a:solidFill>
            <a:schemeClr val="bg2"/>
          </a:solidFill>
          <a:ln/>
        </p:spPr>
      </p:sp>
      <p:sp>
        <p:nvSpPr>
          <p:cNvPr id="28" name="cerchio FiBriefcase"/>
          <p:cNvSpPr/>
          <p:nvPr/>
        </p:nvSpPr>
        <p:spPr>
          <a:xfrm>
            <a:off x="621792" y="2679192"/>
            <a:ext cx="438912" cy="438912"/>
          </a:xfrm>
          <a:prstGeom prst="ellipse">
            <a:avLst/>
          </a:prstGeom>
          <a:solidFill>
            <a:schemeClr val="accent1"/>
          </a:solidFill>
          <a:ln/>
        </p:spPr>
      </p:sp>
      <p:pic>
        <p:nvPicPr>
          <p:cNvPr id="29" name="Image 3" descr="FiBriefcase">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Sintesi esecutive</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Una pagina per chi deve decidere</a:t>
            </a:r>
            <a:endParaRPr lang="en-US" sz="1200" dirty="0"/>
          </a:p>
        </p:txBody>
      </p:sp>
      <p:sp>
        <p:nvSpPr>
          <p:cNvPr id="32" name="Documentazione tecnica"/>
          <p:cNvSpPr/>
          <p:nvPr/>
        </p:nvSpPr>
        <p:spPr>
          <a:xfrm>
            <a:off x="3261360" y="2514600"/>
            <a:ext cx="2621280" cy="1280160"/>
          </a:xfrm>
          <a:prstGeom prst="roundRect">
            <a:avLst>
              <a:gd name="adj" fmla="val 5714"/>
            </a:avLst>
          </a:prstGeom>
          <a:solidFill>
            <a:schemeClr val="bg2"/>
          </a:solidFill>
          <a:ln/>
        </p:spPr>
      </p:sp>
      <p:sp>
        <p:nvSpPr>
          <p:cNvPr id="33" name="cerchio FiTool"/>
          <p:cNvSpPr/>
          <p:nvPr/>
        </p:nvSpPr>
        <p:spPr>
          <a:xfrm>
            <a:off x="3425952" y="2679192"/>
            <a:ext cx="438912" cy="438912"/>
          </a:xfrm>
          <a:prstGeom prst="ellipse">
            <a:avLst/>
          </a:prstGeom>
          <a:solidFill>
            <a:schemeClr val="accent1"/>
          </a:solidFill>
          <a:ln/>
        </p:spPr>
      </p:sp>
      <p:pic>
        <p:nvPicPr>
          <p:cNvPr id="34" name="Image 4" descr="FiTool">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Documentazione tecnica</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Procedure, capitolati, specifiche</a:t>
            </a:r>
            <a:endParaRPr lang="en-US" sz="1200" dirty="0"/>
          </a:p>
        </p:txBody>
      </p:sp>
      <p:sp>
        <p:nvSpPr>
          <p:cNvPr id="37" name="Formati diversi"/>
          <p:cNvSpPr/>
          <p:nvPr/>
        </p:nvSpPr>
        <p:spPr>
          <a:xfrm>
            <a:off x="6065520" y="2514600"/>
            <a:ext cx="2621280" cy="1280160"/>
          </a:xfrm>
          <a:prstGeom prst="roundRect">
            <a:avLst>
              <a:gd name="adj" fmla="val 5714"/>
            </a:avLst>
          </a:prstGeom>
          <a:solidFill>
            <a:schemeClr val="bg2"/>
          </a:solidFill>
          <a:ln/>
        </p:spPr>
      </p:sp>
      <p:sp>
        <p:nvSpPr>
          <p:cNvPr id="38" name="cerchio FiFile"/>
          <p:cNvSpPr/>
          <p:nvPr/>
        </p:nvSpPr>
        <p:spPr>
          <a:xfrm>
            <a:off x="6230112" y="2679192"/>
            <a:ext cx="438912" cy="438912"/>
          </a:xfrm>
          <a:prstGeom prst="ellipse">
            <a:avLst/>
          </a:prstGeom>
          <a:solidFill>
            <a:schemeClr val="accent1"/>
          </a:solidFill>
          <a:ln/>
        </p:spPr>
      </p:sp>
      <p:pic>
        <p:nvPicPr>
          <p:cNvPr id="39" name="Image 5" descr="FiFile">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Formati diversi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PDF, Word, testo; spesso più documenti insieme</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Un primo orientamento su cento pagine in pochi minuti. Ma un orientamento non è una lettura completa.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Sintesi diverse per scopi diversi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2560320"/>
                <a:gridCol w="3657600"/>
              </a:tblGrid>
              <a:tr h="438912">
                <a:tc>
                  <a:txBody>
                    <a:bodyPr/>
                    <a:lstStyle/>
                    <a:p>
                      <a:pPr indent="0" marL="0">
                        <a:buNone/>
                      </a:pPr>
                      <a:r>
                        <a:rPr lang="en-US" sz="1300" b="1" dirty="0">
                          <a:solidFill>
                            <a:schemeClr val="bg1"/>
                          </a:solidFill>
                        </a:rPr>
                        <a:t>Tipo di sintesi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 chi serve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Che cosa evidenzia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tx1"/>
                          </a:solidFill>
                        </a:rPr>
                        <a:t>Informativa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orientarsi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 che cosa parla, contenuti principali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Esecutiva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decidere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Condizioni, rischi, punti da negoziare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Operativa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applicare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Scadenze, adempimenti, responsabilità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Mirata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ha una domanda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Solo ciò che risponde alla domanda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474720"/>
            <a:ext cx="8229600" cy="777240"/>
          </a:xfrm>
          <a:prstGeom prst="roundRect">
            <a:avLst>
              <a:gd name="adj" fmla="val 9412"/>
            </a:avLst>
          </a:prstGeom>
          <a:solidFill>
            <a:schemeClr val="tx1"/>
          </a:solidFill>
          <a:ln/>
        </p:spPr>
      </p:sp>
      <p:sp>
        <p:nvSpPr>
          <p:cNvPr id="14" name="Text 10"/>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300" dirty="0">
                <a:solidFill>
                  <a:schemeClr val="bg1"/>
                </a:solidFill>
              </a:rPr>
              <a:t>Dichiarare lo scopo guida la scelta di che cosa tenere. Senza scopo, la sintesi è generica e può trascurare proprio ciò che serviva.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risalire alle fonti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Sintesi con riferimenti (esempio fittizio)"/>
          <p:cNvSpPr/>
          <p:nvPr/>
        </p:nvSpPr>
        <p:spPr>
          <a:xfrm>
            <a:off x="457200" y="1051560"/>
            <a:ext cx="5120640" cy="2651760"/>
          </a:xfrm>
          <a:prstGeom prst="roundRect">
            <a:avLst>
              <a:gd name="adj" fmla="val 2759"/>
            </a:avLst>
          </a:prstGeom>
          <a:solidFill>
            <a:schemeClr val="bg2"/>
          </a:solidFill>
          <a:ln/>
        </p:spPr>
      </p:sp>
      <p:sp>
        <p:nvSpPr>
          <p:cNvPr id="13" name="barra"/>
          <p:cNvSpPr/>
          <p:nvPr/>
        </p:nvSpPr>
        <p:spPr>
          <a:xfrm>
            <a:off x="457200" y="1161288"/>
            <a:ext cx="54864" cy="2432304"/>
          </a:xfrm>
          <a:prstGeom prst="rect">
            <a:avLst/>
          </a:prstGeom>
          <a:solidFill>
            <a:schemeClr val="accent1"/>
          </a:solidFill>
          <a:ln/>
        </p:spPr>
      </p:sp>
      <p:sp>
        <p:nvSpPr>
          <p:cNvPr id="14" name="Text 11"/>
          <p:cNvSpPr txBox="1"/>
          <p:nvPr/>
        </p:nvSpPr>
        <p:spPr>
          <a:xfrm>
            <a:off x="658368" y="1143000"/>
            <a:ext cx="4754880" cy="256032"/>
          </a:xfrm>
          <a:prstGeom prst="rect">
            <a:avLst/>
          </a:prstGeom>
          <a:noFill/>
          <a:ln/>
        </p:spPr>
        <p:txBody>
          <a:bodyPr wrap="square" lIns="0" tIns="0" rIns="0" bIns="0" rtlCol="0" anchor="t"/>
          <a:lstStyle/>
          <a:p>
            <a:pPr indent="0" marL="0">
              <a:buNone/>
            </a:pPr>
            <a:r>
              <a:rPr lang="en-US" sz="1100" b="1" dirty="0">
                <a:solidFill>
                  <a:schemeClr val="accent1"/>
                </a:solidFill>
              </a:rPr>
              <a:t>Sintesi con riferimenti (esempio fittizio)</a:t>
            </a:r>
            <a:endParaRPr lang="en-US" sz="1100" dirty="0"/>
          </a:p>
        </p:txBody>
      </p:sp>
      <p:sp>
        <p:nvSpPr>
          <p:cNvPr id="15" name="Text 12"/>
          <p:cNvSpPr txBox="1"/>
          <p:nvPr/>
        </p:nvSpPr>
        <p:spPr>
          <a:xfrm>
            <a:off x="658368" y="1435608"/>
            <a:ext cx="4754880" cy="2176272"/>
          </a:xfrm>
          <a:prstGeom prst="rect">
            <a:avLst/>
          </a:prstGeom>
          <a:noFill/>
          <a:ln/>
        </p:spPr>
        <p:txBody>
          <a:bodyPr wrap="square" lIns="0" tIns="0" rIns="0" bIns="0" rtlCol="0" anchor="t"/>
          <a:lstStyle/>
          <a:p>
            <a:pPr indent="0" marL="0">
              <a:buNone/>
            </a:pPr>
            <a:endParaRPr lang="en-US" sz="1200" dirty="0"/>
          </a:p>
        </p:txBody>
      </p:sp>
      <p:sp>
        <p:nvSpPr>
          <p:cNvPr id="16" name="Text 13"/>
          <p:cNvSpPr txBox="1"/>
          <p:nvPr/>
        </p:nvSpPr>
        <p:spPr>
          <a:xfrm>
            <a:off x="685800" y="1481328"/>
            <a:ext cx="3429000" cy="438912"/>
          </a:xfrm>
          <a:prstGeom prst="rect">
            <a:avLst/>
          </a:prstGeom>
          <a:noFill/>
          <a:ln/>
        </p:spPr>
        <p:txBody>
          <a:bodyPr wrap="square" lIns="0" tIns="0" rIns="0" bIns="0" rtlCol="0" anchor="ctr"/>
          <a:lstStyle/>
          <a:p>
            <a:pPr indent="0" marL="0">
              <a:buNone/>
            </a:pPr>
            <a:r>
              <a:rPr lang="en-US" sz="1200" dirty="0">
                <a:solidFill>
                  <a:schemeClr val="tx1"/>
                </a:solidFill>
              </a:rPr>
              <a:t>Durata: tre anni, rinnovo tacito annuale</a:t>
            </a:r>
            <a:endParaRPr lang="en-US" sz="1200" dirty="0"/>
          </a:p>
        </p:txBody>
      </p:sp>
      <p:sp>
        <p:nvSpPr>
          <p:cNvPr id="17" name="blocco art. 4.1"/>
          <p:cNvSpPr/>
          <p:nvPr/>
        </p:nvSpPr>
        <p:spPr>
          <a:xfrm>
            <a:off x="4160520" y="1536192"/>
            <a:ext cx="1280160" cy="329184"/>
          </a:xfrm>
          <a:prstGeom prst="roundRect">
            <a:avLst>
              <a:gd name="adj" fmla="val 33333"/>
            </a:avLst>
          </a:prstGeom>
          <a:solidFill>
            <a:schemeClr val="accent1"/>
          </a:solidFill>
          <a:ln/>
        </p:spPr>
      </p:sp>
      <p:sp>
        <p:nvSpPr>
          <p:cNvPr id="18" name="Text 15"/>
          <p:cNvSpPr txBox="1"/>
          <p:nvPr/>
        </p:nvSpPr>
        <p:spPr>
          <a:xfrm>
            <a:off x="4206240" y="1536192"/>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4.1</a:t>
            </a:r>
            <a:endParaRPr lang="en-US" sz="1000" dirty="0"/>
          </a:p>
        </p:txBody>
      </p:sp>
      <p:sp>
        <p:nvSpPr>
          <p:cNvPr id="19" name="Text 16"/>
          <p:cNvSpPr txBox="1"/>
          <p:nvPr/>
        </p:nvSpPr>
        <p:spPr>
          <a:xfrm>
            <a:off x="685800" y="2011680"/>
            <a:ext cx="3429000" cy="438912"/>
          </a:xfrm>
          <a:prstGeom prst="rect">
            <a:avLst/>
          </a:prstGeom>
          <a:noFill/>
          <a:ln/>
        </p:spPr>
        <p:txBody>
          <a:bodyPr wrap="square" lIns="0" tIns="0" rIns="0" bIns="0" rtlCol="0" anchor="ctr"/>
          <a:lstStyle/>
          <a:p>
            <a:pPr indent="0" marL="0">
              <a:buNone/>
            </a:pPr>
            <a:r>
              <a:rPr lang="en-US" sz="1200" dirty="0">
                <a:solidFill>
                  <a:schemeClr val="tx1"/>
                </a:solidFill>
              </a:rPr>
              <a:t>Penale: 2% per settimana di ritardo, massimo 10%</a:t>
            </a:r>
            <a:endParaRPr lang="en-US" sz="1200" dirty="0"/>
          </a:p>
        </p:txBody>
      </p:sp>
      <p:sp>
        <p:nvSpPr>
          <p:cNvPr id="20" name="blocco art. 9.2"/>
          <p:cNvSpPr/>
          <p:nvPr/>
        </p:nvSpPr>
        <p:spPr>
          <a:xfrm>
            <a:off x="4160520" y="2066544"/>
            <a:ext cx="1280160" cy="329184"/>
          </a:xfrm>
          <a:prstGeom prst="roundRect">
            <a:avLst>
              <a:gd name="adj" fmla="val 33333"/>
            </a:avLst>
          </a:prstGeom>
          <a:solidFill>
            <a:schemeClr val="accent1"/>
          </a:solidFill>
          <a:ln/>
        </p:spPr>
      </p:sp>
      <p:sp>
        <p:nvSpPr>
          <p:cNvPr id="21" name="Text 18"/>
          <p:cNvSpPr txBox="1"/>
          <p:nvPr/>
        </p:nvSpPr>
        <p:spPr>
          <a:xfrm>
            <a:off x="4206240" y="2066544"/>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9.2</a:t>
            </a:r>
            <a:endParaRPr lang="en-US" sz="1000" dirty="0"/>
          </a:p>
        </p:txBody>
      </p:sp>
      <p:sp>
        <p:nvSpPr>
          <p:cNvPr id="22" name="Text 19"/>
          <p:cNvSpPr txBox="1"/>
          <p:nvPr/>
        </p:nvSpPr>
        <p:spPr>
          <a:xfrm>
            <a:off x="685800" y="2542032"/>
            <a:ext cx="3429000" cy="438912"/>
          </a:xfrm>
          <a:prstGeom prst="rect">
            <a:avLst/>
          </a:prstGeom>
          <a:noFill/>
          <a:ln/>
        </p:spPr>
        <p:txBody>
          <a:bodyPr wrap="square" lIns="0" tIns="0" rIns="0" bIns="0" rtlCol="0" anchor="ctr"/>
          <a:lstStyle/>
          <a:p>
            <a:pPr indent="0" marL="0">
              <a:buNone/>
            </a:pPr>
            <a:r>
              <a:rPr lang="en-US" sz="1200" dirty="0">
                <a:solidFill>
                  <a:schemeClr val="tx1"/>
                </a:solidFill>
              </a:rPr>
              <a:t>Recesso: preavviso di 90 giorni</a:t>
            </a:r>
            <a:endParaRPr lang="en-US" sz="1200" dirty="0"/>
          </a:p>
        </p:txBody>
      </p:sp>
      <p:sp>
        <p:nvSpPr>
          <p:cNvPr id="23" name="blocco art. 12.1"/>
          <p:cNvSpPr/>
          <p:nvPr/>
        </p:nvSpPr>
        <p:spPr>
          <a:xfrm>
            <a:off x="4160520" y="2596896"/>
            <a:ext cx="1280160" cy="329184"/>
          </a:xfrm>
          <a:prstGeom prst="roundRect">
            <a:avLst>
              <a:gd name="adj" fmla="val 33333"/>
            </a:avLst>
          </a:prstGeom>
          <a:solidFill>
            <a:schemeClr val="accent1"/>
          </a:solidFill>
          <a:ln/>
        </p:spPr>
      </p:sp>
      <p:sp>
        <p:nvSpPr>
          <p:cNvPr id="24" name="Text 21"/>
          <p:cNvSpPr txBox="1"/>
          <p:nvPr/>
        </p:nvSpPr>
        <p:spPr>
          <a:xfrm>
            <a:off x="4206240" y="2596896"/>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12.1</a:t>
            </a:r>
            <a:endParaRPr lang="en-US" sz="1000" dirty="0"/>
          </a:p>
        </p:txBody>
      </p:sp>
      <p:sp>
        <p:nvSpPr>
          <p:cNvPr id="25" name="Text 22"/>
          <p:cNvSpPr txBox="1"/>
          <p:nvPr/>
        </p:nvSpPr>
        <p:spPr>
          <a:xfrm>
            <a:off x="685800" y="3072384"/>
            <a:ext cx="3429000" cy="438912"/>
          </a:xfrm>
          <a:prstGeom prst="rect">
            <a:avLst/>
          </a:prstGeom>
          <a:noFill/>
          <a:ln/>
        </p:spPr>
        <p:txBody>
          <a:bodyPr wrap="square" lIns="0" tIns="0" rIns="0" bIns="0" rtlCol="0" anchor="ctr"/>
          <a:lstStyle/>
          <a:p>
            <a:pPr indent="0" marL="0">
              <a:buNone/>
            </a:pPr>
            <a:r>
              <a:rPr lang="en-US" sz="1200" dirty="0">
                <a:solidFill>
                  <a:schemeClr val="tx1"/>
                </a:solidFill>
              </a:rPr>
              <a:t>Esclusiva territoriale per il Nord Italia</a:t>
            </a:r>
            <a:endParaRPr lang="en-US" sz="1200" dirty="0"/>
          </a:p>
        </p:txBody>
      </p:sp>
      <p:sp>
        <p:nvSpPr>
          <p:cNvPr id="26" name="blocco nessun riferimento"/>
          <p:cNvSpPr/>
          <p:nvPr/>
        </p:nvSpPr>
        <p:spPr>
          <a:xfrm>
            <a:off x="4160520" y="3127248"/>
            <a:ext cx="1280160" cy="329184"/>
          </a:xfrm>
          <a:prstGeom prst="roundRect">
            <a:avLst>
              <a:gd name="adj" fmla="val 33333"/>
            </a:avLst>
          </a:prstGeom>
          <a:solidFill>
            <a:schemeClr val="accent5"/>
          </a:solidFill>
          <a:ln/>
        </p:spPr>
      </p:sp>
      <p:sp>
        <p:nvSpPr>
          <p:cNvPr id="27" name="Text 24"/>
          <p:cNvSpPr txBox="1"/>
          <p:nvPr/>
        </p:nvSpPr>
        <p:spPr>
          <a:xfrm>
            <a:off x="4206240" y="3127248"/>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nessun riferimento</a:t>
            </a:r>
            <a:endParaRPr lang="en-US" sz="1000" dirty="0"/>
          </a:p>
        </p:txBody>
      </p:sp>
      <p:sp>
        <p:nvSpPr>
          <p:cNvPr id="28" name="scheda Perché conta"/>
          <p:cNvSpPr/>
          <p:nvPr/>
        </p:nvSpPr>
        <p:spPr>
          <a:xfrm>
            <a:off x="5806440" y="1051560"/>
            <a:ext cx="2880360" cy="2651760"/>
          </a:xfrm>
          <a:prstGeom prst="roundRect">
            <a:avLst>
              <a:gd name="adj" fmla="val 2759"/>
            </a:avLst>
          </a:prstGeom>
          <a:solidFill>
            <a:schemeClr val="accent6"/>
          </a:solidFill>
          <a:ln/>
        </p:spPr>
      </p:sp>
      <p:sp>
        <p:nvSpPr>
          <p:cNvPr id="29" name="cerchio FiLink"/>
          <p:cNvSpPr/>
          <p:nvPr/>
        </p:nvSpPr>
        <p:spPr>
          <a:xfrm>
            <a:off x="5989320" y="1234440"/>
            <a:ext cx="457200" cy="457200"/>
          </a:xfrm>
          <a:prstGeom prst="ellipse">
            <a:avLst/>
          </a:prstGeom>
          <a:solidFill>
            <a:schemeClr val="accent1"/>
          </a:solidFill>
          <a:ln/>
        </p:spPr>
      </p:sp>
      <p:pic>
        <p:nvPicPr>
          <p:cNvPr id="30" name="Image 0" descr="FiLink">    </p:cNvPr>
          <p:cNvPicPr>
            <a:picLocks noChangeAspect="1"/>
          </p:cNvPicPr>
          <p:nvPr/>
        </p:nvPicPr>
        <p:blipFill>
          <a:blip r:embed="rId1"/>
          <a:stretch>
            <a:fillRect/>
          </a:stretch>
        </p:blipFill>
        <p:spPr>
          <a:xfrm>
            <a:off x="6103620" y="1348740"/>
            <a:ext cx="228600" cy="228600"/>
          </a:xfrm>
          <a:prstGeom prst="rect">
            <a:avLst/>
          </a:prstGeom>
        </p:spPr>
      </p:pic>
      <p:sp>
        <p:nvSpPr>
          <p:cNvPr id="31" name="Text 27"/>
          <p:cNvSpPr txBox="1"/>
          <p:nvPr/>
        </p:nvSpPr>
        <p:spPr>
          <a:xfrm>
            <a:off x="5989320" y="1801368"/>
            <a:ext cx="2514600" cy="347472"/>
          </a:xfrm>
          <a:prstGeom prst="rect">
            <a:avLst/>
          </a:prstGeom>
          <a:noFill/>
          <a:ln/>
        </p:spPr>
        <p:txBody>
          <a:bodyPr wrap="square" lIns="0" tIns="0" rIns="0" bIns="0" rtlCol="0" anchor="t"/>
          <a:lstStyle/>
          <a:p>
            <a:pPr indent="0" marL="0">
              <a:buNone/>
            </a:pPr>
            <a:r>
              <a:rPr lang="en-US" sz="1500" b="1" dirty="0">
                <a:solidFill>
                  <a:schemeClr val="tx1"/>
                </a:solidFill>
              </a:rPr>
              <a:t>Perché conta</a:t>
            </a:r>
            <a:endParaRPr lang="en-US" sz="1500" dirty="0"/>
          </a:p>
        </p:txBody>
      </p:sp>
      <p:sp>
        <p:nvSpPr>
          <p:cNvPr id="32" name="Text 28"/>
          <p:cNvSpPr txBox="1"/>
          <p:nvPr/>
        </p:nvSpPr>
        <p:spPr>
          <a:xfrm>
            <a:off x="5989320" y="2185416"/>
            <a:ext cx="2514600" cy="14081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Verifica in pochi secondi</a:t>
            </a:r>
            <a:endParaRPr lang="en-US" sz="1200" dirty="0"/>
          </a:p>
          <a:p>
            <a:pPr marL="177800" indent="-177800">
              <a:spcAft>
                <a:spcPts val="500"/>
              </a:spcAft>
              <a:buSzPct val="100000"/>
              <a:buChar char="•"/>
            </a:pPr>
            <a:r>
              <a:rPr lang="en-US" sz="1200" dirty="0">
                <a:solidFill>
                  <a:schemeClr val="tx2"/>
                </a:solidFill>
              </a:rPr>
              <a:t>Si vede subito ciò che non ha riferimento</a:t>
            </a:r>
            <a:endParaRPr lang="en-US" sz="1200" dirty="0"/>
          </a:p>
          <a:p>
            <a:pPr marL="177800" indent="-177800">
              <a:spcAft>
                <a:spcPts val="500"/>
              </a:spcAft>
              <a:buSzPct val="100000"/>
              <a:buChar char="•"/>
            </a:pPr>
            <a:r>
              <a:rPr lang="en-US" sz="1200" dirty="0">
                <a:solidFill>
                  <a:schemeClr val="tx2"/>
                </a:solidFill>
              </a:rPr>
              <a:t>Per i punti critici: anche la citazione testuale</a:t>
            </a:r>
            <a:endParaRPr lang="en-US" sz="1200" dirty="0"/>
          </a:p>
        </p:txBody>
      </p:sp>
      <p:sp>
        <p:nvSpPr>
          <p:cNvPr id="33" name="messaggio"/>
          <p:cNvSpPr/>
          <p:nvPr/>
        </p:nvSpPr>
        <p:spPr>
          <a:xfrm>
            <a:off x="457200" y="3886200"/>
            <a:ext cx="8229600" cy="640080"/>
          </a:xfrm>
          <a:prstGeom prst="roundRect">
            <a:avLst>
              <a:gd name="adj" fmla="val 11429"/>
            </a:avLst>
          </a:prstGeom>
          <a:solidFill>
            <a:schemeClr val="tx1"/>
          </a:solidFill>
          <a:ln/>
        </p:spPr>
      </p:sp>
      <p:sp>
        <p:nvSpPr>
          <p:cNvPr id="34" name="Text 30"/>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Un punto senza riferimento va trattato con più cautela: può essere un'interpretazione o non essere nel documento.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Riferimenti davvero controllabili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Esiste"/>
          <p:cNvSpPr/>
          <p:nvPr/>
        </p:nvSpPr>
        <p:spPr>
          <a:xfrm>
            <a:off x="457200" y="1097280"/>
            <a:ext cx="2615184" cy="1737360"/>
          </a:xfrm>
          <a:prstGeom prst="roundRect">
            <a:avLst>
              <a:gd name="adj" fmla="val 4211"/>
            </a:avLst>
          </a:prstGeom>
          <a:solidFill>
            <a:schemeClr val="bg2"/>
          </a:solidFill>
          <a:ln/>
        </p:spPr>
      </p:sp>
      <p:sp>
        <p:nvSpPr>
          <p:cNvPr id="13" name="cerchio FiMapPin"/>
          <p:cNvSpPr/>
          <p:nvPr/>
        </p:nvSpPr>
        <p:spPr>
          <a:xfrm>
            <a:off x="1444752" y="1207008"/>
            <a:ext cx="640080" cy="640080"/>
          </a:xfrm>
          <a:prstGeom prst="ellipse">
            <a:avLst/>
          </a:prstGeom>
          <a:solidFill>
            <a:schemeClr val="accent1"/>
          </a:solidFill>
          <a:ln/>
        </p:spPr>
      </p:sp>
      <p:pic>
        <p:nvPicPr>
          <p:cNvPr id="14" name="Image 0" descr="FiMapPin">    </p:cNvPr>
          <p:cNvPicPr>
            <a:picLocks noChangeAspect="1"/>
          </p:cNvPicPr>
          <p:nvPr/>
        </p:nvPicPr>
        <p:blipFill>
          <a:blip r:embed="rId1"/>
          <a:stretch>
            <a:fillRect/>
          </a:stretch>
        </p:blipFill>
        <p:spPr>
          <a:xfrm>
            <a:off x="1604772" y="1367028"/>
            <a:ext cx="320040" cy="320040"/>
          </a:xfrm>
          <a:prstGeom prst="rect">
            <a:avLst/>
          </a:prstGeom>
        </p:spPr>
      </p:pic>
      <p:sp>
        <p:nvSpPr>
          <p:cNvPr id="15" name="Text 11"/>
          <p:cNvSpPr txBox="1"/>
          <p:nvPr/>
        </p:nvSpPr>
        <p:spPr>
          <a:xfrm>
            <a:off x="594360" y="1901952"/>
            <a:ext cx="2340864" cy="347472"/>
          </a:xfrm>
          <a:prstGeom prst="rect">
            <a:avLst/>
          </a:prstGeom>
          <a:noFill/>
          <a:ln/>
        </p:spPr>
        <p:txBody>
          <a:bodyPr wrap="square" lIns="0" tIns="0" rIns="0" bIns="0" rtlCol="0" anchor="t"/>
          <a:lstStyle/>
          <a:p>
            <a:pPr algn="ctr" indent="0" marL="0">
              <a:buNone/>
            </a:pPr>
            <a:r>
              <a:rPr lang="en-US" sz="1600" b="1" dirty="0">
                <a:solidFill>
                  <a:schemeClr val="tx1"/>
                </a:solidFill>
              </a:rPr>
              <a:t>1. Esiste</a:t>
            </a:r>
            <a:endParaRPr lang="en-US" sz="1600" dirty="0"/>
          </a:p>
        </p:txBody>
      </p:sp>
      <p:sp>
        <p:nvSpPr>
          <p:cNvPr id="16" name="Text 12"/>
          <p:cNvSpPr txBox="1"/>
          <p:nvPr/>
        </p:nvSpPr>
        <p:spPr>
          <a:xfrm>
            <a:off x="640080" y="2249424"/>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Il passaggio è nel punto indicato?</a:t>
            </a:r>
            <a:endParaRPr lang="en-US" sz="1200" dirty="0"/>
          </a:p>
        </p:txBody>
      </p:sp>
      <p:sp>
        <p:nvSpPr>
          <p:cNvPr id="17" name="freccia"/>
          <p:cNvSpPr/>
          <p:nvPr/>
        </p:nvSpPr>
        <p:spPr>
          <a:xfrm>
            <a:off x="3090672" y="1828800"/>
            <a:ext cx="155448" cy="292608"/>
          </a:xfrm>
          <a:prstGeom prst="rightArrow">
            <a:avLst/>
          </a:prstGeom>
          <a:solidFill>
            <a:schemeClr val="accent2"/>
          </a:solidFill>
          <a:ln/>
        </p:spPr>
      </p:sp>
      <p:sp>
        <p:nvSpPr>
          <p:cNvPr id="18" name="Sostiene"/>
          <p:cNvSpPr/>
          <p:nvPr/>
        </p:nvSpPr>
        <p:spPr>
          <a:xfrm>
            <a:off x="3264408" y="1097280"/>
            <a:ext cx="2615184" cy="1737360"/>
          </a:xfrm>
          <a:prstGeom prst="roundRect">
            <a:avLst>
              <a:gd name="adj" fmla="val 4211"/>
            </a:avLst>
          </a:prstGeom>
          <a:solidFill>
            <a:schemeClr val="bg2"/>
          </a:solidFill>
          <a:ln/>
        </p:spPr>
      </p:sp>
      <p:sp>
        <p:nvSpPr>
          <p:cNvPr id="19" name="cerchio FiCheckCircle"/>
          <p:cNvSpPr/>
          <p:nvPr/>
        </p:nvSpPr>
        <p:spPr>
          <a:xfrm>
            <a:off x="4251960" y="1207008"/>
            <a:ext cx="640080" cy="640080"/>
          </a:xfrm>
          <a:prstGeom prst="ellipse">
            <a:avLst/>
          </a:prstGeom>
          <a:solidFill>
            <a:schemeClr val="accent1"/>
          </a:solidFill>
          <a:ln/>
        </p:spPr>
      </p:sp>
      <p:pic>
        <p:nvPicPr>
          <p:cNvPr id="20" name="Image 1" descr="FiCheckCircle">    </p:cNvPr>
          <p:cNvPicPr>
            <a:picLocks noChangeAspect="1"/>
          </p:cNvPicPr>
          <p:nvPr/>
        </p:nvPicPr>
        <p:blipFill>
          <a:blip r:embed="rId2"/>
          <a:stretch>
            <a:fillRect/>
          </a:stretch>
        </p:blipFill>
        <p:spPr>
          <a:xfrm>
            <a:off x="4411980" y="1367028"/>
            <a:ext cx="320040" cy="320040"/>
          </a:xfrm>
          <a:prstGeom prst="rect">
            <a:avLst/>
          </a:prstGeom>
        </p:spPr>
      </p:pic>
      <p:sp>
        <p:nvSpPr>
          <p:cNvPr id="21" name="Text 16"/>
          <p:cNvSpPr txBox="1"/>
          <p:nvPr/>
        </p:nvSpPr>
        <p:spPr>
          <a:xfrm>
            <a:off x="3401568" y="1901952"/>
            <a:ext cx="2340864" cy="347472"/>
          </a:xfrm>
          <a:prstGeom prst="rect">
            <a:avLst/>
          </a:prstGeom>
          <a:noFill/>
          <a:ln/>
        </p:spPr>
        <p:txBody>
          <a:bodyPr wrap="square" lIns="0" tIns="0" rIns="0" bIns="0" rtlCol="0" anchor="t"/>
          <a:lstStyle/>
          <a:p>
            <a:pPr algn="ctr" indent="0" marL="0">
              <a:buNone/>
            </a:pPr>
            <a:r>
              <a:rPr lang="en-US" sz="1600" b="1" dirty="0">
                <a:solidFill>
                  <a:schemeClr val="tx1"/>
                </a:solidFill>
              </a:rPr>
              <a:t>2. Sostiene</a:t>
            </a:r>
            <a:endParaRPr lang="en-US" sz="1600" dirty="0"/>
          </a:p>
        </p:txBody>
      </p:sp>
      <p:sp>
        <p:nvSpPr>
          <p:cNvPr id="22" name="Text 17"/>
          <p:cNvSpPr txBox="1"/>
          <p:nvPr/>
        </p:nvSpPr>
        <p:spPr>
          <a:xfrm>
            <a:off x="3447288" y="2249424"/>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Dice ciò che la sintesi afferma, con le stesse condizioni?</a:t>
            </a:r>
            <a:endParaRPr lang="en-US" sz="1200" dirty="0"/>
          </a:p>
        </p:txBody>
      </p:sp>
      <p:sp>
        <p:nvSpPr>
          <p:cNvPr id="23" name="freccia"/>
          <p:cNvSpPr/>
          <p:nvPr/>
        </p:nvSpPr>
        <p:spPr>
          <a:xfrm>
            <a:off x="5897880" y="1828800"/>
            <a:ext cx="155448" cy="292608"/>
          </a:xfrm>
          <a:prstGeom prst="rightArrow">
            <a:avLst/>
          </a:prstGeom>
          <a:solidFill>
            <a:schemeClr val="accent2"/>
          </a:solidFill>
          <a:ln/>
        </p:spPr>
      </p:sp>
      <p:sp>
        <p:nvSpPr>
          <p:cNvPr id="24" name="Corrisponde"/>
          <p:cNvSpPr/>
          <p:nvPr/>
        </p:nvSpPr>
        <p:spPr>
          <a:xfrm>
            <a:off x="6071616" y="1097280"/>
            <a:ext cx="2615184" cy="1737360"/>
          </a:xfrm>
          <a:prstGeom prst="roundRect">
            <a:avLst>
              <a:gd name="adj" fmla="val 4211"/>
            </a:avLst>
          </a:prstGeom>
          <a:solidFill>
            <a:schemeClr val="bg2"/>
          </a:solidFill>
          <a:ln/>
        </p:spPr>
      </p:sp>
      <p:sp>
        <p:nvSpPr>
          <p:cNvPr id="25" name="cerchio FiType"/>
          <p:cNvSpPr/>
          <p:nvPr/>
        </p:nvSpPr>
        <p:spPr>
          <a:xfrm>
            <a:off x="7059168" y="1207008"/>
            <a:ext cx="640080" cy="640080"/>
          </a:xfrm>
          <a:prstGeom prst="ellipse">
            <a:avLst/>
          </a:prstGeom>
          <a:solidFill>
            <a:schemeClr val="accent1"/>
          </a:solidFill>
          <a:ln/>
        </p:spPr>
      </p:sp>
      <p:pic>
        <p:nvPicPr>
          <p:cNvPr id="26" name="Image 2" descr="FiType">    </p:cNvPr>
          <p:cNvPicPr>
            <a:picLocks noChangeAspect="1"/>
          </p:cNvPicPr>
          <p:nvPr/>
        </p:nvPicPr>
        <p:blipFill>
          <a:blip r:embed="rId3"/>
          <a:stretch>
            <a:fillRect/>
          </a:stretch>
        </p:blipFill>
        <p:spPr>
          <a:xfrm>
            <a:off x="7219188" y="1367028"/>
            <a:ext cx="320040" cy="320040"/>
          </a:xfrm>
          <a:prstGeom prst="rect">
            <a:avLst/>
          </a:prstGeom>
        </p:spPr>
      </p:pic>
      <p:sp>
        <p:nvSpPr>
          <p:cNvPr id="27" name="Text 21"/>
          <p:cNvSpPr txBox="1"/>
          <p:nvPr/>
        </p:nvSpPr>
        <p:spPr>
          <a:xfrm>
            <a:off x="6208776" y="1901952"/>
            <a:ext cx="2340864" cy="347472"/>
          </a:xfrm>
          <a:prstGeom prst="rect">
            <a:avLst/>
          </a:prstGeom>
          <a:noFill/>
          <a:ln/>
        </p:spPr>
        <p:txBody>
          <a:bodyPr wrap="square" lIns="0" tIns="0" rIns="0" bIns="0" rtlCol="0" anchor="t"/>
          <a:lstStyle/>
          <a:p>
            <a:pPr algn="ctr" indent="0" marL="0">
              <a:buNone/>
            </a:pPr>
            <a:r>
              <a:rPr lang="en-US" sz="1600" b="1" dirty="0">
                <a:solidFill>
                  <a:schemeClr val="tx1"/>
                </a:solidFill>
              </a:rPr>
              <a:t>3. Corrisponde</a:t>
            </a:r>
            <a:endParaRPr lang="en-US" sz="1600" dirty="0"/>
          </a:p>
        </p:txBody>
      </p:sp>
      <p:sp>
        <p:nvSpPr>
          <p:cNvPr id="28" name="Text 22"/>
          <p:cNvSpPr txBox="1"/>
          <p:nvPr/>
        </p:nvSpPr>
        <p:spPr>
          <a:xfrm>
            <a:off x="6254496" y="2249424"/>
            <a:ext cx="2249424" cy="548640"/>
          </a:xfrm>
          <a:prstGeom prst="rect">
            <a:avLst/>
          </a:prstGeom>
          <a:noFill/>
          <a:ln/>
        </p:spPr>
        <p:txBody>
          <a:bodyPr wrap="square" lIns="0" tIns="0" rIns="0" bIns="0" rtlCol="0" anchor="t"/>
          <a:lstStyle/>
          <a:p>
            <a:pPr algn="ctr" indent="0" marL="0">
              <a:buNone/>
            </a:pPr>
            <a:r>
              <a:rPr lang="en-US" sz="1200" dirty="0">
                <a:solidFill>
                  <a:schemeClr val="tx2"/>
                </a:solidFill>
              </a:rPr>
              <a:t>La citazione testuale è davvero parola per parola?</a:t>
            </a:r>
            <a:endParaRPr lang="en-US" sz="1200" dirty="0"/>
          </a:p>
        </p:txBody>
      </p:sp>
      <p:sp>
        <p:nvSpPr>
          <p:cNvPr id="29" name="scheda Che cosa può andare storto"/>
          <p:cNvSpPr/>
          <p:nvPr/>
        </p:nvSpPr>
        <p:spPr>
          <a:xfrm>
            <a:off x="457200" y="3017520"/>
            <a:ext cx="8229600" cy="1508760"/>
          </a:xfrm>
          <a:prstGeom prst="roundRect">
            <a:avLst>
              <a:gd name="adj" fmla="val 4848"/>
            </a:avLst>
          </a:prstGeom>
          <a:solidFill>
            <a:schemeClr val="bg2"/>
          </a:solidFill>
          <a:ln/>
        </p:spPr>
      </p:sp>
      <p:sp>
        <p:nvSpPr>
          <p:cNvPr id="30" name="cerchio FiAlertTriangle"/>
          <p:cNvSpPr/>
          <p:nvPr/>
        </p:nvSpPr>
        <p:spPr>
          <a:xfrm>
            <a:off x="640080" y="3200400"/>
            <a:ext cx="457200" cy="457200"/>
          </a:xfrm>
          <a:prstGeom prst="ellipse">
            <a:avLst/>
          </a:prstGeom>
          <a:solidFill>
            <a:schemeClr val="accent5"/>
          </a:solidFill>
          <a:ln/>
        </p:spPr>
      </p:sp>
      <p:pic>
        <p:nvPicPr>
          <p:cNvPr id="31" name="Image 3" descr="FiAlertTriangle">    </p:cNvPr>
          <p:cNvPicPr>
            <a:picLocks noChangeAspect="1"/>
          </p:cNvPicPr>
          <p:nvPr/>
        </p:nvPicPr>
        <p:blipFill>
          <a:blip r:embed="rId4"/>
          <a:stretch>
            <a:fillRect/>
          </a:stretch>
        </p:blipFill>
        <p:spPr>
          <a:xfrm>
            <a:off x="754380" y="3314700"/>
            <a:ext cx="228600" cy="228600"/>
          </a:xfrm>
          <a:prstGeom prst="rect">
            <a:avLst/>
          </a:prstGeom>
        </p:spPr>
      </p:pic>
      <p:sp>
        <p:nvSpPr>
          <p:cNvPr id="32" name="Text 25"/>
          <p:cNvSpPr txBox="1"/>
          <p:nvPr/>
        </p:nvSpPr>
        <p:spPr>
          <a:xfrm>
            <a:off x="1234440" y="3200400"/>
            <a:ext cx="7269480" cy="457200"/>
          </a:xfrm>
          <a:prstGeom prst="rect">
            <a:avLst/>
          </a:prstGeom>
          <a:noFill/>
          <a:ln/>
        </p:spPr>
        <p:txBody>
          <a:bodyPr wrap="square" lIns="0" tIns="0" rIns="0" bIns="0" rtlCol="0" anchor="ctr"/>
          <a:lstStyle/>
          <a:p>
            <a:pPr indent="0" marL="0">
              <a:buNone/>
            </a:pPr>
            <a:r>
              <a:rPr lang="en-US" sz="1400" b="1" dirty="0">
                <a:solidFill>
                  <a:schemeClr val="tx1"/>
                </a:solidFill>
              </a:rPr>
              <a:t>Che cosa può andare storto</a:t>
            </a:r>
            <a:endParaRPr lang="en-US" sz="1400" dirty="0"/>
          </a:p>
        </p:txBody>
      </p:sp>
      <p:sp>
        <p:nvSpPr>
          <p:cNvPr id="33" name="Text 26"/>
          <p:cNvSpPr txBox="1"/>
          <p:nvPr/>
        </p:nvSpPr>
        <p:spPr>
          <a:xfrm>
            <a:off x="640080" y="3794760"/>
            <a:ext cx="7863840" cy="621792"/>
          </a:xfrm>
          <a:prstGeom prst="rect">
            <a:avLst/>
          </a:prstGeom>
          <a:noFill/>
          <a:ln/>
        </p:spPr>
        <p:txBody>
          <a:bodyPr wrap="square" lIns="0" tIns="0" rIns="0" bIns="0" rtlCol="0" anchor="t"/>
          <a:lstStyle/>
          <a:p>
            <a:pPr indent="0" marL="0">
              <a:buNone/>
            </a:pPr>
            <a:r>
              <a:rPr lang="en-US" sz="1200" dirty="0">
                <a:solidFill>
                  <a:schemeClr val="tx2"/>
                </a:solidFill>
              </a:rPr>
              <a:t>Articolo sbagliato, pagina approssimativa, sezione inesistente, parafrasi presentata come citazione. Lo stesso fenomeno delle fonti inventate, dentro un singolo documento.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rischio di perdita di significato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Verbale originale (esempio fittizio)"/>
          <p:cNvSpPr/>
          <p:nvPr/>
        </p:nvSpPr>
        <p:spPr>
          <a:xfrm>
            <a:off x="457200" y="1051560"/>
            <a:ext cx="3977640" cy="2377440"/>
          </a:xfrm>
          <a:prstGeom prst="roundRect">
            <a:avLst>
              <a:gd name="adj" fmla="val 3077"/>
            </a:avLst>
          </a:prstGeom>
          <a:solidFill>
            <a:schemeClr val="bg2"/>
          </a:solidFill>
          <a:ln/>
        </p:spPr>
      </p:sp>
      <p:sp>
        <p:nvSpPr>
          <p:cNvPr id="13" name="barra"/>
          <p:cNvSpPr/>
          <p:nvPr/>
        </p:nvSpPr>
        <p:spPr>
          <a:xfrm>
            <a:off x="457200" y="1161288"/>
            <a:ext cx="54864" cy="215798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Verbale originale (esempio fittizio)</a:t>
            </a:r>
            <a:endParaRPr lang="en-US" sz="1100" dirty="0"/>
          </a:p>
        </p:txBody>
      </p:sp>
      <p:sp>
        <p:nvSpPr>
          <p:cNvPr id="15" name="Text 12"/>
          <p:cNvSpPr txBox="1"/>
          <p:nvPr/>
        </p:nvSpPr>
        <p:spPr>
          <a:xfrm>
            <a:off x="658368" y="1435608"/>
            <a:ext cx="3611880" cy="1901952"/>
          </a:xfrm>
          <a:prstGeom prst="rect">
            <a:avLst/>
          </a:prstGeom>
          <a:noFill/>
          <a:ln/>
        </p:spPr>
        <p:txBody>
          <a:bodyPr wrap="square" lIns="0" tIns="0" rIns="0" bIns="0" rtlCol="0" anchor="t"/>
          <a:lstStyle/>
          <a:p>
            <a:pPr indent="0" marL="0">
              <a:buNone/>
            </a:pPr>
            <a:r>
              <a:rPr lang="en-US" sz="1200" dirty="0">
                <a:solidFill>
                  <a:schemeClr val="tx1"/>
                </a:solidFill>
              </a:rPr>
              <a:t>Il comitato approva in via preliminare l'avvio del progetto, subordinatamente all'approvazione del budget nella riunione di aprile. I tempi di consegna indicati dal fornitore sono da confermare.</a:t>
            </a:r>
            <a:endParaRPr lang="en-US" sz="1200" dirty="0"/>
          </a:p>
        </p:txBody>
      </p:sp>
      <p:sp>
        <p:nvSpPr>
          <p:cNvPr id="16" name="documento Sintesi"/>
          <p:cNvSpPr/>
          <p:nvPr/>
        </p:nvSpPr>
        <p:spPr>
          <a:xfrm>
            <a:off x="4709160" y="1051560"/>
            <a:ext cx="3977640" cy="2377440"/>
          </a:xfrm>
          <a:prstGeom prst="roundRect">
            <a:avLst>
              <a:gd name="adj" fmla="val 3077"/>
            </a:avLst>
          </a:prstGeom>
          <a:solidFill>
            <a:schemeClr val="accent6"/>
          </a:solidFill>
          <a:ln/>
        </p:spPr>
      </p:sp>
      <p:sp>
        <p:nvSpPr>
          <p:cNvPr id="17" name="barra"/>
          <p:cNvSpPr/>
          <p:nvPr/>
        </p:nvSpPr>
        <p:spPr>
          <a:xfrm>
            <a:off x="4709160" y="1161288"/>
            <a:ext cx="54864" cy="2157984"/>
          </a:xfrm>
          <a:prstGeom prst="rect">
            <a:avLst/>
          </a:prstGeom>
          <a:solidFill>
            <a:schemeClr val="accent1"/>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Sintesi</a:t>
            </a:r>
            <a:endParaRPr lang="en-US" sz="1100" dirty="0"/>
          </a:p>
        </p:txBody>
      </p:sp>
      <p:sp>
        <p:nvSpPr>
          <p:cNvPr id="19" name="Text 16"/>
          <p:cNvSpPr txBox="1"/>
          <p:nvPr/>
        </p:nvSpPr>
        <p:spPr>
          <a:xfrm>
            <a:off x="4910328" y="1435608"/>
            <a:ext cx="3611880" cy="1901952"/>
          </a:xfrm>
          <a:prstGeom prst="rect">
            <a:avLst/>
          </a:prstGeom>
          <a:noFill/>
          <a:ln/>
        </p:spPr>
        <p:txBody>
          <a:bodyPr wrap="square" lIns="0" tIns="0" rIns="0" bIns="0" rtlCol="0" anchor="t"/>
          <a:lstStyle/>
          <a:p>
            <a:pPr indent="0" marL="0">
              <a:buNone/>
            </a:pPr>
            <a:r>
              <a:rPr lang="en-US" sz="1300" dirty="0">
                <a:solidFill>
                  <a:schemeClr val="tx1"/>
                </a:solidFill>
              </a:rPr>
              <a:t>Il comitato ha approvato l'avvio del progetto. Sono stati discussi budget e tempi di consegna.</a:t>
            </a:r>
            <a:endParaRPr lang="en-US" sz="1300" dirty="0"/>
          </a:p>
        </p:txBody>
      </p:sp>
      <p:sp>
        <p:nvSpPr>
          <p:cNvPr id="20" name="blocco Condizione persa"/>
          <p:cNvSpPr/>
          <p:nvPr/>
        </p:nvSpPr>
        <p:spPr>
          <a:xfrm>
            <a:off x="4892040" y="2286000"/>
            <a:ext cx="1783080" cy="384048"/>
          </a:xfrm>
          <a:prstGeom prst="roundRect">
            <a:avLst>
              <a:gd name="adj" fmla="val 28571"/>
            </a:avLst>
          </a:prstGeom>
          <a:solidFill>
            <a:schemeClr val="accent5"/>
          </a:solidFill>
          <a:ln/>
        </p:spPr>
      </p:sp>
      <p:sp>
        <p:nvSpPr>
          <p:cNvPr id="21" name="Text 18"/>
          <p:cNvSpPr txBox="1"/>
          <p:nvPr/>
        </p:nvSpPr>
        <p:spPr>
          <a:xfrm>
            <a:off x="4937760" y="2286000"/>
            <a:ext cx="1691640" cy="384048"/>
          </a:xfrm>
          <a:prstGeom prst="rect">
            <a:avLst/>
          </a:prstGeom>
          <a:noFill/>
          <a:ln/>
        </p:spPr>
        <p:txBody>
          <a:bodyPr wrap="square" lIns="0" tIns="0" rIns="0" bIns="0" rtlCol="0" anchor="ctr"/>
          <a:lstStyle/>
          <a:p>
            <a:pPr algn="ctr" indent="0" marL="0">
              <a:buNone/>
            </a:pPr>
            <a:r>
              <a:rPr lang="en-US" sz="1100" b="1" dirty="0">
                <a:solidFill>
                  <a:schemeClr val="bg1"/>
                </a:solidFill>
              </a:rPr>
              <a:t>Condizione persa</a:t>
            </a:r>
            <a:endParaRPr lang="en-US" sz="1100" dirty="0"/>
          </a:p>
        </p:txBody>
      </p:sp>
      <p:sp>
        <p:nvSpPr>
          <p:cNvPr id="22" name="blocco Incertezza persa"/>
          <p:cNvSpPr/>
          <p:nvPr/>
        </p:nvSpPr>
        <p:spPr>
          <a:xfrm>
            <a:off x="6766560" y="2286000"/>
            <a:ext cx="1737360" cy="384048"/>
          </a:xfrm>
          <a:prstGeom prst="roundRect">
            <a:avLst>
              <a:gd name="adj" fmla="val 28571"/>
            </a:avLst>
          </a:prstGeom>
          <a:solidFill>
            <a:schemeClr val="accent5"/>
          </a:solidFill>
          <a:ln/>
        </p:spPr>
      </p:sp>
      <p:sp>
        <p:nvSpPr>
          <p:cNvPr id="23" name="Text 20"/>
          <p:cNvSpPr txBox="1"/>
          <p:nvPr/>
        </p:nvSpPr>
        <p:spPr>
          <a:xfrm>
            <a:off x="6812280" y="2286000"/>
            <a:ext cx="1645920" cy="384048"/>
          </a:xfrm>
          <a:prstGeom prst="rect">
            <a:avLst/>
          </a:prstGeom>
          <a:noFill/>
          <a:ln/>
        </p:spPr>
        <p:txBody>
          <a:bodyPr wrap="square" lIns="0" tIns="0" rIns="0" bIns="0" rtlCol="0" anchor="ctr"/>
          <a:lstStyle/>
          <a:p>
            <a:pPr algn="ctr" indent="0" marL="0">
              <a:buNone/>
            </a:pPr>
            <a:r>
              <a:rPr lang="en-US" sz="1100" b="1" dirty="0">
                <a:solidFill>
                  <a:schemeClr val="bg1"/>
                </a:solidFill>
              </a:rPr>
              <a:t>Incertezza persa</a:t>
            </a:r>
            <a:endParaRPr lang="en-US" sz="1100" dirty="0"/>
          </a:p>
        </p:txBody>
      </p:sp>
      <p:sp>
        <p:nvSpPr>
          <p:cNvPr id="24" name="messaggio"/>
          <p:cNvSpPr/>
          <p:nvPr/>
        </p:nvSpPr>
        <p:spPr>
          <a:xfrm>
            <a:off x="457200" y="3611880"/>
            <a:ext cx="8229600" cy="822960"/>
          </a:xfrm>
          <a:prstGeom prst="roundRect">
            <a:avLst>
              <a:gd name="adj" fmla="val 8889"/>
            </a:avLst>
          </a:prstGeom>
          <a:solidFill>
            <a:schemeClr val="tx1"/>
          </a:solidFill>
          <a:ln/>
        </p:spPr>
      </p:sp>
      <p:sp>
        <p:nvSpPr>
          <p:cNvPr id="25" name="Text 22"/>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Ogni frase è vera, ma chi legge crede che il progetto sia approvato. La perdita non si vede leggendo la sintesi.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Dove si perde il significato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ndizioni"/>
          <p:cNvSpPr/>
          <p:nvPr/>
        </p:nvSpPr>
        <p:spPr>
          <a:xfrm>
            <a:off x="457200" y="1051560"/>
            <a:ext cx="1965960" cy="896112"/>
          </a:xfrm>
          <a:prstGeom prst="roundRect">
            <a:avLst>
              <a:gd name="adj" fmla="val 8163"/>
            </a:avLst>
          </a:prstGeom>
          <a:solidFill>
            <a:schemeClr val="bg2"/>
          </a:solidFill>
          <a:ln/>
        </p:spPr>
      </p:sp>
      <p:sp>
        <p:nvSpPr>
          <p:cNvPr id="13" name="Text 10"/>
          <p:cNvSpPr txBox="1"/>
          <p:nvPr/>
        </p:nvSpPr>
        <p:spPr>
          <a:xfrm>
            <a:off x="594360" y="114300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Condizioni</a:t>
            </a:r>
            <a:endParaRPr lang="en-US" sz="1300" dirty="0"/>
          </a:p>
        </p:txBody>
      </p:sp>
      <p:sp>
        <p:nvSpPr>
          <p:cNvPr id="14" name="Text 11"/>
          <p:cNvSpPr txBox="1"/>
          <p:nvPr/>
        </p:nvSpPr>
        <p:spPr>
          <a:xfrm>
            <a:off x="594360" y="1490472"/>
            <a:ext cx="1737360" cy="384048"/>
          </a:xfrm>
          <a:prstGeom prst="rect">
            <a:avLst/>
          </a:prstGeom>
          <a:noFill/>
          <a:ln/>
        </p:spPr>
        <p:txBody>
          <a:bodyPr wrap="square" lIns="0" tIns="0" rIns="0" bIns="0" rtlCol="0" anchor="t"/>
          <a:lstStyle/>
          <a:p>
            <a:pPr indent="0" marL="0">
              <a:buNone/>
            </a:pPr>
            <a:r>
              <a:rPr lang="en-US" sz="1100" i="1" dirty="0">
                <a:solidFill>
                  <a:schemeClr val="tx2"/>
                </a:solidFill>
              </a:rPr>
              <a:t>solo se, a condizione che</a:t>
            </a:r>
            <a:endParaRPr lang="en-US" sz="1100" dirty="0"/>
          </a:p>
        </p:txBody>
      </p:sp>
      <p:sp>
        <p:nvSpPr>
          <p:cNvPr id="15" name="Eccezioni"/>
          <p:cNvSpPr/>
          <p:nvPr/>
        </p:nvSpPr>
        <p:spPr>
          <a:xfrm>
            <a:off x="2560320" y="1051560"/>
            <a:ext cx="1965960" cy="896112"/>
          </a:xfrm>
          <a:prstGeom prst="roundRect">
            <a:avLst>
              <a:gd name="adj" fmla="val 8163"/>
            </a:avLst>
          </a:prstGeom>
          <a:solidFill>
            <a:schemeClr val="bg2"/>
          </a:solidFill>
          <a:ln/>
        </p:spPr>
      </p:sp>
      <p:sp>
        <p:nvSpPr>
          <p:cNvPr id="16" name="Text 13"/>
          <p:cNvSpPr txBox="1"/>
          <p:nvPr/>
        </p:nvSpPr>
        <p:spPr>
          <a:xfrm>
            <a:off x="2697480" y="114300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Eccezioni</a:t>
            </a:r>
            <a:endParaRPr lang="en-US" sz="1300" dirty="0"/>
          </a:p>
        </p:txBody>
      </p:sp>
      <p:sp>
        <p:nvSpPr>
          <p:cNvPr id="17" name="Text 14"/>
          <p:cNvSpPr txBox="1"/>
          <p:nvPr/>
        </p:nvSpPr>
        <p:spPr>
          <a:xfrm>
            <a:off x="2697480" y="1490472"/>
            <a:ext cx="1737360" cy="384048"/>
          </a:xfrm>
          <a:prstGeom prst="rect">
            <a:avLst/>
          </a:prstGeom>
          <a:noFill/>
          <a:ln/>
        </p:spPr>
        <p:txBody>
          <a:bodyPr wrap="square" lIns="0" tIns="0" rIns="0" bIns="0" rtlCol="0" anchor="t"/>
          <a:lstStyle/>
          <a:p>
            <a:pPr indent="0" marL="0">
              <a:buNone/>
            </a:pPr>
            <a:r>
              <a:rPr lang="en-US" sz="1100" i="1" dirty="0">
                <a:solidFill>
                  <a:schemeClr val="tx2"/>
                </a:solidFill>
              </a:rPr>
              <a:t>salvo, tranne</a:t>
            </a:r>
            <a:endParaRPr lang="en-US" sz="1100" dirty="0"/>
          </a:p>
        </p:txBody>
      </p:sp>
      <p:sp>
        <p:nvSpPr>
          <p:cNvPr id="18" name="Limiti e soglie"/>
          <p:cNvSpPr/>
          <p:nvPr/>
        </p:nvSpPr>
        <p:spPr>
          <a:xfrm>
            <a:off x="4663440" y="1051560"/>
            <a:ext cx="1965960" cy="896112"/>
          </a:xfrm>
          <a:prstGeom prst="roundRect">
            <a:avLst>
              <a:gd name="adj" fmla="val 8163"/>
            </a:avLst>
          </a:prstGeom>
          <a:solidFill>
            <a:schemeClr val="bg2"/>
          </a:solidFill>
          <a:ln/>
        </p:spPr>
      </p:sp>
      <p:sp>
        <p:nvSpPr>
          <p:cNvPr id="19" name="Text 16"/>
          <p:cNvSpPr txBox="1"/>
          <p:nvPr/>
        </p:nvSpPr>
        <p:spPr>
          <a:xfrm>
            <a:off x="4800600" y="114300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Limiti e soglie</a:t>
            </a:r>
            <a:endParaRPr lang="en-US" sz="1300" dirty="0"/>
          </a:p>
        </p:txBody>
      </p:sp>
      <p:sp>
        <p:nvSpPr>
          <p:cNvPr id="20" name="Text 17"/>
          <p:cNvSpPr txBox="1"/>
          <p:nvPr/>
        </p:nvSpPr>
        <p:spPr>
          <a:xfrm>
            <a:off x="4800600" y="1490472"/>
            <a:ext cx="1737360" cy="384048"/>
          </a:xfrm>
          <a:prstGeom prst="rect">
            <a:avLst/>
          </a:prstGeom>
          <a:noFill/>
          <a:ln/>
        </p:spPr>
        <p:txBody>
          <a:bodyPr wrap="square" lIns="0" tIns="0" rIns="0" bIns="0" rtlCol="0" anchor="t"/>
          <a:lstStyle/>
          <a:p>
            <a:pPr indent="0" marL="0">
              <a:buNone/>
            </a:pPr>
            <a:r>
              <a:rPr lang="en-US" sz="1100" i="1" dirty="0">
                <a:solidFill>
                  <a:schemeClr val="tx2"/>
                </a:solidFill>
              </a:rPr>
              <a:t>importi, percentuali</a:t>
            </a:r>
            <a:endParaRPr lang="en-US" sz="1100" dirty="0"/>
          </a:p>
        </p:txBody>
      </p:sp>
      <p:sp>
        <p:nvSpPr>
          <p:cNvPr id="21" name="Scadenze"/>
          <p:cNvSpPr/>
          <p:nvPr/>
        </p:nvSpPr>
        <p:spPr>
          <a:xfrm>
            <a:off x="6766560" y="1051560"/>
            <a:ext cx="1965960" cy="896112"/>
          </a:xfrm>
          <a:prstGeom prst="roundRect">
            <a:avLst>
              <a:gd name="adj" fmla="val 8163"/>
            </a:avLst>
          </a:prstGeom>
          <a:solidFill>
            <a:schemeClr val="bg2"/>
          </a:solidFill>
          <a:ln/>
        </p:spPr>
      </p:sp>
      <p:sp>
        <p:nvSpPr>
          <p:cNvPr id="22" name="Text 19"/>
          <p:cNvSpPr txBox="1"/>
          <p:nvPr/>
        </p:nvSpPr>
        <p:spPr>
          <a:xfrm>
            <a:off x="6903720" y="114300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Scadenze</a:t>
            </a:r>
            <a:endParaRPr lang="en-US" sz="1300" dirty="0"/>
          </a:p>
        </p:txBody>
      </p:sp>
      <p:sp>
        <p:nvSpPr>
          <p:cNvPr id="23" name="Text 20"/>
          <p:cNvSpPr txBox="1"/>
          <p:nvPr/>
        </p:nvSpPr>
        <p:spPr>
          <a:xfrm>
            <a:off x="6903720" y="1490472"/>
            <a:ext cx="1737360" cy="384048"/>
          </a:xfrm>
          <a:prstGeom prst="rect">
            <a:avLst/>
          </a:prstGeom>
          <a:noFill/>
          <a:ln/>
        </p:spPr>
        <p:txBody>
          <a:bodyPr wrap="square" lIns="0" tIns="0" rIns="0" bIns="0" rtlCol="0" anchor="t"/>
          <a:lstStyle/>
          <a:p>
            <a:pPr indent="0" marL="0">
              <a:buNone/>
            </a:pPr>
            <a:r>
              <a:rPr lang="en-US" sz="1100" i="1" dirty="0">
                <a:solidFill>
                  <a:schemeClr val="tx2"/>
                </a:solidFill>
              </a:rPr>
              <a:t>date, termini, preavvisi</a:t>
            </a:r>
            <a:endParaRPr lang="en-US" sz="1100" dirty="0"/>
          </a:p>
        </p:txBody>
      </p:sp>
      <p:sp>
        <p:nvSpPr>
          <p:cNvPr id="24" name="Responsabilità"/>
          <p:cNvSpPr/>
          <p:nvPr/>
        </p:nvSpPr>
        <p:spPr>
          <a:xfrm>
            <a:off x="457200" y="2057400"/>
            <a:ext cx="1965960" cy="896112"/>
          </a:xfrm>
          <a:prstGeom prst="roundRect">
            <a:avLst>
              <a:gd name="adj" fmla="val 8163"/>
            </a:avLst>
          </a:prstGeom>
          <a:solidFill>
            <a:schemeClr val="accent6"/>
          </a:solidFill>
          <a:ln/>
        </p:spPr>
      </p:sp>
      <p:sp>
        <p:nvSpPr>
          <p:cNvPr id="25" name="Text 22"/>
          <p:cNvSpPr txBox="1"/>
          <p:nvPr/>
        </p:nvSpPr>
        <p:spPr>
          <a:xfrm>
            <a:off x="594360" y="214884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Responsabilità</a:t>
            </a:r>
            <a:endParaRPr lang="en-US" sz="1300" dirty="0"/>
          </a:p>
        </p:txBody>
      </p:sp>
      <p:sp>
        <p:nvSpPr>
          <p:cNvPr id="26" name="Text 23"/>
          <p:cNvSpPr txBox="1"/>
          <p:nvPr/>
        </p:nvSpPr>
        <p:spPr>
          <a:xfrm>
            <a:off x="594360" y="2496312"/>
            <a:ext cx="1737360" cy="384048"/>
          </a:xfrm>
          <a:prstGeom prst="rect">
            <a:avLst/>
          </a:prstGeom>
          <a:noFill/>
          <a:ln/>
        </p:spPr>
        <p:txBody>
          <a:bodyPr wrap="square" lIns="0" tIns="0" rIns="0" bIns="0" rtlCol="0" anchor="t"/>
          <a:lstStyle/>
          <a:p>
            <a:pPr indent="0" marL="0">
              <a:buNone/>
            </a:pPr>
            <a:r>
              <a:rPr lang="en-US" sz="1100" i="1" dirty="0">
                <a:solidFill>
                  <a:schemeClr val="tx2"/>
                </a:solidFill>
              </a:rPr>
              <a:t>chi fa che cosa</a:t>
            </a:r>
            <a:endParaRPr lang="en-US" sz="1100" dirty="0"/>
          </a:p>
        </p:txBody>
      </p:sp>
      <p:sp>
        <p:nvSpPr>
          <p:cNvPr id="27" name="Certezza e obbligo"/>
          <p:cNvSpPr/>
          <p:nvPr/>
        </p:nvSpPr>
        <p:spPr>
          <a:xfrm>
            <a:off x="2560320" y="2057400"/>
            <a:ext cx="1965960" cy="896112"/>
          </a:xfrm>
          <a:prstGeom prst="roundRect">
            <a:avLst>
              <a:gd name="adj" fmla="val 8163"/>
            </a:avLst>
          </a:prstGeom>
          <a:solidFill>
            <a:schemeClr val="accent6"/>
          </a:solidFill>
          <a:ln/>
        </p:spPr>
      </p:sp>
      <p:sp>
        <p:nvSpPr>
          <p:cNvPr id="28" name="Text 25"/>
          <p:cNvSpPr txBox="1"/>
          <p:nvPr/>
        </p:nvSpPr>
        <p:spPr>
          <a:xfrm>
            <a:off x="2697480" y="214884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Certezza e obbligo</a:t>
            </a:r>
            <a:endParaRPr lang="en-US" sz="1300" dirty="0"/>
          </a:p>
        </p:txBody>
      </p:sp>
      <p:sp>
        <p:nvSpPr>
          <p:cNvPr id="29" name="Text 26"/>
          <p:cNvSpPr txBox="1"/>
          <p:nvPr/>
        </p:nvSpPr>
        <p:spPr>
          <a:xfrm>
            <a:off x="2697480" y="2496312"/>
            <a:ext cx="1737360" cy="384048"/>
          </a:xfrm>
          <a:prstGeom prst="rect">
            <a:avLst/>
          </a:prstGeom>
          <a:noFill/>
          <a:ln/>
        </p:spPr>
        <p:txBody>
          <a:bodyPr wrap="square" lIns="0" tIns="0" rIns="0" bIns="0" rtlCol="0" anchor="t"/>
          <a:lstStyle/>
          <a:p>
            <a:pPr indent="0" marL="0">
              <a:buNone/>
            </a:pPr>
            <a:r>
              <a:rPr lang="en-US" sz="1100" i="1" dirty="0">
                <a:solidFill>
                  <a:schemeClr val="tx2"/>
                </a:solidFill>
              </a:rPr>
              <a:t>da confermare, è obbligatorio</a:t>
            </a:r>
            <a:endParaRPr lang="en-US" sz="1100" dirty="0"/>
          </a:p>
        </p:txBody>
      </p:sp>
      <p:sp>
        <p:nvSpPr>
          <p:cNvPr id="30" name="Negazioni"/>
          <p:cNvSpPr/>
          <p:nvPr/>
        </p:nvSpPr>
        <p:spPr>
          <a:xfrm>
            <a:off x="4663440" y="2057400"/>
            <a:ext cx="1965960" cy="896112"/>
          </a:xfrm>
          <a:prstGeom prst="roundRect">
            <a:avLst>
              <a:gd name="adj" fmla="val 8163"/>
            </a:avLst>
          </a:prstGeom>
          <a:solidFill>
            <a:schemeClr val="accent6"/>
          </a:solidFill>
          <a:ln/>
        </p:spPr>
      </p:sp>
      <p:sp>
        <p:nvSpPr>
          <p:cNvPr id="31" name="Text 28"/>
          <p:cNvSpPr txBox="1"/>
          <p:nvPr/>
        </p:nvSpPr>
        <p:spPr>
          <a:xfrm>
            <a:off x="4800600" y="214884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Negazioni</a:t>
            </a:r>
            <a:endParaRPr lang="en-US" sz="1300" dirty="0"/>
          </a:p>
        </p:txBody>
      </p:sp>
      <p:sp>
        <p:nvSpPr>
          <p:cNvPr id="32" name="Text 29"/>
          <p:cNvSpPr txBox="1"/>
          <p:nvPr/>
        </p:nvSpPr>
        <p:spPr>
          <a:xfrm>
            <a:off x="4800600" y="2496312"/>
            <a:ext cx="1737360" cy="384048"/>
          </a:xfrm>
          <a:prstGeom prst="rect">
            <a:avLst/>
          </a:prstGeom>
          <a:noFill/>
          <a:ln/>
        </p:spPr>
        <p:txBody>
          <a:bodyPr wrap="square" lIns="0" tIns="0" rIns="0" bIns="0" rtlCol="0" anchor="t"/>
          <a:lstStyle/>
          <a:p>
            <a:pPr indent="0" marL="0">
              <a:buNone/>
            </a:pPr>
            <a:r>
              <a:rPr lang="en-US" sz="1100" i="1" dirty="0">
                <a:solidFill>
                  <a:schemeClr val="tx2"/>
                </a:solidFill>
              </a:rPr>
              <a:t>non si applica, esclusivamente</a:t>
            </a:r>
            <a:endParaRPr lang="en-US" sz="1100" dirty="0"/>
          </a:p>
        </p:txBody>
      </p:sp>
      <p:sp>
        <p:nvSpPr>
          <p:cNvPr id="33" name="Voci minoritarie"/>
          <p:cNvSpPr/>
          <p:nvPr/>
        </p:nvSpPr>
        <p:spPr>
          <a:xfrm>
            <a:off x="6766560" y="2057400"/>
            <a:ext cx="1965960" cy="896112"/>
          </a:xfrm>
          <a:prstGeom prst="roundRect">
            <a:avLst>
              <a:gd name="adj" fmla="val 8163"/>
            </a:avLst>
          </a:prstGeom>
          <a:solidFill>
            <a:schemeClr val="accent6"/>
          </a:solidFill>
          <a:ln/>
        </p:spPr>
      </p:sp>
      <p:sp>
        <p:nvSpPr>
          <p:cNvPr id="34" name="Text 31"/>
          <p:cNvSpPr txBox="1"/>
          <p:nvPr/>
        </p:nvSpPr>
        <p:spPr>
          <a:xfrm>
            <a:off x="6903720" y="2148840"/>
            <a:ext cx="1737360" cy="329184"/>
          </a:xfrm>
          <a:prstGeom prst="rect">
            <a:avLst/>
          </a:prstGeom>
          <a:noFill/>
          <a:ln/>
        </p:spPr>
        <p:txBody>
          <a:bodyPr wrap="square" lIns="0" tIns="0" rIns="0" bIns="0" rtlCol="0" anchor="t"/>
          <a:lstStyle/>
          <a:p>
            <a:pPr indent="0" marL="0">
              <a:buNone/>
            </a:pPr>
            <a:r>
              <a:rPr lang="en-US" sz="1300" b="1" dirty="0">
                <a:solidFill>
                  <a:schemeClr val="accent1"/>
                </a:solidFill>
              </a:rPr>
              <a:t>Voci minoritarie</a:t>
            </a:r>
            <a:endParaRPr lang="en-US" sz="1300" dirty="0"/>
          </a:p>
        </p:txBody>
      </p:sp>
      <p:sp>
        <p:nvSpPr>
          <p:cNvPr id="35" name="Text 32"/>
          <p:cNvSpPr txBox="1"/>
          <p:nvPr/>
        </p:nvSpPr>
        <p:spPr>
          <a:xfrm>
            <a:off x="6903720" y="2496312"/>
            <a:ext cx="1737360" cy="384048"/>
          </a:xfrm>
          <a:prstGeom prst="rect">
            <a:avLst/>
          </a:prstGeom>
          <a:noFill/>
          <a:ln/>
        </p:spPr>
        <p:txBody>
          <a:bodyPr wrap="square" lIns="0" tIns="0" rIns="0" bIns="0" rtlCol="0" anchor="t"/>
          <a:lstStyle/>
          <a:p>
            <a:pPr indent="0" marL="0">
              <a:buNone/>
            </a:pPr>
            <a:r>
              <a:rPr lang="en-US" sz="1100" i="1" dirty="0">
                <a:solidFill>
                  <a:schemeClr val="tx2"/>
                </a:solidFill>
              </a:rPr>
              <a:t>obiezioni, rischi in nota</a:t>
            </a:r>
            <a:endParaRPr lang="en-US" sz="1100" dirty="0"/>
          </a:p>
        </p:txBody>
      </p:sp>
      <p:sp>
        <p:nvSpPr>
          <p:cNvPr id="36" name="messaggio"/>
          <p:cNvSpPr/>
          <p:nvPr/>
        </p:nvSpPr>
        <p:spPr>
          <a:xfrm>
            <a:off x="457200" y="3200400"/>
            <a:ext cx="8229600" cy="731520"/>
          </a:xfrm>
          <a:prstGeom prst="roundRect">
            <a:avLst>
              <a:gd name="adj" fmla="val 10000"/>
            </a:avLst>
          </a:prstGeom>
          <a:solidFill>
            <a:schemeClr val="tx1"/>
          </a:solidFill>
          <a:ln/>
        </p:spPr>
      </p:sp>
      <p:sp>
        <p:nvSpPr>
          <p:cNvPr id="37" name="Text 34"/>
          <p:cNvSpPr txBox="1"/>
          <p:nvPr/>
        </p:nvSpPr>
        <p:spPr>
          <a:xfrm>
            <a:off x="640080" y="3200400"/>
            <a:ext cx="7863840" cy="731520"/>
          </a:xfrm>
          <a:prstGeom prst="rect">
            <a:avLst/>
          </a:prstGeom>
          <a:noFill/>
          <a:ln/>
        </p:spPr>
        <p:txBody>
          <a:bodyPr wrap="square" lIns="0" tIns="0" rIns="0" bIns="0" rtlCol="0" anchor="ctr"/>
          <a:lstStyle/>
          <a:p>
            <a:pPr indent="0" marL="0">
              <a:buNone/>
            </a:pPr>
            <a:r>
              <a:rPr lang="en-US" sz="1300" dirty="0">
                <a:solidFill>
                  <a:schemeClr val="bg1"/>
                </a:solidFill>
              </a:rPr>
              <a:t>Tecnica pratica: chiedere, insieme alla sintesi, un elenco di tutte le condizioni, eccezioni, scadenze e limiti, con il riferimento.</a:t>
            </a:r>
            <a:endParaRPr lang="en-US" sz="1300" dirty="0"/>
          </a:p>
        </p:txBody>
      </p:sp>
      <p:sp>
        <p:nvSpPr>
          <p:cNvPr id="38" name="Text 35"/>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i="1" dirty="0">
                <a:solidFill>
                  <a:schemeClr val="tx2"/>
                </a:solidFill>
              </a:rPr>
              <a:t>È più facile controllare un elenco mirato che cercare le perdite in una sintesi scorrevole.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Controllare una sintesi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Prima"/>
          <p:cNvSpPr/>
          <p:nvPr/>
        </p:nvSpPr>
        <p:spPr>
          <a:xfrm>
            <a:off x="457200" y="1051560"/>
            <a:ext cx="2615184" cy="1828800"/>
          </a:xfrm>
          <a:prstGeom prst="roundRect">
            <a:avLst>
              <a:gd name="adj" fmla="val 4000"/>
            </a:avLst>
          </a:prstGeom>
          <a:solidFill>
            <a:schemeClr val="bg2"/>
          </a:solidFill>
          <a:ln/>
        </p:spPr>
      </p:sp>
      <p:sp>
        <p:nvSpPr>
          <p:cNvPr id="13" name="Text 10"/>
          <p:cNvSpPr txBox="1"/>
          <p:nvPr/>
        </p:nvSpPr>
        <p:spPr>
          <a:xfrm>
            <a:off x="640080" y="1143000"/>
            <a:ext cx="2249424" cy="384048"/>
          </a:xfrm>
          <a:prstGeom prst="rect">
            <a:avLst/>
          </a:prstGeom>
          <a:noFill/>
          <a:ln/>
        </p:spPr>
        <p:txBody>
          <a:bodyPr wrap="square" lIns="0" tIns="0" rIns="0" bIns="0" rtlCol="0" anchor="t"/>
          <a:lstStyle/>
          <a:p>
            <a:pPr indent="0" marL="0">
              <a:buNone/>
            </a:pPr>
            <a:r>
              <a:rPr lang="en-US" sz="1800" b="1" dirty="0">
                <a:solidFill>
                  <a:schemeClr val="accent1"/>
                </a:solidFill>
              </a:rPr>
              <a:t>Prima</a:t>
            </a:r>
            <a:endParaRPr lang="en-US" sz="1800" dirty="0"/>
          </a:p>
        </p:txBody>
      </p:sp>
      <p:sp>
        <p:nvSpPr>
          <p:cNvPr id="14" name="Text 11"/>
          <p:cNvSpPr txBox="1"/>
          <p:nvPr/>
        </p:nvSpPr>
        <p:spPr>
          <a:xfrm>
            <a:off x="640080" y="1600200"/>
            <a:ext cx="2286000" cy="1188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Dichiarare lo scopo</a:t>
            </a:r>
            <a:endParaRPr lang="en-US" sz="1300" dirty="0"/>
          </a:p>
          <a:p>
            <a:pPr marL="177800" indent="-177800">
              <a:spcAft>
                <a:spcPts val="600"/>
              </a:spcAft>
              <a:buSzPct val="100000"/>
              <a:buChar char="•"/>
            </a:pPr>
            <a:r>
              <a:rPr lang="en-US" sz="1300" dirty="0">
                <a:solidFill>
                  <a:schemeClr val="tx1"/>
                </a:solidFill>
              </a:rPr>
              <a:t>Indicare gli elementi da includere</a:t>
            </a:r>
            <a:endParaRPr lang="en-US" sz="1300" dirty="0"/>
          </a:p>
        </p:txBody>
      </p:sp>
      <p:sp>
        <p:nvSpPr>
          <p:cNvPr id="15" name="freccia"/>
          <p:cNvSpPr/>
          <p:nvPr/>
        </p:nvSpPr>
        <p:spPr>
          <a:xfrm>
            <a:off x="3090672" y="1783080"/>
            <a:ext cx="155448" cy="292608"/>
          </a:xfrm>
          <a:prstGeom prst="rightArrow">
            <a:avLst/>
          </a:prstGeom>
          <a:solidFill>
            <a:schemeClr val="accent2"/>
          </a:solidFill>
          <a:ln/>
        </p:spPr>
      </p:sp>
      <p:sp>
        <p:nvSpPr>
          <p:cNvPr id="16" name="Durante"/>
          <p:cNvSpPr/>
          <p:nvPr/>
        </p:nvSpPr>
        <p:spPr>
          <a:xfrm>
            <a:off x="3264408" y="1051560"/>
            <a:ext cx="2615184" cy="1828800"/>
          </a:xfrm>
          <a:prstGeom prst="roundRect">
            <a:avLst>
              <a:gd name="adj" fmla="val 4000"/>
            </a:avLst>
          </a:prstGeom>
          <a:solidFill>
            <a:schemeClr val="bg2"/>
          </a:solidFill>
          <a:ln/>
        </p:spPr>
      </p:sp>
      <p:sp>
        <p:nvSpPr>
          <p:cNvPr id="17" name="Text 14"/>
          <p:cNvSpPr txBox="1"/>
          <p:nvPr/>
        </p:nvSpPr>
        <p:spPr>
          <a:xfrm>
            <a:off x="3447288" y="1143000"/>
            <a:ext cx="2249424" cy="384048"/>
          </a:xfrm>
          <a:prstGeom prst="rect">
            <a:avLst/>
          </a:prstGeom>
          <a:noFill/>
          <a:ln/>
        </p:spPr>
        <p:txBody>
          <a:bodyPr wrap="square" lIns="0" tIns="0" rIns="0" bIns="0" rtlCol="0" anchor="t"/>
          <a:lstStyle/>
          <a:p>
            <a:pPr indent="0" marL="0">
              <a:buNone/>
            </a:pPr>
            <a:r>
              <a:rPr lang="en-US" sz="1800" b="1" dirty="0">
                <a:solidFill>
                  <a:schemeClr val="accent1"/>
                </a:solidFill>
              </a:rPr>
              <a:t>Durante</a:t>
            </a:r>
            <a:endParaRPr lang="en-US" sz="1800" dirty="0"/>
          </a:p>
        </p:txBody>
      </p:sp>
      <p:sp>
        <p:nvSpPr>
          <p:cNvPr id="18" name="Text 15"/>
          <p:cNvSpPr txBox="1"/>
          <p:nvPr/>
        </p:nvSpPr>
        <p:spPr>
          <a:xfrm>
            <a:off x="3447288" y="1600200"/>
            <a:ext cx="2286000" cy="1188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Chiedere i riferimenti</a:t>
            </a:r>
            <a:endParaRPr lang="en-US" sz="1300" dirty="0"/>
          </a:p>
          <a:p>
            <a:pPr marL="177800" indent="-177800">
              <a:spcAft>
                <a:spcPts val="600"/>
              </a:spcAft>
              <a:buSzPct val="100000"/>
              <a:buChar char="•"/>
            </a:pPr>
            <a:r>
              <a:rPr lang="en-US" sz="1300" dirty="0">
                <a:solidFill>
                  <a:schemeClr val="tx1"/>
                </a:solidFill>
              </a:rPr>
              <a:t>Elenco separato di condizioni ed eccezioni</a:t>
            </a:r>
            <a:endParaRPr lang="en-US" sz="1300" dirty="0"/>
          </a:p>
        </p:txBody>
      </p:sp>
      <p:sp>
        <p:nvSpPr>
          <p:cNvPr id="19" name="freccia"/>
          <p:cNvSpPr/>
          <p:nvPr/>
        </p:nvSpPr>
        <p:spPr>
          <a:xfrm>
            <a:off x="5897880" y="1783080"/>
            <a:ext cx="155448" cy="292608"/>
          </a:xfrm>
          <a:prstGeom prst="rightArrow">
            <a:avLst/>
          </a:prstGeom>
          <a:solidFill>
            <a:schemeClr val="accent2"/>
          </a:solidFill>
          <a:ln/>
        </p:spPr>
      </p:sp>
      <p:sp>
        <p:nvSpPr>
          <p:cNvPr id="20" name="Dopo"/>
          <p:cNvSpPr/>
          <p:nvPr/>
        </p:nvSpPr>
        <p:spPr>
          <a:xfrm>
            <a:off x="6071616" y="1051560"/>
            <a:ext cx="2615184" cy="1828800"/>
          </a:xfrm>
          <a:prstGeom prst="roundRect">
            <a:avLst>
              <a:gd name="adj" fmla="val 4000"/>
            </a:avLst>
          </a:prstGeom>
          <a:solidFill>
            <a:schemeClr val="accent6"/>
          </a:solidFill>
          <a:ln/>
        </p:spPr>
      </p:sp>
      <p:sp>
        <p:nvSpPr>
          <p:cNvPr id="21" name="Text 18"/>
          <p:cNvSpPr txBox="1"/>
          <p:nvPr/>
        </p:nvSpPr>
        <p:spPr>
          <a:xfrm>
            <a:off x="6254496" y="1143000"/>
            <a:ext cx="2249424" cy="384048"/>
          </a:xfrm>
          <a:prstGeom prst="rect">
            <a:avLst/>
          </a:prstGeom>
          <a:noFill/>
          <a:ln/>
        </p:spPr>
        <p:txBody>
          <a:bodyPr wrap="square" lIns="0" tIns="0" rIns="0" bIns="0" rtlCol="0" anchor="t"/>
          <a:lstStyle/>
          <a:p>
            <a:pPr indent="0" marL="0">
              <a:buNone/>
            </a:pPr>
            <a:r>
              <a:rPr lang="en-US" sz="1800" b="1" dirty="0">
                <a:solidFill>
                  <a:schemeClr val="accent1"/>
                </a:solidFill>
              </a:rPr>
              <a:t>Dopo</a:t>
            </a:r>
            <a:endParaRPr lang="en-US" sz="1800" dirty="0"/>
          </a:p>
        </p:txBody>
      </p:sp>
      <p:sp>
        <p:nvSpPr>
          <p:cNvPr id="22" name="Text 19"/>
          <p:cNvSpPr txBox="1"/>
          <p:nvPr/>
        </p:nvSpPr>
        <p:spPr>
          <a:xfrm>
            <a:off x="6254496" y="1600200"/>
            <a:ext cx="2286000" cy="1188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Controllo proporzionato all'uso</a:t>
            </a:r>
            <a:endParaRPr lang="en-US" sz="1300" dirty="0"/>
          </a:p>
          <a:p>
            <a:pPr marL="177800" indent="-177800">
              <a:spcAft>
                <a:spcPts val="600"/>
              </a:spcAft>
              <a:buSzPct val="100000"/>
              <a:buChar char="•"/>
            </a:pPr>
            <a:r>
              <a:rPr lang="en-US" sz="1300" dirty="0">
                <a:solidFill>
                  <a:schemeClr val="tx1"/>
                </a:solidFill>
              </a:rPr>
              <a:t>Punti critici verificati sul documento</a:t>
            </a:r>
            <a:endParaRPr lang="en-US" sz="1300" dirty="0"/>
          </a:p>
        </p:txBody>
      </p:sp>
      <p:sp>
        <p:nvSpPr>
          <p:cNvPr id="23" name="blocco Per orientarsi: lettura critica"/>
          <p:cNvSpPr/>
          <p:nvPr/>
        </p:nvSpPr>
        <p:spPr>
          <a:xfrm>
            <a:off x="457200" y="3063240"/>
            <a:ext cx="2651760" cy="502920"/>
          </a:xfrm>
          <a:prstGeom prst="roundRect">
            <a:avLst>
              <a:gd name="adj" fmla="val 21818"/>
            </a:avLst>
          </a:prstGeom>
          <a:solidFill>
            <a:schemeClr val="bg2"/>
          </a:solidFill>
          <a:ln/>
        </p:spPr>
      </p:sp>
      <p:sp>
        <p:nvSpPr>
          <p:cNvPr id="24" name="Text 21"/>
          <p:cNvSpPr txBox="1"/>
          <p:nvPr/>
        </p:nvSpPr>
        <p:spPr>
          <a:xfrm>
            <a:off x="502920" y="306324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Per orientarsi: lettura critica</a:t>
            </a:r>
            <a:endParaRPr lang="en-US" sz="1200" dirty="0"/>
          </a:p>
        </p:txBody>
      </p:sp>
      <p:sp>
        <p:nvSpPr>
          <p:cNvPr id="25" name="blocco Per decidere: punti critici"/>
          <p:cNvSpPr/>
          <p:nvPr/>
        </p:nvSpPr>
        <p:spPr>
          <a:xfrm>
            <a:off x="3246120" y="3063240"/>
            <a:ext cx="2651760" cy="502920"/>
          </a:xfrm>
          <a:prstGeom prst="roundRect">
            <a:avLst>
              <a:gd name="adj" fmla="val 21818"/>
            </a:avLst>
          </a:prstGeom>
          <a:solidFill>
            <a:schemeClr val="accent6"/>
          </a:solidFill>
          <a:ln/>
        </p:spPr>
      </p:sp>
      <p:sp>
        <p:nvSpPr>
          <p:cNvPr id="26" name="Text 23"/>
          <p:cNvSpPr txBox="1"/>
          <p:nvPr/>
        </p:nvSpPr>
        <p:spPr>
          <a:xfrm>
            <a:off x="3291840" y="306324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Per decidere: punti critici</a:t>
            </a:r>
            <a:endParaRPr lang="en-US" sz="1200" dirty="0"/>
          </a:p>
        </p:txBody>
      </p:sp>
      <p:sp>
        <p:nvSpPr>
          <p:cNvPr id="27" name="blocco Per altri: controllo sistematico"/>
          <p:cNvSpPr/>
          <p:nvPr/>
        </p:nvSpPr>
        <p:spPr>
          <a:xfrm>
            <a:off x="6035040" y="3063240"/>
            <a:ext cx="2651760" cy="502920"/>
          </a:xfrm>
          <a:prstGeom prst="roundRect">
            <a:avLst>
              <a:gd name="adj" fmla="val 21818"/>
            </a:avLst>
          </a:prstGeom>
          <a:solidFill>
            <a:schemeClr val="accent1"/>
          </a:solidFill>
          <a:ln/>
        </p:spPr>
      </p:sp>
      <p:sp>
        <p:nvSpPr>
          <p:cNvPr id="28" name="Text 25"/>
          <p:cNvSpPr txBox="1"/>
          <p:nvPr/>
        </p:nvSpPr>
        <p:spPr>
          <a:xfrm>
            <a:off x="6080760" y="3063240"/>
            <a:ext cx="2560320" cy="502920"/>
          </a:xfrm>
          <a:prstGeom prst="rect">
            <a:avLst/>
          </a:prstGeom>
          <a:noFill/>
          <a:ln/>
        </p:spPr>
        <p:txBody>
          <a:bodyPr wrap="square" lIns="0" tIns="0" rIns="0" bIns="0" rtlCol="0" anchor="ctr"/>
          <a:lstStyle/>
          <a:p>
            <a:pPr algn="ctr" indent="0" marL="0">
              <a:buNone/>
            </a:pPr>
            <a:r>
              <a:rPr lang="en-US" sz="1200" b="1" dirty="0">
                <a:solidFill>
                  <a:schemeClr val="bg1"/>
                </a:solidFill>
              </a:rPr>
              <a:t>Per altri: controllo sistematico</a:t>
            </a:r>
            <a:endParaRPr lang="en-US" sz="1200" dirty="0"/>
          </a:p>
        </p:txBody>
      </p:sp>
      <p:sp>
        <p:nvSpPr>
          <p:cNvPr id="29" name="messaggio"/>
          <p:cNvSpPr/>
          <p:nvPr/>
        </p:nvSpPr>
        <p:spPr>
          <a:xfrm>
            <a:off x="457200" y="3749040"/>
            <a:ext cx="8229600" cy="685800"/>
          </a:xfrm>
          <a:prstGeom prst="roundRect">
            <a:avLst>
              <a:gd name="adj" fmla="val 10667"/>
            </a:avLst>
          </a:prstGeom>
          <a:solidFill>
            <a:schemeClr val="tx1"/>
          </a:solidFill>
          <a:ln/>
        </p:spPr>
      </p:sp>
      <p:sp>
        <p:nvSpPr>
          <p:cNvPr id="30" name="Text 27"/>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400" dirty="0">
                <a:solidFill>
                  <a:schemeClr val="bg1"/>
                </a:solidFill>
              </a:rPr>
              <a:t>Più la sintesi sostituisce la lettura dell'originale, più deve essere controllata.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Limiti con documenti complessi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i molto lunghi"/>
          <p:cNvSpPr/>
          <p:nvPr/>
        </p:nvSpPr>
        <p:spPr>
          <a:xfrm>
            <a:off x="457200" y="1051560"/>
            <a:ext cx="2621280" cy="1280160"/>
          </a:xfrm>
          <a:prstGeom prst="roundRect">
            <a:avLst>
              <a:gd name="adj" fmla="val 5714"/>
            </a:avLst>
          </a:prstGeom>
          <a:solidFill>
            <a:schemeClr val="bg2"/>
          </a:solidFill>
          <a:ln/>
        </p:spPr>
      </p:sp>
      <p:sp>
        <p:nvSpPr>
          <p:cNvPr id="13" name="cerchio FiBookOpen"/>
          <p:cNvSpPr/>
          <p:nvPr/>
        </p:nvSpPr>
        <p:spPr>
          <a:xfrm>
            <a:off x="621792" y="1216152"/>
            <a:ext cx="438912" cy="438912"/>
          </a:xfrm>
          <a:prstGeom prst="ellipse">
            <a:avLst/>
          </a:prstGeom>
          <a:solidFill>
            <a:schemeClr val="accent1"/>
          </a:solidFill>
          <a:ln/>
        </p:spPr>
      </p:sp>
      <p:pic>
        <p:nvPicPr>
          <p:cNvPr id="14" name="Image 0" descr="FiBookOpen">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molto lunghi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Le parti centrali tendono a essere usate meno</a:t>
            </a:r>
            <a:endParaRPr lang="en-US" sz="1200" dirty="0"/>
          </a:p>
        </p:txBody>
      </p:sp>
      <p:sp>
        <p:nvSpPr>
          <p:cNvPr id="17" name="Rimandi e allegati"/>
          <p:cNvSpPr/>
          <p:nvPr/>
        </p:nvSpPr>
        <p:spPr>
          <a:xfrm>
            <a:off x="3261360" y="1051560"/>
            <a:ext cx="2621280" cy="1280160"/>
          </a:xfrm>
          <a:prstGeom prst="roundRect">
            <a:avLst>
              <a:gd name="adj" fmla="val 5714"/>
            </a:avLst>
          </a:prstGeom>
          <a:solidFill>
            <a:schemeClr val="bg2"/>
          </a:solidFill>
          <a:ln/>
        </p:spPr>
      </p:sp>
      <p:sp>
        <p:nvSpPr>
          <p:cNvPr id="18" name="cerchio FiCornerDownRight"/>
          <p:cNvSpPr/>
          <p:nvPr/>
        </p:nvSpPr>
        <p:spPr>
          <a:xfrm>
            <a:off x="3425952" y="1216152"/>
            <a:ext cx="438912" cy="438912"/>
          </a:xfrm>
          <a:prstGeom prst="ellipse">
            <a:avLst/>
          </a:prstGeom>
          <a:solidFill>
            <a:schemeClr val="accent1"/>
          </a:solidFill>
          <a:ln/>
        </p:spPr>
      </p:sp>
      <p:pic>
        <p:nvPicPr>
          <p:cNvPr id="19" name="Image 1" descr="FiCornerDownRight">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Rimandi e allegati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Collegare parti lontane aumenta gli errori</a:t>
            </a:r>
            <a:endParaRPr lang="en-US" sz="1200" dirty="0"/>
          </a:p>
        </p:txBody>
      </p:sp>
      <p:sp>
        <p:nvSpPr>
          <p:cNvPr id="22" name="Tabelle e impaginazioni"/>
          <p:cNvSpPr/>
          <p:nvPr/>
        </p:nvSpPr>
        <p:spPr>
          <a:xfrm>
            <a:off x="6065520" y="1051560"/>
            <a:ext cx="2621280" cy="1280160"/>
          </a:xfrm>
          <a:prstGeom prst="roundRect">
            <a:avLst>
              <a:gd name="adj" fmla="val 5714"/>
            </a:avLst>
          </a:prstGeom>
          <a:solidFill>
            <a:schemeClr val="bg2"/>
          </a:solidFill>
          <a:ln/>
        </p:spPr>
      </p:sp>
      <p:sp>
        <p:nvSpPr>
          <p:cNvPr id="23" name="cerchio FiGrid"/>
          <p:cNvSpPr/>
          <p:nvPr/>
        </p:nvSpPr>
        <p:spPr>
          <a:xfrm>
            <a:off x="6230112" y="1216152"/>
            <a:ext cx="438912" cy="438912"/>
          </a:xfrm>
          <a:prstGeom prst="ellipse">
            <a:avLst/>
          </a:prstGeom>
          <a:solidFill>
            <a:schemeClr val="accent1"/>
          </a:solidFill>
          <a:ln/>
        </p:spPr>
      </p:sp>
      <p:pic>
        <p:nvPicPr>
          <p:cNvPr id="24" name="Image 2" descr="FiGrid">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Tabelle e impaginazioni</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Lette in modo incompleto o scorretto</a:t>
            </a:r>
            <a:endParaRPr lang="en-US" sz="1200" dirty="0"/>
          </a:p>
        </p:txBody>
      </p:sp>
      <p:sp>
        <p:nvSpPr>
          <p:cNvPr id="27" name="Linguaggio specialistico"/>
          <p:cNvSpPr/>
          <p:nvPr/>
        </p:nvSpPr>
        <p:spPr>
          <a:xfrm>
            <a:off x="457200" y="2514600"/>
            <a:ext cx="2621280" cy="1280160"/>
          </a:xfrm>
          <a:prstGeom prst="roundRect">
            <a:avLst>
              <a:gd name="adj" fmla="val 5714"/>
            </a:avLst>
          </a:prstGeom>
          <a:solidFill>
            <a:schemeClr val="bg2"/>
          </a:solidFill>
          <a:ln/>
        </p:spPr>
      </p:sp>
      <p:sp>
        <p:nvSpPr>
          <p:cNvPr id="28" name="cerchio FiCpu"/>
          <p:cNvSpPr/>
          <p:nvPr/>
        </p:nvSpPr>
        <p:spPr>
          <a:xfrm>
            <a:off x="621792" y="2679192"/>
            <a:ext cx="438912" cy="438912"/>
          </a:xfrm>
          <a:prstGeom prst="ellipse">
            <a:avLst/>
          </a:prstGeom>
          <a:solidFill>
            <a:schemeClr val="accent1"/>
          </a:solidFill>
          <a:ln/>
        </p:spPr>
      </p:sp>
      <p:pic>
        <p:nvPicPr>
          <p:cNvPr id="29" name="Image 3" descr="FiCpu">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Linguaggio specialistico</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Riassunto scorrevole, interpretazione errata</a:t>
            </a:r>
            <a:endParaRPr lang="en-US" sz="1200" dirty="0"/>
          </a:p>
        </p:txBody>
      </p:sp>
      <p:sp>
        <p:nvSpPr>
          <p:cNvPr id="32" name="Più documenti insieme"/>
          <p:cNvSpPr/>
          <p:nvPr/>
        </p:nvSpPr>
        <p:spPr>
          <a:xfrm>
            <a:off x="3261360" y="2514600"/>
            <a:ext cx="2621280" cy="1280160"/>
          </a:xfrm>
          <a:prstGeom prst="roundRect">
            <a:avLst>
              <a:gd name="adj" fmla="val 5714"/>
            </a:avLst>
          </a:prstGeom>
          <a:solidFill>
            <a:schemeClr val="bg2"/>
          </a:solidFill>
          <a:ln/>
        </p:spPr>
      </p:sp>
      <p:sp>
        <p:nvSpPr>
          <p:cNvPr id="33" name="cerchio FiFolder"/>
          <p:cNvSpPr/>
          <p:nvPr/>
        </p:nvSpPr>
        <p:spPr>
          <a:xfrm>
            <a:off x="3425952" y="2679192"/>
            <a:ext cx="438912" cy="438912"/>
          </a:xfrm>
          <a:prstGeom prst="ellipse">
            <a:avLst/>
          </a:prstGeom>
          <a:solidFill>
            <a:schemeClr val="accent1"/>
          </a:solidFill>
          <a:ln/>
        </p:spPr>
      </p:sp>
      <p:pic>
        <p:nvPicPr>
          <p:cNvPr id="34" name="Image 4" descr="FiFolder">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Più documenti insieme</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Informazioni attribuite al documento sbagliato</a:t>
            </a:r>
            <a:endParaRPr lang="en-US" sz="1200" dirty="0"/>
          </a:p>
        </p:txBody>
      </p:sp>
      <p:sp>
        <p:nvSpPr>
          <p:cNvPr id="37" name="Approfondimento"/>
          <p:cNvSpPr/>
          <p:nvPr/>
        </p:nvSpPr>
        <p:spPr>
          <a:xfrm>
            <a:off x="6065520" y="2514600"/>
            <a:ext cx="2621280" cy="1280160"/>
          </a:xfrm>
          <a:prstGeom prst="roundRect">
            <a:avLst>
              <a:gd name="adj" fmla="val 5714"/>
            </a:avLst>
          </a:prstGeom>
          <a:solidFill>
            <a:schemeClr val="bg2"/>
          </a:solidFill>
          <a:ln/>
        </p:spPr>
      </p:sp>
      <p:sp>
        <p:nvSpPr>
          <p:cNvPr id="38" name="cerchio FiArrowRight"/>
          <p:cNvSpPr/>
          <p:nvPr/>
        </p:nvSpPr>
        <p:spPr>
          <a:xfrm>
            <a:off x="6230112" y="2679192"/>
            <a:ext cx="438912" cy="438912"/>
          </a:xfrm>
          <a:prstGeom prst="ellipse">
            <a:avLst/>
          </a:prstGeom>
          <a:solidFill>
            <a:schemeClr val="accent1"/>
          </a:solidFill>
          <a:ln/>
        </p:spPr>
      </p:sp>
      <p:pic>
        <p:nvPicPr>
          <p:cNvPr id="39" name="Image 5" descr="FiArrowRight">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Approfondimento</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Nel sottotema 8.8</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La sintesi resta un primo orientamento: la lettura dei passaggi critici diventa indispensabile.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sintesi utile deve rappresentare fedelmente gli elementi essenziali e consentire controlli sui contenuti originali quando richiesto dall'utilizzo previsto.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8.3  ·  Sintesi e analisi documentale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Estrazione e strutturazione delle informazioni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dato estratto non è automaticamente un dato validato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Sintetizzare o estrarre?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Sintesi"/>
          <p:cNvSpPr/>
          <p:nvPr/>
        </p:nvSpPr>
        <p:spPr>
          <a:xfrm>
            <a:off x="457200" y="1097280"/>
            <a:ext cx="3977640" cy="2331720"/>
          </a:xfrm>
          <a:prstGeom prst="roundRect">
            <a:avLst>
              <a:gd name="adj" fmla="val 3137"/>
            </a:avLst>
          </a:prstGeom>
          <a:solidFill>
            <a:schemeClr val="bg2"/>
          </a:solidFill>
          <a:ln/>
        </p:spPr>
      </p:sp>
      <p:sp>
        <p:nvSpPr>
          <p:cNvPr id="13" name="cerchio FiAlignLeft"/>
          <p:cNvSpPr/>
          <p:nvPr/>
        </p:nvSpPr>
        <p:spPr>
          <a:xfrm>
            <a:off x="640080" y="1280160"/>
            <a:ext cx="457200" cy="457200"/>
          </a:xfrm>
          <a:prstGeom prst="ellipse">
            <a:avLst/>
          </a:prstGeom>
          <a:solidFill>
            <a:schemeClr val="accent1"/>
          </a:solidFill>
          <a:ln/>
        </p:spPr>
      </p:sp>
      <p:pic>
        <p:nvPicPr>
          <p:cNvPr id="14" name="Image 0" descr="FiAlignLeft">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Sintesi</a:t>
            </a:r>
            <a:endParaRPr lang="en-US" sz="1700" dirty="0"/>
          </a:p>
        </p:txBody>
      </p:sp>
      <p:sp>
        <p:nvSpPr>
          <p:cNvPr id="16" name="Text 12"/>
          <p:cNvSpPr txBox="1"/>
          <p:nvPr/>
        </p:nvSpPr>
        <p:spPr>
          <a:xfrm>
            <a:off x="64008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Un testo più breve che interpreta e seleziona</a:t>
            </a:r>
            <a:endParaRPr lang="en-US" sz="1300" dirty="0"/>
          </a:p>
          <a:p>
            <a:pPr marL="177800" indent="-177800">
              <a:spcAft>
                <a:spcPts val="400"/>
              </a:spcAft>
              <a:buSzPct val="100000"/>
              <a:buChar char="•"/>
            </a:pPr>
            <a:r>
              <a:rPr lang="en-US" sz="1300" dirty="0">
                <a:solidFill>
                  <a:schemeClr val="tx2"/>
                </a:solidFill>
              </a:rPr>
              <a:t>Il risultato si legge</a:t>
            </a:r>
            <a:endParaRPr lang="en-US" sz="1300" dirty="0"/>
          </a:p>
          <a:p>
            <a:pPr marL="177800" indent="-177800">
              <a:spcAft>
                <a:spcPts val="400"/>
              </a:spcAft>
              <a:buSzPct val="100000"/>
              <a:buChar char="•"/>
            </a:pPr>
            <a:r>
              <a:rPr lang="en-US" sz="1300" dirty="0">
                <a:solidFill>
                  <a:schemeClr val="tx2"/>
                </a:solidFill>
              </a:rPr>
              <a:t>Rischio: perdita di significato</a:t>
            </a:r>
            <a:endParaRPr lang="en-US" sz="1300" dirty="0"/>
          </a:p>
          <a:p>
            <a:pPr marL="177800" indent="-177800">
              <a:spcAft>
                <a:spcPts val="400"/>
              </a:spcAft>
              <a:buSzPct val="100000"/>
              <a:buChar char="•"/>
            </a:pPr>
            <a:r>
              <a:rPr lang="en-US" sz="1300" dirty="0">
                <a:solidFill>
                  <a:schemeClr val="tx2"/>
                </a:solidFill>
              </a:rPr>
              <a:t>Controllo: fedeltà complessiva</a:t>
            </a:r>
            <a:endParaRPr lang="en-US" sz="1300" dirty="0"/>
          </a:p>
        </p:txBody>
      </p:sp>
      <p:sp>
        <p:nvSpPr>
          <p:cNvPr id="17" name="scheda Estrazione"/>
          <p:cNvSpPr/>
          <p:nvPr/>
        </p:nvSpPr>
        <p:spPr>
          <a:xfrm>
            <a:off x="4709160" y="1097280"/>
            <a:ext cx="3977640" cy="2331720"/>
          </a:xfrm>
          <a:prstGeom prst="roundRect">
            <a:avLst>
              <a:gd name="adj" fmla="val 3137"/>
            </a:avLst>
          </a:prstGeom>
          <a:solidFill>
            <a:schemeClr val="accent6"/>
          </a:solidFill>
          <a:ln/>
        </p:spPr>
      </p:sp>
      <p:sp>
        <p:nvSpPr>
          <p:cNvPr id="18" name="cerchio FiGrid"/>
          <p:cNvSpPr/>
          <p:nvPr/>
        </p:nvSpPr>
        <p:spPr>
          <a:xfrm>
            <a:off x="4892040" y="1280160"/>
            <a:ext cx="457200" cy="457200"/>
          </a:xfrm>
          <a:prstGeom prst="ellipse">
            <a:avLst/>
          </a:prstGeom>
          <a:solidFill>
            <a:schemeClr val="accent1"/>
          </a:solidFill>
          <a:ln/>
        </p:spPr>
      </p:sp>
      <p:pic>
        <p:nvPicPr>
          <p:cNvPr id="19" name="Image 1" descr="FiGrid">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Estrazione</a:t>
            </a:r>
            <a:endParaRPr lang="en-US" sz="1700" dirty="0"/>
          </a:p>
        </p:txBody>
      </p:sp>
      <p:sp>
        <p:nvSpPr>
          <p:cNvPr id="21" name="Text 16"/>
          <p:cNvSpPr txBox="1"/>
          <p:nvPr/>
        </p:nvSpPr>
        <p:spPr>
          <a:xfrm>
            <a:off x="489204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Dati puntuali in campi definiti</a:t>
            </a:r>
            <a:endParaRPr lang="en-US" sz="1300" dirty="0"/>
          </a:p>
          <a:p>
            <a:pPr marL="177800" indent="-177800">
              <a:spcAft>
                <a:spcPts val="400"/>
              </a:spcAft>
              <a:buSzPct val="100000"/>
              <a:buChar char="•"/>
            </a:pPr>
            <a:r>
              <a:rPr lang="en-US" sz="1300" dirty="0">
                <a:solidFill>
                  <a:schemeClr val="tx2"/>
                </a:solidFill>
              </a:rPr>
              <a:t>Il risultato si usa in attività successive</a:t>
            </a:r>
            <a:endParaRPr lang="en-US" sz="1300" dirty="0"/>
          </a:p>
          <a:p>
            <a:pPr marL="177800" indent="-177800">
              <a:spcAft>
                <a:spcPts val="400"/>
              </a:spcAft>
              <a:buSzPct val="100000"/>
              <a:buChar char="•"/>
            </a:pPr>
            <a:r>
              <a:rPr lang="en-US" sz="1300" dirty="0">
                <a:solidFill>
                  <a:schemeClr val="tx2"/>
                </a:solidFill>
              </a:rPr>
              <a:t>Rischio: valore errato, mancante, inventato</a:t>
            </a:r>
            <a:endParaRPr lang="en-US" sz="1300" dirty="0"/>
          </a:p>
          <a:p>
            <a:pPr marL="177800" indent="-177800">
              <a:spcAft>
                <a:spcPts val="400"/>
              </a:spcAft>
              <a:buSzPct val="100000"/>
              <a:buChar char="•"/>
            </a:pPr>
            <a:r>
              <a:rPr lang="en-US" sz="1300" dirty="0">
                <a:solidFill>
                  <a:schemeClr val="tx2"/>
                </a:solidFill>
              </a:rPr>
              <a:t>Controllo: accuratezza campo per campo</a:t>
            </a:r>
            <a:endParaRPr lang="en-US" sz="1300" dirty="0"/>
          </a:p>
        </p:txBody>
      </p:sp>
      <p:sp>
        <p:nvSpPr>
          <p:cNvPr id="22" name="messaggio"/>
          <p:cNvSpPr/>
          <p:nvPr/>
        </p:nvSpPr>
        <p:spPr>
          <a:xfrm>
            <a:off x="457200" y="3611880"/>
            <a:ext cx="8229600" cy="822960"/>
          </a:xfrm>
          <a:prstGeom prst="roundRect">
            <a:avLst>
              <a:gd name="adj" fmla="val 8889"/>
            </a:avLst>
          </a:prstGeom>
          <a:solidFill>
            <a:schemeClr val="tx1"/>
          </a:solidFill>
          <a:ln/>
        </p:spPr>
      </p:sp>
      <p:sp>
        <p:nvSpPr>
          <p:cNvPr id="23" name="Text 18"/>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Un importo sbagliato entra in un foglio di calcolo, e da lì in decisioni e processi, spesso senza che nessuno torni al documento.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estrarre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Nomi e identificativi"/>
          <p:cNvSpPr/>
          <p:nvPr/>
        </p:nvSpPr>
        <p:spPr>
          <a:xfrm>
            <a:off x="457200" y="1051560"/>
            <a:ext cx="2621280" cy="1257300"/>
          </a:xfrm>
          <a:prstGeom prst="roundRect">
            <a:avLst>
              <a:gd name="adj" fmla="val 5818"/>
            </a:avLst>
          </a:prstGeom>
          <a:solidFill>
            <a:schemeClr val="bg2"/>
          </a:solidFill>
          <a:ln/>
        </p:spPr>
      </p:sp>
      <p:sp>
        <p:nvSpPr>
          <p:cNvPr id="13" name="cerchio FiUser"/>
          <p:cNvSpPr/>
          <p:nvPr/>
        </p:nvSpPr>
        <p:spPr>
          <a:xfrm>
            <a:off x="621792" y="1216152"/>
            <a:ext cx="438912" cy="438912"/>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Nomi e identificativi</a:t>
            </a:r>
            <a:endParaRPr lang="en-US" sz="1300" dirty="0"/>
          </a:p>
        </p:txBody>
      </p:sp>
      <p:sp>
        <p:nvSpPr>
          <p:cNvPr id="16" name="Text 12"/>
          <p:cNvSpPr txBox="1"/>
          <p:nvPr/>
        </p:nvSpPr>
        <p:spPr>
          <a:xfrm>
            <a:off x="621792" y="1764792"/>
            <a:ext cx="2292096" cy="452628"/>
          </a:xfrm>
          <a:prstGeom prst="rect">
            <a:avLst/>
          </a:prstGeom>
          <a:noFill/>
          <a:ln/>
        </p:spPr>
        <p:txBody>
          <a:bodyPr wrap="square" lIns="0" tIns="0" rIns="0" bIns="0" rtlCol="0" anchor="t"/>
          <a:lstStyle/>
          <a:p>
            <a:pPr indent="0" marL="0">
              <a:buNone/>
            </a:pPr>
            <a:r>
              <a:rPr lang="en-US" sz="1200" dirty="0">
                <a:solidFill>
                  <a:schemeClr val="tx2"/>
                </a:solidFill>
              </a:rPr>
              <a:t>Persone, aziende, ruoli, codici</a:t>
            </a:r>
            <a:endParaRPr lang="en-US" sz="1200" dirty="0"/>
          </a:p>
        </p:txBody>
      </p:sp>
      <p:sp>
        <p:nvSpPr>
          <p:cNvPr id="17" name="Date e scadenze"/>
          <p:cNvSpPr/>
          <p:nvPr/>
        </p:nvSpPr>
        <p:spPr>
          <a:xfrm>
            <a:off x="3261360" y="1051560"/>
            <a:ext cx="2621280" cy="1257300"/>
          </a:xfrm>
          <a:prstGeom prst="roundRect">
            <a:avLst>
              <a:gd name="adj" fmla="val 5818"/>
            </a:avLst>
          </a:prstGeom>
          <a:solidFill>
            <a:schemeClr val="bg2"/>
          </a:solidFill>
          <a:ln/>
        </p:spPr>
      </p:sp>
      <p:sp>
        <p:nvSpPr>
          <p:cNvPr id="18" name="cerchio FiCalendar"/>
          <p:cNvSpPr/>
          <p:nvPr/>
        </p:nvSpPr>
        <p:spPr>
          <a:xfrm>
            <a:off x="3425952" y="1216152"/>
            <a:ext cx="438912" cy="438912"/>
          </a:xfrm>
          <a:prstGeom prst="ellipse">
            <a:avLst/>
          </a:prstGeom>
          <a:solidFill>
            <a:schemeClr val="accent1"/>
          </a:solidFill>
          <a:ln/>
        </p:spPr>
      </p:sp>
      <p:pic>
        <p:nvPicPr>
          <p:cNvPr id="19" name="Image 1" descr="FiCalendar">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Date e scadenze</a:t>
            </a:r>
            <a:endParaRPr lang="en-US" sz="1300" dirty="0"/>
          </a:p>
        </p:txBody>
      </p:sp>
      <p:sp>
        <p:nvSpPr>
          <p:cNvPr id="21" name="Text 16"/>
          <p:cNvSpPr txBox="1"/>
          <p:nvPr/>
        </p:nvSpPr>
        <p:spPr>
          <a:xfrm>
            <a:off x="3425952" y="1764792"/>
            <a:ext cx="2292096" cy="452628"/>
          </a:xfrm>
          <a:prstGeom prst="rect">
            <a:avLst/>
          </a:prstGeom>
          <a:noFill/>
          <a:ln/>
        </p:spPr>
        <p:txBody>
          <a:bodyPr wrap="square" lIns="0" tIns="0" rIns="0" bIns="0" rtlCol="0" anchor="t"/>
          <a:lstStyle/>
          <a:p>
            <a:pPr indent="0" marL="0">
              <a:buNone/>
            </a:pPr>
            <a:r>
              <a:rPr lang="en-US" sz="1200" dirty="0">
                <a:solidFill>
                  <a:schemeClr val="tx2"/>
                </a:solidFill>
              </a:rPr>
              <a:t>Decorrenze, termini, rinnovi</a:t>
            </a:r>
            <a:endParaRPr lang="en-US" sz="1200" dirty="0"/>
          </a:p>
        </p:txBody>
      </p:sp>
      <p:sp>
        <p:nvSpPr>
          <p:cNvPr id="22" name="Importi e quantità"/>
          <p:cNvSpPr/>
          <p:nvPr/>
        </p:nvSpPr>
        <p:spPr>
          <a:xfrm>
            <a:off x="6065520" y="1051560"/>
            <a:ext cx="2621280" cy="1257300"/>
          </a:xfrm>
          <a:prstGeom prst="roundRect">
            <a:avLst>
              <a:gd name="adj" fmla="val 5818"/>
            </a:avLst>
          </a:prstGeom>
          <a:solidFill>
            <a:schemeClr val="bg2"/>
          </a:solidFill>
          <a:ln/>
        </p:spPr>
      </p:sp>
      <p:sp>
        <p:nvSpPr>
          <p:cNvPr id="23" name="cerchio FiDollarSign"/>
          <p:cNvSpPr/>
          <p:nvPr/>
        </p:nvSpPr>
        <p:spPr>
          <a:xfrm>
            <a:off x="6230112" y="1216152"/>
            <a:ext cx="438912" cy="438912"/>
          </a:xfrm>
          <a:prstGeom prst="ellipse">
            <a:avLst/>
          </a:prstGeom>
          <a:solidFill>
            <a:schemeClr val="accent1"/>
          </a:solidFill>
          <a:ln/>
        </p:spPr>
      </p:sp>
      <p:pic>
        <p:nvPicPr>
          <p:cNvPr id="24" name="Image 2" descr="FiDollarSign">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Importi e quantità</a:t>
            </a:r>
            <a:endParaRPr lang="en-US" sz="1300" dirty="0"/>
          </a:p>
        </p:txBody>
      </p:sp>
      <p:sp>
        <p:nvSpPr>
          <p:cNvPr id="26" name="Text 20"/>
          <p:cNvSpPr txBox="1"/>
          <p:nvPr/>
        </p:nvSpPr>
        <p:spPr>
          <a:xfrm>
            <a:off x="6230112" y="1764792"/>
            <a:ext cx="2292096" cy="452628"/>
          </a:xfrm>
          <a:prstGeom prst="rect">
            <a:avLst/>
          </a:prstGeom>
          <a:noFill/>
          <a:ln/>
        </p:spPr>
        <p:txBody>
          <a:bodyPr wrap="square" lIns="0" tIns="0" rIns="0" bIns="0" rtlCol="0" anchor="t"/>
          <a:lstStyle/>
          <a:p>
            <a:pPr indent="0" marL="0">
              <a:buNone/>
            </a:pPr>
            <a:r>
              <a:rPr lang="en-US" sz="1200" dirty="0">
                <a:solidFill>
                  <a:schemeClr val="tx2"/>
                </a:solidFill>
              </a:rPr>
              <a:t>Prezzi, totali, sconti, penali</a:t>
            </a:r>
            <a:endParaRPr lang="en-US" sz="1200" dirty="0"/>
          </a:p>
        </p:txBody>
      </p:sp>
      <p:sp>
        <p:nvSpPr>
          <p:cNvPr id="27" name="Riferimenti"/>
          <p:cNvSpPr/>
          <p:nvPr/>
        </p:nvSpPr>
        <p:spPr>
          <a:xfrm>
            <a:off x="457200" y="2491740"/>
            <a:ext cx="2621280" cy="1257300"/>
          </a:xfrm>
          <a:prstGeom prst="roundRect">
            <a:avLst>
              <a:gd name="adj" fmla="val 5818"/>
            </a:avLst>
          </a:prstGeom>
          <a:solidFill>
            <a:schemeClr val="bg2"/>
          </a:solidFill>
          <a:ln/>
        </p:spPr>
      </p:sp>
      <p:sp>
        <p:nvSpPr>
          <p:cNvPr id="28" name="cerchio FiHash"/>
          <p:cNvSpPr/>
          <p:nvPr/>
        </p:nvSpPr>
        <p:spPr>
          <a:xfrm>
            <a:off x="621792" y="2656332"/>
            <a:ext cx="438912" cy="438912"/>
          </a:xfrm>
          <a:prstGeom prst="ellipse">
            <a:avLst/>
          </a:prstGeom>
          <a:solidFill>
            <a:schemeClr val="accent1"/>
          </a:solidFill>
          <a:ln/>
        </p:spPr>
      </p:sp>
      <p:pic>
        <p:nvPicPr>
          <p:cNvPr id="29" name="Image 3" descr="FiHash">    </p:cNvPr>
          <p:cNvPicPr>
            <a:picLocks noChangeAspect="1"/>
          </p:cNvPicPr>
          <p:nvPr/>
        </p:nvPicPr>
        <p:blipFill>
          <a:blip r:embed="rId4"/>
          <a:stretch>
            <a:fillRect/>
          </a:stretch>
        </p:blipFill>
        <p:spPr>
          <a:xfrm>
            <a:off x="731520" y="2766060"/>
            <a:ext cx="219456" cy="219456"/>
          </a:xfrm>
          <a:prstGeom prst="rect">
            <a:avLst/>
          </a:prstGeom>
        </p:spPr>
      </p:pic>
      <p:sp>
        <p:nvSpPr>
          <p:cNvPr id="30" name="Text 23"/>
          <p:cNvSpPr txBox="1"/>
          <p:nvPr/>
        </p:nvSpPr>
        <p:spPr>
          <a:xfrm>
            <a:off x="1170432" y="26197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Riferimenti</a:t>
            </a:r>
            <a:endParaRPr lang="en-US" sz="1300" dirty="0"/>
          </a:p>
        </p:txBody>
      </p:sp>
      <p:sp>
        <p:nvSpPr>
          <p:cNvPr id="31" name="Text 24"/>
          <p:cNvSpPr txBox="1"/>
          <p:nvPr/>
        </p:nvSpPr>
        <p:spPr>
          <a:xfrm>
            <a:off x="621792" y="3204972"/>
            <a:ext cx="2292096" cy="452628"/>
          </a:xfrm>
          <a:prstGeom prst="rect">
            <a:avLst/>
          </a:prstGeom>
          <a:noFill/>
          <a:ln/>
        </p:spPr>
        <p:txBody>
          <a:bodyPr wrap="square" lIns="0" tIns="0" rIns="0" bIns="0" rtlCol="0" anchor="t"/>
          <a:lstStyle/>
          <a:p>
            <a:pPr indent="0" marL="0">
              <a:buNone/>
            </a:pPr>
            <a:r>
              <a:rPr lang="en-US" sz="1200" dirty="0">
                <a:solidFill>
                  <a:schemeClr val="tx2"/>
                </a:solidFill>
              </a:rPr>
              <a:t>Ordini, contratti, pratiche, norme</a:t>
            </a:r>
            <a:endParaRPr lang="en-US" sz="1200" dirty="0"/>
          </a:p>
        </p:txBody>
      </p:sp>
      <p:sp>
        <p:nvSpPr>
          <p:cNvPr id="32" name="Classificazioni"/>
          <p:cNvSpPr/>
          <p:nvPr/>
        </p:nvSpPr>
        <p:spPr>
          <a:xfrm>
            <a:off x="3261360" y="2491740"/>
            <a:ext cx="2621280" cy="1257300"/>
          </a:xfrm>
          <a:prstGeom prst="roundRect">
            <a:avLst>
              <a:gd name="adj" fmla="val 5818"/>
            </a:avLst>
          </a:prstGeom>
          <a:solidFill>
            <a:schemeClr val="accent6"/>
          </a:solidFill>
          <a:ln/>
        </p:spPr>
      </p:sp>
      <p:sp>
        <p:nvSpPr>
          <p:cNvPr id="33" name="cerchio FiTag"/>
          <p:cNvSpPr/>
          <p:nvPr/>
        </p:nvSpPr>
        <p:spPr>
          <a:xfrm>
            <a:off x="3425952" y="2656332"/>
            <a:ext cx="438912" cy="438912"/>
          </a:xfrm>
          <a:prstGeom prst="ellipse">
            <a:avLst/>
          </a:prstGeom>
          <a:solidFill>
            <a:schemeClr val="accent1"/>
          </a:solidFill>
          <a:ln/>
        </p:spPr>
      </p:sp>
      <p:pic>
        <p:nvPicPr>
          <p:cNvPr id="34" name="Image 4" descr="FiTag">    </p:cNvPr>
          <p:cNvPicPr>
            <a:picLocks noChangeAspect="1"/>
          </p:cNvPicPr>
          <p:nvPr/>
        </p:nvPicPr>
        <p:blipFill>
          <a:blip r:embed="rId5"/>
          <a:stretch>
            <a:fillRect/>
          </a:stretch>
        </p:blipFill>
        <p:spPr>
          <a:xfrm>
            <a:off x="3535680" y="2766060"/>
            <a:ext cx="219456" cy="219456"/>
          </a:xfrm>
          <a:prstGeom prst="rect">
            <a:avLst/>
          </a:prstGeom>
        </p:spPr>
      </p:pic>
      <p:sp>
        <p:nvSpPr>
          <p:cNvPr id="35" name="Text 27"/>
          <p:cNvSpPr txBox="1"/>
          <p:nvPr/>
        </p:nvSpPr>
        <p:spPr>
          <a:xfrm>
            <a:off x="3974592" y="26197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Classificazioni</a:t>
            </a:r>
            <a:endParaRPr lang="en-US" sz="1300" dirty="0"/>
          </a:p>
        </p:txBody>
      </p:sp>
      <p:sp>
        <p:nvSpPr>
          <p:cNvPr id="36" name="Text 28"/>
          <p:cNvSpPr txBox="1"/>
          <p:nvPr/>
        </p:nvSpPr>
        <p:spPr>
          <a:xfrm>
            <a:off x="3425952" y="3204972"/>
            <a:ext cx="2292096" cy="452628"/>
          </a:xfrm>
          <a:prstGeom prst="rect">
            <a:avLst/>
          </a:prstGeom>
          <a:noFill/>
          <a:ln/>
        </p:spPr>
        <p:txBody>
          <a:bodyPr wrap="square" lIns="0" tIns="0" rIns="0" bIns="0" rtlCol="0" anchor="t"/>
          <a:lstStyle/>
          <a:p>
            <a:pPr indent="0" marL="0">
              <a:buNone/>
            </a:pPr>
            <a:r>
              <a:rPr lang="en-US" sz="1200" dirty="0">
                <a:solidFill>
                  <a:schemeClr val="tx2"/>
                </a:solidFill>
              </a:rPr>
              <a:t>Tipo di richiesta, argomento, urgenza</a:t>
            </a:r>
            <a:endParaRPr lang="en-US" sz="1200" dirty="0"/>
          </a:p>
        </p:txBody>
      </p:sp>
      <p:sp>
        <p:nvSpPr>
          <p:cNvPr id="37" name="Elementi ricorrenti"/>
          <p:cNvSpPr/>
          <p:nvPr/>
        </p:nvSpPr>
        <p:spPr>
          <a:xfrm>
            <a:off x="6065520" y="2491740"/>
            <a:ext cx="2621280" cy="1257300"/>
          </a:xfrm>
          <a:prstGeom prst="roundRect">
            <a:avLst>
              <a:gd name="adj" fmla="val 5818"/>
            </a:avLst>
          </a:prstGeom>
          <a:solidFill>
            <a:schemeClr val="accent6"/>
          </a:solidFill>
          <a:ln/>
        </p:spPr>
      </p:sp>
      <p:sp>
        <p:nvSpPr>
          <p:cNvPr id="38" name="cerchio FiBarChart2"/>
          <p:cNvSpPr/>
          <p:nvPr/>
        </p:nvSpPr>
        <p:spPr>
          <a:xfrm>
            <a:off x="6230112" y="2656332"/>
            <a:ext cx="438912" cy="438912"/>
          </a:xfrm>
          <a:prstGeom prst="ellipse">
            <a:avLst/>
          </a:prstGeom>
          <a:solidFill>
            <a:schemeClr val="accent1"/>
          </a:solidFill>
          <a:ln/>
        </p:spPr>
      </p:sp>
      <p:pic>
        <p:nvPicPr>
          <p:cNvPr id="39" name="Image 5" descr="FiBarChart2">    </p:cNvPr>
          <p:cNvPicPr>
            <a:picLocks noChangeAspect="1"/>
          </p:cNvPicPr>
          <p:nvPr/>
        </p:nvPicPr>
        <p:blipFill>
          <a:blip r:embed="rId6"/>
          <a:stretch>
            <a:fillRect/>
          </a:stretch>
        </p:blipFill>
        <p:spPr>
          <a:xfrm>
            <a:off x="6339840" y="2766060"/>
            <a:ext cx="219456" cy="219456"/>
          </a:xfrm>
          <a:prstGeom prst="rect">
            <a:avLst/>
          </a:prstGeom>
        </p:spPr>
      </p:pic>
      <p:sp>
        <p:nvSpPr>
          <p:cNvPr id="40" name="Text 31"/>
          <p:cNvSpPr txBox="1"/>
          <p:nvPr/>
        </p:nvSpPr>
        <p:spPr>
          <a:xfrm>
            <a:off x="6778752" y="26197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Elementi ricorrenti</a:t>
            </a:r>
            <a:endParaRPr lang="en-US" sz="1300" dirty="0"/>
          </a:p>
        </p:txBody>
      </p:sp>
      <p:sp>
        <p:nvSpPr>
          <p:cNvPr id="41" name="Text 32"/>
          <p:cNvSpPr txBox="1"/>
          <p:nvPr/>
        </p:nvSpPr>
        <p:spPr>
          <a:xfrm>
            <a:off x="6230112" y="3204972"/>
            <a:ext cx="2292096" cy="452628"/>
          </a:xfrm>
          <a:prstGeom prst="rect">
            <a:avLst/>
          </a:prstGeom>
          <a:noFill/>
          <a:ln/>
        </p:spPr>
        <p:txBody>
          <a:bodyPr wrap="square" lIns="0" tIns="0" rIns="0" bIns="0" rtlCol="0" anchor="t"/>
          <a:lstStyle/>
          <a:p>
            <a:pPr indent="0" marL="0">
              <a:buNone/>
            </a:pPr>
            <a:r>
              <a:rPr lang="en-US" sz="1200" dirty="0">
                <a:solidFill>
                  <a:schemeClr val="tx2"/>
                </a:solidFill>
              </a:rPr>
              <a:t>Motivi frequenti, clausole presenti o assenti</a:t>
            </a:r>
            <a:endParaRPr lang="en-US" sz="1200" dirty="0"/>
          </a:p>
        </p:txBody>
      </p:sp>
      <p:sp>
        <p:nvSpPr>
          <p:cNvPr id="42" name="blocco Informazioni esplicite nel testo: estrazione più affidabile"/>
          <p:cNvSpPr/>
          <p:nvPr/>
        </p:nvSpPr>
        <p:spPr>
          <a:xfrm>
            <a:off x="457200" y="3931920"/>
            <a:ext cx="5440680" cy="548640"/>
          </a:xfrm>
          <a:prstGeom prst="roundRect">
            <a:avLst>
              <a:gd name="adj" fmla="val 20000"/>
            </a:avLst>
          </a:prstGeom>
          <a:solidFill>
            <a:schemeClr val="bg2"/>
          </a:solidFill>
          <a:ln/>
        </p:spPr>
      </p:sp>
      <p:sp>
        <p:nvSpPr>
          <p:cNvPr id="43" name="Text 34"/>
          <p:cNvSpPr txBox="1"/>
          <p:nvPr/>
        </p:nvSpPr>
        <p:spPr>
          <a:xfrm>
            <a:off x="502920" y="3931920"/>
            <a:ext cx="5349240" cy="548640"/>
          </a:xfrm>
          <a:prstGeom prst="rect">
            <a:avLst/>
          </a:prstGeom>
          <a:noFill/>
          <a:ln/>
        </p:spPr>
        <p:txBody>
          <a:bodyPr wrap="square" lIns="0" tIns="0" rIns="0" bIns="0" rtlCol="0" anchor="ctr"/>
          <a:lstStyle/>
          <a:p>
            <a:pPr algn="ctr" indent="0" marL="0">
              <a:buNone/>
            </a:pPr>
            <a:r>
              <a:rPr lang="en-US" sz="1200" b="1" dirty="0">
                <a:solidFill>
                  <a:schemeClr val="tx1"/>
                </a:solidFill>
              </a:rPr>
              <a:t>Informazioni esplicite nel testo: estrazione più affidabile</a:t>
            </a:r>
            <a:endParaRPr lang="en-US" sz="1200" dirty="0"/>
          </a:p>
        </p:txBody>
      </p:sp>
      <p:sp>
        <p:nvSpPr>
          <p:cNvPr id="44" name="blocco Richiedono interpretazione"/>
          <p:cNvSpPr/>
          <p:nvPr/>
        </p:nvSpPr>
        <p:spPr>
          <a:xfrm>
            <a:off x="6035040" y="3931920"/>
            <a:ext cx="2651760" cy="548640"/>
          </a:xfrm>
          <a:prstGeom prst="roundRect">
            <a:avLst>
              <a:gd name="adj" fmla="val 20000"/>
            </a:avLst>
          </a:prstGeom>
          <a:solidFill>
            <a:schemeClr val="accent6"/>
          </a:solidFill>
          <a:ln/>
        </p:spPr>
      </p:sp>
      <p:sp>
        <p:nvSpPr>
          <p:cNvPr id="45" name="Text 36"/>
          <p:cNvSpPr txBox="1"/>
          <p:nvPr/>
        </p:nvSpPr>
        <p:spPr>
          <a:xfrm>
            <a:off x="6080760" y="39319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Richiedono interpretazione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non strutturato al dato utilizzabile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Email del cliente (esempio fittizio)"/>
          <p:cNvSpPr/>
          <p:nvPr/>
        </p:nvSpPr>
        <p:spPr>
          <a:xfrm>
            <a:off x="457200" y="1051560"/>
            <a:ext cx="3749040" cy="2606040"/>
          </a:xfrm>
          <a:prstGeom prst="roundRect">
            <a:avLst>
              <a:gd name="adj" fmla="val 2807"/>
            </a:avLst>
          </a:prstGeom>
          <a:solidFill>
            <a:schemeClr val="bg2"/>
          </a:solidFill>
          <a:ln/>
        </p:spPr>
      </p:sp>
      <p:sp>
        <p:nvSpPr>
          <p:cNvPr id="13" name="barra"/>
          <p:cNvSpPr/>
          <p:nvPr/>
        </p:nvSpPr>
        <p:spPr>
          <a:xfrm>
            <a:off x="457200" y="1161288"/>
            <a:ext cx="54864" cy="2386584"/>
          </a:xfrm>
          <a:prstGeom prst="rect">
            <a:avLst/>
          </a:prstGeom>
          <a:solidFill>
            <a:schemeClr val="accent1"/>
          </a:solidFill>
          <a:ln/>
        </p:spPr>
      </p:sp>
      <p:sp>
        <p:nvSpPr>
          <p:cNvPr id="14" name="Text 11"/>
          <p:cNvSpPr txBox="1"/>
          <p:nvPr/>
        </p:nvSpPr>
        <p:spPr>
          <a:xfrm>
            <a:off x="658368" y="1143000"/>
            <a:ext cx="3383280" cy="256032"/>
          </a:xfrm>
          <a:prstGeom prst="rect">
            <a:avLst/>
          </a:prstGeom>
          <a:noFill/>
          <a:ln/>
        </p:spPr>
        <p:txBody>
          <a:bodyPr wrap="square" lIns="0" tIns="0" rIns="0" bIns="0" rtlCol="0" anchor="t"/>
          <a:lstStyle/>
          <a:p>
            <a:pPr indent="0" marL="0">
              <a:buNone/>
            </a:pPr>
            <a:r>
              <a:rPr lang="en-US" sz="1100" b="1" dirty="0">
                <a:solidFill>
                  <a:schemeClr val="accent1"/>
                </a:solidFill>
              </a:rPr>
              <a:t>Email del cliente (esempio fittizio)</a:t>
            </a:r>
            <a:endParaRPr lang="en-US" sz="1100" dirty="0"/>
          </a:p>
        </p:txBody>
      </p:sp>
      <p:sp>
        <p:nvSpPr>
          <p:cNvPr id="15" name="Text 12"/>
          <p:cNvSpPr txBox="1"/>
          <p:nvPr/>
        </p:nvSpPr>
        <p:spPr>
          <a:xfrm>
            <a:off x="658368" y="1435608"/>
            <a:ext cx="3383280" cy="2130552"/>
          </a:xfrm>
          <a:prstGeom prst="rect">
            <a:avLst/>
          </a:prstGeom>
          <a:noFill/>
          <a:ln/>
        </p:spPr>
        <p:txBody>
          <a:bodyPr wrap="square" lIns="0" tIns="0" rIns="0" bIns="0" rtlCol="0" anchor="t"/>
          <a:lstStyle/>
          <a:p>
            <a:pPr indent="0" marL="0">
              <a:buNone/>
            </a:pPr>
            <a:r>
              <a:rPr lang="en-US" sz="1200" dirty="0">
                <a:solidFill>
                  <a:schemeClr val="tx1"/>
                </a:solidFill>
              </a:rPr>
              <a:t>Buongiorno, vi scrivo per l'ordine 4471 del 12 marzo. Le sedie modello Alfa sono arrivate, ma due su dieci hanno la seduta danneggiata. Avremmo bisogno della sostituzione entro fine mese, perché abbiamo un evento. Grazie, M. Rossi, Studio Bianchi</a:t>
            </a:r>
            <a:endParaRPr lang="en-US" sz="1200" dirty="0"/>
          </a:p>
        </p:txBody>
      </p:sp>
      <p:sp>
        <p:nvSpPr>
          <p:cNvPr id="16" name="freccia"/>
          <p:cNvSpPr/>
          <p:nvPr/>
        </p:nvSpPr>
        <p:spPr>
          <a:xfrm>
            <a:off x="4297680" y="2194560"/>
            <a:ext cx="365760" cy="292608"/>
          </a:xfrm>
          <a:prstGeom prst="rightArrow">
            <a:avLst/>
          </a:prstGeom>
          <a:solidFill>
            <a:schemeClr val="accent2"/>
          </a:solidFill>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754880" y="1051560"/>
          <a:ext cx="3931920" cy="914400"/>
        </p:xfrm>
        <a:graphic>
          <a:graphicData uri="http://schemas.openxmlformats.org/drawingml/2006/table">
            <a:tbl>
              <a:tblPr/>
              <a:tblGrid>
                <a:gridCol w="1463040"/>
                <a:gridCol w="2468880"/>
              </a:tblGrid>
              <a:tr h="365760">
                <a:tc>
                  <a:txBody>
                    <a:bodyPr/>
                    <a:lstStyle/>
                    <a:p>
                      <a:pPr indent="0" marL="0">
                        <a:buNone/>
                      </a:pPr>
                      <a:r>
                        <a:rPr lang="en-US" sz="1200" b="1" dirty="0">
                          <a:solidFill>
                            <a:schemeClr val="bg1"/>
                          </a:solidFill>
                        </a:rPr>
                        <a:t>Campo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en-US" sz="1200" b="1" dirty="0">
                          <a:solidFill>
                            <a:schemeClr val="tx1"/>
                          </a:solidFill>
                        </a:rPr>
                        <a:t>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Studio Bianchi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Ordine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4471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Tipo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Sostituzione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Prodotto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Sedia Alfa, 2 pezzi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Scadenza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Fine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Urgenza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8" name="messaggio"/>
          <p:cNvSpPr/>
          <p:nvPr/>
        </p:nvSpPr>
        <p:spPr>
          <a:xfrm>
            <a:off x="457200" y="3840480"/>
            <a:ext cx="8229600" cy="685800"/>
          </a:xfrm>
          <a:prstGeom prst="roundRect">
            <a:avLst>
              <a:gd name="adj" fmla="val 10667"/>
            </a:avLst>
          </a:prstGeom>
          <a:solidFill>
            <a:schemeClr val="tx1"/>
          </a:solidFill>
          <a:ln/>
        </p:spPr>
      </p:sp>
      <p:sp>
        <p:nvSpPr>
          <p:cNvPr id="19" name="Text 15"/>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Da informazione leggibile a dato utilizzabile: ordinare, filtrare, contare, collegare. Purché l'estrazione sia controllata prima dell'uso.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Classificare e trovare ricorrenze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Classificare"/>
          <p:cNvSpPr/>
          <p:nvPr/>
        </p:nvSpPr>
        <p:spPr>
          <a:xfrm>
            <a:off x="457200" y="1097280"/>
            <a:ext cx="3977640" cy="1600200"/>
          </a:xfrm>
          <a:prstGeom prst="roundRect">
            <a:avLst>
              <a:gd name="adj" fmla="val 4571"/>
            </a:avLst>
          </a:prstGeom>
          <a:solidFill>
            <a:schemeClr val="bg2"/>
          </a:solidFill>
          <a:ln/>
        </p:spPr>
      </p:sp>
      <p:sp>
        <p:nvSpPr>
          <p:cNvPr id="13" name="cerchio FiTag"/>
          <p:cNvSpPr/>
          <p:nvPr/>
        </p:nvSpPr>
        <p:spPr>
          <a:xfrm>
            <a:off x="640080" y="1280160"/>
            <a:ext cx="457200" cy="457200"/>
          </a:xfrm>
          <a:prstGeom prst="ellipse">
            <a:avLst/>
          </a:prstGeom>
          <a:solidFill>
            <a:schemeClr val="accent1"/>
          </a:solidFill>
          <a:ln/>
        </p:spPr>
      </p:sp>
      <p:pic>
        <p:nvPicPr>
          <p:cNvPr id="14" name="Image 0" descr="FiTag">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Classificare</a:t>
            </a:r>
            <a:endParaRPr lang="en-US" sz="1500" dirty="0"/>
          </a:p>
        </p:txBody>
      </p:sp>
      <p:sp>
        <p:nvSpPr>
          <p:cNvPr id="16" name="Text 12"/>
          <p:cNvSpPr txBox="1"/>
          <p:nvPr/>
        </p:nvSpPr>
        <p:spPr>
          <a:xfrm>
            <a:off x="64008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Assegnare ogni contenuto a una categoria: tipo, reparto, tema, priorità.</a:t>
            </a:r>
            <a:endParaRPr lang="en-US" sz="1300" dirty="0"/>
          </a:p>
        </p:txBody>
      </p:sp>
      <p:sp>
        <p:nvSpPr>
          <p:cNvPr id="17" name="scheda Trovare ricorrenze"/>
          <p:cNvSpPr/>
          <p:nvPr/>
        </p:nvSpPr>
        <p:spPr>
          <a:xfrm>
            <a:off x="4709160" y="1097280"/>
            <a:ext cx="3977640" cy="1600200"/>
          </a:xfrm>
          <a:prstGeom prst="roundRect">
            <a:avLst>
              <a:gd name="adj" fmla="val 4571"/>
            </a:avLst>
          </a:prstGeom>
          <a:solidFill>
            <a:schemeClr val="accent6"/>
          </a:solidFill>
          <a:ln/>
        </p:spPr>
      </p:sp>
      <p:sp>
        <p:nvSpPr>
          <p:cNvPr id="18" name="cerchio FiRepeat"/>
          <p:cNvSpPr/>
          <p:nvPr/>
        </p:nvSpPr>
        <p:spPr>
          <a:xfrm>
            <a:off x="4892040" y="1280160"/>
            <a:ext cx="457200" cy="457200"/>
          </a:xfrm>
          <a:prstGeom prst="ellipse">
            <a:avLst/>
          </a:prstGeom>
          <a:solidFill>
            <a:schemeClr val="accent1"/>
          </a:solidFill>
          <a:ln/>
        </p:spPr>
      </p:sp>
      <p:pic>
        <p:nvPicPr>
          <p:cNvPr id="19" name="Image 1" descr="FiRepea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Trovare ricorrenze</a:t>
            </a:r>
            <a:endParaRPr lang="en-US" sz="1500" dirty="0"/>
          </a:p>
        </p:txBody>
      </p:sp>
      <p:sp>
        <p:nvSpPr>
          <p:cNvPr id="21" name="Text 16"/>
          <p:cNvSpPr txBox="1"/>
          <p:nvPr/>
        </p:nvSpPr>
        <p:spPr>
          <a:xfrm>
            <a:off x="489204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Schemi che si ripetono in molti contenuti e sfuggono alla lettura singola.</a:t>
            </a:r>
            <a:endParaRPr lang="en-US" sz="1300" dirty="0"/>
          </a:p>
        </p:txBody>
      </p:sp>
      <p:sp>
        <p:nvSpPr>
          <p:cNvPr id="22" name="Categorie ben definite"/>
          <p:cNvSpPr/>
          <p:nvPr/>
        </p:nvSpPr>
        <p:spPr>
          <a:xfrm>
            <a:off x="457200" y="2880360"/>
            <a:ext cx="8229600" cy="475488"/>
          </a:xfrm>
          <a:prstGeom prst="roundRect">
            <a:avLst>
              <a:gd name="adj" fmla="val 15385"/>
            </a:avLst>
          </a:prstGeom>
          <a:solidFill>
            <a:schemeClr val="bg2"/>
          </a:solidFill>
          <a:ln/>
        </p:spPr>
      </p:sp>
      <p:sp>
        <p:nvSpPr>
          <p:cNvPr id="23" name="Text 18"/>
          <p:cNvSpPr txBox="1"/>
          <p:nvPr/>
        </p:nvSpPr>
        <p:spPr>
          <a:xfrm>
            <a:off x="640080" y="288036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Categorie ben definite</a:t>
            </a:r>
            <a:endParaRPr lang="en-US" sz="1300" dirty="0"/>
          </a:p>
        </p:txBody>
      </p:sp>
      <p:sp>
        <p:nvSpPr>
          <p:cNvPr id="24" name="Text 19"/>
          <p:cNvSpPr txBox="1"/>
          <p:nvPr/>
        </p:nvSpPr>
        <p:spPr>
          <a:xfrm>
            <a:off x="3017520" y="2880360"/>
            <a:ext cx="5486400" cy="475488"/>
          </a:xfrm>
          <a:prstGeom prst="rect">
            <a:avLst/>
          </a:prstGeom>
          <a:noFill/>
          <a:ln/>
        </p:spPr>
        <p:txBody>
          <a:bodyPr wrap="square" lIns="0" tIns="0" rIns="0" bIns="0" rtlCol="0" anchor="ctr"/>
          <a:lstStyle/>
          <a:p>
            <a:pPr indent="0" marL="0">
              <a:buNone/>
            </a:pPr>
            <a:r>
              <a:rPr lang="en-US" sz="1300" dirty="0">
                <a:solidFill>
                  <a:schemeClr val="tx1"/>
                </a:solidFill>
              </a:rPr>
              <a:t>Definizione ed esempi per ognuna, più 'altro' o 'non classificabile'</a:t>
            </a:r>
            <a:endParaRPr lang="en-US" sz="1300" dirty="0"/>
          </a:p>
        </p:txBody>
      </p:sp>
      <p:sp>
        <p:nvSpPr>
          <p:cNvPr id="25" name="Coerenza"/>
          <p:cNvSpPr/>
          <p:nvPr/>
        </p:nvSpPr>
        <p:spPr>
          <a:xfrm>
            <a:off x="457200" y="3429000"/>
            <a:ext cx="8229600" cy="475488"/>
          </a:xfrm>
          <a:prstGeom prst="roundRect">
            <a:avLst>
              <a:gd name="adj" fmla="val 15385"/>
            </a:avLst>
          </a:prstGeom>
          <a:solidFill>
            <a:schemeClr val="bg1"/>
          </a:solidFill>
          <a:ln/>
        </p:spPr>
      </p:sp>
      <p:sp>
        <p:nvSpPr>
          <p:cNvPr id="26" name="Text 21"/>
          <p:cNvSpPr txBox="1"/>
          <p:nvPr/>
        </p:nvSpPr>
        <p:spPr>
          <a:xfrm>
            <a:off x="640080" y="342900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Coerenza</a:t>
            </a:r>
            <a:endParaRPr lang="en-US" sz="1300" dirty="0"/>
          </a:p>
        </p:txBody>
      </p:sp>
      <p:sp>
        <p:nvSpPr>
          <p:cNvPr id="27" name="Text 22"/>
          <p:cNvSpPr txBox="1"/>
          <p:nvPr/>
        </p:nvSpPr>
        <p:spPr>
          <a:xfrm>
            <a:off x="3017520" y="3429000"/>
            <a:ext cx="5486400" cy="475488"/>
          </a:xfrm>
          <a:prstGeom prst="rect">
            <a:avLst/>
          </a:prstGeom>
          <a:noFill/>
          <a:ln/>
        </p:spPr>
        <p:txBody>
          <a:bodyPr wrap="square" lIns="0" tIns="0" rIns="0" bIns="0" rtlCol="0" anchor="ctr"/>
          <a:lstStyle/>
          <a:p>
            <a:pPr indent="0" marL="0">
              <a:buNone/>
            </a:pPr>
            <a:r>
              <a:rPr lang="en-US" sz="1300" dirty="0">
                <a:solidFill>
                  <a:schemeClr val="tx1"/>
                </a:solidFill>
              </a:rPr>
              <a:t>Lo stesso contenuto sempre nella stessa categoria</a:t>
            </a:r>
            <a:endParaRPr lang="en-US" sz="1300" dirty="0"/>
          </a:p>
        </p:txBody>
      </p:sp>
      <p:sp>
        <p:nvSpPr>
          <p:cNvPr id="28" name="Conteggi verificati"/>
          <p:cNvSpPr/>
          <p:nvPr/>
        </p:nvSpPr>
        <p:spPr>
          <a:xfrm>
            <a:off x="457200" y="3977640"/>
            <a:ext cx="8229600" cy="475488"/>
          </a:xfrm>
          <a:prstGeom prst="roundRect">
            <a:avLst>
              <a:gd name="adj" fmla="val 15385"/>
            </a:avLst>
          </a:prstGeom>
          <a:solidFill>
            <a:schemeClr val="bg2"/>
          </a:solidFill>
          <a:ln/>
        </p:spPr>
      </p:sp>
      <p:sp>
        <p:nvSpPr>
          <p:cNvPr id="29" name="Text 24"/>
          <p:cNvSpPr txBox="1"/>
          <p:nvPr/>
        </p:nvSpPr>
        <p:spPr>
          <a:xfrm>
            <a:off x="640080" y="397764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Conteggi verificati</a:t>
            </a:r>
            <a:endParaRPr lang="en-US" sz="1300" dirty="0"/>
          </a:p>
        </p:txBody>
      </p:sp>
      <p:sp>
        <p:nvSpPr>
          <p:cNvPr id="30" name="Text 25"/>
          <p:cNvSpPr txBox="1"/>
          <p:nvPr/>
        </p:nvSpPr>
        <p:spPr>
          <a:xfrm>
            <a:off x="3017520" y="3977640"/>
            <a:ext cx="5486400" cy="475488"/>
          </a:xfrm>
          <a:prstGeom prst="rect">
            <a:avLst/>
          </a:prstGeom>
          <a:noFill/>
          <a:ln/>
        </p:spPr>
        <p:txBody>
          <a:bodyPr wrap="square" lIns="0" tIns="0" rIns="0" bIns="0" rtlCol="0" anchor="ctr"/>
          <a:lstStyle/>
          <a:p>
            <a:pPr indent="0" marL="0">
              <a:buNone/>
            </a:pPr>
            <a:r>
              <a:rPr lang="en-US" sz="1300" dirty="0">
                <a:solidFill>
                  <a:schemeClr val="tx1"/>
                </a:solidFill>
              </a:rPr>
              <a:t>Controllare le percentuali su un campione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Campi mancanti o ambigui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Non presente"/>
          <p:cNvSpPr/>
          <p:nvPr/>
        </p:nvSpPr>
        <p:spPr>
          <a:xfrm>
            <a:off x="457200" y="1051560"/>
            <a:ext cx="5029200" cy="640080"/>
          </a:xfrm>
          <a:prstGeom prst="roundRect">
            <a:avLst>
              <a:gd name="adj" fmla="val 11429"/>
            </a:avLst>
          </a:prstGeom>
          <a:solidFill>
            <a:schemeClr val="bg2"/>
          </a:solidFill>
          <a:ln/>
        </p:spPr>
      </p:sp>
      <p:sp>
        <p:nvSpPr>
          <p:cNvPr id="13" name="blocco Non presente"/>
          <p:cNvSpPr/>
          <p:nvPr/>
        </p:nvSpPr>
        <p:spPr>
          <a:xfrm>
            <a:off x="594360" y="1179576"/>
            <a:ext cx="1463040" cy="384048"/>
          </a:xfrm>
          <a:prstGeom prst="roundRect">
            <a:avLst>
              <a:gd name="adj" fmla="val 28571"/>
            </a:avLst>
          </a:prstGeom>
          <a:solidFill>
            <a:schemeClr val="accent1"/>
          </a:solidFill>
          <a:ln/>
        </p:spPr>
      </p:sp>
      <p:sp>
        <p:nvSpPr>
          <p:cNvPr id="14" name="Text 11"/>
          <p:cNvSpPr txBox="1"/>
          <p:nvPr/>
        </p:nvSpPr>
        <p:spPr>
          <a:xfrm>
            <a:off x="640080" y="1179576"/>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Non presente</a:t>
            </a:r>
            <a:endParaRPr lang="en-US" sz="1200" dirty="0"/>
          </a:p>
        </p:txBody>
      </p:sp>
      <p:sp>
        <p:nvSpPr>
          <p:cNvPr id="15" name="Text 12"/>
          <p:cNvSpPr txBox="1"/>
          <p:nvPr/>
        </p:nvSpPr>
        <p:spPr>
          <a:xfrm>
            <a:off x="2194560" y="1051560"/>
            <a:ext cx="3200400" cy="640080"/>
          </a:xfrm>
          <a:prstGeom prst="rect">
            <a:avLst/>
          </a:prstGeom>
          <a:noFill/>
          <a:ln/>
        </p:spPr>
        <p:txBody>
          <a:bodyPr wrap="square" lIns="0" tIns="0" rIns="0" bIns="0" rtlCol="0" anchor="ctr"/>
          <a:lstStyle/>
          <a:p>
            <a:pPr indent="0" marL="0">
              <a:buNone/>
            </a:pPr>
            <a:r>
              <a:rPr lang="en-US" sz="1200" dirty="0">
                <a:solidFill>
                  <a:schemeClr val="tx1"/>
                </a:solidFill>
              </a:rPr>
              <a:t>Il campo resta vuoto o riporta 'non presente', mai un valore stimato</a:t>
            </a:r>
            <a:endParaRPr lang="en-US" sz="1200" dirty="0"/>
          </a:p>
        </p:txBody>
      </p:sp>
      <p:sp>
        <p:nvSpPr>
          <p:cNvPr id="16" name="Ambiguo"/>
          <p:cNvSpPr/>
          <p:nvPr/>
        </p:nvSpPr>
        <p:spPr>
          <a:xfrm>
            <a:off x="457200" y="1783080"/>
            <a:ext cx="5029200" cy="640080"/>
          </a:xfrm>
          <a:prstGeom prst="roundRect">
            <a:avLst>
              <a:gd name="adj" fmla="val 11429"/>
            </a:avLst>
          </a:prstGeom>
          <a:solidFill>
            <a:schemeClr val="accent6"/>
          </a:solidFill>
          <a:ln/>
        </p:spPr>
      </p:sp>
      <p:sp>
        <p:nvSpPr>
          <p:cNvPr id="17" name="blocco Ambiguo"/>
          <p:cNvSpPr/>
          <p:nvPr/>
        </p:nvSpPr>
        <p:spPr>
          <a:xfrm>
            <a:off x="594360" y="1911096"/>
            <a:ext cx="1463040" cy="384048"/>
          </a:xfrm>
          <a:prstGeom prst="roundRect">
            <a:avLst>
              <a:gd name="adj" fmla="val 28571"/>
            </a:avLst>
          </a:prstGeom>
          <a:solidFill>
            <a:schemeClr val="accent1"/>
          </a:solidFill>
          <a:ln/>
        </p:spPr>
      </p:sp>
      <p:sp>
        <p:nvSpPr>
          <p:cNvPr id="18" name="Text 15"/>
          <p:cNvSpPr txBox="1"/>
          <p:nvPr/>
        </p:nvSpPr>
        <p:spPr>
          <a:xfrm>
            <a:off x="640080" y="1911096"/>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Ambiguo</a:t>
            </a:r>
            <a:endParaRPr lang="en-US" sz="1200" dirty="0"/>
          </a:p>
        </p:txBody>
      </p:sp>
      <p:sp>
        <p:nvSpPr>
          <p:cNvPr id="19" name="Text 16"/>
          <p:cNvSpPr txBox="1"/>
          <p:nvPr/>
        </p:nvSpPr>
        <p:spPr>
          <a:xfrm>
            <a:off x="2194560" y="1783080"/>
            <a:ext cx="3200400" cy="640080"/>
          </a:xfrm>
          <a:prstGeom prst="rect">
            <a:avLst/>
          </a:prstGeom>
          <a:noFill/>
          <a:ln/>
        </p:spPr>
        <p:txBody>
          <a:bodyPr wrap="square" lIns="0" tIns="0" rIns="0" bIns="0" rtlCol="0" anchor="ctr"/>
          <a:lstStyle/>
          <a:p>
            <a:pPr indent="0" marL="0">
              <a:buNone/>
            </a:pPr>
            <a:r>
              <a:rPr lang="en-US" sz="1200" dirty="0">
                <a:solidFill>
                  <a:schemeClr val="tx1"/>
                </a:solidFill>
              </a:rPr>
              <a:t>Più valori possibili: si riporta 'ambiguo' con una nota</a:t>
            </a:r>
            <a:endParaRPr lang="en-US" sz="1200" dirty="0"/>
          </a:p>
        </p:txBody>
      </p:sp>
      <p:sp>
        <p:nvSpPr>
          <p:cNvPr id="20" name="Dedotto"/>
          <p:cNvSpPr/>
          <p:nvPr/>
        </p:nvSpPr>
        <p:spPr>
          <a:xfrm>
            <a:off x="457200" y="2514600"/>
            <a:ext cx="5029200" cy="640080"/>
          </a:xfrm>
          <a:prstGeom prst="roundRect">
            <a:avLst>
              <a:gd name="adj" fmla="val 11429"/>
            </a:avLst>
          </a:prstGeom>
          <a:solidFill>
            <a:schemeClr val="bg2"/>
          </a:solidFill>
          <a:ln/>
        </p:spPr>
      </p:sp>
      <p:sp>
        <p:nvSpPr>
          <p:cNvPr id="21" name="blocco Dedotto"/>
          <p:cNvSpPr/>
          <p:nvPr/>
        </p:nvSpPr>
        <p:spPr>
          <a:xfrm>
            <a:off x="594360" y="2642616"/>
            <a:ext cx="1463040" cy="384048"/>
          </a:xfrm>
          <a:prstGeom prst="roundRect">
            <a:avLst>
              <a:gd name="adj" fmla="val 28571"/>
            </a:avLst>
          </a:prstGeom>
          <a:solidFill>
            <a:schemeClr val="accent1"/>
          </a:solidFill>
          <a:ln/>
        </p:spPr>
      </p:sp>
      <p:sp>
        <p:nvSpPr>
          <p:cNvPr id="22" name="Text 19"/>
          <p:cNvSpPr txBox="1"/>
          <p:nvPr/>
        </p:nvSpPr>
        <p:spPr>
          <a:xfrm>
            <a:off x="640080" y="2642616"/>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Dedotto</a:t>
            </a:r>
            <a:endParaRPr lang="en-US" sz="1200" dirty="0"/>
          </a:p>
        </p:txBody>
      </p:sp>
      <p:sp>
        <p:nvSpPr>
          <p:cNvPr id="23" name="Text 20"/>
          <p:cNvSpPr txBox="1"/>
          <p:nvPr/>
        </p:nvSpPr>
        <p:spPr>
          <a:xfrm>
            <a:off x="2194560" y="2514600"/>
            <a:ext cx="3200400" cy="640080"/>
          </a:xfrm>
          <a:prstGeom prst="rect">
            <a:avLst/>
          </a:prstGeom>
          <a:noFill/>
          <a:ln/>
        </p:spPr>
        <p:txBody>
          <a:bodyPr wrap="square" lIns="0" tIns="0" rIns="0" bIns="0" rtlCol="0" anchor="ctr"/>
          <a:lstStyle/>
          <a:p>
            <a:pPr indent="0" marL="0">
              <a:buNone/>
            </a:pPr>
            <a:r>
              <a:rPr lang="en-US" sz="1200" dirty="0">
                <a:solidFill>
                  <a:schemeClr val="tx1"/>
                </a:solidFill>
              </a:rPr>
              <a:t>Valore calcolato, non letto: va segnalato come tale</a:t>
            </a:r>
            <a:endParaRPr lang="en-US" sz="1200" dirty="0"/>
          </a:p>
        </p:txBody>
      </p:sp>
      <p:sp>
        <p:nvSpPr>
          <p:cNvPr id="24" name="rischio"/>
          <p:cNvSpPr/>
          <p:nvPr/>
        </p:nvSpPr>
        <p:spPr>
          <a:xfrm>
            <a:off x="5715000" y="1051560"/>
            <a:ext cx="2971800" cy="2103120"/>
          </a:xfrm>
          <a:prstGeom prst="roundRect">
            <a:avLst>
              <a:gd name="adj" fmla="val 3478"/>
            </a:avLst>
          </a:prstGeom>
          <a:solidFill>
            <a:schemeClr val="tx1"/>
          </a:solidFill>
          <a:ln/>
        </p:spPr>
      </p:sp>
      <p:sp>
        <p:nvSpPr>
          <p:cNvPr id="25" name="Text 22"/>
          <p:cNvSpPr txBox="1"/>
          <p:nvPr/>
        </p:nvSpPr>
        <p:spPr>
          <a:xfrm>
            <a:off x="5897880" y="1143000"/>
            <a:ext cx="2651760" cy="347472"/>
          </a:xfrm>
          <a:prstGeom prst="rect">
            <a:avLst/>
          </a:prstGeom>
          <a:noFill/>
          <a:ln/>
        </p:spPr>
        <p:txBody>
          <a:bodyPr wrap="square" lIns="0" tIns="0" rIns="0" bIns="0" rtlCol="0" anchor="t"/>
          <a:lstStyle/>
          <a:p>
            <a:pPr indent="0" marL="0">
              <a:buNone/>
            </a:pPr>
            <a:r>
              <a:rPr lang="en-US" sz="1500" b="1" dirty="0">
                <a:solidFill>
                  <a:schemeClr val="accent6"/>
                </a:solidFill>
              </a:rPr>
              <a:t>Il rischio</a:t>
            </a:r>
            <a:endParaRPr lang="en-US" sz="1500" dirty="0"/>
          </a:p>
        </p:txBody>
      </p:sp>
      <p:sp>
        <p:nvSpPr>
          <p:cNvPr id="26" name="Text 23"/>
          <p:cNvSpPr txBox="1"/>
          <p:nvPr/>
        </p:nvSpPr>
        <p:spPr>
          <a:xfrm>
            <a:off x="5897880" y="1554480"/>
            <a:ext cx="2651760" cy="1463040"/>
          </a:xfrm>
          <a:prstGeom prst="rect">
            <a:avLst/>
          </a:prstGeom>
          <a:noFill/>
          <a:ln/>
        </p:spPr>
        <p:txBody>
          <a:bodyPr wrap="square" lIns="0" tIns="0" rIns="0" bIns="0" rtlCol="0" anchor="t"/>
          <a:lstStyle/>
          <a:p>
            <a:pPr indent="0" marL="0">
              <a:buNone/>
            </a:pPr>
            <a:r>
              <a:rPr lang="en-US" sz="1300" dirty="0">
                <a:solidFill>
                  <a:schemeClr val="bg1"/>
                </a:solidFill>
              </a:rPr>
              <a:t>Un valore inventato in una tabella ha lo stesso aspetto di un valore estratto.</a:t>
            </a:r>
            <a:endParaRPr lang="en-US" sz="1300" dirty="0"/>
          </a:p>
        </p:txBody>
      </p:sp>
      <p:sp>
        <p:nvSpPr>
          <p:cNvPr id="27" name="messaggio"/>
          <p:cNvSpPr/>
          <p:nvPr/>
        </p:nvSpPr>
        <p:spPr>
          <a:xfrm>
            <a:off x="457200" y="3429000"/>
            <a:ext cx="8229600" cy="777240"/>
          </a:xfrm>
          <a:prstGeom prst="roundRect">
            <a:avLst>
              <a:gd name="adj" fmla="val 9412"/>
            </a:avLst>
          </a:prstGeom>
          <a:solidFill>
            <a:schemeClr val="tx1"/>
          </a:solidFill>
          <a:ln/>
        </p:spPr>
      </p:sp>
      <p:sp>
        <p:nvSpPr>
          <p:cNvPr id="28" name="Text 25"/>
          <p:cNvSpPr txBox="1"/>
          <p:nvPr/>
        </p:nvSpPr>
        <p:spPr>
          <a:xfrm>
            <a:off x="640080" y="3429000"/>
            <a:ext cx="7863840" cy="777240"/>
          </a:xfrm>
          <a:prstGeom prst="rect">
            <a:avLst/>
          </a:prstGeom>
          <a:noFill/>
          <a:ln/>
        </p:spPr>
        <p:txBody>
          <a:bodyPr wrap="square" lIns="0" tIns="0" rIns="0" bIns="0" rtlCol="0" anchor="ctr"/>
          <a:lstStyle/>
          <a:p>
            <a:pPr indent="0" marL="0">
              <a:buNone/>
            </a:pPr>
            <a:r>
              <a:rPr lang="en-US" sz="1300" dirty="0">
                <a:solidFill>
                  <a:schemeClr val="bg1"/>
                </a:solidFill>
              </a:rPr>
              <a:t>Regole definite in anticipo rendono visibili i casi da controllare: un'incertezza non deve diventare un dato apparentemente certo.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Accuratezza e completezza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Accuratezza"/>
          <p:cNvSpPr/>
          <p:nvPr/>
        </p:nvSpPr>
        <p:spPr>
          <a:xfrm>
            <a:off x="457200" y="1051560"/>
            <a:ext cx="3977640" cy="1737360"/>
          </a:xfrm>
          <a:prstGeom prst="roundRect">
            <a:avLst>
              <a:gd name="adj" fmla="val 4211"/>
            </a:avLst>
          </a:prstGeom>
          <a:solidFill>
            <a:schemeClr val="bg2"/>
          </a:solidFill>
          <a:ln/>
        </p:spPr>
      </p:sp>
      <p:sp>
        <p:nvSpPr>
          <p:cNvPr id="13" name="cerchio FiCrosshair"/>
          <p:cNvSpPr/>
          <p:nvPr/>
        </p:nvSpPr>
        <p:spPr>
          <a:xfrm>
            <a:off x="640080" y="1234440"/>
            <a:ext cx="457200" cy="457200"/>
          </a:xfrm>
          <a:prstGeom prst="ellipse">
            <a:avLst/>
          </a:prstGeom>
          <a:solidFill>
            <a:schemeClr val="accent1"/>
          </a:solidFill>
          <a:ln/>
        </p:spPr>
      </p:sp>
      <p:pic>
        <p:nvPicPr>
          <p:cNvPr id="14" name="Image 0" descr="FiCrosshair">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Accuratezza</a:t>
            </a:r>
            <a:endParaRPr lang="en-US" sz="1500" dirty="0"/>
          </a:p>
        </p:txBody>
      </p:sp>
      <p:sp>
        <p:nvSpPr>
          <p:cNvPr id="16" name="Text 12"/>
          <p:cNvSpPr txBox="1"/>
          <p:nvPr/>
        </p:nvSpPr>
        <p:spPr>
          <a:xfrm>
            <a:off x="640080" y="1828800"/>
            <a:ext cx="3611880" cy="850392"/>
          </a:xfrm>
          <a:prstGeom prst="rect">
            <a:avLst/>
          </a:prstGeom>
          <a:noFill/>
          <a:ln/>
        </p:spPr>
        <p:txBody>
          <a:bodyPr wrap="square" lIns="0" tIns="0" rIns="0" bIns="0" rtlCol="0" anchor="t"/>
          <a:lstStyle/>
          <a:p>
            <a:pPr indent="0" marL="0">
              <a:buNone/>
            </a:pPr>
            <a:r>
              <a:rPr lang="en-US" sz="1200" dirty="0">
                <a:solidFill>
                  <a:schemeClr val="tx2"/>
                </a:solidFill>
              </a:rPr>
              <a:t>Cifre invertite, IVA sì o no, 03/04 marzo o aprile, valore dal punto sbagliato, nomi storpiati.</a:t>
            </a:r>
            <a:endParaRPr lang="en-US" sz="1200" dirty="0"/>
          </a:p>
        </p:txBody>
      </p:sp>
      <p:sp>
        <p:nvSpPr>
          <p:cNvPr id="17" name="scheda Completezza"/>
          <p:cNvSpPr/>
          <p:nvPr/>
        </p:nvSpPr>
        <p:spPr>
          <a:xfrm>
            <a:off x="4709160" y="1051560"/>
            <a:ext cx="3977640" cy="1737360"/>
          </a:xfrm>
          <a:prstGeom prst="roundRect">
            <a:avLst>
              <a:gd name="adj" fmla="val 4211"/>
            </a:avLst>
          </a:prstGeom>
          <a:solidFill>
            <a:schemeClr val="accent6"/>
          </a:solidFill>
          <a:ln/>
        </p:spPr>
      </p:sp>
      <p:sp>
        <p:nvSpPr>
          <p:cNvPr id="18" name="cerchio FiLayers"/>
          <p:cNvSpPr/>
          <p:nvPr/>
        </p:nvSpPr>
        <p:spPr>
          <a:xfrm>
            <a:off x="4892040" y="1234440"/>
            <a:ext cx="457200" cy="457200"/>
          </a:xfrm>
          <a:prstGeom prst="ellipse">
            <a:avLst/>
          </a:prstGeom>
          <a:solidFill>
            <a:schemeClr val="accent1"/>
          </a:solidFill>
          <a:ln/>
        </p:spPr>
      </p:sp>
      <p:pic>
        <p:nvPicPr>
          <p:cNvPr id="19" name="Image 1" descr="FiLayers">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Completezza</a:t>
            </a:r>
            <a:endParaRPr lang="en-US" sz="1500" dirty="0"/>
          </a:p>
        </p:txBody>
      </p:sp>
      <p:sp>
        <p:nvSpPr>
          <p:cNvPr id="21" name="Text 16"/>
          <p:cNvSpPr txBox="1"/>
          <p:nvPr/>
        </p:nvSpPr>
        <p:spPr>
          <a:xfrm>
            <a:off x="4892040" y="1828800"/>
            <a:ext cx="3611880" cy="850392"/>
          </a:xfrm>
          <a:prstGeom prst="rect">
            <a:avLst/>
          </a:prstGeom>
          <a:noFill/>
          <a:ln/>
        </p:spPr>
        <p:txBody>
          <a:bodyPr wrap="square" lIns="0" tIns="0" rIns="0" bIns="0" rtlCol="0" anchor="t"/>
          <a:lstStyle/>
          <a:p>
            <a:pPr indent="0" marL="0">
              <a:buNone/>
            </a:pPr>
            <a:r>
              <a:rPr lang="en-US" sz="1200" dirty="0">
                <a:solidFill>
                  <a:schemeClr val="tx2"/>
                </a:solidFill>
              </a:rPr>
              <a:t>Documenti saltati, righe omesse, campi vuoti anche se l'informazione c'era.</a:t>
            </a:r>
            <a:endParaRPr lang="en-US" sz="1200" dirty="0"/>
          </a:p>
        </p:txBody>
      </p:sp>
      <p:sp>
        <p:nvSpPr>
          <p:cNvPr id="22" name="A campione"/>
          <p:cNvSpPr/>
          <p:nvPr/>
        </p:nvSpPr>
        <p:spPr>
          <a:xfrm>
            <a:off x="457200" y="2971800"/>
            <a:ext cx="1965960" cy="868680"/>
          </a:xfrm>
          <a:prstGeom prst="roundRect">
            <a:avLst>
              <a:gd name="adj" fmla="val 8421"/>
            </a:avLst>
          </a:prstGeom>
          <a:solidFill>
            <a:schemeClr val="bg2"/>
          </a:solidFill>
          <a:ln/>
        </p:spPr>
      </p:sp>
      <p:sp>
        <p:nvSpPr>
          <p:cNvPr id="23" name="Text 18"/>
          <p:cNvSpPr txBox="1"/>
          <p:nvPr/>
        </p:nvSpPr>
        <p:spPr>
          <a:xfrm>
            <a:off x="566928" y="3035808"/>
            <a:ext cx="1783080" cy="347472"/>
          </a:xfrm>
          <a:prstGeom prst="rect">
            <a:avLst/>
          </a:prstGeom>
          <a:noFill/>
          <a:ln/>
        </p:spPr>
        <p:txBody>
          <a:bodyPr wrap="square" lIns="0" tIns="0" rIns="0" bIns="0" rtlCol="0" anchor="t"/>
          <a:lstStyle/>
          <a:p>
            <a:pPr algn="ctr" indent="0" marL="0">
              <a:buNone/>
            </a:pPr>
            <a:r>
              <a:rPr lang="en-US" sz="1300" b="1" dirty="0">
                <a:solidFill>
                  <a:schemeClr val="accent1"/>
                </a:solidFill>
              </a:rPr>
              <a:t>A campione</a:t>
            </a:r>
            <a:endParaRPr lang="en-US" sz="1300" dirty="0"/>
          </a:p>
        </p:txBody>
      </p:sp>
      <p:sp>
        <p:nvSpPr>
          <p:cNvPr id="24" name="Text 19"/>
          <p:cNvSpPr txBox="1"/>
          <p:nvPr/>
        </p:nvSpPr>
        <p:spPr>
          <a:xfrm>
            <a:off x="566928" y="3383280"/>
            <a:ext cx="1783080" cy="365760"/>
          </a:xfrm>
          <a:prstGeom prst="rect">
            <a:avLst/>
          </a:prstGeom>
          <a:noFill/>
          <a:ln/>
        </p:spPr>
        <p:txBody>
          <a:bodyPr wrap="square" lIns="0" tIns="0" rIns="0" bIns="0" rtlCol="0" anchor="t"/>
          <a:lstStyle/>
          <a:p>
            <a:pPr algn="ctr" indent="0" marL="0">
              <a:buNone/>
            </a:pPr>
            <a:r>
              <a:rPr lang="en-US" sz="1100" dirty="0">
                <a:solidFill>
                  <a:schemeClr val="tx2"/>
                </a:solidFill>
              </a:rPr>
              <a:t>Casuali e anomali</a:t>
            </a:r>
            <a:endParaRPr lang="en-US" sz="1100" dirty="0"/>
          </a:p>
        </p:txBody>
      </p:sp>
      <p:sp>
        <p:nvSpPr>
          <p:cNvPr id="25" name="Conteggi"/>
          <p:cNvSpPr/>
          <p:nvPr/>
        </p:nvSpPr>
        <p:spPr>
          <a:xfrm>
            <a:off x="2560320" y="2971800"/>
            <a:ext cx="1965960" cy="868680"/>
          </a:xfrm>
          <a:prstGeom prst="roundRect">
            <a:avLst>
              <a:gd name="adj" fmla="val 8421"/>
            </a:avLst>
          </a:prstGeom>
          <a:solidFill>
            <a:schemeClr val="bg2"/>
          </a:solidFill>
          <a:ln/>
        </p:spPr>
      </p:sp>
      <p:sp>
        <p:nvSpPr>
          <p:cNvPr id="26" name="Text 21"/>
          <p:cNvSpPr txBox="1"/>
          <p:nvPr/>
        </p:nvSpPr>
        <p:spPr>
          <a:xfrm>
            <a:off x="2670048" y="3035808"/>
            <a:ext cx="1783080" cy="347472"/>
          </a:xfrm>
          <a:prstGeom prst="rect">
            <a:avLst/>
          </a:prstGeom>
          <a:noFill/>
          <a:ln/>
        </p:spPr>
        <p:txBody>
          <a:bodyPr wrap="square" lIns="0" tIns="0" rIns="0" bIns="0" rtlCol="0" anchor="t"/>
          <a:lstStyle/>
          <a:p>
            <a:pPr algn="ctr" indent="0" marL="0">
              <a:buNone/>
            </a:pPr>
            <a:r>
              <a:rPr lang="en-US" sz="1300" b="1" dirty="0">
                <a:solidFill>
                  <a:schemeClr val="accent1"/>
                </a:solidFill>
              </a:rPr>
              <a:t>Conteggi</a:t>
            </a:r>
            <a:endParaRPr lang="en-US" sz="1300" dirty="0"/>
          </a:p>
        </p:txBody>
      </p:sp>
      <p:sp>
        <p:nvSpPr>
          <p:cNvPr id="27" name="Text 22"/>
          <p:cNvSpPr txBox="1"/>
          <p:nvPr/>
        </p:nvSpPr>
        <p:spPr>
          <a:xfrm>
            <a:off x="2670048" y="3383280"/>
            <a:ext cx="1783080" cy="365760"/>
          </a:xfrm>
          <a:prstGeom prst="rect">
            <a:avLst/>
          </a:prstGeom>
          <a:noFill/>
          <a:ln/>
        </p:spPr>
        <p:txBody>
          <a:bodyPr wrap="square" lIns="0" tIns="0" rIns="0" bIns="0" rtlCol="0" anchor="t"/>
          <a:lstStyle/>
          <a:p>
            <a:pPr algn="ctr" indent="0" marL="0">
              <a:buNone/>
            </a:pPr>
            <a:r>
              <a:rPr lang="en-US" sz="1100" dirty="0">
                <a:solidFill>
                  <a:schemeClr val="tx2"/>
                </a:solidFill>
              </a:rPr>
              <a:t>Record, somme, totali</a:t>
            </a:r>
            <a:endParaRPr lang="en-US" sz="1100" dirty="0"/>
          </a:p>
        </p:txBody>
      </p:sp>
      <p:sp>
        <p:nvSpPr>
          <p:cNvPr id="28" name="Plausibilità"/>
          <p:cNvSpPr/>
          <p:nvPr/>
        </p:nvSpPr>
        <p:spPr>
          <a:xfrm>
            <a:off x="4663440" y="2971800"/>
            <a:ext cx="1965960" cy="868680"/>
          </a:xfrm>
          <a:prstGeom prst="roundRect">
            <a:avLst>
              <a:gd name="adj" fmla="val 8421"/>
            </a:avLst>
          </a:prstGeom>
          <a:solidFill>
            <a:schemeClr val="bg2"/>
          </a:solidFill>
          <a:ln/>
        </p:spPr>
      </p:sp>
      <p:sp>
        <p:nvSpPr>
          <p:cNvPr id="29" name="Text 24"/>
          <p:cNvSpPr txBox="1"/>
          <p:nvPr/>
        </p:nvSpPr>
        <p:spPr>
          <a:xfrm>
            <a:off x="4773168" y="3035808"/>
            <a:ext cx="1783080" cy="347472"/>
          </a:xfrm>
          <a:prstGeom prst="rect">
            <a:avLst/>
          </a:prstGeom>
          <a:noFill/>
          <a:ln/>
        </p:spPr>
        <p:txBody>
          <a:bodyPr wrap="square" lIns="0" tIns="0" rIns="0" bIns="0" rtlCol="0" anchor="t"/>
          <a:lstStyle/>
          <a:p>
            <a:pPr algn="ctr" indent="0" marL="0">
              <a:buNone/>
            </a:pPr>
            <a:r>
              <a:rPr lang="en-US" sz="1300" b="1" dirty="0">
                <a:solidFill>
                  <a:schemeClr val="accent1"/>
                </a:solidFill>
              </a:rPr>
              <a:t>Plausibilità</a:t>
            </a:r>
            <a:endParaRPr lang="en-US" sz="1300" dirty="0"/>
          </a:p>
        </p:txBody>
      </p:sp>
      <p:sp>
        <p:nvSpPr>
          <p:cNvPr id="30" name="Text 25"/>
          <p:cNvSpPr txBox="1"/>
          <p:nvPr/>
        </p:nvSpPr>
        <p:spPr>
          <a:xfrm>
            <a:off x="4773168" y="3383280"/>
            <a:ext cx="1783080" cy="365760"/>
          </a:xfrm>
          <a:prstGeom prst="rect">
            <a:avLst/>
          </a:prstGeom>
          <a:noFill/>
          <a:ln/>
        </p:spPr>
        <p:txBody>
          <a:bodyPr wrap="square" lIns="0" tIns="0" rIns="0" bIns="0" rtlCol="0" anchor="t"/>
          <a:lstStyle/>
          <a:p>
            <a:pPr algn="ctr" indent="0" marL="0">
              <a:buNone/>
            </a:pPr>
            <a:r>
              <a:rPr lang="en-US" sz="1100" dirty="0">
                <a:solidFill>
                  <a:schemeClr val="tx2"/>
                </a:solidFill>
              </a:rPr>
              <a:t>Date, scale, categorie</a:t>
            </a:r>
            <a:endParaRPr lang="en-US" sz="1100" dirty="0"/>
          </a:p>
        </p:txBody>
      </p:sp>
      <p:sp>
        <p:nvSpPr>
          <p:cNvPr id="31" name="Campi segnalati"/>
          <p:cNvSpPr/>
          <p:nvPr/>
        </p:nvSpPr>
        <p:spPr>
          <a:xfrm>
            <a:off x="6766560" y="2971800"/>
            <a:ext cx="1965960" cy="868680"/>
          </a:xfrm>
          <a:prstGeom prst="roundRect">
            <a:avLst>
              <a:gd name="adj" fmla="val 8421"/>
            </a:avLst>
          </a:prstGeom>
          <a:solidFill>
            <a:schemeClr val="bg2"/>
          </a:solidFill>
          <a:ln/>
        </p:spPr>
      </p:sp>
      <p:sp>
        <p:nvSpPr>
          <p:cNvPr id="32" name="Text 27"/>
          <p:cNvSpPr txBox="1"/>
          <p:nvPr/>
        </p:nvSpPr>
        <p:spPr>
          <a:xfrm>
            <a:off x="6876288" y="3035808"/>
            <a:ext cx="1783080" cy="347472"/>
          </a:xfrm>
          <a:prstGeom prst="rect">
            <a:avLst/>
          </a:prstGeom>
          <a:noFill/>
          <a:ln/>
        </p:spPr>
        <p:txBody>
          <a:bodyPr wrap="square" lIns="0" tIns="0" rIns="0" bIns="0" rtlCol="0" anchor="t"/>
          <a:lstStyle/>
          <a:p>
            <a:pPr algn="ctr" indent="0" marL="0">
              <a:buNone/>
            </a:pPr>
            <a:r>
              <a:rPr lang="en-US" sz="1300" b="1" dirty="0">
                <a:solidFill>
                  <a:schemeClr val="accent1"/>
                </a:solidFill>
              </a:rPr>
              <a:t>Campi segnalati</a:t>
            </a:r>
            <a:endParaRPr lang="en-US" sz="1300" dirty="0"/>
          </a:p>
        </p:txBody>
      </p:sp>
      <p:sp>
        <p:nvSpPr>
          <p:cNvPr id="33" name="Text 28"/>
          <p:cNvSpPr txBox="1"/>
          <p:nvPr/>
        </p:nvSpPr>
        <p:spPr>
          <a:xfrm>
            <a:off x="6876288" y="3383280"/>
            <a:ext cx="1783080" cy="365760"/>
          </a:xfrm>
          <a:prstGeom prst="rect">
            <a:avLst/>
          </a:prstGeom>
          <a:noFill/>
          <a:ln/>
        </p:spPr>
        <p:txBody>
          <a:bodyPr wrap="square" lIns="0" tIns="0" rIns="0" bIns="0" rtlCol="0" anchor="t"/>
          <a:lstStyle/>
          <a:p>
            <a:pPr algn="ctr" indent="0" marL="0">
              <a:buNone/>
            </a:pPr>
            <a:r>
              <a:rPr lang="en-US" sz="1100" dirty="0">
                <a:solidFill>
                  <a:schemeClr val="tx2"/>
                </a:solidFill>
              </a:rPr>
              <a:t>Assenti, ambigui, dedotti</a:t>
            </a:r>
            <a:endParaRPr lang="en-US" sz="1100" dirty="0"/>
          </a:p>
        </p:txBody>
      </p:sp>
      <p:sp>
        <p:nvSpPr>
          <p:cNvPr id="34" name="Text 29"/>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300" i="1" dirty="0">
                <a:solidFill>
                  <a:schemeClr val="tx2"/>
                </a:solidFill>
              </a:rPr>
              <a:t>Estrazioni ripetute: verifica iniziale approfondita, poi controlli più leggeri e periodici.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Dato estratto, dato validato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blocco Documento"/>
          <p:cNvSpPr/>
          <p:nvPr/>
        </p:nvSpPr>
        <p:spPr>
          <a:xfrm>
            <a:off x="457200" y="1280160"/>
            <a:ext cx="1463040" cy="731520"/>
          </a:xfrm>
          <a:prstGeom prst="roundRect">
            <a:avLst>
              <a:gd name="adj" fmla="val 15000"/>
            </a:avLst>
          </a:prstGeom>
          <a:solidFill>
            <a:schemeClr val="bg2"/>
          </a:solidFill>
          <a:ln/>
        </p:spPr>
      </p:sp>
      <p:sp>
        <p:nvSpPr>
          <p:cNvPr id="13" name="Text 10"/>
          <p:cNvSpPr txBox="1"/>
          <p:nvPr/>
        </p:nvSpPr>
        <p:spPr>
          <a:xfrm>
            <a:off x="502920" y="1280160"/>
            <a:ext cx="1371600" cy="731520"/>
          </a:xfrm>
          <a:prstGeom prst="rect">
            <a:avLst/>
          </a:prstGeom>
          <a:noFill/>
          <a:ln/>
        </p:spPr>
        <p:txBody>
          <a:bodyPr wrap="square" lIns="0" tIns="0" rIns="0" bIns="0" rtlCol="0" anchor="ctr"/>
          <a:lstStyle/>
          <a:p>
            <a:pPr algn="ctr" indent="0" marL="0">
              <a:buNone/>
            </a:pPr>
            <a:r>
              <a:rPr lang="en-US" sz="1300" b="1" dirty="0">
                <a:solidFill>
                  <a:schemeClr val="tx1"/>
                </a:solidFill>
              </a:rPr>
              <a:t>Documento</a:t>
            </a:r>
            <a:endParaRPr lang="en-US" sz="1300" dirty="0"/>
          </a:p>
        </p:txBody>
      </p:sp>
      <p:sp>
        <p:nvSpPr>
          <p:cNvPr id="14" name="freccia"/>
          <p:cNvSpPr/>
          <p:nvPr/>
        </p:nvSpPr>
        <p:spPr>
          <a:xfrm>
            <a:off x="1938528" y="1499616"/>
            <a:ext cx="182880" cy="292608"/>
          </a:xfrm>
          <a:prstGeom prst="rightArrow">
            <a:avLst/>
          </a:prstGeom>
          <a:solidFill>
            <a:schemeClr val="accent2"/>
          </a:solidFill>
          <a:ln/>
        </p:spPr>
      </p:sp>
      <p:sp>
        <p:nvSpPr>
          <p:cNvPr id="15" name="blocco Dato estratto"/>
          <p:cNvSpPr/>
          <p:nvPr/>
        </p:nvSpPr>
        <p:spPr>
          <a:xfrm>
            <a:off x="2139696" y="1280160"/>
            <a:ext cx="1463040" cy="731520"/>
          </a:xfrm>
          <a:prstGeom prst="roundRect">
            <a:avLst>
              <a:gd name="adj" fmla="val 15000"/>
            </a:avLst>
          </a:prstGeom>
          <a:solidFill>
            <a:schemeClr val="bg2"/>
          </a:solidFill>
          <a:ln/>
        </p:spPr>
      </p:sp>
      <p:sp>
        <p:nvSpPr>
          <p:cNvPr id="16" name="Text 13"/>
          <p:cNvSpPr txBox="1"/>
          <p:nvPr/>
        </p:nvSpPr>
        <p:spPr>
          <a:xfrm>
            <a:off x="2185416" y="1280160"/>
            <a:ext cx="1371600" cy="731520"/>
          </a:xfrm>
          <a:prstGeom prst="rect">
            <a:avLst/>
          </a:prstGeom>
          <a:noFill/>
          <a:ln/>
        </p:spPr>
        <p:txBody>
          <a:bodyPr wrap="square" lIns="0" tIns="0" rIns="0" bIns="0" rtlCol="0" anchor="ctr"/>
          <a:lstStyle/>
          <a:p>
            <a:pPr algn="ctr" indent="0" marL="0">
              <a:buNone/>
            </a:pPr>
            <a:r>
              <a:rPr lang="en-US" sz="1300" b="1" dirty="0">
                <a:solidFill>
                  <a:schemeClr val="tx1"/>
                </a:solidFill>
              </a:rPr>
              <a:t>Dato estratto</a:t>
            </a:r>
            <a:endParaRPr lang="en-US" sz="1300" dirty="0"/>
          </a:p>
        </p:txBody>
      </p:sp>
      <p:sp>
        <p:nvSpPr>
          <p:cNvPr id="17" name="freccia"/>
          <p:cNvSpPr/>
          <p:nvPr/>
        </p:nvSpPr>
        <p:spPr>
          <a:xfrm>
            <a:off x="3621024" y="1499616"/>
            <a:ext cx="182880" cy="292608"/>
          </a:xfrm>
          <a:prstGeom prst="rightArrow">
            <a:avLst/>
          </a:prstGeom>
          <a:solidFill>
            <a:schemeClr val="accent2"/>
          </a:solidFill>
          <a:ln/>
        </p:spPr>
      </p:sp>
      <p:sp>
        <p:nvSpPr>
          <p:cNvPr id="18" name="blocco Dato controllato"/>
          <p:cNvSpPr/>
          <p:nvPr/>
        </p:nvSpPr>
        <p:spPr>
          <a:xfrm>
            <a:off x="3822192" y="1280160"/>
            <a:ext cx="1463040" cy="731520"/>
          </a:xfrm>
          <a:prstGeom prst="roundRect">
            <a:avLst>
              <a:gd name="adj" fmla="val 15000"/>
            </a:avLst>
          </a:prstGeom>
          <a:solidFill>
            <a:schemeClr val="accent5"/>
          </a:solidFill>
          <a:ln/>
        </p:spPr>
      </p:sp>
      <p:sp>
        <p:nvSpPr>
          <p:cNvPr id="19" name="Text 16"/>
          <p:cNvSpPr txBox="1"/>
          <p:nvPr/>
        </p:nvSpPr>
        <p:spPr>
          <a:xfrm>
            <a:off x="3867912" y="1280160"/>
            <a:ext cx="1371600" cy="731520"/>
          </a:xfrm>
          <a:prstGeom prst="rect">
            <a:avLst/>
          </a:prstGeom>
          <a:noFill/>
          <a:ln/>
        </p:spPr>
        <p:txBody>
          <a:bodyPr wrap="square" lIns="0" tIns="0" rIns="0" bIns="0" rtlCol="0" anchor="ctr"/>
          <a:lstStyle/>
          <a:p>
            <a:pPr algn="ctr" indent="0" marL="0">
              <a:buNone/>
            </a:pPr>
            <a:r>
              <a:rPr lang="en-US" sz="1300" b="1" dirty="0">
                <a:solidFill>
                  <a:schemeClr val="bg1"/>
                </a:solidFill>
              </a:rPr>
              <a:t>Dato controllato</a:t>
            </a:r>
            <a:endParaRPr lang="en-US" sz="1300" dirty="0"/>
          </a:p>
        </p:txBody>
      </p:sp>
      <p:sp>
        <p:nvSpPr>
          <p:cNvPr id="20" name="freccia"/>
          <p:cNvSpPr/>
          <p:nvPr/>
        </p:nvSpPr>
        <p:spPr>
          <a:xfrm>
            <a:off x="5303520" y="1499616"/>
            <a:ext cx="182880" cy="292608"/>
          </a:xfrm>
          <a:prstGeom prst="rightArrow">
            <a:avLst/>
          </a:prstGeom>
          <a:solidFill>
            <a:schemeClr val="accent2"/>
          </a:solidFill>
          <a:ln/>
        </p:spPr>
      </p:sp>
      <p:sp>
        <p:nvSpPr>
          <p:cNvPr id="21" name="blocco Dato validato"/>
          <p:cNvSpPr/>
          <p:nvPr/>
        </p:nvSpPr>
        <p:spPr>
          <a:xfrm>
            <a:off x="5504688" y="1280160"/>
            <a:ext cx="1463040" cy="731520"/>
          </a:xfrm>
          <a:prstGeom prst="roundRect">
            <a:avLst>
              <a:gd name="adj" fmla="val 15000"/>
            </a:avLst>
          </a:prstGeom>
          <a:solidFill>
            <a:schemeClr val="bg2"/>
          </a:solidFill>
          <a:ln/>
        </p:spPr>
      </p:sp>
      <p:sp>
        <p:nvSpPr>
          <p:cNvPr id="22" name="Text 19"/>
          <p:cNvSpPr txBox="1"/>
          <p:nvPr/>
        </p:nvSpPr>
        <p:spPr>
          <a:xfrm>
            <a:off x="5550408" y="1280160"/>
            <a:ext cx="1371600" cy="731520"/>
          </a:xfrm>
          <a:prstGeom prst="rect">
            <a:avLst/>
          </a:prstGeom>
          <a:noFill/>
          <a:ln/>
        </p:spPr>
        <p:txBody>
          <a:bodyPr wrap="square" lIns="0" tIns="0" rIns="0" bIns="0" rtlCol="0" anchor="ctr"/>
          <a:lstStyle/>
          <a:p>
            <a:pPr algn="ctr" indent="0" marL="0">
              <a:buNone/>
            </a:pPr>
            <a:r>
              <a:rPr lang="en-US" sz="1300" b="1" dirty="0">
                <a:solidFill>
                  <a:schemeClr val="tx1"/>
                </a:solidFill>
              </a:rPr>
              <a:t>Dato validato</a:t>
            </a:r>
            <a:endParaRPr lang="en-US" sz="1300" dirty="0"/>
          </a:p>
        </p:txBody>
      </p:sp>
      <p:sp>
        <p:nvSpPr>
          <p:cNvPr id="23" name="freccia"/>
          <p:cNvSpPr/>
          <p:nvPr/>
        </p:nvSpPr>
        <p:spPr>
          <a:xfrm>
            <a:off x="6986016" y="1499616"/>
            <a:ext cx="182880" cy="292608"/>
          </a:xfrm>
          <a:prstGeom prst="rightArrow">
            <a:avLst/>
          </a:prstGeom>
          <a:solidFill>
            <a:schemeClr val="accent2"/>
          </a:solidFill>
          <a:ln/>
        </p:spPr>
      </p:sp>
      <p:sp>
        <p:nvSpPr>
          <p:cNvPr id="24" name="blocco Impiego"/>
          <p:cNvSpPr/>
          <p:nvPr/>
        </p:nvSpPr>
        <p:spPr>
          <a:xfrm>
            <a:off x="7187184" y="1280160"/>
            <a:ext cx="1463040" cy="731520"/>
          </a:xfrm>
          <a:prstGeom prst="roundRect">
            <a:avLst>
              <a:gd name="adj" fmla="val 15000"/>
            </a:avLst>
          </a:prstGeom>
          <a:solidFill>
            <a:schemeClr val="accent1"/>
          </a:solidFill>
          <a:ln/>
        </p:spPr>
      </p:sp>
      <p:sp>
        <p:nvSpPr>
          <p:cNvPr id="25" name="Text 22"/>
          <p:cNvSpPr txBox="1"/>
          <p:nvPr/>
        </p:nvSpPr>
        <p:spPr>
          <a:xfrm>
            <a:off x="7232904" y="1280160"/>
            <a:ext cx="1371600" cy="731520"/>
          </a:xfrm>
          <a:prstGeom prst="rect">
            <a:avLst/>
          </a:prstGeom>
          <a:noFill/>
          <a:ln/>
        </p:spPr>
        <p:txBody>
          <a:bodyPr wrap="square" lIns="0" tIns="0" rIns="0" bIns="0" rtlCol="0" anchor="ctr"/>
          <a:lstStyle/>
          <a:p>
            <a:pPr algn="ctr" indent="0" marL="0">
              <a:buNone/>
            </a:pPr>
            <a:r>
              <a:rPr lang="en-US" sz="1300" b="1" dirty="0">
                <a:solidFill>
                  <a:schemeClr val="bg1"/>
                </a:solidFill>
              </a:rPr>
              <a:t>Impiego</a:t>
            </a:r>
            <a:endParaRPr lang="en-US" sz="1300" dirty="0"/>
          </a:p>
        </p:txBody>
      </p:sp>
      <p:sp>
        <p:nvSpPr>
          <p:cNvPr id="26" name="Text 23"/>
          <p:cNvSpPr txBox="1"/>
          <p:nvPr/>
        </p:nvSpPr>
        <p:spPr>
          <a:xfrm>
            <a:off x="3364992" y="2103120"/>
            <a:ext cx="1463040" cy="548640"/>
          </a:xfrm>
          <a:prstGeom prst="rect">
            <a:avLst/>
          </a:prstGeom>
          <a:noFill/>
          <a:ln/>
        </p:spPr>
        <p:txBody>
          <a:bodyPr wrap="square" lIns="0" tIns="0" rIns="0" bIns="0" rtlCol="0" anchor="t"/>
          <a:lstStyle/>
          <a:p>
            <a:pPr algn="ctr" indent="0" marL="0">
              <a:buNone/>
            </a:pPr>
            <a:r>
              <a:rPr lang="en-US" sz="1100" b="1" i="1" dirty="0">
                <a:solidFill>
                  <a:schemeClr val="accent5"/>
                </a:solidFill>
              </a:rPr>
              <a:t>Il passaggio che si rischia di saltare</a:t>
            </a:r>
            <a:endParaRPr lang="en-US" sz="1100" dirty="0"/>
          </a:p>
        </p:txBody>
      </p:sp>
      <p:sp>
        <p:nvSpPr>
          <p:cNvPr id="27" name="scheda Gli errori si propagano"/>
          <p:cNvSpPr/>
          <p:nvPr/>
        </p:nvSpPr>
        <p:spPr>
          <a:xfrm>
            <a:off x="457200" y="2788920"/>
            <a:ext cx="3977640" cy="1737360"/>
          </a:xfrm>
          <a:prstGeom prst="roundRect">
            <a:avLst>
              <a:gd name="adj" fmla="val 4211"/>
            </a:avLst>
          </a:prstGeom>
          <a:solidFill>
            <a:schemeClr val="bg2"/>
          </a:solidFill>
          <a:ln/>
        </p:spPr>
      </p:sp>
      <p:sp>
        <p:nvSpPr>
          <p:cNvPr id="28" name="cerchio FiAlertTriangle"/>
          <p:cNvSpPr/>
          <p:nvPr/>
        </p:nvSpPr>
        <p:spPr>
          <a:xfrm>
            <a:off x="640080" y="2971800"/>
            <a:ext cx="457200" cy="457200"/>
          </a:xfrm>
          <a:prstGeom prst="ellipse">
            <a:avLst/>
          </a:prstGeom>
          <a:solidFill>
            <a:schemeClr val="accent5"/>
          </a:solidFill>
          <a:ln/>
        </p:spPr>
      </p:sp>
      <p:pic>
        <p:nvPicPr>
          <p:cNvPr id="29" name="Image 0" descr="FiAlertTriangle">    </p:cNvPr>
          <p:cNvPicPr>
            <a:picLocks noChangeAspect="1"/>
          </p:cNvPicPr>
          <p:nvPr/>
        </p:nvPicPr>
        <p:blipFill>
          <a:blip r:embed="rId1"/>
          <a:stretch>
            <a:fillRect/>
          </a:stretch>
        </p:blipFill>
        <p:spPr>
          <a:xfrm>
            <a:off x="754380" y="3086100"/>
            <a:ext cx="228600" cy="228600"/>
          </a:xfrm>
          <a:prstGeom prst="rect">
            <a:avLst/>
          </a:prstGeom>
        </p:spPr>
      </p:pic>
      <p:sp>
        <p:nvSpPr>
          <p:cNvPr id="30" name="Text 26"/>
          <p:cNvSpPr txBox="1"/>
          <p:nvPr/>
        </p:nvSpPr>
        <p:spPr>
          <a:xfrm>
            <a:off x="1234440" y="297180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Gli errori si propagano</a:t>
            </a:r>
            <a:endParaRPr lang="en-US" sz="1400" dirty="0"/>
          </a:p>
        </p:txBody>
      </p:sp>
      <p:sp>
        <p:nvSpPr>
          <p:cNvPr id="31" name="Text 27"/>
          <p:cNvSpPr txBox="1"/>
          <p:nvPr/>
        </p:nvSpPr>
        <p:spPr>
          <a:xfrm>
            <a:off x="640080" y="3566160"/>
            <a:ext cx="3611880" cy="850392"/>
          </a:xfrm>
          <a:prstGeom prst="rect">
            <a:avLst/>
          </a:prstGeom>
          <a:noFill/>
          <a:ln/>
        </p:spPr>
        <p:txBody>
          <a:bodyPr wrap="square" lIns="0" tIns="0" rIns="0" bIns="0" rtlCol="0" anchor="t"/>
          <a:lstStyle/>
          <a:p>
            <a:pPr indent="0" marL="0">
              <a:buNone/>
            </a:pPr>
            <a:r>
              <a:rPr lang="en-US" sz="1200" dirty="0">
                <a:solidFill>
                  <a:schemeClr val="tx2"/>
                </a:solidFill>
              </a:rPr>
              <a:t>Importo sbagliato nel report, scadenza senza avviso, fornitore nell'analisi sbagliata. Più ci si allontana dal documento, più è difficile accorgersene.</a:t>
            </a:r>
            <a:endParaRPr lang="en-US" sz="1200" dirty="0"/>
          </a:p>
        </p:txBody>
      </p:sp>
      <p:sp>
        <p:nvSpPr>
          <p:cNvPr id="32" name="scheda Conservare il collegamento"/>
          <p:cNvSpPr/>
          <p:nvPr/>
        </p:nvSpPr>
        <p:spPr>
          <a:xfrm>
            <a:off x="4709160" y="2788920"/>
            <a:ext cx="3977640" cy="1737360"/>
          </a:xfrm>
          <a:prstGeom prst="roundRect">
            <a:avLst>
              <a:gd name="adj" fmla="val 4211"/>
            </a:avLst>
          </a:prstGeom>
          <a:solidFill>
            <a:schemeClr val="accent6"/>
          </a:solidFill>
          <a:ln/>
        </p:spPr>
      </p:sp>
      <p:sp>
        <p:nvSpPr>
          <p:cNvPr id="33" name="cerchio FiLink"/>
          <p:cNvSpPr/>
          <p:nvPr/>
        </p:nvSpPr>
        <p:spPr>
          <a:xfrm>
            <a:off x="4892040" y="2971800"/>
            <a:ext cx="457200" cy="457200"/>
          </a:xfrm>
          <a:prstGeom prst="ellipse">
            <a:avLst/>
          </a:prstGeom>
          <a:solidFill>
            <a:schemeClr val="accent1"/>
          </a:solidFill>
          <a:ln/>
        </p:spPr>
      </p:sp>
      <p:pic>
        <p:nvPicPr>
          <p:cNvPr id="34" name="Image 1" descr="FiLink">    </p:cNvPr>
          <p:cNvPicPr>
            <a:picLocks noChangeAspect="1"/>
          </p:cNvPicPr>
          <p:nvPr/>
        </p:nvPicPr>
        <p:blipFill>
          <a:blip r:embed="rId2"/>
          <a:stretch>
            <a:fillRect/>
          </a:stretch>
        </p:blipFill>
        <p:spPr>
          <a:xfrm>
            <a:off x="5006340" y="3086100"/>
            <a:ext cx="228600" cy="228600"/>
          </a:xfrm>
          <a:prstGeom prst="rect">
            <a:avLst/>
          </a:prstGeom>
        </p:spPr>
      </p:pic>
      <p:sp>
        <p:nvSpPr>
          <p:cNvPr id="35" name="Text 30"/>
          <p:cNvSpPr txBox="1"/>
          <p:nvPr/>
        </p:nvSpPr>
        <p:spPr>
          <a:xfrm>
            <a:off x="5486400" y="297180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Conservare il collegamento</a:t>
            </a:r>
            <a:endParaRPr lang="en-US" sz="1400" dirty="0"/>
          </a:p>
        </p:txBody>
      </p:sp>
      <p:sp>
        <p:nvSpPr>
          <p:cNvPr id="36" name="Text 31"/>
          <p:cNvSpPr txBox="1"/>
          <p:nvPr/>
        </p:nvSpPr>
        <p:spPr>
          <a:xfrm>
            <a:off x="4892040" y="3566160"/>
            <a:ext cx="3611880" cy="850392"/>
          </a:xfrm>
          <a:prstGeom prst="rect">
            <a:avLst/>
          </a:prstGeom>
          <a:noFill/>
          <a:ln/>
        </p:spPr>
        <p:txBody>
          <a:bodyPr wrap="square" lIns="0" tIns="0" rIns="0" bIns="0" rtlCol="0" anchor="t"/>
          <a:lstStyle/>
          <a:p>
            <a:pPr indent="0" marL="0">
              <a:buNone/>
            </a:pPr>
            <a:r>
              <a:rPr lang="en-US" sz="1200" dirty="0">
                <a:solidFill>
                  <a:schemeClr val="tx2"/>
                </a:solidFill>
              </a:rPr>
              <a:t>Per ogni dato, il documento e il passaggio da cui proviene: si può controllare anche a distanza di tempo.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rendere più utilizzabile il contenuto informativo dei documenti, ma un dato estratto non è automaticamente un dato validato.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8.4  ·  Estrazione e strutturazione delle informazioni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Confronto e analisi di più documenti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confronto utile individua differenze rilevanti, ne distingue la natura e permette di verificarle nelle fonti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tipi di confronto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Versioni di un documento"/>
          <p:cNvSpPr/>
          <p:nvPr/>
        </p:nvSpPr>
        <p:spPr>
          <a:xfrm>
            <a:off x="457200" y="1097280"/>
            <a:ext cx="2621280" cy="2011680"/>
          </a:xfrm>
          <a:prstGeom prst="roundRect">
            <a:avLst>
              <a:gd name="adj" fmla="val 3636"/>
            </a:avLst>
          </a:prstGeom>
          <a:solidFill>
            <a:schemeClr val="bg2"/>
          </a:solidFill>
          <a:ln/>
        </p:spPr>
      </p:sp>
      <p:sp>
        <p:nvSpPr>
          <p:cNvPr id="13" name="cerchio FiGitCommit"/>
          <p:cNvSpPr/>
          <p:nvPr/>
        </p:nvSpPr>
        <p:spPr>
          <a:xfrm>
            <a:off x="621792" y="1261872"/>
            <a:ext cx="438912" cy="438912"/>
          </a:xfrm>
          <a:prstGeom prst="ellipse">
            <a:avLst/>
          </a:prstGeom>
          <a:solidFill>
            <a:schemeClr val="accent1"/>
          </a:solidFill>
          <a:ln/>
        </p:spPr>
      </p:sp>
      <p:pic>
        <p:nvPicPr>
          <p:cNvPr id="14" name="Image 0" descr="FiGitCommit">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Versioni di un documento</a:t>
            </a:r>
            <a:endParaRPr lang="en-US" sz="1400" dirty="0"/>
          </a:p>
        </p:txBody>
      </p:sp>
      <p:sp>
        <p:nvSpPr>
          <p:cNvPr id="16" name="Text 12"/>
          <p:cNvSpPr txBox="1"/>
          <p:nvPr/>
        </p:nvSpPr>
        <p:spPr>
          <a:xfrm>
            <a:off x="621792" y="1810512"/>
            <a:ext cx="2292096" cy="1207008"/>
          </a:xfrm>
          <a:prstGeom prst="rect">
            <a:avLst/>
          </a:prstGeom>
          <a:noFill/>
          <a:ln/>
        </p:spPr>
        <p:txBody>
          <a:bodyPr wrap="square" lIns="0" tIns="0" rIns="0" bIns="0" rtlCol="0" anchor="t"/>
          <a:lstStyle/>
          <a:p>
            <a:pPr indent="0" marL="0">
              <a:buNone/>
            </a:pPr>
            <a:r>
              <a:rPr lang="en-US" sz="1300" dirty="0">
                <a:solidFill>
                  <a:schemeClr val="tx2"/>
                </a:solidFill>
              </a:rPr>
              <a:t>Che cosa è cambiato? Soprattutto: che cosa non è stato dichiarato?</a:t>
            </a:r>
            <a:endParaRPr lang="en-US" sz="1300" dirty="0"/>
          </a:p>
        </p:txBody>
      </p:sp>
      <p:sp>
        <p:nvSpPr>
          <p:cNvPr id="17" name="Documenti alternativi"/>
          <p:cNvSpPr/>
          <p:nvPr/>
        </p:nvSpPr>
        <p:spPr>
          <a:xfrm>
            <a:off x="3261360" y="1097280"/>
            <a:ext cx="2621280" cy="2011680"/>
          </a:xfrm>
          <a:prstGeom prst="roundRect">
            <a:avLst>
              <a:gd name="adj" fmla="val 3636"/>
            </a:avLst>
          </a:prstGeom>
          <a:solidFill>
            <a:schemeClr val="bg2"/>
          </a:solidFill>
          <a:ln/>
        </p:spPr>
      </p:sp>
      <p:sp>
        <p:nvSpPr>
          <p:cNvPr id="18" name="cerchio FiColumns"/>
          <p:cNvSpPr/>
          <p:nvPr/>
        </p:nvSpPr>
        <p:spPr>
          <a:xfrm>
            <a:off x="3425952" y="1261872"/>
            <a:ext cx="438912" cy="438912"/>
          </a:xfrm>
          <a:prstGeom prst="ellipse">
            <a:avLst/>
          </a:prstGeom>
          <a:solidFill>
            <a:schemeClr val="accent1"/>
          </a:solidFill>
          <a:ln/>
        </p:spPr>
      </p:sp>
      <p:pic>
        <p:nvPicPr>
          <p:cNvPr id="19" name="Image 1" descr="FiColumns">    </p:cNvPr>
          <p:cNvPicPr>
            <a:picLocks noChangeAspect="1"/>
          </p:cNvPicPr>
          <p:nvPr/>
        </p:nvPicPr>
        <p:blipFill>
          <a:blip r:embed="rId2"/>
          <a:stretch>
            <a:fillRect/>
          </a:stretch>
        </p:blipFill>
        <p:spPr>
          <a:xfrm>
            <a:off x="3535680" y="1371600"/>
            <a:ext cx="219456" cy="219456"/>
          </a:xfrm>
          <a:prstGeom prst="rect">
            <a:avLst/>
          </a:prstGeom>
        </p:spPr>
      </p:pic>
      <p:sp>
        <p:nvSpPr>
          <p:cNvPr id="20" name="Text 15"/>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Documenti alternativi</a:t>
            </a:r>
            <a:endParaRPr lang="en-US" sz="1400" dirty="0"/>
          </a:p>
        </p:txBody>
      </p:sp>
      <p:sp>
        <p:nvSpPr>
          <p:cNvPr id="21" name="Text 16"/>
          <p:cNvSpPr txBox="1"/>
          <p:nvPr/>
        </p:nvSpPr>
        <p:spPr>
          <a:xfrm>
            <a:off x="3425952" y="1810512"/>
            <a:ext cx="2292096" cy="1207008"/>
          </a:xfrm>
          <a:prstGeom prst="rect">
            <a:avLst/>
          </a:prstGeom>
          <a:noFill/>
          <a:ln/>
        </p:spPr>
        <p:txBody>
          <a:bodyPr wrap="square" lIns="0" tIns="0" rIns="0" bIns="0" rtlCol="0" anchor="t"/>
          <a:lstStyle/>
          <a:p>
            <a:pPr indent="0" marL="0">
              <a:buNone/>
            </a:pPr>
            <a:r>
              <a:rPr lang="en-US" sz="1300" dirty="0">
                <a:solidFill>
                  <a:schemeClr val="tx2"/>
                </a:solidFill>
              </a:rPr>
              <a:t>Offerte, proposte, contratti: elementi comuni e differenze per scegliere</a:t>
            </a:r>
            <a:endParaRPr lang="en-US" sz="1300" dirty="0"/>
          </a:p>
        </p:txBody>
      </p:sp>
      <p:sp>
        <p:nvSpPr>
          <p:cNvPr id="22" name="Documenti collegati"/>
          <p:cNvSpPr/>
          <p:nvPr/>
        </p:nvSpPr>
        <p:spPr>
          <a:xfrm>
            <a:off x="6065520" y="1097280"/>
            <a:ext cx="2621280" cy="2011680"/>
          </a:xfrm>
          <a:prstGeom prst="roundRect">
            <a:avLst>
              <a:gd name="adj" fmla="val 3636"/>
            </a:avLst>
          </a:prstGeom>
          <a:solidFill>
            <a:schemeClr val="bg2"/>
          </a:solidFill>
          <a:ln/>
        </p:spPr>
      </p:sp>
      <p:sp>
        <p:nvSpPr>
          <p:cNvPr id="23" name="cerchio FiGitMerge"/>
          <p:cNvSpPr/>
          <p:nvPr/>
        </p:nvSpPr>
        <p:spPr>
          <a:xfrm>
            <a:off x="6230112" y="1261872"/>
            <a:ext cx="438912" cy="438912"/>
          </a:xfrm>
          <a:prstGeom prst="ellipse">
            <a:avLst/>
          </a:prstGeom>
          <a:solidFill>
            <a:schemeClr val="accent1"/>
          </a:solidFill>
          <a:ln/>
        </p:spPr>
      </p:sp>
      <p:pic>
        <p:nvPicPr>
          <p:cNvPr id="24" name="Image 2" descr="FiGitMerge">    </p:cNvPr>
          <p:cNvPicPr>
            <a:picLocks noChangeAspect="1"/>
          </p:cNvPicPr>
          <p:nvPr/>
        </p:nvPicPr>
        <p:blipFill>
          <a:blip r:embed="rId3"/>
          <a:stretch>
            <a:fillRect/>
          </a:stretch>
        </p:blipFill>
        <p:spPr>
          <a:xfrm>
            <a:off x="6339840" y="1371600"/>
            <a:ext cx="219456" cy="219456"/>
          </a:xfrm>
          <a:prstGeom prst="rect">
            <a:avLst/>
          </a:prstGeom>
        </p:spPr>
      </p:pic>
      <p:sp>
        <p:nvSpPr>
          <p:cNvPr id="25" name="Text 19"/>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Documenti collegati</a:t>
            </a:r>
            <a:endParaRPr lang="en-US" sz="1400" dirty="0"/>
          </a:p>
        </p:txBody>
      </p:sp>
      <p:sp>
        <p:nvSpPr>
          <p:cNvPr id="26" name="Text 20"/>
          <p:cNvSpPr txBox="1"/>
          <p:nvPr/>
        </p:nvSpPr>
        <p:spPr>
          <a:xfrm>
            <a:off x="6230112" y="1810512"/>
            <a:ext cx="2292096" cy="1207008"/>
          </a:xfrm>
          <a:prstGeom prst="rect">
            <a:avLst/>
          </a:prstGeom>
          <a:noFill/>
          <a:ln/>
        </p:spPr>
        <p:txBody>
          <a:bodyPr wrap="square" lIns="0" tIns="0" rIns="0" bIns="0" rtlCol="0" anchor="t"/>
          <a:lstStyle/>
          <a:p>
            <a:pPr indent="0" marL="0">
              <a:buNone/>
            </a:pPr>
            <a:r>
              <a:rPr lang="en-US" sz="1300" dirty="0">
                <a:solidFill>
                  <a:schemeClr val="tx2"/>
                </a:solidFill>
              </a:rPr>
              <a:t>Procedura e regolamento, capitolato e offerta: contraddizioni e lacune</a:t>
            </a:r>
            <a:endParaRPr lang="en-US" sz="1300" dirty="0"/>
          </a:p>
        </p:txBody>
      </p:sp>
      <p:sp>
        <p:nvSpPr>
          <p:cNvPr id="27" name="messaggio"/>
          <p:cNvSpPr/>
          <p:nvPr/>
        </p:nvSpPr>
        <p:spPr>
          <a:xfrm>
            <a:off x="457200" y="3337560"/>
            <a:ext cx="8229600" cy="777240"/>
          </a:xfrm>
          <a:prstGeom prst="roundRect">
            <a:avLst>
              <a:gd name="adj" fmla="val 9412"/>
            </a:avLst>
          </a:prstGeom>
          <a:solidFill>
            <a:schemeClr val="tx1"/>
          </a:solidFill>
          <a:ln/>
        </p:spPr>
      </p:sp>
      <p:sp>
        <p:nvSpPr>
          <p:cNvPr id="28" name="Text 22"/>
          <p:cNvSpPr txBox="1"/>
          <p:nvPr/>
        </p:nvSpPr>
        <p:spPr>
          <a:xfrm>
            <a:off x="640080" y="3337560"/>
            <a:ext cx="7863840" cy="777240"/>
          </a:xfrm>
          <a:prstGeom prst="rect">
            <a:avLst/>
          </a:prstGeom>
          <a:noFill/>
          <a:ln/>
        </p:spPr>
        <p:txBody>
          <a:bodyPr wrap="square" lIns="0" tIns="0" rIns="0" bIns="0" rtlCol="0" anchor="ctr"/>
          <a:lstStyle/>
          <a:p>
            <a:pPr indent="0" marL="0">
              <a:buNone/>
            </a:pPr>
            <a:r>
              <a:rPr lang="en-US" sz="1300" dirty="0">
                <a:solidFill>
                  <a:schemeClr val="bg1"/>
                </a:solidFill>
              </a:rPr>
              <a:t>Gli strumenti di confronto tradizionali sono esatti sulle modifiche testuali. L'AI aggiunge l'interpretazione e il confronto tra strutture diverse.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Identificare le modifiche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926080"/>
                <a:gridCol w="2560320"/>
              </a:tblGrid>
              <a:tr h="457200">
                <a:tc>
                  <a:txBody>
                    <a:bodyPr/>
                    <a:lstStyle/>
                    <a:p>
                      <a:pPr indent="0" marL="0">
                        <a:buNone/>
                      </a:pPr>
                      <a:r>
                        <a:rPr lang="en-US" sz="1200" b="1" dirty="0">
                          <a:solidFill>
                            <a:schemeClr val="bg1"/>
                          </a:solidFill>
                        </a:rPr>
                        <a:t>Versione 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Versione 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Natura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Il fornitre si impegna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si impegna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Formale: refuso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Pagamento a 30 giorni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Pagamento a 60 giorni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Sostanziale: condizioni economiche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Il fornitore garantisce la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si adopera per la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Sostanziale: obbligo attenuato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Text 9"/>
          <p:cNvSpPr txBox="1"/>
          <p:nvPr/>
        </p:nvSpPr>
        <p:spPr>
          <a:xfrm>
            <a:off x="457200" y="292608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scheda L'elenco può non essere completo"/>
          <p:cNvSpPr/>
          <p:nvPr/>
        </p:nvSpPr>
        <p:spPr>
          <a:xfrm>
            <a:off x="457200" y="3246120"/>
            <a:ext cx="3977640" cy="1280160"/>
          </a:xfrm>
          <a:prstGeom prst="roundRect">
            <a:avLst>
              <a:gd name="adj" fmla="val 5714"/>
            </a:avLst>
          </a:prstGeom>
          <a:solidFill>
            <a:schemeClr val="bg2"/>
          </a:solidFill>
          <a:ln/>
        </p:spPr>
      </p:sp>
      <p:sp>
        <p:nvSpPr>
          <p:cNvPr id="15" name="Text 11"/>
          <p:cNvSpPr txBox="1"/>
          <p:nvPr/>
        </p:nvSpPr>
        <p:spPr>
          <a:xfrm>
            <a:off x="640080" y="3429000"/>
            <a:ext cx="3611880" cy="347472"/>
          </a:xfrm>
          <a:prstGeom prst="rect">
            <a:avLst/>
          </a:prstGeom>
          <a:noFill/>
          <a:ln/>
        </p:spPr>
        <p:txBody>
          <a:bodyPr wrap="square" lIns="0" tIns="0" rIns="0" bIns="0" rtlCol="0" anchor="t"/>
          <a:lstStyle/>
          <a:p>
            <a:pPr indent="0" marL="0">
              <a:buNone/>
            </a:pPr>
            <a:r>
              <a:rPr lang="en-US" sz="1400" b="1" dirty="0">
                <a:solidFill>
                  <a:schemeClr val="tx1"/>
                </a:solidFill>
              </a:rPr>
              <a:t>L'elenco può non essere completo</a:t>
            </a:r>
            <a:endParaRPr lang="en-US" sz="1400" dirty="0"/>
          </a:p>
        </p:txBody>
      </p:sp>
      <p:sp>
        <p:nvSpPr>
          <p:cNvPr id="16" name="Text 12"/>
          <p:cNvSpPr txBox="1"/>
          <p:nvPr/>
        </p:nvSpPr>
        <p:spPr>
          <a:xfrm>
            <a:off x="640080" y="3813048"/>
            <a:ext cx="3611880" cy="603504"/>
          </a:xfrm>
          <a:prstGeom prst="rect">
            <a:avLst/>
          </a:prstGeom>
          <a:noFill/>
          <a:ln/>
        </p:spPr>
        <p:txBody>
          <a:bodyPr wrap="square" lIns="0" tIns="0" rIns="0" bIns="0" rtlCol="0" anchor="t"/>
          <a:lstStyle/>
          <a:p>
            <a:pPr indent="0" marL="0">
              <a:buNone/>
            </a:pPr>
            <a:r>
              <a:rPr lang="en-US" sz="1200" dirty="0">
                <a:solidFill>
                  <a:schemeClr val="tx2"/>
                </a:solidFill>
              </a:rPr>
              <a:t>Per i documenti importanti, usare anche il confronto tradizionale, esaustivo sulle differenze testuali.</a:t>
            </a:r>
            <a:endParaRPr lang="en-US" sz="1200" dirty="0"/>
          </a:p>
        </p:txBody>
      </p:sp>
      <p:sp>
        <p:nvSpPr>
          <p:cNvPr id="17" name="scheda L'importanza dipende dal contesto"/>
          <p:cNvSpPr/>
          <p:nvPr/>
        </p:nvSpPr>
        <p:spPr>
          <a:xfrm>
            <a:off x="4709160" y="3246120"/>
            <a:ext cx="3977640" cy="1280160"/>
          </a:xfrm>
          <a:prstGeom prst="roundRect">
            <a:avLst>
              <a:gd name="adj" fmla="val 5714"/>
            </a:avLst>
          </a:prstGeom>
          <a:solidFill>
            <a:schemeClr val="accent6"/>
          </a:solidFill>
          <a:ln/>
        </p:spPr>
      </p:sp>
      <p:sp>
        <p:nvSpPr>
          <p:cNvPr id="18" name="Text 14"/>
          <p:cNvSpPr txBox="1"/>
          <p:nvPr/>
        </p:nvSpPr>
        <p:spPr>
          <a:xfrm>
            <a:off x="4892040" y="3429000"/>
            <a:ext cx="3611880" cy="347472"/>
          </a:xfrm>
          <a:prstGeom prst="rect">
            <a:avLst/>
          </a:prstGeom>
          <a:noFill/>
          <a:ln/>
        </p:spPr>
        <p:txBody>
          <a:bodyPr wrap="square" lIns="0" tIns="0" rIns="0" bIns="0" rtlCol="0" anchor="t"/>
          <a:lstStyle/>
          <a:p>
            <a:pPr indent="0" marL="0">
              <a:buNone/>
            </a:pPr>
            <a:r>
              <a:rPr lang="en-US" sz="1400" b="1" dirty="0">
                <a:solidFill>
                  <a:schemeClr val="tx1"/>
                </a:solidFill>
              </a:rPr>
              <a:t>L'importanza dipende dal contesto</a:t>
            </a:r>
            <a:endParaRPr lang="en-US" sz="1400" dirty="0"/>
          </a:p>
        </p:txBody>
      </p:sp>
      <p:sp>
        <p:nvSpPr>
          <p:cNvPr id="19" name="Text 15"/>
          <p:cNvSpPr txBox="1"/>
          <p:nvPr/>
        </p:nvSpPr>
        <p:spPr>
          <a:xfrm>
            <a:off x="4892040" y="3813048"/>
            <a:ext cx="3611880" cy="603504"/>
          </a:xfrm>
          <a:prstGeom prst="rect">
            <a:avLst/>
          </a:prstGeom>
          <a:noFill/>
          <a:ln/>
        </p:spPr>
        <p:txBody>
          <a:bodyPr wrap="square" lIns="0" tIns="0" rIns="0" bIns="0" rtlCol="0" anchor="t"/>
          <a:lstStyle/>
          <a:p>
            <a:pPr indent="0" marL="0">
              <a:buNone/>
            </a:pPr>
            <a:r>
              <a:rPr lang="en-US" sz="1200" dirty="0">
                <a:solidFill>
                  <a:schemeClr val="tx2"/>
                </a:solidFill>
              </a:rPr>
              <a:t>Che il sistema conosce solo in parte: la valutazione finale resta a chi conosce la trattativa.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matrice comparativa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2103120"/>
                <a:gridCol w="2103120"/>
                <a:gridCol w="2103120"/>
              </a:tblGrid>
              <a:tr h="411480">
                <a:tc>
                  <a:txBody>
                    <a:bodyPr/>
                    <a:lstStyle/>
                    <a:p>
                      <a:pPr indent="0" marL="0">
                        <a:buNone/>
                      </a:pPr>
                      <a:r>
                        <a:rPr lang="en-US" sz="1200" b="1" dirty="0">
                          <a:solidFill>
                            <a:schemeClr val="bg1"/>
                          </a:solidFill>
                        </a:rPr>
                        <a:t>Criterio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B</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C</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1"/>
                          </a:solidFill>
                        </a:rPr>
                        <a:t>Prezzo (IVA esclusa)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12.400 € (§3)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11.900 € (§2.1)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12.100 € (p. 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 giorni (§5)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45 giorni (§4)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20 giorni lavorativi (p. 6)</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Garanzia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24 mesi (§7)</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36 mesi (§6.2)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24 mesi (p. 7)</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Assistenza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Inclusa 1 anno (§8)</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 pagamento (§6.4)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 specificata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15468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blocco Riferimento per ogni cella"/>
          <p:cNvSpPr/>
          <p:nvPr/>
        </p:nvSpPr>
        <p:spPr>
          <a:xfrm>
            <a:off x="457200" y="3474720"/>
            <a:ext cx="2651760" cy="548640"/>
          </a:xfrm>
          <a:prstGeom prst="roundRect">
            <a:avLst>
              <a:gd name="adj" fmla="val 20000"/>
            </a:avLst>
          </a:prstGeom>
          <a:solidFill>
            <a:schemeClr val="accent6"/>
          </a:solidFill>
          <a:ln/>
        </p:spPr>
      </p:sp>
      <p:sp>
        <p:nvSpPr>
          <p:cNvPr id="15" name="Text 11"/>
          <p:cNvSpPr txBox="1"/>
          <p:nvPr/>
        </p:nvSpPr>
        <p:spPr>
          <a:xfrm>
            <a:off x="502920" y="34747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Riferimento per ogni cella</a:t>
            </a:r>
            <a:endParaRPr lang="en-US" sz="1200" dirty="0"/>
          </a:p>
        </p:txBody>
      </p:sp>
      <p:sp>
        <p:nvSpPr>
          <p:cNvPr id="16" name="blocco Vuoti dichiarati, non dedotti"/>
          <p:cNvSpPr/>
          <p:nvPr/>
        </p:nvSpPr>
        <p:spPr>
          <a:xfrm>
            <a:off x="3246120" y="3474720"/>
            <a:ext cx="2651760" cy="548640"/>
          </a:xfrm>
          <a:prstGeom prst="roundRect">
            <a:avLst>
              <a:gd name="adj" fmla="val 20000"/>
            </a:avLst>
          </a:prstGeom>
          <a:solidFill>
            <a:schemeClr val="accent6"/>
          </a:solidFill>
          <a:ln/>
        </p:spPr>
      </p:sp>
      <p:sp>
        <p:nvSpPr>
          <p:cNvPr id="17" name="Text 13"/>
          <p:cNvSpPr txBox="1"/>
          <p:nvPr/>
        </p:nvSpPr>
        <p:spPr>
          <a:xfrm>
            <a:off x="3291840" y="34747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Vuoti dichiarati, non dedotti</a:t>
            </a:r>
            <a:endParaRPr lang="en-US" sz="1200" dirty="0"/>
          </a:p>
        </p:txBody>
      </p:sp>
      <p:sp>
        <p:nvSpPr>
          <p:cNvPr id="18" name="blocco Valori comparabili"/>
          <p:cNvSpPr/>
          <p:nvPr/>
        </p:nvSpPr>
        <p:spPr>
          <a:xfrm>
            <a:off x="6035040" y="3474720"/>
            <a:ext cx="2651760" cy="548640"/>
          </a:xfrm>
          <a:prstGeom prst="roundRect">
            <a:avLst>
              <a:gd name="adj" fmla="val 20000"/>
            </a:avLst>
          </a:prstGeom>
          <a:solidFill>
            <a:schemeClr val="accent6"/>
          </a:solidFill>
          <a:ln/>
        </p:spPr>
      </p:sp>
      <p:sp>
        <p:nvSpPr>
          <p:cNvPr id="19" name="Text 15"/>
          <p:cNvSpPr txBox="1"/>
          <p:nvPr/>
        </p:nvSpPr>
        <p:spPr>
          <a:xfrm>
            <a:off x="6080760" y="34747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Valori comparabili</a:t>
            </a:r>
            <a:endParaRPr lang="en-US" sz="1200" dirty="0"/>
          </a:p>
        </p:txBody>
      </p:sp>
      <p:sp>
        <p:nvSpPr>
          <p:cNvPr id="20" name="Text 1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200" b="1" i="1" dirty="0">
                <a:solidFill>
                  <a:schemeClr val="accent5"/>
                </a:solidFill>
              </a:rPr>
              <a:t>Attenzione: 20 giorni lavorativi non sono confrontabili con 30 giorni di calendario senza conversione.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Contraddizioni e lacune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Contraddizioni"/>
          <p:cNvSpPr/>
          <p:nvPr/>
        </p:nvSpPr>
        <p:spPr>
          <a:xfrm>
            <a:off x="457200" y="1097280"/>
            <a:ext cx="3977640" cy="2468880"/>
          </a:xfrm>
          <a:prstGeom prst="roundRect">
            <a:avLst>
              <a:gd name="adj" fmla="val 2963"/>
            </a:avLst>
          </a:prstGeom>
          <a:solidFill>
            <a:schemeClr val="bg2"/>
          </a:solidFill>
          <a:ln/>
        </p:spPr>
      </p:sp>
      <p:sp>
        <p:nvSpPr>
          <p:cNvPr id="13" name="cerchio FiXCircle"/>
          <p:cNvSpPr/>
          <p:nvPr/>
        </p:nvSpPr>
        <p:spPr>
          <a:xfrm>
            <a:off x="640080" y="1280160"/>
            <a:ext cx="457200" cy="457200"/>
          </a:xfrm>
          <a:prstGeom prst="ellipse">
            <a:avLst/>
          </a:prstGeom>
          <a:solidFill>
            <a:schemeClr val="accent5"/>
          </a:solidFill>
          <a:ln/>
        </p:spPr>
      </p:sp>
      <p:pic>
        <p:nvPicPr>
          <p:cNvPr id="14" name="Image 0" descr="FiXCircl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Contraddizioni</a:t>
            </a:r>
            <a:endParaRPr lang="en-US" sz="1600" dirty="0"/>
          </a:p>
        </p:txBody>
      </p:sp>
      <p:sp>
        <p:nvSpPr>
          <p:cNvPr id="16" name="Text 12"/>
          <p:cNvSpPr txBox="1"/>
          <p:nvPr/>
        </p:nvSpPr>
        <p:spPr>
          <a:xfrm>
            <a:off x="640080" y="2231136"/>
            <a:ext cx="3611880" cy="12252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Procedura: approvazione in 2 giorni; regolamento: 5</a:t>
            </a:r>
            <a:endParaRPr lang="en-US" sz="1200" dirty="0"/>
          </a:p>
          <a:p>
            <a:pPr marL="177800" indent="-177800">
              <a:spcAft>
                <a:spcPts val="500"/>
              </a:spcAft>
              <a:buSzPct val="100000"/>
              <a:buChar char="•"/>
            </a:pPr>
            <a:r>
              <a:rPr lang="en-US" sz="1200" dirty="0">
                <a:solidFill>
                  <a:schemeClr val="tx2"/>
                </a:solidFill>
              </a:rPr>
              <a:t>Offerta: garanzia 24 mesi in premessa, 12 nelle condizioni</a:t>
            </a:r>
            <a:endParaRPr lang="en-US" sz="1200" dirty="0"/>
          </a:p>
          <a:p>
            <a:pPr marL="177800" indent="-177800">
              <a:spcAft>
                <a:spcPts val="500"/>
              </a:spcAft>
              <a:buSzPct val="100000"/>
              <a:buChar char="•"/>
            </a:pPr>
            <a:r>
              <a:rPr lang="en-US" sz="1200" dirty="0">
                <a:solidFill>
                  <a:schemeClr val="tx2"/>
                </a:solidFill>
              </a:rPr>
              <a:t>Attività attribuita a reparti diversi</a:t>
            </a:r>
            <a:endParaRPr lang="en-US" sz="1200" dirty="0"/>
          </a:p>
        </p:txBody>
      </p:sp>
      <p:sp>
        <p:nvSpPr>
          <p:cNvPr id="17" name="scheda Informazioni mancanti"/>
          <p:cNvSpPr/>
          <p:nvPr/>
        </p:nvSpPr>
        <p:spPr>
          <a:xfrm>
            <a:off x="4709160" y="1097280"/>
            <a:ext cx="3977640" cy="2468880"/>
          </a:xfrm>
          <a:prstGeom prst="roundRect">
            <a:avLst>
              <a:gd name="adj" fmla="val 2963"/>
            </a:avLst>
          </a:prstGeom>
          <a:solidFill>
            <a:schemeClr val="accent6"/>
          </a:solidFill>
          <a:ln/>
        </p:spPr>
      </p:sp>
      <p:sp>
        <p:nvSpPr>
          <p:cNvPr id="18" name="cerchio FiMinusCircle"/>
          <p:cNvSpPr/>
          <p:nvPr/>
        </p:nvSpPr>
        <p:spPr>
          <a:xfrm>
            <a:off x="4892040" y="1280160"/>
            <a:ext cx="457200" cy="457200"/>
          </a:xfrm>
          <a:prstGeom prst="ellipse">
            <a:avLst/>
          </a:prstGeom>
          <a:solidFill>
            <a:schemeClr val="accent1"/>
          </a:solidFill>
          <a:ln/>
        </p:spPr>
      </p:sp>
      <p:pic>
        <p:nvPicPr>
          <p:cNvPr id="19" name="Image 1" descr="FiMinus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Informazioni mancanti</a:t>
            </a:r>
            <a:endParaRPr lang="en-US" sz="1600" dirty="0"/>
          </a:p>
        </p:txBody>
      </p:sp>
      <p:sp>
        <p:nvSpPr>
          <p:cNvPr id="21" name="Text 16"/>
          <p:cNvSpPr txBox="1"/>
          <p:nvPr/>
        </p:nvSpPr>
        <p:spPr>
          <a:xfrm>
            <a:off x="4892040" y="2231136"/>
            <a:ext cx="3611880" cy="12252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Capitolato: certificazioni, manutenzione, referenze; offerta: solo le prime due</a:t>
            </a:r>
            <a:endParaRPr lang="en-US" sz="1200" dirty="0"/>
          </a:p>
          <a:p>
            <a:pPr marL="177800" indent="-177800">
              <a:spcAft>
                <a:spcPts val="500"/>
              </a:spcAft>
              <a:buSzPct val="100000"/>
              <a:buChar char="•"/>
            </a:pPr>
            <a:r>
              <a:rPr lang="en-US" sz="1200" dirty="0">
                <a:solidFill>
                  <a:schemeClr val="tx2"/>
                </a:solidFill>
              </a:rPr>
              <a:t>Caso previsto dal regolamento, non disciplinato dalla procedura</a:t>
            </a:r>
            <a:endParaRPr lang="en-US" sz="1200" dirty="0"/>
          </a:p>
        </p:txBody>
      </p:sp>
      <p:sp>
        <p:nvSpPr>
          <p:cNvPr id="22" name="Lacune più difficili da trovare"/>
          <p:cNvSpPr/>
          <p:nvPr/>
        </p:nvSpPr>
        <p:spPr>
          <a:xfrm>
            <a:off x="457200" y="3703320"/>
            <a:ext cx="3977640" cy="822960"/>
          </a:xfrm>
          <a:prstGeom prst="roundRect">
            <a:avLst>
              <a:gd name="adj" fmla="val 8889"/>
            </a:avLst>
          </a:prstGeom>
          <a:solidFill>
            <a:schemeClr val="tx1"/>
          </a:solidFill>
          <a:ln/>
        </p:spPr>
      </p:sp>
      <p:sp>
        <p:nvSpPr>
          <p:cNvPr id="23" name="Text 18"/>
          <p:cNvSpPr txBox="1"/>
          <p:nvPr/>
        </p:nvSpPr>
        <p:spPr>
          <a:xfrm>
            <a:off x="640080" y="3749040"/>
            <a:ext cx="3611880" cy="347472"/>
          </a:xfrm>
          <a:prstGeom prst="rect">
            <a:avLst/>
          </a:prstGeom>
          <a:noFill/>
          <a:ln/>
        </p:spPr>
        <p:txBody>
          <a:bodyPr wrap="square" lIns="0" tIns="0" rIns="0" bIns="0" rtlCol="0" anchor="t"/>
          <a:lstStyle/>
          <a:p>
            <a:pPr indent="0" marL="0">
              <a:buNone/>
            </a:pPr>
            <a:r>
              <a:rPr lang="en-US" sz="1300" b="1" dirty="0">
                <a:solidFill>
                  <a:schemeClr val="accent6"/>
                </a:solidFill>
              </a:rPr>
              <a:t>Lacune più difficili da trovare</a:t>
            </a:r>
            <a:endParaRPr lang="en-US" sz="1300" dirty="0"/>
          </a:p>
        </p:txBody>
      </p:sp>
      <p:sp>
        <p:nvSpPr>
          <p:cNvPr id="24" name="Text 19"/>
          <p:cNvSpPr txBox="1"/>
          <p:nvPr/>
        </p:nvSpPr>
        <p:spPr>
          <a:xfrm>
            <a:off x="640080" y="4087368"/>
            <a:ext cx="3611880" cy="365760"/>
          </a:xfrm>
          <a:prstGeom prst="rect">
            <a:avLst/>
          </a:prstGeom>
          <a:noFill/>
          <a:ln/>
        </p:spPr>
        <p:txBody>
          <a:bodyPr wrap="square" lIns="0" tIns="0" rIns="0" bIns="0" rtlCol="0" anchor="t"/>
          <a:lstStyle/>
          <a:p>
            <a:pPr indent="0" marL="0">
              <a:buNone/>
            </a:pPr>
            <a:r>
              <a:rPr lang="en-US" sz="1200" dirty="0">
                <a:solidFill>
                  <a:schemeClr val="bg1"/>
                </a:solidFill>
              </a:rPr>
              <a:t>Fornire l'elenco dei requisiti da controllare</a:t>
            </a:r>
            <a:endParaRPr lang="en-US" sz="1200" dirty="0"/>
          </a:p>
        </p:txBody>
      </p:sp>
      <p:sp>
        <p:nvSpPr>
          <p:cNvPr id="25" name="Possibili false contraddizioni"/>
          <p:cNvSpPr/>
          <p:nvPr/>
        </p:nvSpPr>
        <p:spPr>
          <a:xfrm>
            <a:off x="4709160" y="3703320"/>
            <a:ext cx="3977640" cy="822960"/>
          </a:xfrm>
          <a:prstGeom prst="roundRect">
            <a:avLst>
              <a:gd name="adj" fmla="val 8889"/>
            </a:avLst>
          </a:prstGeom>
          <a:solidFill>
            <a:schemeClr val="tx1"/>
          </a:solidFill>
          <a:ln/>
        </p:spPr>
      </p:sp>
      <p:sp>
        <p:nvSpPr>
          <p:cNvPr id="26" name="Text 21"/>
          <p:cNvSpPr txBox="1"/>
          <p:nvPr/>
        </p:nvSpPr>
        <p:spPr>
          <a:xfrm>
            <a:off x="4892040" y="3749040"/>
            <a:ext cx="3611880" cy="347472"/>
          </a:xfrm>
          <a:prstGeom prst="rect">
            <a:avLst/>
          </a:prstGeom>
          <a:noFill/>
          <a:ln/>
        </p:spPr>
        <p:txBody>
          <a:bodyPr wrap="square" lIns="0" tIns="0" rIns="0" bIns="0" rtlCol="0" anchor="t"/>
          <a:lstStyle/>
          <a:p>
            <a:pPr indent="0" marL="0">
              <a:buNone/>
            </a:pPr>
            <a:r>
              <a:rPr lang="en-US" sz="1300" b="1" dirty="0">
                <a:solidFill>
                  <a:schemeClr val="accent6"/>
                </a:solidFill>
              </a:rPr>
              <a:t>Possibili false contraddizioni</a:t>
            </a:r>
            <a:endParaRPr lang="en-US" sz="1300" dirty="0"/>
          </a:p>
        </p:txBody>
      </p:sp>
      <p:sp>
        <p:nvSpPr>
          <p:cNvPr id="27" name="Text 22"/>
          <p:cNvSpPr txBox="1"/>
          <p:nvPr/>
        </p:nvSpPr>
        <p:spPr>
          <a:xfrm>
            <a:off x="4892040" y="4087368"/>
            <a:ext cx="3611880" cy="365760"/>
          </a:xfrm>
          <a:prstGeom prst="rect">
            <a:avLst/>
          </a:prstGeom>
          <a:noFill/>
          <a:ln/>
        </p:spPr>
        <p:txBody>
          <a:bodyPr wrap="square" lIns="0" tIns="0" rIns="0" bIns="0" rtlCol="0" anchor="t"/>
          <a:lstStyle/>
          <a:p>
            <a:pPr indent="0" marL="0">
              <a:buNone/>
            </a:pPr>
            <a:r>
              <a:rPr lang="en-US" sz="1200" dirty="0">
                <a:solidFill>
                  <a:schemeClr val="bg1"/>
                </a:solidFill>
              </a:rPr>
              <a:t>Verificare ogni segnalazione sui due passaggi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Differenze formali e sostanziali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Differenze formali"/>
          <p:cNvSpPr/>
          <p:nvPr/>
        </p:nvSpPr>
        <p:spPr>
          <a:xfrm>
            <a:off x="457200" y="1097280"/>
            <a:ext cx="3977640" cy="1920240"/>
          </a:xfrm>
          <a:prstGeom prst="roundRect">
            <a:avLst>
              <a:gd name="adj" fmla="val 3810"/>
            </a:avLst>
          </a:prstGeom>
          <a:solidFill>
            <a:schemeClr val="bg2"/>
          </a:solidFill>
          <a:ln/>
        </p:spPr>
      </p:sp>
      <p:sp>
        <p:nvSpPr>
          <p:cNvPr id="13" name="cerchio FiType"/>
          <p:cNvSpPr/>
          <p:nvPr/>
        </p:nvSpPr>
        <p:spPr>
          <a:xfrm>
            <a:off x="640080" y="1280160"/>
            <a:ext cx="457200" cy="457200"/>
          </a:xfrm>
          <a:prstGeom prst="ellipse">
            <a:avLst/>
          </a:prstGeom>
          <a:solidFill>
            <a:schemeClr val="accent1"/>
          </a:solidFill>
          <a:ln/>
        </p:spPr>
      </p:sp>
      <p:sp>
        <p:nvSpPr>
          <p:cNvPr id="14" name="scheda Differenze sostanziali"/>
          <p:cNvSpPr/>
          <p:nvPr/>
        </p:nvSpPr>
        <p:spPr>
          <a:xfrm>
            <a:off x="4709160" y="1097280"/>
            <a:ext cx="3977640" cy="1920240"/>
          </a:xfrm>
          <a:prstGeom prst="roundRect">
            <a:avLst>
              <a:gd name="adj" fmla="val 3810"/>
            </a:avLst>
          </a:prstGeom>
          <a:solidFill>
            <a:schemeClr val="accent6"/>
          </a:solidFill>
          <a:ln/>
        </p:spPr>
      </p:sp>
      <p:sp>
        <p:nvSpPr>
          <p:cNvPr id="15" name="cerchio FiAlertCircle"/>
          <p:cNvSpPr/>
          <p:nvPr/>
        </p:nvSpPr>
        <p:spPr>
          <a:xfrm>
            <a:off x="4892040" y="1280160"/>
            <a:ext cx="457200" cy="457200"/>
          </a:xfrm>
          <a:prstGeom prst="ellipse">
            <a:avLst/>
          </a:prstGeom>
          <a:solidFill>
            <a:schemeClr val="accent1"/>
          </a:solidFill>
          <a:ln/>
        </p:spPr>
      </p:sp>
      <p:pic>
        <p:nvPicPr>
          <p:cNvPr id="16" name="Image 0" descr="FiType">    </p:cNvPr>
          <p:cNvPicPr>
            <a:picLocks noChangeAspect="1"/>
          </p:cNvPicPr>
          <p:nvPr/>
        </p:nvPicPr>
        <p:blipFill>
          <a:blip r:embed="rId1"/>
          <a:stretch>
            <a:fillRect/>
          </a:stretch>
        </p:blipFill>
        <p:spPr>
          <a:xfrm>
            <a:off x="754380" y="1394460"/>
            <a:ext cx="228600" cy="228600"/>
          </a:xfrm>
          <a:prstGeom prst="rect">
            <a:avLst/>
          </a:prstGeom>
        </p:spPr>
      </p:pic>
      <p:sp>
        <p:nvSpPr>
          <p:cNvPr id="17" name="Text 1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Differenze formali</a:t>
            </a:r>
            <a:endParaRPr lang="en-US" sz="1500" dirty="0"/>
          </a:p>
        </p:txBody>
      </p:sp>
      <p:sp>
        <p:nvSpPr>
          <p:cNvPr id="18" name="Text 14"/>
          <p:cNvSpPr txBox="1"/>
          <p:nvPr/>
        </p:nvSpPr>
        <p:spPr>
          <a:xfrm>
            <a:off x="640080" y="2231136"/>
            <a:ext cx="3611880" cy="6766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Sinonimi equivalenti, ordine, formattazione</a:t>
            </a:r>
            <a:endParaRPr lang="en-US" sz="1300" dirty="0"/>
          </a:p>
          <a:p>
            <a:pPr marL="177800" indent="-177800">
              <a:spcAft>
                <a:spcPts val="400"/>
              </a:spcAft>
              <a:buSzPct val="100000"/>
              <a:buChar char="•"/>
            </a:pPr>
            <a:r>
              <a:rPr lang="en-US" sz="1300" dirty="0">
                <a:solidFill>
                  <a:schemeClr val="tx2"/>
                </a:solidFill>
              </a:rPr>
              <a:t>Numerazione, refusi</a:t>
            </a:r>
            <a:endParaRPr lang="en-US" sz="1300" dirty="0"/>
          </a:p>
          <a:p>
            <a:pPr marL="177800" indent="-177800">
              <a:spcAft>
                <a:spcPts val="400"/>
              </a:spcAft>
              <a:buSzPct val="100000"/>
              <a:buChar char="•"/>
            </a:pPr>
            <a:r>
              <a:rPr lang="en-US" sz="1300" dirty="0">
                <a:solidFill>
                  <a:schemeClr val="tx2"/>
                </a:solidFill>
              </a:rPr>
              <a:t>Non cambiano il contenuto</a:t>
            </a:r>
            <a:endParaRPr lang="en-US" sz="1300" dirty="0"/>
          </a:p>
        </p:txBody>
      </p:sp>
      <p:pic>
        <p:nvPicPr>
          <p:cNvPr id="19" name="Image 1" descr="FiAlert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Differenze sostanziali</a:t>
            </a:r>
            <a:endParaRPr lang="en-US" sz="1500" dirty="0"/>
          </a:p>
        </p:txBody>
      </p:sp>
      <p:sp>
        <p:nvSpPr>
          <p:cNvPr id="21" name="Text 16"/>
          <p:cNvSpPr txBox="1"/>
          <p:nvPr/>
        </p:nvSpPr>
        <p:spPr>
          <a:xfrm>
            <a:off x="4892040" y="2231136"/>
            <a:ext cx="3611880" cy="6766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Obblighi, importi, scadenze</a:t>
            </a:r>
            <a:endParaRPr lang="en-US" sz="1300" dirty="0"/>
          </a:p>
          <a:p>
            <a:pPr marL="177800" indent="-177800">
              <a:spcAft>
                <a:spcPts val="400"/>
              </a:spcAft>
              <a:buSzPct val="100000"/>
              <a:buChar char="•"/>
            </a:pPr>
            <a:r>
              <a:rPr lang="en-US" sz="1300" dirty="0">
                <a:solidFill>
                  <a:schemeClr val="tx2"/>
                </a:solidFill>
              </a:rPr>
              <a:t>Responsabilità, condizioni, esclusioni</a:t>
            </a:r>
            <a:endParaRPr lang="en-US" sz="1300" dirty="0"/>
          </a:p>
          <a:p>
            <a:pPr marL="177800" indent="-177800">
              <a:spcAft>
                <a:spcPts val="400"/>
              </a:spcAft>
              <a:buSzPct val="100000"/>
              <a:buChar char="•"/>
            </a:pPr>
            <a:r>
              <a:rPr lang="en-US" sz="1300" dirty="0">
                <a:solidFill>
                  <a:schemeClr val="tx2"/>
                </a:solidFill>
              </a:rPr>
              <a:t>Cambiano le conseguenze</a:t>
            </a:r>
            <a:endParaRPr lang="en-US" sz="1300" dirty="0"/>
          </a:p>
        </p:txBody>
      </p:sp>
      <p:sp>
        <p:nvSpPr>
          <p:cNvPr id="22" name="Text 17"/>
          <p:cNvSpPr txBox="1"/>
          <p:nvPr/>
        </p:nvSpPr>
        <p:spPr>
          <a:xfrm>
            <a:off x="457200" y="3154680"/>
            <a:ext cx="8229600" cy="320040"/>
          </a:xfrm>
          <a:prstGeom prst="rect">
            <a:avLst/>
          </a:prstGeom>
          <a:noFill/>
          <a:ln/>
        </p:spPr>
        <p:txBody>
          <a:bodyPr wrap="square" lIns="0" tIns="0" rIns="0" bIns="0" rtlCol="0" anchor="t"/>
          <a:lstStyle/>
          <a:p>
            <a:pPr indent="0" marL="0">
              <a:buNone/>
            </a:pPr>
            <a:r>
              <a:rPr lang="en-US" sz="1300" b="1" dirty="0">
                <a:solidFill>
                  <a:schemeClr val="accent5"/>
                </a:solidFill>
              </a:rPr>
              <a:t>Sembrano formali, ma non lo sono</a:t>
            </a:r>
            <a:endParaRPr lang="en-US" sz="1300" dirty="0"/>
          </a:p>
        </p:txBody>
      </p:sp>
      <p:sp>
        <p:nvSpPr>
          <p:cNvPr id="23" name="blocco si impegna / si adopera"/>
          <p:cNvSpPr/>
          <p:nvPr/>
        </p:nvSpPr>
        <p:spPr>
          <a:xfrm>
            <a:off x="457200" y="3520440"/>
            <a:ext cx="2651760" cy="457200"/>
          </a:xfrm>
          <a:prstGeom prst="roundRect">
            <a:avLst>
              <a:gd name="adj" fmla="val 24000"/>
            </a:avLst>
          </a:prstGeom>
          <a:solidFill>
            <a:schemeClr val="bg2"/>
          </a:solidFill>
          <a:ln/>
        </p:spPr>
      </p:sp>
      <p:sp>
        <p:nvSpPr>
          <p:cNvPr id="24" name="Text 19"/>
          <p:cNvSpPr txBox="1"/>
          <p:nvPr/>
        </p:nvSpPr>
        <p:spPr>
          <a:xfrm>
            <a:off x="502920" y="3520440"/>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si impegna / si adopera</a:t>
            </a:r>
            <a:endParaRPr lang="en-US" sz="1200" dirty="0"/>
          </a:p>
        </p:txBody>
      </p:sp>
      <p:sp>
        <p:nvSpPr>
          <p:cNvPr id="25" name="blocco entro / indicativamente entro"/>
          <p:cNvSpPr/>
          <p:nvPr/>
        </p:nvSpPr>
        <p:spPr>
          <a:xfrm>
            <a:off x="3246120" y="3520440"/>
            <a:ext cx="2651760" cy="457200"/>
          </a:xfrm>
          <a:prstGeom prst="roundRect">
            <a:avLst>
              <a:gd name="adj" fmla="val 24000"/>
            </a:avLst>
          </a:prstGeom>
          <a:solidFill>
            <a:schemeClr val="bg2"/>
          </a:solidFill>
          <a:ln/>
        </p:spPr>
      </p:sp>
      <p:sp>
        <p:nvSpPr>
          <p:cNvPr id="26" name="Text 21"/>
          <p:cNvSpPr txBox="1"/>
          <p:nvPr/>
        </p:nvSpPr>
        <p:spPr>
          <a:xfrm>
            <a:off x="3291840" y="3520440"/>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entro / indicativamente entro</a:t>
            </a:r>
            <a:endParaRPr lang="en-US" sz="1200" dirty="0"/>
          </a:p>
        </p:txBody>
      </p:sp>
      <p:sp>
        <p:nvSpPr>
          <p:cNvPr id="27" name="blocco il cliente / o i suoi incaricati"/>
          <p:cNvSpPr/>
          <p:nvPr/>
        </p:nvSpPr>
        <p:spPr>
          <a:xfrm>
            <a:off x="6035040" y="3520440"/>
            <a:ext cx="2651760" cy="457200"/>
          </a:xfrm>
          <a:prstGeom prst="roundRect">
            <a:avLst>
              <a:gd name="adj" fmla="val 24000"/>
            </a:avLst>
          </a:prstGeom>
          <a:solidFill>
            <a:schemeClr val="bg2"/>
          </a:solidFill>
          <a:ln/>
        </p:spPr>
      </p:sp>
      <p:sp>
        <p:nvSpPr>
          <p:cNvPr id="28" name="Text 23"/>
          <p:cNvSpPr txBox="1"/>
          <p:nvPr/>
        </p:nvSpPr>
        <p:spPr>
          <a:xfrm>
            <a:off x="6080760" y="3520440"/>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il cliente / o i suoi incaricati</a:t>
            </a:r>
            <a:endParaRPr lang="en-US" sz="1200" dirty="0"/>
          </a:p>
        </p:txBody>
      </p:sp>
      <p:sp>
        <p:nvSpPr>
          <p:cNvPr id="29" name="Text 24"/>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i="1" dirty="0">
                <a:solidFill>
                  <a:schemeClr val="tx2"/>
                </a:solidFill>
              </a:rPr>
              <a:t>Chiedere di classificare e motivare; controllare le differenze 'formali' nelle clausole rilevanti.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Tracciare le differenze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ifferenza tracciata"/>
          <p:cNvSpPr/>
          <p:nvPr/>
        </p:nvSpPr>
        <p:spPr>
          <a:xfrm>
            <a:off x="457200" y="1051560"/>
            <a:ext cx="8229600" cy="1645920"/>
          </a:xfrm>
          <a:prstGeom prst="roundRect">
            <a:avLst>
              <a:gd name="adj" fmla="val 4444"/>
            </a:avLst>
          </a:prstGeom>
          <a:solidFill>
            <a:schemeClr val="bg2"/>
          </a:solidFill>
          <a:ln/>
        </p:spPr>
      </p:sp>
      <p:sp>
        <p:nvSpPr>
          <p:cNvPr id="13" name="Text 10"/>
          <p:cNvSpPr txBox="1"/>
          <p:nvPr/>
        </p:nvSpPr>
        <p:spPr>
          <a:xfrm>
            <a:off x="640080" y="1115568"/>
            <a:ext cx="5486400" cy="274320"/>
          </a:xfrm>
          <a:prstGeom prst="rect">
            <a:avLst/>
          </a:prstGeom>
          <a:noFill/>
          <a:ln/>
        </p:spPr>
        <p:txBody>
          <a:bodyPr wrap="square" lIns="0" tIns="0" rIns="0" bIns="0" rtlCol="0" anchor="t"/>
          <a:lstStyle/>
          <a:p>
            <a:pPr indent="0" marL="0">
              <a:buNone/>
            </a:pPr>
            <a:r>
              <a:rPr lang="en-US" sz="1100" b="1" dirty="0">
                <a:solidFill>
                  <a:schemeClr val="accent1"/>
                </a:solidFill>
              </a:rPr>
              <a:t>Differenza tracciata (esempio fittizio)</a:t>
            </a:r>
            <a:endParaRPr lang="en-US" sz="1100" dirty="0"/>
          </a:p>
        </p:txBody>
      </p:sp>
      <p:sp>
        <p:nvSpPr>
          <p:cNvPr id="14" name="documento Offerta A, §8"/>
          <p:cNvSpPr/>
          <p:nvPr/>
        </p:nvSpPr>
        <p:spPr>
          <a:xfrm>
            <a:off x="640080" y="1463040"/>
            <a:ext cx="3383280" cy="1097280"/>
          </a:xfrm>
          <a:prstGeom prst="roundRect">
            <a:avLst>
              <a:gd name="adj" fmla="val 6667"/>
            </a:avLst>
          </a:prstGeom>
          <a:solidFill>
            <a:schemeClr val="bg1"/>
          </a:solidFill>
          <a:ln/>
        </p:spPr>
      </p:sp>
      <p:sp>
        <p:nvSpPr>
          <p:cNvPr id="15" name="barra"/>
          <p:cNvSpPr/>
          <p:nvPr/>
        </p:nvSpPr>
        <p:spPr>
          <a:xfrm>
            <a:off x="640080" y="1572768"/>
            <a:ext cx="54864" cy="877824"/>
          </a:xfrm>
          <a:prstGeom prst="rect">
            <a:avLst/>
          </a:prstGeom>
          <a:solidFill>
            <a:schemeClr val="accent1"/>
          </a:solidFill>
          <a:ln/>
        </p:spPr>
      </p:sp>
      <p:sp>
        <p:nvSpPr>
          <p:cNvPr id="16" name="Text 13"/>
          <p:cNvSpPr txBox="1"/>
          <p:nvPr/>
        </p:nvSpPr>
        <p:spPr>
          <a:xfrm>
            <a:off x="841248" y="1554480"/>
            <a:ext cx="3017520" cy="256032"/>
          </a:xfrm>
          <a:prstGeom prst="rect">
            <a:avLst/>
          </a:prstGeom>
          <a:noFill/>
          <a:ln/>
        </p:spPr>
        <p:txBody>
          <a:bodyPr wrap="square" lIns="0" tIns="0" rIns="0" bIns="0" rtlCol="0" anchor="t"/>
          <a:lstStyle/>
          <a:p>
            <a:pPr indent="0" marL="0">
              <a:buNone/>
            </a:pPr>
            <a:r>
              <a:rPr lang="en-US" sz="1100" b="1" dirty="0">
                <a:solidFill>
                  <a:schemeClr val="accent1"/>
                </a:solidFill>
              </a:rPr>
              <a:t>Offerta A, §8</a:t>
            </a:r>
            <a:endParaRPr lang="en-US" sz="1100" dirty="0"/>
          </a:p>
        </p:txBody>
      </p:sp>
      <p:sp>
        <p:nvSpPr>
          <p:cNvPr id="17" name="Text 14"/>
          <p:cNvSpPr txBox="1"/>
          <p:nvPr/>
        </p:nvSpPr>
        <p:spPr>
          <a:xfrm>
            <a:off x="841248" y="1847088"/>
            <a:ext cx="3017520" cy="621792"/>
          </a:xfrm>
          <a:prstGeom prst="rect">
            <a:avLst/>
          </a:prstGeom>
          <a:noFill/>
          <a:ln/>
        </p:spPr>
        <p:txBody>
          <a:bodyPr wrap="square" lIns="0" tIns="0" rIns="0" bIns="0" rtlCol="0" anchor="t"/>
          <a:lstStyle/>
          <a:p>
            <a:pPr indent="0" marL="0">
              <a:buNone/>
            </a:pPr>
            <a:r>
              <a:rPr lang="en-US" sz="1200" dirty="0">
                <a:solidFill>
                  <a:schemeClr val="tx1"/>
                </a:solidFill>
              </a:rPr>
              <a:t>Assistenza tecnica inclusa per 12 mesi dalla consegna.</a:t>
            </a:r>
            <a:endParaRPr lang="en-US" sz="1200" dirty="0"/>
          </a:p>
        </p:txBody>
      </p:sp>
      <p:sp>
        <p:nvSpPr>
          <p:cNvPr id="18" name="blocco ≠"/>
          <p:cNvSpPr/>
          <p:nvPr/>
        </p:nvSpPr>
        <p:spPr>
          <a:xfrm>
            <a:off x="4160520" y="1783080"/>
            <a:ext cx="822960" cy="457200"/>
          </a:xfrm>
          <a:prstGeom prst="roundRect">
            <a:avLst>
              <a:gd name="adj" fmla="val 24000"/>
            </a:avLst>
          </a:prstGeom>
          <a:solidFill>
            <a:schemeClr val="accent5"/>
          </a:solidFill>
          <a:ln/>
        </p:spPr>
      </p:sp>
      <p:sp>
        <p:nvSpPr>
          <p:cNvPr id="19" name="Text 16"/>
          <p:cNvSpPr txBox="1"/>
          <p:nvPr/>
        </p:nvSpPr>
        <p:spPr>
          <a:xfrm>
            <a:off x="4206240" y="1783080"/>
            <a:ext cx="73152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0" name="documento Offerta B, §6.4"/>
          <p:cNvSpPr/>
          <p:nvPr/>
        </p:nvSpPr>
        <p:spPr>
          <a:xfrm>
            <a:off x="5120640" y="1463040"/>
            <a:ext cx="3383280" cy="1097280"/>
          </a:xfrm>
          <a:prstGeom prst="roundRect">
            <a:avLst>
              <a:gd name="adj" fmla="val 6667"/>
            </a:avLst>
          </a:prstGeom>
          <a:solidFill>
            <a:schemeClr val="bg1"/>
          </a:solidFill>
          <a:ln/>
        </p:spPr>
      </p:sp>
      <p:sp>
        <p:nvSpPr>
          <p:cNvPr id="21" name="barra"/>
          <p:cNvSpPr/>
          <p:nvPr/>
        </p:nvSpPr>
        <p:spPr>
          <a:xfrm>
            <a:off x="5120640" y="1572768"/>
            <a:ext cx="54864" cy="877824"/>
          </a:xfrm>
          <a:prstGeom prst="rect">
            <a:avLst/>
          </a:prstGeom>
          <a:solidFill>
            <a:schemeClr val="accent1"/>
          </a:solidFill>
          <a:ln/>
        </p:spPr>
      </p:sp>
      <p:sp>
        <p:nvSpPr>
          <p:cNvPr id="22" name="Text 19"/>
          <p:cNvSpPr txBox="1"/>
          <p:nvPr/>
        </p:nvSpPr>
        <p:spPr>
          <a:xfrm>
            <a:off x="5321808" y="1554480"/>
            <a:ext cx="3017520" cy="256032"/>
          </a:xfrm>
          <a:prstGeom prst="rect">
            <a:avLst/>
          </a:prstGeom>
          <a:noFill/>
          <a:ln/>
        </p:spPr>
        <p:txBody>
          <a:bodyPr wrap="square" lIns="0" tIns="0" rIns="0" bIns="0" rtlCol="0" anchor="t"/>
          <a:lstStyle/>
          <a:p>
            <a:pPr indent="0" marL="0">
              <a:buNone/>
            </a:pPr>
            <a:r>
              <a:rPr lang="en-US" sz="1100" b="1" dirty="0">
                <a:solidFill>
                  <a:schemeClr val="accent1"/>
                </a:solidFill>
              </a:rPr>
              <a:t>Offerta B, §6.4</a:t>
            </a:r>
            <a:endParaRPr lang="en-US" sz="1100" dirty="0"/>
          </a:p>
        </p:txBody>
      </p:sp>
      <p:sp>
        <p:nvSpPr>
          <p:cNvPr id="23" name="Text 20"/>
          <p:cNvSpPr txBox="1"/>
          <p:nvPr/>
        </p:nvSpPr>
        <p:spPr>
          <a:xfrm>
            <a:off x="5321808" y="1847088"/>
            <a:ext cx="3017520" cy="621792"/>
          </a:xfrm>
          <a:prstGeom prst="rect">
            <a:avLst/>
          </a:prstGeom>
          <a:noFill/>
          <a:ln/>
        </p:spPr>
        <p:txBody>
          <a:bodyPr wrap="square" lIns="0" tIns="0" rIns="0" bIns="0" rtlCol="0" anchor="t"/>
          <a:lstStyle/>
          <a:p>
            <a:pPr indent="0" marL="0">
              <a:buNone/>
            </a:pPr>
            <a:r>
              <a:rPr lang="en-US" sz="1200" dirty="0">
                <a:solidFill>
                  <a:schemeClr val="tx1"/>
                </a:solidFill>
              </a:rPr>
              <a:t>Assistenza tecnica disponibile a pagamento, secondo listino.</a:t>
            </a:r>
            <a:endParaRPr lang="en-US" sz="1200" dirty="0"/>
          </a:p>
        </p:txBody>
      </p:sp>
      <p:sp>
        <p:nvSpPr>
          <p:cNvPr id="24" name="scheda Più documenti, più confusione"/>
          <p:cNvSpPr/>
          <p:nvPr/>
        </p:nvSpPr>
        <p:spPr>
          <a:xfrm>
            <a:off x="457200" y="2880360"/>
            <a:ext cx="3977640" cy="1645920"/>
          </a:xfrm>
          <a:prstGeom prst="roundRect">
            <a:avLst>
              <a:gd name="adj" fmla="val 4444"/>
            </a:avLst>
          </a:prstGeom>
          <a:solidFill>
            <a:schemeClr val="bg2"/>
          </a:solidFill>
          <a:ln/>
        </p:spPr>
      </p:sp>
      <p:sp>
        <p:nvSpPr>
          <p:cNvPr id="25" name="cerchio FiFolder"/>
          <p:cNvSpPr/>
          <p:nvPr/>
        </p:nvSpPr>
        <p:spPr>
          <a:xfrm>
            <a:off x="640080" y="3063240"/>
            <a:ext cx="457200" cy="457200"/>
          </a:xfrm>
          <a:prstGeom prst="ellipse">
            <a:avLst/>
          </a:prstGeom>
          <a:solidFill>
            <a:schemeClr val="accent1"/>
          </a:solidFill>
          <a:ln/>
        </p:spPr>
      </p:sp>
      <p:pic>
        <p:nvPicPr>
          <p:cNvPr id="26" name="Image 0" descr="FiFolder">    </p:cNvPr>
          <p:cNvPicPr>
            <a:picLocks noChangeAspect="1"/>
          </p:cNvPicPr>
          <p:nvPr/>
        </p:nvPicPr>
        <p:blipFill>
          <a:blip r:embed="rId1"/>
          <a:stretch>
            <a:fillRect/>
          </a:stretch>
        </p:blipFill>
        <p:spPr>
          <a:xfrm>
            <a:off x="754380" y="3177540"/>
            <a:ext cx="228600" cy="228600"/>
          </a:xfrm>
          <a:prstGeom prst="rect">
            <a:avLst/>
          </a:prstGeom>
        </p:spPr>
      </p:pic>
      <p:sp>
        <p:nvSpPr>
          <p:cNvPr id="27" name="Text 23"/>
          <p:cNvSpPr txBox="1"/>
          <p:nvPr/>
        </p:nvSpPr>
        <p:spPr>
          <a:xfrm>
            <a:off x="1234440" y="30632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Più documenti, più confusione</a:t>
            </a:r>
            <a:endParaRPr lang="en-US" sz="1400" dirty="0"/>
          </a:p>
        </p:txBody>
      </p:sp>
      <p:sp>
        <p:nvSpPr>
          <p:cNvPr id="28" name="Text 24"/>
          <p:cNvSpPr txBox="1"/>
          <p:nvPr/>
        </p:nvSpPr>
        <p:spPr>
          <a:xfrm>
            <a:off x="640080" y="3657600"/>
            <a:ext cx="3611880" cy="758952"/>
          </a:xfrm>
          <a:prstGeom prst="rect">
            <a:avLst/>
          </a:prstGeom>
          <a:noFill/>
          <a:ln/>
        </p:spPr>
        <p:txBody>
          <a:bodyPr wrap="square" lIns="0" tIns="0" rIns="0" bIns="0" rtlCol="0" anchor="t"/>
          <a:lstStyle/>
          <a:p>
            <a:pPr indent="0" marL="0">
              <a:buNone/>
            </a:pPr>
            <a:r>
              <a:rPr lang="en-US" sz="1200" dirty="0">
                <a:solidFill>
                  <a:schemeClr val="tx2"/>
                </a:solidFill>
              </a:rPr>
              <a:t>Il rischio di attribuire un'informazione al documento sbagliato è reale.</a:t>
            </a:r>
            <a:endParaRPr lang="en-US" sz="1200" dirty="0"/>
          </a:p>
        </p:txBody>
      </p:sp>
      <p:sp>
        <p:nvSpPr>
          <p:cNvPr id="29" name="scheda Decisioni e comunicazioni a terzi"/>
          <p:cNvSpPr/>
          <p:nvPr/>
        </p:nvSpPr>
        <p:spPr>
          <a:xfrm>
            <a:off x="4709160" y="2880360"/>
            <a:ext cx="3977640" cy="1645920"/>
          </a:xfrm>
          <a:prstGeom prst="roundRect">
            <a:avLst>
              <a:gd name="adj" fmla="val 4444"/>
            </a:avLst>
          </a:prstGeom>
          <a:solidFill>
            <a:schemeClr val="accent6"/>
          </a:solidFill>
          <a:ln/>
        </p:spPr>
      </p:sp>
      <p:sp>
        <p:nvSpPr>
          <p:cNvPr id="30" name="cerchio FiSend"/>
          <p:cNvSpPr/>
          <p:nvPr/>
        </p:nvSpPr>
        <p:spPr>
          <a:xfrm>
            <a:off x="4892040" y="3063240"/>
            <a:ext cx="457200" cy="457200"/>
          </a:xfrm>
          <a:prstGeom prst="ellipse">
            <a:avLst/>
          </a:prstGeom>
          <a:solidFill>
            <a:schemeClr val="accent1"/>
          </a:solidFill>
          <a:ln/>
        </p:spPr>
      </p:sp>
      <p:pic>
        <p:nvPicPr>
          <p:cNvPr id="31" name="Image 1" descr="FiSend">    </p:cNvPr>
          <p:cNvPicPr>
            <a:picLocks noChangeAspect="1"/>
          </p:cNvPicPr>
          <p:nvPr/>
        </p:nvPicPr>
        <p:blipFill>
          <a:blip r:embed="rId2"/>
          <a:stretch>
            <a:fillRect/>
          </a:stretch>
        </p:blipFill>
        <p:spPr>
          <a:xfrm>
            <a:off x="5006340" y="3177540"/>
            <a:ext cx="228600" cy="228600"/>
          </a:xfrm>
          <a:prstGeom prst="rect">
            <a:avLst/>
          </a:prstGeom>
        </p:spPr>
      </p:pic>
      <p:sp>
        <p:nvSpPr>
          <p:cNvPr id="32" name="Text 27"/>
          <p:cNvSpPr txBox="1"/>
          <p:nvPr/>
        </p:nvSpPr>
        <p:spPr>
          <a:xfrm>
            <a:off x="5486400" y="30632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Decisioni e comunicazioni a terzi</a:t>
            </a:r>
            <a:endParaRPr lang="en-US" sz="1400" dirty="0"/>
          </a:p>
        </p:txBody>
      </p:sp>
      <p:sp>
        <p:nvSpPr>
          <p:cNvPr id="33" name="Text 28"/>
          <p:cNvSpPr txBox="1"/>
          <p:nvPr/>
        </p:nvSpPr>
        <p:spPr>
          <a:xfrm>
            <a:off x="4892040" y="3657600"/>
            <a:ext cx="3611880" cy="758952"/>
          </a:xfrm>
          <a:prstGeom prst="rect">
            <a:avLst/>
          </a:prstGeom>
          <a:noFill/>
          <a:ln/>
        </p:spPr>
        <p:txBody>
          <a:bodyPr wrap="square" lIns="0" tIns="0" rIns="0" bIns="0" rtlCol="0" anchor="t"/>
          <a:lstStyle/>
          <a:p>
            <a:pPr indent="0" marL="0">
              <a:buNone/>
            </a:pPr>
            <a:r>
              <a:rPr lang="en-US" sz="1200" dirty="0">
                <a:solidFill>
                  <a:schemeClr val="tx2"/>
                </a:solidFill>
              </a:rPr>
              <a:t>Contestare a un fornitore una mancanza che non c'è è un errore che si paga.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confronto documentale è utile se individua differenze rilevanti, ne distingue la natura e permette di verificarle nelle fonti.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8.5  ·  Confronto e analisi di più documenti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Ricerca, approfondimento e organizzazione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può sostenere ricerca e organizzazione della conoscenza, senza rendere automaticamente attendibili le informazioni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nel lavoro di ricerca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Orientarsi"/>
          <p:cNvSpPr/>
          <p:nvPr/>
        </p:nvSpPr>
        <p:spPr>
          <a:xfrm>
            <a:off x="457200" y="1097280"/>
            <a:ext cx="1517904" cy="2194560"/>
          </a:xfrm>
          <a:prstGeom prst="roundRect">
            <a:avLst>
              <a:gd name="adj" fmla="val 4819"/>
            </a:avLst>
          </a:prstGeom>
          <a:solidFill>
            <a:schemeClr val="bg2"/>
          </a:solidFill>
          <a:ln/>
        </p:spPr>
      </p:sp>
      <p:sp>
        <p:nvSpPr>
          <p:cNvPr id="13" name="cerchio FiCompass"/>
          <p:cNvSpPr/>
          <p:nvPr/>
        </p:nvSpPr>
        <p:spPr>
          <a:xfrm>
            <a:off x="941832" y="1234440"/>
            <a:ext cx="548640" cy="548640"/>
          </a:xfrm>
          <a:prstGeom prst="ellipse">
            <a:avLst/>
          </a:prstGeom>
          <a:solidFill>
            <a:schemeClr val="accent1"/>
          </a:solidFill>
          <a:ln/>
        </p:spPr>
      </p:sp>
      <p:pic>
        <p:nvPicPr>
          <p:cNvPr id="14" name="Image 0" descr="FiCompass">    </p:cNvPr>
          <p:cNvPicPr>
            <a:picLocks noChangeAspect="1"/>
          </p:cNvPicPr>
          <p:nvPr/>
        </p:nvPicPr>
        <p:blipFill>
          <a:blip r:embed="rId1"/>
          <a:stretch>
            <a:fillRect/>
          </a:stretch>
        </p:blipFill>
        <p:spPr>
          <a:xfrm>
            <a:off x="1078992" y="1371600"/>
            <a:ext cx="274320" cy="274320"/>
          </a:xfrm>
          <a:prstGeom prst="rect">
            <a:avLst/>
          </a:prstGeom>
        </p:spPr>
      </p:pic>
      <p:sp>
        <p:nvSpPr>
          <p:cNvPr id="15" name="Text 11"/>
          <p:cNvSpPr txBox="1"/>
          <p:nvPr/>
        </p:nvSpPr>
        <p:spPr>
          <a:xfrm>
            <a:off x="530352"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Orientarsi</a:t>
            </a:r>
            <a:endParaRPr lang="en-US" sz="1300" dirty="0"/>
          </a:p>
        </p:txBody>
      </p:sp>
      <p:sp>
        <p:nvSpPr>
          <p:cNvPr id="16" name="Text 12"/>
          <p:cNvSpPr txBox="1"/>
          <p:nvPr/>
        </p:nvSpPr>
        <p:spPr>
          <a:xfrm>
            <a:off x="548640"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Concetti, lessico, domande giuste</a:t>
            </a:r>
            <a:endParaRPr lang="en-US" sz="1100" dirty="0"/>
          </a:p>
        </p:txBody>
      </p:sp>
      <p:sp>
        <p:nvSpPr>
          <p:cNvPr id="17" name="freccia"/>
          <p:cNvSpPr/>
          <p:nvPr/>
        </p:nvSpPr>
        <p:spPr>
          <a:xfrm>
            <a:off x="1979676" y="2011680"/>
            <a:ext cx="155448" cy="292608"/>
          </a:xfrm>
          <a:prstGeom prst="rightArrow">
            <a:avLst/>
          </a:prstGeom>
          <a:solidFill>
            <a:schemeClr val="accent2"/>
          </a:solidFill>
          <a:ln/>
        </p:spPr>
      </p:sp>
      <p:sp>
        <p:nvSpPr>
          <p:cNvPr id="18" name="Trovare fonti"/>
          <p:cNvSpPr/>
          <p:nvPr/>
        </p:nvSpPr>
        <p:spPr>
          <a:xfrm>
            <a:off x="2139696" y="1097280"/>
            <a:ext cx="1517904" cy="2194560"/>
          </a:xfrm>
          <a:prstGeom prst="roundRect">
            <a:avLst>
              <a:gd name="adj" fmla="val 4819"/>
            </a:avLst>
          </a:prstGeom>
          <a:solidFill>
            <a:schemeClr val="accent6"/>
          </a:solidFill>
          <a:ln/>
        </p:spPr>
      </p:sp>
      <p:sp>
        <p:nvSpPr>
          <p:cNvPr id="19" name="cerchio FiSearch"/>
          <p:cNvSpPr/>
          <p:nvPr/>
        </p:nvSpPr>
        <p:spPr>
          <a:xfrm>
            <a:off x="2624328" y="1234440"/>
            <a:ext cx="548640" cy="548640"/>
          </a:xfrm>
          <a:prstGeom prst="ellipse">
            <a:avLst/>
          </a:prstGeom>
          <a:solidFill>
            <a:schemeClr val="accent1"/>
          </a:solidFill>
          <a:ln/>
        </p:spPr>
      </p:sp>
      <p:pic>
        <p:nvPicPr>
          <p:cNvPr id="20" name="Image 1" descr="FiSearch">    </p:cNvPr>
          <p:cNvPicPr>
            <a:picLocks noChangeAspect="1"/>
          </p:cNvPicPr>
          <p:nvPr/>
        </p:nvPicPr>
        <p:blipFill>
          <a:blip r:embed="rId2"/>
          <a:stretch>
            <a:fillRect/>
          </a:stretch>
        </p:blipFill>
        <p:spPr>
          <a:xfrm>
            <a:off x="2761488" y="1371600"/>
            <a:ext cx="274320" cy="274320"/>
          </a:xfrm>
          <a:prstGeom prst="rect">
            <a:avLst/>
          </a:prstGeom>
        </p:spPr>
      </p:pic>
      <p:sp>
        <p:nvSpPr>
          <p:cNvPr id="21" name="Text 16"/>
          <p:cNvSpPr txBox="1"/>
          <p:nvPr/>
        </p:nvSpPr>
        <p:spPr>
          <a:xfrm>
            <a:off x="2212848"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Trovare fonti</a:t>
            </a:r>
            <a:endParaRPr lang="en-US" sz="1300" dirty="0"/>
          </a:p>
        </p:txBody>
      </p:sp>
      <p:sp>
        <p:nvSpPr>
          <p:cNvPr id="22" name="Text 17"/>
          <p:cNvSpPr txBox="1"/>
          <p:nvPr/>
        </p:nvSpPr>
        <p:spPr>
          <a:xfrm>
            <a:off x="2231136"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Tipi di fonti, enti, parole chiave, pagine</a:t>
            </a:r>
            <a:endParaRPr lang="en-US" sz="1100" dirty="0"/>
          </a:p>
        </p:txBody>
      </p:sp>
      <p:sp>
        <p:nvSpPr>
          <p:cNvPr id="23" name="freccia"/>
          <p:cNvSpPr/>
          <p:nvPr/>
        </p:nvSpPr>
        <p:spPr>
          <a:xfrm>
            <a:off x="3662172" y="2011680"/>
            <a:ext cx="155448" cy="292608"/>
          </a:xfrm>
          <a:prstGeom prst="rightArrow">
            <a:avLst/>
          </a:prstGeom>
          <a:solidFill>
            <a:schemeClr val="accent2"/>
          </a:solidFill>
          <a:ln/>
        </p:spPr>
      </p:sp>
      <p:sp>
        <p:nvSpPr>
          <p:cNvPr id="24" name="Approfondire"/>
          <p:cNvSpPr/>
          <p:nvPr/>
        </p:nvSpPr>
        <p:spPr>
          <a:xfrm>
            <a:off x="3822192" y="1097280"/>
            <a:ext cx="1517904" cy="2194560"/>
          </a:xfrm>
          <a:prstGeom prst="roundRect">
            <a:avLst>
              <a:gd name="adj" fmla="val 4819"/>
            </a:avLst>
          </a:prstGeom>
          <a:solidFill>
            <a:schemeClr val="bg2"/>
          </a:solidFill>
          <a:ln/>
        </p:spPr>
      </p:sp>
      <p:sp>
        <p:nvSpPr>
          <p:cNvPr id="25" name="cerchio FiZoomIn"/>
          <p:cNvSpPr/>
          <p:nvPr/>
        </p:nvSpPr>
        <p:spPr>
          <a:xfrm>
            <a:off x="4306824" y="1234440"/>
            <a:ext cx="548640" cy="548640"/>
          </a:xfrm>
          <a:prstGeom prst="ellipse">
            <a:avLst/>
          </a:prstGeom>
          <a:solidFill>
            <a:schemeClr val="accent1"/>
          </a:solidFill>
          <a:ln/>
        </p:spPr>
      </p:sp>
      <p:pic>
        <p:nvPicPr>
          <p:cNvPr id="26" name="Image 2" descr="FiZoomIn">    </p:cNvPr>
          <p:cNvPicPr>
            <a:picLocks noChangeAspect="1"/>
          </p:cNvPicPr>
          <p:nvPr/>
        </p:nvPicPr>
        <p:blipFill>
          <a:blip r:embed="rId3"/>
          <a:stretch>
            <a:fillRect/>
          </a:stretch>
        </p:blipFill>
        <p:spPr>
          <a:xfrm>
            <a:off x="4443984" y="1371600"/>
            <a:ext cx="274320" cy="274320"/>
          </a:xfrm>
          <a:prstGeom prst="rect">
            <a:avLst/>
          </a:prstGeom>
        </p:spPr>
      </p:pic>
      <p:sp>
        <p:nvSpPr>
          <p:cNvPr id="27" name="Text 21"/>
          <p:cNvSpPr txBox="1"/>
          <p:nvPr/>
        </p:nvSpPr>
        <p:spPr>
          <a:xfrm>
            <a:off x="3895344"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Approfondire</a:t>
            </a:r>
            <a:endParaRPr lang="en-US" sz="1300" dirty="0"/>
          </a:p>
        </p:txBody>
      </p:sp>
      <p:sp>
        <p:nvSpPr>
          <p:cNvPr id="28" name="Text 22"/>
          <p:cNvSpPr txBox="1"/>
          <p:nvPr/>
        </p:nvSpPr>
        <p:spPr>
          <a:xfrm>
            <a:off x="3913632"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Spiegazioni, esempi, collegamenti</a:t>
            </a:r>
            <a:endParaRPr lang="en-US" sz="1100" dirty="0"/>
          </a:p>
        </p:txBody>
      </p:sp>
      <p:sp>
        <p:nvSpPr>
          <p:cNvPr id="29" name="freccia"/>
          <p:cNvSpPr/>
          <p:nvPr/>
        </p:nvSpPr>
        <p:spPr>
          <a:xfrm>
            <a:off x="5344668" y="2011680"/>
            <a:ext cx="155448" cy="292608"/>
          </a:xfrm>
          <a:prstGeom prst="rightArrow">
            <a:avLst/>
          </a:prstGeom>
          <a:solidFill>
            <a:schemeClr val="accent2"/>
          </a:solidFill>
          <a:ln/>
        </p:spPr>
      </p:sp>
      <p:sp>
        <p:nvSpPr>
          <p:cNvPr id="30" name="Organizzare"/>
          <p:cNvSpPr/>
          <p:nvPr/>
        </p:nvSpPr>
        <p:spPr>
          <a:xfrm>
            <a:off x="5504688" y="1097280"/>
            <a:ext cx="1517904" cy="2194560"/>
          </a:xfrm>
          <a:prstGeom prst="roundRect">
            <a:avLst>
              <a:gd name="adj" fmla="val 4819"/>
            </a:avLst>
          </a:prstGeom>
          <a:solidFill>
            <a:schemeClr val="accent6"/>
          </a:solidFill>
          <a:ln/>
        </p:spPr>
      </p:sp>
      <p:sp>
        <p:nvSpPr>
          <p:cNvPr id="31" name="cerchio FiFolder"/>
          <p:cNvSpPr/>
          <p:nvPr/>
        </p:nvSpPr>
        <p:spPr>
          <a:xfrm>
            <a:off x="5989320" y="1234440"/>
            <a:ext cx="548640" cy="548640"/>
          </a:xfrm>
          <a:prstGeom prst="ellipse">
            <a:avLst/>
          </a:prstGeom>
          <a:solidFill>
            <a:schemeClr val="accent1"/>
          </a:solidFill>
          <a:ln/>
        </p:spPr>
      </p:sp>
      <p:pic>
        <p:nvPicPr>
          <p:cNvPr id="32" name="Image 3" descr="FiFolder">    </p:cNvPr>
          <p:cNvPicPr>
            <a:picLocks noChangeAspect="1"/>
          </p:cNvPicPr>
          <p:nvPr/>
        </p:nvPicPr>
        <p:blipFill>
          <a:blip r:embed="rId4"/>
          <a:stretch>
            <a:fillRect/>
          </a:stretch>
        </p:blipFill>
        <p:spPr>
          <a:xfrm>
            <a:off x="6126480" y="1371600"/>
            <a:ext cx="274320" cy="274320"/>
          </a:xfrm>
          <a:prstGeom prst="rect">
            <a:avLst/>
          </a:prstGeom>
        </p:spPr>
      </p:pic>
      <p:sp>
        <p:nvSpPr>
          <p:cNvPr id="33" name="Text 26"/>
          <p:cNvSpPr txBox="1"/>
          <p:nvPr/>
        </p:nvSpPr>
        <p:spPr>
          <a:xfrm>
            <a:off x="5577840"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Organizzare</a:t>
            </a:r>
            <a:endParaRPr lang="en-US" sz="1300" dirty="0"/>
          </a:p>
        </p:txBody>
      </p:sp>
      <p:sp>
        <p:nvSpPr>
          <p:cNvPr id="34" name="Text 27"/>
          <p:cNvSpPr txBox="1"/>
          <p:nvPr/>
        </p:nvSpPr>
        <p:spPr>
          <a:xfrm>
            <a:off x="5596128"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Temi, sovrapposizioni, lacune</a:t>
            </a:r>
            <a:endParaRPr lang="en-US" sz="1100" dirty="0"/>
          </a:p>
        </p:txBody>
      </p:sp>
      <p:sp>
        <p:nvSpPr>
          <p:cNvPr id="35" name="freccia"/>
          <p:cNvSpPr/>
          <p:nvPr/>
        </p:nvSpPr>
        <p:spPr>
          <a:xfrm>
            <a:off x="7027164" y="2011680"/>
            <a:ext cx="155448" cy="292608"/>
          </a:xfrm>
          <a:prstGeom prst="rightArrow">
            <a:avLst/>
          </a:prstGeom>
          <a:solidFill>
            <a:schemeClr val="accent2"/>
          </a:solidFill>
          <a:ln/>
        </p:spPr>
      </p:sp>
      <p:sp>
        <p:nvSpPr>
          <p:cNvPr id="36" name="Produrre"/>
          <p:cNvSpPr/>
          <p:nvPr/>
        </p:nvSpPr>
        <p:spPr>
          <a:xfrm>
            <a:off x="7187184" y="1097280"/>
            <a:ext cx="1517904" cy="2194560"/>
          </a:xfrm>
          <a:prstGeom prst="roundRect">
            <a:avLst>
              <a:gd name="adj" fmla="val 4819"/>
            </a:avLst>
          </a:prstGeom>
          <a:solidFill>
            <a:schemeClr val="bg2"/>
          </a:solidFill>
          <a:ln/>
        </p:spPr>
      </p:sp>
      <p:sp>
        <p:nvSpPr>
          <p:cNvPr id="37" name="cerchio FiFileText"/>
          <p:cNvSpPr/>
          <p:nvPr/>
        </p:nvSpPr>
        <p:spPr>
          <a:xfrm>
            <a:off x="7671816" y="1234440"/>
            <a:ext cx="548640" cy="548640"/>
          </a:xfrm>
          <a:prstGeom prst="ellipse">
            <a:avLst/>
          </a:prstGeom>
          <a:solidFill>
            <a:schemeClr val="accent1"/>
          </a:solidFill>
          <a:ln/>
        </p:spPr>
      </p:sp>
      <p:pic>
        <p:nvPicPr>
          <p:cNvPr id="38" name="Image 4" descr="FiFileText">    </p:cNvPr>
          <p:cNvPicPr>
            <a:picLocks noChangeAspect="1"/>
          </p:cNvPicPr>
          <p:nvPr/>
        </p:nvPicPr>
        <p:blipFill>
          <a:blip r:embed="rId5"/>
          <a:stretch>
            <a:fillRect/>
          </a:stretch>
        </p:blipFill>
        <p:spPr>
          <a:xfrm>
            <a:off x="7808976" y="1371600"/>
            <a:ext cx="274320" cy="274320"/>
          </a:xfrm>
          <a:prstGeom prst="rect">
            <a:avLst/>
          </a:prstGeom>
        </p:spPr>
      </p:pic>
      <p:sp>
        <p:nvSpPr>
          <p:cNvPr id="39" name="Text 31"/>
          <p:cNvSpPr txBox="1"/>
          <p:nvPr/>
        </p:nvSpPr>
        <p:spPr>
          <a:xfrm>
            <a:off x="7260336"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Produrre</a:t>
            </a:r>
            <a:endParaRPr lang="en-US" sz="1300" dirty="0"/>
          </a:p>
        </p:txBody>
      </p:sp>
      <p:sp>
        <p:nvSpPr>
          <p:cNvPr id="40" name="Text 32"/>
          <p:cNvSpPr txBox="1"/>
          <p:nvPr/>
        </p:nvSpPr>
        <p:spPr>
          <a:xfrm>
            <a:off x="7278624"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Dossier, sintesi tematiche, note</a:t>
            </a:r>
            <a:endParaRPr lang="en-US" sz="1100" dirty="0"/>
          </a:p>
        </p:txBody>
      </p:sp>
      <p:sp>
        <p:nvSpPr>
          <p:cNvPr id="41" name="messaggio"/>
          <p:cNvSpPr/>
          <p:nvPr/>
        </p:nvSpPr>
        <p:spPr>
          <a:xfrm>
            <a:off x="457200" y="3520440"/>
            <a:ext cx="8229600" cy="868680"/>
          </a:xfrm>
          <a:prstGeom prst="roundRect">
            <a:avLst>
              <a:gd name="adj" fmla="val 8421"/>
            </a:avLst>
          </a:prstGeom>
          <a:solidFill>
            <a:schemeClr val="tx1"/>
          </a:solidFill>
          <a:ln/>
        </p:spPr>
      </p:sp>
      <p:sp>
        <p:nvSpPr>
          <p:cNvPr id="42" name="Text 34"/>
          <p:cNvSpPr txBox="1"/>
          <p:nvPr/>
        </p:nvSpPr>
        <p:spPr>
          <a:xfrm>
            <a:off x="640080" y="3520440"/>
            <a:ext cx="7863840" cy="868680"/>
          </a:xfrm>
          <a:prstGeom prst="rect">
            <a:avLst/>
          </a:prstGeom>
          <a:noFill/>
          <a:ln/>
        </p:spPr>
        <p:txBody>
          <a:bodyPr wrap="square" lIns="0" tIns="0" rIns="0" bIns="0" rtlCol="0" anchor="ctr"/>
          <a:lstStyle/>
          <a:p>
            <a:pPr indent="0" marL="0">
              <a:buNone/>
            </a:pPr>
            <a:r>
              <a:rPr lang="en-US" sz="1300" dirty="0">
                <a:solidFill>
                  <a:schemeClr val="bg1"/>
                </a:solidFill>
              </a:rPr>
              <a:t>Il valore: dalla domanda 'che cosa so?' a 'che cosa cercare e dove' in pochi minuti. Velocità di orientamento non significa attendibilità.</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Incorporata o recuperata?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3200400"/>
                <a:gridCol w="3200400"/>
              </a:tblGrid>
              <a:tr h="438912">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Conoscenza incorporata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Informazioni recuperate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indent="0" marL="0">
                        <a:buNone/>
                      </a:pPr>
                      <a:r>
                        <a:rPr lang="en-US" sz="1200" b="1" dirty="0">
                          <a:solidFill>
                            <a:schemeClr val="tx1"/>
                          </a:solidFill>
                        </a:rPr>
                        <a:t>Origine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Addestramento del modello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Web, documenti caricati, basi documentali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200" b="1" dirty="0">
                          <a:solidFill>
                            <a:schemeClr val="tx1"/>
                          </a:solidFill>
                        </a:rPr>
                        <a:t>Aggiornamento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Fino a una data limite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Al momento della ricerca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200" b="1" dirty="0">
                          <a:solidFill>
                            <a:schemeClr val="tx1"/>
                          </a:solidFill>
                        </a:rPr>
                        <a:t>Fonti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 citabili con precisione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Citabili e verificabili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200" b="1" dirty="0">
                          <a:solidFill>
                            <a:schemeClr val="tx1"/>
                          </a:solidFill>
                        </a:rPr>
                        <a:t>Rischio tipico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Ricostruzioni plausibili ma errate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Fonti scadenti, lettura imprecisa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429000"/>
            <a:ext cx="8229600" cy="731520"/>
          </a:xfrm>
          <a:prstGeom prst="roundRect">
            <a:avLst>
              <a:gd name="adj" fmla="val 10000"/>
            </a:avLst>
          </a:prstGeom>
          <a:solidFill>
            <a:schemeClr val="tx1"/>
          </a:solidFill>
          <a:ln/>
        </p:spPr>
      </p:sp>
      <p:sp>
        <p:nvSpPr>
          <p:cNvPr id="14" name="Text 10"/>
          <p:cNvSpPr txBox="1"/>
          <p:nvPr/>
        </p:nvSpPr>
        <p:spPr>
          <a:xfrm>
            <a:off x="640080" y="3429000"/>
            <a:ext cx="7863840" cy="731520"/>
          </a:xfrm>
          <a:prstGeom prst="rect">
            <a:avLst/>
          </a:prstGeom>
          <a:noFill/>
          <a:ln/>
        </p:spPr>
        <p:txBody>
          <a:bodyPr wrap="square" lIns="0" tIns="0" rIns="0" bIns="0" rtlCol="0" anchor="ctr"/>
          <a:lstStyle/>
          <a:p>
            <a:pPr indent="0" marL="0">
              <a:buNone/>
            </a:pPr>
            <a:r>
              <a:rPr lang="en-US" sz="1300" dirty="0">
                <a:solidFill>
                  <a:schemeClr val="bg1"/>
                </a:solidFill>
              </a:rPr>
              <a:t>La domanda da porsi: da dove viene questa informazione? Senza fonti indicate, più cautela su fatti recenti, dati, norme, prezzi.</a:t>
            </a:r>
            <a:endParaRPr lang="en-US" sz="1300" dirty="0"/>
          </a:p>
        </p:txBody>
      </p:sp>
      <p:sp>
        <p:nvSpPr>
          <p:cNvPr id="15" name="Text 11"/>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Molti strumenti combinano le due cose, e non sempre distinguono quale parte viene da dove.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Attualità e attendibilità</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scheda Attualità"/>
          <p:cNvSpPr/>
          <p:nvPr/>
        </p:nvSpPr>
        <p:spPr>
          <a:xfrm>
            <a:off x="457200" y="1097280"/>
            <a:ext cx="3977640" cy="2240280"/>
          </a:xfrm>
          <a:prstGeom prst="roundRect">
            <a:avLst>
              <a:gd name="adj" fmla="val 3265"/>
            </a:avLst>
          </a:prstGeom>
          <a:solidFill>
            <a:schemeClr val="bg2"/>
          </a:solidFill>
          <a:ln/>
        </p:spPr>
      </p:sp>
      <p:sp>
        <p:nvSpPr>
          <p:cNvPr id="13" name="cerchio FiClock"/>
          <p:cNvSpPr/>
          <p:nvPr/>
        </p:nvSpPr>
        <p:spPr>
          <a:xfrm>
            <a:off x="640080" y="1280160"/>
            <a:ext cx="457200" cy="457200"/>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Attualità</a:t>
            </a:r>
            <a:endParaRPr lang="en-US" sz="1600" dirty="0"/>
          </a:p>
        </p:txBody>
      </p:sp>
      <p:sp>
        <p:nvSpPr>
          <p:cNvPr id="16" name="Text 12"/>
          <p:cNvSpPr txBox="1"/>
          <p:nvPr/>
        </p:nvSpPr>
        <p:spPr>
          <a:xfrm>
            <a:off x="640080" y="223113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Norme, scadenze, prezzi, ruoli, versioni</a:t>
            </a:r>
            <a:endParaRPr lang="en-US" sz="1200" dirty="0"/>
          </a:p>
          <a:p>
            <a:pPr marL="177800" indent="-177800">
              <a:spcAft>
                <a:spcPts val="400"/>
              </a:spcAft>
              <a:buSzPct val="100000"/>
              <a:buChar char="•"/>
            </a:pPr>
            <a:r>
              <a:rPr lang="en-US" sz="1200" dirty="0">
                <a:solidFill>
                  <a:schemeClr val="tx2"/>
                </a:solidFill>
              </a:rPr>
              <a:t>Conoscenza incorporata: superata senza segnali</a:t>
            </a:r>
            <a:endParaRPr lang="en-US" sz="1200" dirty="0"/>
          </a:p>
          <a:p>
            <a:pPr marL="177800" indent="-177800">
              <a:spcAft>
                <a:spcPts val="400"/>
              </a:spcAft>
              <a:buSzPct val="100000"/>
              <a:buChar char="•"/>
            </a:pPr>
            <a:r>
              <a:rPr lang="en-US" sz="1200" dirty="0">
                <a:solidFill>
                  <a:schemeClr val="tx2"/>
                </a:solidFill>
              </a:rPr>
              <a:t>Ricerca: pagina vecchia; controllare la data</a:t>
            </a:r>
            <a:endParaRPr lang="en-US" sz="1200" dirty="0"/>
          </a:p>
        </p:txBody>
      </p:sp>
      <p:sp>
        <p:nvSpPr>
          <p:cNvPr id="17" name="scheda Attendibilità"/>
          <p:cNvSpPr/>
          <p:nvPr/>
        </p:nvSpPr>
        <p:spPr>
          <a:xfrm>
            <a:off x="4709160" y="1097280"/>
            <a:ext cx="3977640" cy="2240280"/>
          </a:xfrm>
          <a:prstGeom prst="roundRect">
            <a:avLst>
              <a:gd name="adj" fmla="val 3265"/>
            </a:avLst>
          </a:prstGeom>
          <a:solidFill>
            <a:schemeClr val="accent6"/>
          </a:solidFill>
          <a:ln/>
        </p:spPr>
      </p:sp>
      <p:sp>
        <p:nvSpPr>
          <p:cNvPr id="18" name="cerchio FiShield"/>
          <p:cNvSpPr/>
          <p:nvPr/>
        </p:nvSpPr>
        <p:spPr>
          <a:xfrm>
            <a:off x="4892040" y="1280160"/>
            <a:ext cx="457200" cy="457200"/>
          </a:xfrm>
          <a:prstGeom prst="ellipse">
            <a:avLst/>
          </a:prstGeom>
          <a:solidFill>
            <a:schemeClr val="accent1"/>
          </a:solidFill>
          <a:ln/>
        </p:spPr>
      </p:sp>
      <p:pic>
        <p:nvPicPr>
          <p:cNvPr id="19" name="Image 1" descr="FiShield">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Attendibilità</a:t>
            </a:r>
            <a:endParaRPr lang="en-US" sz="1600" dirty="0"/>
          </a:p>
        </p:txBody>
      </p:sp>
      <p:sp>
        <p:nvSpPr>
          <p:cNvPr id="21" name="Text 16"/>
          <p:cNvSpPr txBox="1"/>
          <p:nvPr/>
        </p:nvSpPr>
        <p:spPr>
          <a:xfrm>
            <a:off x="4892040" y="223113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Chi, con quali competenze e interessi</a:t>
            </a:r>
            <a:endParaRPr lang="en-US" sz="1200" dirty="0"/>
          </a:p>
          <a:p>
            <a:pPr marL="177800" indent="-177800">
              <a:spcAft>
                <a:spcPts val="400"/>
              </a:spcAft>
              <a:buSzPct val="100000"/>
              <a:buChar char="•"/>
            </a:pPr>
            <a:r>
              <a:rPr lang="en-US" sz="1200" dirty="0">
                <a:solidFill>
                  <a:schemeClr val="tx2"/>
                </a:solidFill>
              </a:rPr>
              <a:t>Fonti selezionate con criteri non trasparenti</a:t>
            </a:r>
            <a:endParaRPr lang="en-US" sz="1200" dirty="0"/>
          </a:p>
          <a:p>
            <a:pPr marL="177800" indent="-177800">
              <a:spcAft>
                <a:spcPts val="400"/>
              </a:spcAft>
              <a:buSzPct val="100000"/>
              <a:buChar char="•"/>
            </a:pPr>
            <a:r>
              <a:rPr lang="en-US" sz="1200" dirty="0">
                <a:solidFill>
                  <a:schemeClr val="tx2"/>
                </a:solidFill>
              </a:rPr>
              <a:t>Stesso peso a fonti istituzionali e blog</a:t>
            </a:r>
            <a:endParaRPr lang="en-US" sz="1200" dirty="0"/>
          </a:p>
        </p:txBody>
      </p:sp>
      <p:sp>
        <p:nvSpPr>
          <p:cNvPr id="22" name="messaggio"/>
          <p:cNvSpPr/>
          <p:nvPr/>
        </p:nvSpPr>
        <p:spPr>
          <a:xfrm>
            <a:off x="457200" y="3520440"/>
            <a:ext cx="8229600" cy="594360"/>
          </a:xfrm>
          <a:prstGeom prst="roundRect">
            <a:avLst>
              <a:gd name="adj" fmla="val 12308"/>
            </a:avLst>
          </a:prstGeom>
          <a:solidFill>
            <a:schemeClr val="tx1"/>
          </a:solidFill>
          <a:ln/>
        </p:spPr>
      </p:sp>
      <p:sp>
        <p:nvSpPr>
          <p:cNvPr id="23" name="Text 18"/>
          <p:cNvSpPr txBox="1"/>
          <p:nvPr/>
        </p:nvSpPr>
        <p:spPr>
          <a:xfrm>
            <a:off x="640080" y="3520440"/>
            <a:ext cx="7863840" cy="594360"/>
          </a:xfrm>
          <a:prstGeom prst="rect">
            <a:avLst/>
          </a:prstGeom>
          <a:noFill/>
          <a:ln/>
        </p:spPr>
        <p:txBody>
          <a:bodyPr wrap="square" lIns="0" tIns="0" rIns="0" bIns="0" rtlCol="0" anchor="ctr"/>
          <a:lstStyle/>
          <a:p>
            <a:pPr indent="0" marL="0">
              <a:buNone/>
            </a:pPr>
            <a:r>
              <a:rPr lang="en-US" sz="1400" dirty="0">
                <a:solidFill>
                  <a:schemeClr val="bg1"/>
                </a:solidFill>
              </a:rPr>
              <a:t>Una risposta con molte fonti citate può sembrare più solida di quanto sia.</a:t>
            </a:r>
            <a:endParaRPr lang="en-US" sz="1400" dirty="0"/>
          </a:p>
        </p:txBody>
      </p:sp>
      <p:sp>
        <p:nvSpPr>
          <p:cNvPr id="24" name="Text 19"/>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i="1" dirty="0">
                <a:solidFill>
                  <a:schemeClr val="tx2"/>
                </a:solidFill>
              </a:rPr>
              <a:t>Le fonti trovate si valutano con gli stessi criteri di qualsiasi altra fonte.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Organizzare: dossier e sintesi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Raccogliere"/>
          <p:cNvSpPr/>
          <p:nvPr/>
        </p:nvSpPr>
        <p:spPr>
          <a:xfrm>
            <a:off x="457200" y="1097280"/>
            <a:ext cx="2615184" cy="1645920"/>
          </a:xfrm>
          <a:prstGeom prst="roundRect">
            <a:avLst>
              <a:gd name="adj" fmla="val 4444"/>
            </a:avLst>
          </a:prstGeom>
          <a:solidFill>
            <a:schemeClr val="bg2"/>
          </a:solidFill>
          <a:ln/>
        </p:spPr>
      </p:sp>
      <p:sp>
        <p:nvSpPr>
          <p:cNvPr id="13" name="Text 10"/>
          <p:cNvSpPr txBox="1"/>
          <p:nvPr/>
        </p:nvSpPr>
        <p:spPr>
          <a:xfrm>
            <a:off x="640080" y="1170432"/>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14" name="Text 11"/>
          <p:cNvSpPr txBox="1"/>
          <p:nvPr/>
        </p:nvSpPr>
        <p:spPr>
          <a:xfrm>
            <a:off x="1097280" y="1216152"/>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Raccogliere</a:t>
            </a:r>
            <a:endParaRPr lang="en-US" sz="1600" dirty="0"/>
          </a:p>
        </p:txBody>
      </p:sp>
      <p:sp>
        <p:nvSpPr>
          <p:cNvPr id="15" name="Text 12"/>
          <p:cNvSpPr txBox="1"/>
          <p:nvPr/>
        </p:nvSpPr>
        <p:spPr>
          <a:xfrm>
            <a:off x="640080" y="1737360"/>
            <a:ext cx="2286000" cy="868680"/>
          </a:xfrm>
          <a:prstGeom prst="rect">
            <a:avLst/>
          </a:prstGeom>
          <a:noFill/>
          <a:ln/>
        </p:spPr>
        <p:txBody>
          <a:bodyPr wrap="square" lIns="0" tIns="0" rIns="0" bIns="0" rtlCol="0" anchor="t"/>
          <a:lstStyle/>
          <a:p>
            <a:pPr indent="0" marL="0">
              <a:buNone/>
            </a:pPr>
            <a:r>
              <a:rPr lang="en-US" sz="1200" dirty="0">
                <a:solidFill>
                  <a:schemeClr val="tx2"/>
                </a:solidFill>
              </a:rPr>
              <a:t>Fonti scelte, verificate per attendibilità e attualità</a:t>
            </a:r>
            <a:endParaRPr lang="en-US" sz="1200" dirty="0"/>
          </a:p>
        </p:txBody>
      </p:sp>
      <p:sp>
        <p:nvSpPr>
          <p:cNvPr id="16" name="freccia"/>
          <p:cNvSpPr/>
          <p:nvPr/>
        </p:nvSpPr>
        <p:spPr>
          <a:xfrm>
            <a:off x="3090672" y="1783080"/>
            <a:ext cx="155448" cy="292608"/>
          </a:xfrm>
          <a:prstGeom prst="rightArrow">
            <a:avLst/>
          </a:prstGeom>
          <a:solidFill>
            <a:schemeClr val="accent2"/>
          </a:solidFill>
          <a:ln/>
        </p:spPr>
      </p:sp>
      <p:sp>
        <p:nvSpPr>
          <p:cNvPr id="17" name="Organizzare"/>
          <p:cNvSpPr/>
          <p:nvPr/>
        </p:nvSpPr>
        <p:spPr>
          <a:xfrm>
            <a:off x="3264408" y="1097280"/>
            <a:ext cx="2615184" cy="1645920"/>
          </a:xfrm>
          <a:prstGeom prst="roundRect">
            <a:avLst>
              <a:gd name="adj" fmla="val 4444"/>
            </a:avLst>
          </a:prstGeom>
          <a:solidFill>
            <a:schemeClr val="accent6"/>
          </a:solidFill>
          <a:ln/>
        </p:spPr>
      </p:sp>
      <p:sp>
        <p:nvSpPr>
          <p:cNvPr id="18" name="Text 15"/>
          <p:cNvSpPr txBox="1"/>
          <p:nvPr/>
        </p:nvSpPr>
        <p:spPr>
          <a:xfrm>
            <a:off x="3447288" y="1170432"/>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19" name="Text 16"/>
          <p:cNvSpPr txBox="1"/>
          <p:nvPr/>
        </p:nvSpPr>
        <p:spPr>
          <a:xfrm>
            <a:off x="3904488" y="1216152"/>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Organizzare</a:t>
            </a:r>
            <a:endParaRPr lang="en-US" sz="1600" dirty="0"/>
          </a:p>
        </p:txBody>
      </p:sp>
      <p:sp>
        <p:nvSpPr>
          <p:cNvPr id="20" name="Text 17"/>
          <p:cNvSpPr txBox="1"/>
          <p:nvPr/>
        </p:nvSpPr>
        <p:spPr>
          <a:xfrm>
            <a:off x="3447288" y="1737360"/>
            <a:ext cx="2286000" cy="868680"/>
          </a:xfrm>
          <a:prstGeom prst="rect">
            <a:avLst/>
          </a:prstGeom>
          <a:noFill/>
          <a:ln/>
        </p:spPr>
        <p:txBody>
          <a:bodyPr wrap="square" lIns="0" tIns="0" rIns="0" bIns="0" rtlCol="0" anchor="t"/>
          <a:lstStyle/>
          <a:p>
            <a:pPr indent="0" marL="0">
              <a:buNone/>
            </a:pPr>
            <a:r>
              <a:rPr lang="en-US" sz="1200" dirty="0">
                <a:solidFill>
                  <a:schemeClr val="tx2"/>
                </a:solidFill>
              </a:rPr>
              <a:t>Il sistema struttura il materiale fornito, citando le fonti</a:t>
            </a:r>
            <a:endParaRPr lang="en-US" sz="1200" dirty="0"/>
          </a:p>
        </p:txBody>
      </p:sp>
      <p:sp>
        <p:nvSpPr>
          <p:cNvPr id="21" name="freccia"/>
          <p:cNvSpPr/>
          <p:nvPr/>
        </p:nvSpPr>
        <p:spPr>
          <a:xfrm>
            <a:off x="5897880" y="1783080"/>
            <a:ext cx="155448" cy="292608"/>
          </a:xfrm>
          <a:prstGeom prst="rightArrow">
            <a:avLst/>
          </a:prstGeom>
          <a:solidFill>
            <a:schemeClr val="accent2"/>
          </a:solidFill>
          <a:ln/>
        </p:spPr>
      </p:sp>
      <p:sp>
        <p:nvSpPr>
          <p:cNvPr id="22" name="Rivedere"/>
          <p:cNvSpPr/>
          <p:nvPr/>
        </p:nvSpPr>
        <p:spPr>
          <a:xfrm>
            <a:off x="6071616" y="1097280"/>
            <a:ext cx="2615184" cy="1645920"/>
          </a:xfrm>
          <a:prstGeom prst="roundRect">
            <a:avLst>
              <a:gd name="adj" fmla="val 4444"/>
            </a:avLst>
          </a:prstGeom>
          <a:solidFill>
            <a:schemeClr val="bg2"/>
          </a:solidFill>
          <a:ln/>
        </p:spPr>
      </p:sp>
      <p:sp>
        <p:nvSpPr>
          <p:cNvPr id="23" name="Text 20"/>
          <p:cNvSpPr txBox="1"/>
          <p:nvPr/>
        </p:nvSpPr>
        <p:spPr>
          <a:xfrm>
            <a:off x="6254496" y="1170432"/>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24" name="Text 21"/>
          <p:cNvSpPr txBox="1"/>
          <p:nvPr/>
        </p:nvSpPr>
        <p:spPr>
          <a:xfrm>
            <a:off x="6711696" y="1216152"/>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Rivedere</a:t>
            </a:r>
            <a:endParaRPr lang="en-US" sz="1600" dirty="0"/>
          </a:p>
        </p:txBody>
      </p:sp>
      <p:sp>
        <p:nvSpPr>
          <p:cNvPr id="25" name="Text 22"/>
          <p:cNvSpPr txBox="1"/>
          <p:nvPr/>
        </p:nvSpPr>
        <p:spPr>
          <a:xfrm>
            <a:off x="6254496" y="1737360"/>
            <a:ext cx="2286000" cy="868680"/>
          </a:xfrm>
          <a:prstGeom prst="rect">
            <a:avLst/>
          </a:prstGeom>
          <a:noFill/>
          <a:ln/>
        </p:spPr>
        <p:txBody>
          <a:bodyPr wrap="square" lIns="0" tIns="0" rIns="0" bIns="0" rtlCol="0" anchor="t"/>
          <a:lstStyle/>
          <a:p>
            <a:pPr indent="0" marL="0">
              <a:buNone/>
            </a:pPr>
            <a:r>
              <a:rPr lang="en-US" sz="1200" dirty="0">
                <a:solidFill>
                  <a:schemeClr val="tx2"/>
                </a:solidFill>
              </a:rPr>
              <a:t>Coerenza, lacune, punti incerti</a:t>
            </a:r>
            <a:endParaRPr lang="en-US" sz="1200" dirty="0"/>
          </a:p>
        </p:txBody>
      </p:sp>
      <p:sp>
        <p:nvSpPr>
          <p:cNvPr id="26" name="buon dossier"/>
          <p:cNvSpPr/>
          <p:nvPr/>
        </p:nvSpPr>
        <p:spPr>
          <a:xfrm>
            <a:off x="457200" y="2926080"/>
            <a:ext cx="8229600" cy="1600200"/>
          </a:xfrm>
          <a:prstGeom prst="roundRect">
            <a:avLst>
              <a:gd name="adj" fmla="val 4571"/>
            </a:avLst>
          </a:prstGeom>
          <a:solidFill>
            <a:schemeClr val="tx1"/>
          </a:solidFill>
          <a:ln/>
        </p:spPr>
      </p:sp>
      <p:sp>
        <p:nvSpPr>
          <p:cNvPr id="27" name="Text 24"/>
          <p:cNvSpPr txBox="1"/>
          <p:nvPr/>
        </p:nvSpPr>
        <p:spPr>
          <a:xfrm>
            <a:off x="685800" y="3035808"/>
            <a:ext cx="7772400" cy="347472"/>
          </a:xfrm>
          <a:prstGeom prst="rect">
            <a:avLst/>
          </a:prstGeom>
          <a:noFill/>
          <a:ln/>
        </p:spPr>
        <p:txBody>
          <a:bodyPr wrap="square" lIns="0" tIns="0" rIns="0" bIns="0" rtlCol="0" anchor="t"/>
          <a:lstStyle/>
          <a:p>
            <a:pPr indent="0" marL="0">
              <a:buNone/>
            </a:pPr>
            <a:r>
              <a:rPr lang="en-US" sz="1500" b="1" dirty="0">
                <a:solidFill>
                  <a:schemeClr val="accent6"/>
                </a:solidFill>
              </a:rPr>
              <a:t>Un buon dossier dichiara</a:t>
            </a:r>
            <a:endParaRPr lang="en-US" sz="1500" dirty="0"/>
          </a:p>
        </p:txBody>
      </p:sp>
      <p:sp>
        <p:nvSpPr>
          <p:cNvPr id="28" name="blocco Le sue fonti"/>
          <p:cNvSpPr/>
          <p:nvPr/>
        </p:nvSpPr>
        <p:spPr>
          <a:xfrm>
            <a:off x="685800" y="3520440"/>
            <a:ext cx="2468880" cy="502920"/>
          </a:xfrm>
          <a:prstGeom prst="roundRect">
            <a:avLst>
              <a:gd name="adj" fmla="val 21818"/>
            </a:avLst>
          </a:prstGeom>
          <a:solidFill>
            <a:schemeClr val="accent1"/>
          </a:solidFill>
          <a:ln/>
        </p:spPr>
      </p:sp>
      <p:sp>
        <p:nvSpPr>
          <p:cNvPr id="29" name="Text 26"/>
          <p:cNvSpPr txBox="1"/>
          <p:nvPr/>
        </p:nvSpPr>
        <p:spPr>
          <a:xfrm>
            <a:off x="731520" y="3520440"/>
            <a:ext cx="2377440" cy="502920"/>
          </a:xfrm>
          <a:prstGeom prst="rect">
            <a:avLst/>
          </a:prstGeom>
          <a:noFill/>
          <a:ln/>
        </p:spPr>
        <p:txBody>
          <a:bodyPr wrap="square" lIns="0" tIns="0" rIns="0" bIns="0" rtlCol="0" anchor="ctr"/>
          <a:lstStyle/>
          <a:p>
            <a:pPr algn="ctr" indent="0" marL="0">
              <a:buNone/>
            </a:pPr>
            <a:r>
              <a:rPr lang="en-US" sz="1300" b="1" dirty="0">
                <a:solidFill>
                  <a:schemeClr val="bg1"/>
                </a:solidFill>
              </a:rPr>
              <a:t>Le sue fonti</a:t>
            </a:r>
            <a:endParaRPr lang="en-US" sz="1300" dirty="0"/>
          </a:p>
        </p:txBody>
      </p:sp>
      <p:sp>
        <p:nvSpPr>
          <p:cNvPr id="30" name="blocco La data di aggiornamento"/>
          <p:cNvSpPr/>
          <p:nvPr/>
        </p:nvSpPr>
        <p:spPr>
          <a:xfrm>
            <a:off x="3337560" y="3520440"/>
            <a:ext cx="2468880" cy="502920"/>
          </a:xfrm>
          <a:prstGeom prst="roundRect">
            <a:avLst>
              <a:gd name="adj" fmla="val 21818"/>
            </a:avLst>
          </a:prstGeom>
          <a:solidFill>
            <a:schemeClr val="accent1"/>
          </a:solidFill>
          <a:ln/>
        </p:spPr>
      </p:sp>
      <p:sp>
        <p:nvSpPr>
          <p:cNvPr id="31" name="Text 28"/>
          <p:cNvSpPr txBox="1"/>
          <p:nvPr/>
        </p:nvSpPr>
        <p:spPr>
          <a:xfrm>
            <a:off x="3383280" y="3520440"/>
            <a:ext cx="2377440" cy="502920"/>
          </a:xfrm>
          <a:prstGeom prst="rect">
            <a:avLst/>
          </a:prstGeom>
          <a:noFill/>
          <a:ln/>
        </p:spPr>
        <p:txBody>
          <a:bodyPr wrap="square" lIns="0" tIns="0" rIns="0" bIns="0" rtlCol="0" anchor="ctr"/>
          <a:lstStyle/>
          <a:p>
            <a:pPr algn="ctr" indent="0" marL="0">
              <a:buNone/>
            </a:pPr>
            <a:r>
              <a:rPr lang="en-US" sz="1300" b="1" dirty="0">
                <a:solidFill>
                  <a:schemeClr val="bg1"/>
                </a:solidFill>
              </a:rPr>
              <a:t>La data di aggiornamento</a:t>
            </a:r>
            <a:endParaRPr lang="en-US" sz="1300" dirty="0"/>
          </a:p>
        </p:txBody>
      </p:sp>
      <p:sp>
        <p:nvSpPr>
          <p:cNvPr id="32" name="blocco I punti incerti"/>
          <p:cNvSpPr/>
          <p:nvPr/>
        </p:nvSpPr>
        <p:spPr>
          <a:xfrm>
            <a:off x="5989320" y="3520440"/>
            <a:ext cx="2468880" cy="502920"/>
          </a:xfrm>
          <a:prstGeom prst="roundRect">
            <a:avLst>
              <a:gd name="adj" fmla="val 21818"/>
            </a:avLst>
          </a:prstGeom>
          <a:solidFill>
            <a:schemeClr val="accent1"/>
          </a:solidFill>
          <a:ln/>
        </p:spPr>
      </p:sp>
      <p:sp>
        <p:nvSpPr>
          <p:cNvPr id="33" name="Text 30"/>
          <p:cNvSpPr txBox="1"/>
          <p:nvPr/>
        </p:nvSpPr>
        <p:spPr>
          <a:xfrm>
            <a:off x="6035040" y="3520440"/>
            <a:ext cx="2377440" cy="502920"/>
          </a:xfrm>
          <a:prstGeom prst="rect">
            <a:avLst/>
          </a:prstGeom>
          <a:noFill/>
          <a:ln/>
        </p:spPr>
        <p:txBody>
          <a:bodyPr wrap="square" lIns="0" tIns="0" rIns="0" bIns="0" rtlCol="0" anchor="ctr"/>
          <a:lstStyle/>
          <a:p>
            <a:pPr algn="ctr" indent="0" marL="0">
              <a:buNone/>
            </a:pPr>
            <a:r>
              <a:rPr lang="en-US" sz="1300" b="1" dirty="0">
                <a:solidFill>
                  <a:schemeClr val="bg1"/>
                </a:solidFill>
              </a:rPr>
              <a:t>I punti incerti</a:t>
            </a:r>
            <a:endParaRPr lang="en-US" sz="1300" dirty="0"/>
          </a:p>
        </p:txBody>
      </p:sp>
      <p:sp>
        <p:nvSpPr>
          <p:cNvPr id="34" name="Text 31"/>
          <p:cNvSpPr txBox="1"/>
          <p:nvPr/>
        </p:nvSpPr>
        <p:spPr>
          <a:xfrm>
            <a:off x="685800" y="4114800"/>
            <a:ext cx="7772400" cy="320040"/>
          </a:xfrm>
          <a:prstGeom prst="rect">
            <a:avLst/>
          </a:prstGeom>
          <a:noFill/>
          <a:ln/>
        </p:spPr>
        <p:txBody>
          <a:bodyPr wrap="square" lIns="0" tIns="0" rIns="0" bIns="0" rtlCol="0" anchor="t"/>
          <a:lstStyle/>
          <a:p>
            <a:pPr indent="0" marL="0">
              <a:buNone/>
            </a:pPr>
            <a:r>
              <a:rPr lang="en-US" sz="1200" i="1" dirty="0">
                <a:solidFill>
                  <a:schemeClr val="accent3"/>
                </a:solidFill>
              </a:rPr>
              <a:t>Così si basa su fonti scelte e controllate, non sulla conoscenza incorporata.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Confrontare fonti e prospettive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scheda Che cosa può fare"/>
          <p:cNvSpPr/>
          <p:nvPr/>
        </p:nvSpPr>
        <p:spPr>
          <a:xfrm>
            <a:off x="457200" y="1097280"/>
            <a:ext cx="3977640" cy="2011680"/>
          </a:xfrm>
          <a:prstGeom prst="roundRect">
            <a:avLst>
              <a:gd name="adj" fmla="val 3636"/>
            </a:avLst>
          </a:prstGeom>
          <a:solidFill>
            <a:schemeClr val="accent6"/>
          </a:solidFill>
          <a:ln/>
        </p:spPr>
      </p:sp>
      <p:sp>
        <p:nvSpPr>
          <p:cNvPr id="13" name="cerchio FiGitBranch"/>
          <p:cNvSpPr/>
          <p:nvPr/>
        </p:nvSpPr>
        <p:spPr>
          <a:xfrm>
            <a:off x="640080" y="1280160"/>
            <a:ext cx="457200" cy="457200"/>
          </a:xfrm>
          <a:prstGeom prst="ellipse">
            <a:avLst/>
          </a:prstGeom>
          <a:solidFill>
            <a:schemeClr val="accent1"/>
          </a:solidFill>
          <a:ln/>
        </p:spPr>
      </p:sp>
      <p:pic>
        <p:nvPicPr>
          <p:cNvPr id="14" name="Image 0" descr="FiGitBranch">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può fare</a:t>
            </a:r>
            <a:endParaRPr lang="en-US" sz="16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Mappare posizioni diverse</a:t>
            </a:r>
            <a:endParaRPr lang="en-US" sz="1300" dirty="0"/>
          </a:p>
          <a:p>
            <a:pPr marL="177800" indent="-177800">
              <a:spcAft>
                <a:spcPts val="500"/>
              </a:spcAft>
              <a:buSzPct val="100000"/>
              <a:buChar char="•"/>
            </a:pPr>
            <a:r>
              <a:rPr lang="en-US" sz="1300" dirty="0">
                <a:solidFill>
                  <a:schemeClr val="tx2"/>
                </a:solidFill>
              </a:rPr>
              <a:t>Concordanze, divergenze, assunzioni</a:t>
            </a:r>
            <a:endParaRPr lang="en-US" sz="1300" dirty="0"/>
          </a:p>
          <a:p>
            <a:pPr marL="177800" indent="-177800">
              <a:spcAft>
                <a:spcPts val="500"/>
              </a:spcAft>
              <a:buSzPct val="100000"/>
              <a:buChar char="•"/>
            </a:pPr>
            <a:r>
              <a:rPr lang="en-US" sz="1300" dirty="0">
                <a:solidFill>
                  <a:schemeClr val="tx2"/>
                </a:solidFill>
              </a:rPr>
              <a:t>Non fermarsi alla prima fonte</a:t>
            </a:r>
            <a:endParaRPr lang="en-US" sz="1300" dirty="0"/>
          </a:p>
        </p:txBody>
      </p:sp>
      <p:sp>
        <p:nvSpPr>
          <p:cNvPr id="17" name="Equilibrio apparente"/>
          <p:cNvSpPr/>
          <p:nvPr/>
        </p:nvSpPr>
        <p:spPr>
          <a:xfrm>
            <a:off x="4709160" y="1097280"/>
            <a:ext cx="3977640" cy="594360"/>
          </a:xfrm>
          <a:prstGeom prst="roundRect">
            <a:avLst>
              <a:gd name="adj" fmla="val 12308"/>
            </a:avLst>
          </a:prstGeom>
          <a:solidFill>
            <a:schemeClr val="bg2"/>
          </a:solidFill>
          <a:ln/>
        </p:spPr>
      </p:sp>
      <p:sp>
        <p:nvSpPr>
          <p:cNvPr id="18" name="Text 14"/>
          <p:cNvSpPr txBox="1"/>
          <p:nvPr/>
        </p:nvSpPr>
        <p:spPr>
          <a:xfrm>
            <a:off x="4846320" y="1133856"/>
            <a:ext cx="3749040" cy="274320"/>
          </a:xfrm>
          <a:prstGeom prst="rect">
            <a:avLst/>
          </a:prstGeom>
          <a:noFill/>
          <a:ln/>
        </p:spPr>
        <p:txBody>
          <a:bodyPr wrap="square" lIns="0" tIns="0" rIns="0" bIns="0" rtlCol="0" anchor="t"/>
          <a:lstStyle/>
          <a:p>
            <a:pPr indent="0" marL="0">
              <a:buNone/>
            </a:pPr>
            <a:r>
              <a:rPr lang="en-US" sz="1300" b="1" dirty="0">
                <a:solidFill>
                  <a:schemeClr val="accent5"/>
                </a:solidFill>
              </a:rPr>
              <a:t>Equilibrio apparente</a:t>
            </a:r>
            <a:endParaRPr lang="en-US" sz="1300" dirty="0"/>
          </a:p>
        </p:txBody>
      </p:sp>
      <p:sp>
        <p:nvSpPr>
          <p:cNvPr id="19" name="Text 15"/>
          <p:cNvSpPr txBox="1"/>
          <p:nvPr/>
        </p:nvSpPr>
        <p:spPr>
          <a:xfrm>
            <a:off x="4846320" y="1399032"/>
            <a:ext cx="3749040" cy="274320"/>
          </a:xfrm>
          <a:prstGeom prst="rect">
            <a:avLst/>
          </a:prstGeom>
          <a:noFill/>
          <a:ln/>
        </p:spPr>
        <p:txBody>
          <a:bodyPr wrap="square" lIns="0" tIns="0" rIns="0" bIns="0" rtlCol="0" anchor="t"/>
          <a:lstStyle/>
          <a:p>
            <a:pPr indent="0" marL="0">
              <a:buNone/>
            </a:pPr>
            <a:r>
              <a:rPr lang="en-US" sz="1100" dirty="0">
                <a:solidFill>
                  <a:schemeClr val="tx2"/>
                </a:solidFill>
              </a:rPr>
              <a:t>Stesso peso a posizioni maggioritarie e minoritarie</a:t>
            </a:r>
            <a:endParaRPr lang="en-US" sz="1100" dirty="0"/>
          </a:p>
        </p:txBody>
      </p:sp>
      <p:sp>
        <p:nvSpPr>
          <p:cNvPr id="20" name="Semplificazione"/>
          <p:cNvSpPr/>
          <p:nvPr/>
        </p:nvSpPr>
        <p:spPr>
          <a:xfrm>
            <a:off x="4709160" y="1783080"/>
            <a:ext cx="3977640" cy="594360"/>
          </a:xfrm>
          <a:prstGeom prst="roundRect">
            <a:avLst>
              <a:gd name="adj" fmla="val 12308"/>
            </a:avLst>
          </a:prstGeom>
          <a:solidFill>
            <a:schemeClr val="bg2"/>
          </a:solidFill>
          <a:ln/>
        </p:spPr>
      </p:sp>
      <p:sp>
        <p:nvSpPr>
          <p:cNvPr id="21" name="Text 17"/>
          <p:cNvSpPr txBox="1"/>
          <p:nvPr/>
        </p:nvSpPr>
        <p:spPr>
          <a:xfrm>
            <a:off x="4846320" y="1819656"/>
            <a:ext cx="3749040" cy="274320"/>
          </a:xfrm>
          <a:prstGeom prst="rect">
            <a:avLst/>
          </a:prstGeom>
          <a:noFill/>
          <a:ln/>
        </p:spPr>
        <p:txBody>
          <a:bodyPr wrap="square" lIns="0" tIns="0" rIns="0" bIns="0" rtlCol="0" anchor="t"/>
          <a:lstStyle/>
          <a:p>
            <a:pPr indent="0" marL="0">
              <a:buNone/>
            </a:pPr>
            <a:r>
              <a:rPr lang="en-US" sz="1300" b="1" dirty="0">
                <a:solidFill>
                  <a:schemeClr val="accent5"/>
                </a:solidFill>
              </a:rPr>
              <a:t>Semplificazione</a:t>
            </a:r>
            <a:endParaRPr lang="en-US" sz="1300" dirty="0"/>
          </a:p>
        </p:txBody>
      </p:sp>
      <p:sp>
        <p:nvSpPr>
          <p:cNvPr id="22" name="Text 18"/>
          <p:cNvSpPr txBox="1"/>
          <p:nvPr/>
        </p:nvSpPr>
        <p:spPr>
          <a:xfrm>
            <a:off x="4846320" y="2084832"/>
            <a:ext cx="3749040" cy="274320"/>
          </a:xfrm>
          <a:prstGeom prst="rect">
            <a:avLst/>
          </a:prstGeom>
          <a:noFill/>
          <a:ln/>
        </p:spPr>
        <p:txBody>
          <a:bodyPr wrap="square" lIns="0" tIns="0" rIns="0" bIns="0" rtlCol="0" anchor="t"/>
          <a:lstStyle/>
          <a:p>
            <a:pPr indent="0" marL="0">
              <a:buNone/>
            </a:pPr>
            <a:r>
              <a:rPr lang="en-US" sz="1100" dirty="0">
                <a:solidFill>
                  <a:schemeClr val="tx2"/>
                </a:solidFill>
              </a:rPr>
              <a:t>Risalire alle fonti delle posizioni rilevanti</a:t>
            </a:r>
            <a:endParaRPr lang="en-US" sz="1100" dirty="0"/>
          </a:p>
        </p:txBody>
      </p:sp>
      <p:sp>
        <p:nvSpPr>
          <p:cNvPr id="23" name="Domanda orientata"/>
          <p:cNvSpPr/>
          <p:nvPr/>
        </p:nvSpPr>
        <p:spPr>
          <a:xfrm>
            <a:off x="4709160" y="2468880"/>
            <a:ext cx="3977640" cy="594360"/>
          </a:xfrm>
          <a:prstGeom prst="roundRect">
            <a:avLst>
              <a:gd name="adj" fmla="val 12308"/>
            </a:avLst>
          </a:prstGeom>
          <a:solidFill>
            <a:schemeClr val="bg2"/>
          </a:solidFill>
          <a:ln/>
        </p:spPr>
      </p:sp>
      <p:sp>
        <p:nvSpPr>
          <p:cNvPr id="24" name="Text 20"/>
          <p:cNvSpPr txBox="1"/>
          <p:nvPr/>
        </p:nvSpPr>
        <p:spPr>
          <a:xfrm>
            <a:off x="4846320" y="2505456"/>
            <a:ext cx="3749040" cy="274320"/>
          </a:xfrm>
          <a:prstGeom prst="rect">
            <a:avLst/>
          </a:prstGeom>
          <a:noFill/>
          <a:ln/>
        </p:spPr>
        <p:txBody>
          <a:bodyPr wrap="square" lIns="0" tIns="0" rIns="0" bIns="0" rtlCol="0" anchor="t"/>
          <a:lstStyle/>
          <a:p>
            <a:pPr indent="0" marL="0">
              <a:buNone/>
            </a:pPr>
            <a:r>
              <a:rPr lang="en-US" sz="1300" b="1" dirty="0">
                <a:solidFill>
                  <a:schemeClr val="accent5"/>
                </a:solidFill>
              </a:rPr>
              <a:t>Domanda orientata</a:t>
            </a:r>
            <a:endParaRPr lang="en-US" sz="1300" dirty="0"/>
          </a:p>
        </p:txBody>
      </p:sp>
      <p:sp>
        <p:nvSpPr>
          <p:cNvPr id="25" name="Text 21"/>
          <p:cNvSpPr txBox="1"/>
          <p:nvPr/>
        </p:nvSpPr>
        <p:spPr>
          <a:xfrm>
            <a:off x="4846320" y="2770632"/>
            <a:ext cx="3749040" cy="274320"/>
          </a:xfrm>
          <a:prstGeom prst="rect">
            <a:avLst/>
          </a:prstGeom>
          <a:noFill/>
          <a:ln/>
        </p:spPr>
        <p:txBody>
          <a:bodyPr wrap="square" lIns="0" tIns="0" rIns="0" bIns="0" rtlCol="0" anchor="t"/>
          <a:lstStyle/>
          <a:p>
            <a:pPr indent="0" marL="0">
              <a:buNone/>
            </a:pPr>
            <a:r>
              <a:rPr lang="en-US" sz="1100" dirty="0">
                <a:solidFill>
                  <a:schemeClr val="tx2"/>
                </a:solidFill>
              </a:rPr>
              <a:t>'Vantaggi di' e 'valutazioni su' danno quadri diversi</a:t>
            </a:r>
            <a:endParaRPr lang="en-US" sz="1100" dirty="0"/>
          </a:p>
        </p:txBody>
      </p:sp>
      <p:sp>
        <p:nvSpPr>
          <p:cNvPr id="26" name="messaggio"/>
          <p:cNvSpPr/>
          <p:nvPr/>
        </p:nvSpPr>
        <p:spPr>
          <a:xfrm>
            <a:off x="457200" y="3337560"/>
            <a:ext cx="8229600" cy="777240"/>
          </a:xfrm>
          <a:prstGeom prst="roundRect">
            <a:avLst>
              <a:gd name="adj" fmla="val 9412"/>
            </a:avLst>
          </a:prstGeom>
          <a:solidFill>
            <a:schemeClr val="tx1"/>
          </a:solidFill>
          <a:ln/>
        </p:spPr>
      </p:sp>
      <p:sp>
        <p:nvSpPr>
          <p:cNvPr id="27" name="Text 23"/>
          <p:cNvSpPr txBox="1"/>
          <p:nvPr/>
        </p:nvSpPr>
        <p:spPr>
          <a:xfrm>
            <a:off x="640080" y="3337560"/>
            <a:ext cx="7863840" cy="777240"/>
          </a:xfrm>
          <a:prstGeom prst="rect">
            <a:avLst/>
          </a:prstGeom>
          <a:noFill/>
          <a:ln/>
        </p:spPr>
        <p:txBody>
          <a:bodyPr wrap="square" lIns="0" tIns="0" rIns="0" bIns="0" rtlCol="0" anchor="ctr"/>
          <a:lstStyle/>
          <a:p>
            <a:pPr indent="0" marL="0">
              <a:buNone/>
            </a:pPr>
            <a:r>
              <a:rPr lang="en-US" sz="1300" dirty="0">
                <a:solidFill>
                  <a:schemeClr val="bg1"/>
                </a:solidFill>
              </a:rPr>
              <a:t>Il confronto tra prospettive contrasta il bias di conferma. Ma il quadro prodotto va letto con le stesse cautele di una sintesi.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Ricerca assistita e verifica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scheda Ricerca assistita"/>
          <p:cNvSpPr/>
          <p:nvPr/>
        </p:nvSpPr>
        <p:spPr>
          <a:xfrm>
            <a:off x="457200" y="1097280"/>
            <a:ext cx="3977640" cy="2103120"/>
          </a:xfrm>
          <a:prstGeom prst="roundRect">
            <a:avLst>
              <a:gd name="adj" fmla="val 3478"/>
            </a:avLst>
          </a:prstGeom>
          <a:solidFill>
            <a:schemeClr val="bg2"/>
          </a:solidFill>
          <a:ln/>
        </p:spPr>
      </p:sp>
      <p:sp>
        <p:nvSpPr>
          <p:cNvPr id="13" name="cerchio FiSearch"/>
          <p:cNvSpPr/>
          <p:nvPr/>
        </p:nvSpPr>
        <p:spPr>
          <a:xfrm>
            <a:off x="640080" y="1280160"/>
            <a:ext cx="457200" cy="457200"/>
          </a:xfrm>
          <a:prstGeom prst="ellipse">
            <a:avLst/>
          </a:prstGeom>
          <a:solidFill>
            <a:schemeClr val="accent1"/>
          </a:solidFill>
          <a:ln/>
        </p:spPr>
      </p:sp>
      <p:pic>
        <p:nvPicPr>
          <p:cNvPr id="14" name="Image 0" descr="FiSearch">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Ricerca assistita</a:t>
            </a:r>
            <a:endParaRPr lang="en-US" sz="16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Trova fonti ritenute pertinenti</a:t>
            </a:r>
            <a:endParaRPr lang="en-US" sz="1300" dirty="0"/>
          </a:p>
          <a:p>
            <a:pPr marL="177800" indent="-177800">
              <a:spcAft>
                <a:spcPts val="500"/>
              </a:spcAft>
              <a:buSzPct val="100000"/>
              <a:buChar char="•"/>
            </a:pPr>
            <a:r>
              <a:rPr lang="en-US" sz="1300" dirty="0">
                <a:solidFill>
                  <a:schemeClr val="tx2"/>
                </a:solidFill>
              </a:rPr>
              <a:t>Ne riporta il contenuto</a:t>
            </a:r>
            <a:endParaRPr lang="en-US" sz="1300" dirty="0"/>
          </a:p>
          <a:p>
            <a:pPr marL="177800" indent="-177800">
              <a:spcAft>
                <a:spcPts val="500"/>
              </a:spcAft>
              <a:buSzPct val="100000"/>
              <a:buChar char="•"/>
            </a:pPr>
            <a:r>
              <a:rPr lang="en-US" sz="1300" dirty="0">
                <a:solidFill>
                  <a:schemeClr val="tx2"/>
                </a:solidFill>
              </a:rPr>
              <a:t>Riduce il tempo per trovare il materiale</a:t>
            </a:r>
            <a:endParaRPr lang="en-US" sz="1300" dirty="0"/>
          </a:p>
        </p:txBody>
      </p:sp>
      <p:sp>
        <p:nvSpPr>
          <p:cNvPr id="17" name="scheda Verifica delle fonti"/>
          <p:cNvSpPr/>
          <p:nvPr/>
        </p:nvSpPr>
        <p:spPr>
          <a:xfrm>
            <a:off x="4709160" y="1097280"/>
            <a:ext cx="3977640" cy="2103120"/>
          </a:xfrm>
          <a:prstGeom prst="roundRect">
            <a:avLst>
              <a:gd name="adj" fmla="val 3478"/>
            </a:avLst>
          </a:prstGeom>
          <a:solidFill>
            <a:schemeClr val="accent6"/>
          </a:solidFill>
          <a:ln/>
        </p:spPr>
      </p:sp>
      <p:sp>
        <p:nvSpPr>
          <p:cNvPr id="18" name="cerchio FiCheckCircle"/>
          <p:cNvSpPr/>
          <p:nvPr/>
        </p:nvSpPr>
        <p:spPr>
          <a:xfrm>
            <a:off x="4892040" y="1280160"/>
            <a:ext cx="457200" cy="457200"/>
          </a:xfrm>
          <a:prstGeom prst="ellipse">
            <a:avLst/>
          </a:prstGeom>
          <a:solidFill>
            <a:schemeClr val="accent1"/>
          </a:solidFill>
          <a:ln/>
        </p:spPr>
      </p:sp>
      <p:pic>
        <p:nvPicPr>
          <p:cNvPr id="19" name="Image 1" descr="FiCheck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Verifica delle fonti</a:t>
            </a:r>
            <a:endParaRPr lang="en-US" sz="16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Attendibili e aggiornate?</a:t>
            </a:r>
            <a:endParaRPr lang="en-US" sz="1300" dirty="0"/>
          </a:p>
          <a:p>
            <a:pPr marL="177800" indent="-177800">
              <a:spcAft>
                <a:spcPts val="500"/>
              </a:spcAft>
              <a:buSzPct val="100000"/>
              <a:buChar char="•"/>
            </a:pPr>
            <a:r>
              <a:rPr lang="en-US" sz="1300" dirty="0">
                <a:solidFill>
                  <a:schemeClr val="tx2"/>
                </a:solidFill>
              </a:rPr>
              <a:t>Sostengono davvero l'affermazione?</a:t>
            </a:r>
            <a:endParaRPr lang="en-US" sz="1300" dirty="0"/>
          </a:p>
          <a:p>
            <a:pPr marL="177800" indent="-177800">
              <a:spcAft>
                <a:spcPts val="500"/>
              </a:spcAft>
              <a:buSzPct val="100000"/>
              <a:buChar char="•"/>
            </a:pPr>
            <a:r>
              <a:rPr lang="en-US" sz="1300" dirty="0">
                <a:solidFill>
                  <a:schemeClr val="tx2"/>
                </a:solidFill>
              </a:rPr>
              <a:t>Resta a chi usa il risultato</a:t>
            </a:r>
            <a:endParaRPr lang="en-US" sz="1300" dirty="0"/>
          </a:p>
        </p:txBody>
      </p:sp>
      <p:sp>
        <p:nvSpPr>
          <p:cNvPr id="22" name="messaggio"/>
          <p:cNvSpPr/>
          <p:nvPr/>
        </p:nvSpPr>
        <p:spPr>
          <a:xfrm>
            <a:off x="457200" y="3383280"/>
            <a:ext cx="8229600" cy="777240"/>
          </a:xfrm>
          <a:prstGeom prst="roundRect">
            <a:avLst>
              <a:gd name="adj" fmla="val 9412"/>
            </a:avLst>
          </a:prstGeom>
          <a:solidFill>
            <a:schemeClr val="tx1"/>
          </a:solidFill>
          <a:ln/>
        </p:spPr>
      </p:sp>
      <p:sp>
        <p:nvSpPr>
          <p:cNvPr id="23" name="Text 18"/>
          <p:cNvSpPr txBox="1"/>
          <p:nvPr/>
        </p:nvSpPr>
        <p:spPr>
          <a:xfrm>
            <a:off x="640080" y="338328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 ricerca assistita sposta il lavoro, non lo elimina. Il rischio è che una risposta già con le fonti faccia saltare la verifica.</a:t>
            </a:r>
            <a:endParaRPr lang="en-US" sz="1300" dirty="0"/>
          </a:p>
        </p:txBody>
      </p:sp>
      <p:sp>
        <p:nvSpPr>
          <p:cNvPr id="24" name="Text 19"/>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Verificare una fonte: esiste, è pertinente, sostiene davvero l'affermazione.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sostenere ricerca e organizzazione della conoscenza, senza rendere automaticamente attendibili le informazioni trovate o generate.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8.6  ·  Ricerca, approfondimento e organizzazione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e gestione della conoscenza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può agevolare l'accesso alle informazioni documentali, ma non risolve da sola i problemi di organizzazione e qualità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informazioni, documenti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Dati"/>
          <p:cNvSpPr/>
          <p:nvPr/>
        </p:nvSpPr>
        <p:spPr>
          <a:xfrm>
            <a:off x="457200" y="1024128"/>
            <a:ext cx="5029200" cy="621792"/>
          </a:xfrm>
          <a:prstGeom prst="roundRect">
            <a:avLst>
              <a:gd name="adj" fmla="val 11765"/>
            </a:avLst>
          </a:prstGeom>
          <a:solidFill>
            <a:schemeClr val="bg2"/>
          </a:solidFill>
          <a:ln/>
        </p:spPr>
      </p:sp>
      <p:sp>
        <p:nvSpPr>
          <p:cNvPr id="13" name="Text 10"/>
          <p:cNvSpPr txBox="1"/>
          <p:nvPr/>
        </p:nvSpPr>
        <p:spPr>
          <a:xfrm>
            <a:off x="594360" y="1024128"/>
            <a:ext cx="1463040" cy="621792"/>
          </a:xfrm>
          <a:prstGeom prst="rect">
            <a:avLst/>
          </a:prstGeom>
          <a:noFill/>
          <a:ln/>
        </p:spPr>
        <p:txBody>
          <a:bodyPr wrap="square" lIns="0" tIns="0" rIns="0" bIns="0" rtlCol="0" anchor="ctr"/>
          <a:lstStyle/>
          <a:p>
            <a:pPr indent="0" marL="0">
              <a:buNone/>
            </a:pPr>
            <a:r>
              <a:rPr lang="en-US" sz="1400" b="1" dirty="0">
                <a:solidFill>
                  <a:schemeClr val="accent1"/>
                </a:solidFill>
              </a:rPr>
              <a:t>Dati</a:t>
            </a:r>
            <a:endParaRPr lang="en-US" sz="1400" dirty="0"/>
          </a:p>
        </p:txBody>
      </p:sp>
      <p:sp>
        <p:nvSpPr>
          <p:cNvPr id="14" name="Text 11"/>
          <p:cNvSpPr txBox="1"/>
          <p:nvPr/>
        </p:nvSpPr>
        <p:spPr>
          <a:xfrm>
            <a:off x="2057400" y="1069848"/>
            <a:ext cx="3291840" cy="274320"/>
          </a:xfrm>
          <a:prstGeom prst="rect">
            <a:avLst/>
          </a:prstGeom>
          <a:noFill/>
          <a:ln/>
        </p:spPr>
        <p:txBody>
          <a:bodyPr wrap="square" lIns="0" tIns="0" rIns="0" bIns="0" rtlCol="0" anchor="t"/>
          <a:lstStyle/>
          <a:p>
            <a:pPr indent="0" marL="0">
              <a:buNone/>
            </a:pPr>
            <a:r>
              <a:rPr lang="en-US" sz="1200" b="1" dirty="0">
                <a:solidFill>
                  <a:schemeClr val="tx1"/>
                </a:solidFill>
              </a:rPr>
              <a:t>Elementi elementari</a:t>
            </a:r>
            <a:endParaRPr lang="en-US" sz="1200" dirty="0"/>
          </a:p>
        </p:txBody>
      </p:sp>
      <p:sp>
        <p:nvSpPr>
          <p:cNvPr id="15" name="Text 12"/>
          <p:cNvSpPr txBox="1"/>
          <p:nvPr/>
        </p:nvSpPr>
        <p:spPr>
          <a:xfrm>
            <a:off x="2057400" y="1335024"/>
            <a:ext cx="3291840" cy="274320"/>
          </a:xfrm>
          <a:prstGeom prst="rect">
            <a:avLst/>
          </a:prstGeom>
          <a:noFill/>
          <a:ln/>
        </p:spPr>
        <p:txBody>
          <a:bodyPr wrap="square" lIns="0" tIns="0" rIns="0" bIns="0" rtlCol="0" anchor="t"/>
          <a:lstStyle/>
          <a:p>
            <a:pPr indent="0" marL="0">
              <a:buNone/>
            </a:pPr>
            <a:r>
              <a:rPr lang="en-US" sz="1100" i="1" dirty="0">
                <a:solidFill>
                  <a:schemeClr val="tx2"/>
                </a:solidFill>
              </a:rPr>
              <a:t>45  ·  12/03  ·  ORD-4471</a:t>
            </a:r>
            <a:endParaRPr lang="en-US" sz="1100" dirty="0"/>
          </a:p>
        </p:txBody>
      </p:sp>
      <p:sp>
        <p:nvSpPr>
          <p:cNvPr id="16" name="Informazioni"/>
          <p:cNvSpPr/>
          <p:nvPr/>
        </p:nvSpPr>
        <p:spPr>
          <a:xfrm>
            <a:off x="457200" y="1737360"/>
            <a:ext cx="5486400" cy="621792"/>
          </a:xfrm>
          <a:prstGeom prst="roundRect">
            <a:avLst>
              <a:gd name="adj" fmla="val 11765"/>
            </a:avLst>
          </a:prstGeom>
          <a:solidFill>
            <a:schemeClr val="accent6"/>
          </a:solidFill>
          <a:ln/>
        </p:spPr>
      </p:sp>
      <p:sp>
        <p:nvSpPr>
          <p:cNvPr id="17" name="Text 14"/>
          <p:cNvSpPr txBox="1"/>
          <p:nvPr/>
        </p:nvSpPr>
        <p:spPr>
          <a:xfrm>
            <a:off x="594360" y="1737360"/>
            <a:ext cx="1463040" cy="621792"/>
          </a:xfrm>
          <a:prstGeom prst="rect">
            <a:avLst/>
          </a:prstGeom>
          <a:noFill/>
          <a:ln/>
        </p:spPr>
        <p:txBody>
          <a:bodyPr wrap="square" lIns="0" tIns="0" rIns="0" bIns="0" rtlCol="0" anchor="ctr"/>
          <a:lstStyle/>
          <a:p>
            <a:pPr indent="0" marL="0">
              <a:buNone/>
            </a:pPr>
            <a:r>
              <a:rPr lang="en-US" sz="1400" b="1" dirty="0">
                <a:solidFill>
                  <a:schemeClr val="accent1"/>
                </a:solidFill>
              </a:rPr>
              <a:t>Informazioni</a:t>
            </a:r>
            <a:endParaRPr lang="en-US" sz="1400" dirty="0"/>
          </a:p>
        </p:txBody>
      </p:sp>
      <p:sp>
        <p:nvSpPr>
          <p:cNvPr id="18" name="Text 15"/>
          <p:cNvSpPr txBox="1"/>
          <p:nvPr/>
        </p:nvSpPr>
        <p:spPr>
          <a:xfrm>
            <a:off x="2057400" y="1783080"/>
            <a:ext cx="3749040" cy="274320"/>
          </a:xfrm>
          <a:prstGeom prst="rect">
            <a:avLst/>
          </a:prstGeom>
          <a:noFill/>
          <a:ln/>
        </p:spPr>
        <p:txBody>
          <a:bodyPr wrap="square" lIns="0" tIns="0" rIns="0" bIns="0" rtlCol="0" anchor="t"/>
          <a:lstStyle/>
          <a:p>
            <a:pPr indent="0" marL="0">
              <a:buNone/>
            </a:pPr>
            <a:r>
              <a:rPr lang="en-US" sz="1200" b="1" dirty="0">
                <a:solidFill>
                  <a:schemeClr val="tx1"/>
                </a:solidFill>
              </a:rPr>
              <a:t>Dati con significato e contesto</a:t>
            </a:r>
            <a:endParaRPr lang="en-US" sz="1200" dirty="0"/>
          </a:p>
        </p:txBody>
      </p:sp>
      <p:sp>
        <p:nvSpPr>
          <p:cNvPr id="19" name="Text 16"/>
          <p:cNvSpPr txBox="1"/>
          <p:nvPr/>
        </p:nvSpPr>
        <p:spPr>
          <a:xfrm>
            <a:off x="2057400" y="2048256"/>
            <a:ext cx="3749040" cy="274320"/>
          </a:xfrm>
          <a:prstGeom prst="rect">
            <a:avLst/>
          </a:prstGeom>
          <a:noFill/>
          <a:ln/>
        </p:spPr>
        <p:txBody>
          <a:bodyPr wrap="square" lIns="0" tIns="0" rIns="0" bIns="0" rtlCol="0" anchor="t"/>
          <a:lstStyle/>
          <a:p>
            <a:pPr indent="0" marL="0">
              <a:buNone/>
            </a:pPr>
            <a:r>
              <a:rPr lang="en-US" sz="1100" i="1" dirty="0">
                <a:solidFill>
                  <a:schemeClr val="tx2"/>
                </a:solidFill>
              </a:rPr>
              <a:t>Ordine 4471 consegnato il 12/03 con 45 giorni di ritardo</a:t>
            </a:r>
            <a:endParaRPr lang="en-US" sz="1100" dirty="0"/>
          </a:p>
        </p:txBody>
      </p:sp>
      <p:sp>
        <p:nvSpPr>
          <p:cNvPr id="20" name="Documenti"/>
          <p:cNvSpPr/>
          <p:nvPr/>
        </p:nvSpPr>
        <p:spPr>
          <a:xfrm>
            <a:off x="457200" y="2450592"/>
            <a:ext cx="5943600" cy="621792"/>
          </a:xfrm>
          <a:prstGeom prst="roundRect">
            <a:avLst>
              <a:gd name="adj" fmla="val 11765"/>
            </a:avLst>
          </a:prstGeom>
          <a:solidFill>
            <a:schemeClr val="bg2"/>
          </a:solidFill>
          <a:ln/>
        </p:spPr>
      </p:sp>
      <p:sp>
        <p:nvSpPr>
          <p:cNvPr id="21" name="Text 18"/>
          <p:cNvSpPr txBox="1"/>
          <p:nvPr/>
        </p:nvSpPr>
        <p:spPr>
          <a:xfrm>
            <a:off x="594360" y="2450592"/>
            <a:ext cx="1463040" cy="621792"/>
          </a:xfrm>
          <a:prstGeom prst="rect">
            <a:avLst/>
          </a:prstGeom>
          <a:noFill/>
          <a:ln/>
        </p:spPr>
        <p:txBody>
          <a:bodyPr wrap="square" lIns="0" tIns="0" rIns="0" bIns="0" rtlCol="0" anchor="ctr"/>
          <a:lstStyle/>
          <a:p>
            <a:pPr indent="0" marL="0">
              <a:buNone/>
            </a:pPr>
            <a:r>
              <a:rPr lang="en-US" sz="1400" b="1" dirty="0">
                <a:solidFill>
                  <a:schemeClr val="accent1"/>
                </a:solidFill>
              </a:rPr>
              <a:t>Documenti</a:t>
            </a:r>
            <a:endParaRPr lang="en-US" sz="1400" dirty="0"/>
          </a:p>
        </p:txBody>
      </p:sp>
      <p:sp>
        <p:nvSpPr>
          <p:cNvPr id="22" name="Text 19"/>
          <p:cNvSpPr txBox="1"/>
          <p:nvPr/>
        </p:nvSpPr>
        <p:spPr>
          <a:xfrm>
            <a:off x="2057400" y="2496312"/>
            <a:ext cx="4206240" cy="274320"/>
          </a:xfrm>
          <a:prstGeom prst="rect">
            <a:avLst/>
          </a:prstGeom>
          <a:noFill/>
          <a:ln/>
        </p:spPr>
        <p:txBody>
          <a:bodyPr wrap="square" lIns="0" tIns="0" rIns="0" bIns="0" rtlCol="0" anchor="t"/>
          <a:lstStyle/>
          <a:p>
            <a:pPr indent="0" marL="0">
              <a:buNone/>
            </a:pPr>
            <a:r>
              <a:rPr lang="en-US" sz="1200" b="1" dirty="0">
                <a:solidFill>
                  <a:schemeClr val="tx1"/>
                </a:solidFill>
              </a:rPr>
              <a:t>Contenitori organizzati per uno scopo</a:t>
            </a:r>
            <a:endParaRPr lang="en-US" sz="1200" dirty="0"/>
          </a:p>
        </p:txBody>
      </p:sp>
      <p:sp>
        <p:nvSpPr>
          <p:cNvPr id="23" name="Text 20"/>
          <p:cNvSpPr txBox="1"/>
          <p:nvPr/>
        </p:nvSpPr>
        <p:spPr>
          <a:xfrm>
            <a:off x="2057400" y="2761488"/>
            <a:ext cx="4206240" cy="274320"/>
          </a:xfrm>
          <a:prstGeom prst="rect">
            <a:avLst/>
          </a:prstGeom>
          <a:noFill/>
          <a:ln/>
        </p:spPr>
        <p:txBody>
          <a:bodyPr wrap="square" lIns="0" tIns="0" rIns="0" bIns="0" rtlCol="0" anchor="t"/>
          <a:lstStyle/>
          <a:p>
            <a:pPr indent="0" marL="0">
              <a:buNone/>
            </a:pPr>
            <a:r>
              <a:rPr lang="en-US" sz="1100" i="1" dirty="0">
                <a:solidFill>
                  <a:schemeClr val="tx2"/>
                </a:solidFill>
              </a:rPr>
              <a:t>Contratto, procedura, verbale, manuale</a:t>
            </a:r>
            <a:endParaRPr lang="en-US" sz="1100" dirty="0"/>
          </a:p>
        </p:txBody>
      </p:sp>
      <p:sp>
        <p:nvSpPr>
          <p:cNvPr id="24" name="Conoscenza"/>
          <p:cNvSpPr/>
          <p:nvPr/>
        </p:nvSpPr>
        <p:spPr>
          <a:xfrm>
            <a:off x="457200" y="3163824"/>
            <a:ext cx="6400800" cy="621792"/>
          </a:xfrm>
          <a:prstGeom prst="roundRect">
            <a:avLst>
              <a:gd name="adj" fmla="val 11765"/>
            </a:avLst>
          </a:prstGeom>
          <a:solidFill>
            <a:schemeClr val="accent1"/>
          </a:solidFill>
          <a:ln/>
        </p:spPr>
      </p:sp>
      <p:sp>
        <p:nvSpPr>
          <p:cNvPr id="25" name="Text 22"/>
          <p:cNvSpPr txBox="1"/>
          <p:nvPr/>
        </p:nvSpPr>
        <p:spPr>
          <a:xfrm>
            <a:off x="594360" y="3163824"/>
            <a:ext cx="1463040" cy="621792"/>
          </a:xfrm>
          <a:prstGeom prst="rect">
            <a:avLst/>
          </a:prstGeom>
          <a:noFill/>
          <a:ln/>
        </p:spPr>
        <p:txBody>
          <a:bodyPr wrap="square" lIns="0" tIns="0" rIns="0" bIns="0" rtlCol="0" anchor="ctr"/>
          <a:lstStyle/>
          <a:p>
            <a:pPr indent="0" marL="0">
              <a:buNone/>
            </a:pPr>
            <a:r>
              <a:rPr lang="en-US" sz="1400" b="1" dirty="0">
                <a:solidFill>
                  <a:schemeClr val="bg1"/>
                </a:solidFill>
              </a:rPr>
              <a:t>Conoscenza</a:t>
            </a:r>
            <a:endParaRPr lang="en-US" sz="1400" dirty="0"/>
          </a:p>
        </p:txBody>
      </p:sp>
      <p:sp>
        <p:nvSpPr>
          <p:cNvPr id="26" name="Text 23"/>
          <p:cNvSpPr txBox="1"/>
          <p:nvPr/>
        </p:nvSpPr>
        <p:spPr>
          <a:xfrm>
            <a:off x="2057400" y="3209544"/>
            <a:ext cx="4663440" cy="274320"/>
          </a:xfrm>
          <a:prstGeom prst="rect">
            <a:avLst/>
          </a:prstGeom>
          <a:noFill/>
          <a:ln/>
        </p:spPr>
        <p:txBody>
          <a:bodyPr wrap="square" lIns="0" tIns="0" rIns="0" bIns="0" rtlCol="0" anchor="t"/>
          <a:lstStyle/>
          <a:p>
            <a:pPr indent="0" marL="0">
              <a:buNone/>
            </a:pPr>
            <a:r>
              <a:rPr lang="en-US" sz="1200" b="1" dirty="0">
                <a:solidFill>
                  <a:schemeClr val="bg1"/>
                </a:solidFill>
              </a:rPr>
              <a:t>Capacità di usare le informazioni per agire</a:t>
            </a:r>
            <a:endParaRPr lang="en-US" sz="1200" dirty="0"/>
          </a:p>
        </p:txBody>
      </p:sp>
      <p:sp>
        <p:nvSpPr>
          <p:cNvPr id="27" name="Text 24"/>
          <p:cNvSpPr txBox="1"/>
          <p:nvPr/>
        </p:nvSpPr>
        <p:spPr>
          <a:xfrm>
            <a:off x="2057400" y="3474720"/>
            <a:ext cx="4663440" cy="274320"/>
          </a:xfrm>
          <a:prstGeom prst="rect">
            <a:avLst/>
          </a:prstGeom>
          <a:noFill/>
          <a:ln/>
        </p:spPr>
        <p:txBody>
          <a:bodyPr wrap="square" lIns="0" tIns="0" rIns="0" bIns="0" rtlCol="0" anchor="t"/>
          <a:lstStyle/>
          <a:p>
            <a:pPr indent="0" marL="0">
              <a:buNone/>
            </a:pPr>
            <a:r>
              <a:rPr lang="en-US" sz="1100" i="1" dirty="0">
                <a:solidFill>
                  <a:schemeClr val="accent6"/>
                </a:solidFill>
              </a:rPr>
              <a:t>Che cosa fare, quale clausola, chi contattare</a:t>
            </a:r>
            <a:endParaRPr lang="en-US" sz="1100" dirty="0"/>
          </a:p>
        </p:txBody>
      </p:sp>
      <p:sp>
        <p:nvSpPr>
          <p:cNvPr id="28" name="Text 25"/>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300" b="1" i="1" dirty="0">
                <a:solidFill>
                  <a:schemeClr val="accent5"/>
                </a:solidFill>
              </a:rPr>
              <a:t>La conoscenza non scritta, o scritta male, resta fuori dalla portata dell'AI.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Archivio o conoscenza interrogabile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archivio"/>
          <p:cNvSpPr/>
          <p:nvPr/>
        </p:nvSpPr>
        <p:spPr>
          <a:xfrm>
            <a:off x="457200" y="1051560"/>
            <a:ext cx="2377440" cy="1325880"/>
          </a:xfrm>
          <a:prstGeom prst="roundRect">
            <a:avLst>
              <a:gd name="adj" fmla="val 5517"/>
            </a:avLst>
          </a:prstGeom>
          <a:solidFill>
            <a:schemeClr val="bg2"/>
          </a:solidFill>
          <a:ln/>
        </p:spPr>
      </p:sp>
      <p:sp>
        <p:nvSpPr>
          <p:cNvPr id="13" name="cerchio FiArchive"/>
          <p:cNvSpPr/>
          <p:nvPr/>
        </p:nvSpPr>
        <p:spPr>
          <a:xfrm>
            <a:off x="640080" y="1188720"/>
            <a:ext cx="502920" cy="502920"/>
          </a:xfrm>
          <a:prstGeom prst="ellipse">
            <a:avLst/>
          </a:prstGeom>
          <a:solidFill>
            <a:schemeClr val="accent2"/>
          </a:solidFill>
          <a:ln/>
        </p:spPr>
      </p:sp>
      <p:pic>
        <p:nvPicPr>
          <p:cNvPr id="14" name="Image 0" descr="FiArchive">    </p:cNvPr>
          <p:cNvPicPr>
            <a:picLocks noChangeAspect="1"/>
          </p:cNvPicPr>
          <p:nvPr/>
        </p:nvPicPr>
        <p:blipFill>
          <a:blip r:embed="rId1"/>
          <a:stretch>
            <a:fillRect/>
          </a:stretch>
        </p:blipFill>
        <p:spPr>
          <a:xfrm>
            <a:off x="765810" y="1314450"/>
            <a:ext cx="251460" cy="251460"/>
          </a:xfrm>
          <a:prstGeom prst="rect">
            <a:avLst/>
          </a:prstGeom>
        </p:spPr>
      </p:pic>
      <p:sp>
        <p:nvSpPr>
          <p:cNvPr id="15" name="Text 11"/>
          <p:cNvSpPr txBox="1"/>
          <p:nvPr/>
        </p:nvSpPr>
        <p:spPr>
          <a:xfrm>
            <a:off x="1234440" y="1207008"/>
            <a:ext cx="1554480" cy="457200"/>
          </a:xfrm>
          <a:prstGeom prst="rect">
            <a:avLst/>
          </a:prstGeom>
          <a:noFill/>
          <a:ln/>
        </p:spPr>
        <p:txBody>
          <a:bodyPr wrap="square" lIns="0" tIns="0" rIns="0" bIns="0" rtlCol="0" anchor="ctr"/>
          <a:lstStyle/>
          <a:p>
            <a:pPr indent="0" marL="0">
              <a:buNone/>
            </a:pPr>
            <a:r>
              <a:rPr lang="en-US" sz="1500" b="1" dirty="0">
                <a:solidFill>
                  <a:schemeClr val="tx1"/>
                </a:solidFill>
              </a:rPr>
              <a:t>Archivio</a:t>
            </a:r>
            <a:endParaRPr lang="en-US" sz="1500" dirty="0"/>
          </a:p>
        </p:txBody>
      </p:sp>
      <p:sp>
        <p:nvSpPr>
          <p:cNvPr id="16" name="Text 12"/>
          <p:cNvSpPr txBox="1"/>
          <p:nvPr/>
        </p:nvSpPr>
        <p:spPr>
          <a:xfrm>
            <a:off x="640080" y="1783080"/>
            <a:ext cx="2103120" cy="548640"/>
          </a:xfrm>
          <a:prstGeom prst="rect">
            <a:avLst/>
          </a:prstGeom>
          <a:noFill/>
          <a:ln/>
        </p:spPr>
        <p:txBody>
          <a:bodyPr wrap="square" lIns="0" tIns="0" rIns="0" bIns="0" rtlCol="0" anchor="t"/>
          <a:lstStyle/>
          <a:p>
            <a:pPr indent="0" marL="0">
              <a:buNone/>
            </a:pPr>
            <a:r>
              <a:rPr lang="en-US" sz="1100" dirty="0">
                <a:solidFill>
                  <a:schemeClr val="tx2"/>
                </a:solidFill>
              </a:rPr>
              <a:t>Si cerca un file, lo si apre, lo si legge</a:t>
            </a:r>
            <a:endParaRPr lang="en-US" sz="1100" dirty="0"/>
          </a:p>
        </p:txBody>
      </p:sp>
      <p:sp>
        <p:nvSpPr>
          <p:cNvPr id="17" name="freccia"/>
          <p:cNvSpPr/>
          <p:nvPr/>
        </p:nvSpPr>
        <p:spPr>
          <a:xfrm>
            <a:off x="2926080" y="1554480"/>
            <a:ext cx="320040" cy="292608"/>
          </a:xfrm>
          <a:prstGeom prst="rightArrow">
            <a:avLst/>
          </a:prstGeom>
          <a:solidFill>
            <a:schemeClr val="accent2"/>
          </a:solidFill>
          <a:ln/>
        </p:spPr>
      </p:sp>
      <p:sp>
        <p:nvSpPr>
          <p:cNvPr id="18" name="interrogabile"/>
          <p:cNvSpPr/>
          <p:nvPr/>
        </p:nvSpPr>
        <p:spPr>
          <a:xfrm>
            <a:off x="3337560" y="1051560"/>
            <a:ext cx="2377440" cy="1325880"/>
          </a:xfrm>
          <a:prstGeom prst="roundRect">
            <a:avLst>
              <a:gd name="adj" fmla="val 5517"/>
            </a:avLst>
          </a:prstGeom>
          <a:solidFill>
            <a:schemeClr val="accent1"/>
          </a:solidFill>
          <a:ln/>
        </p:spPr>
      </p:sp>
      <p:sp>
        <p:nvSpPr>
          <p:cNvPr id="19" name="cerchio FiMessageCircle"/>
          <p:cNvSpPr/>
          <p:nvPr/>
        </p:nvSpPr>
        <p:spPr>
          <a:xfrm>
            <a:off x="3520440" y="1188720"/>
            <a:ext cx="502920" cy="502920"/>
          </a:xfrm>
          <a:prstGeom prst="ellipse">
            <a:avLst/>
          </a:prstGeom>
          <a:solidFill>
            <a:schemeClr val="bg1"/>
          </a:solidFill>
          <a:ln/>
        </p:spPr>
      </p:sp>
      <p:pic>
        <p:nvPicPr>
          <p:cNvPr id="20" name="Image 1" descr="FiMessageCircle">    </p:cNvPr>
          <p:cNvPicPr>
            <a:picLocks noChangeAspect="1"/>
          </p:cNvPicPr>
          <p:nvPr/>
        </p:nvPicPr>
        <p:blipFill>
          <a:blip r:embed="rId2"/>
          <a:stretch>
            <a:fillRect/>
          </a:stretch>
        </p:blipFill>
        <p:spPr>
          <a:xfrm>
            <a:off x="3646170" y="1314450"/>
            <a:ext cx="251460" cy="251460"/>
          </a:xfrm>
          <a:prstGeom prst="rect">
            <a:avLst/>
          </a:prstGeom>
        </p:spPr>
      </p:pic>
      <p:sp>
        <p:nvSpPr>
          <p:cNvPr id="21" name="Text 16"/>
          <p:cNvSpPr txBox="1"/>
          <p:nvPr/>
        </p:nvSpPr>
        <p:spPr>
          <a:xfrm>
            <a:off x="4114800" y="1143000"/>
            <a:ext cx="1554480" cy="594360"/>
          </a:xfrm>
          <a:prstGeom prst="rect">
            <a:avLst/>
          </a:prstGeom>
          <a:noFill/>
          <a:ln/>
        </p:spPr>
        <p:txBody>
          <a:bodyPr wrap="square" lIns="0" tIns="0" rIns="0" bIns="0" rtlCol="0" anchor="ctr"/>
          <a:lstStyle/>
          <a:p>
            <a:pPr indent="0" marL="0">
              <a:buNone/>
            </a:pPr>
            <a:r>
              <a:rPr lang="en-US" sz="1300" b="1" dirty="0">
                <a:solidFill>
                  <a:schemeClr val="bg1"/>
                </a:solidFill>
              </a:rPr>
              <a:t>Conoscenza interrogabile</a:t>
            </a:r>
            <a:endParaRPr lang="en-US" sz="1300" dirty="0"/>
          </a:p>
        </p:txBody>
      </p:sp>
      <p:sp>
        <p:nvSpPr>
          <p:cNvPr id="22" name="Text 17"/>
          <p:cNvSpPr txBox="1"/>
          <p:nvPr/>
        </p:nvSpPr>
        <p:spPr>
          <a:xfrm>
            <a:off x="3520440" y="1783080"/>
            <a:ext cx="2103120" cy="548640"/>
          </a:xfrm>
          <a:prstGeom prst="rect">
            <a:avLst/>
          </a:prstGeom>
          <a:noFill/>
          <a:ln/>
        </p:spPr>
        <p:txBody>
          <a:bodyPr wrap="square" lIns="0" tIns="0" rIns="0" bIns="0" rtlCol="0" anchor="t"/>
          <a:lstStyle/>
          <a:p>
            <a:pPr indent="0" marL="0">
              <a:buNone/>
            </a:pPr>
            <a:r>
              <a:rPr lang="en-US" sz="1100" dirty="0">
                <a:solidFill>
                  <a:schemeClr val="bg1"/>
                </a:solidFill>
              </a:rPr>
              <a:t>Una domanda, una risposta corretta e collegata ai documenti</a:t>
            </a:r>
            <a:endParaRPr lang="en-US" sz="1100" dirty="0"/>
          </a:p>
        </p:txBody>
      </p:sp>
      <p:sp>
        <p:nvSpPr>
          <p:cNvPr id="23" name="Text 18"/>
          <p:cNvSpPr txBox="1"/>
          <p:nvPr/>
        </p:nvSpPr>
        <p:spPr>
          <a:xfrm>
            <a:off x="5897880" y="1051560"/>
            <a:ext cx="2788920" cy="1325880"/>
          </a:xfrm>
          <a:prstGeom prst="rect">
            <a:avLst/>
          </a:prstGeom>
          <a:noFill/>
          <a:ln/>
        </p:spPr>
        <p:txBody>
          <a:bodyPr wrap="square" lIns="0" tIns="0" rIns="0" bIns="0" rtlCol="0" anchor="ctr"/>
          <a:lstStyle/>
          <a:p>
            <a:pPr indent="0" marL="0">
              <a:buNone/>
            </a:pPr>
            <a:r>
              <a:rPr lang="en-US" sz="1400" b="1" i="1" dirty="0">
                <a:solidFill>
                  <a:schemeClr val="accent5"/>
                </a:solidFill>
              </a:rPr>
              <a:t>Non basta collegare un sistema AI all'archivio</a:t>
            </a:r>
            <a:endParaRPr lang="en-US" sz="1400" dirty="0"/>
          </a:p>
        </p:txBody>
      </p:sp>
      <p:sp>
        <p:nvSpPr>
          <p:cNvPr id="24" name="blocco Reperibilità"/>
          <p:cNvSpPr/>
          <p:nvPr/>
        </p:nvSpPr>
        <p:spPr>
          <a:xfrm>
            <a:off x="457200" y="2606040"/>
            <a:ext cx="1554480" cy="502920"/>
          </a:xfrm>
          <a:prstGeom prst="roundRect">
            <a:avLst>
              <a:gd name="adj" fmla="val 21818"/>
            </a:avLst>
          </a:prstGeom>
          <a:solidFill>
            <a:schemeClr val="accent6"/>
          </a:solidFill>
          <a:ln/>
        </p:spPr>
      </p:sp>
      <p:sp>
        <p:nvSpPr>
          <p:cNvPr id="25" name="Text 20"/>
          <p:cNvSpPr txBox="1"/>
          <p:nvPr/>
        </p:nvSpPr>
        <p:spPr>
          <a:xfrm>
            <a:off x="502920" y="2606040"/>
            <a:ext cx="1463040" cy="502920"/>
          </a:xfrm>
          <a:prstGeom prst="rect">
            <a:avLst/>
          </a:prstGeom>
          <a:noFill/>
          <a:ln/>
        </p:spPr>
        <p:txBody>
          <a:bodyPr wrap="square" lIns="0" tIns="0" rIns="0" bIns="0" rtlCol="0" anchor="ctr"/>
          <a:lstStyle/>
          <a:p>
            <a:pPr algn="ctr" indent="0" marL="0">
              <a:buNone/>
            </a:pPr>
            <a:r>
              <a:rPr lang="en-US" sz="1200" b="1" dirty="0">
                <a:solidFill>
                  <a:schemeClr val="tx1"/>
                </a:solidFill>
              </a:rPr>
              <a:t>Reperibilità</a:t>
            </a:r>
            <a:endParaRPr lang="en-US" sz="1200" dirty="0"/>
          </a:p>
        </p:txBody>
      </p:sp>
      <p:sp>
        <p:nvSpPr>
          <p:cNvPr id="26" name="blocco Struttura"/>
          <p:cNvSpPr/>
          <p:nvPr/>
        </p:nvSpPr>
        <p:spPr>
          <a:xfrm>
            <a:off x="2121408" y="2606040"/>
            <a:ext cx="1554480" cy="502920"/>
          </a:xfrm>
          <a:prstGeom prst="roundRect">
            <a:avLst>
              <a:gd name="adj" fmla="val 21818"/>
            </a:avLst>
          </a:prstGeom>
          <a:solidFill>
            <a:schemeClr val="accent6"/>
          </a:solidFill>
          <a:ln/>
        </p:spPr>
      </p:sp>
      <p:sp>
        <p:nvSpPr>
          <p:cNvPr id="27" name="Text 22"/>
          <p:cNvSpPr txBox="1"/>
          <p:nvPr/>
        </p:nvSpPr>
        <p:spPr>
          <a:xfrm>
            <a:off x="2167128" y="2606040"/>
            <a:ext cx="1463040" cy="502920"/>
          </a:xfrm>
          <a:prstGeom prst="rect">
            <a:avLst/>
          </a:prstGeom>
          <a:noFill/>
          <a:ln/>
        </p:spPr>
        <p:txBody>
          <a:bodyPr wrap="square" lIns="0" tIns="0" rIns="0" bIns="0" rtlCol="0" anchor="ctr"/>
          <a:lstStyle/>
          <a:p>
            <a:pPr algn="ctr" indent="0" marL="0">
              <a:buNone/>
            </a:pPr>
            <a:r>
              <a:rPr lang="en-US" sz="1200" b="1" dirty="0">
                <a:solidFill>
                  <a:schemeClr val="tx1"/>
                </a:solidFill>
              </a:rPr>
              <a:t>Struttura</a:t>
            </a:r>
            <a:endParaRPr lang="en-US" sz="1200" dirty="0"/>
          </a:p>
        </p:txBody>
      </p:sp>
      <p:sp>
        <p:nvSpPr>
          <p:cNvPr id="28" name="blocco Aggiornamento"/>
          <p:cNvSpPr/>
          <p:nvPr/>
        </p:nvSpPr>
        <p:spPr>
          <a:xfrm>
            <a:off x="3785616" y="2606040"/>
            <a:ext cx="1554480" cy="502920"/>
          </a:xfrm>
          <a:prstGeom prst="roundRect">
            <a:avLst>
              <a:gd name="adj" fmla="val 21818"/>
            </a:avLst>
          </a:prstGeom>
          <a:solidFill>
            <a:schemeClr val="accent6"/>
          </a:solidFill>
          <a:ln/>
        </p:spPr>
      </p:sp>
      <p:sp>
        <p:nvSpPr>
          <p:cNvPr id="29" name="Text 24"/>
          <p:cNvSpPr txBox="1"/>
          <p:nvPr/>
        </p:nvSpPr>
        <p:spPr>
          <a:xfrm>
            <a:off x="3831336" y="2606040"/>
            <a:ext cx="1463040" cy="502920"/>
          </a:xfrm>
          <a:prstGeom prst="rect">
            <a:avLst/>
          </a:prstGeom>
          <a:noFill/>
          <a:ln/>
        </p:spPr>
        <p:txBody>
          <a:bodyPr wrap="square" lIns="0" tIns="0" rIns="0" bIns="0" rtlCol="0" anchor="ctr"/>
          <a:lstStyle/>
          <a:p>
            <a:pPr algn="ctr" indent="0" marL="0">
              <a:buNone/>
            </a:pPr>
            <a:r>
              <a:rPr lang="en-US" sz="1200" b="1" dirty="0">
                <a:solidFill>
                  <a:schemeClr val="tx1"/>
                </a:solidFill>
              </a:rPr>
              <a:t>Aggiornamento</a:t>
            </a:r>
            <a:endParaRPr lang="en-US" sz="1200" dirty="0"/>
          </a:p>
        </p:txBody>
      </p:sp>
      <p:sp>
        <p:nvSpPr>
          <p:cNvPr id="30" name="blocco Qualità"/>
          <p:cNvSpPr/>
          <p:nvPr/>
        </p:nvSpPr>
        <p:spPr>
          <a:xfrm>
            <a:off x="5449824" y="2606040"/>
            <a:ext cx="1554480" cy="502920"/>
          </a:xfrm>
          <a:prstGeom prst="roundRect">
            <a:avLst>
              <a:gd name="adj" fmla="val 21818"/>
            </a:avLst>
          </a:prstGeom>
          <a:solidFill>
            <a:schemeClr val="accent6"/>
          </a:solidFill>
          <a:ln/>
        </p:spPr>
      </p:sp>
      <p:sp>
        <p:nvSpPr>
          <p:cNvPr id="31" name="Text 26"/>
          <p:cNvSpPr txBox="1"/>
          <p:nvPr/>
        </p:nvSpPr>
        <p:spPr>
          <a:xfrm>
            <a:off x="5495544" y="2606040"/>
            <a:ext cx="1463040" cy="502920"/>
          </a:xfrm>
          <a:prstGeom prst="rect">
            <a:avLst/>
          </a:prstGeom>
          <a:noFill/>
          <a:ln/>
        </p:spPr>
        <p:txBody>
          <a:bodyPr wrap="square" lIns="0" tIns="0" rIns="0" bIns="0" rtlCol="0" anchor="ctr"/>
          <a:lstStyle/>
          <a:p>
            <a:pPr algn="ctr" indent="0" marL="0">
              <a:buNone/>
            </a:pPr>
            <a:r>
              <a:rPr lang="en-US" sz="1200" b="1" dirty="0">
                <a:solidFill>
                  <a:schemeClr val="tx1"/>
                </a:solidFill>
              </a:rPr>
              <a:t>Qualità</a:t>
            </a:r>
            <a:endParaRPr lang="en-US" sz="1200" dirty="0"/>
          </a:p>
        </p:txBody>
      </p:sp>
      <p:sp>
        <p:nvSpPr>
          <p:cNvPr id="32" name="blocco Verificabilità"/>
          <p:cNvSpPr/>
          <p:nvPr/>
        </p:nvSpPr>
        <p:spPr>
          <a:xfrm>
            <a:off x="7114032" y="2606040"/>
            <a:ext cx="1554480" cy="502920"/>
          </a:xfrm>
          <a:prstGeom prst="roundRect">
            <a:avLst>
              <a:gd name="adj" fmla="val 21818"/>
            </a:avLst>
          </a:prstGeom>
          <a:solidFill>
            <a:schemeClr val="accent6"/>
          </a:solidFill>
          <a:ln/>
        </p:spPr>
      </p:sp>
      <p:sp>
        <p:nvSpPr>
          <p:cNvPr id="33" name="Text 28"/>
          <p:cNvSpPr txBox="1"/>
          <p:nvPr/>
        </p:nvSpPr>
        <p:spPr>
          <a:xfrm>
            <a:off x="7159752" y="2606040"/>
            <a:ext cx="1463040" cy="502920"/>
          </a:xfrm>
          <a:prstGeom prst="rect">
            <a:avLst/>
          </a:prstGeom>
          <a:noFill/>
          <a:ln/>
        </p:spPr>
        <p:txBody>
          <a:bodyPr wrap="square" lIns="0" tIns="0" rIns="0" bIns="0" rtlCol="0" anchor="ctr"/>
          <a:lstStyle/>
          <a:p>
            <a:pPr algn="ctr" indent="0" marL="0">
              <a:buNone/>
            </a:pPr>
            <a:r>
              <a:rPr lang="en-US" sz="1200" b="1" dirty="0">
                <a:solidFill>
                  <a:schemeClr val="tx1"/>
                </a:solidFill>
              </a:rPr>
              <a:t>Verificabilità</a:t>
            </a:r>
            <a:endParaRPr lang="en-US" sz="1200" dirty="0"/>
          </a:p>
        </p:txBody>
      </p:sp>
      <p:sp>
        <p:nvSpPr>
          <p:cNvPr id="34" name="messaggio"/>
          <p:cNvSpPr/>
          <p:nvPr/>
        </p:nvSpPr>
        <p:spPr>
          <a:xfrm>
            <a:off x="457200" y="3337560"/>
            <a:ext cx="8229600" cy="685800"/>
          </a:xfrm>
          <a:prstGeom prst="roundRect">
            <a:avLst>
              <a:gd name="adj" fmla="val 10667"/>
            </a:avLst>
          </a:prstGeom>
          <a:solidFill>
            <a:schemeClr val="tx1"/>
          </a:solidFill>
          <a:ln/>
        </p:spPr>
      </p:sp>
      <p:sp>
        <p:nvSpPr>
          <p:cNvPr id="35" name="Text 30"/>
          <p:cNvSpPr txBox="1"/>
          <p:nvPr/>
        </p:nvSpPr>
        <p:spPr>
          <a:xfrm>
            <a:off x="640080" y="3337560"/>
            <a:ext cx="7863840" cy="685800"/>
          </a:xfrm>
          <a:prstGeom prst="rect">
            <a:avLst/>
          </a:prstGeom>
          <a:noFill/>
          <a:ln/>
        </p:spPr>
        <p:txBody>
          <a:bodyPr wrap="square" lIns="0" tIns="0" rIns="0" bIns="0" rtlCol="0" anchor="ctr"/>
          <a:lstStyle/>
          <a:p>
            <a:pPr indent="0" marL="0">
              <a:buNone/>
            </a:pPr>
            <a:r>
              <a:rPr lang="en-US" sz="1400" dirty="0">
                <a:solidFill>
                  <a:schemeClr val="bg1"/>
                </a:solidFill>
              </a:rPr>
              <a:t>L'AI rende interrogabile un archivio nella misura in cui l'archivio è già ben tenuto.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funziona per chi la usa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blocco Domanda"/>
          <p:cNvSpPr/>
          <p:nvPr/>
        </p:nvSpPr>
        <p:spPr>
          <a:xfrm>
            <a:off x="457200" y="1188720"/>
            <a:ext cx="1554480" cy="731520"/>
          </a:xfrm>
          <a:prstGeom prst="roundRect">
            <a:avLst>
              <a:gd name="adj" fmla="val 15000"/>
            </a:avLst>
          </a:prstGeom>
          <a:solidFill>
            <a:schemeClr val="bg2"/>
          </a:solidFill>
          <a:ln/>
        </p:spPr>
      </p:sp>
      <p:sp>
        <p:nvSpPr>
          <p:cNvPr id="13" name="Text 10"/>
          <p:cNvSpPr txBox="1"/>
          <p:nvPr/>
        </p:nvSpPr>
        <p:spPr>
          <a:xfrm>
            <a:off x="502920" y="1188720"/>
            <a:ext cx="1463040" cy="731520"/>
          </a:xfrm>
          <a:prstGeom prst="rect">
            <a:avLst/>
          </a:prstGeom>
          <a:noFill/>
          <a:ln/>
        </p:spPr>
        <p:txBody>
          <a:bodyPr wrap="square" lIns="0" tIns="0" rIns="0" bIns="0" rtlCol="0" anchor="ctr"/>
          <a:lstStyle/>
          <a:p>
            <a:pPr algn="ctr" indent="0" marL="0">
              <a:buNone/>
            </a:pPr>
            <a:r>
              <a:rPr lang="en-US" sz="1400" b="1" dirty="0">
                <a:solidFill>
                  <a:schemeClr val="tx1"/>
                </a:solidFill>
              </a:rPr>
              <a:t>Domanda</a:t>
            </a:r>
            <a:endParaRPr lang="en-US" sz="1400" dirty="0"/>
          </a:p>
        </p:txBody>
      </p:sp>
      <p:sp>
        <p:nvSpPr>
          <p:cNvPr id="14" name="freccia"/>
          <p:cNvSpPr/>
          <p:nvPr/>
        </p:nvSpPr>
        <p:spPr>
          <a:xfrm>
            <a:off x="2103120" y="1408176"/>
            <a:ext cx="320040" cy="292608"/>
          </a:xfrm>
          <a:prstGeom prst="rightArrow">
            <a:avLst/>
          </a:prstGeom>
          <a:solidFill>
            <a:schemeClr val="accent2"/>
          </a:solidFill>
          <a:ln/>
        </p:spPr>
      </p:sp>
      <p:sp>
        <p:nvSpPr>
          <p:cNvPr id="15" name="recupero"/>
          <p:cNvSpPr/>
          <p:nvPr/>
        </p:nvSpPr>
        <p:spPr>
          <a:xfrm>
            <a:off x="2514600" y="1051560"/>
            <a:ext cx="2377440" cy="1005840"/>
          </a:xfrm>
          <a:prstGeom prst="roundRect">
            <a:avLst>
              <a:gd name="adj" fmla="val 7273"/>
            </a:avLst>
          </a:prstGeom>
          <a:solidFill>
            <a:schemeClr val="accent6"/>
          </a:solidFill>
          <a:ln/>
        </p:spPr>
      </p:sp>
      <p:sp>
        <p:nvSpPr>
          <p:cNvPr id="16" name="Text 13"/>
          <p:cNvSpPr txBox="1"/>
          <p:nvPr/>
        </p:nvSpPr>
        <p:spPr>
          <a:xfrm>
            <a:off x="2651760" y="1115568"/>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1. Recupero</a:t>
            </a:r>
            <a:endParaRPr lang="en-US" sz="1400" dirty="0"/>
          </a:p>
        </p:txBody>
      </p:sp>
      <p:sp>
        <p:nvSpPr>
          <p:cNvPr id="17" name="Text 14"/>
          <p:cNvSpPr txBox="1"/>
          <p:nvPr/>
        </p:nvSpPr>
        <p:spPr>
          <a:xfrm>
            <a:off x="2651760" y="1444752"/>
            <a:ext cx="2103120" cy="548640"/>
          </a:xfrm>
          <a:prstGeom prst="rect">
            <a:avLst/>
          </a:prstGeom>
          <a:noFill/>
          <a:ln/>
        </p:spPr>
        <p:txBody>
          <a:bodyPr wrap="square" lIns="0" tIns="0" rIns="0" bIns="0" rtlCol="0" anchor="t"/>
          <a:lstStyle/>
          <a:p>
            <a:pPr indent="0" marL="0">
              <a:buNone/>
            </a:pPr>
            <a:r>
              <a:rPr lang="en-US" sz="1100" dirty="0">
                <a:solidFill>
                  <a:schemeClr val="tx1"/>
                </a:solidFill>
              </a:rPr>
              <a:t>Cerca i passaggi più pertinenti nella raccolta</a:t>
            </a:r>
            <a:endParaRPr lang="en-US" sz="1100" dirty="0"/>
          </a:p>
        </p:txBody>
      </p:sp>
      <p:sp>
        <p:nvSpPr>
          <p:cNvPr id="18" name="freccia"/>
          <p:cNvSpPr/>
          <p:nvPr/>
        </p:nvSpPr>
        <p:spPr>
          <a:xfrm>
            <a:off x="4983480" y="1408176"/>
            <a:ext cx="320040" cy="292608"/>
          </a:xfrm>
          <a:prstGeom prst="rightArrow">
            <a:avLst/>
          </a:prstGeom>
          <a:solidFill>
            <a:schemeClr val="accent2"/>
          </a:solidFill>
          <a:ln/>
        </p:spPr>
      </p:sp>
      <p:sp>
        <p:nvSpPr>
          <p:cNvPr id="19" name="generazione"/>
          <p:cNvSpPr/>
          <p:nvPr/>
        </p:nvSpPr>
        <p:spPr>
          <a:xfrm>
            <a:off x="5394960" y="1051560"/>
            <a:ext cx="2377440" cy="1005840"/>
          </a:xfrm>
          <a:prstGeom prst="roundRect">
            <a:avLst>
              <a:gd name="adj" fmla="val 7273"/>
            </a:avLst>
          </a:prstGeom>
          <a:solidFill>
            <a:schemeClr val="accent1"/>
          </a:solidFill>
          <a:ln/>
        </p:spPr>
      </p:sp>
      <p:sp>
        <p:nvSpPr>
          <p:cNvPr id="20" name="Text 17"/>
          <p:cNvSpPr txBox="1"/>
          <p:nvPr/>
        </p:nvSpPr>
        <p:spPr>
          <a:xfrm>
            <a:off x="5532120" y="1115568"/>
            <a:ext cx="2103120" cy="320040"/>
          </a:xfrm>
          <a:prstGeom prst="rect">
            <a:avLst/>
          </a:prstGeom>
          <a:noFill/>
          <a:ln/>
        </p:spPr>
        <p:txBody>
          <a:bodyPr wrap="square" lIns="0" tIns="0" rIns="0" bIns="0" rtlCol="0" anchor="t"/>
          <a:lstStyle/>
          <a:p>
            <a:pPr indent="0" marL="0">
              <a:buNone/>
            </a:pPr>
            <a:r>
              <a:rPr lang="en-US" sz="1400" b="1" dirty="0">
                <a:solidFill>
                  <a:schemeClr val="bg1"/>
                </a:solidFill>
              </a:rPr>
              <a:t>2. Generazione</a:t>
            </a:r>
            <a:endParaRPr lang="en-US" sz="1400" dirty="0"/>
          </a:p>
        </p:txBody>
      </p:sp>
      <p:sp>
        <p:nvSpPr>
          <p:cNvPr id="21" name="Text 18"/>
          <p:cNvSpPr txBox="1"/>
          <p:nvPr/>
        </p:nvSpPr>
        <p:spPr>
          <a:xfrm>
            <a:off x="5532120" y="1444752"/>
            <a:ext cx="2103120" cy="548640"/>
          </a:xfrm>
          <a:prstGeom prst="rect">
            <a:avLst/>
          </a:prstGeom>
          <a:noFill/>
          <a:ln/>
        </p:spPr>
        <p:txBody>
          <a:bodyPr wrap="square" lIns="0" tIns="0" rIns="0" bIns="0" rtlCol="0" anchor="t"/>
          <a:lstStyle/>
          <a:p>
            <a:pPr indent="0" marL="0">
              <a:buNone/>
            </a:pPr>
            <a:r>
              <a:rPr lang="en-US" sz="1100" dirty="0">
                <a:solidFill>
                  <a:schemeClr val="bg1"/>
                </a:solidFill>
              </a:rPr>
              <a:t>Risponde sulla base dei passaggi, e li cita</a:t>
            </a:r>
            <a:endParaRPr lang="en-US" sz="11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3840480"/>
                <a:gridCol w="4389120"/>
              </a:tblGrid>
              <a:tr h="384048">
                <a:tc>
                  <a:txBody>
                    <a:bodyPr/>
                    <a:lstStyle/>
                    <a:p>
                      <a:pPr indent="0" marL="0">
                        <a:buNone/>
                      </a:pPr>
                      <a:r>
                        <a:rPr lang="en-US" sz="1200" b="1" dirty="0">
                          <a:solidFill>
                            <a:schemeClr val="bg1"/>
                          </a:solidFill>
                        </a:rPr>
                        <a:t>Che cosa va storto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vede l'utente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Recupero manca il passaggio giusto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incompleta, anche se l'informazione c'è</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Recupero trova documenti superati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superata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Nessun passaggio pertinente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dalla conoscenza generale, o 'non 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Generazione riporta male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errata con fonti corrette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3" name="Text 19"/>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b="1" i="1" dirty="0">
                <a:solidFill>
                  <a:schemeClr val="accent5"/>
                </a:solidFill>
              </a:rPr>
              <a:t>Conseguenza pratica: controllare i passaggi citati, non solo la risposta.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Assistenti sulla documentazione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Procedure interne"/>
          <p:cNvSpPr/>
          <p:nvPr/>
        </p:nvSpPr>
        <p:spPr>
          <a:xfrm>
            <a:off x="457200" y="1051560"/>
            <a:ext cx="4023360" cy="1097280"/>
          </a:xfrm>
          <a:prstGeom prst="roundRect">
            <a:avLst>
              <a:gd name="adj" fmla="val 6667"/>
            </a:avLst>
          </a:prstGeom>
          <a:solidFill>
            <a:schemeClr val="bg2"/>
          </a:solidFill>
          <a:ln/>
        </p:spPr>
      </p:sp>
      <p:sp>
        <p:nvSpPr>
          <p:cNvPr id="13" name="cerchio FiClipboard"/>
          <p:cNvSpPr/>
          <p:nvPr/>
        </p:nvSpPr>
        <p:spPr>
          <a:xfrm>
            <a:off x="621792" y="1216152"/>
            <a:ext cx="438912" cy="438912"/>
          </a:xfrm>
          <a:prstGeom prst="ellipse">
            <a:avLst/>
          </a:prstGeom>
          <a:solidFill>
            <a:schemeClr val="accent1"/>
          </a:solidFill>
          <a:ln/>
        </p:spPr>
      </p:sp>
      <p:pic>
        <p:nvPicPr>
          <p:cNvPr id="14" name="Image 0" descr="FiClipboard">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Procedure interne</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Come si richiede un rimborso per una trasferta all'estero?</a:t>
            </a:r>
            <a:endParaRPr lang="en-US" sz="1200" dirty="0"/>
          </a:p>
        </p:txBody>
      </p:sp>
      <p:sp>
        <p:nvSpPr>
          <p:cNvPr id="17" name="Documentazione tecnica"/>
          <p:cNvSpPr/>
          <p:nvPr/>
        </p:nvSpPr>
        <p:spPr>
          <a:xfrm>
            <a:off x="4663440" y="1051560"/>
            <a:ext cx="4023360" cy="1097280"/>
          </a:xfrm>
          <a:prstGeom prst="roundRect">
            <a:avLst>
              <a:gd name="adj" fmla="val 6667"/>
            </a:avLst>
          </a:prstGeom>
          <a:solidFill>
            <a:schemeClr val="bg2"/>
          </a:solidFill>
          <a:ln/>
        </p:spPr>
      </p:sp>
      <p:sp>
        <p:nvSpPr>
          <p:cNvPr id="18" name="cerchio FiTool"/>
          <p:cNvSpPr/>
          <p:nvPr/>
        </p:nvSpPr>
        <p:spPr>
          <a:xfrm>
            <a:off x="4828032" y="1216152"/>
            <a:ext cx="438912" cy="438912"/>
          </a:xfrm>
          <a:prstGeom prst="ellipse">
            <a:avLst/>
          </a:prstGeom>
          <a:solidFill>
            <a:schemeClr val="accent1"/>
          </a:solidFill>
          <a:ln/>
        </p:spPr>
      </p:sp>
      <p:pic>
        <p:nvPicPr>
          <p:cNvPr id="19" name="Image 1" descr="FiTool">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Documentazione tecnica</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Soluzioni ai problemi descritti dai clienti</a:t>
            </a:r>
            <a:endParaRPr lang="en-US" sz="1200" dirty="0"/>
          </a:p>
        </p:txBody>
      </p:sp>
      <p:sp>
        <p:nvSpPr>
          <p:cNvPr id="22" name="Condizioni contrattuali"/>
          <p:cNvSpPr/>
          <p:nvPr/>
        </p:nvSpPr>
        <p:spPr>
          <a:xfrm>
            <a:off x="457200" y="2331720"/>
            <a:ext cx="4023360" cy="1097280"/>
          </a:xfrm>
          <a:prstGeom prst="roundRect">
            <a:avLst>
              <a:gd name="adj" fmla="val 6667"/>
            </a:avLst>
          </a:prstGeom>
          <a:solidFill>
            <a:schemeClr val="bg2"/>
          </a:solidFill>
          <a:ln/>
        </p:spPr>
      </p:sp>
      <p:sp>
        <p:nvSpPr>
          <p:cNvPr id="23" name="cerchio FiFileText"/>
          <p:cNvSpPr/>
          <p:nvPr/>
        </p:nvSpPr>
        <p:spPr>
          <a:xfrm>
            <a:off x="621792" y="2496312"/>
            <a:ext cx="438912" cy="438912"/>
          </a:xfrm>
          <a:prstGeom prst="ellipse">
            <a:avLst/>
          </a:prstGeom>
          <a:solidFill>
            <a:schemeClr val="accent1"/>
          </a:solidFill>
          <a:ln/>
        </p:spPr>
      </p:sp>
      <p:pic>
        <p:nvPicPr>
          <p:cNvPr id="24" name="Image 2" descr="FiFileText">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Condizioni contrattuali</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Garanzie, tempi, condizioni per i commerciali</a:t>
            </a:r>
            <a:endParaRPr lang="en-US" sz="1200" dirty="0"/>
          </a:p>
        </p:txBody>
      </p:sp>
      <p:sp>
        <p:nvSpPr>
          <p:cNvPr id="27" name="Inserimento di nuovi colleghi"/>
          <p:cNvSpPr/>
          <p:nvPr/>
        </p:nvSpPr>
        <p:spPr>
          <a:xfrm>
            <a:off x="4663440" y="2331720"/>
            <a:ext cx="4023360" cy="1097280"/>
          </a:xfrm>
          <a:prstGeom prst="roundRect">
            <a:avLst>
              <a:gd name="adj" fmla="val 6667"/>
            </a:avLst>
          </a:prstGeom>
          <a:solidFill>
            <a:schemeClr val="bg2"/>
          </a:solidFill>
          <a:ln/>
        </p:spPr>
      </p:sp>
      <p:sp>
        <p:nvSpPr>
          <p:cNvPr id="28" name="cerchio FiUserPlus"/>
          <p:cNvSpPr/>
          <p:nvPr/>
        </p:nvSpPr>
        <p:spPr>
          <a:xfrm>
            <a:off x="4828032" y="2496312"/>
            <a:ext cx="438912" cy="438912"/>
          </a:xfrm>
          <a:prstGeom prst="ellipse">
            <a:avLst/>
          </a:prstGeom>
          <a:solidFill>
            <a:schemeClr val="accent1"/>
          </a:solidFill>
          <a:ln/>
        </p:spPr>
      </p:sp>
      <p:pic>
        <p:nvPicPr>
          <p:cNvPr id="29" name="Image 3" descr="FiUserPlus">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Inserimento di nuovi colleghi</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Regole, contatti, prassi in un unico punto</a:t>
            </a:r>
            <a:endParaRPr lang="en-US" sz="1200" dirty="0"/>
          </a:p>
        </p:txBody>
      </p:sp>
      <p:sp>
        <p:nvSpPr>
          <p:cNvPr id="32" name="messaggio"/>
          <p:cNvSpPr/>
          <p:nvPr/>
        </p:nvSpPr>
        <p:spPr>
          <a:xfrm>
            <a:off x="457200" y="3611880"/>
            <a:ext cx="8229600" cy="548640"/>
          </a:xfrm>
          <a:prstGeom prst="roundRect">
            <a:avLst>
              <a:gd name="adj" fmla="val 13333"/>
            </a:avLst>
          </a:prstGeom>
          <a:solidFill>
            <a:schemeClr val="tx1"/>
          </a:solidFill>
          <a:ln/>
        </p:spPr>
      </p:sp>
      <p:sp>
        <p:nvSpPr>
          <p:cNvPr id="33" name="Text 26"/>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200" dirty="0">
                <a:solidFill>
                  <a:schemeClr val="bg1"/>
                </a:solidFill>
              </a:rPr>
              <a:t>Meno tempo per trovare le informazioni, conoscenza accessibile a chi non sa dove cercare, esperti alleggeriti dalle domande ripetitive.</a:t>
            </a:r>
            <a:endParaRPr lang="en-US" sz="1200" dirty="0"/>
          </a:p>
        </p:txBody>
      </p:sp>
      <p:sp>
        <p:nvSpPr>
          <p:cNvPr id="34" name="Text 27"/>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Qui gli assistenti che rispondono; soluzioni su larga scala e agenti che svolgono azioni sono argomenti a sé.</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Risposte collegate ai documenti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risposta assistente"/>
          <p:cNvSpPr/>
          <p:nvPr/>
        </p:nvSpPr>
        <p:spPr>
          <a:xfrm>
            <a:off x="457200" y="1051560"/>
            <a:ext cx="5120640" cy="2743200"/>
          </a:xfrm>
          <a:prstGeom prst="roundRect">
            <a:avLst>
              <a:gd name="adj" fmla="val 2667"/>
            </a:avLst>
          </a:prstGeom>
          <a:solidFill>
            <a:schemeClr val="bg2"/>
          </a:solidFill>
          <a:ln/>
        </p:spPr>
      </p:sp>
      <p:sp>
        <p:nvSpPr>
          <p:cNvPr id="13" name="Text 10"/>
          <p:cNvSpPr txBox="1"/>
          <p:nvPr/>
        </p:nvSpPr>
        <p:spPr>
          <a:xfrm>
            <a:off x="640080" y="1143000"/>
            <a:ext cx="4754880" cy="320040"/>
          </a:xfrm>
          <a:prstGeom prst="rect">
            <a:avLst/>
          </a:prstGeom>
          <a:noFill/>
          <a:ln/>
        </p:spPr>
        <p:txBody>
          <a:bodyPr wrap="square" lIns="0" tIns="0" rIns="0" bIns="0" rtlCol="0" anchor="t"/>
          <a:lstStyle/>
          <a:p>
            <a:pPr indent="0" marL="0">
              <a:buNone/>
            </a:pPr>
            <a:r>
              <a:rPr lang="en-US" sz="1200" b="1" dirty="0">
                <a:solidFill>
                  <a:schemeClr val="tx1"/>
                </a:solidFill>
              </a:rPr>
              <a:t>Domanda: entro quando va presentata la nota spese?</a:t>
            </a:r>
            <a:endParaRPr lang="en-US" sz="1200" dirty="0"/>
          </a:p>
        </p:txBody>
      </p:sp>
      <p:sp>
        <p:nvSpPr>
          <p:cNvPr id="14" name="Text 11"/>
          <p:cNvSpPr txBox="1"/>
          <p:nvPr/>
        </p:nvSpPr>
        <p:spPr>
          <a:xfrm>
            <a:off x="640080" y="1508760"/>
            <a:ext cx="4754880" cy="640080"/>
          </a:xfrm>
          <a:prstGeom prst="rect">
            <a:avLst/>
          </a:prstGeom>
          <a:noFill/>
          <a:ln/>
        </p:spPr>
        <p:txBody>
          <a:bodyPr wrap="square" lIns="0" tIns="0" rIns="0" bIns="0" rtlCol="0" anchor="t"/>
          <a:lstStyle/>
          <a:p>
            <a:pPr indent="0" marL="0">
              <a:buNone/>
            </a:pPr>
            <a:r>
              <a:rPr lang="en-US" sz="1200" dirty="0">
                <a:solidFill>
                  <a:schemeClr val="tx1"/>
                </a:solidFill>
              </a:rPr>
              <a:t>La nota spese va presentata entro 30 giorni dalla fine della trasferta, allegando i giustificativi in originale.</a:t>
            </a:r>
            <a:endParaRPr lang="en-US" sz="1200" dirty="0"/>
          </a:p>
        </p:txBody>
      </p:sp>
      <p:sp>
        <p:nvSpPr>
          <p:cNvPr id="15" name="documento Fonte: Procedura rimborsi spese, v. 3.2 (gennaio), §4.1"/>
          <p:cNvSpPr/>
          <p:nvPr/>
        </p:nvSpPr>
        <p:spPr>
          <a:xfrm>
            <a:off x="640080" y="2240280"/>
            <a:ext cx="4754880" cy="1417320"/>
          </a:xfrm>
          <a:prstGeom prst="roundRect">
            <a:avLst>
              <a:gd name="adj" fmla="val 5161"/>
            </a:avLst>
          </a:prstGeom>
          <a:solidFill>
            <a:schemeClr val="bg1"/>
          </a:solidFill>
          <a:ln/>
        </p:spPr>
      </p:sp>
      <p:sp>
        <p:nvSpPr>
          <p:cNvPr id="16" name="barra"/>
          <p:cNvSpPr/>
          <p:nvPr/>
        </p:nvSpPr>
        <p:spPr>
          <a:xfrm>
            <a:off x="640080" y="2350008"/>
            <a:ext cx="54864" cy="1197864"/>
          </a:xfrm>
          <a:prstGeom prst="rect">
            <a:avLst/>
          </a:prstGeom>
          <a:solidFill>
            <a:schemeClr val="accent1"/>
          </a:solidFill>
          <a:ln/>
        </p:spPr>
      </p:sp>
      <p:sp>
        <p:nvSpPr>
          <p:cNvPr id="17" name="Text 14"/>
          <p:cNvSpPr txBox="1"/>
          <p:nvPr/>
        </p:nvSpPr>
        <p:spPr>
          <a:xfrm>
            <a:off x="841248" y="2331720"/>
            <a:ext cx="4389120" cy="256032"/>
          </a:xfrm>
          <a:prstGeom prst="rect">
            <a:avLst/>
          </a:prstGeom>
          <a:noFill/>
          <a:ln/>
        </p:spPr>
        <p:txBody>
          <a:bodyPr wrap="square" lIns="0" tIns="0" rIns="0" bIns="0" rtlCol="0" anchor="t"/>
          <a:lstStyle/>
          <a:p>
            <a:pPr indent="0" marL="0">
              <a:buNone/>
            </a:pPr>
            <a:r>
              <a:rPr lang="en-US" sz="1100" b="1" dirty="0">
                <a:solidFill>
                  <a:schemeClr val="accent1"/>
                </a:solidFill>
              </a:rPr>
              <a:t>Fonte: Procedura rimborsi spese, v. 3.2 (gennaio), §4.1</a:t>
            </a:r>
            <a:endParaRPr lang="en-US" sz="1100" dirty="0"/>
          </a:p>
        </p:txBody>
      </p:sp>
      <p:sp>
        <p:nvSpPr>
          <p:cNvPr id="18" name="Text 15"/>
          <p:cNvSpPr txBox="1"/>
          <p:nvPr/>
        </p:nvSpPr>
        <p:spPr>
          <a:xfrm>
            <a:off x="841248" y="2624328"/>
            <a:ext cx="4389120" cy="941832"/>
          </a:xfrm>
          <a:prstGeom prst="rect">
            <a:avLst/>
          </a:prstGeom>
          <a:noFill/>
          <a:ln/>
        </p:spPr>
        <p:txBody>
          <a:bodyPr wrap="square" lIns="0" tIns="0" rIns="0" bIns="0" rtlCol="0" anchor="t"/>
          <a:lstStyle/>
          <a:p>
            <a:pPr indent="0" marL="0">
              <a:buNone/>
            </a:pPr>
            <a:r>
              <a:rPr lang="en-US" sz="1100" dirty="0">
                <a:solidFill>
                  <a:schemeClr val="tx1"/>
                </a:solidFill>
              </a:rPr>
              <a:t>"Le note spese devono essere presentate entro 30 giorni dalla conclusione della trasferta. Per le trasferte superiori a 15 giorni è ammessa la presentazione di note intermedie."</a:t>
            </a:r>
            <a:endParaRPr lang="en-US" sz="1100" dirty="0"/>
          </a:p>
        </p:txBody>
      </p:sp>
      <p:sp>
        <p:nvSpPr>
          <p:cNvPr id="19" name="Text 16"/>
          <p:cNvSpPr txBox="1"/>
          <p:nvPr/>
        </p:nvSpPr>
        <p:spPr>
          <a:xfrm>
            <a:off x="457200" y="384048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20" name="scheda Il riferimento permette di"/>
          <p:cNvSpPr/>
          <p:nvPr/>
        </p:nvSpPr>
        <p:spPr>
          <a:xfrm>
            <a:off x="5806440" y="1051560"/>
            <a:ext cx="2880360" cy="2743200"/>
          </a:xfrm>
          <a:prstGeom prst="roundRect">
            <a:avLst>
              <a:gd name="adj" fmla="val 2667"/>
            </a:avLst>
          </a:prstGeom>
          <a:solidFill>
            <a:schemeClr val="accent6"/>
          </a:solidFill>
          <a:ln/>
        </p:spPr>
      </p:sp>
      <p:sp>
        <p:nvSpPr>
          <p:cNvPr id="21" name="cerchio FiLink"/>
          <p:cNvSpPr/>
          <p:nvPr/>
        </p:nvSpPr>
        <p:spPr>
          <a:xfrm>
            <a:off x="5989320" y="1234440"/>
            <a:ext cx="457200" cy="457200"/>
          </a:xfrm>
          <a:prstGeom prst="ellipse">
            <a:avLst/>
          </a:prstGeom>
          <a:solidFill>
            <a:schemeClr val="accent1"/>
          </a:solidFill>
          <a:ln/>
        </p:spPr>
      </p:sp>
      <p:pic>
        <p:nvPicPr>
          <p:cNvPr id="22" name="Image 0" descr="FiLink">    </p:cNvPr>
          <p:cNvPicPr>
            <a:picLocks noChangeAspect="1"/>
          </p:cNvPicPr>
          <p:nvPr/>
        </p:nvPicPr>
        <p:blipFill>
          <a:blip r:embed="rId1"/>
          <a:stretch>
            <a:fillRect/>
          </a:stretch>
        </p:blipFill>
        <p:spPr>
          <a:xfrm>
            <a:off x="6103620" y="1348740"/>
            <a:ext cx="228600" cy="228600"/>
          </a:xfrm>
          <a:prstGeom prst="rect">
            <a:avLst/>
          </a:prstGeom>
        </p:spPr>
      </p:pic>
      <p:sp>
        <p:nvSpPr>
          <p:cNvPr id="23" name="Text 19"/>
          <p:cNvSpPr txBox="1"/>
          <p:nvPr/>
        </p:nvSpPr>
        <p:spPr>
          <a:xfrm>
            <a:off x="5989320" y="1801368"/>
            <a:ext cx="2514600" cy="347472"/>
          </a:xfrm>
          <a:prstGeom prst="rect">
            <a:avLst/>
          </a:prstGeom>
          <a:noFill/>
          <a:ln/>
        </p:spPr>
        <p:txBody>
          <a:bodyPr wrap="square" lIns="0" tIns="0" rIns="0" bIns="0" rtlCol="0" anchor="t"/>
          <a:lstStyle/>
          <a:p>
            <a:pPr indent="0" marL="0">
              <a:buNone/>
            </a:pPr>
            <a:r>
              <a:rPr lang="en-US" sz="1400" b="1" dirty="0">
                <a:solidFill>
                  <a:schemeClr val="tx1"/>
                </a:solidFill>
              </a:rPr>
              <a:t>Il riferimento permette di</a:t>
            </a:r>
            <a:endParaRPr lang="en-US" sz="1400" dirty="0"/>
          </a:p>
        </p:txBody>
      </p:sp>
      <p:sp>
        <p:nvSpPr>
          <p:cNvPr id="24" name="Text 20"/>
          <p:cNvSpPr txBox="1"/>
          <p:nvPr/>
        </p:nvSpPr>
        <p:spPr>
          <a:xfrm>
            <a:off x="5989320" y="2185416"/>
            <a:ext cx="2514600" cy="14996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Verificare la risposta</a:t>
            </a:r>
            <a:endParaRPr lang="en-US" sz="1200" dirty="0"/>
          </a:p>
          <a:p>
            <a:pPr marL="177800" indent="-177800">
              <a:spcAft>
                <a:spcPts val="500"/>
              </a:spcAft>
              <a:buSzPct val="100000"/>
              <a:buChar char="•"/>
            </a:pPr>
            <a:r>
              <a:rPr lang="en-US" sz="1200" dirty="0">
                <a:solidFill>
                  <a:schemeClr val="tx2"/>
                </a:solidFill>
              </a:rPr>
              <a:t>Controllare documento e versione</a:t>
            </a:r>
            <a:endParaRPr lang="en-US" sz="1200" dirty="0"/>
          </a:p>
          <a:p>
            <a:pPr marL="177800" indent="-177800">
              <a:spcAft>
                <a:spcPts val="500"/>
              </a:spcAft>
              <a:buSzPct val="100000"/>
              <a:buChar char="•"/>
            </a:pPr>
            <a:r>
              <a:rPr lang="en-US" sz="1200" dirty="0">
                <a:solidFill>
                  <a:schemeClr val="tx2"/>
                </a:solidFill>
              </a:rPr>
              <a:t>Leggere il contesto: qui c'è un'eccezione omessa</a:t>
            </a:r>
            <a:endParaRPr lang="en-US" sz="1200" dirty="0"/>
          </a:p>
        </p:txBody>
      </p:sp>
      <p:sp>
        <p:nvSpPr>
          <p:cNvPr id="25" name="Text 21"/>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200" b="1" i="1" dirty="0">
                <a:solidFill>
                  <a:schemeClr val="accent5"/>
                </a:solidFill>
              </a:rPr>
              <a:t>Senza riferimenti non si distingue la documentazione aziendale dalla conoscenza generica del modello.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Aggiornamento e versionamento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documento Procedura rimborsi v. 2.0"/>
          <p:cNvSpPr/>
          <p:nvPr/>
        </p:nvSpPr>
        <p:spPr>
          <a:xfrm>
            <a:off x="457200" y="1051560"/>
            <a:ext cx="2560320" cy="1188720"/>
          </a:xfrm>
          <a:prstGeom prst="roundRect">
            <a:avLst>
              <a:gd name="adj" fmla="val 6154"/>
            </a:avLst>
          </a:prstGeom>
          <a:solidFill>
            <a:schemeClr val="bg2"/>
          </a:solidFill>
          <a:ln/>
        </p:spPr>
      </p:sp>
      <p:sp>
        <p:nvSpPr>
          <p:cNvPr id="13" name="barra"/>
          <p:cNvSpPr/>
          <p:nvPr/>
        </p:nvSpPr>
        <p:spPr>
          <a:xfrm>
            <a:off x="457200" y="1161288"/>
            <a:ext cx="54864" cy="969264"/>
          </a:xfrm>
          <a:prstGeom prst="rect">
            <a:avLst/>
          </a:prstGeom>
          <a:solidFill>
            <a:schemeClr val="accent2"/>
          </a:solidFill>
          <a:ln/>
        </p:spPr>
      </p:sp>
      <p:sp>
        <p:nvSpPr>
          <p:cNvPr id="14" name="Text 11"/>
          <p:cNvSpPr txBox="1"/>
          <p:nvPr/>
        </p:nvSpPr>
        <p:spPr>
          <a:xfrm>
            <a:off x="658368" y="1143000"/>
            <a:ext cx="2194560" cy="256032"/>
          </a:xfrm>
          <a:prstGeom prst="rect">
            <a:avLst/>
          </a:prstGeom>
          <a:noFill/>
          <a:ln/>
        </p:spPr>
        <p:txBody>
          <a:bodyPr wrap="square" lIns="0" tIns="0" rIns="0" bIns="0" rtlCol="0" anchor="t"/>
          <a:lstStyle/>
          <a:p>
            <a:pPr indent="0" marL="0">
              <a:buNone/>
            </a:pPr>
            <a:r>
              <a:rPr lang="en-US" sz="1100" b="1" dirty="0">
                <a:solidFill>
                  <a:schemeClr val="accent2"/>
                </a:solidFill>
              </a:rPr>
              <a:t>Procedura rimborsi v. 2.0</a:t>
            </a:r>
            <a:endParaRPr lang="en-US" sz="1100" dirty="0"/>
          </a:p>
        </p:txBody>
      </p:sp>
      <p:sp>
        <p:nvSpPr>
          <p:cNvPr id="15" name="Text 12"/>
          <p:cNvSpPr txBox="1"/>
          <p:nvPr/>
        </p:nvSpPr>
        <p:spPr>
          <a:xfrm>
            <a:off x="658368" y="1435608"/>
            <a:ext cx="2194560" cy="713232"/>
          </a:xfrm>
          <a:prstGeom prst="rect">
            <a:avLst/>
          </a:prstGeom>
          <a:noFill/>
          <a:ln/>
        </p:spPr>
        <p:txBody>
          <a:bodyPr wrap="square" lIns="0" tIns="0" rIns="0" bIns="0" rtlCol="0" anchor="t"/>
          <a:lstStyle/>
          <a:p>
            <a:pPr indent="0" marL="0">
              <a:buNone/>
            </a:pPr>
            <a:r>
              <a:rPr lang="en-US" sz="1200" dirty="0">
                <a:solidFill>
                  <a:schemeClr val="tx1"/>
                </a:solidFill>
              </a:rPr>
              <a:t>Presentazione entro 60 giorni</a:t>
            </a:r>
            <a:endParaRPr lang="en-US" sz="1200" dirty="0"/>
          </a:p>
        </p:txBody>
      </p:sp>
      <p:sp>
        <p:nvSpPr>
          <p:cNvPr id="16" name="documento Procedura rimborsi v. 3.2"/>
          <p:cNvSpPr/>
          <p:nvPr/>
        </p:nvSpPr>
        <p:spPr>
          <a:xfrm>
            <a:off x="457200" y="2377440"/>
            <a:ext cx="2560320" cy="1188720"/>
          </a:xfrm>
          <a:prstGeom prst="roundRect">
            <a:avLst>
              <a:gd name="adj" fmla="val 6154"/>
            </a:avLst>
          </a:prstGeom>
          <a:solidFill>
            <a:schemeClr val="accent6"/>
          </a:solidFill>
          <a:ln/>
        </p:spPr>
      </p:sp>
      <p:sp>
        <p:nvSpPr>
          <p:cNvPr id="17" name="barra"/>
          <p:cNvSpPr/>
          <p:nvPr/>
        </p:nvSpPr>
        <p:spPr>
          <a:xfrm>
            <a:off x="457200" y="2487168"/>
            <a:ext cx="54864" cy="969264"/>
          </a:xfrm>
          <a:prstGeom prst="rect">
            <a:avLst/>
          </a:prstGeom>
          <a:solidFill>
            <a:schemeClr val="accent1"/>
          </a:solidFill>
          <a:ln/>
        </p:spPr>
      </p:sp>
      <p:sp>
        <p:nvSpPr>
          <p:cNvPr id="18" name="Text 15"/>
          <p:cNvSpPr txBox="1"/>
          <p:nvPr/>
        </p:nvSpPr>
        <p:spPr>
          <a:xfrm>
            <a:off x="658368" y="2468880"/>
            <a:ext cx="2194560" cy="256032"/>
          </a:xfrm>
          <a:prstGeom prst="rect">
            <a:avLst/>
          </a:prstGeom>
          <a:noFill/>
          <a:ln/>
        </p:spPr>
        <p:txBody>
          <a:bodyPr wrap="square" lIns="0" tIns="0" rIns="0" bIns="0" rtlCol="0" anchor="t"/>
          <a:lstStyle/>
          <a:p>
            <a:pPr indent="0" marL="0">
              <a:buNone/>
            </a:pPr>
            <a:r>
              <a:rPr lang="en-US" sz="1100" b="1" dirty="0">
                <a:solidFill>
                  <a:schemeClr val="accent1"/>
                </a:solidFill>
              </a:rPr>
              <a:t>Procedura rimborsi v. 3.2</a:t>
            </a:r>
            <a:endParaRPr lang="en-US" sz="1100" dirty="0"/>
          </a:p>
        </p:txBody>
      </p:sp>
      <p:sp>
        <p:nvSpPr>
          <p:cNvPr id="19" name="Text 16"/>
          <p:cNvSpPr txBox="1"/>
          <p:nvPr/>
        </p:nvSpPr>
        <p:spPr>
          <a:xfrm>
            <a:off x="658368" y="2761488"/>
            <a:ext cx="2194560" cy="713232"/>
          </a:xfrm>
          <a:prstGeom prst="rect">
            <a:avLst/>
          </a:prstGeom>
          <a:noFill/>
          <a:ln/>
        </p:spPr>
        <p:txBody>
          <a:bodyPr wrap="square" lIns="0" tIns="0" rIns="0" bIns="0" rtlCol="0" anchor="t"/>
          <a:lstStyle/>
          <a:p>
            <a:pPr indent="0" marL="0">
              <a:buNone/>
            </a:pPr>
            <a:r>
              <a:rPr lang="en-US" sz="1200" dirty="0">
                <a:solidFill>
                  <a:schemeClr val="tx1"/>
                </a:solidFill>
              </a:rPr>
              <a:t>Presentazione entro 30 giorni</a:t>
            </a:r>
            <a:endParaRPr lang="en-US" sz="1200" dirty="0"/>
          </a:p>
        </p:txBody>
      </p:sp>
      <p:sp>
        <p:nvSpPr>
          <p:cNvPr id="20" name="blocco Superata"/>
          <p:cNvSpPr/>
          <p:nvPr/>
        </p:nvSpPr>
        <p:spPr>
          <a:xfrm>
            <a:off x="3154680" y="1417320"/>
            <a:ext cx="1371600" cy="457200"/>
          </a:xfrm>
          <a:prstGeom prst="roundRect">
            <a:avLst>
              <a:gd name="adj" fmla="val 24000"/>
            </a:avLst>
          </a:prstGeom>
          <a:solidFill>
            <a:schemeClr val="accent5"/>
          </a:solidFill>
          <a:ln/>
        </p:spPr>
      </p:sp>
      <p:sp>
        <p:nvSpPr>
          <p:cNvPr id="21" name="Text 18"/>
          <p:cNvSpPr txBox="1"/>
          <p:nvPr/>
        </p:nvSpPr>
        <p:spPr>
          <a:xfrm>
            <a:off x="3200400" y="141732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Superata</a:t>
            </a:r>
            <a:endParaRPr lang="en-US" sz="1200" dirty="0"/>
          </a:p>
        </p:txBody>
      </p:sp>
      <p:sp>
        <p:nvSpPr>
          <p:cNvPr id="22" name="blocco Valida"/>
          <p:cNvSpPr/>
          <p:nvPr/>
        </p:nvSpPr>
        <p:spPr>
          <a:xfrm>
            <a:off x="3154680" y="2743200"/>
            <a:ext cx="1371600" cy="457200"/>
          </a:xfrm>
          <a:prstGeom prst="roundRect">
            <a:avLst>
              <a:gd name="adj" fmla="val 24000"/>
            </a:avLst>
          </a:prstGeom>
          <a:solidFill>
            <a:schemeClr val="accent1"/>
          </a:solidFill>
          <a:ln/>
        </p:spPr>
      </p:sp>
      <p:sp>
        <p:nvSpPr>
          <p:cNvPr id="23" name="Text 20"/>
          <p:cNvSpPr txBox="1"/>
          <p:nvPr/>
        </p:nvSpPr>
        <p:spPr>
          <a:xfrm>
            <a:off x="3200400" y="274320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Valida</a:t>
            </a:r>
            <a:endParaRPr lang="en-US" sz="1200" dirty="0"/>
          </a:p>
        </p:txBody>
      </p:sp>
      <p:sp>
        <p:nvSpPr>
          <p:cNvPr id="24" name="scheda Se convivono senza indicazioni"/>
          <p:cNvSpPr/>
          <p:nvPr/>
        </p:nvSpPr>
        <p:spPr>
          <a:xfrm>
            <a:off x="4754880" y="1051560"/>
            <a:ext cx="3931920" cy="2514600"/>
          </a:xfrm>
          <a:prstGeom prst="roundRect">
            <a:avLst>
              <a:gd name="adj" fmla="val 2909"/>
            </a:avLst>
          </a:prstGeom>
          <a:solidFill>
            <a:schemeClr val="bg2"/>
          </a:solidFill>
          <a:ln/>
        </p:spPr>
      </p:sp>
      <p:sp>
        <p:nvSpPr>
          <p:cNvPr id="25" name="cerchio FiAlertTriangle"/>
          <p:cNvSpPr/>
          <p:nvPr/>
        </p:nvSpPr>
        <p:spPr>
          <a:xfrm>
            <a:off x="4937760" y="1234440"/>
            <a:ext cx="457200" cy="457200"/>
          </a:xfrm>
          <a:prstGeom prst="ellipse">
            <a:avLst/>
          </a:prstGeom>
          <a:solidFill>
            <a:schemeClr val="accent5"/>
          </a:solidFill>
          <a:ln/>
        </p:spPr>
      </p:sp>
      <p:pic>
        <p:nvPicPr>
          <p:cNvPr id="26" name="Image 0" descr="FiAlertTriangle">    </p:cNvPr>
          <p:cNvPicPr>
            <a:picLocks noChangeAspect="1"/>
          </p:cNvPicPr>
          <p:nvPr/>
        </p:nvPicPr>
        <p:blipFill>
          <a:blip r:embed="rId1"/>
          <a:stretch>
            <a:fillRect/>
          </a:stretch>
        </p:blipFill>
        <p:spPr>
          <a:xfrm>
            <a:off x="5052060" y="1348740"/>
            <a:ext cx="228600" cy="228600"/>
          </a:xfrm>
          <a:prstGeom prst="rect">
            <a:avLst/>
          </a:prstGeom>
        </p:spPr>
      </p:pic>
      <p:sp>
        <p:nvSpPr>
          <p:cNvPr id="27" name="Text 23"/>
          <p:cNvSpPr txBox="1"/>
          <p:nvPr/>
        </p:nvSpPr>
        <p:spPr>
          <a:xfrm>
            <a:off x="5532120" y="1234440"/>
            <a:ext cx="2971800" cy="457200"/>
          </a:xfrm>
          <a:prstGeom prst="rect">
            <a:avLst/>
          </a:prstGeom>
          <a:noFill/>
          <a:ln/>
        </p:spPr>
        <p:txBody>
          <a:bodyPr wrap="square" lIns="0" tIns="0" rIns="0" bIns="0" rtlCol="0" anchor="ctr"/>
          <a:lstStyle/>
          <a:p>
            <a:pPr indent="0" marL="0">
              <a:buNone/>
            </a:pPr>
            <a:r>
              <a:rPr lang="en-US" sz="1400" b="1" dirty="0">
                <a:solidFill>
                  <a:schemeClr val="tx1"/>
                </a:solidFill>
              </a:rPr>
              <a:t>Se convivono senza indicazioni</a:t>
            </a:r>
            <a:endParaRPr lang="en-US" sz="1400" dirty="0"/>
          </a:p>
        </p:txBody>
      </p:sp>
      <p:sp>
        <p:nvSpPr>
          <p:cNvPr id="28" name="Text 24"/>
          <p:cNvSpPr txBox="1"/>
          <p:nvPr/>
        </p:nvSpPr>
        <p:spPr>
          <a:xfrm>
            <a:off x="4937760" y="1828800"/>
            <a:ext cx="3566160" cy="1627632"/>
          </a:xfrm>
          <a:prstGeom prst="rect">
            <a:avLst/>
          </a:prstGeom>
          <a:noFill/>
          <a:ln/>
        </p:spPr>
        <p:txBody>
          <a:bodyPr wrap="square" lIns="0" tIns="0" rIns="0" bIns="0" rtlCol="0" anchor="t"/>
          <a:lstStyle/>
          <a:p>
            <a:pPr indent="0" marL="0">
              <a:buNone/>
            </a:pPr>
            <a:r>
              <a:rPr lang="en-US" sz="1200" dirty="0">
                <a:solidFill>
                  <a:schemeClr val="tx2"/>
                </a:solidFill>
              </a:rPr>
              <a:t>Il recupero può trovare la versione vecchia, e la risposta arriva con la stessa sicurezza: un'informazione superata con l'aspetto di un'informazione aggiornata e documentata.</a:t>
            </a:r>
            <a:endParaRPr lang="en-US" sz="1200" dirty="0"/>
          </a:p>
        </p:txBody>
      </p:sp>
      <p:sp>
        <p:nvSpPr>
          <p:cNvPr id="29" name="blocco Versione valida chiara"/>
          <p:cNvSpPr/>
          <p:nvPr/>
        </p:nvSpPr>
        <p:spPr>
          <a:xfrm>
            <a:off x="457200" y="3749040"/>
            <a:ext cx="1965960" cy="502920"/>
          </a:xfrm>
          <a:prstGeom prst="roundRect">
            <a:avLst>
              <a:gd name="adj" fmla="val 21818"/>
            </a:avLst>
          </a:prstGeom>
          <a:solidFill>
            <a:schemeClr val="bg2"/>
          </a:solidFill>
          <a:ln/>
        </p:spPr>
      </p:sp>
      <p:sp>
        <p:nvSpPr>
          <p:cNvPr id="30" name="Text 26"/>
          <p:cNvSpPr txBox="1"/>
          <p:nvPr/>
        </p:nvSpPr>
        <p:spPr>
          <a:xfrm>
            <a:off x="50292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Versione valida chiara</a:t>
            </a:r>
            <a:endParaRPr lang="en-US" sz="1100" dirty="0"/>
          </a:p>
        </p:txBody>
      </p:sp>
      <p:sp>
        <p:nvSpPr>
          <p:cNvPr id="31" name="blocco Date e versioni visibili"/>
          <p:cNvSpPr/>
          <p:nvPr/>
        </p:nvSpPr>
        <p:spPr>
          <a:xfrm>
            <a:off x="2560320" y="3749040"/>
            <a:ext cx="1965960" cy="502920"/>
          </a:xfrm>
          <a:prstGeom prst="roundRect">
            <a:avLst>
              <a:gd name="adj" fmla="val 21818"/>
            </a:avLst>
          </a:prstGeom>
          <a:solidFill>
            <a:schemeClr val="bg2"/>
          </a:solidFill>
          <a:ln/>
        </p:spPr>
      </p:sp>
      <p:sp>
        <p:nvSpPr>
          <p:cNvPr id="32" name="Text 28"/>
          <p:cNvSpPr txBox="1"/>
          <p:nvPr/>
        </p:nvSpPr>
        <p:spPr>
          <a:xfrm>
            <a:off x="260604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Date e versioni visibili</a:t>
            </a:r>
            <a:endParaRPr lang="en-US" sz="1100" dirty="0"/>
          </a:p>
        </p:txBody>
      </p:sp>
      <p:sp>
        <p:nvSpPr>
          <p:cNvPr id="33" name="blocco Responsabili dell'aggiornamento"/>
          <p:cNvSpPr/>
          <p:nvPr/>
        </p:nvSpPr>
        <p:spPr>
          <a:xfrm>
            <a:off x="4663440" y="3749040"/>
            <a:ext cx="1965960" cy="502920"/>
          </a:xfrm>
          <a:prstGeom prst="roundRect">
            <a:avLst>
              <a:gd name="adj" fmla="val 21818"/>
            </a:avLst>
          </a:prstGeom>
          <a:solidFill>
            <a:schemeClr val="bg2"/>
          </a:solidFill>
          <a:ln/>
        </p:spPr>
      </p:sp>
      <p:sp>
        <p:nvSpPr>
          <p:cNvPr id="34" name="Text 30"/>
          <p:cNvSpPr txBox="1"/>
          <p:nvPr/>
        </p:nvSpPr>
        <p:spPr>
          <a:xfrm>
            <a:off x="470916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Responsabili dell'aggiornamento</a:t>
            </a:r>
            <a:endParaRPr lang="en-US" sz="1100" dirty="0"/>
          </a:p>
        </p:txBody>
      </p:sp>
      <p:sp>
        <p:nvSpPr>
          <p:cNvPr id="35" name="blocco Riesami periodici"/>
          <p:cNvSpPr/>
          <p:nvPr/>
        </p:nvSpPr>
        <p:spPr>
          <a:xfrm>
            <a:off x="6766560" y="3749040"/>
            <a:ext cx="1965960" cy="502920"/>
          </a:xfrm>
          <a:prstGeom prst="roundRect">
            <a:avLst>
              <a:gd name="adj" fmla="val 21818"/>
            </a:avLst>
          </a:prstGeom>
          <a:solidFill>
            <a:schemeClr val="bg2"/>
          </a:solidFill>
          <a:ln/>
        </p:spPr>
      </p:sp>
      <p:sp>
        <p:nvSpPr>
          <p:cNvPr id="36" name="Text 32"/>
          <p:cNvSpPr txBox="1"/>
          <p:nvPr/>
        </p:nvSpPr>
        <p:spPr>
          <a:xfrm>
            <a:off x="681228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Riesami periodici</a:t>
            </a:r>
            <a:endParaRPr lang="en-US" sz="1100" dirty="0"/>
          </a:p>
        </p:txBody>
      </p:sp>
      <p:sp>
        <p:nvSpPr>
          <p:cNvPr id="37" name="Text 33"/>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200" i="1" dirty="0">
                <a:solidFill>
                  <a:schemeClr val="tx2"/>
                </a:solidFill>
              </a:rPr>
              <a:t>Per l'utente: controllare versione e data del documento citato.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Condizioni per risposte utili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scheda Documenti"/>
          <p:cNvSpPr/>
          <p:nvPr/>
        </p:nvSpPr>
        <p:spPr>
          <a:xfrm>
            <a:off x="457200" y="1051560"/>
            <a:ext cx="2615184" cy="2697480"/>
          </a:xfrm>
          <a:prstGeom prst="roundRect">
            <a:avLst>
              <a:gd name="adj" fmla="val 2797"/>
            </a:avLst>
          </a:prstGeom>
          <a:solidFill>
            <a:schemeClr val="bg2"/>
          </a:solidFill>
          <a:ln/>
        </p:spPr>
      </p:sp>
      <p:sp>
        <p:nvSpPr>
          <p:cNvPr id="13" name="cerchio FiFileText"/>
          <p:cNvSpPr/>
          <p:nvPr/>
        </p:nvSpPr>
        <p:spPr>
          <a:xfrm>
            <a:off x="640080" y="1234440"/>
            <a:ext cx="457200" cy="457200"/>
          </a:xfrm>
          <a:prstGeom prst="ellipse">
            <a:avLst/>
          </a:prstGeom>
          <a:solidFill>
            <a:schemeClr val="accent1"/>
          </a:solidFill>
          <a:ln/>
        </p:spPr>
      </p:sp>
      <p:pic>
        <p:nvPicPr>
          <p:cNvPr id="14" name="Image 0" descr="FiFileText">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Documenti</a:t>
            </a:r>
            <a:endParaRPr lang="en-US" sz="1600" dirty="0"/>
          </a:p>
        </p:txBody>
      </p:sp>
      <p:sp>
        <p:nvSpPr>
          <p:cNvPr id="16" name="Text 12"/>
          <p:cNvSpPr txBox="1"/>
          <p:nvPr/>
        </p:nvSpPr>
        <p:spPr>
          <a:xfrm>
            <a:off x="640080" y="1828800"/>
            <a:ext cx="2249424" cy="181051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Corretti, aggiornati, coerenti</a:t>
            </a:r>
            <a:endParaRPr lang="en-US" sz="1200" dirty="0"/>
          </a:p>
          <a:p>
            <a:pPr marL="177800" indent="-177800">
              <a:spcAft>
                <a:spcPts val="500"/>
              </a:spcAft>
              <a:buSzPct val="100000"/>
              <a:buChar char="•"/>
            </a:pPr>
            <a:r>
              <a:rPr lang="en-US" sz="1200" dirty="0">
                <a:solidFill>
                  <a:schemeClr val="tx2"/>
                </a:solidFill>
              </a:rPr>
              <a:t>Struttura chiara</a:t>
            </a:r>
            <a:endParaRPr lang="en-US" sz="1200" dirty="0"/>
          </a:p>
          <a:p>
            <a:pPr marL="177800" indent="-177800">
              <a:spcAft>
                <a:spcPts val="500"/>
              </a:spcAft>
              <a:buSzPct val="100000"/>
              <a:buChar char="•"/>
            </a:pPr>
            <a:r>
              <a:rPr lang="en-US" sz="1200" dirty="0">
                <a:solidFill>
                  <a:schemeClr val="tx2"/>
                </a:solidFill>
              </a:rPr>
              <a:t>Informazioni esplicite</a:t>
            </a:r>
            <a:endParaRPr lang="en-US" sz="1200" dirty="0"/>
          </a:p>
          <a:p>
            <a:pPr marL="177800" indent="-177800">
              <a:spcAft>
                <a:spcPts val="500"/>
              </a:spcAft>
              <a:buSzPct val="100000"/>
              <a:buChar char="•"/>
            </a:pPr>
            <a:r>
              <a:rPr lang="en-US" sz="1200" dirty="0">
                <a:solidFill>
                  <a:schemeClr val="tx2"/>
                </a:solidFill>
              </a:rPr>
              <a:t>Formati leggibili</a:t>
            </a:r>
            <a:endParaRPr lang="en-US" sz="1200" dirty="0"/>
          </a:p>
        </p:txBody>
      </p:sp>
      <p:sp>
        <p:nvSpPr>
          <p:cNvPr id="17" name="scheda Raccolta"/>
          <p:cNvSpPr/>
          <p:nvPr/>
        </p:nvSpPr>
        <p:spPr>
          <a:xfrm>
            <a:off x="3264408" y="1051560"/>
            <a:ext cx="2615184" cy="2697480"/>
          </a:xfrm>
          <a:prstGeom prst="roundRect">
            <a:avLst>
              <a:gd name="adj" fmla="val 2797"/>
            </a:avLst>
          </a:prstGeom>
          <a:solidFill>
            <a:schemeClr val="accent6"/>
          </a:solidFill>
          <a:ln/>
        </p:spPr>
      </p:sp>
      <p:sp>
        <p:nvSpPr>
          <p:cNvPr id="18" name="cerchio FiDatabase"/>
          <p:cNvSpPr/>
          <p:nvPr/>
        </p:nvSpPr>
        <p:spPr>
          <a:xfrm>
            <a:off x="3447288" y="1234440"/>
            <a:ext cx="457200" cy="457200"/>
          </a:xfrm>
          <a:prstGeom prst="ellipse">
            <a:avLst/>
          </a:prstGeom>
          <a:solidFill>
            <a:schemeClr val="accent1"/>
          </a:solidFill>
          <a:ln/>
        </p:spPr>
      </p:sp>
      <p:pic>
        <p:nvPicPr>
          <p:cNvPr id="19" name="Image 1" descr="FiDatabase">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4041648" y="123444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Raccolta</a:t>
            </a:r>
            <a:endParaRPr lang="en-US" sz="1600" dirty="0"/>
          </a:p>
        </p:txBody>
      </p:sp>
      <p:sp>
        <p:nvSpPr>
          <p:cNvPr id="21" name="Text 16"/>
          <p:cNvSpPr txBox="1"/>
          <p:nvPr/>
        </p:nvSpPr>
        <p:spPr>
          <a:xfrm>
            <a:off x="3447288" y="1828800"/>
            <a:ext cx="2249424" cy="181051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Perimetro chiaro</a:t>
            </a:r>
            <a:endParaRPr lang="en-US" sz="1200" dirty="0"/>
          </a:p>
          <a:p>
            <a:pPr marL="177800" indent="-177800">
              <a:spcAft>
                <a:spcPts val="500"/>
              </a:spcAft>
              <a:buSzPct val="100000"/>
              <a:buChar char="•"/>
            </a:pPr>
            <a:r>
              <a:rPr lang="en-US" sz="1200" dirty="0">
                <a:solidFill>
                  <a:schemeClr val="tx2"/>
                </a:solidFill>
              </a:rPr>
              <a:t>Versioni gestite</a:t>
            </a:r>
            <a:endParaRPr lang="en-US" sz="1200" dirty="0"/>
          </a:p>
          <a:p>
            <a:pPr marL="177800" indent="-177800">
              <a:spcAft>
                <a:spcPts val="500"/>
              </a:spcAft>
              <a:buSzPct val="100000"/>
              <a:buChar char="•"/>
            </a:pPr>
            <a:r>
              <a:rPr lang="en-US" sz="1200" dirty="0">
                <a:solidFill>
                  <a:schemeClr val="tx2"/>
                </a:solidFill>
              </a:rPr>
              <a:t>Permessi coerenti</a:t>
            </a:r>
            <a:endParaRPr lang="en-US" sz="1200" dirty="0"/>
          </a:p>
        </p:txBody>
      </p:sp>
      <p:sp>
        <p:nvSpPr>
          <p:cNvPr id="22" name="scheda Uso"/>
          <p:cNvSpPr/>
          <p:nvPr/>
        </p:nvSpPr>
        <p:spPr>
          <a:xfrm>
            <a:off x="6071616" y="1051560"/>
            <a:ext cx="2615184" cy="2697480"/>
          </a:xfrm>
          <a:prstGeom prst="roundRect">
            <a:avLst>
              <a:gd name="adj" fmla="val 2797"/>
            </a:avLst>
          </a:prstGeom>
          <a:solidFill>
            <a:schemeClr val="bg2"/>
          </a:solidFill>
          <a:ln/>
        </p:spPr>
      </p:sp>
      <p:sp>
        <p:nvSpPr>
          <p:cNvPr id="23" name="cerchio FiUser"/>
          <p:cNvSpPr/>
          <p:nvPr/>
        </p:nvSpPr>
        <p:spPr>
          <a:xfrm>
            <a:off x="6254496" y="1234440"/>
            <a:ext cx="457200" cy="457200"/>
          </a:xfrm>
          <a:prstGeom prst="ellipse">
            <a:avLst/>
          </a:prstGeom>
          <a:solidFill>
            <a:schemeClr val="accent1"/>
          </a:solidFill>
          <a:ln/>
        </p:spPr>
      </p:sp>
      <p:pic>
        <p:nvPicPr>
          <p:cNvPr id="24" name="Image 2" descr="FiUser">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848856" y="123444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Uso</a:t>
            </a:r>
            <a:endParaRPr lang="en-US" sz="1600" dirty="0"/>
          </a:p>
        </p:txBody>
      </p:sp>
      <p:sp>
        <p:nvSpPr>
          <p:cNvPr id="26" name="Text 20"/>
          <p:cNvSpPr txBox="1"/>
          <p:nvPr/>
        </p:nvSpPr>
        <p:spPr>
          <a:xfrm>
            <a:off x="6254496" y="1828800"/>
            <a:ext cx="2249424" cy="181051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Domande chiare, lessico dei documenti</a:t>
            </a:r>
            <a:endParaRPr lang="en-US" sz="1200" dirty="0"/>
          </a:p>
          <a:p>
            <a:pPr marL="177800" indent="-177800">
              <a:spcAft>
                <a:spcPts val="500"/>
              </a:spcAft>
              <a:buSzPct val="100000"/>
              <a:buChar char="•"/>
            </a:pPr>
            <a:r>
              <a:rPr lang="en-US" sz="1200" dirty="0">
                <a:solidFill>
                  <a:schemeClr val="tx2"/>
                </a:solidFill>
              </a:rPr>
              <a:t>Consapevolezza del perimetro</a:t>
            </a:r>
            <a:endParaRPr lang="en-US" sz="1200" dirty="0"/>
          </a:p>
          <a:p>
            <a:pPr marL="177800" indent="-177800">
              <a:spcAft>
                <a:spcPts val="500"/>
              </a:spcAft>
              <a:buSzPct val="100000"/>
              <a:buChar char="•"/>
            </a:pPr>
            <a:r>
              <a:rPr lang="en-US" sz="1200" dirty="0">
                <a:solidFill>
                  <a:schemeClr val="tx2"/>
                </a:solidFill>
              </a:rPr>
              <a:t>Controllo dei riferimenti</a:t>
            </a:r>
            <a:endParaRPr lang="en-US" sz="1200" dirty="0"/>
          </a:p>
        </p:txBody>
      </p:sp>
      <p:sp>
        <p:nvSpPr>
          <p:cNvPr id="27" name="messaggio"/>
          <p:cNvSpPr/>
          <p:nvPr/>
        </p:nvSpPr>
        <p:spPr>
          <a:xfrm>
            <a:off x="457200" y="3931920"/>
            <a:ext cx="8229600" cy="594360"/>
          </a:xfrm>
          <a:prstGeom prst="roundRect">
            <a:avLst>
              <a:gd name="adj" fmla="val 12308"/>
            </a:avLst>
          </a:prstGeom>
          <a:solidFill>
            <a:schemeClr val="tx1"/>
          </a:solidFill>
          <a:ln/>
        </p:spPr>
      </p:sp>
      <p:sp>
        <p:nvSpPr>
          <p:cNvPr id="28" name="Text 22"/>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L'AI agevola l'accesso, ma non risolve da sola i problemi di organizzazione e qualità. Spesso li rende più visibili.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agevolare l'accesso alle informazioni documentali, ma non risolve da sola i problemi di organizzazione e qualità della conoscenza.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8.7  ·  AI e gestione della conoscenza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e condizioni di efficacia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Caricare un documento non garantisce che il sistema ne abbia elaborato tutte le parti e preservato il significato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Caricare non significa elaborare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aricato"/>
          <p:cNvSpPr/>
          <p:nvPr/>
        </p:nvSpPr>
        <p:spPr>
          <a:xfrm>
            <a:off x="457200" y="1097280"/>
            <a:ext cx="1920240" cy="1920240"/>
          </a:xfrm>
          <a:prstGeom prst="roundRect">
            <a:avLst>
              <a:gd name="adj" fmla="val 3810"/>
            </a:avLst>
          </a:prstGeom>
          <a:solidFill>
            <a:schemeClr val="accent6"/>
          </a:solidFill>
          <a:ln/>
        </p:spPr>
      </p:sp>
      <p:sp>
        <p:nvSpPr>
          <p:cNvPr id="13" name="cerchio FiUpload"/>
          <p:cNvSpPr/>
          <p:nvPr/>
        </p:nvSpPr>
        <p:spPr>
          <a:xfrm>
            <a:off x="1115568" y="1207008"/>
            <a:ext cx="594360" cy="594360"/>
          </a:xfrm>
          <a:prstGeom prst="ellipse">
            <a:avLst/>
          </a:prstGeom>
          <a:solidFill>
            <a:schemeClr val="accent1"/>
          </a:solidFill>
          <a:ln/>
        </p:spPr>
      </p:sp>
      <p:pic>
        <p:nvPicPr>
          <p:cNvPr id="14" name="Image 0" descr="FiUpload">    </p:cNvPr>
          <p:cNvPicPr>
            <a:picLocks noChangeAspect="1"/>
          </p:cNvPicPr>
          <p:nvPr/>
        </p:nvPicPr>
        <p:blipFill>
          <a:blip r:embed="rId1"/>
          <a:stretch>
            <a:fillRect/>
          </a:stretch>
        </p:blipFill>
        <p:spPr>
          <a:xfrm>
            <a:off x="1264158" y="1355598"/>
            <a:ext cx="297180" cy="297180"/>
          </a:xfrm>
          <a:prstGeom prst="rect">
            <a:avLst/>
          </a:prstGeom>
        </p:spPr>
      </p:pic>
      <p:sp>
        <p:nvSpPr>
          <p:cNvPr id="15" name="Text 11"/>
          <p:cNvSpPr txBox="1"/>
          <p:nvPr/>
        </p:nvSpPr>
        <p:spPr>
          <a:xfrm>
            <a:off x="54864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Caricato</a:t>
            </a:r>
            <a:endParaRPr lang="en-US" sz="1500" dirty="0"/>
          </a:p>
        </p:txBody>
      </p:sp>
      <p:sp>
        <p:nvSpPr>
          <p:cNvPr id="16" name="Text 12"/>
          <p:cNvSpPr txBox="1"/>
          <p:nvPr/>
        </p:nvSpPr>
        <p:spPr>
          <a:xfrm>
            <a:off x="56692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Il file è stato accettato</a:t>
            </a:r>
            <a:endParaRPr lang="en-US" sz="1100" dirty="0"/>
          </a:p>
        </p:txBody>
      </p:sp>
      <p:sp>
        <p:nvSpPr>
          <p:cNvPr id="17" name="freccia"/>
          <p:cNvSpPr/>
          <p:nvPr/>
        </p:nvSpPr>
        <p:spPr>
          <a:xfrm>
            <a:off x="2386584" y="1828800"/>
            <a:ext cx="155448" cy="292608"/>
          </a:xfrm>
          <a:prstGeom prst="rightArrow">
            <a:avLst/>
          </a:prstGeom>
          <a:solidFill>
            <a:schemeClr val="accent2"/>
          </a:solidFill>
          <a:ln/>
        </p:spPr>
      </p:sp>
      <p:sp>
        <p:nvSpPr>
          <p:cNvPr id="18" name="Convertito"/>
          <p:cNvSpPr/>
          <p:nvPr/>
        </p:nvSpPr>
        <p:spPr>
          <a:xfrm>
            <a:off x="2560320" y="1097280"/>
            <a:ext cx="1920240" cy="1920240"/>
          </a:xfrm>
          <a:prstGeom prst="roundRect">
            <a:avLst>
              <a:gd name="adj" fmla="val 3810"/>
            </a:avLst>
          </a:prstGeom>
          <a:solidFill>
            <a:schemeClr val="bg2"/>
          </a:solidFill>
          <a:ln/>
        </p:spPr>
      </p:sp>
      <p:sp>
        <p:nvSpPr>
          <p:cNvPr id="19" name="cerchio FiFileText"/>
          <p:cNvSpPr/>
          <p:nvPr/>
        </p:nvSpPr>
        <p:spPr>
          <a:xfrm>
            <a:off x="3218688" y="1207008"/>
            <a:ext cx="594360" cy="594360"/>
          </a:xfrm>
          <a:prstGeom prst="ellipse">
            <a:avLst/>
          </a:prstGeom>
          <a:solidFill>
            <a:schemeClr val="accent2"/>
          </a:solidFill>
          <a:ln/>
        </p:spPr>
      </p:sp>
      <p:pic>
        <p:nvPicPr>
          <p:cNvPr id="20" name="Image 1" descr="FiFileText">    </p:cNvPr>
          <p:cNvPicPr>
            <a:picLocks noChangeAspect="1"/>
          </p:cNvPicPr>
          <p:nvPr/>
        </p:nvPicPr>
        <p:blipFill>
          <a:blip r:embed="rId2"/>
          <a:stretch>
            <a:fillRect/>
          </a:stretch>
        </p:blipFill>
        <p:spPr>
          <a:xfrm>
            <a:off x="3367278" y="1355598"/>
            <a:ext cx="297180" cy="297180"/>
          </a:xfrm>
          <a:prstGeom prst="rect">
            <a:avLst/>
          </a:prstGeom>
        </p:spPr>
      </p:pic>
      <p:sp>
        <p:nvSpPr>
          <p:cNvPr id="21" name="Text 16"/>
          <p:cNvSpPr txBox="1"/>
          <p:nvPr/>
        </p:nvSpPr>
        <p:spPr>
          <a:xfrm>
            <a:off x="265176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Convertito</a:t>
            </a:r>
            <a:endParaRPr lang="en-US" sz="1500" dirty="0"/>
          </a:p>
        </p:txBody>
      </p:sp>
      <p:sp>
        <p:nvSpPr>
          <p:cNvPr id="22" name="Text 17"/>
          <p:cNvSpPr txBox="1"/>
          <p:nvPr/>
        </p:nvSpPr>
        <p:spPr>
          <a:xfrm>
            <a:off x="267004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Tabelle, immagini, scansioni: tutto letto?</a:t>
            </a:r>
            <a:endParaRPr lang="en-US" sz="1100" dirty="0"/>
          </a:p>
        </p:txBody>
      </p:sp>
      <p:sp>
        <p:nvSpPr>
          <p:cNvPr id="23" name="freccia"/>
          <p:cNvSpPr/>
          <p:nvPr/>
        </p:nvSpPr>
        <p:spPr>
          <a:xfrm>
            <a:off x="4489704" y="1828800"/>
            <a:ext cx="155448" cy="292608"/>
          </a:xfrm>
          <a:prstGeom prst="rightArrow">
            <a:avLst/>
          </a:prstGeom>
          <a:solidFill>
            <a:schemeClr val="accent2"/>
          </a:solidFill>
          <a:ln/>
        </p:spPr>
      </p:sp>
      <p:sp>
        <p:nvSpPr>
          <p:cNvPr id="24" name="Elaborato"/>
          <p:cNvSpPr/>
          <p:nvPr/>
        </p:nvSpPr>
        <p:spPr>
          <a:xfrm>
            <a:off x="4663440" y="1097280"/>
            <a:ext cx="1920240" cy="1920240"/>
          </a:xfrm>
          <a:prstGeom prst="roundRect">
            <a:avLst>
              <a:gd name="adj" fmla="val 3810"/>
            </a:avLst>
          </a:prstGeom>
          <a:solidFill>
            <a:schemeClr val="bg2"/>
          </a:solidFill>
          <a:ln/>
        </p:spPr>
      </p:sp>
      <p:sp>
        <p:nvSpPr>
          <p:cNvPr id="25" name="cerchio FiLayers"/>
          <p:cNvSpPr/>
          <p:nvPr/>
        </p:nvSpPr>
        <p:spPr>
          <a:xfrm>
            <a:off x="5321808" y="1207008"/>
            <a:ext cx="594360" cy="594360"/>
          </a:xfrm>
          <a:prstGeom prst="ellipse">
            <a:avLst/>
          </a:prstGeom>
          <a:solidFill>
            <a:schemeClr val="accent2"/>
          </a:solidFill>
          <a:ln/>
        </p:spPr>
      </p:sp>
      <p:pic>
        <p:nvPicPr>
          <p:cNvPr id="26" name="Image 2" descr="FiLayers">    </p:cNvPr>
          <p:cNvPicPr>
            <a:picLocks noChangeAspect="1"/>
          </p:cNvPicPr>
          <p:nvPr/>
        </p:nvPicPr>
        <p:blipFill>
          <a:blip r:embed="rId3"/>
          <a:stretch>
            <a:fillRect/>
          </a:stretch>
        </p:blipFill>
        <p:spPr>
          <a:xfrm>
            <a:off x="5470398" y="1355598"/>
            <a:ext cx="297180" cy="297180"/>
          </a:xfrm>
          <a:prstGeom prst="rect">
            <a:avLst/>
          </a:prstGeom>
        </p:spPr>
      </p:pic>
      <p:sp>
        <p:nvSpPr>
          <p:cNvPr id="27" name="Text 21"/>
          <p:cNvSpPr txBox="1"/>
          <p:nvPr/>
        </p:nvSpPr>
        <p:spPr>
          <a:xfrm>
            <a:off x="475488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Elaborato</a:t>
            </a:r>
            <a:endParaRPr lang="en-US" sz="1500" dirty="0"/>
          </a:p>
        </p:txBody>
      </p:sp>
      <p:sp>
        <p:nvSpPr>
          <p:cNvPr id="28" name="Text 22"/>
          <p:cNvSpPr txBox="1"/>
          <p:nvPr/>
        </p:nvSpPr>
        <p:spPr>
          <a:xfrm>
            <a:off x="477316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Tutte le parti, con la stessa attenzione?</a:t>
            </a:r>
            <a:endParaRPr lang="en-US" sz="1100" dirty="0"/>
          </a:p>
        </p:txBody>
      </p:sp>
      <p:sp>
        <p:nvSpPr>
          <p:cNvPr id="29" name="freccia"/>
          <p:cNvSpPr/>
          <p:nvPr/>
        </p:nvSpPr>
        <p:spPr>
          <a:xfrm>
            <a:off x="6592824" y="1828800"/>
            <a:ext cx="155448" cy="292608"/>
          </a:xfrm>
          <a:prstGeom prst="rightArrow">
            <a:avLst/>
          </a:prstGeom>
          <a:solidFill>
            <a:schemeClr val="accent2"/>
          </a:solidFill>
          <a:ln/>
        </p:spPr>
      </p:sp>
      <p:sp>
        <p:nvSpPr>
          <p:cNvPr id="30" name="Compreso"/>
          <p:cNvSpPr/>
          <p:nvPr/>
        </p:nvSpPr>
        <p:spPr>
          <a:xfrm>
            <a:off x="6766560" y="1097280"/>
            <a:ext cx="1920240" cy="1920240"/>
          </a:xfrm>
          <a:prstGeom prst="roundRect">
            <a:avLst>
              <a:gd name="adj" fmla="val 3810"/>
            </a:avLst>
          </a:prstGeom>
          <a:solidFill>
            <a:schemeClr val="bg2"/>
          </a:solidFill>
          <a:ln/>
        </p:spPr>
      </p:sp>
      <p:sp>
        <p:nvSpPr>
          <p:cNvPr id="31" name="cerchio FiCheckCircle"/>
          <p:cNvSpPr/>
          <p:nvPr/>
        </p:nvSpPr>
        <p:spPr>
          <a:xfrm>
            <a:off x="7424928" y="1207008"/>
            <a:ext cx="594360" cy="594360"/>
          </a:xfrm>
          <a:prstGeom prst="ellipse">
            <a:avLst/>
          </a:prstGeom>
          <a:solidFill>
            <a:schemeClr val="accent2"/>
          </a:solidFill>
          <a:ln/>
        </p:spPr>
      </p:sp>
      <p:pic>
        <p:nvPicPr>
          <p:cNvPr id="32" name="Image 3" descr="FiCheckCircle">    </p:cNvPr>
          <p:cNvPicPr>
            <a:picLocks noChangeAspect="1"/>
          </p:cNvPicPr>
          <p:nvPr/>
        </p:nvPicPr>
        <p:blipFill>
          <a:blip r:embed="rId4"/>
          <a:stretch>
            <a:fillRect/>
          </a:stretch>
        </p:blipFill>
        <p:spPr>
          <a:xfrm>
            <a:off x="7573518" y="1355598"/>
            <a:ext cx="297180" cy="297180"/>
          </a:xfrm>
          <a:prstGeom prst="rect">
            <a:avLst/>
          </a:prstGeom>
        </p:spPr>
      </p:pic>
      <p:sp>
        <p:nvSpPr>
          <p:cNvPr id="33" name="Text 26"/>
          <p:cNvSpPr txBox="1"/>
          <p:nvPr/>
        </p:nvSpPr>
        <p:spPr>
          <a:xfrm>
            <a:off x="685800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Compreso</a:t>
            </a:r>
            <a:endParaRPr lang="en-US" sz="1500" dirty="0"/>
          </a:p>
        </p:txBody>
      </p:sp>
      <p:sp>
        <p:nvSpPr>
          <p:cNvPr id="34" name="Text 27"/>
          <p:cNvSpPr txBox="1"/>
          <p:nvPr/>
        </p:nvSpPr>
        <p:spPr>
          <a:xfrm>
            <a:off x="687628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Interpretato correttamente?</a:t>
            </a:r>
            <a:endParaRPr lang="en-US" sz="1100" dirty="0"/>
          </a:p>
        </p:txBody>
      </p:sp>
      <p:sp>
        <p:nvSpPr>
          <p:cNvPr id="35" name="Text 28"/>
          <p:cNvSpPr txBox="1"/>
          <p:nvPr/>
        </p:nvSpPr>
        <p:spPr>
          <a:xfrm>
            <a:off x="457200" y="3154680"/>
            <a:ext cx="8229600" cy="320040"/>
          </a:xfrm>
          <a:prstGeom prst="rect">
            <a:avLst/>
          </a:prstGeom>
          <a:noFill/>
          <a:ln/>
        </p:spPr>
        <p:txBody>
          <a:bodyPr wrap="square" lIns="0" tIns="0" rIns="0" bIns="0" rtlCol="0" anchor="t"/>
          <a:lstStyle/>
          <a:p>
            <a:pPr algn="ctr" indent="0" marL="0">
              <a:buNone/>
            </a:pPr>
            <a:r>
              <a:rPr lang="en-US" sz="1300" b="1" i="1" dirty="0">
                <a:solidFill>
                  <a:schemeClr val="accent5"/>
                </a:solidFill>
              </a:rPr>
              <a:t>Ogni passaggio può fallire in modo invisibile</a:t>
            </a:r>
            <a:endParaRPr lang="en-US" sz="1300" dirty="0"/>
          </a:p>
        </p:txBody>
      </p:sp>
      <p:sp>
        <p:nvSpPr>
          <p:cNvPr id="36" name="messaggio"/>
          <p:cNvSpPr/>
          <p:nvPr/>
        </p:nvSpPr>
        <p:spPr>
          <a:xfrm>
            <a:off x="457200" y="3611880"/>
            <a:ext cx="8229600" cy="822960"/>
          </a:xfrm>
          <a:prstGeom prst="roundRect">
            <a:avLst>
              <a:gd name="adj" fmla="val 8889"/>
            </a:avLst>
          </a:prstGeom>
          <a:solidFill>
            <a:schemeClr val="tx1"/>
          </a:solidFill>
          <a:ln/>
        </p:spPr>
      </p:sp>
      <p:sp>
        <p:nvSpPr>
          <p:cNvPr id="37" name="Text 30"/>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La risposta ha sempre lo stesso aspetto, sicuro e completo, sia che il sistema abbia elaborato tutto, sia che ne abbia elaborato una parte.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Qualità e struttura dei documenti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ntenuto corretto e coerente"/>
          <p:cNvSpPr/>
          <p:nvPr/>
        </p:nvSpPr>
        <p:spPr>
          <a:xfrm>
            <a:off x="457200" y="1051560"/>
            <a:ext cx="4023360" cy="1097280"/>
          </a:xfrm>
          <a:prstGeom prst="roundRect">
            <a:avLst>
              <a:gd name="adj" fmla="val 6667"/>
            </a:avLst>
          </a:prstGeom>
          <a:solidFill>
            <a:schemeClr val="bg2"/>
          </a:solidFill>
          <a:ln/>
        </p:spPr>
      </p:sp>
      <p:sp>
        <p:nvSpPr>
          <p:cNvPr id="13" name="cerchio FiCheckSquare"/>
          <p:cNvSpPr/>
          <p:nvPr/>
        </p:nvSpPr>
        <p:spPr>
          <a:xfrm>
            <a:off x="621792" y="1216152"/>
            <a:ext cx="438912" cy="438912"/>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Contenuto corretto e coerente</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Errori e contraddizioni vengono riportati, o risolti in silenzio</a:t>
            </a:r>
            <a:endParaRPr lang="en-US" sz="1200" dirty="0"/>
          </a:p>
        </p:txBody>
      </p:sp>
      <p:sp>
        <p:nvSpPr>
          <p:cNvPr id="17" name="Struttura chiara"/>
          <p:cNvSpPr/>
          <p:nvPr/>
        </p:nvSpPr>
        <p:spPr>
          <a:xfrm>
            <a:off x="4663440" y="1051560"/>
            <a:ext cx="4023360" cy="1097280"/>
          </a:xfrm>
          <a:prstGeom prst="roundRect">
            <a:avLst>
              <a:gd name="adj" fmla="val 6667"/>
            </a:avLst>
          </a:prstGeom>
          <a:solidFill>
            <a:schemeClr val="bg2"/>
          </a:solidFill>
          <a:ln/>
        </p:spPr>
      </p:sp>
      <p:sp>
        <p:nvSpPr>
          <p:cNvPr id="18" name="cerchio FiList"/>
          <p:cNvSpPr/>
          <p:nvPr/>
        </p:nvSpPr>
        <p:spPr>
          <a:xfrm>
            <a:off x="4828032" y="1216152"/>
            <a:ext cx="438912" cy="438912"/>
          </a:xfrm>
          <a:prstGeom prst="ellipse">
            <a:avLst/>
          </a:prstGeom>
          <a:solidFill>
            <a:schemeClr val="accent1"/>
          </a:solidFill>
          <a:ln/>
        </p:spPr>
      </p:sp>
      <p:pic>
        <p:nvPicPr>
          <p:cNvPr id="19" name="Image 1" descr="FiLis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Struttura chiara</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Titoli, sezioni, numerazione, un tema per paragrafo</a:t>
            </a:r>
            <a:endParaRPr lang="en-US" sz="1200" dirty="0"/>
          </a:p>
        </p:txBody>
      </p:sp>
      <p:sp>
        <p:nvSpPr>
          <p:cNvPr id="22" name="Linguaggio esplicito"/>
          <p:cNvSpPr/>
          <p:nvPr/>
        </p:nvSpPr>
        <p:spPr>
          <a:xfrm>
            <a:off x="457200" y="2331720"/>
            <a:ext cx="4023360" cy="1097280"/>
          </a:xfrm>
          <a:prstGeom prst="roundRect">
            <a:avLst>
              <a:gd name="adj" fmla="val 6667"/>
            </a:avLst>
          </a:prstGeom>
          <a:solidFill>
            <a:schemeClr val="bg2"/>
          </a:solidFill>
          <a:ln/>
        </p:spPr>
      </p:sp>
      <p:sp>
        <p:nvSpPr>
          <p:cNvPr id="23" name="cerchio FiMessageSquare"/>
          <p:cNvSpPr/>
          <p:nvPr/>
        </p:nvSpPr>
        <p:spPr>
          <a:xfrm>
            <a:off x="621792" y="2496312"/>
            <a:ext cx="438912" cy="438912"/>
          </a:xfrm>
          <a:prstGeom prst="ellipse">
            <a:avLst/>
          </a:prstGeom>
          <a:solidFill>
            <a:schemeClr val="accent1"/>
          </a:solidFill>
          <a:ln/>
        </p:spPr>
      </p:sp>
      <p:pic>
        <p:nvPicPr>
          <p:cNvPr id="24" name="Image 2" descr="FiMessageSquare">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Linguaggio esplicito</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'Come concordato', 'la solita procedura': non interpretabili</a:t>
            </a:r>
            <a:endParaRPr lang="en-US" sz="1200" dirty="0"/>
          </a:p>
        </p:txBody>
      </p:sp>
      <p:sp>
        <p:nvSpPr>
          <p:cNvPr id="27" name="Formato digitale nativo"/>
          <p:cNvSpPr/>
          <p:nvPr/>
        </p:nvSpPr>
        <p:spPr>
          <a:xfrm>
            <a:off x="4663440" y="2331720"/>
            <a:ext cx="4023360" cy="1097280"/>
          </a:xfrm>
          <a:prstGeom prst="roundRect">
            <a:avLst>
              <a:gd name="adj" fmla="val 6667"/>
            </a:avLst>
          </a:prstGeom>
          <a:solidFill>
            <a:schemeClr val="bg2"/>
          </a:solidFill>
          <a:ln/>
        </p:spPr>
      </p:sp>
      <p:sp>
        <p:nvSpPr>
          <p:cNvPr id="28" name="cerchio FiFile"/>
          <p:cNvSpPr/>
          <p:nvPr/>
        </p:nvSpPr>
        <p:spPr>
          <a:xfrm>
            <a:off x="4828032" y="2496312"/>
            <a:ext cx="438912" cy="438912"/>
          </a:xfrm>
          <a:prstGeom prst="ellipse">
            <a:avLst/>
          </a:prstGeom>
          <a:solidFill>
            <a:schemeClr val="accent1"/>
          </a:solidFill>
          <a:ln/>
        </p:spPr>
      </p:sp>
      <p:pic>
        <p:nvPicPr>
          <p:cNvPr id="29" name="Image 3" descr="FiFile">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Formato digitale nativo</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Meglio un file nativo che una scansione</a:t>
            </a:r>
            <a:endParaRPr lang="en-US" sz="1200" dirty="0"/>
          </a:p>
        </p:txBody>
      </p:sp>
      <p:sp>
        <p:nvSpPr>
          <p:cNvPr id="32" name="messaggio"/>
          <p:cNvSpPr/>
          <p:nvPr/>
        </p:nvSpPr>
        <p:spPr>
          <a:xfrm>
            <a:off x="457200" y="3611880"/>
            <a:ext cx="8229600" cy="594360"/>
          </a:xfrm>
          <a:prstGeom prst="roundRect">
            <a:avLst>
              <a:gd name="adj" fmla="val 12308"/>
            </a:avLst>
          </a:prstGeom>
          <a:solidFill>
            <a:schemeClr val="tx1"/>
          </a:solidFill>
          <a:ln/>
        </p:spPr>
      </p:sp>
      <p:sp>
        <p:nvSpPr>
          <p:cNvPr id="33" name="Text 26"/>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300" dirty="0">
                <a:solidFill>
                  <a:schemeClr val="bg1"/>
                </a:solidFill>
              </a:rPr>
              <a:t>Se entra spazzatura, esce spazzatura. Con l'AI, però, il risultato non sembra spazzatura: è ben scritto e ben organizzato.</a:t>
            </a:r>
            <a:endParaRPr lang="en-US" sz="1300" dirty="0"/>
          </a:p>
        </p:txBody>
      </p:sp>
      <p:sp>
        <p:nvSpPr>
          <p:cNvPr id="34" name="Text 27"/>
          <p:cNvSpPr txBox="1"/>
          <p:nvPr/>
        </p:nvSpPr>
        <p:spPr>
          <a:xfrm>
            <a:off x="457200" y="4270248"/>
            <a:ext cx="8229600" cy="320040"/>
          </a:xfrm>
          <a:prstGeom prst="rect">
            <a:avLst/>
          </a:prstGeom>
          <a:noFill/>
          <a:ln/>
        </p:spPr>
        <p:txBody>
          <a:bodyPr wrap="square" lIns="0" tIns="0" rIns="0" bIns="0" rtlCol="0" anchor="t"/>
          <a:lstStyle/>
          <a:p>
            <a:pPr indent="0" marL="0">
              <a:buNone/>
            </a:pPr>
            <a:r>
              <a:rPr lang="en-US" sz="1200" i="1" dirty="0">
                <a:solidFill>
                  <a:schemeClr val="tx2"/>
                </a:solidFill>
              </a:rPr>
              <a:t>I documenti che funzionano meglio per l'AI sono gli stessi che funzionano meglio per le persone.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Digitali, scansionati, impaginati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3291840"/>
                <a:gridCol w="2926080"/>
              </a:tblGrid>
              <a:tr h="457200">
                <a:tc>
                  <a:txBody>
                    <a:bodyPr/>
                    <a:lstStyle/>
                    <a:p>
                      <a:pPr indent="0" marL="0">
                        <a:buNone/>
                      </a:pPr>
                      <a:r>
                        <a:rPr lang="en-US" sz="1200" b="1" dirty="0">
                          <a:solidFill>
                            <a:schemeClr val="bg1"/>
                          </a:solidFill>
                        </a:rPr>
                        <a:t>Elemento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può succedere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controllare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Scansioni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Riconoscimento errato di cifre e parole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Importi, date, nomi nei punti critici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Scritture a mano, timbri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Letti male o ignorati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 contengono informazioni rilevanti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Tabelle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Celle mescolate, valori sotto l'intestazione sbagliata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Alcuni valori riga per riga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Immagini e grafici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Ignorati o interpretati in modo impreciso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 l'informazione è solo lì</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Colonne, note, riquadri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Ordine di lettura sbagliato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 senso dei passaggi collegati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977640"/>
            <a:ext cx="8229600" cy="548640"/>
          </a:xfrm>
          <a:prstGeom prst="roundRect">
            <a:avLst>
              <a:gd name="adj" fmla="val 13333"/>
            </a:avLst>
          </a:prstGeom>
          <a:solidFill>
            <a:schemeClr val="tx1"/>
          </a:solidFill>
          <a:ln/>
        </p:spPr>
      </p:sp>
      <p:sp>
        <p:nvSpPr>
          <p:cNvPr id="14" name="Text 10"/>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Un errore di riconoscimento su una cifra cambia un importo.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Documenti lunghi e copertura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Limite di contesto"/>
          <p:cNvSpPr/>
          <p:nvPr/>
        </p:nvSpPr>
        <p:spPr>
          <a:xfrm>
            <a:off x="457200" y="1051560"/>
            <a:ext cx="2621280" cy="1600200"/>
          </a:xfrm>
          <a:prstGeom prst="roundRect">
            <a:avLst>
              <a:gd name="adj" fmla="val 4571"/>
            </a:avLst>
          </a:prstGeom>
          <a:solidFill>
            <a:schemeClr val="bg2"/>
          </a:solidFill>
          <a:ln/>
        </p:spPr>
      </p:sp>
      <p:sp>
        <p:nvSpPr>
          <p:cNvPr id="13" name="cerchio FiMaximize"/>
          <p:cNvSpPr/>
          <p:nvPr/>
        </p:nvSpPr>
        <p:spPr>
          <a:xfrm>
            <a:off x="621792" y="1216152"/>
            <a:ext cx="438912" cy="438912"/>
          </a:xfrm>
          <a:prstGeom prst="ellipse">
            <a:avLst/>
          </a:prstGeom>
          <a:solidFill>
            <a:schemeClr val="accent1"/>
          </a:solidFill>
          <a:ln/>
        </p:spPr>
      </p:sp>
      <p:pic>
        <p:nvPicPr>
          <p:cNvPr id="14" name="Image 0" descr="FiMaximiz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Limite di contesto</a:t>
            </a:r>
            <a:endParaRPr lang="en-US" sz="1300" dirty="0"/>
          </a:p>
        </p:txBody>
      </p:sp>
      <p:sp>
        <p:nvSpPr>
          <p:cNvPr id="16" name="Text 12"/>
          <p:cNvSpPr txBox="1"/>
          <p:nvPr/>
        </p:nvSpPr>
        <p:spPr>
          <a:xfrm>
            <a:off x="621792" y="1764792"/>
            <a:ext cx="2292096" cy="795528"/>
          </a:xfrm>
          <a:prstGeom prst="rect">
            <a:avLst/>
          </a:prstGeom>
          <a:noFill/>
          <a:ln/>
        </p:spPr>
        <p:txBody>
          <a:bodyPr wrap="square" lIns="0" tIns="0" rIns="0" bIns="0" rtlCol="0" anchor="t"/>
          <a:lstStyle/>
          <a:p>
            <a:pPr indent="0" marL="0">
              <a:buNone/>
            </a:pPr>
            <a:r>
              <a:rPr lang="en-US" sz="1200" dirty="0">
                <a:solidFill>
                  <a:schemeClr val="tx2"/>
                </a:solidFill>
              </a:rPr>
              <a:t>Oltre una certa dimensione, solo una parte o a pezzi, spesso senza avviso</a:t>
            </a:r>
            <a:endParaRPr lang="en-US" sz="1200" dirty="0"/>
          </a:p>
        </p:txBody>
      </p:sp>
      <p:sp>
        <p:nvSpPr>
          <p:cNvPr id="17" name="Attenzione non uniforme"/>
          <p:cNvSpPr/>
          <p:nvPr/>
        </p:nvSpPr>
        <p:spPr>
          <a:xfrm>
            <a:off x="3261360" y="1051560"/>
            <a:ext cx="2621280" cy="1600200"/>
          </a:xfrm>
          <a:prstGeom prst="roundRect">
            <a:avLst>
              <a:gd name="adj" fmla="val 4571"/>
            </a:avLst>
          </a:prstGeom>
          <a:solidFill>
            <a:schemeClr val="bg2"/>
          </a:solidFill>
          <a:ln/>
        </p:spPr>
      </p:sp>
      <p:sp>
        <p:nvSpPr>
          <p:cNvPr id="18" name="cerchio FiTarget"/>
          <p:cNvSpPr/>
          <p:nvPr/>
        </p:nvSpPr>
        <p:spPr>
          <a:xfrm>
            <a:off x="3425952" y="1216152"/>
            <a:ext cx="438912" cy="438912"/>
          </a:xfrm>
          <a:prstGeom prst="ellipse">
            <a:avLst/>
          </a:prstGeom>
          <a:solidFill>
            <a:schemeClr val="accent1"/>
          </a:solidFill>
          <a:ln/>
        </p:spPr>
      </p:sp>
      <p:pic>
        <p:nvPicPr>
          <p:cNvPr id="19" name="Image 1" descr="FiTarget">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Attenzione non uniforme</a:t>
            </a:r>
            <a:endParaRPr lang="en-US" sz="1300" dirty="0"/>
          </a:p>
        </p:txBody>
      </p:sp>
      <p:sp>
        <p:nvSpPr>
          <p:cNvPr id="21" name="Text 16"/>
          <p:cNvSpPr txBox="1"/>
          <p:nvPr/>
        </p:nvSpPr>
        <p:spPr>
          <a:xfrm>
            <a:off x="3425952" y="1764792"/>
            <a:ext cx="2292096" cy="795528"/>
          </a:xfrm>
          <a:prstGeom prst="rect">
            <a:avLst/>
          </a:prstGeom>
          <a:noFill/>
          <a:ln/>
        </p:spPr>
        <p:txBody>
          <a:bodyPr wrap="square" lIns="0" tIns="0" rIns="0" bIns="0" rtlCol="0" anchor="t"/>
          <a:lstStyle/>
          <a:p>
            <a:pPr indent="0" marL="0">
              <a:buNone/>
            </a:pPr>
            <a:r>
              <a:rPr lang="en-US" sz="1200" dirty="0">
                <a:solidFill>
                  <a:schemeClr val="tx2"/>
                </a:solidFill>
              </a:rPr>
              <a:t>Le parti centrali tendono a essere usate meno (Liu et al.)</a:t>
            </a:r>
            <a:endParaRPr lang="en-US" sz="1200" dirty="0"/>
          </a:p>
        </p:txBody>
      </p:sp>
      <p:sp>
        <p:nvSpPr>
          <p:cNvPr id="22" name="Copertura"/>
          <p:cNvSpPr/>
          <p:nvPr/>
        </p:nvSpPr>
        <p:spPr>
          <a:xfrm>
            <a:off x="6065520" y="1051560"/>
            <a:ext cx="2621280" cy="1600200"/>
          </a:xfrm>
          <a:prstGeom prst="roundRect">
            <a:avLst>
              <a:gd name="adj" fmla="val 4571"/>
            </a:avLst>
          </a:prstGeom>
          <a:solidFill>
            <a:schemeClr val="bg2"/>
          </a:solidFill>
          <a:ln/>
        </p:spPr>
      </p:sp>
      <p:sp>
        <p:nvSpPr>
          <p:cNvPr id="23" name="cerchio FiPieChart"/>
          <p:cNvSpPr/>
          <p:nvPr/>
        </p:nvSpPr>
        <p:spPr>
          <a:xfrm>
            <a:off x="6230112" y="1216152"/>
            <a:ext cx="438912" cy="438912"/>
          </a:xfrm>
          <a:prstGeom prst="ellipse">
            <a:avLst/>
          </a:prstGeom>
          <a:solidFill>
            <a:schemeClr val="accent1"/>
          </a:solidFill>
          <a:ln/>
        </p:spPr>
      </p:sp>
      <p:pic>
        <p:nvPicPr>
          <p:cNvPr id="24" name="Image 2" descr="FiPieChart">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Copertura</a:t>
            </a:r>
            <a:endParaRPr lang="en-US" sz="1300" dirty="0"/>
          </a:p>
        </p:txBody>
      </p:sp>
      <p:sp>
        <p:nvSpPr>
          <p:cNvPr id="26" name="Text 20"/>
          <p:cNvSpPr txBox="1"/>
          <p:nvPr/>
        </p:nvSpPr>
        <p:spPr>
          <a:xfrm>
            <a:off x="6230112" y="1764792"/>
            <a:ext cx="2292096" cy="795528"/>
          </a:xfrm>
          <a:prstGeom prst="rect">
            <a:avLst/>
          </a:prstGeom>
          <a:noFill/>
          <a:ln/>
        </p:spPr>
        <p:txBody>
          <a:bodyPr wrap="square" lIns="0" tIns="0" rIns="0" bIns="0" rtlCol="0" anchor="t"/>
          <a:lstStyle/>
          <a:p>
            <a:pPr indent="0" marL="0">
              <a:buNone/>
            </a:pPr>
            <a:r>
              <a:rPr lang="en-US" sz="1200" dirty="0">
                <a:solidFill>
                  <a:schemeClr val="tx2"/>
                </a:solidFill>
              </a:rPr>
              <a:t>Alcune sezioni in dettaglio, altre ignorate, senza dirlo</a:t>
            </a:r>
            <a:endParaRPr lang="en-US" sz="1200" dirty="0"/>
          </a:p>
        </p:txBody>
      </p:sp>
      <p:sp>
        <p:nvSpPr>
          <p:cNvPr id="27" name="Text 21"/>
          <p:cNvSpPr txBox="1"/>
          <p:nvPr/>
        </p:nvSpPr>
        <p:spPr>
          <a:xfrm>
            <a:off x="457200" y="2834640"/>
            <a:ext cx="8229600" cy="320040"/>
          </a:xfrm>
          <a:prstGeom prst="rect">
            <a:avLst/>
          </a:prstGeom>
          <a:noFill/>
          <a:ln/>
        </p:spPr>
        <p:txBody>
          <a:bodyPr wrap="square" lIns="0" tIns="0" rIns="0" bIns="0" rtlCol="0" anchor="t"/>
          <a:lstStyle/>
          <a:p>
            <a:pPr indent="0" marL="0">
              <a:buNone/>
            </a:pPr>
            <a:r>
              <a:rPr lang="en-US" sz="1400" b="1" dirty="0">
                <a:solidFill>
                  <a:schemeClr val="tx1"/>
                </a:solidFill>
              </a:rPr>
              <a:t>Come valutare la copertura</a:t>
            </a:r>
            <a:endParaRPr lang="en-US" sz="1400" dirty="0"/>
          </a:p>
        </p:txBody>
      </p:sp>
      <p:sp>
        <p:nvSpPr>
          <p:cNvPr id="28" name="blocco Sintesi per sezioni: si vede se una manca"/>
          <p:cNvSpPr/>
          <p:nvPr/>
        </p:nvSpPr>
        <p:spPr>
          <a:xfrm>
            <a:off x="457200" y="3200400"/>
            <a:ext cx="2651760" cy="594360"/>
          </a:xfrm>
          <a:prstGeom prst="roundRect">
            <a:avLst>
              <a:gd name="adj" fmla="val 18462"/>
            </a:avLst>
          </a:prstGeom>
          <a:solidFill>
            <a:schemeClr val="accent6"/>
          </a:solidFill>
          <a:ln/>
        </p:spPr>
      </p:sp>
      <p:sp>
        <p:nvSpPr>
          <p:cNvPr id="29" name="Text 23"/>
          <p:cNvSpPr txBox="1"/>
          <p:nvPr/>
        </p:nvSpPr>
        <p:spPr>
          <a:xfrm>
            <a:off x="502920" y="3200400"/>
            <a:ext cx="2560320" cy="594360"/>
          </a:xfrm>
          <a:prstGeom prst="rect">
            <a:avLst/>
          </a:prstGeom>
          <a:noFill/>
          <a:ln/>
        </p:spPr>
        <p:txBody>
          <a:bodyPr wrap="square" lIns="0" tIns="0" rIns="0" bIns="0" rtlCol="0" anchor="ctr"/>
          <a:lstStyle/>
          <a:p>
            <a:pPr algn="ctr" indent="0" marL="0">
              <a:buNone/>
            </a:pPr>
            <a:r>
              <a:rPr lang="en-US" sz="1100" b="1" dirty="0">
                <a:solidFill>
                  <a:schemeClr val="tx1"/>
                </a:solidFill>
              </a:rPr>
              <a:t>Sintesi per sezioni: si vede se una manca</a:t>
            </a:r>
            <a:endParaRPr lang="en-US" sz="1100" dirty="0"/>
          </a:p>
        </p:txBody>
      </p:sp>
      <p:sp>
        <p:nvSpPr>
          <p:cNvPr id="30" name="blocco Domande mirate sulle parti centrali"/>
          <p:cNvSpPr/>
          <p:nvPr/>
        </p:nvSpPr>
        <p:spPr>
          <a:xfrm>
            <a:off x="3246120" y="3200400"/>
            <a:ext cx="2651760" cy="594360"/>
          </a:xfrm>
          <a:prstGeom prst="roundRect">
            <a:avLst>
              <a:gd name="adj" fmla="val 18462"/>
            </a:avLst>
          </a:prstGeom>
          <a:solidFill>
            <a:schemeClr val="accent6"/>
          </a:solidFill>
          <a:ln/>
        </p:spPr>
      </p:sp>
      <p:sp>
        <p:nvSpPr>
          <p:cNvPr id="31" name="Text 25"/>
          <p:cNvSpPr txBox="1"/>
          <p:nvPr/>
        </p:nvSpPr>
        <p:spPr>
          <a:xfrm>
            <a:off x="3291840" y="3200400"/>
            <a:ext cx="2560320" cy="594360"/>
          </a:xfrm>
          <a:prstGeom prst="rect">
            <a:avLst/>
          </a:prstGeom>
          <a:noFill/>
          <a:ln/>
        </p:spPr>
        <p:txBody>
          <a:bodyPr wrap="square" lIns="0" tIns="0" rIns="0" bIns="0" rtlCol="0" anchor="ctr"/>
          <a:lstStyle/>
          <a:p>
            <a:pPr algn="ctr" indent="0" marL="0">
              <a:buNone/>
            </a:pPr>
            <a:r>
              <a:rPr lang="en-US" sz="1100" b="1" dirty="0">
                <a:solidFill>
                  <a:schemeClr val="tx1"/>
                </a:solidFill>
              </a:rPr>
              <a:t>Domande mirate sulle parti centrali</a:t>
            </a:r>
            <a:endParaRPr lang="en-US" sz="1100" dirty="0"/>
          </a:p>
        </p:txBody>
      </p:sp>
      <p:sp>
        <p:nvSpPr>
          <p:cNvPr id="32" name="blocco Elaborare per parti, poi ricomporre"/>
          <p:cNvSpPr/>
          <p:nvPr/>
        </p:nvSpPr>
        <p:spPr>
          <a:xfrm>
            <a:off x="6035040" y="3200400"/>
            <a:ext cx="2651760" cy="594360"/>
          </a:xfrm>
          <a:prstGeom prst="roundRect">
            <a:avLst>
              <a:gd name="adj" fmla="val 18462"/>
            </a:avLst>
          </a:prstGeom>
          <a:solidFill>
            <a:schemeClr val="accent6"/>
          </a:solidFill>
          <a:ln/>
        </p:spPr>
      </p:sp>
      <p:sp>
        <p:nvSpPr>
          <p:cNvPr id="33" name="Text 27"/>
          <p:cNvSpPr txBox="1"/>
          <p:nvPr/>
        </p:nvSpPr>
        <p:spPr>
          <a:xfrm>
            <a:off x="6080760" y="3200400"/>
            <a:ext cx="2560320" cy="594360"/>
          </a:xfrm>
          <a:prstGeom prst="rect">
            <a:avLst/>
          </a:prstGeom>
          <a:noFill/>
          <a:ln/>
        </p:spPr>
        <p:txBody>
          <a:bodyPr wrap="square" lIns="0" tIns="0" rIns="0" bIns="0" rtlCol="0" anchor="ctr"/>
          <a:lstStyle/>
          <a:p>
            <a:pPr algn="ctr" indent="0" marL="0">
              <a:buNone/>
            </a:pPr>
            <a:r>
              <a:rPr lang="en-US" sz="1100" b="1" dirty="0">
                <a:solidFill>
                  <a:schemeClr val="tx1"/>
                </a:solidFill>
              </a:rPr>
              <a:t>Elaborare per parti, poi ricomporre</a:t>
            </a:r>
            <a:endParaRPr lang="en-US" sz="1100" dirty="0"/>
          </a:p>
        </p:txBody>
      </p:sp>
      <p:sp>
        <p:nvSpPr>
          <p:cNvPr id="34" name="Text 28"/>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200" i="1" dirty="0">
                <a:solidFill>
                  <a:schemeClr val="tx2"/>
                </a:solidFill>
              </a:rPr>
              <a:t>I modelli più recenti hanno migliorato questi aspetti, ma non li hanno eliminati.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Linguaggio tecnico e riferimenti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Linguaggio specialistico"/>
          <p:cNvSpPr/>
          <p:nvPr/>
        </p:nvSpPr>
        <p:spPr>
          <a:xfrm>
            <a:off x="457200" y="1097280"/>
            <a:ext cx="3977640" cy="2194560"/>
          </a:xfrm>
          <a:prstGeom prst="roundRect">
            <a:avLst>
              <a:gd name="adj" fmla="val 3333"/>
            </a:avLst>
          </a:prstGeom>
          <a:solidFill>
            <a:schemeClr val="bg2"/>
          </a:solidFill>
          <a:ln/>
        </p:spPr>
      </p:sp>
      <p:sp>
        <p:nvSpPr>
          <p:cNvPr id="13" name="cerchio FiCpu"/>
          <p:cNvSpPr/>
          <p:nvPr/>
        </p:nvSpPr>
        <p:spPr>
          <a:xfrm>
            <a:off x="640080" y="1280160"/>
            <a:ext cx="457200" cy="457200"/>
          </a:xfrm>
          <a:prstGeom prst="ellipse">
            <a:avLst/>
          </a:prstGeom>
          <a:solidFill>
            <a:schemeClr val="accent1"/>
          </a:solidFill>
          <a:ln/>
        </p:spPr>
      </p:sp>
      <p:pic>
        <p:nvPicPr>
          <p:cNvPr id="14" name="Image 0" descr="FiCpu">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Linguaggio specialistico</a:t>
            </a:r>
            <a:endParaRPr lang="en-US" sz="16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Termini con significato tecnico preciso</a:t>
            </a:r>
            <a:endParaRPr lang="en-US" sz="1200" dirty="0"/>
          </a:p>
          <a:p>
            <a:pPr marL="177800" indent="-177800">
              <a:spcAft>
                <a:spcPts val="400"/>
              </a:spcAft>
              <a:buSzPct val="100000"/>
              <a:buChar char="•"/>
            </a:pPr>
            <a:r>
              <a:rPr lang="en-US" sz="1200" dirty="0">
                <a:solidFill>
                  <a:schemeClr val="tx2"/>
                </a:solidFill>
              </a:rPr>
              <a:t>'Risoluzione', 'tolleranza', 'competenza'</a:t>
            </a:r>
            <a:endParaRPr lang="en-US" sz="1200" dirty="0"/>
          </a:p>
          <a:p>
            <a:pPr marL="177800" indent="-177800">
              <a:spcAft>
                <a:spcPts val="400"/>
              </a:spcAft>
              <a:buSzPct val="100000"/>
              <a:buChar char="•"/>
            </a:pPr>
            <a:r>
              <a:rPr lang="en-US" sz="1200" dirty="0">
                <a:solidFill>
                  <a:schemeClr val="tx2"/>
                </a:solidFill>
              </a:rPr>
              <a:t>Sigle, codici e gergo aziendale</a:t>
            </a:r>
            <a:endParaRPr lang="en-US" sz="1200" dirty="0"/>
          </a:p>
          <a:p>
            <a:pPr marL="177800" indent="-177800">
              <a:spcAft>
                <a:spcPts val="400"/>
              </a:spcAft>
              <a:buSzPct val="100000"/>
              <a:buChar char="•"/>
            </a:pPr>
            <a:r>
              <a:rPr lang="en-US" sz="1200" dirty="0">
                <a:solidFill>
                  <a:schemeClr val="tx2"/>
                </a:solidFill>
              </a:rPr>
              <a:t>Sintesi scorrevole e sbagliata</a:t>
            </a:r>
            <a:endParaRPr lang="en-US" sz="1200" dirty="0"/>
          </a:p>
        </p:txBody>
      </p:sp>
      <p:sp>
        <p:nvSpPr>
          <p:cNvPr id="17" name="scheda Riferimenti puntuali"/>
          <p:cNvSpPr/>
          <p:nvPr/>
        </p:nvSpPr>
        <p:spPr>
          <a:xfrm>
            <a:off x="4709160" y="1097280"/>
            <a:ext cx="3977640" cy="2194560"/>
          </a:xfrm>
          <a:prstGeom prst="roundRect">
            <a:avLst>
              <a:gd name="adj" fmla="val 3333"/>
            </a:avLst>
          </a:prstGeom>
          <a:solidFill>
            <a:schemeClr val="accent6"/>
          </a:solidFill>
          <a:ln/>
        </p:spPr>
      </p:sp>
      <p:sp>
        <p:nvSpPr>
          <p:cNvPr id="18" name="cerchio FiBookmark"/>
          <p:cNvSpPr/>
          <p:nvPr/>
        </p:nvSpPr>
        <p:spPr>
          <a:xfrm>
            <a:off x="4892040" y="1280160"/>
            <a:ext cx="457200" cy="457200"/>
          </a:xfrm>
          <a:prstGeom prst="ellipse">
            <a:avLst/>
          </a:prstGeom>
          <a:solidFill>
            <a:schemeClr val="accent1"/>
          </a:solidFill>
          <a:ln/>
        </p:spPr>
      </p:sp>
      <p:pic>
        <p:nvPicPr>
          <p:cNvPr id="19" name="Image 1" descr="FiBookmark">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Riferimenti puntuali</a:t>
            </a:r>
            <a:endParaRPr lang="en-US" sz="16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Articoli, pagine, sezioni imprecisi</a:t>
            </a:r>
            <a:endParaRPr lang="en-US" sz="1200" dirty="0"/>
          </a:p>
          <a:p>
            <a:pPr marL="177800" indent="-177800">
              <a:spcAft>
                <a:spcPts val="400"/>
              </a:spcAft>
              <a:buSzPct val="100000"/>
              <a:buChar char="•"/>
            </a:pPr>
            <a:r>
              <a:rPr lang="en-US" sz="1200" dirty="0">
                <a:solidFill>
                  <a:schemeClr val="tx2"/>
                </a:solidFill>
              </a:rPr>
              <a:t>Dipende da strumento e formato</a:t>
            </a:r>
            <a:endParaRPr lang="en-US" sz="1200" dirty="0"/>
          </a:p>
          <a:p>
            <a:pPr marL="177800" indent="-177800">
              <a:spcAft>
                <a:spcPts val="400"/>
              </a:spcAft>
              <a:buSzPct val="100000"/>
              <a:buChar char="•"/>
            </a:pPr>
            <a:r>
              <a:rPr lang="en-US" sz="1200" dirty="0">
                <a:solidFill>
                  <a:schemeClr val="tx2"/>
                </a:solidFill>
              </a:rPr>
              <a:t>Pagine del documento e del file diverse</a:t>
            </a:r>
            <a:endParaRPr lang="en-US" sz="1200" dirty="0"/>
          </a:p>
        </p:txBody>
      </p:sp>
      <p:sp>
        <p:nvSpPr>
          <p:cNvPr id="22" name="messaggio"/>
          <p:cNvSpPr/>
          <p:nvPr/>
        </p:nvSpPr>
        <p:spPr>
          <a:xfrm>
            <a:off x="457200" y="3474720"/>
            <a:ext cx="8229600" cy="822960"/>
          </a:xfrm>
          <a:prstGeom prst="roundRect">
            <a:avLst>
              <a:gd name="adj" fmla="val 8889"/>
            </a:avLst>
          </a:prstGeom>
          <a:solidFill>
            <a:schemeClr val="tx1"/>
          </a:solidFill>
          <a:ln/>
        </p:spPr>
      </p:sp>
      <p:sp>
        <p:nvSpPr>
          <p:cNvPr id="23" name="Text 18"/>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300" dirty="0">
                <a:solidFill>
                  <a:schemeClr val="bg1"/>
                </a:solidFill>
              </a:rPr>
              <a:t>Sui documenti specialistici, la revisione esperta resta indispensabile. Per i riferimenti importanti, aprire il documento nel punto indicato.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Omissioni e alterazioni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Omissioni"/>
          <p:cNvSpPr/>
          <p:nvPr/>
        </p:nvSpPr>
        <p:spPr>
          <a:xfrm>
            <a:off x="457200" y="1051560"/>
            <a:ext cx="2615184" cy="2194560"/>
          </a:xfrm>
          <a:prstGeom prst="roundRect">
            <a:avLst>
              <a:gd name="adj" fmla="val 3333"/>
            </a:avLst>
          </a:prstGeom>
          <a:solidFill>
            <a:schemeClr val="bg2"/>
          </a:solidFill>
          <a:ln/>
        </p:spPr>
      </p:sp>
      <p:sp>
        <p:nvSpPr>
          <p:cNvPr id="13" name="cerchio FiMinusCircle"/>
          <p:cNvSpPr/>
          <p:nvPr/>
        </p:nvSpPr>
        <p:spPr>
          <a:xfrm>
            <a:off x="640080" y="1188720"/>
            <a:ext cx="548640" cy="548640"/>
          </a:xfrm>
          <a:prstGeom prst="ellipse">
            <a:avLst/>
          </a:prstGeom>
          <a:solidFill>
            <a:schemeClr val="accent5"/>
          </a:solidFill>
          <a:ln/>
        </p:spPr>
      </p:sp>
      <p:pic>
        <p:nvPicPr>
          <p:cNvPr id="14" name="Image 0" descr="FiMinusCircle">    </p:cNvPr>
          <p:cNvPicPr>
            <a:picLocks noChangeAspect="1"/>
          </p:cNvPicPr>
          <p:nvPr/>
        </p:nvPicPr>
        <p:blipFill>
          <a:blip r:embed="rId1"/>
          <a:stretch>
            <a:fillRect/>
          </a:stretch>
        </p:blipFill>
        <p:spPr>
          <a:xfrm>
            <a:off x="777240" y="1325880"/>
            <a:ext cx="274320" cy="274320"/>
          </a:xfrm>
          <a:prstGeom prst="rect">
            <a:avLst/>
          </a:prstGeom>
        </p:spPr>
      </p:pic>
      <p:sp>
        <p:nvSpPr>
          <p:cNvPr id="15" name="Text 11"/>
          <p:cNvSpPr txBox="1"/>
          <p:nvPr/>
        </p:nvSpPr>
        <p:spPr>
          <a:xfrm>
            <a:off x="1325880" y="1234440"/>
            <a:ext cx="1645920" cy="457200"/>
          </a:xfrm>
          <a:prstGeom prst="rect">
            <a:avLst/>
          </a:prstGeom>
          <a:noFill/>
          <a:ln/>
        </p:spPr>
        <p:txBody>
          <a:bodyPr wrap="square" lIns="0" tIns="0" rIns="0" bIns="0" rtlCol="0" anchor="ctr"/>
          <a:lstStyle/>
          <a:p>
            <a:pPr indent="0" marL="0">
              <a:buNone/>
            </a:pPr>
            <a:r>
              <a:rPr lang="en-US" sz="1700" b="1" dirty="0">
                <a:solidFill>
                  <a:schemeClr val="tx1"/>
                </a:solidFill>
              </a:rPr>
              <a:t>Omissioni</a:t>
            </a:r>
            <a:endParaRPr lang="en-US" sz="1700" dirty="0"/>
          </a:p>
        </p:txBody>
      </p:sp>
      <p:sp>
        <p:nvSpPr>
          <p:cNvPr id="16" name="Text 12"/>
          <p:cNvSpPr txBox="1"/>
          <p:nvPr/>
        </p:nvSpPr>
        <p:spPr>
          <a:xfrm>
            <a:off x="640080" y="1874520"/>
            <a:ext cx="2249424" cy="502920"/>
          </a:xfrm>
          <a:prstGeom prst="rect">
            <a:avLst/>
          </a:prstGeom>
          <a:noFill/>
          <a:ln/>
        </p:spPr>
        <p:txBody>
          <a:bodyPr wrap="square" lIns="0" tIns="0" rIns="0" bIns="0" rtlCol="0" anchor="t"/>
          <a:lstStyle/>
          <a:p>
            <a:pPr indent="0" marL="0">
              <a:buNone/>
            </a:pPr>
            <a:r>
              <a:rPr lang="en-US" sz="1200" b="1" dirty="0">
                <a:solidFill>
                  <a:schemeClr val="accent1"/>
                </a:solidFill>
              </a:rPr>
              <a:t>Nel documento, non nel risultato</a:t>
            </a:r>
            <a:endParaRPr lang="en-US" sz="1200" dirty="0"/>
          </a:p>
        </p:txBody>
      </p:sp>
      <p:sp>
        <p:nvSpPr>
          <p:cNvPr id="17" name="Text 13"/>
          <p:cNvSpPr txBox="1"/>
          <p:nvPr/>
        </p:nvSpPr>
        <p:spPr>
          <a:xfrm>
            <a:off x="640080" y="2395728"/>
            <a:ext cx="2249424" cy="777240"/>
          </a:xfrm>
          <a:prstGeom prst="rect">
            <a:avLst/>
          </a:prstGeom>
          <a:noFill/>
          <a:ln/>
        </p:spPr>
        <p:txBody>
          <a:bodyPr wrap="square" lIns="0" tIns="0" rIns="0" bIns="0" rtlCol="0" anchor="t"/>
          <a:lstStyle/>
          <a:p>
            <a:pPr indent="0" marL="0">
              <a:buNone/>
            </a:pPr>
            <a:r>
              <a:rPr lang="en-US" sz="1200" dirty="0">
                <a:solidFill>
                  <a:schemeClr val="tx2"/>
                </a:solidFill>
              </a:rPr>
              <a:t>Condizioni, eccezioni, rischi, sezioni</a:t>
            </a:r>
            <a:endParaRPr lang="en-US" sz="1200" dirty="0"/>
          </a:p>
        </p:txBody>
      </p:sp>
      <p:sp>
        <p:nvSpPr>
          <p:cNvPr id="18" name="Alterazioni"/>
          <p:cNvSpPr/>
          <p:nvPr/>
        </p:nvSpPr>
        <p:spPr>
          <a:xfrm>
            <a:off x="3264408" y="1051560"/>
            <a:ext cx="2615184" cy="2194560"/>
          </a:xfrm>
          <a:prstGeom prst="roundRect">
            <a:avLst>
              <a:gd name="adj" fmla="val 3333"/>
            </a:avLst>
          </a:prstGeom>
          <a:solidFill>
            <a:schemeClr val="bg2"/>
          </a:solidFill>
          <a:ln/>
        </p:spPr>
      </p:sp>
      <p:sp>
        <p:nvSpPr>
          <p:cNvPr id="19" name="cerchio FiShuffle"/>
          <p:cNvSpPr/>
          <p:nvPr/>
        </p:nvSpPr>
        <p:spPr>
          <a:xfrm>
            <a:off x="3447288" y="1188720"/>
            <a:ext cx="548640" cy="548640"/>
          </a:xfrm>
          <a:prstGeom prst="ellipse">
            <a:avLst/>
          </a:prstGeom>
          <a:solidFill>
            <a:schemeClr val="accent5"/>
          </a:solidFill>
          <a:ln/>
        </p:spPr>
      </p:sp>
      <p:pic>
        <p:nvPicPr>
          <p:cNvPr id="20" name="Image 1" descr="FiShuffle">    </p:cNvPr>
          <p:cNvPicPr>
            <a:picLocks noChangeAspect="1"/>
          </p:cNvPicPr>
          <p:nvPr/>
        </p:nvPicPr>
        <p:blipFill>
          <a:blip r:embed="rId2"/>
          <a:stretch>
            <a:fillRect/>
          </a:stretch>
        </p:blipFill>
        <p:spPr>
          <a:xfrm>
            <a:off x="3584448" y="1325880"/>
            <a:ext cx="274320" cy="274320"/>
          </a:xfrm>
          <a:prstGeom prst="rect">
            <a:avLst/>
          </a:prstGeom>
        </p:spPr>
      </p:pic>
      <p:sp>
        <p:nvSpPr>
          <p:cNvPr id="21" name="Text 16"/>
          <p:cNvSpPr txBox="1"/>
          <p:nvPr/>
        </p:nvSpPr>
        <p:spPr>
          <a:xfrm>
            <a:off x="4133088" y="1234440"/>
            <a:ext cx="1645920" cy="457200"/>
          </a:xfrm>
          <a:prstGeom prst="rect">
            <a:avLst/>
          </a:prstGeom>
          <a:noFill/>
          <a:ln/>
        </p:spPr>
        <p:txBody>
          <a:bodyPr wrap="square" lIns="0" tIns="0" rIns="0" bIns="0" rtlCol="0" anchor="ctr"/>
          <a:lstStyle/>
          <a:p>
            <a:pPr indent="0" marL="0">
              <a:buNone/>
            </a:pPr>
            <a:r>
              <a:rPr lang="en-US" sz="1700" b="1" dirty="0">
                <a:solidFill>
                  <a:schemeClr val="tx1"/>
                </a:solidFill>
              </a:rPr>
              <a:t>Alterazioni</a:t>
            </a:r>
            <a:endParaRPr lang="en-US" sz="1700" dirty="0"/>
          </a:p>
        </p:txBody>
      </p:sp>
      <p:sp>
        <p:nvSpPr>
          <p:cNvPr id="22" name="Text 17"/>
          <p:cNvSpPr txBox="1"/>
          <p:nvPr/>
        </p:nvSpPr>
        <p:spPr>
          <a:xfrm>
            <a:off x="3447288" y="1874520"/>
            <a:ext cx="2249424" cy="502920"/>
          </a:xfrm>
          <a:prstGeom prst="rect">
            <a:avLst/>
          </a:prstGeom>
          <a:noFill/>
          <a:ln/>
        </p:spPr>
        <p:txBody>
          <a:bodyPr wrap="square" lIns="0" tIns="0" rIns="0" bIns="0" rtlCol="0" anchor="t"/>
          <a:lstStyle/>
          <a:p>
            <a:pPr indent="0" marL="0">
              <a:buNone/>
            </a:pPr>
            <a:r>
              <a:rPr lang="en-US" sz="1200" b="1" dirty="0">
                <a:solidFill>
                  <a:schemeClr val="accent1"/>
                </a:solidFill>
              </a:rPr>
              <a:t>In entrambi, con significato diverso</a:t>
            </a:r>
            <a:endParaRPr lang="en-US" sz="1200" dirty="0"/>
          </a:p>
        </p:txBody>
      </p:sp>
      <p:sp>
        <p:nvSpPr>
          <p:cNvPr id="23" name="Text 18"/>
          <p:cNvSpPr txBox="1"/>
          <p:nvPr/>
        </p:nvSpPr>
        <p:spPr>
          <a:xfrm>
            <a:off x="3447288" y="2395728"/>
            <a:ext cx="2249424" cy="777240"/>
          </a:xfrm>
          <a:prstGeom prst="rect">
            <a:avLst/>
          </a:prstGeom>
          <a:noFill/>
          <a:ln/>
        </p:spPr>
        <p:txBody>
          <a:bodyPr wrap="square" lIns="0" tIns="0" rIns="0" bIns="0" rtlCol="0" anchor="t"/>
          <a:lstStyle/>
          <a:p>
            <a:pPr indent="0" marL="0">
              <a:buNone/>
            </a:pPr>
            <a:r>
              <a:rPr lang="en-US" sz="1200" dirty="0">
                <a:solidFill>
                  <a:schemeClr val="tx2"/>
                </a:solidFill>
              </a:rPr>
              <a:t>Obblighi attenuati, incertezze diventate certezze</a:t>
            </a:r>
            <a:endParaRPr lang="en-US" sz="1200" dirty="0"/>
          </a:p>
        </p:txBody>
      </p:sp>
      <p:sp>
        <p:nvSpPr>
          <p:cNvPr id="24" name="Aggiunte"/>
          <p:cNvSpPr/>
          <p:nvPr/>
        </p:nvSpPr>
        <p:spPr>
          <a:xfrm>
            <a:off x="6071616" y="1051560"/>
            <a:ext cx="2615184" cy="2194560"/>
          </a:xfrm>
          <a:prstGeom prst="roundRect">
            <a:avLst>
              <a:gd name="adj" fmla="val 3333"/>
            </a:avLst>
          </a:prstGeom>
          <a:solidFill>
            <a:schemeClr val="bg2"/>
          </a:solidFill>
          <a:ln/>
        </p:spPr>
      </p:sp>
      <p:sp>
        <p:nvSpPr>
          <p:cNvPr id="25" name="cerchio FiPlusCircle"/>
          <p:cNvSpPr/>
          <p:nvPr/>
        </p:nvSpPr>
        <p:spPr>
          <a:xfrm>
            <a:off x="6254496" y="1188720"/>
            <a:ext cx="548640" cy="548640"/>
          </a:xfrm>
          <a:prstGeom prst="ellipse">
            <a:avLst/>
          </a:prstGeom>
          <a:solidFill>
            <a:schemeClr val="accent5"/>
          </a:solidFill>
          <a:ln/>
        </p:spPr>
      </p:sp>
      <p:pic>
        <p:nvPicPr>
          <p:cNvPr id="26" name="Image 2" descr="FiPlusCircle">    </p:cNvPr>
          <p:cNvPicPr>
            <a:picLocks noChangeAspect="1"/>
          </p:cNvPicPr>
          <p:nvPr/>
        </p:nvPicPr>
        <p:blipFill>
          <a:blip r:embed="rId3"/>
          <a:stretch>
            <a:fillRect/>
          </a:stretch>
        </p:blipFill>
        <p:spPr>
          <a:xfrm>
            <a:off x="6391656" y="1325880"/>
            <a:ext cx="274320" cy="274320"/>
          </a:xfrm>
          <a:prstGeom prst="rect">
            <a:avLst/>
          </a:prstGeom>
        </p:spPr>
      </p:pic>
      <p:sp>
        <p:nvSpPr>
          <p:cNvPr id="27" name="Text 21"/>
          <p:cNvSpPr txBox="1"/>
          <p:nvPr/>
        </p:nvSpPr>
        <p:spPr>
          <a:xfrm>
            <a:off x="6940296" y="1234440"/>
            <a:ext cx="1645920" cy="457200"/>
          </a:xfrm>
          <a:prstGeom prst="rect">
            <a:avLst/>
          </a:prstGeom>
          <a:noFill/>
          <a:ln/>
        </p:spPr>
        <p:txBody>
          <a:bodyPr wrap="square" lIns="0" tIns="0" rIns="0" bIns="0" rtlCol="0" anchor="ctr"/>
          <a:lstStyle/>
          <a:p>
            <a:pPr indent="0" marL="0">
              <a:buNone/>
            </a:pPr>
            <a:r>
              <a:rPr lang="en-US" sz="1700" b="1" dirty="0">
                <a:solidFill>
                  <a:schemeClr val="tx1"/>
                </a:solidFill>
              </a:rPr>
              <a:t>Aggiunte</a:t>
            </a:r>
            <a:endParaRPr lang="en-US" sz="1700" dirty="0"/>
          </a:p>
        </p:txBody>
      </p:sp>
      <p:sp>
        <p:nvSpPr>
          <p:cNvPr id="28" name="Text 22"/>
          <p:cNvSpPr txBox="1"/>
          <p:nvPr/>
        </p:nvSpPr>
        <p:spPr>
          <a:xfrm>
            <a:off x="6254496" y="1874520"/>
            <a:ext cx="2249424" cy="502920"/>
          </a:xfrm>
          <a:prstGeom prst="rect">
            <a:avLst/>
          </a:prstGeom>
          <a:noFill/>
          <a:ln/>
        </p:spPr>
        <p:txBody>
          <a:bodyPr wrap="square" lIns="0" tIns="0" rIns="0" bIns="0" rtlCol="0" anchor="t"/>
          <a:lstStyle/>
          <a:p>
            <a:pPr indent="0" marL="0">
              <a:buNone/>
            </a:pPr>
            <a:r>
              <a:rPr lang="en-US" sz="1200" b="1" dirty="0">
                <a:solidFill>
                  <a:schemeClr val="accent1"/>
                </a:solidFill>
              </a:rPr>
              <a:t>Nel risultato, non nel documento</a:t>
            </a:r>
            <a:endParaRPr lang="en-US" sz="1200" dirty="0"/>
          </a:p>
        </p:txBody>
      </p:sp>
      <p:sp>
        <p:nvSpPr>
          <p:cNvPr id="29" name="Text 23"/>
          <p:cNvSpPr txBox="1"/>
          <p:nvPr/>
        </p:nvSpPr>
        <p:spPr>
          <a:xfrm>
            <a:off x="6254496" y="2395728"/>
            <a:ext cx="2249424" cy="777240"/>
          </a:xfrm>
          <a:prstGeom prst="rect">
            <a:avLst/>
          </a:prstGeom>
          <a:noFill/>
          <a:ln/>
        </p:spPr>
        <p:txBody>
          <a:bodyPr wrap="square" lIns="0" tIns="0" rIns="0" bIns="0" rtlCol="0" anchor="t"/>
          <a:lstStyle/>
          <a:p>
            <a:pPr indent="0" marL="0">
              <a:buNone/>
            </a:pPr>
            <a:r>
              <a:rPr lang="en-US" sz="1200" dirty="0">
                <a:solidFill>
                  <a:schemeClr val="tx2"/>
                </a:solidFill>
              </a:rPr>
              <a:t>Elementi dedotti o inventati</a:t>
            </a:r>
            <a:endParaRPr lang="en-US" sz="1200" dirty="0"/>
          </a:p>
        </p:txBody>
      </p:sp>
      <p:sp>
        <p:nvSpPr>
          <p:cNvPr id="30" name="messaggio"/>
          <p:cNvSpPr/>
          <p:nvPr/>
        </p:nvSpPr>
        <p:spPr>
          <a:xfrm>
            <a:off x="457200" y="3429000"/>
            <a:ext cx="8229600" cy="822960"/>
          </a:xfrm>
          <a:prstGeom prst="roundRect">
            <a:avLst>
              <a:gd name="adj" fmla="val 8889"/>
            </a:avLst>
          </a:prstGeom>
          <a:solidFill>
            <a:schemeClr val="tx1"/>
          </a:solidFill>
          <a:ln/>
        </p:spPr>
      </p:sp>
      <p:sp>
        <p:nvSpPr>
          <p:cNvPr id="31" name="Text 25"/>
          <p:cNvSpPr txBox="1"/>
          <p:nvPr/>
        </p:nvSpPr>
        <p:spPr>
          <a:xfrm>
            <a:off x="640080" y="3429000"/>
            <a:ext cx="7863840" cy="822960"/>
          </a:xfrm>
          <a:prstGeom prst="rect">
            <a:avLst/>
          </a:prstGeom>
          <a:noFill/>
          <a:ln/>
        </p:spPr>
        <p:txBody>
          <a:bodyPr wrap="square" lIns="0" tIns="0" rIns="0" bIns="0" rtlCol="0" anchor="ctr"/>
          <a:lstStyle/>
          <a:p>
            <a:pPr indent="0" marL="0">
              <a:buNone/>
            </a:pPr>
            <a:r>
              <a:rPr lang="en-US" sz="1300" dirty="0">
                <a:solidFill>
                  <a:schemeClr val="bg1"/>
                </a:solidFill>
              </a:rPr>
              <a:t>Difficili da vedere guardando solo il risultato. La tracciabilità non è un dettaglio tecnico: è la condizione che rende possibile il controllo.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Controlli proporzionati all'uso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Per orientarsi"/>
          <p:cNvSpPr/>
          <p:nvPr/>
        </p:nvSpPr>
        <p:spPr>
          <a:xfrm>
            <a:off x="457200" y="1051560"/>
            <a:ext cx="8229600" cy="731520"/>
          </a:xfrm>
          <a:prstGeom prst="roundRect">
            <a:avLst>
              <a:gd name="adj" fmla="val 10000"/>
            </a:avLst>
          </a:prstGeom>
          <a:solidFill>
            <a:schemeClr val="bg2"/>
          </a:solidFill>
          <a:ln/>
        </p:spPr>
      </p:sp>
      <p:sp>
        <p:nvSpPr>
          <p:cNvPr id="13" name="Text 10"/>
          <p:cNvSpPr txBox="1"/>
          <p:nvPr/>
        </p:nvSpPr>
        <p:spPr>
          <a:xfrm>
            <a:off x="640080" y="105156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Per orientarsi</a:t>
            </a:r>
            <a:endParaRPr lang="en-US" sz="1400" dirty="0"/>
          </a:p>
        </p:txBody>
      </p:sp>
      <p:sp>
        <p:nvSpPr>
          <p:cNvPr id="14" name="Text 11"/>
          <p:cNvSpPr txBox="1"/>
          <p:nvPr/>
        </p:nvSpPr>
        <p:spPr>
          <a:xfrm>
            <a:off x="2743200" y="1051560"/>
            <a:ext cx="2651760" cy="731520"/>
          </a:xfrm>
          <a:prstGeom prst="rect">
            <a:avLst/>
          </a:prstGeom>
          <a:noFill/>
          <a:ln/>
        </p:spPr>
        <p:txBody>
          <a:bodyPr wrap="square" lIns="0" tIns="0" rIns="0" bIns="0" rtlCol="0" anchor="ctr"/>
          <a:lstStyle/>
          <a:p>
            <a:pPr indent="0" marL="0">
              <a:buNone/>
            </a:pPr>
            <a:r>
              <a:rPr lang="en-US" sz="1200" dirty="0">
                <a:solidFill>
                  <a:schemeClr val="tx1"/>
                </a:solidFill>
              </a:rPr>
              <a:t>Capire di che cosa parla, decidere se leggerlo</a:t>
            </a:r>
            <a:endParaRPr lang="en-US" sz="1200" dirty="0"/>
          </a:p>
        </p:txBody>
      </p:sp>
      <p:sp>
        <p:nvSpPr>
          <p:cNvPr id="15" name="Text 12"/>
          <p:cNvSpPr txBox="1"/>
          <p:nvPr/>
        </p:nvSpPr>
        <p:spPr>
          <a:xfrm>
            <a:off x="5486400" y="105156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Lettura critica del risultato</a:t>
            </a:r>
            <a:endParaRPr lang="en-US" sz="1200" dirty="0"/>
          </a:p>
        </p:txBody>
      </p:sp>
      <p:sp>
        <p:nvSpPr>
          <p:cNvPr id="16" name="Per lavorare"/>
          <p:cNvSpPr/>
          <p:nvPr/>
        </p:nvSpPr>
        <p:spPr>
          <a:xfrm>
            <a:off x="457200" y="1874520"/>
            <a:ext cx="8229600" cy="731520"/>
          </a:xfrm>
          <a:prstGeom prst="roundRect">
            <a:avLst>
              <a:gd name="adj" fmla="val 10000"/>
            </a:avLst>
          </a:prstGeom>
          <a:solidFill>
            <a:schemeClr val="accent6"/>
          </a:solidFill>
          <a:ln/>
        </p:spPr>
      </p:sp>
      <p:sp>
        <p:nvSpPr>
          <p:cNvPr id="17" name="Text 14"/>
          <p:cNvSpPr txBox="1"/>
          <p:nvPr/>
        </p:nvSpPr>
        <p:spPr>
          <a:xfrm>
            <a:off x="640080" y="187452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Per lavorare</a:t>
            </a:r>
            <a:endParaRPr lang="en-US" sz="1400" dirty="0"/>
          </a:p>
        </p:txBody>
      </p:sp>
      <p:sp>
        <p:nvSpPr>
          <p:cNvPr id="18" name="Text 15"/>
          <p:cNvSpPr txBox="1"/>
          <p:nvPr/>
        </p:nvSpPr>
        <p:spPr>
          <a:xfrm>
            <a:off x="2743200" y="1874520"/>
            <a:ext cx="2651760" cy="731520"/>
          </a:xfrm>
          <a:prstGeom prst="rect">
            <a:avLst/>
          </a:prstGeom>
          <a:noFill/>
          <a:ln/>
        </p:spPr>
        <p:txBody>
          <a:bodyPr wrap="square" lIns="0" tIns="0" rIns="0" bIns="0" rtlCol="0" anchor="ctr"/>
          <a:lstStyle/>
          <a:p>
            <a:pPr indent="0" marL="0">
              <a:buNone/>
            </a:pPr>
            <a:r>
              <a:rPr lang="en-US" sz="1200" dirty="0">
                <a:solidFill>
                  <a:schemeClr val="tx1"/>
                </a:solidFill>
              </a:rPr>
              <a:t>Bozze, analisi preliminari, tabelle di lavoro</a:t>
            </a:r>
            <a:endParaRPr lang="en-US" sz="1200" dirty="0"/>
          </a:p>
        </p:txBody>
      </p:sp>
      <p:sp>
        <p:nvSpPr>
          <p:cNvPr id="19" name="Text 16"/>
          <p:cNvSpPr txBox="1"/>
          <p:nvPr/>
        </p:nvSpPr>
        <p:spPr>
          <a:xfrm>
            <a:off x="5486400" y="187452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Controllo a campione e sui punti critici, con i riferimenti</a:t>
            </a:r>
            <a:endParaRPr lang="en-US" sz="1200" dirty="0"/>
          </a:p>
        </p:txBody>
      </p:sp>
      <p:sp>
        <p:nvSpPr>
          <p:cNvPr id="20" name="Per decidere o comunicare"/>
          <p:cNvSpPr/>
          <p:nvPr/>
        </p:nvSpPr>
        <p:spPr>
          <a:xfrm>
            <a:off x="457200" y="2697480"/>
            <a:ext cx="8229600" cy="731520"/>
          </a:xfrm>
          <a:prstGeom prst="roundRect">
            <a:avLst>
              <a:gd name="adj" fmla="val 10000"/>
            </a:avLst>
          </a:prstGeom>
          <a:solidFill>
            <a:schemeClr val="accent1"/>
          </a:solidFill>
          <a:ln/>
        </p:spPr>
      </p:sp>
      <p:sp>
        <p:nvSpPr>
          <p:cNvPr id="21" name="Text 18"/>
          <p:cNvSpPr txBox="1"/>
          <p:nvPr/>
        </p:nvSpPr>
        <p:spPr>
          <a:xfrm>
            <a:off x="640080" y="2697480"/>
            <a:ext cx="2103120" cy="731520"/>
          </a:xfrm>
          <a:prstGeom prst="rect">
            <a:avLst/>
          </a:prstGeom>
          <a:noFill/>
          <a:ln/>
        </p:spPr>
        <p:txBody>
          <a:bodyPr wrap="square" lIns="0" tIns="0" rIns="0" bIns="0" rtlCol="0" anchor="ctr"/>
          <a:lstStyle/>
          <a:p>
            <a:pPr indent="0" marL="0">
              <a:buNone/>
            </a:pPr>
            <a:r>
              <a:rPr lang="en-US" sz="1400" b="1" dirty="0">
                <a:solidFill>
                  <a:schemeClr val="bg1"/>
                </a:solidFill>
              </a:rPr>
              <a:t>Per decidere o comunicare</a:t>
            </a:r>
            <a:endParaRPr lang="en-US" sz="1400" dirty="0"/>
          </a:p>
        </p:txBody>
      </p:sp>
      <p:sp>
        <p:nvSpPr>
          <p:cNvPr id="22" name="Text 19"/>
          <p:cNvSpPr txBox="1"/>
          <p:nvPr/>
        </p:nvSpPr>
        <p:spPr>
          <a:xfrm>
            <a:off x="2743200" y="2697480"/>
            <a:ext cx="2651760" cy="731520"/>
          </a:xfrm>
          <a:prstGeom prst="rect">
            <a:avLst/>
          </a:prstGeom>
          <a:noFill/>
          <a:ln/>
        </p:spPr>
        <p:txBody>
          <a:bodyPr wrap="square" lIns="0" tIns="0" rIns="0" bIns="0" rtlCol="0" anchor="ctr"/>
          <a:lstStyle/>
          <a:p>
            <a:pPr indent="0" marL="0">
              <a:buNone/>
            </a:pPr>
            <a:r>
              <a:rPr lang="en-US" sz="1200" dirty="0">
                <a:solidFill>
                  <a:schemeClr val="bg1"/>
                </a:solidFill>
              </a:rPr>
              <a:t>Sostituisce l'originale, arriva all'esterno</a:t>
            </a:r>
            <a:endParaRPr lang="en-US" sz="1200" dirty="0"/>
          </a:p>
        </p:txBody>
      </p:sp>
      <p:sp>
        <p:nvSpPr>
          <p:cNvPr id="23" name="Text 20"/>
          <p:cNvSpPr txBox="1"/>
          <p:nvPr/>
        </p:nvSpPr>
        <p:spPr>
          <a:xfrm>
            <a:off x="5486400" y="2697480"/>
            <a:ext cx="3063240" cy="731520"/>
          </a:xfrm>
          <a:prstGeom prst="rect">
            <a:avLst/>
          </a:prstGeom>
          <a:noFill/>
          <a:ln/>
        </p:spPr>
        <p:txBody>
          <a:bodyPr wrap="square" lIns="0" tIns="0" rIns="0" bIns="0" rtlCol="0" anchor="ctr"/>
          <a:lstStyle/>
          <a:p>
            <a:pPr indent="0" marL="0">
              <a:buNone/>
            </a:pPr>
            <a:r>
              <a:rPr lang="en-US" sz="1200" b="1" dirty="0">
                <a:solidFill>
                  <a:schemeClr val="bg1"/>
                </a:solidFill>
              </a:rPr>
              <a:t>Controllo sistematico, confronto con l'originale, esperto se serve</a:t>
            </a:r>
            <a:endParaRPr lang="en-US" sz="1200" dirty="0"/>
          </a:p>
        </p:txBody>
      </p:sp>
      <p:sp>
        <p:nvSpPr>
          <p:cNvPr id="24" name="Text 21"/>
          <p:cNvSpPr txBox="1"/>
          <p:nvPr/>
        </p:nvSpPr>
        <p:spPr>
          <a:xfrm>
            <a:off x="457200" y="3611880"/>
            <a:ext cx="2103120" cy="502920"/>
          </a:xfrm>
          <a:prstGeom prst="rect">
            <a:avLst/>
          </a:prstGeom>
          <a:noFill/>
          <a:ln/>
        </p:spPr>
        <p:txBody>
          <a:bodyPr wrap="square" lIns="0" tIns="0" rIns="0" bIns="0" rtlCol="0" anchor="ctr"/>
          <a:lstStyle/>
          <a:p>
            <a:pPr indent="0" marL="0">
              <a:buNone/>
            </a:pPr>
            <a:r>
              <a:rPr lang="en-US" sz="1300" b="1" dirty="0">
                <a:solidFill>
                  <a:schemeClr val="accent5"/>
                </a:solidFill>
              </a:rPr>
              <a:t>Alzano il livello</a:t>
            </a:r>
            <a:endParaRPr lang="en-US" sz="1300" dirty="0"/>
          </a:p>
        </p:txBody>
      </p:sp>
      <p:sp>
        <p:nvSpPr>
          <p:cNvPr id="25" name="blocco Scansioni, documenti lunghi o complessi"/>
          <p:cNvSpPr/>
          <p:nvPr/>
        </p:nvSpPr>
        <p:spPr>
          <a:xfrm>
            <a:off x="2560320" y="3611880"/>
            <a:ext cx="2971800" cy="502920"/>
          </a:xfrm>
          <a:prstGeom prst="roundRect">
            <a:avLst>
              <a:gd name="adj" fmla="val 21818"/>
            </a:avLst>
          </a:prstGeom>
          <a:solidFill>
            <a:schemeClr val="bg2"/>
          </a:solidFill>
          <a:ln/>
        </p:spPr>
      </p:sp>
      <p:sp>
        <p:nvSpPr>
          <p:cNvPr id="26" name="Text 23"/>
          <p:cNvSpPr txBox="1"/>
          <p:nvPr/>
        </p:nvSpPr>
        <p:spPr>
          <a:xfrm>
            <a:off x="2606040" y="3611880"/>
            <a:ext cx="2880360" cy="502920"/>
          </a:xfrm>
          <a:prstGeom prst="rect">
            <a:avLst/>
          </a:prstGeom>
          <a:noFill/>
          <a:ln/>
        </p:spPr>
        <p:txBody>
          <a:bodyPr wrap="square" lIns="0" tIns="0" rIns="0" bIns="0" rtlCol="0" anchor="ctr"/>
          <a:lstStyle/>
          <a:p>
            <a:pPr algn="ctr" indent="0" marL="0">
              <a:buNone/>
            </a:pPr>
            <a:r>
              <a:rPr lang="en-US" sz="1100" b="1" dirty="0">
                <a:solidFill>
                  <a:schemeClr val="tx1"/>
                </a:solidFill>
              </a:rPr>
              <a:t>Scansioni, documenti lunghi o complessi</a:t>
            </a:r>
            <a:endParaRPr lang="en-US" sz="1100" dirty="0"/>
          </a:p>
        </p:txBody>
      </p:sp>
      <p:sp>
        <p:nvSpPr>
          <p:cNvPr id="27" name="blocco Contenuti specialistici o con valore legale"/>
          <p:cNvSpPr/>
          <p:nvPr/>
        </p:nvSpPr>
        <p:spPr>
          <a:xfrm>
            <a:off x="5669280" y="3611880"/>
            <a:ext cx="3017520" cy="502920"/>
          </a:xfrm>
          <a:prstGeom prst="roundRect">
            <a:avLst>
              <a:gd name="adj" fmla="val 21818"/>
            </a:avLst>
          </a:prstGeom>
          <a:solidFill>
            <a:schemeClr val="bg2"/>
          </a:solidFill>
          <a:ln/>
        </p:spPr>
      </p:sp>
      <p:sp>
        <p:nvSpPr>
          <p:cNvPr id="28" name="Text 25"/>
          <p:cNvSpPr txBox="1"/>
          <p:nvPr/>
        </p:nvSpPr>
        <p:spPr>
          <a:xfrm>
            <a:off x="5715000" y="3611880"/>
            <a:ext cx="2926080" cy="502920"/>
          </a:xfrm>
          <a:prstGeom prst="rect">
            <a:avLst/>
          </a:prstGeom>
          <a:noFill/>
          <a:ln/>
        </p:spPr>
        <p:txBody>
          <a:bodyPr wrap="square" lIns="0" tIns="0" rIns="0" bIns="0" rtlCol="0" anchor="ctr"/>
          <a:lstStyle/>
          <a:p>
            <a:pPr algn="ctr" indent="0" marL="0">
              <a:buNone/>
            </a:pPr>
            <a:r>
              <a:rPr lang="en-US" sz="1100" b="1" dirty="0">
                <a:solidFill>
                  <a:schemeClr val="tx1"/>
                </a:solidFill>
              </a:rPr>
              <a:t>Contenuti specialistici o con valore legale</a:t>
            </a:r>
            <a:endParaRPr lang="en-US" sz="1100" dirty="0"/>
          </a:p>
        </p:txBody>
      </p:sp>
      <p:sp>
        <p:nvSpPr>
          <p:cNvPr id="29" name="Text 26"/>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Più il risultato sostituisce la lettura dell'originale, più deve essere controllato.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Poter caricare un documento non garantisce che il sistema ne abbia elaborato tutte le parti, interpretato correttamente il contenuto e preservato il significato.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8.8  ·  Limiti e condizioni di efficacia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548640"/>
          </a:xfrm>
          <a:prstGeom prst="roundRect">
            <a:avLst>
              <a:gd name="adj" fmla="val 13333"/>
            </a:avLst>
          </a:prstGeom>
          <a:solidFill>
            <a:schemeClr val="bg2"/>
          </a:solidFill>
          <a:ln/>
        </p:spPr>
      </p:sp>
      <p:sp>
        <p:nvSpPr>
          <p:cNvPr id="5" name="Text 2"/>
          <p:cNvSpPr txBox="1"/>
          <p:nvPr/>
        </p:nvSpPr>
        <p:spPr>
          <a:xfrm>
            <a:off x="548640" y="1024128"/>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51560"/>
            <a:ext cx="3474720" cy="256032"/>
          </a:xfrm>
          <a:prstGeom prst="rect">
            <a:avLst/>
          </a:prstGeom>
          <a:noFill/>
          <a:ln/>
        </p:spPr>
        <p:txBody>
          <a:bodyPr wrap="square" lIns="0" tIns="0" rIns="0" bIns="0" rtlCol="0" anchor="t"/>
          <a:lstStyle/>
          <a:p>
            <a:pPr indent="0" marL="0">
              <a:buNone/>
            </a:pPr>
            <a:r>
              <a:rPr lang="en-US" sz="1100" b="1" dirty="0">
                <a:solidFill>
                  <a:schemeClr val="tx1"/>
                </a:solidFill>
              </a:rPr>
              <a:t>Oltre la scrittura?</a:t>
            </a:r>
            <a:endParaRPr lang="en-US" sz="1100" dirty="0"/>
          </a:p>
        </p:txBody>
      </p:sp>
      <p:sp>
        <p:nvSpPr>
          <p:cNvPr id="7" name="Text 4"/>
          <p:cNvSpPr txBox="1"/>
          <p:nvPr/>
        </p:nvSpPr>
        <p:spPr>
          <a:xfrm>
            <a:off x="960120" y="1298448"/>
            <a:ext cx="3474720" cy="256032"/>
          </a:xfrm>
          <a:prstGeom prst="rect">
            <a:avLst/>
          </a:prstGeom>
          <a:noFill/>
          <a:ln/>
        </p:spPr>
        <p:txBody>
          <a:bodyPr wrap="square" lIns="0" tIns="0" rIns="0" bIns="0" rtlCol="0" anchor="t"/>
          <a:lstStyle/>
          <a:p>
            <a:pPr indent="0" marL="0">
              <a:buNone/>
            </a:pPr>
            <a:r>
              <a:rPr lang="en-US" sz="1000" dirty="0">
                <a:solidFill>
                  <a:schemeClr val="tx2"/>
                </a:solidFill>
              </a:rPr>
              <a:t>Trasformare, sintetizzare, estrarre, confrontare, consultare</a:t>
            </a:r>
            <a:endParaRPr lang="en-US" sz="1000" dirty="0"/>
          </a:p>
        </p:txBody>
      </p:sp>
      <p:sp>
        <p:nvSpPr>
          <p:cNvPr id="8" name="risposta 2"/>
          <p:cNvSpPr/>
          <p:nvPr/>
        </p:nvSpPr>
        <p:spPr>
          <a:xfrm>
            <a:off x="4663440" y="1024128"/>
            <a:ext cx="4023360" cy="548640"/>
          </a:xfrm>
          <a:prstGeom prst="roundRect">
            <a:avLst>
              <a:gd name="adj" fmla="val 13333"/>
            </a:avLst>
          </a:prstGeom>
          <a:solidFill>
            <a:schemeClr val="bg2"/>
          </a:solidFill>
          <a:ln/>
        </p:spPr>
      </p:sp>
      <p:sp>
        <p:nvSpPr>
          <p:cNvPr id="9" name="Text 6"/>
          <p:cNvSpPr txBox="1"/>
          <p:nvPr/>
        </p:nvSpPr>
        <p:spPr>
          <a:xfrm>
            <a:off x="4754880" y="1024128"/>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51560"/>
            <a:ext cx="3474720" cy="256032"/>
          </a:xfrm>
          <a:prstGeom prst="rect">
            <a:avLst/>
          </a:prstGeom>
          <a:noFill/>
          <a:ln/>
        </p:spPr>
        <p:txBody>
          <a:bodyPr wrap="square" lIns="0" tIns="0" rIns="0" bIns="0" rtlCol="0" anchor="t"/>
          <a:lstStyle/>
          <a:p>
            <a:pPr indent="0" marL="0">
              <a:buNone/>
            </a:pPr>
            <a:r>
              <a:rPr lang="en-US" sz="1100" b="1" dirty="0">
                <a:solidFill>
                  <a:schemeClr val="tx1"/>
                </a:solidFill>
              </a:rPr>
              <a:t>Generare o trasformare?</a:t>
            </a:r>
            <a:endParaRPr lang="en-US" sz="1100" dirty="0"/>
          </a:p>
        </p:txBody>
      </p:sp>
      <p:sp>
        <p:nvSpPr>
          <p:cNvPr id="11" name="Text 8"/>
          <p:cNvSpPr txBox="1"/>
          <p:nvPr/>
        </p:nvSpPr>
        <p:spPr>
          <a:xfrm>
            <a:off x="5166360" y="1298448"/>
            <a:ext cx="3474720" cy="256032"/>
          </a:xfrm>
          <a:prstGeom prst="rect">
            <a:avLst/>
          </a:prstGeom>
          <a:noFill/>
          <a:ln/>
        </p:spPr>
        <p:txBody>
          <a:bodyPr wrap="square" lIns="0" tIns="0" rIns="0" bIns="0" rtlCol="0" anchor="t"/>
          <a:lstStyle/>
          <a:p>
            <a:pPr indent="0" marL="0">
              <a:buNone/>
            </a:pPr>
            <a:r>
              <a:rPr lang="en-US" sz="1000" dirty="0">
                <a:solidFill>
                  <a:schemeClr val="tx2"/>
                </a:solidFill>
              </a:rPr>
              <a:t>Trasformare il materiale corretto, quando c'è</a:t>
            </a:r>
            <a:endParaRPr lang="en-US" sz="1000" dirty="0"/>
          </a:p>
        </p:txBody>
      </p:sp>
      <p:sp>
        <p:nvSpPr>
          <p:cNvPr id="12" name="risposta 3"/>
          <p:cNvSpPr/>
          <p:nvPr/>
        </p:nvSpPr>
        <p:spPr>
          <a:xfrm>
            <a:off x="457200" y="1627632"/>
            <a:ext cx="4023360" cy="548640"/>
          </a:xfrm>
          <a:prstGeom prst="roundRect">
            <a:avLst>
              <a:gd name="adj" fmla="val 13333"/>
            </a:avLst>
          </a:prstGeom>
          <a:solidFill>
            <a:schemeClr val="bg2"/>
          </a:solidFill>
          <a:ln/>
        </p:spPr>
      </p:sp>
      <p:sp>
        <p:nvSpPr>
          <p:cNvPr id="13" name="Text 10"/>
          <p:cNvSpPr txBox="1"/>
          <p:nvPr/>
        </p:nvSpPr>
        <p:spPr>
          <a:xfrm>
            <a:off x="548640" y="1627632"/>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655064"/>
            <a:ext cx="3474720" cy="256032"/>
          </a:xfrm>
          <a:prstGeom prst="rect">
            <a:avLst/>
          </a:prstGeom>
          <a:noFill/>
          <a:ln/>
        </p:spPr>
        <p:txBody>
          <a:bodyPr wrap="square" lIns="0" tIns="0" rIns="0" bIns="0" rtlCol="0" anchor="t"/>
          <a:lstStyle/>
          <a:p>
            <a:pPr indent="0" marL="0">
              <a:buNone/>
            </a:pPr>
            <a:r>
              <a:rPr lang="en-US" sz="1100" b="1" dirty="0">
                <a:solidFill>
                  <a:schemeClr val="tx1"/>
                </a:solidFill>
              </a:rPr>
              <a:t>Sintesi senza perdite?</a:t>
            </a:r>
            <a:endParaRPr lang="en-US" sz="1100" dirty="0"/>
          </a:p>
        </p:txBody>
      </p:sp>
      <p:sp>
        <p:nvSpPr>
          <p:cNvPr id="15" name="Text 12"/>
          <p:cNvSpPr txBox="1"/>
          <p:nvPr/>
        </p:nvSpPr>
        <p:spPr>
          <a:xfrm>
            <a:off x="960120" y="1901952"/>
            <a:ext cx="3474720" cy="256032"/>
          </a:xfrm>
          <a:prstGeom prst="rect">
            <a:avLst/>
          </a:prstGeom>
          <a:noFill/>
          <a:ln/>
        </p:spPr>
        <p:txBody>
          <a:bodyPr wrap="square" lIns="0" tIns="0" rIns="0" bIns="0" rtlCol="0" anchor="t"/>
          <a:lstStyle/>
          <a:p>
            <a:pPr indent="0" marL="0">
              <a:buNone/>
            </a:pPr>
            <a:r>
              <a:rPr lang="en-US" sz="1000" dirty="0">
                <a:solidFill>
                  <a:schemeClr val="tx2"/>
                </a:solidFill>
              </a:rPr>
              <a:t>Scopo, riferimenti, elenco di condizioni ed eccezioni</a:t>
            </a:r>
            <a:endParaRPr lang="en-US" sz="1000" dirty="0"/>
          </a:p>
        </p:txBody>
      </p:sp>
      <p:sp>
        <p:nvSpPr>
          <p:cNvPr id="16" name="risposta 4"/>
          <p:cNvSpPr/>
          <p:nvPr/>
        </p:nvSpPr>
        <p:spPr>
          <a:xfrm>
            <a:off x="4663440" y="1627632"/>
            <a:ext cx="4023360" cy="548640"/>
          </a:xfrm>
          <a:prstGeom prst="roundRect">
            <a:avLst>
              <a:gd name="adj" fmla="val 13333"/>
            </a:avLst>
          </a:prstGeom>
          <a:solidFill>
            <a:schemeClr val="bg2"/>
          </a:solidFill>
          <a:ln/>
        </p:spPr>
      </p:sp>
      <p:sp>
        <p:nvSpPr>
          <p:cNvPr id="17" name="Text 14"/>
          <p:cNvSpPr txBox="1"/>
          <p:nvPr/>
        </p:nvSpPr>
        <p:spPr>
          <a:xfrm>
            <a:off x="4754880" y="1627632"/>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655064"/>
            <a:ext cx="3474720" cy="256032"/>
          </a:xfrm>
          <a:prstGeom prst="rect">
            <a:avLst/>
          </a:prstGeom>
          <a:noFill/>
          <a:ln/>
        </p:spPr>
        <p:txBody>
          <a:bodyPr wrap="square" lIns="0" tIns="0" rIns="0" bIns="0" rtlCol="0" anchor="t"/>
          <a:lstStyle/>
          <a:p>
            <a:pPr indent="0" marL="0">
              <a:buNone/>
            </a:pPr>
            <a:r>
              <a:rPr lang="en-US" sz="1100" b="1" dirty="0">
                <a:solidFill>
                  <a:schemeClr val="tx1"/>
                </a:solidFill>
              </a:rPr>
              <a:t>Sintesi o estrazione?</a:t>
            </a:r>
            <a:endParaRPr lang="en-US" sz="1100" dirty="0"/>
          </a:p>
        </p:txBody>
      </p:sp>
      <p:sp>
        <p:nvSpPr>
          <p:cNvPr id="19" name="Text 16"/>
          <p:cNvSpPr txBox="1"/>
          <p:nvPr/>
        </p:nvSpPr>
        <p:spPr>
          <a:xfrm>
            <a:off x="5166360" y="1901952"/>
            <a:ext cx="3474720" cy="256032"/>
          </a:xfrm>
          <a:prstGeom prst="rect">
            <a:avLst/>
          </a:prstGeom>
          <a:noFill/>
          <a:ln/>
        </p:spPr>
        <p:txBody>
          <a:bodyPr wrap="square" lIns="0" tIns="0" rIns="0" bIns="0" rtlCol="0" anchor="t"/>
          <a:lstStyle/>
          <a:p>
            <a:pPr indent="0" marL="0">
              <a:buNone/>
            </a:pPr>
            <a:r>
              <a:rPr lang="en-US" sz="1000" dirty="0">
                <a:solidFill>
                  <a:schemeClr val="tx2"/>
                </a:solidFill>
              </a:rPr>
              <a:t>Testo da leggere o dati da usare</a:t>
            </a:r>
            <a:endParaRPr lang="en-US" sz="1000" dirty="0"/>
          </a:p>
        </p:txBody>
      </p:sp>
      <p:sp>
        <p:nvSpPr>
          <p:cNvPr id="20" name="risposta 5"/>
          <p:cNvSpPr/>
          <p:nvPr/>
        </p:nvSpPr>
        <p:spPr>
          <a:xfrm>
            <a:off x="457200" y="2231136"/>
            <a:ext cx="4023360" cy="548640"/>
          </a:xfrm>
          <a:prstGeom prst="roundRect">
            <a:avLst>
              <a:gd name="adj" fmla="val 13333"/>
            </a:avLst>
          </a:prstGeom>
          <a:solidFill>
            <a:schemeClr val="bg2"/>
          </a:solidFill>
          <a:ln/>
        </p:spPr>
      </p:sp>
      <p:sp>
        <p:nvSpPr>
          <p:cNvPr id="21" name="Text 18"/>
          <p:cNvSpPr txBox="1"/>
          <p:nvPr/>
        </p:nvSpPr>
        <p:spPr>
          <a:xfrm>
            <a:off x="548640" y="2231136"/>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258568"/>
            <a:ext cx="3474720" cy="256032"/>
          </a:xfrm>
          <a:prstGeom prst="rect">
            <a:avLst/>
          </a:prstGeom>
          <a:noFill/>
          <a:ln/>
        </p:spPr>
        <p:txBody>
          <a:bodyPr wrap="square" lIns="0" tIns="0" rIns="0" bIns="0" rtlCol="0" anchor="t"/>
          <a:lstStyle/>
          <a:p>
            <a:pPr indent="0" marL="0">
              <a:buNone/>
            </a:pPr>
            <a:r>
              <a:rPr lang="en-US" sz="1100" b="1" dirty="0">
                <a:solidFill>
                  <a:schemeClr val="tx1"/>
                </a:solidFill>
              </a:rPr>
              <a:t>Confrontare con i passaggi?</a:t>
            </a:r>
            <a:endParaRPr lang="en-US" sz="1100" dirty="0"/>
          </a:p>
        </p:txBody>
      </p:sp>
      <p:sp>
        <p:nvSpPr>
          <p:cNvPr id="23" name="Text 20"/>
          <p:cNvSpPr txBox="1"/>
          <p:nvPr/>
        </p:nvSpPr>
        <p:spPr>
          <a:xfrm>
            <a:off x="960120" y="2505456"/>
            <a:ext cx="3474720" cy="256032"/>
          </a:xfrm>
          <a:prstGeom prst="rect">
            <a:avLst/>
          </a:prstGeom>
          <a:noFill/>
          <a:ln/>
        </p:spPr>
        <p:txBody>
          <a:bodyPr wrap="square" lIns="0" tIns="0" rIns="0" bIns="0" rtlCol="0" anchor="t"/>
          <a:lstStyle/>
          <a:p>
            <a:pPr indent="0" marL="0">
              <a:buNone/>
            </a:pPr>
            <a:r>
              <a:rPr lang="en-US" sz="1000" dirty="0">
                <a:solidFill>
                  <a:schemeClr val="tx2"/>
                </a:solidFill>
              </a:rPr>
              <a:t>Riferimenti a entrambi, differenze classificate</a:t>
            </a:r>
            <a:endParaRPr lang="en-US" sz="1000" dirty="0"/>
          </a:p>
        </p:txBody>
      </p:sp>
      <p:sp>
        <p:nvSpPr>
          <p:cNvPr id="24" name="risposta 6"/>
          <p:cNvSpPr/>
          <p:nvPr/>
        </p:nvSpPr>
        <p:spPr>
          <a:xfrm>
            <a:off x="4663440" y="2231136"/>
            <a:ext cx="4023360" cy="548640"/>
          </a:xfrm>
          <a:prstGeom prst="roundRect">
            <a:avLst>
              <a:gd name="adj" fmla="val 13333"/>
            </a:avLst>
          </a:prstGeom>
          <a:solidFill>
            <a:schemeClr val="bg2"/>
          </a:solidFill>
          <a:ln/>
        </p:spPr>
      </p:sp>
      <p:sp>
        <p:nvSpPr>
          <p:cNvPr id="25" name="Text 22"/>
          <p:cNvSpPr txBox="1"/>
          <p:nvPr/>
        </p:nvSpPr>
        <p:spPr>
          <a:xfrm>
            <a:off x="4754880" y="2231136"/>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258568"/>
            <a:ext cx="3474720" cy="256032"/>
          </a:xfrm>
          <a:prstGeom prst="rect">
            <a:avLst/>
          </a:prstGeom>
          <a:noFill/>
          <a:ln/>
        </p:spPr>
        <p:txBody>
          <a:bodyPr wrap="square" lIns="0" tIns="0" rIns="0" bIns="0" rtlCol="0" anchor="t"/>
          <a:lstStyle/>
          <a:p>
            <a:pPr indent="0" marL="0">
              <a:buNone/>
            </a:pPr>
            <a:r>
              <a:rPr lang="en-US" sz="1100" b="1" dirty="0">
                <a:solidFill>
                  <a:schemeClr val="tx1"/>
                </a:solidFill>
              </a:rPr>
              <a:t>Ricerca o raccolta?</a:t>
            </a:r>
            <a:endParaRPr lang="en-US" sz="1100" dirty="0"/>
          </a:p>
        </p:txBody>
      </p:sp>
      <p:sp>
        <p:nvSpPr>
          <p:cNvPr id="27" name="Text 24"/>
          <p:cNvSpPr txBox="1"/>
          <p:nvPr/>
        </p:nvSpPr>
        <p:spPr>
          <a:xfrm>
            <a:off x="5166360" y="2505456"/>
            <a:ext cx="3474720" cy="256032"/>
          </a:xfrm>
          <a:prstGeom prst="rect">
            <a:avLst/>
          </a:prstGeom>
          <a:noFill/>
          <a:ln/>
        </p:spPr>
        <p:txBody>
          <a:bodyPr wrap="square" lIns="0" tIns="0" rIns="0" bIns="0" rtlCol="0" anchor="t"/>
          <a:lstStyle/>
          <a:p>
            <a:pPr indent="0" marL="0">
              <a:buNone/>
            </a:pPr>
            <a:r>
              <a:rPr lang="en-US" sz="1000" dirty="0">
                <a:solidFill>
                  <a:schemeClr val="tx2"/>
                </a:solidFill>
              </a:rPr>
              <a:t>Fonti esterne o documenti dell'organizzazione</a:t>
            </a:r>
            <a:endParaRPr lang="en-US" sz="1000" dirty="0"/>
          </a:p>
        </p:txBody>
      </p:sp>
      <p:sp>
        <p:nvSpPr>
          <p:cNvPr id="28" name="risposta 7"/>
          <p:cNvSpPr/>
          <p:nvPr/>
        </p:nvSpPr>
        <p:spPr>
          <a:xfrm>
            <a:off x="457200" y="2834640"/>
            <a:ext cx="4023360" cy="548640"/>
          </a:xfrm>
          <a:prstGeom prst="roundRect">
            <a:avLst>
              <a:gd name="adj" fmla="val 13333"/>
            </a:avLst>
          </a:prstGeom>
          <a:solidFill>
            <a:schemeClr val="bg2"/>
          </a:solidFill>
          <a:ln/>
        </p:spPr>
      </p:sp>
      <p:sp>
        <p:nvSpPr>
          <p:cNvPr id="29" name="Text 26"/>
          <p:cNvSpPr txBox="1"/>
          <p:nvPr/>
        </p:nvSpPr>
        <p:spPr>
          <a:xfrm>
            <a:off x="548640" y="2834640"/>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2862072"/>
            <a:ext cx="3474720" cy="256032"/>
          </a:xfrm>
          <a:prstGeom prst="rect">
            <a:avLst/>
          </a:prstGeom>
          <a:noFill/>
          <a:ln/>
        </p:spPr>
        <p:txBody>
          <a:bodyPr wrap="square" lIns="0" tIns="0" rIns="0" bIns="0" rtlCol="0" anchor="t"/>
          <a:lstStyle/>
          <a:p>
            <a:pPr indent="0" marL="0">
              <a:buNone/>
            </a:pPr>
            <a:r>
              <a:rPr lang="en-US" sz="1100" b="1" dirty="0">
                <a:solidFill>
                  <a:schemeClr val="tx1"/>
                </a:solidFill>
              </a:rPr>
              <a:t>Raccolta interrogabile?</a:t>
            </a:r>
            <a:endParaRPr lang="en-US" sz="1100" dirty="0"/>
          </a:p>
        </p:txBody>
      </p:sp>
      <p:sp>
        <p:nvSpPr>
          <p:cNvPr id="31" name="Text 28"/>
          <p:cNvSpPr txBox="1"/>
          <p:nvPr/>
        </p:nvSpPr>
        <p:spPr>
          <a:xfrm>
            <a:off x="960120" y="3108960"/>
            <a:ext cx="3474720" cy="256032"/>
          </a:xfrm>
          <a:prstGeom prst="rect">
            <a:avLst/>
          </a:prstGeom>
          <a:noFill/>
          <a:ln/>
        </p:spPr>
        <p:txBody>
          <a:bodyPr wrap="square" lIns="0" tIns="0" rIns="0" bIns="0" rtlCol="0" anchor="t"/>
          <a:lstStyle/>
          <a:p>
            <a:pPr indent="0" marL="0">
              <a:buNone/>
            </a:pPr>
            <a:r>
              <a:rPr lang="en-US" sz="1000" dirty="0">
                <a:solidFill>
                  <a:schemeClr val="tx2"/>
                </a:solidFill>
              </a:rPr>
              <a:t>Reperibile, strutturata, aggiornata, verificabile</a:t>
            </a:r>
            <a:endParaRPr lang="en-US" sz="1000" dirty="0"/>
          </a:p>
        </p:txBody>
      </p:sp>
      <p:sp>
        <p:nvSpPr>
          <p:cNvPr id="32" name="risposta 8"/>
          <p:cNvSpPr/>
          <p:nvPr/>
        </p:nvSpPr>
        <p:spPr>
          <a:xfrm>
            <a:off x="4663440" y="2834640"/>
            <a:ext cx="4023360" cy="548640"/>
          </a:xfrm>
          <a:prstGeom prst="roundRect">
            <a:avLst>
              <a:gd name="adj" fmla="val 13333"/>
            </a:avLst>
          </a:prstGeom>
          <a:solidFill>
            <a:schemeClr val="bg2"/>
          </a:solidFill>
          <a:ln/>
        </p:spPr>
      </p:sp>
      <p:sp>
        <p:nvSpPr>
          <p:cNvPr id="33" name="Text 30"/>
          <p:cNvSpPr txBox="1"/>
          <p:nvPr/>
        </p:nvSpPr>
        <p:spPr>
          <a:xfrm>
            <a:off x="4754880" y="2834640"/>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2862072"/>
            <a:ext cx="3474720" cy="256032"/>
          </a:xfrm>
          <a:prstGeom prst="rect">
            <a:avLst/>
          </a:prstGeom>
          <a:noFill/>
          <a:ln/>
        </p:spPr>
        <p:txBody>
          <a:bodyPr wrap="square" lIns="0" tIns="0" rIns="0" bIns="0" rtlCol="0" anchor="t"/>
          <a:lstStyle/>
          <a:p>
            <a:pPr indent="0" marL="0">
              <a:buNone/>
            </a:pPr>
            <a:r>
              <a:rPr lang="en-US" sz="1100" b="1" dirty="0">
                <a:solidFill>
                  <a:schemeClr val="tx1"/>
                </a:solidFill>
              </a:rPr>
              <a:t>Dal testo ai dati?</a:t>
            </a:r>
            <a:endParaRPr lang="en-US" sz="1100" dirty="0"/>
          </a:p>
        </p:txBody>
      </p:sp>
      <p:sp>
        <p:nvSpPr>
          <p:cNvPr id="35" name="Text 32"/>
          <p:cNvSpPr txBox="1"/>
          <p:nvPr/>
        </p:nvSpPr>
        <p:spPr>
          <a:xfrm>
            <a:off x="5166360" y="3108960"/>
            <a:ext cx="3474720" cy="256032"/>
          </a:xfrm>
          <a:prstGeom prst="rect">
            <a:avLst/>
          </a:prstGeom>
          <a:noFill/>
          <a:ln/>
        </p:spPr>
        <p:txBody>
          <a:bodyPr wrap="square" lIns="0" tIns="0" rIns="0" bIns="0" rtlCol="0" anchor="t"/>
          <a:lstStyle/>
          <a:p>
            <a:pPr indent="0" marL="0">
              <a:buNone/>
            </a:pPr>
            <a:r>
              <a:rPr lang="en-US" sz="1000" dirty="0">
                <a:solidFill>
                  <a:schemeClr val="tx2"/>
                </a:solidFill>
              </a:rPr>
              <a:t>Campi definiti, regole, validazione</a:t>
            </a:r>
            <a:endParaRPr lang="en-US" sz="1000" dirty="0"/>
          </a:p>
        </p:txBody>
      </p:sp>
      <p:sp>
        <p:nvSpPr>
          <p:cNvPr id="36" name="risposta 9"/>
          <p:cNvSpPr/>
          <p:nvPr/>
        </p:nvSpPr>
        <p:spPr>
          <a:xfrm>
            <a:off x="457200" y="3438144"/>
            <a:ext cx="4023360" cy="548640"/>
          </a:xfrm>
          <a:prstGeom prst="roundRect">
            <a:avLst>
              <a:gd name="adj" fmla="val 13333"/>
            </a:avLst>
          </a:prstGeom>
          <a:solidFill>
            <a:schemeClr val="bg2"/>
          </a:solidFill>
          <a:ln/>
        </p:spPr>
      </p:sp>
      <p:sp>
        <p:nvSpPr>
          <p:cNvPr id="37" name="Text 34"/>
          <p:cNvSpPr txBox="1"/>
          <p:nvPr/>
        </p:nvSpPr>
        <p:spPr>
          <a:xfrm>
            <a:off x="548640" y="3438144"/>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8" name="Text 35"/>
          <p:cNvSpPr txBox="1"/>
          <p:nvPr/>
        </p:nvSpPr>
        <p:spPr>
          <a:xfrm>
            <a:off x="960120" y="3465576"/>
            <a:ext cx="3474720" cy="256032"/>
          </a:xfrm>
          <a:prstGeom prst="rect">
            <a:avLst/>
          </a:prstGeom>
          <a:noFill/>
          <a:ln/>
        </p:spPr>
        <p:txBody>
          <a:bodyPr wrap="square" lIns="0" tIns="0" rIns="0" bIns="0" rtlCol="0" anchor="t"/>
          <a:lstStyle/>
          <a:p>
            <a:pPr indent="0" marL="0">
              <a:buNone/>
            </a:pPr>
            <a:r>
              <a:rPr lang="en-US" sz="1100" b="1" dirty="0">
                <a:solidFill>
                  <a:schemeClr val="tx1"/>
                </a:solidFill>
              </a:rPr>
              <a:t>Formati e lunghezza?</a:t>
            </a:r>
            <a:endParaRPr lang="en-US" sz="1100" dirty="0"/>
          </a:p>
        </p:txBody>
      </p:sp>
      <p:sp>
        <p:nvSpPr>
          <p:cNvPr id="39" name="Text 36"/>
          <p:cNvSpPr txBox="1"/>
          <p:nvPr/>
        </p:nvSpPr>
        <p:spPr>
          <a:xfrm>
            <a:off x="960120" y="3712464"/>
            <a:ext cx="3474720" cy="256032"/>
          </a:xfrm>
          <a:prstGeom prst="rect">
            <a:avLst/>
          </a:prstGeom>
          <a:noFill/>
          <a:ln/>
        </p:spPr>
        <p:txBody>
          <a:bodyPr wrap="square" lIns="0" tIns="0" rIns="0" bIns="0" rtlCol="0" anchor="t"/>
          <a:lstStyle/>
          <a:p>
            <a:pPr indent="0" marL="0">
              <a:buNone/>
            </a:pPr>
            <a:r>
              <a:rPr lang="en-US" sz="1000" dirty="0">
                <a:solidFill>
                  <a:schemeClr val="tx2"/>
                </a:solidFill>
              </a:rPr>
              <a:t>Conversione, attenzione, copertura</a:t>
            </a:r>
            <a:endParaRPr lang="en-US" sz="1000" dirty="0"/>
          </a:p>
        </p:txBody>
      </p:sp>
      <p:sp>
        <p:nvSpPr>
          <p:cNvPr id="40" name="risposta 10"/>
          <p:cNvSpPr/>
          <p:nvPr/>
        </p:nvSpPr>
        <p:spPr>
          <a:xfrm>
            <a:off x="4663440" y="3438144"/>
            <a:ext cx="4023360" cy="548640"/>
          </a:xfrm>
          <a:prstGeom prst="roundRect">
            <a:avLst>
              <a:gd name="adj" fmla="val 13333"/>
            </a:avLst>
          </a:prstGeom>
          <a:solidFill>
            <a:schemeClr val="bg2"/>
          </a:solidFill>
          <a:ln/>
        </p:spPr>
      </p:sp>
      <p:sp>
        <p:nvSpPr>
          <p:cNvPr id="41" name="Text 38"/>
          <p:cNvSpPr txBox="1"/>
          <p:nvPr/>
        </p:nvSpPr>
        <p:spPr>
          <a:xfrm>
            <a:off x="4754880" y="3438144"/>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42" name="Text 39"/>
          <p:cNvSpPr txBox="1"/>
          <p:nvPr/>
        </p:nvSpPr>
        <p:spPr>
          <a:xfrm>
            <a:off x="5166360" y="3465576"/>
            <a:ext cx="3474720" cy="256032"/>
          </a:xfrm>
          <a:prstGeom prst="rect">
            <a:avLst/>
          </a:prstGeom>
          <a:noFill/>
          <a:ln/>
        </p:spPr>
        <p:txBody>
          <a:bodyPr wrap="square" lIns="0" tIns="0" rIns="0" bIns="0" rtlCol="0" anchor="t"/>
          <a:lstStyle/>
          <a:p>
            <a:pPr indent="0" marL="0">
              <a:buNone/>
            </a:pPr>
            <a:r>
              <a:rPr lang="en-US" sz="1100" b="1" dirty="0">
                <a:solidFill>
                  <a:schemeClr val="tx1"/>
                </a:solidFill>
              </a:rPr>
              <a:t>Sintesi fedele?</a:t>
            </a:r>
            <a:endParaRPr lang="en-US" sz="1100" dirty="0"/>
          </a:p>
        </p:txBody>
      </p:sp>
      <p:sp>
        <p:nvSpPr>
          <p:cNvPr id="43" name="Text 40"/>
          <p:cNvSpPr txBox="1"/>
          <p:nvPr/>
        </p:nvSpPr>
        <p:spPr>
          <a:xfrm>
            <a:off x="5166360" y="3712464"/>
            <a:ext cx="3474720" cy="256032"/>
          </a:xfrm>
          <a:prstGeom prst="rect">
            <a:avLst/>
          </a:prstGeom>
          <a:noFill/>
          <a:ln/>
        </p:spPr>
        <p:txBody>
          <a:bodyPr wrap="square" lIns="0" tIns="0" rIns="0" bIns="0" rtlCol="0" anchor="t"/>
          <a:lstStyle/>
          <a:p>
            <a:pPr indent="0" marL="0">
              <a:buNone/>
            </a:pPr>
            <a:r>
              <a:rPr lang="en-US" sz="1000" dirty="0">
                <a:solidFill>
                  <a:schemeClr val="tx2"/>
                </a:solidFill>
              </a:rPr>
              <a:t>Confronto con l'originale sugli elementi decisivi</a:t>
            </a:r>
            <a:endParaRPr lang="en-US" sz="1000" dirty="0"/>
          </a:p>
        </p:txBody>
      </p:sp>
      <p:sp>
        <p:nvSpPr>
          <p:cNvPr id="44" name="risposta 11"/>
          <p:cNvSpPr/>
          <p:nvPr/>
        </p:nvSpPr>
        <p:spPr>
          <a:xfrm>
            <a:off x="457200" y="4041648"/>
            <a:ext cx="4023360" cy="548640"/>
          </a:xfrm>
          <a:prstGeom prst="roundRect">
            <a:avLst>
              <a:gd name="adj" fmla="val 13333"/>
            </a:avLst>
          </a:prstGeom>
          <a:solidFill>
            <a:schemeClr val="bg2"/>
          </a:solidFill>
          <a:ln/>
        </p:spPr>
      </p:sp>
      <p:sp>
        <p:nvSpPr>
          <p:cNvPr id="45" name="Text 42"/>
          <p:cNvSpPr txBox="1"/>
          <p:nvPr/>
        </p:nvSpPr>
        <p:spPr>
          <a:xfrm>
            <a:off x="548640" y="4041648"/>
            <a:ext cx="411480" cy="548640"/>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46" name="Text 43"/>
          <p:cNvSpPr txBox="1"/>
          <p:nvPr/>
        </p:nvSpPr>
        <p:spPr>
          <a:xfrm>
            <a:off x="960120" y="4069080"/>
            <a:ext cx="3474720" cy="256032"/>
          </a:xfrm>
          <a:prstGeom prst="rect">
            <a:avLst/>
          </a:prstGeom>
          <a:noFill/>
          <a:ln/>
        </p:spPr>
        <p:txBody>
          <a:bodyPr wrap="square" lIns="0" tIns="0" rIns="0" bIns="0" rtlCol="0" anchor="t"/>
          <a:lstStyle/>
          <a:p>
            <a:pPr indent="0" marL="0">
              <a:buNone/>
            </a:pPr>
            <a:r>
              <a:rPr lang="en-US" sz="1100" b="1" dirty="0">
                <a:solidFill>
                  <a:schemeClr val="tx1"/>
                </a:solidFill>
              </a:rPr>
              <a:t>Quando risalire alle fonti?</a:t>
            </a:r>
            <a:endParaRPr lang="en-US" sz="1100" dirty="0"/>
          </a:p>
        </p:txBody>
      </p:sp>
      <p:sp>
        <p:nvSpPr>
          <p:cNvPr id="47" name="Text 44"/>
          <p:cNvSpPr txBox="1"/>
          <p:nvPr/>
        </p:nvSpPr>
        <p:spPr>
          <a:xfrm>
            <a:off x="960120" y="4315968"/>
            <a:ext cx="3474720" cy="256032"/>
          </a:xfrm>
          <a:prstGeom prst="rect">
            <a:avLst/>
          </a:prstGeom>
          <a:noFill/>
          <a:ln/>
        </p:spPr>
        <p:txBody>
          <a:bodyPr wrap="square" lIns="0" tIns="0" rIns="0" bIns="0" rtlCol="0" anchor="t"/>
          <a:lstStyle/>
          <a:p>
            <a:pPr indent="0" marL="0">
              <a:buNone/>
            </a:pPr>
            <a:r>
              <a:rPr lang="en-US" sz="1000" dirty="0">
                <a:solidFill>
                  <a:schemeClr val="tx2"/>
                </a:solidFill>
              </a:rPr>
              <a:t>In proporzione all'uso, sempre se sostituisce l'originale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Riconoscere le possibilità su testi e documenti</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Distinguere generare, trasformare, analizzare, estrarre</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Opportunità e limiti in redazione e revisione</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Utilizzi nella sintesi e nell'analisi documentale</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Dati strutturati da informazioni non strutturate</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Confronto tra documenti e versioni</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Ricerca informativa o raccolta documentale</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Il potenziale della conoscenza interrogabile</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L'importanza della tracciabilità</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Omissioni, perdita di significato, errori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Effetto di file, formati e complessità</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Quando serve una verifica più approfondita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modalità: una scheda pratica</a:t>
            </a:r>
            <a:endParaRPr lang="en-US" sz="2600" dirty="0"/>
          </a:p>
        </p:txBody>
      </p:sp>
      <p:sp>
        <p:nvSpPr>
          <p:cNvPr id="4" name="Produr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Produrre</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Materiale di partenza</a:t>
            </a:r>
            <a:endParaRPr lang="en-US" sz="1200" dirty="0"/>
          </a:p>
          <a:p>
            <a:pPr marL="177800" indent="-177800">
              <a:spcAft>
                <a:spcPts val="600"/>
              </a:spcAft>
              <a:buSzPct val="100000"/>
              <a:buChar char="•"/>
            </a:pPr>
            <a:r>
              <a:rPr lang="en-US" sz="1200" dirty="0">
                <a:solidFill>
                  <a:schemeClr val="tx1"/>
                </a:solidFill>
              </a:rPr>
              <a:t>Destinatario e tono</a:t>
            </a:r>
            <a:endParaRPr lang="en-US" sz="1200" dirty="0"/>
          </a:p>
          <a:p>
            <a:pPr marL="177800" indent="-177800">
              <a:spcAft>
                <a:spcPts val="600"/>
              </a:spcAft>
              <a:buSzPct val="100000"/>
              <a:buChar char="•"/>
            </a:pPr>
            <a:r>
              <a:rPr lang="en-US" sz="1200" dirty="0">
                <a:solidFill>
                  <a:schemeClr val="tx1"/>
                </a:solidFill>
              </a:rPr>
              <a:t>Supervisione proporzionata</a:t>
            </a:r>
            <a:endParaRPr lang="en-US" sz="1200" dirty="0"/>
          </a:p>
        </p:txBody>
      </p:sp>
      <p:sp>
        <p:nvSpPr>
          <p:cNvPr id="7" name="Trasformare"/>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Trasformare</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Partire da materiale corretto</a:t>
            </a:r>
            <a:endParaRPr lang="en-US" sz="1200" dirty="0"/>
          </a:p>
          <a:p>
            <a:pPr marL="177800" indent="-177800">
              <a:spcAft>
                <a:spcPts val="600"/>
              </a:spcAft>
              <a:buSzPct val="100000"/>
              <a:buChar char="•"/>
            </a:pPr>
            <a:r>
              <a:rPr lang="en-US" sz="1200" dirty="0">
                <a:solidFill>
                  <a:schemeClr val="tx1"/>
                </a:solidFill>
              </a:rPr>
              <a:t>Modifiche ammesse dichiarate</a:t>
            </a:r>
            <a:endParaRPr lang="en-US" sz="1200" dirty="0"/>
          </a:p>
          <a:p>
            <a:pPr marL="177800" indent="-177800">
              <a:spcAft>
                <a:spcPts val="600"/>
              </a:spcAft>
              <a:buSzPct val="100000"/>
              <a:buChar char="•"/>
            </a:pPr>
            <a:r>
              <a:rPr lang="en-US" sz="1200" dirty="0">
                <a:solidFill>
                  <a:schemeClr val="tx1"/>
                </a:solidFill>
              </a:rPr>
              <a:t>Confronto con l'originale</a:t>
            </a:r>
            <a:endParaRPr lang="en-US" sz="1200" dirty="0"/>
          </a:p>
        </p:txBody>
      </p:sp>
      <p:sp>
        <p:nvSpPr>
          <p:cNvPr id="10" name="Analizzar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Analizzare</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Scopo e riferimenti</a:t>
            </a:r>
            <a:endParaRPr lang="en-US" sz="1200" dirty="0"/>
          </a:p>
          <a:p>
            <a:pPr marL="177800" indent="-177800">
              <a:spcAft>
                <a:spcPts val="600"/>
              </a:spcAft>
              <a:buSzPct val="100000"/>
              <a:buChar char="•"/>
            </a:pPr>
            <a:r>
              <a:rPr lang="en-US" sz="1200" dirty="0">
                <a:solidFill>
                  <a:schemeClr val="tx1"/>
                </a:solidFill>
              </a:rPr>
              <a:t>Campi e regole per i mancanti</a:t>
            </a:r>
            <a:endParaRPr lang="en-US" sz="1200" dirty="0"/>
          </a:p>
          <a:p>
            <a:pPr marL="177800" indent="-177800">
              <a:spcAft>
                <a:spcPts val="600"/>
              </a:spcAft>
              <a:buSzPct val="100000"/>
              <a:buChar char="•"/>
            </a:pPr>
            <a:r>
              <a:rPr lang="en-US" sz="1200" dirty="0">
                <a:solidFill>
                  <a:schemeClr val="tx1"/>
                </a:solidFill>
              </a:rPr>
              <a:t>Differenze classificate, validazione</a:t>
            </a:r>
            <a:endParaRPr lang="en-US" sz="1200" dirty="0"/>
          </a:p>
        </p:txBody>
      </p:sp>
      <p:sp>
        <p:nvSpPr>
          <p:cNvPr id="13" name="Recuper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Recuperare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Da dove viene?</a:t>
            </a:r>
            <a:endParaRPr lang="en-US" sz="1200" dirty="0"/>
          </a:p>
          <a:p>
            <a:pPr marL="177800" indent="-177800">
              <a:spcAft>
                <a:spcPts val="600"/>
              </a:spcAft>
              <a:buSzPct val="100000"/>
              <a:buChar char="•"/>
            </a:pPr>
            <a:r>
              <a:rPr lang="en-US" sz="1200" dirty="0">
                <a:solidFill>
                  <a:schemeClr val="tx1"/>
                </a:solidFill>
              </a:rPr>
              <a:t>Attualità e attendibilità</a:t>
            </a:r>
            <a:endParaRPr lang="en-US" sz="1200" dirty="0"/>
          </a:p>
          <a:p>
            <a:pPr marL="177800" indent="-177800">
              <a:spcAft>
                <a:spcPts val="600"/>
              </a:spcAft>
              <a:buSzPct val="100000"/>
              <a:buChar char="•"/>
            </a:pPr>
            <a:r>
              <a:rPr lang="en-US" sz="1200" dirty="0">
                <a:solidFill>
                  <a:schemeClr val="tx1"/>
                </a:solidFill>
              </a:rPr>
              <a:t>Riferimenti, versione e data</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Sempre: strumenti autorizzati, limiti di formato e lunghezza, controlli proporzionati all'uso.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Edit3"/>
          <p:cNvSpPr/>
          <p:nvPr/>
        </p:nvSpPr>
        <p:spPr>
          <a:xfrm>
            <a:off x="621792" y="1216152"/>
            <a:ext cx="457200" cy="457200"/>
          </a:xfrm>
          <a:prstGeom prst="ellipse">
            <a:avLst/>
          </a:prstGeom>
          <a:solidFill>
            <a:schemeClr val="accent5"/>
          </a:solidFill>
          <a:ln/>
        </p:spPr>
      </p:sp>
      <p:pic>
        <p:nvPicPr>
          <p:cNvPr id="6" name="Image 0" descr="FiEdit3">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"Lo genero da zero"</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Se c'è il testo giusto, trasformarlo</a:t>
            </a:r>
            <a:endParaRPr lang="en-US" sz="1200" dirty="0"/>
          </a:p>
        </p:txBody>
      </p:sp>
      <p:sp>
        <p:nvSpPr>
          <p:cNvPr id="9" name="Text 5"/>
          <p:cNvSpPr txBox="1"/>
          <p:nvPr/>
        </p:nvSpPr>
        <p:spPr>
          <a:xfrm>
            <a:off x="3886200" y="1143000"/>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8.2</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FileText"/>
          <p:cNvSpPr/>
          <p:nvPr/>
        </p:nvSpPr>
        <p:spPr>
          <a:xfrm>
            <a:off x="4828032" y="1216152"/>
            <a:ext cx="457200" cy="457200"/>
          </a:xfrm>
          <a:prstGeom prst="ellipse">
            <a:avLst/>
          </a:prstGeom>
          <a:solidFill>
            <a:schemeClr val="accent5"/>
          </a:solidFill>
          <a:ln/>
        </p:spPr>
      </p:sp>
      <p:pic>
        <p:nvPicPr>
          <p:cNvPr id="12" name="Image 1" descr="FiFileText">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"Ogni frase è vera, quindi è fedele"</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Le perdite stanno in ciò che manca</a:t>
            </a:r>
            <a:endParaRPr lang="en-US" sz="1200" dirty="0"/>
          </a:p>
        </p:txBody>
      </p:sp>
      <p:sp>
        <p:nvSpPr>
          <p:cNvPr id="15" name="Text 10"/>
          <p:cNvSpPr txBox="1"/>
          <p:nvPr/>
        </p:nvSpPr>
        <p:spPr>
          <a:xfrm>
            <a:off x="8092440" y="1143000"/>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8.3</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Database"/>
          <p:cNvSpPr/>
          <p:nvPr/>
        </p:nvSpPr>
        <p:spPr>
          <a:xfrm>
            <a:off x="621792" y="2377440"/>
            <a:ext cx="457200" cy="457200"/>
          </a:xfrm>
          <a:prstGeom prst="ellipse">
            <a:avLst/>
          </a:prstGeom>
          <a:solidFill>
            <a:schemeClr val="accent5"/>
          </a:solidFill>
          <a:ln/>
        </p:spPr>
      </p:sp>
      <p:pic>
        <p:nvPicPr>
          <p:cNvPr id="18" name="Image 2" descr="FiDatabase">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"Il dato estratto è pronto all'uso"</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Estratto non vuol dire validato</a:t>
            </a:r>
            <a:endParaRPr lang="en-US" sz="1200" dirty="0"/>
          </a:p>
        </p:txBody>
      </p:sp>
      <p:sp>
        <p:nvSpPr>
          <p:cNvPr id="21" name="Text 15"/>
          <p:cNvSpPr txBox="1"/>
          <p:nvPr/>
        </p:nvSpPr>
        <p:spPr>
          <a:xfrm>
            <a:off x="3886200" y="2304288"/>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8.4</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Columns"/>
          <p:cNvSpPr/>
          <p:nvPr/>
        </p:nvSpPr>
        <p:spPr>
          <a:xfrm>
            <a:off x="4828032" y="2377440"/>
            <a:ext cx="457200" cy="457200"/>
          </a:xfrm>
          <a:prstGeom prst="ellipse">
            <a:avLst/>
          </a:prstGeom>
          <a:solidFill>
            <a:schemeClr val="accent5"/>
          </a:solidFill>
          <a:ln/>
        </p:spPr>
      </p:sp>
      <p:pic>
        <p:nvPicPr>
          <p:cNvPr id="24" name="Image 3" descr="FiColumns">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"Ha trovato tutte le differenze"</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L'elenco può essere incompleto</a:t>
            </a:r>
            <a:endParaRPr lang="en-US" sz="1200" dirty="0"/>
          </a:p>
        </p:txBody>
      </p:sp>
      <p:sp>
        <p:nvSpPr>
          <p:cNvPr id="27" name="Text 20"/>
          <p:cNvSpPr txBox="1"/>
          <p:nvPr/>
        </p:nvSpPr>
        <p:spPr>
          <a:xfrm>
            <a:off x="8092440" y="2304288"/>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8.5</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Archive"/>
          <p:cNvSpPr/>
          <p:nvPr/>
        </p:nvSpPr>
        <p:spPr>
          <a:xfrm>
            <a:off x="621792" y="3538728"/>
            <a:ext cx="457200" cy="457200"/>
          </a:xfrm>
          <a:prstGeom prst="ellipse">
            <a:avLst/>
          </a:prstGeom>
          <a:solidFill>
            <a:schemeClr val="accent5"/>
          </a:solidFill>
          <a:ln/>
        </p:spPr>
      </p:sp>
      <p:pic>
        <p:nvPicPr>
          <p:cNvPr id="30" name="Image 4" descr="FiArchive">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"Basta collegare l'AI all'archivio"</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Le risposte ereditano il disordine</a:t>
            </a:r>
            <a:endParaRPr lang="en-US" sz="1200" dirty="0"/>
          </a:p>
        </p:txBody>
      </p:sp>
      <p:sp>
        <p:nvSpPr>
          <p:cNvPr id="33" name="Text 25"/>
          <p:cNvSpPr txBox="1"/>
          <p:nvPr/>
        </p:nvSpPr>
        <p:spPr>
          <a:xfrm>
            <a:off x="3886200" y="3465576"/>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8.7</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Upload"/>
          <p:cNvSpPr/>
          <p:nvPr/>
        </p:nvSpPr>
        <p:spPr>
          <a:xfrm>
            <a:off x="4828032" y="3538728"/>
            <a:ext cx="457200" cy="457200"/>
          </a:xfrm>
          <a:prstGeom prst="ellipse">
            <a:avLst/>
          </a:prstGeom>
          <a:solidFill>
            <a:schemeClr val="accent5"/>
          </a:solidFill>
          <a:ln/>
        </p:spPr>
      </p:sp>
      <p:pic>
        <p:nvPicPr>
          <p:cNvPr id="36" name="Image 5" descr="FiUpload">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743200" cy="502920"/>
          </a:xfrm>
          <a:prstGeom prst="rect">
            <a:avLst/>
          </a:prstGeom>
          <a:noFill/>
          <a:ln/>
        </p:spPr>
        <p:txBody>
          <a:bodyPr wrap="square" lIns="0" tIns="0" rIns="0" bIns="0" rtlCol="0" anchor="ctr"/>
          <a:lstStyle/>
          <a:p>
            <a:pPr indent="0" marL="0">
              <a:buNone/>
            </a:pPr>
            <a:r>
              <a:rPr lang="en-US" sz="1300" b="1" dirty="0">
                <a:solidFill>
                  <a:schemeClr val="tx1"/>
                </a:solidFill>
              </a:rPr>
              <a:t>"L'ho caricato, quindi l'ha letto"</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Caricare non è elaborare</a:t>
            </a:r>
            <a:endParaRPr lang="en-US" sz="1200" dirty="0"/>
          </a:p>
        </p:txBody>
      </p:sp>
      <p:sp>
        <p:nvSpPr>
          <p:cNvPr id="39" name="Text 30"/>
          <p:cNvSpPr txBox="1"/>
          <p:nvPr/>
        </p:nvSpPr>
        <p:spPr>
          <a:xfrm>
            <a:off x="8092440" y="3465576"/>
            <a:ext cx="457200" cy="365760"/>
          </a:xfrm>
          <a:prstGeom prst="rect">
            <a:avLst/>
          </a:prstGeom>
          <a:noFill/>
          <a:ln/>
        </p:spPr>
        <p:txBody>
          <a:bodyPr wrap="square" lIns="0" tIns="0" rIns="0" bIns="0" rtlCol="0" anchor="t"/>
          <a:lstStyle/>
          <a:p>
            <a:pPr algn="r" indent="0" marL="0">
              <a:buNone/>
            </a:pPr>
            <a:r>
              <a:rPr lang="en-US" sz="1100" b="1" dirty="0">
                <a:solidFill>
                  <a:schemeClr val="accent1"/>
                </a:solidFill>
              </a:rPr>
              <a:t>8.8</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Esplorare le possibilità dell'AI</a:t>
            </a:r>
            <a:endParaRPr lang="en-US" sz="1400" dirty="0"/>
          </a:p>
        </p:txBody>
      </p:sp>
      <p:sp>
        <p:nvSpPr>
          <p:cNvPr id="11" name="Text 8"/>
          <p:cNvSpPr txBox="1"/>
          <p:nvPr/>
        </p:nvSpPr>
        <p:spPr>
          <a:xfrm>
            <a:off x="685800" y="3191256"/>
            <a:ext cx="3566160" cy="457200"/>
          </a:xfrm>
          <a:prstGeom prst="rect">
            <a:avLst/>
          </a:prstGeom>
          <a:noFill/>
          <a:ln/>
        </p:spPr>
        <p:txBody>
          <a:bodyPr wrap="square" lIns="0" tIns="0" rIns="0" bIns="0" rtlCol="0" anchor="t"/>
          <a:lstStyle/>
          <a:p>
            <a:pPr indent="0" marL="0">
              <a:buNone/>
            </a:pPr>
            <a:r>
              <a:rPr lang="en-US" sz="1200" dirty="0">
                <a:solidFill>
                  <a:schemeClr val="tx2"/>
                </a:solidFill>
              </a:rPr>
              <a:t>Tema 8: testi, documenti e conoscenza (completato)</a:t>
            </a:r>
            <a:endParaRPr lang="en-US"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4" name="Text 11"/>
          <p:cNvSpPr txBox="1"/>
          <p:nvPr/>
        </p:nvSpPr>
        <p:spPr>
          <a:xfrm>
            <a:off x="4937760" y="1572768"/>
            <a:ext cx="3566160" cy="365760"/>
          </a:xfrm>
          <a:prstGeom prst="rect">
            <a:avLst/>
          </a:prstGeom>
          <a:noFill/>
          <a:ln/>
        </p:spPr>
        <p:txBody>
          <a:bodyPr wrap="square" lIns="0" tIns="0" rIns="0" bIns="0" rtlCol="0" anchor="t"/>
          <a:lstStyle/>
          <a:p>
            <a:pPr indent="0" marL="0">
              <a:buNone/>
            </a:pPr>
            <a:r>
              <a:rPr lang="en-US" sz="1600" b="1" dirty="0">
                <a:solidFill>
                  <a:schemeClr val="bg1"/>
                </a:solidFill>
              </a:rPr>
              <a:t>Tema 9: AI per dati e analisi</a:t>
            </a:r>
            <a:endParaRPr lang="en-US" sz="1600" dirty="0"/>
          </a:p>
        </p:txBody>
      </p:sp>
      <p:sp>
        <p:nvSpPr>
          <p:cNvPr id="15" name="Text 12"/>
          <p:cNvSpPr txBox="1"/>
          <p:nvPr/>
        </p:nvSpPr>
        <p:spPr>
          <a:xfrm>
            <a:off x="4937760" y="1920240"/>
            <a:ext cx="3566160" cy="274320"/>
          </a:xfrm>
          <a:prstGeom prst="rect">
            <a:avLst/>
          </a:prstGeom>
          <a:noFill/>
          <a:ln/>
        </p:spPr>
        <p:txBody>
          <a:bodyPr wrap="square" lIns="0" tIns="0" rIns="0" bIns="0" rtlCol="0" anchor="t"/>
          <a:lstStyle/>
          <a:p>
            <a:pPr indent="0" marL="0">
              <a:buNone/>
            </a:pPr>
            <a:r>
              <a:rPr lang="en-US" sz="1200" i="1" dirty="0">
                <a:solidFill>
                  <a:schemeClr val="accent3"/>
                </a:solidFill>
              </a:rPr>
              <a:t>Dal testo strutturato all'analisi dei dati</a:t>
            </a:r>
            <a:endParaRPr lang="en-US" sz="1200" dirty="0"/>
          </a:p>
        </p:txBody>
      </p:sp>
      <p:sp>
        <p:nvSpPr>
          <p:cNvPr id="16" name="Text 13"/>
          <p:cNvSpPr txBox="1"/>
          <p:nvPr/>
        </p:nvSpPr>
        <p:spPr>
          <a:xfrm>
            <a:off x="4937760" y="237744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7" name="Text 14"/>
          <p:cNvSpPr txBox="1"/>
          <p:nvPr/>
        </p:nvSpPr>
        <p:spPr>
          <a:xfrm>
            <a:off x="4937760" y="2697480"/>
            <a:ext cx="356616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10: AI multimodale</a:t>
            </a:r>
            <a:endParaRPr lang="en-US" sz="1300" dirty="0"/>
          </a:p>
          <a:p>
            <a:pPr marL="177800" indent="-177800">
              <a:spcAft>
                <a:spcPts val="500"/>
              </a:spcAft>
              <a:buSzPct val="100000"/>
              <a:buChar char="•"/>
            </a:pPr>
            <a:r>
              <a:rPr lang="en-US" sz="1300" dirty="0">
                <a:solidFill>
                  <a:schemeClr val="bg1"/>
                </a:solidFill>
              </a:rPr>
              <a:t>Tema 11: assistenti, agenti e automazioni</a:t>
            </a:r>
            <a:endParaRPr lang="en-US" sz="1300" dirty="0"/>
          </a:p>
          <a:p>
            <a:pPr marL="177800" indent="-177800">
              <a:spcAft>
                <a:spcPts val="500"/>
              </a:spcAft>
              <a:buSzPct val="100000"/>
              <a:buChar char="•"/>
            </a:pPr>
            <a:r>
              <a:rPr lang="en-US" sz="1300" dirty="0">
                <a:solidFill>
                  <a:schemeClr val="bg1"/>
                </a:solidFill>
              </a:rPr>
              <a:t>Tema 14: dati e conoscenza aziendale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Liu, N. F. et al. (2024). Lost in the Middle: How Language Models Use Long Contexts. Transactions of the ACL, 12, 157-173.</a:t>
            </a:r>
            <a:endParaRPr lang="en-US" sz="1300" dirty="0"/>
          </a:p>
          <a:p>
            <a:pPr marL="177800" indent="-177800">
              <a:spcAft>
                <a:spcPts val="1000"/>
              </a:spcAft>
              <a:buSzPct val="100000"/>
              <a:buChar char="•"/>
            </a:pPr>
            <a:r>
              <a:rPr lang="en-US" sz="1300" dirty="0">
                <a:solidFill>
                  <a:schemeClr val="tx1"/>
                </a:solidFill>
              </a:rPr>
              <a:t>Lewis, P. et al. (2020). Retrieval-Augmented Generation for Knowledge-Intensive NLP Tasks. NeurIPS 2020.</a:t>
            </a:r>
            <a:endParaRPr lang="en-US" sz="1300" dirty="0"/>
          </a:p>
          <a:p>
            <a:pPr marL="177800" indent="-177800">
              <a:spcAft>
                <a:spcPts val="1000"/>
              </a:spcAft>
              <a:buSzPct val="100000"/>
              <a:buChar char="•"/>
            </a:pPr>
            <a:r>
              <a:rPr lang="en-US" sz="1300" dirty="0">
                <a:solidFill>
                  <a:schemeClr val="tx1"/>
                </a:solidFill>
              </a:rPr>
              <a:t>Gli esempi di documenti, email, offerte e procedure presenti nelle slide sono fittizi.</a:t>
            </a:r>
            <a:endParaRPr lang="en-US" sz="13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82</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8: AI per testi, documenti e conoscenza</dc:title>
  <dc:subject>Percorso AI Literacy</dc:subject>
  <dc:creator>Percorso AI Literacy</dc:creator>
  <cp:lastModifiedBy>Percorso AI Literacy</cp:lastModifiedBy>
  <cp:revision>1</cp:revision>
  <dcterms:created xsi:type="dcterms:W3CDTF">2026-10-09T12:35:19Z</dcterms:created>
  <dcterms:modified xsi:type="dcterms:W3CDTF">2026-10-09T12:35:19Z</dcterms:modified>
</cp:coreProperties>
</file>