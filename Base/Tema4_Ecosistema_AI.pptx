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Lst>
  <p:notesMasterIdLst>
    <p:notesMasterId r:id="rId7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zione" id="{9ebbd4bb-1010-ae16-b3e4-ce8d069a70c5}">
          <p14:sldIdLst>
            <p14:sldId id="256"/>
            <p14:sldId id="257"/>
            <p14:sldId id="258"/>
            <p14:sldId id="259"/>
          </p14:sldIdLst>
        </p14:section>
        <p14:section name="4.1 Struttura dell'ecosistema" id="{98851dbc-2c16-dd80-c262-bb55cd6e6730}">
          <p14:sldIdLst>
            <p14:sldId id="260"/>
            <p14:sldId id="261"/>
            <p14:sldId id="262"/>
            <p14:sldId id="263"/>
            <p14:sldId id="264"/>
            <p14:sldId id="265"/>
            <p14:sldId id="266"/>
            <p14:sldId id="267"/>
          </p14:sldIdLst>
        </p14:section>
        <p14:section name="4.2 Famiglie di modelli" id="{57454123-1429-0cd1-4fb6-a81faffe8073}">
          <p14:sldIdLst>
            <p14:sldId id="268"/>
            <p14:sldId id="269"/>
            <p14:sldId id="270"/>
            <p14:sldId id="271"/>
            <p14:sldId id="272"/>
            <p14:sldId id="273"/>
            <p14:sldId id="274"/>
          </p14:sldIdLst>
        </p14:section>
        <p14:section name="4.3 Piattaforme e strumenti" id="{ff432531-6e4f-1a83-c11d-865ef93756be}">
          <p14:sldIdLst>
            <p14:sldId id="275"/>
            <p14:sldId id="276"/>
            <p14:sldId id="277"/>
            <p14:sldId id="278"/>
            <p14:sldId id="279"/>
            <p14:sldId id="280"/>
            <p14:sldId id="281"/>
            <p14:sldId id="282"/>
          </p14:sldIdLst>
        </p14:section>
        <p14:section name="4.4 Generalista, specializzata, integrata" id="{d74f9a4e-9f14-baa2-1ed5-fc7389a5e733}">
          <p14:sldIdLst>
            <p14:sldId id="283"/>
            <p14:sldId id="284"/>
            <p14:sldId id="285"/>
            <p14:sldId id="286"/>
            <p14:sldId id="287"/>
            <p14:sldId id="288"/>
            <p14:sldId id="289"/>
          </p14:sldIdLst>
        </p14:section>
        <p14:section name="4.5 Chatbot, assistenti, agenti" id="{330c7a80-dad1-ae57-08ba-6a3d28d83d65}">
          <p14:sldIdLst>
            <p14:sldId id="290"/>
            <p14:sldId id="291"/>
            <p14:sldId id="292"/>
            <p14:sldId id="293"/>
            <p14:sldId id="294"/>
            <p14:sldId id="295"/>
            <p14:sldId id="296"/>
            <p14:sldId id="297"/>
          </p14:sldIdLst>
        </p14:section>
        <p14:section name="4.6 Modalità di accesso" id="{94ce4943-388c-bfa5-2649-5a6dba75ea38}">
          <p14:sldIdLst>
            <p14:sldId id="298"/>
            <p14:sldId id="299"/>
            <p14:sldId id="300"/>
            <p14:sldId id="301"/>
            <p14:sldId id="302"/>
            <p14:sldId id="303"/>
          </p14:sldIdLst>
        </p14:section>
        <p14:section name="4.7 Criteri di scelta" id="{da0301c4-5321-0239-90c9-2e7a14cfdf85}">
          <p14:sldIdLst>
            <p14:sldId id="304"/>
            <p14:sldId id="305"/>
            <p14:sldId id="306"/>
            <p14:sldId id="307"/>
            <p14:sldId id="308"/>
            <p14:sldId id="309"/>
            <p14:sldId id="310"/>
            <p14:sldId id="311"/>
            <p14:sldId id="312"/>
          </p14:sldIdLst>
        </p14:section>
        <p14:section name="4.8 Dinamicità dell'ecosistema" id="{38b8e76c-debd-c024-2f67-256e61ceadcb}">
          <p14:sldIdLst>
            <p14:sldId id="313"/>
            <p14:sldId id="314"/>
            <p14:sldId id="315"/>
            <p14:sldId id="316"/>
            <p14:sldId id="317"/>
            <p14:sldId id="318"/>
          </p14:sldIdLst>
        </p14:section>
        <p14:section name="Conclusioni" id="{0318867e-5372-b2f2-8931-1a1028614451}">
          <p14:sldIdLst>
            <p14:sldId id="319"/>
            <p14:sldId id="320"/>
            <p14:sldId id="321"/>
            <p14:sldId id="322"/>
            <p14:sldId id="32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notesMaster" Target="notesMasters/notesMaster1.xml"/><Relationship Id="rId71" Type="http://schemas.openxmlformats.org/officeDocument/2006/relationships/presProps" Target="presProps.xml"/><Relationship Id="rId72" Type="http://schemas.openxmlformats.org/officeDocument/2006/relationships/viewProps" Target="viewProps.xml"/><Relationship Id="rId73" Type="http://schemas.openxmlformats.org/officeDocument/2006/relationships/theme" Target="theme/theme1.xml"/><Relationship Id="rId7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Benvenuti al quarto tema del percorso. Nei primi tre temi abbiamo capito perché l'AI è rilevante, come funziona e quanto possiamo fidarci dei suoi risultati. Ora guardiamo al panorama concreto: modelli, applicazioni, piattaforme, modalità di accesso. È un panorama affollato e in continuo movimento, in cui ogni settimana compaiono nuovi prodotti e nuove funzioni. L'obiettivo del modulo non è imparare a usare tutti gli strumenti, né conoscere a memoria il mercato, ma costruire una mappa stabile per orientarsi e criteri per scegliere in modo consapevole. Avvertenza importante per il relatore: esempi di prodotti, funzionalità, piani commerciali, prezzi e disponibilità geografiche cambiano rapidamente. Prima di ogni erogazione è necessario verificarli e, se serve, aggiornare le slide. Suggerimento per l'apertura: chiedere ai partecipanti quali strumenti AI conoscono o usano, anche solo di nome, e scriverli alla lavagna. La lista servirà più volte durante il modulo per collocare ciascuno strumento nella mappa.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L'obiettivo formativo è fornire una comprensione strutturata dell'ecosistema dell'AI, distinguendo modelli, applicazioni, piattaforme, infrastrutture e modalità di accesso, e sviluppare criteri per orientarsi tra le soluzioni disponibili. La consapevolezza da sviluppare riprende un concetto già incontrato nel Tema 2: il modello non è tutto. Il valore di uno strumento AI dipende anche dalle funzionalità dell'applicazione, dalle integrazioni con gli altri sistemi, dalle condizioni di utilizzo, cioè contratti, gestione dei dati e controlli, e dall'adeguatezza al contesto aziendale. E conoscere l'ecosistema non significa conoscere tutti i prodotti, ma sapersi orientare: capire come sono organizzate le soluzioni e scegliere quelle adatte alle proprie esigenze, invece di inseguire ogni novità.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dieci domande guida accompagnano il modulo. Le prime due riguardano la struttura dell'ecosistema e le sue categorie. La terza e la quarta riguardano le differenze tra prodotti e tra approcci: generalista, specializzato, integrato. La quinta riguarda chatbot, assistenti, agenti e automazioni. La sesta le modalità di accesso. Le domande dalla settima alla nona riguardano la scelta: criteri di confronto, licenze e dipendenza dal fornitore, verifica delle funzioni effettivamente disponibili. L'ultima riguarda la dinamicità dell'ecosistema e il valore delle competenze trasferibili. Alla fine del modulo torneremo su tutte con una risposta sintetica.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modulo è articolato in otto sottotemi, tutti confermati e mantenuti separati. Cinque hanno priorità alta: la struttura dell'ecosistema, le piattaforme e gli strumenti, la distinzione tra AI generalista, specializzata e integrata, le differenze tra chatbot, assistenti, agenti e automazioni, e i criteri di scelta. Tre hanno priorità media: le famiglie di modelli, le modalità di accesso e la dinamicità dell'ecosistema. Vanno compresi bene: la differenza tra modello e applicazione, le categorie di strumenti, le soluzioni generaliste e specializzate, la differenza tra chatbot, assistenti e agenti, i criteri di scelta. Vanno conosciuti: famiglie di modelli, modalità di accesso, differenze tra cloud e locale, modelli aperti e chiusi, vendor lock-in. Vanno solo accennati: infrastrutture, configurazione tecnica delle API, deployment, orchestrazione avanzata e integrazione. Confini: non ripetiamo storia e funzionamento tecnico, usiamo l'affidabilità del Tema 3 come criterio senza ripeterne la teoria, non trattiamo tecniche di interazione e prompting (Temi 5 e 6), né la progettazione di agenti e workflow, né la scelta dei casi d'uso e la governance, che appartengono ad altre aree.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Partiamo dalla mappa. Quando si parla di AI si usano spesso come sinonimi termini che indicano cose diverse: modello, sistema, applicazione, piattaforma. E si tende a identificare un prodotto con il modello che usa. In questo sottotema, da comprendere bene, mettiamo ordine: distinguiamo i componenti, i ruoli dei diversi attori e il modo in cui si combinano. È la base per tutto il resto del modulo.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termini da distinguere. Il modello è il componente addestrato che elabora gli input e genera gli output, come abbiamo visto nel Tema 2: per esempio un grande modello linguistico. Da solo non ha un'interfaccia per l'utente. Il sistema è l'insieme di componenti che lavorano insieme intorno al modello: istruzioni, accesso ai dati, strumenti, filtri di sicurezza, memoria. L'applicazione è il prodotto con cui l'utente interagisce, costruito sul sistema: un assistente conversazionale, una funzione AI dentro un programma di videoscrittura, un'app per trascrivere le riunioni. La piattaforma è un ambiente che offre più servizi e strumenti su cui costruire, configurare e gestire applicazioni AI: per esempio le piattaforme cloud che mettono a disposizione diversi modelli, strumenti di sviluppo e funzioni di amministrazione. I confini non sono sempre netti, e i fornitori usano questi termini in modo diverso. Ma la distinzione serve a porsi le domande giuste: quando valutiamo 'un'AI', stiamo valutando il modello, l'applicazione o la piattaforma?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 centro dell'ecosistema attuale ci sono i foundation models, o modelli di base: modelli di grandi dimensioni, addestrati su enormi quantità di dati molto vari, capaci di svolgere molti compiti diversi e usati come base per moltissime applicazioni. Il nome indica proprio questo ruolo di fondamenta su cui si costruisce. I grandi modelli linguistici e multimodali sono foundation models. Accanto a questi esistono i modelli specializzati: progettati o adattati per un compito o un dominio specifico, come la trascrizione vocale, la traduzione, l'analisi di immagini mediche, il riconoscimento di documenti, oppure modelli generalisti affinati sul linguaggio di un settore. Hanno ambiti più ristretti, ma spesso prestazioni migliori, costi minori o requisiti di calcolo più bassi per il compito per cui sono pensati. Nella pratica le due categorie convivono: molte applicazioni usano un foundation model per comprendere e generare il linguaggio e modelli specializzati per singole funzioni, come la trascrizione o l'estrazione di dati da documenti scansionati.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L'ecosistema è popolato da attori con ruoli diversi, che possiamo organizzare in livelli. Alla base ci sono gli operatori infrastrutturali: produttori di chip, fornitori di cloud e di data center, che offrono la capacità di calcolo necessaria per addestrare e far funzionare i modelli. Poi i fornitori di modelli: aziende e centri di ricerca che sviluppano i modelli, sia proprietari sia con pesi accessibili. Poi le piattaforme, che rendono disponibili i modelli insieme a strumenti di sviluppo, gestione e sicurezza. Infine gli sviluppatori di applicazioni, che costruiscono prodotti per utenti finali o per settori specifici, spesso usando modelli di altri. Alcune grandi aziende tecnologiche sono presenti in tutti i livelli, dall'infrastruttura all'applicazione; altre si concentrano su un solo livello. Per un'azienda utente questa mappa è utile per capire con chi ha a che fare: il fornitore dell'applicazione che usa può essere diverso dal fornitore del modello, che a sua volta può appoggiarsi all'infrastruttura di un terzo. Questo ha conseguenze, per esempio, su dove transitano i dati e su chi è responsabile di cosa. Non entriamo nei dettagli delle infrastrutture, che vanno solo accennati.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Apriamo idealmente un'applicazione AI per vedere com'è composta. Lo schema in slide è semplificato ma realistico. C'è l'interfaccia, ciò che l'utente vede: una chat, un pulsante dentro un software, un'app. C'è la logica dell'applicazione, cioè il software che decide che cosa fare con ogni richiesta, quali istruzioni aggiungere, quali dati recuperare, quale modello chiamare. Ci sono uno o più modelli, spesso di fornitori diversi: per esempio un grande modello per le risposte, un modello più piccolo ed economico per compiti semplici, un modello specializzato per la trascrizione. C'è software tradizionale, deterministico, per tutto ciò che non richiede l'AI: calcoli, regole, gestione degli utenti, archiviazione. E ci sono le connessioni ai dati e agli altri sistemi: documenti, database, CRM, posta elettronica. Il punto chiave: il modello è solo uno dei componenti, e la qualità finale dipende da come tutti i pezzi sono combinati. Due applicazioni con lo stesso modello possono offrire esperienze e risultati molto diversi.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conseguenza importante della struttura appena vista: il legame tra applicazione e modello non è fisso. Un'applicazione può usare più modelli contemporaneamente, scegliendo per ogni richiesta quello più adatto per qualità, velocità o costo; alcune applicazioni lo fanno in automatico, altre lasciano scegliere all'utente. Può cambiare modello nel tempo: quando esce una versione nuova, o quando il fornitore dell'applicazione decide di passare a un altro fornitore di modelli. E può combinare i modelli con software tradizionale, affidando all'AI solo le parti in cui è utile. Le conseguenze pratiche per chi usa questi strumenti sono tre. Primo: il comportamento di un'applicazione può cambiare, anche senza che l'interfaccia cambi, perché è cambiato il modello sottostante; una prova fatta sei mesi fa potrebbe non essere più valida. Secondo: conoscere quale modello usa un'applicazione è utile, ma non basta per valutarla. Terzo: quando si sceglie uno strumento, è utile sapere se il fornitore comunica i cambi di modello e se l'azienda può influire su questa scelta.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Dal punto di vista dell'azienda utente, possiamo distinguere due configurazioni tipiche. Gli ecosistemi integrati: un unico grande fornitore offre modello, applicazioni, piattaforma e infrastruttura, spesso integrati con altri suoi prodotti già in uso in azienda, come la suite di produttività o il servizio di posta. Vantaggi: semplicità, coerenza, un solo interlocutore, integrazione immediata con gli strumenti esistenti. Limiti: maggiore dipendenza da un solo fornitore e minore libertà di scegliere il componente migliore per ogni esigenza. Le soluzioni composte: l'azienda combina componenti di fornitori diversi, per esempio un modello di un fornitore, una piattaforma di un altro, un'applicazione specializzata di un terzo, collegati tra loro. Vantaggi: flessibilità, possibilità di scegliere il meglio per ogni funzione, minore dipendenza. Limiti: maggiore complessità di integrazione, gestione e responsabilità, e più contratti da governare. Non c'è una configurazione giusta in assoluto: dipende dalle dimensioni dell'azienda, dalle competenze interne, dai sistemi già in uso. Torneremo su questi aspetti parlando di vendor lock-in nel sottotema 4.7.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L'ecosistema si articola in livelli: infrastrutture, modelli, piattaforme, applicazioni. Un'applicazione combina interfaccia, logica, uno o più modelli, software tradizionale e connessioni ai dati, e può cambiare modello nel tempo. Le aziende possono affidarsi a ecosistemi integrati o comporre soluzioni di fornitori diversi. Domanda di verifica: riprendiamo la lista di strumenti scritta alla lavagna all'inizio. Per ciascuno, sappiamo dire se è un modello, un'applicazione o una piattaforma? E chi ne è il fornitore?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Dopo aver visto il ruolo dei modelli nell'ecosistema, li classifichiamo. È un sottotema a priorità media, da conoscere: non serve imparare i nomi dei singoli modelli, ma riconoscere le famiglie, capire le differenze di dimensioni e requisiti e, soprattutto, comprendere la distinzione tra modelli proprietari e modelli con pesi accessibili, che ha conseguenze concrete sulle possibilità di controllo da parte delle aziende.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Possiamo raggruppare i modelli in quattro grandi famiglie, con la consueta avvertenza che i confini si sovrappongono. I modelli linguistici generalisti: elaborano e generano testo, e sono alla base degli assistenti conversazionali. I modelli multimodali: ricevono e talvolta producono più tipi di dati, come testo, immagini, audio; oggi i principali modelli generalisti sono in gran parte multimodali. I modelli per immagini, audio e video: specializzati nella generazione o nell'elaborazione di questi contenuti, per esempio la generazione di immagini da descrizioni testuali, la trascrizione del parlato, la sintesi vocale, la generazione di brevi video. I modelli specializzati per attività o domini: pensati per compiti specifici, come la classificazione di documenti, la traduzione, l'analisi di codice, oppure per settori come quello medico, legale o finanziario. Gli esempi di modelli citati nelle note vanno verificati e aggiornati prima di ogni sessione, perché cambiano rapidamente: tra le famiglie note di modelli generalisti ci sono quelle sviluppate da OpenAI, Anthropic, Google, Meta, Mistral e diversi sviluppatori cinesi.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modelli differiscono molto per dimensioni, e le dimensioni hanno conseguenze pratiche. I modelli grandi, con centinaia di miliardi di parametri o più, offrono in genere le capacità più ampie, soprattutto nel ragionamento complesso e nella conoscenza generale. Ma richiedono infrastrutture potenti, quindi sono di norma usati via cloud, e sono più costosi e lenti per singola richiesta. I modelli piccoli, con pochi miliardi di parametri, hanno capacità più limitate, ma sono veloci, economici e possono funzionare su un server aziendale, su un normale computer o persino su uno smartphone. Per molti compiti ben definiti, come classificare, estrarre informazioni o riassumere testi brevi, un modello piccolo può essere sufficiente. Molti fornitori offrono oggi famiglie di modelli in più taglie, dalla più potente alla più leggera, proprio per coprire esigenze diverse. Il messaggio pratico: il modello più grande non è sempre la scelta migliore. Conviene scegliere il modello più adatto al compito, bilanciando qualità, velocità, costo e requisiti tecnici.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distinzione fondamentale riguarda l'accesso al modello. I modelli proprietari, detti anche chiusi, sono accessibili solo tramite i servizi del fornitore: un'applicazione o un'API. L'azienda utente non riceve il modello, ma ne usa le capacità come servizio. Vantaggi: in genere sono tra i modelli più capaci, non richiedono infrastruttura propria, sono aggiornati e gestiti dal fornitore. Limiti: i dati devono transitare verso il fornitore, secondo le sue condizioni; il fornitore può modificare o ritirare il modello; le possibilità di personalizzazione sono quelle previste dal servizio. I modelli con pesi accessibili, in inglese open-weight, sono modelli i cui parametri, cioè i 'pesi', sono resi scaricabili. L'azienda può quindi eseguirli sulla propria infrastruttura o su un cloud di sua scelta, personalizzarli con un addestramento aggiuntivo e mantenerli invariati nel tempo. Vantaggi: maggiore controllo, possibilità di esecuzione locale, nessuna dipendenza dalla disponibilità del servizio. Limiti: servono competenze e infrastruttura, la responsabilità della gestione e della sicurezza passa all'azienda, e le capacità dei modelli più grandi e recenti possono essere diverse da quelle dei migliori modelli proprietari. Esempi noti di famiglie open-weight, da verificare, sono quelle di Meta, Mistral, Google e diversi sviluppatori cinesi.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precisazione importante, perché i termini vengono spesso confusi, anche nella comunicazione commerciale. Un modello AI non è solo i suoi pesi: comprende anche il codice per eseguirlo e addestrarlo, i dati con cui è stato addestrato e le condizioni d'uso, cioè la licenza. Ognuno di questi elementi può essere aperto o chiuso. Un modello open-weight rende disponibili i pesi, ma spesso non i dati di addestramento né tutto il codice, e la licenza può contenere limitazioni: per esempio divieti per certi usi, obblighi di attribuzione, o restrizioni per aziende sopra una certa dimensione. Il termine open-source, nella tradizione del software, indica invece la libertà di usare, studiare, modificare e redistribuire senza discriminazioni. Nel 2024 l'Open Source Initiative, l'organizzazione che custodisce la definizione di open source, ha pubblicato una definizione specifica per l'AI, che richiede anche informazioni dettagliate sui dati di addestramento e la disponibilità del codice. Molti modelli presentati come 'open' non la soddisfano. Il messaggio pratico: davanti a un modello 'aperto', chiedersi che cosa è aperto, e leggere la licenza.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integrazione del sottotema collega il grado di apertura alle possibilità concrete per un'azienda. La tabella confronta quattro possibilità: controllare dove vengono elaborati i dati, modificare il modello con un addestramento aggiuntivo, distribuirlo all'interno di propri prodotti, eseguirlo localmente senza connessione a servizi esterni. Con un modello proprietario usato come servizio, queste possibilità dipendono interamente dal fornitore: alcuni offrono scelte sulla regione di elaborazione dei dati o forme di personalizzazione, ma sempre dentro il proprio servizio. Con un modello open-weight, l'azienda può in genere eseguire il modello dove vuole, personalizzarlo e mantenerlo, ma la distribuzione e certi usi dipendono dalla licenza specifica. Con un modello pienamente open-source, le libertà sono più ampie. Attenzione però a non trasformare l'apertura in un valore assoluto. Più controllo significa anche più responsabilità e più competenze necessarie. Per molte aziende un servizio proprietario con buone garanzie contrattuali è la scelta più sensata; per altre, per esempio con dati molto sensibili o esigenze di funzionamento senza rete, il controllo diretto può essere decisivo.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I modelli si differenziano per famiglia, cioè linguistici, multimodali, per media, specializzati; per dimensione, con conseguenze su capacità, costi e requisiti; e per grado di apertura, con conseguenze sul controllo. Open-weight non equivale a open-source, e la licenza va sempre letta. Domanda di verifica: un'azienda deve analizzare documenti molto riservati su computer non collegati a internet. Quali tipi di modelli può considerare? Risposta: modelli open-weight, probabilmente di dimensioni contenute, eseguiti localmente, verificando che la licenza ne consenta l'uso.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Passiamo dai modelli ai prodotti. Questo sottotema offre una fotografia dell'offerta attuale, con alcuni esempi indicativi. Ricordiamo il criterio del documento di perimetro: i nomi dei prodotti, le funzioni e le condizioni cambiano rapidamente e vanno verificati prima di ogni sessione. Ciò che conta, e che resta valido nel tempo, è saper leggere l'offerta: distinguere le categorie, riconoscere le funzionalità comuni e le differenze, e verificare ciò che è davvero disponibile.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categoria più visibile è quella degli assistenti AI generalisti: applicazioni conversazionali, utilizzabili per compiti molto diversi, accessibili via web, app per computer e smartphone. Il documento di perimetro indica quattro esempi indicativi, tra i più diffusi. ChatGPT, sviluppato da OpenAI, è l'assistente che ha portato l'AI generativa al grande pubblico nel 2022. Claude, sviluppato da Anthropic. Gemini, sviluppato da Google, integrato anche nei servizi e nella suite di produttività Google. Copilot, il marchio con cui Microsoft offre funzioni AI, sia come assistente autonomo sia integrato nella suite Microsoft 365 e in altri prodotti. Ciascuno usa modelli sviluppati dal proprio fornitore o da partner: Copilot, per esempio, si basa in larga parte su modelli di OpenAI, accanto ad altri. Esistono naturalmente molti altri assistenti, anche di sviluppatori europei e asiatici. Non facciamo qui una classifica e non confrontiamo le prestazioni, che cambiano a ogni versione: ci interessa riconoscere la categoria e, nelle prossime slide, le funzionalità comuni e le differenze. Nota per il relatore: verificare prima di ogni sessione nomi, fornitori, integrazioni e disponibilità in Italia.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Oltre agli assistenti generalisti, l'offerta comprende molte altre categorie. Gli strumenti per ricerca e analisi: motori di ricerca con risposte generate e fonti citate, strumenti per l'analisi di documenti e dati, funzioni di 'ricerca approfondita' che consultano molte fonti e producono un rapporto. Gli strumenti di produttività: funzioni AI dentro posta, calendario, videoscrittura, fogli di calcolo, presentazioni, videoconferenze, come la trascrizione e la sintesi delle riunioni. Gli strumenti per produzione e gestione di contenuti: generazione di immagini, video, audio e voce, supporto alla scrittura di testi di marketing, traduzione, gestione di contenuti per siti e social. Le applicazioni specializzate: soluzioni per funzioni o settori specifici, come l'assistenza clienti, la selezione del personale, l'analisi legale, lo sviluppo software, la contabilità. Nel 4.4 vedremo che molte di queste capacità arrivano integrate in software già presenti in azienda. Suggerimento: riprendere la lista della lavagna e collocare ciascuno strumento in una categoria.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Gli assistenti generalisti hanno oggi molte funzionalità in comune: conversazione in linguaggio naturale, scrittura e revisione di testi, caricamento e analisi di documenti, comprensione di immagini, quasi sempre ricerca sul web, spesso generazione di immagini, analisi di dati con esecuzione di codice, funzioni vocali. A prima vista sembrano quindi molto simili. Le differenze, però, possono essere rilevanti e stanno spesso in aspetti meno visibili. La qualità delle risposte nei compiti che ci interessano. Le integrazioni con gli altri strumenti aziendali, come posta, documenti, CRM. Le funzioni per il lavoro di gruppo, come progetti condivisi e assistenti configurati. I limiti di utilizzo, come il numero di richieste o la dimensione dei file. Le funzioni di amministrazione e controllo per le aziende. Le condizioni sull'uso dei dati, per esempio se le conversazioni possono essere usate per addestrare i modelli. E la disponibilità di ciascuna funzione nel piano che si usa. Il concetto chiave del sottotema lo esprime così: due prodotti dall'interfaccia simile possono offrire capacità, integrazioni, controlli e condizioni molto diversi.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Riprendiamo una distinzione già vista nei Temi 2 e 3, perché qui diventa uno strumento di lettura dell'offerta. Quando un prodotto dichiara una capacità, conviene chiedersi da dove deriva. Alcune capacità derivano soprattutto dal modello: la qualità della scrittura, il ragionamento, la comprensione di immagini, la lunghezza del contesto gestibile. Altre derivano dall'applicazione: la ricerca sul web, l'esecuzione di codice, il collegamento a posta e documenti, la memoria tra conversazioni, i progetti condivisi, i controlli amministrativi, la gestione dei dati. Questa distinzione spiega situazioni frequenti. Lo stesso modello può essere disponibile in due applicazioni diverse con funzioni molto diverse. Un'applicazione può migliorare molto senza cambiare modello, aggiungendo funzioni. E una capacità del modello può non essere disponibile in una certa applicazione o in un certo piano. Per chi valuta uno strumento, il messaggio è chiaro: non basta sapere quale modello usa; bisogna verificare quali funzioni offre l'applicazione, nella configurazione che useremo.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Anche all'interno dello stesso prodotto, le funzionalità non sono le stesse per tutti. Dipendono da almeno quattro fattori. Il piano: le versioni gratuite, individuali a pagamento, per team e per grandi aziende offrono modelli, limiti di utilizzo e funzioni diverse, e spesso condizioni diverse sull'uso dei dati. L'area geografica: alcune funzioni vengono lanciate prima in certi paesi, o non sono disponibili in altri, anche per ragioni normative; in Europa alcune funzioni sono arrivate in ritardo o con limitazioni. La configurazione organizzativa: nelle versioni aziendali gli amministratori possono attivare o disattivare funzioni, come la ricerca web, i collegamenti a servizi esterni o la memoria, in base alle politiche interne. La modalità di accesso: la versione web, l'app per computer, l'app per smartphone e l'accesso via API non offrono sempre le stesse funzioni. La conseguenza pratica: quando un collega dice 'lo strumento X può fare Y', bisogna chiedersi: in quale piano, in quale paese, con quale configurazione, da quale applicazione? Ed è il motivo per cui una dimostrazione vista online può non essere riproducibile nel nostro ambiente.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integrazione, che ritroveremo anche nel sottotema 4.7, invita a distinguere ciò che il fornitore comunica da ciò che è concretamente accessibile e utilizzabile. La comunicazione commerciale presenta di solito le capacità migliori, nelle condizioni migliori, spesso con funzioni appena annunciate, in anteprima o disponibili solo in alcuni piani e paesi. Non è necessariamente scorretta, ma è incompleta. Lo schema propone quattro passaggi di verifica. Primo: leggere la documentazione ufficiale, non solo gli annunci, cercando le note su disponibilità, limiti e requisiti. Secondo: verificare la configurazione specifica, cioè piano, paese, impostazioni dell'amministratore. Terzo: provare la funzione nell'ambiente reale, con i propri casi e i propri dati di prova, come abbiamo visto nel Tema 3. Quarto: controllare le condizioni, cioè limiti d'uso, costi aggiuntivi, termini sui dati. Termini come 'anteprima', 'beta', 'in arrivo', 'disponibile per alcuni utenti' sono segnali da non sottovalutare: indicano funzioni non ancora stabili o non ancora disponibili per tutti.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L'offerta comprende assistenti generalisti, strumenti di ricerca e analisi, di produttività, di contenuti e applicazioni specializzate. Gli assistenti hanno molte funzioni comuni, ma le differenze stanno in qualità, integrazioni, controlli, limiti e condizioni sui dati. Le funzioni dipendono anche da piano, paese, configurazione e modalità di accesso, e ciò che viene annunciato non coincide sempre con ciò che è disponibile. Domanda di verifica: avete visto in un video una funzione di un assistente AI che vi interessa. Che cosa verificate prima di proporla ai colleghi? Risposta: documentazione ufficiale, disponibilità nel nostro piano e paese, configurazione aziendale, prova reale e condizioni.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Dopo la fotografia dell'offerta, distinguiamo gli approcci. È un sottotema da comprendere bene, perché risponde a una domanda molto concreta: per una certa esigenza, conviene uno strumento generalista, una soluzione specializzata, o le funzioni AI già presenti nei software che usiamo? E qual è la differenza tra usare uno strumento AI e integrare l'AI in un processo?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capacità AI possono arrivare in azienda attraverso tre approcci. Le soluzioni generaliste: strumenti come gli assistenti conversazionali, utilizzabili per compiti molto diversi da persone con ruoli diversi. Sono flessibili e immediati, ma richiedono che sia l'utente a portare il contesto, cioè documenti, informazioni e istruzioni. Le applicazioni specializzate: strumenti sviluppati per una funzione o un'attività specifica, come l'assistenza clienti, la selezione del personale, l'analisi dei contratti, la manutenzione degli impianti. Conoscono il dominio, hanno flussi di lavoro pensati per quell'attività e spesso integrazioni specifiche, ma servono solo a quello. L'AI integrata nei software esistenti: funzioni AI che compaiono dentro gli strumenti già in uso, come la suite di produttività, il CRM, l'ERP, il gestionale. Lavorano direttamente sui dati e nei flussi già presenti, senza cambiare strumento, ma con le capacità e i limiti scelti dal fornitore del software. Il concetto chiave del sottotema sottolinea un punto spesso trascurato: adottare l'AI non richiede necessariamente un nuovo applicativo. A volte la via più semplice è attivare e imparare a usare bene le funzioni AI di ciò che si ha già.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parte crescente delle capacità AI arriva dentro software che le aziende usano già. Nelle suite di produttività, come quelle di Microsoft e Google: scrivere e riassumere email, preparare bozze di documenti e presentazioni, analizzare fogli di calcolo, trascrivere e sintetizzare riunioni, cercare informazioni tra i propri file. Nei CRM: riassumere la storia di un cliente, suggerire le prossime azioni, preparare bozze di comunicazioni, classificare le richieste. Negli ERP e nei gestionali: leggere documenti come fatture e ordini, segnalare anomalie, rispondere a domande sui dati aziendali in linguaggio naturale, prevedere scorte o flussi di cassa. Il vantaggio principale è che queste funzioni hanno già accesso ai dati e ai flussi di lavoro, rispettano i permessi esistenti e non richiedono di spostare informazioni in un altro strumento. I limiti: le capacità dipendono dalle scelte del fornitore, spesso sono disponibili solo in certi piani o con licenze aggiuntive, e funzionano bene solo se i dati nel sistema sono di buona qualità. I casi d'uso specifici per funzione saranno trattati nell'area dell'adozione aziendale.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seconda dimensione, trasversale alle precedenti, distingue le soluzioni pronte all'uso da quelle personalizzate. Le soluzioni pronte all'uso si attivano e si usano così come sono, con eventuali configurazioni di base: rapidità, costi prevedibili, manutenzione a carico del fornitore, ma adattamento limitato alle specificità aziendali. Le soluzioni personalizzate sono adattate o costruite per le esigenze dell'azienda: per esempio un assistente collegato alle procedure interne con un sistema RAG, un flusso che combina un modello con i dati del gestionale, un'applicazione sviluppata su una piattaforma. Offrono un adattamento molto maggiore, ma richiedono tempi, competenze, investimenti e manutenzione continua. Tra i due estremi c'è una fascia intermedia molto importante e in crescita: la configurazione senza sviluppo. Molti strumenti generalisti permettono di creare assistenti personalizzati con istruzioni proprie, documenti di riferimento e collegamenti a fonti aziendali, senza scrivere codice. Spesso è il modo più rapido per ottenere un buon adattamento. Non entriamo nelle procedure di integrazione, che vanno solo accennate.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tabella riassume vantaggi e limiti dei tre approcci, per aiutare a rispondere alla quarta domanda guida: quando ha senso usare uno strumento generalista, una soluzione specializzata o l'AI integrata? Lo strumento generalista è adatto quando i compiti sono vari, quando si vuole sperimentare, quando le persone hanno bisogno di un supporto trasversale alla scrittura, all'analisi, alla ricerca. La soluzione specializzata è adatta quando c'è un'attività ricorrente, importante e ben definita, con esigenze specifiche di dominio, flussi e integrazioni. L'AI integrata è adatta quando il lavoro avviene già dentro un certo software, e quando si vuole sfruttare dati e permessi esistenti senza spostare informazioni. Nella pratica le aziende usano spesso una combinazione: uno strumento generalista per tutti, le funzioni AI dei software principali, e soluzioni specializzate per pochi processi chiave. Sottolineare che si tratta di indicazioni generali: la valutazione dei casi d'uso specifici appartiene all'area dell'adozione aziendale.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L'ultimo punto del sottotema distingue due modi di adottare l'AI, che hanno implicazioni molto diverse. Usare uno strumento AI significa che una persona, nel suo lavoro, apre un assistente e lo usa per un compito: scrivere una bozza, riassumere un documento. Il processo aziendale non cambia; cambia il modo in cui la persona svolge una parte del suo lavoro. I benefici dipendono dall'iniziativa e dalla competenza dei singoli. Integrare capacità AI in un processo significa invece ridisegnare un flusso di lavoro inserendo l'AI in uno o più passaggi, in modo sistematico: per esempio, tutte le richieste che arrivano all'assistenza vengono classificate automaticamente, ricevono una bozza di risposta, e l'operatore verifica e invia. Qui cambiano il processo, i ruoli, i controlli, e servono integrazione con i sistemi, regole, monitoraggio. I benefici possono essere più ampi e misurabili, ma anche l'impegno e i rischi. Entrambi gli approcci sono legittimi e spesso il primo prepara il secondo: l'uso individuale fa emergere le attività in cui l'integrazione può valere la pena. La progettazione dei processi appartiene all'area dell'adozione aziendale.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Tre approcci, generalista, specializzato e integrato, con vantaggi e limiti diversi, spesso combinati. Una seconda dimensione va dal pronto all'uso al personalizzato, passando per la configurazione senza sviluppo. E usare uno strumento è diverso da integrare l'AI in un processo. Domanda di verifica: quali funzioni AI sono già disponibili nei software che usate ogni giorno? Le avete mai attivate o provate? Spesso la risposta sorprende: molte capacità sono già lì.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sottotema da comprendere nelle differenze, perché i termini chatbot, assistente, agente e automazione sono usati molto, spesso in modo confuso, e la terminologia di mercato non è standardizzata. Introduciamo le categorie e i livelli di autonomia, senza progettare flussi di lavoro: la progettazione di agenti e automazioni sarà oggetto di un tema dedicato.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Possiamo ordinare queste categorie lungo uno spettro di autonomia crescente. Il chatbot conversa: risponde a domande e richieste, un messaggio alla volta, e la persona decide che cosa fare delle risposte. L'assistente configurato è un chatbot adattato a un compito specifico, con istruzioni, documenti e talvolta strumenti propri: per esempio un assistente per le domande sulle procedure HR. Il sistema con strumenti, oltre a rispondere, può usare strumenti esterni: cercare sul web, eseguire codice, leggere un file, consultare un database, e talvolta compiere un'azione, come creare un evento in calendario, su richiesta. L'agente riceve un obiettivo e svolge in modo relativamente autonomo una sequenza di passaggi per raggiungerlo: pianifica, usa strumenti, valuta i risultati intermedi, decide il passo successivo. Accanto a questi c'è l'automazione, che segue una logica diversa: esegue un flusso predefinito, attivato da un evento, che può includere uno o più passaggi con AI. Il punto chiave: muovendosi lungo lo spettro, cresce quanto il sistema decide e agisce da solo, e cambia il ruolo della persona, da chi usa le risposte a chi supervisiona le azioni.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Partiamo dai livelli più semplici. Il termine chatbot ha una storia lunga: per anni ha indicato i sistemi di risposta automatica dei siti web, spesso basati su regole e menu predefiniti, piuttosto rigidi. Oggi indica soprattutto le interfacce conversazionali basate su modelli linguistici, molto più flessibili. In entrambi i casi la logica è la stessa: domanda e risposta, e la persona decide che cosa fare. Gli assistenti configurati sono un passo avanti: partendo da un assistente generalista, si definiscono istruzioni specifiche, un tono, un ambito, si caricano documenti di riferimento, talvolta si collegano fonti aziendali. Il risultato è un assistente dedicato: per le domande dei dipendenti sulle procedure, per la redazione di offerte secondo lo stile aziendale, per il supporto al servizio clienti. Molti strumenti permettono di creare questi assistenti senza programmare, e di condividerli con i colleghi. Il loro valore sta nel fatto che il contesto non va fornito ogni volta: è incorporato nella configurazione. Restano però sistemi che rispondono, con i limiti di affidabilità visti nel Tema 3, e le cui risposte vanno usate con giudizio.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salto qualitativo avviene quando il sistema non si limita a rispondere, ma usa strumenti. Un sistema con strumenti può, per esempio, cercare informazioni aggiornate sul web, eseguire codice per un calcolo, leggere un file, interrogare un database, e in alcuni casi compiere azioni nei sistemi collegati: inviare un'email, creare un evento, aggiornare un record. Di norma lo fa su richiesta dell'utente, un passo alla volta. Un agente va oltre: riceve un obiettivo, per esempio 'prepara un confronto tra le offerte di questi tre fornitori e una bozza di email per la direzione', e lo persegue attraverso un ciclo. Pianifica i passaggi, esegue un'azione usando uno strumento, osserva il risultato, decide il passo successivo, e così via fino al completamento, eventualmente chiedendo conferme. Lo schema in slide mostra questo ciclo. Gli agenti stanno diventando molto diffusi: esistono agenti che navigano sul web, che usano il computer al posto dell'utente, che svolgono ricerche approfondite, che scrivono e modificano software. Offrono grandi potenzialità per le attività composte da più passaggi, ma introducono rischi nuovi: un errore a un passaggio si propaga ai successivi, e le azioni compiute possono avere effetti reali difficili da annullare.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automazioni seguono una logica diversa dagli agenti, ed è utile non confonderle. Un'automazione tradizionale esegue un flusso predefinito, passo per passo, sempre nello stesso modo, quando si verifica un evento: per esempio, quando arriva una fattura, salvala nella cartella giusta e notifica l'amministrazione. È deterministica, prevedibile e verificabile, ma rigida: non sa gestire ciò che non è previsto. Un workflow con componenti AI mantiene la struttura predefinita, ma inserisce l'AI in uno o più passaggi per gestire ciò che le regole non sanno gestire: leggere la fattura e estrarne i dati, classificare una richiesta, scrivere la bozza di una risposta. Il percorso resta deciso da chi ha progettato il flusso; l'AI svolge compiti precisi al suo interno. La differenza con un agente è sostanziale: nel workflow è la persona a decidere la sequenza dei passaggi, nell'agente è il sistema. Per questo i workflow con AI sono spesso più prevedibili e controllabili, e sono la scelta più comune per i processi aziendali ricorrenti; gli agenti sono più flessibili ma meno prevedibili. Non progettiamo qui flussi di lavoro: lo faremo nel tema dedicato.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 crescere dell'autonomia cambia il ruolo della supervisione umana, riprendendo lo spettro supporto, supervisione, delega visto nel Tema 3. Possiamo distinguere tre modalità di intervento della persona. La persona nel ciclo, in inglese human in the loop: il sistema propone, la persona approva ogni passaggio o ogni azione rilevante prima che venga eseguita. Per esempio, l'agente prepara l'email, ma la invia solo dopo conferma. La persona sopra il ciclo, human on the loop: il sistema opera in autonomia, la persona monitora, può intervenire e fermarlo, e controlla gli esiti a campione o su eccezioni. La persona fuori dal ciclo: il sistema opera senza supervisione diretta; ammissibile solo per attività a basso impatto, ben collaudate e reversibili. Due indicazioni pratiche. Le azioni che hanno effetti esterni o difficili da annullare, come inviare comunicazioni, effettuare pagamenti, modificare dati, cancellare file, dovrebbero di norma richiedere una conferma umana. E i permessi concessi a un agente dovrebbero essere i minimi necessari: un agente che deve leggere i documenti non ha bisogno di poterli cancellare. Le implicazioni di sicurezza saranno approfondite nell'area dedicata.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Un'avvertenza finale, molto pratica. I termini che abbiamo usato non hanno definizioni condivise nel mercato, e i fornitori li usano in modi diversi, talvolta anche per ragioni di marketing. 'Assistente' può indicare un chatbot generico, un assistente configurato o un sistema con molti strumenti. 'Agente' può indicare un vero sistema che pianifica ed esegue attività in autonomia, ma anche un semplice assistente configurato o un workflow con un passaggio di AI: negli ultimi anni il termine è diventato molto di moda, e viene applicato a prodotti molto diversi. Anche 'copilota' è usato sia come nome di prodotto sia come termine generico per un assistente che affianca l'utente. La conseguenza: davanti a un prodotto, non fermarsi all'etichetta, ma chiedersi che cosa fa davvero. Le quattro domande in slide aiutano: risponde soltanto o agisce? Chi decide la sequenza dei passaggi? Quali strumenti e sistemi può usare, e con quali permessi? Quando e come interviene la persona? Le risposte permettono di collocare qualunque prodotto nello spettro, indipendentemente da come si chiama.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Chatbot, assistenti configurati, sistemi con strumenti e agenti si dispongono lungo uno spettro di autonomia crescente; le automazioni seguono una logica diversa, a flusso predefinito, e possono includere passaggi con AI. Più autonomia significa più potenzialità e più rischi, e richiede di definire bene il ruolo della persona e i permessi. E la terminologia di mercato non è standardizzata: conta che cosa fa il sistema, non come si chiama. Domanda di verifica: un fornitore vi propone un 'agente AI per la gestione degli ordini'. Quali domande fate per capire di che cosa si tratta? Le quattro domande della slide precedente.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Questo sottotema, a priorità media, riguarda il come: attraverso quali canali le capacità AI arrivano alle persone e ai sistemi aziendali. La stessa capacità, per esempio riassumere un documento, può essere usata da un'app sul telefono, da un pulsante dentro un software, da un programma aziendale che chiama un'API, o da un modello eseguito su un server interno. Vedremo le principali modalità e le loro differenze generali, senza entrare nella configurazione tecnica, che va solo accennata.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Ecco le principali modalità, dalle più vicine all'utente alle più tecniche. Le applicazioni web, desktop e mobili: si usano direttamente, tramite browser, programma installato o app sul telefono. È il modo più diffuso per gli assistenti generalisti. L'AI integrata in applicazioni esistenti: le funzioni compaiono dentro software già in uso, come abbiamo visto nel 4.4. Le API, interfacce di programmazione: permettono a un software di inviare richieste a un modello e ricevere le risposte in modo automatico, senza un'interfaccia per l'utente. Sono la base su cui gli sviluppatori costruiscono applicazioni e integrazioni. Le piattaforme cloud e i servizi gestiti: ambienti offerti dai grandi fornitori cloud che mettono a disposizione più modelli, di fornitori diversi, insieme a strumenti per costruire, gestire e controllare le applicazioni AI. L'esecuzione locale e le infrastrutture dedicate: il modello, tipicamente open-weight, gira su computer o server dell'azienda, o su un'infrastruttura riservata. Le modalità non si escludono: la stessa azienda può usarne diverse per esigenze diverse.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Vale la pena soffermarsi sulla differenza tra applicazione e API, perché spesso genera confusione, anche nei costi. Con un'applicazione, una persona interagisce con il modello attraverso un'interfaccia: scrive, legge, carica file. Di solito si paga un abbonamento per utente, con limiti di utilizzo, e si ottengono anche le funzionalità dell'applicazione, come la ricerca, la memoria, i progetti. Con un'API, è un software a dialogare con il modello: un programma aziendale invia un testo e riceve una risposta, che poi usa in un suo flusso. Non c'è interfaccia per l'utente, e le funzionalità dell'applicazione non sono incluse: vanno costruite. Di solito si paga in base al consumo, cioè alla quantità di testo elaborata, misurata in token, come abbiamo visto nel Tema 2. Le API sono quindi lo strumento per integrare l'AI nei processi e nei prodotti aziendali, mentre le applicazioni sono lo strumento per l'uso individuale. Anche le condizioni sull'uso dei dati possono essere diverse tra i due canali dello stesso fornitore. Non entriamo nella configurazione tecnica delle API, che va solo accennata.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scelta importante riguarda dove vengono elaborati i dati. Nel cloud, il modello gira sui server del fornitore o di una piattaforma cloud, e i dati viaggiano su internet verso quei server. Vantaggi: accesso ai modelli più potenti, nessuna infrastruttura da gestire, scalabilità, aggiornamenti continui. Aspetti da valutare: dove si trovano fisicamente i server, cioè in quale paese o regione; quali garanzie offre il fornitore sui dati; la dipendenza dalla connessione e dalla disponibilità del servizio. Molti fornitori permettono di scegliere la regione di elaborazione, per esempio l'Unione europea. Nell'esecuzione locale, il modello gira su computer o server dell'azienda, o su un'infrastruttura dedicata, e i dati non escono dal perimetro aziendale. Vantaggi: controllo massimo, funzionamento anche senza internet, costi prevedibili una volta sostenuto l'investimento. Aspetti da valutare: serve un modello open-weight adatto; servono hardware e competenze; i modelli che si possono eseguire localmente sono in genere meno capaci dei migliori modelli in cloud; la manutenzione e la sicurezza sono a carico dell'azienda. Esistono anche soluzioni intermedie, come le istanze dedicate o il cloud privato.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Molti strumenti sono offerti in versioni diverse per individui, gruppi di lavoro e grandi organizzazioni. Le differenze non riguardano solo il prezzo, ma soprattutto la gestione degli accessi, dei dati e dei controlli. Nelle versioni individuali, gratuite o a pagamento, ciascuno gestisce il proprio account; l'azienda non ha visibilità né controllo, e le condizioni sui dati sono quelle per i consumatori, che possono prevedere, per impostazione predefinita, l'uso delle conversazioni per migliorare i modelli. Nelle versioni team, un amministratore gestisce gli utenti, la fatturazione è centralizzata, ci sono spazi di lavoro condivisi e di solito garanzie migliori sui dati. Nelle versioni enterprise si aggiungono controlli avanzati: accesso con le credenziali aziendali, gestione centralizzata delle autorizzazioni, registri delle attività, controllo sulle funzioni attivabili, impegni contrattuali sulla conservazione e sull'uso dei dati, talvolta scelta della regione di elaborazione. La conseguenza pratica, molto importante: usare per lavoro un account personale gratuito non equivale a usare lo stesso strumento in versione aziendale, anche se l'interfaccia è identica. Le politiche aziendali in materia appartengono all'area dell'utilizzo responsabile.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App, AI integrata, API, piattaforme cloud ed esecuzione locale sono modi diversi di accedere a capacità simili. Cambiano chi interagisce, quali funzioni sono incluse, come si paga, dove sono elaborati i dati, quanto controllo ha l'azienda. E le versioni individuali, team ed enterprise differiscono soprattutto nella gestione di accessi, dati e controlli. Domanda di verifica: perché usare per lavoro un account personale gratuito di un assistente AI può essere problematico, anche se lo strumento è lo stesso della versione aziendale? Risposta: condizioni sui dati diverse, nessun controllo né visibilità per l'azienda.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Arriviamo al sottotema più operativo, a priorità alta, il cui obiettivo è saper valutare. Mettiamo insieme quanto visto per costruire un insieme di criteri con cui confrontare due o più soluzioni. Ricordiamo il confine: qui parliamo della scelta dello strumento, non della scelta del caso d'uso né della valutazione economica del progetto, che appartengono all'area dell'adozione aziendale. E introduciamo privacy e sicurezza come criteri, senza trattare in dettaglio norme e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Ecco gli undici criteri indicati dal documento di perimetro, raggruppati in quattro famiglie per facilitarne l'uso. Primo, l'adeguatezza: lo strumento serve alle attività e agli obiettivi che abbiamo? Le prestazioni sono di qualità e affidabili per quei compiti? È facile da usare e accessibile per le persone che lo useranno? Secondo, le funzionalità e l'integrazione: quali funzioni offre davvero e come si collega ai nostri sistemi? Terzo, i costi e le condizioni: modello di prezzo e costi complessivi, condizioni contrattuali e supporto del fornitore. Quarto, i dati e il controllo: gestione dei dati, riservatezza e sicurezza; controlli amministrativi e gestione degli utenti; portabilità di dati e configurazioni; dipendenza dal fornitore. Trasversale a tutti c'è l'undicesimo criterio: verificare le funzionalità effettivamente disponibili nella configurazione specifica. Non tutti i criteri hanno lo stesso peso in ogni situazione: per un uso sperimentale di un piccolo gruppo conteranno soprattutto adeguatezza e facilità d'uso; per un'adozione aziendale ampia, dati, controlli e lock-in diventano decisivi.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primo gruppo di criteri riguarda il rapporto tra lo strumento e le esigenze. Adeguatezza alle attività e agli obiettivi: il punto di partenza è sempre il bisogno, non lo strumento. Per quali attività lo useremo? Chi lo userà? Che cosa vogliamo ottenere? Uno strumento eccellente per la generazione di immagini è inutile se ci serve analizzare contratti. Qualità e affidabilità delle prestazioni: qui applichiamo quanto visto nel Tema 3. Non ci basiamo su benchmark e dimostrazioni, ma proviamo lo strumento sui nostri casi reali, compresi quelli difficili, e valutiamo il tipo di errori e la facilità di verificarli. Facilità d'uso e accessibilità: uno strumento potente ma complesso rischia di essere usato poco o male. Contano la chiarezza dell'interfaccia, la lingua italiana, la disponibilità sui dispositivi usati, l'accessibilità per persone con disabilità, la curva di apprendimento. Un suggerimento: coinvolgere nella prova alcuni futuri utenti reali, non solo le persone più esperte di tecnologia.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Secondo e terzo gruppo di criteri. Funzionalità disponibili e possibilità di integrazione: lo strumento offre le funzioni che ci servono, nel piano che acquisteremo? Si collega ai sistemi che usiamo, come posta, archivio documentale, CRM, gestionale? Ha API per future integrazioni? Modelli di prezzo e costi complessivi: il prezzo di listino è solo una parte del costo. I modelli di prezzo più comuni sono l'abbonamento per utente, il consumo a token tramite API, le licenze aggiuntive per funzioni AI dentro software esistenti, o combinazioni di questi. I costi complessivi comprendono anche l'integrazione con i sistemi, la configurazione, la formazione delle persone, il tempo dedicato alla verifica dei risultati, la gestione e la manutenzione, e gli eventuali costi di uscita se un giorno si cambierà strumento. Un'avvertenza: con il consumo a token i costi possono crescere in modo poco prevedibile se l'uso aumenta; con gli abbonamenti si paga anche chi usa poco. Condizioni contrattuali e supporto: livelli di servizio garantiti, assistenza in italiano, tempi di risposta, durata e recesso. I prezzi specifici cambiano rapidamente e vanno verificati al momento della valutazione.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quarto gruppo di criteri è spesso decisivo per un'adozione aziendale. Introduciamo questi temi come criteri di scelta; normativa, governance e politiche aziendali saranno approfonditi nell'area sicurezza e normativa. Gestione dei dati, riservatezza e sicurezza: le domande essenziali da porre al fornitore sono quelle in slide. I nostri dati vengono usati per addestrare i modelli? Di norma nelle versioni aziendali no, ma va verificato. Per quanto tempo sono conservati, e possiamo cancellarli? Dove vengono elaborati e conservati, in quale paese o regione? Il fornitore si appoggia a terzi, per esempio per il modello o l'infrastruttura, e con quali garanzie? Quali certificazioni di sicurezza possiede? Controlli amministrativi e gestione degli utenti: possiamo gestire centralmente chi accede e con quali permessi, usare le credenziali aziendali, disattivare funzioni non autorizzate, consultare i registri delle attività, rimuovere rapidamente l'accesso a chi lascia l'azienda? Le risposte a queste domande vanno cercate nella documentazione contrattuale e tecnica, non solo nelle pagine commerciali, e conviene coinvolgere le funzioni competenti, come IT, sicurezza e ufficio legale o privacy.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integrazione del sottotema riguarda la reversibilità delle scelte. Si parla di vendor lock-in, o dipendenza dal fornitore, quando cambiare fornitore diventa così costoso o complicato da essere, di fatto, impraticabile. Nell'AI il rischio è concreto per diverse ragioni. I dati e i contenuti prodotti possono essere difficili da esportare in formati utilizzabili altrove. Le configurazioni, come assistenti personalizzati, istruzioni, flussi di lavoro, integrazioni, possono essere specifiche di una piattaforma e da ricostruire da zero. Le integrazioni con i sistemi aziendali possono essere legate alle API di un fornitore. Le persone si abituano a uno strumento, e il cambio comporta nuova formazione. E se l'AI è integrata in una suite di produttività, cambiare significa cambiare molto di più. Le conseguenze possono riguardare la continuità del servizio, se il fornitore cambia condizioni o ritira un prodotto, la trasferibilità di dati e configurazioni, e i costi futuri, perché un fornitore da cui si dipende ha più potere negoziale. Il criterio collegato è la portabilità: la possibilità di esportare dati e configurazioni e di riutilizzarli altrove. Alcune strategie per ridurre il rischio sono in slide. Non si tratta di evitare ogni dipendenza, che è spesso inevitabile, ma di sceglierla consapevolmente.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Ritroviamo qui l'integrazione sulle capacità dichiarate e le funzionalità effettivamente disponibili, già introdotta nel 4.3, ora come parte del processo di scelta. Il principio è semplice: si sceglie sulla base di prove concrete, non sulla base della comunicazione commerciale. In pratica, prima di una scelta impegnativa, conviene organizzare una prova, spesso chiamata pilota. Le tappe in slide: definire le attività da provare e i criteri di successo; ottenere un accesso di prova nella configurazione che si intende acquistare, cioè lo stesso piano, la stessa regione, le stesse impostazioni amministrative; provare con un piccolo gruppo di utenti reali e casi reali, usando dati di prova o dati autorizzati; verificare i limiti del piano, come numero di richieste, dimensione dei file, funzioni incluse e a pagamento; raccogliere riscontri e confrontare i risultati con i criteri. Se si confrontano due strumenti, è utile provarli sugli stessi casi. Infine, ricordare che ciò che si verifica oggi può cambiare: come vedremo nel 4.8, le condizioni vanno ricontrollate nel tempo. Le metodologie strutturate di sperimentazione appartengono all'area dell'adozione aziendale.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rendere operativi i criteri, ecco una scheda di confronto semplice, che si può riprodurre in un foglio di calcolo. Per ogni criterio si attribuisce un peso, in base all'importanza per la specifica situazione, e si valuta ciascuna soluzione, per esempio da uno a cinque, annotando le evidenze raccolte: prove fatte, documenti letti, risposte del fornitore. I valori in slide sono puramente illustrativi e servono solo a mostrare il formato. Tre raccomandazioni. Primo: definire i pesi prima di valutare le soluzioni, per evitare di adattarli inconsciamente alla soluzione preferita. Secondo: alcuni criteri possono essere requisiti minimi, cioè condizioni senza le quali la soluzione è esclusa a prescindere dal punteggio, per esempio la garanzia che i dati non vengano usati per l'addestramento o l'elaborazione in Unione europea. Terzo: il punteggio aiuta a ragionare, ma non sostituisce il giudizio; serve soprattutto a rendere esplicite e discutibili le ragioni della scelta. E ricordiamo il concetto chiave: lo strumento più noto o il modello più potente non è necessariamente la scelta migliore per l'azienda.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La scelta di uno strumento AI si basa su più criteri: adeguatezza, qualità, facilità d'uso, funzionalità e integrazione, costi complessivi, contratto e supporto, dati e sicurezza, controlli, portabilità e dipendenza dal fornitore. Il loro peso dipende dalla situazione. E la scelta va fondata su prove concrete nella configurazione reale, non sulla notorietà del prodotto né sulla comunicazione commerciale. Domanda di verifica: un collega propone di adottare per tutta l'azienda l'assistente AI che usa a casa, perché 'è il migliore'. Quali criteri porterebbero a una valutazione più completa? Risposta: tutti quelli della scheda, in particolare versione aziendale, dati, controlli, integrazione, costi complessivi e prove sui casi reali.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Ultimo sottotema, a priorità media, il cui obiettivo è acquisire consapevolezza. Abbiamo ripetuto più volte che prodotti, funzioni e condizioni cambiano rapidamente. Qui guardiamo a questo fenomeno direttamente: che cosa cambia, con quali conseguenze per le aziende e le persone, e perché le competenze trasferibili sono l'investimento più solido. È anche la ragione per cui i criteri del 4.7 vanno rivisti nel tempo.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L'ecosistema AI cambia su più fronti contemporaneamente. Le capacità dei modelli: nuove versioni escono a ritmo serrato, con miglioramenti su ragionamento, multimodalità, lunghezza del contesto, velocità, costo; compiti difficili un anno prima diventano ordinari. Le funzionalità: vengono introdotte, modificate, spostate in altri piani, talvolta rimosse; un prodotto può cambiare interfaccia e logica in pochi mesi. La convergenza: applicazioni e piattaforme tendono a offrire funzioni sempre più simili, e i confini tra categorie, per esempio tra assistente, strumento di ricerca e agente, si sfumano; le suite di produttività integrano assistenti, e gli assistenti integrano funzioni di produttività. I modelli commerciali e i prezzi: piani, limiti di utilizzo e tariffe cambiano frequentemente; il costo per elaborare la stessa quantità di testo con un modello di pari capacità è sceso molto negli ultimi anni, ma i modelli più avanzati possono avere costi elevati. Il panorama competitivo: nuovi attori emergono, alcuni prodotti vengono abbandonati, aziende vengono acquisite, alleanze tra fornitori cambiano. Per il relatore: è utile citare un esempio recente, verificato al momento della sessione, di funzione introdotta o ritirata.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ritmo del cambiamento ha conseguenze concrete. L'obsolescenza degli strumenti: uno strumento scelto oggi può essere superato, cambiare condizioni o essere ritirato; per questo, come abbiamo visto, conviene valutare la reversibilità delle scelte. L'obsolescenza delle procedure: istruzioni operative del tipo 'clicca qui, poi seleziona questa opzione' diventano rapidamente obsolete quando l'interfaccia cambia; anche i prompt e le configurazioni che funzionano bene con un modello possono funzionare diversamente con la versione successiva, e i risultati di una valutazione possono non valere più. L'obsolescenza delle competenze specifiche: saper usare tutte le funzioni di un determinato prodotto è utile, ma è una competenza che invecchia in fretta. Le implicazioni pratiche sono tre. Rivedere periodicamente gli strumenti in uso e le valutazioni fatte. Documentare procedure e configurazioni in modo che siano aggiornabili, distinguendo i principi dai dettagli operativi. E investire soprattutto nelle competenze che non invecchiano, come vedremo nella prossima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slide risponde all'ultima domanda guida: perché è utile acquisire competenze trasferibili tra piattaforme diverse? Perché sono le uniche che resistono al ritmo del cambiamento. A sinistra, ciò che cambia rapidamente: i nomi dei prodotti, le interfacce, le singole funzioni, i piani e i prezzi, la classifica dei modelli migliori. A destra, ciò che resta valido nel tempo: come funzionano i modelli e le applicazioni, che è il Tema 2; quali sono le capacità e i limiti e come valutarne l'affidabilità, che è il Tema 3; come è organizzato l'ecosistema, che è questo tema; come scegliere con criteri, come interagire bene con l'AI e formulare richieste efficaci, che saranno i prossimi temi; come verificare i risultati e usare l'AI in modo responsabile. Chi possiede queste competenze può passare da uno strumento all'altro adattandosi in poco tempo, e sa valutare con lucidità ogni novità. È lo stesso messaggio con cui abbiamo chiuso il Tema 1: l'obiettivo della AI Literacy non è formare utenti di un prodotto, ma persone capaci di usare l'AI in modo consapevole, qualunque forma assuma.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Come restare aggiornati senza essere travolti dal flusso di novità? Ecco alcuni suggerimenti pratici, utili sia per le persone sia per l'organizzazione. Distinguere tra ciò che è annunciato e ciò che è disponibile, applicando le verifiche viste nel 4.3 e nel 4.7. Valutare le novità rispetto alle proprie esigenze: la domanda non è 'che cosa c'è di nuovo?', ma 'questa novità risolve un problema che abbiamo?'. Scegliere poche fonti affidabili, come la documentazione ufficiale e le note di rilascio dei fornitori in uso, e alcune fonti indipendenti di qualità, invece di inseguire ogni annuncio sui social. Definire momenti periodici di revisione, per esempio ogni sei mesi, per riconsiderare gli strumenti in uso e le loro condizioni. Condividere le scoperte all'interno dell'azienda, per esempio con una comunità interna di utenti, in modo che l'aggiornamento non dipenda da pochi appassionati. E sperimentare in modo controllato, in piccolo, prima di adottare su larga scala. Il messaggio centrale del tema lo riassume: conoscere l'ecosistema significa capire come sono organizzate le soluzioni e scegliere consapevolmente quelle adatte alle esigenze, anziché inseguire ogni nuovo prodotto.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dell'ultimo sottotema. L'ecosistema cambia su più fronti: capacità, funzionalità, convergenza, prezzi, concorrenza. Ne derivano l'obsolescenza di strumenti, procedure e competenze specifiche, e la necessità di rivedere periodicamente scelte e valutazioni. Le competenze trasferibili, cioè capire il funzionamento, valutare l'affidabilità, conoscere l'ecosistema, scegliere con criteri, interagire bene e verificare, sono l'investimento più duraturo. Domanda di verifica: che cosa di ciò che avete imparato in questi quattro temi sarà ancora valido tra tre anni, e che cosa probabilmente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Torniamo alle dieci domande guida, con una risposta sintetica per ciascuna. Modello e applicazione: il modello è un componente, l'applicazione è il prodotto che lo integra con altri elementi. Categorie: famiglie di modelli e categorie di strumenti, dagli assistenti alle applicazioni specializzate. Prodotti simili, condizioni diverse: per funzioni dell'applicazione, integrazioni, controlli, piani e condizioni sui dati. Generalista, specializzato o integrato: dipende dalla varietà dei compiti, dalla specificità del processo e dai software già in uso. Chatbot, assistenti, agenti, automazioni: livelli di autonomia e logiche diverse. Applicazione, API, locale: chi interagisce, che cosa è incluso, come si paga, dove sono i dati. Fattori di confronto: adeguatezza, qualità, uso, funzioni, costi, contratto, dati, controlli, portabilità. Licenze e lock-in: influenzano controllo e reversibilità delle scelte. Verificare una funzione: documentazione, configurazione, prova reale, condizioni. Competenze trasferibili: perché gli strumenti cambiano e i principi restano. Suggerimento: far rispondere i partecipanti prima di mostrare la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Riassumiamo i dieci risultati attesi. Il partecipante dovrebbe essere in grado di: distinguere modello, applicazione, piattaforma e infrastruttura; riconoscere le principali famiglie di modelli; orientarsi tra le categorie di strumenti; distinguere soluzioni generaliste, specializzate e integrate; comprendere le differenze tra chatbot, assistenti, agenti e automazioni; identificare le modalità di accesso; applicare criteri iniziali di confronto; riconoscere vantaggi e limiti dei diversi livelli di apertura tecnologica; comprendere la rilevanza della portabilità e del rischio di dipendenza dal fornitore; verificare condizioni e disponibilità effettive delle funzioni di un prodotto. Con questo tema si conclude l'area 'Comprendere l'AI'.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Come per il Tema 3, traduciamo il modulo in una checklist operativa, utile ogni volta che si valuta l'adozione di uno strumento AI, per sé, per il proprio gruppo o per l'azienda. Otto domande. Per quali attività e obiettivi lo useremo, e chi lo userà? È un modello, un'applicazione o una piattaforma, e quali componenti include? Esistono già funzioni AI nei software che usiamo per le stesse attività? Che livello di autonomia ha, e dove interviene la persona? Le funzioni che ci servono sono disponibili nel nostro piano, paese e configurazione? Che cosa succede ai nostri dati, e quali controlli abbiamo? Quanto costa davvero, oltre il listino? Possiamo uscire, portando con noi dati e configurazioni? Se a una domanda non sappiamo rispondere, è un'informazione da cercare prima della scelta.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il Tema 4 si chiude l'area 'Comprendere l'AI': sappiamo perché l'AI è rilevante, come funziona, quanto possiamo fidarci dei suoi risultati e come è organizzato l'ecosistema degli strumenti. Il percorso prosegue con l'area 'Interagire con l'AI', che si apre con il Tema 5, dedicato al dialogo uomo-AI: il linguaggio naturale come interfaccia, il passaggio dalla domanda alla conversazione, i ruoli che l'AI può assumere, la collaborazione, i livelli di delega e i rischi della relazione conversazionale. Seguirà il Tema 6, dedicato al prompting e alle tecniche di interazione. Tutti i concetti visti finora, dal contesto alla variabilità, dall'affidabilità alla verifica, dalla distinzione tra modello e applicazione ai livelli di autonomia, saranno la base per passare dalla comprensione alla pratica. Lasciare spazio alle domande finali.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slide è pensata per il relatore e per chi mantiene il materiale; può essere nascosta durante la presentazione. Il documento di perimetro del Tema 4 stabilisce che esempi di piattaforme, caratteristiche, prezzi e disponibilità geografiche devono essere verificati e aggiornati prima di ogni erogazione, perché sono elementi variabili e non costituiscono il nucleo durevole del tema. Le slide contengono pochi riferimenti di questo tipo, concentrati nel sottotema 4.3 e nelle note del 4.2. Prima di ogni edizione verificare: nomi, fornitori e integrazioni degli assistenti citati; disponibilità delle funzioni in Italia e nell'Unione europea; esempi di famiglie di modelli proprietari e open-weight; differenze tra versioni individuali, team ed enterprise; eventuali novità rilevanti, come funzioni introdotte o ritirate, da usare come esempio nel 4.8. Fonti da consultare: documentazione ufficiale e note di rilascio dei fornitori; per la definizione di open-source AI, il sito dell'Open Source Initiative.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OLO">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1097280"/>
            <a:ext cx="7863840" cy="365760"/>
          </a:xfrm>
          <a:prstGeom prst="rect">
            <a:avLst/>
          </a:prstGeom>
          <a:noFill/>
          <a:ln/>
        </p:spPr>
        <p:txBody>
          <a:bodyPr wrap="square" rtlCol="0"/>
          <a:lstStyle>
            <a:lvl1pPr indent="0" marL="0">
              <a:buNone/>
              <a:defRPr lang="en-US" sz="1300" b="1" spc="200" kern="0" dirty="0">
                <a:solidFill>
                  <a:schemeClr val="accent1"/>
                </a:solidFill>
              </a:defRPr>
            </a:lvl1pPr>
          </a:lstStyle>
          <a:p>
            <a:pPr indent="0" marL="0">
              <a:buNone/>
            </a:pPr>
            <a:endParaRPr lang="en-US" sz="1300" dirty="0"/>
          </a:p>
        </p:txBody>
      </p:sp>
      <p:sp>
        <p:nvSpPr>
          <p:cNvPr id="3" name="Text 0"/>
          <p:cNvSpPr/>
          <p:nvPr>
            <p:ph idx="101" type="title" hasCustomPrompt="1"/>
          </p:nvPr>
        </p:nvSpPr>
        <p:spPr>
          <a:xfrm>
            <a:off x="640080" y="1554480"/>
            <a:ext cx="7863840" cy="146304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4" name="Text 0"/>
          <p:cNvSpPr/>
          <p:nvPr>
            <p:ph idx="102" type="body" hasCustomPrompt="1"/>
          </p:nvPr>
        </p:nvSpPr>
        <p:spPr>
          <a:xfrm>
            <a:off x="640080" y="3154680"/>
            <a:ext cx="7863840" cy="822960"/>
          </a:xfrm>
          <a:prstGeom prst="rect">
            <a:avLst/>
          </a:prstGeom>
          <a:noFill/>
          <a:ln/>
        </p:spPr>
        <p:txBody>
          <a:bodyPr wrap="square" rtlCol="0"/>
          <a:lstStyle>
            <a:lvl1pPr indent="0" marL="0">
              <a:buNone/>
              <a:defRPr lang="en-US" sz="1600" dirty="0">
                <a:solidFill>
                  <a:schemeClr val="accent3"/>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ZIONE">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rtlCol="0"/>
          <a:lstStyle>
            <a:lvl1pPr indent="0" marL="0">
              <a:buNone/>
              <a:defRPr lang="en-US" sz="6000" b="1" dirty="0">
                <a:solidFill>
                  <a:schemeClr val="accent1"/>
                </a:solidFill>
              </a:defRPr>
            </a:lvl1pPr>
          </a:lstStyle>
          <a:p>
            <a:pPr indent="0" marL="0">
              <a:buNone/>
            </a:pP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rtlCol="0"/>
          <a:lstStyle>
            <a:lvl1pPr indent="0" marL="0">
              <a:buNone/>
              <a:defRPr lang="en-US" sz="1600" dirty="0">
                <a:solidFill>
                  <a:schemeClr val="accent3"/>
                </a:solidFill>
              </a:defRPr>
            </a:lvl1pPr>
          </a:lstStyle>
          <a:p>
            <a:pPr indent="0" marL="0">
              <a:buNone/>
            </a:pPr>
            <a:endParaRPr lang="en-US" sz="1600" dirty="0"/>
          </a:p>
        </p:txBody>
      </p:sp>
      <p:sp>
        <p:nvSpPr>
          <p:cNvPr id="5" name="Text 0"/>
          <p:cNvSpPr/>
          <p:nvPr/>
        </p:nvSpPr>
        <p:spPr>
          <a:xfrm>
            <a:off x="640080" y="4663440"/>
            <a:ext cx="6400800" cy="274320"/>
          </a:xfrm>
          <a:prstGeom prst="rect">
            <a:avLst/>
          </a:prstGeom>
          <a:noFill/>
          <a:ln/>
        </p:spPr>
        <p:txBody>
          <a:bodyPr wrap="square" lIns="0" tIns="0" rIns="0" bIns="0" rtlCol="0" anchor="ctr"/>
          <a:lstStyle/>
          <a:p>
            <a:pPr indent="0" marL="0">
              <a:buNone/>
            </a:pPr>
            <a:r>
              <a:rPr lang="en-US" sz="900" dirty="0">
                <a:solidFill>
                  <a:schemeClr val="accent2"/>
                </a:solidFill>
              </a:rPr>
              <a:t>AI Literacy  ·  Tema 4  ·  Ecosistema AI: modelli, strumenti e piattaforme</a:t>
            </a:r>
            <a:endParaRPr lang="en-US" sz="9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UT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nvSpPr>
        <p:spPr>
          <a:xfrm>
            <a:off x="457200" y="4754880"/>
            <a:ext cx="6400800" cy="228600"/>
          </a:xfrm>
          <a:prstGeom prst="rect">
            <a:avLst/>
          </a:prstGeom>
          <a:noFill/>
          <a:ln/>
        </p:spPr>
        <p:txBody>
          <a:bodyPr wrap="square" lIns="0" tIns="0" rIns="0" bIns="0" rtlCol="0" anchor="ctr"/>
          <a:lstStyle/>
          <a:p>
            <a:pPr indent="0" marL="0">
              <a:buNone/>
            </a:pPr>
            <a:r>
              <a:rPr lang="en-US" sz="900" dirty="0">
                <a:solidFill>
                  <a:schemeClr val="accent2"/>
                </a:solidFill>
              </a:rPr>
              <a:t>AI Literacy  ·  Tema 4  ·  Ecosistema AI: modelli, strumenti e piattaforme</a:t>
            </a:r>
            <a:endParaRPr lang="en-US" sz="9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HIAVE">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822960" y="1143000"/>
            <a:ext cx="5486400" cy="320040"/>
          </a:xfrm>
          <a:prstGeom prst="rect">
            <a:avLst/>
          </a:prstGeom>
          <a:noFill/>
          <a:ln/>
        </p:spPr>
        <p:txBody>
          <a:bodyPr wrap="square" lIns="0" tIns="0" rIns="0" bIns="0" rtlCol="0" anchor="ctr"/>
          <a:lstStyle/>
          <a:p>
            <a:pPr indent="0" marL="0">
              <a:buNone/>
            </a:pPr>
            <a:r>
              <a:rPr lang="en-US" sz="1300" b="1" spc="300" kern="0" dirty="0">
                <a:solidFill>
                  <a:schemeClr val="accent1"/>
                </a:solidFill>
              </a:rPr>
              <a:t>CONCETTO CHIAVE</a:t>
            </a:r>
            <a:endParaRPr lang="en-US" sz="1300" dirty="0"/>
          </a:p>
        </p:txBody>
      </p:sp>
      <p:sp>
        <p:nvSpPr>
          <p:cNvPr id="3" name="Text 1"/>
          <p:cNvSpPr/>
          <p:nvPr>
            <p:ph idx="101" type="body" hasCustomPrompt="1"/>
          </p:nvPr>
        </p:nvSpPr>
        <p:spPr>
          <a:xfrm>
            <a:off x="822960" y="1600200"/>
            <a:ext cx="7498080" cy="2011680"/>
          </a:xfrm>
          <a:prstGeom prst="rect">
            <a:avLst/>
          </a:prstGeom>
          <a:noFill/>
          <a:ln/>
        </p:spPr>
        <p:txBody>
          <a:bodyPr wrap="square" rtlCol="0"/>
          <a:lstStyle>
            <a:lvl1pPr indent="0" marL="0">
              <a:buNone/>
              <a:defRPr lang="en-US" sz="2600" dirty="0">
                <a:solidFill>
                  <a:schemeClr val="bg1"/>
                </a:solidFill>
              </a:defRPr>
            </a:lvl1pPr>
          </a:lstStyle>
          <a:p>
            <a:pPr indent="0" marL="0">
              <a:buNone/>
            </a:pPr>
            <a:endParaRPr lang="en-US" sz="2600" dirty="0"/>
          </a:p>
        </p:txBody>
      </p:sp>
      <p:sp>
        <p:nvSpPr>
          <p:cNvPr id="4" name="Text 1"/>
          <p:cNvSpPr/>
          <p:nvPr>
            <p:ph idx="102" type="body" hasCustomPrompt="1"/>
          </p:nvPr>
        </p:nvSpPr>
        <p:spPr>
          <a:xfrm>
            <a:off x="822960" y="3794760"/>
            <a:ext cx="7498080" cy="365760"/>
          </a:xfrm>
          <a:prstGeom prst="rect">
            <a:avLst/>
          </a:prstGeom>
          <a:noFill/>
          <a:ln/>
        </p:spPr>
        <p:txBody>
          <a:bodyPr wrap="square" rtlCol="0"/>
          <a:lstStyle>
            <a:lvl1pPr indent="0" marL="0">
              <a:buNone/>
              <a:defRPr lang="en-US" sz="1300" dirty="0">
                <a:solidFill>
                  <a:schemeClr val="accent3"/>
                </a:solidFill>
              </a:defRPr>
            </a:lvl1pPr>
          </a:lstStyle>
          <a:p>
            <a:pPr indent="0" marL="0">
              <a:buNone/>
            </a:pPr>
            <a:endParaRPr lang="en-US" sz="1300" dirty="0"/>
          </a:p>
        </p:txBody>
      </p:sp>
      <p:sp>
        <p:nvSpPr>
          <p:cNvPr id="5" name="Text 1"/>
          <p:cNvSpPr/>
          <p:nvPr/>
        </p:nvSpPr>
        <p:spPr>
          <a:xfrm>
            <a:off x="822960" y="4663440"/>
            <a:ext cx="6400800" cy="274320"/>
          </a:xfrm>
          <a:prstGeom prst="rect">
            <a:avLst/>
          </a:prstGeom>
          <a:noFill/>
          <a:ln/>
        </p:spPr>
        <p:txBody>
          <a:bodyPr wrap="square" lIns="0" tIns="0" rIns="0" bIns="0" rtlCol="0" anchor="ctr"/>
          <a:lstStyle/>
          <a:p>
            <a:pPr indent="0" marL="0">
              <a:buNone/>
            </a:pPr>
            <a:r>
              <a:rPr lang="en-US" sz="900" dirty="0">
                <a:solidFill>
                  <a:schemeClr val="accent2"/>
                </a:solidFill>
              </a:rPr>
              <a:t>AI Literacy  ·  Tema 4  ·  Ecosistema AI: modelli, strumenti e piattaforme</a:t>
            </a:r>
            <a:endParaRPr lang="en-US" sz="9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4.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4.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4.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4.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4.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4.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4.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4.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4.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4.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4.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4.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4.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4.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slideLayout" Target="../slideLayouts/slideLayout4.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slideLayout" Target="../slideLayouts/slideLayout4.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slideLayout" Target="../slideLayouts/slideLayout4.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4.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4.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image" Target="../media/image-36-5.png"/><Relationship Id="rId6" Type="http://schemas.openxmlformats.org/officeDocument/2006/relationships/slideLayout" Target="../slideLayouts/slideLayout4.xml"/><Relationship Id="rId7"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4.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4.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slideLayout" Target="../slideLayouts/slideLayout4.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image" Target="../media/image-44-4.png"/><Relationship Id="rId5" Type="http://schemas.openxmlformats.org/officeDocument/2006/relationships/image" Target="../media/image-44-5.png"/><Relationship Id="rId6" Type="http://schemas.openxmlformats.org/officeDocument/2006/relationships/slideLayout" Target="../slideLayouts/slideLayout4.xml"/><Relationship Id="rId7"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slideLayout" Target="../slideLayouts/slideLayout4.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4.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image" Target="../media/image-51-3.png"/><Relationship Id="rId4" Type="http://schemas.openxmlformats.org/officeDocument/2006/relationships/slideLayout" Target="../slideLayouts/slideLayout4.xml"/><Relationship Id="rId5"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slideLayout" Target="../slideLayouts/slideLayout4.xml"/><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image" Target="../media/image-55-3.png"/><Relationship Id="rId4" Type="http://schemas.openxmlformats.org/officeDocument/2006/relationships/image" Target="../media/image-55-4.png"/><Relationship Id="rId5" Type="http://schemas.openxmlformats.org/officeDocument/2006/relationships/image" Target="../media/image-55-5.png"/><Relationship Id="rId6" Type="http://schemas.openxmlformats.org/officeDocument/2006/relationships/slideLayout" Target="../slideLayouts/slideLayout4.xml"/><Relationship Id="rId7"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png"/><Relationship Id="rId3" Type="http://schemas.openxmlformats.org/officeDocument/2006/relationships/image" Target="../media/image-59-3.png"/><Relationship Id="rId4" Type="http://schemas.openxmlformats.org/officeDocument/2006/relationships/image" Target="../media/image-59-4.png"/><Relationship Id="rId5" Type="http://schemas.openxmlformats.org/officeDocument/2006/relationships/image" Target="../media/image-59-5.png"/><Relationship Id="rId6" Type="http://schemas.openxmlformats.org/officeDocument/2006/relationships/slideLayout" Target="../slideLayouts/slideLayout4.xml"/><Relationship Id="rId7"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image" Target="../media/image-60-2.png"/><Relationship Id="rId3" Type="http://schemas.openxmlformats.org/officeDocument/2006/relationships/image" Target="../media/image-60-3.png"/><Relationship Id="rId4" Type="http://schemas.openxmlformats.org/officeDocument/2006/relationships/slideLayout" Target="../slideLayouts/slideLayout4.xml"/><Relationship Id="rId5"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image" Target="../media/image-61-3.png"/><Relationship Id="rId4" Type="http://schemas.openxmlformats.org/officeDocument/2006/relationships/image" Target="../media/image-61-4.png"/><Relationship Id="rId5" Type="http://schemas.openxmlformats.org/officeDocument/2006/relationships/image" Target="../media/image-61-5.png"/><Relationship Id="rId6" Type="http://schemas.openxmlformats.org/officeDocument/2006/relationships/image" Target="../media/image-61-6.png"/><Relationship Id="rId7" Type="http://schemas.openxmlformats.org/officeDocument/2006/relationships/slideLayout" Target="../slideLayouts/slideLayout4.xml"/><Relationship Id="rId8"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image" Target="../media/image-62-3.png"/><Relationship Id="rId4" Type="http://schemas.openxmlformats.org/officeDocument/2006/relationships/image" Target="../media/image-62-4.png"/><Relationship Id="rId5" Type="http://schemas.openxmlformats.org/officeDocument/2006/relationships/image" Target="../media/image-62-5.png"/><Relationship Id="rId6" Type="http://schemas.openxmlformats.org/officeDocument/2006/relationships/image" Target="../media/image-62-6.png"/><Relationship Id="rId7" Type="http://schemas.openxmlformats.org/officeDocument/2006/relationships/slideLayout" Target="../slideLayouts/slideLayout4.xml"/><Relationship Id="rId8"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image" Target="../media/image-66-2.png"/><Relationship Id="rId3" Type="http://schemas.openxmlformats.org/officeDocument/2006/relationships/image" Target="../media/image-66-3.png"/><Relationship Id="rId4" Type="http://schemas.openxmlformats.org/officeDocument/2006/relationships/image" Target="../media/image-66-4.png"/><Relationship Id="rId5" Type="http://schemas.openxmlformats.org/officeDocument/2006/relationships/image" Target="../media/image-66-5.png"/><Relationship Id="rId6" Type="http://schemas.openxmlformats.org/officeDocument/2006/relationships/image" Target="../media/image-66-6.png"/><Relationship Id="rId7" Type="http://schemas.openxmlformats.org/officeDocument/2006/relationships/image" Target="../media/image-66-7.png"/><Relationship Id="rId8" Type="http://schemas.openxmlformats.org/officeDocument/2006/relationships/image" Target="../media/image-66-8.png"/><Relationship Id="rId9" Type="http://schemas.openxmlformats.org/officeDocument/2006/relationships/slideLayout" Target="../slideLayouts/slideLayout4.xml"/><Relationship Id="rId10"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4.xml"/><Relationship Id="rId3" Type="http://schemas.openxmlformats.org/officeDocument/2006/relationships/notesSlide" Target="../notesSlides/notesSlide6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40080" y="1097280"/>
            <a:ext cx="7863840" cy="365760"/>
          </a:xfrm>
          <a:prstGeom prst="rect">
            <a:avLst/>
          </a:prstGeom>
          <a:noFill/>
          <a:ln/>
        </p:spPr>
        <p:txBody>
          <a:bodyPr wrap="square" lIns="0" tIns="0" rIns="0" bIns="0" rtlCol="0"/>
          <a:lstStyle/>
          <a:p>
            <a:pPr indent="0" marL="0">
              <a:buNone/>
            </a:pPr>
            <a:r>
              <a:rPr lang="en-US" sz="1300" b="1" spc="200" kern="0" dirty="0">
                <a:solidFill>
                  <a:schemeClr val="accent1"/>
                </a:solidFill>
              </a:rPr>
              <a:t>PERCORSO AI LITERACY  ·  TEMA 4</a:t>
            </a:r>
            <a:endParaRPr lang="en-US" sz="1300" dirty="0"/>
          </a:p>
        </p:txBody>
      </p:sp>
      <p:sp>
        <p:nvSpPr>
          <p:cNvPr id="3" name="Text 0"/>
          <p:cNvSpPr/>
          <p:nvPr>
            <p:ph idx="101" type="title" hasCustomPrompt="1"/>
          </p:nvPr>
        </p:nvSpPr>
        <p:spPr>
          <a:xfrm>
            <a:off x="640080" y="1554480"/>
            <a:ext cx="7863840" cy="1463040"/>
          </a:xfrm>
          <a:prstGeom prst="rect">
            <a:avLst/>
          </a:prstGeom>
          <a:noFill/>
          <a:ln/>
        </p:spPr>
        <p:txBody>
          <a:bodyPr wrap="square" lIns="0" tIns="0" rIns="0" bIns="0" rtlCol="0" anchor="t"/>
          <a:lstStyle/>
          <a:p>
            <a:pPr algn="l" indent="0" marL="0">
              <a:buNone/>
            </a:pPr>
            <a:r>
              <a:rPr lang="en-US" sz="3600" b="1" dirty="0">
                <a:solidFill>
                  <a:schemeClr val="bg1"/>
                </a:solidFill>
              </a:rPr>
              <a:t>Ecosistema AI: modelli, strumenti e piattaforme</a:t>
            </a:r>
            <a:endParaRPr lang="en-US" sz="3600" dirty="0"/>
          </a:p>
        </p:txBody>
      </p:sp>
      <p:sp>
        <p:nvSpPr>
          <p:cNvPr id="4" name="Text 0"/>
          <p:cNvSpPr/>
          <p:nvPr>
            <p:ph idx="102" type="body" hasCustomPrompt="1"/>
          </p:nvPr>
        </p:nvSpPr>
        <p:spPr>
          <a:xfrm>
            <a:off x="640080" y="3154680"/>
            <a:ext cx="7863840" cy="822960"/>
          </a:xfrm>
          <a:prstGeom prst="rect">
            <a:avLst/>
          </a:prstGeom>
          <a:noFill/>
          <a:ln/>
        </p:spPr>
        <p:txBody>
          <a:bodyPr wrap="square" lIns="0" tIns="0" rIns="0" bIns="0" rtlCol="0" anchor="t"/>
          <a:lstStyle/>
          <a:p>
            <a:pPr indent="0" marL="0">
              <a:buNone/>
            </a:pPr>
            <a:r>
              <a:rPr lang="en-US" sz="1600" dirty="0">
                <a:solidFill>
                  <a:schemeClr val="accent3"/>
                </a:solidFill>
              </a:rPr>
              <a:t>Area: Comprendere l'AI</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Obiettivo del modulo</a:t>
            </a:r>
            <a:endParaRPr lang="en-US" sz="2600" dirty="0"/>
          </a:p>
        </p:txBody>
      </p:sp>
      <p:sp>
        <p:nvSpPr>
          <p:cNvPr id="4" name="scheda Che cosa vogliamo sviluppare"/>
          <p:cNvSpPr/>
          <p:nvPr/>
        </p:nvSpPr>
        <p:spPr>
          <a:xfrm>
            <a:off x="457200" y="1097280"/>
            <a:ext cx="3977640" cy="3429000"/>
          </a:xfrm>
          <a:prstGeom prst="roundRect">
            <a:avLst>
              <a:gd name="adj" fmla="val 2133"/>
            </a:avLst>
          </a:prstGeom>
          <a:solidFill>
            <a:schemeClr val="bg2"/>
          </a:solidFill>
          <a:ln/>
        </p:spPr>
      </p:sp>
      <p:sp>
        <p:nvSpPr>
          <p:cNvPr id="5" name="cerchio FiTarget"/>
          <p:cNvSpPr/>
          <p:nvPr/>
        </p:nvSpPr>
        <p:spPr>
          <a:xfrm>
            <a:off x="640080" y="1280160"/>
            <a:ext cx="457200" cy="457200"/>
          </a:xfrm>
          <a:prstGeom prst="ellipse">
            <a:avLst/>
          </a:prstGeom>
          <a:solidFill>
            <a:schemeClr val="accent1"/>
          </a:solidFill>
          <a:ln/>
        </p:spPr>
      </p:sp>
      <p:pic>
        <p:nvPicPr>
          <p:cNvPr id="6" name="Image 0" descr="FiTarget">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Che cosa vogliamo sviluppare</a:t>
            </a:r>
            <a:endParaRPr lang="en-US" sz="1600" dirty="0"/>
          </a:p>
        </p:txBody>
      </p:sp>
      <p:sp>
        <p:nvSpPr>
          <p:cNvPr id="8" name="Text 4"/>
          <p:cNvSpPr txBox="1"/>
          <p:nvPr/>
        </p:nvSpPr>
        <p:spPr>
          <a:xfrm>
            <a:off x="640080" y="2231136"/>
            <a:ext cx="3611880" cy="2185416"/>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2"/>
                </a:solidFill>
              </a:rPr>
              <a:t>Una mappa stabile dell'ecosistema: modelli, applicazioni, piattaforme, infrastrutture, accessi</a:t>
            </a:r>
            <a:endParaRPr lang="en-US" sz="1400" dirty="0"/>
          </a:p>
          <a:p>
            <a:pPr marL="177800" indent="-177800">
              <a:spcAft>
                <a:spcPts val="600"/>
              </a:spcAft>
              <a:buSzPct val="100000"/>
              <a:buChar char="•"/>
            </a:pPr>
            <a:r>
              <a:rPr lang="en-US" sz="1400" dirty="0">
                <a:solidFill>
                  <a:schemeClr val="tx2"/>
                </a:solidFill>
              </a:rPr>
              <a:t>Criteri per confrontare e scegliere le soluzioni</a:t>
            </a:r>
            <a:endParaRPr lang="en-US" sz="1400" dirty="0"/>
          </a:p>
        </p:txBody>
      </p:sp>
      <p:sp>
        <p:nvSpPr>
          <p:cNvPr id="9" name="scheda Quale consapevolezza"/>
          <p:cNvSpPr/>
          <p:nvPr/>
        </p:nvSpPr>
        <p:spPr>
          <a:xfrm>
            <a:off x="4709160" y="1097280"/>
            <a:ext cx="3977640" cy="3429000"/>
          </a:xfrm>
          <a:prstGeom prst="roundRect">
            <a:avLst>
              <a:gd name="adj" fmla="val 2133"/>
            </a:avLst>
          </a:prstGeom>
          <a:solidFill>
            <a:schemeClr val="accent6"/>
          </a:solidFill>
          <a:ln/>
        </p:spPr>
      </p:sp>
      <p:sp>
        <p:nvSpPr>
          <p:cNvPr id="10" name="cerchio FiCompass"/>
          <p:cNvSpPr/>
          <p:nvPr/>
        </p:nvSpPr>
        <p:spPr>
          <a:xfrm>
            <a:off x="4892040" y="1280160"/>
            <a:ext cx="457200" cy="457200"/>
          </a:xfrm>
          <a:prstGeom prst="ellipse">
            <a:avLst/>
          </a:prstGeom>
          <a:solidFill>
            <a:schemeClr val="accent1"/>
          </a:solidFill>
          <a:ln/>
        </p:spPr>
      </p:sp>
      <p:pic>
        <p:nvPicPr>
          <p:cNvPr id="11" name="Image 1" descr="FiCompass">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Quale consapevolezza</a:t>
            </a:r>
            <a:endParaRPr lang="en-US" sz="1600" dirty="0"/>
          </a:p>
        </p:txBody>
      </p:sp>
      <p:sp>
        <p:nvSpPr>
          <p:cNvPr id="13" name="Text 8"/>
          <p:cNvSpPr txBox="1"/>
          <p:nvPr/>
        </p:nvSpPr>
        <p:spPr>
          <a:xfrm>
            <a:off x="4892040" y="2231136"/>
            <a:ext cx="3611880" cy="2185416"/>
          </a:xfrm>
          <a:prstGeom prst="rect">
            <a:avLst/>
          </a:prstGeom>
          <a:noFill/>
          <a:ln/>
        </p:spPr>
        <p:txBody>
          <a:bodyPr wrap="square" lIns="0" tIns="0" rIns="0" bIns="0" rtlCol="0" anchor="t"/>
          <a:lstStyle/>
          <a:p>
            <a:pPr indent="0" marL="0">
              <a:buNone/>
            </a:pPr>
            <a:r>
              <a:rPr lang="en-US" sz="1400" dirty="0">
                <a:solidFill>
                  <a:schemeClr val="tx2"/>
                </a:solidFill>
              </a:rPr>
              <a:t>Il valore di uno strumento non dipende solo dal modello, ma anche da funzionalità, integrazioni, condizioni d'uso e adeguatezza al contesto.</a:t>
            </a:r>
            <a:endParaRPr lang="en-US" sz="1400" dirty="0"/>
          </a:p>
          <a:p>
            <a:pPr indent="0" marL="0">
              <a:buNone/>
            </a:pPr>
            <a:endParaRPr lang="en-US" sz="1400" dirty="0"/>
          </a:p>
          <a:p>
            <a:pPr indent="0" marL="0">
              <a:buNone/>
            </a:pPr>
            <a:r>
              <a:rPr lang="en-US" sz="1400" dirty="0">
                <a:solidFill>
                  <a:schemeClr val="tx2"/>
                </a:solidFill>
              </a:rPr>
              <a:t>Sapersi orientare, non conoscere a memoria tutti i prodotti.</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Dieci domande guida per questo modulo</a:t>
            </a:r>
            <a:endParaRPr lang="en-US" sz="2600" dirty="0"/>
          </a:p>
        </p:txBody>
      </p:sp>
      <p:sp>
        <p:nvSpPr>
          <p:cNvPr id="4" name="domanda 1"/>
          <p:cNvSpPr/>
          <p:nvPr/>
        </p:nvSpPr>
        <p:spPr>
          <a:xfrm>
            <a:off x="457200" y="1097280"/>
            <a:ext cx="1554480" cy="1600200"/>
          </a:xfrm>
          <a:prstGeom prst="roundRect">
            <a:avLst>
              <a:gd name="adj" fmla="val 4706"/>
            </a:avLst>
          </a:prstGeom>
          <a:solidFill>
            <a:schemeClr val="bg2"/>
          </a:solidFill>
          <a:ln/>
        </p:spPr>
      </p:sp>
      <p:sp>
        <p:nvSpPr>
          <p:cNvPr id="5" name="Text 2"/>
          <p:cNvSpPr txBox="1"/>
          <p:nvPr/>
        </p:nvSpPr>
        <p:spPr>
          <a:xfrm>
            <a:off x="594360" y="118872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1</a:t>
            </a:r>
            <a:endParaRPr lang="en-US" sz="2000" dirty="0"/>
          </a:p>
        </p:txBody>
      </p:sp>
      <p:sp>
        <p:nvSpPr>
          <p:cNvPr id="6" name="Text 3"/>
          <p:cNvSpPr txBox="1"/>
          <p:nvPr/>
        </p:nvSpPr>
        <p:spPr>
          <a:xfrm>
            <a:off x="594360" y="1600200"/>
            <a:ext cx="1325880" cy="1051560"/>
          </a:xfrm>
          <a:prstGeom prst="rect">
            <a:avLst/>
          </a:prstGeom>
          <a:noFill/>
          <a:ln/>
        </p:spPr>
        <p:txBody>
          <a:bodyPr wrap="square" lIns="0" tIns="0" rIns="0" bIns="0" rtlCol="0" anchor="t"/>
          <a:lstStyle/>
          <a:p>
            <a:pPr indent="0" marL="0">
              <a:buNone/>
            </a:pPr>
            <a:r>
              <a:rPr lang="en-US" sz="1100" dirty="0">
                <a:solidFill>
                  <a:schemeClr val="tx1"/>
                </a:solidFill>
              </a:rPr>
              <a:t>Che differenza c'è tra un modello e un'applicazione che lo usa?</a:t>
            </a:r>
            <a:endParaRPr lang="en-US" sz="1100" dirty="0"/>
          </a:p>
        </p:txBody>
      </p:sp>
      <p:sp>
        <p:nvSpPr>
          <p:cNvPr id="7" name="domanda 2"/>
          <p:cNvSpPr/>
          <p:nvPr/>
        </p:nvSpPr>
        <p:spPr>
          <a:xfrm>
            <a:off x="2139696" y="1097280"/>
            <a:ext cx="1554480" cy="1600200"/>
          </a:xfrm>
          <a:prstGeom prst="roundRect">
            <a:avLst>
              <a:gd name="adj" fmla="val 4706"/>
            </a:avLst>
          </a:prstGeom>
          <a:solidFill>
            <a:schemeClr val="bg2"/>
          </a:solidFill>
          <a:ln/>
        </p:spPr>
      </p:sp>
      <p:sp>
        <p:nvSpPr>
          <p:cNvPr id="8" name="Text 5"/>
          <p:cNvSpPr txBox="1"/>
          <p:nvPr/>
        </p:nvSpPr>
        <p:spPr>
          <a:xfrm>
            <a:off x="2276856" y="118872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2</a:t>
            </a:r>
            <a:endParaRPr lang="en-US" sz="2000" dirty="0"/>
          </a:p>
        </p:txBody>
      </p:sp>
      <p:sp>
        <p:nvSpPr>
          <p:cNvPr id="9" name="Text 6"/>
          <p:cNvSpPr txBox="1"/>
          <p:nvPr/>
        </p:nvSpPr>
        <p:spPr>
          <a:xfrm>
            <a:off x="2276856" y="1600200"/>
            <a:ext cx="1325880" cy="1051560"/>
          </a:xfrm>
          <a:prstGeom prst="rect">
            <a:avLst/>
          </a:prstGeom>
          <a:noFill/>
          <a:ln/>
        </p:spPr>
        <p:txBody>
          <a:bodyPr wrap="square" lIns="0" tIns="0" rIns="0" bIns="0" rtlCol="0" anchor="t"/>
          <a:lstStyle/>
          <a:p>
            <a:pPr indent="0" marL="0">
              <a:buNone/>
            </a:pPr>
            <a:r>
              <a:rPr lang="en-US" sz="1100" dirty="0">
                <a:solidFill>
                  <a:schemeClr val="tx1"/>
                </a:solidFill>
              </a:rPr>
              <a:t>Quali sono le principali categorie di modelli e strumenti?</a:t>
            </a:r>
            <a:endParaRPr lang="en-US" sz="1100" dirty="0"/>
          </a:p>
        </p:txBody>
      </p:sp>
      <p:sp>
        <p:nvSpPr>
          <p:cNvPr id="10" name="domanda 3"/>
          <p:cNvSpPr/>
          <p:nvPr/>
        </p:nvSpPr>
        <p:spPr>
          <a:xfrm>
            <a:off x="3822192" y="1097280"/>
            <a:ext cx="1554480" cy="1600200"/>
          </a:xfrm>
          <a:prstGeom prst="roundRect">
            <a:avLst>
              <a:gd name="adj" fmla="val 4706"/>
            </a:avLst>
          </a:prstGeom>
          <a:solidFill>
            <a:schemeClr val="bg2"/>
          </a:solidFill>
          <a:ln/>
        </p:spPr>
      </p:sp>
      <p:sp>
        <p:nvSpPr>
          <p:cNvPr id="11" name="Text 8"/>
          <p:cNvSpPr txBox="1"/>
          <p:nvPr/>
        </p:nvSpPr>
        <p:spPr>
          <a:xfrm>
            <a:off x="3959352" y="118872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3</a:t>
            </a:r>
            <a:endParaRPr lang="en-US" sz="2000" dirty="0"/>
          </a:p>
        </p:txBody>
      </p:sp>
      <p:sp>
        <p:nvSpPr>
          <p:cNvPr id="12" name="Text 9"/>
          <p:cNvSpPr txBox="1"/>
          <p:nvPr/>
        </p:nvSpPr>
        <p:spPr>
          <a:xfrm>
            <a:off x="3959352" y="1600200"/>
            <a:ext cx="1325880" cy="1051560"/>
          </a:xfrm>
          <a:prstGeom prst="rect">
            <a:avLst/>
          </a:prstGeom>
          <a:noFill/>
          <a:ln/>
        </p:spPr>
        <p:txBody>
          <a:bodyPr wrap="square" lIns="0" tIns="0" rIns="0" bIns="0" rtlCol="0" anchor="t"/>
          <a:lstStyle/>
          <a:p>
            <a:pPr indent="0" marL="0">
              <a:buNone/>
            </a:pPr>
            <a:r>
              <a:rPr lang="en-US" sz="1100" dirty="0">
                <a:solidFill>
                  <a:schemeClr val="tx1"/>
                </a:solidFill>
              </a:rPr>
              <a:t>Perché prodotti simili hanno capacità e condizioni diverse?</a:t>
            </a:r>
            <a:endParaRPr lang="en-US" sz="1100" dirty="0"/>
          </a:p>
        </p:txBody>
      </p:sp>
      <p:sp>
        <p:nvSpPr>
          <p:cNvPr id="13" name="domanda 4"/>
          <p:cNvSpPr/>
          <p:nvPr/>
        </p:nvSpPr>
        <p:spPr>
          <a:xfrm>
            <a:off x="5504688" y="1097280"/>
            <a:ext cx="1554480" cy="1600200"/>
          </a:xfrm>
          <a:prstGeom prst="roundRect">
            <a:avLst>
              <a:gd name="adj" fmla="val 4706"/>
            </a:avLst>
          </a:prstGeom>
          <a:solidFill>
            <a:schemeClr val="bg2"/>
          </a:solidFill>
          <a:ln/>
        </p:spPr>
      </p:sp>
      <p:sp>
        <p:nvSpPr>
          <p:cNvPr id="14" name="Text 11"/>
          <p:cNvSpPr txBox="1"/>
          <p:nvPr/>
        </p:nvSpPr>
        <p:spPr>
          <a:xfrm>
            <a:off x="5641848" y="118872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4</a:t>
            </a:r>
            <a:endParaRPr lang="en-US" sz="2000" dirty="0"/>
          </a:p>
        </p:txBody>
      </p:sp>
      <p:sp>
        <p:nvSpPr>
          <p:cNvPr id="15" name="Text 12"/>
          <p:cNvSpPr txBox="1"/>
          <p:nvPr/>
        </p:nvSpPr>
        <p:spPr>
          <a:xfrm>
            <a:off x="5641848" y="1600200"/>
            <a:ext cx="1325880" cy="1051560"/>
          </a:xfrm>
          <a:prstGeom prst="rect">
            <a:avLst/>
          </a:prstGeom>
          <a:noFill/>
          <a:ln/>
        </p:spPr>
        <p:txBody>
          <a:bodyPr wrap="square" lIns="0" tIns="0" rIns="0" bIns="0" rtlCol="0" anchor="t"/>
          <a:lstStyle/>
          <a:p>
            <a:pPr indent="0" marL="0">
              <a:buNone/>
            </a:pPr>
            <a:r>
              <a:rPr lang="en-US" sz="1100" dirty="0">
                <a:solidFill>
                  <a:schemeClr val="tx1"/>
                </a:solidFill>
              </a:rPr>
              <a:t>Quando scegliere generalista, specializzato o integrato?</a:t>
            </a:r>
            <a:endParaRPr lang="en-US" sz="1100" dirty="0"/>
          </a:p>
        </p:txBody>
      </p:sp>
      <p:sp>
        <p:nvSpPr>
          <p:cNvPr id="16" name="domanda 5"/>
          <p:cNvSpPr/>
          <p:nvPr/>
        </p:nvSpPr>
        <p:spPr>
          <a:xfrm>
            <a:off x="7187184" y="1097280"/>
            <a:ext cx="1554480" cy="1600200"/>
          </a:xfrm>
          <a:prstGeom prst="roundRect">
            <a:avLst>
              <a:gd name="adj" fmla="val 4706"/>
            </a:avLst>
          </a:prstGeom>
          <a:solidFill>
            <a:schemeClr val="bg2"/>
          </a:solidFill>
          <a:ln/>
        </p:spPr>
      </p:sp>
      <p:sp>
        <p:nvSpPr>
          <p:cNvPr id="17" name="Text 14"/>
          <p:cNvSpPr txBox="1"/>
          <p:nvPr/>
        </p:nvSpPr>
        <p:spPr>
          <a:xfrm>
            <a:off x="7324344" y="118872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5</a:t>
            </a:r>
            <a:endParaRPr lang="en-US" sz="2000" dirty="0"/>
          </a:p>
        </p:txBody>
      </p:sp>
      <p:sp>
        <p:nvSpPr>
          <p:cNvPr id="18" name="Text 15"/>
          <p:cNvSpPr txBox="1"/>
          <p:nvPr/>
        </p:nvSpPr>
        <p:spPr>
          <a:xfrm>
            <a:off x="7324344" y="1600200"/>
            <a:ext cx="1325880" cy="1051560"/>
          </a:xfrm>
          <a:prstGeom prst="rect">
            <a:avLst/>
          </a:prstGeom>
          <a:noFill/>
          <a:ln/>
        </p:spPr>
        <p:txBody>
          <a:bodyPr wrap="square" lIns="0" tIns="0" rIns="0" bIns="0" rtlCol="0" anchor="t"/>
          <a:lstStyle/>
          <a:p>
            <a:pPr indent="0" marL="0">
              <a:buNone/>
            </a:pPr>
            <a:r>
              <a:rPr lang="en-US" sz="1100" dirty="0">
                <a:solidFill>
                  <a:schemeClr val="tx1"/>
                </a:solidFill>
              </a:rPr>
              <a:t>Che cosa distingue chatbot, assistenti, agenti e automazioni?</a:t>
            </a:r>
            <a:endParaRPr lang="en-US" sz="1100" dirty="0"/>
          </a:p>
        </p:txBody>
      </p:sp>
      <p:sp>
        <p:nvSpPr>
          <p:cNvPr id="19" name="domanda 6"/>
          <p:cNvSpPr/>
          <p:nvPr/>
        </p:nvSpPr>
        <p:spPr>
          <a:xfrm>
            <a:off x="457200" y="2834640"/>
            <a:ext cx="1554480" cy="1600200"/>
          </a:xfrm>
          <a:prstGeom prst="roundRect">
            <a:avLst>
              <a:gd name="adj" fmla="val 4706"/>
            </a:avLst>
          </a:prstGeom>
          <a:solidFill>
            <a:schemeClr val="bg2"/>
          </a:solidFill>
          <a:ln/>
        </p:spPr>
      </p:sp>
      <p:sp>
        <p:nvSpPr>
          <p:cNvPr id="20" name="Text 17"/>
          <p:cNvSpPr txBox="1"/>
          <p:nvPr/>
        </p:nvSpPr>
        <p:spPr>
          <a:xfrm>
            <a:off x="594360" y="292608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6</a:t>
            </a:r>
            <a:endParaRPr lang="en-US" sz="2000" dirty="0"/>
          </a:p>
        </p:txBody>
      </p:sp>
      <p:sp>
        <p:nvSpPr>
          <p:cNvPr id="21" name="Text 18"/>
          <p:cNvSpPr txBox="1"/>
          <p:nvPr/>
        </p:nvSpPr>
        <p:spPr>
          <a:xfrm>
            <a:off x="594360" y="3337560"/>
            <a:ext cx="1325880" cy="1051560"/>
          </a:xfrm>
          <a:prstGeom prst="rect">
            <a:avLst/>
          </a:prstGeom>
          <a:noFill/>
          <a:ln/>
        </p:spPr>
        <p:txBody>
          <a:bodyPr wrap="square" lIns="0" tIns="0" rIns="0" bIns="0" rtlCol="0" anchor="t"/>
          <a:lstStyle/>
          <a:p>
            <a:pPr indent="0" marL="0">
              <a:buNone/>
            </a:pPr>
            <a:r>
              <a:rPr lang="en-US" sz="1100" dirty="0">
                <a:solidFill>
                  <a:schemeClr val="tx1"/>
                </a:solidFill>
              </a:rPr>
              <a:t>Applicazione, API o modello locale: che differenze?</a:t>
            </a:r>
            <a:endParaRPr lang="en-US" sz="1100" dirty="0"/>
          </a:p>
        </p:txBody>
      </p:sp>
      <p:sp>
        <p:nvSpPr>
          <p:cNvPr id="22" name="domanda 7"/>
          <p:cNvSpPr/>
          <p:nvPr/>
        </p:nvSpPr>
        <p:spPr>
          <a:xfrm>
            <a:off x="2139696" y="2834640"/>
            <a:ext cx="1554480" cy="1600200"/>
          </a:xfrm>
          <a:prstGeom prst="roundRect">
            <a:avLst>
              <a:gd name="adj" fmla="val 4706"/>
            </a:avLst>
          </a:prstGeom>
          <a:solidFill>
            <a:schemeClr val="bg2"/>
          </a:solidFill>
          <a:ln/>
        </p:spPr>
      </p:sp>
      <p:sp>
        <p:nvSpPr>
          <p:cNvPr id="23" name="Text 20"/>
          <p:cNvSpPr txBox="1"/>
          <p:nvPr/>
        </p:nvSpPr>
        <p:spPr>
          <a:xfrm>
            <a:off x="2276856" y="292608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7</a:t>
            </a:r>
            <a:endParaRPr lang="en-US" sz="2000" dirty="0"/>
          </a:p>
        </p:txBody>
      </p:sp>
      <p:sp>
        <p:nvSpPr>
          <p:cNvPr id="24" name="Text 21"/>
          <p:cNvSpPr txBox="1"/>
          <p:nvPr/>
        </p:nvSpPr>
        <p:spPr>
          <a:xfrm>
            <a:off x="2276856" y="3337560"/>
            <a:ext cx="1325880" cy="1051560"/>
          </a:xfrm>
          <a:prstGeom prst="rect">
            <a:avLst/>
          </a:prstGeom>
          <a:noFill/>
          <a:ln/>
        </p:spPr>
        <p:txBody>
          <a:bodyPr wrap="square" lIns="0" tIns="0" rIns="0" bIns="0" rtlCol="0" anchor="t"/>
          <a:lstStyle/>
          <a:p>
            <a:pPr indent="0" marL="0">
              <a:buNone/>
            </a:pPr>
            <a:r>
              <a:rPr lang="en-US" sz="1100" dirty="0">
                <a:solidFill>
                  <a:schemeClr val="tx1"/>
                </a:solidFill>
              </a:rPr>
              <a:t>Quali fattori considerare per confrontare due soluzioni?</a:t>
            </a:r>
            <a:endParaRPr lang="en-US" sz="1100" dirty="0"/>
          </a:p>
        </p:txBody>
      </p:sp>
      <p:sp>
        <p:nvSpPr>
          <p:cNvPr id="25" name="domanda 8"/>
          <p:cNvSpPr/>
          <p:nvPr/>
        </p:nvSpPr>
        <p:spPr>
          <a:xfrm>
            <a:off x="3822192" y="2834640"/>
            <a:ext cx="1554480" cy="1600200"/>
          </a:xfrm>
          <a:prstGeom prst="roundRect">
            <a:avLst>
              <a:gd name="adj" fmla="val 4706"/>
            </a:avLst>
          </a:prstGeom>
          <a:solidFill>
            <a:schemeClr val="bg2"/>
          </a:solidFill>
          <a:ln/>
        </p:spPr>
      </p:sp>
      <p:sp>
        <p:nvSpPr>
          <p:cNvPr id="26" name="Text 23"/>
          <p:cNvSpPr txBox="1"/>
          <p:nvPr/>
        </p:nvSpPr>
        <p:spPr>
          <a:xfrm>
            <a:off x="3959352" y="292608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8</a:t>
            </a:r>
            <a:endParaRPr lang="en-US" sz="2000" dirty="0"/>
          </a:p>
        </p:txBody>
      </p:sp>
      <p:sp>
        <p:nvSpPr>
          <p:cNvPr id="27" name="Text 24"/>
          <p:cNvSpPr txBox="1"/>
          <p:nvPr/>
        </p:nvSpPr>
        <p:spPr>
          <a:xfrm>
            <a:off x="3959352" y="3337560"/>
            <a:ext cx="1325880" cy="1051560"/>
          </a:xfrm>
          <a:prstGeom prst="rect">
            <a:avLst/>
          </a:prstGeom>
          <a:noFill/>
          <a:ln/>
        </p:spPr>
        <p:txBody>
          <a:bodyPr wrap="square" lIns="0" tIns="0" rIns="0" bIns="0" rtlCol="0" anchor="t"/>
          <a:lstStyle/>
          <a:p>
            <a:pPr indent="0" marL="0">
              <a:buNone/>
            </a:pPr>
            <a:r>
              <a:rPr lang="en-US" sz="1100" dirty="0">
                <a:solidFill>
                  <a:schemeClr val="tx1"/>
                </a:solidFill>
              </a:rPr>
              <a:t>Come influiscono licenze, portabilità e lock-in?</a:t>
            </a:r>
            <a:endParaRPr lang="en-US" sz="1100" dirty="0"/>
          </a:p>
        </p:txBody>
      </p:sp>
      <p:sp>
        <p:nvSpPr>
          <p:cNvPr id="28" name="domanda 9"/>
          <p:cNvSpPr/>
          <p:nvPr/>
        </p:nvSpPr>
        <p:spPr>
          <a:xfrm>
            <a:off x="5504688" y="2834640"/>
            <a:ext cx="1554480" cy="1600200"/>
          </a:xfrm>
          <a:prstGeom prst="roundRect">
            <a:avLst>
              <a:gd name="adj" fmla="val 4706"/>
            </a:avLst>
          </a:prstGeom>
          <a:solidFill>
            <a:schemeClr val="bg2"/>
          </a:solidFill>
          <a:ln/>
        </p:spPr>
      </p:sp>
      <p:sp>
        <p:nvSpPr>
          <p:cNvPr id="29" name="Text 26"/>
          <p:cNvSpPr txBox="1"/>
          <p:nvPr/>
        </p:nvSpPr>
        <p:spPr>
          <a:xfrm>
            <a:off x="5641848" y="292608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9</a:t>
            </a:r>
            <a:endParaRPr lang="en-US" sz="2000" dirty="0"/>
          </a:p>
        </p:txBody>
      </p:sp>
      <p:sp>
        <p:nvSpPr>
          <p:cNvPr id="30" name="Text 27"/>
          <p:cNvSpPr txBox="1"/>
          <p:nvPr/>
        </p:nvSpPr>
        <p:spPr>
          <a:xfrm>
            <a:off x="5641848" y="3337560"/>
            <a:ext cx="1325880" cy="1051560"/>
          </a:xfrm>
          <a:prstGeom prst="rect">
            <a:avLst/>
          </a:prstGeom>
          <a:noFill/>
          <a:ln/>
        </p:spPr>
        <p:txBody>
          <a:bodyPr wrap="square" lIns="0" tIns="0" rIns="0" bIns="0" rtlCol="0" anchor="t"/>
          <a:lstStyle/>
          <a:p>
            <a:pPr indent="0" marL="0">
              <a:buNone/>
            </a:pPr>
            <a:r>
              <a:rPr lang="en-US" sz="1100" dirty="0">
                <a:solidFill>
                  <a:schemeClr val="tx1"/>
                </a:solidFill>
              </a:rPr>
              <a:t>Come verificare che una funzione pubblicizzata sia disponibile?</a:t>
            </a:r>
            <a:endParaRPr lang="en-US" sz="1100" dirty="0"/>
          </a:p>
        </p:txBody>
      </p:sp>
      <p:sp>
        <p:nvSpPr>
          <p:cNvPr id="31" name="domanda 10"/>
          <p:cNvSpPr/>
          <p:nvPr/>
        </p:nvSpPr>
        <p:spPr>
          <a:xfrm>
            <a:off x="7187184" y="2834640"/>
            <a:ext cx="1554480" cy="1600200"/>
          </a:xfrm>
          <a:prstGeom prst="roundRect">
            <a:avLst>
              <a:gd name="adj" fmla="val 4706"/>
            </a:avLst>
          </a:prstGeom>
          <a:solidFill>
            <a:schemeClr val="bg2"/>
          </a:solidFill>
          <a:ln/>
        </p:spPr>
      </p:sp>
      <p:sp>
        <p:nvSpPr>
          <p:cNvPr id="32" name="Text 29"/>
          <p:cNvSpPr txBox="1"/>
          <p:nvPr/>
        </p:nvSpPr>
        <p:spPr>
          <a:xfrm>
            <a:off x="7324344" y="292608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10</a:t>
            </a:r>
            <a:endParaRPr lang="en-US" sz="2000" dirty="0"/>
          </a:p>
        </p:txBody>
      </p:sp>
      <p:sp>
        <p:nvSpPr>
          <p:cNvPr id="33" name="Text 30"/>
          <p:cNvSpPr txBox="1"/>
          <p:nvPr/>
        </p:nvSpPr>
        <p:spPr>
          <a:xfrm>
            <a:off x="7324344" y="3337560"/>
            <a:ext cx="1325880" cy="1051560"/>
          </a:xfrm>
          <a:prstGeom prst="rect">
            <a:avLst/>
          </a:prstGeom>
          <a:noFill/>
          <a:ln/>
        </p:spPr>
        <p:txBody>
          <a:bodyPr wrap="square" lIns="0" tIns="0" rIns="0" bIns="0" rtlCol="0" anchor="t"/>
          <a:lstStyle/>
          <a:p>
            <a:pPr indent="0" marL="0">
              <a:buNone/>
            </a:pPr>
            <a:r>
              <a:rPr lang="en-US" sz="1100" dirty="0">
                <a:solidFill>
                  <a:schemeClr val="tx1"/>
                </a:solidFill>
              </a:rPr>
              <a:t>Perché servono competenze trasferibili tra piattaforme?</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percorso del modulo</a:t>
            </a:r>
            <a:endParaRPr lang="en-US" sz="2600" dirty="0"/>
          </a:p>
        </p:txBody>
      </p:sp>
      <p:sp>
        <p:nvSpPr>
          <p:cNvPr id="4" name="riga 4.1"/>
          <p:cNvSpPr/>
          <p:nvPr/>
        </p:nvSpPr>
        <p:spPr>
          <a:xfrm>
            <a:off x="457200" y="1024128"/>
            <a:ext cx="5120640" cy="365760"/>
          </a:xfrm>
          <a:prstGeom prst="roundRect">
            <a:avLst>
              <a:gd name="adj" fmla="val 20000"/>
            </a:avLst>
          </a:prstGeom>
          <a:solidFill>
            <a:schemeClr val="bg2"/>
          </a:solidFill>
          <a:ln/>
        </p:spPr>
      </p:sp>
      <p:sp>
        <p:nvSpPr>
          <p:cNvPr id="5" name="Text 2"/>
          <p:cNvSpPr txBox="1"/>
          <p:nvPr/>
        </p:nvSpPr>
        <p:spPr>
          <a:xfrm>
            <a:off x="594360" y="1024128"/>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4.1</a:t>
            </a:r>
            <a:endParaRPr lang="en-US" sz="1300" dirty="0"/>
          </a:p>
        </p:txBody>
      </p:sp>
      <p:sp>
        <p:nvSpPr>
          <p:cNvPr id="6" name="Text 3"/>
          <p:cNvSpPr txBox="1"/>
          <p:nvPr/>
        </p:nvSpPr>
        <p:spPr>
          <a:xfrm>
            <a:off x="1097280" y="1024128"/>
            <a:ext cx="3566160" cy="365760"/>
          </a:xfrm>
          <a:prstGeom prst="rect">
            <a:avLst/>
          </a:prstGeom>
          <a:noFill/>
          <a:ln/>
        </p:spPr>
        <p:txBody>
          <a:bodyPr wrap="square" lIns="0" tIns="0" rIns="0" bIns="0" rtlCol="0" anchor="ctr"/>
          <a:lstStyle/>
          <a:p>
            <a:pPr indent="0" marL="0">
              <a:buNone/>
            </a:pPr>
            <a:r>
              <a:rPr lang="en-US" sz="1300" dirty="0">
                <a:solidFill>
                  <a:schemeClr val="tx1"/>
                </a:solidFill>
              </a:rPr>
              <a:t>La struttura dell'ecosistema AI</a:t>
            </a:r>
            <a:endParaRPr lang="en-US" sz="1300" dirty="0"/>
          </a:p>
        </p:txBody>
      </p:sp>
      <p:sp>
        <p:nvSpPr>
          <p:cNvPr id="7" name="priorità 4.1"/>
          <p:cNvSpPr/>
          <p:nvPr/>
        </p:nvSpPr>
        <p:spPr>
          <a:xfrm>
            <a:off x="4754880" y="1088136"/>
            <a:ext cx="731520" cy="237744"/>
          </a:xfrm>
          <a:prstGeom prst="roundRect">
            <a:avLst>
              <a:gd name="adj" fmla="val 50000"/>
            </a:avLst>
          </a:prstGeom>
          <a:solidFill>
            <a:schemeClr val="accent1"/>
          </a:solidFill>
          <a:ln w="12700">
            <a:solidFill>
              <a:schemeClr val="accent1"/>
            </a:solidFill>
            <a:prstDash val="solid"/>
          </a:ln>
        </p:spPr>
      </p:sp>
      <p:sp>
        <p:nvSpPr>
          <p:cNvPr id="8" name="Text 5"/>
          <p:cNvSpPr txBox="1"/>
          <p:nvPr/>
        </p:nvSpPr>
        <p:spPr>
          <a:xfrm>
            <a:off x="4754880" y="1088136"/>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9" name="riga 4.2"/>
          <p:cNvSpPr/>
          <p:nvPr/>
        </p:nvSpPr>
        <p:spPr>
          <a:xfrm>
            <a:off x="457200" y="1453896"/>
            <a:ext cx="5120640" cy="365760"/>
          </a:xfrm>
          <a:prstGeom prst="roundRect">
            <a:avLst>
              <a:gd name="adj" fmla="val 20000"/>
            </a:avLst>
          </a:prstGeom>
          <a:solidFill>
            <a:schemeClr val="bg1"/>
          </a:solidFill>
          <a:ln/>
        </p:spPr>
      </p:sp>
      <p:sp>
        <p:nvSpPr>
          <p:cNvPr id="10" name="Text 7"/>
          <p:cNvSpPr txBox="1"/>
          <p:nvPr/>
        </p:nvSpPr>
        <p:spPr>
          <a:xfrm>
            <a:off x="594360" y="1453896"/>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4.2</a:t>
            </a:r>
            <a:endParaRPr lang="en-US" sz="1300" dirty="0"/>
          </a:p>
        </p:txBody>
      </p:sp>
      <p:sp>
        <p:nvSpPr>
          <p:cNvPr id="11" name="Text 8"/>
          <p:cNvSpPr txBox="1"/>
          <p:nvPr/>
        </p:nvSpPr>
        <p:spPr>
          <a:xfrm>
            <a:off x="1097280" y="1453896"/>
            <a:ext cx="3566160" cy="365760"/>
          </a:xfrm>
          <a:prstGeom prst="rect">
            <a:avLst/>
          </a:prstGeom>
          <a:noFill/>
          <a:ln/>
        </p:spPr>
        <p:txBody>
          <a:bodyPr wrap="square" lIns="0" tIns="0" rIns="0" bIns="0" rtlCol="0" anchor="ctr"/>
          <a:lstStyle/>
          <a:p>
            <a:pPr indent="0" marL="0">
              <a:buNone/>
            </a:pPr>
            <a:r>
              <a:rPr lang="en-US" sz="1300" dirty="0">
                <a:solidFill>
                  <a:schemeClr val="tx1"/>
                </a:solidFill>
              </a:rPr>
              <a:t>Le principali famiglie di modelli AI</a:t>
            </a:r>
            <a:endParaRPr lang="en-US" sz="1300" dirty="0"/>
          </a:p>
        </p:txBody>
      </p:sp>
      <p:sp>
        <p:nvSpPr>
          <p:cNvPr id="12" name="priorità 4.2"/>
          <p:cNvSpPr/>
          <p:nvPr/>
        </p:nvSpPr>
        <p:spPr>
          <a:xfrm>
            <a:off x="4754880" y="1517904"/>
            <a:ext cx="731520" cy="237744"/>
          </a:xfrm>
          <a:prstGeom prst="roundRect">
            <a:avLst>
              <a:gd name="adj" fmla="val 50000"/>
            </a:avLst>
          </a:prstGeom>
          <a:solidFill>
            <a:schemeClr val="bg1"/>
          </a:solidFill>
          <a:ln w="12700">
            <a:solidFill>
              <a:schemeClr val="accent1"/>
            </a:solidFill>
            <a:prstDash val="solid"/>
          </a:ln>
        </p:spPr>
      </p:sp>
      <p:sp>
        <p:nvSpPr>
          <p:cNvPr id="13" name="Text 10"/>
          <p:cNvSpPr txBox="1"/>
          <p:nvPr/>
        </p:nvSpPr>
        <p:spPr>
          <a:xfrm>
            <a:off x="4754880" y="1517904"/>
            <a:ext cx="731520" cy="237744"/>
          </a:xfrm>
          <a:prstGeom prst="rect">
            <a:avLst/>
          </a:prstGeom>
          <a:noFill/>
          <a:ln/>
        </p:spPr>
        <p:txBody>
          <a:bodyPr wrap="square" lIns="0" tIns="0" rIns="0" bIns="0" rtlCol="0" anchor="ctr"/>
          <a:lstStyle/>
          <a:p>
            <a:pPr algn="ctr" indent="0" marL="0">
              <a:buNone/>
            </a:pPr>
            <a:r>
              <a:rPr lang="en-US" sz="1000" b="1" dirty="0">
                <a:solidFill>
                  <a:schemeClr val="accent1"/>
                </a:solidFill>
              </a:rPr>
              <a:t>Media</a:t>
            </a:r>
            <a:endParaRPr lang="en-US" sz="1000" dirty="0"/>
          </a:p>
        </p:txBody>
      </p:sp>
      <p:sp>
        <p:nvSpPr>
          <p:cNvPr id="14" name="riga 4.3"/>
          <p:cNvSpPr/>
          <p:nvPr/>
        </p:nvSpPr>
        <p:spPr>
          <a:xfrm>
            <a:off x="457200" y="1883664"/>
            <a:ext cx="5120640" cy="365760"/>
          </a:xfrm>
          <a:prstGeom prst="roundRect">
            <a:avLst>
              <a:gd name="adj" fmla="val 20000"/>
            </a:avLst>
          </a:prstGeom>
          <a:solidFill>
            <a:schemeClr val="bg2"/>
          </a:solidFill>
          <a:ln/>
        </p:spPr>
      </p:sp>
      <p:sp>
        <p:nvSpPr>
          <p:cNvPr id="15" name="Text 12"/>
          <p:cNvSpPr txBox="1"/>
          <p:nvPr/>
        </p:nvSpPr>
        <p:spPr>
          <a:xfrm>
            <a:off x="594360" y="1883664"/>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4.3</a:t>
            </a:r>
            <a:endParaRPr lang="en-US" sz="1300" dirty="0"/>
          </a:p>
        </p:txBody>
      </p:sp>
      <p:sp>
        <p:nvSpPr>
          <p:cNvPr id="16" name="Text 13"/>
          <p:cNvSpPr txBox="1"/>
          <p:nvPr/>
        </p:nvSpPr>
        <p:spPr>
          <a:xfrm>
            <a:off x="1097280" y="1883664"/>
            <a:ext cx="3566160" cy="365760"/>
          </a:xfrm>
          <a:prstGeom prst="rect">
            <a:avLst/>
          </a:prstGeom>
          <a:noFill/>
          <a:ln/>
        </p:spPr>
        <p:txBody>
          <a:bodyPr wrap="square" lIns="0" tIns="0" rIns="0" bIns="0" rtlCol="0" anchor="ctr"/>
          <a:lstStyle/>
          <a:p>
            <a:pPr indent="0" marL="0">
              <a:buNone/>
            </a:pPr>
            <a:r>
              <a:rPr lang="en-US" sz="1300" dirty="0">
                <a:solidFill>
                  <a:schemeClr val="tx1"/>
                </a:solidFill>
              </a:rPr>
              <a:t>Le principali piattaforme e strumenti</a:t>
            </a:r>
            <a:endParaRPr lang="en-US" sz="1300" dirty="0"/>
          </a:p>
        </p:txBody>
      </p:sp>
      <p:sp>
        <p:nvSpPr>
          <p:cNvPr id="17" name="priorità 4.3"/>
          <p:cNvSpPr/>
          <p:nvPr/>
        </p:nvSpPr>
        <p:spPr>
          <a:xfrm>
            <a:off x="4754880" y="1947672"/>
            <a:ext cx="731520" cy="237744"/>
          </a:xfrm>
          <a:prstGeom prst="roundRect">
            <a:avLst>
              <a:gd name="adj" fmla="val 50000"/>
            </a:avLst>
          </a:prstGeom>
          <a:solidFill>
            <a:schemeClr val="accent1"/>
          </a:solidFill>
          <a:ln w="12700">
            <a:solidFill>
              <a:schemeClr val="accent1"/>
            </a:solidFill>
            <a:prstDash val="solid"/>
          </a:ln>
        </p:spPr>
      </p:sp>
      <p:sp>
        <p:nvSpPr>
          <p:cNvPr id="18" name="Text 15"/>
          <p:cNvSpPr txBox="1"/>
          <p:nvPr/>
        </p:nvSpPr>
        <p:spPr>
          <a:xfrm>
            <a:off x="4754880" y="1947672"/>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19" name="riga 4.4"/>
          <p:cNvSpPr/>
          <p:nvPr/>
        </p:nvSpPr>
        <p:spPr>
          <a:xfrm>
            <a:off x="457200" y="2313432"/>
            <a:ext cx="5120640" cy="365760"/>
          </a:xfrm>
          <a:prstGeom prst="roundRect">
            <a:avLst>
              <a:gd name="adj" fmla="val 20000"/>
            </a:avLst>
          </a:prstGeom>
          <a:solidFill>
            <a:schemeClr val="bg1"/>
          </a:solidFill>
          <a:ln/>
        </p:spPr>
      </p:sp>
      <p:sp>
        <p:nvSpPr>
          <p:cNvPr id="20" name="Text 17"/>
          <p:cNvSpPr txBox="1"/>
          <p:nvPr/>
        </p:nvSpPr>
        <p:spPr>
          <a:xfrm>
            <a:off x="594360" y="2313432"/>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4.4</a:t>
            </a:r>
            <a:endParaRPr lang="en-US" sz="1300" dirty="0"/>
          </a:p>
        </p:txBody>
      </p:sp>
      <p:sp>
        <p:nvSpPr>
          <p:cNvPr id="21" name="Text 18"/>
          <p:cNvSpPr txBox="1"/>
          <p:nvPr/>
        </p:nvSpPr>
        <p:spPr>
          <a:xfrm>
            <a:off x="1097280" y="2313432"/>
            <a:ext cx="3566160" cy="365760"/>
          </a:xfrm>
          <a:prstGeom prst="rect">
            <a:avLst/>
          </a:prstGeom>
          <a:noFill/>
          <a:ln/>
        </p:spPr>
        <p:txBody>
          <a:bodyPr wrap="square" lIns="0" tIns="0" rIns="0" bIns="0" rtlCol="0" anchor="ctr"/>
          <a:lstStyle/>
          <a:p>
            <a:pPr indent="0" marL="0">
              <a:buNone/>
            </a:pPr>
            <a:r>
              <a:rPr lang="en-US" sz="1300" dirty="0">
                <a:solidFill>
                  <a:schemeClr val="tx1"/>
                </a:solidFill>
              </a:rPr>
              <a:t>AI generalista, specializzata e integrata</a:t>
            </a:r>
            <a:endParaRPr lang="en-US" sz="1300" dirty="0"/>
          </a:p>
        </p:txBody>
      </p:sp>
      <p:sp>
        <p:nvSpPr>
          <p:cNvPr id="22" name="priorità 4.4"/>
          <p:cNvSpPr/>
          <p:nvPr/>
        </p:nvSpPr>
        <p:spPr>
          <a:xfrm>
            <a:off x="4754880" y="2377440"/>
            <a:ext cx="731520" cy="237744"/>
          </a:xfrm>
          <a:prstGeom prst="roundRect">
            <a:avLst>
              <a:gd name="adj" fmla="val 50000"/>
            </a:avLst>
          </a:prstGeom>
          <a:solidFill>
            <a:schemeClr val="accent1"/>
          </a:solidFill>
          <a:ln w="12700">
            <a:solidFill>
              <a:schemeClr val="accent1"/>
            </a:solidFill>
            <a:prstDash val="solid"/>
          </a:ln>
        </p:spPr>
      </p:sp>
      <p:sp>
        <p:nvSpPr>
          <p:cNvPr id="23" name="Text 20"/>
          <p:cNvSpPr txBox="1"/>
          <p:nvPr/>
        </p:nvSpPr>
        <p:spPr>
          <a:xfrm>
            <a:off x="4754880" y="2377440"/>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24" name="riga 4.5"/>
          <p:cNvSpPr/>
          <p:nvPr/>
        </p:nvSpPr>
        <p:spPr>
          <a:xfrm>
            <a:off x="457200" y="2743200"/>
            <a:ext cx="5120640" cy="365760"/>
          </a:xfrm>
          <a:prstGeom prst="roundRect">
            <a:avLst>
              <a:gd name="adj" fmla="val 20000"/>
            </a:avLst>
          </a:prstGeom>
          <a:solidFill>
            <a:schemeClr val="bg2"/>
          </a:solidFill>
          <a:ln/>
        </p:spPr>
      </p:sp>
      <p:sp>
        <p:nvSpPr>
          <p:cNvPr id="25" name="Text 22"/>
          <p:cNvSpPr txBox="1"/>
          <p:nvPr/>
        </p:nvSpPr>
        <p:spPr>
          <a:xfrm>
            <a:off x="594360" y="2743200"/>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4.5</a:t>
            </a:r>
            <a:endParaRPr lang="en-US" sz="1300" dirty="0"/>
          </a:p>
        </p:txBody>
      </p:sp>
      <p:sp>
        <p:nvSpPr>
          <p:cNvPr id="26" name="Text 23"/>
          <p:cNvSpPr txBox="1"/>
          <p:nvPr/>
        </p:nvSpPr>
        <p:spPr>
          <a:xfrm>
            <a:off x="1097280" y="2743200"/>
            <a:ext cx="3566160" cy="365760"/>
          </a:xfrm>
          <a:prstGeom prst="rect">
            <a:avLst/>
          </a:prstGeom>
          <a:noFill/>
          <a:ln/>
        </p:spPr>
        <p:txBody>
          <a:bodyPr wrap="square" lIns="0" tIns="0" rIns="0" bIns="0" rtlCol="0" anchor="ctr"/>
          <a:lstStyle/>
          <a:p>
            <a:pPr indent="0" marL="0">
              <a:buNone/>
            </a:pPr>
            <a:r>
              <a:rPr lang="en-US" sz="1300" dirty="0">
                <a:solidFill>
                  <a:schemeClr val="tx1"/>
                </a:solidFill>
              </a:rPr>
              <a:t>Chatbot, assistenti, agenti e automazioni</a:t>
            </a:r>
            <a:endParaRPr lang="en-US" sz="1300" dirty="0"/>
          </a:p>
        </p:txBody>
      </p:sp>
      <p:sp>
        <p:nvSpPr>
          <p:cNvPr id="27" name="priorità 4.5"/>
          <p:cNvSpPr/>
          <p:nvPr/>
        </p:nvSpPr>
        <p:spPr>
          <a:xfrm>
            <a:off x="4754880" y="2807208"/>
            <a:ext cx="731520" cy="237744"/>
          </a:xfrm>
          <a:prstGeom prst="roundRect">
            <a:avLst>
              <a:gd name="adj" fmla="val 50000"/>
            </a:avLst>
          </a:prstGeom>
          <a:solidFill>
            <a:schemeClr val="accent1"/>
          </a:solidFill>
          <a:ln w="12700">
            <a:solidFill>
              <a:schemeClr val="accent1"/>
            </a:solidFill>
            <a:prstDash val="solid"/>
          </a:ln>
        </p:spPr>
      </p:sp>
      <p:sp>
        <p:nvSpPr>
          <p:cNvPr id="28" name="Text 25"/>
          <p:cNvSpPr txBox="1"/>
          <p:nvPr/>
        </p:nvSpPr>
        <p:spPr>
          <a:xfrm>
            <a:off x="4754880" y="2807208"/>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29" name="riga 4.6"/>
          <p:cNvSpPr/>
          <p:nvPr/>
        </p:nvSpPr>
        <p:spPr>
          <a:xfrm>
            <a:off x="457200" y="3172968"/>
            <a:ext cx="5120640" cy="365760"/>
          </a:xfrm>
          <a:prstGeom prst="roundRect">
            <a:avLst>
              <a:gd name="adj" fmla="val 20000"/>
            </a:avLst>
          </a:prstGeom>
          <a:solidFill>
            <a:schemeClr val="bg1"/>
          </a:solidFill>
          <a:ln/>
        </p:spPr>
      </p:sp>
      <p:sp>
        <p:nvSpPr>
          <p:cNvPr id="30" name="Text 27"/>
          <p:cNvSpPr txBox="1"/>
          <p:nvPr/>
        </p:nvSpPr>
        <p:spPr>
          <a:xfrm>
            <a:off x="594360" y="3172968"/>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4.6</a:t>
            </a:r>
            <a:endParaRPr lang="en-US" sz="1300" dirty="0"/>
          </a:p>
        </p:txBody>
      </p:sp>
      <p:sp>
        <p:nvSpPr>
          <p:cNvPr id="31" name="Text 28"/>
          <p:cNvSpPr txBox="1"/>
          <p:nvPr/>
        </p:nvSpPr>
        <p:spPr>
          <a:xfrm>
            <a:off x="1097280" y="3172968"/>
            <a:ext cx="3566160" cy="365760"/>
          </a:xfrm>
          <a:prstGeom prst="rect">
            <a:avLst/>
          </a:prstGeom>
          <a:noFill/>
          <a:ln/>
        </p:spPr>
        <p:txBody>
          <a:bodyPr wrap="square" lIns="0" tIns="0" rIns="0" bIns="0" rtlCol="0" anchor="ctr"/>
          <a:lstStyle/>
          <a:p>
            <a:pPr indent="0" marL="0">
              <a:buNone/>
            </a:pPr>
            <a:r>
              <a:rPr lang="en-US" sz="1300" dirty="0">
                <a:solidFill>
                  <a:schemeClr val="tx1"/>
                </a:solidFill>
              </a:rPr>
              <a:t>Modalità di accesso e utilizzo</a:t>
            </a:r>
            <a:endParaRPr lang="en-US" sz="1300" dirty="0"/>
          </a:p>
        </p:txBody>
      </p:sp>
      <p:sp>
        <p:nvSpPr>
          <p:cNvPr id="32" name="priorità 4.6"/>
          <p:cNvSpPr/>
          <p:nvPr/>
        </p:nvSpPr>
        <p:spPr>
          <a:xfrm>
            <a:off x="4754880" y="3236976"/>
            <a:ext cx="731520" cy="237744"/>
          </a:xfrm>
          <a:prstGeom prst="roundRect">
            <a:avLst>
              <a:gd name="adj" fmla="val 50000"/>
            </a:avLst>
          </a:prstGeom>
          <a:solidFill>
            <a:schemeClr val="bg1"/>
          </a:solidFill>
          <a:ln w="12700">
            <a:solidFill>
              <a:schemeClr val="accent1"/>
            </a:solidFill>
            <a:prstDash val="solid"/>
          </a:ln>
        </p:spPr>
      </p:sp>
      <p:sp>
        <p:nvSpPr>
          <p:cNvPr id="33" name="Text 30"/>
          <p:cNvSpPr txBox="1"/>
          <p:nvPr/>
        </p:nvSpPr>
        <p:spPr>
          <a:xfrm>
            <a:off x="4754880" y="3236976"/>
            <a:ext cx="731520" cy="237744"/>
          </a:xfrm>
          <a:prstGeom prst="rect">
            <a:avLst/>
          </a:prstGeom>
          <a:noFill/>
          <a:ln/>
        </p:spPr>
        <p:txBody>
          <a:bodyPr wrap="square" lIns="0" tIns="0" rIns="0" bIns="0" rtlCol="0" anchor="ctr"/>
          <a:lstStyle/>
          <a:p>
            <a:pPr algn="ctr" indent="0" marL="0">
              <a:buNone/>
            </a:pPr>
            <a:r>
              <a:rPr lang="en-US" sz="1000" b="1" dirty="0">
                <a:solidFill>
                  <a:schemeClr val="accent1"/>
                </a:solidFill>
              </a:rPr>
              <a:t>Media</a:t>
            </a:r>
            <a:endParaRPr lang="en-US" sz="1000" dirty="0"/>
          </a:p>
        </p:txBody>
      </p:sp>
      <p:sp>
        <p:nvSpPr>
          <p:cNvPr id="34" name="riga 4.7"/>
          <p:cNvSpPr/>
          <p:nvPr/>
        </p:nvSpPr>
        <p:spPr>
          <a:xfrm>
            <a:off x="457200" y="3602736"/>
            <a:ext cx="5120640" cy="365760"/>
          </a:xfrm>
          <a:prstGeom prst="roundRect">
            <a:avLst>
              <a:gd name="adj" fmla="val 20000"/>
            </a:avLst>
          </a:prstGeom>
          <a:solidFill>
            <a:schemeClr val="bg2"/>
          </a:solidFill>
          <a:ln/>
        </p:spPr>
      </p:sp>
      <p:sp>
        <p:nvSpPr>
          <p:cNvPr id="35" name="Text 32"/>
          <p:cNvSpPr txBox="1"/>
          <p:nvPr/>
        </p:nvSpPr>
        <p:spPr>
          <a:xfrm>
            <a:off x="594360" y="3602736"/>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4.7</a:t>
            </a:r>
            <a:endParaRPr lang="en-US" sz="1300" dirty="0"/>
          </a:p>
        </p:txBody>
      </p:sp>
      <p:sp>
        <p:nvSpPr>
          <p:cNvPr id="36" name="Text 33"/>
          <p:cNvSpPr txBox="1"/>
          <p:nvPr/>
        </p:nvSpPr>
        <p:spPr>
          <a:xfrm>
            <a:off x="1097280" y="3602736"/>
            <a:ext cx="3566160" cy="365760"/>
          </a:xfrm>
          <a:prstGeom prst="rect">
            <a:avLst/>
          </a:prstGeom>
          <a:noFill/>
          <a:ln/>
        </p:spPr>
        <p:txBody>
          <a:bodyPr wrap="square" lIns="0" tIns="0" rIns="0" bIns="0" rtlCol="0" anchor="ctr"/>
          <a:lstStyle/>
          <a:p>
            <a:pPr indent="0" marL="0">
              <a:buNone/>
            </a:pPr>
            <a:r>
              <a:rPr lang="en-US" sz="1300" dirty="0">
                <a:solidFill>
                  <a:schemeClr val="tx1"/>
                </a:solidFill>
              </a:rPr>
              <a:t>Criteri per confrontare e scegliere</a:t>
            </a:r>
            <a:endParaRPr lang="en-US" sz="1300" dirty="0"/>
          </a:p>
        </p:txBody>
      </p:sp>
      <p:sp>
        <p:nvSpPr>
          <p:cNvPr id="37" name="priorità 4.7"/>
          <p:cNvSpPr/>
          <p:nvPr/>
        </p:nvSpPr>
        <p:spPr>
          <a:xfrm>
            <a:off x="4754880" y="3666744"/>
            <a:ext cx="731520" cy="237744"/>
          </a:xfrm>
          <a:prstGeom prst="roundRect">
            <a:avLst>
              <a:gd name="adj" fmla="val 50000"/>
            </a:avLst>
          </a:prstGeom>
          <a:solidFill>
            <a:schemeClr val="accent1"/>
          </a:solidFill>
          <a:ln w="12700">
            <a:solidFill>
              <a:schemeClr val="accent1"/>
            </a:solidFill>
            <a:prstDash val="solid"/>
          </a:ln>
        </p:spPr>
      </p:sp>
      <p:sp>
        <p:nvSpPr>
          <p:cNvPr id="38" name="Text 35"/>
          <p:cNvSpPr txBox="1"/>
          <p:nvPr/>
        </p:nvSpPr>
        <p:spPr>
          <a:xfrm>
            <a:off x="4754880" y="3666744"/>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39" name="riga 4.8"/>
          <p:cNvSpPr/>
          <p:nvPr/>
        </p:nvSpPr>
        <p:spPr>
          <a:xfrm>
            <a:off x="457200" y="4032504"/>
            <a:ext cx="5120640" cy="365760"/>
          </a:xfrm>
          <a:prstGeom prst="roundRect">
            <a:avLst>
              <a:gd name="adj" fmla="val 20000"/>
            </a:avLst>
          </a:prstGeom>
          <a:solidFill>
            <a:schemeClr val="bg1"/>
          </a:solidFill>
          <a:ln/>
        </p:spPr>
      </p:sp>
      <p:sp>
        <p:nvSpPr>
          <p:cNvPr id="40" name="Text 37"/>
          <p:cNvSpPr txBox="1"/>
          <p:nvPr/>
        </p:nvSpPr>
        <p:spPr>
          <a:xfrm>
            <a:off x="594360" y="4032504"/>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4.8</a:t>
            </a:r>
            <a:endParaRPr lang="en-US" sz="1300" dirty="0"/>
          </a:p>
        </p:txBody>
      </p:sp>
      <p:sp>
        <p:nvSpPr>
          <p:cNvPr id="41" name="Text 38"/>
          <p:cNvSpPr txBox="1"/>
          <p:nvPr/>
        </p:nvSpPr>
        <p:spPr>
          <a:xfrm>
            <a:off x="1097280" y="4032504"/>
            <a:ext cx="3566160" cy="365760"/>
          </a:xfrm>
          <a:prstGeom prst="rect">
            <a:avLst/>
          </a:prstGeom>
          <a:noFill/>
          <a:ln/>
        </p:spPr>
        <p:txBody>
          <a:bodyPr wrap="square" lIns="0" tIns="0" rIns="0" bIns="0" rtlCol="0" anchor="ctr"/>
          <a:lstStyle/>
          <a:p>
            <a:pPr indent="0" marL="0">
              <a:buNone/>
            </a:pPr>
            <a:r>
              <a:rPr lang="en-US" sz="1300" dirty="0">
                <a:solidFill>
                  <a:schemeClr val="tx1"/>
                </a:solidFill>
              </a:rPr>
              <a:t>Evoluzione e dinamicità dell'ecosistema</a:t>
            </a:r>
            <a:endParaRPr lang="en-US" sz="1300" dirty="0"/>
          </a:p>
        </p:txBody>
      </p:sp>
      <p:sp>
        <p:nvSpPr>
          <p:cNvPr id="42" name="priorità 4.8"/>
          <p:cNvSpPr/>
          <p:nvPr/>
        </p:nvSpPr>
        <p:spPr>
          <a:xfrm>
            <a:off x="4754880" y="4096512"/>
            <a:ext cx="731520" cy="237744"/>
          </a:xfrm>
          <a:prstGeom prst="roundRect">
            <a:avLst>
              <a:gd name="adj" fmla="val 50000"/>
            </a:avLst>
          </a:prstGeom>
          <a:solidFill>
            <a:schemeClr val="bg1"/>
          </a:solidFill>
          <a:ln w="12700">
            <a:solidFill>
              <a:schemeClr val="accent1"/>
            </a:solidFill>
            <a:prstDash val="solid"/>
          </a:ln>
        </p:spPr>
      </p:sp>
      <p:sp>
        <p:nvSpPr>
          <p:cNvPr id="43" name="Text 40"/>
          <p:cNvSpPr txBox="1"/>
          <p:nvPr/>
        </p:nvSpPr>
        <p:spPr>
          <a:xfrm>
            <a:off x="4754880" y="4096512"/>
            <a:ext cx="731520" cy="237744"/>
          </a:xfrm>
          <a:prstGeom prst="rect">
            <a:avLst/>
          </a:prstGeom>
          <a:noFill/>
          <a:ln/>
        </p:spPr>
        <p:txBody>
          <a:bodyPr wrap="square" lIns="0" tIns="0" rIns="0" bIns="0" rtlCol="0" anchor="ctr"/>
          <a:lstStyle/>
          <a:p>
            <a:pPr algn="ctr" indent="0" marL="0">
              <a:buNone/>
            </a:pPr>
            <a:r>
              <a:rPr lang="en-US" sz="1000" b="1" dirty="0">
                <a:solidFill>
                  <a:schemeClr val="accent1"/>
                </a:solidFill>
              </a:rPr>
              <a:t>Media</a:t>
            </a:r>
            <a:endParaRPr lang="en-US" sz="1000" dirty="0"/>
          </a:p>
        </p:txBody>
      </p:sp>
      <p:sp>
        <p:nvSpPr>
          <p:cNvPr id="44" name="livello Comprendere bene"/>
          <p:cNvSpPr/>
          <p:nvPr/>
        </p:nvSpPr>
        <p:spPr>
          <a:xfrm>
            <a:off x="5806440" y="1024128"/>
            <a:ext cx="2880360" cy="1024128"/>
          </a:xfrm>
          <a:prstGeom prst="roundRect">
            <a:avLst>
              <a:gd name="adj" fmla="val 7143"/>
            </a:avLst>
          </a:prstGeom>
          <a:solidFill>
            <a:schemeClr val="accent1"/>
          </a:solidFill>
          <a:ln/>
        </p:spPr>
      </p:sp>
      <p:sp>
        <p:nvSpPr>
          <p:cNvPr id="45" name="Text 42"/>
          <p:cNvSpPr txBox="1"/>
          <p:nvPr/>
        </p:nvSpPr>
        <p:spPr>
          <a:xfrm>
            <a:off x="5943600" y="1097280"/>
            <a:ext cx="2651760" cy="274320"/>
          </a:xfrm>
          <a:prstGeom prst="rect">
            <a:avLst/>
          </a:prstGeom>
          <a:noFill/>
          <a:ln/>
        </p:spPr>
        <p:txBody>
          <a:bodyPr wrap="square" lIns="0" tIns="0" rIns="0" bIns="0" rtlCol="0" anchor="t"/>
          <a:lstStyle/>
          <a:p>
            <a:pPr indent="0" marL="0">
              <a:buNone/>
            </a:pPr>
            <a:r>
              <a:rPr lang="en-US" sz="1300" b="1" dirty="0">
                <a:solidFill>
                  <a:schemeClr val="bg1"/>
                </a:solidFill>
              </a:rPr>
              <a:t>Comprendere bene</a:t>
            </a:r>
            <a:endParaRPr lang="en-US" sz="1300" dirty="0"/>
          </a:p>
        </p:txBody>
      </p:sp>
      <p:sp>
        <p:nvSpPr>
          <p:cNvPr id="46" name="Text 43"/>
          <p:cNvSpPr txBox="1"/>
          <p:nvPr/>
        </p:nvSpPr>
        <p:spPr>
          <a:xfrm>
            <a:off x="5943600" y="1389888"/>
            <a:ext cx="2651760" cy="621792"/>
          </a:xfrm>
          <a:prstGeom prst="rect">
            <a:avLst/>
          </a:prstGeom>
          <a:noFill/>
          <a:ln/>
        </p:spPr>
        <p:txBody>
          <a:bodyPr wrap="square" lIns="0" tIns="0" rIns="0" bIns="0" rtlCol="0" anchor="t"/>
          <a:lstStyle/>
          <a:p>
            <a:pPr indent="0" marL="0">
              <a:buNone/>
            </a:pPr>
            <a:r>
              <a:rPr lang="en-US" sz="1000" dirty="0">
                <a:solidFill>
                  <a:schemeClr val="bg1"/>
                </a:solidFill>
              </a:rPr>
              <a:t>Modello e applicazione, categorie di strumenti, generalista e specializzato, chatbot, assistenti e agenti, criteri di scelta</a:t>
            </a:r>
            <a:endParaRPr lang="en-US" sz="1000" dirty="0"/>
          </a:p>
        </p:txBody>
      </p:sp>
      <p:sp>
        <p:nvSpPr>
          <p:cNvPr id="47" name="livello Conoscere"/>
          <p:cNvSpPr/>
          <p:nvPr/>
        </p:nvSpPr>
        <p:spPr>
          <a:xfrm>
            <a:off x="5806440" y="2185416"/>
            <a:ext cx="2880360" cy="1024128"/>
          </a:xfrm>
          <a:prstGeom prst="roundRect">
            <a:avLst>
              <a:gd name="adj" fmla="val 7143"/>
            </a:avLst>
          </a:prstGeom>
          <a:solidFill>
            <a:schemeClr val="accent6"/>
          </a:solidFill>
          <a:ln/>
        </p:spPr>
      </p:sp>
      <p:sp>
        <p:nvSpPr>
          <p:cNvPr id="48" name="Text 45"/>
          <p:cNvSpPr txBox="1"/>
          <p:nvPr/>
        </p:nvSpPr>
        <p:spPr>
          <a:xfrm>
            <a:off x="5943600" y="2258568"/>
            <a:ext cx="2651760" cy="274320"/>
          </a:xfrm>
          <a:prstGeom prst="rect">
            <a:avLst/>
          </a:prstGeom>
          <a:noFill/>
          <a:ln/>
        </p:spPr>
        <p:txBody>
          <a:bodyPr wrap="square" lIns="0" tIns="0" rIns="0" bIns="0" rtlCol="0" anchor="t"/>
          <a:lstStyle/>
          <a:p>
            <a:pPr indent="0" marL="0">
              <a:buNone/>
            </a:pPr>
            <a:r>
              <a:rPr lang="en-US" sz="1300" b="1" dirty="0">
                <a:solidFill>
                  <a:schemeClr val="tx1"/>
                </a:solidFill>
              </a:rPr>
              <a:t>Conoscere</a:t>
            </a:r>
            <a:endParaRPr lang="en-US" sz="1300" dirty="0"/>
          </a:p>
        </p:txBody>
      </p:sp>
      <p:sp>
        <p:nvSpPr>
          <p:cNvPr id="49" name="Text 46"/>
          <p:cNvSpPr txBox="1"/>
          <p:nvPr/>
        </p:nvSpPr>
        <p:spPr>
          <a:xfrm>
            <a:off x="5943600" y="2551176"/>
            <a:ext cx="2651760" cy="621792"/>
          </a:xfrm>
          <a:prstGeom prst="rect">
            <a:avLst/>
          </a:prstGeom>
          <a:noFill/>
          <a:ln/>
        </p:spPr>
        <p:txBody>
          <a:bodyPr wrap="square" lIns="0" tIns="0" rIns="0" bIns="0" rtlCol="0" anchor="t"/>
          <a:lstStyle/>
          <a:p>
            <a:pPr indent="0" marL="0">
              <a:buNone/>
            </a:pPr>
            <a:r>
              <a:rPr lang="en-US" sz="1000" dirty="0">
                <a:solidFill>
                  <a:schemeClr val="tx1"/>
                </a:solidFill>
              </a:rPr>
              <a:t>Famiglie di modelli, modalità di accesso, cloud e locale, aperti e chiusi, vendor lock-in</a:t>
            </a:r>
            <a:endParaRPr lang="en-US" sz="1000" dirty="0"/>
          </a:p>
        </p:txBody>
      </p:sp>
      <p:sp>
        <p:nvSpPr>
          <p:cNvPr id="50" name="livello Solo accennare"/>
          <p:cNvSpPr/>
          <p:nvPr/>
        </p:nvSpPr>
        <p:spPr>
          <a:xfrm>
            <a:off x="5806440" y="3346704"/>
            <a:ext cx="2880360" cy="1024128"/>
          </a:xfrm>
          <a:prstGeom prst="roundRect">
            <a:avLst>
              <a:gd name="adj" fmla="val 7143"/>
            </a:avLst>
          </a:prstGeom>
          <a:solidFill>
            <a:schemeClr val="bg2"/>
          </a:solidFill>
          <a:ln/>
        </p:spPr>
      </p:sp>
      <p:sp>
        <p:nvSpPr>
          <p:cNvPr id="51" name="Text 48"/>
          <p:cNvSpPr txBox="1"/>
          <p:nvPr/>
        </p:nvSpPr>
        <p:spPr>
          <a:xfrm>
            <a:off x="5943600" y="3419856"/>
            <a:ext cx="2651760" cy="274320"/>
          </a:xfrm>
          <a:prstGeom prst="rect">
            <a:avLst/>
          </a:prstGeom>
          <a:noFill/>
          <a:ln/>
        </p:spPr>
        <p:txBody>
          <a:bodyPr wrap="square" lIns="0" tIns="0" rIns="0" bIns="0" rtlCol="0" anchor="t"/>
          <a:lstStyle/>
          <a:p>
            <a:pPr indent="0" marL="0">
              <a:buNone/>
            </a:pPr>
            <a:r>
              <a:rPr lang="en-US" sz="1300" b="1" dirty="0">
                <a:solidFill>
                  <a:schemeClr val="tx1"/>
                </a:solidFill>
              </a:rPr>
              <a:t>Solo accennare</a:t>
            </a:r>
            <a:endParaRPr lang="en-US" sz="1300" dirty="0"/>
          </a:p>
        </p:txBody>
      </p:sp>
      <p:sp>
        <p:nvSpPr>
          <p:cNvPr id="52" name="Text 49"/>
          <p:cNvSpPr txBox="1"/>
          <p:nvPr/>
        </p:nvSpPr>
        <p:spPr>
          <a:xfrm>
            <a:off x="5943600" y="3712464"/>
            <a:ext cx="2651760" cy="621792"/>
          </a:xfrm>
          <a:prstGeom prst="rect">
            <a:avLst/>
          </a:prstGeom>
          <a:noFill/>
          <a:ln/>
        </p:spPr>
        <p:txBody>
          <a:bodyPr wrap="square" lIns="0" tIns="0" rIns="0" bIns="0" rtlCol="0" anchor="t"/>
          <a:lstStyle/>
          <a:p>
            <a:pPr indent="0" marL="0">
              <a:buNone/>
            </a:pPr>
            <a:r>
              <a:rPr lang="en-US" sz="1000" dirty="0">
                <a:solidFill>
                  <a:schemeClr val="tx1"/>
                </a:solidFill>
              </a:rPr>
              <a:t>Infrastrutture, API, deployment, orchestrazione, integrazione</a:t>
            </a:r>
            <a:endParaRPr lang="en-US" sz="10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4.1</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La struttura dell'ecosistema AI</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Un'applicazione AI è spesso composta da più elementi e non coincide con il modello che utilizza</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Modello, sistema, applicazione, piattaforma</a:t>
            </a:r>
            <a:endParaRPr lang="en-US" sz="2600" dirty="0"/>
          </a:p>
        </p:txBody>
      </p:sp>
      <p:sp>
        <p:nvSpPr>
          <p:cNvPr id="4" name="Modello"/>
          <p:cNvSpPr/>
          <p:nvPr/>
        </p:nvSpPr>
        <p:spPr>
          <a:xfrm>
            <a:off x="457200" y="1097280"/>
            <a:ext cx="1920240" cy="2514600"/>
          </a:xfrm>
          <a:prstGeom prst="roundRect">
            <a:avLst>
              <a:gd name="adj" fmla="val 3810"/>
            </a:avLst>
          </a:prstGeom>
          <a:solidFill>
            <a:schemeClr val="accent6"/>
          </a:solidFill>
          <a:ln/>
        </p:spPr>
      </p:sp>
      <p:sp>
        <p:nvSpPr>
          <p:cNvPr id="5" name="cerchio FiCpu"/>
          <p:cNvSpPr/>
          <p:nvPr/>
        </p:nvSpPr>
        <p:spPr>
          <a:xfrm>
            <a:off x="621792" y="1261872"/>
            <a:ext cx="438912" cy="438912"/>
          </a:xfrm>
          <a:prstGeom prst="ellipse">
            <a:avLst/>
          </a:prstGeom>
          <a:solidFill>
            <a:schemeClr val="accent1"/>
          </a:solidFill>
          <a:ln/>
        </p:spPr>
      </p:sp>
      <p:pic>
        <p:nvPicPr>
          <p:cNvPr id="6" name="Image 0" descr="FiCpu">    </p:cNvPr>
          <p:cNvPicPr>
            <a:picLocks noChangeAspect="1"/>
          </p:cNvPicPr>
          <p:nvPr/>
        </p:nvPicPr>
        <p:blipFill>
          <a:blip r:embed="rId1"/>
          <a:stretch>
            <a:fillRect/>
          </a:stretch>
        </p:blipFill>
        <p:spPr>
          <a:xfrm>
            <a:off x="731520" y="1371600"/>
            <a:ext cx="219456" cy="219456"/>
          </a:xfrm>
          <a:prstGeom prst="rect">
            <a:avLst/>
          </a:prstGeom>
        </p:spPr>
      </p:pic>
      <p:sp>
        <p:nvSpPr>
          <p:cNvPr id="7" name="Text 3"/>
          <p:cNvSpPr txBox="1"/>
          <p:nvPr/>
        </p:nvSpPr>
        <p:spPr>
          <a:xfrm>
            <a:off x="1170432" y="1225296"/>
            <a:ext cx="1097280" cy="512064"/>
          </a:xfrm>
          <a:prstGeom prst="rect">
            <a:avLst/>
          </a:prstGeom>
          <a:noFill/>
          <a:ln/>
        </p:spPr>
        <p:txBody>
          <a:bodyPr wrap="square" lIns="0" tIns="0" rIns="0" bIns="0" rtlCol="0" anchor="ctr"/>
          <a:lstStyle/>
          <a:p>
            <a:pPr indent="0" marL="0">
              <a:buNone/>
            </a:pPr>
            <a:r>
              <a:rPr lang="en-US" sz="1500" b="1" dirty="0">
                <a:solidFill>
                  <a:schemeClr val="tx1"/>
                </a:solidFill>
              </a:rPr>
              <a:t>Modello</a:t>
            </a:r>
            <a:endParaRPr lang="en-US" sz="1500" dirty="0"/>
          </a:p>
        </p:txBody>
      </p:sp>
      <p:sp>
        <p:nvSpPr>
          <p:cNvPr id="8" name="Text 4"/>
          <p:cNvSpPr txBox="1"/>
          <p:nvPr/>
        </p:nvSpPr>
        <p:spPr>
          <a:xfrm>
            <a:off x="621792" y="1810512"/>
            <a:ext cx="1591056" cy="1709928"/>
          </a:xfrm>
          <a:prstGeom prst="rect">
            <a:avLst/>
          </a:prstGeom>
          <a:noFill/>
          <a:ln/>
        </p:spPr>
        <p:txBody>
          <a:bodyPr wrap="square" lIns="0" tIns="0" rIns="0" bIns="0" rtlCol="0" anchor="t"/>
          <a:lstStyle/>
          <a:p>
            <a:pPr indent="0" marL="0">
              <a:buNone/>
            </a:pPr>
            <a:r>
              <a:rPr lang="en-US" sz="1200" dirty="0">
                <a:solidFill>
                  <a:schemeClr val="tx2"/>
                </a:solidFill>
              </a:rPr>
              <a:t>Il componente addestrato che elabora input e genera output. Senza interfaccia per l'utente.</a:t>
            </a:r>
            <a:endParaRPr lang="en-US" sz="1200" dirty="0"/>
          </a:p>
        </p:txBody>
      </p:sp>
      <p:sp>
        <p:nvSpPr>
          <p:cNvPr id="9" name="Sistema"/>
          <p:cNvSpPr/>
          <p:nvPr/>
        </p:nvSpPr>
        <p:spPr>
          <a:xfrm>
            <a:off x="2560320" y="1097280"/>
            <a:ext cx="1920240" cy="2514600"/>
          </a:xfrm>
          <a:prstGeom prst="roundRect">
            <a:avLst>
              <a:gd name="adj" fmla="val 3810"/>
            </a:avLst>
          </a:prstGeom>
          <a:solidFill>
            <a:schemeClr val="bg2"/>
          </a:solidFill>
          <a:ln/>
        </p:spPr>
      </p:sp>
      <p:sp>
        <p:nvSpPr>
          <p:cNvPr id="10" name="cerchio FiLayers"/>
          <p:cNvSpPr/>
          <p:nvPr/>
        </p:nvSpPr>
        <p:spPr>
          <a:xfrm>
            <a:off x="2724912" y="1261872"/>
            <a:ext cx="438912" cy="438912"/>
          </a:xfrm>
          <a:prstGeom prst="ellipse">
            <a:avLst/>
          </a:prstGeom>
          <a:solidFill>
            <a:schemeClr val="accent1"/>
          </a:solidFill>
          <a:ln/>
        </p:spPr>
      </p:sp>
      <p:pic>
        <p:nvPicPr>
          <p:cNvPr id="11" name="Image 1" descr="FiLayers">    </p:cNvPr>
          <p:cNvPicPr>
            <a:picLocks noChangeAspect="1"/>
          </p:cNvPicPr>
          <p:nvPr/>
        </p:nvPicPr>
        <p:blipFill>
          <a:blip r:embed="rId2"/>
          <a:stretch>
            <a:fillRect/>
          </a:stretch>
        </p:blipFill>
        <p:spPr>
          <a:xfrm>
            <a:off x="2834640" y="1371600"/>
            <a:ext cx="219456" cy="219456"/>
          </a:xfrm>
          <a:prstGeom prst="rect">
            <a:avLst/>
          </a:prstGeom>
        </p:spPr>
      </p:pic>
      <p:sp>
        <p:nvSpPr>
          <p:cNvPr id="12" name="Text 7"/>
          <p:cNvSpPr txBox="1"/>
          <p:nvPr/>
        </p:nvSpPr>
        <p:spPr>
          <a:xfrm>
            <a:off x="3273552" y="1225296"/>
            <a:ext cx="1097280" cy="512064"/>
          </a:xfrm>
          <a:prstGeom prst="rect">
            <a:avLst/>
          </a:prstGeom>
          <a:noFill/>
          <a:ln/>
        </p:spPr>
        <p:txBody>
          <a:bodyPr wrap="square" lIns="0" tIns="0" rIns="0" bIns="0" rtlCol="0" anchor="ctr"/>
          <a:lstStyle/>
          <a:p>
            <a:pPr indent="0" marL="0">
              <a:buNone/>
            </a:pPr>
            <a:r>
              <a:rPr lang="en-US" sz="1500" b="1" dirty="0">
                <a:solidFill>
                  <a:schemeClr val="tx1"/>
                </a:solidFill>
              </a:rPr>
              <a:t>Sistema</a:t>
            </a:r>
            <a:endParaRPr lang="en-US" sz="1500" dirty="0"/>
          </a:p>
        </p:txBody>
      </p:sp>
      <p:sp>
        <p:nvSpPr>
          <p:cNvPr id="13" name="Text 8"/>
          <p:cNvSpPr txBox="1"/>
          <p:nvPr/>
        </p:nvSpPr>
        <p:spPr>
          <a:xfrm>
            <a:off x="2724912" y="1810512"/>
            <a:ext cx="1591056" cy="1709928"/>
          </a:xfrm>
          <a:prstGeom prst="rect">
            <a:avLst/>
          </a:prstGeom>
          <a:noFill/>
          <a:ln/>
        </p:spPr>
        <p:txBody>
          <a:bodyPr wrap="square" lIns="0" tIns="0" rIns="0" bIns="0" rtlCol="0" anchor="t"/>
          <a:lstStyle/>
          <a:p>
            <a:pPr indent="0" marL="0">
              <a:buNone/>
            </a:pPr>
            <a:r>
              <a:rPr lang="en-US" sz="1200" dirty="0">
                <a:solidFill>
                  <a:schemeClr val="tx2"/>
                </a:solidFill>
              </a:rPr>
              <a:t>I componenti intorno al modello: istruzioni, dati, strumenti, filtri, memoria.</a:t>
            </a:r>
            <a:endParaRPr lang="en-US" sz="1200" dirty="0"/>
          </a:p>
        </p:txBody>
      </p:sp>
      <p:sp>
        <p:nvSpPr>
          <p:cNvPr id="14" name="Applicazione"/>
          <p:cNvSpPr/>
          <p:nvPr/>
        </p:nvSpPr>
        <p:spPr>
          <a:xfrm>
            <a:off x="4663440" y="1097280"/>
            <a:ext cx="1920240" cy="2514600"/>
          </a:xfrm>
          <a:prstGeom prst="roundRect">
            <a:avLst>
              <a:gd name="adj" fmla="val 3810"/>
            </a:avLst>
          </a:prstGeom>
          <a:solidFill>
            <a:schemeClr val="bg2"/>
          </a:solidFill>
          <a:ln/>
        </p:spPr>
      </p:sp>
      <p:sp>
        <p:nvSpPr>
          <p:cNvPr id="15" name="cerchio FiMonitor"/>
          <p:cNvSpPr/>
          <p:nvPr/>
        </p:nvSpPr>
        <p:spPr>
          <a:xfrm>
            <a:off x="4828032" y="1261872"/>
            <a:ext cx="438912" cy="438912"/>
          </a:xfrm>
          <a:prstGeom prst="ellipse">
            <a:avLst/>
          </a:prstGeom>
          <a:solidFill>
            <a:schemeClr val="accent1"/>
          </a:solidFill>
          <a:ln/>
        </p:spPr>
      </p:sp>
      <p:pic>
        <p:nvPicPr>
          <p:cNvPr id="16" name="Image 2" descr="FiMonitor">    </p:cNvPr>
          <p:cNvPicPr>
            <a:picLocks noChangeAspect="1"/>
          </p:cNvPicPr>
          <p:nvPr/>
        </p:nvPicPr>
        <p:blipFill>
          <a:blip r:embed="rId3"/>
          <a:stretch>
            <a:fillRect/>
          </a:stretch>
        </p:blipFill>
        <p:spPr>
          <a:xfrm>
            <a:off x="4937760" y="1371600"/>
            <a:ext cx="219456" cy="219456"/>
          </a:xfrm>
          <a:prstGeom prst="rect">
            <a:avLst/>
          </a:prstGeom>
        </p:spPr>
      </p:pic>
      <p:sp>
        <p:nvSpPr>
          <p:cNvPr id="17" name="Text 11"/>
          <p:cNvSpPr txBox="1"/>
          <p:nvPr/>
        </p:nvSpPr>
        <p:spPr>
          <a:xfrm>
            <a:off x="5376672" y="1225296"/>
            <a:ext cx="1097280" cy="512064"/>
          </a:xfrm>
          <a:prstGeom prst="rect">
            <a:avLst/>
          </a:prstGeom>
          <a:noFill/>
          <a:ln/>
        </p:spPr>
        <p:txBody>
          <a:bodyPr wrap="square" lIns="0" tIns="0" rIns="0" bIns="0" rtlCol="0" anchor="ctr"/>
          <a:lstStyle/>
          <a:p>
            <a:pPr indent="0" marL="0">
              <a:buNone/>
            </a:pPr>
            <a:r>
              <a:rPr lang="en-US" sz="1500" b="1" dirty="0">
                <a:solidFill>
                  <a:schemeClr val="tx1"/>
                </a:solidFill>
              </a:rPr>
              <a:t>Applicazione</a:t>
            </a:r>
            <a:endParaRPr lang="en-US" sz="1500" dirty="0"/>
          </a:p>
        </p:txBody>
      </p:sp>
      <p:sp>
        <p:nvSpPr>
          <p:cNvPr id="18" name="Text 12"/>
          <p:cNvSpPr txBox="1"/>
          <p:nvPr/>
        </p:nvSpPr>
        <p:spPr>
          <a:xfrm>
            <a:off x="4828032" y="1810512"/>
            <a:ext cx="1591056" cy="1709928"/>
          </a:xfrm>
          <a:prstGeom prst="rect">
            <a:avLst/>
          </a:prstGeom>
          <a:noFill/>
          <a:ln/>
        </p:spPr>
        <p:txBody>
          <a:bodyPr wrap="square" lIns="0" tIns="0" rIns="0" bIns="0" rtlCol="0" anchor="t"/>
          <a:lstStyle/>
          <a:p>
            <a:pPr indent="0" marL="0">
              <a:buNone/>
            </a:pPr>
            <a:r>
              <a:rPr lang="en-US" sz="1200" dirty="0">
                <a:solidFill>
                  <a:schemeClr val="tx2"/>
                </a:solidFill>
              </a:rPr>
              <a:t>Il prodotto con cui l'utente interagisce: assistente, funzione AI in un software, app.</a:t>
            </a:r>
            <a:endParaRPr lang="en-US" sz="1200" dirty="0"/>
          </a:p>
        </p:txBody>
      </p:sp>
      <p:sp>
        <p:nvSpPr>
          <p:cNvPr id="19" name="Piattaforma"/>
          <p:cNvSpPr/>
          <p:nvPr/>
        </p:nvSpPr>
        <p:spPr>
          <a:xfrm>
            <a:off x="6766560" y="1097280"/>
            <a:ext cx="1920240" cy="2514600"/>
          </a:xfrm>
          <a:prstGeom prst="roundRect">
            <a:avLst>
              <a:gd name="adj" fmla="val 3810"/>
            </a:avLst>
          </a:prstGeom>
          <a:solidFill>
            <a:schemeClr val="bg2"/>
          </a:solidFill>
          <a:ln/>
        </p:spPr>
      </p:sp>
      <p:sp>
        <p:nvSpPr>
          <p:cNvPr id="20" name="cerchio FiServer"/>
          <p:cNvSpPr/>
          <p:nvPr/>
        </p:nvSpPr>
        <p:spPr>
          <a:xfrm>
            <a:off x="6931152" y="1261872"/>
            <a:ext cx="438912" cy="438912"/>
          </a:xfrm>
          <a:prstGeom prst="ellipse">
            <a:avLst/>
          </a:prstGeom>
          <a:solidFill>
            <a:schemeClr val="accent1"/>
          </a:solidFill>
          <a:ln/>
        </p:spPr>
      </p:sp>
      <p:pic>
        <p:nvPicPr>
          <p:cNvPr id="21" name="Image 3" descr="FiServer">    </p:cNvPr>
          <p:cNvPicPr>
            <a:picLocks noChangeAspect="1"/>
          </p:cNvPicPr>
          <p:nvPr/>
        </p:nvPicPr>
        <p:blipFill>
          <a:blip r:embed="rId4"/>
          <a:stretch>
            <a:fillRect/>
          </a:stretch>
        </p:blipFill>
        <p:spPr>
          <a:xfrm>
            <a:off x="7040880" y="1371600"/>
            <a:ext cx="219456" cy="219456"/>
          </a:xfrm>
          <a:prstGeom prst="rect">
            <a:avLst/>
          </a:prstGeom>
        </p:spPr>
      </p:pic>
      <p:sp>
        <p:nvSpPr>
          <p:cNvPr id="22" name="Text 15"/>
          <p:cNvSpPr txBox="1"/>
          <p:nvPr/>
        </p:nvSpPr>
        <p:spPr>
          <a:xfrm>
            <a:off x="7479792" y="1225296"/>
            <a:ext cx="1097280" cy="512064"/>
          </a:xfrm>
          <a:prstGeom prst="rect">
            <a:avLst/>
          </a:prstGeom>
          <a:noFill/>
          <a:ln/>
        </p:spPr>
        <p:txBody>
          <a:bodyPr wrap="square" lIns="0" tIns="0" rIns="0" bIns="0" rtlCol="0" anchor="ctr"/>
          <a:lstStyle/>
          <a:p>
            <a:pPr indent="0" marL="0">
              <a:buNone/>
            </a:pPr>
            <a:r>
              <a:rPr lang="en-US" sz="1500" b="1" dirty="0">
                <a:solidFill>
                  <a:schemeClr val="tx1"/>
                </a:solidFill>
              </a:rPr>
              <a:t>Piattaforma</a:t>
            </a:r>
            <a:endParaRPr lang="en-US" sz="1500" dirty="0"/>
          </a:p>
        </p:txBody>
      </p:sp>
      <p:sp>
        <p:nvSpPr>
          <p:cNvPr id="23" name="Text 16"/>
          <p:cNvSpPr txBox="1"/>
          <p:nvPr/>
        </p:nvSpPr>
        <p:spPr>
          <a:xfrm>
            <a:off x="6931152" y="1810512"/>
            <a:ext cx="1591056" cy="1709928"/>
          </a:xfrm>
          <a:prstGeom prst="rect">
            <a:avLst/>
          </a:prstGeom>
          <a:noFill/>
          <a:ln/>
        </p:spPr>
        <p:txBody>
          <a:bodyPr wrap="square" lIns="0" tIns="0" rIns="0" bIns="0" rtlCol="0" anchor="t"/>
          <a:lstStyle/>
          <a:p>
            <a:pPr indent="0" marL="0">
              <a:buNone/>
            </a:pPr>
            <a:r>
              <a:rPr lang="en-US" sz="1200" dirty="0">
                <a:solidFill>
                  <a:schemeClr val="tx2"/>
                </a:solidFill>
              </a:rPr>
              <a:t>Un ambiente con più servizi per costruire, configurare e gestire applicazioni AI.</a:t>
            </a:r>
            <a:endParaRPr lang="en-US" sz="1200" dirty="0"/>
          </a:p>
        </p:txBody>
      </p:sp>
      <p:sp>
        <p:nvSpPr>
          <p:cNvPr id="24" name="messaggio"/>
          <p:cNvSpPr/>
          <p:nvPr/>
        </p:nvSpPr>
        <p:spPr>
          <a:xfrm>
            <a:off x="457200" y="3794760"/>
            <a:ext cx="8229600" cy="731520"/>
          </a:xfrm>
          <a:prstGeom prst="roundRect">
            <a:avLst>
              <a:gd name="adj" fmla="val 10000"/>
            </a:avLst>
          </a:prstGeom>
          <a:solidFill>
            <a:schemeClr val="tx1"/>
          </a:solidFill>
          <a:ln/>
        </p:spPr>
      </p:sp>
      <p:sp>
        <p:nvSpPr>
          <p:cNvPr id="25" name="Text 18"/>
          <p:cNvSpPr txBox="1"/>
          <p:nvPr/>
        </p:nvSpPr>
        <p:spPr>
          <a:xfrm>
            <a:off x="640080" y="3794760"/>
            <a:ext cx="7863840" cy="731520"/>
          </a:xfrm>
          <a:prstGeom prst="rect">
            <a:avLst/>
          </a:prstGeom>
          <a:noFill/>
          <a:ln/>
        </p:spPr>
        <p:txBody>
          <a:bodyPr wrap="square" lIns="0" tIns="0" rIns="0" bIns="0" rtlCol="0" anchor="ctr"/>
          <a:lstStyle/>
          <a:p>
            <a:pPr indent="0" marL="0">
              <a:buNone/>
            </a:pPr>
            <a:r>
              <a:rPr lang="en-US" sz="1400" dirty="0">
                <a:solidFill>
                  <a:schemeClr val="bg1"/>
                </a:solidFill>
              </a:rPr>
              <a:t>Quando valutiamo "un'AI", stiamo valutando il modello, l'applicazione o la piattaforma?</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Foundation models e modelli specializzati</a:t>
            </a:r>
            <a:endParaRPr lang="en-US" sz="2600" dirty="0"/>
          </a:p>
        </p:txBody>
      </p:sp>
      <p:sp>
        <p:nvSpPr>
          <p:cNvPr id="4" name="scheda Foundation models"/>
          <p:cNvSpPr/>
          <p:nvPr/>
        </p:nvSpPr>
        <p:spPr>
          <a:xfrm>
            <a:off x="457200" y="1097280"/>
            <a:ext cx="3977640" cy="2560320"/>
          </a:xfrm>
          <a:prstGeom prst="roundRect">
            <a:avLst>
              <a:gd name="adj" fmla="val 2857"/>
            </a:avLst>
          </a:prstGeom>
          <a:solidFill>
            <a:schemeClr val="bg2"/>
          </a:solidFill>
          <a:ln/>
        </p:spPr>
      </p:sp>
      <p:sp>
        <p:nvSpPr>
          <p:cNvPr id="5" name="cerchio FiLayers"/>
          <p:cNvSpPr/>
          <p:nvPr/>
        </p:nvSpPr>
        <p:spPr>
          <a:xfrm>
            <a:off x="640080" y="1280160"/>
            <a:ext cx="457200" cy="457200"/>
          </a:xfrm>
          <a:prstGeom prst="ellipse">
            <a:avLst/>
          </a:prstGeom>
          <a:solidFill>
            <a:schemeClr val="accent1"/>
          </a:solidFill>
          <a:ln/>
        </p:spPr>
      </p:sp>
      <p:sp>
        <p:nvSpPr>
          <p:cNvPr id="6" name="scheda Modelli specializzati"/>
          <p:cNvSpPr/>
          <p:nvPr/>
        </p:nvSpPr>
        <p:spPr>
          <a:xfrm>
            <a:off x="4709160" y="1097280"/>
            <a:ext cx="3977640" cy="2560320"/>
          </a:xfrm>
          <a:prstGeom prst="roundRect">
            <a:avLst>
              <a:gd name="adj" fmla="val 2857"/>
            </a:avLst>
          </a:prstGeom>
          <a:solidFill>
            <a:schemeClr val="accent6"/>
          </a:solidFill>
          <a:ln/>
        </p:spPr>
      </p:sp>
      <p:sp>
        <p:nvSpPr>
          <p:cNvPr id="7" name="cerchio FiCrosshair"/>
          <p:cNvSpPr/>
          <p:nvPr/>
        </p:nvSpPr>
        <p:spPr>
          <a:xfrm>
            <a:off x="4892040" y="1280160"/>
            <a:ext cx="457200" cy="457200"/>
          </a:xfrm>
          <a:prstGeom prst="ellipse">
            <a:avLst/>
          </a:prstGeom>
          <a:solidFill>
            <a:schemeClr val="accent1"/>
          </a:solidFill>
          <a:ln/>
        </p:spPr>
      </p:sp>
      <p:pic>
        <p:nvPicPr>
          <p:cNvPr id="8" name="Image 0" descr="FiLayers">    </p:cNvPr>
          <p:cNvPicPr>
            <a:picLocks noChangeAspect="1"/>
          </p:cNvPicPr>
          <p:nvPr/>
        </p:nvPicPr>
        <p:blipFill>
          <a:blip r:embed="rId1"/>
          <a:stretch>
            <a:fillRect/>
          </a:stretch>
        </p:blipFill>
        <p:spPr>
          <a:xfrm>
            <a:off x="754380" y="1394460"/>
            <a:ext cx="228600" cy="228600"/>
          </a:xfrm>
          <a:prstGeom prst="rect">
            <a:avLst/>
          </a:prstGeom>
        </p:spPr>
      </p:pic>
      <p:sp>
        <p:nvSpPr>
          <p:cNvPr id="9" name="Text 5"/>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Foundation models</a:t>
            </a:r>
            <a:endParaRPr lang="en-US" sz="1500" dirty="0"/>
          </a:p>
        </p:txBody>
      </p:sp>
      <p:sp>
        <p:nvSpPr>
          <p:cNvPr id="10" name="Text 6"/>
          <p:cNvSpPr txBox="1"/>
          <p:nvPr/>
        </p:nvSpPr>
        <p:spPr>
          <a:xfrm>
            <a:off x="640080" y="2231136"/>
            <a:ext cx="3611880" cy="1316736"/>
          </a:xfrm>
          <a:prstGeom prst="rect">
            <a:avLst/>
          </a:prstGeom>
          <a:noFill/>
          <a:ln/>
        </p:spPr>
        <p:txBody>
          <a:bodyPr wrap="square" lIns="0" tIns="0" rIns="0" bIns="0" rtlCol="0" anchor="t"/>
          <a:lstStyle/>
          <a:p>
            <a:pPr marL="177800" indent="-177800">
              <a:spcAft>
                <a:spcPts val="300"/>
              </a:spcAft>
              <a:buSzPct val="100000"/>
              <a:buChar char="•"/>
            </a:pPr>
            <a:r>
              <a:rPr lang="en-US" sz="1300" dirty="0">
                <a:solidFill>
                  <a:schemeClr val="tx2"/>
                </a:solidFill>
              </a:rPr>
              <a:t>Grandi, addestrati su dati molto vari</a:t>
            </a:r>
            <a:endParaRPr lang="en-US" sz="1300" dirty="0"/>
          </a:p>
          <a:p>
            <a:pPr marL="177800" indent="-177800">
              <a:spcAft>
                <a:spcPts val="300"/>
              </a:spcAft>
              <a:buSzPct val="100000"/>
              <a:buChar char="•"/>
            </a:pPr>
            <a:r>
              <a:rPr lang="en-US" sz="1300" dirty="0">
                <a:solidFill>
                  <a:schemeClr val="tx2"/>
                </a:solidFill>
              </a:rPr>
              <a:t>Molti compiti diversi</a:t>
            </a:r>
            <a:endParaRPr lang="en-US" sz="1300" dirty="0"/>
          </a:p>
          <a:p>
            <a:pPr marL="177800" indent="-177800">
              <a:spcAft>
                <a:spcPts val="300"/>
              </a:spcAft>
              <a:buSzPct val="100000"/>
              <a:buChar char="•"/>
            </a:pPr>
            <a:r>
              <a:rPr lang="en-US" sz="1300" dirty="0">
                <a:solidFill>
                  <a:schemeClr val="tx2"/>
                </a:solidFill>
              </a:rPr>
              <a:t>Base per moltissime applicazioni</a:t>
            </a:r>
            <a:endParaRPr lang="en-US" sz="1300" dirty="0"/>
          </a:p>
          <a:p>
            <a:pPr marL="177800" indent="-177800">
              <a:spcAft>
                <a:spcPts val="300"/>
              </a:spcAft>
              <a:buSzPct val="100000"/>
              <a:buChar char="•"/>
            </a:pPr>
            <a:r>
              <a:rPr lang="en-US" sz="1300" dirty="0">
                <a:solidFill>
                  <a:schemeClr val="tx2"/>
                </a:solidFill>
              </a:rPr>
              <a:t>Esempio: grandi modelli linguistici e multimodali</a:t>
            </a:r>
            <a:endParaRPr lang="en-US" sz="1300" dirty="0"/>
          </a:p>
        </p:txBody>
      </p:sp>
      <p:pic>
        <p:nvPicPr>
          <p:cNvPr id="11" name="Image 1" descr="FiCrosshair">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Modelli specializzati</a:t>
            </a:r>
            <a:endParaRPr lang="en-US" sz="1500" dirty="0"/>
          </a:p>
        </p:txBody>
      </p:sp>
      <p:sp>
        <p:nvSpPr>
          <p:cNvPr id="13" name="Text 8"/>
          <p:cNvSpPr txBox="1"/>
          <p:nvPr/>
        </p:nvSpPr>
        <p:spPr>
          <a:xfrm>
            <a:off x="4892040" y="2231136"/>
            <a:ext cx="3611880" cy="1316736"/>
          </a:xfrm>
          <a:prstGeom prst="rect">
            <a:avLst/>
          </a:prstGeom>
          <a:noFill/>
          <a:ln/>
        </p:spPr>
        <p:txBody>
          <a:bodyPr wrap="square" lIns="0" tIns="0" rIns="0" bIns="0" rtlCol="0" anchor="t"/>
          <a:lstStyle/>
          <a:p>
            <a:pPr marL="177800" indent="-177800">
              <a:spcAft>
                <a:spcPts val="300"/>
              </a:spcAft>
              <a:buSzPct val="100000"/>
              <a:buChar char="•"/>
            </a:pPr>
            <a:r>
              <a:rPr lang="en-US" sz="1300" dirty="0">
                <a:solidFill>
                  <a:schemeClr val="tx2"/>
                </a:solidFill>
              </a:rPr>
              <a:t>Pensati per un compito o un dominio</a:t>
            </a:r>
            <a:endParaRPr lang="en-US" sz="1300" dirty="0"/>
          </a:p>
          <a:p>
            <a:pPr marL="177800" indent="-177800">
              <a:spcAft>
                <a:spcPts val="300"/>
              </a:spcAft>
              <a:buSzPct val="100000"/>
              <a:buChar char="•"/>
            </a:pPr>
            <a:r>
              <a:rPr lang="en-US" sz="1300" dirty="0">
                <a:solidFill>
                  <a:schemeClr val="tx2"/>
                </a:solidFill>
              </a:rPr>
              <a:t>Spesso più efficienti per quel compito</a:t>
            </a:r>
            <a:endParaRPr lang="en-US" sz="1300" dirty="0"/>
          </a:p>
          <a:p>
            <a:pPr marL="177800" indent="-177800">
              <a:spcAft>
                <a:spcPts val="300"/>
              </a:spcAft>
              <a:buSzPct val="100000"/>
              <a:buChar char="•"/>
            </a:pPr>
            <a:r>
              <a:rPr lang="en-US" sz="1300" dirty="0">
                <a:solidFill>
                  <a:schemeClr val="tx2"/>
                </a:solidFill>
              </a:rPr>
              <a:t>Costi e requisiti di calcolo minori</a:t>
            </a:r>
            <a:endParaRPr lang="en-US" sz="1300" dirty="0"/>
          </a:p>
          <a:p>
            <a:pPr marL="177800" indent="-177800">
              <a:spcAft>
                <a:spcPts val="300"/>
              </a:spcAft>
              <a:buSzPct val="100000"/>
              <a:buChar char="•"/>
            </a:pPr>
            <a:r>
              <a:rPr lang="en-US" sz="1300" dirty="0">
                <a:solidFill>
                  <a:schemeClr val="tx2"/>
                </a:solidFill>
              </a:rPr>
              <a:t>Esempio: trascrizione vocale, lettura di documenti</a:t>
            </a:r>
            <a:endParaRPr lang="en-US" sz="1300" dirty="0"/>
          </a:p>
        </p:txBody>
      </p:sp>
      <p:sp>
        <p:nvSpPr>
          <p:cNvPr id="14" name="messaggio"/>
          <p:cNvSpPr/>
          <p:nvPr/>
        </p:nvSpPr>
        <p:spPr>
          <a:xfrm>
            <a:off x="457200" y="3840480"/>
            <a:ext cx="8229600" cy="685800"/>
          </a:xfrm>
          <a:prstGeom prst="roundRect">
            <a:avLst>
              <a:gd name="adj" fmla="val 10667"/>
            </a:avLst>
          </a:prstGeom>
          <a:solidFill>
            <a:schemeClr val="tx1"/>
          </a:solidFill>
          <a:ln/>
        </p:spPr>
      </p:sp>
      <p:sp>
        <p:nvSpPr>
          <p:cNvPr id="15" name="Text 10"/>
          <p:cNvSpPr txBox="1"/>
          <p:nvPr/>
        </p:nvSpPr>
        <p:spPr>
          <a:xfrm>
            <a:off x="640080" y="3840480"/>
            <a:ext cx="7863840" cy="685800"/>
          </a:xfrm>
          <a:prstGeom prst="rect">
            <a:avLst/>
          </a:prstGeom>
          <a:noFill/>
          <a:ln/>
        </p:spPr>
        <p:txBody>
          <a:bodyPr wrap="square" lIns="0" tIns="0" rIns="0" bIns="0" rtlCol="0" anchor="ctr"/>
          <a:lstStyle/>
          <a:p>
            <a:pPr indent="0" marL="0">
              <a:buNone/>
            </a:pPr>
            <a:r>
              <a:rPr lang="en-US" sz="1400" dirty="0">
                <a:solidFill>
                  <a:schemeClr val="bg1"/>
                </a:solidFill>
              </a:rPr>
              <a:t>Nella pratica convivono: molte applicazioni combinano un foundation model e modelli specializzati.</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Gli attori dell'ecosistema</a:t>
            </a:r>
            <a:endParaRPr lang="en-US" sz="2600" dirty="0"/>
          </a:p>
        </p:txBody>
      </p:sp>
      <p:sp>
        <p:nvSpPr>
          <p:cNvPr id="4" name="Sviluppatori di applicazioni"/>
          <p:cNvSpPr/>
          <p:nvPr/>
        </p:nvSpPr>
        <p:spPr>
          <a:xfrm>
            <a:off x="457200" y="1097280"/>
            <a:ext cx="5120640" cy="731520"/>
          </a:xfrm>
          <a:prstGeom prst="roundRect">
            <a:avLst>
              <a:gd name="adj" fmla="val 10000"/>
            </a:avLst>
          </a:prstGeom>
          <a:solidFill>
            <a:schemeClr val="accent1"/>
          </a:solidFill>
          <a:ln/>
        </p:spPr>
      </p:sp>
      <p:sp>
        <p:nvSpPr>
          <p:cNvPr id="5" name="cerchio FiMonitor"/>
          <p:cNvSpPr/>
          <p:nvPr/>
        </p:nvSpPr>
        <p:spPr>
          <a:xfrm>
            <a:off x="594360" y="1234440"/>
            <a:ext cx="457200" cy="457200"/>
          </a:xfrm>
          <a:prstGeom prst="ellipse">
            <a:avLst/>
          </a:prstGeom>
          <a:solidFill>
            <a:schemeClr val="bg1"/>
          </a:solidFill>
          <a:ln/>
        </p:spPr>
      </p:sp>
      <p:pic>
        <p:nvPicPr>
          <p:cNvPr id="6" name="Image 0" descr="FiMonitor">    </p:cNvPr>
          <p:cNvPicPr>
            <a:picLocks noChangeAspect="1"/>
          </p:cNvPicPr>
          <p:nvPr/>
        </p:nvPicPr>
        <p:blipFill>
          <a:blip r:embed="rId1"/>
          <a:stretch>
            <a:fillRect/>
          </a:stretch>
        </p:blipFill>
        <p:spPr>
          <a:xfrm>
            <a:off x="708660" y="1348740"/>
            <a:ext cx="228600" cy="228600"/>
          </a:xfrm>
          <a:prstGeom prst="rect">
            <a:avLst/>
          </a:prstGeom>
        </p:spPr>
      </p:pic>
      <p:sp>
        <p:nvSpPr>
          <p:cNvPr id="7" name="Text 3"/>
          <p:cNvSpPr txBox="1"/>
          <p:nvPr/>
        </p:nvSpPr>
        <p:spPr>
          <a:xfrm>
            <a:off x="1143000" y="1143000"/>
            <a:ext cx="4297680" cy="320040"/>
          </a:xfrm>
          <a:prstGeom prst="rect">
            <a:avLst/>
          </a:prstGeom>
          <a:noFill/>
          <a:ln/>
        </p:spPr>
        <p:txBody>
          <a:bodyPr wrap="square" lIns="0" tIns="0" rIns="0" bIns="0" rtlCol="0" anchor="t"/>
          <a:lstStyle/>
          <a:p>
            <a:pPr indent="0" marL="0">
              <a:buNone/>
            </a:pPr>
            <a:r>
              <a:rPr lang="en-US" sz="1300" b="1" dirty="0">
                <a:solidFill>
                  <a:schemeClr val="bg1"/>
                </a:solidFill>
              </a:rPr>
              <a:t>Sviluppatori di applicazioni</a:t>
            </a:r>
            <a:endParaRPr lang="en-US" sz="1300" dirty="0"/>
          </a:p>
        </p:txBody>
      </p:sp>
      <p:sp>
        <p:nvSpPr>
          <p:cNvPr id="8" name="Text 4"/>
          <p:cNvSpPr txBox="1"/>
          <p:nvPr/>
        </p:nvSpPr>
        <p:spPr>
          <a:xfrm>
            <a:off x="1143000" y="1463040"/>
            <a:ext cx="4297680" cy="347472"/>
          </a:xfrm>
          <a:prstGeom prst="rect">
            <a:avLst/>
          </a:prstGeom>
          <a:noFill/>
          <a:ln/>
        </p:spPr>
        <p:txBody>
          <a:bodyPr wrap="square" lIns="0" tIns="0" rIns="0" bIns="0" rtlCol="0" anchor="t"/>
          <a:lstStyle/>
          <a:p>
            <a:pPr indent="0" marL="0">
              <a:buNone/>
            </a:pPr>
            <a:r>
              <a:rPr lang="en-US" sz="1000" dirty="0">
                <a:solidFill>
                  <a:schemeClr val="accent6"/>
                </a:solidFill>
              </a:rPr>
              <a:t>Prodotti per utenti finali o settori specifici, spesso con modelli di altri</a:t>
            </a:r>
            <a:endParaRPr lang="en-US" sz="1000" dirty="0"/>
          </a:p>
        </p:txBody>
      </p:sp>
      <p:sp>
        <p:nvSpPr>
          <p:cNvPr id="9" name="Piattaforme"/>
          <p:cNvSpPr/>
          <p:nvPr/>
        </p:nvSpPr>
        <p:spPr>
          <a:xfrm>
            <a:off x="640080" y="1938528"/>
            <a:ext cx="4754880" cy="731520"/>
          </a:xfrm>
          <a:prstGeom prst="roundRect">
            <a:avLst>
              <a:gd name="adj" fmla="val 10000"/>
            </a:avLst>
          </a:prstGeom>
          <a:solidFill>
            <a:schemeClr val="bg2"/>
          </a:solidFill>
          <a:ln/>
        </p:spPr>
      </p:sp>
      <p:sp>
        <p:nvSpPr>
          <p:cNvPr id="10" name="cerchio FiServer"/>
          <p:cNvSpPr/>
          <p:nvPr/>
        </p:nvSpPr>
        <p:spPr>
          <a:xfrm>
            <a:off x="777240" y="2075688"/>
            <a:ext cx="457200" cy="457200"/>
          </a:xfrm>
          <a:prstGeom prst="ellipse">
            <a:avLst/>
          </a:prstGeom>
          <a:solidFill>
            <a:schemeClr val="accent1"/>
          </a:solidFill>
          <a:ln/>
        </p:spPr>
      </p:sp>
      <p:pic>
        <p:nvPicPr>
          <p:cNvPr id="11" name="Image 1" descr="FiServer">    </p:cNvPr>
          <p:cNvPicPr>
            <a:picLocks noChangeAspect="1"/>
          </p:cNvPicPr>
          <p:nvPr/>
        </p:nvPicPr>
        <p:blipFill>
          <a:blip r:embed="rId2"/>
          <a:stretch>
            <a:fillRect/>
          </a:stretch>
        </p:blipFill>
        <p:spPr>
          <a:xfrm>
            <a:off x="891540" y="2189988"/>
            <a:ext cx="228600" cy="228600"/>
          </a:xfrm>
          <a:prstGeom prst="rect">
            <a:avLst/>
          </a:prstGeom>
        </p:spPr>
      </p:pic>
      <p:sp>
        <p:nvSpPr>
          <p:cNvPr id="12" name="Text 7"/>
          <p:cNvSpPr txBox="1"/>
          <p:nvPr/>
        </p:nvSpPr>
        <p:spPr>
          <a:xfrm>
            <a:off x="1325880" y="1984248"/>
            <a:ext cx="3931920" cy="320040"/>
          </a:xfrm>
          <a:prstGeom prst="rect">
            <a:avLst/>
          </a:prstGeom>
          <a:noFill/>
          <a:ln/>
        </p:spPr>
        <p:txBody>
          <a:bodyPr wrap="square" lIns="0" tIns="0" rIns="0" bIns="0" rtlCol="0" anchor="t"/>
          <a:lstStyle/>
          <a:p>
            <a:pPr indent="0" marL="0">
              <a:buNone/>
            </a:pPr>
            <a:r>
              <a:rPr lang="en-US" sz="1300" b="1" dirty="0">
                <a:solidFill>
                  <a:schemeClr val="tx1"/>
                </a:solidFill>
              </a:rPr>
              <a:t>Piattaforme</a:t>
            </a:r>
            <a:endParaRPr lang="en-US" sz="1300" dirty="0"/>
          </a:p>
        </p:txBody>
      </p:sp>
      <p:sp>
        <p:nvSpPr>
          <p:cNvPr id="13" name="Text 8"/>
          <p:cNvSpPr txBox="1"/>
          <p:nvPr/>
        </p:nvSpPr>
        <p:spPr>
          <a:xfrm>
            <a:off x="1325880" y="2304288"/>
            <a:ext cx="3931920" cy="347472"/>
          </a:xfrm>
          <a:prstGeom prst="rect">
            <a:avLst/>
          </a:prstGeom>
          <a:noFill/>
          <a:ln/>
        </p:spPr>
        <p:txBody>
          <a:bodyPr wrap="square" lIns="0" tIns="0" rIns="0" bIns="0" rtlCol="0" anchor="t"/>
          <a:lstStyle/>
          <a:p>
            <a:pPr indent="0" marL="0">
              <a:buNone/>
            </a:pPr>
            <a:r>
              <a:rPr lang="en-US" sz="1000" dirty="0">
                <a:solidFill>
                  <a:schemeClr val="tx2"/>
                </a:solidFill>
              </a:rPr>
              <a:t>Modelli, strumenti di sviluppo, gestione e sicurezza</a:t>
            </a:r>
            <a:endParaRPr lang="en-US" sz="1000" dirty="0"/>
          </a:p>
        </p:txBody>
      </p:sp>
      <p:sp>
        <p:nvSpPr>
          <p:cNvPr id="14" name="Fornitori di modelli"/>
          <p:cNvSpPr/>
          <p:nvPr/>
        </p:nvSpPr>
        <p:spPr>
          <a:xfrm>
            <a:off x="822960" y="2779776"/>
            <a:ext cx="4389120" cy="731520"/>
          </a:xfrm>
          <a:prstGeom prst="roundRect">
            <a:avLst>
              <a:gd name="adj" fmla="val 10000"/>
            </a:avLst>
          </a:prstGeom>
          <a:solidFill>
            <a:schemeClr val="bg2"/>
          </a:solidFill>
          <a:ln/>
        </p:spPr>
      </p:sp>
      <p:sp>
        <p:nvSpPr>
          <p:cNvPr id="15" name="cerchio FiCpu"/>
          <p:cNvSpPr/>
          <p:nvPr/>
        </p:nvSpPr>
        <p:spPr>
          <a:xfrm>
            <a:off x="960120" y="2916936"/>
            <a:ext cx="457200" cy="457200"/>
          </a:xfrm>
          <a:prstGeom prst="ellipse">
            <a:avLst/>
          </a:prstGeom>
          <a:solidFill>
            <a:schemeClr val="accent1"/>
          </a:solidFill>
          <a:ln/>
        </p:spPr>
      </p:sp>
      <p:pic>
        <p:nvPicPr>
          <p:cNvPr id="16" name="Image 2" descr="FiCpu">    </p:cNvPr>
          <p:cNvPicPr>
            <a:picLocks noChangeAspect="1"/>
          </p:cNvPicPr>
          <p:nvPr/>
        </p:nvPicPr>
        <p:blipFill>
          <a:blip r:embed="rId3"/>
          <a:stretch>
            <a:fillRect/>
          </a:stretch>
        </p:blipFill>
        <p:spPr>
          <a:xfrm>
            <a:off x="1074420" y="3031236"/>
            <a:ext cx="228600" cy="228600"/>
          </a:xfrm>
          <a:prstGeom prst="rect">
            <a:avLst/>
          </a:prstGeom>
        </p:spPr>
      </p:pic>
      <p:sp>
        <p:nvSpPr>
          <p:cNvPr id="17" name="Text 11"/>
          <p:cNvSpPr txBox="1"/>
          <p:nvPr/>
        </p:nvSpPr>
        <p:spPr>
          <a:xfrm>
            <a:off x="1508760" y="2825496"/>
            <a:ext cx="3566160" cy="320040"/>
          </a:xfrm>
          <a:prstGeom prst="rect">
            <a:avLst/>
          </a:prstGeom>
          <a:noFill/>
          <a:ln/>
        </p:spPr>
        <p:txBody>
          <a:bodyPr wrap="square" lIns="0" tIns="0" rIns="0" bIns="0" rtlCol="0" anchor="t"/>
          <a:lstStyle/>
          <a:p>
            <a:pPr indent="0" marL="0">
              <a:buNone/>
            </a:pPr>
            <a:r>
              <a:rPr lang="en-US" sz="1300" b="1" dirty="0">
                <a:solidFill>
                  <a:schemeClr val="tx1"/>
                </a:solidFill>
              </a:rPr>
              <a:t>Fornitori di modelli</a:t>
            </a:r>
            <a:endParaRPr lang="en-US" sz="1300" dirty="0"/>
          </a:p>
        </p:txBody>
      </p:sp>
      <p:sp>
        <p:nvSpPr>
          <p:cNvPr id="18" name="Text 12"/>
          <p:cNvSpPr txBox="1"/>
          <p:nvPr/>
        </p:nvSpPr>
        <p:spPr>
          <a:xfrm>
            <a:off x="1508760" y="3145536"/>
            <a:ext cx="3566160" cy="347472"/>
          </a:xfrm>
          <a:prstGeom prst="rect">
            <a:avLst/>
          </a:prstGeom>
          <a:noFill/>
          <a:ln/>
        </p:spPr>
        <p:txBody>
          <a:bodyPr wrap="square" lIns="0" tIns="0" rIns="0" bIns="0" rtlCol="0" anchor="t"/>
          <a:lstStyle/>
          <a:p>
            <a:pPr indent="0" marL="0">
              <a:buNone/>
            </a:pPr>
            <a:r>
              <a:rPr lang="en-US" sz="1000" dirty="0">
                <a:solidFill>
                  <a:schemeClr val="tx2"/>
                </a:solidFill>
              </a:rPr>
              <a:t>Sviluppano modelli proprietari o con pesi accessibili</a:t>
            </a:r>
            <a:endParaRPr lang="en-US" sz="1000" dirty="0"/>
          </a:p>
        </p:txBody>
      </p:sp>
      <p:sp>
        <p:nvSpPr>
          <p:cNvPr id="19" name="Operatori infrastrutturali"/>
          <p:cNvSpPr/>
          <p:nvPr/>
        </p:nvSpPr>
        <p:spPr>
          <a:xfrm>
            <a:off x="1005840" y="3621024"/>
            <a:ext cx="4023360" cy="731520"/>
          </a:xfrm>
          <a:prstGeom prst="roundRect">
            <a:avLst>
              <a:gd name="adj" fmla="val 10000"/>
            </a:avLst>
          </a:prstGeom>
          <a:solidFill>
            <a:schemeClr val="bg2"/>
          </a:solidFill>
          <a:ln/>
        </p:spPr>
      </p:sp>
      <p:sp>
        <p:nvSpPr>
          <p:cNvPr id="20" name="cerchio FiCloud"/>
          <p:cNvSpPr/>
          <p:nvPr/>
        </p:nvSpPr>
        <p:spPr>
          <a:xfrm>
            <a:off x="1143000" y="3758184"/>
            <a:ext cx="457200" cy="457200"/>
          </a:xfrm>
          <a:prstGeom prst="ellipse">
            <a:avLst/>
          </a:prstGeom>
          <a:solidFill>
            <a:schemeClr val="accent1"/>
          </a:solidFill>
          <a:ln/>
        </p:spPr>
      </p:sp>
      <p:pic>
        <p:nvPicPr>
          <p:cNvPr id="21" name="Image 3" descr="FiCloud">    </p:cNvPr>
          <p:cNvPicPr>
            <a:picLocks noChangeAspect="1"/>
          </p:cNvPicPr>
          <p:nvPr/>
        </p:nvPicPr>
        <p:blipFill>
          <a:blip r:embed="rId4"/>
          <a:stretch>
            <a:fillRect/>
          </a:stretch>
        </p:blipFill>
        <p:spPr>
          <a:xfrm>
            <a:off x="1257300" y="3872484"/>
            <a:ext cx="228600" cy="228600"/>
          </a:xfrm>
          <a:prstGeom prst="rect">
            <a:avLst/>
          </a:prstGeom>
        </p:spPr>
      </p:pic>
      <p:sp>
        <p:nvSpPr>
          <p:cNvPr id="22" name="Text 15"/>
          <p:cNvSpPr txBox="1"/>
          <p:nvPr/>
        </p:nvSpPr>
        <p:spPr>
          <a:xfrm>
            <a:off x="1691640" y="3666744"/>
            <a:ext cx="3200400" cy="320040"/>
          </a:xfrm>
          <a:prstGeom prst="rect">
            <a:avLst/>
          </a:prstGeom>
          <a:noFill/>
          <a:ln/>
        </p:spPr>
        <p:txBody>
          <a:bodyPr wrap="square" lIns="0" tIns="0" rIns="0" bIns="0" rtlCol="0" anchor="t"/>
          <a:lstStyle/>
          <a:p>
            <a:pPr indent="0" marL="0">
              <a:buNone/>
            </a:pPr>
            <a:r>
              <a:rPr lang="en-US" sz="1300" b="1" dirty="0">
                <a:solidFill>
                  <a:schemeClr val="tx1"/>
                </a:solidFill>
              </a:rPr>
              <a:t>Operatori infrastrutturali</a:t>
            </a:r>
            <a:endParaRPr lang="en-US" sz="1300" dirty="0"/>
          </a:p>
        </p:txBody>
      </p:sp>
      <p:sp>
        <p:nvSpPr>
          <p:cNvPr id="23" name="Text 16"/>
          <p:cNvSpPr txBox="1"/>
          <p:nvPr/>
        </p:nvSpPr>
        <p:spPr>
          <a:xfrm>
            <a:off x="1691640" y="3986784"/>
            <a:ext cx="3200400" cy="347472"/>
          </a:xfrm>
          <a:prstGeom prst="rect">
            <a:avLst/>
          </a:prstGeom>
          <a:noFill/>
          <a:ln/>
        </p:spPr>
        <p:txBody>
          <a:bodyPr wrap="square" lIns="0" tIns="0" rIns="0" bIns="0" rtlCol="0" anchor="t"/>
          <a:lstStyle/>
          <a:p>
            <a:pPr indent="0" marL="0">
              <a:buNone/>
            </a:pPr>
            <a:r>
              <a:rPr lang="en-US" sz="1000" dirty="0">
                <a:solidFill>
                  <a:schemeClr val="tx2"/>
                </a:solidFill>
              </a:rPr>
              <a:t>Chip, cloud, data center: la capacità di calcolo</a:t>
            </a:r>
            <a:endParaRPr lang="en-US" sz="1000" dirty="0"/>
          </a:p>
        </p:txBody>
      </p:sp>
      <p:sp>
        <p:nvSpPr>
          <p:cNvPr id="24" name="scheda Presenti su più livelli"/>
          <p:cNvSpPr/>
          <p:nvPr/>
        </p:nvSpPr>
        <p:spPr>
          <a:xfrm>
            <a:off x="5852160" y="1097280"/>
            <a:ext cx="2834640" cy="1600200"/>
          </a:xfrm>
          <a:prstGeom prst="roundRect">
            <a:avLst>
              <a:gd name="adj" fmla="val 4571"/>
            </a:avLst>
          </a:prstGeom>
          <a:solidFill>
            <a:schemeClr val="bg2"/>
          </a:solidFill>
          <a:ln/>
        </p:spPr>
      </p:sp>
      <p:sp>
        <p:nvSpPr>
          <p:cNvPr id="25" name="Text 18"/>
          <p:cNvSpPr txBox="1"/>
          <p:nvPr/>
        </p:nvSpPr>
        <p:spPr>
          <a:xfrm>
            <a:off x="6035040" y="1280160"/>
            <a:ext cx="2468880" cy="347472"/>
          </a:xfrm>
          <a:prstGeom prst="rect">
            <a:avLst/>
          </a:prstGeom>
          <a:noFill/>
          <a:ln/>
        </p:spPr>
        <p:txBody>
          <a:bodyPr wrap="square" lIns="0" tIns="0" rIns="0" bIns="0" rtlCol="0" anchor="t"/>
          <a:lstStyle/>
          <a:p>
            <a:pPr indent="0" marL="0">
              <a:buNone/>
            </a:pPr>
            <a:r>
              <a:rPr lang="en-US" sz="1400" b="1" dirty="0">
                <a:solidFill>
                  <a:schemeClr val="tx1"/>
                </a:solidFill>
              </a:rPr>
              <a:t>Presenti su più livelli</a:t>
            </a:r>
            <a:endParaRPr lang="en-US" sz="1400" dirty="0"/>
          </a:p>
        </p:txBody>
      </p:sp>
      <p:sp>
        <p:nvSpPr>
          <p:cNvPr id="26" name="Text 19"/>
          <p:cNvSpPr txBox="1"/>
          <p:nvPr/>
        </p:nvSpPr>
        <p:spPr>
          <a:xfrm>
            <a:off x="6035040" y="1664208"/>
            <a:ext cx="2468880" cy="923544"/>
          </a:xfrm>
          <a:prstGeom prst="rect">
            <a:avLst/>
          </a:prstGeom>
          <a:noFill/>
          <a:ln/>
        </p:spPr>
        <p:txBody>
          <a:bodyPr wrap="square" lIns="0" tIns="0" rIns="0" bIns="0" rtlCol="0" anchor="t"/>
          <a:lstStyle/>
          <a:p>
            <a:pPr indent="0" marL="0">
              <a:buNone/>
            </a:pPr>
            <a:r>
              <a:rPr lang="en-US" sz="1200" dirty="0">
                <a:solidFill>
                  <a:schemeClr val="tx2"/>
                </a:solidFill>
              </a:rPr>
              <a:t>Alcune grandi aziende tecnologiche coprono tutta la filiera; altre un solo livello.</a:t>
            </a:r>
            <a:endParaRPr lang="en-US" sz="1200" dirty="0"/>
          </a:p>
        </p:txBody>
      </p:sp>
      <p:sp>
        <p:nvSpPr>
          <p:cNvPr id="27" name="scheda Per l'azienda utente"/>
          <p:cNvSpPr/>
          <p:nvPr/>
        </p:nvSpPr>
        <p:spPr>
          <a:xfrm>
            <a:off x="5852160" y="2834640"/>
            <a:ext cx="2834640" cy="1691640"/>
          </a:xfrm>
          <a:prstGeom prst="roundRect">
            <a:avLst>
              <a:gd name="adj" fmla="val 4324"/>
            </a:avLst>
          </a:prstGeom>
          <a:solidFill>
            <a:schemeClr val="accent6"/>
          </a:solidFill>
          <a:ln/>
        </p:spPr>
      </p:sp>
      <p:sp>
        <p:nvSpPr>
          <p:cNvPr id="28" name="Text 21"/>
          <p:cNvSpPr txBox="1"/>
          <p:nvPr/>
        </p:nvSpPr>
        <p:spPr>
          <a:xfrm>
            <a:off x="6035040" y="3017520"/>
            <a:ext cx="2468880" cy="347472"/>
          </a:xfrm>
          <a:prstGeom prst="rect">
            <a:avLst/>
          </a:prstGeom>
          <a:noFill/>
          <a:ln/>
        </p:spPr>
        <p:txBody>
          <a:bodyPr wrap="square" lIns="0" tIns="0" rIns="0" bIns="0" rtlCol="0" anchor="t"/>
          <a:lstStyle/>
          <a:p>
            <a:pPr indent="0" marL="0">
              <a:buNone/>
            </a:pPr>
            <a:r>
              <a:rPr lang="en-US" sz="1400" b="1" dirty="0">
                <a:solidFill>
                  <a:schemeClr val="tx1"/>
                </a:solidFill>
              </a:rPr>
              <a:t>Per l'azienda utente</a:t>
            </a:r>
            <a:endParaRPr lang="en-US" sz="1400" dirty="0"/>
          </a:p>
        </p:txBody>
      </p:sp>
      <p:sp>
        <p:nvSpPr>
          <p:cNvPr id="29" name="Text 22"/>
          <p:cNvSpPr txBox="1"/>
          <p:nvPr/>
        </p:nvSpPr>
        <p:spPr>
          <a:xfrm>
            <a:off x="6035040" y="3401568"/>
            <a:ext cx="2468880" cy="1014984"/>
          </a:xfrm>
          <a:prstGeom prst="rect">
            <a:avLst/>
          </a:prstGeom>
          <a:noFill/>
          <a:ln/>
        </p:spPr>
        <p:txBody>
          <a:bodyPr wrap="square" lIns="0" tIns="0" rIns="0" bIns="0" rtlCol="0" anchor="t"/>
          <a:lstStyle/>
          <a:p>
            <a:pPr indent="0" marL="0">
              <a:buNone/>
            </a:pPr>
            <a:r>
              <a:rPr lang="en-US" sz="1200" dirty="0">
                <a:solidFill>
                  <a:schemeClr val="tx2"/>
                </a:solidFill>
              </a:rPr>
              <a:t>Il fornitore dell'applicazione può essere diverso da quello del modello e dell'infrastruttura: dove passano i dati, chi risponde di cosa?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Com'è fatta un'applicazione AI</a:t>
            </a:r>
            <a:endParaRPr lang="en-US" sz="2600" dirty="0"/>
          </a:p>
        </p:txBody>
      </p:sp>
      <p:sp>
        <p:nvSpPr>
          <p:cNvPr id="4" name="interfaccia"/>
          <p:cNvSpPr/>
          <p:nvPr/>
        </p:nvSpPr>
        <p:spPr>
          <a:xfrm>
            <a:off x="457200" y="1097280"/>
            <a:ext cx="8229600" cy="548640"/>
          </a:xfrm>
          <a:prstGeom prst="roundRect">
            <a:avLst>
              <a:gd name="adj" fmla="val 13333"/>
            </a:avLst>
          </a:prstGeom>
          <a:solidFill>
            <a:schemeClr val="tx1"/>
          </a:solidFill>
          <a:ln/>
        </p:spPr>
      </p:sp>
      <p:sp>
        <p:nvSpPr>
          <p:cNvPr id="5" name="Text 2"/>
          <p:cNvSpPr txBox="1"/>
          <p:nvPr/>
        </p:nvSpPr>
        <p:spPr>
          <a:xfrm>
            <a:off x="640080" y="1097280"/>
            <a:ext cx="7863840" cy="548640"/>
          </a:xfrm>
          <a:prstGeom prst="rect">
            <a:avLst/>
          </a:prstGeom>
          <a:noFill/>
          <a:ln/>
        </p:spPr>
        <p:txBody>
          <a:bodyPr wrap="square" lIns="0" tIns="0" rIns="0" bIns="0" rtlCol="0" anchor="ctr"/>
          <a:lstStyle/>
          <a:p>
            <a:pPr algn="ctr" indent="0" marL="0">
              <a:buNone/>
            </a:pPr>
            <a:r>
              <a:rPr lang="en-US" sz="1400" b="1" dirty="0">
                <a:solidFill>
                  <a:schemeClr val="bg1"/>
                </a:solidFill>
              </a:rPr>
              <a:t>Interfaccia: chat, pulsante in un software, app</a:t>
            </a:r>
            <a:endParaRPr lang="en-US" sz="1400" dirty="0"/>
          </a:p>
        </p:txBody>
      </p:sp>
      <p:sp>
        <p:nvSpPr>
          <p:cNvPr id="6" name="logica"/>
          <p:cNvSpPr/>
          <p:nvPr/>
        </p:nvSpPr>
        <p:spPr>
          <a:xfrm>
            <a:off x="457200" y="1783080"/>
            <a:ext cx="8229600" cy="548640"/>
          </a:xfrm>
          <a:prstGeom prst="roundRect">
            <a:avLst>
              <a:gd name="adj" fmla="val 13333"/>
            </a:avLst>
          </a:prstGeom>
          <a:solidFill>
            <a:schemeClr val="bg2"/>
          </a:solidFill>
          <a:ln/>
        </p:spPr>
      </p:sp>
      <p:sp>
        <p:nvSpPr>
          <p:cNvPr id="7" name="Text 4"/>
          <p:cNvSpPr txBox="1"/>
          <p:nvPr/>
        </p:nvSpPr>
        <p:spPr>
          <a:xfrm>
            <a:off x="640080" y="1783080"/>
            <a:ext cx="7863840" cy="548640"/>
          </a:xfrm>
          <a:prstGeom prst="rect">
            <a:avLst/>
          </a:prstGeom>
          <a:noFill/>
          <a:ln/>
        </p:spPr>
        <p:txBody>
          <a:bodyPr wrap="square" lIns="0" tIns="0" rIns="0" bIns="0" rtlCol="0" anchor="ctr"/>
          <a:lstStyle/>
          <a:p>
            <a:pPr algn="ctr" indent="0" marL="0">
              <a:buNone/>
            </a:pPr>
            <a:r>
              <a:rPr lang="en-US" sz="1400" b="1" dirty="0">
                <a:solidFill>
                  <a:schemeClr val="tx1"/>
                </a:solidFill>
              </a:rPr>
              <a:t>Logica dell'applicazione: istruzioni, scelta dei dati e del modello</a:t>
            </a:r>
            <a:endParaRPr lang="en-US" sz="1400" dirty="0"/>
          </a:p>
        </p:txBody>
      </p:sp>
      <p:sp>
        <p:nvSpPr>
          <p:cNvPr id="8" name="Modello principale"/>
          <p:cNvSpPr/>
          <p:nvPr/>
        </p:nvSpPr>
        <p:spPr>
          <a:xfrm>
            <a:off x="457200" y="2468880"/>
            <a:ext cx="1965960" cy="1051560"/>
          </a:xfrm>
          <a:prstGeom prst="roundRect">
            <a:avLst>
              <a:gd name="adj" fmla="val 6957"/>
            </a:avLst>
          </a:prstGeom>
          <a:solidFill>
            <a:schemeClr val="accent1"/>
          </a:solidFill>
          <a:ln/>
        </p:spPr>
      </p:sp>
      <p:sp>
        <p:nvSpPr>
          <p:cNvPr id="9" name="cerchio FiCpu"/>
          <p:cNvSpPr/>
          <p:nvPr/>
        </p:nvSpPr>
        <p:spPr>
          <a:xfrm>
            <a:off x="594360" y="2651760"/>
            <a:ext cx="438912" cy="438912"/>
          </a:xfrm>
          <a:prstGeom prst="ellipse">
            <a:avLst/>
          </a:prstGeom>
          <a:solidFill>
            <a:schemeClr val="bg1"/>
          </a:solidFill>
          <a:ln/>
        </p:spPr>
      </p:sp>
      <p:pic>
        <p:nvPicPr>
          <p:cNvPr id="10" name="Image 0" descr="FiCpu">    </p:cNvPr>
          <p:cNvPicPr>
            <a:picLocks noChangeAspect="1"/>
          </p:cNvPicPr>
          <p:nvPr/>
        </p:nvPicPr>
        <p:blipFill>
          <a:blip r:embed="rId1"/>
          <a:stretch>
            <a:fillRect/>
          </a:stretch>
        </p:blipFill>
        <p:spPr>
          <a:xfrm>
            <a:off x="704088" y="2761488"/>
            <a:ext cx="219456" cy="219456"/>
          </a:xfrm>
          <a:prstGeom prst="rect">
            <a:avLst/>
          </a:prstGeom>
        </p:spPr>
      </p:pic>
      <p:sp>
        <p:nvSpPr>
          <p:cNvPr id="11" name="Text 7"/>
          <p:cNvSpPr txBox="1"/>
          <p:nvPr/>
        </p:nvSpPr>
        <p:spPr>
          <a:xfrm>
            <a:off x="1115568" y="2468880"/>
            <a:ext cx="1261872" cy="1051560"/>
          </a:xfrm>
          <a:prstGeom prst="rect">
            <a:avLst/>
          </a:prstGeom>
          <a:noFill/>
          <a:ln/>
        </p:spPr>
        <p:txBody>
          <a:bodyPr wrap="square" lIns="0" tIns="0" rIns="0" bIns="0" rtlCol="0" anchor="ctr"/>
          <a:lstStyle/>
          <a:p>
            <a:pPr indent="0" marL="0">
              <a:buNone/>
            </a:pPr>
            <a:r>
              <a:rPr lang="en-US" sz="1200" b="1" dirty="0">
                <a:solidFill>
                  <a:schemeClr val="bg1"/>
                </a:solidFill>
              </a:rPr>
              <a:t>Modello principale</a:t>
            </a:r>
            <a:endParaRPr lang="en-US" sz="1200" dirty="0"/>
          </a:p>
        </p:txBody>
      </p:sp>
      <p:sp>
        <p:nvSpPr>
          <p:cNvPr id="12" name="Modello piccolo per compiti semplici"/>
          <p:cNvSpPr/>
          <p:nvPr/>
        </p:nvSpPr>
        <p:spPr>
          <a:xfrm>
            <a:off x="2560320" y="2468880"/>
            <a:ext cx="1965960" cy="1051560"/>
          </a:xfrm>
          <a:prstGeom prst="roundRect">
            <a:avLst>
              <a:gd name="adj" fmla="val 6957"/>
            </a:avLst>
          </a:prstGeom>
          <a:solidFill>
            <a:schemeClr val="accent6"/>
          </a:solidFill>
          <a:ln/>
        </p:spPr>
      </p:sp>
      <p:sp>
        <p:nvSpPr>
          <p:cNvPr id="13" name="cerchio FiZap"/>
          <p:cNvSpPr/>
          <p:nvPr/>
        </p:nvSpPr>
        <p:spPr>
          <a:xfrm>
            <a:off x="2697480" y="2651760"/>
            <a:ext cx="438912" cy="438912"/>
          </a:xfrm>
          <a:prstGeom prst="ellipse">
            <a:avLst/>
          </a:prstGeom>
          <a:solidFill>
            <a:schemeClr val="accent1"/>
          </a:solidFill>
          <a:ln/>
        </p:spPr>
      </p:sp>
      <p:pic>
        <p:nvPicPr>
          <p:cNvPr id="14" name="Image 1" descr="FiZap">    </p:cNvPr>
          <p:cNvPicPr>
            <a:picLocks noChangeAspect="1"/>
          </p:cNvPicPr>
          <p:nvPr/>
        </p:nvPicPr>
        <p:blipFill>
          <a:blip r:embed="rId2"/>
          <a:stretch>
            <a:fillRect/>
          </a:stretch>
        </p:blipFill>
        <p:spPr>
          <a:xfrm>
            <a:off x="2807208" y="2761488"/>
            <a:ext cx="219456" cy="219456"/>
          </a:xfrm>
          <a:prstGeom prst="rect">
            <a:avLst/>
          </a:prstGeom>
        </p:spPr>
      </p:pic>
      <p:sp>
        <p:nvSpPr>
          <p:cNvPr id="15" name="Text 10"/>
          <p:cNvSpPr txBox="1"/>
          <p:nvPr/>
        </p:nvSpPr>
        <p:spPr>
          <a:xfrm>
            <a:off x="3218688" y="2468880"/>
            <a:ext cx="1261872" cy="1051560"/>
          </a:xfrm>
          <a:prstGeom prst="rect">
            <a:avLst/>
          </a:prstGeom>
          <a:noFill/>
          <a:ln/>
        </p:spPr>
        <p:txBody>
          <a:bodyPr wrap="square" lIns="0" tIns="0" rIns="0" bIns="0" rtlCol="0" anchor="ctr"/>
          <a:lstStyle/>
          <a:p>
            <a:pPr indent="0" marL="0">
              <a:buNone/>
            </a:pPr>
            <a:r>
              <a:rPr lang="en-US" sz="1200" b="1" dirty="0">
                <a:solidFill>
                  <a:schemeClr val="tx1"/>
                </a:solidFill>
              </a:rPr>
              <a:t>Modello piccolo per compiti semplici</a:t>
            </a:r>
            <a:endParaRPr lang="en-US" sz="1200" dirty="0"/>
          </a:p>
        </p:txBody>
      </p:sp>
      <p:sp>
        <p:nvSpPr>
          <p:cNvPr id="16" name="Modello specializzato"/>
          <p:cNvSpPr/>
          <p:nvPr/>
        </p:nvSpPr>
        <p:spPr>
          <a:xfrm>
            <a:off x="4663440" y="2468880"/>
            <a:ext cx="1965960" cy="1051560"/>
          </a:xfrm>
          <a:prstGeom prst="roundRect">
            <a:avLst>
              <a:gd name="adj" fmla="val 6957"/>
            </a:avLst>
          </a:prstGeom>
          <a:solidFill>
            <a:schemeClr val="accent6"/>
          </a:solidFill>
          <a:ln/>
        </p:spPr>
      </p:sp>
      <p:sp>
        <p:nvSpPr>
          <p:cNvPr id="17" name="cerchio FiMic"/>
          <p:cNvSpPr/>
          <p:nvPr/>
        </p:nvSpPr>
        <p:spPr>
          <a:xfrm>
            <a:off x="4800600" y="2651760"/>
            <a:ext cx="438912" cy="438912"/>
          </a:xfrm>
          <a:prstGeom prst="ellipse">
            <a:avLst/>
          </a:prstGeom>
          <a:solidFill>
            <a:schemeClr val="accent1"/>
          </a:solidFill>
          <a:ln/>
        </p:spPr>
      </p:sp>
      <p:pic>
        <p:nvPicPr>
          <p:cNvPr id="18" name="Image 2" descr="FiMic">    </p:cNvPr>
          <p:cNvPicPr>
            <a:picLocks noChangeAspect="1"/>
          </p:cNvPicPr>
          <p:nvPr/>
        </p:nvPicPr>
        <p:blipFill>
          <a:blip r:embed="rId3"/>
          <a:stretch>
            <a:fillRect/>
          </a:stretch>
        </p:blipFill>
        <p:spPr>
          <a:xfrm>
            <a:off x="4910328" y="2761488"/>
            <a:ext cx="219456" cy="219456"/>
          </a:xfrm>
          <a:prstGeom prst="rect">
            <a:avLst/>
          </a:prstGeom>
        </p:spPr>
      </p:pic>
      <p:sp>
        <p:nvSpPr>
          <p:cNvPr id="19" name="Text 13"/>
          <p:cNvSpPr txBox="1"/>
          <p:nvPr/>
        </p:nvSpPr>
        <p:spPr>
          <a:xfrm>
            <a:off x="5321808" y="2468880"/>
            <a:ext cx="1261872" cy="1051560"/>
          </a:xfrm>
          <a:prstGeom prst="rect">
            <a:avLst/>
          </a:prstGeom>
          <a:noFill/>
          <a:ln/>
        </p:spPr>
        <p:txBody>
          <a:bodyPr wrap="square" lIns="0" tIns="0" rIns="0" bIns="0" rtlCol="0" anchor="ctr"/>
          <a:lstStyle/>
          <a:p>
            <a:pPr indent="0" marL="0">
              <a:buNone/>
            </a:pPr>
            <a:r>
              <a:rPr lang="en-US" sz="1200" b="1" dirty="0">
                <a:solidFill>
                  <a:schemeClr val="tx1"/>
                </a:solidFill>
              </a:rPr>
              <a:t>Modello specializzato</a:t>
            </a:r>
            <a:endParaRPr lang="en-US" sz="1200" dirty="0"/>
          </a:p>
        </p:txBody>
      </p:sp>
      <p:sp>
        <p:nvSpPr>
          <p:cNvPr id="20" name="Software tradizionale"/>
          <p:cNvSpPr/>
          <p:nvPr/>
        </p:nvSpPr>
        <p:spPr>
          <a:xfrm>
            <a:off x="6766560" y="2468880"/>
            <a:ext cx="1965960" cy="1051560"/>
          </a:xfrm>
          <a:prstGeom prst="roundRect">
            <a:avLst>
              <a:gd name="adj" fmla="val 6957"/>
            </a:avLst>
          </a:prstGeom>
          <a:solidFill>
            <a:schemeClr val="bg2"/>
          </a:solidFill>
          <a:ln/>
        </p:spPr>
      </p:sp>
      <p:sp>
        <p:nvSpPr>
          <p:cNvPr id="21" name="cerchio FiSettings"/>
          <p:cNvSpPr/>
          <p:nvPr/>
        </p:nvSpPr>
        <p:spPr>
          <a:xfrm>
            <a:off x="6903720" y="2651760"/>
            <a:ext cx="438912" cy="438912"/>
          </a:xfrm>
          <a:prstGeom prst="ellipse">
            <a:avLst/>
          </a:prstGeom>
          <a:solidFill>
            <a:schemeClr val="accent1"/>
          </a:solidFill>
          <a:ln/>
        </p:spPr>
      </p:sp>
      <p:pic>
        <p:nvPicPr>
          <p:cNvPr id="22" name="Image 3" descr="FiSettings">    </p:cNvPr>
          <p:cNvPicPr>
            <a:picLocks noChangeAspect="1"/>
          </p:cNvPicPr>
          <p:nvPr/>
        </p:nvPicPr>
        <p:blipFill>
          <a:blip r:embed="rId4"/>
          <a:stretch>
            <a:fillRect/>
          </a:stretch>
        </p:blipFill>
        <p:spPr>
          <a:xfrm>
            <a:off x="7013448" y="2761488"/>
            <a:ext cx="219456" cy="219456"/>
          </a:xfrm>
          <a:prstGeom prst="rect">
            <a:avLst/>
          </a:prstGeom>
        </p:spPr>
      </p:pic>
      <p:sp>
        <p:nvSpPr>
          <p:cNvPr id="23" name="Text 16"/>
          <p:cNvSpPr txBox="1"/>
          <p:nvPr/>
        </p:nvSpPr>
        <p:spPr>
          <a:xfrm>
            <a:off x="7424928" y="2468880"/>
            <a:ext cx="1261872" cy="1051560"/>
          </a:xfrm>
          <a:prstGeom prst="rect">
            <a:avLst/>
          </a:prstGeom>
          <a:noFill/>
          <a:ln/>
        </p:spPr>
        <p:txBody>
          <a:bodyPr wrap="square" lIns="0" tIns="0" rIns="0" bIns="0" rtlCol="0" anchor="ctr"/>
          <a:lstStyle/>
          <a:p>
            <a:pPr indent="0" marL="0">
              <a:buNone/>
            </a:pPr>
            <a:r>
              <a:rPr lang="en-US" sz="1200" b="1" dirty="0">
                <a:solidFill>
                  <a:schemeClr val="tx1"/>
                </a:solidFill>
              </a:rPr>
              <a:t>Software tradizionale</a:t>
            </a:r>
            <a:endParaRPr lang="en-US" sz="1200" dirty="0"/>
          </a:p>
        </p:txBody>
      </p:sp>
      <p:sp>
        <p:nvSpPr>
          <p:cNvPr id="24" name="dati"/>
          <p:cNvSpPr/>
          <p:nvPr/>
        </p:nvSpPr>
        <p:spPr>
          <a:xfrm>
            <a:off x="457200" y="3657600"/>
            <a:ext cx="8229600" cy="548640"/>
          </a:xfrm>
          <a:prstGeom prst="roundRect">
            <a:avLst>
              <a:gd name="adj" fmla="val 13333"/>
            </a:avLst>
          </a:prstGeom>
          <a:solidFill>
            <a:schemeClr val="bg2"/>
          </a:solidFill>
          <a:ln/>
        </p:spPr>
      </p:sp>
      <p:sp>
        <p:nvSpPr>
          <p:cNvPr id="25" name="Text 18"/>
          <p:cNvSpPr txBox="1"/>
          <p:nvPr/>
        </p:nvSpPr>
        <p:spPr>
          <a:xfrm>
            <a:off x="640080" y="3657600"/>
            <a:ext cx="7863840" cy="548640"/>
          </a:xfrm>
          <a:prstGeom prst="rect">
            <a:avLst/>
          </a:prstGeom>
          <a:noFill/>
          <a:ln/>
        </p:spPr>
        <p:txBody>
          <a:bodyPr wrap="square" lIns="0" tIns="0" rIns="0" bIns="0" rtlCol="0" anchor="ctr"/>
          <a:lstStyle/>
          <a:p>
            <a:pPr algn="ctr" indent="0" marL="0">
              <a:buNone/>
            </a:pPr>
            <a:r>
              <a:rPr lang="en-US" sz="1400" b="1" dirty="0">
                <a:solidFill>
                  <a:schemeClr val="tx1"/>
                </a:solidFill>
              </a:rPr>
              <a:t>Connessioni a dati e sistemi: documenti, database, CRM, posta</a:t>
            </a:r>
            <a:endParaRPr lang="en-US" sz="1400" dirty="0"/>
          </a:p>
        </p:txBody>
      </p:sp>
      <p:sp>
        <p:nvSpPr>
          <p:cNvPr id="26" name="Text 19"/>
          <p:cNvSpPr txBox="1"/>
          <p:nvPr/>
        </p:nvSpPr>
        <p:spPr>
          <a:xfrm>
            <a:off x="457200" y="4297680"/>
            <a:ext cx="8229600" cy="274320"/>
          </a:xfrm>
          <a:prstGeom prst="rect">
            <a:avLst/>
          </a:prstGeom>
          <a:noFill/>
          <a:ln/>
        </p:spPr>
        <p:txBody>
          <a:bodyPr wrap="square" lIns="0" tIns="0" rIns="0" bIns="0" rtlCol="0" anchor="t"/>
          <a:lstStyle/>
          <a:p>
            <a:pPr indent="0" marL="0">
              <a:buNone/>
            </a:pPr>
            <a:r>
              <a:rPr lang="en-US" sz="1100" i="1" dirty="0">
                <a:solidFill>
                  <a:schemeClr val="accent2"/>
                </a:solidFill>
              </a:rPr>
              <a:t>Schema semplificato. Il modello è solo uno dei componenti.</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Più modelli, modelli che cambiano</a:t>
            </a:r>
            <a:endParaRPr lang="en-US" sz="2600" dirty="0"/>
          </a:p>
        </p:txBody>
      </p:sp>
      <p:sp>
        <p:nvSpPr>
          <p:cNvPr id="4" name="Più modelli insieme"/>
          <p:cNvSpPr/>
          <p:nvPr/>
        </p:nvSpPr>
        <p:spPr>
          <a:xfrm>
            <a:off x="457200" y="1097280"/>
            <a:ext cx="2621280" cy="1600200"/>
          </a:xfrm>
          <a:prstGeom prst="roundRect">
            <a:avLst>
              <a:gd name="adj" fmla="val 4571"/>
            </a:avLst>
          </a:prstGeom>
          <a:solidFill>
            <a:schemeClr val="bg2"/>
          </a:solidFill>
          <a:ln/>
        </p:spPr>
      </p:sp>
      <p:sp>
        <p:nvSpPr>
          <p:cNvPr id="5" name="cerchio FiShuffle"/>
          <p:cNvSpPr/>
          <p:nvPr/>
        </p:nvSpPr>
        <p:spPr>
          <a:xfrm>
            <a:off x="621792" y="1261872"/>
            <a:ext cx="438912" cy="438912"/>
          </a:xfrm>
          <a:prstGeom prst="ellipse">
            <a:avLst/>
          </a:prstGeom>
          <a:solidFill>
            <a:schemeClr val="accent1"/>
          </a:solidFill>
          <a:ln/>
        </p:spPr>
      </p:sp>
      <p:pic>
        <p:nvPicPr>
          <p:cNvPr id="6" name="Image 0" descr="FiShuffle">    </p:cNvPr>
          <p:cNvPicPr>
            <a:picLocks noChangeAspect="1"/>
          </p:cNvPicPr>
          <p:nvPr/>
        </p:nvPicPr>
        <p:blipFill>
          <a:blip r:embed="rId1"/>
          <a:stretch>
            <a:fillRect/>
          </a:stretch>
        </p:blipFill>
        <p:spPr>
          <a:xfrm>
            <a:off x="731520" y="1371600"/>
            <a:ext cx="219456" cy="219456"/>
          </a:xfrm>
          <a:prstGeom prst="rect">
            <a:avLst/>
          </a:prstGeom>
        </p:spPr>
      </p:pic>
      <p:sp>
        <p:nvSpPr>
          <p:cNvPr id="7" name="Text 3"/>
          <p:cNvSpPr txBox="1"/>
          <p:nvPr/>
        </p:nvSpPr>
        <p:spPr>
          <a:xfrm>
            <a:off x="1170432" y="1225296"/>
            <a:ext cx="1798320" cy="512064"/>
          </a:xfrm>
          <a:prstGeom prst="rect">
            <a:avLst/>
          </a:prstGeom>
          <a:noFill/>
          <a:ln/>
        </p:spPr>
        <p:txBody>
          <a:bodyPr wrap="square" lIns="0" tIns="0" rIns="0" bIns="0" rtlCol="0" anchor="ctr"/>
          <a:lstStyle/>
          <a:p>
            <a:pPr indent="0" marL="0">
              <a:buNone/>
            </a:pPr>
            <a:r>
              <a:rPr lang="en-US" sz="1400" b="1" dirty="0">
                <a:solidFill>
                  <a:schemeClr val="tx1"/>
                </a:solidFill>
              </a:rPr>
              <a:t>Più modelli insieme</a:t>
            </a:r>
            <a:endParaRPr lang="en-US" sz="1400" dirty="0"/>
          </a:p>
        </p:txBody>
      </p:sp>
      <p:sp>
        <p:nvSpPr>
          <p:cNvPr id="8" name="Text 4"/>
          <p:cNvSpPr txBox="1"/>
          <p:nvPr/>
        </p:nvSpPr>
        <p:spPr>
          <a:xfrm>
            <a:off x="621792" y="1810512"/>
            <a:ext cx="2292096" cy="795528"/>
          </a:xfrm>
          <a:prstGeom prst="rect">
            <a:avLst/>
          </a:prstGeom>
          <a:noFill/>
          <a:ln/>
        </p:spPr>
        <p:txBody>
          <a:bodyPr wrap="square" lIns="0" tIns="0" rIns="0" bIns="0" rtlCol="0" anchor="t"/>
          <a:lstStyle/>
          <a:p>
            <a:pPr indent="0" marL="0">
              <a:buNone/>
            </a:pPr>
            <a:r>
              <a:rPr lang="en-US" sz="1200" dirty="0">
                <a:solidFill>
                  <a:schemeClr val="tx2"/>
                </a:solidFill>
              </a:rPr>
              <a:t>Il più adatto per qualità, velocità o costo, in automatico o a scelta dell'utente</a:t>
            </a:r>
            <a:endParaRPr lang="en-US" sz="1200" dirty="0"/>
          </a:p>
        </p:txBody>
      </p:sp>
      <p:sp>
        <p:nvSpPr>
          <p:cNvPr id="9" name="Modelli che cambiano"/>
          <p:cNvSpPr/>
          <p:nvPr/>
        </p:nvSpPr>
        <p:spPr>
          <a:xfrm>
            <a:off x="3261360" y="1097280"/>
            <a:ext cx="2621280" cy="1600200"/>
          </a:xfrm>
          <a:prstGeom prst="roundRect">
            <a:avLst>
              <a:gd name="adj" fmla="val 4571"/>
            </a:avLst>
          </a:prstGeom>
          <a:solidFill>
            <a:schemeClr val="bg2"/>
          </a:solidFill>
          <a:ln/>
        </p:spPr>
      </p:sp>
      <p:sp>
        <p:nvSpPr>
          <p:cNvPr id="10" name="cerchio FiRefreshCw"/>
          <p:cNvSpPr/>
          <p:nvPr/>
        </p:nvSpPr>
        <p:spPr>
          <a:xfrm>
            <a:off x="3425952" y="1261872"/>
            <a:ext cx="438912" cy="438912"/>
          </a:xfrm>
          <a:prstGeom prst="ellipse">
            <a:avLst/>
          </a:prstGeom>
          <a:solidFill>
            <a:schemeClr val="accent1"/>
          </a:solidFill>
          <a:ln/>
        </p:spPr>
      </p:sp>
      <p:pic>
        <p:nvPicPr>
          <p:cNvPr id="11" name="Image 1" descr="FiRefreshCw">    </p:cNvPr>
          <p:cNvPicPr>
            <a:picLocks noChangeAspect="1"/>
          </p:cNvPicPr>
          <p:nvPr/>
        </p:nvPicPr>
        <p:blipFill>
          <a:blip r:embed="rId2"/>
          <a:stretch>
            <a:fillRect/>
          </a:stretch>
        </p:blipFill>
        <p:spPr>
          <a:xfrm>
            <a:off x="3535680" y="1371600"/>
            <a:ext cx="219456" cy="219456"/>
          </a:xfrm>
          <a:prstGeom prst="rect">
            <a:avLst/>
          </a:prstGeom>
        </p:spPr>
      </p:pic>
      <p:sp>
        <p:nvSpPr>
          <p:cNvPr id="12" name="Text 7"/>
          <p:cNvSpPr txBox="1"/>
          <p:nvPr/>
        </p:nvSpPr>
        <p:spPr>
          <a:xfrm>
            <a:off x="3974592" y="1225296"/>
            <a:ext cx="1798320" cy="512064"/>
          </a:xfrm>
          <a:prstGeom prst="rect">
            <a:avLst/>
          </a:prstGeom>
          <a:noFill/>
          <a:ln/>
        </p:spPr>
        <p:txBody>
          <a:bodyPr wrap="square" lIns="0" tIns="0" rIns="0" bIns="0" rtlCol="0" anchor="ctr"/>
          <a:lstStyle/>
          <a:p>
            <a:pPr indent="0" marL="0">
              <a:buNone/>
            </a:pPr>
            <a:r>
              <a:rPr lang="en-US" sz="1400" b="1" dirty="0">
                <a:solidFill>
                  <a:schemeClr val="tx1"/>
                </a:solidFill>
              </a:rPr>
              <a:t>Modelli che cambiano</a:t>
            </a:r>
            <a:endParaRPr lang="en-US" sz="1400" dirty="0"/>
          </a:p>
        </p:txBody>
      </p:sp>
      <p:sp>
        <p:nvSpPr>
          <p:cNvPr id="13" name="Text 8"/>
          <p:cNvSpPr txBox="1"/>
          <p:nvPr/>
        </p:nvSpPr>
        <p:spPr>
          <a:xfrm>
            <a:off x="3425952" y="1810512"/>
            <a:ext cx="2292096" cy="795528"/>
          </a:xfrm>
          <a:prstGeom prst="rect">
            <a:avLst/>
          </a:prstGeom>
          <a:noFill/>
          <a:ln/>
        </p:spPr>
        <p:txBody>
          <a:bodyPr wrap="square" lIns="0" tIns="0" rIns="0" bIns="0" rtlCol="0" anchor="t"/>
          <a:lstStyle/>
          <a:p>
            <a:pPr indent="0" marL="0">
              <a:buNone/>
            </a:pPr>
            <a:r>
              <a:rPr lang="en-US" sz="1200" dirty="0">
                <a:solidFill>
                  <a:schemeClr val="tx2"/>
                </a:solidFill>
              </a:rPr>
              <a:t>Nuove versioni o passaggio a un altro fornitore</a:t>
            </a:r>
            <a:endParaRPr lang="en-US" sz="1200" dirty="0"/>
          </a:p>
        </p:txBody>
      </p:sp>
      <p:sp>
        <p:nvSpPr>
          <p:cNvPr id="14" name="Modelli + software tradizionale"/>
          <p:cNvSpPr/>
          <p:nvPr/>
        </p:nvSpPr>
        <p:spPr>
          <a:xfrm>
            <a:off x="6065520" y="1097280"/>
            <a:ext cx="2621280" cy="1600200"/>
          </a:xfrm>
          <a:prstGeom prst="roundRect">
            <a:avLst>
              <a:gd name="adj" fmla="val 4571"/>
            </a:avLst>
          </a:prstGeom>
          <a:solidFill>
            <a:schemeClr val="bg2"/>
          </a:solidFill>
          <a:ln/>
        </p:spPr>
      </p:sp>
      <p:sp>
        <p:nvSpPr>
          <p:cNvPr id="15" name="cerchio FiSettings"/>
          <p:cNvSpPr/>
          <p:nvPr/>
        </p:nvSpPr>
        <p:spPr>
          <a:xfrm>
            <a:off x="6230112" y="1261872"/>
            <a:ext cx="438912" cy="438912"/>
          </a:xfrm>
          <a:prstGeom prst="ellipse">
            <a:avLst/>
          </a:prstGeom>
          <a:solidFill>
            <a:schemeClr val="accent1"/>
          </a:solidFill>
          <a:ln/>
        </p:spPr>
      </p:sp>
      <p:pic>
        <p:nvPicPr>
          <p:cNvPr id="16" name="Image 2" descr="FiSettings">    </p:cNvPr>
          <p:cNvPicPr>
            <a:picLocks noChangeAspect="1"/>
          </p:cNvPicPr>
          <p:nvPr/>
        </p:nvPicPr>
        <p:blipFill>
          <a:blip r:embed="rId3"/>
          <a:stretch>
            <a:fillRect/>
          </a:stretch>
        </p:blipFill>
        <p:spPr>
          <a:xfrm>
            <a:off x="6339840" y="1371600"/>
            <a:ext cx="219456" cy="219456"/>
          </a:xfrm>
          <a:prstGeom prst="rect">
            <a:avLst/>
          </a:prstGeom>
        </p:spPr>
      </p:pic>
      <p:sp>
        <p:nvSpPr>
          <p:cNvPr id="17" name="Text 11"/>
          <p:cNvSpPr txBox="1"/>
          <p:nvPr/>
        </p:nvSpPr>
        <p:spPr>
          <a:xfrm>
            <a:off x="6778752" y="1225296"/>
            <a:ext cx="1798320" cy="512064"/>
          </a:xfrm>
          <a:prstGeom prst="rect">
            <a:avLst/>
          </a:prstGeom>
          <a:noFill/>
          <a:ln/>
        </p:spPr>
        <p:txBody>
          <a:bodyPr wrap="square" lIns="0" tIns="0" rIns="0" bIns="0" rtlCol="0" anchor="ctr"/>
          <a:lstStyle/>
          <a:p>
            <a:pPr indent="0" marL="0">
              <a:buNone/>
            </a:pPr>
            <a:r>
              <a:rPr lang="en-US" sz="1400" b="1" dirty="0">
                <a:solidFill>
                  <a:schemeClr val="tx1"/>
                </a:solidFill>
              </a:rPr>
              <a:t>Modelli + software tradizionale</a:t>
            </a:r>
            <a:endParaRPr lang="en-US" sz="1400" dirty="0"/>
          </a:p>
        </p:txBody>
      </p:sp>
      <p:sp>
        <p:nvSpPr>
          <p:cNvPr id="18" name="Text 12"/>
          <p:cNvSpPr txBox="1"/>
          <p:nvPr/>
        </p:nvSpPr>
        <p:spPr>
          <a:xfrm>
            <a:off x="6230112" y="1810512"/>
            <a:ext cx="2292096" cy="795528"/>
          </a:xfrm>
          <a:prstGeom prst="rect">
            <a:avLst/>
          </a:prstGeom>
          <a:noFill/>
          <a:ln/>
        </p:spPr>
        <p:txBody>
          <a:bodyPr wrap="square" lIns="0" tIns="0" rIns="0" bIns="0" rtlCol="0" anchor="t"/>
          <a:lstStyle/>
          <a:p>
            <a:pPr indent="0" marL="0">
              <a:buNone/>
            </a:pPr>
            <a:r>
              <a:rPr lang="en-US" sz="1200" dirty="0">
                <a:solidFill>
                  <a:schemeClr val="tx2"/>
                </a:solidFill>
              </a:rPr>
              <a:t>L'AI solo dove serve</a:t>
            </a:r>
            <a:endParaRPr lang="en-US" sz="1200" dirty="0"/>
          </a:p>
        </p:txBody>
      </p:sp>
      <p:sp>
        <p:nvSpPr>
          <p:cNvPr id="19" name="Text 13"/>
          <p:cNvSpPr txBox="1"/>
          <p:nvPr/>
        </p:nvSpPr>
        <p:spPr>
          <a:xfrm>
            <a:off x="457200" y="2880360"/>
            <a:ext cx="8229600" cy="274320"/>
          </a:xfrm>
          <a:prstGeom prst="rect">
            <a:avLst/>
          </a:prstGeom>
          <a:noFill/>
          <a:ln/>
        </p:spPr>
        <p:txBody>
          <a:bodyPr wrap="square" lIns="0" tIns="0" rIns="0" bIns="0" rtlCol="0" anchor="t"/>
          <a:lstStyle/>
          <a:p>
            <a:pPr indent="0" marL="0">
              <a:buNone/>
            </a:pPr>
            <a:r>
              <a:rPr lang="en-US" sz="1400" b="1" dirty="0">
                <a:solidFill>
                  <a:schemeClr val="tx1"/>
                </a:solidFill>
              </a:rPr>
              <a:t>Che cosa significa per chi li usa</a:t>
            </a:r>
            <a:endParaRPr lang="en-US" sz="1400" dirty="0"/>
          </a:p>
        </p:txBody>
      </p:sp>
      <p:sp>
        <p:nvSpPr>
          <p:cNvPr id="20" name="Il comportamento può cambiare senza che cambi l'interfaccia"/>
          <p:cNvSpPr/>
          <p:nvPr/>
        </p:nvSpPr>
        <p:spPr>
          <a:xfrm>
            <a:off x="457200" y="3246120"/>
            <a:ext cx="2615184" cy="1280160"/>
          </a:xfrm>
          <a:prstGeom prst="roundRect">
            <a:avLst>
              <a:gd name="adj" fmla="val 5714"/>
            </a:avLst>
          </a:prstGeom>
          <a:solidFill>
            <a:schemeClr val="accent6"/>
          </a:solidFill>
          <a:ln/>
        </p:spPr>
      </p:sp>
      <p:sp>
        <p:nvSpPr>
          <p:cNvPr id="21" name="Text 15"/>
          <p:cNvSpPr txBox="1"/>
          <p:nvPr/>
        </p:nvSpPr>
        <p:spPr>
          <a:xfrm>
            <a:off x="594360" y="3246120"/>
            <a:ext cx="2340864" cy="1280160"/>
          </a:xfrm>
          <a:prstGeom prst="rect">
            <a:avLst/>
          </a:prstGeom>
          <a:noFill/>
          <a:ln/>
        </p:spPr>
        <p:txBody>
          <a:bodyPr wrap="square" lIns="0" tIns="0" rIns="0" bIns="0" rtlCol="0" anchor="ctr"/>
          <a:lstStyle/>
          <a:p>
            <a:pPr indent="0" marL="0">
              <a:buNone/>
            </a:pPr>
            <a:r>
              <a:rPr lang="en-US" sz="1300" dirty="0">
                <a:solidFill>
                  <a:schemeClr val="tx1"/>
                </a:solidFill>
              </a:rPr>
              <a:t>Il comportamento può cambiare senza che cambi l'interfaccia</a:t>
            </a:r>
            <a:endParaRPr lang="en-US" sz="1300" dirty="0"/>
          </a:p>
        </p:txBody>
      </p:sp>
      <p:sp>
        <p:nvSpPr>
          <p:cNvPr id="22" name="Sapere quale modello usa un'app è utile, ma non basta"/>
          <p:cNvSpPr/>
          <p:nvPr/>
        </p:nvSpPr>
        <p:spPr>
          <a:xfrm>
            <a:off x="3264408" y="3246120"/>
            <a:ext cx="2615184" cy="1280160"/>
          </a:xfrm>
          <a:prstGeom prst="roundRect">
            <a:avLst>
              <a:gd name="adj" fmla="val 5714"/>
            </a:avLst>
          </a:prstGeom>
          <a:solidFill>
            <a:schemeClr val="accent6"/>
          </a:solidFill>
          <a:ln/>
        </p:spPr>
      </p:sp>
      <p:sp>
        <p:nvSpPr>
          <p:cNvPr id="23" name="Text 17"/>
          <p:cNvSpPr txBox="1"/>
          <p:nvPr/>
        </p:nvSpPr>
        <p:spPr>
          <a:xfrm>
            <a:off x="3401568" y="3246120"/>
            <a:ext cx="2340864" cy="1280160"/>
          </a:xfrm>
          <a:prstGeom prst="rect">
            <a:avLst/>
          </a:prstGeom>
          <a:noFill/>
          <a:ln/>
        </p:spPr>
        <p:txBody>
          <a:bodyPr wrap="square" lIns="0" tIns="0" rIns="0" bIns="0" rtlCol="0" anchor="ctr"/>
          <a:lstStyle/>
          <a:p>
            <a:pPr indent="0" marL="0">
              <a:buNone/>
            </a:pPr>
            <a:r>
              <a:rPr lang="en-US" sz="1300" dirty="0">
                <a:solidFill>
                  <a:schemeClr val="tx1"/>
                </a:solidFill>
              </a:rPr>
              <a:t>Sapere quale modello usa un'app è utile, ma non basta</a:t>
            </a:r>
            <a:endParaRPr lang="en-US" sz="1300" dirty="0"/>
          </a:p>
        </p:txBody>
      </p:sp>
      <p:sp>
        <p:nvSpPr>
          <p:cNvPr id="24" name="Il fornitore comunica i cambi di modello? Possiamo influire?"/>
          <p:cNvSpPr/>
          <p:nvPr/>
        </p:nvSpPr>
        <p:spPr>
          <a:xfrm>
            <a:off x="6071616" y="3246120"/>
            <a:ext cx="2615184" cy="1280160"/>
          </a:xfrm>
          <a:prstGeom prst="roundRect">
            <a:avLst>
              <a:gd name="adj" fmla="val 5714"/>
            </a:avLst>
          </a:prstGeom>
          <a:solidFill>
            <a:schemeClr val="accent6"/>
          </a:solidFill>
          <a:ln/>
        </p:spPr>
      </p:sp>
      <p:sp>
        <p:nvSpPr>
          <p:cNvPr id="25" name="Text 19"/>
          <p:cNvSpPr txBox="1"/>
          <p:nvPr/>
        </p:nvSpPr>
        <p:spPr>
          <a:xfrm>
            <a:off x="6208776" y="3246120"/>
            <a:ext cx="2340864" cy="1280160"/>
          </a:xfrm>
          <a:prstGeom prst="rect">
            <a:avLst/>
          </a:prstGeom>
          <a:noFill/>
          <a:ln/>
        </p:spPr>
        <p:txBody>
          <a:bodyPr wrap="square" lIns="0" tIns="0" rIns="0" bIns="0" rtlCol="0" anchor="ctr"/>
          <a:lstStyle/>
          <a:p>
            <a:pPr indent="0" marL="0">
              <a:buNone/>
            </a:pPr>
            <a:r>
              <a:rPr lang="en-US" sz="1300" dirty="0">
                <a:solidFill>
                  <a:schemeClr val="tx1"/>
                </a:solidFill>
              </a:rPr>
              <a:t>Il fornitore comunica i cambi di modello? Possiamo influire?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Ecosistemi integrati e soluzioni composte</a:t>
            </a:r>
            <a:endParaRPr lang="en-US" sz="2600" dirty="0"/>
          </a:p>
        </p:txBody>
      </p:sp>
      <p:sp>
        <p:nvSpPr>
          <p:cNvPr id="4" name="scheda Ecosistema integrato"/>
          <p:cNvSpPr/>
          <p:nvPr/>
        </p:nvSpPr>
        <p:spPr>
          <a:xfrm>
            <a:off x="457200" y="1097280"/>
            <a:ext cx="3977640" cy="3429000"/>
          </a:xfrm>
          <a:prstGeom prst="roundRect">
            <a:avLst>
              <a:gd name="adj" fmla="val 2133"/>
            </a:avLst>
          </a:prstGeom>
          <a:solidFill>
            <a:schemeClr val="bg2"/>
          </a:solidFill>
          <a:ln/>
        </p:spPr>
      </p:sp>
      <p:sp>
        <p:nvSpPr>
          <p:cNvPr id="5" name="cerchio FiBox"/>
          <p:cNvSpPr/>
          <p:nvPr/>
        </p:nvSpPr>
        <p:spPr>
          <a:xfrm>
            <a:off x="640080" y="1280160"/>
            <a:ext cx="457200" cy="457200"/>
          </a:xfrm>
          <a:prstGeom prst="ellipse">
            <a:avLst/>
          </a:prstGeom>
          <a:solidFill>
            <a:schemeClr val="accent1"/>
          </a:solidFill>
          <a:ln/>
        </p:spPr>
      </p:sp>
      <p:pic>
        <p:nvPicPr>
          <p:cNvPr id="6" name="Image 0" descr="FiBox">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Ecosistema integrato</a:t>
            </a:r>
            <a:endParaRPr lang="en-US" sz="1600" dirty="0"/>
          </a:p>
        </p:txBody>
      </p:sp>
      <p:sp>
        <p:nvSpPr>
          <p:cNvPr id="8" name="Text 4"/>
          <p:cNvSpPr txBox="1"/>
          <p:nvPr/>
        </p:nvSpPr>
        <p:spPr>
          <a:xfrm>
            <a:off x="640080" y="2231136"/>
            <a:ext cx="3611880" cy="2185416"/>
          </a:xfrm>
          <a:prstGeom prst="rect">
            <a:avLst/>
          </a:prstGeom>
          <a:noFill/>
          <a:ln/>
        </p:spPr>
        <p:txBody>
          <a:bodyPr wrap="square" lIns="0" tIns="0" rIns="0" bIns="0" rtlCol="0" anchor="t"/>
          <a:lstStyle/>
          <a:p>
            <a:pPr indent="0" marL="0">
              <a:spcAft>
                <a:spcPts val="800"/>
              </a:spcAft>
              <a:buNone/>
            </a:pPr>
            <a:r>
              <a:rPr lang="en-US" sz="1300" b="1" dirty="0">
                <a:solidFill>
                  <a:schemeClr val="tx1"/>
                </a:solidFill>
              </a:rPr>
              <a:t>Un unico fornitore per modello, applicazioni, piattaforma e infrastruttura</a:t>
            </a:r>
            <a:endParaRPr lang="en-US" sz="1300" dirty="0"/>
          </a:p>
          <a:p>
            <a:pPr indent="0" marL="0">
              <a:buNone/>
            </a:pPr>
            <a:r>
              <a:rPr lang="en-US" sz="1300" b="1" dirty="0">
                <a:solidFill>
                  <a:schemeClr val="accent1"/>
                </a:solidFill>
              </a:rPr>
              <a:t>Vantaggi: </a:t>
            </a:r>
            <a:pPr indent="0" marL="0">
              <a:spcAft>
                <a:spcPts val="600"/>
              </a:spcAft>
              <a:buNone/>
            </a:pPr>
            <a:r>
              <a:rPr lang="en-US" sz="1300" dirty="0">
                <a:solidFill>
                  <a:schemeClr val="tx2"/>
                </a:solidFill>
              </a:rPr>
              <a:t>semplicità, coerenza, un interlocutore, integrazione con i prodotti già in uso</a:t>
            </a:r>
            <a:endParaRPr lang="en-US" sz="1300" dirty="0"/>
          </a:p>
          <a:p>
            <a:pPr indent="0" marL="0">
              <a:buNone/>
            </a:pPr>
            <a:r>
              <a:rPr lang="en-US" sz="1300" b="1" dirty="0">
                <a:solidFill>
                  <a:schemeClr val="accent5"/>
                </a:solidFill>
              </a:rPr>
              <a:t>Limiti: </a:t>
            </a:r>
            <a:pPr indent="0" marL="0">
              <a:buNone/>
            </a:pPr>
            <a:r>
              <a:rPr lang="en-US" sz="1300" dirty="0">
                <a:solidFill>
                  <a:schemeClr val="tx2"/>
                </a:solidFill>
              </a:rPr>
              <a:t>più dipendenza, meno libertà di scelta</a:t>
            </a:r>
            <a:endParaRPr lang="en-US" sz="1300" dirty="0"/>
          </a:p>
        </p:txBody>
      </p:sp>
      <p:sp>
        <p:nvSpPr>
          <p:cNvPr id="9" name="scheda Soluzione composta"/>
          <p:cNvSpPr/>
          <p:nvPr/>
        </p:nvSpPr>
        <p:spPr>
          <a:xfrm>
            <a:off x="4709160" y="1097280"/>
            <a:ext cx="3977640" cy="3429000"/>
          </a:xfrm>
          <a:prstGeom prst="roundRect">
            <a:avLst>
              <a:gd name="adj" fmla="val 2133"/>
            </a:avLst>
          </a:prstGeom>
          <a:solidFill>
            <a:schemeClr val="accent6"/>
          </a:solidFill>
          <a:ln/>
        </p:spPr>
      </p:sp>
      <p:sp>
        <p:nvSpPr>
          <p:cNvPr id="10" name="cerchio FiGrid"/>
          <p:cNvSpPr/>
          <p:nvPr/>
        </p:nvSpPr>
        <p:spPr>
          <a:xfrm>
            <a:off x="4892040" y="1280160"/>
            <a:ext cx="457200" cy="457200"/>
          </a:xfrm>
          <a:prstGeom prst="ellipse">
            <a:avLst/>
          </a:prstGeom>
          <a:solidFill>
            <a:schemeClr val="accent1"/>
          </a:solidFill>
          <a:ln/>
        </p:spPr>
      </p:sp>
      <p:pic>
        <p:nvPicPr>
          <p:cNvPr id="11" name="Image 1" descr="FiGrid">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Soluzione composta</a:t>
            </a:r>
            <a:endParaRPr lang="en-US" sz="1600" dirty="0"/>
          </a:p>
        </p:txBody>
      </p:sp>
      <p:sp>
        <p:nvSpPr>
          <p:cNvPr id="13" name="Text 8"/>
          <p:cNvSpPr txBox="1"/>
          <p:nvPr/>
        </p:nvSpPr>
        <p:spPr>
          <a:xfrm>
            <a:off x="4892040" y="2231136"/>
            <a:ext cx="3611880" cy="2185416"/>
          </a:xfrm>
          <a:prstGeom prst="rect">
            <a:avLst/>
          </a:prstGeom>
          <a:noFill/>
          <a:ln/>
        </p:spPr>
        <p:txBody>
          <a:bodyPr wrap="square" lIns="0" tIns="0" rIns="0" bIns="0" rtlCol="0" anchor="t"/>
          <a:lstStyle/>
          <a:p>
            <a:pPr indent="0" marL="0">
              <a:spcAft>
                <a:spcPts val="800"/>
              </a:spcAft>
              <a:buNone/>
            </a:pPr>
            <a:r>
              <a:rPr lang="en-US" sz="1300" b="1" dirty="0">
                <a:solidFill>
                  <a:schemeClr val="tx1"/>
                </a:solidFill>
              </a:rPr>
              <a:t>Componenti di fornitori diversi collegati tra loro</a:t>
            </a:r>
            <a:endParaRPr lang="en-US" sz="1300" dirty="0"/>
          </a:p>
          <a:p>
            <a:pPr indent="0" marL="0">
              <a:buNone/>
            </a:pPr>
            <a:r>
              <a:rPr lang="en-US" sz="1300" b="1" dirty="0">
                <a:solidFill>
                  <a:schemeClr val="accent1"/>
                </a:solidFill>
              </a:rPr>
              <a:t>Vantaggi: </a:t>
            </a:r>
            <a:pPr indent="0" marL="0">
              <a:spcAft>
                <a:spcPts val="600"/>
              </a:spcAft>
              <a:buNone/>
            </a:pPr>
            <a:r>
              <a:rPr lang="en-US" sz="1300" dirty="0">
                <a:solidFill>
                  <a:schemeClr val="tx2"/>
                </a:solidFill>
              </a:rPr>
              <a:t>flessibilità, il meglio per ogni funzione, meno dipendenza</a:t>
            </a:r>
            <a:endParaRPr lang="en-US" sz="1300" dirty="0"/>
          </a:p>
          <a:p>
            <a:pPr indent="0" marL="0">
              <a:buNone/>
            </a:pPr>
            <a:r>
              <a:rPr lang="en-US" sz="1300" b="1" dirty="0">
                <a:solidFill>
                  <a:schemeClr val="accent5"/>
                </a:solidFill>
              </a:rPr>
              <a:t>Limiti: </a:t>
            </a:r>
            <a:pPr indent="0" marL="0">
              <a:buNone/>
            </a:pPr>
            <a:r>
              <a:rPr lang="en-US" sz="1300" dirty="0">
                <a:solidFill>
                  <a:schemeClr val="tx2"/>
                </a:solidFill>
              </a:rPr>
              <a:t>più complessità di integrazione, gestione e contratti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Un'applicazione AI è spesso composta da più elementi tecnologici e non coincide necessariamente con il modello che utilizza.</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4.1  ·  La struttura dell'ecosistema AI</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4.2</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Le principali famiglie di modelli AI</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Modelli differenti rispondono a esigenze differenti: non esiste un unico modello migliore per qualunque attività</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Quattro famiglie di modelli</a:t>
            </a:r>
            <a:endParaRPr lang="en-US" sz="2600" dirty="0"/>
          </a:p>
        </p:txBody>
      </p:sp>
      <p:sp>
        <p:nvSpPr>
          <p:cNvPr id="4" name="Linguistici generalisti"/>
          <p:cNvSpPr/>
          <p:nvPr/>
        </p:nvSpPr>
        <p:spPr>
          <a:xfrm>
            <a:off x="457200" y="1097280"/>
            <a:ext cx="4023360" cy="1623060"/>
          </a:xfrm>
          <a:prstGeom prst="roundRect">
            <a:avLst>
              <a:gd name="adj" fmla="val 4507"/>
            </a:avLst>
          </a:prstGeom>
          <a:solidFill>
            <a:schemeClr val="bg2"/>
          </a:solidFill>
          <a:ln/>
        </p:spPr>
      </p:sp>
      <p:sp>
        <p:nvSpPr>
          <p:cNvPr id="5" name="cerchio FiMessageSquare"/>
          <p:cNvSpPr/>
          <p:nvPr/>
        </p:nvSpPr>
        <p:spPr>
          <a:xfrm>
            <a:off x="621792" y="1261872"/>
            <a:ext cx="438912" cy="438912"/>
          </a:xfrm>
          <a:prstGeom prst="ellipse">
            <a:avLst/>
          </a:prstGeom>
          <a:solidFill>
            <a:schemeClr val="accent1"/>
          </a:solidFill>
          <a:ln/>
        </p:spPr>
      </p:sp>
      <p:pic>
        <p:nvPicPr>
          <p:cNvPr id="6" name="Image 0" descr="FiMessageSquare">    </p:cNvPr>
          <p:cNvPicPr>
            <a:picLocks noChangeAspect="1"/>
          </p:cNvPicPr>
          <p:nvPr/>
        </p:nvPicPr>
        <p:blipFill>
          <a:blip r:embed="rId1"/>
          <a:stretch>
            <a:fillRect/>
          </a:stretch>
        </p:blipFill>
        <p:spPr>
          <a:xfrm>
            <a:off x="731520" y="1371600"/>
            <a:ext cx="219456" cy="219456"/>
          </a:xfrm>
          <a:prstGeom prst="rect">
            <a:avLst/>
          </a:prstGeom>
        </p:spPr>
      </p:pic>
      <p:sp>
        <p:nvSpPr>
          <p:cNvPr id="7" name="Text 3"/>
          <p:cNvSpPr txBox="1"/>
          <p:nvPr/>
        </p:nvSpPr>
        <p:spPr>
          <a:xfrm>
            <a:off x="1170432" y="1225296"/>
            <a:ext cx="3200400" cy="512064"/>
          </a:xfrm>
          <a:prstGeom prst="rect">
            <a:avLst/>
          </a:prstGeom>
          <a:noFill/>
          <a:ln/>
        </p:spPr>
        <p:txBody>
          <a:bodyPr wrap="square" lIns="0" tIns="0" rIns="0" bIns="0" rtlCol="0" anchor="ctr"/>
          <a:lstStyle/>
          <a:p>
            <a:pPr indent="0" marL="0">
              <a:buNone/>
            </a:pPr>
            <a:r>
              <a:rPr lang="en-US" sz="1500" b="1" dirty="0">
                <a:solidFill>
                  <a:schemeClr val="tx1"/>
                </a:solidFill>
              </a:rPr>
              <a:t>Linguistici generalisti</a:t>
            </a:r>
            <a:endParaRPr lang="en-US" sz="1500" dirty="0"/>
          </a:p>
        </p:txBody>
      </p:sp>
      <p:sp>
        <p:nvSpPr>
          <p:cNvPr id="8" name="Text 4"/>
          <p:cNvSpPr txBox="1"/>
          <p:nvPr/>
        </p:nvSpPr>
        <p:spPr>
          <a:xfrm>
            <a:off x="621792" y="1810512"/>
            <a:ext cx="3694176" cy="818388"/>
          </a:xfrm>
          <a:prstGeom prst="rect">
            <a:avLst/>
          </a:prstGeom>
          <a:noFill/>
          <a:ln/>
        </p:spPr>
        <p:txBody>
          <a:bodyPr wrap="square" lIns="0" tIns="0" rIns="0" bIns="0" rtlCol="0" anchor="t"/>
          <a:lstStyle/>
          <a:p>
            <a:pPr indent="0" marL="0">
              <a:buNone/>
            </a:pPr>
            <a:r>
              <a:rPr lang="en-US" sz="1300" dirty="0">
                <a:solidFill>
                  <a:schemeClr val="tx2"/>
                </a:solidFill>
              </a:rPr>
              <a:t>Elaborano e generano testo; base degli assistenti conversazionali</a:t>
            </a:r>
            <a:endParaRPr lang="en-US" sz="1300" dirty="0"/>
          </a:p>
        </p:txBody>
      </p:sp>
      <p:sp>
        <p:nvSpPr>
          <p:cNvPr id="9" name="Multimodali"/>
          <p:cNvSpPr/>
          <p:nvPr/>
        </p:nvSpPr>
        <p:spPr>
          <a:xfrm>
            <a:off x="4663440" y="1097280"/>
            <a:ext cx="4023360" cy="1623060"/>
          </a:xfrm>
          <a:prstGeom prst="roundRect">
            <a:avLst>
              <a:gd name="adj" fmla="val 4507"/>
            </a:avLst>
          </a:prstGeom>
          <a:solidFill>
            <a:schemeClr val="accent6"/>
          </a:solidFill>
          <a:ln/>
        </p:spPr>
      </p:sp>
      <p:sp>
        <p:nvSpPr>
          <p:cNvPr id="10" name="cerchio FiLayers"/>
          <p:cNvSpPr/>
          <p:nvPr/>
        </p:nvSpPr>
        <p:spPr>
          <a:xfrm>
            <a:off x="4828032" y="1261872"/>
            <a:ext cx="438912" cy="438912"/>
          </a:xfrm>
          <a:prstGeom prst="ellipse">
            <a:avLst/>
          </a:prstGeom>
          <a:solidFill>
            <a:schemeClr val="accent1"/>
          </a:solidFill>
          <a:ln/>
        </p:spPr>
      </p:sp>
      <p:pic>
        <p:nvPicPr>
          <p:cNvPr id="11" name="Image 1" descr="FiLayers">    </p:cNvPr>
          <p:cNvPicPr>
            <a:picLocks noChangeAspect="1"/>
          </p:cNvPicPr>
          <p:nvPr/>
        </p:nvPicPr>
        <p:blipFill>
          <a:blip r:embed="rId2"/>
          <a:stretch>
            <a:fillRect/>
          </a:stretch>
        </p:blipFill>
        <p:spPr>
          <a:xfrm>
            <a:off x="4937760" y="1371600"/>
            <a:ext cx="219456" cy="219456"/>
          </a:xfrm>
          <a:prstGeom prst="rect">
            <a:avLst/>
          </a:prstGeom>
        </p:spPr>
      </p:pic>
      <p:sp>
        <p:nvSpPr>
          <p:cNvPr id="12" name="Text 7"/>
          <p:cNvSpPr txBox="1"/>
          <p:nvPr/>
        </p:nvSpPr>
        <p:spPr>
          <a:xfrm>
            <a:off x="5376672" y="1225296"/>
            <a:ext cx="3200400" cy="512064"/>
          </a:xfrm>
          <a:prstGeom prst="rect">
            <a:avLst/>
          </a:prstGeom>
          <a:noFill/>
          <a:ln/>
        </p:spPr>
        <p:txBody>
          <a:bodyPr wrap="square" lIns="0" tIns="0" rIns="0" bIns="0" rtlCol="0" anchor="ctr"/>
          <a:lstStyle/>
          <a:p>
            <a:pPr indent="0" marL="0">
              <a:buNone/>
            </a:pPr>
            <a:r>
              <a:rPr lang="en-US" sz="1500" b="1" dirty="0">
                <a:solidFill>
                  <a:schemeClr val="tx1"/>
                </a:solidFill>
              </a:rPr>
              <a:t>Multimodali</a:t>
            </a:r>
            <a:endParaRPr lang="en-US" sz="1500" dirty="0"/>
          </a:p>
        </p:txBody>
      </p:sp>
      <p:sp>
        <p:nvSpPr>
          <p:cNvPr id="13" name="Text 8"/>
          <p:cNvSpPr txBox="1"/>
          <p:nvPr/>
        </p:nvSpPr>
        <p:spPr>
          <a:xfrm>
            <a:off x="4828032" y="1810512"/>
            <a:ext cx="3694176" cy="818388"/>
          </a:xfrm>
          <a:prstGeom prst="rect">
            <a:avLst/>
          </a:prstGeom>
          <a:noFill/>
          <a:ln/>
        </p:spPr>
        <p:txBody>
          <a:bodyPr wrap="square" lIns="0" tIns="0" rIns="0" bIns="0" rtlCol="0" anchor="t"/>
          <a:lstStyle/>
          <a:p>
            <a:pPr indent="0" marL="0">
              <a:buNone/>
            </a:pPr>
            <a:r>
              <a:rPr lang="en-US" sz="1300" dirty="0">
                <a:solidFill>
                  <a:schemeClr val="tx2"/>
                </a:solidFill>
              </a:rPr>
              <a:t>Testo, immagini, audio insieme; oggi molti modelli generalisti lo sono</a:t>
            </a:r>
            <a:endParaRPr lang="en-US" sz="1300" dirty="0"/>
          </a:p>
        </p:txBody>
      </p:sp>
      <p:sp>
        <p:nvSpPr>
          <p:cNvPr id="14" name="Immagini, audio e video"/>
          <p:cNvSpPr/>
          <p:nvPr/>
        </p:nvSpPr>
        <p:spPr>
          <a:xfrm>
            <a:off x="457200" y="2903220"/>
            <a:ext cx="4023360" cy="1623060"/>
          </a:xfrm>
          <a:prstGeom prst="roundRect">
            <a:avLst>
              <a:gd name="adj" fmla="val 4507"/>
            </a:avLst>
          </a:prstGeom>
          <a:solidFill>
            <a:schemeClr val="bg2"/>
          </a:solidFill>
          <a:ln/>
        </p:spPr>
      </p:sp>
      <p:sp>
        <p:nvSpPr>
          <p:cNvPr id="15" name="cerchio FiImage"/>
          <p:cNvSpPr/>
          <p:nvPr/>
        </p:nvSpPr>
        <p:spPr>
          <a:xfrm>
            <a:off x="621792" y="3067812"/>
            <a:ext cx="438912" cy="438912"/>
          </a:xfrm>
          <a:prstGeom prst="ellipse">
            <a:avLst/>
          </a:prstGeom>
          <a:solidFill>
            <a:schemeClr val="accent1"/>
          </a:solidFill>
          <a:ln/>
        </p:spPr>
      </p:sp>
      <p:pic>
        <p:nvPicPr>
          <p:cNvPr id="16" name="Image 2" descr="FiImage">    </p:cNvPr>
          <p:cNvPicPr>
            <a:picLocks noChangeAspect="1"/>
          </p:cNvPicPr>
          <p:nvPr/>
        </p:nvPicPr>
        <p:blipFill>
          <a:blip r:embed="rId3"/>
          <a:stretch>
            <a:fillRect/>
          </a:stretch>
        </p:blipFill>
        <p:spPr>
          <a:xfrm>
            <a:off x="731520" y="3177540"/>
            <a:ext cx="219456" cy="219456"/>
          </a:xfrm>
          <a:prstGeom prst="rect">
            <a:avLst/>
          </a:prstGeom>
        </p:spPr>
      </p:pic>
      <p:sp>
        <p:nvSpPr>
          <p:cNvPr id="17" name="Text 11"/>
          <p:cNvSpPr txBox="1"/>
          <p:nvPr/>
        </p:nvSpPr>
        <p:spPr>
          <a:xfrm>
            <a:off x="1170432" y="3031236"/>
            <a:ext cx="3200400" cy="512064"/>
          </a:xfrm>
          <a:prstGeom prst="rect">
            <a:avLst/>
          </a:prstGeom>
          <a:noFill/>
          <a:ln/>
        </p:spPr>
        <p:txBody>
          <a:bodyPr wrap="square" lIns="0" tIns="0" rIns="0" bIns="0" rtlCol="0" anchor="ctr"/>
          <a:lstStyle/>
          <a:p>
            <a:pPr indent="0" marL="0">
              <a:buNone/>
            </a:pPr>
            <a:r>
              <a:rPr lang="en-US" sz="1500" b="1" dirty="0">
                <a:solidFill>
                  <a:schemeClr val="tx1"/>
                </a:solidFill>
              </a:rPr>
              <a:t>Immagini, audio e video</a:t>
            </a:r>
            <a:endParaRPr lang="en-US" sz="1500" dirty="0"/>
          </a:p>
        </p:txBody>
      </p:sp>
      <p:sp>
        <p:nvSpPr>
          <p:cNvPr id="18" name="Text 12"/>
          <p:cNvSpPr txBox="1"/>
          <p:nvPr/>
        </p:nvSpPr>
        <p:spPr>
          <a:xfrm>
            <a:off x="621792" y="3616452"/>
            <a:ext cx="3694176" cy="818388"/>
          </a:xfrm>
          <a:prstGeom prst="rect">
            <a:avLst/>
          </a:prstGeom>
          <a:noFill/>
          <a:ln/>
        </p:spPr>
        <p:txBody>
          <a:bodyPr wrap="square" lIns="0" tIns="0" rIns="0" bIns="0" rtlCol="0" anchor="t"/>
          <a:lstStyle/>
          <a:p>
            <a:pPr indent="0" marL="0">
              <a:buNone/>
            </a:pPr>
            <a:r>
              <a:rPr lang="en-US" sz="1300" dirty="0">
                <a:solidFill>
                  <a:schemeClr val="tx2"/>
                </a:solidFill>
              </a:rPr>
              <a:t>Generare immagini, trascrivere, sintesi vocale, brevi video</a:t>
            </a:r>
            <a:endParaRPr lang="en-US" sz="1300" dirty="0"/>
          </a:p>
        </p:txBody>
      </p:sp>
      <p:sp>
        <p:nvSpPr>
          <p:cNvPr id="19" name="Specializzati"/>
          <p:cNvSpPr/>
          <p:nvPr/>
        </p:nvSpPr>
        <p:spPr>
          <a:xfrm>
            <a:off x="4663440" y="2903220"/>
            <a:ext cx="4023360" cy="1623060"/>
          </a:xfrm>
          <a:prstGeom prst="roundRect">
            <a:avLst>
              <a:gd name="adj" fmla="val 4507"/>
            </a:avLst>
          </a:prstGeom>
          <a:solidFill>
            <a:schemeClr val="bg2"/>
          </a:solidFill>
          <a:ln/>
        </p:spPr>
      </p:sp>
      <p:sp>
        <p:nvSpPr>
          <p:cNvPr id="20" name="cerchio FiCrosshair"/>
          <p:cNvSpPr/>
          <p:nvPr/>
        </p:nvSpPr>
        <p:spPr>
          <a:xfrm>
            <a:off x="4828032" y="3067812"/>
            <a:ext cx="438912" cy="438912"/>
          </a:xfrm>
          <a:prstGeom prst="ellipse">
            <a:avLst/>
          </a:prstGeom>
          <a:solidFill>
            <a:schemeClr val="accent1"/>
          </a:solidFill>
          <a:ln/>
        </p:spPr>
      </p:sp>
      <p:pic>
        <p:nvPicPr>
          <p:cNvPr id="21" name="Image 3" descr="FiCrosshair">    </p:cNvPr>
          <p:cNvPicPr>
            <a:picLocks noChangeAspect="1"/>
          </p:cNvPicPr>
          <p:nvPr/>
        </p:nvPicPr>
        <p:blipFill>
          <a:blip r:embed="rId4"/>
          <a:stretch>
            <a:fillRect/>
          </a:stretch>
        </p:blipFill>
        <p:spPr>
          <a:xfrm>
            <a:off x="4937760" y="3177540"/>
            <a:ext cx="219456" cy="219456"/>
          </a:xfrm>
          <a:prstGeom prst="rect">
            <a:avLst/>
          </a:prstGeom>
        </p:spPr>
      </p:pic>
      <p:sp>
        <p:nvSpPr>
          <p:cNvPr id="22" name="Text 15"/>
          <p:cNvSpPr txBox="1"/>
          <p:nvPr/>
        </p:nvSpPr>
        <p:spPr>
          <a:xfrm>
            <a:off x="5376672" y="3031236"/>
            <a:ext cx="3200400" cy="512064"/>
          </a:xfrm>
          <a:prstGeom prst="rect">
            <a:avLst/>
          </a:prstGeom>
          <a:noFill/>
          <a:ln/>
        </p:spPr>
        <p:txBody>
          <a:bodyPr wrap="square" lIns="0" tIns="0" rIns="0" bIns="0" rtlCol="0" anchor="ctr"/>
          <a:lstStyle/>
          <a:p>
            <a:pPr indent="0" marL="0">
              <a:buNone/>
            </a:pPr>
            <a:r>
              <a:rPr lang="en-US" sz="1500" b="1" dirty="0">
                <a:solidFill>
                  <a:schemeClr val="tx1"/>
                </a:solidFill>
              </a:rPr>
              <a:t>Specializzati</a:t>
            </a:r>
            <a:endParaRPr lang="en-US" sz="1500" dirty="0"/>
          </a:p>
        </p:txBody>
      </p:sp>
      <p:sp>
        <p:nvSpPr>
          <p:cNvPr id="23" name="Text 16"/>
          <p:cNvSpPr txBox="1"/>
          <p:nvPr/>
        </p:nvSpPr>
        <p:spPr>
          <a:xfrm>
            <a:off x="4828032" y="3616452"/>
            <a:ext cx="3694176" cy="818388"/>
          </a:xfrm>
          <a:prstGeom prst="rect">
            <a:avLst/>
          </a:prstGeom>
          <a:noFill/>
          <a:ln/>
        </p:spPr>
        <p:txBody>
          <a:bodyPr wrap="square" lIns="0" tIns="0" rIns="0" bIns="0" rtlCol="0" anchor="t"/>
          <a:lstStyle/>
          <a:p>
            <a:pPr indent="0" marL="0">
              <a:buNone/>
            </a:pPr>
            <a:r>
              <a:rPr lang="en-US" sz="1300" dirty="0">
                <a:solidFill>
                  <a:schemeClr val="tx2"/>
                </a:solidFill>
              </a:rPr>
              <a:t>Per attività (traduzione, documenti, codice) o domini (medico, legale, finanziario)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Capacità, dimensioni e requisiti</a:t>
            </a:r>
            <a:endParaRPr lang="en-US" sz="26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920240"/>
                <a:gridCol w="3154680"/>
                <a:gridCol w="3154680"/>
              </a:tblGrid>
              <a:tr h="502920">
                <a:tc>
                  <a:txBody>
                    <a:bodyPr/>
                    <a:lstStyle/>
                    <a:p>
                      <a:pPr indent="0" marL="0">
                        <a:buNone/>
                      </a:pP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b="1" dirty="0">
                          <a:solidFill>
                            <a:schemeClr val="bg1"/>
                          </a:solidFill>
                        </a:rPr>
                        <a:t>Modelli grandi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Modelli piccoli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r>
              <a:tr h="502920">
                <a:tc>
                  <a:txBody>
                    <a:bodyPr/>
                    <a:lstStyle/>
                    <a:p>
                      <a:pPr indent="0" marL="0">
                        <a:buNone/>
                      </a:pPr>
                      <a:r>
                        <a:rPr lang="en-US" sz="1300" b="1" dirty="0">
                          <a:solidFill>
                            <a:schemeClr val="tx1"/>
                          </a:solidFill>
                        </a:rPr>
                        <a:t>Capacità</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Le più ampie, ragionamento complesso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Più limitate, buone su compiti definiti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02920">
                <a:tc>
                  <a:txBody>
                    <a:bodyPr/>
                    <a:lstStyle/>
                    <a:p>
                      <a:pPr indent="0" marL="0">
                        <a:buNone/>
                      </a:pPr>
                      <a:r>
                        <a:rPr lang="en-US" sz="1300" b="1" dirty="0">
                          <a:solidFill>
                            <a:schemeClr val="tx1"/>
                          </a:solidFill>
                        </a:rPr>
                        <a:t>Requisiti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Infrastrutture potenti, di norma cloud</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Server aziendale, computer, smartphone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02920">
                <a:tc>
                  <a:txBody>
                    <a:bodyPr/>
                    <a:lstStyle/>
                    <a:p>
                      <a:pPr indent="0" marL="0">
                        <a:buNone/>
                      </a:pPr>
                      <a:r>
                        <a:rPr lang="en-US" sz="1300" b="1" dirty="0">
                          <a:solidFill>
                            <a:schemeClr val="tx1"/>
                          </a:solidFill>
                        </a:rPr>
                        <a:t>Velocità</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Più lenti per richiesta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Veloci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02920">
                <a:tc>
                  <a:txBody>
                    <a:bodyPr/>
                    <a:lstStyle/>
                    <a:p>
                      <a:pPr indent="0" marL="0">
                        <a:buNone/>
                      </a:pPr>
                      <a:r>
                        <a:rPr lang="en-US" sz="1300" b="1" dirty="0">
                          <a:solidFill>
                            <a:schemeClr val="tx1"/>
                          </a:solidFill>
                        </a:rPr>
                        <a:t>Costo per richiesta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Più alto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Più basso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02920">
                <a:tc>
                  <a:txBody>
                    <a:bodyPr/>
                    <a:lstStyle/>
                    <a:p>
                      <a:pPr indent="0" marL="0">
                        <a:buNone/>
                      </a:pPr>
                      <a:r>
                        <a:rPr lang="en-US" sz="1300" b="1" dirty="0">
                          <a:solidFill>
                            <a:schemeClr val="tx1"/>
                          </a:solidFill>
                        </a:rPr>
                        <a:t>Adatti 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Compiti complessi e vari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Classificare, estrarre, riassumere testi brevi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bl>
          </a:graphicData>
        </a:graphic>
      </p:graphicFrame>
      <p:sp>
        <p:nvSpPr>
          <p:cNvPr id="5" name="messaggio"/>
          <p:cNvSpPr/>
          <p:nvPr/>
        </p:nvSpPr>
        <p:spPr>
          <a:xfrm>
            <a:off x="457200" y="4206240"/>
            <a:ext cx="8229600" cy="411480"/>
          </a:xfrm>
          <a:prstGeom prst="roundRect">
            <a:avLst>
              <a:gd name="adj" fmla="val 17778"/>
            </a:avLst>
          </a:prstGeom>
          <a:solidFill>
            <a:schemeClr val="tx1"/>
          </a:solidFill>
          <a:ln/>
        </p:spPr>
      </p:sp>
      <p:sp>
        <p:nvSpPr>
          <p:cNvPr id="6" name="Text 2"/>
          <p:cNvSpPr txBox="1"/>
          <p:nvPr/>
        </p:nvSpPr>
        <p:spPr>
          <a:xfrm>
            <a:off x="640080" y="4206240"/>
            <a:ext cx="7863840" cy="411480"/>
          </a:xfrm>
          <a:prstGeom prst="rect">
            <a:avLst/>
          </a:prstGeom>
          <a:noFill/>
          <a:ln/>
        </p:spPr>
        <p:txBody>
          <a:bodyPr wrap="square" lIns="0" tIns="0" rIns="0" bIns="0" rtlCol="0" anchor="ctr"/>
          <a:lstStyle/>
          <a:p>
            <a:pPr indent="0" marL="0">
              <a:buNone/>
            </a:pPr>
            <a:r>
              <a:rPr lang="en-US" sz="1300" dirty="0">
                <a:solidFill>
                  <a:schemeClr val="bg1"/>
                </a:solidFill>
              </a:rPr>
              <a:t>Il modello più grande non è sempre la scelta migliore: conta l'adeguatezza al compito.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Modelli proprietari e modelli con pesi accessibili</a:t>
            </a:r>
            <a:endParaRPr lang="en-US" sz="2600" dirty="0"/>
          </a:p>
        </p:txBody>
      </p:sp>
      <p:sp>
        <p:nvSpPr>
          <p:cNvPr id="4" name="scheda Proprietari (chiusi)"/>
          <p:cNvSpPr/>
          <p:nvPr/>
        </p:nvSpPr>
        <p:spPr>
          <a:xfrm>
            <a:off x="457200" y="1097280"/>
            <a:ext cx="3977640" cy="3429000"/>
          </a:xfrm>
          <a:prstGeom prst="roundRect">
            <a:avLst>
              <a:gd name="adj" fmla="val 2133"/>
            </a:avLst>
          </a:prstGeom>
          <a:solidFill>
            <a:schemeClr val="bg2"/>
          </a:solidFill>
          <a:ln/>
        </p:spPr>
      </p:sp>
      <p:sp>
        <p:nvSpPr>
          <p:cNvPr id="5" name="cerchio FiLock"/>
          <p:cNvSpPr/>
          <p:nvPr/>
        </p:nvSpPr>
        <p:spPr>
          <a:xfrm>
            <a:off x="640080" y="1280160"/>
            <a:ext cx="457200" cy="457200"/>
          </a:xfrm>
          <a:prstGeom prst="ellipse">
            <a:avLst/>
          </a:prstGeom>
          <a:solidFill>
            <a:schemeClr val="accent1"/>
          </a:solidFill>
          <a:ln/>
        </p:spPr>
      </p:sp>
      <p:pic>
        <p:nvPicPr>
          <p:cNvPr id="6" name="Image 0" descr="FiLock">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Proprietari (chiusi)</a:t>
            </a:r>
            <a:endParaRPr lang="en-US" sz="1600" dirty="0"/>
          </a:p>
        </p:txBody>
      </p:sp>
      <p:sp>
        <p:nvSpPr>
          <p:cNvPr id="8" name="Text 4"/>
          <p:cNvSpPr txBox="1"/>
          <p:nvPr/>
        </p:nvSpPr>
        <p:spPr>
          <a:xfrm>
            <a:off x="640080" y="2231136"/>
            <a:ext cx="3611880" cy="2185416"/>
          </a:xfrm>
          <a:prstGeom prst="rect">
            <a:avLst/>
          </a:prstGeom>
          <a:noFill/>
          <a:ln/>
        </p:spPr>
        <p:txBody>
          <a:bodyPr wrap="square" lIns="0" tIns="0" rIns="0" bIns="0" rtlCol="0" anchor="t"/>
          <a:lstStyle/>
          <a:p>
            <a:pPr indent="0" marL="0">
              <a:spcAft>
                <a:spcPts val="600"/>
              </a:spcAft>
              <a:buNone/>
            </a:pPr>
            <a:r>
              <a:rPr lang="en-US" sz="1200" b="1" dirty="0">
                <a:solidFill>
                  <a:schemeClr val="tx1"/>
                </a:solidFill>
              </a:rPr>
              <a:t>Accessibili solo tramite i servizi del fornitore</a:t>
            </a:r>
            <a:endParaRPr lang="en-US" sz="1200" dirty="0"/>
          </a:p>
          <a:p>
            <a:pPr marL="177800" indent="-177800">
              <a:spcAft>
                <a:spcPts val="200"/>
              </a:spcAft>
              <a:buSzPct val="100000"/>
              <a:buChar char="•"/>
            </a:pPr>
            <a:r>
              <a:rPr lang="en-US" sz="1200" dirty="0">
                <a:solidFill>
                  <a:schemeClr val="tx2"/>
                </a:solidFill>
              </a:rPr>
              <a:t>Spesso tra i più capaci</a:t>
            </a:r>
            <a:endParaRPr lang="en-US" sz="1200" dirty="0"/>
          </a:p>
          <a:p>
            <a:pPr marL="177800" indent="-177800">
              <a:spcAft>
                <a:spcPts val="200"/>
              </a:spcAft>
              <a:buSzPct val="100000"/>
              <a:buChar char="•"/>
            </a:pPr>
            <a:r>
              <a:rPr lang="en-US" sz="1200" dirty="0">
                <a:solidFill>
                  <a:schemeClr val="tx2"/>
                </a:solidFill>
              </a:rPr>
              <a:t>Nessuna infrastruttura propria</a:t>
            </a:r>
            <a:endParaRPr lang="en-US" sz="1200" dirty="0"/>
          </a:p>
          <a:p>
            <a:pPr marL="177800" indent="-177800">
              <a:spcAft>
                <a:spcPts val="200"/>
              </a:spcAft>
              <a:buSzPct val="100000"/>
              <a:buChar char="•"/>
            </a:pPr>
            <a:r>
              <a:rPr lang="en-US" sz="1200" dirty="0">
                <a:solidFill>
                  <a:schemeClr val="tx2"/>
                </a:solidFill>
              </a:rPr>
              <a:t>I dati transitano verso il fornitore</a:t>
            </a:r>
            <a:endParaRPr lang="en-US" sz="1200" dirty="0"/>
          </a:p>
          <a:p>
            <a:pPr marL="177800" indent="-177800">
              <a:spcAft>
                <a:spcPts val="200"/>
              </a:spcAft>
              <a:buSzPct val="100000"/>
              <a:buChar char="•"/>
            </a:pPr>
            <a:r>
              <a:rPr lang="en-US" sz="1200" dirty="0">
                <a:solidFill>
                  <a:schemeClr val="tx2"/>
                </a:solidFill>
              </a:rPr>
              <a:t>Il fornitore può modificarli o ritirarli</a:t>
            </a:r>
            <a:endParaRPr lang="en-US" sz="1200" dirty="0"/>
          </a:p>
        </p:txBody>
      </p:sp>
      <p:sp>
        <p:nvSpPr>
          <p:cNvPr id="9" name="scheda Pesi accessibili (open-weight)"/>
          <p:cNvSpPr/>
          <p:nvPr/>
        </p:nvSpPr>
        <p:spPr>
          <a:xfrm>
            <a:off x="4709160" y="1097280"/>
            <a:ext cx="3977640" cy="3429000"/>
          </a:xfrm>
          <a:prstGeom prst="roundRect">
            <a:avLst>
              <a:gd name="adj" fmla="val 2133"/>
            </a:avLst>
          </a:prstGeom>
          <a:solidFill>
            <a:schemeClr val="accent6"/>
          </a:solidFill>
          <a:ln/>
        </p:spPr>
      </p:sp>
      <p:sp>
        <p:nvSpPr>
          <p:cNvPr id="10" name="cerchio FiDownload"/>
          <p:cNvSpPr/>
          <p:nvPr/>
        </p:nvSpPr>
        <p:spPr>
          <a:xfrm>
            <a:off x="4892040" y="1280160"/>
            <a:ext cx="457200" cy="457200"/>
          </a:xfrm>
          <a:prstGeom prst="ellipse">
            <a:avLst/>
          </a:prstGeom>
          <a:solidFill>
            <a:schemeClr val="accent1"/>
          </a:solidFill>
          <a:ln/>
        </p:spPr>
      </p:sp>
      <p:pic>
        <p:nvPicPr>
          <p:cNvPr id="11" name="Image 1" descr="FiDownload">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Pesi accessibili (open-weight)</a:t>
            </a:r>
            <a:endParaRPr lang="en-US" sz="1600" dirty="0"/>
          </a:p>
        </p:txBody>
      </p:sp>
      <p:sp>
        <p:nvSpPr>
          <p:cNvPr id="13" name="Text 8"/>
          <p:cNvSpPr txBox="1"/>
          <p:nvPr/>
        </p:nvSpPr>
        <p:spPr>
          <a:xfrm>
            <a:off x="4892040" y="2231136"/>
            <a:ext cx="3611880" cy="2185416"/>
          </a:xfrm>
          <a:prstGeom prst="rect">
            <a:avLst/>
          </a:prstGeom>
          <a:noFill/>
          <a:ln/>
        </p:spPr>
        <p:txBody>
          <a:bodyPr wrap="square" lIns="0" tIns="0" rIns="0" bIns="0" rtlCol="0" anchor="t"/>
          <a:lstStyle/>
          <a:p>
            <a:pPr indent="0" marL="0">
              <a:spcAft>
                <a:spcPts val="600"/>
              </a:spcAft>
              <a:buNone/>
            </a:pPr>
            <a:r>
              <a:rPr lang="en-US" sz="1200" b="1" dirty="0">
                <a:solidFill>
                  <a:schemeClr val="tx1"/>
                </a:solidFill>
              </a:rPr>
              <a:t>Parametri scaricabili ed eseguibili altrove</a:t>
            </a:r>
            <a:endParaRPr lang="en-US" sz="1200" dirty="0"/>
          </a:p>
          <a:p>
            <a:pPr marL="177800" indent="-177800">
              <a:spcAft>
                <a:spcPts val="200"/>
              </a:spcAft>
              <a:buSzPct val="100000"/>
              <a:buChar char="•"/>
            </a:pPr>
            <a:r>
              <a:rPr lang="en-US" sz="1200" dirty="0">
                <a:solidFill>
                  <a:schemeClr val="tx2"/>
                </a:solidFill>
              </a:rPr>
              <a:t>Esecuzione locale o su cloud a scelta</a:t>
            </a:r>
            <a:endParaRPr lang="en-US" sz="1200" dirty="0"/>
          </a:p>
          <a:p>
            <a:pPr marL="177800" indent="-177800">
              <a:spcAft>
                <a:spcPts val="200"/>
              </a:spcAft>
              <a:buSzPct val="100000"/>
              <a:buChar char="•"/>
            </a:pPr>
            <a:r>
              <a:rPr lang="en-US" sz="1200" dirty="0">
                <a:solidFill>
                  <a:schemeClr val="tx2"/>
                </a:solidFill>
              </a:rPr>
              <a:t>Personalizzabili, invariati nel tempo</a:t>
            </a:r>
            <a:endParaRPr lang="en-US" sz="1200" dirty="0"/>
          </a:p>
          <a:p>
            <a:pPr marL="177800" indent="-177800">
              <a:spcAft>
                <a:spcPts val="200"/>
              </a:spcAft>
              <a:buSzPct val="100000"/>
              <a:buChar char="•"/>
            </a:pPr>
            <a:r>
              <a:rPr lang="en-US" sz="1200" dirty="0">
                <a:solidFill>
                  <a:schemeClr val="tx2"/>
                </a:solidFill>
              </a:rPr>
              <a:t>Servono competenze e infrastruttura</a:t>
            </a:r>
            <a:endParaRPr lang="en-US" sz="1200" dirty="0"/>
          </a:p>
          <a:p>
            <a:pPr marL="177800" indent="-177800">
              <a:spcAft>
                <a:spcPts val="200"/>
              </a:spcAft>
              <a:buSzPct val="100000"/>
              <a:buChar char="•"/>
            </a:pPr>
            <a:r>
              <a:rPr lang="en-US" sz="1200" dirty="0">
                <a:solidFill>
                  <a:schemeClr val="tx2"/>
                </a:solidFill>
              </a:rPr>
              <a:t>Gestione e sicurezza a carico dell'azienda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Open-weight non significa open-source</a:t>
            </a:r>
            <a:endParaRPr lang="en-US" sz="2600" dirty="0"/>
          </a:p>
        </p:txBody>
      </p:sp>
      <p:sp>
        <p:nvSpPr>
          <p:cNvPr id="4" name="Text 1"/>
          <p:cNvSpPr txBox="1"/>
          <p:nvPr/>
        </p:nvSpPr>
        <p:spPr>
          <a:xfrm>
            <a:off x="457200" y="1051560"/>
            <a:ext cx="8229600" cy="274320"/>
          </a:xfrm>
          <a:prstGeom prst="rect">
            <a:avLst/>
          </a:prstGeom>
          <a:noFill/>
          <a:ln/>
        </p:spPr>
        <p:txBody>
          <a:bodyPr wrap="square" lIns="0" tIns="0" rIns="0" bIns="0" rtlCol="0" anchor="t"/>
          <a:lstStyle/>
          <a:p>
            <a:pPr indent="0" marL="0">
              <a:buNone/>
            </a:pPr>
            <a:r>
              <a:rPr lang="en-US" sz="1400" b="1" dirty="0">
                <a:solidFill>
                  <a:schemeClr val="tx1"/>
                </a:solidFill>
              </a:rPr>
              <a:t>Che cosa può essere aperto o chiuso</a:t>
            </a:r>
            <a:endParaRPr lang="en-US" sz="1400" dirty="0"/>
          </a:p>
        </p:txBody>
      </p:sp>
      <p:sp>
        <p:nvSpPr>
          <p:cNvPr id="5" name="Pesi"/>
          <p:cNvSpPr/>
          <p:nvPr/>
        </p:nvSpPr>
        <p:spPr>
          <a:xfrm>
            <a:off x="457200" y="1417320"/>
            <a:ext cx="1965960" cy="1325880"/>
          </a:xfrm>
          <a:prstGeom prst="roundRect">
            <a:avLst>
              <a:gd name="adj" fmla="val 5517"/>
            </a:avLst>
          </a:prstGeom>
          <a:solidFill>
            <a:schemeClr val="bg2"/>
          </a:solidFill>
          <a:ln/>
        </p:spPr>
      </p:sp>
      <p:sp>
        <p:nvSpPr>
          <p:cNvPr id="6" name="cerchio FiCpu"/>
          <p:cNvSpPr/>
          <p:nvPr/>
        </p:nvSpPr>
        <p:spPr>
          <a:xfrm>
            <a:off x="621792" y="1554480"/>
            <a:ext cx="457200" cy="457200"/>
          </a:xfrm>
          <a:prstGeom prst="ellipse">
            <a:avLst/>
          </a:prstGeom>
          <a:solidFill>
            <a:schemeClr val="accent1"/>
          </a:solidFill>
          <a:ln/>
        </p:spPr>
      </p:sp>
      <p:pic>
        <p:nvPicPr>
          <p:cNvPr id="7" name="Image 0" descr="FiCpu">    </p:cNvPr>
          <p:cNvPicPr>
            <a:picLocks noChangeAspect="1"/>
          </p:cNvPicPr>
          <p:nvPr/>
        </p:nvPicPr>
        <p:blipFill>
          <a:blip r:embed="rId1"/>
          <a:stretch>
            <a:fillRect/>
          </a:stretch>
        </p:blipFill>
        <p:spPr>
          <a:xfrm>
            <a:off x="736092" y="1668780"/>
            <a:ext cx="228600" cy="228600"/>
          </a:xfrm>
          <a:prstGeom prst="rect">
            <a:avLst/>
          </a:prstGeom>
        </p:spPr>
      </p:pic>
      <p:sp>
        <p:nvSpPr>
          <p:cNvPr id="8" name="Text 4"/>
          <p:cNvSpPr txBox="1"/>
          <p:nvPr/>
        </p:nvSpPr>
        <p:spPr>
          <a:xfrm>
            <a:off x="1188720" y="1554480"/>
            <a:ext cx="1188720" cy="457200"/>
          </a:xfrm>
          <a:prstGeom prst="rect">
            <a:avLst/>
          </a:prstGeom>
          <a:noFill/>
          <a:ln/>
        </p:spPr>
        <p:txBody>
          <a:bodyPr wrap="square" lIns="0" tIns="0" rIns="0" bIns="0" rtlCol="0" anchor="ctr"/>
          <a:lstStyle/>
          <a:p>
            <a:pPr indent="0" marL="0">
              <a:buNone/>
            </a:pPr>
            <a:r>
              <a:rPr lang="en-US" sz="1500" b="1" dirty="0">
                <a:solidFill>
                  <a:schemeClr val="tx1"/>
                </a:solidFill>
              </a:rPr>
              <a:t>Pesi</a:t>
            </a:r>
            <a:endParaRPr lang="en-US" sz="1500" dirty="0"/>
          </a:p>
        </p:txBody>
      </p:sp>
      <p:sp>
        <p:nvSpPr>
          <p:cNvPr id="9" name="Text 5"/>
          <p:cNvSpPr txBox="1"/>
          <p:nvPr/>
        </p:nvSpPr>
        <p:spPr>
          <a:xfrm>
            <a:off x="621792" y="2103120"/>
            <a:ext cx="1691640" cy="548640"/>
          </a:xfrm>
          <a:prstGeom prst="rect">
            <a:avLst/>
          </a:prstGeom>
          <a:noFill/>
          <a:ln/>
        </p:spPr>
        <p:txBody>
          <a:bodyPr wrap="square" lIns="0" tIns="0" rIns="0" bIns="0" rtlCol="0" anchor="t"/>
          <a:lstStyle/>
          <a:p>
            <a:pPr indent="0" marL="0">
              <a:buNone/>
            </a:pPr>
            <a:r>
              <a:rPr lang="en-US" sz="1200" dirty="0">
                <a:solidFill>
                  <a:schemeClr val="tx2"/>
                </a:solidFill>
              </a:rPr>
              <a:t>I parametri del modello</a:t>
            </a:r>
            <a:endParaRPr lang="en-US" sz="1200" dirty="0"/>
          </a:p>
        </p:txBody>
      </p:sp>
      <p:sp>
        <p:nvSpPr>
          <p:cNvPr id="10" name="Codice"/>
          <p:cNvSpPr/>
          <p:nvPr/>
        </p:nvSpPr>
        <p:spPr>
          <a:xfrm>
            <a:off x="2560320" y="1417320"/>
            <a:ext cx="1965960" cy="1325880"/>
          </a:xfrm>
          <a:prstGeom prst="roundRect">
            <a:avLst>
              <a:gd name="adj" fmla="val 5517"/>
            </a:avLst>
          </a:prstGeom>
          <a:solidFill>
            <a:schemeClr val="bg2"/>
          </a:solidFill>
          <a:ln/>
        </p:spPr>
      </p:sp>
      <p:sp>
        <p:nvSpPr>
          <p:cNvPr id="11" name="cerchio FiCode"/>
          <p:cNvSpPr/>
          <p:nvPr/>
        </p:nvSpPr>
        <p:spPr>
          <a:xfrm>
            <a:off x="2724912" y="1554480"/>
            <a:ext cx="457200" cy="457200"/>
          </a:xfrm>
          <a:prstGeom prst="ellipse">
            <a:avLst/>
          </a:prstGeom>
          <a:solidFill>
            <a:schemeClr val="accent1"/>
          </a:solidFill>
          <a:ln/>
        </p:spPr>
      </p:sp>
      <p:pic>
        <p:nvPicPr>
          <p:cNvPr id="12" name="Image 1" descr="FiCode">    </p:cNvPr>
          <p:cNvPicPr>
            <a:picLocks noChangeAspect="1"/>
          </p:cNvPicPr>
          <p:nvPr/>
        </p:nvPicPr>
        <p:blipFill>
          <a:blip r:embed="rId2"/>
          <a:stretch>
            <a:fillRect/>
          </a:stretch>
        </p:blipFill>
        <p:spPr>
          <a:xfrm>
            <a:off x="2839212" y="1668780"/>
            <a:ext cx="228600" cy="228600"/>
          </a:xfrm>
          <a:prstGeom prst="rect">
            <a:avLst/>
          </a:prstGeom>
        </p:spPr>
      </p:pic>
      <p:sp>
        <p:nvSpPr>
          <p:cNvPr id="13" name="Text 8"/>
          <p:cNvSpPr txBox="1"/>
          <p:nvPr/>
        </p:nvSpPr>
        <p:spPr>
          <a:xfrm>
            <a:off x="3291840" y="1554480"/>
            <a:ext cx="1188720" cy="457200"/>
          </a:xfrm>
          <a:prstGeom prst="rect">
            <a:avLst/>
          </a:prstGeom>
          <a:noFill/>
          <a:ln/>
        </p:spPr>
        <p:txBody>
          <a:bodyPr wrap="square" lIns="0" tIns="0" rIns="0" bIns="0" rtlCol="0" anchor="ctr"/>
          <a:lstStyle/>
          <a:p>
            <a:pPr indent="0" marL="0">
              <a:buNone/>
            </a:pPr>
            <a:r>
              <a:rPr lang="en-US" sz="1500" b="1" dirty="0">
                <a:solidFill>
                  <a:schemeClr val="tx1"/>
                </a:solidFill>
              </a:rPr>
              <a:t>Codice</a:t>
            </a:r>
            <a:endParaRPr lang="en-US" sz="1500" dirty="0"/>
          </a:p>
        </p:txBody>
      </p:sp>
      <p:sp>
        <p:nvSpPr>
          <p:cNvPr id="14" name="Text 9"/>
          <p:cNvSpPr txBox="1"/>
          <p:nvPr/>
        </p:nvSpPr>
        <p:spPr>
          <a:xfrm>
            <a:off x="2724912" y="2103120"/>
            <a:ext cx="1691640" cy="548640"/>
          </a:xfrm>
          <a:prstGeom prst="rect">
            <a:avLst/>
          </a:prstGeom>
          <a:noFill/>
          <a:ln/>
        </p:spPr>
        <p:txBody>
          <a:bodyPr wrap="square" lIns="0" tIns="0" rIns="0" bIns="0" rtlCol="0" anchor="t"/>
          <a:lstStyle/>
          <a:p>
            <a:pPr indent="0" marL="0">
              <a:buNone/>
            </a:pPr>
            <a:r>
              <a:rPr lang="en-US" sz="1200" dirty="0">
                <a:solidFill>
                  <a:schemeClr val="tx2"/>
                </a:solidFill>
              </a:rPr>
              <a:t>Per eseguire e addestrare</a:t>
            </a:r>
            <a:endParaRPr lang="en-US" sz="1200" dirty="0"/>
          </a:p>
        </p:txBody>
      </p:sp>
      <p:sp>
        <p:nvSpPr>
          <p:cNvPr id="15" name="Dati"/>
          <p:cNvSpPr/>
          <p:nvPr/>
        </p:nvSpPr>
        <p:spPr>
          <a:xfrm>
            <a:off x="4663440" y="1417320"/>
            <a:ext cx="1965960" cy="1325880"/>
          </a:xfrm>
          <a:prstGeom prst="roundRect">
            <a:avLst>
              <a:gd name="adj" fmla="val 5517"/>
            </a:avLst>
          </a:prstGeom>
          <a:solidFill>
            <a:schemeClr val="bg2"/>
          </a:solidFill>
          <a:ln/>
        </p:spPr>
      </p:sp>
      <p:sp>
        <p:nvSpPr>
          <p:cNvPr id="16" name="cerchio FiDatabase"/>
          <p:cNvSpPr/>
          <p:nvPr/>
        </p:nvSpPr>
        <p:spPr>
          <a:xfrm>
            <a:off x="4828032" y="1554480"/>
            <a:ext cx="457200" cy="457200"/>
          </a:xfrm>
          <a:prstGeom prst="ellipse">
            <a:avLst/>
          </a:prstGeom>
          <a:solidFill>
            <a:schemeClr val="accent1"/>
          </a:solidFill>
          <a:ln/>
        </p:spPr>
      </p:sp>
      <p:pic>
        <p:nvPicPr>
          <p:cNvPr id="17" name="Image 2" descr="FiDatabase">    </p:cNvPr>
          <p:cNvPicPr>
            <a:picLocks noChangeAspect="1"/>
          </p:cNvPicPr>
          <p:nvPr/>
        </p:nvPicPr>
        <p:blipFill>
          <a:blip r:embed="rId3"/>
          <a:stretch>
            <a:fillRect/>
          </a:stretch>
        </p:blipFill>
        <p:spPr>
          <a:xfrm>
            <a:off x="4942332" y="1668780"/>
            <a:ext cx="228600" cy="228600"/>
          </a:xfrm>
          <a:prstGeom prst="rect">
            <a:avLst/>
          </a:prstGeom>
        </p:spPr>
      </p:pic>
      <p:sp>
        <p:nvSpPr>
          <p:cNvPr id="18" name="Text 12"/>
          <p:cNvSpPr txBox="1"/>
          <p:nvPr/>
        </p:nvSpPr>
        <p:spPr>
          <a:xfrm>
            <a:off x="5394960" y="1554480"/>
            <a:ext cx="1188720" cy="457200"/>
          </a:xfrm>
          <a:prstGeom prst="rect">
            <a:avLst/>
          </a:prstGeom>
          <a:noFill/>
          <a:ln/>
        </p:spPr>
        <p:txBody>
          <a:bodyPr wrap="square" lIns="0" tIns="0" rIns="0" bIns="0" rtlCol="0" anchor="ctr"/>
          <a:lstStyle/>
          <a:p>
            <a:pPr indent="0" marL="0">
              <a:buNone/>
            </a:pPr>
            <a:r>
              <a:rPr lang="en-US" sz="1500" b="1" dirty="0">
                <a:solidFill>
                  <a:schemeClr val="tx1"/>
                </a:solidFill>
              </a:rPr>
              <a:t>Dati</a:t>
            </a:r>
            <a:endParaRPr lang="en-US" sz="1500" dirty="0"/>
          </a:p>
        </p:txBody>
      </p:sp>
      <p:sp>
        <p:nvSpPr>
          <p:cNvPr id="19" name="Text 13"/>
          <p:cNvSpPr txBox="1"/>
          <p:nvPr/>
        </p:nvSpPr>
        <p:spPr>
          <a:xfrm>
            <a:off x="4828032" y="2103120"/>
            <a:ext cx="1691640" cy="548640"/>
          </a:xfrm>
          <a:prstGeom prst="rect">
            <a:avLst/>
          </a:prstGeom>
          <a:noFill/>
          <a:ln/>
        </p:spPr>
        <p:txBody>
          <a:bodyPr wrap="square" lIns="0" tIns="0" rIns="0" bIns="0" rtlCol="0" anchor="t"/>
          <a:lstStyle/>
          <a:p>
            <a:pPr indent="0" marL="0">
              <a:buNone/>
            </a:pPr>
            <a:r>
              <a:rPr lang="en-US" sz="1200" dirty="0">
                <a:solidFill>
                  <a:schemeClr val="tx2"/>
                </a:solidFill>
              </a:rPr>
              <a:t>Con cui è stato addestrato</a:t>
            </a:r>
            <a:endParaRPr lang="en-US" sz="1200" dirty="0"/>
          </a:p>
        </p:txBody>
      </p:sp>
      <p:sp>
        <p:nvSpPr>
          <p:cNvPr id="20" name="Licenza"/>
          <p:cNvSpPr/>
          <p:nvPr/>
        </p:nvSpPr>
        <p:spPr>
          <a:xfrm>
            <a:off x="6766560" y="1417320"/>
            <a:ext cx="1965960" cy="1325880"/>
          </a:xfrm>
          <a:prstGeom prst="roundRect">
            <a:avLst>
              <a:gd name="adj" fmla="val 5517"/>
            </a:avLst>
          </a:prstGeom>
          <a:solidFill>
            <a:schemeClr val="bg2"/>
          </a:solidFill>
          <a:ln/>
        </p:spPr>
      </p:sp>
      <p:sp>
        <p:nvSpPr>
          <p:cNvPr id="21" name="cerchio FiFileText"/>
          <p:cNvSpPr/>
          <p:nvPr/>
        </p:nvSpPr>
        <p:spPr>
          <a:xfrm>
            <a:off x="6931152" y="1554480"/>
            <a:ext cx="457200" cy="457200"/>
          </a:xfrm>
          <a:prstGeom prst="ellipse">
            <a:avLst/>
          </a:prstGeom>
          <a:solidFill>
            <a:schemeClr val="accent1"/>
          </a:solidFill>
          <a:ln/>
        </p:spPr>
      </p:sp>
      <p:pic>
        <p:nvPicPr>
          <p:cNvPr id="22" name="Image 3" descr="FiFileText">    </p:cNvPr>
          <p:cNvPicPr>
            <a:picLocks noChangeAspect="1"/>
          </p:cNvPicPr>
          <p:nvPr/>
        </p:nvPicPr>
        <p:blipFill>
          <a:blip r:embed="rId4"/>
          <a:stretch>
            <a:fillRect/>
          </a:stretch>
        </p:blipFill>
        <p:spPr>
          <a:xfrm>
            <a:off x="7045452" y="1668780"/>
            <a:ext cx="228600" cy="228600"/>
          </a:xfrm>
          <a:prstGeom prst="rect">
            <a:avLst/>
          </a:prstGeom>
        </p:spPr>
      </p:pic>
      <p:sp>
        <p:nvSpPr>
          <p:cNvPr id="23" name="Text 16"/>
          <p:cNvSpPr txBox="1"/>
          <p:nvPr/>
        </p:nvSpPr>
        <p:spPr>
          <a:xfrm>
            <a:off x="7498080" y="1554480"/>
            <a:ext cx="1188720" cy="457200"/>
          </a:xfrm>
          <a:prstGeom prst="rect">
            <a:avLst/>
          </a:prstGeom>
          <a:noFill/>
          <a:ln/>
        </p:spPr>
        <p:txBody>
          <a:bodyPr wrap="square" lIns="0" tIns="0" rIns="0" bIns="0" rtlCol="0" anchor="ctr"/>
          <a:lstStyle/>
          <a:p>
            <a:pPr indent="0" marL="0">
              <a:buNone/>
            </a:pPr>
            <a:r>
              <a:rPr lang="en-US" sz="1500" b="1" dirty="0">
                <a:solidFill>
                  <a:schemeClr val="tx1"/>
                </a:solidFill>
              </a:rPr>
              <a:t>Licenza</a:t>
            </a:r>
            <a:endParaRPr lang="en-US" sz="1500" dirty="0"/>
          </a:p>
        </p:txBody>
      </p:sp>
      <p:sp>
        <p:nvSpPr>
          <p:cNvPr id="24" name="Text 17"/>
          <p:cNvSpPr txBox="1"/>
          <p:nvPr/>
        </p:nvSpPr>
        <p:spPr>
          <a:xfrm>
            <a:off x="6931152" y="2103120"/>
            <a:ext cx="1691640" cy="548640"/>
          </a:xfrm>
          <a:prstGeom prst="rect">
            <a:avLst/>
          </a:prstGeom>
          <a:noFill/>
          <a:ln/>
        </p:spPr>
        <p:txBody>
          <a:bodyPr wrap="square" lIns="0" tIns="0" rIns="0" bIns="0" rtlCol="0" anchor="t"/>
          <a:lstStyle/>
          <a:p>
            <a:pPr indent="0" marL="0">
              <a:buNone/>
            </a:pPr>
            <a:r>
              <a:rPr lang="en-US" sz="1200" dirty="0">
                <a:solidFill>
                  <a:schemeClr val="tx2"/>
                </a:solidFill>
              </a:rPr>
              <a:t>Che cosa si può fare e a quali condizioni</a:t>
            </a:r>
            <a:endParaRPr lang="en-US" sz="1200" dirty="0"/>
          </a:p>
        </p:txBody>
      </p:sp>
      <p:sp>
        <p:nvSpPr>
          <p:cNvPr id="25" name="scheda Open-weight"/>
          <p:cNvSpPr/>
          <p:nvPr/>
        </p:nvSpPr>
        <p:spPr>
          <a:xfrm>
            <a:off x="457200" y="2926080"/>
            <a:ext cx="3977640" cy="1600200"/>
          </a:xfrm>
          <a:prstGeom prst="roundRect">
            <a:avLst>
              <a:gd name="adj" fmla="val 4571"/>
            </a:avLst>
          </a:prstGeom>
          <a:solidFill>
            <a:schemeClr val="bg2"/>
          </a:solidFill>
          <a:ln/>
        </p:spPr>
      </p:sp>
      <p:sp>
        <p:nvSpPr>
          <p:cNvPr id="26" name="Text 19"/>
          <p:cNvSpPr txBox="1"/>
          <p:nvPr/>
        </p:nvSpPr>
        <p:spPr>
          <a:xfrm>
            <a:off x="640080" y="3108960"/>
            <a:ext cx="3611880" cy="347472"/>
          </a:xfrm>
          <a:prstGeom prst="rect">
            <a:avLst/>
          </a:prstGeom>
          <a:noFill/>
          <a:ln/>
        </p:spPr>
        <p:txBody>
          <a:bodyPr wrap="square" lIns="0" tIns="0" rIns="0" bIns="0" rtlCol="0" anchor="t"/>
          <a:lstStyle/>
          <a:p>
            <a:pPr indent="0" marL="0">
              <a:buNone/>
            </a:pPr>
            <a:r>
              <a:rPr lang="en-US" sz="1500" b="1" dirty="0">
                <a:solidFill>
                  <a:schemeClr val="tx1"/>
                </a:solidFill>
              </a:rPr>
              <a:t>Open-weight</a:t>
            </a:r>
            <a:endParaRPr lang="en-US" sz="1500" dirty="0"/>
          </a:p>
        </p:txBody>
      </p:sp>
      <p:sp>
        <p:nvSpPr>
          <p:cNvPr id="27" name="Text 20"/>
          <p:cNvSpPr txBox="1"/>
          <p:nvPr/>
        </p:nvSpPr>
        <p:spPr>
          <a:xfrm>
            <a:off x="640080" y="3493008"/>
            <a:ext cx="3611880" cy="923544"/>
          </a:xfrm>
          <a:prstGeom prst="rect">
            <a:avLst/>
          </a:prstGeom>
          <a:noFill/>
          <a:ln/>
        </p:spPr>
        <p:txBody>
          <a:bodyPr wrap="square" lIns="0" tIns="0" rIns="0" bIns="0" rtlCol="0" anchor="t"/>
          <a:lstStyle/>
          <a:p>
            <a:pPr indent="0" marL="0">
              <a:buNone/>
            </a:pPr>
            <a:r>
              <a:rPr lang="en-US" sz="1200" dirty="0">
                <a:solidFill>
                  <a:schemeClr val="tx2"/>
                </a:solidFill>
              </a:rPr>
              <a:t>Pesi disponibili; spesso non i dati né tutto il codice. La licenza può limitare usi, attribuzione, dimensione dell'azienda.</a:t>
            </a:r>
            <a:endParaRPr lang="en-US" sz="1200" dirty="0"/>
          </a:p>
        </p:txBody>
      </p:sp>
      <p:sp>
        <p:nvSpPr>
          <p:cNvPr id="28" name="scheda Open-source"/>
          <p:cNvSpPr/>
          <p:nvPr/>
        </p:nvSpPr>
        <p:spPr>
          <a:xfrm>
            <a:off x="4709160" y="2926080"/>
            <a:ext cx="3977640" cy="1600200"/>
          </a:xfrm>
          <a:prstGeom prst="roundRect">
            <a:avLst>
              <a:gd name="adj" fmla="val 4571"/>
            </a:avLst>
          </a:prstGeom>
          <a:solidFill>
            <a:schemeClr val="accent6"/>
          </a:solidFill>
          <a:ln/>
        </p:spPr>
      </p:sp>
      <p:sp>
        <p:nvSpPr>
          <p:cNvPr id="29" name="Text 22"/>
          <p:cNvSpPr txBox="1"/>
          <p:nvPr/>
        </p:nvSpPr>
        <p:spPr>
          <a:xfrm>
            <a:off x="4892040" y="3108960"/>
            <a:ext cx="3611880" cy="347472"/>
          </a:xfrm>
          <a:prstGeom prst="rect">
            <a:avLst/>
          </a:prstGeom>
          <a:noFill/>
          <a:ln/>
        </p:spPr>
        <p:txBody>
          <a:bodyPr wrap="square" lIns="0" tIns="0" rIns="0" bIns="0" rtlCol="0" anchor="t"/>
          <a:lstStyle/>
          <a:p>
            <a:pPr indent="0" marL="0">
              <a:buNone/>
            </a:pPr>
            <a:r>
              <a:rPr lang="en-US" sz="1500" b="1" dirty="0">
                <a:solidFill>
                  <a:schemeClr val="tx1"/>
                </a:solidFill>
              </a:rPr>
              <a:t>Open-source</a:t>
            </a:r>
            <a:endParaRPr lang="en-US" sz="1500" dirty="0"/>
          </a:p>
        </p:txBody>
      </p:sp>
      <p:sp>
        <p:nvSpPr>
          <p:cNvPr id="30" name="Text 23"/>
          <p:cNvSpPr txBox="1"/>
          <p:nvPr/>
        </p:nvSpPr>
        <p:spPr>
          <a:xfrm>
            <a:off x="4892040" y="3493008"/>
            <a:ext cx="3611880" cy="923544"/>
          </a:xfrm>
          <a:prstGeom prst="rect">
            <a:avLst/>
          </a:prstGeom>
          <a:noFill/>
          <a:ln/>
        </p:spPr>
        <p:txBody>
          <a:bodyPr wrap="square" lIns="0" tIns="0" rIns="0" bIns="0" rtlCol="0" anchor="t"/>
          <a:lstStyle/>
          <a:p>
            <a:pPr indent="0" marL="0">
              <a:buNone/>
            </a:pPr>
            <a:r>
              <a:rPr lang="en-US" sz="1200" dirty="0">
                <a:solidFill>
                  <a:schemeClr val="tx2"/>
                </a:solidFill>
              </a:rPr>
              <a:t>Libertà di usare, studiare, modificare, redistribuire. La definizione OSI per l'AI (2024) richiede anche informazioni sui dati e il codice.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Modelli aperti, chiusi e controllo tecnologico</a:t>
            </a:r>
            <a:endParaRPr lang="en-US" sz="2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2651760"/>
                <a:gridCol w="2011680"/>
                <a:gridCol w="1828800"/>
                <a:gridCol w="1737360"/>
              </a:tblGrid>
              <a:tr h="475488">
                <a:tc>
                  <a:txBody>
                    <a:bodyPr/>
                    <a:lstStyle/>
                    <a:p>
                      <a:pPr indent="0" marL="0">
                        <a:buNone/>
                      </a:pPr>
                      <a:r>
                        <a:rPr lang="en-US" sz="1200" b="1" dirty="0">
                          <a:solidFill>
                            <a:schemeClr val="bg1"/>
                          </a:solidFill>
                        </a:rPr>
                        <a:t>Possibilità per l'azienda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Proprietario come servizio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Open-weight</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c>
                  <a:txBody>
                    <a:bodyPr/>
                    <a:lstStyle/>
                    <a:p>
                      <a:pPr indent="0" marL="0">
                        <a:buNone/>
                      </a:pPr>
                      <a:r>
                        <a:rPr lang="en-US" sz="1200" b="1" dirty="0">
                          <a:solidFill>
                            <a:schemeClr val="bg1"/>
                          </a:solidFill>
                        </a:rPr>
                        <a:t>Open-source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r>
              <a:tr h="475488">
                <a:tc>
                  <a:txBody>
                    <a:bodyPr/>
                    <a:lstStyle/>
                    <a:p>
                      <a:pPr indent="0" marL="0">
                        <a:buNone/>
                      </a:pPr>
                      <a:r>
                        <a:rPr lang="en-US" sz="1200" b="1" dirty="0">
                          <a:solidFill>
                            <a:schemeClr val="tx1"/>
                          </a:solidFill>
                        </a:rPr>
                        <a:t>Scegliere dove sono elaborati i dati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Secondo le opzioni del fornitore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Sì</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Sì</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75488">
                <a:tc>
                  <a:txBody>
                    <a:bodyPr/>
                    <a:lstStyle/>
                    <a:p>
                      <a:pPr indent="0" marL="0">
                        <a:buNone/>
                      </a:pPr>
                      <a:r>
                        <a:rPr lang="en-US" sz="1200" b="1" dirty="0">
                          <a:solidFill>
                            <a:schemeClr val="tx1"/>
                          </a:solidFill>
                        </a:rPr>
                        <a:t>Personalizzare il modello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Nei limiti del servizio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Sì, secondo la licenza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Sì</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75488">
                <a:tc>
                  <a:txBody>
                    <a:bodyPr/>
                    <a:lstStyle/>
                    <a:p>
                      <a:pPr indent="0" marL="0">
                        <a:buNone/>
                      </a:pPr>
                      <a:r>
                        <a:rPr lang="en-US" sz="1200" b="1" dirty="0">
                          <a:solidFill>
                            <a:schemeClr val="tx1"/>
                          </a:solidFill>
                        </a:rPr>
                        <a:t>Distribuirlo nei propri prodotti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No (si usa il servizio)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Dipende dalla licenza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Sì</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75488">
                <a:tc>
                  <a:txBody>
                    <a:bodyPr/>
                    <a:lstStyle/>
                    <a:p>
                      <a:pPr indent="0" marL="0">
                        <a:buNone/>
                      </a:pPr>
                      <a:r>
                        <a:rPr lang="en-US" sz="1200" b="1" dirty="0">
                          <a:solidFill>
                            <a:schemeClr val="tx1"/>
                          </a:solidFill>
                        </a:rPr>
                        <a:t>Eseguirlo localmente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Sì</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Sì</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75488">
                <a:tc>
                  <a:txBody>
                    <a:bodyPr/>
                    <a:lstStyle/>
                    <a:p>
                      <a:pPr indent="0" marL="0">
                        <a:buNone/>
                      </a:pPr>
                      <a:r>
                        <a:rPr lang="en-US" sz="1200" b="1" dirty="0">
                          <a:solidFill>
                            <a:schemeClr val="tx1"/>
                          </a:solidFill>
                        </a:rPr>
                        <a:t>Competenze e responsabilità interne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Basse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Alte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Alte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bl>
          </a:graphicData>
        </a:graphic>
      </p:graphicFrame>
      <p:sp>
        <p:nvSpPr>
          <p:cNvPr id="5" name="messaggio"/>
          <p:cNvSpPr/>
          <p:nvPr/>
        </p:nvSpPr>
        <p:spPr>
          <a:xfrm>
            <a:off x="457200" y="4114800"/>
            <a:ext cx="8229600" cy="457200"/>
          </a:xfrm>
          <a:prstGeom prst="roundRect">
            <a:avLst>
              <a:gd name="adj" fmla="val 16000"/>
            </a:avLst>
          </a:prstGeom>
          <a:solidFill>
            <a:schemeClr val="tx1"/>
          </a:solidFill>
          <a:ln/>
        </p:spPr>
      </p:sp>
      <p:sp>
        <p:nvSpPr>
          <p:cNvPr id="6" name="Text 2"/>
          <p:cNvSpPr txBox="1"/>
          <p:nvPr/>
        </p:nvSpPr>
        <p:spPr>
          <a:xfrm>
            <a:off x="640080" y="4114800"/>
            <a:ext cx="7863840" cy="457200"/>
          </a:xfrm>
          <a:prstGeom prst="rect">
            <a:avLst/>
          </a:prstGeom>
          <a:noFill/>
          <a:ln/>
        </p:spPr>
        <p:txBody>
          <a:bodyPr wrap="square" lIns="0" tIns="0" rIns="0" bIns="0" rtlCol="0" anchor="ctr"/>
          <a:lstStyle/>
          <a:p>
            <a:pPr indent="0" marL="0">
              <a:buNone/>
            </a:pPr>
            <a:r>
              <a:rPr lang="en-US" sz="1300" dirty="0">
                <a:solidFill>
                  <a:schemeClr val="bg1"/>
                </a:solidFill>
              </a:rPr>
              <a:t>Più controllo significa anche più responsabilità e più competenze necessarie.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Modelli differenti rispondono a esigenze differenti; non esiste un unico modello migliore per qualunque attività.</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4.2  ·  Le principali famiglie di modelli AI</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4.3</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Le principali piattaforme e gli strumenti AI</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Prodotti dall'interfaccia simile possono offrire capacità, integrazioni, controlli e condizioni molto diversi</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Gli assistenti AI generalisti</a:t>
            </a:r>
            <a:endParaRPr lang="en-US" sz="2600" dirty="0"/>
          </a:p>
        </p:txBody>
      </p:sp>
      <p:sp>
        <p:nvSpPr>
          <p:cNvPr id="4" name="ChatGPT"/>
          <p:cNvSpPr/>
          <p:nvPr/>
        </p:nvSpPr>
        <p:spPr>
          <a:xfrm>
            <a:off x="457200" y="1097280"/>
            <a:ext cx="1965960" cy="2514600"/>
          </a:xfrm>
          <a:prstGeom prst="roundRect">
            <a:avLst>
              <a:gd name="adj" fmla="val 3721"/>
            </a:avLst>
          </a:prstGeom>
          <a:solidFill>
            <a:schemeClr val="bg2"/>
          </a:solidFill>
          <a:ln/>
        </p:spPr>
      </p:sp>
      <p:sp>
        <p:nvSpPr>
          <p:cNvPr id="5" name="cerchio FiMessageSquare"/>
          <p:cNvSpPr/>
          <p:nvPr/>
        </p:nvSpPr>
        <p:spPr>
          <a:xfrm>
            <a:off x="621792" y="1261872"/>
            <a:ext cx="457200" cy="457200"/>
          </a:xfrm>
          <a:prstGeom prst="ellipse">
            <a:avLst/>
          </a:prstGeom>
          <a:solidFill>
            <a:schemeClr val="accent1"/>
          </a:solidFill>
          <a:ln/>
        </p:spPr>
      </p:sp>
      <p:pic>
        <p:nvPicPr>
          <p:cNvPr id="6" name="Image 0" descr="FiMessageSquare">    </p:cNvPr>
          <p:cNvPicPr>
            <a:picLocks noChangeAspect="1"/>
          </p:cNvPicPr>
          <p:nvPr/>
        </p:nvPicPr>
        <p:blipFill>
          <a:blip r:embed="rId1"/>
          <a:stretch>
            <a:fillRect/>
          </a:stretch>
        </p:blipFill>
        <p:spPr>
          <a:xfrm>
            <a:off x="736092" y="1376172"/>
            <a:ext cx="228600" cy="228600"/>
          </a:xfrm>
          <a:prstGeom prst="rect">
            <a:avLst/>
          </a:prstGeom>
        </p:spPr>
      </p:pic>
      <p:sp>
        <p:nvSpPr>
          <p:cNvPr id="7" name="Text 3"/>
          <p:cNvSpPr txBox="1"/>
          <p:nvPr/>
        </p:nvSpPr>
        <p:spPr>
          <a:xfrm>
            <a:off x="621792" y="1828800"/>
            <a:ext cx="1691640" cy="365760"/>
          </a:xfrm>
          <a:prstGeom prst="rect">
            <a:avLst/>
          </a:prstGeom>
          <a:noFill/>
          <a:ln/>
        </p:spPr>
        <p:txBody>
          <a:bodyPr wrap="square" lIns="0" tIns="0" rIns="0" bIns="0" rtlCol="0" anchor="t"/>
          <a:lstStyle/>
          <a:p>
            <a:pPr indent="0" marL="0">
              <a:buNone/>
            </a:pPr>
            <a:r>
              <a:rPr lang="en-US" sz="1700" b="1" dirty="0">
                <a:solidFill>
                  <a:schemeClr val="tx1"/>
                </a:solidFill>
              </a:rPr>
              <a:t>ChatGPT</a:t>
            </a:r>
            <a:endParaRPr lang="en-US" sz="1700" dirty="0"/>
          </a:p>
        </p:txBody>
      </p:sp>
      <p:sp>
        <p:nvSpPr>
          <p:cNvPr id="8" name="Text 4"/>
          <p:cNvSpPr txBox="1"/>
          <p:nvPr/>
        </p:nvSpPr>
        <p:spPr>
          <a:xfrm>
            <a:off x="621792" y="2194560"/>
            <a:ext cx="1691640" cy="274320"/>
          </a:xfrm>
          <a:prstGeom prst="rect">
            <a:avLst/>
          </a:prstGeom>
          <a:noFill/>
          <a:ln/>
        </p:spPr>
        <p:txBody>
          <a:bodyPr wrap="square" lIns="0" tIns="0" rIns="0" bIns="0" rtlCol="0" anchor="t"/>
          <a:lstStyle/>
          <a:p>
            <a:pPr indent="0" marL="0">
              <a:buNone/>
            </a:pPr>
            <a:r>
              <a:rPr lang="en-US" sz="1200" b="1" dirty="0">
                <a:solidFill>
                  <a:schemeClr val="accent1"/>
                </a:solidFill>
              </a:rPr>
              <a:t>OpenAI</a:t>
            </a:r>
            <a:endParaRPr lang="en-US" sz="1200" dirty="0"/>
          </a:p>
        </p:txBody>
      </p:sp>
      <p:sp>
        <p:nvSpPr>
          <p:cNvPr id="9" name="Text 5"/>
          <p:cNvSpPr txBox="1"/>
          <p:nvPr/>
        </p:nvSpPr>
        <p:spPr>
          <a:xfrm>
            <a:off x="621792" y="2514600"/>
            <a:ext cx="1691640" cy="1005840"/>
          </a:xfrm>
          <a:prstGeom prst="rect">
            <a:avLst/>
          </a:prstGeom>
          <a:noFill/>
          <a:ln/>
        </p:spPr>
        <p:txBody>
          <a:bodyPr wrap="square" lIns="0" tIns="0" rIns="0" bIns="0" rtlCol="0" anchor="t"/>
          <a:lstStyle/>
          <a:p>
            <a:pPr indent="0" marL="0">
              <a:buNone/>
            </a:pPr>
            <a:r>
              <a:rPr lang="en-US" sz="1200" dirty="0">
                <a:solidFill>
                  <a:schemeClr val="tx2"/>
                </a:solidFill>
              </a:rPr>
              <a:t>L'assistente che ha portato l'AI generativa al grande pubblico</a:t>
            </a:r>
            <a:endParaRPr lang="en-US" sz="1200" dirty="0"/>
          </a:p>
        </p:txBody>
      </p:sp>
      <p:sp>
        <p:nvSpPr>
          <p:cNvPr id="10" name="Claude"/>
          <p:cNvSpPr/>
          <p:nvPr/>
        </p:nvSpPr>
        <p:spPr>
          <a:xfrm>
            <a:off x="2560320" y="1097280"/>
            <a:ext cx="1965960" cy="2514600"/>
          </a:xfrm>
          <a:prstGeom prst="roundRect">
            <a:avLst>
              <a:gd name="adj" fmla="val 3721"/>
            </a:avLst>
          </a:prstGeom>
          <a:solidFill>
            <a:schemeClr val="bg2"/>
          </a:solidFill>
          <a:ln/>
        </p:spPr>
      </p:sp>
      <p:sp>
        <p:nvSpPr>
          <p:cNvPr id="11" name="cerchio FiMessageSquare"/>
          <p:cNvSpPr/>
          <p:nvPr/>
        </p:nvSpPr>
        <p:spPr>
          <a:xfrm>
            <a:off x="2724912" y="1261872"/>
            <a:ext cx="457200" cy="457200"/>
          </a:xfrm>
          <a:prstGeom prst="ellipse">
            <a:avLst/>
          </a:prstGeom>
          <a:solidFill>
            <a:schemeClr val="accent1"/>
          </a:solidFill>
          <a:ln/>
        </p:spPr>
      </p:sp>
      <p:pic>
        <p:nvPicPr>
          <p:cNvPr id="12" name="Image 1" descr="FiMessageSquare">    </p:cNvPr>
          <p:cNvPicPr>
            <a:picLocks noChangeAspect="1"/>
          </p:cNvPicPr>
          <p:nvPr/>
        </p:nvPicPr>
        <p:blipFill>
          <a:blip r:embed="rId2"/>
          <a:stretch>
            <a:fillRect/>
          </a:stretch>
        </p:blipFill>
        <p:spPr>
          <a:xfrm>
            <a:off x="2839212" y="1376172"/>
            <a:ext cx="228600" cy="228600"/>
          </a:xfrm>
          <a:prstGeom prst="rect">
            <a:avLst/>
          </a:prstGeom>
        </p:spPr>
      </p:pic>
      <p:sp>
        <p:nvSpPr>
          <p:cNvPr id="13" name="Text 8"/>
          <p:cNvSpPr txBox="1"/>
          <p:nvPr/>
        </p:nvSpPr>
        <p:spPr>
          <a:xfrm>
            <a:off x="2724912" y="1828800"/>
            <a:ext cx="1691640" cy="365760"/>
          </a:xfrm>
          <a:prstGeom prst="rect">
            <a:avLst/>
          </a:prstGeom>
          <a:noFill/>
          <a:ln/>
        </p:spPr>
        <p:txBody>
          <a:bodyPr wrap="square" lIns="0" tIns="0" rIns="0" bIns="0" rtlCol="0" anchor="t"/>
          <a:lstStyle/>
          <a:p>
            <a:pPr indent="0" marL="0">
              <a:buNone/>
            </a:pPr>
            <a:r>
              <a:rPr lang="en-US" sz="1700" b="1" dirty="0">
                <a:solidFill>
                  <a:schemeClr val="tx1"/>
                </a:solidFill>
              </a:rPr>
              <a:t>Claude</a:t>
            </a:r>
            <a:endParaRPr lang="en-US" sz="1700" dirty="0"/>
          </a:p>
        </p:txBody>
      </p:sp>
      <p:sp>
        <p:nvSpPr>
          <p:cNvPr id="14" name="Text 9"/>
          <p:cNvSpPr txBox="1"/>
          <p:nvPr/>
        </p:nvSpPr>
        <p:spPr>
          <a:xfrm>
            <a:off x="2724912" y="2194560"/>
            <a:ext cx="1691640" cy="274320"/>
          </a:xfrm>
          <a:prstGeom prst="rect">
            <a:avLst/>
          </a:prstGeom>
          <a:noFill/>
          <a:ln/>
        </p:spPr>
        <p:txBody>
          <a:bodyPr wrap="square" lIns="0" tIns="0" rIns="0" bIns="0" rtlCol="0" anchor="t"/>
          <a:lstStyle/>
          <a:p>
            <a:pPr indent="0" marL="0">
              <a:buNone/>
            </a:pPr>
            <a:r>
              <a:rPr lang="en-US" sz="1200" b="1" dirty="0">
                <a:solidFill>
                  <a:schemeClr val="accent1"/>
                </a:solidFill>
              </a:rPr>
              <a:t>Anthropic</a:t>
            </a:r>
            <a:endParaRPr lang="en-US" sz="1200" dirty="0"/>
          </a:p>
        </p:txBody>
      </p:sp>
      <p:sp>
        <p:nvSpPr>
          <p:cNvPr id="15" name="Text 10"/>
          <p:cNvSpPr txBox="1"/>
          <p:nvPr/>
        </p:nvSpPr>
        <p:spPr>
          <a:xfrm>
            <a:off x="2724912" y="2514600"/>
            <a:ext cx="1691640" cy="1005840"/>
          </a:xfrm>
          <a:prstGeom prst="rect">
            <a:avLst/>
          </a:prstGeom>
          <a:noFill/>
          <a:ln/>
        </p:spPr>
        <p:txBody>
          <a:bodyPr wrap="square" lIns="0" tIns="0" rIns="0" bIns="0" rtlCol="0" anchor="t"/>
          <a:lstStyle/>
          <a:p>
            <a:pPr indent="0" marL="0">
              <a:buNone/>
            </a:pPr>
            <a:r>
              <a:rPr lang="en-US" sz="1200" dirty="0">
                <a:solidFill>
                  <a:schemeClr val="tx2"/>
                </a:solidFill>
              </a:rPr>
              <a:t>Assistente generalista, disponibile via web, app e API</a:t>
            </a:r>
            <a:endParaRPr lang="en-US" sz="1200" dirty="0"/>
          </a:p>
        </p:txBody>
      </p:sp>
      <p:sp>
        <p:nvSpPr>
          <p:cNvPr id="16" name="Gemini"/>
          <p:cNvSpPr/>
          <p:nvPr/>
        </p:nvSpPr>
        <p:spPr>
          <a:xfrm>
            <a:off x="4663440" y="1097280"/>
            <a:ext cx="1965960" cy="2514600"/>
          </a:xfrm>
          <a:prstGeom prst="roundRect">
            <a:avLst>
              <a:gd name="adj" fmla="val 3721"/>
            </a:avLst>
          </a:prstGeom>
          <a:solidFill>
            <a:schemeClr val="bg2"/>
          </a:solidFill>
          <a:ln/>
        </p:spPr>
      </p:sp>
      <p:sp>
        <p:nvSpPr>
          <p:cNvPr id="17" name="cerchio FiMessageSquare"/>
          <p:cNvSpPr/>
          <p:nvPr/>
        </p:nvSpPr>
        <p:spPr>
          <a:xfrm>
            <a:off x="4828032" y="1261872"/>
            <a:ext cx="457200" cy="457200"/>
          </a:xfrm>
          <a:prstGeom prst="ellipse">
            <a:avLst/>
          </a:prstGeom>
          <a:solidFill>
            <a:schemeClr val="accent1"/>
          </a:solidFill>
          <a:ln/>
        </p:spPr>
      </p:sp>
      <p:pic>
        <p:nvPicPr>
          <p:cNvPr id="18" name="Image 2" descr="FiMessageSquare">    </p:cNvPr>
          <p:cNvPicPr>
            <a:picLocks noChangeAspect="1"/>
          </p:cNvPicPr>
          <p:nvPr/>
        </p:nvPicPr>
        <p:blipFill>
          <a:blip r:embed="rId3"/>
          <a:stretch>
            <a:fillRect/>
          </a:stretch>
        </p:blipFill>
        <p:spPr>
          <a:xfrm>
            <a:off x="4942332" y="1376172"/>
            <a:ext cx="228600" cy="228600"/>
          </a:xfrm>
          <a:prstGeom prst="rect">
            <a:avLst/>
          </a:prstGeom>
        </p:spPr>
      </p:pic>
      <p:sp>
        <p:nvSpPr>
          <p:cNvPr id="19" name="Text 13"/>
          <p:cNvSpPr txBox="1"/>
          <p:nvPr/>
        </p:nvSpPr>
        <p:spPr>
          <a:xfrm>
            <a:off x="4828032" y="1828800"/>
            <a:ext cx="1691640" cy="365760"/>
          </a:xfrm>
          <a:prstGeom prst="rect">
            <a:avLst/>
          </a:prstGeom>
          <a:noFill/>
          <a:ln/>
        </p:spPr>
        <p:txBody>
          <a:bodyPr wrap="square" lIns="0" tIns="0" rIns="0" bIns="0" rtlCol="0" anchor="t"/>
          <a:lstStyle/>
          <a:p>
            <a:pPr indent="0" marL="0">
              <a:buNone/>
            </a:pPr>
            <a:r>
              <a:rPr lang="en-US" sz="1700" b="1" dirty="0">
                <a:solidFill>
                  <a:schemeClr val="tx1"/>
                </a:solidFill>
              </a:rPr>
              <a:t>Gemini</a:t>
            </a:r>
            <a:endParaRPr lang="en-US" sz="1700" dirty="0"/>
          </a:p>
        </p:txBody>
      </p:sp>
      <p:sp>
        <p:nvSpPr>
          <p:cNvPr id="20" name="Text 14"/>
          <p:cNvSpPr txBox="1"/>
          <p:nvPr/>
        </p:nvSpPr>
        <p:spPr>
          <a:xfrm>
            <a:off x="4828032" y="2194560"/>
            <a:ext cx="1691640" cy="274320"/>
          </a:xfrm>
          <a:prstGeom prst="rect">
            <a:avLst/>
          </a:prstGeom>
          <a:noFill/>
          <a:ln/>
        </p:spPr>
        <p:txBody>
          <a:bodyPr wrap="square" lIns="0" tIns="0" rIns="0" bIns="0" rtlCol="0" anchor="t"/>
          <a:lstStyle/>
          <a:p>
            <a:pPr indent="0" marL="0">
              <a:buNone/>
            </a:pPr>
            <a:r>
              <a:rPr lang="en-US" sz="1200" b="1" dirty="0">
                <a:solidFill>
                  <a:schemeClr val="accent1"/>
                </a:solidFill>
              </a:rPr>
              <a:t>Google</a:t>
            </a:r>
            <a:endParaRPr lang="en-US" sz="1200" dirty="0"/>
          </a:p>
        </p:txBody>
      </p:sp>
      <p:sp>
        <p:nvSpPr>
          <p:cNvPr id="21" name="Text 15"/>
          <p:cNvSpPr txBox="1"/>
          <p:nvPr/>
        </p:nvSpPr>
        <p:spPr>
          <a:xfrm>
            <a:off x="4828032" y="2514600"/>
            <a:ext cx="1691640" cy="1005840"/>
          </a:xfrm>
          <a:prstGeom prst="rect">
            <a:avLst/>
          </a:prstGeom>
          <a:noFill/>
          <a:ln/>
        </p:spPr>
        <p:txBody>
          <a:bodyPr wrap="square" lIns="0" tIns="0" rIns="0" bIns="0" rtlCol="0" anchor="t"/>
          <a:lstStyle/>
          <a:p>
            <a:pPr indent="0" marL="0">
              <a:buNone/>
            </a:pPr>
            <a:r>
              <a:rPr lang="en-US" sz="1200" dirty="0">
                <a:solidFill>
                  <a:schemeClr val="tx2"/>
                </a:solidFill>
              </a:rPr>
              <a:t>Integrato anche nei servizi e nella suite di produttività Google</a:t>
            </a:r>
            <a:endParaRPr lang="en-US" sz="1200" dirty="0"/>
          </a:p>
        </p:txBody>
      </p:sp>
      <p:sp>
        <p:nvSpPr>
          <p:cNvPr id="22" name="Copilot"/>
          <p:cNvSpPr/>
          <p:nvPr/>
        </p:nvSpPr>
        <p:spPr>
          <a:xfrm>
            <a:off x="6766560" y="1097280"/>
            <a:ext cx="1965960" cy="2514600"/>
          </a:xfrm>
          <a:prstGeom prst="roundRect">
            <a:avLst>
              <a:gd name="adj" fmla="val 3721"/>
            </a:avLst>
          </a:prstGeom>
          <a:solidFill>
            <a:schemeClr val="bg2"/>
          </a:solidFill>
          <a:ln/>
        </p:spPr>
      </p:sp>
      <p:sp>
        <p:nvSpPr>
          <p:cNvPr id="23" name="cerchio FiMessageSquare"/>
          <p:cNvSpPr/>
          <p:nvPr/>
        </p:nvSpPr>
        <p:spPr>
          <a:xfrm>
            <a:off x="6931152" y="1261872"/>
            <a:ext cx="457200" cy="457200"/>
          </a:xfrm>
          <a:prstGeom prst="ellipse">
            <a:avLst/>
          </a:prstGeom>
          <a:solidFill>
            <a:schemeClr val="accent1"/>
          </a:solidFill>
          <a:ln/>
        </p:spPr>
      </p:sp>
      <p:pic>
        <p:nvPicPr>
          <p:cNvPr id="24" name="Image 3" descr="FiMessageSquare">    </p:cNvPr>
          <p:cNvPicPr>
            <a:picLocks noChangeAspect="1"/>
          </p:cNvPicPr>
          <p:nvPr/>
        </p:nvPicPr>
        <p:blipFill>
          <a:blip r:embed="rId4"/>
          <a:stretch>
            <a:fillRect/>
          </a:stretch>
        </p:blipFill>
        <p:spPr>
          <a:xfrm>
            <a:off x="7045452" y="1376172"/>
            <a:ext cx="228600" cy="228600"/>
          </a:xfrm>
          <a:prstGeom prst="rect">
            <a:avLst/>
          </a:prstGeom>
        </p:spPr>
      </p:pic>
      <p:sp>
        <p:nvSpPr>
          <p:cNvPr id="25" name="Text 18"/>
          <p:cNvSpPr txBox="1"/>
          <p:nvPr/>
        </p:nvSpPr>
        <p:spPr>
          <a:xfrm>
            <a:off x="6931152" y="1828800"/>
            <a:ext cx="1691640" cy="365760"/>
          </a:xfrm>
          <a:prstGeom prst="rect">
            <a:avLst/>
          </a:prstGeom>
          <a:noFill/>
          <a:ln/>
        </p:spPr>
        <p:txBody>
          <a:bodyPr wrap="square" lIns="0" tIns="0" rIns="0" bIns="0" rtlCol="0" anchor="t"/>
          <a:lstStyle/>
          <a:p>
            <a:pPr indent="0" marL="0">
              <a:buNone/>
            </a:pPr>
            <a:r>
              <a:rPr lang="en-US" sz="1700" b="1" dirty="0">
                <a:solidFill>
                  <a:schemeClr val="tx1"/>
                </a:solidFill>
              </a:rPr>
              <a:t>Copilot</a:t>
            </a:r>
            <a:endParaRPr lang="en-US" sz="1700" dirty="0"/>
          </a:p>
        </p:txBody>
      </p:sp>
      <p:sp>
        <p:nvSpPr>
          <p:cNvPr id="26" name="Text 19"/>
          <p:cNvSpPr txBox="1"/>
          <p:nvPr/>
        </p:nvSpPr>
        <p:spPr>
          <a:xfrm>
            <a:off x="6931152" y="2194560"/>
            <a:ext cx="1691640" cy="274320"/>
          </a:xfrm>
          <a:prstGeom prst="rect">
            <a:avLst/>
          </a:prstGeom>
          <a:noFill/>
          <a:ln/>
        </p:spPr>
        <p:txBody>
          <a:bodyPr wrap="square" lIns="0" tIns="0" rIns="0" bIns="0" rtlCol="0" anchor="t"/>
          <a:lstStyle/>
          <a:p>
            <a:pPr indent="0" marL="0">
              <a:buNone/>
            </a:pPr>
            <a:r>
              <a:rPr lang="en-US" sz="1200" b="1" dirty="0">
                <a:solidFill>
                  <a:schemeClr val="accent1"/>
                </a:solidFill>
              </a:rPr>
              <a:t>Microsoft</a:t>
            </a:r>
            <a:endParaRPr lang="en-US" sz="1200" dirty="0"/>
          </a:p>
        </p:txBody>
      </p:sp>
      <p:sp>
        <p:nvSpPr>
          <p:cNvPr id="27" name="Text 20"/>
          <p:cNvSpPr txBox="1"/>
          <p:nvPr/>
        </p:nvSpPr>
        <p:spPr>
          <a:xfrm>
            <a:off x="6931152" y="2514600"/>
            <a:ext cx="1691640" cy="1005840"/>
          </a:xfrm>
          <a:prstGeom prst="rect">
            <a:avLst/>
          </a:prstGeom>
          <a:noFill/>
          <a:ln/>
        </p:spPr>
        <p:txBody>
          <a:bodyPr wrap="square" lIns="0" tIns="0" rIns="0" bIns="0" rtlCol="0" anchor="t"/>
          <a:lstStyle/>
          <a:p>
            <a:pPr indent="0" marL="0">
              <a:buNone/>
            </a:pPr>
            <a:r>
              <a:rPr lang="en-US" sz="1200" dirty="0">
                <a:solidFill>
                  <a:schemeClr val="tx2"/>
                </a:solidFill>
              </a:rPr>
              <a:t>Assistente e funzioni AI integrate in Microsoft 365 e altri prodotti</a:t>
            </a:r>
            <a:endParaRPr lang="en-US" sz="1200" dirty="0"/>
          </a:p>
        </p:txBody>
      </p:sp>
      <p:sp>
        <p:nvSpPr>
          <p:cNvPr id="28" name="messaggio"/>
          <p:cNvSpPr/>
          <p:nvPr/>
        </p:nvSpPr>
        <p:spPr>
          <a:xfrm>
            <a:off x="457200" y="3794760"/>
            <a:ext cx="8229600" cy="731520"/>
          </a:xfrm>
          <a:prstGeom prst="roundRect">
            <a:avLst>
              <a:gd name="adj" fmla="val 10000"/>
            </a:avLst>
          </a:prstGeom>
          <a:solidFill>
            <a:schemeClr val="tx1"/>
          </a:solidFill>
          <a:ln/>
        </p:spPr>
      </p:sp>
      <p:sp>
        <p:nvSpPr>
          <p:cNvPr id="29" name="Text 22"/>
          <p:cNvSpPr txBox="1"/>
          <p:nvPr/>
        </p:nvSpPr>
        <p:spPr>
          <a:xfrm>
            <a:off x="640080" y="3794760"/>
            <a:ext cx="7863840" cy="731520"/>
          </a:xfrm>
          <a:prstGeom prst="rect">
            <a:avLst/>
          </a:prstGeom>
          <a:noFill/>
          <a:ln/>
        </p:spPr>
        <p:txBody>
          <a:bodyPr wrap="square" lIns="0" tIns="0" rIns="0" bIns="0" rtlCol="0" anchor="ctr"/>
          <a:lstStyle/>
          <a:p>
            <a:pPr indent="0" marL="0">
              <a:buNone/>
            </a:pPr>
            <a:r>
              <a:rPr lang="en-US" sz="1300" dirty="0">
                <a:solidFill>
                  <a:schemeClr val="bg1"/>
                </a:solidFill>
              </a:rPr>
              <a:t>Esempi indicativi, non una classifica. Nomi, funzioni e disponibilità vanno verificati prima di ogni sessione.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Le categorie di strumenti</a:t>
            </a:r>
            <a:endParaRPr lang="en-US" sz="2600" dirty="0"/>
          </a:p>
        </p:txBody>
      </p:sp>
      <p:sp>
        <p:nvSpPr>
          <p:cNvPr id="4" name="Assistenti generalisti"/>
          <p:cNvSpPr/>
          <p:nvPr/>
        </p:nvSpPr>
        <p:spPr>
          <a:xfrm>
            <a:off x="457200" y="1097280"/>
            <a:ext cx="2621280" cy="1554480"/>
          </a:xfrm>
          <a:prstGeom prst="roundRect">
            <a:avLst>
              <a:gd name="adj" fmla="val 4706"/>
            </a:avLst>
          </a:prstGeom>
          <a:solidFill>
            <a:schemeClr val="bg2"/>
          </a:solidFill>
          <a:ln/>
        </p:spPr>
      </p:sp>
      <p:sp>
        <p:nvSpPr>
          <p:cNvPr id="5" name="cerchio FiMessageSquare"/>
          <p:cNvSpPr/>
          <p:nvPr/>
        </p:nvSpPr>
        <p:spPr>
          <a:xfrm>
            <a:off x="621792" y="1261872"/>
            <a:ext cx="438912" cy="438912"/>
          </a:xfrm>
          <a:prstGeom prst="ellipse">
            <a:avLst/>
          </a:prstGeom>
          <a:solidFill>
            <a:schemeClr val="accent1"/>
          </a:solidFill>
          <a:ln/>
        </p:spPr>
      </p:sp>
      <p:pic>
        <p:nvPicPr>
          <p:cNvPr id="6" name="Image 0" descr="FiMessageSquare">    </p:cNvPr>
          <p:cNvPicPr>
            <a:picLocks noChangeAspect="1"/>
          </p:cNvPicPr>
          <p:nvPr/>
        </p:nvPicPr>
        <p:blipFill>
          <a:blip r:embed="rId1"/>
          <a:stretch>
            <a:fillRect/>
          </a:stretch>
        </p:blipFill>
        <p:spPr>
          <a:xfrm>
            <a:off x="731520" y="1371600"/>
            <a:ext cx="219456" cy="219456"/>
          </a:xfrm>
          <a:prstGeom prst="rect">
            <a:avLst/>
          </a:prstGeom>
        </p:spPr>
      </p:pic>
      <p:sp>
        <p:nvSpPr>
          <p:cNvPr id="7" name="Text 3"/>
          <p:cNvSpPr txBox="1"/>
          <p:nvPr/>
        </p:nvSpPr>
        <p:spPr>
          <a:xfrm>
            <a:off x="1170432" y="1225296"/>
            <a:ext cx="1798320" cy="512064"/>
          </a:xfrm>
          <a:prstGeom prst="rect">
            <a:avLst/>
          </a:prstGeom>
          <a:noFill/>
          <a:ln/>
        </p:spPr>
        <p:txBody>
          <a:bodyPr wrap="square" lIns="0" tIns="0" rIns="0" bIns="0" rtlCol="0" anchor="ctr"/>
          <a:lstStyle/>
          <a:p>
            <a:pPr indent="0" marL="0">
              <a:buNone/>
            </a:pPr>
            <a:r>
              <a:rPr lang="en-US" sz="1400" b="1" dirty="0">
                <a:solidFill>
                  <a:schemeClr val="tx1"/>
                </a:solidFill>
              </a:rPr>
              <a:t>Assistenti generalisti</a:t>
            </a:r>
            <a:endParaRPr lang="en-US" sz="1400" dirty="0"/>
          </a:p>
        </p:txBody>
      </p:sp>
      <p:sp>
        <p:nvSpPr>
          <p:cNvPr id="8" name="Text 4"/>
          <p:cNvSpPr txBox="1"/>
          <p:nvPr/>
        </p:nvSpPr>
        <p:spPr>
          <a:xfrm>
            <a:off x="621792" y="1810512"/>
            <a:ext cx="2292096" cy="749808"/>
          </a:xfrm>
          <a:prstGeom prst="rect">
            <a:avLst/>
          </a:prstGeom>
          <a:noFill/>
          <a:ln/>
        </p:spPr>
        <p:txBody>
          <a:bodyPr wrap="square" lIns="0" tIns="0" rIns="0" bIns="0" rtlCol="0" anchor="t"/>
          <a:lstStyle/>
          <a:p>
            <a:pPr indent="0" marL="0">
              <a:buNone/>
            </a:pPr>
            <a:r>
              <a:rPr lang="en-US" sz="1200" dirty="0">
                <a:solidFill>
                  <a:schemeClr val="tx2"/>
                </a:solidFill>
              </a:rPr>
              <a:t>Conversazione per compiti molto diversi</a:t>
            </a:r>
            <a:endParaRPr lang="en-US" sz="1200" dirty="0"/>
          </a:p>
        </p:txBody>
      </p:sp>
      <p:sp>
        <p:nvSpPr>
          <p:cNvPr id="9" name="Ricerca e analisi"/>
          <p:cNvSpPr/>
          <p:nvPr/>
        </p:nvSpPr>
        <p:spPr>
          <a:xfrm>
            <a:off x="3261360" y="1097280"/>
            <a:ext cx="2621280" cy="1554480"/>
          </a:xfrm>
          <a:prstGeom prst="roundRect">
            <a:avLst>
              <a:gd name="adj" fmla="val 4706"/>
            </a:avLst>
          </a:prstGeom>
          <a:solidFill>
            <a:schemeClr val="bg2"/>
          </a:solidFill>
          <a:ln/>
        </p:spPr>
      </p:sp>
      <p:sp>
        <p:nvSpPr>
          <p:cNvPr id="10" name="cerchio FiSearch"/>
          <p:cNvSpPr/>
          <p:nvPr/>
        </p:nvSpPr>
        <p:spPr>
          <a:xfrm>
            <a:off x="3425952" y="1261872"/>
            <a:ext cx="438912" cy="438912"/>
          </a:xfrm>
          <a:prstGeom prst="ellipse">
            <a:avLst/>
          </a:prstGeom>
          <a:solidFill>
            <a:schemeClr val="accent1"/>
          </a:solidFill>
          <a:ln/>
        </p:spPr>
      </p:sp>
      <p:pic>
        <p:nvPicPr>
          <p:cNvPr id="11" name="Image 1" descr="FiSearch">    </p:cNvPr>
          <p:cNvPicPr>
            <a:picLocks noChangeAspect="1"/>
          </p:cNvPicPr>
          <p:nvPr/>
        </p:nvPicPr>
        <p:blipFill>
          <a:blip r:embed="rId2"/>
          <a:stretch>
            <a:fillRect/>
          </a:stretch>
        </p:blipFill>
        <p:spPr>
          <a:xfrm>
            <a:off x="3535680" y="1371600"/>
            <a:ext cx="219456" cy="219456"/>
          </a:xfrm>
          <a:prstGeom prst="rect">
            <a:avLst/>
          </a:prstGeom>
        </p:spPr>
      </p:pic>
      <p:sp>
        <p:nvSpPr>
          <p:cNvPr id="12" name="Text 7"/>
          <p:cNvSpPr txBox="1"/>
          <p:nvPr/>
        </p:nvSpPr>
        <p:spPr>
          <a:xfrm>
            <a:off x="3974592" y="1225296"/>
            <a:ext cx="1798320" cy="512064"/>
          </a:xfrm>
          <a:prstGeom prst="rect">
            <a:avLst/>
          </a:prstGeom>
          <a:noFill/>
          <a:ln/>
        </p:spPr>
        <p:txBody>
          <a:bodyPr wrap="square" lIns="0" tIns="0" rIns="0" bIns="0" rtlCol="0" anchor="ctr"/>
          <a:lstStyle/>
          <a:p>
            <a:pPr indent="0" marL="0">
              <a:buNone/>
            </a:pPr>
            <a:r>
              <a:rPr lang="en-US" sz="1400" b="1" dirty="0">
                <a:solidFill>
                  <a:schemeClr val="tx1"/>
                </a:solidFill>
              </a:rPr>
              <a:t>Ricerca e analisi</a:t>
            </a:r>
            <a:endParaRPr lang="en-US" sz="1400" dirty="0"/>
          </a:p>
        </p:txBody>
      </p:sp>
      <p:sp>
        <p:nvSpPr>
          <p:cNvPr id="13" name="Text 8"/>
          <p:cNvSpPr txBox="1"/>
          <p:nvPr/>
        </p:nvSpPr>
        <p:spPr>
          <a:xfrm>
            <a:off x="3425952" y="1810512"/>
            <a:ext cx="2292096" cy="749808"/>
          </a:xfrm>
          <a:prstGeom prst="rect">
            <a:avLst/>
          </a:prstGeom>
          <a:noFill/>
          <a:ln/>
        </p:spPr>
        <p:txBody>
          <a:bodyPr wrap="square" lIns="0" tIns="0" rIns="0" bIns="0" rtlCol="0" anchor="t"/>
          <a:lstStyle/>
          <a:p>
            <a:pPr indent="0" marL="0">
              <a:buNone/>
            </a:pPr>
            <a:r>
              <a:rPr lang="en-US" sz="1200" dirty="0">
                <a:solidFill>
                  <a:schemeClr val="tx2"/>
                </a:solidFill>
              </a:rPr>
              <a:t>Risposte con fonti, analisi di documenti e dati, ricerca approfondita</a:t>
            </a:r>
            <a:endParaRPr lang="en-US" sz="1200" dirty="0"/>
          </a:p>
        </p:txBody>
      </p:sp>
      <p:sp>
        <p:nvSpPr>
          <p:cNvPr id="14" name="Produttività"/>
          <p:cNvSpPr/>
          <p:nvPr/>
        </p:nvSpPr>
        <p:spPr>
          <a:xfrm>
            <a:off x="6065520" y="1097280"/>
            <a:ext cx="2621280" cy="1554480"/>
          </a:xfrm>
          <a:prstGeom prst="roundRect">
            <a:avLst>
              <a:gd name="adj" fmla="val 4706"/>
            </a:avLst>
          </a:prstGeom>
          <a:solidFill>
            <a:schemeClr val="bg2"/>
          </a:solidFill>
          <a:ln/>
        </p:spPr>
      </p:sp>
      <p:sp>
        <p:nvSpPr>
          <p:cNvPr id="15" name="cerchio FiBriefcase"/>
          <p:cNvSpPr/>
          <p:nvPr/>
        </p:nvSpPr>
        <p:spPr>
          <a:xfrm>
            <a:off x="6230112" y="1261872"/>
            <a:ext cx="438912" cy="438912"/>
          </a:xfrm>
          <a:prstGeom prst="ellipse">
            <a:avLst/>
          </a:prstGeom>
          <a:solidFill>
            <a:schemeClr val="accent1"/>
          </a:solidFill>
          <a:ln/>
        </p:spPr>
      </p:sp>
      <p:pic>
        <p:nvPicPr>
          <p:cNvPr id="16" name="Image 2" descr="FiBriefcase">    </p:cNvPr>
          <p:cNvPicPr>
            <a:picLocks noChangeAspect="1"/>
          </p:cNvPicPr>
          <p:nvPr/>
        </p:nvPicPr>
        <p:blipFill>
          <a:blip r:embed="rId3"/>
          <a:stretch>
            <a:fillRect/>
          </a:stretch>
        </p:blipFill>
        <p:spPr>
          <a:xfrm>
            <a:off x="6339840" y="1371600"/>
            <a:ext cx="219456" cy="219456"/>
          </a:xfrm>
          <a:prstGeom prst="rect">
            <a:avLst/>
          </a:prstGeom>
        </p:spPr>
      </p:pic>
      <p:sp>
        <p:nvSpPr>
          <p:cNvPr id="17" name="Text 11"/>
          <p:cNvSpPr txBox="1"/>
          <p:nvPr/>
        </p:nvSpPr>
        <p:spPr>
          <a:xfrm>
            <a:off x="6778752" y="1225296"/>
            <a:ext cx="1798320" cy="512064"/>
          </a:xfrm>
          <a:prstGeom prst="rect">
            <a:avLst/>
          </a:prstGeom>
          <a:noFill/>
          <a:ln/>
        </p:spPr>
        <p:txBody>
          <a:bodyPr wrap="square" lIns="0" tIns="0" rIns="0" bIns="0" rtlCol="0" anchor="ctr"/>
          <a:lstStyle/>
          <a:p>
            <a:pPr indent="0" marL="0">
              <a:buNone/>
            </a:pPr>
            <a:r>
              <a:rPr lang="en-US" sz="1400" b="1" dirty="0">
                <a:solidFill>
                  <a:schemeClr val="tx1"/>
                </a:solidFill>
              </a:rPr>
              <a:t>Produttività</a:t>
            </a:r>
            <a:endParaRPr lang="en-US" sz="1400" dirty="0"/>
          </a:p>
        </p:txBody>
      </p:sp>
      <p:sp>
        <p:nvSpPr>
          <p:cNvPr id="18" name="Text 12"/>
          <p:cNvSpPr txBox="1"/>
          <p:nvPr/>
        </p:nvSpPr>
        <p:spPr>
          <a:xfrm>
            <a:off x="6230112" y="1810512"/>
            <a:ext cx="2292096" cy="749808"/>
          </a:xfrm>
          <a:prstGeom prst="rect">
            <a:avLst/>
          </a:prstGeom>
          <a:noFill/>
          <a:ln/>
        </p:spPr>
        <p:txBody>
          <a:bodyPr wrap="square" lIns="0" tIns="0" rIns="0" bIns="0" rtlCol="0" anchor="t"/>
          <a:lstStyle/>
          <a:p>
            <a:pPr indent="0" marL="0">
              <a:buNone/>
            </a:pPr>
            <a:r>
              <a:rPr lang="en-US" sz="1200" dirty="0">
                <a:solidFill>
                  <a:schemeClr val="tx2"/>
                </a:solidFill>
              </a:rPr>
              <a:t>Posta, documenti, fogli, presentazioni, riunioni</a:t>
            </a:r>
            <a:endParaRPr lang="en-US" sz="1200" dirty="0"/>
          </a:p>
        </p:txBody>
      </p:sp>
      <p:sp>
        <p:nvSpPr>
          <p:cNvPr id="19" name="Contenuti"/>
          <p:cNvSpPr/>
          <p:nvPr/>
        </p:nvSpPr>
        <p:spPr>
          <a:xfrm>
            <a:off x="457200" y="2834640"/>
            <a:ext cx="4023360" cy="1280160"/>
          </a:xfrm>
          <a:prstGeom prst="roundRect">
            <a:avLst>
              <a:gd name="adj" fmla="val 5714"/>
            </a:avLst>
          </a:prstGeom>
          <a:solidFill>
            <a:schemeClr val="bg2"/>
          </a:solidFill>
          <a:ln/>
        </p:spPr>
      </p:sp>
      <p:sp>
        <p:nvSpPr>
          <p:cNvPr id="20" name="cerchio FiImage"/>
          <p:cNvSpPr/>
          <p:nvPr/>
        </p:nvSpPr>
        <p:spPr>
          <a:xfrm>
            <a:off x="621792" y="2999232"/>
            <a:ext cx="438912" cy="438912"/>
          </a:xfrm>
          <a:prstGeom prst="ellipse">
            <a:avLst/>
          </a:prstGeom>
          <a:solidFill>
            <a:schemeClr val="accent1"/>
          </a:solidFill>
          <a:ln/>
        </p:spPr>
      </p:sp>
      <p:pic>
        <p:nvPicPr>
          <p:cNvPr id="21" name="Image 3" descr="FiImage">    </p:cNvPr>
          <p:cNvPicPr>
            <a:picLocks noChangeAspect="1"/>
          </p:cNvPicPr>
          <p:nvPr/>
        </p:nvPicPr>
        <p:blipFill>
          <a:blip r:embed="rId4"/>
          <a:stretch>
            <a:fillRect/>
          </a:stretch>
        </p:blipFill>
        <p:spPr>
          <a:xfrm>
            <a:off x="731520" y="3108960"/>
            <a:ext cx="219456" cy="219456"/>
          </a:xfrm>
          <a:prstGeom prst="rect">
            <a:avLst/>
          </a:prstGeom>
        </p:spPr>
      </p:pic>
      <p:sp>
        <p:nvSpPr>
          <p:cNvPr id="22" name="Text 15"/>
          <p:cNvSpPr txBox="1"/>
          <p:nvPr/>
        </p:nvSpPr>
        <p:spPr>
          <a:xfrm>
            <a:off x="1170432" y="296265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Contenuti</a:t>
            </a:r>
            <a:endParaRPr lang="en-US" sz="1400" dirty="0"/>
          </a:p>
        </p:txBody>
      </p:sp>
      <p:sp>
        <p:nvSpPr>
          <p:cNvPr id="23" name="Text 16"/>
          <p:cNvSpPr txBox="1"/>
          <p:nvPr/>
        </p:nvSpPr>
        <p:spPr>
          <a:xfrm>
            <a:off x="621792" y="3547872"/>
            <a:ext cx="3694176" cy="475488"/>
          </a:xfrm>
          <a:prstGeom prst="rect">
            <a:avLst/>
          </a:prstGeom>
          <a:noFill/>
          <a:ln/>
        </p:spPr>
        <p:txBody>
          <a:bodyPr wrap="square" lIns="0" tIns="0" rIns="0" bIns="0" rtlCol="0" anchor="t"/>
          <a:lstStyle/>
          <a:p>
            <a:pPr indent="0" marL="0">
              <a:buNone/>
            </a:pPr>
            <a:r>
              <a:rPr lang="en-US" sz="1200" dirty="0">
                <a:solidFill>
                  <a:schemeClr val="tx2"/>
                </a:solidFill>
              </a:rPr>
              <a:t>Immagini, video, voce, testi, traduzioni</a:t>
            </a:r>
            <a:endParaRPr lang="en-US" sz="1200" dirty="0"/>
          </a:p>
        </p:txBody>
      </p:sp>
      <p:sp>
        <p:nvSpPr>
          <p:cNvPr id="24" name="Applicazioni specializzate"/>
          <p:cNvSpPr/>
          <p:nvPr/>
        </p:nvSpPr>
        <p:spPr>
          <a:xfrm>
            <a:off x="4663440" y="2834640"/>
            <a:ext cx="4023360" cy="1280160"/>
          </a:xfrm>
          <a:prstGeom prst="roundRect">
            <a:avLst>
              <a:gd name="adj" fmla="val 5714"/>
            </a:avLst>
          </a:prstGeom>
          <a:solidFill>
            <a:schemeClr val="bg2"/>
          </a:solidFill>
          <a:ln/>
        </p:spPr>
      </p:sp>
      <p:sp>
        <p:nvSpPr>
          <p:cNvPr id="25" name="cerchio FiCrosshair"/>
          <p:cNvSpPr/>
          <p:nvPr/>
        </p:nvSpPr>
        <p:spPr>
          <a:xfrm>
            <a:off x="4828032" y="2999232"/>
            <a:ext cx="438912" cy="438912"/>
          </a:xfrm>
          <a:prstGeom prst="ellipse">
            <a:avLst/>
          </a:prstGeom>
          <a:solidFill>
            <a:schemeClr val="accent1"/>
          </a:solidFill>
          <a:ln/>
        </p:spPr>
      </p:sp>
      <p:pic>
        <p:nvPicPr>
          <p:cNvPr id="26" name="Image 4" descr="FiCrosshair">    </p:cNvPr>
          <p:cNvPicPr>
            <a:picLocks noChangeAspect="1"/>
          </p:cNvPicPr>
          <p:nvPr/>
        </p:nvPicPr>
        <p:blipFill>
          <a:blip r:embed="rId5"/>
          <a:stretch>
            <a:fillRect/>
          </a:stretch>
        </p:blipFill>
        <p:spPr>
          <a:xfrm>
            <a:off x="4937760" y="3108960"/>
            <a:ext cx="219456" cy="219456"/>
          </a:xfrm>
          <a:prstGeom prst="rect">
            <a:avLst/>
          </a:prstGeom>
        </p:spPr>
      </p:pic>
      <p:sp>
        <p:nvSpPr>
          <p:cNvPr id="27" name="Text 19"/>
          <p:cNvSpPr txBox="1"/>
          <p:nvPr/>
        </p:nvSpPr>
        <p:spPr>
          <a:xfrm>
            <a:off x="5376672" y="296265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Applicazioni specializzate</a:t>
            </a:r>
            <a:endParaRPr lang="en-US" sz="1400" dirty="0"/>
          </a:p>
        </p:txBody>
      </p:sp>
      <p:sp>
        <p:nvSpPr>
          <p:cNvPr id="28" name="Text 20"/>
          <p:cNvSpPr txBox="1"/>
          <p:nvPr/>
        </p:nvSpPr>
        <p:spPr>
          <a:xfrm>
            <a:off x="4828032" y="3547872"/>
            <a:ext cx="3694176" cy="475488"/>
          </a:xfrm>
          <a:prstGeom prst="rect">
            <a:avLst/>
          </a:prstGeom>
          <a:noFill/>
          <a:ln/>
        </p:spPr>
        <p:txBody>
          <a:bodyPr wrap="square" lIns="0" tIns="0" rIns="0" bIns="0" rtlCol="0" anchor="t"/>
          <a:lstStyle/>
          <a:p>
            <a:pPr indent="0" marL="0">
              <a:buNone/>
            </a:pPr>
            <a:r>
              <a:rPr lang="en-US" sz="1200" dirty="0">
                <a:solidFill>
                  <a:schemeClr val="tx2"/>
                </a:solidFill>
              </a:rPr>
              <a:t>Assistenza clienti, selezione, legale, sviluppo, contabilità</a:t>
            </a:r>
            <a:endParaRPr lang="en-US" sz="1200" dirty="0"/>
          </a:p>
        </p:txBody>
      </p:sp>
      <p:sp>
        <p:nvSpPr>
          <p:cNvPr id="29" name="Text 21"/>
          <p:cNvSpPr txBox="1"/>
          <p:nvPr/>
        </p:nvSpPr>
        <p:spPr>
          <a:xfrm>
            <a:off x="457200" y="4251960"/>
            <a:ext cx="8229600" cy="274320"/>
          </a:xfrm>
          <a:prstGeom prst="rect">
            <a:avLst/>
          </a:prstGeom>
          <a:noFill/>
          <a:ln/>
        </p:spPr>
        <p:txBody>
          <a:bodyPr wrap="square" lIns="0" tIns="0" rIns="0" bIns="0" rtlCol="0" anchor="t"/>
          <a:lstStyle/>
          <a:p>
            <a:pPr indent="0" marL="0">
              <a:buNone/>
            </a:pPr>
            <a:r>
              <a:rPr lang="en-US" sz="1200" i="1" dirty="0">
                <a:solidFill>
                  <a:schemeClr val="tx2"/>
                </a:solidFill>
              </a:rPr>
              <a:t>Molte capacità arrivano integrate in software già presenti in azienda (sottotema 4.4).</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Funzionalità comuni e differenze principali</a:t>
            </a:r>
            <a:endParaRPr lang="en-US" sz="2600" dirty="0"/>
          </a:p>
        </p:txBody>
      </p:sp>
      <p:sp>
        <p:nvSpPr>
          <p:cNvPr id="4" name="scheda Spesso in comune"/>
          <p:cNvSpPr/>
          <p:nvPr/>
        </p:nvSpPr>
        <p:spPr>
          <a:xfrm>
            <a:off x="457200" y="1097280"/>
            <a:ext cx="3977640" cy="3429000"/>
          </a:xfrm>
          <a:prstGeom prst="roundRect">
            <a:avLst>
              <a:gd name="adj" fmla="val 2133"/>
            </a:avLst>
          </a:prstGeom>
          <a:solidFill>
            <a:schemeClr val="bg2"/>
          </a:solidFill>
          <a:ln/>
        </p:spPr>
      </p:sp>
      <p:sp>
        <p:nvSpPr>
          <p:cNvPr id="5" name="cerchio FiCopy"/>
          <p:cNvSpPr/>
          <p:nvPr/>
        </p:nvSpPr>
        <p:spPr>
          <a:xfrm>
            <a:off x="640080" y="1280160"/>
            <a:ext cx="457200" cy="457200"/>
          </a:xfrm>
          <a:prstGeom prst="ellipse">
            <a:avLst/>
          </a:prstGeom>
          <a:solidFill>
            <a:schemeClr val="accent1"/>
          </a:solidFill>
          <a:ln/>
        </p:spPr>
      </p:sp>
      <p:pic>
        <p:nvPicPr>
          <p:cNvPr id="6" name="Image 0" descr="FiCopy">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Spesso in comune</a:t>
            </a:r>
            <a:endParaRPr lang="en-US" sz="1500" dirty="0"/>
          </a:p>
        </p:txBody>
      </p:sp>
      <p:sp>
        <p:nvSpPr>
          <p:cNvPr id="8" name="Text 4"/>
          <p:cNvSpPr txBox="1"/>
          <p:nvPr/>
        </p:nvSpPr>
        <p:spPr>
          <a:xfrm>
            <a:off x="640080" y="2231136"/>
            <a:ext cx="3611880" cy="2185416"/>
          </a:xfrm>
          <a:prstGeom prst="rect">
            <a:avLst/>
          </a:prstGeom>
          <a:noFill/>
          <a:ln/>
        </p:spPr>
        <p:txBody>
          <a:bodyPr wrap="square" lIns="0" tIns="0" rIns="0" bIns="0" rtlCol="0" anchor="t"/>
          <a:lstStyle/>
          <a:p>
            <a:pPr marL="177800" indent="-177800">
              <a:spcAft>
                <a:spcPts val="200"/>
              </a:spcAft>
              <a:buSzPct val="100000"/>
              <a:buChar char="•"/>
            </a:pPr>
            <a:r>
              <a:rPr lang="en-US" sz="1300" dirty="0">
                <a:solidFill>
                  <a:schemeClr val="tx2"/>
                </a:solidFill>
              </a:rPr>
              <a:t>Conversazione e scrittura</a:t>
            </a:r>
            <a:endParaRPr lang="en-US" sz="1300" dirty="0"/>
          </a:p>
          <a:p>
            <a:pPr marL="177800" indent="-177800">
              <a:spcAft>
                <a:spcPts val="200"/>
              </a:spcAft>
              <a:buSzPct val="100000"/>
              <a:buChar char="•"/>
            </a:pPr>
            <a:r>
              <a:rPr lang="en-US" sz="1300" dirty="0">
                <a:solidFill>
                  <a:schemeClr val="tx2"/>
                </a:solidFill>
              </a:rPr>
              <a:t>Caricamento e analisi di documenti</a:t>
            </a:r>
            <a:endParaRPr lang="en-US" sz="1300" dirty="0"/>
          </a:p>
          <a:p>
            <a:pPr marL="177800" indent="-177800">
              <a:spcAft>
                <a:spcPts val="200"/>
              </a:spcAft>
              <a:buSzPct val="100000"/>
              <a:buChar char="•"/>
            </a:pPr>
            <a:r>
              <a:rPr lang="en-US" sz="1300" dirty="0">
                <a:solidFill>
                  <a:schemeClr val="tx2"/>
                </a:solidFill>
              </a:rPr>
              <a:t>Comprensione di immagini</a:t>
            </a:r>
            <a:endParaRPr lang="en-US" sz="1300" dirty="0"/>
          </a:p>
          <a:p>
            <a:pPr marL="177800" indent="-177800">
              <a:spcAft>
                <a:spcPts val="200"/>
              </a:spcAft>
              <a:buSzPct val="100000"/>
              <a:buChar char="•"/>
            </a:pPr>
            <a:r>
              <a:rPr lang="en-US" sz="1300" dirty="0">
                <a:solidFill>
                  <a:schemeClr val="tx2"/>
                </a:solidFill>
              </a:rPr>
              <a:t>Ricerca sul web</a:t>
            </a:r>
            <a:endParaRPr lang="en-US" sz="1300" dirty="0"/>
          </a:p>
          <a:p>
            <a:pPr marL="177800" indent="-177800">
              <a:spcAft>
                <a:spcPts val="200"/>
              </a:spcAft>
              <a:buSzPct val="100000"/>
              <a:buChar char="•"/>
            </a:pPr>
            <a:r>
              <a:rPr lang="en-US" sz="1300" dirty="0">
                <a:solidFill>
                  <a:schemeClr val="tx2"/>
                </a:solidFill>
              </a:rPr>
              <a:t>Analisi di dati, funzioni vocali</a:t>
            </a:r>
            <a:endParaRPr lang="en-US" sz="1300" dirty="0"/>
          </a:p>
          <a:p>
            <a:pPr marL="177800" indent="-177800">
              <a:spcAft>
                <a:spcPts val="200"/>
              </a:spcAft>
              <a:buSzPct val="100000"/>
              <a:buChar char="•"/>
            </a:pPr>
            <a:r>
              <a:rPr lang="en-US" sz="1300" dirty="0">
                <a:solidFill>
                  <a:schemeClr val="tx2"/>
                </a:solidFill>
              </a:rPr>
              <a:t>Generazione di immagini</a:t>
            </a:r>
            <a:endParaRPr lang="en-US" sz="1300" dirty="0"/>
          </a:p>
        </p:txBody>
      </p:sp>
      <p:sp>
        <p:nvSpPr>
          <p:cNvPr id="9" name="scheda Dove stanno le differenze"/>
          <p:cNvSpPr/>
          <p:nvPr/>
        </p:nvSpPr>
        <p:spPr>
          <a:xfrm>
            <a:off x="4709160" y="1097280"/>
            <a:ext cx="3977640" cy="3429000"/>
          </a:xfrm>
          <a:prstGeom prst="roundRect">
            <a:avLst>
              <a:gd name="adj" fmla="val 2133"/>
            </a:avLst>
          </a:prstGeom>
          <a:solidFill>
            <a:schemeClr val="accent6"/>
          </a:solidFill>
          <a:ln/>
        </p:spPr>
      </p:sp>
      <p:sp>
        <p:nvSpPr>
          <p:cNvPr id="10" name="cerchio FiSliders"/>
          <p:cNvSpPr/>
          <p:nvPr/>
        </p:nvSpPr>
        <p:spPr>
          <a:xfrm>
            <a:off x="4892040" y="1280160"/>
            <a:ext cx="457200" cy="457200"/>
          </a:xfrm>
          <a:prstGeom prst="ellipse">
            <a:avLst/>
          </a:prstGeom>
          <a:solidFill>
            <a:schemeClr val="accent1"/>
          </a:solidFill>
          <a:ln/>
        </p:spPr>
      </p:sp>
      <p:pic>
        <p:nvPicPr>
          <p:cNvPr id="11" name="Image 1" descr="FiSliders">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Dove stanno le differenze</a:t>
            </a:r>
            <a:endParaRPr lang="en-US" sz="1500" dirty="0"/>
          </a:p>
        </p:txBody>
      </p:sp>
      <p:sp>
        <p:nvSpPr>
          <p:cNvPr id="13" name="Text 8"/>
          <p:cNvSpPr txBox="1"/>
          <p:nvPr/>
        </p:nvSpPr>
        <p:spPr>
          <a:xfrm>
            <a:off x="4892040" y="2231136"/>
            <a:ext cx="3611880" cy="2185416"/>
          </a:xfrm>
          <a:prstGeom prst="rect">
            <a:avLst/>
          </a:prstGeom>
          <a:noFill/>
          <a:ln/>
        </p:spPr>
        <p:txBody>
          <a:bodyPr wrap="square" lIns="0" tIns="0" rIns="0" bIns="0" rtlCol="0" anchor="t"/>
          <a:lstStyle/>
          <a:p>
            <a:pPr marL="177800" indent="-177800">
              <a:spcAft>
                <a:spcPts val="200"/>
              </a:spcAft>
              <a:buSzPct val="100000"/>
              <a:buChar char="•"/>
            </a:pPr>
            <a:r>
              <a:rPr lang="en-US" sz="1300" dirty="0">
                <a:solidFill>
                  <a:schemeClr val="tx2"/>
                </a:solidFill>
              </a:rPr>
              <a:t>Qualità sui compiti che ci interessano</a:t>
            </a:r>
            <a:endParaRPr lang="en-US" sz="1300" dirty="0"/>
          </a:p>
          <a:p>
            <a:pPr marL="177800" indent="-177800">
              <a:spcAft>
                <a:spcPts val="200"/>
              </a:spcAft>
              <a:buSzPct val="100000"/>
              <a:buChar char="•"/>
            </a:pPr>
            <a:r>
              <a:rPr lang="en-US" sz="1300" dirty="0">
                <a:solidFill>
                  <a:schemeClr val="tx2"/>
                </a:solidFill>
              </a:rPr>
              <a:t>Integrazioni con strumenti aziendali</a:t>
            </a:r>
            <a:endParaRPr lang="en-US" sz="1300" dirty="0"/>
          </a:p>
          <a:p>
            <a:pPr marL="177800" indent="-177800">
              <a:spcAft>
                <a:spcPts val="200"/>
              </a:spcAft>
              <a:buSzPct val="100000"/>
              <a:buChar char="•"/>
            </a:pPr>
            <a:r>
              <a:rPr lang="en-US" sz="1300" dirty="0">
                <a:solidFill>
                  <a:schemeClr val="tx2"/>
                </a:solidFill>
              </a:rPr>
              <a:t>Funzioni per il lavoro di gruppo</a:t>
            </a:r>
            <a:endParaRPr lang="en-US" sz="1300" dirty="0"/>
          </a:p>
          <a:p>
            <a:pPr marL="177800" indent="-177800">
              <a:spcAft>
                <a:spcPts val="200"/>
              </a:spcAft>
              <a:buSzPct val="100000"/>
              <a:buChar char="•"/>
            </a:pPr>
            <a:r>
              <a:rPr lang="en-US" sz="1300" dirty="0">
                <a:solidFill>
                  <a:schemeClr val="tx2"/>
                </a:solidFill>
              </a:rPr>
              <a:t>Limiti di utilizzo</a:t>
            </a:r>
            <a:endParaRPr lang="en-US" sz="1300" dirty="0"/>
          </a:p>
          <a:p>
            <a:pPr marL="177800" indent="-177800">
              <a:spcAft>
                <a:spcPts val="200"/>
              </a:spcAft>
              <a:buSzPct val="100000"/>
              <a:buChar char="•"/>
            </a:pPr>
            <a:r>
              <a:rPr lang="en-US" sz="1300" dirty="0">
                <a:solidFill>
                  <a:schemeClr val="tx2"/>
                </a:solidFill>
              </a:rPr>
              <a:t>Amministrazione e controlli</a:t>
            </a:r>
            <a:endParaRPr lang="en-US" sz="1300" dirty="0"/>
          </a:p>
          <a:p>
            <a:pPr marL="177800" indent="-177800">
              <a:spcAft>
                <a:spcPts val="200"/>
              </a:spcAft>
              <a:buSzPct val="100000"/>
              <a:buChar char="•"/>
            </a:pPr>
            <a:r>
              <a:rPr lang="en-US" sz="1300" dirty="0">
                <a:solidFill>
                  <a:schemeClr val="tx2"/>
                </a:solidFill>
              </a:rPr>
              <a:t>Condizioni sull'uso dei dati</a:t>
            </a:r>
            <a:endParaRPr lang="en-US" sz="1300" dirty="0"/>
          </a:p>
          <a:p>
            <a:pPr marL="177800" indent="-177800">
              <a:spcAft>
                <a:spcPts val="200"/>
              </a:spcAft>
              <a:buSzPct val="100000"/>
              <a:buChar char="•"/>
            </a:pPr>
            <a:r>
              <a:rPr lang="en-US" sz="1300" dirty="0">
                <a:solidFill>
                  <a:schemeClr val="tx2"/>
                </a:solidFill>
              </a:rPr>
              <a:t>Disponibilità nel piano usato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Capacità del modello e funzionalità dell'applicazione</a:t>
            </a:r>
            <a:endParaRPr lang="en-US" sz="2600" dirty="0"/>
          </a:p>
        </p:txBody>
      </p:sp>
      <p:sp>
        <p:nvSpPr>
          <p:cNvPr id="4" name="scheda Dal modello"/>
          <p:cNvSpPr/>
          <p:nvPr/>
        </p:nvSpPr>
        <p:spPr>
          <a:xfrm>
            <a:off x="457200" y="1097280"/>
            <a:ext cx="3977640" cy="2377440"/>
          </a:xfrm>
          <a:prstGeom prst="roundRect">
            <a:avLst>
              <a:gd name="adj" fmla="val 3077"/>
            </a:avLst>
          </a:prstGeom>
          <a:solidFill>
            <a:schemeClr val="bg2"/>
          </a:solidFill>
          <a:ln/>
        </p:spPr>
      </p:sp>
      <p:sp>
        <p:nvSpPr>
          <p:cNvPr id="5" name="cerchio FiCpu"/>
          <p:cNvSpPr/>
          <p:nvPr/>
        </p:nvSpPr>
        <p:spPr>
          <a:xfrm>
            <a:off x="640080" y="1280160"/>
            <a:ext cx="457200" cy="457200"/>
          </a:xfrm>
          <a:prstGeom prst="ellipse">
            <a:avLst/>
          </a:prstGeom>
          <a:solidFill>
            <a:schemeClr val="accent1"/>
          </a:solidFill>
          <a:ln/>
        </p:spPr>
      </p:sp>
      <p:sp>
        <p:nvSpPr>
          <p:cNvPr id="6" name="scheda Dall'applicazione"/>
          <p:cNvSpPr/>
          <p:nvPr/>
        </p:nvSpPr>
        <p:spPr>
          <a:xfrm>
            <a:off x="4709160" y="1097280"/>
            <a:ext cx="3977640" cy="2377440"/>
          </a:xfrm>
          <a:prstGeom prst="roundRect">
            <a:avLst>
              <a:gd name="adj" fmla="val 3077"/>
            </a:avLst>
          </a:prstGeom>
          <a:solidFill>
            <a:schemeClr val="accent6"/>
          </a:solidFill>
          <a:ln/>
        </p:spPr>
      </p:sp>
      <p:sp>
        <p:nvSpPr>
          <p:cNvPr id="7" name="cerchio FiPackage"/>
          <p:cNvSpPr/>
          <p:nvPr/>
        </p:nvSpPr>
        <p:spPr>
          <a:xfrm>
            <a:off x="4892040" y="1280160"/>
            <a:ext cx="457200" cy="457200"/>
          </a:xfrm>
          <a:prstGeom prst="ellipse">
            <a:avLst/>
          </a:prstGeom>
          <a:solidFill>
            <a:schemeClr val="accent1"/>
          </a:solidFill>
          <a:ln/>
        </p:spPr>
      </p:sp>
      <p:pic>
        <p:nvPicPr>
          <p:cNvPr id="8" name="Image 0" descr="FiCpu">    </p:cNvPr>
          <p:cNvPicPr>
            <a:picLocks noChangeAspect="1"/>
          </p:cNvPicPr>
          <p:nvPr/>
        </p:nvPicPr>
        <p:blipFill>
          <a:blip r:embed="rId1"/>
          <a:stretch>
            <a:fillRect/>
          </a:stretch>
        </p:blipFill>
        <p:spPr>
          <a:xfrm>
            <a:off x="754380" y="1394460"/>
            <a:ext cx="228600" cy="228600"/>
          </a:xfrm>
          <a:prstGeom prst="rect">
            <a:avLst/>
          </a:prstGeom>
        </p:spPr>
      </p:pic>
      <p:sp>
        <p:nvSpPr>
          <p:cNvPr id="9" name="Text 5"/>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Dal modello</a:t>
            </a:r>
            <a:endParaRPr lang="en-US" sz="1500" dirty="0"/>
          </a:p>
        </p:txBody>
      </p:sp>
      <p:sp>
        <p:nvSpPr>
          <p:cNvPr id="10" name="Text 6"/>
          <p:cNvSpPr txBox="1"/>
          <p:nvPr/>
        </p:nvSpPr>
        <p:spPr>
          <a:xfrm>
            <a:off x="640080" y="2231136"/>
            <a:ext cx="3611880" cy="1133856"/>
          </a:xfrm>
          <a:prstGeom prst="rect">
            <a:avLst/>
          </a:prstGeom>
          <a:noFill/>
          <a:ln/>
        </p:spPr>
        <p:txBody>
          <a:bodyPr wrap="square" lIns="0" tIns="0" rIns="0" bIns="0" rtlCol="0" anchor="t"/>
          <a:lstStyle/>
          <a:p>
            <a:pPr marL="177800" indent="-177800">
              <a:spcAft>
                <a:spcPts val="300"/>
              </a:spcAft>
              <a:buSzPct val="100000"/>
              <a:buChar char="•"/>
            </a:pPr>
            <a:r>
              <a:rPr lang="en-US" sz="1300" dirty="0">
                <a:solidFill>
                  <a:schemeClr val="tx2"/>
                </a:solidFill>
              </a:rPr>
              <a:t>Qualità della scrittura</a:t>
            </a:r>
            <a:endParaRPr lang="en-US" sz="1300" dirty="0"/>
          </a:p>
          <a:p>
            <a:pPr marL="177800" indent="-177800">
              <a:spcAft>
                <a:spcPts val="300"/>
              </a:spcAft>
              <a:buSzPct val="100000"/>
              <a:buChar char="•"/>
            </a:pPr>
            <a:r>
              <a:rPr lang="en-US" sz="1300" dirty="0">
                <a:solidFill>
                  <a:schemeClr val="tx2"/>
                </a:solidFill>
              </a:rPr>
              <a:t>Ragionamento</a:t>
            </a:r>
            <a:endParaRPr lang="en-US" sz="1300" dirty="0"/>
          </a:p>
          <a:p>
            <a:pPr marL="177800" indent="-177800">
              <a:spcAft>
                <a:spcPts val="300"/>
              </a:spcAft>
              <a:buSzPct val="100000"/>
              <a:buChar char="•"/>
            </a:pPr>
            <a:r>
              <a:rPr lang="en-US" sz="1300" dirty="0">
                <a:solidFill>
                  <a:schemeClr val="tx2"/>
                </a:solidFill>
              </a:rPr>
              <a:t>Comprensione di immagini</a:t>
            </a:r>
            <a:endParaRPr lang="en-US" sz="1300" dirty="0"/>
          </a:p>
          <a:p>
            <a:pPr marL="177800" indent="-177800">
              <a:spcAft>
                <a:spcPts val="300"/>
              </a:spcAft>
              <a:buSzPct val="100000"/>
              <a:buChar char="•"/>
            </a:pPr>
            <a:r>
              <a:rPr lang="en-US" sz="1300" dirty="0">
                <a:solidFill>
                  <a:schemeClr val="tx2"/>
                </a:solidFill>
              </a:rPr>
              <a:t>Lunghezza del contesto</a:t>
            </a:r>
            <a:endParaRPr lang="en-US" sz="1300" dirty="0"/>
          </a:p>
        </p:txBody>
      </p:sp>
      <p:pic>
        <p:nvPicPr>
          <p:cNvPr id="11" name="Image 1" descr="FiPackage">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Dall'applicazione</a:t>
            </a:r>
            <a:endParaRPr lang="en-US" sz="1500" dirty="0"/>
          </a:p>
        </p:txBody>
      </p:sp>
      <p:sp>
        <p:nvSpPr>
          <p:cNvPr id="13" name="Text 8"/>
          <p:cNvSpPr txBox="1"/>
          <p:nvPr/>
        </p:nvSpPr>
        <p:spPr>
          <a:xfrm>
            <a:off x="4892040" y="2231136"/>
            <a:ext cx="3611880" cy="1133856"/>
          </a:xfrm>
          <a:prstGeom prst="rect">
            <a:avLst/>
          </a:prstGeom>
          <a:noFill/>
          <a:ln/>
        </p:spPr>
        <p:txBody>
          <a:bodyPr wrap="square" lIns="0" tIns="0" rIns="0" bIns="0" rtlCol="0" anchor="t"/>
          <a:lstStyle/>
          <a:p>
            <a:pPr marL="177800" indent="-177800">
              <a:spcAft>
                <a:spcPts val="300"/>
              </a:spcAft>
              <a:buSzPct val="100000"/>
              <a:buChar char="•"/>
            </a:pPr>
            <a:r>
              <a:rPr lang="en-US" sz="1300" dirty="0">
                <a:solidFill>
                  <a:schemeClr val="tx2"/>
                </a:solidFill>
              </a:rPr>
              <a:t>Ricerca sul web, esecuzione di codice</a:t>
            </a:r>
            <a:endParaRPr lang="en-US" sz="1300" dirty="0"/>
          </a:p>
          <a:p>
            <a:pPr marL="177800" indent="-177800">
              <a:spcAft>
                <a:spcPts val="300"/>
              </a:spcAft>
              <a:buSzPct val="100000"/>
              <a:buChar char="•"/>
            </a:pPr>
            <a:r>
              <a:rPr lang="en-US" sz="1300" dirty="0">
                <a:solidFill>
                  <a:schemeClr val="tx2"/>
                </a:solidFill>
              </a:rPr>
              <a:t>Collegamento a posta e documenti</a:t>
            </a:r>
            <a:endParaRPr lang="en-US" sz="1300" dirty="0"/>
          </a:p>
          <a:p>
            <a:pPr marL="177800" indent="-177800">
              <a:spcAft>
                <a:spcPts val="300"/>
              </a:spcAft>
              <a:buSzPct val="100000"/>
              <a:buChar char="•"/>
            </a:pPr>
            <a:r>
              <a:rPr lang="en-US" sz="1300" dirty="0">
                <a:solidFill>
                  <a:schemeClr val="tx2"/>
                </a:solidFill>
              </a:rPr>
              <a:t>Memoria e progetti condivisi</a:t>
            </a:r>
            <a:endParaRPr lang="en-US" sz="1300" dirty="0"/>
          </a:p>
          <a:p>
            <a:pPr marL="177800" indent="-177800">
              <a:spcAft>
                <a:spcPts val="300"/>
              </a:spcAft>
              <a:buSzPct val="100000"/>
              <a:buChar char="•"/>
            </a:pPr>
            <a:r>
              <a:rPr lang="en-US" sz="1300" dirty="0">
                <a:solidFill>
                  <a:schemeClr val="tx2"/>
                </a:solidFill>
              </a:rPr>
              <a:t>Controlli e gestione dei dati</a:t>
            </a:r>
            <a:endParaRPr lang="en-US" sz="1300" dirty="0"/>
          </a:p>
        </p:txBody>
      </p:sp>
      <p:sp>
        <p:nvSpPr>
          <p:cNvPr id="14" name="Text 9"/>
          <p:cNvSpPr txBox="1"/>
          <p:nvPr/>
        </p:nvSpPr>
        <p:spPr>
          <a:xfrm>
            <a:off x="457200" y="3611880"/>
            <a:ext cx="8229600" cy="274320"/>
          </a:xfrm>
          <a:prstGeom prst="rect">
            <a:avLst/>
          </a:prstGeom>
          <a:noFill/>
          <a:ln/>
        </p:spPr>
        <p:txBody>
          <a:bodyPr wrap="square" lIns="0" tIns="0" rIns="0" bIns="0" rtlCol="0" anchor="t"/>
          <a:lstStyle/>
          <a:p>
            <a:pPr indent="0" marL="0">
              <a:buNone/>
            </a:pPr>
            <a:r>
              <a:rPr lang="en-US" sz="1300" b="1" dirty="0">
                <a:solidFill>
                  <a:schemeClr val="tx1"/>
                </a:solidFill>
              </a:rPr>
              <a:t>Situazioni frequenti</a:t>
            </a:r>
            <a:endParaRPr lang="en-US" sz="1300" dirty="0"/>
          </a:p>
        </p:txBody>
      </p:sp>
      <p:sp>
        <p:nvSpPr>
          <p:cNvPr id="15" name="blocco Stesso modello, funzioni diverse in app diverse"/>
          <p:cNvSpPr/>
          <p:nvPr/>
        </p:nvSpPr>
        <p:spPr>
          <a:xfrm>
            <a:off x="457200" y="3977640"/>
            <a:ext cx="2615184" cy="548640"/>
          </a:xfrm>
          <a:prstGeom prst="roundRect">
            <a:avLst>
              <a:gd name="adj" fmla="val 20000"/>
            </a:avLst>
          </a:prstGeom>
          <a:solidFill>
            <a:schemeClr val="bg2"/>
          </a:solidFill>
          <a:ln/>
        </p:spPr>
      </p:sp>
      <p:sp>
        <p:nvSpPr>
          <p:cNvPr id="16" name="Text 11"/>
          <p:cNvSpPr txBox="1"/>
          <p:nvPr/>
        </p:nvSpPr>
        <p:spPr>
          <a:xfrm>
            <a:off x="502920" y="3977640"/>
            <a:ext cx="2523744" cy="548640"/>
          </a:xfrm>
          <a:prstGeom prst="rect">
            <a:avLst/>
          </a:prstGeom>
          <a:noFill/>
          <a:ln/>
        </p:spPr>
        <p:txBody>
          <a:bodyPr wrap="square" lIns="0" tIns="0" rIns="0" bIns="0" rtlCol="0" anchor="ctr"/>
          <a:lstStyle/>
          <a:p>
            <a:pPr algn="ctr" indent="0" marL="0">
              <a:buNone/>
            </a:pPr>
            <a:r>
              <a:rPr lang="en-US" sz="1200" b="1" dirty="0">
                <a:solidFill>
                  <a:schemeClr val="tx1"/>
                </a:solidFill>
              </a:rPr>
              <a:t>Stesso modello, funzioni diverse in app diverse</a:t>
            </a:r>
            <a:endParaRPr lang="en-US" sz="1200" dirty="0"/>
          </a:p>
        </p:txBody>
      </p:sp>
      <p:sp>
        <p:nvSpPr>
          <p:cNvPr id="17" name="blocco L'app migliora senza cambiare modello"/>
          <p:cNvSpPr/>
          <p:nvPr/>
        </p:nvSpPr>
        <p:spPr>
          <a:xfrm>
            <a:off x="3264408" y="3977640"/>
            <a:ext cx="2615184" cy="548640"/>
          </a:xfrm>
          <a:prstGeom prst="roundRect">
            <a:avLst>
              <a:gd name="adj" fmla="val 20000"/>
            </a:avLst>
          </a:prstGeom>
          <a:solidFill>
            <a:schemeClr val="bg2"/>
          </a:solidFill>
          <a:ln/>
        </p:spPr>
      </p:sp>
      <p:sp>
        <p:nvSpPr>
          <p:cNvPr id="18" name="Text 13"/>
          <p:cNvSpPr txBox="1"/>
          <p:nvPr/>
        </p:nvSpPr>
        <p:spPr>
          <a:xfrm>
            <a:off x="3310128" y="3977640"/>
            <a:ext cx="2523744" cy="548640"/>
          </a:xfrm>
          <a:prstGeom prst="rect">
            <a:avLst/>
          </a:prstGeom>
          <a:noFill/>
          <a:ln/>
        </p:spPr>
        <p:txBody>
          <a:bodyPr wrap="square" lIns="0" tIns="0" rIns="0" bIns="0" rtlCol="0" anchor="ctr"/>
          <a:lstStyle/>
          <a:p>
            <a:pPr algn="ctr" indent="0" marL="0">
              <a:buNone/>
            </a:pPr>
            <a:r>
              <a:rPr lang="en-US" sz="1200" b="1" dirty="0">
                <a:solidFill>
                  <a:schemeClr val="tx1"/>
                </a:solidFill>
              </a:rPr>
              <a:t>L'app migliora senza cambiare modello</a:t>
            </a:r>
            <a:endParaRPr lang="en-US" sz="1200" dirty="0"/>
          </a:p>
        </p:txBody>
      </p:sp>
      <p:sp>
        <p:nvSpPr>
          <p:cNvPr id="19" name="blocco Una capacità del modello non disponibile in un piano"/>
          <p:cNvSpPr/>
          <p:nvPr/>
        </p:nvSpPr>
        <p:spPr>
          <a:xfrm>
            <a:off x="6071616" y="3977640"/>
            <a:ext cx="2615184" cy="548640"/>
          </a:xfrm>
          <a:prstGeom prst="roundRect">
            <a:avLst>
              <a:gd name="adj" fmla="val 20000"/>
            </a:avLst>
          </a:prstGeom>
          <a:solidFill>
            <a:schemeClr val="bg2"/>
          </a:solidFill>
          <a:ln/>
        </p:spPr>
      </p:sp>
      <p:sp>
        <p:nvSpPr>
          <p:cNvPr id="20" name="Text 15"/>
          <p:cNvSpPr txBox="1"/>
          <p:nvPr/>
        </p:nvSpPr>
        <p:spPr>
          <a:xfrm>
            <a:off x="6117336" y="3977640"/>
            <a:ext cx="2523744" cy="548640"/>
          </a:xfrm>
          <a:prstGeom prst="rect">
            <a:avLst/>
          </a:prstGeom>
          <a:noFill/>
          <a:ln/>
        </p:spPr>
        <p:txBody>
          <a:bodyPr wrap="square" lIns="0" tIns="0" rIns="0" bIns="0" rtlCol="0" anchor="ctr"/>
          <a:lstStyle/>
          <a:p>
            <a:pPr algn="ctr" indent="0" marL="0">
              <a:buNone/>
            </a:pPr>
            <a:r>
              <a:rPr lang="en-US" sz="1200" b="1" dirty="0">
                <a:solidFill>
                  <a:schemeClr val="tx1"/>
                </a:solidFill>
              </a:rPr>
              <a:t>Una capacità del modello non disponibile in un piano</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Disponibilità delle funzionalità</a:t>
            </a:r>
            <a:endParaRPr lang="en-US" sz="2600" dirty="0"/>
          </a:p>
        </p:txBody>
      </p:sp>
      <p:sp>
        <p:nvSpPr>
          <p:cNvPr id="4" name="Piano"/>
          <p:cNvSpPr/>
          <p:nvPr/>
        </p:nvSpPr>
        <p:spPr>
          <a:xfrm>
            <a:off x="457200" y="1097280"/>
            <a:ext cx="4023360" cy="1211580"/>
          </a:xfrm>
          <a:prstGeom prst="roundRect">
            <a:avLst>
              <a:gd name="adj" fmla="val 6038"/>
            </a:avLst>
          </a:prstGeom>
          <a:solidFill>
            <a:schemeClr val="bg2"/>
          </a:solidFill>
          <a:ln/>
        </p:spPr>
      </p:sp>
      <p:sp>
        <p:nvSpPr>
          <p:cNvPr id="5" name="cerchio FiLayers"/>
          <p:cNvSpPr/>
          <p:nvPr/>
        </p:nvSpPr>
        <p:spPr>
          <a:xfrm>
            <a:off x="621792" y="1261872"/>
            <a:ext cx="438912" cy="438912"/>
          </a:xfrm>
          <a:prstGeom prst="ellipse">
            <a:avLst/>
          </a:prstGeom>
          <a:solidFill>
            <a:schemeClr val="accent1"/>
          </a:solidFill>
          <a:ln/>
        </p:spPr>
      </p:sp>
      <p:pic>
        <p:nvPicPr>
          <p:cNvPr id="6" name="Image 0" descr="FiLayers">    </p:cNvPr>
          <p:cNvPicPr>
            <a:picLocks noChangeAspect="1"/>
          </p:cNvPicPr>
          <p:nvPr/>
        </p:nvPicPr>
        <p:blipFill>
          <a:blip r:embed="rId1"/>
          <a:stretch>
            <a:fillRect/>
          </a:stretch>
        </p:blipFill>
        <p:spPr>
          <a:xfrm>
            <a:off x="731520" y="1371600"/>
            <a:ext cx="219456" cy="219456"/>
          </a:xfrm>
          <a:prstGeom prst="rect">
            <a:avLst/>
          </a:prstGeom>
        </p:spPr>
      </p:pic>
      <p:sp>
        <p:nvSpPr>
          <p:cNvPr id="7" name="Text 3"/>
          <p:cNvSpPr txBox="1"/>
          <p:nvPr/>
        </p:nvSpPr>
        <p:spPr>
          <a:xfrm>
            <a:off x="1170432" y="122529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Piano</a:t>
            </a:r>
            <a:endParaRPr lang="en-US" sz="1400" dirty="0"/>
          </a:p>
        </p:txBody>
      </p:sp>
      <p:sp>
        <p:nvSpPr>
          <p:cNvPr id="8" name="Text 4"/>
          <p:cNvSpPr txBox="1"/>
          <p:nvPr/>
        </p:nvSpPr>
        <p:spPr>
          <a:xfrm>
            <a:off x="621792" y="1810512"/>
            <a:ext cx="3694176" cy="406908"/>
          </a:xfrm>
          <a:prstGeom prst="rect">
            <a:avLst/>
          </a:prstGeom>
          <a:noFill/>
          <a:ln/>
        </p:spPr>
        <p:txBody>
          <a:bodyPr wrap="square" lIns="0" tIns="0" rIns="0" bIns="0" rtlCol="0" anchor="t"/>
          <a:lstStyle/>
          <a:p>
            <a:pPr indent="0" marL="0">
              <a:buNone/>
            </a:pPr>
            <a:r>
              <a:rPr lang="en-US" sz="1200" dirty="0">
                <a:solidFill>
                  <a:schemeClr val="tx2"/>
                </a:solidFill>
              </a:rPr>
              <a:t>Gratuito, individuale, team, enterprise: modelli, limiti, funzioni e condizioni sui dati diversi</a:t>
            </a:r>
            <a:endParaRPr lang="en-US" sz="1200" dirty="0"/>
          </a:p>
        </p:txBody>
      </p:sp>
      <p:sp>
        <p:nvSpPr>
          <p:cNvPr id="9" name="Area geografica"/>
          <p:cNvSpPr/>
          <p:nvPr/>
        </p:nvSpPr>
        <p:spPr>
          <a:xfrm>
            <a:off x="4663440" y="1097280"/>
            <a:ext cx="4023360" cy="1211580"/>
          </a:xfrm>
          <a:prstGeom prst="roundRect">
            <a:avLst>
              <a:gd name="adj" fmla="val 6038"/>
            </a:avLst>
          </a:prstGeom>
          <a:solidFill>
            <a:schemeClr val="bg2"/>
          </a:solidFill>
          <a:ln/>
        </p:spPr>
      </p:sp>
      <p:sp>
        <p:nvSpPr>
          <p:cNvPr id="10" name="cerchio FiGlobe"/>
          <p:cNvSpPr/>
          <p:nvPr/>
        </p:nvSpPr>
        <p:spPr>
          <a:xfrm>
            <a:off x="4828032" y="1261872"/>
            <a:ext cx="438912" cy="438912"/>
          </a:xfrm>
          <a:prstGeom prst="ellipse">
            <a:avLst/>
          </a:prstGeom>
          <a:solidFill>
            <a:schemeClr val="accent1"/>
          </a:solidFill>
          <a:ln/>
        </p:spPr>
      </p:sp>
      <p:pic>
        <p:nvPicPr>
          <p:cNvPr id="11" name="Image 1" descr="FiGlobe">    </p:cNvPr>
          <p:cNvPicPr>
            <a:picLocks noChangeAspect="1"/>
          </p:cNvPicPr>
          <p:nvPr/>
        </p:nvPicPr>
        <p:blipFill>
          <a:blip r:embed="rId2"/>
          <a:stretch>
            <a:fillRect/>
          </a:stretch>
        </p:blipFill>
        <p:spPr>
          <a:xfrm>
            <a:off x="4937760" y="1371600"/>
            <a:ext cx="219456" cy="219456"/>
          </a:xfrm>
          <a:prstGeom prst="rect">
            <a:avLst/>
          </a:prstGeom>
        </p:spPr>
      </p:pic>
      <p:sp>
        <p:nvSpPr>
          <p:cNvPr id="12" name="Text 7"/>
          <p:cNvSpPr txBox="1"/>
          <p:nvPr/>
        </p:nvSpPr>
        <p:spPr>
          <a:xfrm>
            <a:off x="5376672" y="122529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Area geografica</a:t>
            </a:r>
            <a:endParaRPr lang="en-US" sz="1400" dirty="0"/>
          </a:p>
        </p:txBody>
      </p:sp>
      <p:sp>
        <p:nvSpPr>
          <p:cNvPr id="13" name="Text 8"/>
          <p:cNvSpPr txBox="1"/>
          <p:nvPr/>
        </p:nvSpPr>
        <p:spPr>
          <a:xfrm>
            <a:off x="4828032" y="1810512"/>
            <a:ext cx="3694176" cy="406908"/>
          </a:xfrm>
          <a:prstGeom prst="rect">
            <a:avLst/>
          </a:prstGeom>
          <a:noFill/>
          <a:ln/>
        </p:spPr>
        <p:txBody>
          <a:bodyPr wrap="square" lIns="0" tIns="0" rIns="0" bIns="0" rtlCol="0" anchor="t"/>
          <a:lstStyle/>
          <a:p>
            <a:pPr indent="0" marL="0">
              <a:buNone/>
            </a:pPr>
            <a:r>
              <a:rPr lang="en-US" sz="1200" dirty="0">
                <a:solidFill>
                  <a:schemeClr val="tx2"/>
                </a:solidFill>
              </a:rPr>
              <a:t>Funzioni lanciate prima altrove, o limitate per ragioni normative</a:t>
            </a:r>
            <a:endParaRPr lang="en-US" sz="1200" dirty="0"/>
          </a:p>
        </p:txBody>
      </p:sp>
      <p:sp>
        <p:nvSpPr>
          <p:cNvPr id="14" name="Configurazione organizzativa"/>
          <p:cNvSpPr/>
          <p:nvPr/>
        </p:nvSpPr>
        <p:spPr>
          <a:xfrm>
            <a:off x="457200" y="2491740"/>
            <a:ext cx="4023360" cy="1211580"/>
          </a:xfrm>
          <a:prstGeom prst="roundRect">
            <a:avLst>
              <a:gd name="adj" fmla="val 6038"/>
            </a:avLst>
          </a:prstGeom>
          <a:solidFill>
            <a:schemeClr val="bg2"/>
          </a:solidFill>
          <a:ln/>
        </p:spPr>
      </p:sp>
      <p:sp>
        <p:nvSpPr>
          <p:cNvPr id="15" name="cerchio FiSettings"/>
          <p:cNvSpPr/>
          <p:nvPr/>
        </p:nvSpPr>
        <p:spPr>
          <a:xfrm>
            <a:off x="621792" y="2656332"/>
            <a:ext cx="438912" cy="438912"/>
          </a:xfrm>
          <a:prstGeom prst="ellipse">
            <a:avLst/>
          </a:prstGeom>
          <a:solidFill>
            <a:schemeClr val="accent1"/>
          </a:solidFill>
          <a:ln/>
        </p:spPr>
      </p:sp>
      <p:pic>
        <p:nvPicPr>
          <p:cNvPr id="16" name="Image 2" descr="FiSettings">    </p:cNvPr>
          <p:cNvPicPr>
            <a:picLocks noChangeAspect="1"/>
          </p:cNvPicPr>
          <p:nvPr/>
        </p:nvPicPr>
        <p:blipFill>
          <a:blip r:embed="rId3"/>
          <a:stretch>
            <a:fillRect/>
          </a:stretch>
        </p:blipFill>
        <p:spPr>
          <a:xfrm>
            <a:off x="731520" y="2766060"/>
            <a:ext cx="219456" cy="219456"/>
          </a:xfrm>
          <a:prstGeom prst="rect">
            <a:avLst/>
          </a:prstGeom>
        </p:spPr>
      </p:pic>
      <p:sp>
        <p:nvSpPr>
          <p:cNvPr id="17" name="Text 11"/>
          <p:cNvSpPr txBox="1"/>
          <p:nvPr/>
        </p:nvSpPr>
        <p:spPr>
          <a:xfrm>
            <a:off x="1170432" y="261975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Configurazione organizzativa</a:t>
            </a:r>
            <a:endParaRPr lang="en-US" sz="1400" dirty="0"/>
          </a:p>
        </p:txBody>
      </p:sp>
      <p:sp>
        <p:nvSpPr>
          <p:cNvPr id="18" name="Text 12"/>
          <p:cNvSpPr txBox="1"/>
          <p:nvPr/>
        </p:nvSpPr>
        <p:spPr>
          <a:xfrm>
            <a:off x="621792" y="3204972"/>
            <a:ext cx="3694176" cy="406908"/>
          </a:xfrm>
          <a:prstGeom prst="rect">
            <a:avLst/>
          </a:prstGeom>
          <a:noFill/>
          <a:ln/>
        </p:spPr>
        <p:txBody>
          <a:bodyPr wrap="square" lIns="0" tIns="0" rIns="0" bIns="0" rtlCol="0" anchor="t"/>
          <a:lstStyle/>
          <a:p>
            <a:pPr indent="0" marL="0">
              <a:buNone/>
            </a:pPr>
            <a:r>
              <a:rPr lang="en-US" sz="1200" dirty="0">
                <a:solidFill>
                  <a:schemeClr val="tx2"/>
                </a:solidFill>
              </a:rPr>
              <a:t>Gli amministratori attivano o disattivano funzioni</a:t>
            </a:r>
            <a:endParaRPr lang="en-US" sz="1200" dirty="0"/>
          </a:p>
        </p:txBody>
      </p:sp>
      <p:sp>
        <p:nvSpPr>
          <p:cNvPr id="19" name="Modalità di accesso"/>
          <p:cNvSpPr/>
          <p:nvPr/>
        </p:nvSpPr>
        <p:spPr>
          <a:xfrm>
            <a:off x="4663440" y="2491740"/>
            <a:ext cx="4023360" cy="1211580"/>
          </a:xfrm>
          <a:prstGeom prst="roundRect">
            <a:avLst>
              <a:gd name="adj" fmla="val 6038"/>
            </a:avLst>
          </a:prstGeom>
          <a:solidFill>
            <a:schemeClr val="bg2"/>
          </a:solidFill>
          <a:ln/>
        </p:spPr>
      </p:sp>
      <p:sp>
        <p:nvSpPr>
          <p:cNvPr id="20" name="cerchio FiSmartphone"/>
          <p:cNvSpPr/>
          <p:nvPr/>
        </p:nvSpPr>
        <p:spPr>
          <a:xfrm>
            <a:off x="4828032" y="2656332"/>
            <a:ext cx="438912" cy="438912"/>
          </a:xfrm>
          <a:prstGeom prst="ellipse">
            <a:avLst/>
          </a:prstGeom>
          <a:solidFill>
            <a:schemeClr val="accent1"/>
          </a:solidFill>
          <a:ln/>
        </p:spPr>
      </p:sp>
      <p:pic>
        <p:nvPicPr>
          <p:cNvPr id="21" name="Image 3" descr="FiSmartphone">    </p:cNvPr>
          <p:cNvPicPr>
            <a:picLocks noChangeAspect="1"/>
          </p:cNvPicPr>
          <p:nvPr/>
        </p:nvPicPr>
        <p:blipFill>
          <a:blip r:embed="rId4"/>
          <a:stretch>
            <a:fillRect/>
          </a:stretch>
        </p:blipFill>
        <p:spPr>
          <a:xfrm>
            <a:off x="4937760" y="2766060"/>
            <a:ext cx="219456" cy="219456"/>
          </a:xfrm>
          <a:prstGeom prst="rect">
            <a:avLst/>
          </a:prstGeom>
        </p:spPr>
      </p:pic>
      <p:sp>
        <p:nvSpPr>
          <p:cNvPr id="22" name="Text 15"/>
          <p:cNvSpPr txBox="1"/>
          <p:nvPr/>
        </p:nvSpPr>
        <p:spPr>
          <a:xfrm>
            <a:off x="5376672" y="261975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Modalità di accesso</a:t>
            </a:r>
            <a:endParaRPr lang="en-US" sz="1400" dirty="0"/>
          </a:p>
        </p:txBody>
      </p:sp>
      <p:sp>
        <p:nvSpPr>
          <p:cNvPr id="23" name="Text 16"/>
          <p:cNvSpPr txBox="1"/>
          <p:nvPr/>
        </p:nvSpPr>
        <p:spPr>
          <a:xfrm>
            <a:off x="4828032" y="3204972"/>
            <a:ext cx="3694176" cy="406908"/>
          </a:xfrm>
          <a:prstGeom prst="rect">
            <a:avLst/>
          </a:prstGeom>
          <a:noFill/>
          <a:ln/>
        </p:spPr>
        <p:txBody>
          <a:bodyPr wrap="square" lIns="0" tIns="0" rIns="0" bIns="0" rtlCol="0" anchor="t"/>
          <a:lstStyle/>
          <a:p>
            <a:pPr indent="0" marL="0">
              <a:buNone/>
            </a:pPr>
            <a:r>
              <a:rPr lang="en-US" sz="1200" dirty="0">
                <a:solidFill>
                  <a:schemeClr val="tx2"/>
                </a:solidFill>
              </a:rPr>
              <a:t>Web, app per computer, app mobile, API non sempre equivalenti</a:t>
            </a:r>
            <a:endParaRPr lang="en-US" sz="1200" dirty="0"/>
          </a:p>
        </p:txBody>
      </p:sp>
      <p:sp>
        <p:nvSpPr>
          <p:cNvPr id="24" name="messaggio"/>
          <p:cNvSpPr/>
          <p:nvPr/>
        </p:nvSpPr>
        <p:spPr>
          <a:xfrm>
            <a:off x="457200" y="3886200"/>
            <a:ext cx="8229600" cy="640080"/>
          </a:xfrm>
          <a:prstGeom prst="roundRect">
            <a:avLst>
              <a:gd name="adj" fmla="val 11429"/>
            </a:avLst>
          </a:prstGeom>
          <a:solidFill>
            <a:schemeClr val="tx1"/>
          </a:solidFill>
          <a:ln/>
        </p:spPr>
      </p:sp>
      <p:sp>
        <p:nvSpPr>
          <p:cNvPr id="25" name="Text 18"/>
          <p:cNvSpPr txBox="1"/>
          <p:nvPr/>
        </p:nvSpPr>
        <p:spPr>
          <a:xfrm>
            <a:off x="640080" y="3886200"/>
            <a:ext cx="7863840" cy="640080"/>
          </a:xfrm>
          <a:prstGeom prst="rect">
            <a:avLst/>
          </a:prstGeom>
          <a:noFill/>
          <a:ln/>
        </p:spPr>
        <p:txBody>
          <a:bodyPr wrap="square" lIns="0" tIns="0" rIns="0" bIns="0" rtlCol="0" anchor="ctr"/>
          <a:lstStyle/>
          <a:p>
            <a:pPr indent="0" marL="0">
              <a:buNone/>
            </a:pPr>
            <a:r>
              <a:rPr lang="en-US" sz="1300" dirty="0">
                <a:solidFill>
                  <a:schemeClr val="bg1"/>
                </a:solidFill>
              </a:rPr>
              <a:t>"Lo strumento X può fare Y": in quale piano, in quale paese, con quale configurazione, da quale applicazione?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Capacità dichiarate e funzionalità disponibili</a:t>
            </a:r>
            <a:endParaRPr lang="en-US" sz="2600" dirty="0"/>
          </a:p>
        </p:txBody>
      </p:sp>
      <p:sp>
        <p:nvSpPr>
          <p:cNvPr id="4" name="Documentazione ufficiale"/>
          <p:cNvSpPr/>
          <p:nvPr/>
        </p:nvSpPr>
        <p:spPr>
          <a:xfrm>
            <a:off x="457200" y="1143000"/>
            <a:ext cx="1874520" cy="2286000"/>
          </a:xfrm>
          <a:prstGeom prst="roundRect">
            <a:avLst>
              <a:gd name="adj" fmla="val 3902"/>
            </a:avLst>
          </a:prstGeom>
          <a:solidFill>
            <a:schemeClr val="bg2"/>
          </a:solidFill>
          <a:ln/>
        </p:spPr>
      </p:sp>
      <p:sp>
        <p:nvSpPr>
          <p:cNvPr id="5" name="cerchio FiBookOpen"/>
          <p:cNvSpPr/>
          <p:nvPr/>
        </p:nvSpPr>
        <p:spPr>
          <a:xfrm>
            <a:off x="1115568" y="1280160"/>
            <a:ext cx="548640" cy="548640"/>
          </a:xfrm>
          <a:prstGeom prst="ellipse">
            <a:avLst/>
          </a:prstGeom>
          <a:solidFill>
            <a:schemeClr val="accent1"/>
          </a:solidFill>
          <a:ln/>
        </p:spPr>
      </p:sp>
      <p:pic>
        <p:nvPicPr>
          <p:cNvPr id="6" name="Image 0" descr="FiBookOpen">    </p:cNvPr>
          <p:cNvPicPr>
            <a:picLocks noChangeAspect="1"/>
          </p:cNvPicPr>
          <p:nvPr/>
        </p:nvPicPr>
        <p:blipFill>
          <a:blip r:embed="rId1"/>
          <a:stretch>
            <a:fillRect/>
          </a:stretch>
        </p:blipFill>
        <p:spPr>
          <a:xfrm>
            <a:off x="1252728" y="1417320"/>
            <a:ext cx="274320" cy="274320"/>
          </a:xfrm>
          <a:prstGeom prst="rect">
            <a:avLst/>
          </a:prstGeom>
        </p:spPr>
      </p:pic>
      <p:sp>
        <p:nvSpPr>
          <p:cNvPr id="7" name="Text 3"/>
          <p:cNvSpPr txBox="1"/>
          <p:nvPr/>
        </p:nvSpPr>
        <p:spPr>
          <a:xfrm>
            <a:off x="548640" y="1920240"/>
            <a:ext cx="1691640" cy="548640"/>
          </a:xfrm>
          <a:prstGeom prst="rect">
            <a:avLst/>
          </a:prstGeom>
          <a:noFill/>
          <a:ln/>
        </p:spPr>
        <p:txBody>
          <a:bodyPr wrap="square" lIns="0" tIns="0" rIns="0" bIns="0" rtlCol="0" anchor="ctr"/>
          <a:lstStyle/>
          <a:p>
            <a:pPr algn="ctr" indent="0" marL="0">
              <a:buNone/>
            </a:pPr>
            <a:r>
              <a:rPr lang="en-US" sz="1300" b="1" dirty="0">
                <a:solidFill>
                  <a:schemeClr val="tx1"/>
                </a:solidFill>
              </a:rPr>
              <a:t>1. Documentazione ufficiale</a:t>
            </a:r>
            <a:endParaRPr lang="en-US" sz="1300" dirty="0"/>
          </a:p>
        </p:txBody>
      </p:sp>
      <p:sp>
        <p:nvSpPr>
          <p:cNvPr id="8" name="Text 4"/>
          <p:cNvSpPr txBox="1"/>
          <p:nvPr/>
        </p:nvSpPr>
        <p:spPr>
          <a:xfrm>
            <a:off x="594360" y="2514600"/>
            <a:ext cx="1600200" cy="822960"/>
          </a:xfrm>
          <a:prstGeom prst="rect">
            <a:avLst/>
          </a:prstGeom>
          <a:noFill/>
          <a:ln/>
        </p:spPr>
        <p:txBody>
          <a:bodyPr wrap="square" lIns="0" tIns="0" rIns="0" bIns="0" rtlCol="0" anchor="t"/>
          <a:lstStyle/>
          <a:p>
            <a:pPr algn="ctr" indent="0" marL="0">
              <a:buNone/>
            </a:pPr>
            <a:r>
              <a:rPr lang="en-US" sz="1100" dirty="0">
                <a:solidFill>
                  <a:schemeClr val="tx2"/>
                </a:solidFill>
              </a:rPr>
              <a:t>Non solo gli annunci: disponibilità, limiti, requisiti</a:t>
            </a:r>
            <a:endParaRPr lang="en-US" sz="1100" dirty="0"/>
          </a:p>
        </p:txBody>
      </p:sp>
      <p:sp>
        <p:nvSpPr>
          <p:cNvPr id="9" name="freccia"/>
          <p:cNvSpPr/>
          <p:nvPr/>
        </p:nvSpPr>
        <p:spPr>
          <a:xfrm>
            <a:off x="2350008" y="2103120"/>
            <a:ext cx="219456" cy="292608"/>
          </a:xfrm>
          <a:prstGeom prst="rightArrow">
            <a:avLst/>
          </a:prstGeom>
          <a:solidFill>
            <a:schemeClr val="accent2"/>
          </a:solidFill>
          <a:ln/>
        </p:spPr>
      </p:sp>
      <p:sp>
        <p:nvSpPr>
          <p:cNvPr id="10" name="Configurazione specifica"/>
          <p:cNvSpPr/>
          <p:nvPr/>
        </p:nvSpPr>
        <p:spPr>
          <a:xfrm>
            <a:off x="2587752" y="1143000"/>
            <a:ext cx="1874520" cy="2286000"/>
          </a:xfrm>
          <a:prstGeom prst="roundRect">
            <a:avLst>
              <a:gd name="adj" fmla="val 3902"/>
            </a:avLst>
          </a:prstGeom>
          <a:solidFill>
            <a:schemeClr val="bg2"/>
          </a:solidFill>
          <a:ln/>
        </p:spPr>
      </p:sp>
      <p:sp>
        <p:nvSpPr>
          <p:cNvPr id="11" name="cerchio FiSettings"/>
          <p:cNvSpPr/>
          <p:nvPr/>
        </p:nvSpPr>
        <p:spPr>
          <a:xfrm>
            <a:off x="3246120" y="1280160"/>
            <a:ext cx="548640" cy="548640"/>
          </a:xfrm>
          <a:prstGeom prst="ellipse">
            <a:avLst/>
          </a:prstGeom>
          <a:solidFill>
            <a:schemeClr val="accent1"/>
          </a:solidFill>
          <a:ln/>
        </p:spPr>
      </p:sp>
      <p:pic>
        <p:nvPicPr>
          <p:cNvPr id="12" name="Image 1" descr="FiSettings">    </p:cNvPr>
          <p:cNvPicPr>
            <a:picLocks noChangeAspect="1"/>
          </p:cNvPicPr>
          <p:nvPr/>
        </p:nvPicPr>
        <p:blipFill>
          <a:blip r:embed="rId2"/>
          <a:stretch>
            <a:fillRect/>
          </a:stretch>
        </p:blipFill>
        <p:spPr>
          <a:xfrm>
            <a:off x="3383280" y="1417320"/>
            <a:ext cx="274320" cy="274320"/>
          </a:xfrm>
          <a:prstGeom prst="rect">
            <a:avLst/>
          </a:prstGeom>
        </p:spPr>
      </p:pic>
      <p:sp>
        <p:nvSpPr>
          <p:cNvPr id="13" name="Text 8"/>
          <p:cNvSpPr txBox="1"/>
          <p:nvPr/>
        </p:nvSpPr>
        <p:spPr>
          <a:xfrm>
            <a:off x="2679192" y="1920240"/>
            <a:ext cx="1691640" cy="548640"/>
          </a:xfrm>
          <a:prstGeom prst="rect">
            <a:avLst/>
          </a:prstGeom>
          <a:noFill/>
          <a:ln/>
        </p:spPr>
        <p:txBody>
          <a:bodyPr wrap="square" lIns="0" tIns="0" rIns="0" bIns="0" rtlCol="0" anchor="ctr"/>
          <a:lstStyle/>
          <a:p>
            <a:pPr algn="ctr" indent="0" marL="0">
              <a:buNone/>
            </a:pPr>
            <a:r>
              <a:rPr lang="en-US" sz="1300" b="1" dirty="0">
                <a:solidFill>
                  <a:schemeClr val="tx1"/>
                </a:solidFill>
              </a:rPr>
              <a:t>2. Configurazione specifica</a:t>
            </a:r>
            <a:endParaRPr lang="en-US" sz="1300" dirty="0"/>
          </a:p>
        </p:txBody>
      </p:sp>
      <p:sp>
        <p:nvSpPr>
          <p:cNvPr id="14" name="Text 9"/>
          <p:cNvSpPr txBox="1"/>
          <p:nvPr/>
        </p:nvSpPr>
        <p:spPr>
          <a:xfrm>
            <a:off x="2724912" y="2514600"/>
            <a:ext cx="1600200" cy="822960"/>
          </a:xfrm>
          <a:prstGeom prst="rect">
            <a:avLst/>
          </a:prstGeom>
          <a:noFill/>
          <a:ln/>
        </p:spPr>
        <p:txBody>
          <a:bodyPr wrap="square" lIns="0" tIns="0" rIns="0" bIns="0" rtlCol="0" anchor="t"/>
          <a:lstStyle/>
          <a:p>
            <a:pPr algn="ctr" indent="0" marL="0">
              <a:buNone/>
            </a:pPr>
            <a:r>
              <a:rPr lang="en-US" sz="1100" dirty="0">
                <a:solidFill>
                  <a:schemeClr val="tx2"/>
                </a:solidFill>
              </a:rPr>
              <a:t>Piano, paese, impostazioni dell'amministratore</a:t>
            </a:r>
            <a:endParaRPr lang="en-US" sz="1100" dirty="0"/>
          </a:p>
        </p:txBody>
      </p:sp>
      <p:sp>
        <p:nvSpPr>
          <p:cNvPr id="15" name="freccia"/>
          <p:cNvSpPr/>
          <p:nvPr/>
        </p:nvSpPr>
        <p:spPr>
          <a:xfrm>
            <a:off x="4480560" y="2103120"/>
            <a:ext cx="219456" cy="292608"/>
          </a:xfrm>
          <a:prstGeom prst="rightArrow">
            <a:avLst/>
          </a:prstGeom>
          <a:solidFill>
            <a:schemeClr val="accent2"/>
          </a:solidFill>
          <a:ln/>
        </p:spPr>
      </p:sp>
      <p:sp>
        <p:nvSpPr>
          <p:cNvPr id="16" name="Prova nell'ambiente reale"/>
          <p:cNvSpPr/>
          <p:nvPr/>
        </p:nvSpPr>
        <p:spPr>
          <a:xfrm>
            <a:off x="4718304" y="1143000"/>
            <a:ext cx="1874520" cy="2286000"/>
          </a:xfrm>
          <a:prstGeom prst="roundRect">
            <a:avLst>
              <a:gd name="adj" fmla="val 3902"/>
            </a:avLst>
          </a:prstGeom>
          <a:solidFill>
            <a:schemeClr val="accent6"/>
          </a:solidFill>
          <a:ln/>
        </p:spPr>
      </p:sp>
      <p:sp>
        <p:nvSpPr>
          <p:cNvPr id="17" name="cerchio FiPlay"/>
          <p:cNvSpPr/>
          <p:nvPr/>
        </p:nvSpPr>
        <p:spPr>
          <a:xfrm>
            <a:off x="5376672" y="1280160"/>
            <a:ext cx="548640" cy="548640"/>
          </a:xfrm>
          <a:prstGeom prst="ellipse">
            <a:avLst/>
          </a:prstGeom>
          <a:solidFill>
            <a:schemeClr val="accent1"/>
          </a:solidFill>
          <a:ln/>
        </p:spPr>
      </p:sp>
      <p:pic>
        <p:nvPicPr>
          <p:cNvPr id="18" name="Image 2" descr="FiPlay">    </p:cNvPr>
          <p:cNvPicPr>
            <a:picLocks noChangeAspect="1"/>
          </p:cNvPicPr>
          <p:nvPr/>
        </p:nvPicPr>
        <p:blipFill>
          <a:blip r:embed="rId3"/>
          <a:stretch>
            <a:fillRect/>
          </a:stretch>
        </p:blipFill>
        <p:spPr>
          <a:xfrm>
            <a:off x="5513832" y="1417320"/>
            <a:ext cx="274320" cy="274320"/>
          </a:xfrm>
          <a:prstGeom prst="rect">
            <a:avLst/>
          </a:prstGeom>
        </p:spPr>
      </p:pic>
      <p:sp>
        <p:nvSpPr>
          <p:cNvPr id="19" name="Text 13"/>
          <p:cNvSpPr txBox="1"/>
          <p:nvPr/>
        </p:nvSpPr>
        <p:spPr>
          <a:xfrm>
            <a:off x="4809744" y="1920240"/>
            <a:ext cx="1691640" cy="548640"/>
          </a:xfrm>
          <a:prstGeom prst="rect">
            <a:avLst/>
          </a:prstGeom>
          <a:noFill/>
          <a:ln/>
        </p:spPr>
        <p:txBody>
          <a:bodyPr wrap="square" lIns="0" tIns="0" rIns="0" bIns="0" rtlCol="0" anchor="ctr"/>
          <a:lstStyle/>
          <a:p>
            <a:pPr algn="ctr" indent="0" marL="0">
              <a:buNone/>
            </a:pPr>
            <a:r>
              <a:rPr lang="en-US" sz="1300" b="1" dirty="0">
                <a:solidFill>
                  <a:schemeClr val="tx1"/>
                </a:solidFill>
              </a:rPr>
              <a:t>3. Prova nell'ambiente reale</a:t>
            </a:r>
            <a:endParaRPr lang="en-US" sz="1300" dirty="0"/>
          </a:p>
        </p:txBody>
      </p:sp>
      <p:sp>
        <p:nvSpPr>
          <p:cNvPr id="20" name="Text 14"/>
          <p:cNvSpPr txBox="1"/>
          <p:nvPr/>
        </p:nvSpPr>
        <p:spPr>
          <a:xfrm>
            <a:off x="4855464" y="2514600"/>
            <a:ext cx="1600200" cy="822960"/>
          </a:xfrm>
          <a:prstGeom prst="rect">
            <a:avLst/>
          </a:prstGeom>
          <a:noFill/>
          <a:ln/>
        </p:spPr>
        <p:txBody>
          <a:bodyPr wrap="square" lIns="0" tIns="0" rIns="0" bIns="0" rtlCol="0" anchor="t"/>
          <a:lstStyle/>
          <a:p>
            <a:pPr algn="ctr" indent="0" marL="0">
              <a:buNone/>
            </a:pPr>
            <a:r>
              <a:rPr lang="en-US" sz="1100" dirty="0">
                <a:solidFill>
                  <a:schemeClr val="tx2"/>
                </a:solidFill>
              </a:rPr>
              <a:t>Con i propri casi e dati di prova</a:t>
            </a:r>
            <a:endParaRPr lang="en-US" sz="1100" dirty="0"/>
          </a:p>
        </p:txBody>
      </p:sp>
      <p:sp>
        <p:nvSpPr>
          <p:cNvPr id="21" name="freccia"/>
          <p:cNvSpPr/>
          <p:nvPr/>
        </p:nvSpPr>
        <p:spPr>
          <a:xfrm>
            <a:off x="6611112" y="2103120"/>
            <a:ext cx="219456" cy="292608"/>
          </a:xfrm>
          <a:prstGeom prst="rightArrow">
            <a:avLst/>
          </a:prstGeom>
          <a:solidFill>
            <a:schemeClr val="accent2"/>
          </a:solidFill>
          <a:ln/>
        </p:spPr>
      </p:sp>
      <p:sp>
        <p:nvSpPr>
          <p:cNvPr id="22" name="Condizioni"/>
          <p:cNvSpPr/>
          <p:nvPr/>
        </p:nvSpPr>
        <p:spPr>
          <a:xfrm>
            <a:off x="6848856" y="1143000"/>
            <a:ext cx="1874520" cy="2286000"/>
          </a:xfrm>
          <a:prstGeom prst="roundRect">
            <a:avLst>
              <a:gd name="adj" fmla="val 3902"/>
            </a:avLst>
          </a:prstGeom>
          <a:solidFill>
            <a:schemeClr val="bg2"/>
          </a:solidFill>
          <a:ln/>
        </p:spPr>
      </p:sp>
      <p:sp>
        <p:nvSpPr>
          <p:cNvPr id="23" name="cerchio FiFileText"/>
          <p:cNvSpPr/>
          <p:nvPr/>
        </p:nvSpPr>
        <p:spPr>
          <a:xfrm>
            <a:off x="7507224" y="1280160"/>
            <a:ext cx="548640" cy="548640"/>
          </a:xfrm>
          <a:prstGeom prst="ellipse">
            <a:avLst/>
          </a:prstGeom>
          <a:solidFill>
            <a:schemeClr val="accent1"/>
          </a:solidFill>
          <a:ln/>
        </p:spPr>
      </p:sp>
      <p:pic>
        <p:nvPicPr>
          <p:cNvPr id="24" name="Image 3" descr="FiFileText">    </p:cNvPr>
          <p:cNvPicPr>
            <a:picLocks noChangeAspect="1"/>
          </p:cNvPicPr>
          <p:nvPr/>
        </p:nvPicPr>
        <p:blipFill>
          <a:blip r:embed="rId4"/>
          <a:stretch>
            <a:fillRect/>
          </a:stretch>
        </p:blipFill>
        <p:spPr>
          <a:xfrm>
            <a:off x="7644384" y="1417320"/>
            <a:ext cx="274320" cy="274320"/>
          </a:xfrm>
          <a:prstGeom prst="rect">
            <a:avLst/>
          </a:prstGeom>
        </p:spPr>
      </p:pic>
      <p:sp>
        <p:nvSpPr>
          <p:cNvPr id="25" name="Text 18"/>
          <p:cNvSpPr txBox="1"/>
          <p:nvPr/>
        </p:nvSpPr>
        <p:spPr>
          <a:xfrm>
            <a:off x="6940296" y="1920240"/>
            <a:ext cx="1691640" cy="548640"/>
          </a:xfrm>
          <a:prstGeom prst="rect">
            <a:avLst/>
          </a:prstGeom>
          <a:noFill/>
          <a:ln/>
        </p:spPr>
        <p:txBody>
          <a:bodyPr wrap="square" lIns="0" tIns="0" rIns="0" bIns="0" rtlCol="0" anchor="ctr"/>
          <a:lstStyle/>
          <a:p>
            <a:pPr algn="ctr" indent="0" marL="0">
              <a:buNone/>
            </a:pPr>
            <a:r>
              <a:rPr lang="en-US" sz="1300" b="1" dirty="0">
                <a:solidFill>
                  <a:schemeClr val="tx1"/>
                </a:solidFill>
              </a:rPr>
              <a:t>4. Condizioni</a:t>
            </a:r>
            <a:endParaRPr lang="en-US" sz="1300" dirty="0"/>
          </a:p>
        </p:txBody>
      </p:sp>
      <p:sp>
        <p:nvSpPr>
          <p:cNvPr id="26" name="Text 19"/>
          <p:cNvSpPr txBox="1"/>
          <p:nvPr/>
        </p:nvSpPr>
        <p:spPr>
          <a:xfrm>
            <a:off x="6986016" y="2514600"/>
            <a:ext cx="1600200" cy="822960"/>
          </a:xfrm>
          <a:prstGeom prst="rect">
            <a:avLst/>
          </a:prstGeom>
          <a:noFill/>
          <a:ln/>
        </p:spPr>
        <p:txBody>
          <a:bodyPr wrap="square" lIns="0" tIns="0" rIns="0" bIns="0" rtlCol="0" anchor="t"/>
          <a:lstStyle/>
          <a:p>
            <a:pPr algn="ctr" indent="0" marL="0">
              <a:buNone/>
            </a:pPr>
            <a:r>
              <a:rPr lang="en-US" sz="1100" dirty="0">
                <a:solidFill>
                  <a:schemeClr val="tx2"/>
                </a:solidFill>
              </a:rPr>
              <a:t>Limiti d'uso, costi aggiuntivi, termini sui dati</a:t>
            </a:r>
            <a:endParaRPr lang="en-US" sz="1100" dirty="0"/>
          </a:p>
        </p:txBody>
      </p:sp>
      <p:sp>
        <p:nvSpPr>
          <p:cNvPr id="27" name="Text 20"/>
          <p:cNvSpPr txBox="1"/>
          <p:nvPr/>
        </p:nvSpPr>
        <p:spPr>
          <a:xfrm>
            <a:off x="457200" y="3611880"/>
            <a:ext cx="8229600" cy="274320"/>
          </a:xfrm>
          <a:prstGeom prst="rect">
            <a:avLst/>
          </a:prstGeom>
          <a:noFill/>
          <a:ln/>
        </p:spPr>
        <p:txBody>
          <a:bodyPr wrap="square" lIns="0" tIns="0" rIns="0" bIns="0" rtlCol="0" anchor="t"/>
          <a:lstStyle/>
          <a:p>
            <a:pPr indent="0" marL="0">
              <a:buNone/>
            </a:pPr>
            <a:r>
              <a:rPr lang="en-US" sz="1300" b="1" dirty="0">
                <a:solidFill>
                  <a:schemeClr val="tx1"/>
                </a:solidFill>
              </a:rPr>
              <a:t>Segnali da non sottovalutare</a:t>
            </a:r>
            <a:endParaRPr lang="en-US" sz="1300" dirty="0"/>
          </a:p>
        </p:txBody>
      </p:sp>
      <p:sp>
        <p:nvSpPr>
          <p:cNvPr id="28" name="blocco &quot;Anteprima&quot;"/>
          <p:cNvSpPr/>
          <p:nvPr/>
        </p:nvSpPr>
        <p:spPr>
          <a:xfrm>
            <a:off x="457200" y="3977640"/>
            <a:ext cx="1965960" cy="502920"/>
          </a:xfrm>
          <a:prstGeom prst="roundRect">
            <a:avLst>
              <a:gd name="adj" fmla="val 21818"/>
            </a:avLst>
          </a:prstGeom>
          <a:solidFill>
            <a:schemeClr val="bg1"/>
          </a:solidFill>
          <a:ln w="15875">
            <a:solidFill>
              <a:schemeClr val="accent5"/>
            </a:solidFill>
            <a:prstDash val="solid"/>
          </a:ln>
        </p:spPr>
      </p:sp>
      <p:sp>
        <p:nvSpPr>
          <p:cNvPr id="29" name="Text 22"/>
          <p:cNvSpPr txBox="1"/>
          <p:nvPr/>
        </p:nvSpPr>
        <p:spPr>
          <a:xfrm>
            <a:off x="502920" y="3977640"/>
            <a:ext cx="1874520" cy="502920"/>
          </a:xfrm>
          <a:prstGeom prst="rect">
            <a:avLst/>
          </a:prstGeom>
          <a:noFill/>
          <a:ln/>
        </p:spPr>
        <p:txBody>
          <a:bodyPr wrap="square" lIns="0" tIns="0" rIns="0" bIns="0" rtlCol="0" anchor="ctr"/>
          <a:lstStyle/>
          <a:p>
            <a:pPr algn="ctr" indent="0" marL="0">
              <a:buNone/>
            </a:pPr>
            <a:r>
              <a:rPr lang="en-US" sz="1300" b="1" dirty="0">
                <a:solidFill>
                  <a:schemeClr val="accent5"/>
                </a:solidFill>
              </a:rPr>
              <a:t>"Anteprima"</a:t>
            </a:r>
            <a:endParaRPr lang="en-US" sz="1300" dirty="0"/>
          </a:p>
        </p:txBody>
      </p:sp>
      <p:sp>
        <p:nvSpPr>
          <p:cNvPr id="30" name="blocco &quot;Beta&quot;"/>
          <p:cNvSpPr/>
          <p:nvPr/>
        </p:nvSpPr>
        <p:spPr>
          <a:xfrm>
            <a:off x="2560320" y="3977640"/>
            <a:ext cx="1965960" cy="502920"/>
          </a:xfrm>
          <a:prstGeom prst="roundRect">
            <a:avLst>
              <a:gd name="adj" fmla="val 21818"/>
            </a:avLst>
          </a:prstGeom>
          <a:solidFill>
            <a:schemeClr val="bg1"/>
          </a:solidFill>
          <a:ln w="15875">
            <a:solidFill>
              <a:schemeClr val="accent5"/>
            </a:solidFill>
            <a:prstDash val="solid"/>
          </a:ln>
        </p:spPr>
      </p:sp>
      <p:sp>
        <p:nvSpPr>
          <p:cNvPr id="31" name="Text 24"/>
          <p:cNvSpPr txBox="1"/>
          <p:nvPr/>
        </p:nvSpPr>
        <p:spPr>
          <a:xfrm>
            <a:off x="2606040" y="3977640"/>
            <a:ext cx="1874520" cy="502920"/>
          </a:xfrm>
          <a:prstGeom prst="rect">
            <a:avLst/>
          </a:prstGeom>
          <a:noFill/>
          <a:ln/>
        </p:spPr>
        <p:txBody>
          <a:bodyPr wrap="square" lIns="0" tIns="0" rIns="0" bIns="0" rtlCol="0" anchor="ctr"/>
          <a:lstStyle/>
          <a:p>
            <a:pPr algn="ctr" indent="0" marL="0">
              <a:buNone/>
            </a:pPr>
            <a:r>
              <a:rPr lang="en-US" sz="1300" b="1" dirty="0">
                <a:solidFill>
                  <a:schemeClr val="accent5"/>
                </a:solidFill>
              </a:rPr>
              <a:t>"Beta"</a:t>
            </a:r>
            <a:endParaRPr lang="en-US" sz="1300" dirty="0"/>
          </a:p>
        </p:txBody>
      </p:sp>
      <p:sp>
        <p:nvSpPr>
          <p:cNvPr id="32" name="blocco &quot;In arrivo&quot;"/>
          <p:cNvSpPr/>
          <p:nvPr/>
        </p:nvSpPr>
        <p:spPr>
          <a:xfrm>
            <a:off x="4663440" y="3977640"/>
            <a:ext cx="1965960" cy="502920"/>
          </a:xfrm>
          <a:prstGeom prst="roundRect">
            <a:avLst>
              <a:gd name="adj" fmla="val 21818"/>
            </a:avLst>
          </a:prstGeom>
          <a:solidFill>
            <a:schemeClr val="bg1"/>
          </a:solidFill>
          <a:ln w="15875">
            <a:solidFill>
              <a:schemeClr val="accent5"/>
            </a:solidFill>
            <a:prstDash val="solid"/>
          </a:ln>
        </p:spPr>
      </p:sp>
      <p:sp>
        <p:nvSpPr>
          <p:cNvPr id="33" name="Text 26"/>
          <p:cNvSpPr txBox="1"/>
          <p:nvPr/>
        </p:nvSpPr>
        <p:spPr>
          <a:xfrm>
            <a:off x="4709160" y="3977640"/>
            <a:ext cx="1874520" cy="502920"/>
          </a:xfrm>
          <a:prstGeom prst="rect">
            <a:avLst/>
          </a:prstGeom>
          <a:noFill/>
          <a:ln/>
        </p:spPr>
        <p:txBody>
          <a:bodyPr wrap="square" lIns="0" tIns="0" rIns="0" bIns="0" rtlCol="0" anchor="ctr"/>
          <a:lstStyle/>
          <a:p>
            <a:pPr algn="ctr" indent="0" marL="0">
              <a:buNone/>
            </a:pPr>
            <a:r>
              <a:rPr lang="en-US" sz="1300" b="1" dirty="0">
                <a:solidFill>
                  <a:schemeClr val="accent5"/>
                </a:solidFill>
              </a:rPr>
              <a:t>"In arrivo"</a:t>
            </a:r>
            <a:endParaRPr lang="en-US" sz="1300" dirty="0"/>
          </a:p>
        </p:txBody>
      </p:sp>
      <p:sp>
        <p:nvSpPr>
          <p:cNvPr id="34" name="blocco &quot;Per alcuni utenti&quot;"/>
          <p:cNvSpPr/>
          <p:nvPr/>
        </p:nvSpPr>
        <p:spPr>
          <a:xfrm>
            <a:off x="6766560" y="3977640"/>
            <a:ext cx="1965960" cy="502920"/>
          </a:xfrm>
          <a:prstGeom prst="roundRect">
            <a:avLst>
              <a:gd name="adj" fmla="val 21818"/>
            </a:avLst>
          </a:prstGeom>
          <a:solidFill>
            <a:schemeClr val="bg1"/>
          </a:solidFill>
          <a:ln w="15875">
            <a:solidFill>
              <a:schemeClr val="accent5"/>
            </a:solidFill>
            <a:prstDash val="solid"/>
          </a:ln>
        </p:spPr>
      </p:sp>
      <p:sp>
        <p:nvSpPr>
          <p:cNvPr id="35" name="Text 28"/>
          <p:cNvSpPr txBox="1"/>
          <p:nvPr/>
        </p:nvSpPr>
        <p:spPr>
          <a:xfrm>
            <a:off x="6812280" y="3977640"/>
            <a:ext cx="1874520" cy="502920"/>
          </a:xfrm>
          <a:prstGeom prst="rect">
            <a:avLst/>
          </a:prstGeom>
          <a:noFill/>
          <a:ln/>
        </p:spPr>
        <p:txBody>
          <a:bodyPr wrap="square" lIns="0" tIns="0" rIns="0" bIns="0" rtlCol="0" anchor="ctr"/>
          <a:lstStyle/>
          <a:p>
            <a:pPr algn="ctr" indent="0" marL="0">
              <a:buNone/>
            </a:pPr>
            <a:r>
              <a:rPr lang="en-US" sz="1300" b="1" dirty="0">
                <a:solidFill>
                  <a:schemeClr val="accent5"/>
                </a:solidFill>
              </a:rPr>
              <a:t>"Per alcuni utenti"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Due prodotti dall'interfaccia simile possono offrire capacità, integrazioni, controlli e condizioni molto diversi.</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4.3  ·  Le principali piattaforme e gli strumenti AI</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4.4</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AI generalista, specializzata e integrata</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Adottare l'AI non richiede necessariamente un nuovo applicativo separato</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Tre approcci</a:t>
            </a:r>
            <a:endParaRPr lang="en-US" sz="2600" dirty="0"/>
          </a:p>
        </p:txBody>
      </p:sp>
      <p:sp>
        <p:nvSpPr>
          <p:cNvPr id="4" name="scheda Generalista"/>
          <p:cNvSpPr/>
          <p:nvPr/>
        </p:nvSpPr>
        <p:spPr>
          <a:xfrm>
            <a:off x="457200" y="1097280"/>
            <a:ext cx="2615184" cy="2514600"/>
          </a:xfrm>
          <a:prstGeom prst="roundRect">
            <a:avLst>
              <a:gd name="adj" fmla="val 2909"/>
            </a:avLst>
          </a:prstGeom>
          <a:solidFill>
            <a:schemeClr val="bg2"/>
          </a:solidFill>
          <a:ln/>
        </p:spPr>
      </p:sp>
      <p:sp>
        <p:nvSpPr>
          <p:cNvPr id="5" name="cerchio FiMessageSquare"/>
          <p:cNvSpPr/>
          <p:nvPr/>
        </p:nvSpPr>
        <p:spPr>
          <a:xfrm>
            <a:off x="640080" y="1280160"/>
            <a:ext cx="457200" cy="457200"/>
          </a:xfrm>
          <a:prstGeom prst="ellipse">
            <a:avLst/>
          </a:prstGeom>
          <a:solidFill>
            <a:schemeClr val="accent1"/>
          </a:solidFill>
          <a:ln/>
        </p:spPr>
      </p:sp>
      <p:pic>
        <p:nvPicPr>
          <p:cNvPr id="6" name="Image 0" descr="FiMessageSquare">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2249424" cy="347472"/>
          </a:xfrm>
          <a:prstGeom prst="rect">
            <a:avLst/>
          </a:prstGeom>
          <a:noFill/>
          <a:ln/>
        </p:spPr>
        <p:txBody>
          <a:bodyPr wrap="square" lIns="0" tIns="0" rIns="0" bIns="0" rtlCol="0" anchor="t"/>
          <a:lstStyle/>
          <a:p>
            <a:pPr indent="0" marL="0">
              <a:buNone/>
            </a:pPr>
            <a:r>
              <a:rPr lang="en-US" sz="1600" b="1" dirty="0">
                <a:solidFill>
                  <a:schemeClr val="tx1"/>
                </a:solidFill>
              </a:rPr>
              <a:t>Generalista</a:t>
            </a:r>
            <a:endParaRPr lang="en-US" sz="1600" dirty="0"/>
          </a:p>
        </p:txBody>
      </p:sp>
      <p:sp>
        <p:nvSpPr>
          <p:cNvPr id="8" name="Text 4"/>
          <p:cNvSpPr txBox="1"/>
          <p:nvPr/>
        </p:nvSpPr>
        <p:spPr>
          <a:xfrm>
            <a:off x="640080" y="2231136"/>
            <a:ext cx="2249424" cy="1271016"/>
          </a:xfrm>
          <a:prstGeom prst="rect">
            <a:avLst/>
          </a:prstGeom>
          <a:noFill/>
          <a:ln/>
        </p:spPr>
        <p:txBody>
          <a:bodyPr wrap="square" lIns="0" tIns="0" rIns="0" bIns="0" rtlCol="0" anchor="t"/>
          <a:lstStyle/>
          <a:p>
            <a:pPr indent="0" marL="0">
              <a:spcAft>
                <a:spcPts val="800"/>
              </a:spcAft>
              <a:buNone/>
            </a:pPr>
            <a:r>
              <a:rPr lang="en-US" sz="1300" b="1" dirty="0">
                <a:solidFill>
                  <a:schemeClr val="accent1"/>
                </a:solidFill>
              </a:rPr>
              <a:t>Molti compiti diversi</a:t>
            </a:r>
            <a:endParaRPr lang="en-US" sz="1300" dirty="0"/>
          </a:p>
          <a:p>
            <a:pPr marL="177800" indent="-177800">
              <a:spcAft>
                <a:spcPts val="300"/>
              </a:spcAft>
              <a:buSzPct val="100000"/>
              <a:buChar char="•"/>
            </a:pPr>
            <a:r>
              <a:rPr lang="en-US" sz="1300" dirty="0">
                <a:solidFill>
                  <a:schemeClr val="tx2"/>
                </a:solidFill>
              </a:rPr>
              <a:t>Flessibile e immediata</a:t>
            </a:r>
            <a:endParaRPr lang="en-US" sz="1300" dirty="0"/>
          </a:p>
          <a:p>
            <a:pPr marL="177800" indent="-177800">
              <a:spcAft>
                <a:spcPts val="300"/>
              </a:spcAft>
              <a:buSzPct val="100000"/>
              <a:buChar char="•"/>
            </a:pPr>
            <a:r>
              <a:rPr lang="en-US" sz="1300" dirty="0">
                <a:solidFill>
                  <a:schemeClr val="tx2"/>
                </a:solidFill>
              </a:rPr>
              <a:t>L'utente porta il contesto</a:t>
            </a:r>
            <a:endParaRPr lang="en-US" sz="1300" dirty="0"/>
          </a:p>
        </p:txBody>
      </p:sp>
      <p:sp>
        <p:nvSpPr>
          <p:cNvPr id="9" name="scheda Specializzata"/>
          <p:cNvSpPr/>
          <p:nvPr/>
        </p:nvSpPr>
        <p:spPr>
          <a:xfrm>
            <a:off x="3264408" y="1097280"/>
            <a:ext cx="2615184" cy="2514600"/>
          </a:xfrm>
          <a:prstGeom prst="roundRect">
            <a:avLst>
              <a:gd name="adj" fmla="val 2909"/>
            </a:avLst>
          </a:prstGeom>
          <a:solidFill>
            <a:schemeClr val="bg2"/>
          </a:solidFill>
          <a:ln/>
        </p:spPr>
      </p:sp>
      <p:sp>
        <p:nvSpPr>
          <p:cNvPr id="10" name="cerchio FiCrosshair"/>
          <p:cNvSpPr/>
          <p:nvPr/>
        </p:nvSpPr>
        <p:spPr>
          <a:xfrm>
            <a:off x="3447288" y="1280160"/>
            <a:ext cx="457200" cy="457200"/>
          </a:xfrm>
          <a:prstGeom prst="ellipse">
            <a:avLst/>
          </a:prstGeom>
          <a:solidFill>
            <a:schemeClr val="accent1"/>
          </a:solidFill>
          <a:ln/>
        </p:spPr>
      </p:sp>
      <p:pic>
        <p:nvPicPr>
          <p:cNvPr id="11" name="Image 1" descr="FiCrosshair">    </p:cNvPr>
          <p:cNvPicPr>
            <a:picLocks noChangeAspect="1"/>
          </p:cNvPicPr>
          <p:nvPr/>
        </p:nvPicPr>
        <p:blipFill>
          <a:blip r:embed="rId2"/>
          <a:stretch>
            <a:fillRect/>
          </a:stretch>
        </p:blipFill>
        <p:spPr>
          <a:xfrm>
            <a:off x="3561588" y="1394460"/>
            <a:ext cx="228600" cy="228600"/>
          </a:xfrm>
          <a:prstGeom prst="rect">
            <a:avLst/>
          </a:prstGeom>
        </p:spPr>
      </p:pic>
      <p:sp>
        <p:nvSpPr>
          <p:cNvPr id="12" name="Text 7"/>
          <p:cNvSpPr txBox="1"/>
          <p:nvPr/>
        </p:nvSpPr>
        <p:spPr>
          <a:xfrm>
            <a:off x="3447288" y="1847088"/>
            <a:ext cx="2249424" cy="347472"/>
          </a:xfrm>
          <a:prstGeom prst="rect">
            <a:avLst/>
          </a:prstGeom>
          <a:noFill/>
          <a:ln/>
        </p:spPr>
        <p:txBody>
          <a:bodyPr wrap="square" lIns="0" tIns="0" rIns="0" bIns="0" rtlCol="0" anchor="t"/>
          <a:lstStyle/>
          <a:p>
            <a:pPr indent="0" marL="0">
              <a:buNone/>
            </a:pPr>
            <a:r>
              <a:rPr lang="en-US" sz="1600" b="1" dirty="0">
                <a:solidFill>
                  <a:schemeClr val="tx1"/>
                </a:solidFill>
              </a:rPr>
              <a:t>Specializzata</a:t>
            </a:r>
            <a:endParaRPr lang="en-US" sz="1600" dirty="0"/>
          </a:p>
        </p:txBody>
      </p:sp>
      <p:sp>
        <p:nvSpPr>
          <p:cNvPr id="13" name="Text 8"/>
          <p:cNvSpPr txBox="1"/>
          <p:nvPr/>
        </p:nvSpPr>
        <p:spPr>
          <a:xfrm>
            <a:off x="3447288" y="2231136"/>
            <a:ext cx="2249424" cy="1271016"/>
          </a:xfrm>
          <a:prstGeom prst="rect">
            <a:avLst/>
          </a:prstGeom>
          <a:noFill/>
          <a:ln/>
        </p:spPr>
        <p:txBody>
          <a:bodyPr wrap="square" lIns="0" tIns="0" rIns="0" bIns="0" rtlCol="0" anchor="t"/>
          <a:lstStyle/>
          <a:p>
            <a:pPr indent="0" marL="0">
              <a:spcAft>
                <a:spcPts val="800"/>
              </a:spcAft>
              <a:buNone/>
            </a:pPr>
            <a:r>
              <a:rPr lang="en-US" sz="1300" b="1" dirty="0">
                <a:solidFill>
                  <a:schemeClr val="accent1"/>
                </a:solidFill>
              </a:rPr>
              <a:t>Una funzione o attività</a:t>
            </a:r>
            <a:endParaRPr lang="en-US" sz="1300" dirty="0"/>
          </a:p>
          <a:p>
            <a:pPr marL="177800" indent="-177800">
              <a:spcAft>
                <a:spcPts val="300"/>
              </a:spcAft>
              <a:buSzPct val="100000"/>
              <a:buChar char="•"/>
            </a:pPr>
            <a:r>
              <a:rPr lang="en-US" sz="1300" dirty="0">
                <a:solidFill>
                  <a:schemeClr val="tx2"/>
                </a:solidFill>
              </a:rPr>
              <a:t>Conosce il dominio e i flussi</a:t>
            </a:r>
            <a:endParaRPr lang="en-US" sz="1300" dirty="0"/>
          </a:p>
          <a:p>
            <a:pPr marL="177800" indent="-177800">
              <a:spcAft>
                <a:spcPts val="300"/>
              </a:spcAft>
              <a:buSzPct val="100000"/>
              <a:buChar char="•"/>
            </a:pPr>
            <a:r>
              <a:rPr lang="en-US" sz="1300" dirty="0">
                <a:solidFill>
                  <a:schemeClr val="tx2"/>
                </a:solidFill>
              </a:rPr>
              <a:t>Serve solo a quello</a:t>
            </a:r>
            <a:endParaRPr lang="en-US" sz="1300" dirty="0"/>
          </a:p>
        </p:txBody>
      </p:sp>
      <p:sp>
        <p:nvSpPr>
          <p:cNvPr id="14" name="scheda Integrata nei software"/>
          <p:cNvSpPr/>
          <p:nvPr/>
        </p:nvSpPr>
        <p:spPr>
          <a:xfrm>
            <a:off x="6071616" y="1097280"/>
            <a:ext cx="2615184" cy="2514600"/>
          </a:xfrm>
          <a:prstGeom prst="roundRect">
            <a:avLst>
              <a:gd name="adj" fmla="val 2909"/>
            </a:avLst>
          </a:prstGeom>
          <a:solidFill>
            <a:schemeClr val="accent6"/>
          </a:solidFill>
          <a:ln/>
        </p:spPr>
      </p:sp>
      <p:sp>
        <p:nvSpPr>
          <p:cNvPr id="15" name="cerchio FiGrid"/>
          <p:cNvSpPr/>
          <p:nvPr/>
        </p:nvSpPr>
        <p:spPr>
          <a:xfrm>
            <a:off x="6254496" y="1280160"/>
            <a:ext cx="457200" cy="457200"/>
          </a:xfrm>
          <a:prstGeom prst="ellipse">
            <a:avLst/>
          </a:prstGeom>
          <a:solidFill>
            <a:schemeClr val="accent1"/>
          </a:solidFill>
          <a:ln/>
        </p:spPr>
      </p:sp>
      <p:pic>
        <p:nvPicPr>
          <p:cNvPr id="16" name="Image 2" descr="FiGrid">    </p:cNvPr>
          <p:cNvPicPr>
            <a:picLocks noChangeAspect="1"/>
          </p:cNvPicPr>
          <p:nvPr/>
        </p:nvPicPr>
        <p:blipFill>
          <a:blip r:embed="rId3"/>
          <a:stretch>
            <a:fillRect/>
          </a:stretch>
        </p:blipFill>
        <p:spPr>
          <a:xfrm>
            <a:off x="6368796" y="1394460"/>
            <a:ext cx="228600" cy="228600"/>
          </a:xfrm>
          <a:prstGeom prst="rect">
            <a:avLst/>
          </a:prstGeom>
        </p:spPr>
      </p:pic>
      <p:sp>
        <p:nvSpPr>
          <p:cNvPr id="17" name="Text 11"/>
          <p:cNvSpPr txBox="1"/>
          <p:nvPr/>
        </p:nvSpPr>
        <p:spPr>
          <a:xfrm>
            <a:off x="6254496" y="1847088"/>
            <a:ext cx="2249424" cy="347472"/>
          </a:xfrm>
          <a:prstGeom prst="rect">
            <a:avLst/>
          </a:prstGeom>
          <a:noFill/>
          <a:ln/>
        </p:spPr>
        <p:txBody>
          <a:bodyPr wrap="square" lIns="0" tIns="0" rIns="0" bIns="0" rtlCol="0" anchor="t"/>
          <a:lstStyle/>
          <a:p>
            <a:pPr indent="0" marL="0">
              <a:buNone/>
            </a:pPr>
            <a:r>
              <a:rPr lang="en-US" sz="1600" b="1" dirty="0">
                <a:solidFill>
                  <a:schemeClr val="tx1"/>
                </a:solidFill>
              </a:rPr>
              <a:t>Integrata nei software</a:t>
            </a:r>
            <a:endParaRPr lang="en-US" sz="1600" dirty="0"/>
          </a:p>
        </p:txBody>
      </p:sp>
      <p:sp>
        <p:nvSpPr>
          <p:cNvPr id="18" name="Text 12"/>
          <p:cNvSpPr txBox="1"/>
          <p:nvPr/>
        </p:nvSpPr>
        <p:spPr>
          <a:xfrm>
            <a:off x="6254496" y="2231136"/>
            <a:ext cx="2249424" cy="1271016"/>
          </a:xfrm>
          <a:prstGeom prst="rect">
            <a:avLst/>
          </a:prstGeom>
          <a:noFill/>
          <a:ln/>
        </p:spPr>
        <p:txBody>
          <a:bodyPr wrap="square" lIns="0" tIns="0" rIns="0" bIns="0" rtlCol="0" anchor="t"/>
          <a:lstStyle/>
          <a:p>
            <a:pPr indent="0" marL="0">
              <a:spcAft>
                <a:spcPts val="800"/>
              </a:spcAft>
              <a:buNone/>
            </a:pPr>
            <a:r>
              <a:rPr lang="en-US" sz="1300" b="1" dirty="0">
                <a:solidFill>
                  <a:schemeClr val="accent1"/>
                </a:solidFill>
              </a:rPr>
              <a:t>Dentro gli strumenti già in uso</a:t>
            </a:r>
            <a:endParaRPr lang="en-US" sz="1300" dirty="0"/>
          </a:p>
          <a:p>
            <a:pPr marL="177800" indent="-177800">
              <a:spcAft>
                <a:spcPts val="300"/>
              </a:spcAft>
              <a:buSzPct val="100000"/>
              <a:buChar char="•"/>
            </a:pPr>
            <a:r>
              <a:rPr lang="en-US" sz="1300" dirty="0">
                <a:solidFill>
                  <a:schemeClr val="tx2"/>
                </a:solidFill>
              </a:rPr>
              <a:t>Lavora sui dati e nei flussi esistenti</a:t>
            </a:r>
            <a:endParaRPr lang="en-US" sz="1300" dirty="0"/>
          </a:p>
          <a:p>
            <a:pPr marL="177800" indent="-177800">
              <a:spcAft>
                <a:spcPts val="300"/>
              </a:spcAft>
              <a:buSzPct val="100000"/>
              <a:buChar char="•"/>
            </a:pPr>
            <a:r>
              <a:rPr lang="en-US" sz="1300" dirty="0">
                <a:solidFill>
                  <a:schemeClr val="tx2"/>
                </a:solidFill>
              </a:rPr>
              <a:t>Capacità scelte dal fornitore</a:t>
            </a:r>
            <a:endParaRPr lang="en-US" sz="1300" dirty="0"/>
          </a:p>
        </p:txBody>
      </p:sp>
      <p:sp>
        <p:nvSpPr>
          <p:cNvPr id="19" name="messaggio"/>
          <p:cNvSpPr/>
          <p:nvPr/>
        </p:nvSpPr>
        <p:spPr>
          <a:xfrm>
            <a:off x="457200" y="3794760"/>
            <a:ext cx="8229600" cy="731520"/>
          </a:xfrm>
          <a:prstGeom prst="roundRect">
            <a:avLst>
              <a:gd name="adj" fmla="val 10000"/>
            </a:avLst>
          </a:prstGeom>
          <a:solidFill>
            <a:schemeClr val="tx1"/>
          </a:solidFill>
          <a:ln/>
        </p:spPr>
      </p:sp>
      <p:sp>
        <p:nvSpPr>
          <p:cNvPr id="20" name="Text 14"/>
          <p:cNvSpPr txBox="1"/>
          <p:nvPr/>
        </p:nvSpPr>
        <p:spPr>
          <a:xfrm>
            <a:off x="640080" y="3794760"/>
            <a:ext cx="7863840" cy="731520"/>
          </a:xfrm>
          <a:prstGeom prst="rect">
            <a:avLst/>
          </a:prstGeom>
          <a:noFill/>
          <a:ln/>
        </p:spPr>
        <p:txBody>
          <a:bodyPr wrap="square" lIns="0" tIns="0" rIns="0" bIns="0" rtlCol="0" anchor="ctr"/>
          <a:lstStyle/>
          <a:p>
            <a:pPr indent="0" marL="0">
              <a:buNone/>
            </a:pPr>
            <a:r>
              <a:rPr lang="en-US" sz="1400" dirty="0">
                <a:solidFill>
                  <a:schemeClr val="bg1"/>
                </a:solidFill>
              </a:rPr>
              <a:t>Adottare l'AI non richiede necessariamente un nuovo applicativo: spesso è già nei software in uso.</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L'AI nei software di produttività e nei gestionali</a:t>
            </a:r>
            <a:endParaRPr lang="en-US" sz="2600" dirty="0"/>
          </a:p>
        </p:txBody>
      </p:sp>
      <p:sp>
        <p:nvSpPr>
          <p:cNvPr id="4" name="scheda Suite di produttività"/>
          <p:cNvSpPr/>
          <p:nvPr/>
        </p:nvSpPr>
        <p:spPr>
          <a:xfrm>
            <a:off x="457200" y="1097280"/>
            <a:ext cx="2615184" cy="2423160"/>
          </a:xfrm>
          <a:prstGeom prst="roundRect">
            <a:avLst>
              <a:gd name="adj" fmla="val 3019"/>
            </a:avLst>
          </a:prstGeom>
          <a:solidFill>
            <a:schemeClr val="bg2"/>
          </a:solidFill>
          <a:ln/>
        </p:spPr>
      </p:sp>
      <p:sp>
        <p:nvSpPr>
          <p:cNvPr id="5" name="cerchio FiFileText"/>
          <p:cNvSpPr/>
          <p:nvPr/>
        </p:nvSpPr>
        <p:spPr>
          <a:xfrm>
            <a:off x="640080" y="1280160"/>
            <a:ext cx="457200" cy="457200"/>
          </a:xfrm>
          <a:prstGeom prst="ellipse">
            <a:avLst/>
          </a:prstGeom>
          <a:solidFill>
            <a:schemeClr val="accent1"/>
          </a:solidFill>
          <a:ln/>
        </p:spPr>
      </p:sp>
      <p:pic>
        <p:nvPicPr>
          <p:cNvPr id="6" name="Image 0" descr="FiFileText">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1234440" y="1280160"/>
            <a:ext cx="1655064" cy="457200"/>
          </a:xfrm>
          <a:prstGeom prst="rect">
            <a:avLst/>
          </a:prstGeom>
          <a:noFill/>
          <a:ln/>
        </p:spPr>
        <p:txBody>
          <a:bodyPr wrap="square" lIns="0" tIns="0" rIns="0" bIns="0" rtlCol="0" anchor="ctr"/>
          <a:lstStyle/>
          <a:p>
            <a:pPr indent="0" marL="0">
              <a:buNone/>
            </a:pPr>
            <a:r>
              <a:rPr lang="en-US" sz="1400" b="1" dirty="0">
                <a:solidFill>
                  <a:schemeClr val="tx1"/>
                </a:solidFill>
              </a:rPr>
              <a:t>Suite di produttività</a:t>
            </a:r>
            <a:endParaRPr lang="en-US" sz="1400" dirty="0"/>
          </a:p>
        </p:txBody>
      </p:sp>
      <p:sp>
        <p:nvSpPr>
          <p:cNvPr id="8" name="Text 4"/>
          <p:cNvSpPr txBox="1"/>
          <p:nvPr/>
        </p:nvSpPr>
        <p:spPr>
          <a:xfrm>
            <a:off x="640080" y="1874520"/>
            <a:ext cx="2249424" cy="1536192"/>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chemeClr val="tx2"/>
                </a:solidFill>
              </a:rPr>
              <a:t>Email e documenti</a:t>
            </a:r>
            <a:endParaRPr lang="en-US" sz="1200" dirty="0"/>
          </a:p>
          <a:p>
            <a:pPr marL="177800" indent="-177800">
              <a:spcAft>
                <a:spcPts val="300"/>
              </a:spcAft>
              <a:buSzPct val="100000"/>
              <a:buChar char="•"/>
            </a:pPr>
            <a:r>
              <a:rPr lang="en-US" sz="1200" dirty="0">
                <a:solidFill>
                  <a:schemeClr val="tx2"/>
                </a:solidFill>
              </a:rPr>
              <a:t>Fogli e presentazioni</a:t>
            </a:r>
            <a:endParaRPr lang="en-US" sz="1200" dirty="0"/>
          </a:p>
          <a:p>
            <a:pPr marL="177800" indent="-177800">
              <a:spcAft>
                <a:spcPts val="300"/>
              </a:spcAft>
              <a:buSzPct val="100000"/>
              <a:buChar char="•"/>
            </a:pPr>
            <a:r>
              <a:rPr lang="en-US" sz="1200" dirty="0">
                <a:solidFill>
                  <a:schemeClr val="tx2"/>
                </a:solidFill>
              </a:rPr>
              <a:t>Riunioni: trascrizioni e sintesi</a:t>
            </a:r>
            <a:endParaRPr lang="en-US" sz="1200" dirty="0"/>
          </a:p>
          <a:p>
            <a:pPr marL="177800" indent="-177800">
              <a:spcAft>
                <a:spcPts val="300"/>
              </a:spcAft>
              <a:buSzPct val="100000"/>
              <a:buChar char="•"/>
            </a:pPr>
            <a:r>
              <a:rPr lang="en-US" sz="1200" dirty="0">
                <a:solidFill>
                  <a:schemeClr val="tx2"/>
                </a:solidFill>
              </a:rPr>
              <a:t>Ricerca tra i propri file</a:t>
            </a:r>
            <a:endParaRPr lang="en-US" sz="1200" dirty="0"/>
          </a:p>
        </p:txBody>
      </p:sp>
      <p:sp>
        <p:nvSpPr>
          <p:cNvPr id="9" name="scheda CRM"/>
          <p:cNvSpPr/>
          <p:nvPr/>
        </p:nvSpPr>
        <p:spPr>
          <a:xfrm>
            <a:off x="3264408" y="1097280"/>
            <a:ext cx="2615184" cy="2423160"/>
          </a:xfrm>
          <a:prstGeom prst="roundRect">
            <a:avLst>
              <a:gd name="adj" fmla="val 3019"/>
            </a:avLst>
          </a:prstGeom>
          <a:solidFill>
            <a:schemeClr val="bg2"/>
          </a:solidFill>
          <a:ln/>
        </p:spPr>
      </p:sp>
      <p:sp>
        <p:nvSpPr>
          <p:cNvPr id="10" name="cerchio FiUsers"/>
          <p:cNvSpPr/>
          <p:nvPr/>
        </p:nvSpPr>
        <p:spPr>
          <a:xfrm>
            <a:off x="3447288" y="1280160"/>
            <a:ext cx="457200" cy="457200"/>
          </a:xfrm>
          <a:prstGeom prst="ellipse">
            <a:avLst/>
          </a:prstGeom>
          <a:solidFill>
            <a:schemeClr val="accent1"/>
          </a:solidFill>
          <a:ln/>
        </p:spPr>
      </p:sp>
      <p:pic>
        <p:nvPicPr>
          <p:cNvPr id="11" name="Image 1" descr="FiUsers">    </p:cNvPr>
          <p:cNvPicPr>
            <a:picLocks noChangeAspect="1"/>
          </p:cNvPicPr>
          <p:nvPr/>
        </p:nvPicPr>
        <p:blipFill>
          <a:blip r:embed="rId2"/>
          <a:stretch>
            <a:fillRect/>
          </a:stretch>
        </p:blipFill>
        <p:spPr>
          <a:xfrm>
            <a:off x="3561588" y="1394460"/>
            <a:ext cx="228600" cy="228600"/>
          </a:xfrm>
          <a:prstGeom prst="rect">
            <a:avLst/>
          </a:prstGeom>
        </p:spPr>
      </p:pic>
      <p:sp>
        <p:nvSpPr>
          <p:cNvPr id="12" name="Text 7"/>
          <p:cNvSpPr txBox="1"/>
          <p:nvPr/>
        </p:nvSpPr>
        <p:spPr>
          <a:xfrm>
            <a:off x="4041648" y="1280160"/>
            <a:ext cx="1655064" cy="457200"/>
          </a:xfrm>
          <a:prstGeom prst="rect">
            <a:avLst/>
          </a:prstGeom>
          <a:noFill/>
          <a:ln/>
        </p:spPr>
        <p:txBody>
          <a:bodyPr wrap="square" lIns="0" tIns="0" rIns="0" bIns="0" rtlCol="0" anchor="ctr"/>
          <a:lstStyle/>
          <a:p>
            <a:pPr indent="0" marL="0">
              <a:buNone/>
            </a:pPr>
            <a:r>
              <a:rPr lang="en-US" sz="1400" b="1" dirty="0">
                <a:solidFill>
                  <a:schemeClr val="tx1"/>
                </a:solidFill>
              </a:rPr>
              <a:t>CRM</a:t>
            </a:r>
            <a:endParaRPr lang="en-US" sz="1400" dirty="0"/>
          </a:p>
        </p:txBody>
      </p:sp>
      <p:sp>
        <p:nvSpPr>
          <p:cNvPr id="13" name="Text 8"/>
          <p:cNvSpPr txBox="1"/>
          <p:nvPr/>
        </p:nvSpPr>
        <p:spPr>
          <a:xfrm>
            <a:off x="3447288" y="1874520"/>
            <a:ext cx="2249424" cy="1536192"/>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chemeClr val="tx2"/>
                </a:solidFill>
              </a:rPr>
              <a:t>Sintesi della storia del cliente</a:t>
            </a:r>
            <a:endParaRPr lang="en-US" sz="1200" dirty="0"/>
          </a:p>
          <a:p>
            <a:pPr marL="177800" indent="-177800">
              <a:spcAft>
                <a:spcPts val="300"/>
              </a:spcAft>
              <a:buSzPct val="100000"/>
              <a:buChar char="•"/>
            </a:pPr>
            <a:r>
              <a:rPr lang="en-US" sz="1200" dirty="0">
                <a:solidFill>
                  <a:schemeClr val="tx2"/>
                </a:solidFill>
              </a:rPr>
              <a:t>Prossime azioni suggerite</a:t>
            </a:r>
            <a:endParaRPr lang="en-US" sz="1200" dirty="0"/>
          </a:p>
          <a:p>
            <a:pPr marL="177800" indent="-177800">
              <a:spcAft>
                <a:spcPts val="300"/>
              </a:spcAft>
              <a:buSzPct val="100000"/>
              <a:buChar char="•"/>
            </a:pPr>
            <a:r>
              <a:rPr lang="en-US" sz="1200" dirty="0">
                <a:solidFill>
                  <a:schemeClr val="tx2"/>
                </a:solidFill>
              </a:rPr>
              <a:t>Bozze di comunicazioni</a:t>
            </a:r>
            <a:endParaRPr lang="en-US" sz="1200" dirty="0"/>
          </a:p>
          <a:p>
            <a:pPr marL="177800" indent="-177800">
              <a:spcAft>
                <a:spcPts val="300"/>
              </a:spcAft>
              <a:buSzPct val="100000"/>
              <a:buChar char="•"/>
            </a:pPr>
            <a:r>
              <a:rPr lang="en-US" sz="1200" dirty="0">
                <a:solidFill>
                  <a:schemeClr val="tx2"/>
                </a:solidFill>
              </a:rPr>
              <a:t>Classificazione delle richieste</a:t>
            </a:r>
            <a:endParaRPr lang="en-US" sz="1200" dirty="0"/>
          </a:p>
        </p:txBody>
      </p:sp>
      <p:sp>
        <p:nvSpPr>
          <p:cNvPr id="14" name="scheda ERP e gestionali"/>
          <p:cNvSpPr/>
          <p:nvPr/>
        </p:nvSpPr>
        <p:spPr>
          <a:xfrm>
            <a:off x="6071616" y="1097280"/>
            <a:ext cx="2615184" cy="2423160"/>
          </a:xfrm>
          <a:prstGeom prst="roundRect">
            <a:avLst>
              <a:gd name="adj" fmla="val 3019"/>
            </a:avLst>
          </a:prstGeom>
          <a:solidFill>
            <a:schemeClr val="bg2"/>
          </a:solidFill>
          <a:ln/>
        </p:spPr>
      </p:sp>
      <p:sp>
        <p:nvSpPr>
          <p:cNvPr id="15" name="cerchio FiDatabase"/>
          <p:cNvSpPr/>
          <p:nvPr/>
        </p:nvSpPr>
        <p:spPr>
          <a:xfrm>
            <a:off x="6254496" y="1280160"/>
            <a:ext cx="457200" cy="457200"/>
          </a:xfrm>
          <a:prstGeom prst="ellipse">
            <a:avLst/>
          </a:prstGeom>
          <a:solidFill>
            <a:schemeClr val="accent1"/>
          </a:solidFill>
          <a:ln/>
        </p:spPr>
      </p:sp>
      <p:pic>
        <p:nvPicPr>
          <p:cNvPr id="16" name="Image 2" descr="FiDatabase">    </p:cNvPr>
          <p:cNvPicPr>
            <a:picLocks noChangeAspect="1"/>
          </p:cNvPicPr>
          <p:nvPr/>
        </p:nvPicPr>
        <p:blipFill>
          <a:blip r:embed="rId3"/>
          <a:stretch>
            <a:fillRect/>
          </a:stretch>
        </p:blipFill>
        <p:spPr>
          <a:xfrm>
            <a:off x="6368796" y="1394460"/>
            <a:ext cx="228600" cy="228600"/>
          </a:xfrm>
          <a:prstGeom prst="rect">
            <a:avLst/>
          </a:prstGeom>
        </p:spPr>
      </p:pic>
      <p:sp>
        <p:nvSpPr>
          <p:cNvPr id="17" name="Text 11"/>
          <p:cNvSpPr txBox="1"/>
          <p:nvPr/>
        </p:nvSpPr>
        <p:spPr>
          <a:xfrm>
            <a:off x="6848856" y="1280160"/>
            <a:ext cx="1655064" cy="457200"/>
          </a:xfrm>
          <a:prstGeom prst="rect">
            <a:avLst/>
          </a:prstGeom>
          <a:noFill/>
          <a:ln/>
        </p:spPr>
        <p:txBody>
          <a:bodyPr wrap="square" lIns="0" tIns="0" rIns="0" bIns="0" rtlCol="0" anchor="ctr"/>
          <a:lstStyle/>
          <a:p>
            <a:pPr indent="0" marL="0">
              <a:buNone/>
            </a:pPr>
            <a:r>
              <a:rPr lang="en-US" sz="1400" b="1" dirty="0">
                <a:solidFill>
                  <a:schemeClr val="tx1"/>
                </a:solidFill>
              </a:rPr>
              <a:t>ERP e gestionali</a:t>
            </a:r>
            <a:endParaRPr lang="en-US" sz="1400" dirty="0"/>
          </a:p>
        </p:txBody>
      </p:sp>
      <p:sp>
        <p:nvSpPr>
          <p:cNvPr id="18" name="Text 12"/>
          <p:cNvSpPr txBox="1"/>
          <p:nvPr/>
        </p:nvSpPr>
        <p:spPr>
          <a:xfrm>
            <a:off x="6254496" y="1874520"/>
            <a:ext cx="2249424" cy="1536192"/>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chemeClr val="tx2"/>
                </a:solidFill>
              </a:rPr>
              <a:t>Lettura di fatture e ordini</a:t>
            </a:r>
            <a:endParaRPr lang="en-US" sz="1200" dirty="0"/>
          </a:p>
          <a:p>
            <a:pPr marL="177800" indent="-177800">
              <a:spcAft>
                <a:spcPts val="300"/>
              </a:spcAft>
              <a:buSzPct val="100000"/>
              <a:buChar char="•"/>
            </a:pPr>
            <a:r>
              <a:rPr lang="en-US" sz="1200" dirty="0">
                <a:solidFill>
                  <a:schemeClr val="tx2"/>
                </a:solidFill>
              </a:rPr>
              <a:t>Segnalazione di anomalie</a:t>
            </a:r>
            <a:endParaRPr lang="en-US" sz="1200" dirty="0"/>
          </a:p>
          <a:p>
            <a:pPr marL="177800" indent="-177800">
              <a:spcAft>
                <a:spcPts val="300"/>
              </a:spcAft>
              <a:buSzPct val="100000"/>
              <a:buChar char="•"/>
            </a:pPr>
            <a:r>
              <a:rPr lang="en-US" sz="1200" dirty="0">
                <a:solidFill>
                  <a:schemeClr val="tx2"/>
                </a:solidFill>
              </a:rPr>
              <a:t>Domande sui dati in linguaggio naturale</a:t>
            </a:r>
            <a:endParaRPr lang="en-US" sz="1200" dirty="0"/>
          </a:p>
          <a:p>
            <a:pPr marL="177800" indent="-177800">
              <a:spcAft>
                <a:spcPts val="300"/>
              </a:spcAft>
              <a:buSzPct val="100000"/>
              <a:buChar char="•"/>
            </a:pPr>
            <a:r>
              <a:rPr lang="en-US" sz="1200" dirty="0">
                <a:solidFill>
                  <a:schemeClr val="tx2"/>
                </a:solidFill>
              </a:rPr>
              <a:t>Previsioni</a:t>
            </a:r>
            <a:endParaRPr lang="en-US" sz="1200" dirty="0"/>
          </a:p>
        </p:txBody>
      </p:sp>
      <p:sp>
        <p:nvSpPr>
          <p:cNvPr id="19" name="scheda Vantaggi: dati, flussi e permessi già presenti"/>
          <p:cNvSpPr/>
          <p:nvPr/>
        </p:nvSpPr>
        <p:spPr>
          <a:xfrm>
            <a:off x="457200" y="3657600"/>
            <a:ext cx="3977640" cy="868680"/>
          </a:xfrm>
          <a:prstGeom prst="roundRect">
            <a:avLst>
              <a:gd name="adj" fmla="val 8421"/>
            </a:avLst>
          </a:prstGeom>
          <a:solidFill>
            <a:schemeClr val="bg2"/>
          </a:solidFill>
          <a:ln/>
        </p:spPr>
      </p:sp>
      <p:sp>
        <p:nvSpPr>
          <p:cNvPr id="20" name="Text 14"/>
          <p:cNvSpPr txBox="1"/>
          <p:nvPr/>
        </p:nvSpPr>
        <p:spPr>
          <a:xfrm>
            <a:off x="640080" y="3840480"/>
            <a:ext cx="3611880" cy="347472"/>
          </a:xfrm>
          <a:prstGeom prst="rect">
            <a:avLst/>
          </a:prstGeom>
          <a:noFill/>
          <a:ln/>
        </p:spPr>
        <p:txBody>
          <a:bodyPr wrap="square" lIns="0" tIns="0" rIns="0" bIns="0" rtlCol="0" anchor="t"/>
          <a:lstStyle/>
          <a:p>
            <a:pPr indent="0" marL="0">
              <a:buNone/>
            </a:pPr>
            <a:r>
              <a:rPr lang="en-US" sz="1300" b="1" dirty="0">
                <a:solidFill>
                  <a:schemeClr val="tx1"/>
                </a:solidFill>
              </a:rPr>
              <a:t>Vantaggi: dati, flussi e permessi già presenti</a:t>
            </a:r>
            <a:endParaRPr lang="en-US" sz="1300" dirty="0"/>
          </a:p>
        </p:txBody>
      </p:sp>
      <p:sp>
        <p:nvSpPr>
          <p:cNvPr id="21" name="scheda Limiti: scelte del fornitore, licenze, qualità dei dati"/>
          <p:cNvSpPr/>
          <p:nvPr/>
        </p:nvSpPr>
        <p:spPr>
          <a:xfrm>
            <a:off x="4709160" y="3657600"/>
            <a:ext cx="3977640" cy="868680"/>
          </a:xfrm>
          <a:prstGeom prst="roundRect">
            <a:avLst>
              <a:gd name="adj" fmla="val 8421"/>
            </a:avLst>
          </a:prstGeom>
          <a:solidFill>
            <a:schemeClr val="accent6"/>
          </a:solidFill>
          <a:ln/>
        </p:spPr>
      </p:sp>
      <p:sp>
        <p:nvSpPr>
          <p:cNvPr id="22" name="Text 16"/>
          <p:cNvSpPr txBox="1"/>
          <p:nvPr/>
        </p:nvSpPr>
        <p:spPr>
          <a:xfrm>
            <a:off x="4892040" y="3840480"/>
            <a:ext cx="3611880" cy="347472"/>
          </a:xfrm>
          <a:prstGeom prst="rect">
            <a:avLst/>
          </a:prstGeom>
          <a:noFill/>
          <a:ln/>
        </p:spPr>
        <p:txBody>
          <a:bodyPr wrap="square" lIns="0" tIns="0" rIns="0" bIns="0" rtlCol="0" anchor="t"/>
          <a:lstStyle/>
          <a:p>
            <a:pPr indent="0" marL="0">
              <a:buNone/>
            </a:pPr>
            <a:r>
              <a:rPr lang="en-US" sz="1300" b="1" dirty="0">
                <a:solidFill>
                  <a:schemeClr val="tx1"/>
                </a:solidFill>
              </a:rPr>
              <a:t>Limiti: scelte del fornitore, licenze, qualità dei dati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Soluzioni pronte all'uso e personalizzate</a:t>
            </a:r>
            <a:endParaRPr lang="en-US" sz="2600" dirty="0"/>
          </a:p>
        </p:txBody>
      </p:sp>
      <p:sp>
        <p:nvSpPr>
          <p:cNvPr id="4" name="personalizzazione"/>
          <p:cNvSpPr/>
          <p:nvPr/>
        </p:nvSpPr>
        <p:spPr>
          <a:xfrm>
            <a:off x="457200" y="1188720"/>
            <a:ext cx="8229600" cy="0"/>
          </a:xfrm>
          <a:prstGeom prst="line">
            <a:avLst/>
          </a:prstGeom>
          <a:noFill/>
          <a:ln w="25400">
            <a:solidFill>
              <a:schemeClr val="accent2"/>
            </a:solidFill>
            <a:prstDash val="solid"/>
            <a:tailEnd type="triangle"/>
          </a:ln>
        </p:spPr>
      </p:sp>
      <p:sp>
        <p:nvSpPr>
          <p:cNvPr id="5" name="Text 2"/>
          <p:cNvSpPr txBox="1"/>
          <p:nvPr/>
        </p:nvSpPr>
        <p:spPr>
          <a:xfrm>
            <a:off x="5943600" y="960120"/>
            <a:ext cx="2743200" cy="228600"/>
          </a:xfrm>
          <a:prstGeom prst="rect">
            <a:avLst/>
          </a:prstGeom>
          <a:noFill/>
          <a:ln/>
        </p:spPr>
        <p:txBody>
          <a:bodyPr wrap="square" lIns="0" tIns="0" rIns="0" bIns="0" rtlCol="0" anchor="t"/>
          <a:lstStyle/>
          <a:p>
            <a:pPr algn="r" indent="0" marL="0">
              <a:buNone/>
            </a:pPr>
            <a:r>
              <a:rPr lang="en-US" sz="1100" b="1" dirty="0">
                <a:solidFill>
                  <a:schemeClr val="accent2"/>
                </a:solidFill>
              </a:rPr>
              <a:t>Personalizzazione crescente</a:t>
            </a:r>
            <a:endParaRPr lang="en-US" sz="1100" dirty="0"/>
          </a:p>
        </p:txBody>
      </p:sp>
      <p:sp>
        <p:nvSpPr>
          <p:cNvPr id="6" name="Pronte all'uso"/>
          <p:cNvSpPr/>
          <p:nvPr/>
        </p:nvSpPr>
        <p:spPr>
          <a:xfrm>
            <a:off x="457200" y="1417320"/>
            <a:ext cx="2615184" cy="3108960"/>
          </a:xfrm>
          <a:prstGeom prst="roundRect">
            <a:avLst>
              <a:gd name="adj" fmla="val 2797"/>
            </a:avLst>
          </a:prstGeom>
          <a:solidFill>
            <a:schemeClr val="bg2"/>
          </a:solidFill>
          <a:ln/>
        </p:spPr>
      </p:sp>
      <p:sp>
        <p:nvSpPr>
          <p:cNvPr id="7" name="Text 4"/>
          <p:cNvSpPr txBox="1"/>
          <p:nvPr/>
        </p:nvSpPr>
        <p:spPr>
          <a:xfrm>
            <a:off x="640080" y="1554480"/>
            <a:ext cx="2249424" cy="594360"/>
          </a:xfrm>
          <a:prstGeom prst="rect">
            <a:avLst/>
          </a:prstGeom>
          <a:noFill/>
          <a:ln/>
        </p:spPr>
        <p:txBody>
          <a:bodyPr wrap="square" lIns="0" tIns="0" rIns="0" bIns="0" rtlCol="0" anchor="t"/>
          <a:lstStyle/>
          <a:p>
            <a:pPr indent="0" marL="0">
              <a:buNone/>
            </a:pPr>
            <a:r>
              <a:rPr lang="en-US" sz="1600" b="1" dirty="0">
                <a:solidFill>
                  <a:schemeClr val="tx1"/>
                </a:solidFill>
              </a:rPr>
              <a:t>Pronte all'uso</a:t>
            </a:r>
            <a:endParaRPr lang="en-US" sz="1600" dirty="0"/>
          </a:p>
        </p:txBody>
      </p:sp>
      <p:sp>
        <p:nvSpPr>
          <p:cNvPr id="8" name="Text 5"/>
          <p:cNvSpPr txBox="1"/>
          <p:nvPr/>
        </p:nvSpPr>
        <p:spPr>
          <a:xfrm>
            <a:off x="640080" y="2194560"/>
            <a:ext cx="2249424" cy="731520"/>
          </a:xfrm>
          <a:prstGeom prst="rect">
            <a:avLst/>
          </a:prstGeom>
          <a:noFill/>
          <a:ln/>
        </p:spPr>
        <p:txBody>
          <a:bodyPr wrap="square" lIns="0" tIns="0" rIns="0" bIns="0" rtlCol="0" anchor="t"/>
          <a:lstStyle/>
          <a:p>
            <a:pPr indent="0" marL="0">
              <a:buNone/>
            </a:pPr>
            <a:r>
              <a:rPr lang="en-US" sz="1300" dirty="0">
                <a:solidFill>
                  <a:schemeClr val="tx1"/>
                </a:solidFill>
              </a:rPr>
              <a:t>Si attivano e si usano così come sono</a:t>
            </a:r>
            <a:endParaRPr lang="en-US" sz="1300" dirty="0"/>
          </a:p>
        </p:txBody>
      </p:sp>
      <p:sp>
        <p:nvSpPr>
          <p:cNvPr id="9" name="Text 6"/>
          <p:cNvSpPr txBox="1"/>
          <p:nvPr/>
        </p:nvSpPr>
        <p:spPr>
          <a:xfrm>
            <a:off x="640080" y="3063240"/>
            <a:ext cx="2249424" cy="1280160"/>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Rapide, costi prevedibili</a:t>
            </a:r>
            <a:endParaRPr lang="en-US" sz="1200" dirty="0"/>
          </a:p>
          <a:p>
            <a:pPr marL="177800" indent="-177800">
              <a:spcAft>
                <a:spcPts val="400"/>
              </a:spcAft>
              <a:buSzPct val="100000"/>
              <a:buChar char="•"/>
            </a:pPr>
            <a:r>
              <a:rPr lang="en-US" sz="1200" dirty="0">
                <a:solidFill>
                  <a:schemeClr val="tx2"/>
                </a:solidFill>
              </a:rPr>
              <a:t>Adattamento limitato</a:t>
            </a:r>
            <a:endParaRPr lang="en-US" sz="1200" dirty="0"/>
          </a:p>
        </p:txBody>
      </p:sp>
      <p:sp>
        <p:nvSpPr>
          <p:cNvPr id="10" name="Configurate senza sviluppo"/>
          <p:cNvSpPr/>
          <p:nvPr/>
        </p:nvSpPr>
        <p:spPr>
          <a:xfrm>
            <a:off x="3264408" y="1417320"/>
            <a:ext cx="2615184" cy="3108960"/>
          </a:xfrm>
          <a:prstGeom prst="roundRect">
            <a:avLst>
              <a:gd name="adj" fmla="val 2797"/>
            </a:avLst>
          </a:prstGeom>
          <a:solidFill>
            <a:schemeClr val="accent6"/>
          </a:solidFill>
          <a:ln/>
        </p:spPr>
      </p:sp>
      <p:sp>
        <p:nvSpPr>
          <p:cNvPr id="11" name="Text 8"/>
          <p:cNvSpPr txBox="1"/>
          <p:nvPr/>
        </p:nvSpPr>
        <p:spPr>
          <a:xfrm>
            <a:off x="3447288" y="1554480"/>
            <a:ext cx="2249424" cy="594360"/>
          </a:xfrm>
          <a:prstGeom prst="rect">
            <a:avLst/>
          </a:prstGeom>
          <a:noFill/>
          <a:ln/>
        </p:spPr>
        <p:txBody>
          <a:bodyPr wrap="square" lIns="0" tIns="0" rIns="0" bIns="0" rtlCol="0" anchor="t"/>
          <a:lstStyle/>
          <a:p>
            <a:pPr indent="0" marL="0">
              <a:buNone/>
            </a:pPr>
            <a:r>
              <a:rPr lang="en-US" sz="1600" b="1" dirty="0">
                <a:solidFill>
                  <a:schemeClr val="tx1"/>
                </a:solidFill>
              </a:rPr>
              <a:t>Configurate senza sviluppo</a:t>
            </a:r>
            <a:endParaRPr lang="en-US" sz="1600" dirty="0"/>
          </a:p>
        </p:txBody>
      </p:sp>
      <p:sp>
        <p:nvSpPr>
          <p:cNvPr id="12" name="Text 9"/>
          <p:cNvSpPr txBox="1"/>
          <p:nvPr/>
        </p:nvSpPr>
        <p:spPr>
          <a:xfrm>
            <a:off x="3447288" y="2194560"/>
            <a:ext cx="2249424" cy="731520"/>
          </a:xfrm>
          <a:prstGeom prst="rect">
            <a:avLst/>
          </a:prstGeom>
          <a:noFill/>
          <a:ln/>
        </p:spPr>
        <p:txBody>
          <a:bodyPr wrap="square" lIns="0" tIns="0" rIns="0" bIns="0" rtlCol="0" anchor="t"/>
          <a:lstStyle/>
          <a:p>
            <a:pPr indent="0" marL="0">
              <a:buNone/>
            </a:pPr>
            <a:r>
              <a:rPr lang="en-US" sz="1300" dirty="0">
                <a:solidFill>
                  <a:schemeClr val="tx1"/>
                </a:solidFill>
              </a:rPr>
              <a:t>Assistenti con istruzioni, documenti e fonti proprie</a:t>
            </a:r>
            <a:endParaRPr lang="en-US" sz="1300" dirty="0"/>
          </a:p>
        </p:txBody>
      </p:sp>
      <p:sp>
        <p:nvSpPr>
          <p:cNvPr id="13" name="Text 10"/>
          <p:cNvSpPr txBox="1"/>
          <p:nvPr/>
        </p:nvSpPr>
        <p:spPr>
          <a:xfrm>
            <a:off x="3447288" y="3063240"/>
            <a:ext cx="2249424" cy="1280160"/>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Buon adattamento, tempi brevi</a:t>
            </a:r>
            <a:endParaRPr lang="en-US" sz="1200" dirty="0"/>
          </a:p>
          <a:p>
            <a:pPr marL="177800" indent="-177800">
              <a:spcAft>
                <a:spcPts val="400"/>
              </a:spcAft>
              <a:buSzPct val="100000"/>
              <a:buChar char="•"/>
            </a:pPr>
            <a:r>
              <a:rPr lang="en-US" sz="1200" dirty="0">
                <a:solidFill>
                  <a:schemeClr val="tx2"/>
                </a:solidFill>
              </a:rPr>
              <a:t>Nei limiti dello strumento</a:t>
            </a:r>
            <a:endParaRPr lang="en-US" sz="1200" dirty="0"/>
          </a:p>
        </p:txBody>
      </p:sp>
      <p:sp>
        <p:nvSpPr>
          <p:cNvPr id="14" name="Personalizzate"/>
          <p:cNvSpPr/>
          <p:nvPr/>
        </p:nvSpPr>
        <p:spPr>
          <a:xfrm>
            <a:off x="6071616" y="1417320"/>
            <a:ext cx="2615184" cy="3108960"/>
          </a:xfrm>
          <a:prstGeom prst="roundRect">
            <a:avLst>
              <a:gd name="adj" fmla="val 2797"/>
            </a:avLst>
          </a:prstGeom>
          <a:solidFill>
            <a:schemeClr val="bg2"/>
          </a:solidFill>
          <a:ln/>
        </p:spPr>
      </p:sp>
      <p:sp>
        <p:nvSpPr>
          <p:cNvPr id="15" name="Text 12"/>
          <p:cNvSpPr txBox="1"/>
          <p:nvPr/>
        </p:nvSpPr>
        <p:spPr>
          <a:xfrm>
            <a:off x="6254496" y="1554480"/>
            <a:ext cx="2249424" cy="594360"/>
          </a:xfrm>
          <a:prstGeom prst="rect">
            <a:avLst/>
          </a:prstGeom>
          <a:noFill/>
          <a:ln/>
        </p:spPr>
        <p:txBody>
          <a:bodyPr wrap="square" lIns="0" tIns="0" rIns="0" bIns="0" rtlCol="0" anchor="t"/>
          <a:lstStyle/>
          <a:p>
            <a:pPr indent="0" marL="0">
              <a:buNone/>
            </a:pPr>
            <a:r>
              <a:rPr lang="en-US" sz="1600" b="1" dirty="0">
                <a:solidFill>
                  <a:schemeClr val="tx1"/>
                </a:solidFill>
              </a:rPr>
              <a:t>Personalizzate</a:t>
            </a:r>
            <a:endParaRPr lang="en-US" sz="1600" dirty="0"/>
          </a:p>
        </p:txBody>
      </p:sp>
      <p:sp>
        <p:nvSpPr>
          <p:cNvPr id="16" name="Text 13"/>
          <p:cNvSpPr txBox="1"/>
          <p:nvPr/>
        </p:nvSpPr>
        <p:spPr>
          <a:xfrm>
            <a:off x="6254496" y="2194560"/>
            <a:ext cx="2249424" cy="731520"/>
          </a:xfrm>
          <a:prstGeom prst="rect">
            <a:avLst/>
          </a:prstGeom>
          <a:noFill/>
          <a:ln/>
        </p:spPr>
        <p:txBody>
          <a:bodyPr wrap="square" lIns="0" tIns="0" rIns="0" bIns="0" rtlCol="0" anchor="t"/>
          <a:lstStyle/>
          <a:p>
            <a:pPr indent="0" marL="0">
              <a:buNone/>
            </a:pPr>
            <a:r>
              <a:rPr lang="en-US" sz="1300" dirty="0">
                <a:solidFill>
                  <a:schemeClr val="tx1"/>
                </a:solidFill>
              </a:rPr>
              <a:t>Adattate o costruite per l'azienda</a:t>
            </a:r>
            <a:endParaRPr lang="en-US" sz="1300" dirty="0"/>
          </a:p>
        </p:txBody>
      </p:sp>
      <p:sp>
        <p:nvSpPr>
          <p:cNvPr id="17" name="Text 14"/>
          <p:cNvSpPr txBox="1"/>
          <p:nvPr/>
        </p:nvSpPr>
        <p:spPr>
          <a:xfrm>
            <a:off x="6254496" y="3063240"/>
            <a:ext cx="2249424" cy="1280160"/>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Massimo adattamento</a:t>
            </a:r>
            <a:endParaRPr lang="en-US" sz="1200" dirty="0"/>
          </a:p>
          <a:p>
            <a:pPr marL="177800" indent="-177800">
              <a:spcAft>
                <a:spcPts val="400"/>
              </a:spcAft>
              <a:buSzPct val="100000"/>
              <a:buChar char="•"/>
            </a:pPr>
            <a:r>
              <a:rPr lang="en-US" sz="1200" dirty="0">
                <a:solidFill>
                  <a:schemeClr val="tx2"/>
                </a:solidFill>
              </a:rPr>
              <a:t>Tempi, competenze, manutenzione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Vantaggi e limiti dei diversi approcci</a:t>
            </a:r>
            <a:endParaRPr lang="en-US" sz="26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554480"/>
                <a:gridCol w="2194560"/>
                <a:gridCol w="2240280"/>
                <a:gridCol w="2240280"/>
              </a:tblGrid>
              <a:tr h="566928">
                <a:tc>
                  <a:txBody>
                    <a:bodyPr/>
                    <a:lstStyle/>
                    <a:p>
                      <a:pPr indent="0" marL="0">
                        <a:buNone/>
                      </a:pP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b="1" dirty="0">
                          <a:solidFill>
                            <a:schemeClr val="bg1"/>
                          </a:solidFill>
                        </a:rPr>
                        <a:t>Generalista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Specializzata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Integrata nei software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r>
              <a:tr h="566928">
                <a:tc>
                  <a:txBody>
                    <a:bodyPr/>
                    <a:lstStyle/>
                    <a:p>
                      <a:pPr indent="0" marL="0">
                        <a:buNone/>
                      </a:pPr>
                      <a:r>
                        <a:rPr lang="en-US" sz="1200" b="1" dirty="0">
                          <a:solidFill>
                            <a:schemeClr val="tx1"/>
                          </a:solidFill>
                        </a:rPr>
                        <a:t>Ideale quando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Compiti vari, sperimentazione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Attività ricorrente, importante, definita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Il lavoro avviene già in quel software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566928">
                <a:tc>
                  <a:txBody>
                    <a:bodyPr/>
                    <a:lstStyle/>
                    <a:p>
                      <a:pPr indent="0" marL="0">
                        <a:buNone/>
                      </a:pPr>
                      <a:r>
                        <a:rPr lang="en-US" sz="1200" b="1" dirty="0">
                          <a:solidFill>
                            <a:schemeClr val="tx1"/>
                          </a:solidFill>
                        </a:rPr>
                        <a:t>Vantaggi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Flessibile, immediata, per tutti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Conosce il dominio, flussi dedicati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Dati, flussi e permessi esistenti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566928">
                <a:tc>
                  <a:txBody>
                    <a:bodyPr/>
                    <a:lstStyle/>
                    <a:p>
                      <a:pPr indent="0" marL="0">
                        <a:buNone/>
                      </a:pPr>
                      <a:r>
                        <a:rPr lang="en-US" sz="1200" b="1" dirty="0">
                          <a:solidFill>
                            <a:schemeClr val="tx1"/>
                          </a:solidFill>
                        </a:rPr>
                        <a:t>Limiti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Il contesto lo porta l'utente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Serve solo a quello, un fornitore in più</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Capacità decise dal fornitore del software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566928">
                <a:tc>
                  <a:txBody>
                    <a:bodyPr/>
                    <a:lstStyle/>
                    <a:p>
                      <a:pPr indent="0" marL="0">
                        <a:buNone/>
                      </a:pPr>
                      <a:r>
                        <a:rPr lang="en-US" sz="1200" b="1" dirty="0">
                          <a:solidFill>
                            <a:schemeClr val="tx1"/>
                          </a:solidFill>
                        </a:rPr>
                        <a:t>Impegno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Basso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Medio o alto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Basso o medio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bl>
          </a:graphicData>
        </a:graphic>
      </p:graphicFrame>
      <p:sp>
        <p:nvSpPr>
          <p:cNvPr id="5" name="messaggio"/>
          <p:cNvSpPr/>
          <p:nvPr/>
        </p:nvSpPr>
        <p:spPr>
          <a:xfrm>
            <a:off x="457200" y="4023360"/>
            <a:ext cx="8229600" cy="548640"/>
          </a:xfrm>
          <a:prstGeom prst="roundRect">
            <a:avLst>
              <a:gd name="adj" fmla="val 13333"/>
            </a:avLst>
          </a:prstGeom>
          <a:solidFill>
            <a:schemeClr val="tx1"/>
          </a:solidFill>
          <a:ln/>
        </p:spPr>
      </p:sp>
      <p:sp>
        <p:nvSpPr>
          <p:cNvPr id="6" name="Text 2"/>
          <p:cNvSpPr txBox="1"/>
          <p:nvPr/>
        </p:nvSpPr>
        <p:spPr>
          <a:xfrm>
            <a:off x="640080" y="4023360"/>
            <a:ext cx="7863840" cy="548640"/>
          </a:xfrm>
          <a:prstGeom prst="rect">
            <a:avLst/>
          </a:prstGeom>
          <a:noFill/>
          <a:ln/>
        </p:spPr>
        <p:txBody>
          <a:bodyPr wrap="square" lIns="0" tIns="0" rIns="0" bIns="0" rtlCol="0" anchor="ctr"/>
          <a:lstStyle/>
          <a:p>
            <a:pPr indent="0" marL="0">
              <a:buNone/>
            </a:pPr>
            <a:r>
              <a:rPr lang="en-US" sz="1200" dirty="0">
                <a:solidFill>
                  <a:schemeClr val="bg1"/>
                </a:solidFill>
              </a:rPr>
              <a:t>Spesso si combinano: un generalista per tutti, l'AI nei software principali, soluzioni specializzate per pochi processi chiave.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Usare uno strumento o integrare l'AI in un processo</a:t>
            </a:r>
            <a:endParaRPr lang="en-US" sz="2600" dirty="0"/>
          </a:p>
        </p:txBody>
      </p:sp>
      <p:sp>
        <p:nvSpPr>
          <p:cNvPr id="4" name="scheda Usare uno strumento"/>
          <p:cNvSpPr/>
          <p:nvPr/>
        </p:nvSpPr>
        <p:spPr>
          <a:xfrm>
            <a:off x="457200" y="1097280"/>
            <a:ext cx="3977640" cy="2743200"/>
          </a:xfrm>
          <a:prstGeom prst="roundRect">
            <a:avLst>
              <a:gd name="adj" fmla="val 2667"/>
            </a:avLst>
          </a:prstGeom>
          <a:solidFill>
            <a:schemeClr val="bg2"/>
          </a:solidFill>
          <a:ln/>
        </p:spPr>
      </p:sp>
      <p:sp>
        <p:nvSpPr>
          <p:cNvPr id="5" name="cerchio FiUser"/>
          <p:cNvSpPr/>
          <p:nvPr/>
        </p:nvSpPr>
        <p:spPr>
          <a:xfrm>
            <a:off x="640080" y="1280160"/>
            <a:ext cx="457200" cy="457200"/>
          </a:xfrm>
          <a:prstGeom prst="ellipse">
            <a:avLst/>
          </a:prstGeom>
          <a:solidFill>
            <a:schemeClr val="accent1"/>
          </a:solidFill>
          <a:ln/>
        </p:spPr>
      </p:sp>
      <p:pic>
        <p:nvPicPr>
          <p:cNvPr id="6" name="Image 0" descr="FiUser">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Usare uno strumento</a:t>
            </a:r>
            <a:endParaRPr lang="en-US" sz="1600" dirty="0"/>
          </a:p>
        </p:txBody>
      </p:sp>
      <p:sp>
        <p:nvSpPr>
          <p:cNvPr id="8" name="Text 4"/>
          <p:cNvSpPr txBox="1"/>
          <p:nvPr/>
        </p:nvSpPr>
        <p:spPr>
          <a:xfrm>
            <a:off x="640080" y="2231136"/>
            <a:ext cx="3611880" cy="1499616"/>
          </a:xfrm>
          <a:prstGeom prst="rect">
            <a:avLst/>
          </a:prstGeom>
          <a:noFill/>
          <a:ln/>
        </p:spPr>
        <p:txBody>
          <a:bodyPr wrap="square" lIns="0" tIns="0" rIns="0" bIns="0" rtlCol="0" anchor="t"/>
          <a:lstStyle/>
          <a:p>
            <a:pPr marL="177800" indent="-177800">
              <a:spcAft>
                <a:spcPts val="300"/>
              </a:spcAft>
              <a:buSzPct val="100000"/>
              <a:buChar char="•"/>
            </a:pPr>
            <a:r>
              <a:rPr lang="en-US" sz="1300" dirty="0">
                <a:solidFill>
                  <a:schemeClr val="tx2"/>
                </a:solidFill>
              </a:rPr>
              <a:t>La persona apre un assistente per un compito</a:t>
            </a:r>
            <a:endParaRPr lang="en-US" sz="1300" dirty="0"/>
          </a:p>
          <a:p>
            <a:pPr marL="177800" indent="-177800">
              <a:spcAft>
                <a:spcPts val="300"/>
              </a:spcAft>
              <a:buSzPct val="100000"/>
              <a:buChar char="•"/>
            </a:pPr>
            <a:r>
              <a:rPr lang="en-US" sz="1300" dirty="0">
                <a:solidFill>
                  <a:schemeClr val="tx2"/>
                </a:solidFill>
              </a:rPr>
              <a:t>Il processo non cambia</a:t>
            </a:r>
            <a:endParaRPr lang="en-US" sz="1300" dirty="0"/>
          </a:p>
          <a:p>
            <a:pPr marL="177800" indent="-177800">
              <a:spcAft>
                <a:spcPts val="300"/>
              </a:spcAft>
              <a:buSzPct val="100000"/>
              <a:buChar char="•"/>
            </a:pPr>
            <a:r>
              <a:rPr lang="en-US" sz="1300" dirty="0">
                <a:solidFill>
                  <a:schemeClr val="tx2"/>
                </a:solidFill>
              </a:rPr>
              <a:t>Benefici legati a iniziativa e competenza dei singoli</a:t>
            </a:r>
            <a:endParaRPr lang="en-US" sz="1300" dirty="0"/>
          </a:p>
          <a:p>
            <a:pPr marL="177800" indent="-177800">
              <a:spcAft>
                <a:spcPts val="300"/>
              </a:spcAft>
              <a:buSzPct val="100000"/>
              <a:buChar char="•"/>
            </a:pPr>
            <a:r>
              <a:rPr lang="en-US" sz="1300" dirty="0">
                <a:solidFill>
                  <a:schemeClr val="tx2"/>
                </a:solidFill>
              </a:rPr>
              <a:t>Impegno e rischi contenuti</a:t>
            </a:r>
            <a:endParaRPr lang="en-US" sz="1300" dirty="0"/>
          </a:p>
        </p:txBody>
      </p:sp>
      <p:sp>
        <p:nvSpPr>
          <p:cNvPr id="9" name="scheda Integrare l'AI in un processo"/>
          <p:cNvSpPr/>
          <p:nvPr/>
        </p:nvSpPr>
        <p:spPr>
          <a:xfrm>
            <a:off x="4709160" y="1097280"/>
            <a:ext cx="3977640" cy="2743200"/>
          </a:xfrm>
          <a:prstGeom prst="roundRect">
            <a:avLst>
              <a:gd name="adj" fmla="val 2667"/>
            </a:avLst>
          </a:prstGeom>
          <a:solidFill>
            <a:schemeClr val="accent6"/>
          </a:solidFill>
          <a:ln/>
        </p:spPr>
      </p:sp>
      <p:sp>
        <p:nvSpPr>
          <p:cNvPr id="10" name="cerchio FiGitBranch"/>
          <p:cNvSpPr/>
          <p:nvPr/>
        </p:nvSpPr>
        <p:spPr>
          <a:xfrm>
            <a:off x="4892040" y="1280160"/>
            <a:ext cx="457200" cy="457200"/>
          </a:xfrm>
          <a:prstGeom prst="ellipse">
            <a:avLst/>
          </a:prstGeom>
          <a:solidFill>
            <a:schemeClr val="accent1"/>
          </a:solidFill>
          <a:ln/>
        </p:spPr>
      </p:sp>
      <p:pic>
        <p:nvPicPr>
          <p:cNvPr id="11" name="Image 1" descr="FiGitBranch">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Integrare l'AI in un processo</a:t>
            </a:r>
            <a:endParaRPr lang="en-US" sz="1600" dirty="0"/>
          </a:p>
        </p:txBody>
      </p:sp>
      <p:sp>
        <p:nvSpPr>
          <p:cNvPr id="13" name="Text 8"/>
          <p:cNvSpPr txBox="1"/>
          <p:nvPr/>
        </p:nvSpPr>
        <p:spPr>
          <a:xfrm>
            <a:off x="4892040" y="2231136"/>
            <a:ext cx="3611880" cy="1499616"/>
          </a:xfrm>
          <a:prstGeom prst="rect">
            <a:avLst/>
          </a:prstGeom>
          <a:noFill/>
          <a:ln/>
        </p:spPr>
        <p:txBody>
          <a:bodyPr wrap="square" lIns="0" tIns="0" rIns="0" bIns="0" rtlCol="0" anchor="t"/>
          <a:lstStyle/>
          <a:p>
            <a:pPr marL="177800" indent="-177800">
              <a:spcAft>
                <a:spcPts val="300"/>
              </a:spcAft>
              <a:buSzPct val="100000"/>
              <a:buChar char="•"/>
            </a:pPr>
            <a:r>
              <a:rPr lang="en-US" sz="1300" dirty="0">
                <a:solidFill>
                  <a:schemeClr val="tx2"/>
                </a:solidFill>
              </a:rPr>
              <a:t>L'AI entra in modo sistematico in uno o più passaggi</a:t>
            </a:r>
            <a:endParaRPr lang="en-US" sz="1300" dirty="0"/>
          </a:p>
          <a:p>
            <a:pPr marL="177800" indent="-177800">
              <a:spcAft>
                <a:spcPts val="300"/>
              </a:spcAft>
              <a:buSzPct val="100000"/>
              <a:buChar char="•"/>
            </a:pPr>
            <a:r>
              <a:rPr lang="en-US" sz="1300" dirty="0">
                <a:solidFill>
                  <a:schemeClr val="tx2"/>
                </a:solidFill>
              </a:rPr>
              <a:t>Cambiano processo, ruoli, controlli</a:t>
            </a:r>
            <a:endParaRPr lang="en-US" sz="1300" dirty="0"/>
          </a:p>
          <a:p>
            <a:pPr marL="177800" indent="-177800">
              <a:spcAft>
                <a:spcPts val="300"/>
              </a:spcAft>
              <a:buSzPct val="100000"/>
              <a:buChar char="•"/>
            </a:pPr>
            <a:r>
              <a:rPr lang="en-US" sz="1300" dirty="0">
                <a:solidFill>
                  <a:schemeClr val="tx2"/>
                </a:solidFill>
              </a:rPr>
              <a:t>Servono integrazione, regole, monitoraggio</a:t>
            </a:r>
            <a:endParaRPr lang="en-US" sz="1300" dirty="0"/>
          </a:p>
          <a:p>
            <a:pPr marL="177800" indent="-177800">
              <a:spcAft>
                <a:spcPts val="300"/>
              </a:spcAft>
              <a:buSzPct val="100000"/>
              <a:buChar char="•"/>
            </a:pPr>
            <a:r>
              <a:rPr lang="en-US" sz="1300" dirty="0">
                <a:solidFill>
                  <a:schemeClr val="tx2"/>
                </a:solidFill>
              </a:rPr>
              <a:t>Benefici più ampi, ma più impegno e rischi</a:t>
            </a:r>
            <a:endParaRPr lang="en-US" sz="1300" dirty="0"/>
          </a:p>
        </p:txBody>
      </p:sp>
      <p:sp>
        <p:nvSpPr>
          <p:cNvPr id="14" name="messaggio"/>
          <p:cNvSpPr/>
          <p:nvPr/>
        </p:nvSpPr>
        <p:spPr>
          <a:xfrm>
            <a:off x="457200" y="3977640"/>
            <a:ext cx="8229600" cy="548640"/>
          </a:xfrm>
          <a:prstGeom prst="roundRect">
            <a:avLst>
              <a:gd name="adj" fmla="val 13333"/>
            </a:avLst>
          </a:prstGeom>
          <a:solidFill>
            <a:schemeClr val="tx1"/>
          </a:solidFill>
          <a:ln/>
        </p:spPr>
      </p:sp>
      <p:sp>
        <p:nvSpPr>
          <p:cNvPr id="15" name="Text 10"/>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300" dirty="0">
                <a:solidFill>
                  <a:schemeClr val="bg1"/>
                </a:solidFill>
              </a:rPr>
              <a:t>Spesso il primo prepara il secondo: l'uso individuale fa emergere dove l'integrazione vale la pena.</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Le capacità AI possono essere disponibili in prodotti generalisti, strumenti dedicati o software già presenti in azienda; adottare AI non richiede necessariamente un nuovo applicativo separato.</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4.4  ·  AI generalista, specializzata e integrata</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4.5</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Chatbot, assistenti, agenti e automazioni</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Conversare, ricevere assistenza, automatizzare e delegare sono modalità e livelli di autonomia differenti</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Uno spettro di autonomia</a:t>
            </a:r>
            <a:endParaRPr lang="en-US" sz="2600" dirty="0"/>
          </a:p>
        </p:txBody>
      </p:sp>
      <p:sp>
        <p:nvSpPr>
          <p:cNvPr id="4" name="autonomia"/>
          <p:cNvSpPr/>
          <p:nvPr/>
        </p:nvSpPr>
        <p:spPr>
          <a:xfrm>
            <a:off x="457200" y="1188720"/>
            <a:ext cx="8229600" cy="0"/>
          </a:xfrm>
          <a:prstGeom prst="line">
            <a:avLst/>
          </a:prstGeom>
          <a:noFill/>
          <a:ln w="25400">
            <a:solidFill>
              <a:schemeClr val="accent2"/>
            </a:solidFill>
            <a:prstDash val="solid"/>
            <a:tailEnd type="triangle"/>
          </a:ln>
        </p:spPr>
      </p:sp>
      <p:sp>
        <p:nvSpPr>
          <p:cNvPr id="5" name="Text 2"/>
          <p:cNvSpPr txBox="1"/>
          <p:nvPr/>
        </p:nvSpPr>
        <p:spPr>
          <a:xfrm>
            <a:off x="5943600" y="960120"/>
            <a:ext cx="2743200" cy="228600"/>
          </a:xfrm>
          <a:prstGeom prst="rect">
            <a:avLst/>
          </a:prstGeom>
          <a:noFill/>
          <a:ln/>
        </p:spPr>
        <p:txBody>
          <a:bodyPr wrap="square" lIns="0" tIns="0" rIns="0" bIns="0" rtlCol="0" anchor="t"/>
          <a:lstStyle/>
          <a:p>
            <a:pPr algn="r" indent="0" marL="0">
              <a:buNone/>
            </a:pPr>
            <a:r>
              <a:rPr lang="en-US" sz="1100" b="1" dirty="0">
                <a:solidFill>
                  <a:schemeClr val="accent2"/>
                </a:solidFill>
              </a:rPr>
              <a:t>Autonomia crescente</a:t>
            </a:r>
            <a:endParaRPr lang="en-US" sz="1100" dirty="0"/>
          </a:p>
        </p:txBody>
      </p:sp>
      <p:sp>
        <p:nvSpPr>
          <p:cNvPr id="6" name="Chatbot"/>
          <p:cNvSpPr/>
          <p:nvPr/>
        </p:nvSpPr>
        <p:spPr>
          <a:xfrm>
            <a:off x="457200" y="1417320"/>
            <a:ext cx="1965960" cy="1920240"/>
          </a:xfrm>
          <a:prstGeom prst="roundRect">
            <a:avLst>
              <a:gd name="adj" fmla="val 3810"/>
            </a:avLst>
          </a:prstGeom>
          <a:solidFill>
            <a:schemeClr val="bg2"/>
          </a:solidFill>
          <a:ln/>
        </p:spPr>
      </p:sp>
      <p:sp>
        <p:nvSpPr>
          <p:cNvPr id="7" name="cerchio FiMessageCircle"/>
          <p:cNvSpPr/>
          <p:nvPr/>
        </p:nvSpPr>
        <p:spPr>
          <a:xfrm>
            <a:off x="1170432" y="1554480"/>
            <a:ext cx="548640" cy="548640"/>
          </a:xfrm>
          <a:prstGeom prst="ellipse">
            <a:avLst/>
          </a:prstGeom>
          <a:solidFill>
            <a:schemeClr val="accent1"/>
          </a:solidFill>
          <a:ln/>
        </p:spPr>
      </p:sp>
      <p:pic>
        <p:nvPicPr>
          <p:cNvPr id="8" name="Image 0" descr="FiMessageCircle">    </p:cNvPr>
          <p:cNvPicPr>
            <a:picLocks noChangeAspect="1"/>
          </p:cNvPicPr>
          <p:nvPr/>
        </p:nvPicPr>
        <p:blipFill>
          <a:blip r:embed="rId1"/>
          <a:stretch>
            <a:fillRect/>
          </a:stretch>
        </p:blipFill>
        <p:spPr>
          <a:xfrm>
            <a:off x="1307592" y="1691640"/>
            <a:ext cx="274320" cy="274320"/>
          </a:xfrm>
          <a:prstGeom prst="rect">
            <a:avLst/>
          </a:prstGeom>
        </p:spPr>
      </p:pic>
      <p:sp>
        <p:nvSpPr>
          <p:cNvPr id="9" name="Text 5"/>
          <p:cNvSpPr txBox="1"/>
          <p:nvPr/>
        </p:nvSpPr>
        <p:spPr>
          <a:xfrm>
            <a:off x="548640" y="2194560"/>
            <a:ext cx="1783080" cy="502920"/>
          </a:xfrm>
          <a:prstGeom prst="rect">
            <a:avLst/>
          </a:prstGeom>
          <a:noFill/>
          <a:ln/>
        </p:spPr>
        <p:txBody>
          <a:bodyPr wrap="square" lIns="0" tIns="0" rIns="0" bIns="0" rtlCol="0" anchor="ctr"/>
          <a:lstStyle/>
          <a:p>
            <a:pPr algn="ctr" indent="0" marL="0">
              <a:buNone/>
            </a:pPr>
            <a:r>
              <a:rPr lang="en-US" sz="1400" b="1" dirty="0">
                <a:solidFill>
                  <a:schemeClr val="tx1"/>
                </a:solidFill>
              </a:rPr>
              <a:t>Chatbot</a:t>
            </a:r>
            <a:endParaRPr lang="en-US" sz="1400" dirty="0"/>
          </a:p>
        </p:txBody>
      </p:sp>
      <p:sp>
        <p:nvSpPr>
          <p:cNvPr id="10" name="Text 6"/>
          <p:cNvSpPr txBox="1"/>
          <p:nvPr/>
        </p:nvSpPr>
        <p:spPr>
          <a:xfrm>
            <a:off x="548640" y="2697480"/>
            <a:ext cx="1783080" cy="594360"/>
          </a:xfrm>
          <a:prstGeom prst="rect">
            <a:avLst/>
          </a:prstGeom>
          <a:noFill/>
          <a:ln/>
        </p:spPr>
        <p:txBody>
          <a:bodyPr wrap="square" lIns="0" tIns="0" rIns="0" bIns="0" rtlCol="0" anchor="t"/>
          <a:lstStyle/>
          <a:p>
            <a:pPr algn="ctr" indent="0" marL="0">
              <a:buNone/>
            </a:pPr>
            <a:r>
              <a:rPr lang="en-US" sz="1200" dirty="0">
                <a:solidFill>
                  <a:schemeClr val="tx2"/>
                </a:solidFill>
              </a:rPr>
              <a:t>Conversa, risponde</a:t>
            </a:r>
            <a:endParaRPr lang="en-US" sz="1200" dirty="0"/>
          </a:p>
        </p:txBody>
      </p:sp>
      <p:sp>
        <p:nvSpPr>
          <p:cNvPr id="11" name="Assistente configurato"/>
          <p:cNvSpPr/>
          <p:nvPr/>
        </p:nvSpPr>
        <p:spPr>
          <a:xfrm>
            <a:off x="2560320" y="1417320"/>
            <a:ext cx="1965960" cy="1920240"/>
          </a:xfrm>
          <a:prstGeom prst="roundRect">
            <a:avLst>
              <a:gd name="adj" fmla="val 3810"/>
            </a:avLst>
          </a:prstGeom>
          <a:solidFill>
            <a:schemeClr val="bg2"/>
          </a:solidFill>
          <a:ln/>
        </p:spPr>
      </p:sp>
      <p:sp>
        <p:nvSpPr>
          <p:cNvPr id="12" name="cerchio FiUserCheck"/>
          <p:cNvSpPr/>
          <p:nvPr/>
        </p:nvSpPr>
        <p:spPr>
          <a:xfrm>
            <a:off x="3273552" y="1554480"/>
            <a:ext cx="548640" cy="548640"/>
          </a:xfrm>
          <a:prstGeom prst="ellipse">
            <a:avLst/>
          </a:prstGeom>
          <a:solidFill>
            <a:schemeClr val="accent1"/>
          </a:solidFill>
          <a:ln/>
        </p:spPr>
      </p:sp>
      <p:pic>
        <p:nvPicPr>
          <p:cNvPr id="13" name="Image 1" descr="FiUserCheck">    </p:cNvPr>
          <p:cNvPicPr>
            <a:picLocks noChangeAspect="1"/>
          </p:cNvPicPr>
          <p:nvPr/>
        </p:nvPicPr>
        <p:blipFill>
          <a:blip r:embed="rId2"/>
          <a:stretch>
            <a:fillRect/>
          </a:stretch>
        </p:blipFill>
        <p:spPr>
          <a:xfrm>
            <a:off x="3410712" y="1691640"/>
            <a:ext cx="274320" cy="274320"/>
          </a:xfrm>
          <a:prstGeom prst="rect">
            <a:avLst/>
          </a:prstGeom>
        </p:spPr>
      </p:pic>
      <p:sp>
        <p:nvSpPr>
          <p:cNvPr id="14" name="Text 9"/>
          <p:cNvSpPr txBox="1"/>
          <p:nvPr/>
        </p:nvSpPr>
        <p:spPr>
          <a:xfrm>
            <a:off x="2651760" y="2194560"/>
            <a:ext cx="1783080" cy="502920"/>
          </a:xfrm>
          <a:prstGeom prst="rect">
            <a:avLst/>
          </a:prstGeom>
          <a:noFill/>
          <a:ln/>
        </p:spPr>
        <p:txBody>
          <a:bodyPr wrap="square" lIns="0" tIns="0" rIns="0" bIns="0" rtlCol="0" anchor="ctr"/>
          <a:lstStyle/>
          <a:p>
            <a:pPr algn="ctr" indent="0" marL="0">
              <a:buNone/>
            </a:pPr>
            <a:r>
              <a:rPr lang="en-US" sz="1400" b="1" dirty="0">
                <a:solidFill>
                  <a:schemeClr val="tx1"/>
                </a:solidFill>
              </a:rPr>
              <a:t>Assistente configurato</a:t>
            </a:r>
            <a:endParaRPr lang="en-US" sz="1400" dirty="0"/>
          </a:p>
        </p:txBody>
      </p:sp>
      <p:sp>
        <p:nvSpPr>
          <p:cNvPr id="15" name="Text 10"/>
          <p:cNvSpPr txBox="1"/>
          <p:nvPr/>
        </p:nvSpPr>
        <p:spPr>
          <a:xfrm>
            <a:off x="2651760" y="2697480"/>
            <a:ext cx="1783080" cy="594360"/>
          </a:xfrm>
          <a:prstGeom prst="rect">
            <a:avLst/>
          </a:prstGeom>
          <a:noFill/>
          <a:ln/>
        </p:spPr>
        <p:txBody>
          <a:bodyPr wrap="square" lIns="0" tIns="0" rIns="0" bIns="0" rtlCol="0" anchor="t"/>
          <a:lstStyle/>
          <a:p>
            <a:pPr algn="ctr" indent="0" marL="0">
              <a:buNone/>
            </a:pPr>
            <a:r>
              <a:rPr lang="en-US" sz="1200" dirty="0">
                <a:solidFill>
                  <a:schemeClr val="tx2"/>
                </a:solidFill>
              </a:rPr>
              <a:t>Adattato a un compito</a:t>
            </a:r>
            <a:endParaRPr lang="en-US" sz="1200" dirty="0"/>
          </a:p>
        </p:txBody>
      </p:sp>
      <p:sp>
        <p:nvSpPr>
          <p:cNvPr id="16" name="Sistema con strumenti"/>
          <p:cNvSpPr/>
          <p:nvPr/>
        </p:nvSpPr>
        <p:spPr>
          <a:xfrm>
            <a:off x="4663440" y="1417320"/>
            <a:ext cx="1965960" cy="1920240"/>
          </a:xfrm>
          <a:prstGeom prst="roundRect">
            <a:avLst>
              <a:gd name="adj" fmla="val 3810"/>
            </a:avLst>
          </a:prstGeom>
          <a:solidFill>
            <a:schemeClr val="accent6"/>
          </a:solidFill>
          <a:ln/>
        </p:spPr>
      </p:sp>
      <p:sp>
        <p:nvSpPr>
          <p:cNvPr id="17" name="cerchio FiTool"/>
          <p:cNvSpPr/>
          <p:nvPr/>
        </p:nvSpPr>
        <p:spPr>
          <a:xfrm>
            <a:off x="5376672" y="1554480"/>
            <a:ext cx="548640" cy="548640"/>
          </a:xfrm>
          <a:prstGeom prst="ellipse">
            <a:avLst/>
          </a:prstGeom>
          <a:solidFill>
            <a:schemeClr val="accent1"/>
          </a:solidFill>
          <a:ln/>
        </p:spPr>
      </p:sp>
      <p:pic>
        <p:nvPicPr>
          <p:cNvPr id="18" name="Image 2" descr="FiTool">    </p:cNvPr>
          <p:cNvPicPr>
            <a:picLocks noChangeAspect="1"/>
          </p:cNvPicPr>
          <p:nvPr/>
        </p:nvPicPr>
        <p:blipFill>
          <a:blip r:embed="rId3"/>
          <a:stretch>
            <a:fillRect/>
          </a:stretch>
        </p:blipFill>
        <p:spPr>
          <a:xfrm>
            <a:off x="5513832" y="1691640"/>
            <a:ext cx="274320" cy="274320"/>
          </a:xfrm>
          <a:prstGeom prst="rect">
            <a:avLst/>
          </a:prstGeom>
        </p:spPr>
      </p:pic>
      <p:sp>
        <p:nvSpPr>
          <p:cNvPr id="19" name="Text 13"/>
          <p:cNvSpPr txBox="1"/>
          <p:nvPr/>
        </p:nvSpPr>
        <p:spPr>
          <a:xfrm>
            <a:off x="4754880" y="2194560"/>
            <a:ext cx="1783080" cy="502920"/>
          </a:xfrm>
          <a:prstGeom prst="rect">
            <a:avLst/>
          </a:prstGeom>
          <a:noFill/>
          <a:ln/>
        </p:spPr>
        <p:txBody>
          <a:bodyPr wrap="square" lIns="0" tIns="0" rIns="0" bIns="0" rtlCol="0" anchor="ctr"/>
          <a:lstStyle/>
          <a:p>
            <a:pPr algn="ctr" indent="0" marL="0">
              <a:buNone/>
            </a:pPr>
            <a:r>
              <a:rPr lang="en-US" sz="1400" b="1" dirty="0">
                <a:solidFill>
                  <a:schemeClr val="tx1"/>
                </a:solidFill>
              </a:rPr>
              <a:t>Sistema con strumenti</a:t>
            </a:r>
            <a:endParaRPr lang="en-US" sz="1400" dirty="0"/>
          </a:p>
        </p:txBody>
      </p:sp>
      <p:sp>
        <p:nvSpPr>
          <p:cNvPr id="20" name="Text 14"/>
          <p:cNvSpPr txBox="1"/>
          <p:nvPr/>
        </p:nvSpPr>
        <p:spPr>
          <a:xfrm>
            <a:off x="4754880" y="2697480"/>
            <a:ext cx="1783080" cy="594360"/>
          </a:xfrm>
          <a:prstGeom prst="rect">
            <a:avLst/>
          </a:prstGeom>
          <a:noFill/>
          <a:ln/>
        </p:spPr>
        <p:txBody>
          <a:bodyPr wrap="square" lIns="0" tIns="0" rIns="0" bIns="0" rtlCol="0" anchor="t"/>
          <a:lstStyle/>
          <a:p>
            <a:pPr algn="ctr" indent="0" marL="0">
              <a:buNone/>
            </a:pPr>
            <a:r>
              <a:rPr lang="en-US" sz="1200" dirty="0">
                <a:solidFill>
                  <a:schemeClr val="tx2"/>
                </a:solidFill>
              </a:rPr>
              <a:t>Cerca, calcola, consulta, agisce su richiesta</a:t>
            </a:r>
            <a:endParaRPr lang="en-US" sz="1200" dirty="0"/>
          </a:p>
        </p:txBody>
      </p:sp>
      <p:sp>
        <p:nvSpPr>
          <p:cNvPr id="21" name="Agente"/>
          <p:cNvSpPr/>
          <p:nvPr/>
        </p:nvSpPr>
        <p:spPr>
          <a:xfrm>
            <a:off x="6766560" y="1417320"/>
            <a:ext cx="1965960" cy="1920240"/>
          </a:xfrm>
          <a:prstGeom prst="roundRect">
            <a:avLst>
              <a:gd name="adj" fmla="val 3810"/>
            </a:avLst>
          </a:prstGeom>
          <a:solidFill>
            <a:schemeClr val="accent1"/>
          </a:solidFill>
          <a:ln/>
        </p:spPr>
      </p:sp>
      <p:sp>
        <p:nvSpPr>
          <p:cNvPr id="22" name="cerchio FiCompass"/>
          <p:cNvSpPr/>
          <p:nvPr/>
        </p:nvSpPr>
        <p:spPr>
          <a:xfrm>
            <a:off x="7479792" y="1554480"/>
            <a:ext cx="548640" cy="548640"/>
          </a:xfrm>
          <a:prstGeom prst="ellipse">
            <a:avLst/>
          </a:prstGeom>
          <a:solidFill>
            <a:schemeClr val="bg1"/>
          </a:solidFill>
          <a:ln/>
        </p:spPr>
      </p:sp>
      <p:pic>
        <p:nvPicPr>
          <p:cNvPr id="23" name="Image 3" descr="FiCompass">    </p:cNvPr>
          <p:cNvPicPr>
            <a:picLocks noChangeAspect="1"/>
          </p:cNvPicPr>
          <p:nvPr/>
        </p:nvPicPr>
        <p:blipFill>
          <a:blip r:embed="rId4"/>
          <a:stretch>
            <a:fillRect/>
          </a:stretch>
        </p:blipFill>
        <p:spPr>
          <a:xfrm>
            <a:off x="7616952" y="1691640"/>
            <a:ext cx="274320" cy="274320"/>
          </a:xfrm>
          <a:prstGeom prst="rect">
            <a:avLst/>
          </a:prstGeom>
        </p:spPr>
      </p:pic>
      <p:sp>
        <p:nvSpPr>
          <p:cNvPr id="24" name="Text 17"/>
          <p:cNvSpPr txBox="1"/>
          <p:nvPr/>
        </p:nvSpPr>
        <p:spPr>
          <a:xfrm>
            <a:off x="6858000" y="2194560"/>
            <a:ext cx="1783080" cy="502920"/>
          </a:xfrm>
          <a:prstGeom prst="rect">
            <a:avLst/>
          </a:prstGeom>
          <a:noFill/>
          <a:ln/>
        </p:spPr>
        <p:txBody>
          <a:bodyPr wrap="square" lIns="0" tIns="0" rIns="0" bIns="0" rtlCol="0" anchor="ctr"/>
          <a:lstStyle/>
          <a:p>
            <a:pPr algn="ctr" indent="0" marL="0">
              <a:buNone/>
            </a:pPr>
            <a:r>
              <a:rPr lang="en-US" sz="1400" b="1" dirty="0">
                <a:solidFill>
                  <a:schemeClr val="bg1"/>
                </a:solidFill>
              </a:rPr>
              <a:t>Agente</a:t>
            </a:r>
            <a:endParaRPr lang="en-US" sz="1400" dirty="0"/>
          </a:p>
        </p:txBody>
      </p:sp>
      <p:sp>
        <p:nvSpPr>
          <p:cNvPr id="25" name="Text 18"/>
          <p:cNvSpPr txBox="1"/>
          <p:nvPr/>
        </p:nvSpPr>
        <p:spPr>
          <a:xfrm>
            <a:off x="6858000" y="2697480"/>
            <a:ext cx="1783080" cy="594360"/>
          </a:xfrm>
          <a:prstGeom prst="rect">
            <a:avLst/>
          </a:prstGeom>
          <a:noFill/>
          <a:ln/>
        </p:spPr>
        <p:txBody>
          <a:bodyPr wrap="square" lIns="0" tIns="0" rIns="0" bIns="0" rtlCol="0" anchor="t"/>
          <a:lstStyle/>
          <a:p>
            <a:pPr algn="ctr" indent="0" marL="0">
              <a:buNone/>
            </a:pPr>
            <a:r>
              <a:rPr lang="en-US" sz="1200" dirty="0">
                <a:solidFill>
                  <a:schemeClr val="bg1"/>
                </a:solidFill>
              </a:rPr>
              <a:t>Persegue un obiettivo in più passaggi</a:t>
            </a:r>
            <a:endParaRPr lang="en-US" sz="1200" dirty="0"/>
          </a:p>
        </p:txBody>
      </p:sp>
      <p:sp>
        <p:nvSpPr>
          <p:cNvPr id="26" name="automazione"/>
          <p:cNvSpPr/>
          <p:nvPr/>
        </p:nvSpPr>
        <p:spPr>
          <a:xfrm>
            <a:off x="457200" y="3520440"/>
            <a:ext cx="8229600" cy="1005840"/>
          </a:xfrm>
          <a:prstGeom prst="roundRect">
            <a:avLst>
              <a:gd name="adj" fmla="val 7273"/>
            </a:avLst>
          </a:prstGeom>
          <a:solidFill>
            <a:schemeClr val="bg2"/>
          </a:solidFill>
          <a:ln/>
        </p:spPr>
      </p:sp>
      <p:sp>
        <p:nvSpPr>
          <p:cNvPr id="27" name="cerchio FiRepeat"/>
          <p:cNvSpPr/>
          <p:nvPr/>
        </p:nvSpPr>
        <p:spPr>
          <a:xfrm>
            <a:off x="640080" y="3767328"/>
            <a:ext cx="512064" cy="512064"/>
          </a:xfrm>
          <a:prstGeom prst="ellipse">
            <a:avLst/>
          </a:prstGeom>
          <a:solidFill>
            <a:schemeClr val="tx2"/>
          </a:solidFill>
          <a:ln/>
        </p:spPr>
      </p:sp>
      <p:pic>
        <p:nvPicPr>
          <p:cNvPr id="28" name="Image 4" descr="FiRepeat">    </p:cNvPr>
          <p:cNvPicPr>
            <a:picLocks noChangeAspect="1"/>
          </p:cNvPicPr>
          <p:nvPr/>
        </p:nvPicPr>
        <p:blipFill>
          <a:blip r:embed="rId5"/>
          <a:stretch>
            <a:fillRect/>
          </a:stretch>
        </p:blipFill>
        <p:spPr>
          <a:xfrm>
            <a:off x="768096" y="3895344"/>
            <a:ext cx="256032" cy="256032"/>
          </a:xfrm>
          <a:prstGeom prst="rect">
            <a:avLst/>
          </a:prstGeom>
        </p:spPr>
      </p:pic>
      <p:sp>
        <p:nvSpPr>
          <p:cNvPr id="29" name="Text 21"/>
          <p:cNvSpPr txBox="1"/>
          <p:nvPr/>
        </p:nvSpPr>
        <p:spPr>
          <a:xfrm>
            <a:off x="1325880" y="3520440"/>
            <a:ext cx="7223760" cy="1005840"/>
          </a:xfrm>
          <a:prstGeom prst="rect">
            <a:avLst/>
          </a:prstGeom>
          <a:noFill/>
          <a:ln/>
        </p:spPr>
        <p:txBody>
          <a:bodyPr wrap="square" lIns="0" tIns="0" rIns="0" bIns="0" rtlCol="0" anchor="ctr"/>
          <a:lstStyle/>
          <a:p>
            <a:pPr indent="0" marL="0">
              <a:buNone/>
            </a:pPr>
            <a:r>
              <a:rPr lang="en-US" sz="1300" b="1" dirty="0">
                <a:solidFill>
                  <a:schemeClr val="tx1"/>
                </a:solidFill>
              </a:rPr>
              <a:t>Automazione: </a:t>
            </a:r>
            <a:pPr indent="0" marL="0">
              <a:buNone/>
            </a:pPr>
            <a:r>
              <a:rPr lang="en-US" sz="1300" dirty="0">
                <a:solidFill>
                  <a:schemeClr val="tx2"/>
                </a:solidFill>
              </a:rPr>
              <a:t>una logica diversa. Esegue un flusso predefinito, attivato da un evento, che può includere passaggi con AI.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Chatbot e assistenti configurati</a:t>
            </a:r>
            <a:endParaRPr lang="en-US" sz="2600" dirty="0"/>
          </a:p>
        </p:txBody>
      </p:sp>
      <p:sp>
        <p:nvSpPr>
          <p:cNvPr id="4" name="scheda Chatbot"/>
          <p:cNvSpPr/>
          <p:nvPr/>
        </p:nvSpPr>
        <p:spPr>
          <a:xfrm>
            <a:off x="457200" y="1097280"/>
            <a:ext cx="3977640" cy="3429000"/>
          </a:xfrm>
          <a:prstGeom prst="roundRect">
            <a:avLst>
              <a:gd name="adj" fmla="val 2133"/>
            </a:avLst>
          </a:prstGeom>
          <a:solidFill>
            <a:schemeClr val="bg2"/>
          </a:solidFill>
          <a:ln/>
        </p:spPr>
      </p:sp>
      <p:sp>
        <p:nvSpPr>
          <p:cNvPr id="5" name="cerchio FiMessageCircle"/>
          <p:cNvSpPr/>
          <p:nvPr/>
        </p:nvSpPr>
        <p:spPr>
          <a:xfrm>
            <a:off x="640080" y="1280160"/>
            <a:ext cx="457200" cy="457200"/>
          </a:xfrm>
          <a:prstGeom prst="ellipse">
            <a:avLst/>
          </a:prstGeom>
          <a:solidFill>
            <a:schemeClr val="accent1"/>
          </a:solidFill>
          <a:ln/>
        </p:spPr>
      </p:sp>
      <p:pic>
        <p:nvPicPr>
          <p:cNvPr id="6" name="Image 0" descr="FiMessageCircle">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Chatbot</a:t>
            </a:r>
            <a:endParaRPr lang="en-US" sz="1600" dirty="0"/>
          </a:p>
        </p:txBody>
      </p:sp>
      <p:sp>
        <p:nvSpPr>
          <p:cNvPr id="8" name="Text 4"/>
          <p:cNvSpPr txBox="1"/>
          <p:nvPr/>
        </p:nvSpPr>
        <p:spPr>
          <a:xfrm>
            <a:off x="640080" y="2231136"/>
            <a:ext cx="3611880" cy="2185416"/>
          </a:xfrm>
          <a:prstGeom prst="rect">
            <a:avLst/>
          </a:prstGeom>
          <a:noFill/>
          <a:ln/>
        </p:spPr>
        <p:txBody>
          <a:bodyPr wrap="square" lIns="0" tIns="0" rIns="0" bIns="0" rtlCol="0" anchor="t"/>
          <a:lstStyle/>
          <a:p>
            <a:pPr indent="0" marL="0">
              <a:buNone/>
            </a:pPr>
            <a:r>
              <a:rPr lang="en-US" sz="1300" b="1" dirty="0">
                <a:solidFill>
                  <a:schemeClr val="tx1"/>
                </a:solidFill>
              </a:rPr>
              <a:t>Ieri: </a:t>
            </a:r>
            <a:pPr indent="0" marL="0">
              <a:spcAft>
                <a:spcPts val="600"/>
              </a:spcAft>
              <a:buNone/>
            </a:pPr>
            <a:r>
              <a:rPr lang="en-US" sz="1300" dirty="0">
                <a:solidFill>
                  <a:schemeClr val="tx2"/>
                </a:solidFill>
              </a:rPr>
              <a:t>risposte automatiche a regole e menu, rigide</a:t>
            </a:r>
            <a:endParaRPr lang="en-US" sz="1300" dirty="0"/>
          </a:p>
          <a:p>
            <a:pPr indent="0" marL="0">
              <a:buNone/>
            </a:pPr>
            <a:r>
              <a:rPr lang="en-US" sz="1300" b="1" dirty="0">
                <a:solidFill>
                  <a:schemeClr val="tx1"/>
                </a:solidFill>
              </a:rPr>
              <a:t>Oggi: </a:t>
            </a:r>
            <a:pPr indent="0" marL="0">
              <a:spcAft>
                <a:spcPts val="600"/>
              </a:spcAft>
              <a:buNone/>
            </a:pPr>
            <a:r>
              <a:rPr lang="en-US" sz="1300" dirty="0">
                <a:solidFill>
                  <a:schemeClr val="tx2"/>
                </a:solidFill>
              </a:rPr>
              <a:t>interfacce conversazionali basate su modelli linguistici, flessibili</a:t>
            </a:r>
            <a:endParaRPr lang="en-US" sz="1300" dirty="0"/>
          </a:p>
          <a:p>
            <a:pPr indent="0" marL="0">
              <a:buNone/>
            </a:pPr>
            <a:r>
              <a:rPr lang="en-US" sz="1300" b="1" dirty="0">
                <a:solidFill>
                  <a:schemeClr val="accent1"/>
                </a:solidFill>
              </a:rPr>
              <a:t>Logica: domanda e risposta, la persona decide</a:t>
            </a:r>
            <a:endParaRPr lang="en-US" sz="1300" dirty="0"/>
          </a:p>
        </p:txBody>
      </p:sp>
      <p:sp>
        <p:nvSpPr>
          <p:cNvPr id="9" name="scheda Assistente configurato"/>
          <p:cNvSpPr/>
          <p:nvPr/>
        </p:nvSpPr>
        <p:spPr>
          <a:xfrm>
            <a:off x="4709160" y="1097280"/>
            <a:ext cx="3977640" cy="3429000"/>
          </a:xfrm>
          <a:prstGeom prst="roundRect">
            <a:avLst>
              <a:gd name="adj" fmla="val 2133"/>
            </a:avLst>
          </a:prstGeom>
          <a:solidFill>
            <a:schemeClr val="accent6"/>
          </a:solidFill>
          <a:ln/>
        </p:spPr>
      </p:sp>
      <p:sp>
        <p:nvSpPr>
          <p:cNvPr id="10" name="cerchio FiUserCheck"/>
          <p:cNvSpPr/>
          <p:nvPr/>
        </p:nvSpPr>
        <p:spPr>
          <a:xfrm>
            <a:off x="4892040" y="1280160"/>
            <a:ext cx="457200" cy="457200"/>
          </a:xfrm>
          <a:prstGeom prst="ellipse">
            <a:avLst/>
          </a:prstGeom>
          <a:solidFill>
            <a:schemeClr val="accent1"/>
          </a:solidFill>
          <a:ln/>
        </p:spPr>
      </p:sp>
      <p:pic>
        <p:nvPicPr>
          <p:cNvPr id="11" name="Image 1" descr="FiUserCheck">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Assistente configurato</a:t>
            </a:r>
            <a:endParaRPr lang="en-US" sz="1600" dirty="0"/>
          </a:p>
        </p:txBody>
      </p:sp>
      <p:sp>
        <p:nvSpPr>
          <p:cNvPr id="13" name="Text 8"/>
          <p:cNvSpPr txBox="1"/>
          <p:nvPr/>
        </p:nvSpPr>
        <p:spPr>
          <a:xfrm>
            <a:off x="4892040" y="2231136"/>
            <a:ext cx="3611880" cy="2185416"/>
          </a:xfrm>
          <a:prstGeom prst="rect">
            <a:avLst/>
          </a:prstGeom>
          <a:noFill/>
          <a:ln/>
        </p:spPr>
        <p:txBody>
          <a:bodyPr wrap="square" lIns="0" tIns="0" rIns="0" bIns="0" rtlCol="0" anchor="t"/>
          <a:lstStyle/>
          <a:p>
            <a:pPr indent="0" marL="0">
              <a:spcAft>
                <a:spcPts val="600"/>
              </a:spcAft>
              <a:buNone/>
            </a:pPr>
            <a:r>
              <a:rPr lang="en-US" sz="1300" b="1" dirty="0">
                <a:solidFill>
                  <a:schemeClr val="tx1"/>
                </a:solidFill>
              </a:rPr>
              <a:t>Istruzioni, tono, ambito, documenti e fonti propri</a:t>
            </a:r>
            <a:endParaRPr lang="en-US" sz="1300" dirty="0"/>
          </a:p>
          <a:p>
            <a:pPr marL="177800" indent="-177800">
              <a:spcAft>
                <a:spcPts val="300"/>
              </a:spcAft>
              <a:buSzPct val="100000"/>
              <a:buChar char="•"/>
            </a:pPr>
            <a:r>
              <a:rPr lang="en-US" sz="1300" dirty="0">
                <a:solidFill>
                  <a:schemeClr val="tx2"/>
                </a:solidFill>
              </a:rPr>
              <a:t>Esempi: procedure per i dipendenti, offerte nello stile aziendale, supporto clienti</a:t>
            </a:r>
            <a:endParaRPr lang="en-US" sz="1300" dirty="0"/>
          </a:p>
          <a:p>
            <a:pPr marL="177800" indent="-177800">
              <a:spcAft>
                <a:spcPts val="300"/>
              </a:spcAft>
              <a:buSzPct val="100000"/>
              <a:buChar char="•"/>
            </a:pPr>
            <a:r>
              <a:rPr lang="en-US" sz="1300" dirty="0">
                <a:solidFill>
                  <a:schemeClr val="tx2"/>
                </a:solidFill>
              </a:rPr>
              <a:t>Spesso creabile senza programmare e condivisibile</a:t>
            </a:r>
            <a:endParaRPr lang="en-US" sz="1300" dirty="0"/>
          </a:p>
          <a:p>
            <a:pPr marL="177800" indent="-177800">
              <a:spcAft>
                <a:spcPts val="300"/>
              </a:spcAft>
              <a:buSzPct val="100000"/>
              <a:buChar char="•"/>
            </a:pPr>
            <a:r>
              <a:rPr lang="en-US" sz="1300" dirty="0">
                <a:solidFill>
                  <a:schemeClr val="tx2"/>
                </a:solidFill>
              </a:rPr>
              <a:t>Il contesto è nella configurazione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Sistemi con strumenti e agenti</a:t>
            </a:r>
            <a:endParaRPr lang="en-US" sz="2600" dirty="0"/>
          </a:p>
        </p:txBody>
      </p:sp>
      <p:sp>
        <p:nvSpPr>
          <p:cNvPr id="4" name="blocco Obiettivo"/>
          <p:cNvSpPr/>
          <p:nvPr/>
        </p:nvSpPr>
        <p:spPr>
          <a:xfrm>
            <a:off x="457200" y="2011680"/>
            <a:ext cx="1463040" cy="685800"/>
          </a:xfrm>
          <a:prstGeom prst="roundRect">
            <a:avLst>
              <a:gd name="adj" fmla="val 16000"/>
            </a:avLst>
          </a:prstGeom>
          <a:solidFill>
            <a:schemeClr val="tx1"/>
          </a:solidFill>
          <a:ln/>
        </p:spPr>
      </p:sp>
      <p:sp>
        <p:nvSpPr>
          <p:cNvPr id="5" name="Text 2"/>
          <p:cNvSpPr txBox="1"/>
          <p:nvPr/>
        </p:nvSpPr>
        <p:spPr>
          <a:xfrm>
            <a:off x="502920" y="2011680"/>
            <a:ext cx="1371600" cy="685800"/>
          </a:xfrm>
          <a:prstGeom prst="rect">
            <a:avLst/>
          </a:prstGeom>
          <a:noFill/>
          <a:ln/>
        </p:spPr>
        <p:txBody>
          <a:bodyPr wrap="square" lIns="0" tIns="0" rIns="0" bIns="0" rtlCol="0" anchor="ctr"/>
          <a:lstStyle/>
          <a:p>
            <a:pPr algn="ctr" indent="0" marL="0">
              <a:buNone/>
            </a:pPr>
            <a:r>
              <a:rPr lang="en-US" sz="1300" b="1" dirty="0">
                <a:solidFill>
                  <a:schemeClr val="bg1"/>
                </a:solidFill>
              </a:rPr>
              <a:t>Obiettivo</a:t>
            </a:r>
            <a:endParaRPr lang="en-US" sz="1300" dirty="0"/>
          </a:p>
        </p:txBody>
      </p:sp>
      <p:sp>
        <p:nvSpPr>
          <p:cNvPr id="6" name="blocco Pianifica"/>
          <p:cNvSpPr/>
          <p:nvPr/>
        </p:nvSpPr>
        <p:spPr>
          <a:xfrm>
            <a:off x="2103120" y="1143000"/>
            <a:ext cx="1463040" cy="685800"/>
          </a:xfrm>
          <a:prstGeom prst="roundRect">
            <a:avLst>
              <a:gd name="adj" fmla="val 16000"/>
            </a:avLst>
          </a:prstGeom>
          <a:solidFill>
            <a:schemeClr val="bg2"/>
          </a:solidFill>
          <a:ln/>
        </p:spPr>
      </p:sp>
      <p:sp>
        <p:nvSpPr>
          <p:cNvPr id="7" name="Text 4"/>
          <p:cNvSpPr txBox="1"/>
          <p:nvPr/>
        </p:nvSpPr>
        <p:spPr>
          <a:xfrm>
            <a:off x="2148840" y="1143000"/>
            <a:ext cx="1371600" cy="685800"/>
          </a:xfrm>
          <a:prstGeom prst="rect">
            <a:avLst/>
          </a:prstGeom>
          <a:noFill/>
          <a:ln/>
        </p:spPr>
        <p:txBody>
          <a:bodyPr wrap="square" lIns="0" tIns="0" rIns="0" bIns="0" rtlCol="0" anchor="ctr"/>
          <a:lstStyle/>
          <a:p>
            <a:pPr algn="ctr" indent="0" marL="0">
              <a:buNone/>
            </a:pPr>
            <a:r>
              <a:rPr lang="en-US" sz="1300" b="1" dirty="0">
                <a:solidFill>
                  <a:schemeClr val="tx1"/>
                </a:solidFill>
              </a:rPr>
              <a:t>Pianifica</a:t>
            </a:r>
            <a:endParaRPr lang="en-US" sz="1300" dirty="0"/>
          </a:p>
        </p:txBody>
      </p:sp>
      <p:sp>
        <p:nvSpPr>
          <p:cNvPr id="8" name="blocco Agisce con strumenti"/>
          <p:cNvSpPr/>
          <p:nvPr/>
        </p:nvSpPr>
        <p:spPr>
          <a:xfrm>
            <a:off x="3749040" y="2011680"/>
            <a:ext cx="1463040" cy="685800"/>
          </a:xfrm>
          <a:prstGeom prst="roundRect">
            <a:avLst>
              <a:gd name="adj" fmla="val 16000"/>
            </a:avLst>
          </a:prstGeom>
          <a:solidFill>
            <a:schemeClr val="accent1"/>
          </a:solidFill>
          <a:ln/>
        </p:spPr>
      </p:sp>
      <p:sp>
        <p:nvSpPr>
          <p:cNvPr id="9" name="Text 6"/>
          <p:cNvSpPr txBox="1"/>
          <p:nvPr/>
        </p:nvSpPr>
        <p:spPr>
          <a:xfrm>
            <a:off x="3794760" y="2011680"/>
            <a:ext cx="1371600" cy="685800"/>
          </a:xfrm>
          <a:prstGeom prst="rect">
            <a:avLst/>
          </a:prstGeom>
          <a:noFill/>
          <a:ln/>
        </p:spPr>
        <p:txBody>
          <a:bodyPr wrap="square" lIns="0" tIns="0" rIns="0" bIns="0" rtlCol="0" anchor="ctr"/>
          <a:lstStyle/>
          <a:p>
            <a:pPr algn="ctr" indent="0" marL="0">
              <a:buNone/>
            </a:pPr>
            <a:r>
              <a:rPr lang="en-US" sz="1300" b="1" dirty="0">
                <a:solidFill>
                  <a:schemeClr val="bg1"/>
                </a:solidFill>
              </a:rPr>
              <a:t>Agisce con strumenti</a:t>
            </a:r>
            <a:endParaRPr lang="en-US" sz="1300" dirty="0"/>
          </a:p>
        </p:txBody>
      </p:sp>
      <p:sp>
        <p:nvSpPr>
          <p:cNvPr id="10" name="blocco Osserva il risultato"/>
          <p:cNvSpPr/>
          <p:nvPr/>
        </p:nvSpPr>
        <p:spPr>
          <a:xfrm>
            <a:off x="2103120" y="2880360"/>
            <a:ext cx="1463040" cy="685800"/>
          </a:xfrm>
          <a:prstGeom prst="roundRect">
            <a:avLst>
              <a:gd name="adj" fmla="val 16000"/>
            </a:avLst>
          </a:prstGeom>
          <a:solidFill>
            <a:schemeClr val="bg2"/>
          </a:solidFill>
          <a:ln/>
        </p:spPr>
      </p:sp>
      <p:sp>
        <p:nvSpPr>
          <p:cNvPr id="11" name="Text 8"/>
          <p:cNvSpPr txBox="1"/>
          <p:nvPr/>
        </p:nvSpPr>
        <p:spPr>
          <a:xfrm>
            <a:off x="2148840" y="2880360"/>
            <a:ext cx="1371600" cy="685800"/>
          </a:xfrm>
          <a:prstGeom prst="rect">
            <a:avLst/>
          </a:prstGeom>
          <a:noFill/>
          <a:ln/>
        </p:spPr>
        <p:txBody>
          <a:bodyPr wrap="square" lIns="0" tIns="0" rIns="0" bIns="0" rtlCol="0" anchor="ctr"/>
          <a:lstStyle/>
          <a:p>
            <a:pPr algn="ctr" indent="0" marL="0">
              <a:buNone/>
            </a:pPr>
            <a:r>
              <a:rPr lang="en-US" sz="1300" b="1" dirty="0">
                <a:solidFill>
                  <a:schemeClr val="tx1"/>
                </a:solidFill>
              </a:rPr>
              <a:t>Osserva il risultato</a:t>
            </a:r>
            <a:endParaRPr lang="en-US" sz="1300" dirty="0"/>
          </a:p>
        </p:txBody>
      </p:sp>
      <p:sp>
        <p:nvSpPr>
          <p:cNvPr id="12" name="freccia"/>
          <p:cNvSpPr/>
          <p:nvPr/>
        </p:nvSpPr>
        <p:spPr>
          <a:xfrm>
            <a:off x="1938528" y="2212848"/>
            <a:ext cx="155448" cy="292608"/>
          </a:xfrm>
          <a:prstGeom prst="rightArrow">
            <a:avLst/>
          </a:prstGeom>
          <a:solidFill>
            <a:schemeClr val="accent2"/>
          </a:solidFill>
          <a:ln/>
        </p:spPr>
      </p:sp>
      <p:sp>
        <p:nvSpPr>
          <p:cNvPr id="13" name="freccia"/>
          <p:cNvSpPr/>
          <p:nvPr/>
        </p:nvSpPr>
        <p:spPr>
          <a:xfrm>
            <a:off x="3566160" y="1481328"/>
            <a:ext cx="548640" cy="530352"/>
          </a:xfrm>
          <a:prstGeom prst="line">
            <a:avLst/>
          </a:prstGeom>
          <a:noFill/>
          <a:ln w="25400">
            <a:solidFill>
              <a:schemeClr val="accent2"/>
            </a:solidFill>
            <a:prstDash val="solid"/>
            <a:tailEnd type="triangle"/>
          </a:ln>
        </p:spPr>
      </p:sp>
      <p:sp>
        <p:nvSpPr>
          <p:cNvPr id="14" name="freccia"/>
          <p:cNvSpPr/>
          <p:nvPr/>
        </p:nvSpPr>
        <p:spPr>
          <a:xfrm flipH="1">
            <a:off x="3566160" y="2697480"/>
            <a:ext cx="548640" cy="530352"/>
          </a:xfrm>
          <a:prstGeom prst="line">
            <a:avLst/>
          </a:prstGeom>
          <a:noFill/>
          <a:ln w="25400">
            <a:solidFill>
              <a:schemeClr val="accent2"/>
            </a:solidFill>
            <a:prstDash val="solid"/>
            <a:tailEnd type="triangle"/>
          </a:ln>
        </p:spPr>
      </p:sp>
      <p:sp>
        <p:nvSpPr>
          <p:cNvPr id="15" name="freccia"/>
          <p:cNvSpPr/>
          <p:nvPr/>
        </p:nvSpPr>
        <p:spPr>
          <a:xfrm flipV="1">
            <a:off x="2834640" y="1828800"/>
            <a:ext cx="0" cy="1051560"/>
          </a:xfrm>
          <a:prstGeom prst="line">
            <a:avLst/>
          </a:prstGeom>
          <a:noFill/>
          <a:ln w="25400">
            <a:solidFill>
              <a:schemeClr val="accent2"/>
            </a:solidFill>
            <a:prstDash val="dash"/>
            <a:tailEnd type="triangle"/>
          </a:ln>
        </p:spPr>
      </p:sp>
      <p:sp>
        <p:nvSpPr>
          <p:cNvPr id="16" name="Text 13"/>
          <p:cNvSpPr txBox="1"/>
          <p:nvPr/>
        </p:nvSpPr>
        <p:spPr>
          <a:xfrm>
            <a:off x="2880360" y="2194560"/>
            <a:ext cx="868680" cy="548640"/>
          </a:xfrm>
          <a:prstGeom prst="rect">
            <a:avLst/>
          </a:prstGeom>
          <a:noFill/>
          <a:ln/>
        </p:spPr>
        <p:txBody>
          <a:bodyPr wrap="square" lIns="0" tIns="0" rIns="0" bIns="0" rtlCol="0" anchor="t"/>
          <a:lstStyle/>
          <a:p>
            <a:pPr indent="0" marL="0">
              <a:buNone/>
            </a:pPr>
            <a:r>
              <a:rPr lang="en-US" sz="900" i="1" dirty="0">
                <a:solidFill>
                  <a:schemeClr val="accent2"/>
                </a:solidFill>
              </a:rPr>
              <a:t>decide il passo successivo</a:t>
            </a:r>
            <a:endParaRPr lang="en-US" sz="900" dirty="0"/>
          </a:p>
        </p:txBody>
      </p:sp>
      <p:sp>
        <p:nvSpPr>
          <p:cNvPr id="17" name="Text 14"/>
          <p:cNvSpPr txBox="1"/>
          <p:nvPr/>
        </p:nvSpPr>
        <p:spPr>
          <a:xfrm>
            <a:off x="457200" y="3703320"/>
            <a:ext cx="4754880" cy="274320"/>
          </a:xfrm>
          <a:prstGeom prst="rect">
            <a:avLst/>
          </a:prstGeom>
          <a:noFill/>
          <a:ln/>
        </p:spPr>
        <p:txBody>
          <a:bodyPr wrap="square" lIns="0" tIns="0" rIns="0" bIns="0" rtlCol="0" anchor="t"/>
          <a:lstStyle/>
          <a:p>
            <a:pPr indent="0" marL="0">
              <a:buNone/>
            </a:pPr>
            <a:r>
              <a:rPr lang="en-US" sz="1100" i="1" dirty="0">
                <a:solidFill>
                  <a:schemeClr val="accent2"/>
                </a:solidFill>
              </a:rPr>
              <a:t>Ciclo ripetuto fino al completamento</a:t>
            </a:r>
            <a:endParaRPr lang="en-US" sz="1100" dirty="0"/>
          </a:p>
        </p:txBody>
      </p:sp>
      <p:sp>
        <p:nvSpPr>
          <p:cNvPr id="18" name="scheda Sistema con strumenti"/>
          <p:cNvSpPr/>
          <p:nvPr/>
        </p:nvSpPr>
        <p:spPr>
          <a:xfrm>
            <a:off x="5486400" y="1097280"/>
            <a:ext cx="3200400" cy="1600200"/>
          </a:xfrm>
          <a:prstGeom prst="roundRect">
            <a:avLst>
              <a:gd name="adj" fmla="val 4571"/>
            </a:avLst>
          </a:prstGeom>
          <a:solidFill>
            <a:schemeClr val="bg2"/>
          </a:solidFill>
          <a:ln/>
        </p:spPr>
      </p:sp>
      <p:sp>
        <p:nvSpPr>
          <p:cNvPr id="19" name="cerchio FiTool"/>
          <p:cNvSpPr/>
          <p:nvPr/>
        </p:nvSpPr>
        <p:spPr>
          <a:xfrm>
            <a:off x="5669280" y="1280160"/>
            <a:ext cx="457200" cy="457200"/>
          </a:xfrm>
          <a:prstGeom prst="ellipse">
            <a:avLst/>
          </a:prstGeom>
          <a:solidFill>
            <a:schemeClr val="accent1"/>
          </a:solidFill>
          <a:ln/>
        </p:spPr>
      </p:sp>
      <p:pic>
        <p:nvPicPr>
          <p:cNvPr id="20" name="Image 0" descr="FiTool">    </p:cNvPr>
          <p:cNvPicPr>
            <a:picLocks noChangeAspect="1"/>
          </p:cNvPicPr>
          <p:nvPr/>
        </p:nvPicPr>
        <p:blipFill>
          <a:blip r:embed="rId1"/>
          <a:stretch>
            <a:fillRect/>
          </a:stretch>
        </p:blipFill>
        <p:spPr>
          <a:xfrm>
            <a:off x="5783580" y="1394460"/>
            <a:ext cx="228600" cy="228600"/>
          </a:xfrm>
          <a:prstGeom prst="rect">
            <a:avLst/>
          </a:prstGeom>
        </p:spPr>
      </p:pic>
      <p:sp>
        <p:nvSpPr>
          <p:cNvPr id="21" name="Text 17"/>
          <p:cNvSpPr txBox="1"/>
          <p:nvPr/>
        </p:nvSpPr>
        <p:spPr>
          <a:xfrm>
            <a:off x="6263640" y="1280160"/>
            <a:ext cx="2240280" cy="457200"/>
          </a:xfrm>
          <a:prstGeom prst="rect">
            <a:avLst/>
          </a:prstGeom>
          <a:noFill/>
          <a:ln/>
        </p:spPr>
        <p:txBody>
          <a:bodyPr wrap="square" lIns="0" tIns="0" rIns="0" bIns="0" rtlCol="0" anchor="ctr"/>
          <a:lstStyle/>
          <a:p>
            <a:pPr indent="0" marL="0">
              <a:buNone/>
            </a:pPr>
            <a:r>
              <a:rPr lang="en-US" sz="1500" b="1" dirty="0">
                <a:solidFill>
                  <a:schemeClr val="tx1"/>
                </a:solidFill>
              </a:rPr>
              <a:t>Sistema con strumenti</a:t>
            </a:r>
            <a:endParaRPr lang="en-US" sz="1500" dirty="0"/>
          </a:p>
        </p:txBody>
      </p:sp>
      <p:sp>
        <p:nvSpPr>
          <p:cNvPr id="22" name="Text 18"/>
          <p:cNvSpPr txBox="1"/>
          <p:nvPr/>
        </p:nvSpPr>
        <p:spPr>
          <a:xfrm>
            <a:off x="5669280" y="1874520"/>
            <a:ext cx="2834640" cy="713232"/>
          </a:xfrm>
          <a:prstGeom prst="rect">
            <a:avLst/>
          </a:prstGeom>
          <a:noFill/>
          <a:ln/>
        </p:spPr>
        <p:txBody>
          <a:bodyPr wrap="square" lIns="0" tIns="0" rIns="0" bIns="0" rtlCol="0" anchor="t"/>
          <a:lstStyle/>
          <a:p>
            <a:pPr indent="0" marL="0">
              <a:buNone/>
            </a:pPr>
            <a:r>
              <a:rPr lang="en-US" sz="1200" dirty="0">
                <a:solidFill>
                  <a:schemeClr val="tx2"/>
                </a:solidFill>
              </a:rPr>
              <a:t>Cerca, calcola, legge, consulta, agisce: di norma su richiesta, un passo alla volta.</a:t>
            </a:r>
            <a:endParaRPr lang="en-US" sz="1200" dirty="0"/>
          </a:p>
        </p:txBody>
      </p:sp>
      <p:sp>
        <p:nvSpPr>
          <p:cNvPr id="23" name="scheda Rischi nuovi degli agenti"/>
          <p:cNvSpPr/>
          <p:nvPr/>
        </p:nvSpPr>
        <p:spPr>
          <a:xfrm>
            <a:off x="5486400" y="2834640"/>
            <a:ext cx="3200400" cy="1691640"/>
          </a:xfrm>
          <a:prstGeom prst="roundRect">
            <a:avLst>
              <a:gd name="adj" fmla="val 4324"/>
            </a:avLst>
          </a:prstGeom>
          <a:solidFill>
            <a:schemeClr val="accent6"/>
          </a:solidFill>
          <a:ln/>
        </p:spPr>
      </p:sp>
      <p:sp>
        <p:nvSpPr>
          <p:cNvPr id="24" name="cerchio FiAlertTriangle"/>
          <p:cNvSpPr/>
          <p:nvPr/>
        </p:nvSpPr>
        <p:spPr>
          <a:xfrm>
            <a:off x="5669280" y="3017520"/>
            <a:ext cx="457200" cy="457200"/>
          </a:xfrm>
          <a:prstGeom prst="ellipse">
            <a:avLst/>
          </a:prstGeom>
          <a:solidFill>
            <a:schemeClr val="accent1"/>
          </a:solidFill>
          <a:ln/>
        </p:spPr>
      </p:sp>
      <p:pic>
        <p:nvPicPr>
          <p:cNvPr id="25" name="Image 1" descr="FiAlertTriangle">    </p:cNvPr>
          <p:cNvPicPr>
            <a:picLocks noChangeAspect="1"/>
          </p:cNvPicPr>
          <p:nvPr/>
        </p:nvPicPr>
        <p:blipFill>
          <a:blip r:embed="rId2"/>
          <a:stretch>
            <a:fillRect/>
          </a:stretch>
        </p:blipFill>
        <p:spPr>
          <a:xfrm>
            <a:off x="5783580" y="3131820"/>
            <a:ext cx="228600" cy="228600"/>
          </a:xfrm>
          <a:prstGeom prst="rect">
            <a:avLst/>
          </a:prstGeom>
        </p:spPr>
      </p:pic>
      <p:sp>
        <p:nvSpPr>
          <p:cNvPr id="26" name="Text 21"/>
          <p:cNvSpPr txBox="1"/>
          <p:nvPr/>
        </p:nvSpPr>
        <p:spPr>
          <a:xfrm>
            <a:off x="6263640" y="3017520"/>
            <a:ext cx="2240280" cy="457200"/>
          </a:xfrm>
          <a:prstGeom prst="rect">
            <a:avLst/>
          </a:prstGeom>
          <a:noFill/>
          <a:ln/>
        </p:spPr>
        <p:txBody>
          <a:bodyPr wrap="square" lIns="0" tIns="0" rIns="0" bIns="0" rtlCol="0" anchor="ctr"/>
          <a:lstStyle/>
          <a:p>
            <a:pPr indent="0" marL="0">
              <a:buNone/>
            </a:pPr>
            <a:r>
              <a:rPr lang="en-US" sz="1500" b="1" dirty="0">
                <a:solidFill>
                  <a:schemeClr val="tx1"/>
                </a:solidFill>
              </a:rPr>
              <a:t>Rischi nuovi degli agenti</a:t>
            </a:r>
            <a:endParaRPr lang="en-US" sz="1500" dirty="0"/>
          </a:p>
        </p:txBody>
      </p:sp>
      <p:sp>
        <p:nvSpPr>
          <p:cNvPr id="27" name="Text 22"/>
          <p:cNvSpPr txBox="1"/>
          <p:nvPr/>
        </p:nvSpPr>
        <p:spPr>
          <a:xfrm>
            <a:off x="5669280" y="3611880"/>
            <a:ext cx="2834640" cy="804672"/>
          </a:xfrm>
          <a:prstGeom prst="rect">
            <a:avLst/>
          </a:prstGeom>
          <a:noFill/>
          <a:ln/>
        </p:spPr>
        <p:txBody>
          <a:bodyPr wrap="square" lIns="0" tIns="0" rIns="0" bIns="0" rtlCol="0" anchor="t"/>
          <a:lstStyle/>
          <a:p>
            <a:pPr indent="0" marL="0">
              <a:buNone/>
            </a:pPr>
            <a:r>
              <a:rPr lang="en-US" sz="1200" dirty="0">
                <a:solidFill>
                  <a:schemeClr val="tx2"/>
                </a:solidFill>
              </a:rPr>
              <a:t>Gli errori si propagano tra i passaggi; le azioni hanno effetti reali, talvolta irreversibili.</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Automazioni tradizionali e workflow con AI</a:t>
            </a:r>
            <a:endParaRPr lang="en-US" sz="26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920240"/>
                <a:gridCol w="2103120"/>
                <a:gridCol w="2103120"/>
                <a:gridCol w="2103120"/>
              </a:tblGrid>
              <a:tr h="457200">
                <a:tc>
                  <a:txBody>
                    <a:bodyPr/>
                    <a:lstStyle/>
                    <a:p>
                      <a:pPr indent="0" marL="0">
                        <a:buNone/>
                      </a:pP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b="1" dirty="0">
                          <a:solidFill>
                            <a:schemeClr val="bg1"/>
                          </a:solidFill>
                        </a:rPr>
                        <a:t>Automazione tradizionale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Workflow con AI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c>
                  <a:txBody>
                    <a:bodyPr/>
                    <a:lstStyle/>
                    <a:p>
                      <a:pPr indent="0" marL="0">
                        <a:buNone/>
                      </a:pPr>
                      <a:r>
                        <a:rPr lang="en-US" sz="1200" b="1" dirty="0">
                          <a:solidFill>
                            <a:schemeClr val="bg1"/>
                          </a:solidFill>
                        </a:rPr>
                        <a:t>Agente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r>
              <a:tr h="457200">
                <a:tc>
                  <a:txBody>
                    <a:bodyPr/>
                    <a:lstStyle/>
                    <a:p>
                      <a:pPr indent="0" marL="0">
                        <a:buNone/>
                      </a:pPr>
                      <a:r>
                        <a:rPr lang="en-US" sz="1200" b="1" dirty="0">
                          <a:solidFill>
                            <a:schemeClr val="tx1"/>
                          </a:solidFill>
                        </a:rPr>
                        <a:t>Chi decide la sequenza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Chi progetta il flusso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Chi progetta il flusso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Il sistema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57200">
                <a:tc>
                  <a:txBody>
                    <a:bodyPr/>
                    <a:lstStyle/>
                    <a:p>
                      <a:pPr indent="0" marL="0">
                        <a:buNone/>
                      </a:pPr>
                      <a:r>
                        <a:rPr lang="en-US" sz="1200" b="1" dirty="0">
                          <a:solidFill>
                            <a:schemeClr val="tx1"/>
                          </a:solidFill>
                        </a:rPr>
                        <a:t>Ruolo dell'AI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Nessuno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Compiti precisi in alcuni passaggi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Pianifica ed esegue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57200">
                <a:tc>
                  <a:txBody>
                    <a:bodyPr/>
                    <a:lstStyle/>
                    <a:p>
                      <a:pPr indent="0" marL="0">
                        <a:buNone/>
                      </a:pPr>
                      <a:r>
                        <a:rPr lang="en-US" sz="1200" b="1" dirty="0">
                          <a:solidFill>
                            <a:schemeClr val="tx1"/>
                          </a:solidFill>
                        </a:rPr>
                        <a:t>Prevedibilità</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Massima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Alta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Più bassa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57200">
                <a:tc>
                  <a:txBody>
                    <a:bodyPr/>
                    <a:lstStyle/>
                    <a:p>
                      <a:pPr indent="0" marL="0">
                        <a:buNone/>
                      </a:pPr>
                      <a:r>
                        <a:rPr lang="en-US" sz="1200" b="1" dirty="0">
                          <a:solidFill>
                            <a:schemeClr val="tx1"/>
                          </a:solidFill>
                        </a:rPr>
                        <a:t>Flessibilità</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Bassa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Media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Alta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57200">
                <a:tc>
                  <a:txBody>
                    <a:bodyPr/>
                    <a:lstStyle/>
                    <a:p>
                      <a:pPr indent="0" marL="0">
                        <a:buNone/>
                      </a:pPr>
                      <a:r>
                        <a:rPr lang="en-US" sz="1200" b="1" dirty="0">
                          <a:solidFill>
                            <a:schemeClr val="tx1"/>
                          </a:solidFill>
                        </a:rPr>
                        <a:t>Esempio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Archivia e notifica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Estrae e registra i dati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Gestisce l'intera pratica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bl>
          </a:graphicData>
        </a:graphic>
      </p:graphicFrame>
      <p:sp>
        <p:nvSpPr>
          <p:cNvPr id="5" name="messaggio"/>
          <p:cNvSpPr/>
          <p:nvPr/>
        </p:nvSpPr>
        <p:spPr>
          <a:xfrm>
            <a:off x="457200" y="4160520"/>
            <a:ext cx="8229600" cy="502920"/>
          </a:xfrm>
          <a:prstGeom prst="roundRect">
            <a:avLst>
              <a:gd name="adj" fmla="val 14545"/>
            </a:avLst>
          </a:prstGeom>
          <a:solidFill>
            <a:schemeClr val="tx1"/>
          </a:solidFill>
          <a:ln/>
        </p:spPr>
      </p:sp>
      <p:sp>
        <p:nvSpPr>
          <p:cNvPr id="6" name="Text 2"/>
          <p:cNvSpPr txBox="1"/>
          <p:nvPr/>
        </p:nvSpPr>
        <p:spPr>
          <a:xfrm>
            <a:off x="640080" y="4160520"/>
            <a:ext cx="7863840" cy="502920"/>
          </a:xfrm>
          <a:prstGeom prst="rect">
            <a:avLst/>
          </a:prstGeom>
          <a:noFill/>
          <a:ln/>
        </p:spPr>
        <p:txBody>
          <a:bodyPr wrap="square" lIns="0" tIns="0" rIns="0" bIns="0" rtlCol="0" anchor="ctr"/>
          <a:lstStyle/>
          <a:p>
            <a:pPr indent="0" marL="0">
              <a:buNone/>
            </a:pPr>
            <a:r>
              <a:rPr lang="en-US" sz="1300" dirty="0">
                <a:solidFill>
                  <a:schemeClr val="bg1"/>
                </a:solidFill>
              </a:rPr>
              <a:t>Nei processi ricorrenti i workflow con AI sono spesso la scelta più prevedibile e controllabile.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Livelli di autonomia e supervisione umana</a:t>
            </a:r>
            <a:endParaRPr lang="en-US" sz="2600" dirty="0"/>
          </a:p>
        </p:txBody>
      </p:sp>
      <p:sp>
        <p:nvSpPr>
          <p:cNvPr id="4" name="Persona nel ciclo"/>
          <p:cNvSpPr/>
          <p:nvPr/>
        </p:nvSpPr>
        <p:spPr>
          <a:xfrm>
            <a:off x="457200" y="1097280"/>
            <a:ext cx="2615184" cy="2194560"/>
          </a:xfrm>
          <a:prstGeom prst="roundRect">
            <a:avLst>
              <a:gd name="adj" fmla="val 3333"/>
            </a:avLst>
          </a:prstGeom>
          <a:solidFill>
            <a:schemeClr val="accent6"/>
          </a:solidFill>
          <a:ln/>
        </p:spPr>
      </p:sp>
      <p:sp>
        <p:nvSpPr>
          <p:cNvPr id="5" name="Text 2"/>
          <p:cNvSpPr txBox="1"/>
          <p:nvPr/>
        </p:nvSpPr>
        <p:spPr>
          <a:xfrm>
            <a:off x="640080" y="1207008"/>
            <a:ext cx="2249424" cy="365760"/>
          </a:xfrm>
          <a:prstGeom prst="rect">
            <a:avLst/>
          </a:prstGeom>
          <a:noFill/>
          <a:ln/>
        </p:spPr>
        <p:txBody>
          <a:bodyPr wrap="square" lIns="0" tIns="0" rIns="0" bIns="0" rtlCol="0" anchor="t"/>
          <a:lstStyle/>
          <a:p>
            <a:pPr indent="0" marL="0">
              <a:buNone/>
            </a:pPr>
            <a:r>
              <a:rPr lang="en-US" sz="1500" b="1" dirty="0">
                <a:solidFill>
                  <a:schemeClr val="tx1"/>
                </a:solidFill>
              </a:rPr>
              <a:t>Persona nel ciclo</a:t>
            </a:r>
            <a:endParaRPr lang="en-US" sz="1500" dirty="0"/>
          </a:p>
        </p:txBody>
      </p:sp>
      <p:sp>
        <p:nvSpPr>
          <p:cNvPr id="6" name="Text 3"/>
          <p:cNvSpPr txBox="1"/>
          <p:nvPr/>
        </p:nvSpPr>
        <p:spPr>
          <a:xfrm>
            <a:off x="640080" y="1600200"/>
            <a:ext cx="2249424" cy="640080"/>
          </a:xfrm>
          <a:prstGeom prst="rect">
            <a:avLst/>
          </a:prstGeom>
          <a:noFill/>
          <a:ln/>
        </p:spPr>
        <p:txBody>
          <a:bodyPr wrap="square" lIns="0" tIns="0" rIns="0" bIns="0" rtlCol="0" anchor="t"/>
          <a:lstStyle/>
          <a:p>
            <a:pPr indent="0" marL="0">
              <a:buNone/>
            </a:pPr>
            <a:r>
              <a:rPr lang="en-US" sz="1300" b="1" dirty="0">
                <a:solidFill>
                  <a:schemeClr val="accent1"/>
                </a:solidFill>
              </a:rPr>
              <a:t>Approva ogni passaggio o azione rilevante</a:t>
            </a:r>
            <a:endParaRPr lang="en-US" sz="1300" dirty="0"/>
          </a:p>
        </p:txBody>
      </p:sp>
      <p:sp>
        <p:nvSpPr>
          <p:cNvPr id="7" name="Text 4"/>
          <p:cNvSpPr txBox="1"/>
          <p:nvPr/>
        </p:nvSpPr>
        <p:spPr>
          <a:xfrm>
            <a:off x="640080" y="2286000"/>
            <a:ext cx="2249424" cy="914400"/>
          </a:xfrm>
          <a:prstGeom prst="rect">
            <a:avLst/>
          </a:prstGeom>
          <a:noFill/>
          <a:ln/>
        </p:spPr>
        <p:txBody>
          <a:bodyPr wrap="square" lIns="0" tIns="0" rIns="0" bIns="0" rtlCol="0" anchor="t"/>
          <a:lstStyle/>
          <a:p>
            <a:pPr indent="0" marL="0">
              <a:buNone/>
            </a:pPr>
            <a:r>
              <a:rPr lang="en-US" sz="1200" dirty="0">
                <a:solidFill>
                  <a:schemeClr val="tx1"/>
                </a:solidFill>
              </a:rPr>
              <a:t>Esempio: L'agente prepara l'email, la invia solo dopo conferma</a:t>
            </a:r>
            <a:endParaRPr lang="en-US" sz="1200" dirty="0"/>
          </a:p>
        </p:txBody>
      </p:sp>
      <p:sp>
        <p:nvSpPr>
          <p:cNvPr id="8" name="Persona sopra il ciclo"/>
          <p:cNvSpPr/>
          <p:nvPr/>
        </p:nvSpPr>
        <p:spPr>
          <a:xfrm>
            <a:off x="3264408" y="1097280"/>
            <a:ext cx="2615184" cy="2194560"/>
          </a:xfrm>
          <a:prstGeom prst="roundRect">
            <a:avLst>
              <a:gd name="adj" fmla="val 3333"/>
            </a:avLst>
          </a:prstGeom>
          <a:solidFill>
            <a:schemeClr val="bg2"/>
          </a:solidFill>
          <a:ln/>
        </p:spPr>
      </p:sp>
      <p:sp>
        <p:nvSpPr>
          <p:cNvPr id="9" name="Text 6"/>
          <p:cNvSpPr txBox="1"/>
          <p:nvPr/>
        </p:nvSpPr>
        <p:spPr>
          <a:xfrm>
            <a:off x="3447288" y="1207008"/>
            <a:ext cx="2249424" cy="365760"/>
          </a:xfrm>
          <a:prstGeom prst="rect">
            <a:avLst/>
          </a:prstGeom>
          <a:noFill/>
          <a:ln/>
        </p:spPr>
        <p:txBody>
          <a:bodyPr wrap="square" lIns="0" tIns="0" rIns="0" bIns="0" rtlCol="0" anchor="t"/>
          <a:lstStyle/>
          <a:p>
            <a:pPr indent="0" marL="0">
              <a:buNone/>
            </a:pPr>
            <a:r>
              <a:rPr lang="en-US" sz="1500" b="1" dirty="0">
                <a:solidFill>
                  <a:schemeClr val="tx1"/>
                </a:solidFill>
              </a:rPr>
              <a:t>Persona sopra il ciclo</a:t>
            </a:r>
            <a:endParaRPr lang="en-US" sz="1500" dirty="0"/>
          </a:p>
        </p:txBody>
      </p:sp>
      <p:sp>
        <p:nvSpPr>
          <p:cNvPr id="10" name="Text 7"/>
          <p:cNvSpPr txBox="1"/>
          <p:nvPr/>
        </p:nvSpPr>
        <p:spPr>
          <a:xfrm>
            <a:off x="3447288" y="1600200"/>
            <a:ext cx="2249424" cy="640080"/>
          </a:xfrm>
          <a:prstGeom prst="rect">
            <a:avLst/>
          </a:prstGeom>
          <a:noFill/>
          <a:ln/>
        </p:spPr>
        <p:txBody>
          <a:bodyPr wrap="square" lIns="0" tIns="0" rIns="0" bIns="0" rtlCol="0" anchor="t"/>
          <a:lstStyle/>
          <a:p>
            <a:pPr indent="0" marL="0">
              <a:buNone/>
            </a:pPr>
            <a:r>
              <a:rPr lang="en-US" sz="1300" b="1" dirty="0">
                <a:solidFill>
                  <a:schemeClr val="accent1"/>
                </a:solidFill>
              </a:rPr>
              <a:t>Monitora, può fermare, controlla su eccezioni</a:t>
            </a:r>
            <a:endParaRPr lang="en-US" sz="1300" dirty="0"/>
          </a:p>
        </p:txBody>
      </p:sp>
      <p:sp>
        <p:nvSpPr>
          <p:cNvPr id="11" name="Text 8"/>
          <p:cNvSpPr txBox="1"/>
          <p:nvPr/>
        </p:nvSpPr>
        <p:spPr>
          <a:xfrm>
            <a:off x="3447288" y="2286000"/>
            <a:ext cx="2249424" cy="914400"/>
          </a:xfrm>
          <a:prstGeom prst="rect">
            <a:avLst/>
          </a:prstGeom>
          <a:noFill/>
          <a:ln/>
        </p:spPr>
        <p:txBody>
          <a:bodyPr wrap="square" lIns="0" tIns="0" rIns="0" bIns="0" rtlCol="0" anchor="t"/>
          <a:lstStyle/>
          <a:p>
            <a:pPr indent="0" marL="0">
              <a:buNone/>
            </a:pPr>
            <a:r>
              <a:rPr lang="en-US" sz="1200" dirty="0">
                <a:solidFill>
                  <a:schemeClr val="tx1"/>
                </a:solidFill>
              </a:rPr>
              <a:t>Esempio: Classificazione automatica con controlli a campione</a:t>
            </a:r>
            <a:endParaRPr lang="en-US" sz="1200" dirty="0"/>
          </a:p>
        </p:txBody>
      </p:sp>
      <p:sp>
        <p:nvSpPr>
          <p:cNvPr id="12" name="Persona fuori dal ciclo"/>
          <p:cNvSpPr/>
          <p:nvPr/>
        </p:nvSpPr>
        <p:spPr>
          <a:xfrm>
            <a:off x="6071616" y="1097280"/>
            <a:ext cx="2615184" cy="2194560"/>
          </a:xfrm>
          <a:prstGeom prst="roundRect">
            <a:avLst>
              <a:gd name="adj" fmla="val 3333"/>
            </a:avLst>
          </a:prstGeom>
          <a:solidFill>
            <a:schemeClr val="tx1"/>
          </a:solidFill>
          <a:ln/>
        </p:spPr>
      </p:sp>
      <p:sp>
        <p:nvSpPr>
          <p:cNvPr id="13" name="Text 10"/>
          <p:cNvSpPr txBox="1"/>
          <p:nvPr/>
        </p:nvSpPr>
        <p:spPr>
          <a:xfrm>
            <a:off x="6254496" y="1207008"/>
            <a:ext cx="2249424" cy="365760"/>
          </a:xfrm>
          <a:prstGeom prst="rect">
            <a:avLst/>
          </a:prstGeom>
          <a:noFill/>
          <a:ln/>
        </p:spPr>
        <p:txBody>
          <a:bodyPr wrap="square" lIns="0" tIns="0" rIns="0" bIns="0" rtlCol="0" anchor="t"/>
          <a:lstStyle/>
          <a:p>
            <a:pPr indent="0" marL="0">
              <a:buNone/>
            </a:pPr>
            <a:r>
              <a:rPr lang="en-US" sz="1500" b="1" dirty="0">
                <a:solidFill>
                  <a:schemeClr val="bg1"/>
                </a:solidFill>
              </a:rPr>
              <a:t>Persona fuori dal ciclo</a:t>
            </a:r>
            <a:endParaRPr lang="en-US" sz="1500" dirty="0"/>
          </a:p>
        </p:txBody>
      </p:sp>
      <p:sp>
        <p:nvSpPr>
          <p:cNvPr id="14" name="Text 11"/>
          <p:cNvSpPr txBox="1"/>
          <p:nvPr/>
        </p:nvSpPr>
        <p:spPr>
          <a:xfrm>
            <a:off x="6254496" y="1600200"/>
            <a:ext cx="2249424" cy="640080"/>
          </a:xfrm>
          <a:prstGeom prst="rect">
            <a:avLst/>
          </a:prstGeom>
          <a:noFill/>
          <a:ln/>
        </p:spPr>
        <p:txBody>
          <a:bodyPr wrap="square" lIns="0" tIns="0" rIns="0" bIns="0" rtlCol="0" anchor="t"/>
          <a:lstStyle/>
          <a:p>
            <a:pPr indent="0" marL="0">
              <a:buNone/>
            </a:pPr>
            <a:r>
              <a:rPr lang="en-US" sz="1300" b="1" dirty="0">
                <a:solidFill>
                  <a:schemeClr val="accent6"/>
                </a:solidFill>
              </a:rPr>
              <a:t>Nessuna supervisione diretta</a:t>
            </a:r>
            <a:endParaRPr lang="en-US" sz="1300" dirty="0"/>
          </a:p>
        </p:txBody>
      </p:sp>
      <p:sp>
        <p:nvSpPr>
          <p:cNvPr id="15" name="Text 12"/>
          <p:cNvSpPr txBox="1"/>
          <p:nvPr/>
        </p:nvSpPr>
        <p:spPr>
          <a:xfrm>
            <a:off x="6254496" y="2286000"/>
            <a:ext cx="2249424" cy="914400"/>
          </a:xfrm>
          <a:prstGeom prst="rect">
            <a:avLst/>
          </a:prstGeom>
          <a:noFill/>
          <a:ln/>
        </p:spPr>
        <p:txBody>
          <a:bodyPr wrap="square" lIns="0" tIns="0" rIns="0" bIns="0" rtlCol="0" anchor="t"/>
          <a:lstStyle/>
          <a:p>
            <a:pPr indent="0" marL="0">
              <a:buNone/>
            </a:pPr>
            <a:r>
              <a:rPr lang="en-US" sz="1200" dirty="0">
                <a:solidFill>
                  <a:schemeClr val="bg1"/>
                </a:solidFill>
              </a:rPr>
              <a:t>Esempio: Solo attività a basso impatto, collaudate, reversibili</a:t>
            </a:r>
            <a:endParaRPr lang="en-US" sz="1200" dirty="0"/>
          </a:p>
        </p:txBody>
      </p:sp>
      <p:sp>
        <p:nvSpPr>
          <p:cNvPr id="16" name="scheda Conferma per azioni con effetti esterni"/>
          <p:cNvSpPr/>
          <p:nvPr/>
        </p:nvSpPr>
        <p:spPr>
          <a:xfrm>
            <a:off x="457200" y="3474720"/>
            <a:ext cx="3977640" cy="1051560"/>
          </a:xfrm>
          <a:prstGeom prst="roundRect">
            <a:avLst>
              <a:gd name="adj" fmla="val 6957"/>
            </a:avLst>
          </a:prstGeom>
          <a:solidFill>
            <a:schemeClr val="bg2"/>
          </a:solidFill>
          <a:ln/>
        </p:spPr>
      </p:sp>
      <p:sp>
        <p:nvSpPr>
          <p:cNvPr id="17" name="cerchio FiCheckSquare"/>
          <p:cNvSpPr/>
          <p:nvPr/>
        </p:nvSpPr>
        <p:spPr>
          <a:xfrm>
            <a:off x="640080" y="3657600"/>
            <a:ext cx="457200" cy="457200"/>
          </a:xfrm>
          <a:prstGeom prst="ellipse">
            <a:avLst/>
          </a:prstGeom>
          <a:solidFill>
            <a:schemeClr val="accent1"/>
          </a:solidFill>
          <a:ln/>
        </p:spPr>
      </p:sp>
      <p:pic>
        <p:nvPicPr>
          <p:cNvPr id="18" name="Image 0" descr="FiCheckSquare">    </p:cNvPr>
          <p:cNvPicPr>
            <a:picLocks noChangeAspect="1"/>
          </p:cNvPicPr>
          <p:nvPr/>
        </p:nvPicPr>
        <p:blipFill>
          <a:blip r:embed="rId1"/>
          <a:stretch>
            <a:fillRect/>
          </a:stretch>
        </p:blipFill>
        <p:spPr>
          <a:xfrm>
            <a:off x="754380" y="3771900"/>
            <a:ext cx="228600" cy="228600"/>
          </a:xfrm>
          <a:prstGeom prst="rect">
            <a:avLst/>
          </a:prstGeom>
        </p:spPr>
      </p:pic>
      <p:sp>
        <p:nvSpPr>
          <p:cNvPr id="19" name="Text 15"/>
          <p:cNvSpPr txBox="1"/>
          <p:nvPr/>
        </p:nvSpPr>
        <p:spPr>
          <a:xfrm>
            <a:off x="1234440" y="3657600"/>
            <a:ext cx="3017520" cy="457200"/>
          </a:xfrm>
          <a:prstGeom prst="rect">
            <a:avLst/>
          </a:prstGeom>
          <a:noFill/>
          <a:ln/>
        </p:spPr>
        <p:txBody>
          <a:bodyPr wrap="square" lIns="0" tIns="0" rIns="0" bIns="0" rtlCol="0" anchor="ctr"/>
          <a:lstStyle/>
          <a:p>
            <a:pPr indent="0" marL="0">
              <a:buNone/>
            </a:pPr>
            <a:r>
              <a:rPr lang="en-US" sz="1500" b="1" dirty="0">
                <a:solidFill>
                  <a:schemeClr val="tx1"/>
                </a:solidFill>
              </a:rPr>
              <a:t>Conferma per azioni con effetti esterni</a:t>
            </a:r>
            <a:endParaRPr lang="en-US" sz="1500" dirty="0"/>
          </a:p>
        </p:txBody>
      </p:sp>
      <p:sp>
        <p:nvSpPr>
          <p:cNvPr id="20" name="Text 16"/>
          <p:cNvSpPr txBox="1"/>
          <p:nvPr/>
        </p:nvSpPr>
        <p:spPr>
          <a:xfrm>
            <a:off x="640080" y="4251960"/>
            <a:ext cx="3611880" cy="164592"/>
          </a:xfrm>
          <a:prstGeom prst="rect">
            <a:avLst/>
          </a:prstGeom>
          <a:noFill/>
          <a:ln/>
        </p:spPr>
        <p:txBody>
          <a:bodyPr wrap="square" lIns="0" tIns="0" rIns="0" bIns="0" rtlCol="0" anchor="t"/>
          <a:lstStyle/>
          <a:p>
            <a:pPr indent="0" marL="0">
              <a:buNone/>
            </a:pPr>
            <a:r>
              <a:rPr lang="en-US" sz="1100" dirty="0">
                <a:solidFill>
                  <a:schemeClr val="tx2"/>
                </a:solidFill>
              </a:rPr>
              <a:t>Comunicazioni, pagamenti, modifiche, cancellazioni</a:t>
            </a:r>
            <a:endParaRPr lang="en-US" sz="1100" dirty="0"/>
          </a:p>
        </p:txBody>
      </p:sp>
      <p:sp>
        <p:nvSpPr>
          <p:cNvPr id="21" name="scheda Permessi minimi necessari"/>
          <p:cNvSpPr/>
          <p:nvPr/>
        </p:nvSpPr>
        <p:spPr>
          <a:xfrm>
            <a:off x="4709160" y="3474720"/>
            <a:ext cx="3977640" cy="1051560"/>
          </a:xfrm>
          <a:prstGeom prst="roundRect">
            <a:avLst>
              <a:gd name="adj" fmla="val 6957"/>
            </a:avLst>
          </a:prstGeom>
          <a:solidFill>
            <a:schemeClr val="accent6"/>
          </a:solidFill>
          <a:ln/>
        </p:spPr>
      </p:sp>
      <p:sp>
        <p:nvSpPr>
          <p:cNvPr id="22" name="cerchio FiKey"/>
          <p:cNvSpPr/>
          <p:nvPr/>
        </p:nvSpPr>
        <p:spPr>
          <a:xfrm>
            <a:off x="4892040" y="3657600"/>
            <a:ext cx="457200" cy="457200"/>
          </a:xfrm>
          <a:prstGeom prst="ellipse">
            <a:avLst/>
          </a:prstGeom>
          <a:solidFill>
            <a:schemeClr val="accent1"/>
          </a:solidFill>
          <a:ln/>
        </p:spPr>
      </p:sp>
      <p:pic>
        <p:nvPicPr>
          <p:cNvPr id="23" name="Image 1" descr="FiKey">    </p:cNvPr>
          <p:cNvPicPr>
            <a:picLocks noChangeAspect="1"/>
          </p:cNvPicPr>
          <p:nvPr/>
        </p:nvPicPr>
        <p:blipFill>
          <a:blip r:embed="rId2"/>
          <a:stretch>
            <a:fillRect/>
          </a:stretch>
        </p:blipFill>
        <p:spPr>
          <a:xfrm>
            <a:off x="5006340" y="3771900"/>
            <a:ext cx="228600" cy="228600"/>
          </a:xfrm>
          <a:prstGeom prst="rect">
            <a:avLst/>
          </a:prstGeom>
        </p:spPr>
      </p:pic>
      <p:sp>
        <p:nvSpPr>
          <p:cNvPr id="24" name="Text 19"/>
          <p:cNvSpPr txBox="1"/>
          <p:nvPr/>
        </p:nvSpPr>
        <p:spPr>
          <a:xfrm>
            <a:off x="5486400" y="3657600"/>
            <a:ext cx="3017520" cy="457200"/>
          </a:xfrm>
          <a:prstGeom prst="rect">
            <a:avLst/>
          </a:prstGeom>
          <a:noFill/>
          <a:ln/>
        </p:spPr>
        <p:txBody>
          <a:bodyPr wrap="square" lIns="0" tIns="0" rIns="0" bIns="0" rtlCol="0" anchor="ctr"/>
          <a:lstStyle/>
          <a:p>
            <a:pPr indent="0" marL="0">
              <a:buNone/>
            </a:pPr>
            <a:r>
              <a:rPr lang="en-US" sz="1500" b="1" dirty="0">
                <a:solidFill>
                  <a:schemeClr val="tx1"/>
                </a:solidFill>
              </a:rPr>
              <a:t>Permessi minimi necessari</a:t>
            </a:r>
            <a:endParaRPr lang="en-US" sz="1500" dirty="0"/>
          </a:p>
        </p:txBody>
      </p:sp>
      <p:sp>
        <p:nvSpPr>
          <p:cNvPr id="25" name="Text 20"/>
          <p:cNvSpPr txBox="1"/>
          <p:nvPr/>
        </p:nvSpPr>
        <p:spPr>
          <a:xfrm>
            <a:off x="4892040" y="4251960"/>
            <a:ext cx="3611880" cy="164592"/>
          </a:xfrm>
          <a:prstGeom prst="rect">
            <a:avLst/>
          </a:prstGeom>
          <a:noFill/>
          <a:ln/>
        </p:spPr>
        <p:txBody>
          <a:bodyPr wrap="square" lIns="0" tIns="0" rIns="0" bIns="0" rtlCol="0" anchor="t"/>
          <a:lstStyle/>
          <a:p>
            <a:pPr indent="0" marL="0">
              <a:buNone/>
            </a:pPr>
            <a:r>
              <a:rPr lang="en-US" sz="1100" dirty="0">
                <a:solidFill>
                  <a:schemeClr val="tx2"/>
                </a:solidFill>
              </a:rPr>
              <a:t>Chi deve leggere non ha bisogno di cancellare</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Una terminologia non standardizzata</a:t>
            </a:r>
            <a:endParaRPr lang="en-US" sz="2600" dirty="0"/>
          </a:p>
        </p:txBody>
      </p:sp>
      <p:sp>
        <p:nvSpPr>
          <p:cNvPr id="4" name="Text 1"/>
          <p:cNvSpPr txBox="1"/>
          <p:nvPr/>
        </p:nvSpPr>
        <p:spPr>
          <a:xfrm>
            <a:off x="457200" y="1051560"/>
            <a:ext cx="3977640" cy="274320"/>
          </a:xfrm>
          <a:prstGeom prst="rect">
            <a:avLst/>
          </a:prstGeom>
          <a:noFill/>
          <a:ln/>
        </p:spPr>
        <p:txBody>
          <a:bodyPr wrap="square" lIns="0" tIns="0" rIns="0" bIns="0" rtlCol="0" anchor="t"/>
          <a:lstStyle/>
          <a:p>
            <a:pPr indent="0" marL="0">
              <a:buNone/>
            </a:pPr>
            <a:r>
              <a:rPr lang="en-US" sz="1400" b="1" dirty="0">
                <a:solidFill>
                  <a:schemeClr val="tx1"/>
                </a:solidFill>
              </a:rPr>
              <a:t>Stesso termine, significati diversi</a:t>
            </a:r>
            <a:endParaRPr lang="en-US" sz="1400" dirty="0"/>
          </a:p>
        </p:txBody>
      </p:sp>
      <p:sp>
        <p:nvSpPr>
          <p:cNvPr id="5" name="&quot;Assistente&quot;"/>
          <p:cNvSpPr/>
          <p:nvPr/>
        </p:nvSpPr>
        <p:spPr>
          <a:xfrm>
            <a:off x="457200" y="1417320"/>
            <a:ext cx="3977640" cy="868680"/>
          </a:xfrm>
          <a:prstGeom prst="roundRect">
            <a:avLst>
              <a:gd name="adj" fmla="val 8421"/>
            </a:avLst>
          </a:prstGeom>
          <a:solidFill>
            <a:schemeClr val="bg2"/>
          </a:solidFill>
          <a:ln/>
        </p:spPr>
      </p:sp>
      <p:sp>
        <p:nvSpPr>
          <p:cNvPr id="6" name="Text 3"/>
          <p:cNvSpPr txBox="1"/>
          <p:nvPr/>
        </p:nvSpPr>
        <p:spPr>
          <a:xfrm>
            <a:off x="640080" y="1490472"/>
            <a:ext cx="3657600" cy="320040"/>
          </a:xfrm>
          <a:prstGeom prst="rect">
            <a:avLst/>
          </a:prstGeom>
          <a:noFill/>
          <a:ln/>
        </p:spPr>
        <p:txBody>
          <a:bodyPr wrap="square" lIns="0" tIns="0" rIns="0" bIns="0" rtlCol="0" anchor="t"/>
          <a:lstStyle/>
          <a:p>
            <a:pPr indent="0" marL="0">
              <a:buNone/>
            </a:pPr>
            <a:r>
              <a:rPr lang="en-US" sz="1500" b="1" dirty="0">
                <a:solidFill>
                  <a:schemeClr val="accent5"/>
                </a:solidFill>
              </a:rPr>
              <a:t>"Assistente"</a:t>
            </a:r>
            <a:endParaRPr lang="en-US" sz="1500" dirty="0"/>
          </a:p>
        </p:txBody>
      </p:sp>
      <p:sp>
        <p:nvSpPr>
          <p:cNvPr id="7" name="Text 4"/>
          <p:cNvSpPr txBox="1"/>
          <p:nvPr/>
        </p:nvSpPr>
        <p:spPr>
          <a:xfrm>
            <a:off x="640080" y="1828800"/>
            <a:ext cx="3657600" cy="411480"/>
          </a:xfrm>
          <a:prstGeom prst="rect">
            <a:avLst/>
          </a:prstGeom>
          <a:noFill/>
          <a:ln/>
        </p:spPr>
        <p:txBody>
          <a:bodyPr wrap="square" lIns="0" tIns="0" rIns="0" bIns="0" rtlCol="0" anchor="t"/>
          <a:lstStyle/>
          <a:p>
            <a:pPr indent="0" marL="0">
              <a:buNone/>
            </a:pPr>
            <a:r>
              <a:rPr lang="en-US" sz="1200" dirty="0">
                <a:solidFill>
                  <a:schemeClr val="tx2"/>
                </a:solidFill>
              </a:rPr>
              <a:t>Chatbot generico, assistente configurato, sistema con strumenti</a:t>
            </a:r>
            <a:endParaRPr lang="en-US" sz="1200" dirty="0"/>
          </a:p>
        </p:txBody>
      </p:sp>
      <p:sp>
        <p:nvSpPr>
          <p:cNvPr id="8" name="&quot;Agente&quot;"/>
          <p:cNvSpPr/>
          <p:nvPr/>
        </p:nvSpPr>
        <p:spPr>
          <a:xfrm>
            <a:off x="457200" y="2423160"/>
            <a:ext cx="3977640" cy="868680"/>
          </a:xfrm>
          <a:prstGeom prst="roundRect">
            <a:avLst>
              <a:gd name="adj" fmla="val 8421"/>
            </a:avLst>
          </a:prstGeom>
          <a:solidFill>
            <a:schemeClr val="bg2"/>
          </a:solidFill>
          <a:ln/>
        </p:spPr>
      </p:sp>
      <p:sp>
        <p:nvSpPr>
          <p:cNvPr id="9" name="Text 6"/>
          <p:cNvSpPr txBox="1"/>
          <p:nvPr/>
        </p:nvSpPr>
        <p:spPr>
          <a:xfrm>
            <a:off x="640080" y="2496312"/>
            <a:ext cx="3657600" cy="320040"/>
          </a:xfrm>
          <a:prstGeom prst="rect">
            <a:avLst/>
          </a:prstGeom>
          <a:noFill/>
          <a:ln/>
        </p:spPr>
        <p:txBody>
          <a:bodyPr wrap="square" lIns="0" tIns="0" rIns="0" bIns="0" rtlCol="0" anchor="t"/>
          <a:lstStyle/>
          <a:p>
            <a:pPr indent="0" marL="0">
              <a:buNone/>
            </a:pPr>
            <a:r>
              <a:rPr lang="en-US" sz="1500" b="1" dirty="0">
                <a:solidFill>
                  <a:schemeClr val="accent5"/>
                </a:solidFill>
              </a:rPr>
              <a:t>"Agente"</a:t>
            </a:r>
            <a:endParaRPr lang="en-US" sz="1500" dirty="0"/>
          </a:p>
        </p:txBody>
      </p:sp>
      <p:sp>
        <p:nvSpPr>
          <p:cNvPr id="10" name="Text 7"/>
          <p:cNvSpPr txBox="1"/>
          <p:nvPr/>
        </p:nvSpPr>
        <p:spPr>
          <a:xfrm>
            <a:off x="640080" y="2834640"/>
            <a:ext cx="3657600" cy="411480"/>
          </a:xfrm>
          <a:prstGeom prst="rect">
            <a:avLst/>
          </a:prstGeom>
          <a:noFill/>
          <a:ln/>
        </p:spPr>
        <p:txBody>
          <a:bodyPr wrap="square" lIns="0" tIns="0" rIns="0" bIns="0" rtlCol="0" anchor="t"/>
          <a:lstStyle/>
          <a:p>
            <a:pPr indent="0" marL="0">
              <a:buNone/>
            </a:pPr>
            <a:r>
              <a:rPr lang="en-US" sz="1200" dirty="0">
                <a:solidFill>
                  <a:schemeClr val="tx2"/>
                </a:solidFill>
              </a:rPr>
              <a:t>Sistema autonomo, ma anche assistente configurato o workflow</a:t>
            </a:r>
            <a:endParaRPr lang="en-US" sz="1200" dirty="0"/>
          </a:p>
        </p:txBody>
      </p:sp>
      <p:sp>
        <p:nvSpPr>
          <p:cNvPr id="11" name="&quot;Copilota&quot;"/>
          <p:cNvSpPr/>
          <p:nvPr/>
        </p:nvSpPr>
        <p:spPr>
          <a:xfrm>
            <a:off x="457200" y="3429000"/>
            <a:ext cx="3977640" cy="868680"/>
          </a:xfrm>
          <a:prstGeom prst="roundRect">
            <a:avLst>
              <a:gd name="adj" fmla="val 8421"/>
            </a:avLst>
          </a:prstGeom>
          <a:solidFill>
            <a:schemeClr val="bg2"/>
          </a:solidFill>
          <a:ln/>
        </p:spPr>
      </p:sp>
      <p:sp>
        <p:nvSpPr>
          <p:cNvPr id="12" name="Text 9"/>
          <p:cNvSpPr txBox="1"/>
          <p:nvPr/>
        </p:nvSpPr>
        <p:spPr>
          <a:xfrm>
            <a:off x="640080" y="3502152"/>
            <a:ext cx="3657600" cy="320040"/>
          </a:xfrm>
          <a:prstGeom prst="rect">
            <a:avLst/>
          </a:prstGeom>
          <a:noFill/>
          <a:ln/>
        </p:spPr>
        <p:txBody>
          <a:bodyPr wrap="square" lIns="0" tIns="0" rIns="0" bIns="0" rtlCol="0" anchor="t"/>
          <a:lstStyle/>
          <a:p>
            <a:pPr indent="0" marL="0">
              <a:buNone/>
            </a:pPr>
            <a:r>
              <a:rPr lang="en-US" sz="1500" b="1" dirty="0">
                <a:solidFill>
                  <a:schemeClr val="accent5"/>
                </a:solidFill>
              </a:rPr>
              <a:t>"Copilota"</a:t>
            </a:r>
            <a:endParaRPr lang="en-US" sz="1500" dirty="0"/>
          </a:p>
        </p:txBody>
      </p:sp>
      <p:sp>
        <p:nvSpPr>
          <p:cNvPr id="13" name="Text 10"/>
          <p:cNvSpPr txBox="1"/>
          <p:nvPr/>
        </p:nvSpPr>
        <p:spPr>
          <a:xfrm>
            <a:off x="640080" y="3840480"/>
            <a:ext cx="3657600" cy="411480"/>
          </a:xfrm>
          <a:prstGeom prst="rect">
            <a:avLst/>
          </a:prstGeom>
          <a:noFill/>
          <a:ln/>
        </p:spPr>
        <p:txBody>
          <a:bodyPr wrap="square" lIns="0" tIns="0" rIns="0" bIns="0" rtlCol="0" anchor="t"/>
          <a:lstStyle/>
          <a:p>
            <a:pPr indent="0" marL="0">
              <a:buNone/>
            </a:pPr>
            <a:r>
              <a:rPr lang="en-US" sz="1200" dirty="0">
                <a:solidFill>
                  <a:schemeClr val="tx2"/>
                </a:solidFill>
              </a:rPr>
              <a:t>Nome di prodotto o termine generico</a:t>
            </a:r>
            <a:endParaRPr lang="en-US" sz="1200" dirty="0"/>
          </a:p>
        </p:txBody>
      </p:sp>
      <p:sp>
        <p:nvSpPr>
          <p:cNvPr id="14" name="Text 11"/>
          <p:cNvSpPr txBox="1"/>
          <p:nvPr/>
        </p:nvSpPr>
        <p:spPr>
          <a:xfrm>
            <a:off x="4709160" y="1051560"/>
            <a:ext cx="3977640" cy="274320"/>
          </a:xfrm>
          <a:prstGeom prst="rect">
            <a:avLst/>
          </a:prstGeom>
          <a:noFill/>
          <a:ln/>
        </p:spPr>
        <p:txBody>
          <a:bodyPr wrap="square" lIns="0" tIns="0" rIns="0" bIns="0" rtlCol="0" anchor="t"/>
          <a:lstStyle/>
          <a:p>
            <a:pPr indent="0" marL="0">
              <a:buNone/>
            </a:pPr>
            <a:r>
              <a:rPr lang="en-US" sz="1400" b="1" dirty="0">
                <a:solidFill>
                  <a:schemeClr val="tx1"/>
                </a:solidFill>
              </a:rPr>
              <a:t>Quattro domande oltre l'etichetta</a:t>
            </a:r>
            <a:endParaRPr lang="en-US" sz="1400" dirty="0"/>
          </a:p>
        </p:txBody>
      </p:sp>
      <p:sp>
        <p:nvSpPr>
          <p:cNvPr id="15" name="Risponde soltanto o agisce?"/>
          <p:cNvSpPr/>
          <p:nvPr/>
        </p:nvSpPr>
        <p:spPr>
          <a:xfrm>
            <a:off x="4709160" y="1417320"/>
            <a:ext cx="3977640" cy="640080"/>
          </a:xfrm>
          <a:prstGeom prst="roundRect">
            <a:avLst>
              <a:gd name="adj" fmla="val 11429"/>
            </a:avLst>
          </a:prstGeom>
          <a:solidFill>
            <a:schemeClr val="accent6"/>
          </a:solidFill>
          <a:ln/>
        </p:spPr>
      </p:sp>
      <p:sp>
        <p:nvSpPr>
          <p:cNvPr id="16" name="Text 13"/>
          <p:cNvSpPr txBox="1"/>
          <p:nvPr/>
        </p:nvSpPr>
        <p:spPr>
          <a:xfrm>
            <a:off x="4846320" y="1417320"/>
            <a:ext cx="365760" cy="640080"/>
          </a:xfrm>
          <a:prstGeom prst="rect">
            <a:avLst/>
          </a:prstGeom>
          <a:noFill/>
          <a:ln/>
        </p:spPr>
        <p:txBody>
          <a:bodyPr wrap="square" lIns="0" tIns="0" rIns="0" bIns="0" rtlCol="0" anchor="ctr"/>
          <a:lstStyle/>
          <a:p>
            <a:pPr indent="0" marL="0">
              <a:buNone/>
            </a:pPr>
            <a:r>
              <a:rPr lang="en-US" sz="1800" b="1" dirty="0">
                <a:solidFill>
                  <a:schemeClr val="accent1"/>
                </a:solidFill>
              </a:rPr>
              <a:t>1</a:t>
            </a:r>
            <a:endParaRPr lang="en-US" sz="1800" dirty="0"/>
          </a:p>
        </p:txBody>
      </p:sp>
      <p:sp>
        <p:nvSpPr>
          <p:cNvPr id="17" name="Text 14"/>
          <p:cNvSpPr txBox="1"/>
          <p:nvPr/>
        </p:nvSpPr>
        <p:spPr>
          <a:xfrm>
            <a:off x="5257800" y="1417320"/>
            <a:ext cx="3337560" cy="640080"/>
          </a:xfrm>
          <a:prstGeom prst="rect">
            <a:avLst/>
          </a:prstGeom>
          <a:noFill/>
          <a:ln/>
        </p:spPr>
        <p:txBody>
          <a:bodyPr wrap="square" lIns="0" tIns="0" rIns="0" bIns="0" rtlCol="0" anchor="ctr"/>
          <a:lstStyle/>
          <a:p>
            <a:pPr indent="0" marL="0">
              <a:buNone/>
            </a:pPr>
            <a:r>
              <a:rPr lang="en-US" sz="1300" dirty="0">
                <a:solidFill>
                  <a:schemeClr val="tx1"/>
                </a:solidFill>
              </a:rPr>
              <a:t>Risponde soltanto o agisce?</a:t>
            </a:r>
            <a:endParaRPr lang="en-US" sz="1300" dirty="0"/>
          </a:p>
        </p:txBody>
      </p:sp>
      <p:sp>
        <p:nvSpPr>
          <p:cNvPr id="18" name="Chi decide la sequenza dei passaggi?"/>
          <p:cNvSpPr/>
          <p:nvPr/>
        </p:nvSpPr>
        <p:spPr>
          <a:xfrm>
            <a:off x="4709160" y="2176272"/>
            <a:ext cx="3977640" cy="640080"/>
          </a:xfrm>
          <a:prstGeom prst="roundRect">
            <a:avLst>
              <a:gd name="adj" fmla="val 11429"/>
            </a:avLst>
          </a:prstGeom>
          <a:solidFill>
            <a:schemeClr val="accent6"/>
          </a:solidFill>
          <a:ln/>
        </p:spPr>
      </p:sp>
      <p:sp>
        <p:nvSpPr>
          <p:cNvPr id="19" name="Text 16"/>
          <p:cNvSpPr txBox="1"/>
          <p:nvPr/>
        </p:nvSpPr>
        <p:spPr>
          <a:xfrm>
            <a:off x="4846320" y="2176272"/>
            <a:ext cx="365760" cy="640080"/>
          </a:xfrm>
          <a:prstGeom prst="rect">
            <a:avLst/>
          </a:prstGeom>
          <a:noFill/>
          <a:ln/>
        </p:spPr>
        <p:txBody>
          <a:bodyPr wrap="square" lIns="0" tIns="0" rIns="0" bIns="0" rtlCol="0" anchor="ctr"/>
          <a:lstStyle/>
          <a:p>
            <a:pPr indent="0" marL="0">
              <a:buNone/>
            </a:pPr>
            <a:r>
              <a:rPr lang="en-US" sz="1800" b="1" dirty="0">
                <a:solidFill>
                  <a:schemeClr val="accent1"/>
                </a:solidFill>
              </a:rPr>
              <a:t>2</a:t>
            </a:r>
            <a:endParaRPr lang="en-US" sz="1800" dirty="0"/>
          </a:p>
        </p:txBody>
      </p:sp>
      <p:sp>
        <p:nvSpPr>
          <p:cNvPr id="20" name="Text 17"/>
          <p:cNvSpPr txBox="1"/>
          <p:nvPr/>
        </p:nvSpPr>
        <p:spPr>
          <a:xfrm>
            <a:off x="5257800" y="2176272"/>
            <a:ext cx="3337560" cy="640080"/>
          </a:xfrm>
          <a:prstGeom prst="rect">
            <a:avLst/>
          </a:prstGeom>
          <a:noFill/>
          <a:ln/>
        </p:spPr>
        <p:txBody>
          <a:bodyPr wrap="square" lIns="0" tIns="0" rIns="0" bIns="0" rtlCol="0" anchor="ctr"/>
          <a:lstStyle/>
          <a:p>
            <a:pPr indent="0" marL="0">
              <a:buNone/>
            </a:pPr>
            <a:r>
              <a:rPr lang="en-US" sz="1300" dirty="0">
                <a:solidFill>
                  <a:schemeClr val="tx1"/>
                </a:solidFill>
              </a:rPr>
              <a:t>Chi decide la sequenza dei passaggi?</a:t>
            </a:r>
            <a:endParaRPr lang="en-US" sz="1300" dirty="0"/>
          </a:p>
        </p:txBody>
      </p:sp>
      <p:sp>
        <p:nvSpPr>
          <p:cNvPr id="21" name="Quali strumenti e sistemi usa, con quali permessi?"/>
          <p:cNvSpPr/>
          <p:nvPr/>
        </p:nvSpPr>
        <p:spPr>
          <a:xfrm>
            <a:off x="4709160" y="2935224"/>
            <a:ext cx="3977640" cy="640080"/>
          </a:xfrm>
          <a:prstGeom prst="roundRect">
            <a:avLst>
              <a:gd name="adj" fmla="val 11429"/>
            </a:avLst>
          </a:prstGeom>
          <a:solidFill>
            <a:schemeClr val="accent6"/>
          </a:solidFill>
          <a:ln/>
        </p:spPr>
      </p:sp>
      <p:sp>
        <p:nvSpPr>
          <p:cNvPr id="22" name="Text 19"/>
          <p:cNvSpPr txBox="1"/>
          <p:nvPr/>
        </p:nvSpPr>
        <p:spPr>
          <a:xfrm>
            <a:off x="4846320" y="2935224"/>
            <a:ext cx="365760" cy="640080"/>
          </a:xfrm>
          <a:prstGeom prst="rect">
            <a:avLst/>
          </a:prstGeom>
          <a:noFill/>
          <a:ln/>
        </p:spPr>
        <p:txBody>
          <a:bodyPr wrap="square" lIns="0" tIns="0" rIns="0" bIns="0" rtlCol="0" anchor="ctr"/>
          <a:lstStyle/>
          <a:p>
            <a:pPr indent="0" marL="0">
              <a:buNone/>
            </a:pPr>
            <a:r>
              <a:rPr lang="en-US" sz="1800" b="1" dirty="0">
                <a:solidFill>
                  <a:schemeClr val="accent1"/>
                </a:solidFill>
              </a:rPr>
              <a:t>3</a:t>
            </a:r>
            <a:endParaRPr lang="en-US" sz="1800" dirty="0"/>
          </a:p>
        </p:txBody>
      </p:sp>
      <p:sp>
        <p:nvSpPr>
          <p:cNvPr id="23" name="Text 20"/>
          <p:cNvSpPr txBox="1"/>
          <p:nvPr/>
        </p:nvSpPr>
        <p:spPr>
          <a:xfrm>
            <a:off x="5257800" y="2935224"/>
            <a:ext cx="3337560" cy="640080"/>
          </a:xfrm>
          <a:prstGeom prst="rect">
            <a:avLst/>
          </a:prstGeom>
          <a:noFill/>
          <a:ln/>
        </p:spPr>
        <p:txBody>
          <a:bodyPr wrap="square" lIns="0" tIns="0" rIns="0" bIns="0" rtlCol="0" anchor="ctr"/>
          <a:lstStyle/>
          <a:p>
            <a:pPr indent="0" marL="0">
              <a:buNone/>
            </a:pPr>
            <a:r>
              <a:rPr lang="en-US" sz="1300" dirty="0">
                <a:solidFill>
                  <a:schemeClr val="tx1"/>
                </a:solidFill>
              </a:rPr>
              <a:t>Quali strumenti e sistemi usa, con quali permessi?</a:t>
            </a:r>
            <a:endParaRPr lang="en-US" sz="1300" dirty="0"/>
          </a:p>
        </p:txBody>
      </p:sp>
      <p:sp>
        <p:nvSpPr>
          <p:cNvPr id="24" name="Quando e come interviene la persona?"/>
          <p:cNvSpPr/>
          <p:nvPr/>
        </p:nvSpPr>
        <p:spPr>
          <a:xfrm>
            <a:off x="4709160" y="3694176"/>
            <a:ext cx="3977640" cy="640080"/>
          </a:xfrm>
          <a:prstGeom prst="roundRect">
            <a:avLst>
              <a:gd name="adj" fmla="val 11429"/>
            </a:avLst>
          </a:prstGeom>
          <a:solidFill>
            <a:schemeClr val="accent6"/>
          </a:solidFill>
          <a:ln/>
        </p:spPr>
      </p:sp>
      <p:sp>
        <p:nvSpPr>
          <p:cNvPr id="25" name="Text 22"/>
          <p:cNvSpPr txBox="1"/>
          <p:nvPr/>
        </p:nvSpPr>
        <p:spPr>
          <a:xfrm>
            <a:off x="4846320" y="3694176"/>
            <a:ext cx="365760" cy="640080"/>
          </a:xfrm>
          <a:prstGeom prst="rect">
            <a:avLst/>
          </a:prstGeom>
          <a:noFill/>
          <a:ln/>
        </p:spPr>
        <p:txBody>
          <a:bodyPr wrap="square" lIns="0" tIns="0" rIns="0" bIns="0" rtlCol="0" anchor="ctr"/>
          <a:lstStyle/>
          <a:p>
            <a:pPr indent="0" marL="0">
              <a:buNone/>
            </a:pPr>
            <a:r>
              <a:rPr lang="en-US" sz="1800" b="1" dirty="0">
                <a:solidFill>
                  <a:schemeClr val="accent1"/>
                </a:solidFill>
              </a:rPr>
              <a:t>4</a:t>
            </a:r>
            <a:endParaRPr lang="en-US" sz="1800" dirty="0"/>
          </a:p>
        </p:txBody>
      </p:sp>
      <p:sp>
        <p:nvSpPr>
          <p:cNvPr id="26" name="Text 23"/>
          <p:cNvSpPr txBox="1"/>
          <p:nvPr/>
        </p:nvSpPr>
        <p:spPr>
          <a:xfrm>
            <a:off x="5257800" y="3694176"/>
            <a:ext cx="3337560" cy="640080"/>
          </a:xfrm>
          <a:prstGeom prst="rect">
            <a:avLst/>
          </a:prstGeom>
          <a:noFill/>
          <a:ln/>
        </p:spPr>
        <p:txBody>
          <a:bodyPr wrap="square" lIns="0" tIns="0" rIns="0" bIns="0" rtlCol="0" anchor="ctr"/>
          <a:lstStyle/>
          <a:p>
            <a:pPr indent="0" marL="0">
              <a:buNone/>
            </a:pPr>
            <a:r>
              <a:rPr lang="en-US" sz="1300" dirty="0">
                <a:solidFill>
                  <a:schemeClr val="tx1"/>
                </a:solidFill>
              </a:rPr>
              <a:t>Quando e come interviene la persona?</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Conversare, ricevere assistenza, automatizzare e delegare l'esecuzione di attività rappresentano modalità e livelli di autonomia differenti.</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4.5  ·  Chatbot, assistenti, agenti e automazioni</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4.6</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Modalità di accesso e utilizzo dell'AI</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Capacità analoghe possono essere disponibili in modalità diverse, con implicazioni tecniche, economiche e organizzative</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Le principali modalità di accesso</a:t>
            </a:r>
            <a:endParaRPr lang="en-US" sz="2600" dirty="0"/>
          </a:p>
        </p:txBody>
      </p:sp>
      <p:sp>
        <p:nvSpPr>
          <p:cNvPr id="4" name="App web, desktop, mobili"/>
          <p:cNvSpPr/>
          <p:nvPr/>
        </p:nvSpPr>
        <p:spPr>
          <a:xfrm>
            <a:off x="457200" y="1051560"/>
            <a:ext cx="8229600" cy="621792"/>
          </a:xfrm>
          <a:prstGeom prst="roundRect">
            <a:avLst>
              <a:gd name="adj" fmla="val 11765"/>
            </a:avLst>
          </a:prstGeom>
          <a:solidFill>
            <a:schemeClr val="bg2"/>
          </a:solidFill>
          <a:ln/>
        </p:spPr>
      </p:sp>
      <p:sp>
        <p:nvSpPr>
          <p:cNvPr id="5" name="cerchio FiMonitor"/>
          <p:cNvSpPr/>
          <p:nvPr/>
        </p:nvSpPr>
        <p:spPr>
          <a:xfrm>
            <a:off x="566928" y="1143000"/>
            <a:ext cx="438912" cy="438912"/>
          </a:xfrm>
          <a:prstGeom prst="ellipse">
            <a:avLst/>
          </a:prstGeom>
          <a:solidFill>
            <a:schemeClr val="accent1"/>
          </a:solidFill>
          <a:ln/>
        </p:spPr>
      </p:sp>
      <p:pic>
        <p:nvPicPr>
          <p:cNvPr id="6" name="Image 0" descr="FiMonitor">    </p:cNvPr>
          <p:cNvPicPr>
            <a:picLocks noChangeAspect="1"/>
          </p:cNvPicPr>
          <p:nvPr/>
        </p:nvPicPr>
        <p:blipFill>
          <a:blip r:embed="rId1"/>
          <a:stretch>
            <a:fillRect/>
          </a:stretch>
        </p:blipFill>
        <p:spPr>
          <a:xfrm>
            <a:off x="676656" y="1252728"/>
            <a:ext cx="219456" cy="219456"/>
          </a:xfrm>
          <a:prstGeom prst="rect">
            <a:avLst/>
          </a:prstGeom>
        </p:spPr>
      </p:pic>
      <p:sp>
        <p:nvSpPr>
          <p:cNvPr id="7" name="Text 3"/>
          <p:cNvSpPr txBox="1"/>
          <p:nvPr/>
        </p:nvSpPr>
        <p:spPr>
          <a:xfrm>
            <a:off x="1143000" y="1051560"/>
            <a:ext cx="3108960" cy="621792"/>
          </a:xfrm>
          <a:prstGeom prst="rect">
            <a:avLst/>
          </a:prstGeom>
          <a:noFill/>
          <a:ln/>
        </p:spPr>
        <p:txBody>
          <a:bodyPr wrap="square" lIns="0" tIns="0" rIns="0" bIns="0" rtlCol="0" anchor="ctr"/>
          <a:lstStyle/>
          <a:p>
            <a:pPr indent="0" marL="0">
              <a:buNone/>
            </a:pPr>
            <a:r>
              <a:rPr lang="en-US" sz="1400" b="1" dirty="0">
                <a:solidFill>
                  <a:schemeClr val="tx1"/>
                </a:solidFill>
              </a:rPr>
              <a:t>App web, desktop, mobili</a:t>
            </a:r>
            <a:endParaRPr lang="en-US" sz="1400" dirty="0"/>
          </a:p>
        </p:txBody>
      </p:sp>
      <p:sp>
        <p:nvSpPr>
          <p:cNvPr id="8" name="Text 4"/>
          <p:cNvSpPr txBox="1"/>
          <p:nvPr/>
        </p:nvSpPr>
        <p:spPr>
          <a:xfrm>
            <a:off x="4297680" y="1051560"/>
            <a:ext cx="4297680" cy="621792"/>
          </a:xfrm>
          <a:prstGeom prst="rect">
            <a:avLst/>
          </a:prstGeom>
          <a:noFill/>
          <a:ln/>
        </p:spPr>
        <p:txBody>
          <a:bodyPr wrap="square" lIns="0" tIns="0" rIns="0" bIns="0" rtlCol="0" anchor="ctr"/>
          <a:lstStyle/>
          <a:p>
            <a:pPr indent="0" marL="0">
              <a:buNone/>
            </a:pPr>
            <a:r>
              <a:rPr lang="en-US" sz="1300" dirty="0">
                <a:solidFill>
                  <a:schemeClr val="tx2"/>
                </a:solidFill>
              </a:rPr>
              <a:t>Uso diretto da browser, programma o telefono</a:t>
            </a:r>
            <a:endParaRPr lang="en-US" sz="1300" dirty="0"/>
          </a:p>
        </p:txBody>
      </p:sp>
      <p:sp>
        <p:nvSpPr>
          <p:cNvPr id="9" name="Integrata in app esistenti"/>
          <p:cNvSpPr/>
          <p:nvPr/>
        </p:nvSpPr>
        <p:spPr>
          <a:xfrm>
            <a:off x="457200" y="1755648"/>
            <a:ext cx="8229600" cy="621792"/>
          </a:xfrm>
          <a:prstGeom prst="roundRect">
            <a:avLst>
              <a:gd name="adj" fmla="val 11765"/>
            </a:avLst>
          </a:prstGeom>
          <a:solidFill>
            <a:schemeClr val="bg1"/>
          </a:solidFill>
          <a:ln/>
        </p:spPr>
      </p:sp>
      <p:sp>
        <p:nvSpPr>
          <p:cNvPr id="10" name="cerchio FiGrid"/>
          <p:cNvSpPr/>
          <p:nvPr/>
        </p:nvSpPr>
        <p:spPr>
          <a:xfrm>
            <a:off x="566928" y="1847088"/>
            <a:ext cx="438912" cy="438912"/>
          </a:xfrm>
          <a:prstGeom prst="ellipse">
            <a:avLst/>
          </a:prstGeom>
          <a:solidFill>
            <a:schemeClr val="accent1"/>
          </a:solidFill>
          <a:ln/>
        </p:spPr>
      </p:sp>
      <p:pic>
        <p:nvPicPr>
          <p:cNvPr id="11" name="Image 1" descr="FiGrid">    </p:cNvPr>
          <p:cNvPicPr>
            <a:picLocks noChangeAspect="1"/>
          </p:cNvPicPr>
          <p:nvPr/>
        </p:nvPicPr>
        <p:blipFill>
          <a:blip r:embed="rId2"/>
          <a:stretch>
            <a:fillRect/>
          </a:stretch>
        </p:blipFill>
        <p:spPr>
          <a:xfrm>
            <a:off x="676656" y="1956816"/>
            <a:ext cx="219456" cy="219456"/>
          </a:xfrm>
          <a:prstGeom prst="rect">
            <a:avLst/>
          </a:prstGeom>
        </p:spPr>
      </p:pic>
      <p:sp>
        <p:nvSpPr>
          <p:cNvPr id="12" name="Text 7"/>
          <p:cNvSpPr txBox="1"/>
          <p:nvPr/>
        </p:nvSpPr>
        <p:spPr>
          <a:xfrm>
            <a:off x="1143000" y="1755648"/>
            <a:ext cx="3108960" cy="621792"/>
          </a:xfrm>
          <a:prstGeom prst="rect">
            <a:avLst/>
          </a:prstGeom>
          <a:noFill/>
          <a:ln/>
        </p:spPr>
        <p:txBody>
          <a:bodyPr wrap="square" lIns="0" tIns="0" rIns="0" bIns="0" rtlCol="0" anchor="ctr"/>
          <a:lstStyle/>
          <a:p>
            <a:pPr indent="0" marL="0">
              <a:buNone/>
            </a:pPr>
            <a:r>
              <a:rPr lang="en-US" sz="1400" b="1" dirty="0">
                <a:solidFill>
                  <a:schemeClr val="tx1"/>
                </a:solidFill>
              </a:rPr>
              <a:t>Integrata in app esistenti</a:t>
            </a:r>
            <a:endParaRPr lang="en-US" sz="1400" dirty="0"/>
          </a:p>
        </p:txBody>
      </p:sp>
      <p:sp>
        <p:nvSpPr>
          <p:cNvPr id="13" name="Text 8"/>
          <p:cNvSpPr txBox="1"/>
          <p:nvPr/>
        </p:nvSpPr>
        <p:spPr>
          <a:xfrm>
            <a:off x="4297680" y="1755648"/>
            <a:ext cx="4297680" cy="621792"/>
          </a:xfrm>
          <a:prstGeom prst="rect">
            <a:avLst/>
          </a:prstGeom>
          <a:noFill/>
          <a:ln/>
        </p:spPr>
        <p:txBody>
          <a:bodyPr wrap="square" lIns="0" tIns="0" rIns="0" bIns="0" rtlCol="0" anchor="ctr"/>
          <a:lstStyle/>
          <a:p>
            <a:pPr indent="0" marL="0">
              <a:buNone/>
            </a:pPr>
            <a:r>
              <a:rPr lang="en-US" sz="1300" dirty="0">
                <a:solidFill>
                  <a:schemeClr val="tx2"/>
                </a:solidFill>
              </a:rPr>
              <a:t>Funzioni dentro i software già in uso</a:t>
            </a:r>
            <a:endParaRPr lang="en-US" sz="1300" dirty="0"/>
          </a:p>
        </p:txBody>
      </p:sp>
      <p:sp>
        <p:nvSpPr>
          <p:cNvPr id="14" name="API"/>
          <p:cNvSpPr/>
          <p:nvPr/>
        </p:nvSpPr>
        <p:spPr>
          <a:xfrm>
            <a:off x="457200" y="2459736"/>
            <a:ext cx="8229600" cy="621792"/>
          </a:xfrm>
          <a:prstGeom prst="roundRect">
            <a:avLst>
              <a:gd name="adj" fmla="val 11765"/>
            </a:avLst>
          </a:prstGeom>
          <a:solidFill>
            <a:schemeClr val="bg2"/>
          </a:solidFill>
          <a:ln/>
        </p:spPr>
      </p:sp>
      <p:sp>
        <p:nvSpPr>
          <p:cNvPr id="15" name="cerchio FiCode"/>
          <p:cNvSpPr/>
          <p:nvPr/>
        </p:nvSpPr>
        <p:spPr>
          <a:xfrm>
            <a:off x="566928" y="2551176"/>
            <a:ext cx="438912" cy="438912"/>
          </a:xfrm>
          <a:prstGeom prst="ellipse">
            <a:avLst/>
          </a:prstGeom>
          <a:solidFill>
            <a:schemeClr val="accent1"/>
          </a:solidFill>
          <a:ln/>
        </p:spPr>
      </p:sp>
      <p:pic>
        <p:nvPicPr>
          <p:cNvPr id="16" name="Image 2" descr="FiCode">    </p:cNvPr>
          <p:cNvPicPr>
            <a:picLocks noChangeAspect="1"/>
          </p:cNvPicPr>
          <p:nvPr/>
        </p:nvPicPr>
        <p:blipFill>
          <a:blip r:embed="rId3"/>
          <a:stretch>
            <a:fillRect/>
          </a:stretch>
        </p:blipFill>
        <p:spPr>
          <a:xfrm>
            <a:off x="676656" y="2660904"/>
            <a:ext cx="219456" cy="219456"/>
          </a:xfrm>
          <a:prstGeom prst="rect">
            <a:avLst/>
          </a:prstGeom>
        </p:spPr>
      </p:pic>
      <p:sp>
        <p:nvSpPr>
          <p:cNvPr id="17" name="Text 11"/>
          <p:cNvSpPr txBox="1"/>
          <p:nvPr/>
        </p:nvSpPr>
        <p:spPr>
          <a:xfrm>
            <a:off x="1143000" y="2459736"/>
            <a:ext cx="3108960" cy="621792"/>
          </a:xfrm>
          <a:prstGeom prst="rect">
            <a:avLst/>
          </a:prstGeom>
          <a:noFill/>
          <a:ln/>
        </p:spPr>
        <p:txBody>
          <a:bodyPr wrap="square" lIns="0" tIns="0" rIns="0" bIns="0" rtlCol="0" anchor="ctr"/>
          <a:lstStyle/>
          <a:p>
            <a:pPr indent="0" marL="0">
              <a:buNone/>
            </a:pPr>
            <a:r>
              <a:rPr lang="en-US" sz="1400" b="1" dirty="0">
                <a:solidFill>
                  <a:schemeClr val="tx1"/>
                </a:solidFill>
              </a:rPr>
              <a:t>API</a:t>
            </a:r>
            <a:endParaRPr lang="en-US" sz="1400" dirty="0"/>
          </a:p>
        </p:txBody>
      </p:sp>
      <p:sp>
        <p:nvSpPr>
          <p:cNvPr id="18" name="Text 12"/>
          <p:cNvSpPr txBox="1"/>
          <p:nvPr/>
        </p:nvSpPr>
        <p:spPr>
          <a:xfrm>
            <a:off x="4297680" y="2459736"/>
            <a:ext cx="4297680" cy="621792"/>
          </a:xfrm>
          <a:prstGeom prst="rect">
            <a:avLst/>
          </a:prstGeom>
          <a:noFill/>
          <a:ln/>
        </p:spPr>
        <p:txBody>
          <a:bodyPr wrap="square" lIns="0" tIns="0" rIns="0" bIns="0" rtlCol="0" anchor="ctr"/>
          <a:lstStyle/>
          <a:p>
            <a:pPr indent="0" marL="0">
              <a:buNone/>
            </a:pPr>
            <a:r>
              <a:rPr lang="en-US" sz="1300" dirty="0">
                <a:solidFill>
                  <a:schemeClr val="tx2"/>
                </a:solidFill>
              </a:rPr>
              <a:t>Un software chiama il modello in modo automatico</a:t>
            </a:r>
            <a:endParaRPr lang="en-US" sz="1300" dirty="0"/>
          </a:p>
        </p:txBody>
      </p:sp>
      <p:sp>
        <p:nvSpPr>
          <p:cNvPr id="19" name="Piattaforme cloud gestite"/>
          <p:cNvSpPr/>
          <p:nvPr/>
        </p:nvSpPr>
        <p:spPr>
          <a:xfrm>
            <a:off x="457200" y="3163824"/>
            <a:ext cx="8229600" cy="621792"/>
          </a:xfrm>
          <a:prstGeom prst="roundRect">
            <a:avLst>
              <a:gd name="adj" fmla="val 11765"/>
            </a:avLst>
          </a:prstGeom>
          <a:solidFill>
            <a:schemeClr val="bg1"/>
          </a:solidFill>
          <a:ln/>
        </p:spPr>
      </p:sp>
      <p:sp>
        <p:nvSpPr>
          <p:cNvPr id="20" name="cerchio FiCloud"/>
          <p:cNvSpPr/>
          <p:nvPr/>
        </p:nvSpPr>
        <p:spPr>
          <a:xfrm>
            <a:off x="566928" y="3255264"/>
            <a:ext cx="438912" cy="438912"/>
          </a:xfrm>
          <a:prstGeom prst="ellipse">
            <a:avLst/>
          </a:prstGeom>
          <a:solidFill>
            <a:schemeClr val="accent1"/>
          </a:solidFill>
          <a:ln/>
        </p:spPr>
      </p:sp>
      <p:pic>
        <p:nvPicPr>
          <p:cNvPr id="21" name="Image 3" descr="FiCloud">    </p:cNvPr>
          <p:cNvPicPr>
            <a:picLocks noChangeAspect="1"/>
          </p:cNvPicPr>
          <p:nvPr/>
        </p:nvPicPr>
        <p:blipFill>
          <a:blip r:embed="rId4"/>
          <a:stretch>
            <a:fillRect/>
          </a:stretch>
        </p:blipFill>
        <p:spPr>
          <a:xfrm>
            <a:off x="676656" y="3364992"/>
            <a:ext cx="219456" cy="219456"/>
          </a:xfrm>
          <a:prstGeom prst="rect">
            <a:avLst/>
          </a:prstGeom>
        </p:spPr>
      </p:pic>
      <p:sp>
        <p:nvSpPr>
          <p:cNvPr id="22" name="Text 15"/>
          <p:cNvSpPr txBox="1"/>
          <p:nvPr/>
        </p:nvSpPr>
        <p:spPr>
          <a:xfrm>
            <a:off x="1143000" y="3163824"/>
            <a:ext cx="3108960" cy="621792"/>
          </a:xfrm>
          <a:prstGeom prst="rect">
            <a:avLst/>
          </a:prstGeom>
          <a:noFill/>
          <a:ln/>
        </p:spPr>
        <p:txBody>
          <a:bodyPr wrap="square" lIns="0" tIns="0" rIns="0" bIns="0" rtlCol="0" anchor="ctr"/>
          <a:lstStyle/>
          <a:p>
            <a:pPr indent="0" marL="0">
              <a:buNone/>
            </a:pPr>
            <a:r>
              <a:rPr lang="en-US" sz="1400" b="1" dirty="0">
                <a:solidFill>
                  <a:schemeClr val="tx1"/>
                </a:solidFill>
              </a:rPr>
              <a:t>Piattaforme cloud gestite</a:t>
            </a:r>
            <a:endParaRPr lang="en-US" sz="1400" dirty="0"/>
          </a:p>
        </p:txBody>
      </p:sp>
      <p:sp>
        <p:nvSpPr>
          <p:cNvPr id="23" name="Text 16"/>
          <p:cNvSpPr txBox="1"/>
          <p:nvPr/>
        </p:nvSpPr>
        <p:spPr>
          <a:xfrm>
            <a:off x="4297680" y="3163824"/>
            <a:ext cx="4297680" cy="621792"/>
          </a:xfrm>
          <a:prstGeom prst="rect">
            <a:avLst/>
          </a:prstGeom>
          <a:noFill/>
          <a:ln/>
        </p:spPr>
        <p:txBody>
          <a:bodyPr wrap="square" lIns="0" tIns="0" rIns="0" bIns="0" rtlCol="0" anchor="ctr"/>
          <a:lstStyle/>
          <a:p>
            <a:pPr indent="0" marL="0">
              <a:buNone/>
            </a:pPr>
            <a:r>
              <a:rPr lang="en-US" sz="1300" dirty="0">
                <a:solidFill>
                  <a:schemeClr val="tx2"/>
                </a:solidFill>
              </a:rPr>
              <a:t>Più modelli e strumenti per costruire e controllare</a:t>
            </a:r>
            <a:endParaRPr lang="en-US" sz="1300" dirty="0"/>
          </a:p>
        </p:txBody>
      </p:sp>
      <p:sp>
        <p:nvSpPr>
          <p:cNvPr id="24" name="Esecuzione locale o dedicata"/>
          <p:cNvSpPr/>
          <p:nvPr/>
        </p:nvSpPr>
        <p:spPr>
          <a:xfrm>
            <a:off x="457200" y="3867912"/>
            <a:ext cx="8229600" cy="621792"/>
          </a:xfrm>
          <a:prstGeom prst="roundRect">
            <a:avLst>
              <a:gd name="adj" fmla="val 11765"/>
            </a:avLst>
          </a:prstGeom>
          <a:solidFill>
            <a:schemeClr val="bg2"/>
          </a:solidFill>
          <a:ln/>
        </p:spPr>
      </p:sp>
      <p:sp>
        <p:nvSpPr>
          <p:cNvPr id="25" name="cerchio FiHardDrive"/>
          <p:cNvSpPr/>
          <p:nvPr/>
        </p:nvSpPr>
        <p:spPr>
          <a:xfrm>
            <a:off x="566928" y="3959352"/>
            <a:ext cx="438912" cy="438912"/>
          </a:xfrm>
          <a:prstGeom prst="ellipse">
            <a:avLst/>
          </a:prstGeom>
          <a:solidFill>
            <a:schemeClr val="accent1"/>
          </a:solidFill>
          <a:ln/>
        </p:spPr>
      </p:sp>
      <p:pic>
        <p:nvPicPr>
          <p:cNvPr id="26" name="Image 4" descr="FiHardDrive">    </p:cNvPr>
          <p:cNvPicPr>
            <a:picLocks noChangeAspect="1"/>
          </p:cNvPicPr>
          <p:nvPr/>
        </p:nvPicPr>
        <p:blipFill>
          <a:blip r:embed="rId5"/>
          <a:stretch>
            <a:fillRect/>
          </a:stretch>
        </p:blipFill>
        <p:spPr>
          <a:xfrm>
            <a:off x="676656" y="4069080"/>
            <a:ext cx="219456" cy="219456"/>
          </a:xfrm>
          <a:prstGeom prst="rect">
            <a:avLst/>
          </a:prstGeom>
        </p:spPr>
      </p:pic>
      <p:sp>
        <p:nvSpPr>
          <p:cNvPr id="27" name="Text 19"/>
          <p:cNvSpPr txBox="1"/>
          <p:nvPr/>
        </p:nvSpPr>
        <p:spPr>
          <a:xfrm>
            <a:off x="1143000" y="3867912"/>
            <a:ext cx="3108960" cy="621792"/>
          </a:xfrm>
          <a:prstGeom prst="rect">
            <a:avLst/>
          </a:prstGeom>
          <a:noFill/>
          <a:ln/>
        </p:spPr>
        <p:txBody>
          <a:bodyPr wrap="square" lIns="0" tIns="0" rIns="0" bIns="0" rtlCol="0" anchor="ctr"/>
          <a:lstStyle/>
          <a:p>
            <a:pPr indent="0" marL="0">
              <a:buNone/>
            </a:pPr>
            <a:r>
              <a:rPr lang="en-US" sz="1400" b="1" dirty="0">
                <a:solidFill>
                  <a:schemeClr val="tx1"/>
                </a:solidFill>
              </a:rPr>
              <a:t>Esecuzione locale o dedicata</a:t>
            </a:r>
            <a:endParaRPr lang="en-US" sz="1400" dirty="0"/>
          </a:p>
        </p:txBody>
      </p:sp>
      <p:sp>
        <p:nvSpPr>
          <p:cNvPr id="28" name="Text 20"/>
          <p:cNvSpPr txBox="1"/>
          <p:nvPr/>
        </p:nvSpPr>
        <p:spPr>
          <a:xfrm>
            <a:off x="4297680" y="3867912"/>
            <a:ext cx="4297680" cy="621792"/>
          </a:xfrm>
          <a:prstGeom prst="rect">
            <a:avLst/>
          </a:prstGeom>
          <a:noFill/>
          <a:ln/>
        </p:spPr>
        <p:txBody>
          <a:bodyPr wrap="square" lIns="0" tIns="0" rIns="0" bIns="0" rtlCol="0" anchor="ctr"/>
          <a:lstStyle/>
          <a:p>
            <a:pPr indent="0" marL="0">
              <a:buNone/>
            </a:pPr>
            <a:r>
              <a:rPr lang="en-US" sz="1300" dirty="0">
                <a:solidFill>
                  <a:schemeClr val="tx2"/>
                </a:solidFill>
              </a:rPr>
              <a:t>Il modello gira su infrastruttura dell'azienda</a:t>
            </a:r>
            <a:endParaRPr lang="en-US" sz="1300" dirty="0"/>
          </a:p>
        </p:txBody>
      </p:sp>
      <p:sp>
        <p:nvSpPr>
          <p:cNvPr id="29" name="Text 21"/>
          <p:cNvSpPr txBox="1"/>
          <p:nvPr/>
        </p:nvSpPr>
        <p:spPr>
          <a:xfrm>
            <a:off x="457200" y="4572000"/>
            <a:ext cx="8229600" cy="182880"/>
          </a:xfrm>
          <a:prstGeom prst="rect">
            <a:avLst/>
          </a:prstGeom>
          <a:noFill/>
          <a:ln/>
        </p:spPr>
        <p:txBody>
          <a:bodyPr wrap="square" lIns="0" tIns="0" rIns="0" bIns="0" rtlCol="0" anchor="t"/>
          <a:lstStyle/>
          <a:p>
            <a:pPr indent="0" marL="0">
              <a:buNone/>
            </a:pPr>
            <a:r>
              <a:rPr lang="en-US" sz="1100" i="1" dirty="0">
                <a:solidFill>
                  <a:schemeClr val="accent2"/>
                </a:solidFill>
              </a:rPr>
              <a:t>Dalle più vicine all'utente alle più tecniche. Non si escludono a vicenda.</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Applicazioni e API: due modi di usare lo stesso modello</a:t>
            </a:r>
            <a:endParaRPr lang="en-US" sz="2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2103120"/>
                <a:gridCol w="3063240"/>
                <a:gridCol w="3063240"/>
              </a:tblGrid>
              <a:tr h="530352">
                <a:tc>
                  <a:txBody>
                    <a:bodyPr/>
                    <a:lstStyle/>
                    <a:p>
                      <a:pPr indent="0" marL="0">
                        <a:buNone/>
                      </a:pP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b="1" dirty="0">
                          <a:solidFill>
                            <a:schemeClr val="bg1"/>
                          </a:solidFill>
                        </a:rPr>
                        <a:t>Applicazione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API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r>
              <a:tr h="530352">
                <a:tc>
                  <a:txBody>
                    <a:bodyPr/>
                    <a:lstStyle/>
                    <a:p>
                      <a:pPr indent="0" marL="0">
                        <a:buNone/>
                      </a:pPr>
                      <a:r>
                        <a:rPr lang="en-US" sz="1300" b="1" dirty="0">
                          <a:solidFill>
                            <a:schemeClr val="tx1"/>
                          </a:solidFill>
                        </a:rPr>
                        <a:t>Chi interagisce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Una persona, tramite interfaccia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Un software, in modo automatico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30352">
                <a:tc>
                  <a:txBody>
                    <a:bodyPr/>
                    <a:lstStyle/>
                    <a:p>
                      <a:pPr indent="0" marL="0">
                        <a:buNone/>
                      </a:pPr>
                      <a:r>
                        <a:rPr lang="en-US" sz="1300" b="1" dirty="0">
                          <a:solidFill>
                            <a:schemeClr val="tx1"/>
                          </a:solidFill>
                        </a:rPr>
                        <a:t>Funzionalità incluse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Quelle dell'app (ricerca, memoria, progetti...)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Solo il modello: il resto va costruito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30352">
                <a:tc>
                  <a:txBody>
                    <a:bodyPr/>
                    <a:lstStyle/>
                    <a:p>
                      <a:pPr indent="0" marL="0">
                        <a:buNone/>
                      </a:pPr>
                      <a:r>
                        <a:rPr lang="en-US" sz="1300" b="1" dirty="0">
                          <a:solidFill>
                            <a:schemeClr val="tx1"/>
                          </a:solidFill>
                        </a:rPr>
                        <a:t>Modello di costo tipico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Abbonamento per utente, con limiti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A consumo, in base ai token elaborati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30352">
                <a:tc>
                  <a:txBody>
                    <a:bodyPr/>
                    <a:lstStyle/>
                    <a:p>
                      <a:pPr indent="0" marL="0">
                        <a:buNone/>
                      </a:pPr>
                      <a:r>
                        <a:rPr lang="en-US" sz="1300" b="1" dirty="0">
                          <a:solidFill>
                            <a:schemeClr val="tx1"/>
                          </a:solidFill>
                        </a:rPr>
                        <a:t>Uso tipico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Lavoro individuale e di gruppo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Integrazione in processi e prodotti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30352">
                <a:tc>
                  <a:txBody>
                    <a:bodyPr/>
                    <a:lstStyle/>
                    <a:p>
                      <a:pPr indent="0" marL="0">
                        <a:buNone/>
                      </a:pPr>
                      <a:r>
                        <a:rPr lang="en-US" sz="1300" b="1" dirty="0">
                          <a:solidFill>
                            <a:schemeClr val="tx1"/>
                          </a:solidFill>
                        </a:rPr>
                        <a:t>Condizioni sui dati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Secondo il piano dell'app</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Secondo le condizioni dell'API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bl>
          </a:graphicData>
        </a:graphic>
      </p:graphicFrame>
      <p:sp>
        <p:nvSpPr>
          <p:cNvPr id="5" name="Text 1"/>
          <p:cNvSpPr txBox="1"/>
          <p:nvPr/>
        </p:nvSpPr>
        <p:spPr>
          <a:xfrm>
            <a:off x="457200" y="4343400"/>
            <a:ext cx="8229600" cy="274320"/>
          </a:xfrm>
          <a:prstGeom prst="rect">
            <a:avLst/>
          </a:prstGeom>
          <a:noFill/>
          <a:ln/>
        </p:spPr>
        <p:txBody>
          <a:bodyPr wrap="square" lIns="0" tIns="0" rIns="0" bIns="0" rtlCol="0" anchor="t"/>
          <a:lstStyle/>
          <a:p>
            <a:pPr indent="0" marL="0">
              <a:buNone/>
            </a:pPr>
            <a:r>
              <a:rPr lang="en-US" sz="1200" i="1" dirty="0">
                <a:solidFill>
                  <a:schemeClr val="tx1"/>
                </a:solidFill>
              </a:rPr>
              <a:t>Le condizioni sui dati possono differire tra i canali dello stesso fornitore.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Cloud ed esecuzione locale</a:t>
            </a:r>
            <a:endParaRPr lang="en-US" sz="2600" dirty="0"/>
          </a:p>
        </p:txBody>
      </p:sp>
      <p:sp>
        <p:nvSpPr>
          <p:cNvPr id="4" name="scheda Cloud"/>
          <p:cNvSpPr/>
          <p:nvPr/>
        </p:nvSpPr>
        <p:spPr>
          <a:xfrm>
            <a:off x="457200" y="1097280"/>
            <a:ext cx="3977640" cy="3429000"/>
          </a:xfrm>
          <a:prstGeom prst="roundRect">
            <a:avLst>
              <a:gd name="adj" fmla="val 2133"/>
            </a:avLst>
          </a:prstGeom>
          <a:solidFill>
            <a:schemeClr val="bg2"/>
          </a:solidFill>
          <a:ln/>
        </p:spPr>
      </p:sp>
      <p:sp>
        <p:nvSpPr>
          <p:cNvPr id="5" name="cerchio FiCloud"/>
          <p:cNvSpPr/>
          <p:nvPr/>
        </p:nvSpPr>
        <p:spPr>
          <a:xfrm>
            <a:off x="640080" y="1280160"/>
            <a:ext cx="457200" cy="457200"/>
          </a:xfrm>
          <a:prstGeom prst="ellipse">
            <a:avLst/>
          </a:prstGeom>
          <a:solidFill>
            <a:schemeClr val="accent1"/>
          </a:solidFill>
          <a:ln/>
        </p:spPr>
      </p:sp>
      <p:pic>
        <p:nvPicPr>
          <p:cNvPr id="6" name="Image 0" descr="FiCloud">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Cloud</a:t>
            </a:r>
            <a:endParaRPr lang="en-US" sz="1600" dirty="0"/>
          </a:p>
        </p:txBody>
      </p:sp>
      <p:sp>
        <p:nvSpPr>
          <p:cNvPr id="8" name="Text 4"/>
          <p:cNvSpPr txBox="1"/>
          <p:nvPr/>
        </p:nvSpPr>
        <p:spPr>
          <a:xfrm>
            <a:off x="640080" y="2231136"/>
            <a:ext cx="3611880" cy="2185416"/>
          </a:xfrm>
          <a:prstGeom prst="rect">
            <a:avLst/>
          </a:prstGeom>
          <a:noFill/>
          <a:ln/>
        </p:spPr>
        <p:txBody>
          <a:bodyPr wrap="square" lIns="0" tIns="0" rIns="0" bIns="0" rtlCol="0" anchor="t"/>
          <a:lstStyle/>
          <a:p>
            <a:pPr indent="0" marL="0">
              <a:spcAft>
                <a:spcPts val="600"/>
              </a:spcAft>
              <a:buNone/>
            </a:pPr>
            <a:r>
              <a:rPr lang="en-US" sz="1200" b="1" dirty="0">
                <a:solidFill>
                  <a:schemeClr val="tx1"/>
                </a:solidFill>
              </a:rPr>
              <a:t>Il modello gira sui server del fornitore</a:t>
            </a:r>
            <a:endParaRPr lang="en-US" sz="1200" dirty="0"/>
          </a:p>
          <a:p>
            <a:pPr indent="0" marL="0">
              <a:buNone/>
            </a:pPr>
            <a:r>
              <a:rPr lang="en-US" sz="1200" b="1" dirty="0">
                <a:solidFill>
                  <a:schemeClr val="accent1"/>
                </a:solidFill>
              </a:rPr>
              <a:t>Vantaggi: </a:t>
            </a:r>
            <a:pPr indent="0" marL="0">
              <a:spcAft>
                <a:spcPts val="600"/>
              </a:spcAft>
              <a:buNone/>
            </a:pPr>
            <a:r>
              <a:rPr lang="en-US" sz="1200" dirty="0">
                <a:solidFill>
                  <a:schemeClr val="tx2"/>
                </a:solidFill>
              </a:rPr>
              <a:t>modelli più potenti, niente infrastruttura, aggiornamenti</a:t>
            </a:r>
            <a:endParaRPr lang="en-US" sz="1200" dirty="0"/>
          </a:p>
          <a:p>
            <a:pPr indent="0" marL="0">
              <a:buNone/>
            </a:pPr>
            <a:r>
              <a:rPr lang="en-US" sz="1200" b="1" dirty="0">
                <a:solidFill>
                  <a:schemeClr val="accent5"/>
                </a:solidFill>
              </a:rPr>
              <a:t>Da valutare: </a:t>
            </a:r>
            <a:pPr indent="0" marL="0">
              <a:buNone/>
            </a:pPr>
            <a:r>
              <a:rPr lang="en-US" sz="1200" dirty="0">
                <a:solidFill>
                  <a:schemeClr val="tx2"/>
                </a:solidFill>
              </a:rPr>
              <a:t>regione dei server, garanzie sui dati, dipendenza dalla connessione. Spesso si può scegliere l'UE.</a:t>
            </a:r>
            <a:endParaRPr lang="en-US" sz="1200" dirty="0"/>
          </a:p>
        </p:txBody>
      </p:sp>
      <p:sp>
        <p:nvSpPr>
          <p:cNvPr id="9" name="scheda Esecuzione locale"/>
          <p:cNvSpPr/>
          <p:nvPr/>
        </p:nvSpPr>
        <p:spPr>
          <a:xfrm>
            <a:off x="4709160" y="1097280"/>
            <a:ext cx="3977640" cy="3429000"/>
          </a:xfrm>
          <a:prstGeom prst="roundRect">
            <a:avLst>
              <a:gd name="adj" fmla="val 2133"/>
            </a:avLst>
          </a:prstGeom>
          <a:solidFill>
            <a:schemeClr val="accent6"/>
          </a:solidFill>
          <a:ln/>
        </p:spPr>
      </p:sp>
      <p:sp>
        <p:nvSpPr>
          <p:cNvPr id="10" name="cerchio FiHardDrive"/>
          <p:cNvSpPr/>
          <p:nvPr/>
        </p:nvSpPr>
        <p:spPr>
          <a:xfrm>
            <a:off x="4892040" y="1280160"/>
            <a:ext cx="457200" cy="457200"/>
          </a:xfrm>
          <a:prstGeom prst="ellipse">
            <a:avLst/>
          </a:prstGeom>
          <a:solidFill>
            <a:schemeClr val="accent1"/>
          </a:solidFill>
          <a:ln/>
        </p:spPr>
      </p:sp>
      <p:pic>
        <p:nvPicPr>
          <p:cNvPr id="11" name="Image 1" descr="FiHardDrive">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Esecuzione locale</a:t>
            </a:r>
            <a:endParaRPr lang="en-US" sz="1600" dirty="0"/>
          </a:p>
        </p:txBody>
      </p:sp>
      <p:sp>
        <p:nvSpPr>
          <p:cNvPr id="13" name="Text 8"/>
          <p:cNvSpPr txBox="1"/>
          <p:nvPr/>
        </p:nvSpPr>
        <p:spPr>
          <a:xfrm>
            <a:off x="4892040" y="2231136"/>
            <a:ext cx="3611880" cy="2185416"/>
          </a:xfrm>
          <a:prstGeom prst="rect">
            <a:avLst/>
          </a:prstGeom>
          <a:noFill/>
          <a:ln/>
        </p:spPr>
        <p:txBody>
          <a:bodyPr wrap="square" lIns="0" tIns="0" rIns="0" bIns="0" rtlCol="0" anchor="t"/>
          <a:lstStyle/>
          <a:p>
            <a:pPr indent="0" marL="0">
              <a:spcAft>
                <a:spcPts val="600"/>
              </a:spcAft>
              <a:buNone/>
            </a:pPr>
            <a:r>
              <a:rPr lang="en-US" sz="1200" b="1" dirty="0">
                <a:solidFill>
                  <a:schemeClr val="tx1"/>
                </a:solidFill>
              </a:rPr>
              <a:t>Il modello gira su infrastruttura dell'azienda</a:t>
            </a:r>
            <a:endParaRPr lang="en-US" sz="1200" dirty="0"/>
          </a:p>
          <a:p>
            <a:pPr indent="0" marL="0">
              <a:buNone/>
            </a:pPr>
            <a:r>
              <a:rPr lang="en-US" sz="1200" b="1" dirty="0">
                <a:solidFill>
                  <a:schemeClr val="accent1"/>
                </a:solidFill>
              </a:rPr>
              <a:t>Vantaggi: </a:t>
            </a:r>
            <a:pPr indent="0" marL="0">
              <a:spcAft>
                <a:spcPts val="600"/>
              </a:spcAft>
              <a:buNone/>
            </a:pPr>
            <a:r>
              <a:rPr lang="en-US" sz="1200" dirty="0">
                <a:solidFill>
                  <a:schemeClr val="tx2"/>
                </a:solidFill>
              </a:rPr>
              <a:t>controllo massimo, funziona senza internet, i dati restano in azienda</a:t>
            </a:r>
            <a:endParaRPr lang="en-US" sz="1200" dirty="0"/>
          </a:p>
          <a:p>
            <a:pPr indent="0" marL="0">
              <a:buNone/>
            </a:pPr>
            <a:r>
              <a:rPr lang="en-US" sz="1200" b="1" dirty="0">
                <a:solidFill>
                  <a:schemeClr val="accent5"/>
                </a:solidFill>
              </a:rPr>
              <a:t>Da valutare: </a:t>
            </a:r>
            <a:pPr indent="0" marL="0">
              <a:buNone/>
            </a:pPr>
            <a:r>
              <a:rPr lang="en-US" sz="1200" dirty="0">
                <a:solidFill>
                  <a:schemeClr val="tx2"/>
                </a:solidFill>
              </a:rPr>
              <a:t>modelli open-weight in genere meno capaci, hardware, competenze, sicurezza a carico dell'azienda.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Soluzioni individuali, team ed enterprise</a:t>
            </a:r>
            <a:endParaRPr lang="en-US" sz="2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645920"/>
                <a:gridCol w="2011680"/>
                <a:gridCol w="2103120"/>
                <a:gridCol w="2468880"/>
              </a:tblGrid>
              <a:tr h="566928">
                <a:tc>
                  <a:txBody>
                    <a:bodyPr/>
                    <a:lstStyle/>
                    <a:p>
                      <a:pPr indent="0" marL="0">
                        <a:buNone/>
                      </a:pP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b="1" dirty="0">
                          <a:solidFill>
                            <a:schemeClr val="bg1"/>
                          </a:solidFill>
                        </a:rPr>
                        <a:t>Individuale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Team</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Enterprise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r>
              <a:tr h="566928">
                <a:tc>
                  <a:txBody>
                    <a:bodyPr/>
                    <a:lstStyle/>
                    <a:p>
                      <a:pPr indent="0" marL="0">
                        <a:buNone/>
                      </a:pPr>
                      <a:r>
                        <a:rPr lang="en-US" sz="1200" b="1" dirty="0">
                          <a:solidFill>
                            <a:schemeClr val="tx1"/>
                          </a:solidFill>
                        </a:rPr>
                        <a:t>Gestione utenti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Ciascuno il proprio account</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Amministratore, fatturazione unica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Credenziali aziendali, autorizzazioni centralizzate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66928">
                <a:tc>
                  <a:txBody>
                    <a:bodyPr/>
                    <a:lstStyle/>
                    <a:p>
                      <a:pPr indent="0" marL="0">
                        <a:buNone/>
                      </a:pPr>
                      <a:r>
                        <a:rPr lang="en-US" sz="1200" b="1" dirty="0">
                          <a:solidFill>
                            <a:schemeClr val="tx1"/>
                          </a:solidFill>
                        </a:rPr>
                        <a:t>Controlli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Nessuno per l'azienda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Di base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Avanzati: registri, funzioni attivabili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66928">
                <a:tc>
                  <a:txBody>
                    <a:bodyPr/>
                    <a:lstStyle/>
                    <a:p>
                      <a:pPr indent="0" marL="0">
                        <a:buNone/>
                      </a:pPr>
                      <a:r>
                        <a:rPr lang="en-US" sz="1200" b="1" dirty="0">
                          <a:solidFill>
                            <a:schemeClr val="tx1"/>
                          </a:solidFill>
                        </a:rPr>
                        <a:t>Dati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Condizioni per consumatori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Garanzie in genere migliori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Impegni contrattuali, talvolta regione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66928">
                <a:tc>
                  <a:txBody>
                    <a:bodyPr/>
                    <a:lstStyle/>
                    <a:p>
                      <a:pPr indent="0" marL="0">
                        <a:buNone/>
                      </a:pPr>
                      <a:r>
                        <a:rPr lang="en-US" sz="1200" b="1" dirty="0">
                          <a:solidFill>
                            <a:schemeClr val="tx1"/>
                          </a:solidFill>
                        </a:rPr>
                        <a:t>Collaborazione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Personale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Spazi condivisi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Spazi condivisi e governati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bl>
          </a:graphicData>
        </a:graphic>
      </p:graphicFrame>
      <p:sp>
        <p:nvSpPr>
          <p:cNvPr id="5" name="messaggio"/>
          <p:cNvSpPr/>
          <p:nvPr/>
        </p:nvSpPr>
        <p:spPr>
          <a:xfrm>
            <a:off x="457200" y="3977640"/>
            <a:ext cx="8229600" cy="548640"/>
          </a:xfrm>
          <a:prstGeom prst="roundRect">
            <a:avLst>
              <a:gd name="adj" fmla="val 13333"/>
            </a:avLst>
          </a:prstGeom>
          <a:solidFill>
            <a:schemeClr val="tx1"/>
          </a:solidFill>
          <a:ln/>
        </p:spPr>
      </p:sp>
      <p:sp>
        <p:nvSpPr>
          <p:cNvPr id="6" name="Text 2"/>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300" dirty="0">
                <a:solidFill>
                  <a:schemeClr val="bg1"/>
                </a:solidFill>
              </a:rPr>
              <a:t>Account personale gratuito e versione aziendale non sono equivalenti, anche con la stessa interfaccia.</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Capacità analoghe possono essere rese disponibili attraverso modalità differenti, con implicazioni tecniche, economiche e organizzative diverse.</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4.6  ·  Modalità di accesso e utilizzo dell'AI</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4.7</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Criteri per confrontare e scegliere</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Lo strumento più noto o il modello più potente non è necessariamente la scelta migliore per l'azienda</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Undici criteri</a:t>
            </a:r>
            <a:endParaRPr lang="en-US" sz="2600" dirty="0"/>
          </a:p>
        </p:txBody>
      </p:sp>
      <p:sp>
        <p:nvSpPr>
          <p:cNvPr id="4" name="Adeguatezza"/>
          <p:cNvSpPr/>
          <p:nvPr/>
        </p:nvSpPr>
        <p:spPr>
          <a:xfrm>
            <a:off x="457200" y="1097280"/>
            <a:ext cx="1965960" cy="2697480"/>
          </a:xfrm>
          <a:prstGeom prst="roundRect">
            <a:avLst>
              <a:gd name="adj" fmla="val 3721"/>
            </a:avLst>
          </a:prstGeom>
          <a:solidFill>
            <a:schemeClr val="accent6"/>
          </a:solidFill>
          <a:ln/>
        </p:spPr>
      </p:sp>
      <p:sp>
        <p:nvSpPr>
          <p:cNvPr id="5" name="Text 2"/>
          <p:cNvSpPr txBox="1"/>
          <p:nvPr/>
        </p:nvSpPr>
        <p:spPr>
          <a:xfrm>
            <a:off x="594360" y="1188720"/>
            <a:ext cx="1691640" cy="548640"/>
          </a:xfrm>
          <a:prstGeom prst="rect">
            <a:avLst/>
          </a:prstGeom>
          <a:noFill/>
          <a:ln/>
        </p:spPr>
        <p:txBody>
          <a:bodyPr wrap="square" lIns="0" tIns="0" rIns="0" bIns="0" rtlCol="0" anchor="t"/>
          <a:lstStyle/>
          <a:p>
            <a:pPr indent="0" marL="0">
              <a:buNone/>
            </a:pPr>
            <a:r>
              <a:rPr lang="en-US" sz="1400" b="1" dirty="0">
                <a:solidFill>
                  <a:schemeClr val="accent1"/>
                </a:solidFill>
              </a:rPr>
              <a:t>Adeguatezza</a:t>
            </a:r>
            <a:endParaRPr lang="en-US" sz="1400" dirty="0"/>
          </a:p>
        </p:txBody>
      </p:sp>
      <p:sp>
        <p:nvSpPr>
          <p:cNvPr id="6" name="Text 3"/>
          <p:cNvSpPr txBox="1"/>
          <p:nvPr/>
        </p:nvSpPr>
        <p:spPr>
          <a:xfrm>
            <a:off x="594360" y="1783080"/>
            <a:ext cx="1737360" cy="1920240"/>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1"/>
                </a:solidFill>
              </a:rPr>
              <a:t>Attività e obiettivi</a:t>
            </a:r>
            <a:endParaRPr lang="en-US" sz="1200" dirty="0"/>
          </a:p>
          <a:p>
            <a:pPr marL="177800" indent="-177800">
              <a:spcAft>
                <a:spcPts val="400"/>
              </a:spcAft>
              <a:buSzPct val="100000"/>
              <a:buChar char="•"/>
            </a:pPr>
            <a:r>
              <a:rPr lang="en-US" sz="1200" dirty="0">
                <a:solidFill>
                  <a:schemeClr val="tx1"/>
                </a:solidFill>
              </a:rPr>
              <a:t>Qualità e affidabilità</a:t>
            </a:r>
            <a:endParaRPr lang="en-US" sz="1200" dirty="0"/>
          </a:p>
          <a:p>
            <a:pPr marL="177800" indent="-177800">
              <a:spcAft>
                <a:spcPts val="400"/>
              </a:spcAft>
              <a:buSzPct val="100000"/>
              <a:buChar char="•"/>
            </a:pPr>
            <a:r>
              <a:rPr lang="en-US" sz="1200" dirty="0">
                <a:solidFill>
                  <a:schemeClr val="tx1"/>
                </a:solidFill>
              </a:rPr>
              <a:t>Facilità d'uso e accessibilità</a:t>
            </a:r>
            <a:endParaRPr lang="en-US" sz="1200" dirty="0"/>
          </a:p>
        </p:txBody>
      </p:sp>
      <p:sp>
        <p:nvSpPr>
          <p:cNvPr id="7" name="Funzionalità e integrazione"/>
          <p:cNvSpPr/>
          <p:nvPr/>
        </p:nvSpPr>
        <p:spPr>
          <a:xfrm>
            <a:off x="2560320" y="1097280"/>
            <a:ext cx="1965960" cy="2697480"/>
          </a:xfrm>
          <a:prstGeom prst="roundRect">
            <a:avLst>
              <a:gd name="adj" fmla="val 3721"/>
            </a:avLst>
          </a:prstGeom>
          <a:solidFill>
            <a:schemeClr val="bg2"/>
          </a:solidFill>
          <a:ln/>
        </p:spPr>
      </p:sp>
      <p:sp>
        <p:nvSpPr>
          <p:cNvPr id="8" name="Text 5"/>
          <p:cNvSpPr txBox="1"/>
          <p:nvPr/>
        </p:nvSpPr>
        <p:spPr>
          <a:xfrm>
            <a:off x="2697480" y="1188720"/>
            <a:ext cx="1691640" cy="548640"/>
          </a:xfrm>
          <a:prstGeom prst="rect">
            <a:avLst/>
          </a:prstGeom>
          <a:noFill/>
          <a:ln/>
        </p:spPr>
        <p:txBody>
          <a:bodyPr wrap="square" lIns="0" tIns="0" rIns="0" bIns="0" rtlCol="0" anchor="t"/>
          <a:lstStyle/>
          <a:p>
            <a:pPr indent="0" marL="0">
              <a:buNone/>
            </a:pPr>
            <a:r>
              <a:rPr lang="en-US" sz="1400" b="1" dirty="0">
                <a:solidFill>
                  <a:schemeClr val="accent1"/>
                </a:solidFill>
              </a:rPr>
              <a:t>Funzionalità e integrazione</a:t>
            </a:r>
            <a:endParaRPr lang="en-US" sz="1400" dirty="0"/>
          </a:p>
        </p:txBody>
      </p:sp>
      <p:sp>
        <p:nvSpPr>
          <p:cNvPr id="9" name="Text 6"/>
          <p:cNvSpPr txBox="1"/>
          <p:nvPr/>
        </p:nvSpPr>
        <p:spPr>
          <a:xfrm>
            <a:off x="2697480" y="1783080"/>
            <a:ext cx="1737360" cy="1920240"/>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1"/>
                </a:solidFill>
              </a:rPr>
              <a:t>Funzionalità disponibili</a:t>
            </a:r>
            <a:endParaRPr lang="en-US" sz="1200" dirty="0"/>
          </a:p>
          <a:p>
            <a:pPr marL="177800" indent="-177800">
              <a:spcAft>
                <a:spcPts val="400"/>
              </a:spcAft>
              <a:buSzPct val="100000"/>
              <a:buChar char="•"/>
            </a:pPr>
            <a:r>
              <a:rPr lang="en-US" sz="1200" dirty="0">
                <a:solidFill>
                  <a:schemeClr val="tx1"/>
                </a:solidFill>
              </a:rPr>
              <a:t>Possibilità di integrazione</a:t>
            </a:r>
            <a:endParaRPr lang="en-US" sz="1200" dirty="0"/>
          </a:p>
        </p:txBody>
      </p:sp>
      <p:sp>
        <p:nvSpPr>
          <p:cNvPr id="10" name="Costi e condizioni"/>
          <p:cNvSpPr/>
          <p:nvPr/>
        </p:nvSpPr>
        <p:spPr>
          <a:xfrm>
            <a:off x="4663440" y="1097280"/>
            <a:ext cx="1965960" cy="2697480"/>
          </a:xfrm>
          <a:prstGeom prst="roundRect">
            <a:avLst>
              <a:gd name="adj" fmla="val 3721"/>
            </a:avLst>
          </a:prstGeom>
          <a:solidFill>
            <a:schemeClr val="bg2"/>
          </a:solidFill>
          <a:ln/>
        </p:spPr>
      </p:sp>
      <p:sp>
        <p:nvSpPr>
          <p:cNvPr id="11" name="Text 8"/>
          <p:cNvSpPr txBox="1"/>
          <p:nvPr/>
        </p:nvSpPr>
        <p:spPr>
          <a:xfrm>
            <a:off x="4800600" y="1188720"/>
            <a:ext cx="1691640" cy="548640"/>
          </a:xfrm>
          <a:prstGeom prst="rect">
            <a:avLst/>
          </a:prstGeom>
          <a:noFill/>
          <a:ln/>
        </p:spPr>
        <p:txBody>
          <a:bodyPr wrap="square" lIns="0" tIns="0" rIns="0" bIns="0" rtlCol="0" anchor="t"/>
          <a:lstStyle/>
          <a:p>
            <a:pPr indent="0" marL="0">
              <a:buNone/>
            </a:pPr>
            <a:r>
              <a:rPr lang="en-US" sz="1400" b="1" dirty="0">
                <a:solidFill>
                  <a:schemeClr val="accent1"/>
                </a:solidFill>
              </a:rPr>
              <a:t>Costi e condizioni</a:t>
            </a:r>
            <a:endParaRPr lang="en-US" sz="1400" dirty="0"/>
          </a:p>
        </p:txBody>
      </p:sp>
      <p:sp>
        <p:nvSpPr>
          <p:cNvPr id="12" name="Text 9"/>
          <p:cNvSpPr txBox="1"/>
          <p:nvPr/>
        </p:nvSpPr>
        <p:spPr>
          <a:xfrm>
            <a:off x="4800600" y="1783080"/>
            <a:ext cx="1737360" cy="1920240"/>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1"/>
                </a:solidFill>
              </a:rPr>
              <a:t>Prezzo e costi complessivi</a:t>
            </a:r>
            <a:endParaRPr lang="en-US" sz="1200" dirty="0"/>
          </a:p>
          <a:p>
            <a:pPr marL="177800" indent="-177800">
              <a:spcAft>
                <a:spcPts val="400"/>
              </a:spcAft>
              <a:buSzPct val="100000"/>
              <a:buChar char="•"/>
            </a:pPr>
            <a:r>
              <a:rPr lang="en-US" sz="1200" dirty="0">
                <a:solidFill>
                  <a:schemeClr val="tx1"/>
                </a:solidFill>
              </a:rPr>
              <a:t>Contratto e supporto</a:t>
            </a:r>
            <a:endParaRPr lang="en-US" sz="1200" dirty="0"/>
          </a:p>
        </p:txBody>
      </p:sp>
      <p:sp>
        <p:nvSpPr>
          <p:cNvPr id="13" name="Dati e controllo"/>
          <p:cNvSpPr/>
          <p:nvPr/>
        </p:nvSpPr>
        <p:spPr>
          <a:xfrm>
            <a:off x="6766560" y="1097280"/>
            <a:ext cx="1965960" cy="2697480"/>
          </a:xfrm>
          <a:prstGeom prst="roundRect">
            <a:avLst>
              <a:gd name="adj" fmla="val 3721"/>
            </a:avLst>
          </a:prstGeom>
          <a:solidFill>
            <a:schemeClr val="accent6"/>
          </a:solidFill>
          <a:ln/>
        </p:spPr>
      </p:sp>
      <p:sp>
        <p:nvSpPr>
          <p:cNvPr id="14" name="Text 11"/>
          <p:cNvSpPr txBox="1"/>
          <p:nvPr/>
        </p:nvSpPr>
        <p:spPr>
          <a:xfrm>
            <a:off x="6903720" y="1188720"/>
            <a:ext cx="1691640" cy="548640"/>
          </a:xfrm>
          <a:prstGeom prst="rect">
            <a:avLst/>
          </a:prstGeom>
          <a:noFill/>
          <a:ln/>
        </p:spPr>
        <p:txBody>
          <a:bodyPr wrap="square" lIns="0" tIns="0" rIns="0" bIns="0" rtlCol="0" anchor="t"/>
          <a:lstStyle/>
          <a:p>
            <a:pPr indent="0" marL="0">
              <a:buNone/>
            </a:pPr>
            <a:r>
              <a:rPr lang="en-US" sz="1400" b="1" dirty="0">
                <a:solidFill>
                  <a:schemeClr val="accent1"/>
                </a:solidFill>
              </a:rPr>
              <a:t>Dati e controllo</a:t>
            </a:r>
            <a:endParaRPr lang="en-US" sz="1400" dirty="0"/>
          </a:p>
        </p:txBody>
      </p:sp>
      <p:sp>
        <p:nvSpPr>
          <p:cNvPr id="15" name="Text 12"/>
          <p:cNvSpPr txBox="1"/>
          <p:nvPr/>
        </p:nvSpPr>
        <p:spPr>
          <a:xfrm>
            <a:off x="6903720" y="1783080"/>
            <a:ext cx="1737360" cy="1920240"/>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1"/>
                </a:solidFill>
              </a:rPr>
              <a:t>Dati, riservatezza, sicurezza</a:t>
            </a:r>
            <a:endParaRPr lang="en-US" sz="1200" dirty="0"/>
          </a:p>
          <a:p>
            <a:pPr marL="177800" indent="-177800">
              <a:spcAft>
                <a:spcPts val="400"/>
              </a:spcAft>
              <a:buSzPct val="100000"/>
              <a:buChar char="•"/>
            </a:pPr>
            <a:r>
              <a:rPr lang="en-US" sz="1200" dirty="0">
                <a:solidFill>
                  <a:schemeClr val="tx1"/>
                </a:solidFill>
              </a:rPr>
              <a:t>Controlli amministrativi</a:t>
            </a:r>
            <a:endParaRPr lang="en-US" sz="1200" dirty="0"/>
          </a:p>
          <a:p>
            <a:pPr marL="177800" indent="-177800">
              <a:spcAft>
                <a:spcPts val="400"/>
              </a:spcAft>
              <a:buSzPct val="100000"/>
              <a:buChar char="•"/>
            </a:pPr>
            <a:r>
              <a:rPr lang="en-US" sz="1200" dirty="0">
                <a:solidFill>
                  <a:schemeClr val="tx1"/>
                </a:solidFill>
              </a:rPr>
              <a:t>Portabilità</a:t>
            </a:r>
            <a:endParaRPr lang="en-US" sz="1200" dirty="0"/>
          </a:p>
          <a:p>
            <a:pPr marL="177800" indent="-177800">
              <a:spcAft>
                <a:spcPts val="400"/>
              </a:spcAft>
              <a:buSzPct val="100000"/>
              <a:buChar char="•"/>
            </a:pPr>
            <a:r>
              <a:rPr lang="en-US" sz="1200" dirty="0">
                <a:solidFill>
                  <a:schemeClr val="tx1"/>
                </a:solidFill>
              </a:rPr>
              <a:t>Vendor lock-in</a:t>
            </a:r>
            <a:endParaRPr lang="en-US" sz="1200" dirty="0"/>
          </a:p>
        </p:txBody>
      </p:sp>
      <p:sp>
        <p:nvSpPr>
          <p:cNvPr id="16" name="criterio trasversale"/>
          <p:cNvSpPr/>
          <p:nvPr/>
        </p:nvSpPr>
        <p:spPr>
          <a:xfrm>
            <a:off x="457200" y="3931920"/>
            <a:ext cx="8229600" cy="594360"/>
          </a:xfrm>
          <a:prstGeom prst="roundRect">
            <a:avLst>
              <a:gd name="adj" fmla="val 12308"/>
            </a:avLst>
          </a:prstGeom>
          <a:solidFill>
            <a:schemeClr val="tx1"/>
          </a:solidFill>
          <a:ln/>
        </p:spPr>
      </p:sp>
      <p:sp>
        <p:nvSpPr>
          <p:cNvPr id="17" name="cerchio FiCheckSquare"/>
          <p:cNvSpPr/>
          <p:nvPr/>
        </p:nvSpPr>
        <p:spPr>
          <a:xfrm>
            <a:off x="594360" y="3995928"/>
            <a:ext cx="457200" cy="457200"/>
          </a:xfrm>
          <a:prstGeom prst="ellipse">
            <a:avLst/>
          </a:prstGeom>
          <a:solidFill>
            <a:schemeClr val="accent1"/>
          </a:solidFill>
          <a:ln/>
        </p:spPr>
      </p:sp>
      <p:pic>
        <p:nvPicPr>
          <p:cNvPr id="18" name="Image 0" descr="FiCheckSquare">    </p:cNvPr>
          <p:cNvPicPr>
            <a:picLocks noChangeAspect="1"/>
          </p:cNvPicPr>
          <p:nvPr/>
        </p:nvPicPr>
        <p:blipFill>
          <a:blip r:embed="rId1"/>
          <a:stretch>
            <a:fillRect/>
          </a:stretch>
        </p:blipFill>
        <p:spPr>
          <a:xfrm>
            <a:off x="708660" y="4110228"/>
            <a:ext cx="228600" cy="228600"/>
          </a:xfrm>
          <a:prstGeom prst="rect">
            <a:avLst/>
          </a:prstGeom>
        </p:spPr>
      </p:pic>
      <p:sp>
        <p:nvSpPr>
          <p:cNvPr id="19" name="Text 15"/>
          <p:cNvSpPr txBox="1"/>
          <p:nvPr/>
        </p:nvSpPr>
        <p:spPr>
          <a:xfrm>
            <a:off x="1188720" y="3931920"/>
            <a:ext cx="7406640" cy="594360"/>
          </a:xfrm>
          <a:prstGeom prst="rect">
            <a:avLst/>
          </a:prstGeom>
          <a:noFill/>
          <a:ln/>
        </p:spPr>
        <p:txBody>
          <a:bodyPr wrap="square" lIns="0" tIns="0" rIns="0" bIns="0" rtlCol="0" anchor="ctr"/>
          <a:lstStyle/>
          <a:p>
            <a:pPr indent="0" marL="0">
              <a:buNone/>
            </a:pPr>
            <a:r>
              <a:rPr lang="en-US" sz="1300" dirty="0">
                <a:solidFill>
                  <a:schemeClr val="bg1"/>
                </a:solidFill>
              </a:rPr>
              <a:t>Trasversale: verificare le funzionalità effettivamente disponibili nella configurazione specifica</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Adeguatezza, qualità e facilità d'uso</a:t>
            </a:r>
            <a:endParaRPr lang="en-US" sz="2600" dirty="0"/>
          </a:p>
        </p:txBody>
      </p:sp>
      <p:sp>
        <p:nvSpPr>
          <p:cNvPr id="4" name="scheda Adeguatezza"/>
          <p:cNvSpPr/>
          <p:nvPr/>
        </p:nvSpPr>
        <p:spPr>
          <a:xfrm>
            <a:off x="457200" y="1097280"/>
            <a:ext cx="2615184" cy="2651760"/>
          </a:xfrm>
          <a:prstGeom prst="roundRect">
            <a:avLst>
              <a:gd name="adj" fmla="val 2797"/>
            </a:avLst>
          </a:prstGeom>
          <a:solidFill>
            <a:schemeClr val="bg2"/>
          </a:solidFill>
          <a:ln/>
        </p:spPr>
      </p:sp>
      <p:sp>
        <p:nvSpPr>
          <p:cNvPr id="5" name="cerchio FiTarget"/>
          <p:cNvSpPr/>
          <p:nvPr/>
        </p:nvSpPr>
        <p:spPr>
          <a:xfrm>
            <a:off x="640080" y="1280160"/>
            <a:ext cx="457200" cy="457200"/>
          </a:xfrm>
          <a:prstGeom prst="ellipse">
            <a:avLst/>
          </a:prstGeom>
          <a:solidFill>
            <a:schemeClr val="accent1"/>
          </a:solidFill>
          <a:ln/>
        </p:spPr>
      </p:sp>
      <p:pic>
        <p:nvPicPr>
          <p:cNvPr id="6" name="Image 0" descr="FiTarget">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Adeguatezza</a:t>
            </a:r>
            <a:endParaRPr lang="en-US" sz="1500" dirty="0"/>
          </a:p>
        </p:txBody>
      </p:sp>
      <p:sp>
        <p:nvSpPr>
          <p:cNvPr id="8" name="Text 4"/>
          <p:cNvSpPr txBox="1"/>
          <p:nvPr/>
        </p:nvSpPr>
        <p:spPr>
          <a:xfrm>
            <a:off x="640080" y="2231136"/>
            <a:ext cx="2249424" cy="1408176"/>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2"/>
                </a:solidFill>
              </a:rPr>
              <a:t>Per quali attività e chi lo userà?</a:t>
            </a:r>
            <a:endParaRPr lang="en-US" sz="1300" dirty="0"/>
          </a:p>
          <a:p>
            <a:pPr marL="177800" indent="-177800">
              <a:spcAft>
                <a:spcPts val="400"/>
              </a:spcAft>
              <a:buSzPct val="100000"/>
              <a:buChar char="•"/>
            </a:pPr>
            <a:r>
              <a:rPr lang="en-US" sz="1300" dirty="0">
                <a:solidFill>
                  <a:schemeClr val="tx2"/>
                </a:solidFill>
              </a:rPr>
              <a:t>Che cosa vogliamo ottenere?</a:t>
            </a:r>
            <a:endParaRPr lang="en-US" sz="1300" dirty="0"/>
          </a:p>
          <a:p>
            <a:pPr marL="177800" indent="-177800">
              <a:spcAft>
                <a:spcPts val="400"/>
              </a:spcAft>
              <a:buSzPct val="100000"/>
              <a:buChar char="•"/>
            </a:pPr>
            <a:r>
              <a:rPr lang="en-US" sz="1300" dirty="0">
                <a:solidFill>
                  <a:schemeClr val="tx2"/>
                </a:solidFill>
              </a:rPr>
              <a:t>Prima il bisogno, poi lo strumento</a:t>
            </a:r>
            <a:endParaRPr lang="en-US" sz="1300" dirty="0"/>
          </a:p>
        </p:txBody>
      </p:sp>
      <p:sp>
        <p:nvSpPr>
          <p:cNvPr id="9" name="scheda Qualità e affidabilità"/>
          <p:cNvSpPr/>
          <p:nvPr/>
        </p:nvSpPr>
        <p:spPr>
          <a:xfrm>
            <a:off x="3264408" y="1097280"/>
            <a:ext cx="2615184" cy="2651760"/>
          </a:xfrm>
          <a:prstGeom prst="roundRect">
            <a:avLst>
              <a:gd name="adj" fmla="val 2797"/>
            </a:avLst>
          </a:prstGeom>
          <a:solidFill>
            <a:schemeClr val="bg2"/>
          </a:solidFill>
          <a:ln/>
        </p:spPr>
      </p:sp>
      <p:sp>
        <p:nvSpPr>
          <p:cNvPr id="10" name="cerchio FiAward"/>
          <p:cNvSpPr/>
          <p:nvPr/>
        </p:nvSpPr>
        <p:spPr>
          <a:xfrm>
            <a:off x="3447288" y="1280160"/>
            <a:ext cx="457200" cy="457200"/>
          </a:xfrm>
          <a:prstGeom prst="ellipse">
            <a:avLst/>
          </a:prstGeom>
          <a:solidFill>
            <a:schemeClr val="accent1"/>
          </a:solidFill>
          <a:ln/>
        </p:spPr>
      </p:sp>
      <p:pic>
        <p:nvPicPr>
          <p:cNvPr id="11" name="Image 1" descr="FiAward">    </p:cNvPr>
          <p:cNvPicPr>
            <a:picLocks noChangeAspect="1"/>
          </p:cNvPicPr>
          <p:nvPr/>
        </p:nvPicPr>
        <p:blipFill>
          <a:blip r:embed="rId2"/>
          <a:stretch>
            <a:fillRect/>
          </a:stretch>
        </p:blipFill>
        <p:spPr>
          <a:xfrm>
            <a:off x="3561588" y="1394460"/>
            <a:ext cx="228600" cy="228600"/>
          </a:xfrm>
          <a:prstGeom prst="rect">
            <a:avLst/>
          </a:prstGeom>
        </p:spPr>
      </p:pic>
      <p:sp>
        <p:nvSpPr>
          <p:cNvPr id="12" name="Text 7"/>
          <p:cNvSpPr txBox="1"/>
          <p:nvPr/>
        </p:nvSpPr>
        <p:spPr>
          <a:xfrm>
            <a:off x="3447288"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Qualità e affidabilità</a:t>
            </a:r>
            <a:endParaRPr lang="en-US" sz="1500" dirty="0"/>
          </a:p>
        </p:txBody>
      </p:sp>
      <p:sp>
        <p:nvSpPr>
          <p:cNvPr id="13" name="Text 8"/>
          <p:cNvSpPr txBox="1"/>
          <p:nvPr/>
        </p:nvSpPr>
        <p:spPr>
          <a:xfrm>
            <a:off x="3447288" y="2231136"/>
            <a:ext cx="2249424" cy="1408176"/>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2"/>
                </a:solidFill>
              </a:rPr>
              <a:t>Prove sui nostri casi reali</a:t>
            </a:r>
            <a:endParaRPr lang="en-US" sz="1300" dirty="0"/>
          </a:p>
          <a:p>
            <a:pPr marL="177800" indent="-177800">
              <a:spcAft>
                <a:spcPts val="400"/>
              </a:spcAft>
              <a:buSzPct val="100000"/>
              <a:buChar char="•"/>
            </a:pPr>
            <a:r>
              <a:rPr lang="en-US" sz="1300" dirty="0">
                <a:solidFill>
                  <a:schemeClr val="tx2"/>
                </a:solidFill>
              </a:rPr>
              <a:t>Anche quelli difficili</a:t>
            </a:r>
            <a:endParaRPr lang="en-US" sz="1300" dirty="0"/>
          </a:p>
          <a:p>
            <a:pPr marL="177800" indent="-177800">
              <a:spcAft>
                <a:spcPts val="400"/>
              </a:spcAft>
              <a:buSzPct val="100000"/>
              <a:buChar char="•"/>
            </a:pPr>
            <a:r>
              <a:rPr lang="en-US" sz="1300" dirty="0">
                <a:solidFill>
                  <a:schemeClr val="tx2"/>
                </a:solidFill>
              </a:rPr>
              <a:t>Tipo di errori e facilità di verifica</a:t>
            </a:r>
            <a:endParaRPr lang="en-US" sz="1300" dirty="0"/>
          </a:p>
        </p:txBody>
      </p:sp>
      <p:sp>
        <p:nvSpPr>
          <p:cNvPr id="14" name="scheda Facilità d'uso"/>
          <p:cNvSpPr/>
          <p:nvPr/>
        </p:nvSpPr>
        <p:spPr>
          <a:xfrm>
            <a:off x="6071616" y="1097280"/>
            <a:ext cx="2615184" cy="2651760"/>
          </a:xfrm>
          <a:prstGeom prst="roundRect">
            <a:avLst>
              <a:gd name="adj" fmla="val 2797"/>
            </a:avLst>
          </a:prstGeom>
          <a:solidFill>
            <a:schemeClr val="bg2"/>
          </a:solidFill>
          <a:ln/>
        </p:spPr>
      </p:sp>
      <p:sp>
        <p:nvSpPr>
          <p:cNvPr id="15" name="cerchio FiSmile"/>
          <p:cNvSpPr/>
          <p:nvPr/>
        </p:nvSpPr>
        <p:spPr>
          <a:xfrm>
            <a:off x="6254496" y="1280160"/>
            <a:ext cx="457200" cy="457200"/>
          </a:xfrm>
          <a:prstGeom prst="ellipse">
            <a:avLst/>
          </a:prstGeom>
          <a:solidFill>
            <a:schemeClr val="accent1"/>
          </a:solidFill>
          <a:ln/>
        </p:spPr>
      </p:sp>
      <p:pic>
        <p:nvPicPr>
          <p:cNvPr id="16" name="Image 2" descr="FiSmile">    </p:cNvPr>
          <p:cNvPicPr>
            <a:picLocks noChangeAspect="1"/>
          </p:cNvPicPr>
          <p:nvPr/>
        </p:nvPicPr>
        <p:blipFill>
          <a:blip r:embed="rId3"/>
          <a:stretch>
            <a:fillRect/>
          </a:stretch>
        </p:blipFill>
        <p:spPr>
          <a:xfrm>
            <a:off x="6368796" y="1394460"/>
            <a:ext cx="228600" cy="228600"/>
          </a:xfrm>
          <a:prstGeom prst="rect">
            <a:avLst/>
          </a:prstGeom>
        </p:spPr>
      </p:pic>
      <p:sp>
        <p:nvSpPr>
          <p:cNvPr id="17" name="Text 11"/>
          <p:cNvSpPr txBox="1"/>
          <p:nvPr/>
        </p:nvSpPr>
        <p:spPr>
          <a:xfrm>
            <a:off x="6254496"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Facilità d'uso</a:t>
            </a:r>
            <a:endParaRPr lang="en-US" sz="1500" dirty="0"/>
          </a:p>
        </p:txBody>
      </p:sp>
      <p:sp>
        <p:nvSpPr>
          <p:cNvPr id="18" name="Text 12"/>
          <p:cNvSpPr txBox="1"/>
          <p:nvPr/>
        </p:nvSpPr>
        <p:spPr>
          <a:xfrm>
            <a:off x="6254496" y="2231136"/>
            <a:ext cx="2249424" cy="1408176"/>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2"/>
                </a:solidFill>
              </a:rPr>
              <a:t>Interfaccia chiara, lingua italiana</a:t>
            </a:r>
            <a:endParaRPr lang="en-US" sz="1300" dirty="0"/>
          </a:p>
          <a:p>
            <a:pPr marL="177800" indent="-177800">
              <a:spcAft>
                <a:spcPts val="400"/>
              </a:spcAft>
              <a:buSzPct val="100000"/>
              <a:buChar char="•"/>
            </a:pPr>
            <a:r>
              <a:rPr lang="en-US" sz="1300" dirty="0">
                <a:solidFill>
                  <a:schemeClr val="tx2"/>
                </a:solidFill>
              </a:rPr>
              <a:t>Dispositivi e accessibilità</a:t>
            </a:r>
            <a:endParaRPr lang="en-US" sz="1300" dirty="0"/>
          </a:p>
          <a:p>
            <a:pPr marL="177800" indent="-177800">
              <a:spcAft>
                <a:spcPts val="400"/>
              </a:spcAft>
              <a:buSzPct val="100000"/>
              <a:buChar char="•"/>
            </a:pPr>
            <a:r>
              <a:rPr lang="en-US" sz="1300" dirty="0">
                <a:solidFill>
                  <a:schemeClr val="tx2"/>
                </a:solidFill>
              </a:rPr>
              <a:t>Curva di apprendimento</a:t>
            </a:r>
            <a:endParaRPr lang="en-US" sz="1300" dirty="0"/>
          </a:p>
        </p:txBody>
      </p:sp>
      <p:sp>
        <p:nvSpPr>
          <p:cNvPr id="19" name="messaggio"/>
          <p:cNvSpPr/>
          <p:nvPr/>
        </p:nvSpPr>
        <p:spPr>
          <a:xfrm>
            <a:off x="457200" y="3931920"/>
            <a:ext cx="8229600" cy="594360"/>
          </a:xfrm>
          <a:prstGeom prst="roundRect">
            <a:avLst>
              <a:gd name="adj" fmla="val 12308"/>
            </a:avLst>
          </a:prstGeom>
          <a:solidFill>
            <a:schemeClr val="tx1"/>
          </a:solidFill>
          <a:ln/>
        </p:spPr>
      </p:sp>
      <p:sp>
        <p:nvSpPr>
          <p:cNvPr id="20" name="Text 14"/>
          <p:cNvSpPr txBox="1"/>
          <p:nvPr/>
        </p:nvSpPr>
        <p:spPr>
          <a:xfrm>
            <a:off x="640080" y="3931920"/>
            <a:ext cx="7863840" cy="594360"/>
          </a:xfrm>
          <a:prstGeom prst="rect">
            <a:avLst/>
          </a:prstGeom>
          <a:noFill/>
          <a:ln/>
        </p:spPr>
        <p:txBody>
          <a:bodyPr wrap="square" lIns="0" tIns="0" rIns="0" bIns="0" rtlCol="0" anchor="ctr"/>
          <a:lstStyle/>
          <a:p>
            <a:pPr indent="0" marL="0">
              <a:buNone/>
            </a:pPr>
            <a:r>
              <a:rPr lang="en-US" sz="1300" dirty="0">
                <a:solidFill>
                  <a:schemeClr val="bg1"/>
                </a:solidFill>
              </a:rPr>
              <a:t>Coinvolgere nella prova alcuni futuri utenti reali, non solo i più esperti di tecnologia.</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Funzionalità, integrazione e costi complessivi</a:t>
            </a:r>
            <a:endParaRPr lang="en-US" sz="2600" dirty="0"/>
          </a:p>
        </p:txBody>
      </p:sp>
      <p:sp>
        <p:nvSpPr>
          <p:cNvPr id="4" name="scheda Funzionalità e integrazione"/>
          <p:cNvSpPr/>
          <p:nvPr/>
        </p:nvSpPr>
        <p:spPr>
          <a:xfrm>
            <a:off x="457200" y="1097280"/>
            <a:ext cx="3977640" cy="1691640"/>
          </a:xfrm>
          <a:prstGeom prst="roundRect">
            <a:avLst>
              <a:gd name="adj" fmla="val 4324"/>
            </a:avLst>
          </a:prstGeom>
          <a:solidFill>
            <a:schemeClr val="bg2"/>
          </a:solidFill>
          <a:ln/>
        </p:spPr>
      </p:sp>
      <p:sp>
        <p:nvSpPr>
          <p:cNvPr id="5" name="cerchio FiLink"/>
          <p:cNvSpPr/>
          <p:nvPr/>
        </p:nvSpPr>
        <p:spPr>
          <a:xfrm>
            <a:off x="640080" y="1280160"/>
            <a:ext cx="457200" cy="457200"/>
          </a:xfrm>
          <a:prstGeom prst="ellipse">
            <a:avLst/>
          </a:prstGeom>
          <a:solidFill>
            <a:schemeClr val="accent1"/>
          </a:solidFill>
          <a:ln/>
        </p:spPr>
      </p:sp>
      <p:pic>
        <p:nvPicPr>
          <p:cNvPr id="6" name="Image 0" descr="FiLink">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1234440" y="1280160"/>
            <a:ext cx="3017520" cy="457200"/>
          </a:xfrm>
          <a:prstGeom prst="rect">
            <a:avLst/>
          </a:prstGeom>
          <a:noFill/>
          <a:ln/>
        </p:spPr>
        <p:txBody>
          <a:bodyPr wrap="square" lIns="0" tIns="0" rIns="0" bIns="0" rtlCol="0" anchor="ctr"/>
          <a:lstStyle/>
          <a:p>
            <a:pPr indent="0" marL="0">
              <a:buNone/>
            </a:pPr>
            <a:r>
              <a:rPr lang="en-US" sz="1500" b="1" dirty="0">
                <a:solidFill>
                  <a:schemeClr val="tx1"/>
                </a:solidFill>
              </a:rPr>
              <a:t>Funzionalità e integrazione</a:t>
            </a:r>
            <a:endParaRPr lang="en-US" sz="1500" dirty="0"/>
          </a:p>
        </p:txBody>
      </p:sp>
      <p:sp>
        <p:nvSpPr>
          <p:cNvPr id="8" name="Text 4"/>
          <p:cNvSpPr txBox="1"/>
          <p:nvPr/>
        </p:nvSpPr>
        <p:spPr>
          <a:xfrm>
            <a:off x="640080" y="1874520"/>
            <a:ext cx="3611880" cy="804672"/>
          </a:xfrm>
          <a:prstGeom prst="rect">
            <a:avLst/>
          </a:prstGeom>
          <a:noFill/>
          <a:ln/>
        </p:spPr>
        <p:txBody>
          <a:bodyPr wrap="square" lIns="0" tIns="0" rIns="0" bIns="0" rtlCol="0" anchor="t"/>
          <a:lstStyle/>
          <a:p>
            <a:pPr indent="0" marL="0">
              <a:buNone/>
            </a:pPr>
            <a:r>
              <a:rPr lang="en-US" sz="1200" dirty="0">
                <a:solidFill>
                  <a:schemeClr val="tx2"/>
                </a:solidFill>
              </a:rPr>
              <a:t>Le funzioni che servono, nel piano acquistato? Collegamenti con posta, archivi, CRM, gestionale? API per il futuro?</a:t>
            </a:r>
            <a:endParaRPr lang="en-US" sz="1200" dirty="0"/>
          </a:p>
        </p:txBody>
      </p:sp>
      <p:sp>
        <p:nvSpPr>
          <p:cNvPr id="9" name="scheda Contratto e supporto"/>
          <p:cNvSpPr/>
          <p:nvPr/>
        </p:nvSpPr>
        <p:spPr>
          <a:xfrm>
            <a:off x="457200" y="2926080"/>
            <a:ext cx="3977640" cy="1600200"/>
          </a:xfrm>
          <a:prstGeom prst="roundRect">
            <a:avLst>
              <a:gd name="adj" fmla="val 4571"/>
            </a:avLst>
          </a:prstGeom>
          <a:solidFill>
            <a:schemeClr val="bg2"/>
          </a:solidFill>
          <a:ln/>
        </p:spPr>
      </p:sp>
      <p:sp>
        <p:nvSpPr>
          <p:cNvPr id="10" name="cerchio FiFileText"/>
          <p:cNvSpPr/>
          <p:nvPr/>
        </p:nvSpPr>
        <p:spPr>
          <a:xfrm>
            <a:off x="640080" y="3108960"/>
            <a:ext cx="457200" cy="457200"/>
          </a:xfrm>
          <a:prstGeom prst="ellipse">
            <a:avLst/>
          </a:prstGeom>
          <a:solidFill>
            <a:schemeClr val="accent1"/>
          </a:solidFill>
          <a:ln/>
        </p:spPr>
      </p:sp>
      <p:pic>
        <p:nvPicPr>
          <p:cNvPr id="11" name="Image 1" descr="FiFileText">    </p:cNvPr>
          <p:cNvPicPr>
            <a:picLocks noChangeAspect="1"/>
          </p:cNvPicPr>
          <p:nvPr/>
        </p:nvPicPr>
        <p:blipFill>
          <a:blip r:embed="rId2"/>
          <a:stretch>
            <a:fillRect/>
          </a:stretch>
        </p:blipFill>
        <p:spPr>
          <a:xfrm>
            <a:off x="754380" y="3223260"/>
            <a:ext cx="228600" cy="228600"/>
          </a:xfrm>
          <a:prstGeom prst="rect">
            <a:avLst/>
          </a:prstGeom>
        </p:spPr>
      </p:pic>
      <p:sp>
        <p:nvSpPr>
          <p:cNvPr id="12" name="Text 7"/>
          <p:cNvSpPr txBox="1"/>
          <p:nvPr/>
        </p:nvSpPr>
        <p:spPr>
          <a:xfrm>
            <a:off x="1234440" y="3108960"/>
            <a:ext cx="3017520" cy="457200"/>
          </a:xfrm>
          <a:prstGeom prst="rect">
            <a:avLst/>
          </a:prstGeom>
          <a:noFill/>
          <a:ln/>
        </p:spPr>
        <p:txBody>
          <a:bodyPr wrap="square" lIns="0" tIns="0" rIns="0" bIns="0" rtlCol="0" anchor="ctr"/>
          <a:lstStyle/>
          <a:p>
            <a:pPr indent="0" marL="0">
              <a:buNone/>
            </a:pPr>
            <a:r>
              <a:rPr lang="en-US" sz="1500" b="1" dirty="0">
                <a:solidFill>
                  <a:schemeClr val="tx1"/>
                </a:solidFill>
              </a:rPr>
              <a:t>Contratto e supporto</a:t>
            </a:r>
            <a:endParaRPr lang="en-US" sz="1500" dirty="0"/>
          </a:p>
        </p:txBody>
      </p:sp>
      <p:sp>
        <p:nvSpPr>
          <p:cNvPr id="13" name="Text 8"/>
          <p:cNvSpPr txBox="1"/>
          <p:nvPr/>
        </p:nvSpPr>
        <p:spPr>
          <a:xfrm>
            <a:off x="640080" y="3703320"/>
            <a:ext cx="3611880" cy="713232"/>
          </a:xfrm>
          <a:prstGeom prst="rect">
            <a:avLst/>
          </a:prstGeom>
          <a:noFill/>
          <a:ln/>
        </p:spPr>
        <p:txBody>
          <a:bodyPr wrap="square" lIns="0" tIns="0" rIns="0" bIns="0" rtlCol="0" anchor="t"/>
          <a:lstStyle/>
          <a:p>
            <a:pPr indent="0" marL="0">
              <a:buNone/>
            </a:pPr>
            <a:r>
              <a:rPr lang="en-US" sz="1200" dirty="0">
                <a:solidFill>
                  <a:schemeClr val="tx2"/>
                </a:solidFill>
              </a:rPr>
              <a:t>Livelli di servizio, assistenza in italiano, durata e recesso.</a:t>
            </a:r>
            <a:endParaRPr lang="en-US" sz="1200" dirty="0"/>
          </a:p>
        </p:txBody>
      </p:sp>
      <p:sp>
        <p:nvSpPr>
          <p:cNvPr id="14" name="costi complessivi"/>
          <p:cNvSpPr/>
          <p:nvPr/>
        </p:nvSpPr>
        <p:spPr>
          <a:xfrm>
            <a:off x="4709160" y="1097280"/>
            <a:ext cx="3977640" cy="3429000"/>
          </a:xfrm>
          <a:prstGeom prst="roundRect">
            <a:avLst>
              <a:gd name="adj" fmla="val 2133"/>
            </a:avLst>
          </a:prstGeom>
          <a:solidFill>
            <a:schemeClr val="accent6"/>
          </a:solidFill>
          <a:ln/>
        </p:spPr>
      </p:sp>
      <p:sp>
        <p:nvSpPr>
          <p:cNvPr id="15" name="Text 10"/>
          <p:cNvSpPr txBox="1"/>
          <p:nvPr/>
        </p:nvSpPr>
        <p:spPr>
          <a:xfrm>
            <a:off x="4892040" y="1188720"/>
            <a:ext cx="3657600" cy="320040"/>
          </a:xfrm>
          <a:prstGeom prst="rect">
            <a:avLst/>
          </a:prstGeom>
          <a:noFill/>
          <a:ln/>
        </p:spPr>
        <p:txBody>
          <a:bodyPr wrap="square" lIns="0" tIns="0" rIns="0" bIns="0" rtlCol="0" anchor="t"/>
          <a:lstStyle/>
          <a:p>
            <a:pPr indent="0" marL="0">
              <a:buNone/>
            </a:pPr>
            <a:r>
              <a:rPr lang="en-US" sz="1500" b="1" dirty="0">
                <a:solidFill>
                  <a:schemeClr val="tx1"/>
                </a:solidFill>
              </a:rPr>
              <a:t>Costi complessivi, oltre il listino</a:t>
            </a:r>
            <a:endParaRPr lang="en-US" sz="1500" dirty="0"/>
          </a:p>
        </p:txBody>
      </p:sp>
      <p:sp>
        <p:nvSpPr>
          <p:cNvPr id="16" name="blocco Licenze o consumo"/>
          <p:cNvSpPr/>
          <p:nvPr/>
        </p:nvSpPr>
        <p:spPr>
          <a:xfrm>
            <a:off x="4892040" y="1600200"/>
            <a:ext cx="3611880" cy="384048"/>
          </a:xfrm>
          <a:prstGeom prst="roundRect">
            <a:avLst>
              <a:gd name="adj" fmla="val 28571"/>
            </a:avLst>
          </a:prstGeom>
          <a:solidFill>
            <a:schemeClr val="accent1"/>
          </a:solidFill>
          <a:ln/>
        </p:spPr>
      </p:sp>
      <p:sp>
        <p:nvSpPr>
          <p:cNvPr id="17" name="Text 12"/>
          <p:cNvSpPr txBox="1"/>
          <p:nvPr/>
        </p:nvSpPr>
        <p:spPr>
          <a:xfrm>
            <a:off x="4937760" y="1600200"/>
            <a:ext cx="3520440" cy="384048"/>
          </a:xfrm>
          <a:prstGeom prst="rect">
            <a:avLst/>
          </a:prstGeom>
          <a:noFill/>
          <a:ln/>
        </p:spPr>
        <p:txBody>
          <a:bodyPr wrap="square" lIns="0" tIns="0" rIns="0" bIns="0" rtlCol="0" anchor="ctr"/>
          <a:lstStyle/>
          <a:p>
            <a:pPr algn="ctr" indent="0" marL="0">
              <a:buNone/>
            </a:pPr>
            <a:r>
              <a:rPr lang="en-US" sz="1200" b="1" dirty="0">
                <a:solidFill>
                  <a:schemeClr val="bg1"/>
                </a:solidFill>
              </a:rPr>
              <a:t>Licenze o consumo</a:t>
            </a:r>
            <a:endParaRPr lang="en-US" sz="1200" dirty="0"/>
          </a:p>
        </p:txBody>
      </p:sp>
      <p:sp>
        <p:nvSpPr>
          <p:cNvPr id="18" name="blocco Integrazione e configurazione"/>
          <p:cNvSpPr/>
          <p:nvPr/>
        </p:nvSpPr>
        <p:spPr>
          <a:xfrm>
            <a:off x="4892040" y="2057400"/>
            <a:ext cx="3611880" cy="384048"/>
          </a:xfrm>
          <a:prstGeom prst="roundRect">
            <a:avLst>
              <a:gd name="adj" fmla="val 28571"/>
            </a:avLst>
          </a:prstGeom>
          <a:solidFill>
            <a:schemeClr val="bg1"/>
          </a:solidFill>
          <a:ln/>
        </p:spPr>
      </p:sp>
      <p:sp>
        <p:nvSpPr>
          <p:cNvPr id="19" name="Text 14"/>
          <p:cNvSpPr txBox="1"/>
          <p:nvPr/>
        </p:nvSpPr>
        <p:spPr>
          <a:xfrm>
            <a:off x="4937760" y="2057400"/>
            <a:ext cx="3520440" cy="384048"/>
          </a:xfrm>
          <a:prstGeom prst="rect">
            <a:avLst/>
          </a:prstGeom>
          <a:noFill/>
          <a:ln/>
        </p:spPr>
        <p:txBody>
          <a:bodyPr wrap="square" lIns="0" tIns="0" rIns="0" bIns="0" rtlCol="0" anchor="ctr"/>
          <a:lstStyle/>
          <a:p>
            <a:pPr algn="ctr" indent="0" marL="0">
              <a:buNone/>
            </a:pPr>
            <a:r>
              <a:rPr lang="en-US" sz="1200" b="1" dirty="0">
                <a:solidFill>
                  <a:schemeClr val="tx1"/>
                </a:solidFill>
              </a:rPr>
              <a:t>Integrazione e configurazione</a:t>
            </a:r>
            <a:endParaRPr lang="en-US" sz="1200" dirty="0"/>
          </a:p>
        </p:txBody>
      </p:sp>
      <p:sp>
        <p:nvSpPr>
          <p:cNvPr id="20" name="blocco Formazione delle persone"/>
          <p:cNvSpPr/>
          <p:nvPr/>
        </p:nvSpPr>
        <p:spPr>
          <a:xfrm>
            <a:off x="4892040" y="2514600"/>
            <a:ext cx="3611880" cy="384048"/>
          </a:xfrm>
          <a:prstGeom prst="roundRect">
            <a:avLst>
              <a:gd name="adj" fmla="val 28571"/>
            </a:avLst>
          </a:prstGeom>
          <a:solidFill>
            <a:schemeClr val="bg1"/>
          </a:solidFill>
          <a:ln/>
        </p:spPr>
      </p:sp>
      <p:sp>
        <p:nvSpPr>
          <p:cNvPr id="21" name="Text 16"/>
          <p:cNvSpPr txBox="1"/>
          <p:nvPr/>
        </p:nvSpPr>
        <p:spPr>
          <a:xfrm>
            <a:off x="4937760" y="2514600"/>
            <a:ext cx="3520440" cy="384048"/>
          </a:xfrm>
          <a:prstGeom prst="rect">
            <a:avLst/>
          </a:prstGeom>
          <a:noFill/>
          <a:ln/>
        </p:spPr>
        <p:txBody>
          <a:bodyPr wrap="square" lIns="0" tIns="0" rIns="0" bIns="0" rtlCol="0" anchor="ctr"/>
          <a:lstStyle/>
          <a:p>
            <a:pPr algn="ctr" indent="0" marL="0">
              <a:buNone/>
            </a:pPr>
            <a:r>
              <a:rPr lang="en-US" sz="1200" b="1" dirty="0">
                <a:solidFill>
                  <a:schemeClr val="tx1"/>
                </a:solidFill>
              </a:rPr>
              <a:t>Formazione delle persone</a:t>
            </a:r>
            <a:endParaRPr lang="en-US" sz="1200" dirty="0"/>
          </a:p>
        </p:txBody>
      </p:sp>
      <p:sp>
        <p:nvSpPr>
          <p:cNvPr id="22" name="blocco Tempo per verificare i risultati"/>
          <p:cNvSpPr/>
          <p:nvPr/>
        </p:nvSpPr>
        <p:spPr>
          <a:xfrm>
            <a:off x="4892040" y="2971800"/>
            <a:ext cx="3611880" cy="384048"/>
          </a:xfrm>
          <a:prstGeom prst="roundRect">
            <a:avLst>
              <a:gd name="adj" fmla="val 28571"/>
            </a:avLst>
          </a:prstGeom>
          <a:solidFill>
            <a:schemeClr val="bg1"/>
          </a:solidFill>
          <a:ln/>
        </p:spPr>
      </p:sp>
      <p:sp>
        <p:nvSpPr>
          <p:cNvPr id="23" name="Text 18"/>
          <p:cNvSpPr txBox="1"/>
          <p:nvPr/>
        </p:nvSpPr>
        <p:spPr>
          <a:xfrm>
            <a:off x="4937760" y="2971800"/>
            <a:ext cx="3520440" cy="384048"/>
          </a:xfrm>
          <a:prstGeom prst="rect">
            <a:avLst/>
          </a:prstGeom>
          <a:noFill/>
          <a:ln/>
        </p:spPr>
        <p:txBody>
          <a:bodyPr wrap="square" lIns="0" tIns="0" rIns="0" bIns="0" rtlCol="0" anchor="ctr"/>
          <a:lstStyle/>
          <a:p>
            <a:pPr algn="ctr" indent="0" marL="0">
              <a:buNone/>
            </a:pPr>
            <a:r>
              <a:rPr lang="en-US" sz="1200" b="1" dirty="0">
                <a:solidFill>
                  <a:schemeClr val="tx1"/>
                </a:solidFill>
              </a:rPr>
              <a:t>Tempo per verificare i risultati</a:t>
            </a:r>
            <a:endParaRPr lang="en-US" sz="1200" dirty="0"/>
          </a:p>
        </p:txBody>
      </p:sp>
      <p:sp>
        <p:nvSpPr>
          <p:cNvPr id="24" name="blocco Gestione e manutenzione"/>
          <p:cNvSpPr/>
          <p:nvPr/>
        </p:nvSpPr>
        <p:spPr>
          <a:xfrm>
            <a:off x="4892040" y="3429000"/>
            <a:ext cx="3611880" cy="384048"/>
          </a:xfrm>
          <a:prstGeom prst="roundRect">
            <a:avLst>
              <a:gd name="adj" fmla="val 28571"/>
            </a:avLst>
          </a:prstGeom>
          <a:solidFill>
            <a:schemeClr val="bg1"/>
          </a:solidFill>
          <a:ln/>
        </p:spPr>
      </p:sp>
      <p:sp>
        <p:nvSpPr>
          <p:cNvPr id="25" name="Text 20"/>
          <p:cNvSpPr txBox="1"/>
          <p:nvPr/>
        </p:nvSpPr>
        <p:spPr>
          <a:xfrm>
            <a:off x="4937760" y="3429000"/>
            <a:ext cx="3520440" cy="384048"/>
          </a:xfrm>
          <a:prstGeom prst="rect">
            <a:avLst/>
          </a:prstGeom>
          <a:noFill/>
          <a:ln/>
        </p:spPr>
        <p:txBody>
          <a:bodyPr wrap="square" lIns="0" tIns="0" rIns="0" bIns="0" rtlCol="0" anchor="ctr"/>
          <a:lstStyle/>
          <a:p>
            <a:pPr algn="ctr" indent="0" marL="0">
              <a:buNone/>
            </a:pPr>
            <a:r>
              <a:rPr lang="en-US" sz="1200" b="1" dirty="0">
                <a:solidFill>
                  <a:schemeClr val="tx1"/>
                </a:solidFill>
              </a:rPr>
              <a:t>Gestione e manutenzione</a:t>
            </a:r>
            <a:endParaRPr lang="en-US" sz="1200" dirty="0"/>
          </a:p>
        </p:txBody>
      </p:sp>
      <p:sp>
        <p:nvSpPr>
          <p:cNvPr id="26" name="blocco Costi di uscita"/>
          <p:cNvSpPr/>
          <p:nvPr/>
        </p:nvSpPr>
        <p:spPr>
          <a:xfrm>
            <a:off x="4892040" y="3886200"/>
            <a:ext cx="3611880" cy="384048"/>
          </a:xfrm>
          <a:prstGeom prst="roundRect">
            <a:avLst>
              <a:gd name="adj" fmla="val 28571"/>
            </a:avLst>
          </a:prstGeom>
          <a:solidFill>
            <a:schemeClr val="bg1"/>
          </a:solidFill>
          <a:ln/>
        </p:spPr>
      </p:sp>
      <p:sp>
        <p:nvSpPr>
          <p:cNvPr id="27" name="Text 22"/>
          <p:cNvSpPr txBox="1"/>
          <p:nvPr/>
        </p:nvSpPr>
        <p:spPr>
          <a:xfrm>
            <a:off x="4937760" y="3886200"/>
            <a:ext cx="3520440" cy="384048"/>
          </a:xfrm>
          <a:prstGeom prst="rect">
            <a:avLst/>
          </a:prstGeom>
          <a:noFill/>
          <a:ln/>
        </p:spPr>
        <p:txBody>
          <a:bodyPr wrap="square" lIns="0" tIns="0" rIns="0" bIns="0" rtlCol="0" anchor="ctr"/>
          <a:lstStyle/>
          <a:p>
            <a:pPr algn="ctr" indent="0" marL="0">
              <a:buNone/>
            </a:pPr>
            <a:r>
              <a:rPr lang="en-US" sz="1200" b="1" dirty="0">
                <a:solidFill>
                  <a:schemeClr val="tx1"/>
                </a:solidFill>
              </a:rPr>
              <a:t>Costi di uscita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Dati, sicurezza e controlli amministrativi</a:t>
            </a:r>
            <a:endParaRPr lang="en-US" sz="2600" dirty="0"/>
          </a:p>
        </p:txBody>
      </p:sp>
      <p:sp>
        <p:nvSpPr>
          <p:cNvPr id="4" name="Text 1"/>
          <p:cNvSpPr txBox="1"/>
          <p:nvPr/>
        </p:nvSpPr>
        <p:spPr>
          <a:xfrm>
            <a:off x="457200" y="1051560"/>
            <a:ext cx="3977640" cy="274320"/>
          </a:xfrm>
          <a:prstGeom prst="rect">
            <a:avLst/>
          </a:prstGeom>
          <a:noFill/>
          <a:ln/>
        </p:spPr>
        <p:txBody>
          <a:bodyPr wrap="square" lIns="0" tIns="0" rIns="0" bIns="0" rtlCol="0" anchor="t"/>
          <a:lstStyle/>
          <a:p>
            <a:pPr indent="0" marL="0">
              <a:buNone/>
            </a:pPr>
            <a:r>
              <a:rPr lang="en-US" sz="1400" b="1" dirty="0">
                <a:solidFill>
                  <a:schemeClr val="tx1"/>
                </a:solidFill>
              </a:rPr>
              <a:t>Domande sui dati</a:t>
            </a:r>
            <a:endParaRPr lang="en-US" sz="1400" dirty="0"/>
          </a:p>
        </p:txBody>
      </p:sp>
      <p:sp>
        <p:nvSpPr>
          <p:cNvPr id="5" name="riga 0"/>
          <p:cNvSpPr/>
          <p:nvPr/>
        </p:nvSpPr>
        <p:spPr>
          <a:xfrm>
            <a:off x="457200" y="1417320"/>
            <a:ext cx="3977640" cy="502920"/>
          </a:xfrm>
          <a:prstGeom prst="roundRect">
            <a:avLst>
              <a:gd name="adj" fmla="val 14545"/>
            </a:avLst>
          </a:prstGeom>
          <a:solidFill>
            <a:schemeClr val="bg2"/>
          </a:solidFill>
          <a:ln/>
        </p:spPr>
      </p:sp>
      <p:sp>
        <p:nvSpPr>
          <p:cNvPr id="6" name="Text 3"/>
          <p:cNvSpPr txBox="1"/>
          <p:nvPr/>
        </p:nvSpPr>
        <p:spPr>
          <a:xfrm>
            <a:off x="640080" y="1417320"/>
            <a:ext cx="3611880" cy="502920"/>
          </a:xfrm>
          <a:prstGeom prst="rect">
            <a:avLst/>
          </a:prstGeom>
          <a:noFill/>
          <a:ln/>
        </p:spPr>
        <p:txBody>
          <a:bodyPr wrap="square" lIns="0" tIns="0" rIns="0" bIns="0" rtlCol="0" anchor="ctr"/>
          <a:lstStyle/>
          <a:p>
            <a:pPr indent="0" marL="0">
              <a:buNone/>
            </a:pPr>
            <a:r>
              <a:rPr lang="en-US" sz="1200" dirty="0">
                <a:solidFill>
                  <a:schemeClr val="tx1"/>
                </a:solidFill>
              </a:rPr>
              <a:t>Sono usati per addestrare i modelli?</a:t>
            </a:r>
            <a:endParaRPr lang="en-US" sz="1200" dirty="0"/>
          </a:p>
        </p:txBody>
      </p:sp>
      <p:sp>
        <p:nvSpPr>
          <p:cNvPr id="7" name="riga 1"/>
          <p:cNvSpPr/>
          <p:nvPr/>
        </p:nvSpPr>
        <p:spPr>
          <a:xfrm>
            <a:off x="457200" y="1993392"/>
            <a:ext cx="3977640" cy="502920"/>
          </a:xfrm>
          <a:prstGeom prst="roundRect">
            <a:avLst>
              <a:gd name="adj" fmla="val 14545"/>
            </a:avLst>
          </a:prstGeom>
          <a:solidFill>
            <a:schemeClr val="bg1"/>
          </a:solidFill>
          <a:ln/>
        </p:spPr>
      </p:sp>
      <p:sp>
        <p:nvSpPr>
          <p:cNvPr id="8" name="Text 5"/>
          <p:cNvSpPr txBox="1"/>
          <p:nvPr/>
        </p:nvSpPr>
        <p:spPr>
          <a:xfrm>
            <a:off x="640080" y="1993392"/>
            <a:ext cx="3611880" cy="502920"/>
          </a:xfrm>
          <a:prstGeom prst="rect">
            <a:avLst/>
          </a:prstGeom>
          <a:noFill/>
          <a:ln/>
        </p:spPr>
        <p:txBody>
          <a:bodyPr wrap="square" lIns="0" tIns="0" rIns="0" bIns="0" rtlCol="0" anchor="ctr"/>
          <a:lstStyle/>
          <a:p>
            <a:pPr indent="0" marL="0">
              <a:buNone/>
            </a:pPr>
            <a:r>
              <a:rPr lang="en-US" sz="1200" dirty="0">
                <a:solidFill>
                  <a:schemeClr val="tx1"/>
                </a:solidFill>
              </a:rPr>
              <a:t>Per quanto tempo sono conservati? Si possono cancellare?</a:t>
            </a:r>
            <a:endParaRPr lang="en-US" sz="1200" dirty="0"/>
          </a:p>
        </p:txBody>
      </p:sp>
      <p:sp>
        <p:nvSpPr>
          <p:cNvPr id="9" name="riga 2"/>
          <p:cNvSpPr/>
          <p:nvPr/>
        </p:nvSpPr>
        <p:spPr>
          <a:xfrm>
            <a:off x="457200" y="2569464"/>
            <a:ext cx="3977640" cy="502920"/>
          </a:xfrm>
          <a:prstGeom prst="roundRect">
            <a:avLst>
              <a:gd name="adj" fmla="val 14545"/>
            </a:avLst>
          </a:prstGeom>
          <a:solidFill>
            <a:schemeClr val="bg2"/>
          </a:solidFill>
          <a:ln/>
        </p:spPr>
      </p:sp>
      <p:sp>
        <p:nvSpPr>
          <p:cNvPr id="10" name="Text 7"/>
          <p:cNvSpPr txBox="1"/>
          <p:nvPr/>
        </p:nvSpPr>
        <p:spPr>
          <a:xfrm>
            <a:off x="640080" y="2569464"/>
            <a:ext cx="3611880" cy="502920"/>
          </a:xfrm>
          <a:prstGeom prst="rect">
            <a:avLst/>
          </a:prstGeom>
          <a:noFill/>
          <a:ln/>
        </p:spPr>
        <p:txBody>
          <a:bodyPr wrap="square" lIns="0" tIns="0" rIns="0" bIns="0" rtlCol="0" anchor="ctr"/>
          <a:lstStyle/>
          <a:p>
            <a:pPr indent="0" marL="0">
              <a:buNone/>
            </a:pPr>
            <a:r>
              <a:rPr lang="en-US" sz="1200" dirty="0">
                <a:solidFill>
                  <a:schemeClr val="tx1"/>
                </a:solidFill>
              </a:rPr>
              <a:t>Dove sono elaborati e conservati?</a:t>
            </a:r>
            <a:endParaRPr lang="en-US" sz="1200" dirty="0"/>
          </a:p>
        </p:txBody>
      </p:sp>
      <p:sp>
        <p:nvSpPr>
          <p:cNvPr id="11" name="riga 3"/>
          <p:cNvSpPr/>
          <p:nvPr/>
        </p:nvSpPr>
        <p:spPr>
          <a:xfrm>
            <a:off x="457200" y="3145536"/>
            <a:ext cx="3977640" cy="502920"/>
          </a:xfrm>
          <a:prstGeom prst="roundRect">
            <a:avLst>
              <a:gd name="adj" fmla="val 14545"/>
            </a:avLst>
          </a:prstGeom>
          <a:solidFill>
            <a:schemeClr val="bg1"/>
          </a:solidFill>
          <a:ln/>
        </p:spPr>
      </p:sp>
      <p:sp>
        <p:nvSpPr>
          <p:cNvPr id="12" name="Text 9"/>
          <p:cNvSpPr txBox="1"/>
          <p:nvPr/>
        </p:nvSpPr>
        <p:spPr>
          <a:xfrm>
            <a:off x="640080" y="3145536"/>
            <a:ext cx="3611880" cy="502920"/>
          </a:xfrm>
          <a:prstGeom prst="rect">
            <a:avLst/>
          </a:prstGeom>
          <a:noFill/>
          <a:ln/>
        </p:spPr>
        <p:txBody>
          <a:bodyPr wrap="square" lIns="0" tIns="0" rIns="0" bIns="0" rtlCol="0" anchor="ctr"/>
          <a:lstStyle/>
          <a:p>
            <a:pPr indent="0" marL="0">
              <a:buNone/>
            </a:pPr>
            <a:r>
              <a:rPr lang="en-US" sz="1200" dirty="0">
                <a:solidFill>
                  <a:schemeClr val="tx1"/>
                </a:solidFill>
              </a:rPr>
              <a:t>Quali terze parti sono coinvolte?</a:t>
            </a:r>
            <a:endParaRPr lang="en-US" sz="1200" dirty="0"/>
          </a:p>
        </p:txBody>
      </p:sp>
      <p:sp>
        <p:nvSpPr>
          <p:cNvPr id="13" name="riga 4"/>
          <p:cNvSpPr/>
          <p:nvPr/>
        </p:nvSpPr>
        <p:spPr>
          <a:xfrm>
            <a:off x="457200" y="3721608"/>
            <a:ext cx="3977640" cy="502920"/>
          </a:xfrm>
          <a:prstGeom prst="roundRect">
            <a:avLst>
              <a:gd name="adj" fmla="val 14545"/>
            </a:avLst>
          </a:prstGeom>
          <a:solidFill>
            <a:schemeClr val="bg2"/>
          </a:solidFill>
          <a:ln/>
        </p:spPr>
      </p:sp>
      <p:sp>
        <p:nvSpPr>
          <p:cNvPr id="14" name="Text 11"/>
          <p:cNvSpPr txBox="1"/>
          <p:nvPr/>
        </p:nvSpPr>
        <p:spPr>
          <a:xfrm>
            <a:off x="640080" y="3721608"/>
            <a:ext cx="3611880" cy="502920"/>
          </a:xfrm>
          <a:prstGeom prst="rect">
            <a:avLst/>
          </a:prstGeom>
          <a:noFill/>
          <a:ln/>
        </p:spPr>
        <p:txBody>
          <a:bodyPr wrap="square" lIns="0" tIns="0" rIns="0" bIns="0" rtlCol="0" anchor="ctr"/>
          <a:lstStyle/>
          <a:p>
            <a:pPr indent="0" marL="0">
              <a:buNone/>
            </a:pPr>
            <a:r>
              <a:rPr lang="en-US" sz="1200" dirty="0">
                <a:solidFill>
                  <a:schemeClr val="tx1"/>
                </a:solidFill>
              </a:rPr>
              <a:t>Quali certificazioni di sicurezza?</a:t>
            </a:r>
            <a:endParaRPr lang="en-US" sz="1200" dirty="0"/>
          </a:p>
        </p:txBody>
      </p:sp>
      <p:sp>
        <p:nvSpPr>
          <p:cNvPr id="15" name="Text 12"/>
          <p:cNvSpPr txBox="1"/>
          <p:nvPr/>
        </p:nvSpPr>
        <p:spPr>
          <a:xfrm>
            <a:off x="4709160" y="1051560"/>
            <a:ext cx="3977640" cy="274320"/>
          </a:xfrm>
          <a:prstGeom prst="rect">
            <a:avLst/>
          </a:prstGeom>
          <a:noFill/>
          <a:ln/>
        </p:spPr>
        <p:txBody>
          <a:bodyPr wrap="square" lIns="0" tIns="0" rIns="0" bIns="0" rtlCol="0" anchor="t"/>
          <a:lstStyle/>
          <a:p>
            <a:pPr indent="0" marL="0">
              <a:buNone/>
            </a:pPr>
            <a:r>
              <a:rPr lang="en-US" sz="1400" b="1" dirty="0">
                <a:solidFill>
                  <a:schemeClr val="tx1"/>
                </a:solidFill>
              </a:rPr>
              <a:t>Domande sui controlli</a:t>
            </a:r>
            <a:endParaRPr lang="en-US" sz="1400" dirty="0"/>
          </a:p>
        </p:txBody>
      </p:sp>
      <p:sp>
        <p:nvSpPr>
          <p:cNvPr id="16" name="riga 0"/>
          <p:cNvSpPr/>
          <p:nvPr/>
        </p:nvSpPr>
        <p:spPr>
          <a:xfrm>
            <a:off x="4709160" y="1417320"/>
            <a:ext cx="3977640" cy="502920"/>
          </a:xfrm>
          <a:prstGeom prst="roundRect">
            <a:avLst>
              <a:gd name="adj" fmla="val 14545"/>
            </a:avLst>
          </a:prstGeom>
          <a:solidFill>
            <a:schemeClr val="bg2"/>
          </a:solidFill>
          <a:ln/>
        </p:spPr>
      </p:sp>
      <p:sp>
        <p:nvSpPr>
          <p:cNvPr id="17" name="Text 14"/>
          <p:cNvSpPr txBox="1"/>
          <p:nvPr/>
        </p:nvSpPr>
        <p:spPr>
          <a:xfrm>
            <a:off x="4892040" y="1417320"/>
            <a:ext cx="3611880" cy="502920"/>
          </a:xfrm>
          <a:prstGeom prst="rect">
            <a:avLst/>
          </a:prstGeom>
          <a:noFill/>
          <a:ln/>
        </p:spPr>
        <p:txBody>
          <a:bodyPr wrap="square" lIns="0" tIns="0" rIns="0" bIns="0" rtlCol="0" anchor="ctr"/>
          <a:lstStyle/>
          <a:p>
            <a:pPr indent="0" marL="0">
              <a:buNone/>
            </a:pPr>
            <a:r>
              <a:rPr lang="en-US" sz="1200" dirty="0">
                <a:solidFill>
                  <a:schemeClr val="tx1"/>
                </a:solidFill>
              </a:rPr>
              <a:t>Gestione centralizzata di accessi e permessi?</a:t>
            </a:r>
            <a:endParaRPr lang="en-US" sz="1200" dirty="0"/>
          </a:p>
        </p:txBody>
      </p:sp>
      <p:sp>
        <p:nvSpPr>
          <p:cNvPr id="18" name="riga 1"/>
          <p:cNvSpPr/>
          <p:nvPr/>
        </p:nvSpPr>
        <p:spPr>
          <a:xfrm>
            <a:off x="4709160" y="1993392"/>
            <a:ext cx="3977640" cy="502920"/>
          </a:xfrm>
          <a:prstGeom prst="roundRect">
            <a:avLst>
              <a:gd name="adj" fmla="val 14545"/>
            </a:avLst>
          </a:prstGeom>
          <a:solidFill>
            <a:schemeClr val="bg1"/>
          </a:solidFill>
          <a:ln/>
        </p:spPr>
      </p:sp>
      <p:sp>
        <p:nvSpPr>
          <p:cNvPr id="19" name="Text 16"/>
          <p:cNvSpPr txBox="1"/>
          <p:nvPr/>
        </p:nvSpPr>
        <p:spPr>
          <a:xfrm>
            <a:off x="4892040" y="1993392"/>
            <a:ext cx="3611880" cy="502920"/>
          </a:xfrm>
          <a:prstGeom prst="rect">
            <a:avLst/>
          </a:prstGeom>
          <a:noFill/>
          <a:ln/>
        </p:spPr>
        <p:txBody>
          <a:bodyPr wrap="square" lIns="0" tIns="0" rIns="0" bIns="0" rtlCol="0" anchor="ctr"/>
          <a:lstStyle/>
          <a:p>
            <a:pPr indent="0" marL="0">
              <a:buNone/>
            </a:pPr>
            <a:r>
              <a:rPr lang="en-US" sz="1200" dirty="0">
                <a:solidFill>
                  <a:schemeClr val="tx1"/>
                </a:solidFill>
              </a:rPr>
              <a:t>Accesso con credenziali aziendali?</a:t>
            </a:r>
            <a:endParaRPr lang="en-US" sz="1200" dirty="0"/>
          </a:p>
        </p:txBody>
      </p:sp>
      <p:sp>
        <p:nvSpPr>
          <p:cNvPr id="20" name="riga 2"/>
          <p:cNvSpPr/>
          <p:nvPr/>
        </p:nvSpPr>
        <p:spPr>
          <a:xfrm>
            <a:off x="4709160" y="2569464"/>
            <a:ext cx="3977640" cy="502920"/>
          </a:xfrm>
          <a:prstGeom prst="roundRect">
            <a:avLst>
              <a:gd name="adj" fmla="val 14545"/>
            </a:avLst>
          </a:prstGeom>
          <a:solidFill>
            <a:schemeClr val="bg2"/>
          </a:solidFill>
          <a:ln/>
        </p:spPr>
      </p:sp>
      <p:sp>
        <p:nvSpPr>
          <p:cNvPr id="21" name="Text 18"/>
          <p:cNvSpPr txBox="1"/>
          <p:nvPr/>
        </p:nvSpPr>
        <p:spPr>
          <a:xfrm>
            <a:off x="4892040" y="2569464"/>
            <a:ext cx="3611880" cy="502920"/>
          </a:xfrm>
          <a:prstGeom prst="rect">
            <a:avLst/>
          </a:prstGeom>
          <a:noFill/>
          <a:ln/>
        </p:spPr>
        <p:txBody>
          <a:bodyPr wrap="square" lIns="0" tIns="0" rIns="0" bIns="0" rtlCol="0" anchor="ctr"/>
          <a:lstStyle/>
          <a:p>
            <a:pPr indent="0" marL="0">
              <a:buNone/>
            </a:pPr>
            <a:r>
              <a:rPr lang="en-US" sz="1200" dirty="0">
                <a:solidFill>
                  <a:schemeClr val="tx1"/>
                </a:solidFill>
              </a:rPr>
              <a:t>Disattivazione di funzioni non autorizzate?</a:t>
            </a:r>
            <a:endParaRPr lang="en-US" sz="1200" dirty="0"/>
          </a:p>
        </p:txBody>
      </p:sp>
      <p:sp>
        <p:nvSpPr>
          <p:cNvPr id="22" name="riga 3"/>
          <p:cNvSpPr/>
          <p:nvPr/>
        </p:nvSpPr>
        <p:spPr>
          <a:xfrm>
            <a:off x="4709160" y="3145536"/>
            <a:ext cx="3977640" cy="502920"/>
          </a:xfrm>
          <a:prstGeom prst="roundRect">
            <a:avLst>
              <a:gd name="adj" fmla="val 14545"/>
            </a:avLst>
          </a:prstGeom>
          <a:solidFill>
            <a:schemeClr val="bg1"/>
          </a:solidFill>
          <a:ln/>
        </p:spPr>
      </p:sp>
      <p:sp>
        <p:nvSpPr>
          <p:cNvPr id="23" name="Text 20"/>
          <p:cNvSpPr txBox="1"/>
          <p:nvPr/>
        </p:nvSpPr>
        <p:spPr>
          <a:xfrm>
            <a:off x="4892040" y="3145536"/>
            <a:ext cx="3611880" cy="502920"/>
          </a:xfrm>
          <a:prstGeom prst="rect">
            <a:avLst/>
          </a:prstGeom>
          <a:noFill/>
          <a:ln/>
        </p:spPr>
        <p:txBody>
          <a:bodyPr wrap="square" lIns="0" tIns="0" rIns="0" bIns="0" rtlCol="0" anchor="ctr"/>
          <a:lstStyle/>
          <a:p>
            <a:pPr indent="0" marL="0">
              <a:buNone/>
            </a:pPr>
            <a:r>
              <a:rPr lang="en-US" sz="1200" dirty="0">
                <a:solidFill>
                  <a:schemeClr val="tx1"/>
                </a:solidFill>
              </a:rPr>
              <a:t>Registri delle attività?</a:t>
            </a:r>
            <a:endParaRPr lang="en-US" sz="1200" dirty="0"/>
          </a:p>
        </p:txBody>
      </p:sp>
      <p:sp>
        <p:nvSpPr>
          <p:cNvPr id="24" name="riga 4"/>
          <p:cNvSpPr/>
          <p:nvPr/>
        </p:nvSpPr>
        <p:spPr>
          <a:xfrm>
            <a:off x="4709160" y="3721608"/>
            <a:ext cx="3977640" cy="502920"/>
          </a:xfrm>
          <a:prstGeom prst="roundRect">
            <a:avLst>
              <a:gd name="adj" fmla="val 14545"/>
            </a:avLst>
          </a:prstGeom>
          <a:solidFill>
            <a:schemeClr val="bg2"/>
          </a:solidFill>
          <a:ln/>
        </p:spPr>
      </p:sp>
      <p:sp>
        <p:nvSpPr>
          <p:cNvPr id="25" name="Text 22"/>
          <p:cNvSpPr txBox="1"/>
          <p:nvPr/>
        </p:nvSpPr>
        <p:spPr>
          <a:xfrm>
            <a:off x="4892040" y="3721608"/>
            <a:ext cx="3611880" cy="502920"/>
          </a:xfrm>
          <a:prstGeom prst="rect">
            <a:avLst/>
          </a:prstGeom>
          <a:noFill/>
          <a:ln/>
        </p:spPr>
        <p:txBody>
          <a:bodyPr wrap="square" lIns="0" tIns="0" rIns="0" bIns="0" rtlCol="0" anchor="ctr"/>
          <a:lstStyle/>
          <a:p>
            <a:pPr indent="0" marL="0">
              <a:buNone/>
            </a:pPr>
            <a:r>
              <a:rPr lang="en-US" sz="1200" dirty="0">
                <a:solidFill>
                  <a:schemeClr val="tx1"/>
                </a:solidFill>
              </a:rPr>
              <a:t>Revoca rapida degli accessi?</a:t>
            </a:r>
            <a:endParaRPr lang="en-US" sz="1200" dirty="0"/>
          </a:p>
        </p:txBody>
      </p:sp>
      <p:sp>
        <p:nvSpPr>
          <p:cNvPr id="26" name="messaggio"/>
          <p:cNvSpPr/>
          <p:nvPr/>
        </p:nvSpPr>
        <p:spPr>
          <a:xfrm>
            <a:off x="457200" y="4343400"/>
            <a:ext cx="8229600" cy="384048"/>
          </a:xfrm>
          <a:prstGeom prst="roundRect">
            <a:avLst>
              <a:gd name="adj" fmla="val 19048"/>
            </a:avLst>
          </a:prstGeom>
          <a:solidFill>
            <a:schemeClr val="tx1"/>
          </a:solidFill>
          <a:ln/>
        </p:spPr>
      </p:sp>
      <p:sp>
        <p:nvSpPr>
          <p:cNvPr id="27" name="Text 24"/>
          <p:cNvSpPr txBox="1"/>
          <p:nvPr/>
        </p:nvSpPr>
        <p:spPr>
          <a:xfrm>
            <a:off x="640080" y="4343400"/>
            <a:ext cx="7863840" cy="384048"/>
          </a:xfrm>
          <a:prstGeom prst="rect">
            <a:avLst/>
          </a:prstGeom>
          <a:noFill/>
          <a:ln/>
        </p:spPr>
        <p:txBody>
          <a:bodyPr wrap="square" lIns="0" tIns="0" rIns="0" bIns="0" rtlCol="0" anchor="ctr"/>
          <a:lstStyle/>
          <a:p>
            <a:pPr indent="0" marL="0">
              <a:buNone/>
            </a:pPr>
            <a:r>
              <a:rPr lang="en-US" sz="1200" dirty="0">
                <a:solidFill>
                  <a:schemeClr val="bg1"/>
                </a:solidFill>
              </a:rPr>
              <a:t>Cercare le risposte nei documenti contrattuali e coinvolgere IT, sicurezza, legale e privacy.</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Indipendenza tecnologica e vendor lock-in</a:t>
            </a:r>
            <a:endParaRPr lang="en-US" sz="2600" dirty="0"/>
          </a:p>
        </p:txBody>
      </p:sp>
      <p:sp>
        <p:nvSpPr>
          <p:cNvPr id="4" name="Text 1"/>
          <p:cNvSpPr txBox="1"/>
          <p:nvPr/>
        </p:nvSpPr>
        <p:spPr>
          <a:xfrm>
            <a:off x="457200" y="1051560"/>
            <a:ext cx="3977640" cy="274320"/>
          </a:xfrm>
          <a:prstGeom prst="rect">
            <a:avLst/>
          </a:prstGeom>
          <a:noFill/>
          <a:ln/>
        </p:spPr>
        <p:txBody>
          <a:bodyPr wrap="square" lIns="0" tIns="0" rIns="0" bIns="0" rtlCol="0" anchor="t"/>
          <a:lstStyle/>
          <a:p>
            <a:pPr indent="0" marL="0">
              <a:buNone/>
            </a:pPr>
            <a:r>
              <a:rPr lang="en-US" sz="1400" b="1" dirty="0">
                <a:solidFill>
                  <a:schemeClr val="accent5"/>
                </a:solidFill>
              </a:rPr>
              <a:t>Dove nasce la dipendenza</a:t>
            </a:r>
            <a:endParaRPr lang="en-US" sz="1400" dirty="0"/>
          </a:p>
        </p:txBody>
      </p:sp>
      <p:sp>
        <p:nvSpPr>
          <p:cNvPr id="5" name="riga 0"/>
          <p:cNvSpPr/>
          <p:nvPr/>
        </p:nvSpPr>
        <p:spPr>
          <a:xfrm>
            <a:off x="457200" y="1417320"/>
            <a:ext cx="3977640" cy="457200"/>
          </a:xfrm>
          <a:prstGeom prst="roundRect">
            <a:avLst>
              <a:gd name="adj" fmla="val 16000"/>
            </a:avLst>
          </a:prstGeom>
          <a:solidFill>
            <a:schemeClr val="bg2"/>
          </a:solidFill>
          <a:ln/>
        </p:spPr>
      </p:sp>
      <p:sp>
        <p:nvSpPr>
          <p:cNvPr id="6" name="Text 3"/>
          <p:cNvSpPr txBox="1"/>
          <p:nvPr/>
        </p:nvSpPr>
        <p:spPr>
          <a:xfrm>
            <a:off x="640080" y="1417320"/>
            <a:ext cx="3611880" cy="457200"/>
          </a:xfrm>
          <a:prstGeom prst="rect">
            <a:avLst/>
          </a:prstGeom>
          <a:noFill/>
          <a:ln/>
        </p:spPr>
        <p:txBody>
          <a:bodyPr wrap="square" lIns="0" tIns="0" rIns="0" bIns="0" rtlCol="0" anchor="ctr"/>
          <a:lstStyle/>
          <a:p>
            <a:pPr indent="0" marL="0">
              <a:buNone/>
            </a:pPr>
            <a:r>
              <a:rPr lang="en-US" sz="1200" dirty="0">
                <a:solidFill>
                  <a:schemeClr val="tx1"/>
                </a:solidFill>
              </a:rPr>
              <a:t>Dati e contenuti difficili da esportare</a:t>
            </a:r>
            <a:endParaRPr lang="en-US" sz="1200" dirty="0"/>
          </a:p>
        </p:txBody>
      </p:sp>
      <p:sp>
        <p:nvSpPr>
          <p:cNvPr id="7" name="riga 1"/>
          <p:cNvSpPr/>
          <p:nvPr/>
        </p:nvSpPr>
        <p:spPr>
          <a:xfrm>
            <a:off x="457200" y="1947672"/>
            <a:ext cx="3977640" cy="457200"/>
          </a:xfrm>
          <a:prstGeom prst="roundRect">
            <a:avLst>
              <a:gd name="adj" fmla="val 16000"/>
            </a:avLst>
          </a:prstGeom>
          <a:solidFill>
            <a:schemeClr val="bg1"/>
          </a:solidFill>
          <a:ln/>
        </p:spPr>
      </p:sp>
      <p:sp>
        <p:nvSpPr>
          <p:cNvPr id="8" name="Text 5"/>
          <p:cNvSpPr txBox="1"/>
          <p:nvPr/>
        </p:nvSpPr>
        <p:spPr>
          <a:xfrm>
            <a:off x="640080" y="1947672"/>
            <a:ext cx="3611880" cy="457200"/>
          </a:xfrm>
          <a:prstGeom prst="rect">
            <a:avLst/>
          </a:prstGeom>
          <a:noFill/>
          <a:ln/>
        </p:spPr>
        <p:txBody>
          <a:bodyPr wrap="square" lIns="0" tIns="0" rIns="0" bIns="0" rtlCol="0" anchor="ctr"/>
          <a:lstStyle/>
          <a:p>
            <a:pPr indent="0" marL="0">
              <a:buNone/>
            </a:pPr>
            <a:r>
              <a:rPr lang="en-US" sz="1200" dirty="0">
                <a:solidFill>
                  <a:schemeClr val="tx1"/>
                </a:solidFill>
              </a:rPr>
              <a:t>Configurazioni specifiche della piattaforma</a:t>
            </a:r>
            <a:endParaRPr lang="en-US" sz="1200" dirty="0"/>
          </a:p>
        </p:txBody>
      </p:sp>
      <p:sp>
        <p:nvSpPr>
          <p:cNvPr id="9" name="riga 2"/>
          <p:cNvSpPr/>
          <p:nvPr/>
        </p:nvSpPr>
        <p:spPr>
          <a:xfrm>
            <a:off x="457200" y="2478024"/>
            <a:ext cx="3977640" cy="457200"/>
          </a:xfrm>
          <a:prstGeom prst="roundRect">
            <a:avLst>
              <a:gd name="adj" fmla="val 16000"/>
            </a:avLst>
          </a:prstGeom>
          <a:solidFill>
            <a:schemeClr val="bg2"/>
          </a:solidFill>
          <a:ln/>
        </p:spPr>
      </p:sp>
      <p:sp>
        <p:nvSpPr>
          <p:cNvPr id="10" name="Text 7"/>
          <p:cNvSpPr txBox="1"/>
          <p:nvPr/>
        </p:nvSpPr>
        <p:spPr>
          <a:xfrm>
            <a:off x="640080" y="2478024"/>
            <a:ext cx="3611880" cy="457200"/>
          </a:xfrm>
          <a:prstGeom prst="rect">
            <a:avLst/>
          </a:prstGeom>
          <a:noFill/>
          <a:ln/>
        </p:spPr>
        <p:txBody>
          <a:bodyPr wrap="square" lIns="0" tIns="0" rIns="0" bIns="0" rtlCol="0" anchor="ctr"/>
          <a:lstStyle/>
          <a:p>
            <a:pPr indent="0" marL="0">
              <a:buNone/>
            </a:pPr>
            <a:r>
              <a:rPr lang="en-US" sz="1200" dirty="0">
                <a:solidFill>
                  <a:schemeClr val="tx1"/>
                </a:solidFill>
              </a:rPr>
              <a:t>Integrazioni legate alle API di un fornitore</a:t>
            </a:r>
            <a:endParaRPr lang="en-US" sz="1200" dirty="0"/>
          </a:p>
        </p:txBody>
      </p:sp>
      <p:sp>
        <p:nvSpPr>
          <p:cNvPr id="11" name="riga 3"/>
          <p:cNvSpPr/>
          <p:nvPr/>
        </p:nvSpPr>
        <p:spPr>
          <a:xfrm>
            <a:off x="457200" y="3008376"/>
            <a:ext cx="3977640" cy="457200"/>
          </a:xfrm>
          <a:prstGeom prst="roundRect">
            <a:avLst>
              <a:gd name="adj" fmla="val 16000"/>
            </a:avLst>
          </a:prstGeom>
          <a:solidFill>
            <a:schemeClr val="bg1"/>
          </a:solidFill>
          <a:ln/>
        </p:spPr>
      </p:sp>
      <p:sp>
        <p:nvSpPr>
          <p:cNvPr id="12" name="Text 9"/>
          <p:cNvSpPr txBox="1"/>
          <p:nvPr/>
        </p:nvSpPr>
        <p:spPr>
          <a:xfrm>
            <a:off x="640080" y="3008376"/>
            <a:ext cx="3611880" cy="457200"/>
          </a:xfrm>
          <a:prstGeom prst="rect">
            <a:avLst/>
          </a:prstGeom>
          <a:noFill/>
          <a:ln/>
        </p:spPr>
        <p:txBody>
          <a:bodyPr wrap="square" lIns="0" tIns="0" rIns="0" bIns="0" rtlCol="0" anchor="ctr"/>
          <a:lstStyle/>
          <a:p>
            <a:pPr indent="0" marL="0">
              <a:buNone/>
            </a:pPr>
            <a:r>
              <a:rPr lang="en-US" sz="1200" dirty="0">
                <a:solidFill>
                  <a:schemeClr val="tx1"/>
                </a:solidFill>
              </a:rPr>
              <a:t>Abitudini e formazione delle persone</a:t>
            </a:r>
            <a:endParaRPr lang="en-US" sz="1200" dirty="0"/>
          </a:p>
        </p:txBody>
      </p:sp>
      <p:sp>
        <p:nvSpPr>
          <p:cNvPr id="13" name="riga 4"/>
          <p:cNvSpPr/>
          <p:nvPr/>
        </p:nvSpPr>
        <p:spPr>
          <a:xfrm>
            <a:off x="457200" y="3538728"/>
            <a:ext cx="3977640" cy="457200"/>
          </a:xfrm>
          <a:prstGeom prst="roundRect">
            <a:avLst>
              <a:gd name="adj" fmla="val 16000"/>
            </a:avLst>
          </a:prstGeom>
          <a:solidFill>
            <a:schemeClr val="bg2"/>
          </a:solidFill>
          <a:ln/>
        </p:spPr>
      </p:sp>
      <p:sp>
        <p:nvSpPr>
          <p:cNvPr id="14" name="Text 11"/>
          <p:cNvSpPr txBox="1"/>
          <p:nvPr/>
        </p:nvSpPr>
        <p:spPr>
          <a:xfrm>
            <a:off x="640080" y="3538728"/>
            <a:ext cx="3611880" cy="457200"/>
          </a:xfrm>
          <a:prstGeom prst="rect">
            <a:avLst/>
          </a:prstGeom>
          <a:noFill/>
          <a:ln/>
        </p:spPr>
        <p:txBody>
          <a:bodyPr wrap="square" lIns="0" tIns="0" rIns="0" bIns="0" rtlCol="0" anchor="ctr"/>
          <a:lstStyle/>
          <a:p>
            <a:pPr indent="0" marL="0">
              <a:buNone/>
            </a:pPr>
            <a:r>
              <a:rPr lang="en-US" sz="1200" dirty="0">
                <a:solidFill>
                  <a:schemeClr val="tx1"/>
                </a:solidFill>
              </a:rPr>
              <a:t>AI integrata in una suite più ampia</a:t>
            </a:r>
            <a:endParaRPr lang="en-US" sz="1200" dirty="0"/>
          </a:p>
        </p:txBody>
      </p:sp>
      <p:sp>
        <p:nvSpPr>
          <p:cNvPr id="15" name="Text 12"/>
          <p:cNvSpPr txBox="1"/>
          <p:nvPr/>
        </p:nvSpPr>
        <p:spPr>
          <a:xfrm>
            <a:off x="4709160" y="1051560"/>
            <a:ext cx="3977640" cy="274320"/>
          </a:xfrm>
          <a:prstGeom prst="rect">
            <a:avLst/>
          </a:prstGeom>
          <a:noFill/>
          <a:ln/>
        </p:spPr>
        <p:txBody>
          <a:bodyPr wrap="square" lIns="0" tIns="0" rIns="0" bIns="0" rtlCol="0" anchor="t"/>
          <a:lstStyle/>
          <a:p>
            <a:pPr indent="0" marL="0">
              <a:buNone/>
            </a:pPr>
            <a:r>
              <a:rPr lang="en-US" sz="1400" b="1" dirty="0">
                <a:solidFill>
                  <a:schemeClr val="accent1"/>
                </a:solidFill>
              </a:rPr>
              <a:t>Come ridurre il rischio</a:t>
            </a:r>
            <a:endParaRPr lang="en-US" sz="1400" dirty="0"/>
          </a:p>
        </p:txBody>
      </p:sp>
      <p:sp>
        <p:nvSpPr>
          <p:cNvPr id="16" name="Verificare l'esportazione di dati e configurazioni"/>
          <p:cNvSpPr/>
          <p:nvPr/>
        </p:nvSpPr>
        <p:spPr>
          <a:xfrm>
            <a:off x="4709160" y="1417320"/>
            <a:ext cx="3977640" cy="457200"/>
          </a:xfrm>
          <a:prstGeom prst="roundRect">
            <a:avLst>
              <a:gd name="adj" fmla="val 16000"/>
            </a:avLst>
          </a:prstGeom>
          <a:solidFill>
            <a:schemeClr val="accent6"/>
          </a:solidFill>
          <a:ln/>
        </p:spPr>
      </p:sp>
      <p:sp>
        <p:nvSpPr>
          <p:cNvPr id="17" name="Text 14"/>
          <p:cNvSpPr txBox="1"/>
          <p:nvPr/>
        </p:nvSpPr>
        <p:spPr>
          <a:xfrm>
            <a:off x="4892040" y="1417320"/>
            <a:ext cx="3657600" cy="457200"/>
          </a:xfrm>
          <a:prstGeom prst="rect">
            <a:avLst/>
          </a:prstGeom>
          <a:noFill/>
          <a:ln/>
        </p:spPr>
        <p:txBody>
          <a:bodyPr wrap="square" lIns="0" tIns="0" rIns="0" bIns="0" rtlCol="0" anchor="ctr"/>
          <a:lstStyle/>
          <a:p>
            <a:pPr indent="0" marL="0">
              <a:buNone/>
            </a:pPr>
            <a:r>
              <a:rPr lang="en-US" sz="1200" dirty="0">
                <a:solidFill>
                  <a:schemeClr val="tx1"/>
                </a:solidFill>
              </a:rPr>
              <a:t>Verificare l'esportazione di dati e configurazioni</a:t>
            </a:r>
            <a:endParaRPr lang="en-US" sz="1200" dirty="0"/>
          </a:p>
        </p:txBody>
      </p:sp>
      <p:sp>
        <p:nvSpPr>
          <p:cNvPr id="18" name="Preferire formati e standard aperti"/>
          <p:cNvSpPr/>
          <p:nvPr/>
        </p:nvSpPr>
        <p:spPr>
          <a:xfrm>
            <a:off x="4709160" y="1947672"/>
            <a:ext cx="3977640" cy="457200"/>
          </a:xfrm>
          <a:prstGeom prst="roundRect">
            <a:avLst>
              <a:gd name="adj" fmla="val 16000"/>
            </a:avLst>
          </a:prstGeom>
          <a:solidFill>
            <a:schemeClr val="accent6"/>
          </a:solidFill>
          <a:ln/>
        </p:spPr>
      </p:sp>
      <p:sp>
        <p:nvSpPr>
          <p:cNvPr id="19" name="Text 16"/>
          <p:cNvSpPr txBox="1"/>
          <p:nvPr/>
        </p:nvSpPr>
        <p:spPr>
          <a:xfrm>
            <a:off x="4892040" y="1947672"/>
            <a:ext cx="3657600" cy="457200"/>
          </a:xfrm>
          <a:prstGeom prst="rect">
            <a:avLst/>
          </a:prstGeom>
          <a:noFill/>
          <a:ln/>
        </p:spPr>
        <p:txBody>
          <a:bodyPr wrap="square" lIns="0" tIns="0" rIns="0" bIns="0" rtlCol="0" anchor="ctr"/>
          <a:lstStyle/>
          <a:p>
            <a:pPr indent="0" marL="0">
              <a:buNone/>
            </a:pPr>
            <a:r>
              <a:rPr lang="en-US" sz="1200" dirty="0">
                <a:solidFill>
                  <a:schemeClr val="tx1"/>
                </a:solidFill>
              </a:rPr>
              <a:t>Preferire formati e standard aperti</a:t>
            </a:r>
            <a:endParaRPr lang="en-US" sz="1200" dirty="0"/>
          </a:p>
        </p:txBody>
      </p:sp>
      <p:sp>
        <p:nvSpPr>
          <p:cNvPr id="20" name="Valutare piattaforme che supportano più modelli"/>
          <p:cNvSpPr/>
          <p:nvPr/>
        </p:nvSpPr>
        <p:spPr>
          <a:xfrm>
            <a:off x="4709160" y="2478024"/>
            <a:ext cx="3977640" cy="457200"/>
          </a:xfrm>
          <a:prstGeom prst="roundRect">
            <a:avLst>
              <a:gd name="adj" fmla="val 16000"/>
            </a:avLst>
          </a:prstGeom>
          <a:solidFill>
            <a:schemeClr val="accent6"/>
          </a:solidFill>
          <a:ln/>
        </p:spPr>
      </p:sp>
      <p:sp>
        <p:nvSpPr>
          <p:cNvPr id="21" name="Text 18"/>
          <p:cNvSpPr txBox="1"/>
          <p:nvPr/>
        </p:nvSpPr>
        <p:spPr>
          <a:xfrm>
            <a:off x="4892040" y="2478024"/>
            <a:ext cx="3657600" cy="457200"/>
          </a:xfrm>
          <a:prstGeom prst="rect">
            <a:avLst/>
          </a:prstGeom>
          <a:noFill/>
          <a:ln/>
        </p:spPr>
        <p:txBody>
          <a:bodyPr wrap="square" lIns="0" tIns="0" rIns="0" bIns="0" rtlCol="0" anchor="ctr"/>
          <a:lstStyle/>
          <a:p>
            <a:pPr indent="0" marL="0">
              <a:buNone/>
            </a:pPr>
            <a:r>
              <a:rPr lang="en-US" sz="1200" dirty="0">
                <a:solidFill>
                  <a:schemeClr val="tx1"/>
                </a:solidFill>
              </a:rPr>
              <a:t>Valutare piattaforme che supportano più modelli</a:t>
            </a:r>
            <a:endParaRPr lang="en-US" sz="1200" dirty="0"/>
          </a:p>
        </p:txBody>
      </p:sp>
      <p:sp>
        <p:nvSpPr>
          <p:cNvPr id="22" name="Documentare istruzioni e flussi fuori dallo strumento"/>
          <p:cNvSpPr/>
          <p:nvPr/>
        </p:nvSpPr>
        <p:spPr>
          <a:xfrm>
            <a:off x="4709160" y="3008376"/>
            <a:ext cx="3977640" cy="457200"/>
          </a:xfrm>
          <a:prstGeom prst="roundRect">
            <a:avLst>
              <a:gd name="adj" fmla="val 16000"/>
            </a:avLst>
          </a:prstGeom>
          <a:solidFill>
            <a:schemeClr val="accent6"/>
          </a:solidFill>
          <a:ln/>
        </p:spPr>
      </p:sp>
      <p:sp>
        <p:nvSpPr>
          <p:cNvPr id="23" name="Text 20"/>
          <p:cNvSpPr txBox="1"/>
          <p:nvPr/>
        </p:nvSpPr>
        <p:spPr>
          <a:xfrm>
            <a:off x="4892040" y="3008376"/>
            <a:ext cx="3657600" cy="457200"/>
          </a:xfrm>
          <a:prstGeom prst="rect">
            <a:avLst/>
          </a:prstGeom>
          <a:noFill/>
          <a:ln/>
        </p:spPr>
        <p:txBody>
          <a:bodyPr wrap="square" lIns="0" tIns="0" rIns="0" bIns="0" rtlCol="0" anchor="ctr"/>
          <a:lstStyle/>
          <a:p>
            <a:pPr indent="0" marL="0">
              <a:buNone/>
            </a:pPr>
            <a:r>
              <a:rPr lang="en-US" sz="1200" dirty="0">
                <a:solidFill>
                  <a:schemeClr val="tx1"/>
                </a:solidFill>
              </a:rPr>
              <a:t>Documentare istruzioni e flussi fuori dallo strumento</a:t>
            </a:r>
            <a:endParaRPr lang="en-US" sz="1200" dirty="0"/>
          </a:p>
        </p:txBody>
      </p:sp>
      <p:sp>
        <p:nvSpPr>
          <p:cNvPr id="24" name="Leggere le clausole di uscita del contratto"/>
          <p:cNvSpPr/>
          <p:nvPr/>
        </p:nvSpPr>
        <p:spPr>
          <a:xfrm>
            <a:off x="4709160" y="3538728"/>
            <a:ext cx="3977640" cy="457200"/>
          </a:xfrm>
          <a:prstGeom prst="roundRect">
            <a:avLst>
              <a:gd name="adj" fmla="val 16000"/>
            </a:avLst>
          </a:prstGeom>
          <a:solidFill>
            <a:schemeClr val="accent6"/>
          </a:solidFill>
          <a:ln/>
        </p:spPr>
      </p:sp>
      <p:sp>
        <p:nvSpPr>
          <p:cNvPr id="25" name="Text 22"/>
          <p:cNvSpPr txBox="1"/>
          <p:nvPr/>
        </p:nvSpPr>
        <p:spPr>
          <a:xfrm>
            <a:off x="4892040" y="3538728"/>
            <a:ext cx="3657600" cy="457200"/>
          </a:xfrm>
          <a:prstGeom prst="rect">
            <a:avLst/>
          </a:prstGeom>
          <a:noFill/>
          <a:ln/>
        </p:spPr>
        <p:txBody>
          <a:bodyPr wrap="square" lIns="0" tIns="0" rIns="0" bIns="0" rtlCol="0" anchor="ctr"/>
          <a:lstStyle/>
          <a:p>
            <a:pPr indent="0" marL="0">
              <a:buNone/>
            </a:pPr>
            <a:r>
              <a:rPr lang="en-US" sz="1200" dirty="0">
                <a:solidFill>
                  <a:schemeClr val="tx1"/>
                </a:solidFill>
              </a:rPr>
              <a:t>Leggere le clausole di uscita del contratto</a:t>
            </a:r>
            <a:endParaRPr lang="en-US" sz="1200" dirty="0"/>
          </a:p>
        </p:txBody>
      </p:sp>
      <p:sp>
        <p:nvSpPr>
          <p:cNvPr id="26" name="messaggio"/>
          <p:cNvSpPr/>
          <p:nvPr/>
        </p:nvSpPr>
        <p:spPr>
          <a:xfrm>
            <a:off x="457200" y="4160520"/>
            <a:ext cx="8229600" cy="411480"/>
          </a:xfrm>
          <a:prstGeom prst="roundRect">
            <a:avLst>
              <a:gd name="adj" fmla="val 17778"/>
            </a:avLst>
          </a:prstGeom>
          <a:solidFill>
            <a:schemeClr val="tx1"/>
          </a:solidFill>
          <a:ln/>
        </p:spPr>
      </p:sp>
      <p:sp>
        <p:nvSpPr>
          <p:cNvPr id="27" name="Text 24"/>
          <p:cNvSpPr txBox="1"/>
          <p:nvPr/>
        </p:nvSpPr>
        <p:spPr>
          <a:xfrm>
            <a:off x="640080" y="4160520"/>
            <a:ext cx="7863840" cy="411480"/>
          </a:xfrm>
          <a:prstGeom prst="rect">
            <a:avLst/>
          </a:prstGeom>
          <a:noFill/>
          <a:ln/>
        </p:spPr>
        <p:txBody>
          <a:bodyPr wrap="square" lIns="0" tIns="0" rIns="0" bIns="0" rtlCol="0" anchor="ctr"/>
          <a:lstStyle/>
          <a:p>
            <a:pPr indent="0" marL="0">
              <a:buNone/>
            </a:pPr>
            <a:r>
              <a:rPr lang="en-US" sz="1200" dirty="0">
                <a:solidFill>
                  <a:schemeClr val="bg1"/>
                </a:solidFill>
              </a:rPr>
              <a:t>Non evitare ogni dipendenza, ma sceglierla consapevolmente, valutando la reversibilità.</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Verificare ciò che è davvero disponibile</a:t>
            </a:r>
            <a:endParaRPr lang="en-US" sz="2600" dirty="0"/>
          </a:p>
        </p:txBody>
      </p:sp>
      <p:sp>
        <p:nvSpPr>
          <p:cNvPr id="4" name="Definire attività e criteri di successo"/>
          <p:cNvSpPr/>
          <p:nvPr/>
        </p:nvSpPr>
        <p:spPr>
          <a:xfrm>
            <a:off x="457200" y="1143000"/>
            <a:ext cx="1536192" cy="2103120"/>
          </a:xfrm>
          <a:prstGeom prst="roundRect">
            <a:avLst>
              <a:gd name="adj" fmla="val 4762"/>
            </a:avLst>
          </a:prstGeom>
          <a:solidFill>
            <a:schemeClr val="bg2"/>
          </a:solidFill>
          <a:ln/>
        </p:spPr>
      </p:sp>
      <p:sp>
        <p:nvSpPr>
          <p:cNvPr id="5" name="cerchio FiTarget"/>
          <p:cNvSpPr/>
          <p:nvPr/>
        </p:nvSpPr>
        <p:spPr>
          <a:xfrm>
            <a:off x="969264" y="1280160"/>
            <a:ext cx="512064" cy="512064"/>
          </a:xfrm>
          <a:prstGeom prst="ellipse">
            <a:avLst/>
          </a:prstGeom>
          <a:solidFill>
            <a:schemeClr val="accent1"/>
          </a:solidFill>
          <a:ln/>
        </p:spPr>
      </p:sp>
      <p:pic>
        <p:nvPicPr>
          <p:cNvPr id="6" name="Image 0" descr="FiTarget">    </p:cNvPr>
          <p:cNvPicPr>
            <a:picLocks noChangeAspect="1"/>
          </p:cNvPicPr>
          <p:nvPr/>
        </p:nvPicPr>
        <p:blipFill>
          <a:blip r:embed="rId1"/>
          <a:stretch>
            <a:fillRect/>
          </a:stretch>
        </p:blipFill>
        <p:spPr>
          <a:xfrm>
            <a:off x="1097280" y="1408176"/>
            <a:ext cx="256032" cy="256032"/>
          </a:xfrm>
          <a:prstGeom prst="rect">
            <a:avLst/>
          </a:prstGeom>
        </p:spPr>
      </p:pic>
      <p:sp>
        <p:nvSpPr>
          <p:cNvPr id="7" name="Text 3"/>
          <p:cNvSpPr txBox="1"/>
          <p:nvPr/>
        </p:nvSpPr>
        <p:spPr>
          <a:xfrm>
            <a:off x="548640" y="1874520"/>
            <a:ext cx="1353312" cy="274320"/>
          </a:xfrm>
          <a:prstGeom prst="rect">
            <a:avLst/>
          </a:prstGeom>
          <a:noFill/>
          <a:ln/>
        </p:spPr>
        <p:txBody>
          <a:bodyPr wrap="square" lIns="0" tIns="0" rIns="0" bIns="0" rtlCol="0" anchor="t"/>
          <a:lstStyle/>
          <a:p>
            <a:pPr algn="ctr" indent="0" marL="0">
              <a:buNone/>
            </a:pPr>
            <a:r>
              <a:rPr lang="en-US" sz="1400" b="1" dirty="0">
                <a:solidFill>
                  <a:schemeClr val="accent1"/>
                </a:solidFill>
              </a:rPr>
              <a:t>1.</a:t>
            </a:r>
            <a:endParaRPr lang="en-US" sz="1400" dirty="0"/>
          </a:p>
        </p:txBody>
      </p:sp>
      <p:sp>
        <p:nvSpPr>
          <p:cNvPr id="8" name="Text 4"/>
          <p:cNvSpPr txBox="1"/>
          <p:nvPr/>
        </p:nvSpPr>
        <p:spPr>
          <a:xfrm>
            <a:off x="548640" y="2148840"/>
            <a:ext cx="1353312" cy="1005840"/>
          </a:xfrm>
          <a:prstGeom prst="rect">
            <a:avLst/>
          </a:prstGeom>
          <a:noFill/>
          <a:ln/>
        </p:spPr>
        <p:txBody>
          <a:bodyPr wrap="square" lIns="0" tIns="0" rIns="0" bIns="0" rtlCol="0" anchor="t"/>
          <a:lstStyle/>
          <a:p>
            <a:pPr algn="ctr" indent="0" marL="0">
              <a:buNone/>
            </a:pPr>
            <a:r>
              <a:rPr lang="en-US" sz="1200" b="1" dirty="0">
                <a:solidFill>
                  <a:schemeClr val="tx1"/>
                </a:solidFill>
              </a:rPr>
              <a:t>Definire attività e criteri di successo</a:t>
            </a:r>
            <a:endParaRPr lang="en-US" sz="1200" dirty="0"/>
          </a:p>
        </p:txBody>
      </p:sp>
      <p:sp>
        <p:nvSpPr>
          <p:cNvPr id="9" name="Accesso di prova nella configurazione reale"/>
          <p:cNvSpPr/>
          <p:nvPr/>
        </p:nvSpPr>
        <p:spPr>
          <a:xfrm>
            <a:off x="2139696" y="1143000"/>
            <a:ext cx="1536192" cy="2103120"/>
          </a:xfrm>
          <a:prstGeom prst="roundRect">
            <a:avLst>
              <a:gd name="adj" fmla="val 4762"/>
            </a:avLst>
          </a:prstGeom>
          <a:solidFill>
            <a:schemeClr val="bg2"/>
          </a:solidFill>
          <a:ln/>
        </p:spPr>
      </p:sp>
      <p:sp>
        <p:nvSpPr>
          <p:cNvPr id="10" name="cerchio FiSettings"/>
          <p:cNvSpPr/>
          <p:nvPr/>
        </p:nvSpPr>
        <p:spPr>
          <a:xfrm>
            <a:off x="2651760" y="1280160"/>
            <a:ext cx="512064" cy="512064"/>
          </a:xfrm>
          <a:prstGeom prst="ellipse">
            <a:avLst/>
          </a:prstGeom>
          <a:solidFill>
            <a:schemeClr val="accent1"/>
          </a:solidFill>
          <a:ln/>
        </p:spPr>
      </p:sp>
      <p:pic>
        <p:nvPicPr>
          <p:cNvPr id="11" name="Image 1" descr="FiSettings">    </p:cNvPr>
          <p:cNvPicPr>
            <a:picLocks noChangeAspect="1"/>
          </p:cNvPicPr>
          <p:nvPr/>
        </p:nvPicPr>
        <p:blipFill>
          <a:blip r:embed="rId2"/>
          <a:stretch>
            <a:fillRect/>
          </a:stretch>
        </p:blipFill>
        <p:spPr>
          <a:xfrm>
            <a:off x="2779776" y="1408176"/>
            <a:ext cx="256032" cy="256032"/>
          </a:xfrm>
          <a:prstGeom prst="rect">
            <a:avLst/>
          </a:prstGeom>
        </p:spPr>
      </p:pic>
      <p:sp>
        <p:nvSpPr>
          <p:cNvPr id="12" name="Text 7"/>
          <p:cNvSpPr txBox="1"/>
          <p:nvPr/>
        </p:nvSpPr>
        <p:spPr>
          <a:xfrm>
            <a:off x="2231136" y="1874520"/>
            <a:ext cx="1353312" cy="274320"/>
          </a:xfrm>
          <a:prstGeom prst="rect">
            <a:avLst/>
          </a:prstGeom>
          <a:noFill/>
          <a:ln/>
        </p:spPr>
        <p:txBody>
          <a:bodyPr wrap="square" lIns="0" tIns="0" rIns="0" bIns="0" rtlCol="0" anchor="t"/>
          <a:lstStyle/>
          <a:p>
            <a:pPr algn="ctr" indent="0" marL="0">
              <a:buNone/>
            </a:pPr>
            <a:r>
              <a:rPr lang="en-US" sz="1400" b="1" dirty="0">
                <a:solidFill>
                  <a:schemeClr val="accent1"/>
                </a:solidFill>
              </a:rPr>
              <a:t>2.</a:t>
            </a:r>
            <a:endParaRPr lang="en-US" sz="1400" dirty="0"/>
          </a:p>
        </p:txBody>
      </p:sp>
      <p:sp>
        <p:nvSpPr>
          <p:cNvPr id="13" name="Text 8"/>
          <p:cNvSpPr txBox="1"/>
          <p:nvPr/>
        </p:nvSpPr>
        <p:spPr>
          <a:xfrm>
            <a:off x="2231136" y="2148840"/>
            <a:ext cx="1353312" cy="1005840"/>
          </a:xfrm>
          <a:prstGeom prst="rect">
            <a:avLst/>
          </a:prstGeom>
          <a:noFill/>
          <a:ln/>
        </p:spPr>
        <p:txBody>
          <a:bodyPr wrap="square" lIns="0" tIns="0" rIns="0" bIns="0" rtlCol="0" anchor="t"/>
          <a:lstStyle/>
          <a:p>
            <a:pPr algn="ctr" indent="0" marL="0">
              <a:buNone/>
            </a:pPr>
            <a:r>
              <a:rPr lang="en-US" sz="1200" b="1" dirty="0">
                <a:solidFill>
                  <a:schemeClr val="tx1"/>
                </a:solidFill>
              </a:rPr>
              <a:t>Accesso di prova nella configurazione reale</a:t>
            </a:r>
            <a:endParaRPr lang="en-US" sz="1200" dirty="0"/>
          </a:p>
        </p:txBody>
      </p:sp>
      <p:sp>
        <p:nvSpPr>
          <p:cNvPr id="14" name="Utenti e casi reali, dati autorizzati"/>
          <p:cNvSpPr/>
          <p:nvPr/>
        </p:nvSpPr>
        <p:spPr>
          <a:xfrm>
            <a:off x="3822192" y="1143000"/>
            <a:ext cx="1536192" cy="2103120"/>
          </a:xfrm>
          <a:prstGeom prst="roundRect">
            <a:avLst>
              <a:gd name="adj" fmla="val 4762"/>
            </a:avLst>
          </a:prstGeom>
          <a:solidFill>
            <a:schemeClr val="accent6"/>
          </a:solidFill>
          <a:ln/>
        </p:spPr>
      </p:sp>
      <p:sp>
        <p:nvSpPr>
          <p:cNvPr id="15" name="cerchio FiUsers"/>
          <p:cNvSpPr/>
          <p:nvPr/>
        </p:nvSpPr>
        <p:spPr>
          <a:xfrm>
            <a:off x="4334256" y="1280160"/>
            <a:ext cx="512064" cy="512064"/>
          </a:xfrm>
          <a:prstGeom prst="ellipse">
            <a:avLst/>
          </a:prstGeom>
          <a:solidFill>
            <a:schemeClr val="accent1"/>
          </a:solidFill>
          <a:ln/>
        </p:spPr>
      </p:sp>
      <p:pic>
        <p:nvPicPr>
          <p:cNvPr id="16" name="Image 2" descr="FiUsers">    </p:cNvPr>
          <p:cNvPicPr>
            <a:picLocks noChangeAspect="1"/>
          </p:cNvPicPr>
          <p:nvPr/>
        </p:nvPicPr>
        <p:blipFill>
          <a:blip r:embed="rId3"/>
          <a:stretch>
            <a:fillRect/>
          </a:stretch>
        </p:blipFill>
        <p:spPr>
          <a:xfrm>
            <a:off x="4462272" y="1408176"/>
            <a:ext cx="256032" cy="256032"/>
          </a:xfrm>
          <a:prstGeom prst="rect">
            <a:avLst/>
          </a:prstGeom>
        </p:spPr>
      </p:pic>
      <p:sp>
        <p:nvSpPr>
          <p:cNvPr id="17" name="Text 11"/>
          <p:cNvSpPr txBox="1"/>
          <p:nvPr/>
        </p:nvSpPr>
        <p:spPr>
          <a:xfrm>
            <a:off x="3913632" y="1874520"/>
            <a:ext cx="1353312" cy="274320"/>
          </a:xfrm>
          <a:prstGeom prst="rect">
            <a:avLst/>
          </a:prstGeom>
          <a:noFill/>
          <a:ln/>
        </p:spPr>
        <p:txBody>
          <a:bodyPr wrap="square" lIns="0" tIns="0" rIns="0" bIns="0" rtlCol="0" anchor="t"/>
          <a:lstStyle/>
          <a:p>
            <a:pPr algn="ctr" indent="0" marL="0">
              <a:buNone/>
            </a:pPr>
            <a:r>
              <a:rPr lang="en-US" sz="1400" b="1" dirty="0">
                <a:solidFill>
                  <a:schemeClr val="accent1"/>
                </a:solidFill>
              </a:rPr>
              <a:t>3.</a:t>
            </a:r>
            <a:endParaRPr lang="en-US" sz="1400" dirty="0"/>
          </a:p>
        </p:txBody>
      </p:sp>
      <p:sp>
        <p:nvSpPr>
          <p:cNvPr id="18" name="Text 12"/>
          <p:cNvSpPr txBox="1"/>
          <p:nvPr/>
        </p:nvSpPr>
        <p:spPr>
          <a:xfrm>
            <a:off x="3913632" y="2148840"/>
            <a:ext cx="1353312" cy="1005840"/>
          </a:xfrm>
          <a:prstGeom prst="rect">
            <a:avLst/>
          </a:prstGeom>
          <a:noFill/>
          <a:ln/>
        </p:spPr>
        <p:txBody>
          <a:bodyPr wrap="square" lIns="0" tIns="0" rIns="0" bIns="0" rtlCol="0" anchor="t"/>
          <a:lstStyle/>
          <a:p>
            <a:pPr algn="ctr" indent="0" marL="0">
              <a:buNone/>
            </a:pPr>
            <a:r>
              <a:rPr lang="en-US" sz="1200" b="1" dirty="0">
                <a:solidFill>
                  <a:schemeClr val="tx1"/>
                </a:solidFill>
              </a:rPr>
              <a:t>Utenti e casi reali, dati autorizzati</a:t>
            </a:r>
            <a:endParaRPr lang="en-US" sz="1200" dirty="0"/>
          </a:p>
        </p:txBody>
      </p:sp>
      <p:sp>
        <p:nvSpPr>
          <p:cNvPr id="19" name="Verificare i limiti del piano"/>
          <p:cNvSpPr/>
          <p:nvPr/>
        </p:nvSpPr>
        <p:spPr>
          <a:xfrm>
            <a:off x="5504688" y="1143000"/>
            <a:ext cx="1536192" cy="2103120"/>
          </a:xfrm>
          <a:prstGeom prst="roundRect">
            <a:avLst>
              <a:gd name="adj" fmla="val 4762"/>
            </a:avLst>
          </a:prstGeom>
          <a:solidFill>
            <a:schemeClr val="bg2"/>
          </a:solidFill>
          <a:ln/>
        </p:spPr>
      </p:sp>
      <p:sp>
        <p:nvSpPr>
          <p:cNvPr id="20" name="cerchio FiSliders"/>
          <p:cNvSpPr/>
          <p:nvPr/>
        </p:nvSpPr>
        <p:spPr>
          <a:xfrm>
            <a:off x="6016752" y="1280160"/>
            <a:ext cx="512064" cy="512064"/>
          </a:xfrm>
          <a:prstGeom prst="ellipse">
            <a:avLst/>
          </a:prstGeom>
          <a:solidFill>
            <a:schemeClr val="accent1"/>
          </a:solidFill>
          <a:ln/>
        </p:spPr>
      </p:sp>
      <p:pic>
        <p:nvPicPr>
          <p:cNvPr id="21" name="Image 3" descr="FiSliders">    </p:cNvPr>
          <p:cNvPicPr>
            <a:picLocks noChangeAspect="1"/>
          </p:cNvPicPr>
          <p:nvPr/>
        </p:nvPicPr>
        <p:blipFill>
          <a:blip r:embed="rId4"/>
          <a:stretch>
            <a:fillRect/>
          </a:stretch>
        </p:blipFill>
        <p:spPr>
          <a:xfrm>
            <a:off x="6144768" y="1408176"/>
            <a:ext cx="256032" cy="256032"/>
          </a:xfrm>
          <a:prstGeom prst="rect">
            <a:avLst/>
          </a:prstGeom>
        </p:spPr>
      </p:pic>
      <p:sp>
        <p:nvSpPr>
          <p:cNvPr id="22" name="Text 15"/>
          <p:cNvSpPr txBox="1"/>
          <p:nvPr/>
        </p:nvSpPr>
        <p:spPr>
          <a:xfrm>
            <a:off x="5596128" y="1874520"/>
            <a:ext cx="1353312" cy="274320"/>
          </a:xfrm>
          <a:prstGeom prst="rect">
            <a:avLst/>
          </a:prstGeom>
          <a:noFill/>
          <a:ln/>
        </p:spPr>
        <p:txBody>
          <a:bodyPr wrap="square" lIns="0" tIns="0" rIns="0" bIns="0" rtlCol="0" anchor="t"/>
          <a:lstStyle/>
          <a:p>
            <a:pPr algn="ctr" indent="0" marL="0">
              <a:buNone/>
            </a:pPr>
            <a:r>
              <a:rPr lang="en-US" sz="1400" b="1" dirty="0">
                <a:solidFill>
                  <a:schemeClr val="accent1"/>
                </a:solidFill>
              </a:rPr>
              <a:t>4.</a:t>
            </a:r>
            <a:endParaRPr lang="en-US" sz="1400" dirty="0"/>
          </a:p>
        </p:txBody>
      </p:sp>
      <p:sp>
        <p:nvSpPr>
          <p:cNvPr id="23" name="Text 16"/>
          <p:cNvSpPr txBox="1"/>
          <p:nvPr/>
        </p:nvSpPr>
        <p:spPr>
          <a:xfrm>
            <a:off x="5596128" y="2148840"/>
            <a:ext cx="1353312" cy="1005840"/>
          </a:xfrm>
          <a:prstGeom prst="rect">
            <a:avLst/>
          </a:prstGeom>
          <a:noFill/>
          <a:ln/>
        </p:spPr>
        <p:txBody>
          <a:bodyPr wrap="square" lIns="0" tIns="0" rIns="0" bIns="0" rtlCol="0" anchor="t"/>
          <a:lstStyle/>
          <a:p>
            <a:pPr algn="ctr" indent="0" marL="0">
              <a:buNone/>
            </a:pPr>
            <a:r>
              <a:rPr lang="en-US" sz="1200" b="1" dirty="0">
                <a:solidFill>
                  <a:schemeClr val="tx1"/>
                </a:solidFill>
              </a:rPr>
              <a:t>Verificare i limiti del piano</a:t>
            </a:r>
            <a:endParaRPr lang="en-US" sz="1200" dirty="0"/>
          </a:p>
        </p:txBody>
      </p:sp>
      <p:sp>
        <p:nvSpPr>
          <p:cNvPr id="24" name="Confrontare i risultati con i criteri"/>
          <p:cNvSpPr/>
          <p:nvPr/>
        </p:nvSpPr>
        <p:spPr>
          <a:xfrm>
            <a:off x="7187184" y="1143000"/>
            <a:ext cx="1536192" cy="2103120"/>
          </a:xfrm>
          <a:prstGeom prst="roundRect">
            <a:avLst>
              <a:gd name="adj" fmla="val 4762"/>
            </a:avLst>
          </a:prstGeom>
          <a:solidFill>
            <a:schemeClr val="bg2"/>
          </a:solidFill>
          <a:ln/>
        </p:spPr>
      </p:sp>
      <p:sp>
        <p:nvSpPr>
          <p:cNvPr id="25" name="cerchio FiCheckCircle"/>
          <p:cNvSpPr/>
          <p:nvPr/>
        </p:nvSpPr>
        <p:spPr>
          <a:xfrm>
            <a:off x="7699248" y="1280160"/>
            <a:ext cx="512064" cy="512064"/>
          </a:xfrm>
          <a:prstGeom prst="ellipse">
            <a:avLst/>
          </a:prstGeom>
          <a:solidFill>
            <a:schemeClr val="accent1"/>
          </a:solidFill>
          <a:ln/>
        </p:spPr>
      </p:sp>
      <p:pic>
        <p:nvPicPr>
          <p:cNvPr id="26" name="Image 4" descr="FiCheckCircle">    </p:cNvPr>
          <p:cNvPicPr>
            <a:picLocks noChangeAspect="1"/>
          </p:cNvPicPr>
          <p:nvPr/>
        </p:nvPicPr>
        <p:blipFill>
          <a:blip r:embed="rId5"/>
          <a:stretch>
            <a:fillRect/>
          </a:stretch>
        </p:blipFill>
        <p:spPr>
          <a:xfrm>
            <a:off x="7827264" y="1408176"/>
            <a:ext cx="256032" cy="256032"/>
          </a:xfrm>
          <a:prstGeom prst="rect">
            <a:avLst/>
          </a:prstGeom>
        </p:spPr>
      </p:pic>
      <p:sp>
        <p:nvSpPr>
          <p:cNvPr id="27" name="Text 19"/>
          <p:cNvSpPr txBox="1"/>
          <p:nvPr/>
        </p:nvSpPr>
        <p:spPr>
          <a:xfrm>
            <a:off x="7278624" y="1874520"/>
            <a:ext cx="1353312" cy="274320"/>
          </a:xfrm>
          <a:prstGeom prst="rect">
            <a:avLst/>
          </a:prstGeom>
          <a:noFill/>
          <a:ln/>
        </p:spPr>
        <p:txBody>
          <a:bodyPr wrap="square" lIns="0" tIns="0" rIns="0" bIns="0" rtlCol="0" anchor="t"/>
          <a:lstStyle/>
          <a:p>
            <a:pPr algn="ctr" indent="0" marL="0">
              <a:buNone/>
            </a:pPr>
            <a:r>
              <a:rPr lang="en-US" sz="1400" b="1" dirty="0">
                <a:solidFill>
                  <a:schemeClr val="accent1"/>
                </a:solidFill>
              </a:rPr>
              <a:t>5.</a:t>
            </a:r>
            <a:endParaRPr lang="en-US" sz="1400" dirty="0"/>
          </a:p>
        </p:txBody>
      </p:sp>
      <p:sp>
        <p:nvSpPr>
          <p:cNvPr id="28" name="Text 20"/>
          <p:cNvSpPr txBox="1"/>
          <p:nvPr/>
        </p:nvSpPr>
        <p:spPr>
          <a:xfrm>
            <a:off x="7278624" y="2148840"/>
            <a:ext cx="1353312" cy="1005840"/>
          </a:xfrm>
          <a:prstGeom prst="rect">
            <a:avLst/>
          </a:prstGeom>
          <a:noFill/>
          <a:ln/>
        </p:spPr>
        <p:txBody>
          <a:bodyPr wrap="square" lIns="0" tIns="0" rIns="0" bIns="0" rtlCol="0" anchor="t"/>
          <a:lstStyle/>
          <a:p>
            <a:pPr algn="ctr" indent="0" marL="0">
              <a:buNone/>
            </a:pPr>
            <a:r>
              <a:rPr lang="en-US" sz="1200" b="1" dirty="0">
                <a:solidFill>
                  <a:schemeClr val="tx1"/>
                </a:solidFill>
              </a:rPr>
              <a:t>Confrontare i risultati con i criteri</a:t>
            </a:r>
            <a:endParaRPr lang="en-US" sz="1200" dirty="0"/>
          </a:p>
        </p:txBody>
      </p:sp>
      <p:sp>
        <p:nvSpPr>
          <p:cNvPr id="29" name="messaggio"/>
          <p:cNvSpPr/>
          <p:nvPr/>
        </p:nvSpPr>
        <p:spPr>
          <a:xfrm>
            <a:off x="457200" y="3429000"/>
            <a:ext cx="8229600" cy="685800"/>
          </a:xfrm>
          <a:prstGeom prst="roundRect">
            <a:avLst>
              <a:gd name="adj" fmla="val 10667"/>
            </a:avLst>
          </a:prstGeom>
          <a:solidFill>
            <a:schemeClr val="tx1"/>
          </a:solidFill>
          <a:ln/>
        </p:spPr>
      </p:sp>
      <p:sp>
        <p:nvSpPr>
          <p:cNvPr id="30" name="Text 22"/>
          <p:cNvSpPr txBox="1"/>
          <p:nvPr/>
        </p:nvSpPr>
        <p:spPr>
          <a:xfrm>
            <a:off x="640080" y="3429000"/>
            <a:ext cx="7863840" cy="685800"/>
          </a:xfrm>
          <a:prstGeom prst="rect">
            <a:avLst/>
          </a:prstGeom>
          <a:noFill/>
          <a:ln/>
        </p:spPr>
        <p:txBody>
          <a:bodyPr wrap="square" lIns="0" tIns="0" rIns="0" bIns="0" rtlCol="0" anchor="ctr"/>
          <a:lstStyle/>
          <a:p>
            <a:pPr indent="0" marL="0">
              <a:buNone/>
            </a:pPr>
            <a:r>
              <a:rPr lang="en-US" sz="1300" dirty="0">
                <a:solidFill>
                  <a:schemeClr val="bg1"/>
                </a:solidFill>
              </a:rPr>
              <a:t>Si sceglie sulla base di prove concrete, non della comunicazione commerciale. Due strumenti si confrontano sugli stessi casi.</a:t>
            </a:r>
            <a:endParaRPr lang="en-US" sz="1300" dirty="0"/>
          </a:p>
        </p:txBody>
      </p:sp>
      <p:sp>
        <p:nvSpPr>
          <p:cNvPr id="31" name="Text 23"/>
          <p:cNvSpPr txBox="1"/>
          <p:nvPr/>
        </p:nvSpPr>
        <p:spPr>
          <a:xfrm>
            <a:off x="457200" y="4251960"/>
            <a:ext cx="8229600" cy="274320"/>
          </a:xfrm>
          <a:prstGeom prst="rect">
            <a:avLst/>
          </a:prstGeom>
          <a:noFill/>
          <a:ln/>
        </p:spPr>
        <p:txBody>
          <a:bodyPr wrap="square" lIns="0" tIns="0" rIns="0" bIns="0" rtlCol="0" anchor="t"/>
          <a:lstStyle/>
          <a:p>
            <a:pPr indent="0" marL="0">
              <a:buNone/>
            </a:pPr>
            <a:r>
              <a:rPr lang="en-US" sz="1200" i="1" dirty="0">
                <a:solidFill>
                  <a:schemeClr val="tx2"/>
                </a:solidFill>
              </a:rPr>
              <a:t>Ciò che si verifica oggi può cambiare: ricontrollare nel tempo (sottotema 4.8).</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Una scheda di confronto</a:t>
            </a:r>
            <a:endParaRPr lang="en-US" sz="2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2377440"/>
                <a:gridCol w="1005840"/>
                <a:gridCol w="1188720"/>
                <a:gridCol w="1188720"/>
                <a:gridCol w="2468880"/>
              </a:tblGrid>
              <a:tr h="411480">
                <a:tc>
                  <a:txBody>
                    <a:bodyPr/>
                    <a:lstStyle/>
                    <a:p>
                      <a:pPr indent="0" marL="0">
                        <a:buNone/>
                      </a:pPr>
                      <a:r>
                        <a:rPr lang="en-US" sz="1200" b="1" dirty="0">
                          <a:solidFill>
                            <a:schemeClr val="bg1"/>
                          </a:solidFill>
                        </a:rPr>
                        <a:t>Criterio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Peso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Soluzione 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Soluzione B</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Evidenze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r>
              <a:tr h="411480">
                <a:tc>
                  <a:txBody>
                    <a:bodyPr/>
                    <a:lstStyle/>
                    <a:p>
                      <a:pPr indent="0" marL="0">
                        <a:buNone/>
                      </a:pPr>
                      <a:r>
                        <a:rPr lang="en-US" sz="1200" b="1" dirty="0">
                          <a:solidFill>
                            <a:schemeClr val="tx1"/>
                          </a:solidFill>
                        </a:rPr>
                        <a:t>Adeguatezza alle attività</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Alto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4</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3</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Prove su 20 casi reali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11480">
                <a:tc>
                  <a:txBody>
                    <a:bodyPr/>
                    <a:lstStyle/>
                    <a:p>
                      <a:pPr indent="0" marL="0">
                        <a:buNone/>
                      </a:pPr>
                      <a:r>
                        <a:rPr lang="en-US" sz="1200" b="1" dirty="0">
                          <a:solidFill>
                            <a:schemeClr val="tx1"/>
                          </a:solidFill>
                        </a:rPr>
                        <a:t>Qualità e affidabilità</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Alto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4</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4</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Errori annotati per tipo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11480">
                <a:tc>
                  <a:txBody>
                    <a:bodyPr/>
                    <a:lstStyle/>
                    <a:p>
                      <a:pPr indent="0" marL="0">
                        <a:buNone/>
                      </a:pPr>
                      <a:r>
                        <a:rPr lang="en-US" sz="1200" b="1" dirty="0">
                          <a:solidFill>
                            <a:schemeClr val="tx1"/>
                          </a:solidFill>
                        </a:rPr>
                        <a:t>Integrazione con i sistemi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Medio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2</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5</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Documentazione tecnica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11480">
                <a:tc>
                  <a:txBody>
                    <a:bodyPr/>
                    <a:lstStyle/>
                    <a:p>
                      <a:pPr indent="0" marL="0">
                        <a:buNone/>
                      </a:pPr>
                      <a:r>
                        <a:rPr lang="en-US" sz="1200" b="1" dirty="0">
                          <a:solidFill>
                            <a:schemeClr val="tx1"/>
                          </a:solidFill>
                        </a:rPr>
                        <a:t>Costi complessivi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Medio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4</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3</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Stima su 12 mesi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11480">
                <a:tc>
                  <a:txBody>
                    <a:bodyPr/>
                    <a:lstStyle/>
                    <a:p>
                      <a:pPr indent="0" marL="0">
                        <a:buNone/>
                      </a:pPr>
                      <a:r>
                        <a:rPr lang="en-US" sz="1200" b="1" dirty="0">
                          <a:solidFill>
                            <a:schemeClr val="tx1"/>
                          </a:solidFill>
                        </a:rPr>
                        <a:t>Dati e sicurezza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Requisito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Sì</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Sì</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Contratto, certificazioni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11480">
                <a:tc>
                  <a:txBody>
                    <a:bodyPr/>
                    <a:lstStyle/>
                    <a:p>
                      <a:pPr indent="0" marL="0">
                        <a:buNone/>
                      </a:pPr>
                      <a:r>
                        <a:rPr lang="en-US" sz="1200" b="1" dirty="0">
                          <a:solidFill>
                            <a:schemeClr val="tx1"/>
                          </a:solidFill>
                        </a:rPr>
                        <a:t>Portabilità e lock-in</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Medio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3</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2</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Prova di esportazione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bl>
          </a:graphicData>
        </a:graphic>
      </p:graphicFrame>
      <p:sp>
        <p:nvSpPr>
          <p:cNvPr id="5" name="Text 1"/>
          <p:cNvSpPr txBox="1"/>
          <p:nvPr/>
        </p:nvSpPr>
        <p:spPr>
          <a:xfrm>
            <a:off x="457200" y="4114800"/>
            <a:ext cx="3657600" cy="274320"/>
          </a:xfrm>
          <a:prstGeom prst="rect">
            <a:avLst/>
          </a:prstGeom>
          <a:noFill/>
          <a:ln/>
        </p:spPr>
        <p:txBody>
          <a:bodyPr wrap="square" lIns="0" tIns="0" rIns="0" bIns="0" rtlCol="0" anchor="t"/>
          <a:lstStyle/>
          <a:p>
            <a:pPr indent="0" marL="0">
              <a:buNone/>
            </a:pPr>
            <a:r>
              <a:rPr lang="en-US" sz="1000" i="1" dirty="0">
                <a:solidFill>
                  <a:schemeClr val="accent2"/>
                </a:solidFill>
              </a:rPr>
              <a:t>Valori puramente illustrativi</a:t>
            </a:r>
            <a:endParaRPr lang="en-US" sz="1000" dirty="0"/>
          </a:p>
        </p:txBody>
      </p:sp>
      <p:sp>
        <p:nvSpPr>
          <p:cNvPr id="6" name="Text 2"/>
          <p:cNvSpPr txBox="1"/>
          <p:nvPr/>
        </p:nvSpPr>
        <p:spPr>
          <a:xfrm>
            <a:off x="457200" y="4389120"/>
            <a:ext cx="8229600" cy="274320"/>
          </a:xfrm>
          <a:prstGeom prst="rect">
            <a:avLst/>
          </a:prstGeom>
          <a:noFill/>
          <a:ln/>
        </p:spPr>
        <p:txBody>
          <a:bodyPr wrap="square" lIns="0" tIns="0" rIns="0" bIns="0" rtlCol="0" anchor="t"/>
          <a:lstStyle/>
          <a:p>
            <a:pPr indent="0" marL="0">
              <a:buNone/>
            </a:pPr>
            <a:r>
              <a:rPr lang="en-US" sz="1200" b="1" dirty="0">
                <a:solidFill>
                  <a:schemeClr val="tx1"/>
                </a:solidFill>
              </a:rPr>
              <a:t>Pesi prima della valutazione  ·  Requisiti minimi escludenti  ·  Il punteggio non sostituisce il giudizio</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Lo strumento più noto o il modello più potente non è necessariamente la scelta migliore per l'azienda.</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4.7  ·  Criteri per confrontare e scegliere gli strumenti AI</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4.8</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L'evoluzione e la dinamicità dell'ecosistema AI</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I principi di funzionamento e valutazione durano più delle caratteristiche di una singola versione di un prodotto</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cambia</a:t>
            </a:r>
            <a:endParaRPr lang="en-US" sz="2600" dirty="0"/>
          </a:p>
        </p:txBody>
      </p:sp>
      <p:sp>
        <p:nvSpPr>
          <p:cNvPr id="4" name="Capacità dei modelli"/>
          <p:cNvSpPr/>
          <p:nvPr/>
        </p:nvSpPr>
        <p:spPr>
          <a:xfrm>
            <a:off x="457200" y="1097280"/>
            <a:ext cx="2621280" cy="1600200"/>
          </a:xfrm>
          <a:prstGeom prst="roundRect">
            <a:avLst>
              <a:gd name="adj" fmla="val 4571"/>
            </a:avLst>
          </a:prstGeom>
          <a:solidFill>
            <a:schemeClr val="bg2"/>
          </a:solidFill>
          <a:ln/>
        </p:spPr>
      </p:sp>
      <p:sp>
        <p:nvSpPr>
          <p:cNvPr id="5" name="cerchio FiTrendingUp"/>
          <p:cNvSpPr/>
          <p:nvPr/>
        </p:nvSpPr>
        <p:spPr>
          <a:xfrm>
            <a:off x="621792" y="1261872"/>
            <a:ext cx="438912" cy="438912"/>
          </a:xfrm>
          <a:prstGeom prst="ellipse">
            <a:avLst/>
          </a:prstGeom>
          <a:solidFill>
            <a:schemeClr val="accent1"/>
          </a:solidFill>
          <a:ln/>
        </p:spPr>
      </p:sp>
      <p:pic>
        <p:nvPicPr>
          <p:cNvPr id="6" name="Image 0" descr="FiTrendingUp">    </p:cNvPr>
          <p:cNvPicPr>
            <a:picLocks noChangeAspect="1"/>
          </p:cNvPicPr>
          <p:nvPr/>
        </p:nvPicPr>
        <p:blipFill>
          <a:blip r:embed="rId1"/>
          <a:stretch>
            <a:fillRect/>
          </a:stretch>
        </p:blipFill>
        <p:spPr>
          <a:xfrm>
            <a:off x="731520" y="1371600"/>
            <a:ext cx="219456" cy="219456"/>
          </a:xfrm>
          <a:prstGeom prst="rect">
            <a:avLst/>
          </a:prstGeom>
        </p:spPr>
      </p:pic>
      <p:sp>
        <p:nvSpPr>
          <p:cNvPr id="7" name="Text 3"/>
          <p:cNvSpPr txBox="1"/>
          <p:nvPr/>
        </p:nvSpPr>
        <p:spPr>
          <a:xfrm>
            <a:off x="1170432" y="1225296"/>
            <a:ext cx="1798320" cy="512064"/>
          </a:xfrm>
          <a:prstGeom prst="rect">
            <a:avLst/>
          </a:prstGeom>
          <a:noFill/>
          <a:ln/>
        </p:spPr>
        <p:txBody>
          <a:bodyPr wrap="square" lIns="0" tIns="0" rIns="0" bIns="0" rtlCol="0" anchor="ctr"/>
          <a:lstStyle/>
          <a:p>
            <a:pPr indent="0" marL="0">
              <a:buNone/>
            </a:pPr>
            <a:r>
              <a:rPr lang="en-US" sz="1400" b="1" dirty="0">
                <a:solidFill>
                  <a:schemeClr val="tx1"/>
                </a:solidFill>
              </a:rPr>
              <a:t>Capacità dei modelli</a:t>
            </a:r>
            <a:endParaRPr lang="en-US" sz="1400" dirty="0"/>
          </a:p>
        </p:txBody>
      </p:sp>
      <p:sp>
        <p:nvSpPr>
          <p:cNvPr id="8" name="Text 4"/>
          <p:cNvSpPr txBox="1"/>
          <p:nvPr/>
        </p:nvSpPr>
        <p:spPr>
          <a:xfrm>
            <a:off x="621792" y="1810512"/>
            <a:ext cx="2292096" cy="795528"/>
          </a:xfrm>
          <a:prstGeom prst="rect">
            <a:avLst/>
          </a:prstGeom>
          <a:noFill/>
          <a:ln/>
        </p:spPr>
        <p:txBody>
          <a:bodyPr wrap="square" lIns="0" tIns="0" rIns="0" bIns="0" rtlCol="0" anchor="t"/>
          <a:lstStyle/>
          <a:p>
            <a:pPr indent="0" marL="0">
              <a:buNone/>
            </a:pPr>
            <a:r>
              <a:rPr lang="en-US" sz="1200" dirty="0">
                <a:solidFill>
                  <a:schemeClr val="tx2"/>
                </a:solidFill>
              </a:rPr>
              <a:t>Nuove versioni frequenti: ragionamento, multimodalità, contesto, costo</a:t>
            </a:r>
            <a:endParaRPr lang="en-US" sz="1200" dirty="0"/>
          </a:p>
        </p:txBody>
      </p:sp>
      <p:sp>
        <p:nvSpPr>
          <p:cNvPr id="9" name="Funzionalità"/>
          <p:cNvSpPr/>
          <p:nvPr/>
        </p:nvSpPr>
        <p:spPr>
          <a:xfrm>
            <a:off x="3261360" y="1097280"/>
            <a:ext cx="2621280" cy="1600200"/>
          </a:xfrm>
          <a:prstGeom prst="roundRect">
            <a:avLst>
              <a:gd name="adj" fmla="val 4571"/>
            </a:avLst>
          </a:prstGeom>
          <a:solidFill>
            <a:schemeClr val="bg2"/>
          </a:solidFill>
          <a:ln/>
        </p:spPr>
      </p:sp>
      <p:sp>
        <p:nvSpPr>
          <p:cNvPr id="10" name="cerchio FiToggleLeft"/>
          <p:cNvSpPr/>
          <p:nvPr/>
        </p:nvSpPr>
        <p:spPr>
          <a:xfrm>
            <a:off x="3425952" y="1261872"/>
            <a:ext cx="438912" cy="438912"/>
          </a:xfrm>
          <a:prstGeom prst="ellipse">
            <a:avLst/>
          </a:prstGeom>
          <a:solidFill>
            <a:schemeClr val="accent1"/>
          </a:solidFill>
          <a:ln/>
        </p:spPr>
      </p:sp>
      <p:pic>
        <p:nvPicPr>
          <p:cNvPr id="11" name="Image 1" descr="FiToggleLeft">    </p:cNvPr>
          <p:cNvPicPr>
            <a:picLocks noChangeAspect="1"/>
          </p:cNvPicPr>
          <p:nvPr/>
        </p:nvPicPr>
        <p:blipFill>
          <a:blip r:embed="rId2"/>
          <a:stretch>
            <a:fillRect/>
          </a:stretch>
        </p:blipFill>
        <p:spPr>
          <a:xfrm>
            <a:off x="3535680" y="1371600"/>
            <a:ext cx="219456" cy="219456"/>
          </a:xfrm>
          <a:prstGeom prst="rect">
            <a:avLst/>
          </a:prstGeom>
        </p:spPr>
      </p:pic>
      <p:sp>
        <p:nvSpPr>
          <p:cNvPr id="12" name="Text 7"/>
          <p:cNvSpPr txBox="1"/>
          <p:nvPr/>
        </p:nvSpPr>
        <p:spPr>
          <a:xfrm>
            <a:off x="3974592" y="1225296"/>
            <a:ext cx="1798320" cy="512064"/>
          </a:xfrm>
          <a:prstGeom prst="rect">
            <a:avLst/>
          </a:prstGeom>
          <a:noFill/>
          <a:ln/>
        </p:spPr>
        <p:txBody>
          <a:bodyPr wrap="square" lIns="0" tIns="0" rIns="0" bIns="0" rtlCol="0" anchor="ctr"/>
          <a:lstStyle/>
          <a:p>
            <a:pPr indent="0" marL="0">
              <a:buNone/>
            </a:pPr>
            <a:r>
              <a:rPr lang="en-US" sz="1400" b="1" dirty="0">
                <a:solidFill>
                  <a:schemeClr val="tx1"/>
                </a:solidFill>
              </a:rPr>
              <a:t>Funzionalità</a:t>
            </a:r>
            <a:endParaRPr lang="en-US" sz="1400" dirty="0"/>
          </a:p>
        </p:txBody>
      </p:sp>
      <p:sp>
        <p:nvSpPr>
          <p:cNvPr id="13" name="Text 8"/>
          <p:cNvSpPr txBox="1"/>
          <p:nvPr/>
        </p:nvSpPr>
        <p:spPr>
          <a:xfrm>
            <a:off x="3425952" y="1810512"/>
            <a:ext cx="2292096" cy="795528"/>
          </a:xfrm>
          <a:prstGeom prst="rect">
            <a:avLst/>
          </a:prstGeom>
          <a:noFill/>
          <a:ln/>
        </p:spPr>
        <p:txBody>
          <a:bodyPr wrap="square" lIns="0" tIns="0" rIns="0" bIns="0" rtlCol="0" anchor="t"/>
          <a:lstStyle/>
          <a:p>
            <a:pPr indent="0" marL="0">
              <a:buNone/>
            </a:pPr>
            <a:r>
              <a:rPr lang="en-US" sz="1200" dirty="0">
                <a:solidFill>
                  <a:schemeClr val="tx2"/>
                </a:solidFill>
              </a:rPr>
              <a:t>Introdotte, modificate, spostate di piano, rimosse</a:t>
            </a:r>
            <a:endParaRPr lang="en-US" sz="1200" dirty="0"/>
          </a:p>
        </p:txBody>
      </p:sp>
      <p:sp>
        <p:nvSpPr>
          <p:cNvPr id="14" name="Convergenza"/>
          <p:cNvSpPr/>
          <p:nvPr/>
        </p:nvSpPr>
        <p:spPr>
          <a:xfrm>
            <a:off x="6065520" y="1097280"/>
            <a:ext cx="2621280" cy="1600200"/>
          </a:xfrm>
          <a:prstGeom prst="roundRect">
            <a:avLst>
              <a:gd name="adj" fmla="val 4571"/>
            </a:avLst>
          </a:prstGeom>
          <a:solidFill>
            <a:schemeClr val="bg2"/>
          </a:solidFill>
          <a:ln/>
        </p:spPr>
      </p:sp>
      <p:sp>
        <p:nvSpPr>
          <p:cNvPr id="15" name="cerchio FiGitMerge"/>
          <p:cNvSpPr/>
          <p:nvPr/>
        </p:nvSpPr>
        <p:spPr>
          <a:xfrm>
            <a:off x="6230112" y="1261872"/>
            <a:ext cx="438912" cy="438912"/>
          </a:xfrm>
          <a:prstGeom prst="ellipse">
            <a:avLst/>
          </a:prstGeom>
          <a:solidFill>
            <a:schemeClr val="accent1"/>
          </a:solidFill>
          <a:ln/>
        </p:spPr>
      </p:sp>
      <p:pic>
        <p:nvPicPr>
          <p:cNvPr id="16" name="Image 2" descr="FiGitMerge">    </p:cNvPr>
          <p:cNvPicPr>
            <a:picLocks noChangeAspect="1"/>
          </p:cNvPicPr>
          <p:nvPr/>
        </p:nvPicPr>
        <p:blipFill>
          <a:blip r:embed="rId3"/>
          <a:stretch>
            <a:fillRect/>
          </a:stretch>
        </p:blipFill>
        <p:spPr>
          <a:xfrm>
            <a:off x="6339840" y="1371600"/>
            <a:ext cx="219456" cy="219456"/>
          </a:xfrm>
          <a:prstGeom prst="rect">
            <a:avLst/>
          </a:prstGeom>
        </p:spPr>
      </p:pic>
      <p:sp>
        <p:nvSpPr>
          <p:cNvPr id="17" name="Text 11"/>
          <p:cNvSpPr txBox="1"/>
          <p:nvPr/>
        </p:nvSpPr>
        <p:spPr>
          <a:xfrm>
            <a:off x="6778752" y="1225296"/>
            <a:ext cx="1798320" cy="512064"/>
          </a:xfrm>
          <a:prstGeom prst="rect">
            <a:avLst/>
          </a:prstGeom>
          <a:noFill/>
          <a:ln/>
        </p:spPr>
        <p:txBody>
          <a:bodyPr wrap="square" lIns="0" tIns="0" rIns="0" bIns="0" rtlCol="0" anchor="ctr"/>
          <a:lstStyle/>
          <a:p>
            <a:pPr indent="0" marL="0">
              <a:buNone/>
            </a:pPr>
            <a:r>
              <a:rPr lang="en-US" sz="1400" b="1" dirty="0">
                <a:solidFill>
                  <a:schemeClr val="tx1"/>
                </a:solidFill>
              </a:rPr>
              <a:t>Convergenza</a:t>
            </a:r>
            <a:endParaRPr lang="en-US" sz="1400" dirty="0"/>
          </a:p>
        </p:txBody>
      </p:sp>
      <p:sp>
        <p:nvSpPr>
          <p:cNvPr id="18" name="Text 12"/>
          <p:cNvSpPr txBox="1"/>
          <p:nvPr/>
        </p:nvSpPr>
        <p:spPr>
          <a:xfrm>
            <a:off x="6230112" y="1810512"/>
            <a:ext cx="2292096" cy="795528"/>
          </a:xfrm>
          <a:prstGeom prst="rect">
            <a:avLst/>
          </a:prstGeom>
          <a:noFill/>
          <a:ln/>
        </p:spPr>
        <p:txBody>
          <a:bodyPr wrap="square" lIns="0" tIns="0" rIns="0" bIns="0" rtlCol="0" anchor="t"/>
          <a:lstStyle/>
          <a:p>
            <a:pPr indent="0" marL="0">
              <a:buNone/>
            </a:pPr>
            <a:r>
              <a:rPr lang="en-US" sz="1200" dirty="0">
                <a:solidFill>
                  <a:schemeClr val="tx2"/>
                </a:solidFill>
              </a:rPr>
              <a:t>Funzioni sempre più simili, confini tra categorie sfumati</a:t>
            </a:r>
            <a:endParaRPr lang="en-US" sz="1200" dirty="0"/>
          </a:p>
        </p:txBody>
      </p:sp>
      <p:sp>
        <p:nvSpPr>
          <p:cNvPr id="19" name="Modelli commerciali e prezzi"/>
          <p:cNvSpPr/>
          <p:nvPr/>
        </p:nvSpPr>
        <p:spPr>
          <a:xfrm>
            <a:off x="457200" y="2880360"/>
            <a:ext cx="4023360" cy="1371600"/>
          </a:xfrm>
          <a:prstGeom prst="roundRect">
            <a:avLst>
              <a:gd name="adj" fmla="val 5333"/>
            </a:avLst>
          </a:prstGeom>
          <a:solidFill>
            <a:schemeClr val="bg2"/>
          </a:solidFill>
          <a:ln/>
        </p:spPr>
      </p:sp>
      <p:sp>
        <p:nvSpPr>
          <p:cNvPr id="20" name="cerchio FiDollarSign"/>
          <p:cNvSpPr/>
          <p:nvPr/>
        </p:nvSpPr>
        <p:spPr>
          <a:xfrm>
            <a:off x="621792" y="3044952"/>
            <a:ext cx="438912" cy="438912"/>
          </a:xfrm>
          <a:prstGeom prst="ellipse">
            <a:avLst/>
          </a:prstGeom>
          <a:solidFill>
            <a:schemeClr val="accent1"/>
          </a:solidFill>
          <a:ln/>
        </p:spPr>
      </p:sp>
      <p:pic>
        <p:nvPicPr>
          <p:cNvPr id="21" name="Image 3" descr="FiDollarSign">    </p:cNvPr>
          <p:cNvPicPr>
            <a:picLocks noChangeAspect="1"/>
          </p:cNvPicPr>
          <p:nvPr/>
        </p:nvPicPr>
        <p:blipFill>
          <a:blip r:embed="rId4"/>
          <a:stretch>
            <a:fillRect/>
          </a:stretch>
        </p:blipFill>
        <p:spPr>
          <a:xfrm>
            <a:off x="731520" y="3154680"/>
            <a:ext cx="219456" cy="219456"/>
          </a:xfrm>
          <a:prstGeom prst="rect">
            <a:avLst/>
          </a:prstGeom>
        </p:spPr>
      </p:pic>
      <p:sp>
        <p:nvSpPr>
          <p:cNvPr id="22" name="Text 15"/>
          <p:cNvSpPr txBox="1"/>
          <p:nvPr/>
        </p:nvSpPr>
        <p:spPr>
          <a:xfrm>
            <a:off x="1170432" y="300837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Modelli commerciali e prezzi</a:t>
            </a:r>
            <a:endParaRPr lang="en-US" sz="1400" dirty="0"/>
          </a:p>
        </p:txBody>
      </p:sp>
      <p:sp>
        <p:nvSpPr>
          <p:cNvPr id="23" name="Text 16"/>
          <p:cNvSpPr txBox="1"/>
          <p:nvPr/>
        </p:nvSpPr>
        <p:spPr>
          <a:xfrm>
            <a:off x="621792" y="3593592"/>
            <a:ext cx="3694176" cy="566928"/>
          </a:xfrm>
          <a:prstGeom prst="rect">
            <a:avLst/>
          </a:prstGeom>
          <a:noFill/>
          <a:ln/>
        </p:spPr>
        <p:txBody>
          <a:bodyPr wrap="square" lIns="0" tIns="0" rIns="0" bIns="0" rtlCol="0" anchor="t"/>
          <a:lstStyle/>
          <a:p>
            <a:pPr indent="0" marL="0">
              <a:buNone/>
            </a:pPr>
            <a:r>
              <a:rPr lang="en-US" sz="1200" dirty="0">
                <a:solidFill>
                  <a:schemeClr val="tx2"/>
                </a:solidFill>
              </a:rPr>
              <a:t>Piani, limiti e tariffe che cambiano spesso</a:t>
            </a:r>
            <a:endParaRPr lang="en-US" sz="1200" dirty="0"/>
          </a:p>
        </p:txBody>
      </p:sp>
      <p:sp>
        <p:nvSpPr>
          <p:cNvPr id="24" name="Panorama competitivo"/>
          <p:cNvSpPr/>
          <p:nvPr/>
        </p:nvSpPr>
        <p:spPr>
          <a:xfrm>
            <a:off x="4663440" y="2880360"/>
            <a:ext cx="4023360" cy="1371600"/>
          </a:xfrm>
          <a:prstGeom prst="roundRect">
            <a:avLst>
              <a:gd name="adj" fmla="val 5333"/>
            </a:avLst>
          </a:prstGeom>
          <a:solidFill>
            <a:schemeClr val="bg2"/>
          </a:solidFill>
          <a:ln/>
        </p:spPr>
      </p:sp>
      <p:sp>
        <p:nvSpPr>
          <p:cNvPr id="25" name="cerchio FiUsers"/>
          <p:cNvSpPr/>
          <p:nvPr/>
        </p:nvSpPr>
        <p:spPr>
          <a:xfrm>
            <a:off x="4828032" y="3044952"/>
            <a:ext cx="438912" cy="438912"/>
          </a:xfrm>
          <a:prstGeom prst="ellipse">
            <a:avLst/>
          </a:prstGeom>
          <a:solidFill>
            <a:schemeClr val="accent1"/>
          </a:solidFill>
          <a:ln/>
        </p:spPr>
      </p:sp>
      <p:pic>
        <p:nvPicPr>
          <p:cNvPr id="26" name="Image 4" descr="FiUsers">    </p:cNvPr>
          <p:cNvPicPr>
            <a:picLocks noChangeAspect="1"/>
          </p:cNvPicPr>
          <p:nvPr/>
        </p:nvPicPr>
        <p:blipFill>
          <a:blip r:embed="rId5"/>
          <a:stretch>
            <a:fillRect/>
          </a:stretch>
        </p:blipFill>
        <p:spPr>
          <a:xfrm>
            <a:off x="4937760" y="3154680"/>
            <a:ext cx="219456" cy="219456"/>
          </a:xfrm>
          <a:prstGeom prst="rect">
            <a:avLst/>
          </a:prstGeom>
        </p:spPr>
      </p:pic>
      <p:sp>
        <p:nvSpPr>
          <p:cNvPr id="27" name="Text 19"/>
          <p:cNvSpPr txBox="1"/>
          <p:nvPr/>
        </p:nvSpPr>
        <p:spPr>
          <a:xfrm>
            <a:off x="5376672" y="300837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Panorama competitivo</a:t>
            </a:r>
            <a:endParaRPr lang="en-US" sz="1400" dirty="0"/>
          </a:p>
        </p:txBody>
      </p:sp>
      <p:sp>
        <p:nvSpPr>
          <p:cNvPr id="28" name="Text 20"/>
          <p:cNvSpPr txBox="1"/>
          <p:nvPr/>
        </p:nvSpPr>
        <p:spPr>
          <a:xfrm>
            <a:off x="4828032" y="3593592"/>
            <a:ext cx="3694176" cy="566928"/>
          </a:xfrm>
          <a:prstGeom prst="rect">
            <a:avLst/>
          </a:prstGeom>
          <a:noFill/>
          <a:ln/>
        </p:spPr>
        <p:txBody>
          <a:bodyPr wrap="square" lIns="0" tIns="0" rIns="0" bIns="0" rtlCol="0" anchor="t"/>
          <a:lstStyle/>
          <a:p>
            <a:pPr indent="0" marL="0">
              <a:buNone/>
            </a:pPr>
            <a:r>
              <a:rPr lang="en-US" sz="1200" dirty="0">
                <a:solidFill>
                  <a:schemeClr val="tx2"/>
                </a:solidFill>
              </a:rPr>
              <a:t>Nuovi attori, prodotti abbandonati, acquisizioni, alleanze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Obsolescenza di strumenti, procedure e competenze</a:t>
            </a:r>
            <a:endParaRPr lang="en-US" sz="2600" dirty="0"/>
          </a:p>
        </p:txBody>
      </p:sp>
      <p:sp>
        <p:nvSpPr>
          <p:cNvPr id="4" name="scheda Strumenti"/>
          <p:cNvSpPr/>
          <p:nvPr/>
        </p:nvSpPr>
        <p:spPr>
          <a:xfrm>
            <a:off x="457200" y="1097280"/>
            <a:ext cx="2615184" cy="1783080"/>
          </a:xfrm>
          <a:prstGeom prst="roundRect">
            <a:avLst>
              <a:gd name="adj" fmla="val 4103"/>
            </a:avLst>
          </a:prstGeom>
          <a:solidFill>
            <a:schemeClr val="bg2"/>
          </a:solidFill>
          <a:ln/>
        </p:spPr>
      </p:sp>
      <p:sp>
        <p:nvSpPr>
          <p:cNvPr id="5" name="cerchio FiPackage"/>
          <p:cNvSpPr/>
          <p:nvPr/>
        </p:nvSpPr>
        <p:spPr>
          <a:xfrm>
            <a:off x="640080" y="1280160"/>
            <a:ext cx="457200" cy="457200"/>
          </a:xfrm>
          <a:prstGeom prst="ellipse">
            <a:avLst/>
          </a:prstGeom>
          <a:solidFill>
            <a:schemeClr val="accent1"/>
          </a:solidFill>
          <a:ln/>
        </p:spPr>
      </p:sp>
      <p:pic>
        <p:nvPicPr>
          <p:cNvPr id="6" name="Image 0" descr="FiPackage">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1234440" y="1280160"/>
            <a:ext cx="1655064" cy="457200"/>
          </a:xfrm>
          <a:prstGeom prst="rect">
            <a:avLst/>
          </a:prstGeom>
          <a:noFill/>
          <a:ln/>
        </p:spPr>
        <p:txBody>
          <a:bodyPr wrap="square" lIns="0" tIns="0" rIns="0" bIns="0" rtlCol="0" anchor="ctr"/>
          <a:lstStyle/>
          <a:p>
            <a:pPr indent="0" marL="0">
              <a:buNone/>
            </a:pPr>
            <a:r>
              <a:rPr lang="en-US" sz="1500" b="1" dirty="0">
                <a:solidFill>
                  <a:schemeClr val="tx1"/>
                </a:solidFill>
              </a:rPr>
              <a:t>Strumenti</a:t>
            </a:r>
            <a:endParaRPr lang="en-US" sz="1500" dirty="0"/>
          </a:p>
        </p:txBody>
      </p:sp>
      <p:sp>
        <p:nvSpPr>
          <p:cNvPr id="8" name="Text 4"/>
          <p:cNvSpPr txBox="1"/>
          <p:nvPr/>
        </p:nvSpPr>
        <p:spPr>
          <a:xfrm>
            <a:off x="640080" y="1874520"/>
            <a:ext cx="2249424" cy="896112"/>
          </a:xfrm>
          <a:prstGeom prst="rect">
            <a:avLst/>
          </a:prstGeom>
          <a:noFill/>
          <a:ln/>
        </p:spPr>
        <p:txBody>
          <a:bodyPr wrap="square" lIns="0" tIns="0" rIns="0" bIns="0" rtlCol="0" anchor="t"/>
          <a:lstStyle/>
          <a:p>
            <a:pPr indent="0" marL="0">
              <a:buNone/>
            </a:pPr>
            <a:r>
              <a:rPr lang="en-US" sz="1300" dirty="0">
                <a:solidFill>
                  <a:schemeClr val="tx2"/>
                </a:solidFill>
              </a:rPr>
              <a:t>Superati, cambiati, ritirati</a:t>
            </a:r>
            <a:endParaRPr lang="en-US" sz="1300" dirty="0"/>
          </a:p>
        </p:txBody>
      </p:sp>
      <p:sp>
        <p:nvSpPr>
          <p:cNvPr id="9" name="scheda Procedure"/>
          <p:cNvSpPr/>
          <p:nvPr/>
        </p:nvSpPr>
        <p:spPr>
          <a:xfrm>
            <a:off x="3264408" y="1097280"/>
            <a:ext cx="2615184" cy="1783080"/>
          </a:xfrm>
          <a:prstGeom prst="roundRect">
            <a:avLst>
              <a:gd name="adj" fmla="val 4103"/>
            </a:avLst>
          </a:prstGeom>
          <a:solidFill>
            <a:schemeClr val="bg2"/>
          </a:solidFill>
          <a:ln/>
        </p:spPr>
      </p:sp>
      <p:sp>
        <p:nvSpPr>
          <p:cNvPr id="10" name="cerchio FiList"/>
          <p:cNvSpPr/>
          <p:nvPr/>
        </p:nvSpPr>
        <p:spPr>
          <a:xfrm>
            <a:off x="3447288" y="1280160"/>
            <a:ext cx="457200" cy="457200"/>
          </a:xfrm>
          <a:prstGeom prst="ellipse">
            <a:avLst/>
          </a:prstGeom>
          <a:solidFill>
            <a:schemeClr val="accent1"/>
          </a:solidFill>
          <a:ln/>
        </p:spPr>
      </p:sp>
      <p:pic>
        <p:nvPicPr>
          <p:cNvPr id="11" name="Image 1" descr="FiList">    </p:cNvPr>
          <p:cNvPicPr>
            <a:picLocks noChangeAspect="1"/>
          </p:cNvPicPr>
          <p:nvPr/>
        </p:nvPicPr>
        <p:blipFill>
          <a:blip r:embed="rId2"/>
          <a:stretch>
            <a:fillRect/>
          </a:stretch>
        </p:blipFill>
        <p:spPr>
          <a:xfrm>
            <a:off x="3561588" y="1394460"/>
            <a:ext cx="228600" cy="228600"/>
          </a:xfrm>
          <a:prstGeom prst="rect">
            <a:avLst/>
          </a:prstGeom>
        </p:spPr>
      </p:pic>
      <p:sp>
        <p:nvSpPr>
          <p:cNvPr id="12" name="Text 7"/>
          <p:cNvSpPr txBox="1"/>
          <p:nvPr/>
        </p:nvSpPr>
        <p:spPr>
          <a:xfrm>
            <a:off x="4041648" y="1280160"/>
            <a:ext cx="1655064" cy="457200"/>
          </a:xfrm>
          <a:prstGeom prst="rect">
            <a:avLst/>
          </a:prstGeom>
          <a:noFill/>
          <a:ln/>
        </p:spPr>
        <p:txBody>
          <a:bodyPr wrap="square" lIns="0" tIns="0" rIns="0" bIns="0" rtlCol="0" anchor="ctr"/>
          <a:lstStyle/>
          <a:p>
            <a:pPr indent="0" marL="0">
              <a:buNone/>
            </a:pPr>
            <a:r>
              <a:rPr lang="en-US" sz="1500" b="1" dirty="0">
                <a:solidFill>
                  <a:schemeClr val="tx1"/>
                </a:solidFill>
              </a:rPr>
              <a:t>Procedure</a:t>
            </a:r>
            <a:endParaRPr lang="en-US" sz="1500" dirty="0"/>
          </a:p>
        </p:txBody>
      </p:sp>
      <p:sp>
        <p:nvSpPr>
          <p:cNvPr id="13" name="Text 8"/>
          <p:cNvSpPr txBox="1"/>
          <p:nvPr/>
        </p:nvSpPr>
        <p:spPr>
          <a:xfrm>
            <a:off x="3447288" y="1874520"/>
            <a:ext cx="2249424" cy="896112"/>
          </a:xfrm>
          <a:prstGeom prst="rect">
            <a:avLst/>
          </a:prstGeom>
          <a:noFill/>
          <a:ln/>
        </p:spPr>
        <p:txBody>
          <a:bodyPr wrap="square" lIns="0" tIns="0" rIns="0" bIns="0" rtlCol="0" anchor="t"/>
          <a:lstStyle/>
          <a:p>
            <a:pPr indent="0" marL="0">
              <a:buNone/>
            </a:pPr>
            <a:r>
              <a:rPr lang="en-US" sz="1300" dirty="0">
                <a:solidFill>
                  <a:schemeClr val="tx2"/>
                </a:solidFill>
              </a:rPr>
              <a:t>Istruzioni operative, prompt, valutazioni che non valgono più</a:t>
            </a:r>
            <a:endParaRPr lang="en-US" sz="1300" dirty="0"/>
          </a:p>
        </p:txBody>
      </p:sp>
      <p:sp>
        <p:nvSpPr>
          <p:cNvPr id="14" name="scheda Competenze specifiche"/>
          <p:cNvSpPr/>
          <p:nvPr/>
        </p:nvSpPr>
        <p:spPr>
          <a:xfrm>
            <a:off x="6071616" y="1097280"/>
            <a:ext cx="2615184" cy="1783080"/>
          </a:xfrm>
          <a:prstGeom prst="roundRect">
            <a:avLst>
              <a:gd name="adj" fmla="val 4103"/>
            </a:avLst>
          </a:prstGeom>
          <a:solidFill>
            <a:schemeClr val="bg2"/>
          </a:solidFill>
          <a:ln/>
        </p:spPr>
      </p:sp>
      <p:sp>
        <p:nvSpPr>
          <p:cNvPr id="15" name="cerchio FiUser"/>
          <p:cNvSpPr/>
          <p:nvPr/>
        </p:nvSpPr>
        <p:spPr>
          <a:xfrm>
            <a:off x="6254496" y="1280160"/>
            <a:ext cx="457200" cy="457200"/>
          </a:xfrm>
          <a:prstGeom prst="ellipse">
            <a:avLst/>
          </a:prstGeom>
          <a:solidFill>
            <a:schemeClr val="accent1"/>
          </a:solidFill>
          <a:ln/>
        </p:spPr>
      </p:sp>
      <p:pic>
        <p:nvPicPr>
          <p:cNvPr id="16" name="Image 2" descr="FiUser">    </p:cNvPr>
          <p:cNvPicPr>
            <a:picLocks noChangeAspect="1"/>
          </p:cNvPicPr>
          <p:nvPr/>
        </p:nvPicPr>
        <p:blipFill>
          <a:blip r:embed="rId3"/>
          <a:stretch>
            <a:fillRect/>
          </a:stretch>
        </p:blipFill>
        <p:spPr>
          <a:xfrm>
            <a:off x="6368796" y="1394460"/>
            <a:ext cx="228600" cy="228600"/>
          </a:xfrm>
          <a:prstGeom prst="rect">
            <a:avLst/>
          </a:prstGeom>
        </p:spPr>
      </p:pic>
      <p:sp>
        <p:nvSpPr>
          <p:cNvPr id="17" name="Text 11"/>
          <p:cNvSpPr txBox="1"/>
          <p:nvPr/>
        </p:nvSpPr>
        <p:spPr>
          <a:xfrm>
            <a:off x="6848856" y="1280160"/>
            <a:ext cx="1655064" cy="457200"/>
          </a:xfrm>
          <a:prstGeom prst="rect">
            <a:avLst/>
          </a:prstGeom>
          <a:noFill/>
          <a:ln/>
        </p:spPr>
        <p:txBody>
          <a:bodyPr wrap="square" lIns="0" tIns="0" rIns="0" bIns="0" rtlCol="0" anchor="ctr"/>
          <a:lstStyle/>
          <a:p>
            <a:pPr indent="0" marL="0">
              <a:buNone/>
            </a:pPr>
            <a:r>
              <a:rPr lang="en-US" sz="1500" b="1" dirty="0">
                <a:solidFill>
                  <a:schemeClr val="tx1"/>
                </a:solidFill>
              </a:rPr>
              <a:t>Competenze specifiche</a:t>
            </a:r>
            <a:endParaRPr lang="en-US" sz="1500" dirty="0"/>
          </a:p>
        </p:txBody>
      </p:sp>
      <p:sp>
        <p:nvSpPr>
          <p:cNvPr id="18" name="Text 12"/>
          <p:cNvSpPr txBox="1"/>
          <p:nvPr/>
        </p:nvSpPr>
        <p:spPr>
          <a:xfrm>
            <a:off x="6254496" y="1874520"/>
            <a:ext cx="2249424" cy="896112"/>
          </a:xfrm>
          <a:prstGeom prst="rect">
            <a:avLst/>
          </a:prstGeom>
          <a:noFill/>
          <a:ln/>
        </p:spPr>
        <p:txBody>
          <a:bodyPr wrap="square" lIns="0" tIns="0" rIns="0" bIns="0" rtlCol="0" anchor="t"/>
          <a:lstStyle/>
          <a:p>
            <a:pPr indent="0" marL="0">
              <a:buNone/>
            </a:pPr>
            <a:r>
              <a:rPr lang="en-US" sz="1300" dirty="0">
                <a:solidFill>
                  <a:schemeClr val="tx2"/>
                </a:solidFill>
              </a:rPr>
              <a:t>Saper usare un prodotto invecchia in fretta</a:t>
            </a:r>
            <a:endParaRPr lang="en-US" sz="1300" dirty="0"/>
          </a:p>
        </p:txBody>
      </p:sp>
      <p:sp>
        <p:nvSpPr>
          <p:cNvPr id="19" name="Text 13"/>
          <p:cNvSpPr txBox="1"/>
          <p:nvPr/>
        </p:nvSpPr>
        <p:spPr>
          <a:xfrm>
            <a:off x="457200" y="3063240"/>
            <a:ext cx="8229600" cy="274320"/>
          </a:xfrm>
          <a:prstGeom prst="rect">
            <a:avLst/>
          </a:prstGeom>
          <a:noFill/>
          <a:ln/>
        </p:spPr>
        <p:txBody>
          <a:bodyPr wrap="square" lIns="0" tIns="0" rIns="0" bIns="0" rtlCol="0" anchor="t"/>
          <a:lstStyle/>
          <a:p>
            <a:pPr indent="0" marL="0">
              <a:buNone/>
            </a:pPr>
            <a:r>
              <a:rPr lang="en-US" sz="1400" b="1" dirty="0">
                <a:solidFill>
                  <a:schemeClr val="tx1"/>
                </a:solidFill>
              </a:rPr>
              <a:t>Che cosa fare</a:t>
            </a:r>
            <a:endParaRPr lang="en-US" sz="1400" dirty="0"/>
          </a:p>
        </p:txBody>
      </p:sp>
      <p:sp>
        <p:nvSpPr>
          <p:cNvPr id="20" name="Rivedere periodicamente strumenti e valutazioni"/>
          <p:cNvSpPr/>
          <p:nvPr/>
        </p:nvSpPr>
        <p:spPr>
          <a:xfrm>
            <a:off x="457200" y="3429000"/>
            <a:ext cx="2615184" cy="1097280"/>
          </a:xfrm>
          <a:prstGeom prst="roundRect">
            <a:avLst>
              <a:gd name="adj" fmla="val 6667"/>
            </a:avLst>
          </a:prstGeom>
          <a:solidFill>
            <a:schemeClr val="accent6"/>
          </a:solidFill>
          <a:ln/>
        </p:spPr>
      </p:sp>
      <p:sp>
        <p:nvSpPr>
          <p:cNvPr id="21" name="Text 15"/>
          <p:cNvSpPr txBox="1"/>
          <p:nvPr/>
        </p:nvSpPr>
        <p:spPr>
          <a:xfrm>
            <a:off x="594360" y="3429000"/>
            <a:ext cx="2340864" cy="1097280"/>
          </a:xfrm>
          <a:prstGeom prst="rect">
            <a:avLst/>
          </a:prstGeom>
          <a:noFill/>
          <a:ln/>
        </p:spPr>
        <p:txBody>
          <a:bodyPr wrap="square" lIns="0" tIns="0" rIns="0" bIns="0" rtlCol="0" anchor="ctr"/>
          <a:lstStyle/>
          <a:p>
            <a:pPr indent="0" marL="0">
              <a:buNone/>
            </a:pPr>
            <a:r>
              <a:rPr lang="en-US" sz="1300" b="1" dirty="0">
                <a:solidFill>
                  <a:schemeClr val="tx1"/>
                </a:solidFill>
              </a:rPr>
              <a:t>Rivedere periodicamente strumenti e valutazioni</a:t>
            </a:r>
            <a:endParaRPr lang="en-US" sz="1300" dirty="0"/>
          </a:p>
        </p:txBody>
      </p:sp>
      <p:sp>
        <p:nvSpPr>
          <p:cNvPr id="22" name="Documentare separando principi e dettagli operativi"/>
          <p:cNvSpPr/>
          <p:nvPr/>
        </p:nvSpPr>
        <p:spPr>
          <a:xfrm>
            <a:off x="3264408" y="3429000"/>
            <a:ext cx="2615184" cy="1097280"/>
          </a:xfrm>
          <a:prstGeom prst="roundRect">
            <a:avLst>
              <a:gd name="adj" fmla="val 6667"/>
            </a:avLst>
          </a:prstGeom>
          <a:solidFill>
            <a:schemeClr val="accent6"/>
          </a:solidFill>
          <a:ln/>
        </p:spPr>
      </p:sp>
      <p:sp>
        <p:nvSpPr>
          <p:cNvPr id="23" name="Text 17"/>
          <p:cNvSpPr txBox="1"/>
          <p:nvPr/>
        </p:nvSpPr>
        <p:spPr>
          <a:xfrm>
            <a:off x="3401568" y="3429000"/>
            <a:ext cx="2340864" cy="1097280"/>
          </a:xfrm>
          <a:prstGeom prst="rect">
            <a:avLst/>
          </a:prstGeom>
          <a:noFill/>
          <a:ln/>
        </p:spPr>
        <p:txBody>
          <a:bodyPr wrap="square" lIns="0" tIns="0" rIns="0" bIns="0" rtlCol="0" anchor="ctr"/>
          <a:lstStyle/>
          <a:p>
            <a:pPr indent="0" marL="0">
              <a:buNone/>
            </a:pPr>
            <a:r>
              <a:rPr lang="en-US" sz="1300" b="1" dirty="0">
                <a:solidFill>
                  <a:schemeClr val="tx1"/>
                </a:solidFill>
              </a:rPr>
              <a:t>Documentare separando principi e dettagli operativi</a:t>
            </a:r>
            <a:endParaRPr lang="en-US" sz="1300" dirty="0"/>
          </a:p>
        </p:txBody>
      </p:sp>
      <p:sp>
        <p:nvSpPr>
          <p:cNvPr id="24" name="Investire nelle competenze che non invecchiano"/>
          <p:cNvSpPr/>
          <p:nvPr/>
        </p:nvSpPr>
        <p:spPr>
          <a:xfrm>
            <a:off x="6071616" y="3429000"/>
            <a:ext cx="2615184" cy="1097280"/>
          </a:xfrm>
          <a:prstGeom prst="roundRect">
            <a:avLst>
              <a:gd name="adj" fmla="val 6667"/>
            </a:avLst>
          </a:prstGeom>
          <a:solidFill>
            <a:schemeClr val="accent6"/>
          </a:solidFill>
          <a:ln/>
        </p:spPr>
      </p:sp>
      <p:sp>
        <p:nvSpPr>
          <p:cNvPr id="25" name="Text 19"/>
          <p:cNvSpPr txBox="1"/>
          <p:nvPr/>
        </p:nvSpPr>
        <p:spPr>
          <a:xfrm>
            <a:off x="6208776" y="3429000"/>
            <a:ext cx="2340864" cy="1097280"/>
          </a:xfrm>
          <a:prstGeom prst="rect">
            <a:avLst/>
          </a:prstGeom>
          <a:noFill/>
          <a:ln/>
        </p:spPr>
        <p:txBody>
          <a:bodyPr wrap="square" lIns="0" tIns="0" rIns="0" bIns="0" rtlCol="0" anchor="ctr"/>
          <a:lstStyle/>
          <a:p>
            <a:pPr indent="0" marL="0">
              <a:buNone/>
            </a:pPr>
            <a:r>
              <a:rPr lang="en-US" sz="1300" b="1" dirty="0">
                <a:solidFill>
                  <a:schemeClr val="tx1"/>
                </a:solidFill>
              </a:rPr>
              <a:t>Investire nelle competenze che non invecchiano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Competenze e conoscenze trasferibili</a:t>
            </a:r>
            <a:endParaRPr lang="en-US" sz="2600" dirty="0"/>
          </a:p>
        </p:txBody>
      </p:sp>
      <p:sp>
        <p:nvSpPr>
          <p:cNvPr id="4" name="Text 1"/>
          <p:cNvSpPr txBox="1"/>
          <p:nvPr/>
        </p:nvSpPr>
        <p:spPr>
          <a:xfrm>
            <a:off x="457200" y="1051560"/>
            <a:ext cx="3291840" cy="320040"/>
          </a:xfrm>
          <a:prstGeom prst="rect">
            <a:avLst/>
          </a:prstGeom>
          <a:noFill/>
          <a:ln/>
        </p:spPr>
        <p:txBody>
          <a:bodyPr wrap="square" lIns="0" tIns="0" rIns="0" bIns="0" rtlCol="0" anchor="t"/>
          <a:lstStyle/>
          <a:p>
            <a:pPr indent="0" marL="0">
              <a:buNone/>
            </a:pPr>
            <a:r>
              <a:rPr lang="en-US" sz="1500" b="1" dirty="0">
                <a:solidFill>
                  <a:schemeClr val="tx2"/>
                </a:solidFill>
              </a:rPr>
              <a:t>Cambia rapidamente</a:t>
            </a:r>
            <a:endParaRPr lang="en-US" sz="1500" dirty="0"/>
          </a:p>
        </p:txBody>
      </p:sp>
      <p:sp>
        <p:nvSpPr>
          <p:cNvPr id="5" name="Nomi dei prodotti"/>
          <p:cNvSpPr/>
          <p:nvPr/>
        </p:nvSpPr>
        <p:spPr>
          <a:xfrm>
            <a:off x="457200" y="1463040"/>
            <a:ext cx="3291840" cy="530352"/>
          </a:xfrm>
          <a:prstGeom prst="roundRect">
            <a:avLst>
              <a:gd name="adj" fmla="val 13793"/>
            </a:avLst>
          </a:prstGeom>
          <a:solidFill>
            <a:schemeClr val="bg2"/>
          </a:solidFill>
          <a:ln/>
        </p:spPr>
      </p:sp>
      <p:sp>
        <p:nvSpPr>
          <p:cNvPr id="6" name="Text 3"/>
          <p:cNvSpPr txBox="1"/>
          <p:nvPr/>
        </p:nvSpPr>
        <p:spPr>
          <a:xfrm>
            <a:off x="640080" y="1463040"/>
            <a:ext cx="3017520" cy="530352"/>
          </a:xfrm>
          <a:prstGeom prst="rect">
            <a:avLst/>
          </a:prstGeom>
          <a:noFill/>
          <a:ln/>
        </p:spPr>
        <p:txBody>
          <a:bodyPr wrap="square" lIns="0" tIns="0" rIns="0" bIns="0" rtlCol="0" anchor="ctr"/>
          <a:lstStyle/>
          <a:p>
            <a:pPr indent="0" marL="0">
              <a:buNone/>
            </a:pPr>
            <a:r>
              <a:rPr lang="en-US" sz="1400" dirty="0">
                <a:solidFill>
                  <a:schemeClr val="tx2"/>
                </a:solidFill>
              </a:rPr>
              <a:t>Nomi dei prodotti</a:t>
            </a:r>
            <a:endParaRPr lang="en-US" sz="1400" dirty="0"/>
          </a:p>
        </p:txBody>
      </p:sp>
      <p:sp>
        <p:nvSpPr>
          <p:cNvPr id="7" name="Interfacce e funzioni"/>
          <p:cNvSpPr/>
          <p:nvPr/>
        </p:nvSpPr>
        <p:spPr>
          <a:xfrm>
            <a:off x="457200" y="2103120"/>
            <a:ext cx="3291840" cy="530352"/>
          </a:xfrm>
          <a:prstGeom prst="roundRect">
            <a:avLst>
              <a:gd name="adj" fmla="val 13793"/>
            </a:avLst>
          </a:prstGeom>
          <a:solidFill>
            <a:schemeClr val="bg2"/>
          </a:solidFill>
          <a:ln/>
        </p:spPr>
      </p:sp>
      <p:sp>
        <p:nvSpPr>
          <p:cNvPr id="8" name="Text 5"/>
          <p:cNvSpPr txBox="1"/>
          <p:nvPr/>
        </p:nvSpPr>
        <p:spPr>
          <a:xfrm>
            <a:off x="640080" y="2103120"/>
            <a:ext cx="3017520" cy="530352"/>
          </a:xfrm>
          <a:prstGeom prst="rect">
            <a:avLst/>
          </a:prstGeom>
          <a:noFill/>
          <a:ln/>
        </p:spPr>
        <p:txBody>
          <a:bodyPr wrap="square" lIns="0" tIns="0" rIns="0" bIns="0" rtlCol="0" anchor="ctr"/>
          <a:lstStyle/>
          <a:p>
            <a:pPr indent="0" marL="0">
              <a:buNone/>
            </a:pPr>
            <a:r>
              <a:rPr lang="en-US" sz="1400" dirty="0">
                <a:solidFill>
                  <a:schemeClr val="tx2"/>
                </a:solidFill>
              </a:rPr>
              <a:t>Interfacce e funzioni</a:t>
            </a:r>
            <a:endParaRPr lang="en-US" sz="1400" dirty="0"/>
          </a:p>
        </p:txBody>
      </p:sp>
      <p:sp>
        <p:nvSpPr>
          <p:cNvPr id="9" name="Piani e prezzi"/>
          <p:cNvSpPr/>
          <p:nvPr/>
        </p:nvSpPr>
        <p:spPr>
          <a:xfrm>
            <a:off x="457200" y="2743200"/>
            <a:ext cx="3291840" cy="530352"/>
          </a:xfrm>
          <a:prstGeom prst="roundRect">
            <a:avLst>
              <a:gd name="adj" fmla="val 13793"/>
            </a:avLst>
          </a:prstGeom>
          <a:solidFill>
            <a:schemeClr val="bg2"/>
          </a:solidFill>
          <a:ln/>
        </p:spPr>
      </p:sp>
      <p:sp>
        <p:nvSpPr>
          <p:cNvPr id="10" name="Text 7"/>
          <p:cNvSpPr txBox="1"/>
          <p:nvPr/>
        </p:nvSpPr>
        <p:spPr>
          <a:xfrm>
            <a:off x="640080" y="2743200"/>
            <a:ext cx="3017520" cy="530352"/>
          </a:xfrm>
          <a:prstGeom prst="rect">
            <a:avLst/>
          </a:prstGeom>
          <a:noFill/>
          <a:ln/>
        </p:spPr>
        <p:txBody>
          <a:bodyPr wrap="square" lIns="0" tIns="0" rIns="0" bIns="0" rtlCol="0" anchor="ctr"/>
          <a:lstStyle/>
          <a:p>
            <a:pPr indent="0" marL="0">
              <a:buNone/>
            </a:pPr>
            <a:r>
              <a:rPr lang="en-US" sz="1400" dirty="0">
                <a:solidFill>
                  <a:schemeClr val="tx2"/>
                </a:solidFill>
              </a:rPr>
              <a:t>Piani e prezzi</a:t>
            </a:r>
            <a:endParaRPr lang="en-US" sz="1400" dirty="0"/>
          </a:p>
        </p:txBody>
      </p:sp>
      <p:sp>
        <p:nvSpPr>
          <p:cNvPr id="11" name="Classifica dei modelli"/>
          <p:cNvSpPr/>
          <p:nvPr/>
        </p:nvSpPr>
        <p:spPr>
          <a:xfrm>
            <a:off x="457200" y="3383280"/>
            <a:ext cx="3291840" cy="530352"/>
          </a:xfrm>
          <a:prstGeom prst="roundRect">
            <a:avLst>
              <a:gd name="adj" fmla="val 13793"/>
            </a:avLst>
          </a:prstGeom>
          <a:solidFill>
            <a:schemeClr val="bg2"/>
          </a:solidFill>
          <a:ln/>
        </p:spPr>
      </p:sp>
      <p:sp>
        <p:nvSpPr>
          <p:cNvPr id="12" name="Text 9"/>
          <p:cNvSpPr txBox="1"/>
          <p:nvPr/>
        </p:nvSpPr>
        <p:spPr>
          <a:xfrm>
            <a:off x="640080" y="3383280"/>
            <a:ext cx="3017520" cy="530352"/>
          </a:xfrm>
          <a:prstGeom prst="rect">
            <a:avLst/>
          </a:prstGeom>
          <a:noFill/>
          <a:ln/>
        </p:spPr>
        <p:txBody>
          <a:bodyPr wrap="square" lIns="0" tIns="0" rIns="0" bIns="0" rtlCol="0" anchor="ctr"/>
          <a:lstStyle/>
          <a:p>
            <a:pPr indent="0" marL="0">
              <a:buNone/>
            </a:pPr>
            <a:r>
              <a:rPr lang="en-US" sz="1400" dirty="0">
                <a:solidFill>
                  <a:schemeClr val="tx2"/>
                </a:solidFill>
              </a:rPr>
              <a:t>Classifica dei modelli</a:t>
            </a:r>
            <a:endParaRPr lang="en-US" sz="1400" dirty="0"/>
          </a:p>
        </p:txBody>
      </p:sp>
      <p:sp>
        <p:nvSpPr>
          <p:cNvPr id="13" name="freccia"/>
          <p:cNvSpPr/>
          <p:nvPr/>
        </p:nvSpPr>
        <p:spPr>
          <a:xfrm>
            <a:off x="3931920" y="2514600"/>
            <a:ext cx="548640" cy="292608"/>
          </a:xfrm>
          <a:prstGeom prst="rightArrow">
            <a:avLst/>
          </a:prstGeom>
          <a:solidFill>
            <a:schemeClr val="accent1"/>
          </a:solidFill>
          <a:ln/>
        </p:spPr>
      </p:sp>
      <p:sp>
        <p:nvSpPr>
          <p:cNvPr id="14" name="Text 11"/>
          <p:cNvSpPr txBox="1"/>
          <p:nvPr/>
        </p:nvSpPr>
        <p:spPr>
          <a:xfrm>
            <a:off x="4663440" y="1051560"/>
            <a:ext cx="4023360" cy="320040"/>
          </a:xfrm>
          <a:prstGeom prst="rect">
            <a:avLst/>
          </a:prstGeom>
          <a:noFill/>
          <a:ln/>
        </p:spPr>
        <p:txBody>
          <a:bodyPr wrap="square" lIns="0" tIns="0" rIns="0" bIns="0" rtlCol="0" anchor="t"/>
          <a:lstStyle/>
          <a:p>
            <a:pPr indent="0" marL="0">
              <a:buNone/>
            </a:pPr>
            <a:r>
              <a:rPr lang="en-US" sz="1500" b="1" dirty="0">
                <a:solidFill>
                  <a:schemeClr val="accent1"/>
                </a:solidFill>
              </a:rPr>
              <a:t>Resta valido nel tempo</a:t>
            </a:r>
            <a:endParaRPr lang="en-US" sz="1500" dirty="0"/>
          </a:p>
        </p:txBody>
      </p:sp>
      <p:sp>
        <p:nvSpPr>
          <p:cNvPr id="15" name="cerchio FiCpu"/>
          <p:cNvSpPr/>
          <p:nvPr/>
        </p:nvSpPr>
        <p:spPr>
          <a:xfrm>
            <a:off x="4663440" y="1463040"/>
            <a:ext cx="365760" cy="365760"/>
          </a:xfrm>
          <a:prstGeom prst="ellipse">
            <a:avLst/>
          </a:prstGeom>
          <a:solidFill>
            <a:schemeClr val="accent1"/>
          </a:solidFill>
          <a:ln/>
        </p:spPr>
      </p:sp>
      <p:pic>
        <p:nvPicPr>
          <p:cNvPr id="16" name="Image 0" descr="FiCpu">    </p:cNvPr>
          <p:cNvPicPr>
            <a:picLocks noChangeAspect="1"/>
          </p:cNvPicPr>
          <p:nvPr/>
        </p:nvPicPr>
        <p:blipFill>
          <a:blip r:embed="rId1"/>
          <a:stretch>
            <a:fillRect/>
          </a:stretch>
        </p:blipFill>
        <p:spPr>
          <a:xfrm>
            <a:off x="4754880" y="1554480"/>
            <a:ext cx="182880" cy="182880"/>
          </a:xfrm>
          <a:prstGeom prst="rect">
            <a:avLst/>
          </a:prstGeom>
        </p:spPr>
      </p:pic>
      <p:sp>
        <p:nvSpPr>
          <p:cNvPr id="17" name="Text 13"/>
          <p:cNvSpPr txBox="1"/>
          <p:nvPr/>
        </p:nvSpPr>
        <p:spPr>
          <a:xfrm>
            <a:off x="5166360" y="1463040"/>
            <a:ext cx="3520440" cy="365760"/>
          </a:xfrm>
          <a:prstGeom prst="rect">
            <a:avLst/>
          </a:prstGeom>
          <a:noFill/>
          <a:ln/>
        </p:spPr>
        <p:txBody>
          <a:bodyPr wrap="square" lIns="0" tIns="0" rIns="0" bIns="0" rtlCol="0" anchor="ctr"/>
          <a:lstStyle/>
          <a:p>
            <a:pPr indent="0" marL="0">
              <a:buNone/>
            </a:pPr>
            <a:r>
              <a:rPr lang="en-US" sz="1300" dirty="0">
                <a:solidFill>
                  <a:schemeClr val="tx1"/>
                </a:solidFill>
              </a:rPr>
              <a:t>Come funzionano modelli e applicazioni</a:t>
            </a:r>
            <a:endParaRPr lang="en-US" sz="1300" dirty="0"/>
          </a:p>
        </p:txBody>
      </p:sp>
      <p:sp>
        <p:nvSpPr>
          <p:cNvPr id="18" name="cerchio FiEye"/>
          <p:cNvSpPr/>
          <p:nvPr/>
        </p:nvSpPr>
        <p:spPr>
          <a:xfrm>
            <a:off x="4663440" y="1920240"/>
            <a:ext cx="365760" cy="365760"/>
          </a:xfrm>
          <a:prstGeom prst="ellipse">
            <a:avLst/>
          </a:prstGeom>
          <a:solidFill>
            <a:schemeClr val="accent1"/>
          </a:solidFill>
          <a:ln/>
        </p:spPr>
      </p:sp>
      <p:pic>
        <p:nvPicPr>
          <p:cNvPr id="19" name="Image 1" descr="FiEye">    </p:cNvPr>
          <p:cNvPicPr>
            <a:picLocks noChangeAspect="1"/>
          </p:cNvPicPr>
          <p:nvPr/>
        </p:nvPicPr>
        <p:blipFill>
          <a:blip r:embed="rId2"/>
          <a:stretch>
            <a:fillRect/>
          </a:stretch>
        </p:blipFill>
        <p:spPr>
          <a:xfrm>
            <a:off x="4754880" y="2011680"/>
            <a:ext cx="182880" cy="182880"/>
          </a:xfrm>
          <a:prstGeom prst="rect">
            <a:avLst/>
          </a:prstGeom>
        </p:spPr>
      </p:pic>
      <p:sp>
        <p:nvSpPr>
          <p:cNvPr id="20" name="Text 15"/>
          <p:cNvSpPr txBox="1"/>
          <p:nvPr/>
        </p:nvSpPr>
        <p:spPr>
          <a:xfrm>
            <a:off x="5166360" y="1920240"/>
            <a:ext cx="3520440" cy="365760"/>
          </a:xfrm>
          <a:prstGeom prst="rect">
            <a:avLst/>
          </a:prstGeom>
          <a:noFill/>
          <a:ln/>
        </p:spPr>
        <p:txBody>
          <a:bodyPr wrap="square" lIns="0" tIns="0" rIns="0" bIns="0" rtlCol="0" anchor="ctr"/>
          <a:lstStyle/>
          <a:p>
            <a:pPr indent="0" marL="0">
              <a:buNone/>
            </a:pPr>
            <a:r>
              <a:rPr lang="en-US" sz="1300" dirty="0">
                <a:solidFill>
                  <a:schemeClr val="tx1"/>
                </a:solidFill>
              </a:rPr>
              <a:t>Capacità, limiti, affidabilità</a:t>
            </a:r>
            <a:endParaRPr lang="en-US" sz="1300" dirty="0"/>
          </a:p>
        </p:txBody>
      </p:sp>
      <p:sp>
        <p:nvSpPr>
          <p:cNvPr id="21" name="cerchio FiMap"/>
          <p:cNvSpPr/>
          <p:nvPr/>
        </p:nvSpPr>
        <p:spPr>
          <a:xfrm>
            <a:off x="4663440" y="2377440"/>
            <a:ext cx="365760" cy="365760"/>
          </a:xfrm>
          <a:prstGeom prst="ellipse">
            <a:avLst/>
          </a:prstGeom>
          <a:solidFill>
            <a:schemeClr val="accent1"/>
          </a:solidFill>
          <a:ln/>
        </p:spPr>
      </p:sp>
      <p:pic>
        <p:nvPicPr>
          <p:cNvPr id="22" name="Image 2" descr="FiMap">    </p:cNvPr>
          <p:cNvPicPr>
            <a:picLocks noChangeAspect="1"/>
          </p:cNvPicPr>
          <p:nvPr/>
        </p:nvPicPr>
        <p:blipFill>
          <a:blip r:embed="rId3"/>
          <a:stretch>
            <a:fillRect/>
          </a:stretch>
        </p:blipFill>
        <p:spPr>
          <a:xfrm>
            <a:off x="4754880" y="2468880"/>
            <a:ext cx="182880" cy="182880"/>
          </a:xfrm>
          <a:prstGeom prst="rect">
            <a:avLst/>
          </a:prstGeom>
        </p:spPr>
      </p:pic>
      <p:sp>
        <p:nvSpPr>
          <p:cNvPr id="23" name="Text 17"/>
          <p:cNvSpPr txBox="1"/>
          <p:nvPr/>
        </p:nvSpPr>
        <p:spPr>
          <a:xfrm>
            <a:off x="5166360" y="2377440"/>
            <a:ext cx="3520440" cy="365760"/>
          </a:xfrm>
          <a:prstGeom prst="rect">
            <a:avLst/>
          </a:prstGeom>
          <a:noFill/>
          <a:ln/>
        </p:spPr>
        <p:txBody>
          <a:bodyPr wrap="square" lIns="0" tIns="0" rIns="0" bIns="0" rtlCol="0" anchor="ctr"/>
          <a:lstStyle/>
          <a:p>
            <a:pPr indent="0" marL="0">
              <a:buNone/>
            </a:pPr>
            <a:r>
              <a:rPr lang="en-US" sz="1300" dirty="0">
                <a:solidFill>
                  <a:schemeClr val="tx1"/>
                </a:solidFill>
              </a:rPr>
              <a:t>Come è organizzato l'ecosistema</a:t>
            </a:r>
            <a:endParaRPr lang="en-US" sz="1300" dirty="0"/>
          </a:p>
        </p:txBody>
      </p:sp>
      <p:sp>
        <p:nvSpPr>
          <p:cNvPr id="24" name="cerchio FiSliders"/>
          <p:cNvSpPr/>
          <p:nvPr/>
        </p:nvSpPr>
        <p:spPr>
          <a:xfrm>
            <a:off x="4663440" y="2834640"/>
            <a:ext cx="365760" cy="365760"/>
          </a:xfrm>
          <a:prstGeom prst="ellipse">
            <a:avLst/>
          </a:prstGeom>
          <a:solidFill>
            <a:schemeClr val="accent1"/>
          </a:solidFill>
          <a:ln/>
        </p:spPr>
      </p:sp>
      <p:pic>
        <p:nvPicPr>
          <p:cNvPr id="25" name="Image 3" descr="FiSliders">    </p:cNvPr>
          <p:cNvPicPr>
            <a:picLocks noChangeAspect="1"/>
          </p:cNvPicPr>
          <p:nvPr/>
        </p:nvPicPr>
        <p:blipFill>
          <a:blip r:embed="rId4"/>
          <a:stretch>
            <a:fillRect/>
          </a:stretch>
        </p:blipFill>
        <p:spPr>
          <a:xfrm>
            <a:off x="4754880" y="2926080"/>
            <a:ext cx="182880" cy="182880"/>
          </a:xfrm>
          <a:prstGeom prst="rect">
            <a:avLst/>
          </a:prstGeom>
        </p:spPr>
      </p:pic>
      <p:sp>
        <p:nvSpPr>
          <p:cNvPr id="26" name="Text 19"/>
          <p:cNvSpPr txBox="1"/>
          <p:nvPr/>
        </p:nvSpPr>
        <p:spPr>
          <a:xfrm>
            <a:off x="5166360" y="2834640"/>
            <a:ext cx="3520440" cy="365760"/>
          </a:xfrm>
          <a:prstGeom prst="rect">
            <a:avLst/>
          </a:prstGeom>
          <a:noFill/>
          <a:ln/>
        </p:spPr>
        <p:txBody>
          <a:bodyPr wrap="square" lIns="0" tIns="0" rIns="0" bIns="0" rtlCol="0" anchor="ctr"/>
          <a:lstStyle/>
          <a:p>
            <a:pPr indent="0" marL="0">
              <a:buNone/>
            </a:pPr>
            <a:r>
              <a:rPr lang="en-US" sz="1300" dirty="0">
                <a:solidFill>
                  <a:schemeClr val="tx1"/>
                </a:solidFill>
              </a:rPr>
              <a:t>Come scegliere con criteri</a:t>
            </a:r>
            <a:endParaRPr lang="en-US" sz="1300" dirty="0"/>
          </a:p>
        </p:txBody>
      </p:sp>
      <p:sp>
        <p:nvSpPr>
          <p:cNvPr id="27" name="cerchio FiMessageSquare"/>
          <p:cNvSpPr/>
          <p:nvPr/>
        </p:nvSpPr>
        <p:spPr>
          <a:xfrm>
            <a:off x="4663440" y="3291840"/>
            <a:ext cx="365760" cy="365760"/>
          </a:xfrm>
          <a:prstGeom prst="ellipse">
            <a:avLst/>
          </a:prstGeom>
          <a:solidFill>
            <a:schemeClr val="accent1"/>
          </a:solidFill>
          <a:ln/>
        </p:spPr>
      </p:sp>
      <p:pic>
        <p:nvPicPr>
          <p:cNvPr id="28" name="Image 4" descr="FiMessageSquare">    </p:cNvPr>
          <p:cNvPicPr>
            <a:picLocks noChangeAspect="1"/>
          </p:cNvPicPr>
          <p:nvPr/>
        </p:nvPicPr>
        <p:blipFill>
          <a:blip r:embed="rId5"/>
          <a:stretch>
            <a:fillRect/>
          </a:stretch>
        </p:blipFill>
        <p:spPr>
          <a:xfrm>
            <a:off x="4754880" y="3383280"/>
            <a:ext cx="182880" cy="182880"/>
          </a:xfrm>
          <a:prstGeom prst="rect">
            <a:avLst/>
          </a:prstGeom>
        </p:spPr>
      </p:pic>
      <p:sp>
        <p:nvSpPr>
          <p:cNvPr id="29" name="Text 21"/>
          <p:cNvSpPr txBox="1"/>
          <p:nvPr/>
        </p:nvSpPr>
        <p:spPr>
          <a:xfrm>
            <a:off x="5166360" y="3291840"/>
            <a:ext cx="3520440" cy="365760"/>
          </a:xfrm>
          <a:prstGeom prst="rect">
            <a:avLst/>
          </a:prstGeom>
          <a:noFill/>
          <a:ln/>
        </p:spPr>
        <p:txBody>
          <a:bodyPr wrap="square" lIns="0" tIns="0" rIns="0" bIns="0" rtlCol="0" anchor="ctr"/>
          <a:lstStyle/>
          <a:p>
            <a:pPr indent="0" marL="0">
              <a:buNone/>
            </a:pPr>
            <a:r>
              <a:rPr lang="en-US" sz="1300" dirty="0">
                <a:solidFill>
                  <a:schemeClr val="tx1"/>
                </a:solidFill>
              </a:rPr>
              <a:t>Come interagire e formulare richieste</a:t>
            </a:r>
            <a:endParaRPr lang="en-US" sz="1300" dirty="0"/>
          </a:p>
        </p:txBody>
      </p:sp>
      <p:sp>
        <p:nvSpPr>
          <p:cNvPr id="30" name="cerchio FiCheckSquare"/>
          <p:cNvSpPr/>
          <p:nvPr/>
        </p:nvSpPr>
        <p:spPr>
          <a:xfrm>
            <a:off x="4663440" y="3749040"/>
            <a:ext cx="365760" cy="365760"/>
          </a:xfrm>
          <a:prstGeom prst="ellipse">
            <a:avLst/>
          </a:prstGeom>
          <a:solidFill>
            <a:schemeClr val="accent1"/>
          </a:solidFill>
          <a:ln/>
        </p:spPr>
      </p:sp>
      <p:pic>
        <p:nvPicPr>
          <p:cNvPr id="31" name="Image 5" descr="FiCheckSquare">    </p:cNvPr>
          <p:cNvPicPr>
            <a:picLocks noChangeAspect="1"/>
          </p:cNvPicPr>
          <p:nvPr/>
        </p:nvPicPr>
        <p:blipFill>
          <a:blip r:embed="rId6"/>
          <a:stretch>
            <a:fillRect/>
          </a:stretch>
        </p:blipFill>
        <p:spPr>
          <a:xfrm>
            <a:off x="4754880" y="3840480"/>
            <a:ext cx="182880" cy="182880"/>
          </a:xfrm>
          <a:prstGeom prst="rect">
            <a:avLst/>
          </a:prstGeom>
        </p:spPr>
      </p:pic>
      <p:sp>
        <p:nvSpPr>
          <p:cNvPr id="32" name="Text 23"/>
          <p:cNvSpPr txBox="1"/>
          <p:nvPr/>
        </p:nvSpPr>
        <p:spPr>
          <a:xfrm>
            <a:off x="5166360" y="3749040"/>
            <a:ext cx="3520440" cy="365760"/>
          </a:xfrm>
          <a:prstGeom prst="rect">
            <a:avLst/>
          </a:prstGeom>
          <a:noFill/>
          <a:ln/>
        </p:spPr>
        <p:txBody>
          <a:bodyPr wrap="square" lIns="0" tIns="0" rIns="0" bIns="0" rtlCol="0" anchor="ctr"/>
          <a:lstStyle/>
          <a:p>
            <a:pPr indent="0" marL="0">
              <a:buNone/>
            </a:pPr>
            <a:r>
              <a:rPr lang="en-US" sz="1300" dirty="0">
                <a:solidFill>
                  <a:schemeClr val="tx1"/>
                </a:solidFill>
              </a:rPr>
              <a:t>Come verificare e usare in modo responsabile</a:t>
            </a:r>
            <a:endParaRPr lang="en-US" sz="1300" dirty="0"/>
          </a:p>
        </p:txBody>
      </p:sp>
      <p:sp>
        <p:nvSpPr>
          <p:cNvPr id="33" name="Text 24"/>
          <p:cNvSpPr txBox="1"/>
          <p:nvPr/>
        </p:nvSpPr>
        <p:spPr>
          <a:xfrm>
            <a:off x="457200" y="4297680"/>
            <a:ext cx="8229600" cy="320040"/>
          </a:xfrm>
          <a:prstGeom prst="rect">
            <a:avLst/>
          </a:prstGeom>
          <a:noFill/>
          <a:ln/>
        </p:spPr>
        <p:txBody>
          <a:bodyPr wrap="square" lIns="0" tIns="0" rIns="0" bIns="0" rtlCol="0" anchor="t"/>
          <a:lstStyle/>
          <a:p>
            <a:pPr indent="0" marL="0">
              <a:buNone/>
            </a:pPr>
            <a:r>
              <a:rPr lang="en-US" sz="1400" i="1" dirty="0">
                <a:solidFill>
                  <a:schemeClr val="tx1"/>
                </a:solidFill>
              </a:rPr>
              <a:t>Non utenti di un prodotto, ma persone capaci di usare l'AI in modo consapevole.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Orientarsi senza inseguire ogni novità</a:t>
            </a:r>
            <a:endParaRPr lang="en-US" sz="2600" dirty="0"/>
          </a:p>
        </p:txBody>
      </p:sp>
      <p:sp>
        <p:nvSpPr>
          <p:cNvPr id="4" name="Annunciato o disponibile?"/>
          <p:cNvSpPr/>
          <p:nvPr/>
        </p:nvSpPr>
        <p:spPr>
          <a:xfrm>
            <a:off x="457200" y="1097280"/>
            <a:ext cx="2621280" cy="1325880"/>
          </a:xfrm>
          <a:prstGeom prst="roundRect">
            <a:avLst>
              <a:gd name="adj" fmla="val 5517"/>
            </a:avLst>
          </a:prstGeom>
          <a:solidFill>
            <a:schemeClr val="bg2"/>
          </a:solidFill>
          <a:ln/>
        </p:spPr>
      </p:sp>
      <p:sp>
        <p:nvSpPr>
          <p:cNvPr id="5" name="cerchio FiFilter"/>
          <p:cNvSpPr/>
          <p:nvPr/>
        </p:nvSpPr>
        <p:spPr>
          <a:xfrm>
            <a:off x="621792" y="1261872"/>
            <a:ext cx="438912" cy="438912"/>
          </a:xfrm>
          <a:prstGeom prst="ellipse">
            <a:avLst/>
          </a:prstGeom>
          <a:solidFill>
            <a:schemeClr val="accent1"/>
          </a:solidFill>
          <a:ln/>
        </p:spPr>
      </p:sp>
      <p:pic>
        <p:nvPicPr>
          <p:cNvPr id="6" name="Image 0" descr="FiFilter">    </p:cNvPr>
          <p:cNvPicPr>
            <a:picLocks noChangeAspect="1"/>
          </p:cNvPicPr>
          <p:nvPr/>
        </p:nvPicPr>
        <p:blipFill>
          <a:blip r:embed="rId1"/>
          <a:stretch>
            <a:fillRect/>
          </a:stretch>
        </p:blipFill>
        <p:spPr>
          <a:xfrm>
            <a:off x="731520" y="1371600"/>
            <a:ext cx="219456" cy="219456"/>
          </a:xfrm>
          <a:prstGeom prst="rect">
            <a:avLst/>
          </a:prstGeom>
        </p:spPr>
      </p:pic>
      <p:sp>
        <p:nvSpPr>
          <p:cNvPr id="7" name="Text 3"/>
          <p:cNvSpPr txBox="1"/>
          <p:nvPr/>
        </p:nvSpPr>
        <p:spPr>
          <a:xfrm>
            <a:off x="1170432" y="122529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Annunciato o disponibile?</a:t>
            </a:r>
            <a:endParaRPr lang="en-US" sz="1300" dirty="0"/>
          </a:p>
        </p:txBody>
      </p:sp>
      <p:sp>
        <p:nvSpPr>
          <p:cNvPr id="8" name="Text 4"/>
          <p:cNvSpPr txBox="1"/>
          <p:nvPr/>
        </p:nvSpPr>
        <p:spPr>
          <a:xfrm>
            <a:off x="621792" y="1810512"/>
            <a:ext cx="2292096" cy="521208"/>
          </a:xfrm>
          <a:prstGeom prst="rect">
            <a:avLst/>
          </a:prstGeom>
          <a:noFill/>
          <a:ln/>
        </p:spPr>
        <p:txBody>
          <a:bodyPr wrap="square" lIns="0" tIns="0" rIns="0" bIns="0" rtlCol="0" anchor="t"/>
          <a:lstStyle/>
          <a:p>
            <a:pPr indent="0" marL="0">
              <a:buNone/>
            </a:pPr>
            <a:r>
              <a:rPr lang="en-US" sz="1200" dirty="0">
                <a:solidFill>
                  <a:schemeClr val="tx2"/>
                </a:solidFill>
              </a:rPr>
              <a:t>Applicare le verifiche</a:t>
            </a:r>
            <a:endParaRPr lang="en-US" sz="1200" dirty="0"/>
          </a:p>
        </p:txBody>
      </p:sp>
      <p:sp>
        <p:nvSpPr>
          <p:cNvPr id="9" name="Risolve un nostro problema?"/>
          <p:cNvSpPr/>
          <p:nvPr/>
        </p:nvSpPr>
        <p:spPr>
          <a:xfrm>
            <a:off x="3261360" y="1097280"/>
            <a:ext cx="2621280" cy="1325880"/>
          </a:xfrm>
          <a:prstGeom prst="roundRect">
            <a:avLst>
              <a:gd name="adj" fmla="val 5517"/>
            </a:avLst>
          </a:prstGeom>
          <a:solidFill>
            <a:schemeClr val="bg2"/>
          </a:solidFill>
          <a:ln/>
        </p:spPr>
      </p:sp>
      <p:sp>
        <p:nvSpPr>
          <p:cNvPr id="10" name="cerchio FiTarget"/>
          <p:cNvSpPr/>
          <p:nvPr/>
        </p:nvSpPr>
        <p:spPr>
          <a:xfrm>
            <a:off x="3425952" y="1261872"/>
            <a:ext cx="438912" cy="438912"/>
          </a:xfrm>
          <a:prstGeom prst="ellipse">
            <a:avLst/>
          </a:prstGeom>
          <a:solidFill>
            <a:schemeClr val="accent1"/>
          </a:solidFill>
          <a:ln/>
        </p:spPr>
      </p:sp>
      <p:pic>
        <p:nvPicPr>
          <p:cNvPr id="11" name="Image 1" descr="FiTarget">    </p:cNvPr>
          <p:cNvPicPr>
            <a:picLocks noChangeAspect="1"/>
          </p:cNvPicPr>
          <p:nvPr/>
        </p:nvPicPr>
        <p:blipFill>
          <a:blip r:embed="rId2"/>
          <a:stretch>
            <a:fillRect/>
          </a:stretch>
        </p:blipFill>
        <p:spPr>
          <a:xfrm>
            <a:off x="3535680" y="1371600"/>
            <a:ext cx="219456" cy="219456"/>
          </a:xfrm>
          <a:prstGeom prst="rect">
            <a:avLst/>
          </a:prstGeom>
        </p:spPr>
      </p:pic>
      <p:sp>
        <p:nvSpPr>
          <p:cNvPr id="12" name="Text 7"/>
          <p:cNvSpPr txBox="1"/>
          <p:nvPr/>
        </p:nvSpPr>
        <p:spPr>
          <a:xfrm>
            <a:off x="3974592" y="122529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Risolve un nostro problema?</a:t>
            </a:r>
            <a:endParaRPr lang="en-US" sz="1300" dirty="0"/>
          </a:p>
        </p:txBody>
      </p:sp>
      <p:sp>
        <p:nvSpPr>
          <p:cNvPr id="13" name="Text 8"/>
          <p:cNvSpPr txBox="1"/>
          <p:nvPr/>
        </p:nvSpPr>
        <p:spPr>
          <a:xfrm>
            <a:off x="3425952" y="1810512"/>
            <a:ext cx="2292096" cy="521208"/>
          </a:xfrm>
          <a:prstGeom prst="rect">
            <a:avLst/>
          </a:prstGeom>
          <a:noFill/>
          <a:ln/>
        </p:spPr>
        <p:txBody>
          <a:bodyPr wrap="square" lIns="0" tIns="0" rIns="0" bIns="0" rtlCol="0" anchor="t"/>
          <a:lstStyle/>
          <a:p>
            <a:pPr indent="0" marL="0">
              <a:buNone/>
            </a:pPr>
            <a:r>
              <a:rPr lang="en-US" sz="1200" dirty="0">
                <a:solidFill>
                  <a:schemeClr val="tx2"/>
                </a:solidFill>
              </a:rPr>
              <a:t>Partire dalle esigenze</a:t>
            </a:r>
            <a:endParaRPr lang="en-US" sz="1200" dirty="0"/>
          </a:p>
        </p:txBody>
      </p:sp>
      <p:sp>
        <p:nvSpPr>
          <p:cNvPr id="14" name="Poche fonti affidabili"/>
          <p:cNvSpPr/>
          <p:nvPr/>
        </p:nvSpPr>
        <p:spPr>
          <a:xfrm>
            <a:off x="6065520" y="1097280"/>
            <a:ext cx="2621280" cy="1325880"/>
          </a:xfrm>
          <a:prstGeom prst="roundRect">
            <a:avLst>
              <a:gd name="adj" fmla="val 5517"/>
            </a:avLst>
          </a:prstGeom>
          <a:solidFill>
            <a:schemeClr val="bg2"/>
          </a:solidFill>
          <a:ln/>
        </p:spPr>
      </p:sp>
      <p:sp>
        <p:nvSpPr>
          <p:cNvPr id="15" name="cerchio FiBookOpen"/>
          <p:cNvSpPr/>
          <p:nvPr/>
        </p:nvSpPr>
        <p:spPr>
          <a:xfrm>
            <a:off x="6230112" y="1261872"/>
            <a:ext cx="438912" cy="438912"/>
          </a:xfrm>
          <a:prstGeom prst="ellipse">
            <a:avLst/>
          </a:prstGeom>
          <a:solidFill>
            <a:schemeClr val="accent1"/>
          </a:solidFill>
          <a:ln/>
        </p:spPr>
      </p:sp>
      <p:pic>
        <p:nvPicPr>
          <p:cNvPr id="16" name="Image 2" descr="FiBookOpen">    </p:cNvPr>
          <p:cNvPicPr>
            <a:picLocks noChangeAspect="1"/>
          </p:cNvPicPr>
          <p:nvPr/>
        </p:nvPicPr>
        <p:blipFill>
          <a:blip r:embed="rId3"/>
          <a:stretch>
            <a:fillRect/>
          </a:stretch>
        </p:blipFill>
        <p:spPr>
          <a:xfrm>
            <a:off x="6339840" y="1371600"/>
            <a:ext cx="219456" cy="219456"/>
          </a:xfrm>
          <a:prstGeom prst="rect">
            <a:avLst/>
          </a:prstGeom>
        </p:spPr>
      </p:pic>
      <p:sp>
        <p:nvSpPr>
          <p:cNvPr id="17" name="Text 11"/>
          <p:cNvSpPr txBox="1"/>
          <p:nvPr/>
        </p:nvSpPr>
        <p:spPr>
          <a:xfrm>
            <a:off x="6778752" y="122529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Poche fonti affidabili</a:t>
            </a:r>
            <a:endParaRPr lang="en-US" sz="1300" dirty="0"/>
          </a:p>
        </p:txBody>
      </p:sp>
      <p:sp>
        <p:nvSpPr>
          <p:cNvPr id="18" name="Text 12"/>
          <p:cNvSpPr txBox="1"/>
          <p:nvPr/>
        </p:nvSpPr>
        <p:spPr>
          <a:xfrm>
            <a:off x="6230112" y="1810512"/>
            <a:ext cx="2292096" cy="521208"/>
          </a:xfrm>
          <a:prstGeom prst="rect">
            <a:avLst/>
          </a:prstGeom>
          <a:noFill/>
          <a:ln/>
        </p:spPr>
        <p:txBody>
          <a:bodyPr wrap="square" lIns="0" tIns="0" rIns="0" bIns="0" rtlCol="0" anchor="t"/>
          <a:lstStyle/>
          <a:p>
            <a:pPr indent="0" marL="0">
              <a:buNone/>
            </a:pPr>
            <a:r>
              <a:rPr lang="en-US" sz="1200" dirty="0">
                <a:solidFill>
                  <a:schemeClr val="tx2"/>
                </a:solidFill>
              </a:rPr>
              <a:t>Documentazione ufficiale e fonti indipendenti</a:t>
            </a:r>
            <a:endParaRPr lang="en-US" sz="1200" dirty="0"/>
          </a:p>
        </p:txBody>
      </p:sp>
      <p:sp>
        <p:nvSpPr>
          <p:cNvPr id="19" name="Revisioni periodiche"/>
          <p:cNvSpPr/>
          <p:nvPr/>
        </p:nvSpPr>
        <p:spPr>
          <a:xfrm>
            <a:off x="457200" y="2606040"/>
            <a:ext cx="2621280" cy="1325880"/>
          </a:xfrm>
          <a:prstGeom prst="roundRect">
            <a:avLst>
              <a:gd name="adj" fmla="val 5517"/>
            </a:avLst>
          </a:prstGeom>
          <a:solidFill>
            <a:schemeClr val="bg2"/>
          </a:solidFill>
          <a:ln/>
        </p:spPr>
      </p:sp>
      <p:sp>
        <p:nvSpPr>
          <p:cNvPr id="20" name="cerchio FiCalendar"/>
          <p:cNvSpPr/>
          <p:nvPr/>
        </p:nvSpPr>
        <p:spPr>
          <a:xfrm>
            <a:off x="621792" y="2770632"/>
            <a:ext cx="438912" cy="438912"/>
          </a:xfrm>
          <a:prstGeom prst="ellipse">
            <a:avLst/>
          </a:prstGeom>
          <a:solidFill>
            <a:schemeClr val="accent1"/>
          </a:solidFill>
          <a:ln/>
        </p:spPr>
      </p:sp>
      <p:pic>
        <p:nvPicPr>
          <p:cNvPr id="21" name="Image 3" descr="FiCalendar">    </p:cNvPr>
          <p:cNvPicPr>
            <a:picLocks noChangeAspect="1"/>
          </p:cNvPicPr>
          <p:nvPr/>
        </p:nvPicPr>
        <p:blipFill>
          <a:blip r:embed="rId4"/>
          <a:stretch>
            <a:fillRect/>
          </a:stretch>
        </p:blipFill>
        <p:spPr>
          <a:xfrm>
            <a:off x="731520" y="2880360"/>
            <a:ext cx="219456" cy="219456"/>
          </a:xfrm>
          <a:prstGeom prst="rect">
            <a:avLst/>
          </a:prstGeom>
        </p:spPr>
      </p:pic>
      <p:sp>
        <p:nvSpPr>
          <p:cNvPr id="22" name="Text 15"/>
          <p:cNvSpPr txBox="1"/>
          <p:nvPr/>
        </p:nvSpPr>
        <p:spPr>
          <a:xfrm>
            <a:off x="1170432" y="273405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Revisioni periodiche</a:t>
            </a:r>
            <a:endParaRPr lang="en-US" sz="1300" dirty="0"/>
          </a:p>
        </p:txBody>
      </p:sp>
      <p:sp>
        <p:nvSpPr>
          <p:cNvPr id="23" name="Text 16"/>
          <p:cNvSpPr txBox="1"/>
          <p:nvPr/>
        </p:nvSpPr>
        <p:spPr>
          <a:xfrm>
            <a:off x="621792" y="3319272"/>
            <a:ext cx="2292096" cy="521208"/>
          </a:xfrm>
          <a:prstGeom prst="rect">
            <a:avLst/>
          </a:prstGeom>
          <a:noFill/>
          <a:ln/>
        </p:spPr>
        <p:txBody>
          <a:bodyPr wrap="square" lIns="0" tIns="0" rIns="0" bIns="0" rtlCol="0" anchor="t"/>
          <a:lstStyle/>
          <a:p>
            <a:pPr indent="0" marL="0">
              <a:buNone/>
            </a:pPr>
            <a:r>
              <a:rPr lang="en-US" sz="1200" dirty="0">
                <a:solidFill>
                  <a:schemeClr val="tx2"/>
                </a:solidFill>
              </a:rPr>
              <a:t>Per esempio ogni sei mesi</a:t>
            </a:r>
            <a:endParaRPr lang="en-US" sz="1200" dirty="0"/>
          </a:p>
        </p:txBody>
      </p:sp>
      <p:sp>
        <p:nvSpPr>
          <p:cNvPr id="24" name="Condividere in azienda"/>
          <p:cNvSpPr/>
          <p:nvPr/>
        </p:nvSpPr>
        <p:spPr>
          <a:xfrm>
            <a:off x="3261360" y="2606040"/>
            <a:ext cx="2621280" cy="1325880"/>
          </a:xfrm>
          <a:prstGeom prst="roundRect">
            <a:avLst>
              <a:gd name="adj" fmla="val 5517"/>
            </a:avLst>
          </a:prstGeom>
          <a:solidFill>
            <a:schemeClr val="bg2"/>
          </a:solidFill>
          <a:ln/>
        </p:spPr>
      </p:sp>
      <p:sp>
        <p:nvSpPr>
          <p:cNvPr id="25" name="cerchio FiUsers"/>
          <p:cNvSpPr/>
          <p:nvPr/>
        </p:nvSpPr>
        <p:spPr>
          <a:xfrm>
            <a:off x="3425952" y="2770632"/>
            <a:ext cx="438912" cy="438912"/>
          </a:xfrm>
          <a:prstGeom prst="ellipse">
            <a:avLst/>
          </a:prstGeom>
          <a:solidFill>
            <a:schemeClr val="accent1"/>
          </a:solidFill>
          <a:ln/>
        </p:spPr>
      </p:sp>
      <p:pic>
        <p:nvPicPr>
          <p:cNvPr id="26" name="Image 4" descr="FiUsers">    </p:cNvPr>
          <p:cNvPicPr>
            <a:picLocks noChangeAspect="1"/>
          </p:cNvPicPr>
          <p:nvPr/>
        </p:nvPicPr>
        <p:blipFill>
          <a:blip r:embed="rId5"/>
          <a:stretch>
            <a:fillRect/>
          </a:stretch>
        </p:blipFill>
        <p:spPr>
          <a:xfrm>
            <a:off x="3535680" y="2880360"/>
            <a:ext cx="219456" cy="219456"/>
          </a:xfrm>
          <a:prstGeom prst="rect">
            <a:avLst/>
          </a:prstGeom>
        </p:spPr>
      </p:pic>
      <p:sp>
        <p:nvSpPr>
          <p:cNvPr id="27" name="Text 19"/>
          <p:cNvSpPr txBox="1"/>
          <p:nvPr/>
        </p:nvSpPr>
        <p:spPr>
          <a:xfrm>
            <a:off x="3974592" y="273405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Condividere in azienda</a:t>
            </a:r>
            <a:endParaRPr lang="en-US" sz="1300" dirty="0"/>
          </a:p>
        </p:txBody>
      </p:sp>
      <p:sp>
        <p:nvSpPr>
          <p:cNvPr id="28" name="Text 20"/>
          <p:cNvSpPr txBox="1"/>
          <p:nvPr/>
        </p:nvSpPr>
        <p:spPr>
          <a:xfrm>
            <a:off x="3425952" y="3319272"/>
            <a:ext cx="2292096" cy="521208"/>
          </a:xfrm>
          <a:prstGeom prst="rect">
            <a:avLst/>
          </a:prstGeom>
          <a:noFill/>
          <a:ln/>
        </p:spPr>
        <p:txBody>
          <a:bodyPr wrap="square" lIns="0" tIns="0" rIns="0" bIns="0" rtlCol="0" anchor="t"/>
          <a:lstStyle/>
          <a:p>
            <a:pPr indent="0" marL="0">
              <a:buNone/>
            </a:pPr>
            <a:r>
              <a:rPr lang="en-US" sz="1200" dirty="0">
                <a:solidFill>
                  <a:schemeClr val="tx2"/>
                </a:solidFill>
              </a:rPr>
              <a:t>Una comunità interna di utenti</a:t>
            </a:r>
            <a:endParaRPr lang="en-US" sz="1200" dirty="0"/>
          </a:p>
        </p:txBody>
      </p:sp>
      <p:sp>
        <p:nvSpPr>
          <p:cNvPr id="29" name="Sperimentare in piccolo"/>
          <p:cNvSpPr/>
          <p:nvPr/>
        </p:nvSpPr>
        <p:spPr>
          <a:xfrm>
            <a:off x="6065520" y="2606040"/>
            <a:ext cx="2621280" cy="1325880"/>
          </a:xfrm>
          <a:prstGeom prst="roundRect">
            <a:avLst>
              <a:gd name="adj" fmla="val 5517"/>
            </a:avLst>
          </a:prstGeom>
          <a:solidFill>
            <a:schemeClr val="bg2"/>
          </a:solidFill>
          <a:ln/>
        </p:spPr>
      </p:sp>
      <p:sp>
        <p:nvSpPr>
          <p:cNvPr id="30" name="cerchio FiPlay"/>
          <p:cNvSpPr/>
          <p:nvPr/>
        </p:nvSpPr>
        <p:spPr>
          <a:xfrm>
            <a:off x="6230112" y="2770632"/>
            <a:ext cx="438912" cy="438912"/>
          </a:xfrm>
          <a:prstGeom prst="ellipse">
            <a:avLst/>
          </a:prstGeom>
          <a:solidFill>
            <a:schemeClr val="accent1"/>
          </a:solidFill>
          <a:ln/>
        </p:spPr>
      </p:sp>
      <p:pic>
        <p:nvPicPr>
          <p:cNvPr id="31" name="Image 5" descr="FiPlay">    </p:cNvPr>
          <p:cNvPicPr>
            <a:picLocks noChangeAspect="1"/>
          </p:cNvPicPr>
          <p:nvPr/>
        </p:nvPicPr>
        <p:blipFill>
          <a:blip r:embed="rId6"/>
          <a:stretch>
            <a:fillRect/>
          </a:stretch>
        </p:blipFill>
        <p:spPr>
          <a:xfrm>
            <a:off x="6339840" y="2880360"/>
            <a:ext cx="219456" cy="219456"/>
          </a:xfrm>
          <a:prstGeom prst="rect">
            <a:avLst/>
          </a:prstGeom>
        </p:spPr>
      </p:pic>
      <p:sp>
        <p:nvSpPr>
          <p:cNvPr id="32" name="Text 23"/>
          <p:cNvSpPr txBox="1"/>
          <p:nvPr/>
        </p:nvSpPr>
        <p:spPr>
          <a:xfrm>
            <a:off x="6778752" y="273405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Sperimentare in piccolo</a:t>
            </a:r>
            <a:endParaRPr lang="en-US" sz="1300" dirty="0"/>
          </a:p>
        </p:txBody>
      </p:sp>
      <p:sp>
        <p:nvSpPr>
          <p:cNvPr id="33" name="Text 24"/>
          <p:cNvSpPr txBox="1"/>
          <p:nvPr/>
        </p:nvSpPr>
        <p:spPr>
          <a:xfrm>
            <a:off x="6230112" y="3319272"/>
            <a:ext cx="2292096" cy="521208"/>
          </a:xfrm>
          <a:prstGeom prst="rect">
            <a:avLst/>
          </a:prstGeom>
          <a:noFill/>
          <a:ln/>
        </p:spPr>
        <p:txBody>
          <a:bodyPr wrap="square" lIns="0" tIns="0" rIns="0" bIns="0" rtlCol="0" anchor="t"/>
          <a:lstStyle/>
          <a:p>
            <a:pPr indent="0" marL="0">
              <a:buNone/>
            </a:pPr>
            <a:r>
              <a:rPr lang="en-US" sz="1200" dirty="0">
                <a:solidFill>
                  <a:schemeClr val="tx2"/>
                </a:solidFill>
              </a:rPr>
              <a:t>Prima di adottare su larga scala</a:t>
            </a:r>
            <a:endParaRPr lang="en-US" sz="1200" dirty="0"/>
          </a:p>
        </p:txBody>
      </p:sp>
      <p:sp>
        <p:nvSpPr>
          <p:cNvPr id="34" name="messaggio"/>
          <p:cNvSpPr/>
          <p:nvPr/>
        </p:nvSpPr>
        <p:spPr>
          <a:xfrm>
            <a:off x="457200" y="4069080"/>
            <a:ext cx="8229600" cy="502920"/>
          </a:xfrm>
          <a:prstGeom prst="roundRect">
            <a:avLst>
              <a:gd name="adj" fmla="val 14545"/>
            </a:avLst>
          </a:prstGeom>
          <a:solidFill>
            <a:schemeClr val="tx1"/>
          </a:solidFill>
          <a:ln/>
        </p:spPr>
      </p:sp>
      <p:sp>
        <p:nvSpPr>
          <p:cNvPr id="35" name="Text 26"/>
          <p:cNvSpPr txBox="1"/>
          <p:nvPr/>
        </p:nvSpPr>
        <p:spPr>
          <a:xfrm>
            <a:off x="640080" y="4069080"/>
            <a:ext cx="7863840" cy="502920"/>
          </a:xfrm>
          <a:prstGeom prst="rect">
            <a:avLst/>
          </a:prstGeom>
          <a:noFill/>
          <a:ln/>
        </p:spPr>
        <p:txBody>
          <a:bodyPr wrap="square" lIns="0" tIns="0" rIns="0" bIns="0" rtlCol="0" anchor="ctr"/>
          <a:lstStyle/>
          <a:p>
            <a:pPr indent="0" marL="0">
              <a:buNone/>
            </a:pPr>
            <a:r>
              <a:rPr lang="en-US" sz="1200" dirty="0">
                <a:solidFill>
                  <a:schemeClr val="bg1"/>
                </a:solidFill>
              </a:rPr>
              <a:t>Capire come sono organizzate le soluzioni e scegliere consapevolmente, anziché inseguire ogni nuovo prodotto.</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I principi di funzionamento e valutazione hanno maggiore durata rispetto alle caratteristiche di una singola versione di un prodotto.</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4.8  ·  L'evoluzione e la dinamicità dell'ecosistema AI</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Le domande guida: le nostre risposte</a:t>
            </a:r>
            <a:endParaRPr lang="en-US" sz="2600" dirty="0"/>
          </a:p>
        </p:txBody>
      </p:sp>
      <p:sp>
        <p:nvSpPr>
          <p:cNvPr id="4" name="risposta 1"/>
          <p:cNvSpPr/>
          <p:nvPr/>
        </p:nvSpPr>
        <p:spPr>
          <a:xfrm>
            <a:off x="457200" y="1024128"/>
            <a:ext cx="4023360" cy="649224"/>
          </a:xfrm>
          <a:prstGeom prst="roundRect">
            <a:avLst>
              <a:gd name="adj" fmla="val 11268"/>
            </a:avLst>
          </a:prstGeom>
          <a:solidFill>
            <a:schemeClr val="bg2"/>
          </a:solidFill>
          <a:ln/>
        </p:spPr>
      </p:sp>
      <p:sp>
        <p:nvSpPr>
          <p:cNvPr id="5" name="Text 2"/>
          <p:cNvSpPr txBox="1"/>
          <p:nvPr/>
        </p:nvSpPr>
        <p:spPr>
          <a:xfrm>
            <a:off x="566928" y="1024128"/>
            <a:ext cx="411480" cy="649224"/>
          </a:xfrm>
          <a:prstGeom prst="rect">
            <a:avLst/>
          </a:prstGeom>
          <a:noFill/>
          <a:ln/>
        </p:spPr>
        <p:txBody>
          <a:bodyPr wrap="square" lIns="0" tIns="0" rIns="0" bIns="0" rtlCol="0" anchor="ctr"/>
          <a:lstStyle/>
          <a:p>
            <a:pPr indent="0" marL="0">
              <a:buNone/>
            </a:pPr>
            <a:r>
              <a:rPr lang="en-US" sz="1600" b="1" dirty="0">
                <a:solidFill>
                  <a:schemeClr val="accent1"/>
                </a:solidFill>
              </a:rPr>
              <a:t>1</a:t>
            </a:r>
            <a:endParaRPr lang="en-US" sz="1600" dirty="0"/>
          </a:p>
        </p:txBody>
      </p:sp>
      <p:sp>
        <p:nvSpPr>
          <p:cNvPr id="6" name="Text 3"/>
          <p:cNvSpPr txBox="1"/>
          <p:nvPr/>
        </p:nvSpPr>
        <p:spPr>
          <a:xfrm>
            <a:off x="960120" y="1069848"/>
            <a:ext cx="3429000" cy="274320"/>
          </a:xfrm>
          <a:prstGeom prst="rect">
            <a:avLst/>
          </a:prstGeom>
          <a:noFill/>
          <a:ln/>
        </p:spPr>
        <p:txBody>
          <a:bodyPr wrap="square" lIns="0" tIns="0" rIns="0" bIns="0" rtlCol="0" anchor="t"/>
          <a:lstStyle/>
          <a:p>
            <a:pPr indent="0" marL="0">
              <a:buNone/>
            </a:pPr>
            <a:r>
              <a:rPr lang="en-US" sz="1200" b="1" dirty="0">
                <a:solidFill>
                  <a:schemeClr val="tx1"/>
                </a:solidFill>
              </a:rPr>
              <a:t>Modello e applicazione?</a:t>
            </a:r>
            <a:endParaRPr lang="en-US" sz="1200" dirty="0"/>
          </a:p>
        </p:txBody>
      </p:sp>
      <p:sp>
        <p:nvSpPr>
          <p:cNvPr id="7" name="Text 4"/>
          <p:cNvSpPr txBox="1"/>
          <p:nvPr/>
        </p:nvSpPr>
        <p:spPr>
          <a:xfrm>
            <a:off x="960120" y="1353312"/>
            <a:ext cx="3429000" cy="274320"/>
          </a:xfrm>
          <a:prstGeom prst="rect">
            <a:avLst/>
          </a:prstGeom>
          <a:noFill/>
          <a:ln/>
        </p:spPr>
        <p:txBody>
          <a:bodyPr wrap="square" lIns="0" tIns="0" rIns="0" bIns="0" rtlCol="0" anchor="t"/>
          <a:lstStyle/>
          <a:p>
            <a:pPr indent="0" marL="0">
              <a:buNone/>
            </a:pPr>
            <a:r>
              <a:rPr lang="en-US" sz="1100" dirty="0">
                <a:solidFill>
                  <a:schemeClr val="tx2"/>
                </a:solidFill>
              </a:rPr>
              <a:t>Componente e prodotto che lo integra</a:t>
            </a:r>
            <a:endParaRPr lang="en-US" sz="1100" dirty="0"/>
          </a:p>
        </p:txBody>
      </p:sp>
      <p:sp>
        <p:nvSpPr>
          <p:cNvPr id="8" name="risposta 2"/>
          <p:cNvSpPr/>
          <p:nvPr/>
        </p:nvSpPr>
        <p:spPr>
          <a:xfrm>
            <a:off x="4663440" y="1024128"/>
            <a:ext cx="4023360" cy="649224"/>
          </a:xfrm>
          <a:prstGeom prst="roundRect">
            <a:avLst>
              <a:gd name="adj" fmla="val 11268"/>
            </a:avLst>
          </a:prstGeom>
          <a:solidFill>
            <a:schemeClr val="bg2"/>
          </a:solidFill>
          <a:ln/>
        </p:spPr>
      </p:sp>
      <p:sp>
        <p:nvSpPr>
          <p:cNvPr id="9" name="Text 6"/>
          <p:cNvSpPr txBox="1"/>
          <p:nvPr/>
        </p:nvSpPr>
        <p:spPr>
          <a:xfrm>
            <a:off x="4773168" y="1024128"/>
            <a:ext cx="411480" cy="649224"/>
          </a:xfrm>
          <a:prstGeom prst="rect">
            <a:avLst/>
          </a:prstGeom>
          <a:noFill/>
          <a:ln/>
        </p:spPr>
        <p:txBody>
          <a:bodyPr wrap="square" lIns="0" tIns="0" rIns="0" bIns="0" rtlCol="0" anchor="ctr"/>
          <a:lstStyle/>
          <a:p>
            <a:pPr indent="0" marL="0">
              <a:buNone/>
            </a:pPr>
            <a:r>
              <a:rPr lang="en-US" sz="1600" b="1" dirty="0">
                <a:solidFill>
                  <a:schemeClr val="accent1"/>
                </a:solidFill>
              </a:rPr>
              <a:t>2</a:t>
            </a:r>
            <a:endParaRPr lang="en-US" sz="1600" dirty="0"/>
          </a:p>
        </p:txBody>
      </p:sp>
      <p:sp>
        <p:nvSpPr>
          <p:cNvPr id="10" name="Text 7"/>
          <p:cNvSpPr txBox="1"/>
          <p:nvPr/>
        </p:nvSpPr>
        <p:spPr>
          <a:xfrm>
            <a:off x="5166360" y="1069848"/>
            <a:ext cx="3429000" cy="274320"/>
          </a:xfrm>
          <a:prstGeom prst="rect">
            <a:avLst/>
          </a:prstGeom>
          <a:noFill/>
          <a:ln/>
        </p:spPr>
        <p:txBody>
          <a:bodyPr wrap="square" lIns="0" tIns="0" rIns="0" bIns="0" rtlCol="0" anchor="t"/>
          <a:lstStyle/>
          <a:p>
            <a:pPr indent="0" marL="0">
              <a:buNone/>
            </a:pPr>
            <a:r>
              <a:rPr lang="en-US" sz="1200" b="1" dirty="0">
                <a:solidFill>
                  <a:schemeClr val="tx1"/>
                </a:solidFill>
              </a:rPr>
              <a:t>Quali categorie?</a:t>
            </a:r>
            <a:endParaRPr lang="en-US" sz="1200" dirty="0"/>
          </a:p>
        </p:txBody>
      </p:sp>
      <p:sp>
        <p:nvSpPr>
          <p:cNvPr id="11" name="Text 8"/>
          <p:cNvSpPr txBox="1"/>
          <p:nvPr/>
        </p:nvSpPr>
        <p:spPr>
          <a:xfrm>
            <a:off x="5166360" y="1353312"/>
            <a:ext cx="3429000" cy="274320"/>
          </a:xfrm>
          <a:prstGeom prst="rect">
            <a:avLst/>
          </a:prstGeom>
          <a:noFill/>
          <a:ln/>
        </p:spPr>
        <p:txBody>
          <a:bodyPr wrap="square" lIns="0" tIns="0" rIns="0" bIns="0" rtlCol="0" anchor="t"/>
          <a:lstStyle/>
          <a:p>
            <a:pPr indent="0" marL="0">
              <a:buNone/>
            </a:pPr>
            <a:r>
              <a:rPr lang="en-US" sz="1100" dirty="0">
                <a:solidFill>
                  <a:schemeClr val="tx2"/>
                </a:solidFill>
              </a:rPr>
              <a:t>Famiglie di modelli e categorie di strumenti</a:t>
            </a:r>
            <a:endParaRPr lang="en-US" sz="1100" dirty="0"/>
          </a:p>
        </p:txBody>
      </p:sp>
      <p:sp>
        <p:nvSpPr>
          <p:cNvPr id="12" name="risposta 3"/>
          <p:cNvSpPr/>
          <p:nvPr/>
        </p:nvSpPr>
        <p:spPr>
          <a:xfrm>
            <a:off x="457200" y="1746504"/>
            <a:ext cx="4023360" cy="649224"/>
          </a:xfrm>
          <a:prstGeom prst="roundRect">
            <a:avLst>
              <a:gd name="adj" fmla="val 11268"/>
            </a:avLst>
          </a:prstGeom>
          <a:solidFill>
            <a:schemeClr val="bg2"/>
          </a:solidFill>
          <a:ln/>
        </p:spPr>
      </p:sp>
      <p:sp>
        <p:nvSpPr>
          <p:cNvPr id="13" name="Text 10"/>
          <p:cNvSpPr txBox="1"/>
          <p:nvPr/>
        </p:nvSpPr>
        <p:spPr>
          <a:xfrm>
            <a:off x="566928" y="1746504"/>
            <a:ext cx="411480" cy="649224"/>
          </a:xfrm>
          <a:prstGeom prst="rect">
            <a:avLst/>
          </a:prstGeom>
          <a:noFill/>
          <a:ln/>
        </p:spPr>
        <p:txBody>
          <a:bodyPr wrap="square" lIns="0" tIns="0" rIns="0" bIns="0" rtlCol="0" anchor="ctr"/>
          <a:lstStyle/>
          <a:p>
            <a:pPr indent="0" marL="0">
              <a:buNone/>
            </a:pPr>
            <a:r>
              <a:rPr lang="en-US" sz="1600" b="1" dirty="0">
                <a:solidFill>
                  <a:schemeClr val="accent1"/>
                </a:solidFill>
              </a:rPr>
              <a:t>3</a:t>
            </a:r>
            <a:endParaRPr lang="en-US" sz="1600" dirty="0"/>
          </a:p>
        </p:txBody>
      </p:sp>
      <p:sp>
        <p:nvSpPr>
          <p:cNvPr id="14" name="Text 11"/>
          <p:cNvSpPr txBox="1"/>
          <p:nvPr/>
        </p:nvSpPr>
        <p:spPr>
          <a:xfrm>
            <a:off x="960120" y="1792224"/>
            <a:ext cx="3429000" cy="274320"/>
          </a:xfrm>
          <a:prstGeom prst="rect">
            <a:avLst/>
          </a:prstGeom>
          <a:noFill/>
          <a:ln/>
        </p:spPr>
        <p:txBody>
          <a:bodyPr wrap="square" lIns="0" tIns="0" rIns="0" bIns="0" rtlCol="0" anchor="t"/>
          <a:lstStyle/>
          <a:p>
            <a:pPr indent="0" marL="0">
              <a:buNone/>
            </a:pPr>
            <a:r>
              <a:rPr lang="en-US" sz="1200" b="1" dirty="0">
                <a:solidFill>
                  <a:schemeClr val="tx1"/>
                </a:solidFill>
              </a:rPr>
              <a:t>Prodotti simili, condizioni diverse?</a:t>
            </a:r>
            <a:endParaRPr lang="en-US" sz="1200" dirty="0"/>
          </a:p>
        </p:txBody>
      </p:sp>
      <p:sp>
        <p:nvSpPr>
          <p:cNvPr id="15" name="Text 12"/>
          <p:cNvSpPr txBox="1"/>
          <p:nvPr/>
        </p:nvSpPr>
        <p:spPr>
          <a:xfrm>
            <a:off x="960120" y="2075688"/>
            <a:ext cx="3429000" cy="274320"/>
          </a:xfrm>
          <a:prstGeom prst="rect">
            <a:avLst/>
          </a:prstGeom>
          <a:noFill/>
          <a:ln/>
        </p:spPr>
        <p:txBody>
          <a:bodyPr wrap="square" lIns="0" tIns="0" rIns="0" bIns="0" rtlCol="0" anchor="t"/>
          <a:lstStyle/>
          <a:p>
            <a:pPr indent="0" marL="0">
              <a:buNone/>
            </a:pPr>
            <a:r>
              <a:rPr lang="en-US" sz="1100" dirty="0">
                <a:solidFill>
                  <a:schemeClr val="tx2"/>
                </a:solidFill>
              </a:rPr>
              <a:t>Funzioni, integrazioni, controlli, piani, dati</a:t>
            </a:r>
            <a:endParaRPr lang="en-US" sz="1100" dirty="0"/>
          </a:p>
        </p:txBody>
      </p:sp>
      <p:sp>
        <p:nvSpPr>
          <p:cNvPr id="16" name="risposta 4"/>
          <p:cNvSpPr/>
          <p:nvPr/>
        </p:nvSpPr>
        <p:spPr>
          <a:xfrm>
            <a:off x="4663440" y="1746504"/>
            <a:ext cx="4023360" cy="649224"/>
          </a:xfrm>
          <a:prstGeom prst="roundRect">
            <a:avLst>
              <a:gd name="adj" fmla="val 11268"/>
            </a:avLst>
          </a:prstGeom>
          <a:solidFill>
            <a:schemeClr val="bg2"/>
          </a:solidFill>
          <a:ln/>
        </p:spPr>
      </p:sp>
      <p:sp>
        <p:nvSpPr>
          <p:cNvPr id="17" name="Text 14"/>
          <p:cNvSpPr txBox="1"/>
          <p:nvPr/>
        </p:nvSpPr>
        <p:spPr>
          <a:xfrm>
            <a:off x="4773168" y="1746504"/>
            <a:ext cx="411480" cy="649224"/>
          </a:xfrm>
          <a:prstGeom prst="rect">
            <a:avLst/>
          </a:prstGeom>
          <a:noFill/>
          <a:ln/>
        </p:spPr>
        <p:txBody>
          <a:bodyPr wrap="square" lIns="0" tIns="0" rIns="0" bIns="0" rtlCol="0" anchor="ctr"/>
          <a:lstStyle/>
          <a:p>
            <a:pPr indent="0" marL="0">
              <a:buNone/>
            </a:pPr>
            <a:r>
              <a:rPr lang="en-US" sz="1600" b="1" dirty="0">
                <a:solidFill>
                  <a:schemeClr val="accent1"/>
                </a:solidFill>
              </a:rPr>
              <a:t>4</a:t>
            </a:r>
            <a:endParaRPr lang="en-US" sz="1600" dirty="0"/>
          </a:p>
        </p:txBody>
      </p:sp>
      <p:sp>
        <p:nvSpPr>
          <p:cNvPr id="18" name="Text 15"/>
          <p:cNvSpPr txBox="1"/>
          <p:nvPr/>
        </p:nvSpPr>
        <p:spPr>
          <a:xfrm>
            <a:off x="5166360" y="1792224"/>
            <a:ext cx="3429000" cy="274320"/>
          </a:xfrm>
          <a:prstGeom prst="rect">
            <a:avLst/>
          </a:prstGeom>
          <a:noFill/>
          <a:ln/>
        </p:spPr>
        <p:txBody>
          <a:bodyPr wrap="square" lIns="0" tIns="0" rIns="0" bIns="0" rtlCol="0" anchor="t"/>
          <a:lstStyle/>
          <a:p>
            <a:pPr indent="0" marL="0">
              <a:buNone/>
            </a:pPr>
            <a:r>
              <a:rPr lang="en-US" sz="1200" b="1" dirty="0">
                <a:solidFill>
                  <a:schemeClr val="tx1"/>
                </a:solidFill>
              </a:rPr>
              <a:t>Generalista, specializzato o integrato?</a:t>
            </a:r>
            <a:endParaRPr lang="en-US" sz="1200" dirty="0"/>
          </a:p>
        </p:txBody>
      </p:sp>
      <p:sp>
        <p:nvSpPr>
          <p:cNvPr id="19" name="Text 16"/>
          <p:cNvSpPr txBox="1"/>
          <p:nvPr/>
        </p:nvSpPr>
        <p:spPr>
          <a:xfrm>
            <a:off x="5166360" y="2075688"/>
            <a:ext cx="3429000" cy="274320"/>
          </a:xfrm>
          <a:prstGeom prst="rect">
            <a:avLst/>
          </a:prstGeom>
          <a:noFill/>
          <a:ln/>
        </p:spPr>
        <p:txBody>
          <a:bodyPr wrap="square" lIns="0" tIns="0" rIns="0" bIns="0" rtlCol="0" anchor="t"/>
          <a:lstStyle/>
          <a:p>
            <a:pPr indent="0" marL="0">
              <a:buNone/>
            </a:pPr>
            <a:r>
              <a:rPr lang="en-US" sz="1100" dirty="0">
                <a:solidFill>
                  <a:schemeClr val="tx2"/>
                </a:solidFill>
              </a:rPr>
              <a:t>Varietà dei compiti, processo, software in uso</a:t>
            </a:r>
            <a:endParaRPr lang="en-US" sz="1100" dirty="0"/>
          </a:p>
        </p:txBody>
      </p:sp>
      <p:sp>
        <p:nvSpPr>
          <p:cNvPr id="20" name="risposta 5"/>
          <p:cNvSpPr/>
          <p:nvPr/>
        </p:nvSpPr>
        <p:spPr>
          <a:xfrm>
            <a:off x="457200" y="2468880"/>
            <a:ext cx="4023360" cy="649224"/>
          </a:xfrm>
          <a:prstGeom prst="roundRect">
            <a:avLst>
              <a:gd name="adj" fmla="val 11268"/>
            </a:avLst>
          </a:prstGeom>
          <a:solidFill>
            <a:schemeClr val="bg2"/>
          </a:solidFill>
          <a:ln/>
        </p:spPr>
      </p:sp>
      <p:sp>
        <p:nvSpPr>
          <p:cNvPr id="21" name="Text 18"/>
          <p:cNvSpPr txBox="1"/>
          <p:nvPr/>
        </p:nvSpPr>
        <p:spPr>
          <a:xfrm>
            <a:off x="566928" y="2468880"/>
            <a:ext cx="411480" cy="649224"/>
          </a:xfrm>
          <a:prstGeom prst="rect">
            <a:avLst/>
          </a:prstGeom>
          <a:noFill/>
          <a:ln/>
        </p:spPr>
        <p:txBody>
          <a:bodyPr wrap="square" lIns="0" tIns="0" rIns="0" bIns="0" rtlCol="0" anchor="ctr"/>
          <a:lstStyle/>
          <a:p>
            <a:pPr indent="0" marL="0">
              <a:buNone/>
            </a:pPr>
            <a:r>
              <a:rPr lang="en-US" sz="1600" b="1" dirty="0">
                <a:solidFill>
                  <a:schemeClr val="accent1"/>
                </a:solidFill>
              </a:rPr>
              <a:t>5</a:t>
            </a:r>
            <a:endParaRPr lang="en-US" sz="1600" dirty="0"/>
          </a:p>
        </p:txBody>
      </p:sp>
      <p:sp>
        <p:nvSpPr>
          <p:cNvPr id="22" name="Text 19"/>
          <p:cNvSpPr txBox="1"/>
          <p:nvPr/>
        </p:nvSpPr>
        <p:spPr>
          <a:xfrm>
            <a:off x="960120" y="2514600"/>
            <a:ext cx="3429000" cy="274320"/>
          </a:xfrm>
          <a:prstGeom prst="rect">
            <a:avLst/>
          </a:prstGeom>
          <a:noFill/>
          <a:ln/>
        </p:spPr>
        <p:txBody>
          <a:bodyPr wrap="square" lIns="0" tIns="0" rIns="0" bIns="0" rtlCol="0" anchor="t"/>
          <a:lstStyle/>
          <a:p>
            <a:pPr indent="0" marL="0">
              <a:buNone/>
            </a:pPr>
            <a:r>
              <a:rPr lang="en-US" sz="1200" b="1" dirty="0">
                <a:solidFill>
                  <a:schemeClr val="tx1"/>
                </a:solidFill>
              </a:rPr>
              <a:t>Chatbot, assistenti, agenti?</a:t>
            </a:r>
            <a:endParaRPr lang="en-US" sz="1200" dirty="0"/>
          </a:p>
        </p:txBody>
      </p:sp>
      <p:sp>
        <p:nvSpPr>
          <p:cNvPr id="23" name="Text 20"/>
          <p:cNvSpPr txBox="1"/>
          <p:nvPr/>
        </p:nvSpPr>
        <p:spPr>
          <a:xfrm>
            <a:off x="960120" y="2798064"/>
            <a:ext cx="3429000" cy="274320"/>
          </a:xfrm>
          <a:prstGeom prst="rect">
            <a:avLst/>
          </a:prstGeom>
          <a:noFill/>
          <a:ln/>
        </p:spPr>
        <p:txBody>
          <a:bodyPr wrap="square" lIns="0" tIns="0" rIns="0" bIns="0" rtlCol="0" anchor="t"/>
          <a:lstStyle/>
          <a:p>
            <a:pPr indent="0" marL="0">
              <a:buNone/>
            </a:pPr>
            <a:r>
              <a:rPr lang="en-US" sz="1100" dirty="0">
                <a:solidFill>
                  <a:schemeClr val="tx2"/>
                </a:solidFill>
              </a:rPr>
              <a:t>Livelli di autonomia e logiche diverse</a:t>
            </a:r>
            <a:endParaRPr lang="en-US" sz="1100" dirty="0"/>
          </a:p>
        </p:txBody>
      </p:sp>
      <p:sp>
        <p:nvSpPr>
          <p:cNvPr id="24" name="risposta 6"/>
          <p:cNvSpPr/>
          <p:nvPr/>
        </p:nvSpPr>
        <p:spPr>
          <a:xfrm>
            <a:off x="4663440" y="2468880"/>
            <a:ext cx="4023360" cy="649224"/>
          </a:xfrm>
          <a:prstGeom prst="roundRect">
            <a:avLst>
              <a:gd name="adj" fmla="val 11268"/>
            </a:avLst>
          </a:prstGeom>
          <a:solidFill>
            <a:schemeClr val="bg2"/>
          </a:solidFill>
          <a:ln/>
        </p:spPr>
      </p:sp>
      <p:sp>
        <p:nvSpPr>
          <p:cNvPr id="25" name="Text 22"/>
          <p:cNvSpPr txBox="1"/>
          <p:nvPr/>
        </p:nvSpPr>
        <p:spPr>
          <a:xfrm>
            <a:off x="4773168" y="2468880"/>
            <a:ext cx="411480" cy="649224"/>
          </a:xfrm>
          <a:prstGeom prst="rect">
            <a:avLst/>
          </a:prstGeom>
          <a:noFill/>
          <a:ln/>
        </p:spPr>
        <p:txBody>
          <a:bodyPr wrap="square" lIns="0" tIns="0" rIns="0" bIns="0" rtlCol="0" anchor="ctr"/>
          <a:lstStyle/>
          <a:p>
            <a:pPr indent="0" marL="0">
              <a:buNone/>
            </a:pPr>
            <a:r>
              <a:rPr lang="en-US" sz="1600" b="1" dirty="0">
                <a:solidFill>
                  <a:schemeClr val="accent1"/>
                </a:solidFill>
              </a:rPr>
              <a:t>6</a:t>
            </a:r>
            <a:endParaRPr lang="en-US" sz="1600" dirty="0"/>
          </a:p>
        </p:txBody>
      </p:sp>
      <p:sp>
        <p:nvSpPr>
          <p:cNvPr id="26" name="Text 23"/>
          <p:cNvSpPr txBox="1"/>
          <p:nvPr/>
        </p:nvSpPr>
        <p:spPr>
          <a:xfrm>
            <a:off x="5166360" y="2514600"/>
            <a:ext cx="3429000" cy="274320"/>
          </a:xfrm>
          <a:prstGeom prst="rect">
            <a:avLst/>
          </a:prstGeom>
          <a:noFill/>
          <a:ln/>
        </p:spPr>
        <p:txBody>
          <a:bodyPr wrap="square" lIns="0" tIns="0" rIns="0" bIns="0" rtlCol="0" anchor="t"/>
          <a:lstStyle/>
          <a:p>
            <a:pPr indent="0" marL="0">
              <a:buNone/>
            </a:pPr>
            <a:r>
              <a:rPr lang="en-US" sz="1200" b="1" dirty="0">
                <a:solidFill>
                  <a:schemeClr val="tx1"/>
                </a:solidFill>
              </a:rPr>
              <a:t>App, API o locale?</a:t>
            </a:r>
            <a:endParaRPr lang="en-US" sz="1200" dirty="0"/>
          </a:p>
        </p:txBody>
      </p:sp>
      <p:sp>
        <p:nvSpPr>
          <p:cNvPr id="27" name="Text 24"/>
          <p:cNvSpPr txBox="1"/>
          <p:nvPr/>
        </p:nvSpPr>
        <p:spPr>
          <a:xfrm>
            <a:off x="5166360" y="2798064"/>
            <a:ext cx="3429000" cy="274320"/>
          </a:xfrm>
          <a:prstGeom prst="rect">
            <a:avLst/>
          </a:prstGeom>
          <a:noFill/>
          <a:ln/>
        </p:spPr>
        <p:txBody>
          <a:bodyPr wrap="square" lIns="0" tIns="0" rIns="0" bIns="0" rtlCol="0" anchor="t"/>
          <a:lstStyle/>
          <a:p>
            <a:pPr indent="0" marL="0">
              <a:buNone/>
            </a:pPr>
            <a:r>
              <a:rPr lang="en-US" sz="1100" dirty="0">
                <a:solidFill>
                  <a:schemeClr val="tx2"/>
                </a:solidFill>
              </a:rPr>
              <a:t>Chi interagisce, cosa è incluso, costi, dati</a:t>
            </a:r>
            <a:endParaRPr lang="en-US" sz="1100" dirty="0"/>
          </a:p>
        </p:txBody>
      </p:sp>
      <p:sp>
        <p:nvSpPr>
          <p:cNvPr id="28" name="risposta 7"/>
          <p:cNvSpPr/>
          <p:nvPr/>
        </p:nvSpPr>
        <p:spPr>
          <a:xfrm>
            <a:off x="457200" y="3191256"/>
            <a:ext cx="4023360" cy="649224"/>
          </a:xfrm>
          <a:prstGeom prst="roundRect">
            <a:avLst>
              <a:gd name="adj" fmla="val 11268"/>
            </a:avLst>
          </a:prstGeom>
          <a:solidFill>
            <a:schemeClr val="bg2"/>
          </a:solidFill>
          <a:ln/>
        </p:spPr>
      </p:sp>
      <p:sp>
        <p:nvSpPr>
          <p:cNvPr id="29" name="Text 26"/>
          <p:cNvSpPr txBox="1"/>
          <p:nvPr/>
        </p:nvSpPr>
        <p:spPr>
          <a:xfrm>
            <a:off x="566928" y="3191256"/>
            <a:ext cx="411480" cy="649224"/>
          </a:xfrm>
          <a:prstGeom prst="rect">
            <a:avLst/>
          </a:prstGeom>
          <a:noFill/>
          <a:ln/>
        </p:spPr>
        <p:txBody>
          <a:bodyPr wrap="square" lIns="0" tIns="0" rIns="0" bIns="0" rtlCol="0" anchor="ctr"/>
          <a:lstStyle/>
          <a:p>
            <a:pPr indent="0" marL="0">
              <a:buNone/>
            </a:pPr>
            <a:r>
              <a:rPr lang="en-US" sz="1600" b="1" dirty="0">
                <a:solidFill>
                  <a:schemeClr val="accent1"/>
                </a:solidFill>
              </a:rPr>
              <a:t>7</a:t>
            </a:r>
            <a:endParaRPr lang="en-US" sz="1600" dirty="0"/>
          </a:p>
        </p:txBody>
      </p:sp>
      <p:sp>
        <p:nvSpPr>
          <p:cNvPr id="30" name="Text 27"/>
          <p:cNvSpPr txBox="1"/>
          <p:nvPr/>
        </p:nvSpPr>
        <p:spPr>
          <a:xfrm>
            <a:off x="960120" y="3236976"/>
            <a:ext cx="3429000" cy="274320"/>
          </a:xfrm>
          <a:prstGeom prst="rect">
            <a:avLst/>
          </a:prstGeom>
          <a:noFill/>
          <a:ln/>
        </p:spPr>
        <p:txBody>
          <a:bodyPr wrap="square" lIns="0" tIns="0" rIns="0" bIns="0" rtlCol="0" anchor="t"/>
          <a:lstStyle/>
          <a:p>
            <a:pPr indent="0" marL="0">
              <a:buNone/>
            </a:pPr>
            <a:r>
              <a:rPr lang="en-US" sz="1200" b="1" dirty="0">
                <a:solidFill>
                  <a:schemeClr val="tx1"/>
                </a:solidFill>
              </a:rPr>
              <a:t>Come confrontare?</a:t>
            </a:r>
            <a:endParaRPr lang="en-US" sz="1200" dirty="0"/>
          </a:p>
        </p:txBody>
      </p:sp>
      <p:sp>
        <p:nvSpPr>
          <p:cNvPr id="31" name="Text 28"/>
          <p:cNvSpPr txBox="1"/>
          <p:nvPr/>
        </p:nvSpPr>
        <p:spPr>
          <a:xfrm>
            <a:off x="960120" y="3520440"/>
            <a:ext cx="3429000" cy="274320"/>
          </a:xfrm>
          <a:prstGeom prst="rect">
            <a:avLst/>
          </a:prstGeom>
          <a:noFill/>
          <a:ln/>
        </p:spPr>
        <p:txBody>
          <a:bodyPr wrap="square" lIns="0" tIns="0" rIns="0" bIns="0" rtlCol="0" anchor="t"/>
          <a:lstStyle/>
          <a:p>
            <a:pPr indent="0" marL="0">
              <a:buNone/>
            </a:pPr>
            <a:r>
              <a:rPr lang="en-US" sz="1100" dirty="0">
                <a:solidFill>
                  <a:schemeClr val="tx2"/>
                </a:solidFill>
              </a:rPr>
              <a:t>Undici criteri, pesati sulla situazione</a:t>
            </a:r>
            <a:endParaRPr lang="en-US" sz="1100" dirty="0"/>
          </a:p>
        </p:txBody>
      </p:sp>
      <p:sp>
        <p:nvSpPr>
          <p:cNvPr id="32" name="risposta 8"/>
          <p:cNvSpPr/>
          <p:nvPr/>
        </p:nvSpPr>
        <p:spPr>
          <a:xfrm>
            <a:off x="4663440" y="3191256"/>
            <a:ext cx="4023360" cy="649224"/>
          </a:xfrm>
          <a:prstGeom prst="roundRect">
            <a:avLst>
              <a:gd name="adj" fmla="val 11268"/>
            </a:avLst>
          </a:prstGeom>
          <a:solidFill>
            <a:schemeClr val="bg2"/>
          </a:solidFill>
          <a:ln/>
        </p:spPr>
      </p:sp>
      <p:sp>
        <p:nvSpPr>
          <p:cNvPr id="33" name="Text 30"/>
          <p:cNvSpPr txBox="1"/>
          <p:nvPr/>
        </p:nvSpPr>
        <p:spPr>
          <a:xfrm>
            <a:off x="4773168" y="3191256"/>
            <a:ext cx="411480" cy="649224"/>
          </a:xfrm>
          <a:prstGeom prst="rect">
            <a:avLst/>
          </a:prstGeom>
          <a:noFill/>
          <a:ln/>
        </p:spPr>
        <p:txBody>
          <a:bodyPr wrap="square" lIns="0" tIns="0" rIns="0" bIns="0" rtlCol="0" anchor="ctr"/>
          <a:lstStyle/>
          <a:p>
            <a:pPr indent="0" marL="0">
              <a:buNone/>
            </a:pPr>
            <a:r>
              <a:rPr lang="en-US" sz="1600" b="1" dirty="0">
                <a:solidFill>
                  <a:schemeClr val="accent1"/>
                </a:solidFill>
              </a:rPr>
              <a:t>8</a:t>
            </a:r>
            <a:endParaRPr lang="en-US" sz="1600" dirty="0"/>
          </a:p>
        </p:txBody>
      </p:sp>
      <p:sp>
        <p:nvSpPr>
          <p:cNvPr id="34" name="Text 31"/>
          <p:cNvSpPr txBox="1"/>
          <p:nvPr/>
        </p:nvSpPr>
        <p:spPr>
          <a:xfrm>
            <a:off x="5166360" y="3236976"/>
            <a:ext cx="3429000" cy="274320"/>
          </a:xfrm>
          <a:prstGeom prst="rect">
            <a:avLst/>
          </a:prstGeom>
          <a:noFill/>
          <a:ln/>
        </p:spPr>
        <p:txBody>
          <a:bodyPr wrap="square" lIns="0" tIns="0" rIns="0" bIns="0" rtlCol="0" anchor="t"/>
          <a:lstStyle/>
          <a:p>
            <a:pPr indent="0" marL="0">
              <a:buNone/>
            </a:pPr>
            <a:r>
              <a:rPr lang="en-US" sz="1200" b="1" dirty="0">
                <a:solidFill>
                  <a:schemeClr val="tx1"/>
                </a:solidFill>
              </a:rPr>
              <a:t>Licenze e lock-in?</a:t>
            </a:r>
            <a:endParaRPr lang="en-US" sz="1200" dirty="0"/>
          </a:p>
        </p:txBody>
      </p:sp>
      <p:sp>
        <p:nvSpPr>
          <p:cNvPr id="35" name="Text 32"/>
          <p:cNvSpPr txBox="1"/>
          <p:nvPr/>
        </p:nvSpPr>
        <p:spPr>
          <a:xfrm>
            <a:off x="5166360" y="3520440"/>
            <a:ext cx="3429000" cy="274320"/>
          </a:xfrm>
          <a:prstGeom prst="rect">
            <a:avLst/>
          </a:prstGeom>
          <a:noFill/>
          <a:ln/>
        </p:spPr>
        <p:txBody>
          <a:bodyPr wrap="square" lIns="0" tIns="0" rIns="0" bIns="0" rtlCol="0" anchor="t"/>
          <a:lstStyle/>
          <a:p>
            <a:pPr indent="0" marL="0">
              <a:buNone/>
            </a:pPr>
            <a:r>
              <a:rPr lang="en-US" sz="1100" dirty="0">
                <a:solidFill>
                  <a:schemeClr val="tx2"/>
                </a:solidFill>
              </a:rPr>
              <a:t>Controllo e reversibilità delle scelte</a:t>
            </a:r>
            <a:endParaRPr lang="en-US" sz="1100" dirty="0"/>
          </a:p>
        </p:txBody>
      </p:sp>
      <p:sp>
        <p:nvSpPr>
          <p:cNvPr id="36" name="risposta 9"/>
          <p:cNvSpPr/>
          <p:nvPr/>
        </p:nvSpPr>
        <p:spPr>
          <a:xfrm>
            <a:off x="457200" y="3913632"/>
            <a:ext cx="4023360" cy="649224"/>
          </a:xfrm>
          <a:prstGeom prst="roundRect">
            <a:avLst>
              <a:gd name="adj" fmla="val 11268"/>
            </a:avLst>
          </a:prstGeom>
          <a:solidFill>
            <a:schemeClr val="bg2"/>
          </a:solidFill>
          <a:ln/>
        </p:spPr>
      </p:sp>
      <p:sp>
        <p:nvSpPr>
          <p:cNvPr id="37" name="Text 34"/>
          <p:cNvSpPr txBox="1"/>
          <p:nvPr/>
        </p:nvSpPr>
        <p:spPr>
          <a:xfrm>
            <a:off x="566928" y="3913632"/>
            <a:ext cx="411480" cy="649224"/>
          </a:xfrm>
          <a:prstGeom prst="rect">
            <a:avLst/>
          </a:prstGeom>
          <a:noFill/>
          <a:ln/>
        </p:spPr>
        <p:txBody>
          <a:bodyPr wrap="square" lIns="0" tIns="0" rIns="0" bIns="0" rtlCol="0" anchor="ctr"/>
          <a:lstStyle/>
          <a:p>
            <a:pPr indent="0" marL="0">
              <a:buNone/>
            </a:pPr>
            <a:r>
              <a:rPr lang="en-US" sz="1600" b="1" dirty="0">
                <a:solidFill>
                  <a:schemeClr val="accent1"/>
                </a:solidFill>
              </a:rPr>
              <a:t>9</a:t>
            </a:r>
            <a:endParaRPr lang="en-US" sz="1600" dirty="0"/>
          </a:p>
        </p:txBody>
      </p:sp>
      <p:sp>
        <p:nvSpPr>
          <p:cNvPr id="38" name="Text 35"/>
          <p:cNvSpPr txBox="1"/>
          <p:nvPr/>
        </p:nvSpPr>
        <p:spPr>
          <a:xfrm>
            <a:off x="960120" y="3959352"/>
            <a:ext cx="3429000" cy="274320"/>
          </a:xfrm>
          <a:prstGeom prst="rect">
            <a:avLst/>
          </a:prstGeom>
          <a:noFill/>
          <a:ln/>
        </p:spPr>
        <p:txBody>
          <a:bodyPr wrap="square" lIns="0" tIns="0" rIns="0" bIns="0" rtlCol="0" anchor="t"/>
          <a:lstStyle/>
          <a:p>
            <a:pPr indent="0" marL="0">
              <a:buNone/>
            </a:pPr>
            <a:r>
              <a:rPr lang="en-US" sz="1200" b="1" dirty="0">
                <a:solidFill>
                  <a:schemeClr val="tx1"/>
                </a:solidFill>
              </a:rPr>
              <a:t>Verificare una funzione?</a:t>
            </a:r>
            <a:endParaRPr lang="en-US" sz="1200" dirty="0"/>
          </a:p>
        </p:txBody>
      </p:sp>
      <p:sp>
        <p:nvSpPr>
          <p:cNvPr id="39" name="Text 36"/>
          <p:cNvSpPr txBox="1"/>
          <p:nvPr/>
        </p:nvSpPr>
        <p:spPr>
          <a:xfrm>
            <a:off x="960120" y="4242816"/>
            <a:ext cx="3429000" cy="274320"/>
          </a:xfrm>
          <a:prstGeom prst="rect">
            <a:avLst/>
          </a:prstGeom>
          <a:noFill/>
          <a:ln/>
        </p:spPr>
        <p:txBody>
          <a:bodyPr wrap="square" lIns="0" tIns="0" rIns="0" bIns="0" rtlCol="0" anchor="t"/>
          <a:lstStyle/>
          <a:p>
            <a:pPr indent="0" marL="0">
              <a:buNone/>
            </a:pPr>
            <a:r>
              <a:rPr lang="en-US" sz="1100" dirty="0">
                <a:solidFill>
                  <a:schemeClr val="tx2"/>
                </a:solidFill>
              </a:rPr>
              <a:t>Documentazione, configurazione, prova, condizioni</a:t>
            </a:r>
            <a:endParaRPr lang="en-US" sz="1100" dirty="0"/>
          </a:p>
        </p:txBody>
      </p:sp>
      <p:sp>
        <p:nvSpPr>
          <p:cNvPr id="40" name="risposta 10"/>
          <p:cNvSpPr/>
          <p:nvPr/>
        </p:nvSpPr>
        <p:spPr>
          <a:xfrm>
            <a:off x="4663440" y="3913632"/>
            <a:ext cx="4023360" cy="649224"/>
          </a:xfrm>
          <a:prstGeom prst="roundRect">
            <a:avLst>
              <a:gd name="adj" fmla="val 11268"/>
            </a:avLst>
          </a:prstGeom>
          <a:solidFill>
            <a:schemeClr val="bg2"/>
          </a:solidFill>
          <a:ln/>
        </p:spPr>
      </p:sp>
      <p:sp>
        <p:nvSpPr>
          <p:cNvPr id="41" name="Text 38"/>
          <p:cNvSpPr txBox="1"/>
          <p:nvPr/>
        </p:nvSpPr>
        <p:spPr>
          <a:xfrm>
            <a:off x="4773168" y="3913632"/>
            <a:ext cx="411480" cy="649224"/>
          </a:xfrm>
          <a:prstGeom prst="rect">
            <a:avLst/>
          </a:prstGeom>
          <a:noFill/>
          <a:ln/>
        </p:spPr>
        <p:txBody>
          <a:bodyPr wrap="square" lIns="0" tIns="0" rIns="0" bIns="0" rtlCol="0" anchor="ctr"/>
          <a:lstStyle/>
          <a:p>
            <a:pPr indent="0" marL="0">
              <a:buNone/>
            </a:pPr>
            <a:r>
              <a:rPr lang="en-US" sz="1600" b="1" dirty="0">
                <a:solidFill>
                  <a:schemeClr val="accent1"/>
                </a:solidFill>
              </a:rPr>
              <a:t>10</a:t>
            </a:r>
            <a:endParaRPr lang="en-US" sz="1600" dirty="0"/>
          </a:p>
        </p:txBody>
      </p:sp>
      <p:sp>
        <p:nvSpPr>
          <p:cNvPr id="42" name="Text 39"/>
          <p:cNvSpPr txBox="1"/>
          <p:nvPr/>
        </p:nvSpPr>
        <p:spPr>
          <a:xfrm>
            <a:off x="5166360" y="3959352"/>
            <a:ext cx="3429000" cy="274320"/>
          </a:xfrm>
          <a:prstGeom prst="rect">
            <a:avLst/>
          </a:prstGeom>
          <a:noFill/>
          <a:ln/>
        </p:spPr>
        <p:txBody>
          <a:bodyPr wrap="square" lIns="0" tIns="0" rIns="0" bIns="0" rtlCol="0" anchor="t"/>
          <a:lstStyle/>
          <a:p>
            <a:pPr indent="0" marL="0">
              <a:buNone/>
            </a:pPr>
            <a:r>
              <a:rPr lang="en-US" sz="1200" b="1" dirty="0">
                <a:solidFill>
                  <a:schemeClr val="tx1"/>
                </a:solidFill>
              </a:rPr>
              <a:t>Competenze trasferibili?</a:t>
            </a:r>
            <a:endParaRPr lang="en-US" sz="1200" dirty="0"/>
          </a:p>
        </p:txBody>
      </p:sp>
      <p:sp>
        <p:nvSpPr>
          <p:cNvPr id="43" name="Text 40"/>
          <p:cNvSpPr txBox="1"/>
          <p:nvPr/>
        </p:nvSpPr>
        <p:spPr>
          <a:xfrm>
            <a:off x="5166360" y="4242816"/>
            <a:ext cx="3429000" cy="274320"/>
          </a:xfrm>
          <a:prstGeom prst="rect">
            <a:avLst/>
          </a:prstGeom>
          <a:noFill/>
          <a:ln/>
        </p:spPr>
        <p:txBody>
          <a:bodyPr wrap="square" lIns="0" tIns="0" rIns="0" bIns="0" rtlCol="0" anchor="t"/>
          <a:lstStyle/>
          <a:p>
            <a:pPr indent="0" marL="0">
              <a:buNone/>
            </a:pPr>
            <a:r>
              <a:rPr lang="en-US" sz="1100" dirty="0">
                <a:solidFill>
                  <a:schemeClr val="tx2"/>
                </a:solidFill>
              </a:rPr>
              <a:t>Gli strumenti cambiano, i principi restano</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portiamo a casa</a:t>
            </a:r>
            <a:endParaRPr lang="en-US" sz="2600" dirty="0"/>
          </a:p>
        </p:txBody>
      </p:sp>
      <p:sp>
        <p:nvSpPr>
          <p:cNvPr id="4" name="risultato 1"/>
          <p:cNvSpPr/>
          <p:nvPr/>
        </p:nvSpPr>
        <p:spPr>
          <a:xfrm>
            <a:off x="457200" y="1024128"/>
            <a:ext cx="4023360" cy="640080"/>
          </a:xfrm>
          <a:prstGeom prst="roundRect">
            <a:avLst>
              <a:gd name="adj" fmla="val 11429"/>
            </a:avLst>
          </a:prstGeom>
          <a:solidFill>
            <a:schemeClr val="bg2"/>
          </a:solidFill>
          <a:ln/>
        </p:spPr>
      </p:sp>
      <p:sp>
        <p:nvSpPr>
          <p:cNvPr id="5" name="Text 2"/>
          <p:cNvSpPr txBox="1"/>
          <p:nvPr/>
        </p:nvSpPr>
        <p:spPr>
          <a:xfrm>
            <a:off x="566928" y="1024128"/>
            <a:ext cx="411480" cy="640080"/>
          </a:xfrm>
          <a:prstGeom prst="rect">
            <a:avLst/>
          </a:prstGeom>
          <a:noFill/>
          <a:ln/>
        </p:spPr>
        <p:txBody>
          <a:bodyPr wrap="square" lIns="0" tIns="0" rIns="0" bIns="0" rtlCol="0" anchor="ctr"/>
          <a:lstStyle/>
          <a:p>
            <a:pPr indent="0" marL="0">
              <a:buNone/>
            </a:pPr>
            <a:r>
              <a:rPr lang="en-US" sz="1600" b="1" dirty="0">
                <a:solidFill>
                  <a:schemeClr val="accent1"/>
                </a:solidFill>
              </a:rPr>
              <a:t>1</a:t>
            </a:r>
            <a:endParaRPr lang="en-US" sz="1600" dirty="0"/>
          </a:p>
        </p:txBody>
      </p:sp>
      <p:sp>
        <p:nvSpPr>
          <p:cNvPr id="6" name="Text 3"/>
          <p:cNvSpPr txBox="1"/>
          <p:nvPr/>
        </p:nvSpPr>
        <p:spPr>
          <a:xfrm>
            <a:off x="960120" y="1024128"/>
            <a:ext cx="3429000" cy="640080"/>
          </a:xfrm>
          <a:prstGeom prst="rect">
            <a:avLst/>
          </a:prstGeom>
          <a:noFill/>
          <a:ln/>
        </p:spPr>
        <p:txBody>
          <a:bodyPr wrap="square" lIns="0" tIns="0" rIns="0" bIns="0" rtlCol="0" anchor="ctr"/>
          <a:lstStyle/>
          <a:p>
            <a:pPr indent="0" marL="0">
              <a:buNone/>
            </a:pPr>
            <a:r>
              <a:rPr lang="en-US" sz="1300" dirty="0">
                <a:solidFill>
                  <a:schemeClr val="tx1"/>
                </a:solidFill>
              </a:rPr>
              <a:t>Distinguere modello, applicazione, piattaforma, infrastruttura</a:t>
            </a:r>
            <a:endParaRPr lang="en-US" sz="1300" dirty="0"/>
          </a:p>
        </p:txBody>
      </p:sp>
      <p:sp>
        <p:nvSpPr>
          <p:cNvPr id="7" name="risultato 2"/>
          <p:cNvSpPr/>
          <p:nvPr/>
        </p:nvSpPr>
        <p:spPr>
          <a:xfrm>
            <a:off x="4663440" y="1024128"/>
            <a:ext cx="4023360" cy="640080"/>
          </a:xfrm>
          <a:prstGeom prst="roundRect">
            <a:avLst>
              <a:gd name="adj" fmla="val 11429"/>
            </a:avLst>
          </a:prstGeom>
          <a:solidFill>
            <a:schemeClr val="bg2"/>
          </a:solidFill>
          <a:ln/>
        </p:spPr>
      </p:sp>
      <p:sp>
        <p:nvSpPr>
          <p:cNvPr id="8" name="Text 5"/>
          <p:cNvSpPr txBox="1"/>
          <p:nvPr/>
        </p:nvSpPr>
        <p:spPr>
          <a:xfrm>
            <a:off x="4773168" y="1024128"/>
            <a:ext cx="411480" cy="640080"/>
          </a:xfrm>
          <a:prstGeom prst="rect">
            <a:avLst/>
          </a:prstGeom>
          <a:noFill/>
          <a:ln/>
        </p:spPr>
        <p:txBody>
          <a:bodyPr wrap="square" lIns="0" tIns="0" rIns="0" bIns="0" rtlCol="0" anchor="ctr"/>
          <a:lstStyle/>
          <a:p>
            <a:pPr indent="0" marL="0">
              <a:buNone/>
            </a:pPr>
            <a:r>
              <a:rPr lang="en-US" sz="1600" b="1" dirty="0">
                <a:solidFill>
                  <a:schemeClr val="accent1"/>
                </a:solidFill>
              </a:rPr>
              <a:t>2</a:t>
            </a:r>
            <a:endParaRPr lang="en-US" sz="1600" dirty="0"/>
          </a:p>
        </p:txBody>
      </p:sp>
      <p:sp>
        <p:nvSpPr>
          <p:cNvPr id="9" name="Text 6"/>
          <p:cNvSpPr txBox="1"/>
          <p:nvPr/>
        </p:nvSpPr>
        <p:spPr>
          <a:xfrm>
            <a:off x="5166360" y="1024128"/>
            <a:ext cx="3429000" cy="640080"/>
          </a:xfrm>
          <a:prstGeom prst="rect">
            <a:avLst/>
          </a:prstGeom>
          <a:noFill/>
          <a:ln/>
        </p:spPr>
        <p:txBody>
          <a:bodyPr wrap="square" lIns="0" tIns="0" rIns="0" bIns="0" rtlCol="0" anchor="ctr"/>
          <a:lstStyle/>
          <a:p>
            <a:pPr indent="0" marL="0">
              <a:buNone/>
            </a:pPr>
            <a:r>
              <a:rPr lang="en-US" sz="1300" dirty="0">
                <a:solidFill>
                  <a:schemeClr val="tx1"/>
                </a:solidFill>
              </a:rPr>
              <a:t>Riconoscere le famiglie di modelli</a:t>
            </a:r>
            <a:endParaRPr lang="en-US" sz="1300" dirty="0"/>
          </a:p>
        </p:txBody>
      </p:sp>
      <p:sp>
        <p:nvSpPr>
          <p:cNvPr id="10" name="risultato 3"/>
          <p:cNvSpPr/>
          <p:nvPr/>
        </p:nvSpPr>
        <p:spPr>
          <a:xfrm>
            <a:off x="457200" y="1746504"/>
            <a:ext cx="4023360" cy="640080"/>
          </a:xfrm>
          <a:prstGeom prst="roundRect">
            <a:avLst>
              <a:gd name="adj" fmla="val 11429"/>
            </a:avLst>
          </a:prstGeom>
          <a:solidFill>
            <a:schemeClr val="bg1"/>
          </a:solidFill>
          <a:ln/>
        </p:spPr>
      </p:sp>
      <p:sp>
        <p:nvSpPr>
          <p:cNvPr id="11" name="Text 8"/>
          <p:cNvSpPr txBox="1"/>
          <p:nvPr/>
        </p:nvSpPr>
        <p:spPr>
          <a:xfrm>
            <a:off x="566928" y="1746504"/>
            <a:ext cx="411480" cy="640080"/>
          </a:xfrm>
          <a:prstGeom prst="rect">
            <a:avLst/>
          </a:prstGeom>
          <a:noFill/>
          <a:ln/>
        </p:spPr>
        <p:txBody>
          <a:bodyPr wrap="square" lIns="0" tIns="0" rIns="0" bIns="0" rtlCol="0" anchor="ctr"/>
          <a:lstStyle/>
          <a:p>
            <a:pPr indent="0" marL="0">
              <a:buNone/>
            </a:pPr>
            <a:r>
              <a:rPr lang="en-US" sz="1600" b="1" dirty="0">
                <a:solidFill>
                  <a:schemeClr val="accent1"/>
                </a:solidFill>
              </a:rPr>
              <a:t>3</a:t>
            </a:r>
            <a:endParaRPr lang="en-US" sz="1600" dirty="0"/>
          </a:p>
        </p:txBody>
      </p:sp>
      <p:sp>
        <p:nvSpPr>
          <p:cNvPr id="12" name="Text 9"/>
          <p:cNvSpPr txBox="1"/>
          <p:nvPr/>
        </p:nvSpPr>
        <p:spPr>
          <a:xfrm>
            <a:off x="960120" y="1746504"/>
            <a:ext cx="3429000" cy="640080"/>
          </a:xfrm>
          <a:prstGeom prst="rect">
            <a:avLst/>
          </a:prstGeom>
          <a:noFill/>
          <a:ln/>
        </p:spPr>
        <p:txBody>
          <a:bodyPr wrap="square" lIns="0" tIns="0" rIns="0" bIns="0" rtlCol="0" anchor="ctr"/>
          <a:lstStyle/>
          <a:p>
            <a:pPr indent="0" marL="0">
              <a:buNone/>
            </a:pPr>
            <a:r>
              <a:rPr lang="en-US" sz="1300" dirty="0">
                <a:solidFill>
                  <a:schemeClr val="tx1"/>
                </a:solidFill>
              </a:rPr>
              <a:t>Orientarsi tra le categorie di strumenti</a:t>
            </a:r>
            <a:endParaRPr lang="en-US" sz="1300" dirty="0"/>
          </a:p>
        </p:txBody>
      </p:sp>
      <p:sp>
        <p:nvSpPr>
          <p:cNvPr id="13" name="risultato 4"/>
          <p:cNvSpPr/>
          <p:nvPr/>
        </p:nvSpPr>
        <p:spPr>
          <a:xfrm>
            <a:off x="4663440" y="1746504"/>
            <a:ext cx="4023360" cy="640080"/>
          </a:xfrm>
          <a:prstGeom prst="roundRect">
            <a:avLst>
              <a:gd name="adj" fmla="val 11429"/>
            </a:avLst>
          </a:prstGeom>
          <a:solidFill>
            <a:schemeClr val="bg1"/>
          </a:solidFill>
          <a:ln/>
        </p:spPr>
      </p:sp>
      <p:sp>
        <p:nvSpPr>
          <p:cNvPr id="14" name="Text 11"/>
          <p:cNvSpPr txBox="1"/>
          <p:nvPr/>
        </p:nvSpPr>
        <p:spPr>
          <a:xfrm>
            <a:off x="4773168" y="1746504"/>
            <a:ext cx="411480" cy="640080"/>
          </a:xfrm>
          <a:prstGeom prst="rect">
            <a:avLst/>
          </a:prstGeom>
          <a:noFill/>
          <a:ln/>
        </p:spPr>
        <p:txBody>
          <a:bodyPr wrap="square" lIns="0" tIns="0" rIns="0" bIns="0" rtlCol="0" anchor="ctr"/>
          <a:lstStyle/>
          <a:p>
            <a:pPr indent="0" marL="0">
              <a:buNone/>
            </a:pPr>
            <a:r>
              <a:rPr lang="en-US" sz="1600" b="1" dirty="0">
                <a:solidFill>
                  <a:schemeClr val="accent1"/>
                </a:solidFill>
              </a:rPr>
              <a:t>4</a:t>
            </a:r>
            <a:endParaRPr lang="en-US" sz="1600" dirty="0"/>
          </a:p>
        </p:txBody>
      </p:sp>
      <p:sp>
        <p:nvSpPr>
          <p:cNvPr id="15" name="Text 12"/>
          <p:cNvSpPr txBox="1"/>
          <p:nvPr/>
        </p:nvSpPr>
        <p:spPr>
          <a:xfrm>
            <a:off x="5166360" y="1746504"/>
            <a:ext cx="3429000" cy="640080"/>
          </a:xfrm>
          <a:prstGeom prst="rect">
            <a:avLst/>
          </a:prstGeom>
          <a:noFill/>
          <a:ln/>
        </p:spPr>
        <p:txBody>
          <a:bodyPr wrap="square" lIns="0" tIns="0" rIns="0" bIns="0" rtlCol="0" anchor="ctr"/>
          <a:lstStyle/>
          <a:p>
            <a:pPr indent="0" marL="0">
              <a:buNone/>
            </a:pPr>
            <a:r>
              <a:rPr lang="en-US" sz="1300" dirty="0">
                <a:solidFill>
                  <a:schemeClr val="tx1"/>
                </a:solidFill>
              </a:rPr>
              <a:t>Distinguere generalista, specializzato, integrato</a:t>
            </a:r>
            <a:endParaRPr lang="en-US" sz="1300" dirty="0"/>
          </a:p>
        </p:txBody>
      </p:sp>
      <p:sp>
        <p:nvSpPr>
          <p:cNvPr id="16" name="risultato 5"/>
          <p:cNvSpPr/>
          <p:nvPr/>
        </p:nvSpPr>
        <p:spPr>
          <a:xfrm>
            <a:off x="457200" y="2468880"/>
            <a:ext cx="4023360" cy="640080"/>
          </a:xfrm>
          <a:prstGeom prst="roundRect">
            <a:avLst>
              <a:gd name="adj" fmla="val 11429"/>
            </a:avLst>
          </a:prstGeom>
          <a:solidFill>
            <a:schemeClr val="bg2"/>
          </a:solidFill>
          <a:ln/>
        </p:spPr>
      </p:sp>
      <p:sp>
        <p:nvSpPr>
          <p:cNvPr id="17" name="Text 14"/>
          <p:cNvSpPr txBox="1"/>
          <p:nvPr/>
        </p:nvSpPr>
        <p:spPr>
          <a:xfrm>
            <a:off x="566928" y="2468880"/>
            <a:ext cx="411480" cy="640080"/>
          </a:xfrm>
          <a:prstGeom prst="rect">
            <a:avLst/>
          </a:prstGeom>
          <a:noFill/>
          <a:ln/>
        </p:spPr>
        <p:txBody>
          <a:bodyPr wrap="square" lIns="0" tIns="0" rIns="0" bIns="0" rtlCol="0" anchor="ctr"/>
          <a:lstStyle/>
          <a:p>
            <a:pPr indent="0" marL="0">
              <a:buNone/>
            </a:pPr>
            <a:r>
              <a:rPr lang="en-US" sz="1600" b="1" dirty="0">
                <a:solidFill>
                  <a:schemeClr val="accent1"/>
                </a:solidFill>
              </a:rPr>
              <a:t>5</a:t>
            </a:r>
            <a:endParaRPr lang="en-US" sz="1600" dirty="0"/>
          </a:p>
        </p:txBody>
      </p:sp>
      <p:sp>
        <p:nvSpPr>
          <p:cNvPr id="18" name="Text 15"/>
          <p:cNvSpPr txBox="1"/>
          <p:nvPr/>
        </p:nvSpPr>
        <p:spPr>
          <a:xfrm>
            <a:off x="960120" y="2468880"/>
            <a:ext cx="3429000" cy="640080"/>
          </a:xfrm>
          <a:prstGeom prst="rect">
            <a:avLst/>
          </a:prstGeom>
          <a:noFill/>
          <a:ln/>
        </p:spPr>
        <p:txBody>
          <a:bodyPr wrap="square" lIns="0" tIns="0" rIns="0" bIns="0" rtlCol="0" anchor="ctr"/>
          <a:lstStyle/>
          <a:p>
            <a:pPr indent="0" marL="0">
              <a:buNone/>
            </a:pPr>
            <a:r>
              <a:rPr lang="en-US" sz="1300" dirty="0">
                <a:solidFill>
                  <a:schemeClr val="tx1"/>
                </a:solidFill>
              </a:rPr>
              <a:t>Distinguere chatbot, assistenti, agenti, automazioni</a:t>
            </a:r>
            <a:endParaRPr lang="en-US" sz="1300" dirty="0"/>
          </a:p>
        </p:txBody>
      </p:sp>
      <p:sp>
        <p:nvSpPr>
          <p:cNvPr id="19" name="risultato 6"/>
          <p:cNvSpPr/>
          <p:nvPr/>
        </p:nvSpPr>
        <p:spPr>
          <a:xfrm>
            <a:off x="4663440" y="2468880"/>
            <a:ext cx="4023360" cy="640080"/>
          </a:xfrm>
          <a:prstGeom prst="roundRect">
            <a:avLst>
              <a:gd name="adj" fmla="val 11429"/>
            </a:avLst>
          </a:prstGeom>
          <a:solidFill>
            <a:schemeClr val="bg2"/>
          </a:solidFill>
          <a:ln/>
        </p:spPr>
      </p:sp>
      <p:sp>
        <p:nvSpPr>
          <p:cNvPr id="20" name="Text 17"/>
          <p:cNvSpPr txBox="1"/>
          <p:nvPr/>
        </p:nvSpPr>
        <p:spPr>
          <a:xfrm>
            <a:off x="4773168" y="2468880"/>
            <a:ext cx="411480" cy="640080"/>
          </a:xfrm>
          <a:prstGeom prst="rect">
            <a:avLst/>
          </a:prstGeom>
          <a:noFill/>
          <a:ln/>
        </p:spPr>
        <p:txBody>
          <a:bodyPr wrap="square" lIns="0" tIns="0" rIns="0" bIns="0" rtlCol="0" anchor="ctr"/>
          <a:lstStyle/>
          <a:p>
            <a:pPr indent="0" marL="0">
              <a:buNone/>
            </a:pPr>
            <a:r>
              <a:rPr lang="en-US" sz="1600" b="1" dirty="0">
                <a:solidFill>
                  <a:schemeClr val="accent1"/>
                </a:solidFill>
              </a:rPr>
              <a:t>6</a:t>
            </a:r>
            <a:endParaRPr lang="en-US" sz="1600" dirty="0"/>
          </a:p>
        </p:txBody>
      </p:sp>
      <p:sp>
        <p:nvSpPr>
          <p:cNvPr id="21" name="Text 18"/>
          <p:cNvSpPr txBox="1"/>
          <p:nvPr/>
        </p:nvSpPr>
        <p:spPr>
          <a:xfrm>
            <a:off x="5166360" y="2468880"/>
            <a:ext cx="3429000" cy="640080"/>
          </a:xfrm>
          <a:prstGeom prst="rect">
            <a:avLst/>
          </a:prstGeom>
          <a:noFill/>
          <a:ln/>
        </p:spPr>
        <p:txBody>
          <a:bodyPr wrap="square" lIns="0" tIns="0" rIns="0" bIns="0" rtlCol="0" anchor="ctr"/>
          <a:lstStyle/>
          <a:p>
            <a:pPr indent="0" marL="0">
              <a:buNone/>
            </a:pPr>
            <a:r>
              <a:rPr lang="en-US" sz="1300" dirty="0">
                <a:solidFill>
                  <a:schemeClr val="tx1"/>
                </a:solidFill>
              </a:rPr>
              <a:t>Identificare le modalità di accesso</a:t>
            </a:r>
            <a:endParaRPr lang="en-US" sz="1300" dirty="0"/>
          </a:p>
        </p:txBody>
      </p:sp>
      <p:sp>
        <p:nvSpPr>
          <p:cNvPr id="22" name="risultato 7"/>
          <p:cNvSpPr/>
          <p:nvPr/>
        </p:nvSpPr>
        <p:spPr>
          <a:xfrm>
            <a:off x="457200" y="3191256"/>
            <a:ext cx="4023360" cy="640080"/>
          </a:xfrm>
          <a:prstGeom prst="roundRect">
            <a:avLst>
              <a:gd name="adj" fmla="val 11429"/>
            </a:avLst>
          </a:prstGeom>
          <a:solidFill>
            <a:schemeClr val="bg1"/>
          </a:solidFill>
          <a:ln/>
        </p:spPr>
      </p:sp>
      <p:sp>
        <p:nvSpPr>
          <p:cNvPr id="23" name="Text 20"/>
          <p:cNvSpPr txBox="1"/>
          <p:nvPr/>
        </p:nvSpPr>
        <p:spPr>
          <a:xfrm>
            <a:off x="566928" y="3191256"/>
            <a:ext cx="411480" cy="640080"/>
          </a:xfrm>
          <a:prstGeom prst="rect">
            <a:avLst/>
          </a:prstGeom>
          <a:noFill/>
          <a:ln/>
        </p:spPr>
        <p:txBody>
          <a:bodyPr wrap="square" lIns="0" tIns="0" rIns="0" bIns="0" rtlCol="0" anchor="ctr"/>
          <a:lstStyle/>
          <a:p>
            <a:pPr indent="0" marL="0">
              <a:buNone/>
            </a:pPr>
            <a:r>
              <a:rPr lang="en-US" sz="1600" b="1" dirty="0">
                <a:solidFill>
                  <a:schemeClr val="accent1"/>
                </a:solidFill>
              </a:rPr>
              <a:t>7</a:t>
            </a:r>
            <a:endParaRPr lang="en-US" sz="1600" dirty="0"/>
          </a:p>
        </p:txBody>
      </p:sp>
      <p:sp>
        <p:nvSpPr>
          <p:cNvPr id="24" name="Text 21"/>
          <p:cNvSpPr txBox="1"/>
          <p:nvPr/>
        </p:nvSpPr>
        <p:spPr>
          <a:xfrm>
            <a:off x="960120" y="3191256"/>
            <a:ext cx="3429000" cy="640080"/>
          </a:xfrm>
          <a:prstGeom prst="rect">
            <a:avLst/>
          </a:prstGeom>
          <a:noFill/>
          <a:ln/>
        </p:spPr>
        <p:txBody>
          <a:bodyPr wrap="square" lIns="0" tIns="0" rIns="0" bIns="0" rtlCol="0" anchor="ctr"/>
          <a:lstStyle/>
          <a:p>
            <a:pPr indent="0" marL="0">
              <a:buNone/>
            </a:pPr>
            <a:r>
              <a:rPr lang="en-US" sz="1300" dirty="0">
                <a:solidFill>
                  <a:schemeClr val="tx1"/>
                </a:solidFill>
              </a:rPr>
              <a:t>Applicare criteri di confronto</a:t>
            </a:r>
            <a:endParaRPr lang="en-US" sz="1300" dirty="0"/>
          </a:p>
        </p:txBody>
      </p:sp>
      <p:sp>
        <p:nvSpPr>
          <p:cNvPr id="25" name="risultato 8"/>
          <p:cNvSpPr/>
          <p:nvPr/>
        </p:nvSpPr>
        <p:spPr>
          <a:xfrm>
            <a:off x="4663440" y="3191256"/>
            <a:ext cx="4023360" cy="640080"/>
          </a:xfrm>
          <a:prstGeom prst="roundRect">
            <a:avLst>
              <a:gd name="adj" fmla="val 11429"/>
            </a:avLst>
          </a:prstGeom>
          <a:solidFill>
            <a:schemeClr val="bg1"/>
          </a:solidFill>
          <a:ln/>
        </p:spPr>
      </p:sp>
      <p:sp>
        <p:nvSpPr>
          <p:cNvPr id="26" name="Text 23"/>
          <p:cNvSpPr txBox="1"/>
          <p:nvPr/>
        </p:nvSpPr>
        <p:spPr>
          <a:xfrm>
            <a:off x="4773168" y="3191256"/>
            <a:ext cx="411480" cy="640080"/>
          </a:xfrm>
          <a:prstGeom prst="rect">
            <a:avLst/>
          </a:prstGeom>
          <a:noFill/>
          <a:ln/>
        </p:spPr>
        <p:txBody>
          <a:bodyPr wrap="square" lIns="0" tIns="0" rIns="0" bIns="0" rtlCol="0" anchor="ctr"/>
          <a:lstStyle/>
          <a:p>
            <a:pPr indent="0" marL="0">
              <a:buNone/>
            </a:pPr>
            <a:r>
              <a:rPr lang="en-US" sz="1600" b="1" dirty="0">
                <a:solidFill>
                  <a:schemeClr val="accent1"/>
                </a:solidFill>
              </a:rPr>
              <a:t>8</a:t>
            </a:r>
            <a:endParaRPr lang="en-US" sz="1600" dirty="0"/>
          </a:p>
        </p:txBody>
      </p:sp>
      <p:sp>
        <p:nvSpPr>
          <p:cNvPr id="27" name="Text 24"/>
          <p:cNvSpPr txBox="1"/>
          <p:nvPr/>
        </p:nvSpPr>
        <p:spPr>
          <a:xfrm>
            <a:off x="5166360" y="3191256"/>
            <a:ext cx="3429000" cy="640080"/>
          </a:xfrm>
          <a:prstGeom prst="rect">
            <a:avLst/>
          </a:prstGeom>
          <a:noFill/>
          <a:ln/>
        </p:spPr>
        <p:txBody>
          <a:bodyPr wrap="square" lIns="0" tIns="0" rIns="0" bIns="0" rtlCol="0" anchor="ctr"/>
          <a:lstStyle/>
          <a:p>
            <a:pPr indent="0" marL="0">
              <a:buNone/>
            </a:pPr>
            <a:r>
              <a:rPr lang="en-US" sz="1300" dirty="0">
                <a:solidFill>
                  <a:schemeClr val="tx1"/>
                </a:solidFill>
              </a:rPr>
              <a:t>Valutare i livelli di apertura tecnologica</a:t>
            </a:r>
            <a:endParaRPr lang="en-US" sz="1300" dirty="0"/>
          </a:p>
        </p:txBody>
      </p:sp>
      <p:sp>
        <p:nvSpPr>
          <p:cNvPr id="28" name="risultato 9"/>
          <p:cNvSpPr/>
          <p:nvPr/>
        </p:nvSpPr>
        <p:spPr>
          <a:xfrm>
            <a:off x="457200" y="3913632"/>
            <a:ext cx="4023360" cy="640080"/>
          </a:xfrm>
          <a:prstGeom prst="roundRect">
            <a:avLst>
              <a:gd name="adj" fmla="val 11429"/>
            </a:avLst>
          </a:prstGeom>
          <a:solidFill>
            <a:schemeClr val="bg2"/>
          </a:solidFill>
          <a:ln/>
        </p:spPr>
      </p:sp>
      <p:sp>
        <p:nvSpPr>
          <p:cNvPr id="29" name="Text 26"/>
          <p:cNvSpPr txBox="1"/>
          <p:nvPr/>
        </p:nvSpPr>
        <p:spPr>
          <a:xfrm>
            <a:off x="566928" y="3913632"/>
            <a:ext cx="411480" cy="640080"/>
          </a:xfrm>
          <a:prstGeom prst="rect">
            <a:avLst/>
          </a:prstGeom>
          <a:noFill/>
          <a:ln/>
        </p:spPr>
        <p:txBody>
          <a:bodyPr wrap="square" lIns="0" tIns="0" rIns="0" bIns="0" rtlCol="0" anchor="ctr"/>
          <a:lstStyle/>
          <a:p>
            <a:pPr indent="0" marL="0">
              <a:buNone/>
            </a:pPr>
            <a:r>
              <a:rPr lang="en-US" sz="1600" b="1" dirty="0">
                <a:solidFill>
                  <a:schemeClr val="accent1"/>
                </a:solidFill>
              </a:rPr>
              <a:t>9</a:t>
            </a:r>
            <a:endParaRPr lang="en-US" sz="1600" dirty="0"/>
          </a:p>
        </p:txBody>
      </p:sp>
      <p:sp>
        <p:nvSpPr>
          <p:cNvPr id="30" name="Text 27"/>
          <p:cNvSpPr txBox="1"/>
          <p:nvPr/>
        </p:nvSpPr>
        <p:spPr>
          <a:xfrm>
            <a:off x="960120" y="3913632"/>
            <a:ext cx="3429000" cy="640080"/>
          </a:xfrm>
          <a:prstGeom prst="rect">
            <a:avLst/>
          </a:prstGeom>
          <a:noFill/>
          <a:ln/>
        </p:spPr>
        <p:txBody>
          <a:bodyPr wrap="square" lIns="0" tIns="0" rIns="0" bIns="0" rtlCol="0" anchor="ctr"/>
          <a:lstStyle/>
          <a:p>
            <a:pPr indent="0" marL="0">
              <a:buNone/>
            </a:pPr>
            <a:r>
              <a:rPr lang="en-US" sz="1300" dirty="0">
                <a:solidFill>
                  <a:schemeClr val="tx1"/>
                </a:solidFill>
              </a:rPr>
              <a:t>Comprendere portabilità e vendor lock-in</a:t>
            </a:r>
            <a:endParaRPr lang="en-US" sz="1300" dirty="0"/>
          </a:p>
        </p:txBody>
      </p:sp>
      <p:sp>
        <p:nvSpPr>
          <p:cNvPr id="31" name="risultato 10"/>
          <p:cNvSpPr/>
          <p:nvPr/>
        </p:nvSpPr>
        <p:spPr>
          <a:xfrm>
            <a:off x="4663440" y="3913632"/>
            <a:ext cx="4023360" cy="640080"/>
          </a:xfrm>
          <a:prstGeom prst="roundRect">
            <a:avLst>
              <a:gd name="adj" fmla="val 11429"/>
            </a:avLst>
          </a:prstGeom>
          <a:solidFill>
            <a:schemeClr val="bg2"/>
          </a:solidFill>
          <a:ln/>
        </p:spPr>
      </p:sp>
      <p:sp>
        <p:nvSpPr>
          <p:cNvPr id="32" name="Text 29"/>
          <p:cNvSpPr txBox="1"/>
          <p:nvPr/>
        </p:nvSpPr>
        <p:spPr>
          <a:xfrm>
            <a:off x="4773168" y="3913632"/>
            <a:ext cx="411480" cy="640080"/>
          </a:xfrm>
          <a:prstGeom prst="rect">
            <a:avLst/>
          </a:prstGeom>
          <a:noFill/>
          <a:ln/>
        </p:spPr>
        <p:txBody>
          <a:bodyPr wrap="square" lIns="0" tIns="0" rIns="0" bIns="0" rtlCol="0" anchor="ctr"/>
          <a:lstStyle/>
          <a:p>
            <a:pPr indent="0" marL="0">
              <a:buNone/>
            </a:pPr>
            <a:r>
              <a:rPr lang="en-US" sz="1600" b="1" dirty="0">
                <a:solidFill>
                  <a:schemeClr val="accent1"/>
                </a:solidFill>
              </a:rPr>
              <a:t>10</a:t>
            </a:r>
            <a:endParaRPr lang="en-US" sz="1600" dirty="0"/>
          </a:p>
        </p:txBody>
      </p:sp>
      <p:sp>
        <p:nvSpPr>
          <p:cNvPr id="33" name="Text 30"/>
          <p:cNvSpPr txBox="1"/>
          <p:nvPr/>
        </p:nvSpPr>
        <p:spPr>
          <a:xfrm>
            <a:off x="5166360" y="3913632"/>
            <a:ext cx="3429000" cy="640080"/>
          </a:xfrm>
          <a:prstGeom prst="rect">
            <a:avLst/>
          </a:prstGeom>
          <a:noFill/>
          <a:ln/>
        </p:spPr>
        <p:txBody>
          <a:bodyPr wrap="square" lIns="0" tIns="0" rIns="0" bIns="0" rtlCol="0" anchor="ctr"/>
          <a:lstStyle/>
          <a:p>
            <a:pPr indent="0" marL="0">
              <a:buNone/>
            </a:pPr>
            <a:r>
              <a:rPr lang="en-US" sz="1300" dirty="0">
                <a:solidFill>
                  <a:schemeClr val="tx1"/>
                </a:solidFill>
              </a:rPr>
              <a:t>Verificare la disponibilità effettiva delle funzioni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Prima di scegliere uno strumento AI: una checklist</a:t>
            </a:r>
            <a:endParaRPr lang="en-US" sz="2600" dirty="0"/>
          </a:p>
        </p:txBody>
      </p:sp>
      <p:sp>
        <p:nvSpPr>
          <p:cNvPr id="4" name="check 1"/>
          <p:cNvSpPr/>
          <p:nvPr/>
        </p:nvSpPr>
        <p:spPr>
          <a:xfrm>
            <a:off x="457200" y="1024128"/>
            <a:ext cx="8229600" cy="374904"/>
          </a:xfrm>
          <a:prstGeom prst="roundRect">
            <a:avLst>
              <a:gd name="adj" fmla="val 19512"/>
            </a:avLst>
          </a:prstGeom>
          <a:solidFill>
            <a:schemeClr val="bg2"/>
          </a:solidFill>
          <a:ln/>
        </p:spPr>
      </p:sp>
      <p:sp>
        <p:nvSpPr>
          <p:cNvPr id="5" name="casella"/>
          <p:cNvSpPr/>
          <p:nvPr/>
        </p:nvSpPr>
        <p:spPr>
          <a:xfrm>
            <a:off x="566928" y="1097280"/>
            <a:ext cx="228600" cy="228600"/>
          </a:xfrm>
          <a:prstGeom prst="roundRect">
            <a:avLst>
              <a:gd name="adj" fmla="val 16000"/>
            </a:avLst>
          </a:prstGeom>
          <a:solidFill>
            <a:schemeClr val="bg1"/>
          </a:solidFill>
          <a:ln w="19050">
            <a:solidFill>
              <a:schemeClr val="accent1"/>
            </a:solidFill>
            <a:prstDash val="solid"/>
          </a:ln>
        </p:spPr>
      </p:sp>
      <p:sp>
        <p:nvSpPr>
          <p:cNvPr id="6" name="cerchio FiTarget"/>
          <p:cNvSpPr/>
          <p:nvPr/>
        </p:nvSpPr>
        <p:spPr>
          <a:xfrm>
            <a:off x="914400" y="1051560"/>
            <a:ext cx="320040" cy="320040"/>
          </a:xfrm>
          <a:prstGeom prst="ellipse">
            <a:avLst/>
          </a:prstGeom>
          <a:solidFill>
            <a:schemeClr val="accent1"/>
          </a:solidFill>
          <a:ln/>
        </p:spPr>
      </p:sp>
      <p:pic>
        <p:nvPicPr>
          <p:cNvPr id="7" name="Image 0" descr="FiTarget">    </p:cNvPr>
          <p:cNvPicPr>
            <a:picLocks noChangeAspect="1"/>
          </p:cNvPicPr>
          <p:nvPr/>
        </p:nvPicPr>
        <p:blipFill>
          <a:blip r:embed="rId1"/>
          <a:stretch>
            <a:fillRect/>
          </a:stretch>
        </p:blipFill>
        <p:spPr>
          <a:xfrm>
            <a:off x="994410" y="1131570"/>
            <a:ext cx="160020" cy="160020"/>
          </a:xfrm>
          <a:prstGeom prst="rect">
            <a:avLst/>
          </a:prstGeom>
        </p:spPr>
      </p:pic>
      <p:sp>
        <p:nvSpPr>
          <p:cNvPr id="8" name="Text 4"/>
          <p:cNvSpPr txBox="1"/>
          <p:nvPr/>
        </p:nvSpPr>
        <p:spPr>
          <a:xfrm>
            <a:off x="1371600" y="1024128"/>
            <a:ext cx="7223760" cy="374904"/>
          </a:xfrm>
          <a:prstGeom prst="rect">
            <a:avLst/>
          </a:prstGeom>
          <a:noFill/>
          <a:ln/>
        </p:spPr>
        <p:txBody>
          <a:bodyPr wrap="square" lIns="0" tIns="0" rIns="0" bIns="0" rtlCol="0" anchor="ctr"/>
          <a:lstStyle/>
          <a:p>
            <a:pPr indent="0" marL="0">
              <a:buNone/>
            </a:pPr>
            <a:r>
              <a:rPr lang="en-US" sz="1300" dirty="0">
                <a:solidFill>
                  <a:schemeClr val="tx1"/>
                </a:solidFill>
              </a:rPr>
              <a:t>Per quali attività, obiettivi e persone?</a:t>
            </a:r>
            <a:endParaRPr lang="en-US" sz="1300" dirty="0"/>
          </a:p>
        </p:txBody>
      </p:sp>
      <p:sp>
        <p:nvSpPr>
          <p:cNvPr id="9" name="check 2"/>
          <p:cNvSpPr/>
          <p:nvPr/>
        </p:nvSpPr>
        <p:spPr>
          <a:xfrm>
            <a:off x="457200" y="1453896"/>
            <a:ext cx="8229600" cy="374904"/>
          </a:xfrm>
          <a:prstGeom prst="roundRect">
            <a:avLst>
              <a:gd name="adj" fmla="val 19512"/>
            </a:avLst>
          </a:prstGeom>
          <a:solidFill>
            <a:schemeClr val="bg1"/>
          </a:solidFill>
          <a:ln/>
        </p:spPr>
      </p:sp>
      <p:sp>
        <p:nvSpPr>
          <p:cNvPr id="10" name="casella"/>
          <p:cNvSpPr/>
          <p:nvPr/>
        </p:nvSpPr>
        <p:spPr>
          <a:xfrm>
            <a:off x="566928" y="1527048"/>
            <a:ext cx="228600" cy="228600"/>
          </a:xfrm>
          <a:prstGeom prst="roundRect">
            <a:avLst>
              <a:gd name="adj" fmla="val 16000"/>
            </a:avLst>
          </a:prstGeom>
          <a:solidFill>
            <a:schemeClr val="bg1"/>
          </a:solidFill>
          <a:ln w="19050">
            <a:solidFill>
              <a:schemeClr val="accent1"/>
            </a:solidFill>
            <a:prstDash val="solid"/>
          </a:ln>
        </p:spPr>
      </p:sp>
      <p:sp>
        <p:nvSpPr>
          <p:cNvPr id="11" name="cerchio FiLayers"/>
          <p:cNvSpPr/>
          <p:nvPr/>
        </p:nvSpPr>
        <p:spPr>
          <a:xfrm>
            <a:off x="914400" y="1481328"/>
            <a:ext cx="320040" cy="320040"/>
          </a:xfrm>
          <a:prstGeom prst="ellipse">
            <a:avLst/>
          </a:prstGeom>
          <a:solidFill>
            <a:schemeClr val="accent1"/>
          </a:solidFill>
          <a:ln/>
        </p:spPr>
      </p:sp>
      <p:pic>
        <p:nvPicPr>
          <p:cNvPr id="12" name="Image 1" descr="FiLayers">    </p:cNvPr>
          <p:cNvPicPr>
            <a:picLocks noChangeAspect="1"/>
          </p:cNvPicPr>
          <p:nvPr/>
        </p:nvPicPr>
        <p:blipFill>
          <a:blip r:embed="rId2"/>
          <a:stretch>
            <a:fillRect/>
          </a:stretch>
        </p:blipFill>
        <p:spPr>
          <a:xfrm>
            <a:off x="994410" y="1561338"/>
            <a:ext cx="160020" cy="160020"/>
          </a:xfrm>
          <a:prstGeom prst="rect">
            <a:avLst/>
          </a:prstGeom>
        </p:spPr>
      </p:pic>
      <p:sp>
        <p:nvSpPr>
          <p:cNvPr id="13" name="Text 8"/>
          <p:cNvSpPr txBox="1"/>
          <p:nvPr/>
        </p:nvSpPr>
        <p:spPr>
          <a:xfrm>
            <a:off x="1371600" y="1453896"/>
            <a:ext cx="7223760" cy="374904"/>
          </a:xfrm>
          <a:prstGeom prst="rect">
            <a:avLst/>
          </a:prstGeom>
          <a:noFill/>
          <a:ln/>
        </p:spPr>
        <p:txBody>
          <a:bodyPr wrap="square" lIns="0" tIns="0" rIns="0" bIns="0" rtlCol="0" anchor="ctr"/>
          <a:lstStyle/>
          <a:p>
            <a:pPr indent="0" marL="0">
              <a:buNone/>
            </a:pPr>
            <a:r>
              <a:rPr lang="en-US" sz="1300" dirty="0">
                <a:solidFill>
                  <a:schemeClr val="tx1"/>
                </a:solidFill>
              </a:rPr>
              <a:t>Modello, applicazione o piattaforma? Quali componenti?</a:t>
            </a:r>
            <a:endParaRPr lang="en-US" sz="1300" dirty="0"/>
          </a:p>
        </p:txBody>
      </p:sp>
      <p:sp>
        <p:nvSpPr>
          <p:cNvPr id="14" name="check 3"/>
          <p:cNvSpPr/>
          <p:nvPr/>
        </p:nvSpPr>
        <p:spPr>
          <a:xfrm>
            <a:off x="457200" y="1883664"/>
            <a:ext cx="8229600" cy="374904"/>
          </a:xfrm>
          <a:prstGeom prst="roundRect">
            <a:avLst>
              <a:gd name="adj" fmla="val 19512"/>
            </a:avLst>
          </a:prstGeom>
          <a:solidFill>
            <a:schemeClr val="bg2"/>
          </a:solidFill>
          <a:ln/>
        </p:spPr>
      </p:sp>
      <p:sp>
        <p:nvSpPr>
          <p:cNvPr id="15" name="casella"/>
          <p:cNvSpPr/>
          <p:nvPr/>
        </p:nvSpPr>
        <p:spPr>
          <a:xfrm>
            <a:off x="566928" y="1956816"/>
            <a:ext cx="228600" cy="228600"/>
          </a:xfrm>
          <a:prstGeom prst="roundRect">
            <a:avLst>
              <a:gd name="adj" fmla="val 16000"/>
            </a:avLst>
          </a:prstGeom>
          <a:solidFill>
            <a:schemeClr val="bg1"/>
          </a:solidFill>
          <a:ln w="19050">
            <a:solidFill>
              <a:schemeClr val="accent1"/>
            </a:solidFill>
            <a:prstDash val="solid"/>
          </a:ln>
        </p:spPr>
      </p:sp>
      <p:sp>
        <p:nvSpPr>
          <p:cNvPr id="16" name="cerchio FiGrid"/>
          <p:cNvSpPr/>
          <p:nvPr/>
        </p:nvSpPr>
        <p:spPr>
          <a:xfrm>
            <a:off x="914400" y="1911096"/>
            <a:ext cx="320040" cy="320040"/>
          </a:xfrm>
          <a:prstGeom prst="ellipse">
            <a:avLst/>
          </a:prstGeom>
          <a:solidFill>
            <a:schemeClr val="accent1"/>
          </a:solidFill>
          <a:ln/>
        </p:spPr>
      </p:sp>
      <p:pic>
        <p:nvPicPr>
          <p:cNvPr id="17" name="Image 2" descr="FiGrid">    </p:cNvPr>
          <p:cNvPicPr>
            <a:picLocks noChangeAspect="1"/>
          </p:cNvPicPr>
          <p:nvPr/>
        </p:nvPicPr>
        <p:blipFill>
          <a:blip r:embed="rId3"/>
          <a:stretch>
            <a:fillRect/>
          </a:stretch>
        </p:blipFill>
        <p:spPr>
          <a:xfrm>
            <a:off x="994410" y="1991106"/>
            <a:ext cx="160020" cy="160020"/>
          </a:xfrm>
          <a:prstGeom prst="rect">
            <a:avLst/>
          </a:prstGeom>
        </p:spPr>
      </p:pic>
      <p:sp>
        <p:nvSpPr>
          <p:cNvPr id="18" name="Text 12"/>
          <p:cNvSpPr txBox="1"/>
          <p:nvPr/>
        </p:nvSpPr>
        <p:spPr>
          <a:xfrm>
            <a:off x="1371600" y="1883664"/>
            <a:ext cx="7223760" cy="374904"/>
          </a:xfrm>
          <a:prstGeom prst="rect">
            <a:avLst/>
          </a:prstGeom>
          <a:noFill/>
          <a:ln/>
        </p:spPr>
        <p:txBody>
          <a:bodyPr wrap="square" lIns="0" tIns="0" rIns="0" bIns="0" rtlCol="0" anchor="ctr"/>
          <a:lstStyle/>
          <a:p>
            <a:pPr indent="0" marL="0">
              <a:buNone/>
            </a:pPr>
            <a:r>
              <a:rPr lang="en-US" sz="1300" dirty="0">
                <a:solidFill>
                  <a:schemeClr val="tx1"/>
                </a:solidFill>
              </a:rPr>
              <a:t>Ci sono già funzioni AI nei software in uso?</a:t>
            </a:r>
            <a:endParaRPr lang="en-US" sz="1300" dirty="0"/>
          </a:p>
        </p:txBody>
      </p:sp>
      <p:sp>
        <p:nvSpPr>
          <p:cNvPr id="19" name="check 4"/>
          <p:cNvSpPr/>
          <p:nvPr/>
        </p:nvSpPr>
        <p:spPr>
          <a:xfrm>
            <a:off x="457200" y="2313432"/>
            <a:ext cx="8229600" cy="374904"/>
          </a:xfrm>
          <a:prstGeom prst="roundRect">
            <a:avLst>
              <a:gd name="adj" fmla="val 19512"/>
            </a:avLst>
          </a:prstGeom>
          <a:solidFill>
            <a:schemeClr val="bg1"/>
          </a:solidFill>
          <a:ln/>
        </p:spPr>
      </p:sp>
      <p:sp>
        <p:nvSpPr>
          <p:cNvPr id="20" name="casella"/>
          <p:cNvSpPr/>
          <p:nvPr/>
        </p:nvSpPr>
        <p:spPr>
          <a:xfrm>
            <a:off x="566928" y="2386584"/>
            <a:ext cx="228600" cy="228600"/>
          </a:xfrm>
          <a:prstGeom prst="roundRect">
            <a:avLst>
              <a:gd name="adj" fmla="val 16000"/>
            </a:avLst>
          </a:prstGeom>
          <a:solidFill>
            <a:schemeClr val="bg1"/>
          </a:solidFill>
          <a:ln w="19050">
            <a:solidFill>
              <a:schemeClr val="accent1"/>
            </a:solidFill>
            <a:prstDash val="solid"/>
          </a:ln>
        </p:spPr>
      </p:sp>
      <p:sp>
        <p:nvSpPr>
          <p:cNvPr id="21" name="cerchio FiSliders"/>
          <p:cNvSpPr/>
          <p:nvPr/>
        </p:nvSpPr>
        <p:spPr>
          <a:xfrm>
            <a:off x="914400" y="2340864"/>
            <a:ext cx="320040" cy="320040"/>
          </a:xfrm>
          <a:prstGeom prst="ellipse">
            <a:avLst/>
          </a:prstGeom>
          <a:solidFill>
            <a:schemeClr val="accent1"/>
          </a:solidFill>
          <a:ln/>
        </p:spPr>
      </p:sp>
      <p:pic>
        <p:nvPicPr>
          <p:cNvPr id="22" name="Image 3" descr="FiSliders">    </p:cNvPr>
          <p:cNvPicPr>
            <a:picLocks noChangeAspect="1"/>
          </p:cNvPicPr>
          <p:nvPr/>
        </p:nvPicPr>
        <p:blipFill>
          <a:blip r:embed="rId4"/>
          <a:stretch>
            <a:fillRect/>
          </a:stretch>
        </p:blipFill>
        <p:spPr>
          <a:xfrm>
            <a:off x="994410" y="2420874"/>
            <a:ext cx="160020" cy="160020"/>
          </a:xfrm>
          <a:prstGeom prst="rect">
            <a:avLst/>
          </a:prstGeom>
        </p:spPr>
      </p:pic>
      <p:sp>
        <p:nvSpPr>
          <p:cNvPr id="23" name="Text 16"/>
          <p:cNvSpPr txBox="1"/>
          <p:nvPr/>
        </p:nvSpPr>
        <p:spPr>
          <a:xfrm>
            <a:off x="1371600" y="2313432"/>
            <a:ext cx="7223760" cy="374904"/>
          </a:xfrm>
          <a:prstGeom prst="rect">
            <a:avLst/>
          </a:prstGeom>
          <a:noFill/>
          <a:ln/>
        </p:spPr>
        <p:txBody>
          <a:bodyPr wrap="square" lIns="0" tIns="0" rIns="0" bIns="0" rtlCol="0" anchor="ctr"/>
          <a:lstStyle/>
          <a:p>
            <a:pPr indent="0" marL="0">
              <a:buNone/>
            </a:pPr>
            <a:r>
              <a:rPr lang="en-US" sz="1300" dirty="0">
                <a:solidFill>
                  <a:schemeClr val="tx1"/>
                </a:solidFill>
              </a:rPr>
              <a:t>Che autonomia ha? Dove interviene la persona?</a:t>
            </a:r>
            <a:endParaRPr lang="en-US" sz="1300" dirty="0"/>
          </a:p>
        </p:txBody>
      </p:sp>
      <p:sp>
        <p:nvSpPr>
          <p:cNvPr id="24" name="check 5"/>
          <p:cNvSpPr/>
          <p:nvPr/>
        </p:nvSpPr>
        <p:spPr>
          <a:xfrm>
            <a:off x="457200" y="2743200"/>
            <a:ext cx="8229600" cy="374904"/>
          </a:xfrm>
          <a:prstGeom prst="roundRect">
            <a:avLst>
              <a:gd name="adj" fmla="val 19512"/>
            </a:avLst>
          </a:prstGeom>
          <a:solidFill>
            <a:schemeClr val="bg2"/>
          </a:solidFill>
          <a:ln/>
        </p:spPr>
      </p:sp>
      <p:sp>
        <p:nvSpPr>
          <p:cNvPr id="25" name="casella"/>
          <p:cNvSpPr/>
          <p:nvPr/>
        </p:nvSpPr>
        <p:spPr>
          <a:xfrm>
            <a:off x="566928" y="2816352"/>
            <a:ext cx="228600" cy="228600"/>
          </a:xfrm>
          <a:prstGeom prst="roundRect">
            <a:avLst>
              <a:gd name="adj" fmla="val 16000"/>
            </a:avLst>
          </a:prstGeom>
          <a:solidFill>
            <a:schemeClr val="bg1"/>
          </a:solidFill>
          <a:ln w="19050">
            <a:solidFill>
              <a:schemeClr val="accent1"/>
            </a:solidFill>
            <a:prstDash val="solid"/>
          </a:ln>
        </p:spPr>
      </p:sp>
      <p:sp>
        <p:nvSpPr>
          <p:cNvPr id="26" name="cerchio FiCheckSquare"/>
          <p:cNvSpPr/>
          <p:nvPr/>
        </p:nvSpPr>
        <p:spPr>
          <a:xfrm>
            <a:off x="914400" y="2770632"/>
            <a:ext cx="320040" cy="320040"/>
          </a:xfrm>
          <a:prstGeom prst="ellipse">
            <a:avLst/>
          </a:prstGeom>
          <a:solidFill>
            <a:schemeClr val="accent1"/>
          </a:solidFill>
          <a:ln/>
        </p:spPr>
      </p:sp>
      <p:pic>
        <p:nvPicPr>
          <p:cNvPr id="27" name="Image 4" descr="FiCheckSquare">    </p:cNvPr>
          <p:cNvPicPr>
            <a:picLocks noChangeAspect="1"/>
          </p:cNvPicPr>
          <p:nvPr/>
        </p:nvPicPr>
        <p:blipFill>
          <a:blip r:embed="rId5"/>
          <a:stretch>
            <a:fillRect/>
          </a:stretch>
        </p:blipFill>
        <p:spPr>
          <a:xfrm>
            <a:off x="994410" y="2850642"/>
            <a:ext cx="160020" cy="160020"/>
          </a:xfrm>
          <a:prstGeom prst="rect">
            <a:avLst/>
          </a:prstGeom>
        </p:spPr>
      </p:pic>
      <p:sp>
        <p:nvSpPr>
          <p:cNvPr id="28" name="Text 20"/>
          <p:cNvSpPr txBox="1"/>
          <p:nvPr/>
        </p:nvSpPr>
        <p:spPr>
          <a:xfrm>
            <a:off x="1371600" y="2743200"/>
            <a:ext cx="7223760" cy="374904"/>
          </a:xfrm>
          <a:prstGeom prst="rect">
            <a:avLst/>
          </a:prstGeom>
          <a:noFill/>
          <a:ln/>
        </p:spPr>
        <p:txBody>
          <a:bodyPr wrap="square" lIns="0" tIns="0" rIns="0" bIns="0" rtlCol="0" anchor="ctr"/>
          <a:lstStyle/>
          <a:p>
            <a:pPr indent="0" marL="0">
              <a:buNone/>
            </a:pPr>
            <a:r>
              <a:rPr lang="en-US" sz="1300" dirty="0">
                <a:solidFill>
                  <a:schemeClr val="tx1"/>
                </a:solidFill>
              </a:rPr>
              <a:t>Le funzioni sono disponibili nel nostro piano, paese, configurazione?</a:t>
            </a:r>
            <a:endParaRPr lang="en-US" sz="1300" dirty="0"/>
          </a:p>
        </p:txBody>
      </p:sp>
      <p:sp>
        <p:nvSpPr>
          <p:cNvPr id="29" name="check 6"/>
          <p:cNvSpPr/>
          <p:nvPr/>
        </p:nvSpPr>
        <p:spPr>
          <a:xfrm>
            <a:off x="457200" y="3172968"/>
            <a:ext cx="8229600" cy="374904"/>
          </a:xfrm>
          <a:prstGeom prst="roundRect">
            <a:avLst>
              <a:gd name="adj" fmla="val 19512"/>
            </a:avLst>
          </a:prstGeom>
          <a:solidFill>
            <a:schemeClr val="bg1"/>
          </a:solidFill>
          <a:ln/>
        </p:spPr>
      </p:sp>
      <p:sp>
        <p:nvSpPr>
          <p:cNvPr id="30" name="casella"/>
          <p:cNvSpPr/>
          <p:nvPr/>
        </p:nvSpPr>
        <p:spPr>
          <a:xfrm>
            <a:off x="566928" y="3246120"/>
            <a:ext cx="228600" cy="228600"/>
          </a:xfrm>
          <a:prstGeom prst="roundRect">
            <a:avLst>
              <a:gd name="adj" fmla="val 16000"/>
            </a:avLst>
          </a:prstGeom>
          <a:solidFill>
            <a:schemeClr val="bg1"/>
          </a:solidFill>
          <a:ln w="19050">
            <a:solidFill>
              <a:schemeClr val="accent1"/>
            </a:solidFill>
            <a:prstDash val="solid"/>
          </a:ln>
        </p:spPr>
      </p:sp>
      <p:sp>
        <p:nvSpPr>
          <p:cNvPr id="31" name="cerchio FiShield"/>
          <p:cNvSpPr/>
          <p:nvPr/>
        </p:nvSpPr>
        <p:spPr>
          <a:xfrm>
            <a:off x="914400" y="3200400"/>
            <a:ext cx="320040" cy="320040"/>
          </a:xfrm>
          <a:prstGeom prst="ellipse">
            <a:avLst/>
          </a:prstGeom>
          <a:solidFill>
            <a:schemeClr val="accent1"/>
          </a:solidFill>
          <a:ln/>
        </p:spPr>
      </p:sp>
      <p:pic>
        <p:nvPicPr>
          <p:cNvPr id="32" name="Image 5" descr="FiShield">    </p:cNvPr>
          <p:cNvPicPr>
            <a:picLocks noChangeAspect="1"/>
          </p:cNvPicPr>
          <p:nvPr/>
        </p:nvPicPr>
        <p:blipFill>
          <a:blip r:embed="rId6"/>
          <a:stretch>
            <a:fillRect/>
          </a:stretch>
        </p:blipFill>
        <p:spPr>
          <a:xfrm>
            <a:off x="994410" y="3280410"/>
            <a:ext cx="160020" cy="160020"/>
          </a:xfrm>
          <a:prstGeom prst="rect">
            <a:avLst/>
          </a:prstGeom>
        </p:spPr>
      </p:pic>
      <p:sp>
        <p:nvSpPr>
          <p:cNvPr id="33" name="Text 24"/>
          <p:cNvSpPr txBox="1"/>
          <p:nvPr/>
        </p:nvSpPr>
        <p:spPr>
          <a:xfrm>
            <a:off x="1371600" y="3172968"/>
            <a:ext cx="7223760" cy="374904"/>
          </a:xfrm>
          <a:prstGeom prst="rect">
            <a:avLst/>
          </a:prstGeom>
          <a:noFill/>
          <a:ln/>
        </p:spPr>
        <p:txBody>
          <a:bodyPr wrap="square" lIns="0" tIns="0" rIns="0" bIns="0" rtlCol="0" anchor="ctr"/>
          <a:lstStyle/>
          <a:p>
            <a:pPr indent="0" marL="0">
              <a:buNone/>
            </a:pPr>
            <a:r>
              <a:rPr lang="en-US" sz="1300" dirty="0">
                <a:solidFill>
                  <a:schemeClr val="tx1"/>
                </a:solidFill>
              </a:rPr>
              <a:t>Che cosa succede ai dati? Quali controlli abbiamo?</a:t>
            </a:r>
            <a:endParaRPr lang="en-US" sz="1300" dirty="0"/>
          </a:p>
        </p:txBody>
      </p:sp>
      <p:sp>
        <p:nvSpPr>
          <p:cNvPr id="34" name="check 7"/>
          <p:cNvSpPr/>
          <p:nvPr/>
        </p:nvSpPr>
        <p:spPr>
          <a:xfrm>
            <a:off x="457200" y="3602736"/>
            <a:ext cx="8229600" cy="374904"/>
          </a:xfrm>
          <a:prstGeom prst="roundRect">
            <a:avLst>
              <a:gd name="adj" fmla="val 19512"/>
            </a:avLst>
          </a:prstGeom>
          <a:solidFill>
            <a:schemeClr val="bg2"/>
          </a:solidFill>
          <a:ln/>
        </p:spPr>
      </p:sp>
      <p:sp>
        <p:nvSpPr>
          <p:cNvPr id="35" name="casella"/>
          <p:cNvSpPr/>
          <p:nvPr/>
        </p:nvSpPr>
        <p:spPr>
          <a:xfrm>
            <a:off x="566928" y="3675888"/>
            <a:ext cx="228600" cy="228600"/>
          </a:xfrm>
          <a:prstGeom prst="roundRect">
            <a:avLst>
              <a:gd name="adj" fmla="val 16000"/>
            </a:avLst>
          </a:prstGeom>
          <a:solidFill>
            <a:schemeClr val="bg1"/>
          </a:solidFill>
          <a:ln w="19050">
            <a:solidFill>
              <a:schemeClr val="accent1"/>
            </a:solidFill>
            <a:prstDash val="solid"/>
          </a:ln>
        </p:spPr>
      </p:sp>
      <p:sp>
        <p:nvSpPr>
          <p:cNvPr id="36" name="cerchio FiDollarSign"/>
          <p:cNvSpPr/>
          <p:nvPr/>
        </p:nvSpPr>
        <p:spPr>
          <a:xfrm>
            <a:off x="914400" y="3630168"/>
            <a:ext cx="320040" cy="320040"/>
          </a:xfrm>
          <a:prstGeom prst="ellipse">
            <a:avLst/>
          </a:prstGeom>
          <a:solidFill>
            <a:schemeClr val="accent1"/>
          </a:solidFill>
          <a:ln/>
        </p:spPr>
      </p:sp>
      <p:pic>
        <p:nvPicPr>
          <p:cNvPr id="37" name="Image 6" descr="FiDollarSign">    </p:cNvPr>
          <p:cNvPicPr>
            <a:picLocks noChangeAspect="1"/>
          </p:cNvPicPr>
          <p:nvPr/>
        </p:nvPicPr>
        <p:blipFill>
          <a:blip r:embed="rId7"/>
          <a:stretch>
            <a:fillRect/>
          </a:stretch>
        </p:blipFill>
        <p:spPr>
          <a:xfrm>
            <a:off x="994410" y="3710178"/>
            <a:ext cx="160020" cy="160020"/>
          </a:xfrm>
          <a:prstGeom prst="rect">
            <a:avLst/>
          </a:prstGeom>
        </p:spPr>
      </p:pic>
      <p:sp>
        <p:nvSpPr>
          <p:cNvPr id="38" name="Text 28"/>
          <p:cNvSpPr txBox="1"/>
          <p:nvPr/>
        </p:nvSpPr>
        <p:spPr>
          <a:xfrm>
            <a:off x="1371600" y="3602736"/>
            <a:ext cx="7223760" cy="374904"/>
          </a:xfrm>
          <a:prstGeom prst="rect">
            <a:avLst/>
          </a:prstGeom>
          <a:noFill/>
          <a:ln/>
        </p:spPr>
        <p:txBody>
          <a:bodyPr wrap="square" lIns="0" tIns="0" rIns="0" bIns="0" rtlCol="0" anchor="ctr"/>
          <a:lstStyle/>
          <a:p>
            <a:pPr indent="0" marL="0">
              <a:buNone/>
            </a:pPr>
            <a:r>
              <a:rPr lang="en-US" sz="1300" dirty="0">
                <a:solidFill>
                  <a:schemeClr val="tx1"/>
                </a:solidFill>
              </a:rPr>
              <a:t>Quanto costa davvero, oltre il listino?</a:t>
            </a:r>
            <a:endParaRPr lang="en-US" sz="1300" dirty="0"/>
          </a:p>
        </p:txBody>
      </p:sp>
      <p:sp>
        <p:nvSpPr>
          <p:cNvPr id="39" name="check 8"/>
          <p:cNvSpPr/>
          <p:nvPr/>
        </p:nvSpPr>
        <p:spPr>
          <a:xfrm>
            <a:off x="457200" y="4032504"/>
            <a:ext cx="8229600" cy="374904"/>
          </a:xfrm>
          <a:prstGeom prst="roundRect">
            <a:avLst>
              <a:gd name="adj" fmla="val 19512"/>
            </a:avLst>
          </a:prstGeom>
          <a:solidFill>
            <a:schemeClr val="bg1"/>
          </a:solidFill>
          <a:ln/>
        </p:spPr>
      </p:sp>
      <p:sp>
        <p:nvSpPr>
          <p:cNvPr id="40" name="casella"/>
          <p:cNvSpPr/>
          <p:nvPr/>
        </p:nvSpPr>
        <p:spPr>
          <a:xfrm>
            <a:off x="566928" y="4105656"/>
            <a:ext cx="228600" cy="228600"/>
          </a:xfrm>
          <a:prstGeom prst="roundRect">
            <a:avLst>
              <a:gd name="adj" fmla="val 16000"/>
            </a:avLst>
          </a:prstGeom>
          <a:solidFill>
            <a:schemeClr val="bg1"/>
          </a:solidFill>
          <a:ln w="19050">
            <a:solidFill>
              <a:schemeClr val="accent1"/>
            </a:solidFill>
            <a:prstDash val="solid"/>
          </a:ln>
        </p:spPr>
      </p:sp>
      <p:sp>
        <p:nvSpPr>
          <p:cNvPr id="41" name="cerchio FiLogOut"/>
          <p:cNvSpPr/>
          <p:nvPr/>
        </p:nvSpPr>
        <p:spPr>
          <a:xfrm>
            <a:off x="914400" y="4059936"/>
            <a:ext cx="320040" cy="320040"/>
          </a:xfrm>
          <a:prstGeom prst="ellipse">
            <a:avLst/>
          </a:prstGeom>
          <a:solidFill>
            <a:schemeClr val="accent1"/>
          </a:solidFill>
          <a:ln/>
        </p:spPr>
      </p:sp>
      <p:pic>
        <p:nvPicPr>
          <p:cNvPr id="42" name="Image 7" descr="FiLogOut">    </p:cNvPr>
          <p:cNvPicPr>
            <a:picLocks noChangeAspect="1"/>
          </p:cNvPicPr>
          <p:nvPr/>
        </p:nvPicPr>
        <p:blipFill>
          <a:blip r:embed="rId8"/>
          <a:stretch>
            <a:fillRect/>
          </a:stretch>
        </p:blipFill>
        <p:spPr>
          <a:xfrm>
            <a:off x="994410" y="4139946"/>
            <a:ext cx="160020" cy="160020"/>
          </a:xfrm>
          <a:prstGeom prst="rect">
            <a:avLst/>
          </a:prstGeom>
        </p:spPr>
      </p:pic>
      <p:sp>
        <p:nvSpPr>
          <p:cNvPr id="43" name="Text 32"/>
          <p:cNvSpPr txBox="1"/>
          <p:nvPr/>
        </p:nvSpPr>
        <p:spPr>
          <a:xfrm>
            <a:off x="1371600" y="4032504"/>
            <a:ext cx="7223760" cy="374904"/>
          </a:xfrm>
          <a:prstGeom prst="rect">
            <a:avLst/>
          </a:prstGeom>
          <a:noFill/>
          <a:ln/>
        </p:spPr>
        <p:txBody>
          <a:bodyPr wrap="square" lIns="0" tIns="0" rIns="0" bIns="0" rtlCol="0" anchor="ctr"/>
          <a:lstStyle/>
          <a:p>
            <a:pPr indent="0" marL="0">
              <a:buNone/>
            </a:pPr>
            <a:r>
              <a:rPr lang="en-US" sz="1300" dirty="0">
                <a:solidFill>
                  <a:schemeClr val="tx1"/>
                </a:solidFill>
              </a:rPr>
              <a:t>Possiamo uscire, portando dati e configurazioni?</a:t>
            </a:r>
            <a:endParaRPr lang="en-US" sz="1300" dirty="0"/>
          </a:p>
        </p:txBody>
      </p:sp>
      <p:sp>
        <p:nvSpPr>
          <p:cNvPr id="44" name="Text 33"/>
          <p:cNvSpPr txBox="1"/>
          <p:nvPr/>
        </p:nvSpPr>
        <p:spPr>
          <a:xfrm>
            <a:off x="457200" y="4480560"/>
            <a:ext cx="8229600" cy="228600"/>
          </a:xfrm>
          <a:prstGeom prst="rect">
            <a:avLst/>
          </a:prstGeom>
          <a:noFill/>
          <a:ln/>
        </p:spPr>
        <p:txBody>
          <a:bodyPr wrap="square" lIns="0" tIns="0" rIns="0" bIns="0" rtlCol="0" anchor="t"/>
          <a:lstStyle/>
          <a:p>
            <a:pPr indent="0" marL="0">
              <a:buNone/>
            </a:pPr>
            <a:r>
              <a:rPr lang="en-US" sz="1200" i="1" dirty="0">
                <a:solidFill>
                  <a:schemeClr val="tx1"/>
                </a:solidFill>
              </a:rPr>
              <a:t>Se a una domanda non sappiamo rispondere, è un'informazione da cercare prima della scelta.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Prossimo passo: il Tema 5</a:t>
            </a:r>
            <a:endParaRPr lang="en-US" sz="2600" dirty="0"/>
          </a:p>
        </p:txBody>
      </p:sp>
      <p:sp>
        <p:nvSpPr>
          <p:cNvPr id="4" name="area comprendere"/>
          <p:cNvSpPr/>
          <p:nvPr/>
        </p:nvSpPr>
        <p:spPr>
          <a:xfrm>
            <a:off x="457200" y="1097280"/>
            <a:ext cx="3291840" cy="3429000"/>
          </a:xfrm>
          <a:prstGeom prst="roundRect">
            <a:avLst>
              <a:gd name="adj" fmla="val 2222"/>
            </a:avLst>
          </a:prstGeom>
          <a:solidFill>
            <a:schemeClr val="bg2"/>
          </a:solidFill>
          <a:ln/>
        </p:spPr>
      </p:sp>
      <p:sp>
        <p:nvSpPr>
          <p:cNvPr id="5" name="Text 2"/>
          <p:cNvSpPr txBox="1"/>
          <p:nvPr/>
        </p:nvSpPr>
        <p:spPr>
          <a:xfrm>
            <a:off x="685800" y="1280160"/>
            <a:ext cx="2834640" cy="320040"/>
          </a:xfrm>
          <a:prstGeom prst="rect">
            <a:avLst/>
          </a:prstGeom>
          <a:noFill/>
          <a:ln/>
        </p:spPr>
        <p:txBody>
          <a:bodyPr wrap="square" lIns="0" tIns="0" rIns="0" bIns="0" rtlCol="0" anchor="t"/>
          <a:lstStyle/>
          <a:p>
            <a:pPr indent="0" marL="0">
              <a:buNone/>
            </a:pPr>
            <a:r>
              <a:rPr lang="en-US" sz="1300" b="1" spc="200" kern="0" dirty="0">
                <a:solidFill>
                  <a:schemeClr val="accent2"/>
                </a:solidFill>
              </a:rPr>
              <a:t>AREA COMPLETATA</a:t>
            </a:r>
            <a:endParaRPr lang="en-US" sz="1300" dirty="0"/>
          </a:p>
        </p:txBody>
      </p:sp>
      <p:sp>
        <p:nvSpPr>
          <p:cNvPr id="6" name="Text 3"/>
          <p:cNvSpPr txBox="1"/>
          <p:nvPr/>
        </p:nvSpPr>
        <p:spPr>
          <a:xfrm>
            <a:off x="685800" y="1645920"/>
            <a:ext cx="2834640" cy="457200"/>
          </a:xfrm>
          <a:prstGeom prst="rect">
            <a:avLst/>
          </a:prstGeom>
          <a:noFill/>
          <a:ln/>
        </p:spPr>
        <p:txBody>
          <a:bodyPr wrap="square" lIns="0" tIns="0" rIns="0" bIns="0" rtlCol="0" anchor="t"/>
          <a:lstStyle/>
          <a:p>
            <a:pPr indent="0" marL="0">
              <a:buNone/>
            </a:pPr>
            <a:r>
              <a:rPr lang="en-US" sz="1800" b="1" dirty="0">
                <a:solidFill>
                  <a:schemeClr val="tx1"/>
                </a:solidFill>
              </a:rPr>
              <a:t>Comprendere l'AI</a:t>
            </a:r>
            <a:endParaRPr lang="en-US" sz="1800" dirty="0"/>
          </a:p>
        </p:txBody>
      </p:sp>
      <p:sp>
        <p:nvSpPr>
          <p:cNvPr id="7" name="Text 4"/>
          <p:cNvSpPr txBox="1"/>
          <p:nvPr/>
        </p:nvSpPr>
        <p:spPr>
          <a:xfrm>
            <a:off x="685800" y="2240280"/>
            <a:ext cx="2926080" cy="201168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2"/>
                </a:solidFill>
              </a:rPr>
              <a:t>Tema 1: evoluzione e rilevanza</a:t>
            </a:r>
            <a:endParaRPr lang="en-US" sz="1300" dirty="0"/>
          </a:p>
          <a:p>
            <a:pPr marL="177800" indent="-177800">
              <a:spcAft>
                <a:spcPts val="400"/>
              </a:spcAft>
              <a:buSzPct val="100000"/>
              <a:buChar char="•"/>
            </a:pPr>
            <a:r>
              <a:rPr lang="en-US" sz="1300" dirty="0">
                <a:solidFill>
                  <a:schemeClr val="tx2"/>
                </a:solidFill>
              </a:rPr>
              <a:t>Tema 2: fondamenti e funzionamento</a:t>
            </a:r>
            <a:endParaRPr lang="en-US" sz="1300" dirty="0"/>
          </a:p>
          <a:p>
            <a:pPr marL="177800" indent="-177800">
              <a:spcAft>
                <a:spcPts val="400"/>
              </a:spcAft>
              <a:buSzPct val="100000"/>
              <a:buChar char="•"/>
            </a:pPr>
            <a:r>
              <a:rPr lang="en-US" sz="1300" dirty="0">
                <a:solidFill>
                  <a:schemeClr val="tx2"/>
                </a:solidFill>
              </a:rPr>
              <a:t>Tema 3: capacità, limiti, affidabilità</a:t>
            </a:r>
            <a:endParaRPr lang="en-US" sz="1300" dirty="0"/>
          </a:p>
          <a:p>
            <a:pPr marL="177800" indent="-177800">
              <a:spcAft>
                <a:spcPts val="400"/>
              </a:spcAft>
              <a:buSzPct val="100000"/>
              <a:buChar char="•"/>
            </a:pPr>
            <a:r>
              <a:rPr lang="en-US" sz="1300" dirty="0">
                <a:solidFill>
                  <a:schemeClr val="tx2"/>
                </a:solidFill>
              </a:rPr>
              <a:t>Tema 4: ecosistema AI</a:t>
            </a:r>
            <a:endParaRPr lang="en-US" sz="1300" dirty="0"/>
          </a:p>
        </p:txBody>
      </p:sp>
      <p:sp>
        <p:nvSpPr>
          <p:cNvPr id="8" name="freccia"/>
          <p:cNvSpPr/>
          <p:nvPr/>
        </p:nvSpPr>
        <p:spPr>
          <a:xfrm>
            <a:off x="3886200" y="2651760"/>
            <a:ext cx="502920" cy="292608"/>
          </a:xfrm>
          <a:prstGeom prst="rightArrow">
            <a:avLst/>
          </a:prstGeom>
          <a:solidFill>
            <a:schemeClr val="accent1"/>
          </a:solidFill>
          <a:ln/>
        </p:spPr>
      </p:sp>
      <p:sp>
        <p:nvSpPr>
          <p:cNvPr id="9" name="tema 5"/>
          <p:cNvSpPr/>
          <p:nvPr/>
        </p:nvSpPr>
        <p:spPr>
          <a:xfrm>
            <a:off x="4526280" y="1097280"/>
            <a:ext cx="4160520" cy="3429000"/>
          </a:xfrm>
          <a:prstGeom prst="roundRect">
            <a:avLst>
              <a:gd name="adj" fmla="val 2133"/>
            </a:avLst>
          </a:prstGeom>
          <a:solidFill>
            <a:schemeClr val="tx1"/>
          </a:solidFill>
          <a:ln/>
        </p:spPr>
      </p:sp>
      <p:sp>
        <p:nvSpPr>
          <p:cNvPr id="10" name="Text 7"/>
          <p:cNvSpPr txBox="1"/>
          <p:nvPr/>
        </p:nvSpPr>
        <p:spPr>
          <a:xfrm>
            <a:off x="4754880" y="1280160"/>
            <a:ext cx="3657600" cy="320040"/>
          </a:xfrm>
          <a:prstGeom prst="rect">
            <a:avLst/>
          </a:prstGeom>
          <a:noFill/>
          <a:ln/>
        </p:spPr>
        <p:txBody>
          <a:bodyPr wrap="square" lIns="0" tIns="0" rIns="0" bIns="0" rtlCol="0" anchor="t"/>
          <a:lstStyle/>
          <a:p>
            <a:pPr indent="0" marL="0">
              <a:buNone/>
            </a:pPr>
            <a:r>
              <a:rPr lang="en-US" sz="1300" b="1" spc="200" kern="0" dirty="0">
                <a:solidFill>
                  <a:schemeClr val="accent1"/>
                </a:solidFill>
              </a:rPr>
              <a:t>TEMA 5</a:t>
            </a:r>
            <a:endParaRPr lang="en-US" sz="1300" dirty="0"/>
          </a:p>
        </p:txBody>
      </p:sp>
      <p:sp>
        <p:nvSpPr>
          <p:cNvPr id="11" name="Text 8"/>
          <p:cNvSpPr txBox="1"/>
          <p:nvPr/>
        </p:nvSpPr>
        <p:spPr>
          <a:xfrm>
            <a:off x="4754880" y="1645920"/>
            <a:ext cx="3749040" cy="457200"/>
          </a:xfrm>
          <a:prstGeom prst="rect">
            <a:avLst/>
          </a:prstGeom>
          <a:noFill/>
          <a:ln/>
        </p:spPr>
        <p:txBody>
          <a:bodyPr wrap="square" lIns="0" tIns="0" rIns="0" bIns="0" rtlCol="0" anchor="t"/>
          <a:lstStyle/>
          <a:p>
            <a:pPr indent="0" marL="0">
              <a:buNone/>
            </a:pPr>
            <a:r>
              <a:rPr lang="en-US" sz="1800" b="1" dirty="0">
                <a:solidFill>
                  <a:schemeClr val="bg1"/>
                </a:solidFill>
              </a:rPr>
              <a:t>Il dialogo uomo-AI</a:t>
            </a:r>
            <a:endParaRPr lang="en-US" sz="1800" dirty="0"/>
          </a:p>
        </p:txBody>
      </p:sp>
      <p:sp>
        <p:nvSpPr>
          <p:cNvPr id="12" name="Text 9"/>
          <p:cNvSpPr txBox="1"/>
          <p:nvPr/>
        </p:nvSpPr>
        <p:spPr>
          <a:xfrm>
            <a:off x="4754880" y="2240280"/>
            <a:ext cx="3749040" cy="2103120"/>
          </a:xfrm>
          <a:prstGeom prst="rect">
            <a:avLst/>
          </a:prstGeom>
          <a:noFill/>
          <a:ln/>
        </p:spPr>
        <p:txBody>
          <a:bodyPr wrap="square" lIns="0" tIns="0" rIns="0" bIns="0" rtlCol="0" anchor="t"/>
          <a:lstStyle/>
          <a:p>
            <a:pPr marL="177800" indent="-177800">
              <a:spcAft>
                <a:spcPts val="300"/>
              </a:spcAft>
              <a:buSzPct val="100000"/>
              <a:buChar char="•"/>
            </a:pPr>
            <a:r>
              <a:rPr lang="en-US" sz="1400" dirty="0">
                <a:solidFill>
                  <a:schemeClr val="accent3"/>
                </a:solidFill>
              </a:rPr>
              <a:t>Il linguaggio naturale come interfaccia</a:t>
            </a:r>
            <a:endParaRPr lang="en-US" sz="1400" dirty="0"/>
          </a:p>
          <a:p>
            <a:pPr marL="177800" indent="-177800">
              <a:spcAft>
                <a:spcPts val="300"/>
              </a:spcAft>
              <a:buSzPct val="100000"/>
              <a:buChar char="•"/>
            </a:pPr>
            <a:r>
              <a:rPr lang="en-US" sz="1400" dirty="0">
                <a:solidFill>
                  <a:schemeClr val="accent3"/>
                </a:solidFill>
              </a:rPr>
              <a:t>Dalla domanda alla conversazione</a:t>
            </a:r>
            <a:endParaRPr lang="en-US" sz="1400" dirty="0"/>
          </a:p>
          <a:p>
            <a:pPr marL="177800" indent="-177800">
              <a:spcAft>
                <a:spcPts val="300"/>
              </a:spcAft>
              <a:buSzPct val="100000"/>
              <a:buChar char="•"/>
            </a:pPr>
            <a:r>
              <a:rPr lang="en-US" sz="1400" dirty="0">
                <a:solidFill>
                  <a:schemeClr val="accent3"/>
                </a:solidFill>
              </a:rPr>
              <a:t>Collaborazione e livelli di delega</a:t>
            </a:r>
            <a:endParaRPr lang="en-US" sz="1400" dirty="0"/>
          </a:p>
          <a:p>
            <a:pPr marL="177800" indent="-177800">
              <a:spcAft>
                <a:spcPts val="300"/>
              </a:spcAft>
              <a:buSzPct val="100000"/>
              <a:buChar char="•"/>
            </a:pPr>
            <a:r>
              <a:rPr lang="en-US" sz="1400" dirty="0">
                <a:solidFill>
                  <a:schemeClr val="accent3"/>
                </a:solidFill>
              </a:rPr>
              <a:t>A seguire, Tema 6: prompting</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Nota sull'aggiornamento dei contenuti</a:t>
            </a:r>
            <a:endParaRPr lang="en-US" sz="2600" dirty="0"/>
          </a:p>
        </p:txBody>
      </p:sp>
      <p:sp>
        <p:nvSpPr>
          <p:cNvPr id="4" name="cerchio FiRefreshCw"/>
          <p:cNvSpPr/>
          <p:nvPr/>
        </p:nvSpPr>
        <p:spPr>
          <a:xfrm>
            <a:off x="457200" y="1143000"/>
            <a:ext cx="548640" cy="548640"/>
          </a:xfrm>
          <a:prstGeom prst="ellipse">
            <a:avLst/>
          </a:prstGeom>
          <a:solidFill>
            <a:schemeClr val="accent1"/>
          </a:solidFill>
          <a:ln/>
        </p:spPr>
      </p:sp>
      <p:pic>
        <p:nvPicPr>
          <p:cNvPr id="5" name="Image 0" descr="FiRefreshCw">    </p:cNvPr>
          <p:cNvPicPr>
            <a:picLocks noChangeAspect="1"/>
          </p:cNvPicPr>
          <p:nvPr/>
        </p:nvPicPr>
        <p:blipFill>
          <a:blip r:embed="rId1"/>
          <a:stretch>
            <a:fillRect/>
          </a:stretch>
        </p:blipFill>
        <p:spPr>
          <a:xfrm>
            <a:off x="594360" y="1280160"/>
            <a:ext cx="274320" cy="274320"/>
          </a:xfrm>
          <a:prstGeom prst="rect">
            <a:avLst/>
          </a:prstGeom>
        </p:spPr>
      </p:pic>
      <p:sp>
        <p:nvSpPr>
          <p:cNvPr id="6" name="Text 2"/>
          <p:cNvSpPr txBox="1"/>
          <p:nvPr/>
        </p:nvSpPr>
        <p:spPr>
          <a:xfrm>
            <a:off x="1188720" y="1143000"/>
            <a:ext cx="7498080" cy="548640"/>
          </a:xfrm>
          <a:prstGeom prst="rect">
            <a:avLst/>
          </a:prstGeom>
          <a:noFill/>
          <a:ln/>
        </p:spPr>
        <p:txBody>
          <a:bodyPr wrap="square" lIns="0" tIns="0" rIns="0" bIns="0" rtlCol="0" anchor="ctr"/>
          <a:lstStyle/>
          <a:p>
            <a:pPr indent="0" marL="0">
              <a:buNone/>
            </a:pPr>
            <a:r>
              <a:rPr lang="en-US" sz="1600" b="1" dirty="0">
                <a:solidFill>
                  <a:schemeClr val="tx1"/>
                </a:solidFill>
              </a:rPr>
              <a:t>Da verificare prima di ogni edizione</a:t>
            </a:r>
            <a:endParaRPr lang="en-US" sz="1600" dirty="0"/>
          </a:p>
        </p:txBody>
      </p:sp>
      <p:sp>
        <p:nvSpPr>
          <p:cNvPr id="7" name="riga 0"/>
          <p:cNvSpPr/>
          <p:nvPr/>
        </p:nvSpPr>
        <p:spPr>
          <a:xfrm>
            <a:off x="457200" y="1828800"/>
            <a:ext cx="8229600" cy="457200"/>
          </a:xfrm>
          <a:prstGeom prst="roundRect">
            <a:avLst>
              <a:gd name="adj" fmla="val 16000"/>
            </a:avLst>
          </a:prstGeom>
          <a:solidFill>
            <a:schemeClr val="bg2"/>
          </a:solidFill>
          <a:ln/>
        </p:spPr>
      </p:sp>
      <p:sp>
        <p:nvSpPr>
          <p:cNvPr id="8" name="Text 4"/>
          <p:cNvSpPr txBox="1"/>
          <p:nvPr/>
        </p:nvSpPr>
        <p:spPr>
          <a:xfrm>
            <a:off x="640080" y="1828800"/>
            <a:ext cx="7863840" cy="457200"/>
          </a:xfrm>
          <a:prstGeom prst="rect">
            <a:avLst/>
          </a:prstGeom>
          <a:noFill/>
          <a:ln/>
        </p:spPr>
        <p:txBody>
          <a:bodyPr wrap="square" lIns="0" tIns="0" rIns="0" bIns="0" rtlCol="0" anchor="ctr"/>
          <a:lstStyle/>
          <a:p>
            <a:pPr indent="0" marL="0">
              <a:buNone/>
            </a:pPr>
            <a:r>
              <a:rPr lang="en-US" sz="1300" dirty="0">
                <a:solidFill>
                  <a:schemeClr val="tx1"/>
                </a:solidFill>
              </a:rPr>
              <a:t>Nomi, fornitori e integrazioni degli assistenti citati (4.3)</a:t>
            </a:r>
            <a:endParaRPr lang="en-US" sz="1300" dirty="0"/>
          </a:p>
        </p:txBody>
      </p:sp>
      <p:sp>
        <p:nvSpPr>
          <p:cNvPr id="9" name="riga 1"/>
          <p:cNvSpPr/>
          <p:nvPr/>
        </p:nvSpPr>
        <p:spPr>
          <a:xfrm>
            <a:off x="457200" y="2359152"/>
            <a:ext cx="8229600" cy="457200"/>
          </a:xfrm>
          <a:prstGeom prst="roundRect">
            <a:avLst>
              <a:gd name="adj" fmla="val 16000"/>
            </a:avLst>
          </a:prstGeom>
          <a:solidFill>
            <a:schemeClr val="bg1"/>
          </a:solidFill>
          <a:ln/>
        </p:spPr>
      </p:sp>
      <p:sp>
        <p:nvSpPr>
          <p:cNvPr id="10" name="Text 6"/>
          <p:cNvSpPr txBox="1"/>
          <p:nvPr/>
        </p:nvSpPr>
        <p:spPr>
          <a:xfrm>
            <a:off x="640080" y="2359152"/>
            <a:ext cx="7863840" cy="457200"/>
          </a:xfrm>
          <a:prstGeom prst="rect">
            <a:avLst/>
          </a:prstGeom>
          <a:noFill/>
          <a:ln/>
        </p:spPr>
        <p:txBody>
          <a:bodyPr wrap="square" lIns="0" tIns="0" rIns="0" bIns="0" rtlCol="0" anchor="ctr"/>
          <a:lstStyle/>
          <a:p>
            <a:pPr indent="0" marL="0">
              <a:buNone/>
            </a:pPr>
            <a:r>
              <a:rPr lang="en-US" sz="1300" dirty="0">
                <a:solidFill>
                  <a:schemeClr val="tx1"/>
                </a:solidFill>
              </a:rPr>
              <a:t>Disponibilità delle funzioni in Italia e nell'Unione europea</a:t>
            </a:r>
            <a:endParaRPr lang="en-US" sz="1300" dirty="0"/>
          </a:p>
        </p:txBody>
      </p:sp>
      <p:sp>
        <p:nvSpPr>
          <p:cNvPr id="11" name="riga 2"/>
          <p:cNvSpPr/>
          <p:nvPr/>
        </p:nvSpPr>
        <p:spPr>
          <a:xfrm>
            <a:off x="457200" y="2889504"/>
            <a:ext cx="8229600" cy="457200"/>
          </a:xfrm>
          <a:prstGeom prst="roundRect">
            <a:avLst>
              <a:gd name="adj" fmla="val 16000"/>
            </a:avLst>
          </a:prstGeom>
          <a:solidFill>
            <a:schemeClr val="bg2"/>
          </a:solidFill>
          <a:ln/>
        </p:spPr>
      </p:sp>
      <p:sp>
        <p:nvSpPr>
          <p:cNvPr id="12" name="Text 8"/>
          <p:cNvSpPr txBox="1"/>
          <p:nvPr/>
        </p:nvSpPr>
        <p:spPr>
          <a:xfrm>
            <a:off x="640080" y="2889504"/>
            <a:ext cx="7863840" cy="457200"/>
          </a:xfrm>
          <a:prstGeom prst="rect">
            <a:avLst/>
          </a:prstGeom>
          <a:noFill/>
          <a:ln/>
        </p:spPr>
        <p:txBody>
          <a:bodyPr wrap="square" lIns="0" tIns="0" rIns="0" bIns="0" rtlCol="0" anchor="ctr"/>
          <a:lstStyle/>
          <a:p>
            <a:pPr indent="0" marL="0">
              <a:buNone/>
            </a:pPr>
            <a:r>
              <a:rPr lang="en-US" sz="1300" dirty="0">
                <a:solidFill>
                  <a:schemeClr val="tx1"/>
                </a:solidFill>
              </a:rPr>
              <a:t>Esempi di famiglie di modelli proprietari e open-weight (4.2)</a:t>
            </a:r>
            <a:endParaRPr lang="en-US" sz="1300" dirty="0"/>
          </a:p>
        </p:txBody>
      </p:sp>
      <p:sp>
        <p:nvSpPr>
          <p:cNvPr id="13" name="riga 3"/>
          <p:cNvSpPr/>
          <p:nvPr/>
        </p:nvSpPr>
        <p:spPr>
          <a:xfrm>
            <a:off x="457200" y="3419856"/>
            <a:ext cx="8229600" cy="457200"/>
          </a:xfrm>
          <a:prstGeom prst="roundRect">
            <a:avLst>
              <a:gd name="adj" fmla="val 16000"/>
            </a:avLst>
          </a:prstGeom>
          <a:solidFill>
            <a:schemeClr val="bg1"/>
          </a:solidFill>
          <a:ln/>
        </p:spPr>
      </p:sp>
      <p:sp>
        <p:nvSpPr>
          <p:cNvPr id="14" name="Text 10"/>
          <p:cNvSpPr txBox="1"/>
          <p:nvPr/>
        </p:nvSpPr>
        <p:spPr>
          <a:xfrm>
            <a:off x="640080" y="3419856"/>
            <a:ext cx="7863840" cy="457200"/>
          </a:xfrm>
          <a:prstGeom prst="rect">
            <a:avLst/>
          </a:prstGeom>
          <a:noFill/>
          <a:ln/>
        </p:spPr>
        <p:txBody>
          <a:bodyPr wrap="square" lIns="0" tIns="0" rIns="0" bIns="0" rtlCol="0" anchor="ctr"/>
          <a:lstStyle/>
          <a:p>
            <a:pPr indent="0" marL="0">
              <a:buNone/>
            </a:pPr>
            <a:r>
              <a:rPr lang="en-US" sz="1300" dirty="0">
                <a:solidFill>
                  <a:schemeClr val="tx1"/>
                </a:solidFill>
              </a:rPr>
              <a:t>Differenze tra versioni individuali, team ed enterprise (4.6)</a:t>
            </a:r>
            <a:endParaRPr lang="en-US" sz="1300" dirty="0"/>
          </a:p>
        </p:txBody>
      </p:sp>
      <p:sp>
        <p:nvSpPr>
          <p:cNvPr id="15" name="riga 4"/>
          <p:cNvSpPr/>
          <p:nvPr/>
        </p:nvSpPr>
        <p:spPr>
          <a:xfrm>
            <a:off x="457200" y="3950208"/>
            <a:ext cx="8229600" cy="457200"/>
          </a:xfrm>
          <a:prstGeom prst="roundRect">
            <a:avLst>
              <a:gd name="adj" fmla="val 16000"/>
            </a:avLst>
          </a:prstGeom>
          <a:solidFill>
            <a:schemeClr val="bg2"/>
          </a:solidFill>
          <a:ln/>
        </p:spPr>
      </p:sp>
      <p:sp>
        <p:nvSpPr>
          <p:cNvPr id="16" name="Text 12"/>
          <p:cNvSpPr txBox="1"/>
          <p:nvPr/>
        </p:nvSpPr>
        <p:spPr>
          <a:xfrm>
            <a:off x="640080" y="3950208"/>
            <a:ext cx="7863840" cy="457200"/>
          </a:xfrm>
          <a:prstGeom prst="rect">
            <a:avLst/>
          </a:prstGeom>
          <a:noFill/>
          <a:ln/>
        </p:spPr>
        <p:txBody>
          <a:bodyPr wrap="square" lIns="0" tIns="0" rIns="0" bIns="0" rtlCol="0" anchor="ctr"/>
          <a:lstStyle/>
          <a:p>
            <a:pPr indent="0" marL="0">
              <a:buNone/>
            </a:pPr>
            <a:r>
              <a:rPr lang="en-US" sz="1300" dirty="0">
                <a:solidFill>
                  <a:schemeClr val="tx1"/>
                </a:solidFill>
              </a:rPr>
              <a:t>Novità recenti da usare come esempio (4.8)</a:t>
            </a:r>
            <a:endParaRPr lang="en-US" sz="1300" dirty="0"/>
          </a:p>
        </p:txBody>
      </p:sp>
      <p:sp>
        <p:nvSpPr>
          <p:cNvPr id="17" name="Text 13"/>
          <p:cNvSpPr txBox="1"/>
          <p:nvPr/>
        </p:nvSpPr>
        <p:spPr>
          <a:xfrm>
            <a:off x="457200" y="4526280"/>
            <a:ext cx="8229600" cy="228600"/>
          </a:xfrm>
          <a:prstGeom prst="rect">
            <a:avLst/>
          </a:prstGeom>
          <a:noFill/>
          <a:ln/>
        </p:spPr>
        <p:txBody>
          <a:bodyPr wrap="square" lIns="0" tIns="0" rIns="0" bIns="0" rtlCol="0" anchor="t"/>
          <a:lstStyle/>
          <a:p>
            <a:pPr indent="0" marL="0">
              <a:buNone/>
            </a:pPr>
            <a:r>
              <a:rPr lang="en-US" sz="1000" i="1" dirty="0">
                <a:solidFill>
                  <a:schemeClr val="accent2"/>
                </a:solidFill>
              </a:rPr>
              <a:t>Fonti: documentazione ufficiale e note di rilascio dei fornitori; Open Source Initiative, Open Source AI Definition 1.0 (2024).</a:t>
            </a:r>
            <a:endParaRPr lang="en-US" sz="10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68</a:t>
            </a:fld>
            <a:endParaRPr lang="en-US"/>
          </a:p>
        </p:txBody>
      </p:sp>
    </p:spTree>
  </p:cSld>
  <p:clrMapOvr>
    <a:masterClrMapping/>
  </p:clrMapOvr>
</p:sld>
</file>

<file path=ppt/theme/theme1.xml><?xml version="1.0" encoding="utf-8"?>
<a:theme xmlns:a="http://schemas.openxmlformats.org/drawingml/2006/main" name="AI Literacy Neutro">
  <a:themeElements>
    <a:clrScheme name="AI Literacy Neutro">
      <a:dk1>
        <a:srgbClr val="22262B"/>
      </a:dk1>
      <a:lt1>
        <a:srgbClr val="FFFFFF"/>
      </a:lt1>
      <a:dk2>
        <a:srgbClr val="4A515C"/>
      </a:dk2>
      <a:lt2>
        <a:srgbClr val="F2F3F5"/>
      </a:lt2>
      <a:accent1>
        <a:srgbClr val="2E7D7A"/>
      </a:accent1>
      <a:accent2>
        <a:srgbClr val="8A939E"/>
      </a:accent2>
      <a:accent3>
        <a:srgbClr val="D5D9DE"/>
      </a:accent3>
      <a:accent4>
        <a:srgbClr val="5B6573"/>
      </a:accent4>
      <a:accent5>
        <a:srgbClr val="A86F1C"/>
      </a:accent5>
      <a:accent6>
        <a:srgbClr val="E6F0EF"/>
      </a:accent6>
      <a:hlink>
        <a:srgbClr val="2E7D7A"/>
      </a:hlink>
      <a:folHlink>
        <a:srgbClr val="5B6573"/>
      </a:folHlink>
    </a:clrScheme>
    <a:fontScheme name="AI Literacy Neutro">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68</Slides>
  <Notes>68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68</vt:i4>
      </vt:variant>
    </vt:vector>
  </HeadingPairs>
  <TitlesOfParts>
    <vt:vector size="7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Tema 4: Ecosistema AI: modelli, strumenti e piattaforme</dc:title>
  <dc:subject>Percorso AI Literacy</dc:subject>
  <dc:creator>Percorso AI Literacy</dc:creator>
  <cp:lastModifiedBy>Percorso AI Literacy</cp:lastModifiedBy>
  <cp:revision>1</cp:revision>
  <dcterms:created xsi:type="dcterms:W3CDTF">2026-10-08T16:39:02Z</dcterms:created>
  <dcterms:modified xsi:type="dcterms:W3CDTF">2026-10-08T16:39:02Z</dcterms:modified>
</cp:coreProperties>
</file>