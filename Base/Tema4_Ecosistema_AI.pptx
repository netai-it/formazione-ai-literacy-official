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9" r:id="rId5"/>
    <p:sldId id="261" r:id="rId7"/>
    <p:sldId id="262" r:id="rId8"/>
    <p:sldId id="264" r:id="rId10"/>
    <p:sldId id="265" r:id="rId11"/>
    <p:sldId id="266" r:id="rId12"/>
    <p:sldId id="269" r:id="rId15"/>
    <p:sldId id="270" r:id="rId16"/>
    <p:sldId id="271" r:id="rId17"/>
    <p:sldId id="272" r:id="rId18"/>
    <p:sldId id="273" r:id="rId19"/>
    <p:sldId id="276" r:id="rId22"/>
    <p:sldId id="277" r:id="rId23"/>
    <p:sldId id="278" r:id="rId24"/>
    <p:sldId id="279" r:id="rId25"/>
    <p:sldId id="280" r:id="rId26"/>
    <p:sldId id="311" r:id="rId57"/>
    <p:sldId id="284" r:id="rId30"/>
    <p:sldId id="285" r:id="rId31"/>
    <p:sldId id="286" r:id="rId32"/>
    <p:sldId id="287" r:id="rId33"/>
    <p:sldId id="289" r:id="rId35"/>
    <p:sldId id="291" r:id="rId37"/>
    <p:sldId id="292" r:id="rId38"/>
    <p:sldId id="293" r:id="rId39"/>
    <p:sldId id="294" r:id="rId40"/>
    <p:sldId id="326" r:id="rId77"/>
    <p:sldId id="295" r:id="rId41"/>
    <p:sldId id="296" r:id="rId42"/>
    <p:sldId id="299" r:id="rId45"/>
    <p:sldId id="300" r:id="rId46"/>
    <p:sldId id="301" r:id="rId47"/>
    <p:sldId id="302" r:id="rId48"/>
    <p:sldId id="303" r:id="rId49"/>
    <p:sldId id="305" r:id="rId51"/>
    <p:sldId id="306" r:id="rId52"/>
    <p:sldId id="307" r:id="rId53"/>
    <p:sldId id="308" r:id="rId54"/>
    <p:sldId id="309" r:id="rId55"/>
    <p:sldId id="310" r:id="rId56"/>
    <p:sldId id="312" r:id="rId58"/>
    <p:sldId id="314" r:id="rId60"/>
    <p:sldId id="315" r:id="rId61"/>
    <p:sldId id="317" r:id="rId63"/>
    <p:sldId id="318" r:id="rId64"/>
    <p:sldId id="322" r:id="rId68"/>
    <p:sldId id="324" r:id="rId7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A9332B48-8B21-9E80-69B1-420511C1E63C}">
          <p14:sldIdLst>
            <p14:sldId id="256"/>
            <p14:sldId id="257"/>
            <p14:sldId id="258"/>
            <p14:sldId id="259"/>
            <p14:sldId id="260"/>
          </p14:sldIdLst>
        </p14:section>
        <p14:section name="4.1 Struttura dell'ecosistema" id="{2629C611-BFDB-DB16-2BA6-3875703C42A5}">
          <p14:sldIdLst>
            <p14:sldId id="261"/>
            <p14:sldId id="262"/>
            <p14:sldId id="263"/>
            <p14:sldId id="264"/>
            <p14:sldId id="265"/>
            <p14:sldId id="266"/>
            <p14:sldId id="267"/>
            <p14:sldId id="268"/>
          </p14:sldIdLst>
        </p14:section>
        <p14:section name="4.2 Famiglie di modelli" id="{BAF7A9D9-9F77-E821-C893-4ECF230EB8C3}">
          <p14:sldIdLst>
            <p14:sldId id="269"/>
            <p14:sldId id="270"/>
            <p14:sldId id="271"/>
            <p14:sldId id="272"/>
            <p14:sldId id="273"/>
            <p14:sldId id="274"/>
            <p14:sldId id="275"/>
          </p14:sldIdLst>
        </p14:section>
        <p14:section name="4.3 Piattaforme e strumenti" id="{B503B0A9-7C49-6B1E-20D6-6B0F8944EDD2}">
          <p14:sldIdLst>
            <p14:sldId id="276"/>
            <p14:sldId id="277"/>
            <p14:sldId id="278"/>
            <p14:sldId id="279"/>
            <p14:sldId id="280"/>
            <p14:sldId id="281"/>
            <p14:sldId id="282"/>
            <p14:sldId id="283"/>
          </p14:sldIdLst>
        </p14:section>
        <p14:section name="4.4 Generalista, specializzata, integrata" id="{14107E9D-185F-F5DB-CE84-9A9794BDB282}">
          <p14:sldIdLst>
            <p14:sldId id="284"/>
            <p14:sldId id="285"/>
            <p14:sldId id="286"/>
            <p14:sldId id="287"/>
            <p14:sldId id="288"/>
            <p14:sldId id="289"/>
            <p14:sldId id="290"/>
          </p14:sldIdLst>
        </p14:section>
        <p14:section name="4.5 Chatbot, assistenti, agenti" id="{8047ADB5-DE38-3CE9-0770-3955883F18D1}">
          <p14:sldIdLst>
            <p14:sldId id="291"/>
            <p14:sldId id="292"/>
            <p14:sldId id="293"/>
            <p14:sldId id="294"/>
            <p14:sldId id="295"/>
            <p14:sldId id="296"/>
            <p14:sldId id="297"/>
            <p14:sldId id="298"/>
          </p14:sldIdLst>
        </p14:section>
        <p14:section name="4.6 Modalità di accesso" id="{843CEE21-7609-C848-E26E-C8633E162A90}">
          <p14:sldIdLst>
            <p14:sldId id="299"/>
            <p14:sldId id="300"/>
            <p14:sldId id="301"/>
            <p14:sldId id="302"/>
            <p14:sldId id="303"/>
            <p14:sldId id="304"/>
          </p14:sldIdLst>
        </p14:section>
        <p14:section name="4.7 Criteri di scelta" id="{2C6DEE85-038D-F172-BBE0-9A747F39ADC5}">
          <p14:sldIdLst>
            <p14:sldId id="305"/>
            <p14:sldId id="306"/>
            <p14:sldId id="307"/>
            <p14:sldId id="308"/>
            <p14:sldId id="309"/>
            <p14:sldId id="310"/>
            <p14:sldId id="311"/>
            <p14:sldId id="312"/>
            <p14:sldId id="313"/>
          </p14:sldIdLst>
        </p14:section>
        <p14:section name="4.8 Dinamicità dell'ecosistema" id="{564C34EA-590C-A9B0-A82B-5B0FD0EFD9AA}">
          <p14:sldIdLst>
            <p14:sldId id="314"/>
            <p14:sldId id="315"/>
            <p14:sldId id="316"/>
            <p14:sldId id="317"/>
            <p14:sldId id="318"/>
            <p14:sldId id="319"/>
          </p14:sldIdLst>
        </p14:section>
        <p14:section name="Conclusioni" id="{5611ECBF-92D1-F93D-049B-B32EFF1C4F1A}">
          <p14:sldIdLst>
            <p14:sldId id="320"/>
            <p14:sldId id="321"/>
            <p14:sldId id="322"/>
            <p14:sldId id="323"/>
            <p14:sldId id="324"/>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87841"/>
  </p:normalViewPr>
  <p:slideViewPr>
    <p:cSldViewPr snapToGrid="0" snapToObjects="1">
      <p:cViewPr varScale="1">
        <p:scale>
          <a:sx n="164" d="100"/>
          <a:sy n="164" d="100"/>
        </p:scale>
        <p:origin x="19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5" Type="http://schemas.openxmlformats.org/officeDocument/2006/relationships/slide" Target="slides/slide34.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60" Type="http://schemas.openxmlformats.org/officeDocument/2006/relationships/slide" Target="slides/slide59.xml"/><Relationship Id="rId61" Type="http://schemas.openxmlformats.org/officeDocument/2006/relationships/slide" Target="slides/slide60.xml"/><Relationship Id="rId63" Type="http://schemas.openxmlformats.org/officeDocument/2006/relationships/slide" Target="slides/slide62.xml"/><Relationship Id="rId64" Type="http://schemas.openxmlformats.org/officeDocument/2006/relationships/slide" Target="slides/slide63.xml"/><Relationship Id="rId68" Type="http://schemas.openxmlformats.org/officeDocument/2006/relationships/slide" Target="slides/slide67.xml"/><Relationship Id="rId70" Type="http://schemas.openxmlformats.org/officeDocument/2006/relationships/slide" Target="slides/slide69.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 Id="rId77"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8957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quarto tema del percorso. Nei primi tre temi abbiamo capito perché l'AI è rilevante, come funziona e quanto possiamo fidarci dei suoi risultati. Ora guardiamo al panorama concreto: modelli, applicazioni, piattaforme, modalità di accesso. È un panorama affollato e in continuo movimento, in cui ogni settimana compaiono nuovi prodotti e nuove funzioni. L'obiettivo del modulo non è imparare a usare tutti gli strumenti, né conoscere a memoria il mercato, ma costruire una mappa stabile per orientarsi e criteri per scegliere in modo consapevole. Avvertenza importante per il relatore: esempi di prodotti, funzionalità, piani commerciali, prezzi e disponibilità geografiche cambiano rapidamente. Prima di ogni erogazione è necessario verificarli e, se serve, aggiornare le slide. L'ultima verifica è di ottobre 2026. Suggerimento per l'apertura: chiedere ai partecipanti quali strumenti AI conoscono o usano, anche solo di nome, e scriverli alla lavagna. La lista servirà più volte durante il modulo per collocare ciascuno strumento nella mappa.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fornire una comprensione strutturata dell'ecosistema dell'AI, distinguendo modelli, applicazioni, piattaforme, infrastrutture e modalità di accesso, e sviluppare criteri per orientarsi tra le soluzioni disponibili. La consapevolezza da sviluppare riprende un concetto già incontrato nel Tema 2: il modello non è tutto. Il valore di uno strumento AI dipende anche dalle funzionalità dell'applicazione, dalle integrazioni con gli altri sistemi, dalle condizioni di utilizzo, cioè contratti, gestione dei dati e controlli, e dall'adeguatezza al contesto aziendale. E conoscere l'ecosistema non significa conoscere tutti i prodotti, ma sapersi orientare: capire come sono organizzate le soluzioni e scegliere quelle adatte alle proprie esigenze, invece di inseguire ogni novità.</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filo conduttore del modulo è un percorso dalla mappa alla scelta, in quattro passi. Primo: la struttura dell'ecosistema e le famiglie di modelli, cioè di che cosa è fatta un'applicazione AI e quali modelli esistono, nei sottotemi 4.1 e 4.2. Secondo: i prodotti e gli approcci, cioè come leggere l'offerta e quando conviene uno strumento generalista, una soluzione specializzata o l'AI già presente nei software in uso, nei sottotemi 4.3 e 4.4. Terzo: l'autonomia e l'accesso, cioè la differenza tra chatbot, assistenti, agenti e automazioni, e i diversi modi in cui le capacità AI arrivano in azienda, nei sottotemi 4.5 e 4.6. Quarto: la scelta e l'evoluzione, cioè i criteri per confrontare le soluzioni e il motivo per cui vanno rivisti nel tempo, nei sottotemi 4.7 e 4.8. Il messaggio che accompagna tutto il percorso viene dal documento di perimetro: conoscere l'ecosistema significa sapersi orientare e scegliere consapevolmente, non conoscere a memoria tutti i prodotti. Suggerimento: riprendere la lista di strumenti scritta alla lavagna in apertura e annunciare che, alla fine del modulo, sapremo collocarli tutti nella mappa. Nota per il relatore, priorità e confini del modulo: Il modulo è articolato in otto sottotemi, tutti confermati e mantenuti separati. Cinque hanno priorità alta: la struttura dell'ecosistema, le piattaforme e gli strumenti, la distinzione tra AI generalista, specializzata e integrata, le differenze tra chatbot, assistenti, agenti e automazioni, e i criteri di scelta. Tre hanno priorità media: le famiglie di modelli, le modalità di accesso e la dinamicità dell'ecosistema. Vanno compresi bene: la differenza tra modello e applicazione, le categorie di strumenti, le soluzioni generaliste e specializzate, la differenza tra chatbot, assistenti e agenti, i criteri di scelta. Vanno conosciuti: famiglie di modelli, modalità di accesso, differenze tra cloud e locale, modelli aperti e chiusi, vendor lock-in. Vanno solo accennati: infrastrutture, configurazione tecnica delle API, deployment, orchestrazione avanzata e integrazione. Confini: non ripetiamo storia e funzionamento tecnico, usiamo l'affidabilità del Tema 3 come criterio senza ripeterne la teoria, non trattiamo tecniche di interazione e prompting (Temi 5 e 6), né la progettazione di agenti e workflow (Tema 11), né la scelta dei casi d'uso (Tema 15) e la governance (Tema 18).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dalla mappa. Quando si parla di AI si usano spesso come sinonimi termini che indicano cose diverse: modello, sistema, applicazione, piattaforma. E si tende a identificare un prodotto con il modello che usa. In questo sottotema, da comprendere bene, mettiamo ordine: distinguiamo i componenti, i ruoli dei diversi attori e il modo in cui si combinano. È la base per tutto il resto del modulo.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Quattro termini da distinguere. Il modello è il componente addestrato che elabora gli input e genera gli output, come abbiamo visto nel Tema 2: per esempio un grande modello linguistico. Da solo non ha un'interfaccia per l'utente. Il sistema è l'insieme di componenti che lavorano insieme intorno al modello: istruzioni, accesso ai dati, strumenti, filtri di sicurezza, memoria. L'applicazione è il prodotto con cui l'utente interagisce, costruito sul sistema: un assistente conversazionale, una funzione AI dentro un programma di videoscrittura, un'app per trascrivere le riunioni. La piattaforma è un ambiente che offre più servizi e strumenti su cui costruire, configurare e gestire applicazioni AI: per esempio le piattaforme cloud che mettono a disposizione diversi modelli, strumenti di sviluppo e funzioni di amministrazione. Un esempio concreto: un modello della famiglia GPT è il modello; lo stesso modello, combinato con istruzioni, accesso ai dati e strumenti, forma un sistema; ChatGPT è l'applicazione con cui l'utente interagisce; un ambiente cloud per sviluppare, configurare e gestire applicazioni AI è una piattaforma. Sono livelli concettuali: i confini non sono sempre netti, in un'offerta commerciale spesso si sovrappongono, e i fornitori usano questi termini in modo diverso. Ma la distinzione serve a porsi le domande giuste: quando valutiamo 'un'AI', stiamo valutando il modello, l'applicazione o la piattaforma?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L'ecosistema è popolato da attori con ruoli diversi, che possiamo organizzare in livelli. Alla base ci sono gli operatori infrastrutturali: produttori di chip, fornitori di cloud e di data center, che offrono la capacità di calcolo necessaria per addestrare e far funzionare i modelli. Poi i fornitori di modelli: aziende e centri di ricerca che sviluppano i modelli, sia proprietari sia con pesi accessibili. Poi le piattaforme, che rendono disponibili i modelli insieme a strumenti di sviluppo, gestione e sicurezza. Infine gli sviluppatori di applicazioni, che costruiscono prodotti per utenti finali o per settori specifici, spesso usando modelli di altri. Alcune grandi aziende tecnologiche sono presenti in tutti i livelli, dall'infrastruttura all'applicazione; altre si concentrano su un solo livello. Questa specializzazione è anche un'opportunità: favorisce l'innovazione, la concorrenza e la varietà delle soluzioni, e permette a un'azienda di scegliere tra un ecosistema integrato, con un unico fornitore per più livelli, e una soluzione composta da componenti di fornitori diversi. Il primo offre semplicità e un solo interlocutore, la seconda più flessibilità, con più integrazione da gestire. Per un'azienda utente questa mappa è utile per capire con chi ha a che fare: il fornitore dell'applicazione che usa può essere diverso dal fornitore del modello, che a sua volta può appoggiarsi all'infrastruttura di un terzo. Questo ha conseguenze, per esempio, su dove transitano i dati e su chi è responsabile di cosa. Non entriamo nei dettagli delle infrastrutture, che vanno solo accennati.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Apriamo un'applicazione AI per vedere com'è composta, seguendo un esempio concreto e fittizio: un assistente aziendale per il personale commerciale. L'utente scrive nella chat: prepara un riepilogo sul cliente Rossi per la visita di domani. Questa è l'interfaccia, ciò che l'utente vede: una chat, un pulsante dentro un software, un'app. La richiesta passa alla logica dell'applicazione, cioè al software che decide che cosa fare: interpreta la richiesta, aggiunge le istruzioni aziendali, per esempio il formato del riepilogo, sceglie quali dati recuperare e quale modello chiamare. Attraverso le connessioni ai dati e ai sistemi, l'applicazione consulta i documenti aziendali, come le offerte e i verbali delle visite precedenti, e recupera dal CRM lo storico del cliente: ordini, richieste aperte, ultimi contatti. A questo punto entrano in gioco uno o più modelli, spesso di fornitori diversi: un grande modello scrive il riepilogo, un modello più piccolo ed economico può classificare la richiesta, un modello specializzato può trascrivere una nota vocale. Accanto ai modelli lavora il software tradizionale, deterministico, per ciò che non richiede l'AI: calcoli, regole, gestione degli utenti e dei permessi. Il risultato è un riepilogo pronto da usare, che il commerciale rilegge prima della visita. Il punto chiave: il modello è solo uno dei componenti, e la qualità finale dipende da come tutti i pezzi sono combinati, compresa la qualità dei dati collegati. Due applicazioni con lo stesso modello possono offrire esperienze e risultati molto diversi.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conseguenza importante della struttura appena vista: il legame tra applicazione e modello non è fisso. Un'applicazione può usare più modelli contemporaneamente, scegliendo per ogni richiesta quello più adatto per qualità, velocità o costo; alcune applicazioni lo fanno in automatico, altre lasciano scegliere all'utente. Può cambiare modello nel tempo: quando esce una versione nuova, o quando il fornitore dell'applicazione decide di passare a un altro fornitore di modelli. E può combinare i modelli con software tradizionale, affidando all'AI solo le parti in cui è utile. Le conseguenze pratiche per chi usa questi strumenti sono tre. Primo: il comportamento di un'applicazione può cambiare, anche senza che l'interfaccia cambi, perché è cambiato il modello sottostante; una prova fatta sei mesi fa potrebbe non essere più valida. Secondo: conoscere quale modello usa un'applicazione è utile, ma non basta per valutarla. Terzo: quando si sceglie uno strumento, è utile sapere se il fornitore comunica i cambi di modello e se l'azienda può influire su questa scelta. Un esempio recente, verificato a ottobre 2026 sulla documentazione Microsoft e da ricontrollare al momento della sessione: in Microsoft 365 Copilot una modalità automatica sceglie il modello per ogni richiesta, e tra i fornitori di modelli c'è anche Anthropic, i cui modelli non sono attivi per impostazione predefinita per tutti gli utenti e dipendono dalle impostazioni dell'organizzazione. Per chiudere il sottotema, il concetto chiave. L'ecosistema si articola in livelli: infrastrutture, modelli, piattaforme, applicazioni. Un'applicazione combina interfaccia, logica, uno o più modelli, software tradizionale e connessioni ai dati, e può cambiare modello nel tempo. Domanda di verifica: riprendiamo la lista di strumenti scritta alla lavagna all'inizio. Per ciascuno, sappiamo dire se è un modello, un'applicazione o una piattaforma? E chi ne è il fornitore?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aver visto il ruolo dei modelli nell'ecosistema, li classifichiamo. È un sottotema a priorità media, da conoscere: non serve imparare i nomi dei singoli modelli, ma riconoscere le famiglie, capire le differenze di dimensioni e requisiti e, soprattutto, comprendere la distinzione tra modelli proprietari e modelli con pesi accessibili, che ha conseguenze concrete sulle possibilità di controllo da parte delle aziende.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modelli si possono classificare in molti modi. Qui ne usiamo due dimensioni, indipendenti tra loro. La prima riguarda le modalità di input e output, cioè che cosa il modello riceve e che cosa produce. Ci sono modelli che lavorano solo sul testo; modelli multimodali, che ricevono e talvolta producono più tipi di dati insieme, come testo, immagini e audio, e oggi i principali modelli generalisti sono in gran parte multimodali; e modelli pensati per un media specifico, per esempio per generare immagini da una descrizione, trascrivere il parlato, sintetizzare la voce o generare brevi video. La seconda dimensione è il grado di specializzazione. I modelli generalisti sono progettati per svolgere molti compiti diversi e sono alla base degli assistenti conversazionali. Altri sono adattati a un'attività, come la traduzione, l'elaborazione di documenti o il codice. Altri ancora sono specializzati in un dominio, come quello medico, legale o finanziario. Attenzione: non sono categorie che si escludono a vicenda. Lo stesso modello può essere contemporaneamente generalista e multimodale, ed essere usato per compiti molto specializzati, per esempio per analizzare contratti, grazie alle istruzioni e ai documenti che gli vengono forniti. Per orientarsi conviene quindi porsi due domande distinte: con quali tipi di dati lavora il modello, e quanto è ampio il suo campo d'uso. Gli esempi di modelli citati nelle note vanno verificati e aggiornati prima di ogni sessione, perché cambiano rapidamente: tra le famiglie note di modelli generalisti, a ottobre 2026, ci sono quelle sviluppate da OpenAI, Anthropic, Google, Microsoft, Mistral, Meta e diversi sviluppatori cinesi, come quelli delle famiglie Qwen e DeepSeek.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modelli differiscono molto per dimensioni, e le dimensioni hanno conseguenze pratiche. Attenzione però: quelle in tabella sono tendenze generali, non regole. I modelli grandi, con centinaia di miliardi di parametri o più, offrono generalmente le capacità più ampie e versatili, soprattutto nel ragionamento complesso e nella conoscenza generale. Di norma richiedono infrastrutture potenti, quindi sono spesso usati via cloud, e a parità di condizioni sono più costosi e più lenti per singola richiesta. I modelli piccoli, con pochi miliardi di parametri, sono più mirati: a parità di condizioni sono più veloci ed economici, e possono funzionare anche su un server aziendale, su un normale computer o persino su uno smartphone. Questo non significa che siano sempre meno efficaci: su compiti ben definiti, come classificare, estrarre informazioni o riassumere testi brevi, un modello piccolo, magari adattato a quel compito, può dare risultati pari o migliori di un modello grande. Allo stesso modo, un modello grande non è necessariamente più lento in ogni scenario: velocità e costo dipendono anche dall'architettura del modello, dall'infrastruttura su cui gira e dalla lunghezza delle richieste. Molti fornitori offrono oggi famiglie di modelli in più taglie, dalla più potente alla più leggera, proprio per coprire esigenze diverse. Il messaggio pratico: il modello più grande non è sempre la scelta migliore. Conviene scegliere il modello più adatto al compito, bilanciando qualità, velocità, costo e requisiti tecnici, e verificarlo sui propri casi reali.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distinzione fondamentale riguarda l'accesso al modello. I modelli proprietari, detti anche chiusi, sono di norma accessibili tramite i servizi del fornitore: un'applicazione o un'API; in alcuni casi il fornitore li rende disponibili anche su infrastrutture dedicate o su piattaforme cloud scelte dall'azienda, sempre alle sue condizioni. L'azienda utente non riceve il modello, ma ne usa le capacità come servizio. Vantaggi: in genere sono tra i modelli più capaci, non richiedono infrastruttura propria, sono aggiornati e gestiti dal fornitore. Limiti: quando si usa il servizio remoto, i dati transitano verso il fornitore, secondo le sue condizioni; se il modello è distribuito su un'infrastruttura dedicata o su un cloud scelto dall'azienda, il percorso dei dati cambia, quindi dipende dalla modalità di distribuzione; il fornitore può modificare o ritirare il modello; le possibilità di personalizzazione sono quelle previste dal servizio. I modelli con pesi accessibili, in inglese open-weight, sono modelli i cui parametri, cioè i 'pesi', sono resi scaricabili. L'azienda può quindi eseguirli sulla propria infrastruttura o su un cloud di sua scelta, personalizzarli con un addestramento aggiuntivo, nei limiti consentiti dalla licenza, e mantenerli nella versione scelta, senza subire aggiornamenti o ritiri decisi da altri. Vantaggi: maggiore controllo, possibilità di esecuzione locale, nessuna dipendenza dalla disponibilità del servizio. Limiti: servono competenze e infrastruttura, la responsabilità della gestione e della sicurezza passa all'azienda, e le capacità dei modelli più grandi e recenti possono essere diverse da quelle dei migliori modelli proprietari. Esempi noti di famiglie open-weight, verificati a ottobre 2026 e da ricontrollare prima di ogni sessione, sono Gemma di Google, i modelli di Mistral, gpt-oss di OpenAI, pubblicato nell'agosto 2025, e le famiglie cinesi come Qwen e DeepSeek. La famiglia Llama di Meta è stata a lungo il riferimento dei modelli aperti, ma dal 2026 Meta ha spostato la sua strategia verso modelli prevalentemente chiusi: un buon esempio di quanto rapidamente cambi l'ecosistema, come vedremo nel sottotema 4.8. Il messaggio in fondo alla slide riassume il confronto: con un servizio proprietario si guadagna in semplicità operativa, con un modello open-weight in controllo. Attenzione però a non trasformare l'apertura in un valore assoluto: più controllo significa anche più responsabilità e più competenze necessarie. Per molte aziende un servizio proprietario con buone garanzie contrattuali è la scelta più sensata; per altre, per esempio con dati molto sensibili o esigenze di funzionamento senza rete, il controllo diretto può essere decisivo.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precisazione importante, perché i termini vengono spesso confusi, anche nella comunicazione commerciale. Un modello AI non è solo i suoi pesi: comprende anche il codice per eseguirlo e addestrarlo, i dati con cui è stato addestrato e le condizioni d'uso, cioè la licenza. Ognuno di questi elementi può essere aperto o chiuso. Un modello open-weight rende disponibili i pesi, ma spesso non i dati di addestramento né tutto il codice, e la licenza può contenere limitazioni: per esempio divieti per certi usi, obblighi di attribuzione, o restrizioni per aziende sopra una certa dimensione. Il termine open-source, nella tradizione del software, indica invece la libertà di usare, studiare, modificare e redistribuire senza discriminazioni. Nel 2024 l'Open Source Initiative, l'organizzazione che custodisce la definizione di open source, ha pubblicato la Open Source AI Definition 1.0. Oltre alle quattro libertà, usare, studiare, modificare e condividere il sistema, richiede che siano disponibili i parametri del modello, il codice completo usato per addestrarlo ed eseguirlo, e informazioni sui dati di addestramento abbastanza dettagliate da permettere a una persona esperta di costruire un sistema sostanzialmente equivalente. Non richiede di pubblicare i dati stessi: i dati non condivisibili vanno descritti. Molti modelli presentati come 'open' non la soddisfano. Il messaggio pratico: davanti a un modello 'aperto', chiedersi che cosa è aperto, e leggere la licenza. Per chiudere il sottotema, il concetto chiave. I modelli si differenziano per tipo di dati trattati e grado di specializzazione, due dimensioni che si combinano; per dimensione, con conseguenze su capacità, costi e requisiti; e per grado di apertura, con conseguenze sul controllo. Open-weight non equivale a open-source, e la licenza va sempre letta. Domanda di verifica: un'azienda deve analizzare documenti molto riservati su computer non collegati a internet. Quali tipi di modelli può considerare? Risposta: modelli open-weight, probabilmente di dimensioni contenute, eseguiti localmente, verificando che la licenza ne consenta l'uso.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dai modelli ai prodotti. Questo sottotema offre una fotografia dell'offerta attuale, con alcuni esempi indicativi. Ricordiamo il criterio del documento di perimetro: i nomi dei prodotti, le funzioni e le condizioni cambiano rapidamente e vanno verificati prima di ogni sessione. Ciò che conta, e che resta valido nel tempo, è saper leggere l'offerta: distinguere le categorie, riconoscere le funzionalità comuni e le differenze, e verificare ciò che è davvero disponibile.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categoria più visibile è quella degli assistenti AI generalisti: applicazioni conversazionali, utilizzabili per compiti molto diversi, accessibili via web, app per computer e smartphone. Ne presentiamo quattro tra i più diffusi, senza fare una classifica: per ciascuno vediamo il contesto d'uso, alcuni tratti distintivi e le integrazioni più rilevanti. ChatGPT, di OpenAI, è l'assistente che ha portato l'AI generativa al grande pubblico nel 2022. Oggi è usato sia da singole persone sia in versione aziendale; tra le funzioni ci sono i progetti condivisi tra colleghi, la ricerca approfondita su molte fonti e modalità agentiche per attività in più passaggi. Può collegarsi ad applicazioni come posta, calendari e archivi documentali, per esempio Gmail, Outlook, Teams e SharePoint, rispettando i permessi esistenti. Claude, di Anthropic, è disponibile via web, app per computer e smartphone, e via API per chi sviluppa. È usato per scrivere, analizzare documenti, ragionare su problemi complessi e come supporto alla programmazione. Nelle versioni per team ed enterprise può collegarsi a Microsoft 365, cioè SharePoint, OneDrive, Outlook e Teams; a ottobre 2026 è in beta anche il lavoro dentro Google Documenti, Fogli e Presentazioni. Gemini, di Google, è sia un'app conversazionale sia un insieme di funzioni dentro i servizi Google: Gmail, Documenti, Fogli, Drive, Meet. Per le aziende che usano Google Workspace, l'app Gemini e le funzioni nelle applicazioni sono incluse nei piani business, con differenze tra le edizioni. È quindi una scelta naturale per chi lavora già in quell'ambiente. Copilot è il marchio con cui Microsoft offre funzioni AI. Microsoft 365 Copilot porta la chat e le funzioni AI dentro Word, Excel, PowerPoint, Outlook e Teams. Con la licenza dedicata può usare automaticamente i dati di lavoro dell'organizzazione, sempre nei limiti dei permessi di ciascun utente; la versione di base lavora sui dati del web e sui file che l'utente fornisce. Usa modelli di più fornitori, tra cui OpenAI e Anthropic, con una modalità automatica che sceglie il modello per ogni richiesta: un buon esempio del sottotema 4.1, perché dietro lo stesso nome di prodotto lavorano modelli diversi, che cambiano nel tempo. Esistono naturalmente molti altri assistenti, anche di sviluppatori europei e asiatici. Non confrontiamo le prestazioni, che cambiano a ogni versione: ci interessa riconoscere la categoria e capire che il contesto in cui si lavora, per esempio la suite di produttività già in uso, conta quanto le capacità del singolo assistente. Nota per il relatore: informazioni verificate a ottobre 2026 su fonti ufficiali dei fornitori (OpenAI, Anthropic, Google, Microsoft); nomi, funzioni, piani e disponibilità in Italia vanno ricontrollati prima di ogni sessione.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Oltre agli assistenti generalisti, l'offerta comprende molte altre categorie. Gli strumenti per ricerca e analisi: motori di ricerca con risposte generate e fonti citate, strumenti per l'analisi di documenti e dati, funzioni di 'ricerca approfondita' che consultano molte fonti e producono un rapporto. Gli strumenti di produttività: funzioni AI dentro posta, calendario, videoscrittura, fogli di calcolo, presentazioni, videoconferenze, come la trascrizione e la sintesi delle riunioni. Gli strumenti per produzione e gestione di contenuti: generazione di immagini, video, audio e voce, supporto alla scrittura di testi di marketing, traduzione, gestione di contenuti per siti e social. Le applicazioni specializzate: soluzioni per funzioni o settori specifici, come l'assistenza clienti, la selezione del personale, l'analisi legale, lo sviluppo software, la contabilità. Nel 4.4 vedremo che molte di queste capacità arrivano integrate in software già presenti in azienda. Suggerimento: riprendere la lista della lavagna e collocare ciascuno strumento in una categoria.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Gli assistenti generalisti hanno oggi molte funzionalità in comune: conversazione in linguaggio naturale, scrittura e revisione di testi, caricamento e analisi di documenti, comprensione di immagini, quasi sempre ricerca sul web, spesso generazione di immagini, analisi di dati con esecuzione di codice, funzioni vocali. A prima vista sembrano quindi molto simili. Le differenze, però, possono essere rilevanti e stanno spesso in aspetti meno visibili. La qualità delle risposte nei compiti che ci interessano. Le integrazioni con gli altri strumenti aziendali, come posta, documenti, CRM. Le funzioni per il lavoro di gruppo, come progetti condivisi e assistenti configurati. I limiti di utilizzo, come il numero di richieste o la dimensione dei file. Le funzioni di amministrazione e controllo per le aziende. Le condizioni sull'uso dei dati, per esempio se le conversazioni possono essere usate per addestrare i modelli. E la disponibilità di ciascuna funzione nel piano che si usa. Un esempio fittizio, in basso, rende concreta la differenza. Il compito è lo stesso: preparare la sintesi di una riunione con l'elenco delle azioni da assegnare. Lo strumento A è integrato nella piattaforma delle riunioni: usa direttamente la trascrizione e salva la sintesi nello spazio del team, senza passaggi manuali. Lo strumento B è un assistente generalista: bisogna caricare la trascrizione, ma si può riusare un assistente configurato che produce la sintesi nel formato aziendale e la adatta ad altri usi. Nessuno dei due è migliore in assoluto: il primo vince sull'integrazione, il secondo sulla flessibilità. Per scegliere conviene provare entrambi sullo stesso compito reale. Il messaggio del sottotema: due prodotti dall'interfaccia simile possono offrire capacità, integrazioni, controlli e condizioni molto diversi.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una distinzione già vista nei Temi 2 e 3, perché qui diventa uno strumento di lettura dell'offerta. Quando un prodotto dichiara una capacità, conviene chiedersi da dove deriva. Alcune capacità derivano soprattutto dal modello: la qualità della scrittura, il ragionamento, la comprensione di immagini, la lunghezza del contesto gestibile. Altre derivano dall'applicazione: la ricerca sul web, l'esecuzione di codice, il collegamento a posta e documenti, la memoria tra conversazioni, i progetti condivisi, i controlli amministrativi, la gestione dei dati. Questa distinzione spiega situazioni frequenti. Lo stesso modello può essere disponibile in due applicazioni diverse con funzioni molto diverse. Un'applicazione può migliorare molto senza cambiare modello, aggiungendo funzioni. E una capacità del modello può non essere disponibile in una certa applicazione o in un certo piano. Per chi valuta uno strumento, il messaggio è chiaro: non basta sapere quale modello usa; bisogna verificare quali funzioni offre l'applicazione, nella configurazione che useremo.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la fotografia dell'offerta, distinguiamo gli approcci. È un sottotema da comprendere bene, perché risponde a una domanda molto concreta: per una certa esigenza, conviene uno strumento generalista, una soluzione specializzata, o le funzioni AI già presenti nei software che usiamo? E qual è la differenza tra usare uno strumento AI e integrare l'AI in un processo?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capacità AI possono arrivare in azienda attraverso tre approcci. Le soluzioni generaliste: strumenti come gli assistenti conversazionali, utilizzabili per compiti molto diversi da persone con ruoli diversi. Sono flessibili e immediati, ma richiedono che sia l'utente a portare il contesto, cioè documenti, informazioni e istruzioni. Le applicazioni specializzate: strumenti sviluppati per una funzione o un'attività specifica, come l'assistenza clienti, la selezione del personale, l'analisi dei contratti, la manutenzione degli impianti. Conoscono il dominio, hanno flussi di lavoro pensati per quell'attività e spesso integrazioni specifiche: proprio perché sono ottimizzate per attività o processi specifici, possono offrire in quei casi più integrazione, affidabilità operativa ed efficienza di uno strumento generalista, mentre non coprono altri compiti. L'AI integrata nei software esistenti: funzioni AI che compaiono dentro gli strumenti già in uso, come la suite di produttività, il CRM, l'ERP, il gestionale. Lavorano direttamente sui dati e nei flussi già presenti, senza cambiare strumento, ma con le capacità e i limiti scelti dal fornitore del software. Il messaggio del sottotema sottolinea un punto spesso trascurato: adottare l'AI non richiede necessariamente un nuovo applicativo. A volte la via più semplice è attivare e imparare a usare bene le funzioni AI di ciò che si ha già. Nella pratica le aziende combinano spesso i tre approcci: uno strumento generalista per tutti, adatto quando i compiti sono vari e si vuole sperimentare; le funzioni AI dei software principali, dove il lavoro avviene già; e soluzioni specializzate per pochi processi chiave, ricorrenti, importanti e ben definiti. La valutazione dei casi d'uso specifici è trattata nel Tema 15.</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parte crescente delle capacità AI arriva dentro software che le aziende usano già. Nelle suite di produttività, come quelle di Microsoft e Google: scrivere e riassumere email, preparare bozze di documenti e presentazioni, analizzare fogli di calcolo, trascrivere e sintetizzare riunioni, cercare informazioni tra i propri file. Nei CRM: riassumere la storia di un cliente, suggerire le prossime azioni, preparare bozze di comunicazioni, classificare le richieste. Negli ERP e nei gestionali: leggere documenti come fatture e ordini, segnalare anomalie, rispondere a domande sui dati aziendali in linguaggio naturale, prevedere scorte o flussi di cassa. Le opportunità sono molto concrete: meno attività ripetitive, informazioni recuperate più rapidamente, documenti preparati in meno tempo, un supporto all'analisi dei dati anche per chi non è specialista, e una maggiore continuità dei processi, per esempio quando un collega è assente e lo storico di un cliente è subito disponibile in sintesi. Il vantaggio principale è che queste funzioni hanno già accesso ai dati e ai flussi di lavoro, rispettano i permessi esistenti e non richiedono di spostare informazioni in un altro strumento. I limiti: le capacità dipendono dalle scelte del fornitore, spesso sono disponibili solo in certi piani o con licenze aggiuntive, e funzionano bene solo se i dati nel sistema sono di buona qualità. Le applicazioni per tipo di attività sono trattate nei Temi 8-11, l'individuazione dei casi d'uso nel Tema 15.</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seconda dimensione, trasversale alle precedenti, distingue le soluzioni pronte all'uso da quelle personalizzate. Le soluzioni pronte all'uso si attivano e si usano così come sono, con eventuali configurazioni di base: rapidità, costi prevedibili, manutenzione a carico del fornitore, ma adattamento limitato alle specificità aziendali. Le soluzioni personalizzate sono adattate o costruite per le esigenze dell'azienda: per esempio un assistente collegato alle procedure interne con un sistema RAG, un flusso che combina un modello con i dati del gestionale, un'applicazione sviluppata su una piattaforma. Offrono un adattamento molto maggiore, ma richiedono tempi, competenze, investimenti e manutenzione continua. Tra i due estremi c'è una fascia intermedia molto importante e in crescita: la configurazione senza sviluppo. Molti strumenti generalisti permettono di creare assistenti personalizzati con istruzioni proprie, documenti di riferimento e collegamenti a fonti aziendali, senza scrivere codice. Spesso è il modo più rapido per ottenere un buon adattamento. Non entriamo nelle procedure di integrazione, che vanno solo accennate.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L'ultimo punto del sottotema distingue due modi di adottare l'AI, che hanno implicazioni molto diverse. Usare uno strumento AI significa che una persona, nel suo lavoro, apre un assistente e lo usa per un compito: scrivere una bozza, riassumere un documento. Il processo aziendale non cambia; cambia il modo in cui la persona svolge una parte del suo lavoro. I benefici dipendono dall'iniziativa e dalla competenza dei singoli. Integrare capacità AI in un processo significa invece ridisegnare un flusso di lavoro inserendo l'AI in uno o più passaggi, in modo sistematico: per esempio, tutte le richieste che arrivano all'assistenza vengono classificate automaticamente, ricevono una bozza di risposta, e l'operatore verifica e invia. Qui cambiano il processo, i ruoli, i controlli, e servono integrazione con i sistemi, regole, monitoraggio. I benefici possono essere più ampi e misurabili, ma anche l'impegno e i rischi. I due approcci sono complementari, non alternativi, e spesso il primo prepara il secondo: l'uso individuale fa emergere le attività in cui l'integrazione può valere la pena. La trasformazione dei processi è trattata nel Tema 13, l'adozione nel Tema 16. Per chiudere il sottotema, il concetto chiave. Tre approcci, generalista, specializzato e integrato, con vantaggi e limiti diversi, spesso combinati. Una seconda dimensione va dal pronto all'uso al personalizzato, passando per la configurazione senza sviluppo. E usare uno strumento è diverso da integrare l'AI in un processo. Domanda di verifica: quali funzioni AI sono già disponibili nei software che usate ogni giorno? Le avete mai attivate o provate? Spesso la risposta sorprende: molte capacità sono già lì.</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sottotema da comprendere nelle differenze, perché i termini chatbot, assistente, agente e automazione sono usati molto, spesso in modo confuso, e la terminologia di mercato non è standardizzata. Introduciamo le categorie e i livelli di autonomia, senza progettare flussi di lavoro: agenti e automazioni sono approfonditi nel Tema 11.</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Possiamo ordinare queste categorie lungo uno spettro di autonomia crescente. Il chatbot conversa: risponde a domande e richieste, un messaggio alla volta, e la persona decide che cosa fare delle risposte. L'assistente configurato è un chatbot adattato a un compito specifico, con istruzioni, documenti e talvolta strumenti propri: per esempio un assistente per le domande sulle procedure HR. Il sistema con strumenti, oltre a rispondere, può usare strumenti esterni: cercare sul web, eseguire codice, leggere un file, consultare un database, e talvolta compiere un'azione, come creare un evento in calendario, su richiesta. L'agente riceve un obiettivo e svolge in modo relativamente autonomo una sequenza di passaggi per raggiungerlo: pianifica, usa strumenti, valuta i risultati intermedi, decide il passo successivo. Accanto a questi c'è l'automazione, che segue una logica diversa: esegue un flusso predefinito, attivato da un evento, che può includere uno o più passaggi con AI. Il punto chiave: muovendosi lungo lo spettro, cresce quanto il sistema decide e agisce da solo, e cambia il ruolo della persona, da chi usa le risposte a chi supervisiona le azioni. Ricordiamo che è una semplificazione didattica: nei prodotti reali i confini si sovrappongono, e la terminologia di mercato non è standardizzata. 'Assistente' può indicare un chatbot generico o un sistema con molti strumenti, 'agente' può indicare un vero sistema autonomo ma anche un semplice assistente configurato, 'copilota' è sia un nome di prodotto sia un termine generico. Davanti a un prodotto conviene chiedersi che cosa fa davvero: risponde soltanto o agisce? Chi decide la sequenza dei passaggi? Quali strumenti usa, con quali permessi? Quando interviene la persona?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Partiamo dai livelli più semplici. Il termine chatbot ha una storia lunga: per anni ha indicato i sistemi di risposta automatica dei siti web, spesso basati su regole e menu predefiniti, piuttosto rigidi. Oggi indica soprattutto le interfacce conversazionali basate su modelli linguistici, molto più flessibili. In entrambi i casi la logica è la stessa: domanda e risposta, e la persona decide che cosa fare. Gli assistenti configurati sono un passo avanti: partendo da un assistente generalista, si definiscono istruzioni specifiche, un tono, un ambito, si caricano documenti di riferimento, talvolta si collegano fonti aziendali. Il risultato è un assistente dedicato: per le domande dei dipendenti sulle procedure, per la redazione di offerte secondo lo stile aziendale, per il supporto al servizio clienti. Molti strumenti permettono di creare questi assistenti senza competenze di programmazione, in pochi minuti, e di condividerli con i colleghi: è uno dei modi più accessibili per adattare l'AI al proprio lavoro. Il loro valore sta nel fatto che il contesto non va fornito ogni volta: è incorporato nella configurazione. Restano però sistemi che rispondono, con i limiti di affidabilità visti nel Tema 3, e le cui risposte vanno usate con giudizio.</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salto qualitativo avviene quando il sistema non si limita a rispondere, ma usa strumenti. Un sistema con strumenti può, per esempio, cercare informazioni aggiornate sul web, eseguire codice per un calcolo, leggere un file, interrogare un database, e in alcuni casi compiere azioni nei sistemi collegati: inviare un'email, creare un evento, aggiornare un record. Di norma lo fa su richiesta dell'utente, un passo alla volta. Un agente va oltre: riceve un obiettivo, per esempio 'prepara un confronto tra le offerte di questi tre fornitori e una bozza di email per la direzione', e lo persegue attraverso un ciclo. Pianifica i passaggi, esegue un'azione usando uno strumento, osserva il risultato, decide il passo successivo, e così via fino al completamento, eventualmente chiedendo conferme. Lo schema in slide mostra questo ciclo. Gli agenti stanno diventando molto diffusi: esistono agenti che navigano sul web, che usano il computer al posto dell'utente, che svolgono ricerche approfondite, che scrivono e modificano software. Le opportunità sono concrete: gestire attività articolate in più passaggi, usare in modo coordinato strumenti e informazioni diverse, ridurre il lavoro manuale, delegare operazioni intere mantenendo punti di supervisione. Accanto alle opportunità ci sono rischi da conoscere: un errore a un passaggio può propagarsi ai successivi, e le azioni compiute possono avere effetti reali, talvolta difficili da annullare. Si gestiscono con misure semplici: concedere solo i permessi necessari, chiedere una conferma prima delle azioni importanti, tenere un registro di ciò che l'agente ha fatto. Il messaggio della slide: gli agenti ampliano le possibilità di automazione e delega, con livelli di autonomia e controllo da adattare al contesto. Nella prossima slide un esempio concreto.</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automazioni seguono una logica diversa dagli agenti, ed è utile non confonderle. Un'automazione tradizionale esegue un flusso predefinito, passo per passo, sempre nello stesso modo, quando si verifica un evento: per esempio, quando arriva una fattura, salvala nella cartella giusta e notifica l'amministrazione. È di norma prevedibile e verificabile, ma rigida: non sa gestire ciò che non è previsto. Un workflow con componenti AI mantiene la struttura predefinita, ma inserisce l'AI in uno o più passaggi per gestire ciò che le regole non sanno gestire: leggere la fattura e estrarne i dati, classificare una richiesta, scrivere la bozza di una risposta. Il percorso resta deciso da chi ha progettato il flusso; l'AI svolge compiti precisi al suo interno. La differenza con un agente è sostanziale: nel workflow è la persona a decidere la sequenza dei passaggi, nell'agente è il sistema. Per questo, nei processi aziendali ricorrenti, i workflow con AI sono spesso la scelta più prevedibile e controllabile; gli agenti sono più flessibili e utili dove i passaggi non si possono stabilire in anticipo. Sono tendenze, non regole: un workflow progettato male può essere poco affidabile, e un agente non è di per sé più efficace; conta l'adeguatezza al processo. Non progettiamo qui flussi di lavoro: il tema è approfondito nel Tema 11.</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crescere dell'autonomia cambia il ruolo della supervisione umana, riprendendo lo spettro supporto, supervisione, delega visto nel Tema 3. Possiamo distinguere tre modalità di intervento della persona. La persona nel ciclo, in inglese human in the loop: il sistema propone, la persona approva ogni passaggio o ogni azione rilevante prima che venga eseguita. Per esempio, l'agente prepara l'email, ma la invia solo dopo conferma. La persona sopra il ciclo, human on the loop: il sistema opera in autonomia, la persona monitora, può intervenire e fermarlo, e controlla gli esiti a campione o su eccezioni. La persona fuori dal ciclo: il sistema opera senza supervisione diretta; ammissibile solo per attività a basso impatto, ben collaudate e reversibili. Il livello giusto non è fisso: dipende dalle conseguenze delle azioni, dalla possibilità di annullarle e dall'affidabilità dimostrata dal sistema in quel compito. Si può partire con la persona nel ciclo e ridurre gli interventi man mano che il sistema si dimostra affidabile. Due indicazioni pratiche. Le azioni che hanno effetti esterni o difficili da annullare, come inviare comunicazioni, effettuare pagamenti, modificare dati, cancellare file, dovrebbero di norma richiedere una conferma umana. E i permessi concessi a un agente dovrebbero essere i minimi necessari: un agente che deve leggere i documenti non ha bisogno di poterli cancellare. Le implicazioni di sicurezza sono approfondite nei Temi 11 e 17. Per chiudere il sottotema, il concetto chiave. Chatbot, assistenti configurati, sistemi con strumenti e agenti si dispongono lungo uno spettro di autonomia crescente; le automazioni seguono una logica diversa, a flusso predefinito, e possono includere passaggi con AI. Più autonomia significa più potenzialità e più rischi, e richiede di definire bene il ruolo della persona e i permessi. E la terminologia di mercato non è standardizzata: conta che cosa fa il sistema, non come si chiama. Domanda di verifica: un fornitore vi propone un 'agente AI per la gestione degli ordini'. Quali domande fate per capire di che cosa si tratta? Risposta: chiedere se risponde soltanto o agisce, chi decide la sequenza dei passaggi, quali strumenti e sistemi usa e con quali permessi, quando e come interviene la persona.</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sottotema, a priorità media, riguarda il come: attraverso quali canali le capacità AI arrivano alle persone e ai sistemi aziendali. La stessa capacità, per esempio riassumere un documento, può essere usata da un'app sul telefono, da un pulsante dentro un software, da un programma aziendale che chiama un'API, o da un modello eseguito su un server interno. Vedremo le principali modalità e le loro differenze generali, senza entrare nella configurazione tecnica, che va solo accennata.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le principali modalità, dalle più vicine all'utente alle più tecniche. Le applicazioni web, desktop e mobili: si usano direttamente, tramite browser, programma installato o app sul telefono. È il modo più diffuso per gli assistenti generalisti. L'AI integrata in applicazioni esistenti: le funzioni compaiono dentro software già in uso, come abbiamo visto nel 4.4. Le API, interfacce di programmazione: permettono a un software di inviare richieste a un modello e ricevere le risposte in modo automatico, senza un'interfaccia per l'utente. Sono la base su cui gli sviluppatori costruiscono applicazioni e integrazioni. Le piattaforme cloud e i servizi gestiti: ambienti offerti dai grandi fornitori cloud che mettono a disposizione più modelli, di fornitori diversi, insieme a strumenti per costruire, gestire e controllare le applicazioni AI. L'esecuzione locale e le infrastrutture dedicate: il modello, tipicamente open-weight, gira su computer o server dell'azienda, o su un'infrastruttura riservata. Le modalità non si escludono: la stessa azienda può usarne diverse per esigenze diverse.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Vale la pena soffermarsi sulla differenza tra applicazione e API, perché spesso genera confusione, anche nei costi. Con un'applicazione, una persona interagisce con il modello attraverso un'interfaccia: scrive, legge, carica file. Di solito si paga un abbonamento per utente, con limiti di utilizzo, e si ottengono anche le funzionalità dell'applicazione, come la ricerca, la memoria, i progetti. Con un'API, è un software a dialogare con il modello: un programma aziendale invia un testo e riceve una risposta, che poi usa in un suo flusso. Non c'è un'interfaccia per l'utente: attraverso l'API si usa il modello e, secondo il servizio, alcuni strumenti aggiuntivi, come la ricerca sul web o l'esecuzione di codice; l'interfaccia e l'integrazione con i propri sistemi richiedono invece, normalmente, sviluppo o configurazione. Di solito si paga in base al consumo, cioè alla quantità di testo elaborata, misurata in token, come abbiamo visto nel Tema 2. Le API sono quindi lo strumento per integrare l'AI nei processi e nei prodotti aziendali, mentre le applicazioni sono lo strumento per l'uso individuale. Anche le condizioni sull'uso dei dati possono essere diverse tra i due canali dello stesso fornitore. Non entriamo nella configurazione tecnica delle API, che va solo accennata.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scelta importante riguarda dove vengono elaborati i dati. Nel cloud, il modello gira sui server del fornitore o di una piattaforma cloud, e i dati viaggiano su internet verso quei server. Vantaggi: accessibilità da qualunque luogo, scalabilità, accesso ai modelli più avanzati, aggiornamenti gestiti dal fornitore, minore impegno infrastrutturale interno. Aspetti da valutare: dove si trovano fisicamente i server, cioè in quale paese o regione; quali garanzie offre il fornitore sui dati; la dipendenza dalla connessione e dalla disponibilità del servizio. Diversi fornitori permettono di scegliere la regione di elaborazione, per esempio l'Unione europea, da verificare caso per caso. Nell'esecuzione locale, il modello gira su computer o server dell'azienda, o su un'infrastruttura dedicata, e i dati possono restare nel perimetro aziendale. Vantaggi: maggiore controllo sull'ambiente di esecuzione, configurazioni dedicate, minore dipendenza dalla connettività, costi più prevedibili una volta sostenuto l'investimento. Aspetti da valutare: serve un modello open-weight adatto; servono hardware e competenze; i modelli che si possono eseguire localmente sono in genere meno capaci dei migliori modelli in cloud; la manutenzione e la sicurezza sono a carico dell'azienda. Attenzione: eseguire un modello in locale non garantisce di per sé sicurezza e riservatezza, che dipendono da come l'ambiente è configurato, protetto e gestito. Esistono anche soluzioni intermedie, come le istanze dedicate o il cloud privato.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Molti strumenti sono offerti in versioni diverse per individui, gruppi di lavoro e grandi organizzazioni. Le caratteristiche in tabella sono tipiche, non identiche per tutti i fornitori: vanno verificate per lo strumento che interessa. Le differenze non riguardano solo il prezzo, ma soprattutto la gestione degli accessi, dei dati e dei controlli. Nelle versioni individuali, gratuite o a pagamento, ciascuno gestisce il proprio account; l'azienda non ha visibilità né controllo, e le condizioni sui dati sono quelle per i consumatori, che possono prevedere, per impostazione predefinita, l'uso delle conversazioni per migliorare i modelli. Nelle versioni team, un amministratore gestisce gli utenti, la fatturazione è centralizzata, ci sono spazi di lavoro condivisi e di solito garanzie migliori sui dati. Nelle versioni enterprise si aggiungono controlli avanzati: accesso con le credenziali aziendali, gestione centralizzata delle autorizzazioni, registri delle attività, controllo sulle funzioni attivabili, impegni contrattuali sulla conservazione e sull'uso dei dati, talvolta scelta della regione di elaborazione. La conseguenza pratica, molto importante: usare per lavoro un account personale gratuito non equivale a usare lo stesso strumento in versione aziendale, anche se l'interfaccia è identica. Le politiche aziendali in materia sono trattate nei Temi 17 e 18. Per chiudere il sottotema, il concetto chiave. App, AI integrata, API, piattaforme cloud ed esecuzione locale sono modi diversi di accedere a capacità simili. Cambiano chi interagisce, quali funzioni sono incluse, come si paga, dove sono elaborati i dati, quanto controllo ha l'azienda. E le versioni individuali, team ed enterprise differiscono soprattutto nella gestione di accessi, dati e controlli. Domanda di verifica: perché usare per lavoro un account personale gratuito di un assistente AI può essere problematico, anche se lo strumento è lo stesso della versione aziendale? Risposta: condizioni sui dati diverse, nessun controllo né visibilità per l'azienda.</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al sottotema più operativo, a priorità alta, il cui obiettivo è saper valutare. Mettiamo insieme quanto visto per costruire un insieme di criteri con cui confrontare due o più soluzioni. Ricordiamo il confine: qui parliamo della scelta dello strumento, non della scelta del caso d'uso né della valutazione economica del progetto, che sono trattate nei Temi 12 e 15. E introduciamo privacy e sicurezza come criteri, senza trattare in dettaglio norme e governance.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gli undici criteri indicati dal documento di perimetro, raggruppati in quattro famiglie per facilitarne l'uso. Primo, l'adeguatezza: lo strumento serve alle attività e agli obiettivi che abbiamo? Le prestazioni sono di qualità e affidabili per quei compiti? È facile da usare e accessibile per le persone che lo useranno? Secondo, le funzionalità e l'integrazione: quali funzioni offre davvero e come si collega ai nostri sistemi? Terzo, i costi e le condizioni: modello di prezzo e costi complessivi, condizioni contrattuali e supporto del fornitore. Quarto, i dati e il controllo: gestione dei dati, riservatezza e sicurezza; controlli amministrativi e gestione degli utenti; portabilità di dati e configurazioni; dipendenza dal fornitore. Trasversale a tutti c'è l'undicesimo criterio: verificare le funzionalità effettivamente disponibili nella configurazione specifica. Non tutti i criteri hanno lo stesso peso in ogni situazione: per un uso sperimentale di un piccolo gruppo conteranno soprattutto adeguatezza e facilità d'uso; per un'adozione aziendale ampia, dati, controlli e lock-in diventano decisivi.</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gruppo di criteri riguarda il rapporto tra lo strumento e le esigenze. Adeguatezza alle attività e agli obiettivi: il punto di partenza è sempre il bisogno, non lo strumento. Per quali attività lo useremo? Chi lo userà? Che cosa vogliamo ottenere? Uno strumento eccellente per la generazione di immagini è inutile se ci serve analizzare contratti. Qualità e affidabilità delle prestazioni: qui applichiamo quanto visto nel Tema 3. Non ci basiamo su benchmark e dimostrazioni, ma proviamo lo strumento sui nostri casi reali, compresi quelli difficili, e valutiamo il tipo di errori e la facilità di verificarli. Facilità d'uso e accessibilità: uno strumento potente ma complesso rischia di essere usato poco o male. Contano la chiarezza dell'interfaccia, la lingua italiana, la disponibilità sui dispositivi usati, l'accessibilità per persone con disabilità, la curva di apprendimento. Un suggerimento: coinvolgere nella prova alcuni futuri utenti reali, non solo le persone più esperte di tecnologia.</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Secondo e terzo gruppo di criteri. Funzionalità disponibili e possibilità di integrazione: lo strumento offre le funzioni che ci servono, nel piano che acquisteremo? Si collega ai sistemi che usiamo, come posta, archivio documentale, CRM, gestionale? Ha API per future integrazioni? Modelli di prezzo e costi complessivi: il prezzo di listino è solo una parte del costo. I modelli di prezzo più comuni sono l'abbonamento per utente, il consumo a token tramite API, le licenze aggiuntive per funzioni AI dentro software esistenti, o combinazioni di questi. I costi complessivi comprendono anche l'integrazione con i sistemi, la configurazione, la formazione delle persone, il tempo dedicato alla verifica dei risultati, la gestione e la manutenzione, e gli eventuali costi di uscita se un giorno si cambierà strumento. Un'avvertenza: con il consumo a token i costi possono crescere in modo poco prevedibile se l'uso aumenta; con gli abbonamenti si paga anche chi usa poco. Condizioni contrattuali e supporto: livelli di servizio garantiti, assistenza in italiano, tempi di risposta, durata e recesso. I prezzi specifici cambiano rapidamente e vanno verificati al momento della valutazione.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quarto gruppo di criteri è spesso decisivo per un'adozione aziendale. Introduciamo questi temi come criteri di scelta; normativa, governance e politiche aziendali sono approfonditi nei Temi 17 e 18. Gestione dei dati, riservatezza e sicurezza: le domande essenziali da porre al fornitore sono quelle in slide. I nostri dati vengono usati per addestrare i modelli? Di norma nelle versioni aziendali no, ma va verificato. Per quanto tempo sono conservati, e possiamo cancellarli? Dove vengono elaborati e conservati, in quale paese o regione? Il fornitore si appoggia a terzi, per esempio per il modello o l'infrastruttura, e con quali garanzie? Quali certificazioni di sicurezza possiede? Controlli amministrativi e gestione degli utenti: possiamo gestire centralmente chi accede e con quali permessi, usare le credenziali aziendali, disattivare funzioni non autorizzate, consultare i registri delle attività, rimuovere rapidamente l'accesso a chi lascia l'azienda? Le risposte a queste domande vanno cercate nella documentazione contrattuale e tecnica, non solo nelle pagine commerciali, e per un'adozione aziendale conviene coinvolgere le funzioni competenti, come IT, sicurezza e ufficio legale o privacy. Un principio guida: la profondità delle verifiche e dei controlli deve essere adeguata alla sensibilità dei dati e agli effetti dell'utilizzo. Una prova con dati pubblici o non riservati può partire con verifiche leggere; un'adozione che tratta dati personali o riservati, o che incide su decisioni importanti, richiede verifiche più approfondite. Così la sperimentazione resta agile, senza trasformare ogni prova in un percorso di approvazione complesso.</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Questa integrazione del sottotema riguarda la reversibilità delle scelte. Si parla di vendor lock-in, o dipendenza dal fornitore, quando cambiare fornitore diventa così costoso o complicato da essere, di fatto, impraticabile. Nell'AI il rischio è concreto per diverse ragioni. I dati e i contenuti prodotti possono essere difficili da esportare in formati utilizzabili altrove. Le configurazioni, come assistenti personalizzati, istruzioni, flussi di lavoro, integrazioni, possono essere specifiche di una piattaforma e da ricostruire da zero. Le integrazioni con i sistemi aziendali possono essere legate alle API di un fornitore. Le persone si abituano a uno strumento, e il cambio comporta nuova formazione. E se l'AI è integrata in una suite di produttività, cambiare significa cambiare molto di più. Le conseguenze possono riguardare la continuità del servizio, se il fornitore cambia condizioni o ritira un prodotto, la trasferibilità di dati e configurazioni, e i costi futuri, perché un fornitore da cui si dipende ha più potere negoziale. Il criterio collegato è la portabilità: la possibilità di esportare dati e configurazioni e di riutilizzarli altrove. Alcune strategie per ridurre il rischio sono in slide. Non si tratta di eliminare ogni dipendenza, che è spesso inevitabile e talvolta conveniente, per esempio quando porta integrazione e semplicità, ma di conoscerla, valutarne le conseguenze e sceglierla consapevolmente.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funzionalità AI disponibili crescono di continuo, e molte possono essere utili subito. Ecco un percorso pratico, in cinque passi, per scoprirle e provarle senza affidarsi solo agli annunci. Primo: identificare una funzionalità utile, partendo da un'attività concreta del proprio lavoro, per esempio la sintesi delle riunioni o la prima bozza di una risposta ai clienti. Secondo: verificare che sia disponibile per noi. Anche all'interno dello stesso prodotto le funzioni non sono le stesse per tutti: dipendono dal piano, gratuito, individuale, team o enterprise; dall'area geografica, perché alcune funzioni arrivano prima in certi paesi o in Europa arrivano più tardi; dalla configurazione decisa dagli amministratori; e dall'applicazione usata, perché web, app per computer, app per smartphone e API non offrono sempre le stesse funzioni. La fonte giusta è la documentazione ufficiale, non solo gli annunci. Terzo: provarla su un caso concreto, con dati di prova o con dati autorizzati, nell'ambiente reale. Quarto: valutarne il risultato: la qualità, il tempo risparmiato, la facilità d'uso, il lavoro di verifica che richiede. Quinto: prima di adottarla in modo stabile, approfondire limiti e condizioni: limiti d'uso, costi aggiuntivi, termini sull'uso dei dati. Diciture come anteprima, beta, in arrivo o disponibile per alcuni utenti non sono un difetto, ma segnalano funzioni non ancora stabili o non ancora disponibili per tutti: utili da esplorare, da valutare con attenzione prima di farne affidamento. Quando un collega dice che lo strumento X può fare Y, la domanda utile è: in quale piano, in quale paese, con quale configurazione, da quale applicazione? Ed è il motivo per cui una dimostrazione vista online può non essere riproducibile nel nostro ambiente. Se si confrontano due strumenti, conviene provarli sugli stessi casi. Per chiudere il sottotema, il concetto chiave. L'offerta comprende assistenti generalisti, strumenti di ricerca e analisi, di produttività, di contenuti e applicazioni specializzate. Gli assistenti hanno molte funzioni comuni, ma le differenze stanno in qualità, integrazioni, controlli, limiti e condizioni sui dati. Le funzioni dipendono anche da piano, paese, configurazione e modalità di accesso, e ciò che viene annunciato non coincide sempre con ciò che è disponibile. Domanda di verifica: avete visto in un video una funzione di un assistente AI che vi interessa. Che cosa verificate prima di proporla ai colleghi? Risposta: documentazione ufficiale, disponibilità nel nostro piano e paese, configurazione aziendale, prova reale e condizioni.</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rendere operativi i criteri, ecco una scheda di confronto semplice, che si può riprodurre in un foglio di calcolo. Per ogni criterio si attribuisce un peso, in base all'importanza per la specifica situazione, e si valuta ciascuna soluzione, per esempio da uno a cinque, annotando le evidenze raccolte: prove fatte, documenti letti, risposte del fornitore. I valori in slide sono puramente illustrativi e servono solo a mostrare il formato. Tre raccomandazioni. Primo: definire i pesi prima di valutare le soluzioni, per evitare di adattarli inconsciamente alla soluzione preferita. Secondo: alcuni criteri possono essere requisiti minimi, cioè condizioni senza le quali la soluzione è esclusa a prescindere dal punteggio, per esempio la garanzia che i dati non vengano usati per l'addestramento o l'elaborazione in Unione europea. Terzo: il punteggio aiuta a ragionare, ma non sostituisce il giudizio; serve soprattutto a rendere esplicite e discutibili le ragioni della scelta. E ricordiamo il concetto chiave: lo strumento più noto o il modello più potente non è necessariamente la scelta migliore per l'azienda. Per chiudere il sottotema, il concetto chiave. La scelta di uno strumento AI si basa su più criteri: adeguatezza, qualità, facilità d'uso, funzionalità e integrazione, costi complessivi, contratto e supporto, dati e sicurezza, controlli, portabilità e dipendenza dal fornitore. Il loro peso dipende dalla situazione. E la scelta va fondata su prove concrete nella configurazione reale, non sulla notorietà del prodotto né sulla comunicazione commerciale. Domanda di verifica: un collega propone di adottare per tutta l'azienda l'assistente AI che usa a casa, perché 'è il migliore'. Quali criteri porterebbero a una valutazione più completa? Risposta: tutti quelli della scheda, in particolare versione aziendale, dati, controlli, integrazione, costi complessivi e prove sui casi reali.</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a priorità media, il cui obiettivo è acquisire consapevolezza. Abbiamo ripetuto più volte che prodotti, funzioni e condizioni cambiano rapidamente. Qui guardiamo a questo fenomeno direttamente: che cosa cambia, con quali conseguenze per le aziende e le persone, e perché le competenze trasferibili sono l'investimento più solido. È anche la ragione per cui i criteri del 4.7 vanno rivisti nel tempo.</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L'ecosistema AI cambia su più fronti contemporaneamente. Le capacità dei modelli: nuove versioni escono a ritmo serrato, con miglioramenti su ragionamento, multimodalità, lunghezza del contesto, velocità, costo; compiti difficili un anno prima diventano ordinari. Le funzionalità: vengono introdotte, modificate, spostate in altri piani, talvolta rimosse; un prodotto può cambiare interfaccia e logica in pochi mesi. La convergenza: applicazioni e piattaforme tendono a offrire funzioni sempre più simili, e i confini tra categorie, per esempio tra assistente, strumento di ricerca e agente, si sfumano; le suite di produttività integrano assistenti, e gli assistenti integrano funzioni di produttività. I modelli commerciali e i prezzi: piani, limiti di utilizzo e tariffe cambiano frequentemente; il costo per elaborare la stessa quantità di testo con un modello di pari capacità è sceso molto negli ultimi anni, ma i modelli più avanzati possono avere costi elevati. Il panorama competitivo: nuovi attori emergono, alcuni prodotti vengono abbandonati, aziende vengono acquisite, alleanze tra fornitori cambiano. Accanto ai cambiamenti, l'evoluzione porta opportunità concrete: prestazioni che migliorano a ogni generazione, costi più bassi per molte attività, nuove capacità multimodali e operative, come lavorare su immagini, voce e documenti o svolgere attività in più passaggi, maggiori possibilità di integrazione con i sistemi aziendali, e strumenti sempre più accessibili anche a chi non ha competenze tecniche. Per il relatore: è utile citare un esempio recente, verificato al momento della sessione, di funzione introdotta o ritirata. Due esempi a ottobre 2026: l'arrivo di modelli di più fornitori dentro lo stesso prodotto, come in Microsoft 365 Copilot, e il cambio di strategia di Meta, che dopo anni di modelli aperti si è orientata verso modelli prevalentemente chiusi.</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ritmo del cambiamento fa invecchiare in fretta strumenti, procedure operative e competenze legate a un singolo prodotto: istruzioni del tipo 'clicca qui', prompt pensati per un modello, valutazioni fatte un anno fa. Per questo conviene rivedere periodicamente strumenti e valutazioni, documentare separando i principi dai dettagli operativi e, soprattutto, investire nelle competenze trasferibili tra piattaforme diverse, che restano utili anche quando cambiano prodotti e tecnologie. È uno dei messaggi più importanti del modulo. A sinistra, ciò che cambia rapidamente: i nomi dei prodotti, le interfacce, le singole funzioni, i piani e i prezzi, la classifica dei modelli migliori. A destra, ciò che resta valido nel tempo: come funzionano i modelli e le applicazioni, che è il Tema 2; quali sono le capacità e i limiti e come valutarne l'affidabilità, che è il Tema 3; come è organizzato l'ecosistema, che è questo tema; come scegliere con criteri, che è questo tema; come interagire bene con l'AI e formulare richieste efficaci, che sono i Temi 5 e 6; come verificare i risultati, che è il Tema 7, e usare l'AI in modo responsabile, che sono i Temi 17 e 18. Chi possiede queste competenze può passare da uno strumento all'altro adattandosi in poco tempo, e sa valutare con lucidità ogni novità. È lo stesso messaggio con cui abbiamo chiuso il Tema 1: l'obiettivo della AI Literacy non è formare utenti di un prodotto, ma persone capaci di usare l'AI in modo consapevole, qualunque forma assuma.</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Come restare aggiornati senza essere travolti dal flusso di novità? Ecco alcuni suggerimenti pratici, utili sia per le persone sia per l'organizzazione. Distinguere tra ciò che è annunciato e ciò che è disponibile, applicando le verifiche viste nel 4.3 e i criteri del 4.7. Valutare le novità rispetto alle proprie esigenze: la domanda non è 'che cosa c'è di nuovo?', ma 'questa novità risolve un problema che abbiamo?'. Scegliere poche fonti affidabili, come la documentazione ufficiale e le note di rilascio dei fornitori in uso, e alcune fonti indipendenti di qualità, invece di inseguire ogni annuncio sui social. Definire momenti periodici di revisione, per esempio ogni sei mesi, per riconsiderare gli strumenti in uso e le loro condizioni. Condividere le scoperte all'interno dell'azienda, per esempio con una comunità interna di utenti, in modo che l'aggiornamento non dipenda da pochi appassionati. E sperimentare in modo controllato, in piccolo, prima di adottare su larga scala. Il messaggio centrale del tema lo riassume: conoscere l'ecosistema significa capire come sono organizzate le soluzioni e scegliere consapevolmente quelle adatte alle esigenze, anziché inseguire ogni nuovo prodotto. Concetto chiave dell'ultimo sottotema. L'ecosistema cambia su più fronti: capacità, funzionalità, convergenza, prezzi, concorrenza. Ne derivano l'obsolescenza di strumenti, procedure e competenze specifiche, e la necessità di rivedere periodicamente scelte e valutazioni. Le competenze trasferibili, cioè capire il funzionamento, valutare l'affidabilità, conoscere l'ecosistema, scegliere con criteri, interagire bene e verificare, sono l'investimento più duraturo. Domanda di verifica: che cosa di ciò che avete imparato in questi quattro temi sarà ancora valido tra tre anni, e che cosa probabilmente no?</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Chiudiamo con la sintesi operativa del modulo: una checklist in cui ogni domanda riprende uno dei sottotemi, utile ogni volta che si valuta l'adozione di uno strumento AI, per sé, per il proprio gruppo o per l'azienda. Otto domande. Per quali attività e obiettivi lo useremo, e chi lo userà? È un modello, un'applicazione o una piattaforma, e quali componenti include? Esistono già funzioni AI nei software che usiamo per le stesse attività? Che livello di autonomia ha, e dove interviene la persona? Le funzioni che ci servono sono disponibili nel nostro piano, paese e configurazione? Che cosa succede ai nostri dati, e quali controlli abbiamo? Quanto costa davvero, oltre il listino? Possiamo uscire, portando con noi dati e configurazioni? Se a una domanda non sappiamo rispondere, è un'informazione da cercare prima della scelta. Suggerimento: riprendere la lista di strumenti scritta alla lavagna in apertura e verificare insieme che ora sappiamo collocarli nella mappa: modello, applicazione o piattaforma, categoria, approccio, livello di autonomia, modalità di accesso.</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 il Tema 4 si chiude l'area 'Comprendere l'AI': sappiamo perché l'AI è rilevante, come funziona, quanto possiamo fidarci dei suoi risultati e come è organizzato l'ecosistema degli strumenti. Il percorso prosegue con l'area 'Interagire con l'AI', che si apre con il Tema 5, dedicato al dialogo uomo-AI: il linguaggio naturale come interfaccia, il passaggio dalla domanda alla conversazione, i ruoli che l'AI può assumere, la collaborazione, i livelli di delega e i rischi della relazione conversazionale. Seguirà il Tema 6, dedicato al prompting e alle tecniche di interazione. Tutti i concetti visti finora, dal contesto alla variabilità, dall'affidabilità alla verifica, dalla distinzione tra modello e applicazione ai livelli di autonomia, saranno la base per passare dalla comprensione alla pratica. Lasciare spazio alle domande finali. Slide facoltativa: se il modulo è presentato da solo o in una selezione di slide, può essere nascosta o tolta senza perdere nulla del contenuto. Nota per il relatore e per chi mantiene il materiale, sull'aggiornamento dei contenuti (ultima verifica: ottobre 2026). Esempi di piattaforme, caratteristiche, prezzi e disponibilità geografiche devono essere verificati e aggiornati prima di ogni erogazione, perché sono elementi variabili e non costituiscono il nucleo durevole del tema. Prima di ogni edizione verificare: nomi, fornitori e integrazioni degli assistenti citati nel 4.3; disponibilità delle funzioni in Italia e nell'Unione europea; esempi di famiglie di modelli proprietari e open-weight nel 4.2; differenze tra versioni individuali, team ed enterprise nel 4.6; novità recenti da usare come esempio nel 4.8. Fonti: documentazione ufficiale e note di rilascio dei fornitori; Open Source Initiative, Open Source AI Definition 1.0 (2024).</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Vediamo un esempio concreto, fittizio, di come un agente può lavorare in un'azienda. Un commerciale chiede: prepara l'offerta di rinnovo per il cliente Bianchi. L'agente pianifica i passaggi e li esegue usando gli strumenti a cui ha accesso. Cerca le informazioni: lo storico degli ordini nel CRM, il listino aggiornato, le ultime email scambiate con il cliente. Le analizza: confronta i volumi acquistati, i prezzi e le condizioni applicate negli anni precedenti. Prepara il documento: una bozza dell'offerta nel formato aziendale, con una breve nota che spiega le scelte. Infine si ferma e chiede l'approvazione: il commerciale verifica, corregge se serve e decide se e quando inviare. Il valore pratico sta proprio qui: un'attività articolata, che richiederebbe di aprire più sistemi e mettere insieme informazioni sparse, viene delegata in blocco, e la persona si concentra sulla decisione finale e sulla relazione con il cliente. Due condizioni rendono l'esempio realistico: l'agente usa solo i permessi che gli sono stati concessi, per esempio può leggere il CRM ma non modificarlo, e non invia nulla senza conferma. È la persona nel ciclo, che vediamo tra poco. La progettazione di agenti e flussi è approfondita nel Tema 11.</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4  ·  Ecosistema AI: modelli, strumenti e piattaforme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marL="0" indent="0">
              <a:buNone/>
            </a:pPr>
            <a:r>
              <a:rPr lang="en-US" sz="900" dirty="0">
                <a:solidFill>
                  <a:schemeClr val="accent2"/>
                </a:solidFill>
              </a:rPr>
              <a:t>AI Literacy  ·  Tema 4  ·  Ecosistema AI: modelli, strumenti e piattaforme</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marL="0" indent="0">
              <a:buNone/>
            </a:pPr>
            <a:r>
              <a:rPr lang="en-US" sz="1300" b="1" kern="0" spc="300" dirty="0">
                <a:solidFill>
                  <a:schemeClr val="accent1"/>
                </a:solidFill>
              </a:rPr>
              <a:t>CONCETTO CHIAVE</a:t>
            </a:r>
            <a:endParaRPr lang="en-US" sz="1300" dirty="0"/>
          </a:p>
        </p:txBody>
      </p:sp>
      <p:sp>
        <p:nvSpPr>
          <p:cNvPr id="3" name="Text 1"/>
          <p:cNvSpPr>
            <a:spLocks noGrp="1"/>
          </p:cNvSpPr>
          <p:nvPr>
            <p:ph type="body" idx="101" hasCustomPrompt="1"/>
          </p:nvPr>
        </p:nvSpPr>
        <p:spPr>
          <a:xfrm>
            <a:off x="822960" y="1600200"/>
            <a:ext cx="7498080" cy="201168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
        <p:nvSpPr>
          <p:cNvPr id="4" name="Text 1"/>
          <p:cNvSpPr>
            <a:spLocks noGrp="1"/>
          </p:cNvSpPr>
          <p:nvPr>
            <p:ph type="body" idx="102" hasCustomPrompt="1"/>
          </p:nvPr>
        </p:nvSpPr>
        <p:spPr>
          <a:xfrm>
            <a:off x="822960" y="3794760"/>
            <a:ext cx="7498080" cy="365760"/>
          </a:xfrm>
          <a:prstGeom prst="rect">
            <a:avLst/>
          </a:prstGeom>
          <a:noFill/>
          <a:ln/>
        </p:spPr>
        <p:txBody>
          <a:bodyPr wrap="square" rtlCol="0"/>
          <a:lstStyle>
            <a:lvl1pPr marL="0" indent="0">
              <a:buNone/>
              <a:defRPr lang="en-US" sz="1300" dirty="0">
                <a:solidFill>
                  <a:schemeClr val="accent3"/>
                </a:solidFill>
              </a:defRPr>
            </a:lvl1pPr>
          </a:lstStyle>
          <a:p>
            <a:pPr marL="0" indent="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4  ·  Ecosistema AI: modelli, strumenti e piattaforme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8.png"/><Relationship Id="rId5" Type="http://schemas.openxmlformats.org/officeDocument/2006/relationships/image" Target="../media/image22.png"/><Relationship Id="rId6"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2.png"/><Relationship Id="rId7"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36.png"/><Relationship Id="rId5"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5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5.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25.png"/><Relationship Id="rId6" Type="http://schemas.openxmlformats.org/officeDocument/2006/relationships/image" Target="../media/image13.png"/><Relationship Id="rId7"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3.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48.png"/><Relationship Id="rId5"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50.png"/><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36.png"/><Relationship Id="rId6" Type="http://schemas.openxmlformats.org/officeDocument/2006/relationships/image" Target="../media/image5.png"/><Relationship Id="rId7" Type="http://schemas.openxmlformats.org/officeDocument/2006/relationships/image" Target="../media/image51.png"/><Relationship Id="rId8" Type="http://schemas.openxmlformats.org/officeDocument/2006/relationships/image" Target="../media/image35.png"/><Relationship Id="rId9"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3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7.png"/><Relationship Id="rId4" Type="http://schemas.openxmlformats.org/officeDocument/2006/relationships/image" Target="../media/image5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21.png"/><Relationship Id="rId8"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58.png"/><Relationship Id="rId4" Type="http://schemas.openxmlformats.org/officeDocument/2006/relationships/image" Target="../media/image1.png"/><Relationship Id="rId5" Type="http://schemas.openxmlformats.org/officeDocument/2006/relationships/image" Target="../media/image34.png"/><Relationship Id="rId6" Type="http://schemas.openxmlformats.org/officeDocument/2006/relationships/image" Target="../media/image59.png"/><Relationship Id="rId7" Type="http://schemas.openxmlformats.org/officeDocument/2006/relationships/image" Target="../media/image36.png"/><Relationship Id="rId8" Type="http://schemas.openxmlformats.org/officeDocument/2006/relationships/image" Target="../media/image3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45.png"/><Relationship Id="rId8" Type="http://schemas.openxmlformats.org/officeDocument/2006/relationships/image" Target="../media/image60.png"/><Relationship Id="rId9" Type="http://schemas.openxmlformats.org/officeDocument/2006/relationships/image" Target="../media/image55.png"/><Relationship Id="rId10" Type="http://schemas.openxmlformats.org/officeDocument/2006/relationships/image" Target="../media/image6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6.png"/><Relationship Id="rId5" Type="http://schemas.openxmlformats.org/officeDocument/2006/relationships/image" Target="../media/image5.png"/><Relationship Id="rId6" Type="http://schemas.openxmlformats.org/officeDocument/2006/relationships/image" Target="../media/image51.png"/><Relationship Id="rId7" Type="http://schemas.openxmlformats.org/officeDocument/2006/relationships/notesSlide" Target="../notesSlides/notesSlide71.xml"/><Relationship Id="rId8" Type="http://schemas.openxmlformats.org/officeDocument/2006/relationships/image" Target="../media/image21.png"/><Relationship Id="rId9" Type="http://schemas.openxmlformats.org/officeDocument/2006/relationships/image" Target="../media/image28.png"/><Relationship Id="rId10"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PERCORSO AI LITERACY  ·  TEMA 4</a:t>
            </a: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a:solidFill>
                  <a:schemeClr val="bg1"/>
                </a:solidFill>
              </a:rPr>
              <a:t>Ecosistema AI: modelli, strumenti e piattaforme</a:t>
            </a: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sz="1600" dirty="0">
                <a:solidFill>
                  <a:schemeClr val="accent3"/>
                </a:solidFill>
              </a:rPr>
              <a:t>Area: Comprendere l'AI</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marL="0" indent="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txBody>
          <a:bodyPr/>
          <a:lstStyle/>
          <a:p>
            <a:endParaRPr lang="it-IT"/>
          </a:p>
        </p:txBody>
      </p:sp>
      <p:sp>
        <p:nvSpPr>
          <p:cNvPr id="5" name="cerchio FiTarget"/>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Targe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Una mappa stabile dell'ecosistema: modelli, applicazioni, piattaforme, infrastrutture, accessi</a:t>
            </a:r>
            <a:endParaRPr lang="en-US" sz="1400" dirty="0"/>
          </a:p>
          <a:p>
            <a:pPr marL="177800" indent="-177800">
              <a:spcAft>
                <a:spcPts val="600"/>
              </a:spcAft>
              <a:buSzPct val="100000"/>
              <a:buChar char="•"/>
            </a:pPr>
            <a:r>
              <a:rPr lang="en-US" sz="1400" dirty="0">
                <a:solidFill>
                  <a:schemeClr val="tx2"/>
                </a:solidFill>
              </a:rPr>
              <a:t>Criteri per confrontare e scegliere le soluzioni</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txBody>
          <a:bodyPr/>
          <a:lstStyle/>
          <a:p>
            <a:endParaRPr lang="it-IT"/>
          </a:p>
        </p:txBody>
      </p:sp>
      <p:sp>
        <p:nvSpPr>
          <p:cNvPr id="10" name="cerchio FiCompass"/>
          <p:cNvSpPr/>
          <p:nvPr/>
        </p:nvSpPr>
        <p:spPr>
          <a:xfrm>
            <a:off x="4892040" y="1280160"/>
            <a:ext cx="457200" cy="457200"/>
          </a:xfrm>
          <a:prstGeom prst="ellipse">
            <a:avLst/>
          </a:prstGeom>
          <a:solidFill>
            <a:schemeClr val="accent1"/>
          </a:solidFill>
          <a:ln/>
        </p:spPr>
        <p:txBody>
          <a:bodyPr/>
          <a:lstStyle/>
          <a:p>
            <a:endParaRPr lang="it-IT"/>
          </a:p>
        </p:txBody>
      </p:sp>
      <p:pic>
        <p:nvPicPr>
          <p:cNvPr id="11" name="Image 1" descr="FiCompas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buNone/>
            </a:pPr>
            <a:r>
              <a:rPr lang="en-US" sz="1400" dirty="0">
                <a:solidFill>
                  <a:schemeClr val="tx2"/>
                </a:solidFill>
              </a:rPr>
              <a:t>Il valore di uno strumento non dipende solo dal modello, ma anche da funzionalità, integrazioni, condizioni d'uso e adeguatezza al contesto.</a:t>
            </a:r>
            <a:endParaRPr lang="en-US" sz="1400" dirty="0"/>
          </a:p>
          <a:p>
            <a:pPr marL="0" indent="0">
              <a:buNone/>
            </a:pPr>
            <a:endParaRPr lang="en-US" sz="1400" dirty="0"/>
          </a:p>
          <a:p>
            <a:pPr marL="0" indent="0">
              <a:buNone/>
            </a:pPr>
            <a:r>
              <a:rPr lang="en-US" sz="1400" dirty="0">
                <a:solidFill>
                  <a:schemeClr val="tx2"/>
                </a:solidFill>
              </a:rPr>
              <a:t>Sapersi orientare, non conoscere a memoria tutti i prodotti.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filo conduttore</a:t>
            </a:r>
            <a:endParaRPr lang="en-US" sz="2600" dirty="0"/>
          </a:p>
        </p:txBody>
      </p:sp>
      <p:sp>
        <p:nvSpPr>
          <p:cNvPr id="4" name="Struttura e modelli"/>
          <p:cNvSpPr/>
          <p:nvPr/>
        </p:nvSpPr>
        <p:spPr>
          <a:xfrm>
            <a:off x="457200" y="1051560"/>
            <a:ext cx="1920240" cy="1965960"/>
          </a:xfrm>
          <a:prstGeom prst="roundRect">
            <a:avLst>
              <a:gd name="adj" fmla="val 3810"/>
            </a:avLst>
          </a:prstGeom>
          <a:solidFill>
            <a:schemeClr val="bg2"/>
          </a:solidFill>
          <a:ln/>
        </p:spPr>
        <p:txBody>
          <a:bodyPr/>
          <a:lstStyle/>
          <a:p>
            <a:endParaRPr lang="it-IT"/>
          </a:p>
        </p:txBody>
      </p:sp>
      <p:sp>
        <p:nvSpPr>
          <p:cNvPr id="5" name="cerchio FiMap"/>
          <p:cNvSpPr/>
          <p:nvPr/>
        </p:nvSpPr>
        <p:spPr>
          <a:xfrm>
            <a:off x="1097280" y="1161288"/>
            <a:ext cx="640080" cy="640080"/>
          </a:xfrm>
          <a:prstGeom prst="ellipse">
            <a:avLst/>
          </a:prstGeom>
          <a:solidFill>
            <a:schemeClr val="accent1"/>
          </a:solidFill>
          <a:ln/>
        </p:spPr>
        <p:txBody>
          <a:bodyPr/>
          <a:lstStyle/>
          <a:p>
            <a:endParaRPr lang="it-IT"/>
          </a:p>
        </p:txBody>
      </p:sp>
      <p:pic>
        <p:nvPicPr>
          <p:cNvPr id="6" name="Image 0" descr="FiMap"/>
          <p:cNvPicPr>
            <a:picLocks noChangeAspect="1"/>
          </p:cNvPicPr>
          <p:nvPr/>
        </p:nvPicPr>
        <p:blipFill>
          <a:blip r:embed="rId3"/>
          <a:stretch>
            <a:fillRect/>
          </a:stretch>
        </p:blipFill>
        <p:spPr>
          <a:xfrm>
            <a:off x="1257300" y="1321308"/>
            <a:ext cx="320040" cy="320040"/>
          </a:xfrm>
          <a:prstGeom prst="rect">
            <a:avLst/>
          </a:prstGeom>
        </p:spPr>
      </p:pic>
      <p:sp>
        <p:nvSpPr>
          <p:cNvPr id="7" name="Text 3"/>
          <p:cNvSpPr txBox="1"/>
          <p:nvPr/>
        </p:nvSpPr>
        <p:spPr>
          <a:xfrm>
            <a:off x="548640" y="1874520"/>
            <a:ext cx="1737360" cy="347472"/>
          </a:xfrm>
          <a:prstGeom prst="rect">
            <a:avLst/>
          </a:prstGeom>
          <a:noFill/>
          <a:ln/>
        </p:spPr>
        <p:txBody>
          <a:bodyPr wrap="square" lIns="0" tIns="0" rIns="0" bIns="0" rtlCol="0" anchor="t"/>
          <a:lstStyle/>
          <a:p>
            <a:pPr marL="0" indent="0" algn="ctr">
              <a:buNone/>
            </a:pPr>
            <a:r>
              <a:rPr lang="en-US" sz="1500" b="1" dirty="0">
                <a:solidFill>
                  <a:schemeClr val="tx1"/>
                </a:solidFill>
              </a:rPr>
              <a:t>Struttura e modelli</a:t>
            </a:r>
            <a:endParaRPr lang="en-US" sz="1500" dirty="0"/>
          </a:p>
        </p:txBody>
      </p:sp>
      <p:sp>
        <p:nvSpPr>
          <p:cNvPr id="8" name="Text 4"/>
          <p:cNvSpPr txBox="1"/>
          <p:nvPr/>
        </p:nvSpPr>
        <p:spPr>
          <a:xfrm>
            <a:off x="548640" y="2221992"/>
            <a:ext cx="1737360" cy="457200"/>
          </a:xfrm>
          <a:prstGeom prst="rect">
            <a:avLst/>
          </a:prstGeom>
          <a:noFill/>
          <a:ln/>
        </p:spPr>
        <p:txBody>
          <a:bodyPr wrap="square" lIns="0" tIns="0" rIns="0" bIns="0" rtlCol="0" anchor="t"/>
          <a:lstStyle/>
          <a:p>
            <a:pPr marL="0" indent="0" algn="ctr">
              <a:buNone/>
            </a:pPr>
            <a:r>
              <a:rPr lang="en-US" sz="1200" dirty="0">
                <a:solidFill>
                  <a:schemeClr val="tx2"/>
                </a:solidFill>
              </a:rPr>
              <a:t>Di che cosa è fatta un'applicazione</a:t>
            </a:r>
            <a:endParaRPr lang="en-US" sz="1200" dirty="0"/>
          </a:p>
        </p:txBody>
      </p:sp>
      <p:sp>
        <p:nvSpPr>
          <p:cNvPr id="9" name="Text 5"/>
          <p:cNvSpPr txBox="1"/>
          <p:nvPr/>
        </p:nvSpPr>
        <p:spPr>
          <a:xfrm>
            <a:off x="548640" y="2697480"/>
            <a:ext cx="1737360" cy="274320"/>
          </a:xfrm>
          <a:prstGeom prst="rect">
            <a:avLst/>
          </a:prstGeom>
          <a:noFill/>
          <a:ln/>
        </p:spPr>
        <p:txBody>
          <a:bodyPr wrap="square" lIns="0" tIns="0" rIns="0" bIns="0" rtlCol="0" anchor="t"/>
          <a:lstStyle/>
          <a:p>
            <a:pPr marL="0" indent="0" algn="ctr">
              <a:buNone/>
            </a:pPr>
            <a:r>
              <a:rPr lang="en-US" sz="1200" b="1" dirty="0">
                <a:solidFill>
                  <a:schemeClr val="accent1"/>
                </a:solidFill>
              </a:rPr>
              <a:t>4.1  4.2</a:t>
            </a:r>
            <a:endParaRPr lang="en-US" sz="1200" dirty="0"/>
          </a:p>
        </p:txBody>
      </p:sp>
      <p:sp>
        <p:nvSpPr>
          <p:cNvPr id="10" name="freccia"/>
          <p:cNvSpPr/>
          <p:nvPr/>
        </p:nvSpPr>
        <p:spPr>
          <a:xfrm>
            <a:off x="2386584" y="1828800"/>
            <a:ext cx="155448" cy="292608"/>
          </a:xfrm>
          <a:prstGeom prst="rightArrow">
            <a:avLst/>
          </a:prstGeom>
          <a:solidFill>
            <a:schemeClr val="accent2"/>
          </a:solidFill>
          <a:ln/>
        </p:spPr>
        <p:txBody>
          <a:bodyPr/>
          <a:lstStyle/>
          <a:p>
            <a:endParaRPr lang="it-IT"/>
          </a:p>
        </p:txBody>
      </p:sp>
      <p:sp>
        <p:nvSpPr>
          <p:cNvPr id="11" name="Prodotti e approcci"/>
          <p:cNvSpPr/>
          <p:nvPr/>
        </p:nvSpPr>
        <p:spPr>
          <a:xfrm>
            <a:off x="2560320" y="1051560"/>
            <a:ext cx="1920240" cy="1965960"/>
          </a:xfrm>
          <a:prstGeom prst="roundRect">
            <a:avLst>
              <a:gd name="adj" fmla="val 3810"/>
            </a:avLst>
          </a:prstGeom>
          <a:solidFill>
            <a:schemeClr val="bg2"/>
          </a:solidFill>
          <a:ln/>
        </p:spPr>
        <p:txBody>
          <a:bodyPr/>
          <a:lstStyle/>
          <a:p>
            <a:endParaRPr lang="it-IT"/>
          </a:p>
        </p:txBody>
      </p:sp>
      <p:sp>
        <p:nvSpPr>
          <p:cNvPr id="12" name="cerchio FiGrid"/>
          <p:cNvSpPr/>
          <p:nvPr/>
        </p:nvSpPr>
        <p:spPr>
          <a:xfrm>
            <a:off x="3200400" y="1161288"/>
            <a:ext cx="640080" cy="640080"/>
          </a:xfrm>
          <a:prstGeom prst="ellipse">
            <a:avLst/>
          </a:prstGeom>
          <a:solidFill>
            <a:schemeClr val="accent1"/>
          </a:solidFill>
          <a:ln/>
        </p:spPr>
        <p:txBody>
          <a:bodyPr/>
          <a:lstStyle/>
          <a:p>
            <a:endParaRPr lang="it-IT"/>
          </a:p>
        </p:txBody>
      </p:sp>
      <p:pic>
        <p:nvPicPr>
          <p:cNvPr id="13" name="Image 1" descr="FiGrid"/>
          <p:cNvPicPr>
            <a:picLocks noChangeAspect="1"/>
          </p:cNvPicPr>
          <p:nvPr/>
        </p:nvPicPr>
        <p:blipFill>
          <a:blip r:embed="rId4"/>
          <a:stretch>
            <a:fillRect/>
          </a:stretch>
        </p:blipFill>
        <p:spPr>
          <a:xfrm>
            <a:off x="3360420" y="1321308"/>
            <a:ext cx="320040" cy="320040"/>
          </a:xfrm>
          <a:prstGeom prst="rect">
            <a:avLst/>
          </a:prstGeom>
        </p:spPr>
      </p:pic>
      <p:sp>
        <p:nvSpPr>
          <p:cNvPr id="14" name="Text 9"/>
          <p:cNvSpPr txBox="1"/>
          <p:nvPr/>
        </p:nvSpPr>
        <p:spPr>
          <a:xfrm>
            <a:off x="2651760" y="1874520"/>
            <a:ext cx="1737360" cy="347472"/>
          </a:xfrm>
          <a:prstGeom prst="rect">
            <a:avLst/>
          </a:prstGeom>
          <a:noFill/>
          <a:ln/>
        </p:spPr>
        <p:txBody>
          <a:bodyPr wrap="square" lIns="0" tIns="0" rIns="0" bIns="0" rtlCol="0" anchor="t"/>
          <a:lstStyle/>
          <a:p>
            <a:pPr marL="0" indent="0" algn="ctr">
              <a:buNone/>
            </a:pPr>
            <a:r>
              <a:rPr lang="en-US" sz="1500" b="1" dirty="0">
                <a:solidFill>
                  <a:schemeClr val="tx1"/>
                </a:solidFill>
              </a:rPr>
              <a:t>Prodotti e approcci</a:t>
            </a:r>
            <a:endParaRPr lang="en-US" sz="1500" dirty="0"/>
          </a:p>
        </p:txBody>
      </p:sp>
      <p:sp>
        <p:nvSpPr>
          <p:cNvPr id="15" name="Text 10"/>
          <p:cNvSpPr txBox="1"/>
          <p:nvPr/>
        </p:nvSpPr>
        <p:spPr>
          <a:xfrm>
            <a:off x="2651760" y="2221992"/>
            <a:ext cx="1737360" cy="457200"/>
          </a:xfrm>
          <a:prstGeom prst="rect">
            <a:avLst/>
          </a:prstGeom>
          <a:noFill/>
          <a:ln/>
        </p:spPr>
        <p:txBody>
          <a:bodyPr wrap="square" lIns="0" tIns="0" rIns="0" bIns="0" rtlCol="0" anchor="t"/>
          <a:lstStyle/>
          <a:p>
            <a:pPr marL="0" indent="0" algn="ctr">
              <a:buNone/>
            </a:pPr>
            <a:r>
              <a:rPr lang="en-US" sz="1200" dirty="0">
                <a:solidFill>
                  <a:schemeClr val="tx2"/>
                </a:solidFill>
              </a:rPr>
              <a:t>Leggere l'offerta</a:t>
            </a:r>
            <a:endParaRPr lang="en-US" sz="1200" dirty="0"/>
          </a:p>
        </p:txBody>
      </p:sp>
      <p:sp>
        <p:nvSpPr>
          <p:cNvPr id="16" name="Text 11"/>
          <p:cNvSpPr txBox="1"/>
          <p:nvPr/>
        </p:nvSpPr>
        <p:spPr>
          <a:xfrm>
            <a:off x="2651760" y="2697480"/>
            <a:ext cx="1737360" cy="274320"/>
          </a:xfrm>
          <a:prstGeom prst="rect">
            <a:avLst/>
          </a:prstGeom>
          <a:noFill/>
          <a:ln/>
        </p:spPr>
        <p:txBody>
          <a:bodyPr wrap="square" lIns="0" tIns="0" rIns="0" bIns="0" rtlCol="0" anchor="t"/>
          <a:lstStyle/>
          <a:p>
            <a:pPr marL="0" indent="0" algn="ctr">
              <a:buNone/>
            </a:pPr>
            <a:r>
              <a:rPr lang="en-US" sz="1200" b="1" dirty="0">
                <a:solidFill>
                  <a:schemeClr val="accent1"/>
                </a:solidFill>
              </a:rPr>
              <a:t>4.3  4.4</a:t>
            </a:r>
            <a:endParaRPr lang="en-US" sz="1200" dirty="0"/>
          </a:p>
        </p:txBody>
      </p:sp>
      <p:sp>
        <p:nvSpPr>
          <p:cNvPr id="17" name="freccia"/>
          <p:cNvSpPr/>
          <p:nvPr/>
        </p:nvSpPr>
        <p:spPr>
          <a:xfrm>
            <a:off x="4489704" y="1828800"/>
            <a:ext cx="155448" cy="292608"/>
          </a:xfrm>
          <a:prstGeom prst="rightArrow">
            <a:avLst/>
          </a:prstGeom>
          <a:solidFill>
            <a:schemeClr val="accent2"/>
          </a:solidFill>
          <a:ln/>
        </p:spPr>
        <p:txBody>
          <a:bodyPr/>
          <a:lstStyle/>
          <a:p>
            <a:endParaRPr lang="it-IT"/>
          </a:p>
        </p:txBody>
      </p:sp>
      <p:sp>
        <p:nvSpPr>
          <p:cNvPr id="18" name="Autonomia e accesso"/>
          <p:cNvSpPr/>
          <p:nvPr/>
        </p:nvSpPr>
        <p:spPr>
          <a:xfrm>
            <a:off x="4663440" y="1051560"/>
            <a:ext cx="1920240" cy="1965960"/>
          </a:xfrm>
          <a:prstGeom prst="roundRect">
            <a:avLst>
              <a:gd name="adj" fmla="val 3810"/>
            </a:avLst>
          </a:prstGeom>
          <a:solidFill>
            <a:schemeClr val="bg2"/>
          </a:solidFill>
          <a:ln/>
        </p:spPr>
        <p:txBody>
          <a:bodyPr/>
          <a:lstStyle/>
          <a:p>
            <a:endParaRPr lang="it-IT"/>
          </a:p>
        </p:txBody>
      </p:sp>
      <p:sp>
        <p:nvSpPr>
          <p:cNvPr id="19" name="cerchio FiSliders"/>
          <p:cNvSpPr/>
          <p:nvPr/>
        </p:nvSpPr>
        <p:spPr>
          <a:xfrm>
            <a:off x="5303520" y="1161288"/>
            <a:ext cx="640080" cy="640080"/>
          </a:xfrm>
          <a:prstGeom prst="ellipse">
            <a:avLst/>
          </a:prstGeom>
          <a:solidFill>
            <a:schemeClr val="accent1"/>
          </a:solidFill>
          <a:ln/>
        </p:spPr>
        <p:txBody>
          <a:bodyPr/>
          <a:lstStyle/>
          <a:p>
            <a:endParaRPr lang="it-IT"/>
          </a:p>
        </p:txBody>
      </p:sp>
      <p:pic>
        <p:nvPicPr>
          <p:cNvPr id="20" name="Image 2" descr="FiSliders"/>
          <p:cNvPicPr>
            <a:picLocks noChangeAspect="1"/>
          </p:cNvPicPr>
          <p:nvPr/>
        </p:nvPicPr>
        <p:blipFill>
          <a:blip r:embed="rId5"/>
          <a:stretch>
            <a:fillRect/>
          </a:stretch>
        </p:blipFill>
        <p:spPr>
          <a:xfrm>
            <a:off x="5463540" y="1321308"/>
            <a:ext cx="320040" cy="320040"/>
          </a:xfrm>
          <a:prstGeom prst="rect">
            <a:avLst/>
          </a:prstGeom>
        </p:spPr>
      </p:pic>
      <p:sp>
        <p:nvSpPr>
          <p:cNvPr id="21" name="Text 15"/>
          <p:cNvSpPr txBox="1"/>
          <p:nvPr/>
        </p:nvSpPr>
        <p:spPr>
          <a:xfrm>
            <a:off x="4754880" y="1874520"/>
            <a:ext cx="1737360" cy="347472"/>
          </a:xfrm>
          <a:prstGeom prst="rect">
            <a:avLst/>
          </a:prstGeom>
          <a:noFill/>
          <a:ln/>
        </p:spPr>
        <p:txBody>
          <a:bodyPr wrap="square" lIns="0" tIns="0" rIns="0" bIns="0" rtlCol="0" anchor="t"/>
          <a:lstStyle/>
          <a:p>
            <a:pPr marL="0" indent="0" algn="ctr">
              <a:buNone/>
            </a:pPr>
            <a:r>
              <a:rPr lang="en-US" sz="1500" b="1" dirty="0">
                <a:solidFill>
                  <a:schemeClr val="tx1"/>
                </a:solidFill>
              </a:rPr>
              <a:t>Autonomia e accesso</a:t>
            </a:r>
            <a:endParaRPr lang="en-US" sz="1500" dirty="0"/>
          </a:p>
        </p:txBody>
      </p:sp>
      <p:sp>
        <p:nvSpPr>
          <p:cNvPr id="22" name="Text 16"/>
          <p:cNvSpPr txBox="1"/>
          <p:nvPr/>
        </p:nvSpPr>
        <p:spPr>
          <a:xfrm>
            <a:off x="4754880" y="2221992"/>
            <a:ext cx="1737360" cy="457200"/>
          </a:xfrm>
          <a:prstGeom prst="rect">
            <a:avLst/>
          </a:prstGeom>
          <a:noFill/>
          <a:ln/>
        </p:spPr>
        <p:txBody>
          <a:bodyPr wrap="square" lIns="0" tIns="0" rIns="0" bIns="0" rtlCol="0" anchor="t"/>
          <a:lstStyle/>
          <a:p>
            <a:pPr marL="0" indent="0" algn="ctr">
              <a:buNone/>
            </a:pPr>
            <a:r>
              <a:rPr lang="en-US" sz="1200" dirty="0">
                <a:solidFill>
                  <a:schemeClr val="tx2"/>
                </a:solidFill>
              </a:rPr>
              <a:t>Che cosa fa, come arriva</a:t>
            </a:r>
            <a:endParaRPr lang="en-US" sz="1200" dirty="0"/>
          </a:p>
        </p:txBody>
      </p:sp>
      <p:sp>
        <p:nvSpPr>
          <p:cNvPr id="23" name="Text 17"/>
          <p:cNvSpPr txBox="1"/>
          <p:nvPr/>
        </p:nvSpPr>
        <p:spPr>
          <a:xfrm>
            <a:off x="4754880" y="2697480"/>
            <a:ext cx="1737360" cy="274320"/>
          </a:xfrm>
          <a:prstGeom prst="rect">
            <a:avLst/>
          </a:prstGeom>
          <a:noFill/>
          <a:ln/>
        </p:spPr>
        <p:txBody>
          <a:bodyPr wrap="square" lIns="0" tIns="0" rIns="0" bIns="0" rtlCol="0" anchor="t"/>
          <a:lstStyle/>
          <a:p>
            <a:pPr marL="0" indent="0" algn="ctr">
              <a:buNone/>
            </a:pPr>
            <a:r>
              <a:rPr lang="en-US" sz="1200" b="1" dirty="0">
                <a:solidFill>
                  <a:schemeClr val="accent1"/>
                </a:solidFill>
              </a:rPr>
              <a:t>4.5  4.6</a:t>
            </a:r>
            <a:endParaRPr lang="en-US" sz="1200" dirty="0"/>
          </a:p>
        </p:txBody>
      </p:sp>
      <p:sp>
        <p:nvSpPr>
          <p:cNvPr id="24" name="freccia"/>
          <p:cNvSpPr/>
          <p:nvPr/>
        </p:nvSpPr>
        <p:spPr>
          <a:xfrm>
            <a:off x="6592824" y="1828800"/>
            <a:ext cx="155448" cy="292608"/>
          </a:xfrm>
          <a:prstGeom prst="rightArrow">
            <a:avLst/>
          </a:prstGeom>
          <a:solidFill>
            <a:schemeClr val="accent2"/>
          </a:solidFill>
          <a:ln/>
        </p:spPr>
        <p:txBody>
          <a:bodyPr/>
          <a:lstStyle/>
          <a:p>
            <a:endParaRPr lang="it-IT"/>
          </a:p>
        </p:txBody>
      </p:sp>
      <p:sp>
        <p:nvSpPr>
          <p:cNvPr id="25" name="Scelta ed evoluzione"/>
          <p:cNvSpPr/>
          <p:nvPr/>
        </p:nvSpPr>
        <p:spPr>
          <a:xfrm>
            <a:off x="6766560" y="1051560"/>
            <a:ext cx="1920240" cy="1965960"/>
          </a:xfrm>
          <a:prstGeom prst="roundRect">
            <a:avLst>
              <a:gd name="adj" fmla="val 3810"/>
            </a:avLst>
          </a:prstGeom>
          <a:solidFill>
            <a:schemeClr val="accent1"/>
          </a:solidFill>
          <a:ln/>
        </p:spPr>
        <p:txBody>
          <a:bodyPr/>
          <a:lstStyle/>
          <a:p>
            <a:endParaRPr lang="it-IT"/>
          </a:p>
        </p:txBody>
      </p:sp>
      <p:sp>
        <p:nvSpPr>
          <p:cNvPr id="26" name="cerchio FiCheckSquare"/>
          <p:cNvSpPr/>
          <p:nvPr/>
        </p:nvSpPr>
        <p:spPr>
          <a:xfrm>
            <a:off x="7406640" y="1161288"/>
            <a:ext cx="640080" cy="640080"/>
          </a:xfrm>
          <a:prstGeom prst="ellipse">
            <a:avLst/>
          </a:prstGeom>
          <a:solidFill>
            <a:schemeClr val="bg1"/>
          </a:solidFill>
          <a:ln/>
        </p:spPr>
        <p:txBody>
          <a:bodyPr/>
          <a:lstStyle/>
          <a:p>
            <a:endParaRPr lang="it-IT"/>
          </a:p>
        </p:txBody>
      </p:sp>
      <p:pic>
        <p:nvPicPr>
          <p:cNvPr id="27" name="Image 3" descr="FiCheckSquare"/>
          <p:cNvPicPr>
            <a:picLocks noChangeAspect="1"/>
          </p:cNvPicPr>
          <p:nvPr/>
        </p:nvPicPr>
        <p:blipFill>
          <a:blip r:embed="rId6"/>
          <a:stretch>
            <a:fillRect/>
          </a:stretch>
        </p:blipFill>
        <p:spPr>
          <a:xfrm>
            <a:off x="7566660" y="1321308"/>
            <a:ext cx="320040" cy="320040"/>
          </a:xfrm>
          <a:prstGeom prst="rect">
            <a:avLst/>
          </a:prstGeom>
        </p:spPr>
      </p:pic>
      <p:sp>
        <p:nvSpPr>
          <p:cNvPr id="28" name="Text 21"/>
          <p:cNvSpPr txBox="1"/>
          <p:nvPr/>
        </p:nvSpPr>
        <p:spPr>
          <a:xfrm>
            <a:off x="6858000" y="1874520"/>
            <a:ext cx="1737360" cy="347472"/>
          </a:xfrm>
          <a:prstGeom prst="rect">
            <a:avLst/>
          </a:prstGeom>
          <a:noFill/>
          <a:ln/>
        </p:spPr>
        <p:txBody>
          <a:bodyPr wrap="square" lIns="0" tIns="0" rIns="0" bIns="0" rtlCol="0" anchor="t"/>
          <a:lstStyle/>
          <a:p>
            <a:pPr marL="0" indent="0" algn="ctr">
              <a:buNone/>
            </a:pPr>
            <a:r>
              <a:rPr lang="en-US" sz="1500" b="1" dirty="0">
                <a:solidFill>
                  <a:schemeClr val="bg1"/>
                </a:solidFill>
              </a:rPr>
              <a:t>Scelta ed evoluzione</a:t>
            </a:r>
            <a:endParaRPr lang="en-US" sz="1500" dirty="0"/>
          </a:p>
        </p:txBody>
      </p:sp>
      <p:sp>
        <p:nvSpPr>
          <p:cNvPr id="29" name="Text 22"/>
          <p:cNvSpPr txBox="1"/>
          <p:nvPr/>
        </p:nvSpPr>
        <p:spPr>
          <a:xfrm>
            <a:off x="6858000" y="2221992"/>
            <a:ext cx="1737360" cy="457200"/>
          </a:xfrm>
          <a:prstGeom prst="rect">
            <a:avLst/>
          </a:prstGeom>
          <a:noFill/>
          <a:ln/>
        </p:spPr>
        <p:txBody>
          <a:bodyPr wrap="square" lIns="0" tIns="0" rIns="0" bIns="0" rtlCol="0" anchor="t"/>
          <a:lstStyle/>
          <a:p>
            <a:pPr marL="0" indent="0" algn="ctr">
              <a:buNone/>
            </a:pPr>
            <a:r>
              <a:rPr lang="en-US" sz="1200" dirty="0">
                <a:solidFill>
                  <a:schemeClr val="bg1"/>
                </a:solidFill>
              </a:rPr>
              <a:t>Criteri e revisione nel tempo</a:t>
            </a:r>
            <a:endParaRPr lang="en-US" sz="1200" dirty="0"/>
          </a:p>
        </p:txBody>
      </p:sp>
      <p:sp>
        <p:nvSpPr>
          <p:cNvPr id="30" name="Text 23"/>
          <p:cNvSpPr txBox="1"/>
          <p:nvPr/>
        </p:nvSpPr>
        <p:spPr>
          <a:xfrm>
            <a:off x="6858000" y="2697480"/>
            <a:ext cx="1737360" cy="274320"/>
          </a:xfrm>
          <a:prstGeom prst="rect">
            <a:avLst/>
          </a:prstGeom>
          <a:noFill/>
          <a:ln/>
        </p:spPr>
        <p:txBody>
          <a:bodyPr wrap="square" lIns="0" tIns="0" rIns="0" bIns="0" rtlCol="0" anchor="t"/>
          <a:lstStyle/>
          <a:p>
            <a:pPr marL="0" indent="0" algn="ctr">
              <a:buNone/>
            </a:pPr>
            <a:r>
              <a:rPr lang="en-US" sz="1200" b="1" dirty="0">
                <a:solidFill>
                  <a:schemeClr val="accent6"/>
                </a:solidFill>
              </a:rPr>
              <a:t>4.7  4.8</a:t>
            </a:r>
            <a:endParaRPr lang="en-US" sz="1200" dirty="0"/>
          </a:p>
        </p:txBody>
      </p:sp>
      <p:sp>
        <p:nvSpPr>
          <p:cNvPr id="31" name="messaggio"/>
          <p:cNvSpPr/>
          <p:nvPr/>
        </p:nvSpPr>
        <p:spPr>
          <a:xfrm>
            <a:off x="457200" y="3337560"/>
            <a:ext cx="8229600" cy="731520"/>
          </a:xfrm>
          <a:prstGeom prst="roundRect">
            <a:avLst>
              <a:gd name="adj" fmla="val 10000"/>
            </a:avLst>
          </a:prstGeom>
          <a:solidFill>
            <a:schemeClr val="tx1"/>
          </a:solidFill>
          <a:ln/>
        </p:spPr>
        <p:txBody>
          <a:bodyPr/>
          <a:lstStyle/>
          <a:p>
            <a:endParaRPr lang="it-IT"/>
          </a:p>
        </p:txBody>
      </p:sp>
      <p:sp>
        <p:nvSpPr>
          <p:cNvPr id="32" name="Text 25"/>
          <p:cNvSpPr txBox="1"/>
          <p:nvPr/>
        </p:nvSpPr>
        <p:spPr>
          <a:xfrm>
            <a:off x="640080" y="3337560"/>
            <a:ext cx="7863840" cy="731520"/>
          </a:xfrm>
          <a:prstGeom prst="rect">
            <a:avLst/>
          </a:prstGeom>
          <a:noFill/>
          <a:ln/>
        </p:spPr>
        <p:txBody>
          <a:bodyPr wrap="square" lIns="0" tIns="0" rIns="0" bIns="0" rtlCol="0" anchor="ctr"/>
          <a:lstStyle/>
          <a:p>
            <a:pPr marL="0" indent="0">
              <a:buNone/>
            </a:pPr>
            <a:r>
              <a:rPr lang="en-US" sz="1500" dirty="0">
                <a:solidFill>
                  <a:schemeClr val="bg1"/>
                </a:solidFill>
              </a:rPr>
              <a:t>Sapersi orientare e scegliere consapevolmente, non conoscere a memoria tutti i prodotti.</a:t>
            </a:r>
            <a:endParaRPr lang="en-US" sz="15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4.1</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La struttura dell'ecosistema AI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Un'applicazione AI è spesso composta da più elementi e non coincide con il modello che utilizza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Modello, sistema, applicazione, piattaforma</a:t>
            </a:r>
            <a:endParaRPr lang="en-US" sz="2600" dirty="0"/>
          </a:p>
        </p:txBody>
      </p:sp>
      <p:sp>
        <p:nvSpPr>
          <p:cNvPr id="4" name="Modello"/>
          <p:cNvSpPr/>
          <p:nvPr/>
        </p:nvSpPr>
        <p:spPr>
          <a:xfrm>
            <a:off x="457200" y="1097280"/>
            <a:ext cx="1920240" cy="2514600"/>
          </a:xfrm>
          <a:prstGeom prst="roundRect">
            <a:avLst>
              <a:gd name="adj" fmla="val 3810"/>
            </a:avLst>
          </a:prstGeom>
          <a:solidFill>
            <a:schemeClr val="accent6"/>
          </a:solidFill>
          <a:ln/>
        </p:spPr>
        <p:txBody>
          <a:bodyPr/>
          <a:lstStyle/>
          <a:p>
            <a:endParaRPr lang="it-IT"/>
          </a:p>
        </p:txBody>
      </p:sp>
      <p:sp>
        <p:nvSpPr>
          <p:cNvPr id="5" name="cerchio FiCpu"/>
          <p:cNvSpPr/>
          <p:nvPr/>
        </p:nvSpPr>
        <p:spPr>
          <a:xfrm>
            <a:off x="621792" y="1261872"/>
            <a:ext cx="438912" cy="438912"/>
          </a:xfrm>
          <a:prstGeom prst="ellipse">
            <a:avLst/>
          </a:prstGeom>
          <a:solidFill>
            <a:schemeClr val="accent1"/>
          </a:solidFill>
          <a:ln/>
        </p:spPr>
        <p:txBody>
          <a:bodyPr/>
          <a:lstStyle/>
          <a:p>
            <a:endParaRPr lang="it-IT"/>
          </a:p>
        </p:txBody>
      </p:sp>
      <p:pic>
        <p:nvPicPr>
          <p:cNvPr id="6" name="Image 0" descr="FiCpu"/>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097280" cy="512064"/>
          </a:xfrm>
          <a:prstGeom prst="rect">
            <a:avLst/>
          </a:prstGeom>
          <a:noFill/>
          <a:ln/>
        </p:spPr>
        <p:txBody>
          <a:bodyPr wrap="square" lIns="0" tIns="0" rIns="0" bIns="0" rtlCol="0" anchor="ctr"/>
          <a:lstStyle/>
          <a:p>
            <a:pPr marL="0" indent="0">
              <a:buNone/>
            </a:pPr>
            <a:r>
              <a:rPr lang="en-US" sz="1500" b="1" dirty="0">
                <a:solidFill>
                  <a:schemeClr val="tx1"/>
                </a:solidFill>
              </a:rPr>
              <a:t>Modello</a:t>
            </a:r>
            <a:endParaRPr lang="en-US" sz="1500" dirty="0"/>
          </a:p>
        </p:txBody>
      </p:sp>
      <p:sp>
        <p:nvSpPr>
          <p:cNvPr id="8" name="Text 4"/>
          <p:cNvSpPr txBox="1"/>
          <p:nvPr/>
        </p:nvSpPr>
        <p:spPr>
          <a:xfrm>
            <a:off x="621792" y="1810512"/>
            <a:ext cx="1591056" cy="914400"/>
          </a:xfrm>
          <a:prstGeom prst="rect">
            <a:avLst/>
          </a:prstGeom>
          <a:noFill/>
          <a:ln/>
        </p:spPr>
        <p:txBody>
          <a:bodyPr wrap="square" lIns="0" tIns="0" rIns="0" bIns="0" rtlCol="0" anchor="t"/>
          <a:lstStyle/>
          <a:p>
            <a:pPr marL="0" indent="0">
              <a:buNone/>
            </a:pPr>
            <a:r>
              <a:rPr lang="en-US" sz="1200" dirty="0">
                <a:solidFill>
                  <a:schemeClr val="tx2"/>
                </a:solidFill>
              </a:rPr>
              <a:t>Il componente addestrato che elabora input e genera output. Senza interfaccia per l'utente.</a:t>
            </a:r>
            <a:endParaRPr lang="en-US" sz="1200" dirty="0"/>
          </a:p>
        </p:txBody>
      </p:sp>
      <p:sp>
        <p:nvSpPr>
          <p:cNvPr id="9" name="Sistema"/>
          <p:cNvSpPr/>
          <p:nvPr/>
        </p:nvSpPr>
        <p:spPr>
          <a:xfrm>
            <a:off x="2560320" y="1097280"/>
            <a:ext cx="1920240" cy="2514600"/>
          </a:xfrm>
          <a:prstGeom prst="roundRect">
            <a:avLst>
              <a:gd name="adj" fmla="val 3810"/>
            </a:avLst>
          </a:prstGeom>
          <a:solidFill>
            <a:schemeClr val="bg2"/>
          </a:solidFill>
          <a:ln/>
        </p:spPr>
        <p:txBody>
          <a:bodyPr/>
          <a:lstStyle/>
          <a:p>
            <a:endParaRPr lang="it-IT"/>
          </a:p>
        </p:txBody>
      </p:sp>
      <p:sp>
        <p:nvSpPr>
          <p:cNvPr id="10" name="cerchio FiLayers"/>
          <p:cNvSpPr/>
          <p:nvPr/>
        </p:nvSpPr>
        <p:spPr>
          <a:xfrm>
            <a:off x="2724912" y="1261872"/>
            <a:ext cx="438912" cy="438912"/>
          </a:xfrm>
          <a:prstGeom prst="ellipse">
            <a:avLst/>
          </a:prstGeom>
          <a:solidFill>
            <a:schemeClr val="accent1"/>
          </a:solidFill>
          <a:ln/>
        </p:spPr>
        <p:txBody>
          <a:bodyPr/>
          <a:lstStyle/>
          <a:p>
            <a:endParaRPr lang="it-IT"/>
          </a:p>
        </p:txBody>
      </p:sp>
      <p:pic>
        <p:nvPicPr>
          <p:cNvPr id="11" name="Image 1" descr="FiLayers"/>
          <p:cNvPicPr>
            <a:picLocks noChangeAspect="1"/>
          </p:cNvPicPr>
          <p:nvPr/>
        </p:nvPicPr>
        <p:blipFill>
          <a:blip r:embed="rId4"/>
          <a:stretch>
            <a:fillRect/>
          </a:stretch>
        </p:blipFill>
        <p:spPr>
          <a:xfrm>
            <a:off x="2834640" y="1371600"/>
            <a:ext cx="219456" cy="219456"/>
          </a:xfrm>
          <a:prstGeom prst="rect">
            <a:avLst/>
          </a:prstGeom>
        </p:spPr>
      </p:pic>
      <p:sp>
        <p:nvSpPr>
          <p:cNvPr id="12" name="Text 7"/>
          <p:cNvSpPr txBox="1"/>
          <p:nvPr/>
        </p:nvSpPr>
        <p:spPr>
          <a:xfrm>
            <a:off x="3273552" y="1225296"/>
            <a:ext cx="1097280" cy="512064"/>
          </a:xfrm>
          <a:prstGeom prst="rect">
            <a:avLst/>
          </a:prstGeom>
          <a:noFill/>
          <a:ln/>
        </p:spPr>
        <p:txBody>
          <a:bodyPr wrap="square" lIns="0" tIns="0" rIns="0" bIns="0" rtlCol="0" anchor="ctr"/>
          <a:lstStyle/>
          <a:p>
            <a:pPr marL="0" indent="0">
              <a:buNone/>
            </a:pPr>
            <a:r>
              <a:rPr lang="en-US" sz="1500" b="1" dirty="0">
                <a:solidFill>
                  <a:schemeClr val="tx1"/>
                </a:solidFill>
              </a:rPr>
              <a:t>Sistema</a:t>
            </a:r>
            <a:endParaRPr lang="en-US" sz="1500" dirty="0"/>
          </a:p>
        </p:txBody>
      </p:sp>
      <p:sp>
        <p:nvSpPr>
          <p:cNvPr id="13" name="Text 8"/>
          <p:cNvSpPr txBox="1"/>
          <p:nvPr/>
        </p:nvSpPr>
        <p:spPr>
          <a:xfrm>
            <a:off x="2724912" y="1810512"/>
            <a:ext cx="1591056" cy="914400"/>
          </a:xfrm>
          <a:prstGeom prst="rect">
            <a:avLst/>
          </a:prstGeom>
          <a:noFill/>
          <a:ln/>
        </p:spPr>
        <p:txBody>
          <a:bodyPr wrap="square" lIns="0" tIns="0" rIns="0" bIns="0" rtlCol="0" anchor="t"/>
          <a:lstStyle/>
          <a:p>
            <a:pPr marL="0" indent="0">
              <a:buNone/>
            </a:pPr>
            <a:r>
              <a:rPr lang="en-US" sz="1200" dirty="0">
                <a:solidFill>
                  <a:schemeClr val="tx2"/>
                </a:solidFill>
              </a:rPr>
              <a:t>I componenti intorno al modello: istruzioni, dati, strumenti, filtri, memoria.</a:t>
            </a:r>
            <a:endParaRPr lang="en-US" sz="1200" dirty="0"/>
          </a:p>
        </p:txBody>
      </p:sp>
      <p:sp>
        <p:nvSpPr>
          <p:cNvPr id="14" name="Applicazione"/>
          <p:cNvSpPr/>
          <p:nvPr/>
        </p:nvSpPr>
        <p:spPr>
          <a:xfrm>
            <a:off x="4663440" y="1097280"/>
            <a:ext cx="1920240" cy="2514600"/>
          </a:xfrm>
          <a:prstGeom prst="roundRect">
            <a:avLst>
              <a:gd name="adj" fmla="val 3810"/>
            </a:avLst>
          </a:prstGeom>
          <a:solidFill>
            <a:schemeClr val="bg2"/>
          </a:solidFill>
          <a:ln/>
        </p:spPr>
        <p:txBody>
          <a:bodyPr/>
          <a:lstStyle/>
          <a:p>
            <a:endParaRPr lang="it-IT"/>
          </a:p>
        </p:txBody>
      </p:sp>
      <p:sp>
        <p:nvSpPr>
          <p:cNvPr id="15" name="cerchio FiMonitor"/>
          <p:cNvSpPr/>
          <p:nvPr/>
        </p:nvSpPr>
        <p:spPr>
          <a:xfrm>
            <a:off x="4828032" y="1261872"/>
            <a:ext cx="438912" cy="438912"/>
          </a:xfrm>
          <a:prstGeom prst="ellipse">
            <a:avLst/>
          </a:prstGeom>
          <a:solidFill>
            <a:schemeClr val="accent1"/>
          </a:solidFill>
          <a:ln/>
        </p:spPr>
        <p:txBody>
          <a:bodyPr/>
          <a:lstStyle/>
          <a:p>
            <a:endParaRPr lang="it-IT"/>
          </a:p>
        </p:txBody>
      </p:sp>
      <p:pic>
        <p:nvPicPr>
          <p:cNvPr id="16" name="Image 2" descr="FiMonitor"/>
          <p:cNvPicPr>
            <a:picLocks noChangeAspect="1"/>
          </p:cNvPicPr>
          <p:nvPr/>
        </p:nvPicPr>
        <p:blipFill>
          <a:blip r:embed="rId5"/>
          <a:stretch>
            <a:fillRect/>
          </a:stretch>
        </p:blipFill>
        <p:spPr>
          <a:xfrm>
            <a:off x="4937760" y="1371600"/>
            <a:ext cx="219456" cy="219456"/>
          </a:xfrm>
          <a:prstGeom prst="rect">
            <a:avLst/>
          </a:prstGeom>
        </p:spPr>
      </p:pic>
      <p:sp>
        <p:nvSpPr>
          <p:cNvPr id="17" name="Text 11"/>
          <p:cNvSpPr txBox="1"/>
          <p:nvPr/>
        </p:nvSpPr>
        <p:spPr>
          <a:xfrm>
            <a:off x="5376672" y="1225296"/>
            <a:ext cx="1097280" cy="512064"/>
          </a:xfrm>
          <a:prstGeom prst="rect">
            <a:avLst/>
          </a:prstGeom>
          <a:noFill/>
          <a:ln/>
        </p:spPr>
        <p:txBody>
          <a:bodyPr wrap="square" lIns="0" tIns="0" rIns="0" bIns="0" rtlCol="0" anchor="ctr"/>
          <a:lstStyle/>
          <a:p>
            <a:pPr marL="0" indent="0">
              <a:buNone/>
            </a:pPr>
            <a:r>
              <a:rPr lang="en-US" sz="1500" b="1" dirty="0">
                <a:solidFill>
                  <a:schemeClr val="tx1"/>
                </a:solidFill>
              </a:rPr>
              <a:t>Applicazione</a:t>
            </a:r>
            <a:endParaRPr lang="en-US" sz="1500" dirty="0"/>
          </a:p>
        </p:txBody>
      </p:sp>
      <p:sp>
        <p:nvSpPr>
          <p:cNvPr id="18" name="Text 12"/>
          <p:cNvSpPr txBox="1"/>
          <p:nvPr/>
        </p:nvSpPr>
        <p:spPr>
          <a:xfrm>
            <a:off x="4828032" y="1810512"/>
            <a:ext cx="1591056" cy="914400"/>
          </a:xfrm>
          <a:prstGeom prst="rect">
            <a:avLst/>
          </a:prstGeom>
          <a:noFill/>
          <a:ln/>
        </p:spPr>
        <p:txBody>
          <a:bodyPr wrap="square" lIns="0" tIns="0" rIns="0" bIns="0" rtlCol="0" anchor="t"/>
          <a:lstStyle/>
          <a:p>
            <a:pPr marL="0" indent="0">
              <a:buNone/>
            </a:pPr>
            <a:r>
              <a:rPr lang="en-US" sz="1200" dirty="0">
                <a:solidFill>
                  <a:schemeClr val="tx2"/>
                </a:solidFill>
              </a:rPr>
              <a:t>Il prodotto con cui l'utente interagisce: assistente, funzione AI in un software, app.</a:t>
            </a:r>
            <a:endParaRPr lang="en-US" sz="1200" dirty="0"/>
          </a:p>
        </p:txBody>
      </p:sp>
      <p:sp>
        <p:nvSpPr>
          <p:cNvPr id="19" name="Piattaforma"/>
          <p:cNvSpPr/>
          <p:nvPr/>
        </p:nvSpPr>
        <p:spPr>
          <a:xfrm>
            <a:off x="6766560" y="1097280"/>
            <a:ext cx="1920240" cy="2514600"/>
          </a:xfrm>
          <a:prstGeom prst="roundRect">
            <a:avLst>
              <a:gd name="adj" fmla="val 3810"/>
            </a:avLst>
          </a:prstGeom>
          <a:solidFill>
            <a:schemeClr val="bg2"/>
          </a:solidFill>
          <a:ln/>
        </p:spPr>
        <p:txBody>
          <a:bodyPr/>
          <a:lstStyle/>
          <a:p>
            <a:endParaRPr lang="it-IT"/>
          </a:p>
        </p:txBody>
      </p:sp>
      <p:sp>
        <p:nvSpPr>
          <p:cNvPr id="20" name="cerchio FiServer"/>
          <p:cNvSpPr/>
          <p:nvPr/>
        </p:nvSpPr>
        <p:spPr>
          <a:xfrm>
            <a:off x="6931152" y="1261872"/>
            <a:ext cx="438912" cy="438912"/>
          </a:xfrm>
          <a:prstGeom prst="ellipse">
            <a:avLst/>
          </a:prstGeom>
          <a:solidFill>
            <a:schemeClr val="accent1"/>
          </a:solidFill>
          <a:ln/>
        </p:spPr>
        <p:txBody>
          <a:bodyPr/>
          <a:lstStyle/>
          <a:p>
            <a:endParaRPr lang="it-IT"/>
          </a:p>
        </p:txBody>
      </p:sp>
      <p:pic>
        <p:nvPicPr>
          <p:cNvPr id="21" name="Image 3" descr="FiServer"/>
          <p:cNvPicPr>
            <a:picLocks noChangeAspect="1"/>
          </p:cNvPicPr>
          <p:nvPr/>
        </p:nvPicPr>
        <p:blipFill>
          <a:blip r:embed="rId6"/>
          <a:stretch>
            <a:fillRect/>
          </a:stretch>
        </p:blipFill>
        <p:spPr>
          <a:xfrm>
            <a:off x="7040880" y="1371600"/>
            <a:ext cx="219456" cy="219456"/>
          </a:xfrm>
          <a:prstGeom prst="rect">
            <a:avLst/>
          </a:prstGeom>
        </p:spPr>
      </p:pic>
      <p:sp>
        <p:nvSpPr>
          <p:cNvPr id="22" name="Text 15"/>
          <p:cNvSpPr txBox="1"/>
          <p:nvPr/>
        </p:nvSpPr>
        <p:spPr>
          <a:xfrm>
            <a:off x="7479792" y="1225296"/>
            <a:ext cx="1097280" cy="512064"/>
          </a:xfrm>
          <a:prstGeom prst="rect">
            <a:avLst/>
          </a:prstGeom>
          <a:noFill/>
          <a:ln/>
        </p:spPr>
        <p:txBody>
          <a:bodyPr wrap="square" lIns="0" tIns="0" rIns="0" bIns="0" rtlCol="0" anchor="ctr"/>
          <a:lstStyle/>
          <a:p>
            <a:pPr marL="0" indent="0">
              <a:buNone/>
            </a:pPr>
            <a:r>
              <a:rPr lang="en-US" sz="1500" b="1" dirty="0">
                <a:solidFill>
                  <a:schemeClr val="tx1"/>
                </a:solidFill>
              </a:rPr>
              <a:t>Piattaforma</a:t>
            </a:r>
            <a:endParaRPr lang="en-US" sz="1500" dirty="0"/>
          </a:p>
        </p:txBody>
      </p:sp>
      <p:sp>
        <p:nvSpPr>
          <p:cNvPr id="23" name="Text 16"/>
          <p:cNvSpPr txBox="1"/>
          <p:nvPr/>
        </p:nvSpPr>
        <p:spPr>
          <a:xfrm>
            <a:off x="6931152" y="1810512"/>
            <a:ext cx="1591056" cy="914400"/>
          </a:xfrm>
          <a:prstGeom prst="rect">
            <a:avLst/>
          </a:prstGeom>
          <a:noFill/>
          <a:ln/>
        </p:spPr>
        <p:txBody>
          <a:bodyPr wrap="square" lIns="0" tIns="0" rIns="0" bIns="0" rtlCol="0" anchor="t"/>
          <a:lstStyle/>
          <a:p>
            <a:pPr marL="0" indent="0">
              <a:buNone/>
            </a:pPr>
            <a:r>
              <a:rPr lang="en-US" sz="1200" dirty="0">
                <a:solidFill>
                  <a:schemeClr val="tx2"/>
                </a:solidFill>
              </a:rPr>
              <a:t>Un ambiente con più servizi per costruire, configurare e gestire applicazioni AI.</a:t>
            </a:r>
            <a:endParaRPr lang="en-US" sz="1200" dirty="0"/>
          </a:p>
        </p:txBody>
      </p:sp>
      <p:sp>
        <p:nvSpPr>
          <p:cNvPr id="24" name="messaggio"/>
          <p:cNvSpPr/>
          <p:nvPr/>
        </p:nvSpPr>
        <p:spPr>
          <a:xfrm>
            <a:off x="457200" y="3794760"/>
            <a:ext cx="8229600" cy="731520"/>
          </a:xfrm>
          <a:prstGeom prst="roundRect">
            <a:avLst>
              <a:gd name="adj" fmla="val 10000"/>
            </a:avLst>
          </a:prstGeom>
          <a:solidFill>
            <a:schemeClr val="tx1"/>
          </a:solidFill>
          <a:ln/>
        </p:spPr>
        <p:txBody>
          <a:bodyPr/>
          <a:lstStyle/>
          <a:p>
            <a:endParaRPr lang="it-IT"/>
          </a:p>
        </p:txBody>
      </p:sp>
      <p:sp>
        <p:nvSpPr>
          <p:cNvPr id="25" name="Text 18"/>
          <p:cNvSpPr txBox="1"/>
          <p:nvPr/>
        </p:nvSpPr>
        <p:spPr>
          <a:xfrm>
            <a:off x="640080" y="3794760"/>
            <a:ext cx="7863840" cy="731520"/>
          </a:xfrm>
          <a:prstGeom prst="rect">
            <a:avLst/>
          </a:prstGeom>
          <a:noFill/>
          <a:ln/>
        </p:spPr>
        <p:txBody>
          <a:bodyPr wrap="square" lIns="0" tIns="0" rIns="0" bIns="0" rtlCol="0" anchor="ctr"/>
          <a:lstStyle/>
          <a:p>
            <a:pPr marL="0" indent="0">
              <a:buNone/>
            </a:pPr>
            <a:r>
              <a:rPr lang="it-IT" sz="1300" dirty="0">
                <a:solidFill>
                  <a:schemeClr val="bg1"/>
                </a:solidFill>
              </a:rPr>
              <a:t>Sono livelli concettuali: in un'offerta commerciale spesso si sovrappongono. Quando valutiamo "un'AI", stiamo valutando il modello, l'applicazione o la piattaforma?</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7</a:t>
            </a:fld>
            <a:endParaRPr lang="en-US"/>
          </a:p>
        </p:txBody>
      </p:sp>
      <p:sp>
        <p:nvSpPr>
          <p:cNvPr id="26" name="Text 3">
            <a:extLst>
              <a:ext uri="{FF2B5EF4-FFF2-40B4-BE49-F238E27FC236}">
                <a16:creationId xmlns:a16="http://schemas.microsoft.com/office/drawing/2014/main" id="{2D4AB8C2-A193-FAB8-FBA0-88FC6B77D617}"/>
              </a:ext>
            </a:extLst>
          </p:cNvPr>
          <p:cNvSpPr txBox="1"/>
          <p:nvPr/>
        </p:nvSpPr>
        <p:spPr>
          <a:xfrm>
            <a:off x="621792" y="2743200"/>
            <a:ext cx="1591056" cy="777240"/>
          </a:xfrm>
          <a:prstGeom prst="rect">
            <a:avLst/>
          </a:prstGeom>
          <a:noFill/>
          <a:ln/>
        </p:spPr>
        <p:txBody>
          <a:bodyPr wrap="square" lIns="0" tIns="0" rIns="0" bIns="0" rtlCol="0" anchor="t"/>
          <a:lstStyle/>
          <a:p>
            <a:pPr marL="0" indent="0">
              <a:buNone/>
            </a:pPr>
            <a:r>
              <a:rPr lang="it-IT" sz="1000" b="1" dirty="0">
                <a:solidFill>
                  <a:schemeClr val="accent1"/>
                </a:solidFill>
              </a:rPr>
              <a:t>Esempio</a:t>
            </a:r>
            <a:endParaRPr lang="it-IT" sz="1000" dirty="0"/>
          </a:p>
          <a:p>
            <a:pPr marL="0" indent="0">
              <a:buNone/>
            </a:pPr>
            <a:r>
              <a:rPr lang="it-IT" sz="1100" b="1" dirty="0">
                <a:solidFill>
                  <a:schemeClr val="tx1"/>
                </a:solidFill>
              </a:rPr>
              <a:t>un modello della famiglia GPT</a:t>
            </a:r>
            <a:endParaRPr lang="it-IT" sz="1100" dirty="0"/>
          </a:p>
        </p:txBody>
      </p:sp>
      <p:sp>
        <p:nvSpPr>
          <p:cNvPr id="28" name="Text 3">
            <a:extLst>
              <a:ext uri="{FF2B5EF4-FFF2-40B4-BE49-F238E27FC236}">
                <a16:creationId xmlns:a16="http://schemas.microsoft.com/office/drawing/2014/main" id="{E061607A-883F-C41D-0A67-ABE08AAA0B87}"/>
              </a:ext>
            </a:extLst>
          </p:cNvPr>
          <p:cNvSpPr txBox="1"/>
          <p:nvPr/>
        </p:nvSpPr>
        <p:spPr>
          <a:xfrm>
            <a:off x="2724912" y="2743200"/>
            <a:ext cx="1591056" cy="777240"/>
          </a:xfrm>
          <a:prstGeom prst="rect">
            <a:avLst/>
          </a:prstGeom>
          <a:noFill/>
          <a:ln/>
        </p:spPr>
        <p:txBody>
          <a:bodyPr wrap="square" lIns="0" tIns="0" rIns="0" bIns="0" rtlCol="0" anchor="t"/>
          <a:lstStyle/>
          <a:p>
            <a:pPr marL="0" indent="0">
              <a:buNone/>
            </a:pPr>
            <a:r>
              <a:rPr lang="it-IT" sz="1000" b="1" dirty="0">
                <a:solidFill>
                  <a:schemeClr val="accent1"/>
                </a:solidFill>
              </a:rPr>
              <a:t>Esempio</a:t>
            </a:r>
            <a:endParaRPr lang="it-IT" sz="1000" dirty="0"/>
          </a:p>
          <a:p>
            <a:pPr marL="0" indent="0">
              <a:buNone/>
            </a:pPr>
            <a:r>
              <a:rPr lang="it-IT" sz="1100" b="1" dirty="0">
                <a:solidFill>
                  <a:schemeClr val="tx1"/>
                </a:solidFill>
              </a:rPr>
              <a:t>il modello con istruzioni, dati e strumenti</a:t>
            </a:r>
            <a:endParaRPr lang="it-IT" sz="1100" dirty="0"/>
          </a:p>
        </p:txBody>
      </p:sp>
      <p:sp>
        <p:nvSpPr>
          <p:cNvPr id="29" name="Text 3">
            <a:extLst>
              <a:ext uri="{FF2B5EF4-FFF2-40B4-BE49-F238E27FC236}">
                <a16:creationId xmlns:a16="http://schemas.microsoft.com/office/drawing/2014/main" id="{50031D40-1407-B525-4B54-D056B053931D}"/>
              </a:ext>
            </a:extLst>
          </p:cNvPr>
          <p:cNvSpPr txBox="1"/>
          <p:nvPr/>
        </p:nvSpPr>
        <p:spPr>
          <a:xfrm>
            <a:off x="4828032" y="2743200"/>
            <a:ext cx="1591056" cy="777240"/>
          </a:xfrm>
          <a:prstGeom prst="rect">
            <a:avLst/>
          </a:prstGeom>
          <a:noFill/>
          <a:ln/>
        </p:spPr>
        <p:txBody>
          <a:bodyPr wrap="square" lIns="0" tIns="0" rIns="0" bIns="0" rtlCol="0" anchor="t"/>
          <a:lstStyle/>
          <a:p>
            <a:pPr marL="0" indent="0">
              <a:buNone/>
            </a:pPr>
            <a:r>
              <a:rPr lang="it-IT" sz="1000" b="1" dirty="0">
                <a:solidFill>
                  <a:schemeClr val="accent1"/>
                </a:solidFill>
              </a:rPr>
              <a:t>Esempio</a:t>
            </a:r>
            <a:endParaRPr lang="it-IT" sz="1000" dirty="0"/>
          </a:p>
          <a:p>
            <a:pPr marL="0" indent="0">
              <a:buNone/>
            </a:pPr>
            <a:r>
              <a:rPr lang="it-IT" sz="1100" b="1" dirty="0">
                <a:solidFill>
                  <a:schemeClr val="tx1"/>
                </a:solidFill>
              </a:rPr>
              <a:t>ChatGPT</a:t>
            </a:r>
            <a:endParaRPr lang="it-IT" sz="1100" dirty="0"/>
          </a:p>
        </p:txBody>
      </p:sp>
      <p:sp>
        <p:nvSpPr>
          <p:cNvPr id="30" name="Text 3">
            <a:extLst>
              <a:ext uri="{FF2B5EF4-FFF2-40B4-BE49-F238E27FC236}">
                <a16:creationId xmlns:a16="http://schemas.microsoft.com/office/drawing/2014/main" id="{1854A5E3-E0BE-D564-E32D-1A81D049E23B}"/>
              </a:ext>
            </a:extLst>
          </p:cNvPr>
          <p:cNvSpPr txBox="1"/>
          <p:nvPr/>
        </p:nvSpPr>
        <p:spPr>
          <a:xfrm>
            <a:off x="6931152" y="2743200"/>
            <a:ext cx="1591056" cy="777240"/>
          </a:xfrm>
          <a:prstGeom prst="rect">
            <a:avLst/>
          </a:prstGeom>
          <a:noFill/>
          <a:ln/>
        </p:spPr>
        <p:txBody>
          <a:bodyPr wrap="square" lIns="0" tIns="0" rIns="0" bIns="0" rtlCol="0" anchor="t"/>
          <a:lstStyle/>
          <a:p>
            <a:pPr marL="0" indent="0">
              <a:buNone/>
            </a:pPr>
            <a:r>
              <a:rPr lang="it-IT" sz="1000" b="1" dirty="0">
                <a:solidFill>
                  <a:schemeClr val="accent1"/>
                </a:solidFill>
              </a:rPr>
              <a:t>Esempio</a:t>
            </a:r>
            <a:endParaRPr lang="it-IT" sz="1000" dirty="0"/>
          </a:p>
          <a:p>
            <a:pPr marL="0" indent="0">
              <a:buNone/>
            </a:pPr>
            <a:r>
              <a:rPr lang="it-IT" sz="1100" b="1" dirty="0">
                <a:solidFill>
                  <a:schemeClr val="tx1"/>
                </a:solidFill>
              </a:rPr>
              <a:t>un ambiente per sviluppare e gestire applicazioni AI</a:t>
            </a:r>
            <a:endParaRPr lang="it-IT"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Gli attori dell'ecosistema</a:t>
            </a:r>
            <a:endParaRPr lang="en-US" sz="2600" dirty="0"/>
          </a:p>
        </p:txBody>
      </p:sp>
      <p:sp>
        <p:nvSpPr>
          <p:cNvPr id="4" name="Sviluppatori di applicazioni"/>
          <p:cNvSpPr/>
          <p:nvPr/>
        </p:nvSpPr>
        <p:spPr>
          <a:xfrm>
            <a:off x="457200" y="1097280"/>
            <a:ext cx="5120640" cy="731520"/>
          </a:xfrm>
          <a:prstGeom prst="roundRect">
            <a:avLst>
              <a:gd name="adj" fmla="val 10000"/>
            </a:avLst>
          </a:prstGeom>
          <a:solidFill>
            <a:schemeClr val="accent1"/>
          </a:solidFill>
          <a:ln/>
        </p:spPr>
        <p:txBody>
          <a:bodyPr/>
          <a:lstStyle/>
          <a:p>
            <a:endParaRPr lang="it-IT"/>
          </a:p>
        </p:txBody>
      </p:sp>
      <p:sp>
        <p:nvSpPr>
          <p:cNvPr id="5" name="cerchio FiMonitor"/>
          <p:cNvSpPr/>
          <p:nvPr/>
        </p:nvSpPr>
        <p:spPr>
          <a:xfrm>
            <a:off x="594360" y="1234440"/>
            <a:ext cx="457200" cy="457200"/>
          </a:xfrm>
          <a:prstGeom prst="ellipse">
            <a:avLst/>
          </a:prstGeom>
          <a:solidFill>
            <a:schemeClr val="bg1"/>
          </a:solidFill>
          <a:ln/>
        </p:spPr>
        <p:txBody>
          <a:bodyPr/>
          <a:lstStyle/>
          <a:p>
            <a:endParaRPr lang="it-IT"/>
          </a:p>
        </p:txBody>
      </p:sp>
      <p:pic>
        <p:nvPicPr>
          <p:cNvPr id="6" name="Image 0" descr="FiMonitor"/>
          <p:cNvPicPr>
            <a:picLocks noChangeAspect="1"/>
          </p:cNvPicPr>
          <p:nvPr/>
        </p:nvPicPr>
        <p:blipFill>
          <a:blip r:embed="rId3"/>
          <a:stretch>
            <a:fillRect/>
          </a:stretch>
        </p:blipFill>
        <p:spPr>
          <a:xfrm>
            <a:off x="708660" y="1348740"/>
            <a:ext cx="228600" cy="228600"/>
          </a:xfrm>
          <a:prstGeom prst="rect">
            <a:avLst/>
          </a:prstGeom>
        </p:spPr>
      </p:pic>
      <p:sp>
        <p:nvSpPr>
          <p:cNvPr id="7" name="Text 3"/>
          <p:cNvSpPr txBox="1"/>
          <p:nvPr/>
        </p:nvSpPr>
        <p:spPr>
          <a:xfrm>
            <a:off x="1143000" y="1143000"/>
            <a:ext cx="4297680" cy="320040"/>
          </a:xfrm>
          <a:prstGeom prst="rect">
            <a:avLst/>
          </a:prstGeom>
          <a:noFill/>
          <a:ln/>
        </p:spPr>
        <p:txBody>
          <a:bodyPr wrap="square" lIns="0" tIns="0" rIns="0" bIns="0" rtlCol="0" anchor="t"/>
          <a:lstStyle/>
          <a:p>
            <a:pPr marL="0" indent="0">
              <a:buNone/>
            </a:pPr>
            <a:r>
              <a:rPr lang="en-US" sz="1300" b="1" dirty="0">
                <a:solidFill>
                  <a:schemeClr val="bg1"/>
                </a:solidFill>
              </a:rPr>
              <a:t>Sviluppatori di applicazioni</a:t>
            </a:r>
            <a:endParaRPr lang="en-US" sz="1300" dirty="0"/>
          </a:p>
        </p:txBody>
      </p:sp>
      <p:sp>
        <p:nvSpPr>
          <p:cNvPr id="8" name="Text 4"/>
          <p:cNvSpPr txBox="1"/>
          <p:nvPr/>
        </p:nvSpPr>
        <p:spPr>
          <a:xfrm>
            <a:off x="1143000" y="1463040"/>
            <a:ext cx="4297680" cy="347472"/>
          </a:xfrm>
          <a:prstGeom prst="rect">
            <a:avLst/>
          </a:prstGeom>
          <a:noFill/>
          <a:ln/>
        </p:spPr>
        <p:txBody>
          <a:bodyPr wrap="square" lIns="0" tIns="0" rIns="0" bIns="0" rtlCol="0" anchor="t"/>
          <a:lstStyle/>
          <a:p>
            <a:pPr marL="0" indent="0">
              <a:buNone/>
            </a:pPr>
            <a:r>
              <a:rPr lang="en-US" sz="1000" dirty="0">
                <a:solidFill>
                  <a:schemeClr val="accent6"/>
                </a:solidFill>
              </a:rPr>
              <a:t>Prodotti per utenti finali o settori specifici, spesso con modelli di altri</a:t>
            </a:r>
            <a:endParaRPr lang="en-US" sz="1000" dirty="0"/>
          </a:p>
        </p:txBody>
      </p:sp>
      <p:sp>
        <p:nvSpPr>
          <p:cNvPr id="9" name="Piattaforme"/>
          <p:cNvSpPr/>
          <p:nvPr/>
        </p:nvSpPr>
        <p:spPr>
          <a:xfrm>
            <a:off x="640080" y="1938528"/>
            <a:ext cx="4754880" cy="731520"/>
          </a:xfrm>
          <a:prstGeom prst="roundRect">
            <a:avLst>
              <a:gd name="adj" fmla="val 10000"/>
            </a:avLst>
          </a:prstGeom>
          <a:solidFill>
            <a:schemeClr val="bg2"/>
          </a:solidFill>
          <a:ln/>
        </p:spPr>
        <p:txBody>
          <a:bodyPr/>
          <a:lstStyle/>
          <a:p>
            <a:endParaRPr lang="it-IT"/>
          </a:p>
        </p:txBody>
      </p:sp>
      <p:sp>
        <p:nvSpPr>
          <p:cNvPr id="10" name="cerchio FiServer"/>
          <p:cNvSpPr/>
          <p:nvPr/>
        </p:nvSpPr>
        <p:spPr>
          <a:xfrm>
            <a:off x="777240" y="2075688"/>
            <a:ext cx="457200" cy="457200"/>
          </a:xfrm>
          <a:prstGeom prst="ellipse">
            <a:avLst/>
          </a:prstGeom>
          <a:solidFill>
            <a:schemeClr val="accent1"/>
          </a:solidFill>
          <a:ln/>
        </p:spPr>
        <p:txBody>
          <a:bodyPr/>
          <a:lstStyle/>
          <a:p>
            <a:endParaRPr lang="it-IT"/>
          </a:p>
        </p:txBody>
      </p:sp>
      <p:pic>
        <p:nvPicPr>
          <p:cNvPr id="11" name="Image 1" descr="FiServer"/>
          <p:cNvPicPr>
            <a:picLocks noChangeAspect="1"/>
          </p:cNvPicPr>
          <p:nvPr/>
        </p:nvPicPr>
        <p:blipFill>
          <a:blip r:embed="rId4"/>
          <a:stretch>
            <a:fillRect/>
          </a:stretch>
        </p:blipFill>
        <p:spPr>
          <a:xfrm>
            <a:off x="891540" y="2189988"/>
            <a:ext cx="228600" cy="228600"/>
          </a:xfrm>
          <a:prstGeom prst="rect">
            <a:avLst/>
          </a:prstGeom>
        </p:spPr>
      </p:pic>
      <p:sp>
        <p:nvSpPr>
          <p:cNvPr id="12" name="Text 7"/>
          <p:cNvSpPr txBox="1"/>
          <p:nvPr/>
        </p:nvSpPr>
        <p:spPr>
          <a:xfrm>
            <a:off x="1325880" y="1984248"/>
            <a:ext cx="3931920" cy="320040"/>
          </a:xfrm>
          <a:prstGeom prst="rect">
            <a:avLst/>
          </a:prstGeom>
          <a:noFill/>
          <a:ln/>
        </p:spPr>
        <p:txBody>
          <a:bodyPr wrap="square" lIns="0" tIns="0" rIns="0" bIns="0" rtlCol="0" anchor="t"/>
          <a:lstStyle/>
          <a:p>
            <a:pPr marL="0" indent="0">
              <a:buNone/>
            </a:pPr>
            <a:r>
              <a:rPr lang="en-US" sz="1300" b="1" dirty="0">
                <a:solidFill>
                  <a:schemeClr val="tx1"/>
                </a:solidFill>
              </a:rPr>
              <a:t>Piattaforme</a:t>
            </a:r>
            <a:endParaRPr lang="en-US" sz="1300" dirty="0"/>
          </a:p>
        </p:txBody>
      </p:sp>
      <p:sp>
        <p:nvSpPr>
          <p:cNvPr id="13" name="Text 8"/>
          <p:cNvSpPr txBox="1"/>
          <p:nvPr/>
        </p:nvSpPr>
        <p:spPr>
          <a:xfrm>
            <a:off x="1325880" y="2304288"/>
            <a:ext cx="3931920" cy="347472"/>
          </a:xfrm>
          <a:prstGeom prst="rect">
            <a:avLst/>
          </a:prstGeom>
          <a:noFill/>
          <a:ln/>
        </p:spPr>
        <p:txBody>
          <a:bodyPr wrap="square" lIns="0" tIns="0" rIns="0" bIns="0" rtlCol="0" anchor="t"/>
          <a:lstStyle/>
          <a:p>
            <a:pPr marL="0" indent="0">
              <a:buNone/>
            </a:pPr>
            <a:r>
              <a:rPr lang="en-US" sz="1000" dirty="0">
                <a:solidFill>
                  <a:schemeClr val="tx2"/>
                </a:solidFill>
              </a:rPr>
              <a:t>Modelli, strumenti di sviluppo, gestione e sicurezza</a:t>
            </a:r>
            <a:endParaRPr lang="en-US" sz="1000" dirty="0"/>
          </a:p>
        </p:txBody>
      </p:sp>
      <p:sp>
        <p:nvSpPr>
          <p:cNvPr id="14" name="Fornitori di modelli"/>
          <p:cNvSpPr/>
          <p:nvPr/>
        </p:nvSpPr>
        <p:spPr>
          <a:xfrm>
            <a:off x="822960" y="2779776"/>
            <a:ext cx="4389120" cy="731520"/>
          </a:xfrm>
          <a:prstGeom prst="roundRect">
            <a:avLst>
              <a:gd name="adj" fmla="val 10000"/>
            </a:avLst>
          </a:prstGeom>
          <a:solidFill>
            <a:schemeClr val="bg2"/>
          </a:solidFill>
          <a:ln/>
        </p:spPr>
        <p:txBody>
          <a:bodyPr/>
          <a:lstStyle/>
          <a:p>
            <a:endParaRPr lang="it-IT"/>
          </a:p>
        </p:txBody>
      </p:sp>
      <p:sp>
        <p:nvSpPr>
          <p:cNvPr id="15" name="cerchio FiCpu"/>
          <p:cNvSpPr/>
          <p:nvPr/>
        </p:nvSpPr>
        <p:spPr>
          <a:xfrm>
            <a:off x="960120" y="2916936"/>
            <a:ext cx="457200" cy="457200"/>
          </a:xfrm>
          <a:prstGeom prst="ellipse">
            <a:avLst/>
          </a:prstGeom>
          <a:solidFill>
            <a:schemeClr val="accent1"/>
          </a:solidFill>
          <a:ln/>
        </p:spPr>
        <p:txBody>
          <a:bodyPr/>
          <a:lstStyle/>
          <a:p>
            <a:endParaRPr lang="it-IT"/>
          </a:p>
        </p:txBody>
      </p:sp>
      <p:pic>
        <p:nvPicPr>
          <p:cNvPr id="16" name="Image 2" descr="FiCpu"/>
          <p:cNvPicPr>
            <a:picLocks noChangeAspect="1"/>
          </p:cNvPicPr>
          <p:nvPr/>
        </p:nvPicPr>
        <p:blipFill>
          <a:blip r:embed="rId5"/>
          <a:stretch>
            <a:fillRect/>
          </a:stretch>
        </p:blipFill>
        <p:spPr>
          <a:xfrm>
            <a:off x="1074420" y="3031236"/>
            <a:ext cx="228600" cy="228600"/>
          </a:xfrm>
          <a:prstGeom prst="rect">
            <a:avLst/>
          </a:prstGeom>
        </p:spPr>
      </p:pic>
      <p:sp>
        <p:nvSpPr>
          <p:cNvPr id="17" name="Text 11"/>
          <p:cNvSpPr txBox="1"/>
          <p:nvPr/>
        </p:nvSpPr>
        <p:spPr>
          <a:xfrm>
            <a:off x="1508760" y="2825496"/>
            <a:ext cx="3566160" cy="320040"/>
          </a:xfrm>
          <a:prstGeom prst="rect">
            <a:avLst/>
          </a:prstGeom>
          <a:noFill/>
          <a:ln/>
        </p:spPr>
        <p:txBody>
          <a:bodyPr wrap="square" lIns="0" tIns="0" rIns="0" bIns="0" rtlCol="0" anchor="t"/>
          <a:lstStyle/>
          <a:p>
            <a:pPr marL="0" indent="0">
              <a:buNone/>
            </a:pPr>
            <a:r>
              <a:rPr lang="en-US" sz="1300" b="1" dirty="0">
                <a:solidFill>
                  <a:schemeClr val="tx1"/>
                </a:solidFill>
              </a:rPr>
              <a:t>Fornitori di modelli</a:t>
            </a:r>
            <a:endParaRPr lang="en-US" sz="1300" dirty="0"/>
          </a:p>
        </p:txBody>
      </p:sp>
      <p:sp>
        <p:nvSpPr>
          <p:cNvPr id="18" name="Text 12"/>
          <p:cNvSpPr txBox="1"/>
          <p:nvPr/>
        </p:nvSpPr>
        <p:spPr>
          <a:xfrm>
            <a:off x="1508760" y="3145536"/>
            <a:ext cx="3566160" cy="347472"/>
          </a:xfrm>
          <a:prstGeom prst="rect">
            <a:avLst/>
          </a:prstGeom>
          <a:noFill/>
          <a:ln/>
        </p:spPr>
        <p:txBody>
          <a:bodyPr wrap="square" lIns="0" tIns="0" rIns="0" bIns="0" rtlCol="0" anchor="t"/>
          <a:lstStyle/>
          <a:p>
            <a:pPr marL="0" indent="0">
              <a:buNone/>
            </a:pPr>
            <a:r>
              <a:rPr lang="en-US" sz="1000" dirty="0">
                <a:solidFill>
                  <a:schemeClr val="tx2"/>
                </a:solidFill>
              </a:rPr>
              <a:t>Sviluppano modelli proprietari o con pesi accessibili</a:t>
            </a:r>
            <a:endParaRPr lang="en-US" sz="1000" dirty="0"/>
          </a:p>
        </p:txBody>
      </p:sp>
      <p:sp>
        <p:nvSpPr>
          <p:cNvPr id="19" name="Operatori infrastrutturali"/>
          <p:cNvSpPr/>
          <p:nvPr/>
        </p:nvSpPr>
        <p:spPr>
          <a:xfrm>
            <a:off x="1005840" y="3621024"/>
            <a:ext cx="4023360" cy="731520"/>
          </a:xfrm>
          <a:prstGeom prst="roundRect">
            <a:avLst>
              <a:gd name="adj" fmla="val 10000"/>
            </a:avLst>
          </a:prstGeom>
          <a:solidFill>
            <a:schemeClr val="bg2"/>
          </a:solidFill>
          <a:ln/>
        </p:spPr>
        <p:txBody>
          <a:bodyPr/>
          <a:lstStyle/>
          <a:p>
            <a:endParaRPr lang="it-IT"/>
          </a:p>
        </p:txBody>
      </p:sp>
      <p:sp>
        <p:nvSpPr>
          <p:cNvPr id="20" name="cerchio FiCloud"/>
          <p:cNvSpPr/>
          <p:nvPr/>
        </p:nvSpPr>
        <p:spPr>
          <a:xfrm>
            <a:off x="1143000" y="3758184"/>
            <a:ext cx="457200" cy="457200"/>
          </a:xfrm>
          <a:prstGeom prst="ellipse">
            <a:avLst/>
          </a:prstGeom>
          <a:solidFill>
            <a:schemeClr val="accent1"/>
          </a:solidFill>
          <a:ln/>
        </p:spPr>
        <p:txBody>
          <a:bodyPr/>
          <a:lstStyle/>
          <a:p>
            <a:endParaRPr lang="it-IT"/>
          </a:p>
        </p:txBody>
      </p:sp>
      <p:pic>
        <p:nvPicPr>
          <p:cNvPr id="21" name="Image 3" descr="FiCloud"/>
          <p:cNvPicPr>
            <a:picLocks noChangeAspect="1"/>
          </p:cNvPicPr>
          <p:nvPr/>
        </p:nvPicPr>
        <p:blipFill>
          <a:blip r:embed="rId6"/>
          <a:stretch>
            <a:fillRect/>
          </a:stretch>
        </p:blipFill>
        <p:spPr>
          <a:xfrm>
            <a:off x="1257300" y="3872484"/>
            <a:ext cx="228600" cy="228600"/>
          </a:xfrm>
          <a:prstGeom prst="rect">
            <a:avLst/>
          </a:prstGeom>
        </p:spPr>
      </p:pic>
      <p:sp>
        <p:nvSpPr>
          <p:cNvPr id="22" name="Text 15"/>
          <p:cNvSpPr txBox="1"/>
          <p:nvPr/>
        </p:nvSpPr>
        <p:spPr>
          <a:xfrm>
            <a:off x="1691640" y="3666744"/>
            <a:ext cx="3200400" cy="320040"/>
          </a:xfrm>
          <a:prstGeom prst="rect">
            <a:avLst/>
          </a:prstGeom>
          <a:noFill/>
          <a:ln/>
        </p:spPr>
        <p:txBody>
          <a:bodyPr wrap="square" lIns="0" tIns="0" rIns="0" bIns="0" rtlCol="0" anchor="t"/>
          <a:lstStyle/>
          <a:p>
            <a:pPr marL="0" indent="0">
              <a:buNone/>
            </a:pPr>
            <a:r>
              <a:rPr lang="en-US" sz="1300" b="1" dirty="0">
                <a:solidFill>
                  <a:schemeClr val="tx1"/>
                </a:solidFill>
              </a:rPr>
              <a:t>Operatori infrastrutturali</a:t>
            </a:r>
            <a:endParaRPr lang="en-US" sz="1300" dirty="0"/>
          </a:p>
        </p:txBody>
      </p:sp>
      <p:sp>
        <p:nvSpPr>
          <p:cNvPr id="23" name="Text 16"/>
          <p:cNvSpPr txBox="1"/>
          <p:nvPr/>
        </p:nvSpPr>
        <p:spPr>
          <a:xfrm>
            <a:off x="1691640" y="3986784"/>
            <a:ext cx="3200400" cy="347472"/>
          </a:xfrm>
          <a:prstGeom prst="rect">
            <a:avLst/>
          </a:prstGeom>
          <a:noFill/>
          <a:ln/>
        </p:spPr>
        <p:txBody>
          <a:bodyPr wrap="square" lIns="0" tIns="0" rIns="0" bIns="0" rtlCol="0" anchor="t"/>
          <a:lstStyle/>
          <a:p>
            <a:pPr marL="0" indent="0">
              <a:buNone/>
            </a:pPr>
            <a:r>
              <a:rPr lang="en-US" sz="1000" dirty="0">
                <a:solidFill>
                  <a:schemeClr val="tx2"/>
                </a:solidFill>
              </a:rPr>
              <a:t>Chip, cloud, data center: la capacità di calcolo</a:t>
            </a:r>
            <a:endParaRPr lang="en-US" sz="1000" dirty="0"/>
          </a:p>
        </p:txBody>
      </p:sp>
      <p:sp>
        <p:nvSpPr>
          <p:cNvPr id="24" name="scheda Presenti su più livelli"/>
          <p:cNvSpPr/>
          <p:nvPr/>
        </p:nvSpPr>
        <p:spPr>
          <a:xfrm>
            <a:off x="5852160" y="1097280"/>
            <a:ext cx="2834640" cy="1600200"/>
          </a:xfrm>
          <a:prstGeom prst="roundRect">
            <a:avLst>
              <a:gd name="adj" fmla="val 4571"/>
            </a:avLst>
          </a:prstGeom>
          <a:solidFill>
            <a:schemeClr val="bg2"/>
          </a:solidFill>
          <a:ln/>
        </p:spPr>
        <p:txBody>
          <a:bodyPr/>
          <a:lstStyle/>
          <a:p>
            <a:endParaRPr lang="it-IT"/>
          </a:p>
        </p:txBody>
      </p:sp>
      <p:sp>
        <p:nvSpPr>
          <p:cNvPr id="25" name="Text 18"/>
          <p:cNvSpPr txBox="1"/>
          <p:nvPr/>
        </p:nvSpPr>
        <p:spPr>
          <a:xfrm>
            <a:off x="6035040" y="1280160"/>
            <a:ext cx="2468880" cy="347472"/>
          </a:xfrm>
          <a:prstGeom prst="rect">
            <a:avLst/>
          </a:prstGeom>
          <a:noFill/>
          <a:ln/>
        </p:spPr>
        <p:txBody>
          <a:bodyPr wrap="square" lIns="0" tIns="0" rIns="0" bIns="0" rtlCol="0" anchor="t"/>
          <a:lstStyle/>
          <a:p>
            <a:pPr marL="0" indent="0">
              <a:buNone/>
            </a:pPr>
            <a:r>
              <a:rPr lang="it-IT" sz="1300" b="1" dirty="0">
                <a:solidFill>
                  <a:schemeClr val="tx1"/>
                </a:solidFill>
              </a:rPr>
              <a:t>Una filiera specializzata</a:t>
            </a:r>
            <a:endParaRPr lang="it-IT" sz="1300" dirty="0"/>
          </a:p>
        </p:txBody>
      </p:sp>
      <p:sp>
        <p:nvSpPr>
          <p:cNvPr id="26" name="Text 19"/>
          <p:cNvSpPr txBox="1"/>
          <p:nvPr/>
        </p:nvSpPr>
        <p:spPr>
          <a:xfrm>
            <a:off x="6035040" y="1664208"/>
            <a:ext cx="2468880" cy="1005840"/>
          </a:xfrm>
          <a:prstGeom prst="rect">
            <a:avLst/>
          </a:prstGeom>
          <a:noFill/>
          <a:ln/>
        </p:spPr>
        <p:txBody>
          <a:bodyPr wrap="square" lIns="0" tIns="0" rIns="0" bIns="0" rtlCol="0" anchor="t"/>
          <a:lstStyle/>
          <a:p>
            <a:pPr marL="0" indent="0">
              <a:buNone/>
            </a:pPr>
            <a:r>
              <a:rPr lang="it-IT" sz="1100" dirty="0">
                <a:solidFill>
                  <a:schemeClr val="tx2"/>
                </a:solidFill>
              </a:rPr>
              <a:t>La specializzazione favorisce innovazione, concorrenza e varietà di soluzioni. Alcune grandi aziende coprono tutta la filiera.</a:t>
            </a:r>
            <a:endParaRPr lang="it-IT" sz="1100" dirty="0"/>
          </a:p>
        </p:txBody>
      </p:sp>
      <p:sp>
        <p:nvSpPr>
          <p:cNvPr id="27" name="scheda Per l'azienda utente"/>
          <p:cNvSpPr/>
          <p:nvPr/>
        </p:nvSpPr>
        <p:spPr>
          <a:xfrm>
            <a:off x="5852160" y="2834640"/>
            <a:ext cx="2834640" cy="1691640"/>
          </a:xfrm>
          <a:prstGeom prst="roundRect">
            <a:avLst>
              <a:gd name="adj" fmla="val 4324"/>
            </a:avLst>
          </a:prstGeom>
          <a:solidFill>
            <a:schemeClr val="accent6"/>
          </a:solidFill>
          <a:ln/>
        </p:spPr>
        <p:txBody>
          <a:bodyPr/>
          <a:lstStyle/>
          <a:p>
            <a:endParaRPr lang="it-IT"/>
          </a:p>
        </p:txBody>
      </p:sp>
      <p:sp>
        <p:nvSpPr>
          <p:cNvPr id="28" name="Text 21"/>
          <p:cNvSpPr txBox="1"/>
          <p:nvPr/>
        </p:nvSpPr>
        <p:spPr>
          <a:xfrm>
            <a:off x="6035040" y="3017520"/>
            <a:ext cx="2468880" cy="347472"/>
          </a:xfrm>
          <a:prstGeom prst="rect">
            <a:avLst/>
          </a:prstGeom>
          <a:noFill/>
          <a:ln/>
        </p:spPr>
        <p:txBody>
          <a:bodyPr wrap="square" lIns="0" tIns="0" rIns="0" bIns="0" rtlCol="0" anchor="t"/>
          <a:lstStyle/>
          <a:p>
            <a:pPr marL="0" indent="0">
              <a:buNone/>
            </a:pPr>
            <a:r>
              <a:rPr lang="en-US" sz="1400" b="1" dirty="0">
                <a:solidFill>
                  <a:schemeClr val="tx1"/>
                </a:solidFill>
              </a:rPr>
              <a:t>Per l'azienda utente</a:t>
            </a:r>
            <a:endParaRPr lang="en-US" sz="1400" dirty="0"/>
          </a:p>
        </p:txBody>
      </p:sp>
      <p:sp>
        <p:nvSpPr>
          <p:cNvPr id="29" name="Text 22"/>
          <p:cNvSpPr txBox="1"/>
          <p:nvPr/>
        </p:nvSpPr>
        <p:spPr>
          <a:xfrm>
            <a:off x="6035040" y="3401568"/>
            <a:ext cx="2468880" cy="1014984"/>
          </a:xfrm>
          <a:prstGeom prst="rect">
            <a:avLst/>
          </a:prstGeom>
          <a:noFill/>
          <a:ln/>
        </p:spPr>
        <p:txBody>
          <a:bodyPr wrap="square" lIns="0" tIns="0" rIns="0" bIns="0" rtlCol="0" anchor="t"/>
          <a:lstStyle/>
          <a:p>
            <a:pPr marL="0" indent="0">
              <a:buNone/>
            </a:pPr>
            <a:r>
              <a:rPr lang="en-US" sz="1200" dirty="0">
                <a:solidFill>
                  <a:schemeClr val="tx2"/>
                </a:solidFill>
              </a:rPr>
              <a:t>Il fornitore dell'applicazione può essere diverso da quello del modello e dell'infrastruttura: dove passano i dati, chi risponde di cosa?</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Com'è fatta un'applicazione AI: un esempio</a:t>
            </a:r>
            <a:endParaRPr lang="en-US" sz="2600" dirty="0"/>
          </a:p>
        </p:txBody>
      </p:sp>
      <p:sp>
        <p:nvSpPr>
          <p:cNvPr id="4" name="interfaccia"/>
          <p:cNvSpPr/>
          <p:nvPr/>
        </p:nvSpPr>
        <p:spPr>
          <a:xfrm>
            <a:off x="457200" y="1097280"/>
            <a:ext cx="8229600" cy="548640"/>
          </a:xfrm>
          <a:prstGeom prst="roundRect">
            <a:avLst>
              <a:gd name="adj" fmla="val 13333"/>
            </a:avLst>
          </a:prstGeom>
          <a:solidFill>
            <a:schemeClr val="tx1"/>
          </a:solidFill>
          <a:ln/>
        </p:spPr>
        <p:txBody>
          <a:bodyPr/>
          <a:lstStyle/>
          <a:p>
            <a:endParaRPr lang="it-IT"/>
          </a:p>
        </p:txBody>
      </p:sp>
      <p:sp>
        <p:nvSpPr>
          <p:cNvPr id="5" name="Text 2"/>
          <p:cNvSpPr txBox="1"/>
          <p:nvPr/>
        </p:nvSpPr>
        <p:spPr>
          <a:xfrm>
            <a:off x="640080" y="1097280"/>
            <a:ext cx="7863840" cy="548640"/>
          </a:xfrm>
          <a:prstGeom prst="rect">
            <a:avLst/>
          </a:prstGeom>
          <a:noFill/>
          <a:ln/>
        </p:spPr>
        <p:txBody>
          <a:bodyPr wrap="square" lIns="0" tIns="0" rIns="0" bIns="0" rtlCol="0" anchor="ctr"/>
          <a:lstStyle/>
          <a:p>
            <a:pPr marL="0" indent="0" algn="ctr">
              <a:buNone/>
            </a:pPr>
            <a:r>
              <a:rPr lang="it-IT" sz="1300" b="1" dirty="0">
                <a:solidFill>
                  <a:schemeClr val="bg1"/>
                </a:solidFill>
              </a:rPr>
              <a:t>Interfaccia: </a:t>
            </a:r>
            <a:r>
              <a:rPr lang="it-IT" sz="1300" dirty="0">
                <a:solidFill>
                  <a:schemeClr val="bg1"/>
                </a:solidFill>
              </a:rPr>
              <a:t>in chat l'utente chiede "Prepara un riepilogo sul cliente Rossi per la visita di domani"</a:t>
            </a:r>
            <a:endParaRPr lang="it-IT" sz="1300" dirty="0"/>
          </a:p>
        </p:txBody>
      </p:sp>
      <p:sp>
        <p:nvSpPr>
          <p:cNvPr id="6" name="logica"/>
          <p:cNvSpPr/>
          <p:nvPr/>
        </p:nvSpPr>
        <p:spPr>
          <a:xfrm>
            <a:off x="457200" y="1783080"/>
            <a:ext cx="8229600" cy="548640"/>
          </a:xfrm>
          <a:prstGeom prst="roundRect">
            <a:avLst>
              <a:gd name="adj" fmla="val 13333"/>
            </a:avLst>
          </a:prstGeom>
          <a:solidFill>
            <a:schemeClr val="bg2"/>
          </a:solidFill>
          <a:ln/>
        </p:spPr>
        <p:txBody>
          <a:bodyPr/>
          <a:lstStyle/>
          <a:p>
            <a:endParaRPr lang="it-IT"/>
          </a:p>
        </p:txBody>
      </p:sp>
      <p:sp>
        <p:nvSpPr>
          <p:cNvPr id="7" name="Text 4"/>
          <p:cNvSpPr txBox="1"/>
          <p:nvPr/>
        </p:nvSpPr>
        <p:spPr>
          <a:xfrm>
            <a:off x="640080" y="1783080"/>
            <a:ext cx="7863840" cy="548640"/>
          </a:xfrm>
          <a:prstGeom prst="rect">
            <a:avLst/>
          </a:prstGeom>
          <a:noFill/>
          <a:ln/>
        </p:spPr>
        <p:txBody>
          <a:bodyPr wrap="square" lIns="0" tIns="0" rIns="0" bIns="0" rtlCol="0" anchor="ctr"/>
          <a:lstStyle/>
          <a:p>
            <a:pPr marL="0" indent="0" algn="ctr">
              <a:buNone/>
            </a:pPr>
            <a:r>
              <a:rPr lang="it-IT" sz="1300" b="1" dirty="0">
                <a:solidFill>
                  <a:schemeClr val="tx1"/>
                </a:solidFill>
              </a:rPr>
              <a:t>Logica: </a:t>
            </a:r>
            <a:r>
              <a:rPr lang="it-IT" sz="1300" dirty="0">
                <a:solidFill>
                  <a:schemeClr val="tx1"/>
                </a:solidFill>
              </a:rPr>
              <a:t>interpreta la richiesta, sceglie fonti e modello, applica le istruzioni aziendali</a:t>
            </a:r>
            <a:endParaRPr lang="it-IT" sz="1300" dirty="0"/>
          </a:p>
        </p:txBody>
      </p:sp>
      <p:sp>
        <p:nvSpPr>
          <p:cNvPr id="8" name="Modello principale"/>
          <p:cNvSpPr/>
          <p:nvPr/>
        </p:nvSpPr>
        <p:spPr>
          <a:xfrm>
            <a:off x="457200" y="2468880"/>
            <a:ext cx="1965960" cy="1051560"/>
          </a:xfrm>
          <a:prstGeom prst="roundRect">
            <a:avLst>
              <a:gd name="adj" fmla="val 6957"/>
            </a:avLst>
          </a:prstGeom>
          <a:solidFill>
            <a:schemeClr val="accent1"/>
          </a:solidFill>
          <a:ln/>
        </p:spPr>
        <p:txBody>
          <a:bodyPr/>
          <a:lstStyle/>
          <a:p>
            <a:endParaRPr lang="it-IT"/>
          </a:p>
        </p:txBody>
      </p:sp>
      <p:sp>
        <p:nvSpPr>
          <p:cNvPr id="9" name="cerchio FiCpu"/>
          <p:cNvSpPr/>
          <p:nvPr/>
        </p:nvSpPr>
        <p:spPr>
          <a:xfrm>
            <a:off x="594360" y="2651760"/>
            <a:ext cx="438912" cy="438912"/>
          </a:xfrm>
          <a:prstGeom prst="ellipse">
            <a:avLst/>
          </a:prstGeom>
          <a:solidFill>
            <a:schemeClr val="bg1"/>
          </a:solidFill>
          <a:ln/>
        </p:spPr>
        <p:txBody>
          <a:bodyPr/>
          <a:lstStyle/>
          <a:p>
            <a:endParaRPr lang="it-IT"/>
          </a:p>
        </p:txBody>
      </p:sp>
      <p:pic>
        <p:nvPicPr>
          <p:cNvPr id="10" name="Image 0" descr="FiCpu"/>
          <p:cNvPicPr>
            <a:picLocks noChangeAspect="1"/>
          </p:cNvPicPr>
          <p:nvPr/>
        </p:nvPicPr>
        <p:blipFill>
          <a:blip r:embed="rId3"/>
          <a:stretch>
            <a:fillRect/>
          </a:stretch>
        </p:blipFill>
        <p:spPr>
          <a:xfrm>
            <a:off x="704088" y="2761488"/>
            <a:ext cx="219456" cy="219456"/>
          </a:xfrm>
          <a:prstGeom prst="rect">
            <a:avLst/>
          </a:prstGeom>
        </p:spPr>
      </p:pic>
      <p:sp>
        <p:nvSpPr>
          <p:cNvPr id="11" name="Text 7"/>
          <p:cNvSpPr txBox="1"/>
          <p:nvPr/>
        </p:nvSpPr>
        <p:spPr>
          <a:xfrm>
            <a:off x="1115568" y="2468880"/>
            <a:ext cx="1261872" cy="1051560"/>
          </a:xfrm>
          <a:prstGeom prst="rect">
            <a:avLst/>
          </a:prstGeom>
          <a:noFill/>
          <a:ln/>
        </p:spPr>
        <p:txBody>
          <a:bodyPr wrap="square" lIns="0" tIns="0" rIns="0" bIns="0" rtlCol="0" anchor="ctr"/>
          <a:lstStyle/>
          <a:p>
            <a:pPr marL="0" indent="0">
              <a:buNone/>
            </a:pPr>
            <a:r>
              <a:rPr lang="en-US" sz="1200" b="1" dirty="0">
                <a:solidFill>
                  <a:schemeClr val="bg1"/>
                </a:solidFill>
              </a:rPr>
              <a:t>Modello principale</a:t>
            </a:r>
            <a:endParaRPr lang="en-US" sz="1200" dirty="0"/>
          </a:p>
        </p:txBody>
      </p:sp>
      <p:sp>
        <p:nvSpPr>
          <p:cNvPr id="12" name="Modello piccolo per compiti semplici"/>
          <p:cNvSpPr/>
          <p:nvPr/>
        </p:nvSpPr>
        <p:spPr>
          <a:xfrm>
            <a:off x="2560320" y="2468880"/>
            <a:ext cx="1965960" cy="1051560"/>
          </a:xfrm>
          <a:prstGeom prst="roundRect">
            <a:avLst>
              <a:gd name="adj" fmla="val 6957"/>
            </a:avLst>
          </a:prstGeom>
          <a:solidFill>
            <a:schemeClr val="accent6"/>
          </a:solidFill>
          <a:ln/>
        </p:spPr>
        <p:txBody>
          <a:bodyPr/>
          <a:lstStyle/>
          <a:p>
            <a:endParaRPr lang="it-IT"/>
          </a:p>
        </p:txBody>
      </p:sp>
      <p:sp>
        <p:nvSpPr>
          <p:cNvPr id="13" name="cerchio FiZap"/>
          <p:cNvSpPr/>
          <p:nvPr/>
        </p:nvSpPr>
        <p:spPr>
          <a:xfrm>
            <a:off x="2697480" y="2651760"/>
            <a:ext cx="438912" cy="438912"/>
          </a:xfrm>
          <a:prstGeom prst="ellipse">
            <a:avLst/>
          </a:prstGeom>
          <a:solidFill>
            <a:schemeClr val="accent1"/>
          </a:solidFill>
          <a:ln/>
        </p:spPr>
        <p:txBody>
          <a:bodyPr/>
          <a:lstStyle/>
          <a:p>
            <a:endParaRPr lang="it-IT"/>
          </a:p>
        </p:txBody>
      </p:sp>
      <p:pic>
        <p:nvPicPr>
          <p:cNvPr id="14" name="Image 1" descr="FiZap"/>
          <p:cNvPicPr>
            <a:picLocks noChangeAspect="1"/>
          </p:cNvPicPr>
          <p:nvPr/>
        </p:nvPicPr>
        <p:blipFill>
          <a:blip r:embed="rId4"/>
          <a:stretch>
            <a:fillRect/>
          </a:stretch>
        </p:blipFill>
        <p:spPr>
          <a:xfrm>
            <a:off x="2807208" y="2761488"/>
            <a:ext cx="219456" cy="219456"/>
          </a:xfrm>
          <a:prstGeom prst="rect">
            <a:avLst/>
          </a:prstGeom>
        </p:spPr>
      </p:pic>
      <p:sp>
        <p:nvSpPr>
          <p:cNvPr id="15" name="Text 10"/>
          <p:cNvSpPr txBox="1"/>
          <p:nvPr/>
        </p:nvSpPr>
        <p:spPr>
          <a:xfrm>
            <a:off x="3218688" y="2468880"/>
            <a:ext cx="1261872" cy="1051560"/>
          </a:xfrm>
          <a:prstGeom prst="rect">
            <a:avLst/>
          </a:prstGeom>
          <a:noFill/>
          <a:ln/>
        </p:spPr>
        <p:txBody>
          <a:bodyPr wrap="square" lIns="0" tIns="0" rIns="0" bIns="0" rtlCol="0" anchor="ctr"/>
          <a:lstStyle/>
          <a:p>
            <a:pPr marL="0" indent="0">
              <a:buNone/>
            </a:pPr>
            <a:r>
              <a:rPr lang="en-US" sz="1200" b="1" dirty="0">
                <a:solidFill>
                  <a:schemeClr val="tx1"/>
                </a:solidFill>
              </a:rPr>
              <a:t>Modello piccolo per compiti semplici</a:t>
            </a:r>
            <a:endParaRPr lang="en-US" sz="1200" dirty="0"/>
          </a:p>
        </p:txBody>
      </p:sp>
      <p:sp>
        <p:nvSpPr>
          <p:cNvPr id="16" name="Modello specializzato"/>
          <p:cNvSpPr/>
          <p:nvPr/>
        </p:nvSpPr>
        <p:spPr>
          <a:xfrm>
            <a:off x="4663440" y="2468880"/>
            <a:ext cx="1965960" cy="1051560"/>
          </a:xfrm>
          <a:prstGeom prst="roundRect">
            <a:avLst>
              <a:gd name="adj" fmla="val 6957"/>
            </a:avLst>
          </a:prstGeom>
          <a:solidFill>
            <a:schemeClr val="accent6"/>
          </a:solidFill>
          <a:ln/>
        </p:spPr>
        <p:txBody>
          <a:bodyPr/>
          <a:lstStyle/>
          <a:p>
            <a:endParaRPr lang="it-IT"/>
          </a:p>
        </p:txBody>
      </p:sp>
      <p:sp>
        <p:nvSpPr>
          <p:cNvPr id="17" name="cerchio FiMic"/>
          <p:cNvSpPr/>
          <p:nvPr/>
        </p:nvSpPr>
        <p:spPr>
          <a:xfrm>
            <a:off x="4800600" y="2651760"/>
            <a:ext cx="438912" cy="438912"/>
          </a:xfrm>
          <a:prstGeom prst="ellipse">
            <a:avLst/>
          </a:prstGeom>
          <a:solidFill>
            <a:schemeClr val="accent1"/>
          </a:solidFill>
          <a:ln/>
        </p:spPr>
        <p:txBody>
          <a:bodyPr/>
          <a:lstStyle/>
          <a:p>
            <a:endParaRPr lang="it-IT"/>
          </a:p>
        </p:txBody>
      </p:sp>
      <p:pic>
        <p:nvPicPr>
          <p:cNvPr id="18" name="Image 2" descr="FiMic"/>
          <p:cNvPicPr>
            <a:picLocks noChangeAspect="1"/>
          </p:cNvPicPr>
          <p:nvPr/>
        </p:nvPicPr>
        <p:blipFill>
          <a:blip r:embed="rId5"/>
          <a:stretch>
            <a:fillRect/>
          </a:stretch>
        </p:blipFill>
        <p:spPr>
          <a:xfrm>
            <a:off x="4910328" y="2761488"/>
            <a:ext cx="219456" cy="219456"/>
          </a:xfrm>
          <a:prstGeom prst="rect">
            <a:avLst/>
          </a:prstGeom>
        </p:spPr>
      </p:pic>
      <p:sp>
        <p:nvSpPr>
          <p:cNvPr id="19" name="Text 13"/>
          <p:cNvSpPr txBox="1"/>
          <p:nvPr/>
        </p:nvSpPr>
        <p:spPr>
          <a:xfrm>
            <a:off x="5321808" y="2468880"/>
            <a:ext cx="1261872" cy="1051560"/>
          </a:xfrm>
          <a:prstGeom prst="rect">
            <a:avLst/>
          </a:prstGeom>
          <a:noFill/>
          <a:ln/>
        </p:spPr>
        <p:txBody>
          <a:bodyPr wrap="square" lIns="0" tIns="0" rIns="0" bIns="0" rtlCol="0" anchor="ctr"/>
          <a:lstStyle/>
          <a:p>
            <a:pPr marL="0" indent="0">
              <a:buNone/>
            </a:pPr>
            <a:r>
              <a:rPr lang="en-US" sz="1200" b="1" dirty="0">
                <a:solidFill>
                  <a:schemeClr val="tx1"/>
                </a:solidFill>
              </a:rPr>
              <a:t>Modello specializzato</a:t>
            </a:r>
            <a:endParaRPr lang="en-US" sz="1200" dirty="0"/>
          </a:p>
        </p:txBody>
      </p:sp>
      <p:sp>
        <p:nvSpPr>
          <p:cNvPr id="20" name="Software tradizionale"/>
          <p:cNvSpPr/>
          <p:nvPr/>
        </p:nvSpPr>
        <p:spPr>
          <a:xfrm>
            <a:off x="6766560" y="2468880"/>
            <a:ext cx="1965960" cy="1051560"/>
          </a:xfrm>
          <a:prstGeom prst="roundRect">
            <a:avLst>
              <a:gd name="adj" fmla="val 6957"/>
            </a:avLst>
          </a:prstGeom>
          <a:solidFill>
            <a:schemeClr val="bg2"/>
          </a:solidFill>
          <a:ln/>
        </p:spPr>
        <p:txBody>
          <a:bodyPr/>
          <a:lstStyle/>
          <a:p>
            <a:endParaRPr lang="it-IT"/>
          </a:p>
        </p:txBody>
      </p:sp>
      <p:sp>
        <p:nvSpPr>
          <p:cNvPr id="21" name="cerchio FiSettings"/>
          <p:cNvSpPr/>
          <p:nvPr/>
        </p:nvSpPr>
        <p:spPr>
          <a:xfrm>
            <a:off x="6903720" y="2651760"/>
            <a:ext cx="438912" cy="438912"/>
          </a:xfrm>
          <a:prstGeom prst="ellipse">
            <a:avLst/>
          </a:prstGeom>
          <a:solidFill>
            <a:schemeClr val="accent1"/>
          </a:solidFill>
          <a:ln/>
        </p:spPr>
        <p:txBody>
          <a:bodyPr/>
          <a:lstStyle/>
          <a:p>
            <a:endParaRPr lang="it-IT"/>
          </a:p>
        </p:txBody>
      </p:sp>
      <p:pic>
        <p:nvPicPr>
          <p:cNvPr id="22" name="Image 3" descr="FiSettings"/>
          <p:cNvPicPr>
            <a:picLocks noChangeAspect="1"/>
          </p:cNvPicPr>
          <p:nvPr/>
        </p:nvPicPr>
        <p:blipFill>
          <a:blip r:embed="rId6"/>
          <a:stretch>
            <a:fillRect/>
          </a:stretch>
        </p:blipFill>
        <p:spPr>
          <a:xfrm>
            <a:off x="7013448" y="2761488"/>
            <a:ext cx="219456" cy="219456"/>
          </a:xfrm>
          <a:prstGeom prst="rect">
            <a:avLst/>
          </a:prstGeom>
        </p:spPr>
      </p:pic>
      <p:sp>
        <p:nvSpPr>
          <p:cNvPr id="23" name="Text 16"/>
          <p:cNvSpPr txBox="1"/>
          <p:nvPr/>
        </p:nvSpPr>
        <p:spPr>
          <a:xfrm>
            <a:off x="7424928" y="2468880"/>
            <a:ext cx="1261872" cy="1051560"/>
          </a:xfrm>
          <a:prstGeom prst="rect">
            <a:avLst/>
          </a:prstGeom>
          <a:noFill/>
          <a:ln/>
        </p:spPr>
        <p:txBody>
          <a:bodyPr wrap="square" lIns="0" tIns="0" rIns="0" bIns="0" rtlCol="0" anchor="ctr"/>
          <a:lstStyle/>
          <a:p>
            <a:pPr marL="0" indent="0">
              <a:buNone/>
            </a:pPr>
            <a:r>
              <a:rPr lang="en-US" sz="1200" b="1" dirty="0">
                <a:solidFill>
                  <a:schemeClr val="tx1"/>
                </a:solidFill>
              </a:rPr>
              <a:t>Software tradizionale</a:t>
            </a:r>
            <a:endParaRPr lang="en-US" sz="1200" dirty="0"/>
          </a:p>
        </p:txBody>
      </p:sp>
      <p:sp>
        <p:nvSpPr>
          <p:cNvPr id="24" name="dati"/>
          <p:cNvSpPr/>
          <p:nvPr/>
        </p:nvSpPr>
        <p:spPr>
          <a:xfrm>
            <a:off x="457200" y="3657600"/>
            <a:ext cx="8229600" cy="548640"/>
          </a:xfrm>
          <a:prstGeom prst="roundRect">
            <a:avLst>
              <a:gd name="adj" fmla="val 13333"/>
            </a:avLst>
          </a:prstGeom>
          <a:solidFill>
            <a:schemeClr val="bg2"/>
          </a:solidFill>
          <a:ln/>
        </p:spPr>
        <p:txBody>
          <a:bodyPr/>
          <a:lstStyle/>
          <a:p>
            <a:endParaRPr lang="it-IT"/>
          </a:p>
        </p:txBody>
      </p:sp>
      <p:sp>
        <p:nvSpPr>
          <p:cNvPr id="25" name="Text 18"/>
          <p:cNvSpPr txBox="1"/>
          <p:nvPr/>
        </p:nvSpPr>
        <p:spPr>
          <a:xfrm>
            <a:off x="640080" y="3657600"/>
            <a:ext cx="7863840" cy="548640"/>
          </a:xfrm>
          <a:prstGeom prst="rect">
            <a:avLst/>
          </a:prstGeom>
          <a:noFill/>
          <a:ln/>
        </p:spPr>
        <p:txBody>
          <a:bodyPr wrap="square" lIns="0" tIns="0" rIns="0" bIns="0" rtlCol="0" anchor="ctr"/>
          <a:lstStyle/>
          <a:p>
            <a:pPr marL="0" indent="0" algn="ctr">
              <a:buNone/>
            </a:pPr>
            <a:r>
              <a:rPr lang="it-IT" sz="1300" b="1" dirty="0">
                <a:solidFill>
                  <a:schemeClr val="tx1"/>
                </a:solidFill>
              </a:rPr>
              <a:t>Dati e sistemi: </a:t>
            </a:r>
            <a:r>
              <a:rPr lang="it-IT" sz="1300" dirty="0">
                <a:solidFill>
                  <a:schemeClr val="tx1"/>
                </a:solidFill>
              </a:rPr>
              <a:t>documenti aziendali, CRM con lo storico del cliente, posta</a:t>
            </a:r>
            <a:endParaRPr lang="it-IT" sz="1300" dirty="0"/>
          </a:p>
        </p:txBody>
      </p:sp>
      <p:sp>
        <p:nvSpPr>
          <p:cNvPr id="26" name="Text 19"/>
          <p:cNvSpPr txBox="1"/>
          <p:nvPr/>
        </p:nvSpPr>
        <p:spPr>
          <a:xfrm>
            <a:off x="457200" y="4297680"/>
            <a:ext cx="8229600" cy="274320"/>
          </a:xfrm>
          <a:prstGeom prst="rect">
            <a:avLst/>
          </a:prstGeom>
          <a:noFill/>
          <a:ln/>
        </p:spPr>
        <p:txBody>
          <a:bodyPr wrap="square" lIns="0" tIns="0" rIns="0" bIns="0" rtlCol="0" anchor="t"/>
          <a:lstStyle/>
          <a:p>
            <a:pPr marL="0" indent="0">
              <a:buNone/>
            </a:pPr>
            <a:r>
              <a:rPr lang="it-IT" sz="1100" i="1" dirty="0">
                <a:solidFill>
                  <a:schemeClr val="accent2"/>
                </a:solidFill>
              </a:rPr>
              <a:t>Risultato: un riepilogo pronto da usare. Esempio fittizio e schema semplificato: il modello è solo uno dei componenti.</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Più modelli, modelli che cambiano</a:t>
            </a:r>
            <a:endParaRPr lang="en-US" sz="2600" dirty="0"/>
          </a:p>
        </p:txBody>
      </p:sp>
      <p:sp>
        <p:nvSpPr>
          <p:cNvPr id="4" name="Più modelli insieme"/>
          <p:cNvSpPr/>
          <p:nvPr/>
        </p:nvSpPr>
        <p:spPr>
          <a:xfrm>
            <a:off x="457200" y="1097280"/>
            <a:ext cx="2621280" cy="1600200"/>
          </a:xfrm>
          <a:prstGeom prst="roundRect">
            <a:avLst>
              <a:gd name="adj" fmla="val 4571"/>
            </a:avLst>
          </a:prstGeom>
          <a:solidFill>
            <a:schemeClr val="bg2"/>
          </a:solidFill>
          <a:ln/>
        </p:spPr>
        <p:txBody>
          <a:bodyPr/>
          <a:lstStyle/>
          <a:p>
            <a:endParaRPr lang="it-IT"/>
          </a:p>
        </p:txBody>
      </p:sp>
      <p:sp>
        <p:nvSpPr>
          <p:cNvPr id="5" name="cerchio FiShuffle"/>
          <p:cNvSpPr/>
          <p:nvPr/>
        </p:nvSpPr>
        <p:spPr>
          <a:xfrm>
            <a:off x="621792" y="1261872"/>
            <a:ext cx="438912" cy="438912"/>
          </a:xfrm>
          <a:prstGeom prst="ellipse">
            <a:avLst/>
          </a:prstGeom>
          <a:solidFill>
            <a:schemeClr val="accent1"/>
          </a:solidFill>
          <a:ln/>
        </p:spPr>
        <p:txBody>
          <a:bodyPr/>
          <a:lstStyle/>
          <a:p>
            <a:endParaRPr lang="it-IT"/>
          </a:p>
        </p:txBody>
      </p:sp>
      <p:pic>
        <p:nvPicPr>
          <p:cNvPr id="6" name="Image 0" descr="FiShuffl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Più modelli insieme</a:t>
            </a:r>
            <a:endParaRPr lang="en-US" sz="1400" dirty="0"/>
          </a:p>
        </p:txBody>
      </p:sp>
      <p:sp>
        <p:nvSpPr>
          <p:cNvPr id="8" name="Text 4"/>
          <p:cNvSpPr txBox="1"/>
          <p:nvPr/>
        </p:nvSpPr>
        <p:spPr>
          <a:xfrm>
            <a:off x="621792" y="1810512"/>
            <a:ext cx="2292096" cy="795528"/>
          </a:xfrm>
          <a:prstGeom prst="rect">
            <a:avLst/>
          </a:prstGeom>
          <a:noFill/>
          <a:ln/>
        </p:spPr>
        <p:txBody>
          <a:bodyPr wrap="square" lIns="0" tIns="0" rIns="0" bIns="0" rtlCol="0" anchor="t"/>
          <a:lstStyle/>
          <a:p>
            <a:pPr marL="0" indent="0">
              <a:buNone/>
            </a:pPr>
            <a:r>
              <a:rPr lang="en-US" sz="1200" dirty="0">
                <a:solidFill>
                  <a:schemeClr val="tx2"/>
                </a:solidFill>
              </a:rPr>
              <a:t>Il più adatto per qualità, velocità o costo, in automatico o a scelta dell'utente</a:t>
            </a:r>
            <a:endParaRPr lang="en-US" sz="1200" dirty="0"/>
          </a:p>
        </p:txBody>
      </p:sp>
      <p:sp>
        <p:nvSpPr>
          <p:cNvPr id="9" name="Modelli che cambiano"/>
          <p:cNvSpPr/>
          <p:nvPr/>
        </p:nvSpPr>
        <p:spPr>
          <a:xfrm>
            <a:off x="3261360" y="1097280"/>
            <a:ext cx="2621280" cy="1600200"/>
          </a:xfrm>
          <a:prstGeom prst="roundRect">
            <a:avLst>
              <a:gd name="adj" fmla="val 4571"/>
            </a:avLst>
          </a:prstGeom>
          <a:solidFill>
            <a:schemeClr val="bg2"/>
          </a:solidFill>
          <a:ln/>
        </p:spPr>
        <p:txBody>
          <a:bodyPr/>
          <a:lstStyle/>
          <a:p>
            <a:endParaRPr lang="it-IT"/>
          </a:p>
        </p:txBody>
      </p:sp>
      <p:sp>
        <p:nvSpPr>
          <p:cNvPr id="10" name="cerchio FiRefreshCw"/>
          <p:cNvSpPr/>
          <p:nvPr/>
        </p:nvSpPr>
        <p:spPr>
          <a:xfrm>
            <a:off x="3425952" y="1261872"/>
            <a:ext cx="438912" cy="438912"/>
          </a:xfrm>
          <a:prstGeom prst="ellipse">
            <a:avLst/>
          </a:prstGeom>
          <a:solidFill>
            <a:schemeClr val="accent1"/>
          </a:solidFill>
          <a:ln/>
        </p:spPr>
        <p:txBody>
          <a:bodyPr/>
          <a:lstStyle/>
          <a:p>
            <a:endParaRPr lang="it-IT"/>
          </a:p>
        </p:txBody>
      </p:sp>
      <p:pic>
        <p:nvPicPr>
          <p:cNvPr id="11" name="Image 1" descr="FiRefreshCw"/>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Modelli che cambiano</a:t>
            </a:r>
            <a:endParaRPr lang="en-US" sz="1400" dirty="0"/>
          </a:p>
        </p:txBody>
      </p:sp>
      <p:sp>
        <p:nvSpPr>
          <p:cNvPr id="13" name="Text 8"/>
          <p:cNvSpPr txBox="1"/>
          <p:nvPr/>
        </p:nvSpPr>
        <p:spPr>
          <a:xfrm>
            <a:off x="3425952" y="1810512"/>
            <a:ext cx="2292096" cy="795528"/>
          </a:xfrm>
          <a:prstGeom prst="rect">
            <a:avLst/>
          </a:prstGeom>
          <a:noFill/>
          <a:ln/>
        </p:spPr>
        <p:txBody>
          <a:bodyPr wrap="square" lIns="0" tIns="0" rIns="0" bIns="0" rtlCol="0" anchor="t"/>
          <a:lstStyle/>
          <a:p>
            <a:pPr marL="0" indent="0">
              <a:buNone/>
            </a:pPr>
            <a:r>
              <a:rPr lang="en-US" sz="1200" dirty="0">
                <a:solidFill>
                  <a:schemeClr val="tx2"/>
                </a:solidFill>
              </a:rPr>
              <a:t>Nuove versioni o passaggio a un altro fornitore</a:t>
            </a:r>
            <a:endParaRPr lang="en-US" sz="1200" dirty="0"/>
          </a:p>
        </p:txBody>
      </p:sp>
      <p:sp>
        <p:nvSpPr>
          <p:cNvPr id="14" name="Modelli + software tradizionale"/>
          <p:cNvSpPr/>
          <p:nvPr/>
        </p:nvSpPr>
        <p:spPr>
          <a:xfrm>
            <a:off x="6065520" y="1097280"/>
            <a:ext cx="2621280" cy="1600200"/>
          </a:xfrm>
          <a:prstGeom prst="roundRect">
            <a:avLst>
              <a:gd name="adj" fmla="val 4571"/>
            </a:avLst>
          </a:prstGeom>
          <a:solidFill>
            <a:schemeClr val="bg2"/>
          </a:solidFill>
          <a:ln/>
        </p:spPr>
        <p:txBody>
          <a:bodyPr/>
          <a:lstStyle/>
          <a:p>
            <a:endParaRPr lang="it-IT"/>
          </a:p>
        </p:txBody>
      </p:sp>
      <p:sp>
        <p:nvSpPr>
          <p:cNvPr id="15" name="cerchio FiSettings"/>
          <p:cNvSpPr/>
          <p:nvPr/>
        </p:nvSpPr>
        <p:spPr>
          <a:xfrm>
            <a:off x="6230112" y="1261872"/>
            <a:ext cx="438912" cy="438912"/>
          </a:xfrm>
          <a:prstGeom prst="ellipse">
            <a:avLst/>
          </a:prstGeom>
          <a:solidFill>
            <a:schemeClr val="accent1"/>
          </a:solidFill>
          <a:ln/>
        </p:spPr>
        <p:txBody>
          <a:bodyPr/>
          <a:lstStyle/>
          <a:p>
            <a:endParaRPr lang="it-IT"/>
          </a:p>
        </p:txBody>
      </p:sp>
      <p:pic>
        <p:nvPicPr>
          <p:cNvPr id="16" name="Image 2" descr="FiSettings"/>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Modelli + software tradizionale</a:t>
            </a:r>
            <a:endParaRPr lang="en-US" sz="1400" dirty="0"/>
          </a:p>
        </p:txBody>
      </p:sp>
      <p:sp>
        <p:nvSpPr>
          <p:cNvPr id="18" name="Text 12"/>
          <p:cNvSpPr txBox="1"/>
          <p:nvPr/>
        </p:nvSpPr>
        <p:spPr>
          <a:xfrm>
            <a:off x="6230112" y="1810512"/>
            <a:ext cx="2292096" cy="795528"/>
          </a:xfrm>
          <a:prstGeom prst="rect">
            <a:avLst/>
          </a:prstGeom>
          <a:noFill/>
          <a:ln/>
        </p:spPr>
        <p:txBody>
          <a:bodyPr wrap="square" lIns="0" tIns="0" rIns="0" bIns="0" rtlCol="0" anchor="t"/>
          <a:lstStyle/>
          <a:p>
            <a:pPr marL="0" indent="0">
              <a:buNone/>
            </a:pPr>
            <a:r>
              <a:rPr lang="en-US" sz="1200" dirty="0">
                <a:solidFill>
                  <a:schemeClr val="tx2"/>
                </a:solidFill>
              </a:rPr>
              <a:t>L'AI solo dove serve</a:t>
            </a:r>
            <a:endParaRPr lang="en-US" sz="1200" dirty="0"/>
          </a:p>
        </p:txBody>
      </p:sp>
      <p:sp>
        <p:nvSpPr>
          <p:cNvPr id="19" name="Text 13"/>
          <p:cNvSpPr txBox="1"/>
          <p:nvPr/>
        </p:nvSpPr>
        <p:spPr>
          <a:xfrm>
            <a:off x="457200" y="2880360"/>
            <a:ext cx="8229600" cy="274320"/>
          </a:xfrm>
          <a:prstGeom prst="rect">
            <a:avLst/>
          </a:prstGeom>
          <a:noFill/>
          <a:ln/>
        </p:spPr>
        <p:txBody>
          <a:bodyPr wrap="square" lIns="0" tIns="0" rIns="0" bIns="0" rtlCol="0" anchor="t"/>
          <a:lstStyle/>
          <a:p>
            <a:pPr marL="0" indent="0">
              <a:buNone/>
            </a:pPr>
            <a:r>
              <a:rPr lang="en-US" sz="1400" b="1" dirty="0">
                <a:solidFill>
                  <a:schemeClr val="tx1"/>
                </a:solidFill>
              </a:rPr>
              <a:t>Che cosa significa per chi li usa</a:t>
            </a:r>
            <a:endParaRPr lang="en-US" sz="1400" dirty="0"/>
          </a:p>
        </p:txBody>
      </p:sp>
      <p:sp>
        <p:nvSpPr>
          <p:cNvPr id="20" name="Il comportamento può cambiare senza che cambi l'interfaccia"/>
          <p:cNvSpPr/>
          <p:nvPr/>
        </p:nvSpPr>
        <p:spPr>
          <a:xfrm>
            <a:off x="457200" y="3246120"/>
            <a:ext cx="2615184" cy="1280160"/>
          </a:xfrm>
          <a:prstGeom prst="roundRect">
            <a:avLst>
              <a:gd name="adj" fmla="val 5714"/>
            </a:avLst>
          </a:prstGeom>
          <a:solidFill>
            <a:schemeClr val="accent6"/>
          </a:solidFill>
          <a:ln/>
        </p:spPr>
        <p:txBody>
          <a:bodyPr/>
          <a:lstStyle/>
          <a:p>
            <a:endParaRPr lang="it-IT"/>
          </a:p>
        </p:txBody>
      </p:sp>
      <p:sp>
        <p:nvSpPr>
          <p:cNvPr id="21" name="Text 15"/>
          <p:cNvSpPr txBox="1"/>
          <p:nvPr/>
        </p:nvSpPr>
        <p:spPr>
          <a:xfrm>
            <a:off x="594360" y="3246120"/>
            <a:ext cx="2340864" cy="1280160"/>
          </a:xfrm>
          <a:prstGeom prst="rect">
            <a:avLst/>
          </a:prstGeom>
          <a:noFill/>
          <a:ln/>
        </p:spPr>
        <p:txBody>
          <a:bodyPr wrap="square" lIns="0" tIns="0" rIns="0" bIns="0" rtlCol="0" anchor="ctr"/>
          <a:lstStyle/>
          <a:p>
            <a:pPr marL="0" indent="0">
              <a:buNone/>
            </a:pPr>
            <a:r>
              <a:rPr lang="en-US" sz="1300" dirty="0">
                <a:solidFill>
                  <a:schemeClr val="tx1"/>
                </a:solidFill>
              </a:rPr>
              <a:t>Il comportamento può cambiare senza che cambi l'interfaccia</a:t>
            </a:r>
            <a:endParaRPr lang="en-US" sz="1300" dirty="0"/>
          </a:p>
        </p:txBody>
      </p:sp>
      <p:sp>
        <p:nvSpPr>
          <p:cNvPr id="22" name="Sapere quale modello usa un'app è utile, ma non basta"/>
          <p:cNvSpPr/>
          <p:nvPr/>
        </p:nvSpPr>
        <p:spPr>
          <a:xfrm>
            <a:off x="3264408" y="3246120"/>
            <a:ext cx="2615184" cy="1280160"/>
          </a:xfrm>
          <a:prstGeom prst="roundRect">
            <a:avLst>
              <a:gd name="adj" fmla="val 5714"/>
            </a:avLst>
          </a:prstGeom>
          <a:solidFill>
            <a:schemeClr val="accent6"/>
          </a:solidFill>
          <a:ln/>
        </p:spPr>
        <p:txBody>
          <a:bodyPr/>
          <a:lstStyle/>
          <a:p>
            <a:endParaRPr lang="it-IT"/>
          </a:p>
        </p:txBody>
      </p:sp>
      <p:sp>
        <p:nvSpPr>
          <p:cNvPr id="23" name="Text 17"/>
          <p:cNvSpPr txBox="1"/>
          <p:nvPr/>
        </p:nvSpPr>
        <p:spPr>
          <a:xfrm>
            <a:off x="3401568" y="3246120"/>
            <a:ext cx="2340864" cy="1280160"/>
          </a:xfrm>
          <a:prstGeom prst="rect">
            <a:avLst/>
          </a:prstGeom>
          <a:noFill/>
          <a:ln/>
        </p:spPr>
        <p:txBody>
          <a:bodyPr wrap="square" lIns="0" tIns="0" rIns="0" bIns="0" rtlCol="0" anchor="ctr"/>
          <a:lstStyle/>
          <a:p>
            <a:pPr marL="0" indent="0">
              <a:buNone/>
            </a:pPr>
            <a:r>
              <a:rPr lang="en-US" sz="1300" dirty="0">
                <a:solidFill>
                  <a:schemeClr val="tx1"/>
                </a:solidFill>
              </a:rPr>
              <a:t>Sapere quale modello usa un'app è utile, ma non basta</a:t>
            </a:r>
            <a:endParaRPr lang="en-US" sz="1300" dirty="0"/>
          </a:p>
        </p:txBody>
      </p:sp>
      <p:sp>
        <p:nvSpPr>
          <p:cNvPr id="24" name="Il fornitore comunica i cambi di modello? Possiamo influire?"/>
          <p:cNvSpPr/>
          <p:nvPr/>
        </p:nvSpPr>
        <p:spPr>
          <a:xfrm>
            <a:off x="6071616" y="3246120"/>
            <a:ext cx="2615184" cy="1280160"/>
          </a:xfrm>
          <a:prstGeom prst="roundRect">
            <a:avLst>
              <a:gd name="adj" fmla="val 5714"/>
            </a:avLst>
          </a:prstGeom>
          <a:solidFill>
            <a:schemeClr val="accent6"/>
          </a:solidFill>
          <a:ln/>
        </p:spPr>
        <p:txBody>
          <a:bodyPr/>
          <a:lstStyle/>
          <a:p>
            <a:endParaRPr lang="it-IT"/>
          </a:p>
        </p:txBody>
      </p:sp>
      <p:sp>
        <p:nvSpPr>
          <p:cNvPr id="25" name="Text 19"/>
          <p:cNvSpPr txBox="1"/>
          <p:nvPr/>
        </p:nvSpPr>
        <p:spPr>
          <a:xfrm>
            <a:off x="6208776" y="3246120"/>
            <a:ext cx="2340864" cy="1280160"/>
          </a:xfrm>
          <a:prstGeom prst="rect">
            <a:avLst/>
          </a:prstGeom>
          <a:noFill/>
          <a:ln/>
        </p:spPr>
        <p:txBody>
          <a:bodyPr wrap="square" lIns="0" tIns="0" rIns="0" bIns="0" rtlCol="0" anchor="ctr"/>
          <a:lstStyle/>
          <a:p>
            <a:pPr marL="0" indent="0">
              <a:buNone/>
            </a:pPr>
            <a:r>
              <a:rPr lang="en-US" sz="1300" dirty="0">
                <a:solidFill>
                  <a:schemeClr val="tx1"/>
                </a:solidFill>
              </a:rPr>
              <a:t>Il fornitore comunica i cambi di modello? Possiamo influire?</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11</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4.2</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Le principali famiglie di modelli AI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Modelli differenti rispondono a esigenze differenti: non esiste un unico modello migliore per qualunque attività</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Due dimensioni per classificare i modelli</a:t>
            </a:r>
            <a:endParaRPr lang="en-US" sz="2600" dirty="0"/>
          </a:p>
        </p:txBody>
      </p:sp>
      <p:sp>
        <p:nvSpPr>
          <p:cNvPr id="35" name="Rounded Rectangle 34"/>
          <p:cNvSpPr/>
          <p:nvPr/>
        </p:nvSpPr>
        <p:spPr>
          <a:xfrm>
            <a:off x="4663440" y="1097280"/>
            <a:ext cx="4023360" cy="2944368"/>
          </a:xfrm>
          <a:prstGeom prst="roundRect">
            <a:avLst>
              <a:gd name="adj" fmla="val 4507"/>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7200" y="1097280"/>
            <a:ext cx="4023360" cy="2944368"/>
          </a:xfrm>
          <a:prstGeom prst="roundRect">
            <a:avLst>
              <a:gd name="adj" fmla="val 4507"/>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erchio FiLayers"/>
          <p:cNvSpPr/>
          <p:nvPr/>
        </p:nvSpPr>
        <p:spPr>
          <a:xfrm>
            <a:off x="621792" y="1243584"/>
            <a:ext cx="438912" cy="438912"/>
          </a:xfrm>
          <a:prstGeom prst="ellipse">
            <a:avLst/>
          </a:prstGeom>
          <a:solidFill>
            <a:schemeClr val="accent1"/>
          </a:solidFill>
          <a:ln/>
        </p:spPr>
        <p:txBody>
          <a:bodyPr/>
          <a:lstStyle/>
          <a:p>
            <a:endParaRPr lang="it-IT"/>
          </a:p>
        </p:txBody>
      </p:sp>
      <p:pic>
        <p:nvPicPr>
          <p:cNvPr id="11" name="Image 1" descr="FiLayers"/>
          <p:cNvPicPr>
            <a:picLocks noChangeAspect="1"/>
          </p:cNvPicPr>
          <p:nvPr/>
        </p:nvPicPr>
        <p:blipFill>
          <a:blip r:embed="rId4"/>
          <a:stretch>
            <a:fillRect/>
          </a:stretch>
        </p:blipFill>
        <p:spPr>
          <a:xfrm>
            <a:off x="731520" y="1353312"/>
            <a:ext cx="219456" cy="219456"/>
          </a:xfrm>
          <a:prstGeom prst="rect">
            <a:avLst/>
          </a:prstGeom>
        </p:spPr>
      </p:pic>
      <p:sp>
        <p:nvSpPr>
          <p:cNvPr id="20" name="cerchio FiCrosshair"/>
          <p:cNvSpPr/>
          <p:nvPr/>
        </p:nvSpPr>
        <p:spPr>
          <a:xfrm>
            <a:off x="4828032" y="1243584"/>
            <a:ext cx="438912" cy="438912"/>
          </a:xfrm>
          <a:prstGeom prst="ellipse">
            <a:avLst/>
          </a:prstGeom>
          <a:solidFill>
            <a:schemeClr val="accent1"/>
          </a:solidFill>
          <a:ln/>
        </p:spPr>
        <p:txBody>
          <a:bodyPr/>
          <a:lstStyle/>
          <a:p>
            <a:endParaRPr lang="it-IT"/>
          </a:p>
        </p:txBody>
      </p:sp>
      <p:pic>
        <p:nvPicPr>
          <p:cNvPr id="21" name="Image 3" descr="FiCrosshair"/>
          <p:cNvPicPr>
            <a:picLocks noChangeAspect="1"/>
          </p:cNvPicPr>
          <p:nvPr/>
        </p:nvPicPr>
        <p:blipFill>
          <a:blip r:embed="rId6"/>
          <a:stretch>
            <a:fillRect/>
          </a:stretch>
        </p:blipFill>
        <p:spPr>
          <a:xfrm>
            <a:off x="4937760" y="1353312"/>
            <a:ext cx="219456" cy="219456"/>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15</a:t>
            </a:fld>
            <a:endParaRPr lang="en-US"/>
          </a:p>
        </p:txBody>
      </p:sp>
      <p:sp>
        <p:nvSpPr>
          <p:cNvPr id="27" name="TextBox 26"/>
          <p:cNvSpPr txBox="1"/>
          <p:nvPr/>
        </p:nvSpPr>
        <p:spPr>
          <a:xfrm>
            <a:off x="1170432" y="1207008"/>
            <a:ext cx="3200400" cy="512064"/>
          </a:xfrm>
          <a:prstGeom prst="rect">
            <a:avLst/>
          </a:prstGeom>
          <a:noFill/>
        </p:spPr>
        <p:txBody>
          <a:bodyPr wrap="square" lIns="0" rIns="0" tIns="0" bIns="0" anchor="ctr">
            <a:spAutoFit/>
          </a:bodyPr>
          <a:lstStyle/>
          <a:p>
            <a:r>
              <a:rPr sz="1500" b="1">
                <a:solidFill>
                  <a:schemeClr val="tx1"/>
                </a:solidFill>
              </a:rPr>
              <a:t>Modalità di input e output</a:t>
            </a:r>
          </a:p>
        </p:txBody>
      </p:sp>
      <p:sp>
        <p:nvSpPr>
          <p:cNvPr id="28" name="TextBox 27"/>
          <p:cNvSpPr txBox="1"/>
          <p:nvPr/>
        </p:nvSpPr>
        <p:spPr>
          <a:xfrm>
            <a:off x="1170432" y="1645920"/>
            <a:ext cx="3200400" cy="228600"/>
          </a:xfrm>
          <a:prstGeom prst="rect">
            <a:avLst/>
          </a:prstGeom>
          <a:noFill/>
        </p:spPr>
        <p:txBody>
          <a:bodyPr wrap="square" lIns="0" rIns="0" tIns="0" bIns="0" anchor="t">
            <a:spAutoFit/>
          </a:bodyPr>
          <a:lstStyle/>
          <a:p>
            <a:r>
              <a:rPr sz="1100" b="0">
                <a:solidFill>
                  <a:schemeClr val="tx2"/>
                </a:solidFill>
              </a:rPr>
              <a:t>Che cosa riceve e che cosa produce</a:t>
            </a:r>
          </a:p>
        </p:txBody>
      </p:sp>
      <p:sp>
        <p:nvSpPr>
          <p:cNvPr id="29" name="Rounded Rectangle 28"/>
          <p:cNvSpPr/>
          <p:nvPr/>
        </p:nvSpPr>
        <p:spPr>
          <a:xfrm>
            <a:off x="621792" y="1993392"/>
            <a:ext cx="3694176" cy="56692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2057400"/>
            <a:ext cx="3438144" cy="457200"/>
          </a:xfrm>
          <a:prstGeom prst="rect">
            <a:avLst/>
          </a:prstGeom>
          <a:noFill/>
        </p:spPr>
        <p:txBody>
          <a:bodyPr wrap="square" lIns="0" rIns="0" tIns="0" bIns="0" anchor="ctr">
            <a:spAutoFit/>
          </a:bodyPr>
          <a:lstStyle/>
          <a:p>
            <a:r>
              <a:rPr sz="1200" b="1">
                <a:solidFill>
                  <a:schemeClr val="tx1"/>
                </a:solidFill>
              </a:rPr>
              <a:t>Solo testo</a:t>
            </a:r>
          </a:p>
          <a:p>
            <a:r>
              <a:rPr sz="1100" b="0">
                <a:solidFill>
                  <a:schemeClr val="tx2"/>
                </a:solidFill>
              </a:rPr>
              <a:t>Testo in ingresso e in uscita</a:t>
            </a:r>
          </a:p>
        </p:txBody>
      </p:sp>
      <p:sp>
        <p:nvSpPr>
          <p:cNvPr id="31" name="Rounded Rectangle 30"/>
          <p:cNvSpPr/>
          <p:nvPr/>
        </p:nvSpPr>
        <p:spPr>
          <a:xfrm>
            <a:off x="621792" y="2633472"/>
            <a:ext cx="3694176" cy="56692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2697480"/>
            <a:ext cx="3438144" cy="457200"/>
          </a:xfrm>
          <a:prstGeom prst="rect">
            <a:avLst/>
          </a:prstGeom>
          <a:noFill/>
        </p:spPr>
        <p:txBody>
          <a:bodyPr wrap="square" lIns="0" rIns="0" tIns="0" bIns="0" anchor="ctr">
            <a:spAutoFit/>
          </a:bodyPr>
          <a:lstStyle/>
          <a:p>
            <a:r>
              <a:rPr sz="1200" b="1">
                <a:solidFill>
                  <a:schemeClr val="tx1"/>
                </a:solidFill>
              </a:rPr>
              <a:t>Multimodali</a:t>
            </a:r>
          </a:p>
          <a:p>
            <a:r>
              <a:rPr sz="1100" b="0">
                <a:solidFill>
                  <a:schemeClr val="tx2"/>
                </a:solidFill>
              </a:rPr>
              <a:t>Testo, immagini, audio insieme</a:t>
            </a:r>
          </a:p>
        </p:txBody>
      </p:sp>
      <p:sp>
        <p:nvSpPr>
          <p:cNvPr id="33" name="Rounded Rectangle 32"/>
          <p:cNvSpPr/>
          <p:nvPr/>
        </p:nvSpPr>
        <p:spPr>
          <a:xfrm>
            <a:off x="621792" y="3273552"/>
            <a:ext cx="3694176" cy="56692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3337560"/>
            <a:ext cx="3438144" cy="457200"/>
          </a:xfrm>
          <a:prstGeom prst="rect">
            <a:avLst/>
          </a:prstGeom>
          <a:noFill/>
        </p:spPr>
        <p:txBody>
          <a:bodyPr wrap="square" lIns="0" rIns="0" tIns="0" bIns="0" anchor="ctr">
            <a:spAutoFit/>
          </a:bodyPr>
          <a:lstStyle/>
          <a:p>
            <a:r>
              <a:rPr sz="1200" b="1">
                <a:solidFill>
                  <a:schemeClr val="tx1"/>
                </a:solidFill>
              </a:rPr>
              <a:t>Per un media specifico</a:t>
            </a:r>
          </a:p>
          <a:p>
            <a:r>
              <a:rPr sz="1100" b="0">
                <a:solidFill>
                  <a:schemeClr val="tx2"/>
                </a:solidFill>
              </a:rPr>
              <a:t>Generare immagini, trascrivere, voce, video</a:t>
            </a:r>
          </a:p>
        </p:txBody>
      </p:sp>
      <p:sp>
        <p:nvSpPr>
          <p:cNvPr id="36" name="TextBox 35"/>
          <p:cNvSpPr txBox="1"/>
          <p:nvPr/>
        </p:nvSpPr>
        <p:spPr>
          <a:xfrm>
            <a:off x="5376672" y="1207008"/>
            <a:ext cx="3200400" cy="512064"/>
          </a:xfrm>
          <a:prstGeom prst="rect">
            <a:avLst/>
          </a:prstGeom>
          <a:noFill/>
        </p:spPr>
        <p:txBody>
          <a:bodyPr wrap="square" lIns="0" rIns="0" tIns="0" bIns="0" anchor="ctr">
            <a:spAutoFit/>
          </a:bodyPr>
          <a:lstStyle/>
          <a:p>
            <a:r>
              <a:rPr sz="1500" b="1">
                <a:solidFill>
                  <a:schemeClr val="tx1"/>
                </a:solidFill>
              </a:rPr>
              <a:t>Grado di specializzazione</a:t>
            </a:r>
          </a:p>
        </p:txBody>
      </p:sp>
      <p:sp>
        <p:nvSpPr>
          <p:cNvPr id="37" name="TextBox 36"/>
          <p:cNvSpPr txBox="1"/>
          <p:nvPr/>
        </p:nvSpPr>
        <p:spPr>
          <a:xfrm>
            <a:off x="5376672" y="1645920"/>
            <a:ext cx="3200400" cy="228600"/>
          </a:xfrm>
          <a:prstGeom prst="rect">
            <a:avLst/>
          </a:prstGeom>
          <a:noFill/>
        </p:spPr>
        <p:txBody>
          <a:bodyPr wrap="square" lIns="0" rIns="0" tIns="0" bIns="0" anchor="t">
            <a:spAutoFit/>
          </a:bodyPr>
          <a:lstStyle/>
          <a:p>
            <a:r>
              <a:rPr sz="1100" b="0">
                <a:solidFill>
                  <a:schemeClr val="tx2"/>
                </a:solidFill>
              </a:rPr>
              <a:t>Quanto è ampio il campo d'uso</a:t>
            </a:r>
          </a:p>
        </p:txBody>
      </p:sp>
      <p:sp>
        <p:nvSpPr>
          <p:cNvPr id="38" name="Rounded Rectangle 37"/>
          <p:cNvSpPr/>
          <p:nvPr/>
        </p:nvSpPr>
        <p:spPr>
          <a:xfrm>
            <a:off x="4828032" y="1993392"/>
            <a:ext cx="3694176" cy="56692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56048" y="2057400"/>
            <a:ext cx="3438144" cy="457200"/>
          </a:xfrm>
          <a:prstGeom prst="rect">
            <a:avLst/>
          </a:prstGeom>
          <a:noFill/>
        </p:spPr>
        <p:txBody>
          <a:bodyPr wrap="square" lIns="0" rIns="0" tIns="0" bIns="0" anchor="ctr">
            <a:spAutoFit/>
          </a:bodyPr>
          <a:lstStyle/>
          <a:p>
            <a:r>
              <a:rPr sz="1200" b="1">
                <a:solidFill>
                  <a:schemeClr val="tx1"/>
                </a:solidFill>
              </a:rPr>
              <a:t>Generalisti</a:t>
            </a:r>
          </a:p>
          <a:p>
            <a:r>
              <a:rPr sz="1100" b="0">
                <a:solidFill>
                  <a:schemeClr val="tx2"/>
                </a:solidFill>
              </a:rPr>
              <a:t>Molti compiti diversi; base degli assistenti</a:t>
            </a:r>
          </a:p>
        </p:txBody>
      </p:sp>
      <p:sp>
        <p:nvSpPr>
          <p:cNvPr id="40" name="Rounded Rectangle 39"/>
          <p:cNvSpPr/>
          <p:nvPr/>
        </p:nvSpPr>
        <p:spPr>
          <a:xfrm>
            <a:off x="4828032" y="2633472"/>
            <a:ext cx="3694176" cy="56692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56048" y="2697480"/>
            <a:ext cx="3438144" cy="457200"/>
          </a:xfrm>
          <a:prstGeom prst="rect">
            <a:avLst/>
          </a:prstGeom>
          <a:noFill/>
        </p:spPr>
        <p:txBody>
          <a:bodyPr wrap="square" lIns="0" rIns="0" tIns="0" bIns="0" anchor="ctr">
            <a:spAutoFit/>
          </a:bodyPr>
          <a:lstStyle/>
          <a:p>
            <a:r>
              <a:rPr sz="1200" b="1">
                <a:solidFill>
                  <a:schemeClr val="tx1"/>
                </a:solidFill>
              </a:rPr>
              <a:t>Adattati a un'attività</a:t>
            </a:r>
          </a:p>
          <a:p>
            <a:r>
              <a:rPr sz="1100" b="0">
                <a:solidFill>
                  <a:schemeClr val="tx2"/>
                </a:solidFill>
              </a:rPr>
              <a:t>Traduzione, documenti, codice</a:t>
            </a:r>
          </a:p>
        </p:txBody>
      </p:sp>
      <p:sp>
        <p:nvSpPr>
          <p:cNvPr id="42" name="Rounded Rectangle 41"/>
          <p:cNvSpPr/>
          <p:nvPr/>
        </p:nvSpPr>
        <p:spPr>
          <a:xfrm>
            <a:off x="4828032" y="3273552"/>
            <a:ext cx="3694176" cy="56692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56048" y="3337560"/>
            <a:ext cx="3438144" cy="457200"/>
          </a:xfrm>
          <a:prstGeom prst="rect">
            <a:avLst/>
          </a:prstGeom>
          <a:noFill/>
        </p:spPr>
        <p:txBody>
          <a:bodyPr wrap="square" lIns="0" rIns="0" tIns="0" bIns="0" anchor="ctr">
            <a:spAutoFit/>
          </a:bodyPr>
          <a:lstStyle/>
          <a:p>
            <a:r>
              <a:rPr sz="1200" b="1">
                <a:solidFill>
                  <a:schemeClr val="tx1"/>
                </a:solidFill>
              </a:rPr>
              <a:t>Specializzati in un dominio</a:t>
            </a:r>
          </a:p>
          <a:p>
            <a:r>
              <a:rPr sz="1100" b="0">
                <a:solidFill>
                  <a:schemeClr val="tx2"/>
                </a:solidFill>
              </a:rPr>
              <a:t>Medico, legale, finanziario</a:t>
            </a:r>
          </a:p>
        </p:txBody>
      </p:sp>
      <p:sp>
        <p:nvSpPr>
          <p:cNvPr id="44" name="messaggio"/>
          <p:cNvSpPr/>
          <p:nvPr/>
        </p:nvSpPr>
        <p:spPr>
          <a:xfrm>
            <a:off x="457200" y="4096512"/>
            <a:ext cx="8229600" cy="411480"/>
          </a:xfrm>
          <a:prstGeom prst="roundRect">
            <a:avLst>
              <a:gd name="adj" fmla="val 1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4096512"/>
            <a:ext cx="7863840" cy="411480"/>
          </a:xfrm>
          <a:prstGeom prst="rect">
            <a:avLst/>
          </a:prstGeom>
          <a:noFill/>
        </p:spPr>
        <p:txBody>
          <a:bodyPr wrap="square" lIns="0" rIns="0" tIns="0" bIns="0" anchor="ctr">
            <a:spAutoFit/>
          </a:bodyPr>
          <a:lstStyle/>
          <a:p>
            <a:r>
              <a:rPr sz="1300" b="0">
                <a:solidFill>
                  <a:schemeClr val="bg1"/>
                </a:solidFill>
              </a:rPr>
              <a:t>Non sono categorie esclusive: un modello può essere generalista, multimodale e usato per compiti specializzati.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Capacità, dimensioni e requisiti</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017520"/>
        </p:xfrm>
        <a:graphic>
          <a:graphicData uri="http://schemas.openxmlformats.org/drawingml/2006/table">
            <a:tbl>
              <a:tblPr/>
              <a:tblGrid>
                <a:gridCol w="19202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502920">
                <a:tc>
                  <a:txBody>
                    <a:bodyPr/>
                    <a:lstStyle/>
                    <a:p>
                      <a:pPr marL="0" indent="0">
                        <a:buNone/>
                      </a:pP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b="1" dirty="0">
                          <a:solidFill>
                            <a:schemeClr val="bg1"/>
                          </a:solidFill>
                        </a:rPr>
                        <a:t>Modelli grandi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Modelli piccoli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chemeClr val="tx1"/>
                          </a:solidFill>
                        </a:rPr>
                        <a:t>Capacità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Generalmente più ampie e versatili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Più mirate; spesso efficaci su compiti definiti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chemeClr val="tx1"/>
                          </a:solidFill>
                        </a:rPr>
                        <a:t>Requisiti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Infrastrutture potenti, di norma cloud</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Anche server, computer, smartphone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chemeClr val="tx1"/>
                          </a:solidFill>
                        </a:rPr>
                        <a:t>Velocità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 parità di condizioni, più lenti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 parità di condizioni, più veloci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chemeClr val="tx1"/>
                          </a:solidFill>
                        </a:rPr>
                        <a:t>Costo per richiesta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Generalmente più alto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Generalmente più basso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02920">
                <a:tc>
                  <a:txBody>
                    <a:bodyPr/>
                    <a:lstStyle/>
                    <a:p>
                      <a:pPr marL="0" indent="0">
                        <a:buNone/>
                      </a:pPr>
                      <a:r>
                        <a:rPr lang="en-US" sz="1300" b="1" dirty="0">
                          <a:solidFill>
                            <a:schemeClr val="tx1"/>
                          </a:solidFill>
                        </a:rPr>
                        <a:t>Adatti 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Compiti complessi e vari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Classificare, estrarre, riassumere testi brevi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5" name="messaggio"/>
          <p:cNvSpPr/>
          <p:nvPr/>
        </p:nvSpPr>
        <p:spPr>
          <a:xfrm>
            <a:off x="457200" y="4206240"/>
            <a:ext cx="8229600" cy="411480"/>
          </a:xfrm>
          <a:prstGeom prst="roundRect">
            <a:avLst>
              <a:gd name="adj" fmla="val 17778"/>
            </a:avLst>
          </a:prstGeom>
          <a:solidFill>
            <a:schemeClr val="tx1"/>
          </a:solidFill>
          <a:ln/>
        </p:spPr>
        <p:txBody>
          <a:bodyPr/>
          <a:lstStyle/>
          <a:p>
            <a:endParaRPr lang="it-IT"/>
          </a:p>
        </p:txBody>
      </p:sp>
      <p:sp>
        <p:nvSpPr>
          <p:cNvPr id="6" name="Text 2"/>
          <p:cNvSpPr txBox="1"/>
          <p:nvPr/>
        </p:nvSpPr>
        <p:spPr>
          <a:xfrm>
            <a:off x="640080" y="4206240"/>
            <a:ext cx="7863840" cy="411480"/>
          </a:xfrm>
          <a:prstGeom prst="rect">
            <a:avLst/>
          </a:prstGeom>
          <a:noFill/>
          <a:ln/>
        </p:spPr>
        <p:txBody>
          <a:bodyPr wrap="square" lIns="0" tIns="0" rIns="0" bIns="0" rtlCol="0" anchor="ctr"/>
          <a:lstStyle/>
          <a:p>
            <a:pPr marL="0" indent="0">
              <a:buNone/>
            </a:pPr>
            <a:r>
              <a:rPr lang="it-IT" sz="1300" dirty="0">
                <a:solidFill>
                  <a:schemeClr val="bg1"/>
                </a:solidFill>
              </a:rPr>
              <a:t>Tendenze, non regole: contano architettura, infrastruttura e compito. Spesso un modello piccolo basta.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Modelli proprietari e modelli con pesi accessibili</a:t>
            </a:r>
            <a:endParaRPr lang="en-US" sz="2600" dirty="0"/>
          </a:p>
        </p:txBody>
      </p:sp>
      <p:sp>
        <p:nvSpPr>
          <p:cNvPr id="4" name="scheda Proprietari (chiusi)"/>
          <p:cNvSpPr/>
          <p:nvPr/>
        </p:nvSpPr>
        <p:spPr>
          <a:xfrm>
            <a:off x="457200" y="1097280"/>
            <a:ext cx="3977640" cy="2560320"/>
          </a:xfrm>
          <a:prstGeom prst="roundRect">
            <a:avLst>
              <a:gd name="adj" fmla="val 2133"/>
            </a:avLst>
          </a:prstGeom>
          <a:solidFill>
            <a:schemeClr val="bg2"/>
          </a:solidFill>
          <a:ln/>
        </p:spPr>
        <p:txBody>
          <a:bodyPr/>
          <a:lstStyle/>
          <a:p>
            <a:endParaRPr lang="it-IT"/>
          </a:p>
        </p:txBody>
      </p:sp>
      <p:sp>
        <p:nvSpPr>
          <p:cNvPr id="5" name="cerchio FiLock"/>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Lock"/>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Proprietari (chiusi)</a:t>
            </a:r>
            <a:endParaRPr lang="en-US" sz="1600" dirty="0"/>
          </a:p>
        </p:txBody>
      </p:sp>
      <p:sp>
        <p:nvSpPr>
          <p:cNvPr id="8" name="Text 4"/>
          <p:cNvSpPr txBox="1"/>
          <p:nvPr/>
        </p:nvSpPr>
        <p:spPr>
          <a:xfrm>
            <a:off x="640080" y="2231136"/>
            <a:ext cx="3611880" cy="1371600"/>
          </a:xfrm>
          <a:prstGeom prst="rect">
            <a:avLst/>
          </a:prstGeom>
          <a:noFill/>
          <a:ln/>
        </p:spPr>
        <p:txBody>
          <a:bodyPr wrap="square" lIns="0" tIns="0" rIns="0" bIns="0" rtlCol="0" anchor="t"/>
          <a:lstStyle/>
          <a:p>
            <a:pPr marL="0" indent="0">
              <a:buNone/>
            </a:pPr>
            <a:r>
              <a:rPr lang="it-IT" sz="1200" b="1" dirty="0">
                <a:solidFill>
                  <a:schemeClr val="tx1"/>
                </a:solidFill>
              </a:rPr>
              <a:t>Di norma accessibili tramite i servizi del fornitore</a:t>
            </a:r>
            <a:endParaRPr lang="it-IT" sz="1200" dirty="0"/>
          </a:p>
          <a:p>
            <a:pPr marL="177800" indent="-177800">
              <a:spcAft>
                <a:spcPts val="300"/>
              </a:spcAft>
              <a:buSzPct val="100000"/>
              <a:buChar char="•"/>
            </a:pPr>
            <a:r>
              <a:rPr lang="it-IT" sz="1200" dirty="0">
                <a:solidFill>
                  <a:schemeClr val="tx2"/>
                </a:solidFill>
              </a:rPr>
              <a:t>Spesso tra i più capaci</a:t>
            </a:r>
            <a:endParaRPr lang="it-IT" sz="1200" dirty="0"/>
          </a:p>
          <a:p>
            <a:pPr marL="177800" indent="-177800">
              <a:spcAft>
                <a:spcPts val="300"/>
              </a:spcAft>
              <a:buSzPct val="100000"/>
              <a:buChar char="•"/>
            </a:pPr>
            <a:r>
              <a:rPr lang="it-IT" sz="1200" dirty="0">
                <a:solidFill>
                  <a:schemeClr val="tx2"/>
                </a:solidFill>
              </a:rPr>
              <a:t>Nessuna infrastruttura propria</a:t>
            </a:r>
            <a:endParaRPr lang="it-IT" sz="1200" dirty="0"/>
          </a:p>
          <a:p>
            <a:pPr marL="177800" indent="-177800">
              <a:spcAft>
                <a:spcPts val="300"/>
              </a:spcAft>
              <a:buSzPct val="100000"/>
              <a:buChar char="•"/>
            </a:pPr>
            <a:r>
              <a:rPr lang="it-IT" sz="1200" dirty="0">
                <a:solidFill>
                  <a:schemeClr val="tx2"/>
                </a:solidFill>
              </a:rPr>
              <a:t>Dati verso il fornitore se usati come servizio remoto: dipende dalla distribuzione</a:t>
            </a:r>
            <a:endParaRPr lang="it-IT" sz="1200" dirty="0"/>
          </a:p>
          <a:p>
            <a:pPr marL="177800" indent="-177800">
              <a:spcAft>
                <a:spcPts val="300"/>
              </a:spcAft>
              <a:buSzPct val="100000"/>
              <a:buChar char="•"/>
            </a:pPr>
            <a:r>
              <a:rPr lang="it-IT" sz="1200" dirty="0">
                <a:solidFill>
                  <a:schemeClr val="tx2"/>
                </a:solidFill>
              </a:rPr>
              <a:t>Il fornitore può modificarli o ritirarli</a:t>
            </a:r>
            <a:endParaRPr lang="it-IT" sz="1200" dirty="0"/>
          </a:p>
        </p:txBody>
      </p:sp>
      <p:sp>
        <p:nvSpPr>
          <p:cNvPr id="9" name="scheda Pesi accessibili (open-weight)"/>
          <p:cNvSpPr/>
          <p:nvPr/>
        </p:nvSpPr>
        <p:spPr>
          <a:xfrm>
            <a:off x="4709160" y="1097280"/>
            <a:ext cx="3977640" cy="2560320"/>
          </a:xfrm>
          <a:prstGeom prst="roundRect">
            <a:avLst>
              <a:gd name="adj" fmla="val 2133"/>
            </a:avLst>
          </a:prstGeom>
          <a:solidFill>
            <a:schemeClr val="accent6"/>
          </a:solidFill>
          <a:ln/>
        </p:spPr>
        <p:txBody>
          <a:bodyPr/>
          <a:lstStyle/>
          <a:p>
            <a:endParaRPr lang="it-IT"/>
          </a:p>
        </p:txBody>
      </p:sp>
      <p:sp>
        <p:nvSpPr>
          <p:cNvPr id="10" name="cerchio FiDownload"/>
          <p:cNvSpPr/>
          <p:nvPr/>
        </p:nvSpPr>
        <p:spPr>
          <a:xfrm>
            <a:off x="4892040" y="1280160"/>
            <a:ext cx="457200" cy="457200"/>
          </a:xfrm>
          <a:prstGeom prst="ellipse">
            <a:avLst/>
          </a:prstGeom>
          <a:solidFill>
            <a:schemeClr val="accent1"/>
          </a:solidFill>
          <a:ln/>
        </p:spPr>
        <p:txBody>
          <a:bodyPr/>
          <a:lstStyle/>
          <a:p>
            <a:endParaRPr lang="it-IT"/>
          </a:p>
        </p:txBody>
      </p:sp>
      <p:pic>
        <p:nvPicPr>
          <p:cNvPr id="11" name="Image 1" descr="FiDownload"/>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Pesi accessibili (open-weight)</a:t>
            </a:r>
            <a:endParaRPr lang="en-US" sz="1600" dirty="0"/>
          </a:p>
        </p:txBody>
      </p:sp>
      <p:sp>
        <p:nvSpPr>
          <p:cNvPr id="13" name="Text 8"/>
          <p:cNvSpPr txBox="1"/>
          <p:nvPr/>
        </p:nvSpPr>
        <p:spPr>
          <a:xfrm>
            <a:off x="4892040" y="2231136"/>
            <a:ext cx="3611880" cy="1371600"/>
          </a:xfrm>
          <a:prstGeom prst="rect">
            <a:avLst/>
          </a:prstGeom>
          <a:noFill/>
          <a:ln/>
        </p:spPr>
        <p:txBody>
          <a:bodyPr wrap="square" lIns="0" tIns="0" rIns="0" bIns="0" rtlCol="0" anchor="t"/>
          <a:lstStyle/>
          <a:p>
            <a:pPr marL="0" indent="0">
              <a:buNone/>
            </a:pPr>
            <a:r>
              <a:rPr lang="it-IT" sz="1200" b="1" dirty="0">
                <a:solidFill>
                  <a:schemeClr val="tx1"/>
                </a:solidFill>
              </a:rPr>
              <a:t>Parametri scaricabili ed eseguibili altrove</a:t>
            </a:r>
            <a:endParaRPr lang="it-IT" sz="1200" dirty="0"/>
          </a:p>
          <a:p>
            <a:pPr marL="177800" indent="-177800">
              <a:spcAft>
                <a:spcPts val="300"/>
              </a:spcAft>
              <a:buSzPct val="100000"/>
              <a:buChar char="•"/>
            </a:pPr>
            <a:r>
              <a:rPr lang="it-IT" sz="1200" dirty="0">
                <a:solidFill>
                  <a:schemeClr val="tx2"/>
                </a:solidFill>
              </a:rPr>
              <a:t>Esecuzione locale o su cloud a scelta</a:t>
            </a:r>
            <a:endParaRPr lang="it-IT" sz="1200" dirty="0"/>
          </a:p>
          <a:p>
            <a:pPr marL="177800" indent="-177800">
              <a:spcAft>
                <a:spcPts val="300"/>
              </a:spcAft>
              <a:buSzPct val="100000"/>
              <a:buChar char="•"/>
            </a:pPr>
            <a:r>
              <a:rPr lang="it-IT" sz="1200" dirty="0">
                <a:solidFill>
                  <a:schemeClr val="tx2"/>
                </a:solidFill>
              </a:rPr>
              <a:t>Personalizzabili nei limiti della licenza e mantenuti nella versione scelta</a:t>
            </a:r>
            <a:endParaRPr lang="it-IT" sz="1200" dirty="0"/>
          </a:p>
          <a:p>
            <a:pPr marL="177800" indent="-177800">
              <a:spcAft>
                <a:spcPts val="300"/>
              </a:spcAft>
              <a:buSzPct val="100000"/>
              <a:buChar char="•"/>
            </a:pPr>
            <a:r>
              <a:rPr lang="it-IT" sz="1200" dirty="0">
                <a:solidFill>
                  <a:schemeClr val="tx2"/>
                </a:solidFill>
              </a:rPr>
              <a:t>Servono competenze e infrastruttura</a:t>
            </a:r>
            <a:endParaRPr lang="it-IT" sz="1200" dirty="0"/>
          </a:p>
          <a:p>
            <a:pPr marL="177800" indent="-177800">
              <a:spcAft>
                <a:spcPts val="300"/>
              </a:spcAft>
              <a:buSzPct val="100000"/>
              <a:buChar char="•"/>
            </a:pPr>
            <a:r>
              <a:rPr lang="it-IT" sz="1200" dirty="0">
                <a:solidFill>
                  <a:schemeClr val="tx2"/>
                </a:solidFill>
              </a:rPr>
              <a:t>Gestione e sicurezza a carico dell'azienda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17</a:t>
            </a:fld>
            <a:endParaRPr lang="en-US"/>
          </a:p>
        </p:txBody>
      </p:sp>
      <p:sp>
        <p:nvSpPr>
          <p:cNvPr id="26" name="messaggio"/>
          <p:cNvSpPr/>
          <p:nvPr/>
        </p:nvSpPr>
        <p:spPr>
          <a:xfrm>
            <a:off x="457200" y="3794760"/>
            <a:ext cx="8229600" cy="731520"/>
          </a:xfrm>
          <a:prstGeom prst="roundRect">
            <a:avLst>
              <a:gd name="adj" fmla="val 17778"/>
            </a:avLst>
          </a:prstGeom>
          <a:solidFill>
            <a:schemeClr val="tx1"/>
          </a:solidFill>
          <a:ln/>
        </p:spPr>
        <p:txBody>
          <a:bodyPr/>
          <a:lstStyle/>
          <a:p>
            <a:endParaRPr lang="it-IT"/>
          </a:p>
        </p:txBody>
      </p:sp>
      <p:sp>
        <p:nvSpPr>
          <p:cNvPr id="27" name="Text 2"/>
          <p:cNvSpPr txBox="1"/>
          <p:nvPr/>
        </p:nvSpPr>
        <p:spPr>
          <a:xfrm>
            <a:off x="640080" y="3794760"/>
            <a:ext cx="7863840" cy="731520"/>
          </a:xfrm>
          <a:prstGeom prst="rect">
            <a:avLst/>
          </a:prstGeom>
          <a:noFill/>
          <a:ln/>
        </p:spPr>
        <p:txBody>
          <a:bodyPr wrap="square" lIns="0" tIns="0" rIns="0" bIns="0" rtlCol="0" anchor="ctr"/>
          <a:lstStyle/>
          <a:p>
            <a:pPr marL="0" indent="0">
              <a:buNone/>
            </a:pPr>
            <a:r>
              <a:rPr lang="it-IT" sz="1300" dirty="0">
                <a:solidFill>
                  <a:schemeClr val="bg1"/>
                </a:solidFill>
              </a:rPr>
              <a:t>Più semplicità operativa con il servizio del fornitore, più controllo con i pesi accessibili: e più controllo significa anche più responsabilità e competenze.</a:t>
            </a:r>
            <a:endParaRPr lang="it-IT"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Open-weight non significa open-source</a:t>
            </a:r>
            <a:endParaRPr lang="en-US" sz="2600" dirty="0"/>
          </a:p>
        </p:txBody>
      </p:sp>
      <p:sp>
        <p:nvSpPr>
          <p:cNvPr id="4" name="Text 1"/>
          <p:cNvSpPr txBox="1"/>
          <p:nvPr/>
        </p:nvSpPr>
        <p:spPr>
          <a:xfrm>
            <a:off x="457200" y="1051560"/>
            <a:ext cx="8229600" cy="274320"/>
          </a:xfrm>
          <a:prstGeom prst="rect">
            <a:avLst/>
          </a:prstGeom>
          <a:noFill/>
          <a:ln/>
        </p:spPr>
        <p:txBody>
          <a:bodyPr wrap="square" lIns="0" tIns="0" rIns="0" bIns="0" rtlCol="0" anchor="t"/>
          <a:lstStyle/>
          <a:p>
            <a:pPr marL="0" indent="0">
              <a:buNone/>
            </a:pPr>
            <a:r>
              <a:rPr lang="en-US" sz="1400" b="1" dirty="0">
                <a:solidFill>
                  <a:schemeClr val="tx1"/>
                </a:solidFill>
              </a:rPr>
              <a:t>Che cosa può essere aperto o chiuso</a:t>
            </a:r>
            <a:endParaRPr lang="en-US" sz="1400" dirty="0"/>
          </a:p>
        </p:txBody>
      </p:sp>
      <p:sp>
        <p:nvSpPr>
          <p:cNvPr id="5" name="Pesi"/>
          <p:cNvSpPr/>
          <p:nvPr/>
        </p:nvSpPr>
        <p:spPr>
          <a:xfrm>
            <a:off x="457200" y="1417320"/>
            <a:ext cx="1965960" cy="1325880"/>
          </a:xfrm>
          <a:prstGeom prst="roundRect">
            <a:avLst>
              <a:gd name="adj" fmla="val 5517"/>
            </a:avLst>
          </a:prstGeom>
          <a:solidFill>
            <a:schemeClr val="bg2"/>
          </a:solidFill>
          <a:ln/>
        </p:spPr>
        <p:txBody>
          <a:bodyPr/>
          <a:lstStyle/>
          <a:p>
            <a:endParaRPr lang="it-IT"/>
          </a:p>
        </p:txBody>
      </p:sp>
      <p:sp>
        <p:nvSpPr>
          <p:cNvPr id="6" name="cerchio FiCpu"/>
          <p:cNvSpPr/>
          <p:nvPr/>
        </p:nvSpPr>
        <p:spPr>
          <a:xfrm>
            <a:off x="621792" y="1554480"/>
            <a:ext cx="457200" cy="457200"/>
          </a:xfrm>
          <a:prstGeom prst="ellipse">
            <a:avLst/>
          </a:prstGeom>
          <a:solidFill>
            <a:schemeClr val="accent1"/>
          </a:solidFill>
          <a:ln/>
        </p:spPr>
        <p:txBody>
          <a:bodyPr/>
          <a:lstStyle/>
          <a:p>
            <a:endParaRPr lang="it-IT"/>
          </a:p>
        </p:txBody>
      </p:sp>
      <p:pic>
        <p:nvPicPr>
          <p:cNvPr id="7" name="Image 0" descr="FiCpu"/>
          <p:cNvPicPr>
            <a:picLocks noChangeAspect="1"/>
          </p:cNvPicPr>
          <p:nvPr/>
        </p:nvPicPr>
        <p:blipFill>
          <a:blip r:embed="rId3"/>
          <a:stretch>
            <a:fillRect/>
          </a:stretch>
        </p:blipFill>
        <p:spPr>
          <a:xfrm>
            <a:off x="736092" y="1668780"/>
            <a:ext cx="228600" cy="228600"/>
          </a:xfrm>
          <a:prstGeom prst="rect">
            <a:avLst/>
          </a:prstGeom>
        </p:spPr>
      </p:pic>
      <p:sp>
        <p:nvSpPr>
          <p:cNvPr id="8" name="Text 4"/>
          <p:cNvSpPr txBox="1"/>
          <p:nvPr/>
        </p:nvSpPr>
        <p:spPr>
          <a:xfrm>
            <a:off x="1188720" y="1554480"/>
            <a:ext cx="1188720" cy="457200"/>
          </a:xfrm>
          <a:prstGeom prst="rect">
            <a:avLst/>
          </a:prstGeom>
          <a:noFill/>
          <a:ln/>
        </p:spPr>
        <p:txBody>
          <a:bodyPr wrap="square" lIns="0" tIns="0" rIns="0" bIns="0" rtlCol="0" anchor="ctr"/>
          <a:lstStyle/>
          <a:p>
            <a:pPr marL="0" indent="0">
              <a:buNone/>
            </a:pPr>
            <a:r>
              <a:rPr lang="en-US" sz="1500" b="1" dirty="0">
                <a:solidFill>
                  <a:schemeClr val="tx1"/>
                </a:solidFill>
              </a:rPr>
              <a:t>Pesi</a:t>
            </a:r>
            <a:endParaRPr lang="en-US" sz="1500" dirty="0"/>
          </a:p>
        </p:txBody>
      </p:sp>
      <p:sp>
        <p:nvSpPr>
          <p:cNvPr id="9" name="Text 5"/>
          <p:cNvSpPr txBox="1"/>
          <p:nvPr/>
        </p:nvSpPr>
        <p:spPr>
          <a:xfrm>
            <a:off x="621792" y="2103120"/>
            <a:ext cx="1691640" cy="548640"/>
          </a:xfrm>
          <a:prstGeom prst="rect">
            <a:avLst/>
          </a:prstGeom>
          <a:noFill/>
          <a:ln/>
        </p:spPr>
        <p:txBody>
          <a:bodyPr wrap="square" lIns="0" tIns="0" rIns="0" bIns="0" rtlCol="0" anchor="t"/>
          <a:lstStyle/>
          <a:p>
            <a:pPr marL="0" indent="0">
              <a:buNone/>
            </a:pPr>
            <a:r>
              <a:rPr lang="en-US" sz="1200" dirty="0">
                <a:solidFill>
                  <a:schemeClr val="tx2"/>
                </a:solidFill>
              </a:rPr>
              <a:t>I parametri del modello</a:t>
            </a:r>
            <a:endParaRPr lang="en-US" sz="1200" dirty="0"/>
          </a:p>
        </p:txBody>
      </p:sp>
      <p:sp>
        <p:nvSpPr>
          <p:cNvPr id="10" name="Codice"/>
          <p:cNvSpPr/>
          <p:nvPr/>
        </p:nvSpPr>
        <p:spPr>
          <a:xfrm>
            <a:off x="2560320" y="1417320"/>
            <a:ext cx="1965960" cy="1325880"/>
          </a:xfrm>
          <a:prstGeom prst="roundRect">
            <a:avLst>
              <a:gd name="adj" fmla="val 5517"/>
            </a:avLst>
          </a:prstGeom>
          <a:solidFill>
            <a:schemeClr val="bg2"/>
          </a:solidFill>
          <a:ln/>
        </p:spPr>
        <p:txBody>
          <a:bodyPr/>
          <a:lstStyle/>
          <a:p>
            <a:endParaRPr lang="it-IT"/>
          </a:p>
        </p:txBody>
      </p:sp>
      <p:sp>
        <p:nvSpPr>
          <p:cNvPr id="11" name="cerchio FiCode"/>
          <p:cNvSpPr/>
          <p:nvPr/>
        </p:nvSpPr>
        <p:spPr>
          <a:xfrm>
            <a:off x="2724912" y="1554480"/>
            <a:ext cx="457200" cy="457200"/>
          </a:xfrm>
          <a:prstGeom prst="ellipse">
            <a:avLst/>
          </a:prstGeom>
          <a:solidFill>
            <a:schemeClr val="accent1"/>
          </a:solidFill>
          <a:ln/>
        </p:spPr>
        <p:txBody>
          <a:bodyPr/>
          <a:lstStyle/>
          <a:p>
            <a:endParaRPr lang="it-IT"/>
          </a:p>
        </p:txBody>
      </p:sp>
      <p:pic>
        <p:nvPicPr>
          <p:cNvPr id="12" name="Image 1" descr="FiCode"/>
          <p:cNvPicPr>
            <a:picLocks noChangeAspect="1"/>
          </p:cNvPicPr>
          <p:nvPr/>
        </p:nvPicPr>
        <p:blipFill>
          <a:blip r:embed="rId4"/>
          <a:stretch>
            <a:fillRect/>
          </a:stretch>
        </p:blipFill>
        <p:spPr>
          <a:xfrm>
            <a:off x="2839212" y="1668780"/>
            <a:ext cx="228600" cy="228600"/>
          </a:xfrm>
          <a:prstGeom prst="rect">
            <a:avLst/>
          </a:prstGeom>
        </p:spPr>
      </p:pic>
      <p:sp>
        <p:nvSpPr>
          <p:cNvPr id="13" name="Text 8"/>
          <p:cNvSpPr txBox="1"/>
          <p:nvPr/>
        </p:nvSpPr>
        <p:spPr>
          <a:xfrm>
            <a:off x="3291840" y="1554480"/>
            <a:ext cx="1188720" cy="457200"/>
          </a:xfrm>
          <a:prstGeom prst="rect">
            <a:avLst/>
          </a:prstGeom>
          <a:noFill/>
          <a:ln/>
        </p:spPr>
        <p:txBody>
          <a:bodyPr wrap="square" lIns="0" tIns="0" rIns="0" bIns="0" rtlCol="0" anchor="ctr"/>
          <a:lstStyle/>
          <a:p>
            <a:pPr marL="0" indent="0">
              <a:buNone/>
            </a:pPr>
            <a:r>
              <a:rPr lang="en-US" sz="1500" b="1" dirty="0">
                <a:solidFill>
                  <a:schemeClr val="tx1"/>
                </a:solidFill>
              </a:rPr>
              <a:t>Codice</a:t>
            </a:r>
            <a:endParaRPr lang="en-US" sz="1500" dirty="0"/>
          </a:p>
        </p:txBody>
      </p:sp>
      <p:sp>
        <p:nvSpPr>
          <p:cNvPr id="14" name="Text 9"/>
          <p:cNvSpPr txBox="1"/>
          <p:nvPr/>
        </p:nvSpPr>
        <p:spPr>
          <a:xfrm>
            <a:off x="2724912" y="2103120"/>
            <a:ext cx="1691640" cy="548640"/>
          </a:xfrm>
          <a:prstGeom prst="rect">
            <a:avLst/>
          </a:prstGeom>
          <a:noFill/>
          <a:ln/>
        </p:spPr>
        <p:txBody>
          <a:bodyPr wrap="square" lIns="0" tIns="0" rIns="0" bIns="0" rtlCol="0" anchor="t"/>
          <a:lstStyle/>
          <a:p>
            <a:pPr marL="0" indent="0">
              <a:buNone/>
            </a:pPr>
            <a:r>
              <a:rPr lang="en-US" sz="1200" dirty="0">
                <a:solidFill>
                  <a:schemeClr val="tx2"/>
                </a:solidFill>
              </a:rPr>
              <a:t>Per eseguire e addestrare</a:t>
            </a:r>
            <a:endParaRPr lang="en-US" sz="1200" dirty="0"/>
          </a:p>
        </p:txBody>
      </p:sp>
      <p:sp>
        <p:nvSpPr>
          <p:cNvPr id="15" name="Dati"/>
          <p:cNvSpPr/>
          <p:nvPr/>
        </p:nvSpPr>
        <p:spPr>
          <a:xfrm>
            <a:off x="4663440" y="1417320"/>
            <a:ext cx="1965960" cy="1325880"/>
          </a:xfrm>
          <a:prstGeom prst="roundRect">
            <a:avLst>
              <a:gd name="adj" fmla="val 5517"/>
            </a:avLst>
          </a:prstGeom>
          <a:solidFill>
            <a:schemeClr val="bg2"/>
          </a:solidFill>
          <a:ln/>
        </p:spPr>
        <p:txBody>
          <a:bodyPr/>
          <a:lstStyle/>
          <a:p>
            <a:endParaRPr lang="it-IT"/>
          </a:p>
        </p:txBody>
      </p:sp>
      <p:sp>
        <p:nvSpPr>
          <p:cNvPr id="16" name="cerchio FiDatabase"/>
          <p:cNvSpPr/>
          <p:nvPr/>
        </p:nvSpPr>
        <p:spPr>
          <a:xfrm>
            <a:off x="4828032" y="1554480"/>
            <a:ext cx="457200" cy="457200"/>
          </a:xfrm>
          <a:prstGeom prst="ellipse">
            <a:avLst/>
          </a:prstGeom>
          <a:solidFill>
            <a:schemeClr val="accent1"/>
          </a:solidFill>
          <a:ln/>
        </p:spPr>
        <p:txBody>
          <a:bodyPr/>
          <a:lstStyle/>
          <a:p>
            <a:endParaRPr lang="it-IT"/>
          </a:p>
        </p:txBody>
      </p:sp>
      <p:pic>
        <p:nvPicPr>
          <p:cNvPr id="17" name="Image 2" descr="FiDatabase"/>
          <p:cNvPicPr>
            <a:picLocks noChangeAspect="1"/>
          </p:cNvPicPr>
          <p:nvPr/>
        </p:nvPicPr>
        <p:blipFill>
          <a:blip r:embed="rId5"/>
          <a:stretch>
            <a:fillRect/>
          </a:stretch>
        </p:blipFill>
        <p:spPr>
          <a:xfrm>
            <a:off x="4942332" y="1668780"/>
            <a:ext cx="228600" cy="228600"/>
          </a:xfrm>
          <a:prstGeom prst="rect">
            <a:avLst/>
          </a:prstGeom>
        </p:spPr>
      </p:pic>
      <p:sp>
        <p:nvSpPr>
          <p:cNvPr id="18" name="Text 12"/>
          <p:cNvSpPr txBox="1"/>
          <p:nvPr/>
        </p:nvSpPr>
        <p:spPr>
          <a:xfrm>
            <a:off x="5394960" y="1554480"/>
            <a:ext cx="1188720" cy="457200"/>
          </a:xfrm>
          <a:prstGeom prst="rect">
            <a:avLst/>
          </a:prstGeom>
          <a:noFill/>
          <a:ln/>
        </p:spPr>
        <p:txBody>
          <a:bodyPr wrap="square" lIns="0" tIns="0" rIns="0" bIns="0" rtlCol="0" anchor="ctr"/>
          <a:lstStyle/>
          <a:p>
            <a:pPr marL="0" indent="0">
              <a:buNone/>
            </a:pPr>
            <a:r>
              <a:rPr lang="en-US" sz="1500" b="1" dirty="0">
                <a:solidFill>
                  <a:schemeClr val="tx1"/>
                </a:solidFill>
              </a:rPr>
              <a:t>Dati</a:t>
            </a:r>
            <a:endParaRPr lang="en-US" sz="1500" dirty="0"/>
          </a:p>
        </p:txBody>
      </p:sp>
      <p:sp>
        <p:nvSpPr>
          <p:cNvPr id="19" name="Text 13"/>
          <p:cNvSpPr txBox="1"/>
          <p:nvPr/>
        </p:nvSpPr>
        <p:spPr>
          <a:xfrm>
            <a:off x="4828032" y="2103120"/>
            <a:ext cx="1691640" cy="548640"/>
          </a:xfrm>
          <a:prstGeom prst="rect">
            <a:avLst/>
          </a:prstGeom>
          <a:noFill/>
          <a:ln/>
        </p:spPr>
        <p:txBody>
          <a:bodyPr wrap="square" lIns="0" tIns="0" rIns="0" bIns="0" rtlCol="0" anchor="t"/>
          <a:lstStyle/>
          <a:p>
            <a:pPr marL="0" indent="0">
              <a:buNone/>
            </a:pPr>
            <a:r>
              <a:rPr lang="en-US" sz="1200" dirty="0">
                <a:solidFill>
                  <a:schemeClr val="tx2"/>
                </a:solidFill>
              </a:rPr>
              <a:t>Con cui è stato addestrato</a:t>
            </a:r>
            <a:endParaRPr lang="en-US" sz="1200" dirty="0"/>
          </a:p>
        </p:txBody>
      </p:sp>
      <p:sp>
        <p:nvSpPr>
          <p:cNvPr id="20" name="Licenza"/>
          <p:cNvSpPr/>
          <p:nvPr/>
        </p:nvSpPr>
        <p:spPr>
          <a:xfrm>
            <a:off x="6766560" y="1417320"/>
            <a:ext cx="1965960" cy="1325880"/>
          </a:xfrm>
          <a:prstGeom prst="roundRect">
            <a:avLst>
              <a:gd name="adj" fmla="val 5517"/>
            </a:avLst>
          </a:prstGeom>
          <a:solidFill>
            <a:schemeClr val="bg2"/>
          </a:solidFill>
          <a:ln/>
        </p:spPr>
        <p:txBody>
          <a:bodyPr/>
          <a:lstStyle/>
          <a:p>
            <a:endParaRPr lang="it-IT"/>
          </a:p>
        </p:txBody>
      </p:sp>
      <p:sp>
        <p:nvSpPr>
          <p:cNvPr id="21" name="cerchio FiFileText"/>
          <p:cNvSpPr/>
          <p:nvPr/>
        </p:nvSpPr>
        <p:spPr>
          <a:xfrm>
            <a:off x="6931152" y="1554480"/>
            <a:ext cx="457200" cy="457200"/>
          </a:xfrm>
          <a:prstGeom prst="ellipse">
            <a:avLst/>
          </a:prstGeom>
          <a:solidFill>
            <a:schemeClr val="accent1"/>
          </a:solidFill>
          <a:ln/>
        </p:spPr>
        <p:txBody>
          <a:bodyPr/>
          <a:lstStyle/>
          <a:p>
            <a:endParaRPr lang="it-IT"/>
          </a:p>
        </p:txBody>
      </p:sp>
      <p:pic>
        <p:nvPicPr>
          <p:cNvPr id="22" name="Image 3" descr="FiFileText"/>
          <p:cNvPicPr>
            <a:picLocks noChangeAspect="1"/>
          </p:cNvPicPr>
          <p:nvPr/>
        </p:nvPicPr>
        <p:blipFill>
          <a:blip r:embed="rId6"/>
          <a:stretch>
            <a:fillRect/>
          </a:stretch>
        </p:blipFill>
        <p:spPr>
          <a:xfrm>
            <a:off x="7045452" y="1668780"/>
            <a:ext cx="228600" cy="228600"/>
          </a:xfrm>
          <a:prstGeom prst="rect">
            <a:avLst/>
          </a:prstGeom>
        </p:spPr>
      </p:pic>
      <p:sp>
        <p:nvSpPr>
          <p:cNvPr id="23" name="Text 16"/>
          <p:cNvSpPr txBox="1"/>
          <p:nvPr/>
        </p:nvSpPr>
        <p:spPr>
          <a:xfrm>
            <a:off x="7498080" y="1554480"/>
            <a:ext cx="1188720" cy="457200"/>
          </a:xfrm>
          <a:prstGeom prst="rect">
            <a:avLst/>
          </a:prstGeom>
          <a:noFill/>
          <a:ln/>
        </p:spPr>
        <p:txBody>
          <a:bodyPr wrap="square" lIns="0" tIns="0" rIns="0" bIns="0" rtlCol="0" anchor="ctr"/>
          <a:lstStyle/>
          <a:p>
            <a:pPr marL="0" indent="0">
              <a:buNone/>
            </a:pPr>
            <a:r>
              <a:rPr lang="en-US" sz="1500" b="1" dirty="0">
                <a:solidFill>
                  <a:schemeClr val="tx1"/>
                </a:solidFill>
              </a:rPr>
              <a:t>Licenza</a:t>
            </a:r>
            <a:endParaRPr lang="en-US" sz="1500" dirty="0"/>
          </a:p>
        </p:txBody>
      </p:sp>
      <p:sp>
        <p:nvSpPr>
          <p:cNvPr id="24" name="Text 17"/>
          <p:cNvSpPr txBox="1"/>
          <p:nvPr/>
        </p:nvSpPr>
        <p:spPr>
          <a:xfrm>
            <a:off x="6931152" y="2103120"/>
            <a:ext cx="1691640" cy="548640"/>
          </a:xfrm>
          <a:prstGeom prst="rect">
            <a:avLst/>
          </a:prstGeom>
          <a:noFill/>
          <a:ln/>
        </p:spPr>
        <p:txBody>
          <a:bodyPr wrap="square" lIns="0" tIns="0" rIns="0" bIns="0" rtlCol="0" anchor="t"/>
          <a:lstStyle/>
          <a:p>
            <a:pPr marL="0" indent="0">
              <a:buNone/>
            </a:pPr>
            <a:r>
              <a:rPr lang="en-US" sz="1200" dirty="0">
                <a:solidFill>
                  <a:schemeClr val="tx2"/>
                </a:solidFill>
              </a:rPr>
              <a:t>Che cosa si può fare e a quali condizioni</a:t>
            </a:r>
            <a:endParaRPr lang="en-US" sz="1200" dirty="0"/>
          </a:p>
        </p:txBody>
      </p:sp>
      <p:sp>
        <p:nvSpPr>
          <p:cNvPr id="25" name="scheda Open-weight"/>
          <p:cNvSpPr/>
          <p:nvPr/>
        </p:nvSpPr>
        <p:spPr>
          <a:xfrm>
            <a:off x="457200" y="2926080"/>
            <a:ext cx="3977640" cy="1600200"/>
          </a:xfrm>
          <a:prstGeom prst="roundRect">
            <a:avLst>
              <a:gd name="adj" fmla="val 4571"/>
            </a:avLst>
          </a:prstGeom>
          <a:solidFill>
            <a:schemeClr val="bg2"/>
          </a:solidFill>
          <a:ln/>
        </p:spPr>
        <p:txBody>
          <a:bodyPr/>
          <a:lstStyle/>
          <a:p>
            <a:endParaRPr lang="it-IT"/>
          </a:p>
        </p:txBody>
      </p:sp>
      <p:sp>
        <p:nvSpPr>
          <p:cNvPr id="26" name="Text 19"/>
          <p:cNvSpPr txBox="1"/>
          <p:nvPr/>
        </p:nvSpPr>
        <p:spPr>
          <a:xfrm>
            <a:off x="640080" y="3108960"/>
            <a:ext cx="3611880" cy="347472"/>
          </a:xfrm>
          <a:prstGeom prst="rect">
            <a:avLst/>
          </a:prstGeom>
          <a:noFill/>
          <a:ln/>
        </p:spPr>
        <p:txBody>
          <a:bodyPr wrap="square" lIns="0" tIns="0" rIns="0" bIns="0" rtlCol="0" anchor="t"/>
          <a:lstStyle/>
          <a:p>
            <a:pPr marL="0" indent="0">
              <a:buNone/>
            </a:pPr>
            <a:r>
              <a:rPr lang="en-US" sz="1500" b="1" dirty="0">
                <a:solidFill>
                  <a:schemeClr val="tx1"/>
                </a:solidFill>
              </a:rPr>
              <a:t>Open-weight</a:t>
            </a:r>
            <a:endParaRPr lang="en-US" sz="1500" dirty="0"/>
          </a:p>
        </p:txBody>
      </p:sp>
      <p:sp>
        <p:nvSpPr>
          <p:cNvPr id="27" name="Text 20"/>
          <p:cNvSpPr txBox="1"/>
          <p:nvPr/>
        </p:nvSpPr>
        <p:spPr>
          <a:xfrm>
            <a:off x="640080" y="3493008"/>
            <a:ext cx="3611880" cy="923544"/>
          </a:xfrm>
          <a:prstGeom prst="rect">
            <a:avLst/>
          </a:prstGeom>
          <a:noFill/>
          <a:ln/>
        </p:spPr>
        <p:txBody>
          <a:bodyPr wrap="square" lIns="0" tIns="0" rIns="0" bIns="0" rtlCol="0" anchor="t"/>
          <a:lstStyle/>
          <a:p>
            <a:pPr marL="0" indent="0">
              <a:buNone/>
            </a:pPr>
            <a:r>
              <a:rPr lang="en-US" sz="1200" dirty="0">
                <a:solidFill>
                  <a:schemeClr val="tx2"/>
                </a:solidFill>
              </a:rPr>
              <a:t>Pesi disponibili; spesso non i dati né tutto il codice. La licenza può limitare usi, attribuzione, dimensione dell'azienda.</a:t>
            </a:r>
            <a:endParaRPr lang="en-US" sz="1200" dirty="0"/>
          </a:p>
        </p:txBody>
      </p:sp>
      <p:sp>
        <p:nvSpPr>
          <p:cNvPr id="28" name="scheda Open-source"/>
          <p:cNvSpPr/>
          <p:nvPr/>
        </p:nvSpPr>
        <p:spPr>
          <a:xfrm>
            <a:off x="4709160" y="2926080"/>
            <a:ext cx="3977640" cy="1600200"/>
          </a:xfrm>
          <a:prstGeom prst="roundRect">
            <a:avLst>
              <a:gd name="adj" fmla="val 4571"/>
            </a:avLst>
          </a:prstGeom>
          <a:solidFill>
            <a:schemeClr val="accent6"/>
          </a:solidFill>
          <a:ln/>
        </p:spPr>
        <p:txBody>
          <a:bodyPr/>
          <a:lstStyle/>
          <a:p>
            <a:endParaRPr lang="it-IT"/>
          </a:p>
        </p:txBody>
      </p:sp>
      <p:sp>
        <p:nvSpPr>
          <p:cNvPr id="29" name="Text 22"/>
          <p:cNvSpPr txBox="1"/>
          <p:nvPr/>
        </p:nvSpPr>
        <p:spPr>
          <a:xfrm>
            <a:off x="4892040" y="3108960"/>
            <a:ext cx="3611880" cy="347472"/>
          </a:xfrm>
          <a:prstGeom prst="rect">
            <a:avLst/>
          </a:prstGeom>
          <a:noFill/>
          <a:ln/>
        </p:spPr>
        <p:txBody>
          <a:bodyPr wrap="square" lIns="0" tIns="0" rIns="0" bIns="0" rtlCol="0" anchor="t"/>
          <a:lstStyle/>
          <a:p>
            <a:pPr marL="0" indent="0">
              <a:buNone/>
            </a:pPr>
            <a:r>
              <a:rPr lang="en-US" sz="1500" b="1" dirty="0">
                <a:solidFill>
                  <a:schemeClr val="tx1"/>
                </a:solidFill>
              </a:rPr>
              <a:t>Open-source</a:t>
            </a:r>
            <a:endParaRPr lang="en-US" sz="1500" dirty="0"/>
          </a:p>
        </p:txBody>
      </p:sp>
      <p:sp>
        <p:nvSpPr>
          <p:cNvPr id="30" name="Text 23"/>
          <p:cNvSpPr txBox="1"/>
          <p:nvPr/>
        </p:nvSpPr>
        <p:spPr>
          <a:xfrm>
            <a:off x="4892040" y="3493008"/>
            <a:ext cx="3611880" cy="923544"/>
          </a:xfrm>
          <a:prstGeom prst="rect">
            <a:avLst/>
          </a:prstGeom>
          <a:noFill/>
          <a:ln/>
        </p:spPr>
        <p:txBody>
          <a:bodyPr wrap="square" lIns="0" tIns="0" rIns="0" bIns="0" rtlCol="0" anchor="t"/>
          <a:lstStyle/>
          <a:p>
            <a:pPr marL="0" indent="0">
              <a:buNone/>
            </a:pPr>
            <a:r>
              <a:rPr lang="it-IT" sz="1200" dirty="0">
                <a:solidFill>
                  <a:schemeClr val="tx2"/>
                </a:solidFill>
              </a:rPr>
              <a:t>Libertà di usare, studiare, modificare e condividere. Per l'OSI (2024) servono pesi, codice completo e informazioni dettagliate sui dati, non necessariamente i dati.</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18</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4.3</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Le principali piattaforme e gli strumenti AI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Prodotti dall'interfaccia simile possono offrire capacità, integrazioni, controlli e condizioni molto diversi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Gli assistenti AI generalisti</a:t>
            </a:r>
            <a:endParaRPr lang="en-US" sz="2600" dirty="0"/>
          </a:p>
        </p:txBody>
      </p:sp>
      <p:sp>
        <p:nvSpPr>
          <p:cNvPr id="4" name="ChatGPT"/>
          <p:cNvSpPr/>
          <p:nvPr/>
        </p:nvSpPr>
        <p:spPr>
          <a:xfrm>
            <a:off x="457200" y="1097280"/>
            <a:ext cx="1965960" cy="2651760"/>
          </a:xfrm>
          <a:prstGeom prst="roundRect">
            <a:avLst>
              <a:gd name="adj" fmla="val 3721"/>
            </a:avLst>
          </a:prstGeom>
          <a:solidFill>
            <a:schemeClr val="bg2"/>
          </a:solidFill>
          <a:ln/>
        </p:spPr>
        <p:txBody>
          <a:bodyPr/>
          <a:lstStyle/>
          <a:p>
            <a:endParaRPr lang="it-IT"/>
          </a:p>
        </p:txBody>
      </p:sp>
      <p:sp>
        <p:nvSpPr>
          <p:cNvPr id="5" name="cerchio FiMessageSquare"/>
          <p:cNvSpPr/>
          <p:nvPr/>
        </p:nvSpPr>
        <p:spPr>
          <a:xfrm>
            <a:off x="621792" y="1261872"/>
            <a:ext cx="457200" cy="457200"/>
          </a:xfrm>
          <a:prstGeom prst="ellipse">
            <a:avLst/>
          </a:prstGeom>
          <a:solidFill>
            <a:schemeClr val="accent1"/>
          </a:solidFill>
          <a:ln/>
        </p:spPr>
        <p:txBody>
          <a:bodyPr/>
          <a:lstStyle/>
          <a:p>
            <a:endParaRPr lang="it-IT"/>
          </a:p>
        </p:txBody>
      </p:sp>
      <p:pic>
        <p:nvPicPr>
          <p:cNvPr id="6" name="Image 0" descr="FiMessageSquare"/>
          <p:cNvPicPr>
            <a:picLocks noChangeAspect="1"/>
          </p:cNvPicPr>
          <p:nvPr/>
        </p:nvPicPr>
        <p:blipFill>
          <a:blip r:embed="rId3"/>
          <a:stretch>
            <a:fillRect/>
          </a:stretch>
        </p:blipFill>
        <p:spPr>
          <a:xfrm>
            <a:off x="736092" y="1376172"/>
            <a:ext cx="228600" cy="228600"/>
          </a:xfrm>
          <a:prstGeom prst="rect">
            <a:avLst/>
          </a:prstGeom>
        </p:spPr>
      </p:pic>
      <p:sp>
        <p:nvSpPr>
          <p:cNvPr id="7" name="Text 3"/>
          <p:cNvSpPr txBox="1"/>
          <p:nvPr/>
        </p:nvSpPr>
        <p:spPr>
          <a:xfrm>
            <a:off x="1188720" y="1225296"/>
            <a:ext cx="1234440" cy="274320"/>
          </a:xfrm>
          <a:prstGeom prst="rect">
            <a:avLst/>
          </a:prstGeom>
          <a:noFill/>
          <a:ln/>
        </p:spPr>
        <p:txBody>
          <a:bodyPr wrap="square" lIns="0" tIns="0" rIns="0" bIns="0" rtlCol="0" anchor="t"/>
          <a:lstStyle/>
          <a:p>
            <a:pPr marL="0" indent="0">
              <a:buNone/>
            </a:pPr>
            <a:r>
              <a:rPr lang="en-US" sz="1700" b="1" dirty="0">
                <a:solidFill>
                  <a:schemeClr val="tx1"/>
                </a:solidFill>
              </a:rPr>
              <a:t>ChatGPT</a:t>
            </a:r>
            <a:endParaRPr lang="en-US" sz="1700" dirty="0"/>
          </a:p>
        </p:txBody>
      </p:sp>
      <p:sp>
        <p:nvSpPr>
          <p:cNvPr id="8" name="Text 4"/>
          <p:cNvSpPr txBox="1"/>
          <p:nvPr/>
        </p:nvSpPr>
        <p:spPr>
          <a:xfrm>
            <a:off x="1188720" y="1490472"/>
            <a:ext cx="1234440" cy="228600"/>
          </a:xfrm>
          <a:prstGeom prst="rect">
            <a:avLst/>
          </a:prstGeom>
          <a:noFill/>
          <a:ln/>
        </p:spPr>
        <p:txBody>
          <a:bodyPr wrap="square" lIns="0" tIns="0" rIns="0" bIns="0" rtlCol="0" anchor="t"/>
          <a:lstStyle/>
          <a:p>
            <a:pPr marL="0" indent="0">
              <a:buNone/>
            </a:pPr>
            <a:r>
              <a:rPr lang="en-US" sz="1200" b="1" dirty="0">
                <a:solidFill>
                  <a:schemeClr val="accent1"/>
                </a:solidFill>
              </a:rPr>
              <a:t>OpenAI</a:t>
            </a:r>
            <a:endParaRPr lang="en-US" sz="1200" dirty="0"/>
          </a:p>
        </p:txBody>
      </p:sp>
      <p:sp>
        <p:nvSpPr>
          <p:cNvPr id="9" name="Text 5"/>
          <p:cNvSpPr txBox="1"/>
          <p:nvPr/>
        </p:nvSpPr>
        <p:spPr>
          <a:xfrm>
            <a:off x="621792" y="1856232"/>
            <a:ext cx="1655064" cy="1847088"/>
          </a:xfrm>
          <a:prstGeom prst="rect">
            <a:avLst/>
          </a:prstGeom>
          <a:noFill/>
          <a:ln/>
        </p:spPr>
        <p:txBody>
          <a:bodyPr wrap="square" lIns="0" tIns="0" rIns="0" bIns="0" rtlCol="0" anchor="t"/>
          <a:lstStyle/>
          <a:p>
            <a:pPr marL="0" indent="0">
              <a:buNone/>
            </a:pPr>
            <a:r>
              <a:rPr lang="it-IT" sz="1000" b="1" dirty="0">
                <a:solidFill>
                  <a:schemeClr val="accent1"/>
                </a:solidFill>
              </a:rPr>
              <a:t>Contesto</a:t>
            </a:r>
            <a:endParaRPr lang="it-IT" sz="1000" dirty="0"/>
          </a:p>
          <a:p>
            <a:pPr marL="0" indent="0">
              <a:buNone/>
            </a:pPr>
            <a:r>
              <a:rPr lang="it-IT" sz="1050" dirty="0">
                <a:solidFill>
                  <a:schemeClr val="tx2"/>
                </a:solidFill>
              </a:rPr>
              <a:t>Uso personale e aziendale: web, desktop, mobile</a:t>
            </a:r>
            <a:endParaRPr lang="it-IT" sz="1050" dirty="0"/>
          </a:p>
          <a:p>
            <a:pPr marL="0" indent="0">
              <a:spcBef>
                <a:spcPts val="500"/>
              </a:spcBef>
              <a:buNone/>
            </a:pPr>
            <a:r>
              <a:rPr lang="it-IT" sz="1000" b="1" dirty="0">
                <a:solidFill>
                  <a:schemeClr val="accent1"/>
                </a:solidFill>
              </a:rPr>
              <a:t>Tratti distintivi</a:t>
            </a:r>
            <a:endParaRPr lang="it-IT" sz="1000" dirty="0"/>
          </a:p>
          <a:p>
            <a:pPr marL="0" indent="0">
              <a:buNone/>
            </a:pPr>
            <a:r>
              <a:rPr lang="it-IT" sz="1050" dirty="0">
                <a:solidFill>
                  <a:schemeClr val="tx2"/>
                </a:solidFill>
              </a:rPr>
              <a:t>Progetti condivisi, ricerca approfondita, agenti per attività in più passaggi</a:t>
            </a:r>
            <a:endParaRPr lang="it-IT" sz="1050" dirty="0"/>
          </a:p>
          <a:p>
            <a:pPr marL="0" indent="0">
              <a:spcBef>
                <a:spcPts val="500"/>
              </a:spcBef>
              <a:buNone/>
            </a:pPr>
            <a:r>
              <a:rPr lang="it-IT" sz="1000" b="1" dirty="0">
                <a:solidFill>
                  <a:schemeClr val="accent1"/>
                </a:solidFill>
              </a:rPr>
              <a:t>Integrazioni</a:t>
            </a:r>
            <a:endParaRPr lang="it-IT" sz="1000" dirty="0"/>
          </a:p>
          <a:p>
            <a:pPr marL="0" indent="0">
              <a:buNone/>
            </a:pPr>
            <a:r>
              <a:rPr lang="it-IT" sz="1050" dirty="0">
                <a:solidFill>
                  <a:schemeClr val="tx2"/>
                </a:solidFill>
              </a:rPr>
              <a:t>Posta, calendari, archivi (es. SharePoint)</a:t>
            </a:r>
            <a:endParaRPr lang="it-IT" sz="1050" dirty="0"/>
          </a:p>
        </p:txBody>
      </p:sp>
      <p:sp>
        <p:nvSpPr>
          <p:cNvPr id="10" name="Claude"/>
          <p:cNvSpPr/>
          <p:nvPr/>
        </p:nvSpPr>
        <p:spPr>
          <a:xfrm>
            <a:off x="2560320" y="1097280"/>
            <a:ext cx="1965960" cy="2651760"/>
          </a:xfrm>
          <a:prstGeom prst="roundRect">
            <a:avLst>
              <a:gd name="adj" fmla="val 3721"/>
            </a:avLst>
          </a:prstGeom>
          <a:solidFill>
            <a:schemeClr val="bg2"/>
          </a:solidFill>
          <a:ln/>
        </p:spPr>
        <p:txBody>
          <a:bodyPr/>
          <a:lstStyle/>
          <a:p>
            <a:endParaRPr lang="it-IT"/>
          </a:p>
        </p:txBody>
      </p:sp>
      <p:sp>
        <p:nvSpPr>
          <p:cNvPr id="11" name="cerchio FiMessageSquare"/>
          <p:cNvSpPr/>
          <p:nvPr/>
        </p:nvSpPr>
        <p:spPr>
          <a:xfrm>
            <a:off x="2724912" y="1261872"/>
            <a:ext cx="457200" cy="457200"/>
          </a:xfrm>
          <a:prstGeom prst="ellipse">
            <a:avLst/>
          </a:prstGeom>
          <a:solidFill>
            <a:schemeClr val="accent1"/>
          </a:solidFill>
          <a:ln/>
        </p:spPr>
        <p:txBody>
          <a:bodyPr/>
          <a:lstStyle/>
          <a:p>
            <a:endParaRPr lang="it-IT"/>
          </a:p>
        </p:txBody>
      </p:sp>
      <p:pic>
        <p:nvPicPr>
          <p:cNvPr id="12" name="Image 1" descr="FiMessageSquare"/>
          <p:cNvPicPr>
            <a:picLocks noChangeAspect="1"/>
          </p:cNvPicPr>
          <p:nvPr/>
        </p:nvPicPr>
        <p:blipFill>
          <a:blip r:embed="rId3"/>
          <a:stretch>
            <a:fillRect/>
          </a:stretch>
        </p:blipFill>
        <p:spPr>
          <a:xfrm>
            <a:off x="2839212" y="1376172"/>
            <a:ext cx="228600" cy="228600"/>
          </a:xfrm>
          <a:prstGeom prst="rect">
            <a:avLst/>
          </a:prstGeom>
        </p:spPr>
      </p:pic>
      <p:sp>
        <p:nvSpPr>
          <p:cNvPr id="13" name="Text 8"/>
          <p:cNvSpPr txBox="1"/>
          <p:nvPr/>
        </p:nvSpPr>
        <p:spPr>
          <a:xfrm>
            <a:off x="3291840" y="1225296"/>
            <a:ext cx="1234440" cy="274320"/>
          </a:xfrm>
          <a:prstGeom prst="rect">
            <a:avLst/>
          </a:prstGeom>
          <a:noFill/>
          <a:ln/>
        </p:spPr>
        <p:txBody>
          <a:bodyPr wrap="square" lIns="0" tIns="0" rIns="0" bIns="0" rtlCol="0" anchor="t"/>
          <a:lstStyle/>
          <a:p>
            <a:pPr marL="0" indent="0">
              <a:buNone/>
            </a:pPr>
            <a:r>
              <a:rPr lang="en-US" sz="1700" b="1" dirty="0">
                <a:solidFill>
                  <a:schemeClr val="tx1"/>
                </a:solidFill>
              </a:rPr>
              <a:t>Claude</a:t>
            </a:r>
            <a:endParaRPr lang="en-US" sz="1700" dirty="0"/>
          </a:p>
        </p:txBody>
      </p:sp>
      <p:sp>
        <p:nvSpPr>
          <p:cNvPr id="14" name="Text 9"/>
          <p:cNvSpPr txBox="1"/>
          <p:nvPr/>
        </p:nvSpPr>
        <p:spPr>
          <a:xfrm>
            <a:off x="3291840" y="1490472"/>
            <a:ext cx="1234440" cy="228600"/>
          </a:xfrm>
          <a:prstGeom prst="rect">
            <a:avLst/>
          </a:prstGeom>
          <a:noFill/>
          <a:ln/>
        </p:spPr>
        <p:txBody>
          <a:bodyPr wrap="square" lIns="0" tIns="0" rIns="0" bIns="0" rtlCol="0" anchor="t"/>
          <a:lstStyle/>
          <a:p>
            <a:pPr marL="0" indent="0">
              <a:buNone/>
            </a:pPr>
            <a:r>
              <a:rPr lang="en-US" sz="1200" b="1" dirty="0">
                <a:solidFill>
                  <a:schemeClr val="accent1"/>
                </a:solidFill>
              </a:rPr>
              <a:t>Anthropic</a:t>
            </a:r>
            <a:endParaRPr lang="en-US" sz="1200" dirty="0"/>
          </a:p>
        </p:txBody>
      </p:sp>
      <p:sp>
        <p:nvSpPr>
          <p:cNvPr id="15" name="Text 10"/>
          <p:cNvSpPr txBox="1"/>
          <p:nvPr/>
        </p:nvSpPr>
        <p:spPr>
          <a:xfrm>
            <a:off x="2724912" y="1856232"/>
            <a:ext cx="1655064" cy="1847088"/>
          </a:xfrm>
          <a:prstGeom prst="rect">
            <a:avLst/>
          </a:prstGeom>
          <a:noFill/>
          <a:ln/>
        </p:spPr>
        <p:txBody>
          <a:bodyPr wrap="square" lIns="0" tIns="0" rIns="0" bIns="0" rtlCol="0" anchor="t"/>
          <a:lstStyle/>
          <a:p>
            <a:pPr marL="0" indent="0">
              <a:buNone/>
            </a:pPr>
            <a:r>
              <a:rPr lang="it-IT" sz="1000" b="1" dirty="0">
                <a:solidFill>
                  <a:schemeClr val="accent1"/>
                </a:solidFill>
              </a:rPr>
              <a:t>Contesto</a:t>
            </a:r>
            <a:endParaRPr lang="it-IT" sz="1000" dirty="0"/>
          </a:p>
          <a:p>
            <a:pPr marL="0" indent="0">
              <a:buNone/>
            </a:pPr>
            <a:r>
              <a:rPr lang="it-IT" sz="1050" dirty="0">
                <a:solidFill>
                  <a:schemeClr val="tx2"/>
                </a:solidFill>
              </a:rPr>
              <a:t>Uso personale e aziendale: web, desktop, mobile e API</a:t>
            </a:r>
            <a:endParaRPr lang="it-IT" sz="1050" dirty="0"/>
          </a:p>
          <a:p>
            <a:pPr marL="0" indent="0">
              <a:spcBef>
                <a:spcPts val="500"/>
              </a:spcBef>
              <a:buNone/>
            </a:pPr>
            <a:r>
              <a:rPr lang="it-IT" sz="1000" b="1" dirty="0">
                <a:solidFill>
                  <a:schemeClr val="accent1"/>
                </a:solidFill>
              </a:rPr>
              <a:t>Tratti distintivi</a:t>
            </a:r>
            <a:endParaRPr lang="it-IT" sz="1000" dirty="0"/>
          </a:p>
          <a:p>
            <a:pPr marL="0" indent="0">
              <a:buNone/>
            </a:pPr>
            <a:r>
              <a:rPr lang="it-IT" sz="1050" dirty="0">
                <a:solidFill>
                  <a:schemeClr val="tx2"/>
                </a:solidFill>
              </a:rPr>
              <a:t>Progetti, analisi di documenti, scrittura, supporto alla programmazione</a:t>
            </a:r>
            <a:endParaRPr lang="it-IT" sz="1050" dirty="0"/>
          </a:p>
          <a:p>
            <a:pPr marL="0" indent="0">
              <a:spcBef>
                <a:spcPts val="500"/>
              </a:spcBef>
              <a:buNone/>
            </a:pPr>
            <a:r>
              <a:rPr lang="it-IT" sz="1000" b="1" dirty="0">
                <a:solidFill>
                  <a:schemeClr val="accent1"/>
                </a:solidFill>
              </a:rPr>
              <a:t>Integrazioni</a:t>
            </a:r>
            <a:endParaRPr lang="it-IT" sz="1000" dirty="0"/>
          </a:p>
          <a:p>
            <a:pPr marL="0" indent="0">
              <a:buNone/>
            </a:pPr>
            <a:r>
              <a:rPr lang="it-IT" sz="1050" dirty="0">
                <a:solidFill>
                  <a:schemeClr val="tx2"/>
                </a:solidFill>
              </a:rPr>
              <a:t>Connettori per Microsoft 365; Google Workspace in beta</a:t>
            </a:r>
            <a:endParaRPr lang="it-IT" sz="1050" dirty="0"/>
          </a:p>
        </p:txBody>
      </p:sp>
      <p:sp>
        <p:nvSpPr>
          <p:cNvPr id="16" name="Gemini"/>
          <p:cNvSpPr/>
          <p:nvPr/>
        </p:nvSpPr>
        <p:spPr>
          <a:xfrm>
            <a:off x="4663440" y="1097280"/>
            <a:ext cx="1965960" cy="2651760"/>
          </a:xfrm>
          <a:prstGeom prst="roundRect">
            <a:avLst>
              <a:gd name="adj" fmla="val 3721"/>
            </a:avLst>
          </a:prstGeom>
          <a:solidFill>
            <a:schemeClr val="bg2"/>
          </a:solidFill>
          <a:ln/>
        </p:spPr>
        <p:txBody>
          <a:bodyPr/>
          <a:lstStyle/>
          <a:p>
            <a:endParaRPr lang="it-IT"/>
          </a:p>
        </p:txBody>
      </p:sp>
      <p:sp>
        <p:nvSpPr>
          <p:cNvPr id="17" name="cerchio FiMessageSquare"/>
          <p:cNvSpPr/>
          <p:nvPr/>
        </p:nvSpPr>
        <p:spPr>
          <a:xfrm>
            <a:off x="4828032" y="1261872"/>
            <a:ext cx="457200" cy="457200"/>
          </a:xfrm>
          <a:prstGeom prst="ellipse">
            <a:avLst/>
          </a:prstGeom>
          <a:solidFill>
            <a:schemeClr val="accent1"/>
          </a:solidFill>
          <a:ln/>
        </p:spPr>
        <p:txBody>
          <a:bodyPr/>
          <a:lstStyle/>
          <a:p>
            <a:endParaRPr lang="it-IT"/>
          </a:p>
        </p:txBody>
      </p:sp>
      <p:pic>
        <p:nvPicPr>
          <p:cNvPr id="18" name="Image 2" descr="FiMessageSquare"/>
          <p:cNvPicPr>
            <a:picLocks noChangeAspect="1"/>
          </p:cNvPicPr>
          <p:nvPr/>
        </p:nvPicPr>
        <p:blipFill>
          <a:blip r:embed="rId3"/>
          <a:stretch>
            <a:fillRect/>
          </a:stretch>
        </p:blipFill>
        <p:spPr>
          <a:xfrm>
            <a:off x="4942332" y="1376172"/>
            <a:ext cx="228600" cy="228600"/>
          </a:xfrm>
          <a:prstGeom prst="rect">
            <a:avLst/>
          </a:prstGeom>
        </p:spPr>
      </p:pic>
      <p:sp>
        <p:nvSpPr>
          <p:cNvPr id="19" name="Text 13"/>
          <p:cNvSpPr txBox="1"/>
          <p:nvPr/>
        </p:nvSpPr>
        <p:spPr>
          <a:xfrm>
            <a:off x="5394960" y="1225296"/>
            <a:ext cx="1234440" cy="274320"/>
          </a:xfrm>
          <a:prstGeom prst="rect">
            <a:avLst/>
          </a:prstGeom>
          <a:noFill/>
          <a:ln/>
        </p:spPr>
        <p:txBody>
          <a:bodyPr wrap="square" lIns="0" tIns="0" rIns="0" bIns="0" rtlCol="0" anchor="t"/>
          <a:lstStyle/>
          <a:p>
            <a:pPr marL="0" indent="0">
              <a:buNone/>
            </a:pPr>
            <a:r>
              <a:rPr lang="en-US" sz="1700" b="1" dirty="0">
                <a:solidFill>
                  <a:schemeClr val="tx1"/>
                </a:solidFill>
              </a:rPr>
              <a:t>Gemini</a:t>
            </a:r>
            <a:endParaRPr lang="en-US" sz="1700" dirty="0"/>
          </a:p>
        </p:txBody>
      </p:sp>
      <p:sp>
        <p:nvSpPr>
          <p:cNvPr id="20" name="Text 14"/>
          <p:cNvSpPr txBox="1"/>
          <p:nvPr/>
        </p:nvSpPr>
        <p:spPr>
          <a:xfrm>
            <a:off x="5394960" y="1490472"/>
            <a:ext cx="1234440" cy="228600"/>
          </a:xfrm>
          <a:prstGeom prst="rect">
            <a:avLst/>
          </a:prstGeom>
          <a:noFill/>
          <a:ln/>
        </p:spPr>
        <p:txBody>
          <a:bodyPr wrap="square" lIns="0" tIns="0" rIns="0" bIns="0" rtlCol="0" anchor="t"/>
          <a:lstStyle/>
          <a:p>
            <a:pPr marL="0" indent="0">
              <a:buNone/>
            </a:pPr>
            <a:r>
              <a:rPr lang="en-US" sz="1200" b="1" dirty="0">
                <a:solidFill>
                  <a:schemeClr val="accent1"/>
                </a:solidFill>
              </a:rPr>
              <a:t>Google</a:t>
            </a:r>
            <a:endParaRPr lang="en-US" sz="1200" dirty="0"/>
          </a:p>
        </p:txBody>
      </p:sp>
      <p:sp>
        <p:nvSpPr>
          <p:cNvPr id="21" name="Text 15"/>
          <p:cNvSpPr txBox="1"/>
          <p:nvPr/>
        </p:nvSpPr>
        <p:spPr>
          <a:xfrm>
            <a:off x="4828032" y="1856232"/>
            <a:ext cx="1655064" cy="1847088"/>
          </a:xfrm>
          <a:prstGeom prst="rect">
            <a:avLst/>
          </a:prstGeom>
          <a:noFill/>
          <a:ln/>
        </p:spPr>
        <p:txBody>
          <a:bodyPr wrap="square" lIns="0" tIns="0" rIns="0" bIns="0" rtlCol="0" anchor="t"/>
          <a:lstStyle/>
          <a:p>
            <a:pPr marL="0" indent="0">
              <a:buNone/>
            </a:pPr>
            <a:r>
              <a:rPr lang="it-IT" sz="1000" b="1" dirty="0">
                <a:solidFill>
                  <a:schemeClr val="accent1"/>
                </a:solidFill>
              </a:rPr>
              <a:t>Contesto</a:t>
            </a:r>
            <a:endParaRPr lang="it-IT" sz="1000" dirty="0"/>
          </a:p>
          <a:p>
            <a:pPr marL="0" indent="0">
              <a:buNone/>
            </a:pPr>
            <a:r>
              <a:rPr lang="it-IT" sz="1050" dirty="0">
                <a:solidFill>
                  <a:schemeClr val="tx2"/>
                </a:solidFill>
              </a:rPr>
              <a:t>App Gemini e funzioni dentro i servizi Google</a:t>
            </a:r>
            <a:endParaRPr lang="it-IT" sz="1050" dirty="0"/>
          </a:p>
          <a:p>
            <a:pPr marL="0" indent="0">
              <a:spcBef>
                <a:spcPts val="500"/>
              </a:spcBef>
              <a:buNone/>
            </a:pPr>
            <a:r>
              <a:rPr lang="it-IT" sz="1000" b="1" dirty="0">
                <a:solidFill>
                  <a:schemeClr val="accent1"/>
                </a:solidFill>
              </a:rPr>
              <a:t>Tratti distintivi</a:t>
            </a:r>
            <a:endParaRPr lang="it-IT" sz="1000" dirty="0"/>
          </a:p>
          <a:p>
            <a:pPr marL="0" indent="0">
              <a:buNone/>
            </a:pPr>
            <a:r>
              <a:rPr lang="it-IT" sz="1050" dirty="0">
                <a:solidFill>
                  <a:schemeClr val="tx2"/>
                </a:solidFill>
              </a:rPr>
              <a:t>Incluso nei piani Google Workspace per le aziende</a:t>
            </a:r>
            <a:endParaRPr lang="it-IT" sz="1050" dirty="0"/>
          </a:p>
          <a:p>
            <a:pPr marL="0" indent="0">
              <a:spcBef>
                <a:spcPts val="500"/>
              </a:spcBef>
              <a:buNone/>
            </a:pPr>
            <a:r>
              <a:rPr lang="it-IT" sz="1000" b="1" dirty="0">
                <a:solidFill>
                  <a:schemeClr val="accent1"/>
                </a:solidFill>
              </a:rPr>
              <a:t>Integrazioni</a:t>
            </a:r>
            <a:endParaRPr lang="it-IT" sz="1000" dirty="0"/>
          </a:p>
          <a:p>
            <a:pPr marL="0" indent="0">
              <a:buNone/>
            </a:pPr>
            <a:r>
              <a:rPr lang="it-IT" sz="1050" dirty="0">
                <a:solidFill>
                  <a:schemeClr val="tx2"/>
                </a:solidFill>
              </a:rPr>
              <a:t>Gmail, Documenti, Fogli, Drive, Meet</a:t>
            </a:r>
            <a:endParaRPr lang="it-IT" sz="1050" dirty="0"/>
          </a:p>
        </p:txBody>
      </p:sp>
      <p:sp>
        <p:nvSpPr>
          <p:cNvPr id="22" name="Copilot"/>
          <p:cNvSpPr/>
          <p:nvPr/>
        </p:nvSpPr>
        <p:spPr>
          <a:xfrm>
            <a:off x="6766560" y="1097280"/>
            <a:ext cx="1965960" cy="2651760"/>
          </a:xfrm>
          <a:prstGeom prst="roundRect">
            <a:avLst>
              <a:gd name="adj" fmla="val 3721"/>
            </a:avLst>
          </a:prstGeom>
          <a:solidFill>
            <a:schemeClr val="bg2"/>
          </a:solidFill>
          <a:ln/>
        </p:spPr>
        <p:txBody>
          <a:bodyPr/>
          <a:lstStyle/>
          <a:p>
            <a:endParaRPr lang="it-IT"/>
          </a:p>
        </p:txBody>
      </p:sp>
      <p:sp>
        <p:nvSpPr>
          <p:cNvPr id="23" name="cerchio FiMessageSquare"/>
          <p:cNvSpPr/>
          <p:nvPr/>
        </p:nvSpPr>
        <p:spPr>
          <a:xfrm>
            <a:off x="6931152" y="1261872"/>
            <a:ext cx="457200" cy="457200"/>
          </a:xfrm>
          <a:prstGeom prst="ellipse">
            <a:avLst/>
          </a:prstGeom>
          <a:solidFill>
            <a:schemeClr val="accent1"/>
          </a:solidFill>
          <a:ln/>
        </p:spPr>
        <p:txBody>
          <a:bodyPr/>
          <a:lstStyle/>
          <a:p>
            <a:endParaRPr lang="it-IT"/>
          </a:p>
        </p:txBody>
      </p:sp>
      <p:pic>
        <p:nvPicPr>
          <p:cNvPr id="24" name="Image 3" descr="FiMessageSquare"/>
          <p:cNvPicPr>
            <a:picLocks noChangeAspect="1"/>
          </p:cNvPicPr>
          <p:nvPr/>
        </p:nvPicPr>
        <p:blipFill>
          <a:blip r:embed="rId3"/>
          <a:stretch>
            <a:fillRect/>
          </a:stretch>
        </p:blipFill>
        <p:spPr>
          <a:xfrm>
            <a:off x="7045452" y="1376172"/>
            <a:ext cx="228600" cy="228600"/>
          </a:xfrm>
          <a:prstGeom prst="rect">
            <a:avLst/>
          </a:prstGeom>
        </p:spPr>
      </p:pic>
      <p:sp>
        <p:nvSpPr>
          <p:cNvPr id="25" name="Text 18"/>
          <p:cNvSpPr txBox="1"/>
          <p:nvPr/>
        </p:nvSpPr>
        <p:spPr>
          <a:xfrm>
            <a:off x="7498080" y="1225296"/>
            <a:ext cx="1234440" cy="274320"/>
          </a:xfrm>
          <a:prstGeom prst="rect">
            <a:avLst/>
          </a:prstGeom>
          <a:noFill/>
          <a:ln/>
        </p:spPr>
        <p:txBody>
          <a:bodyPr wrap="square" lIns="0" tIns="0" rIns="0" bIns="0" rtlCol="0" anchor="t"/>
          <a:lstStyle/>
          <a:p>
            <a:pPr marL="0" indent="0">
              <a:buNone/>
            </a:pPr>
            <a:r>
              <a:rPr lang="en-US" sz="1700" b="1" dirty="0">
                <a:solidFill>
                  <a:schemeClr val="tx1"/>
                </a:solidFill>
              </a:rPr>
              <a:t>Copilot</a:t>
            </a:r>
            <a:endParaRPr lang="en-US" sz="1700" dirty="0"/>
          </a:p>
        </p:txBody>
      </p:sp>
      <p:sp>
        <p:nvSpPr>
          <p:cNvPr id="26" name="Text 19"/>
          <p:cNvSpPr txBox="1"/>
          <p:nvPr/>
        </p:nvSpPr>
        <p:spPr>
          <a:xfrm>
            <a:off x="7498080" y="1490472"/>
            <a:ext cx="1234440" cy="228600"/>
          </a:xfrm>
          <a:prstGeom prst="rect">
            <a:avLst/>
          </a:prstGeom>
          <a:noFill/>
          <a:ln/>
        </p:spPr>
        <p:txBody>
          <a:bodyPr wrap="square" lIns="0" tIns="0" rIns="0" bIns="0" rtlCol="0" anchor="t"/>
          <a:lstStyle/>
          <a:p>
            <a:pPr marL="0" indent="0">
              <a:buNone/>
            </a:pPr>
            <a:r>
              <a:rPr lang="en-US" sz="1200" b="1" dirty="0">
                <a:solidFill>
                  <a:schemeClr val="accent1"/>
                </a:solidFill>
              </a:rPr>
              <a:t>Microsoft</a:t>
            </a:r>
            <a:endParaRPr lang="en-US" sz="1200" dirty="0"/>
          </a:p>
        </p:txBody>
      </p:sp>
      <p:sp>
        <p:nvSpPr>
          <p:cNvPr id="27" name="Text 20"/>
          <p:cNvSpPr txBox="1"/>
          <p:nvPr/>
        </p:nvSpPr>
        <p:spPr>
          <a:xfrm>
            <a:off x="6931152" y="1856232"/>
            <a:ext cx="1655064" cy="1847088"/>
          </a:xfrm>
          <a:prstGeom prst="rect">
            <a:avLst/>
          </a:prstGeom>
          <a:noFill/>
          <a:ln/>
        </p:spPr>
        <p:txBody>
          <a:bodyPr wrap="square" lIns="0" tIns="0" rIns="0" bIns="0" rtlCol="0" anchor="t"/>
          <a:lstStyle/>
          <a:p>
            <a:pPr marL="0" indent="0">
              <a:buNone/>
            </a:pPr>
            <a:r>
              <a:rPr lang="it-IT" sz="1000" b="1" dirty="0">
                <a:solidFill>
                  <a:schemeClr val="accent1"/>
                </a:solidFill>
              </a:rPr>
              <a:t>Contesto</a:t>
            </a:r>
            <a:endParaRPr lang="it-IT" sz="1000" dirty="0"/>
          </a:p>
          <a:p>
            <a:pPr marL="0" indent="0">
              <a:buNone/>
            </a:pPr>
            <a:r>
              <a:rPr lang="it-IT" sz="1050" dirty="0">
                <a:solidFill>
                  <a:schemeClr val="tx2"/>
                </a:solidFill>
              </a:rPr>
              <a:t>Chat e funzioni dentro le app Microsoft 365</a:t>
            </a:r>
            <a:endParaRPr lang="it-IT" sz="1050" dirty="0"/>
          </a:p>
          <a:p>
            <a:pPr marL="0" indent="0">
              <a:spcBef>
                <a:spcPts val="500"/>
              </a:spcBef>
              <a:buNone/>
            </a:pPr>
            <a:r>
              <a:rPr lang="it-IT" sz="1000" b="1" dirty="0">
                <a:solidFill>
                  <a:schemeClr val="accent1"/>
                </a:solidFill>
              </a:rPr>
              <a:t>Tratti distintivi</a:t>
            </a:r>
            <a:endParaRPr lang="it-IT" sz="1000" dirty="0"/>
          </a:p>
          <a:p>
            <a:pPr marL="0" indent="0">
              <a:buNone/>
            </a:pPr>
            <a:r>
              <a:rPr lang="it-IT" sz="1050" dirty="0">
                <a:solidFill>
                  <a:schemeClr val="tx2"/>
                </a:solidFill>
              </a:rPr>
              <a:t>Con licenza dedicata usa i dati di lavoro, nei limiti dei permessi; più modelli</a:t>
            </a:r>
            <a:endParaRPr lang="it-IT" sz="1050" dirty="0"/>
          </a:p>
          <a:p>
            <a:pPr marL="0" indent="0">
              <a:spcBef>
                <a:spcPts val="500"/>
              </a:spcBef>
              <a:buNone/>
            </a:pPr>
            <a:r>
              <a:rPr lang="it-IT" sz="1000" b="1" dirty="0">
                <a:solidFill>
                  <a:schemeClr val="accent1"/>
                </a:solidFill>
              </a:rPr>
              <a:t>Integrazioni</a:t>
            </a:r>
            <a:endParaRPr lang="it-IT" sz="1000" dirty="0"/>
          </a:p>
          <a:p>
            <a:pPr marL="0" indent="0">
              <a:buNone/>
            </a:pPr>
            <a:r>
              <a:rPr lang="it-IT" sz="1050" dirty="0">
                <a:solidFill>
                  <a:schemeClr val="tx2"/>
                </a:solidFill>
              </a:rPr>
              <a:t>Word, Excel, PowerPoint, Outlook, Teams</a:t>
            </a:r>
            <a:endParaRPr lang="it-IT" sz="1050" dirty="0"/>
          </a:p>
        </p:txBody>
      </p:sp>
      <p:sp>
        <p:nvSpPr>
          <p:cNvPr id="28" name="messaggio"/>
          <p:cNvSpPr/>
          <p:nvPr/>
        </p:nvSpPr>
        <p:spPr>
          <a:xfrm>
            <a:off x="457200" y="3840480"/>
            <a:ext cx="8229600" cy="685800"/>
          </a:xfrm>
          <a:prstGeom prst="roundRect">
            <a:avLst>
              <a:gd name="adj" fmla="val 10000"/>
            </a:avLst>
          </a:prstGeom>
          <a:solidFill>
            <a:schemeClr val="tx1"/>
          </a:solidFill>
          <a:ln/>
        </p:spPr>
        <p:txBody>
          <a:bodyPr/>
          <a:lstStyle/>
          <a:p>
            <a:endParaRPr lang="it-IT"/>
          </a:p>
        </p:txBody>
      </p:sp>
      <p:sp>
        <p:nvSpPr>
          <p:cNvPr id="29" name="Text 22"/>
          <p:cNvSpPr txBox="1"/>
          <p:nvPr/>
        </p:nvSpPr>
        <p:spPr>
          <a:xfrm>
            <a:off x="640080" y="3840480"/>
            <a:ext cx="7863840" cy="685800"/>
          </a:xfrm>
          <a:prstGeom prst="rect">
            <a:avLst/>
          </a:prstGeom>
          <a:noFill/>
          <a:ln/>
        </p:spPr>
        <p:txBody>
          <a:bodyPr wrap="square" lIns="0" tIns="0" rIns="0" bIns="0" rtlCol="0" anchor="ctr"/>
          <a:lstStyle/>
          <a:p>
            <a:pPr marL="0" indent="0">
              <a:buNone/>
            </a:pPr>
            <a:r>
              <a:rPr lang="it-IT" sz="1300" dirty="0">
                <a:solidFill>
                  <a:schemeClr val="bg1"/>
                </a:solidFill>
              </a:rPr>
              <a:t>Esempi indicativi, non una classifica. Funzioni, piani e integrazioni cambiano spesso: verificati a ottobre 2026, da ricontrollare prima di ogni sessione.</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Le categorie di strumenti</a:t>
            </a:r>
            <a:endParaRPr lang="en-US" sz="2600" dirty="0"/>
          </a:p>
        </p:txBody>
      </p:sp>
      <p:sp>
        <p:nvSpPr>
          <p:cNvPr id="4" name="Assistenti generalisti"/>
          <p:cNvSpPr/>
          <p:nvPr/>
        </p:nvSpPr>
        <p:spPr>
          <a:xfrm>
            <a:off x="457200" y="1097280"/>
            <a:ext cx="2621280" cy="1554480"/>
          </a:xfrm>
          <a:prstGeom prst="roundRect">
            <a:avLst>
              <a:gd name="adj" fmla="val 4706"/>
            </a:avLst>
          </a:prstGeom>
          <a:solidFill>
            <a:schemeClr val="bg2"/>
          </a:solidFill>
          <a:ln/>
        </p:spPr>
        <p:txBody>
          <a:bodyPr/>
          <a:lstStyle/>
          <a:p>
            <a:endParaRPr lang="it-IT"/>
          </a:p>
        </p:txBody>
      </p:sp>
      <p:sp>
        <p:nvSpPr>
          <p:cNvPr id="5" name="cerchio FiMessageSquare"/>
          <p:cNvSpPr/>
          <p:nvPr/>
        </p:nvSpPr>
        <p:spPr>
          <a:xfrm>
            <a:off x="621792" y="1261872"/>
            <a:ext cx="438912" cy="438912"/>
          </a:xfrm>
          <a:prstGeom prst="ellipse">
            <a:avLst/>
          </a:prstGeom>
          <a:solidFill>
            <a:schemeClr val="accent1"/>
          </a:solidFill>
          <a:ln/>
        </p:spPr>
        <p:txBody>
          <a:bodyPr/>
          <a:lstStyle/>
          <a:p>
            <a:endParaRPr lang="it-IT"/>
          </a:p>
        </p:txBody>
      </p:sp>
      <p:pic>
        <p:nvPicPr>
          <p:cNvPr id="6" name="Image 0" descr="FiMessageSquar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Assistenti generalisti</a:t>
            </a:r>
            <a:endParaRPr lang="en-US" sz="1400" dirty="0"/>
          </a:p>
        </p:txBody>
      </p:sp>
      <p:sp>
        <p:nvSpPr>
          <p:cNvPr id="8" name="Text 4"/>
          <p:cNvSpPr txBox="1"/>
          <p:nvPr/>
        </p:nvSpPr>
        <p:spPr>
          <a:xfrm>
            <a:off x="621792" y="1810512"/>
            <a:ext cx="2292096" cy="749808"/>
          </a:xfrm>
          <a:prstGeom prst="rect">
            <a:avLst/>
          </a:prstGeom>
          <a:noFill/>
          <a:ln/>
        </p:spPr>
        <p:txBody>
          <a:bodyPr wrap="square" lIns="0" tIns="0" rIns="0" bIns="0" rtlCol="0" anchor="t"/>
          <a:lstStyle/>
          <a:p>
            <a:pPr marL="0" indent="0">
              <a:buNone/>
            </a:pPr>
            <a:r>
              <a:rPr lang="it-IT" sz="1200" dirty="0">
                <a:solidFill>
                  <a:schemeClr val="tx2"/>
                </a:solidFill>
              </a:rPr>
              <a:t>Un assistente in chat per compiti molto diversi</a:t>
            </a:r>
            <a:endParaRPr lang="it-IT" sz="1200" dirty="0"/>
          </a:p>
        </p:txBody>
      </p:sp>
      <p:sp>
        <p:nvSpPr>
          <p:cNvPr id="9" name="Ricerca e analisi"/>
          <p:cNvSpPr/>
          <p:nvPr/>
        </p:nvSpPr>
        <p:spPr>
          <a:xfrm>
            <a:off x="3261360" y="1097280"/>
            <a:ext cx="2621280" cy="1554480"/>
          </a:xfrm>
          <a:prstGeom prst="roundRect">
            <a:avLst>
              <a:gd name="adj" fmla="val 4706"/>
            </a:avLst>
          </a:prstGeom>
          <a:solidFill>
            <a:schemeClr val="bg2"/>
          </a:solidFill>
          <a:ln/>
        </p:spPr>
        <p:txBody>
          <a:bodyPr/>
          <a:lstStyle/>
          <a:p>
            <a:endParaRPr lang="it-IT"/>
          </a:p>
        </p:txBody>
      </p:sp>
      <p:sp>
        <p:nvSpPr>
          <p:cNvPr id="10" name="cerchio FiSearch"/>
          <p:cNvSpPr/>
          <p:nvPr/>
        </p:nvSpPr>
        <p:spPr>
          <a:xfrm>
            <a:off x="3425952" y="1261872"/>
            <a:ext cx="438912" cy="438912"/>
          </a:xfrm>
          <a:prstGeom prst="ellipse">
            <a:avLst/>
          </a:prstGeom>
          <a:solidFill>
            <a:schemeClr val="accent1"/>
          </a:solidFill>
          <a:ln/>
        </p:spPr>
        <p:txBody>
          <a:bodyPr/>
          <a:lstStyle/>
          <a:p>
            <a:endParaRPr lang="it-IT"/>
          </a:p>
        </p:txBody>
      </p:sp>
      <p:pic>
        <p:nvPicPr>
          <p:cNvPr id="11" name="Image 1" descr="FiSearch"/>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Ricerca e analisi</a:t>
            </a:r>
            <a:endParaRPr lang="en-US" sz="1400" dirty="0"/>
          </a:p>
        </p:txBody>
      </p:sp>
      <p:sp>
        <p:nvSpPr>
          <p:cNvPr id="13" name="Text 8"/>
          <p:cNvSpPr txBox="1"/>
          <p:nvPr/>
        </p:nvSpPr>
        <p:spPr>
          <a:xfrm>
            <a:off x="3425952" y="1810512"/>
            <a:ext cx="2292096" cy="749808"/>
          </a:xfrm>
          <a:prstGeom prst="rect">
            <a:avLst/>
          </a:prstGeom>
          <a:noFill/>
          <a:ln/>
        </p:spPr>
        <p:txBody>
          <a:bodyPr wrap="square" lIns="0" tIns="0" rIns="0" bIns="0" rtlCol="0" anchor="t"/>
          <a:lstStyle/>
          <a:p>
            <a:pPr marL="0" indent="0">
              <a:buNone/>
            </a:pPr>
            <a:r>
              <a:rPr lang="it-IT" sz="1200" dirty="0">
                <a:solidFill>
                  <a:schemeClr val="tx2"/>
                </a:solidFill>
              </a:rPr>
              <a:t>Risposte con le fonti, analisi di documenti e dati, ricerche su molte fonti</a:t>
            </a:r>
            <a:endParaRPr lang="it-IT" sz="1200" dirty="0"/>
          </a:p>
        </p:txBody>
      </p:sp>
      <p:sp>
        <p:nvSpPr>
          <p:cNvPr id="14" name="Produttività"/>
          <p:cNvSpPr/>
          <p:nvPr/>
        </p:nvSpPr>
        <p:spPr>
          <a:xfrm>
            <a:off x="6065520" y="1097280"/>
            <a:ext cx="2621280" cy="1554480"/>
          </a:xfrm>
          <a:prstGeom prst="roundRect">
            <a:avLst>
              <a:gd name="adj" fmla="val 4706"/>
            </a:avLst>
          </a:prstGeom>
          <a:solidFill>
            <a:schemeClr val="bg2"/>
          </a:solidFill>
          <a:ln/>
        </p:spPr>
        <p:txBody>
          <a:bodyPr/>
          <a:lstStyle/>
          <a:p>
            <a:endParaRPr lang="it-IT"/>
          </a:p>
        </p:txBody>
      </p:sp>
      <p:sp>
        <p:nvSpPr>
          <p:cNvPr id="15" name="cerchio FiBriefcase"/>
          <p:cNvSpPr/>
          <p:nvPr/>
        </p:nvSpPr>
        <p:spPr>
          <a:xfrm>
            <a:off x="6230112" y="1261872"/>
            <a:ext cx="438912" cy="438912"/>
          </a:xfrm>
          <a:prstGeom prst="ellipse">
            <a:avLst/>
          </a:prstGeom>
          <a:solidFill>
            <a:schemeClr val="accent1"/>
          </a:solidFill>
          <a:ln/>
        </p:spPr>
        <p:txBody>
          <a:bodyPr/>
          <a:lstStyle/>
          <a:p>
            <a:endParaRPr lang="it-IT"/>
          </a:p>
        </p:txBody>
      </p:sp>
      <p:pic>
        <p:nvPicPr>
          <p:cNvPr id="16" name="Image 2" descr="FiBriefcase"/>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Produttività</a:t>
            </a:r>
            <a:endParaRPr lang="en-US" sz="1400" dirty="0"/>
          </a:p>
        </p:txBody>
      </p:sp>
      <p:sp>
        <p:nvSpPr>
          <p:cNvPr id="18" name="Text 12"/>
          <p:cNvSpPr txBox="1"/>
          <p:nvPr/>
        </p:nvSpPr>
        <p:spPr>
          <a:xfrm>
            <a:off x="6230112" y="1810512"/>
            <a:ext cx="2292096" cy="749808"/>
          </a:xfrm>
          <a:prstGeom prst="rect">
            <a:avLst/>
          </a:prstGeom>
          <a:noFill/>
          <a:ln/>
        </p:spPr>
        <p:txBody>
          <a:bodyPr wrap="square" lIns="0" tIns="0" rIns="0" bIns="0" rtlCol="0" anchor="t"/>
          <a:lstStyle/>
          <a:p>
            <a:pPr marL="0" indent="0">
              <a:buNone/>
            </a:pPr>
            <a:r>
              <a:rPr lang="it-IT" sz="1200" dirty="0">
                <a:solidFill>
                  <a:schemeClr val="tx2"/>
                </a:solidFill>
              </a:rPr>
              <a:t>AI dentro posta, documenti, fogli, presentazioni, riunioni</a:t>
            </a:r>
            <a:endParaRPr lang="it-IT" sz="1200" dirty="0"/>
          </a:p>
        </p:txBody>
      </p:sp>
      <p:sp>
        <p:nvSpPr>
          <p:cNvPr id="19" name="Contenuti"/>
          <p:cNvSpPr/>
          <p:nvPr/>
        </p:nvSpPr>
        <p:spPr>
          <a:xfrm>
            <a:off x="457200" y="2834640"/>
            <a:ext cx="4023360" cy="1280160"/>
          </a:xfrm>
          <a:prstGeom prst="roundRect">
            <a:avLst>
              <a:gd name="adj" fmla="val 5714"/>
            </a:avLst>
          </a:prstGeom>
          <a:solidFill>
            <a:schemeClr val="bg2"/>
          </a:solidFill>
          <a:ln/>
        </p:spPr>
        <p:txBody>
          <a:bodyPr/>
          <a:lstStyle/>
          <a:p>
            <a:endParaRPr lang="it-IT"/>
          </a:p>
        </p:txBody>
      </p:sp>
      <p:sp>
        <p:nvSpPr>
          <p:cNvPr id="20" name="cerchio FiImage"/>
          <p:cNvSpPr/>
          <p:nvPr/>
        </p:nvSpPr>
        <p:spPr>
          <a:xfrm>
            <a:off x="621792" y="2999232"/>
            <a:ext cx="438912" cy="438912"/>
          </a:xfrm>
          <a:prstGeom prst="ellipse">
            <a:avLst/>
          </a:prstGeom>
          <a:solidFill>
            <a:schemeClr val="accent1"/>
          </a:solidFill>
          <a:ln/>
        </p:spPr>
        <p:txBody>
          <a:bodyPr/>
          <a:lstStyle/>
          <a:p>
            <a:endParaRPr lang="it-IT"/>
          </a:p>
        </p:txBody>
      </p:sp>
      <p:pic>
        <p:nvPicPr>
          <p:cNvPr id="21" name="Image 3" descr="FiImage"/>
          <p:cNvPicPr>
            <a:picLocks noChangeAspect="1"/>
          </p:cNvPicPr>
          <p:nvPr/>
        </p:nvPicPr>
        <p:blipFill>
          <a:blip r:embed="rId6"/>
          <a:stretch>
            <a:fillRect/>
          </a:stretch>
        </p:blipFill>
        <p:spPr>
          <a:xfrm>
            <a:off x="731520" y="3108960"/>
            <a:ext cx="219456" cy="219456"/>
          </a:xfrm>
          <a:prstGeom prst="rect">
            <a:avLst/>
          </a:prstGeom>
        </p:spPr>
      </p:pic>
      <p:sp>
        <p:nvSpPr>
          <p:cNvPr id="22" name="Text 15"/>
          <p:cNvSpPr txBox="1"/>
          <p:nvPr/>
        </p:nvSpPr>
        <p:spPr>
          <a:xfrm>
            <a:off x="1170432" y="296265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Contenuti</a:t>
            </a:r>
            <a:endParaRPr lang="en-US" sz="1400" dirty="0"/>
          </a:p>
        </p:txBody>
      </p:sp>
      <p:sp>
        <p:nvSpPr>
          <p:cNvPr id="23" name="Text 16"/>
          <p:cNvSpPr txBox="1"/>
          <p:nvPr/>
        </p:nvSpPr>
        <p:spPr>
          <a:xfrm>
            <a:off x="621792" y="3547872"/>
            <a:ext cx="3694176" cy="475488"/>
          </a:xfrm>
          <a:prstGeom prst="rect">
            <a:avLst/>
          </a:prstGeom>
          <a:noFill/>
          <a:ln/>
        </p:spPr>
        <p:txBody>
          <a:bodyPr wrap="square" lIns="0" tIns="0" rIns="0" bIns="0" rtlCol="0" anchor="t"/>
          <a:lstStyle/>
          <a:p>
            <a:pPr marL="0" indent="0">
              <a:buNone/>
            </a:pPr>
            <a:r>
              <a:rPr lang="it-IT" sz="1200" dirty="0">
                <a:solidFill>
                  <a:schemeClr val="tx2"/>
                </a:solidFill>
              </a:rPr>
              <a:t>Creare immagini, video e voce; scrivere e tradurre testi</a:t>
            </a:r>
            <a:endParaRPr lang="it-IT" sz="1200" dirty="0"/>
          </a:p>
        </p:txBody>
      </p:sp>
      <p:sp>
        <p:nvSpPr>
          <p:cNvPr id="24" name="Applicazioni specializzate"/>
          <p:cNvSpPr/>
          <p:nvPr/>
        </p:nvSpPr>
        <p:spPr>
          <a:xfrm>
            <a:off x="4663440" y="2834640"/>
            <a:ext cx="4023360" cy="1280160"/>
          </a:xfrm>
          <a:prstGeom prst="roundRect">
            <a:avLst>
              <a:gd name="adj" fmla="val 5714"/>
            </a:avLst>
          </a:prstGeom>
          <a:solidFill>
            <a:schemeClr val="bg2"/>
          </a:solidFill>
          <a:ln/>
        </p:spPr>
        <p:txBody>
          <a:bodyPr/>
          <a:lstStyle/>
          <a:p>
            <a:endParaRPr lang="it-IT"/>
          </a:p>
        </p:txBody>
      </p:sp>
      <p:sp>
        <p:nvSpPr>
          <p:cNvPr id="25" name="cerchio FiCrosshair"/>
          <p:cNvSpPr/>
          <p:nvPr/>
        </p:nvSpPr>
        <p:spPr>
          <a:xfrm>
            <a:off x="4828032" y="2999232"/>
            <a:ext cx="438912" cy="438912"/>
          </a:xfrm>
          <a:prstGeom prst="ellipse">
            <a:avLst/>
          </a:prstGeom>
          <a:solidFill>
            <a:schemeClr val="accent1"/>
          </a:solidFill>
          <a:ln/>
        </p:spPr>
        <p:txBody>
          <a:bodyPr/>
          <a:lstStyle/>
          <a:p>
            <a:endParaRPr lang="it-IT"/>
          </a:p>
        </p:txBody>
      </p:sp>
      <p:pic>
        <p:nvPicPr>
          <p:cNvPr id="26" name="Image 4" descr="FiCrosshair"/>
          <p:cNvPicPr>
            <a:picLocks noChangeAspect="1"/>
          </p:cNvPicPr>
          <p:nvPr/>
        </p:nvPicPr>
        <p:blipFill>
          <a:blip r:embed="rId7"/>
          <a:stretch>
            <a:fillRect/>
          </a:stretch>
        </p:blipFill>
        <p:spPr>
          <a:xfrm>
            <a:off x="4937760" y="3108960"/>
            <a:ext cx="219456" cy="219456"/>
          </a:xfrm>
          <a:prstGeom prst="rect">
            <a:avLst/>
          </a:prstGeom>
        </p:spPr>
      </p:pic>
      <p:sp>
        <p:nvSpPr>
          <p:cNvPr id="27" name="Text 19"/>
          <p:cNvSpPr txBox="1"/>
          <p:nvPr/>
        </p:nvSpPr>
        <p:spPr>
          <a:xfrm>
            <a:off x="5376672" y="296265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Applicazioni specializzate</a:t>
            </a:r>
            <a:endParaRPr lang="en-US" sz="1400" dirty="0"/>
          </a:p>
        </p:txBody>
      </p:sp>
      <p:sp>
        <p:nvSpPr>
          <p:cNvPr id="28" name="Text 20"/>
          <p:cNvSpPr txBox="1"/>
          <p:nvPr/>
        </p:nvSpPr>
        <p:spPr>
          <a:xfrm>
            <a:off x="4828032" y="3547872"/>
            <a:ext cx="3694176" cy="475488"/>
          </a:xfrm>
          <a:prstGeom prst="rect">
            <a:avLst/>
          </a:prstGeom>
          <a:noFill/>
          <a:ln/>
        </p:spPr>
        <p:txBody>
          <a:bodyPr wrap="square" lIns="0" tIns="0" rIns="0" bIns="0" rtlCol="0" anchor="t"/>
          <a:lstStyle/>
          <a:p>
            <a:pPr marL="0" indent="0">
              <a:buNone/>
            </a:pPr>
            <a:r>
              <a:rPr lang="it-IT" sz="1200" dirty="0">
                <a:solidFill>
                  <a:schemeClr val="tx2"/>
                </a:solidFill>
              </a:rPr>
              <a:t>Software per una funzione: assistenza clienti, selezione, legale, sviluppo, contabilità</a:t>
            </a:r>
            <a:endParaRPr lang="it-IT" sz="1200" dirty="0"/>
          </a:p>
        </p:txBody>
      </p:sp>
      <p:sp>
        <p:nvSpPr>
          <p:cNvPr id="29" name="Text 21"/>
          <p:cNvSpPr txBox="1"/>
          <p:nvPr/>
        </p:nvSpPr>
        <p:spPr>
          <a:xfrm>
            <a:off x="457200" y="4251960"/>
            <a:ext cx="8229600" cy="274320"/>
          </a:xfrm>
          <a:prstGeom prst="rect">
            <a:avLst/>
          </a:prstGeom>
          <a:noFill/>
          <a:ln/>
        </p:spPr>
        <p:txBody>
          <a:bodyPr wrap="square" lIns="0" tIns="0" rIns="0" bIns="0" rtlCol="0" anchor="t"/>
          <a:lstStyle/>
          <a:p>
            <a:pPr marL="0" indent="0">
              <a:buNone/>
            </a:pPr>
            <a:r>
              <a:rPr lang="en-US" sz="1200" i="1" dirty="0">
                <a:solidFill>
                  <a:schemeClr val="tx2"/>
                </a:solidFill>
              </a:rPr>
              <a:t>Molte capacità arrivano integrate in software già presenti in azienda (sottotema 4.4).</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Funzionalità comuni e differenze principali</a:t>
            </a:r>
            <a:endParaRPr lang="en-US" sz="2600" dirty="0"/>
          </a:p>
        </p:txBody>
      </p:sp>
      <p:sp>
        <p:nvSpPr>
          <p:cNvPr id="4" name="scheda Spesso in comune"/>
          <p:cNvSpPr/>
          <p:nvPr/>
        </p:nvSpPr>
        <p:spPr>
          <a:xfrm>
            <a:off x="457200" y="1097280"/>
            <a:ext cx="3977640" cy="1920240"/>
          </a:xfrm>
          <a:prstGeom prst="roundRect">
            <a:avLst>
              <a:gd name="adj" fmla="val 2133"/>
            </a:avLst>
          </a:prstGeom>
          <a:solidFill>
            <a:schemeClr val="bg2"/>
          </a:solidFill>
          <a:ln/>
        </p:spPr>
        <p:txBody>
          <a:bodyPr/>
          <a:lstStyle/>
          <a:p>
            <a:endParaRPr lang="it-IT"/>
          </a:p>
        </p:txBody>
      </p:sp>
      <p:sp>
        <p:nvSpPr>
          <p:cNvPr id="5" name="cerchio FiCopy"/>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Copy"/>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en-US" sz="1500" b="1" dirty="0">
                <a:solidFill>
                  <a:schemeClr val="tx1"/>
                </a:solidFill>
              </a:rPr>
              <a:t>Spesso in comune</a:t>
            </a:r>
            <a:endParaRPr lang="en-US" sz="1500" dirty="0"/>
          </a:p>
        </p:txBody>
      </p:sp>
      <p:sp>
        <p:nvSpPr>
          <p:cNvPr id="8" name="Text 4"/>
          <p:cNvSpPr txBox="1"/>
          <p:nvPr/>
        </p:nvSpPr>
        <p:spPr>
          <a:xfrm>
            <a:off x="640080" y="1874520"/>
            <a:ext cx="3611880" cy="1051560"/>
          </a:xfrm>
          <a:prstGeom prst="rect">
            <a:avLst/>
          </a:prstGeom>
          <a:noFill/>
          <a:ln/>
        </p:spPr>
        <p:txBody>
          <a:bodyPr wrap="square" lIns="0" tIns="0" rIns="0" bIns="0" rtlCol="0" anchor="t"/>
          <a:lstStyle/>
          <a:p>
            <a:pPr marL="177800" indent="-177800">
              <a:spcAft>
                <a:spcPts val="300"/>
              </a:spcAft>
              <a:buSzPct val="100000"/>
              <a:buChar char="•"/>
            </a:pPr>
            <a:r>
              <a:rPr lang="it-IT" sz="1200" dirty="0">
                <a:solidFill>
                  <a:schemeClr val="tx2"/>
                </a:solidFill>
              </a:rPr>
              <a:t>Conversazione, scrittura e sintesi</a:t>
            </a:r>
            <a:endParaRPr lang="it-IT" sz="1200" dirty="0"/>
          </a:p>
          <a:p>
            <a:pPr marL="177800" indent="-177800">
              <a:spcAft>
                <a:spcPts val="300"/>
              </a:spcAft>
              <a:buSzPct val="100000"/>
              <a:buChar char="•"/>
            </a:pPr>
            <a:r>
              <a:rPr lang="it-IT" sz="1200" dirty="0">
                <a:solidFill>
                  <a:schemeClr val="tx2"/>
                </a:solidFill>
              </a:rPr>
              <a:t>Analisi di documenti, immagini e dati</a:t>
            </a:r>
            <a:endParaRPr lang="it-IT" sz="1200" dirty="0"/>
          </a:p>
          <a:p>
            <a:pPr marL="177800" indent="-177800">
              <a:spcAft>
                <a:spcPts val="300"/>
              </a:spcAft>
              <a:buSzPct val="100000"/>
              <a:buChar char="•"/>
            </a:pPr>
            <a:r>
              <a:rPr lang="it-IT" sz="1200" dirty="0">
                <a:solidFill>
                  <a:schemeClr val="tx2"/>
                </a:solidFill>
              </a:rPr>
              <a:t>Ricerca sul web</a:t>
            </a:r>
            <a:endParaRPr lang="it-IT" sz="1200" dirty="0"/>
          </a:p>
          <a:p>
            <a:pPr marL="177800" indent="-177800">
              <a:spcAft>
                <a:spcPts val="300"/>
              </a:spcAft>
              <a:buSzPct val="100000"/>
              <a:buChar char="•"/>
            </a:pPr>
            <a:r>
              <a:rPr lang="it-IT" sz="1200" dirty="0">
                <a:solidFill>
                  <a:schemeClr val="tx2"/>
                </a:solidFill>
              </a:rPr>
              <a:t>Generazione di immagini, funzioni vocali</a:t>
            </a:r>
            <a:endParaRPr lang="it-IT" sz="1200" dirty="0"/>
          </a:p>
        </p:txBody>
      </p:sp>
      <p:sp>
        <p:nvSpPr>
          <p:cNvPr id="9" name="scheda Dove stanno le differenze"/>
          <p:cNvSpPr/>
          <p:nvPr/>
        </p:nvSpPr>
        <p:spPr>
          <a:xfrm>
            <a:off x="4709160" y="1097280"/>
            <a:ext cx="3977640" cy="1920240"/>
          </a:xfrm>
          <a:prstGeom prst="roundRect">
            <a:avLst>
              <a:gd name="adj" fmla="val 2133"/>
            </a:avLst>
          </a:prstGeom>
          <a:solidFill>
            <a:schemeClr val="accent6"/>
          </a:solidFill>
          <a:ln/>
        </p:spPr>
        <p:txBody>
          <a:bodyPr/>
          <a:lstStyle/>
          <a:p>
            <a:endParaRPr lang="it-IT"/>
          </a:p>
        </p:txBody>
      </p:sp>
      <p:sp>
        <p:nvSpPr>
          <p:cNvPr id="10" name="cerchio FiSliders"/>
          <p:cNvSpPr/>
          <p:nvPr/>
        </p:nvSpPr>
        <p:spPr>
          <a:xfrm>
            <a:off x="4892040" y="1280160"/>
            <a:ext cx="457200" cy="457200"/>
          </a:xfrm>
          <a:prstGeom prst="ellipse">
            <a:avLst/>
          </a:prstGeom>
          <a:solidFill>
            <a:schemeClr val="accent1"/>
          </a:solidFill>
          <a:ln/>
        </p:spPr>
        <p:txBody>
          <a:bodyPr/>
          <a:lstStyle/>
          <a:p>
            <a:endParaRPr lang="it-IT"/>
          </a:p>
        </p:txBody>
      </p:sp>
      <p:pic>
        <p:nvPicPr>
          <p:cNvPr id="11" name="Image 1" descr="FiSlider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en-US" sz="1500" b="1" dirty="0">
                <a:solidFill>
                  <a:schemeClr val="tx1"/>
                </a:solidFill>
              </a:rPr>
              <a:t>Dove stanno le differenze</a:t>
            </a:r>
            <a:endParaRPr lang="en-US" sz="1500" dirty="0"/>
          </a:p>
        </p:txBody>
      </p:sp>
      <p:sp>
        <p:nvSpPr>
          <p:cNvPr id="13" name="Text 8"/>
          <p:cNvSpPr txBox="1"/>
          <p:nvPr/>
        </p:nvSpPr>
        <p:spPr>
          <a:xfrm>
            <a:off x="4892040" y="1874520"/>
            <a:ext cx="3611880" cy="1051560"/>
          </a:xfrm>
          <a:prstGeom prst="rect">
            <a:avLst/>
          </a:prstGeom>
          <a:noFill/>
          <a:ln/>
        </p:spPr>
        <p:txBody>
          <a:bodyPr wrap="square" lIns="0" tIns="0" rIns="0" bIns="0" rtlCol="0" anchor="t"/>
          <a:lstStyle/>
          <a:p>
            <a:pPr marL="177800" indent="-177800">
              <a:spcAft>
                <a:spcPts val="300"/>
              </a:spcAft>
              <a:buSzPct val="100000"/>
              <a:buChar char="•"/>
            </a:pPr>
            <a:r>
              <a:rPr lang="it-IT" sz="1200" dirty="0">
                <a:solidFill>
                  <a:schemeClr val="tx2"/>
                </a:solidFill>
              </a:rPr>
              <a:t>Qualità sui compiti che ci interessano</a:t>
            </a:r>
            <a:endParaRPr lang="it-IT" sz="1200" dirty="0"/>
          </a:p>
          <a:p>
            <a:pPr marL="177800" indent="-177800">
              <a:spcAft>
                <a:spcPts val="300"/>
              </a:spcAft>
              <a:buSzPct val="100000"/>
              <a:buChar char="•"/>
            </a:pPr>
            <a:r>
              <a:rPr lang="it-IT" sz="1200" dirty="0">
                <a:solidFill>
                  <a:schemeClr val="tx2"/>
                </a:solidFill>
              </a:rPr>
              <a:t>Integrazioni con gli strumenti aziendali</a:t>
            </a:r>
            <a:endParaRPr lang="it-IT" sz="1200" dirty="0"/>
          </a:p>
          <a:p>
            <a:pPr marL="177800" indent="-177800">
              <a:spcAft>
                <a:spcPts val="300"/>
              </a:spcAft>
              <a:buSzPct val="100000"/>
              <a:buChar char="•"/>
            </a:pPr>
            <a:r>
              <a:rPr lang="it-IT" sz="1200" dirty="0">
                <a:solidFill>
                  <a:schemeClr val="tx2"/>
                </a:solidFill>
              </a:rPr>
              <a:t>Funzioni per il lavoro di gruppo</a:t>
            </a:r>
            <a:endParaRPr lang="it-IT" sz="1200" dirty="0"/>
          </a:p>
          <a:p>
            <a:pPr marL="177800" indent="-177800">
              <a:spcAft>
                <a:spcPts val="300"/>
              </a:spcAft>
              <a:buSzPct val="100000"/>
              <a:buChar char="•"/>
            </a:pPr>
            <a:r>
              <a:rPr lang="it-IT" sz="1200" dirty="0">
                <a:solidFill>
                  <a:schemeClr val="tx2"/>
                </a:solidFill>
              </a:rPr>
              <a:t>Limiti, piani e disponibilità</a:t>
            </a:r>
            <a:endParaRPr lang="it-IT" sz="1200" dirty="0"/>
          </a:p>
          <a:p>
            <a:pPr marL="177800" indent="-177800">
              <a:spcAft>
                <a:spcPts val="300"/>
              </a:spcAft>
              <a:buSzPct val="100000"/>
              <a:buChar char="•"/>
            </a:pPr>
            <a:r>
              <a:rPr lang="it-IT" sz="1200" dirty="0">
                <a:solidFill>
                  <a:schemeClr val="tx2"/>
                </a:solidFill>
              </a:rPr>
              <a:t>Controlli e condizioni sui dati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24</a:t>
            </a:fld>
            <a:endParaRPr lang="en-US"/>
          </a:p>
        </p:txBody>
      </p:sp>
      <p:sp>
        <p:nvSpPr>
          <p:cNvPr id="26" name="TextBox 25"/>
          <p:cNvSpPr txBox="1"/>
          <p:nvPr/>
        </p:nvSpPr>
        <p:spPr>
          <a:xfrm>
            <a:off x="457200" y="3081528"/>
            <a:ext cx="8229600" cy="228600"/>
          </a:xfrm>
          <a:prstGeom prst="rect">
            <a:avLst/>
          </a:prstGeom>
          <a:noFill/>
        </p:spPr>
        <p:txBody>
          <a:bodyPr wrap="square" lIns="0" tIns="0" rIns="0" bIns="0" anchor="ctr">
            <a:spAutoFit/>
          </a:bodyPr>
          <a:lstStyle/>
          <a:p>
            <a:pPr marL="0" indent="0">
              <a:buNone/>
            </a:pPr>
            <a:r>
              <a:rPr lang="it-IT" sz="1200" b="1" dirty="0">
                <a:solidFill>
                  <a:schemeClr val="tx1"/>
                </a:solidFill>
              </a:rPr>
              <a:t>Stesso compito, strumenti diversi: un esempio fittizio</a:t>
            </a:r>
            <a:endParaRPr lang="it-IT" sz="1200" dirty="0"/>
          </a:p>
        </p:txBody>
      </p:sp>
      <p:sp>
        <p:nvSpPr>
          <p:cNvPr id="27" name="Rounded Rectangle 26"/>
          <p:cNvSpPr/>
          <p:nvPr/>
        </p:nvSpPr>
        <p:spPr>
          <a:xfrm>
            <a:off x="457200" y="3337560"/>
            <a:ext cx="265176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429000"/>
            <a:ext cx="2377440" cy="1005840"/>
          </a:xfrm>
          <a:prstGeom prst="rect">
            <a:avLst/>
          </a:prstGeom>
          <a:noFill/>
        </p:spPr>
        <p:txBody>
          <a:bodyPr wrap="square" lIns="0" tIns="0" rIns="0" bIns="0" anchor="t">
            <a:spAutoFit/>
          </a:bodyPr>
          <a:lstStyle/>
          <a:p>
            <a:pPr marL="0" indent="0">
              <a:buNone/>
            </a:pPr>
            <a:r>
              <a:rPr lang="it-IT" sz="1100" b="1" dirty="0">
                <a:solidFill>
                  <a:schemeClr val="tx1"/>
                </a:solidFill>
              </a:rPr>
              <a:t>Il compito</a:t>
            </a:r>
            <a:endParaRPr lang="it-IT" sz="1100" dirty="0"/>
          </a:p>
          <a:p>
            <a:pPr marL="0" indent="0">
              <a:buNone/>
            </a:pPr>
            <a:r>
              <a:rPr lang="it-IT" sz="1050" dirty="0">
                <a:solidFill>
                  <a:schemeClr val="tx2"/>
                </a:solidFill>
              </a:rPr>
              <a:t>Preparare la sintesi di una riunione con le azioni da assegnare</a:t>
            </a:r>
            <a:endParaRPr lang="it-IT" sz="1050" dirty="0"/>
          </a:p>
        </p:txBody>
      </p:sp>
      <p:sp>
        <p:nvSpPr>
          <p:cNvPr id="29" name="Rounded Rectangle 28"/>
          <p:cNvSpPr/>
          <p:nvPr/>
        </p:nvSpPr>
        <p:spPr>
          <a:xfrm>
            <a:off x="3246120" y="3337560"/>
            <a:ext cx="265176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83280" y="3429000"/>
            <a:ext cx="2377440" cy="1005840"/>
          </a:xfrm>
          <a:prstGeom prst="rect">
            <a:avLst/>
          </a:prstGeom>
          <a:noFill/>
        </p:spPr>
        <p:txBody>
          <a:bodyPr wrap="square" lIns="0" tIns="0" rIns="0" bIns="0" anchor="t">
            <a:spAutoFit/>
          </a:bodyPr>
          <a:lstStyle/>
          <a:p>
            <a:pPr marL="0" indent="0">
              <a:buNone/>
            </a:pPr>
            <a:r>
              <a:rPr lang="it-IT" sz="1100" b="1" dirty="0">
                <a:solidFill>
                  <a:schemeClr val="tx1"/>
                </a:solidFill>
              </a:rPr>
              <a:t>Strumento A</a:t>
            </a:r>
            <a:endParaRPr lang="it-IT" sz="1100" dirty="0"/>
          </a:p>
          <a:p>
            <a:pPr marL="0" indent="0">
              <a:buNone/>
            </a:pPr>
            <a:r>
              <a:rPr lang="it-IT" sz="1050" dirty="0">
                <a:solidFill>
                  <a:schemeClr val="tx2"/>
                </a:solidFill>
              </a:rPr>
              <a:t>Integrato nella piattaforma delle riunioni: usa la trascrizione e salva la sintesi nello spazio del team</a:t>
            </a:r>
            <a:endParaRPr lang="it-IT" sz="1050" dirty="0"/>
          </a:p>
        </p:txBody>
      </p:sp>
      <p:sp>
        <p:nvSpPr>
          <p:cNvPr id="31" name="Rounded Rectangle 30"/>
          <p:cNvSpPr/>
          <p:nvPr/>
        </p:nvSpPr>
        <p:spPr>
          <a:xfrm>
            <a:off x="6035040" y="3337560"/>
            <a:ext cx="2651760" cy="1188720"/>
          </a:xfrm>
          <a:prstGeom prst="roundRect">
            <a:avLst>
              <a:gd name="adj" fmla="val 6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3429000"/>
            <a:ext cx="2377440" cy="1005840"/>
          </a:xfrm>
          <a:prstGeom prst="rect">
            <a:avLst/>
          </a:prstGeom>
          <a:noFill/>
        </p:spPr>
        <p:txBody>
          <a:bodyPr wrap="square" lIns="0" tIns="0" rIns="0" bIns="0" anchor="t">
            <a:spAutoFit/>
          </a:bodyPr>
          <a:lstStyle/>
          <a:p>
            <a:pPr marL="0" indent="0">
              <a:buNone/>
            </a:pPr>
            <a:r>
              <a:rPr lang="it-IT" sz="1100" b="1" dirty="0">
                <a:solidFill>
                  <a:schemeClr val="tx1"/>
                </a:solidFill>
              </a:rPr>
              <a:t>Strumento B</a:t>
            </a:r>
            <a:endParaRPr lang="it-IT" sz="1100" dirty="0"/>
          </a:p>
          <a:p>
            <a:pPr marL="0" indent="0">
              <a:buNone/>
            </a:pPr>
            <a:r>
              <a:rPr lang="it-IT" sz="1050" dirty="0">
                <a:solidFill>
                  <a:schemeClr val="tx2"/>
                </a:solidFill>
              </a:rPr>
              <a:t>Assistente generalista: serve caricare la trascrizione, ma si può riusare un assistente configurato con il formato aziendale</a:t>
            </a:r>
            <a:endParaRPr lang="it-IT"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Capacità del modello e funzionalità dell'applicazione</a:t>
            </a:r>
            <a:endParaRPr lang="en-US" sz="2600" dirty="0"/>
          </a:p>
        </p:txBody>
      </p:sp>
      <p:sp>
        <p:nvSpPr>
          <p:cNvPr id="4" name="scheda Dal modello"/>
          <p:cNvSpPr/>
          <p:nvPr/>
        </p:nvSpPr>
        <p:spPr>
          <a:xfrm>
            <a:off x="457200" y="1097280"/>
            <a:ext cx="3977640" cy="2377440"/>
          </a:xfrm>
          <a:prstGeom prst="roundRect">
            <a:avLst>
              <a:gd name="adj" fmla="val 3077"/>
            </a:avLst>
          </a:prstGeom>
          <a:solidFill>
            <a:schemeClr val="bg2"/>
          </a:solidFill>
          <a:ln/>
        </p:spPr>
        <p:txBody>
          <a:bodyPr/>
          <a:lstStyle/>
          <a:p>
            <a:endParaRPr lang="it-IT"/>
          </a:p>
        </p:txBody>
      </p:sp>
      <p:sp>
        <p:nvSpPr>
          <p:cNvPr id="5" name="cerchio FiCpu"/>
          <p:cNvSpPr/>
          <p:nvPr/>
        </p:nvSpPr>
        <p:spPr>
          <a:xfrm>
            <a:off x="640080" y="1280160"/>
            <a:ext cx="457200" cy="457200"/>
          </a:xfrm>
          <a:prstGeom prst="ellipse">
            <a:avLst/>
          </a:prstGeom>
          <a:solidFill>
            <a:schemeClr val="accent1"/>
          </a:solidFill>
          <a:ln/>
        </p:spPr>
        <p:txBody>
          <a:bodyPr/>
          <a:lstStyle/>
          <a:p>
            <a:endParaRPr lang="it-IT"/>
          </a:p>
        </p:txBody>
      </p:sp>
      <p:sp>
        <p:nvSpPr>
          <p:cNvPr id="6" name="scheda Dall'applicazione"/>
          <p:cNvSpPr/>
          <p:nvPr/>
        </p:nvSpPr>
        <p:spPr>
          <a:xfrm>
            <a:off x="4709160" y="1097280"/>
            <a:ext cx="3977640" cy="2377440"/>
          </a:xfrm>
          <a:prstGeom prst="roundRect">
            <a:avLst>
              <a:gd name="adj" fmla="val 3077"/>
            </a:avLst>
          </a:prstGeom>
          <a:solidFill>
            <a:schemeClr val="accent6"/>
          </a:solidFill>
          <a:ln/>
        </p:spPr>
        <p:txBody>
          <a:bodyPr/>
          <a:lstStyle/>
          <a:p>
            <a:endParaRPr lang="it-IT"/>
          </a:p>
        </p:txBody>
      </p:sp>
      <p:sp>
        <p:nvSpPr>
          <p:cNvPr id="7" name="cerchio FiPackage"/>
          <p:cNvSpPr/>
          <p:nvPr/>
        </p:nvSpPr>
        <p:spPr>
          <a:xfrm>
            <a:off x="4892040" y="1280160"/>
            <a:ext cx="457200" cy="457200"/>
          </a:xfrm>
          <a:prstGeom prst="ellipse">
            <a:avLst/>
          </a:prstGeom>
          <a:solidFill>
            <a:schemeClr val="accent1"/>
          </a:solidFill>
          <a:ln/>
        </p:spPr>
        <p:txBody>
          <a:bodyPr/>
          <a:lstStyle/>
          <a:p>
            <a:endParaRPr lang="it-IT"/>
          </a:p>
        </p:txBody>
      </p:sp>
      <p:pic>
        <p:nvPicPr>
          <p:cNvPr id="8" name="Image 0" descr="FiCpu"/>
          <p:cNvPicPr>
            <a:picLocks noChangeAspect="1"/>
          </p:cNvPicPr>
          <p:nvPr/>
        </p:nvPicPr>
        <p:blipFill>
          <a:blip r:embed="rId3"/>
          <a:stretch>
            <a:fillRect/>
          </a:stretch>
        </p:blipFill>
        <p:spPr>
          <a:xfrm>
            <a:off x="754380" y="1394460"/>
            <a:ext cx="228600" cy="228600"/>
          </a:xfrm>
          <a:prstGeom prst="rect">
            <a:avLst/>
          </a:prstGeom>
        </p:spPr>
      </p:pic>
      <p:sp>
        <p:nvSpPr>
          <p:cNvPr id="9" name="Text 5"/>
          <p:cNvSpPr txBox="1"/>
          <p:nvPr/>
        </p:nvSpPr>
        <p:spPr>
          <a:xfrm>
            <a:off x="640080" y="1847088"/>
            <a:ext cx="3611880" cy="347472"/>
          </a:xfrm>
          <a:prstGeom prst="rect">
            <a:avLst/>
          </a:prstGeom>
          <a:noFill/>
          <a:ln/>
        </p:spPr>
        <p:txBody>
          <a:bodyPr wrap="square" lIns="0" tIns="0" rIns="0" bIns="0" rtlCol="0" anchor="t"/>
          <a:lstStyle/>
          <a:p>
            <a:pPr marL="0" indent="0">
              <a:buNone/>
            </a:pPr>
            <a:r>
              <a:rPr lang="en-US" sz="1500" b="1" dirty="0">
                <a:solidFill>
                  <a:schemeClr val="tx1"/>
                </a:solidFill>
              </a:rPr>
              <a:t>Dal modello</a:t>
            </a:r>
            <a:endParaRPr lang="en-US" sz="1500" dirty="0"/>
          </a:p>
        </p:txBody>
      </p:sp>
      <p:sp>
        <p:nvSpPr>
          <p:cNvPr id="10" name="Text 6"/>
          <p:cNvSpPr txBox="1"/>
          <p:nvPr/>
        </p:nvSpPr>
        <p:spPr>
          <a:xfrm>
            <a:off x="640080" y="2231136"/>
            <a:ext cx="3611880" cy="113385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Qualità della scrittura</a:t>
            </a:r>
            <a:endParaRPr lang="en-US" sz="1300" dirty="0"/>
          </a:p>
          <a:p>
            <a:pPr marL="177800" indent="-177800">
              <a:spcAft>
                <a:spcPts val="300"/>
              </a:spcAft>
              <a:buSzPct val="100000"/>
              <a:buChar char="•"/>
            </a:pPr>
            <a:r>
              <a:rPr lang="en-US" sz="1300" dirty="0">
                <a:solidFill>
                  <a:schemeClr val="tx2"/>
                </a:solidFill>
              </a:rPr>
              <a:t>Ragionamento</a:t>
            </a:r>
            <a:endParaRPr lang="en-US" sz="1300" dirty="0"/>
          </a:p>
          <a:p>
            <a:pPr marL="177800" indent="-177800">
              <a:spcAft>
                <a:spcPts val="300"/>
              </a:spcAft>
              <a:buSzPct val="100000"/>
              <a:buChar char="•"/>
            </a:pPr>
            <a:r>
              <a:rPr lang="en-US" sz="1300" dirty="0">
                <a:solidFill>
                  <a:schemeClr val="tx2"/>
                </a:solidFill>
              </a:rPr>
              <a:t>Comprensione di immagini</a:t>
            </a:r>
            <a:endParaRPr lang="en-US" sz="1300" dirty="0"/>
          </a:p>
          <a:p>
            <a:pPr marL="177800" indent="-177800">
              <a:spcAft>
                <a:spcPts val="300"/>
              </a:spcAft>
              <a:buSzPct val="100000"/>
              <a:buChar char="•"/>
            </a:pPr>
            <a:r>
              <a:rPr lang="en-US" sz="1300" dirty="0">
                <a:solidFill>
                  <a:schemeClr val="tx2"/>
                </a:solidFill>
              </a:rPr>
              <a:t>Lunghezza del contesto</a:t>
            </a:r>
            <a:endParaRPr lang="en-US" sz="1300" dirty="0"/>
          </a:p>
        </p:txBody>
      </p:sp>
      <p:pic>
        <p:nvPicPr>
          <p:cNvPr id="11" name="Image 1" descr="FiPackag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en-US" sz="1500" b="1" dirty="0">
                <a:solidFill>
                  <a:schemeClr val="tx1"/>
                </a:solidFill>
              </a:rPr>
              <a:t>Dall'applicazione</a:t>
            </a:r>
            <a:endParaRPr lang="en-US" sz="1500" dirty="0"/>
          </a:p>
        </p:txBody>
      </p:sp>
      <p:sp>
        <p:nvSpPr>
          <p:cNvPr id="13" name="Text 8"/>
          <p:cNvSpPr txBox="1"/>
          <p:nvPr/>
        </p:nvSpPr>
        <p:spPr>
          <a:xfrm>
            <a:off x="4892040" y="2231136"/>
            <a:ext cx="3611880" cy="113385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Ricerca sul web, esecuzione di codice</a:t>
            </a:r>
            <a:endParaRPr lang="en-US" sz="1300" dirty="0"/>
          </a:p>
          <a:p>
            <a:pPr marL="177800" indent="-177800">
              <a:spcAft>
                <a:spcPts val="300"/>
              </a:spcAft>
              <a:buSzPct val="100000"/>
              <a:buChar char="•"/>
            </a:pPr>
            <a:r>
              <a:rPr lang="en-US" sz="1300" dirty="0">
                <a:solidFill>
                  <a:schemeClr val="tx2"/>
                </a:solidFill>
              </a:rPr>
              <a:t>Collegamento a posta e documenti</a:t>
            </a:r>
            <a:endParaRPr lang="en-US" sz="1300" dirty="0"/>
          </a:p>
          <a:p>
            <a:pPr marL="177800" indent="-177800">
              <a:spcAft>
                <a:spcPts val="300"/>
              </a:spcAft>
              <a:buSzPct val="100000"/>
              <a:buChar char="•"/>
            </a:pPr>
            <a:r>
              <a:rPr lang="en-US" sz="1300" dirty="0">
                <a:solidFill>
                  <a:schemeClr val="tx2"/>
                </a:solidFill>
              </a:rPr>
              <a:t>Memoria e progetti condivisi</a:t>
            </a:r>
            <a:endParaRPr lang="en-US" sz="1300" dirty="0"/>
          </a:p>
          <a:p>
            <a:pPr marL="177800" indent="-177800">
              <a:spcAft>
                <a:spcPts val="300"/>
              </a:spcAft>
              <a:buSzPct val="100000"/>
              <a:buChar char="•"/>
            </a:pPr>
            <a:r>
              <a:rPr lang="en-US" sz="1300" dirty="0">
                <a:solidFill>
                  <a:schemeClr val="tx2"/>
                </a:solidFill>
              </a:rPr>
              <a:t>Controlli e gestione dei dati</a:t>
            </a:r>
            <a:endParaRPr lang="en-US" sz="1300" dirty="0"/>
          </a:p>
        </p:txBody>
      </p:sp>
      <p:sp>
        <p:nvSpPr>
          <p:cNvPr id="14" name="Text 9"/>
          <p:cNvSpPr txBox="1"/>
          <p:nvPr/>
        </p:nvSpPr>
        <p:spPr>
          <a:xfrm>
            <a:off x="457200" y="3611880"/>
            <a:ext cx="8229600" cy="274320"/>
          </a:xfrm>
          <a:prstGeom prst="rect">
            <a:avLst/>
          </a:prstGeom>
          <a:noFill/>
          <a:ln/>
        </p:spPr>
        <p:txBody>
          <a:bodyPr wrap="square" lIns="0" tIns="0" rIns="0" bIns="0" rtlCol="0" anchor="t"/>
          <a:lstStyle/>
          <a:p>
            <a:pPr marL="0" indent="0">
              <a:buNone/>
            </a:pPr>
            <a:r>
              <a:rPr lang="en-US" sz="1300" b="1" dirty="0">
                <a:solidFill>
                  <a:schemeClr val="tx1"/>
                </a:solidFill>
              </a:rPr>
              <a:t>Situazioni frequenti</a:t>
            </a:r>
            <a:endParaRPr lang="en-US" sz="1300" dirty="0"/>
          </a:p>
        </p:txBody>
      </p:sp>
      <p:sp>
        <p:nvSpPr>
          <p:cNvPr id="15" name="blocco Stesso modello, funzioni diverse in app diverse"/>
          <p:cNvSpPr/>
          <p:nvPr/>
        </p:nvSpPr>
        <p:spPr>
          <a:xfrm>
            <a:off x="457200" y="3977640"/>
            <a:ext cx="2615184" cy="548640"/>
          </a:xfrm>
          <a:prstGeom prst="roundRect">
            <a:avLst>
              <a:gd name="adj" fmla="val 20000"/>
            </a:avLst>
          </a:prstGeom>
          <a:solidFill>
            <a:schemeClr val="bg2"/>
          </a:solidFill>
          <a:ln/>
        </p:spPr>
        <p:txBody>
          <a:bodyPr/>
          <a:lstStyle/>
          <a:p>
            <a:endParaRPr lang="it-IT"/>
          </a:p>
        </p:txBody>
      </p:sp>
      <p:sp>
        <p:nvSpPr>
          <p:cNvPr id="16" name="Text 11"/>
          <p:cNvSpPr txBox="1"/>
          <p:nvPr/>
        </p:nvSpPr>
        <p:spPr>
          <a:xfrm>
            <a:off x="502920" y="3977640"/>
            <a:ext cx="2523744" cy="548640"/>
          </a:xfrm>
          <a:prstGeom prst="rect">
            <a:avLst/>
          </a:prstGeom>
          <a:noFill/>
          <a:ln/>
        </p:spPr>
        <p:txBody>
          <a:bodyPr wrap="square" lIns="0" tIns="0" rIns="0" bIns="0" rtlCol="0" anchor="ctr"/>
          <a:lstStyle/>
          <a:p>
            <a:pPr marL="0" indent="0" algn="ctr">
              <a:buNone/>
            </a:pPr>
            <a:r>
              <a:rPr lang="en-US" sz="1200" b="1" dirty="0">
                <a:solidFill>
                  <a:schemeClr val="tx1"/>
                </a:solidFill>
              </a:rPr>
              <a:t>Stesso modello, funzioni diverse in app diverse</a:t>
            </a:r>
            <a:endParaRPr lang="en-US" sz="1200" dirty="0"/>
          </a:p>
        </p:txBody>
      </p:sp>
      <p:sp>
        <p:nvSpPr>
          <p:cNvPr id="17" name="blocco L'app migliora senza cambiare modello"/>
          <p:cNvSpPr/>
          <p:nvPr/>
        </p:nvSpPr>
        <p:spPr>
          <a:xfrm>
            <a:off x="3264408" y="3977640"/>
            <a:ext cx="2615184" cy="548640"/>
          </a:xfrm>
          <a:prstGeom prst="roundRect">
            <a:avLst>
              <a:gd name="adj" fmla="val 20000"/>
            </a:avLst>
          </a:prstGeom>
          <a:solidFill>
            <a:schemeClr val="bg2"/>
          </a:solidFill>
          <a:ln/>
        </p:spPr>
        <p:txBody>
          <a:bodyPr/>
          <a:lstStyle/>
          <a:p>
            <a:endParaRPr lang="it-IT"/>
          </a:p>
        </p:txBody>
      </p:sp>
      <p:sp>
        <p:nvSpPr>
          <p:cNvPr id="18" name="Text 13"/>
          <p:cNvSpPr txBox="1"/>
          <p:nvPr/>
        </p:nvSpPr>
        <p:spPr>
          <a:xfrm>
            <a:off x="3310128" y="3977640"/>
            <a:ext cx="2523744" cy="548640"/>
          </a:xfrm>
          <a:prstGeom prst="rect">
            <a:avLst/>
          </a:prstGeom>
          <a:noFill/>
          <a:ln/>
        </p:spPr>
        <p:txBody>
          <a:bodyPr wrap="square" lIns="0" tIns="0" rIns="0" bIns="0" rtlCol="0" anchor="ctr"/>
          <a:lstStyle/>
          <a:p>
            <a:pPr marL="0" indent="0" algn="ctr">
              <a:buNone/>
            </a:pPr>
            <a:r>
              <a:rPr lang="en-US" sz="1200" b="1" dirty="0">
                <a:solidFill>
                  <a:schemeClr val="tx1"/>
                </a:solidFill>
              </a:rPr>
              <a:t>L'app migliora senza cambiare modello</a:t>
            </a:r>
            <a:endParaRPr lang="en-US" sz="1200" dirty="0"/>
          </a:p>
        </p:txBody>
      </p:sp>
      <p:sp>
        <p:nvSpPr>
          <p:cNvPr id="19" name="blocco Una capacità del modello non disponibile in un piano"/>
          <p:cNvSpPr/>
          <p:nvPr/>
        </p:nvSpPr>
        <p:spPr>
          <a:xfrm>
            <a:off x="6071616" y="3977640"/>
            <a:ext cx="2615184" cy="548640"/>
          </a:xfrm>
          <a:prstGeom prst="roundRect">
            <a:avLst>
              <a:gd name="adj" fmla="val 20000"/>
            </a:avLst>
          </a:prstGeom>
          <a:solidFill>
            <a:schemeClr val="bg2"/>
          </a:solidFill>
          <a:ln/>
        </p:spPr>
        <p:txBody>
          <a:bodyPr/>
          <a:lstStyle/>
          <a:p>
            <a:endParaRPr lang="it-IT"/>
          </a:p>
        </p:txBody>
      </p:sp>
      <p:sp>
        <p:nvSpPr>
          <p:cNvPr id="20" name="Text 15"/>
          <p:cNvSpPr txBox="1"/>
          <p:nvPr/>
        </p:nvSpPr>
        <p:spPr>
          <a:xfrm>
            <a:off x="6117336" y="3977640"/>
            <a:ext cx="2523744" cy="548640"/>
          </a:xfrm>
          <a:prstGeom prst="rect">
            <a:avLst/>
          </a:prstGeom>
          <a:noFill/>
          <a:ln/>
        </p:spPr>
        <p:txBody>
          <a:bodyPr wrap="square" lIns="0" tIns="0" rIns="0" bIns="0" rtlCol="0" anchor="ctr"/>
          <a:lstStyle/>
          <a:p>
            <a:pPr marL="0" indent="0" algn="ctr">
              <a:buNone/>
            </a:pPr>
            <a:r>
              <a:rPr lang="en-US" sz="1200" b="1" dirty="0">
                <a:solidFill>
                  <a:schemeClr val="tx1"/>
                </a:solidFill>
              </a:rPr>
              <a:t>Una capacità del modello non disponibile in un piano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25</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4.4</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AI generalista, specializzata e integrata</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Adottare l'AI non richiede necessariamente un nuovo applicativo separato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Tre approcci</a:t>
            </a:r>
            <a:endParaRPr lang="en-US" sz="2600" dirty="0"/>
          </a:p>
        </p:txBody>
      </p:sp>
      <p:sp>
        <p:nvSpPr>
          <p:cNvPr id="4" name="scheda Generalista"/>
          <p:cNvSpPr/>
          <p:nvPr/>
        </p:nvSpPr>
        <p:spPr>
          <a:xfrm>
            <a:off x="457200" y="1097280"/>
            <a:ext cx="2615184" cy="2514600"/>
          </a:xfrm>
          <a:prstGeom prst="roundRect">
            <a:avLst>
              <a:gd name="adj" fmla="val 2909"/>
            </a:avLst>
          </a:prstGeom>
          <a:solidFill>
            <a:schemeClr val="bg2"/>
          </a:solidFill>
          <a:ln/>
        </p:spPr>
        <p:txBody>
          <a:bodyPr/>
          <a:lstStyle/>
          <a:p>
            <a:endParaRPr lang="it-IT"/>
          </a:p>
        </p:txBody>
      </p:sp>
      <p:sp>
        <p:nvSpPr>
          <p:cNvPr id="5" name="cerchio FiMessageSquare"/>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MessageSquar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en-US" sz="1600" b="1" dirty="0">
                <a:solidFill>
                  <a:schemeClr val="tx1"/>
                </a:solidFill>
              </a:rPr>
              <a:t>Generalista</a:t>
            </a:r>
            <a:endParaRPr lang="en-US" sz="160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marL="0" indent="0">
              <a:buNone/>
            </a:pPr>
            <a:r>
              <a:rPr lang="it-IT" sz="1200" b="1" dirty="0">
                <a:solidFill>
                  <a:schemeClr val="accent1"/>
                </a:solidFill>
              </a:rPr>
              <a:t>Molti compiti diversi</a:t>
            </a:r>
            <a:endParaRPr lang="it-IT" sz="1200" dirty="0"/>
          </a:p>
          <a:p>
            <a:pPr marL="177800" indent="-177800">
              <a:spcAft>
                <a:spcPts val="300"/>
              </a:spcAft>
              <a:buSzPct val="100000"/>
              <a:buChar char="•"/>
            </a:pPr>
            <a:r>
              <a:rPr lang="it-IT" sz="1200" dirty="0">
                <a:solidFill>
                  <a:schemeClr val="tx2"/>
                </a:solidFill>
              </a:rPr>
              <a:t>Flessibile e immediata</a:t>
            </a:r>
            <a:endParaRPr lang="it-IT" sz="1200" dirty="0"/>
          </a:p>
          <a:p>
            <a:pPr marL="177800" indent="-177800">
              <a:spcAft>
                <a:spcPts val="300"/>
              </a:spcAft>
              <a:buSzPct val="100000"/>
              <a:buChar char="•"/>
            </a:pPr>
            <a:r>
              <a:rPr lang="it-IT" sz="1200" dirty="0">
                <a:solidFill>
                  <a:schemeClr val="tx2"/>
                </a:solidFill>
              </a:rPr>
              <a:t>L'utente porta il contesto</a:t>
            </a:r>
            <a:endParaRPr lang="it-IT" sz="1200" dirty="0"/>
          </a:p>
        </p:txBody>
      </p:sp>
      <p:sp>
        <p:nvSpPr>
          <p:cNvPr id="9" name="scheda Specializzata"/>
          <p:cNvSpPr/>
          <p:nvPr/>
        </p:nvSpPr>
        <p:spPr>
          <a:xfrm>
            <a:off x="3264408" y="1097280"/>
            <a:ext cx="2615184" cy="2514600"/>
          </a:xfrm>
          <a:prstGeom prst="roundRect">
            <a:avLst>
              <a:gd name="adj" fmla="val 2909"/>
            </a:avLst>
          </a:prstGeom>
          <a:solidFill>
            <a:schemeClr val="bg2"/>
          </a:solidFill>
          <a:ln/>
        </p:spPr>
        <p:txBody>
          <a:bodyPr/>
          <a:lstStyle/>
          <a:p>
            <a:endParaRPr lang="it-IT"/>
          </a:p>
        </p:txBody>
      </p:sp>
      <p:sp>
        <p:nvSpPr>
          <p:cNvPr id="10" name="cerchio FiCrosshair"/>
          <p:cNvSpPr/>
          <p:nvPr/>
        </p:nvSpPr>
        <p:spPr>
          <a:xfrm>
            <a:off x="3447288" y="1280160"/>
            <a:ext cx="457200" cy="457200"/>
          </a:xfrm>
          <a:prstGeom prst="ellipse">
            <a:avLst/>
          </a:prstGeom>
          <a:solidFill>
            <a:schemeClr val="accent1"/>
          </a:solidFill>
          <a:ln/>
        </p:spPr>
        <p:txBody>
          <a:bodyPr/>
          <a:lstStyle/>
          <a:p>
            <a:endParaRPr lang="it-IT"/>
          </a:p>
        </p:txBody>
      </p:sp>
      <p:pic>
        <p:nvPicPr>
          <p:cNvPr id="11" name="Image 1" descr="FiCrosshair"/>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en-US" sz="1600" b="1" dirty="0">
                <a:solidFill>
                  <a:schemeClr val="tx1"/>
                </a:solidFill>
              </a:rPr>
              <a:t>Specializzata</a:t>
            </a:r>
            <a:endParaRPr lang="en-US" sz="160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marL="0" indent="0">
              <a:buNone/>
            </a:pPr>
            <a:r>
              <a:rPr lang="it-IT" sz="1200" b="1" dirty="0">
                <a:solidFill>
                  <a:schemeClr val="accent1"/>
                </a:solidFill>
              </a:rPr>
              <a:t>Una funzione o attività</a:t>
            </a:r>
            <a:endParaRPr lang="it-IT" sz="1200" dirty="0"/>
          </a:p>
          <a:p>
            <a:pPr marL="177800" indent="-177800">
              <a:spcAft>
                <a:spcPts val="300"/>
              </a:spcAft>
              <a:buSzPct val="100000"/>
              <a:buChar char="•"/>
            </a:pPr>
            <a:r>
              <a:rPr lang="it-IT" sz="1200" dirty="0">
                <a:solidFill>
                  <a:schemeClr val="tx2"/>
                </a:solidFill>
              </a:rPr>
              <a:t>Conosce il dominio e i flussi</a:t>
            </a:r>
            <a:endParaRPr lang="it-IT" sz="1200" dirty="0"/>
          </a:p>
          <a:p>
            <a:pPr marL="177800" indent="-177800">
              <a:spcAft>
                <a:spcPts val="300"/>
              </a:spcAft>
              <a:buSzPct val="100000"/>
              <a:buChar char="•"/>
            </a:pPr>
            <a:r>
              <a:rPr lang="it-IT" sz="1200" dirty="0">
                <a:solidFill>
                  <a:schemeClr val="tx2"/>
                </a:solidFill>
              </a:rPr>
              <a:t>Ottimizzata per attività o processi specifici</a:t>
            </a:r>
            <a:endParaRPr lang="it-IT" sz="1200" dirty="0"/>
          </a:p>
          <a:p>
            <a:pPr marL="177800" indent="-177800">
              <a:spcAft>
                <a:spcPts val="300"/>
              </a:spcAft>
              <a:buSzPct val="100000"/>
              <a:buChar char="•"/>
            </a:pPr>
            <a:r>
              <a:rPr lang="it-IT" sz="1200" dirty="0">
                <a:solidFill>
                  <a:schemeClr val="tx2"/>
                </a:solidFill>
              </a:rPr>
              <a:t>Spesso più integrata ed efficiente nei casi previsti</a:t>
            </a:r>
            <a:endParaRPr lang="it-IT" sz="1200" dirty="0"/>
          </a:p>
        </p:txBody>
      </p:sp>
      <p:sp>
        <p:nvSpPr>
          <p:cNvPr id="14" name="scheda Integrata nei software"/>
          <p:cNvSpPr/>
          <p:nvPr/>
        </p:nvSpPr>
        <p:spPr>
          <a:xfrm>
            <a:off x="6071616" y="1097280"/>
            <a:ext cx="2615184" cy="2514600"/>
          </a:xfrm>
          <a:prstGeom prst="roundRect">
            <a:avLst>
              <a:gd name="adj" fmla="val 2909"/>
            </a:avLst>
          </a:prstGeom>
          <a:solidFill>
            <a:schemeClr val="accent6"/>
          </a:solidFill>
          <a:ln/>
        </p:spPr>
        <p:txBody>
          <a:bodyPr/>
          <a:lstStyle/>
          <a:p>
            <a:endParaRPr lang="it-IT"/>
          </a:p>
        </p:txBody>
      </p:sp>
      <p:sp>
        <p:nvSpPr>
          <p:cNvPr id="15" name="cerchio FiGrid"/>
          <p:cNvSpPr/>
          <p:nvPr/>
        </p:nvSpPr>
        <p:spPr>
          <a:xfrm>
            <a:off x="6254496" y="1280160"/>
            <a:ext cx="457200" cy="457200"/>
          </a:xfrm>
          <a:prstGeom prst="ellipse">
            <a:avLst/>
          </a:prstGeom>
          <a:solidFill>
            <a:schemeClr val="accent1"/>
          </a:solidFill>
          <a:ln/>
        </p:spPr>
        <p:txBody>
          <a:bodyPr/>
          <a:lstStyle/>
          <a:p>
            <a:endParaRPr lang="it-IT"/>
          </a:p>
        </p:txBody>
      </p:sp>
      <p:pic>
        <p:nvPicPr>
          <p:cNvPr id="16" name="Image 2" descr="FiGrid"/>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en-US" sz="1600" b="1" dirty="0">
                <a:solidFill>
                  <a:schemeClr val="tx1"/>
                </a:solidFill>
              </a:rPr>
              <a:t>Integrata nei software</a:t>
            </a:r>
            <a:endParaRPr lang="en-US" sz="160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marL="0" indent="0">
              <a:buNone/>
            </a:pPr>
            <a:r>
              <a:rPr lang="it-IT" sz="1200" b="1" dirty="0">
                <a:solidFill>
                  <a:schemeClr val="accent1"/>
                </a:solidFill>
              </a:rPr>
              <a:t>Dentro gli strumenti già in uso</a:t>
            </a:r>
            <a:endParaRPr lang="it-IT" sz="1200" dirty="0"/>
          </a:p>
          <a:p>
            <a:pPr marL="177800" indent="-177800">
              <a:spcAft>
                <a:spcPts val="300"/>
              </a:spcAft>
              <a:buSzPct val="100000"/>
              <a:buChar char="•"/>
            </a:pPr>
            <a:r>
              <a:rPr lang="it-IT" sz="1200" dirty="0">
                <a:solidFill>
                  <a:schemeClr val="tx2"/>
                </a:solidFill>
              </a:rPr>
              <a:t>Lavora sui dati e nei flussi esistenti</a:t>
            </a:r>
            <a:endParaRPr lang="it-IT" sz="1200" dirty="0"/>
          </a:p>
          <a:p>
            <a:pPr marL="177800" indent="-177800">
              <a:spcAft>
                <a:spcPts val="300"/>
              </a:spcAft>
              <a:buSzPct val="100000"/>
              <a:buChar char="•"/>
            </a:pPr>
            <a:r>
              <a:rPr lang="it-IT" sz="1200" dirty="0">
                <a:solidFill>
                  <a:schemeClr val="tx2"/>
                </a:solidFill>
              </a:rPr>
              <a:t>Capacità scelte dal fornitore</a:t>
            </a:r>
            <a:endParaRPr lang="it-IT" sz="1200" dirty="0"/>
          </a:p>
        </p:txBody>
      </p:sp>
      <p:sp>
        <p:nvSpPr>
          <p:cNvPr id="19" name="messaggio"/>
          <p:cNvSpPr/>
          <p:nvPr/>
        </p:nvSpPr>
        <p:spPr>
          <a:xfrm>
            <a:off x="457200" y="3794760"/>
            <a:ext cx="8229600" cy="731520"/>
          </a:xfrm>
          <a:prstGeom prst="roundRect">
            <a:avLst>
              <a:gd name="adj" fmla="val 10000"/>
            </a:avLst>
          </a:prstGeom>
          <a:solidFill>
            <a:schemeClr val="tx1"/>
          </a:solidFill>
          <a:ln/>
        </p:spPr>
        <p:txBody>
          <a:bodyPr/>
          <a:lstStyle/>
          <a:p>
            <a:endParaRPr lang="it-IT"/>
          </a:p>
        </p:txBody>
      </p:sp>
      <p:sp>
        <p:nvSpPr>
          <p:cNvPr id="20" name="Text 14"/>
          <p:cNvSpPr txBox="1"/>
          <p:nvPr/>
        </p:nvSpPr>
        <p:spPr>
          <a:xfrm>
            <a:off x="640080" y="3794760"/>
            <a:ext cx="7863840" cy="731520"/>
          </a:xfrm>
          <a:prstGeom prst="rect">
            <a:avLst/>
          </a:prstGeom>
          <a:noFill/>
          <a:ln/>
        </p:spPr>
        <p:txBody>
          <a:bodyPr wrap="square" lIns="0" tIns="0" rIns="0" bIns="0" rtlCol="0" anchor="ctr"/>
          <a:lstStyle/>
          <a:p>
            <a:pPr marL="0" indent="0">
              <a:buNone/>
            </a:pPr>
            <a:r>
              <a:rPr lang="it-IT" sz="1300" dirty="0">
                <a:solidFill>
                  <a:schemeClr val="bg1"/>
                </a:solidFill>
              </a:rPr>
              <a:t>Spesso si combinano: un generalista per tutti, l'AI nei software in uso, soluzioni specializzate per pochi processi chiave.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L'AI nei software di produttività e nei gestionali</a:t>
            </a:r>
            <a:endParaRPr lang="en-US" sz="2600" dirty="0"/>
          </a:p>
        </p:txBody>
      </p:sp>
      <p:sp>
        <p:nvSpPr>
          <p:cNvPr id="4" name="scheda Suite di produttività"/>
          <p:cNvSpPr/>
          <p:nvPr/>
        </p:nvSpPr>
        <p:spPr>
          <a:xfrm>
            <a:off x="457200" y="1097280"/>
            <a:ext cx="2615184" cy="1828800"/>
          </a:xfrm>
          <a:prstGeom prst="roundRect">
            <a:avLst>
              <a:gd name="adj" fmla="val 3019"/>
            </a:avLst>
          </a:prstGeom>
          <a:solidFill>
            <a:schemeClr val="bg2"/>
          </a:solidFill>
          <a:ln/>
        </p:spPr>
        <p:txBody>
          <a:bodyPr/>
          <a:lstStyle/>
          <a:p>
            <a:endParaRPr lang="it-IT"/>
          </a:p>
        </p:txBody>
      </p:sp>
      <p:sp>
        <p:nvSpPr>
          <p:cNvPr id="5" name="cerchio FiFileText"/>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FileTex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1655064" cy="457200"/>
          </a:xfrm>
          <a:prstGeom prst="rect">
            <a:avLst/>
          </a:prstGeom>
          <a:noFill/>
          <a:ln/>
        </p:spPr>
        <p:txBody>
          <a:bodyPr wrap="square" lIns="0" tIns="0" rIns="0" bIns="0" rtlCol="0" anchor="ctr"/>
          <a:lstStyle/>
          <a:p>
            <a:pPr marL="0" indent="0">
              <a:buNone/>
            </a:pPr>
            <a:r>
              <a:rPr lang="en-US" sz="1400" b="1" dirty="0">
                <a:solidFill>
                  <a:schemeClr val="tx1"/>
                </a:solidFill>
              </a:rPr>
              <a:t>Suite di produttività</a:t>
            </a:r>
            <a:endParaRPr lang="en-US" sz="1400" dirty="0"/>
          </a:p>
        </p:txBody>
      </p:sp>
      <p:sp>
        <p:nvSpPr>
          <p:cNvPr id="8" name="Text 4"/>
          <p:cNvSpPr txBox="1"/>
          <p:nvPr/>
        </p:nvSpPr>
        <p:spPr>
          <a:xfrm>
            <a:off x="640080" y="1874520"/>
            <a:ext cx="2249424" cy="10058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Email e documenti</a:t>
            </a:r>
            <a:endParaRPr lang="en-US" sz="1200" dirty="0"/>
          </a:p>
          <a:p>
            <a:pPr marL="177800" indent="-177800">
              <a:spcAft>
                <a:spcPts val="300"/>
              </a:spcAft>
              <a:buSzPct val="100000"/>
              <a:buChar char="•"/>
            </a:pPr>
            <a:r>
              <a:rPr lang="en-US" sz="1200" dirty="0">
                <a:solidFill>
                  <a:schemeClr val="tx2"/>
                </a:solidFill>
              </a:rPr>
              <a:t>Fogli e presentazioni</a:t>
            </a:r>
            <a:endParaRPr lang="en-US" sz="1200" dirty="0"/>
          </a:p>
          <a:p>
            <a:pPr marL="177800" indent="-177800">
              <a:spcAft>
                <a:spcPts val="300"/>
              </a:spcAft>
              <a:buSzPct val="100000"/>
              <a:buChar char="•"/>
            </a:pPr>
            <a:r>
              <a:rPr lang="en-US" sz="1200" dirty="0">
                <a:solidFill>
                  <a:schemeClr val="tx2"/>
                </a:solidFill>
              </a:rPr>
              <a:t>Riunioni: trascrizioni e sintesi</a:t>
            </a:r>
            <a:endParaRPr lang="en-US" sz="1200" dirty="0"/>
          </a:p>
          <a:p>
            <a:pPr marL="177800" indent="-177800">
              <a:spcAft>
                <a:spcPts val="300"/>
              </a:spcAft>
              <a:buSzPct val="100000"/>
              <a:buChar char="•"/>
            </a:pPr>
            <a:r>
              <a:rPr lang="en-US" sz="1200" dirty="0">
                <a:solidFill>
                  <a:schemeClr val="tx2"/>
                </a:solidFill>
              </a:rPr>
              <a:t>Ricerca tra i propri file</a:t>
            </a:r>
            <a:endParaRPr lang="en-US" sz="1200" dirty="0"/>
          </a:p>
        </p:txBody>
      </p:sp>
      <p:sp>
        <p:nvSpPr>
          <p:cNvPr id="9" name="scheda CRM"/>
          <p:cNvSpPr/>
          <p:nvPr/>
        </p:nvSpPr>
        <p:spPr>
          <a:xfrm>
            <a:off x="3264408" y="1097280"/>
            <a:ext cx="2615184" cy="1828800"/>
          </a:xfrm>
          <a:prstGeom prst="roundRect">
            <a:avLst>
              <a:gd name="adj" fmla="val 3019"/>
            </a:avLst>
          </a:prstGeom>
          <a:solidFill>
            <a:schemeClr val="bg2"/>
          </a:solidFill>
          <a:ln/>
        </p:spPr>
        <p:txBody>
          <a:bodyPr/>
          <a:lstStyle/>
          <a:p>
            <a:endParaRPr lang="it-IT"/>
          </a:p>
        </p:txBody>
      </p:sp>
      <p:sp>
        <p:nvSpPr>
          <p:cNvPr id="10" name="cerchio FiUsers"/>
          <p:cNvSpPr/>
          <p:nvPr/>
        </p:nvSpPr>
        <p:spPr>
          <a:xfrm>
            <a:off x="3447288" y="1280160"/>
            <a:ext cx="457200" cy="457200"/>
          </a:xfrm>
          <a:prstGeom prst="ellipse">
            <a:avLst/>
          </a:prstGeom>
          <a:solidFill>
            <a:schemeClr val="accent1"/>
          </a:solidFill>
          <a:ln/>
        </p:spPr>
        <p:txBody>
          <a:bodyPr/>
          <a:lstStyle/>
          <a:p>
            <a:endParaRPr lang="it-IT"/>
          </a:p>
        </p:txBody>
      </p:sp>
      <p:pic>
        <p:nvPicPr>
          <p:cNvPr id="11" name="Image 1" descr="FiUsers"/>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4041648" y="1280160"/>
            <a:ext cx="1655064" cy="457200"/>
          </a:xfrm>
          <a:prstGeom prst="rect">
            <a:avLst/>
          </a:prstGeom>
          <a:noFill/>
          <a:ln/>
        </p:spPr>
        <p:txBody>
          <a:bodyPr wrap="square" lIns="0" tIns="0" rIns="0" bIns="0" rtlCol="0" anchor="ctr"/>
          <a:lstStyle/>
          <a:p>
            <a:pPr marL="0" indent="0">
              <a:buNone/>
            </a:pPr>
            <a:r>
              <a:rPr lang="en-US" sz="1400" b="1" dirty="0">
                <a:solidFill>
                  <a:schemeClr val="tx1"/>
                </a:solidFill>
              </a:rPr>
              <a:t>CRM</a:t>
            </a:r>
            <a:endParaRPr lang="en-US" sz="1400" dirty="0"/>
          </a:p>
        </p:txBody>
      </p:sp>
      <p:sp>
        <p:nvSpPr>
          <p:cNvPr id="13" name="Text 8"/>
          <p:cNvSpPr txBox="1"/>
          <p:nvPr/>
        </p:nvSpPr>
        <p:spPr>
          <a:xfrm>
            <a:off x="3447288" y="1874520"/>
            <a:ext cx="2249424" cy="10058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Sintesi della storia del cliente</a:t>
            </a:r>
            <a:endParaRPr lang="en-US" sz="1200" dirty="0"/>
          </a:p>
          <a:p>
            <a:pPr marL="177800" indent="-177800">
              <a:spcAft>
                <a:spcPts val="300"/>
              </a:spcAft>
              <a:buSzPct val="100000"/>
              <a:buChar char="•"/>
            </a:pPr>
            <a:r>
              <a:rPr lang="en-US" sz="1200" dirty="0">
                <a:solidFill>
                  <a:schemeClr val="tx2"/>
                </a:solidFill>
              </a:rPr>
              <a:t>Prossime azioni suggerite</a:t>
            </a:r>
            <a:endParaRPr lang="en-US" sz="1200" dirty="0"/>
          </a:p>
          <a:p>
            <a:pPr marL="177800" indent="-177800">
              <a:spcAft>
                <a:spcPts val="300"/>
              </a:spcAft>
              <a:buSzPct val="100000"/>
              <a:buChar char="•"/>
            </a:pPr>
            <a:r>
              <a:rPr lang="en-US" sz="1200" dirty="0">
                <a:solidFill>
                  <a:schemeClr val="tx2"/>
                </a:solidFill>
              </a:rPr>
              <a:t>Bozze di comunicazioni</a:t>
            </a:r>
            <a:endParaRPr lang="en-US" sz="1200" dirty="0"/>
          </a:p>
          <a:p>
            <a:pPr marL="177800" indent="-177800">
              <a:spcAft>
                <a:spcPts val="300"/>
              </a:spcAft>
              <a:buSzPct val="100000"/>
              <a:buChar char="•"/>
            </a:pPr>
            <a:r>
              <a:rPr lang="en-US" sz="1200" dirty="0">
                <a:solidFill>
                  <a:schemeClr val="tx2"/>
                </a:solidFill>
              </a:rPr>
              <a:t>Classificazione delle richieste</a:t>
            </a:r>
            <a:endParaRPr lang="en-US" sz="1200" dirty="0"/>
          </a:p>
        </p:txBody>
      </p:sp>
      <p:sp>
        <p:nvSpPr>
          <p:cNvPr id="14" name="scheda ERP e gestionali"/>
          <p:cNvSpPr/>
          <p:nvPr/>
        </p:nvSpPr>
        <p:spPr>
          <a:xfrm>
            <a:off x="6071616" y="1097280"/>
            <a:ext cx="2615184" cy="1828800"/>
          </a:xfrm>
          <a:prstGeom prst="roundRect">
            <a:avLst>
              <a:gd name="adj" fmla="val 3019"/>
            </a:avLst>
          </a:prstGeom>
          <a:solidFill>
            <a:schemeClr val="bg2"/>
          </a:solidFill>
          <a:ln/>
        </p:spPr>
        <p:txBody>
          <a:bodyPr/>
          <a:lstStyle/>
          <a:p>
            <a:endParaRPr lang="it-IT"/>
          </a:p>
        </p:txBody>
      </p:sp>
      <p:sp>
        <p:nvSpPr>
          <p:cNvPr id="15" name="cerchio FiDatabase"/>
          <p:cNvSpPr/>
          <p:nvPr/>
        </p:nvSpPr>
        <p:spPr>
          <a:xfrm>
            <a:off x="6254496" y="1280160"/>
            <a:ext cx="457200" cy="457200"/>
          </a:xfrm>
          <a:prstGeom prst="ellipse">
            <a:avLst/>
          </a:prstGeom>
          <a:solidFill>
            <a:schemeClr val="accent1"/>
          </a:solidFill>
          <a:ln/>
        </p:spPr>
        <p:txBody>
          <a:bodyPr/>
          <a:lstStyle/>
          <a:p>
            <a:endParaRPr lang="it-IT"/>
          </a:p>
        </p:txBody>
      </p:sp>
      <p:pic>
        <p:nvPicPr>
          <p:cNvPr id="16" name="Image 2" descr="FiDatabase"/>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848856" y="1280160"/>
            <a:ext cx="1655064" cy="457200"/>
          </a:xfrm>
          <a:prstGeom prst="rect">
            <a:avLst/>
          </a:prstGeom>
          <a:noFill/>
          <a:ln/>
        </p:spPr>
        <p:txBody>
          <a:bodyPr wrap="square" lIns="0" tIns="0" rIns="0" bIns="0" rtlCol="0" anchor="ctr"/>
          <a:lstStyle/>
          <a:p>
            <a:pPr marL="0" indent="0">
              <a:buNone/>
            </a:pPr>
            <a:r>
              <a:rPr lang="en-US" sz="1400" b="1" dirty="0">
                <a:solidFill>
                  <a:schemeClr val="tx1"/>
                </a:solidFill>
              </a:rPr>
              <a:t>ERP e gestionali</a:t>
            </a:r>
            <a:endParaRPr lang="en-US" sz="1400" dirty="0"/>
          </a:p>
        </p:txBody>
      </p:sp>
      <p:sp>
        <p:nvSpPr>
          <p:cNvPr id="18" name="Text 12"/>
          <p:cNvSpPr txBox="1"/>
          <p:nvPr/>
        </p:nvSpPr>
        <p:spPr>
          <a:xfrm>
            <a:off x="6254496" y="1874520"/>
            <a:ext cx="2249424" cy="10058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Lettura di fatture e ordini</a:t>
            </a:r>
            <a:endParaRPr lang="en-US" sz="1200" dirty="0"/>
          </a:p>
          <a:p>
            <a:pPr marL="177800" indent="-177800">
              <a:spcAft>
                <a:spcPts val="300"/>
              </a:spcAft>
              <a:buSzPct val="100000"/>
              <a:buChar char="•"/>
            </a:pPr>
            <a:r>
              <a:rPr lang="en-US" sz="1200" dirty="0">
                <a:solidFill>
                  <a:schemeClr val="tx2"/>
                </a:solidFill>
              </a:rPr>
              <a:t>Segnalazione di anomalie</a:t>
            </a:r>
            <a:endParaRPr lang="en-US" sz="1200" dirty="0"/>
          </a:p>
          <a:p>
            <a:pPr marL="177800" indent="-177800">
              <a:spcAft>
                <a:spcPts val="300"/>
              </a:spcAft>
              <a:buSzPct val="100000"/>
              <a:buChar char="•"/>
            </a:pPr>
            <a:r>
              <a:rPr lang="en-US" sz="1200" dirty="0">
                <a:solidFill>
                  <a:schemeClr val="tx2"/>
                </a:solidFill>
              </a:rPr>
              <a:t>Domande sui dati in linguaggio naturale</a:t>
            </a:r>
            <a:endParaRPr lang="en-US" sz="1200" dirty="0"/>
          </a:p>
          <a:p>
            <a:pPr marL="177800" indent="-177800">
              <a:spcAft>
                <a:spcPts val="300"/>
              </a:spcAft>
              <a:buSzPct val="100000"/>
              <a:buChar char="•"/>
            </a:pPr>
            <a:r>
              <a:rPr lang="en-US" sz="1200" dirty="0">
                <a:solidFill>
                  <a:schemeClr val="tx2"/>
                </a:solidFill>
              </a:rPr>
              <a:t>Previsioni</a:t>
            </a:r>
            <a:endParaRPr lang="en-US" sz="1200" dirty="0"/>
          </a:p>
        </p:txBody>
      </p:sp>
      <p:sp>
        <p:nvSpPr>
          <p:cNvPr id="19" name="scheda Vantaggi: dati, flussi e permessi già presenti"/>
          <p:cNvSpPr/>
          <p:nvPr/>
        </p:nvSpPr>
        <p:spPr>
          <a:xfrm>
            <a:off x="457200" y="3017520"/>
            <a:ext cx="3977640" cy="1508760"/>
          </a:xfrm>
          <a:prstGeom prst="roundRect">
            <a:avLst>
              <a:gd name="adj" fmla="val 8421"/>
            </a:avLst>
          </a:prstGeom>
          <a:solidFill>
            <a:schemeClr val="bg2"/>
          </a:solidFill>
          <a:ln/>
        </p:spPr>
        <p:txBody>
          <a:bodyPr/>
          <a:lstStyle/>
          <a:p>
            <a:endParaRPr lang="it-IT"/>
          </a:p>
        </p:txBody>
      </p:sp>
      <p:sp>
        <p:nvSpPr>
          <p:cNvPr id="20" name="Text 14"/>
          <p:cNvSpPr txBox="1"/>
          <p:nvPr/>
        </p:nvSpPr>
        <p:spPr>
          <a:xfrm>
            <a:off x="640080" y="3154680"/>
            <a:ext cx="3611880" cy="1280160"/>
          </a:xfrm>
          <a:prstGeom prst="rect">
            <a:avLst/>
          </a:prstGeom>
          <a:noFill/>
          <a:ln/>
        </p:spPr>
        <p:txBody>
          <a:bodyPr wrap="square" lIns="0" tIns="0" rIns="0" bIns="0" rtlCol="0" anchor="t"/>
          <a:lstStyle/>
          <a:p>
            <a:pPr marL="0" indent="0">
              <a:spcAft>
                <a:spcPts val="300"/>
              </a:spcAft>
              <a:buNone/>
            </a:pPr>
            <a:r>
              <a:rPr lang="it-IT" sz="1300" b="1" dirty="0">
                <a:solidFill>
                  <a:schemeClr val="tx1"/>
                </a:solidFill>
              </a:rPr>
              <a:t>Opportunità</a:t>
            </a:r>
            <a:endParaRPr lang="it-IT" sz="1300" dirty="0"/>
          </a:p>
          <a:p>
            <a:pPr marL="0" indent="0">
              <a:buNone/>
            </a:pPr>
            <a:r>
              <a:rPr lang="it-IT" sz="1150" dirty="0">
                <a:solidFill>
                  <a:schemeClr val="tx2"/>
                </a:solidFill>
              </a:rPr>
              <a:t>Meno attività ripetitive, informazioni trovate più in fretta, documenti preparati prima, supporto all'analisi dei dati, processi più continui.</a:t>
            </a:r>
            <a:endParaRPr lang="it-IT" sz="1150" dirty="0"/>
          </a:p>
        </p:txBody>
      </p:sp>
      <p:sp>
        <p:nvSpPr>
          <p:cNvPr id="21" name="scheda Limiti: scelte del fornitore, licenze, qualità dei dati"/>
          <p:cNvSpPr/>
          <p:nvPr/>
        </p:nvSpPr>
        <p:spPr>
          <a:xfrm>
            <a:off x="4709160" y="3017520"/>
            <a:ext cx="3977640" cy="1508760"/>
          </a:xfrm>
          <a:prstGeom prst="roundRect">
            <a:avLst>
              <a:gd name="adj" fmla="val 8421"/>
            </a:avLst>
          </a:prstGeom>
          <a:solidFill>
            <a:schemeClr val="accent6"/>
          </a:solidFill>
          <a:ln/>
        </p:spPr>
        <p:txBody>
          <a:bodyPr/>
          <a:lstStyle/>
          <a:p>
            <a:endParaRPr lang="it-IT"/>
          </a:p>
        </p:txBody>
      </p:sp>
      <p:sp>
        <p:nvSpPr>
          <p:cNvPr id="22" name="Text 16"/>
          <p:cNvSpPr txBox="1"/>
          <p:nvPr/>
        </p:nvSpPr>
        <p:spPr>
          <a:xfrm>
            <a:off x="4892040" y="3154680"/>
            <a:ext cx="3611880" cy="1280160"/>
          </a:xfrm>
          <a:prstGeom prst="rect">
            <a:avLst/>
          </a:prstGeom>
          <a:noFill/>
          <a:ln/>
        </p:spPr>
        <p:txBody>
          <a:bodyPr wrap="square" lIns="0" tIns="0" rIns="0" bIns="0" rtlCol="0" anchor="t"/>
          <a:lstStyle/>
          <a:p>
            <a:pPr marL="0" indent="0">
              <a:spcAft>
                <a:spcPts val="300"/>
              </a:spcAft>
              <a:buNone/>
            </a:pPr>
            <a:r>
              <a:rPr lang="it-IT" sz="1300" b="1" dirty="0">
                <a:solidFill>
                  <a:schemeClr val="tx1"/>
                </a:solidFill>
              </a:rPr>
              <a:t>Vantaggi e condizioni</a:t>
            </a:r>
            <a:endParaRPr lang="it-IT" sz="1300" dirty="0"/>
          </a:p>
          <a:p>
            <a:pPr marL="0" indent="0">
              <a:buNone/>
            </a:pPr>
            <a:r>
              <a:rPr lang="it-IT" sz="1150" dirty="0">
                <a:solidFill>
                  <a:schemeClr val="tx2"/>
                </a:solidFill>
              </a:rPr>
              <a:t>Lavorano su dati, flussi e permessi già presenti. I risultati dipendono dalle scelte del fornitore, dalle licenze e dalla qualità dei dati.</a:t>
            </a:r>
            <a:endParaRPr lang="it-IT" sz="11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Soluzioni pronte all'uso e personalizzate</a:t>
            </a:r>
            <a:endParaRPr lang="en-US" sz="2600" dirty="0"/>
          </a:p>
        </p:txBody>
      </p:sp>
      <p:sp>
        <p:nvSpPr>
          <p:cNvPr id="4" name="personalizzazione"/>
          <p:cNvSpPr/>
          <p:nvPr/>
        </p:nvSpPr>
        <p:spPr>
          <a:xfrm>
            <a:off x="457200" y="1188720"/>
            <a:ext cx="8229600" cy="0"/>
          </a:xfrm>
          <a:prstGeom prst="line">
            <a:avLst/>
          </a:prstGeom>
          <a:noFill/>
          <a:ln w="25400">
            <a:solidFill>
              <a:schemeClr val="accent2"/>
            </a:solidFill>
            <a:prstDash val="solid"/>
            <a:tailEnd type="triangle"/>
          </a:ln>
        </p:spPr>
        <p:txBody>
          <a:bodyPr/>
          <a:lstStyle/>
          <a:p>
            <a:endParaRPr lang="it-IT"/>
          </a:p>
        </p:txBody>
      </p:sp>
      <p:sp>
        <p:nvSpPr>
          <p:cNvPr id="5" name="Text 2"/>
          <p:cNvSpPr txBox="1"/>
          <p:nvPr/>
        </p:nvSpPr>
        <p:spPr>
          <a:xfrm>
            <a:off x="5943600" y="960120"/>
            <a:ext cx="2743200" cy="228600"/>
          </a:xfrm>
          <a:prstGeom prst="rect">
            <a:avLst/>
          </a:prstGeom>
          <a:noFill/>
          <a:ln/>
        </p:spPr>
        <p:txBody>
          <a:bodyPr wrap="square" lIns="0" tIns="0" rIns="0" bIns="0" rtlCol="0" anchor="t"/>
          <a:lstStyle/>
          <a:p>
            <a:pPr marL="0" indent="0" algn="r">
              <a:buNone/>
            </a:pPr>
            <a:r>
              <a:rPr lang="en-US" sz="1100" b="1" dirty="0">
                <a:solidFill>
                  <a:schemeClr val="accent2"/>
                </a:solidFill>
              </a:rPr>
              <a:t>Personalizzazione crescente</a:t>
            </a:r>
            <a:endParaRPr lang="en-US" sz="1100" dirty="0"/>
          </a:p>
        </p:txBody>
      </p:sp>
      <p:sp>
        <p:nvSpPr>
          <p:cNvPr id="6" name="Pronte all'uso"/>
          <p:cNvSpPr/>
          <p:nvPr/>
        </p:nvSpPr>
        <p:spPr>
          <a:xfrm>
            <a:off x="457200" y="1417320"/>
            <a:ext cx="2615184" cy="3108960"/>
          </a:xfrm>
          <a:prstGeom prst="roundRect">
            <a:avLst>
              <a:gd name="adj" fmla="val 2797"/>
            </a:avLst>
          </a:prstGeom>
          <a:solidFill>
            <a:schemeClr val="bg2"/>
          </a:solidFill>
          <a:ln/>
        </p:spPr>
        <p:txBody>
          <a:bodyPr/>
          <a:lstStyle/>
          <a:p>
            <a:endParaRPr lang="it-IT"/>
          </a:p>
        </p:txBody>
      </p:sp>
      <p:sp>
        <p:nvSpPr>
          <p:cNvPr id="7" name="Text 4"/>
          <p:cNvSpPr txBox="1"/>
          <p:nvPr/>
        </p:nvSpPr>
        <p:spPr>
          <a:xfrm>
            <a:off x="640080" y="1554480"/>
            <a:ext cx="2249424" cy="594360"/>
          </a:xfrm>
          <a:prstGeom prst="rect">
            <a:avLst/>
          </a:prstGeom>
          <a:noFill/>
          <a:ln/>
        </p:spPr>
        <p:txBody>
          <a:bodyPr wrap="square" lIns="0" tIns="0" rIns="0" bIns="0" rtlCol="0" anchor="t"/>
          <a:lstStyle/>
          <a:p>
            <a:pPr marL="0" indent="0">
              <a:buNone/>
            </a:pPr>
            <a:r>
              <a:rPr lang="en-US" sz="1600" b="1" dirty="0">
                <a:solidFill>
                  <a:schemeClr val="tx1"/>
                </a:solidFill>
              </a:rPr>
              <a:t>Pronte all'uso</a:t>
            </a:r>
            <a:endParaRPr lang="en-US" sz="1600" dirty="0"/>
          </a:p>
        </p:txBody>
      </p:sp>
      <p:sp>
        <p:nvSpPr>
          <p:cNvPr id="8" name="Text 5"/>
          <p:cNvSpPr txBox="1"/>
          <p:nvPr/>
        </p:nvSpPr>
        <p:spPr>
          <a:xfrm>
            <a:off x="640080" y="2194560"/>
            <a:ext cx="2249424" cy="731520"/>
          </a:xfrm>
          <a:prstGeom prst="rect">
            <a:avLst/>
          </a:prstGeom>
          <a:noFill/>
          <a:ln/>
        </p:spPr>
        <p:txBody>
          <a:bodyPr wrap="square" lIns="0" tIns="0" rIns="0" bIns="0" rtlCol="0" anchor="t"/>
          <a:lstStyle/>
          <a:p>
            <a:pPr marL="0" indent="0">
              <a:buNone/>
            </a:pPr>
            <a:r>
              <a:rPr lang="en-US" sz="1300" dirty="0">
                <a:solidFill>
                  <a:schemeClr val="tx1"/>
                </a:solidFill>
              </a:rPr>
              <a:t>Si attivano e si usano così come sono</a:t>
            </a:r>
            <a:endParaRPr lang="en-US" sz="1300" dirty="0"/>
          </a:p>
        </p:txBody>
      </p:sp>
      <p:sp>
        <p:nvSpPr>
          <p:cNvPr id="9" name="Text 6"/>
          <p:cNvSpPr txBox="1"/>
          <p:nvPr/>
        </p:nvSpPr>
        <p:spPr>
          <a:xfrm>
            <a:off x="640080" y="3063240"/>
            <a:ext cx="2249424" cy="12801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Rapide, costi prevedibili</a:t>
            </a:r>
            <a:endParaRPr lang="en-US" sz="1200" dirty="0"/>
          </a:p>
          <a:p>
            <a:pPr marL="177800" indent="-177800">
              <a:spcAft>
                <a:spcPts val="400"/>
              </a:spcAft>
              <a:buSzPct val="100000"/>
              <a:buChar char="•"/>
            </a:pPr>
            <a:r>
              <a:rPr lang="en-US" sz="1200" dirty="0">
                <a:solidFill>
                  <a:schemeClr val="tx2"/>
                </a:solidFill>
              </a:rPr>
              <a:t>Adattamento limitato</a:t>
            </a:r>
            <a:endParaRPr lang="en-US" sz="1200" dirty="0"/>
          </a:p>
        </p:txBody>
      </p:sp>
      <p:sp>
        <p:nvSpPr>
          <p:cNvPr id="10" name="Configurate senza sviluppo"/>
          <p:cNvSpPr/>
          <p:nvPr/>
        </p:nvSpPr>
        <p:spPr>
          <a:xfrm>
            <a:off x="3264408" y="1417320"/>
            <a:ext cx="2615184" cy="3108960"/>
          </a:xfrm>
          <a:prstGeom prst="roundRect">
            <a:avLst>
              <a:gd name="adj" fmla="val 2797"/>
            </a:avLst>
          </a:prstGeom>
          <a:solidFill>
            <a:schemeClr val="accent6"/>
          </a:solidFill>
          <a:ln/>
        </p:spPr>
        <p:txBody>
          <a:bodyPr/>
          <a:lstStyle/>
          <a:p>
            <a:endParaRPr lang="it-IT"/>
          </a:p>
        </p:txBody>
      </p:sp>
      <p:sp>
        <p:nvSpPr>
          <p:cNvPr id="11" name="Text 8"/>
          <p:cNvSpPr txBox="1"/>
          <p:nvPr/>
        </p:nvSpPr>
        <p:spPr>
          <a:xfrm>
            <a:off x="3447288" y="1554480"/>
            <a:ext cx="2249424" cy="594360"/>
          </a:xfrm>
          <a:prstGeom prst="rect">
            <a:avLst/>
          </a:prstGeom>
          <a:noFill/>
          <a:ln/>
        </p:spPr>
        <p:txBody>
          <a:bodyPr wrap="square" lIns="0" tIns="0" rIns="0" bIns="0" rtlCol="0" anchor="t"/>
          <a:lstStyle/>
          <a:p>
            <a:pPr marL="0" indent="0">
              <a:buNone/>
            </a:pPr>
            <a:r>
              <a:rPr lang="en-US" sz="1600" b="1" dirty="0">
                <a:solidFill>
                  <a:schemeClr val="tx1"/>
                </a:solidFill>
              </a:rPr>
              <a:t>Configurate senza sviluppo</a:t>
            </a:r>
            <a:endParaRPr lang="en-US" sz="1600" dirty="0"/>
          </a:p>
        </p:txBody>
      </p:sp>
      <p:sp>
        <p:nvSpPr>
          <p:cNvPr id="12" name="Text 9"/>
          <p:cNvSpPr txBox="1"/>
          <p:nvPr/>
        </p:nvSpPr>
        <p:spPr>
          <a:xfrm>
            <a:off x="3447288" y="2194560"/>
            <a:ext cx="2249424" cy="731520"/>
          </a:xfrm>
          <a:prstGeom prst="rect">
            <a:avLst/>
          </a:prstGeom>
          <a:noFill/>
          <a:ln/>
        </p:spPr>
        <p:txBody>
          <a:bodyPr wrap="square" lIns="0" tIns="0" rIns="0" bIns="0" rtlCol="0" anchor="t"/>
          <a:lstStyle/>
          <a:p>
            <a:pPr marL="0" indent="0">
              <a:buNone/>
            </a:pPr>
            <a:r>
              <a:rPr lang="en-US" sz="1300" dirty="0">
                <a:solidFill>
                  <a:schemeClr val="tx1"/>
                </a:solidFill>
              </a:rPr>
              <a:t>Assistenti con istruzioni, documenti e fonti proprie</a:t>
            </a:r>
            <a:endParaRPr lang="en-US" sz="1300" dirty="0"/>
          </a:p>
        </p:txBody>
      </p:sp>
      <p:sp>
        <p:nvSpPr>
          <p:cNvPr id="13" name="Text 10"/>
          <p:cNvSpPr txBox="1"/>
          <p:nvPr/>
        </p:nvSpPr>
        <p:spPr>
          <a:xfrm>
            <a:off x="3447288" y="3063240"/>
            <a:ext cx="2249424" cy="12801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Buon adattamento, tempi brevi</a:t>
            </a:r>
            <a:endParaRPr lang="en-US" sz="1200" dirty="0"/>
          </a:p>
          <a:p>
            <a:pPr marL="177800" indent="-177800">
              <a:spcAft>
                <a:spcPts val="400"/>
              </a:spcAft>
              <a:buSzPct val="100000"/>
              <a:buChar char="•"/>
            </a:pPr>
            <a:r>
              <a:rPr lang="en-US" sz="1200" dirty="0">
                <a:solidFill>
                  <a:schemeClr val="tx2"/>
                </a:solidFill>
              </a:rPr>
              <a:t>Nei limiti dello strumento</a:t>
            </a:r>
            <a:endParaRPr lang="en-US" sz="1200" dirty="0"/>
          </a:p>
        </p:txBody>
      </p:sp>
      <p:sp>
        <p:nvSpPr>
          <p:cNvPr id="14" name="Personalizzate"/>
          <p:cNvSpPr/>
          <p:nvPr/>
        </p:nvSpPr>
        <p:spPr>
          <a:xfrm>
            <a:off x="6071616" y="1417320"/>
            <a:ext cx="2615184" cy="3108960"/>
          </a:xfrm>
          <a:prstGeom prst="roundRect">
            <a:avLst>
              <a:gd name="adj" fmla="val 2797"/>
            </a:avLst>
          </a:prstGeom>
          <a:solidFill>
            <a:schemeClr val="bg2"/>
          </a:solidFill>
          <a:ln/>
        </p:spPr>
        <p:txBody>
          <a:bodyPr/>
          <a:lstStyle/>
          <a:p>
            <a:endParaRPr lang="it-IT"/>
          </a:p>
        </p:txBody>
      </p:sp>
      <p:sp>
        <p:nvSpPr>
          <p:cNvPr id="15" name="Text 12"/>
          <p:cNvSpPr txBox="1"/>
          <p:nvPr/>
        </p:nvSpPr>
        <p:spPr>
          <a:xfrm>
            <a:off x="6254496" y="1554480"/>
            <a:ext cx="2249424" cy="594360"/>
          </a:xfrm>
          <a:prstGeom prst="rect">
            <a:avLst/>
          </a:prstGeom>
          <a:noFill/>
          <a:ln/>
        </p:spPr>
        <p:txBody>
          <a:bodyPr wrap="square" lIns="0" tIns="0" rIns="0" bIns="0" rtlCol="0" anchor="t"/>
          <a:lstStyle/>
          <a:p>
            <a:pPr marL="0" indent="0">
              <a:buNone/>
            </a:pPr>
            <a:r>
              <a:rPr lang="en-US" sz="1600" b="1" dirty="0">
                <a:solidFill>
                  <a:schemeClr val="tx1"/>
                </a:solidFill>
              </a:rPr>
              <a:t>Personalizzate</a:t>
            </a:r>
            <a:endParaRPr lang="en-US" sz="1600" dirty="0"/>
          </a:p>
        </p:txBody>
      </p:sp>
      <p:sp>
        <p:nvSpPr>
          <p:cNvPr id="16" name="Text 13"/>
          <p:cNvSpPr txBox="1"/>
          <p:nvPr/>
        </p:nvSpPr>
        <p:spPr>
          <a:xfrm>
            <a:off x="6254496" y="2194560"/>
            <a:ext cx="2249424" cy="731520"/>
          </a:xfrm>
          <a:prstGeom prst="rect">
            <a:avLst/>
          </a:prstGeom>
          <a:noFill/>
          <a:ln/>
        </p:spPr>
        <p:txBody>
          <a:bodyPr wrap="square" lIns="0" tIns="0" rIns="0" bIns="0" rtlCol="0" anchor="t"/>
          <a:lstStyle/>
          <a:p>
            <a:pPr marL="0" indent="0">
              <a:buNone/>
            </a:pPr>
            <a:r>
              <a:rPr lang="en-US" sz="1300" dirty="0">
                <a:solidFill>
                  <a:schemeClr val="tx1"/>
                </a:solidFill>
              </a:rPr>
              <a:t>Adattate o costruite per l'azienda</a:t>
            </a:r>
            <a:endParaRPr lang="en-US" sz="1300" dirty="0"/>
          </a:p>
        </p:txBody>
      </p:sp>
      <p:sp>
        <p:nvSpPr>
          <p:cNvPr id="17" name="Text 14"/>
          <p:cNvSpPr txBox="1"/>
          <p:nvPr/>
        </p:nvSpPr>
        <p:spPr>
          <a:xfrm>
            <a:off x="6254496" y="3063240"/>
            <a:ext cx="2249424" cy="12801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Massimo adattamento</a:t>
            </a:r>
            <a:endParaRPr lang="en-US" sz="1200" dirty="0"/>
          </a:p>
          <a:p>
            <a:pPr marL="177800" indent="-177800">
              <a:spcAft>
                <a:spcPts val="400"/>
              </a:spcAft>
              <a:buSzPct val="100000"/>
              <a:buChar char="•"/>
            </a:pPr>
            <a:r>
              <a:rPr lang="en-US" sz="1200" dirty="0">
                <a:solidFill>
                  <a:schemeClr val="tx2"/>
                </a:solidFill>
              </a:rPr>
              <a:t>Tempi, competenze, manutenzione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Usare uno strumento o integrare l'AI in un processo</a:t>
            </a:r>
            <a:endParaRPr lang="en-US" sz="2600" dirty="0"/>
          </a:p>
        </p:txBody>
      </p:sp>
      <p:sp>
        <p:nvSpPr>
          <p:cNvPr id="4" name="scheda Usare uno strumento"/>
          <p:cNvSpPr/>
          <p:nvPr/>
        </p:nvSpPr>
        <p:spPr>
          <a:xfrm>
            <a:off x="457200" y="1097280"/>
            <a:ext cx="3977640" cy="2743200"/>
          </a:xfrm>
          <a:prstGeom prst="roundRect">
            <a:avLst>
              <a:gd name="adj" fmla="val 2667"/>
            </a:avLst>
          </a:prstGeom>
          <a:solidFill>
            <a:schemeClr val="bg2"/>
          </a:solidFill>
          <a:ln/>
        </p:spPr>
        <p:txBody>
          <a:bodyPr/>
          <a:lstStyle/>
          <a:p>
            <a:endParaRPr lang="it-IT"/>
          </a:p>
        </p:txBody>
      </p:sp>
      <p:sp>
        <p:nvSpPr>
          <p:cNvPr id="5" name="cerchio FiUser"/>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Use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Usare uno strumento</a:t>
            </a:r>
            <a:endParaRPr lang="en-US" sz="1600" dirty="0"/>
          </a:p>
        </p:txBody>
      </p:sp>
      <p:sp>
        <p:nvSpPr>
          <p:cNvPr id="8" name="Text 4"/>
          <p:cNvSpPr txBox="1"/>
          <p:nvPr/>
        </p:nvSpPr>
        <p:spPr>
          <a:xfrm>
            <a:off x="640080" y="2231136"/>
            <a:ext cx="3611880" cy="1499616"/>
          </a:xfrm>
          <a:prstGeom prst="rect">
            <a:avLst/>
          </a:prstGeom>
          <a:noFill/>
          <a:ln/>
        </p:spPr>
        <p:txBody>
          <a:bodyPr wrap="square" lIns="0" tIns="0" rIns="0" bIns="0" rtlCol="0" anchor="t"/>
          <a:lstStyle/>
          <a:p>
            <a:pPr marL="177800" indent="-177800">
              <a:spcAft>
                <a:spcPts val="300"/>
              </a:spcAft>
              <a:buSzPct val="100000"/>
              <a:buChar char="•"/>
            </a:pPr>
            <a:r>
              <a:rPr lang="it-IT" sz="1200" dirty="0">
                <a:solidFill>
                  <a:schemeClr val="tx2"/>
                </a:solidFill>
              </a:rPr>
              <a:t>Una persona usa un assistente per migliorare una singola attività</a:t>
            </a:r>
            <a:endParaRPr lang="it-IT" sz="1200" dirty="0"/>
          </a:p>
          <a:p>
            <a:pPr marL="177800" indent="-177800">
              <a:spcAft>
                <a:spcPts val="300"/>
              </a:spcAft>
              <a:buSzPct val="100000"/>
              <a:buChar char="•"/>
            </a:pPr>
            <a:r>
              <a:rPr lang="it-IT" sz="1200" dirty="0">
                <a:solidFill>
                  <a:schemeClr val="tx2"/>
                </a:solidFill>
              </a:rPr>
              <a:t>Il processo non cambia</a:t>
            </a:r>
            <a:endParaRPr lang="it-IT" sz="1200" dirty="0"/>
          </a:p>
          <a:p>
            <a:pPr marL="177800" indent="-177800">
              <a:spcAft>
                <a:spcPts val="300"/>
              </a:spcAft>
              <a:buSzPct val="100000"/>
              <a:buChar char="•"/>
            </a:pPr>
            <a:r>
              <a:rPr lang="it-IT" sz="1200" dirty="0">
                <a:solidFill>
                  <a:schemeClr val="tx2"/>
                </a:solidFill>
              </a:rPr>
              <a:t>Benefici rapidi, legati a iniziativa e competenza dei singoli</a:t>
            </a:r>
            <a:endParaRPr lang="it-IT" sz="1200" dirty="0"/>
          </a:p>
          <a:p>
            <a:pPr marL="177800" indent="-177800">
              <a:spcAft>
                <a:spcPts val="300"/>
              </a:spcAft>
              <a:buSzPct val="100000"/>
              <a:buChar char="•"/>
            </a:pPr>
            <a:r>
              <a:rPr lang="it-IT" sz="1200" dirty="0">
                <a:solidFill>
                  <a:schemeClr val="tx2"/>
                </a:solidFill>
              </a:rPr>
              <a:t>Impegno contenuto</a:t>
            </a:r>
            <a:endParaRPr lang="it-IT" sz="1200" dirty="0"/>
          </a:p>
        </p:txBody>
      </p:sp>
      <p:sp>
        <p:nvSpPr>
          <p:cNvPr id="9" name="scheda Integrare l'AI in un processo"/>
          <p:cNvSpPr/>
          <p:nvPr/>
        </p:nvSpPr>
        <p:spPr>
          <a:xfrm>
            <a:off x="4709160" y="1097280"/>
            <a:ext cx="3977640" cy="2743200"/>
          </a:xfrm>
          <a:prstGeom prst="roundRect">
            <a:avLst>
              <a:gd name="adj" fmla="val 2667"/>
            </a:avLst>
          </a:prstGeom>
          <a:solidFill>
            <a:schemeClr val="accent6"/>
          </a:solidFill>
          <a:ln/>
        </p:spPr>
        <p:txBody>
          <a:bodyPr/>
          <a:lstStyle/>
          <a:p>
            <a:endParaRPr lang="it-IT"/>
          </a:p>
        </p:txBody>
      </p:sp>
      <p:sp>
        <p:nvSpPr>
          <p:cNvPr id="10" name="cerchio FiGitBranch"/>
          <p:cNvSpPr/>
          <p:nvPr/>
        </p:nvSpPr>
        <p:spPr>
          <a:xfrm>
            <a:off x="4892040" y="1280160"/>
            <a:ext cx="457200" cy="457200"/>
          </a:xfrm>
          <a:prstGeom prst="ellipse">
            <a:avLst/>
          </a:prstGeom>
          <a:solidFill>
            <a:schemeClr val="accent1"/>
          </a:solidFill>
          <a:ln/>
        </p:spPr>
        <p:txBody>
          <a:bodyPr/>
          <a:lstStyle/>
          <a:p>
            <a:endParaRPr lang="it-IT"/>
          </a:p>
        </p:txBody>
      </p:sp>
      <p:pic>
        <p:nvPicPr>
          <p:cNvPr id="11" name="Image 1" descr="FiGitBranch"/>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Integrare l'AI in un processo</a:t>
            </a:r>
            <a:endParaRPr lang="en-US" sz="1600" dirty="0"/>
          </a:p>
        </p:txBody>
      </p:sp>
      <p:sp>
        <p:nvSpPr>
          <p:cNvPr id="13" name="Text 8"/>
          <p:cNvSpPr txBox="1"/>
          <p:nvPr/>
        </p:nvSpPr>
        <p:spPr>
          <a:xfrm>
            <a:off x="4892040" y="2231136"/>
            <a:ext cx="3611880" cy="1499616"/>
          </a:xfrm>
          <a:prstGeom prst="rect">
            <a:avLst/>
          </a:prstGeom>
          <a:noFill/>
          <a:ln/>
        </p:spPr>
        <p:txBody>
          <a:bodyPr wrap="square" lIns="0" tIns="0" rIns="0" bIns="0" rtlCol="0" anchor="t"/>
          <a:lstStyle/>
          <a:p>
            <a:pPr marL="177800" indent="-177800">
              <a:spcAft>
                <a:spcPts val="300"/>
              </a:spcAft>
              <a:buSzPct val="100000"/>
              <a:buChar char="•"/>
            </a:pPr>
            <a:r>
              <a:rPr lang="it-IT" sz="1200" dirty="0">
                <a:solidFill>
                  <a:schemeClr val="tx2"/>
                </a:solidFill>
              </a:rPr>
              <a:t>L'AI entra in modo sistematico in uno o più passaggi</a:t>
            </a:r>
            <a:endParaRPr lang="it-IT" sz="1200" dirty="0"/>
          </a:p>
          <a:p>
            <a:pPr marL="177800" indent="-177800">
              <a:spcAft>
                <a:spcPts val="300"/>
              </a:spcAft>
              <a:buSzPct val="100000"/>
              <a:buChar char="•"/>
            </a:pPr>
            <a:r>
              <a:rPr lang="it-IT" sz="1200" dirty="0">
                <a:solidFill>
                  <a:schemeClr val="tx2"/>
                </a:solidFill>
              </a:rPr>
              <a:t>Cambiano processo, ruoli e controlli</a:t>
            </a:r>
            <a:endParaRPr lang="it-IT" sz="1200" dirty="0"/>
          </a:p>
          <a:p>
            <a:pPr marL="177800" indent="-177800">
              <a:spcAft>
                <a:spcPts val="300"/>
              </a:spcAft>
              <a:buSzPct val="100000"/>
              <a:buChar char="•"/>
            </a:pPr>
            <a:r>
              <a:rPr lang="it-IT" sz="1200" dirty="0">
                <a:solidFill>
                  <a:schemeClr val="tx2"/>
                </a:solidFill>
              </a:rPr>
              <a:t>Servono integrazione, regole, monitoraggio</a:t>
            </a:r>
            <a:endParaRPr lang="it-IT" sz="1200" dirty="0"/>
          </a:p>
          <a:p>
            <a:pPr marL="177800" indent="-177800">
              <a:spcAft>
                <a:spcPts val="300"/>
              </a:spcAft>
              <a:buSzPct val="100000"/>
              <a:buChar char="•"/>
            </a:pPr>
            <a:r>
              <a:rPr lang="it-IT" sz="1200" dirty="0">
                <a:solidFill>
                  <a:schemeClr val="tx2"/>
                </a:solidFill>
              </a:rPr>
              <a:t>Benefici più ampi e misurabili, con più impegno</a:t>
            </a:r>
            <a:endParaRPr lang="it-IT" sz="1200" dirty="0"/>
          </a:p>
        </p:txBody>
      </p:sp>
      <p:sp>
        <p:nvSpPr>
          <p:cNvPr id="14"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15" name="Text 10"/>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300" dirty="0">
                <a:solidFill>
                  <a:schemeClr val="bg1"/>
                </a:solidFill>
              </a:rPr>
              <a:t>Sono complementari: l'uso individuale porta benefici subito e fa emergere dove integrare l'AI nei processi vale la pena.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34</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4.5</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Chatbot, assistenti, agenti e automazioni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Conversare, ricevere assistenza, automatizzare e delegare sono modalità e livelli di autonomia differenti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Uno spettro di autonomia</a:t>
            </a:r>
            <a:endParaRPr lang="en-US" sz="2600" dirty="0"/>
          </a:p>
        </p:txBody>
      </p:sp>
      <p:sp>
        <p:nvSpPr>
          <p:cNvPr id="4" name="autonomia"/>
          <p:cNvSpPr/>
          <p:nvPr/>
        </p:nvSpPr>
        <p:spPr>
          <a:xfrm>
            <a:off x="457200" y="1188720"/>
            <a:ext cx="8229600" cy="0"/>
          </a:xfrm>
          <a:prstGeom prst="line">
            <a:avLst/>
          </a:prstGeom>
          <a:noFill/>
          <a:ln w="25400">
            <a:solidFill>
              <a:schemeClr val="accent2"/>
            </a:solidFill>
            <a:prstDash val="solid"/>
            <a:tailEnd type="triangle"/>
          </a:ln>
        </p:spPr>
        <p:txBody>
          <a:bodyPr/>
          <a:lstStyle/>
          <a:p>
            <a:endParaRPr lang="it-IT"/>
          </a:p>
        </p:txBody>
      </p:sp>
      <p:sp>
        <p:nvSpPr>
          <p:cNvPr id="5" name="Text 2"/>
          <p:cNvSpPr txBox="1"/>
          <p:nvPr/>
        </p:nvSpPr>
        <p:spPr>
          <a:xfrm>
            <a:off x="457200" y="960120"/>
            <a:ext cx="8229600" cy="228600"/>
          </a:xfrm>
          <a:prstGeom prst="rect">
            <a:avLst/>
          </a:prstGeom>
          <a:noFill/>
          <a:ln/>
        </p:spPr>
        <p:txBody>
          <a:bodyPr wrap="square" lIns="0" tIns="0" rIns="0" bIns="0" rtlCol="0" anchor="b"/>
          <a:lstStyle/>
          <a:p>
            <a:pPr marL="0" indent="0" algn="r">
              <a:buNone/>
            </a:pPr>
            <a:r>
              <a:rPr lang="it-IT" sz="900" b="1" dirty="0">
                <a:solidFill>
                  <a:schemeClr val="accent2"/>
                </a:solidFill>
              </a:rPr>
              <a:t>Autonomia crescente  ·  una semplificazione didattica: nei prodotti reali i confini si sovrappongono</a:t>
            </a:r>
            <a:endParaRPr lang="it-IT" sz="900" dirty="0"/>
          </a:p>
        </p:txBody>
      </p:sp>
      <p:sp>
        <p:nvSpPr>
          <p:cNvPr id="6" name="Chatbot"/>
          <p:cNvSpPr/>
          <p:nvPr/>
        </p:nvSpPr>
        <p:spPr>
          <a:xfrm>
            <a:off x="457200" y="1417320"/>
            <a:ext cx="1965960" cy="1920240"/>
          </a:xfrm>
          <a:prstGeom prst="roundRect">
            <a:avLst>
              <a:gd name="adj" fmla="val 3810"/>
            </a:avLst>
          </a:prstGeom>
          <a:solidFill>
            <a:schemeClr val="bg2"/>
          </a:solidFill>
          <a:ln/>
        </p:spPr>
        <p:txBody>
          <a:bodyPr/>
          <a:lstStyle/>
          <a:p>
            <a:endParaRPr lang="it-IT"/>
          </a:p>
        </p:txBody>
      </p:sp>
      <p:sp>
        <p:nvSpPr>
          <p:cNvPr id="7" name="cerchio FiMessageCircle"/>
          <p:cNvSpPr/>
          <p:nvPr/>
        </p:nvSpPr>
        <p:spPr>
          <a:xfrm>
            <a:off x="1170432" y="1554480"/>
            <a:ext cx="548640" cy="548640"/>
          </a:xfrm>
          <a:prstGeom prst="ellipse">
            <a:avLst/>
          </a:prstGeom>
          <a:solidFill>
            <a:schemeClr val="accent1"/>
          </a:solidFill>
          <a:ln/>
        </p:spPr>
        <p:txBody>
          <a:bodyPr/>
          <a:lstStyle/>
          <a:p>
            <a:endParaRPr lang="it-IT"/>
          </a:p>
        </p:txBody>
      </p:sp>
      <p:pic>
        <p:nvPicPr>
          <p:cNvPr id="8" name="Image 0" descr="FiMessageCircle"/>
          <p:cNvPicPr>
            <a:picLocks noChangeAspect="1"/>
          </p:cNvPicPr>
          <p:nvPr/>
        </p:nvPicPr>
        <p:blipFill>
          <a:blip r:embed="rId3"/>
          <a:stretch>
            <a:fillRect/>
          </a:stretch>
        </p:blipFill>
        <p:spPr>
          <a:xfrm>
            <a:off x="1307592" y="1691640"/>
            <a:ext cx="274320" cy="274320"/>
          </a:xfrm>
          <a:prstGeom prst="rect">
            <a:avLst/>
          </a:prstGeom>
        </p:spPr>
      </p:pic>
      <p:sp>
        <p:nvSpPr>
          <p:cNvPr id="9" name="Text 5"/>
          <p:cNvSpPr txBox="1"/>
          <p:nvPr/>
        </p:nvSpPr>
        <p:spPr>
          <a:xfrm>
            <a:off x="548640" y="2194560"/>
            <a:ext cx="1783080" cy="502920"/>
          </a:xfrm>
          <a:prstGeom prst="rect">
            <a:avLst/>
          </a:prstGeom>
          <a:noFill/>
          <a:ln/>
        </p:spPr>
        <p:txBody>
          <a:bodyPr wrap="square" lIns="0" tIns="0" rIns="0" bIns="0" rtlCol="0" anchor="ctr"/>
          <a:lstStyle/>
          <a:p>
            <a:pPr marL="0" indent="0" algn="ctr">
              <a:buNone/>
            </a:pPr>
            <a:r>
              <a:rPr lang="en-US" sz="1400" b="1" dirty="0">
                <a:solidFill>
                  <a:schemeClr val="tx1"/>
                </a:solidFill>
              </a:rPr>
              <a:t>Chatbot</a:t>
            </a:r>
            <a:endParaRPr lang="en-US" sz="1400" dirty="0"/>
          </a:p>
        </p:txBody>
      </p:sp>
      <p:sp>
        <p:nvSpPr>
          <p:cNvPr id="10" name="Text 6"/>
          <p:cNvSpPr txBox="1"/>
          <p:nvPr/>
        </p:nvSpPr>
        <p:spPr>
          <a:xfrm>
            <a:off x="548640" y="2697480"/>
            <a:ext cx="1783080" cy="594360"/>
          </a:xfrm>
          <a:prstGeom prst="rect">
            <a:avLst/>
          </a:prstGeom>
          <a:noFill/>
          <a:ln/>
        </p:spPr>
        <p:txBody>
          <a:bodyPr wrap="square" lIns="0" tIns="0" rIns="0" bIns="0" rtlCol="0" anchor="t"/>
          <a:lstStyle/>
          <a:p>
            <a:pPr marL="0" indent="0" algn="ctr">
              <a:buNone/>
            </a:pPr>
            <a:r>
              <a:rPr lang="en-US" sz="1200" dirty="0">
                <a:solidFill>
                  <a:schemeClr val="tx2"/>
                </a:solidFill>
              </a:rPr>
              <a:t>Conversa, risponde</a:t>
            </a:r>
            <a:endParaRPr lang="en-US" sz="1200" dirty="0"/>
          </a:p>
        </p:txBody>
      </p:sp>
      <p:sp>
        <p:nvSpPr>
          <p:cNvPr id="11" name="Assistente configurato"/>
          <p:cNvSpPr/>
          <p:nvPr/>
        </p:nvSpPr>
        <p:spPr>
          <a:xfrm>
            <a:off x="2560320" y="1417320"/>
            <a:ext cx="1965960" cy="1920240"/>
          </a:xfrm>
          <a:prstGeom prst="roundRect">
            <a:avLst>
              <a:gd name="adj" fmla="val 3810"/>
            </a:avLst>
          </a:prstGeom>
          <a:solidFill>
            <a:schemeClr val="bg2"/>
          </a:solidFill>
          <a:ln/>
        </p:spPr>
        <p:txBody>
          <a:bodyPr/>
          <a:lstStyle/>
          <a:p>
            <a:endParaRPr lang="it-IT"/>
          </a:p>
        </p:txBody>
      </p:sp>
      <p:sp>
        <p:nvSpPr>
          <p:cNvPr id="12" name="cerchio FiUserCheck"/>
          <p:cNvSpPr/>
          <p:nvPr/>
        </p:nvSpPr>
        <p:spPr>
          <a:xfrm>
            <a:off x="3273552" y="1554480"/>
            <a:ext cx="548640" cy="548640"/>
          </a:xfrm>
          <a:prstGeom prst="ellipse">
            <a:avLst/>
          </a:prstGeom>
          <a:solidFill>
            <a:schemeClr val="accent1"/>
          </a:solidFill>
          <a:ln/>
        </p:spPr>
        <p:txBody>
          <a:bodyPr/>
          <a:lstStyle/>
          <a:p>
            <a:endParaRPr lang="it-IT"/>
          </a:p>
        </p:txBody>
      </p:sp>
      <p:pic>
        <p:nvPicPr>
          <p:cNvPr id="13" name="Image 1" descr="FiUserCheck"/>
          <p:cNvPicPr>
            <a:picLocks noChangeAspect="1"/>
          </p:cNvPicPr>
          <p:nvPr/>
        </p:nvPicPr>
        <p:blipFill>
          <a:blip r:embed="rId4"/>
          <a:stretch>
            <a:fillRect/>
          </a:stretch>
        </p:blipFill>
        <p:spPr>
          <a:xfrm>
            <a:off x="3410712" y="1691640"/>
            <a:ext cx="274320" cy="274320"/>
          </a:xfrm>
          <a:prstGeom prst="rect">
            <a:avLst/>
          </a:prstGeom>
        </p:spPr>
      </p:pic>
      <p:sp>
        <p:nvSpPr>
          <p:cNvPr id="14" name="Text 9"/>
          <p:cNvSpPr txBox="1"/>
          <p:nvPr/>
        </p:nvSpPr>
        <p:spPr>
          <a:xfrm>
            <a:off x="2651760" y="2194560"/>
            <a:ext cx="1783080" cy="502920"/>
          </a:xfrm>
          <a:prstGeom prst="rect">
            <a:avLst/>
          </a:prstGeom>
          <a:noFill/>
          <a:ln/>
        </p:spPr>
        <p:txBody>
          <a:bodyPr wrap="square" lIns="0" tIns="0" rIns="0" bIns="0" rtlCol="0" anchor="ctr"/>
          <a:lstStyle/>
          <a:p>
            <a:pPr marL="0" indent="0" algn="ctr">
              <a:buNone/>
            </a:pPr>
            <a:r>
              <a:rPr lang="en-US" sz="1400" b="1" dirty="0">
                <a:solidFill>
                  <a:schemeClr val="tx1"/>
                </a:solidFill>
              </a:rPr>
              <a:t>Assistente configurato</a:t>
            </a:r>
            <a:endParaRPr lang="en-US" sz="1400" dirty="0"/>
          </a:p>
        </p:txBody>
      </p:sp>
      <p:sp>
        <p:nvSpPr>
          <p:cNvPr id="15" name="Text 10"/>
          <p:cNvSpPr txBox="1"/>
          <p:nvPr/>
        </p:nvSpPr>
        <p:spPr>
          <a:xfrm>
            <a:off x="2651760" y="2697480"/>
            <a:ext cx="1783080" cy="594360"/>
          </a:xfrm>
          <a:prstGeom prst="rect">
            <a:avLst/>
          </a:prstGeom>
          <a:noFill/>
          <a:ln/>
        </p:spPr>
        <p:txBody>
          <a:bodyPr wrap="square" lIns="0" tIns="0" rIns="0" bIns="0" rtlCol="0" anchor="t"/>
          <a:lstStyle/>
          <a:p>
            <a:pPr marL="0" indent="0" algn="ctr">
              <a:buNone/>
            </a:pPr>
            <a:r>
              <a:rPr lang="en-US" sz="1200" dirty="0">
                <a:solidFill>
                  <a:schemeClr val="tx2"/>
                </a:solidFill>
              </a:rPr>
              <a:t>Adattato a un compito</a:t>
            </a:r>
            <a:endParaRPr lang="en-US" sz="1200" dirty="0"/>
          </a:p>
        </p:txBody>
      </p:sp>
      <p:sp>
        <p:nvSpPr>
          <p:cNvPr id="16" name="Sistema con strumenti"/>
          <p:cNvSpPr/>
          <p:nvPr/>
        </p:nvSpPr>
        <p:spPr>
          <a:xfrm>
            <a:off x="4663440" y="1417320"/>
            <a:ext cx="1965960" cy="1920240"/>
          </a:xfrm>
          <a:prstGeom prst="roundRect">
            <a:avLst>
              <a:gd name="adj" fmla="val 3810"/>
            </a:avLst>
          </a:prstGeom>
          <a:solidFill>
            <a:schemeClr val="accent6"/>
          </a:solidFill>
          <a:ln/>
        </p:spPr>
        <p:txBody>
          <a:bodyPr/>
          <a:lstStyle/>
          <a:p>
            <a:endParaRPr lang="it-IT"/>
          </a:p>
        </p:txBody>
      </p:sp>
      <p:sp>
        <p:nvSpPr>
          <p:cNvPr id="17" name="cerchio FiTool"/>
          <p:cNvSpPr/>
          <p:nvPr/>
        </p:nvSpPr>
        <p:spPr>
          <a:xfrm>
            <a:off x="5376672" y="1554480"/>
            <a:ext cx="548640" cy="548640"/>
          </a:xfrm>
          <a:prstGeom prst="ellipse">
            <a:avLst/>
          </a:prstGeom>
          <a:solidFill>
            <a:schemeClr val="accent1"/>
          </a:solidFill>
          <a:ln/>
        </p:spPr>
        <p:txBody>
          <a:bodyPr/>
          <a:lstStyle/>
          <a:p>
            <a:endParaRPr lang="it-IT"/>
          </a:p>
        </p:txBody>
      </p:sp>
      <p:pic>
        <p:nvPicPr>
          <p:cNvPr id="18" name="Image 2" descr="FiTool"/>
          <p:cNvPicPr>
            <a:picLocks noChangeAspect="1"/>
          </p:cNvPicPr>
          <p:nvPr/>
        </p:nvPicPr>
        <p:blipFill>
          <a:blip r:embed="rId5"/>
          <a:stretch>
            <a:fillRect/>
          </a:stretch>
        </p:blipFill>
        <p:spPr>
          <a:xfrm>
            <a:off x="5513832" y="1691640"/>
            <a:ext cx="274320" cy="274320"/>
          </a:xfrm>
          <a:prstGeom prst="rect">
            <a:avLst/>
          </a:prstGeom>
        </p:spPr>
      </p:pic>
      <p:sp>
        <p:nvSpPr>
          <p:cNvPr id="19" name="Text 13"/>
          <p:cNvSpPr txBox="1"/>
          <p:nvPr/>
        </p:nvSpPr>
        <p:spPr>
          <a:xfrm>
            <a:off x="4754880" y="2194560"/>
            <a:ext cx="1783080" cy="502920"/>
          </a:xfrm>
          <a:prstGeom prst="rect">
            <a:avLst/>
          </a:prstGeom>
          <a:noFill/>
          <a:ln/>
        </p:spPr>
        <p:txBody>
          <a:bodyPr wrap="square" lIns="0" tIns="0" rIns="0" bIns="0" rtlCol="0" anchor="ctr"/>
          <a:lstStyle/>
          <a:p>
            <a:pPr marL="0" indent="0" algn="ctr">
              <a:buNone/>
            </a:pPr>
            <a:r>
              <a:rPr lang="en-US" sz="1400" b="1" dirty="0">
                <a:solidFill>
                  <a:schemeClr val="tx1"/>
                </a:solidFill>
              </a:rPr>
              <a:t>Sistema con strumenti</a:t>
            </a:r>
            <a:endParaRPr lang="en-US" sz="1400" dirty="0"/>
          </a:p>
        </p:txBody>
      </p:sp>
      <p:sp>
        <p:nvSpPr>
          <p:cNvPr id="20" name="Text 14"/>
          <p:cNvSpPr txBox="1"/>
          <p:nvPr/>
        </p:nvSpPr>
        <p:spPr>
          <a:xfrm>
            <a:off x="4754880" y="2697480"/>
            <a:ext cx="1783080" cy="594360"/>
          </a:xfrm>
          <a:prstGeom prst="rect">
            <a:avLst/>
          </a:prstGeom>
          <a:noFill/>
          <a:ln/>
        </p:spPr>
        <p:txBody>
          <a:bodyPr wrap="square" lIns="0" tIns="0" rIns="0" bIns="0" rtlCol="0" anchor="t"/>
          <a:lstStyle/>
          <a:p>
            <a:pPr marL="0" indent="0" algn="ctr">
              <a:buNone/>
            </a:pPr>
            <a:r>
              <a:rPr lang="en-US" sz="1200" dirty="0">
                <a:solidFill>
                  <a:schemeClr val="tx2"/>
                </a:solidFill>
              </a:rPr>
              <a:t>Cerca, calcola, consulta, agisce su richiesta</a:t>
            </a:r>
            <a:endParaRPr lang="en-US" sz="1200" dirty="0"/>
          </a:p>
        </p:txBody>
      </p:sp>
      <p:sp>
        <p:nvSpPr>
          <p:cNvPr id="21" name="Agente"/>
          <p:cNvSpPr/>
          <p:nvPr/>
        </p:nvSpPr>
        <p:spPr>
          <a:xfrm>
            <a:off x="6766560" y="1417320"/>
            <a:ext cx="1965960" cy="1920240"/>
          </a:xfrm>
          <a:prstGeom prst="roundRect">
            <a:avLst>
              <a:gd name="adj" fmla="val 3810"/>
            </a:avLst>
          </a:prstGeom>
          <a:solidFill>
            <a:schemeClr val="accent1"/>
          </a:solidFill>
          <a:ln/>
        </p:spPr>
        <p:txBody>
          <a:bodyPr/>
          <a:lstStyle/>
          <a:p>
            <a:endParaRPr lang="it-IT"/>
          </a:p>
        </p:txBody>
      </p:sp>
      <p:sp>
        <p:nvSpPr>
          <p:cNvPr id="22" name="cerchio FiCompass"/>
          <p:cNvSpPr/>
          <p:nvPr/>
        </p:nvSpPr>
        <p:spPr>
          <a:xfrm>
            <a:off x="7479792" y="1554480"/>
            <a:ext cx="548640" cy="548640"/>
          </a:xfrm>
          <a:prstGeom prst="ellipse">
            <a:avLst/>
          </a:prstGeom>
          <a:solidFill>
            <a:schemeClr val="bg1"/>
          </a:solidFill>
          <a:ln/>
        </p:spPr>
        <p:txBody>
          <a:bodyPr/>
          <a:lstStyle/>
          <a:p>
            <a:endParaRPr lang="it-IT"/>
          </a:p>
        </p:txBody>
      </p:sp>
      <p:pic>
        <p:nvPicPr>
          <p:cNvPr id="23" name="Image 3" descr="FiCompass"/>
          <p:cNvPicPr>
            <a:picLocks noChangeAspect="1"/>
          </p:cNvPicPr>
          <p:nvPr/>
        </p:nvPicPr>
        <p:blipFill>
          <a:blip r:embed="rId6"/>
          <a:stretch>
            <a:fillRect/>
          </a:stretch>
        </p:blipFill>
        <p:spPr>
          <a:xfrm>
            <a:off x="7616952" y="1691640"/>
            <a:ext cx="274320" cy="274320"/>
          </a:xfrm>
          <a:prstGeom prst="rect">
            <a:avLst/>
          </a:prstGeom>
        </p:spPr>
      </p:pic>
      <p:sp>
        <p:nvSpPr>
          <p:cNvPr id="24" name="Text 17"/>
          <p:cNvSpPr txBox="1"/>
          <p:nvPr/>
        </p:nvSpPr>
        <p:spPr>
          <a:xfrm>
            <a:off x="6858000" y="2194560"/>
            <a:ext cx="1783080" cy="502920"/>
          </a:xfrm>
          <a:prstGeom prst="rect">
            <a:avLst/>
          </a:prstGeom>
          <a:noFill/>
          <a:ln/>
        </p:spPr>
        <p:txBody>
          <a:bodyPr wrap="square" lIns="0" tIns="0" rIns="0" bIns="0" rtlCol="0" anchor="ctr"/>
          <a:lstStyle/>
          <a:p>
            <a:pPr marL="0" indent="0" algn="ctr">
              <a:buNone/>
            </a:pPr>
            <a:r>
              <a:rPr lang="en-US" sz="1400" b="1" dirty="0">
                <a:solidFill>
                  <a:schemeClr val="bg1"/>
                </a:solidFill>
              </a:rPr>
              <a:t>Agente</a:t>
            </a:r>
            <a:endParaRPr lang="en-US" sz="1400" dirty="0"/>
          </a:p>
        </p:txBody>
      </p:sp>
      <p:sp>
        <p:nvSpPr>
          <p:cNvPr id="25" name="Text 18"/>
          <p:cNvSpPr txBox="1"/>
          <p:nvPr/>
        </p:nvSpPr>
        <p:spPr>
          <a:xfrm>
            <a:off x="6858000" y="2697480"/>
            <a:ext cx="1783080" cy="594360"/>
          </a:xfrm>
          <a:prstGeom prst="rect">
            <a:avLst/>
          </a:prstGeom>
          <a:noFill/>
          <a:ln/>
        </p:spPr>
        <p:txBody>
          <a:bodyPr wrap="square" lIns="0" tIns="0" rIns="0" bIns="0" rtlCol="0" anchor="t"/>
          <a:lstStyle/>
          <a:p>
            <a:pPr marL="0" indent="0" algn="ctr">
              <a:buNone/>
            </a:pPr>
            <a:r>
              <a:rPr lang="en-US" sz="1200" dirty="0">
                <a:solidFill>
                  <a:schemeClr val="bg1"/>
                </a:solidFill>
              </a:rPr>
              <a:t>Persegue un obiettivo in più passaggi</a:t>
            </a:r>
            <a:endParaRPr lang="en-US" sz="1200" dirty="0"/>
          </a:p>
        </p:txBody>
      </p:sp>
      <p:sp>
        <p:nvSpPr>
          <p:cNvPr id="26" name="automazione"/>
          <p:cNvSpPr/>
          <p:nvPr/>
        </p:nvSpPr>
        <p:spPr>
          <a:xfrm>
            <a:off x="457200" y="3520440"/>
            <a:ext cx="8229600" cy="1005840"/>
          </a:xfrm>
          <a:prstGeom prst="roundRect">
            <a:avLst>
              <a:gd name="adj" fmla="val 7273"/>
            </a:avLst>
          </a:prstGeom>
          <a:solidFill>
            <a:schemeClr val="bg2"/>
          </a:solidFill>
          <a:ln/>
        </p:spPr>
        <p:txBody>
          <a:bodyPr/>
          <a:lstStyle/>
          <a:p>
            <a:endParaRPr lang="it-IT"/>
          </a:p>
        </p:txBody>
      </p:sp>
      <p:sp>
        <p:nvSpPr>
          <p:cNvPr id="27" name="cerchio FiRepeat"/>
          <p:cNvSpPr/>
          <p:nvPr/>
        </p:nvSpPr>
        <p:spPr>
          <a:xfrm>
            <a:off x="640080" y="3767328"/>
            <a:ext cx="512064" cy="512064"/>
          </a:xfrm>
          <a:prstGeom prst="ellipse">
            <a:avLst/>
          </a:prstGeom>
          <a:solidFill>
            <a:schemeClr val="tx2"/>
          </a:solidFill>
          <a:ln/>
        </p:spPr>
        <p:txBody>
          <a:bodyPr/>
          <a:lstStyle/>
          <a:p>
            <a:endParaRPr lang="it-IT"/>
          </a:p>
        </p:txBody>
      </p:sp>
      <p:pic>
        <p:nvPicPr>
          <p:cNvPr id="28" name="Image 4" descr="FiRepeat"/>
          <p:cNvPicPr>
            <a:picLocks noChangeAspect="1"/>
          </p:cNvPicPr>
          <p:nvPr/>
        </p:nvPicPr>
        <p:blipFill>
          <a:blip r:embed="rId7"/>
          <a:stretch>
            <a:fillRect/>
          </a:stretch>
        </p:blipFill>
        <p:spPr>
          <a:xfrm>
            <a:off x="768096" y="3895344"/>
            <a:ext cx="256032" cy="256032"/>
          </a:xfrm>
          <a:prstGeom prst="rect">
            <a:avLst/>
          </a:prstGeom>
        </p:spPr>
      </p:pic>
      <p:sp>
        <p:nvSpPr>
          <p:cNvPr id="29" name="Text 21"/>
          <p:cNvSpPr txBox="1"/>
          <p:nvPr/>
        </p:nvSpPr>
        <p:spPr>
          <a:xfrm>
            <a:off x="1325880" y="3520440"/>
            <a:ext cx="7223760" cy="1005840"/>
          </a:xfrm>
          <a:prstGeom prst="rect">
            <a:avLst/>
          </a:prstGeom>
          <a:noFill/>
          <a:ln/>
        </p:spPr>
        <p:txBody>
          <a:bodyPr wrap="square" lIns="0" tIns="0" rIns="0" bIns="0" rtlCol="0" anchor="ctr"/>
          <a:lstStyle/>
          <a:p>
            <a:pPr marL="0" indent="0">
              <a:buNone/>
            </a:pPr>
            <a:r>
              <a:rPr lang="en-US" sz="1300" b="1" dirty="0">
                <a:solidFill>
                  <a:schemeClr val="tx1"/>
                </a:solidFill>
              </a:rPr>
              <a:t>Automazione: </a:t>
            </a:r>
            <a:r>
              <a:rPr lang="en-US" sz="1300" dirty="0">
                <a:solidFill>
                  <a:schemeClr val="tx2"/>
                </a:solidFill>
              </a:rPr>
              <a:t>una logica diversa. Esegue un flusso predefinito, attivato da un evento, che può includere passaggi con AI.</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Chatbot e assistenti configurati</a:t>
            </a:r>
            <a:endParaRPr lang="en-US" sz="2600" dirty="0"/>
          </a:p>
        </p:txBody>
      </p:sp>
      <p:sp>
        <p:nvSpPr>
          <p:cNvPr id="4" name="scheda Chatbot"/>
          <p:cNvSpPr/>
          <p:nvPr/>
        </p:nvSpPr>
        <p:spPr>
          <a:xfrm>
            <a:off x="457200" y="1097280"/>
            <a:ext cx="3977640" cy="3429000"/>
          </a:xfrm>
          <a:prstGeom prst="roundRect">
            <a:avLst>
              <a:gd name="adj" fmla="val 2133"/>
            </a:avLst>
          </a:prstGeom>
          <a:solidFill>
            <a:schemeClr val="bg2"/>
          </a:solidFill>
          <a:ln/>
        </p:spPr>
        <p:txBody>
          <a:bodyPr/>
          <a:lstStyle/>
          <a:p>
            <a:endParaRPr lang="it-IT"/>
          </a:p>
        </p:txBody>
      </p:sp>
      <p:sp>
        <p:nvSpPr>
          <p:cNvPr id="5" name="cerchio FiMessageCircle"/>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MessageCirc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Chatbot</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0" indent="0">
              <a:buNone/>
            </a:pPr>
            <a:r>
              <a:rPr lang="en-US" sz="1300" b="1" dirty="0">
                <a:solidFill>
                  <a:schemeClr val="tx1"/>
                </a:solidFill>
              </a:rPr>
              <a:t>Ieri: </a:t>
            </a:r>
            <a:r>
              <a:rPr lang="en-US" sz="1300" dirty="0">
                <a:solidFill>
                  <a:schemeClr val="tx2"/>
                </a:solidFill>
              </a:rPr>
              <a:t>risposte automatiche a regole e menu, rigide</a:t>
            </a:r>
            <a:endParaRPr lang="en-US" sz="1300" dirty="0"/>
          </a:p>
          <a:p>
            <a:pPr marL="0" indent="0">
              <a:buNone/>
            </a:pPr>
            <a:r>
              <a:rPr lang="en-US" sz="1300" b="1" dirty="0">
                <a:solidFill>
                  <a:schemeClr val="tx1"/>
                </a:solidFill>
              </a:rPr>
              <a:t>Oggi: </a:t>
            </a:r>
            <a:r>
              <a:rPr lang="en-US" sz="1300" dirty="0">
                <a:solidFill>
                  <a:schemeClr val="tx2"/>
                </a:solidFill>
              </a:rPr>
              <a:t>interfacce conversazionali basate su modelli linguistici, flessibili</a:t>
            </a:r>
            <a:endParaRPr lang="en-US" sz="1300" dirty="0"/>
          </a:p>
          <a:p>
            <a:pPr marL="0" indent="0">
              <a:buNone/>
            </a:pPr>
            <a:r>
              <a:rPr lang="en-US" sz="1300" b="1" dirty="0">
                <a:solidFill>
                  <a:schemeClr val="accent1"/>
                </a:solidFill>
              </a:rPr>
              <a:t>Logica: domanda e risposta, la persona decide</a:t>
            </a:r>
            <a:endParaRPr lang="en-US" sz="1300" dirty="0"/>
          </a:p>
        </p:txBody>
      </p:sp>
      <p:sp>
        <p:nvSpPr>
          <p:cNvPr id="9" name="scheda Assistente configurato"/>
          <p:cNvSpPr/>
          <p:nvPr/>
        </p:nvSpPr>
        <p:spPr>
          <a:xfrm>
            <a:off x="4709160" y="1097280"/>
            <a:ext cx="3977640" cy="3429000"/>
          </a:xfrm>
          <a:prstGeom prst="roundRect">
            <a:avLst>
              <a:gd name="adj" fmla="val 2133"/>
            </a:avLst>
          </a:prstGeom>
          <a:solidFill>
            <a:schemeClr val="accent6"/>
          </a:solidFill>
          <a:ln/>
        </p:spPr>
        <p:txBody>
          <a:bodyPr/>
          <a:lstStyle/>
          <a:p>
            <a:endParaRPr lang="it-IT"/>
          </a:p>
        </p:txBody>
      </p:sp>
      <p:sp>
        <p:nvSpPr>
          <p:cNvPr id="10" name="cerchio FiUserCheck"/>
          <p:cNvSpPr/>
          <p:nvPr/>
        </p:nvSpPr>
        <p:spPr>
          <a:xfrm>
            <a:off x="4892040" y="1280160"/>
            <a:ext cx="457200" cy="457200"/>
          </a:xfrm>
          <a:prstGeom prst="ellipse">
            <a:avLst/>
          </a:prstGeom>
          <a:solidFill>
            <a:schemeClr val="accent1"/>
          </a:solidFill>
          <a:ln/>
        </p:spPr>
        <p:txBody>
          <a:bodyPr/>
          <a:lstStyle/>
          <a:p>
            <a:endParaRPr lang="it-IT"/>
          </a:p>
        </p:txBody>
      </p:sp>
      <p:pic>
        <p:nvPicPr>
          <p:cNvPr id="11" name="Image 1" descr="FiUserCheck"/>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Assistente configurato</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buNone/>
            </a:pPr>
            <a:r>
              <a:rPr lang="it-IT" sz="1200" b="1" dirty="0">
                <a:solidFill>
                  <a:schemeClr val="tx1"/>
                </a:solidFill>
              </a:rPr>
              <a:t>Istruzioni, tono, ambito, documenti e fonti propri</a:t>
            </a:r>
            <a:endParaRPr lang="it-IT" sz="1200" dirty="0"/>
          </a:p>
          <a:p>
            <a:pPr marL="177800" indent="-177800">
              <a:spcAft>
                <a:spcPts val="300"/>
              </a:spcAft>
              <a:buSzPct val="100000"/>
              <a:buChar char="•"/>
            </a:pPr>
            <a:r>
              <a:rPr lang="it-IT" sz="1200" dirty="0">
                <a:solidFill>
                  <a:schemeClr val="tx2"/>
                </a:solidFill>
              </a:rPr>
              <a:t>Esempi: procedure per i dipendenti, offerte nello stile aziendale, supporto clienti</a:t>
            </a:r>
            <a:endParaRPr lang="it-IT" sz="1200" dirty="0"/>
          </a:p>
          <a:p>
            <a:pPr marL="177800" indent="-177800">
              <a:spcAft>
                <a:spcPts val="300"/>
              </a:spcAft>
              <a:buSzPct val="100000"/>
              <a:buChar char="•"/>
            </a:pPr>
            <a:r>
              <a:rPr lang="it-IT" sz="1200" dirty="0">
                <a:solidFill>
                  <a:schemeClr val="tx2"/>
                </a:solidFill>
              </a:rPr>
              <a:t>Si crea anche senza saper programmare e si condivide con i colleghi</a:t>
            </a:r>
            <a:endParaRPr lang="it-IT" sz="1200" dirty="0"/>
          </a:p>
          <a:p>
            <a:pPr marL="177800" indent="-177800">
              <a:spcAft>
                <a:spcPts val="300"/>
              </a:spcAft>
              <a:buSzPct val="100000"/>
              <a:buChar char="•"/>
            </a:pPr>
            <a:r>
              <a:rPr lang="it-IT" sz="1200" dirty="0">
                <a:solidFill>
                  <a:schemeClr val="tx2"/>
                </a:solidFill>
              </a:rPr>
              <a:t>Il contesto è nella configurazione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Sistemi con strumenti e agenti</a:t>
            </a:r>
            <a:endParaRPr lang="en-US" sz="2600" dirty="0"/>
          </a:p>
        </p:txBody>
      </p:sp>
      <p:sp>
        <p:nvSpPr>
          <p:cNvPr id="4" name="blocco Obiettivo"/>
          <p:cNvSpPr/>
          <p:nvPr/>
        </p:nvSpPr>
        <p:spPr>
          <a:xfrm>
            <a:off x="457200" y="2011680"/>
            <a:ext cx="1463040" cy="685800"/>
          </a:xfrm>
          <a:prstGeom prst="roundRect">
            <a:avLst>
              <a:gd name="adj" fmla="val 16000"/>
            </a:avLst>
          </a:prstGeom>
          <a:solidFill>
            <a:schemeClr val="tx1"/>
          </a:solidFill>
          <a:ln/>
        </p:spPr>
        <p:txBody>
          <a:bodyPr/>
          <a:lstStyle/>
          <a:p>
            <a:endParaRPr lang="it-IT"/>
          </a:p>
        </p:txBody>
      </p:sp>
      <p:sp>
        <p:nvSpPr>
          <p:cNvPr id="5" name="Text 2"/>
          <p:cNvSpPr txBox="1"/>
          <p:nvPr/>
        </p:nvSpPr>
        <p:spPr>
          <a:xfrm>
            <a:off x="502920" y="2011680"/>
            <a:ext cx="1371600" cy="685800"/>
          </a:xfrm>
          <a:prstGeom prst="rect">
            <a:avLst/>
          </a:prstGeom>
          <a:noFill/>
          <a:ln/>
        </p:spPr>
        <p:txBody>
          <a:bodyPr wrap="square" lIns="0" tIns="0" rIns="0" bIns="0" rtlCol="0" anchor="ctr"/>
          <a:lstStyle/>
          <a:p>
            <a:pPr marL="0" indent="0" algn="ctr">
              <a:buNone/>
            </a:pPr>
            <a:r>
              <a:rPr lang="en-US" sz="1300" b="1" dirty="0">
                <a:solidFill>
                  <a:schemeClr val="bg1"/>
                </a:solidFill>
              </a:rPr>
              <a:t>Obiettivo</a:t>
            </a:r>
            <a:endParaRPr lang="en-US" sz="1300" dirty="0"/>
          </a:p>
        </p:txBody>
      </p:sp>
      <p:sp>
        <p:nvSpPr>
          <p:cNvPr id="6" name="blocco Pianifica"/>
          <p:cNvSpPr/>
          <p:nvPr/>
        </p:nvSpPr>
        <p:spPr>
          <a:xfrm>
            <a:off x="2103120" y="1143000"/>
            <a:ext cx="1463040" cy="685800"/>
          </a:xfrm>
          <a:prstGeom prst="roundRect">
            <a:avLst>
              <a:gd name="adj" fmla="val 16000"/>
            </a:avLst>
          </a:prstGeom>
          <a:solidFill>
            <a:schemeClr val="bg2"/>
          </a:solidFill>
          <a:ln/>
        </p:spPr>
        <p:txBody>
          <a:bodyPr/>
          <a:lstStyle/>
          <a:p>
            <a:endParaRPr lang="it-IT"/>
          </a:p>
        </p:txBody>
      </p:sp>
      <p:sp>
        <p:nvSpPr>
          <p:cNvPr id="7" name="Text 4"/>
          <p:cNvSpPr txBox="1"/>
          <p:nvPr/>
        </p:nvSpPr>
        <p:spPr>
          <a:xfrm>
            <a:off x="2148840" y="1143000"/>
            <a:ext cx="1371600" cy="685800"/>
          </a:xfrm>
          <a:prstGeom prst="rect">
            <a:avLst/>
          </a:prstGeom>
          <a:noFill/>
          <a:ln/>
        </p:spPr>
        <p:txBody>
          <a:bodyPr wrap="square" lIns="0" tIns="0" rIns="0" bIns="0" rtlCol="0" anchor="ctr"/>
          <a:lstStyle/>
          <a:p>
            <a:pPr marL="0" indent="0" algn="ctr">
              <a:buNone/>
            </a:pPr>
            <a:r>
              <a:rPr lang="en-US" sz="1300" b="1" dirty="0">
                <a:solidFill>
                  <a:schemeClr val="tx1"/>
                </a:solidFill>
              </a:rPr>
              <a:t>Pianifica</a:t>
            </a:r>
            <a:endParaRPr lang="en-US" sz="1300" dirty="0"/>
          </a:p>
        </p:txBody>
      </p:sp>
      <p:sp>
        <p:nvSpPr>
          <p:cNvPr id="8" name="blocco Agisce con strumenti"/>
          <p:cNvSpPr/>
          <p:nvPr/>
        </p:nvSpPr>
        <p:spPr>
          <a:xfrm>
            <a:off x="3749040" y="2011680"/>
            <a:ext cx="1463040" cy="685800"/>
          </a:xfrm>
          <a:prstGeom prst="roundRect">
            <a:avLst>
              <a:gd name="adj" fmla="val 16000"/>
            </a:avLst>
          </a:prstGeom>
          <a:solidFill>
            <a:schemeClr val="accent1"/>
          </a:solidFill>
          <a:ln/>
        </p:spPr>
        <p:txBody>
          <a:bodyPr/>
          <a:lstStyle/>
          <a:p>
            <a:endParaRPr lang="it-IT"/>
          </a:p>
        </p:txBody>
      </p:sp>
      <p:sp>
        <p:nvSpPr>
          <p:cNvPr id="9" name="Text 6"/>
          <p:cNvSpPr txBox="1"/>
          <p:nvPr/>
        </p:nvSpPr>
        <p:spPr>
          <a:xfrm>
            <a:off x="3794760" y="2011680"/>
            <a:ext cx="1371600" cy="685800"/>
          </a:xfrm>
          <a:prstGeom prst="rect">
            <a:avLst/>
          </a:prstGeom>
          <a:noFill/>
          <a:ln/>
        </p:spPr>
        <p:txBody>
          <a:bodyPr wrap="square" lIns="0" tIns="0" rIns="0" bIns="0" rtlCol="0" anchor="ctr"/>
          <a:lstStyle/>
          <a:p>
            <a:pPr marL="0" indent="0" algn="ctr">
              <a:buNone/>
            </a:pPr>
            <a:r>
              <a:rPr lang="en-US" sz="1300" b="1" dirty="0">
                <a:solidFill>
                  <a:schemeClr val="bg1"/>
                </a:solidFill>
              </a:rPr>
              <a:t>Agisce con strumenti</a:t>
            </a:r>
            <a:endParaRPr lang="en-US" sz="1300" dirty="0"/>
          </a:p>
        </p:txBody>
      </p:sp>
      <p:sp>
        <p:nvSpPr>
          <p:cNvPr id="10" name="blocco Osserva il risultato"/>
          <p:cNvSpPr/>
          <p:nvPr/>
        </p:nvSpPr>
        <p:spPr>
          <a:xfrm>
            <a:off x="2103120" y="2880360"/>
            <a:ext cx="1463040" cy="685800"/>
          </a:xfrm>
          <a:prstGeom prst="roundRect">
            <a:avLst>
              <a:gd name="adj" fmla="val 16000"/>
            </a:avLst>
          </a:prstGeom>
          <a:solidFill>
            <a:schemeClr val="bg2"/>
          </a:solidFill>
          <a:ln/>
        </p:spPr>
        <p:txBody>
          <a:bodyPr/>
          <a:lstStyle/>
          <a:p>
            <a:endParaRPr lang="it-IT"/>
          </a:p>
        </p:txBody>
      </p:sp>
      <p:sp>
        <p:nvSpPr>
          <p:cNvPr id="11" name="Text 8"/>
          <p:cNvSpPr txBox="1"/>
          <p:nvPr/>
        </p:nvSpPr>
        <p:spPr>
          <a:xfrm>
            <a:off x="2148840" y="2880360"/>
            <a:ext cx="1371600" cy="685800"/>
          </a:xfrm>
          <a:prstGeom prst="rect">
            <a:avLst/>
          </a:prstGeom>
          <a:noFill/>
          <a:ln/>
        </p:spPr>
        <p:txBody>
          <a:bodyPr wrap="square" lIns="0" tIns="0" rIns="0" bIns="0" rtlCol="0" anchor="ctr"/>
          <a:lstStyle/>
          <a:p>
            <a:pPr marL="0" indent="0" algn="ctr">
              <a:buNone/>
            </a:pPr>
            <a:r>
              <a:rPr lang="en-US" sz="1300" b="1" dirty="0">
                <a:solidFill>
                  <a:schemeClr val="tx1"/>
                </a:solidFill>
              </a:rPr>
              <a:t>Osserva il risultato</a:t>
            </a:r>
            <a:endParaRPr lang="en-US" sz="1300" dirty="0"/>
          </a:p>
        </p:txBody>
      </p:sp>
      <p:sp>
        <p:nvSpPr>
          <p:cNvPr id="12" name="freccia"/>
          <p:cNvSpPr/>
          <p:nvPr/>
        </p:nvSpPr>
        <p:spPr>
          <a:xfrm>
            <a:off x="1938528" y="2212848"/>
            <a:ext cx="155448" cy="292608"/>
          </a:xfrm>
          <a:prstGeom prst="rightArrow">
            <a:avLst/>
          </a:prstGeom>
          <a:solidFill>
            <a:schemeClr val="accent2"/>
          </a:solidFill>
          <a:ln/>
        </p:spPr>
        <p:txBody>
          <a:bodyPr/>
          <a:lstStyle/>
          <a:p>
            <a:endParaRPr lang="it-IT"/>
          </a:p>
        </p:txBody>
      </p:sp>
      <p:sp>
        <p:nvSpPr>
          <p:cNvPr id="13" name="freccia"/>
          <p:cNvSpPr/>
          <p:nvPr/>
        </p:nvSpPr>
        <p:spPr>
          <a:xfrm>
            <a:off x="3566160" y="1481328"/>
            <a:ext cx="548640" cy="530352"/>
          </a:xfrm>
          <a:prstGeom prst="line">
            <a:avLst/>
          </a:prstGeom>
          <a:noFill/>
          <a:ln w="25400">
            <a:solidFill>
              <a:schemeClr val="accent2"/>
            </a:solidFill>
            <a:prstDash val="solid"/>
            <a:tailEnd type="triangle"/>
          </a:ln>
        </p:spPr>
        <p:txBody>
          <a:bodyPr/>
          <a:lstStyle/>
          <a:p>
            <a:endParaRPr lang="it-IT"/>
          </a:p>
        </p:txBody>
      </p:sp>
      <p:sp>
        <p:nvSpPr>
          <p:cNvPr id="14" name="freccia"/>
          <p:cNvSpPr/>
          <p:nvPr/>
        </p:nvSpPr>
        <p:spPr>
          <a:xfrm flipH="1">
            <a:off x="3566160" y="2697480"/>
            <a:ext cx="548640" cy="530352"/>
          </a:xfrm>
          <a:prstGeom prst="line">
            <a:avLst/>
          </a:prstGeom>
          <a:noFill/>
          <a:ln w="25400">
            <a:solidFill>
              <a:schemeClr val="accent2"/>
            </a:solidFill>
            <a:prstDash val="solid"/>
            <a:tailEnd type="triangle"/>
          </a:ln>
        </p:spPr>
        <p:txBody>
          <a:bodyPr/>
          <a:lstStyle/>
          <a:p>
            <a:endParaRPr lang="it-IT"/>
          </a:p>
        </p:txBody>
      </p:sp>
      <p:sp>
        <p:nvSpPr>
          <p:cNvPr id="15" name="freccia"/>
          <p:cNvSpPr/>
          <p:nvPr/>
        </p:nvSpPr>
        <p:spPr>
          <a:xfrm flipV="1">
            <a:off x="2834640" y="1828800"/>
            <a:ext cx="0" cy="1051560"/>
          </a:xfrm>
          <a:prstGeom prst="line">
            <a:avLst/>
          </a:prstGeom>
          <a:noFill/>
          <a:ln w="25400">
            <a:solidFill>
              <a:schemeClr val="accent2"/>
            </a:solidFill>
            <a:prstDash val="dash"/>
            <a:tailEnd type="triangle"/>
          </a:ln>
        </p:spPr>
        <p:txBody>
          <a:bodyPr/>
          <a:lstStyle/>
          <a:p>
            <a:endParaRPr lang="it-IT"/>
          </a:p>
        </p:txBody>
      </p:sp>
      <p:sp>
        <p:nvSpPr>
          <p:cNvPr id="16" name="Text 13"/>
          <p:cNvSpPr txBox="1"/>
          <p:nvPr/>
        </p:nvSpPr>
        <p:spPr>
          <a:xfrm>
            <a:off x="2880360" y="2194560"/>
            <a:ext cx="868680" cy="548640"/>
          </a:xfrm>
          <a:prstGeom prst="rect">
            <a:avLst/>
          </a:prstGeom>
          <a:noFill/>
          <a:ln/>
        </p:spPr>
        <p:txBody>
          <a:bodyPr wrap="square" lIns="0" tIns="0" rIns="0" bIns="0" rtlCol="0" anchor="t"/>
          <a:lstStyle/>
          <a:p>
            <a:pPr marL="0" indent="0">
              <a:buNone/>
            </a:pPr>
            <a:r>
              <a:rPr lang="en-US" sz="900" i="1" dirty="0">
                <a:solidFill>
                  <a:schemeClr val="accent2"/>
                </a:solidFill>
              </a:rPr>
              <a:t>decide il passo successivo</a:t>
            </a:r>
            <a:endParaRPr lang="en-US" sz="900" dirty="0"/>
          </a:p>
        </p:txBody>
      </p:sp>
      <p:sp>
        <p:nvSpPr>
          <p:cNvPr id="17" name="Text 14"/>
          <p:cNvSpPr txBox="1"/>
          <p:nvPr/>
        </p:nvSpPr>
        <p:spPr>
          <a:xfrm>
            <a:off x="457200" y="3703320"/>
            <a:ext cx="4754880" cy="274320"/>
          </a:xfrm>
          <a:prstGeom prst="rect">
            <a:avLst/>
          </a:prstGeom>
          <a:noFill/>
          <a:ln/>
        </p:spPr>
        <p:txBody>
          <a:bodyPr wrap="square" lIns="0" tIns="0" rIns="0" bIns="0" rtlCol="0" anchor="t"/>
          <a:lstStyle/>
          <a:p>
            <a:pPr marL="0" indent="0">
              <a:buNone/>
            </a:pPr>
            <a:r>
              <a:rPr lang="en-US" sz="1100" i="1" dirty="0">
                <a:solidFill>
                  <a:schemeClr val="accent2"/>
                </a:solidFill>
              </a:rPr>
              <a:t>Ciclo ripetuto fino al completamento</a:t>
            </a:r>
            <a:endParaRPr lang="en-US" sz="1100" dirty="0"/>
          </a:p>
        </p:txBody>
      </p:sp>
      <p:sp>
        <p:nvSpPr>
          <p:cNvPr id="18" name="scheda Sistema con strumenti"/>
          <p:cNvSpPr/>
          <p:nvPr/>
        </p:nvSpPr>
        <p:spPr>
          <a:xfrm>
            <a:off x="5486400" y="1097280"/>
            <a:ext cx="3200400" cy="1463040"/>
          </a:xfrm>
          <a:prstGeom prst="roundRect">
            <a:avLst>
              <a:gd name="adj" fmla="val 4571"/>
            </a:avLst>
          </a:prstGeom>
          <a:solidFill>
            <a:schemeClr val="bg2"/>
          </a:solidFill>
          <a:ln/>
        </p:spPr>
        <p:txBody>
          <a:bodyPr/>
          <a:lstStyle/>
          <a:p>
            <a:endParaRPr lang="it-IT"/>
          </a:p>
        </p:txBody>
      </p:sp>
      <p:sp>
        <p:nvSpPr>
          <p:cNvPr id="19" name="cerchio FiTool"/>
          <p:cNvSpPr/>
          <p:nvPr/>
        </p:nvSpPr>
        <p:spPr>
          <a:xfrm>
            <a:off x="5669280" y="1280160"/>
            <a:ext cx="457200" cy="457200"/>
          </a:xfrm>
          <a:prstGeom prst="ellipse">
            <a:avLst/>
          </a:prstGeom>
          <a:solidFill>
            <a:schemeClr val="accent1"/>
          </a:solidFill>
          <a:ln/>
        </p:spPr>
        <p:txBody>
          <a:bodyPr/>
          <a:lstStyle/>
          <a:p>
            <a:endParaRPr lang="it-IT"/>
          </a:p>
        </p:txBody>
      </p:sp>
      <p:pic>
        <p:nvPicPr>
          <p:cNvPr id="20" name="Image 0" descr="FiTrendingUp"/>
          <p:cNvPicPr>
            <a:picLocks noChangeAspect="1"/>
          </p:cNvPicPr>
          <p:nvPr/>
        </p:nvPicPr>
        <p:blipFill>
          <a:blip r:embed="rId5"/>
          <a:stretch>
            <a:fillRect/>
          </a:stretch>
        </p:blipFill>
        <p:spPr>
          <a:xfrm>
            <a:off x="5783580" y="1394460"/>
            <a:ext cx="228600" cy="228600"/>
          </a:xfrm>
          <a:prstGeom prst="rect">
            <a:avLst/>
          </a:prstGeom>
        </p:spPr>
      </p:pic>
      <p:sp>
        <p:nvSpPr>
          <p:cNvPr id="21" name="Text 17"/>
          <p:cNvSpPr txBox="1"/>
          <p:nvPr/>
        </p:nvSpPr>
        <p:spPr>
          <a:xfrm>
            <a:off x="6263640" y="1280160"/>
            <a:ext cx="2240280" cy="457200"/>
          </a:xfrm>
          <a:prstGeom prst="rect">
            <a:avLst/>
          </a:prstGeom>
          <a:noFill/>
          <a:ln/>
        </p:spPr>
        <p:txBody>
          <a:bodyPr wrap="square" lIns="0" tIns="0" rIns="0" bIns="0" rtlCol="0" anchor="ctr"/>
          <a:lstStyle/>
          <a:p>
            <a:pPr marL="0" indent="0">
              <a:buNone/>
            </a:pPr>
            <a:r>
              <a:rPr lang="it-IT" sz="1400" b="1" dirty="0">
                <a:solidFill>
                  <a:schemeClr val="tx1"/>
                </a:solidFill>
              </a:rPr>
              <a:t>Opportunità</a:t>
            </a:r>
            <a:endParaRPr lang="it-IT" sz="1400" dirty="0"/>
          </a:p>
        </p:txBody>
      </p:sp>
      <p:sp>
        <p:nvSpPr>
          <p:cNvPr id="22" name="Text 18"/>
          <p:cNvSpPr txBox="1"/>
          <p:nvPr/>
        </p:nvSpPr>
        <p:spPr>
          <a:xfrm>
            <a:off x="5669280" y="1783080"/>
            <a:ext cx="2834640" cy="777240"/>
          </a:xfrm>
          <a:prstGeom prst="rect">
            <a:avLst/>
          </a:prstGeom>
          <a:noFill/>
          <a:ln/>
        </p:spPr>
        <p:txBody>
          <a:bodyPr wrap="square" lIns="0" tIns="0" rIns="0" bIns="0" rtlCol="0" anchor="t"/>
          <a:lstStyle/>
          <a:p>
            <a:pPr marL="177800" indent="-177800">
              <a:spcAft>
                <a:spcPts val="100"/>
              </a:spcAft>
              <a:buSzPct val="100000"/>
              <a:buChar char="•"/>
            </a:pPr>
            <a:r>
              <a:rPr lang="it-IT" sz="1100" dirty="0">
                <a:solidFill>
                  <a:schemeClr val="tx2"/>
                </a:solidFill>
              </a:rPr>
              <a:t>Attività articolate in più passaggi</a:t>
            </a:r>
            <a:endParaRPr lang="it-IT" sz="1100" dirty="0"/>
          </a:p>
          <a:p>
            <a:pPr marL="177800" indent="-177800">
              <a:spcAft>
                <a:spcPts val="100"/>
              </a:spcAft>
              <a:buSzPct val="100000"/>
              <a:buChar char="•"/>
            </a:pPr>
            <a:r>
              <a:rPr lang="it-IT" sz="1100" dirty="0">
                <a:solidFill>
                  <a:schemeClr val="tx2"/>
                </a:solidFill>
              </a:rPr>
              <a:t>Strumenti e informazioni coordinati</a:t>
            </a:r>
            <a:endParaRPr lang="it-IT" sz="1100" dirty="0"/>
          </a:p>
          <a:p>
            <a:pPr marL="177800" indent="-177800">
              <a:spcAft>
                <a:spcPts val="100"/>
              </a:spcAft>
              <a:buSzPct val="100000"/>
              <a:buChar char="•"/>
            </a:pPr>
            <a:r>
              <a:rPr lang="it-IT" sz="1100" dirty="0">
                <a:solidFill>
                  <a:schemeClr val="tx2"/>
                </a:solidFill>
              </a:rPr>
              <a:t>Meno lavoro manuale</a:t>
            </a:r>
            <a:endParaRPr lang="it-IT" sz="1100" dirty="0"/>
          </a:p>
          <a:p>
            <a:pPr marL="177800" indent="-177800">
              <a:spcAft>
                <a:spcPts val="100"/>
              </a:spcAft>
              <a:buSzPct val="100000"/>
              <a:buChar char="•"/>
            </a:pPr>
            <a:r>
              <a:rPr lang="it-IT" sz="1100" dirty="0">
                <a:solidFill>
                  <a:schemeClr val="tx2"/>
                </a:solidFill>
              </a:rPr>
              <a:t>Delega con punti di supervisione</a:t>
            </a:r>
            <a:endParaRPr lang="it-IT" sz="1100" dirty="0"/>
          </a:p>
        </p:txBody>
      </p:sp>
      <p:sp>
        <p:nvSpPr>
          <p:cNvPr id="23" name="scheda Rischi nuovi degli agenti"/>
          <p:cNvSpPr/>
          <p:nvPr/>
        </p:nvSpPr>
        <p:spPr>
          <a:xfrm>
            <a:off x="5486400" y="2651760"/>
            <a:ext cx="3200400" cy="1371600"/>
          </a:xfrm>
          <a:prstGeom prst="roundRect">
            <a:avLst>
              <a:gd name="adj" fmla="val 4324"/>
            </a:avLst>
          </a:prstGeom>
          <a:solidFill>
            <a:schemeClr val="accent6"/>
          </a:solidFill>
          <a:ln/>
        </p:spPr>
        <p:txBody>
          <a:bodyPr/>
          <a:lstStyle/>
          <a:p>
            <a:endParaRPr lang="it-IT"/>
          </a:p>
        </p:txBody>
      </p:sp>
      <p:sp>
        <p:nvSpPr>
          <p:cNvPr id="24" name="cerchio FiAlertTriangle"/>
          <p:cNvSpPr/>
          <p:nvPr/>
        </p:nvSpPr>
        <p:spPr>
          <a:xfrm>
            <a:off x="5669280" y="2834640"/>
            <a:ext cx="457200" cy="457200"/>
          </a:xfrm>
          <a:prstGeom prst="ellipse">
            <a:avLst/>
          </a:prstGeom>
          <a:solidFill>
            <a:schemeClr val="accent1"/>
          </a:solidFill>
          <a:ln/>
        </p:spPr>
        <p:txBody>
          <a:bodyPr/>
          <a:lstStyle/>
          <a:p>
            <a:endParaRPr lang="it-IT"/>
          </a:p>
        </p:txBody>
      </p:sp>
      <p:pic>
        <p:nvPicPr>
          <p:cNvPr id="25" name="Image 1" descr="FiAlertTriangle"/>
          <p:cNvPicPr>
            <a:picLocks noChangeAspect="1"/>
          </p:cNvPicPr>
          <p:nvPr/>
        </p:nvPicPr>
        <p:blipFill>
          <a:blip r:embed="rId4"/>
          <a:stretch>
            <a:fillRect/>
          </a:stretch>
        </p:blipFill>
        <p:spPr>
          <a:xfrm>
            <a:off x="5783580" y="2948940"/>
            <a:ext cx="228600" cy="228600"/>
          </a:xfrm>
          <a:prstGeom prst="rect">
            <a:avLst/>
          </a:prstGeom>
        </p:spPr>
      </p:pic>
      <p:sp>
        <p:nvSpPr>
          <p:cNvPr id="26" name="Text 21"/>
          <p:cNvSpPr txBox="1"/>
          <p:nvPr/>
        </p:nvSpPr>
        <p:spPr>
          <a:xfrm>
            <a:off x="6263640" y="2834640"/>
            <a:ext cx="2240280" cy="457200"/>
          </a:xfrm>
          <a:prstGeom prst="rect">
            <a:avLst/>
          </a:prstGeom>
          <a:noFill/>
          <a:ln/>
        </p:spPr>
        <p:txBody>
          <a:bodyPr wrap="square" lIns="0" tIns="0" rIns="0" bIns="0" rtlCol="0" anchor="ctr"/>
          <a:lstStyle/>
          <a:p>
            <a:pPr marL="0" indent="0">
              <a:buNone/>
            </a:pPr>
            <a:r>
              <a:rPr lang="it-IT" sz="1400" b="1" dirty="0">
                <a:solidFill>
                  <a:schemeClr val="tx1"/>
                </a:solidFill>
              </a:rPr>
              <a:t>Rischi e controlli</a:t>
            </a:r>
            <a:endParaRPr lang="it-IT" sz="1400" dirty="0"/>
          </a:p>
        </p:txBody>
      </p:sp>
      <p:sp>
        <p:nvSpPr>
          <p:cNvPr id="27" name="Text 22"/>
          <p:cNvSpPr txBox="1"/>
          <p:nvPr/>
        </p:nvSpPr>
        <p:spPr>
          <a:xfrm>
            <a:off x="5669280" y="3337560"/>
            <a:ext cx="2834640" cy="685800"/>
          </a:xfrm>
          <a:prstGeom prst="rect">
            <a:avLst/>
          </a:prstGeom>
          <a:noFill/>
          <a:ln/>
        </p:spPr>
        <p:txBody>
          <a:bodyPr wrap="square" lIns="0" tIns="0" rIns="0" bIns="0" rtlCol="0" anchor="t"/>
          <a:lstStyle/>
          <a:p>
            <a:pPr marL="0" indent="0">
              <a:buNone/>
            </a:pPr>
            <a:r>
              <a:rPr lang="it-IT" sz="1100" dirty="0">
                <a:solidFill>
                  <a:schemeClr val="tx2"/>
                </a:solidFill>
              </a:rPr>
              <a:t>Un errore può propagarsi e le azioni hanno effetti reali. Si gestiscono con permessi minimi, conferme e registri delle attività.</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39</a:t>
            </a:fld>
            <a:endParaRPr lang="en-US"/>
          </a:p>
        </p:txBody>
      </p:sp>
      <p:sp>
        <p:nvSpPr>
          <p:cNvPr id="28" name="messaggio"/>
          <p:cNvSpPr/>
          <p:nvPr/>
        </p:nvSpPr>
        <p:spPr>
          <a:xfrm>
            <a:off x="457200" y="4114800"/>
            <a:ext cx="8229600" cy="411480"/>
          </a:xfrm>
          <a:prstGeom prst="roundRect">
            <a:avLst>
              <a:gd name="adj" fmla="val 17778"/>
            </a:avLst>
          </a:prstGeom>
          <a:solidFill>
            <a:schemeClr val="tx1"/>
          </a:solidFill>
          <a:ln/>
        </p:spPr>
        <p:txBody>
          <a:bodyPr/>
          <a:lstStyle/>
          <a:p>
            <a:endParaRPr lang="it-IT"/>
          </a:p>
        </p:txBody>
      </p:sp>
      <p:sp>
        <p:nvSpPr>
          <p:cNvPr id="29" name="Text 2"/>
          <p:cNvSpPr txBox="1"/>
          <p:nvPr/>
        </p:nvSpPr>
        <p:spPr>
          <a:xfrm>
            <a:off x="640080" y="4114800"/>
            <a:ext cx="7863840" cy="411480"/>
          </a:xfrm>
          <a:prstGeom prst="rect">
            <a:avLst/>
          </a:prstGeom>
          <a:noFill/>
          <a:ln/>
        </p:spPr>
        <p:txBody>
          <a:bodyPr wrap="square" lIns="0" tIns="0" rIns="0" bIns="0" rtlCol="0" anchor="ctr"/>
          <a:lstStyle/>
          <a:p>
            <a:pPr marL="0" indent="0">
              <a:buNone/>
            </a:pPr>
            <a:r>
              <a:rPr lang="it-IT" sz="1300" dirty="0">
                <a:solidFill>
                  <a:schemeClr val="bg1"/>
                </a:solidFill>
              </a:rPr>
              <a:t>Gli agenti ampliano le possibilità di automazione e delega, con livelli di autonomia e controllo da adattare al contesto.</a:t>
            </a:r>
            <a:endParaRPr lang="it-IT"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Automazioni tradizionali e workflow con AI</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57200">
                <a:tc>
                  <a:txBody>
                    <a:bodyPr/>
                    <a:lstStyle/>
                    <a:p>
                      <a:pPr marL="0" indent="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b="1" dirty="0">
                          <a:solidFill>
                            <a:schemeClr val="bg1"/>
                          </a:solidFill>
                        </a:rPr>
                        <a:t>Automazione tradizionale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Workflow con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Agente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chemeClr val="tx1"/>
                          </a:solidFill>
                        </a:rPr>
                        <a:t>Chi decide la sequenza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Chi progetta il flusso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Chi progetta il flusso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Il sistema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chemeClr val="tx1"/>
                          </a:solidFill>
                        </a:rPr>
                        <a:t>Ruolo dell'AI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Nessuno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Compiti precisi in alcuni passaggi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Pianifica ed esegue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chemeClr val="tx1"/>
                          </a:solidFill>
                        </a:rPr>
                        <a:t>Prevedibilità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Generalmente elevata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In genere alta, se ben progettato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Più variabile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chemeClr val="tx1"/>
                          </a:solidFill>
                        </a:rPr>
                        <a:t>Flessibilità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Bassa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Media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chemeClr val="tx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Archivia e notifica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Estrae e registra i dati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Gestisce l'intera pratica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messaggio"/>
          <p:cNvSpPr/>
          <p:nvPr/>
        </p:nvSpPr>
        <p:spPr>
          <a:xfrm>
            <a:off x="457200" y="4160520"/>
            <a:ext cx="8229600" cy="502920"/>
          </a:xfrm>
          <a:prstGeom prst="roundRect">
            <a:avLst>
              <a:gd name="adj" fmla="val 14545"/>
            </a:avLst>
          </a:prstGeom>
          <a:solidFill>
            <a:schemeClr val="tx1"/>
          </a:solidFill>
          <a:ln/>
        </p:spPr>
        <p:txBody>
          <a:bodyPr/>
          <a:lstStyle/>
          <a:p>
            <a:endParaRPr lang="it-IT"/>
          </a:p>
        </p:txBody>
      </p:sp>
      <p:sp>
        <p:nvSpPr>
          <p:cNvPr id="6" name="Text 2"/>
          <p:cNvSpPr txBox="1"/>
          <p:nvPr/>
        </p:nvSpPr>
        <p:spPr>
          <a:xfrm>
            <a:off x="640080" y="4160520"/>
            <a:ext cx="7863840" cy="502920"/>
          </a:xfrm>
          <a:prstGeom prst="rect">
            <a:avLst/>
          </a:prstGeom>
          <a:noFill/>
          <a:ln/>
        </p:spPr>
        <p:txBody>
          <a:bodyPr wrap="square" lIns="0" tIns="0" rIns="0" bIns="0" rtlCol="0" anchor="ctr"/>
          <a:lstStyle/>
          <a:p>
            <a:pPr marL="0" indent="0">
              <a:buNone/>
            </a:pPr>
            <a:r>
              <a:rPr lang="it-IT" sz="1250" dirty="0">
                <a:solidFill>
                  <a:schemeClr val="bg1"/>
                </a:solidFill>
              </a:rPr>
              <a:t>Nessuna opzione è sempre migliore: nei processi ricorrenti un workflow con AI è spesso più controllabile, l'agente aiuta dove serve flessibilità.</a:t>
            </a:r>
            <a:endParaRPr lang="it-IT"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Livelli di autonomia e supervisione umana</a:t>
            </a:r>
            <a:endParaRPr lang="en-US" sz="2600" dirty="0"/>
          </a:p>
        </p:txBody>
      </p:sp>
      <p:sp>
        <p:nvSpPr>
          <p:cNvPr id="4" name="Persona nel ciclo"/>
          <p:cNvSpPr/>
          <p:nvPr/>
        </p:nvSpPr>
        <p:spPr>
          <a:xfrm>
            <a:off x="457200" y="1097280"/>
            <a:ext cx="2615184" cy="1783080"/>
          </a:xfrm>
          <a:prstGeom prst="roundRect">
            <a:avLst>
              <a:gd name="adj" fmla="val 3333"/>
            </a:avLst>
          </a:prstGeom>
          <a:solidFill>
            <a:schemeClr val="accent6"/>
          </a:solidFill>
          <a:ln/>
        </p:spPr>
        <p:txBody>
          <a:bodyPr/>
          <a:lstStyle/>
          <a:p>
            <a:endParaRPr lang="it-IT"/>
          </a:p>
        </p:txBody>
      </p:sp>
      <p:sp>
        <p:nvSpPr>
          <p:cNvPr id="5" name="Text 2"/>
          <p:cNvSpPr txBox="1"/>
          <p:nvPr/>
        </p:nvSpPr>
        <p:spPr>
          <a:xfrm>
            <a:off x="640080" y="1207008"/>
            <a:ext cx="2249424" cy="365760"/>
          </a:xfrm>
          <a:prstGeom prst="rect">
            <a:avLst/>
          </a:prstGeom>
          <a:noFill/>
          <a:ln/>
        </p:spPr>
        <p:txBody>
          <a:bodyPr wrap="square" lIns="0" tIns="0" rIns="0" bIns="0" rtlCol="0" anchor="t"/>
          <a:lstStyle/>
          <a:p>
            <a:pPr marL="0" indent="0">
              <a:buNone/>
            </a:pPr>
            <a:r>
              <a:rPr lang="en-US" sz="1500" b="1" dirty="0">
                <a:solidFill>
                  <a:schemeClr val="tx1"/>
                </a:solidFill>
              </a:rPr>
              <a:t>Persona nel ciclo</a:t>
            </a:r>
            <a:endParaRPr lang="en-US" sz="1500" dirty="0"/>
          </a:p>
        </p:txBody>
      </p:sp>
      <p:sp>
        <p:nvSpPr>
          <p:cNvPr id="6" name="Text 3"/>
          <p:cNvSpPr txBox="1"/>
          <p:nvPr/>
        </p:nvSpPr>
        <p:spPr>
          <a:xfrm>
            <a:off x="640080" y="1600200"/>
            <a:ext cx="2249424" cy="640080"/>
          </a:xfrm>
          <a:prstGeom prst="rect">
            <a:avLst/>
          </a:prstGeom>
          <a:noFill/>
          <a:ln/>
        </p:spPr>
        <p:txBody>
          <a:bodyPr wrap="square" lIns="0" tIns="0" rIns="0" bIns="0" rtlCol="0" anchor="t"/>
          <a:lstStyle/>
          <a:p>
            <a:pPr marL="0" indent="0">
              <a:buNone/>
            </a:pPr>
            <a:r>
              <a:rPr lang="en-US" sz="1300" b="1" dirty="0">
                <a:solidFill>
                  <a:schemeClr val="accent1"/>
                </a:solidFill>
              </a:rPr>
              <a:t>Approva ogni passaggio o azione rilevante</a:t>
            </a:r>
            <a:endParaRPr lang="en-US" sz="1300" dirty="0"/>
          </a:p>
        </p:txBody>
      </p:sp>
      <p:sp>
        <p:nvSpPr>
          <p:cNvPr id="7" name="Text 4"/>
          <p:cNvSpPr txBox="1"/>
          <p:nvPr/>
        </p:nvSpPr>
        <p:spPr>
          <a:xfrm>
            <a:off x="640080" y="2286000"/>
            <a:ext cx="2249424" cy="548640"/>
          </a:xfrm>
          <a:prstGeom prst="rect">
            <a:avLst/>
          </a:prstGeom>
          <a:noFill/>
          <a:ln/>
        </p:spPr>
        <p:txBody>
          <a:bodyPr wrap="square" lIns="0" tIns="0" rIns="0" bIns="0" rtlCol="0" anchor="t"/>
          <a:lstStyle/>
          <a:p>
            <a:pPr marL="0" indent="0">
              <a:buNone/>
            </a:pPr>
            <a:r>
              <a:rPr lang="en-US" sz="1200" dirty="0">
                <a:solidFill>
                  <a:schemeClr val="tx1"/>
                </a:solidFill>
              </a:rPr>
              <a:t>Esempio: L'agente prepara l'email, la invia solo dopo conferma</a:t>
            </a:r>
            <a:endParaRPr lang="en-US" sz="1200" dirty="0"/>
          </a:p>
        </p:txBody>
      </p:sp>
      <p:sp>
        <p:nvSpPr>
          <p:cNvPr id="8" name="Persona sopra il ciclo"/>
          <p:cNvSpPr/>
          <p:nvPr/>
        </p:nvSpPr>
        <p:spPr>
          <a:xfrm>
            <a:off x="3264408" y="1097280"/>
            <a:ext cx="2615184" cy="1783080"/>
          </a:xfrm>
          <a:prstGeom prst="roundRect">
            <a:avLst>
              <a:gd name="adj" fmla="val 3333"/>
            </a:avLst>
          </a:prstGeom>
          <a:solidFill>
            <a:schemeClr val="bg2"/>
          </a:solidFill>
          <a:ln/>
        </p:spPr>
        <p:txBody>
          <a:bodyPr/>
          <a:lstStyle/>
          <a:p>
            <a:endParaRPr lang="it-IT"/>
          </a:p>
        </p:txBody>
      </p:sp>
      <p:sp>
        <p:nvSpPr>
          <p:cNvPr id="9" name="Text 6"/>
          <p:cNvSpPr txBox="1"/>
          <p:nvPr/>
        </p:nvSpPr>
        <p:spPr>
          <a:xfrm>
            <a:off x="3447288" y="1207008"/>
            <a:ext cx="2249424" cy="365760"/>
          </a:xfrm>
          <a:prstGeom prst="rect">
            <a:avLst/>
          </a:prstGeom>
          <a:noFill/>
          <a:ln/>
        </p:spPr>
        <p:txBody>
          <a:bodyPr wrap="square" lIns="0" tIns="0" rIns="0" bIns="0" rtlCol="0" anchor="t"/>
          <a:lstStyle/>
          <a:p>
            <a:pPr marL="0" indent="0">
              <a:buNone/>
            </a:pPr>
            <a:r>
              <a:rPr lang="en-US" sz="1500" b="1" dirty="0">
                <a:solidFill>
                  <a:schemeClr val="tx1"/>
                </a:solidFill>
              </a:rPr>
              <a:t>Persona sopra il ciclo</a:t>
            </a:r>
            <a:endParaRPr lang="en-US" sz="1500" dirty="0"/>
          </a:p>
        </p:txBody>
      </p:sp>
      <p:sp>
        <p:nvSpPr>
          <p:cNvPr id="10" name="Text 7"/>
          <p:cNvSpPr txBox="1"/>
          <p:nvPr/>
        </p:nvSpPr>
        <p:spPr>
          <a:xfrm>
            <a:off x="3447288" y="1600200"/>
            <a:ext cx="2249424" cy="640080"/>
          </a:xfrm>
          <a:prstGeom prst="rect">
            <a:avLst/>
          </a:prstGeom>
          <a:noFill/>
          <a:ln/>
        </p:spPr>
        <p:txBody>
          <a:bodyPr wrap="square" lIns="0" tIns="0" rIns="0" bIns="0" rtlCol="0" anchor="t"/>
          <a:lstStyle/>
          <a:p>
            <a:pPr marL="0" indent="0">
              <a:buNone/>
            </a:pPr>
            <a:r>
              <a:rPr lang="en-US" sz="1300" b="1" dirty="0">
                <a:solidFill>
                  <a:schemeClr val="accent1"/>
                </a:solidFill>
              </a:rPr>
              <a:t>Monitora, può fermare, controlla su eccezioni</a:t>
            </a:r>
            <a:endParaRPr lang="en-US" sz="1300" dirty="0"/>
          </a:p>
        </p:txBody>
      </p:sp>
      <p:sp>
        <p:nvSpPr>
          <p:cNvPr id="11" name="Text 8"/>
          <p:cNvSpPr txBox="1"/>
          <p:nvPr/>
        </p:nvSpPr>
        <p:spPr>
          <a:xfrm>
            <a:off x="3447288" y="2286000"/>
            <a:ext cx="2249424" cy="548640"/>
          </a:xfrm>
          <a:prstGeom prst="rect">
            <a:avLst/>
          </a:prstGeom>
          <a:noFill/>
          <a:ln/>
        </p:spPr>
        <p:txBody>
          <a:bodyPr wrap="square" lIns="0" tIns="0" rIns="0" bIns="0" rtlCol="0" anchor="t"/>
          <a:lstStyle/>
          <a:p>
            <a:pPr marL="0" indent="0">
              <a:buNone/>
            </a:pPr>
            <a:r>
              <a:rPr lang="en-US" sz="1200" dirty="0">
                <a:solidFill>
                  <a:schemeClr val="tx1"/>
                </a:solidFill>
              </a:rPr>
              <a:t>Esempio: Classificazione automatica con controlli a campione</a:t>
            </a:r>
            <a:endParaRPr lang="en-US" sz="1200" dirty="0"/>
          </a:p>
        </p:txBody>
      </p:sp>
      <p:sp>
        <p:nvSpPr>
          <p:cNvPr id="12" name="Persona fuori dal ciclo"/>
          <p:cNvSpPr/>
          <p:nvPr/>
        </p:nvSpPr>
        <p:spPr>
          <a:xfrm>
            <a:off x="6071616" y="1097280"/>
            <a:ext cx="2615184" cy="1783080"/>
          </a:xfrm>
          <a:prstGeom prst="roundRect">
            <a:avLst>
              <a:gd name="adj" fmla="val 3333"/>
            </a:avLst>
          </a:prstGeom>
          <a:solidFill>
            <a:schemeClr val="tx1"/>
          </a:solidFill>
          <a:ln/>
        </p:spPr>
        <p:txBody>
          <a:bodyPr/>
          <a:lstStyle/>
          <a:p>
            <a:endParaRPr lang="it-IT"/>
          </a:p>
        </p:txBody>
      </p:sp>
      <p:sp>
        <p:nvSpPr>
          <p:cNvPr id="13" name="Text 10"/>
          <p:cNvSpPr txBox="1"/>
          <p:nvPr/>
        </p:nvSpPr>
        <p:spPr>
          <a:xfrm>
            <a:off x="6254496" y="1207008"/>
            <a:ext cx="2249424" cy="365760"/>
          </a:xfrm>
          <a:prstGeom prst="rect">
            <a:avLst/>
          </a:prstGeom>
          <a:noFill/>
          <a:ln/>
        </p:spPr>
        <p:txBody>
          <a:bodyPr wrap="square" lIns="0" tIns="0" rIns="0" bIns="0" rtlCol="0" anchor="t"/>
          <a:lstStyle/>
          <a:p>
            <a:pPr marL="0" indent="0">
              <a:buNone/>
            </a:pPr>
            <a:r>
              <a:rPr lang="en-US" sz="1500" b="1" dirty="0">
                <a:solidFill>
                  <a:schemeClr val="bg1"/>
                </a:solidFill>
              </a:rPr>
              <a:t>Persona fuori dal ciclo</a:t>
            </a:r>
            <a:endParaRPr lang="en-US" sz="1500" dirty="0"/>
          </a:p>
        </p:txBody>
      </p:sp>
      <p:sp>
        <p:nvSpPr>
          <p:cNvPr id="14" name="Text 11"/>
          <p:cNvSpPr txBox="1"/>
          <p:nvPr/>
        </p:nvSpPr>
        <p:spPr>
          <a:xfrm>
            <a:off x="6254496" y="1600200"/>
            <a:ext cx="2249424" cy="640080"/>
          </a:xfrm>
          <a:prstGeom prst="rect">
            <a:avLst/>
          </a:prstGeom>
          <a:noFill/>
          <a:ln/>
        </p:spPr>
        <p:txBody>
          <a:bodyPr wrap="square" lIns="0" tIns="0" rIns="0" bIns="0" rtlCol="0" anchor="t"/>
          <a:lstStyle/>
          <a:p>
            <a:pPr marL="0" indent="0">
              <a:buNone/>
            </a:pPr>
            <a:r>
              <a:rPr lang="en-US" sz="1300" b="1" dirty="0">
                <a:solidFill>
                  <a:schemeClr val="accent6"/>
                </a:solidFill>
              </a:rPr>
              <a:t>Nessuna supervisione diretta</a:t>
            </a:r>
            <a:endParaRPr lang="en-US" sz="1300" dirty="0"/>
          </a:p>
        </p:txBody>
      </p:sp>
      <p:sp>
        <p:nvSpPr>
          <p:cNvPr id="15" name="Text 12"/>
          <p:cNvSpPr txBox="1"/>
          <p:nvPr/>
        </p:nvSpPr>
        <p:spPr>
          <a:xfrm>
            <a:off x="6254496" y="2286000"/>
            <a:ext cx="2249424" cy="548640"/>
          </a:xfrm>
          <a:prstGeom prst="rect">
            <a:avLst/>
          </a:prstGeom>
          <a:noFill/>
          <a:ln/>
        </p:spPr>
        <p:txBody>
          <a:bodyPr wrap="square" lIns="0" tIns="0" rIns="0" bIns="0" rtlCol="0" anchor="t"/>
          <a:lstStyle/>
          <a:p>
            <a:pPr marL="0" indent="0">
              <a:buNone/>
            </a:pPr>
            <a:r>
              <a:rPr lang="en-US" sz="1200" dirty="0">
                <a:solidFill>
                  <a:schemeClr val="bg1"/>
                </a:solidFill>
              </a:rPr>
              <a:t>Esempio: Solo attività a basso impatto, collaudate, reversibili</a:t>
            </a:r>
            <a:endParaRPr lang="en-US" sz="1200" dirty="0"/>
          </a:p>
        </p:txBody>
      </p:sp>
      <p:sp>
        <p:nvSpPr>
          <p:cNvPr id="16" name="scheda Conferma per azioni con effetti esterni"/>
          <p:cNvSpPr/>
          <p:nvPr/>
        </p:nvSpPr>
        <p:spPr>
          <a:xfrm>
            <a:off x="457200" y="3474720"/>
            <a:ext cx="3977640" cy="1051560"/>
          </a:xfrm>
          <a:prstGeom prst="roundRect">
            <a:avLst>
              <a:gd name="adj" fmla="val 6957"/>
            </a:avLst>
          </a:prstGeom>
          <a:solidFill>
            <a:schemeClr val="bg2"/>
          </a:solidFill>
          <a:ln/>
        </p:spPr>
        <p:txBody>
          <a:bodyPr/>
          <a:lstStyle/>
          <a:p>
            <a:endParaRPr lang="it-IT"/>
          </a:p>
        </p:txBody>
      </p:sp>
      <p:sp>
        <p:nvSpPr>
          <p:cNvPr id="17" name="cerchio FiCheckSquare"/>
          <p:cNvSpPr/>
          <p:nvPr/>
        </p:nvSpPr>
        <p:spPr>
          <a:xfrm>
            <a:off x="640080" y="3657600"/>
            <a:ext cx="457200" cy="457200"/>
          </a:xfrm>
          <a:prstGeom prst="ellipse">
            <a:avLst/>
          </a:prstGeom>
          <a:solidFill>
            <a:schemeClr val="accent1"/>
          </a:solidFill>
          <a:ln/>
        </p:spPr>
        <p:txBody>
          <a:bodyPr/>
          <a:lstStyle/>
          <a:p>
            <a:endParaRPr lang="it-IT"/>
          </a:p>
        </p:txBody>
      </p:sp>
      <p:pic>
        <p:nvPicPr>
          <p:cNvPr id="18" name="Image 0" descr="FiCheckSquare"/>
          <p:cNvPicPr>
            <a:picLocks noChangeAspect="1"/>
          </p:cNvPicPr>
          <p:nvPr/>
        </p:nvPicPr>
        <p:blipFill>
          <a:blip r:embed="rId3"/>
          <a:stretch>
            <a:fillRect/>
          </a:stretch>
        </p:blipFill>
        <p:spPr>
          <a:xfrm>
            <a:off x="754380" y="3771900"/>
            <a:ext cx="228600" cy="228600"/>
          </a:xfrm>
          <a:prstGeom prst="rect">
            <a:avLst/>
          </a:prstGeom>
        </p:spPr>
      </p:pic>
      <p:sp>
        <p:nvSpPr>
          <p:cNvPr id="19" name="Text 15"/>
          <p:cNvSpPr txBox="1"/>
          <p:nvPr/>
        </p:nvSpPr>
        <p:spPr>
          <a:xfrm>
            <a:off x="1234440" y="3657600"/>
            <a:ext cx="3017520" cy="457200"/>
          </a:xfrm>
          <a:prstGeom prst="rect">
            <a:avLst/>
          </a:prstGeom>
          <a:noFill/>
          <a:ln/>
        </p:spPr>
        <p:txBody>
          <a:bodyPr wrap="square" lIns="0" tIns="0" rIns="0" bIns="0" rtlCol="0" anchor="ctr"/>
          <a:lstStyle/>
          <a:p>
            <a:pPr marL="0" indent="0">
              <a:buNone/>
            </a:pPr>
            <a:r>
              <a:rPr lang="en-US" sz="1500" b="1" dirty="0">
                <a:solidFill>
                  <a:schemeClr val="tx1"/>
                </a:solidFill>
              </a:rPr>
              <a:t>Conferma per azioni con effetti esterni</a:t>
            </a:r>
            <a:endParaRPr lang="en-US" sz="1500" dirty="0"/>
          </a:p>
        </p:txBody>
      </p:sp>
      <p:sp>
        <p:nvSpPr>
          <p:cNvPr id="20" name="Text 16"/>
          <p:cNvSpPr txBox="1"/>
          <p:nvPr/>
        </p:nvSpPr>
        <p:spPr>
          <a:xfrm>
            <a:off x="640080" y="4251960"/>
            <a:ext cx="3611880" cy="164592"/>
          </a:xfrm>
          <a:prstGeom prst="rect">
            <a:avLst/>
          </a:prstGeom>
          <a:noFill/>
          <a:ln/>
        </p:spPr>
        <p:txBody>
          <a:bodyPr wrap="square" lIns="0" tIns="0" rIns="0" bIns="0" rtlCol="0" anchor="t"/>
          <a:lstStyle/>
          <a:p>
            <a:pPr marL="0" indent="0">
              <a:buNone/>
            </a:pPr>
            <a:r>
              <a:rPr lang="en-US" sz="1100" dirty="0">
                <a:solidFill>
                  <a:schemeClr val="tx2"/>
                </a:solidFill>
              </a:rPr>
              <a:t>Comunicazioni, pagamenti, modifiche, cancellazioni</a:t>
            </a:r>
            <a:endParaRPr lang="en-US" sz="1100" dirty="0"/>
          </a:p>
        </p:txBody>
      </p:sp>
      <p:sp>
        <p:nvSpPr>
          <p:cNvPr id="21" name="scheda Permessi minimi necessari"/>
          <p:cNvSpPr/>
          <p:nvPr/>
        </p:nvSpPr>
        <p:spPr>
          <a:xfrm>
            <a:off x="4709160" y="3474720"/>
            <a:ext cx="3977640" cy="1051560"/>
          </a:xfrm>
          <a:prstGeom prst="roundRect">
            <a:avLst>
              <a:gd name="adj" fmla="val 6957"/>
            </a:avLst>
          </a:prstGeom>
          <a:solidFill>
            <a:schemeClr val="accent6"/>
          </a:solidFill>
          <a:ln/>
        </p:spPr>
        <p:txBody>
          <a:bodyPr/>
          <a:lstStyle/>
          <a:p>
            <a:endParaRPr lang="it-IT"/>
          </a:p>
        </p:txBody>
      </p:sp>
      <p:sp>
        <p:nvSpPr>
          <p:cNvPr id="22" name="cerchio FiKey"/>
          <p:cNvSpPr/>
          <p:nvPr/>
        </p:nvSpPr>
        <p:spPr>
          <a:xfrm>
            <a:off x="4892040" y="3657600"/>
            <a:ext cx="457200" cy="457200"/>
          </a:xfrm>
          <a:prstGeom prst="ellipse">
            <a:avLst/>
          </a:prstGeom>
          <a:solidFill>
            <a:schemeClr val="accent1"/>
          </a:solidFill>
          <a:ln/>
        </p:spPr>
        <p:txBody>
          <a:bodyPr/>
          <a:lstStyle/>
          <a:p>
            <a:endParaRPr lang="it-IT"/>
          </a:p>
        </p:txBody>
      </p:sp>
      <p:pic>
        <p:nvPicPr>
          <p:cNvPr id="23" name="Image 1" descr="FiKey"/>
          <p:cNvPicPr>
            <a:picLocks noChangeAspect="1"/>
          </p:cNvPicPr>
          <p:nvPr/>
        </p:nvPicPr>
        <p:blipFill>
          <a:blip r:embed="rId4"/>
          <a:stretch>
            <a:fillRect/>
          </a:stretch>
        </p:blipFill>
        <p:spPr>
          <a:xfrm>
            <a:off x="5006340" y="3771900"/>
            <a:ext cx="228600" cy="228600"/>
          </a:xfrm>
          <a:prstGeom prst="rect">
            <a:avLst/>
          </a:prstGeom>
        </p:spPr>
      </p:pic>
      <p:sp>
        <p:nvSpPr>
          <p:cNvPr id="24" name="Text 19"/>
          <p:cNvSpPr txBox="1"/>
          <p:nvPr/>
        </p:nvSpPr>
        <p:spPr>
          <a:xfrm>
            <a:off x="5486400" y="3657600"/>
            <a:ext cx="3017520" cy="457200"/>
          </a:xfrm>
          <a:prstGeom prst="rect">
            <a:avLst/>
          </a:prstGeom>
          <a:noFill/>
          <a:ln/>
        </p:spPr>
        <p:txBody>
          <a:bodyPr wrap="square" lIns="0" tIns="0" rIns="0" bIns="0" rtlCol="0" anchor="ctr"/>
          <a:lstStyle/>
          <a:p>
            <a:pPr marL="0" indent="0">
              <a:buNone/>
            </a:pPr>
            <a:r>
              <a:rPr lang="en-US" sz="1500" b="1" dirty="0">
                <a:solidFill>
                  <a:schemeClr val="tx1"/>
                </a:solidFill>
              </a:rPr>
              <a:t>Permessi minimi necessari</a:t>
            </a:r>
            <a:endParaRPr lang="en-US" sz="1500" dirty="0"/>
          </a:p>
        </p:txBody>
      </p:sp>
      <p:sp>
        <p:nvSpPr>
          <p:cNvPr id="25" name="Text 20"/>
          <p:cNvSpPr txBox="1"/>
          <p:nvPr/>
        </p:nvSpPr>
        <p:spPr>
          <a:xfrm>
            <a:off x="4892040" y="4251960"/>
            <a:ext cx="3611880" cy="164592"/>
          </a:xfrm>
          <a:prstGeom prst="rect">
            <a:avLst/>
          </a:prstGeom>
          <a:noFill/>
          <a:ln/>
        </p:spPr>
        <p:txBody>
          <a:bodyPr wrap="square" lIns="0" tIns="0" rIns="0" bIns="0" rtlCol="0" anchor="t"/>
          <a:lstStyle/>
          <a:p>
            <a:pPr marL="0" indent="0">
              <a:buNone/>
            </a:pPr>
            <a:r>
              <a:rPr lang="en-US" sz="1100" dirty="0">
                <a:solidFill>
                  <a:schemeClr val="tx2"/>
                </a:solidFill>
              </a:rPr>
              <a:t>Chi deve leggere non ha bisogno di cancellare</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41</a:t>
            </a:fld>
            <a:endParaRPr lang="en-US"/>
          </a:p>
        </p:txBody>
      </p:sp>
      <p:sp>
        <p:nvSpPr>
          <p:cNvPr id="26" name="Text 19"/>
          <p:cNvSpPr txBox="1"/>
          <p:nvPr/>
        </p:nvSpPr>
        <p:spPr>
          <a:xfrm>
            <a:off x="457200" y="2971800"/>
            <a:ext cx="8229600" cy="320040"/>
          </a:xfrm>
          <a:prstGeom prst="rect">
            <a:avLst/>
          </a:prstGeom>
          <a:noFill/>
          <a:ln/>
        </p:spPr>
        <p:txBody>
          <a:bodyPr wrap="square" lIns="0" tIns="0" rIns="0" bIns="0" rtlCol="0" anchor="ctr"/>
          <a:lstStyle/>
          <a:p>
            <a:pPr marL="0" indent="0">
              <a:buNone/>
            </a:pPr>
            <a:r>
              <a:rPr lang="it-IT" sz="1100" i="1" dirty="0">
                <a:solidFill>
                  <a:schemeClr val="accent2"/>
                </a:solidFill>
              </a:rPr>
              <a:t>Il livello giusto dipende dalle conseguenze delle azioni, dalla loro reversibilità e dall'affidabilità del sistema.</a:t>
            </a:r>
            <a:endParaRPr lang="it-IT"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4.6</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Modalità di accesso e utilizzo dell'AI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Capacità analoghe possono essere disponibili in modalità diverse, con implicazioni tecniche, economiche e organizzative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Le principali modalità di accesso</a:t>
            </a:r>
            <a:endParaRPr lang="en-US" sz="2600" dirty="0"/>
          </a:p>
        </p:txBody>
      </p:sp>
      <p:sp>
        <p:nvSpPr>
          <p:cNvPr id="4" name="App web, desktop, mobili"/>
          <p:cNvSpPr/>
          <p:nvPr/>
        </p:nvSpPr>
        <p:spPr>
          <a:xfrm>
            <a:off x="457200" y="1051560"/>
            <a:ext cx="8229600" cy="621792"/>
          </a:xfrm>
          <a:prstGeom prst="roundRect">
            <a:avLst>
              <a:gd name="adj" fmla="val 11765"/>
            </a:avLst>
          </a:prstGeom>
          <a:solidFill>
            <a:schemeClr val="bg2"/>
          </a:solidFill>
          <a:ln/>
        </p:spPr>
        <p:txBody>
          <a:bodyPr/>
          <a:lstStyle/>
          <a:p>
            <a:endParaRPr lang="it-IT"/>
          </a:p>
        </p:txBody>
      </p:sp>
      <p:sp>
        <p:nvSpPr>
          <p:cNvPr id="5" name="cerchio FiMonitor"/>
          <p:cNvSpPr/>
          <p:nvPr/>
        </p:nvSpPr>
        <p:spPr>
          <a:xfrm>
            <a:off x="566928" y="1143000"/>
            <a:ext cx="438912" cy="438912"/>
          </a:xfrm>
          <a:prstGeom prst="ellipse">
            <a:avLst/>
          </a:prstGeom>
          <a:solidFill>
            <a:schemeClr val="accent1"/>
          </a:solidFill>
          <a:ln/>
        </p:spPr>
        <p:txBody>
          <a:bodyPr/>
          <a:lstStyle/>
          <a:p>
            <a:endParaRPr lang="it-IT"/>
          </a:p>
        </p:txBody>
      </p:sp>
      <p:pic>
        <p:nvPicPr>
          <p:cNvPr id="6" name="Image 0" descr="FiMonitor"/>
          <p:cNvPicPr>
            <a:picLocks noChangeAspect="1"/>
          </p:cNvPicPr>
          <p:nvPr/>
        </p:nvPicPr>
        <p:blipFill>
          <a:blip r:embed="rId3"/>
          <a:stretch>
            <a:fillRect/>
          </a:stretch>
        </p:blipFill>
        <p:spPr>
          <a:xfrm>
            <a:off x="676656" y="1252728"/>
            <a:ext cx="219456" cy="219456"/>
          </a:xfrm>
          <a:prstGeom prst="rect">
            <a:avLst/>
          </a:prstGeom>
        </p:spPr>
      </p:pic>
      <p:sp>
        <p:nvSpPr>
          <p:cNvPr id="7" name="Text 3"/>
          <p:cNvSpPr txBox="1"/>
          <p:nvPr/>
        </p:nvSpPr>
        <p:spPr>
          <a:xfrm>
            <a:off x="1143000" y="1051560"/>
            <a:ext cx="3108960" cy="621792"/>
          </a:xfrm>
          <a:prstGeom prst="rect">
            <a:avLst/>
          </a:prstGeom>
          <a:noFill/>
          <a:ln/>
        </p:spPr>
        <p:txBody>
          <a:bodyPr wrap="square" lIns="0" tIns="0" rIns="0" bIns="0" rtlCol="0" anchor="ctr"/>
          <a:lstStyle/>
          <a:p>
            <a:pPr marL="0" indent="0">
              <a:buNone/>
            </a:pPr>
            <a:r>
              <a:rPr lang="en-US" sz="1400" b="1" dirty="0">
                <a:solidFill>
                  <a:schemeClr val="tx1"/>
                </a:solidFill>
              </a:rPr>
              <a:t>App web, desktop, mobili</a:t>
            </a:r>
            <a:endParaRPr lang="en-US" sz="1400" dirty="0"/>
          </a:p>
        </p:txBody>
      </p:sp>
      <p:sp>
        <p:nvSpPr>
          <p:cNvPr id="8" name="Text 4"/>
          <p:cNvSpPr txBox="1"/>
          <p:nvPr/>
        </p:nvSpPr>
        <p:spPr>
          <a:xfrm>
            <a:off x="4297680" y="1051560"/>
            <a:ext cx="4297680" cy="621792"/>
          </a:xfrm>
          <a:prstGeom prst="rect">
            <a:avLst/>
          </a:prstGeom>
          <a:noFill/>
          <a:ln/>
        </p:spPr>
        <p:txBody>
          <a:bodyPr wrap="square" lIns="0" tIns="0" rIns="0" bIns="0" rtlCol="0" anchor="ctr"/>
          <a:lstStyle/>
          <a:p>
            <a:pPr marL="0" indent="0">
              <a:buNone/>
            </a:pPr>
            <a:r>
              <a:rPr lang="en-US" sz="1300" dirty="0">
                <a:solidFill>
                  <a:schemeClr val="tx2"/>
                </a:solidFill>
              </a:rPr>
              <a:t>Uso diretto da browser, programma o telefono</a:t>
            </a:r>
            <a:endParaRPr lang="en-US" sz="1300" dirty="0"/>
          </a:p>
        </p:txBody>
      </p:sp>
      <p:sp>
        <p:nvSpPr>
          <p:cNvPr id="9" name="Integrata in app esistenti"/>
          <p:cNvSpPr/>
          <p:nvPr/>
        </p:nvSpPr>
        <p:spPr>
          <a:xfrm>
            <a:off x="457200" y="1755648"/>
            <a:ext cx="8229600" cy="621792"/>
          </a:xfrm>
          <a:prstGeom prst="roundRect">
            <a:avLst>
              <a:gd name="adj" fmla="val 11765"/>
            </a:avLst>
          </a:prstGeom>
          <a:solidFill>
            <a:schemeClr val="bg1"/>
          </a:solidFill>
          <a:ln/>
        </p:spPr>
        <p:txBody>
          <a:bodyPr/>
          <a:lstStyle/>
          <a:p>
            <a:endParaRPr lang="it-IT"/>
          </a:p>
        </p:txBody>
      </p:sp>
      <p:sp>
        <p:nvSpPr>
          <p:cNvPr id="10" name="cerchio FiGrid"/>
          <p:cNvSpPr/>
          <p:nvPr/>
        </p:nvSpPr>
        <p:spPr>
          <a:xfrm>
            <a:off x="566928" y="1847088"/>
            <a:ext cx="438912" cy="438912"/>
          </a:xfrm>
          <a:prstGeom prst="ellipse">
            <a:avLst/>
          </a:prstGeom>
          <a:solidFill>
            <a:schemeClr val="accent1"/>
          </a:solidFill>
          <a:ln/>
        </p:spPr>
        <p:txBody>
          <a:bodyPr/>
          <a:lstStyle/>
          <a:p>
            <a:endParaRPr lang="it-IT"/>
          </a:p>
        </p:txBody>
      </p:sp>
      <p:pic>
        <p:nvPicPr>
          <p:cNvPr id="11" name="Image 1" descr="FiGrid"/>
          <p:cNvPicPr>
            <a:picLocks noChangeAspect="1"/>
          </p:cNvPicPr>
          <p:nvPr/>
        </p:nvPicPr>
        <p:blipFill>
          <a:blip r:embed="rId4"/>
          <a:stretch>
            <a:fillRect/>
          </a:stretch>
        </p:blipFill>
        <p:spPr>
          <a:xfrm>
            <a:off x="676656" y="1956816"/>
            <a:ext cx="219456" cy="219456"/>
          </a:xfrm>
          <a:prstGeom prst="rect">
            <a:avLst/>
          </a:prstGeom>
        </p:spPr>
      </p:pic>
      <p:sp>
        <p:nvSpPr>
          <p:cNvPr id="12" name="Text 7"/>
          <p:cNvSpPr txBox="1"/>
          <p:nvPr/>
        </p:nvSpPr>
        <p:spPr>
          <a:xfrm>
            <a:off x="1143000" y="1755648"/>
            <a:ext cx="3108960" cy="621792"/>
          </a:xfrm>
          <a:prstGeom prst="rect">
            <a:avLst/>
          </a:prstGeom>
          <a:noFill/>
          <a:ln/>
        </p:spPr>
        <p:txBody>
          <a:bodyPr wrap="square" lIns="0" tIns="0" rIns="0" bIns="0" rtlCol="0" anchor="ctr"/>
          <a:lstStyle/>
          <a:p>
            <a:pPr marL="0" indent="0">
              <a:buNone/>
            </a:pPr>
            <a:r>
              <a:rPr lang="en-US" sz="1400" b="1" dirty="0">
                <a:solidFill>
                  <a:schemeClr val="tx1"/>
                </a:solidFill>
              </a:rPr>
              <a:t>Integrata in app esistenti</a:t>
            </a:r>
            <a:endParaRPr lang="en-US" sz="1400" dirty="0"/>
          </a:p>
        </p:txBody>
      </p:sp>
      <p:sp>
        <p:nvSpPr>
          <p:cNvPr id="13" name="Text 8"/>
          <p:cNvSpPr txBox="1"/>
          <p:nvPr/>
        </p:nvSpPr>
        <p:spPr>
          <a:xfrm>
            <a:off x="4297680" y="1755648"/>
            <a:ext cx="4297680" cy="621792"/>
          </a:xfrm>
          <a:prstGeom prst="rect">
            <a:avLst/>
          </a:prstGeom>
          <a:noFill/>
          <a:ln/>
        </p:spPr>
        <p:txBody>
          <a:bodyPr wrap="square" lIns="0" tIns="0" rIns="0" bIns="0" rtlCol="0" anchor="ctr"/>
          <a:lstStyle/>
          <a:p>
            <a:pPr marL="0" indent="0">
              <a:buNone/>
            </a:pPr>
            <a:r>
              <a:rPr lang="en-US" sz="1300" dirty="0">
                <a:solidFill>
                  <a:schemeClr val="tx2"/>
                </a:solidFill>
              </a:rPr>
              <a:t>Funzioni dentro i software già in uso</a:t>
            </a:r>
            <a:endParaRPr lang="en-US" sz="1300" dirty="0"/>
          </a:p>
        </p:txBody>
      </p:sp>
      <p:sp>
        <p:nvSpPr>
          <p:cNvPr id="14" name="API"/>
          <p:cNvSpPr/>
          <p:nvPr/>
        </p:nvSpPr>
        <p:spPr>
          <a:xfrm>
            <a:off x="457200" y="2459736"/>
            <a:ext cx="8229600" cy="621792"/>
          </a:xfrm>
          <a:prstGeom prst="roundRect">
            <a:avLst>
              <a:gd name="adj" fmla="val 11765"/>
            </a:avLst>
          </a:prstGeom>
          <a:solidFill>
            <a:schemeClr val="bg2"/>
          </a:solidFill>
          <a:ln/>
        </p:spPr>
        <p:txBody>
          <a:bodyPr/>
          <a:lstStyle/>
          <a:p>
            <a:endParaRPr lang="it-IT"/>
          </a:p>
        </p:txBody>
      </p:sp>
      <p:sp>
        <p:nvSpPr>
          <p:cNvPr id="15" name="cerchio FiCode"/>
          <p:cNvSpPr/>
          <p:nvPr/>
        </p:nvSpPr>
        <p:spPr>
          <a:xfrm>
            <a:off x="566928" y="2551176"/>
            <a:ext cx="438912" cy="438912"/>
          </a:xfrm>
          <a:prstGeom prst="ellipse">
            <a:avLst/>
          </a:prstGeom>
          <a:solidFill>
            <a:schemeClr val="accent1"/>
          </a:solidFill>
          <a:ln/>
        </p:spPr>
        <p:txBody>
          <a:bodyPr/>
          <a:lstStyle/>
          <a:p>
            <a:endParaRPr lang="it-IT"/>
          </a:p>
        </p:txBody>
      </p:sp>
      <p:pic>
        <p:nvPicPr>
          <p:cNvPr id="16" name="Image 2" descr="FiCode"/>
          <p:cNvPicPr>
            <a:picLocks noChangeAspect="1"/>
          </p:cNvPicPr>
          <p:nvPr/>
        </p:nvPicPr>
        <p:blipFill>
          <a:blip r:embed="rId5"/>
          <a:stretch>
            <a:fillRect/>
          </a:stretch>
        </p:blipFill>
        <p:spPr>
          <a:xfrm>
            <a:off x="676656" y="2660904"/>
            <a:ext cx="219456" cy="219456"/>
          </a:xfrm>
          <a:prstGeom prst="rect">
            <a:avLst/>
          </a:prstGeom>
        </p:spPr>
      </p:pic>
      <p:sp>
        <p:nvSpPr>
          <p:cNvPr id="17" name="Text 11"/>
          <p:cNvSpPr txBox="1"/>
          <p:nvPr/>
        </p:nvSpPr>
        <p:spPr>
          <a:xfrm>
            <a:off x="1143000" y="2459736"/>
            <a:ext cx="3108960" cy="621792"/>
          </a:xfrm>
          <a:prstGeom prst="rect">
            <a:avLst/>
          </a:prstGeom>
          <a:noFill/>
          <a:ln/>
        </p:spPr>
        <p:txBody>
          <a:bodyPr wrap="square" lIns="0" tIns="0" rIns="0" bIns="0" rtlCol="0" anchor="ctr"/>
          <a:lstStyle/>
          <a:p>
            <a:pPr marL="0" indent="0">
              <a:buNone/>
            </a:pPr>
            <a:r>
              <a:rPr lang="en-US" sz="1400" b="1" dirty="0">
                <a:solidFill>
                  <a:schemeClr val="tx1"/>
                </a:solidFill>
              </a:rPr>
              <a:t>API</a:t>
            </a:r>
            <a:endParaRPr lang="en-US" sz="1400" dirty="0"/>
          </a:p>
        </p:txBody>
      </p:sp>
      <p:sp>
        <p:nvSpPr>
          <p:cNvPr id="18" name="Text 12"/>
          <p:cNvSpPr txBox="1"/>
          <p:nvPr/>
        </p:nvSpPr>
        <p:spPr>
          <a:xfrm>
            <a:off x="4297680" y="2459736"/>
            <a:ext cx="4297680" cy="621792"/>
          </a:xfrm>
          <a:prstGeom prst="rect">
            <a:avLst/>
          </a:prstGeom>
          <a:noFill/>
          <a:ln/>
        </p:spPr>
        <p:txBody>
          <a:bodyPr wrap="square" lIns="0" tIns="0" rIns="0" bIns="0" rtlCol="0" anchor="ctr"/>
          <a:lstStyle/>
          <a:p>
            <a:pPr marL="0" indent="0">
              <a:buNone/>
            </a:pPr>
            <a:r>
              <a:rPr lang="en-US" sz="1300" dirty="0">
                <a:solidFill>
                  <a:schemeClr val="tx2"/>
                </a:solidFill>
              </a:rPr>
              <a:t>Un software chiama il modello in modo automatico</a:t>
            </a:r>
            <a:endParaRPr lang="en-US" sz="1300" dirty="0"/>
          </a:p>
        </p:txBody>
      </p:sp>
      <p:sp>
        <p:nvSpPr>
          <p:cNvPr id="19" name="Piattaforme cloud gestite"/>
          <p:cNvSpPr/>
          <p:nvPr/>
        </p:nvSpPr>
        <p:spPr>
          <a:xfrm>
            <a:off x="457200" y="3163824"/>
            <a:ext cx="8229600" cy="621792"/>
          </a:xfrm>
          <a:prstGeom prst="roundRect">
            <a:avLst>
              <a:gd name="adj" fmla="val 11765"/>
            </a:avLst>
          </a:prstGeom>
          <a:solidFill>
            <a:schemeClr val="bg1"/>
          </a:solidFill>
          <a:ln/>
        </p:spPr>
        <p:txBody>
          <a:bodyPr/>
          <a:lstStyle/>
          <a:p>
            <a:endParaRPr lang="it-IT"/>
          </a:p>
        </p:txBody>
      </p:sp>
      <p:sp>
        <p:nvSpPr>
          <p:cNvPr id="20" name="cerchio FiCloud"/>
          <p:cNvSpPr/>
          <p:nvPr/>
        </p:nvSpPr>
        <p:spPr>
          <a:xfrm>
            <a:off x="566928" y="3255264"/>
            <a:ext cx="438912" cy="438912"/>
          </a:xfrm>
          <a:prstGeom prst="ellipse">
            <a:avLst/>
          </a:prstGeom>
          <a:solidFill>
            <a:schemeClr val="accent1"/>
          </a:solidFill>
          <a:ln/>
        </p:spPr>
        <p:txBody>
          <a:bodyPr/>
          <a:lstStyle/>
          <a:p>
            <a:endParaRPr lang="it-IT"/>
          </a:p>
        </p:txBody>
      </p:sp>
      <p:pic>
        <p:nvPicPr>
          <p:cNvPr id="21" name="Image 3" descr="FiCloud"/>
          <p:cNvPicPr>
            <a:picLocks noChangeAspect="1"/>
          </p:cNvPicPr>
          <p:nvPr/>
        </p:nvPicPr>
        <p:blipFill>
          <a:blip r:embed="rId6"/>
          <a:stretch>
            <a:fillRect/>
          </a:stretch>
        </p:blipFill>
        <p:spPr>
          <a:xfrm>
            <a:off x="676656" y="3364992"/>
            <a:ext cx="219456" cy="219456"/>
          </a:xfrm>
          <a:prstGeom prst="rect">
            <a:avLst/>
          </a:prstGeom>
        </p:spPr>
      </p:pic>
      <p:sp>
        <p:nvSpPr>
          <p:cNvPr id="22" name="Text 15"/>
          <p:cNvSpPr txBox="1"/>
          <p:nvPr/>
        </p:nvSpPr>
        <p:spPr>
          <a:xfrm>
            <a:off x="1143000" y="3163824"/>
            <a:ext cx="3108960" cy="621792"/>
          </a:xfrm>
          <a:prstGeom prst="rect">
            <a:avLst/>
          </a:prstGeom>
          <a:noFill/>
          <a:ln/>
        </p:spPr>
        <p:txBody>
          <a:bodyPr wrap="square" lIns="0" tIns="0" rIns="0" bIns="0" rtlCol="0" anchor="ctr"/>
          <a:lstStyle/>
          <a:p>
            <a:pPr marL="0" indent="0">
              <a:buNone/>
            </a:pPr>
            <a:r>
              <a:rPr lang="en-US" sz="1400" b="1" dirty="0">
                <a:solidFill>
                  <a:schemeClr val="tx1"/>
                </a:solidFill>
              </a:rPr>
              <a:t>Piattaforme cloud gestite</a:t>
            </a:r>
            <a:endParaRPr lang="en-US" sz="1400" dirty="0"/>
          </a:p>
        </p:txBody>
      </p:sp>
      <p:sp>
        <p:nvSpPr>
          <p:cNvPr id="23" name="Text 16"/>
          <p:cNvSpPr txBox="1"/>
          <p:nvPr/>
        </p:nvSpPr>
        <p:spPr>
          <a:xfrm>
            <a:off x="4297680" y="3163824"/>
            <a:ext cx="4297680" cy="621792"/>
          </a:xfrm>
          <a:prstGeom prst="rect">
            <a:avLst/>
          </a:prstGeom>
          <a:noFill/>
          <a:ln/>
        </p:spPr>
        <p:txBody>
          <a:bodyPr wrap="square" lIns="0" tIns="0" rIns="0" bIns="0" rtlCol="0" anchor="ctr"/>
          <a:lstStyle/>
          <a:p>
            <a:pPr marL="0" indent="0">
              <a:buNone/>
            </a:pPr>
            <a:r>
              <a:rPr lang="en-US" sz="1300" dirty="0">
                <a:solidFill>
                  <a:schemeClr val="tx2"/>
                </a:solidFill>
              </a:rPr>
              <a:t>Più modelli e strumenti per costruire e controllare</a:t>
            </a:r>
            <a:endParaRPr lang="en-US" sz="1300" dirty="0"/>
          </a:p>
        </p:txBody>
      </p:sp>
      <p:sp>
        <p:nvSpPr>
          <p:cNvPr id="24" name="Esecuzione locale o dedicata"/>
          <p:cNvSpPr/>
          <p:nvPr/>
        </p:nvSpPr>
        <p:spPr>
          <a:xfrm>
            <a:off x="457200" y="3867912"/>
            <a:ext cx="8229600" cy="621792"/>
          </a:xfrm>
          <a:prstGeom prst="roundRect">
            <a:avLst>
              <a:gd name="adj" fmla="val 11765"/>
            </a:avLst>
          </a:prstGeom>
          <a:solidFill>
            <a:schemeClr val="bg2"/>
          </a:solidFill>
          <a:ln/>
        </p:spPr>
        <p:txBody>
          <a:bodyPr/>
          <a:lstStyle/>
          <a:p>
            <a:endParaRPr lang="it-IT"/>
          </a:p>
        </p:txBody>
      </p:sp>
      <p:sp>
        <p:nvSpPr>
          <p:cNvPr id="25" name="cerchio FiHardDrive"/>
          <p:cNvSpPr/>
          <p:nvPr/>
        </p:nvSpPr>
        <p:spPr>
          <a:xfrm>
            <a:off x="566928" y="3959352"/>
            <a:ext cx="438912" cy="438912"/>
          </a:xfrm>
          <a:prstGeom prst="ellipse">
            <a:avLst/>
          </a:prstGeom>
          <a:solidFill>
            <a:schemeClr val="accent1"/>
          </a:solidFill>
          <a:ln/>
        </p:spPr>
        <p:txBody>
          <a:bodyPr/>
          <a:lstStyle/>
          <a:p>
            <a:endParaRPr lang="it-IT"/>
          </a:p>
        </p:txBody>
      </p:sp>
      <p:pic>
        <p:nvPicPr>
          <p:cNvPr id="26" name="Image 4" descr="FiHardDrive"/>
          <p:cNvPicPr>
            <a:picLocks noChangeAspect="1"/>
          </p:cNvPicPr>
          <p:nvPr/>
        </p:nvPicPr>
        <p:blipFill>
          <a:blip r:embed="rId7"/>
          <a:stretch>
            <a:fillRect/>
          </a:stretch>
        </p:blipFill>
        <p:spPr>
          <a:xfrm>
            <a:off x="676656" y="4069080"/>
            <a:ext cx="219456" cy="219456"/>
          </a:xfrm>
          <a:prstGeom prst="rect">
            <a:avLst/>
          </a:prstGeom>
        </p:spPr>
      </p:pic>
      <p:sp>
        <p:nvSpPr>
          <p:cNvPr id="27" name="Text 19"/>
          <p:cNvSpPr txBox="1"/>
          <p:nvPr/>
        </p:nvSpPr>
        <p:spPr>
          <a:xfrm>
            <a:off x="1143000" y="3867912"/>
            <a:ext cx="3108960" cy="621792"/>
          </a:xfrm>
          <a:prstGeom prst="rect">
            <a:avLst/>
          </a:prstGeom>
          <a:noFill/>
          <a:ln/>
        </p:spPr>
        <p:txBody>
          <a:bodyPr wrap="square" lIns="0" tIns="0" rIns="0" bIns="0" rtlCol="0" anchor="ctr"/>
          <a:lstStyle/>
          <a:p>
            <a:pPr marL="0" indent="0">
              <a:buNone/>
            </a:pPr>
            <a:r>
              <a:rPr lang="en-US" sz="1400" b="1" dirty="0">
                <a:solidFill>
                  <a:schemeClr val="tx1"/>
                </a:solidFill>
              </a:rPr>
              <a:t>Esecuzione locale o dedicata</a:t>
            </a:r>
            <a:endParaRPr lang="en-US" sz="1400" dirty="0"/>
          </a:p>
        </p:txBody>
      </p:sp>
      <p:sp>
        <p:nvSpPr>
          <p:cNvPr id="28" name="Text 20"/>
          <p:cNvSpPr txBox="1"/>
          <p:nvPr/>
        </p:nvSpPr>
        <p:spPr>
          <a:xfrm>
            <a:off x="4297680" y="3867912"/>
            <a:ext cx="4297680" cy="621792"/>
          </a:xfrm>
          <a:prstGeom prst="rect">
            <a:avLst/>
          </a:prstGeom>
          <a:noFill/>
          <a:ln/>
        </p:spPr>
        <p:txBody>
          <a:bodyPr wrap="square" lIns="0" tIns="0" rIns="0" bIns="0" rtlCol="0" anchor="ctr"/>
          <a:lstStyle/>
          <a:p>
            <a:pPr marL="0" indent="0">
              <a:buNone/>
            </a:pPr>
            <a:r>
              <a:rPr lang="en-US" sz="1300" dirty="0">
                <a:solidFill>
                  <a:schemeClr val="tx2"/>
                </a:solidFill>
              </a:rPr>
              <a:t>Il modello gira su infrastruttura dell'azienda</a:t>
            </a:r>
            <a:endParaRPr lang="en-US" sz="1300" dirty="0"/>
          </a:p>
        </p:txBody>
      </p:sp>
      <p:sp>
        <p:nvSpPr>
          <p:cNvPr id="29" name="Text 21"/>
          <p:cNvSpPr txBox="1"/>
          <p:nvPr/>
        </p:nvSpPr>
        <p:spPr>
          <a:xfrm>
            <a:off x="457200" y="4572000"/>
            <a:ext cx="8229600" cy="182880"/>
          </a:xfrm>
          <a:prstGeom prst="rect">
            <a:avLst/>
          </a:prstGeom>
          <a:noFill/>
          <a:ln/>
        </p:spPr>
        <p:txBody>
          <a:bodyPr wrap="square" lIns="0" tIns="0" rIns="0" bIns="0" rtlCol="0" anchor="t"/>
          <a:lstStyle/>
          <a:p>
            <a:pPr marL="0" indent="0">
              <a:buNone/>
            </a:pPr>
            <a:r>
              <a:rPr lang="en-US" sz="1100" i="1" dirty="0">
                <a:solidFill>
                  <a:schemeClr val="accent2"/>
                </a:solidFill>
              </a:rPr>
              <a:t>Dalle più vicine all'utente alle più tecniche. Non si escludono a vicenda.</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Applicazioni e API: due modi di usare lo stesso modello</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530352">
                <a:tc>
                  <a:txBody>
                    <a:bodyPr/>
                    <a:lstStyle/>
                    <a:p>
                      <a:pPr marL="0" indent="0">
                        <a:buNone/>
                      </a:pP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b="1" dirty="0">
                          <a:solidFill>
                            <a:schemeClr val="bg1"/>
                          </a:solidFill>
                        </a:rPr>
                        <a:t>Applicazione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API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30352">
                <a:tc>
                  <a:txBody>
                    <a:bodyPr/>
                    <a:lstStyle/>
                    <a:p>
                      <a:pPr marL="0" indent="0">
                        <a:buNone/>
                      </a:pPr>
                      <a:r>
                        <a:rPr lang="en-US" sz="1300" b="1" dirty="0">
                          <a:solidFill>
                            <a:schemeClr val="tx1"/>
                          </a:solidFill>
                        </a:rPr>
                        <a:t>Chi interagisce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Una persona, tramite interfaccia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Un software, in modo automatico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30352">
                <a:tc>
                  <a:txBody>
                    <a:bodyPr/>
                    <a:lstStyle/>
                    <a:p>
                      <a:pPr marL="0" indent="0">
                        <a:buNone/>
                      </a:pPr>
                      <a:r>
                        <a:rPr lang="en-US" sz="1300" b="1" dirty="0">
                          <a:solidFill>
                            <a:schemeClr val="tx1"/>
                          </a:solidFill>
                        </a:rPr>
                        <a:t>Funzionalità incluse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Quelle dell'app (ricerca, memoria, progetti...)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Il modello e, secondo il servizio, strumenti aggiuntivi; interfaccia e integrazione da sviluppare o configurare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30352">
                <a:tc>
                  <a:txBody>
                    <a:bodyPr/>
                    <a:lstStyle/>
                    <a:p>
                      <a:pPr marL="0" indent="0">
                        <a:buNone/>
                      </a:pPr>
                      <a:r>
                        <a:rPr lang="en-US" sz="1300" b="1" dirty="0">
                          <a:solidFill>
                            <a:schemeClr val="tx1"/>
                          </a:solidFill>
                        </a:rPr>
                        <a:t>Modello di costo tipico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Abbonamento per utente, con limiti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 consumo, in base ai token elaborati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30352">
                <a:tc>
                  <a:txBody>
                    <a:bodyPr/>
                    <a:lstStyle/>
                    <a:p>
                      <a:pPr marL="0" indent="0">
                        <a:buNone/>
                      </a:pPr>
                      <a:r>
                        <a:rPr lang="en-US" sz="1300" b="1" dirty="0">
                          <a:solidFill>
                            <a:schemeClr val="tx1"/>
                          </a:solidFill>
                        </a:rPr>
                        <a:t>Uso tipico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Lavoro individuale e di gruppo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Integrazione in processi e prodotti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30352">
                <a:tc>
                  <a:txBody>
                    <a:bodyPr/>
                    <a:lstStyle/>
                    <a:p>
                      <a:pPr marL="0" indent="0">
                        <a:buNone/>
                      </a:pPr>
                      <a:r>
                        <a:rPr lang="en-US" sz="1300" b="1" dirty="0">
                          <a:solidFill>
                            <a:schemeClr val="tx1"/>
                          </a:solidFill>
                        </a:rPr>
                        <a:t>Condizioni sui dati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Secondo il piano dell'app</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Secondo le condizioni dell'API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480560"/>
            <a:ext cx="8229600" cy="274320"/>
          </a:xfrm>
          <a:prstGeom prst="rect">
            <a:avLst/>
          </a:prstGeom>
          <a:noFill/>
          <a:ln/>
        </p:spPr>
        <p:txBody>
          <a:bodyPr wrap="square" lIns="0" tIns="0" rIns="0" bIns="0" rtlCol="0" anchor="t"/>
          <a:lstStyle/>
          <a:p>
            <a:pPr marL="0" indent="0">
              <a:buNone/>
            </a:pPr>
            <a:r>
              <a:rPr lang="en-US" sz="1200" i="1" dirty="0">
                <a:solidFill>
                  <a:schemeClr val="tx1"/>
                </a:solidFill>
              </a:rPr>
              <a:t>Le condizioni sui dati possono differire tra i canali dello stesso fornitore.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Cloud ed esecuzione locale</a:t>
            </a:r>
            <a:endParaRPr lang="en-US" sz="2600" dirty="0"/>
          </a:p>
        </p:txBody>
      </p:sp>
      <p:sp>
        <p:nvSpPr>
          <p:cNvPr id="4" name="scheda Cloud"/>
          <p:cNvSpPr/>
          <p:nvPr/>
        </p:nvSpPr>
        <p:spPr>
          <a:xfrm>
            <a:off x="457200" y="1097280"/>
            <a:ext cx="3977640" cy="3429000"/>
          </a:xfrm>
          <a:prstGeom prst="roundRect">
            <a:avLst>
              <a:gd name="adj" fmla="val 2133"/>
            </a:avLst>
          </a:prstGeom>
          <a:solidFill>
            <a:schemeClr val="bg2"/>
          </a:solidFill>
          <a:ln/>
        </p:spPr>
        <p:txBody>
          <a:bodyPr/>
          <a:lstStyle/>
          <a:p>
            <a:endParaRPr lang="it-IT"/>
          </a:p>
        </p:txBody>
      </p:sp>
      <p:sp>
        <p:nvSpPr>
          <p:cNvPr id="5" name="cerchio FiCloud"/>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Cloud"/>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Cloud</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0" indent="0">
              <a:spcAft>
                <a:spcPts val="600"/>
              </a:spcAft>
              <a:buNone/>
            </a:pPr>
            <a:r>
              <a:rPr lang="it-IT" sz="1200" b="1" dirty="0">
                <a:solidFill>
                  <a:schemeClr val="tx1"/>
                </a:solidFill>
              </a:rPr>
              <a:t>Il modello gira sui server del fornitore o di una piattaforma cloud</a:t>
            </a:r>
            <a:endParaRPr lang="it-IT" sz="1200" dirty="0"/>
          </a:p>
          <a:p>
            <a:pPr marL="0" indent="0">
              <a:spcAft>
                <a:spcPts val="600"/>
              </a:spcAft>
              <a:buNone/>
            </a:pPr>
            <a:r>
              <a:rPr lang="it-IT" sz="1200" b="1" dirty="0">
                <a:solidFill>
                  <a:schemeClr val="accent1"/>
                </a:solidFill>
              </a:rPr>
              <a:t>Vantaggi: </a:t>
            </a:r>
            <a:r>
              <a:rPr lang="it-IT" sz="1200" dirty="0">
                <a:solidFill>
                  <a:schemeClr val="tx2"/>
                </a:solidFill>
              </a:rPr>
              <a:t>accessibilità, scalabilità, modelli avanzati, aggiornamenti gestiti, poca infrastruttura interna</a:t>
            </a:r>
            <a:endParaRPr lang="it-IT" sz="1200" dirty="0"/>
          </a:p>
          <a:p>
            <a:pPr marL="0" indent="0">
              <a:buNone/>
            </a:pPr>
            <a:r>
              <a:rPr lang="it-IT" sz="1200" b="1" dirty="0">
                <a:solidFill>
                  <a:schemeClr val="accent5"/>
                </a:solidFill>
              </a:rPr>
              <a:t>Da valutare: </a:t>
            </a:r>
            <a:r>
              <a:rPr lang="it-IT" sz="1200" dirty="0">
                <a:solidFill>
                  <a:schemeClr val="tx2"/>
                </a:solidFill>
              </a:rPr>
              <a:t>regione dei server, garanzie contrattuali sui dati, connessione. Alcuni fornitori permettono di scegliere l'UE.</a:t>
            </a:r>
            <a:endParaRPr lang="it-IT" sz="1200" dirty="0"/>
          </a:p>
        </p:txBody>
      </p:sp>
      <p:sp>
        <p:nvSpPr>
          <p:cNvPr id="9" name="scheda Esecuzione locale"/>
          <p:cNvSpPr/>
          <p:nvPr/>
        </p:nvSpPr>
        <p:spPr>
          <a:xfrm>
            <a:off x="4709160" y="1097280"/>
            <a:ext cx="3977640" cy="3429000"/>
          </a:xfrm>
          <a:prstGeom prst="roundRect">
            <a:avLst>
              <a:gd name="adj" fmla="val 2133"/>
            </a:avLst>
          </a:prstGeom>
          <a:solidFill>
            <a:schemeClr val="accent6"/>
          </a:solidFill>
          <a:ln/>
        </p:spPr>
        <p:txBody>
          <a:bodyPr/>
          <a:lstStyle/>
          <a:p>
            <a:endParaRPr lang="it-IT"/>
          </a:p>
        </p:txBody>
      </p:sp>
      <p:sp>
        <p:nvSpPr>
          <p:cNvPr id="10" name="cerchio FiHardDrive"/>
          <p:cNvSpPr/>
          <p:nvPr/>
        </p:nvSpPr>
        <p:spPr>
          <a:xfrm>
            <a:off x="4892040" y="1280160"/>
            <a:ext cx="457200" cy="457200"/>
          </a:xfrm>
          <a:prstGeom prst="ellipse">
            <a:avLst/>
          </a:prstGeom>
          <a:solidFill>
            <a:schemeClr val="accent1"/>
          </a:solidFill>
          <a:ln/>
        </p:spPr>
        <p:txBody>
          <a:bodyPr/>
          <a:lstStyle/>
          <a:p>
            <a:endParaRPr lang="it-IT"/>
          </a:p>
        </p:txBody>
      </p:sp>
      <p:pic>
        <p:nvPicPr>
          <p:cNvPr id="11" name="Image 1" descr="FiHardDriv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en-US" sz="1600" b="1" dirty="0">
                <a:solidFill>
                  <a:schemeClr val="tx1"/>
                </a:solidFill>
              </a:rPr>
              <a:t>Esecuzione locale</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spcAft>
                <a:spcPts val="600"/>
              </a:spcAft>
              <a:buNone/>
            </a:pPr>
            <a:r>
              <a:rPr lang="it-IT" sz="1200" b="1" dirty="0">
                <a:solidFill>
                  <a:schemeClr val="tx1"/>
                </a:solidFill>
              </a:rPr>
              <a:t>Il modello gira su infrastruttura dell'azienda</a:t>
            </a:r>
            <a:endParaRPr lang="it-IT" sz="1200" dirty="0"/>
          </a:p>
          <a:p>
            <a:pPr marL="0" indent="0">
              <a:spcAft>
                <a:spcPts val="600"/>
              </a:spcAft>
              <a:buNone/>
            </a:pPr>
            <a:r>
              <a:rPr lang="it-IT" sz="1200" b="1" dirty="0">
                <a:solidFill>
                  <a:schemeClr val="accent1"/>
                </a:solidFill>
              </a:rPr>
              <a:t>Vantaggi: </a:t>
            </a:r>
            <a:r>
              <a:rPr lang="it-IT" sz="1200" dirty="0">
                <a:solidFill>
                  <a:schemeClr val="tx2"/>
                </a:solidFill>
              </a:rPr>
              <a:t>più controllo sull'ambiente di esecuzione, configurazioni dedicate, meno dipendenza dalla connessione</a:t>
            </a:r>
            <a:endParaRPr lang="it-IT" sz="1200" dirty="0"/>
          </a:p>
          <a:p>
            <a:pPr marL="0" indent="0">
              <a:buNone/>
            </a:pPr>
            <a:r>
              <a:rPr lang="it-IT" sz="1200" b="1" dirty="0">
                <a:solidFill>
                  <a:schemeClr val="accent5"/>
                </a:solidFill>
              </a:rPr>
              <a:t>Da valutare: </a:t>
            </a:r>
            <a:r>
              <a:rPr lang="it-IT" sz="1200" dirty="0">
                <a:solidFill>
                  <a:schemeClr val="tx2"/>
                </a:solidFill>
              </a:rPr>
              <a:t>hardware, competenze, aggiornamenti; modelli talvolta meno capaci. Sicurezza e riservatezza non sono automatiche: dipendono dalla gestione.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Soluzioni individuali, team ed enterprise</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566928">
                <a:tc>
                  <a:txBody>
                    <a:bodyPr/>
                    <a:lstStyle/>
                    <a:p>
                      <a:pPr marL="0" indent="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b="1" dirty="0">
                          <a:solidFill>
                            <a:schemeClr val="bg1"/>
                          </a:solidFill>
                        </a:rPr>
                        <a:t>Individuale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Team</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Enterprise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chemeClr val="tx1"/>
                          </a:solidFill>
                        </a:rPr>
                        <a:t>Gestione utenti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Ciascuno il proprio account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Amministratore, fatturazione unica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Credenziali aziendali, autorizzazioni centralizzate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chemeClr val="tx1"/>
                          </a:solidFill>
                        </a:rPr>
                        <a:t>Controlli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Nessuno per l'azienda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Di base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Avanzati: registri, funzioni attivabili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chemeClr val="tx1"/>
                          </a:solidFill>
                        </a:rPr>
                        <a:t>Dati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Condizioni per consumatori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Garanzie in genere migliori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Impegni contrattuali, talvolta regione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chemeClr val="tx1"/>
                          </a:solidFill>
                        </a:rPr>
                        <a:t>Collaborazione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Personale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Spazi condivisi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Spazi condivisi e governati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
        <p:nvSpPr>
          <p:cNvPr id="5" name="messaggio"/>
          <p:cNvSpPr/>
          <p:nvPr/>
        </p:nvSpPr>
        <p:spPr>
          <a:xfrm>
            <a:off x="457200" y="3977640"/>
            <a:ext cx="8229600" cy="548640"/>
          </a:xfrm>
          <a:prstGeom prst="roundRect">
            <a:avLst>
              <a:gd name="adj" fmla="val 13333"/>
            </a:avLst>
          </a:prstGeom>
          <a:solidFill>
            <a:schemeClr val="tx1"/>
          </a:solidFill>
          <a:ln/>
        </p:spPr>
        <p:txBody>
          <a:bodyPr/>
          <a:lstStyle/>
          <a:p>
            <a:endParaRPr lang="it-IT"/>
          </a:p>
        </p:txBody>
      </p:sp>
      <p:sp>
        <p:nvSpPr>
          <p:cNvPr id="6" name="Text 2"/>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250" dirty="0">
                <a:solidFill>
                  <a:schemeClr val="bg1"/>
                </a:solidFill>
              </a:rPr>
              <a:t>Caratteristiche tipiche, diverse da fornitore a fornitore. Account personale e versione aziendale non sono equivalenti, anche con la stessa interfaccia.</a:t>
            </a:r>
            <a:endParaRPr lang="it-IT"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48</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4.7</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Criteri per confrontare e scegliere</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Lo strumento più noto o il modello più potente non è necessariamente la scelta migliore per l'azienda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Undici criteri</a:t>
            </a:r>
            <a:endParaRPr lang="en-US" sz="2600" dirty="0"/>
          </a:p>
        </p:txBody>
      </p:sp>
      <p:sp>
        <p:nvSpPr>
          <p:cNvPr id="4" name="Adeguatezza"/>
          <p:cNvSpPr/>
          <p:nvPr/>
        </p:nvSpPr>
        <p:spPr>
          <a:xfrm>
            <a:off x="457200" y="1097280"/>
            <a:ext cx="1965960" cy="2697480"/>
          </a:xfrm>
          <a:prstGeom prst="roundRect">
            <a:avLst>
              <a:gd name="adj" fmla="val 3721"/>
            </a:avLst>
          </a:prstGeom>
          <a:solidFill>
            <a:schemeClr val="accent6"/>
          </a:solidFill>
          <a:ln/>
        </p:spPr>
        <p:txBody>
          <a:bodyPr/>
          <a:lstStyle/>
          <a:p>
            <a:endParaRPr lang="it-IT"/>
          </a:p>
        </p:txBody>
      </p:sp>
      <p:sp>
        <p:nvSpPr>
          <p:cNvPr id="5" name="Text 2"/>
          <p:cNvSpPr txBox="1"/>
          <p:nvPr/>
        </p:nvSpPr>
        <p:spPr>
          <a:xfrm>
            <a:off x="594360" y="1188720"/>
            <a:ext cx="1691640" cy="548640"/>
          </a:xfrm>
          <a:prstGeom prst="rect">
            <a:avLst/>
          </a:prstGeom>
          <a:noFill/>
          <a:ln/>
        </p:spPr>
        <p:txBody>
          <a:bodyPr wrap="square" lIns="0" tIns="0" rIns="0" bIns="0" rtlCol="0" anchor="t"/>
          <a:lstStyle/>
          <a:p>
            <a:pPr marL="0" indent="0">
              <a:buNone/>
            </a:pPr>
            <a:r>
              <a:rPr lang="en-US" sz="1400" b="1" dirty="0">
                <a:solidFill>
                  <a:schemeClr val="accent1"/>
                </a:solidFill>
              </a:rPr>
              <a:t>Adeguatezza</a:t>
            </a:r>
            <a:endParaRPr lang="en-US" sz="1400" dirty="0"/>
          </a:p>
        </p:txBody>
      </p:sp>
      <p:sp>
        <p:nvSpPr>
          <p:cNvPr id="6" name="Text 3"/>
          <p:cNvSpPr txBox="1"/>
          <p:nvPr/>
        </p:nvSpPr>
        <p:spPr>
          <a:xfrm>
            <a:off x="594360" y="1783080"/>
            <a:ext cx="1737360" cy="19202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Attività e obiettivi</a:t>
            </a:r>
            <a:endParaRPr lang="en-US" sz="1200" dirty="0"/>
          </a:p>
          <a:p>
            <a:pPr marL="177800" indent="-177800">
              <a:spcAft>
                <a:spcPts val="400"/>
              </a:spcAft>
              <a:buSzPct val="100000"/>
              <a:buChar char="•"/>
            </a:pPr>
            <a:r>
              <a:rPr lang="en-US" sz="1200" dirty="0">
                <a:solidFill>
                  <a:schemeClr val="tx1"/>
                </a:solidFill>
              </a:rPr>
              <a:t>Qualità e affidabilità</a:t>
            </a:r>
            <a:endParaRPr lang="en-US" sz="1200" dirty="0"/>
          </a:p>
          <a:p>
            <a:pPr marL="177800" indent="-177800">
              <a:spcAft>
                <a:spcPts val="400"/>
              </a:spcAft>
              <a:buSzPct val="100000"/>
              <a:buChar char="•"/>
            </a:pPr>
            <a:r>
              <a:rPr lang="en-US" sz="1200" dirty="0">
                <a:solidFill>
                  <a:schemeClr val="tx1"/>
                </a:solidFill>
              </a:rPr>
              <a:t>Facilità d'uso e accessibilità</a:t>
            </a:r>
            <a:endParaRPr lang="en-US" sz="1200" dirty="0"/>
          </a:p>
        </p:txBody>
      </p:sp>
      <p:sp>
        <p:nvSpPr>
          <p:cNvPr id="7" name="Funzionalità e integrazione"/>
          <p:cNvSpPr/>
          <p:nvPr/>
        </p:nvSpPr>
        <p:spPr>
          <a:xfrm>
            <a:off x="2560320" y="1097280"/>
            <a:ext cx="1965960" cy="2697480"/>
          </a:xfrm>
          <a:prstGeom prst="roundRect">
            <a:avLst>
              <a:gd name="adj" fmla="val 3721"/>
            </a:avLst>
          </a:prstGeom>
          <a:solidFill>
            <a:schemeClr val="bg2"/>
          </a:solidFill>
          <a:ln/>
        </p:spPr>
        <p:txBody>
          <a:bodyPr/>
          <a:lstStyle/>
          <a:p>
            <a:endParaRPr lang="it-IT"/>
          </a:p>
        </p:txBody>
      </p:sp>
      <p:sp>
        <p:nvSpPr>
          <p:cNvPr id="8" name="Text 5"/>
          <p:cNvSpPr txBox="1"/>
          <p:nvPr/>
        </p:nvSpPr>
        <p:spPr>
          <a:xfrm>
            <a:off x="2697480" y="1188720"/>
            <a:ext cx="1691640" cy="548640"/>
          </a:xfrm>
          <a:prstGeom prst="rect">
            <a:avLst/>
          </a:prstGeom>
          <a:noFill/>
          <a:ln/>
        </p:spPr>
        <p:txBody>
          <a:bodyPr wrap="square" lIns="0" tIns="0" rIns="0" bIns="0" rtlCol="0" anchor="t"/>
          <a:lstStyle/>
          <a:p>
            <a:pPr marL="0" indent="0">
              <a:buNone/>
            </a:pPr>
            <a:r>
              <a:rPr lang="en-US" sz="1400" b="1" dirty="0">
                <a:solidFill>
                  <a:schemeClr val="accent1"/>
                </a:solidFill>
              </a:rPr>
              <a:t>Funzionalità e integrazione</a:t>
            </a:r>
            <a:endParaRPr lang="en-US" sz="1400" dirty="0"/>
          </a:p>
        </p:txBody>
      </p:sp>
      <p:sp>
        <p:nvSpPr>
          <p:cNvPr id="9" name="Text 6"/>
          <p:cNvSpPr txBox="1"/>
          <p:nvPr/>
        </p:nvSpPr>
        <p:spPr>
          <a:xfrm>
            <a:off x="2697480" y="1783080"/>
            <a:ext cx="1737360" cy="19202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Funzionalità disponibili</a:t>
            </a:r>
            <a:endParaRPr lang="en-US" sz="1200" dirty="0"/>
          </a:p>
          <a:p>
            <a:pPr marL="177800" indent="-177800">
              <a:spcAft>
                <a:spcPts val="400"/>
              </a:spcAft>
              <a:buSzPct val="100000"/>
              <a:buChar char="•"/>
            </a:pPr>
            <a:r>
              <a:rPr lang="en-US" sz="1200" dirty="0">
                <a:solidFill>
                  <a:schemeClr val="tx1"/>
                </a:solidFill>
              </a:rPr>
              <a:t>Possibilità di integrazione</a:t>
            </a:r>
            <a:endParaRPr lang="en-US" sz="1200" dirty="0"/>
          </a:p>
        </p:txBody>
      </p:sp>
      <p:sp>
        <p:nvSpPr>
          <p:cNvPr id="10" name="Costi e condizioni"/>
          <p:cNvSpPr/>
          <p:nvPr/>
        </p:nvSpPr>
        <p:spPr>
          <a:xfrm>
            <a:off x="4663440" y="1097280"/>
            <a:ext cx="1965960" cy="2697480"/>
          </a:xfrm>
          <a:prstGeom prst="roundRect">
            <a:avLst>
              <a:gd name="adj" fmla="val 3721"/>
            </a:avLst>
          </a:prstGeom>
          <a:solidFill>
            <a:schemeClr val="bg2"/>
          </a:solidFill>
          <a:ln/>
        </p:spPr>
        <p:txBody>
          <a:bodyPr/>
          <a:lstStyle/>
          <a:p>
            <a:endParaRPr lang="it-IT"/>
          </a:p>
        </p:txBody>
      </p:sp>
      <p:sp>
        <p:nvSpPr>
          <p:cNvPr id="11" name="Text 8"/>
          <p:cNvSpPr txBox="1"/>
          <p:nvPr/>
        </p:nvSpPr>
        <p:spPr>
          <a:xfrm>
            <a:off x="4800600" y="1188720"/>
            <a:ext cx="1691640" cy="548640"/>
          </a:xfrm>
          <a:prstGeom prst="rect">
            <a:avLst/>
          </a:prstGeom>
          <a:noFill/>
          <a:ln/>
        </p:spPr>
        <p:txBody>
          <a:bodyPr wrap="square" lIns="0" tIns="0" rIns="0" bIns="0" rtlCol="0" anchor="t"/>
          <a:lstStyle/>
          <a:p>
            <a:pPr marL="0" indent="0">
              <a:buNone/>
            </a:pPr>
            <a:r>
              <a:rPr lang="en-US" sz="1400" b="1" dirty="0">
                <a:solidFill>
                  <a:schemeClr val="accent1"/>
                </a:solidFill>
              </a:rPr>
              <a:t>Costi e condizioni</a:t>
            </a:r>
            <a:endParaRPr lang="en-US" sz="1400" dirty="0"/>
          </a:p>
        </p:txBody>
      </p:sp>
      <p:sp>
        <p:nvSpPr>
          <p:cNvPr id="12" name="Text 9"/>
          <p:cNvSpPr txBox="1"/>
          <p:nvPr/>
        </p:nvSpPr>
        <p:spPr>
          <a:xfrm>
            <a:off x="4800600" y="1783080"/>
            <a:ext cx="1737360" cy="19202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Prezzo e costi complessivi</a:t>
            </a:r>
            <a:endParaRPr lang="en-US" sz="1200" dirty="0"/>
          </a:p>
          <a:p>
            <a:pPr marL="177800" indent="-177800">
              <a:spcAft>
                <a:spcPts val="400"/>
              </a:spcAft>
              <a:buSzPct val="100000"/>
              <a:buChar char="•"/>
            </a:pPr>
            <a:r>
              <a:rPr lang="en-US" sz="1200" dirty="0">
                <a:solidFill>
                  <a:schemeClr val="tx1"/>
                </a:solidFill>
              </a:rPr>
              <a:t>Contratto e supporto</a:t>
            </a:r>
            <a:endParaRPr lang="en-US" sz="1200" dirty="0"/>
          </a:p>
        </p:txBody>
      </p:sp>
      <p:sp>
        <p:nvSpPr>
          <p:cNvPr id="13" name="Dati e controllo"/>
          <p:cNvSpPr/>
          <p:nvPr/>
        </p:nvSpPr>
        <p:spPr>
          <a:xfrm>
            <a:off x="6766560" y="1097280"/>
            <a:ext cx="1965960" cy="2697480"/>
          </a:xfrm>
          <a:prstGeom prst="roundRect">
            <a:avLst>
              <a:gd name="adj" fmla="val 3721"/>
            </a:avLst>
          </a:prstGeom>
          <a:solidFill>
            <a:schemeClr val="accent6"/>
          </a:solidFill>
          <a:ln/>
        </p:spPr>
        <p:txBody>
          <a:bodyPr/>
          <a:lstStyle/>
          <a:p>
            <a:endParaRPr lang="it-IT"/>
          </a:p>
        </p:txBody>
      </p:sp>
      <p:sp>
        <p:nvSpPr>
          <p:cNvPr id="14" name="Text 11"/>
          <p:cNvSpPr txBox="1"/>
          <p:nvPr/>
        </p:nvSpPr>
        <p:spPr>
          <a:xfrm>
            <a:off x="6903720" y="1188720"/>
            <a:ext cx="1691640" cy="548640"/>
          </a:xfrm>
          <a:prstGeom prst="rect">
            <a:avLst/>
          </a:prstGeom>
          <a:noFill/>
          <a:ln/>
        </p:spPr>
        <p:txBody>
          <a:bodyPr wrap="square" lIns="0" tIns="0" rIns="0" bIns="0" rtlCol="0" anchor="t"/>
          <a:lstStyle/>
          <a:p>
            <a:pPr marL="0" indent="0">
              <a:buNone/>
            </a:pPr>
            <a:r>
              <a:rPr lang="en-US" sz="1400" b="1" dirty="0">
                <a:solidFill>
                  <a:schemeClr val="accent1"/>
                </a:solidFill>
              </a:rPr>
              <a:t>Dati e controllo</a:t>
            </a:r>
            <a:endParaRPr lang="en-US" sz="1400" dirty="0"/>
          </a:p>
        </p:txBody>
      </p:sp>
      <p:sp>
        <p:nvSpPr>
          <p:cNvPr id="15" name="Text 12"/>
          <p:cNvSpPr txBox="1"/>
          <p:nvPr/>
        </p:nvSpPr>
        <p:spPr>
          <a:xfrm>
            <a:off x="6903720" y="1783080"/>
            <a:ext cx="1737360" cy="19202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Dati, riservatezza, sicurezza</a:t>
            </a:r>
            <a:endParaRPr lang="en-US" sz="1200" dirty="0"/>
          </a:p>
          <a:p>
            <a:pPr marL="177800" indent="-177800">
              <a:spcAft>
                <a:spcPts val="400"/>
              </a:spcAft>
              <a:buSzPct val="100000"/>
              <a:buChar char="•"/>
            </a:pPr>
            <a:r>
              <a:rPr lang="en-US" sz="1200" dirty="0">
                <a:solidFill>
                  <a:schemeClr val="tx1"/>
                </a:solidFill>
              </a:rPr>
              <a:t>Controlli amministrativi</a:t>
            </a:r>
            <a:endParaRPr lang="en-US" sz="1200" dirty="0"/>
          </a:p>
          <a:p>
            <a:pPr marL="177800" indent="-177800">
              <a:spcAft>
                <a:spcPts val="400"/>
              </a:spcAft>
              <a:buSzPct val="100000"/>
              <a:buChar char="•"/>
            </a:pPr>
            <a:r>
              <a:rPr lang="en-US" sz="1200" dirty="0">
                <a:solidFill>
                  <a:schemeClr val="tx1"/>
                </a:solidFill>
              </a:rPr>
              <a:t>Portabilità</a:t>
            </a:r>
            <a:endParaRPr lang="en-US" sz="1200" dirty="0"/>
          </a:p>
          <a:p>
            <a:pPr marL="177800" indent="-177800">
              <a:spcAft>
                <a:spcPts val="400"/>
              </a:spcAft>
              <a:buSzPct val="100000"/>
              <a:buChar char="•"/>
            </a:pPr>
            <a:r>
              <a:rPr lang="en-US" sz="1200" dirty="0">
                <a:solidFill>
                  <a:schemeClr val="tx1"/>
                </a:solidFill>
              </a:rPr>
              <a:t>Vendor lock-in</a:t>
            </a:r>
            <a:endParaRPr lang="en-US" sz="1200" dirty="0"/>
          </a:p>
        </p:txBody>
      </p:sp>
      <p:sp>
        <p:nvSpPr>
          <p:cNvPr id="16" name="criterio trasversale"/>
          <p:cNvSpPr/>
          <p:nvPr/>
        </p:nvSpPr>
        <p:spPr>
          <a:xfrm>
            <a:off x="457200" y="3931920"/>
            <a:ext cx="8229600" cy="594360"/>
          </a:xfrm>
          <a:prstGeom prst="roundRect">
            <a:avLst>
              <a:gd name="adj" fmla="val 12308"/>
            </a:avLst>
          </a:prstGeom>
          <a:solidFill>
            <a:schemeClr val="tx1"/>
          </a:solidFill>
          <a:ln/>
        </p:spPr>
        <p:txBody>
          <a:bodyPr/>
          <a:lstStyle/>
          <a:p>
            <a:endParaRPr lang="it-IT"/>
          </a:p>
        </p:txBody>
      </p:sp>
      <p:sp>
        <p:nvSpPr>
          <p:cNvPr id="17" name="cerchio FiCheckSquare"/>
          <p:cNvSpPr/>
          <p:nvPr/>
        </p:nvSpPr>
        <p:spPr>
          <a:xfrm>
            <a:off x="594360" y="3995928"/>
            <a:ext cx="457200" cy="457200"/>
          </a:xfrm>
          <a:prstGeom prst="ellipse">
            <a:avLst/>
          </a:prstGeom>
          <a:solidFill>
            <a:schemeClr val="accent1"/>
          </a:solidFill>
          <a:ln/>
        </p:spPr>
        <p:txBody>
          <a:bodyPr/>
          <a:lstStyle/>
          <a:p>
            <a:endParaRPr lang="it-IT"/>
          </a:p>
        </p:txBody>
      </p:sp>
      <p:pic>
        <p:nvPicPr>
          <p:cNvPr id="18" name="Image 0" descr="FiCheckSquare"/>
          <p:cNvPicPr>
            <a:picLocks noChangeAspect="1"/>
          </p:cNvPicPr>
          <p:nvPr/>
        </p:nvPicPr>
        <p:blipFill>
          <a:blip r:embed="rId3"/>
          <a:stretch>
            <a:fillRect/>
          </a:stretch>
        </p:blipFill>
        <p:spPr>
          <a:xfrm>
            <a:off x="708660" y="4110228"/>
            <a:ext cx="228600" cy="228600"/>
          </a:xfrm>
          <a:prstGeom prst="rect">
            <a:avLst/>
          </a:prstGeom>
        </p:spPr>
      </p:pic>
      <p:sp>
        <p:nvSpPr>
          <p:cNvPr id="19" name="Text 15"/>
          <p:cNvSpPr txBox="1"/>
          <p:nvPr/>
        </p:nvSpPr>
        <p:spPr>
          <a:xfrm>
            <a:off x="1188720" y="3931920"/>
            <a:ext cx="7406640" cy="594360"/>
          </a:xfrm>
          <a:prstGeom prst="rect">
            <a:avLst/>
          </a:prstGeom>
          <a:noFill/>
          <a:ln/>
        </p:spPr>
        <p:txBody>
          <a:bodyPr wrap="square" lIns="0" tIns="0" rIns="0" bIns="0" rtlCol="0" anchor="ctr"/>
          <a:lstStyle/>
          <a:p>
            <a:pPr marL="0" indent="0">
              <a:buNone/>
            </a:pPr>
            <a:r>
              <a:rPr lang="it-IT" sz="1200" dirty="0">
                <a:solidFill>
                  <a:schemeClr val="bg1"/>
                </a:solidFill>
              </a:rPr>
              <a:t>Il peso dei criteri dipende da contesto, processi ed esigenze. Trasversale: verificare le funzionalità disponibili nella configurazione specifica.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Adeguatezza, qualità e facilità d'uso</a:t>
            </a:r>
            <a:endParaRPr lang="en-US" sz="2600" dirty="0"/>
          </a:p>
        </p:txBody>
      </p:sp>
      <p:sp>
        <p:nvSpPr>
          <p:cNvPr id="4" name="scheda Adeguatezza"/>
          <p:cNvSpPr/>
          <p:nvPr/>
        </p:nvSpPr>
        <p:spPr>
          <a:xfrm>
            <a:off x="457200" y="1097280"/>
            <a:ext cx="2615184" cy="2651760"/>
          </a:xfrm>
          <a:prstGeom prst="roundRect">
            <a:avLst>
              <a:gd name="adj" fmla="val 2797"/>
            </a:avLst>
          </a:prstGeom>
          <a:solidFill>
            <a:schemeClr val="bg2"/>
          </a:solidFill>
          <a:ln/>
        </p:spPr>
        <p:txBody>
          <a:bodyPr/>
          <a:lstStyle/>
          <a:p>
            <a:endParaRPr lang="it-IT"/>
          </a:p>
        </p:txBody>
      </p:sp>
      <p:sp>
        <p:nvSpPr>
          <p:cNvPr id="5" name="cerchio FiTarget"/>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Targe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en-US" sz="1500" b="1" dirty="0">
                <a:solidFill>
                  <a:schemeClr val="tx1"/>
                </a:solidFill>
              </a:rPr>
              <a:t>Adeguatezza</a:t>
            </a:r>
            <a:endParaRPr lang="en-US" sz="1500" dirty="0"/>
          </a:p>
        </p:txBody>
      </p:sp>
      <p:sp>
        <p:nvSpPr>
          <p:cNvPr id="8" name="Text 4"/>
          <p:cNvSpPr txBox="1"/>
          <p:nvPr/>
        </p:nvSpPr>
        <p:spPr>
          <a:xfrm>
            <a:off x="640080" y="2231136"/>
            <a:ext cx="2249424" cy="14081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Per quali attività e chi lo userà?</a:t>
            </a:r>
            <a:endParaRPr lang="en-US" sz="1300" dirty="0"/>
          </a:p>
          <a:p>
            <a:pPr marL="177800" indent="-177800">
              <a:spcAft>
                <a:spcPts val="400"/>
              </a:spcAft>
              <a:buSzPct val="100000"/>
              <a:buChar char="•"/>
            </a:pPr>
            <a:r>
              <a:rPr lang="en-US" sz="1300" dirty="0">
                <a:solidFill>
                  <a:schemeClr val="tx2"/>
                </a:solidFill>
              </a:rPr>
              <a:t>Che cosa vogliamo ottenere?</a:t>
            </a:r>
            <a:endParaRPr lang="en-US" sz="1300" dirty="0"/>
          </a:p>
          <a:p>
            <a:pPr marL="177800" indent="-177800">
              <a:spcAft>
                <a:spcPts val="400"/>
              </a:spcAft>
              <a:buSzPct val="100000"/>
              <a:buChar char="•"/>
            </a:pPr>
            <a:r>
              <a:rPr lang="en-US" sz="1300" dirty="0">
                <a:solidFill>
                  <a:schemeClr val="tx2"/>
                </a:solidFill>
              </a:rPr>
              <a:t>Prima il bisogno, poi lo strumento</a:t>
            </a:r>
            <a:endParaRPr lang="en-US" sz="1300" dirty="0"/>
          </a:p>
        </p:txBody>
      </p:sp>
      <p:sp>
        <p:nvSpPr>
          <p:cNvPr id="9" name="scheda Qualità e affidabilità"/>
          <p:cNvSpPr/>
          <p:nvPr/>
        </p:nvSpPr>
        <p:spPr>
          <a:xfrm>
            <a:off x="3264408" y="1097280"/>
            <a:ext cx="2615184" cy="2651760"/>
          </a:xfrm>
          <a:prstGeom prst="roundRect">
            <a:avLst>
              <a:gd name="adj" fmla="val 2797"/>
            </a:avLst>
          </a:prstGeom>
          <a:solidFill>
            <a:schemeClr val="bg2"/>
          </a:solidFill>
          <a:ln/>
        </p:spPr>
        <p:txBody>
          <a:bodyPr/>
          <a:lstStyle/>
          <a:p>
            <a:endParaRPr lang="it-IT"/>
          </a:p>
        </p:txBody>
      </p:sp>
      <p:sp>
        <p:nvSpPr>
          <p:cNvPr id="10" name="cerchio FiAward"/>
          <p:cNvSpPr/>
          <p:nvPr/>
        </p:nvSpPr>
        <p:spPr>
          <a:xfrm>
            <a:off x="3447288" y="1280160"/>
            <a:ext cx="457200" cy="457200"/>
          </a:xfrm>
          <a:prstGeom prst="ellipse">
            <a:avLst/>
          </a:prstGeom>
          <a:solidFill>
            <a:schemeClr val="accent1"/>
          </a:solidFill>
          <a:ln/>
        </p:spPr>
        <p:txBody>
          <a:bodyPr/>
          <a:lstStyle/>
          <a:p>
            <a:endParaRPr lang="it-IT"/>
          </a:p>
        </p:txBody>
      </p:sp>
      <p:pic>
        <p:nvPicPr>
          <p:cNvPr id="11" name="Image 1" descr="FiAward"/>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en-US" sz="1500" b="1" dirty="0">
                <a:solidFill>
                  <a:schemeClr val="tx1"/>
                </a:solidFill>
              </a:rPr>
              <a:t>Qualità e affidabilità</a:t>
            </a:r>
            <a:endParaRPr lang="en-US" sz="1500" dirty="0"/>
          </a:p>
        </p:txBody>
      </p:sp>
      <p:sp>
        <p:nvSpPr>
          <p:cNvPr id="13" name="Text 8"/>
          <p:cNvSpPr txBox="1"/>
          <p:nvPr/>
        </p:nvSpPr>
        <p:spPr>
          <a:xfrm>
            <a:off x="3447288" y="2231136"/>
            <a:ext cx="2249424" cy="14081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Prove sui nostri casi reali</a:t>
            </a:r>
            <a:endParaRPr lang="en-US" sz="1300" dirty="0"/>
          </a:p>
          <a:p>
            <a:pPr marL="177800" indent="-177800">
              <a:spcAft>
                <a:spcPts val="400"/>
              </a:spcAft>
              <a:buSzPct val="100000"/>
              <a:buChar char="•"/>
            </a:pPr>
            <a:r>
              <a:rPr lang="en-US" sz="1300" dirty="0">
                <a:solidFill>
                  <a:schemeClr val="tx2"/>
                </a:solidFill>
              </a:rPr>
              <a:t>Anche quelli difficili</a:t>
            </a:r>
            <a:endParaRPr lang="en-US" sz="1300" dirty="0"/>
          </a:p>
          <a:p>
            <a:pPr marL="177800" indent="-177800">
              <a:spcAft>
                <a:spcPts val="400"/>
              </a:spcAft>
              <a:buSzPct val="100000"/>
              <a:buChar char="•"/>
            </a:pPr>
            <a:r>
              <a:rPr lang="en-US" sz="1300" dirty="0">
                <a:solidFill>
                  <a:schemeClr val="tx2"/>
                </a:solidFill>
              </a:rPr>
              <a:t>Tipo di errori e facilità di verifica</a:t>
            </a:r>
            <a:endParaRPr lang="en-US" sz="1300" dirty="0"/>
          </a:p>
        </p:txBody>
      </p:sp>
      <p:sp>
        <p:nvSpPr>
          <p:cNvPr id="14" name="scheda Facilità d'uso"/>
          <p:cNvSpPr/>
          <p:nvPr/>
        </p:nvSpPr>
        <p:spPr>
          <a:xfrm>
            <a:off x="6071616" y="1097280"/>
            <a:ext cx="2615184" cy="2651760"/>
          </a:xfrm>
          <a:prstGeom prst="roundRect">
            <a:avLst>
              <a:gd name="adj" fmla="val 2797"/>
            </a:avLst>
          </a:prstGeom>
          <a:solidFill>
            <a:schemeClr val="bg2"/>
          </a:solidFill>
          <a:ln/>
        </p:spPr>
        <p:txBody>
          <a:bodyPr/>
          <a:lstStyle/>
          <a:p>
            <a:endParaRPr lang="it-IT"/>
          </a:p>
        </p:txBody>
      </p:sp>
      <p:sp>
        <p:nvSpPr>
          <p:cNvPr id="15" name="cerchio FiSmile"/>
          <p:cNvSpPr/>
          <p:nvPr/>
        </p:nvSpPr>
        <p:spPr>
          <a:xfrm>
            <a:off x="6254496" y="1280160"/>
            <a:ext cx="457200" cy="457200"/>
          </a:xfrm>
          <a:prstGeom prst="ellipse">
            <a:avLst/>
          </a:prstGeom>
          <a:solidFill>
            <a:schemeClr val="accent1"/>
          </a:solidFill>
          <a:ln/>
        </p:spPr>
        <p:txBody>
          <a:bodyPr/>
          <a:lstStyle/>
          <a:p>
            <a:endParaRPr lang="it-IT"/>
          </a:p>
        </p:txBody>
      </p:sp>
      <p:pic>
        <p:nvPicPr>
          <p:cNvPr id="16" name="Image 2" descr="FiSmile"/>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en-US" sz="1500" b="1" dirty="0">
                <a:solidFill>
                  <a:schemeClr val="tx1"/>
                </a:solidFill>
              </a:rPr>
              <a:t>Facilità d'uso</a:t>
            </a:r>
            <a:endParaRPr lang="en-US" sz="1500" dirty="0"/>
          </a:p>
        </p:txBody>
      </p:sp>
      <p:sp>
        <p:nvSpPr>
          <p:cNvPr id="18" name="Text 12"/>
          <p:cNvSpPr txBox="1"/>
          <p:nvPr/>
        </p:nvSpPr>
        <p:spPr>
          <a:xfrm>
            <a:off x="6254496" y="2231136"/>
            <a:ext cx="2249424" cy="14081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Interfaccia chiara, lingua italiana</a:t>
            </a:r>
            <a:endParaRPr lang="en-US" sz="1300" dirty="0"/>
          </a:p>
          <a:p>
            <a:pPr marL="177800" indent="-177800">
              <a:spcAft>
                <a:spcPts val="400"/>
              </a:spcAft>
              <a:buSzPct val="100000"/>
              <a:buChar char="•"/>
            </a:pPr>
            <a:r>
              <a:rPr lang="en-US" sz="1300" dirty="0">
                <a:solidFill>
                  <a:schemeClr val="tx2"/>
                </a:solidFill>
              </a:rPr>
              <a:t>Dispositivi e accessibilità</a:t>
            </a:r>
            <a:endParaRPr lang="en-US" sz="1300" dirty="0"/>
          </a:p>
          <a:p>
            <a:pPr marL="177800" indent="-177800">
              <a:spcAft>
                <a:spcPts val="400"/>
              </a:spcAft>
              <a:buSzPct val="100000"/>
              <a:buChar char="•"/>
            </a:pPr>
            <a:r>
              <a:rPr lang="en-US" sz="1300" dirty="0">
                <a:solidFill>
                  <a:schemeClr val="tx2"/>
                </a:solidFill>
              </a:rPr>
              <a:t>Curva di apprendimento</a:t>
            </a:r>
            <a:endParaRPr lang="en-US" sz="1300" dirty="0"/>
          </a:p>
        </p:txBody>
      </p:sp>
      <p:sp>
        <p:nvSpPr>
          <p:cNvPr id="19" name="messaggio"/>
          <p:cNvSpPr/>
          <p:nvPr/>
        </p:nvSpPr>
        <p:spPr>
          <a:xfrm>
            <a:off x="457200" y="3931920"/>
            <a:ext cx="8229600" cy="594360"/>
          </a:xfrm>
          <a:prstGeom prst="roundRect">
            <a:avLst>
              <a:gd name="adj" fmla="val 12308"/>
            </a:avLst>
          </a:prstGeom>
          <a:solidFill>
            <a:schemeClr val="tx1"/>
          </a:solidFill>
          <a:ln/>
        </p:spPr>
        <p:txBody>
          <a:bodyPr/>
          <a:lstStyle/>
          <a:p>
            <a:endParaRPr lang="it-IT"/>
          </a:p>
        </p:txBody>
      </p:sp>
      <p:sp>
        <p:nvSpPr>
          <p:cNvPr id="20" name="Text 14"/>
          <p:cNvSpPr txBox="1"/>
          <p:nvPr/>
        </p:nvSpPr>
        <p:spPr>
          <a:xfrm>
            <a:off x="640080" y="3931920"/>
            <a:ext cx="7863840" cy="594360"/>
          </a:xfrm>
          <a:prstGeom prst="rect">
            <a:avLst/>
          </a:prstGeom>
          <a:noFill/>
          <a:ln/>
        </p:spPr>
        <p:txBody>
          <a:bodyPr wrap="square" lIns="0" tIns="0" rIns="0" bIns="0" rtlCol="0" anchor="ctr"/>
          <a:lstStyle/>
          <a:p>
            <a:pPr marL="0" indent="0">
              <a:buNone/>
            </a:pPr>
            <a:r>
              <a:rPr lang="en-US" sz="1300" dirty="0">
                <a:solidFill>
                  <a:schemeClr val="bg1"/>
                </a:solidFill>
              </a:rPr>
              <a:t>Coinvolgere nella prova alcuni futuri utenti reali, non solo i più esperti di tecnologia.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Funzionalità, integrazione e costi complessivi</a:t>
            </a:r>
            <a:endParaRPr lang="en-US" sz="2600" dirty="0"/>
          </a:p>
        </p:txBody>
      </p:sp>
      <p:sp>
        <p:nvSpPr>
          <p:cNvPr id="4" name="scheda Funzionalità e integrazione"/>
          <p:cNvSpPr/>
          <p:nvPr/>
        </p:nvSpPr>
        <p:spPr>
          <a:xfrm>
            <a:off x="457200" y="1097280"/>
            <a:ext cx="3977640" cy="1691640"/>
          </a:xfrm>
          <a:prstGeom prst="roundRect">
            <a:avLst>
              <a:gd name="adj" fmla="val 4324"/>
            </a:avLst>
          </a:prstGeom>
          <a:solidFill>
            <a:schemeClr val="bg2"/>
          </a:solidFill>
          <a:ln/>
        </p:spPr>
        <p:txBody>
          <a:bodyPr/>
          <a:lstStyle/>
          <a:p>
            <a:endParaRPr lang="it-IT"/>
          </a:p>
        </p:txBody>
      </p:sp>
      <p:sp>
        <p:nvSpPr>
          <p:cNvPr id="5" name="cerchio FiLink"/>
          <p:cNvSpPr/>
          <p:nvPr/>
        </p:nvSpPr>
        <p:spPr>
          <a:xfrm>
            <a:off x="640080" y="1280160"/>
            <a:ext cx="457200" cy="457200"/>
          </a:xfrm>
          <a:prstGeom prst="ellipse">
            <a:avLst/>
          </a:prstGeom>
          <a:solidFill>
            <a:schemeClr val="accent1"/>
          </a:solidFill>
          <a:ln/>
        </p:spPr>
        <p:txBody>
          <a:bodyPr/>
          <a:lstStyle/>
          <a:p>
            <a:endParaRPr lang="it-IT"/>
          </a:p>
        </p:txBody>
      </p:sp>
      <p:pic>
        <p:nvPicPr>
          <p:cNvPr id="6" name="Image 0" descr="FiLink"/>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en-US" sz="1500" b="1" dirty="0">
                <a:solidFill>
                  <a:schemeClr val="tx1"/>
                </a:solidFill>
              </a:rPr>
              <a:t>Funzionalità e integrazione</a:t>
            </a:r>
            <a:endParaRPr lang="en-US" sz="1500" dirty="0"/>
          </a:p>
        </p:txBody>
      </p:sp>
      <p:sp>
        <p:nvSpPr>
          <p:cNvPr id="8" name="Text 4"/>
          <p:cNvSpPr txBox="1"/>
          <p:nvPr/>
        </p:nvSpPr>
        <p:spPr>
          <a:xfrm>
            <a:off x="640080" y="1874520"/>
            <a:ext cx="3611880" cy="804672"/>
          </a:xfrm>
          <a:prstGeom prst="rect">
            <a:avLst/>
          </a:prstGeom>
          <a:noFill/>
          <a:ln/>
        </p:spPr>
        <p:txBody>
          <a:bodyPr wrap="square" lIns="0" tIns="0" rIns="0" bIns="0" rtlCol="0" anchor="t"/>
          <a:lstStyle/>
          <a:p>
            <a:pPr marL="0" indent="0">
              <a:buNone/>
            </a:pPr>
            <a:r>
              <a:rPr lang="en-US" sz="1200" dirty="0">
                <a:solidFill>
                  <a:schemeClr val="tx2"/>
                </a:solidFill>
              </a:rPr>
              <a:t>Le funzioni che servono, nel piano acquistato? Collegamenti con posta, archivi, CRM, gestionale? API per il futuro?</a:t>
            </a:r>
            <a:endParaRPr lang="en-US" sz="1200" dirty="0"/>
          </a:p>
        </p:txBody>
      </p:sp>
      <p:sp>
        <p:nvSpPr>
          <p:cNvPr id="9" name="scheda Contratto e supporto"/>
          <p:cNvSpPr/>
          <p:nvPr/>
        </p:nvSpPr>
        <p:spPr>
          <a:xfrm>
            <a:off x="457200" y="2926080"/>
            <a:ext cx="3977640" cy="1600200"/>
          </a:xfrm>
          <a:prstGeom prst="roundRect">
            <a:avLst>
              <a:gd name="adj" fmla="val 4571"/>
            </a:avLst>
          </a:prstGeom>
          <a:solidFill>
            <a:schemeClr val="bg2"/>
          </a:solidFill>
          <a:ln/>
        </p:spPr>
        <p:txBody>
          <a:bodyPr/>
          <a:lstStyle/>
          <a:p>
            <a:endParaRPr lang="it-IT"/>
          </a:p>
        </p:txBody>
      </p:sp>
      <p:sp>
        <p:nvSpPr>
          <p:cNvPr id="10" name="cerchio FiFileText"/>
          <p:cNvSpPr/>
          <p:nvPr/>
        </p:nvSpPr>
        <p:spPr>
          <a:xfrm>
            <a:off x="640080" y="3108960"/>
            <a:ext cx="457200" cy="457200"/>
          </a:xfrm>
          <a:prstGeom prst="ellipse">
            <a:avLst/>
          </a:prstGeom>
          <a:solidFill>
            <a:schemeClr val="accent1"/>
          </a:solidFill>
          <a:ln/>
        </p:spPr>
        <p:txBody>
          <a:bodyPr/>
          <a:lstStyle/>
          <a:p>
            <a:endParaRPr lang="it-IT"/>
          </a:p>
        </p:txBody>
      </p:sp>
      <p:pic>
        <p:nvPicPr>
          <p:cNvPr id="11" name="Image 1" descr="FiFileText"/>
          <p:cNvPicPr>
            <a:picLocks noChangeAspect="1"/>
          </p:cNvPicPr>
          <p:nvPr/>
        </p:nvPicPr>
        <p:blipFill>
          <a:blip r:embed="rId4"/>
          <a:stretch>
            <a:fillRect/>
          </a:stretch>
        </p:blipFill>
        <p:spPr>
          <a:xfrm>
            <a:off x="754380" y="3223260"/>
            <a:ext cx="228600" cy="228600"/>
          </a:xfrm>
          <a:prstGeom prst="rect">
            <a:avLst/>
          </a:prstGeom>
        </p:spPr>
      </p:pic>
      <p:sp>
        <p:nvSpPr>
          <p:cNvPr id="12" name="Text 7"/>
          <p:cNvSpPr txBox="1"/>
          <p:nvPr/>
        </p:nvSpPr>
        <p:spPr>
          <a:xfrm>
            <a:off x="1234440" y="3108960"/>
            <a:ext cx="3017520" cy="457200"/>
          </a:xfrm>
          <a:prstGeom prst="rect">
            <a:avLst/>
          </a:prstGeom>
          <a:noFill/>
          <a:ln/>
        </p:spPr>
        <p:txBody>
          <a:bodyPr wrap="square" lIns="0" tIns="0" rIns="0" bIns="0" rtlCol="0" anchor="ctr"/>
          <a:lstStyle/>
          <a:p>
            <a:pPr marL="0" indent="0">
              <a:buNone/>
            </a:pPr>
            <a:r>
              <a:rPr lang="en-US" sz="1500" b="1" dirty="0">
                <a:solidFill>
                  <a:schemeClr val="tx1"/>
                </a:solidFill>
              </a:rPr>
              <a:t>Contratto e supporto</a:t>
            </a:r>
            <a:endParaRPr lang="en-US" sz="1500" dirty="0"/>
          </a:p>
        </p:txBody>
      </p:sp>
      <p:sp>
        <p:nvSpPr>
          <p:cNvPr id="13" name="Text 8"/>
          <p:cNvSpPr txBox="1"/>
          <p:nvPr/>
        </p:nvSpPr>
        <p:spPr>
          <a:xfrm>
            <a:off x="640080" y="3703320"/>
            <a:ext cx="3611880" cy="713232"/>
          </a:xfrm>
          <a:prstGeom prst="rect">
            <a:avLst/>
          </a:prstGeom>
          <a:noFill/>
          <a:ln/>
        </p:spPr>
        <p:txBody>
          <a:bodyPr wrap="square" lIns="0" tIns="0" rIns="0" bIns="0" rtlCol="0" anchor="t"/>
          <a:lstStyle/>
          <a:p>
            <a:pPr marL="0" indent="0">
              <a:buNone/>
            </a:pPr>
            <a:r>
              <a:rPr lang="en-US" sz="1200" dirty="0">
                <a:solidFill>
                  <a:schemeClr val="tx2"/>
                </a:solidFill>
              </a:rPr>
              <a:t>Livelli di servizio, assistenza in italiano, durata e recesso.</a:t>
            </a:r>
            <a:endParaRPr lang="en-US" sz="1200" dirty="0"/>
          </a:p>
        </p:txBody>
      </p:sp>
      <p:sp>
        <p:nvSpPr>
          <p:cNvPr id="14" name="costi complessivi"/>
          <p:cNvSpPr/>
          <p:nvPr/>
        </p:nvSpPr>
        <p:spPr>
          <a:xfrm>
            <a:off x="4709160" y="1097280"/>
            <a:ext cx="3977640" cy="3429000"/>
          </a:xfrm>
          <a:prstGeom prst="roundRect">
            <a:avLst>
              <a:gd name="adj" fmla="val 2133"/>
            </a:avLst>
          </a:prstGeom>
          <a:solidFill>
            <a:schemeClr val="accent6"/>
          </a:solidFill>
          <a:ln/>
        </p:spPr>
        <p:txBody>
          <a:bodyPr/>
          <a:lstStyle/>
          <a:p>
            <a:endParaRPr lang="it-IT"/>
          </a:p>
        </p:txBody>
      </p:sp>
      <p:sp>
        <p:nvSpPr>
          <p:cNvPr id="15" name="Text 10"/>
          <p:cNvSpPr txBox="1"/>
          <p:nvPr/>
        </p:nvSpPr>
        <p:spPr>
          <a:xfrm>
            <a:off x="4892040" y="1188720"/>
            <a:ext cx="3657600" cy="320040"/>
          </a:xfrm>
          <a:prstGeom prst="rect">
            <a:avLst/>
          </a:prstGeom>
          <a:noFill/>
          <a:ln/>
        </p:spPr>
        <p:txBody>
          <a:bodyPr wrap="square" lIns="0" tIns="0" rIns="0" bIns="0" rtlCol="0" anchor="t"/>
          <a:lstStyle/>
          <a:p>
            <a:pPr marL="0" indent="0">
              <a:buNone/>
            </a:pPr>
            <a:r>
              <a:rPr lang="en-US" sz="1500" b="1" dirty="0">
                <a:solidFill>
                  <a:schemeClr val="tx1"/>
                </a:solidFill>
              </a:rPr>
              <a:t>Costi complessivi, oltre il listino</a:t>
            </a:r>
            <a:endParaRPr lang="en-US" sz="1500" dirty="0"/>
          </a:p>
        </p:txBody>
      </p:sp>
      <p:sp>
        <p:nvSpPr>
          <p:cNvPr id="16" name="blocco Licenze o consumo"/>
          <p:cNvSpPr/>
          <p:nvPr/>
        </p:nvSpPr>
        <p:spPr>
          <a:xfrm>
            <a:off x="4892040" y="1600200"/>
            <a:ext cx="3611880" cy="384048"/>
          </a:xfrm>
          <a:prstGeom prst="roundRect">
            <a:avLst>
              <a:gd name="adj" fmla="val 28571"/>
            </a:avLst>
          </a:prstGeom>
          <a:solidFill>
            <a:schemeClr val="accent1"/>
          </a:solidFill>
          <a:ln/>
        </p:spPr>
        <p:txBody>
          <a:bodyPr/>
          <a:lstStyle/>
          <a:p>
            <a:endParaRPr lang="it-IT"/>
          </a:p>
        </p:txBody>
      </p:sp>
      <p:sp>
        <p:nvSpPr>
          <p:cNvPr id="17" name="Text 12"/>
          <p:cNvSpPr txBox="1"/>
          <p:nvPr/>
        </p:nvSpPr>
        <p:spPr>
          <a:xfrm>
            <a:off x="4937760" y="1600200"/>
            <a:ext cx="3520440" cy="384048"/>
          </a:xfrm>
          <a:prstGeom prst="rect">
            <a:avLst/>
          </a:prstGeom>
          <a:noFill/>
          <a:ln/>
        </p:spPr>
        <p:txBody>
          <a:bodyPr wrap="square" lIns="0" tIns="0" rIns="0" bIns="0" rtlCol="0" anchor="ctr"/>
          <a:lstStyle/>
          <a:p>
            <a:pPr marL="0" indent="0" algn="ctr">
              <a:buNone/>
            </a:pPr>
            <a:r>
              <a:rPr lang="en-US" sz="1200" b="1" dirty="0">
                <a:solidFill>
                  <a:schemeClr val="bg1"/>
                </a:solidFill>
              </a:rPr>
              <a:t>Licenze o consumo</a:t>
            </a:r>
            <a:endParaRPr lang="en-US" sz="1200" dirty="0"/>
          </a:p>
        </p:txBody>
      </p:sp>
      <p:sp>
        <p:nvSpPr>
          <p:cNvPr id="18" name="blocco Integrazione e configurazione"/>
          <p:cNvSpPr/>
          <p:nvPr/>
        </p:nvSpPr>
        <p:spPr>
          <a:xfrm>
            <a:off x="4892040" y="2057400"/>
            <a:ext cx="3611880" cy="384048"/>
          </a:xfrm>
          <a:prstGeom prst="roundRect">
            <a:avLst>
              <a:gd name="adj" fmla="val 28571"/>
            </a:avLst>
          </a:prstGeom>
          <a:solidFill>
            <a:schemeClr val="bg1"/>
          </a:solidFill>
          <a:ln/>
        </p:spPr>
        <p:txBody>
          <a:bodyPr/>
          <a:lstStyle/>
          <a:p>
            <a:endParaRPr lang="it-IT"/>
          </a:p>
        </p:txBody>
      </p:sp>
      <p:sp>
        <p:nvSpPr>
          <p:cNvPr id="19" name="Text 14"/>
          <p:cNvSpPr txBox="1"/>
          <p:nvPr/>
        </p:nvSpPr>
        <p:spPr>
          <a:xfrm>
            <a:off x="4937760" y="2057400"/>
            <a:ext cx="3520440" cy="384048"/>
          </a:xfrm>
          <a:prstGeom prst="rect">
            <a:avLst/>
          </a:prstGeom>
          <a:noFill/>
          <a:ln/>
        </p:spPr>
        <p:txBody>
          <a:bodyPr wrap="square" lIns="0" tIns="0" rIns="0" bIns="0" rtlCol="0" anchor="ctr"/>
          <a:lstStyle/>
          <a:p>
            <a:pPr marL="0" indent="0" algn="ctr">
              <a:buNone/>
            </a:pPr>
            <a:r>
              <a:rPr lang="en-US" sz="1200" b="1" dirty="0">
                <a:solidFill>
                  <a:schemeClr val="tx1"/>
                </a:solidFill>
              </a:rPr>
              <a:t>Integrazione e configurazione</a:t>
            </a:r>
            <a:endParaRPr lang="en-US" sz="1200" dirty="0"/>
          </a:p>
        </p:txBody>
      </p:sp>
      <p:sp>
        <p:nvSpPr>
          <p:cNvPr id="20" name="blocco Formazione delle persone"/>
          <p:cNvSpPr/>
          <p:nvPr/>
        </p:nvSpPr>
        <p:spPr>
          <a:xfrm>
            <a:off x="4892040" y="2514600"/>
            <a:ext cx="3611880" cy="384048"/>
          </a:xfrm>
          <a:prstGeom prst="roundRect">
            <a:avLst>
              <a:gd name="adj" fmla="val 28571"/>
            </a:avLst>
          </a:prstGeom>
          <a:solidFill>
            <a:schemeClr val="bg1"/>
          </a:solidFill>
          <a:ln/>
        </p:spPr>
        <p:txBody>
          <a:bodyPr/>
          <a:lstStyle/>
          <a:p>
            <a:endParaRPr lang="it-IT"/>
          </a:p>
        </p:txBody>
      </p:sp>
      <p:sp>
        <p:nvSpPr>
          <p:cNvPr id="21" name="Text 16"/>
          <p:cNvSpPr txBox="1"/>
          <p:nvPr/>
        </p:nvSpPr>
        <p:spPr>
          <a:xfrm>
            <a:off x="4937760" y="2514600"/>
            <a:ext cx="3520440" cy="384048"/>
          </a:xfrm>
          <a:prstGeom prst="rect">
            <a:avLst/>
          </a:prstGeom>
          <a:noFill/>
          <a:ln/>
        </p:spPr>
        <p:txBody>
          <a:bodyPr wrap="square" lIns="0" tIns="0" rIns="0" bIns="0" rtlCol="0" anchor="ctr"/>
          <a:lstStyle/>
          <a:p>
            <a:pPr marL="0" indent="0" algn="ctr">
              <a:buNone/>
            </a:pPr>
            <a:r>
              <a:rPr lang="en-US" sz="1200" b="1" dirty="0">
                <a:solidFill>
                  <a:schemeClr val="tx1"/>
                </a:solidFill>
              </a:rPr>
              <a:t>Formazione delle persone</a:t>
            </a:r>
            <a:endParaRPr lang="en-US" sz="1200" dirty="0"/>
          </a:p>
        </p:txBody>
      </p:sp>
      <p:sp>
        <p:nvSpPr>
          <p:cNvPr id="22" name="blocco Tempo per verificare i risultati"/>
          <p:cNvSpPr/>
          <p:nvPr/>
        </p:nvSpPr>
        <p:spPr>
          <a:xfrm>
            <a:off x="4892040" y="2971800"/>
            <a:ext cx="3611880" cy="384048"/>
          </a:xfrm>
          <a:prstGeom prst="roundRect">
            <a:avLst>
              <a:gd name="adj" fmla="val 28571"/>
            </a:avLst>
          </a:prstGeom>
          <a:solidFill>
            <a:schemeClr val="bg1"/>
          </a:solidFill>
          <a:ln/>
        </p:spPr>
        <p:txBody>
          <a:bodyPr/>
          <a:lstStyle/>
          <a:p>
            <a:endParaRPr lang="it-IT"/>
          </a:p>
        </p:txBody>
      </p:sp>
      <p:sp>
        <p:nvSpPr>
          <p:cNvPr id="23" name="Text 18"/>
          <p:cNvSpPr txBox="1"/>
          <p:nvPr/>
        </p:nvSpPr>
        <p:spPr>
          <a:xfrm>
            <a:off x="4937760" y="2971800"/>
            <a:ext cx="3520440" cy="384048"/>
          </a:xfrm>
          <a:prstGeom prst="rect">
            <a:avLst/>
          </a:prstGeom>
          <a:noFill/>
          <a:ln/>
        </p:spPr>
        <p:txBody>
          <a:bodyPr wrap="square" lIns="0" tIns="0" rIns="0" bIns="0" rtlCol="0" anchor="ctr"/>
          <a:lstStyle/>
          <a:p>
            <a:pPr marL="0" indent="0" algn="ctr">
              <a:buNone/>
            </a:pPr>
            <a:r>
              <a:rPr lang="en-US" sz="1200" b="1" dirty="0">
                <a:solidFill>
                  <a:schemeClr val="tx1"/>
                </a:solidFill>
              </a:rPr>
              <a:t>Tempo per verificare i risultati</a:t>
            </a:r>
            <a:endParaRPr lang="en-US" sz="1200" dirty="0"/>
          </a:p>
        </p:txBody>
      </p:sp>
      <p:sp>
        <p:nvSpPr>
          <p:cNvPr id="24" name="blocco Gestione e manutenzione"/>
          <p:cNvSpPr/>
          <p:nvPr/>
        </p:nvSpPr>
        <p:spPr>
          <a:xfrm>
            <a:off x="4892040" y="3429000"/>
            <a:ext cx="3611880" cy="384048"/>
          </a:xfrm>
          <a:prstGeom prst="roundRect">
            <a:avLst>
              <a:gd name="adj" fmla="val 28571"/>
            </a:avLst>
          </a:prstGeom>
          <a:solidFill>
            <a:schemeClr val="bg1"/>
          </a:solidFill>
          <a:ln/>
        </p:spPr>
        <p:txBody>
          <a:bodyPr/>
          <a:lstStyle/>
          <a:p>
            <a:endParaRPr lang="it-IT"/>
          </a:p>
        </p:txBody>
      </p:sp>
      <p:sp>
        <p:nvSpPr>
          <p:cNvPr id="25" name="Text 20"/>
          <p:cNvSpPr txBox="1"/>
          <p:nvPr/>
        </p:nvSpPr>
        <p:spPr>
          <a:xfrm>
            <a:off x="4937760" y="3429000"/>
            <a:ext cx="3520440" cy="384048"/>
          </a:xfrm>
          <a:prstGeom prst="rect">
            <a:avLst/>
          </a:prstGeom>
          <a:noFill/>
          <a:ln/>
        </p:spPr>
        <p:txBody>
          <a:bodyPr wrap="square" lIns="0" tIns="0" rIns="0" bIns="0" rtlCol="0" anchor="ctr"/>
          <a:lstStyle/>
          <a:p>
            <a:pPr marL="0" indent="0" algn="ctr">
              <a:buNone/>
            </a:pPr>
            <a:r>
              <a:rPr lang="en-US" sz="1200" b="1" dirty="0">
                <a:solidFill>
                  <a:schemeClr val="tx1"/>
                </a:solidFill>
              </a:rPr>
              <a:t>Gestione e manutenzione</a:t>
            </a:r>
            <a:endParaRPr lang="en-US" sz="1200" dirty="0"/>
          </a:p>
        </p:txBody>
      </p:sp>
      <p:sp>
        <p:nvSpPr>
          <p:cNvPr id="26" name="blocco Costi di uscita"/>
          <p:cNvSpPr/>
          <p:nvPr/>
        </p:nvSpPr>
        <p:spPr>
          <a:xfrm>
            <a:off x="4892040" y="3886200"/>
            <a:ext cx="3611880" cy="384048"/>
          </a:xfrm>
          <a:prstGeom prst="roundRect">
            <a:avLst>
              <a:gd name="adj" fmla="val 28571"/>
            </a:avLst>
          </a:prstGeom>
          <a:solidFill>
            <a:schemeClr val="bg1"/>
          </a:solidFill>
          <a:ln/>
        </p:spPr>
        <p:txBody>
          <a:bodyPr/>
          <a:lstStyle/>
          <a:p>
            <a:endParaRPr lang="it-IT"/>
          </a:p>
        </p:txBody>
      </p:sp>
      <p:sp>
        <p:nvSpPr>
          <p:cNvPr id="27" name="Text 22"/>
          <p:cNvSpPr txBox="1"/>
          <p:nvPr/>
        </p:nvSpPr>
        <p:spPr>
          <a:xfrm>
            <a:off x="4937760" y="3886200"/>
            <a:ext cx="3520440" cy="384048"/>
          </a:xfrm>
          <a:prstGeom prst="rect">
            <a:avLst/>
          </a:prstGeom>
          <a:noFill/>
          <a:ln/>
        </p:spPr>
        <p:txBody>
          <a:bodyPr wrap="square" lIns="0" tIns="0" rIns="0" bIns="0" rtlCol="0" anchor="ctr"/>
          <a:lstStyle/>
          <a:p>
            <a:pPr marL="0" indent="0" algn="ctr">
              <a:buNone/>
            </a:pPr>
            <a:r>
              <a:rPr lang="en-US" sz="1200" b="1" dirty="0">
                <a:solidFill>
                  <a:schemeClr val="tx1"/>
                </a:solidFill>
              </a:rPr>
              <a:t>Costi di uscita</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Dati, sicurezza e controlli amministrativi</a:t>
            </a:r>
            <a:endParaRPr lang="en-US" sz="2600" dirty="0"/>
          </a:p>
        </p:txBody>
      </p:sp>
      <p:sp>
        <p:nvSpPr>
          <p:cNvPr id="4" name="Text 1"/>
          <p:cNvSpPr txBox="1"/>
          <p:nvPr/>
        </p:nvSpPr>
        <p:spPr>
          <a:xfrm>
            <a:off x="457200" y="1051560"/>
            <a:ext cx="3977640" cy="274320"/>
          </a:xfrm>
          <a:prstGeom prst="rect">
            <a:avLst/>
          </a:prstGeom>
          <a:noFill/>
          <a:ln/>
        </p:spPr>
        <p:txBody>
          <a:bodyPr wrap="square" lIns="0" tIns="0" rIns="0" bIns="0" rtlCol="0" anchor="t"/>
          <a:lstStyle/>
          <a:p>
            <a:pPr marL="0" indent="0">
              <a:buNone/>
            </a:pPr>
            <a:r>
              <a:rPr lang="en-US" sz="1400" b="1" dirty="0">
                <a:solidFill>
                  <a:schemeClr val="tx1"/>
                </a:solidFill>
              </a:rPr>
              <a:t>Domande sui dati</a:t>
            </a:r>
            <a:endParaRPr lang="en-US" sz="1400" dirty="0"/>
          </a:p>
        </p:txBody>
      </p:sp>
      <p:sp>
        <p:nvSpPr>
          <p:cNvPr id="5" name="riga 0"/>
          <p:cNvSpPr/>
          <p:nvPr/>
        </p:nvSpPr>
        <p:spPr>
          <a:xfrm>
            <a:off x="457200" y="1417320"/>
            <a:ext cx="3977640" cy="502920"/>
          </a:xfrm>
          <a:prstGeom prst="roundRect">
            <a:avLst>
              <a:gd name="adj" fmla="val 14545"/>
            </a:avLst>
          </a:prstGeom>
          <a:solidFill>
            <a:schemeClr val="bg2"/>
          </a:solidFill>
          <a:ln/>
        </p:spPr>
        <p:txBody>
          <a:bodyPr/>
          <a:lstStyle/>
          <a:p>
            <a:endParaRPr lang="it-IT"/>
          </a:p>
        </p:txBody>
      </p:sp>
      <p:sp>
        <p:nvSpPr>
          <p:cNvPr id="6" name="Text 3"/>
          <p:cNvSpPr txBox="1"/>
          <p:nvPr/>
        </p:nvSpPr>
        <p:spPr>
          <a:xfrm>
            <a:off x="640080" y="1417320"/>
            <a:ext cx="3611880" cy="502920"/>
          </a:xfrm>
          <a:prstGeom prst="rect">
            <a:avLst/>
          </a:prstGeom>
          <a:noFill/>
          <a:ln/>
        </p:spPr>
        <p:txBody>
          <a:bodyPr wrap="square" lIns="0" tIns="0" rIns="0" bIns="0" rtlCol="0" anchor="ctr"/>
          <a:lstStyle/>
          <a:p>
            <a:pPr marL="0" indent="0">
              <a:buNone/>
            </a:pPr>
            <a:r>
              <a:rPr lang="en-US" sz="1200" dirty="0">
                <a:solidFill>
                  <a:schemeClr val="tx1"/>
                </a:solidFill>
              </a:rPr>
              <a:t>Sono usati per addestrare i modelli?</a:t>
            </a:r>
            <a:endParaRPr lang="en-US" sz="1200" dirty="0"/>
          </a:p>
        </p:txBody>
      </p:sp>
      <p:sp>
        <p:nvSpPr>
          <p:cNvPr id="7" name="riga 1"/>
          <p:cNvSpPr/>
          <p:nvPr/>
        </p:nvSpPr>
        <p:spPr>
          <a:xfrm>
            <a:off x="457200" y="1993392"/>
            <a:ext cx="3977640" cy="502920"/>
          </a:xfrm>
          <a:prstGeom prst="roundRect">
            <a:avLst>
              <a:gd name="adj" fmla="val 14545"/>
            </a:avLst>
          </a:prstGeom>
          <a:solidFill>
            <a:schemeClr val="bg1"/>
          </a:solidFill>
          <a:ln/>
        </p:spPr>
        <p:txBody>
          <a:bodyPr/>
          <a:lstStyle/>
          <a:p>
            <a:endParaRPr lang="it-IT"/>
          </a:p>
        </p:txBody>
      </p:sp>
      <p:sp>
        <p:nvSpPr>
          <p:cNvPr id="8" name="Text 5"/>
          <p:cNvSpPr txBox="1"/>
          <p:nvPr/>
        </p:nvSpPr>
        <p:spPr>
          <a:xfrm>
            <a:off x="640080" y="1993392"/>
            <a:ext cx="3611880" cy="502920"/>
          </a:xfrm>
          <a:prstGeom prst="rect">
            <a:avLst/>
          </a:prstGeom>
          <a:noFill/>
          <a:ln/>
        </p:spPr>
        <p:txBody>
          <a:bodyPr wrap="square" lIns="0" tIns="0" rIns="0" bIns="0" rtlCol="0" anchor="ctr"/>
          <a:lstStyle/>
          <a:p>
            <a:pPr marL="0" indent="0">
              <a:buNone/>
            </a:pPr>
            <a:r>
              <a:rPr lang="en-US" sz="1200" dirty="0">
                <a:solidFill>
                  <a:schemeClr val="tx1"/>
                </a:solidFill>
              </a:rPr>
              <a:t>Per quanto tempo sono conservati? Si possono cancellare?</a:t>
            </a:r>
            <a:endParaRPr lang="en-US" sz="1200" dirty="0"/>
          </a:p>
        </p:txBody>
      </p:sp>
      <p:sp>
        <p:nvSpPr>
          <p:cNvPr id="9" name="riga 2"/>
          <p:cNvSpPr/>
          <p:nvPr/>
        </p:nvSpPr>
        <p:spPr>
          <a:xfrm>
            <a:off x="457200" y="2569464"/>
            <a:ext cx="3977640" cy="502920"/>
          </a:xfrm>
          <a:prstGeom prst="roundRect">
            <a:avLst>
              <a:gd name="adj" fmla="val 14545"/>
            </a:avLst>
          </a:prstGeom>
          <a:solidFill>
            <a:schemeClr val="bg2"/>
          </a:solidFill>
          <a:ln/>
        </p:spPr>
        <p:txBody>
          <a:bodyPr/>
          <a:lstStyle/>
          <a:p>
            <a:endParaRPr lang="it-IT"/>
          </a:p>
        </p:txBody>
      </p:sp>
      <p:sp>
        <p:nvSpPr>
          <p:cNvPr id="10" name="Text 7"/>
          <p:cNvSpPr txBox="1"/>
          <p:nvPr/>
        </p:nvSpPr>
        <p:spPr>
          <a:xfrm>
            <a:off x="640080" y="2569464"/>
            <a:ext cx="3611880" cy="502920"/>
          </a:xfrm>
          <a:prstGeom prst="rect">
            <a:avLst/>
          </a:prstGeom>
          <a:noFill/>
          <a:ln/>
        </p:spPr>
        <p:txBody>
          <a:bodyPr wrap="square" lIns="0" tIns="0" rIns="0" bIns="0" rtlCol="0" anchor="ctr"/>
          <a:lstStyle/>
          <a:p>
            <a:pPr marL="0" indent="0">
              <a:buNone/>
            </a:pPr>
            <a:r>
              <a:rPr lang="en-US" sz="1200" dirty="0">
                <a:solidFill>
                  <a:schemeClr val="tx1"/>
                </a:solidFill>
              </a:rPr>
              <a:t>Dove sono elaborati e conservati?</a:t>
            </a:r>
            <a:endParaRPr lang="en-US" sz="1200" dirty="0"/>
          </a:p>
        </p:txBody>
      </p:sp>
      <p:sp>
        <p:nvSpPr>
          <p:cNvPr id="11" name="riga 3"/>
          <p:cNvSpPr/>
          <p:nvPr/>
        </p:nvSpPr>
        <p:spPr>
          <a:xfrm>
            <a:off x="457200" y="3145536"/>
            <a:ext cx="3977640" cy="502920"/>
          </a:xfrm>
          <a:prstGeom prst="roundRect">
            <a:avLst>
              <a:gd name="adj" fmla="val 14545"/>
            </a:avLst>
          </a:prstGeom>
          <a:solidFill>
            <a:schemeClr val="bg1"/>
          </a:solidFill>
          <a:ln/>
        </p:spPr>
        <p:txBody>
          <a:bodyPr/>
          <a:lstStyle/>
          <a:p>
            <a:endParaRPr lang="it-IT"/>
          </a:p>
        </p:txBody>
      </p:sp>
      <p:sp>
        <p:nvSpPr>
          <p:cNvPr id="12" name="Text 9"/>
          <p:cNvSpPr txBox="1"/>
          <p:nvPr/>
        </p:nvSpPr>
        <p:spPr>
          <a:xfrm>
            <a:off x="640080" y="3145536"/>
            <a:ext cx="3611880" cy="502920"/>
          </a:xfrm>
          <a:prstGeom prst="rect">
            <a:avLst/>
          </a:prstGeom>
          <a:noFill/>
          <a:ln/>
        </p:spPr>
        <p:txBody>
          <a:bodyPr wrap="square" lIns="0" tIns="0" rIns="0" bIns="0" rtlCol="0" anchor="ctr"/>
          <a:lstStyle/>
          <a:p>
            <a:pPr marL="0" indent="0">
              <a:buNone/>
            </a:pPr>
            <a:r>
              <a:rPr lang="en-US" sz="1200" dirty="0">
                <a:solidFill>
                  <a:schemeClr val="tx1"/>
                </a:solidFill>
              </a:rPr>
              <a:t>Quali terze parti sono coinvolte?</a:t>
            </a:r>
            <a:endParaRPr lang="en-US" sz="1200" dirty="0"/>
          </a:p>
        </p:txBody>
      </p:sp>
      <p:sp>
        <p:nvSpPr>
          <p:cNvPr id="13" name="riga 4"/>
          <p:cNvSpPr/>
          <p:nvPr/>
        </p:nvSpPr>
        <p:spPr>
          <a:xfrm>
            <a:off x="457200" y="3721608"/>
            <a:ext cx="3977640" cy="502920"/>
          </a:xfrm>
          <a:prstGeom prst="roundRect">
            <a:avLst>
              <a:gd name="adj" fmla="val 14545"/>
            </a:avLst>
          </a:prstGeom>
          <a:solidFill>
            <a:schemeClr val="bg2"/>
          </a:solidFill>
          <a:ln/>
        </p:spPr>
        <p:txBody>
          <a:bodyPr/>
          <a:lstStyle/>
          <a:p>
            <a:endParaRPr lang="it-IT"/>
          </a:p>
        </p:txBody>
      </p:sp>
      <p:sp>
        <p:nvSpPr>
          <p:cNvPr id="14" name="Text 11"/>
          <p:cNvSpPr txBox="1"/>
          <p:nvPr/>
        </p:nvSpPr>
        <p:spPr>
          <a:xfrm>
            <a:off x="640080" y="3721608"/>
            <a:ext cx="3611880" cy="502920"/>
          </a:xfrm>
          <a:prstGeom prst="rect">
            <a:avLst/>
          </a:prstGeom>
          <a:noFill/>
          <a:ln/>
        </p:spPr>
        <p:txBody>
          <a:bodyPr wrap="square" lIns="0" tIns="0" rIns="0" bIns="0" rtlCol="0" anchor="ctr"/>
          <a:lstStyle/>
          <a:p>
            <a:pPr marL="0" indent="0">
              <a:buNone/>
            </a:pPr>
            <a:r>
              <a:rPr lang="en-US" sz="1200" dirty="0">
                <a:solidFill>
                  <a:schemeClr val="tx1"/>
                </a:solidFill>
              </a:rPr>
              <a:t>Quali certificazioni di sicurezza?</a:t>
            </a:r>
            <a:endParaRPr lang="en-US" sz="1200" dirty="0"/>
          </a:p>
        </p:txBody>
      </p:sp>
      <p:sp>
        <p:nvSpPr>
          <p:cNvPr id="15" name="Text 12"/>
          <p:cNvSpPr txBox="1"/>
          <p:nvPr/>
        </p:nvSpPr>
        <p:spPr>
          <a:xfrm>
            <a:off x="4709160" y="1051560"/>
            <a:ext cx="3977640" cy="274320"/>
          </a:xfrm>
          <a:prstGeom prst="rect">
            <a:avLst/>
          </a:prstGeom>
          <a:noFill/>
          <a:ln/>
        </p:spPr>
        <p:txBody>
          <a:bodyPr wrap="square" lIns="0" tIns="0" rIns="0" bIns="0" rtlCol="0" anchor="t"/>
          <a:lstStyle/>
          <a:p>
            <a:pPr marL="0" indent="0">
              <a:buNone/>
            </a:pPr>
            <a:r>
              <a:rPr lang="en-US" sz="1400" b="1" dirty="0">
                <a:solidFill>
                  <a:schemeClr val="tx1"/>
                </a:solidFill>
              </a:rPr>
              <a:t>Domande sui controlli</a:t>
            </a:r>
            <a:endParaRPr lang="en-US" sz="1400" dirty="0"/>
          </a:p>
        </p:txBody>
      </p:sp>
      <p:sp>
        <p:nvSpPr>
          <p:cNvPr id="16" name="riga 0"/>
          <p:cNvSpPr/>
          <p:nvPr/>
        </p:nvSpPr>
        <p:spPr>
          <a:xfrm>
            <a:off x="4709160" y="1417320"/>
            <a:ext cx="3977640" cy="502920"/>
          </a:xfrm>
          <a:prstGeom prst="roundRect">
            <a:avLst>
              <a:gd name="adj" fmla="val 14545"/>
            </a:avLst>
          </a:prstGeom>
          <a:solidFill>
            <a:schemeClr val="bg2"/>
          </a:solidFill>
          <a:ln/>
        </p:spPr>
        <p:txBody>
          <a:bodyPr/>
          <a:lstStyle/>
          <a:p>
            <a:endParaRPr lang="it-IT"/>
          </a:p>
        </p:txBody>
      </p:sp>
      <p:sp>
        <p:nvSpPr>
          <p:cNvPr id="17" name="Text 14"/>
          <p:cNvSpPr txBox="1"/>
          <p:nvPr/>
        </p:nvSpPr>
        <p:spPr>
          <a:xfrm>
            <a:off x="4892040" y="1417320"/>
            <a:ext cx="3611880" cy="502920"/>
          </a:xfrm>
          <a:prstGeom prst="rect">
            <a:avLst/>
          </a:prstGeom>
          <a:noFill/>
          <a:ln/>
        </p:spPr>
        <p:txBody>
          <a:bodyPr wrap="square" lIns="0" tIns="0" rIns="0" bIns="0" rtlCol="0" anchor="ctr"/>
          <a:lstStyle/>
          <a:p>
            <a:pPr marL="0" indent="0">
              <a:buNone/>
            </a:pPr>
            <a:r>
              <a:rPr lang="en-US" sz="1200" dirty="0">
                <a:solidFill>
                  <a:schemeClr val="tx1"/>
                </a:solidFill>
              </a:rPr>
              <a:t>Gestione centralizzata di accessi e permessi?</a:t>
            </a:r>
            <a:endParaRPr lang="en-US" sz="1200" dirty="0"/>
          </a:p>
        </p:txBody>
      </p:sp>
      <p:sp>
        <p:nvSpPr>
          <p:cNvPr id="18" name="riga 1"/>
          <p:cNvSpPr/>
          <p:nvPr/>
        </p:nvSpPr>
        <p:spPr>
          <a:xfrm>
            <a:off x="4709160" y="1993392"/>
            <a:ext cx="3977640" cy="502920"/>
          </a:xfrm>
          <a:prstGeom prst="roundRect">
            <a:avLst>
              <a:gd name="adj" fmla="val 14545"/>
            </a:avLst>
          </a:prstGeom>
          <a:solidFill>
            <a:schemeClr val="bg1"/>
          </a:solidFill>
          <a:ln/>
        </p:spPr>
        <p:txBody>
          <a:bodyPr/>
          <a:lstStyle/>
          <a:p>
            <a:endParaRPr lang="it-IT"/>
          </a:p>
        </p:txBody>
      </p:sp>
      <p:sp>
        <p:nvSpPr>
          <p:cNvPr id="19" name="Text 16"/>
          <p:cNvSpPr txBox="1"/>
          <p:nvPr/>
        </p:nvSpPr>
        <p:spPr>
          <a:xfrm>
            <a:off x="4892040" y="1993392"/>
            <a:ext cx="3611880" cy="502920"/>
          </a:xfrm>
          <a:prstGeom prst="rect">
            <a:avLst/>
          </a:prstGeom>
          <a:noFill/>
          <a:ln/>
        </p:spPr>
        <p:txBody>
          <a:bodyPr wrap="square" lIns="0" tIns="0" rIns="0" bIns="0" rtlCol="0" anchor="ctr"/>
          <a:lstStyle/>
          <a:p>
            <a:pPr marL="0" indent="0">
              <a:buNone/>
            </a:pPr>
            <a:r>
              <a:rPr lang="en-US" sz="1200" dirty="0">
                <a:solidFill>
                  <a:schemeClr val="tx1"/>
                </a:solidFill>
              </a:rPr>
              <a:t>Accesso con credenziali aziendali?</a:t>
            </a:r>
            <a:endParaRPr lang="en-US" sz="1200" dirty="0"/>
          </a:p>
        </p:txBody>
      </p:sp>
      <p:sp>
        <p:nvSpPr>
          <p:cNvPr id="20" name="riga 2"/>
          <p:cNvSpPr/>
          <p:nvPr/>
        </p:nvSpPr>
        <p:spPr>
          <a:xfrm>
            <a:off x="4709160" y="2569464"/>
            <a:ext cx="3977640" cy="502920"/>
          </a:xfrm>
          <a:prstGeom prst="roundRect">
            <a:avLst>
              <a:gd name="adj" fmla="val 14545"/>
            </a:avLst>
          </a:prstGeom>
          <a:solidFill>
            <a:schemeClr val="bg2"/>
          </a:solidFill>
          <a:ln/>
        </p:spPr>
        <p:txBody>
          <a:bodyPr/>
          <a:lstStyle/>
          <a:p>
            <a:endParaRPr lang="it-IT"/>
          </a:p>
        </p:txBody>
      </p:sp>
      <p:sp>
        <p:nvSpPr>
          <p:cNvPr id="21" name="Text 18"/>
          <p:cNvSpPr txBox="1"/>
          <p:nvPr/>
        </p:nvSpPr>
        <p:spPr>
          <a:xfrm>
            <a:off x="4892040" y="2569464"/>
            <a:ext cx="3611880" cy="502920"/>
          </a:xfrm>
          <a:prstGeom prst="rect">
            <a:avLst/>
          </a:prstGeom>
          <a:noFill/>
          <a:ln/>
        </p:spPr>
        <p:txBody>
          <a:bodyPr wrap="square" lIns="0" tIns="0" rIns="0" bIns="0" rtlCol="0" anchor="ctr"/>
          <a:lstStyle/>
          <a:p>
            <a:pPr marL="0" indent="0">
              <a:buNone/>
            </a:pPr>
            <a:r>
              <a:rPr lang="en-US" sz="1200" dirty="0">
                <a:solidFill>
                  <a:schemeClr val="tx1"/>
                </a:solidFill>
              </a:rPr>
              <a:t>Disattivazione di funzioni non autorizzate?</a:t>
            </a:r>
            <a:endParaRPr lang="en-US" sz="1200" dirty="0"/>
          </a:p>
        </p:txBody>
      </p:sp>
      <p:sp>
        <p:nvSpPr>
          <p:cNvPr id="22" name="riga 3"/>
          <p:cNvSpPr/>
          <p:nvPr/>
        </p:nvSpPr>
        <p:spPr>
          <a:xfrm>
            <a:off x="4709160" y="3145536"/>
            <a:ext cx="3977640" cy="502920"/>
          </a:xfrm>
          <a:prstGeom prst="roundRect">
            <a:avLst>
              <a:gd name="adj" fmla="val 14545"/>
            </a:avLst>
          </a:prstGeom>
          <a:solidFill>
            <a:schemeClr val="bg1"/>
          </a:solidFill>
          <a:ln/>
        </p:spPr>
        <p:txBody>
          <a:bodyPr/>
          <a:lstStyle/>
          <a:p>
            <a:endParaRPr lang="it-IT"/>
          </a:p>
        </p:txBody>
      </p:sp>
      <p:sp>
        <p:nvSpPr>
          <p:cNvPr id="23" name="Text 20"/>
          <p:cNvSpPr txBox="1"/>
          <p:nvPr/>
        </p:nvSpPr>
        <p:spPr>
          <a:xfrm>
            <a:off x="4892040" y="3145536"/>
            <a:ext cx="3611880" cy="502920"/>
          </a:xfrm>
          <a:prstGeom prst="rect">
            <a:avLst/>
          </a:prstGeom>
          <a:noFill/>
          <a:ln/>
        </p:spPr>
        <p:txBody>
          <a:bodyPr wrap="square" lIns="0" tIns="0" rIns="0" bIns="0" rtlCol="0" anchor="ctr"/>
          <a:lstStyle/>
          <a:p>
            <a:pPr marL="0" indent="0">
              <a:buNone/>
            </a:pPr>
            <a:r>
              <a:rPr lang="en-US" sz="1200" dirty="0">
                <a:solidFill>
                  <a:schemeClr val="tx1"/>
                </a:solidFill>
              </a:rPr>
              <a:t>Registri delle attività?</a:t>
            </a:r>
            <a:endParaRPr lang="en-US" sz="1200" dirty="0"/>
          </a:p>
        </p:txBody>
      </p:sp>
      <p:sp>
        <p:nvSpPr>
          <p:cNvPr id="24" name="riga 4"/>
          <p:cNvSpPr/>
          <p:nvPr/>
        </p:nvSpPr>
        <p:spPr>
          <a:xfrm>
            <a:off x="4709160" y="3721608"/>
            <a:ext cx="3977640" cy="502920"/>
          </a:xfrm>
          <a:prstGeom prst="roundRect">
            <a:avLst>
              <a:gd name="adj" fmla="val 14545"/>
            </a:avLst>
          </a:prstGeom>
          <a:solidFill>
            <a:schemeClr val="bg2"/>
          </a:solidFill>
          <a:ln/>
        </p:spPr>
        <p:txBody>
          <a:bodyPr/>
          <a:lstStyle/>
          <a:p>
            <a:endParaRPr lang="it-IT"/>
          </a:p>
        </p:txBody>
      </p:sp>
      <p:sp>
        <p:nvSpPr>
          <p:cNvPr id="25" name="Text 22"/>
          <p:cNvSpPr txBox="1"/>
          <p:nvPr/>
        </p:nvSpPr>
        <p:spPr>
          <a:xfrm>
            <a:off x="4892040" y="3721608"/>
            <a:ext cx="3611880" cy="502920"/>
          </a:xfrm>
          <a:prstGeom prst="rect">
            <a:avLst/>
          </a:prstGeom>
          <a:noFill/>
          <a:ln/>
        </p:spPr>
        <p:txBody>
          <a:bodyPr wrap="square" lIns="0" tIns="0" rIns="0" bIns="0" rtlCol="0" anchor="ctr"/>
          <a:lstStyle/>
          <a:p>
            <a:pPr marL="0" indent="0">
              <a:buNone/>
            </a:pPr>
            <a:r>
              <a:rPr lang="en-US" sz="1200" dirty="0">
                <a:solidFill>
                  <a:schemeClr val="tx1"/>
                </a:solidFill>
              </a:rPr>
              <a:t>Revoca rapida degli accessi?</a:t>
            </a:r>
            <a:endParaRPr lang="en-US" sz="1200" dirty="0"/>
          </a:p>
        </p:txBody>
      </p:sp>
      <p:sp>
        <p:nvSpPr>
          <p:cNvPr id="26" name="messaggio"/>
          <p:cNvSpPr/>
          <p:nvPr/>
        </p:nvSpPr>
        <p:spPr>
          <a:xfrm>
            <a:off x="457200" y="4297680"/>
            <a:ext cx="8229600" cy="411480"/>
          </a:xfrm>
          <a:prstGeom prst="roundRect">
            <a:avLst>
              <a:gd name="adj" fmla="val 19048"/>
            </a:avLst>
          </a:prstGeom>
          <a:solidFill>
            <a:schemeClr val="tx1"/>
          </a:solidFill>
          <a:ln/>
        </p:spPr>
        <p:txBody>
          <a:bodyPr/>
          <a:lstStyle/>
          <a:p>
            <a:endParaRPr lang="it-IT"/>
          </a:p>
        </p:txBody>
      </p:sp>
      <p:sp>
        <p:nvSpPr>
          <p:cNvPr id="27" name="Text 24"/>
          <p:cNvSpPr txBox="1"/>
          <p:nvPr/>
        </p:nvSpPr>
        <p:spPr>
          <a:xfrm>
            <a:off x="640080" y="4297680"/>
            <a:ext cx="7863840" cy="411480"/>
          </a:xfrm>
          <a:prstGeom prst="rect">
            <a:avLst/>
          </a:prstGeom>
          <a:noFill/>
          <a:ln/>
        </p:spPr>
        <p:txBody>
          <a:bodyPr wrap="square" lIns="0" tIns="0" rIns="0" bIns="0" rtlCol="0" anchor="ctr"/>
          <a:lstStyle/>
          <a:p>
            <a:pPr marL="0" indent="0">
              <a:buNone/>
            </a:pPr>
            <a:r>
              <a:rPr lang="it-IT" sz="1200" dirty="0">
                <a:solidFill>
                  <a:schemeClr val="bg1"/>
                </a:solidFill>
              </a:rPr>
              <a:t>Verifiche proporzionate a sensibilità dei dati ed effetti dell'uso: una prova con dati non riservati non è un'adozione.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Indipendenza tecnologica e vendor lock-in</a:t>
            </a:r>
            <a:endParaRPr lang="en-US" sz="2600" dirty="0"/>
          </a:p>
        </p:txBody>
      </p:sp>
      <p:sp>
        <p:nvSpPr>
          <p:cNvPr id="4" name="Text 1"/>
          <p:cNvSpPr txBox="1"/>
          <p:nvPr/>
        </p:nvSpPr>
        <p:spPr>
          <a:xfrm>
            <a:off x="457200" y="1051560"/>
            <a:ext cx="3977640" cy="274320"/>
          </a:xfrm>
          <a:prstGeom prst="rect">
            <a:avLst/>
          </a:prstGeom>
          <a:noFill/>
          <a:ln/>
        </p:spPr>
        <p:txBody>
          <a:bodyPr wrap="square" lIns="0" tIns="0" rIns="0" bIns="0" rtlCol="0" anchor="t"/>
          <a:lstStyle/>
          <a:p>
            <a:pPr marL="0" indent="0">
              <a:buNone/>
            </a:pPr>
            <a:r>
              <a:rPr lang="en-US" sz="1400" b="1" dirty="0">
                <a:solidFill>
                  <a:schemeClr val="accent5"/>
                </a:solidFill>
              </a:rPr>
              <a:t>Dove nasce la dipendenza</a:t>
            </a:r>
            <a:endParaRPr lang="en-US" sz="1400" dirty="0"/>
          </a:p>
        </p:txBody>
      </p:sp>
      <p:sp>
        <p:nvSpPr>
          <p:cNvPr id="5" name="riga 0"/>
          <p:cNvSpPr/>
          <p:nvPr/>
        </p:nvSpPr>
        <p:spPr>
          <a:xfrm>
            <a:off x="457200" y="1417320"/>
            <a:ext cx="3977640" cy="457200"/>
          </a:xfrm>
          <a:prstGeom prst="roundRect">
            <a:avLst>
              <a:gd name="adj" fmla="val 16000"/>
            </a:avLst>
          </a:prstGeom>
          <a:solidFill>
            <a:schemeClr val="bg2"/>
          </a:solidFill>
          <a:ln/>
        </p:spPr>
        <p:txBody>
          <a:bodyPr/>
          <a:lstStyle/>
          <a:p>
            <a:endParaRPr lang="it-IT"/>
          </a:p>
        </p:txBody>
      </p:sp>
      <p:sp>
        <p:nvSpPr>
          <p:cNvPr id="6" name="Text 3"/>
          <p:cNvSpPr txBox="1"/>
          <p:nvPr/>
        </p:nvSpPr>
        <p:spPr>
          <a:xfrm>
            <a:off x="640080" y="1417320"/>
            <a:ext cx="3611880" cy="457200"/>
          </a:xfrm>
          <a:prstGeom prst="rect">
            <a:avLst/>
          </a:prstGeom>
          <a:noFill/>
          <a:ln/>
        </p:spPr>
        <p:txBody>
          <a:bodyPr wrap="square" lIns="0" tIns="0" rIns="0" bIns="0" rtlCol="0" anchor="ctr"/>
          <a:lstStyle/>
          <a:p>
            <a:pPr marL="0" indent="0">
              <a:buNone/>
            </a:pPr>
            <a:r>
              <a:rPr lang="en-US" sz="1200" dirty="0">
                <a:solidFill>
                  <a:schemeClr val="tx1"/>
                </a:solidFill>
              </a:rPr>
              <a:t>Dati e contenuti difficili da esportare</a:t>
            </a:r>
            <a:endParaRPr lang="en-US" sz="1200" dirty="0"/>
          </a:p>
        </p:txBody>
      </p:sp>
      <p:sp>
        <p:nvSpPr>
          <p:cNvPr id="7" name="riga 1"/>
          <p:cNvSpPr/>
          <p:nvPr/>
        </p:nvSpPr>
        <p:spPr>
          <a:xfrm>
            <a:off x="457200" y="1947672"/>
            <a:ext cx="3977640" cy="457200"/>
          </a:xfrm>
          <a:prstGeom prst="roundRect">
            <a:avLst>
              <a:gd name="adj" fmla="val 16000"/>
            </a:avLst>
          </a:prstGeom>
          <a:solidFill>
            <a:schemeClr val="bg1"/>
          </a:solidFill>
          <a:ln/>
        </p:spPr>
        <p:txBody>
          <a:bodyPr/>
          <a:lstStyle/>
          <a:p>
            <a:endParaRPr lang="it-IT"/>
          </a:p>
        </p:txBody>
      </p:sp>
      <p:sp>
        <p:nvSpPr>
          <p:cNvPr id="8" name="Text 5"/>
          <p:cNvSpPr txBox="1"/>
          <p:nvPr/>
        </p:nvSpPr>
        <p:spPr>
          <a:xfrm>
            <a:off x="640080" y="1947672"/>
            <a:ext cx="3611880" cy="457200"/>
          </a:xfrm>
          <a:prstGeom prst="rect">
            <a:avLst/>
          </a:prstGeom>
          <a:noFill/>
          <a:ln/>
        </p:spPr>
        <p:txBody>
          <a:bodyPr wrap="square" lIns="0" tIns="0" rIns="0" bIns="0" rtlCol="0" anchor="ctr"/>
          <a:lstStyle/>
          <a:p>
            <a:pPr marL="0" indent="0">
              <a:buNone/>
            </a:pPr>
            <a:r>
              <a:rPr lang="en-US" sz="1200" dirty="0">
                <a:solidFill>
                  <a:schemeClr val="tx1"/>
                </a:solidFill>
              </a:rPr>
              <a:t>Configurazioni specifiche della piattaforma</a:t>
            </a:r>
            <a:endParaRPr lang="en-US" sz="1200" dirty="0"/>
          </a:p>
        </p:txBody>
      </p:sp>
      <p:sp>
        <p:nvSpPr>
          <p:cNvPr id="9" name="riga 2"/>
          <p:cNvSpPr/>
          <p:nvPr/>
        </p:nvSpPr>
        <p:spPr>
          <a:xfrm>
            <a:off x="457200" y="2478024"/>
            <a:ext cx="3977640" cy="457200"/>
          </a:xfrm>
          <a:prstGeom prst="roundRect">
            <a:avLst>
              <a:gd name="adj" fmla="val 16000"/>
            </a:avLst>
          </a:prstGeom>
          <a:solidFill>
            <a:schemeClr val="bg2"/>
          </a:solidFill>
          <a:ln/>
        </p:spPr>
        <p:txBody>
          <a:bodyPr/>
          <a:lstStyle/>
          <a:p>
            <a:endParaRPr lang="it-IT"/>
          </a:p>
        </p:txBody>
      </p:sp>
      <p:sp>
        <p:nvSpPr>
          <p:cNvPr id="10" name="Text 7"/>
          <p:cNvSpPr txBox="1"/>
          <p:nvPr/>
        </p:nvSpPr>
        <p:spPr>
          <a:xfrm>
            <a:off x="640080" y="2478024"/>
            <a:ext cx="3611880" cy="457200"/>
          </a:xfrm>
          <a:prstGeom prst="rect">
            <a:avLst/>
          </a:prstGeom>
          <a:noFill/>
          <a:ln/>
        </p:spPr>
        <p:txBody>
          <a:bodyPr wrap="square" lIns="0" tIns="0" rIns="0" bIns="0" rtlCol="0" anchor="ctr"/>
          <a:lstStyle/>
          <a:p>
            <a:pPr marL="0" indent="0">
              <a:buNone/>
            </a:pPr>
            <a:r>
              <a:rPr lang="en-US" sz="1200" dirty="0">
                <a:solidFill>
                  <a:schemeClr val="tx1"/>
                </a:solidFill>
              </a:rPr>
              <a:t>Integrazioni legate alle API di un fornitore</a:t>
            </a:r>
            <a:endParaRPr lang="en-US" sz="1200" dirty="0"/>
          </a:p>
        </p:txBody>
      </p:sp>
      <p:sp>
        <p:nvSpPr>
          <p:cNvPr id="11" name="riga 3"/>
          <p:cNvSpPr/>
          <p:nvPr/>
        </p:nvSpPr>
        <p:spPr>
          <a:xfrm>
            <a:off x="457200" y="3008376"/>
            <a:ext cx="3977640" cy="457200"/>
          </a:xfrm>
          <a:prstGeom prst="roundRect">
            <a:avLst>
              <a:gd name="adj" fmla="val 16000"/>
            </a:avLst>
          </a:prstGeom>
          <a:solidFill>
            <a:schemeClr val="bg1"/>
          </a:solidFill>
          <a:ln/>
        </p:spPr>
        <p:txBody>
          <a:bodyPr/>
          <a:lstStyle/>
          <a:p>
            <a:endParaRPr lang="it-IT"/>
          </a:p>
        </p:txBody>
      </p:sp>
      <p:sp>
        <p:nvSpPr>
          <p:cNvPr id="12" name="Text 9"/>
          <p:cNvSpPr txBox="1"/>
          <p:nvPr/>
        </p:nvSpPr>
        <p:spPr>
          <a:xfrm>
            <a:off x="640080" y="3008376"/>
            <a:ext cx="3611880" cy="457200"/>
          </a:xfrm>
          <a:prstGeom prst="rect">
            <a:avLst/>
          </a:prstGeom>
          <a:noFill/>
          <a:ln/>
        </p:spPr>
        <p:txBody>
          <a:bodyPr wrap="square" lIns="0" tIns="0" rIns="0" bIns="0" rtlCol="0" anchor="ctr"/>
          <a:lstStyle/>
          <a:p>
            <a:pPr marL="0" indent="0">
              <a:buNone/>
            </a:pPr>
            <a:r>
              <a:rPr lang="en-US" sz="1200" dirty="0">
                <a:solidFill>
                  <a:schemeClr val="tx1"/>
                </a:solidFill>
              </a:rPr>
              <a:t>Abitudini e formazione delle persone</a:t>
            </a:r>
            <a:endParaRPr lang="en-US" sz="1200" dirty="0"/>
          </a:p>
        </p:txBody>
      </p:sp>
      <p:sp>
        <p:nvSpPr>
          <p:cNvPr id="13" name="riga 4"/>
          <p:cNvSpPr/>
          <p:nvPr/>
        </p:nvSpPr>
        <p:spPr>
          <a:xfrm>
            <a:off x="457200" y="3538728"/>
            <a:ext cx="3977640" cy="457200"/>
          </a:xfrm>
          <a:prstGeom prst="roundRect">
            <a:avLst>
              <a:gd name="adj" fmla="val 16000"/>
            </a:avLst>
          </a:prstGeom>
          <a:solidFill>
            <a:schemeClr val="bg2"/>
          </a:solidFill>
          <a:ln/>
        </p:spPr>
        <p:txBody>
          <a:bodyPr/>
          <a:lstStyle/>
          <a:p>
            <a:endParaRPr lang="it-IT"/>
          </a:p>
        </p:txBody>
      </p:sp>
      <p:sp>
        <p:nvSpPr>
          <p:cNvPr id="14" name="Text 11"/>
          <p:cNvSpPr txBox="1"/>
          <p:nvPr/>
        </p:nvSpPr>
        <p:spPr>
          <a:xfrm>
            <a:off x="640080" y="3538728"/>
            <a:ext cx="3611880" cy="457200"/>
          </a:xfrm>
          <a:prstGeom prst="rect">
            <a:avLst/>
          </a:prstGeom>
          <a:noFill/>
          <a:ln/>
        </p:spPr>
        <p:txBody>
          <a:bodyPr wrap="square" lIns="0" tIns="0" rIns="0" bIns="0" rtlCol="0" anchor="ctr"/>
          <a:lstStyle/>
          <a:p>
            <a:pPr marL="0" indent="0">
              <a:buNone/>
            </a:pPr>
            <a:r>
              <a:rPr lang="en-US" sz="1200" dirty="0">
                <a:solidFill>
                  <a:schemeClr val="tx1"/>
                </a:solidFill>
              </a:rPr>
              <a:t>AI integrata in una suite più ampia</a:t>
            </a:r>
            <a:endParaRPr lang="en-US" sz="1200" dirty="0"/>
          </a:p>
        </p:txBody>
      </p:sp>
      <p:sp>
        <p:nvSpPr>
          <p:cNvPr id="15" name="Text 12"/>
          <p:cNvSpPr txBox="1"/>
          <p:nvPr/>
        </p:nvSpPr>
        <p:spPr>
          <a:xfrm>
            <a:off x="4709160" y="1051560"/>
            <a:ext cx="3977640" cy="274320"/>
          </a:xfrm>
          <a:prstGeom prst="rect">
            <a:avLst/>
          </a:prstGeom>
          <a:noFill/>
          <a:ln/>
        </p:spPr>
        <p:txBody>
          <a:bodyPr wrap="square" lIns="0" tIns="0" rIns="0" bIns="0" rtlCol="0" anchor="t"/>
          <a:lstStyle/>
          <a:p>
            <a:pPr marL="0" indent="0">
              <a:buNone/>
            </a:pPr>
            <a:r>
              <a:rPr lang="en-US" sz="1400" b="1" dirty="0">
                <a:solidFill>
                  <a:schemeClr val="accent1"/>
                </a:solidFill>
              </a:rPr>
              <a:t>Come ridurre il rischio</a:t>
            </a:r>
            <a:endParaRPr lang="en-US" sz="1400" dirty="0"/>
          </a:p>
        </p:txBody>
      </p:sp>
      <p:sp>
        <p:nvSpPr>
          <p:cNvPr id="16" name="Verificare l'esportazione di dati e configurazioni"/>
          <p:cNvSpPr/>
          <p:nvPr/>
        </p:nvSpPr>
        <p:spPr>
          <a:xfrm>
            <a:off x="4709160" y="1417320"/>
            <a:ext cx="3977640" cy="457200"/>
          </a:xfrm>
          <a:prstGeom prst="roundRect">
            <a:avLst>
              <a:gd name="adj" fmla="val 16000"/>
            </a:avLst>
          </a:prstGeom>
          <a:solidFill>
            <a:schemeClr val="accent6"/>
          </a:solidFill>
          <a:ln/>
        </p:spPr>
        <p:txBody>
          <a:bodyPr/>
          <a:lstStyle/>
          <a:p>
            <a:endParaRPr lang="it-IT"/>
          </a:p>
        </p:txBody>
      </p:sp>
      <p:sp>
        <p:nvSpPr>
          <p:cNvPr id="17" name="Text 14"/>
          <p:cNvSpPr txBox="1"/>
          <p:nvPr/>
        </p:nvSpPr>
        <p:spPr>
          <a:xfrm>
            <a:off x="4892040" y="1417320"/>
            <a:ext cx="3657600" cy="457200"/>
          </a:xfrm>
          <a:prstGeom prst="rect">
            <a:avLst/>
          </a:prstGeom>
          <a:noFill/>
          <a:ln/>
        </p:spPr>
        <p:txBody>
          <a:bodyPr wrap="square" lIns="0" tIns="0" rIns="0" bIns="0" rtlCol="0" anchor="ctr"/>
          <a:lstStyle/>
          <a:p>
            <a:pPr marL="0" indent="0">
              <a:buNone/>
            </a:pPr>
            <a:r>
              <a:rPr lang="en-US" sz="1200" dirty="0">
                <a:solidFill>
                  <a:schemeClr val="tx1"/>
                </a:solidFill>
              </a:rPr>
              <a:t>Verificare l'esportazione di dati e configurazioni</a:t>
            </a:r>
            <a:endParaRPr lang="en-US" sz="1200" dirty="0"/>
          </a:p>
        </p:txBody>
      </p:sp>
      <p:sp>
        <p:nvSpPr>
          <p:cNvPr id="18" name="Preferire formati e standard aperti"/>
          <p:cNvSpPr/>
          <p:nvPr/>
        </p:nvSpPr>
        <p:spPr>
          <a:xfrm>
            <a:off x="4709160" y="1947672"/>
            <a:ext cx="3977640" cy="457200"/>
          </a:xfrm>
          <a:prstGeom prst="roundRect">
            <a:avLst>
              <a:gd name="adj" fmla="val 16000"/>
            </a:avLst>
          </a:prstGeom>
          <a:solidFill>
            <a:schemeClr val="accent6"/>
          </a:solidFill>
          <a:ln/>
        </p:spPr>
        <p:txBody>
          <a:bodyPr/>
          <a:lstStyle/>
          <a:p>
            <a:endParaRPr lang="it-IT"/>
          </a:p>
        </p:txBody>
      </p:sp>
      <p:sp>
        <p:nvSpPr>
          <p:cNvPr id="19" name="Text 16"/>
          <p:cNvSpPr txBox="1"/>
          <p:nvPr/>
        </p:nvSpPr>
        <p:spPr>
          <a:xfrm>
            <a:off x="4892040" y="1947672"/>
            <a:ext cx="3657600" cy="457200"/>
          </a:xfrm>
          <a:prstGeom prst="rect">
            <a:avLst/>
          </a:prstGeom>
          <a:noFill/>
          <a:ln/>
        </p:spPr>
        <p:txBody>
          <a:bodyPr wrap="square" lIns="0" tIns="0" rIns="0" bIns="0" rtlCol="0" anchor="ctr"/>
          <a:lstStyle/>
          <a:p>
            <a:pPr marL="0" indent="0">
              <a:buNone/>
            </a:pPr>
            <a:r>
              <a:rPr lang="en-US" sz="1200" dirty="0">
                <a:solidFill>
                  <a:schemeClr val="tx1"/>
                </a:solidFill>
              </a:rPr>
              <a:t>Preferire formati e standard aperti</a:t>
            </a:r>
            <a:endParaRPr lang="en-US" sz="1200" dirty="0"/>
          </a:p>
        </p:txBody>
      </p:sp>
      <p:sp>
        <p:nvSpPr>
          <p:cNvPr id="20" name="Valutare piattaforme che supportano più modelli"/>
          <p:cNvSpPr/>
          <p:nvPr/>
        </p:nvSpPr>
        <p:spPr>
          <a:xfrm>
            <a:off x="4709160" y="2478024"/>
            <a:ext cx="3977640" cy="457200"/>
          </a:xfrm>
          <a:prstGeom prst="roundRect">
            <a:avLst>
              <a:gd name="adj" fmla="val 16000"/>
            </a:avLst>
          </a:prstGeom>
          <a:solidFill>
            <a:schemeClr val="accent6"/>
          </a:solidFill>
          <a:ln/>
        </p:spPr>
        <p:txBody>
          <a:bodyPr/>
          <a:lstStyle/>
          <a:p>
            <a:endParaRPr lang="it-IT"/>
          </a:p>
        </p:txBody>
      </p:sp>
      <p:sp>
        <p:nvSpPr>
          <p:cNvPr id="21" name="Text 18"/>
          <p:cNvSpPr txBox="1"/>
          <p:nvPr/>
        </p:nvSpPr>
        <p:spPr>
          <a:xfrm>
            <a:off x="4892040" y="2478024"/>
            <a:ext cx="3657600" cy="457200"/>
          </a:xfrm>
          <a:prstGeom prst="rect">
            <a:avLst/>
          </a:prstGeom>
          <a:noFill/>
          <a:ln/>
        </p:spPr>
        <p:txBody>
          <a:bodyPr wrap="square" lIns="0" tIns="0" rIns="0" bIns="0" rtlCol="0" anchor="ctr"/>
          <a:lstStyle/>
          <a:p>
            <a:pPr marL="0" indent="0">
              <a:buNone/>
            </a:pPr>
            <a:r>
              <a:rPr lang="en-US" sz="1200" dirty="0">
                <a:solidFill>
                  <a:schemeClr val="tx1"/>
                </a:solidFill>
              </a:rPr>
              <a:t>Valutare piattaforme che supportano più modelli</a:t>
            </a:r>
            <a:endParaRPr lang="en-US" sz="1200" dirty="0"/>
          </a:p>
        </p:txBody>
      </p:sp>
      <p:sp>
        <p:nvSpPr>
          <p:cNvPr id="22" name="Documentare istruzioni e flussi fuori dallo strumento"/>
          <p:cNvSpPr/>
          <p:nvPr/>
        </p:nvSpPr>
        <p:spPr>
          <a:xfrm>
            <a:off x="4709160" y="3008376"/>
            <a:ext cx="3977640" cy="457200"/>
          </a:xfrm>
          <a:prstGeom prst="roundRect">
            <a:avLst>
              <a:gd name="adj" fmla="val 16000"/>
            </a:avLst>
          </a:prstGeom>
          <a:solidFill>
            <a:schemeClr val="accent6"/>
          </a:solidFill>
          <a:ln/>
        </p:spPr>
        <p:txBody>
          <a:bodyPr/>
          <a:lstStyle/>
          <a:p>
            <a:endParaRPr lang="it-IT"/>
          </a:p>
        </p:txBody>
      </p:sp>
      <p:sp>
        <p:nvSpPr>
          <p:cNvPr id="23" name="Text 20"/>
          <p:cNvSpPr txBox="1"/>
          <p:nvPr/>
        </p:nvSpPr>
        <p:spPr>
          <a:xfrm>
            <a:off x="4892040" y="3008376"/>
            <a:ext cx="3657600" cy="457200"/>
          </a:xfrm>
          <a:prstGeom prst="rect">
            <a:avLst/>
          </a:prstGeom>
          <a:noFill/>
          <a:ln/>
        </p:spPr>
        <p:txBody>
          <a:bodyPr wrap="square" lIns="0" tIns="0" rIns="0" bIns="0" rtlCol="0" anchor="ctr"/>
          <a:lstStyle/>
          <a:p>
            <a:pPr marL="0" indent="0">
              <a:buNone/>
            </a:pPr>
            <a:r>
              <a:rPr lang="en-US" sz="1200" dirty="0">
                <a:solidFill>
                  <a:schemeClr val="tx1"/>
                </a:solidFill>
              </a:rPr>
              <a:t>Documentare istruzioni e flussi fuori dallo strumento</a:t>
            </a:r>
            <a:endParaRPr lang="en-US" sz="1200" dirty="0"/>
          </a:p>
        </p:txBody>
      </p:sp>
      <p:sp>
        <p:nvSpPr>
          <p:cNvPr id="24" name="Leggere le clausole di uscita del contratto"/>
          <p:cNvSpPr/>
          <p:nvPr/>
        </p:nvSpPr>
        <p:spPr>
          <a:xfrm>
            <a:off x="4709160" y="3538728"/>
            <a:ext cx="3977640" cy="457200"/>
          </a:xfrm>
          <a:prstGeom prst="roundRect">
            <a:avLst>
              <a:gd name="adj" fmla="val 16000"/>
            </a:avLst>
          </a:prstGeom>
          <a:solidFill>
            <a:schemeClr val="accent6"/>
          </a:solidFill>
          <a:ln/>
        </p:spPr>
        <p:txBody>
          <a:bodyPr/>
          <a:lstStyle/>
          <a:p>
            <a:endParaRPr lang="it-IT"/>
          </a:p>
        </p:txBody>
      </p:sp>
      <p:sp>
        <p:nvSpPr>
          <p:cNvPr id="25" name="Text 22"/>
          <p:cNvSpPr txBox="1"/>
          <p:nvPr/>
        </p:nvSpPr>
        <p:spPr>
          <a:xfrm>
            <a:off x="4892040" y="3538728"/>
            <a:ext cx="3657600" cy="457200"/>
          </a:xfrm>
          <a:prstGeom prst="rect">
            <a:avLst/>
          </a:prstGeom>
          <a:noFill/>
          <a:ln/>
        </p:spPr>
        <p:txBody>
          <a:bodyPr wrap="square" lIns="0" tIns="0" rIns="0" bIns="0" rtlCol="0" anchor="ctr"/>
          <a:lstStyle/>
          <a:p>
            <a:pPr marL="0" indent="0">
              <a:buNone/>
            </a:pPr>
            <a:r>
              <a:rPr lang="en-US" sz="1200" dirty="0">
                <a:solidFill>
                  <a:schemeClr val="tx1"/>
                </a:solidFill>
              </a:rPr>
              <a:t>Leggere le clausole di uscita del contratto</a:t>
            </a:r>
            <a:endParaRPr lang="en-US" sz="1200" dirty="0"/>
          </a:p>
        </p:txBody>
      </p:sp>
      <p:sp>
        <p:nvSpPr>
          <p:cNvPr id="26" name="messaggio"/>
          <p:cNvSpPr/>
          <p:nvPr/>
        </p:nvSpPr>
        <p:spPr>
          <a:xfrm>
            <a:off x="457200" y="4160520"/>
            <a:ext cx="8229600" cy="411480"/>
          </a:xfrm>
          <a:prstGeom prst="roundRect">
            <a:avLst>
              <a:gd name="adj" fmla="val 17778"/>
            </a:avLst>
          </a:prstGeom>
          <a:solidFill>
            <a:schemeClr val="tx1"/>
          </a:solidFill>
          <a:ln/>
        </p:spPr>
        <p:txBody>
          <a:bodyPr/>
          <a:lstStyle/>
          <a:p>
            <a:endParaRPr lang="it-IT"/>
          </a:p>
        </p:txBody>
      </p:sp>
      <p:sp>
        <p:nvSpPr>
          <p:cNvPr id="27" name="Text 24"/>
          <p:cNvSpPr txBox="1"/>
          <p:nvPr/>
        </p:nvSpPr>
        <p:spPr>
          <a:xfrm>
            <a:off x="640080" y="4160520"/>
            <a:ext cx="7863840" cy="411480"/>
          </a:xfrm>
          <a:prstGeom prst="rect">
            <a:avLst/>
          </a:prstGeom>
          <a:noFill/>
          <a:ln/>
        </p:spPr>
        <p:txBody>
          <a:bodyPr wrap="square" lIns="0" tIns="0" rIns="0" bIns="0" rtlCol="0" anchor="ctr"/>
          <a:lstStyle/>
          <a:p>
            <a:pPr marL="0" indent="0">
              <a:buNone/>
            </a:pPr>
            <a:r>
              <a:rPr lang="it-IT" sz="1250" dirty="0">
                <a:solidFill>
                  <a:schemeClr val="bg1"/>
                </a:solidFill>
              </a:rPr>
              <a:t>Non serve eliminare ogni dipendenza: occorre conoscerla e valutarne le conseguenze, compresa la reversibilità.</a:t>
            </a:r>
            <a:endParaRPr lang="it-IT" sz="125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Come scoprire e provare le funzionalità AI disponibili</a:t>
            </a:r>
            <a:endParaRPr lang="en-US" sz="2600" dirty="0"/>
          </a:p>
        </p:txBody>
      </p:sp>
      <p:sp>
        <p:nvSpPr>
          <p:cNvPr id="4" name="Definire attività e criteri di successo"/>
          <p:cNvSpPr/>
          <p:nvPr/>
        </p:nvSpPr>
        <p:spPr>
          <a:xfrm>
            <a:off x="457200" y="1143000"/>
            <a:ext cx="1536192" cy="2286000"/>
          </a:xfrm>
          <a:prstGeom prst="roundRect">
            <a:avLst>
              <a:gd name="adj" fmla="val 4762"/>
            </a:avLst>
          </a:prstGeom>
          <a:solidFill>
            <a:schemeClr val="bg2"/>
          </a:solidFill>
          <a:ln/>
        </p:spPr>
        <p:txBody>
          <a:bodyPr/>
          <a:lstStyle/>
          <a:p>
            <a:endParaRPr lang="it-IT"/>
          </a:p>
        </p:txBody>
      </p:sp>
      <p:sp>
        <p:nvSpPr>
          <p:cNvPr id="5" name="cerchio FiTarget"/>
          <p:cNvSpPr/>
          <p:nvPr/>
        </p:nvSpPr>
        <p:spPr>
          <a:xfrm>
            <a:off x="969264" y="1280160"/>
            <a:ext cx="512064" cy="512064"/>
          </a:xfrm>
          <a:prstGeom prst="ellipse">
            <a:avLst/>
          </a:prstGeom>
          <a:solidFill>
            <a:schemeClr val="accent1"/>
          </a:solidFill>
          <a:ln/>
        </p:spPr>
        <p:txBody>
          <a:bodyPr/>
          <a:lstStyle/>
          <a:p>
            <a:endParaRPr lang="it-IT"/>
          </a:p>
        </p:txBody>
      </p:sp>
      <p:pic>
        <p:nvPicPr>
          <p:cNvPr id="6" name="Image 0" descr="FiTarget"/>
          <p:cNvPicPr>
            <a:picLocks noChangeAspect="1"/>
          </p:cNvPicPr>
          <p:nvPr/>
        </p:nvPicPr>
        <p:blipFill>
          <a:blip r:embed="rId3"/>
          <a:stretch>
            <a:fillRect/>
          </a:stretch>
        </p:blipFill>
        <p:spPr>
          <a:xfrm>
            <a:off x="1097280" y="1408176"/>
            <a:ext cx="256032" cy="256032"/>
          </a:xfrm>
          <a:prstGeom prst="rect">
            <a:avLst/>
          </a:prstGeom>
        </p:spPr>
      </p:pic>
      <p:sp>
        <p:nvSpPr>
          <p:cNvPr id="7" name="Text 3"/>
          <p:cNvSpPr txBox="1"/>
          <p:nvPr/>
        </p:nvSpPr>
        <p:spPr>
          <a:xfrm>
            <a:off x="548640"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1.</a:t>
            </a:r>
            <a:endParaRPr lang="en-US" sz="1400" dirty="0"/>
          </a:p>
        </p:txBody>
      </p:sp>
      <p:sp>
        <p:nvSpPr>
          <p:cNvPr id="8" name="Text 4"/>
          <p:cNvSpPr txBox="1"/>
          <p:nvPr/>
        </p:nvSpPr>
        <p:spPr>
          <a:xfrm>
            <a:off x="548640"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Identificare una funzionalità utile</a:t>
            </a:r>
            <a:endParaRPr lang="it-IT" sz="1200" dirty="0"/>
          </a:p>
          <a:p>
            <a:pPr marL="0" indent="0" algn="ctr">
              <a:buNone/>
            </a:pPr>
            <a:r>
              <a:rPr lang="it-IT" sz="1050" dirty="0">
                <a:solidFill>
                  <a:schemeClr val="tx2"/>
                </a:solidFill>
              </a:rPr>
              <a:t>Partire da un'attività concreta del proprio lavoro</a:t>
            </a:r>
            <a:endParaRPr lang="it-IT" sz="1050" dirty="0"/>
          </a:p>
        </p:txBody>
      </p:sp>
      <p:sp>
        <p:nvSpPr>
          <p:cNvPr id="9" name="Accesso di prova nella configurazione reale"/>
          <p:cNvSpPr/>
          <p:nvPr/>
        </p:nvSpPr>
        <p:spPr>
          <a:xfrm>
            <a:off x="2139696" y="1143000"/>
            <a:ext cx="1536192" cy="2286000"/>
          </a:xfrm>
          <a:prstGeom prst="roundRect">
            <a:avLst>
              <a:gd name="adj" fmla="val 4762"/>
            </a:avLst>
          </a:prstGeom>
          <a:solidFill>
            <a:schemeClr val="bg2"/>
          </a:solidFill>
          <a:ln/>
        </p:spPr>
        <p:txBody>
          <a:bodyPr/>
          <a:lstStyle/>
          <a:p>
            <a:endParaRPr lang="it-IT"/>
          </a:p>
        </p:txBody>
      </p:sp>
      <p:sp>
        <p:nvSpPr>
          <p:cNvPr id="10" name="cerchio FiSettings"/>
          <p:cNvSpPr/>
          <p:nvPr/>
        </p:nvSpPr>
        <p:spPr>
          <a:xfrm>
            <a:off x="2651760" y="1280160"/>
            <a:ext cx="512064" cy="512064"/>
          </a:xfrm>
          <a:prstGeom prst="ellipse">
            <a:avLst/>
          </a:prstGeom>
          <a:solidFill>
            <a:schemeClr val="accent1"/>
          </a:solidFill>
          <a:ln/>
        </p:spPr>
        <p:txBody>
          <a:bodyPr/>
          <a:lstStyle/>
          <a:p>
            <a:endParaRPr lang="it-IT"/>
          </a:p>
        </p:txBody>
      </p:sp>
      <p:pic>
        <p:nvPicPr>
          <p:cNvPr id="11" name="Image 1" descr="FiSettings"/>
          <p:cNvPicPr>
            <a:picLocks noChangeAspect="1"/>
          </p:cNvPicPr>
          <p:nvPr/>
        </p:nvPicPr>
        <p:blipFill>
          <a:blip r:embed="rId4"/>
          <a:stretch>
            <a:fillRect/>
          </a:stretch>
        </p:blipFill>
        <p:spPr>
          <a:xfrm>
            <a:off x="2779776" y="1408176"/>
            <a:ext cx="256032" cy="256032"/>
          </a:xfrm>
          <a:prstGeom prst="rect">
            <a:avLst/>
          </a:prstGeom>
        </p:spPr>
      </p:pic>
      <p:sp>
        <p:nvSpPr>
          <p:cNvPr id="12" name="Text 7"/>
          <p:cNvSpPr txBox="1"/>
          <p:nvPr/>
        </p:nvSpPr>
        <p:spPr>
          <a:xfrm>
            <a:off x="2231136"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2.</a:t>
            </a:r>
            <a:endParaRPr lang="en-US" sz="1400" dirty="0"/>
          </a:p>
        </p:txBody>
      </p:sp>
      <p:sp>
        <p:nvSpPr>
          <p:cNvPr id="13" name="Text 8"/>
          <p:cNvSpPr txBox="1"/>
          <p:nvPr/>
        </p:nvSpPr>
        <p:spPr>
          <a:xfrm>
            <a:off x="2231136"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Verificare che sia disponibile</a:t>
            </a:r>
            <a:endParaRPr lang="it-IT" sz="1200" dirty="0"/>
          </a:p>
          <a:p>
            <a:pPr marL="0" indent="0" algn="ctr">
              <a:buNone/>
            </a:pPr>
            <a:r>
              <a:rPr lang="it-IT" sz="1050" dirty="0">
                <a:solidFill>
                  <a:schemeClr val="tx2"/>
                </a:solidFill>
              </a:rPr>
              <a:t>Nel proprio piano, paese e configurazione</a:t>
            </a:r>
            <a:endParaRPr lang="it-IT" sz="1050" dirty="0"/>
          </a:p>
        </p:txBody>
      </p:sp>
      <p:sp>
        <p:nvSpPr>
          <p:cNvPr id="14" name="Utenti e casi reali, dati autorizzati"/>
          <p:cNvSpPr/>
          <p:nvPr/>
        </p:nvSpPr>
        <p:spPr>
          <a:xfrm>
            <a:off x="3822192" y="1143000"/>
            <a:ext cx="1536192" cy="2286000"/>
          </a:xfrm>
          <a:prstGeom prst="roundRect">
            <a:avLst>
              <a:gd name="adj" fmla="val 4762"/>
            </a:avLst>
          </a:prstGeom>
          <a:solidFill>
            <a:schemeClr val="accent6"/>
          </a:solidFill>
          <a:ln/>
        </p:spPr>
        <p:txBody>
          <a:bodyPr/>
          <a:lstStyle/>
          <a:p>
            <a:endParaRPr lang="it-IT"/>
          </a:p>
        </p:txBody>
      </p:sp>
      <p:sp>
        <p:nvSpPr>
          <p:cNvPr id="15" name="cerchio FiUsers"/>
          <p:cNvSpPr/>
          <p:nvPr/>
        </p:nvSpPr>
        <p:spPr>
          <a:xfrm>
            <a:off x="4334256" y="1280160"/>
            <a:ext cx="512064" cy="512064"/>
          </a:xfrm>
          <a:prstGeom prst="ellipse">
            <a:avLst/>
          </a:prstGeom>
          <a:solidFill>
            <a:schemeClr val="accent1"/>
          </a:solidFill>
          <a:ln/>
        </p:spPr>
        <p:txBody>
          <a:bodyPr/>
          <a:lstStyle/>
          <a:p>
            <a:endParaRPr lang="it-IT"/>
          </a:p>
        </p:txBody>
      </p:sp>
      <p:pic>
        <p:nvPicPr>
          <p:cNvPr id="16" name="Image 2" descr="FiPlay"/>
          <p:cNvPicPr>
            <a:picLocks noChangeAspect="1"/>
          </p:cNvPicPr>
          <p:nvPr/>
        </p:nvPicPr>
        <p:blipFill>
          <a:blip r:embed="rId8"/>
          <a:stretch>
            <a:fillRect/>
          </a:stretch>
        </p:blipFill>
        <p:spPr>
          <a:xfrm>
            <a:off x="4462272" y="1408176"/>
            <a:ext cx="256032" cy="256032"/>
          </a:xfrm>
          <a:prstGeom prst="rect">
            <a:avLst/>
          </a:prstGeom>
        </p:spPr>
      </p:pic>
      <p:sp>
        <p:nvSpPr>
          <p:cNvPr id="17" name="Text 11"/>
          <p:cNvSpPr txBox="1"/>
          <p:nvPr/>
        </p:nvSpPr>
        <p:spPr>
          <a:xfrm>
            <a:off x="3913632"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3.</a:t>
            </a:r>
            <a:endParaRPr lang="en-US" sz="1400" dirty="0"/>
          </a:p>
        </p:txBody>
      </p:sp>
      <p:sp>
        <p:nvSpPr>
          <p:cNvPr id="18" name="Text 12"/>
          <p:cNvSpPr txBox="1"/>
          <p:nvPr/>
        </p:nvSpPr>
        <p:spPr>
          <a:xfrm>
            <a:off x="3913632"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Provarla su un caso concreto</a:t>
            </a:r>
            <a:endParaRPr lang="it-IT" sz="1200" dirty="0"/>
          </a:p>
          <a:p>
            <a:pPr marL="0" indent="0" algn="ctr">
              <a:buNone/>
            </a:pPr>
            <a:r>
              <a:rPr lang="it-IT" sz="1050" dirty="0">
                <a:solidFill>
                  <a:schemeClr val="tx2"/>
                </a:solidFill>
              </a:rPr>
              <a:t>Con dati di prova o autorizzati</a:t>
            </a:r>
            <a:endParaRPr lang="it-IT" sz="1050" dirty="0"/>
          </a:p>
        </p:txBody>
      </p:sp>
      <p:sp>
        <p:nvSpPr>
          <p:cNvPr id="19" name="Verificare i limiti del piano"/>
          <p:cNvSpPr/>
          <p:nvPr/>
        </p:nvSpPr>
        <p:spPr>
          <a:xfrm>
            <a:off x="5504688" y="1143000"/>
            <a:ext cx="1536192" cy="2286000"/>
          </a:xfrm>
          <a:prstGeom prst="roundRect">
            <a:avLst>
              <a:gd name="adj" fmla="val 4762"/>
            </a:avLst>
          </a:prstGeom>
          <a:solidFill>
            <a:schemeClr val="bg2"/>
          </a:solidFill>
          <a:ln/>
        </p:spPr>
        <p:txBody>
          <a:bodyPr/>
          <a:lstStyle/>
          <a:p>
            <a:endParaRPr lang="it-IT"/>
          </a:p>
        </p:txBody>
      </p:sp>
      <p:sp>
        <p:nvSpPr>
          <p:cNvPr id="20" name="cerchio FiSliders"/>
          <p:cNvSpPr/>
          <p:nvPr/>
        </p:nvSpPr>
        <p:spPr>
          <a:xfrm>
            <a:off x="6016752" y="1280160"/>
            <a:ext cx="512064" cy="512064"/>
          </a:xfrm>
          <a:prstGeom prst="ellipse">
            <a:avLst/>
          </a:prstGeom>
          <a:solidFill>
            <a:schemeClr val="accent1"/>
          </a:solidFill>
          <a:ln/>
        </p:spPr>
        <p:txBody>
          <a:bodyPr/>
          <a:lstStyle/>
          <a:p>
            <a:endParaRPr lang="it-IT"/>
          </a:p>
        </p:txBody>
      </p:sp>
      <p:pic>
        <p:nvPicPr>
          <p:cNvPr id="21" name="Image 3" descr="FiSliders"/>
          <p:cNvPicPr>
            <a:picLocks noChangeAspect="1"/>
          </p:cNvPicPr>
          <p:nvPr/>
        </p:nvPicPr>
        <p:blipFill>
          <a:blip r:embed="rId6"/>
          <a:stretch>
            <a:fillRect/>
          </a:stretch>
        </p:blipFill>
        <p:spPr>
          <a:xfrm>
            <a:off x="6144768" y="1408176"/>
            <a:ext cx="256032" cy="256032"/>
          </a:xfrm>
          <a:prstGeom prst="rect">
            <a:avLst/>
          </a:prstGeom>
        </p:spPr>
      </p:pic>
      <p:sp>
        <p:nvSpPr>
          <p:cNvPr id="22" name="Text 15"/>
          <p:cNvSpPr txBox="1"/>
          <p:nvPr/>
        </p:nvSpPr>
        <p:spPr>
          <a:xfrm>
            <a:off x="5596128"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4.</a:t>
            </a:r>
            <a:endParaRPr lang="en-US" sz="1400" dirty="0"/>
          </a:p>
        </p:txBody>
      </p:sp>
      <p:sp>
        <p:nvSpPr>
          <p:cNvPr id="23" name="Text 16"/>
          <p:cNvSpPr txBox="1"/>
          <p:nvPr/>
        </p:nvSpPr>
        <p:spPr>
          <a:xfrm>
            <a:off x="5596128"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Valutarne il risultato</a:t>
            </a:r>
            <a:endParaRPr lang="it-IT" sz="1200" dirty="0"/>
          </a:p>
          <a:p>
            <a:pPr marL="0" indent="0" algn="ctr">
              <a:buNone/>
            </a:pPr>
            <a:r>
              <a:rPr lang="it-IT" sz="1050" dirty="0">
                <a:solidFill>
                  <a:schemeClr val="tx2"/>
                </a:solidFill>
              </a:rPr>
              <a:t>Qualità, tempo risparmiato, facilità d'uso</a:t>
            </a:r>
            <a:endParaRPr lang="it-IT" sz="1050" dirty="0"/>
          </a:p>
        </p:txBody>
      </p:sp>
      <p:sp>
        <p:nvSpPr>
          <p:cNvPr id="24" name="Confrontare i risultati con i criteri"/>
          <p:cNvSpPr/>
          <p:nvPr/>
        </p:nvSpPr>
        <p:spPr>
          <a:xfrm>
            <a:off x="7187184" y="1143000"/>
            <a:ext cx="1536192" cy="2286000"/>
          </a:xfrm>
          <a:prstGeom prst="roundRect">
            <a:avLst>
              <a:gd name="adj" fmla="val 4762"/>
            </a:avLst>
          </a:prstGeom>
          <a:solidFill>
            <a:schemeClr val="bg2"/>
          </a:solidFill>
          <a:ln/>
        </p:spPr>
        <p:txBody>
          <a:bodyPr/>
          <a:lstStyle/>
          <a:p>
            <a:endParaRPr lang="it-IT"/>
          </a:p>
        </p:txBody>
      </p:sp>
      <p:sp>
        <p:nvSpPr>
          <p:cNvPr id="25" name="cerchio FiCheckCircle"/>
          <p:cNvSpPr/>
          <p:nvPr/>
        </p:nvSpPr>
        <p:spPr>
          <a:xfrm>
            <a:off x="7699248" y="1280160"/>
            <a:ext cx="512064" cy="512064"/>
          </a:xfrm>
          <a:prstGeom prst="ellipse">
            <a:avLst/>
          </a:prstGeom>
          <a:solidFill>
            <a:schemeClr val="accent1"/>
          </a:solidFill>
          <a:ln/>
        </p:spPr>
        <p:txBody>
          <a:bodyPr/>
          <a:lstStyle/>
          <a:p>
            <a:endParaRPr lang="it-IT"/>
          </a:p>
        </p:txBody>
      </p:sp>
      <p:pic>
        <p:nvPicPr>
          <p:cNvPr id="26" name="Image 4" descr="FiFileText"/>
          <p:cNvPicPr>
            <a:picLocks noChangeAspect="1"/>
          </p:cNvPicPr>
          <p:nvPr/>
        </p:nvPicPr>
        <p:blipFill>
          <a:blip r:embed="rId9"/>
          <a:stretch>
            <a:fillRect/>
          </a:stretch>
        </p:blipFill>
        <p:spPr>
          <a:xfrm>
            <a:off x="7827264" y="1408176"/>
            <a:ext cx="256032" cy="256032"/>
          </a:xfrm>
          <a:prstGeom prst="rect">
            <a:avLst/>
          </a:prstGeom>
        </p:spPr>
      </p:pic>
      <p:sp>
        <p:nvSpPr>
          <p:cNvPr id="27" name="Text 19"/>
          <p:cNvSpPr txBox="1"/>
          <p:nvPr/>
        </p:nvSpPr>
        <p:spPr>
          <a:xfrm>
            <a:off x="7278624"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5.</a:t>
            </a:r>
            <a:endParaRPr lang="en-US" sz="1400" dirty="0"/>
          </a:p>
        </p:txBody>
      </p:sp>
      <p:sp>
        <p:nvSpPr>
          <p:cNvPr id="28" name="Text 20"/>
          <p:cNvSpPr txBox="1"/>
          <p:nvPr/>
        </p:nvSpPr>
        <p:spPr>
          <a:xfrm>
            <a:off x="7278624"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Approfondire limiti e condizioni</a:t>
            </a:r>
            <a:endParaRPr lang="it-IT" sz="1200" dirty="0"/>
          </a:p>
          <a:p>
            <a:pPr marL="0" indent="0" algn="ctr">
              <a:buNone/>
            </a:pPr>
            <a:r>
              <a:rPr lang="it-IT" sz="1050" dirty="0">
                <a:solidFill>
                  <a:schemeClr val="tx2"/>
                </a:solidFill>
              </a:rPr>
              <a:t>Prima di adottarla: limiti d'uso, costi, dati</a:t>
            </a:r>
            <a:endParaRPr lang="it-IT" sz="1050" dirty="0"/>
          </a:p>
        </p:txBody>
      </p:sp>
      <p:sp>
        <p:nvSpPr>
          <p:cNvPr id="29" name="messaggio"/>
          <p:cNvSpPr/>
          <p:nvPr/>
        </p:nvSpPr>
        <p:spPr>
          <a:xfrm>
            <a:off x="457200" y="3566160"/>
            <a:ext cx="8229600" cy="640080"/>
          </a:xfrm>
          <a:prstGeom prst="roundRect">
            <a:avLst>
              <a:gd name="adj" fmla="val 10667"/>
            </a:avLst>
          </a:prstGeom>
          <a:solidFill>
            <a:schemeClr val="tx1"/>
          </a:solidFill>
          <a:ln/>
        </p:spPr>
        <p:txBody>
          <a:bodyPr/>
          <a:lstStyle/>
          <a:p>
            <a:endParaRPr lang="it-IT"/>
          </a:p>
        </p:txBody>
      </p:sp>
      <p:sp>
        <p:nvSpPr>
          <p:cNvPr id="30" name="Text 22"/>
          <p:cNvSpPr txBox="1"/>
          <p:nvPr/>
        </p:nvSpPr>
        <p:spPr>
          <a:xfrm>
            <a:off x="640080" y="3566160"/>
            <a:ext cx="7863840" cy="640080"/>
          </a:xfrm>
          <a:prstGeom prst="rect">
            <a:avLst/>
          </a:prstGeom>
          <a:noFill/>
          <a:ln/>
        </p:spPr>
        <p:txBody>
          <a:bodyPr wrap="square" lIns="0" tIns="0" rIns="0" bIns="0" rtlCol="0" anchor="ctr"/>
          <a:lstStyle/>
          <a:p>
            <a:pPr marL="0" indent="0">
              <a:buNone/>
            </a:pPr>
            <a:r>
              <a:rPr lang="it-IT" sz="1250" dirty="0">
                <a:solidFill>
                  <a:schemeClr val="bg1"/>
                </a:solidFill>
              </a:rPr>
              <a:t>Disponibile per noi? Dipende da piano, paese, configurazione e applicazione usata. Diciture come "anteprima", "beta" o "per alcuni utenti" indicano funzioni non ancora per tutti.</a:t>
            </a:r>
            <a:endParaRPr lang="it-IT" sz="1250" dirty="0"/>
          </a:p>
        </p:txBody>
      </p:sp>
      <p:sp>
        <p:nvSpPr>
          <p:cNvPr id="31" name="Text 23"/>
          <p:cNvSpPr txBox="1"/>
          <p:nvPr/>
        </p:nvSpPr>
        <p:spPr>
          <a:xfrm>
            <a:off x="457200" y="4251960"/>
            <a:ext cx="8229600" cy="274320"/>
          </a:xfrm>
          <a:prstGeom prst="rect">
            <a:avLst/>
          </a:prstGeom>
          <a:noFill/>
          <a:ln/>
        </p:spPr>
        <p:txBody>
          <a:bodyPr wrap="square" lIns="0" tIns="0" rIns="0" bIns="0" rtlCol="0" anchor="t"/>
          <a:lstStyle/>
          <a:p>
            <a:pPr marL="0" indent="0">
              <a:buNone/>
            </a:pPr>
            <a:r>
              <a:rPr lang="it-IT" sz="1100" i="1" dirty="0">
                <a:solidFill>
                  <a:schemeClr val="accent2"/>
                </a:solidFill>
              </a:rPr>
              <a:t>Ciò che si verifica oggi può cambiare: ricontrollare nel tempo (sottotema 4.8).</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Una scheda di confronto</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411480">
                <a:tc>
                  <a:txBody>
                    <a:bodyPr/>
                    <a:lstStyle/>
                    <a:p>
                      <a:pPr marL="0" indent="0">
                        <a:buNone/>
                      </a:pPr>
                      <a:r>
                        <a:rPr lang="en-US" sz="1200" b="1" dirty="0">
                          <a:solidFill>
                            <a:schemeClr val="bg1"/>
                          </a:solidFill>
                        </a:rPr>
                        <a:t>Criterio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Peso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Soluzione 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Soluzione B</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Evidenze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chemeClr val="tx1"/>
                          </a:solidFill>
                        </a:rPr>
                        <a:t>Adeguatezza alle attività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Alto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Prove su 20 casi reali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11480">
                <a:tc>
                  <a:txBody>
                    <a:bodyPr/>
                    <a:lstStyle/>
                    <a:p>
                      <a:pPr marL="0" indent="0">
                        <a:buNone/>
                      </a:pPr>
                      <a:r>
                        <a:rPr lang="en-US" sz="1200" b="1" dirty="0">
                          <a:solidFill>
                            <a:schemeClr val="tx1"/>
                          </a:solidFill>
                        </a:rPr>
                        <a:t>Qualità e affidabilità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Alto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Errori annotati per tipo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buNone/>
                      </a:pPr>
                      <a:r>
                        <a:rPr lang="en-US" sz="1200" b="1" dirty="0">
                          <a:solidFill>
                            <a:schemeClr val="tx1"/>
                          </a:solidFill>
                        </a:rPr>
                        <a:t>Integrazione con i sistemi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5</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Documentazione tecnica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chemeClr val="tx1"/>
                          </a:solidFill>
                        </a:rPr>
                        <a:t>Costi complessivi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Stima su 12 mesi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11480">
                <a:tc>
                  <a:txBody>
                    <a:bodyPr/>
                    <a:lstStyle/>
                    <a:p>
                      <a:pPr marL="0" indent="0">
                        <a:buNone/>
                      </a:pPr>
                      <a:r>
                        <a:rPr lang="en-US" sz="1200" b="1" dirty="0">
                          <a:solidFill>
                            <a:schemeClr val="tx1"/>
                          </a:solidFill>
                        </a:rPr>
                        <a:t>Dati e sicurezza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Requisito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Sì</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Sì</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Contratto, certificazioni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11480">
                <a:tc>
                  <a:txBody>
                    <a:bodyPr/>
                    <a:lstStyle/>
                    <a:p>
                      <a:pPr marL="0" indent="0">
                        <a:buNone/>
                      </a:pPr>
                      <a:r>
                        <a:rPr lang="en-US" sz="1200" b="1" dirty="0">
                          <a:solidFill>
                            <a:schemeClr val="tx1"/>
                          </a:solidFill>
                        </a:rPr>
                        <a:t>Portabilità e lock-in</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Medio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Prova di esportazione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457200" y="4114800"/>
            <a:ext cx="8229600" cy="274320"/>
          </a:xfrm>
          <a:prstGeom prst="rect">
            <a:avLst/>
          </a:prstGeom>
          <a:noFill/>
          <a:ln/>
        </p:spPr>
        <p:txBody>
          <a:bodyPr wrap="square" lIns="0" tIns="0" rIns="0" bIns="0" rtlCol="0" anchor="t"/>
          <a:lstStyle/>
          <a:p>
            <a:pPr marL="0" indent="0">
              <a:buNone/>
            </a:pPr>
            <a:r>
              <a:rPr lang="it-IT" sz="1000" i="1" dirty="0">
                <a:solidFill>
                  <a:schemeClr val="accent2"/>
                </a:solidFill>
              </a:rPr>
              <a:t>Valori puramente illustrativi  ·  punteggi da 1 a 5  ·  "Requisito": condizione minima, esclude la soluzione se manca</a:t>
            </a:r>
            <a:endParaRPr lang="it-IT" sz="1000" dirty="0"/>
          </a:p>
        </p:txBody>
      </p:sp>
      <p:sp>
        <p:nvSpPr>
          <p:cNvPr id="6" name="Text 2"/>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200" b="1" dirty="0">
                <a:solidFill>
                  <a:schemeClr val="tx1"/>
                </a:solidFill>
              </a:rPr>
              <a:t>Pesi prima della valutazione  ·  Requisiti minimi escludenti  ·  Il punteggio non sostituisce il giudizio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57</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en-US" sz="6000" b="1" dirty="0">
                <a:solidFill>
                  <a:schemeClr val="accent1"/>
                </a:solidFill>
              </a:rPr>
              <a:t>4.8</a:t>
            </a: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en-US" sz="3200" b="1" dirty="0">
                <a:solidFill>
                  <a:schemeClr val="bg1"/>
                </a:solidFill>
              </a:rPr>
              <a:t>L'evoluzione e la dinamicità dell'ecosistema AI</a:t>
            </a: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en-US" sz="1600" dirty="0">
                <a:solidFill>
                  <a:schemeClr val="accent3"/>
                </a:solidFill>
              </a:rPr>
              <a:t>I principi di funzionamento e valutazione durano più delle caratteristiche di una singola versione di un prodotto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cosa cambia, e quali opportunità porta</a:t>
            </a:r>
            <a:endParaRPr lang="en-US" sz="2600" dirty="0"/>
          </a:p>
        </p:txBody>
      </p:sp>
      <p:sp>
        <p:nvSpPr>
          <p:cNvPr id="4" name="Capacità dei modelli"/>
          <p:cNvSpPr/>
          <p:nvPr/>
        </p:nvSpPr>
        <p:spPr>
          <a:xfrm>
            <a:off x="457200" y="1097280"/>
            <a:ext cx="2621280" cy="1234440"/>
          </a:xfrm>
          <a:prstGeom prst="roundRect">
            <a:avLst>
              <a:gd name="adj" fmla="val 4571"/>
            </a:avLst>
          </a:prstGeom>
          <a:solidFill>
            <a:schemeClr val="bg2"/>
          </a:solidFill>
          <a:ln/>
        </p:spPr>
        <p:txBody>
          <a:bodyPr/>
          <a:lstStyle/>
          <a:p>
            <a:endParaRPr lang="it-IT"/>
          </a:p>
        </p:txBody>
      </p:sp>
      <p:sp>
        <p:nvSpPr>
          <p:cNvPr id="5" name="cerchio FiTrendingUp"/>
          <p:cNvSpPr/>
          <p:nvPr/>
        </p:nvSpPr>
        <p:spPr>
          <a:xfrm>
            <a:off x="621792" y="1261872"/>
            <a:ext cx="438912" cy="438912"/>
          </a:xfrm>
          <a:prstGeom prst="ellipse">
            <a:avLst/>
          </a:prstGeom>
          <a:solidFill>
            <a:schemeClr val="accent1"/>
          </a:solidFill>
          <a:ln/>
        </p:spPr>
        <p:txBody>
          <a:bodyPr/>
          <a:lstStyle/>
          <a:p>
            <a:endParaRPr lang="it-IT"/>
          </a:p>
        </p:txBody>
      </p:sp>
      <p:pic>
        <p:nvPicPr>
          <p:cNvPr id="6" name="Image 0" descr="FiTrendingUp"/>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Capacità dei modelli</a:t>
            </a:r>
            <a:endParaRPr lang="en-US" sz="1400" dirty="0"/>
          </a:p>
        </p:txBody>
      </p:sp>
      <p:sp>
        <p:nvSpPr>
          <p:cNvPr id="8" name="Text 4"/>
          <p:cNvSpPr txBox="1"/>
          <p:nvPr/>
        </p:nvSpPr>
        <p:spPr>
          <a:xfrm>
            <a:off x="621792" y="1810512"/>
            <a:ext cx="2292096" cy="457200"/>
          </a:xfrm>
          <a:prstGeom prst="rect">
            <a:avLst/>
          </a:prstGeom>
          <a:noFill/>
          <a:ln/>
        </p:spPr>
        <p:txBody>
          <a:bodyPr wrap="square" lIns="0" tIns="0" rIns="0" bIns="0" rtlCol="0" anchor="t"/>
          <a:lstStyle/>
          <a:p>
            <a:pPr marL="0" indent="0">
              <a:buNone/>
            </a:pPr>
            <a:r>
              <a:rPr lang="it-IT" sz="1200" dirty="0">
                <a:solidFill>
                  <a:schemeClr val="tx2"/>
                </a:solidFill>
              </a:rPr>
              <a:t>Nuove versioni frequenti: ragionamento, multimodalità, costo</a:t>
            </a:r>
            <a:endParaRPr lang="it-IT" sz="1200" dirty="0"/>
          </a:p>
        </p:txBody>
      </p:sp>
      <p:sp>
        <p:nvSpPr>
          <p:cNvPr id="9" name="Funzionalità"/>
          <p:cNvSpPr/>
          <p:nvPr/>
        </p:nvSpPr>
        <p:spPr>
          <a:xfrm>
            <a:off x="3261360" y="1097280"/>
            <a:ext cx="2621280" cy="1234440"/>
          </a:xfrm>
          <a:prstGeom prst="roundRect">
            <a:avLst>
              <a:gd name="adj" fmla="val 4571"/>
            </a:avLst>
          </a:prstGeom>
          <a:solidFill>
            <a:schemeClr val="bg2"/>
          </a:solidFill>
          <a:ln/>
        </p:spPr>
        <p:txBody>
          <a:bodyPr/>
          <a:lstStyle/>
          <a:p>
            <a:endParaRPr lang="it-IT"/>
          </a:p>
        </p:txBody>
      </p:sp>
      <p:sp>
        <p:nvSpPr>
          <p:cNvPr id="10" name="cerchio FiToggleLeft"/>
          <p:cNvSpPr/>
          <p:nvPr/>
        </p:nvSpPr>
        <p:spPr>
          <a:xfrm>
            <a:off x="3425952" y="1261872"/>
            <a:ext cx="438912" cy="438912"/>
          </a:xfrm>
          <a:prstGeom prst="ellipse">
            <a:avLst/>
          </a:prstGeom>
          <a:solidFill>
            <a:schemeClr val="accent1"/>
          </a:solidFill>
          <a:ln/>
        </p:spPr>
        <p:txBody>
          <a:bodyPr/>
          <a:lstStyle/>
          <a:p>
            <a:endParaRPr lang="it-IT"/>
          </a:p>
        </p:txBody>
      </p:sp>
      <p:pic>
        <p:nvPicPr>
          <p:cNvPr id="11" name="Image 1" descr="FiToggleLeft"/>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Funzionalità</a:t>
            </a:r>
            <a:endParaRPr lang="en-US" sz="1400" dirty="0"/>
          </a:p>
        </p:txBody>
      </p:sp>
      <p:sp>
        <p:nvSpPr>
          <p:cNvPr id="13" name="Text 8"/>
          <p:cNvSpPr txBox="1"/>
          <p:nvPr/>
        </p:nvSpPr>
        <p:spPr>
          <a:xfrm>
            <a:off x="3425952" y="1810512"/>
            <a:ext cx="2292096" cy="457200"/>
          </a:xfrm>
          <a:prstGeom prst="rect">
            <a:avLst/>
          </a:prstGeom>
          <a:noFill/>
          <a:ln/>
        </p:spPr>
        <p:txBody>
          <a:bodyPr wrap="square" lIns="0" tIns="0" rIns="0" bIns="0" rtlCol="0" anchor="t"/>
          <a:lstStyle/>
          <a:p>
            <a:pPr marL="0" indent="0">
              <a:buNone/>
            </a:pPr>
            <a:r>
              <a:rPr lang="en-US" sz="1200" dirty="0">
                <a:solidFill>
                  <a:schemeClr val="tx2"/>
                </a:solidFill>
              </a:rPr>
              <a:t>Introdotte, modificate, spostate di piano, rimosse</a:t>
            </a:r>
            <a:endParaRPr lang="en-US" sz="1200" dirty="0"/>
          </a:p>
        </p:txBody>
      </p:sp>
      <p:sp>
        <p:nvSpPr>
          <p:cNvPr id="14" name="Convergenza"/>
          <p:cNvSpPr/>
          <p:nvPr/>
        </p:nvSpPr>
        <p:spPr>
          <a:xfrm>
            <a:off x="6065520" y="1097280"/>
            <a:ext cx="2621280" cy="1234440"/>
          </a:xfrm>
          <a:prstGeom prst="roundRect">
            <a:avLst>
              <a:gd name="adj" fmla="val 4571"/>
            </a:avLst>
          </a:prstGeom>
          <a:solidFill>
            <a:schemeClr val="bg2"/>
          </a:solidFill>
          <a:ln/>
        </p:spPr>
        <p:txBody>
          <a:bodyPr/>
          <a:lstStyle/>
          <a:p>
            <a:endParaRPr lang="it-IT"/>
          </a:p>
        </p:txBody>
      </p:sp>
      <p:sp>
        <p:nvSpPr>
          <p:cNvPr id="15" name="cerchio FiGitMerge"/>
          <p:cNvSpPr/>
          <p:nvPr/>
        </p:nvSpPr>
        <p:spPr>
          <a:xfrm>
            <a:off x="6230112" y="1261872"/>
            <a:ext cx="438912" cy="438912"/>
          </a:xfrm>
          <a:prstGeom prst="ellipse">
            <a:avLst/>
          </a:prstGeom>
          <a:solidFill>
            <a:schemeClr val="accent1"/>
          </a:solidFill>
          <a:ln/>
        </p:spPr>
        <p:txBody>
          <a:bodyPr/>
          <a:lstStyle/>
          <a:p>
            <a:endParaRPr lang="it-IT"/>
          </a:p>
        </p:txBody>
      </p:sp>
      <p:pic>
        <p:nvPicPr>
          <p:cNvPr id="16" name="Image 2" descr="FiGitMerge"/>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en-US" sz="1400" b="1" dirty="0">
                <a:solidFill>
                  <a:schemeClr val="tx1"/>
                </a:solidFill>
              </a:rPr>
              <a:t>Convergenza</a:t>
            </a:r>
            <a:endParaRPr lang="en-US" sz="1400" dirty="0"/>
          </a:p>
        </p:txBody>
      </p:sp>
      <p:sp>
        <p:nvSpPr>
          <p:cNvPr id="18" name="Text 12"/>
          <p:cNvSpPr txBox="1"/>
          <p:nvPr/>
        </p:nvSpPr>
        <p:spPr>
          <a:xfrm>
            <a:off x="6230112" y="1810512"/>
            <a:ext cx="2292096" cy="457200"/>
          </a:xfrm>
          <a:prstGeom prst="rect">
            <a:avLst/>
          </a:prstGeom>
          <a:noFill/>
          <a:ln/>
        </p:spPr>
        <p:txBody>
          <a:bodyPr wrap="square" lIns="0" tIns="0" rIns="0" bIns="0" rtlCol="0" anchor="t"/>
          <a:lstStyle/>
          <a:p>
            <a:pPr marL="0" indent="0">
              <a:buNone/>
            </a:pPr>
            <a:r>
              <a:rPr lang="en-US" sz="1200" dirty="0">
                <a:solidFill>
                  <a:schemeClr val="tx2"/>
                </a:solidFill>
              </a:rPr>
              <a:t>Funzioni sempre più simili, confini tra categorie sfumati</a:t>
            </a:r>
            <a:endParaRPr lang="en-US" sz="1200" dirty="0"/>
          </a:p>
        </p:txBody>
      </p:sp>
      <p:sp>
        <p:nvSpPr>
          <p:cNvPr id="19" name="Modelli commerciali e prezzi"/>
          <p:cNvSpPr/>
          <p:nvPr/>
        </p:nvSpPr>
        <p:spPr>
          <a:xfrm>
            <a:off x="457200" y="2423160"/>
            <a:ext cx="4023360" cy="1051560"/>
          </a:xfrm>
          <a:prstGeom prst="roundRect">
            <a:avLst>
              <a:gd name="adj" fmla="val 5333"/>
            </a:avLst>
          </a:prstGeom>
          <a:solidFill>
            <a:schemeClr val="bg2"/>
          </a:solidFill>
          <a:ln/>
        </p:spPr>
        <p:txBody>
          <a:bodyPr/>
          <a:lstStyle/>
          <a:p>
            <a:endParaRPr lang="it-IT"/>
          </a:p>
        </p:txBody>
      </p:sp>
      <p:sp>
        <p:nvSpPr>
          <p:cNvPr id="20" name="cerchio FiDollarSign"/>
          <p:cNvSpPr/>
          <p:nvPr/>
        </p:nvSpPr>
        <p:spPr>
          <a:xfrm>
            <a:off x="621792" y="2587752"/>
            <a:ext cx="438912" cy="438912"/>
          </a:xfrm>
          <a:prstGeom prst="ellipse">
            <a:avLst/>
          </a:prstGeom>
          <a:solidFill>
            <a:schemeClr val="accent1"/>
          </a:solidFill>
          <a:ln/>
        </p:spPr>
        <p:txBody>
          <a:bodyPr/>
          <a:lstStyle/>
          <a:p>
            <a:endParaRPr lang="it-IT"/>
          </a:p>
        </p:txBody>
      </p:sp>
      <p:pic>
        <p:nvPicPr>
          <p:cNvPr id="21" name="Image 3" descr="FiDollarSign"/>
          <p:cNvPicPr>
            <a:picLocks noChangeAspect="1"/>
          </p:cNvPicPr>
          <p:nvPr/>
        </p:nvPicPr>
        <p:blipFill>
          <a:blip r:embed="rId6"/>
          <a:stretch>
            <a:fillRect/>
          </a:stretch>
        </p:blipFill>
        <p:spPr>
          <a:xfrm>
            <a:off x="731520" y="2697480"/>
            <a:ext cx="219456" cy="219456"/>
          </a:xfrm>
          <a:prstGeom prst="rect">
            <a:avLst/>
          </a:prstGeom>
        </p:spPr>
      </p:pic>
      <p:sp>
        <p:nvSpPr>
          <p:cNvPr id="22" name="Text 15"/>
          <p:cNvSpPr txBox="1"/>
          <p:nvPr/>
        </p:nvSpPr>
        <p:spPr>
          <a:xfrm>
            <a:off x="1170432" y="255117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Modelli commerciali e prezzi</a:t>
            </a:r>
            <a:endParaRPr lang="en-US" sz="1400" dirty="0"/>
          </a:p>
        </p:txBody>
      </p:sp>
      <p:sp>
        <p:nvSpPr>
          <p:cNvPr id="23" name="Text 16"/>
          <p:cNvSpPr txBox="1"/>
          <p:nvPr/>
        </p:nvSpPr>
        <p:spPr>
          <a:xfrm>
            <a:off x="621792" y="3136392"/>
            <a:ext cx="3694176" cy="365760"/>
          </a:xfrm>
          <a:prstGeom prst="rect">
            <a:avLst/>
          </a:prstGeom>
          <a:noFill/>
          <a:ln/>
        </p:spPr>
        <p:txBody>
          <a:bodyPr wrap="square" lIns="0" tIns="0" rIns="0" bIns="0" rtlCol="0" anchor="t"/>
          <a:lstStyle/>
          <a:p>
            <a:pPr marL="0" indent="0">
              <a:buNone/>
            </a:pPr>
            <a:r>
              <a:rPr lang="en-US" sz="1200" dirty="0">
                <a:solidFill>
                  <a:schemeClr val="tx2"/>
                </a:solidFill>
              </a:rPr>
              <a:t>Piani, limiti e tariffe che cambiano spesso</a:t>
            </a:r>
            <a:endParaRPr lang="en-US" sz="1200" dirty="0"/>
          </a:p>
        </p:txBody>
      </p:sp>
      <p:sp>
        <p:nvSpPr>
          <p:cNvPr id="24" name="Panorama competitivo"/>
          <p:cNvSpPr/>
          <p:nvPr/>
        </p:nvSpPr>
        <p:spPr>
          <a:xfrm>
            <a:off x="4663440" y="2423160"/>
            <a:ext cx="4023360" cy="1051560"/>
          </a:xfrm>
          <a:prstGeom prst="roundRect">
            <a:avLst>
              <a:gd name="adj" fmla="val 5333"/>
            </a:avLst>
          </a:prstGeom>
          <a:solidFill>
            <a:schemeClr val="bg2"/>
          </a:solidFill>
          <a:ln/>
        </p:spPr>
        <p:txBody>
          <a:bodyPr/>
          <a:lstStyle/>
          <a:p>
            <a:endParaRPr lang="it-IT"/>
          </a:p>
        </p:txBody>
      </p:sp>
      <p:sp>
        <p:nvSpPr>
          <p:cNvPr id="25" name="cerchio FiUsers"/>
          <p:cNvSpPr/>
          <p:nvPr/>
        </p:nvSpPr>
        <p:spPr>
          <a:xfrm>
            <a:off x="4828032" y="2587752"/>
            <a:ext cx="438912" cy="438912"/>
          </a:xfrm>
          <a:prstGeom prst="ellipse">
            <a:avLst/>
          </a:prstGeom>
          <a:solidFill>
            <a:schemeClr val="accent1"/>
          </a:solidFill>
          <a:ln/>
        </p:spPr>
        <p:txBody>
          <a:bodyPr/>
          <a:lstStyle/>
          <a:p>
            <a:endParaRPr lang="it-IT"/>
          </a:p>
        </p:txBody>
      </p:sp>
      <p:pic>
        <p:nvPicPr>
          <p:cNvPr id="26" name="Image 4" descr="FiUsers"/>
          <p:cNvPicPr>
            <a:picLocks noChangeAspect="1"/>
          </p:cNvPicPr>
          <p:nvPr/>
        </p:nvPicPr>
        <p:blipFill>
          <a:blip r:embed="rId7"/>
          <a:stretch>
            <a:fillRect/>
          </a:stretch>
        </p:blipFill>
        <p:spPr>
          <a:xfrm>
            <a:off x="4937760" y="2697480"/>
            <a:ext cx="219456" cy="219456"/>
          </a:xfrm>
          <a:prstGeom prst="rect">
            <a:avLst/>
          </a:prstGeom>
        </p:spPr>
      </p:pic>
      <p:sp>
        <p:nvSpPr>
          <p:cNvPr id="27" name="Text 19"/>
          <p:cNvSpPr txBox="1"/>
          <p:nvPr/>
        </p:nvSpPr>
        <p:spPr>
          <a:xfrm>
            <a:off x="5376672" y="2551176"/>
            <a:ext cx="3200400" cy="512064"/>
          </a:xfrm>
          <a:prstGeom prst="rect">
            <a:avLst/>
          </a:prstGeom>
          <a:noFill/>
          <a:ln/>
        </p:spPr>
        <p:txBody>
          <a:bodyPr wrap="square" lIns="0" tIns="0" rIns="0" bIns="0" rtlCol="0" anchor="ctr"/>
          <a:lstStyle/>
          <a:p>
            <a:pPr marL="0" indent="0">
              <a:buNone/>
            </a:pPr>
            <a:r>
              <a:rPr lang="en-US" sz="1400" b="1" dirty="0">
                <a:solidFill>
                  <a:schemeClr val="tx1"/>
                </a:solidFill>
              </a:rPr>
              <a:t>Panorama competitivo</a:t>
            </a:r>
            <a:endParaRPr lang="en-US" sz="1400" dirty="0"/>
          </a:p>
        </p:txBody>
      </p:sp>
      <p:sp>
        <p:nvSpPr>
          <p:cNvPr id="28" name="Text 20"/>
          <p:cNvSpPr txBox="1"/>
          <p:nvPr/>
        </p:nvSpPr>
        <p:spPr>
          <a:xfrm>
            <a:off x="4828032" y="3136392"/>
            <a:ext cx="3694176" cy="365760"/>
          </a:xfrm>
          <a:prstGeom prst="rect">
            <a:avLst/>
          </a:prstGeom>
          <a:noFill/>
          <a:ln/>
        </p:spPr>
        <p:txBody>
          <a:bodyPr wrap="square" lIns="0" tIns="0" rIns="0" bIns="0" rtlCol="0" anchor="t"/>
          <a:lstStyle/>
          <a:p>
            <a:pPr marL="0" indent="0">
              <a:buNone/>
            </a:pPr>
            <a:r>
              <a:rPr lang="en-US" sz="1200" dirty="0">
                <a:solidFill>
                  <a:schemeClr val="tx2"/>
                </a:solidFill>
              </a:rPr>
              <a:t>Nuovi attori, prodotti abbandonati, acquisizioni, alleanze</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60</a:t>
            </a:fld>
            <a:endParaRPr lang="en-US"/>
          </a:p>
        </p:txBody>
      </p:sp>
      <p:sp>
        <p:nvSpPr>
          <p:cNvPr id="29" name="Rounded Rectangle 28"/>
          <p:cNvSpPr/>
          <p:nvPr/>
        </p:nvSpPr>
        <p:spPr>
          <a:xfrm>
            <a:off x="457200" y="3611880"/>
            <a:ext cx="8229600" cy="914400"/>
          </a:xfrm>
          <a:prstGeom prst="roundRect">
            <a:avLst>
              <a:gd name="adj" fmla="val 8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703320"/>
            <a:ext cx="7863840" cy="731520"/>
          </a:xfrm>
          <a:prstGeom prst="rect">
            <a:avLst/>
          </a:prstGeom>
          <a:noFill/>
        </p:spPr>
        <p:txBody>
          <a:bodyPr wrap="square" lIns="0" tIns="0" rIns="0" bIns="0" anchor="ctr">
            <a:spAutoFit/>
          </a:bodyPr>
          <a:lstStyle/>
          <a:p>
            <a:pPr marL="0" indent="0">
              <a:spcAft>
                <a:spcPts val="300"/>
              </a:spcAft>
              <a:buNone/>
            </a:pPr>
            <a:r>
              <a:rPr lang="it-IT" sz="1300" b="1" dirty="0">
                <a:solidFill>
                  <a:schemeClr val="accent1"/>
                </a:solidFill>
              </a:rPr>
              <a:t>Le opportunità</a:t>
            </a:r>
            <a:endParaRPr lang="it-IT" sz="1300" dirty="0"/>
          </a:p>
          <a:p>
            <a:pPr marL="0" indent="0">
              <a:buNone/>
            </a:pPr>
            <a:r>
              <a:rPr lang="it-IT" sz="1150" dirty="0">
                <a:solidFill>
                  <a:schemeClr val="tx1"/>
                </a:solidFill>
              </a:rPr>
              <a:t>Prestazioni migliori  ·  costi più bassi per alcune attività  ·  nuove capacità multimodali e operative  ·  più possibilità di integrazione  ·  strumenti sempre più accessibili</a:t>
            </a:r>
            <a:endParaRPr lang="it-IT"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Competenze e conoscenze trasferibili</a:t>
            </a:r>
            <a:endParaRPr lang="en-US" sz="2600" dirty="0"/>
          </a:p>
        </p:txBody>
      </p:sp>
      <p:sp>
        <p:nvSpPr>
          <p:cNvPr id="4" name="Text 1"/>
          <p:cNvSpPr txBox="1"/>
          <p:nvPr/>
        </p:nvSpPr>
        <p:spPr>
          <a:xfrm>
            <a:off x="457200" y="1051560"/>
            <a:ext cx="3291840" cy="320040"/>
          </a:xfrm>
          <a:prstGeom prst="rect">
            <a:avLst/>
          </a:prstGeom>
          <a:noFill/>
          <a:ln/>
        </p:spPr>
        <p:txBody>
          <a:bodyPr wrap="square" lIns="0" tIns="0" rIns="0" bIns="0" rtlCol="0" anchor="t"/>
          <a:lstStyle/>
          <a:p>
            <a:pPr marL="0" indent="0">
              <a:buNone/>
            </a:pPr>
            <a:r>
              <a:rPr lang="en-US" sz="1500" b="1" dirty="0">
                <a:solidFill>
                  <a:schemeClr val="tx2"/>
                </a:solidFill>
              </a:rPr>
              <a:t>Cambia rapidamente</a:t>
            </a:r>
            <a:endParaRPr lang="en-US" sz="1500" dirty="0"/>
          </a:p>
        </p:txBody>
      </p:sp>
      <p:sp>
        <p:nvSpPr>
          <p:cNvPr id="5" name="Nomi dei prodotti"/>
          <p:cNvSpPr/>
          <p:nvPr/>
        </p:nvSpPr>
        <p:spPr>
          <a:xfrm>
            <a:off x="457200" y="1463040"/>
            <a:ext cx="3291840" cy="530352"/>
          </a:xfrm>
          <a:prstGeom prst="roundRect">
            <a:avLst>
              <a:gd name="adj" fmla="val 13793"/>
            </a:avLst>
          </a:prstGeom>
          <a:solidFill>
            <a:schemeClr val="bg2"/>
          </a:solidFill>
          <a:ln/>
        </p:spPr>
        <p:txBody>
          <a:bodyPr/>
          <a:lstStyle/>
          <a:p>
            <a:endParaRPr lang="it-IT"/>
          </a:p>
        </p:txBody>
      </p:sp>
      <p:sp>
        <p:nvSpPr>
          <p:cNvPr id="6" name="Text 3"/>
          <p:cNvSpPr txBox="1"/>
          <p:nvPr/>
        </p:nvSpPr>
        <p:spPr>
          <a:xfrm>
            <a:off x="640080" y="1463040"/>
            <a:ext cx="3017520" cy="530352"/>
          </a:xfrm>
          <a:prstGeom prst="rect">
            <a:avLst/>
          </a:prstGeom>
          <a:noFill/>
          <a:ln/>
        </p:spPr>
        <p:txBody>
          <a:bodyPr wrap="square" lIns="0" tIns="0" rIns="0" bIns="0" rtlCol="0" anchor="ctr"/>
          <a:lstStyle/>
          <a:p>
            <a:pPr marL="0" indent="0">
              <a:buNone/>
            </a:pPr>
            <a:r>
              <a:rPr lang="en-US" sz="1400" dirty="0">
                <a:solidFill>
                  <a:schemeClr val="tx2"/>
                </a:solidFill>
              </a:rPr>
              <a:t>Nomi dei prodotti</a:t>
            </a:r>
            <a:endParaRPr lang="en-US" sz="1400" dirty="0"/>
          </a:p>
        </p:txBody>
      </p:sp>
      <p:sp>
        <p:nvSpPr>
          <p:cNvPr id="7" name="Interfacce e funzioni"/>
          <p:cNvSpPr/>
          <p:nvPr/>
        </p:nvSpPr>
        <p:spPr>
          <a:xfrm>
            <a:off x="457200" y="2103120"/>
            <a:ext cx="3291840" cy="530352"/>
          </a:xfrm>
          <a:prstGeom prst="roundRect">
            <a:avLst>
              <a:gd name="adj" fmla="val 13793"/>
            </a:avLst>
          </a:prstGeom>
          <a:solidFill>
            <a:schemeClr val="bg2"/>
          </a:solidFill>
          <a:ln/>
        </p:spPr>
        <p:txBody>
          <a:bodyPr/>
          <a:lstStyle/>
          <a:p>
            <a:endParaRPr lang="it-IT"/>
          </a:p>
        </p:txBody>
      </p:sp>
      <p:sp>
        <p:nvSpPr>
          <p:cNvPr id="8" name="Text 5"/>
          <p:cNvSpPr txBox="1"/>
          <p:nvPr/>
        </p:nvSpPr>
        <p:spPr>
          <a:xfrm>
            <a:off x="640080" y="2103120"/>
            <a:ext cx="3017520" cy="530352"/>
          </a:xfrm>
          <a:prstGeom prst="rect">
            <a:avLst/>
          </a:prstGeom>
          <a:noFill/>
          <a:ln/>
        </p:spPr>
        <p:txBody>
          <a:bodyPr wrap="square" lIns="0" tIns="0" rIns="0" bIns="0" rtlCol="0" anchor="ctr"/>
          <a:lstStyle/>
          <a:p>
            <a:pPr marL="0" indent="0">
              <a:buNone/>
            </a:pPr>
            <a:r>
              <a:rPr lang="en-US" sz="1400" dirty="0">
                <a:solidFill>
                  <a:schemeClr val="tx2"/>
                </a:solidFill>
              </a:rPr>
              <a:t>Interfacce e funzioni</a:t>
            </a:r>
            <a:endParaRPr lang="en-US" sz="1400" dirty="0"/>
          </a:p>
        </p:txBody>
      </p:sp>
      <p:sp>
        <p:nvSpPr>
          <p:cNvPr id="9" name="Piani e prezzi"/>
          <p:cNvSpPr/>
          <p:nvPr/>
        </p:nvSpPr>
        <p:spPr>
          <a:xfrm>
            <a:off x="457200" y="2743200"/>
            <a:ext cx="3291840" cy="530352"/>
          </a:xfrm>
          <a:prstGeom prst="roundRect">
            <a:avLst>
              <a:gd name="adj" fmla="val 13793"/>
            </a:avLst>
          </a:prstGeom>
          <a:solidFill>
            <a:schemeClr val="bg2"/>
          </a:solidFill>
          <a:ln/>
        </p:spPr>
        <p:txBody>
          <a:bodyPr/>
          <a:lstStyle/>
          <a:p>
            <a:endParaRPr lang="it-IT"/>
          </a:p>
        </p:txBody>
      </p:sp>
      <p:sp>
        <p:nvSpPr>
          <p:cNvPr id="10" name="Text 7"/>
          <p:cNvSpPr txBox="1"/>
          <p:nvPr/>
        </p:nvSpPr>
        <p:spPr>
          <a:xfrm>
            <a:off x="640080" y="2743200"/>
            <a:ext cx="3017520" cy="530352"/>
          </a:xfrm>
          <a:prstGeom prst="rect">
            <a:avLst/>
          </a:prstGeom>
          <a:noFill/>
          <a:ln/>
        </p:spPr>
        <p:txBody>
          <a:bodyPr wrap="square" lIns="0" tIns="0" rIns="0" bIns="0" rtlCol="0" anchor="ctr"/>
          <a:lstStyle/>
          <a:p>
            <a:pPr marL="0" indent="0">
              <a:buNone/>
            </a:pPr>
            <a:r>
              <a:rPr lang="en-US" sz="1400" dirty="0">
                <a:solidFill>
                  <a:schemeClr val="tx2"/>
                </a:solidFill>
              </a:rPr>
              <a:t>Piani e prezzi</a:t>
            </a:r>
            <a:endParaRPr lang="en-US" sz="1400" dirty="0"/>
          </a:p>
        </p:txBody>
      </p:sp>
      <p:sp>
        <p:nvSpPr>
          <p:cNvPr id="11" name="Classifica dei modelli"/>
          <p:cNvSpPr/>
          <p:nvPr/>
        </p:nvSpPr>
        <p:spPr>
          <a:xfrm>
            <a:off x="457200" y="3383280"/>
            <a:ext cx="3291840" cy="530352"/>
          </a:xfrm>
          <a:prstGeom prst="roundRect">
            <a:avLst>
              <a:gd name="adj" fmla="val 13793"/>
            </a:avLst>
          </a:prstGeom>
          <a:solidFill>
            <a:schemeClr val="bg2"/>
          </a:solidFill>
          <a:ln/>
        </p:spPr>
        <p:txBody>
          <a:bodyPr/>
          <a:lstStyle/>
          <a:p>
            <a:endParaRPr lang="it-IT"/>
          </a:p>
        </p:txBody>
      </p:sp>
      <p:sp>
        <p:nvSpPr>
          <p:cNvPr id="12" name="Text 9"/>
          <p:cNvSpPr txBox="1"/>
          <p:nvPr/>
        </p:nvSpPr>
        <p:spPr>
          <a:xfrm>
            <a:off x="640080" y="3383280"/>
            <a:ext cx="3017520" cy="530352"/>
          </a:xfrm>
          <a:prstGeom prst="rect">
            <a:avLst/>
          </a:prstGeom>
          <a:noFill/>
          <a:ln/>
        </p:spPr>
        <p:txBody>
          <a:bodyPr wrap="square" lIns="0" tIns="0" rIns="0" bIns="0" rtlCol="0" anchor="ctr"/>
          <a:lstStyle/>
          <a:p>
            <a:pPr marL="0" indent="0">
              <a:buNone/>
            </a:pPr>
            <a:r>
              <a:rPr lang="en-US" sz="1400" dirty="0">
                <a:solidFill>
                  <a:schemeClr val="tx2"/>
                </a:solidFill>
              </a:rPr>
              <a:t>Classifica dei modelli</a:t>
            </a:r>
            <a:endParaRPr lang="en-US" sz="1400" dirty="0"/>
          </a:p>
        </p:txBody>
      </p:sp>
      <p:sp>
        <p:nvSpPr>
          <p:cNvPr id="13" name="freccia"/>
          <p:cNvSpPr/>
          <p:nvPr/>
        </p:nvSpPr>
        <p:spPr>
          <a:xfrm>
            <a:off x="3931920" y="2514600"/>
            <a:ext cx="548640" cy="292608"/>
          </a:xfrm>
          <a:prstGeom prst="rightArrow">
            <a:avLst/>
          </a:prstGeom>
          <a:solidFill>
            <a:schemeClr val="accent1"/>
          </a:solidFill>
          <a:ln/>
        </p:spPr>
        <p:txBody>
          <a:bodyPr/>
          <a:lstStyle/>
          <a:p>
            <a:endParaRPr lang="it-IT"/>
          </a:p>
        </p:txBody>
      </p:sp>
      <p:sp>
        <p:nvSpPr>
          <p:cNvPr id="14" name="Text 11"/>
          <p:cNvSpPr txBox="1"/>
          <p:nvPr/>
        </p:nvSpPr>
        <p:spPr>
          <a:xfrm>
            <a:off x="4663440" y="1051560"/>
            <a:ext cx="4023360" cy="320040"/>
          </a:xfrm>
          <a:prstGeom prst="rect">
            <a:avLst/>
          </a:prstGeom>
          <a:noFill/>
          <a:ln/>
        </p:spPr>
        <p:txBody>
          <a:bodyPr wrap="square" lIns="0" tIns="0" rIns="0" bIns="0" rtlCol="0" anchor="t"/>
          <a:lstStyle/>
          <a:p>
            <a:pPr marL="0" indent="0">
              <a:buNone/>
            </a:pPr>
            <a:r>
              <a:rPr lang="en-US" sz="1500" b="1" dirty="0">
                <a:solidFill>
                  <a:schemeClr val="accent1"/>
                </a:solidFill>
              </a:rPr>
              <a:t>Resta valido nel tempo</a:t>
            </a:r>
            <a:endParaRPr lang="en-US" sz="1500" dirty="0"/>
          </a:p>
        </p:txBody>
      </p:sp>
      <p:sp>
        <p:nvSpPr>
          <p:cNvPr id="15" name="cerchio FiCpu"/>
          <p:cNvSpPr/>
          <p:nvPr/>
        </p:nvSpPr>
        <p:spPr>
          <a:xfrm>
            <a:off x="4663440" y="1463040"/>
            <a:ext cx="365760" cy="365760"/>
          </a:xfrm>
          <a:prstGeom prst="ellipse">
            <a:avLst/>
          </a:prstGeom>
          <a:solidFill>
            <a:schemeClr val="accent1"/>
          </a:solidFill>
          <a:ln/>
        </p:spPr>
        <p:txBody>
          <a:bodyPr/>
          <a:lstStyle/>
          <a:p>
            <a:endParaRPr lang="it-IT"/>
          </a:p>
        </p:txBody>
      </p:sp>
      <p:pic>
        <p:nvPicPr>
          <p:cNvPr id="16" name="Image 0" descr="FiCpu"/>
          <p:cNvPicPr>
            <a:picLocks noChangeAspect="1"/>
          </p:cNvPicPr>
          <p:nvPr/>
        </p:nvPicPr>
        <p:blipFill>
          <a:blip r:embed="rId3"/>
          <a:stretch>
            <a:fillRect/>
          </a:stretch>
        </p:blipFill>
        <p:spPr>
          <a:xfrm>
            <a:off x="4754880" y="1554480"/>
            <a:ext cx="182880" cy="182880"/>
          </a:xfrm>
          <a:prstGeom prst="rect">
            <a:avLst/>
          </a:prstGeom>
        </p:spPr>
      </p:pic>
      <p:sp>
        <p:nvSpPr>
          <p:cNvPr id="17" name="Text 13"/>
          <p:cNvSpPr txBox="1"/>
          <p:nvPr/>
        </p:nvSpPr>
        <p:spPr>
          <a:xfrm>
            <a:off x="5166360" y="1463040"/>
            <a:ext cx="3520440" cy="365760"/>
          </a:xfrm>
          <a:prstGeom prst="rect">
            <a:avLst/>
          </a:prstGeom>
          <a:noFill/>
          <a:ln/>
        </p:spPr>
        <p:txBody>
          <a:bodyPr wrap="square" lIns="0" tIns="0" rIns="0" bIns="0" rtlCol="0" anchor="ctr"/>
          <a:lstStyle/>
          <a:p>
            <a:pPr marL="0" indent="0">
              <a:buNone/>
            </a:pPr>
            <a:r>
              <a:rPr lang="en-US" sz="1300" dirty="0">
                <a:solidFill>
                  <a:schemeClr val="tx1"/>
                </a:solidFill>
              </a:rPr>
              <a:t>Come funzionano modelli e applicazioni</a:t>
            </a:r>
            <a:endParaRPr lang="en-US" sz="1300" dirty="0"/>
          </a:p>
        </p:txBody>
      </p:sp>
      <p:sp>
        <p:nvSpPr>
          <p:cNvPr id="18" name="cerchio FiEye"/>
          <p:cNvSpPr/>
          <p:nvPr/>
        </p:nvSpPr>
        <p:spPr>
          <a:xfrm>
            <a:off x="4663440" y="1920240"/>
            <a:ext cx="365760" cy="365760"/>
          </a:xfrm>
          <a:prstGeom prst="ellipse">
            <a:avLst/>
          </a:prstGeom>
          <a:solidFill>
            <a:schemeClr val="accent1"/>
          </a:solidFill>
          <a:ln/>
        </p:spPr>
        <p:txBody>
          <a:bodyPr/>
          <a:lstStyle/>
          <a:p>
            <a:endParaRPr lang="it-IT"/>
          </a:p>
        </p:txBody>
      </p:sp>
      <p:pic>
        <p:nvPicPr>
          <p:cNvPr id="19" name="Image 1" descr="FiEye"/>
          <p:cNvPicPr>
            <a:picLocks noChangeAspect="1"/>
          </p:cNvPicPr>
          <p:nvPr/>
        </p:nvPicPr>
        <p:blipFill>
          <a:blip r:embed="rId4"/>
          <a:stretch>
            <a:fillRect/>
          </a:stretch>
        </p:blipFill>
        <p:spPr>
          <a:xfrm>
            <a:off x="4754880" y="2011680"/>
            <a:ext cx="182880" cy="182880"/>
          </a:xfrm>
          <a:prstGeom prst="rect">
            <a:avLst/>
          </a:prstGeom>
        </p:spPr>
      </p:pic>
      <p:sp>
        <p:nvSpPr>
          <p:cNvPr id="20" name="Text 15"/>
          <p:cNvSpPr txBox="1"/>
          <p:nvPr/>
        </p:nvSpPr>
        <p:spPr>
          <a:xfrm>
            <a:off x="5166360" y="1920240"/>
            <a:ext cx="3520440" cy="365760"/>
          </a:xfrm>
          <a:prstGeom prst="rect">
            <a:avLst/>
          </a:prstGeom>
          <a:noFill/>
          <a:ln/>
        </p:spPr>
        <p:txBody>
          <a:bodyPr wrap="square" lIns="0" tIns="0" rIns="0" bIns="0" rtlCol="0" anchor="ctr"/>
          <a:lstStyle/>
          <a:p>
            <a:pPr marL="0" indent="0">
              <a:buNone/>
            </a:pPr>
            <a:r>
              <a:rPr lang="en-US" sz="1300" dirty="0">
                <a:solidFill>
                  <a:schemeClr val="tx1"/>
                </a:solidFill>
              </a:rPr>
              <a:t>Capacità, limiti, affidabilità</a:t>
            </a:r>
            <a:endParaRPr lang="en-US" sz="1300" dirty="0"/>
          </a:p>
        </p:txBody>
      </p:sp>
      <p:sp>
        <p:nvSpPr>
          <p:cNvPr id="21" name="cerchio FiMap"/>
          <p:cNvSpPr/>
          <p:nvPr/>
        </p:nvSpPr>
        <p:spPr>
          <a:xfrm>
            <a:off x="4663440" y="2377440"/>
            <a:ext cx="365760" cy="365760"/>
          </a:xfrm>
          <a:prstGeom prst="ellipse">
            <a:avLst/>
          </a:prstGeom>
          <a:solidFill>
            <a:schemeClr val="accent1"/>
          </a:solidFill>
          <a:ln/>
        </p:spPr>
        <p:txBody>
          <a:bodyPr/>
          <a:lstStyle/>
          <a:p>
            <a:endParaRPr lang="it-IT"/>
          </a:p>
        </p:txBody>
      </p:sp>
      <p:pic>
        <p:nvPicPr>
          <p:cNvPr id="22" name="Image 2" descr="FiMap"/>
          <p:cNvPicPr>
            <a:picLocks noChangeAspect="1"/>
          </p:cNvPicPr>
          <p:nvPr/>
        </p:nvPicPr>
        <p:blipFill>
          <a:blip r:embed="rId5"/>
          <a:stretch>
            <a:fillRect/>
          </a:stretch>
        </p:blipFill>
        <p:spPr>
          <a:xfrm>
            <a:off x="4754880" y="2468880"/>
            <a:ext cx="182880" cy="182880"/>
          </a:xfrm>
          <a:prstGeom prst="rect">
            <a:avLst/>
          </a:prstGeom>
        </p:spPr>
      </p:pic>
      <p:sp>
        <p:nvSpPr>
          <p:cNvPr id="23" name="Text 17"/>
          <p:cNvSpPr txBox="1"/>
          <p:nvPr/>
        </p:nvSpPr>
        <p:spPr>
          <a:xfrm>
            <a:off x="5166360" y="2377440"/>
            <a:ext cx="3520440" cy="365760"/>
          </a:xfrm>
          <a:prstGeom prst="rect">
            <a:avLst/>
          </a:prstGeom>
          <a:noFill/>
          <a:ln/>
        </p:spPr>
        <p:txBody>
          <a:bodyPr wrap="square" lIns="0" tIns="0" rIns="0" bIns="0" rtlCol="0" anchor="ctr"/>
          <a:lstStyle/>
          <a:p>
            <a:pPr marL="0" indent="0">
              <a:buNone/>
            </a:pPr>
            <a:r>
              <a:rPr lang="en-US" sz="1300" dirty="0">
                <a:solidFill>
                  <a:schemeClr val="tx1"/>
                </a:solidFill>
              </a:rPr>
              <a:t>Come è organizzato l'ecosistema</a:t>
            </a:r>
            <a:endParaRPr lang="en-US" sz="1300" dirty="0"/>
          </a:p>
        </p:txBody>
      </p:sp>
      <p:sp>
        <p:nvSpPr>
          <p:cNvPr id="24" name="cerchio FiSliders"/>
          <p:cNvSpPr/>
          <p:nvPr/>
        </p:nvSpPr>
        <p:spPr>
          <a:xfrm>
            <a:off x="4663440" y="2834640"/>
            <a:ext cx="365760" cy="365760"/>
          </a:xfrm>
          <a:prstGeom prst="ellipse">
            <a:avLst/>
          </a:prstGeom>
          <a:solidFill>
            <a:schemeClr val="accent1"/>
          </a:solidFill>
          <a:ln/>
        </p:spPr>
        <p:txBody>
          <a:bodyPr/>
          <a:lstStyle/>
          <a:p>
            <a:endParaRPr lang="it-IT"/>
          </a:p>
        </p:txBody>
      </p:sp>
      <p:pic>
        <p:nvPicPr>
          <p:cNvPr id="25" name="Image 3" descr="FiSliders"/>
          <p:cNvPicPr>
            <a:picLocks noChangeAspect="1"/>
          </p:cNvPicPr>
          <p:nvPr/>
        </p:nvPicPr>
        <p:blipFill>
          <a:blip r:embed="rId6"/>
          <a:stretch>
            <a:fillRect/>
          </a:stretch>
        </p:blipFill>
        <p:spPr>
          <a:xfrm>
            <a:off x="4754880" y="2926080"/>
            <a:ext cx="182880" cy="182880"/>
          </a:xfrm>
          <a:prstGeom prst="rect">
            <a:avLst/>
          </a:prstGeom>
        </p:spPr>
      </p:pic>
      <p:sp>
        <p:nvSpPr>
          <p:cNvPr id="26" name="Text 19"/>
          <p:cNvSpPr txBox="1"/>
          <p:nvPr/>
        </p:nvSpPr>
        <p:spPr>
          <a:xfrm>
            <a:off x="5166360" y="2834640"/>
            <a:ext cx="3520440" cy="365760"/>
          </a:xfrm>
          <a:prstGeom prst="rect">
            <a:avLst/>
          </a:prstGeom>
          <a:noFill/>
          <a:ln/>
        </p:spPr>
        <p:txBody>
          <a:bodyPr wrap="square" lIns="0" tIns="0" rIns="0" bIns="0" rtlCol="0" anchor="ctr"/>
          <a:lstStyle/>
          <a:p>
            <a:pPr marL="0" indent="0">
              <a:buNone/>
            </a:pPr>
            <a:r>
              <a:rPr lang="en-US" sz="1300" dirty="0">
                <a:solidFill>
                  <a:schemeClr val="tx1"/>
                </a:solidFill>
              </a:rPr>
              <a:t>Come scegliere con criteri</a:t>
            </a:r>
            <a:endParaRPr lang="en-US" sz="1300" dirty="0"/>
          </a:p>
        </p:txBody>
      </p:sp>
      <p:sp>
        <p:nvSpPr>
          <p:cNvPr id="27" name="cerchio FiMessageSquare"/>
          <p:cNvSpPr/>
          <p:nvPr/>
        </p:nvSpPr>
        <p:spPr>
          <a:xfrm>
            <a:off x="4663440" y="3291840"/>
            <a:ext cx="365760" cy="365760"/>
          </a:xfrm>
          <a:prstGeom prst="ellipse">
            <a:avLst/>
          </a:prstGeom>
          <a:solidFill>
            <a:schemeClr val="accent1"/>
          </a:solidFill>
          <a:ln/>
        </p:spPr>
        <p:txBody>
          <a:bodyPr/>
          <a:lstStyle/>
          <a:p>
            <a:endParaRPr lang="it-IT"/>
          </a:p>
        </p:txBody>
      </p:sp>
      <p:pic>
        <p:nvPicPr>
          <p:cNvPr id="28" name="Image 4" descr="FiMessageSquare"/>
          <p:cNvPicPr>
            <a:picLocks noChangeAspect="1"/>
          </p:cNvPicPr>
          <p:nvPr/>
        </p:nvPicPr>
        <p:blipFill>
          <a:blip r:embed="rId7"/>
          <a:stretch>
            <a:fillRect/>
          </a:stretch>
        </p:blipFill>
        <p:spPr>
          <a:xfrm>
            <a:off x="4754880" y="3383280"/>
            <a:ext cx="182880" cy="182880"/>
          </a:xfrm>
          <a:prstGeom prst="rect">
            <a:avLst/>
          </a:prstGeom>
        </p:spPr>
      </p:pic>
      <p:sp>
        <p:nvSpPr>
          <p:cNvPr id="29" name="Text 21"/>
          <p:cNvSpPr txBox="1"/>
          <p:nvPr/>
        </p:nvSpPr>
        <p:spPr>
          <a:xfrm>
            <a:off x="5166360" y="3291840"/>
            <a:ext cx="3520440" cy="365760"/>
          </a:xfrm>
          <a:prstGeom prst="rect">
            <a:avLst/>
          </a:prstGeom>
          <a:noFill/>
          <a:ln/>
        </p:spPr>
        <p:txBody>
          <a:bodyPr wrap="square" lIns="0" tIns="0" rIns="0" bIns="0" rtlCol="0" anchor="ctr"/>
          <a:lstStyle/>
          <a:p>
            <a:pPr marL="0" indent="0">
              <a:buNone/>
            </a:pPr>
            <a:r>
              <a:rPr lang="en-US" sz="1300" dirty="0">
                <a:solidFill>
                  <a:schemeClr val="tx1"/>
                </a:solidFill>
              </a:rPr>
              <a:t>Come interagire e formulare richieste</a:t>
            </a:r>
            <a:endParaRPr lang="en-US" sz="1300" dirty="0"/>
          </a:p>
        </p:txBody>
      </p:sp>
      <p:sp>
        <p:nvSpPr>
          <p:cNvPr id="30" name="cerchio FiCheckSquare"/>
          <p:cNvSpPr/>
          <p:nvPr/>
        </p:nvSpPr>
        <p:spPr>
          <a:xfrm>
            <a:off x="4663440" y="3749040"/>
            <a:ext cx="365760" cy="365760"/>
          </a:xfrm>
          <a:prstGeom prst="ellipse">
            <a:avLst/>
          </a:prstGeom>
          <a:solidFill>
            <a:schemeClr val="accent1"/>
          </a:solidFill>
          <a:ln/>
        </p:spPr>
        <p:txBody>
          <a:bodyPr/>
          <a:lstStyle/>
          <a:p>
            <a:endParaRPr lang="it-IT"/>
          </a:p>
        </p:txBody>
      </p:sp>
      <p:pic>
        <p:nvPicPr>
          <p:cNvPr id="31" name="Image 5" descr="FiCheckSquare"/>
          <p:cNvPicPr>
            <a:picLocks noChangeAspect="1"/>
          </p:cNvPicPr>
          <p:nvPr/>
        </p:nvPicPr>
        <p:blipFill>
          <a:blip r:embed="rId8"/>
          <a:stretch>
            <a:fillRect/>
          </a:stretch>
        </p:blipFill>
        <p:spPr>
          <a:xfrm>
            <a:off x="4754880" y="3840480"/>
            <a:ext cx="182880" cy="182880"/>
          </a:xfrm>
          <a:prstGeom prst="rect">
            <a:avLst/>
          </a:prstGeom>
        </p:spPr>
      </p:pic>
      <p:sp>
        <p:nvSpPr>
          <p:cNvPr id="32" name="Text 23"/>
          <p:cNvSpPr txBox="1"/>
          <p:nvPr/>
        </p:nvSpPr>
        <p:spPr>
          <a:xfrm>
            <a:off x="5166360" y="3749040"/>
            <a:ext cx="3520440" cy="365760"/>
          </a:xfrm>
          <a:prstGeom prst="rect">
            <a:avLst/>
          </a:prstGeom>
          <a:noFill/>
          <a:ln/>
        </p:spPr>
        <p:txBody>
          <a:bodyPr wrap="square" lIns="0" tIns="0" rIns="0" bIns="0" rtlCol="0" anchor="ctr"/>
          <a:lstStyle/>
          <a:p>
            <a:pPr marL="0" indent="0">
              <a:buNone/>
            </a:pPr>
            <a:r>
              <a:rPr lang="en-US" sz="1300" dirty="0">
                <a:solidFill>
                  <a:schemeClr val="tx1"/>
                </a:solidFill>
              </a:rPr>
              <a:t>Come verificare e usare in modo responsabile</a:t>
            </a:r>
            <a:endParaRPr lang="en-US" sz="1300" dirty="0"/>
          </a:p>
        </p:txBody>
      </p:sp>
      <p:sp>
        <p:nvSpPr>
          <p:cNvPr id="33" name="Text 24"/>
          <p:cNvSpPr txBox="1"/>
          <p:nvPr/>
        </p:nvSpPr>
        <p:spPr>
          <a:xfrm>
            <a:off x="457200" y="4297680"/>
            <a:ext cx="8229600" cy="320040"/>
          </a:xfrm>
          <a:prstGeom prst="rect">
            <a:avLst/>
          </a:prstGeom>
          <a:noFill/>
          <a:ln/>
        </p:spPr>
        <p:txBody>
          <a:bodyPr wrap="square" lIns="0" tIns="0" rIns="0" bIns="0" rtlCol="0" anchor="t"/>
          <a:lstStyle/>
          <a:p>
            <a:pPr marL="0" indent="0">
              <a:buNone/>
            </a:pPr>
            <a:r>
              <a:rPr lang="it-IT" sz="1300" b="1" i="1" dirty="0">
                <a:solidFill>
                  <a:schemeClr val="tx1"/>
                </a:solidFill>
              </a:rPr>
              <a:t>Sviluppare competenze sull'AI che restino utili anche quando cambiano prodotti e tecnologie.</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Orientarsi senza inseguire ogni novità</a:t>
            </a:r>
            <a:endParaRPr lang="en-US" sz="2600" dirty="0"/>
          </a:p>
        </p:txBody>
      </p:sp>
      <p:sp>
        <p:nvSpPr>
          <p:cNvPr id="4" name="Annunciato o disponibile?"/>
          <p:cNvSpPr/>
          <p:nvPr/>
        </p:nvSpPr>
        <p:spPr>
          <a:xfrm>
            <a:off x="457200" y="1097280"/>
            <a:ext cx="2621280" cy="1325880"/>
          </a:xfrm>
          <a:prstGeom prst="roundRect">
            <a:avLst>
              <a:gd name="adj" fmla="val 5517"/>
            </a:avLst>
          </a:prstGeom>
          <a:solidFill>
            <a:schemeClr val="bg2"/>
          </a:solidFill>
          <a:ln/>
        </p:spPr>
        <p:txBody>
          <a:bodyPr/>
          <a:lstStyle/>
          <a:p>
            <a:endParaRPr lang="it-IT"/>
          </a:p>
        </p:txBody>
      </p:sp>
      <p:sp>
        <p:nvSpPr>
          <p:cNvPr id="5" name="cerchio FiFilter"/>
          <p:cNvSpPr/>
          <p:nvPr/>
        </p:nvSpPr>
        <p:spPr>
          <a:xfrm>
            <a:off x="621792" y="1261872"/>
            <a:ext cx="438912" cy="438912"/>
          </a:xfrm>
          <a:prstGeom prst="ellipse">
            <a:avLst/>
          </a:prstGeom>
          <a:solidFill>
            <a:schemeClr val="accent1"/>
          </a:solidFill>
          <a:ln/>
        </p:spPr>
        <p:txBody>
          <a:bodyPr/>
          <a:lstStyle/>
          <a:p>
            <a:endParaRPr lang="it-IT"/>
          </a:p>
        </p:txBody>
      </p:sp>
      <p:pic>
        <p:nvPicPr>
          <p:cNvPr id="6" name="Image 0" descr="FiFilter"/>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Annunciato o disponibile?</a:t>
            </a:r>
            <a:endParaRPr lang="en-US" sz="1300" dirty="0"/>
          </a:p>
        </p:txBody>
      </p:sp>
      <p:sp>
        <p:nvSpPr>
          <p:cNvPr id="8" name="Text 4"/>
          <p:cNvSpPr txBox="1"/>
          <p:nvPr/>
        </p:nvSpPr>
        <p:spPr>
          <a:xfrm>
            <a:off x="621792" y="1810512"/>
            <a:ext cx="2292096" cy="521208"/>
          </a:xfrm>
          <a:prstGeom prst="rect">
            <a:avLst/>
          </a:prstGeom>
          <a:noFill/>
          <a:ln/>
        </p:spPr>
        <p:txBody>
          <a:bodyPr wrap="square" lIns="0" tIns="0" rIns="0" bIns="0" rtlCol="0" anchor="t"/>
          <a:lstStyle/>
          <a:p>
            <a:pPr marL="0" indent="0">
              <a:buNone/>
            </a:pPr>
            <a:r>
              <a:rPr lang="en-US" sz="1200" dirty="0">
                <a:solidFill>
                  <a:schemeClr val="tx2"/>
                </a:solidFill>
              </a:rPr>
              <a:t>Applicare le verifiche</a:t>
            </a:r>
            <a:endParaRPr lang="en-US" sz="1200" dirty="0"/>
          </a:p>
        </p:txBody>
      </p:sp>
      <p:sp>
        <p:nvSpPr>
          <p:cNvPr id="9" name="Risolve un nostro problema?"/>
          <p:cNvSpPr/>
          <p:nvPr/>
        </p:nvSpPr>
        <p:spPr>
          <a:xfrm>
            <a:off x="3261360" y="1097280"/>
            <a:ext cx="2621280" cy="1325880"/>
          </a:xfrm>
          <a:prstGeom prst="roundRect">
            <a:avLst>
              <a:gd name="adj" fmla="val 5517"/>
            </a:avLst>
          </a:prstGeom>
          <a:solidFill>
            <a:schemeClr val="bg2"/>
          </a:solidFill>
          <a:ln/>
        </p:spPr>
        <p:txBody>
          <a:bodyPr/>
          <a:lstStyle/>
          <a:p>
            <a:endParaRPr lang="it-IT"/>
          </a:p>
        </p:txBody>
      </p:sp>
      <p:sp>
        <p:nvSpPr>
          <p:cNvPr id="10" name="cerchio FiTarget"/>
          <p:cNvSpPr/>
          <p:nvPr/>
        </p:nvSpPr>
        <p:spPr>
          <a:xfrm>
            <a:off x="3425952" y="1261872"/>
            <a:ext cx="438912" cy="438912"/>
          </a:xfrm>
          <a:prstGeom prst="ellipse">
            <a:avLst/>
          </a:prstGeom>
          <a:solidFill>
            <a:schemeClr val="accent1"/>
          </a:solidFill>
          <a:ln/>
        </p:spPr>
        <p:txBody>
          <a:bodyPr/>
          <a:lstStyle/>
          <a:p>
            <a:endParaRPr lang="it-IT"/>
          </a:p>
        </p:txBody>
      </p:sp>
      <p:pic>
        <p:nvPicPr>
          <p:cNvPr id="11" name="Image 1" descr="FiTarget"/>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Risolve un nostro problema?</a:t>
            </a:r>
            <a:endParaRPr lang="en-US" sz="1300" dirty="0"/>
          </a:p>
        </p:txBody>
      </p:sp>
      <p:sp>
        <p:nvSpPr>
          <p:cNvPr id="13" name="Text 8"/>
          <p:cNvSpPr txBox="1"/>
          <p:nvPr/>
        </p:nvSpPr>
        <p:spPr>
          <a:xfrm>
            <a:off x="3425952" y="1810512"/>
            <a:ext cx="2292096" cy="521208"/>
          </a:xfrm>
          <a:prstGeom prst="rect">
            <a:avLst/>
          </a:prstGeom>
          <a:noFill/>
          <a:ln/>
        </p:spPr>
        <p:txBody>
          <a:bodyPr wrap="square" lIns="0" tIns="0" rIns="0" bIns="0" rtlCol="0" anchor="t"/>
          <a:lstStyle/>
          <a:p>
            <a:pPr marL="0" indent="0">
              <a:buNone/>
            </a:pPr>
            <a:r>
              <a:rPr lang="en-US" sz="1200" dirty="0">
                <a:solidFill>
                  <a:schemeClr val="tx2"/>
                </a:solidFill>
              </a:rPr>
              <a:t>Partire dalle esigenze</a:t>
            </a:r>
            <a:endParaRPr lang="en-US" sz="1200" dirty="0"/>
          </a:p>
        </p:txBody>
      </p:sp>
      <p:sp>
        <p:nvSpPr>
          <p:cNvPr id="14" name="Poche fonti affidabili"/>
          <p:cNvSpPr/>
          <p:nvPr/>
        </p:nvSpPr>
        <p:spPr>
          <a:xfrm>
            <a:off x="6065520" y="1097280"/>
            <a:ext cx="2621280" cy="1325880"/>
          </a:xfrm>
          <a:prstGeom prst="roundRect">
            <a:avLst>
              <a:gd name="adj" fmla="val 5517"/>
            </a:avLst>
          </a:prstGeom>
          <a:solidFill>
            <a:schemeClr val="bg2"/>
          </a:solidFill>
          <a:ln/>
        </p:spPr>
        <p:txBody>
          <a:bodyPr/>
          <a:lstStyle/>
          <a:p>
            <a:endParaRPr lang="it-IT"/>
          </a:p>
        </p:txBody>
      </p:sp>
      <p:sp>
        <p:nvSpPr>
          <p:cNvPr id="15" name="cerchio FiBookOpen"/>
          <p:cNvSpPr/>
          <p:nvPr/>
        </p:nvSpPr>
        <p:spPr>
          <a:xfrm>
            <a:off x="6230112" y="1261872"/>
            <a:ext cx="438912" cy="438912"/>
          </a:xfrm>
          <a:prstGeom prst="ellipse">
            <a:avLst/>
          </a:prstGeom>
          <a:solidFill>
            <a:schemeClr val="accent1"/>
          </a:solidFill>
          <a:ln/>
        </p:spPr>
        <p:txBody>
          <a:bodyPr/>
          <a:lstStyle/>
          <a:p>
            <a:endParaRPr lang="it-IT"/>
          </a:p>
        </p:txBody>
      </p:sp>
      <p:pic>
        <p:nvPicPr>
          <p:cNvPr id="16" name="Image 2" descr="FiBookOpen"/>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Poche fonti affidabili</a:t>
            </a:r>
            <a:endParaRPr lang="en-US" sz="1300" dirty="0"/>
          </a:p>
        </p:txBody>
      </p:sp>
      <p:sp>
        <p:nvSpPr>
          <p:cNvPr id="18" name="Text 12"/>
          <p:cNvSpPr txBox="1"/>
          <p:nvPr/>
        </p:nvSpPr>
        <p:spPr>
          <a:xfrm>
            <a:off x="6230112" y="1810512"/>
            <a:ext cx="2292096" cy="521208"/>
          </a:xfrm>
          <a:prstGeom prst="rect">
            <a:avLst/>
          </a:prstGeom>
          <a:noFill/>
          <a:ln/>
        </p:spPr>
        <p:txBody>
          <a:bodyPr wrap="square" lIns="0" tIns="0" rIns="0" bIns="0" rtlCol="0" anchor="t"/>
          <a:lstStyle/>
          <a:p>
            <a:pPr marL="0" indent="0">
              <a:buNone/>
            </a:pPr>
            <a:r>
              <a:rPr lang="en-US" sz="1200" dirty="0">
                <a:solidFill>
                  <a:schemeClr val="tx2"/>
                </a:solidFill>
              </a:rPr>
              <a:t>Documentazione ufficiale e fonti indipendenti</a:t>
            </a:r>
            <a:endParaRPr lang="en-US" sz="1200" dirty="0"/>
          </a:p>
        </p:txBody>
      </p:sp>
      <p:sp>
        <p:nvSpPr>
          <p:cNvPr id="19" name="Revisioni periodiche"/>
          <p:cNvSpPr/>
          <p:nvPr/>
        </p:nvSpPr>
        <p:spPr>
          <a:xfrm>
            <a:off x="457200" y="2606040"/>
            <a:ext cx="2621280" cy="1325880"/>
          </a:xfrm>
          <a:prstGeom prst="roundRect">
            <a:avLst>
              <a:gd name="adj" fmla="val 5517"/>
            </a:avLst>
          </a:prstGeom>
          <a:solidFill>
            <a:schemeClr val="bg2"/>
          </a:solidFill>
          <a:ln/>
        </p:spPr>
        <p:txBody>
          <a:bodyPr/>
          <a:lstStyle/>
          <a:p>
            <a:endParaRPr lang="it-IT"/>
          </a:p>
        </p:txBody>
      </p:sp>
      <p:sp>
        <p:nvSpPr>
          <p:cNvPr id="20" name="cerchio FiCalendar"/>
          <p:cNvSpPr/>
          <p:nvPr/>
        </p:nvSpPr>
        <p:spPr>
          <a:xfrm>
            <a:off x="621792" y="2770632"/>
            <a:ext cx="438912" cy="438912"/>
          </a:xfrm>
          <a:prstGeom prst="ellipse">
            <a:avLst/>
          </a:prstGeom>
          <a:solidFill>
            <a:schemeClr val="accent1"/>
          </a:solidFill>
          <a:ln/>
        </p:spPr>
        <p:txBody>
          <a:bodyPr/>
          <a:lstStyle/>
          <a:p>
            <a:endParaRPr lang="it-IT"/>
          </a:p>
        </p:txBody>
      </p:sp>
      <p:pic>
        <p:nvPicPr>
          <p:cNvPr id="21" name="Image 3" descr="FiCalendar"/>
          <p:cNvPicPr>
            <a:picLocks noChangeAspect="1"/>
          </p:cNvPicPr>
          <p:nvPr/>
        </p:nvPicPr>
        <p:blipFill>
          <a:blip r:embed="rId6"/>
          <a:stretch>
            <a:fillRect/>
          </a:stretch>
        </p:blipFill>
        <p:spPr>
          <a:xfrm>
            <a:off x="731520" y="2880360"/>
            <a:ext cx="219456" cy="219456"/>
          </a:xfrm>
          <a:prstGeom prst="rect">
            <a:avLst/>
          </a:prstGeom>
        </p:spPr>
      </p:pic>
      <p:sp>
        <p:nvSpPr>
          <p:cNvPr id="22" name="Text 15"/>
          <p:cNvSpPr txBox="1"/>
          <p:nvPr/>
        </p:nvSpPr>
        <p:spPr>
          <a:xfrm>
            <a:off x="1170432" y="273405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Revisioni periodiche</a:t>
            </a:r>
            <a:endParaRPr lang="en-US" sz="1300" dirty="0"/>
          </a:p>
        </p:txBody>
      </p:sp>
      <p:sp>
        <p:nvSpPr>
          <p:cNvPr id="23" name="Text 16"/>
          <p:cNvSpPr txBox="1"/>
          <p:nvPr/>
        </p:nvSpPr>
        <p:spPr>
          <a:xfrm>
            <a:off x="621792" y="3319272"/>
            <a:ext cx="2292096" cy="521208"/>
          </a:xfrm>
          <a:prstGeom prst="rect">
            <a:avLst/>
          </a:prstGeom>
          <a:noFill/>
          <a:ln/>
        </p:spPr>
        <p:txBody>
          <a:bodyPr wrap="square" lIns="0" tIns="0" rIns="0" bIns="0" rtlCol="0" anchor="t"/>
          <a:lstStyle/>
          <a:p>
            <a:pPr marL="0" indent="0">
              <a:buNone/>
            </a:pPr>
            <a:r>
              <a:rPr lang="en-US" sz="1200" dirty="0">
                <a:solidFill>
                  <a:schemeClr val="tx2"/>
                </a:solidFill>
              </a:rPr>
              <a:t>Per esempio ogni sei mesi</a:t>
            </a:r>
            <a:endParaRPr lang="en-US" sz="1200" dirty="0"/>
          </a:p>
        </p:txBody>
      </p:sp>
      <p:sp>
        <p:nvSpPr>
          <p:cNvPr id="24" name="Condividere in azienda"/>
          <p:cNvSpPr/>
          <p:nvPr/>
        </p:nvSpPr>
        <p:spPr>
          <a:xfrm>
            <a:off x="3261360" y="2606040"/>
            <a:ext cx="2621280" cy="1325880"/>
          </a:xfrm>
          <a:prstGeom prst="roundRect">
            <a:avLst>
              <a:gd name="adj" fmla="val 5517"/>
            </a:avLst>
          </a:prstGeom>
          <a:solidFill>
            <a:schemeClr val="bg2"/>
          </a:solidFill>
          <a:ln/>
        </p:spPr>
        <p:txBody>
          <a:bodyPr/>
          <a:lstStyle/>
          <a:p>
            <a:endParaRPr lang="it-IT"/>
          </a:p>
        </p:txBody>
      </p:sp>
      <p:sp>
        <p:nvSpPr>
          <p:cNvPr id="25" name="cerchio FiUsers"/>
          <p:cNvSpPr/>
          <p:nvPr/>
        </p:nvSpPr>
        <p:spPr>
          <a:xfrm>
            <a:off x="3425952" y="2770632"/>
            <a:ext cx="438912" cy="438912"/>
          </a:xfrm>
          <a:prstGeom prst="ellipse">
            <a:avLst/>
          </a:prstGeom>
          <a:solidFill>
            <a:schemeClr val="accent1"/>
          </a:solidFill>
          <a:ln/>
        </p:spPr>
        <p:txBody>
          <a:bodyPr/>
          <a:lstStyle/>
          <a:p>
            <a:endParaRPr lang="it-IT"/>
          </a:p>
        </p:txBody>
      </p:sp>
      <p:pic>
        <p:nvPicPr>
          <p:cNvPr id="26" name="Image 4" descr="FiUsers"/>
          <p:cNvPicPr>
            <a:picLocks noChangeAspect="1"/>
          </p:cNvPicPr>
          <p:nvPr/>
        </p:nvPicPr>
        <p:blipFill>
          <a:blip r:embed="rId7"/>
          <a:stretch>
            <a:fillRect/>
          </a:stretch>
        </p:blipFill>
        <p:spPr>
          <a:xfrm>
            <a:off x="3535680" y="2880360"/>
            <a:ext cx="219456" cy="219456"/>
          </a:xfrm>
          <a:prstGeom prst="rect">
            <a:avLst/>
          </a:prstGeom>
        </p:spPr>
      </p:pic>
      <p:sp>
        <p:nvSpPr>
          <p:cNvPr id="27" name="Text 19"/>
          <p:cNvSpPr txBox="1"/>
          <p:nvPr/>
        </p:nvSpPr>
        <p:spPr>
          <a:xfrm>
            <a:off x="3974592" y="273405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Condividere in azienda</a:t>
            </a:r>
            <a:endParaRPr lang="en-US" sz="1300" dirty="0"/>
          </a:p>
        </p:txBody>
      </p:sp>
      <p:sp>
        <p:nvSpPr>
          <p:cNvPr id="28" name="Text 20"/>
          <p:cNvSpPr txBox="1"/>
          <p:nvPr/>
        </p:nvSpPr>
        <p:spPr>
          <a:xfrm>
            <a:off x="3425952" y="3319272"/>
            <a:ext cx="2292096" cy="521208"/>
          </a:xfrm>
          <a:prstGeom prst="rect">
            <a:avLst/>
          </a:prstGeom>
          <a:noFill/>
          <a:ln/>
        </p:spPr>
        <p:txBody>
          <a:bodyPr wrap="square" lIns="0" tIns="0" rIns="0" bIns="0" rtlCol="0" anchor="t"/>
          <a:lstStyle/>
          <a:p>
            <a:pPr marL="0" indent="0">
              <a:buNone/>
            </a:pPr>
            <a:r>
              <a:rPr lang="en-US" sz="1200" dirty="0">
                <a:solidFill>
                  <a:schemeClr val="tx2"/>
                </a:solidFill>
              </a:rPr>
              <a:t>Una comunità interna di utenti</a:t>
            </a:r>
            <a:endParaRPr lang="en-US" sz="1200" dirty="0"/>
          </a:p>
        </p:txBody>
      </p:sp>
      <p:sp>
        <p:nvSpPr>
          <p:cNvPr id="29" name="Sperimentare in piccolo"/>
          <p:cNvSpPr/>
          <p:nvPr/>
        </p:nvSpPr>
        <p:spPr>
          <a:xfrm>
            <a:off x="6065520" y="2606040"/>
            <a:ext cx="2621280" cy="1325880"/>
          </a:xfrm>
          <a:prstGeom prst="roundRect">
            <a:avLst>
              <a:gd name="adj" fmla="val 5517"/>
            </a:avLst>
          </a:prstGeom>
          <a:solidFill>
            <a:schemeClr val="bg2"/>
          </a:solidFill>
          <a:ln/>
        </p:spPr>
        <p:txBody>
          <a:bodyPr/>
          <a:lstStyle/>
          <a:p>
            <a:endParaRPr lang="it-IT"/>
          </a:p>
        </p:txBody>
      </p:sp>
      <p:sp>
        <p:nvSpPr>
          <p:cNvPr id="30" name="cerchio FiPlay"/>
          <p:cNvSpPr/>
          <p:nvPr/>
        </p:nvSpPr>
        <p:spPr>
          <a:xfrm>
            <a:off x="6230112" y="2770632"/>
            <a:ext cx="438912" cy="438912"/>
          </a:xfrm>
          <a:prstGeom prst="ellipse">
            <a:avLst/>
          </a:prstGeom>
          <a:solidFill>
            <a:schemeClr val="accent1"/>
          </a:solidFill>
          <a:ln/>
        </p:spPr>
        <p:txBody>
          <a:bodyPr/>
          <a:lstStyle/>
          <a:p>
            <a:endParaRPr lang="it-IT"/>
          </a:p>
        </p:txBody>
      </p:sp>
      <p:pic>
        <p:nvPicPr>
          <p:cNvPr id="31" name="Image 5" descr="FiPlay"/>
          <p:cNvPicPr>
            <a:picLocks noChangeAspect="1"/>
          </p:cNvPicPr>
          <p:nvPr/>
        </p:nvPicPr>
        <p:blipFill>
          <a:blip r:embed="rId8"/>
          <a:stretch>
            <a:fillRect/>
          </a:stretch>
        </p:blipFill>
        <p:spPr>
          <a:xfrm>
            <a:off x="6339840" y="2880360"/>
            <a:ext cx="219456" cy="219456"/>
          </a:xfrm>
          <a:prstGeom prst="rect">
            <a:avLst/>
          </a:prstGeom>
        </p:spPr>
      </p:pic>
      <p:sp>
        <p:nvSpPr>
          <p:cNvPr id="32" name="Text 23"/>
          <p:cNvSpPr txBox="1"/>
          <p:nvPr/>
        </p:nvSpPr>
        <p:spPr>
          <a:xfrm>
            <a:off x="6778752" y="2734056"/>
            <a:ext cx="1798320" cy="512064"/>
          </a:xfrm>
          <a:prstGeom prst="rect">
            <a:avLst/>
          </a:prstGeom>
          <a:noFill/>
          <a:ln/>
        </p:spPr>
        <p:txBody>
          <a:bodyPr wrap="square" lIns="0" tIns="0" rIns="0" bIns="0" rtlCol="0" anchor="ctr"/>
          <a:lstStyle/>
          <a:p>
            <a:pPr marL="0" indent="0">
              <a:buNone/>
            </a:pPr>
            <a:r>
              <a:rPr lang="en-US" sz="1300" b="1" dirty="0">
                <a:solidFill>
                  <a:schemeClr val="tx1"/>
                </a:solidFill>
              </a:rPr>
              <a:t>Sperimentare in piccolo</a:t>
            </a:r>
            <a:endParaRPr lang="en-US" sz="1300" dirty="0"/>
          </a:p>
        </p:txBody>
      </p:sp>
      <p:sp>
        <p:nvSpPr>
          <p:cNvPr id="33" name="Text 24"/>
          <p:cNvSpPr txBox="1"/>
          <p:nvPr/>
        </p:nvSpPr>
        <p:spPr>
          <a:xfrm>
            <a:off x="6230112" y="3319272"/>
            <a:ext cx="2292096" cy="521208"/>
          </a:xfrm>
          <a:prstGeom prst="rect">
            <a:avLst/>
          </a:prstGeom>
          <a:noFill/>
          <a:ln/>
        </p:spPr>
        <p:txBody>
          <a:bodyPr wrap="square" lIns="0" tIns="0" rIns="0" bIns="0" rtlCol="0" anchor="t"/>
          <a:lstStyle/>
          <a:p>
            <a:pPr marL="0" indent="0">
              <a:buNone/>
            </a:pPr>
            <a:r>
              <a:rPr lang="en-US" sz="1200" dirty="0">
                <a:solidFill>
                  <a:schemeClr val="tx2"/>
                </a:solidFill>
              </a:rPr>
              <a:t>Prima di adottare su larga scala</a:t>
            </a:r>
            <a:endParaRPr lang="en-US" sz="1200" dirty="0"/>
          </a:p>
        </p:txBody>
      </p:sp>
      <p:sp>
        <p:nvSpPr>
          <p:cNvPr id="34" name="messaggio"/>
          <p:cNvSpPr/>
          <p:nvPr/>
        </p:nvSpPr>
        <p:spPr>
          <a:xfrm>
            <a:off x="457200" y="4069080"/>
            <a:ext cx="8229600" cy="502920"/>
          </a:xfrm>
          <a:prstGeom prst="roundRect">
            <a:avLst>
              <a:gd name="adj" fmla="val 14545"/>
            </a:avLst>
          </a:prstGeom>
          <a:solidFill>
            <a:schemeClr val="tx1"/>
          </a:solidFill>
          <a:ln/>
        </p:spPr>
        <p:txBody>
          <a:bodyPr/>
          <a:lstStyle/>
          <a:p>
            <a:endParaRPr lang="it-IT"/>
          </a:p>
        </p:txBody>
      </p:sp>
      <p:sp>
        <p:nvSpPr>
          <p:cNvPr id="35" name="Text 26"/>
          <p:cNvSpPr txBox="1"/>
          <p:nvPr/>
        </p:nvSpPr>
        <p:spPr>
          <a:xfrm>
            <a:off x="640080" y="4069080"/>
            <a:ext cx="7863840" cy="502920"/>
          </a:xfrm>
          <a:prstGeom prst="rect">
            <a:avLst/>
          </a:prstGeom>
          <a:noFill/>
          <a:ln/>
        </p:spPr>
        <p:txBody>
          <a:bodyPr wrap="square" lIns="0" tIns="0" rIns="0" bIns="0" rtlCol="0" anchor="ctr"/>
          <a:lstStyle/>
          <a:p>
            <a:pPr marL="0" indent="0">
              <a:buNone/>
            </a:pPr>
            <a:r>
              <a:rPr lang="en-US" sz="1200" dirty="0">
                <a:solidFill>
                  <a:schemeClr val="bg1"/>
                </a:solidFill>
              </a:rPr>
              <a:t>Capire come sono organizzate le soluzioni e scegliere consapevolmente, anziché inseguire ogni nuovo prodotto.</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63</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Prima di scegliere uno strumento AI: una checklist</a:t>
            </a:r>
            <a:endParaRPr lang="en-US" sz="2600" dirty="0"/>
          </a:p>
        </p:txBody>
      </p:sp>
      <p:sp>
        <p:nvSpPr>
          <p:cNvPr id="4" name="check 1"/>
          <p:cNvSpPr/>
          <p:nvPr/>
        </p:nvSpPr>
        <p:spPr>
          <a:xfrm>
            <a:off x="457200" y="1024128"/>
            <a:ext cx="8229600" cy="374904"/>
          </a:xfrm>
          <a:prstGeom prst="roundRect">
            <a:avLst>
              <a:gd name="adj" fmla="val 19512"/>
            </a:avLst>
          </a:prstGeom>
          <a:solidFill>
            <a:schemeClr val="bg2"/>
          </a:solidFill>
          <a:ln/>
        </p:spPr>
        <p:txBody>
          <a:bodyPr/>
          <a:lstStyle/>
          <a:p>
            <a:endParaRPr lang="it-IT"/>
          </a:p>
        </p:txBody>
      </p:sp>
      <p:sp>
        <p:nvSpPr>
          <p:cNvPr id="5" name="casella"/>
          <p:cNvSpPr/>
          <p:nvPr/>
        </p:nvSpPr>
        <p:spPr>
          <a:xfrm>
            <a:off x="566928" y="1097280"/>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6" name="cerchio FiTarget"/>
          <p:cNvSpPr/>
          <p:nvPr/>
        </p:nvSpPr>
        <p:spPr>
          <a:xfrm>
            <a:off x="914400" y="1051560"/>
            <a:ext cx="320040" cy="320040"/>
          </a:xfrm>
          <a:prstGeom prst="ellipse">
            <a:avLst/>
          </a:prstGeom>
          <a:solidFill>
            <a:schemeClr val="accent1"/>
          </a:solidFill>
          <a:ln/>
        </p:spPr>
        <p:txBody>
          <a:bodyPr/>
          <a:lstStyle/>
          <a:p>
            <a:endParaRPr lang="it-IT"/>
          </a:p>
        </p:txBody>
      </p:sp>
      <p:pic>
        <p:nvPicPr>
          <p:cNvPr id="7" name="Image 0" descr="FiTarget"/>
          <p:cNvPicPr>
            <a:picLocks noChangeAspect="1"/>
          </p:cNvPicPr>
          <p:nvPr/>
        </p:nvPicPr>
        <p:blipFill>
          <a:blip r:embed="rId3"/>
          <a:stretch>
            <a:fillRect/>
          </a:stretch>
        </p:blipFill>
        <p:spPr>
          <a:xfrm>
            <a:off x="994410" y="1131570"/>
            <a:ext cx="160020" cy="160020"/>
          </a:xfrm>
          <a:prstGeom prst="rect">
            <a:avLst/>
          </a:prstGeom>
        </p:spPr>
      </p:pic>
      <p:sp>
        <p:nvSpPr>
          <p:cNvPr id="8" name="Text 4"/>
          <p:cNvSpPr txBox="1"/>
          <p:nvPr/>
        </p:nvSpPr>
        <p:spPr>
          <a:xfrm>
            <a:off x="1371600" y="1024128"/>
            <a:ext cx="7223760" cy="374904"/>
          </a:xfrm>
          <a:prstGeom prst="rect">
            <a:avLst/>
          </a:prstGeom>
          <a:noFill/>
          <a:ln/>
        </p:spPr>
        <p:txBody>
          <a:bodyPr wrap="square" lIns="0" tIns="0" rIns="0" bIns="0" rtlCol="0" anchor="ctr"/>
          <a:lstStyle/>
          <a:p>
            <a:pPr marL="0" indent="0">
              <a:buNone/>
            </a:pPr>
            <a:r>
              <a:rPr lang="en-US" sz="1300" dirty="0">
                <a:solidFill>
                  <a:schemeClr val="tx1"/>
                </a:solidFill>
              </a:rPr>
              <a:t>Per quali attività, obiettivi e persone?</a:t>
            </a:r>
            <a:endParaRPr lang="en-US" sz="1300" dirty="0"/>
          </a:p>
        </p:txBody>
      </p:sp>
      <p:sp>
        <p:nvSpPr>
          <p:cNvPr id="9" name="check 2"/>
          <p:cNvSpPr/>
          <p:nvPr/>
        </p:nvSpPr>
        <p:spPr>
          <a:xfrm>
            <a:off x="457200" y="1453896"/>
            <a:ext cx="8229600" cy="374904"/>
          </a:xfrm>
          <a:prstGeom prst="roundRect">
            <a:avLst>
              <a:gd name="adj" fmla="val 19512"/>
            </a:avLst>
          </a:prstGeom>
          <a:solidFill>
            <a:schemeClr val="bg1"/>
          </a:solidFill>
          <a:ln/>
        </p:spPr>
        <p:txBody>
          <a:bodyPr/>
          <a:lstStyle/>
          <a:p>
            <a:endParaRPr lang="it-IT"/>
          </a:p>
        </p:txBody>
      </p:sp>
      <p:sp>
        <p:nvSpPr>
          <p:cNvPr id="10" name="casella"/>
          <p:cNvSpPr/>
          <p:nvPr/>
        </p:nvSpPr>
        <p:spPr>
          <a:xfrm>
            <a:off x="566928" y="1527048"/>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11" name="cerchio FiLayers"/>
          <p:cNvSpPr/>
          <p:nvPr/>
        </p:nvSpPr>
        <p:spPr>
          <a:xfrm>
            <a:off x="914400" y="1481328"/>
            <a:ext cx="320040" cy="320040"/>
          </a:xfrm>
          <a:prstGeom prst="ellipse">
            <a:avLst/>
          </a:prstGeom>
          <a:solidFill>
            <a:schemeClr val="accent1"/>
          </a:solidFill>
          <a:ln/>
        </p:spPr>
        <p:txBody>
          <a:bodyPr/>
          <a:lstStyle/>
          <a:p>
            <a:endParaRPr lang="it-IT"/>
          </a:p>
        </p:txBody>
      </p:sp>
      <p:pic>
        <p:nvPicPr>
          <p:cNvPr id="12" name="Image 1" descr="FiLayers"/>
          <p:cNvPicPr>
            <a:picLocks noChangeAspect="1"/>
          </p:cNvPicPr>
          <p:nvPr/>
        </p:nvPicPr>
        <p:blipFill>
          <a:blip r:embed="rId4"/>
          <a:stretch>
            <a:fillRect/>
          </a:stretch>
        </p:blipFill>
        <p:spPr>
          <a:xfrm>
            <a:off x="994410" y="1561338"/>
            <a:ext cx="160020" cy="160020"/>
          </a:xfrm>
          <a:prstGeom prst="rect">
            <a:avLst/>
          </a:prstGeom>
        </p:spPr>
      </p:pic>
      <p:sp>
        <p:nvSpPr>
          <p:cNvPr id="13" name="Text 8"/>
          <p:cNvSpPr txBox="1"/>
          <p:nvPr/>
        </p:nvSpPr>
        <p:spPr>
          <a:xfrm>
            <a:off x="1371600" y="1453896"/>
            <a:ext cx="7223760" cy="374904"/>
          </a:xfrm>
          <a:prstGeom prst="rect">
            <a:avLst/>
          </a:prstGeom>
          <a:noFill/>
          <a:ln/>
        </p:spPr>
        <p:txBody>
          <a:bodyPr wrap="square" lIns="0" tIns="0" rIns="0" bIns="0" rtlCol="0" anchor="ctr"/>
          <a:lstStyle/>
          <a:p>
            <a:pPr marL="0" indent="0">
              <a:buNone/>
            </a:pPr>
            <a:r>
              <a:rPr lang="en-US" sz="1300" dirty="0">
                <a:solidFill>
                  <a:schemeClr val="tx1"/>
                </a:solidFill>
              </a:rPr>
              <a:t>Modello, applicazione o piattaforma? Quali componenti?</a:t>
            </a:r>
            <a:endParaRPr lang="en-US" sz="1300" dirty="0"/>
          </a:p>
        </p:txBody>
      </p:sp>
      <p:sp>
        <p:nvSpPr>
          <p:cNvPr id="14" name="check 3"/>
          <p:cNvSpPr/>
          <p:nvPr/>
        </p:nvSpPr>
        <p:spPr>
          <a:xfrm>
            <a:off x="457200" y="1883664"/>
            <a:ext cx="8229600" cy="374904"/>
          </a:xfrm>
          <a:prstGeom prst="roundRect">
            <a:avLst>
              <a:gd name="adj" fmla="val 19512"/>
            </a:avLst>
          </a:prstGeom>
          <a:solidFill>
            <a:schemeClr val="bg2"/>
          </a:solidFill>
          <a:ln/>
        </p:spPr>
        <p:txBody>
          <a:bodyPr/>
          <a:lstStyle/>
          <a:p>
            <a:endParaRPr lang="it-IT"/>
          </a:p>
        </p:txBody>
      </p:sp>
      <p:sp>
        <p:nvSpPr>
          <p:cNvPr id="15" name="casella"/>
          <p:cNvSpPr/>
          <p:nvPr/>
        </p:nvSpPr>
        <p:spPr>
          <a:xfrm>
            <a:off x="566928" y="1956816"/>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16" name="cerchio FiGrid"/>
          <p:cNvSpPr/>
          <p:nvPr/>
        </p:nvSpPr>
        <p:spPr>
          <a:xfrm>
            <a:off x="914400" y="1911096"/>
            <a:ext cx="320040" cy="320040"/>
          </a:xfrm>
          <a:prstGeom prst="ellipse">
            <a:avLst/>
          </a:prstGeom>
          <a:solidFill>
            <a:schemeClr val="accent1"/>
          </a:solidFill>
          <a:ln/>
        </p:spPr>
        <p:txBody>
          <a:bodyPr/>
          <a:lstStyle/>
          <a:p>
            <a:endParaRPr lang="it-IT"/>
          </a:p>
        </p:txBody>
      </p:sp>
      <p:pic>
        <p:nvPicPr>
          <p:cNvPr id="17" name="Image 2" descr="FiGrid"/>
          <p:cNvPicPr>
            <a:picLocks noChangeAspect="1"/>
          </p:cNvPicPr>
          <p:nvPr/>
        </p:nvPicPr>
        <p:blipFill>
          <a:blip r:embed="rId5"/>
          <a:stretch>
            <a:fillRect/>
          </a:stretch>
        </p:blipFill>
        <p:spPr>
          <a:xfrm>
            <a:off x="994410" y="1991106"/>
            <a:ext cx="160020" cy="160020"/>
          </a:xfrm>
          <a:prstGeom prst="rect">
            <a:avLst/>
          </a:prstGeom>
        </p:spPr>
      </p:pic>
      <p:sp>
        <p:nvSpPr>
          <p:cNvPr id="18" name="Text 12"/>
          <p:cNvSpPr txBox="1"/>
          <p:nvPr/>
        </p:nvSpPr>
        <p:spPr>
          <a:xfrm>
            <a:off x="1371600" y="1883664"/>
            <a:ext cx="7223760" cy="374904"/>
          </a:xfrm>
          <a:prstGeom prst="rect">
            <a:avLst/>
          </a:prstGeom>
          <a:noFill/>
          <a:ln/>
        </p:spPr>
        <p:txBody>
          <a:bodyPr wrap="square" lIns="0" tIns="0" rIns="0" bIns="0" rtlCol="0" anchor="ctr"/>
          <a:lstStyle/>
          <a:p>
            <a:pPr marL="0" indent="0">
              <a:buNone/>
            </a:pPr>
            <a:r>
              <a:rPr lang="en-US" sz="1300" dirty="0">
                <a:solidFill>
                  <a:schemeClr val="tx1"/>
                </a:solidFill>
              </a:rPr>
              <a:t>Ci sono già funzioni AI nei software in uso?</a:t>
            </a:r>
            <a:endParaRPr lang="en-US" sz="1300" dirty="0"/>
          </a:p>
        </p:txBody>
      </p:sp>
      <p:sp>
        <p:nvSpPr>
          <p:cNvPr id="19" name="check 4"/>
          <p:cNvSpPr/>
          <p:nvPr/>
        </p:nvSpPr>
        <p:spPr>
          <a:xfrm>
            <a:off x="457200" y="2313432"/>
            <a:ext cx="8229600" cy="374904"/>
          </a:xfrm>
          <a:prstGeom prst="roundRect">
            <a:avLst>
              <a:gd name="adj" fmla="val 19512"/>
            </a:avLst>
          </a:prstGeom>
          <a:solidFill>
            <a:schemeClr val="bg1"/>
          </a:solidFill>
          <a:ln/>
        </p:spPr>
        <p:txBody>
          <a:bodyPr/>
          <a:lstStyle/>
          <a:p>
            <a:endParaRPr lang="it-IT"/>
          </a:p>
        </p:txBody>
      </p:sp>
      <p:sp>
        <p:nvSpPr>
          <p:cNvPr id="20" name="casella"/>
          <p:cNvSpPr/>
          <p:nvPr/>
        </p:nvSpPr>
        <p:spPr>
          <a:xfrm>
            <a:off x="566928" y="2386584"/>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21" name="cerchio FiSliders"/>
          <p:cNvSpPr/>
          <p:nvPr/>
        </p:nvSpPr>
        <p:spPr>
          <a:xfrm>
            <a:off x="914400" y="2340864"/>
            <a:ext cx="320040" cy="320040"/>
          </a:xfrm>
          <a:prstGeom prst="ellipse">
            <a:avLst/>
          </a:prstGeom>
          <a:solidFill>
            <a:schemeClr val="accent1"/>
          </a:solidFill>
          <a:ln/>
        </p:spPr>
        <p:txBody>
          <a:bodyPr/>
          <a:lstStyle/>
          <a:p>
            <a:endParaRPr lang="it-IT"/>
          </a:p>
        </p:txBody>
      </p:sp>
      <p:pic>
        <p:nvPicPr>
          <p:cNvPr id="22" name="Image 3" descr="FiSliders"/>
          <p:cNvPicPr>
            <a:picLocks noChangeAspect="1"/>
          </p:cNvPicPr>
          <p:nvPr/>
        </p:nvPicPr>
        <p:blipFill>
          <a:blip r:embed="rId6"/>
          <a:stretch>
            <a:fillRect/>
          </a:stretch>
        </p:blipFill>
        <p:spPr>
          <a:xfrm>
            <a:off x="994410" y="2420874"/>
            <a:ext cx="160020" cy="160020"/>
          </a:xfrm>
          <a:prstGeom prst="rect">
            <a:avLst/>
          </a:prstGeom>
        </p:spPr>
      </p:pic>
      <p:sp>
        <p:nvSpPr>
          <p:cNvPr id="23" name="Text 16"/>
          <p:cNvSpPr txBox="1"/>
          <p:nvPr/>
        </p:nvSpPr>
        <p:spPr>
          <a:xfrm>
            <a:off x="1371600" y="2313432"/>
            <a:ext cx="7223760" cy="374904"/>
          </a:xfrm>
          <a:prstGeom prst="rect">
            <a:avLst/>
          </a:prstGeom>
          <a:noFill/>
          <a:ln/>
        </p:spPr>
        <p:txBody>
          <a:bodyPr wrap="square" lIns="0" tIns="0" rIns="0" bIns="0" rtlCol="0" anchor="ctr"/>
          <a:lstStyle/>
          <a:p>
            <a:pPr marL="0" indent="0">
              <a:buNone/>
            </a:pPr>
            <a:r>
              <a:rPr lang="en-US" sz="1300" dirty="0">
                <a:solidFill>
                  <a:schemeClr val="tx1"/>
                </a:solidFill>
              </a:rPr>
              <a:t>Che autonomia ha? Dove interviene la persona?</a:t>
            </a:r>
            <a:endParaRPr lang="en-US" sz="1300" dirty="0"/>
          </a:p>
        </p:txBody>
      </p:sp>
      <p:sp>
        <p:nvSpPr>
          <p:cNvPr id="24" name="check 5"/>
          <p:cNvSpPr/>
          <p:nvPr/>
        </p:nvSpPr>
        <p:spPr>
          <a:xfrm>
            <a:off x="457200" y="2743200"/>
            <a:ext cx="8229600" cy="374904"/>
          </a:xfrm>
          <a:prstGeom prst="roundRect">
            <a:avLst>
              <a:gd name="adj" fmla="val 19512"/>
            </a:avLst>
          </a:prstGeom>
          <a:solidFill>
            <a:schemeClr val="bg2"/>
          </a:solidFill>
          <a:ln/>
        </p:spPr>
        <p:txBody>
          <a:bodyPr/>
          <a:lstStyle/>
          <a:p>
            <a:endParaRPr lang="it-IT"/>
          </a:p>
        </p:txBody>
      </p:sp>
      <p:sp>
        <p:nvSpPr>
          <p:cNvPr id="25" name="casella"/>
          <p:cNvSpPr/>
          <p:nvPr/>
        </p:nvSpPr>
        <p:spPr>
          <a:xfrm>
            <a:off x="566928" y="2816352"/>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26" name="cerchio FiCheckSquare"/>
          <p:cNvSpPr/>
          <p:nvPr/>
        </p:nvSpPr>
        <p:spPr>
          <a:xfrm>
            <a:off x="914400" y="2770632"/>
            <a:ext cx="320040" cy="320040"/>
          </a:xfrm>
          <a:prstGeom prst="ellipse">
            <a:avLst/>
          </a:prstGeom>
          <a:solidFill>
            <a:schemeClr val="accent1"/>
          </a:solidFill>
          <a:ln/>
        </p:spPr>
        <p:txBody>
          <a:bodyPr/>
          <a:lstStyle/>
          <a:p>
            <a:endParaRPr lang="it-IT"/>
          </a:p>
        </p:txBody>
      </p:sp>
      <p:pic>
        <p:nvPicPr>
          <p:cNvPr id="27" name="Image 4" descr="FiCheckSquare"/>
          <p:cNvPicPr>
            <a:picLocks noChangeAspect="1"/>
          </p:cNvPicPr>
          <p:nvPr/>
        </p:nvPicPr>
        <p:blipFill>
          <a:blip r:embed="rId7"/>
          <a:stretch>
            <a:fillRect/>
          </a:stretch>
        </p:blipFill>
        <p:spPr>
          <a:xfrm>
            <a:off x="994410" y="2850642"/>
            <a:ext cx="160020" cy="160020"/>
          </a:xfrm>
          <a:prstGeom prst="rect">
            <a:avLst/>
          </a:prstGeom>
        </p:spPr>
      </p:pic>
      <p:sp>
        <p:nvSpPr>
          <p:cNvPr id="28" name="Text 20"/>
          <p:cNvSpPr txBox="1"/>
          <p:nvPr/>
        </p:nvSpPr>
        <p:spPr>
          <a:xfrm>
            <a:off x="1371600" y="2743200"/>
            <a:ext cx="7223760" cy="374904"/>
          </a:xfrm>
          <a:prstGeom prst="rect">
            <a:avLst/>
          </a:prstGeom>
          <a:noFill/>
          <a:ln/>
        </p:spPr>
        <p:txBody>
          <a:bodyPr wrap="square" lIns="0" tIns="0" rIns="0" bIns="0" rtlCol="0" anchor="ctr"/>
          <a:lstStyle/>
          <a:p>
            <a:pPr marL="0" indent="0">
              <a:buNone/>
            </a:pPr>
            <a:r>
              <a:rPr lang="en-US" sz="1300" dirty="0">
                <a:solidFill>
                  <a:schemeClr val="tx1"/>
                </a:solidFill>
              </a:rPr>
              <a:t>Le funzioni sono disponibili nel nostro piano, paese, configurazione?</a:t>
            </a:r>
            <a:endParaRPr lang="en-US" sz="1300" dirty="0"/>
          </a:p>
        </p:txBody>
      </p:sp>
      <p:sp>
        <p:nvSpPr>
          <p:cNvPr id="29" name="check 6"/>
          <p:cNvSpPr/>
          <p:nvPr/>
        </p:nvSpPr>
        <p:spPr>
          <a:xfrm>
            <a:off x="457200" y="3172968"/>
            <a:ext cx="8229600" cy="374904"/>
          </a:xfrm>
          <a:prstGeom prst="roundRect">
            <a:avLst>
              <a:gd name="adj" fmla="val 19512"/>
            </a:avLst>
          </a:prstGeom>
          <a:solidFill>
            <a:schemeClr val="bg1"/>
          </a:solidFill>
          <a:ln/>
        </p:spPr>
        <p:txBody>
          <a:bodyPr/>
          <a:lstStyle/>
          <a:p>
            <a:endParaRPr lang="it-IT"/>
          </a:p>
        </p:txBody>
      </p:sp>
      <p:sp>
        <p:nvSpPr>
          <p:cNvPr id="30" name="casella"/>
          <p:cNvSpPr/>
          <p:nvPr/>
        </p:nvSpPr>
        <p:spPr>
          <a:xfrm>
            <a:off x="566928" y="3246120"/>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31" name="cerchio FiShield"/>
          <p:cNvSpPr/>
          <p:nvPr/>
        </p:nvSpPr>
        <p:spPr>
          <a:xfrm>
            <a:off x="914400" y="3200400"/>
            <a:ext cx="320040" cy="320040"/>
          </a:xfrm>
          <a:prstGeom prst="ellipse">
            <a:avLst/>
          </a:prstGeom>
          <a:solidFill>
            <a:schemeClr val="accent1"/>
          </a:solidFill>
          <a:ln/>
        </p:spPr>
        <p:txBody>
          <a:bodyPr/>
          <a:lstStyle/>
          <a:p>
            <a:endParaRPr lang="it-IT"/>
          </a:p>
        </p:txBody>
      </p:sp>
      <p:pic>
        <p:nvPicPr>
          <p:cNvPr id="32" name="Image 5" descr="FiShield"/>
          <p:cNvPicPr>
            <a:picLocks noChangeAspect="1"/>
          </p:cNvPicPr>
          <p:nvPr/>
        </p:nvPicPr>
        <p:blipFill>
          <a:blip r:embed="rId8"/>
          <a:stretch>
            <a:fillRect/>
          </a:stretch>
        </p:blipFill>
        <p:spPr>
          <a:xfrm>
            <a:off x="994410" y="3280410"/>
            <a:ext cx="160020" cy="160020"/>
          </a:xfrm>
          <a:prstGeom prst="rect">
            <a:avLst/>
          </a:prstGeom>
        </p:spPr>
      </p:pic>
      <p:sp>
        <p:nvSpPr>
          <p:cNvPr id="33" name="Text 24"/>
          <p:cNvSpPr txBox="1"/>
          <p:nvPr/>
        </p:nvSpPr>
        <p:spPr>
          <a:xfrm>
            <a:off x="1371600" y="3172968"/>
            <a:ext cx="7223760" cy="374904"/>
          </a:xfrm>
          <a:prstGeom prst="rect">
            <a:avLst/>
          </a:prstGeom>
          <a:noFill/>
          <a:ln/>
        </p:spPr>
        <p:txBody>
          <a:bodyPr wrap="square" lIns="0" tIns="0" rIns="0" bIns="0" rtlCol="0" anchor="ctr"/>
          <a:lstStyle/>
          <a:p>
            <a:pPr marL="0" indent="0">
              <a:buNone/>
            </a:pPr>
            <a:r>
              <a:rPr lang="en-US" sz="1300" dirty="0">
                <a:solidFill>
                  <a:schemeClr val="tx1"/>
                </a:solidFill>
              </a:rPr>
              <a:t>Che cosa succede ai dati? Quali controlli abbiamo?</a:t>
            </a:r>
            <a:endParaRPr lang="en-US" sz="1300" dirty="0"/>
          </a:p>
        </p:txBody>
      </p:sp>
      <p:sp>
        <p:nvSpPr>
          <p:cNvPr id="34" name="check 7"/>
          <p:cNvSpPr/>
          <p:nvPr/>
        </p:nvSpPr>
        <p:spPr>
          <a:xfrm>
            <a:off x="457200" y="3602736"/>
            <a:ext cx="8229600" cy="374904"/>
          </a:xfrm>
          <a:prstGeom prst="roundRect">
            <a:avLst>
              <a:gd name="adj" fmla="val 19512"/>
            </a:avLst>
          </a:prstGeom>
          <a:solidFill>
            <a:schemeClr val="bg2"/>
          </a:solidFill>
          <a:ln/>
        </p:spPr>
        <p:txBody>
          <a:bodyPr/>
          <a:lstStyle/>
          <a:p>
            <a:endParaRPr lang="it-IT"/>
          </a:p>
        </p:txBody>
      </p:sp>
      <p:sp>
        <p:nvSpPr>
          <p:cNvPr id="35" name="casella"/>
          <p:cNvSpPr/>
          <p:nvPr/>
        </p:nvSpPr>
        <p:spPr>
          <a:xfrm>
            <a:off x="566928" y="3675888"/>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36" name="cerchio FiDollarSign"/>
          <p:cNvSpPr/>
          <p:nvPr/>
        </p:nvSpPr>
        <p:spPr>
          <a:xfrm>
            <a:off x="914400" y="3630168"/>
            <a:ext cx="320040" cy="320040"/>
          </a:xfrm>
          <a:prstGeom prst="ellipse">
            <a:avLst/>
          </a:prstGeom>
          <a:solidFill>
            <a:schemeClr val="accent1"/>
          </a:solidFill>
          <a:ln/>
        </p:spPr>
        <p:txBody>
          <a:bodyPr/>
          <a:lstStyle/>
          <a:p>
            <a:endParaRPr lang="it-IT"/>
          </a:p>
        </p:txBody>
      </p:sp>
      <p:pic>
        <p:nvPicPr>
          <p:cNvPr id="37" name="Image 6" descr="FiDollarSign"/>
          <p:cNvPicPr>
            <a:picLocks noChangeAspect="1"/>
          </p:cNvPicPr>
          <p:nvPr/>
        </p:nvPicPr>
        <p:blipFill>
          <a:blip r:embed="rId9"/>
          <a:stretch>
            <a:fillRect/>
          </a:stretch>
        </p:blipFill>
        <p:spPr>
          <a:xfrm>
            <a:off x="994410" y="3710178"/>
            <a:ext cx="160020" cy="160020"/>
          </a:xfrm>
          <a:prstGeom prst="rect">
            <a:avLst/>
          </a:prstGeom>
        </p:spPr>
      </p:pic>
      <p:sp>
        <p:nvSpPr>
          <p:cNvPr id="38" name="Text 28"/>
          <p:cNvSpPr txBox="1"/>
          <p:nvPr/>
        </p:nvSpPr>
        <p:spPr>
          <a:xfrm>
            <a:off x="1371600" y="3602736"/>
            <a:ext cx="7223760" cy="374904"/>
          </a:xfrm>
          <a:prstGeom prst="rect">
            <a:avLst/>
          </a:prstGeom>
          <a:noFill/>
          <a:ln/>
        </p:spPr>
        <p:txBody>
          <a:bodyPr wrap="square" lIns="0" tIns="0" rIns="0" bIns="0" rtlCol="0" anchor="ctr"/>
          <a:lstStyle/>
          <a:p>
            <a:pPr marL="0" indent="0">
              <a:buNone/>
            </a:pPr>
            <a:r>
              <a:rPr lang="en-US" sz="1300" dirty="0">
                <a:solidFill>
                  <a:schemeClr val="tx1"/>
                </a:solidFill>
              </a:rPr>
              <a:t>Quanto costa davvero, oltre il listino?</a:t>
            </a:r>
            <a:endParaRPr lang="en-US" sz="1300" dirty="0"/>
          </a:p>
        </p:txBody>
      </p:sp>
      <p:sp>
        <p:nvSpPr>
          <p:cNvPr id="39" name="check 8"/>
          <p:cNvSpPr/>
          <p:nvPr/>
        </p:nvSpPr>
        <p:spPr>
          <a:xfrm>
            <a:off x="457200" y="4032504"/>
            <a:ext cx="8229600" cy="374904"/>
          </a:xfrm>
          <a:prstGeom prst="roundRect">
            <a:avLst>
              <a:gd name="adj" fmla="val 19512"/>
            </a:avLst>
          </a:prstGeom>
          <a:solidFill>
            <a:schemeClr val="bg1"/>
          </a:solidFill>
          <a:ln/>
        </p:spPr>
        <p:txBody>
          <a:bodyPr/>
          <a:lstStyle/>
          <a:p>
            <a:endParaRPr lang="it-IT"/>
          </a:p>
        </p:txBody>
      </p:sp>
      <p:sp>
        <p:nvSpPr>
          <p:cNvPr id="40" name="casella"/>
          <p:cNvSpPr/>
          <p:nvPr/>
        </p:nvSpPr>
        <p:spPr>
          <a:xfrm>
            <a:off x="566928" y="4105656"/>
            <a:ext cx="228600" cy="228600"/>
          </a:xfrm>
          <a:prstGeom prst="roundRect">
            <a:avLst>
              <a:gd name="adj" fmla="val 16000"/>
            </a:avLst>
          </a:prstGeom>
          <a:solidFill>
            <a:schemeClr val="bg1"/>
          </a:solidFill>
          <a:ln w="19050">
            <a:solidFill>
              <a:schemeClr val="accent1"/>
            </a:solidFill>
            <a:prstDash val="solid"/>
          </a:ln>
        </p:spPr>
        <p:txBody>
          <a:bodyPr/>
          <a:lstStyle/>
          <a:p>
            <a:endParaRPr lang="it-IT"/>
          </a:p>
        </p:txBody>
      </p:sp>
      <p:sp>
        <p:nvSpPr>
          <p:cNvPr id="41" name="cerchio FiLogOut"/>
          <p:cNvSpPr/>
          <p:nvPr/>
        </p:nvSpPr>
        <p:spPr>
          <a:xfrm>
            <a:off x="914400" y="4059936"/>
            <a:ext cx="320040" cy="320040"/>
          </a:xfrm>
          <a:prstGeom prst="ellipse">
            <a:avLst/>
          </a:prstGeom>
          <a:solidFill>
            <a:schemeClr val="accent1"/>
          </a:solidFill>
          <a:ln/>
        </p:spPr>
        <p:txBody>
          <a:bodyPr/>
          <a:lstStyle/>
          <a:p>
            <a:endParaRPr lang="it-IT"/>
          </a:p>
        </p:txBody>
      </p:sp>
      <p:pic>
        <p:nvPicPr>
          <p:cNvPr id="42" name="Image 7" descr="FiLogOut"/>
          <p:cNvPicPr>
            <a:picLocks noChangeAspect="1"/>
          </p:cNvPicPr>
          <p:nvPr/>
        </p:nvPicPr>
        <p:blipFill>
          <a:blip r:embed="rId10"/>
          <a:stretch>
            <a:fillRect/>
          </a:stretch>
        </p:blipFill>
        <p:spPr>
          <a:xfrm>
            <a:off x="994410" y="4139946"/>
            <a:ext cx="160020" cy="160020"/>
          </a:xfrm>
          <a:prstGeom prst="rect">
            <a:avLst/>
          </a:prstGeom>
        </p:spPr>
      </p:pic>
      <p:sp>
        <p:nvSpPr>
          <p:cNvPr id="43" name="Text 32"/>
          <p:cNvSpPr txBox="1"/>
          <p:nvPr/>
        </p:nvSpPr>
        <p:spPr>
          <a:xfrm>
            <a:off x="1371600" y="4032504"/>
            <a:ext cx="7223760" cy="374904"/>
          </a:xfrm>
          <a:prstGeom prst="rect">
            <a:avLst/>
          </a:prstGeom>
          <a:noFill/>
          <a:ln/>
        </p:spPr>
        <p:txBody>
          <a:bodyPr wrap="square" lIns="0" tIns="0" rIns="0" bIns="0" rtlCol="0" anchor="ctr"/>
          <a:lstStyle/>
          <a:p>
            <a:pPr marL="0" indent="0">
              <a:buNone/>
            </a:pPr>
            <a:r>
              <a:rPr lang="en-US" sz="1300" dirty="0">
                <a:solidFill>
                  <a:schemeClr val="tx1"/>
                </a:solidFill>
              </a:rPr>
              <a:t>Possiamo uscire, portando dati e configurazioni?</a:t>
            </a:r>
            <a:endParaRPr lang="en-US" sz="1300" dirty="0"/>
          </a:p>
        </p:txBody>
      </p:sp>
      <p:sp>
        <p:nvSpPr>
          <p:cNvPr id="44" name="Text 33"/>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200" i="1" dirty="0">
                <a:solidFill>
                  <a:schemeClr val="tx1"/>
                </a:solidFill>
              </a:rPr>
              <a:t>Se a una domanda non sappiamo rispondere, è un'informazione da cercare prima della scelta.</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67</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Prossimo passo: il Tema 5</a:t>
            </a:r>
            <a:endParaRPr lang="en-US" sz="2600" dirty="0"/>
          </a:p>
        </p:txBody>
      </p:sp>
      <p:sp>
        <p:nvSpPr>
          <p:cNvPr id="4" name="area comprendere"/>
          <p:cNvSpPr/>
          <p:nvPr/>
        </p:nvSpPr>
        <p:spPr>
          <a:xfrm>
            <a:off x="457200" y="1097280"/>
            <a:ext cx="3291840" cy="3429000"/>
          </a:xfrm>
          <a:prstGeom prst="roundRect">
            <a:avLst>
              <a:gd name="adj" fmla="val 2222"/>
            </a:avLst>
          </a:prstGeom>
          <a:solidFill>
            <a:schemeClr val="bg2"/>
          </a:solidFill>
          <a:ln/>
        </p:spPr>
        <p:txBody>
          <a:bodyPr/>
          <a:lstStyle/>
          <a:p>
            <a:endParaRPr lang="it-IT"/>
          </a:p>
        </p:txBody>
      </p:sp>
      <p:sp>
        <p:nvSpPr>
          <p:cNvPr id="5" name="Text 2"/>
          <p:cNvSpPr txBox="1"/>
          <p:nvPr/>
        </p:nvSpPr>
        <p:spPr>
          <a:xfrm>
            <a:off x="685800" y="1280160"/>
            <a:ext cx="283464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AREA COMPLETATA</a:t>
            </a:r>
            <a:endParaRPr lang="en-US" sz="1300" dirty="0"/>
          </a:p>
        </p:txBody>
      </p:sp>
      <p:sp>
        <p:nvSpPr>
          <p:cNvPr id="6" name="Text 3"/>
          <p:cNvSpPr txBox="1"/>
          <p:nvPr/>
        </p:nvSpPr>
        <p:spPr>
          <a:xfrm>
            <a:off x="685800" y="1645920"/>
            <a:ext cx="2834640" cy="457200"/>
          </a:xfrm>
          <a:prstGeom prst="rect">
            <a:avLst/>
          </a:prstGeom>
          <a:noFill/>
          <a:ln/>
        </p:spPr>
        <p:txBody>
          <a:bodyPr wrap="square" lIns="0" tIns="0" rIns="0" bIns="0" rtlCol="0" anchor="t"/>
          <a:lstStyle/>
          <a:p>
            <a:pPr marL="0" indent="0">
              <a:buNone/>
            </a:pPr>
            <a:r>
              <a:rPr lang="en-US" sz="1800" b="1" dirty="0">
                <a:solidFill>
                  <a:schemeClr val="tx1"/>
                </a:solidFill>
              </a:rPr>
              <a:t>Comprendere l'AI</a:t>
            </a:r>
            <a:endParaRPr lang="en-US" sz="1800" dirty="0"/>
          </a:p>
        </p:txBody>
      </p:sp>
      <p:sp>
        <p:nvSpPr>
          <p:cNvPr id="7" name="Text 4"/>
          <p:cNvSpPr txBox="1"/>
          <p:nvPr/>
        </p:nvSpPr>
        <p:spPr>
          <a:xfrm>
            <a:off x="685800" y="2240280"/>
            <a:ext cx="2926080" cy="2011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Tema 1: evoluzione e rilevanza</a:t>
            </a:r>
            <a:endParaRPr lang="en-US" sz="1300" dirty="0"/>
          </a:p>
          <a:p>
            <a:pPr marL="177800" indent="-177800">
              <a:spcAft>
                <a:spcPts val="400"/>
              </a:spcAft>
              <a:buSzPct val="100000"/>
              <a:buChar char="•"/>
            </a:pPr>
            <a:r>
              <a:rPr lang="en-US" sz="1300" dirty="0">
                <a:solidFill>
                  <a:schemeClr val="tx2"/>
                </a:solidFill>
              </a:rPr>
              <a:t>Tema 2: fondamenti e funzionamento</a:t>
            </a:r>
            <a:endParaRPr lang="en-US" sz="1300" dirty="0"/>
          </a:p>
          <a:p>
            <a:pPr marL="177800" indent="-177800">
              <a:spcAft>
                <a:spcPts val="400"/>
              </a:spcAft>
              <a:buSzPct val="100000"/>
              <a:buChar char="•"/>
            </a:pPr>
            <a:r>
              <a:rPr lang="en-US" sz="1300" dirty="0">
                <a:solidFill>
                  <a:schemeClr val="tx2"/>
                </a:solidFill>
              </a:rPr>
              <a:t>Tema 3: capacità, limiti, affidabilità</a:t>
            </a:r>
            <a:endParaRPr lang="en-US" sz="1300" dirty="0"/>
          </a:p>
          <a:p>
            <a:pPr marL="177800" indent="-177800">
              <a:spcAft>
                <a:spcPts val="400"/>
              </a:spcAft>
              <a:buSzPct val="100000"/>
              <a:buChar char="•"/>
            </a:pPr>
            <a:r>
              <a:rPr lang="en-US" sz="1300" dirty="0">
                <a:solidFill>
                  <a:schemeClr val="tx2"/>
                </a:solidFill>
              </a:rPr>
              <a:t>Tema 4: ecosistema AI</a:t>
            </a:r>
            <a:endParaRPr lang="en-US" sz="1300" dirty="0"/>
          </a:p>
        </p:txBody>
      </p:sp>
      <p:sp>
        <p:nvSpPr>
          <p:cNvPr id="8" name="freccia"/>
          <p:cNvSpPr/>
          <p:nvPr/>
        </p:nvSpPr>
        <p:spPr>
          <a:xfrm>
            <a:off x="3886200" y="2651760"/>
            <a:ext cx="502920" cy="292608"/>
          </a:xfrm>
          <a:prstGeom prst="rightArrow">
            <a:avLst/>
          </a:prstGeom>
          <a:solidFill>
            <a:schemeClr val="accent1"/>
          </a:solidFill>
          <a:ln/>
        </p:spPr>
        <p:txBody>
          <a:bodyPr/>
          <a:lstStyle/>
          <a:p>
            <a:endParaRPr lang="it-IT"/>
          </a:p>
        </p:txBody>
      </p:sp>
      <p:sp>
        <p:nvSpPr>
          <p:cNvPr id="9" name="tema 5"/>
          <p:cNvSpPr/>
          <p:nvPr/>
        </p:nvSpPr>
        <p:spPr>
          <a:xfrm>
            <a:off x="4526280" y="1097280"/>
            <a:ext cx="4160520" cy="3429000"/>
          </a:xfrm>
          <a:prstGeom prst="roundRect">
            <a:avLst>
              <a:gd name="adj" fmla="val 2133"/>
            </a:avLst>
          </a:prstGeom>
          <a:solidFill>
            <a:schemeClr val="tx1"/>
          </a:solidFill>
          <a:ln/>
        </p:spPr>
        <p:txBody>
          <a:bodyPr/>
          <a:lstStyle/>
          <a:p>
            <a:endParaRPr lang="it-IT"/>
          </a:p>
        </p:txBody>
      </p:sp>
      <p:sp>
        <p:nvSpPr>
          <p:cNvPr id="10" name="Text 7"/>
          <p:cNvSpPr txBox="1"/>
          <p:nvPr/>
        </p:nvSpPr>
        <p:spPr>
          <a:xfrm>
            <a:off x="4754880" y="1280160"/>
            <a:ext cx="3657600" cy="320040"/>
          </a:xfrm>
          <a:prstGeom prst="rect">
            <a:avLst/>
          </a:prstGeom>
          <a:noFill/>
          <a:ln/>
        </p:spPr>
        <p:txBody>
          <a:bodyPr wrap="square" lIns="0" tIns="0" rIns="0" bIns="0" rtlCol="0" anchor="t"/>
          <a:lstStyle/>
          <a:p>
            <a:pPr marL="0" indent="0">
              <a:buNone/>
            </a:pPr>
            <a:r>
              <a:rPr lang="en-US" sz="1300" b="1" kern="0" spc="200" dirty="0">
                <a:solidFill>
                  <a:schemeClr val="accent1"/>
                </a:solidFill>
              </a:rPr>
              <a:t>TEMA 5</a:t>
            </a:r>
            <a:endParaRPr lang="en-US" sz="1300" dirty="0"/>
          </a:p>
        </p:txBody>
      </p:sp>
      <p:sp>
        <p:nvSpPr>
          <p:cNvPr id="11" name="Text 8"/>
          <p:cNvSpPr txBox="1"/>
          <p:nvPr/>
        </p:nvSpPr>
        <p:spPr>
          <a:xfrm>
            <a:off x="4754880" y="1645920"/>
            <a:ext cx="3749040" cy="457200"/>
          </a:xfrm>
          <a:prstGeom prst="rect">
            <a:avLst/>
          </a:prstGeom>
          <a:noFill/>
          <a:ln/>
        </p:spPr>
        <p:txBody>
          <a:bodyPr wrap="square" lIns="0" tIns="0" rIns="0" bIns="0" rtlCol="0" anchor="t"/>
          <a:lstStyle/>
          <a:p>
            <a:pPr marL="0" indent="0">
              <a:buNone/>
            </a:pPr>
            <a:r>
              <a:rPr lang="en-US" sz="1800" b="1" dirty="0">
                <a:solidFill>
                  <a:schemeClr val="bg1"/>
                </a:solidFill>
              </a:rPr>
              <a:t>Il dialogo uomo-AI</a:t>
            </a:r>
            <a:endParaRPr lang="en-US" sz="1800" dirty="0"/>
          </a:p>
        </p:txBody>
      </p:sp>
      <p:sp>
        <p:nvSpPr>
          <p:cNvPr id="12" name="Text 9"/>
          <p:cNvSpPr txBox="1"/>
          <p:nvPr/>
        </p:nvSpPr>
        <p:spPr>
          <a:xfrm>
            <a:off x="4754880" y="2240280"/>
            <a:ext cx="3749040" cy="21031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accent3"/>
                </a:solidFill>
              </a:rPr>
              <a:t>Il linguaggio naturale come interfaccia</a:t>
            </a:r>
            <a:endParaRPr lang="en-US" sz="1400" dirty="0"/>
          </a:p>
          <a:p>
            <a:pPr marL="177800" indent="-177800">
              <a:spcAft>
                <a:spcPts val="300"/>
              </a:spcAft>
              <a:buSzPct val="100000"/>
              <a:buChar char="•"/>
            </a:pPr>
            <a:r>
              <a:rPr lang="en-US" sz="1400" dirty="0">
                <a:solidFill>
                  <a:schemeClr val="accent3"/>
                </a:solidFill>
              </a:rPr>
              <a:t>Dalla domanda alla conversazione</a:t>
            </a:r>
            <a:endParaRPr lang="en-US" sz="1400" dirty="0"/>
          </a:p>
          <a:p>
            <a:pPr marL="177800" indent="-177800">
              <a:spcAft>
                <a:spcPts val="300"/>
              </a:spcAft>
              <a:buSzPct val="100000"/>
              <a:buChar char="•"/>
            </a:pPr>
            <a:r>
              <a:rPr lang="en-US" sz="1400" dirty="0">
                <a:solidFill>
                  <a:schemeClr val="accent3"/>
                </a:solidFill>
              </a:rPr>
              <a:t>Collaborazione e livelli di delega</a:t>
            </a:r>
            <a:endParaRPr lang="en-US" sz="1400" dirty="0"/>
          </a:p>
          <a:p>
            <a:pPr marL="177800" indent="-177800">
              <a:spcAft>
                <a:spcPts val="300"/>
              </a:spcAft>
              <a:buSzPct val="100000"/>
              <a:buChar char="•"/>
            </a:pPr>
            <a:r>
              <a:rPr lang="en-US" sz="1400" dirty="0">
                <a:solidFill>
                  <a:schemeClr val="accent3"/>
                </a:solidFill>
              </a:rPr>
              <a:t>A seguire, Tema 6: prompting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69</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Un esempio di agente al lavoro</a:t>
            </a:r>
            <a:endParaRPr lang="en-US" sz="2600" dirty="0"/>
          </a:p>
        </p:txBody>
      </p:sp>
      <p:sp>
        <p:nvSpPr>
          <p:cNvPr id="4" name="Definire attività e criteri di successo"/>
          <p:cNvSpPr/>
          <p:nvPr/>
        </p:nvSpPr>
        <p:spPr>
          <a:xfrm>
            <a:off x="457200" y="1143000"/>
            <a:ext cx="1536192" cy="2286000"/>
          </a:xfrm>
          <a:prstGeom prst="roundRect">
            <a:avLst>
              <a:gd name="adj" fmla="val 4762"/>
            </a:avLst>
          </a:prstGeom>
          <a:solidFill>
            <a:schemeClr val="bg2"/>
          </a:solidFill>
          <a:ln/>
        </p:spPr>
        <p:txBody>
          <a:bodyPr/>
          <a:lstStyle/>
          <a:p>
            <a:endParaRPr lang="it-IT"/>
          </a:p>
        </p:txBody>
      </p:sp>
      <p:sp>
        <p:nvSpPr>
          <p:cNvPr id="5" name="cerchio FiTarget"/>
          <p:cNvSpPr/>
          <p:nvPr/>
        </p:nvSpPr>
        <p:spPr>
          <a:xfrm>
            <a:off x="969264" y="1280160"/>
            <a:ext cx="512064" cy="512064"/>
          </a:xfrm>
          <a:prstGeom prst="ellipse">
            <a:avLst/>
          </a:prstGeom>
          <a:solidFill>
            <a:schemeClr val="accent1"/>
          </a:solidFill>
          <a:ln/>
        </p:spPr>
        <p:txBody>
          <a:bodyPr/>
          <a:lstStyle/>
          <a:p>
            <a:endParaRPr lang="it-IT"/>
          </a:p>
        </p:txBody>
      </p:sp>
      <p:pic>
        <p:nvPicPr>
          <p:cNvPr id="6" name="Image 0" descr="FiMessageSquare"/>
          <p:cNvPicPr>
            <a:picLocks noChangeAspect="1"/>
          </p:cNvPicPr>
          <p:nvPr/>
        </p:nvPicPr>
        <p:blipFill>
          <a:blip r:embed="rId8"/>
          <a:stretch>
            <a:fillRect/>
          </a:stretch>
        </p:blipFill>
        <p:spPr>
          <a:xfrm>
            <a:off x="1097280" y="1408176"/>
            <a:ext cx="256032" cy="256032"/>
          </a:xfrm>
          <a:prstGeom prst="rect">
            <a:avLst/>
          </a:prstGeom>
        </p:spPr>
      </p:pic>
      <p:sp>
        <p:nvSpPr>
          <p:cNvPr id="7" name="Text 3"/>
          <p:cNvSpPr txBox="1"/>
          <p:nvPr/>
        </p:nvSpPr>
        <p:spPr>
          <a:xfrm>
            <a:off x="548640"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1.</a:t>
            </a:r>
            <a:endParaRPr lang="en-US" sz="1400" dirty="0"/>
          </a:p>
        </p:txBody>
      </p:sp>
      <p:sp>
        <p:nvSpPr>
          <p:cNvPr id="8" name="Text 4"/>
          <p:cNvSpPr txBox="1"/>
          <p:nvPr/>
        </p:nvSpPr>
        <p:spPr>
          <a:xfrm>
            <a:off x="548640"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Richiesta</a:t>
            </a:r>
            <a:endParaRPr lang="it-IT" sz="1200" dirty="0"/>
          </a:p>
          <a:p>
            <a:pPr marL="0" indent="0" algn="ctr">
              <a:buNone/>
            </a:pPr>
            <a:r>
              <a:rPr lang="it-IT" sz="1050" dirty="0">
                <a:solidFill>
                  <a:schemeClr val="tx2"/>
                </a:solidFill>
              </a:rPr>
              <a:t>"Prepara l'offerta di rinnovo per il cliente Bianchi"</a:t>
            </a:r>
            <a:endParaRPr lang="it-IT" sz="1050" dirty="0"/>
          </a:p>
        </p:txBody>
      </p:sp>
      <p:sp>
        <p:nvSpPr>
          <p:cNvPr id="9" name="Accesso di prova nella configurazione reale"/>
          <p:cNvSpPr/>
          <p:nvPr/>
        </p:nvSpPr>
        <p:spPr>
          <a:xfrm>
            <a:off x="2139696" y="1143000"/>
            <a:ext cx="1536192" cy="2286000"/>
          </a:xfrm>
          <a:prstGeom prst="roundRect">
            <a:avLst>
              <a:gd name="adj" fmla="val 4762"/>
            </a:avLst>
          </a:prstGeom>
          <a:solidFill>
            <a:schemeClr val="bg2"/>
          </a:solidFill>
          <a:ln/>
        </p:spPr>
        <p:txBody>
          <a:bodyPr/>
          <a:lstStyle/>
          <a:p>
            <a:endParaRPr lang="it-IT"/>
          </a:p>
        </p:txBody>
      </p:sp>
      <p:sp>
        <p:nvSpPr>
          <p:cNvPr id="10" name="cerchio FiSettings"/>
          <p:cNvSpPr/>
          <p:nvPr/>
        </p:nvSpPr>
        <p:spPr>
          <a:xfrm>
            <a:off x="2651760" y="1280160"/>
            <a:ext cx="512064" cy="512064"/>
          </a:xfrm>
          <a:prstGeom prst="ellipse">
            <a:avLst/>
          </a:prstGeom>
          <a:solidFill>
            <a:schemeClr val="accent1"/>
          </a:solidFill>
          <a:ln/>
        </p:spPr>
        <p:txBody>
          <a:bodyPr/>
          <a:lstStyle/>
          <a:p>
            <a:endParaRPr lang="it-IT"/>
          </a:p>
        </p:txBody>
      </p:sp>
      <p:pic>
        <p:nvPicPr>
          <p:cNvPr id="11" name="Image 1" descr="FiSearch"/>
          <p:cNvPicPr>
            <a:picLocks noChangeAspect="1"/>
          </p:cNvPicPr>
          <p:nvPr/>
        </p:nvPicPr>
        <p:blipFill>
          <a:blip r:embed="rId9"/>
          <a:stretch>
            <a:fillRect/>
          </a:stretch>
        </p:blipFill>
        <p:spPr>
          <a:xfrm>
            <a:off x="2779776" y="1408176"/>
            <a:ext cx="256032" cy="256032"/>
          </a:xfrm>
          <a:prstGeom prst="rect">
            <a:avLst/>
          </a:prstGeom>
        </p:spPr>
      </p:pic>
      <p:sp>
        <p:nvSpPr>
          <p:cNvPr id="12" name="Text 7"/>
          <p:cNvSpPr txBox="1"/>
          <p:nvPr/>
        </p:nvSpPr>
        <p:spPr>
          <a:xfrm>
            <a:off x="2231136"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2.</a:t>
            </a:r>
            <a:endParaRPr lang="en-US" sz="1400" dirty="0"/>
          </a:p>
        </p:txBody>
      </p:sp>
      <p:sp>
        <p:nvSpPr>
          <p:cNvPr id="13" name="Text 8"/>
          <p:cNvSpPr txBox="1"/>
          <p:nvPr/>
        </p:nvSpPr>
        <p:spPr>
          <a:xfrm>
            <a:off x="2231136"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Ricerca delle informazioni</a:t>
            </a:r>
            <a:endParaRPr lang="it-IT" sz="1200" dirty="0"/>
          </a:p>
          <a:p>
            <a:pPr marL="0" indent="0" algn="ctr">
              <a:buNone/>
            </a:pPr>
            <a:r>
              <a:rPr lang="it-IT" sz="1050" dirty="0">
                <a:solidFill>
                  <a:schemeClr val="tx2"/>
                </a:solidFill>
              </a:rPr>
              <a:t>Storico ordini nel CRM, listino, ultime email</a:t>
            </a:r>
            <a:endParaRPr lang="it-IT" sz="1050" dirty="0"/>
          </a:p>
        </p:txBody>
      </p:sp>
      <p:sp>
        <p:nvSpPr>
          <p:cNvPr id="14" name="Utenti e casi reali, dati autorizzati"/>
          <p:cNvSpPr/>
          <p:nvPr/>
        </p:nvSpPr>
        <p:spPr>
          <a:xfrm>
            <a:off x="3822192" y="1143000"/>
            <a:ext cx="1536192" cy="2286000"/>
          </a:xfrm>
          <a:prstGeom prst="roundRect">
            <a:avLst>
              <a:gd name="adj" fmla="val 4762"/>
            </a:avLst>
          </a:prstGeom>
          <a:solidFill>
            <a:schemeClr val="accent6"/>
          </a:solidFill>
          <a:ln/>
        </p:spPr>
        <p:txBody>
          <a:bodyPr/>
          <a:lstStyle/>
          <a:p>
            <a:endParaRPr lang="it-IT"/>
          </a:p>
        </p:txBody>
      </p:sp>
      <p:sp>
        <p:nvSpPr>
          <p:cNvPr id="15" name="cerchio FiUsers"/>
          <p:cNvSpPr/>
          <p:nvPr/>
        </p:nvSpPr>
        <p:spPr>
          <a:xfrm>
            <a:off x="4334256" y="1280160"/>
            <a:ext cx="512064" cy="512064"/>
          </a:xfrm>
          <a:prstGeom prst="ellipse">
            <a:avLst/>
          </a:prstGeom>
          <a:solidFill>
            <a:schemeClr val="accent1"/>
          </a:solidFill>
          <a:ln/>
        </p:spPr>
        <p:txBody>
          <a:bodyPr/>
          <a:lstStyle/>
          <a:p>
            <a:endParaRPr lang="it-IT"/>
          </a:p>
        </p:txBody>
      </p:sp>
      <p:pic>
        <p:nvPicPr>
          <p:cNvPr id="16" name="Image 2" descr="FiSliders"/>
          <p:cNvPicPr>
            <a:picLocks noChangeAspect="1"/>
          </p:cNvPicPr>
          <p:nvPr/>
        </p:nvPicPr>
        <p:blipFill>
          <a:blip r:embed="rId5"/>
          <a:stretch>
            <a:fillRect/>
          </a:stretch>
        </p:blipFill>
        <p:spPr>
          <a:xfrm>
            <a:off x="4462272" y="1408176"/>
            <a:ext cx="256032" cy="256032"/>
          </a:xfrm>
          <a:prstGeom prst="rect">
            <a:avLst/>
          </a:prstGeom>
        </p:spPr>
      </p:pic>
      <p:sp>
        <p:nvSpPr>
          <p:cNvPr id="17" name="Text 11"/>
          <p:cNvSpPr txBox="1"/>
          <p:nvPr/>
        </p:nvSpPr>
        <p:spPr>
          <a:xfrm>
            <a:off x="3913632"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3.</a:t>
            </a:r>
            <a:endParaRPr lang="en-US" sz="1400" dirty="0"/>
          </a:p>
        </p:txBody>
      </p:sp>
      <p:sp>
        <p:nvSpPr>
          <p:cNvPr id="18" name="Text 12"/>
          <p:cNvSpPr txBox="1"/>
          <p:nvPr/>
        </p:nvSpPr>
        <p:spPr>
          <a:xfrm>
            <a:off x="3913632"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Analisi</a:t>
            </a:r>
            <a:endParaRPr lang="it-IT" sz="1200" dirty="0"/>
          </a:p>
          <a:p>
            <a:pPr marL="0" indent="0" algn="ctr">
              <a:buNone/>
            </a:pPr>
            <a:r>
              <a:rPr lang="it-IT" sz="1050" dirty="0">
                <a:solidFill>
                  <a:schemeClr val="tx2"/>
                </a:solidFill>
              </a:rPr>
              <a:t>Confronta volumi, prezzi e condizioni applicate</a:t>
            </a:r>
            <a:endParaRPr lang="it-IT" sz="1050" dirty="0"/>
          </a:p>
        </p:txBody>
      </p:sp>
      <p:sp>
        <p:nvSpPr>
          <p:cNvPr id="19" name="Verificare i limiti del piano"/>
          <p:cNvSpPr/>
          <p:nvPr/>
        </p:nvSpPr>
        <p:spPr>
          <a:xfrm>
            <a:off x="5504688" y="1143000"/>
            <a:ext cx="1536192" cy="2286000"/>
          </a:xfrm>
          <a:prstGeom prst="roundRect">
            <a:avLst>
              <a:gd name="adj" fmla="val 4762"/>
            </a:avLst>
          </a:prstGeom>
          <a:solidFill>
            <a:schemeClr val="bg2"/>
          </a:solidFill>
          <a:ln/>
        </p:spPr>
        <p:txBody>
          <a:bodyPr/>
          <a:lstStyle/>
          <a:p>
            <a:endParaRPr lang="it-IT"/>
          </a:p>
        </p:txBody>
      </p:sp>
      <p:sp>
        <p:nvSpPr>
          <p:cNvPr id="20" name="cerchio FiSliders"/>
          <p:cNvSpPr/>
          <p:nvPr/>
        </p:nvSpPr>
        <p:spPr>
          <a:xfrm>
            <a:off x="6016752" y="1280160"/>
            <a:ext cx="512064" cy="512064"/>
          </a:xfrm>
          <a:prstGeom prst="ellipse">
            <a:avLst/>
          </a:prstGeom>
          <a:solidFill>
            <a:schemeClr val="accent1"/>
          </a:solidFill>
          <a:ln/>
        </p:spPr>
        <p:txBody>
          <a:bodyPr/>
          <a:lstStyle/>
          <a:p>
            <a:endParaRPr lang="it-IT"/>
          </a:p>
        </p:txBody>
      </p:sp>
      <p:pic>
        <p:nvPicPr>
          <p:cNvPr id="21" name="Image 3" descr="FiFileText"/>
          <p:cNvPicPr>
            <a:picLocks noChangeAspect="1"/>
          </p:cNvPicPr>
          <p:nvPr/>
        </p:nvPicPr>
        <p:blipFill>
          <a:blip r:embed="rId10"/>
          <a:stretch>
            <a:fillRect/>
          </a:stretch>
        </p:blipFill>
        <p:spPr>
          <a:xfrm>
            <a:off x="6144768" y="1408176"/>
            <a:ext cx="256032" cy="256032"/>
          </a:xfrm>
          <a:prstGeom prst="rect">
            <a:avLst/>
          </a:prstGeom>
        </p:spPr>
      </p:pic>
      <p:sp>
        <p:nvSpPr>
          <p:cNvPr id="22" name="Text 15"/>
          <p:cNvSpPr txBox="1"/>
          <p:nvPr/>
        </p:nvSpPr>
        <p:spPr>
          <a:xfrm>
            <a:off x="5596128"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4.</a:t>
            </a:r>
            <a:endParaRPr lang="en-US" sz="1400" dirty="0"/>
          </a:p>
        </p:txBody>
      </p:sp>
      <p:sp>
        <p:nvSpPr>
          <p:cNvPr id="23" name="Text 16"/>
          <p:cNvSpPr txBox="1"/>
          <p:nvPr/>
        </p:nvSpPr>
        <p:spPr>
          <a:xfrm>
            <a:off x="5596128"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Preparazione del documento</a:t>
            </a:r>
            <a:endParaRPr lang="it-IT" sz="1200" dirty="0"/>
          </a:p>
          <a:p>
            <a:pPr marL="0" indent="0" algn="ctr">
              <a:buNone/>
            </a:pPr>
            <a:r>
              <a:rPr lang="it-IT" sz="1050" dirty="0">
                <a:solidFill>
                  <a:schemeClr val="tx2"/>
                </a:solidFill>
              </a:rPr>
              <a:t>Bozza dell'offerta nel formato aziendale</a:t>
            </a:r>
            <a:endParaRPr lang="it-IT" sz="1050" dirty="0"/>
          </a:p>
        </p:txBody>
      </p:sp>
      <p:sp>
        <p:nvSpPr>
          <p:cNvPr id="24" name="Confrontare i risultati con i criteri"/>
          <p:cNvSpPr/>
          <p:nvPr/>
        </p:nvSpPr>
        <p:spPr>
          <a:xfrm>
            <a:off x="7187184" y="1143000"/>
            <a:ext cx="1536192" cy="2286000"/>
          </a:xfrm>
          <a:prstGeom prst="roundRect">
            <a:avLst>
              <a:gd name="adj" fmla="val 4762"/>
            </a:avLst>
          </a:prstGeom>
          <a:solidFill>
            <a:schemeClr val="bg2"/>
          </a:solidFill>
          <a:ln/>
        </p:spPr>
        <p:txBody>
          <a:bodyPr/>
          <a:lstStyle/>
          <a:p>
            <a:endParaRPr lang="it-IT"/>
          </a:p>
        </p:txBody>
      </p:sp>
      <p:sp>
        <p:nvSpPr>
          <p:cNvPr id="25" name="cerchio FiCheckCircle"/>
          <p:cNvSpPr/>
          <p:nvPr/>
        </p:nvSpPr>
        <p:spPr>
          <a:xfrm>
            <a:off x="7699248" y="1280160"/>
            <a:ext cx="512064" cy="512064"/>
          </a:xfrm>
          <a:prstGeom prst="ellipse">
            <a:avLst/>
          </a:prstGeom>
          <a:solidFill>
            <a:schemeClr val="accent1"/>
          </a:solidFill>
          <a:ln/>
        </p:spPr>
        <p:txBody>
          <a:bodyPr/>
          <a:lstStyle/>
          <a:p>
            <a:endParaRPr lang="it-IT"/>
          </a:p>
        </p:txBody>
      </p:sp>
      <p:pic>
        <p:nvPicPr>
          <p:cNvPr id="26" name="Image 4" descr="FiCheckCircle"/>
          <p:cNvPicPr>
            <a:picLocks noChangeAspect="1"/>
          </p:cNvPicPr>
          <p:nvPr/>
        </p:nvPicPr>
        <p:blipFill>
          <a:blip r:embed="rId6"/>
          <a:stretch>
            <a:fillRect/>
          </a:stretch>
        </p:blipFill>
        <p:spPr>
          <a:xfrm>
            <a:off x="7827264" y="1408176"/>
            <a:ext cx="256032" cy="256032"/>
          </a:xfrm>
          <a:prstGeom prst="rect">
            <a:avLst/>
          </a:prstGeom>
        </p:spPr>
      </p:pic>
      <p:sp>
        <p:nvSpPr>
          <p:cNvPr id="27" name="Text 19"/>
          <p:cNvSpPr txBox="1"/>
          <p:nvPr/>
        </p:nvSpPr>
        <p:spPr>
          <a:xfrm>
            <a:off x="7278624" y="1874520"/>
            <a:ext cx="1353312" cy="274320"/>
          </a:xfrm>
          <a:prstGeom prst="rect">
            <a:avLst/>
          </a:prstGeom>
          <a:noFill/>
          <a:ln/>
        </p:spPr>
        <p:txBody>
          <a:bodyPr wrap="square" lIns="0" tIns="0" rIns="0" bIns="0" rtlCol="0" anchor="t"/>
          <a:lstStyle/>
          <a:p>
            <a:pPr marL="0" indent="0" algn="ctr">
              <a:buNone/>
            </a:pPr>
            <a:r>
              <a:rPr lang="en-US" sz="1400" b="1" dirty="0">
                <a:solidFill>
                  <a:schemeClr val="accent1"/>
                </a:solidFill>
              </a:rPr>
              <a:t>5.</a:t>
            </a:r>
            <a:endParaRPr lang="en-US" sz="1400" dirty="0"/>
          </a:p>
        </p:txBody>
      </p:sp>
      <p:sp>
        <p:nvSpPr>
          <p:cNvPr id="28" name="Text 20"/>
          <p:cNvSpPr txBox="1"/>
          <p:nvPr/>
        </p:nvSpPr>
        <p:spPr>
          <a:xfrm>
            <a:off x="7278624" y="2148840"/>
            <a:ext cx="1353312" cy="1188720"/>
          </a:xfrm>
          <a:prstGeom prst="rect">
            <a:avLst/>
          </a:prstGeom>
          <a:noFill/>
          <a:ln/>
        </p:spPr>
        <p:txBody>
          <a:bodyPr wrap="square" lIns="0" tIns="0" rIns="0" bIns="0" rtlCol="0" anchor="t"/>
          <a:lstStyle/>
          <a:p>
            <a:pPr marL="0" indent="0" algn="ctr">
              <a:spcAft>
                <a:spcPts val="400"/>
              </a:spcAft>
              <a:buNone/>
            </a:pPr>
            <a:r>
              <a:rPr lang="it-IT" sz="1200" b="1" dirty="0">
                <a:solidFill>
                  <a:schemeClr val="tx1"/>
                </a:solidFill>
              </a:rPr>
              <a:t>Approvazione umana</a:t>
            </a:r>
            <a:endParaRPr lang="it-IT" sz="1200" dirty="0"/>
          </a:p>
          <a:p>
            <a:pPr marL="0" indent="0" algn="ctr">
              <a:buNone/>
            </a:pPr>
            <a:r>
              <a:rPr lang="it-IT" sz="1050" dirty="0">
                <a:solidFill>
                  <a:schemeClr val="tx2"/>
                </a:solidFill>
              </a:rPr>
              <a:t>Il commerciale verifica, corregge e decide l'invio</a:t>
            </a:r>
            <a:endParaRPr lang="it-IT" sz="1050" dirty="0"/>
          </a:p>
        </p:txBody>
      </p:sp>
      <p:sp>
        <p:nvSpPr>
          <p:cNvPr id="29" name="messaggio"/>
          <p:cNvSpPr/>
          <p:nvPr/>
        </p:nvSpPr>
        <p:spPr>
          <a:xfrm>
            <a:off x="457200" y="3566160"/>
            <a:ext cx="8229600" cy="640080"/>
          </a:xfrm>
          <a:prstGeom prst="roundRect">
            <a:avLst>
              <a:gd name="adj" fmla="val 10667"/>
            </a:avLst>
          </a:prstGeom>
          <a:solidFill>
            <a:schemeClr val="tx1"/>
          </a:solidFill>
          <a:ln/>
        </p:spPr>
        <p:txBody>
          <a:bodyPr/>
          <a:lstStyle/>
          <a:p>
            <a:endParaRPr lang="it-IT"/>
          </a:p>
        </p:txBody>
      </p:sp>
      <p:sp>
        <p:nvSpPr>
          <p:cNvPr id="30" name="Text 22"/>
          <p:cNvSpPr txBox="1"/>
          <p:nvPr/>
        </p:nvSpPr>
        <p:spPr>
          <a:xfrm>
            <a:off x="640080" y="3566160"/>
            <a:ext cx="7863840" cy="640080"/>
          </a:xfrm>
          <a:prstGeom prst="rect">
            <a:avLst/>
          </a:prstGeom>
          <a:noFill/>
          <a:ln/>
        </p:spPr>
        <p:txBody>
          <a:bodyPr wrap="square" lIns="0" tIns="0" rIns="0" bIns="0" rtlCol="0" anchor="ctr"/>
          <a:lstStyle/>
          <a:p>
            <a:pPr marL="0" indent="0">
              <a:buNone/>
            </a:pPr>
            <a:r>
              <a:rPr lang="it-IT" sz="1300" dirty="0">
                <a:solidFill>
                  <a:schemeClr val="bg1"/>
                </a:solidFill>
              </a:rPr>
              <a:t>Il valore: un'attività articolata delegata in blocco, mentre la persona decide il passaggio finale.</a:t>
            </a:r>
            <a:endParaRPr lang="it-IT" sz="1300" dirty="0"/>
          </a:p>
        </p:txBody>
      </p:sp>
      <p:sp>
        <p:nvSpPr>
          <p:cNvPr id="31" name="Text 23"/>
          <p:cNvSpPr txBox="1"/>
          <p:nvPr/>
        </p:nvSpPr>
        <p:spPr>
          <a:xfrm>
            <a:off x="457200" y="4251960"/>
            <a:ext cx="8229600" cy="274320"/>
          </a:xfrm>
          <a:prstGeom prst="rect">
            <a:avLst/>
          </a:prstGeom>
          <a:noFill/>
          <a:ln/>
        </p:spPr>
        <p:txBody>
          <a:bodyPr wrap="square" lIns="0" tIns="0" rIns="0" bIns="0" rtlCol="0" anchor="t"/>
          <a:lstStyle/>
          <a:p>
            <a:pPr marL="0" indent="0">
              <a:buNone/>
            </a:pPr>
            <a:r>
              <a:rPr lang="it-IT" sz="1100" i="1" dirty="0">
                <a:solidFill>
                  <a:schemeClr val="accent2"/>
                </a:solidFill>
              </a:rPr>
              <a:t>Esempio fittizio. L'agente usa solo i permessi concessi e non invia nulla senza conferma.</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56</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16818</Words>
  <Application>Microsoft Macintosh PowerPoint</Application>
  <PresentationFormat>Presentazione su schermo (16:9)</PresentationFormat>
  <Paragraphs>1059</Paragraphs>
  <Slides>70</Slides>
  <Notes>70</Notes>
  <HiddenSlides>5</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70</vt:i4>
      </vt:variant>
    </vt:vector>
  </HeadingPairs>
  <TitlesOfParts>
    <vt:vector size="73" baseType="lpstr">
      <vt:lpstr>Arial</vt:lpstr>
      <vt:lpstr>Calibri</vt:lpstr>
      <vt:lpstr>AI Literacy Neutro</vt:lpstr>
      <vt:lpstr>Ecosistema AI: modelli, strumenti e piattaforme</vt:lpstr>
      <vt:lpstr>Obiettivo del modulo</vt:lpstr>
      <vt:lpstr>Dieci domande guida per questo modulo</vt:lpstr>
      <vt:lpstr>Il filo conduttore</vt:lpstr>
      <vt:lpstr>Il percorso del modulo</vt:lpstr>
      <vt:lpstr>La struttura dell'ecosistema AI</vt:lpstr>
      <vt:lpstr>Modello, sistema, applicazione, piattaforma</vt:lpstr>
      <vt:lpstr>Foundation models e modelli specializzati</vt:lpstr>
      <vt:lpstr>Gli attori dell'ecosistema</vt:lpstr>
      <vt:lpstr>Com'è fatta un'applicazione AI</vt:lpstr>
      <vt:lpstr>Più modelli, modelli che cambiano</vt:lpstr>
      <vt:lpstr>Ecosistemi integrati e soluzioni composte</vt:lpstr>
      <vt:lpstr>Presentazione standard di PowerPoint</vt:lpstr>
      <vt:lpstr>Le principali famiglie di modelli AI</vt:lpstr>
      <vt:lpstr>Quattro famiglie di modelli</vt:lpstr>
      <vt:lpstr>Capacità, dimensioni e requisiti</vt:lpstr>
      <vt:lpstr>Modelli proprietari e modelli con pesi accessibili</vt:lpstr>
      <vt:lpstr>Open-weight non significa open-source</vt:lpstr>
      <vt:lpstr>Modelli aperti, chiusi e controllo tecnologico</vt:lpstr>
      <vt:lpstr>Presentazione standard di PowerPoint</vt:lpstr>
      <vt:lpstr>Le principali piattaforme e gli strumenti AI</vt:lpstr>
      <vt:lpstr>Gli assistenti AI generalisti</vt:lpstr>
      <vt:lpstr>Le categorie di strumenti</vt:lpstr>
      <vt:lpstr>Funzionalità comuni e differenze principali</vt:lpstr>
      <vt:lpstr>Capacità del modello e funzionalità dell'applicazione</vt:lpstr>
      <vt:lpstr>Disponibilità delle funzionalità</vt:lpstr>
      <vt:lpstr>Capacità dichiarate e funzionalità disponibili</vt:lpstr>
      <vt:lpstr>Presentazione standard di PowerPoint</vt:lpstr>
      <vt:lpstr>AI generalista, specializzata e integrata</vt:lpstr>
      <vt:lpstr>Tre approcci</vt:lpstr>
      <vt:lpstr>L'AI nei software di produttività e nei gestionali</vt:lpstr>
      <vt:lpstr>Soluzioni pronte all'uso e personalizzate</vt:lpstr>
      <vt:lpstr>Vantaggi e limiti dei diversi approcci</vt:lpstr>
      <vt:lpstr>Usare uno strumento o integrare l'AI in un processo</vt:lpstr>
      <vt:lpstr>Presentazione standard di PowerPoint</vt:lpstr>
      <vt:lpstr>Chatbot, assistenti, agenti e automazioni</vt:lpstr>
      <vt:lpstr>Uno spettro di autonomia</vt:lpstr>
      <vt:lpstr>Chatbot e assistenti configurati</vt:lpstr>
      <vt:lpstr>Sistemi con strumenti e agenti</vt:lpstr>
      <vt:lpstr>Automazioni tradizionali e workflow con AI</vt:lpstr>
      <vt:lpstr>Livelli di autonomia e supervisione umana</vt:lpstr>
      <vt:lpstr>Una terminologia non standardizzata</vt:lpstr>
      <vt:lpstr>Presentazione standard di PowerPoint</vt:lpstr>
      <vt:lpstr>Modalità di accesso e utilizzo dell'AI</vt:lpstr>
      <vt:lpstr>Le principali modalità di accesso</vt:lpstr>
      <vt:lpstr>Applicazioni e API: due modi di usare lo stesso modello</vt:lpstr>
      <vt:lpstr>Cloud ed esecuzione locale</vt:lpstr>
      <vt:lpstr>Soluzioni individuali, team ed enterprise</vt:lpstr>
      <vt:lpstr>Presentazione standard di PowerPoint</vt:lpstr>
      <vt:lpstr>Criteri per confrontare e scegliere</vt:lpstr>
      <vt:lpstr>Undici criteri</vt:lpstr>
      <vt:lpstr>Adeguatezza, qualità e facilità d'uso</vt:lpstr>
      <vt:lpstr>Funzionalità, integrazione e costi complessivi</vt:lpstr>
      <vt:lpstr>Dati, sicurezza e controlli amministrativi</vt:lpstr>
      <vt:lpstr>Indipendenza tecnologica e vendor lock-in</vt:lpstr>
      <vt:lpstr>Verificare ciò che è davvero disponibile</vt:lpstr>
      <vt:lpstr>Una scheda di confronto</vt:lpstr>
      <vt:lpstr>Presentazione standard di PowerPoint</vt:lpstr>
      <vt:lpstr>L'evoluzione e la dinamicità dell'ecosistema AI</vt:lpstr>
      <vt:lpstr>Che cosa cambia</vt:lpstr>
      <vt:lpstr>Obsolescenza di strumenti, procedure e competenze</vt:lpstr>
      <vt:lpstr>Competenze e conoscenze trasferibili</vt:lpstr>
      <vt:lpstr>Orientarsi senza inseguire ogni novità</vt:lpstr>
      <vt:lpstr>Presentazione standard di PowerPoint</vt:lpstr>
      <vt:lpstr>Le domande guida: le nostre risposte</vt:lpstr>
      <vt:lpstr>Che cosa portiamo a casa</vt:lpstr>
      <vt:lpstr>Prima di scegliere uno strumento AI: una checklist</vt:lpstr>
      <vt:lpstr>Che cosa evitare</vt:lpstr>
      <vt:lpstr>Prossimo passo: il Tema 5</vt:lpstr>
      <vt:lpstr>Nota sull'aggiornamento dei contenuti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4: Ecosistema AI: modelli, strumenti e piattaforme</dc:title>
  <dc:subject>Percorso AI Literacy</dc:subject>
  <dc:creator>Percorso AI Literacy</dc:creator>
  <cp:lastModifiedBy>Michele Barchi</cp:lastModifiedBy>
  <cp:revision>4</cp:revision>
  <dcterms:created xsi:type="dcterms:W3CDTF">2026-10-09T10:49:39Z</dcterms:created>
  <dcterms:modified xsi:type="dcterms:W3CDTF">2026-10-16T10:14:15Z</dcterms:modified>
</cp:coreProperties>
</file>