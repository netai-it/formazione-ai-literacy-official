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EB15A179-6CA6-35C9-9B9E-B952D4C49E8B}">
          <p14:sldIdLst>
            <p14:sldId id="256"/>
            <p14:sldId id="257"/>
            <p14:sldId id="258"/>
            <p14:sldId id="259"/>
            <p14:sldId id="260"/>
            <p14:sldId id="261"/>
          </p14:sldIdLst>
        </p14:section>
        <p14:section name="3.1 Capacità dell'AI" id="{7BB930EE-2E42-842E-52FA-8A9C5FD7C236}">
          <p14:sldIdLst>
            <p14:sldId id="262"/>
            <p14:sldId id="263"/>
            <p14:sldId id="264"/>
            <p14:sldId id="265"/>
            <p14:sldId id="266"/>
          </p14:sldIdLst>
        </p14:section>
        <p14:section name="3.2 Ragionamento e creatività" id="{28411941-A0C3-94EC-ABB8-7B2DFCA9F7B6}">
          <p14:sldIdLst>
            <p14:sldId id="267"/>
            <p14:sldId id="268"/>
            <p14:sldId id="269"/>
            <p14:sldId id="270"/>
            <p14:sldId id="271"/>
            <p14:sldId id="272"/>
            <p14:sldId id="273"/>
          </p14:sldIdLst>
        </p14:section>
        <p14:section name="3.3 Allucinazioni" id="{51F30F31-E553-13E6-02FC-69778518F4D4}">
          <p14:sldIdLst>
            <p14:sldId id="274"/>
            <p14:sldId id="275"/>
            <p14:sldId id="276"/>
            <p14:sldId id="277"/>
            <p14:sldId id="278"/>
            <p14:sldId id="279"/>
            <p14:sldId id="280"/>
            <p14:sldId id="281"/>
          </p14:sldIdLst>
        </p14:section>
        <p14:section name="3.4 Bias e distorsioni" id="{D8A3D3D5-5BE9-C645-A6AA-4004AAA18B44}">
          <p14:sldIdLst>
            <p14:sldId id="282"/>
            <p14:sldId id="283"/>
            <p14:sldId id="284"/>
            <p14:sldId id="285"/>
            <p14:sldId id="286"/>
            <p14:sldId id="287"/>
            <p14:sldId id="288"/>
            <p14:sldId id="289"/>
          </p14:sldIdLst>
        </p14:section>
        <p14:section name="3.5 Accuratezza e affidabilità" id="{58308997-9C8A-67FA-708F-BB1657BEC5E1}">
          <p14:sldIdLst>
            <p14:sldId id="290"/>
            <p14:sldId id="291"/>
            <p14:sldId id="292"/>
            <p14:sldId id="293"/>
            <p14:sldId id="294"/>
            <p14:sldId id="295"/>
            <p14:sldId id="296"/>
            <p14:sldId id="297"/>
          </p14:sldIdLst>
        </p14:section>
        <p14:section name="3.6 Verifica dei risultati" id="{BA1D6287-C310-6EEF-9B77-B1CC77BA9BD2}">
          <p14:sldIdLst>
            <p14:sldId id="298"/>
            <p14:sldId id="299"/>
            <p14:sldId id="300"/>
            <p14:sldId id="301"/>
            <p14:sldId id="302"/>
            <p14:sldId id="303"/>
            <p14:sldId id="304"/>
            <p14:sldId id="305"/>
          </p14:sldIdLst>
        </p14:section>
        <p14:section name="3.7 Fattori delle prestazioni" id="{84D1D2AC-F417-1164-E5B8-9A3C7CE79296}">
          <p14:sldIdLst>
            <p14:sldId id="306"/>
            <p14:sldId id="307"/>
            <p14:sldId id="308"/>
            <p14:sldId id="309"/>
            <p14:sldId id="310"/>
          </p14:sldIdLst>
        </p14:section>
        <p14:section name="3.8 Quando usare o limitare l'AI" id="{C69C0CC4-48F5-E341-36A3-68623CAD7385}">
          <p14:sldIdLst>
            <p14:sldId id="311"/>
            <p14:sldId id="312"/>
            <p14:sldId id="313"/>
            <p14:sldId id="314"/>
            <p14:sldId id="315"/>
            <p14:sldId id="316"/>
            <p14:sldId id="317"/>
            <p14:sldId id="318"/>
            <p14:sldId id="319"/>
          </p14:sldIdLst>
        </p14:section>
        <p14:section name="Conclusioni" id="{52BBF019-ADF5-8874-0B03-CFE2762A86B0}">
          <p14:sldIdLst>
            <p14:sldId id="320"/>
            <p14:sldId id="321"/>
            <p14:sldId id="322"/>
            <p14:sldId id="323"/>
            <p14:sldId id="324"/>
            <p14:sldId id="32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65"/>
    <p:restoredTop sz="68897"/>
  </p:normalViewPr>
  <p:slideViewPr>
    <p:cSldViewPr snapToGrid="0" snapToObjects="1">
      <p:cViewPr varScale="1">
        <p:scale>
          <a:sx n="127" d="100"/>
          <a:sy n="127" d="100"/>
        </p:scale>
        <p:origin x="24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0750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 terzo tema del percorso di AI Literacy, che chiude l'area 'Comprendere l'AI'. Nel Tema 1 abbiamo visto perché l'AI è diventata centrale; nel Tema 2 come funziona. Ora affrontiamo la domanda più pratica di tutte: quanto possiamo fidarci di ciò che produce? Vedremo che cosa sanno fare i sistemi AI, quali sono i loro limiti, perché possono produrre informazioni false o distorte, come valutarne l'affidabilità, come verificarne i risultati e, infine, quando conviene usarli e quando limitarne l'uso. Il filo conduttore è un'idea semplice ma impegnativa: calibrare la fiducia. Suggerimento per l'apertura: chiedere ai partecipanti di raccontare un episodio in cui un assistente AI li ha sorpresi in positivo e uno in cui li ha delusi. Le due liste, di solito molto ricche, sono un ottimo punto di partenza per tutto il modulo. Nota per il relatore: i contenuti sono aggiornati a ottobre 2026. Capacità di ragionamento, frequenza delle allucinazioni e funzioni dei sistemi cambiano con ogni nuova versione dei modelli: prima di ogni edizione conviene ricontrollare esempi ed evidenze.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è sviluppare la capacità di riconoscere le potenzialità e i limiti dei sistemi AI, di comprenderne le principali fonti di errore e di valutare l'affidabilità dei risultati rispetto al contesto in cui li usiamo. La consapevolezza da sviluppare parte da un'osservazione: un sistema AI può produrre risultati estremamente utili e sofisticati, ma la qualità delle risposte non è garantita. Bisogna quindi distinguere tre cose: ciò che il sistema ha dimostrato di saper fare in generale, quanto è affidabile nella pratica, e se è adatto al compito specifico che abbiamo davanti. Lo scopo non è insegnare a diffidare dell'AI, né a fidarsene ciecamente, ma a sapere quando, quanto e a quali condizioni fare affidamento sui suoi risultati.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slide sintetizza lo spirito dell'intero modulo. Immaginiamo una scala. A un estremo c'è la fiducia eccessiva: si accetta qualunque risposta perché è scritta bene, si copiano dati senza controllarli, si delegano decisioni importanti. Il rischio è usare informazioni false o distorte, con conseguenze anche gravi. All'altro estremo c'è la sfiducia totale: si scarta l'AI perché 'sbaglia', anche per attività in cui sarebbe molto utile e facilmente verificabile. Il rischio è perdere opportunità reali e restare indietro. In mezzo c'è la fiducia calibrata: il livello di fiducia e di controllo viene regolato in base al compito, al sistema e alle conseguenze di un possibile errore. Per scrivere la bozza di un'email interna basta una rilettura; per un dato da inserire in un contratto serve una verifica sulla fonte; per una decisione che riguarda la salute o la sicurezza di una persona l'AI può essere al massimo un supporto per un esperto. Domanda per il gruppo: in quale punto della scala vi collochereste oggi?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otto domande guida accompagnano il modulo e corrispondono, in larga parte, agli otto sottotemi. Le prime due riguardano le capacità: che cosa sa fare l'AI e quali limiti incontra nel ragionamento e nella creatività. La terza e la quarta riguardano le principali fonti di errore: informazioni false ma convincenti, e distorsioni. La quinta e la settima riguardano l'affidabilità e il fatto che dipenda dal compito. La sesta riguarda i controlli da fare prima di usare un risultato. L'ultima, forse la più importante, riguarda la decisione di usare o non usare l'AI in base alle conseguenze di un errore. Alla fine del modulo torneremo su ciascuna con una risposta sintetica.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filo conduttore del modulo è il percorso che porta a calibrare la fiducia, in quattro passi. Primo: che cosa sa fare l'AI, cioè le capacità e il ragionamento, nei sottotemi 3.1 e 3.2. Secondo: dove può sbagliare, cioè allucinazioni e bias, nei sottotemi 3.3 e 3.4. Terzo: quanto è affidabile e come si verifica, cioè accuratezza e affidabilità, controllo dei risultati e fattori che influenzano le prestazioni, nei sottotemi 3.5, 3.6 e 3.7. Quarto: quando usarla, limitarla o evitarla, nel sottotema 3.8. Lungo tutto il percorso il documento di perimetro chiede di tenere distinte tre cose che spesso si confondono: le capacità dimostrate, cioè ciò che un sistema ha mostrato di saper fare in generale; l'affidabilità effettiva, cioè quanto fa bene quel compito nella pratica, in modo costante; l'adeguatezza al compito, cioè se è adatto a questo compito specifico, con queste conseguenze. Suggerimento: riprendere le due liste raccolte in apertura, sorprese positive e delusioni, e chiedere in quale dei quattro passi si collocano.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modulo è articolato in otto sottotemi, tutti confermati. Sette hanno priorità alta, uno, quello sui fattori che influenzano le prestazioni, priorità media. Alcuni concetti vanno compresi bene: le allucinazioni, l'autorevolezza apparente, i bias, l'affidabilità, la verifica e il rapporto tra affidabilità e conseguenze degli errori. Altri vanno conosciuti: le capacità cognitive, il ragionamento, la creatività, la robustezza, la ripetibilità, i fattori che influenzano le prestazioni. Altri ancora vanno solo accennati: i benchmark specialistici, le metriche statistiche avanzate, i metodi quantitativi di valutazione e il red teaming. Confini: non ripeteremo il funzionamento tecnico visto nel Tema 2, se non con brevi richiami; rimanderemo al Tema 4 il confronto tra prodotti e modelli; ai Temi 5 e 6 le tecniche di formulazione delle richieste; ai Temi 12 e 15 il ROI e la selezione dei progetti; ai Temi 17 e 18 privacy, sicurezza, normativa e policy. Un'avvertenza di metodo: non vogliamo trasformare il modulo in un catalogo di errori, né in un corso di statistica.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Partiamo da ciò che l'AI sa fare. È una panoramica concettuale: non entriamo nei casi d'uso delle singole funzioni aziendali, ma costruiamo una mappa delle capacità che permetta di associarle a tipologie di attività. Due messaggi accompagnano il sottotema: le capacità sono davvero ampie, e non vanno sottovalutate; ma variano a seconda del sistema e del compito, e non tutti i prodotti AI dispongono delle stesse funzioni.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le sette famiglie di capacità principali dei sistemi AI attuali, in particolare di quelli generativi. L'elaborazione e la generazione del linguaggio: comprendere richieste, scrivere, riformulare, tradurre. La generazione, trasformazione e sintesi di contenuti: produrre bozze, riassumere documenti lunghi, cambiare formato, tono o lunghezza di un testo. La classificazione e l'estrazione di informazioni: assegnare categorie, estrarre dati strutturati da testi non strutturati, come importi e scadenze da un contratto. L'individuazione di schemi e l'analisi di dati: trovare tendenze, anomalie, temi ricorrenti, per esempio in un insieme di feedback dei clienti. L'elaborazione multimodale: lavorare su immagini, audio, video oltre che sul testo. Il supporto ad attività cognitive: ragionare su un problema, pianificare, valutare alternative, generare idee; lo approfondiamo nel sottotema 3.2. Infine l'interazione con strumenti esterni, quando il sistema la prevede: cercare sul web, eseguire codice per fare calcoli, leggere file, collegarsi ad altri software aziendali. Quest'ultima capacità è particolarmente importante, perché cambia molto l'affidabilità del risultato: un calcolo eseguito da codice è molto più affidabile di uno 'stimato' dal modello.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rendere la mappa utile, associamo ogni capacità ad alcune tipologie di attività ricorrenti in azienda. Sono esempi trasversali, non casi d'uso di una funzione specifica. Linguaggio e contenuti: bozze di email e documenti, sintesi di riunioni o report, traduzioni, adattamento di testi a pubblici diversi. Classificazione ed estrazione: smistare richieste, estrarre dati da fatture, contratti o moduli, etichettare documenti. Schemi e analisi: individuare temi nei feedback, confrontare versioni di documenti, analizzare tabelle. Multimodalità: trascrivere riunioni, leggere documenti scansionati, descrivere immagini di prodotti. Supporto cognitivo: preparare un piano, valutare alternative, generare idee per un problema. Strumenti esterni: ricerche aggiornate, calcoli eseguiti con codice, interrogazione di archivi aziendali. La colonna di destra anticipa un punto che svilupperemo nel modulo: per ogni tipologia, qual è il controllo minimo ragionevole. Notate come cambia: per una bozza basta rileggere, per un dato estratto serve un confronto con l'originale.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Tema 2 abbiamo distinto il modello dall'applicazione che lo integra. Questa distinzione ha una conseguenza diretta sulle capacità. Alcune dipendono soprattutto dal modello: la qualità della scrittura, la capacità di ragionamento, la comprensione di immagini. Altre dipendono dall'applicazione: la possibilità di cercare sul web, di eseguire codice, di leggere file di grandi dimensioni, di collegarsi a sistemi aziendali, di ricordare informazioni tra conversazioni. Due strumenti basati su modelli simili possono quindi avere capacità molto diverse, e lo stesso strumento può cambiare capacità nel tempo, con gli aggiornamenti o in base alla versione o al piano di abbonamento. In pratica: prima di affidare un compito a uno strumento AI, conviene verificare quali funzioni offre davvero. Per esempio, chiedere un'informazione aggiornata a un sistema senza ricerca web, o un calcolo complesso a un sistema senza esecuzione di codice, espone a errori evitabili. Il confronto tra prodotti e piattaforme specifiche è oggetto del Tema 4.</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Le capacità dei sistemi AI coprono linguaggio, contenuti, estrazione, analisi, multimodalità, supporto cognitivo e uso di strumenti. Ma non sono uniformi: dipendono dal modello, dall'applicazione e dal compito. Per questo la domanda utile non è 'l'AI sa fare questa cosa?', ma 'questo sistema sa fare bene questa cosa, nelle nostre condizioni?'. Domanda di verifica: se chiedo il fatturato di un'azienda quotata dell'ultimo trimestre a un assistente senza ricerca web, che cosa rischio? Risposta: un dato non aggiornato o inventato, perché il sistema può contare solo sulla conoscenza incorporata.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Approfondiamo ora una famiglia di capacità particolarmente rilevante e discussa: il ragionamento, la risoluzione di problemi e la creatività. Sono le capacità che più fanno pensare a un'intelligenza simile alla nostra, e proprio per questo richiedono uno sguardo equilibrato. Vedremo che cosa i sistemi attuali fanno bene, dove incontrano difficoltà e perché le capacità osservabili non vanno confuse con il ragionamento umano.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sistemi AI più recenti mostrano capacità di ragionamento notevoli. Nel ragionamento logico possono seguire catene di deduzioni, individuare contraddizioni in un testo, verificare se una conclusione deriva dalle premesse. Nel ragionamento matematico risolvono molti problemi, anche di livello avanzato, soprattutto quando possono mostrare i passaggi o usare codice per i calcoli. Nel ragionamento analitico sanno confrontare opzioni, individuare cause possibili di un problema, organizzare informazioni complesse. Un progresso importante degli ultimi anni sono i modelli che dedicano più elaborazione al ragionamento prima di rispondere, che hanno migliorato in modo significativo i risultati su problemi complessi. Ci sono però tre cautele. Primo: un ragionamento può apparire rigoroso e contenere un errore in un passaggio intermedio, che compromette la conclusione. Secondo: i calcoli eseguiti 'a mente' dal modello, cioè generati come testo, sono meno affidabili di quelli eseguiti tramite strumenti di calcolo. Terzo: le prestazioni sono irregolari, e un problema apparentemente semplice può essere sbagliato. Leggere i passaggi, quando sono disponibili, aiuta a individuare gli errori.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utile per valutare quanto affidarsi all'AI nel problem solving è quella tra problemi strutturati e non strutturati. Un problema strutturato ha obiettivi chiari, dati completi, regole note e una risposta corretta verificabile: calcolare una scadenza contrattuale, verificare se un documento contiene tutti i campi richiesti, convertire dati da un formato a un altro. Qui l'AI è spesso efficace e, soprattutto, il risultato si può controllare. Un problema non strutturato ha obiettivi ambigui o in conflitto, informazioni incomplete, molti fattori di contesto e più soluzioni accettabili: come riorganizzare un ufficio, come gestire un cliente insoddisfatto, quale strategia adottare in un nuovo mercato. Qui l'AI può essere un ottimo interlocutore per esplorare opzioni, porre domande, mettere ordine, ma non ha accesso a tutto il contesto, alle relazioni, ai vincoli non scritti, e la valutazione finale richiede il giudizio di chi conosce la situazione. Nella pratica, molti problemi aziendali stanno a metà strada, e una buona strategia è scomporli: le parti strutturate possono essere affidate all'AI con verifica, quelle non strutturate restano alla persona, con il supporto dell'AI.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delle capacità più utili dell'AI nel problem solving è aiutare a strutturare il lavoro. Può scomporre un problema complesso in sotto-problemi più gestibili, proporre un piano con fasi e dipendenze, generare alternative diverse e confrontarle secondo criteri espliciti, evidenziando pro, contro e rischi. Questo è prezioso soprattutto all'inizio di un'attività, quando serve mettere ordine, e come controllo per non dimenticare aspetti importanti. Lo schema in slide mostra il percorso tipico. Ma ci sono due limiti da tenere presenti. Primo: la qualità della scomposizione e del confronto dipende dalle informazioni fornite; se mancano vincoli importanti, come il budget, le persone disponibili o una scadenza, il piano può essere elegante ma irrealistico. Secondo: le valutazioni comparative dell'AI possono apparire oggettive, ma riflettono i criteri che le sono stati dati o che ha scelto implicitamente, e possono essere influenzate da come è formulata la domanda, come vedremo parlando di bias. Per questo l'ultimo passaggio, la scelta, resta a chi ha la responsabilità e la conoscenza del contesto.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generativa è un potente strumento di supporto creativo. I suoi punti di forza sono evidenti: produce in pochi secondi molte idee e varianti, combina concetti di ambiti diversi, propone formulazioni alternative, aiuta a superare il blocco della pagina bianca e può assumere punti di vista differenti, per esempio quello di un cliente scettico. Ci sono però alcuni limiti da conoscere. Le idee tendono verso ciò che è frequente nei dati di addestramento, quindi verso soluzioni plausibili e convenzionali, più che davvero originali. Il sistema non conosce i vincoli specifici, la storia e la cultura della nostra organizzazione, se non gli vengono forniti. E c'è un effetto collettivo interessante: uno studio di Anil Doshi e Oliver Hauser, pubblicato su Science Advances nel 2024, ha osservato che i racconti scritti con l'aiuto di idee generate dall'AI venivano giudicati più creativi a livello individuale, soprattutto per gli autori meno creativi, ma erano più simili tra loro. In altre parole, l'AI può migliorare il singolo contributo e ridurre la varietà complessiva. Il suggerimento pratico: usare l'AI per ampliare il ventaglio di idee, non per sostituire il confronto tra persone, e considerare le proposte come materiale grezzo da selezionare, combinare e sviluppare.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Abbiamo visto nel Tema 2 che le capacità osservabili non autorizzano ad attribuire all'AI un ragionamento uguale a quello umano. Qui lo vediamo in concreto, attraverso tre situazioni in cui i limiti emergono più spesso. Le situazioni nuove: problemi diversi da quelli frequenti nei dati di addestramento. Un esempio classico: se si prende un indovinello molto noto e lo si modifica in modo che la risposta cambi, alcuni modelli rispondono come se fosse la versione originale, perché riconoscono lo schema familiare invece di leggere con attenzione il problema nuovo. Le situazioni ambigue: richieste che si possono interpretare in più modi. Spesso il sistema sceglie un'interpretazione senza segnalarlo, e produce una risposta corretta per una domanda diversa da quella che avevamo in mente. Le situazioni complesse: problemi con molti vincoli, passaggi lunghi o informazioni sparse. Qui aumentano gli errori intermedi e le incoerenze, per esempio una conclusione che contraddice un'affermazione fatta poco prima. Questi limiti non annullano l'utilità dell'AI, ma indicano dove serve più attenzione: quando il problema è insolito, ambiguo o articolato, la verifica deve essere più approfondita.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Ragionamento, problem solving e creatività sono tra le capacità più utili dei sistemi attuali: strutturano problemi, generano alternative, propongono idee, risolvono molti problemi logici e matematici. Ma un ragionamento ben presentato può contenere errori, le situazioni nuove, ambigue o complesse mettono in difficoltà i sistemi, e la creatività tende al convenzionale. La regola pratica: usare l'AI per ampliare e strutturare il proprio pensiero, non per sostituirlo. Domanda di verifica: perché è utile chiedere all'AI di mostrare i passaggi di un ragionamento? Risposta: perché permette di individuare l'eventuale errore intermedio e di valutare la solidità della conclusione.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Entriamo in uno dei sottotemi da comprendere in modo approfondito. Le allucinazioni sono probabilmente il limite più noto dei sistemi generativi, e uno dei più insidiosi, perché si presentano nella stessa forma delle risposte corrette. Vedremo che cosa sono, quali forme assumono, perché si verificano, a livello concettuale, e perché la plausibilità di una risposta non coincide con la sua veridicità. Ci soffermeremo poi sull'autorevolezza apparente, cioè sul rischio di credere a ciò che è scritto bene.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 sistemi generativi si parla di allucinazione quando il sistema produce un contenuto presentato come vero ma falso, inesatto o privo di fondamento. Il termine è entrato nell'uso comune, anche se è una metafora imperfetta: il sistema non 'vede' cose che non ci sono, ma genera testo plausibile che non corrisponde ai fatti. Possiamo distinguere tre forme. Informazioni inventate: fatti, eventi, persone, dati o documenti che non esistono. Informazioni inesatte: elementi reali ma riportati in modo sbagliato, per esempio una data spostata di un anno, un numero errato, una norma attribuita all'articolo sbagliato, una citazione modificata. Informazioni prive di fondamento: affermazioni che potrebbero anche essere vere, ma che non derivano da nessuna fonte disponibile; per esempio, quando chiediamo un riassunto di un documento e il sistema aggiunge un'informazione che il documento non contiene. Quest'ultima forma è particolarmente rilevante in azienda, perché si presenta proprio quando pensiamo di essere al sicuro, cioè quando abbiamo fornito noi il documento.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forma di allucinazione particolarmente insidiosa riguarda le fonti. Un sistema generativo può produrre riferimenti bibliografici con autori, titoli, riviste e anni del tutto verosimili ma inesistenti; link a pagine che non esistono; citazioni attribuite a persone reali che non le hanno mai pronunciate; riferimenti normativi o giurisprudenziali inventati. Il caso più noto è avvenuto negli Stati Uniti nel 2023, nella causa Mata contro Avianca davanti a un tribunale federale di New York. Gli avvocati di una delle parti depositarono una memoria che citava diversi precedenti giudiziari. Quei precedenti, con tanto di nomi delle parti, numeri e citazioni testuali, erano stati generati da ChatGPT e non esistevano. Il giudice sanzionò gli avvocati e lo studio. Il caso è istruttivo per due ragioni: i riferimenti erano formalmente perfetti, e gli avvocati avevano persino chiesto al sistema se i casi fossero reali, ricevendo una conferma. Da allora episodi simili si sono ripetuti in diversi paesi. La lezione: una fonte citata dall'AI va trattata come un'indicazione da verificare, non come una prova. Se la fonte non si trova, va considerata inesistente.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Senza ripetere il funzionamento visto nel Tema 2, richiamiamo i meccanismi che spiegano le allucinazioni. Primo: un modello linguistico genera il testo più plausibile in base alle regolarità apprese, e non possiede un meccanismo interno che verifichi ogni affermazione rispetto ai fatti. Plausibile e vero coincidono spesso, ma non sempre. Secondo: la conoscenza incorporata è incompleta e imprecisa, soprattutto su argomenti di nicchia, dettagli specifici e informazioni poco presenti nei dati di addestramento; dove la conoscenza è scarsa, il modello tende a ricostruire. Terzo: la conoscenza è ferma alla data limite, e le informazioni successive non sono note. Quarto: i modelli tendono a dare comunque una risposta invece di ammettere di non sapere. Un'analisi pubblicata nel 2025 da ricercatori di OpenAI sostiene che una causa sia proprio il modo in cui i modelli vengono addestrati e valutati, che spesso premia una risposta azzardata più di un'ammissione di incertezza, come uno studente che in un test a crocette tira a indovinare. Quinto: le domande stesse possono indurre l'errore, per esempio quando contengono una premessa falsa ('perché la legge X ha abolito Y?') che il modello asseconda. I sistemi più recenti allucinano in genere meno dei precedenti, soprattutto con ricerca e grounding, ma il fenomeno non è stato eliminato.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distinzione centrale del sottotema. La plausibilità linguistica riguarda la forma: un testo è plausibile se è grammaticalmente corretto, coerente, scritto nello stile giusto e simile a testi veri sullo stesso argomento. La veridicità riguarda il contenuto: un'affermazione è vera se corrisponde ai fatti, verificabili su fonti affidabili. Un modello linguistico è ottimizzato soprattutto per la prima: è stato addestrato a produrre testo plausibile. Per questo le sue risposte sono quasi sempre plausibili, mentre la veridicità dipende da molti fattori. L'esempio in slide mostra due frasi con la stessa struttura e lo stesso tono: la prima è vera, la seconda è falsa, perché l'articolo dell'AI Act che contiene le definizioni è il 3, non il 5, e la seconda data è sbagliata. Senza conoscere l'argomento o controllare la fonte, è impossibile distinguerle. Ecco perché la qualità della scrittura non può essere usata come indicatore di correttezza. Suggerimento: chiedere ai partecipanti quale delle due frasi sia vera prima di rivelare la risposta.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integrazione del sottotema riguarda il nostro modo di reagire alle risposte, più che il sistema. Le persone tendono ad attribuire credibilità ai contenuti in base a segnali di forma: un tono sicuro, un linguaggio tecnico appropriato, una struttura ordinata con titoli ed elenchi, la presenza di numeri precisi e di citazioni. Nella comunicazione umana questi segnali sono spesso correlati alla competenza: chi scrive bene di un argomento di solito lo conosce. Con i sistemi generativi questa correlazione si rompe, perché il sistema produce sempre testi ben formulati, sia quando sono corretti sia quando non lo sono, e di norma non esprime dubbi in modo proporzionato all'incertezza reale. Risultato: le risposte sbagliate sono persuasive quanto quelle giuste. I segnali di forma vanno quindi sostituiti con segnali di sostanza: la presenza di fonti verificabili e la loro effettiva consultazione; la coerenza con fonti indipendenti; la coerenza interna della risposta; la nostra competenza sull'argomento. Una precisazione: quando un sistema dichiara di non essere sicuro, è un'informazione utile; ma l'assenza di dubbi non è una garanzia.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allucinazioni non si distribuiscono in modo uniforme: alcune situazioni ne aumentano la probabilità. Conoscerle aiuta a dosare l'attenzione. Dettagli specifici: numeri, date, nomi propri, importi, percentuali. Argomenti di nicchia, locali o specialistici, poco presenti nei dati di addestramento, come una normativa regionale o un prodotto poco noto. Fonti e citazioni, come abbiamo visto. Eventi recenti, successivi alla data limite, se il sistema non usa la ricerca. Domande con premesse false o tendenziose, che il sistema tende ad assecondare. Richieste che vanno oltre i documenti forniti: se chiediamo a un sistema di rispondere su un documento e la risposta non c'è, può colmare il vuoto con un'invenzione. Testi lunghi e compiti articolati, in cui aumentano le occasioni di errore. Al contrario, il rischio è più basso quando il compito è trasformare un testo che forniamo noi, per esempio riformularlo o tradurlo, e quando il risultato è facile da controllare. Suggerimento: chiedere ai partecipanti quali di queste situazioni ricorrono nel loro lavoro.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Le allucinazioni sono contenuti falsi, inesatti o privi di fondamento presentati come veri. Derivano dal fatto che il modello genera testo plausibile senza verificare i fatti, dalla conoscenza incompleta e datata, dalla tendenza a rispondere comunque e talvolta dalla formulazione della domanda. Sono più probabili su dettagli, nicchie, fonti, eventi recenti e richieste che vanno oltre le informazioni fornite. E sono insidiose perché si presentano con la stessa autorevolezza delle risposte corrette. Domanda di verifica: se chiedo all'AI 'sei sicuro?' e mi risponde 'sì', ho verificato l'informazione? Risposta: no; come nel caso Avianca, la conferma del sistema non è una verifica. Ne parleremo nel sottotema 3.6.</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dalle allucinazioni, che sono errori su singoli fatti, ai bias, che sono distorsioni sistematiche. La differenza è importante: un'allucinazione è una risposta sbagliata; un bias è una tendenza ricorrente a sbilanciare le risposte in una certa direzione. Vedremo che cosa significa bias, da dove nascono le distorsioni, come il contesto e le istruzioni le influenzano, che cosa sono stereotipi e rappresentazioni non equilibrate, e un fenomeno molto rilevante nell'uso quotidiano: la tendenza dei sistemi ad assecondare l'utente.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statistica e nell'AI, un bias è una distorsione sistematica: una tendenza ricorrente a scostarsi in una certa direzione da una rappresentazione corretta o equilibrata. La differenza con un errore casuale è fondamentale. Un errore casuale si presenta in modo imprevedibile, in direzioni diverse, e tende a compensarsi. Un bias va sempre nella stessa direzione, e per questo non si compensa: si accumula. L'analogia della bilancia lo rende chiaro: una bilancia imprecisa dà valori un po' sopra e un po' sotto; una bilancia starata segna sempre cento grammi in più. Nell'AI i bias possono riguardare molti aspetti: la rappresentazione di gruppi sociali, di genere, di età, di provenienza geografica; la prospettiva culturale, per esempio quella anglosassone, dominante nei dati di addestramento; la preferenza per certe fonti, posizioni o soluzioni. Un punto da chiarire: il termine 'bias' non implica un'intenzione. Le distorsioni nascono quasi sempre dai dati, dai processi e dal contesto, non da una volontà di discriminare. Ma gli effetti possono essere reali, e la responsabilità di riconoscerli e gestirli resta a chi usa il sistema.</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distorsioni possono entrare nel sistema in tre punti. Il primo sono i dati di addestramento. I modelli apprendono da testi e immagini prodotti da persone, che riflettono la società con le sue disuguaglianze e i suoi stereotipi. Inoltre i dati non sono equilibrati: alcune lingue, culture, punti di vista e gruppi sono molto più rappresentati di altri. Ciò che è sovrarappresentato tende a diventare il 'normale' per il modello. Il secondo è il processo di addestramento e affinamento. Le scelte su quali dati includere, come filtrarli, quali comportamenti premiare durante l'affinamento con feedback umano possono introdurre ulteriori orientamenti, anche con l'intento di correggerne altri. Il terzo è il contesto d'uso: le istruzioni di sistema, la formulazione delle nostre domande, i documenti che forniamo. Anche questi possono orientare le risposte in una direzione. Un esempio storico istruttivo, anche se precedente all'AI generativa: nel 2018 Reuters riportò che Amazon aveva abbandonato un sistema sperimentale di selezione dei curricula, addestrato sulle assunzioni dei dieci anni precedenti, in prevalenza maschili. Il sistema aveva imparato a penalizzare i curricula che contenevano la parola 'women's', come in 'capitana della squadra femminile di scacchi'. Nessuno lo aveva programmato per discriminare: lo aveva appreso dai dati.</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si manifestano concretamente i bias nei sistemi generativi? In diversi modi, spesso sottili. Associazioni stereotipate: se chiediamo di generare l'immagine di un 'amministratore delegato' o di un 'infermiere', i generatori di immagini hanno a lungo prodotto in prevalenza uomini nel primo caso e donne nel secondo, riflettendo e talvolta accentuando gli squilibri presenti nei dati. Lo stesso può avvenire nei testi, per esempio nei pronomi o nei ruoli assegnati ai personaggi di un esempio. Prospettive dominanti: alla domanda 'quali sono le pratiche migliori per...' il sistema può proporre soluzioni pensate per il contesto statunitense, per la grande impresa, o per una normativa diversa dalla nostra. Rappresentazioni sbilanciate: nel sintetizzare un dibattito, il sistema può dare più spazio alle posizioni più presenti nei dati, che non sono necessariamente le più fondate. Omissioni: alcuni gruppi, punti di vista o casi possono semplicemente non comparire. I fornitori lavorano per ridurre questi effetti, e i sistemi recenti sono più attenti dei precedenti, ma il problema non è risolto. In azienda il rischio è concreto quando l'AI interviene in attività che riguardano persone: annunci di lavoro, valutazioni, comunicazioni ai clienti, materiali di marketing.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distorsioni non vengono solo dai dati: possiamo introdurle noi, con il modo in cui formuliamo le richieste. Un modello linguistico prosegue e sviluppa il contesto che riceve, quindi una domanda orientata tende a produrre una risposta orientata. L'esempio in slide lo mostra. Se chiediamo 'Perché il fornitore A è la scelta migliore?', la domanda presuppone già la conclusione, e il sistema tenderà a elencare argomenti a favore di A. Se chiediamo 'Quali sono vantaggi e svantaggi dei fornitori A e B rispetto a questi criteri?', otteniamo un confronto più equilibrato. Lo stesso vale per i documenti che forniamo: se diamo al sistema solo materiali favorevoli a una tesi, la sua sintesi rifletterà quella tesi. E vale per le istruzioni di sistema impostate da chi configura lo strumento. La conseguenza pratica: quando usiamo l'AI per analizzare, confrontare o valutare, formulare richieste neutre, esplicitare i criteri, chiedere anche gli argomenti contrari. Le tecniche di formulazione sono sviluppate nel Tema 6; qui ci interessa la consapevolezza del meccanismo.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fenomeni si combinano in modo particolarmente insidioso. Il primo è nostro: il bias di conferma, cioè la tendenza umana a cercare, notare e ricordare le informazioni che confermano ciò che già pensiamo. Il secondo è del sistema: la tendenza ad assecondare l'utente, che in inglese si chiama sycophancy, traducibile come compiacenza o piaggeria. I modelli affinati con il feedback umano imparano che le risposte che danno ragione alle persone tendono a essere apprezzate, e possono quindi sviluppare la tendenza a concordare con le opinioni dell'utente, a lodare il suo lavoro più del dovuto, o a cambiare una risposta corretta quando l'utente insiste. Una ricerca di Anthropic pubblicata nel 2023 (Sharma e colleghi) ha documentato questo comportamento in diversi assistenti AI. Lo schema in slide mostra il circolo: io ho un'ipotesi, la formulo nella domanda, il sistema la asseconda, io mi convinco ancora di più. Esempi pratici: chiedere 'questa proposta è buona, vero?' invece di 'quali sono i punti deboli di questa proposta?'; ribattere 'sei sicuro? Io credo che sia X' e vedere il sistema cambiare idea. Contromisure: chiedere esplicitamente critiche e obiezioni, non rivelare la propria preferenza quando si chiede una valutazione, e diffidare delle risposte che ci danno ragione troppo facilmente. I fornitori stanno lavorando per ridurre il fenomeno, ma conviene tenerlo presente.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punto del sottotema. Le risposte dei sistemi AI hanno spesso un tono neutro, pacato, equilibrato: frasi come 'ci sono diverse prospettive', 'da un lato... dall'altro'. Questo tono può dare l'impressione di oggettività. Ma neutralità di tono e oggettività di contenuto sono cose diverse. Una risposta dal tono neutro può comunque contenere scelte non neutrali: quali informazioni includere e quali omettere, in che ordine presentarle, quanto spazio dare a ciascuna posizione, quali esempi usare, quali fonti considerare autorevoli, quale soluzione presentare come 'standard'. Anche il semplice fatto di presentare due posizioni come equivalenti può essere una distorsione, se le evidenze a sostegno sono molto diverse. Inoltre, un sistema può essere istruito dal fornitore o da chi lo configura a evitare certi argomenti o ad adottare certe impostazioni. Ciò non significa che le risposte siano inaffidabili per definizione: significa che non vanno considerate automaticamente imparziali, e che su temi delicati o controversi conviene confrontare più fonti, comprese fonti umane competenti.</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I bias sono distorsioni sistematiche che possono nascere dai dati, dall'addestramento e dal contesto d'uso, comprese le nostre domande. Si manifestano come stereotipi, prospettive dominanti, rappresentazioni sbilanciate e omissioni. La tendenza dei sistemi ad assecondare l'utente, combinata con il nostro bias di conferma, può rafforzare convinzioni sbagliate. E il tono neutro non garantisce l'oggettività. Domanda di verifica: volete un parere dell'AI su una proposta che avete scritto. Come formulate la richiesta per ridurre il rischio di compiacenza? Possibili risposte: chiedere esplicitamente i punti deboli, presentarla come proposta di un terzo, chiedere le obiezioni che farebbe un interlocutore critico.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Dopo aver visto le principali fonti di errore, facciamo un passo indietro e chiediamoci come si valutano, in generale, le prestazioni di un sistema AI. È un sottotema da comprendere in modo approfondito, ma senza entrare in metriche statistiche. Distingueremo concetti che spesso si confondono, come accuratezza, affidabilità, consistenza e utilità; vedremo perché le prestazioni cambiano da compito a compito e con piccole variazioni dell'input; perché benchmark e dimostrazioni non bastano; e perché conta l'affidabilità del sistema completo, non solo del modello.</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linguaggio comune questi termini si usano come sinonimi, ma indicano cose diverse. L'accuratezza è la corrispondenza tra il risultato e la realtà o la risposta corretta: quanto spesso il sistema ha ragione. L'affidabilità è la capacità di mantenere un livello di qualità adeguato in modo costante, nelle condizioni d'uso reali, compresi i casi difficili: possiamo contare su quel sistema per quel compito? La consistenza è la coerenza dei risultati: risposte simili a richieste simili, nessuna contraddizione interna, stesso trattamento per casi equivalenti. L'utilità è il valore che il risultato porta a chi lo usa: fa risparmiare tempo, migliora il lavoro, aiuta a decidere? Le quattro dimensioni non coincidono. Un sistema può essere accurato nel novanta per cento dei casi ma poco affidabile, se non sappiamo prevedere quando sbaglia. Può essere molto consistente e sistematicamente sbagliato, come abbiamo visto nel Tema 2. E un risultato imperfetto può essere molto utile: una bozza con qualche errore che fa risparmiare un'ora di lavoro, se l'errore è facile da correggere. Per valutare un sistema, bisogna chiedersi quale di queste dimensioni conta di più per il compito specifico.</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modello può funzionare molto bene in un compito e male in un altro, anche se i due compiti sembrano simili. È la 'frontiera tecnologica frastagliata' descritta da Dell'Acqua e colleghi in uno studio su 758 consulenti, pubblicato nel 2026 sulla rivista Organization Science e citato anche nel Tema 1: compiti apparentemente simili possono stare da parti opposte del confine di ciò che l'AI sa fare bene. Lo schema in slide propone un profilo qualitativo di un ipotetico assistente generico: non sono misure, ma un modo per visualizzare l'idea. Ottimo nel riformulare e correggere testi, molto buono nelle sintesi e nelle traduzioni, buono nell'estrarre dati da documenti ben strutturati, più incerto su calcoli complessi senza strumenti, su fatti specifici senza fonti e su conteggi precisi. Perché? Perché le prestazioni dipendono da quanto il compito somiglia a ciò che il modello ha visto in addestramento, da quanto richiede conoscenze precise rispetto a competenze linguistiche, da quanto il risultato richiede esattezza assoluta, e dalla disponibilità di strumenti adatti. Il profilo reale varia da sistema a sistema e cambia con gli aggiornamenti. La conseguenza pratica è importante: non si può dire 'questo modello è affidabile' in generale. Si può dire, al massimo, 'questo sistema si è dimostrato affidabile per questo compito, in queste condizioni'.</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Accanto all'accuratezza, due qualità sono importanti quando l'AI entra in un processo di lavoro. La prima è la ripetibilità: la capacità di produrre risultati coerenti alla stessa richiesta. Ne abbiamo visto il meccanismo nel Tema 2, parlando di variabilità; qui ci interessa come criterio di qualità. Per molti compiti creativi la variabilità non è un problema; per compiti come classificare richieste o estrarre dati, invece, risultati diversi a parità di input rendono il processo poco affidabile. La seconda è la robustezza: la capacità di mantenere risultati corretti quando l'input cambia in modo irrilevante. Un sistema robusto dà la stessa risposta se riformuliamo la domanda con parole diverse, se cambiamo l'ordine delle informazioni, se c'è un errore di battitura o una frase in più non pertinente. I sistemi AI attuali sono abbastanza robusti in molti casi, ma non sempre: una piccola variazione nella formulazione può cambiare il risultato, anche in modo significativo. Un test pratico, semplice e molto istruttivo: porre la stessa domanda in due o tre forme diverse. Se le risposte divergono nella sostanza, è un segnale che il risultato non è solido e va verificato con più attenzione.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un nuovo modello viene presentato, lo si accompagna di solito con due tipi di evidenze: i risultati sui benchmark e le dimostrazioni. I benchmark sono raccolte standardizzate di domande o compiti, su cui si misurano e confrontano i modelli: problemi di matematica, domande di cultura generale, esercizi di programmazione, esami professionali. Sono utili per confrontare i sistemi e misurarne i progressi, ma hanno limiti che è bene conoscere, anche solo a grandi linee. Misurano compiti standardizzati, spesso diversi da quelli reali. Alcune domande dei benchmark possono essere finite nei dati di addestramento, falsando i risultati: si parla di contaminazione. Quando i modelli raggiungono punteggi molto alti, il benchmark smette di distinguere tra loro: si parla di saturazione. E soprattutto, un punteggio medio non dice nulla su come il sistema si comporterà sui nostri casi. Le dimostrazioni, come abbiamo visto nel Tema 1, mostrano il caso migliore in condizioni controllate. Non approfondiamo i benchmark specialistici e le metriche: il messaggio è che punteggi e demo sono indizi utili, ma non sostituiscono la prova sul proprio contesto.</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benchmark e dimostrazioni non bastano, come si valuta un sistema per un uso specifico? Senza entrare in metodologie quantitative, possiamo indicare un approccio semplice, applicabile anche da chi non è tecnico. Primo: definire con precisione il compito e che cosa si intende per risultato buono. Secondo: raccogliere un insieme di casi reali, rappresentativi della varietà che incontreremo, compresi i casi difficili, insoliti e ambigui, non solo quelli tipici. Terzo: confrontare i risultati del sistema con quelli attesi, possibilmente con il giudizio di una persona competente. Quarto: annotare dove e come il sistema sbaglia: non conta solo quanti errori fa, ma di che tipo sono, quanto sono gravi e quanto sono facili da individuare. Quinto: ripetere la valutazione nel tempo, perché modelli, applicazioni e dati cambiano. Un esempio: prima di usare l'AI per estrarre dati dalle fatture dei fornitori, provarla su cinquanta fatture reali di formati diversi, comprese quelle scansionate male, e controllare campo per campo. Questo approccio porta a una conclusione molto più utile di qualunque benchmark generico. La progettazione strutturata di queste valutazioni, con criteri di successo e insuccesso definiti prima, è trattata nel Tema 15.</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valutiamo l'affidabilità, dobbiamo guardare al sistema completo, non solo al modello. Nel Tema 2 abbiamo visto che il modello è il motore di un'applicazione più ampia. Allo stesso modo, il risultato che arriva sulla nostra scrivania dipende da una catena di elementi: la qualità dei dati e dei documenti disponibili; il modo in cui vengono recuperate le informazioni, per esempio in un sistema RAG; il modello; le istruzioni e la configurazione dell'applicazione; gli strumenti collegati; e infine la persona che usa e controlla il risultato. Come in ogni catena, l'affidabilità complessiva dipende anche dagli anelli più deboli. Un ottimo modello collegato a un archivio documentale disordinato, con versioni obsolete delle procedure, darà risposte obsolete. Un sistema ben configurato usato da una persona che non controlla nulla produrrà errori non intercettati. Al contrario, un modello meno potente, ma con buone fonti, istruzioni chiare e controlli adeguati, può dare risultati più affidabili. Per questo quando un progetto AI non funziona, la causa non è sempre 'il modello'.</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Accuratezza, affidabilità, consistenza e utilità sono dimensioni diverse. Le prestazioni cambiano da compito a compito e possono cambiare con piccole variazioni dell'input. Benchmark e dimostrazioni sono indizi, non prove sul nostro contesto. E l'affidabilità riguarda il sistema completo, dalle fonti alla persona che controlla. Domanda di verifica: un collega dice 'ho letto che il modello X è il migliore sui benchmark, quindi possiamo usarlo per estrarre dati dai nostri contratti'. Che cosa gli rispondete? Risposta: che il benchmark è un indizio, ma serve una prova sui nostri contratti reali, compresi i casi difficili, e una valutazione del sistema completo.</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Arriviamo alla parte più operativa del modulo. Abbiamo visto che i sistemi AI possono sbagliare in vari modi; ora vediamo come controllare i risultati. Non svilupperemo tecniche dettagliate di prompting, ma principi di controllo applicabili a qualunque strumento. Il punto di partenza è culturale: la verifica non è un segno di sfiducia o un'attività accessoria, ma una parte normale dell'uso dell'AI, come rileggere un documento prima di inviarlo. E deve essere proporzionata: non tutto va verificato con lo stesso livello di attenzione.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Possiamo raggruppare i controlli in quattro famiglie, che corrispondono ai principali tipi di errore. Le affermazioni fattuali: nomi, date, eventi, dati, norme, caratteristiche di prodotti. Sono il terreno tipico delle allucinazioni. Le fonti e i riferimenti: esistono? Dicono davvero ciò che viene attribuito loro? Sono autorevoli e aggiornate? I calcoli, i dati e le informazioni numeriche: i numeri sono corretti, i totali tornano, i dati estratti corrispondono all'originale? La completezza e la coerenza: la risposta copre tutti gli aspetti richiesti, non omette elementi importanti, non contiene contraddizioni interne, è coerente con le istruzioni e con il contesto? Non tutti i controlli servono ogni volta: dipende dal tipo di output. Una bozza di email richiede soprattutto il controllo di coerenza e tono; un report con dati richiede il controllo dei numeri e delle fonti; un riassunto di un contratto richiede il controllo di completezza e di fedeltà al testo originale. Nelle prossime slide vediamo ciascuna famiglia.</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le affermazioni fattuali e le fonti, possiamo seguire tre domande, in ordine. Prima domanda: la fonte esiste? Cercare il documento, l'articolo, la norma, la pagina citata. Se non si trova, va considerata inesistente, anche se sembra perfettamente plausibile. Seconda domanda: la fonte dice davvero ciò che le viene attribuito? Accade spesso che la fonte esista, ma che il sistema le attribuisca un contenuto diverso, la citi in modo impreciso o la estenda oltre ciò che afferma. Bisogna quindi aprirla e leggere il passaggio pertinente, non fermarsi al titolo. Terza domanda: la fonte è autorevole e aggiornata? Una normativa abrogata, un articolo di opinione, un sito poco affidabile, un documento interno superato non sono fonti adeguate per un'informazione importante. Per le affermazioni senza fonte, la regola è confrontarle con una fonte indipendente e affidabile: la documentazione ufficiale, il sito dell'ente competente, il testo normativo, i dati aziendali di riferimento. Un consiglio pratico: quando possibile, usare strumenti che mostrano le fonti e permettono di aprirle con un clic; rende la verifica molto più rapida. Ma il clic va fatto.</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numeri meritano un'attenzione particolare, per tre ragioni: sono un terreno frequente di errore, sono spesso difficili da individuare a occhio, e finiscono in documenti e decisioni importanti. Alcuni principi pratici. Ricalcolare i valori importanti con uno strumento affidabile, come un foglio di calcolo; oppure, se l'assistente può eseguire codice, chiedere che i calcoli vengano eseguiti invece che 'stimati' nel testo. Confrontare i dati estratti con il documento originale, almeno a campione: se l'AI ha estratto venti importi da un contratto, controllarne alcuni, e tutti se sono critici. Fare controlli di plausibilità: gli ordini di grandezza sono sensati? I totali corrispondono alla somma delle parti? Le percentuali sommano a cento? Le date sono coerenti tra loro? Prestare attenzione alle unità di misura, alle valute, ai separatori decimali, che cambiano tra formati italiani e anglosassoni. Verificare che i dati siano quelli giusti: l'AI potrebbe aver usato un dato corretto ma riferito a un periodo, un'entità o una versione diversa. Questi controlli richiedono pochi minuti e prevengono gli errori più costosi.</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controlli spesso trascurati sono quelli di completezza e coerenza. Completezza: la risposta copre tutto ciò che era richiesto? Le omissioni sono insidiose perché non si vedono: un riassunto di un contratto può essere accurato in ogni frase e omettere proprio la clausola di recesso. Un buon controllo è partire dalla richiesta originale e spuntare ogni punto, oppure, per i documenti, verificare che le sezioni principali siano rappresentate. Coerenza: la risposta è priva di contraddizioni interne? È coerente con le istruzioni date, con il contesto e con ciò che sappiamo? Accanto a questi, un principio organizzativo: la tracciabilità. Significa poter ricostruire da dove viene ogni informazione importante: da quale documento, da quale fonte, da quale elaborazione. In pratica: conservare le fonti usate, annotare quali parti di un documento sono state prodotte o modificate con l'AI quando è rilevante, mantenere il collegamento tra un dato e la sua origine. La tracciabilità rende possibile verificare anche a posteriori, correggere rapidamente se emerge un errore, e rispondere alla domanda 'da dove viene questo numero?'. Le regole aziendali su come documentare l'uso dell'AI sono trattate nei Temi 17 e 18.</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tentazione naturale è chiedere all'AI di verificare il proprio lavoro: 'sei sicuro?', 'controlla la risposta', 'queste fonti esistono?'. Può essere utile, ma ha limiti importanti. L'autoverifica serve come primo filtro: chiedere al sistema di rileggere, di cercare errori o di mostrare i passaggi può far emergere alcuni sbagli evidenti, soprattutto nei calcoli e nella logica, e alcuni sistemi lo fanno anche in automatico. Ma non è una verifica indipendente, per tre ragioni. Primo: il sistema usa la stessa conoscenza e gli stessi meccanismi che hanno prodotto l'errore; se non sa che un'informazione è falsa, non lo saprà nemmeno al secondo controllo. Secondo: la tendenza ad assecondare l'utente può portare a risultati opposti: il sistema può confermare un errore se gli chiediamo conferma, oppure cambiare una risposta corretta se mostriamo un dubbio. Ricordiamo il caso Avianca, in cui il sistema confermò l'esistenza di sentenze inventate. Terzo: un sistema non ha accesso diretto alla verità; a meno che non usi strumenti esterni come la ricerca, 'verificare' significa solo rigenerare. L'autoverifica che usa strumenti esterni, come una ricerca effettiva o l'esecuzione di codice, è più utile, ma anche i suoi risultati vanno controllati. In sintesi: l'autoverifica è un aiuto, non un sostituto della verifica umana o su fonti indipendenti.</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verifica richiede competenza: per accorgersi di un errore bisogna saperne abbastanza sull'argomento. È un punto delicato, perché l'AI è particolarmente attraente proprio quando non conosciamo bene un tema, ed è proprio allora che siamo meno in grado di controllarla. La regola pratica è che chi verifica deve avere le competenze necessarie per quel tipo di output, o deve coinvolgere chi le ha. Un secondo rischio da conoscere è l'automation bias, o pregiudizio di automazione: la tendenza, documentata da decenni di studi in settori come l'aviazione e la medicina (per una sintesi, Parasuraman e Manzey, 2010), a fidarsi eccessivamente dei sistemi automatici e a ridurre l'attenzione quando funzionano bene la maggior parte delle volte. Più un sistema è affidabile, più rischiamo di non accorgerci del suo errore occasionale. Infine, la verifica deve essere proporzionata. Lo schema in slide propone tre livelli indicativi. Verifica leggera, cioè una rilettura critica, per bozze interne, idee e testi a basso impatto. Verifica standard, cioè controllo dei fatti principali, dei numeri e delle fonti, per documenti che escono dal gruppo di lavoro. Verifica approfondita, con controllo su fonti indipendenti e revisione di un esperto, per contenuti con conseguenze legali, economiche, di sicurezza o reputazionali rilevanti.</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Verificare significa controllare fatti, fonti, numeri, completezza e coerenza, con l'aiuto della tracciabilità. L'autoverifica del sistema è un primo filtro, non un sostituto. Chi verifica deve avere le competenze necessarie e diffidare dell'automation bias. E la profondità della verifica va commisurata alle conseguenze di un errore: leggera per le bozze interne, approfondita per ciò che ha effetti legali, economici o sulla sicurezza. Domanda di verifica: un assistente vi ha preparato una tabella di confronto tra tre offerte di fornitori, da presentare alla direzione. Quale livello di verifica serve e che cosa controllate? Risposta: almeno standard; controllare i prezzi e le condizioni sulle offerte originali, la completezza dei criteri e la coerenza dei totali.</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sottotema, a priorità media, ha l'obiettivo di dare una comprensione generale dei fattori che determinano la qualità dei risultati. Non è un elenco di tecniche: le tecniche di formulazione delle richieste sono trattate nel Tema 6. Qui ci interessa capire che la qualità di un risultato non dipende solo dallo strumento, ma da una combinazione di fattori, molti dei quali sono sotto il nostro controllo.</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i sette fattori principali. La scelta del modello e le caratteristiche del sistema: modelli diversi hanno capacità diverse, e lo stesso modello si comporta diversamente in applicazioni diverse. La complessità e l'ambiguità del compito: più un compito è complesso, insolito o ambiguo, più aumenta la probabilità di errore. La qualità delle informazioni disponibili: documenti chiari, aggiornati e corretti producono risultati migliori di materiali confusi, incompleti o contraddittori. La formulazione delle istruzioni: richieste chiare, specifiche, con obiettivo, contesto e formato atteso, producono risultati migliori di richieste vaghe. La quantità e la pertinenza del contesto: il contesto giusto aiuta, quello eccessivo o non pertinente può confondere. La disponibilità di strumenti e fonti esterne: ricerca, esecuzione di codice, accesso a basi documentali cambiano molto l'affidabilità per certi compiti. Le differenze tra ambiti applicativi: le prestazioni variano tra settori e domini, come vedremo. Notate che almeno quattro di questi fattori dipendono in gran parte da noi: la scelta dello strumento adatto, la qualità delle informazioni che forniamo, la formulazione delle istruzioni e il contesto.</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sette fattori possono essere raggruppati in tre famiglie, che interagiscono tra loro. La tecnologia: il modello, il sistema, gli strumenti disponibili. Le informazioni: la qualità, la quantità e la pertinenza di ciò che il sistema ha a disposizione. Le modalità operative: come formuliamo il compito, quanto è complesso, in quale ambito lavoriamo. L'esempio in slide mostra come interagiscono. Stessa domanda, stesso modello: 'Quali sono i termini di pagamento concordati con il fornitore Rossi?'. Senza alcun documento, il sistema non può saperlo, e se risponde inventa: è un'allucinazione garantita. Con il contratto allegato, ma con una richiesta vaga, otteniamo una risposta probabilmente corretta ma forse incompleta. Con il contratto allegato e una richiesta precisa, che chiede termini, scadenze e penali citando la clausola, otteniamo una risposta completa e verificabile. La tecnologia è la stessa: è cambiato tutto il resto. Il messaggio è che le prestazioni non sono una proprietà fissa dello strumento, ma il risultato di come lo usiamo.</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prestazioni dei sistemi AI non sono uguali in tutti gli ambiti. Alcuni fattori rendono un ambito più o meno favorevole. Il linguaggio: i sistemi lavorano meglio con il linguaggio generale che con linguaggi molto tecnici o settoriali, come quello di nicchie ingegneristiche o di specifiche procedure interne. La lingua: le prestazioni in italiano sono generalmente buone, ma su terminologia specialistica possono essere inferiori rispetto all'inglese, che domina i dati di addestramento. Il contesto locale: normative nazionali o regionali, prassi di settore, contratti collettivi, realtà di mercato locali sono meno rappresentati dei temi globali, e quindi più esposti a errori o a risposte basate su altri paesi. I dati e le conoscenze aziendali: tutto ciò che è specifico della nostra organizzazione, come prodotti, clienti, procedure e storia, non è noto al modello se non viene fornito. La velocità di cambiamento: in ambiti che cambiano rapidamente, come normative, prezzi o tecnologie, la conoscenza incorporata invecchia in fretta. In sintesi: quanto più un ambito è specialistico, locale, interno o in rapido cambiamento, tanto più contano le fonti fornite e la verifica esperta.</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La qualità di un risultato AI non dipende solo dallo strumento: dipende anche dalle informazioni che il sistema ha a disposizione e da come lo usiamo. Molti fattori sono sotto il nostro controllo: scegliere lo strumento adatto, fornire informazioni di qualità e pertinenti, formulare richieste chiare. E alcuni ambiti, specialistici, locali o in rapido cambiamento, richiedono più attenzione. Domanda di verifica: un collega lamenta che 'l'AI dà risposte generiche e sbagliate sulle nostre procedure'. Quali fattori controllereste? Possibili risposte: se le procedure sono state fornite, se sono aggiornate, come è formulata la richiesta, se lo strumento ha accesso alle fonti aziendali.</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che raccoglie tutto il modulo in una capacità decisionale. Abbiamo visto che cosa sa fare l'AI, dove sbaglia, come valutarla e come verificarla. Ora la domanda è: in quali attività usarla, con quale ruolo, e quando invece limitarne o evitarne l'uso? Ci concentriamo sulla compatibilità tra capacità, affidabilità e rischio del compito. La selezione dei progetti e il calcolo del ROI sono trattati nei Temi 12 e 15; privacy, sicurezza, normativa e policy nei Temi 17 e 18.</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passo è distinguere due domande. La prima: il sistema è tecnicamente in grado di svolgere il compito? Spesso la risposta è sì: può scrivere una valutazione di un collaboratore, rispondere a una domanda medica, redigere un parere legale, decidere a quale cliente concedere una dilazione. La seconda: è opportuno usarlo per questo compito, in questo modo? Qui la risposta dipende da altri fattori: quanto è affidabile per quel compito specifico, quanto è grave un errore, se possiamo verificare il risultato, chi ne subisce le conseguenze, che cosa prevedono le regole aziendali e le normative. Il fatto che un sistema produca un risultato convincente non significa che sia opportuno affidargli quel compito. È la stessa logica che applichiamo alle persone: un neoassunto brillante può scrivere un contratto, ma non lo facciamo firmare senza una revisione. Il concetto chiave del sottotema lo esprime chiaramente: l'AI va usata quando le sue prestazioni e i controlli disponibili sono compatibili con il rischio del compito, non soltanto quando sembra capace di eseguirlo.</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decidere, dobbiamo partire dalle conseguenze di un possibile errore. Possiamo valutarle con quattro domande. Quanto è grave l'errore? Una frase poco elegante in una bozza interna ha conseguenze trascurabili; un importo sbagliato in un'offerta o un'informazione errata a un cliente possono avere conseguenze economiche, legali o reputazionali serie. È reversibile? Un errore in una bozza si corregge facilmente; un'email inviata a mille clienti, un pagamento eseguito, una decisione comunicata a un candidato sono difficili o impossibili da annullare. Chi ne subisce le conseguenze? Un errore che resta a noi è diverso da uno che ricade su clienti, collaboratori, cittadini, soprattutto se riguarda i loro diritti, la loro salute o la loro situazione economica. È rilevabile? Alcuni errori si notano subito, altri restano nascosti a lungo, come un dato sbagliato in un report che alimenta decisioni successive. Più le risposte a queste domande indicano gravità, irreversibilità, impatto su terzi e difficoltà di rilevazione, più l'uso dell'AI richiede cautela.</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Combinando l'impatto di un errore con la facilità di verifica, otteniamo una matrice utile per orientare le decisioni. Basso impatto e verifica facile: bozze di email interne, idee, riformulazioni, sintesi per uso personale. Qui l'AI può essere usata liberamente, con una rilettura. Basso impatto ma verifica difficile: per esempio ricerche esplorative su temi che non conosciamo. L'uso è possibile, ma i risultati vanno trattati come indicazioni da approfondire, non come conclusioni. Alto impatto ma verifica facile: per esempio un'offerta commerciale o un documento contrattuale preparato a partire da dati che possiamo controllare. L'AI può essere un ottimo supporto, con verifica sistematica prima dell'uso. Alto impatto e verifica difficile: per esempio decisioni su persone, valutazioni legali, mediche o di sicurezza, dove l'errore è grave e difficile da individuare. Qui l'uso va limitato a un supporto per esperti competenti, oppure evitato. La matrice è indicativa: serve a ragionare, non a sostituire il giudizio e le regole aziendali. Suggerimento: chiedere ai partecipanti di collocare nella matrice tre attività del proprio lavoro.</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integrazione del sottotema esprime un principio fondamentale: non esiste una soglia di affidabilità valida in assoluto. La soglia richiesta, e i controlli necessari, dipendono dalle conseguenze di un errore. Un sistema che sbaglia una volta su venti può essere più che adeguato per generare idee o bozze, dove l'errore è innocuo e facile da correggere. Lo stesso sistema è del tutto inadeguato per calcolare le buste paga o per rispondere a domande sulla sicurezza degli impianti, dove anche un errore su mille può essere inaccettabile. Lo schema in slide mette in relazione le conseguenze di un errore con l'affidabilità richiesta e con i controlli necessari. Il principio si può applicare in due direzioni. Se il compito ha conseguenze gravi, servono un sistema dimostratamente affidabile per quel compito e controlli robusti. Se il sistema non raggiunge quell'affidabilità, o i controlli non sono possibili, l'uso va ridotto a un ruolo di supporto, o evitato. Ecco perché la domanda 'l'AI è affidabile?' non ha una risposta generale: la domanda giusta è 'è abbastanza affidabile per questo scopo, con i controlli che possiamo mettere in atto?'.</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Decidere di usare l'AI non è una scelta tutto o niente: possiamo affidarle ruoli diversi. Lo spettro in slide ne propone tre. Supporto: l'AI aiuta la persona, che svolge il compito e decide. Per esempio, suggerisce idee, prepara una bozza, sintetizza materiali; la persona usa ciò che ritiene utile. È il ruolo più diffuso e, in genere, quello con il rischio più basso. Supervisione: l'AI svolge il compito, la persona controlla ogni risultato prima che venga usato. Per esempio, l'AI propone le risposte ai clienti, un operatore le verifica e le invia. Il rischio dipende dalla qualità reale del controllo, e dal rischio di automation bias. Delega: l'AI svolge il compito in autonomia, e la persona interviene solo su eccezioni o a campione. Per esempio, la classificazione automatica di documenti a basso impatto. Richiede un'affidabilità dimostrata nel contesto specifico, conseguenze limitate degli errori e un monitoraggio continuo. Con la diffusione di sistemi sempre più autonomi, spesso chiamati agenti, capaci di svolgere sequenze di azioni, la scelta del ruolo diventa ancora più importante. Il principio: più autonomia diamo, più devono essere alte l'affidabilità dimostrata e basse le conseguenze degli errori.</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Possiamo ora indicare alcune situazioni in cui è opportuno limitare o evitare l'uso dell'AI, o riservarlo a un ruolo di supporto per persone competenti. Quando il compito richiede competenze specialistiche che chi usa lo strumento non possiede, e non è possibile coinvolgere un esperto: se non siamo in grado di valutare il risultato, non possiamo verificarlo. Quando le conseguenze di un errore sono gravi o irreversibili, e non esistono controlli adeguati. Quando il compito riguarda decisioni con effetti significativi sulle persone, come selezione, valutazione, accesso a servizi, salute e sicurezza, che richiedono giudizio umano, trasparenza e spesso garanzie specifiche previste dalla normativa. Quando non è possibile verificare il risultato, né sulla fonte né con una competenza adeguata. Quando servono informazioni aggiornate o interne che il sistema non ha e non può recuperare. Quando sono coinvolti dati riservati e lo strumento non è autorizzato a trattarli: un tema approfondito nel Tema 17. Infine, quando l'attività ha un valore proprio nel fatto di essere svolta da una persona: un messaggio personale di condoglianze, un colloquio delicato, un'attività formativa che serve a imparare.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Concludiamo il sottotema, e il modulo, con il principio che li tiene insieme: la responsabilità delle decisioni e dei risultati resta alle persone. Un sistema AI non può essere responsabile di un errore: non risponde delle conseguenze, non può essere chiamato a giustificarsi, non ha obblighi professionali. Quando usiamo un risultato prodotto con l'AI, in un documento, in una comunicazione o in una decisione, ne diventiamo responsabili come se l'avessimo prodotto noi. 'L'ha scritto l'AI' non è una giustificazione, né verso un cliente, né verso l'azienda, né in sede legale, come mostra il caso degli avvocati di New York. Questo principio ha tre implicazioni pratiche. Primo: chi usa l'AI deve sapere che cosa sta usando, cioè conoscerne capacità e limiti: è lo scopo di questo modulo. Secondo: deve mettere in atto controlli proporzionati alle conseguenze. Terzo: deve sapere quando non usarla, o quando coinvolgere qualcun altro. Le regole organizzative, le responsabilità formali e la normativa, a partire dall'AI Act, sono affrontate nel Tema 18. Qui ci interessa la consapevolezza individuale: l'AI può fare molto del lavoro, ma la responsabilità del risultato non si delega.</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dell'ultimo sottotema. La possibilità tecnica non basta: conta l'opportunità, che dipende dalle conseguenze di un errore, cioè gravità, reversibilità, impatto su terzi e rilevabilità. L'affidabilità richiesta e i controlli necessari crescono con le conseguenze. L'AI può avere ruoli diversi, dal supporto alla delega, e più autonomia richiede più affidabilità dimostrata. Ci sono situazioni in cui conviene limitarne o evitarne l'uso. E in ogni caso la responsabilità del risultato resta umana. Domanda di verifica: pensate a un'attività del vostro lavoro in cui oggi non usereste l'AI. Perché? Che cosa dovrebbe cambiare, nello strumento o nei controlli, per renderla adatta?</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alle otto domande guida. Quali attività l'AI svolge efficacemente? Molte, tra linguaggio, contenuti, estrazione, analisi, multimodalità, supporto cognitivo e strumenti; la qualità dipende da sistema, compito, informazioni e modalità d'uso. Quali limiti ha il ragionamento? Ragionamenti convincenti possono contenere errori, e le situazioni nuove, ambigue o complesse aumentano il rischio. Perché una risposta convincente può essere falsa? Perché il modello genera testo plausibile, non verificato; la forma non dimostra la correttezza. Come emergono i bias? Da dati, addestramento e contesto, comprese le nostre domande, e dalla tendenza ad assecondare l'utente. In cosa differiscono accuratezza, affidabilità, consistenza e utilità? Sono dimensioni diverse che non coincidono. Quali controlli servono? Fatti, fonti, numeri, completezza e coerenza, in modo proporzionato. Perché lo stesso modello va bene in un compito e male in un altro? Per la frontiera frastagliata: le prestazioni dipendono dal compito. Quando l'errore richiede più supervisione o sconsiglia l'AI? Quando le conseguenze sono gravi, irreversibili, ricadono su terzi o non si possono controllare. Suggerimento: far rispondere i partecipanti prima di mostrare la slide.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gli otto risultati attesi. Il partecipante dovrebbe essere in grado di: riconoscere le principali capacità dei sistemi AI e associarle a tipologie di attività; comprendere perché un sistema possa produrre risposte plausibili ma errate; identificare possibili bias e distorsioni; distinguere la qualità espressiva di una risposta dalla sua correttezza; comprendere che l'affidabilità dipende da modello, compito e contesto; riconoscere quando verificare le informazioni con fonti indipendenti o controlli appropriati; valutare se il livello di affidabilità è compatibile con le conseguenze di un errore; distinguere i compiti supportabili dall'AI da quelli che richiedono maggiore controllo o competenze specialistiche. Insieme, questi risultati compongono la capacità che abbiamo chiamato calibrare la fiducia.</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slide traduce il modulo in una checklist operativa, da distribuire ai partecipanti o da appendere vicino alla scrivania. Sei domande da porsi prima di usare un risultato prodotto con l'AI. Il compito è adatto all'AI e allo strumento che ho usato? Le conseguenze di un errore sono basse, o ho previsto controlli adeguati? Ho verificato fatti, numeri e fonti importanti? Ho controllato che non manchi nulla di rilevante e che non ci siano contraddizioni? La risposta potrebbe essere sbilanciata, per come ho posto la domanda o per i limiti del sistema? Sono in grado di valutare questo risultato, e sono pronto ad assumermene la responsabilità? Se la risposta a una di queste domande è no, serve un controllo in più, il coinvolgimento di un collega competente, oppure la scelta di non usare quel risultato.</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con sei semplificazioni da evitare. Le prime cinque spingono verso la fiducia eccessiva, l'ultima verso la sfiducia totale: sono i due estremi della scala vista all'inizio. Primo: 'ha mostrato i passaggi, quindi è corretto'. Un ragionamento ben presentato può contenere un errore intermedio; i passaggi servono proprio a cercarlo. Secondo: 'è scritto bene, quindi è vero'. Le risposte sbagliate sono scritte bene quanto quelle giuste. Terzo: 'il tono è neutro, quindi è imparziale'. Le scelte su che cosa includere e come presentarlo non sono neutre. Quarto: 'è il migliore nei test comparativi, quindi va bene per noi'. Benchmark e dimostrazioni sono indizi; conta la prova sui nostri casi. Quinto: 'gli ho chiesto se è sicuro e ha confermato'. L'autoverifica non è una verifica indipendente, come mostra il caso Avianca. Sesto, all'estremo opposto: 'sbaglia, quindi è meglio non usarla'. Anche le persone sbagliano: la domanda giusta è se l'affidabilità e i controlli sono adeguati alle conseguenze di un errore. Suggerimento: chiedere ai partecipanti quale di queste frasi hanno sentito più spesso in azienda.</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questo modulo si conclude l'area 'Comprendere l'AI'. Abbiamo visto perché l'AI è rilevante, come funziona e quanto possiamo fidarci dei suoi risultati. Il prossimo tema, dedicato all'ecosistema dell'AI, guarderà al panorama concreto di prodotti, piattaforme e modelli. I concetti di questo modulo saranno essenziali per orientarsi: sapere che le capacità dipendono dal sistema e non solo dal modello, che l'affidabilità va valutata sul proprio compito e che benchmark e dimostrazioni non bastano permetterà di leggere con spirito critico le proposte e i confronti tra strumenti. Lasciare spazio alle domande finali. Slide facoltativa: se il modulo è presentato da solo o in una selezione di slide, può essere nascosta o tolta senza perdere nulla del contenuto.</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slide raccoglie le principali fonti citate nel modulo. Le capacità dei sistemi e la frequenza di errori come le allucinazioni cambiano rapidamente con le nuove versioni: prima di ogni edizione del corso è consigliabile verificare se ci sono evidenze o casi più recenti da citare. Le fonti sono state verificate a ottobre 2026; per Sharma e Dell'Acqua sono indicate le versioni pubblicate.</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097280"/>
            <a:ext cx="7863840" cy="365760"/>
          </a:xfrm>
          <a:prstGeom prst="rect">
            <a:avLst/>
          </a:prstGeom>
          <a:noFill/>
          <a:ln/>
        </p:spPr>
        <p:txBody>
          <a:bodyPr wrap="square" rtlCol="0"/>
          <a:lstStyle>
            <a:lvl1pPr marL="0" indent="0">
              <a:buNone/>
              <a:defRPr lang="en-US" sz="1300" b="1" kern="0" spc="200"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640080" y="1554480"/>
            <a:ext cx="7863840" cy="14630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0"/>
          <p:cNvSpPr>
            <a:spLocks noGrp="1"/>
          </p:cNvSpPr>
          <p:nvPr>
            <p:ph type="body" idx="102" hasCustomPrompt="1"/>
          </p:nvPr>
        </p:nvSpPr>
        <p:spPr>
          <a:xfrm>
            <a:off x="640080" y="3154680"/>
            <a:ext cx="7863840" cy="82296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rtlCol="0"/>
          <a:lstStyle>
            <a:lvl1pPr marL="0" indent="0">
              <a:buNone/>
              <a:defRPr lang="en-US" sz="6000" b="1" dirty="0">
                <a:solidFill>
                  <a:schemeClr val="accent1"/>
                </a:solidFill>
              </a:defRPr>
            </a:lvl1pPr>
          </a:lstStyle>
          <a:p>
            <a:pPr marL="0" indent="0">
              <a:buNone/>
            </a:pP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marL="0" indent="0">
              <a:buNone/>
            </a:pPr>
            <a:r>
              <a:rPr lang="en-US" sz="900" dirty="0">
                <a:solidFill>
                  <a:schemeClr val="accent2"/>
                </a:solidFill>
              </a:rPr>
              <a:t>AI Literacy  ·  Tema 3  ·  Capacità, limiti e affidabilità dell'AI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rtlCol="0"/>
          <a:lstStyle>
            <a:lvl1pPr marL="0" indent="0" algn="l">
              <a:buNone/>
              <a:defRPr lang="en-US" sz="2600" b="1" dirty="0">
                <a:solidFill>
                  <a:schemeClr val="tx1"/>
                </a:solidFill>
              </a:defRPr>
            </a:lvl1pPr>
          </a:lstStyle>
          <a:p>
            <a:pPr marL="0" indent="0" algn="l">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marL="0" indent="0">
              <a:buNone/>
            </a:pPr>
            <a:r>
              <a:rPr lang="en-US" sz="900" dirty="0">
                <a:solidFill>
                  <a:schemeClr val="accent2"/>
                </a:solidFill>
              </a:rPr>
              <a:t>AI Literacy  ·  Tema 3  ·  Capacità, limiti e affidabilità dell'AI</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marL="0" indent="0">
              <a:buNone/>
            </a:pPr>
            <a:r>
              <a:rPr lang="en-US" sz="1300" b="1" kern="0" spc="300" dirty="0">
                <a:solidFill>
                  <a:schemeClr val="accent1"/>
                </a:solidFill>
              </a:rPr>
              <a:t>CONCETTO CHIAVE</a:t>
            </a:r>
            <a:endParaRPr lang="en-US" sz="1300" dirty="0"/>
          </a:p>
        </p:txBody>
      </p:sp>
      <p:sp>
        <p:nvSpPr>
          <p:cNvPr id="3" name="Text 1"/>
          <p:cNvSpPr>
            <a:spLocks noGrp="1"/>
          </p:cNvSpPr>
          <p:nvPr>
            <p:ph type="body" idx="101" hasCustomPrompt="1"/>
          </p:nvPr>
        </p:nvSpPr>
        <p:spPr>
          <a:xfrm>
            <a:off x="822960" y="1600200"/>
            <a:ext cx="7498080" cy="2011680"/>
          </a:xfrm>
          <a:prstGeom prst="rect">
            <a:avLst/>
          </a:prstGeom>
          <a:noFill/>
          <a:ln/>
        </p:spPr>
        <p:txBody>
          <a:bodyPr wrap="square" rtlCol="0"/>
          <a:lstStyle>
            <a:lvl1pPr marL="0" indent="0">
              <a:buNone/>
              <a:defRPr lang="en-US" sz="2600" dirty="0">
                <a:solidFill>
                  <a:schemeClr val="bg1"/>
                </a:solidFill>
              </a:defRPr>
            </a:lvl1pPr>
          </a:lstStyle>
          <a:p>
            <a:pPr marL="0" indent="0">
              <a:buNone/>
            </a:pPr>
            <a:endParaRPr lang="en-US" sz="2600" dirty="0"/>
          </a:p>
        </p:txBody>
      </p:sp>
      <p:sp>
        <p:nvSpPr>
          <p:cNvPr id="4" name="Text 1"/>
          <p:cNvSpPr>
            <a:spLocks noGrp="1"/>
          </p:cNvSpPr>
          <p:nvPr>
            <p:ph type="body" idx="102" hasCustomPrompt="1"/>
          </p:nvPr>
        </p:nvSpPr>
        <p:spPr>
          <a:xfrm>
            <a:off x="822960" y="3794760"/>
            <a:ext cx="7498080" cy="365760"/>
          </a:xfrm>
          <a:prstGeom prst="rect">
            <a:avLst/>
          </a:prstGeom>
          <a:noFill/>
          <a:ln/>
        </p:spPr>
        <p:txBody>
          <a:bodyPr wrap="square" rtlCol="0"/>
          <a:lstStyle>
            <a:lvl1pPr marL="0" indent="0">
              <a:buNone/>
              <a:defRPr lang="en-US" sz="1300" dirty="0">
                <a:solidFill>
                  <a:schemeClr val="accent3"/>
                </a:solidFill>
              </a:defRPr>
            </a:lvl1pPr>
          </a:lstStyle>
          <a:p>
            <a:pPr marL="0" indent="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marL="0" indent="0">
              <a:buNone/>
            </a:pPr>
            <a:r>
              <a:rPr lang="en-US" sz="900" dirty="0">
                <a:solidFill>
                  <a:schemeClr val="accent2"/>
                </a:solidFill>
              </a:rPr>
              <a:t>AI Literacy  ·  Tema 3  ·  Capacità, limiti e affidabilità dell'AI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9.png"/><Relationship Id="rId7"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44.png"/><Relationship Id="rId4" Type="http://schemas.openxmlformats.org/officeDocument/2006/relationships/image" Target="../media/image40.png"/><Relationship Id="rId9" Type="http://schemas.openxmlformats.org/officeDocument/2006/relationships/image" Target="../media/image43.png"/></Relationships>
</file>

<file path=ppt/slides/_rels/slide2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18.png"/><Relationship Id="rId7"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43.png"/><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4.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3.png"/><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2.png"/><Relationship Id="rId4" Type="http://schemas.openxmlformats.org/officeDocument/2006/relationships/image" Target="../media/image61.png"/></Relationships>
</file>

<file path=ppt/slides/_rels/slide41.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35.png"/><Relationship Id="rId7"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65.png"/><Relationship Id="rId4" Type="http://schemas.openxmlformats.org/officeDocument/2006/relationships/image" Target="../media/image64.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18.png"/><Relationship Id="rId4" Type="http://schemas.openxmlformats.org/officeDocument/2006/relationships/image" Target="../media/image43.png"/></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67.png"/></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36.png"/><Relationship Id="rId2" Type="http://schemas.openxmlformats.org/officeDocument/2006/relationships/notesSlide" Target="../notesSlides/notesSlide46.xml"/><Relationship Id="rId1" Type="http://schemas.openxmlformats.org/officeDocument/2006/relationships/slideLayout" Target="../slideLayouts/slideLayout4.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2.png"/></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4.xml"/><Relationship Id="rId5" Type="http://schemas.openxmlformats.org/officeDocument/2006/relationships/image" Target="../media/image71.png"/><Relationship Id="rId4" Type="http://schemas.openxmlformats.org/officeDocument/2006/relationships/image" Target="../media/image70.png"/></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4.xml"/><Relationship Id="rId6" Type="http://schemas.openxmlformats.org/officeDocument/2006/relationships/image" Target="../media/image64.png"/><Relationship Id="rId5" Type="http://schemas.openxmlformats.org/officeDocument/2006/relationships/image" Target="../media/image3.png"/><Relationship Id="rId4" Type="http://schemas.openxmlformats.org/officeDocument/2006/relationships/image" Target="../media/image56.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6.png"/><Relationship Id="rId7" Type="http://schemas.openxmlformats.org/officeDocument/2006/relationships/image" Target="../media/image73.png"/><Relationship Id="rId2" Type="http://schemas.openxmlformats.org/officeDocument/2006/relationships/notesSlide" Target="../notesSlides/notesSlide52.xml"/><Relationship Id="rId1" Type="http://schemas.openxmlformats.org/officeDocument/2006/relationships/slideLayout" Target="../slideLayouts/slideLayout4.xml"/><Relationship Id="rId6" Type="http://schemas.openxmlformats.org/officeDocument/2006/relationships/image" Target="../media/image72.png"/><Relationship Id="rId5" Type="http://schemas.openxmlformats.org/officeDocument/2006/relationships/image" Target="../media/image10.png"/><Relationship Id="rId4" Type="http://schemas.openxmlformats.org/officeDocument/2006/relationships/image" Target="../media/image28.png"/><Relationship Id="rId9" Type="http://schemas.openxmlformats.org/officeDocument/2006/relationships/image" Target="../media/image50.png"/></Relationships>
</file>

<file path=ppt/slides/_rels/slide5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3.xml"/><Relationship Id="rId1" Type="http://schemas.openxmlformats.org/officeDocument/2006/relationships/slideLayout" Target="../slideLayouts/slideLayout4.xml"/><Relationship Id="rId5" Type="http://schemas.openxmlformats.org/officeDocument/2006/relationships/image" Target="../media/image72.png"/><Relationship Id="rId4" Type="http://schemas.openxmlformats.org/officeDocument/2006/relationships/image" Target="../media/image35.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6" Type="http://schemas.openxmlformats.org/officeDocument/2006/relationships/image" Target="../media/image52.png"/><Relationship Id="rId5" Type="http://schemas.openxmlformats.org/officeDocument/2006/relationships/image" Target="../media/image49.png"/><Relationship Id="rId4" Type="http://schemas.openxmlformats.org/officeDocument/2006/relationships/image" Target="../media/image74.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1.xml"/><Relationship Id="rId1" Type="http://schemas.openxmlformats.org/officeDocument/2006/relationships/slideLayout" Target="../slideLayouts/slideLayout4.xml"/><Relationship Id="rId5" Type="http://schemas.openxmlformats.org/officeDocument/2006/relationships/image" Target="../media/image65.png"/><Relationship Id="rId4" Type="http://schemas.openxmlformats.org/officeDocument/2006/relationships/image" Target="../media/image66.png"/></Relationships>
</file>

<file path=ppt/slides/_rels/slide62.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57.png"/><Relationship Id="rId7" Type="http://schemas.openxmlformats.org/officeDocument/2006/relationships/image" Target="../media/image76.png"/><Relationship Id="rId2" Type="http://schemas.openxmlformats.org/officeDocument/2006/relationships/notesSlide" Target="../notesSlides/notesSlide62.xml"/><Relationship Id="rId1" Type="http://schemas.openxmlformats.org/officeDocument/2006/relationships/slideLayout" Target="../slideLayouts/slideLayout4.xml"/><Relationship Id="rId6" Type="http://schemas.openxmlformats.org/officeDocument/2006/relationships/image" Target="../media/image64.png"/><Relationship Id="rId5" Type="http://schemas.openxmlformats.org/officeDocument/2006/relationships/image" Target="../media/image49.png"/><Relationship Id="rId4" Type="http://schemas.openxmlformats.org/officeDocument/2006/relationships/image" Target="../media/image75.png"/></Relationships>
</file>

<file path=ppt/slides/_rels/slide6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0.png"/><Relationship Id="rId7" Type="http://schemas.openxmlformats.org/officeDocument/2006/relationships/image" Target="../media/image28.png"/><Relationship Id="rId2" Type="http://schemas.openxmlformats.org/officeDocument/2006/relationships/notesSlide" Target="../notesSlides/notesSlide66.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26.png"/><Relationship Id="rId10" Type="http://schemas.openxmlformats.org/officeDocument/2006/relationships/image" Target="../media/image66.png"/><Relationship Id="rId4" Type="http://schemas.openxmlformats.org/officeDocument/2006/relationships/image" Target="../media/image25.png"/><Relationship Id="rId9" Type="http://schemas.openxmlformats.org/officeDocument/2006/relationships/image" Target="../media/image23.png"/></Relationships>
</file>

<file path=ppt/slides/_rels/slide67.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67.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38.png"/><Relationship Id="rId4" Type="http://schemas.openxmlformats.org/officeDocument/2006/relationships/image" Target="../media/image7.png"/></Relationships>
</file>

<file path=ppt/slides/_rels/slide68.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21.png"/><Relationship Id="rId7" Type="http://schemas.openxmlformats.org/officeDocument/2006/relationships/image" Target="../media/image27.png"/><Relationship Id="rId2" Type="http://schemas.openxmlformats.org/officeDocument/2006/relationships/notesSlide" Target="../notesSlides/notesSlide68.xml"/><Relationship Id="rId1" Type="http://schemas.openxmlformats.org/officeDocument/2006/relationships/slideLayout" Target="../slideLayouts/slideLayout4.xml"/><Relationship Id="rId6" Type="http://schemas.openxmlformats.org/officeDocument/2006/relationships/image" Target="../media/image57.png"/><Relationship Id="rId5" Type="http://schemas.openxmlformats.org/officeDocument/2006/relationships/image" Target="../media/image78.png"/><Relationship Id="rId4" Type="http://schemas.openxmlformats.org/officeDocument/2006/relationships/image" Target="../media/image54.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097280"/>
            <a:ext cx="7863840" cy="365760"/>
          </a:xfrm>
          <a:prstGeom prst="rect">
            <a:avLst/>
          </a:prstGeom>
          <a:noFill/>
          <a:ln/>
        </p:spPr>
        <p:txBody>
          <a:bodyPr wrap="square" lIns="0" tIns="0" rIns="0" bIns="0" rtlCol="0"/>
          <a:lstStyle/>
          <a:p>
            <a:pPr marL="0" indent="0">
              <a:buNone/>
            </a:pPr>
            <a:r>
              <a:rPr lang="it-IT" sz="1300" b="1" kern="0" spc="200" dirty="0">
                <a:solidFill>
                  <a:schemeClr val="accent1"/>
                </a:solidFill>
              </a:rPr>
              <a:t>PERCORSO AI LITERACY  ·  TEMA 3</a:t>
            </a:r>
            <a:endParaRPr lang="it-IT" sz="1300" dirty="0"/>
          </a:p>
        </p:txBody>
      </p:sp>
      <p:sp>
        <p:nvSpPr>
          <p:cNvPr id="3" name="Text 0"/>
          <p:cNvSpPr>
            <a:spLocks noGrp="1"/>
          </p:cNvSpPr>
          <p:nvPr>
            <p:ph type="title" idx="101" hasCustomPrompt="1"/>
          </p:nvPr>
        </p:nvSpPr>
        <p:spPr>
          <a:xfrm>
            <a:off x="640080" y="1554480"/>
            <a:ext cx="7863840" cy="1463040"/>
          </a:xfrm>
          <a:prstGeom prst="rect">
            <a:avLst/>
          </a:prstGeom>
          <a:noFill/>
          <a:ln/>
        </p:spPr>
        <p:txBody>
          <a:bodyPr wrap="square" lIns="0" tIns="0" rIns="0" bIns="0" rtlCol="0" anchor="t"/>
          <a:lstStyle/>
          <a:p>
            <a:pPr marL="0" indent="0" algn="l">
              <a:buNone/>
            </a:pPr>
            <a:r>
              <a:rPr lang="it-IT" sz="3600" b="1" dirty="0">
                <a:solidFill>
                  <a:schemeClr val="bg1"/>
                </a:solidFill>
              </a:rPr>
              <a:t>Capacità, limiti e affidabilità dell'Intelligenza Artificiale</a:t>
            </a:r>
            <a:endParaRPr lang="it-IT" sz="3600" dirty="0"/>
          </a:p>
        </p:txBody>
      </p:sp>
      <p:sp>
        <p:nvSpPr>
          <p:cNvPr id="4" name="Text 0"/>
          <p:cNvSpPr>
            <a:spLocks noGrp="1"/>
          </p:cNvSpPr>
          <p:nvPr>
            <p:ph type="body" idx="102" hasCustomPrompt="1"/>
          </p:nvPr>
        </p:nvSpPr>
        <p:spPr>
          <a:xfrm>
            <a:off x="640080" y="3154680"/>
            <a:ext cx="7863840" cy="822960"/>
          </a:xfrm>
          <a:prstGeom prst="rect">
            <a:avLst/>
          </a:prstGeom>
          <a:noFill/>
          <a:ln/>
        </p:spPr>
        <p:txBody>
          <a:bodyPr wrap="square" lIns="0" tIns="0" rIns="0" bIns="0" rtlCol="0" anchor="t"/>
          <a:lstStyle/>
          <a:p>
            <a:pPr marL="0" indent="0">
              <a:buNone/>
            </a:pPr>
            <a:r>
              <a:rPr lang="it-IT" sz="1600" dirty="0">
                <a:solidFill>
                  <a:schemeClr val="accent3"/>
                </a:solidFill>
              </a:rPr>
              <a:t>Area: Comprendere l'AI</a:t>
            </a:r>
            <a:endParaRPr lang="it-IT" sz="1600" dirty="0"/>
          </a:p>
        </p:txBody>
      </p:sp>
      <p:sp>
        <p:nvSpPr>
          <p:cNvPr id="5" name="Text 3"/>
          <p:cNvSpPr txBox="1"/>
          <p:nvPr/>
        </p:nvSpPr>
        <p:spPr>
          <a:xfrm>
            <a:off x="640080" y="4343400"/>
            <a:ext cx="5486400" cy="274320"/>
          </a:xfrm>
          <a:prstGeom prst="rect">
            <a:avLst/>
          </a:prstGeom>
          <a:noFill/>
          <a:ln/>
        </p:spPr>
        <p:txBody>
          <a:bodyPr wrap="square" lIns="0" tIns="0" rIns="0" bIns="0" rtlCol="0" anchor="t"/>
          <a:lstStyle/>
          <a:p>
            <a:pPr marL="0" indent="0">
              <a:buNone/>
            </a:pPr>
            <a:r>
              <a:rPr lang="it-IT" sz="1100" dirty="0">
                <a:solidFill>
                  <a:schemeClr val="accent2"/>
                </a:solidFill>
              </a:rPr>
              <a:t>Contenuti aggiornati a ottobre 2026</a:t>
            </a:r>
            <a:endParaRPr lang="it-IT"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Obiettivo del modulo</a:t>
            </a:r>
            <a:endParaRPr lang="it-IT"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txBody>
          <a:bodyPr/>
          <a:lstStyle/>
          <a:p>
            <a:endParaRPr lang="it-IT" dirty="0"/>
          </a:p>
        </p:txBody>
      </p:sp>
      <p:sp>
        <p:nvSpPr>
          <p:cNvPr id="5" name="cerchio FiTarget"/>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Target"/>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600" b="1" dirty="0">
                <a:solidFill>
                  <a:schemeClr val="tx1"/>
                </a:solidFill>
              </a:rPr>
              <a:t>Che cosa vogliamo sviluppare</a:t>
            </a:r>
            <a:endParaRPr lang="it-IT"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500"/>
              </a:spcAft>
              <a:buSzPct val="100000"/>
              <a:buChar char="•"/>
            </a:pPr>
            <a:r>
              <a:rPr lang="it-IT" sz="1400" dirty="0">
                <a:solidFill>
                  <a:schemeClr val="tx2"/>
                </a:solidFill>
              </a:rPr>
              <a:t>Riconoscere potenzialità e limiti dei sistemi AI</a:t>
            </a:r>
            <a:endParaRPr lang="it-IT" sz="1400" dirty="0"/>
          </a:p>
          <a:p>
            <a:pPr marL="177800" indent="-177800">
              <a:spcAft>
                <a:spcPts val="500"/>
              </a:spcAft>
              <a:buSzPct val="100000"/>
              <a:buChar char="•"/>
            </a:pPr>
            <a:r>
              <a:rPr lang="it-IT" sz="1400" dirty="0">
                <a:solidFill>
                  <a:schemeClr val="tx2"/>
                </a:solidFill>
              </a:rPr>
              <a:t>Comprendere le principali fonti di errore</a:t>
            </a:r>
            <a:endParaRPr lang="it-IT" sz="1400" dirty="0"/>
          </a:p>
          <a:p>
            <a:pPr marL="177800" indent="-177800">
              <a:spcAft>
                <a:spcPts val="500"/>
              </a:spcAft>
              <a:buSzPct val="100000"/>
              <a:buChar char="•"/>
            </a:pPr>
            <a:r>
              <a:rPr lang="it-IT" sz="1400" dirty="0">
                <a:solidFill>
                  <a:schemeClr val="tx2"/>
                </a:solidFill>
              </a:rPr>
              <a:t>Valutare l'affidabilità rispetto al contesto d'uso</a:t>
            </a:r>
            <a:endParaRPr lang="it-IT" sz="1400" dirty="0"/>
          </a:p>
        </p:txBody>
      </p:sp>
      <p:sp>
        <p:nvSpPr>
          <p:cNvPr id="9" name="scheda Quale consapevolezza"/>
          <p:cNvSpPr/>
          <p:nvPr/>
        </p:nvSpPr>
        <p:spPr>
          <a:xfrm>
            <a:off x="4709160" y="1097280"/>
            <a:ext cx="3977640" cy="3429000"/>
          </a:xfrm>
          <a:prstGeom prst="roundRect">
            <a:avLst>
              <a:gd name="adj" fmla="val 2133"/>
            </a:avLst>
          </a:prstGeom>
          <a:solidFill>
            <a:schemeClr val="accent6"/>
          </a:solidFill>
          <a:ln/>
        </p:spPr>
        <p:txBody>
          <a:bodyPr/>
          <a:lstStyle/>
          <a:p>
            <a:endParaRPr lang="it-IT" dirty="0"/>
          </a:p>
        </p:txBody>
      </p:sp>
      <p:sp>
        <p:nvSpPr>
          <p:cNvPr id="10" name="cerchio FiCompass"/>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Compass"/>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600" b="1" dirty="0">
                <a:solidFill>
                  <a:schemeClr val="tx1"/>
                </a:solidFill>
              </a:rPr>
              <a:t>Quale consapevolezza</a:t>
            </a:r>
            <a:endParaRPr lang="it-IT"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marL="0" indent="0">
              <a:buNone/>
            </a:pPr>
            <a:r>
              <a:rPr lang="it-IT" sz="1400" dirty="0">
                <a:solidFill>
                  <a:schemeClr val="tx2"/>
                </a:solidFill>
              </a:rPr>
              <a:t>L'Intelligenza Artificiale può supportare attività linguistiche, analitiche, creative e decisionali con capacità sempre più ampie.</a:t>
            </a:r>
          </a:p>
          <a:p>
            <a:pPr marL="0" indent="0">
              <a:buNone/>
            </a:pPr>
            <a:endParaRPr lang="it-IT" sz="1400" dirty="0">
              <a:solidFill>
                <a:schemeClr val="tx2"/>
              </a:solidFill>
            </a:endParaRPr>
          </a:p>
          <a:p>
            <a:pPr marL="0" indent="0">
              <a:buNone/>
            </a:pPr>
            <a:r>
              <a:rPr lang="it-IT" sz="1400" dirty="0">
                <a:solidFill>
                  <a:schemeClr val="tx2"/>
                </a:solidFill>
              </a:rPr>
              <a:t>Comprendere come valutarne i risultati permette di sfruttare queste opportunità con fiducia e controlli adeguati.</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a:t>
            </a:fld>
            <a:endParaRPr lang="it-IT"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Calibrare la fiducia</a:t>
            </a:r>
            <a:endParaRPr lang="it-IT" sz="2600" dirty="0"/>
          </a:p>
        </p:txBody>
      </p:sp>
      <p:sp>
        <p:nvSpPr>
          <p:cNvPr id="4" name="Fiducia eccessiva"/>
          <p:cNvSpPr/>
          <p:nvPr/>
        </p:nvSpPr>
        <p:spPr>
          <a:xfrm>
            <a:off x="457200" y="1188720"/>
            <a:ext cx="2615184" cy="2514600"/>
          </a:xfrm>
          <a:prstGeom prst="roundRect">
            <a:avLst>
              <a:gd name="adj" fmla="val 2909"/>
            </a:avLst>
          </a:prstGeom>
          <a:solidFill>
            <a:schemeClr val="bg2"/>
          </a:solidFill>
          <a:ln/>
        </p:spPr>
        <p:txBody>
          <a:bodyPr/>
          <a:lstStyle/>
          <a:p>
            <a:endParaRPr lang="it-IT" dirty="0"/>
          </a:p>
        </p:txBody>
      </p:sp>
      <p:sp>
        <p:nvSpPr>
          <p:cNvPr id="5" name="cerchio FiThumbsUp"/>
          <p:cNvSpPr/>
          <p:nvPr/>
        </p:nvSpPr>
        <p:spPr>
          <a:xfrm>
            <a:off x="1463040" y="1371600"/>
            <a:ext cx="603504" cy="603504"/>
          </a:xfrm>
          <a:prstGeom prst="ellipse">
            <a:avLst/>
          </a:prstGeom>
          <a:solidFill>
            <a:schemeClr val="accent2"/>
          </a:solidFill>
          <a:ln/>
        </p:spPr>
        <p:txBody>
          <a:bodyPr/>
          <a:lstStyle/>
          <a:p>
            <a:endParaRPr lang="it-IT" dirty="0"/>
          </a:p>
        </p:txBody>
      </p:sp>
      <p:pic>
        <p:nvPicPr>
          <p:cNvPr id="6" name="Image 0" descr="FiThumbsUp"/>
          <p:cNvPicPr>
            <a:picLocks noChangeAspect="1"/>
          </p:cNvPicPr>
          <p:nvPr/>
        </p:nvPicPr>
        <p:blipFill>
          <a:blip r:embed="rId3"/>
          <a:stretch>
            <a:fillRect/>
          </a:stretch>
        </p:blipFill>
        <p:spPr>
          <a:xfrm>
            <a:off x="1613916" y="1522476"/>
            <a:ext cx="301752" cy="301752"/>
          </a:xfrm>
          <a:prstGeom prst="rect">
            <a:avLst/>
          </a:prstGeom>
        </p:spPr>
      </p:pic>
      <p:sp>
        <p:nvSpPr>
          <p:cNvPr id="7" name="Text 3"/>
          <p:cNvSpPr txBox="1"/>
          <p:nvPr/>
        </p:nvSpPr>
        <p:spPr>
          <a:xfrm>
            <a:off x="594360" y="2103120"/>
            <a:ext cx="2340864" cy="365760"/>
          </a:xfrm>
          <a:prstGeom prst="rect">
            <a:avLst/>
          </a:prstGeom>
          <a:noFill/>
          <a:ln/>
        </p:spPr>
        <p:txBody>
          <a:bodyPr wrap="square" lIns="0" tIns="0" rIns="0" bIns="0" rtlCol="0" anchor="t"/>
          <a:lstStyle/>
          <a:p>
            <a:pPr marL="0" indent="0" algn="ctr">
              <a:buNone/>
            </a:pPr>
            <a:r>
              <a:rPr lang="it-IT" sz="1700" b="1" dirty="0">
                <a:solidFill>
                  <a:schemeClr val="tx1"/>
                </a:solidFill>
              </a:rPr>
              <a:t>Fiducia eccessiva</a:t>
            </a:r>
            <a:endParaRPr lang="it-IT" sz="1700" dirty="0"/>
          </a:p>
        </p:txBody>
      </p:sp>
      <p:sp>
        <p:nvSpPr>
          <p:cNvPr id="8" name="Text 4"/>
          <p:cNvSpPr txBox="1"/>
          <p:nvPr/>
        </p:nvSpPr>
        <p:spPr>
          <a:xfrm>
            <a:off x="640080" y="2514600"/>
            <a:ext cx="2249424" cy="594360"/>
          </a:xfrm>
          <a:prstGeom prst="rect">
            <a:avLst/>
          </a:prstGeom>
          <a:noFill/>
          <a:ln/>
        </p:spPr>
        <p:txBody>
          <a:bodyPr wrap="square" lIns="0" tIns="0" rIns="0" bIns="0" rtlCol="0" anchor="t"/>
          <a:lstStyle/>
          <a:p>
            <a:pPr marL="0" indent="0" algn="ctr">
              <a:buNone/>
            </a:pPr>
            <a:r>
              <a:rPr lang="it-IT" sz="1300" dirty="0">
                <a:solidFill>
                  <a:schemeClr val="tx1"/>
                </a:solidFill>
              </a:rPr>
              <a:t>Si accetta tutto perché è scritto bene</a:t>
            </a:r>
            <a:endParaRPr lang="it-IT" sz="1300" dirty="0"/>
          </a:p>
        </p:txBody>
      </p:sp>
      <p:sp>
        <p:nvSpPr>
          <p:cNvPr id="9" name="Text 5"/>
          <p:cNvSpPr txBox="1"/>
          <p:nvPr/>
        </p:nvSpPr>
        <p:spPr>
          <a:xfrm>
            <a:off x="640080" y="3154680"/>
            <a:ext cx="2249424" cy="457200"/>
          </a:xfrm>
          <a:prstGeom prst="rect">
            <a:avLst/>
          </a:prstGeom>
          <a:noFill/>
          <a:ln/>
        </p:spPr>
        <p:txBody>
          <a:bodyPr wrap="square" lIns="0" tIns="0" rIns="0" bIns="0" rtlCol="0" anchor="t"/>
          <a:lstStyle/>
          <a:p>
            <a:pPr marL="0" indent="0" algn="ctr">
              <a:buNone/>
            </a:pPr>
            <a:r>
              <a:rPr lang="it-IT" sz="1200" b="1" dirty="0">
                <a:solidFill>
                  <a:schemeClr val="accent5"/>
                </a:solidFill>
              </a:rPr>
              <a:t>Rischio: errori e decisioni sbagliate</a:t>
            </a:r>
            <a:endParaRPr lang="it-IT" sz="1200" dirty="0"/>
          </a:p>
        </p:txBody>
      </p:sp>
      <p:sp>
        <p:nvSpPr>
          <p:cNvPr id="10" name="Fiducia calibrata"/>
          <p:cNvSpPr/>
          <p:nvPr/>
        </p:nvSpPr>
        <p:spPr>
          <a:xfrm>
            <a:off x="3264408" y="1188720"/>
            <a:ext cx="2615184" cy="2514600"/>
          </a:xfrm>
          <a:prstGeom prst="roundRect">
            <a:avLst>
              <a:gd name="adj" fmla="val 2909"/>
            </a:avLst>
          </a:prstGeom>
          <a:solidFill>
            <a:schemeClr val="accent1"/>
          </a:solidFill>
          <a:ln/>
        </p:spPr>
        <p:txBody>
          <a:bodyPr/>
          <a:lstStyle/>
          <a:p>
            <a:endParaRPr lang="it-IT" dirty="0"/>
          </a:p>
        </p:txBody>
      </p:sp>
      <p:sp>
        <p:nvSpPr>
          <p:cNvPr id="11" name="cerchio FiSliders"/>
          <p:cNvSpPr/>
          <p:nvPr/>
        </p:nvSpPr>
        <p:spPr>
          <a:xfrm>
            <a:off x="4270248" y="1371600"/>
            <a:ext cx="603504" cy="603504"/>
          </a:xfrm>
          <a:prstGeom prst="ellipse">
            <a:avLst/>
          </a:prstGeom>
          <a:solidFill>
            <a:schemeClr val="bg1"/>
          </a:solidFill>
          <a:ln/>
        </p:spPr>
        <p:txBody>
          <a:bodyPr/>
          <a:lstStyle/>
          <a:p>
            <a:endParaRPr lang="it-IT" dirty="0"/>
          </a:p>
        </p:txBody>
      </p:sp>
      <p:pic>
        <p:nvPicPr>
          <p:cNvPr id="12" name="Image 1" descr="FiSliders"/>
          <p:cNvPicPr>
            <a:picLocks noChangeAspect="1"/>
          </p:cNvPicPr>
          <p:nvPr/>
        </p:nvPicPr>
        <p:blipFill>
          <a:blip r:embed="rId4"/>
          <a:stretch>
            <a:fillRect/>
          </a:stretch>
        </p:blipFill>
        <p:spPr>
          <a:xfrm>
            <a:off x="4421124" y="1522476"/>
            <a:ext cx="301752" cy="301752"/>
          </a:xfrm>
          <a:prstGeom prst="rect">
            <a:avLst/>
          </a:prstGeom>
        </p:spPr>
      </p:pic>
      <p:sp>
        <p:nvSpPr>
          <p:cNvPr id="13" name="Text 8"/>
          <p:cNvSpPr txBox="1"/>
          <p:nvPr/>
        </p:nvSpPr>
        <p:spPr>
          <a:xfrm>
            <a:off x="3401568" y="2103120"/>
            <a:ext cx="2340864" cy="365760"/>
          </a:xfrm>
          <a:prstGeom prst="rect">
            <a:avLst/>
          </a:prstGeom>
          <a:noFill/>
          <a:ln/>
        </p:spPr>
        <p:txBody>
          <a:bodyPr wrap="square" lIns="0" tIns="0" rIns="0" bIns="0" rtlCol="0" anchor="t"/>
          <a:lstStyle/>
          <a:p>
            <a:pPr marL="0" indent="0" algn="ctr">
              <a:buNone/>
            </a:pPr>
            <a:r>
              <a:rPr lang="it-IT" sz="1700" b="1" dirty="0">
                <a:solidFill>
                  <a:schemeClr val="bg1"/>
                </a:solidFill>
              </a:rPr>
              <a:t>Fiducia calibrata</a:t>
            </a:r>
            <a:endParaRPr lang="it-IT" sz="1700" dirty="0"/>
          </a:p>
        </p:txBody>
      </p:sp>
      <p:sp>
        <p:nvSpPr>
          <p:cNvPr id="14" name="Text 9"/>
          <p:cNvSpPr txBox="1"/>
          <p:nvPr/>
        </p:nvSpPr>
        <p:spPr>
          <a:xfrm>
            <a:off x="3447288" y="2514600"/>
            <a:ext cx="2249424" cy="594360"/>
          </a:xfrm>
          <a:prstGeom prst="rect">
            <a:avLst/>
          </a:prstGeom>
          <a:noFill/>
          <a:ln/>
        </p:spPr>
        <p:txBody>
          <a:bodyPr wrap="square" lIns="0" tIns="0" rIns="0" bIns="0" rtlCol="0" anchor="t"/>
          <a:lstStyle/>
          <a:p>
            <a:pPr marL="0" indent="0" algn="ctr">
              <a:buNone/>
            </a:pPr>
            <a:r>
              <a:rPr lang="it-IT" sz="1300" dirty="0">
                <a:solidFill>
                  <a:schemeClr val="bg1"/>
                </a:solidFill>
              </a:rPr>
              <a:t>Fiducia e controlli regolati su compito, sistema e conseguenze</a:t>
            </a:r>
            <a:endParaRPr lang="it-IT" sz="1300" dirty="0"/>
          </a:p>
        </p:txBody>
      </p:sp>
      <p:sp>
        <p:nvSpPr>
          <p:cNvPr id="15" name="Text 10"/>
          <p:cNvSpPr txBox="1"/>
          <p:nvPr/>
        </p:nvSpPr>
        <p:spPr>
          <a:xfrm>
            <a:off x="3447288" y="3154680"/>
            <a:ext cx="2249424" cy="457200"/>
          </a:xfrm>
          <a:prstGeom prst="rect">
            <a:avLst/>
          </a:prstGeom>
          <a:noFill/>
          <a:ln/>
        </p:spPr>
        <p:txBody>
          <a:bodyPr wrap="square" lIns="0" tIns="0" rIns="0" bIns="0" rtlCol="0" anchor="t"/>
          <a:lstStyle/>
          <a:p>
            <a:pPr marL="0" indent="0" algn="ctr">
              <a:buNone/>
            </a:pPr>
            <a:r>
              <a:rPr lang="it-IT" sz="1200" b="1" dirty="0">
                <a:solidFill>
                  <a:schemeClr val="accent6"/>
                </a:solidFill>
              </a:rPr>
              <a:t>L'obiettivo di questo modulo</a:t>
            </a:r>
            <a:endParaRPr lang="it-IT" sz="1200" dirty="0"/>
          </a:p>
        </p:txBody>
      </p:sp>
      <p:sp>
        <p:nvSpPr>
          <p:cNvPr id="16" name="Sfiducia totale"/>
          <p:cNvSpPr/>
          <p:nvPr/>
        </p:nvSpPr>
        <p:spPr>
          <a:xfrm>
            <a:off x="6071616" y="1188720"/>
            <a:ext cx="2615184" cy="2514600"/>
          </a:xfrm>
          <a:prstGeom prst="roundRect">
            <a:avLst>
              <a:gd name="adj" fmla="val 2909"/>
            </a:avLst>
          </a:prstGeom>
          <a:solidFill>
            <a:schemeClr val="bg2"/>
          </a:solidFill>
          <a:ln/>
        </p:spPr>
        <p:txBody>
          <a:bodyPr/>
          <a:lstStyle/>
          <a:p>
            <a:endParaRPr lang="it-IT" dirty="0"/>
          </a:p>
        </p:txBody>
      </p:sp>
      <p:sp>
        <p:nvSpPr>
          <p:cNvPr id="17" name="cerchio FiThumbsDown"/>
          <p:cNvSpPr/>
          <p:nvPr/>
        </p:nvSpPr>
        <p:spPr>
          <a:xfrm>
            <a:off x="7077456" y="1371600"/>
            <a:ext cx="603504" cy="603504"/>
          </a:xfrm>
          <a:prstGeom prst="ellipse">
            <a:avLst/>
          </a:prstGeom>
          <a:solidFill>
            <a:schemeClr val="accent2"/>
          </a:solidFill>
          <a:ln/>
        </p:spPr>
        <p:txBody>
          <a:bodyPr/>
          <a:lstStyle/>
          <a:p>
            <a:endParaRPr lang="it-IT" dirty="0"/>
          </a:p>
        </p:txBody>
      </p:sp>
      <p:pic>
        <p:nvPicPr>
          <p:cNvPr id="18" name="Image 2" descr="FiThumbsDown"/>
          <p:cNvPicPr>
            <a:picLocks noChangeAspect="1"/>
          </p:cNvPicPr>
          <p:nvPr/>
        </p:nvPicPr>
        <p:blipFill>
          <a:blip r:embed="rId5"/>
          <a:stretch>
            <a:fillRect/>
          </a:stretch>
        </p:blipFill>
        <p:spPr>
          <a:xfrm>
            <a:off x="7228332" y="1522476"/>
            <a:ext cx="301752" cy="301752"/>
          </a:xfrm>
          <a:prstGeom prst="rect">
            <a:avLst/>
          </a:prstGeom>
        </p:spPr>
      </p:pic>
      <p:sp>
        <p:nvSpPr>
          <p:cNvPr id="19" name="Text 13"/>
          <p:cNvSpPr txBox="1"/>
          <p:nvPr/>
        </p:nvSpPr>
        <p:spPr>
          <a:xfrm>
            <a:off x="6208776" y="2103120"/>
            <a:ext cx="2340864" cy="365760"/>
          </a:xfrm>
          <a:prstGeom prst="rect">
            <a:avLst/>
          </a:prstGeom>
          <a:noFill/>
          <a:ln/>
        </p:spPr>
        <p:txBody>
          <a:bodyPr wrap="square" lIns="0" tIns="0" rIns="0" bIns="0" rtlCol="0" anchor="t"/>
          <a:lstStyle/>
          <a:p>
            <a:pPr marL="0" indent="0" algn="ctr">
              <a:buNone/>
            </a:pPr>
            <a:r>
              <a:rPr lang="it-IT" sz="1700" b="1" dirty="0">
                <a:solidFill>
                  <a:schemeClr val="tx1"/>
                </a:solidFill>
              </a:rPr>
              <a:t>Sfiducia totale</a:t>
            </a:r>
            <a:endParaRPr lang="it-IT" sz="1700" dirty="0"/>
          </a:p>
        </p:txBody>
      </p:sp>
      <p:sp>
        <p:nvSpPr>
          <p:cNvPr id="20" name="Text 14"/>
          <p:cNvSpPr txBox="1"/>
          <p:nvPr/>
        </p:nvSpPr>
        <p:spPr>
          <a:xfrm>
            <a:off x="6254496" y="2514600"/>
            <a:ext cx="2249424" cy="594360"/>
          </a:xfrm>
          <a:prstGeom prst="rect">
            <a:avLst/>
          </a:prstGeom>
          <a:noFill/>
          <a:ln/>
        </p:spPr>
        <p:txBody>
          <a:bodyPr wrap="square" lIns="0" tIns="0" rIns="0" bIns="0" rtlCol="0" anchor="t"/>
          <a:lstStyle/>
          <a:p>
            <a:pPr marL="0" indent="0" algn="ctr">
              <a:buNone/>
            </a:pPr>
            <a:r>
              <a:rPr lang="it-IT" sz="1300" dirty="0">
                <a:solidFill>
                  <a:schemeClr val="tx1"/>
                </a:solidFill>
              </a:rPr>
              <a:t>Si scarta l'AI perché "sbaglia"</a:t>
            </a:r>
            <a:endParaRPr lang="it-IT" sz="1300" dirty="0"/>
          </a:p>
        </p:txBody>
      </p:sp>
      <p:sp>
        <p:nvSpPr>
          <p:cNvPr id="21" name="Text 15"/>
          <p:cNvSpPr txBox="1"/>
          <p:nvPr/>
        </p:nvSpPr>
        <p:spPr>
          <a:xfrm>
            <a:off x="6254496" y="3154680"/>
            <a:ext cx="2249424" cy="457200"/>
          </a:xfrm>
          <a:prstGeom prst="rect">
            <a:avLst/>
          </a:prstGeom>
          <a:noFill/>
          <a:ln/>
        </p:spPr>
        <p:txBody>
          <a:bodyPr wrap="square" lIns="0" tIns="0" rIns="0" bIns="0" rtlCol="0" anchor="t"/>
          <a:lstStyle/>
          <a:p>
            <a:pPr marL="0" indent="0" algn="ctr">
              <a:buNone/>
            </a:pPr>
            <a:r>
              <a:rPr lang="it-IT" sz="1200" b="1" dirty="0">
                <a:solidFill>
                  <a:schemeClr val="accent5"/>
                </a:solidFill>
              </a:rPr>
              <a:t>Rischio: perdere opportunità reali</a:t>
            </a:r>
            <a:endParaRPr lang="it-IT" sz="1200" dirty="0"/>
          </a:p>
        </p:txBody>
      </p:sp>
      <p:sp>
        <p:nvSpPr>
          <p:cNvPr id="22" name="messaggio"/>
          <p:cNvSpPr/>
          <p:nvPr/>
        </p:nvSpPr>
        <p:spPr>
          <a:xfrm>
            <a:off x="457200" y="3886200"/>
            <a:ext cx="8229600" cy="640080"/>
          </a:xfrm>
          <a:prstGeom prst="roundRect">
            <a:avLst>
              <a:gd name="adj" fmla="val 11429"/>
            </a:avLst>
          </a:prstGeom>
          <a:solidFill>
            <a:schemeClr val="tx1"/>
          </a:solidFill>
          <a:ln/>
        </p:spPr>
        <p:txBody>
          <a:bodyPr/>
          <a:lstStyle/>
          <a:p>
            <a:endParaRPr lang="it-IT" dirty="0"/>
          </a:p>
        </p:txBody>
      </p:sp>
      <p:sp>
        <p:nvSpPr>
          <p:cNvPr id="23" name="Text 17"/>
          <p:cNvSpPr txBox="1"/>
          <p:nvPr/>
        </p:nvSpPr>
        <p:spPr>
          <a:xfrm>
            <a:off x="640080" y="3886200"/>
            <a:ext cx="7863840" cy="640080"/>
          </a:xfrm>
          <a:prstGeom prst="rect">
            <a:avLst/>
          </a:prstGeom>
          <a:noFill/>
          <a:ln/>
        </p:spPr>
        <p:txBody>
          <a:bodyPr wrap="square" lIns="0" tIns="0" rIns="0" bIns="0" rtlCol="0" anchor="ctr"/>
          <a:lstStyle/>
          <a:p>
            <a:pPr marL="0" indent="0">
              <a:buNone/>
            </a:pPr>
            <a:r>
              <a:rPr lang="it-IT" sz="1400" dirty="0">
                <a:solidFill>
                  <a:schemeClr val="bg1"/>
                </a:solidFill>
              </a:rPr>
              <a:t>L'obiettivo non è fidarsi sempre o non fidarsi mai, ma imparare a riconoscere quando e come utilizzare l'AI per ottenere risultati utili e affidabili.</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a:t>
            </a:fld>
            <a:endParaRPr lang="it-IT"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Otto domande guida per questo modulo</a:t>
            </a:r>
            <a:endParaRPr lang="it-IT" sz="2600" dirty="0"/>
          </a:p>
        </p:txBody>
      </p:sp>
      <p:sp>
        <p:nvSpPr>
          <p:cNvPr id="4" name="domanda 1"/>
          <p:cNvSpPr/>
          <p:nvPr/>
        </p:nvSpPr>
        <p:spPr>
          <a:xfrm>
            <a:off x="457200" y="1097280"/>
            <a:ext cx="1965960" cy="1600200"/>
          </a:xfrm>
          <a:prstGeom prst="roundRect">
            <a:avLst>
              <a:gd name="adj" fmla="val 4571"/>
            </a:avLst>
          </a:prstGeom>
          <a:solidFill>
            <a:schemeClr val="bg2"/>
          </a:solidFill>
          <a:ln/>
        </p:spPr>
        <p:txBody>
          <a:bodyPr/>
          <a:lstStyle/>
          <a:p>
            <a:endParaRPr lang="it-IT" dirty="0"/>
          </a:p>
        </p:txBody>
      </p:sp>
      <p:sp>
        <p:nvSpPr>
          <p:cNvPr id="5" name="Text 2"/>
          <p:cNvSpPr txBox="1"/>
          <p:nvPr/>
        </p:nvSpPr>
        <p:spPr>
          <a:xfrm>
            <a:off x="621792" y="1207008"/>
            <a:ext cx="457200" cy="411480"/>
          </a:xfrm>
          <a:prstGeom prst="rect">
            <a:avLst/>
          </a:prstGeom>
          <a:noFill/>
          <a:ln/>
        </p:spPr>
        <p:txBody>
          <a:bodyPr wrap="square" lIns="0" tIns="0" rIns="0" bIns="0" rtlCol="0" anchor="t"/>
          <a:lstStyle/>
          <a:p>
            <a:pPr marL="0" indent="0">
              <a:buNone/>
            </a:pPr>
            <a:r>
              <a:rPr lang="it-IT" sz="2200" b="1" dirty="0">
                <a:solidFill>
                  <a:schemeClr val="accent1"/>
                </a:solidFill>
              </a:rPr>
              <a:t>1</a:t>
            </a:r>
            <a:endParaRPr lang="it-IT" sz="2200" dirty="0"/>
          </a:p>
        </p:txBody>
      </p:sp>
      <p:sp>
        <p:nvSpPr>
          <p:cNvPr id="6" name="Text 3"/>
          <p:cNvSpPr txBox="1"/>
          <p:nvPr/>
        </p:nvSpPr>
        <p:spPr>
          <a:xfrm>
            <a:off x="621792" y="1645920"/>
            <a:ext cx="1691640" cy="1005840"/>
          </a:xfrm>
          <a:prstGeom prst="rect">
            <a:avLst/>
          </a:prstGeom>
          <a:noFill/>
          <a:ln/>
        </p:spPr>
        <p:txBody>
          <a:bodyPr wrap="square" lIns="0" tIns="0" rIns="0" bIns="0" rtlCol="0" anchor="t"/>
          <a:lstStyle/>
          <a:p>
            <a:pPr marL="0" indent="0">
              <a:buNone/>
            </a:pPr>
            <a:r>
              <a:rPr lang="it-IT" sz="1200" dirty="0">
                <a:solidFill>
                  <a:schemeClr val="tx1"/>
                </a:solidFill>
              </a:rPr>
              <a:t>Quali attività l'AI svolge efficacemente, e da cosa dipende la qualità?</a:t>
            </a:r>
            <a:endParaRPr lang="it-IT" sz="1200" dirty="0"/>
          </a:p>
        </p:txBody>
      </p:sp>
      <p:sp>
        <p:nvSpPr>
          <p:cNvPr id="7" name="domanda 2"/>
          <p:cNvSpPr/>
          <p:nvPr/>
        </p:nvSpPr>
        <p:spPr>
          <a:xfrm>
            <a:off x="2560320" y="1097280"/>
            <a:ext cx="1965960" cy="1600200"/>
          </a:xfrm>
          <a:prstGeom prst="roundRect">
            <a:avLst>
              <a:gd name="adj" fmla="val 4571"/>
            </a:avLst>
          </a:prstGeom>
          <a:solidFill>
            <a:schemeClr val="bg2"/>
          </a:solidFill>
          <a:ln/>
        </p:spPr>
        <p:txBody>
          <a:bodyPr/>
          <a:lstStyle/>
          <a:p>
            <a:endParaRPr lang="it-IT" dirty="0"/>
          </a:p>
        </p:txBody>
      </p:sp>
      <p:sp>
        <p:nvSpPr>
          <p:cNvPr id="8" name="Text 5"/>
          <p:cNvSpPr txBox="1"/>
          <p:nvPr/>
        </p:nvSpPr>
        <p:spPr>
          <a:xfrm>
            <a:off x="2724912" y="1207008"/>
            <a:ext cx="457200" cy="411480"/>
          </a:xfrm>
          <a:prstGeom prst="rect">
            <a:avLst/>
          </a:prstGeom>
          <a:noFill/>
          <a:ln/>
        </p:spPr>
        <p:txBody>
          <a:bodyPr wrap="square" lIns="0" tIns="0" rIns="0" bIns="0" rtlCol="0" anchor="t"/>
          <a:lstStyle/>
          <a:p>
            <a:pPr marL="0" indent="0">
              <a:buNone/>
            </a:pPr>
            <a:r>
              <a:rPr lang="it-IT" sz="2200" b="1" dirty="0">
                <a:solidFill>
                  <a:schemeClr val="accent1"/>
                </a:solidFill>
              </a:rPr>
              <a:t>2</a:t>
            </a:r>
            <a:endParaRPr lang="it-IT" sz="2200" dirty="0"/>
          </a:p>
        </p:txBody>
      </p:sp>
      <p:sp>
        <p:nvSpPr>
          <p:cNvPr id="9" name="Text 6"/>
          <p:cNvSpPr txBox="1"/>
          <p:nvPr/>
        </p:nvSpPr>
        <p:spPr>
          <a:xfrm>
            <a:off x="2724912" y="1645920"/>
            <a:ext cx="1691640" cy="1005840"/>
          </a:xfrm>
          <a:prstGeom prst="rect">
            <a:avLst/>
          </a:prstGeom>
          <a:noFill/>
          <a:ln/>
        </p:spPr>
        <p:txBody>
          <a:bodyPr wrap="square" lIns="0" tIns="0" rIns="0" bIns="0" rtlCol="0" anchor="t"/>
          <a:lstStyle/>
          <a:p>
            <a:pPr marL="0" indent="0">
              <a:buNone/>
            </a:pPr>
            <a:r>
              <a:rPr lang="it-IT" sz="1200" dirty="0">
                <a:solidFill>
                  <a:schemeClr val="tx1"/>
                </a:solidFill>
              </a:rPr>
              <a:t>Quali limiti hanno ragionamento, creatività e </a:t>
            </a:r>
            <a:r>
              <a:rPr lang="it-IT" sz="1200" dirty="0" err="1">
                <a:solidFill>
                  <a:schemeClr val="tx1"/>
                </a:solidFill>
              </a:rPr>
              <a:t>problem</a:t>
            </a:r>
            <a:r>
              <a:rPr lang="it-IT" sz="1200" dirty="0">
                <a:solidFill>
                  <a:schemeClr val="tx1"/>
                </a:solidFill>
              </a:rPr>
              <a:t> solving?</a:t>
            </a:r>
            <a:endParaRPr lang="it-IT" sz="1200" dirty="0"/>
          </a:p>
        </p:txBody>
      </p:sp>
      <p:sp>
        <p:nvSpPr>
          <p:cNvPr id="10" name="domanda 3"/>
          <p:cNvSpPr/>
          <p:nvPr/>
        </p:nvSpPr>
        <p:spPr>
          <a:xfrm>
            <a:off x="4663440" y="1097280"/>
            <a:ext cx="1965960" cy="1600200"/>
          </a:xfrm>
          <a:prstGeom prst="roundRect">
            <a:avLst>
              <a:gd name="adj" fmla="val 4571"/>
            </a:avLst>
          </a:prstGeom>
          <a:solidFill>
            <a:schemeClr val="bg2"/>
          </a:solidFill>
          <a:ln/>
        </p:spPr>
        <p:txBody>
          <a:bodyPr/>
          <a:lstStyle/>
          <a:p>
            <a:endParaRPr lang="it-IT" dirty="0"/>
          </a:p>
        </p:txBody>
      </p:sp>
      <p:sp>
        <p:nvSpPr>
          <p:cNvPr id="11" name="Text 8"/>
          <p:cNvSpPr txBox="1"/>
          <p:nvPr/>
        </p:nvSpPr>
        <p:spPr>
          <a:xfrm>
            <a:off x="4828032" y="1207008"/>
            <a:ext cx="457200" cy="411480"/>
          </a:xfrm>
          <a:prstGeom prst="rect">
            <a:avLst/>
          </a:prstGeom>
          <a:noFill/>
          <a:ln/>
        </p:spPr>
        <p:txBody>
          <a:bodyPr wrap="square" lIns="0" tIns="0" rIns="0" bIns="0" rtlCol="0" anchor="t"/>
          <a:lstStyle/>
          <a:p>
            <a:pPr marL="0" indent="0">
              <a:buNone/>
            </a:pPr>
            <a:r>
              <a:rPr lang="it-IT" sz="2200" b="1" dirty="0">
                <a:solidFill>
                  <a:schemeClr val="accent1"/>
                </a:solidFill>
              </a:rPr>
              <a:t>3</a:t>
            </a:r>
            <a:endParaRPr lang="it-IT" sz="2200" dirty="0"/>
          </a:p>
        </p:txBody>
      </p:sp>
      <p:sp>
        <p:nvSpPr>
          <p:cNvPr id="12" name="Text 9"/>
          <p:cNvSpPr txBox="1"/>
          <p:nvPr/>
        </p:nvSpPr>
        <p:spPr>
          <a:xfrm>
            <a:off x="4828032" y="1645920"/>
            <a:ext cx="1691640" cy="1005840"/>
          </a:xfrm>
          <a:prstGeom prst="rect">
            <a:avLst/>
          </a:prstGeom>
          <a:noFill/>
          <a:ln/>
        </p:spPr>
        <p:txBody>
          <a:bodyPr wrap="square" lIns="0" tIns="0" rIns="0" bIns="0" rtlCol="0" anchor="t"/>
          <a:lstStyle/>
          <a:p>
            <a:pPr marL="0" indent="0">
              <a:buNone/>
            </a:pPr>
            <a:r>
              <a:rPr lang="it-IT" sz="1200" dirty="0">
                <a:solidFill>
                  <a:schemeClr val="tx1"/>
                </a:solidFill>
              </a:rPr>
              <a:t>Perché una risposta convincente può contenere informazioni false?</a:t>
            </a:r>
            <a:endParaRPr lang="it-IT" sz="1200" dirty="0"/>
          </a:p>
        </p:txBody>
      </p:sp>
      <p:sp>
        <p:nvSpPr>
          <p:cNvPr id="13" name="domanda 4"/>
          <p:cNvSpPr/>
          <p:nvPr/>
        </p:nvSpPr>
        <p:spPr>
          <a:xfrm>
            <a:off x="6766560" y="1097280"/>
            <a:ext cx="1965960" cy="1600200"/>
          </a:xfrm>
          <a:prstGeom prst="roundRect">
            <a:avLst>
              <a:gd name="adj" fmla="val 4571"/>
            </a:avLst>
          </a:prstGeom>
          <a:solidFill>
            <a:schemeClr val="bg2"/>
          </a:solidFill>
          <a:ln/>
        </p:spPr>
        <p:txBody>
          <a:bodyPr/>
          <a:lstStyle/>
          <a:p>
            <a:endParaRPr lang="it-IT" dirty="0"/>
          </a:p>
        </p:txBody>
      </p:sp>
      <p:sp>
        <p:nvSpPr>
          <p:cNvPr id="14" name="Text 11"/>
          <p:cNvSpPr txBox="1"/>
          <p:nvPr/>
        </p:nvSpPr>
        <p:spPr>
          <a:xfrm>
            <a:off x="6931152" y="1207008"/>
            <a:ext cx="457200" cy="411480"/>
          </a:xfrm>
          <a:prstGeom prst="rect">
            <a:avLst/>
          </a:prstGeom>
          <a:noFill/>
          <a:ln/>
        </p:spPr>
        <p:txBody>
          <a:bodyPr wrap="square" lIns="0" tIns="0" rIns="0" bIns="0" rtlCol="0" anchor="t"/>
          <a:lstStyle/>
          <a:p>
            <a:pPr marL="0" indent="0">
              <a:buNone/>
            </a:pPr>
            <a:r>
              <a:rPr lang="it-IT" sz="2200" b="1" dirty="0">
                <a:solidFill>
                  <a:schemeClr val="accent1"/>
                </a:solidFill>
              </a:rPr>
              <a:t>4</a:t>
            </a:r>
            <a:endParaRPr lang="it-IT" sz="2200" dirty="0"/>
          </a:p>
        </p:txBody>
      </p:sp>
      <p:sp>
        <p:nvSpPr>
          <p:cNvPr id="15" name="Text 12"/>
          <p:cNvSpPr txBox="1"/>
          <p:nvPr/>
        </p:nvSpPr>
        <p:spPr>
          <a:xfrm>
            <a:off x="6931152" y="1645920"/>
            <a:ext cx="1691640" cy="1005840"/>
          </a:xfrm>
          <a:prstGeom prst="rect">
            <a:avLst/>
          </a:prstGeom>
          <a:noFill/>
          <a:ln/>
        </p:spPr>
        <p:txBody>
          <a:bodyPr wrap="square" lIns="0" tIns="0" rIns="0" bIns="0" rtlCol="0" anchor="t"/>
          <a:lstStyle/>
          <a:p>
            <a:pPr marL="0" indent="0">
              <a:buNone/>
            </a:pPr>
            <a:r>
              <a:rPr lang="it-IT" sz="1200" dirty="0">
                <a:solidFill>
                  <a:schemeClr val="tx1"/>
                </a:solidFill>
              </a:rPr>
              <a:t>Come emergono </a:t>
            </a:r>
            <a:r>
              <a:rPr lang="it-IT" sz="1200" dirty="0" err="1">
                <a:solidFill>
                  <a:schemeClr val="tx1"/>
                </a:solidFill>
              </a:rPr>
              <a:t>bias</a:t>
            </a:r>
            <a:r>
              <a:rPr lang="it-IT" sz="1200" dirty="0">
                <a:solidFill>
                  <a:schemeClr val="tx1"/>
                </a:solidFill>
              </a:rPr>
              <a:t> e distorsioni negli output?</a:t>
            </a:r>
            <a:endParaRPr lang="it-IT" sz="1200" dirty="0"/>
          </a:p>
        </p:txBody>
      </p:sp>
      <p:sp>
        <p:nvSpPr>
          <p:cNvPr id="16" name="domanda 5"/>
          <p:cNvSpPr/>
          <p:nvPr/>
        </p:nvSpPr>
        <p:spPr>
          <a:xfrm>
            <a:off x="457200" y="2834640"/>
            <a:ext cx="1965960" cy="1600200"/>
          </a:xfrm>
          <a:prstGeom prst="roundRect">
            <a:avLst>
              <a:gd name="adj" fmla="val 4571"/>
            </a:avLst>
          </a:prstGeom>
          <a:solidFill>
            <a:schemeClr val="bg2"/>
          </a:solidFill>
          <a:ln/>
        </p:spPr>
        <p:txBody>
          <a:bodyPr/>
          <a:lstStyle/>
          <a:p>
            <a:endParaRPr lang="it-IT" dirty="0"/>
          </a:p>
        </p:txBody>
      </p:sp>
      <p:sp>
        <p:nvSpPr>
          <p:cNvPr id="17" name="Text 14"/>
          <p:cNvSpPr txBox="1"/>
          <p:nvPr/>
        </p:nvSpPr>
        <p:spPr>
          <a:xfrm>
            <a:off x="621792" y="2944368"/>
            <a:ext cx="457200" cy="411480"/>
          </a:xfrm>
          <a:prstGeom prst="rect">
            <a:avLst/>
          </a:prstGeom>
          <a:noFill/>
          <a:ln/>
        </p:spPr>
        <p:txBody>
          <a:bodyPr wrap="square" lIns="0" tIns="0" rIns="0" bIns="0" rtlCol="0" anchor="t"/>
          <a:lstStyle/>
          <a:p>
            <a:pPr marL="0" indent="0">
              <a:buNone/>
            </a:pPr>
            <a:r>
              <a:rPr lang="it-IT" sz="2200" b="1" dirty="0">
                <a:solidFill>
                  <a:schemeClr val="accent1"/>
                </a:solidFill>
              </a:rPr>
              <a:t>5</a:t>
            </a:r>
            <a:endParaRPr lang="it-IT" sz="2200" dirty="0"/>
          </a:p>
        </p:txBody>
      </p:sp>
      <p:sp>
        <p:nvSpPr>
          <p:cNvPr id="18" name="Text 15"/>
          <p:cNvSpPr txBox="1"/>
          <p:nvPr/>
        </p:nvSpPr>
        <p:spPr>
          <a:xfrm>
            <a:off x="621792" y="3383280"/>
            <a:ext cx="1691640" cy="1005840"/>
          </a:xfrm>
          <a:prstGeom prst="rect">
            <a:avLst/>
          </a:prstGeom>
          <a:noFill/>
          <a:ln/>
        </p:spPr>
        <p:txBody>
          <a:bodyPr wrap="square" lIns="0" tIns="0" rIns="0" bIns="0" rtlCol="0" anchor="t"/>
          <a:lstStyle/>
          <a:p>
            <a:pPr marL="0" indent="0">
              <a:buNone/>
            </a:pPr>
            <a:r>
              <a:rPr lang="it-IT" sz="1200" dirty="0">
                <a:solidFill>
                  <a:schemeClr val="tx1"/>
                </a:solidFill>
              </a:rPr>
              <a:t>In cosa differiscono accuratezza, affidabilità, consistenza e utilità?</a:t>
            </a:r>
            <a:endParaRPr lang="it-IT" sz="1200" dirty="0"/>
          </a:p>
        </p:txBody>
      </p:sp>
      <p:sp>
        <p:nvSpPr>
          <p:cNvPr id="19" name="domanda 6"/>
          <p:cNvSpPr/>
          <p:nvPr/>
        </p:nvSpPr>
        <p:spPr>
          <a:xfrm>
            <a:off x="2560320" y="2834640"/>
            <a:ext cx="1965960" cy="1600200"/>
          </a:xfrm>
          <a:prstGeom prst="roundRect">
            <a:avLst>
              <a:gd name="adj" fmla="val 4571"/>
            </a:avLst>
          </a:prstGeom>
          <a:solidFill>
            <a:schemeClr val="bg2"/>
          </a:solidFill>
          <a:ln/>
        </p:spPr>
        <p:txBody>
          <a:bodyPr/>
          <a:lstStyle/>
          <a:p>
            <a:endParaRPr lang="it-IT" dirty="0"/>
          </a:p>
        </p:txBody>
      </p:sp>
      <p:sp>
        <p:nvSpPr>
          <p:cNvPr id="20" name="Text 17"/>
          <p:cNvSpPr txBox="1"/>
          <p:nvPr/>
        </p:nvSpPr>
        <p:spPr>
          <a:xfrm>
            <a:off x="2724912" y="2944368"/>
            <a:ext cx="457200" cy="411480"/>
          </a:xfrm>
          <a:prstGeom prst="rect">
            <a:avLst/>
          </a:prstGeom>
          <a:noFill/>
          <a:ln/>
        </p:spPr>
        <p:txBody>
          <a:bodyPr wrap="square" lIns="0" tIns="0" rIns="0" bIns="0" rtlCol="0" anchor="t"/>
          <a:lstStyle/>
          <a:p>
            <a:pPr marL="0" indent="0">
              <a:buNone/>
            </a:pPr>
            <a:r>
              <a:rPr lang="it-IT" sz="2200" b="1" dirty="0">
                <a:solidFill>
                  <a:schemeClr val="accent1"/>
                </a:solidFill>
              </a:rPr>
              <a:t>6</a:t>
            </a:r>
            <a:endParaRPr lang="it-IT" sz="2200" dirty="0"/>
          </a:p>
        </p:txBody>
      </p:sp>
      <p:sp>
        <p:nvSpPr>
          <p:cNvPr id="21" name="Text 18"/>
          <p:cNvSpPr txBox="1"/>
          <p:nvPr/>
        </p:nvSpPr>
        <p:spPr>
          <a:xfrm>
            <a:off x="2724912" y="3383280"/>
            <a:ext cx="1691640" cy="1005840"/>
          </a:xfrm>
          <a:prstGeom prst="rect">
            <a:avLst/>
          </a:prstGeom>
          <a:noFill/>
          <a:ln/>
        </p:spPr>
        <p:txBody>
          <a:bodyPr wrap="square" lIns="0" tIns="0" rIns="0" bIns="0" rtlCol="0" anchor="t"/>
          <a:lstStyle/>
          <a:p>
            <a:pPr marL="0" indent="0">
              <a:buNone/>
            </a:pPr>
            <a:r>
              <a:rPr lang="it-IT" sz="1200" dirty="0">
                <a:solidFill>
                  <a:schemeClr val="tx1"/>
                </a:solidFill>
              </a:rPr>
              <a:t>Quali controlli servono prima di usare un risultato?</a:t>
            </a:r>
            <a:endParaRPr lang="it-IT" sz="1200" dirty="0"/>
          </a:p>
        </p:txBody>
      </p:sp>
      <p:sp>
        <p:nvSpPr>
          <p:cNvPr id="22" name="domanda 7"/>
          <p:cNvSpPr/>
          <p:nvPr/>
        </p:nvSpPr>
        <p:spPr>
          <a:xfrm>
            <a:off x="4663440" y="2834640"/>
            <a:ext cx="1965960" cy="1600200"/>
          </a:xfrm>
          <a:prstGeom prst="roundRect">
            <a:avLst>
              <a:gd name="adj" fmla="val 4571"/>
            </a:avLst>
          </a:prstGeom>
          <a:solidFill>
            <a:schemeClr val="bg2"/>
          </a:solidFill>
          <a:ln/>
        </p:spPr>
        <p:txBody>
          <a:bodyPr/>
          <a:lstStyle/>
          <a:p>
            <a:endParaRPr lang="it-IT" dirty="0"/>
          </a:p>
        </p:txBody>
      </p:sp>
      <p:sp>
        <p:nvSpPr>
          <p:cNvPr id="23" name="Text 20"/>
          <p:cNvSpPr txBox="1"/>
          <p:nvPr/>
        </p:nvSpPr>
        <p:spPr>
          <a:xfrm>
            <a:off x="4828032" y="2944368"/>
            <a:ext cx="457200" cy="411480"/>
          </a:xfrm>
          <a:prstGeom prst="rect">
            <a:avLst/>
          </a:prstGeom>
          <a:noFill/>
          <a:ln/>
        </p:spPr>
        <p:txBody>
          <a:bodyPr wrap="square" lIns="0" tIns="0" rIns="0" bIns="0" rtlCol="0" anchor="t"/>
          <a:lstStyle/>
          <a:p>
            <a:pPr marL="0" indent="0">
              <a:buNone/>
            </a:pPr>
            <a:r>
              <a:rPr lang="it-IT" sz="2200" b="1" dirty="0">
                <a:solidFill>
                  <a:schemeClr val="accent1"/>
                </a:solidFill>
              </a:rPr>
              <a:t>7</a:t>
            </a:r>
            <a:endParaRPr lang="it-IT" sz="2200" dirty="0"/>
          </a:p>
        </p:txBody>
      </p:sp>
      <p:sp>
        <p:nvSpPr>
          <p:cNvPr id="24" name="Text 21"/>
          <p:cNvSpPr txBox="1"/>
          <p:nvPr/>
        </p:nvSpPr>
        <p:spPr>
          <a:xfrm>
            <a:off x="4828032" y="3383280"/>
            <a:ext cx="1691640" cy="1005840"/>
          </a:xfrm>
          <a:prstGeom prst="rect">
            <a:avLst/>
          </a:prstGeom>
          <a:noFill/>
          <a:ln/>
        </p:spPr>
        <p:txBody>
          <a:bodyPr wrap="square" lIns="0" tIns="0" rIns="0" bIns="0" rtlCol="0" anchor="t"/>
          <a:lstStyle/>
          <a:p>
            <a:pPr marL="0" indent="0">
              <a:buNone/>
            </a:pPr>
            <a:r>
              <a:rPr lang="it-IT" sz="1200" dirty="0">
                <a:solidFill>
                  <a:schemeClr val="tx1"/>
                </a:solidFill>
              </a:rPr>
              <a:t>Perché lo stesso modello va bene in un compito e male in un altro?</a:t>
            </a:r>
            <a:endParaRPr lang="it-IT" sz="1200" dirty="0"/>
          </a:p>
        </p:txBody>
      </p:sp>
      <p:sp>
        <p:nvSpPr>
          <p:cNvPr id="25" name="domanda 8"/>
          <p:cNvSpPr/>
          <p:nvPr/>
        </p:nvSpPr>
        <p:spPr>
          <a:xfrm>
            <a:off x="6766560" y="2834640"/>
            <a:ext cx="1965960" cy="1600200"/>
          </a:xfrm>
          <a:prstGeom prst="roundRect">
            <a:avLst>
              <a:gd name="adj" fmla="val 4571"/>
            </a:avLst>
          </a:prstGeom>
          <a:solidFill>
            <a:schemeClr val="bg2"/>
          </a:solidFill>
          <a:ln/>
        </p:spPr>
        <p:txBody>
          <a:bodyPr/>
          <a:lstStyle/>
          <a:p>
            <a:endParaRPr lang="it-IT" dirty="0"/>
          </a:p>
        </p:txBody>
      </p:sp>
      <p:sp>
        <p:nvSpPr>
          <p:cNvPr id="26" name="Text 23"/>
          <p:cNvSpPr txBox="1"/>
          <p:nvPr/>
        </p:nvSpPr>
        <p:spPr>
          <a:xfrm>
            <a:off x="6931152" y="2944368"/>
            <a:ext cx="457200" cy="411480"/>
          </a:xfrm>
          <a:prstGeom prst="rect">
            <a:avLst/>
          </a:prstGeom>
          <a:noFill/>
          <a:ln/>
        </p:spPr>
        <p:txBody>
          <a:bodyPr wrap="square" lIns="0" tIns="0" rIns="0" bIns="0" rtlCol="0" anchor="t"/>
          <a:lstStyle/>
          <a:p>
            <a:pPr marL="0" indent="0">
              <a:buNone/>
            </a:pPr>
            <a:r>
              <a:rPr lang="it-IT" sz="2200" b="1" dirty="0">
                <a:solidFill>
                  <a:schemeClr val="accent1"/>
                </a:solidFill>
              </a:rPr>
              <a:t>8</a:t>
            </a:r>
            <a:endParaRPr lang="it-IT" sz="2200" dirty="0"/>
          </a:p>
        </p:txBody>
      </p:sp>
      <p:sp>
        <p:nvSpPr>
          <p:cNvPr id="27" name="Text 24"/>
          <p:cNvSpPr txBox="1"/>
          <p:nvPr/>
        </p:nvSpPr>
        <p:spPr>
          <a:xfrm>
            <a:off x="6931152" y="3383280"/>
            <a:ext cx="1691640" cy="1005840"/>
          </a:xfrm>
          <a:prstGeom prst="rect">
            <a:avLst/>
          </a:prstGeom>
          <a:noFill/>
          <a:ln/>
        </p:spPr>
        <p:txBody>
          <a:bodyPr wrap="square" lIns="0" tIns="0" rIns="0" bIns="0" rtlCol="0" anchor="t"/>
          <a:lstStyle/>
          <a:p>
            <a:pPr marL="0" indent="0">
              <a:buNone/>
            </a:pPr>
            <a:r>
              <a:rPr lang="it-IT" sz="1200" dirty="0">
                <a:solidFill>
                  <a:schemeClr val="tx1"/>
                </a:solidFill>
              </a:rPr>
              <a:t>Quando le conseguenze di un errore richiedono più supervisione o sconsigliano l'AI?</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a:t>
            </a:fld>
            <a:endParaRPr lang="it-IT"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Il filo conduttore</a:t>
            </a:r>
            <a:endParaRPr lang="it-IT" sz="2600" dirty="0"/>
          </a:p>
        </p:txBody>
      </p:sp>
      <p:sp>
        <p:nvSpPr>
          <p:cNvPr id="4" name="Che cosa sa fare"/>
          <p:cNvSpPr/>
          <p:nvPr/>
        </p:nvSpPr>
        <p:spPr>
          <a:xfrm>
            <a:off x="457200" y="1051560"/>
            <a:ext cx="1920240" cy="1965960"/>
          </a:xfrm>
          <a:prstGeom prst="roundRect">
            <a:avLst>
              <a:gd name="adj" fmla="val 3810"/>
            </a:avLst>
          </a:prstGeom>
          <a:solidFill>
            <a:schemeClr val="bg2"/>
          </a:solidFill>
          <a:ln/>
        </p:spPr>
        <p:txBody>
          <a:bodyPr/>
          <a:lstStyle/>
          <a:p>
            <a:endParaRPr lang="it-IT" dirty="0"/>
          </a:p>
        </p:txBody>
      </p:sp>
      <p:sp>
        <p:nvSpPr>
          <p:cNvPr id="5" name="cerchio FiZap"/>
          <p:cNvSpPr/>
          <p:nvPr/>
        </p:nvSpPr>
        <p:spPr>
          <a:xfrm>
            <a:off x="1097280" y="1161288"/>
            <a:ext cx="640080" cy="640080"/>
          </a:xfrm>
          <a:prstGeom prst="ellipse">
            <a:avLst/>
          </a:prstGeom>
          <a:solidFill>
            <a:schemeClr val="accent1"/>
          </a:solidFill>
          <a:ln/>
        </p:spPr>
        <p:txBody>
          <a:bodyPr/>
          <a:lstStyle/>
          <a:p>
            <a:endParaRPr lang="it-IT" dirty="0"/>
          </a:p>
        </p:txBody>
      </p:sp>
      <p:pic>
        <p:nvPicPr>
          <p:cNvPr id="6" name="Image 0" descr="FiZap"/>
          <p:cNvPicPr>
            <a:picLocks noChangeAspect="1"/>
          </p:cNvPicPr>
          <p:nvPr/>
        </p:nvPicPr>
        <p:blipFill>
          <a:blip r:embed="rId3"/>
          <a:stretch>
            <a:fillRect/>
          </a:stretch>
        </p:blipFill>
        <p:spPr>
          <a:xfrm>
            <a:off x="1257300" y="1321308"/>
            <a:ext cx="320040" cy="320040"/>
          </a:xfrm>
          <a:prstGeom prst="rect">
            <a:avLst/>
          </a:prstGeom>
        </p:spPr>
      </p:pic>
      <p:sp>
        <p:nvSpPr>
          <p:cNvPr id="7" name="Text 3"/>
          <p:cNvSpPr txBox="1"/>
          <p:nvPr/>
        </p:nvSpPr>
        <p:spPr>
          <a:xfrm>
            <a:off x="548640" y="1874520"/>
            <a:ext cx="1737360" cy="347472"/>
          </a:xfrm>
          <a:prstGeom prst="rect">
            <a:avLst/>
          </a:prstGeom>
          <a:noFill/>
          <a:ln/>
        </p:spPr>
        <p:txBody>
          <a:bodyPr wrap="square" lIns="0" tIns="0" rIns="0" bIns="0" rtlCol="0" anchor="t"/>
          <a:lstStyle/>
          <a:p>
            <a:pPr marL="0" indent="0" algn="ctr">
              <a:buNone/>
            </a:pPr>
            <a:r>
              <a:rPr lang="it-IT" sz="1500" b="1" dirty="0">
                <a:solidFill>
                  <a:schemeClr val="tx1"/>
                </a:solidFill>
              </a:rPr>
              <a:t>Capacità</a:t>
            </a:r>
            <a:endParaRPr lang="it-IT" sz="1500" dirty="0"/>
          </a:p>
        </p:txBody>
      </p:sp>
      <p:sp>
        <p:nvSpPr>
          <p:cNvPr id="8" name="Text 4"/>
          <p:cNvSpPr txBox="1"/>
          <p:nvPr/>
        </p:nvSpPr>
        <p:spPr>
          <a:xfrm>
            <a:off x="548640" y="2221992"/>
            <a:ext cx="1737360" cy="457200"/>
          </a:xfrm>
          <a:prstGeom prst="rect">
            <a:avLst/>
          </a:prstGeom>
          <a:noFill/>
          <a:ln/>
        </p:spPr>
        <p:txBody>
          <a:bodyPr wrap="square" lIns="0" tIns="0" rIns="0" bIns="0" rtlCol="0" anchor="t"/>
          <a:lstStyle/>
          <a:p>
            <a:pPr marL="0" indent="0" algn="ctr">
              <a:buNone/>
            </a:pPr>
            <a:r>
              <a:rPr lang="it-IT" sz="1200" dirty="0">
                <a:solidFill>
                  <a:schemeClr val="tx2"/>
                </a:solidFill>
              </a:rPr>
              <a:t>Capacità e ragionamento</a:t>
            </a:r>
            <a:endParaRPr lang="it-IT" sz="1200" dirty="0"/>
          </a:p>
        </p:txBody>
      </p:sp>
      <p:sp>
        <p:nvSpPr>
          <p:cNvPr id="9" name="Text 5"/>
          <p:cNvSpPr txBox="1"/>
          <p:nvPr/>
        </p:nvSpPr>
        <p:spPr>
          <a:xfrm>
            <a:off x="548640" y="2697480"/>
            <a:ext cx="1737360" cy="274320"/>
          </a:xfrm>
          <a:prstGeom prst="rect">
            <a:avLst/>
          </a:prstGeom>
          <a:noFill/>
          <a:ln/>
        </p:spPr>
        <p:txBody>
          <a:bodyPr wrap="square" lIns="0" tIns="0" rIns="0" bIns="0" rtlCol="0" anchor="t"/>
          <a:lstStyle/>
          <a:p>
            <a:pPr marL="0" indent="0" algn="ctr">
              <a:buNone/>
            </a:pPr>
            <a:r>
              <a:rPr lang="it-IT" sz="1200" b="1" dirty="0">
                <a:solidFill>
                  <a:schemeClr val="accent1"/>
                </a:solidFill>
              </a:rPr>
              <a:t>3.1  3.2</a:t>
            </a:r>
            <a:endParaRPr lang="it-IT" sz="1200" dirty="0"/>
          </a:p>
        </p:txBody>
      </p:sp>
      <p:sp>
        <p:nvSpPr>
          <p:cNvPr id="10" name="freccia"/>
          <p:cNvSpPr/>
          <p:nvPr/>
        </p:nvSpPr>
        <p:spPr>
          <a:xfrm>
            <a:off x="2386584" y="1828800"/>
            <a:ext cx="155448" cy="292608"/>
          </a:xfrm>
          <a:prstGeom prst="rightArrow">
            <a:avLst/>
          </a:prstGeom>
          <a:solidFill>
            <a:schemeClr val="accent2"/>
          </a:solidFill>
          <a:ln/>
        </p:spPr>
        <p:txBody>
          <a:bodyPr/>
          <a:lstStyle/>
          <a:p>
            <a:endParaRPr lang="it-IT" dirty="0"/>
          </a:p>
        </p:txBody>
      </p:sp>
      <p:sp>
        <p:nvSpPr>
          <p:cNvPr id="11" name="Dove può sbagliare"/>
          <p:cNvSpPr/>
          <p:nvPr/>
        </p:nvSpPr>
        <p:spPr>
          <a:xfrm>
            <a:off x="2560320" y="1051560"/>
            <a:ext cx="1920240" cy="1965960"/>
          </a:xfrm>
          <a:prstGeom prst="roundRect">
            <a:avLst>
              <a:gd name="adj" fmla="val 3810"/>
            </a:avLst>
          </a:prstGeom>
          <a:solidFill>
            <a:schemeClr val="bg2"/>
          </a:solidFill>
          <a:ln/>
        </p:spPr>
        <p:txBody>
          <a:bodyPr/>
          <a:lstStyle/>
          <a:p>
            <a:endParaRPr lang="it-IT" dirty="0"/>
          </a:p>
        </p:txBody>
      </p:sp>
      <p:sp>
        <p:nvSpPr>
          <p:cNvPr id="12" name="cerchio FiAlertTriangle"/>
          <p:cNvSpPr/>
          <p:nvPr/>
        </p:nvSpPr>
        <p:spPr>
          <a:xfrm>
            <a:off x="3200400" y="1161288"/>
            <a:ext cx="640080" cy="640080"/>
          </a:xfrm>
          <a:prstGeom prst="ellipse">
            <a:avLst/>
          </a:prstGeom>
          <a:solidFill>
            <a:schemeClr val="accent1"/>
          </a:solidFill>
          <a:ln/>
        </p:spPr>
        <p:txBody>
          <a:bodyPr/>
          <a:lstStyle/>
          <a:p>
            <a:endParaRPr lang="it-IT" dirty="0"/>
          </a:p>
        </p:txBody>
      </p:sp>
      <p:pic>
        <p:nvPicPr>
          <p:cNvPr id="13" name="Image 1" descr="FiAlertTriangle"/>
          <p:cNvPicPr>
            <a:picLocks noChangeAspect="1"/>
          </p:cNvPicPr>
          <p:nvPr/>
        </p:nvPicPr>
        <p:blipFill>
          <a:blip r:embed="rId4"/>
          <a:stretch>
            <a:fillRect/>
          </a:stretch>
        </p:blipFill>
        <p:spPr>
          <a:xfrm>
            <a:off x="3360420" y="1321308"/>
            <a:ext cx="320040" cy="320040"/>
          </a:xfrm>
          <a:prstGeom prst="rect">
            <a:avLst/>
          </a:prstGeom>
        </p:spPr>
      </p:pic>
      <p:sp>
        <p:nvSpPr>
          <p:cNvPr id="14" name="Text 9"/>
          <p:cNvSpPr txBox="1"/>
          <p:nvPr/>
        </p:nvSpPr>
        <p:spPr>
          <a:xfrm>
            <a:off x="2651760" y="1874520"/>
            <a:ext cx="1737360" cy="347472"/>
          </a:xfrm>
          <a:prstGeom prst="rect">
            <a:avLst/>
          </a:prstGeom>
          <a:noFill/>
          <a:ln/>
        </p:spPr>
        <p:txBody>
          <a:bodyPr wrap="square" lIns="0" tIns="0" rIns="0" bIns="0" rtlCol="0" anchor="t"/>
          <a:lstStyle/>
          <a:p>
            <a:pPr marL="0" indent="0" algn="ctr">
              <a:buNone/>
            </a:pPr>
            <a:r>
              <a:rPr lang="it-IT" sz="1500" b="1" dirty="0">
                <a:solidFill>
                  <a:schemeClr val="tx1"/>
                </a:solidFill>
              </a:rPr>
              <a:t>Limiti</a:t>
            </a:r>
            <a:endParaRPr lang="it-IT" sz="1500" dirty="0"/>
          </a:p>
        </p:txBody>
      </p:sp>
      <p:sp>
        <p:nvSpPr>
          <p:cNvPr id="15" name="Text 10"/>
          <p:cNvSpPr txBox="1"/>
          <p:nvPr/>
        </p:nvSpPr>
        <p:spPr>
          <a:xfrm>
            <a:off x="2651760" y="2221992"/>
            <a:ext cx="1737360" cy="457200"/>
          </a:xfrm>
          <a:prstGeom prst="rect">
            <a:avLst/>
          </a:prstGeom>
          <a:noFill/>
          <a:ln/>
        </p:spPr>
        <p:txBody>
          <a:bodyPr wrap="square" lIns="0" tIns="0" rIns="0" bIns="0" rtlCol="0" anchor="t"/>
          <a:lstStyle/>
          <a:p>
            <a:pPr marL="0" indent="0" algn="ctr">
              <a:buNone/>
            </a:pPr>
            <a:r>
              <a:rPr lang="it-IT" sz="1200" dirty="0">
                <a:solidFill>
                  <a:schemeClr val="tx2"/>
                </a:solidFill>
              </a:rPr>
              <a:t>Allucinazioni e </a:t>
            </a:r>
            <a:r>
              <a:rPr lang="it-IT" sz="1200" dirty="0" err="1">
                <a:solidFill>
                  <a:schemeClr val="tx2"/>
                </a:solidFill>
              </a:rPr>
              <a:t>bias</a:t>
            </a:r>
            <a:endParaRPr lang="it-IT" sz="1200" dirty="0"/>
          </a:p>
        </p:txBody>
      </p:sp>
      <p:sp>
        <p:nvSpPr>
          <p:cNvPr id="16" name="Text 11"/>
          <p:cNvSpPr txBox="1"/>
          <p:nvPr/>
        </p:nvSpPr>
        <p:spPr>
          <a:xfrm>
            <a:off x="2651760" y="2697480"/>
            <a:ext cx="1737360" cy="274320"/>
          </a:xfrm>
          <a:prstGeom prst="rect">
            <a:avLst/>
          </a:prstGeom>
          <a:noFill/>
          <a:ln/>
        </p:spPr>
        <p:txBody>
          <a:bodyPr wrap="square" lIns="0" tIns="0" rIns="0" bIns="0" rtlCol="0" anchor="t"/>
          <a:lstStyle/>
          <a:p>
            <a:pPr marL="0" indent="0" algn="ctr">
              <a:buNone/>
            </a:pPr>
            <a:r>
              <a:rPr lang="it-IT" sz="1200" b="1" dirty="0">
                <a:solidFill>
                  <a:schemeClr val="accent1"/>
                </a:solidFill>
              </a:rPr>
              <a:t>3.3  3.4</a:t>
            </a:r>
            <a:endParaRPr lang="it-IT" sz="1200" dirty="0"/>
          </a:p>
        </p:txBody>
      </p:sp>
      <p:sp>
        <p:nvSpPr>
          <p:cNvPr id="17" name="freccia"/>
          <p:cNvSpPr/>
          <p:nvPr/>
        </p:nvSpPr>
        <p:spPr>
          <a:xfrm>
            <a:off x="4489704" y="1828800"/>
            <a:ext cx="155448" cy="292608"/>
          </a:xfrm>
          <a:prstGeom prst="rightArrow">
            <a:avLst/>
          </a:prstGeom>
          <a:solidFill>
            <a:schemeClr val="accent2"/>
          </a:solidFill>
          <a:ln/>
        </p:spPr>
        <p:txBody>
          <a:bodyPr/>
          <a:lstStyle/>
          <a:p>
            <a:endParaRPr lang="it-IT" dirty="0"/>
          </a:p>
        </p:txBody>
      </p:sp>
      <p:sp>
        <p:nvSpPr>
          <p:cNvPr id="18" name="Quanto è affidabile"/>
          <p:cNvSpPr/>
          <p:nvPr/>
        </p:nvSpPr>
        <p:spPr>
          <a:xfrm>
            <a:off x="4663440" y="1051560"/>
            <a:ext cx="1920240" cy="1965960"/>
          </a:xfrm>
          <a:prstGeom prst="roundRect">
            <a:avLst>
              <a:gd name="adj" fmla="val 3810"/>
            </a:avLst>
          </a:prstGeom>
          <a:solidFill>
            <a:schemeClr val="bg2"/>
          </a:solidFill>
          <a:ln/>
        </p:spPr>
        <p:txBody>
          <a:bodyPr/>
          <a:lstStyle/>
          <a:p>
            <a:endParaRPr lang="it-IT" dirty="0"/>
          </a:p>
        </p:txBody>
      </p:sp>
      <p:sp>
        <p:nvSpPr>
          <p:cNvPr id="19" name="cerchio FiCheckSquare"/>
          <p:cNvSpPr/>
          <p:nvPr/>
        </p:nvSpPr>
        <p:spPr>
          <a:xfrm>
            <a:off x="5303520" y="1161288"/>
            <a:ext cx="640080" cy="640080"/>
          </a:xfrm>
          <a:prstGeom prst="ellipse">
            <a:avLst/>
          </a:prstGeom>
          <a:solidFill>
            <a:schemeClr val="accent1"/>
          </a:solidFill>
          <a:ln/>
        </p:spPr>
        <p:txBody>
          <a:bodyPr/>
          <a:lstStyle/>
          <a:p>
            <a:endParaRPr lang="it-IT" dirty="0"/>
          </a:p>
        </p:txBody>
      </p:sp>
      <p:pic>
        <p:nvPicPr>
          <p:cNvPr id="20" name="Image 2" descr="FiCheckSquare"/>
          <p:cNvPicPr>
            <a:picLocks noChangeAspect="1"/>
          </p:cNvPicPr>
          <p:nvPr/>
        </p:nvPicPr>
        <p:blipFill>
          <a:blip r:embed="rId5"/>
          <a:stretch>
            <a:fillRect/>
          </a:stretch>
        </p:blipFill>
        <p:spPr>
          <a:xfrm>
            <a:off x="5463540" y="1321308"/>
            <a:ext cx="320040" cy="320040"/>
          </a:xfrm>
          <a:prstGeom prst="rect">
            <a:avLst/>
          </a:prstGeom>
        </p:spPr>
      </p:pic>
      <p:sp>
        <p:nvSpPr>
          <p:cNvPr id="21" name="Text 15"/>
          <p:cNvSpPr txBox="1"/>
          <p:nvPr/>
        </p:nvSpPr>
        <p:spPr>
          <a:xfrm>
            <a:off x="4754880" y="1874520"/>
            <a:ext cx="1737360" cy="347472"/>
          </a:xfrm>
          <a:prstGeom prst="rect">
            <a:avLst/>
          </a:prstGeom>
          <a:noFill/>
          <a:ln/>
        </p:spPr>
        <p:txBody>
          <a:bodyPr wrap="square" lIns="0" tIns="0" rIns="0" bIns="0" rtlCol="0" anchor="t"/>
          <a:lstStyle/>
          <a:p>
            <a:pPr marL="0" indent="0" algn="ctr">
              <a:buNone/>
            </a:pPr>
            <a:r>
              <a:rPr lang="it-IT" sz="1500" b="1" dirty="0">
                <a:solidFill>
                  <a:schemeClr val="tx1"/>
                </a:solidFill>
              </a:rPr>
              <a:t>Affidabilità</a:t>
            </a:r>
            <a:endParaRPr lang="it-IT" sz="1500" dirty="0"/>
          </a:p>
        </p:txBody>
      </p:sp>
      <p:sp>
        <p:nvSpPr>
          <p:cNvPr id="22" name="Text 16"/>
          <p:cNvSpPr txBox="1"/>
          <p:nvPr/>
        </p:nvSpPr>
        <p:spPr>
          <a:xfrm>
            <a:off x="4754880" y="2221992"/>
            <a:ext cx="1737360" cy="457200"/>
          </a:xfrm>
          <a:prstGeom prst="rect">
            <a:avLst/>
          </a:prstGeom>
          <a:noFill/>
          <a:ln/>
        </p:spPr>
        <p:txBody>
          <a:bodyPr wrap="square" lIns="0" tIns="0" rIns="0" bIns="0" rtlCol="0" anchor="t"/>
          <a:lstStyle/>
          <a:p>
            <a:pPr marL="0" indent="0" algn="ctr">
              <a:buNone/>
            </a:pPr>
            <a:r>
              <a:rPr lang="it-IT" sz="1200" dirty="0">
                <a:solidFill>
                  <a:schemeClr val="tx2"/>
                </a:solidFill>
              </a:rPr>
              <a:t>Affidabilità, verifica, fattori</a:t>
            </a:r>
            <a:endParaRPr lang="it-IT" sz="1200" dirty="0"/>
          </a:p>
        </p:txBody>
      </p:sp>
      <p:sp>
        <p:nvSpPr>
          <p:cNvPr id="23" name="Text 17"/>
          <p:cNvSpPr txBox="1"/>
          <p:nvPr/>
        </p:nvSpPr>
        <p:spPr>
          <a:xfrm>
            <a:off x="4754880" y="2697480"/>
            <a:ext cx="1737360" cy="274320"/>
          </a:xfrm>
          <a:prstGeom prst="rect">
            <a:avLst/>
          </a:prstGeom>
          <a:noFill/>
          <a:ln/>
        </p:spPr>
        <p:txBody>
          <a:bodyPr wrap="square" lIns="0" tIns="0" rIns="0" bIns="0" rtlCol="0" anchor="t"/>
          <a:lstStyle/>
          <a:p>
            <a:pPr marL="0" indent="0" algn="ctr">
              <a:buNone/>
            </a:pPr>
            <a:r>
              <a:rPr lang="it-IT" sz="1200" b="1" dirty="0">
                <a:solidFill>
                  <a:schemeClr val="accent1"/>
                </a:solidFill>
              </a:rPr>
              <a:t>3.5  3.6  3.7</a:t>
            </a:r>
            <a:endParaRPr lang="it-IT" sz="1200" dirty="0"/>
          </a:p>
        </p:txBody>
      </p:sp>
      <p:sp>
        <p:nvSpPr>
          <p:cNvPr id="24" name="freccia"/>
          <p:cNvSpPr/>
          <p:nvPr/>
        </p:nvSpPr>
        <p:spPr>
          <a:xfrm>
            <a:off x="6592824" y="1828800"/>
            <a:ext cx="155448" cy="292608"/>
          </a:xfrm>
          <a:prstGeom prst="rightArrow">
            <a:avLst/>
          </a:prstGeom>
          <a:solidFill>
            <a:schemeClr val="accent2"/>
          </a:solidFill>
          <a:ln/>
        </p:spPr>
        <p:txBody>
          <a:bodyPr/>
          <a:lstStyle/>
          <a:p>
            <a:endParaRPr lang="it-IT" dirty="0"/>
          </a:p>
        </p:txBody>
      </p:sp>
      <p:sp>
        <p:nvSpPr>
          <p:cNvPr id="25" name="Quando usarla"/>
          <p:cNvSpPr/>
          <p:nvPr/>
        </p:nvSpPr>
        <p:spPr>
          <a:xfrm>
            <a:off x="6766560" y="1051560"/>
            <a:ext cx="1920240" cy="1965960"/>
          </a:xfrm>
          <a:prstGeom prst="roundRect">
            <a:avLst>
              <a:gd name="adj" fmla="val 3810"/>
            </a:avLst>
          </a:prstGeom>
          <a:solidFill>
            <a:schemeClr val="accent1"/>
          </a:solidFill>
          <a:ln/>
        </p:spPr>
        <p:txBody>
          <a:bodyPr/>
          <a:lstStyle/>
          <a:p>
            <a:endParaRPr lang="it-IT" dirty="0"/>
          </a:p>
        </p:txBody>
      </p:sp>
      <p:sp>
        <p:nvSpPr>
          <p:cNvPr id="26" name="cerchio FiSliders"/>
          <p:cNvSpPr/>
          <p:nvPr/>
        </p:nvSpPr>
        <p:spPr>
          <a:xfrm>
            <a:off x="7406640" y="1161288"/>
            <a:ext cx="640080" cy="640080"/>
          </a:xfrm>
          <a:prstGeom prst="ellipse">
            <a:avLst/>
          </a:prstGeom>
          <a:solidFill>
            <a:schemeClr val="bg1"/>
          </a:solidFill>
          <a:ln/>
        </p:spPr>
        <p:txBody>
          <a:bodyPr/>
          <a:lstStyle/>
          <a:p>
            <a:endParaRPr lang="it-IT" dirty="0"/>
          </a:p>
        </p:txBody>
      </p:sp>
      <p:pic>
        <p:nvPicPr>
          <p:cNvPr id="27" name="Image 3" descr="FiSliders"/>
          <p:cNvPicPr>
            <a:picLocks noChangeAspect="1"/>
          </p:cNvPicPr>
          <p:nvPr/>
        </p:nvPicPr>
        <p:blipFill>
          <a:blip r:embed="rId6"/>
          <a:stretch>
            <a:fillRect/>
          </a:stretch>
        </p:blipFill>
        <p:spPr>
          <a:xfrm>
            <a:off x="7566660" y="1321308"/>
            <a:ext cx="320040" cy="320040"/>
          </a:xfrm>
          <a:prstGeom prst="rect">
            <a:avLst/>
          </a:prstGeom>
        </p:spPr>
      </p:pic>
      <p:sp>
        <p:nvSpPr>
          <p:cNvPr id="28" name="Text 21"/>
          <p:cNvSpPr txBox="1"/>
          <p:nvPr/>
        </p:nvSpPr>
        <p:spPr>
          <a:xfrm>
            <a:off x="6858000" y="1874520"/>
            <a:ext cx="1737360" cy="347472"/>
          </a:xfrm>
          <a:prstGeom prst="rect">
            <a:avLst/>
          </a:prstGeom>
          <a:noFill/>
          <a:ln/>
        </p:spPr>
        <p:txBody>
          <a:bodyPr wrap="square" lIns="0" tIns="0" rIns="0" bIns="0" rtlCol="0" anchor="t"/>
          <a:lstStyle/>
          <a:p>
            <a:pPr marL="0" indent="0" algn="ctr">
              <a:buNone/>
            </a:pPr>
            <a:r>
              <a:rPr lang="it-IT" sz="1500" b="1" dirty="0">
                <a:solidFill>
                  <a:schemeClr val="bg1"/>
                </a:solidFill>
              </a:rPr>
              <a:t>Utilizzo Consapevole</a:t>
            </a:r>
            <a:endParaRPr lang="it-IT" sz="1500" dirty="0"/>
          </a:p>
        </p:txBody>
      </p:sp>
      <p:sp>
        <p:nvSpPr>
          <p:cNvPr id="29" name="Text 22"/>
          <p:cNvSpPr txBox="1"/>
          <p:nvPr/>
        </p:nvSpPr>
        <p:spPr>
          <a:xfrm>
            <a:off x="6858000" y="2221992"/>
            <a:ext cx="1737360" cy="457200"/>
          </a:xfrm>
          <a:prstGeom prst="rect">
            <a:avLst/>
          </a:prstGeom>
          <a:noFill/>
          <a:ln/>
        </p:spPr>
        <p:txBody>
          <a:bodyPr wrap="square" lIns="0" tIns="0" rIns="0" bIns="0" rtlCol="0" anchor="t"/>
          <a:lstStyle/>
          <a:p>
            <a:pPr marL="0" indent="0" algn="ctr">
              <a:buNone/>
            </a:pPr>
            <a:r>
              <a:rPr lang="it-IT" sz="1200" dirty="0">
                <a:solidFill>
                  <a:schemeClr val="bg1"/>
                </a:solidFill>
              </a:rPr>
              <a:t>Scegliere come utilizzare l’AI</a:t>
            </a:r>
            <a:endParaRPr lang="it-IT" sz="1200" dirty="0"/>
          </a:p>
        </p:txBody>
      </p:sp>
      <p:sp>
        <p:nvSpPr>
          <p:cNvPr id="30" name="Text 23"/>
          <p:cNvSpPr txBox="1"/>
          <p:nvPr/>
        </p:nvSpPr>
        <p:spPr>
          <a:xfrm>
            <a:off x="6858000" y="2697480"/>
            <a:ext cx="1737360" cy="274320"/>
          </a:xfrm>
          <a:prstGeom prst="rect">
            <a:avLst/>
          </a:prstGeom>
          <a:noFill/>
          <a:ln/>
        </p:spPr>
        <p:txBody>
          <a:bodyPr wrap="square" lIns="0" tIns="0" rIns="0" bIns="0" rtlCol="0" anchor="t"/>
          <a:lstStyle/>
          <a:p>
            <a:pPr marL="0" indent="0" algn="ctr">
              <a:buNone/>
            </a:pPr>
            <a:r>
              <a:rPr lang="it-IT" sz="1200" b="1" dirty="0">
                <a:solidFill>
                  <a:schemeClr val="accent6"/>
                </a:solidFill>
              </a:rPr>
              <a:t>3.8</a:t>
            </a:r>
            <a:endParaRPr lang="it-IT" sz="1200" dirty="0"/>
          </a:p>
        </p:txBody>
      </p:sp>
      <p:sp>
        <p:nvSpPr>
          <p:cNvPr id="31" name="Text 24"/>
          <p:cNvSpPr txBox="1"/>
          <p:nvPr/>
        </p:nvSpPr>
        <p:spPr>
          <a:xfrm>
            <a:off x="457200" y="3154680"/>
            <a:ext cx="8229600" cy="301752"/>
          </a:xfrm>
          <a:prstGeom prst="rect">
            <a:avLst/>
          </a:prstGeom>
          <a:noFill/>
          <a:ln/>
        </p:spPr>
        <p:txBody>
          <a:bodyPr wrap="square" lIns="0" tIns="0" rIns="0" bIns="0" rtlCol="0" anchor="t"/>
          <a:lstStyle/>
          <a:p>
            <a:pPr marL="0" indent="0">
              <a:buNone/>
            </a:pPr>
            <a:r>
              <a:rPr lang="it-IT" sz="1300" b="1" dirty="0">
                <a:solidFill>
                  <a:schemeClr val="tx1"/>
                </a:solidFill>
              </a:rPr>
              <a:t>Tre cose da tenere distinte</a:t>
            </a:r>
            <a:endParaRPr lang="it-IT" sz="1300" dirty="0"/>
          </a:p>
        </p:txBody>
      </p:sp>
      <p:sp>
        <p:nvSpPr>
          <p:cNvPr id="32" name="blocco Capacità dimostrate"/>
          <p:cNvSpPr/>
          <p:nvPr/>
        </p:nvSpPr>
        <p:spPr>
          <a:xfrm>
            <a:off x="457200" y="3520440"/>
            <a:ext cx="2615184" cy="868680"/>
          </a:xfrm>
          <a:prstGeom prst="roundRect">
            <a:avLst>
              <a:gd name="adj" fmla="val 12632"/>
            </a:avLst>
          </a:prstGeom>
          <a:solidFill>
            <a:schemeClr val="accent6"/>
          </a:solidFill>
          <a:ln/>
        </p:spPr>
        <p:txBody>
          <a:bodyPr/>
          <a:lstStyle/>
          <a:p>
            <a:endParaRPr lang="it-IT" dirty="0"/>
          </a:p>
        </p:txBody>
      </p:sp>
      <p:sp>
        <p:nvSpPr>
          <p:cNvPr id="33" name="Text 26"/>
          <p:cNvSpPr txBox="1"/>
          <p:nvPr/>
        </p:nvSpPr>
        <p:spPr>
          <a:xfrm>
            <a:off x="502920" y="3520440"/>
            <a:ext cx="2523744" cy="868680"/>
          </a:xfrm>
          <a:prstGeom prst="rect">
            <a:avLst/>
          </a:prstGeom>
          <a:noFill/>
          <a:ln/>
        </p:spPr>
        <p:txBody>
          <a:bodyPr wrap="square" lIns="0" tIns="0" rIns="0" bIns="0" rtlCol="0" anchor="ctr"/>
          <a:lstStyle/>
          <a:p>
            <a:pPr marL="0" indent="0" algn="ctr">
              <a:buNone/>
            </a:pPr>
            <a:r>
              <a:rPr lang="it-IT" sz="1400" b="1" dirty="0">
                <a:solidFill>
                  <a:schemeClr val="tx1"/>
                </a:solidFill>
              </a:rPr>
              <a:t>Capacità dimostrate</a:t>
            </a:r>
            <a:endParaRPr lang="it-IT" sz="1400" dirty="0"/>
          </a:p>
        </p:txBody>
      </p:sp>
      <p:sp>
        <p:nvSpPr>
          <p:cNvPr id="34" name="blocco Affidabilità effettiva"/>
          <p:cNvSpPr/>
          <p:nvPr/>
        </p:nvSpPr>
        <p:spPr>
          <a:xfrm>
            <a:off x="3264408" y="3520440"/>
            <a:ext cx="2615184" cy="868680"/>
          </a:xfrm>
          <a:prstGeom prst="roundRect">
            <a:avLst>
              <a:gd name="adj" fmla="val 12632"/>
            </a:avLst>
          </a:prstGeom>
          <a:solidFill>
            <a:schemeClr val="accent6"/>
          </a:solidFill>
          <a:ln/>
        </p:spPr>
        <p:txBody>
          <a:bodyPr/>
          <a:lstStyle/>
          <a:p>
            <a:endParaRPr lang="it-IT" dirty="0"/>
          </a:p>
        </p:txBody>
      </p:sp>
      <p:sp>
        <p:nvSpPr>
          <p:cNvPr id="35" name="Text 28"/>
          <p:cNvSpPr txBox="1"/>
          <p:nvPr/>
        </p:nvSpPr>
        <p:spPr>
          <a:xfrm>
            <a:off x="3310128" y="3520440"/>
            <a:ext cx="2523744" cy="868680"/>
          </a:xfrm>
          <a:prstGeom prst="rect">
            <a:avLst/>
          </a:prstGeom>
          <a:noFill/>
          <a:ln/>
        </p:spPr>
        <p:txBody>
          <a:bodyPr wrap="square" lIns="0" tIns="0" rIns="0" bIns="0" rtlCol="0" anchor="ctr"/>
          <a:lstStyle/>
          <a:p>
            <a:pPr marL="0" indent="0" algn="ctr">
              <a:buNone/>
            </a:pPr>
            <a:r>
              <a:rPr lang="it-IT" sz="1400" b="1" dirty="0">
                <a:solidFill>
                  <a:schemeClr val="tx1"/>
                </a:solidFill>
              </a:rPr>
              <a:t>Affidabilità effettiva</a:t>
            </a:r>
            <a:endParaRPr lang="it-IT" sz="1400" dirty="0"/>
          </a:p>
        </p:txBody>
      </p:sp>
      <p:sp>
        <p:nvSpPr>
          <p:cNvPr id="36" name="blocco Adeguatezza al compito"/>
          <p:cNvSpPr/>
          <p:nvPr/>
        </p:nvSpPr>
        <p:spPr>
          <a:xfrm>
            <a:off x="6071616" y="3520440"/>
            <a:ext cx="2615184" cy="868680"/>
          </a:xfrm>
          <a:prstGeom prst="roundRect">
            <a:avLst>
              <a:gd name="adj" fmla="val 12632"/>
            </a:avLst>
          </a:prstGeom>
          <a:solidFill>
            <a:schemeClr val="accent6"/>
          </a:solidFill>
          <a:ln/>
        </p:spPr>
        <p:txBody>
          <a:bodyPr/>
          <a:lstStyle/>
          <a:p>
            <a:endParaRPr lang="it-IT" dirty="0"/>
          </a:p>
        </p:txBody>
      </p:sp>
      <p:sp>
        <p:nvSpPr>
          <p:cNvPr id="37" name="Text 30"/>
          <p:cNvSpPr txBox="1"/>
          <p:nvPr/>
        </p:nvSpPr>
        <p:spPr>
          <a:xfrm>
            <a:off x="6117336" y="3520440"/>
            <a:ext cx="2523744" cy="868680"/>
          </a:xfrm>
          <a:prstGeom prst="rect">
            <a:avLst/>
          </a:prstGeom>
          <a:noFill/>
          <a:ln/>
        </p:spPr>
        <p:txBody>
          <a:bodyPr wrap="square" lIns="0" tIns="0" rIns="0" bIns="0" rtlCol="0" anchor="ctr"/>
          <a:lstStyle/>
          <a:p>
            <a:pPr marL="0" indent="0" algn="ctr">
              <a:buNone/>
            </a:pPr>
            <a:r>
              <a:rPr lang="it-IT" sz="1400" b="1" dirty="0">
                <a:solidFill>
                  <a:schemeClr val="tx1"/>
                </a:solidFill>
              </a:rPr>
              <a:t>Adeguatezza al compito</a:t>
            </a:r>
            <a:endParaRPr lang="it-IT"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a:t>
            </a:fld>
            <a:endParaRPr lang="it-IT"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Il percorso del modulo</a:t>
            </a:r>
            <a:endParaRPr lang="it-IT" sz="2600" dirty="0"/>
          </a:p>
        </p:txBody>
      </p:sp>
      <p:sp>
        <p:nvSpPr>
          <p:cNvPr id="4" name="riga 3.1"/>
          <p:cNvSpPr/>
          <p:nvPr/>
        </p:nvSpPr>
        <p:spPr>
          <a:xfrm>
            <a:off x="457200" y="1024128"/>
            <a:ext cx="5120640" cy="365760"/>
          </a:xfrm>
          <a:prstGeom prst="roundRect">
            <a:avLst>
              <a:gd name="adj" fmla="val 20000"/>
            </a:avLst>
          </a:prstGeom>
          <a:solidFill>
            <a:schemeClr val="bg2"/>
          </a:solidFill>
          <a:ln/>
        </p:spPr>
        <p:txBody>
          <a:bodyPr/>
          <a:lstStyle/>
          <a:p>
            <a:endParaRPr lang="it-IT" dirty="0"/>
          </a:p>
        </p:txBody>
      </p:sp>
      <p:sp>
        <p:nvSpPr>
          <p:cNvPr id="5" name="Text 2"/>
          <p:cNvSpPr txBox="1"/>
          <p:nvPr/>
        </p:nvSpPr>
        <p:spPr>
          <a:xfrm>
            <a:off x="594360" y="1024128"/>
            <a:ext cx="502920" cy="365760"/>
          </a:xfrm>
          <a:prstGeom prst="rect">
            <a:avLst/>
          </a:prstGeom>
          <a:noFill/>
          <a:ln/>
        </p:spPr>
        <p:txBody>
          <a:bodyPr wrap="square" lIns="0" tIns="0" rIns="0" bIns="0" rtlCol="0" anchor="ctr"/>
          <a:lstStyle/>
          <a:p>
            <a:pPr marL="0" indent="0">
              <a:buNone/>
            </a:pPr>
            <a:r>
              <a:rPr lang="it-IT" sz="1300" b="1" dirty="0">
                <a:solidFill>
                  <a:schemeClr val="accent1"/>
                </a:solidFill>
              </a:rPr>
              <a:t>3.1</a:t>
            </a:r>
            <a:endParaRPr lang="it-IT" sz="1300" dirty="0"/>
          </a:p>
        </p:txBody>
      </p:sp>
      <p:sp>
        <p:nvSpPr>
          <p:cNvPr id="6" name="Text 3"/>
          <p:cNvSpPr txBox="1"/>
          <p:nvPr/>
        </p:nvSpPr>
        <p:spPr>
          <a:xfrm>
            <a:off x="1097280" y="1024128"/>
            <a:ext cx="3566160" cy="365760"/>
          </a:xfrm>
          <a:prstGeom prst="rect">
            <a:avLst/>
          </a:prstGeom>
          <a:noFill/>
          <a:ln/>
        </p:spPr>
        <p:txBody>
          <a:bodyPr wrap="square" lIns="0" tIns="0" rIns="0" bIns="0" rtlCol="0" anchor="ctr"/>
          <a:lstStyle/>
          <a:p>
            <a:pPr marL="0" indent="0">
              <a:buNone/>
            </a:pPr>
            <a:r>
              <a:rPr lang="it-IT" sz="1300" dirty="0">
                <a:solidFill>
                  <a:schemeClr val="tx1"/>
                </a:solidFill>
              </a:rPr>
              <a:t>Le principali capacità dell'AI</a:t>
            </a:r>
            <a:endParaRPr lang="it-IT" sz="1300" dirty="0"/>
          </a:p>
        </p:txBody>
      </p:sp>
      <p:sp>
        <p:nvSpPr>
          <p:cNvPr id="7" name="priorità 3.1"/>
          <p:cNvSpPr/>
          <p:nvPr/>
        </p:nvSpPr>
        <p:spPr>
          <a:xfrm>
            <a:off x="4754880" y="1088136"/>
            <a:ext cx="731520" cy="237744"/>
          </a:xfrm>
          <a:prstGeom prst="roundRect">
            <a:avLst>
              <a:gd name="adj" fmla="val 50000"/>
            </a:avLst>
          </a:prstGeom>
          <a:solidFill>
            <a:schemeClr val="accent1"/>
          </a:solidFill>
          <a:ln w="12700">
            <a:solidFill>
              <a:schemeClr val="accent1"/>
            </a:solidFill>
            <a:prstDash val="solid"/>
          </a:ln>
        </p:spPr>
        <p:txBody>
          <a:bodyPr/>
          <a:lstStyle/>
          <a:p>
            <a:endParaRPr lang="it-IT" dirty="0"/>
          </a:p>
        </p:txBody>
      </p:sp>
      <p:sp>
        <p:nvSpPr>
          <p:cNvPr id="8" name="Text 5"/>
          <p:cNvSpPr txBox="1"/>
          <p:nvPr/>
        </p:nvSpPr>
        <p:spPr>
          <a:xfrm>
            <a:off x="4754880" y="1088136"/>
            <a:ext cx="731520" cy="237744"/>
          </a:xfrm>
          <a:prstGeom prst="rect">
            <a:avLst/>
          </a:prstGeom>
          <a:noFill/>
          <a:ln/>
        </p:spPr>
        <p:txBody>
          <a:bodyPr wrap="square" lIns="0" tIns="0" rIns="0" bIns="0" rtlCol="0" anchor="ctr"/>
          <a:lstStyle/>
          <a:p>
            <a:pPr marL="0" indent="0" algn="ctr">
              <a:buNone/>
            </a:pPr>
            <a:r>
              <a:rPr lang="it-IT" sz="1000" b="1" dirty="0">
                <a:solidFill>
                  <a:schemeClr val="bg1"/>
                </a:solidFill>
              </a:rPr>
              <a:t>Alta</a:t>
            </a:r>
            <a:endParaRPr lang="it-IT" sz="1000" dirty="0"/>
          </a:p>
        </p:txBody>
      </p:sp>
      <p:sp>
        <p:nvSpPr>
          <p:cNvPr id="9" name="riga 3.2"/>
          <p:cNvSpPr/>
          <p:nvPr/>
        </p:nvSpPr>
        <p:spPr>
          <a:xfrm>
            <a:off x="457200" y="1453896"/>
            <a:ext cx="5120640" cy="365760"/>
          </a:xfrm>
          <a:prstGeom prst="roundRect">
            <a:avLst>
              <a:gd name="adj" fmla="val 20000"/>
            </a:avLst>
          </a:prstGeom>
          <a:solidFill>
            <a:schemeClr val="bg1"/>
          </a:solidFill>
          <a:ln/>
        </p:spPr>
        <p:txBody>
          <a:bodyPr/>
          <a:lstStyle/>
          <a:p>
            <a:endParaRPr lang="it-IT" dirty="0"/>
          </a:p>
        </p:txBody>
      </p:sp>
      <p:sp>
        <p:nvSpPr>
          <p:cNvPr id="10" name="Text 7"/>
          <p:cNvSpPr txBox="1"/>
          <p:nvPr/>
        </p:nvSpPr>
        <p:spPr>
          <a:xfrm>
            <a:off x="594360" y="1453896"/>
            <a:ext cx="502920" cy="365760"/>
          </a:xfrm>
          <a:prstGeom prst="rect">
            <a:avLst/>
          </a:prstGeom>
          <a:noFill/>
          <a:ln/>
        </p:spPr>
        <p:txBody>
          <a:bodyPr wrap="square" lIns="0" tIns="0" rIns="0" bIns="0" rtlCol="0" anchor="ctr"/>
          <a:lstStyle/>
          <a:p>
            <a:pPr marL="0" indent="0">
              <a:buNone/>
            </a:pPr>
            <a:r>
              <a:rPr lang="it-IT" sz="1300" b="1" dirty="0">
                <a:solidFill>
                  <a:schemeClr val="accent1"/>
                </a:solidFill>
              </a:rPr>
              <a:t>3.2</a:t>
            </a:r>
            <a:endParaRPr lang="it-IT" sz="1300" dirty="0"/>
          </a:p>
        </p:txBody>
      </p:sp>
      <p:sp>
        <p:nvSpPr>
          <p:cNvPr id="11" name="Text 8"/>
          <p:cNvSpPr txBox="1"/>
          <p:nvPr/>
        </p:nvSpPr>
        <p:spPr>
          <a:xfrm>
            <a:off x="1097280" y="1453896"/>
            <a:ext cx="3566160" cy="365760"/>
          </a:xfrm>
          <a:prstGeom prst="rect">
            <a:avLst/>
          </a:prstGeom>
          <a:noFill/>
          <a:ln/>
        </p:spPr>
        <p:txBody>
          <a:bodyPr wrap="square" lIns="0" tIns="0" rIns="0" bIns="0" rtlCol="0" anchor="ctr"/>
          <a:lstStyle/>
          <a:p>
            <a:pPr marL="0" indent="0">
              <a:buNone/>
            </a:pPr>
            <a:r>
              <a:rPr lang="it-IT" sz="1300" dirty="0">
                <a:solidFill>
                  <a:schemeClr val="tx1"/>
                </a:solidFill>
              </a:rPr>
              <a:t>Ragionamento, </a:t>
            </a:r>
            <a:r>
              <a:rPr lang="it-IT" sz="1300" dirty="0" err="1">
                <a:solidFill>
                  <a:schemeClr val="tx1"/>
                </a:solidFill>
              </a:rPr>
              <a:t>problem</a:t>
            </a:r>
            <a:r>
              <a:rPr lang="it-IT" sz="1300" dirty="0">
                <a:solidFill>
                  <a:schemeClr val="tx1"/>
                </a:solidFill>
              </a:rPr>
              <a:t> solving e creatività</a:t>
            </a:r>
            <a:endParaRPr lang="it-IT" sz="1300" dirty="0"/>
          </a:p>
        </p:txBody>
      </p:sp>
      <p:sp>
        <p:nvSpPr>
          <p:cNvPr id="12" name="priorità 3.2"/>
          <p:cNvSpPr/>
          <p:nvPr/>
        </p:nvSpPr>
        <p:spPr>
          <a:xfrm>
            <a:off x="4754880" y="1517904"/>
            <a:ext cx="731520" cy="237744"/>
          </a:xfrm>
          <a:prstGeom prst="roundRect">
            <a:avLst>
              <a:gd name="adj" fmla="val 50000"/>
            </a:avLst>
          </a:prstGeom>
          <a:solidFill>
            <a:schemeClr val="accent1"/>
          </a:solidFill>
          <a:ln w="12700">
            <a:solidFill>
              <a:schemeClr val="accent1"/>
            </a:solidFill>
            <a:prstDash val="solid"/>
          </a:ln>
        </p:spPr>
        <p:txBody>
          <a:bodyPr/>
          <a:lstStyle/>
          <a:p>
            <a:endParaRPr lang="it-IT" dirty="0"/>
          </a:p>
        </p:txBody>
      </p:sp>
      <p:sp>
        <p:nvSpPr>
          <p:cNvPr id="13" name="Text 10"/>
          <p:cNvSpPr txBox="1"/>
          <p:nvPr/>
        </p:nvSpPr>
        <p:spPr>
          <a:xfrm>
            <a:off x="4754880" y="1517904"/>
            <a:ext cx="731520" cy="237744"/>
          </a:xfrm>
          <a:prstGeom prst="rect">
            <a:avLst/>
          </a:prstGeom>
          <a:noFill/>
          <a:ln/>
        </p:spPr>
        <p:txBody>
          <a:bodyPr wrap="square" lIns="0" tIns="0" rIns="0" bIns="0" rtlCol="0" anchor="ctr"/>
          <a:lstStyle/>
          <a:p>
            <a:pPr marL="0" indent="0" algn="ctr">
              <a:buNone/>
            </a:pPr>
            <a:r>
              <a:rPr lang="it-IT" sz="1000" b="1" dirty="0">
                <a:solidFill>
                  <a:schemeClr val="bg1"/>
                </a:solidFill>
              </a:rPr>
              <a:t>Alta</a:t>
            </a:r>
            <a:endParaRPr lang="it-IT" sz="1000" dirty="0"/>
          </a:p>
        </p:txBody>
      </p:sp>
      <p:sp>
        <p:nvSpPr>
          <p:cNvPr id="14" name="riga 3.3"/>
          <p:cNvSpPr/>
          <p:nvPr/>
        </p:nvSpPr>
        <p:spPr>
          <a:xfrm>
            <a:off x="457200" y="1883664"/>
            <a:ext cx="5120640" cy="365760"/>
          </a:xfrm>
          <a:prstGeom prst="roundRect">
            <a:avLst>
              <a:gd name="adj" fmla="val 20000"/>
            </a:avLst>
          </a:prstGeom>
          <a:solidFill>
            <a:schemeClr val="bg2"/>
          </a:solidFill>
          <a:ln/>
        </p:spPr>
        <p:txBody>
          <a:bodyPr/>
          <a:lstStyle/>
          <a:p>
            <a:endParaRPr lang="it-IT" dirty="0"/>
          </a:p>
        </p:txBody>
      </p:sp>
      <p:sp>
        <p:nvSpPr>
          <p:cNvPr id="15" name="Text 12"/>
          <p:cNvSpPr txBox="1"/>
          <p:nvPr/>
        </p:nvSpPr>
        <p:spPr>
          <a:xfrm>
            <a:off x="594360" y="1883664"/>
            <a:ext cx="502920" cy="365760"/>
          </a:xfrm>
          <a:prstGeom prst="rect">
            <a:avLst/>
          </a:prstGeom>
          <a:noFill/>
          <a:ln/>
        </p:spPr>
        <p:txBody>
          <a:bodyPr wrap="square" lIns="0" tIns="0" rIns="0" bIns="0" rtlCol="0" anchor="ctr"/>
          <a:lstStyle/>
          <a:p>
            <a:pPr marL="0" indent="0">
              <a:buNone/>
            </a:pPr>
            <a:r>
              <a:rPr lang="it-IT" sz="1300" b="1" dirty="0">
                <a:solidFill>
                  <a:schemeClr val="accent1"/>
                </a:solidFill>
              </a:rPr>
              <a:t>3.3</a:t>
            </a:r>
            <a:endParaRPr lang="it-IT" sz="1300" dirty="0"/>
          </a:p>
        </p:txBody>
      </p:sp>
      <p:sp>
        <p:nvSpPr>
          <p:cNvPr id="16" name="Text 13"/>
          <p:cNvSpPr txBox="1"/>
          <p:nvPr/>
        </p:nvSpPr>
        <p:spPr>
          <a:xfrm>
            <a:off x="1097280" y="1883664"/>
            <a:ext cx="3566160" cy="365760"/>
          </a:xfrm>
          <a:prstGeom prst="rect">
            <a:avLst/>
          </a:prstGeom>
          <a:noFill/>
          <a:ln/>
        </p:spPr>
        <p:txBody>
          <a:bodyPr wrap="square" lIns="0" tIns="0" rIns="0" bIns="0" rtlCol="0" anchor="ctr"/>
          <a:lstStyle/>
          <a:p>
            <a:pPr marL="0" indent="0">
              <a:buNone/>
            </a:pPr>
            <a:r>
              <a:rPr lang="it-IT" sz="1300" dirty="0">
                <a:solidFill>
                  <a:schemeClr val="tx1"/>
                </a:solidFill>
              </a:rPr>
              <a:t>Allucinazioni e informazioni false</a:t>
            </a:r>
            <a:endParaRPr lang="it-IT" sz="1300" dirty="0"/>
          </a:p>
        </p:txBody>
      </p:sp>
      <p:sp>
        <p:nvSpPr>
          <p:cNvPr id="17" name="priorità 3.3"/>
          <p:cNvSpPr/>
          <p:nvPr/>
        </p:nvSpPr>
        <p:spPr>
          <a:xfrm>
            <a:off x="4754880" y="1947672"/>
            <a:ext cx="731520" cy="237744"/>
          </a:xfrm>
          <a:prstGeom prst="roundRect">
            <a:avLst>
              <a:gd name="adj" fmla="val 50000"/>
            </a:avLst>
          </a:prstGeom>
          <a:solidFill>
            <a:schemeClr val="accent1"/>
          </a:solidFill>
          <a:ln w="12700">
            <a:solidFill>
              <a:schemeClr val="accent1"/>
            </a:solidFill>
            <a:prstDash val="solid"/>
          </a:ln>
        </p:spPr>
        <p:txBody>
          <a:bodyPr/>
          <a:lstStyle/>
          <a:p>
            <a:endParaRPr lang="it-IT" dirty="0"/>
          </a:p>
        </p:txBody>
      </p:sp>
      <p:sp>
        <p:nvSpPr>
          <p:cNvPr id="18" name="Text 15"/>
          <p:cNvSpPr txBox="1"/>
          <p:nvPr/>
        </p:nvSpPr>
        <p:spPr>
          <a:xfrm>
            <a:off x="4754880" y="1947672"/>
            <a:ext cx="731520" cy="237744"/>
          </a:xfrm>
          <a:prstGeom prst="rect">
            <a:avLst/>
          </a:prstGeom>
          <a:noFill/>
          <a:ln/>
        </p:spPr>
        <p:txBody>
          <a:bodyPr wrap="square" lIns="0" tIns="0" rIns="0" bIns="0" rtlCol="0" anchor="ctr"/>
          <a:lstStyle/>
          <a:p>
            <a:pPr marL="0" indent="0" algn="ctr">
              <a:buNone/>
            </a:pPr>
            <a:r>
              <a:rPr lang="it-IT" sz="1000" b="1" dirty="0">
                <a:solidFill>
                  <a:schemeClr val="bg1"/>
                </a:solidFill>
              </a:rPr>
              <a:t>Alta</a:t>
            </a:r>
            <a:endParaRPr lang="it-IT" sz="1000" dirty="0"/>
          </a:p>
        </p:txBody>
      </p:sp>
      <p:sp>
        <p:nvSpPr>
          <p:cNvPr id="19" name="riga 3.4"/>
          <p:cNvSpPr/>
          <p:nvPr/>
        </p:nvSpPr>
        <p:spPr>
          <a:xfrm>
            <a:off x="457200" y="2313432"/>
            <a:ext cx="5120640" cy="365760"/>
          </a:xfrm>
          <a:prstGeom prst="roundRect">
            <a:avLst>
              <a:gd name="adj" fmla="val 20000"/>
            </a:avLst>
          </a:prstGeom>
          <a:solidFill>
            <a:schemeClr val="bg1"/>
          </a:solidFill>
          <a:ln/>
        </p:spPr>
        <p:txBody>
          <a:bodyPr/>
          <a:lstStyle/>
          <a:p>
            <a:endParaRPr lang="it-IT" dirty="0"/>
          </a:p>
        </p:txBody>
      </p:sp>
      <p:sp>
        <p:nvSpPr>
          <p:cNvPr id="20" name="Text 17"/>
          <p:cNvSpPr txBox="1"/>
          <p:nvPr/>
        </p:nvSpPr>
        <p:spPr>
          <a:xfrm>
            <a:off x="594360" y="2313432"/>
            <a:ext cx="502920" cy="365760"/>
          </a:xfrm>
          <a:prstGeom prst="rect">
            <a:avLst/>
          </a:prstGeom>
          <a:noFill/>
          <a:ln/>
        </p:spPr>
        <p:txBody>
          <a:bodyPr wrap="square" lIns="0" tIns="0" rIns="0" bIns="0" rtlCol="0" anchor="ctr"/>
          <a:lstStyle/>
          <a:p>
            <a:pPr marL="0" indent="0">
              <a:buNone/>
            </a:pPr>
            <a:r>
              <a:rPr lang="it-IT" sz="1300" b="1" dirty="0">
                <a:solidFill>
                  <a:schemeClr val="accent1"/>
                </a:solidFill>
              </a:rPr>
              <a:t>3.4</a:t>
            </a:r>
            <a:endParaRPr lang="it-IT" sz="1300" dirty="0"/>
          </a:p>
        </p:txBody>
      </p:sp>
      <p:sp>
        <p:nvSpPr>
          <p:cNvPr id="21" name="Text 18"/>
          <p:cNvSpPr txBox="1"/>
          <p:nvPr/>
        </p:nvSpPr>
        <p:spPr>
          <a:xfrm>
            <a:off x="1097280" y="2313432"/>
            <a:ext cx="3566160" cy="365760"/>
          </a:xfrm>
          <a:prstGeom prst="rect">
            <a:avLst/>
          </a:prstGeom>
          <a:noFill/>
          <a:ln/>
        </p:spPr>
        <p:txBody>
          <a:bodyPr wrap="square" lIns="0" tIns="0" rIns="0" bIns="0" rtlCol="0" anchor="ctr"/>
          <a:lstStyle/>
          <a:p>
            <a:pPr marL="0" indent="0">
              <a:buNone/>
            </a:pPr>
            <a:r>
              <a:rPr lang="it-IT" sz="1300" dirty="0">
                <a:solidFill>
                  <a:schemeClr val="tx1"/>
                </a:solidFill>
              </a:rPr>
              <a:t>Bias e distorsioni nei risultati</a:t>
            </a:r>
            <a:endParaRPr lang="it-IT" sz="1300" dirty="0"/>
          </a:p>
        </p:txBody>
      </p:sp>
      <p:sp>
        <p:nvSpPr>
          <p:cNvPr id="22" name="priorità 3.4"/>
          <p:cNvSpPr/>
          <p:nvPr/>
        </p:nvSpPr>
        <p:spPr>
          <a:xfrm>
            <a:off x="4754880" y="2377440"/>
            <a:ext cx="731520" cy="237744"/>
          </a:xfrm>
          <a:prstGeom prst="roundRect">
            <a:avLst>
              <a:gd name="adj" fmla="val 50000"/>
            </a:avLst>
          </a:prstGeom>
          <a:solidFill>
            <a:schemeClr val="accent1"/>
          </a:solidFill>
          <a:ln w="12700">
            <a:solidFill>
              <a:schemeClr val="accent1"/>
            </a:solidFill>
            <a:prstDash val="solid"/>
          </a:ln>
        </p:spPr>
        <p:txBody>
          <a:bodyPr/>
          <a:lstStyle/>
          <a:p>
            <a:endParaRPr lang="it-IT" dirty="0"/>
          </a:p>
        </p:txBody>
      </p:sp>
      <p:sp>
        <p:nvSpPr>
          <p:cNvPr id="23" name="Text 20"/>
          <p:cNvSpPr txBox="1"/>
          <p:nvPr/>
        </p:nvSpPr>
        <p:spPr>
          <a:xfrm>
            <a:off x="4754880" y="2377440"/>
            <a:ext cx="731520" cy="237744"/>
          </a:xfrm>
          <a:prstGeom prst="rect">
            <a:avLst/>
          </a:prstGeom>
          <a:noFill/>
          <a:ln/>
        </p:spPr>
        <p:txBody>
          <a:bodyPr wrap="square" lIns="0" tIns="0" rIns="0" bIns="0" rtlCol="0" anchor="ctr"/>
          <a:lstStyle/>
          <a:p>
            <a:pPr marL="0" indent="0" algn="ctr">
              <a:buNone/>
            </a:pPr>
            <a:r>
              <a:rPr lang="it-IT" sz="1000" b="1" dirty="0">
                <a:solidFill>
                  <a:schemeClr val="bg1"/>
                </a:solidFill>
              </a:rPr>
              <a:t>Alta</a:t>
            </a:r>
            <a:endParaRPr lang="it-IT" sz="1000" dirty="0"/>
          </a:p>
        </p:txBody>
      </p:sp>
      <p:sp>
        <p:nvSpPr>
          <p:cNvPr id="24" name="riga 3.5"/>
          <p:cNvSpPr/>
          <p:nvPr/>
        </p:nvSpPr>
        <p:spPr>
          <a:xfrm>
            <a:off x="457200" y="2743200"/>
            <a:ext cx="5120640" cy="365760"/>
          </a:xfrm>
          <a:prstGeom prst="roundRect">
            <a:avLst>
              <a:gd name="adj" fmla="val 20000"/>
            </a:avLst>
          </a:prstGeom>
          <a:solidFill>
            <a:schemeClr val="bg2"/>
          </a:solidFill>
          <a:ln/>
        </p:spPr>
        <p:txBody>
          <a:bodyPr/>
          <a:lstStyle/>
          <a:p>
            <a:endParaRPr lang="it-IT" dirty="0"/>
          </a:p>
        </p:txBody>
      </p:sp>
      <p:sp>
        <p:nvSpPr>
          <p:cNvPr id="25" name="Text 22"/>
          <p:cNvSpPr txBox="1"/>
          <p:nvPr/>
        </p:nvSpPr>
        <p:spPr>
          <a:xfrm>
            <a:off x="594360" y="2743200"/>
            <a:ext cx="502920" cy="365760"/>
          </a:xfrm>
          <a:prstGeom prst="rect">
            <a:avLst/>
          </a:prstGeom>
          <a:noFill/>
          <a:ln/>
        </p:spPr>
        <p:txBody>
          <a:bodyPr wrap="square" lIns="0" tIns="0" rIns="0" bIns="0" rtlCol="0" anchor="ctr"/>
          <a:lstStyle/>
          <a:p>
            <a:pPr marL="0" indent="0">
              <a:buNone/>
            </a:pPr>
            <a:r>
              <a:rPr lang="it-IT" sz="1300" b="1" dirty="0">
                <a:solidFill>
                  <a:schemeClr val="accent1"/>
                </a:solidFill>
              </a:rPr>
              <a:t>3.5</a:t>
            </a:r>
            <a:endParaRPr lang="it-IT" sz="1300" dirty="0"/>
          </a:p>
        </p:txBody>
      </p:sp>
      <p:sp>
        <p:nvSpPr>
          <p:cNvPr id="26" name="Text 23"/>
          <p:cNvSpPr txBox="1"/>
          <p:nvPr/>
        </p:nvSpPr>
        <p:spPr>
          <a:xfrm>
            <a:off x="1097280" y="2743200"/>
            <a:ext cx="3566160" cy="365760"/>
          </a:xfrm>
          <a:prstGeom prst="rect">
            <a:avLst/>
          </a:prstGeom>
          <a:noFill/>
          <a:ln/>
        </p:spPr>
        <p:txBody>
          <a:bodyPr wrap="square" lIns="0" tIns="0" rIns="0" bIns="0" rtlCol="0" anchor="ctr"/>
          <a:lstStyle/>
          <a:p>
            <a:pPr marL="0" indent="0">
              <a:buNone/>
            </a:pPr>
            <a:r>
              <a:rPr lang="it-IT" sz="1300" dirty="0">
                <a:solidFill>
                  <a:schemeClr val="tx1"/>
                </a:solidFill>
              </a:rPr>
              <a:t>Accuratezza, affidabilità e consistenza</a:t>
            </a:r>
            <a:endParaRPr lang="it-IT" sz="1300" dirty="0"/>
          </a:p>
        </p:txBody>
      </p:sp>
      <p:sp>
        <p:nvSpPr>
          <p:cNvPr id="27" name="priorità 3.5"/>
          <p:cNvSpPr/>
          <p:nvPr/>
        </p:nvSpPr>
        <p:spPr>
          <a:xfrm>
            <a:off x="4754880" y="2807208"/>
            <a:ext cx="731520" cy="237744"/>
          </a:xfrm>
          <a:prstGeom prst="roundRect">
            <a:avLst>
              <a:gd name="adj" fmla="val 50000"/>
            </a:avLst>
          </a:prstGeom>
          <a:solidFill>
            <a:schemeClr val="accent1"/>
          </a:solidFill>
          <a:ln w="12700">
            <a:solidFill>
              <a:schemeClr val="accent1"/>
            </a:solidFill>
            <a:prstDash val="solid"/>
          </a:ln>
        </p:spPr>
        <p:txBody>
          <a:bodyPr/>
          <a:lstStyle/>
          <a:p>
            <a:endParaRPr lang="it-IT" dirty="0"/>
          </a:p>
        </p:txBody>
      </p:sp>
      <p:sp>
        <p:nvSpPr>
          <p:cNvPr id="28" name="Text 25"/>
          <p:cNvSpPr txBox="1"/>
          <p:nvPr/>
        </p:nvSpPr>
        <p:spPr>
          <a:xfrm>
            <a:off x="4754880" y="2807208"/>
            <a:ext cx="731520" cy="237744"/>
          </a:xfrm>
          <a:prstGeom prst="rect">
            <a:avLst/>
          </a:prstGeom>
          <a:noFill/>
          <a:ln/>
        </p:spPr>
        <p:txBody>
          <a:bodyPr wrap="square" lIns="0" tIns="0" rIns="0" bIns="0" rtlCol="0" anchor="ctr"/>
          <a:lstStyle/>
          <a:p>
            <a:pPr marL="0" indent="0" algn="ctr">
              <a:buNone/>
            </a:pPr>
            <a:r>
              <a:rPr lang="it-IT" sz="1000" b="1" dirty="0">
                <a:solidFill>
                  <a:schemeClr val="bg1"/>
                </a:solidFill>
              </a:rPr>
              <a:t>Alta</a:t>
            </a:r>
            <a:endParaRPr lang="it-IT" sz="1000" dirty="0"/>
          </a:p>
        </p:txBody>
      </p:sp>
      <p:sp>
        <p:nvSpPr>
          <p:cNvPr id="29" name="riga 3.6"/>
          <p:cNvSpPr/>
          <p:nvPr/>
        </p:nvSpPr>
        <p:spPr>
          <a:xfrm>
            <a:off x="457200" y="3172968"/>
            <a:ext cx="5120640" cy="365760"/>
          </a:xfrm>
          <a:prstGeom prst="roundRect">
            <a:avLst>
              <a:gd name="adj" fmla="val 20000"/>
            </a:avLst>
          </a:prstGeom>
          <a:solidFill>
            <a:schemeClr val="bg1"/>
          </a:solidFill>
          <a:ln/>
        </p:spPr>
        <p:txBody>
          <a:bodyPr/>
          <a:lstStyle/>
          <a:p>
            <a:endParaRPr lang="it-IT" dirty="0"/>
          </a:p>
        </p:txBody>
      </p:sp>
      <p:sp>
        <p:nvSpPr>
          <p:cNvPr id="30" name="Text 27"/>
          <p:cNvSpPr txBox="1"/>
          <p:nvPr/>
        </p:nvSpPr>
        <p:spPr>
          <a:xfrm>
            <a:off x="594360" y="3172968"/>
            <a:ext cx="502920" cy="365760"/>
          </a:xfrm>
          <a:prstGeom prst="rect">
            <a:avLst/>
          </a:prstGeom>
          <a:noFill/>
          <a:ln/>
        </p:spPr>
        <p:txBody>
          <a:bodyPr wrap="square" lIns="0" tIns="0" rIns="0" bIns="0" rtlCol="0" anchor="ctr"/>
          <a:lstStyle/>
          <a:p>
            <a:pPr marL="0" indent="0">
              <a:buNone/>
            </a:pPr>
            <a:r>
              <a:rPr lang="it-IT" sz="1300" b="1" dirty="0">
                <a:solidFill>
                  <a:schemeClr val="accent1"/>
                </a:solidFill>
              </a:rPr>
              <a:t>3.6</a:t>
            </a:r>
            <a:endParaRPr lang="it-IT" sz="1300" dirty="0"/>
          </a:p>
        </p:txBody>
      </p:sp>
      <p:sp>
        <p:nvSpPr>
          <p:cNvPr id="31" name="Text 28"/>
          <p:cNvSpPr txBox="1"/>
          <p:nvPr/>
        </p:nvSpPr>
        <p:spPr>
          <a:xfrm>
            <a:off x="1097280" y="3172968"/>
            <a:ext cx="3566160" cy="365760"/>
          </a:xfrm>
          <a:prstGeom prst="rect">
            <a:avLst/>
          </a:prstGeom>
          <a:noFill/>
          <a:ln/>
        </p:spPr>
        <p:txBody>
          <a:bodyPr wrap="square" lIns="0" tIns="0" rIns="0" bIns="0" rtlCol="0" anchor="ctr"/>
          <a:lstStyle/>
          <a:p>
            <a:pPr marL="0" indent="0">
              <a:buNone/>
            </a:pPr>
            <a:r>
              <a:rPr lang="it-IT" sz="1300" dirty="0">
                <a:solidFill>
                  <a:schemeClr val="tx1"/>
                </a:solidFill>
              </a:rPr>
              <a:t>Verificabilità e controllo dei risultati</a:t>
            </a:r>
            <a:endParaRPr lang="it-IT" sz="1300" dirty="0"/>
          </a:p>
        </p:txBody>
      </p:sp>
      <p:sp>
        <p:nvSpPr>
          <p:cNvPr id="32" name="priorità 3.6"/>
          <p:cNvSpPr/>
          <p:nvPr/>
        </p:nvSpPr>
        <p:spPr>
          <a:xfrm>
            <a:off x="4754880" y="3236976"/>
            <a:ext cx="731520" cy="237744"/>
          </a:xfrm>
          <a:prstGeom prst="roundRect">
            <a:avLst>
              <a:gd name="adj" fmla="val 50000"/>
            </a:avLst>
          </a:prstGeom>
          <a:solidFill>
            <a:schemeClr val="accent1"/>
          </a:solidFill>
          <a:ln w="12700">
            <a:solidFill>
              <a:schemeClr val="accent1"/>
            </a:solidFill>
            <a:prstDash val="solid"/>
          </a:ln>
        </p:spPr>
        <p:txBody>
          <a:bodyPr/>
          <a:lstStyle/>
          <a:p>
            <a:endParaRPr lang="it-IT" dirty="0"/>
          </a:p>
        </p:txBody>
      </p:sp>
      <p:sp>
        <p:nvSpPr>
          <p:cNvPr id="33" name="Text 30"/>
          <p:cNvSpPr txBox="1"/>
          <p:nvPr/>
        </p:nvSpPr>
        <p:spPr>
          <a:xfrm>
            <a:off x="4754880" y="3236976"/>
            <a:ext cx="731520" cy="237744"/>
          </a:xfrm>
          <a:prstGeom prst="rect">
            <a:avLst/>
          </a:prstGeom>
          <a:noFill/>
          <a:ln/>
        </p:spPr>
        <p:txBody>
          <a:bodyPr wrap="square" lIns="0" tIns="0" rIns="0" bIns="0" rtlCol="0" anchor="ctr"/>
          <a:lstStyle/>
          <a:p>
            <a:pPr marL="0" indent="0" algn="ctr">
              <a:buNone/>
            </a:pPr>
            <a:r>
              <a:rPr lang="it-IT" sz="1000" b="1" dirty="0">
                <a:solidFill>
                  <a:schemeClr val="bg1"/>
                </a:solidFill>
              </a:rPr>
              <a:t>Alta</a:t>
            </a:r>
            <a:endParaRPr lang="it-IT" sz="1000" dirty="0"/>
          </a:p>
        </p:txBody>
      </p:sp>
      <p:sp>
        <p:nvSpPr>
          <p:cNvPr id="34" name="riga 3.7"/>
          <p:cNvSpPr/>
          <p:nvPr/>
        </p:nvSpPr>
        <p:spPr>
          <a:xfrm>
            <a:off x="457200" y="3602736"/>
            <a:ext cx="5120640" cy="365760"/>
          </a:xfrm>
          <a:prstGeom prst="roundRect">
            <a:avLst>
              <a:gd name="adj" fmla="val 20000"/>
            </a:avLst>
          </a:prstGeom>
          <a:solidFill>
            <a:schemeClr val="bg2"/>
          </a:solidFill>
          <a:ln/>
        </p:spPr>
        <p:txBody>
          <a:bodyPr/>
          <a:lstStyle/>
          <a:p>
            <a:endParaRPr lang="it-IT" dirty="0"/>
          </a:p>
        </p:txBody>
      </p:sp>
      <p:sp>
        <p:nvSpPr>
          <p:cNvPr id="35" name="Text 32"/>
          <p:cNvSpPr txBox="1"/>
          <p:nvPr/>
        </p:nvSpPr>
        <p:spPr>
          <a:xfrm>
            <a:off x="594360" y="3602736"/>
            <a:ext cx="502920" cy="365760"/>
          </a:xfrm>
          <a:prstGeom prst="rect">
            <a:avLst/>
          </a:prstGeom>
          <a:noFill/>
          <a:ln/>
        </p:spPr>
        <p:txBody>
          <a:bodyPr wrap="square" lIns="0" tIns="0" rIns="0" bIns="0" rtlCol="0" anchor="ctr"/>
          <a:lstStyle/>
          <a:p>
            <a:pPr marL="0" indent="0">
              <a:buNone/>
            </a:pPr>
            <a:r>
              <a:rPr lang="it-IT" sz="1300" b="1" dirty="0">
                <a:solidFill>
                  <a:schemeClr val="accent1"/>
                </a:solidFill>
              </a:rPr>
              <a:t>3.7</a:t>
            </a:r>
            <a:endParaRPr lang="it-IT" sz="1300" dirty="0"/>
          </a:p>
        </p:txBody>
      </p:sp>
      <p:sp>
        <p:nvSpPr>
          <p:cNvPr id="36" name="Text 33"/>
          <p:cNvSpPr txBox="1"/>
          <p:nvPr/>
        </p:nvSpPr>
        <p:spPr>
          <a:xfrm>
            <a:off x="1097280" y="3602736"/>
            <a:ext cx="3566160" cy="365760"/>
          </a:xfrm>
          <a:prstGeom prst="rect">
            <a:avLst/>
          </a:prstGeom>
          <a:noFill/>
          <a:ln/>
        </p:spPr>
        <p:txBody>
          <a:bodyPr wrap="square" lIns="0" tIns="0" rIns="0" bIns="0" rtlCol="0" anchor="ctr"/>
          <a:lstStyle/>
          <a:p>
            <a:pPr marL="0" indent="0">
              <a:buNone/>
            </a:pPr>
            <a:r>
              <a:rPr lang="it-IT" sz="1300" dirty="0">
                <a:solidFill>
                  <a:schemeClr val="tx1"/>
                </a:solidFill>
              </a:rPr>
              <a:t>I fattori che influenzano le prestazioni</a:t>
            </a:r>
            <a:endParaRPr lang="it-IT" sz="1300" dirty="0"/>
          </a:p>
        </p:txBody>
      </p:sp>
      <p:sp>
        <p:nvSpPr>
          <p:cNvPr id="37" name="priorità 3.7"/>
          <p:cNvSpPr/>
          <p:nvPr/>
        </p:nvSpPr>
        <p:spPr>
          <a:xfrm>
            <a:off x="4754880" y="3666744"/>
            <a:ext cx="731520" cy="237744"/>
          </a:xfrm>
          <a:prstGeom prst="roundRect">
            <a:avLst>
              <a:gd name="adj" fmla="val 50000"/>
            </a:avLst>
          </a:prstGeom>
          <a:solidFill>
            <a:schemeClr val="bg1"/>
          </a:solidFill>
          <a:ln w="12700">
            <a:solidFill>
              <a:schemeClr val="accent1"/>
            </a:solidFill>
            <a:prstDash val="solid"/>
          </a:ln>
        </p:spPr>
        <p:txBody>
          <a:bodyPr/>
          <a:lstStyle/>
          <a:p>
            <a:endParaRPr lang="it-IT" dirty="0"/>
          </a:p>
        </p:txBody>
      </p:sp>
      <p:sp>
        <p:nvSpPr>
          <p:cNvPr id="38" name="Text 35"/>
          <p:cNvSpPr txBox="1"/>
          <p:nvPr/>
        </p:nvSpPr>
        <p:spPr>
          <a:xfrm>
            <a:off x="4754880" y="3666744"/>
            <a:ext cx="731520" cy="237744"/>
          </a:xfrm>
          <a:prstGeom prst="rect">
            <a:avLst/>
          </a:prstGeom>
          <a:noFill/>
          <a:ln/>
        </p:spPr>
        <p:txBody>
          <a:bodyPr wrap="square" lIns="0" tIns="0" rIns="0" bIns="0" rtlCol="0" anchor="ctr"/>
          <a:lstStyle/>
          <a:p>
            <a:pPr marL="0" indent="0" algn="ctr">
              <a:buNone/>
            </a:pPr>
            <a:r>
              <a:rPr lang="it-IT" sz="1000" b="1" dirty="0">
                <a:solidFill>
                  <a:schemeClr val="accent1"/>
                </a:solidFill>
              </a:rPr>
              <a:t>Media</a:t>
            </a:r>
            <a:endParaRPr lang="it-IT" sz="1000" dirty="0"/>
          </a:p>
        </p:txBody>
      </p:sp>
      <p:sp>
        <p:nvSpPr>
          <p:cNvPr id="39" name="riga 3.8"/>
          <p:cNvSpPr/>
          <p:nvPr/>
        </p:nvSpPr>
        <p:spPr>
          <a:xfrm>
            <a:off x="457200" y="4032504"/>
            <a:ext cx="5120640" cy="365760"/>
          </a:xfrm>
          <a:prstGeom prst="roundRect">
            <a:avLst>
              <a:gd name="adj" fmla="val 20000"/>
            </a:avLst>
          </a:prstGeom>
          <a:solidFill>
            <a:schemeClr val="bg1"/>
          </a:solidFill>
          <a:ln/>
        </p:spPr>
        <p:txBody>
          <a:bodyPr/>
          <a:lstStyle/>
          <a:p>
            <a:endParaRPr lang="it-IT" dirty="0"/>
          </a:p>
        </p:txBody>
      </p:sp>
      <p:sp>
        <p:nvSpPr>
          <p:cNvPr id="40" name="Text 37"/>
          <p:cNvSpPr txBox="1"/>
          <p:nvPr/>
        </p:nvSpPr>
        <p:spPr>
          <a:xfrm>
            <a:off x="594360" y="4032504"/>
            <a:ext cx="502920" cy="365760"/>
          </a:xfrm>
          <a:prstGeom prst="rect">
            <a:avLst/>
          </a:prstGeom>
          <a:noFill/>
          <a:ln/>
        </p:spPr>
        <p:txBody>
          <a:bodyPr wrap="square" lIns="0" tIns="0" rIns="0" bIns="0" rtlCol="0" anchor="ctr"/>
          <a:lstStyle/>
          <a:p>
            <a:pPr marL="0" indent="0">
              <a:buNone/>
            </a:pPr>
            <a:r>
              <a:rPr lang="it-IT" sz="1300" b="1" dirty="0">
                <a:solidFill>
                  <a:schemeClr val="accent1"/>
                </a:solidFill>
              </a:rPr>
              <a:t>3.8</a:t>
            </a:r>
            <a:endParaRPr lang="it-IT" sz="1300" dirty="0"/>
          </a:p>
        </p:txBody>
      </p:sp>
      <p:sp>
        <p:nvSpPr>
          <p:cNvPr id="41" name="Text 38"/>
          <p:cNvSpPr txBox="1"/>
          <p:nvPr/>
        </p:nvSpPr>
        <p:spPr>
          <a:xfrm>
            <a:off x="1097280" y="4032504"/>
            <a:ext cx="3566160" cy="365760"/>
          </a:xfrm>
          <a:prstGeom prst="rect">
            <a:avLst/>
          </a:prstGeom>
          <a:noFill/>
          <a:ln/>
        </p:spPr>
        <p:txBody>
          <a:bodyPr wrap="square" lIns="0" tIns="0" rIns="0" bIns="0" rtlCol="0" anchor="ctr"/>
          <a:lstStyle/>
          <a:p>
            <a:pPr marL="0" indent="0">
              <a:buNone/>
            </a:pPr>
            <a:r>
              <a:rPr lang="it-IT" sz="1300" dirty="0">
                <a:solidFill>
                  <a:schemeClr val="tx1"/>
                </a:solidFill>
              </a:rPr>
              <a:t>Quando utilizzare o limitare l'AI</a:t>
            </a:r>
            <a:endParaRPr lang="it-IT" sz="1300" dirty="0"/>
          </a:p>
        </p:txBody>
      </p:sp>
      <p:sp>
        <p:nvSpPr>
          <p:cNvPr id="42" name="priorità 3.8"/>
          <p:cNvSpPr/>
          <p:nvPr/>
        </p:nvSpPr>
        <p:spPr>
          <a:xfrm>
            <a:off x="4754880" y="4096512"/>
            <a:ext cx="731520" cy="237744"/>
          </a:xfrm>
          <a:prstGeom prst="roundRect">
            <a:avLst>
              <a:gd name="adj" fmla="val 50000"/>
            </a:avLst>
          </a:prstGeom>
          <a:solidFill>
            <a:schemeClr val="accent1"/>
          </a:solidFill>
          <a:ln w="12700">
            <a:solidFill>
              <a:schemeClr val="accent1"/>
            </a:solidFill>
            <a:prstDash val="solid"/>
          </a:ln>
        </p:spPr>
        <p:txBody>
          <a:bodyPr/>
          <a:lstStyle/>
          <a:p>
            <a:endParaRPr lang="it-IT" dirty="0"/>
          </a:p>
        </p:txBody>
      </p:sp>
      <p:sp>
        <p:nvSpPr>
          <p:cNvPr id="43" name="Text 40"/>
          <p:cNvSpPr txBox="1"/>
          <p:nvPr/>
        </p:nvSpPr>
        <p:spPr>
          <a:xfrm>
            <a:off x="4754880" y="4096512"/>
            <a:ext cx="731520" cy="237744"/>
          </a:xfrm>
          <a:prstGeom prst="rect">
            <a:avLst/>
          </a:prstGeom>
          <a:noFill/>
          <a:ln/>
        </p:spPr>
        <p:txBody>
          <a:bodyPr wrap="square" lIns="0" tIns="0" rIns="0" bIns="0" rtlCol="0" anchor="ctr"/>
          <a:lstStyle/>
          <a:p>
            <a:pPr marL="0" indent="0" algn="ctr">
              <a:buNone/>
            </a:pPr>
            <a:r>
              <a:rPr lang="it-IT" sz="1000" b="1" dirty="0">
                <a:solidFill>
                  <a:schemeClr val="bg1"/>
                </a:solidFill>
              </a:rPr>
              <a:t>Alta</a:t>
            </a:r>
            <a:endParaRPr lang="it-IT" sz="1000" dirty="0"/>
          </a:p>
        </p:txBody>
      </p:sp>
      <p:sp>
        <p:nvSpPr>
          <p:cNvPr id="44" name="livello Comprendere bene"/>
          <p:cNvSpPr/>
          <p:nvPr/>
        </p:nvSpPr>
        <p:spPr>
          <a:xfrm>
            <a:off x="5806440" y="1024128"/>
            <a:ext cx="2880360" cy="1024128"/>
          </a:xfrm>
          <a:prstGeom prst="roundRect">
            <a:avLst>
              <a:gd name="adj" fmla="val 7143"/>
            </a:avLst>
          </a:prstGeom>
          <a:solidFill>
            <a:schemeClr val="accent1"/>
          </a:solidFill>
          <a:ln/>
        </p:spPr>
        <p:txBody>
          <a:bodyPr/>
          <a:lstStyle/>
          <a:p>
            <a:endParaRPr lang="it-IT" dirty="0"/>
          </a:p>
        </p:txBody>
      </p:sp>
      <p:sp>
        <p:nvSpPr>
          <p:cNvPr id="45" name="Text 42"/>
          <p:cNvSpPr txBox="1"/>
          <p:nvPr/>
        </p:nvSpPr>
        <p:spPr>
          <a:xfrm>
            <a:off x="5943600" y="1097280"/>
            <a:ext cx="2651760" cy="274320"/>
          </a:xfrm>
          <a:prstGeom prst="rect">
            <a:avLst/>
          </a:prstGeom>
          <a:noFill/>
          <a:ln/>
        </p:spPr>
        <p:txBody>
          <a:bodyPr wrap="square" lIns="0" tIns="0" rIns="0" bIns="0" rtlCol="0" anchor="t"/>
          <a:lstStyle/>
          <a:p>
            <a:pPr marL="0" indent="0">
              <a:buNone/>
            </a:pPr>
            <a:r>
              <a:rPr lang="it-IT" sz="1300" b="1" dirty="0">
                <a:solidFill>
                  <a:schemeClr val="bg1"/>
                </a:solidFill>
              </a:rPr>
              <a:t>Comprendere bene</a:t>
            </a:r>
            <a:endParaRPr lang="it-IT" sz="1300" dirty="0"/>
          </a:p>
        </p:txBody>
      </p:sp>
      <p:sp>
        <p:nvSpPr>
          <p:cNvPr id="46" name="Text 43"/>
          <p:cNvSpPr txBox="1"/>
          <p:nvPr/>
        </p:nvSpPr>
        <p:spPr>
          <a:xfrm>
            <a:off x="5943600" y="1389888"/>
            <a:ext cx="2651760" cy="621792"/>
          </a:xfrm>
          <a:prstGeom prst="rect">
            <a:avLst/>
          </a:prstGeom>
          <a:noFill/>
          <a:ln/>
        </p:spPr>
        <p:txBody>
          <a:bodyPr wrap="square" lIns="0" tIns="0" rIns="0" bIns="0" rtlCol="0" anchor="t"/>
          <a:lstStyle/>
          <a:p>
            <a:pPr marL="0" indent="0">
              <a:buNone/>
            </a:pPr>
            <a:r>
              <a:rPr lang="it-IT" sz="1100" dirty="0">
                <a:solidFill>
                  <a:schemeClr val="bg1"/>
                </a:solidFill>
              </a:rPr>
              <a:t>Allucinazioni, autorevolezza apparente, </a:t>
            </a:r>
            <a:r>
              <a:rPr lang="it-IT" sz="1100" dirty="0" err="1">
                <a:solidFill>
                  <a:schemeClr val="bg1"/>
                </a:solidFill>
              </a:rPr>
              <a:t>bias</a:t>
            </a:r>
            <a:r>
              <a:rPr lang="it-IT" sz="1100" dirty="0">
                <a:solidFill>
                  <a:schemeClr val="bg1"/>
                </a:solidFill>
              </a:rPr>
              <a:t>, affidabilità, verifica, affidabilità e conseguenze</a:t>
            </a:r>
            <a:endParaRPr lang="it-IT" sz="1100" dirty="0"/>
          </a:p>
        </p:txBody>
      </p:sp>
      <p:sp>
        <p:nvSpPr>
          <p:cNvPr id="47" name="livello Conoscere"/>
          <p:cNvSpPr/>
          <p:nvPr/>
        </p:nvSpPr>
        <p:spPr>
          <a:xfrm>
            <a:off x="5806440" y="2185416"/>
            <a:ext cx="2880360" cy="1024128"/>
          </a:xfrm>
          <a:prstGeom prst="roundRect">
            <a:avLst>
              <a:gd name="adj" fmla="val 7143"/>
            </a:avLst>
          </a:prstGeom>
          <a:solidFill>
            <a:schemeClr val="accent6"/>
          </a:solidFill>
          <a:ln/>
        </p:spPr>
        <p:txBody>
          <a:bodyPr/>
          <a:lstStyle/>
          <a:p>
            <a:endParaRPr lang="it-IT" dirty="0"/>
          </a:p>
        </p:txBody>
      </p:sp>
      <p:sp>
        <p:nvSpPr>
          <p:cNvPr id="48" name="Text 45"/>
          <p:cNvSpPr txBox="1"/>
          <p:nvPr/>
        </p:nvSpPr>
        <p:spPr>
          <a:xfrm>
            <a:off x="5943600" y="2258568"/>
            <a:ext cx="2651760" cy="274320"/>
          </a:xfrm>
          <a:prstGeom prst="rect">
            <a:avLst/>
          </a:prstGeom>
          <a:noFill/>
          <a:ln/>
        </p:spPr>
        <p:txBody>
          <a:bodyPr wrap="square" lIns="0" tIns="0" rIns="0" bIns="0" rtlCol="0" anchor="t"/>
          <a:lstStyle/>
          <a:p>
            <a:pPr marL="0" indent="0">
              <a:buNone/>
            </a:pPr>
            <a:r>
              <a:rPr lang="it-IT" sz="1300" b="1" dirty="0">
                <a:solidFill>
                  <a:schemeClr val="tx1"/>
                </a:solidFill>
              </a:rPr>
              <a:t>Conoscere</a:t>
            </a:r>
            <a:endParaRPr lang="it-IT" sz="1300" dirty="0"/>
          </a:p>
        </p:txBody>
      </p:sp>
      <p:sp>
        <p:nvSpPr>
          <p:cNvPr id="49" name="Text 46"/>
          <p:cNvSpPr txBox="1"/>
          <p:nvPr/>
        </p:nvSpPr>
        <p:spPr>
          <a:xfrm>
            <a:off x="5943600" y="2551176"/>
            <a:ext cx="2651760" cy="621792"/>
          </a:xfrm>
          <a:prstGeom prst="rect">
            <a:avLst/>
          </a:prstGeom>
          <a:noFill/>
          <a:ln/>
        </p:spPr>
        <p:txBody>
          <a:bodyPr wrap="square" lIns="0" tIns="0" rIns="0" bIns="0" rtlCol="0" anchor="t"/>
          <a:lstStyle/>
          <a:p>
            <a:pPr marL="0" indent="0">
              <a:buNone/>
            </a:pPr>
            <a:r>
              <a:rPr lang="it-IT" sz="1100" dirty="0">
                <a:solidFill>
                  <a:schemeClr val="tx1"/>
                </a:solidFill>
              </a:rPr>
              <a:t>Capacità cognitive, ragionamento, creatività, robustezza, ripetibilità, fattori</a:t>
            </a:r>
            <a:endParaRPr lang="it-IT" sz="1100" dirty="0"/>
          </a:p>
        </p:txBody>
      </p:sp>
      <p:sp>
        <p:nvSpPr>
          <p:cNvPr id="50" name="livello Solo accennare"/>
          <p:cNvSpPr/>
          <p:nvPr/>
        </p:nvSpPr>
        <p:spPr>
          <a:xfrm>
            <a:off x="5806440" y="3346704"/>
            <a:ext cx="2880360" cy="1024128"/>
          </a:xfrm>
          <a:prstGeom prst="roundRect">
            <a:avLst>
              <a:gd name="adj" fmla="val 7143"/>
            </a:avLst>
          </a:prstGeom>
          <a:solidFill>
            <a:schemeClr val="bg2"/>
          </a:solidFill>
          <a:ln/>
        </p:spPr>
        <p:txBody>
          <a:bodyPr/>
          <a:lstStyle/>
          <a:p>
            <a:endParaRPr lang="it-IT" dirty="0"/>
          </a:p>
        </p:txBody>
      </p:sp>
      <p:sp>
        <p:nvSpPr>
          <p:cNvPr id="51" name="Text 48"/>
          <p:cNvSpPr txBox="1"/>
          <p:nvPr/>
        </p:nvSpPr>
        <p:spPr>
          <a:xfrm>
            <a:off x="5943600" y="3419856"/>
            <a:ext cx="2651760" cy="274320"/>
          </a:xfrm>
          <a:prstGeom prst="rect">
            <a:avLst/>
          </a:prstGeom>
          <a:noFill/>
          <a:ln/>
        </p:spPr>
        <p:txBody>
          <a:bodyPr wrap="square" lIns="0" tIns="0" rIns="0" bIns="0" rtlCol="0" anchor="t"/>
          <a:lstStyle/>
          <a:p>
            <a:pPr marL="0" indent="0">
              <a:buNone/>
            </a:pPr>
            <a:r>
              <a:rPr lang="it-IT" sz="1300" b="1" dirty="0">
                <a:solidFill>
                  <a:schemeClr val="tx1"/>
                </a:solidFill>
              </a:rPr>
              <a:t>Solo accennare</a:t>
            </a:r>
            <a:endParaRPr lang="it-IT" sz="1300" dirty="0"/>
          </a:p>
        </p:txBody>
      </p:sp>
      <p:sp>
        <p:nvSpPr>
          <p:cNvPr id="52" name="Text 49"/>
          <p:cNvSpPr txBox="1"/>
          <p:nvPr/>
        </p:nvSpPr>
        <p:spPr>
          <a:xfrm>
            <a:off x="5943600" y="3712464"/>
            <a:ext cx="2651760" cy="621792"/>
          </a:xfrm>
          <a:prstGeom prst="rect">
            <a:avLst/>
          </a:prstGeom>
          <a:noFill/>
          <a:ln/>
        </p:spPr>
        <p:txBody>
          <a:bodyPr wrap="square" lIns="0" tIns="0" rIns="0" bIns="0" rtlCol="0" anchor="t"/>
          <a:lstStyle/>
          <a:p>
            <a:pPr marL="0" indent="0">
              <a:buNone/>
            </a:pPr>
            <a:r>
              <a:rPr lang="it-IT" sz="1100" dirty="0">
                <a:solidFill>
                  <a:schemeClr val="tx1"/>
                </a:solidFill>
              </a:rPr>
              <a:t>Benchmark specialistici, metriche avanzate, red </a:t>
            </a:r>
            <a:r>
              <a:rPr lang="it-IT" sz="1100" dirty="0" err="1">
                <a:solidFill>
                  <a:schemeClr val="tx1"/>
                </a:solidFill>
              </a:rPr>
              <a:t>teaming</a:t>
            </a:r>
            <a:endParaRPr lang="it-IT"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6</a:t>
            </a:fld>
            <a:endParaRPr lang="it-IT"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3.1</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Le principali capacità dell'AI</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Capacità ampie, che variano in funzione dei sistemi e dei compiti</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7</a:t>
            </a:fld>
            <a:endParaRPr lang="it-IT"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Una mappa delle capacità</a:t>
            </a:r>
            <a:endParaRPr lang="it-IT" sz="2600" dirty="0"/>
          </a:p>
        </p:txBody>
      </p:sp>
      <p:sp>
        <p:nvSpPr>
          <p:cNvPr id="4" name="Linguaggio"/>
          <p:cNvSpPr/>
          <p:nvPr/>
        </p:nvSpPr>
        <p:spPr>
          <a:xfrm>
            <a:off x="457200" y="1097280"/>
            <a:ext cx="1920240" cy="1508760"/>
          </a:xfrm>
          <a:prstGeom prst="roundRect">
            <a:avLst>
              <a:gd name="adj" fmla="val 4848"/>
            </a:avLst>
          </a:prstGeom>
          <a:solidFill>
            <a:schemeClr val="bg2"/>
          </a:solidFill>
          <a:ln/>
        </p:spPr>
        <p:txBody>
          <a:bodyPr/>
          <a:lstStyle/>
          <a:p>
            <a:endParaRPr lang="it-IT" dirty="0"/>
          </a:p>
        </p:txBody>
      </p:sp>
      <p:sp>
        <p:nvSpPr>
          <p:cNvPr id="5" name="cerchio FiMessageSquare"/>
          <p:cNvSpPr/>
          <p:nvPr/>
        </p:nvSpPr>
        <p:spPr>
          <a:xfrm>
            <a:off x="621792" y="1261872"/>
            <a:ext cx="438912" cy="438912"/>
          </a:xfrm>
          <a:prstGeom prst="ellipse">
            <a:avLst/>
          </a:prstGeom>
          <a:solidFill>
            <a:schemeClr val="accent1"/>
          </a:solidFill>
          <a:ln/>
        </p:spPr>
        <p:txBody>
          <a:bodyPr/>
          <a:lstStyle/>
          <a:p>
            <a:endParaRPr lang="it-IT" dirty="0"/>
          </a:p>
        </p:txBody>
      </p:sp>
      <p:pic>
        <p:nvPicPr>
          <p:cNvPr id="6" name="Image 0" descr="FiMessageSquare"/>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1097280" cy="512064"/>
          </a:xfrm>
          <a:prstGeom prst="rect">
            <a:avLst/>
          </a:prstGeom>
          <a:noFill/>
          <a:ln/>
        </p:spPr>
        <p:txBody>
          <a:bodyPr wrap="square" lIns="0" tIns="0" rIns="0" bIns="0" rtlCol="0" anchor="ctr"/>
          <a:lstStyle/>
          <a:p>
            <a:pPr marL="0" indent="0">
              <a:buNone/>
            </a:pPr>
            <a:r>
              <a:rPr lang="it-IT" sz="1300" b="1" dirty="0">
                <a:solidFill>
                  <a:schemeClr val="tx1"/>
                </a:solidFill>
              </a:rPr>
              <a:t>Linguaggio</a:t>
            </a:r>
            <a:endParaRPr lang="it-IT" sz="1300" dirty="0"/>
          </a:p>
        </p:txBody>
      </p:sp>
      <p:sp>
        <p:nvSpPr>
          <p:cNvPr id="8" name="Text 4"/>
          <p:cNvSpPr txBox="1"/>
          <p:nvPr/>
        </p:nvSpPr>
        <p:spPr>
          <a:xfrm>
            <a:off x="621792" y="1810512"/>
            <a:ext cx="1591056" cy="704088"/>
          </a:xfrm>
          <a:prstGeom prst="rect">
            <a:avLst/>
          </a:prstGeom>
          <a:noFill/>
          <a:ln/>
        </p:spPr>
        <p:txBody>
          <a:bodyPr wrap="square" lIns="0" tIns="0" rIns="0" bIns="0" rtlCol="0" anchor="t"/>
          <a:lstStyle/>
          <a:p>
            <a:pPr marL="0" indent="0">
              <a:buNone/>
            </a:pPr>
            <a:r>
              <a:rPr lang="it-IT" sz="1200" dirty="0">
                <a:solidFill>
                  <a:schemeClr val="tx2"/>
                </a:solidFill>
              </a:rPr>
              <a:t>Comprendere, scrivere, riformulare, tradurre</a:t>
            </a:r>
            <a:endParaRPr lang="it-IT" sz="1200" dirty="0"/>
          </a:p>
        </p:txBody>
      </p:sp>
      <p:sp>
        <p:nvSpPr>
          <p:cNvPr id="9" name="Contenuti"/>
          <p:cNvSpPr/>
          <p:nvPr/>
        </p:nvSpPr>
        <p:spPr>
          <a:xfrm>
            <a:off x="2560320" y="1097280"/>
            <a:ext cx="1920240" cy="1508760"/>
          </a:xfrm>
          <a:prstGeom prst="roundRect">
            <a:avLst>
              <a:gd name="adj" fmla="val 4848"/>
            </a:avLst>
          </a:prstGeom>
          <a:solidFill>
            <a:schemeClr val="bg2"/>
          </a:solidFill>
          <a:ln/>
        </p:spPr>
        <p:txBody>
          <a:bodyPr/>
          <a:lstStyle/>
          <a:p>
            <a:endParaRPr lang="it-IT" dirty="0"/>
          </a:p>
        </p:txBody>
      </p:sp>
      <p:sp>
        <p:nvSpPr>
          <p:cNvPr id="10" name="cerchio FiFileText"/>
          <p:cNvSpPr/>
          <p:nvPr/>
        </p:nvSpPr>
        <p:spPr>
          <a:xfrm>
            <a:off x="2724912" y="1261872"/>
            <a:ext cx="438912" cy="438912"/>
          </a:xfrm>
          <a:prstGeom prst="ellipse">
            <a:avLst/>
          </a:prstGeom>
          <a:solidFill>
            <a:schemeClr val="accent1"/>
          </a:solidFill>
          <a:ln/>
        </p:spPr>
        <p:txBody>
          <a:bodyPr/>
          <a:lstStyle/>
          <a:p>
            <a:endParaRPr lang="it-IT" dirty="0"/>
          </a:p>
        </p:txBody>
      </p:sp>
      <p:pic>
        <p:nvPicPr>
          <p:cNvPr id="11" name="Image 1" descr="FiFileText"/>
          <p:cNvPicPr>
            <a:picLocks noChangeAspect="1"/>
          </p:cNvPicPr>
          <p:nvPr/>
        </p:nvPicPr>
        <p:blipFill>
          <a:blip r:embed="rId4"/>
          <a:stretch>
            <a:fillRect/>
          </a:stretch>
        </p:blipFill>
        <p:spPr>
          <a:xfrm>
            <a:off x="2834640" y="1371600"/>
            <a:ext cx="219456" cy="219456"/>
          </a:xfrm>
          <a:prstGeom prst="rect">
            <a:avLst/>
          </a:prstGeom>
        </p:spPr>
      </p:pic>
      <p:sp>
        <p:nvSpPr>
          <p:cNvPr id="12" name="Text 7"/>
          <p:cNvSpPr txBox="1"/>
          <p:nvPr/>
        </p:nvSpPr>
        <p:spPr>
          <a:xfrm>
            <a:off x="3273552" y="1225296"/>
            <a:ext cx="1097280" cy="512064"/>
          </a:xfrm>
          <a:prstGeom prst="rect">
            <a:avLst/>
          </a:prstGeom>
          <a:noFill/>
          <a:ln/>
        </p:spPr>
        <p:txBody>
          <a:bodyPr wrap="square" lIns="0" tIns="0" rIns="0" bIns="0" rtlCol="0" anchor="ctr"/>
          <a:lstStyle/>
          <a:p>
            <a:pPr marL="0" indent="0">
              <a:buNone/>
            </a:pPr>
            <a:r>
              <a:rPr lang="it-IT" sz="1300" b="1" dirty="0">
                <a:solidFill>
                  <a:schemeClr val="tx1"/>
                </a:solidFill>
              </a:rPr>
              <a:t>Contenuti</a:t>
            </a:r>
            <a:endParaRPr lang="it-IT" sz="1300" dirty="0"/>
          </a:p>
        </p:txBody>
      </p:sp>
      <p:sp>
        <p:nvSpPr>
          <p:cNvPr id="13" name="Text 8"/>
          <p:cNvSpPr txBox="1"/>
          <p:nvPr/>
        </p:nvSpPr>
        <p:spPr>
          <a:xfrm>
            <a:off x="2724912" y="1810512"/>
            <a:ext cx="1591056" cy="704088"/>
          </a:xfrm>
          <a:prstGeom prst="rect">
            <a:avLst/>
          </a:prstGeom>
          <a:noFill/>
          <a:ln/>
        </p:spPr>
        <p:txBody>
          <a:bodyPr wrap="square" lIns="0" tIns="0" rIns="0" bIns="0" rtlCol="0" anchor="t"/>
          <a:lstStyle/>
          <a:p>
            <a:pPr marL="0" indent="0">
              <a:buNone/>
            </a:pPr>
            <a:r>
              <a:rPr lang="it-IT" sz="1200" dirty="0">
                <a:solidFill>
                  <a:schemeClr val="tx2"/>
                </a:solidFill>
              </a:rPr>
              <a:t>Generare, trasformare, sintetizzare</a:t>
            </a:r>
            <a:endParaRPr lang="it-IT" sz="1200" dirty="0"/>
          </a:p>
        </p:txBody>
      </p:sp>
      <p:sp>
        <p:nvSpPr>
          <p:cNvPr id="14" name="Classificazione ed estrazione"/>
          <p:cNvSpPr/>
          <p:nvPr/>
        </p:nvSpPr>
        <p:spPr>
          <a:xfrm>
            <a:off x="4663440" y="1097280"/>
            <a:ext cx="1920240" cy="1508760"/>
          </a:xfrm>
          <a:prstGeom prst="roundRect">
            <a:avLst>
              <a:gd name="adj" fmla="val 4848"/>
            </a:avLst>
          </a:prstGeom>
          <a:solidFill>
            <a:schemeClr val="bg2"/>
          </a:solidFill>
          <a:ln/>
        </p:spPr>
        <p:txBody>
          <a:bodyPr/>
          <a:lstStyle/>
          <a:p>
            <a:endParaRPr lang="it-IT" dirty="0"/>
          </a:p>
        </p:txBody>
      </p:sp>
      <p:sp>
        <p:nvSpPr>
          <p:cNvPr id="15" name="cerchio FiFilter"/>
          <p:cNvSpPr/>
          <p:nvPr/>
        </p:nvSpPr>
        <p:spPr>
          <a:xfrm>
            <a:off x="4828032" y="1261872"/>
            <a:ext cx="438912" cy="438912"/>
          </a:xfrm>
          <a:prstGeom prst="ellipse">
            <a:avLst/>
          </a:prstGeom>
          <a:solidFill>
            <a:schemeClr val="accent1"/>
          </a:solidFill>
          <a:ln/>
        </p:spPr>
        <p:txBody>
          <a:bodyPr/>
          <a:lstStyle/>
          <a:p>
            <a:endParaRPr lang="it-IT" dirty="0"/>
          </a:p>
        </p:txBody>
      </p:sp>
      <p:pic>
        <p:nvPicPr>
          <p:cNvPr id="16" name="Image 2" descr="FiFilter"/>
          <p:cNvPicPr>
            <a:picLocks noChangeAspect="1"/>
          </p:cNvPicPr>
          <p:nvPr/>
        </p:nvPicPr>
        <p:blipFill>
          <a:blip r:embed="rId5"/>
          <a:stretch>
            <a:fillRect/>
          </a:stretch>
        </p:blipFill>
        <p:spPr>
          <a:xfrm>
            <a:off x="4937760" y="1371600"/>
            <a:ext cx="219456" cy="219456"/>
          </a:xfrm>
          <a:prstGeom prst="rect">
            <a:avLst/>
          </a:prstGeom>
        </p:spPr>
      </p:pic>
      <p:sp>
        <p:nvSpPr>
          <p:cNvPr id="17" name="Text 11"/>
          <p:cNvSpPr txBox="1"/>
          <p:nvPr/>
        </p:nvSpPr>
        <p:spPr>
          <a:xfrm>
            <a:off x="5376672" y="1225296"/>
            <a:ext cx="1097280" cy="512064"/>
          </a:xfrm>
          <a:prstGeom prst="rect">
            <a:avLst/>
          </a:prstGeom>
          <a:noFill/>
          <a:ln/>
        </p:spPr>
        <p:txBody>
          <a:bodyPr wrap="square" lIns="0" tIns="0" rIns="0" bIns="0" rtlCol="0" anchor="ctr"/>
          <a:lstStyle/>
          <a:p>
            <a:pPr marL="0" indent="0">
              <a:buNone/>
            </a:pPr>
            <a:r>
              <a:rPr lang="it-IT" sz="1300" b="1" dirty="0">
                <a:solidFill>
                  <a:schemeClr val="tx1"/>
                </a:solidFill>
              </a:rPr>
              <a:t>Classificazione ed estrazione</a:t>
            </a:r>
            <a:endParaRPr lang="it-IT" sz="1300" dirty="0"/>
          </a:p>
        </p:txBody>
      </p:sp>
      <p:sp>
        <p:nvSpPr>
          <p:cNvPr id="18" name="Text 12"/>
          <p:cNvSpPr txBox="1"/>
          <p:nvPr/>
        </p:nvSpPr>
        <p:spPr>
          <a:xfrm>
            <a:off x="4828032" y="1810512"/>
            <a:ext cx="1591056" cy="704088"/>
          </a:xfrm>
          <a:prstGeom prst="rect">
            <a:avLst/>
          </a:prstGeom>
          <a:noFill/>
          <a:ln/>
        </p:spPr>
        <p:txBody>
          <a:bodyPr wrap="square" lIns="0" tIns="0" rIns="0" bIns="0" rtlCol="0" anchor="t"/>
          <a:lstStyle/>
          <a:p>
            <a:pPr marL="0" indent="0">
              <a:buNone/>
            </a:pPr>
            <a:r>
              <a:rPr lang="it-IT" sz="1200" dirty="0">
                <a:solidFill>
                  <a:schemeClr val="tx2"/>
                </a:solidFill>
              </a:rPr>
              <a:t>Categorie, dati da testi non strutturati</a:t>
            </a:r>
            <a:endParaRPr lang="it-IT" sz="1200" dirty="0"/>
          </a:p>
        </p:txBody>
      </p:sp>
      <p:sp>
        <p:nvSpPr>
          <p:cNvPr id="19" name="Schemi e analisi di dati"/>
          <p:cNvSpPr/>
          <p:nvPr/>
        </p:nvSpPr>
        <p:spPr>
          <a:xfrm>
            <a:off x="6766560" y="1097280"/>
            <a:ext cx="1920240" cy="1508760"/>
          </a:xfrm>
          <a:prstGeom prst="roundRect">
            <a:avLst>
              <a:gd name="adj" fmla="val 4848"/>
            </a:avLst>
          </a:prstGeom>
          <a:solidFill>
            <a:schemeClr val="bg2"/>
          </a:solidFill>
          <a:ln/>
        </p:spPr>
        <p:txBody>
          <a:bodyPr/>
          <a:lstStyle/>
          <a:p>
            <a:endParaRPr lang="it-IT" dirty="0"/>
          </a:p>
        </p:txBody>
      </p:sp>
      <p:sp>
        <p:nvSpPr>
          <p:cNvPr id="20" name="cerchio FiBarChart2"/>
          <p:cNvSpPr/>
          <p:nvPr/>
        </p:nvSpPr>
        <p:spPr>
          <a:xfrm>
            <a:off x="6931152" y="1261872"/>
            <a:ext cx="438912" cy="438912"/>
          </a:xfrm>
          <a:prstGeom prst="ellipse">
            <a:avLst/>
          </a:prstGeom>
          <a:solidFill>
            <a:schemeClr val="accent1"/>
          </a:solidFill>
          <a:ln/>
        </p:spPr>
        <p:txBody>
          <a:bodyPr/>
          <a:lstStyle/>
          <a:p>
            <a:endParaRPr lang="it-IT" dirty="0"/>
          </a:p>
        </p:txBody>
      </p:sp>
      <p:pic>
        <p:nvPicPr>
          <p:cNvPr id="21" name="Image 3" descr="FiBarChart2"/>
          <p:cNvPicPr>
            <a:picLocks noChangeAspect="1"/>
          </p:cNvPicPr>
          <p:nvPr/>
        </p:nvPicPr>
        <p:blipFill>
          <a:blip r:embed="rId6"/>
          <a:stretch>
            <a:fillRect/>
          </a:stretch>
        </p:blipFill>
        <p:spPr>
          <a:xfrm>
            <a:off x="7040880" y="1371600"/>
            <a:ext cx="219456" cy="219456"/>
          </a:xfrm>
          <a:prstGeom prst="rect">
            <a:avLst/>
          </a:prstGeom>
        </p:spPr>
      </p:pic>
      <p:sp>
        <p:nvSpPr>
          <p:cNvPr id="22" name="Text 15"/>
          <p:cNvSpPr txBox="1"/>
          <p:nvPr/>
        </p:nvSpPr>
        <p:spPr>
          <a:xfrm>
            <a:off x="7479792" y="1225296"/>
            <a:ext cx="1097280" cy="512064"/>
          </a:xfrm>
          <a:prstGeom prst="rect">
            <a:avLst/>
          </a:prstGeom>
          <a:noFill/>
          <a:ln/>
        </p:spPr>
        <p:txBody>
          <a:bodyPr wrap="square" lIns="0" tIns="0" rIns="0" bIns="0" rtlCol="0" anchor="ctr"/>
          <a:lstStyle/>
          <a:p>
            <a:pPr marL="0" indent="0">
              <a:buNone/>
            </a:pPr>
            <a:r>
              <a:rPr lang="it-IT" sz="1300" b="1" dirty="0">
                <a:solidFill>
                  <a:schemeClr val="tx1"/>
                </a:solidFill>
              </a:rPr>
              <a:t>Schemi e analisi di dati</a:t>
            </a:r>
            <a:endParaRPr lang="it-IT" sz="1300" dirty="0"/>
          </a:p>
        </p:txBody>
      </p:sp>
      <p:sp>
        <p:nvSpPr>
          <p:cNvPr id="23" name="Text 16"/>
          <p:cNvSpPr txBox="1"/>
          <p:nvPr/>
        </p:nvSpPr>
        <p:spPr>
          <a:xfrm>
            <a:off x="6931152" y="1810512"/>
            <a:ext cx="1591056" cy="704088"/>
          </a:xfrm>
          <a:prstGeom prst="rect">
            <a:avLst/>
          </a:prstGeom>
          <a:noFill/>
          <a:ln/>
        </p:spPr>
        <p:txBody>
          <a:bodyPr wrap="square" lIns="0" tIns="0" rIns="0" bIns="0" rtlCol="0" anchor="t"/>
          <a:lstStyle/>
          <a:p>
            <a:pPr marL="0" indent="0">
              <a:buNone/>
            </a:pPr>
            <a:r>
              <a:rPr lang="it-IT" sz="1200" dirty="0">
                <a:solidFill>
                  <a:schemeClr val="tx2"/>
                </a:solidFill>
              </a:rPr>
              <a:t>Tendenze, anomalie, temi ricorrenti</a:t>
            </a:r>
            <a:endParaRPr lang="it-IT" sz="1200" dirty="0"/>
          </a:p>
        </p:txBody>
      </p:sp>
      <p:sp>
        <p:nvSpPr>
          <p:cNvPr id="24" name="Multimodalità"/>
          <p:cNvSpPr/>
          <p:nvPr/>
        </p:nvSpPr>
        <p:spPr>
          <a:xfrm>
            <a:off x="457200" y="2788920"/>
            <a:ext cx="2621280" cy="1508760"/>
          </a:xfrm>
          <a:prstGeom prst="roundRect">
            <a:avLst>
              <a:gd name="adj" fmla="val 4848"/>
            </a:avLst>
          </a:prstGeom>
          <a:solidFill>
            <a:schemeClr val="bg2"/>
          </a:solidFill>
          <a:ln/>
        </p:spPr>
        <p:txBody>
          <a:bodyPr/>
          <a:lstStyle/>
          <a:p>
            <a:endParaRPr lang="it-IT" dirty="0"/>
          </a:p>
        </p:txBody>
      </p:sp>
      <p:sp>
        <p:nvSpPr>
          <p:cNvPr id="25" name="cerchio FiImage"/>
          <p:cNvSpPr/>
          <p:nvPr/>
        </p:nvSpPr>
        <p:spPr>
          <a:xfrm>
            <a:off x="621792" y="2953512"/>
            <a:ext cx="438912" cy="438912"/>
          </a:xfrm>
          <a:prstGeom prst="ellipse">
            <a:avLst/>
          </a:prstGeom>
          <a:solidFill>
            <a:schemeClr val="accent1"/>
          </a:solidFill>
          <a:ln/>
        </p:spPr>
        <p:txBody>
          <a:bodyPr/>
          <a:lstStyle/>
          <a:p>
            <a:endParaRPr lang="it-IT" dirty="0"/>
          </a:p>
        </p:txBody>
      </p:sp>
      <p:pic>
        <p:nvPicPr>
          <p:cNvPr id="26" name="Image 4" descr="FiImage"/>
          <p:cNvPicPr>
            <a:picLocks noChangeAspect="1"/>
          </p:cNvPicPr>
          <p:nvPr/>
        </p:nvPicPr>
        <p:blipFill>
          <a:blip r:embed="rId7"/>
          <a:stretch>
            <a:fillRect/>
          </a:stretch>
        </p:blipFill>
        <p:spPr>
          <a:xfrm>
            <a:off x="731520" y="3063240"/>
            <a:ext cx="219456" cy="219456"/>
          </a:xfrm>
          <a:prstGeom prst="rect">
            <a:avLst/>
          </a:prstGeom>
        </p:spPr>
      </p:pic>
      <p:sp>
        <p:nvSpPr>
          <p:cNvPr id="27" name="Text 19"/>
          <p:cNvSpPr txBox="1"/>
          <p:nvPr/>
        </p:nvSpPr>
        <p:spPr>
          <a:xfrm>
            <a:off x="1170432" y="291693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Multimodalità</a:t>
            </a:r>
            <a:endParaRPr lang="it-IT" sz="1300" dirty="0"/>
          </a:p>
        </p:txBody>
      </p:sp>
      <p:sp>
        <p:nvSpPr>
          <p:cNvPr id="28" name="Text 20"/>
          <p:cNvSpPr txBox="1"/>
          <p:nvPr/>
        </p:nvSpPr>
        <p:spPr>
          <a:xfrm>
            <a:off x="621792" y="3502152"/>
            <a:ext cx="2292096" cy="704088"/>
          </a:xfrm>
          <a:prstGeom prst="rect">
            <a:avLst/>
          </a:prstGeom>
          <a:noFill/>
          <a:ln/>
        </p:spPr>
        <p:txBody>
          <a:bodyPr wrap="square" lIns="0" tIns="0" rIns="0" bIns="0" rtlCol="0" anchor="t"/>
          <a:lstStyle/>
          <a:p>
            <a:pPr marL="0" indent="0">
              <a:buNone/>
            </a:pPr>
            <a:r>
              <a:rPr lang="it-IT" sz="1200" dirty="0">
                <a:solidFill>
                  <a:schemeClr val="tx2"/>
                </a:solidFill>
              </a:rPr>
              <a:t>Testo, immagini, audio e video</a:t>
            </a:r>
            <a:endParaRPr lang="it-IT" sz="1200" dirty="0"/>
          </a:p>
        </p:txBody>
      </p:sp>
      <p:sp>
        <p:nvSpPr>
          <p:cNvPr id="29" name="Supporto cognitivo"/>
          <p:cNvSpPr/>
          <p:nvPr/>
        </p:nvSpPr>
        <p:spPr>
          <a:xfrm>
            <a:off x="3261360" y="2788920"/>
            <a:ext cx="2621280" cy="1508760"/>
          </a:xfrm>
          <a:prstGeom prst="roundRect">
            <a:avLst>
              <a:gd name="adj" fmla="val 4848"/>
            </a:avLst>
          </a:prstGeom>
          <a:solidFill>
            <a:schemeClr val="bg2"/>
          </a:solidFill>
          <a:ln/>
        </p:spPr>
        <p:txBody>
          <a:bodyPr/>
          <a:lstStyle/>
          <a:p>
            <a:endParaRPr lang="it-IT" dirty="0"/>
          </a:p>
        </p:txBody>
      </p:sp>
      <p:sp>
        <p:nvSpPr>
          <p:cNvPr id="30" name="cerchio FiGitBranch"/>
          <p:cNvSpPr/>
          <p:nvPr/>
        </p:nvSpPr>
        <p:spPr>
          <a:xfrm>
            <a:off x="3425952" y="2953512"/>
            <a:ext cx="438912" cy="438912"/>
          </a:xfrm>
          <a:prstGeom prst="ellipse">
            <a:avLst/>
          </a:prstGeom>
          <a:solidFill>
            <a:schemeClr val="accent1"/>
          </a:solidFill>
          <a:ln/>
        </p:spPr>
        <p:txBody>
          <a:bodyPr/>
          <a:lstStyle/>
          <a:p>
            <a:endParaRPr lang="it-IT" dirty="0"/>
          </a:p>
        </p:txBody>
      </p:sp>
      <p:pic>
        <p:nvPicPr>
          <p:cNvPr id="31" name="Image 5" descr="FiGitBranch"/>
          <p:cNvPicPr>
            <a:picLocks noChangeAspect="1"/>
          </p:cNvPicPr>
          <p:nvPr/>
        </p:nvPicPr>
        <p:blipFill>
          <a:blip r:embed="rId8"/>
          <a:stretch>
            <a:fillRect/>
          </a:stretch>
        </p:blipFill>
        <p:spPr>
          <a:xfrm>
            <a:off x="3535680" y="3063240"/>
            <a:ext cx="219456" cy="219456"/>
          </a:xfrm>
          <a:prstGeom prst="rect">
            <a:avLst/>
          </a:prstGeom>
        </p:spPr>
      </p:pic>
      <p:sp>
        <p:nvSpPr>
          <p:cNvPr id="32" name="Text 23"/>
          <p:cNvSpPr txBox="1"/>
          <p:nvPr/>
        </p:nvSpPr>
        <p:spPr>
          <a:xfrm>
            <a:off x="3974592" y="291693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Supporto cognitivo</a:t>
            </a:r>
            <a:endParaRPr lang="it-IT" sz="1300" dirty="0"/>
          </a:p>
        </p:txBody>
      </p:sp>
      <p:sp>
        <p:nvSpPr>
          <p:cNvPr id="33" name="Text 24"/>
          <p:cNvSpPr txBox="1"/>
          <p:nvPr/>
        </p:nvSpPr>
        <p:spPr>
          <a:xfrm>
            <a:off x="3425952" y="3502152"/>
            <a:ext cx="2292096" cy="704088"/>
          </a:xfrm>
          <a:prstGeom prst="rect">
            <a:avLst/>
          </a:prstGeom>
          <a:noFill/>
          <a:ln/>
        </p:spPr>
        <p:txBody>
          <a:bodyPr wrap="square" lIns="0" tIns="0" rIns="0" bIns="0" rtlCol="0" anchor="t"/>
          <a:lstStyle/>
          <a:p>
            <a:pPr marL="0" indent="0">
              <a:buNone/>
            </a:pPr>
            <a:r>
              <a:rPr lang="it-IT" sz="1200" dirty="0">
                <a:solidFill>
                  <a:schemeClr val="tx2"/>
                </a:solidFill>
              </a:rPr>
              <a:t>Ragionare, pianificare, generare idee</a:t>
            </a:r>
            <a:endParaRPr lang="it-IT" sz="1200" dirty="0"/>
          </a:p>
        </p:txBody>
      </p:sp>
      <p:sp>
        <p:nvSpPr>
          <p:cNvPr id="34" name="Strumenti esterni"/>
          <p:cNvSpPr/>
          <p:nvPr/>
        </p:nvSpPr>
        <p:spPr>
          <a:xfrm>
            <a:off x="6065520" y="2788920"/>
            <a:ext cx="2621280" cy="1508760"/>
          </a:xfrm>
          <a:prstGeom prst="roundRect">
            <a:avLst>
              <a:gd name="adj" fmla="val 4848"/>
            </a:avLst>
          </a:prstGeom>
          <a:solidFill>
            <a:schemeClr val="accent6"/>
          </a:solidFill>
          <a:ln/>
        </p:spPr>
        <p:txBody>
          <a:bodyPr/>
          <a:lstStyle/>
          <a:p>
            <a:endParaRPr lang="it-IT" dirty="0"/>
          </a:p>
        </p:txBody>
      </p:sp>
      <p:sp>
        <p:nvSpPr>
          <p:cNvPr id="35" name="cerchio FiTool"/>
          <p:cNvSpPr/>
          <p:nvPr/>
        </p:nvSpPr>
        <p:spPr>
          <a:xfrm>
            <a:off x="6230112" y="2953512"/>
            <a:ext cx="438912" cy="438912"/>
          </a:xfrm>
          <a:prstGeom prst="ellipse">
            <a:avLst/>
          </a:prstGeom>
          <a:solidFill>
            <a:schemeClr val="accent1"/>
          </a:solidFill>
          <a:ln/>
        </p:spPr>
        <p:txBody>
          <a:bodyPr/>
          <a:lstStyle/>
          <a:p>
            <a:endParaRPr lang="it-IT" dirty="0"/>
          </a:p>
        </p:txBody>
      </p:sp>
      <p:pic>
        <p:nvPicPr>
          <p:cNvPr id="36" name="Image 6" descr="FiTool"/>
          <p:cNvPicPr>
            <a:picLocks noChangeAspect="1"/>
          </p:cNvPicPr>
          <p:nvPr/>
        </p:nvPicPr>
        <p:blipFill>
          <a:blip r:embed="rId9"/>
          <a:stretch>
            <a:fillRect/>
          </a:stretch>
        </p:blipFill>
        <p:spPr>
          <a:xfrm>
            <a:off x="6339840" y="3063240"/>
            <a:ext cx="219456" cy="219456"/>
          </a:xfrm>
          <a:prstGeom prst="rect">
            <a:avLst/>
          </a:prstGeom>
        </p:spPr>
      </p:pic>
      <p:sp>
        <p:nvSpPr>
          <p:cNvPr id="37" name="Text 27"/>
          <p:cNvSpPr txBox="1"/>
          <p:nvPr/>
        </p:nvSpPr>
        <p:spPr>
          <a:xfrm>
            <a:off x="6778752" y="291693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Strumenti esterni</a:t>
            </a:r>
            <a:endParaRPr lang="it-IT" sz="1300" dirty="0"/>
          </a:p>
        </p:txBody>
      </p:sp>
      <p:sp>
        <p:nvSpPr>
          <p:cNvPr id="38" name="Text 28"/>
          <p:cNvSpPr txBox="1"/>
          <p:nvPr/>
        </p:nvSpPr>
        <p:spPr>
          <a:xfrm>
            <a:off x="6230112" y="3502152"/>
            <a:ext cx="2292096" cy="704088"/>
          </a:xfrm>
          <a:prstGeom prst="rect">
            <a:avLst/>
          </a:prstGeom>
          <a:noFill/>
          <a:ln/>
        </p:spPr>
        <p:txBody>
          <a:bodyPr wrap="square" lIns="0" tIns="0" rIns="0" bIns="0" rtlCol="0" anchor="t"/>
          <a:lstStyle/>
          <a:p>
            <a:pPr marL="0" indent="0">
              <a:buNone/>
            </a:pPr>
            <a:r>
              <a:rPr lang="it-IT" sz="1200" dirty="0">
                <a:solidFill>
                  <a:schemeClr val="tx2"/>
                </a:solidFill>
              </a:rPr>
              <a:t>Ricerca, esecuzione di codice, file, software</a:t>
            </a:r>
            <a:endParaRPr lang="it-IT" sz="1200" dirty="0"/>
          </a:p>
        </p:txBody>
      </p:sp>
      <p:sp>
        <p:nvSpPr>
          <p:cNvPr id="39" name="Text 29"/>
          <p:cNvSpPr txBox="1"/>
          <p:nvPr/>
        </p:nvSpPr>
        <p:spPr>
          <a:xfrm>
            <a:off x="457200" y="4389120"/>
            <a:ext cx="8229600" cy="274320"/>
          </a:xfrm>
          <a:prstGeom prst="rect">
            <a:avLst/>
          </a:prstGeom>
          <a:noFill/>
          <a:ln/>
        </p:spPr>
        <p:txBody>
          <a:bodyPr wrap="square" lIns="0" tIns="0" rIns="0" bIns="0" rtlCol="0" anchor="t"/>
          <a:lstStyle/>
          <a:p>
            <a:pPr marL="0" indent="0">
              <a:buNone/>
            </a:pPr>
            <a:r>
              <a:rPr lang="it-IT" sz="1200" i="1" dirty="0">
                <a:solidFill>
                  <a:schemeClr val="tx2"/>
                </a:solidFill>
              </a:rPr>
              <a:t>Alcune capacità, come l'uso di strumenti, dipendono dal sistema e non sono sempre disponibili.</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8</a:t>
            </a:fld>
            <a:endParaRPr lang="it-IT"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Dalle capacità alle attività</a:t>
            </a:r>
            <a:endParaRPr lang="it-IT" sz="2600" dirty="0"/>
          </a:p>
        </p:txBody>
      </p:sp>
      <p:graphicFrame>
        <p:nvGraphicFramePr>
          <p:cNvPr id="10" name="Table 0"/>
          <p:cNvGraphicFramePr>
            <a:graphicFrameLocks noGrp="1"/>
          </p:cNvGraphicFramePr>
          <p:nvPr>
            <p:extLst>
              <p:ext uri="{D42A27DB-BD31-4B8C-83A1-F6EECF244321}">
                <p14:modId xmlns:p14="http://schemas.microsoft.com/office/powerpoint/2010/main" val="2648853886"/>
              </p:ext>
            </p:extLst>
          </p:nvPr>
        </p:nvGraphicFramePr>
        <p:xfrm>
          <a:off x="457200" y="1097280"/>
          <a:ext cx="8229600" cy="3328416"/>
        </p:xfrm>
        <a:graphic>
          <a:graphicData uri="http://schemas.openxmlformats.org/drawingml/2006/table">
            <a:tbl>
              <a:tblPr/>
              <a:tblGrid>
                <a:gridCol w="22860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475488">
                <a:tc>
                  <a:txBody>
                    <a:bodyPr/>
                    <a:lstStyle/>
                    <a:p>
                      <a:pPr marL="0" indent="0">
                        <a:buNone/>
                      </a:pPr>
                      <a:r>
                        <a:rPr lang="it-IT" sz="1300" b="1" dirty="0">
                          <a:solidFill>
                            <a:schemeClr val="bg1"/>
                          </a:solidFill>
                        </a:rPr>
                        <a:t>Capacità</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dirty="0">
                          <a:solidFill>
                            <a:schemeClr val="bg1"/>
                          </a:solidFill>
                        </a:rPr>
                        <a:t>Tipologie di attività</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dirty="0">
                          <a:solidFill>
                            <a:schemeClr val="bg1"/>
                          </a:solidFill>
                        </a:rPr>
                        <a:t>Controllo tipico</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75488">
                <a:tc>
                  <a:txBody>
                    <a:bodyPr/>
                    <a:lstStyle/>
                    <a:p>
                      <a:pPr marL="0" indent="0">
                        <a:buNone/>
                      </a:pPr>
                      <a:r>
                        <a:rPr lang="it-IT" sz="1300" b="1" dirty="0">
                          <a:solidFill>
                            <a:schemeClr val="tx1"/>
                          </a:solidFill>
                        </a:rPr>
                        <a:t>Linguaggio e contenuti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Bozze, sintesi, traduzioni, adattamento di testi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Rilettura critica</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475488">
                <a:tc>
                  <a:txBody>
                    <a:bodyPr/>
                    <a:lstStyle/>
                    <a:p>
                      <a:pPr marL="0" indent="0">
                        <a:buNone/>
                      </a:pPr>
                      <a:r>
                        <a:rPr lang="it-IT" sz="1300" b="1" dirty="0">
                          <a:solidFill>
                            <a:schemeClr val="tx1"/>
                          </a:solidFill>
                        </a:rPr>
                        <a:t>Classificazione ed estrazione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Smistare richieste, estrarre dati da documenti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Confronto a campione con l'originale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475488">
                <a:tc>
                  <a:txBody>
                    <a:bodyPr/>
                    <a:lstStyle/>
                    <a:p>
                      <a:pPr marL="0" indent="0">
                        <a:buNone/>
                      </a:pPr>
                      <a:r>
                        <a:rPr lang="it-IT" sz="1300" b="1" dirty="0">
                          <a:solidFill>
                            <a:schemeClr val="tx1"/>
                          </a:solidFill>
                        </a:rPr>
                        <a:t>Schemi e analisi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Temi nei feedback, confronto di documenti, tabelle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Verifica dei dati e delle conclusioni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475488">
                <a:tc>
                  <a:txBody>
                    <a:bodyPr/>
                    <a:lstStyle/>
                    <a:p>
                      <a:pPr marL="0" indent="0">
                        <a:buNone/>
                      </a:pPr>
                      <a:r>
                        <a:rPr lang="it-IT" sz="1300" b="1" dirty="0">
                          <a:solidFill>
                            <a:schemeClr val="tx1"/>
                          </a:solidFill>
                        </a:rPr>
                        <a:t>Multimodalità</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Trascrizioni, documenti scansionati, immagini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Controllo dei passaggi critici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475488">
                <a:tc>
                  <a:txBody>
                    <a:bodyPr/>
                    <a:lstStyle/>
                    <a:p>
                      <a:pPr marL="0" indent="0">
                        <a:buNone/>
                      </a:pPr>
                      <a:r>
                        <a:rPr lang="it-IT" sz="1300" b="1" dirty="0">
                          <a:solidFill>
                            <a:schemeClr val="tx1"/>
                          </a:solidFill>
                        </a:rPr>
                        <a:t>Supporto cognitivo</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Piani, alternative, idee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Valutazione esperta</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5"/>
                  </a:ext>
                </a:extLst>
              </a:tr>
              <a:tr h="475488">
                <a:tc>
                  <a:txBody>
                    <a:bodyPr/>
                    <a:lstStyle/>
                    <a:p>
                      <a:pPr marL="0" indent="0">
                        <a:buNone/>
                      </a:pPr>
                      <a:r>
                        <a:rPr lang="it-IT" sz="1300" b="1" dirty="0">
                          <a:solidFill>
                            <a:schemeClr val="tx1"/>
                          </a:solidFill>
                        </a:rPr>
                        <a:t>Strumenti esterni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Ricerche aggiornate, calcoli, archivi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Controllo delle fonti e dei risultati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9</a:t>
            </a:fld>
            <a:endParaRPr lang="it-IT"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Non tutti i sistemi hanno le stesse capacità</a:t>
            </a:r>
            <a:endParaRPr lang="it-IT" sz="2600" dirty="0"/>
          </a:p>
        </p:txBody>
      </p:sp>
      <p:sp>
        <p:nvSpPr>
          <p:cNvPr id="4" name="scheda Dipendono soprattutto dal modello"/>
          <p:cNvSpPr/>
          <p:nvPr/>
        </p:nvSpPr>
        <p:spPr>
          <a:xfrm>
            <a:off x="457200" y="1097280"/>
            <a:ext cx="3977640" cy="2331720"/>
          </a:xfrm>
          <a:prstGeom prst="roundRect">
            <a:avLst>
              <a:gd name="adj" fmla="val 3137"/>
            </a:avLst>
          </a:prstGeom>
          <a:solidFill>
            <a:schemeClr val="bg2"/>
          </a:solidFill>
          <a:ln/>
        </p:spPr>
        <p:txBody>
          <a:bodyPr/>
          <a:lstStyle/>
          <a:p>
            <a:endParaRPr lang="it-IT" dirty="0"/>
          </a:p>
        </p:txBody>
      </p:sp>
      <p:sp>
        <p:nvSpPr>
          <p:cNvPr id="5" name="cerchio FiCpu"/>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Cpu"/>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500" b="1" dirty="0">
                <a:solidFill>
                  <a:schemeClr val="tx1"/>
                </a:solidFill>
              </a:rPr>
              <a:t>Dipendono soprattutto dal modello</a:t>
            </a:r>
            <a:endParaRPr lang="it-IT" sz="1500" dirty="0"/>
          </a:p>
        </p:txBody>
      </p:sp>
      <p:sp>
        <p:nvSpPr>
          <p:cNvPr id="8" name="Text 4"/>
          <p:cNvSpPr txBox="1"/>
          <p:nvPr/>
        </p:nvSpPr>
        <p:spPr>
          <a:xfrm>
            <a:off x="640080" y="2231136"/>
            <a:ext cx="3611880" cy="1088136"/>
          </a:xfrm>
          <a:prstGeom prst="rect">
            <a:avLst/>
          </a:prstGeom>
          <a:noFill/>
          <a:ln/>
        </p:spPr>
        <p:txBody>
          <a:bodyPr wrap="square" lIns="0" tIns="0" rIns="0" bIns="0" rtlCol="0" anchor="t"/>
          <a:lstStyle/>
          <a:p>
            <a:pPr marL="177800" indent="-177800">
              <a:spcAft>
                <a:spcPts val="300"/>
              </a:spcAft>
              <a:buSzPct val="100000"/>
              <a:buChar char="•"/>
            </a:pPr>
            <a:r>
              <a:rPr lang="it-IT" sz="1300" dirty="0">
                <a:solidFill>
                  <a:schemeClr val="tx2"/>
                </a:solidFill>
              </a:rPr>
              <a:t>Qualità della scrittura</a:t>
            </a:r>
            <a:endParaRPr lang="it-IT" sz="1300" dirty="0"/>
          </a:p>
          <a:p>
            <a:pPr marL="177800" indent="-177800">
              <a:spcAft>
                <a:spcPts val="300"/>
              </a:spcAft>
              <a:buSzPct val="100000"/>
              <a:buChar char="•"/>
            </a:pPr>
            <a:r>
              <a:rPr lang="it-IT" sz="1300" dirty="0">
                <a:solidFill>
                  <a:schemeClr val="tx2"/>
                </a:solidFill>
              </a:rPr>
              <a:t>Capacità di ragionamento</a:t>
            </a:r>
            <a:endParaRPr lang="it-IT" sz="1300" dirty="0"/>
          </a:p>
          <a:p>
            <a:pPr marL="177800" indent="-177800">
              <a:spcAft>
                <a:spcPts val="300"/>
              </a:spcAft>
              <a:buSzPct val="100000"/>
              <a:buChar char="•"/>
            </a:pPr>
            <a:r>
              <a:rPr lang="it-IT" sz="1300" dirty="0">
                <a:solidFill>
                  <a:schemeClr val="tx2"/>
                </a:solidFill>
              </a:rPr>
              <a:t>Comprensione di immagini e audio</a:t>
            </a:r>
            <a:endParaRPr lang="it-IT" sz="1300" dirty="0"/>
          </a:p>
        </p:txBody>
      </p:sp>
      <p:sp>
        <p:nvSpPr>
          <p:cNvPr id="9" name="scheda Dipendono dall'applicazione"/>
          <p:cNvSpPr/>
          <p:nvPr/>
        </p:nvSpPr>
        <p:spPr>
          <a:xfrm>
            <a:off x="4709160" y="1097280"/>
            <a:ext cx="3977640" cy="2331720"/>
          </a:xfrm>
          <a:prstGeom prst="roundRect">
            <a:avLst>
              <a:gd name="adj" fmla="val 3137"/>
            </a:avLst>
          </a:prstGeom>
          <a:solidFill>
            <a:schemeClr val="accent6"/>
          </a:solidFill>
          <a:ln/>
        </p:spPr>
        <p:txBody>
          <a:bodyPr/>
          <a:lstStyle/>
          <a:p>
            <a:endParaRPr lang="it-IT" dirty="0"/>
          </a:p>
        </p:txBody>
      </p:sp>
      <p:sp>
        <p:nvSpPr>
          <p:cNvPr id="10" name="cerchio FiPackage"/>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Package"/>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500" b="1" dirty="0">
                <a:solidFill>
                  <a:schemeClr val="tx1"/>
                </a:solidFill>
              </a:rPr>
              <a:t>Dipendono dall'applicazione</a:t>
            </a:r>
            <a:endParaRPr lang="it-IT" sz="1500" dirty="0"/>
          </a:p>
        </p:txBody>
      </p:sp>
      <p:sp>
        <p:nvSpPr>
          <p:cNvPr id="13" name="Text 8"/>
          <p:cNvSpPr txBox="1"/>
          <p:nvPr/>
        </p:nvSpPr>
        <p:spPr>
          <a:xfrm>
            <a:off x="4892040" y="2231136"/>
            <a:ext cx="3611880" cy="1088136"/>
          </a:xfrm>
          <a:prstGeom prst="rect">
            <a:avLst/>
          </a:prstGeom>
          <a:noFill/>
          <a:ln/>
        </p:spPr>
        <p:txBody>
          <a:bodyPr wrap="square" lIns="0" tIns="0" rIns="0" bIns="0" rtlCol="0" anchor="t"/>
          <a:lstStyle/>
          <a:p>
            <a:pPr marL="177800" indent="-177800">
              <a:spcAft>
                <a:spcPts val="300"/>
              </a:spcAft>
              <a:buSzPct val="100000"/>
              <a:buChar char="•"/>
            </a:pPr>
            <a:r>
              <a:rPr lang="it-IT" sz="1300" dirty="0">
                <a:solidFill>
                  <a:schemeClr val="tx2"/>
                </a:solidFill>
              </a:rPr>
              <a:t>Ricerca sul web, esecuzione di codice</a:t>
            </a:r>
            <a:endParaRPr lang="it-IT" sz="1300" dirty="0"/>
          </a:p>
          <a:p>
            <a:pPr marL="177800" indent="-177800">
              <a:spcAft>
                <a:spcPts val="300"/>
              </a:spcAft>
              <a:buSzPct val="100000"/>
              <a:buChar char="•"/>
            </a:pPr>
            <a:r>
              <a:rPr lang="it-IT" sz="1300" dirty="0">
                <a:solidFill>
                  <a:schemeClr val="tx2"/>
                </a:solidFill>
              </a:rPr>
              <a:t>Lettura di file, collegamenti a sistemi aziendali</a:t>
            </a:r>
            <a:endParaRPr lang="it-IT" sz="1300" dirty="0"/>
          </a:p>
          <a:p>
            <a:pPr marL="177800" indent="-177800">
              <a:spcAft>
                <a:spcPts val="300"/>
              </a:spcAft>
              <a:buSzPct val="100000"/>
              <a:buChar char="•"/>
            </a:pPr>
            <a:r>
              <a:rPr lang="it-IT" sz="1300" dirty="0">
                <a:solidFill>
                  <a:schemeClr val="tx2"/>
                </a:solidFill>
              </a:rPr>
              <a:t>Memoria tra conversazioni</a:t>
            </a:r>
            <a:endParaRPr lang="it-IT" sz="1300" dirty="0"/>
          </a:p>
        </p:txBody>
      </p:sp>
      <p:sp>
        <p:nvSpPr>
          <p:cNvPr id="14" name="verifica funzioni"/>
          <p:cNvSpPr/>
          <p:nvPr/>
        </p:nvSpPr>
        <p:spPr>
          <a:xfrm>
            <a:off x="457200" y="3611880"/>
            <a:ext cx="8229600" cy="914400"/>
          </a:xfrm>
          <a:prstGeom prst="roundRect">
            <a:avLst>
              <a:gd name="adj" fmla="val 8000"/>
            </a:avLst>
          </a:prstGeom>
          <a:solidFill>
            <a:schemeClr val="tx1"/>
          </a:solidFill>
          <a:ln/>
        </p:spPr>
        <p:txBody>
          <a:bodyPr/>
          <a:lstStyle/>
          <a:p>
            <a:endParaRPr lang="it-IT" dirty="0"/>
          </a:p>
        </p:txBody>
      </p:sp>
      <p:sp>
        <p:nvSpPr>
          <p:cNvPr id="15" name="cerchio FiCheckSquare"/>
          <p:cNvSpPr/>
          <p:nvPr/>
        </p:nvSpPr>
        <p:spPr>
          <a:xfrm>
            <a:off x="640080" y="3813048"/>
            <a:ext cx="512064" cy="512064"/>
          </a:xfrm>
          <a:prstGeom prst="ellipse">
            <a:avLst/>
          </a:prstGeom>
          <a:solidFill>
            <a:schemeClr val="accent1"/>
          </a:solidFill>
          <a:ln/>
        </p:spPr>
        <p:txBody>
          <a:bodyPr/>
          <a:lstStyle/>
          <a:p>
            <a:endParaRPr lang="it-IT" dirty="0"/>
          </a:p>
        </p:txBody>
      </p:sp>
      <p:pic>
        <p:nvPicPr>
          <p:cNvPr id="16" name="Image 2" descr="FiCheckSquare"/>
          <p:cNvPicPr>
            <a:picLocks noChangeAspect="1"/>
          </p:cNvPicPr>
          <p:nvPr/>
        </p:nvPicPr>
        <p:blipFill>
          <a:blip r:embed="rId5"/>
          <a:stretch>
            <a:fillRect/>
          </a:stretch>
        </p:blipFill>
        <p:spPr>
          <a:xfrm>
            <a:off x="768096" y="3941064"/>
            <a:ext cx="256032" cy="256032"/>
          </a:xfrm>
          <a:prstGeom prst="rect">
            <a:avLst/>
          </a:prstGeom>
        </p:spPr>
      </p:pic>
      <p:sp>
        <p:nvSpPr>
          <p:cNvPr id="17" name="Text 11"/>
          <p:cNvSpPr txBox="1"/>
          <p:nvPr/>
        </p:nvSpPr>
        <p:spPr>
          <a:xfrm>
            <a:off x="1325880" y="3611880"/>
            <a:ext cx="7223760" cy="914400"/>
          </a:xfrm>
          <a:prstGeom prst="rect">
            <a:avLst/>
          </a:prstGeom>
          <a:noFill/>
          <a:ln/>
        </p:spPr>
        <p:txBody>
          <a:bodyPr wrap="square" lIns="0" tIns="0" rIns="0" bIns="0" rtlCol="0" anchor="ctr"/>
          <a:lstStyle/>
          <a:p>
            <a:pPr marL="0" indent="0">
              <a:buNone/>
            </a:pPr>
            <a:r>
              <a:rPr lang="it-IT" sz="1300" dirty="0">
                <a:solidFill>
                  <a:schemeClr val="bg1"/>
                </a:solidFill>
              </a:rPr>
              <a:t>Prima di affidare un compito, verificare quali funzioni lo strumento offre davvero: informazioni aggiornate senza ricerca, o calcoli senza esecuzione di codice, espongono a errori evitabili.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10</a:t>
            </a:fld>
            <a:endParaRPr lang="it-IT"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dirty="0">
                <a:solidFill>
                  <a:schemeClr val="bg1"/>
                </a:solidFill>
              </a:rPr>
              <a:t>Le capacità dell'AI sono ampie, ma variano in funzione dei sistemi e dei compiti; non tutti i prodotti AI dispongono delle stesse funzioni.</a:t>
            </a:r>
            <a:endParaRPr lang="it-IT"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dirty="0">
                <a:solidFill>
                  <a:schemeClr val="accent3"/>
                </a:solidFill>
              </a:rPr>
              <a:t>Sottotema 3.1  ·  Le principali capacità dell'AI</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11</a:t>
            </a:fld>
            <a:endParaRPr lang="it-IT"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3.2</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Ragionamento, </a:t>
            </a:r>
            <a:r>
              <a:rPr lang="it-IT" sz="3200" b="1" dirty="0" err="1">
                <a:solidFill>
                  <a:schemeClr val="bg1"/>
                </a:solidFill>
              </a:rPr>
              <a:t>problem</a:t>
            </a:r>
            <a:r>
              <a:rPr lang="it-IT" sz="3200" b="1" dirty="0">
                <a:solidFill>
                  <a:schemeClr val="bg1"/>
                </a:solidFill>
              </a:rPr>
              <a:t> solving e creatività</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lgn="just">
              <a:buNone/>
            </a:pPr>
            <a:r>
              <a:rPr lang="it-IT" sz="1600" dirty="0">
                <a:solidFill>
                  <a:schemeClr val="accent3"/>
                </a:solidFill>
              </a:rPr>
              <a:t>I sistemi AI possono supportare ragionamento, analisi, pianificazione e creatività. La qualità dei risultati dipende dal tipo di problema, dalle informazioni disponibili e dagli strumenti utilizzati.</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12</a:t>
            </a:fld>
            <a:endParaRPr lang="it-IT"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Ragionamento logico, matematico e analitico</a:t>
            </a:r>
            <a:endParaRPr lang="it-IT" sz="2600" dirty="0"/>
          </a:p>
        </p:txBody>
      </p:sp>
      <p:sp>
        <p:nvSpPr>
          <p:cNvPr id="4" name="scheda Logico"/>
          <p:cNvSpPr/>
          <p:nvPr/>
        </p:nvSpPr>
        <p:spPr>
          <a:xfrm>
            <a:off x="457200" y="1097280"/>
            <a:ext cx="2615184" cy="1965960"/>
          </a:xfrm>
          <a:prstGeom prst="roundRect">
            <a:avLst>
              <a:gd name="adj" fmla="val 3721"/>
            </a:avLst>
          </a:prstGeom>
          <a:solidFill>
            <a:schemeClr val="bg2"/>
          </a:solidFill>
          <a:ln/>
        </p:spPr>
        <p:txBody>
          <a:bodyPr/>
          <a:lstStyle/>
          <a:p>
            <a:endParaRPr lang="it-IT" dirty="0"/>
          </a:p>
        </p:txBody>
      </p:sp>
      <p:sp>
        <p:nvSpPr>
          <p:cNvPr id="5" name="cerchio FiGitBranch"/>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GitBranch"/>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1234440" y="1280160"/>
            <a:ext cx="1655064" cy="457200"/>
          </a:xfrm>
          <a:prstGeom prst="rect">
            <a:avLst/>
          </a:prstGeom>
          <a:noFill/>
          <a:ln/>
        </p:spPr>
        <p:txBody>
          <a:bodyPr wrap="square" lIns="0" tIns="0" rIns="0" bIns="0" rtlCol="0" anchor="ctr"/>
          <a:lstStyle/>
          <a:p>
            <a:pPr marL="0" indent="0">
              <a:buNone/>
            </a:pPr>
            <a:r>
              <a:rPr lang="it-IT" sz="1500" b="1" dirty="0">
                <a:solidFill>
                  <a:schemeClr val="tx1"/>
                </a:solidFill>
              </a:rPr>
              <a:t>Logico</a:t>
            </a:r>
            <a:endParaRPr lang="it-IT" sz="1500" dirty="0"/>
          </a:p>
        </p:txBody>
      </p:sp>
      <p:sp>
        <p:nvSpPr>
          <p:cNvPr id="8" name="Text 4"/>
          <p:cNvSpPr txBox="1"/>
          <p:nvPr/>
        </p:nvSpPr>
        <p:spPr>
          <a:xfrm>
            <a:off x="640080" y="1874520"/>
            <a:ext cx="2249424" cy="1078992"/>
          </a:xfrm>
          <a:prstGeom prst="rect">
            <a:avLst/>
          </a:prstGeom>
          <a:noFill/>
          <a:ln/>
        </p:spPr>
        <p:txBody>
          <a:bodyPr wrap="square" lIns="0" tIns="0" rIns="0" bIns="0" rtlCol="0" anchor="t"/>
          <a:lstStyle/>
          <a:p>
            <a:pPr marL="0" indent="0">
              <a:buNone/>
            </a:pPr>
            <a:r>
              <a:rPr lang="it-IT" sz="1300" dirty="0">
                <a:solidFill>
                  <a:schemeClr val="tx2"/>
                </a:solidFill>
              </a:rPr>
              <a:t>Catene di deduzioni, contraddizioni, coerenza tra premesse e conclusioni</a:t>
            </a:r>
            <a:endParaRPr lang="it-IT" sz="1300" dirty="0"/>
          </a:p>
        </p:txBody>
      </p:sp>
      <p:sp>
        <p:nvSpPr>
          <p:cNvPr id="9" name="scheda Matematico"/>
          <p:cNvSpPr/>
          <p:nvPr/>
        </p:nvSpPr>
        <p:spPr>
          <a:xfrm>
            <a:off x="3264408" y="1097280"/>
            <a:ext cx="2615184" cy="1965960"/>
          </a:xfrm>
          <a:prstGeom prst="roundRect">
            <a:avLst>
              <a:gd name="adj" fmla="val 3721"/>
            </a:avLst>
          </a:prstGeom>
          <a:solidFill>
            <a:schemeClr val="bg2"/>
          </a:solidFill>
          <a:ln/>
        </p:spPr>
        <p:txBody>
          <a:bodyPr/>
          <a:lstStyle/>
          <a:p>
            <a:endParaRPr lang="it-IT" dirty="0"/>
          </a:p>
        </p:txBody>
      </p:sp>
      <p:sp>
        <p:nvSpPr>
          <p:cNvPr id="10" name="cerchio FiHash"/>
          <p:cNvSpPr/>
          <p:nvPr/>
        </p:nvSpPr>
        <p:spPr>
          <a:xfrm>
            <a:off x="3447288" y="1280160"/>
            <a:ext cx="457200" cy="457200"/>
          </a:xfrm>
          <a:prstGeom prst="ellipse">
            <a:avLst/>
          </a:prstGeom>
          <a:solidFill>
            <a:schemeClr val="accent1"/>
          </a:solidFill>
          <a:ln/>
        </p:spPr>
        <p:txBody>
          <a:bodyPr/>
          <a:lstStyle/>
          <a:p>
            <a:endParaRPr lang="it-IT" dirty="0"/>
          </a:p>
        </p:txBody>
      </p:sp>
      <p:pic>
        <p:nvPicPr>
          <p:cNvPr id="11" name="Image 1" descr="FiHash"/>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4041648" y="1280160"/>
            <a:ext cx="1655064" cy="457200"/>
          </a:xfrm>
          <a:prstGeom prst="rect">
            <a:avLst/>
          </a:prstGeom>
          <a:noFill/>
          <a:ln/>
        </p:spPr>
        <p:txBody>
          <a:bodyPr wrap="square" lIns="0" tIns="0" rIns="0" bIns="0" rtlCol="0" anchor="ctr"/>
          <a:lstStyle/>
          <a:p>
            <a:pPr marL="0" indent="0">
              <a:buNone/>
            </a:pPr>
            <a:r>
              <a:rPr lang="it-IT" sz="1500" b="1" dirty="0">
                <a:solidFill>
                  <a:schemeClr val="tx1"/>
                </a:solidFill>
              </a:rPr>
              <a:t>Matematico</a:t>
            </a:r>
            <a:endParaRPr lang="it-IT" sz="1500" dirty="0"/>
          </a:p>
        </p:txBody>
      </p:sp>
      <p:sp>
        <p:nvSpPr>
          <p:cNvPr id="13" name="Text 8"/>
          <p:cNvSpPr txBox="1"/>
          <p:nvPr/>
        </p:nvSpPr>
        <p:spPr>
          <a:xfrm>
            <a:off x="3447288" y="1874520"/>
            <a:ext cx="2249424" cy="1078992"/>
          </a:xfrm>
          <a:prstGeom prst="rect">
            <a:avLst/>
          </a:prstGeom>
          <a:noFill/>
          <a:ln/>
        </p:spPr>
        <p:txBody>
          <a:bodyPr wrap="square" lIns="0" tIns="0" rIns="0" bIns="0" rtlCol="0" anchor="t"/>
          <a:lstStyle/>
          <a:p>
            <a:pPr marL="0" indent="0">
              <a:buNone/>
            </a:pPr>
            <a:r>
              <a:rPr lang="it-IT" sz="1300" dirty="0">
                <a:solidFill>
                  <a:schemeClr val="tx2"/>
                </a:solidFill>
              </a:rPr>
              <a:t>Molti problemi anche avanzati, meglio con passaggi espliciti o codice</a:t>
            </a:r>
            <a:endParaRPr lang="it-IT" sz="1300" dirty="0"/>
          </a:p>
        </p:txBody>
      </p:sp>
      <p:sp>
        <p:nvSpPr>
          <p:cNvPr id="14" name="scheda Analitico"/>
          <p:cNvSpPr/>
          <p:nvPr/>
        </p:nvSpPr>
        <p:spPr>
          <a:xfrm>
            <a:off x="6071616" y="1097280"/>
            <a:ext cx="2615184" cy="1965960"/>
          </a:xfrm>
          <a:prstGeom prst="roundRect">
            <a:avLst>
              <a:gd name="adj" fmla="val 3721"/>
            </a:avLst>
          </a:prstGeom>
          <a:solidFill>
            <a:schemeClr val="bg2"/>
          </a:solidFill>
          <a:ln/>
        </p:spPr>
        <p:txBody>
          <a:bodyPr/>
          <a:lstStyle/>
          <a:p>
            <a:endParaRPr lang="it-IT" dirty="0"/>
          </a:p>
        </p:txBody>
      </p:sp>
      <p:sp>
        <p:nvSpPr>
          <p:cNvPr id="15" name="cerchio FiBarChart2"/>
          <p:cNvSpPr/>
          <p:nvPr/>
        </p:nvSpPr>
        <p:spPr>
          <a:xfrm>
            <a:off x="6254496" y="1280160"/>
            <a:ext cx="457200" cy="457200"/>
          </a:xfrm>
          <a:prstGeom prst="ellipse">
            <a:avLst/>
          </a:prstGeom>
          <a:solidFill>
            <a:schemeClr val="accent1"/>
          </a:solidFill>
          <a:ln/>
        </p:spPr>
        <p:txBody>
          <a:bodyPr/>
          <a:lstStyle/>
          <a:p>
            <a:endParaRPr lang="it-IT" dirty="0"/>
          </a:p>
        </p:txBody>
      </p:sp>
      <p:pic>
        <p:nvPicPr>
          <p:cNvPr id="16" name="Image 2" descr="FiBarChart2"/>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848856" y="1280160"/>
            <a:ext cx="1655064" cy="457200"/>
          </a:xfrm>
          <a:prstGeom prst="rect">
            <a:avLst/>
          </a:prstGeom>
          <a:noFill/>
          <a:ln/>
        </p:spPr>
        <p:txBody>
          <a:bodyPr wrap="square" lIns="0" tIns="0" rIns="0" bIns="0" rtlCol="0" anchor="ctr"/>
          <a:lstStyle/>
          <a:p>
            <a:pPr marL="0" indent="0">
              <a:buNone/>
            </a:pPr>
            <a:r>
              <a:rPr lang="it-IT" sz="1500" b="1" dirty="0">
                <a:solidFill>
                  <a:schemeClr val="tx1"/>
                </a:solidFill>
              </a:rPr>
              <a:t>Analitico</a:t>
            </a:r>
            <a:endParaRPr lang="it-IT" sz="1500" dirty="0"/>
          </a:p>
        </p:txBody>
      </p:sp>
      <p:sp>
        <p:nvSpPr>
          <p:cNvPr id="18" name="Text 12"/>
          <p:cNvSpPr txBox="1"/>
          <p:nvPr/>
        </p:nvSpPr>
        <p:spPr>
          <a:xfrm>
            <a:off x="6254496" y="1874520"/>
            <a:ext cx="2249424" cy="1078992"/>
          </a:xfrm>
          <a:prstGeom prst="rect">
            <a:avLst/>
          </a:prstGeom>
          <a:noFill/>
          <a:ln/>
        </p:spPr>
        <p:txBody>
          <a:bodyPr wrap="square" lIns="0" tIns="0" rIns="0" bIns="0" rtlCol="0" anchor="t"/>
          <a:lstStyle/>
          <a:p>
            <a:pPr marL="0" indent="0">
              <a:buNone/>
            </a:pPr>
            <a:r>
              <a:rPr lang="it-IT" sz="1300" dirty="0">
                <a:solidFill>
                  <a:schemeClr val="tx2"/>
                </a:solidFill>
              </a:rPr>
              <a:t>Confronti, cause possibili, organizzazione di informazioni complesse</a:t>
            </a:r>
            <a:endParaRPr lang="it-IT" sz="1300" dirty="0"/>
          </a:p>
        </p:txBody>
      </p:sp>
      <p:sp>
        <p:nvSpPr>
          <p:cNvPr id="19" name="Text 13"/>
          <p:cNvSpPr txBox="1"/>
          <p:nvPr/>
        </p:nvSpPr>
        <p:spPr>
          <a:xfrm>
            <a:off x="457200" y="3200400"/>
            <a:ext cx="8229600" cy="274320"/>
          </a:xfrm>
          <a:prstGeom prst="rect">
            <a:avLst/>
          </a:prstGeom>
          <a:noFill/>
          <a:ln/>
        </p:spPr>
        <p:txBody>
          <a:bodyPr wrap="square" lIns="0" tIns="0" rIns="0" bIns="0" rtlCol="0" anchor="t"/>
          <a:lstStyle/>
          <a:p>
            <a:pPr marL="0" indent="0">
              <a:buNone/>
            </a:pPr>
            <a:r>
              <a:rPr lang="it-IT" sz="1400" b="1" dirty="0">
                <a:solidFill>
                  <a:schemeClr val="tx1"/>
                </a:solidFill>
              </a:rPr>
              <a:t>Tre cautele</a:t>
            </a:r>
            <a:endParaRPr lang="it-IT" sz="1400" dirty="0"/>
          </a:p>
        </p:txBody>
      </p:sp>
      <p:sp>
        <p:nvSpPr>
          <p:cNvPr id="20" name="cautela 0"/>
          <p:cNvSpPr/>
          <p:nvPr/>
        </p:nvSpPr>
        <p:spPr>
          <a:xfrm>
            <a:off x="457200" y="3520440"/>
            <a:ext cx="2615184" cy="1005840"/>
          </a:xfrm>
          <a:prstGeom prst="roundRect">
            <a:avLst>
              <a:gd name="adj" fmla="val 7273"/>
            </a:avLst>
          </a:prstGeom>
          <a:solidFill>
            <a:schemeClr val="accent6"/>
          </a:solidFill>
          <a:ln/>
        </p:spPr>
        <p:txBody>
          <a:bodyPr/>
          <a:lstStyle/>
          <a:p>
            <a:endParaRPr lang="it-IT" dirty="0"/>
          </a:p>
        </p:txBody>
      </p:sp>
      <p:sp>
        <p:nvSpPr>
          <p:cNvPr id="21" name="Text 15"/>
          <p:cNvSpPr txBox="1"/>
          <p:nvPr/>
        </p:nvSpPr>
        <p:spPr>
          <a:xfrm>
            <a:off x="594360" y="3520440"/>
            <a:ext cx="2340864" cy="1005840"/>
          </a:xfrm>
          <a:prstGeom prst="rect">
            <a:avLst/>
          </a:prstGeom>
          <a:noFill/>
          <a:ln/>
        </p:spPr>
        <p:txBody>
          <a:bodyPr wrap="square" lIns="0" tIns="0" rIns="0" bIns="0" rtlCol="0" anchor="ctr"/>
          <a:lstStyle/>
          <a:p>
            <a:pPr marL="0" indent="0">
              <a:buNone/>
            </a:pPr>
            <a:r>
              <a:rPr lang="it-IT" sz="1200" dirty="0">
                <a:solidFill>
                  <a:schemeClr val="tx1"/>
                </a:solidFill>
              </a:rPr>
              <a:t>Un errore in un passaggio intermedio compromette la conclusione</a:t>
            </a:r>
            <a:endParaRPr lang="it-IT" sz="1200" dirty="0"/>
          </a:p>
        </p:txBody>
      </p:sp>
      <p:sp>
        <p:nvSpPr>
          <p:cNvPr id="22" name="cautela 1"/>
          <p:cNvSpPr/>
          <p:nvPr/>
        </p:nvSpPr>
        <p:spPr>
          <a:xfrm>
            <a:off x="3264408" y="3520440"/>
            <a:ext cx="2615184" cy="1005840"/>
          </a:xfrm>
          <a:prstGeom prst="roundRect">
            <a:avLst>
              <a:gd name="adj" fmla="val 7273"/>
            </a:avLst>
          </a:prstGeom>
          <a:solidFill>
            <a:schemeClr val="accent6"/>
          </a:solidFill>
          <a:ln/>
        </p:spPr>
        <p:txBody>
          <a:bodyPr/>
          <a:lstStyle/>
          <a:p>
            <a:endParaRPr lang="it-IT" dirty="0"/>
          </a:p>
        </p:txBody>
      </p:sp>
      <p:sp>
        <p:nvSpPr>
          <p:cNvPr id="23" name="Text 17"/>
          <p:cNvSpPr txBox="1"/>
          <p:nvPr/>
        </p:nvSpPr>
        <p:spPr>
          <a:xfrm>
            <a:off x="3401568" y="3520440"/>
            <a:ext cx="2340864" cy="1005840"/>
          </a:xfrm>
          <a:prstGeom prst="rect">
            <a:avLst/>
          </a:prstGeom>
          <a:noFill/>
          <a:ln/>
        </p:spPr>
        <p:txBody>
          <a:bodyPr wrap="square" lIns="0" tIns="0" rIns="0" bIns="0" rtlCol="0" anchor="ctr"/>
          <a:lstStyle/>
          <a:p>
            <a:pPr marL="0" indent="0">
              <a:buNone/>
            </a:pPr>
            <a:r>
              <a:rPr lang="it-IT" sz="1200" dirty="0">
                <a:solidFill>
                  <a:schemeClr val="tx1"/>
                </a:solidFill>
              </a:rPr>
              <a:t>I calcoli generati come testo sono meno affidabili di quelli eseguiti con strumenti</a:t>
            </a:r>
            <a:endParaRPr lang="it-IT" sz="1200" dirty="0"/>
          </a:p>
        </p:txBody>
      </p:sp>
      <p:sp>
        <p:nvSpPr>
          <p:cNvPr id="24" name="cautela 2"/>
          <p:cNvSpPr/>
          <p:nvPr/>
        </p:nvSpPr>
        <p:spPr>
          <a:xfrm>
            <a:off x="6071616" y="3520440"/>
            <a:ext cx="2615184" cy="1005840"/>
          </a:xfrm>
          <a:prstGeom prst="roundRect">
            <a:avLst>
              <a:gd name="adj" fmla="val 7273"/>
            </a:avLst>
          </a:prstGeom>
          <a:solidFill>
            <a:schemeClr val="accent6"/>
          </a:solidFill>
          <a:ln/>
        </p:spPr>
        <p:txBody>
          <a:bodyPr/>
          <a:lstStyle/>
          <a:p>
            <a:endParaRPr lang="it-IT" dirty="0"/>
          </a:p>
        </p:txBody>
      </p:sp>
      <p:sp>
        <p:nvSpPr>
          <p:cNvPr id="25" name="Text 19"/>
          <p:cNvSpPr txBox="1"/>
          <p:nvPr/>
        </p:nvSpPr>
        <p:spPr>
          <a:xfrm>
            <a:off x="6208776" y="3520440"/>
            <a:ext cx="2340864" cy="1005840"/>
          </a:xfrm>
          <a:prstGeom prst="rect">
            <a:avLst/>
          </a:prstGeom>
          <a:noFill/>
          <a:ln/>
        </p:spPr>
        <p:txBody>
          <a:bodyPr wrap="square" lIns="0" tIns="0" rIns="0" bIns="0" rtlCol="0" anchor="ctr"/>
          <a:lstStyle/>
          <a:p>
            <a:pPr marL="0" indent="0">
              <a:buNone/>
            </a:pPr>
            <a:r>
              <a:rPr lang="it-IT" sz="1200" dirty="0">
                <a:solidFill>
                  <a:schemeClr val="tx1"/>
                </a:solidFill>
              </a:rPr>
              <a:t>Le prestazioni sono irregolari: anche un problema semplice può essere sbagliato</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13</a:t>
            </a:fld>
            <a:endParaRPr lang="it-IT"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Problemi strutturati e non strutturati</a:t>
            </a:r>
            <a:endParaRPr lang="it-IT" sz="2600" dirty="0"/>
          </a:p>
        </p:txBody>
      </p:sp>
      <p:graphicFrame>
        <p:nvGraphicFramePr>
          <p:cNvPr id="15" name="Table 0"/>
          <p:cNvGraphicFramePr>
            <a:graphicFrameLocks noGrp="1"/>
          </p:cNvGraphicFramePr>
          <p:nvPr>
            <p:extLst>
              <p:ext uri="{D42A27DB-BD31-4B8C-83A1-F6EECF244321}">
                <p14:modId xmlns:p14="http://schemas.microsoft.com/office/powerpoint/2010/main" val="3148098739"/>
              </p:ext>
            </p:extLst>
          </p:nvPr>
        </p:nvGraphicFramePr>
        <p:xfrm>
          <a:off x="457200" y="1097280"/>
          <a:ext cx="8229600" cy="3215640"/>
        </p:xfrm>
        <a:graphic>
          <a:graphicData uri="http://schemas.openxmlformats.org/drawingml/2006/table">
            <a:tbl>
              <a:tblPr/>
              <a:tblGrid>
                <a:gridCol w="173736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457200">
                <a:tc>
                  <a:txBody>
                    <a:bodyPr/>
                    <a:lstStyle/>
                    <a:p>
                      <a:pPr marL="0" indent="0">
                        <a:buNone/>
                      </a:pP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b="1" dirty="0">
                          <a:solidFill>
                            <a:schemeClr val="bg1"/>
                          </a:solidFill>
                        </a:rPr>
                        <a:t>Problemi strutturati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it-IT" sz="1300" b="1" dirty="0">
                          <a:solidFill>
                            <a:schemeClr val="bg1"/>
                          </a:solidFill>
                        </a:rPr>
                        <a:t>Problemi non strutturati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buNone/>
                      </a:pPr>
                      <a:r>
                        <a:rPr lang="it-IT" sz="1300" b="1" dirty="0">
                          <a:solidFill>
                            <a:schemeClr val="tx1"/>
                          </a:solidFill>
                        </a:rPr>
                        <a:t>Obiettivi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Chiari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dirty="0">
                          <a:solidFill>
                            <a:schemeClr val="tx1"/>
                          </a:solidFill>
                        </a:rPr>
                        <a:t>Ambigui o in conflitto</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buNone/>
                      </a:pPr>
                      <a:r>
                        <a:rPr lang="it-IT" sz="1300" b="1" dirty="0">
                          <a:solidFill>
                            <a:schemeClr val="tx1"/>
                          </a:solidFill>
                        </a:rPr>
                        <a:t>Informazioni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Complete, regole note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dirty="0">
                          <a:solidFill>
                            <a:schemeClr val="tx1"/>
                          </a:solidFill>
                        </a:rPr>
                        <a:t>Incomplete, contesto non scritto</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buNone/>
                      </a:pPr>
                      <a:r>
                        <a:rPr lang="it-IT" sz="1300" b="1" dirty="0">
                          <a:solidFill>
                            <a:schemeClr val="tx1"/>
                          </a:solidFill>
                        </a:rPr>
                        <a:t>Soluzione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Una risposta corretta verificabile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dirty="0">
                          <a:solidFill>
                            <a:schemeClr val="tx1"/>
                          </a:solidFill>
                        </a:rPr>
                        <a:t>Più soluzioni accettabili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57200">
                <a:tc>
                  <a:txBody>
                    <a:bodyPr/>
                    <a:lstStyle/>
                    <a:p>
                      <a:pPr marL="0" indent="0">
                        <a:buNone/>
                      </a:pPr>
                      <a:r>
                        <a:rPr lang="it-IT" sz="1300" b="1" dirty="0">
                          <a:solidFill>
                            <a:schemeClr val="tx1"/>
                          </a:solidFill>
                        </a:rPr>
                        <a:t>Esempi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Calcolare una scadenza, convertire dati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dirty="0">
                          <a:solidFill>
                            <a:schemeClr val="tx1"/>
                          </a:solidFill>
                        </a:rPr>
                        <a:t>Riorganizzare un ufficio, entrare in un mercato</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57200">
                <a:tc>
                  <a:txBody>
                    <a:bodyPr/>
                    <a:lstStyle/>
                    <a:p>
                      <a:pPr marL="0" indent="0">
                        <a:buNone/>
                      </a:pPr>
                      <a:r>
                        <a:rPr lang="it-IT" sz="1300" b="1" dirty="0">
                          <a:solidFill>
                            <a:schemeClr val="tx1"/>
                          </a:solidFill>
                        </a:rPr>
                        <a:t>Ruolo dell'AI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Spesso efficace, risultato controllabile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dirty="0">
                          <a:solidFill>
                            <a:schemeClr val="tx1"/>
                          </a:solidFill>
                        </a:rPr>
                        <a:t>Interlocutore per esplorare opzioni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57200">
                <a:tc>
                  <a:txBody>
                    <a:bodyPr/>
                    <a:lstStyle/>
                    <a:p>
                      <a:pPr marL="0" indent="0">
                        <a:buNone/>
                      </a:pPr>
                      <a:r>
                        <a:rPr lang="it-IT" sz="1300" b="1" dirty="0">
                          <a:solidFill>
                            <a:schemeClr val="tx1"/>
                          </a:solidFill>
                        </a:rPr>
                        <a:t>Decisione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Verificabile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dirty="0">
                          <a:solidFill>
                            <a:schemeClr val="tx1"/>
                          </a:solidFill>
                        </a:rPr>
                        <a:t>Giudizio di chi conosce la situazione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14</a:t>
            </a:fld>
            <a:endParaRPr lang="it-IT"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Scomporre, pianificare, valutare alternative</a:t>
            </a:r>
            <a:endParaRPr lang="it-IT" sz="2600" dirty="0"/>
          </a:p>
        </p:txBody>
      </p:sp>
      <p:sp>
        <p:nvSpPr>
          <p:cNvPr id="4" name="Problema complesso"/>
          <p:cNvSpPr/>
          <p:nvPr/>
        </p:nvSpPr>
        <p:spPr>
          <a:xfrm>
            <a:off x="457200" y="1188720"/>
            <a:ext cx="1261872" cy="1600200"/>
          </a:xfrm>
          <a:prstGeom prst="roundRect">
            <a:avLst>
              <a:gd name="adj" fmla="val 5797"/>
            </a:avLst>
          </a:prstGeom>
          <a:solidFill>
            <a:schemeClr val="bg2"/>
          </a:solidFill>
          <a:ln/>
        </p:spPr>
        <p:txBody>
          <a:bodyPr/>
          <a:lstStyle/>
          <a:p>
            <a:endParaRPr lang="it-IT" dirty="0"/>
          </a:p>
        </p:txBody>
      </p:sp>
      <p:sp>
        <p:nvSpPr>
          <p:cNvPr id="5" name="cerchio FiBox"/>
          <p:cNvSpPr/>
          <p:nvPr/>
        </p:nvSpPr>
        <p:spPr>
          <a:xfrm>
            <a:off x="841248" y="1325880"/>
            <a:ext cx="502920" cy="502920"/>
          </a:xfrm>
          <a:prstGeom prst="ellipse">
            <a:avLst/>
          </a:prstGeom>
          <a:solidFill>
            <a:schemeClr val="accent1"/>
          </a:solidFill>
          <a:ln/>
        </p:spPr>
        <p:txBody>
          <a:bodyPr/>
          <a:lstStyle/>
          <a:p>
            <a:endParaRPr lang="it-IT" dirty="0"/>
          </a:p>
        </p:txBody>
      </p:sp>
      <p:pic>
        <p:nvPicPr>
          <p:cNvPr id="6" name="Image 0" descr="FiBox"/>
          <p:cNvPicPr>
            <a:picLocks noChangeAspect="1"/>
          </p:cNvPicPr>
          <p:nvPr/>
        </p:nvPicPr>
        <p:blipFill>
          <a:blip r:embed="rId3"/>
          <a:stretch>
            <a:fillRect/>
          </a:stretch>
        </p:blipFill>
        <p:spPr>
          <a:xfrm>
            <a:off x="966978" y="1451610"/>
            <a:ext cx="251460" cy="251460"/>
          </a:xfrm>
          <a:prstGeom prst="rect">
            <a:avLst/>
          </a:prstGeom>
        </p:spPr>
      </p:pic>
      <p:sp>
        <p:nvSpPr>
          <p:cNvPr id="7" name="Text 3"/>
          <p:cNvSpPr txBox="1"/>
          <p:nvPr/>
        </p:nvSpPr>
        <p:spPr>
          <a:xfrm>
            <a:off x="530352" y="1920240"/>
            <a:ext cx="1115568" cy="777240"/>
          </a:xfrm>
          <a:prstGeom prst="rect">
            <a:avLst/>
          </a:prstGeom>
          <a:noFill/>
          <a:ln/>
        </p:spPr>
        <p:txBody>
          <a:bodyPr wrap="square" lIns="0" tIns="0" rIns="0" bIns="0" rtlCol="0" anchor="ctr"/>
          <a:lstStyle/>
          <a:p>
            <a:pPr marL="0" indent="0" algn="ctr">
              <a:buNone/>
            </a:pPr>
            <a:r>
              <a:rPr lang="it-IT" sz="1300" b="1" dirty="0">
                <a:solidFill>
                  <a:schemeClr val="tx1"/>
                </a:solidFill>
              </a:rPr>
              <a:t>Problema complesso</a:t>
            </a:r>
            <a:endParaRPr lang="it-IT" sz="1300" dirty="0"/>
          </a:p>
        </p:txBody>
      </p:sp>
      <p:sp>
        <p:nvSpPr>
          <p:cNvPr id="8" name="Sotto-problemi"/>
          <p:cNvSpPr/>
          <p:nvPr/>
        </p:nvSpPr>
        <p:spPr>
          <a:xfrm>
            <a:off x="1874520" y="1188720"/>
            <a:ext cx="1261872" cy="1600200"/>
          </a:xfrm>
          <a:prstGeom prst="roundRect">
            <a:avLst>
              <a:gd name="adj" fmla="val 5797"/>
            </a:avLst>
          </a:prstGeom>
          <a:solidFill>
            <a:schemeClr val="bg2"/>
          </a:solidFill>
          <a:ln/>
        </p:spPr>
        <p:txBody>
          <a:bodyPr/>
          <a:lstStyle/>
          <a:p>
            <a:endParaRPr lang="it-IT" dirty="0"/>
          </a:p>
        </p:txBody>
      </p:sp>
      <p:sp>
        <p:nvSpPr>
          <p:cNvPr id="9" name="cerchio FiGrid"/>
          <p:cNvSpPr/>
          <p:nvPr/>
        </p:nvSpPr>
        <p:spPr>
          <a:xfrm>
            <a:off x="2258568" y="1325880"/>
            <a:ext cx="502920" cy="502920"/>
          </a:xfrm>
          <a:prstGeom prst="ellipse">
            <a:avLst/>
          </a:prstGeom>
          <a:solidFill>
            <a:schemeClr val="accent1"/>
          </a:solidFill>
          <a:ln/>
        </p:spPr>
        <p:txBody>
          <a:bodyPr/>
          <a:lstStyle/>
          <a:p>
            <a:endParaRPr lang="it-IT" dirty="0"/>
          </a:p>
        </p:txBody>
      </p:sp>
      <p:pic>
        <p:nvPicPr>
          <p:cNvPr id="10" name="Image 1" descr="FiGrid"/>
          <p:cNvPicPr>
            <a:picLocks noChangeAspect="1"/>
          </p:cNvPicPr>
          <p:nvPr/>
        </p:nvPicPr>
        <p:blipFill>
          <a:blip r:embed="rId4"/>
          <a:stretch>
            <a:fillRect/>
          </a:stretch>
        </p:blipFill>
        <p:spPr>
          <a:xfrm>
            <a:off x="2384298" y="1451610"/>
            <a:ext cx="251460" cy="251460"/>
          </a:xfrm>
          <a:prstGeom prst="rect">
            <a:avLst/>
          </a:prstGeom>
        </p:spPr>
      </p:pic>
      <p:sp>
        <p:nvSpPr>
          <p:cNvPr id="11" name="Text 6"/>
          <p:cNvSpPr txBox="1"/>
          <p:nvPr/>
        </p:nvSpPr>
        <p:spPr>
          <a:xfrm>
            <a:off x="1947672" y="1920240"/>
            <a:ext cx="1115568" cy="777240"/>
          </a:xfrm>
          <a:prstGeom prst="rect">
            <a:avLst/>
          </a:prstGeom>
          <a:noFill/>
          <a:ln/>
        </p:spPr>
        <p:txBody>
          <a:bodyPr wrap="square" lIns="0" tIns="0" rIns="0" bIns="0" rtlCol="0" anchor="ctr"/>
          <a:lstStyle/>
          <a:p>
            <a:pPr marL="0" indent="0" algn="ctr">
              <a:buNone/>
            </a:pPr>
            <a:r>
              <a:rPr lang="it-IT" sz="1300" b="1" dirty="0">
                <a:solidFill>
                  <a:schemeClr val="tx1"/>
                </a:solidFill>
              </a:rPr>
              <a:t>Sotto-problemi</a:t>
            </a:r>
            <a:endParaRPr lang="it-IT" sz="1300" dirty="0"/>
          </a:p>
        </p:txBody>
      </p:sp>
      <p:sp>
        <p:nvSpPr>
          <p:cNvPr id="12" name="Piano e fasi"/>
          <p:cNvSpPr/>
          <p:nvPr/>
        </p:nvSpPr>
        <p:spPr>
          <a:xfrm>
            <a:off x="3291840" y="1188720"/>
            <a:ext cx="1261872" cy="1600200"/>
          </a:xfrm>
          <a:prstGeom prst="roundRect">
            <a:avLst>
              <a:gd name="adj" fmla="val 5797"/>
            </a:avLst>
          </a:prstGeom>
          <a:solidFill>
            <a:schemeClr val="bg2"/>
          </a:solidFill>
          <a:ln/>
        </p:spPr>
        <p:txBody>
          <a:bodyPr/>
          <a:lstStyle/>
          <a:p>
            <a:endParaRPr lang="it-IT" dirty="0"/>
          </a:p>
        </p:txBody>
      </p:sp>
      <p:sp>
        <p:nvSpPr>
          <p:cNvPr id="13" name="cerchio FiList"/>
          <p:cNvSpPr/>
          <p:nvPr/>
        </p:nvSpPr>
        <p:spPr>
          <a:xfrm>
            <a:off x="3675888" y="1325880"/>
            <a:ext cx="502920" cy="502920"/>
          </a:xfrm>
          <a:prstGeom prst="ellipse">
            <a:avLst/>
          </a:prstGeom>
          <a:solidFill>
            <a:schemeClr val="accent1"/>
          </a:solidFill>
          <a:ln/>
        </p:spPr>
        <p:txBody>
          <a:bodyPr/>
          <a:lstStyle/>
          <a:p>
            <a:endParaRPr lang="it-IT" dirty="0"/>
          </a:p>
        </p:txBody>
      </p:sp>
      <p:pic>
        <p:nvPicPr>
          <p:cNvPr id="14" name="Image 2" descr="FiList"/>
          <p:cNvPicPr>
            <a:picLocks noChangeAspect="1"/>
          </p:cNvPicPr>
          <p:nvPr/>
        </p:nvPicPr>
        <p:blipFill>
          <a:blip r:embed="rId5"/>
          <a:stretch>
            <a:fillRect/>
          </a:stretch>
        </p:blipFill>
        <p:spPr>
          <a:xfrm>
            <a:off x="3801618" y="1451610"/>
            <a:ext cx="251460" cy="251460"/>
          </a:xfrm>
          <a:prstGeom prst="rect">
            <a:avLst/>
          </a:prstGeom>
        </p:spPr>
      </p:pic>
      <p:sp>
        <p:nvSpPr>
          <p:cNvPr id="15" name="Text 9"/>
          <p:cNvSpPr txBox="1"/>
          <p:nvPr/>
        </p:nvSpPr>
        <p:spPr>
          <a:xfrm>
            <a:off x="3364992" y="1920240"/>
            <a:ext cx="1115568" cy="777240"/>
          </a:xfrm>
          <a:prstGeom prst="rect">
            <a:avLst/>
          </a:prstGeom>
          <a:noFill/>
          <a:ln/>
        </p:spPr>
        <p:txBody>
          <a:bodyPr wrap="square" lIns="0" tIns="0" rIns="0" bIns="0" rtlCol="0" anchor="ctr"/>
          <a:lstStyle/>
          <a:p>
            <a:pPr marL="0" indent="0" algn="ctr">
              <a:buNone/>
            </a:pPr>
            <a:r>
              <a:rPr lang="it-IT" sz="1300" b="1" dirty="0">
                <a:solidFill>
                  <a:schemeClr val="tx1"/>
                </a:solidFill>
              </a:rPr>
              <a:t>Piano e fasi</a:t>
            </a:r>
            <a:endParaRPr lang="it-IT" sz="1300" dirty="0"/>
          </a:p>
        </p:txBody>
      </p:sp>
      <p:sp>
        <p:nvSpPr>
          <p:cNvPr id="16" name="Alternative"/>
          <p:cNvSpPr/>
          <p:nvPr/>
        </p:nvSpPr>
        <p:spPr>
          <a:xfrm>
            <a:off x="4709160" y="1188720"/>
            <a:ext cx="1261872" cy="1600200"/>
          </a:xfrm>
          <a:prstGeom prst="roundRect">
            <a:avLst>
              <a:gd name="adj" fmla="val 5797"/>
            </a:avLst>
          </a:prstGeom>
          <a:solidFill>
            <a:schemeClr val="bg2"/>
          </a:solidFill>
          <a:ln/>
        </p:spPr>
        <p:txBody>
          <a:bodyPr/>
          <a:lstStyle/>
          <a:p>
            <a:endParaRPr lang="it-IT" dirty="0"/>
          </a:p>
        </p:txBody>
      </p:sp>
      <p:sp>
        <p:nvSpPr>
          <p:cNvPr id="17" name="cerchio FiShuffle"/>
          <p:cNvSpPr/>
          <p:nvPr/>
        </p:nvSpPr>
        <p:spPr>
          <a:xfrm>
            <a:off x="5093208" y="1325880"/>
            <a:ext cx="502920" cy="502920"/>
          </a:xfrm>
          <a:prstGeom prst="ellipse">
            <a:avLst/>
          </a:prstGeom>
          <a:solidFill>
            <a:schemeClr val="accent1"/>
          </a:solidFill>
          <a:ln/>
        </p:spPr>
        <p:txBody>
          <a:bodyPr/>
          <a:lstStyle/>
          <a:p>
            <a:endParaRPr lang="it-IT" dirty="0"/>
          </a:p>
        </p:txBody>
      </p:sp>
      <p:pic>
        <p:nvPicPr>
          <p:cNvPr id="18" name="Image 3" descr="FiShuffle"/>
          <p:cNvPicPr>
            <a:picLocks noChangeAspect="1"/>
          </p:cNvPicPr>
          <p:nvPr/>
        </p:nvPicPr>
        <p:blipFill>
          <a:blip r:embed="rId6"/>
          <a:stretch>
            <a:fillRect/>
          </a:stretch>
        </p:blipFill>
        <p:spPr>
          <a:xfrm>
            <a:off x="5218938" y="1451610"/>
            <a:ext cx="251460" cy="251460"/>
          </a:xfrm>
          <a:prstGeom prst="rect">
            <a:avLst/>
          </a:prstGeom>
        </p:spPr>
      </p:pic>
      <p:sp>
        <p:nvSpPr>
          <p:cNvPr id="19" name="Text 12"/>
          <p:cNvSpPr txBox="1"/>
          <p:nvPr/>
        </p:nvSpPr>
        <p:spPr>
          <a:xfrm>
            <a:off x="4782312" y="1920240"/>
            <a:ext cx="1115568" cy="777240"/>
          </a:xfrm>
          <a:prstGeom prst="rect">
            <a:avLst/>
          </a:prstGeom>
          <a:noFill/>
          <a:ln/>
        </p:spPr>
        <p:txBody>
          <a:bodyPr wrap="square" lIns="0" tIns="0" rIns="0" bIns="0" rtlCol="0" anchor="ctr"/>
          <a:lstStyle/>
          <a:p>
            <a:pPr marL="0" indent="0" algn="ctr">
              <a:buNone/>
            </a:pPr>
            <a:r>
              <a:rPr lang="it-IT" sz="1300" b="1" dirty="0">
                <a:solidFill>
                  <a:schemeClr val="tx1"/>
                </a:solidFill>
              </a:rPr>
              <a:t>Alternative</a:t>
            </a:r>
            <a:endParaRPr lang="it-IT" sz="1300" dirty="0"/>
          </a:p>
        </p:txBody>
      </p:sp>
      <p:sp>
        <p:nvSpPr>
          <p:cNvPr id="20" name="Confronto per criteri"/>
          <p:cNvSpPr/>
          <p:nvPr/>
        </p:nvSpPr>
        <p:spPr>
          <a:xfrm>
            <a:off x="6126480" y="1188720"/>
            <a:ext cx="1261872" cy="1600200"/>
          </a:xfrm>
          <a:prstGeom prst="roundRect">
            <a:avLst>
              <a:gd name="adj" fmla="val 5797"/>
            </a:avLst>
          </a:prstGeom>
          <a:solidFill>
            <a:schemeClr val="bg2"/>
          </a:solidFill>
          <a:ln/>
        </p:spPr>
        <p:txBody>
          <a:bodyPr/>
          <a:lstStyle/>
          <a:p>
            <a:endParaRPr lang="it-IT" dirty="0"/>
          </a:p>
        </p:txBody>
      </p:sp>
      <p:sp>
        <p:nvSpPr>
          <p:cNvPr id="21" name="cerchio FiSliders"/>
          <p:cNvSpPr/>
          <p:nvPr/>
        </p:nvSpPr>
        <p:spPr>
          <a:xfrm>
            <a:off x="6510528" y="1325880"/>
            <a:ext cx="502920" cy="502920"/>
          </a:xfrm>
          <a:prstGeom prst="ellipse">
            <a:avLst/>
          </a:prstGeom>
          <a:solidFill>
            <a:schemeClr val="accent1"/>
          </a:solidFill>
          <a:ln/>
        </p:spPr>
        <p:txBody>
          <a:bodyPr/>
          <a:lstStyle/>
          <a:p>
            <a:endParaRPr lang="it-IT" dirty="0"/>
          </a:p>
        </p:txBody>
      </p:sp>
      <p:pic>
        <p:nvPicPr>
          <p:cNvPr id="22" name="Image 4" descr="FiSliders"/>
          <p:cNvPicPr>
            <a:picLocks noChangeAspect="1"/>
          </p:cNvPicPr>
          <p:nvPr/>
        </p:nvPicPr>
        <p:blipFill>
          <a:blip r:embed="rId7"/>
          <a:stretch>
            <a:fillRect/>
          </a:stretch>
        </p:blipFill>
        <p:spPr>
          <a:xfrm>
            <a:off x="6636258" y="1451610"/>
            <a:ext cx="251460" cy="251460"/>
          </a:xfrm>
          <a:prstGeom prst="rect">
            <a:avLst/>
          </a:prstGeom>
        </p:spPr>
      </p:pic>
      <p:sp>
        <p:nvSpPr>
          <p:cNvPr id="23" name="Text 15"/>
          <p:cNvSpPr txBox="1"/>
          <p:nvPr/>
        </p:nvSpPr>
        <p:spPr>
          <a:xfrm>
            <a:off x="6199632" y="1920240"/>
            <a:ext cx="1115568" cy="777240"/>
          </a:xfrm>
          <a:prstGeom prst="rect">
            <a:avLst/>
          </a:prstGeom>
          <a:noFill/>
          <a:ln/>
        </p:spPr>
        <p:txBody>
          <a:bodyPr wrap="square" lIns="0" tIns="0" rIns="0" bIns="0" rtlCol="0" anchor="ctr"/>
          <a:lstStyle/>
          <a:p>
            <a:pPr marL="0" indent="0" algn="ctr">
              <a:buNone/>
            </a:pPr>
            <a:r>
              <a:rPr lang="it-IT" sz="1300" b="1" dirty="0">
                <a:solidFill>
                  <a:schemeClr val="tx1"/>
                </a:solidFill>
              </a:rPr>
              <a:t>Confronto per criteri</a:t>
            </a:r>
            <a:endParaRPr lang="it-IT" sz="1300" dirty="0"/>
          </a:p>
        </p:txBody>
      </p:sp>
      <p:sp>
        <p:nvSpPr>
          <p:cNvPr id="24" name="Scelta della persona"/>
          <p:cNvSpPr/>
          <p:nvPr/>
        </p:nvSpPr>
        <p:spPr>
          <a:xfrm>
            <a:off x="7543800" y="1188720"/>
            <a:ext cx="1261872" cy="1600200"/>
          </a:xfrm>
          <a:prstGeom prst="roundRect">
            <a:avLst>
              <a:gd name="adj" fmla="val 5797"/>
            </a:avLst>
          </a:prstGeom>
          <a:solidFill>
            <a:schemeClr val="accent1"/>
          </a:solidFill>
          <a:ln/>
        </p:spPr>
        <p:txBody>
          <a:bodyPr/>
          <a:lstStyle/>
          <a:p>
            <a:endParaRPr lang="it-IT" dirty="0"/>
          </a:p>
        </p:txBody>
      </p:sp>
      <p:sp>
        <p:nvSpPr>
          <p:cNvPr id="25" name="cerchio FiUserCheck"/>
          <p:cNvSpPr/>
          <p:nvPr/>
        </p:nvSpPr>
        <p:spPr>
          <a:xfrm>
            <a:off x="7927848" y="1325880"/>
            <a:ext cx="502920" cy="502920"/>
          </a:xfrm>
          <a:prstGeom prst="ellipse">
            <a:avLst/>
          </a:prstGeom>
          <a:solidFill>
            <a:schemeClr val="bg1"/>
          </a:solidFill>
          <a:ln/>
        </p:spPr>
        <p:txBody>
          <a:bodyPr/>
          <a:lstStyle/>
          <a:p>
            <a:endParaRPr lang="it-IT" dirty="0"/>
          </a:p>
        </p:txBody>
      </p:sp>
      <p:pic>
        <p:nvPicPr>
          <p:cNvPr id="26" name="Image 5" descr="FiUserCheck"/>
          <p:cNvPicPr>
            <a:picLocks noChangeAspect="1"/>
          </p:cNvPicPr>
          <p:nvPr/>
        </p:nvPicPr>
        <p:blipFill>
          <a:blip r:embed="rId8"/>
          <a:stretch>
            <a:fillRect/>
          </a:stretch>
        </p:blipFill>
        <p:spPr>
          <a:xfrm>
            <a:off x="8053578" y="1451610"/>
            <a:ext cx="251460" cy="251460"/>
          </a:xfrm>
          <a:prstGeom prst="rect">
            <a:avLst/>
          </a:prstGeom>
        </p:spPr>
      </p:pic>
      <p:sp>
        <p:nvSpPr>
          <p:cNvPr id="27" name="Text 18"/>
          <p:cNvSpPr txBox="1"/>
          <p:nvPr/>
        </p:nvSpPr>
        <p:spPr>
          <a:xfrm>
            <a:off x="7616952" y="1920240"/>
            <a:ext cx="1115568" cy="777240"/>
          </a:xfrm>
          <a:prstGeom prst="rect">
            <a:avLst/>
          </a:prstGeom>
          <a:noFill/>
          <a:ln/>
        </p:spPr>
        <p:txBody>
          <a:bodyPr wrap="square" lIns="0" tIns="0" rIns="0" bIns="0" rtlCol="0" anchor="ctr"/>
          <a:lstStyle/>
          <a:p>
            <a:pPr marL="0" indent="0" algn="ctr">
              <a:buNone/>
            </a:pPr>
            <a:r>
              <a:rPr lang="it-IT" sz="1300" b="1" dirty="0">
                <a:solidFill>
                  <a:schemeClr val="bg1"/>
                </a:solidFill>
              </a:rPr>
              <a:t>Scelta della persona</a:t>
            </a:r>
            <a:endParaRPr lang="it-IT" sz="1300" dirty="0"/>
          </a:p>
        </p:txBody>
      </p:sp>
      <p:sp>
        <p:nvSpPr>
          <p:cNvPr id="28" name="scheda Dipende dalle informazioni"/>
          <p:cNvSpPr/>
          <p:nvPr/>
        </p:nvSpPr>
        <p:spPr>
          <a:xfrm>
            <a:off x="457200" y="3017520"/>
            <a:ext cx="3977640" cy="1508760"/>
          </a:xfrm>
          <a:prstGeom prst="roundRect">
            <a:avLst>
              <a:gd name="adj" fmla="val 4848"/>
            </a:avLst>
          </a:prstGeom>
          <a:solidFill>
            <a:schemeClr val="bg2"/>
          </a:solidFill>
          <a:ln/>
        </p:spPr>
        <p:txBody>
          <a:bodyPr/>
          <a:lstStyle/>
          <a:p>
            <a:endParaRPr lang="it-IT" dirty="0"/>
          </a:p>
        </p:txBody>
      </p:sp>
      <p:sp>
        <p:nvSpPr>
          <p:cNvPr id="29" name="cerchio FiAlertCircle"/>
          <p:cNvSpPr/>
          <p:nvPr/>
        </p:nvSpPr>
        <p:spPr>
          <a:xfrm>
            <a:off x="640080" y="3200400"/>
            <a:ext cx="457200" cy="457200"/>
          </a:xfrm>
          <a:prstGeom prst="ellipse">
            <a:avLst/>
          </a:prstGeom>
          <a:solidFill>
            <a:schemeClr val="accent1"/>
          </a:solidFill>
          <a:ln/>
        </p:spPr>
        <p:txBody>
          <a:bodyPr/>
          <a:lstStyle/>
          <a:p>
            <a:endParaRPr lang="it-IT" dirty="0"/>
          </a:p>
        </p:txBody>
      </p:sp>
      <p:pic>
        <p:nvPicPr>
          <p:cNvPr id="30" name="Image 6" descr="FiAlertCircle"/>
          <p:cNvPicPr>
            <a:picLocks noChangeAspect="1"/>
          </p:cNvPicPr>
          <p:nvPr/>
        </p:nvPicPr>
        <p:blipFill>
          <a:blip r:embed="rId9"/>
          <a:stretch>
            <a:fillRect/>
          </a:stretch>
        </p:blipFill>
        <p:spPr>
          <a:xfrm>
            <a:off x="754380" y="3314700"/>
            <a:ext cx="228600" cy="228600"/>
          </a:xfrm>
          <a:prstGeom prst="rect">
            <a:avLst/>
          </a:prstGeom>
        </p:spPr>
      </p:pic>
      <p:sp>
        <p:nvSpPr>
          <p:cNvPr id="31" name="Text 21"/>
          <p:cNvSpPr txBox="1"/>
          <p:nvPr/>
        </p:nvSpPr>
        <p:spPr>
          <a:xfrm>
            <a:off x="1234440" y="320040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Dipende dalle informazioni</a:t>
            </a:r>
            <a:endParaRPr lang="it-IT" sz="1500" dirty="0"/>
          </a:p>
        </p:txBody>
      </p:sp>
      <p:sp>
        <p:nvSpPr>
          <p:cNvPr id="32" name="Text 22"/>
          <p:cNvSpPr txBox="1"/>
          <p:nvPr/>
        </p:nvSpPr>
        <p:spPr>
          <a:xfrm>
            <a:off x="640080" y="3794760"/>
            <a:ext cx="3611880" cy="621792"/>
          </a:xfrm>
          <a:prstGeom prst="rect">
            <a:avLst/>
          </a:prstGeom>
          <a:noFill/>
          <a:ln/>
        </p:spPr>
        <p:txBody>
          <a:bodyPr wrap="square" lIns="0" tIns="0" rIns="0" bIns="0" rtlCol="0" anchor="t"/>
          <a:lstStyle/>
          <a:p>
            <a:pPr marL="0" indent="0">
              <a:buNone/>
            </a:pPr>
            <a:r>
              <a:rPr lang="it-IT" sz="1200" dirty="0">
                <a:solidFill>
                  <a:schemeClr val="tx2"/>
                </a:solidFill>
              </a:rPr>
              <a:t>Senza vincoli reali (budget, persone, scadenze) il piano può essere elegante ma irrealistico.</a:t>
            </a:r>
            <a:endParaRPr lang="it-IT" sz="1200" dirty="0"/>
          </a:p>
        </p:txBody>
      </p:sp>
      <p:sp>
        <p:nvSpPr>
          <p:cNvPr id="33" name="scheda Oggettività apparente"/>
          <p:cNvSpPr/>
          <p:nvPr/>
        </p:nvSpPr>
        <p:spPr>
          <a:xfrm>
            <a:off x="4709160" y="3017520"/>
            <a:ext cx="3977640" cy="1508760"/>
          </a:xfrm>
          <a:prstGeom prst="roundRect">
            <a:avLst>
              <a:gd name="adj" fmla="val 4848"/>
            </a:avLst>
          </a:prstGeom>
          <a:solidFill>
            <a:schemeClr val="bg2"/>
          </a:solidFill>
          <a:ln/>
        </p:spPr>
        <p:txBody>
          <a:bodyPr/>
          <a:lstStyle/>
          <a:p>
            <a:endParaRPr lang="it-IT" dirty="0"/>
          </a:p>
        </p:txBody>
      </p:sp>
      <p:sp>
        <p:nvSpPr>
          <p:cNvPr id="34" name="cerchio FiEye"/>
          <p:cNvSpPr/>
          <p:nvPr/>
        </p:nvSpPr>
        <p:spPr>
          <a:xfrm>
            <a:off x="4892040" y="3200400"/>
            <a:ext cx="457200" cy="457200"/>
          </a:xfrm>
          <a:prstGeom prst="ellipse">
            <a:avLst/>
          </a:prstGeom>
          <a:solidFill>
            <a:schemeClr val="accent1"/>
          </a:solidFill>
          <a:ln/>
        </p:spPr>
        <p:txBody>
          <a:bodyPr/>
          <a:lstStyle/>
          <a:p>
            <a:endParaRPr lang="it-IT" dirty="0"/>
          </a:p>
        </p:txBody>
      </p:sp>
      <p:pic>
        <p:nvPicPr>
          <p:cNvPr id="35" name="Image 7" descr="FiEye"/>
          <p:cNvPicPr>
            <a:picLocks noChangeAspect="1"/>
          </p:cNvPicPr>
          <p:nvPr/>
        </p:nvPicPr>
        <p:blipFill>
          <a:blip r:embed="rId10"/>
          <a:stretch>
            <a:fillRect/>
          </a:stretch>
        </p:blipFill>
        <p:spPr>
          <a:xfrm>
            <a:off x="5006340" y="3314700"/>
            <a:ext cx="228600" cy="228600"/>
          </a:xfrm>
          <a:prstGeom prst="rect">
            <a:avLst/>
          </a:prstGeom>
        </p:spPr>
      </p:pic>
      <p:sp>
        <p:nvSpPr>
          <p:cNvPr id="36" name="Text 25"/>
          <p:cNvSpPr txBox="1"/>
          <p:nvPr/>
        </p:nvSpPr>
        <p:spPr>
          <a:xfrm>
            <a:off x="5486400" y="320040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Oggettività apparente</a:t>
            </a:r>
            <a:endParaRPr lang="it-IT" sz="1500" dirty="0"/>
          </a:p>
        </p:txBody>
      </p:sp>
      <p:sp>
        <p:nvSpPr>
          <p:cNvPr id="37" name="Text 26"/>
          <p:cNvSpPr txBox="1"/>
          <p:nvPr/>
        </p:nvSpPr>
        <p:spPr>
          <a:xfrm>
            <a:off x="4892040" y="3794760"/>
            <a:ext cx="3611880" cy="621792"/>
          </a:xfrm>
          <a:prstGeom prst="rect">
            <a:avLst/>
          </a:prstGeom>
          <a:noFill/>
          <a:ln/>
        </p:spPr>
        <p:txBody>
          <a:bodyPr wrap="square" lIns="0" tIns="0" rIns="0" bIns="0" rtlCol="0" anchor="t"/>
          <a:lstStyle/>
          <a:p>
            <a:pPr marL="0" indent="0">
              <a:buNone/>
            </a:pPr>
            <a:r>
              <a:rPr lang="it-IT" sz="1200" dirty="0">
                <a:solidFill>
                  <a:schemeClr val="tx2"/>
                </a:solidFill>
              </a:rPr>
              <a:t>Il confronto riflette i criteri dati o impliciti e la formulazione della domanda.</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15</a:t>
            </a:fld>
            <a:endParaRPr lang="it-IT"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Generazione di idee e supporto creativo</a:t>
            </a:r>
            <a:endParaRPr lang="it-IT" sz="2600" dirty="0"/>
          </a:p>
        </p:txBody>
      </p:sp>
      <p:sp>
        <p:nvSpPr>
          <p:cNvPr id="4" name="scheda Punti di forza"/>
          <p:cNvSpPr/>
          <p:nvPr/>
        </p:nvSpPr>
        <p:spPr>
          <a:xfrm>
            <a:off x="457200" y="1097280"/>
            <a:ext cx="3977640" cy="2194560"/>
          </a:xfrm>
          <a:prstGeom prst="roundRect">
            <a:avLst>
              <a:gd name="adj" fmla="val 3333"/>
            </a:avLst>
          </a:prstGeom>
          <a:solidFill>
            <a:schemeClr val="accent6"/>
          </a:solidFill>
          <a:ln/>
        </p:spPr>
        <p:txBody>
          <a:bodyPr/>
          <a:lstStyle/>
          <a:p>
            <a:endParaRPr lang="it-IT" dirty="0"/>
          </a:p>
        </p:txBody>
      </p:sp>
      <p:sp>
        <p:nvSpPr>
          <p:cNvPr id="5" name="cerchio FiZap"/>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Zap"/>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500" b="1" dirty="0">
                <a:solidFill>
                  <a:schemeClr val="tx1"/>
                </a:solidFill>
              </a:rPr>
              <a:t>Punti di forza</a:t>
            </a:r>
            <a:endParaRPr lang="it-IT" sz="1500" dirty="0"/>
          </a:p>
        </p:txBody>
      </p:sp>
      <p:sp>
        <p:nvSpPr>
          <p:cNvPr id="8" name="Text 4"/>
          <p:cNvSpPr txBox="1"/>
          <p:nvPr/>
        </p:nvSpPr>
        <p:spPr>
          <a:xfrm>
            <a:off x="640080" y="2231136"/>
            <a:ext cx="3611880" cy="950976"/>
          </a:xfrm>
          <a:prstGeom prst="rect">
            <a:avLst/>
          </a:prstGeom>
          <a:noFill/>
          <a:ln/>
        </p:spPr>
        <p:txBody>
          <a:bodyPr wrap="square" lIns="0" tIns="0" rIns="0" bIns="0" rtlCol="0" anchor="t"/>
          <a:lstStyle/>
          <a:p>
            <a:pPr marL="177800" indent="-177800">
              <a:spcAft>
                <a:spcPts val="200"/>
              </a:spcAft>
              <a:buSzPct val="100000"/>
              <a:buChar char="•"/>
            </a:pPr>
            <a:r>
              <a:rPr lang="it-IT" sz="1300" dirty="0">
                <a:solidFill>
                  <a:schemeClr val="tx2"/>
                </a:solidFill>
              </a:rPr>
              <a:t>Molte idee e varianti in pochi secondi</a:t>
            </a:r>
            <a:endParaRPr lang="it-IT" sz="1300" dirty="0"/>
          </a:p>
          <a:p>
            <a:pPr marL="177800" indent="-177800">
              <a:spcAft>
                <a:spcPts val="200"/>
              </a:spcAft>
              <a:buSzPct val="100000"/>
              <a:buChar char="•"/>
            </a:pPr>
            <a:r>
              <a:rPr lang="it-IT" sz="1300" dirty="0">
                <a:solidFill>
                  <a:schemeClr val="tx2"/>
                </a:solidFill>
              </a:rPr>
              <a:t>Combinazioni tra ambiti diversi</a:t>
            </a:r>
            <a:endParaRPr lang="it-IT" sz="1300" dirty="0"/>
          </a:p>
          <a:p>
            <a:pPr marL="177800" indent="-177800">
              <a:spcAft>
                <a:spcPts val="200"/>
              </a:spcAft>
              <a:buSzPct val="100000"/>
              <a:buChar char="•"/>
            </a:pPr>
            <a:r>
              <a:rPr lang="it-IT" sz="1300" dirty="0">
                <a:solidFill>
                  <a:schemeClr val="tx2"/>
                </a:solidFill>
              </a:rPr>
              <a:t>Superare la pagina bianca</a:t>
            </a:r>
            <a:endParaRPr lang="it-IT" sz="1300" dirty="0"/>
          </a:p>
          <a:p>
            <a:pPr marL="177800" indent="-177800">
              <a:spcAft>
                <a:spcPts val="200"/>
              </a:spcAft>
              <a:buSzPct val="100000"/>
              <a:buChar char="•"/>
            </a:pPr>
            <a:r>
              <a:rPr lang="it-IT" sz="1300" dirty="0">
                <a:solidFill>
                  <a:schemeClr val="tx2"/>
                </a:solidFill>
              </a:rPr>
              <a:t>Assumere punti di vista diversi</a:t>
            </a:r>
            <a:endParaRPr lang="it-IT" sz="1300" dirty="0"/>
          </a:p>
        </p:txBody>
      </p:sp>
      <p:sp>
        <p:nvSpPr>
          <p:cNvPr id="9" name="scheda Limiti"/>
          <p:cNvSpPr/>
          <p:nvPr/>
        </p:nvSpPr>
        <p:spPr>
          <a:xfrm>
            <a:off x="4709160" y="1097280"/>
            <a:ext cx="3977640" cy="2194560"/>
          </a:xfrm>
          <a:prstGeom prst="roundRect">
            <a:avLst>
              <a:gd name="adj" fmla="val 3333"/>
            </a:avLst>
          </a:prstGeom>
          <a:solidFill>
            <a:schemeClr val="bg2"/>
          </a:solidFill>
          <a:ln/>
        </p:spPr>
        <p:txBody>
          <a:bodyPr/>
          <a:lstStyle/>
          <a:p>
            <a:endParaRPr lang="it-IT" dirty="0"/>
          </a:p>
        </p:txBody>
      </p:sp>
      <p:sp>
        <p:nvSpPr>
          <p:cNvPr id="10" name="cerchio FiAlertCircle"/>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AlertCircle"/>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500" b="1" dirty="0">
                <a:solidFill>
                  <a:schemeClr val="tx1"/>
                </a:solidFill>
              </a:rPr>
              <a:t>Limiti</a:t>
            </a:r>
            <a:endParaRPr lang="it-IT" sz="1500" dirty="0"/>
          </a:p>
        </p:txBody>
      </p:sp>
      <p:sp>
        <p:nvSpPr>
          <p:cNvPr id="13" name="Text 8"/>
          <p:cNvSpPr txBox="1"/>
          <p:nvPr/>
        </p:nvSpPr>
        <p:spPr>
          <a:xfrm>
            <a:off x="4892040" y="2231136"/>
            <a:ext cx="3611880" cy="950976"/>
          </a:xfrm>
          <a:prstGeom prst="rect">
            <a:avLst/>
          </a:prstGeom>
          <a:noFill/>
          <a:ln/>
        </p:spPr>
        <p:txBody>
          <a:bodyPr wrap="square" lIns="0" tIns="0" rIns="0" bIns="0" rtlCol="0" anchor="t"/>
          <a:lstStyle/>
          <a:p>
            <a:pPr marL="177800" indent="-177800">
              <a:spcAft>
                <a:spcPts val="200"/>
              </a:spcAft>
              <a:buSzPct val="100000"/>
              <a:buChar char="•"/>
            </a:pPr>
            <a:r>
              <a:rPr lang="it-IT" sz="1300" dirty="0">
                <a:solidFill>
                  <a:schemeClr val="tx2"/>
                </a:solidFill>
              </a:rPr>
              <a:t>Tende a soluzioni plausibili e convenzionali</a:t>
            </a:r>
            <a:endParaRPr lang="it-IT" sz="1300" dirty="0"/>
          </a:p>
          <a:p>
            <a:pPr marL="177800" indent="-177800">
              <a:spcAft>
                <a:spcPts val="200"/>
              </a:spcAft>
              <a:buSzPct val="100000"/>
              <a:buChar char="•"/>
            </a:pPr>
            <a:r>
              <a:rPr lang="it-IT" sz="1300" dirty="0">
                <a:solidFill>
                  <a:schemeClr val="tx2"/>
                </a:solidFill>
              </a:rPr>
              <a:t>Non conosce vincoli e cultura dell'organizzazione</a:t>
            </a:r>
            <a:endParaRPr lang="it-IT" sz="1300" dirty="0"/>
          </a:p>
          <a:p>
            <a:pPr marL="177800" indent="-177800">
              <a:spcAft>
                <a:spcPts val="200"/>
              </a:spcAft>
              <a:buSzPct val="100000"/>
              <a:buChar char="•"/>
            </a:pPr>
            <a:r>
              <a:rPr lang="it-IT" sz="1300" dirty="0">
                <a:solidFill>
                  <a:schemeClr val="tx2"/>
                </a:solidFill>
              </a:rPr>
              <a:t>Può ridurre la varietà complessiva delle idee</a:t>
            </a:r>
            <a:endParaRPr lang="it-IT" sz="1300" dirty="0"/>
          </a:p>
        </p:txBody>
      </p:sp>
      <p:sp>
        <p:nvSpPr>
          <p:cNvPr id="14" name="studio creatività"/>
          <p:cNvSpPr/>
          <p:nvPr/>
        </p:nvSpPr>
        <p:spPr>
          <a:xfrm>
            <a:off x="457200" y="3474720"/>
            <a:ext cx="8229600" cy="1051560"/>
          </a:xfrm>
          <a:prstGeom prst="roundRect">
            <a:avLst>
              <a:gd name="adj" fmla="val 6957"/>
            </a:avLst>
          </a:prstGeom>
          <a:solidFill>
            <a:schemeClr val="tx1"/>
          </a:solidFill>
          <a:ln/>
        </p:spPr>
        <p:txBody>
          <a:bodyPr/>
          <a:lstStyle/>
          <a:p>
            <a:endParaRPr lang="it-IT" dirty="0"/>
          </a:p>
        </p:txBody>
      </p:sp>
      <p:sp>
        <p:nvSpPr>
          <p:cNvPr id="15" name="Text 10"/>
          <p:cNvSpPr txBox="1"/>
          <p:nvPr/>
        </p:nvSpPr>
        <p:spPr>
          <a:xfrm>
            <a:off x="640080" y="3566160"/>
            <a:ext cx="3657600" cy="256032"/>
          </a:xfrm>
          <a:prstGeom prst="rect">
            <a:avLst/>
          </a:prstGeom>
          <a:noFill/>
          <a:ln/>
        </p:spPr>
        <p:txBody>
          <a:bodyPr wrap="square" lIns="0" tIns="0" rIns="0" bIns="0" rtlCol="0" anchor="t"/>
          <a:lstStyle/>
          <a:p>
            <a:pPr marL="0" indent="0">
              <a:buNone/>
            </a:pPr>
            <a:r>
              <a:rPr lang="it-IT" sz="1000" b="1" kern="0" spc="200" dirty="0">
                <a:solidFill>
                  <a:schemeClr val="accent3"/>
                </a:solidFill>
              </a:rPr>
              <a:t>UN ESEMPIO DI EVIDENZA</a:t>
            </a:r>
            <a:endParaRPr lang="it-IT" sz="1000" dirty="0"/>
          </a:p>
        </p:txBody>
      </p:sp>
      <p:sp>
        <p:nvSpPr>
          <p:cNvPr id="16" name="Text 11"/>
          <p:cNvSpPr txBox="1"/>
          <p:nvPr/>
        </p:nvSpPr>
        <p:spPr>
          <a:xfrm>
            <a:off x="640080" y="3822192"/>
            <a:ext cx="7863840" cy="411480"/>
          </a:xfrm>
          <a:prstGeom prst="rect">
            <a:avLst/>
          </a:prstGeom>
          <a:noFill/>
          <a:ln/>
        </p:spPr>
        <p:txBody>
          <a:bodyPr wrap="square" lIns="0" tIns="0" rIns="0" bIns="0" rtlCol="0" anchor="t"/>
          <a:lstStyle/>
          <a:p>
            <a:pPr marL="0" indent="0">
              <a:buNone/>
            </a:pPr>
            <a:r>
              <a:rPr lang="it-IT" sz="1400" dirty="0">
                <a:solidFill>
                  <a:schemeClr val="bg1"/>
                </a:solidFill>
              </a:rPr>
              <a:t>Racconti scritti con idee generate dall'AI: giudicati più creativi singolarmente, ma più simili tra loro.</a:t>
            </a:r>
            <a:endParaRPr lang="it-IT" sz="1400" dirty="0"/>
          </a:p>
        </p:txBody>
      </p:sp>
      <p:sp>
        <p:nvSpPr>
          <p:cNvPr id="17" name="Text 12"/>
          <p:cNvSpPr txBox="1"/>
          <p:nvPr/>
        </p:nvSpPr>
        <p:spPr>
          <a:xfrm>
            <a:off x="640080" y="4233672"/>
            <a:ext cx="7315200" cy="228600"/>
          </a:xfrm>
          <a:prstGeom prst="rect">
            <a:avLst/>
          </a:prstGeom>
          <a:noFill/>
          <a:ln/>
        </p:spPr>
        <p:txBody>
          <a:bodyPr wrap="square" lIns="0" tIns="0" rIns="0" bIns="0" rtlCol="0" anchor="t"/>
          <a:lstStyle/>
          <a:p>
            <a:pPr marL="0" indent="0">
              <a:buNone/>
            </a:pPr>
            <a:r>
              <a:rPr lang="it-IT" sz="1000" dirty="0">
                <a:solidFill>
                  <a:schemeClr val="accent2"/>
                </a:solidFill>
              </a:rPr>
              <a:t>Fonte: Doshi e Hauser, Science </a:t>
            </a:r>
            <a:r>
              <a:rPr lang="it-IT" sz="1000" dirty="0" err="1">
                <a:solidFill>
                  <a:schemeClr val="accent2"/>
                </a:solidFill>
              </a:rPr>
              <a:t>Advances</a:t>
            </a:r>
            <a:r>
              <a:rPr lang="it-IT" sz="1000" dirty="0">
                <a:solidFill>
                  <a:schemeClr val="accent2"/>
                </a:solidFill>
              </a:rPr>
              <a:t>, 2024</a:t>
            </a:r>
            <a:endParaRPr lang="it-IT"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16</a:t>
            </a:fld>
            <a:endParaRPr lang="it-IT"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Limiti nelle situazioni nuove, ambigue o complesse</a:t>
            </a:r>
            <a:endParaRPr lang="it-IT" sz="2600" dirty="0"/>
          </a:p>
        </p:txBody>
      </p:sp>
      <p:sp>
        <p:nvSpPr>
          <p:cNvPr id="4" name="scheda Situazioni nuove"/>
          <p:cNvSpPr/>
          <p:nvPr/>
        </p:nvSpPr>
        <p:spPr>
          <a:xfrm>
            <a:off x="457200" y="1097280"/>
            <a:ext cx="2615184" cy="2743200"/>
          </a:xfrm>
          <a:prstGeom prst="roundRect">
            <a:avLst>
              <a:gd name="adj" fmla="val 2797"/>
            </a:avLst>
          </a:prstGeom>
          <a:solidFill>
            <a:schemeClr val="bg2"/>
          </a:solidFill>
          <a:ln/>
        </p:spPr>
        <p:txBody>
          <a:bodyPr/>
          <a:lstStyle/>
          <a:p>
            <a:endParaRPr lang="it-IT" dirty="0"/>
          </a:p>
        </p:txBody>
      </p:sp>
      <p:sp>
        <p:nvSpPr>
          <p:cNvPr id="5" name="cerchio FiCompass"/>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Compass"/>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marL="0" indent="0">
              <a:buNone/>
            </a:pPr>
            <a:r>
              <a:rPr lang="it-IT" sz="1500" b="1" dirty="0">
                <a:solidFill>
                  <a:schemeClr val="tx1"/>
                </a:solidFill>
              </a:rPr>
              <a:t>Situazioni nuove</a:t>
            </a:r>
            <a:endParaRPr lang="it-IT" sz="1500" dirty="0"/>
          </a:p>
        </p:txBody>
      </p:sp>
      <p:sp>
        <p:nvSpPr>
          <p:cNvPr id="8" name="Text 4"/>
          <p:cNvSpPr txBox="1"/>
          <p:nvPr/>
        </p:nvSpPr>
        <p:spPr>
          <a:xfrm>
            <a:off x="640080" y="2231136"/>
            <a:ext cx="2249424" cy="1499616"/>
          </a:xfrm>
          <a:prstGeom prst="rect">
            <a:avLst/>
          </a:prstGeom>
          <a:noFill/>
          <a:ln/>
        </p:spPr>
        <p:txBody>
          <a:bodyPr wrap="square" lIns="0" tIns="0" rIns="0" bIns="0" rtlCol="0" anchor="t"/>
          <a:lstStyle/>
          <a:p>
            <a:pPr marL="0" indent="0">
              <a:spcAft>
                <a:spcPts val="800"/>
              </a:spcAft>
              <a:buNone/>
            </a:pPr>
            <a:r>
              <a:rPr lang="it-IT" sz="1200" b="1" dirty="0">
                <a:solidFill>
                  <a:schemeClr val="tx1"/>
                </a:solidFill>
              </a:rPr>
              <a:t>Problemi lontani da quelli frequenti nei dati</a:t>
            </a:r>
            <a:endParaRPr lang="it-IT" sz="1200" dirty="0"/>
          </a:p>
          <a:p>
            <a:pPr marL="0" indent="0">
              <a:buNone/>
            </a:pPr>
            <a:r>
              <a:rPr lang="it-IT" sz="1200" dirty="0">
                <a:solidFill>
                  <a:schemeClr val="tx2"/>
                </a:solidFill>
              </a:rPr>
              <a:t>Esempio: Un indovinello noto, modificato: il sistema risponde alla versione originale</a:t>
            </a:r>
            <a:endParaRPr lang="it-IT" sz="1200" dirty="0"/>
          </a:p>
        </p:txBody>
      </p:sp>
      <p:sp>
        <p:nvSpPr>
          <p:cNvPr id="9" name="scheda Situazioni ambigue"/>
          <p:cNvSpPr/>
          <p:nvPr/>
        </p:nvSpPr>
        <p:spPr>
          <a:xfrm>
            <a:off x="3264408" y="1097280"/>
            <a:ext cx="2615184" cy="2743200"/>
          </a:xfrm>
          <a:prstGeom prst="roundRect">
            <a:avLst>
              <a:gd name="adj" fmla="val 2797"/>
            </a:avLst>
          </a:prstGeom>
          <a:solidFill>
            <a:schemeClr val="bg2"/>
          </a:solidFill>
          <a:ln/>
        </p:spPr>
        <p:txBody>
          <a:bodyPr/>
          <a:lstStyle/>
          <a:p>
            <a:endParaRPr lang="it-IT" dirty="0"/>
          </a:p>
        </p:txBody>
      </p:sp>
      <p:sp>
        <p:nvSpPr>
          <p:cNvPr id="10" name="cerchio FiHelpCircle"/>
          <p:cNvSpPr/>
          <p:nvPr/>
        </p:nvSpPr>
        <p:spPr>
          <a:xfrm>
            <a:off x="3447288" y="1280160"/>
            <a:ext cx="457200" cy="457200"/>
          </a:xfrm>
          <a:prstGeom prst="ellipse">
            <a:avLst/>
          </a:prstGeom>
          <a:solidFill>
            <a:schemeClr val="accent1"/>
          </a:solidFill>
          <a:ln/>
        </p:spPr>
        <p:txBody>
          <a:bodyPr/>
          <a:lstStyle/>
          <a:p>
            <a:endParaRPr lang="it-IT" dirty="0"/>
          </a:p>
        </p:txBody>
      </p:sp>
      <p:pic>
        <p:nvPicPr>
          <p:cNvPr id="11" name="Image 1" descr="FiHelpCircle"/>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marL="0" indent="0">
              <a:buNone/>
            </a:pPr>
            <a:r>
              <a:rPr lang="it-IT" sz="1500" b="1" dirty="0">
                <a:solidFill>
                  <a:schemeClr val="tx1"/>
                </a:solidFill>
              </a:rPr>
              <a:t>Situazioni ambigue</a:t>
            </a:r>
            <a:endParaRPr lang="it-IT" sz="1500" dirty="0"/>
          </a:p>
        </p:txBody>
      </p:sp>
      <p:sp>
        <p:nvSpPr>
          <p:cNvPr id="13" name="Text 8"/>
          <p:cNvSpPr txBox="1"/>
          <p:nvPr/>
        </p:nvSpPr>
        <p:spPr>
          <a:xfrm>
            <a:off x="3447288" y="2231136"/>
            <a:ext cx="2249424" cy="1499616"/>
          </a:xfrm>
          <a:prstGeom prst="rect">
            <a:avLst/>
          </a:prstGeom>
          <a:noFill/>
          <a:ln/>
        </p:spPr>
        <p:txBody>
          <a:bodyPr wrap="square" lIns="0" tIns="0" rIns="0" bIns="0" rtlCol="0" anchor="t"/>
          <a:lstStyle/>
          <a:p>
            <a:pPr marL="0" indent="0">
              <a:spcAft>
                <a:spcPts val="800"/>
              </a:spcAft>
              <a:buNone/>
            </a:pPr>
            <a:r>
              <a:rPr lang="it-IT" sz="1200" b="1" dirty="0">
                <a:solidFill>
                  <a:schemeClr val="tx1"/>
                </a:solidFill>
              </a:rPr>
              <a:t>Richieste interpretabili in più modi</a:t>
            </a:r>
            <a:endParaRPr lang="it-IT" sz="1200" dirty="0"/>
          </a:p>
          <a:p>
            <a:pPr marL="0" indent="0">
              <a:buNone/>
            </a:pPr>
            <a:r>
              <a:rPr lang="it-IT" sz="1200" dirty="0">
                <a:solidFill>
                  <a:schemeClr val="tx2"/>
                </a:solidFill>
              </a:rPr>
              <a:t>Esempio: Sceglie un'interpretazione senza segnalarlo</a:t>
            </a:r>
            <a:endParaRPr lang="it-IT" sz="1200" dirty="0"/>
          </a:p>
        </p:txBody>
      </p:sp>
      <p:sp>
        <p:nvSpPr>
          <p:cNvPr id="14" name="scheda Situazioni complesse"/>
          <p:cNvSpPr/>
          <p:nvPr/>
        </p:nvSpPr>
        <p:spPr>
          <a:xfrm>
            <a:off x="6071616" y="1097280"/>
            <a:ext cx="2615184" cy="2743200"/>
          </a:xfrm>
          <a:prstGeom prst="roundRect">
            <a:avLst>
              <a:gd name="adj" fmla="val 2797"/>
            </a:avLst>
          </a:prstGeom>
          <a:solidFill>
            <a:schemeClr val="bg2"/>
          </a:solidFill>
          <a:ln/>
        </p:spPr>
        <p:txBody>
          <a:bodyPr/>
          <a:lstStyle/>
          <a:p>
            <a:endParaRPr lang="it-IT" dirty="0"/>
          </a:p>
        </p:txBody>
      </p:sp>
      <p:sp>
        <p:nvSpPr>
          <p:cNvPr id="15" name="cerchio FiLayers"/>
          <p:cNvSpPr/>
          <p:nvPr/>
        </p:nvSpPr>
        <p:spPr>
          <a:xfrm>
            <a:off x="6254496" y="1280160"/>
            <a:ext cx="457200" cy="457200"/>
          </a:xfrm>
          <a:prstGeom prst="ellipse">
            <a:avLst/>
          </a:prstGeom>
          <a:solidFill>
            <a:schemeClr val="accent1"/>
          </a:solidFill>
          <a:ln/>
        </p:spPr>
        <p:txBody>
          <a:bodyPr/>
          <a:lstStyle/>
          <a:p>
            <a:endParaRPr lang="it-IT" dirty="0"/>
          </a:p>
        </p:txBody>
      </p:sp>
      <p:pic>
        <p:nvPicPr>
          <p:cNvPr id="16" name="Image 2" descr="FiLayers"/>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marL="0" indent="0">
              <a:buNone/>
            </a:pPr>
            <a:r>
              <a:rPr lang="it-IT" sz="1500" b="1" dirty="0">
                <a:solidFill>
                  <a:schemeClr val="tx1"/>
                </a:solidFill>
              </a:rPr>
              <a:t>Situazioni complesse</a:t>
            </a:r>
            <a:endParaRPr lang="it-IT" sz="1500" dirty="0"/>
          </a:p>
        </p:txBody>
      </p:sp>
      <p:sp>
        <p:nvSpPr>
          <p:cNvPr id="18" name="Text 12"/>
          <p:cNvSpPr txBox="1"/>
          <p:nvPr/>
        </p:nvSpPr>
        <p:spPr>
          <a:xfrm>
            <a:off x="6254496" y="2231136"/>
            <a:ext cx="2249424" cy="1499616"/>
          </a:xfrm>
          <a:prstGeom prst="rect">
            <a:avLst/>
          </a:prstGeom>
          <a:noFill/>
          <a:ln/>
        </p:spPr>
        <p:txBody>
          <a:bodyPr wrap="square" lIns="0" tIns="0" rIns="0" bIns="0" rtlCol="0" anchor="t"/>
          <a:lstStyle/>
          <a:p>
            <a:pPr marL="0" indent="0">
              <a:spcAft>
                <a:spcPts val="800"/>
              </a:spcAft>
              <a:buNone/>
            </a:pPr>
            <a:r>
              <a:rPr lang="it-IT" sz="1200" b="1" dirty="0">
                <a:solidFill>
                  <a:schemeClr val="tx1"/>
                </a:solidFill>
              </a:rPr>
              <a:t>Molti vincoli, passaggi lunghi, informazioni sparse</a:t>
            </a:r>
            <a:endParaRPr lang="it-IT" sz="1200" dirty="0"/>
          </a:p>
          <a:p>
            <a:pPr marL="0" indent="0">
              <a:buNone/>
            </a:pPr>
            <a:r>
              <a:rPr lang="it-IT" sz="1200" dirty="0">
                <a:solidFill>
                  <a:schemeClr val="tx2"/>
                </a:solidFill>
              </a:rPr>
              <a:t>Esempio: Errori intermedi e conclusioni incoerenti</a:t>
            </a:r>
            <a:endParaRPr lang="it-IT" sz="1200" dirty="0"/>
          </a:p>
        </p:txBody>
      </p:sp>
      <p:sp>
        <p:nvSpPr>
          <p:cNvPr id="19" name="messaggio"/>
          <p:cNvSpPr/>
          <p:nvPr/>
        </p:nvSpPr>
        <p:spPr>
          <a:xfrm>
            <a:off x="457200" y="3977640"/>
            <a:ext cx="8229600" cy="548640"/>
          </a:xfrm>
          <a:prstGeom prst="roundRect">
            <a:avLst>
              <a:gd name="adj" fmla="val 13333"/>
            </a:avLst>
          </a:prstGeom>
          <a:solidFill>
            <a:schemeClr val="tx1"/>
          </a:solidFill>
          <a:ln/>
        </p:spPr>
        <p:txBody>
          <a:bodyPr/>
          <a:lstStyle/>
          <a:p>
            <a:endParaRPr lang="it-IT" dirty="0"/>
          </a:p>
        </p:txBody>
      </p:sp>
      <p:sp>
        <p:nvSpPr>
          <p:cNvPr id="20" name="Text 14"/>
          <p:cNvSpPr txBox="1"/>
          <p:nvPr/>
        </p:nvSpPr>
        <p:spPr>
          <a:xfrm>
            <a:off x="640080" y="3977640"/>
            <a:ext cx="7863840" cy="548640"/>
          </a:xfrm>
          <a:prstGeom prst="rect">
            <a:avLst/>
          </a:prstGeom>
          <a:noFill/>
          <a:ln/>
        </p:spPr>
        <p:txBody>
          <a:bodyPr wrap="square" lIns="0" tIns="0" rIns="0" bIns="0" rtlCol="0" anchor="ctr"/>
          <a:lstStyle/>
          <a:p>
            <a:pPr marL="0" indent="0">
              <a:buNone/>
            </a:pPr>
            <a:r>
              <a:rPr lang="it-IT" sz="1400" dirty="0">
                <a:solidFill>
                  <a:schemeClr val="bg1"/>
                </a:solidFill>
              </a:rPr>
              <a:t>Quando il problema è insolito, ambiguo o articolato, la verifica deve essere più approfondita.</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17</a:t>
            </a:fld>
            <a:endParaRPr lang="it-IT"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dirty="0">
                <a:solidFill>
                  <a:schemeClr val="bg1"/>
                </a:solidFill>
              </a:rPr>
              <a:t>L'AI può supportare attività cognitive avanzate, ma non garantisce ragionamenti sempre corretti o coerenti.</a:t>
            </a:r>
            <a:endParaRPr lang="it-IT"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dirty="0">
                <a:solidFill>
                  <a:schemeClr val="accent3"/>
                </a:solidFill>
              </a:rPr>
              <a:t>Sottotema 3.2  ·  Ragionamento, </a:t>
            </a:r>
            <a:r>
              <a:rPr lang="it-IT" sz="1300" dirty="0" err="1">
                <a:solidFill>
                  <a:schemeClr val="accent3"/>
                </a:solidFill>
              </a:rPr>
              <a:t>problem</a:t>
            </a:r>
            <a:r>
              <a:rPr lang="it-IT" sz="1300" dirty="0">
                <a:solidFill>
                  <a:schemeClr val="accent3"/>
                </a:solidFill>
              </a:rPr>
              <a:t> solving e creatività</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18</a:t>
            </a:fld>
            <a:endParaRPr lang="it-IT"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3.3</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Allucinazioni e informazioni false</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La fluidità o la sicurezza del tono non dimostra che un'affermazione sia corretta o verificata</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19</a:t>
            </a:fld>
            <a:endParaRPr lang="it-IT"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Che cos'è un'allucinazione</a:t>
            </a:r>
            <a:endParaRPr lang="it-IT" sz="2600" dirty="0"/>
          </a:p>
        </p:txBody>
      </p:sp>
      <p:sp>
        <p:nvSpPr>
          <p:cNvPr id="4" name="scheda Inventate"/>
          <p:cNvSpPr/>
          <p:nvPr/>
        </p:nvSpPr>
        <p:spPr>
          <a:xfrm>
            <a:off x="457200" y="1097280"/>
            <a:ext cx="2615184" cy="2514600"/>
          </a:xfrm>
          <a:prstGeom prst="roundRect">
            <a:avLst>
              <a:gd name="adj" fmla="val 2909"/>
            </a:avLst>
          </a:prstGeom>
          <a:solidFill>
            <a:schemeClr val="bg2"/>
          </a:solidFill>
          <a:ln/>
        </p:spPr>
        <p:txBody>
          <a:bodyPr/>
          <a:lstStyle/>
          <a:p>
            <a:endParaRPr lang="it-IT" dirty="0"/>
          </a:p>
        </p:txBody>
      </p:sp>
      <p:sp>
        <p:nvSpPr>
          <p:cNvPr id="5" name="cerchio FiPlusCircle"/>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PlusCircl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marL="0" indent="0">
              <a:buNone/>
            </a:pPr>
            <a:r>
              <a:rPr lang="it-IT" sz="1600" b="1" dirty="0">
                <a:solidFill>
                  <a:schemeClr val="tx1"/>
                </a:solidFill>
              </a:rPr>
              <a:t>Inventate</a:t>
            </a:r>
            <a:endParaRPr lang="it-IT" sz="1600" dirty="0"/>
          </a:p>
        </p:txBody>
      </p:sp>
      <p:sp>
        <p:nvSpPr>
          <p:cNvPr id="8" name="Text 4"/>
          <p:cNvSpPr txBox="1"/>
          <p:nvPr/>
        </p:nvSpPr>
        <p:spPr>
          <a:xfrm>
            <a:off x="640080" y="2231136"/>
            <a:ext cx="2249424" cy="1271016"/>
          </a:xfrm>
          <a:prstGeom prst="rect">
            <a:avLst/>
          </a:prstGeom>
          <a:noFill/>
          <a:ln/>
        </p:spPr>
        <p:txBody>
          <a:bodyPr wrap="square" lIns="0" tIns="0" rIns="0" bIns="0" rtlCol="0" anchor="t"/>
          <a:lstStyle/>
          <a:p>
            <a:pPr marL="0" indent="0">
              <a:spcAft>
                <a:spcPts val="800"/>
              </a:spcAft>
              <a:buNone/>
            </a:pPr>
            <a:r>
              <a:rPr lang="it-IT" sz="1300" b="1" dirty="0">
                <a:solidFill>
                  <a:schemeClr val="tx1"/>
                </a:solidFill>
              </a:rPr>
              <a:t>Fatti, persone, dati o documenti che non esistono</a:t>
            </a:r>
            <a:endParaRPr lang="it-IT" sz="1300" dirty="0"/>
          </a:p>
          <a:p>
            <a:pPr marL="0" indent="0">
              <a:buNone/>
            </a:pPr>
            <a:r>
              <a:rPr lang="it-IT" sz="1300" dirty="0">
                <a:solidFill>
                  <a:schemeClr val="tx2"/>
                </a:solidFill>
              </a:rPr>
              <a:t>Esempio: Una sentenza mai pronunciata</a:t>
            </a:r>
            <a:endParaRPr lang="it-IT" sz="1300" dirty="0"/>
          </a:p>
        </p:txBody>
      </p:sp>
      <p:sp>
        <p:nvSpPr>
          <p:cNvPr id="9" name="scheda Inesatte"/>
          <p:cNvSpPr/>
          <p:nvPr/>
        </p:nvSpPr>
        <p:spPr>
          <a:xfrm>
            <a:off x="3264408" y="1097280"/>
            <a:ext cx="2615184" cy="2514600"/>
          </a:xfrm>
          <a:prstGeom prst="roundRect">
            <a:avLst>
              <a:gd name="adj" fmla="val 2909"/>
            </a:avLst>
          </a:prstGeom>
          <a:solidFill>
            <a:schemeClr val="bg2"/>
          </a:solidFill>
          <a:ln/>
        </p:spPr>
        <p:txBody>
          <a:bodyPr/>
          <a:lstStyle/>
          <a:p>
            <a:endParaRPr lang="it-IT" dirty="0"/>
          </a:p>
        </p:txBody>
      </p:sp>
      <p:sp>
        <p:nvSpPr>
          <p:cNvPr id="10" name="cerchio FiEdit"/>
          <p:cNvSpPr/>
          <p:nvPr/>
        </p:nvSpPr>
        <p:spPr>
          <a:xfrm>
            <a:off x="3447288" y="1280160"/>
            <a:ext cx="457200" cy="457200"/>
          </a:xfrm>
          <a:prstGeom prst="ellipse">
            <a:avLst/>
          </a:prstGeom>
          <a:solidFill>
            <a:schemeClr val="accent1"/>
          </a:solidFill>
          <a:ln/>
        </p:spPr>
        <p:txBody>
          <a:bodyPr/>
          <a:lstStyle/>
          <a:p>
            <a:endParaRPr lang="it-IT" dirty="0"/>
          </a:p>
        </p:txBody>
      </p:sp>
      <p:pic>
        <p:nvPicPr>
          <p:cNvPr id="11" name="Image 1" descr="FiEdit"/>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marL="0" indent="0">
              <a:buNone/>
            </a:pPr>
            <a:r>
              <a:rPr lang="it-IT" sz="1600" b="1" dirty="0">
                <a:solidFill>
                  <a:schemeClr val="tx1"/>
                </a:solidFill>
              </a:rPr>
              <a:t>Inesatte</a:t>
            </a:r>
            <a:endParaRPr lang="it-IT" sz="1600" dirty="0"/>
          </a:p>
        </p:txBody>
      </p:sp>
      <p:sp>
        <p:nvSpPr>
          <p:cNvPr id="13" name="Text 8"/>
          <p:cNvSpPr txBox="1"/>
          <p:nvPr/>
        </p:nvSpPr>
        <p:spPr>
          <a:xfrm>
            <a:off x="3447288" y="2231136"/>
            <a:ext cx="2249424" cy="1271016"/>
          </a:xfrm>
          <a:prstGeom prst="rect">
            <a:avLst/>
          </a:prstGeom>
          <a:noFill/>
          <a:ln/>
        </p:spPr>
        <p:txBody>
          <a:bodyPr wrap="square" lIns="0" tIns="0" rIns="0" bIns="0" rtlCol="0" anchor="t"/>
          <a:lstStyle/>
          <a:p>
            <a:pPr marL="0" indent="0">
              <a:spcAft>
                <a:spcPts val="800"/>
              </a:spcAft>
              <a:buNone/>
            </a:pPr>
            <a:r>
              <a:rPr lang="it-IT" sz="1300" b="1" dirty="0">
                <a:solidFill>
                  <a:schemeClr val="tx1"/>
                </a:solidFill>
              </a:rPr>
              <a:t>Elementi reali riportati in modo sbagliato</a:t>
            </a:r>
            <a:endParaRPr lang="it-IT" sz="1300" dirty="0"/>
          </a:p>
          <a:p>
            <a:pPr marL="0" indent="0">
              <a:buNone/>
            </a:pPr>
            <a:r>
              <a:rPr lang="it-IT" sz="1300" dirty="0">
                <a:solidFill>
                  <a:schemeClr val="tx2"/>
                </a:solidFill>
              </a:rPr>
              <a:t>Esempio: Una data spostata, un numero errato, l'articolo sbagliato</a:t>
            </a:r>
            <a:endParaRPr lang="it-IT" sz="1300" dirty="0"/>
          </a:p>
        </p:txBody>
      </p:sp>
      <p:sp>
        <p:nvSpPr>
          <p:cNvPr id="14" name="scheda Prive di fondamento"/>
          <p:cNvSpPr/>
          <p:nvPr/>
        </p:nvSpPr>
        <p:spPr>
          <a:xfrm>
            <a:off x="6071616" y="1097280"/>
            <a:ext cx="2615184" cy="2514600"/>
          </a:xfrm>
          <a:prstGeom prst="roundRect">
            <a:avLst>
              <a:gd name="adj" fmla="val 2909"/>
            </a:avLst>
          </a:prstGeom>
          <a:solidFill>
            <a:schemeClr val="accent6"/>
          </a:solidFill>
          <a:ln/>
        </p:spPr>
        <p:txBody>
          <a:bodyPr/>
          <a:lstStyle/>
          <a:p>
            <a:endParaRPr lang="it-IT" dirty="0"/>
          </a:p>
        </p:txBody>
      </p:sp>
      <p:sp>
        <p:nvSpPr>
          <p:cNvPr id="15" name="cerchio FiLink2"/>
          <p:cNvSpPr/>
          <p:nvPr/>
        </p:nvSpPr>
        <p:spPr>
          <a:xfrm>
            <a:off x="6254496" y="1280160"/>
            <a:ext cx="457200" cy="457200"/>
          </a:xfrm>
          <a:prstGeom prst="ellipse">
            <a:avLst/>
          </a:prstGeom>
          <a:solidFill>
            <a:schemeClr val="accent1"/>
          </a:solidFill>
          <a:ln/>
        </p:spPr>
        <p:txBody>
          <a:bodyPr/>
          <a:lstStyle/>
          <a:p>
            <a:endParaRPr lang="it-IT" dirty="0"/>
          </a:p>
        </p:txBody>
      </p:sp>
      <p:pic>
        <p:nvPicPr>
          <p:cNvPr id="16" name="Image 2" descr="FiLink2"/>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marL="0" indent="0">
              <a:buNone/>
            </a:pPr>
            <a:r>
              <a:rPr lang="it-IT" sz="1600" b="1" dirty="0">
                <a:solidFill>
                  <a:schemeClr val="tx1"/>
                </a:solidFill>
              </a:rPr>
              <a:t>Prive di fondamento</a:t>
            </a:r>
            <a:endParaRPr lang="it-IT" sz="1600" dirty="0"/>
          </a:p>
        </p:txBody>
      </p:sp>
      <p:sp>
        <p:nvSpPr>
          <p:cNvPr id="18" name="Text 12"/>
          <p:cNvSpPr txBox="1"/>
          <p:nvPr/>
        </p:nvSpPr>
        <p:spPr>
          <a:xfrm>
            <a:off x="6254496" y="2231136"/>
            <a:ext cx="2249424" cy="1271016"/>
          </a:xfrm>
          <a:prstGeom prst="rect">
            <a:avLst/>
          </a:prstGeom>
          <a:noFill/>
          <a:ln/>
        </p:spPr>
        <p:txBody>
          <a:bodyPr wrap="square" lIns="0" tIns="0" rIns="0" bIns="0" rtlCol="0" anchor="t"/>
          <a:lstStyle/>
          <a:p>
            <a:pPr marL="0" indent="0">
              <a:spcAft>
                <a:spcPts val="800"/>
              </a:spcAft>
              <a:buNone/>
            </a:pPr>
            <a:r>
              <a:rPr lang="it-IT" sz="1300" b="1" dirty="0">
                <a:solidFill>
                  <a:schemeClr val="tx1"/>
                </a:solidFill>
              </a:rPr>
              <a:t>Affermazioni non supportate dalle fonti disponibili</a:t>
            </a:r>
            <a:endParaRPr lang="it-IT" sz="1300" dirty="0"/>
          </a:p>
          <a:p>
            <a:pPr marL="0" indent="0">
              <a:buNone/>
            </a:pPr>
            <a:r>
              <a:rPr lang="it-IT" sz="1300" dirty="0">
                <a:solidFill>
                  <a:schemeClr val="tx2"/>
                </a:solidFill>
              </a:rPr>
              <a:t>Esempio: Un riassunto che aggiunge ciò che il documento non dice</a:t>
            </a:r>
            <a:endParaRPr lang="it-IT" sz="1300" dirty="0"/>
          </a:p>
        </p:txBody>
      </p:sp>
      <p:sp>
        <p:nvSpPr>
          <p:cNvPr id="19" name="messaggio"/>
          <p:cNvSpPr/>
          <p:nvPr/>
        </p:nvSpPr>
        <p:spPr>
          <a:xfrm>
            <a:off x="457200" y="3794760"/>
            <a:ext cx="8229600" cy="731520"/>
          </a:xfrm>
          <a:prstGeom prst="roundRect">
            <a:avLst>
              <a:gd name="adj" fmla="val 10000"/>
            </a:avLst>
          </a:prstGeom>
          <a:solidFill>
            <a:schemeClr val="tx1"/>
          </a:solidFill>
          <a:ln/>
        </p:spPr>
        <p:txBody>
          <a:bodyPr/>
          <a:lstStyle/>
          <a:p>
            <a:endParaRPr lang="it-IT" dirty="0"/>
          </a:p>
        </p:txBody>
      </p:sp>
      <p:sp>
        <p:nvSpPr>
          <p:cNvPr id="20" name="Text 14"/>
          <p:cNvSpPr txBox="1"/>
          <p:nvPr/>
        </p:nvSpPr>
        <p:spPr>
          <a:xfrm>
            <a:off x="640080" y="3794760"/>
            <a:ext cx="7863840" cy="731520"/>
          </a:xfrm>
          <a:prstGeom prst="rect">
            <a:avLst/>
          </a:prstGeom>
          <a:noFill/>
          <a:ln/>
        </p:spPr>
        <p:txBody>
          <a:bodyPr wrap="square" lIns="0" tIns="0" rIns="0" bIns="0" rtlCol="0" anchor="ctr"/>
          <a:lstStyle/>
          <a:p>
            <a:pPr marL="0" indent="0">
              <a:buNone/>
            </a:pPr>
            <a:r>
              <a:rPr lang="it-IT" sz="1400" dirty="0">
                <a:solidFill>
                  <a:schemeClr val="bg1"/>
                </a:solidFill>
              </a:rPr>
              <a:t>Contenuti presentati come veri, nella stessa forma delle risposte corrette.</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20</a:t>
            </a:fld>
            <a:endParaRPr lang="it-IT"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Citazioni, riferimenti e fonti inesistenti</a:t>
            </a:r>
            <a:endParaRPr lang="it-IT" sz="2600" dirty="0"/>
          </a:p>
        </p:txBody>
      </p:sp>
      <p:sp>
        <p:nvSpPr>
          <p:cNvPr id="4" name="caso Avianca"/>
          <p:cNvSpPr/>
          <p:nvPr/>
        </p:nvSpPr>
        <p:spPr>
          <a:xfrm>
            <a:off x="457200" y="1097280"/>
            <a:ext cx="4206240" cy="3429000"/>
          </a:xfrm>
          <a:prstGeom prst="roundRect">
            <a:avLst>
              <a:gd name="adj" fmla="val 2133"/>
            </a:avLst>
          </a:prstGeom>
          <a:solidFill>
            <a:schemeClr val="tx1"/>
          </a:solidFill>
          <a:ln/>
        </p:spPr>
        <p:txBody>
          <a:bodyPr/>
          <a:lstStyle/>
          <a:p>
            <a:endParaRPr lang="it-IT" dirty="0"/>
          </a:p>
        </p:txBody>
      </p:sp>
      <p:sp>
        <p:nvSpPr>
          <p:cNvPr id="5" name="Text 2"/>
          <p:cNvSpPr txBox="1"/>
          <p:nvPr/>
        </p:nvSpPr>
        <p:spPr>
          <a:xfrm>
            <a:off x="685800" y="1261872"/>
            <a:ext cx="3749040" cy="274320"/>
          </a:xfrm>
          <a:prstGeom prst="rect">
            <a:avLst/>
          </a:prstGeom>
          <a:noFill/>
          <a:ln/>
        </p:spPr>
        <p:txBody>
          <a:bodyPr wrap="square" lIns="0" tIns="0" rIns="0" bIns="0" rtlCol="0" anchor="t"/>
          <a:lstStyle/>
          <a:p>
            <a:pPr marL="0" indent="0">
              <a:buNone/>
            </a:pPr>
            <a:r>
              <a:rPr lang="it-IT" sz="1100" b="1" kern="0" spc="200" dirty="0">
                <a:solidFill>
                  <a:schemeClr val="accent1"/>
                </a:solidFill>
              </a:rPr>
              <a:t>UN CASO REALE</a:t>
            </a:r>
            <a:endParaRPr lang="it-IT" sz="1100" dirty="0"/>
          </a:p>
        </p:txBody>
      </p:sp>
      <p:sp>
        <p:nvSpPr>
          <p:cNvPr id="6" name="Text 3"/>
          <p:cNvSpPr txBox="1"/>
          <p:nvPr/>
        </p:nvSpPr>
        <p:spPr>
          <a:xfrm>
            <a:off x="685800" y="1554480"/>
            <a:ext cx="3749040" cy="365760"/>
          </a:xfrm>
          <a:prstGeom prst="rect">
            <a:avLst/>
          </a:prstGeom>
          <a:noFill/>
          <a:ln/>
        </p:spPr>
        <p:txBody>
          <a:bodyPr wrap="square" lIns="0" tIns="0" rIns="0" bIns="0" rtlCol="0" anchor="t"/>
          <a:lstStyle/>
          <a:p>
            <a:pPr marL="0" indent="0">
              <a:buNone/>
            </a:pPr>
            <a:r>
              <a:rPr lang="it-IT" sz="1700" b="1" dirty="0">
                <a:solidFill>
                  <a:schemeClr val="bg1"/>
                </a:solidFill>
              </a:rPr>
              <a:t>Mata contro Avianca, New York, 2023</a:t>
            </a:r>
            <a:endParaRPr lang="it-IT" sz="1700" dirty="0"/>
          </a:p>
        </p:txBody>
      </p:sp>
      <p:sp>
        <p:nvSpPr>
          <p:cNvPr id="7" name="Text 4"/>
          <p:cNvSpPr txBox="1"/>
          <p:nvPr/>
        </p:nvSpPr>
        <p:spPr>
          <a:xfrm>
            <a:off x="685800" y="2011680"/>
            <a:ext cx="3749040" cy="2011680"/>
          </a:xfrm>
          <a:prstGeom prst="rect">
            <a:avLst/>
          </a:prstGeom>
          <a:noFill/>
          <a:ln/>
        </p:spPr>
        <p:txBody>
          <a:bodyPr wrap="square" lIns="0" tIns="0" rIns="0" bIns="0" rtlCol="0" anchor="t"/>
          <a:lstStyle/>
          <a:p>
            <a:pPr marL="177800" indent="-177800">
              <a:spcAft>
                <a:spcPts val="500"/>
              </a:spcAft>
              <a:buSzPct val="100000"/>
              <a:buChar char="•"/>
            </a:pPr>
            <a:r>
              <a:rPr lang="it-IT" sz="1300" dirty="0">
                <a:solidFill>
                  <a:schemeClr val="accent3"/>
                </a:solidFill>
              </a:rPr>
              <a:t>Una memoria legale cita precedenti generati da ChatGPT</a:t>
            </a:r>
            <a:endParaRPr lang="it-IT" sz="1300" dirty="0"/>
          </a:p>
          <a:p>
            <a:pPr marL="177800" indent="-177800">
              <a:spcAft>
                <a:spcPts val="500"/>
              </a:spcAft>
              <a:buSzPct val="100000"/>
              <a:buChar char="•"/>
            </a:pPr>
            <a:r>
              <a:rPr lang="it-IT" sz="1300" dirty="0">
                <a:solidFill>
                  <a:schemeClr val="accent3"/>
                </a:solidFill>
              </a:rPr>
              <a:t>Nomi, numeri e citazioni formalmente perfetti, ma inesistenti</a:t>
            </a:r>
            <a:endParaRPr lang="it-IT" sz="1300" dirty="0"/>
          </a:p>
          <a:p>
            <a:pPr marL="177800" indent="-177800">
              <a:spcAft>
                <a:spcPts val="500"/>
              </a:spcAft>
              <a:buSzPct val="100000"/>
              <a:buChar char="•"/>
            </a:pPr>
            <a:r>
              <a:rPr lang="it-IT" sz="1300" dirty="0">
                <a:solidFill>
                  <a:schemeClr val="accent3"/>
                </a:solidFill>
              </a:rPr>
              <a:t>Il sistema aveva "confermato" che i casi erano reali</a:t>
            </a:r>
            <a:endParaRPr lang="it-IT" sz="1300" dirty="0"/>
          </a:p>
          <a:p>
            <a:pPr marL="177800" indent="-177800">
              <a:spcAft>
                <a:spcPts val="500"/>
              </a:spcAft>
              <a:buSzPct val="100000"/>
              <a:buChar char="•"/>
            </a:pPr>
            <a:r>
              <a:rPr lang="it-IT" sz="1300" dirty="0">
                <a:solidFill>
                  <a:schemeClr val="accent3"/>
                </a:solidFill>
              </a:rPr>
              <a:t>Il giudice sanziona avvocati e studio</a:t>
            </a:r>
            <a:endParaRPr lang="it-IT" sz="1300" dirty="0"/>
          </a:p>
        </p:txBody>
      </p:sp>
      <p:sp>
        <p:nvSpPr>
          <p:cNvPr id="8" name="Text 5"/>
          <p:cNvSpPr txBox="1"/>
          <p:nvPr/>
        </p:nvSpPr>
        <p:spPr>
          <a:xfrm>
            <a:off x="685800" y="4160520"/>
            <a:ext cx="3840480" cy="274320"/>
          </a:xfrm>
          <a:prstGeom prst="rect">
            <a:avLst/>
          </a:prstGeom>
          <a:noFill/>
          <a:ln/>
        </p:spPr>
        <p:txBody>
          <a:bodyPr wrap="square" lIns="0" tIns="0" rIns="0" bIns="0" rtlCol="0" anchor="t"/>
          <a:lstStyle/>
          <a:p>
            <a:pPr marL="0" indent="0">
              <a:buNone/>
            </a:pPr>
            <a:r>
              <a:rPr lang="it-IT" sz="1000" dirty="0">
                <a:solidFill>
                  <a:schemeClr val="accent2"/>
                </a:solidFill>
              </a:rPr>
              <a:t>Fonte: Tribunale distrettuale degli Stati Uniti, S.D.N.Y., giugno 2023</a:t>
            </a:r>
            <a:endParaRPr lang="it-IT" sz="1000" dirty="0"/>
          </a:p>
        </p:txBody>
      </p:sp>
      <p:sp>
        <p:nvSpPr>
          <p:cNvPr id="9" name="Text 6"/>
          <p:cNvSpPr txBox="1"/>
          <p:nvPr/>
        </p:nvSpPr>
        <p:spPr>
          <a:xfrm>
            <a:off x="4937760" y="1097280"/>
            <a:ext cx="3749040" cy="320040"/>
          </a:xfrm>
          <a:prstGeom prst="rect">
            <a:avLst/>
          </a:prstGeom>
          <a:noFill/>
          <a:ln/>
        </p:spPr>
        <p:txBody>
          <a:bodyPr wrap="square" lIns="0" tIns="0" rIns="0" bIns="0" rtlCol="0" anchor="t"/>
          <a:lstStyle/>
          <a:p>
            <a:pPr marL="0" indent="0">
              <a:buNone/>
            </a:pPr>
            <a:r>
              <a:rPr lang="it-IT" sz="1500" b="1" dirty="0">
                <a:solidFill>
                  <a:schemeClr val="tx1"/>
                </a:solidFill>
              </a:rPr>
              <a:t>Forme frequenti</a:t>
            </a:r>
            <a:endParaRPr lang="it-IT" sz="1500" dirty="0"/>
          </a:p>
        </p:txBody>
      </p:sp>
      <p:sp>
        <p:nvSpPr>
          <p:cNvPr id="10" name="cerchio FiBook"/>
          <p:cNvSpPr/>
          <p:nvPr/>
        </p:nvSpPr>
        <p:spPr>
          <a:xfrm>
            <a:off x="4937760" y="1554480"/>
            <a:ext cx="438912" cy="438912"/>
          </a:xfrm>
          <a:prstGeom prst="ellipse">
            <a:avLst/>
          </a:prstGeom>
          <a:solidFill>
            <a:schemeClr val="accent1"/>
          </a:solidFill>
          <a:ln/>
        </p:spPr>
        <p:txBody>
          <a:bodyPr/>
          <a:lstStyle/>
          <a:p>
            <a:endParaRPr lang="it-IT" dirty="0"/>
          </a:p>
        </p:txBody>
      </p:sp>
      <p:pic>
        <p:nvPicPr>
          <p:cNvPr id="11" name="Image 0" descr="FiBook"/>
          <p:cNvPicPr>
            <a:picLocks noChangeAspect="1"/>
          </p:cNvPicPr>
          <p:nvPr/>
        </p:nvPicPr>
        <p:blipFill>
          <a:blip r:embed="rId3"/>
          <a:stretch>
            <a:fillRect/>
          </a:stretch>
        </p:blipFill>
        <p:spPr>
          <a:xfrm>
            <a:off x="5047488" y="1664208"/>
            <a:ext cx="219456" cy="219456"/>
          </a:xfrm>
          <a:prstGeom prst="rect">
            <a:avLst/>
          </a:prstGeom>
        </p:spPr>
      </p:pic>
      <p:sp>
        <p:nvSpPr>
          <p:cNvPr id="12" name="Text 8"/>
          <p:cNvSpPr txBox="1"/>
          <p:nvPr/>
        </p:nvSpPr>
        <p:spPr>
          <a:xfrm>
            <a:off x="5532120" y="1554480"/>
            <a:ext cx="3154680" cy="438912"/>
          </a:xfrm>
          <a:prstGeom prst="rect">
            <a:avLst/>
          </a:prstGeom>
          <a:noFill/>
          <a:ln/>
        </p:spPr>
        <p:txBody>
          <a:bodyPr wrap="square" lIns="0" tIns="0" rIns="0" bIns="0" rtlCol="0" anchor="ctr"/>
          <a:lstStyle/>
          <a:p>
            <a:pPr marL="0" indent="0">
              <a:buNone/>
            </a:pPr>
            <a:r>
              <a:rPr lang="it-IT" sz="1300" dirty="0">
                <a:solidFill>
                  <a:schemeClr val="tx1"/>
                </a:solidFill>
              </a:rPr>
              <a:t>Riferimenti bibliografici verosimili ma inesistenti</a:t>
            </a:r>
            <a:endParaRPr lang="it-IT" sz="1300" dirty="0"/>
          </a:p>
        </p:txBody>
      </p:sp>
      <p:sp>
        <p:nvSpPr>
          <p:cNvPr id="13" name="cerchio FiLink"/>
          <p:cNvSpPr/>
          <p:nvPr/>
        </p:nvSpPr>
        <p:spPr>
          <a:xfrm>
            <a:off x="4937760" y="2176272"/>
            <a:ext cx="438912" cy="438912"/>
          </a:xfrm>
          <a:prstGeom prst="ellipse">
            <a:avLst/>
          </a:prstGeom>
          <a:solidFill>
            <a:schemeClr val="accent1"/>
          </a:solidFill>
          <a:ln/>
        </p:spPr>
        <p:txBody>
          <a:bodyPr/>
          <a:lstStyle/>
          <a:p>
            <a:endParaRPr lang="it-IT" dirty="0"/>
          </a:p>
        </p:txBody>
      </p:sp>
      <p:pic>
        <p:nvPicPr>
          <p:cNvPr id="14" name="Image 1" descr="FiLink"/>
          <p:cNvPicPr>
            <a:picLocks noChangeAspect="1"/>
          </p:cNvPicPr>
          <p:nvPr/>
        </p:nvPicPr>
        <p:blipFill>
          <a:blip r:embed="rId4"/>
          <a:stretch>
            <a:fillRect/>
          </a:stretch>
        </p:blipFill>
        <p:spPr>
          <a:xfrm>
            <a:off x="5047488" y="2286000"/>
            <a:ext cx="219456" cy="219456"/>
          </a:xfrm>
          <a:prstGeom prst="rect">
            <a:avLst/>
          </a:prstGeom>
        </p:spPr>
      </p:pic>
      <p:sp>
        <p:nvSpPr>
          <p:cNvPr id="15" name="Text 10"/>
          <p:cNvSpPr txBox="1"/>
          <p:nvPr/>
        </p:nvSpPr>
        <p:spPr>
          <a:xfrm>
            <a:off x="5532120" y="2176272"/>
            <a:ext cx="3154680" cy="438912"/>
          </a:xfrm>
          <a:prstGeom prst="rect">
            <a:avLst/>
          </a:prstGeom>
          <a:noFill/>
          <a:ln/>
        </p:spPr>
        <p:txBody>
          <a:bodyPr wrap="square" lIns="0" tIns="0" rIns="0" bIns="0" rtlCol="0" anchor="ctr"/>
          <a:lstStyle/>
          <a:p>
            <a:pPr marL="0" indent="0">
              <a:buNone/>
            </a:pPr>
            <a:r>
              <a:rPr lang="it-IT" sz="1300" dirty="0">
                <a:solidFill>
                  <a:schemeClr val="tx1"/>
                </a:solidFill>
              </a:rPr>
              <a:t>Link a pagine che non esistono</a:t>
            </a:r>
            <a:endParaRPr lang="it-IT" sz="1300" dirty="0"/>
          </a:p>
        </p:txBody>
      </p:sp>
      <p:sp>
        <p:nvSpPr>
          <p:cNvPr id="16" name="cerchio FiMessageCircle"/>
          <p:cNvSpPr/>
          <p:nvPr/>
        </p:nvSpPr>
        <p:spPr>
          <a:xfrm>
            <a:off x="4937760" y="2798064"/>
            <a:ext cx="438912" cy="438912"/>
          </a:xfrm>
          <a:prstGeom prst="ellipse">
            <a:avLst/>
          </a:prstGeom>
          <a:solidFill>
            <a:schemeClr val="accent1"/>
          </a:solidFill>
          <a:ln/>
        </p:spPr>
        <p:txBody>
          <a:bodyPr/>
          <a:lstStyle/>
          <a:p>
            <a:endParaRPr lang="it-IT" dirty="0"/>
          </a:p>
        </p:txBody>
      </p:sp>
      <p:pic>
        <p:nvPicPr>
          <p:cNvPr id="17" name="Image 2" descr="FiMessageCircle"/>
          <p:cNvPicPr>
            <a:picLocks noChangeAspect="1"/>
          </p:cNvPicPr>
          <p:nvPr/>
        </p:nvPicPr>
        <p:blipFill>
          <a:blip r:embed="rId5"/>
          <a:stretch>
            <a:fillRect/>
          </a:stretch>
        </p:blipFill>
        <p:spPr>
          <a:xfrm>
            <a:off x="5047488" y="2907792"/>
            <a:ext cx="219456" cy="219456"/>
          </a:xfrm>
          <a:prstGeom prst="rect">
            <a:avLst/>
          </a:prstGeom>
        </p:spPr>
      </p:pic>
      <p:sp>
        <p:nvSpPr>
          <p:cNvPr id="18" name="Text 12"/>
          <p:cNvSpPr txBox="1"/>
          <p:nvPr/>
        </p:nvSpPr>
        <p:spPr>
          <a:xfrm>
            <a:off x="5532120" y="2798064"/>
            <a:ext cx="3154680" cy="438912"/>
          </a:xfrm>
          <a:prstGeom prst="rect">
            <a:avLst/>
          </a:prstGeom>
          <a:noFill/>
          <a:ln/>
        </p:spPr>
        <p:txBody>
          <a:bodyPr wrap="square" lIns="0" tIns="0" rIns="0" bIns="0" rtlCol="0" anchor="ctr"/>
          <a:lstStyle/>
          <a:p>
            <a:pPr marL="0" indent="0">
              <a:buNone/>
            </a:pPr>
            <a:r>
              <a:rPr lang="it-IT" sz="1300" dirty="0">
                <a:solidFill>
                  <a:schemeClr val="tx1"/>
                </a:solidFill>
              </a:rPr>
              <a:t>Citazioni attribuite a persone reali</a:t>
            </a:r>
            <a:endParaRPr lang="it-IT" sz="1300" dirty="0"/>
          </a:p>
        </p:txBody>
      </p:sp>
      <p:sp>
        <p:nvSpPr>
          <p:cNvPr id="19" name="cerchio FiFileText"/>
          <p:cNvSpPr/>
          <p:nvPr/>
        </p:nvSpPr>
        <p:spPr>
          <a:xfrm>
            <a:off x="4937760" y="3419856"/>
            <a:ext cx="438912" cy="438912"/>
          </a:xfrm>
          <a:prstGeom prst="ellipse">
            <a:avLst/>
          </a:prstGeom>
          <a:solidFill>
            <a:schemeClr val="accent1"/>
          </a:solidFill>
          <a:ln/>
        </p:spPr>
        <p:txBody>
          <a:bodyPr/>
          <a:lstStyle/>
          <a:p>
            <a:endParaRPr lang="it-IT" dirty="0"/>
          </a:p>
        </p:txBody>
      </p:sp>
      <p:pic>
        <p:nvPicPr>
          <p:cNvPr id="20" name="Image 3" descr="FiFileText"/>
          <p:cNvPicPr>
            <a:picLocks noChangeAspect="1"/>
          </p:cNvPicPr>
          <p:nvPr/>
        </p:nvPicPr>
        <p:blipFill>
          <a:blip r:embed="rId6"/>
          <a:stretch>
            <a:fillRect/>
          </a:stretch>
        </p:blipFill>
        <p:spPr>
          <a:xfrm>
            <a:off x="5047488" y="3529584"/>
            <a:ext cx="219456" cy="219456"/>
          </a:xfrm>
          <a:prstGeom prst="rect">
            <a:avLst/>
          </a:prstGeom>
        </p:spPr>
      </p:pic>
      <p:sp>
        <p:nvSpPr>
          <p:cNvPr id="21" name="Text 14"/>
          <p:cNvSpPr txBox="1"/>
          <p:nvPr/>
        </p:nvSpPr>
        <p:spPr>
          <a:xfrm>
            <a:off x="5532120" y="3419856"/>
            <a:ext cx="3154680" cy="438912"/>
          </a:xfrm>
          <a:prstGeom prst="rect">
            <a:avLst/>
          </a:prstGeom>
          <a:noFill/>
          <a:ln/>
        </p:spPr>
        <p:txBody>
          <a:bodyPr wrap="square" lIns="0" tIns="0" rIns="0" bIns="0" rtlCol="0" anchor="ctr"/>
          <a:lstStyle/>
          <a:p>
            <a:pPr marL="0" indent="0">
              <a:buNone/>
            </a:pPr>
            <a:r>
              <a:rPr lang="it-IT" sz="1300" dirty="0">
                <a:solidFill>
                  <a:schemeClr val="tx1"/>
                </a:solidFill>
              </a:rPr>
              <a:t>Norme o sentenze inventate</a:t>
            </a:r>
            <a:endParaRPr lang="it-IT" sz="1300" dirty="0"/>
          </a:p>
        </p:txBody>
      </p:sp>
      <p:sp>
        <p:nvSpPr>
          <p:cNvPr id="22" name="regola fonti"/>
          <p:cNvSpPr/>
          <p:nvPr/>
        </p:nvSpPr>
        <p:spPr>
          <a:xfrm>
            <a:off x="4937760" y="4069080"/>
            <a:ext cx="3749040" cy="457200"/>
          </a:xfrm>
          <a:prstGeom prst="roundRect">
            <a:avLst>
              <a:gd name="adj" fmla="val 16000"/>
            </a:avLst>
          </a:prstGeom>
          <a:solidFill>
            <a:schemeClr val="accent6"/>
          </a:solidFill>
          <a:ln/>
        </p:spPr>
        <p:txBody>
          <a:bodyPr/>
          <a:lstStyle/>
          <a:p>
            <a:endParaRPr lang="it-IT" dirty="0"/>
          </a:p>
        </p:txBody>
      </p:sp>
      <p:sp>
        <p:nvSpPr>
          <p:cNvPr id="23" name="Text 16"/>
          <p:cNvSpPr txBox="1"/>
          <p:nvPr/>
        </p:nvSpPr>
        <p:spPr>
          <a:xfrm>
            <a:off x="5029200" y="4069080"/>
            <a:ext cx="3566160" cy="457200"/>
          </a:xfrm>
          <a:prstGeom prst="rect">
            <a:avLst/>
          </a:prstGeom>
          <a:noFill/>
          <a:ln/>
        </p:spPr>
        <p:txBody>
          <a:bodyPr wrap="square" lIns="0" tIns="0" rIns="0" bIns="0" rtlCol="0" anchor="ctr"/>
          <a:lstStyle/>
          <a:p>
            <a:pPr marL="0" indent="0">
              <a:buNone/>
            </a:pPr>
            <a:r>
              <a:rPr lang="it-IT" sz="1300" b="1" dirty="0">
                <a:solidFill>
                  <a:schemeClr val="tx1"/>
                </a:solidFill>
              </a:rPr>
              <a:t>Una fonte citata è un'indicazione da verificare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21</a:t>
            </a:fld>
            <a:endParaRPr lang="it-IT"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Perché si verificano le allucinazioni</a:t>
            </a:r>
            <a:endParaRPr lang="it-IT" sz="2600" dirty="0"/>
          </a:p>
        </p:txBody>
      </p:sp>
      <p:sp>
        <p:nvSpPr>
          <p:cNvPr id="4" name="Generazione plausibile"/>
          <p:cNvSpPr/>
          <p:nvPr/>
        </p:nvSpPr>
        <p:spPr>
          <a:xfrm>
            <a:off x="457200" y="1097280"/>
            <a:ext cx="2621280" cy="1417320"/>
          </a:xfrm>
          <a:prstGeom prst="roundRect">
            <a:avLst>
              <a:gd name="adj" fmla="val 5161"/>
            </a:avLst>
          </a:prstGeom>
          <a:solidFill>
            <a:schemeClr val="bg2"/>
          </a:solidFill>
          <a:ln/>
        </p:spPr>
        <p:txBody>
          <a:bodyPr/>
          <a:lstStyle/>
          <a:p>
            <a:endParaRPr lang="it-IT" dirty="0"/>
          </a:p>
        </p:txBody>
      </p:sp>
      <p:sp>
        <p:nvSpPr>
          <p:cNvPr id="5" name="cerchio FiShuffle"/>
          <p:cNvSpPr/>
          <p:nvPr/>
        </p:nvSpPr>
        <p:spPr>
          <a:xfrm>
            <a:off x="621792" y="1261872"/>
            <a:ext cx="438912" cy="438912"/>
          </a:xfrm>
          <a:prstGeom prst="ellipse">
            <a:avLst/>
          </a:prstGeom>
          <a:solidFill>
            <a:schemeClr val="accent1"/>
          </a:solidFill>
          <a:ln/>
        </p:spPr>
        <p:txBody>
          <a:bodyPr/>
          <a:lstStyle/>
          <a:p>
            <a:endParaRPr lang="it-IT" dirty="0"/>
          </a:p>
        </p:txBody>
      </p:sp>
      <p:pic>
        <p:nvPicPr>
          <p:cNvPr id="6" name="Image 0" descr="FiShuffle"/>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Generazione plausibile</a:t>
            </a:r>
            <a:endParaRPr lang="it-IT" sz="1300" dirty="0"/>
          </a:p>
        </p:txBody>
      </p:sp>
      <p:sp>
        <p:nvSpPr>
          <p:cNvPr id="8" name="Text 4"/>
          <p:cNvSpPr txBox="1"/>
          <p:nvPr/>
        </p:nvSpPr>
        <p:spPr>
          <a:xfrm>
            <a:off x="621792" y="1810512"/>
            <a:ext cx="2292096" cy="612648"/>
          </a:xfrm>
          <a:prstGeom prst="rect">
            <a:avLst/>
          </a:prstGeom>
          <a:noFill/>
          <a:ln/>
        </p:spPr>
        <p:txBody>
          <a:bodyPr wrap="square" lIns="0" tIns="0" rIns="0" bIns="0" rtlCol="0" anchor="t"/>
          <a:lstStyle/>
          <a:p>
            <a:pPr marL="0" indent="0">
              <a:buNone/>
            </a:pPr>
            <a:r>
              <a:rPr lang="it-IT" sz="1200" dirty="0">
                <a:solidFill>
                  <a:schemeClr val="tx2"/>
                </a:solidFill>
              </a:rPr>
              <a:t>Nessun meccanismo interno verifica ogni affermazione</a:t>
            </a:r>
            <a:endParaRPr lang="it-IT" sz="1200" dirty="0"/>
          </a:p>
        </p:txBody>
      </p:sp>
      <p:sp>
        <p:nvSpPr>
          <p:cNvPr id="9" name="Conoscenza incompleta"/>
          <p:cNvSpPr/>
          <p:nvPr/>
        </p:nvSpPr>
        <p:spPr>
          <a:xfrm>
            <a:off x="3261360" y="1097280"/>
            <a:ext cx="2621280" cy="1417320"/>
          </a:xfrm>
          <a:prstGeom prst="roundRect">
            <a:avLst>
              <a:gd name="adj" fmla="val 5161"/>
            </a:avLst>
          </a:prstGeom>
          <a:solidFill>
            <a:schemeClr val="bg2"/>
          </a:solidFill>
          <a:ln/>
        </p:spPr>
        <p:txBody>
          <a:bodyPr/>
          <a:lstStyle/>
          <a:p>
            <a:endParaRPr lang="it-IT" dirty="0"/>
          </a:p>
        </p:txBody>
      </p:sp>
      <p:sp>
        <p:nvSpPr>
          <p:cNvPr id="10" name="cerchio FiDatabase"/>
          <p:cNvSpPr/>
          <p:nvPr/>
        </p:nvSpPr>
        <p:spPr>
          <a:xfrm>
            <a:off x="3425952" y="1261872"/>
            <a:ext cx="438912" cy="438912"/>
          </a:xfrm>
          <a:prstGeom prst="ellipse">
            <a:avLst/>
          </a:prstGeom>
          <a:solidFill>
            <a:schemeClr val="accent1"/>
          </a:solidFill>
          <a:ln/>
        </p:spPr>
        <p:txBody>
          <a:bodyPr/>
          <a:lstStyle/>
          <a:p>
            <a:endParaRPr lang="it-IT" dirty="0"/>
          </a:p>
        </p:txBody>
      </p:sp>
      <p:pic>
        <p:nvPicPr>
          <p:cNvPr id="11" name="Image 1" descr="FiDatabase"/>
          <p:cNvPicPr>
            <a:picLocks noChangeAspect="1"/>
          </p:cNvPicPr>
          <p:nvPr/>
        </p:nvPicPr>
        <p:blipFill>
          <a:blip r:embed="rId4"/>
          <a:stretch>
            <a:fillRect/>
          </a:stretch>
        </p:blipFill>
        <p:spPr>
          <a:xfrm>
            <a:off x="3535680" y="1371600"/>
            <a:ext cx="219456" cy="219456"/>
          </a:xfrm>
          <a:prstGeom prst="rect">
            <a:avLst/>
          </a:prstGeom>
        </p:spPr>
      </p:pic>
      <p:sp>
        <p:nvSpPr>
          <p:cNvPr id="12" name="Text 7"/>
          <p:cNvSpPr txBox="1"/>
          <p:nvPr/>
        </p:nvSpPr>
        <p:spPr>
          <a:xfrm>
            <a:off x="3974592" y="122529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Conoscenza incompleta</a:t>
            </a:r>
            <a:endParaRPr lang="it-IT" sz="1300" dirty="0"/>
          </a:p>
        </p:txBody>
      </p:sp>
      <p:sp>
        <p:nvSpPr>
          <p:cNvPr id="13" name="Text 8"/>
          <p:cNvSpPr txBox="1"/>
          <p:nvPr/>
        </p:nvSpPr>
        <p:spPr>
          <a:xfrm>
            <a:off x="3425952" y="1810512"/>
            <a:ext cx="2292096" cy="612648"/>
          </a:xfrm>
          <a:prstGeom prst="rect">
            <a:avLst/>
          </a:prstGeom>
          <a:noFill/>
          <a:ln/>
        </p:spPr>
        <p:txBody>
          <a:bodyPr wrap="square" lIns="0" tIns="0" rIns="0" bIns="0" rtlCol="0" anchor="t"/>
          <a:lstStyle/>
          <a:p>
            <a:pPr marL="0" indent="0">
              <a:buNone/>
            </a:pPr>
            <a:r>
              <a:rPr lang="it-IT" sz="1200" dirty="0">
                <a:solidFill>
                  <a:schemeClr val="tx2"/>
                </a:solidFill>
              </a:rPr>
              <a:t>Su dettagli e argomenti di nicchia il modello ricostruisce</a:t>
            </a:r>
            <a:endParaRPr lang="it-IT" sz="1200" dirty="0"/>
          </a:p>
        </p:txBody>
      </p:sp>
      <p:sp>
        <p:nvSpPr>
          <p:cNvPr id="14" name="Data limite"/>
          <p:cNvSpPr/>
          <p:nvPr/>
        </p:nvSpPr>
        <p:spPr>
          <a:xfrm>
            <a:off x="6065520" y="1097280"/>
            <a:ext cx="2621280" cy="1417320"/>
          </a:xfrm>
          <a:prstGeom prst="roundRect">
            <a:avLst>
              <a:gd name="adj" fmla="val 5161"/>
            </a:avLst>
          </a:prstGeom>
          <a:solidFill>
            <a:schemeClr val="bg2"/>
          </a:solidFill>
          <a:ln/>
        </p:spPr>
        <p:txBody>
          <a:bodyPr/>
          <a:lstStyle/>
          <a:p>
            <a:endParaRPr lang="it-IT" dirty="0"/>
          </a:p>
        </p:txBody>
      </p:sp>
      <p:sp>
        <p:nvSpPr>
          <p:cNvPr id="15" name="cerchio FiCalendar"/>
          <p:cNvSpPr/>
          <p:nvPr/>
        </p:nvSpPr>
        <p:spPr>
          <a:xfrm>
            <a:off x="6230112" y="1261872"/>
            <a:ext cx="438912" cy="438912"/>
          </a:xfrm>
          <a:prstGeom prst="ellipse">
            <a:avLst/>
          </a:prstGeom>
          <a:solidFill>
            <a:schemeClr val="accent1"/>
          </a:solidFill>
          <a:ln/>
        </p:spPr>
        <p:txBody>
          <a:bodyPr/>
          <a:lstStyle/>
          <a:p>
            <a:endParaRPr lang="it-IT" dirty="0"/>
          </a:p>
        </p:txBody>
      </p:sp>
      <p:pic>
        <p:nvPicPr>
          <p:cNvPr id="16" name="Image 2" descr="FiCalendar"/>
          <p:cNvPicPr>
            <a:picLocks noChangeAspect="1"/>
          </p:cNvPicPr>
          <p:nvPr/>
        </p:nvPicPr>
        <p:blipFill>
          <a:blip r:embed="rId5"/>
          <a:stretch>
            <a:fillRect/>
          </a:stretch>
        </p:blipFill>
        <p:spPr>
          <a:xfrm>
            <a:off x="6339840" y="1371600"/>
            <a:ext cx="219456" cy="219456"/>
          </a:xfrm>
          <a:prstGeom prst="rect">
            <a:avLst/>
          </a:prstGeom>
        </p:spPr>
      </p:pic>
      <p:sp>
        <p:nvSpPr>
          <p:cNvPr id="17" name="Text 11"/>
          <p:cNvSpPr txBox="1"/>
          <p:nvPr/>
        </p:nvSpPr>
        <p:spPr>
          <a:xfrm>
            <a:off x="6778752" y="122529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Data limite</a:t>
            </a:r>
            <a:endParaRPr lang="it-IT" sz="1300" dirty="0"/>
          </a:p>
        </p:txBody>
      </p:sp>
      <p:sp>
        <p:nvSpPr>
          <p:cNvPr id="18" name="Text 12"/>
          <p:cNvSpPr txBox="1"/>
          <p:nvPr/>
        </p:nvSpPr>
        <p:spPr>
          <a:xfrm>
            <a:off x="6230112" y="1810512"/>
            <a:ext cx="2292096" cy="612648"/>
          </a:xfrm>
          <a:prstGeom prst="rect">
            <a:avLst/>
          </a:prstGeom>
          <a:noFill/>
          <a:ln/>
        </p:spPr>
        <p:txBody>
          <a:bodyPr wrap="square" lIns="0" tIns="0" rIns="0" bIns="0" rtlCol="0" anchor="t"/>
          <a:lstStyle/>
          <a:p>
            <a:pPr marL="0" indent="0">
              <a:buNone/>
            </a:pPr>
            <a:r>
              <a:rPr lang="it-IT" sz="1200" dirty="0">
                <a:solidFill>
                  <a:schemeClr val="tx2"/>
                </a:solidFill>
              </a:rPr>
              <a:t>Le informazioni successive non sono note</a:t>
            </a:r>
            <a:endParaRPr lang="it-IT" sz="1200" dirty="0"/>
          </a:p>
        </p:txBody>
      </p:sp>
      <p:sp>
        <p:nvSpPr>
          <p:cNvPr id="19" name="Tendenza a rispondere comunque"/>
          <p:cNvSpPr/>
          <p:nvPr/>
        </p:nvSpPr>
        <p:spPr>
          <a:xfrm>
            <a:off x="457200" y="2697480"/>
            <a:ext cx="4023360" cy="1188720"/>
          </a:xfrm>
          <a:prstGeom prst="roundRect">
            <a:avLst>
              <a:gd name="adj" fmla="val 6154"/>
            </a:avLst>
          </a:prstGeom>
          <a:solidFill>
            <a:schemeClr val="bg2"/>
          </a:solidFill>
          <a:ln/>
        </p:spPr>
        <p:txBody>
          <a:bodyPr/>
          <a:lstStyle/>
          <a:p>
            <a:endParaRPr lang="it-IT" dirty="0"/>
          </a:p>
        </p:txBody>
      </p:sp>
      <p:sp>
        <p:nvSpPr>
          <p:cNvPr id="20" name="cerchio FiMessageSquare"/>
          <p:cNvSpPr/>
          <p:nvPr/>
        </p:nvSpPr>
        <p:spPr>
          <a:xfrm>
            <a:off x="621792" y="2862072"/>
            <a:ext cx="438912" cy="438912"/>
          </a:xfrm>
          <a:prstGeom prst="ellipse">
            <a:avLst/>
          </a:prstGeom>
          <a:solidFill>
            <a:schemeClr val="accent1"/>
          </a:solidFill>
          <a:ln/>
        </p:spPr>
        <p:txBody>
          <a:bodyPr/>
          <a:lstStyle/>
          <a:p>
            <a:endParaRPr lang="it-IT" dirty="0"/>
          </a:p>
        </p:txBody>
      </p:sp>
      <p:pic>
        <p:nvPicPr>
          <p:cNvPr id="21" name="Image 3" descr="FiMessageSquare"/>
          <p:cNvPicPr>
            <a:picLocks noChangeAspect="1"/>
          </p:cNvPicPr>
          <p:nvPr/>
        </p:nvPicPr>
        <p:blipFill>
          <a:blip r:embed="rId6"/>
          <a:stretch>
            <a:fillRect/>
          </a:stretch>
        </p:blipFill>
        <p:spPr>
          <a:xfrm>
            <a:off x="731520" y="2971800"/>
            <a:ext cx="219456" cy="219456"/>
          </a:xfrm>
          <a:prstGeom prst="rect">
            <a:avLst/>
          </a:prstGeom>
        </p:spPr>
      </p:pic>
      <p:sp>
        <p:nvSpPr>
          <p:cNvPr id="22" name="Text 15"/>
          <p:cNvSpPr txBox="1"/>
          <p:nvPr/>
        </p:nvSpPr>
        <p:spPr>
          <a:xfrm>
            <a:off x="1170432" y="2825496"/>
            <a:ext cx="3200400" cy="512064"/>
          </a:xfrm>
          <a:prstGeom prst="rect">
            <a:avLst/>
          </a:prstGeom>
          <a:noFill/>
          <a:ln/>
        </p:spPr>
        <p:txBody>
          <a:bodyPr wrap="square" lIns="0" tIns="0" rIns="0" bIns="0" rtlCol="0" anchor="ctr"/>
          <a:lstStyle/>
          <a:p>
            <a:pPr marL="0" indent="0">
              <a:buNone/>
            </a:pPr>
            <a:r>
              <a:rPr lang="it-IT" sz="1300" b="1" dirty="0">
                <a:solidFill>
                  <a:schemeClr val="tx1"/>
                </a:solidFill>
              </a:rPr>
              <a:t>Tendenza a rispondere comunque</a:t>
            </a:r>
            <a:endParaRPr lang="it-IT" sz="1300" dirty="0"/>
          </a:p>
        </p:txBody>
      </p:sp>
      <p:sp>
        <p:nvSpPr>
          <p:cNvPr id="23" name="Text 16"/>
          <p:cNvSpPr txBox="1"/>
          <p:nvPr/>
        </p:nvSpPr>
        <p:spPr>
          <a:xfrm>
            <a:off x="621792" y="3410712"/>
            <a:ext cx="3694176" cy="384048"/>
          </a:xfrm>
          <a:prstGeom prst="rect">
            <a:avLst/>
          </a:prstGeom>
          <a:noFill/>
          <a:ln/>
        </p:spPr>
        <p:txBody>
          <a:bodyPr wrap="square" lIns="0" tIns="0" rIns="0" bIns="0" rtlCol="0" anchor="t"/>
          <a:lstStyle/>
          <a:p>
            <a:pPr marL="0" indent="0">
              <a:buNone/>
            </a:pPr>
            <a:r>
              <a:rPr lang="it-IT" sz="1200" dirty="0">
                <a:solidFill>
                  <a:schemeClr val="tx2"/>
                </a:solidFill>
              </a:rPr>
              <a:t>L'addestramento può premiare il tirare a indovinare</a:t>
            </a:r>
            <a:endParaRPr lang="it-IT" sz="1200" dirty="0"/>
          </a:p>
        </p:txBody>
      </p:sp>
      <p:sp>
        <p:nvSpPr>
          <p:cNvPr id="24" name="Premesse false"/>
          <p:cNvSpPr/>
          <p:nvPr/>
        </p:nvSpPr>
        <p:spPr>
          <a:xfrm>
            <a:off x="4663440" y="2697480"/>
            <a:ext cx="4023360" cy="1188720"/>
          </a:xfrm>
          <a:prstGeom prst="roundRect">
            <a:avLst>
              <a:gd name="adj" fmla="val 6154"/>
            </a:avLst>
          </a:prstGeom>
          <a:solidFill>
            <a:schemeClr val="bg2"/>
          </a:solidFill>
          <a:ln/>
        </p:spPr>
        <p:txBody>
          <a:bodyPr/>
          <a:lstStyle/>
          <a:p>
            <a:endParaRPr lang="it-IT" dirty="0"/>
          </a:p>
        </p:txBody>
      </p:sp>
      <p:sp>
        <p:nvSpPr>
          <p:cNvPr id="25" name="cerchio FiHelpCircle"/>
          <p:cNvSpPr/>
          <p:nvPr/>
        </p:nvSpPr>
        <p:spPr>
          <a:xfrm>
            <a:off x="4828032" y="2862072"/>
            <a:ext cx="438912" cy="438912"/>
          </a:xfrm>
          <a:prstGeom prst="ellipse">
            <a:avLst/>
          </a:prstGeom>
          <a:solidFill>
            <a:schemeClr val="accent1"/>
          </a:solidFill>
          <a:ln/>
        </p:spPr>
        <p:txBody>
          <a:bodyPr/>
          <a:lstStyle/>
          <a:p>
            <a:endParaRPr lang="it-IT" dirty="0"/>
          </a:p>
        </p:txBody>
      </p:sp>
      <p:pic>
        <p:nvPicPr>
          <p:cNvPr id="26" name="Image 4" descr="FiHelpCircle"/>
          <p:cNvPicPr>
            <a:picLocks noChangeAspect="1"/>
          </p:cNvPicPr>
          <p:nvPr/>
        </p:nvPicPr>
        <p:blipFill>
          <a:blip r:embed="rId7"/>
          <a:stretch>
            <a:fillRect/>
          </a:stretch>
        </p:blipFill>
        <p:spPr>
          <a:xfrm>
            <a:off x="4937760" y="2971800"/>
            <a:ext cx="219456" cy="219456"/>
          </a:xfrm>
          <a:prstGeom prst="rect">
            <a:avLst/>
          </a:prstGeom>
        </p:spPr>
      </p:pic>
      <p:sp>
        <p:nvSpPr>
          <p:cNvPr id="27" name="Text 19"/>
          <p:cNvSpPr txBox="1"/>
          <p:nvPr/>
        </p:nvSpPr>
        <p:spPr>
          <a:xfrm>
            <a:off x="5376672" y="2825496"/>
            <a:ext cx="3200400" cy="512064"/>
          </a:xfrm>
          <a:prstGeom prst="rect">
            <a:avLst/>
          </a:prstGeom>
          <a:noFill/>
          <a:ln/>
        </p:spPr>
        <p:txBody>
          <a:bodyPr wrap="square" lIns="0" tIns="0" rIns="0" bIns="0" rtlCol="0" anchor="ctr"/>
          <a:lstStyle/>
          <a:p>
            <a:pPr marL="0" indent="0">
              <a:buNone/>
            </a:pPr>
            <a:r>
              <a:rPr lang="it-IT" sz="1300" b="1" dirty="0">
                <a:solidFill>
                  <a:schemeClr val="tx1"/>
                </a:solidFill>
              </a:rPr>
              <a:t>Premesse false</a:t>
            </a:r>
            <a:endParaRPr lang="it-IT" sz="1300" dirty="0"/>
          </a:p>
        </p:txBody>
      </p:sp>
      <p:sp>
        <p:nvSpPr>
          <p:cNvPr id="28" name="Text 20"/>
          <p:cNvSpPr txBox="1"/>
          <p:nvPr/>
        </p:nvSpPr>
        <p:spPr>
          <a:xfrm>
            <a:off x="4828032" y="3410712"/>
            <a:ext cx="3694176" cy="384048"/>
          </a:xfrm>
          <a:prstGeom prst="rect">
            <a:avLst/>
          </a:prstGeom>
          <a:noFill/>
          <a:ln/>
        </p:spPr>
        <p:txBody>
          <a:bodyPr wrap="square" lIns="0" tIns="0" rIns="0" bIns="0" rtlCol="0" anchor="t"/>
          <a:lstStyle/>
          <a:p>
            <a:pPr marL="0" indent="0">
              <a:buNone/>
            </a:pPr>
            <a:r>
              <a:rPr lang="it-IT" sz="1200" dirty="0">
                <a:solidFill>
                  <a:schemeClr val="tx2"/>
                </a:solidFill>
              </a:rPr>
              <a:t>La domanda stessa può indurre l'errore</a:t>
            </a:r>
            <a:endParaRPr lang="it-IT" sz="1200" dirty="0"/>
          </a:p>
        </p:txBody>
      </p:sp>
      <p:sp>
        <p:nvSpPr>
          <p:cNvPr id="29" name="Text 21"/>
          <p:cNvSpPr txBox="1"/>
          <p:nvPr/>
        </p:nvSpPr>
        <p:spPr>
          <a:xfrm>
            <a:off x="457200" y="4069080"/>
            <a:ext cx="8229600" cy="457200"/>
          </a:xfrm>
          <a:prstGeom prst="rect">
            <a:avLst/>
          </a:prstGeom>
          <a:noFill/>
          <a:ln/>
        </p:spPr>
        <p:txBody>
          <a:bodyPr wrap="square" lIns="0" tIns="0" rIns="0" bIns="0" rtlCol="0" anchor="t"/>
          <a:lstStyle/>
          <a:p>
            <a:pPr marL="0" indent="0">
              <a:buNone/>
            </a:pPr>
            <a:r>
              <a:rPr lang="it-IT" sz="1300" i="1" dirty="0">
                <a:solidFill>
                  <a:schemeClr val="tx1"/>
                </a:solidFill>
              </a:rPr>
              <a:t>I sistemi recenti allucinano in genere meno, soprattutto con ricerca e grounding, ma il fenomeno non è eliminato.</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22</a:t>
            </a:fld>
            <a:endParaRPr lang="it-IT"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Plausibilità linguistica e veridicità</a:t>
            </a:r>
            <a:endParaRPr lang="it-IT" sz="2600" dirty="0"/>
          </a:p>
        </p:txBody>
      </p:sp>
      <p:sp>
        <p:nvSpPr>
          <p:cNvPr id="4" name="scheda Plausibilità linguistica"/>
          <p:cNvSpPr/>
          <p:nvPr/>
        </p:nvSpPr>
        <p:spPr>
          <a:xfrm>
            <a:off x="457200" y="1097280"/>
            <a:ext cx="3977640" cy="1463040"/>
          </a:xfrm>
          <a:prstGeom prst="roundRect">
            <a:avLst>
              <a:gd name="adj" fmla="val 5000"/>
            </a:avLst>
          </a:prstGeom>
          <a:solidFill>
            <a:schemeClr val="bg2"/>
          </a:solidFill>
          <a:ln/>
        </p:spPr>
        <p:txBody>
          <a:bodyPr/>
          <a:lstStyle/>
          <a:p>
            <a:endParaRPr lang="it-IT" dirty="0"/>
          </a:p>
        </p:txBody>
      </p:sp>
      <p:sp>
        <p:nvSpPr>
          <p:cNvPr id="5" name="cerchio FiType"/>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Typ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1234440" y="128016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Plausibilità linguistica</a:t>
            </a:r>
            <a:endParaRPr lang="it-IT" sz="1500" dirty="0"/>
          </a:p>
        </p:txBody>
      </p:sp>
      <p:sp>
        <p:nvSpPr>
          <p:cNvPr id="8" name="Text 4"/>
          <p:cNvSpPr txBox="1"/>
          <p:nvPr/>
        </p:nvSpPr>
        <p:spPr>
          <a:xfrm>
            <a:off x="640080" y="1874520"/>
            <a:ext cx="3611880" cy="576072"/>
          </a:xfrm>
          <a:prstGeom prst="rect">
            <a:avLst/>
          </a:prstGeom>
          <a:noFill/>
          <a:ln/>
        </p:spPr>
        <p:txBody>
          <a:bodyPr wrap="square" lIns="0" tIns="0" rIns="0" bIns="0" rtlCol="0" anchor="t"/>
          <a:lstStyle/>
          <a:p>
            <a:pPr marL="0" indent="0">
              <a:buNone/>
            </a:pPr>
            <a:r>
              <a:rPr lang="it-IT" sz="1300" dirty="0">
                <a:solidFill>
                  <a:schemeClr val="tx2"/>
                </a:solidFill>
              </a:rPr>
              <a:t>La forma: corretta, coerente, nello stile giusto. È ciò che il modello sa produrre meglio.</a:t>
            </a:r>
            <a:endParaRPr lang="it-IT" sz="1300" dirty="0"/>
          </a:p>
        </p:txBody>
      </p:sp>
      <p:sp>
        <p:nvSpPr>
          <p:cNvPr id="9" name="scheda Veridicità"/>
          <p:cNvSpPr/>
          <p:nvPr/>
        </p:nvSpPr>
        <p:spPr>
          <a:xfrm>
            <a:off x="4709160" y="1097280"/>
            <a:ext cx="3977640" cy="1463040"/>
          </a:xfrm>
          <a:prstGeom prst="roundRect">
            <a:avLst>
              <a:gd name="adj" fmla="val 5000"/>
            </a:avLst>
          </a:prstGeom>
          <a:solidFill>
            <a:schemeClr val="accent6"/>
          </a:solidFill>
          <a:ln/>
        </p:spPr>
        <p:txBody>
          <a:bodyPr/>
          <a:lstStyle/>
          <a:p>
            <a:endParaRPr lang="it-IT" dirty="0"/>
          </a:p>
        </p:txBody>
      </p:sp>
      <p:sp>
        <p:nvSpPr>
          <p:cNvPr id="10" name="cerchio FiCheckCircle"/>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CheckCircle"/>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5486400" y="128016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Veridicità</a:t>
            </a:r>
            <a:endParaRPr lang="it-IT" sz="1500" dirty="0"/>
          </a:p>
        </p:txBody>
      </p:sp>
      <p:sp>
        <p:nvSpPr>
          <p:cNvPr id="13" name="Text 8"/>
          <p:cNvSpPr txBox="1"/>
          <p:nvPr/>
        </p:nvSpPr>
        <p:spPr>
          <a:xfrm>
            <a:off x="4892040" y="1874520"/>
            <a:ext cx="3611880" cy="576072"/>
          </a:xfrm>
          <a:prstGeom prst="rect">
            <a:avLst/>
          </a:prstGeom>
          <a:noFill/>
          <a:ln/>
        </p:spPr>
        <p:txBody>
          <a:bodyPr wrap="square" lIns="0" tIns="0" rIns="0" bIns="0" rtlCol="0" anchor="t"/>
          <a:lstStyle/>
          <a:p>
            <a:pPr marL="0" indent="0">
              <a:buNone/>
            </a:pPr>
            <a:r>
              <a:rPr lang="it-IT" sz="1300" dirty="0">
                <a:solidFill>
                  <a:schemeClr val="tx2"/>
                </a:solidFill>
              </a:rPr>
              <a:t>Il contenuto: corrisponde ai fatti, verificabili su fonti affidabili.</a:t>
            </a:r>
            <a:endParaRPr lang="it-IT" sz="1300" dirty="0"/>
          </a:p>
        </p:txBody>
      </p:sp>
      <p:sp>
        <p:nvSpPr>
          <p:cNvPr id="14" name="Text 9"/>
          <p:cNvSpPr txBox="1"/>
          <p:nvPr/>
        </p:nvSpPr>
        <p:spPr>
          <a:xfrm>
            <a:off x="457200" y="2743200"/>
            <a:ext cx="8229600" cy="274320"/>
          </a:xfrm>
          <a:prstGeom prst="rect">
            <a:avLst/>
          </a:prstGeom>
          <a:noFill/>
          <a:ln/>
        </p:spPr>
        <p:txBody>
          <a:bodyPr wrap="square" lIns="0" tIns="0" rIns="0" bIns="0" rtlCol="0" anchor="t"/>
          <a:lstStyle/>
          <a:p>
            <a:pPr marL="0" indent="0">
              <a:buNone/>
            </a:pPr>
            <a:r>
              <a:rPr lang="it-IT" sz="1400" b="1" dirty="0">
                <a:solidFill>
                  <a:schemeClr val="tx1"/>
                </a:solidFill>
              </a:rPr>
              <a:t>Quale delle due è vera?</a:t>
            </a:r>
            <a:endParaRPr lang="it-IT" sz="1400" dirty="0"/>
          </a:p>
        </p:txBody>
      </p:sp>
      <p:sp>
        <p:nvSpPr>
          <p:cNvPr id="15" name="frase A"/>
          <p:cNvSpPr/>
          <p:nvPr/>
        </p:nvSpPr>
        <p:spPr>
          <a:xfrm>
            <a:off x="457200" y="3108960"/>
            <a:ext cx="8229600" cy="621792"/>
          </a:xfrm>
          <a:prstGeom prst="roundRect">
            <a:avLst>
              <a:gd name="adj" fmla="val 11765"/>
            </a:avLst>
          </a:prstGeom>
          <a:solidFill>
            <a:schemeClr val="bg2"/>
          </a:solidFill>
          <a:ln/>
        </p:spPr>
        <p:txBody>
          <a:bodyPr/>
          <a:lstStyle/>
          <a:p>
            <a:endParaRPr lang="it-IT" dirty="0"/>
          </a:p>
        </p:txBody>
      </p:sp>
      <p:sp>
        <p:nvSpPr>
          <p:cNvPr id="16" name="Text 11"/>
          <p:cNvSpPr txBox="1"/>
          <p:nvPr/>
        </p:nvSpPr>
        <p:spPr>
          <a:xfrm>
            <a:off x="640080" y="3108960"/>
            <a:ext cx="365760" cy="621792"/>
          </a:xfrm>
          <a:prstGeom prst="rect">
            <a:avLst/>
          </a:prstGeom>
          <a:noFill/>
          <a:ln/>
        </p:spPr>
        <p:txBody>
          <a:bodyPr wrap="square" lIns="0" tIns="0" rIns="0" bIns="0" rtlCol="0" anchor="ctr"/>
          <a:lstStyle/>
          <a:p>
            <a:pPr marL="0" indent="0">
              <a:buNone/>
            </a:pPr>
            <a:r>
              <a:rPr lang="it-IT" sz="2000" b="1" dirty="0">
                <a:solidFill>
                  <a:schemeClr val="accent1"/>
                </a:solidFill>
              </a:rPr>
              <a:t>A</a:t>
            </a:r>
            <a:endParaRPr lang="it-IT" sz="2000" dirty="0"/>
          </a:p>
        </p:txBody>
      </p:sp>
      <p:sp>
        <p:nvSpPr>
          <p:cNvPr id="17" name="Text 12"/>
          <p:cNvSpPr txBox="1"/>
          <p:nvPr/>
        </p:nvSpPr>
        <p:spPr>
          <a:xfrm>
            <a:off x="1051560" y="3108960"/>
            <a:ext cx="7498080" cy="621792"/>
          </a:xfrm>
          <a:prstGeom prst="rect">
            <a:avLst/>
          </a:prstGeom>
          <a:noFill/>
          <a:ln/>
        </p:spPr>
        <p:txBody>
          <a:bodyPr wrap="square" lIns="0" tIns="0" rIns="0" bIns="0" rtlCol="0" anchor="ctr"/>
          <a:lstStyle/>
          <a:p>
            <a:pPr marL="0" indent="0">
              <a:buNone/>
            </a:pPr>
            <a:r>
              <a:rPr lang="it-IT" sz="1300" dirty="0">
                <a:solidFill>
                  <a:schemeClr val="tx1"/>
                </a:solidFill>
              </a:rPr>
              <a:t>Le definizioni dell'AI Act si trovano all'articolo 3 del Regolamento UE 2024/1689, entrato in vigore il 1° agosto 2024.</a:t>
            </a:r>
            <a:endParaRPr lang="it-IT" sz="1300" dirty="0"/>
          </a:p>
        </p:txBody>
      </p:sp>
      <p:sp>
        <p:nvSpPr>
          <p:cNvPr id="18" name="frase B"/>
          <p:cNvSpPr/>
          <p:nvPr/>
        </p:nvSpPr>
        <p:spPr>
          <a:xfrm>
            <a:off x="457200" y="3840480"/>
            <a:ext cx="8229600" cy="621792"/>
          </a:xfrm>
          <a:prstGeom prst="roundRect">
            <a:avLst>
              <a:gd name="adj" fmla="val 11765"/>
            </a:avLst>
          </a:prstGeom>
          <a:solidFill>
            <a:schemeClr val="bg2"/>
          </a:solidFill>
          <a:ln/>
        </p:spPr>
        <p:txBody>
          <a:bodyPr/>
          <a:lstStyle/>
          <a:p>
            <a:endParaRPr lang="it-IT" dirty="0"/>
          </a:p>
        </p:txBody>
      </p:sp>
      <p:sp>
        <p:nvSpPr>
          <p:cNvPr id="19" name="Text 14"/>
          <p:cNvSpPr txBox="1"/>
          <p:nvPr/>
        </p:nvSpPr>
        <p:spPr>
          <a:xfrm>
            <a:off x="640080" y="3840480"/>
            <a:ext cx="365760" cy="621792"/>
          </a:xfrm>
          <a:prstGeom prst="rect">
            <a:avLst/>
          </a:prstGeom>
          <a:noFill/>
          <a:ln/>
        </p:spPr>
        <p:txBody>
          <a:bodyPr wrap="square" lIns="0" tIns="0" rIns="0" bIns="0" rtlCol="0" anchor="ctr"/>
          <a:lstStyle/>
          <a:p>
            <a:pPr marL="0" indent="0">
              <a:buNone/>
            </a:pPr>
            <a:r>
              <a:rPr lang="it-IT" sz="2000" b="1" dirty="0">
                <a:solidFill>
                  <a:schemeClr val="accent1"/>
                </a:solidFill>
              </a:rPr>
              <a:t>B</a:t>
            </a:r>
            <a:endParaRPr lang="it-IT" sz="2000" dirty="0"/>
          </a:p>
        </p:txBody>
      </p:sp>
      <p:sp>
        <p:nvSpPr>
          <p:cNvPr id="20" name="Text 15"/>
          <p:cNvSpPr txBox="1"/>
          <p:nvPr/>
        </p:nvSpPr>
        <p:spPr>
          <a:xfrm>
            <a:off x="1051560" y="3840480"/>
            <a:ext cx="7498080" cy="621792"/>
          </a:xfrm>
          <a:prstGeom prst="rect">
            <a:avLst/>
          </a:prstGeom>
          <a:noFill/>
          <a:ln/>
        </p:spPr>
        <p:txBody>
          <a:bodyPr wrap="square" lIns="0" tIns="0" rIns="0" bIns="0" rtlCol="0" anchor="ctr"/>
          <a:lstStyle/>
          <a:p>
            <a:pPr marL="0" indent="0">
              <a:buNone/>
            </a:pPr>
            <a:r>
              <a:rPr lang="it-IT" sz="1300" dirty="0">
                <a:solidFill>
                  <a:schemeClr val="tx1"/>
                </a:solidFill>
              </a:rPr>
              <a:t>Le definizioni dell'AI Act si trovano all'articolo 5 del Regolamento UE 2024/1689, entrato in vigore il 1° marzo 2024.</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23</a:t>
            </a:fld>
            <a:endParaRPr lang="it-IT"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L'autorevolezza apparente</a:t>
            </a:r>
            <a:endParaRPr lang="it-IT" sz="2600" dirty="0"/>
          </a:p>
        </p:txBody>
      </p:sp>
      <p:sp>
        <p:nvSpPr>
          <p:cNvPr id="4" name="Text 1"/>
          <p:cNvSpPr txBox="1"/>
          <p:nvPr/>
        </p:nvSpPr>
        <p:spPr>
          <a:xfrm>
            <a:off x="457200" y="1051560"/>
            <a:ext cx="3977640" cy="320040"/>
          </a:xfrm>
          <a:prstGeom prst="rect">
            <a:avLst/>
          </a:prstGeom>
          <a:noFill/>
          <a:ln/>
        </p:spPr>
        <p:txBody>
          <a:bodyPr wrap="square" lIns="0" tIns="0" rIns="0" bIns="0" rtlCol="0" anchor="t"/>
          <a:lstStyle/>
          <a:p>
            <a:pPr marL="0" indent="0">
              <a:buNone/>
            </a:pPr>
            <a:r>
              <a:rPr lang="it-IT" sz="1500" b="1" dirty="0">
                <a:solidFill>
                  <a:schemeClr val="accent5"/>
                </a:solidFill>
              </a:rPr>
              <a:t>Segnali di forma: ingannevoli</a:t>
            </a:r>
            <a:endParaRPr lang="it-IT" sz="1500" dirty="0"/>
          </a:p>
        </p:txBody>
      </p:sp>
      <p:sp>
        <p:nvSpPr>
          <p:cNvPr id="5" name="Text 2"/>
          <p:cNvSpPr txBox="1"/>
          <p:nvPr/>
        </p:nvSpPr>
        <p:spPr>
          <a:xfrm>
            <a:off x="4709160" y="1051560"/>
            <a:ext cx="3977640" cy="320040"/>
          </a:xfrm>
          <a:prstGeom prst="rect">
            <a:avLst/>
          </a:prstGeom>
          <a:noFill/>
          <a:ln/>
        </p:spPr>
        <p:txBody>
          <a:bodyPr wrap="square" lIns="0" tIns="0" rIns="0" bIns="0" rtlCol="0" anchor="t"/>
          <a:lstStyle/>
          <a:p>
            <a:pPr marL="0" indent="0">
              <a:buNone/>
            </a:pPr>
            <a:r>
              <a:rPr lang="it-IT" sz="1500" b="1" dirty="0">
                <a:solidFill>
                  <a:schemeClr val="accent1"/>
                </a:solidFill>
              </a:rPr>
              <a:t>Segnali di sostanza: affidabili</a:t>
            </a:r>
            <a:endParaRPr lang="it-IT" sz="1500" dirty="0"/>
          </a:p>
        </p:txBody>
      </p:sp>
      <p:sp>
        <p:nvSpPr>
          <p:cNvPr id="6" name="Tono sicuro e assertivo"/>
          <p:cNvSpPr/>
          <p:nvPr/>
        </p:nvSpPr>
        <p:spPr>
          <a:xfrm>
            <a:off x="457200" y="1463040"/>
            <a:ext cx="3977640" cy="548640"/>
          </a:xfrm>
          <a:prstGeom prst="roundRect">
            <a:avLst>
              <a:gd name="adj" fmla="val 13333"/>
            </a:avLst>
          </a:prstGeom>
          <a:solidFill>
            <a:schemeClr val="bg2"/>
          </a:solidFill>
          <a:ln/>
        </p:spPr>
        <p:txBody>
          <a:bodyPr/>
          <a:lstStyle/>
          <a:p>
            <a:endParaRPr lang="it-IT" dirty="0"/>
          </a:p>
        </p:txBody>
      </p:sp>
      <p:sp>
        <p:nvSpPr>
          <p:cNvPr id="7" name="cerchio FiVolume2"/>
          <p:cNvSpPr/>
          <p:nvPr/>
        </p:nvSpPr>
        <p:spPr>
          <a:xfrm>
            <a:off x="548640" y="1527048"/>
            <a:ext cx="420624" cy="420624"/>
          </a:xfrm>
          <a:prstGeom prst="ellipse">
            <a:avLst/>
          </a:prstGeom>
          <a:solidFill>
            <a:schemeClr val="accent2"/>
          </a:solidFill>
          <a:ln/>
        </p:spPr>
        <p:txBody>
          <a:bodyPr/>
          <a:lstStyle/>
          <a:p>
            <a:endParaRPr lang="it-IT" dirty="0"/>
          </a:p>
        </p:txBody>
      </p:sp>
      <p:pic>
        <p:nvPicPr>
          <p:cNvPr id="8" name="Image 0" descr="FiVolume2"/>
          <p:cNvPicPr>
            <a:picLocks noChangeAspect="1"/>
          </p:cNvPicPr>
          <p:nvPr/>
        </p:nvPicPr>
        <p:blipFill>
          <a:blip r:embed="rId3"/>
          <a:stretch>
            <a:fillRect/>
          </a:stretch>
        </p:blipFill>
        <p:spPr>
          <a:xfrm>
            <a:off x="653796" y="1632204"/>
            <a:ext cx="210312" cy="210312"/>
          </a:xfrm>
          <a:prstGeom prst="rect">
            <a:avLst/>
          </a:prstGeom>
        </p:spPr>
      </p:pic>
      <p:sp>
        <p:nvSpPr>
          <p:cNvPr id="9" name="Text 5"/>
          <p:cNvSpPr txBox="1"/>
          <p:nvPr/>
        </p:nvSpPr>
        <p:spPr>
          <a:xfrm>
            <a:off x="1097280" y="1463040"/>
            <a:ext cx="3246120" cy="548640"/>
          </a:xfrm>
          <a:prstGeom prst="rect">
            <a:avLst/>
          </a:prstGeom>
          <a:noFill/>
          <a:ln/>
        </p:spPr>
        <p:txBody>
          <a:bodyPr wrap="square" lIns="0" tIns="0" rIns="0" bIns="0" rtlCol="0" anchor="ctr"/>
          <a:lstStyle/>
          <a:p>
            <a:pPr marL="0" indent="0">
              <a:buNone/>
            </a:pPr>
            <a:r>
              <a:rPr lang="it-IT" sz="1300" dirty="0">
                <a:solidFill>
                  <a:schemeClr val="tx1"/>
                </a:solidFill>
              </a:rPr>
              <a:t>Tono sicuro e assertivo</a:t>
            </a:r>
            <a:endParaRPr lang="it-IT" sz="1300" dirty="0"/>
          </a:p>
        </p:txBody>
      </p:sp>
      <p:sp>
        <p:nvSpPr>
          <p:cNvPr id="10" name="Fonti verificabili, effettivamente consultate"/>
          <p:cNvSpPr/>
          <p:nvPr/>
        </p:nvSpPr>
        <p:spPr>
          <a:xfrm>
            <a:off x="4709160" y="1463040"/>
            <a:ext cx="3977640" cy="548640"/>
          </a:xfrm>
          <a:prstGeom prst="roundRect">
            <a:avLst>
              <a:gd name="adj" fmla="val 13333"/>
            </a:avLst>
          </a:prstGeom>
          <a:solidFill>
            <a:schemeClr val="accent6"/>
          </a:solidFill>
          <a:ln/>
        </p:spPr>
        <p:txBody>
          <a:bodyPr/>
          <a:lstStyle/>
          <a:p>
            <a:endParaRPr lang="it-IT" dirty="0"/>
          </a:p>
        </p:txBody>
      </p:sp>
      <p:sp>
        <p:nvSpPr>
          <p:cNvPr id="11" name="cerchio FiExternalLink"/>
          <p:cNvSpPr/>
          <p:nvPr/>
        </p:nvSpPr>
        <p:spPr>
          <a:xfrm>
            <a:off x="4800600" y="1527048"/>
            <a:ext cx="420624" cy="420624"/>
          </a:xfrm>
          <a:prstGeom prst="ellipse">
            <a:avLst/>
          </a:prstGeom>
          <a:solidFill>
            <a:schemeClr val="accent1"/>
          </a:solidFill>
          <a:ln/>
        </p:spPr>
        <p:txBody>
          <a:bodyPr/>
          <a:lstStyle/>
          <a:p>
            <a:endParaRPr lang="it-IT" dirty="0"/>
          </a:p>
        </p:txBody>
      </p:sp>
      <p:pic>
        <p:nvPicPr>
          <p:cNvPr id="12" name="Image 1" descr="FiExternalLink"/>
          <p:cNvPicPr>
            <a:picLocks noChangeAspect="1"/>
          </p:cNvPicPr>
          <p:nvPr/>
        </p:nvPicPr>
        <p:blipFill>
          <a:blip r:embed="rId4"/>
          <a:stretch>
            <a:fillRect/>
          </a:stretch>
        </p:blipFill>
        <p:spPr>
          <a:xfrm>
            <a:off x="4905756" y="1632204"/>
            <a:ext cx="210312" cy="210312"/>
          </a:xfrm>
          <a:prstGeom prst="rect">
            <a:avLst/>
          </a:prstGeom>
        </p:spPr>
      </p:pic>
      <p:sp>
        <p:nvSpPr>
          <p:cNvPr id="13" name="Text 8"/>
          <p:cNvSpPr txBox="1"/>
          <p:nvPr/>
        </p:nvSpPr>
        <p:spPr>
          <a:xfrm>
            <a:off x="5349240" y="1463040"/>
            <a:ext cx="3246120" cy="548640"/>
          </a:xfrm>
          <a:prstGeom prst="rect">
            <a:avLst/>
          </a:prstGeom>
          <a:noFill/>
          <a:ln/>
        </p:spPr>
        <p:txBody>
          <a:bodyPr wrap="square" lIns="0" tIns="0" rIns="0" bIns="0" rtlCol="0" anchor="ctr"/>
          <a:lstStyle/>
          <a:p>
            <a:pPr marL="0" indent="0">
              <a:buNone/>
            </a:pPr>
            <a:r>
              <a:rPr lang="it-IT" sz="1300" dirty="0">
                <a:solidFill>
                  <a:schemeClr val="tx1"/>
                </a:solidFill>
              </a:rPr>
              <a:t>Fonti verificabili, effettivamente consultate</a:t>
            </a:r>
            <a:endParaRPr lang="it-IT" sz="1300" dirty="0"/>
          </a:p>
        </p:txBody>
      </p:sp>
      <p:sp>
        <p:nvSpPr>
          <p:cNvPr id="14" name="Struttura ordinata, titoli ed elenchi"/>
          <p:cNvSpPr/>
          <p:nvPr/>
        </p:nvSpPr>
        <p:spPr>
          <a:xfrm>
            <a:off x="457200" y="2121408"/>
            <a:ext cx="3977640" cy="548640"/>
          </a:xfrm>
          <a:prstGeom prst="roundRect">
            <a:avLst>
              <a:gd name="adj" fmla="val 13333"/>
            </a:avLst>
          </a:prstGeom>
          <a:solidFill>
            <a:schemeClr val="bg2"/>
          </a:solidFill>
          <a:ln/>
        </p:spPr>
        <p:txBody>
          <a:bodyPr/>
          <a:lstStyle/>
          <a:p>
            <a:endParaRPr lang="it-IT" dirty="0"/>
          </a:p>
        </p:txBody>
      </p:sp>
      <p:sp>
        <p:nvSpPr>
          <p:cNvPr id="15" name="cerchio FiAlignLeft"/>
          <p:cNvSpPr/>
          <p:nvPr/>
        </p:nvSpPr>
        <p:spPr>
          <a:xfrm>
            <a:off x="548640" y="2185416"/>
            <a:ext cx="420624" cy="420624"/>
          </a:xfrm>
          <a:prstGeom prst="ellipse">
            <a:avLst/>
          </a:prstGeom>
          <a:solidFill>
            <a:schemeClr val="accent2"/>
          </a:solidFill>
          <a:ln/>
        </p:spPr>
        <p:txBody>
          <a:bodyPr/>
          <a:lstStyle/>
          <a:p>
            <a:endParaRPr lang="it-IT" dirty="0"/>
          </a:p>
        </p:txBody>
      </p:sp>
      <p:pic>
        <p:nvPicPr>
          <p:cNvPr id="16" name="Image 2" descr="FiAlignLeft"/>
          <p:cNvPicPr>
            <a:picLocks noChangeAspect="1"/>
          </p:cNvPicPr>
          <p:nvPr/>
        </p:nvPicPr>
        <p:blipFill>
          <a:blip r:embed="rId5"/>
          <a:stretch>
            <a:fillRect/>
          </a:stretch>
        </p:blipFill>
        <p:spPr>
          <a:xfrm>
            <a:off x="653796" y="2290572"/>
            <a:ext cx="210312" cy="210312"/>
          </a:xfrm>
          <a:prstGeom prst="rect">
            <a:avLst/>
          </a:prstGeom>
        </p:spPr>
      </p:pic>
      <p:sp>
        <p:nvSpPr>
          <p:cNvPr id="17" name="Text 11"/>
          <p:cNvSpPr txBox="1"/>
          <p:nvPr/>
        </p:nvSpPr>
        <p:spPr>
          <a:xfrm>
            <a:off x="1097280" y="2121408"/>
            <a:ext cx="3246120" cy="548640"/>
          </a:xfrm>
          <a:prstGeom prst="rect">
            <a:avLst/>
          </a:prstGeom>
          <a:noFill/>
          <a:ln/>
        </p:spPr>
        <p:txBody>
          <a:bodyPr wrap="square" lIns="0" tIns="0" rIns="0" bIns="0" rtlCol="0" anchor="ctr"/>
          <a:lstStyle/>
          <a:p>
            <a:pPr marL="0" indent="0">
              <a:buNone/>
            </a:pPr>
            <a:r>
              <a:rPr lang="it-IT" sz="1300" dirty="0">
                <a:solidFill>
                  <a:schemeClr val="tx1"/>
                </a:solidFill>
              </a:rPr>
              <a:t>Struttura ordinata, titoli ed elenchi</a:t>
            </a:r>
            <a:endParaRPr lang="it-IT" sz="1300" dirty="0"/>
          </a:p>
        </p:txBody>
      </p:sp>
      <p:sp>
        <p:nvSpPr>
          <p:cNvPr id="18" name="Coerenza con fonti indipendenti"/>
          <p:cNvSpPr/>
          <p:nvPr/>
        </p:nvSpPr>
        <p:spPr>
          <a:xfrm>
            <a:off x="4709160" y="2121408"/>
            <a:ext cx="3977640" cy="548640"/>
          </a:xfrm>
          <a:prstGeom prst="roundRect">
            <a:avLst>
              <a:gd name="adj" fmla="val 13333"/>
            </a:avLst>
          </a:prstGeom>
          <a:solidFill>
            <a:schemeClr val="accent6"/>
          </a:solidFill>
          <a:ln/>
        </p:spPr>
        <p:txBody>
          <a:bodyPr/>
          <a:lstStyle/>
          <a:p>
            <a:endParaRPr lang="it-IT" dirty="0"/>
          </a:p>
        </p:txBody>
      </p:sp>
      <p:sp>
        <p:nvSpPr>
          <p:cNvPr id="19" name="cerchio FiCopy"/>
          <p:cNvSpPr/>
          <p:nvPr/>
        </p:nvSpPr>
        <p:spPr>
          <a:xfrm>
            <a:off x="4800600" y="2185416"/>
            <a:ext cx="420624" cy="420624"/>
          </a:xfrm>
          <a:prstGeom prst="ellipse">
            <a:avLst/>
          </a:prstGeom>
          <a:solidFill>
            <a:schemeClr val="accent1"/>
          </a:solidFill>
          <a:ln/>
        </p:spPr>
        <p:txBody>
          <a:bodyPr/>
          <a:lstStyle/>
          <a:p>
            <a:endParaRPr lang="it-IT" dirty="0"/>
          </a:p>
        </p:txBody>
      </p:sp>
      <p:pic>
        <p:nvPicPr>
          <p:cNvPr id="20" name="Image 3" descr="FiCopy"/>
          <p:cNvPicPr>
            <a:picLocks noChangeAspect="1"/>
          </p:cNvPicPr>
          <p:nvPr/>
        </p:nvPicPr>
        <p:blipFill>
          <a:blip r:embed="rId6"/>
          <a:stretch>
            <a:fillRect/>
          </a:stretch>
        </p:blipFill>
        <p:spPr>
          <a:xfrm>
            <a:off x="4905756" y="2290572"/>
            <a:ext cx="210312" cy="210312"/>
          </a:xfrm>
          <a:prstGeom prst="rect">
            <a:avLst/>
          </a:prstGeom>
        </p:spPr>
      </p:pic>
      <p:sp>
        <p:nvSpPr>
          <p:cNvPr id="21" name="Text 14"/>
          <p:cNvSpPr txBox="1"/>
          <p:nvPr/>
        </p:nvSpPr>
        <p:spPr>
          <a:xfrm>
            <a:off x="5349240" y="2121408"/>
            <a:ext cx="3246120" cy="548640"/>
          </a:xfrm>
          <a:prstGeom prst="rect">
            <a:avLst/>
          </a:prstGeom>
          <a:noFill/>
          <a:ln/>
        </p:spPr>
        <p:txBody>
          <a:bodyPr wrap="square" lIns="0" tIns="0" rIns="0" bIns="0" rtlCol="0" anchor="ctr"/>
          <a:lstStyle/>
          <a:p>
            <a:pPr marL="0" indent="0">
              <a:buNone/>
            </a:pPr>
            <a:r>
              <a:rPr lang="it-IT" sz="1300" dirty="0">
                <a:solidFill>
                  <a:schemeClr val="tx1"/>
                </a:solidFill>
              </a:rPr>
              <a:t>Coerenza con fonti indipendenti</a:t>
            </a:r>
            <a:endParaRPr lang="it-IT" sz="1300" dirty="0"/>
          </a:p>
        </p:txBody>
      </p:sp>
      <p:sp>
        <p:nvSpPr>
          <p:cNvPr id="22" name="Numeri precisi e dettagli"/>
          <p:cNvSpPr/>
          <p:nvPr/>
        </p:nvSpPr>
        <p:spPr>
          <a:xfrm>
            <a:off x="457200" y="2779776"/>
            <a:ext cx="3977640" cy="548640"/>
          </a:xfrm>
          <a:prstGeom prst="roundRect">
            <a:avLst>
              <a:gd name="adj" fmla="val 13333"/>
            </a:avLst>
          </a:prstGeom>
          <a:solidFill>
            <a:schemeClr val="bg2"/>
          </a:solidFill>
          <a:ln/>
        </p:spPr>
        <p:txBody>
          <a:bodyPr/>
          <a:lstStyle/>
          <a:p>
            <a:endParaRPr lang="it-IT" dirty="0"/>
          </a:p>
        </p:txBody>
      </p:sp>
      <p:sp>
        <p:nvSpPr>
          <p:cNvPr id="23" name="cerchio FiHash"/>
          <p:cNvSpPr/>
          <p:nvPr/>
        </p:nvSpPr>
        <p:spPr>
          <a:xfrm>
            <a:off x="548640" y="2843784"/>
            <a:ext cx="420624" cy="420624"/>
          </a:xfrm>
          <a:prstGeom prst="ellipse">
            <a:avLst/>
          </a:prstGeom>
          <a:solidFill>
            <a:schemeClr val="accent2"/>
          </a:solidFill>
          <a:ln/>
        </p:spPr>
        <p:txBody>
          <a:bodyPr/>
          <a:lstStyle/>
          <a:p>
            <a:endParaRPr lang="it-IT" dirty="0"/>
          </a:p>
        </p:txBody>
      </p:sp>
      <p:pic>
        <p:nvPicPr>
          <p:cNvPr id="24" name="Image 4" descr="FiHash"/>
          <p:cNvPicPr>
            <a:picLocks noChangeAspect="1"/>
          </p:cNvPicPr>
          <p:nvPr/>
        </p:nvPicPr>
        <p:blipFill>
          <a:blip r:embed="rId7"/>
          <a:stretch>
            <a:fillRect/>
          </a:stretch>
        </p:blipFill>
        <p:spPr>
          <a:xfrm>
            <a:off x="653796" y="2948940"/>
            <a:ext cx="210312" cy="210312"/>
          </a:xfrm>
          <a:prstGeom prst="rect">
            <a:avLst/>
          </a:prstGeom>
        </p:spPr>
      </p:pic>
      <p:sp>
        <p:nvSpPr>
          <p:cNvPr id="25" name="Text 17"/>
          <p:cNvSpPr txBox="1"/>
          <p:nvPr/>
        </p:nvSpPr>
        <p:spPr>
          <a:xfrm>
            <a:off x="1097280" y="2779776"/>
            <a:ext cx="3246120" cy="548640"/>
          </a:xfrm>
          <a:prstGeom prst="rect">
            <a:avLst/>
          </a:prstGeom>
          <a:noFill/>
          <a:ln/>
        </p:spPr>
        <p:txBody>
          <a:bodyPr wrap="square" lIns="0" tIns="0" rIns="0" bIns="0" rtlCol="0" anchor="ctr"/>
          <a:lstStyle/>
          <a:p>
            <a:pPr marL="0" indent="0">
              <a:buNone/>
            </a:pPr>
            <a:r>
              <a:rPr lang="it-IT" sz="1300" dirty="0">
                <a:solidFill>
                  <a:schemeClr val="tx1"/>
                </a:solidFill>
              </a:rPr>
              <a:t>Numeri precisi e dettagli</a:t>
            </a:r>
            <a:endParaRPr lang="it-IT" sz="1300" dirty="0"/>
          </a:p>
        </p:txBody>
      </p:sp>
      <p:sp>
        <p:nvSpPr>
          <p:cNvPr id="26" name="Coerenza interna della risposta"/>
          <p:cNvSpPr/>
          <p:nvPr/>
        </p:nvSpPr>
        <p:spPr>
          <a:xfrm>
            <a:off x="4709160" y="2779776"/>
            <a:ext cx="3977640" cy="548640"/>
          </a:xfrm>
          <a:prstGeom prst="roundRect">
            <a:avLst>
              <a:gd name="adj" fmla="val 13333"/>
            </a:avLst>
          </a:prstGeom>
          <a:solidFill>
            <a:schemeClr val="accent6"/>
          </a:solidFill>
          <a:ln/>
        </p:spPr>
        <p:txBody>
          <a:bodyPr/>
          <a:lstStyle/>
          <a:p>
            <a:endParaRPr lang="it-IT" dirty="0"/>
          </a:p>
        </p:txBody>
      </p:sp>
      <p:sp>
        <p:nvSpPr>
          <p:cNvPr id="27" name="cerchio FiCheckSquare"/>
          <p:cNvSpPr/>
          <p:nvPr/>
        </p:nvSpPr>
        <p:spPr>
          <a:xfrm>
            <a:off x="4800600" y="2843784"/>
            <a:ext cx="420624" cy="420624"/>
          </a:xfrm>
          <a:prstGeom prst="ellipse">
            <a:avLst/>
          </a:prstGeom>
          <a:solidFill>
            <a:schemeClr val="accent1"/>
          </a:solidFill>
          <a:ln/>
        </p:spPr>
        <p:txBody>
          <a:bodyPr/>
          <a:lstStyle/>
          <a:p>
            <a:endParaRPr lang="it-IT" dirty="0"/>
          </a:p>
        </p:txBody>
      </p:sp>
      <p:pic>
        <p:nvPicPr>
          <p:cNvPr id="28" name="Image 5" descr="FiCheckSquare"/>
          <p:cNvPicPr>
            <a:picLocks noChangeAspect="1"/>
          </p:cNvPicPr>
          <p:nvPr/>
        </p:nvPicPr>
        <p:blipFill>
          <a:blip r:embed="rId8"/>
          <a:stretch>
            <a:fillRect/>
          </a:stretch>
        </p:blipFill>
        <p:spPr>
          <a:xfrm>
            <a:off x="4905756" y="2948940"/>
            <a:ext cx="210312" cy="210312"/>
          </a:xfrm>
          <a:prstGeom prst="rect">
            <a:avLst/>
          </a:prstGeom>
        </p:spPr>
      </p:pic>
      <p:sp>
        <p:nvSpPr>
          <p:cNvPr id="29" name="Text 20"/>
          <p:cNvSpPr txBox="1"/>
          <p:nvPr/>
        </p:nvSpPr>
        <p:spPr>
          <a:xfrm>
            <a:off x="5349240" y="2779776"/>
            <a:ext cx="3246120" cy="548640"/>
          </a:xfrm>
          <a:prstGeom prst="rect">
            <a:avLst/>
          </a:prstGeom>
          <a:noFill/>
          <a:ln/>
        </p:spPr>
        <p:txBody>
          <a:bodyPr wrap="square" lIns="0" tIns="0" rIns="0" bIns="0" rtlCol="0" anchor="ctr"/>
          <a:lstStyle/>
          <a:p>
            <a:pPr marL="0" indent="0">
              <a:buNone/>
            </a:pPr>
            <a:r>
              <a:rPr lang="it-IT" sz="1300" dirty="0">
                <a:solidFill>
                  <a:schemeClr val="tx1"/>
                </a:solidFill>
              </a:rPr>
              <a:t>Coerenza interna della risposta</a:t>
            </a:r>
            <a:endParaRPr lang="it-IT" sz="1300" dirty="0"/>
          </a:p>
        </p:txBody>
      </p:sp>
      <p:sp>
        <p:nvSpPr>
          <p:cNvPr id="30" name="Citazioni e riferimenti"/>
          <p:cNvSpPr/>
          <p:nvPr/>
        </p:nvSpPr>
        <p:spPr>
          <a:xfrm>
            <a:off x="457200" y="3438144"/>
            <a:ext cx="3977640" cy="548640"/>
          </a:xfrm>
          <a:prstGeom prst="roundRect">
            <a:avLst>
              <a:gd name="adj" fmla="val 13333"/>
            </a:avLst>
          </a:prstGeom>
          <a:solidFill>
            <a:schemeClr val="bg2"/>
          </a:solidFill>
          <a:ln/>
        </p:spPr>
        <p:txBody>
          <a:bodyPr/>
          <a:lstStyle/>
          <a:p>
            <a:endParaRPr lang="it-IT" dirty="0"/>
          </a:p>
        </p:txBody>
      </p:sp>
      <p:sp>
        <p:nvSpPr>
          <p:cNvPr id="31" name="cerchio FiBookmark"/>
          <p:cNvSpPr/>
          <p:nvPr/>
        </p:nvSpPr>
        <p:spPr>
          <a:xfrm>
            <a:off x="548640" y="3502152"/>
            <a:ext cx="420624" cy="420624"/>
          </a:xfrm>
          <a:prstGeom prst="ellipse">
            <a:avLst/>
          </a:prstGeom>
          <a:solidFill>
            <a:schemeClr val="accent2"/>
          </a:solidFill>
          <a:ln/>
        </p:spPr>
        <p:txBody>
          <a:bodyPr/>
          <a:lstStyle/>
          <a:p>
            <a:endParaRPr lang="it-IT" dirty="0"/>
          </a:p>
        </p:txBody>
      </p:sp>
      <p:pic>
        <p:nvPicPr>
          <p:cNvPr id="32" name="Image 6" descr="FiBookmark"/>
          <p:cNvPicPr>
            <a:picLocks noChangeAspect="1"/>
          </p:cNvPicPr>
          <p:nvPr/>
        </p:nvPicPr>
        <p:blipFill>
          <a:blip r:embed="rId9"/>
          <a:stretch>
            <a:fillRect/>
          </a:stretch>
        </p:blipFill>
        <p:spPr>
          <a:xfrm>
            <a:off x="653796" y="3607308"/>
            <a:ext cx="210312" cy="210312"/>
          </a:xfrm>
          <a:prstGeom prst="rect">
            <a:avLst/>
          </a:prstGeom>
        </p:spPr>
      </p:pic>
      <p:sp>
        <p:nvSpPr>
          <p:cNvPr id="33" name="Text 23"/>
          <p:cNvSpPr txBox="1"/>
          <p:nvPr/>
        </p:nvSpPr>
        <p:spPr>
          <a:xfrm>
            <a:off x="1097280" y="3438144"/>
            <a:ext cx="3246120" cy="548640"/>
          </a:xfrm>
          <a:prstGeom prst="rect">
            <a:avLst/>
          </a:prstGeom>
          <a:noFill/>
          <a:ln/>
        </p:spPr>
        <p:txBody>
          <a:bodyPr wrap="square" lIns="0" tIns="0" rIns="0" bIns="0" rtlCol="0" anchor="ctr"/>
          <a:lstStyle/>
          <a:p>
            <a:pPr marL="0" indent="0">
              <a:buNone/>
            </a:pPr>
            <a:r>
              <a:rPr lang="it-IT" sz="1300" dirty="0">
                <a:solidFill>
                  <a:schemeClr val="tx1"/>
                </a:solidFill>
              </a:rPr>
              <a:t>Citazioni e riferimenti</a:t>
            </a:r>
            <a:endParaRPr lang="it-IT" sz="1300" dirty="0"/>
          </a:p>
        </p:txBody>
      </p:sp>
      <p:sp>
        <p:nvSpPr>
          <p:cNvPr id="34" name="La propria competenza sull'argomento"/>
          <p:cNvSpPr/>
          <p:nvPr/>
        </p:nvSpPr>
        <p:spPr>
          <a:xfrm>
            <a:off x="4709160" y="3438144"/>
            <a:ext cx="3977640" cy="548640"/>
          </a:xfrm>
          <a:prstGeom prst="roundRect">
            <a:avLst>
              <a:gd name="adj" fmla="val 13333"/>
            </a:avLst>
          </a:prstGeom>
          <a:solidFill>
            <a:schemeClr val="accent6"/>
          </a:solidFill>
          <a:ln/>
        </p:spPr>
        <p:txBody>
          <a:bodyPr/>
          <a:lstStyle/>
          <a:p>
            <a:endParaRPr lang="it-IT" dirty="0"/>
          </a:p>
        </p:txBody>
      </p:sp>
      <p:sp>
        <p:nvSpPr>
          <p:cNvPr id="35" name="cerchio FiUser"/>
          <p:cNvSpPr/>
          <p:nvPr/>
        </p:nvSpPr>
        <p:spPr>
          <a:xfrm>
            <a:off x="4800600" y="3502152"/>
            <a:ext cx="420624" cy="420624"/>
          </a:xfrm>
          <a:prstGeom prst="ellipse">
            <a:avLst/>
          </a:prstGeom>
          <a:solidFill>
            <a:schemeClr val="accent1"/>
          </a:solidFill>
          <a:ln/>
        </p:spPr>
        <p:txBody>
          <a:bodyPr/>
          <a:lstStyle/>
          <a:p>
            <a:endParaRPr lang="it-IT" dirty="0"/>
          </a:p>
        </p:txBody>
      </p:sp>
      <p:pic>
        <p:nvPicPr>
          <p:cNvPr id="36" name="Image 7" descr="FiUser"/>
          <p:cNvPicPr>
            <a:picLocks noChangeAspect="1"/>
          </p:cNvPicPr>
          <p:nvPr/>
        </p:nvPicPr>
        <p:blipFill>
          <a:blip r:embed="rId10"/>
          <a:stretch>
            <a:fillRect/>
          </a:stretch>
        </p:blipFill>
        <p:spPr>
          <a:xfrm>
            <a:off x="4905756" y="3607308"/>
            <a:ext cx="210312" cy="210312"/>
          </a:xfrm>
          <a:prstGeom prst="rect">
            <a:avLst/>
          </a:prstGeom>
        </p:spPr>
      </p:pic>
      <p:sp>
        <p:nvSpPr>
          <p:cNvPr id="37" name="Text 26"/>
          <p:cNvSpPr txBox="1"/>
          <p:nvPr/>
        </p:nvSpPr>
        <p:spPr>
          <a:xfrm>
            <a:off x="5349240" y="3438144"/>
            <a:ext cx="3246120" cy="548640"/>
          </a:xfrm>
          <a:prstGeom prst="rect">
            <a:avLst/>
          </a:prstGeom>
          <a:noFill/>
          <a:ln/>
        </p:spPr>
        <p:txBody>
          <a:bodyPr wrap="square" lIns="0" tIns="0" rIns="0" bIns="0" rtlCol="0" anchor="ctr"/>
          <a:lstStyle/>
          <a:p>
            <a:pPr marL="0" indent="0">
              <a:buNone/>
            </a:pPr>
            <a:r>
              <a:rPr lang="it-IT" sz="1300" dirty="0">
                <a:solidFill>
                  <a:schemeClr val="tx1"/>
                </a:solidFill>
              </a:rPr>
              <a:t>La propria competenza sull'argomento</a:t>
            </a:r>
            <a:endParaRPr lang="it-IT" sz="1300" dirty="0"/>
          </a:p>
        </p:txBody>
      </p:sp>
      <p:sp>
        <p:nvSpPr>
          <p:cNvPr id="38" name="messaggio"/>
          <p:cNvSpPr/>
          <p:nvPr/>
        </p:nvSpPr>
        <p:spPr>
          <a:xfrm>
            <a:off x="457200" y="4114800"/>
            <a:ext cx="8229600" cy="457200"/>
          </a:xfrm>
          <a:prstGeom prst="roundRect">
            <a:avLst>
              <a:gd name="adj" fmla="val 16000"/>
            </a:avLst>
          </a:prstGeom>
          <a:solidFill>
            <a:schemeClr val="tx1"/>
          </a:solidFill>
          <a:ln/>
        </p:spPr>
        <p:txBody>
          <a:bodyPr/>
          <a:lstStyle/>
          <a:p>
            <a:endParaRPr lang="it-IT" dirty="0"/>
          </a:p>
        </p:txBody>
      </p:sp>
      <p:sp>
        <p:nvSpPr>
          <p:cNvPr id="39" name="Text 28"/>
          <p:cNvSpPr txBox="1"/>
          <p:nvPr/>
        </p:nvSpPr>
        <p:spPr>
          <a:xfrm>
            <a:off x="640080" y="4114800"/>
            <a:ext cx="7863840" cy="457200"/>
          </a:xfrm>
          <a:prstGeom prst="rect">
            <a:avLst/>
          </a:prstGeom>
          <a:noFill/>
          <a:ln/>
        </p:spPr>
        <p:txBody>
          <a:bodyPr wrap="square" lIns="0" tIns="0" rIns="0" bIns="0" rtlCol="0" anchor="ctr"/>
          <a:lstStyle/>
          <a:p>
            <a:pPr marL="0" indent="0">
              <a:buNone/>
            </a:pPr>
            <a:r>
              <a:rPr lang="it-IT" sz="1300" dirty="0">
                <a:solidFill>
                  <a:schemeClr val="bg1"/>
                </a:solidFill>
              </a:rPr>
              <a:t>Le risposte sbagliate sono scritte bene quanto quelle giuste.</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24</a:t>
            </a:fld>
            <a:endParaRPr lang="it-IT"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Dove le allucinazioni sono più probabili</a:t>
            </a:r>
            <a:endParaRPr lang="it-IT" sz="2600" dirty="0"/>
          </a:p>
        </p:txBody>
      </p:sp>
      <p:sp>
        <p:nvSpPr>
          <p:cNvPr id="4" name="Text 1"/>
          <p:cNvSpPr txBox="1"/>
          <p:nvPr/>
        </p:nvSpPr>
        <p:spPr>
          <a:xfrm>
            <a:off x="457200" y="1051560"/>
            <a:ext cx="5486400" cy="274320"/>
          </a:xfrm>
          <a:prstGeom prst="rect">
            <a:avLst/>
          </a:prstGeom>
          <a:noFill/>
          <a:ln/>
        </p:spPr>
        <p:txBody>
          <a:bodyPr wrap="square" lIns="0" tIns="0" rIns="0" bIns="0" rtlCol="0" anchor="t"/>
          <a:lstStyle/>
          <a:p>
            <a:pPr marL="0" indent="0">
              <a:buNone/>
            </a:pPr>
            <a:r>
              <a:rPr lang="it-IT" sz="1400" b="1" dirty="0">
                <a:solidFill>
                  <a:schemeClr val="accent5"/>
                </a:solidFill>
              </a:rPr>
              <a:t>Rischio più alto</a:t>
            </a:r>
            <a:endParaRPr lang="it-IT" sz="1400" dirty="0"/>
          </a:p>
        </p:txBody>
      </p:sp>
      <p:sp>
        <p:nvSpPr>
          <p:cNvPr id="5" name="Numeri, date, nomi, importi"/>
          <p:cNvSpPr/>
          <p:nvPr/>
        </p:nvSpPr>
        <p:spPr>
          <a:xfrm>
            <a:off x="457200" y="1417320"/>
            <a:ext cx="2606040" cy="713232"/>
          </a:xfrm>
          <a:prstGeom prst="roundRect">
            <a:avLst>
              <a:gd name="adj" fmla="val 10256"/>
            </a:avLst>
          </a:prstGeom>
          <a:solidFill>
            <a:schemeClr val="bg2"/>
          </a:solidFill>
          <a:ln/>
        </p:spPr>
        <p:txBody>
          <a:bodyPr/>
          <a:lstStyle/>
          <a:p>
            <a:endParaRPr lang="it-IT" dirty="0"/>
          </a:p>
        </p:txBody>
      </p:sp>
      <p:sp>
        <p:nvSpPr>
          <p:cNvPr id="6" name="cerchio FiHash"/>
          <p:cNvSpPr/>
          <p:nvPr/>
        </p:nvSpPr>
        <p:spPr>
          <a:xfrm>
            <a:off x="566928" y="1545336"/>
            <a:ext cx="457200" cy="457200"/>
          </a:xfrm>
          <a:prstGeom prst="ellipse">
            <a:avLst/>
          </a:prstGeom>
          <a:solidFill>
            <a:schemeClr val="accent5"/>
          </a:solidFill>
          <a:ln/>
        </p:spPr>
        <p:txBody>
          <a:bodyPr/>
          <a:lstStyle/>
          <a:p>
            <a:endParaRPr lang="it-IT" dirty="0"/>
          </a:p>
        </p:txBody>
      </p:sp>
      <p:pic>
        <p:nvPicPr>
          <p:cNvPr id="7" name="Image 0" descr="FiHash"/>
          <p:cNvPicPr>
            <a:picLocks noChangeAspect="1"/>
          </p:cNvPicPr>
          <p:nvPr/>
        </p:nvPicPr>
        <p:blipFill>
          <a:blip r:embed="rId3"/>
          <a:stretch>
            <a:fillRect/>
          </a:stretch>
        </p:blipFill>
        <p:spPr>
          <a:xfrm>
            <a:off x="681228" y="1659636"/>
            <a:ext cx="228600" cy="228600"/>
          </a:xfrm>
          <a:prstGeom prst="rect">
            <a:avLst/>
          </a:prstGeom>
        </p:spPr>
      </p:pic>
      <p:sp>
        <p:nvSpPr>
          <p:cNvPr id="8" name="Text 4"/>
          <p:cNvSpPr txBox="1"/>
          <p:nvPr/>
        </p:nvSpPr>
        <p:spPr>
          <a:xfrm>
            <a:off x="1115568" y="1417320"/>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Numeri, date, nomi, importi</a:t>
            </a:r>
            <a:endParaRPr lang="it-IT" sz="1200" dirty="0"/>
          </a:p>
        </p:txBody>
      </p:sp>
      <p:sp>
        <p:nvSpPr>
          <p:cNvPr id="9" name="Argomenti di nicchia, locali, specialistici"/>
          <p:cNvSpPr/>
          <p:nvPr/>
        </p:nvSpPr>
        <p:spPr>
          <a:xfrm>
            <a:off x="3200400" y="1417320"/>
            <a:ext cx="2606040" cy="713232"/>
          </a:xfrm>
          <a:prstGeom prst="roundRect">
            <a:avLst>
              <a:gd name="adj" fmla="val 10256"/>
            </a:avLst>
          </a:prstGeom>
          <a:solidFill>
            <a:schemeClr val="bg2"/>
          </a:solidFill>
          <a:ln/>
        </p:spPr>
        <p:txBody>
          <a:bodyPr/>
          <a:lstStyle/>
          <a:p>
            <a:endParaRPr lang="it-IT" dirty="0"/>
          </a:p>
        </p:txBody>
      </p:sp>
      <p:sp>
        <p:nvSpPr>
          <p:cNvPr id="10" name="cerchio FiMapPin"/>
          <p:cNvSpPr/>
          <p:nvPr/>
        </p:nvSpPr>
        <p:spPr>
          <a:xfrm>
            <a:off x="3310128" y="1545336"/>
            <a:ext cx="457200" cy="457200"/>
          </a:xfrm>
          <a:prstGeom prst="ellipse">
            <a:avLst/>
          </a:prstGeom>
          <a:solidFill>
            <a:schemeClr val="accent5"/>
          </a:solidFill>
          <a:ln/>
        </p:spPr>
        <p:txBody>
          <a:bodyPr/>
          <a:lstStyle/>
          <a:p>
            <a:endParaRPr lang="it-IT" dirty="0"/>
          </a:p>
        </p:txBody>
      </p:sp>
      <p:pic>
        <p:nvPicPr>
          <p:cNvPr id="11" name="Image 1" descr="FiMapPin"/>
          <p:cNvPicPr>
            <a:picLocks noChangeAspect="1"/>
          </p:cNvPicPr>
          <p:nvPr/>
        </p:nvPicPr>
        <p:blipFill>
          <a:blip r:embed="rId4"/>
          <a:stretch>
            <a:fillRect/>
          </a:stretch>
        </p:blipFill>
        <p:spPr>
          <a:xfrm>
            <a:off x="3424428" y="1659636"/>
            <a:ext cx="228600" cy="228600"/>
          </a:xfrm>
          <a:prstGeom prst="rect">
            <a:avLst/>
          </a:prstGeom>
        </p:spPr>
      </p:pic>
      <p:sp>
        <p:nvSpPr>
          <p:cNvPr id="12" name="Text 7"/>
          <p:cNvSpPr txBox="1"/>
          <p:nvPr/>
        </p:nvSpPr>
        <p:spPr>
          <a:xfrm>
            <a:off x="3858768" y="1417320"/>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Argomenti di nicchia, locali, specialistici</a:t>
            </a:r>
            <a:endParaRPr lang="it-IT" sz="1200" dirty="0"/>
          </a:p>
        </p:txBody>
      </p:sp>
      <p:sp>
        <p:nvSpPr>
          <p:cNvPr id="13" name="Fonti e citazioni"/>
          <p:cNvSpPr/>
          <p:nvPr/>
        </p:nvSpPr>
        <p:spPr>
          <a:xfrm>
            <a:off x="457200" y="2258568"/>
            <a:ext cx="2606040" cy="713232"/>
          </a:xfrm>
          <a:prstGeom prst="roundRect">
            <a:avLst>
              <a:gd name="adj" fmla="val 10256"/>
            </a:avLst>
          </a:prstGeom>
          <a:solidFill>
            <a:schemeClr val="bg2"/>
          </a:solidFill>
          <a:ln/>
        </p:spPr>
        <p:txBody>
          <a:bodyPr/>
          <a:lstStyle/>
          <a:p>
            <a:endParaRPr lang="it-IT" dirty="0"/>
          </a:p>
        </p:txBody>
      </p:sp>
      <p:sp>
        <p:nvSpPr>
          <p:cNvPr id="14" name="cerchio FiBookmark"/>
          <p:cNvSpPr/>
          <p:nvPr/>
        </p:nvSpPr>
        <p:spPr>
          <a:xfrm>
            <a:off x="566928" y="2386584"/>
            <a:ext cx="457200" cy="457200"/>
          </a:xfrm>
          <a:prstGeom prst="ellipse">
            <a:avLst/>
          </a:prstGeom>
          <a:solidFill>
            <a:schemeClr val="accent5"/>
          </a:solidFill>
          <a:ln/>
        </p:spPr>
        <p:txBody>
          <a:bodyPr/>
          <a:lstStyle/>
          <a:p>
            <a:endParaRPr lang="it-IT" dirty="0"/>
          </a:p>
        </p:txBody>
      </p:sp>
      <p:pic>
        <p:nvPicPr>
          <p:cNvPr id="15" name="Image 2" descr="FiBookmark"/>
          <p:cNvPicPr>
            <a:picLocks noChangeAspect="1"/>
          </p:cNvPicPr>
          <p:nvPr/>
        </p:nvPicPr>
        <p:blipFill>
          <a:blip r:embed="rId5"/>
          <a:stretch>
            <a:fillRect/>
          </a:stretch>
        </p:blipFill>
        <p:spPr>
          <a:xfrm>
            <a:off x="681228" y="2500884"/>
            <a:ext cx="228600" cy="228600"/>
          </a:xfrm>
          <a:prstGeom prst="rect">
            <a:avLst/>
          </a:prstGeom>
        </p:spPr>
      </p:pic>
      <p:sp>
        <p:nvSpPr>
          <p:cNvPr id="16" name="Text 10"/>
          <p:cNvSpPr txBox="1"/>
          <p:nvPr/>
        </p:nvSpPr>
        <p:spPr>
          <a:xfrm>
            <a:off x="1115568" y="2258568"/>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Fonti e citazioni</a:t>
            </a:r>
            <a:endParaRPr lang="it-IT" sz="1200" dirty="0"/>
          </a:p>
        </p:txBody>
      </p:sp>
      <p:sp>
        <p:nvSpPr>
          <p:cNvPr id="17" name="Eventi recenti senza ricerca"/>
          <p:cNvSpPr/>
          <p:nvPr/>
        </p:nvSpPr>
        <p:spPr>
          <a:xfrm>
            <a:off x="3200400" y="2258568"/>
            <a:ext cx="2606040" cy="713232"/>
          </a:xfrm>
          <a:prstGeom prst="roundRect">
            <a:avLst>
              <a:gd name="adj" fmla="val 10256"/>
            </a:avLst>
          </a:prstGeom>
          <a:solidFill>
            <a:schemeClr val="bg2"/>
          </a:solidFill>
          <a:ln/>
        </p:spPr>
        <p:txBody>
          <a:bodyPr/>
          <a:lstStyle/>
          <a:p>
            <a:endParaRPr lang="it-IT" dirty="0"/>
          </a:p>
        </p:txBody>
      </p:sp>
      <p:sp>
        <p:nvSpPr>
          <p:cNvPr id="18" name="cerchio FiCalendar"/>
          <p:cNvSpPr/>
          <p:nvPr/>
        </p:nvSpPr>
        <p:spPr>
          <a:xfrm>
            <a:off x="3310128" y="2386584"/>
            <a:ext cx="457200" cy="457200"/>
          </a:xfrm>
          <a:prstGeom prst="ellipse">
            <a:avLst/>
          </a:prstGeom>
          <a:solidFill>
            <a:schemeClr val="accent5"/>
          </a:solidFill>
          <a:ln/>
        </p:spPr>
        <p:txBody>
          <a:bodyPr/>
          <a:lstStyle/>
          <a:p>
            <a:endParaRPr lang="it-IT" dirty="0"/>
          </a:p>
        </p:txBody>
      </p:sp>
      <p:pic>
        <p:nvPicPr>
          <p:cNvPr id="19" name="Image 3" descr="FiCalendar"/>
          <p:cNvPicPr>
            <a:picLocks noChangeAspect="1"/>
          </p:cNvPicPr>
          <p:nvPr/>
        </p:nvPicPr>
        <p:blipFill>
          <a:blip r:embed="rId6"/>
          <a:stretch>
            <a:fillRect/>
          </a:stretch>
        </p:blipFill>
        <p:spPr>
          <a:xfrm>
            <a:off x="3424428" y="2500884"/>
            <a:ext cx="228600" cy="228600"/>
          </a:xfrm>
          <a:prstGeom prst="rect">
            <a:avLst/>
          </a:prstGeom>
        </p:spPr>
      </p:pic>
      <p:sp>
        <p:nvSpPr>
          <p:cNvPr id="20" name="Text 13"/>
          <p:cNvSpPr txBox="1"/>
          <p:nvPr/>
        </p:nvSpPr>
        <p:spPr>
          <a:xfrm>
            <a:off x="3858768" y="2258568"/>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Eventi recenti senza ricerca</a:t>
            </a:r>
            <a:endParaRPr lang="it-IT" sz="1200" dirty="0"/>
          </a:p>
        </p:txBody>
      </p:sp>
      <p:sp>
        <p:nvSpPr>
          <p:cNvPr id="21" name="Domande con premesse false"/>
          <p:cNvSpPr/>
          <p:nvPr/>
        </p:nvSpPr>
        <p:spPr>
          <a:xfrm>
            <a:off x="457200" y="3099816"/>
            <a:ext cx="2606040" cy="713232"/>
          </a:xfrm>
          <a:prstGeom prst="roundRect">
            <a:avLst>
              <a:gd name="adj" fmla="val 10256"/>
            </a:avLst>
          </a:prstGeom>
          <a:solidFill>
            <a:schemeClr val="bg2"/>
          </a:solidFill>
          <a:ln/>
        </p:spPr>
        <p:txBody>
          <a:bodyPr/>
          <a:lstStyle/>
          <a:p>
            <a:endParaRPr lang="it-IT" dirty="0"/>
          </a:p>
        </p:txBody>
      </p:sp>
      <p:sp>
        <p:nvSpPr>
          <p:cNvPr id="22" name="cerchio FiHelpCircle"/>
          <p:cNvSpPr/>
          <p:nvPr/>
        </p:nvSpPr>
        <p:spPr>
          <a:xfrm>
            <a:off x="566928" y="3227832"/>
            <a:ext cx="457200" cy="457200"/>
          </a:xfrm>
          <a:prstGeom prst="ellipse">
            <a:avLst/>
          </a:prstGeom>
          <a:solidFill>
            <a:schemeClr val="accent5"/>
          </a:solidFill>
          <a:ln/>
        </p:spPr>
        <p:txBody>
          <a:bodyPr/>
          <a:lstStyle/>
          <a:p>
            <a:endParaRPr lang="it-IT" dirty="0"/>
          </a:p>
        </p:txBody>
      </p:sp>
      <p:pic>
        <p:nvPicPr>
          <p:cNvPr id="23" name="Image 4" descr="FiHelpCircle"/>
          <p:cNvPicPr>
            <a:picLocks noChangeAspect="1"/>
          </p:cNvPicPr>
          <p:nvPr/>
        </p:nvPicPr>
        <p:blipFill>
          <a:blip r:embed="rId7"/>
          <a:stretch>
            <a:fillRect/>
          </a:stretch>
        </p:blipFill>
        <p:spPr>
          <a:xfrm>
            <a:off x="681228" y="3342132"/>
            <a:ext cx="228600" cy="228600"/>
          </a:xfrm>
          <a:prstGeom prst="rect">
            <a:avLst/>
          </a:prstGeom>
        </p:spPr>
      </p:pic>
      <p:sp>
        <p:nvSpPr>
          <p:cNvPr id="24" name="Text 16"/>
          <p:cNvSpPr txBox="1"/>
          <p:nvPr/>
        </p:nvSpPr>
        <p:spPr>
          <a:xfrm>
            <a:off x="1115568" y="3099816"/>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Domande con premesse false</a:t>
            </a:r>
            <a:endParaRPr lang="it-IT" sz="1200" dirty="0"/>
          </a:p>
        </p:txBody>
      </p:sp>
      <p:sp>
        <p:nvSpPr>
          <p:cNvPr id="25" name="Risposte oltre i documenti forniti"/>
          <p:cNvSpPr/>
          <p:nvPr/>
        </p:nvSpPr>
        <p:spPr>
          <a:xfrm>
            <a:off x="3200400" y="3099816"/>
            <a:ext cx="2606040" cy="713232"/>
          </a:xfrm>
          <a:prstGeom prst="roundRect">
            <a:avLst>
              <a:gd name="adj" fmla="val 10256"/>
            </a:avLst>
          </a:prstGeom>
          <a:solidFill>
            <a:schemeClr val="bg2"/>
          </a:solidFill>
          <a:ln/>
        </p:spPr>
        <p:txBody>
          <a:bodyPr/>
          <a:lstStyle/>
          <a:p>
            <a:endParaRPr lang="it-IT" dirty="0"/>
          </a:p>
        </p:txBody>
      </p:sp>
      <p:sp>
        <p:nvSpPr>
          <p:cNvPr id="26" name="cerchio FiFileMinus"/>
          <p:cNvSpPr/>
          <p:nvPr/>
        </p:nvSpPr>
        <p:spPr>
          <a:xfrm>
            <a:off x="3310128" y="3227832"/>
            <a:ext cx="457200" cy="457200"/>
          </a:xfrm>
          <a:prstGeom prst="ellipse">
            <a:avLst/>
          </a:prstGeom>
          <a:solidFill>
            <a:schemeClr val="accent5"/>
          </a:solidFill>
          <a:ln/>
        </p:spPr>
        <p:txBody>
          <a:bodyPr/>
          <a:lstStyle/>
          <a:p>
            <a:endParaRPr lang="it-IT" dirty="0"/>
          </a:p>
        </p:txBody>
      </p:sp>
      <p:pic>
        <p:nvPicPr>
          <p:cNvPr id="27" name="Image 5" descr="FiFileMinus"/>
          <p:cNvPicPr>
            <a:picLocks noChangeAspect="1"/>
          </p:cNvPicPr>
          <p:nvPr/>
        </p:nvPicPr>
        <p:blipFill>
          <a:blip r:embed="rId8"/>
          <a:stretch>
            <a:fillRect/>
          </a:stretch>
        </p:blipFill>
        <p:spPr>
          <a:xfrm>
            <a:off x="3424428" y="3342132"/>
            <a:ext cx="228600" cy="228600"/>
          </a:xfrm>
          <a:prstGeom prst="rect">
            <a:avLst/>
          </a:prstGeom>
        </p:spPr>
      </p:pic>
      <p:sp>
        <p:nvSpPr>
          <p:cNvPr id="28" name="Text 19"/>
          <p:cNvSpPr txBox="1"/>
          <p:nvPr/>
        </p:nvSpPr>
        <p:spPr>
          <a:xfrm>
            <a:off x="3858768" y="3099816"/>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Risposte oltre i documenti forniti</a:t>
            </a:r>
            <a:endParaRPr lang="it-IT" sz="1200" dirty="0"/>
          </a:p>
        </p:txBody>
      </p:sp>
      <p:sp>
        <p:nvSpPr>
          <p:cNvPr id="29" name="rischio basso"/>
          <p:cNvSpPr/>
          <p:nvPr/>
        </p:nvSpPr>
        <p:spPr>
          <a:xfrm>
            <a:off x="6080760" y="1051560"/>
            <a:ext cx="2606040" cy="3474720"/>
          </a:xfrm>
          <a:prstGeom prst="roundRect">
            <a:avLst>
              <a:gd name="adj" fmla="val 2807"/>
            </a:avLst>
          </a:prstGeom>
          <a:solidFill>
            <a:schemeClr val="accent6"/>
          </a:solidFill>
          <a:ln/>
        </p:spPr>
        <p:txBody>
          <a:bodyPr/>
          <a:lstStyle/>
          <a:p>
            <a:endParaRPr lang="it-IT" dirty="0"/>
          </a:p>
        </p:txBody>
      </p:sp>
      <p:sp>
        <p:nvSpPr>
          <p:cNvPr id="30" name="Text 21"/>
          <p:cNvSpPr txBox="1"/>
          <p:nvPr/>
        </p:nvSpPr>
        <p:spPr>
          <a:xfrm>
            <a:off x="6263640" y="1188720"/>
            <a:ext cx="2286000" cy="320040"/>
          </a:xfrm>
          <a:prstGeom prst="rect">
            <a:avLst/>
          </a:prstGeom>
          <a:noFill/>
          <a:ln/>
        </p:spPr>
        <p:txBody>
          <a:bodyPr wrap="square" lIns="0" tIns="0" rIns="0" bIns="0" rtlCol="0" anchor="t"/>
          <a:lstStyle/>
          <a:p>
            <a:pPr marL="0" indent="0">
              <a:buNone/>
            </a:pPr>
            <a:r>
              <a:rPr lang="it-IT" sz="1400" b="1" dirty="0">
                <a:solidFill>
                  <a:schemeClr val="accent1"/>
                </a:solidFill>
              </a:rPr>
              <a:t>Rischio più basso</a:t>
            </a:r>
            <a:endParaRPr lang="it-IT" sz="1400" dirty="0"/>
          </a:p>
        </p:txBody>
      </p:sp>
      <p:sp>
        <p:nvSpPr>
          <p:cNvPr id="31" name="Text 22"/>
          <p:cNvSpPr txBox="1"/>
          <p:nvPr/>
        </p:nvSpPr>
        <p:spPr>
          <a:xfrm>
            <a:off x="6263640" y="1645920"/>
            <a:ext cx="2286000" cy="2743200"/>
          </a:xfrm>
          <a:prstGeom prst="rect">
            <a:avLst/>
          </a:prstGeom>
          <a:noFill/>
          <a:ln/>
        </p:spPr>
        <p:txBody>
          <a:bodyPr wrap="square" lIns="0" tIns="0" rIns="0" bIns="0" rtlCol="0" anchor="t"/>
          <a:lstStyle/>
          <a:p>
            <a:pPr marL="177800" indent="-177800">
              <a:spcAft>
                <a:spcPts val="800"/>
              </a:spcAft>
              <a:buSzPct val="100000"/>
              <a:buChar char="•"/>
            </a:pPr>
            <a:r>
              <a:rPr lang="it-IT" sz="1300" dirty="0">
                <a:solidFill>
                  <a:schemeClr val="tx1"/>
                </a:solidFill>
              </a:rPr>
              <a:t>Trasformare un testo fornito: riformulare, tradurre, correggere</a:t>
            </a:r>
            <a:endParaRPr lang="it-IT" sz="1300" dirty="0"/>
          </a:p>
          <a:p>
            <a:pPr marL="177800" indent="-177800">
              <a:spcAft>
                <a:spcPts val="800"/>
              </a:spcAft>
              <a:buSzPct val="100000"/>
              <a:buChar char="•"/>
            </a:pPr>
            <a:r>
              <a:rPr lang="it-IT" sz="1300" dirty="0">
                <a:solidFill>
                  <a:schemeClr val="tx1"/>
                </a:solidFill>
              </a:rPr>
              <a:t>Compiti brevi e ben delimitati</a:t>
            </a:r>
            <a:endParaRPr lang="it-IT" sz="1300" dirty="0"/>
          </a:p>
          <a:p>
            <a:pPr marL="177800" indent="-177800">
              <a:spcAft>
                <a:spcPts val="800"/>
              </a:spcAft>
              <a:buSzPct val="100000"/>
              <a:buChar char="•"/>
            </a:pPr>
            <a:r>
              <a:rPr lang="it-IT" sz="1300" dirty="0">
                <a:solidFill>
                  <a:schemeClr val="tx1"/>
                </a:solidFill>
              </a:rPr>
              <a:t>Risultati facili da controllare</a:t>
            </a:r>
            <a:endParaRPr lang="it-IT" sz="1300" dirty="0"/>
          </a:p>
        </p:txBody>
      </p:sp>
      <p:sp>
        <p:nvSpPr>
          <p:cNvPr id="32" name="Text 23"/>
          <p:cNvSpPr txBox="1"/>
          <p:nvPr/>
        </p:nvSpPr>
        <p:spPr>
          <a:xfrm>
            <a:off x="457200" y="4023360"/>
            <a:ext cx="5394960" cy="502920"/>
          </a:xfrm>
          <a:prstGeom prst="rect">
            <a:avLst/>
          </a:prstGeom>
          <a:noFill/>
          <a:ln/>
        </p:spPr>
        <p:txBody>
          <a:bodyPr wrap="square" lIns="0" tIns="0" rIns="0" bIns="0" rtlCol="0" anchor="t"/>
          <a:lstStyle/>
          <a:p>
            <a:pPr marL="0" indent="0">
              <a:buNone/>
            </a:pPr>
            <a:r>
              <a:rPr lang="it-IT" sz="1200" i="1" dirty="0">
                <a:solidFill>
                  <a:schemeClr val="tx2"/>
                </a:solidFill>
              </a:rPr>
              <a:t>Anche testi lunghi e compiti articolati aumentano le occasioni di errore.</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25</a:t>
            </a:fld>
            <a:endParaRPr lang="it-IT"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2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dirty="0">
                <a:solidFill>
                  <a:schemeClr val="bg1"/>
                </a:solidFill>
              </a:rPr>
              <a:t>La fluidità o la sicurezza del tono non dimostra che un'affermazione sia corretta o verificata.</a:t>
            </a:r>
            <a:endParaRPr lang="it-IT"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dirty="0">
                <a:solidFill>
                  <a:schemeClr val="accent3"/>
                </a:solidFill>
              </a:rPr>
              <a:t>Sottotema 3.3  ·  Allucinazioni e informazioni false</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26</a:t>
            </a:fld>
            <a:endParaRPr lang="it-IT"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3.4</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Bias e distorsioni nei risultati</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I sistemi AI possono riprodurre o amplificare distorsioni: le risposte non sono automaticamente imparziali</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27</a:t>
            </a:fld>
            <a:endParaRPr lang="it-IT"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Che cosa sono </a:t>
            </a:r>
            <a:r>
              <a:rPr lang="it-IT" sz="2600" b="1" dirty="0" err="1">
                <a:solidFill>
                  <a:schemeClr val="tx1"/>
                </a:solidFill>
              </a:rPr>
              <a:t>bias</a:t>
            </a:r>
            <a:r>
              <a:rPr lang="it-IT" sz="2600" b="1" dirty="0">
                <a:solidFill>
                  <a:schemeClr val="tx1"/>
                </a:solidFill>
              </a:rPr>
              <a:t> e distorsioni</a:t>
            </a:r>
            <a:endParaRPr lang="it-IT" sz="2600" dirty="0"/>
          </a:p>
        </p:txBody>
      </p:sp>
      <p:sp>
        <p:nvSpPr>
          <p:cNvPr id="4" name="scheda Errore casuale"/>
          <p:cNvSpPr/>
          <p:nvPr/>
        </p:nvSpPr>
        <p:spPr>
          <a:xfrm>
            <a:off x="457200" y="1097280"/>
            <a:ext cx="3977640" cy="2011680"/>
          </a:xfrm>
          <a:prstGeom prst="roundRect">
            <a:avLst>
              <a:gd name="adj" fmla="val 3636"/>
            </a:avLst>
          </a:prstGeom>
          <a:solidFill>
            <a:schemeClr val="bg2"/>
          </a:solidFill>
          <a:ln/>
        </p:spPr>
        <p:txBody>
          <a:bodyPr/>
          <a:lstStyle/>
          <a:p>
            <a:endParaRPr lang="it-IT" dirty="0"/>
          </a:p>
        </p:txBody>
      </p:sp>
      <p:sp>
        <p:nvSpPr>
          <p:cNvPr id="5" name="cerchio FiShuffle"/>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Shuffl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1234440" y="128016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Errore casuale</a:t>
            </a:r>
            <a:endParaRPr lang="it-IT" sz="1500" dirty="0"/>
          </a:p>
        </p:txBody>
      </p:sp>
      <p:sp>
        <p:nvSpPr>
          <p:cNvPr id="8" name="Text 4"/>
          <p:cNvSpPr txBox="1"/>
          <p:nvPr/>
        </p:nvSpPr>
        <p:spPr>
          <a:xfrm>
            <a:off x="640080" y="1874520"/>
            <a:ext cx="3611880" cy="1124712"/>
          </a:xfrm>
          <a:prstGeom prst="rect">
            <a:avLst/>
          </a:prstGeom>
          <a:noFill/>
          <a:ln/>
        </p:spPr>
        <p:txBody>
          <a:bodyPr wrap="square" lIns="0" tIns="0" rIns="0" bIns="0" rtlCol="0" anchor="t"/>
          <a:lstStyle/>
          <a:p>
            <a:pPr marL="0" indent="0">
              <a:buNone/>
            </a:pPr>
            <a:r>
              <a:rPr lang="it-IT" sz="1300" dirty="0">
                <a:solidFill>
                  <a:schemeClr val="tx2"/>
                </a:solidFill>
              </a:rPr>
              <a:t>Imprevedibile, in direzioni diverse, tende a compensarsi.</a:t>
            </a:r>
            <a:endParaRPr lang="it-IT" sz="1300" dirty="0"/>
          </a:p>
          <a:p>
            <a:pPr marL="0" indent="0">
              <a:buNone/>
            </a:pPr>
            <a:endParaRPr lang="it-IT" sz="1300" dirty="0"/>
          </a:p>
          <a:p>
            <a:pPr marL="0" indent="0">
              <a:buNone/>
            </a:pPr>
            <a:r>
              <a:rPr lang="it-IT" sz="1300" dirty="0">
                <a:solidFill>
                  <a:schemeClr val="tx2"/>
                </a:solidFill>
              </a:rPr>
              <a:t>Come una pesata imprecisa: un po' sopra, un po' sotto.</a:t>
            </a:r>
            <a:endParaRPr lang="it-IT" sz="1300" dirty="0"/>
          </a:p>
        </p:txBody>
      </p:sp>
      <p:sp>
        <p:nvSpPr>
          <p:cNvPr id="9" name="scheda Bias (distorsione sistematica)"/>
          <p:cNvSpPr/>
          <p:nvPr/>
        </p:nvSpPr>
        <p:spPr>
          <a:xfrm>
            <a:off x="4709160" y="1097280"/>
            <a:ext cx="3977640" cy="2011680"/>
          </a:xfrm>
          <a:prstGeom prst="roundRect">
            <a:avLst>
              <a:gd name="adj" fmla="val 3636"/>
            </a:avLst>
          </a:prstGeom>
          <a:solidFill>
            <a:schemeClr val="accent6"/>
          </a:solidFill>
          <a:ln/>
        </p:spPr>
        <p:txBody>
          <a:bodyPr/>
          <a:lstStyle/>
          <a:p>
            <a:endParaRPr lang="it-IT" dirty="0"/>
          </a:p>
        </p:txBody>
      </p:sp>
      <p:sp>
        <p:nvSpPr>
          <p:cNvPr id="10" name="cerchio FiTrendingUp"/>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TrendingUp"/>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5486400" y="128016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Bias (distorsione sistematica)</a:t>
            </a:r>
            <a:endParaRPr lang="it-IT" sz="1500" dirty="0"/>
          </a:p>
        </p:txBody>
      </p:sp>
      <p:sp>
        <p:nvSpPr>
          <p:cNvPr id="13" name="Text 8"/>
          <p:cNvSpPr txBox="1"/>
          <p:nvPr/>
        </p:nvSpPr>
        <p:spPr>
          <a:xfrm>
            <a:off x="4892040" y="1874520"/>
            <a:ext cx="3611880" cy="1124712"/>
          </a:xfrm>
          <a:prstGeom prst="rect">
            <a:avLst/>
          </a:prstGeom>
          <a:noFill/>
          <a:ln/>
        </p:spPr>
        <p:txBody>
          <a:bodyPr wrap="square" lIns="0" tIns="0" rIns="0" bIns="0" rtlCol="0" anchor="t"/>
          <a:lstStyle/>
          <a:p>
            <a:pPr marL="0" indent="0">
              <a:buNone/>
            </a:pPr>
            <a:r>
              <a:rPr lang="it-IT" sz="1300" dirty="0">
                <a:solidFill>
                  <a:schemeClr val="tx2"/>
                </a:solidFill>
              </a:rPr>
              <a:t>Sempre nella stessa direzione: non si compensa, si accumula.</a:t>
            </a:r>
            <a:endParaRPr lang="it-IT" sz="1300" dirty="0"/>
          </a:p>
          <a:p>
            <a:pPr marL="0" indent="0">
              <a:buNone/>
            </a:pPr>
            <a:endParaRPr lang="it-IT" sz="1300" dirty="0"/>
          </a:p>
          <a:p>
            <a:pPr marL="0" indent="0">
              <a:buNone/>
            </a:pPr>
            <a:r>
              <a:rPr lang="it-IT" sz="1300" dirty="0">
                <a:solidFill>
                  <a:schemeClr val="tx2"/>
                </a:solidFill>
              </a:rPr>
              <a:t>Come una bilancia starata: sempre 100 grammi in più.</a:t>
            </a:r>
            <a:endParaRPr lang="it-IT" sz="1300" dirty="0"/>
          </a:p>
        </p:txBody>
      </p:sp>
      <p:sp>
        <p:nvSpPr>
          <p:cNvPr id="14" name="Text 9"/>
          <p:cNvSpPr txBox="1"/>
          <p:nvPr/>
        </p:nvSpPr>
        <p:spPr>
          <a:xfrm>
            <a:off x="457200" y="3291840"/>
            <a:ext cx="8229600" cy="274320"/>
          </a:xfrm>
          <a:prstGeom prst="rect">
            <a:avLst/>
          </a:prstGeom>
          <a:noFill/>
          <a:ln/>
        </p:spPr>
        <p:txBody>
          <a:bodyPr wrap="square" lIns="0" tIns="0" rIns="0" bIns="0" rtlCol="0" anchor="t"/>
          <a:lstStyle/>
          <a:p>
            <a:pPr marL="0" indent="0">
              <a:buNone/>
            </a:pPr>
            <a:r>
              <a:rPr lang="it-IT" sz="1400" b="1" dirty="0">
                <a:solidFill>
                  <a:schemeClr val="tx1"/>
                </a:solidFill>
              </a:rPr>
              <a:t>Che cosa può riguardare</a:t>
            </a:r>
            <a:endParaRPr lang="it-IT" sz="1400" dirty="0"/>
          </a:p>
        </p:txBody>
      </p:sp>
      <p:sp>
        <p:nvSpPr>
          <p:cNvPr id="15" name="blocco Gruppi sociali, genere, età"/>
          <p:cNvSpPr/>
          <p:nvPr/>
        </p:nvSpPr>
        <p:spPr>
          <a:xfrm>
            <a:off x="457200" y="3657600"/>
            <a:ext cx="1965960" cy="502920"/>
          </a:xfrm>
          <a:prstGeom prst="roundRect">
            <a:avLst>
              <a:gd name="adj" fmla="val 21818"/>
            </a:avLst>
          </a:prstGeom>
          <a:solidFill>
            <a:schemeClr val="bg1"/>
          </a:solidFill>
          <a:ln w="12700">
            <a:solidFill>
              <a:schemeClr val="accent3"/>
            </a:solidFill>
            <a:prstDash val="solid"/>
          </a:ln>
        </p:spPr>
        <p:txBody>
          <a:bodyPr/>
          <a:lstStyle/>
          <a:p>
            <a:endParaRPr lang="it-IT" dirty="0"/>
          </a:p>
        </p:txBody>
      </p:sp>
      <p:sp>
        <p:nvSpPr>
          <p:cNvPr id="16" name="Text 11"/>
          <p:cNvSpPr txBox="1"/>
          <p:nvPr/>
        </p:nvSpPr>
        <p:spPr>
          <a:xfrm>
            <a:off x="502920" y="3657600"/>
            <a:ext cx="1874520" cy="502920"/>
          </a:xfrm>
          <a:prstGeom prst="rect">
            <a:avLst/>
          </a:prstGeom>
          <a:noFill/>
          <a:ln/>
        </p:spPr>
        <p:txBody>
          <a:bodyPr wrap="square" lIns="0" tIns="0" rIns="0" bIns="0" rtlCol="0" anchor="ctr"/>
          <a:lstStyle/>
          <a:p>
            <a:pPr marL="0" indent="0" algn="ctr">
              <a:buNone/>
            </a:pPr>
            <a:r>
              <a:rPr lang="it-IT" sz="1200" b="1" dirty="0">
                <a:solidFill>
                  <a:schemeClr val="tx1"/>
                </a:solidFill>
              </a:rPr>
              <a:t>Gruppi sociali, genere, età</a:t>
            </a:r>
            <a:endParaRPr lang="it-IT" sz="1200" dirty="0"/>
          </a:p>
        </p:txBody>
      </p:sp>
      <p:sp>
        <p:nvSpPr>
          <p:cNvPr id="17" name="blocco Prospettiva culturale e geografica"/>
          <p:cNvSpPr/>
          <p:nvPr/>
        </p:nvSpPr>
        <p:spPr>
          <a:xfrm>
            <a:off x="2560320" y="3657600"/>
            <a:ext cx="1965960" cy="502920"/>
          </a:xfrm>
          <a:prstGeom prst="roundRect">
            <a:avLst>
              <a:gd name="adj" fmla="val 21818"/>
            </a:avLst>
          </a:prstGeom>
          <a:solidFill>
            <a:schemeClr val="bg1"/>
          </a:solidFill>
          <a:ln w="12700">
            <a:solidFill>
              <a:schemeClr val="accent3"/>
            </a:solidFill>
            <a:prstDash val="solid"/>
          </a:ln>
        </p:spPr>
        <p:txBody>
          <a:bodyPr/>
          <a:lstStyle/>
          <a:p>
            <a:endParaRPr lang="it-IT" dirty="0"/>
          </a:p>
        </p:txBody>
      </p:sp>
      <p:sp>
        <p:nvSpPr>
          <p:cNvPr id="18" name="Text 13"/>
          <p:cNvSpPr txBox="1"/>
          <p:nvPr/>
        </p:nvSpPr>
        <p:spPr>
          <a:xfrm>
            <a:off x="2606040" y="3657600"/>
            <a:ext cx="1874520" cy="502920"/>
          </a:xfrm>
          <a:prstGeom prst="rect">
            <a:avLst/>
          </a:prstGeom>
          <a:noFill/>
          <a:ln/>
        </p:spPr>
        <p:txBody>
          <a:bodyPr wrap="square" lIns="0" tIns="0" rIns="0" bIns="0" rtlCol="0" anchor="ctr"/>
          <a:lstStyle/>
          <a:p>
            <a:pPr marL="0" indent="0" algn="ctr">
              <a:buNone/>
            </a:pPr>
            <a:r>
              <a:rPr lang="it-IT" sz="1200" b="1" dirty="0">
                <a:solidFill>
                  <a:schemeClr val="tx1"/>
                </a:solidFill>
              </a:rPr>
              <a:t>Prospettiva culturale e geografica</a:t>
            </a:r>
            <a:endParaRPr lang="it-IT" sz="1200" dirty="0"/>
          </a:p>
        </p:txBody>
      </p:sp>
      <p:sp>
        <p:nvSpPr>
          <p:cNvPr id="19" name="blocco Preferenza per fonti o posizioni"/>
          <p:cNvSpPr/>
          <p:nvPr/>
        </p:nvSpPr>
        <p:spPr>
          <a:xfrm>
            <a:off x="4663440" y="3657600"/>
            <a:ext cx="1965960" cy="502920"/>
          </a:xfrm>
          <a:prstGeom prst="roundRect">
            <a:avLst>
              <a:gd name="adj" fmla="val 21818"/>
            </a:avLst>
          </a:prstGeom>
          <a:solidFill>
            <a:schemeClr val="bg1"/>
          </a:solidFill>
          <a:ln w="12700">
            <a:solidFill>
              <a:schemeClr val="accent3"/>
            </a:solidFill>
            <a:prstDash val="solid"/>
          </a:ln>
        </p:spPr>
        <p:txBody>
          <a:bodyPr/>
          <a:lstStyle/>
          <a:p>
            <a:endParaRPr lang="it-IT" dirty="0"/>
          </a:p>
        </p:txBody>
      </p:sp>
      <p:sp>
        <p:nvSpPr>
          <p:cNvPr id="20" name="Text 15"/>
          <p:cNvSpPr txBox="1"/>
          <p:nvPr/>
        </p:nvSpPr>
        <p:spPr>
          <a:xfrm>
            <a:off x="4709160" y="3657600"/>
            <a:ext cx="1874520" cy="502920"/>
          </a:xfrm>
          <a:prstGeom prst="rect">
            <a:avLst/>
          </a:prstGeom>
          <a:noFill/>
          <a:ln/>
        </p:spPr>
        <p:txBody>
          <a:bodyPr wrap="square" lIns="0" tIns="0" rIns="0" bIns="0" rtlCol="0" anchor="ctr"/>
          <a:lstStyle/>
          <a:p>
            <a:pPr marL="0" indent="0" algn="ctr">
              <a:buNone/>
            </a:pPr>
            <a:r>
              <a:rPr lang="it-IT" sz="1200" b="1" dirty="0">
                <a:solidFill>
                  <a:schemeClr val="tx1"/>
                </a:solidFill>
              </a:rPr>
              <a:t>Preferenza per fonti o posizioni</a:t>
            </a:r>
            <a:endParaRPr lang="it-IT" sz="1200" dirty="0"/>
          </a:p>
        </p:txBody>
      </p:sp>
      <p:sp>
        <p:nvSpPr>
          <p:cNvPr id="21" name="blocco Soluzioni proposte"/>
          <p:cNvSpPr/>
          <p:nvPr/>
        </p:nvSpPr>
        <p:spPr>
          <a:xfrm>
            <a:off x="6766560" y="3657600"/>
            <a:ext cx="1965960" cy="502920"/>
          </a:xfrm>
          <a:prstGeom prst="roundRect">
            <a:avLst>
              <a:gd name="adj" fmla="val 21818"/>
            </a:avLst>
          </a:prstGeom>
          <a:solidFill>
            <a:schemeClr val="bg1"/>
          </a:solidFill>
          <a:ln w="12700">
            <a:solidFill>
              <a:schemeClr val="accent3"/>
            </a:solidFill>
            <a:prstDash val="solid"/>
          </a:ln>
        </p:spPr>
        <p:txBody>
          <a:bodyPr/>
          <a:lstStyle/>
          <a:p>
            <a:endParaRPr lang="it-IT" dirty="0"/>
          </a:p>
        </p:txBody>
      </p:sp>
      <p:sp>
        <p:nvSpPr>
          <p:cNvPr id="22" name="Text 17"/>
          <p:cNvSpPr txBox="1"/>
          <p:nvPr/>
        </p:nvSpPr>
        <p:spPr>
          <a:xfrm>
            <a:off x="6812280" y="3657600"/>
            <a:ext cx="1874520" cy="502920"/>
          </a:xfrm>
          <a:prstGeom prst="rect">
            <a:avLst/>
          </a:prstGeom>
          <a:noFill/>
          <a:ln/>
        </p:spPr>
        <p:txBody>
          <a:bodyPr wrap="square" lIns="0" tIns="0" rIns="0" bIns="0" rtlCol="0" anchor="ctr"/>
          <a:lstStyle/>
          <a:p>
            <a:pPr marL="0" indent="0" algn="ctr">
              <a:buNone/>
            </a:pPr>
            <a:r>
              <a:rPr lang="it-IT" sz="1200" b="1" dirty="0">
                <a:solidFill>
                  <a:schemeClr val="tx1"/>
                </a:solidFill>
              </a:rPr>
              <a:t>Soluzioni proposte</a:t>
            </a:r>
            <a:endParaRPr lang="it-IT" sz="1200" dirty="0"/>
          </a:p>
        </p:txBody>
      </p:sp>
      <p:sp>
        <p:nvSpPr>
          <p:cNvPr id="23" name="Text 18"/>
          <p:cNvSpPr txBox="1"/>
          <p:nvPr/>
        </p:nvSpPr>
        <p:spPr>
          <a:xfrm>
            <a:off x="457200" y="4297680"/>
            <a:ext cx="8229600" cy="274320"/>
          </a:xfrm>
          <a:prstGeom prst="rect">
            <a:avLst/>
          </a:prstGeom>
          <a:noFill/>
          <a:ln/>
        </p:spPr>
        <p:txBody>
          <a:bodyPr wrap="square" lIns="0" tIns="0" rIns="0" bIns="0" rtlCol="0" anchor="t"/>
          <a:lstStyle/>
          <a:p>
            <a:pPr marL="0" indent="0">
              <a:buNone/>
            </a:pPr>
            <a:r>
              <a:rPr lang="it-IT" sz="1200" i="1" dirty="0">
                <a:solidFill>
                  <a:schemeClr val="tx2"/>
                </a:solidFill>
              </a:rPr>
              <a:t>Non implica intenzione, ma gli effetti possono essere reali.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28</a:t>
            </a:fld>
            <a:endParaRPr lang="it-IT"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Da dove nascono le distorsioni</a:t>
            </a:r>
            <a:endParaRPr lang="it-IT" sz="2600" dirty="0"/>
          </a:p>
        </p:txBody>
      </p:sp>
      <p:sp>
        <p:nvSpPr>
          <p:cNvPr id="4" name="Dati di addestramento"/>
          <p:cNvSpPr/>
          <p:nvPr/>
        </p:nvSpPr>
        <p:spPr>
          <a:xfrm>
            <a:off x="457200" y="1097280"/>
            <a:ext cx="1691640" cy="2103120"/>
          </a:xfrm>
          <a:prstGeom prst="roundRect">
            <a:avLst>
              <a:gd name="adj" fmla="val 4324"/>
            </a:avLst>
          </a:prstGeom>
          <a:solidFill>
            <a:schemeClr val="bg2"/>
          </a:solidFill>
          <a:ln/>
        </p:spPr>
        <p:txBody>
          <a:bodyPr/>
          <a:lstStyle/>
          <a:p>
            <a:endParaRPr lang="it-IT" dirty="0"/>
          </a:p>
        </p:txBody>
      </p:sp>
      <p:sp>
        <p:nvSpPr>
          <p:cNvPr id="5" name="cerchio FiDatabase"/>
          <p:cNvSpPr/>
          <p:nvPr/>
        </p:nvSpPr>
        <p:spPr>
          <a:xfrm>
            <a:off x="1024128" y="1234440"/>
            <a:ext cx="548640" cy="548640"/>
          </a:xfrm>
          <a:prstGeom prst="ellipse">
            <a:avLst/>
          </a:prstGeom>
          <a:solidFill>
            <a:schemeClr val="accent1"/>
          </a:solidFill>
          <a:ln/>
        </p:spPr>
        <p:txBody>
          <a:bodyPr/>
          <a:lstStyle/>
          <a:p>
            <a:endParaRPr lang="it-IT" dirty="0"/>
          </a:p>
        </p:txBody>
      </p:sp>
      <p:pic>
        <p:nvPicPr>
          <p:cNvPr id="6" name="Image 0" descr="FiDatabase"/>
          <p:cNvPicPr>
            <a:picLocks noChangeAspect="1"/>
          </p:cNvPicPr>
          <p:nvPr/>
        </p:nvPicPr>
        <p:blipFill>
          <a:blip r:embed="rId3"/>
          <a:stretch>
            <a:fillRect/>
          </a:stretch>
        </p:blipFill>
        <p:spPr>
          <a:xfrm>
            <a:off x="1161288" y="1371600"/>
            <a:ext cx="274320" cy="274320"/>
          </a:xfrm>
          <a:prstGeom prst="rect">
            <a:avLst/>
          </a:prstGeom>
        </p:spPr>
      </p:pic>
      <p:sp>
        <p:nvSpPr>
          <p:cNvPr id="7" name="Text 3"/>
          <p:cNvSpPr txBox="1"/>
          <p:nvPr/>
        </p:nvSpPr>
        <p:spPr>
          <a:xfrm>
            <a:off x="548640" y="1828800"/>
            <a:ext cx="1508760" cy="502920"/>
          </a:xfrm>
          <a:prstGeom prst="rect">
            <a:avLst/>
          </a:prstGeom>
          <a:noFill/>
          <a:ln/>
        </p:spPr>
        <p:txBody>
          <a:bodyPr wrap="square" lIns="0" tIns="0" rIns="0" bIns="0" rtlCol="0" anchor="ctr"/>
          <a:lstStyle/>
          <a:p>
            <a:pPr marL="0" indent="0" algn="ctr">
              <a:buNone/>
            </a:pPr>
            <a:r>
              <a:rPr lang="it-IT" sz="1300" b="1" dirty="0">
                <a:solidFill>
                  <a:schemeClr val="tx1"/>
                </a:solidFill>
              </a:rPr>
              <a:t>Dati di addestramento</a:t>
            </a:r>
            <a:endParaRPr lang="it-IT" sz="1300" dirty="0"/>
          </a:p>
        </p:txBody>
      </p:sp>
      <p:sp>
        <p:nvSpPr>
          <p:cNvPr id="8" name="Text 4"/>
          <p:cNvSpPr txBox="1"/>
          <p:nvPr/>
        </p:nvSpPr>
        <p:spPr>
          <a:xfrm>
            <a:off x="566928" y="2359152"/>
            <a:ext cx="1472184" cy="777240"/>
          </a:xfrm>
          <a:prstGeom prst="rect">
            <a:avLst/>
          </a:prstGeom>
          <a:noFill/>
          <a:ln/>
        </p:spPr>
        <p:txBody>
          <a:bodyPr wrap="square" lIns="0" tIns="0" rIns="0" bIns="0" rtlCol="0" anchor="t"/>
          <a:lstStyle/>
          <a:p>
            <a:pPr marL="0" indent="0" algn="ctr">
              <a:buNone/>
            </a:pPr>
            <a:r>
              <a:rPr lang="it-IT" sz="1100" dirty="0">
                <a:solidFill>
                  <a:schemeClr val="tx2"/>
                </a:solidFill>
              </a:rPr>
              <a:t>Riflettono stereotipi e squilibri di rappresentazione</a:t>
            </a:r>
            <a:endParaRPr lang="it-IT" sz="1100" dirty="0"/>
          </a:p>
        </p:txBody>
      </p:sp>
      <p:sp>
        <p:nvSpPr>
          <p:cNvPr id="9" name="freccia"/>
          <p:cNvSpPr/>
          <p:nvPr/>
        </p:nvSpPr>
        <p:spPr>
          <a:xfrm>
            <a:off x="2157984" y="2011680"/>
            <a:ext cx="164592" cy="292608"/>
          </a:xfrm>
          <a:prstGeom prst="rightArrow">
            <a:avLst/>
          </a:prstGeom>
          <a:solidFill>
            <a:schemeClr val="accent2"/>
          </a:solidFill>
          <a:ln/>
        </p:spPr>
        <p:txBody>
          <a:bodyPr/>
          <a:lstStyle/>
          <a:p>
            <a:endParaRPr lang="it-IT" dirty="0"/>
          </a:p>
        </p:txBody>
      </p:sp>
      <p:sp>
        <p:nvSpPr>
          <p:cNvPr id="10" name="Addestramento e affinamento"/>
          <p:cNvSpPr/>
          <p:nvPr/>
        </p:nvSpPr>
        <p:spPr>
          <a:xfrm>
            <a:off x="2331720" y="1097280"/>
            <a:ext cx="1691640" cy="2103120"/>
          </a:xfrm>
          <a:prstGeom prst="roundRect">
            <a:avLst>
              <a:gd name="adj" fmla="val 4324"/>
            </a:avLst>
          </a:prstGeom>
          <a:solidFill>
            <a:schemeClr val="bg2"/>
          </a:solidFill>
          <a:ln/>
        </p:spPr>
        <p:txBody>
          <a:bodyPr/>
          <a:lstStyle/>
          <a:p>
            <a:endParaRPr lang="it-IT" dirty="0"/>
          </a:p>
        </p:txBody>
      </p:sp>
      <p:sp>
        <p:nvSpPr>
          <p:cNvPr id="11" name="cerchio FiSettings"/>
          <p:cNvSpPr/>
          <p:nvPr/>
        </p:nvSpPr>
        <p:spPr>
          <a:xfrm>
            <a:off x="2898648" y="1234440"/>
            <a:ext cx="548640" cy="548640"/>
          </a:xfrm>
          <a:prstGeom prst="ellipse">
            <a:avLst/>
          </a:prstGeom>
          <a:solidFill>
            <a:schemeClr val="accent1"/>
          </a:solidFill>
          <a:ln/>
        </p:spPr>
        <p:txBody>
          <a:bodyPr/>
          <a:lstStyle/>
          <a:p>
            <a:endParaRPr lang="it-IT" dirty="0"/>
          </a:p>
        </p:txBody>
      </p:sp>
      <p:pic>
        <p:nvPicPr>
          <p:cNvPr id="12" name="Image 1" descr="FiSettings"/>
          <p:cNvPicPr>
            <a:picLocks noChangeAspect="1"/>
          </p:cNvPicPr>
          <p:nvPr/>
        </p:nvPicPr>
        <p:blipFill>
          <a:blip r:embed="rId4"/>
          <a:stretch>
            <a:fillRect/>
          </a:stretch>
        </p:blipFill>
        <p:spPr>
          <a:xfrm>
            <a:off x="3035808" y="1371600"/>
            <a:ext cx="274320" cy="274320"/>
          </a:xfrm>
          <a:prstGeom prst="rect">
            <a:avLst/>
          </a:prstGeom>
        </p:spPr>
      </p:pic>
      <p:sp>
        <p:nvSpPr>
          <p:cNvPr id="13" name="Text 8"/>
          <p:cNvSpPr txBox="1"/>
          <p:nvPr/>
        </p:nvSpPr>
        <p:spPr>
          <a:xfrm>
            <a:off x="2423160" y="1828800"/>
            <a:ext cx="1508760" cy="502920"/>
          </a:xfrm>
          <a:prstGeom prst="rect">
            <a:avLst/>
          </a:prstGeom>
          <a:noFill/>
          <a:ln/>
        </p:spPr>
        <p:txBody>
          <a:bodyPr wrap="square" lIns="0" tIns="0" rIns="0" bIns="0" rtlCol="0" anchor="ctr"/>
          <a:lstStyle/>
          <a:p>
            <a:pPr marL="0" indent="0" algn="ctr">
              <a:buNone/>
            </a:pPr>
            <a:r>
              <a:rPr lang="it-IT" sz="1300" b="1" dirty="0">
                <a:solidFill>
                  <a:schemeClr val="tx1"/>
                </a:solidFill>
              </a:rPr>
              <a:t>Addestramento e affinamento</a:t>
            </a:r>
            <a:endParaRPr lang="it-IT" sz="1300" dirty="0"/>
          </a:p>
        </p:txBody>
      </p:sp>
      <p:sp>
        <p:nvSpPr>
          <p:cNvPr id="14" name="Text 9"/>
          <p:cNvSpPr txBox="1"/>
          <p:nvPr/>
        </p:nvSpPr>
        <p:spPr>
          <a:xfrm>
            <a:off x="2441448" y="2359152"/>
            <a:ext cx="1472184" cy="777240"/>
          </a:xfrm>
          <a:prstGeom prst="rect">
            <a:avLst/>
          </a:prstGeom>
          <a:noFill/>
          <a:ln/>
        </p:spPr>
        <p:txBody>
          <a:bodyPr wrap="square" lIns="0" tIns="0" rIns="0" bIns="0" rtlCol="0" anchor="t"/>
          <a:lstStyle/>
          <a:p>
            <a:pPr marL="0" indent="0" algn="ctr">
              <a:buNone/>
            </a:pPr>
            <a:r>
              <a:rPr lang="it-IT" sz="1100" dirty="0">
                <a:solidFill>
                  <a:schemeClr val="tx2"/>
                </a:solidFill>
              </a:rPr>
              <a:t>Scelte su dati, filtri e comportamenti premiati</a:t>
            </a:r>
            <a:endParaRPr lang="it-IT" sz="1100" dirty="0"/>
          </a:p>
        </p:txBody>
      </p:sp>
      <p:sp>
        <p:nvSpPr>
          <p:cNvPr id="15" name="freccia"/>
          <p:cNvSpPr/>
          <p:nvPr/>
        </p:nvSpPr>
        <p:spPr>
          <a:xfrm>
            <a:off x="4032504" y="2011680"/>
            <a:ext cx="164592" cy="292608"/>
          </a:xfrm>
          <a:prstGeom prst="rightArrow">
            <a:avLst/>
          </a:prstGeom>
          <a:solidFill>
            <a:schemeClr val="accent2"/>
          </a:solidFill>
          <a:ln/>
        </p:spPr>
        <p:txBody>
          <a:bodyPr/>
          <a:lstStyle/>
          <a:p>
            <a:endParaRPr lang="it-IT" dirty="0"/>
          </a:p>
        </p:txBody>
      </p:sp>
      <p:sp>
        <p:nvSpPr>
          <p:cNvPr id="16" name="Contesto d'uso"/>
          <p:cNvSpPr/>
          <p:nvPr/>
        </p:nvSpPr>
        <p:spPr>
          <a:xfrm>
            <a:off x="4206240" y="1097280"/>
            <a:ext cx="1691640" cy="2103120"/>
          </a:xfrm>
          <a:prstGeom prst="roundRect">
            <a:avLst>
              <a:gd name="adj" fmla="val 4324"/>
            </a:avLst>
          </a:prstGeom>
          <a:solidFill>
            <a:schemeClr val="bg2"/>
          </a:solidFill>
          <a:ln/>
        </p:spPr>
        <p:txBody>
          <a:bodyPr/>
          <a:lstStyle/>
          <a:p>
            <a:endParaRPr lang="it-IT" dirty="0"/>
          </a:p>
        </p:txBody>
      </p:sp>
      <p:sp>
        <p:nvSpPr>
          <p:cNvPr id="17" name="cerchio FiMessageSquare"/>
          <p:cNvSpPr/>
          <p:nvPr/>
        </p:nvSpPr>
        <p:spPr>
          <a:xfrm>
            <a:off x="4773168" y="1234440"/>
            <a:ext cx="548640" cy="548640"/>
          </a:xfrm>
          <a:prstGeom prst="ellipse">
            <a:avLst/>
          </a:prstGeom>
          <a:solidFill>
            <a:schemeClr val="accent1"/>
          </a:solidFill>
          <a:ln/>
        </p:spPr>
        <p:txBody>
          <a:bodyPr/>
          <a:lstStyle/>
          <a:p>
            <a:endParaRPr lang="it-IT" dirty="0"/>
          </a:p>
        </p:txBody>
      </p:sp>
      <p:pic>
        <p:nvPicPr>
          <p:cNvPr id="18" name="Image 2" descr="FiMessageSquare"/>
          <p:cNvPicPr>
            <a:picLocks noChangeAspect="1"/>
          </p:cNvPicPr>
          <p:nvPr/>
        </p:nvPicPr>
        <p:blipFill>
          <a:blip r:embed="rId5"/>
          <a:stretch>
            <a:fillRect/>
          </a:stretch>
        </p:blipFill>
        <p:spPr>
          <a:xfrm>
            <a:off x="4910328" y="1371600"/>
            <a:ext cx="274320" cy="274320"/>
          </a:xfrm>
          <a:prstGeom prst="rect">
            <a:avLst/>
          </a:prstGeom>
        </p:spPr>
      </p:pic>
      <p:sp>
        <p:nvSpPr>
          <p:cNvPr id="19" name="Text 13"/>
          <p:cNvSpPr txBox="1"/>
          <p:nvPr/>
        </p:nvSpPr>
        <p:spPr>
          <a:xfrm>
            <a:off x="4297680" y="1828800"/>
            <a:ext cx="1508760" cy="502920"/>
          </a:xfrm>
          <a:prstGeom prst="rect">
            <a:avLst/>
          </a:prstGeom>
          <a:noFill/>
          <a:ln/>
        </p:spPr>
        <p:txBody>
          <a:bodyPr wrap="square" lIns="0" tIns="0" rIns="0" bIns="0" rtlCol="0" anchor="ctr"/>
          <a:lstStyle/>
          <a:p>
            <a:pPr marL="0" indent="0" algn="ctr">
              <a:buNone/>
            </a:pPr>
            <a:r>
              <a:rPr lang="it-IT" sz="1300" b="1" dirty="0">
                <a:solidFill>
                  <a:schemeClr val="tx1"/>
                </a:solidFill>
              </a:rPr>
              <a:t>Contesto d'uso</a:t>
            </a:r>
            <a:endParaRPr lang="it-IT" sz="1300" dirty="0"/>
          </a:p>
        </p:txBody>
      </p:sp>
      <p:sp>
        <p:nvSpPr>
          <p:cNvPr id="20" name="Text 14"/>
          <p:cNvSpPr txBox="1"/>
          <p:nvPr/>
        </p:nvSpPr>
        <p:spPr>
          <a:xfrm>
            <a:off x="4315968" y="2359152"/>
            <a:ext cx="1472184" cy="777240"/>
          </a:xfrm>
          <a:prstGeom prst="rect">
            <a:avLst/>
          </a:prstGeom>
          <a:noFill/>
          <a:ln/>
        </p:spPr>
        <p:txBody>
          <a:bodyPr wrap="square" lIns="0" tIns="0" rIns="0" bIns="0" rtlCol="0" anchor="t"/>
          <a:lstStyle/>
          <a:p>
            <a:pPr marL="0" indent="0" algn="ctr">
              <a:buNone/>
            </a:pPr>
            <a:r>
              <a:rPr lang="it-IT" sz="1100" dirty="0">
                <a:solidFill>
                  <a:schemeClr val="tx2"/>
                </a:solidFill>
              </a:rPr>
              <a:t>Istruzioni, formulazione delle domande, documenti</a:t>
            </a:r>
            <a:endParaRPr lang="it-IT" sz="1100" dirty="0"/>
          </a:p>
        </p:txBody>
      </p:sp>
      <p:sp>
        <p:nvSpPr>
          <p:cNvPr id="21" name="sintesi origini"/>
          <p:cNvSpPr/>
          <p:nvPr/>
        </p:nvSpPr>
        <p:spPr>
          <a:xfrm>
            <a:off x="457200" y="3383280"/>
            <a:ext cx="5440680" cy="1143000"/>
          </a:xfrm>
          <a:prstGeom prst="roundRect">
            <a:avLst>
              <a:gd name="adj" fmla="val 6400"/>
            </a:avLst>
          </a:prstGeom>
          <a:solidFill>
            <a:schemeClr val="accent6"/>
          </a:solidFill>
          <a:ln/>
        </p:spPr>
        <p:txBody>
          <a:bodyPr/>
          <a:lstStyle/>
          <a:p>
            <a:endParaRPr lang="it-IT" dirty="0"/>
          </a:p>
        </p:txBody>
      </p:sp>
      <p:sp>
        <p:nvSpPr>
          <p:cNvPr id="22" name="Text 16"/>
          <p:cNvSpPr txBox="1"/>
          <p:nvPr/>
        </p:nvSpPr>
        <p:spPr>
          <a:xfrm>
            <a:off x="640080" y="3383280"/>
            <a:ext cx="5120640" cy="1143000"/>
          </a:xfrm>
          <a:prstGeom prst="rect">
            <a:avLst/>
          </a:prstGeom>
          <a:noFill/>
          <a:ln/>
        </p:spPr>
        <p:txBody>
          <a:bodyPr wrap="square" lIns="0" tIns="0" rIns="0" bIns="0" rtlCol="0" anchor="ctr"/>
          <a:lstStyle/>
          <a:p>
            <a:pPr marL="0" indent="0">
              <a:buNone/>
            </a:pPr>
            <a:r>
              <a:rPr lang="it-IT" sz="1400" dirty="0">
                <a:solidFill>
                  <a:schemeClr val="tx1"/>
                </a:solidFill>
              </a:rPr>
              <a:t>Ciò che è sovrarappresentato nei dati tende a diventare il "normale" per il modello.</a:t>
            </a:r>
            <a:endParaRPr lang="it-IT" sz="1400" dirty="0"/>
          </a:p>
        </p:txBody>
      </p:sp>
      <p:sp>
        <p:nvSpPr>
          <p:cNvPr id="23" name="caso Amazon"/>
          <p:cNvSpPr/>
          <p:nvPr/>
        </p:nvSpPr>
        <p:spPr>
          <a:xfrm>
            <a:off x="6126480" y="1097280"/>
            <a:ext cx="2560320" cy="3429000"/>
          </a:xfrm>
          <a:prstGeom prst="roundRect">
            <a:avLst>
              <a:gd name="adj" fmla="val 2857"/>
            </a:avLst>
          </a:prstGeom>
          <a:solidFill>
            <a:schemeClr val="tx1"/>
          </a:solidFill>
          <a:ln/>
        </p:spPr>
        <p:txBody>
          <a:bodyPr/>
          <a:lstStyle/>
          <a:p>
            <a:endParaRPr lang="it-IT" dirty="0"/>
          </a:p>
        </p:txBody>
      </p:sp>
      <p:sp>
        <p:nvSpPr>
          <p:cNvPr id="24" name="Text 18"/>
          <p:cNvSpPr txBox="1"/>
          <p:nvPr/>
        </p:nvSpPr>
        <p:spPr>
          <a:xfrm>
            <a:off x="6309360" y="1234440"/>
            <a:ext cx="2194560" cy="274320"/>
          </a:xfrm>
          <a:prstGeom prst="rect">
            <a:avLst/>
          </a:prstGeom>
          <a:noFill/>
          <a:ln/>
        </p:spPr>
        <p:txBody>
          <a:bodyPr wrap="square" lIns="0" tIns="0" rIns="0" bIns="0" rtlCol="0" anchor="t"/>
          <a:lstStyle/>
          <a:p>
            <a:pPr marL="0" indent="0">
              <a:buNone/>
            </a:pPr>
            <a:r>
              <a:rPr lang="it-IT" sz="1000" b="1" kern="0" spc="200" dirty="0">
                <a:solidFill>
                  <a:schemeClr val="accent1"/>
                </a:solidFill>
              </a:rPr>
              <a:t>UN CASO NOTO</a:t>
            </a:r>
            <a:endParaRPr lang="it-IT" sz="1000" dirty="0"/>
          </a:p>
        </p:txBody>
      </p:sp>
      <p:sp>
        <p:nvSpPr>
          <p:cNvPr id="25" name="Text 19"/>
          <p:cNvSpPr txBox="1"/>
          <p:nvPr/>
        </p:nvSpPr>
        <p:spPr>
          <a:xfrm>
            <a:off x="6309360" y="1508760"/>
            <a:ext cx="2240280" cy="548640"/>
          </a:xfrm>
          <a:prstGeom prst="rect">
            <a:avLst/>
          </a:prstGeom>
          <a:noFill/>
          <a:ln/>
        </p:spPr>
        <p:txBody>
          <a:bodyPr wrap="square" lIns="0" tIns="0" rIns="0" bIns="0" rtlCol="0" anchor="t"/>
          <a:lstStyle/>
          <a:p>
            <a:pPr marL="0" indent="0">
              <a:buNone/>
            </a:pPr>
            <a:r>
              <a:rPr lang="it-IT" sz="1400" b="1" dirty="0">
                <a:solidFill>
                  <a:schemeClr val="bg1"/>
                </a:solidFill>
              </a:rPr>
              <a:t>Selezione dei curricula, 2018</a:t>
            </a:r>
            <a:endParaRPr lang="it-IT" sz="1400" dirty="0"/>
          </a:p>
        </p:txBody>
      </p:sp>
      <p:sp>
        <p:nvSpPr>
          <p:cNvPr id="26" name="Text 20"/>
          <p:cNvSpPr txBox="1"/>
          <p:nvPr/>
        </p:nvSpPr>
        <p:spPr>
          <a:xfrm>
            <a:off x="6309360" y="2103120"/>
            <a:ext cx="2240280" cy="1828800"/>
          </a:xfrm>
          <a:prstGeom prst="rect">
            <a:avLst/>
          </a:prstGeom>
          <a:noFill/>
          <a:ln/>
        </p:spPr>
        <p:txBody>
          <a:bodyPr wrap="square" lIns="0" tIns="0" rIns="0" bIns="0" rtlCol="0" anchor="t"/>
          <a:lstStyle/>
          <a:p>
            <a:pPr marL="0" indent="0">
              <a:buNone/>
            </a:pPr>
            <a:r>
              <a:rPr lang="it-IT" sz="1200" dirty="0">
                <a:solidFill>
                  <a:schemeClr val="accent3"/>
                </a:solidFill>
              </a:rPr>
              <a:t>Addestrato su dieci anni di assunzioni in prevalenza maschili, il sistema penalizzava i curricula con la parola "women". Fu abbandonato.</a:t>
            </a:r>
            <a:endParaRPr lang="it-IT" sz="1200" dirty="0"/>
          </a:p>
        </p:txBody>
      </p:sp>
      <p:sp>
        <p:nvSpPr>
          <p:cNvPr id="27" name="Text 21"/>
          <p:cNvSpPr txBox="1"/>
          <p:nvPr/>
        </p:nvSpPr>
        <p:spPr>
          <a:xfrm>
            <a:off x="6309360" y="4160520"/>
            <a:ext cx="2240280" cy="274320"/>
          </a:xfrm>
          <a:prstGeom prst="rect">
            <a:avLst/>
          </a:prstGeom>
          <a:noFill/>
          <a:ln/>
        </p:spPr>
        <p:txBody>
          <a:bodyPr wrap="square" lIns="0" tIns="0" rIns="0" bIns="0" rtlCol="0" anchor="t"/>
          <a:lstStyle/>
          <a:p>
            <a:pPr marL="0" indent="0">
              <a:buNone/>
            </a:pPr>
            <a:r>
              <a:rPr lang="it-IT" sz="1000" dirty="0">
                <a:solidFill>
                  <a:schemeClr val="accent2"/>
                </a:solidFill>
              </a:rPr>
              <a:t>Fonte: Reuters, ottobre 2018</a:t>
            </a:r>
            <a:endParaRPr lang="it-IT" sz="10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29</a:t>
            </a:fld>
            <a:endParaRPr lang="it-IT"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Stereotipi e rappresentazioni non equilibrate</a:t>
            </a:r>
            <a:endParaRPr lang="it-IT" sz="2600" dirty="0"/>
          </a:p>
        </p:txBody>
      </p:sp>
      <p:sp>
        <p:nvSpPr>
          <p:cNvPr id="4" name="Associazioni stereotipate"/>
          <p:cNvSpPr/>
          <p:nvPr/>
        </p:nvSpPr>
        <p:spPr>
          <a:xfrm>
            <a:off x="457200" y="1097280"/>
            <a:ext cx="4023360" cy="1211580"/>
          </a:xfrm>
          <a:prstGeom prst="roundRect">
            <a:avLst>
              <a:gd name="adj" fmla="val 6038"/>
            </a:avLst>
          </a:prstGeom>
          <a:solidFill>
            <a:schemeClr val="bg2"/>
          </a:solidFill>
          <a:ln/>
        </p:spPr>
        <p:txBody>
          <a:bodyPr/>
          <a:lstStyle/>
          <a:p>
            <a:endParaRPr lang="it-IT" dirty="0"/>
          </a:p>
        </p:txBody>
      </p:sp>
      <p:sp>
        <p:nvSpPr>
          <p:cNvPr id="5" name="cerchio FiUsers"/>
          <p:cNvSpPr/>
          <p:nvPr/>
        </p:nvSpPr>
        <p:spPr>
          <a:xfrm>
            <a:off x="621792" y="1261872"/>
            <a:ext cx="438912" cy="438912"/>
          </a:xfrm>
          <a:prstGeom prst="ellipse">
            <a:avLst/>
          </a:prstGeom>
          <a:solidFill>
            <a:schemeClr val="accent1"/>
          </a:solidFill>
          <a:ln/>
        </p:spPr>
        <p:txBody>
          <a:bodyPr/>
          <a:lstStyle/>
          <a:p>
            <a:endParaRPr lang="it-IT" dirty="0"/>
          </a:p>
        </p:txBody>
      </p:sp>
      <p:pic>
        <p:nvPicPr>
          <p:cNvPr id="6" name="Image 0" descr="FiUsers"/>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3200400" cy="512064"/>
          </a:xfrm>
          <a:prstGeom prst="rect">
            <a:avLst/>
          </a:prstGeom>
          <a:noFill/>
          <a:ln/>
        </p:spPr>
        <p:txBody>
          <a:bodyPr wrap="square" lIns="0" tIns="0" rIns="0" bIns="0" rtlCol="0" anchor="ctr"/>
          <a:lstStyle/>
          <a:p>
            <a:pPr marL="0" indent="0">
              <a:buNone/>
            </a:pPr>
            <a:r>
              <a:rPr lang="it-IT" sz="1300" b="1" dirty="0">
                <a:solidFill>
                  <a:schemeClr val="tx1"/>
                </a:solidFill>
              </a:rPr>
              <a:t>Associazioni stereotipate</a:t>
            </a:r>
            <a:endParaRPr lang="it-IT" sz="1300" dirty="0"/>
          </a:p>
        </p:txBody>
      </p:sp>
      <p:sp>
        <p:nvSpPr>
          <p:cNvPr id="8" name="Text 4"/>
          <p:cNvSpPr txBox="1"/>
          <p:nvPr/>
        </p:nvSpPr>
        <p:spPr>
          <a:xfrm>
            <a:off x="621792" y="1810512"/>
            <a:ext cx="3694176" cy="406908"/>
          </a:xfrm>
          <a:prstGeom prst="rect">
            <a:avLst/>
          </a:prstGeom>
          <a:noFill/>
          <a:ln/>
        </p:spPr>
        <p:txBody>
          <a:bodyPr wrap="square" lIns="0" tIns="0" rIns="0" bIns="0" rtlCol="0" anchor="t"/>
          <a:lstStyle/>
          <a:p>
            <a:pPr marL="0" indent="0">
              <a:buNone/>
            </a:pPr>
            <a:r>
              <a:rPr lang="it-IT" sz="1200" dirty="0">
                <a:solidFill>
                  <a:schemeClr val="tx2"/>
                </a:solidFill>
              </a:rPr>
              <a:t>Ruoli professionali associati a un genere o a un gruppo</a:t>
            </a:r>
            <a:endParaRPr lang="it-IT" sz="1200" dirty="0"/>
          </a:p>
        </p:txBody>
      </p:sp>
      <p:sp>
        <p:nvSpPr>
          <p:cNvPr id="9" name="Prospettive dominanti"/>
          <p:cNvSpPr/>
          <p:nvPr/>
        </p:nvSpPr>
        <p:spPr>
          <a:xfrm>
            <a:off x="4663440" y="1097280"/>
            <a:ext cx="4023360" cy="1211580"/>
          </a:xfrm>
          <a:prstGeom prst="roundRect">
            <a:avLst>
              <a:gd name="adj" fmla="val 6038"/>
            </a:avLst>
          </a:prstGeom>
          <a:solidFill>
            <a:schemeClr val="bg2"/>
          </a:solidFill>
          <a:ln/>
        </p:spPr>
        <p:txBody>
          <a:bodyPr/>
          <a:lstStyle/>
          <a:p>
            <a:endParaRPr lang="it-IT" dirty="0"/>
          </a:p>
        </p:txBody>
      </p:sp>
      <p:sp>
        <p:nvSpPr>
          <p:cNvPr id="10" name="cerchio FiGlobe"/>
          <p:cNvSpPr/>
          <p:nvPr/>
        </p:nvSpPr>
        <p:spPr>
          <a:xfrm>
            <a:off x="4828032" y="1261872"/>
            <a:ext cx="438912" cy="438912"/>
          </a:xfrm>
          <a:prstGeom prst="ellipse">
            <a:avLst/>
          </a:prstGeom>
          <a:solidFill>
            <a:schemeClr val="accent1"/>
          </a:solidFill>
          <a:ln/>
        </p:spPr>
        <p:txBody>
          <a:bodyPr/>
          <a:lstStyle/>
          <a:p>
            <a:endParaRPr lang="it-IT" dirty="0"/>
          </a:p>
        </p:txBody>
      </p:sp>
      <p:pic>
        <p:nvPicPr>
          <p:cNvPr id="11" name="Image 1" descr="FiGlobe"/>
          <p:cNvPicPr>
            <a:picLocks noChangeAspect="1"/>
          </p:cNvPicPr>
          <p:nvPr/>
        </p:nvPicPr>
        <p:blipFill>
          <a:blip r:embed="rId4"/>
          <a:stretch>
            <a:fillRect/>
          </a:stretch>
        </p:blipFill>
        <p:spPr>
          <a:xfrm>
            <a:off x="4937760" y="1371600"/>
            <a:ext cx="219456" cy="219456"/>
          </a:xfrm>
          <a:prstGeom prst="rect">
            <a:avLst/>
          </a:prstGeom>
        </p:spPr>
      </p:pic>
      <p:sp>
        <p:nvSpPr>
          <p:cNvPr id="12" name="Text 7"/>
          <p:cNvSpPr txBox="1"/>
          <p:nvPr/>
        </p:nvSpPr>
        <p:spPr>
          <a:xfrm>
            <a:off x="5376672" y="1225296"/>
            <a:ext cx="3200400" cy="512064"/>
          </a:xfrm>
          <a:prstGeom prst="rect">
            <a:avLst/>
          </a:prstGeom>
          <a:noFill/>
          <a:ln/>
        </p:spPr>
        <p:txBody>
          <a:bodyPr wrap="square" lIns="0" tIns="0" rIns="0" bIns="0" rtlCol="0" anchor="ctr"/>
          <a:lstStyle/>
          <a:p>
            <a:pPr marL="0" indent="0">
              <a:buNone/>
            </a:pPr>
            <a:r>
              <a:rPr lang="it-IT" sz="1300" b="1" dirty="0">
                <a:solidFill>
                  <a:schemeClr val="tx1"/>
                </a:solidFill>
              </a:rPr>
              <a:t>Prospettive dominanti</a:t>
            </a:r>
            <a:endParaRPr lang="it-IT" sz="1300" dirty="0"/>
          </a:p>
        </p:txBody>
      </p:sp>
      <p:sp>
        <p:nvSpPr>
          <p:cNvPr id="13" name="Text 8"/>
          <p:cNvSpPr txBox="1"/>
          <p:nvPr/>
        </p:nvSpPr>
        <p:spPr>
          <a:xfrm>
            <a:off x="4828032" y="1810512"/>
            <a:ext cx="3694176" cy="406908"/>
          </a:xfrm>
          <a:prstGeom prst="rect">
            <a:avLst/>
          </a:prstGeom>
          <a:noFill/>
          <a:ln/>
        </p:spPr>
        <p:txBody>
          <a:bodyPr wrap="square" lIns="0" tIns="0" rIns="0" bIns="0" rtlCol="0" anchor="t"/>
          <a:lstStyle/>
          <a:p>
            <a:pPr marL="0" indent="0">
              <a:buNone/>
            </a:pPr>
            <a:r>
              <a:rPr lang="it-IT" sz="1200" dirty="0">
                <a:solidFill>
                  <a:schemeClr val="tx2"/>
                </a:solidFill>
              </a:rPr>
              <a:t>Soluzioni pensate per altri paesi, normative o dimensioni d'impresa</a:t>
            </a:r>
            <a:endParaRPr lang="it-IT" sz="1200" dirty="0"/>
          </a:p>
        </p:txBody>
      </p:sp>
      <p:sp>
        <p:nvSpPr>
          <p:cNvPr id="14" name="Rappresentazioni sbilanciate"/>
          <p:cNvSpPr/>
          <p:nvPr/>
        </p:nvSpPr>
        <p:spPr>
          <a:xfrm>
            <a:off x="457200" y="2491740"/>
            <a:ext cx="4023360" cy="1211580"/>
          </a:xfrm>
          <a:prstGeom prst="roundRect">
            <a:avLst>
              <a:gd name="adj" fmla="val 6038"/>
            </a:avLst>
          </a:prstGeom>
          <a:solidFill>
            <a:schemeClr val="bg2"/>
          </a:solidFill>
          <a:ln/>
        </p:spPr>
        <p:txBody>
          <a:bodyPr/>
          <a:lstStyle/>
          <a:p>
            <a:endParaRPr lang="it-IT" dirty="0"/>
          </a:p>
        </p:txBody>
      </p:sp>
      <p:sp>
        <p:nvSpPr>
          <p:cNvPr id="15" name="cerchio FiPieChart"/>
          <p:cNvSpPr/>
          <p:nvPr/>
        </p:nvSpPr>
        <p:spPr>
          <a:xfrm>
            <a:off x="621792" y="2656332"/>
            <a:ext cx="438912" cy="438912"/>
          </a:xfrm>
          <a:prstGeom prst="ellipse">
            <a:avLst/>
          </a:prstGeom>
          <a:solidFill>
            <a:schemeClr val="accent1"/>
          </a:solidFill>
          <a:ln/>
        </p:spPr>
        <p:txBody>
          <a:bodyPr/>
          <a:lstStyle/>
          <a:p>
            <a:endParaRPr lang="it-IT" dirty="0"/>
          </a:p>
        </p:txBody>
      </p:sp>
      <p:pic>
        <p:nvPicPr>
          <p:cNvPr id="16" name="Image 2" descr="FiPieChart"/>
          <p:cNvPicPr>
            <a:picLocks noChangeAspect="1"/>
          </p:cNvPicPr>
          <p:nvPr/>
        </p:nvPicPr>
        <p:blipFill>
          <a:blip r:embed="rId5"/>
          <a:stretch>
            <a:fillRect/>
          </a:stretch>
        </p:blipFill>
        <p:spPr>
          <a:xfrm>
            <a:off x="731520" y="2766060"/>
            <a:ext cx="219456" cy="219456"/>
          </a:xfrm>
          <a:prstGeom prst="rect">
            <a:avLst/>
          </a:prstGeom>
        </p:spPr>
      </p:pic>
      <p:sp>
        <p:nvSpPr>
          <p:cNvPr id="17" name="Text 11"/>
          <p:cNvSpPr txBox="1"/>
          <p:nvPr/>
        </p:nvSpPr>
        <p:spPr>
          <a:xfrm>
            <a:off x="1170432" y="2619756"/>
            <a:ext cx="3200400" cy="512064"/>
          </a:xfrm>
          <a:prstGeom prst="rect">
            <a:avLst/>
          </a:prstGeom>
          <a:noFill/>
          <a:ln/>
        </p:spPr>
        <p:txBody>
          <a:bodyPr wrap="square" lIns="0" tIns="0" rIns="0" bIns="0" rtlCol="0" anchor="ctr"/>
          <a:lstStyle/>
          <a:p>
            <a:pPr marL="0" indent="0">
              <a:buNone/>
            </a:pPr>
            <a:r>
              <a:rPr lang="it-IT" sz="1300" b="1" dirty="0">
                <a:solidFill>
                  <a:schemeClr val="tx1"/>
                </a:solidFill>
              </a:rPr>
              <a:t>Rappresentazioni sbilanciate</a:t>
            </a:r>
            <a:endParaRPr lang="it-IT" sz="1300" dirty="0"/>
          </a:p>
        </p:txBody>
      </p:sp>
      <p:sp>
        <p:nvSpPr>
          <p:cNvPr id="18" name="Text 12"/>
          <p:cNvSpPr txBox="1"/>
          <p:nvPr/>
        </p:nvSpPr>
        <p:spPr>
          <a:xfrm>
            <a:off x="621792" y="3204972"/>
            <a:ext cx="3694176" cy="406908"/>
          </a:xfrm>
          <a:prstGeom prst="rect">
            <a:avLst/>
          </a:prstGeom>
          <a:noFill/>
          <a:ln/>
        </p:spPr>
        <p:txBody>
          <a:bodyPr wrap="square" lIns="0" tIns="0" rIns="0" bIns="0" rtlCol="0" anchor="t"/>
          <a:lstStyle/>
          <a:p>
            <a:pPr marL="0" indent="0">
              <a:buNone/>
            </a:pPr>
            <a:r>
              <a:rPr lang="it-IT" sz="1200" dirty="0">
                <a:solidFill>
                  <a:schemeClr val="tx2"/>
                </a:solidFill>
              </a:rPr>
              <a:t>Più spazio alle posizioni più presenti nei dati</a:t>
            </a:r>
            <a:endParaRPr lang="it-IT" sz="1200" dirty="0"/>
          </a:p>
        </p:txBody>
      </p:sp>
      <p:sp>
        <p:nvSpPr>
          <p:cNvPr id="19" name="Omissioni"/>
          <p:cNvSpPr/>
          <p:nvPr/>
        </p:nvSpPr>
        <p:spPr>
          <a:xfrm>
            <a:off x="4663440" y="2491740"/>
            <a:ext cx="4023360" cy="1211580"/>
          </a:xfrm>
          <a:prstGeom prst="roundRect">
            <a:avLst>
              <a:gd name="adj" fmla="val 6038"/>
            </a:avLst>
          </a:prstGeom>
          <a:solidFill>
            <a:schemeClr val="bg2"/>
          </a:solidFill>
          <a:ln/>
        </p:spPr>
        <p:txBody>
          <a:bodyPr/>
          <a:lstStyle/>
          <a:p>
            <a:endParaRPr lang="it-IT" dirty="0"/>
          </a:p>
        </p:txBody>
      </p:sp>
      <p:sp>
        <p:nvSpPr>
          <p:cNvPr id="20" name="cerchio FiEyeOff"/>
          <p:cNvSpPr/>
          <p:nvPr/>
        </p:nvSpPr>
        <p:spPr>
          <a:xfrm>
            <a:off x="4828032" y="2656332"/>
            <a:ext cx="438912" cy="438912"/>
          </a:xfrm>
          <a:prstGeom prst="ellipse">
            <a:avLst/>
          </a:prstGeom>
          <a:solidFill>
            <a:schemeClr val="accent1"/>
          </a:solidFill>
          <a:ln/>
        </p:spPr>
        <p:txBody>
          <a:bodyPr/>
          <a:lstStyle/>
          <a:p>
            <a:endParaRPr lang="it-IT" dirty="0"/>
          </a:p>
        </p:txBody>
      </p:sp>
      <p:pic>
        <p:nvPicPr>
          <p:cNvPr id="21" name="Image 3" descr="FiEyeOff"/>
          <p:cNvPicPr>
            <a:picLocks noChangeAspect="1"/>
          </p:cNvPicPr>
          <p:nvPr/>
        </p:nvPicPr>
        <p:blipFill>
          <a:blip r:embed="rId6"/>
          <a:stretch>
            <a:fillRect/>
          </a:stretch>
        </p:blipFill>
        <p:spPr>
          <a:xfrm>
            <a:off x="4937760" y="2766060"/>
            <a:ext cx="219456" cy="219456"/>
          </a:xfrm>
          <a:prstGeom prst="rect">
            <a:avLst/>
          </a:prstGeom>
        </p:spPr>
      </p:pic>
      <p:sp>
        <p:nvSpPr>
          <p:cNvPr id="22" name="Text 15"/>
          <p:cNvSpPr txBox="1"/>
          <p:nvPr/>
        </p:nvSpPr>
        <p:spPr>
          <a:xfrm>
            <a:off x="5376672" y="2619756"/>
            <a:ext cx="3200400" cy="512064"/>
          </a:xfrm>
          <a:prstGeom prst="rect">
            <a:avLst/>
          </a:prstGeom>
          <a:noFill/>
          <a:ln/>
        </p:spPr>
        <p:txBody>
          <a:bodyPr wrap="square" lIns="0" tIns="0" rIns="0" bIns="0" rtlCol="0" anchor="ctr"/>
          <a:lstStyle/>
          <a:p>
            <a:pPr marL="0" indent="0">
              <a:buNone/>
            </a:pPr>
            <a:r>
              <a:rPr lang="it-IT" sz="1300" b="1" dirty="0">
                <a:solidFill>
                  <a:schemeClr val="tx1"/>
                </a:solidFill>
              </a:rPr>
              <a:t>Omissioni</a:t>
            </a:r>
            <a:endParaRPr lang="it-IT" sz="1300" dirty="0"/>
          </a:p>
        </p:txBody>
      </p:sp>
      <p:sp>
        <p:nvSpPr>
          <p:cNvPr id="23" name="Text 16"/>
          <p:cNvSpPr txBox="1"/>
          <p:nvPr/>
        </p:nvSpPr>
        <p:spPr>
          <a:xfrm>
            <a:off x="4828032" y="3204972"/>
            <a:ext cx="3694176" cy="406908"/>
          </a:xfrm>
          <a:prstGeom prst="rect">
            <a:avLst/>
          </a:prstGeom>
          <a:noFill/>
          <a:ln/>
        </p:spPr>
        <p:txBody>
          <a:bodyPr wrap="square" lIns="0" tIns="0" rIns="0" bIns="0" rtlCol="0" anchor="t"/>
          <a:lstStyle/>
          <a:p>
            <a:pPr marL="0" indent="0">
              <a:buNone/>
            </a:pPr>
            <a:r>
              <a:rPr lang="it-IT" sz="1200" dirty="0">
                <a:solidFill>
                  <a:schemeClr val="tx2"/>
                </a:solidFill>
              </a:rPr>
              <a:t>Gruppi, punti di vista o casi che non compaiono</a:t>
            </a:r>
            <a:endParaRPr lang="it-IT" sz="1200" dirty="0"/>
          </a:p>
        </p:txBody>
      </p:sp>
      <p:sp>
        <p:nvSpPr>
          <p:cNvPr id="24" name="messaggio"/>
          <p:cNvSpPr/>
          <p:nvPr/>
        </p:nvSpPr>
        <p:spPr>
          <a:xfrm>
            <a:off x="457200" y="3886200"/>
            <a:ext cx="8229600" cy="640080"/>
          </a:xfrm>
          <a:prstGeom prst="roundRect">
            <a:avLst>
              <a:gd name="adj" fmla="val 11429"/>
            </a:avLst>
          </a:prstGeom>
          <a:solidFill>
            <a:schemeClr val="tx1"/>
          </a:solidFill>
          <a:ln/>
        </p:spPr>
        <p:txBody>
          <a:bodyPr/>
          <a:lstStyle/>
          <a:p>
            <a:endParaRPr lang="it-IT" dirty="0"/>
          </a:p>
        </p:txBody>
      </p:sp>
      <p:sp>
        <p:nvSpPr>
          <p:cNvPr id="25" name="Text 18"/>
          <p:cNvSpPr txBox="1"/>
          <p:nvPr/>
        </p:nvSpPr>
        <p:spPr>
          <a:xfrm>
            <a:off x="640080" y="3886200"/>
            <a:ext cx="7863840" cy="640080"/>
          </a:xfrm>
          <a:prstGeom prst="rect">
            <a:avLst/>
          </a:prstGeom>
          <a:noFill/>
          <a:ln/>
        </p:spPr>
        <p:txBody>
          <a:bodyPr wrap="square" lIns="0" tIns="0" rIns="0" bIns="0" rtlCol="0" anchor="ctr"/>
          <a:lstStyle/>
          <a:p>
            <a:pPr marL="0" indent="0">
              <a:buNone/>
            </a:pPr>
            <a:r>
              <a:rPr lang="it-IT" sz="1300" dirty="0">
                <a:solidFill>
                  <a:schemeClr val="bg1"/>
                </a:solidFill>
              </a:rPr>
              <a:t>Attenzione maggiore quando l'AI interviene su attività che riguardano persone: selezione, valutazioni, comunicazioni.</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30</a:t>
            </a:fld>
            <a:endParaRPr lang="it-IT"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L'influenza del contesto e delle istruzioni</a:t>
            </a:r>
            <a:endParaRPr lang="it-IT" sz="2600" dirty="0"/>
          </a:p>
        </p:txBody>
      </p:sp>
      <p:sp>
        <p:nvSpPr>
          <p:cNvPr id="4" name="scheda Domanda orientata"/>
          <p:cNvSpPr/>
          <p:nvPr/>
        </p:nvSpPr>
        <p:spPr>
          <a:xfrm>
            <a:off x="457200" y="1097280"/>
            <a:ext cx="3977640" cy="2286000"/>
          </a:xfrm>
          <a:prstGeom prst="roundRect">
            <a:avLst>
              <a:gd name="adj" fmla="val 3200"/>
            </a:avLst>
          </a:prstGeom>
          <a:solidFill>
            <a:schemeClr val="bg2"/>
          </a:solidFill>
          <a:ln/>
        </p:spPr>
        <p:txBody>
          <a:bodyPr/>
          <a:lstStyle/>
          <a:p>
            <a:endParaRPr lang="it-IT" dirty="0"/>
          </a:p>
        </p:txBody>
      </p:sp>
      <p:sp>
        <p:nvSpPr>
          <p:cNvPr id="5" name="cerchio FiArrowRight"/>
          <p:cNvSpPr/>
          <p:nvPr/>
        </p:nvSpPr>
        <p:spPr>
          <a:xfrm>
            <a:off x="640080" y="1280160"/>
            <a:ext cx="457200" cy="457200"/>
          </a:xfrm>
          <a:prstGeom prst="ellipse">
            <a:avLst/>
          </a:prstGeom>
          <a:solidFill>
            <a:schemeClr val="accent5"/>
          </a:solidFill>
          <a:ln/>
        </p:spPr>
        <p:txBody>
          <a:bodyPr/>
          <a:lstStyle/>
          <a:p>
            <a:endParaRPr lang="it-IT" dirty="0"/>
          </a:p>
        </p:txBody>
      </p:sp>
      <p:pic>
        <p:nvPicPr>
          <p:cNvPr id="6" name="Image 0" descr="FiArrowRight"/>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500" b="1" dirty="0">
                <a:solidFill>
                  <a:schemeClr val="tx1"/>
                </a:solidFill>
              </a:rPr>
              <a:t>Domanda orientata</a:t>
            </a:r>
            <a:endParaRPr lang="it-IT" sz="1500" dirty="0"/>
          </a:p>
        </p:txBody>
      </p:sp>
      <p:sp>
        <p:nvSpPr>
          <p:cNvPr id="8" name="Text 4"/>
          <p:cNvSpPr txBox="1"/>
          <p:nvPr/>
        </p:nvSpPr>
        <p:spPr>
          <a:xfrm>
            <a:off x="640080" y="2231136"/>
            <a:ext cx="3611880" cy="1042416"/>
          </a:xfrm>
          <a:prstGeom prst="rect">
            <a:avLst/>
          </a:prstGeom>
          <a:noFill/>
          <a:ln/>
        </p:spPr>
        <p:txBody>
          <a:bodyPr wrap="square" lIns="0" tIns="0" rIns="0" bIns="0" rtlCol="0" anchor="t"/>
          <a:lstStyle/>
          <a:p>
            <a:pPr marL="0" indent="0">
              <a:spcAft>
                <a:spcPts val="1000"/>
              </a:spcAft>
              <a:buNone/>
            </a:pPr>
            <a:r>
              <a:rPr lang="it-IT" sz="1300" b="1" i="1" dirty="0">
                <a:solidFill>
                  <a:schemeClr val="tx1"/>
                </a:solidFill>
              </a:rPr>
              <a:t>"Perché il fornitore A è la scelta migliore?"</a:t>
            </a:r>
            <a:endParaRPr lang="it-IT" sz="1300" dirty="0"/>
          </a:p>
          <a:p>
            <a:pPr marL="0" indent="0">
              <a:buNone/>
            </a:pPr>
            <a:r>
              <a:rPr lang="it-IT" sz="1300" dirty="0">
                <a:solidFill>
                  <a:schemeClr val="tx2"/>
                </a:solidFill>
              </a:rPr>
              <a:t>Presuppone la conclusione: la risposta elencherà argomenti a favore di A.</a:t>
            </a:r>
            <a:endParaRPr lang="it-IT" sz="1300" dirty="0"/>
          </a:p>
        </p:txBody>
      </p:sp>
      <p:sp>
        <p:nvSpPr>
          <p:cNvPr id="9" name="scheda Domanda neutra"/>
          <p:cNvSpPr/>
          <p:nvPr/>
        </p:nvSpPr>
        <p:spPr>
          <a:xfrm>
            <a:off x="4709160" y="1097280"/>
            <a:ext cx="3977640" cy="2286000"/>
          </a:xfrm>
          <a:prstGeom prst="roundRect">
            <a:avLst>
              <a:gd name="adj" fmla="val 3200"/>
            </a:avLst>
          </a:prstGeom>
          <a:solidFill>
            <a:schemeClr val="accent6"/>
          </a:solidFill>
          <a:ln/>
        </p:spPr>
        <p:txBody>
          <a:bodyPr/>
          <a:lstStyle/>
          <a:p>
            <a:endParaRPr lang="it-IT" dirty="0"/>
          </a:p>
        </p:txBody>
      </p:sp>
      <p:sp>
        <p:nvSpPr>
          <p:cNvPr id="10" name="cerchio FiSliders"/>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Sliders"/>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500" b="1" dirty="0">
                <a:solidFill>
                  <a:schemeClr val="tx1"/>
                </a:solidFill>
              </a:rPr>
              <a:t>Domanda neutra</a:t>
            </a:r>
            <a:endParaRPr lang="it-IT" sz="1500" dirty="0"/>
          </a:p>
        </p:txBody>
      </p:sp>
      <p:sp>
        <p:nvSpPr>
          <p:cNvPr id="13" name="Text 8"/>
          <p:cNvSpPr txBox="1"/>
          <p:nvPr/>
        </p:nvSpPr>
        <p:spPr>
          <a:xfrm>
            <a:off x="4892040" y="2231136"/>
            <a:ext cx="3611880" cy="1042416"/>
          </a:xfrm>
          <a:prstGeom prst="rect">
            <a:avLst/>
          </a:prstGeom>
          <a:noFill/>
          <a:ln/>
        </p:spPr>
        <p:txBody>
          <a:bodyPr wrap="square" lIns="0" tIns="0" rIns="0" bIns="0" rtlCol="0" anchor="t"/>
          <a:lstStyle/>
          <a:p>
            <a:pPr marL="0" indent="0">
              <a:spcAft>
                <a:spcPts val="1000"/>
              </a:spcAft>
              <a:buNone/>
            </a:pPr>
            <a:r>
              <a:rPr lang="it-IT" sz="1300" b="1" i="1" dirty="0">
                <a:solidFill>
                  <a:schemeClr val="tx1"/>
                </a:solidFill>
              </a:rPr>
              <a:t>"Quali sono vantaggi e svantaggi di A e B rispetto a questi criteri?"</a:t>
            </a:r>
            <a:endParaRPr lang="it-IT" sz="1300" dirty="0"/>
          </a:p>
          <a:p>
            <a:pPr marL="0" indent="0">
              <a:buNone/>
            </a:pPr>
            <a:r>
              <a:rPr lang="it-IT" sz="1300" dirty="0">
                <a:solidFill>
                  <a:schemeClr val="tx2"/>
                </a:solidFill>
              </a:rPr>
              <a:t>Favorisce un confronto più equilibrato.</a:t>
            </a:r>
            <a:endParaRPr lang="it-IT" sz="1300" dirty="0"/>
          </a:p>
        </p:txBody>
      </p:sp>
      <p:sp>
        <p:nvSpPr>
          <p:cNvPr id="14" name="Text 9"/>
          <p:cNvSpPr txBox="1"/>
          <p:nvPr/>
        </p:nvSpPr>
        <p:spPr>
          <a:xfrm>
            <a:off x="457200" y="3566160"/>
            <a:ext cx="8229600" cy="274320"/>
          </a:xfrm>
          <a:prstGeom prst="rect">
            <a:avLst/>
          </a:prstGeom>
          <a:noFill/>
          <a:ln/>
        </p:spPr>
        <p:txBody>
          <a:bodyPr wrap="square" lIns="0" tIns="0" rIns="0" bIns="0" rtlCol="0" anchor="t"/>
          <a:lstStyle/>
          <a:p>
            <a:pPr marL="0" indent="0">
              <a:buNone/>
            </a:pPr>
            <a:r>
              <a:rPr lang="it-IT" sz="1400" b="1" dirty="0">
                <a:solidFill>
                  <a:schemeClr val="tx1"/>
                </a:solidFill>
              </a:rPr>
              <a:t>Possono orientare le risposte</a:t>
            </a:r>
            <a:endParaRPr lang="it-IT" sz="1400" dirty="0"/>
          </a:p>
        </p:txBody>
      </p:sp>
      <p:sp>
        <p:nvSpPr>
          <p:cNvPr id="15" name="blocco La formulazione della domanda"/>
          <p:cNvSpPr/>
          <p:nvPr/>
        </p:nvSpPr>
        <p:spPr>
          <a:xfrm>
            <a:off x="457200" y="3931920"/>
            <a:ext cx="2615184" cy="548640"/>
          </a:xfrm>
          <a:prstGeom prst="roundRect">
            <a:avLst>
              <a:gd name="adj" fmla="val 20000"/>
            </a:avLst>
          </a:prstGeom>
          <a:solidFill>
            <a:schemeClr val="bg2"/>
          </a:solidFill>
          <a:ln/>
        </p:spPr>
        <p:txBody>
          <a:bodyPr/>
          <a:lstStyle/>
          <a:p>
            <a:endParaRPr lang="it-IT" dirty="0"/>
          </a:p>
        </p:txBody>
      </p:sp>
      <p:sp>
        <p:nvSpPr>
          <p:cNvPr id="16" name="Text 11"/>
          <p:cNvSpPr txBox="1"/>
          <p:nvPr/>
        </p:nvSpPr>
        <p:spPr>
          <a:xfrm>
            <a:off x="502920" y="3931920"/>
            <a:ext cx="2523744" cy="548640"/>
          </a:xfrm>
          <a:prstGeom prst="rect">
            <a:avLst/>
          </a:prstGeom>
          <a:noFill/>
          <a:ln/>
        </p:spPr>
        <p:txBody>
          <a:bodyPr wrap="square" lIns="0" tIns="0" rIns="0" bIns="0" rtlCol="0" anchor="ctr"/>
          <a:lstStyle/>
          <a:p>
            <a:pPr marL="0" indent="0" algn="ctr">
              <a:buNone/>
            </a:pPr>
            <a:r>
              <a:rPr lang="it-IT" sz="1300" b="1" dirty="0">
                <a:solidFill>
                  <a:schemeClr val="tx1"/>
                </a:solidFill>
              </a:rPr>
              <a:t>La formulazione della domanda</a:t>
            </a:r>
            <a:endParaRPr lang="it-IT" sz="1300" dirty="0"/>
          </a:p>
        </p:txBody>
      </p:sp>
      <p:sp>
        <p:nvSpPr>
          <p:cNvPr id="17" name="blocco I documenti forniti"/>
          <p:cNvSpPr/>
          <p:nvPr/>
        </p:nvSpPr>
        <p:spPr>
          <a:xfrm>
            <a:off x="3264408" y="3931920"/>
            <a:ext cx="2615184" cy="548640"/>
          </a:xfrm>
          <a:prstGeom prst="roundRect">
            <a:avLst>
              <a:gd name="adj" fmla="val 20000"/>
            </a:avLst>
          </a:prstGeom>
          <a:solidFill>
            <a:schemeClr val="bg2"/>
          </a:solidFill>
          <a:ln/>
        </p:spPr>
        <p:txBody>
          <a:bodyPr/>
          <a:lstStyle/>
          <a:p>
            <a:endParaRPr lang="it-IT" dirty="0"/>
          </a:p>
        </p:txBody>
      </p:sp>
      <p:sp>
        <p:nvSpPr>
          <p:cNvPr id="18" name="Text 13"/>
          <p:cNvSpPr txBox="1"/>
          <p:nvPr/>
        </p:nvSpPr>
        <p:spPr>
          <a:xfrm>
            <a:off x="3310128" y="3931920"/>
            <a:ext cx="2523744" cy="548640"/>
          </a:xfrm>
          <a:prstGeom prst="rect">
            <a:avLst/>
          </a:prstGeom>
          <a:noFill/>
          <a:ln/>
        </p:spPr>
        <p:txBody>
          <a:bodyPr wrap="square" lIns="0" tIns="0" rIns="0" bIns="0" rtlCol="0" anchor="ctr"/>
          <a:lstStyle/>
          <a:p>
            <a:pPr marL="0" indent="0" algn="ctr">
              <a:buNone/>
            </a:pPr>
            <a:r>
              <a:rPr lang="it-IT" sz="1300" b="1" dirty="0">
                <a:solidFill>
                  <a:schemeClr val="tx1"/>
                </a:solidFill>
              </a:rPr>
              <a:t>I documenti forniti</a:t>
            </a:r>
            <a:endParaRPr lang="it-IT" sz="1300" dirty="0"/>
          </a:p>
        </p:txBody>
      </p:sp>
      <p:sp>
        <p:nvSpPr>
          <p:cNvPr id="19" name="blocco Le istruzioni di sistema"/>
          <p:cNvSpPr/>
          <p:nvPr/>
        </p:nvSpPr>
        <p:spPr>
          <a:xfrm>
            <a:off x="6071616" y="3931920"/>
            <a:ext cx="2615184" cy="548640"/>
          </a:xfrm>
          <a:prstGeom prst="roundRect">
            <a:avLst>
              <a:gd name="adj" fmla="val 20000"/>
            </a:avLst>
          </a:prstGeom>
          <a:solidFill>
            <a:schemeClr val="bg2"/>
          </a:solidFill>
          <a:ln/>
        </p:spPr>
        <p:txBody>
          <a:bodyPr/>
          <a:lstStyle/>
          <a:p>
            <a:endParaRPr lang="it-IT" dirty="0"/>
          </a:p>
        </p:txBody>
      </p:sp>
      <p:sp>
        <p:nvSpPr>
          <p:cNvPr id="20" name="Text 15"/>
          <p:cNvSpPr txBox="1"/>
          <p:nvPr/>
        </p:nvSpPr>
        <p:spPr>
          <a:xfrm>
            <a:off x="6117336" y="3931920"/>
            <a:ext cx="2523744" cy="548640"/>
          </a:xfrm>
          <a:prstGeom prst="rect">
            <a:avLst/>
          </a:prstGeom>
          <a:noFill/>
          <a:ln/>
        </p:spPr>
        <p:txBody>
          <a:bodyPr wrap="square" lIns="0" tIns="0" rIns="0" bIns="0" rtlCol="0" anchor="ctr"/>
          <a:lstStyle/>
          <a:p>
            <a:pPr marL="0" indent="0" algn="ctr">
              <a:buNone/>
            </a:pPr>
            <a:r>
              <a:rPr lang="it-IT" sz="1300" b="1" dirty="0">
                <a:solidFill>
                  <a:schemeClr val="tx1"/>
                </a:solidFill>
              </a:rPr>
              <a:t>Le istruzioni di sistema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31</a:t>
            </a:fld>
            <a:endParaRPr lang="it-IT"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Bias di conferma e tendenza ad assecondare</a:t>
            </a:r>
            <a:endParaRPr lang="it-IT" sz="2600" dirty="0"/>
          </a:p>
        </p:txBody>
      </p:sp>
      <p:sp>
        <p:nvSpPr>
          <p:cNvPr id="4" name="blocco La mia ipotesi"/>
          <p:cNvSpPr/>
          <p:nvPr/>
        </p:nvSpPr>
        <p:spPr>
          <a:xfrm>
            <a:off x="457200" y="1188720"/>
            <a:ext cx="1920240" cy="777240"/>
          </a:xfrm>
          <a:prstGeom prst="roundRect">
            <a:avLst>
              <a:gd name="adj" fmla="val 14118"/>
            </a:avLst>
          </a:prstGeom>
          <a:solidFill>
            <a:schemeClr val="bg2"/>
          </a:solidFill>
          <a:ln/>
        </p:spPr>
        <p:txBody>
          <a:bodyPr/>
          <a:lstStyle/>
          <a:p>
            <a:endParaRPr lang="it-IT" dirty="0"/>
          </a:p>
        </p:txBody>
      </p:sp>
      <p:sp>
        <p:nvSpPr>
          <p:cNvPr id="5" name="Text 2"/>
          <p:cNvSpPr txBox="1"/>
          <p:nvPr/>
        </p:nvSpPr>
        <p:spPr>
          <a:xfrm>
            <a:off x="502920" y="1188720"/>
            <a:ext cx="1828800" cy="777240"/>
          </a:xfrm>
          <a:prstGeom prst="rect">
            <a:avLst/>
          </a:prstGeom>
          <a:noFill/>
          <a:ln/>
        </p:spPr>
        <p:txBody>
          <a:bodyPr wrap="square" lIns="0" tIns="0" rIns="0" bIns="0" rtlCol="0" anchor="ctr"/>
          <a:lstStyle/>
          <a:p>
            <a:pPr marL="0" indent="0" algn="ctr">
              <a:buNone/>
            </a:pPr>
            <a:r>
              <a:rPr lang="it-IT" sz="1300" b="1" dirty="0">
                <a:solidFill>
                  <a:schemeClr val="tx1"/>
                </a:solidFill>
              </a:rPr>
              <a:t>La mia ipotesi</a:t>
            </a:r>
            <a:endParaRPr lang="it-IT" sz="1300" dirty="0"/>
          </a:p>
        </p:txBody>
      </p:sp>
      <p:sp>
        <p:nvSpPr>
          <p:cNvPr id="6" name="blocco La formulo nella domanda"/>
          <p:cNvSpPr/>
          <p:nvPr/>
        </p:nvSpPr>
        <p:spPr>
          <a:xfrm>
            <a:off x="2606040" y="1188720"/>
            <a:ext cx="1920240" cy="777240"/>
          </a:xfrm>
          <a:prstGeom prst="roundRect">
            <a:avLst>
              <a:gd name="adj" fmla="val 14118"/>
            </a:avLst>
          </a:prstGeom>
          <a:solidFill>
            <a:schemeClr val="bg2"/>
          </a:solidFill>
          <a:ln/>
        </p:spPr>
        <p:txBody>
          <a:bodyPr/>
          <a:lstStyle/>
          <a:p>
            <a:endParaRPr lang="it-IT" dirty="0"/>
          </a:p>
        </p:txBody>
      </p:sp>
      <p:sp>
        <p:nvSpPr>
          <p:cNvPr id="7" name="Text 4"/>
          <p:cNvSpPr txBox="1"/>
          <p:nvPr/>
        </p:nvSpPr>
        <p:spPr>
          <a:xfrm>
            <a:off x="2651760" y="1188720"/>
            <a:ext cx="1828800" cy="777240"/>
          </a:xfrm>
          <a:prstGeom prst="rect">
            <a:avLst/>
          </a:prstGeom>
          <a:noFill/>
          <a:ln/>
        </p:spPr>
        <p:txBody>
          <a:bodyPr wrap="square" lIns="0" tIns="0" rIns="0" bIns="0" rtlCol="0" anchor="ctr"/>
          <a:lstStyle/>
          <a:p>
            <a:pPr marL="0" indent="0" algn="ctr">
              <a:buNone/>
            </a:pPr>
            <a:r>
              <a:rPr lang="it-IT" sz="1300" b="1" dirty="0">
                <a:solidFill>
                  <a:schemeClr val="tx1"/>
                </a:solidFill>
              </a:rPr>
              <a:t>La formulo nella domanda</a:t>
            </a:r>
            <a:endParaRPr lang="it-IT" sz="1300" dirty="0"/>
          </a:p>
        </p:txBody>
      </p:sp>
      <p:sp>
        <p:nvSpPr>
          <p:cNvPr id="8" name="blocco Il sistema la asseconda"/>
          <p:cNvSpPr/>
          <p:nvPr/>
        </p:nvSpPr>
        <p:spPr>
          <a:xfrm>
            <a:off x="2606040" y="2743200"/>
            <a:ext cx="1920240" cy="777240"/>
          </a:xfrm>
          <a:prstGeom prst="roundRect">
            <a:avLst>
              <a:gd name="adj" fmla="val 14118"/>
            </a:avLst>
          </a:prstGeom>
          <a:solidFill>
            <a:schemeClr val="accent1"/>
          </a:solidFill>
          <a:ln/>
        </p:spPr>
        <p:txBody>
          <a:bodyPr/>
          <a:lstStyle/>
          <a:p>
            <a:endParaRPr lang="it-IT" dirty="0"/>
          </a:p>
        </p:txBody>
      </p:sp>
      <p:sp>
        <p:nvSpPr>
          <p:cNvPr id="9" name="Text 6"/>
          <p:cNvSpPr txBox="1"/>
          <p:nvPr/>
        </p:nvSpPr>
        <p:spPr>
          <a:xfrm>
            <a:off x="2651760" y="2743200"/>
            <a:ext cx="1828800" cy="777240"/>
          </a:xfrm>
          <a:prstGeom prst="rect">
            <a:avLst/>
          </a:prstGeom>
          <a:noFill/>
          <a:ln/>
        </p:spPr>
        <p:txBody>
          <a:bodyPr wrap="square" lIns="0" tIns="0" rIns="0" bIns="0" rtlCol="0" anchor="ctr"/>
          <a:lstStyle/>
          <a:p>
            <a:pPr marL="0" indent="0" algn="ctr">
              <a:buNone/>
            </a:pPr>
            <a:r>
              <a:rPr lang="it-IT" sz="1300" b="1" dirty="0">
                <a:solidFill>
                  <a:schemeClr val="bg1"/>
                </a:solidFill>
              </a:rPr>
              <a:t>Il sistema la asseconda</a:t>
            </a:r>
            <a:endParaRPr lang="it-IT" sz="1300" dirty="0"/>
          </a:p>
        </p:txBody>
      </p:sp>
      <p:sp>
        <p:nvSpPr>
          <p:cNvPr id="10" name="blocco Mi convinco ancora di più"/>
          <p:cNvSpPr/>
          <p:nvPr/>
        </p:nvSpPr>
        <p:spPr>
          <a:xfrm>
            <a:off x="457200" y="2743200"/>
            <a:ext cx="1920240" cy="777240"/>
          </a:xfrm>
          <a:prstGeom prst="roundRect">
            <a:avLst>
              <a:gd name="adj" fmla="val 14118"/>
            </a:avLst>
          </a:prstGeom>
          <a:solidFill>
            <a:schemeClr val="bg2"/>
          </a:solidFill>
          <a:ln/>
        </p:spPr>
        <p:txBody>
          <a:bodyPr/>
          <a:lstStyle/>
          <a:p>
            <a:endParaRPr lang="it-IT" dirty="0"/>
          </a:p>
        </p:txBody>
      </p:sp>
      <p:sp>
        <p:nvSpPr>
          <p:cNvPr id="11" name="Text 8"/>
          <p:cNvSpPr txBox="1"/>
          <p:nvPr/>
        </p:nvSpPr>
        <p:spPr>
          <a:xfrm>
            <a:off x="502920" y="2743200"/>
            <a:ext cx="1828800" cy="777240"/>
          </a:xfrm>
          <a:prstGeom prst="rect">
            <a:avLst/>
          </a:prstGeom>
          <a:noFill/>
          <a:ln/>
        </p:spPr>
        <p:txBody>
          <a:bodyPr wrap="square" lIns="0" tIns="0" rIns="0" bIns="0" rtlCol="0" anchor="ctr"/>
          <a:lstStyle/>
          <a:p>
            <a:pPr marL="0" indent="0" algn="ctr">
              <a:buNone/>
            </a:pPr>
            <a:r>
              <a:rPr lang="it-IT" sz="1300" b="1" dirty="0">
                <a:solidFill>
                  <a:schemeClr val="tx1"/>
                </a:solidFill>
              </a:rPr>
              <a:t>Mi convinco ancora di più</a:t>
            </a:r>
            <a:endParaRPr lang="it-IT" sz="1300" dirty="0"/>
          </a:p>
        </p:txBody>
      </p:sp>
      <p:sp>
        <p:nvSpPr>
          <p:cNvPr id="12" name="freccia"/>
          <p:cNvSpPr/>
          <p:nvPr/>
        </p:nvSpPr>
        <p:spPr>
          <a:xfrm>
            <a:off x="2377440" y="1435608"/>
            <a:ext cx="228600" cy="292608"/>
          </a:xfrm>
          <a:prstGeom prst="rightArrow">
            <a:avLst/>
          </a:prstGeom>
          <a:solidFill>
            <a:schemeClr val="accent2"/>
          </a:solidFill>
          <a:ln/>
        </p:spPr>
        <p:txBody>
          <a:bodyPr/>
          <a:lstStyle/>
          <a:p>
            <a:endParaRPr lang="it-IT" dirty="0"/>
          </a:p>
        </p:txBody>
      </p:sp>
      <p:sp>
        <p:nvSpPr>
          <p:cNvPr id="13" name="freccia giù"/>
          <p:cNvSpPr/>
          <p:nvPr/>
        </p:nvSpPr>
        <p:spPr>
          <a:xfrm>
            <a:off x="3429000" y="2057400"/>
            <a:ext cx="292608" cy="594360"/>
          </a:xfrm>
          <a:prstGeom prst="downArrow">
            <a:avLst/>
          </a:prstGeom>
          <a:solidFill>
            <a:schemeClr val="accent2"/>
          </a:solidFill>
          <a:ln/>
        </p:spPr>
        <p:txBody>
          <a:bodyPr/>
          <a:lstStyle/>
          <a:p>
            <a:endParaRPr lang="it-IT" dirty="0"/>
          </a:p>
        </p:txBody>
      </p:sp>
      <p:sp>
        <p:nvSpPr>
          <p:cNvPr id="14" name="freccia sinistra"/>
          <p:cNvSpPr/>
          <p:nvPr/>
        </p:nvSpPr>
        <p:spPr>
          <a:xfrm>
            <a:off x="2377440" y="2990088"/>
            <a:ext cx="228600" cy="292608"/>
          </a:xfrm>
          <a:prstGeom prst="leftArrow">
            <a:avLst/>
          </a:prstGeom>
          <a:solidFill>
            <a:schemeClr val="accent2"/>
          </a:solidFill>
          <a:ln/>
        </p:spPr>
        <p:txBody>
          <a:bodyPr/>
          <a:lstStyle/>
          <a:p>
            <a:endParaRPr lang="it-IT" dirty="0"/>
          </a:p>
        </p:txBody>
      </p:sp>
      <p:sp>
        <p:nvSpPr>
          <p:cNvPr id="15" name="freccia su"/>
          <p:cNvSpPr/>
          <p:nvPr/>
        </p:nvSpPr>
        <p:spPr>
          <a:xfrm>
            <a:off x="1280160" y="2057400"/>
            <a:ext cx="292608" cy="594360"/>
          </a:xfrm>
          <a:prstGeom prst="upArrow">
            <a:avLst/>
          </a:prstGeom>
          <a:solidFill>
            <a:schemeClr val="accent2"/>
          </a:solidFill>
          <a:ln/>
        </p:spPr>
        <p:txBody>
          <a:bodyPr/>
          <a:lstStyle/>
          <a:p>
            <a:endParaRPr lang="it-IT" dirty="0"/>
          </a:p>
        </p:txBody>
      </p:sp>
      <p:sp>
        <p:nvSpPr>
          <p:cNvPr id="16" name="Text 13"/>
          <p:cNvSpPr txBox="1"/>
          <p:nvPr/>
        </p:nvSpPr>
        <p:spPr>
          <a:xfrm>
            <a:off x="457200" y="3657600"/>
            <a:ext cx="4114800" cy="274320"/>
          </a:xfrm>
          <a:prstGeom prst="rect">
            <a:avLst/>
          </a:prstGeom>
          <a:noFill/>
          <a:ln/>
        </p:spPr>
        <p:txBody>
          <a:bodyPr wrap="square" lIns="0" tIns="0" rIns="0" bIns="0" rtlCol="0" anchor="t"/>
          <a:lstStyle/>
          <a:p>
            <a:pPr marL="0" indent="0">
              <a:buNone/>
            </a:pPr>
            <a:r>
              <a:rPr lang="it-IT" sz="1000" dirty="0">
                <a:solidFill>
                  <a:schemeClr val="accent2"/>
                </a:solidFill>
              </a:rPr>
              <a:t>Fonte: Sharma et al., </a:t>
            </a:r>
            <a:r>
              <a:rPr lang="it-IT" sz="1000" dirty="0" err="1">
                <a:solidFill>
                  <a:schemeClr val="accent2"/>
                </a:solidFill>
              </a:rPr>
              <a:t>Anthropic</a:t>
            </a:r>
            <a:r>
              <a:rPr lang="it-IT" sz="1000" dirty="0">
                <a:solidFill>
                  <a:schemeClr val="accent2"/>
                </a:solidFill>
              </a:rPr>
              <a:t>, 2023</a:t>
            </a:r>
            <a:endParaRPr lang="it-IT" sz="1000" dirty="0"/>
          </a:p>
        </p:txBody>
      </p:sp>
      <p:sp>
        <p:nvSpPr>
          <p:cNvPr id="17" name="scheda Bias di conferma (nostro)"/>
          <p:cNvSpPr/>
          <p:nvPr/>
        </p:nvSpPr>
        <p:spPr>
          <a:xfrm>
            <a:off x="4846320" y="1097280"/>
            <a:ext cx="3840480" cy="1371600"/>
          </a:xfrm>
          <a:prstGeom prst="roundRect">
            <a:avLst>
              <a:gd name="adj" fmla="val 5333"/>
            </a:avLst>
          </a:prstGeom>
          <a:solidFill>
            <a:schemeClr val="bg2"/>
          </a:solidFill>
          <a:ln/>
        </p:spPr>
        <p:txBody>
          <a:bodyPr/>
          <a:lstStyle/>
          <a:p>
            <a:endParaRPr lang="it-IT" dirty="0"/>
          </a:p>
        </p:txBody>
      </p:sp>
      <p:sp>
        <p:nvSpPr>
          <p:cNvPr id="18" name="cerchio FiUser"/>
          <p:cNvSpPr/>
          <p:nvPr/>
        </p:nvSpPr>
        <p:spPr>
          <a:xfrm>
            <a:off x="5029200" y="1280160"/>
            <a:ext cx="457200" cy="457200"/>
          </a:xfrm>
          <a:prstGeom prst="ellipse">
            <a:avLst/>
          </a:prstGeom>
          <a:solidFill>
            <a:schemeClr val="accent1"/>
          </a:solidFill>
          <a:ln/>
        </p:spPr>
        <p:txBody>
          <a:bodyPr/>
          <a:lstStyle/>
          <a:p>
            <a:endParaRPr lang="it-IT" dirty="0"/>
          </a:p>
        </p:txBody>
      </p:sp>
      <p:pic>
        <p:nvPicPr>
          <p:cNvPr id="19" name="Image 0" descr="FiUser"/>
          <p:cNvPicPr>
            <a:picLocks noChangeAspect="1"/>
          </p:cNvPicPr>
          <p:nvPr/>
        </p:nvPicPr>
        <p:blipFill>
          <a:blip r:embed="rId3"/>
          <a:stretch>
            <a:fillRect/>
          </a:stretch>
        </p:blipFill>
        <p:spPr>
          <a:xfrm>
            <a:off x="5143500" y="1394460"/>
            <a:ext cx="228600" cy="228600"/>
          </a:xfrm>
          <a:prstGeom prst="rect">
            <a:avLst/>
          </a:prstGeom>
        </p:spPr>
      </p:pic>
      <p:sp>
        <p:nvSpPr>
          <p:cNvPr id="20" name="Text 16"/>
          <p:cNvSpPr txBox="1"/>
          <p:nvPr/>
        </p:nvSpPr>
        <p:spPr>
          <a:xfrm>
            <a:off x="5623560" y="1280160"/>
            <a:ext cx="2880360" cy="457200"/>
          </a:xfrm>
          <a:prstGeom prst="rect">
            <a:avLst/>
          </a:prstGeom>
          <a:noFill/>
          <a:ln/>
        </p:spPr>
        <p:txBody>
          <a:bodyPr wrap="square" lIns="0" tIns="0" rIns="0" bIns="0" rtlCol="0" anchor="ctr"/>
          <a:lstStyle/>
          <a:p>
            <a:pPr marL="0" indent="0">
              <a:buNone/>
            </a:pPr>
            <a:r>
              <a:rPr lang="it-IT" sz="1500" b="1" dirty="0">
                <a:solidFill>
                  <a:schemeClr val="tx1"/>
                </a:solidFill>
              </a:rPr>
              <a:t>Bias di conferma (nostro)</a:t>
            </a:r>
            <a:endParaRPr lang="it-IT" sz="1500" dirty="0"/>
          </a:p>
        </p:txBody>
      </p:sp>
      <p:sp>
        <p:nvSpPr>
          <p:cNvPr id="21" name="Text 17"/>
          <p:cNvSpPr txBox="1"/>
          <p:nvPr/>
        </p:nvSpPr>
        <p:spPr>
          <a:xfrm>
            <a:off x="5029200" y="1874520"/>
            <a:ext cx="3474720" cy="484632"/>
          </a:xfrm>
          <a:prstGeom prst="rect">
            <a:avLst/>
          </a:prstGeom>
          <a:noFill/>
          <a:ln/>
        </p:spPr>
        <p:txBody>
          <a:bodyPr wrap="square" lIns="0" tIns="0" rIns="0" bIns="0" rtlCol="0" anchor="t"/>
          <a:lstStyle/>
          <a:p>
            <a:pPr marL="0" indent="0">
              <a:buNone/>
            </a:pPr>
            <a:r>
              <a:rPr lang="it-IT" sz="1200" dirty="0">
                <a:solidFill>
                  <a:schemeClr val="tx2"/>
                </a:solidFill>
              </a:rPr>
              <a:t>Notiamo e ricordiamo ciò che conferma quello che già pensiamo.</a:t>
            </a:r>
            <a:endParaRPr lang="it-IT" sz="1200" dirty="0"/>
          </a:p>
        </p:txBody>
      </p:sp>
      <p:sp>
        <p:nvSpPr>
          <p:cNvPr id="22" name="scheda Sycophancy (del sistema)"/>
          <p:cNvSpPr/>
          <p:nvPr/>
        </p:nvSpPr>
        <p:spPr>
          <a:xfrm>
            <a:off x="4846320" y="2651760"/>
            <a:ext cx="3840480" cy="1234440"/>
          </a:xfrm>
          <a:prstGeom prst="roundRect">
            <a:avLst>
              <a:gd name="adj" fmla="val 5926"/>
            </a:avLst>
          </a:prstGeom>
          <a:solidFill>
            <a:schemeClr val="accent6"/>
          </a:solidFill>
          <a:ln/>
        </p:spPr>
        <p:txBody>
          <a:bodyPr/>
          <a:lstStyle/>
          <a:p>
            <a:endParaRPr lang="it-IT" dirty="0"/>
          </a:p>
        </p:txBody>
      </p:sp>
      <p:sp>
        <p:nvSpPr>
          <p:cNvPr id="23" name="cerchio FiThumbsUp"/>
          <p:cNvSpPr/>
          <p:nvPr/>
        </p:nvSpPr>
        <p:spPr>
          <a:xfrm>
            <a:off x="5029200" y="2834640"/>
            <a:ext cx="457200" cy="457200"/>
          </a:xfrm>
          <a:prstGeom prst="ellipse">
            <a:avLst/>
          </a:prstGeom>
          <a:solidFill>
            <a:schemeClr val="accent1"/>
          </a:solidFill>
          <a:ln/>
        </p:spPr>
        <p:txBody>
          <a:bodyPr/>
          <a:lstStyle/>
          <a:p>
            <a:endParaRPr lang="it-IT" dirty="0"/>
          </a:p>
        </p:txBody>
      </p:sp>
      <p:pic>
        <p:nvPicPr>
          <p:cNvPr id="24" name="Image 1" descr="FiThumbsUp"/>
          <p:cNvPicPr>
            <a:picLocks noChangeAspect="1"/>
          </p:cNvPicPr>
          <p:nvPr/>
        </p:nvPicPr>
        <p:blipFill>
          <a:blip r:embed="rId4"/>
          <a:stretch>
            <a:fillRect/>
          </a:stretch>
        </p:blipFill>
        <p:spPr>
          <a:xfrm>
            <a:off x="5143500" y="2948940"/>
            <a:ext cx="228600" cy="228600"/>
          </a:xfrm>
          <a:prstGeom prst="rect">
            <a:avLst/>
          </a:prstGeom>
        </p:spPr>
      </p:pic>
      <p:sp>
        <p:nvSpPr>
          <p:cNvPr id="25" name="Text 20"/>
          <p:cNvSpPr txBox="1"/>
          <p:nvPr/>
        </p:nvSpPr>
        <p:spPr>
          <a:xfrm>
            <a:off x="5623560" y="2834640"/>
            <a:ext cx="2880360" cy="457200"/>
          </a:xfrm>
          <a:prstGeom prst="rect">
            <a:avLst/>
          </a:prstGeom>
          <a:noFill/>
          <a:ln/>
        </p:spPr>
        <p:txBody>
          <a:bodyPr wrap="square" lIns="0" tIns="0" rIns="0" bIns="0" rtlCol="0" anchor="ctr"/>
          <a:lstStyle/>
          <a:p>
            <a:pPr marL="0" indent="0">
              <a:buNone/>
            </a:pPr>
            <a:r>
              <a:rPr lang="it-IT" sz="1500" b="1" dirty="0" err="1">
                <a:solidFill>
                  <a:schemeClr val="tx1"/>
                </a:solidFill>
              </a:rPr>
              <a:t>Sycophancy</a:t>
            </a:r>
            <a:r>
              <a:rPr lang="it-IT" sz="1500" b="1" dirty="0">
                <a:solidFill>
                  <a:schemeClr val="tx1"/>
                </a:solidFill>
              </a:rPr>
              <a:t> (del sistema)</a:t>
            </a:r>
            <a:endParaRPr lang="it-IT" sz="1500" dirty="0"/>
          </a:p>
        </p:txBody>
      </p:sp>
      <p:sp>
        <p:nvSpPr>
          <p:cNvPr id="26" name="Text 21"/>
          <p:cNvSpPr txBox="1"/>
          <p:nvPr/>
        </p:nvSpPr>
        <p:spPr>
          <a:xfrm>
            <a:off x="5029200" y="3429000"/>
            <a:ext cx="3474720" cy="347472"/>
          </a:xfrm>
          <a:prstGeom prst="rect">
            <a:avLst/>
          </a:prstGeom>
          <a:noFill/>
          <a:ln/>
        </p:spPr>
        <p:txBody>
          <a:bodyPr wrap="square" lIns="0" tIns="0" rIns="0" bIns="0" rtlCol="0" anchor="t"/>
          <a:lstStyle/>
          <a:p>
            <a:pPr marL="0" indent="0">
              <a:buNone/>
            </a:pPr>
            <a:r>
              <a:rPr lang="it-IT" sz="1200" dirty="0">
                <a:solidFill>
                  <a:schemeClr val="tx2"/>
                </a:solidFill>
              </a:rPr>
              <a:t>Tende a darci ragione, a lodare troppo, a cambiare una risposta corretta se insistiamo.</a:t>
            </a:r>
            <a:endParaRPr lang="it-IT" sz="1200" dirty="0"/>
          </a:p>
        </p:txBody>
      </p:sp>
      <p:sp>
        <p:nvSpPr>
          <p:cNvPr id="27" name="messaggio"/>
          <p:cNvSpPr/>
          <p:nvPr/>
        </p:nvSpPr>
        <p:spPr>
          <a:xfrm>
            <a:off x="457200" y="4023360"/>
            <a:ext cx="8229600" cy="502920"/>
          </a:xfrm>
          <a:prstGeom prst="roundRect">
            <a:avLst>
              <a:gd name="adj" fmla="val 14545"/>
            </a:avLst>
          </a:prstGeom>
          <a:solidFill>
            <a:schemeClr val="bg2"/>
          </a:solidFill>
          <a:ln/>
        </p:spPr>
        <p:txBody>
          <a:bodyPr/>
          <a:lstStyle/>
          <a:p>
            <a:endParaRPr lang="it-IT" dirty="0"/>
          </a:p>
        </p:txBody>
      </p:sp>
      <p:sp>
        <p:nvSpPr>
          <p:cNvPr id="28" name="Text 23"/>
          <p:cNvSpPr txBox="1"/>
          <p:nvPr/>
        </p:nvSpPr>
        <p:spPr>
          <a:xfrm>
            <a:off x="640080" y="4023360"/>
            <a:ext cx="7863840" cy="502920"/>
          </a:xfrm>
          <a:prstGeom prst="rect">
            <a:avLst/>
          </a:prstGeom>
          <a:noFill/>
          <a:ln/>
        </p:spPr>
        <p:txBody>
          <a:bodyPr wrap="square" lIns="0" tIns="0" rIns="0" bIns="0" rtlCol="0" anchor="ctr"/>
          <a:lstStyle/>
          <a:p>
            <a:pPr marL="0" indent="0">
              <a:buNone/>
            </a:pPr>
            <a:r>
              <a:rPr lang="it-IT" sz="1200" dirty="0">
                <a:solidFill>
                  <a:schemeClr val="tx1"/>
                </a:solidFill>
              </a:rPr>
              <a:t>Contromisure: chiedere critiche e obiezioni, non rivelare la propria preferenza.</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32</a:t>
            </a:fld>
            <a:endParaRPr lang="it-IT"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Neutralità apparente e oggettività effettiva</a:t>
            </a:r>
            <a:endParaRPr lang="it-IT" sz="2600" dirty="0"/>
          </a:p>
        </p:txBody>
      </p:sp>
      <p:sp>
        <p:nvSpPr>
          <p:cNvPr id="4" name="scheda Neutralità di tono"/>
          <p:cNvSpPr/>
          <p:nvPr/>
        </p:nvSpPr>
        <p:spPr>
          <a:xfrm>
            <a:off x="457200" y="1097280"/>
            <a:ext cx="3017520" cy="2743200"/>
          </a:xfrm>
          <a:prstGeom prst="roundRect">
            <a:avLst>
              <a:gd name="adj" fmla="val 2667"/>
            </a:avLst>
          </a:prstGeom>
          <a:solidFill>
            <a:schemeClr val="bg2"/>
          </a:solidFill>
          <a:ln/>
        </p:spPr>
        <p:txBody>
          <a:bodyPr/>
          <a:lstStyle/>
          <a:p>
            <a:endParaRPr lang="it-IT" dirty="0"/>
          </a:p>
        </p:txBody>
      </p:sp>
      <p:sp>
        <p:nvSpPr>
          <p:cNvPr id="5" name="cerchio FiFeather"/>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Feather"/>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651760" cy="347472"/>
          </a:xfrm>
          <a:prstGeom prst="rect">
            <a:avLst/>
          </a:prstGeom>
          <a:noFill/>
          <a:ln/>
        </p:spPr>
        <p:txBody>
          <a:bodyPr wrap="square" lIns="0" tIns="0" rIns="0" bIns="0" rtlCol="0" anchor="t"/>
          <a:lstStyle/>
          <a:p>
            <a:pPr marL="0" indent="0">
              <a:buNone/>
            </a:pPr>
            <a:r>
              <a:rPr lang="it-IT" sz="1500" b="1" dirty="0">
                <a:solidFill>
                  <a:schemeClr val="tx1"/>
                </a:solidFill>
              </a:rPr>
              <a:t>Neutralità di tono</a:t>
            </a:r>
            <a:endParaRPr lang="it-IT" sz="1500" dirty="0"/>
          </a:p>
        </p:txBody>
      </p:sp>
      <p:sp>
        <p:nvSpPr>
          <p:cNvPr id="8" name="Text 4"/>
          <p:cNvSpPr txBox="1"/>
          <p:nvPr/>
        </p:nvSpPr>
        <p:spPr>
          <a:xfrm>
            <a:off x="640080" y="2231136"/>
            <a:ext cx="2651760" cy="1499616"/>
          </a:xfrm>
          <a:prstGeom prst="rect">
            <a:avLst/>
          </a:prstGeom>
          <a:noFill/>
          <a:ln/>
        </p:spPr>
        <p:txBody>
          <a:bodyPr wrap="square" lIns="0" tIns="0" rIns="0" bIns="0" rtlCol="0" anchor="t"/>
          <a:lstStyle/>
          <a:p>
            <a:pPr marL="0" indent="0">
              <a:buNone/>
            </a:pPr>
            <a:r>
              <a:rPr lang="it-IT" sz="1300" dirty="0">
                <a:solidFill>
                  <a:schemeClr val="tx2"/>
                </a:solidFill>
              </a:rPr>
              <a:t>"Ci sono diverse prospettive", "da un lato... dall'altro".</a:t>
            </a:r>
            <a:endParaRPr lang="it-IT" sz="1300" dirty="0"/>
          </a:p>
          <a:p>
            <a:pPr marL="0" indent="0">
              <a:buNone/>
            </a:pPr>
            <a:endParaRPr lang="it-IT" sz="1300" dirty="0"/>
          </a:p>
          <a:p>
            <a:pPr marL="0" indent="0">
              <a:buNone/>
            </a:pPr>
            <a:r>
              <a:rPr lang="it-IT" sz="1300" dirty="0">
                <a:solidFill>
                  <a:schemeClr val="tx2"/>
                </a:solidFill>
              </a:rPr>
              <a:t>Dà un'impressione di oggettività.</a:t>
            </a:r>
            <a:endParaRPr lang="it-IT" sz="1300" dirty="0"/>
          </a:p>
        </p:txBody>
      </p:sp>
      <p:sp>
        <p:nvSpPr>
          <p:cNvPr id="9" name="freccia"/>
          <p:cNvSpPr/>
          <p:nvPr/>
        </p:nvSpPr>
        <p:spPr>
          <a:xfrm>
            <a:off x="3611880" y="2331720"/>
            <a:ext cx="365760" cy="292608"/>
          </a:xfrm>
          <a:prstGeom prst="rightArrow">
            <a:avLst/>
          </a:prstGeom>
          <a:solidFill>
            <a:schemeClr val="accent2"/>
          </a:solidFill>
          <a:ln/>
        </p:spPr>
        <p:txBody>
          <a:bodyPr/>
          <a:lstStyle/>
          <a:p>
            <a:endParaRPr lang="it-IT" dirty="0"/>
          </a:p>
        </p:txBody>
      </p:sp>
      <p:sp>
        <p:nvSpPr>
          <p:cNvPr id="10" name="Text 6"/>
          <p:cNvSpPr txBox="1"/>
          <p:nvPr/>
        </p:nvSpPr>
        <p:spPr>
          <a:xfrm>
            <a:off x="4160520" y="1097280"/>
            <a:ext cx="4526280" cy="320040"/>
          </a:xfrm>
          <a:prstGeom prst="rect">
            <a:avLst/>
          </a:prstGeom>
          <a:noFill/>
          <a:ln/>
        </p:spPr>
        <p:txBody>
          <a:bodyPr wrap="square" lIns="0" tIns="0" rIns="0" bIns="0" rtlCol="0" anchor="t"/>
          <a:lstStyle/>
          <a:p>
            <a:pPr marL="0" indent="0">
              <a:buNone/>
            </a:pPr>
            <a:r>
              <a:rPr lang="it-IT" sz="1400" b="1" dirty="0">
                <a:solidFill>
                  <a:schemeClr val="tx1"/>
                </a:solidFill>
              </a:rPr>
              <a:t>Scelte non neutrali che il tono non mostra</a:t>
            </a:r>
            <a:endParaRPr lang="it-IT" sz="1400" dirty="0"/>
          </a:p>
        </p:txBody>
      </p:sp>
      <p:sp>
        <p:nvSpPr>
          <p:cNvPr id="11" name="Che cosa includere e che cosa omettere"/>
          <p:cNvSpPr/>
          <p:nvPr/>
        </p:nvSpPr>
        <p:spPr>
          <a:xfrm>
            <a:off x="4160520" y="1481328"/>
            <a:ext cx="4526280" cy="402336"/>
          </a:xfrm>
          <a:prstGeom prst="roundRect">
            <a:avLst>
              <a:gd name="adj" fmla="val 18182"/>
            </a:avLst>
          </a:prstGeom>
          <a:solidFill>
            <a:schemeClr val="bg2"/>
          </a:solidFill>
          <a:ln/>
        </p:spPr>
        <p:txBody>
          <a:bodyPr/>
          <a:lstStyle/>
          <a:p>
            <a:endParaRPr lang="it-IT" dirty="0"/>
          </a:p>
        </p:txBody>
      </p:sp>
      <p:sp>
        <p:nvSpPr>
          <p:cNvPr id="12" name="Text 8"/>
          <p:cNvSpPr txBox="1"/>
          <p:nvPr/>
        </p:nvSpPr>
        <p:spPr>
          <a:xfrm>
            <a:off x="4297680" y="1481328"/>
            <a:ext cx="4297680" cy="402336"/>
          </a:xfrm>
          <a:prstGeom prst="rect">
            <a:avLst/>
          </a:prstGeom>
          <a:noFill/>
          <a:ln/>
        </p:spPr>
        <p:txBody>
          <a:bodyPr wrap="square" lIns="0" tIns="0" rIns="0" bIns="0" rtlCol="0" anchor="ctr"/>
          <a:lstStyle/>
          <a:p>
            <a:pPr marL="0" indent="0">
              <a:buNone/>
            </a:pPr>
            <a:r>
              <a:rPr lang="it-IT" sz="1200" dirty="0">
                <a:solidFill>
                  <a:schemeClr val="tx1"/>
                </a:solidFill>
              </a:rPr>
              <a:t>Che cosa includere e che cosa omettere</a:t>
            </a:r>
            <a:endParaRPr lang="it-IT" sz="1200" dirty="0"/>
          </a:p>
        </p:txBody>
      </p:sp>
      <p:sp>
        <p:nvSpPr>
          <p:cNvPr id="13" name="Ordine e spazio dato a ogni posizione"/>
          <p:cNvSpPr/>
          <p:nvPr/>
        </p:nvSpPr>
        <p:spPr>
          <a:xfrm>
            <a:off x="4160520" y="1956816"/>
            <a:ext cx="4526280" cy="402336"/>
          </a:xfrm>
          <a:prstGeom prst="roundRect">
            <a:avLst>
              <a:gd name="adj" fmla="val 18182"/>
            </a:avLst>
          </a:prstGeom>
          <a:solidFill>
            <a:schemeClr val="bg1"/>
          </a:solidFill>
          <a:ln/>
        </p:spPr>
        <p:txBody>
          <a:bodyPr/>
          <a:lstStyle/>
          <a:p>
            <a:endParaRPr lang="it-IT" dirty="0"/>
          </a:p>
        </p:txBody>
      </p:sp>
      <p:sp>
        <p:nvSpPr>
          <p:cNvPr id="14" name="Text 10"/>
          <p:cNvSpPr txBox="1"/>
          <p:nvPr/>
        </p:nvSpPr>
        <p:spPr>
          <a:xfrm>
            <a:off x="4297680" y="1956816"/>
            <a:ext cx="4297680" cy="402336"/>
          </a:xfrm>
          <a:prstGeom prst="rect">
            <a:avLst/>
          </a:prstGeom>
          <a:noFill/>
          <a:ln/>
        </p:spPr>
        <p:txBody>
          <a:bodyPr wrap="square" lIns="0" tIns="0" rIns="0" bIns="0" rtlCol="0" anchor="ctr"/>
          <a:lstStyle/>
          <a:p>
            <a:pPr marL="0" indent="0">
              <a:buNone/>
            </a:pPr>
            <a:r>
              <a:rPr lang="it-IT" sz="1200" dirty="0">
                <a:solidFill>
                  <a:schemeClr val="tx1"/>
                </a:solidFill>
              </a:rPr>
              <a:t>Ordine e spazio dato a ogni posizione</a:t>
            </a:r>
            <a:endParaRPr lang="it-IT" sz="1200" dirty="0"/>
          </a:p>
        </p:txBody>
      </p:sp>
      <p:sp>
        <p:nvSpPr>
          <p:cNvPr id="15" name="Esempi e fonti considerate autorevoli"/>
          <p:cNvSpPr/>
          <p:nvPr/>
        </p:nvSpPr>
        <p:spPr>
          <a:xfrm>
            <a:off x="4160520" y="2432304"/>
            <a:ext cx="4526280" cy="402336"/>
          </a:xfrm>
          <a:prstGeom prst="roundRect">
            <a:avLst>
              <a:gd name="adj" fmla="val 18182"/>
            </a:avLst>
          </a:prstGeom>
          <a:solidFill>
            <a:schemeClr val="bg2"/>
          </a:solidFill>
          <a:ln/>
        </p:spPr>
        <p:txBody>
          <a:bodyPr/>
          <a:lstStyle/>
          <a:p>
            <a:endParaRPr lang="it-IT" dirty="0"/>
          </a:p>
        </p:txBody>
      </p:sp>
      <p:sp>
        <p:nvSpPr>
          <p:cNvPr id="16" name="Text 12"/>
          <p:cNvSpPr txBox="1"/>
          <p:nvPr/>
        </p:nvSpPr>
        <p:spPr>
          <a:xfrm>
            <a:off x="4297680" y="2432304"/>
            <a:ext cx="4297680" cy="402336"/>
          </a:xfrm>
          <a:prstGeom prst="rect">
            <a:avLst/>
          </a:prstGeom>
          <a:noFill/>
          <a:ln/>
        </p:spPr>
        <p:txBody>
          <a:bodyPr wrap="square" lIns="0" tIns="0" rIns="0" bIns="0" rtlCol="0" anchor="ctr"/>
          <a:lstStyle/>
          <a:p>
            <a:pPr marL="0" indent="0">
              <a:buNone/>
            </a:pPr>
            <a:r>
              <a:rPr lang="it-IT" sz="1200" dirty="0">
                <a:solidFill>
                  <a:schemeClr val="tx1"/>
                </a:solidFill>
              </a:rPr>
              <a:t>Esempi e fonti considerate autorevoli</a:t>
            </a:r>
            <a:endParaRPr lang="it-IT" sz="1200" dirty="0"/>
          </a:p>
        </p:txBody>
      </p:sp>
      <p:sp>
        <p:nvSpPr>
          <p:cNvPr id="17" name="Quale soluzione presentare come &quot;standard&quot;"/>
          <p:cNvSpPr/>
          <p:nvPr/>
        </p:nvSpPr>
        <p:spPr>
          <a:xfrm>
            <a:off x="4160520" y="2907792"/>
            <a:ext cx="4526280" cy="402336"/>
          </a:xfrm>
          <a:prstGeom prst="roundRect">
            <a:avLst>
              <a:gd name="adj" fmla="val 18182"/>
            </a:avLst>
          </a:prstGeom>
          <a:solidFill>
            <a:schemeClr val="bg1"/>
          </a:solidFill>
          <a:ln/>
        </p:spPr>
        <p:txBody>
          <a:bodyPr/>
          <a:lstStyle/>
          <a:p>
            <a:endParaRPr lang="it-IT" dirty="0"/>
          </a:p>
        </p:txBody>
      </p:sp>
      <p:sp>
        <p:nvSpPr>
          <p:cNvPr id="18" name="Text 14"/>
          <p:cNvSpPr txBox="1"/>
          <p:nvPr/>
        </p:nvSpPr>
        <p:spPr>
          <a:xfrm>
            <a:off x="4297680" y="2907792"/>
            <a:ext cx="4297680" cy="402336"/>
          </a:xfrm>
          <a:prstGeom prst="rect">
            <a:avLst/>
          </a:prstGeom>
          <a:noFill/>
          <a:ln/>
        </p:spPr>
        <p:txBody>
          <a:bodyPr wrap="square" lIns="0" tIns="0" rIns="0" bIns="0" rtlCol="0" anchor="ctr"/>
          <a:lstStyle/>
          <a:p>
            <a:pPr marL="0" indent="0">
              <a:buNone/>
            </a:pPr>
            <a:r>
              <a:rPr lang="it-IT" sz="1200" dirty="0">
                <a:solidFill>
                  <a:schemeClr val="tx1"/>
                </a:solidFill>
              </a:rPr>
              <a:t>Quale soluzione presentare come "standard"</a:t>
            </a:r>
            <a:endParaRPr lang="it-IT" sz="1200" dirty="0"/>
          </a:p>
        </p:txBody>
      </p:sp>
      <p:sp>
        <p:nvSpPr>
          <p:cNvPr id="19" name="Posizioni presentate come equivalenti senza esserlo"/>
          <p:cNvSpPr/>
          <p:nvPr/>
        </p:nvSpPr>
        <p:spPr>
          <a:xfrm>
            <a:off x="4160520" y="3383280"/>
            <a:ext cx="4526280" cy="402336"/>
          </a:xfrm>
          <a:prstGeom prst="roundRect">
            <a:avLst>
              <a:gd name="adj" fmla="val 18182"/>
            </a:avLst>
          </a:prstGeom>
          <a:solidFill>
            <a:schemeClr val="bg2"/>
          </a:solidFill>
          <a:ln/>
        </p:spPr>
        <p:txBody>
          <a:bodyPr/>
          <a:lstStyle/>
          <a:p>
            <a:endParaRPr lang="it-IT" dirty="0"/>
          </a:p>
        </p:txBody>
      </p:sp>
      <p:sp>
        <p:nvSpPr>
          <p:cNvPr id="20" name="Text 16"/>
          <p:cNvSpPr txBox="1"/>
          <p:nvPr/>
        </p:nvSpPr>
        <p:spPr>
          <a:xfrm>
            <a:off x="4297680" y="3383280"/>
            <a:ext cx="4297680" cy="402336"/>
          </a:xfrm>
          <a:prstGeom prst="rect">
            <a:avLst/>
          </a:prstGeom>
          <a:noFill/>
          <a:ln/>
        </p:spPr>
        <p:txBody>
          <a:bodyPr wrap="square" lIns="0" tIns="0" rIns="0" bIns="0" rtlCol="0" anchor="ctr"/>
          <a:lstStyle/>
          <a:p>
            <a:pPr marL="0" indent="0">
              <a:buNone/>
            </a:pPr>
            <a:r>
              <a:rPr lang="it-IT" sz="1200" dirty="0">
                <a:solidFill>
                  <a:schemeClr val="tx1"/>
                </a:solidFill>
              </a:rPr>
              <a:t>Posizioni presentate come equivalenti senza esserlo</a:t>
            </a:r>
            <a:endParaRPr lang="it-IT" sz="1200" dirty="0"/>
          </a:p>
        </p:txBody>
      </p:sp>
      <p:sp>
        <p:nvSpPr>
          <p:cNvPr id="21" name="messaggio"/>
          <p:cNvSpPr/>
          <p:nvPr/>
        </p:nvSpPr>
        <p:spPr>
          <a:xfrm>
            <a:off x="457200" y="4023360"/>
            <a:ext cx="8229600" cy="502920"/>
          </a:xfrm>
          <a:prstGeom prst="roundRect">
            <a:avLst>
              <a:gd name="adj" fmla="val 14545"/>
            </a:avLst>
          </a:prstGeom>
          <a:solidFill>
            <a:schemeClr val="tx1"/>
          </a:solidFill>
          <a:ln/>
        </p:spPr>
        <p:txBody>
          <a:bodyPr/>
          <a:lstStyle/>
          <a:p>
            <a:endParaRPr lang="it-IT" dirty="0"/>
          </a:p>
        </p:txBody>
      </p:sp>
      <p:sp>
        <p:nvSpPr>
          <p:cNvPr id="22" name="Text 18"/>
          <p:cNvSpPr txBox="1"/>
          <p:nvPr/>
        </p:nvSpPr>
        <p:spPr>
          <a:xfrm>
            <a:off x="640080" y="4023360"/>
            <a:ext cx="7863840" cy="502920"/>
          </a:xfrm>
          <a:prstGeom prst="rect">
            <a:avLst/>
          </a:prstGeom>
          <a:noFill/>
          <a:ln/>
        </p:spPr>
        <p:txBody>
          <a:bodyPr wrap="square" lIns="0" tIns="0" rIns="0" bIns="0" rtlCol="0" anchor="ctr"/>
          <a:lstStyle/>
          <a:p>
            <a:pPr marL="0" indent="0">
              <a:buNone/>
            </a:pPr>
            <a:r>
              <a:rPr lang="it-IT" sz="1300" dirty="0">
                <a:solidFill>
                  <a:schemeClr val="bg1"/>
                </a:solidFill>
              </a:rPr>
              <a:t>Su temi delicati o controversi, confrontare più fonti, comprese quelle umane competenti.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33</a:t>
            </a:fld>
            <a:endParaRPr lang="it-IT"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Slide 3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dirty="0">
                <a:solidFill>
                  <a:schemeClr val="bg1"/>
                </a:solidFill>
              </a:rPr>
              <a:t>I sistemi AI possono riprodurre o amplificare distorsioni; le risposte non devono essere considerate automaticamente imparziali.</a:t>
            </a:r>
            <a:endParaRPr lang="it-IT"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dirty="0">
                <a:solidFill>
                  <a:schemeClr val="accent3"/>
                </a:solidFill>
              </a:rPr>
              <a:t>Sottotema 3.4  ·  Bias e distorsioni nei risultati</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34</a:t>
            </a:fld>
            <a:endParaRPr lang="it-IT"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3.5</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Accuratezza, affidabilità e consistenza</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L'affidabilità non è una proprietà unica e universale di un modello: va valutata per compiti e condizioni d'uso specifici</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35</a:t>
            </a:fld>
            <a:endParaRPr lang="it-IT"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Quattro concetti da distinguere</a:t>
            </a:r>
            <a:endParaRPr lang="it-IT" sz="2600" dirty="0"/>
          </a:p>
        </p:txBody>
      </p:sp>
      <p:sp>
        <p:nvSpPr>
          <p:cNvPr id="4" name="Accuratezza"/>
          <p:cNvSpPr/>
          <p:nvPr/>
        </p:nvSpPr>
        <p:spPr>
          <a:xfrm>
            <a:off x="457200" y="1097280"/>
            <a:ext cx="1920240" cy="1920240"/>
          </a:xfrm>
          <a:prstGeom prst="roundRect">
            <a:avLst>
              <a:gd name="adj" fmla="val 3810"/>
            </a:avLst>
          </a:prstGeom>
          <a:solidFill>
            <a:schemeClr val="bg2"/>
          </a:solidFill>
          <a:ln/>
        </p:spPr>
        <p:txBody>
          <a:bodyPr/>
          <a:lstStyle/>
          <a:p>
            <a:endParaRPr lang="it-IT" dirty="0"/>
          </a:p>
        </p:txBody>
      </p:sp>
      <p:sp>
        <p:nvSpPr>
          <p:cNvPr id="5" name="cerchio FiTarget"/>
          <p:cNvSpPr/>
          <p:nvPr/>
        </p:nvSpPr>
        <p:spPr>
          <a:xfrm>
            <a:off x="621792" y="1261872"/>
            <a:ext cx="438912" cy="438912"/>
          </a:xfrm>
          <a:prstGeom prst="ellipse">
            <a:avLst/>
          </a:prstGeom>
          <a:solidFill>
            <a:schemeClr val="accent1"/>
          </a:solidFill>
          <a:ln/>
        </p:spPr>
        <p:txBody>
          <a:bodyPr/>
          <a:lstStyle/>
          <a:p>
            <a:endParaRPr lang="it-IT" dirty="0"/>
          </a:p>
        </p:txBody>
      </p:sp>
      <p:pic>
        <p:nvPicPr>
          <p:cNvPr id="6" name="Image 0" descr="FiTarget"/>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1097280" cy="512064"/>
          </a:xfrm>
          <a:prstGeom prst="rect">
            <a:avLst/>
          </a:prstGeom>
          <a:noFill/>
          <a:ln/>
        </p:spPr>
        <p:txBody>
          <a:bodyPr wrap="square" lIns="0" tIns="0" rIns="0" bIns="0" rtlCol="0" anchor="ctr"/>
          <a:lstStyle/>
          <a:p>
            <a:pPr marL="0" indent="0">
              <a:buNone/>
            </a:pPr>
            <a:r>
              <a:rPr lang="it-IT" sz="1400" b="1" dirty="0">
                <a:solidFill>
                  <a:schemeClr val="tx1"/>
                </a:solidFill>
              </a:rPr>
              <a:t>Accuratezza</a:t>
            </a:r>
            <a:endParaRPr lang="it-IT" sz="1400" dirty="0"/>
          </a:p>
        </p:txBody>
      </p:sp>
      <p:sp>
        <p:nvSpPr>
          <p:cNvPr id="8" name="Text 4"/>
          <p:cNvSpPr txBox="1"/>
          <p:nvPr/>
        </p:nvSpPr>
        <p:spPr>
          <a:xfrm>
            <a:off x="621792" y="1810512"/>
            <a:ext cx="1591056" cy="1115568"/>
          </a:xfrm>
          <a:prstGeom prst="rect">
            <a:avLst/>
          </a:prstGeom>
          <a:noFill/>
          <a:ln/>
        </p:spPr>
        <p:txBody>
          <a:bodyPr wrap="square" lIns="0" tIns="0" rIns="0" bIns="0" rtlCol="0" anchor="t"/>
          <a:lstStyle/>
          <a:p>
            <a:pPr marL="0" indent="0">
              <a:buNone/>
            </a:pPr>
            <a:r>
              <a:rPr lang="it-IT" sz="1200" dirty="0">
                <a:solidFill>
                  <a:schemeClr val="tx2"/>
                </a:solidFill>
              </a:rPr>
              <a:t>Quanto spesso il risultato corrisponde alla risposta corretta</a:t>
            </a:r>
            <a:endParaRPr lang="it-IT" sz="1200" dirty="0"/>
          </a:p>
        </p:txBody>
      </p:sp>
      <p:sp>
        <p:nvSpPr>
          <p:cNvPr id="9" name="Affidabilità"/>
          <p:cNvSpPr/>
          <p:nvPr/>
        </p:nvSpPr>
        <p:spPr>
          <a:xfrm>
            <a:off x="2560320" y="1097280"/>
            <a:ext cx="1920240" cy="1920240"/>
          </a:xfrm>
          <a:prstGeom prst="roundRect">
            <a:avLst>
              <a:gd name="adj" fmla="val 3810"/>
            </a:avLst>
          </a:prstGeom>
          <a:solidFill>
            <a:schemeClr val="accent6"/>
          </a:solidFill>
          <a:ln/>
        </p:spPr>
        <p:txBody>
          <a:bodyPr/>
          <a:lstStyle/>
          <a:p>
            <a:endParaRPr lang="it-IT" dirty="0"/>
          </a:p>
        </p:txBody>
      </p:sp>
      <p:sp>
        <p:nvSpPr>
          <p:cNvPr id="10" name="cerchio FiShield"/>
          <p:cNvSpPr/>
          <p:nvPr/>
        </p:nvSpPr>
        <p:spPr>
          <a:xfrm>
            <a:off x="2724912" y="1261872"/>
            <a:ext cx="438912" cy="438912"/>
          </a:xfrm>
          <a:prstGeom prst="ellipse">
            <a:avLst/>
          </a:prstGeom>
          <a:solidFill>
            <a:schemeClr val="accent1"/>
          </a:solidFill>
          <a:ln/>
        </p:spPr>
        <p:txBody>
          <a:bodyPr/>
          <a:lstStyle/>
          <a:p>
            <a:endParaRPr lang="it-IT" dirty="0"/>
          </a:p>
        </p:txBody>
      </p:sp>
      <p:pic>
        <p:nvPicPr>
          <p:cNvPr id="11" name="Image 1" descr="FiShield"/>
          <p:cNvPicPr>
            <a:picLocks noChangeAspect="1"/>
          </p:cNvPicPr>
          <p:nvPr/>
        </p:nvPicPr>
        <p:blipFill>
          <a:blip r:embed="rId4"/>
          <a:stretch>
            <a:fillRect/>
          </a:stretch>
        </p:blipFill>
        <p:spPr>
          <a:xfrm>
            <a:off x="2834640" y="1371600"/>
            <a:ext cx="219456" cy="219456"/>
          </a:xfrm>
          <a:prstGeom prst="rect">
            <a:avLst/>
          </a:prstGeom>
        </p:spPr>
      </p:pic>
      <p:sp>
        <p:nvSpPr>
          <p:cNvPr id="12" name="Text 7"/>
          <p:cNvSpPr txBox="1"/>
          <p:nvPr/>
        </p:nvSpPr>
        <p:spPr>
          <a:xfrm>
            <a:off x="3273552" y="1225296"/>
            <a:ext cx="1097280" cy="512064"/>
          </a:xfrm>
          <a:prstGeom prst="rect">
            <a:avLst/>
          </a:prstGeom>
          <a:noFill/>
          <a:ln/>
        </p:spPr>
        <p:txBody>
          <a:bodyPr wrap="square" lIns="0" tIns="0" rIns="0" bIns="0" rtlCol="0" anchor="ctr"/>
          <a:lstStyle/>
          <a:p>
            <a:pPr marL="0" indent="0">
              <a:buNone/>
            </a:pPr>
            <a:r>
              <a:rPr lang="it-IT" sz="1400" b="1" dirty="0">
                <a:solidFill>
                  <a:schemeClr val="tx1"/>
                </a:solidFill>
              </a:rPr>
              <a:t>Affidabilità</a:t>
            </a:r>
            <a:endParaRPr lang="it-IT" sz="1400" dirty="0"/>
          </a:p>
        </p:txBody>
      </p:sp>
      <p:sp>
        <p:nvSpPr>
          <p:cNvPr id="13" name="Text 8"/>
          <p:cNvSpPr txBox="1"/>
          <p:nvPr/>
        </p:nvSpPr>
        <p:spPr>
          <a:xfrm>
            <a:off x="2724912" y="1810512"/>
            <a:ext cx="1591056" cy="1115568"/>
          </a:xfrm>
          <a:prstGeom prst="rect">
            <a:avLst/>
          </a:prstGeom>
          <a:noFill/>
          <a:ln/>
        </p:spPr>
        <p:txBody>
          <a:bodyPr wrap="square" lIns="0" tIns="0" rIns="0" bIns="0" rtlCol="0" anchor="t"/>
          <a:lstStyle/>
          <a:p>
            <a:pPr marL="0" indent="0">
              <a:buNone/>
            </a:pPr>
            <a:r>
              <a:rPr lang="it-IT" sz="1200" dirty="0">
                <a:solidFill>
                  <a:schemeClr val="tx2"/>
                </a:solidFill>
              </a:rPr>
              <a:t>Qualità adeguata in modo costante, nelle condizioni reali</a:t>
            </a:r>
            <a:endParaRPr lang="it-IT" sz="1200" dirty="0"/>
          </a:p>
        </p:txBody>
      </p:sp>
      <p:sp>
        <p:nvSpPr>
          <p:cNvPr id="14" name="Consistenza"/>
          <p:cNvSpPr/>
          <p:nvPr/>
        </p:nvSpPr>
        <p:spPr>
          <a:xfrm>
            <a:off x="4663440" y="1097280"/>
            <a:ext cx="1920240" cy="1920240"/>
          </a:xfrm>
          <a:prstGeom prst="roundRect">
            <a:avLst>
              <a:gd name="adj" fmla="val 3810"/>
            </a:avLst>
          </a:prstGeom>
          <a:solidFill>
            <a:schemeClr val="bg2"/>
          </a:solidFill>
          <a:ln/>
        </p:spPr>
        <p:txBody>
          <a:bodyPr/>
          <a:lstStyle/>
          <a:p>
            <a:endParaRPr lang="it-IT" dirty="0"/>
          </a:p>
        </p:txBody>
      </p:sp>
      <p:sp>
        <p:nvSpPr>
          <p:cNvPr id="15" name="cerchio FiRepeat"/>
          <p:cNvSpPr/>
          <p:nvPr/>
        </p:nvSpPr>
        <p:spPr>
          <a:xfrm>
            <a:off x="4828032" y="1261872"/>
            <a:ext cx="438912" cy="438912"/>
          </a:xfrm>
          <a:prstGeom prst="ellipse">
            <a:avLst/>
          </a:prstGeom>
          <a:solidFill>
            <a:schemeClr val="accent1"/>
          </a:solidFill>
          <a:ln/>
        </p:spPr>
        <p:txBody>
          <a:bodyPr/>
          <a:lstStyle/>
          <a:p>
            <a:endParaRPr lang="it-IT" dirty="0"/>
          </a:p>
        </p:txBody>
      </p:sp>
      <p:pic>
        <p:nvPicPr>
          <p:cNvPr id="16" name="Image 2" descr="FiRepeat"/>
          <p:cNvPicPr>
            <a:picLocks noChangeAspect="1"/>
          </p:cNvPicPr>
          <p:nvPr/>
        </p:nvPicPr>
        <p:blipFill>
          <a:blip r:embed="rId5"/>
          <a:stretch>
            <a:fillRect/>
          </a:stretch>
        </p:blipFill>
        <p:spPr>
          <a:xfrm>
            <a:off x="4937760" y="1371600"/>
            <a:ext cx="219456" cy="219456"/>
          </a:xfrm>
          <a:prstGeom prst="rect">
            <a:avLst/>
          </a:prstGeom>
        </p:spPr>
      </p:pic>
      <p:sp>
        <p:nvSpPr>
          <p:cNvPr id="17" name="Text 11"/>
          <p:cNvSpPr txBox="1"/>
          <p:nvPr/>
        </p:nvSpPr>
        <p:spPr>
          <a:xfrm>
            <a:off x="5376672" y="1225296"/>
            <a:ext cx="1097280" cy="512064"/>
          </a:xfrm>
          <a:prstGeom prst="rect">
            <a:avLst/>
          </a:prstGeom>
          <a:noFill/>
          <a:ln/>
        </p:spPr>
        <p:txBody>
          <a:bodyPr wrap="square" lIns="0" tIns="0" rIns="0" bIns="0" rtlCol="0" anchor="ctr"/>
          <a:lstStyle/>
          <a:p>
            <a:pPr marL="0" indent="0">
              <a:buNone/>
            </a:pPr>
            <a:r>
              <a:rPr lang="it-IT" sz="1400" b="1" dirty="0">
                <a:solidFill>
                  <a:schemeClr val="tx1"/>
                </a:solidFill>
              </a:rPr>
              <a:t>Consistenza</a:t>
            </a:r>
            <a:endParaRPr lang="it-IT" sz="1400" dirty="0"/>
          </a:p>
        </p:txBody>
      </p:sp>
      <p:sp>
        <p:nvSpPr>
          <p:cNvPr id="18" name="Text 12"/>
          <p:cNvSpPr txBox="1"/>
          <p:nvPr/>
        </p:nvSpPr>
        <p:spPr>
          <a:xfrm>
            <a:off x="4828032" y="1810512"/>
            <a:ext cx="1591056" cy="1115568"/>
          </a:xfrm>
          <a:prstGeom prst="rect">
            <a:avLst/>
          </a:prstGeom>
          <a:noFill/>
          <a:ln/>
        </p:spPr>
        <p:txBody>
          <a:bodyPr wrap="square" lIns="0" tIns="0" rIns="0" bIns="0" rtlCol="0" anchor="t"/>
          <a:lstStyle/>
          <a:p>
            <a:pPr marL="0" indent="0">
              <a:buNone/>
            </a:pPr>
            <a:r>
              <a:rPr lang="it-IT" sz="1200" dirty="0">
                <a:solidFill>
                  <a:schemeClr val="tx2"/>
                </a:solidFill>
              </a:rPr>
              <a:t>Risposte coerenti a richieste simili, senza contraddizioni</a:t>
            </a:r>
            <a:endParaRPr lang="it-IT" sz="1200" dirty="0"/>
          </a:p>
        </p:txBody>
      </p:sp>
      <p:sp>
        <p:nvSpPr>
          <p:cNvPr id="19" name="Utilità"/>
          <p:cNvSpPr/>
          <p:nvPr/>
        </p:nvSpPr>
        <p:spPr>
          <a:xfrm>
            <a:off x="6766560" y="1097280"/>
            <a:ext cx="1920240" cy="1920240"/>
          </a:xfrm>
          <a:prstGeom prst="roundRect">
            <a:avLst>
              <a:gd name="adj" fmla="val 3810"/>
            </a:avLst>
          </a:prstGeom>
          <a:solidFill>
            <a:schemeClr val="bg2"/>
          </a:solidFill>
          <a:ln/>
        </p:spPr>
        <p:txBody>
          <a:bodyPr/>
          <a:lstStyle/>
          <a:p>
            <a:endParaRPr lang="it-IT" dirty="0"/>
          </a:p>
        </p:txBody>
      </p:sp>
      <p:sp>
        <p:nvSpPr>
          <p:cNvPr id="20" name="cerchio FiAward"/>
          <p:cNvSpPr/>
          <p:nvPr/>
        </p:nvSpPr>
        <p:spPr>
          <a:xfrm>
            <a:off x="6931152" y="1261872"/>
            <a:ext cx="438912" cy="438912"/>
          </a:xfrm>
          <a:prstGeom prst="ellipse">
            <a:avLst/>
          </a:prstGeom>
          <a:solidFill>
            <a:schemeClr val="accent1"/>
          </a:solidFill>
          <a:ln/>
        </p:spPr>
        <p:txBody>
          <a:bodyPr/>
          <a:lstStyle/>
          <a:p>
            <a:endParaRPr lang="it-IT" dirty="0"/>
          </a:p>
        </p:txBody>
      </p:sp>
      <p:pic>
        <p:nvPicPr>
          <p:cNvPr id="21" name="Image 3" descr="FiAward"/>
          <p:cNvPicPr>
            <a:picLocks noChangeAspect="1"/>
          </p:cNvPicPr>
          <p:nvPr/>
        </p:nvPicPr>
        <p:blipFill>
          <a:blip r:embed="rId6"/>
          <a:stretch>
            <a:fillRect/>
          </a:stretch>
        </p:blipFill>
        <p:spPr>
          <a:xfrm>
            <a:off x="7040880" y="1371600"/>
            <a:ext cx="219456" cy="219456"/>
          </a:xfrm>
          <a:prstGeom prst="rect">
            <a:avLst/>
          </a:prstGeom>
        </p:spPr>
      </p:pic>
      <p:sp>
        <p:nvSpPr>
          <p:cNvPr id="22" name="Text 15"/>
          <p:cNvSpPr txBox="1"/>
          <p:nvPr/>
        </p:nvSpPr>
        <p:spPr>
          <a:xfrm>
            <a:off x="7479792" y="1225296"/>
            <a:ext cx="1097280" cy="512064"/>
          </a:xfrm>
          <a:prstGeom prst="rect">
            <a:avLst/>
          </a:prstGeom>
          <a:noFill/>
          <a:ln/>
        </p:spPr>
        <p:txBody>
          <a:bodyPr wrap="square" lIns="0" tIns="0" rIns="0" bIns="0" rtlCol="0" anchor="ctr"/>
          <a:lstStyle/>
          <a:p>
            <a:pPr marL="0" indent="0">
              <a:buNone/>
            </a:pPr>
            <a:r>
              <a:rPr lang="it-IT" sz="1400" b="1" dirty="0">
                <a:solidFill>
                  <a:schemeClr val="tx1"/>
                </a:solidFill>
              </a:rPr>
              <a:t>Utilità</a:t>
            </a:r>
            <a:endParaRPr lang="it-IT" sz="1400" dirty="0"/>
          </a:p>
        </p:txBody>
      </p:sp>
      <p:sp>
        <p:nvSpPr>
          <p:cNvPr id="23" name="Text 16"/>
          <p:cNvSpPr txBox="1"/>
          <p:nvPr/>
        </p:nvSpPr>
        <p:spPr>
          <a:xfrm>
            <a:off x="6931152" y="1810512"/>
            <a:ext cx="1591056" cy="1115568"/>
          </a:xfrm>
          <a:prstGeom prst="rect">
            <a:avLst/>
          </a:prstGeom>
          <a:noFill/>
          <a:ln/>
        </p:spPr>
        <p:txBody>
          <a:bodyPr wrap="square" lIns="0" tIns="0" rIns="0" bIns="0" rtlCol="0" anchor="t"/>
          <a:lstStyle/>
          <a:p>
            <a:pPr marL="0" indent="0">
              <a:buNone/>
            </a:pPr>
            <a:r>
              <a:rPr lang="it-IT" sz="1200" dirty="0">
                <a:solidFill>
                  <a:schemeClr val="tx2"/>
                </a:solidFill>
              </a:rPr>
              <a:t>Il valore che il risultato porta a chi lo usa</a:t>
            </a:r>
            <a:endParaRPr lang="it-IT" sz="1200" dirty="0"/>
          </a:p>
        </p:txBody>
      </p:sp>
      <p:sp>
        <p:nvSpPr>
          <p:cNvPr id="24" name="Text 17"/>
          <p:cNvSpPr txBox="1"/>
          <p:nvPr/>
        </p:nvSpPr>
        <p:spPr>
          <a:xfrm>
            <a:off x="457200" y="3200400"/>
            <a:ext cx="8229600" cy="274320"/>
          </a:xfrm>
          <a:prstGeom prst="rect">
            <a:avLst/>
          </a:prstGeom>
          <a:noFill/>
          <a:ln/>
        </p:spPr>
        <p:txBody>
          <a:bodyPr wrap="square" lIns="0" tIns="0" rIns="0" bIns="0" rtlCol="0" anchor="t"/>
          <a:lstStyle/>
          <a:p>
            <a:pPr marL="0" indent="0">
              <a:buNone/>
            </a:pPr>
            <a:r>
              <a:rPr lang="it-IT" sz="1400" b="1" dirty="0">
                <a:solidFill>
                  <a:schemeClr val="tx1"/>
                </a:solidFill>
              </a:rPr>
              <a:t>Non coincidono</a:t>
            </a:r>
            <a:endParaRPr lang="it-IT" sz="1400" dirty="0"/>
          </a:p>
        </p:txBody>
      </p:sp>
      <p:sp>
        <p:nvSpPr>
          <p:cNvPr id="25" name="Accurato al 90% ma poco affidabile, se non sappiamo quando sbaglia"/>
          <p:cNvSpPr/>
          <p:nvPr/>
        </p:nvSpPr>
        <p:spPr>
          <a:xfrm>
            <a:off x="457200" y="3566160"/>
            <a:ext cx="2615184" cy="960120"/>
          </a:xfrm>
          <a:prstGeom prst="roundRect">
            <a:avLst>
              <a:gd name="adj" fmla="val 7619"/>
            </a:avLst>
          </a:prstGeom>
          <a:solidFill>
            <a:schemeClr val="bg2"/>
          </a:solidFill>
          <a:ln/>
        </p:spPr>
        <p:txBody>
          <a:bodyPr/>
          <a:lstStyle/>
          <a:p>
            <a:endParaRPr lang="it-IT" dirty="0"/>
          </a:p>
        </p:txBody>
      </p:sp>
      <p:sp>
        <p:nvSpPr>
          <p:cNvPr id="26" name="Text 19"/>
          <p:cNvSpPr txBox="1"/>
          <p:nvPr/>
        </p:nvSpPr>
        <p:spPr>
          <a:xfrm>
            <a:off x="594360" y="3566160"/>
            <a:ext cx="2340864" cy="960120"/>
          </a:xfrm>
          <a:prstGeom prst="rect">
            <a:avLst/>
          </a:prstGeom>
          <a:noFill/>
          <a:ln/>
        </p:spPr>
        <p:txBody>
          <a:bodyPr wrap="square" lIns="0" tIns="0" rIns="0" bIns="0" rtlCol="0" anchor="ctr"/>
          <a:lstStyle/>
          <a:p>
            <a:pPr marL="0" indent="0">
              <a:buNone/>
            </a:pPr>
            <a:r>
              <a:rPr lang="it-IT" sz="1200" dirty="0">
                <a:solidFill>
                  <a:schemeClr val="tx1"/>
                </a:solidFill>
              </a:rPr>
              <a:t>Accurato al 90% ma poco affidabile, se non sappiamo quando sbaglia</a:t>
            </a:r>
            <a:endParaRPr lang="it-IT" sz="1200" dirty="0"/>
          </a:p>
        </p:txBody>
      </p:sp>
      <p:sp>
        <p:nvSpPr>
          <p:cNvPr id="27" name="Molto consistente, ma sistematicamente sbagliato"/>
          <p:cNvSpPr/>
          <p:nvPr/>
        </p:nvSpPr>
        <p:spPr>
          <a:xfrm>
            <a:off x="3264408" y="3566160"/>
            <a:ext cx="2615184" cy="960120"/>
          </a:xfrm>
          <a:prstGeom prst="roundRect">
            <a:avLst>
              <a:gd name="adj" fmla="val 7619"/>
            </a:avLst>
          </a:prstGeom>
          <a:solidFill>
            <a:schemeClr val="bg2"/>
          </a:solidFill>
          <a:ln/>
        </p:spPr>
        <p:txBody>
          <a:bodyPr/>
          <a:lstStyle/>
          <a:p>
            <a:endParaRPr lang="it-IT" dirty="0"/>
          </a:p>
        </p:txBody>
      </p:sp>
      <p:sp>
        <p:nvSpPr>
          <p:cNvPr id="28" name="Text 21"/>
          <p:cNvSpPr txBox="1"/>
          <p:nvPr/>
        </p:nvSpPr>
        <p:spPr>
          <a:xfrm>
            <a:off x="3401568" y="3566160"/>
            <a:ext cx="2340864" cy="960120"/>
          </a:xfrm>
          <a:prstGeom prst="rect">
            <a:avLst/>
          </a:prstGeom>
          <a:noFill/>
          <a:ln/>
        </p:spPr>
        <p:txBody>
          <a:bodyPr wrap="square" lIns="0" tIns="0" rIns="0" bIns="0" rtlCol="0" anchor="ctr"/>
          <a:lstStyle/>
          <a:p>
            <a:pPr marL="0" indent="0">
              <a:buNone/>
            </a:pPr>
            <a:r>
              <a:rPr lang="it-IT" sz="1200" dirty="0">
                <a:solidFill>
                  <a:schemeClr val="tx1"/>
                </a:solidFill>
              </a:rPr>
              <a:t>Molto consistente, ma sistematicamente sbagliato</a:t>
            </a:r>
            <a:endParaRPr lang="it-IT" sz="1200" dirty="0"/>
          </a:p>
        </p:txBody>
      </p:sp>
      <p:sp>
        <p:nvSpPr>
          <p:cNvPr id="29" name="Imperfetto ma utile: una bozza facile da correggere"/>
          <p:cNvSpPr/>
          <p:nvPr/>
        </p:nvSpPr>
        <p:spPr>
          <a:xfrm>
            <a:off x="6071616" y="3566160"/>
            <a:ext cx="2615184" cy="960120"/>
          </a:xfrm>
          <a:prstGeom prst="roundRect">
            <a:avLst>
              <a:gd name="adj" fmla="val 7619"/>
            </a:avLst>
          </a:prstGeom>
          <a:solidFill>
            <a:schemeClr val="bg2"/>
          </a:solidFill>
          <a:ln/>
        </p:spPr>
        <p:txBody>
          <a:bodyPr/>
          <a:lstStyle/>
          <a:p>
            <a:endParaRPr lang="it-IT" dirty="0"/>
          </a:p>
        </p:txBody>
      </p:sp>
      <p:sp>
        <p:nvSpPr>
          <p:cNvPr id="30" name="Text 23"/>
          <p:cNvSpPr txBox="1"/>
          <p:nvPr/>
        </p:nvSpPr>
        <p:spPr>
          <a:xfrm>
            <a:off x="6208776" y="3566160"/>
            <a:ext cx="2340864" cy="960120"/>
          </a:xfrm>
          <a:prstGeom prst="rect">
            <a:avLst/>
          </a:prstGeom>
          <a:noFill/>
          <a:ln/>
        </p:spPr>
        <p:txBody>
          <a:bodyPr wrap="square" lIns="0" tIns="0" rIns="0" bIns="0" rtlCol="0" anchor="ctr"/>
          <a:lstStyle/>
          <a:p>
            <a:pPr marL="0" indent="0">
              <a:buNone/>
            </a:pPr>
            <a:r>
              <a:rPr lang="it-IT" sz="1200" dirty="0">
                <a:solidFill>
                  <a:schemeClr val="tx1"/>
                </a:solidFill>
              </a:rPr>
              <a:t>Imperfetto ma utile: una bozza facile da correggere</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36</a:t>
            </a:fld>
            <a:endParaRPr lang="it-IT"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Prestazioni diverse in base al compito</a:t>
            </a:r>
            <a:endParaRPr lang="it-IT" sz="2600" dirty="0"/>
          </a:p>
        </p:txBody>
      </p:sp>
      <p:sp>
        <p:nvSpPr>
          <p:cNvPr id="4" name="Text 1"/>
          <p:cNvSpPr txBox="1"/>
          <p:nvPr/>
        </p:nvSpPr>
        <p:spPr>
          <a:xfrm>
            <a:off x="457200" y="1188720"/>
            <a:ext cx="3108960" cy="384048"/>
          </a:xfrm>
          <a:prstGeom prst="rect">
            <a:avLst/>
          </a:prstGeom>
          <a:noFill/>
          <a:ln/>
        </p:spPr>
        <p:txBody>
          <a:bodyPr wrap="square" lIns="0" tIns="0" rIns="0" bIns="0" rtlCol="0" anchor="ctr"/>
          <a:lstStyle/>
          <a:p>
            <a:pPr marL="0" indent="0">
              <a:buNone/>
            </a:pPr>
            <a:r>
              <a:rPr lang="it-IT" sz="1300" dirty="0">
                <a:solidFill>
                  <a:schemeClr val="tx1"/>
                </a:solidFill>
              </a:rPr>
              <a:t>Riformulare e correggere testi</a:t>
            </a:r>
            <a:endParaRPr lang="it-IT" sz="1300" dirty="0"/>
          </a:p>
        </p:txBody>
      </p:sp>
      <p:sp>
        <p:nvSpPr>
          <p:cNvPr id="5" name="barra base"/>
          <p:cNvSpPr/>
          <p:nvPr/>
        </p:nvSpPr>
        <p:spPr>
          <a:xfrm>
            <a:off x="3657600" y="1280160"/>
            <a:ext cx="2743200" cy="219456"/>
          </a:xfrm>
          <a:prstGeom prst="rect">
            <a:avLst/>
          </a:prstGeom>
          <a:solidFill>
            <a:schemeClr val="bg2"/>
          </a:solidFill>
          <a:ln/>
        </p:spPr>
        <p:txBody>
          <a:bodyPr/>
          <a:lstStyle/>
          <a:p>
            <a:endParaRPr lang="it-IT" dirty="0"/>
          </a:p>
        </p:txBody>
      </p:sp>
      <p:sp>
        <p:nvSpPr>
          <p:cNvPr id="6" name="barra profilo"/>
          <p:cNvSpPr/>
          <p:nvPr/>
        </p:nvSpPr>
        <p:spPr>
          <a:xfrm>
            <a:off x="3657600" y="1280160"/>
            <a:ext cx="2606040" cy="219456"/>
          </a:xfrm>
          <a:prstGeom prst="rect">
            <a:avLst/>
          </a:prstGeom>
          <a:solidFill>
            <a:schemeClr val="accent1"/>
          </a:solidFill>
          <a:ln/>
        </p:spPr>
        <p:txBody>
          <a:bodyPr/>
          <a:lstStyle/>
          <a:p>
            <a:endParaRPr lang="it-IT" dirty="0"/>
          </a:p>
        </p:txBody>
      </p:sp>
      <p:sp>
        <p:nvSpPr>
          <p:cNvPr id="7" name="Text 4"/>
          <p:cNvSpPr txBox="1"/>
          <p:nvPr/>
        </p:nvSpPr>
        <p:spPr>
          <a:xfrm>
            <a:off x="457200" y="1664208"/>
            <a:ext cx="3108960" cy="384048"/>
          </a:xfrm>
          <a:prstGeom prst="rect">
            <a:avLst/>
          </a:prstGeom>
          <a:noFill/>
          <a:ln/>
        </p:spPr>
        <p:txBody>
          <a:bodyPr wrap="square" lIns="0" tIns="0" rIns="0" bIns="0" rtlCol="0" anchor="ctr"/>
          <a:lstStyle/>
          <a:p>
            <a:pPr marL="0" indent="0">
              <a:buNone/>
            </a:pPr>
            <a:r>
              <a:rPr lang="it-IT" sz="1300" dirty="0">
                <a:solidFill>
                  <a:schemeClr val="tx1"/>
                </a:solidFill>
              </a:rPr>
              <a:t>Sintetizzare e tradurre</a:t>
            </a:r>
            <a:endParaRPr lang="it-IT" sz="1300" dirty="0"/>
          </a:p>
        </p:txBody>
      </p:sp>
      <p:sp>
        <p:nvSpPr>
          <p:cNvPr id="8" name="barra base"/>
          <p:cNvSpPr/>
          <p:nvPr/>
        </p:nvSpPr>
        <p:spPr>
          <a:xfrm>
            <a:off x="3657600" y="1755648"/>
            <a:ext cx="2743200" cy="219456"/>
          </a:xfrm>
          <a:prstGeom prst="rect">
            <a:avLst/>
          </a:prstGeom>
          <a:solidFill>
            <a:schemeClr val="bg2"/>
          </a:solidFill>
          <a:ln/>
        </p:spPr>
        <p:txBody>
          <a:bodyPr/>
          <a:lstStyle/>
          <a:p>
            <a:endParaRPr lang="it-IT" dirty="0"/>
          </a:p>
        </p:txBody>
      </p:sp>
      <p:sp>
        <p:nvSpPr>
          <p:cNvPr id="9" name="barra profilo"/>
          <p:cNvSpPr/>
          <p:nvPr/>
        </p:nvSpPr>
        <p:spPr>
          <a:xfrm>
            <a:off x="3657600" y="1755648"/>
            <a:ext cx="2331720" cy="219456"/>
          </a:xfrm>
          <a:prstGeom prst="rect">
            <a:avLst/>
          </a:prstGeom>
          <a:solidFill>
            <a:schemeClr val="accent1"/>
          </a:solidFill>
          <a:ln/>
        </p:spPr>
        <p:txBody>
          <a:bodyPr/>
          <a:lstStyle/>
          <a:p>
            <a:endParaRPr lang="it-IT" dirty="0"/>
          </a:p>
        </p:txBody>
      </p:sp>
      <p:sp>
        <p:nvSpPr>
          <p:cNvPr id="10" name="Text 7"/>
          <p:cNvSpPr txBox="1"/>
          <p:nvPr/>
        </p:nvSpPr>
        <p:spPr>
          <a:xfrm>
            <a:off x="457200" y="2139696"/>
            <a:ext cx="3108960" cy="384048"/>
          </a:xfrm>
          <a:prstGeom prst="rect">
            <a:avLst/>
          </a:prstGeom>
          <a:noFill/>
          <a:ln/>
        </p:spPr>
        <p:txBody>
          <a:bodyPr wrap="square" lIns="0" tIns="0" rIns="0" bIns="0" rtlCol="0" anchor="ctr"/>
          <a:lstStyle/>
          <a:p>
            <a:pPr marL="0" indent="0">
              <a:buNone/>
            </a:pPr>
            <a:r>
              <a:rPr lang="it-IT" sz="1300" dirty="0">
                <a:solidFill>
                  <a:schemeClr val="tx1"/>
                </a:solidFill>
              </a:rPr>
              <a:t>Estrarre dati da documenti strutturati</a:t>
            </a:r>
            <a:endParaRPr lang="it-IT" sz="1300" dirty="0"/>
          </a:p>
        </p:txBody>
      </p:sp>
      <p:sp>
        <p:nvSpPr>
          <p:cNvPr id="11" name="barra base"/>
          <p:cNvSpPr/>
          <p:nvPr/>
        </p:nvSpPr>
        <p:spPr>
          <a:xfrm>
            <a:off x="3657600" y="2231136"/>
            <a:ext cx="2743200" cy="219456"/>
          </a:xfrm>
          <a:prstGeom prst="rect">
            <a:avLst/>
          </a:prstGeom>
          <a:solidFill>
            <a:schemeClr val="bg2"/>
          </a:solidFill>
          <a:ln/>
        </p:spPr>
        <p:txBody>
          <a:bodyPr/>
          <a:lstStyle/>
          <a:p>
            <a:endParaRPr lang="it-IT" dirty="0"/>
          </a:p>
        </p:txBody>
      </p:sp>
      <p:sp>
        <p:nvSpPr>
          <p:cNvPr id="12" name="barra profilo"/>
          <p:cNvSpPr/>
          <p:nvPr/>
        </p:nvSpPr>
        <p:spPr>
          <a:xfrm>
            <a:off x="3657600" y="2231136"/>
            <a:ext cx="2057400" cy="219456"/>
          </a:xfrm>
          <a:prstGeom prst="rect">
            <a:avLst/>
          </a:prstGeom>
          <a:solidFill>
            <a:schemeClr val="accent1"/>
          </a:solidFill>
          <a:ln/>
        </p:spPr>
        <p:txBody>
          <a:bodyPr/>
          <a:lstStyle/>
          <a:p>
            <a:endParaRPr lang="it-IT" dirty="0"/>
          </a:p>
        </p:txBody>
      </p:sp>
      <p:sp>
        <p:nvSpPr>
          <p:cNvPr id="13" name="Text 10"/>
          <p:cNvSpPr txBox="1"/>
          <p:nvPr/>
        </p:nvSpPr>
        <p:spPr>
          <a:xfrm>
            <a:off x="457200" y="2615184"/>
            <a:ext cx="3108960" cy="384048"/>
          </a:xfrm>
          <a:prstGeom prst="rect">
            <a:avLst/>
          </a:prstGeom>
          <a:noFill/>
          <a:ln/>
        </p:spPr>
        <p:txBody>
          <a:bodyPr wrap="square" lIns="0" tIns="0" rIns="0" bIns="0" rtlCol="0" anchor="ctr"/>
          <a:lstStyle/>
          <a:p>
            <a:pPr marL="0" indent="0">
              <a:buNone/>
            </a:pPr>
            <a:r>
              <a:rPr lang="it-IT" sz="1300" dirty="0">
                <a:solidFill>
                  <a:schemeClr val="tx1"/>
                </a:solidFill>
              </a:rPr>
              <a:t>Calcoli complessi senza strumenti</a:t>
            </a:r>
            <a:endParaRPr lang="it-IT" sz="1300" dirty="0"/>
          </a:p>
        </p:txBody>
      </p:sp>
      <p:sp>
        <p:nvSpPr>
          <p:cNvPr id="14" name="barra base"/>
          <p:cNvSpPr/>
          <p:nvPr/>
        </p:nvSpPr>
        <p:spPr>
          <a:xfrm>
            <a:off x="3657600" y="2706624"/>
            <a:ext cx="2743200" cy="219456"/>
          </a:xfrm>
          <a:prstGeom prst="rect">
            <a:avLst/>
          </a:prstGeom>
          <a:solidFill>
            <a:schemeClr val="bg2"/>
          </a:solidFill>
          <a:ln/>
        </p:spPr>
        <p:txBody>
          <a:bodyPr/>
          <a:lstStyle/>
          <a:p>
            <a:endParaRPr lang="it-IT" dirty="0"/>
          </a:p>
        </p:txBody>
      </p:sp>
      <p:sp>
        <p:nvSpPr>
          <p:cNvPr id="15" name="barra profilo"/>
          <p:cNvSpPr/>
          <p:nvPr/>
        </p:nvSpPr>
        <p:spPr>
          <a:xfrm>
            <a:off x="3657600" y="2706624"/>
            <a:ext cx="1234440" cy="219456"/>
          </a:xfrm>
          <a:prstGeom prst="rect">
            <a:avLst/>
          </a:prstGeom>
          <a:solidFill>
            <a:schemeClr val="accent5"/>
          </a:solidFill>
          <a:ln/>
        </p:spPr>
        <p:txBody>
          <a:bodyPr/>
          <a:lstStyle/>
          <a:p>
            <a:endParaRPr lang="it-IT" dirty="0"/>
          </a:p>
        </p:txBody>
      </p:sp>
      <p:sp>
        <p:nvSpPr>
          <p:cNvPr id="16" name="Text 13"/>
          <p:cNvSpPr txBox="1"/>
          <p:nvPr/>
        </p:nvSpPr>
        <p:spPr>
          <a:xfrm>
            <a:off x="457200" y="3090672"/>
            <a:ext cx="3108960" cy="384048"/>
          </a:xfrm>
          <a:prstGeom prst="rect">
            <a:avLst/>
          </a:prstGeom>
          <a:noFill/>
          <a:ln/>
        </p:spPr>
        <p:txBody>
          <a:bodyPr wrap="square" lIns="0" tIns="0" rIns="0" bIns="0" rtlCol="0" anchor="ctr"/>
          <a:lstStyle/>
          <a:p>
            <a:pPr marL="0" indent="0">
              <a:buNone/>
            </a:pPr>
            <a:r>
              <a:rPr lang="it-IT" sz="1300" dirty="0">
                <a:solidFill>
                  <a:schemeClr val="tx1"/>
                </a:solidFill>
              </a:rPr>
              <a:t>Fatti specifici senza fonti</a:t>
            </a:r>
            <a:endParaRPr lang="it-IT" sz="1300" dirty="0"/>
          </a:p>
        </p:txBody>
      </p:sp>
      <p:sp>
        <p:nvSpPr>
          <p:cNvPr id="17" name="barra base"/>
          <p:cNvSpPr/>
          <p:nvPr/>
        </p:nvSpPr>
        <p:spPr>
          <a:xfrm>
            <a:off x="3657600" y="3182112"/>
            <a:ext cx="2743200" cy="219456"/>
          </a:xfrm>
          <a:prstGeom prst="rect">
            <a:avLst/>
          </a:prstGeom>
          <a:solidFill>
            <a:schemeClr val="bg2"/>
          </a:solidFill>
          <a:ln/>
        </p:spPr>
        <p:txBody>
          <a:bodyPr/>
          <a:lstStyle/>
          <a:p>
            <a:endParaRPr lang="it-IT" dirty="0"/>
          </a:p>
        </p:txBody>
      </p:sp>
      <p:sp>
        <p:nvSpPr>
          <p:cNvPr id="18" name="barra profilo"/>
          <p:cNvSpPr/>
          <p:nvPr/>
        </p:nvSpPr>
        <p:spPr>
          <a:xfrm>
            <a:off x="3657600" y="3182112"/>
            <a:ext cx="1097280" cy="219456"/>
          </a:xfrm>
          <a:prstGeom prst="rect">
            <a:avLst/>
          </a:prstGeom>
          <a:solidFill>
            <a:schemeClr val="accent5"/>
          </a:solidFill>
          <a:ln/>
        </p:spPr>
        <p:txBody>
          <a:bodyPr/>
          <a:lstStyle/>
          <a:p>
            <a:endParaRPr lang="it-IT" dirty="0"/>
          </a:p>
        </p:txBody>
      </p:sp>
      <p:sp>
        <p:nvSpPr>
          <p:cNvPr id="19" name="Text 16"/>
          <p:cNvSpPr txBox="1"/>
          <p:nvPr/>
        </p:nvSpPr>
        <p:spPr>
          <a:xfrm>
            <a:off x="457200" y="3566160"/>
            <a:ext cx="3108960" cy="384048"/>
          </a:xfrm>
          <a:prstGeom prst="rect">
            <a:avLst/>
          </a:prstGeom>
          <a:noFill/>
          <a:ln/>
        </p:spPr>
        <p:txBody>
          <a:bodyPr wrap="square" lIns="0" tIns="0" rIns="0" bIns="0" rtlCol="0" anchor="ctr"/>
          <a:lstStyle/>
          <a:p>
            <a:pPr marL="0" indent="0">
              <a:buNone/>
            </a:pPr>
            <a:r>
              <a:rPr lang="it-IT" sz="1300" dirty="0">
                <a:solidFill>
                  <a:schemeClr val="tx1"/>
                </a:solidFill>
              </a:rPr>
              <a:t>Conteggi precisi (parole, lettere)</a:t>
            </a:r>
            <a:endParaRPr lang="it-IT" sz="1300" dirty="0"/>
          </a:p>
        </p:txBody>
      </p:sp>
      <p:sp>
        <p:nvSpPr>
          <p:cNvPr id="20" name="barra base"/>
          <p:cNvSpPr/>
          <p:nvPr/>
        </p:nvSpPr>
        <p:spPr>
          <a:xfrm>
            <a:off x="3657600" y="3657600"/>
            <a:ext cx="2743200" cy="219456"/>
          </a:xfrm>
          <a:prstGeom prst="rect">
            <a:avLst/>
          </a:prstGeom>
          <a:solidFill>
            <a:schemeClr val="bg2"/>
          </a:solidFill>
          <a:ln/>
        </p:spPr>
        <p:txBody>
          <a:bodyPr/>
          <a:lstStyle/>
          <a:p>
            <a:endParaRPr lang="it-IT" dirty="0"/>
          </a:p>
        </p:txBody>
      </p:sp>
      <p:sp>
        <p:nvSpPr>
          <p:cNvPr id="21" name="barra profilo"/>
          <p:cNvSpPr/>
          <p:nvPr/>
        </p:nvSpPr>
        <p:spPr>
          <a:xfrm>
            <a:off x="3657600" y="3657600"/>
            <a:ext cx="960120" cy="219456"/>
          </a:xfrm>
          <a:prstGeom prst="rect">
            <a:avLst/>
          </a:prstGeom>
          <a:solidFill>
            <a:schemeClr val="accent5"/>
          </a:solidFill>
          <a:ln/>
        </p:spPr>
        <p:txBody>
          <a:bodyPr/>
          <a:lstStyle/>
          <a:p>
            <a:endParaRPr lang="it-IT" dirty="0"/>
          </a:p>
        </p:txBody>
      </p:sp>
      <p:sp>
        <p:nvSpPr>
          <p:cNvPr id="22" name="Text 19"/>
          <p:cNvSpPr txBox="1"/>
          <p:nvPr/>
        </p:nvSpPr>
        <p:spPr>
          <a:xfrm>
            <a:off x="457200" y="4069080"/>
            <a:ext cx="5943600" cy="274320"/>
          </a:xfrm>
          <a:prstGeom prst="rect">
            <a:avLst/>
          </a:prstGeom>
          <a:noFill/>
          <a:ln/>
        </p:spPr>
        <p:txBody>
          <a:bodyPr wrap="square" lIns="0" tIns="0" rIns="0" bIns="0" rtlCol="0" anchor="t"/>
          <a:lstStyle/>
          <a:p>
            <a:pPr marL="0" indent="0">
              <a:buNone/>
            </a:pPr>
            <a:r>
              <a:rPr lang="it-IT" sz="1000" i="1" dirty="0">
                <a:solidFill>
                  <a:schemeClr val="accent2"/>
                </a:solidFill>
              </a:rPr>
              <a:t>Profilo qualitativo di un ipotetico assistente, a scopo illustrativo</a:t>
            </a:r>
            <a:endParaRPr lang="it-IT" sz="1000" dirty="0"/>
          </a:p>
        </p:txBody>
      </p:sp>
      <p:sp>
        <p:nvSpPr>
          <p:cNvPr id="23" name="messaggio profilo"/>
          <p:cNvSpPr/>
          <p:nvPr/>
        </p:nvSpPr>
        <p:spPr>
          <a:xfrm>
            <a:off x="6675120" y="1097280"/>
            <a:ext cx="2011680" cy="3429000"/>
          </a:xfrm>
          <a:prstGeom prst="roundRect">
            <a:avLst>
              <a:gd name="adj" fmla="val 3636"/>
            </a:avLst>
          </a:prstGeom>
          <a:solidFill>
            <a:schemeClr val="tx1"/>
          </a:solidFill>
          <a:ln/>
        </p:spPr>
        <p:txBody>
          <a:bodyPr/>
          <a:lstStyle/>
          <a:p>
            <a:endParaRPr lang="it-IT" dirty="0"/>
          </a:p>
        </p:txBody>
      </p:sp>
      <p:sp>
        <p:nvSpPr>
          <p:cNvPr id="24" name="Text 21"/>
          <p:cNvSpPr txBox="1"/>
          <p:nvPr/>
        </p:nvSpPr>
        <p:spPr>
          <a:xfrm>
            <a:off x="6812280" y="1188720"/>
            <a:ext cx="1783080" cy="3246120"/>
          </a:xfrm>
          <a:prstGeom prst="rect">
            <a:avLst/>
          </a:prstGeom>
          <a:noFill/>
          <a:ln/>
        </p:spPr>
        <p:txBody>
          <a:bodyPr wrap="square" lIns="0" tIns="0" rIns="0" bIns="0" rtlCol="0" anchor="ctr"/>
          <a:lstStyle/>
          <a:p>
            <a:pPr marL="0" indent="0">
              <a:buNone/>
            </a:pPr>
            <a:r>
              <a:rPr lang="it-IT" sz="1400" dirty="0">
                <a:solidFill>
                  <a:schemeClr val="bg1"/>
                </a:solidFill>
              </a:rPr>
              <a:t>Non "questo modello è affidabile", ma "è affidabile per questo compito, in queste condizioni".</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37</a:t>
            </a:fld>
            <a:endParaRPr lang="it-IT"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Coerenza, ripetibilità e robustezza</a:t>
            </a:r>
            <a:endParaRPr lang="it-IT" sz="2600" dirty="0"/>
          </a:p>
        </p:txBody>
      </p:sp>
      <p:sp>
        <p:nvSpPr>
          <p:cNvPr id="4" name="scheda Ripetibilità"/>
          <p:cNvSpPr/>
          <p:nvPr/>
        </p:nvSpPr>
        <p:spPr>
          <a:xfrm>
            <a:off x="457200" y="1097280"/>
            <a:ext cx="3977640" cy="2011680"/>
          </a:xfrm>
          <a:prstGeom prst="roundRect">
            <a:avLst>
              <a:gd name="adj" fmla="val 3636"/>
            </a:avLst>
          </a:prstGeom>
          <a:solidFill>
            <a:schemeClr val="bg2"/>
          </a:solidFill>
          <a:ln/>
        </p:spPr>
        <p:txBody>
          <a:bodyPr/>
          <a:lstStyle/>
          <a:p>
            <a:endParaRPr lang="it-IT" dirty="0"/>
          </a:p>
        </p:txBody>
      </p:sp>
      <p:sp>
        <p:nvSpPr>
          <p:cNvPr id="5" name="cerchio FiRepeat"/>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Repeat"/>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1234440" y="128016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Ripetibilità</a:t>
            </a:r>
            <a:endParaRPr lang="it-IT" sz="1500" dirty="0"/>
          </a:p>
        </p:txBody>
      </p:sp>
      <p:sp>
        <p:nvSpPr>
          <p:cNvPr id="8" name="Text 4"/>
          <p:cNvSpPr txBox="1"/>
          <p:nvPr/>
        </p:nvSpPr>
        <p:spPr>
          <a:xfrm>
            <a:off x="640080" y="1874520"/>
            <a:ext cx="3611880" cy="1124712"/>
          </a:xfrm>
          <a:prstGeom prst="rect">
            <a:avLst/>
          </a:prstGeom>
          <a:noFill/>
          <a:ln/>
        </p:spPr>
        <p:txBody>
          <a:bodyPr wrap="square" lIns="0" tIns="0" rIns="0" bIns="0" rtlCol="0" anchor="t"/>
          <a:lstStyle/>
          <a:p>
            <a:pPr marL="0" indent="0">
              <a:buNone/>
            </a:pPr>
            <a:r>
              <a:rPr lang="it-IT" sz="1300" dirty="0">
                <a:solidFill>
                  <a:schemeClr val="tx2"/>
                </a:solidFill>
              </a:rPr>
              <a:t>Risultati coerenti alla stessa richiesta. Poco rilevante per compiti creativi, essenziale per classificare o estrarre dati.</a:t>
            </a:r>
            <a:endParaRPr lang="it-IT" sz="1300" dirty="0"/>
          </a:p>
        </p:txBody>
      </p:sp>
      <p:sp>
        <p:nvSpPr>
          <p:cNvPr id="9" name="scheda Robustezza"/>
          <p:cNvSpPr/>
          <p:nvPr/>
        </p:nvSpPr>
        <p:spPr>
          <a:xfrm>
            <a:off x="4709160" y="1097280"/>
            <a:ext cx="3977640" cy="2011680"/>
          </a:xfrm>
          <a:prstGeom prst="roundRect">
            <a:avLst>
              <a:gd name="adj" fmla="val 3636"/>
            </a:avLst>
          </a:prstGeom>
          <a:solidFill>
            <a:schemeClr val="accent6"/>
          </a:solidFill>
          <a:ln/>
        </p:spPr>
        <p:txBody>
          <a:bodyPr/>
          <a:lstStyle/>
          <a:p>
            <a:endParaRPr lang="it-IT" dirty="0"/>
          </a:p>
        </p:txBody>
      </p:sp>
      <p:sp>
        <p:nvSpPr>
          <p:cNvPr id="10" name="cerchio FiAnchor"/>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Anchor"/>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5486400" y="128016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Robustezza</a:t>
            </a:r>
            <a:endParaRPr lang="it-IT" sz="1500" dirty="0"/>
          </a:p>
        </p:txBody>
      </p:sp>
      <p:sp>
        <p:nvSpPr>
          <p:cNvPr id="13" name="Text 8"/>
          <p:cNvSpPr txBox="1"/>
          <p:nvPr/>
        </p:nvSpPr>
        <p:spPr>
          <a:xfrm>
            <a:off x="4892040" y="1874520"/>
            <a:ext cx="3611880" cy="1124712"/>
          </a:xfrm>
          <a:prstGeom prst="rect">
            <a:avLst/>
          </a:prstGeom>
          <a:noFill/>
          <a:ln/>
        </p:spPr>
        <p:txBody>
          <a:bodyPr wrap="square" lIns="0" tIns="0" rIns="0" bIns="0" rtlCol="0" anchor="t"/>
          <a:lstStyle/>
          <a:p>
            <a:pPr marL="0" indent="0">
              <a:buNone/>
            </a:pPr>
            <a:r>
              <a:rPr lang="it-IT" sz="1300" dirty="0">
                <a:solidFill>
                  <a:schemeClr val="tx2"/>
                </a:solidFill>
              </a:rPr>
              <a:t>Risultati corretti anche quando l'input cambia in modo irrilevante.</a:t>
            </a:r>
            <a:endParaRPr lang="it-IT" sz="1300" dirty="0"/>
          </a:p>
        </p:txBody>
      </p:sp>
      <p:sp>
        <p:nvSpPr>
          <p:cNvPr id="14" name="Text 9"/>
          <p:cNvSpPr txBox="1"/>
          <p:nvPr/>
        </p:nvSpPr>
        <p:spPr>
          <a:xfrm>
            <a:off x="457200" y="3246120"/>
            <a:ext cx="8229600" cy="274320"/>
          </a:xfrm>
          <a:prstGeom prst="rect">
            <a:avLst/>
          </a:prstGeom>
          <a:noFill/>
          <a:ln/>
        </p:spPr>
        <p:txBody>
          <a:bodyPr wrap="square" lIns="0" tIns="0" rIns="0" bIns="0" rtlCol="0" anchor="t"/>
          <a:lstStyle/>
          <a:p>
            <a:pPr marL="0" indent="0">
              <a:buNone/>
            </a:pPr>
            <a:r>
              <a:rPr lang="it-IT" sz="1300" b="1" dirty="0">
                <a:solidFill>
                  <a:schemeClr val="tx1"/>
                </a:solidFill>
              </a:rPr>
              <a:t>Variazioni irrilevanti che non dovrebbero cambiare la risposta</a:t>
            </a:r>
            <a:endParaRPr lang="it-IT" sz="1300" dirty="0"/>
          </a:p>
        </p:txBody>
      </p:sp>
      <p:sp>
        <p:nvSpPr>
          <p:cNvPr id="15" name="blocco Parole diverse"/>
          <p:cNvSpPr/>
          <p:nvPr/>
        </p:nvSpPr>
        <p:spPr>
          <a:xfrm>
            <a:off x="457200" y="3566160"/>
            <a:ext cx="1965960" cy="457200"/>
          </a:xfrm>
          <a:prstGeom prst="roundRect">
            <a:avLst>
              <a:gd name="adj" fmla="val 24000"/>
            </a:avLst>
          </a:prstGeom>
          <a:solidFill>
            <a:schemeClr val="bg1"/>
          </a:solidFill>
          <a:ln w="12700">
            <a:solidFill>
              <a:schemeClr val="accent3"/>
            </a:solidFill>
            <a:prstDash val="solid"/>
          </a:ln>
        </p:spPr>
        <p:txBody>
          <a:bodyPr/>
          <a:lstStyle/>
          <a:p>
            <a:endParaRPr lang="it-IT" dirty="0"/>
          </a:p>
        </p:txBody>
      </p:sp>
      <p:sp>
        <p:nvSpPr>
          <p:cNvPr id="16" name="Text 11"/>
          <p:cNvSpPr txBox="1"/>
          <p:nvPr/>
        </p:nvSpPr>
        <p:spPr>
          <a:xfrm>
            <a:off x="502920" y="3566160"/>
            <a:ext cx="1874520" cy="457200"/>
          </a:xfrm>
          <a:prstGeom prst="rect">
            <a:avLst/>
          </a:prstGeom>
          <a:noFill/>
          <a:ln/>
        </p:spPr>
        <p:txBody>
          <a:bodyPr wrap="square" lIns="0" tIns="0" rIns="0" bIns="0" rtlCol="0" anchor="ctr"/>
          <a:lstStyle/>
          <a:p>
            <a:pPr marL="0" indent="0" algn="ctr">
              <a:buNone/>
            </a:pPr>
            <a:r>
              <a:rPr lang="it-IT" sz="1200" b="1" dirty="0">
                <a:solidFill>
                  <a:schemeClr val="tx1"/>
                </a:solidFill>
              </a:rPr>
              <a:t>Parole diverse</a:t>
            </a:r>
            <a:endParaRPr lang="it-IT" sz="1200" dirty="0"/>
          </a:p>
        </p:txBody>
      </p:sp>
      <p:sp>
        <p:nvSpPr>
          <p:cNvPr id="17" name="blocco Ordine delle informazioni"/>
          <p:cNvSpPr/>
          <p:nvPr/>
        </p:nvSpPr>
        <p:spPr>
          <a:xfrm>
            <a:off x="2560320" y="3566160"/>
            <a:ext cx="1965960" cy="457200"/>
          </a:xfrm>
          <a:prstGeom prst="roundRect">
            <a:avLst>
              <a:gd name="adj" fmla="val 24000"/>
            </a:avLst>
          </a:prstGeom>
          <a:solidFill>
            <a:schemeClr val="bg1"/>
          </a:solidFill>
          <a:ln w="12700">
            <a:solidFill>
              <a:schemeClr val="accent3"/>
            </a:solidFill>
            <a:prstDash val="solid"/>
          </a:ln>
        </p:spPr>
        <p:txBody>
          <a:bodyPr/>
          <a:lstStyle/>
          <a:p>
            <a:endParaRPr lang="it-IT" dirty="0"/>
          </a:p>
        </p:txBody>
      </p:sp>
      <p:sp>
        <p:nvSpPr>
          <p:cNvPr id="18" name="Text 13"/>
          <p:cNvSpPr txBox="1"/>
          <p:nvPr/>
        </p:nvSpPr>
        <p:spPr>
          <a:xfrm>
            <a:off x="2606040" y="3566160"/>
            <a:ext cx="1874520" cy="457200"/>
          </a:xfrm>
          <a:prstGeom prst="rect">
            <a:avLst/>
          </a:prstGeom>
          <a:noFill/>
          <a:ln/>
        </p:spPr>
        <p:txBody>
          <a:bodyPr wrap="square" lIns="0" tIns="0" rIns="0" bIns="0" rtlCol="0" anchor="ctr"/>
          <a:lstStyle/>
          <a:p>
            <a:pPr marL="0" indent="0" algn="ctr">
              <a:buNone/>
            </a:pPr>
            <a:r>
              <a:rPr lang="it-IT" sz="1200" b="1" dirty="0">
                <a:solidFill>
                  <a:schemeClr val="tx1"/>
                </a:solidFill>
              </a:rPr>
              <a:t>Ordine delle informazioni</a:t>
            </a:r>
            <a:endParaRPr lang="it-IT" sz="1200" dirty="0"/>
          </a:p>
        </p:txBody>
      </p:sp>
      <p:sp>
        <p:nvSpPr>
          <p:cNvPr id="19" name="blocco Errori di battitura"/>
          <p:cNvSpPr/>
          <p:nvPr/>
        </p:nvSpPr>
        <p:spPr>
          <a:xfrm>
            <a:off x="4663440" y="3566160"/>
            <a:ext cx="1965960" cy="457200"/>
          </a:xfrm>
          <a:prstGeom prst="roundRect">
            <a:avLst>
              <a:gd name="adj" fmla="val 24000"/>
            </a:avLst>
          </a:prstGeom>
          <a:solidFill>
            <a:schemeClr val="bg1"/>
          </a:solidFill>
          <a:ln w="12700">
            <a:solidFill>
              <a:schemeClr val="accent3"/>
            </a:solidFill>
            <a:prstDash val="solid"/>
          </a:ln>
        </p:spPr>
        <p:txBody>
          <a:bodyPr/>
          <a:lstStyle/>
          <a:p>
            <a:endParaRPr lang="it-IT" dirty="0"/>
          </a:p>
        </p:txBody>
      </p:sp>
      <p:sp>
        <p:nvSpPr>
          <p:cNvPr id="20" name="Text 15"/>
          <p:cNvSpPr txBox="1"/>
          <p:nvPr/>
        </p:nvSpPr>
        <p:spPr>
          <a:xfrm>
            <a:off x="4709160" y="3566160"/>
            <a:ext cx="1874520" cy="457200"/>
          </a:xfrm>
          <a:prstGeom prst="rect">
            <a:avLst/>
          </a:prstGeom>
          <a:noFill/>
          <a:ln/>
        </p:spPr>
        <p:txBody>
          <a:bodyPr wrap="square" lIns="0" tIns="0" rIns="0" bIns="0" rtlCol="0" anchor="ctr"/>
          <a:lstStyle/>
          <a:p>
            <a:pPr marL="0" indent="0" algn="ctr">
              <a:buNone/>
            </a:pPr>
            <a:r>
              <a:rPr lang="it-IT" sz="1200" b="1" dirty="0">
                <a:solidFill>
                  <a:schemeClr val="tx1"/>
                </a:solidFill>
              </a:rPr>
              <a:t>Errori di battitura</a:t>
            </a:r>
            <a:endParaRPr lang="it-IT" sz="1200" dirty="0"/>
          </a:p>
        </p:txBody>
      </p:sp>
      <p:sp>
        <p:nvSpPr>
          <p:cNvPr id="21" name="blocco Frasi non pertinenti"/>
          <p:cNvSpPr/>
          <p:nvPr/>
        </p:nvSpPr>
        <p:spPr>
          <a:xfrm>
            <a:off x="6766560" y="3566160"/>
            <a:ext cx="1965960" cy="457200"/>
          </a:xfrm>
          <a:prstGeom prst="roundRect">
            <a:avLst>
              <a:gd name="adj" fmla="val 24000"/>
            </a:avLst>
          </a:prstGeom>
          <a:solidFill>
            <a:schemeClr val="bg1"/>
          </a:solidFill>
          <a:ln w="12700">
            <a:solidFill>
              <a:schemeClr val="accent3"/>
            </a:solidFill>
            <a:prstDash val="solid"/>
          </a:ln>
        </p:spPr>
        <p:txBody>
          <a:bodyPr/>
          <a:lstStyle/>
          <a:p>
            <a:endParaRPr lang="it-IT" dirty="0"/>
          </a:p>
        </p:txBody>
      </p:sp>
      <p:sp>
        <p:nvSpPr>
          <p:cNvPr id="22" name="Text 17"/>
          <p:cNvSpPr txBox="1"/>
          <p:nvPr/>
        </p:nvSpPr>
        <p:spPr>
          <a:xfrm>
            <a:off x="6812280" y="3566160"/>
            <a:ext cx="1874520" cy="457200"/>
          </a:xfrm>
          <a:prstGeom prst="rect">
            <a:avLst/>
          </a:prstGeom>
          <a:noFill/>
          <a:ln/>
        </p:spPr>
        <p:txBody>
          <a:bodyPr wrap="square" lIns="0" tIns="0" rIns="0" bIns="0" rtlCol="0" anchor="ctr"/>
          <a:lstStyle/>
          <a:p>
            <a:pPr marL="0" indent="0" algn="ctr">
              <a:buNone/>
            </a:pPr>
            <a:r>
              <a:rPr lang="it-IT" sz="1200" b="1" dirty="0">
                <a:solidFill>
                  <a:schemeClr val="tx1"/>
                </a:solidFill>
              </a:rPr>
              <a:t>Frasi non pertinenti</a:t>
            </a:r>
            <a:endParaRPr lang="it-IT" sz="1200" dirty="0"/>
          </a:p>
        </p:txBody>
      </p:sp>
      <p:sp>
        <p:nvSpPr>
          <p:cNvPr id="23" name="messaggio"/>
          <p:cNvSpPr/>
          <p:nvPr/>
        </p:nvSpPr>
        <p:spPr>
          <a:xfrm>
            <a:off x="457200" y="4114800"/>
            <a:ext cx="8229600" cy="457200"/>
          </a:xfrm>
          <a:prstGeom prst="roundRect">
            <a:avLst>
              <a:gd name="adj" fmla="val 16000"/>
            </a:avLst>
          </a:prstGeom>
          <a:solidFill>
            <a:schemeClr val="tx1"/>
          </a:solidFill>
          <a:ln/>
        </p:spPr>
        <p:txBody>
          <a:bodyPr/>
          <a:lstStyle/>
          <a:p>
            <a:endParaRPr lang="it-IT" dirty="0"/>
          </a:p>
        </p:txBody>
      </p:sp>
      <p:sp>
        <p:nvSpPr>
          <p:cNvPr id="24" name="Text 19"/>
          <p:cNvSpPr txBox="1"/>
          <p:nvPr/>
        </p:nvSpPr>
        <p:spPr>
          <a:xfrm>
            <a:off x="640080" y="4114800"/>
            <a:ext cx="7863840" cy="457200"/>
          </a:xfrm>
          <a:prstGeom prst="rect">
            <a:avLst/>
          </a:prstGeom>
          <a:noFill/>
          <a:ln/>
        </p:spPr>
        <p:txBody>
          <a:bodyPr wrap="square" lIns="0" tIns="0" rIns="0" bIns="0" rtlCol="0" anchor="ctr"/>
          <a:lstStyle/>
          <a:p>
            <a:pPr marL="0" indent="0">
              <a:buNone/>
            </a:pPr>
            <a:r>
              <a:rPr lang="it-IT" sz="1300" dirty="0">
                <a:solidFill>
                  <a:schemeClr val="bg1"/>
                </a:solidFill>
              </a:rPr>
              <a:t>Test pratico: porre la stessa domanda in due o tre forme. Se le risposte divergono, verificare.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38</a:t>
            </a:fld>
            <a:endParaRPr lang="it-IT"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I limiti di benchmark e dimostrazioni</a:t>
            </a:r>
            <a:endParaRPr lang="it-IT" sz="2600" dirty="0"/>
          </a:p>
        </p:txBody>
      </p:sp>
      <p:sp>
        <p:nvSpPr>
          <p:cNvPr id="4" name="scheda Benchmark"/>
          <p:cNvSpPr/>
          <p:nvPr/>
        </p:nvSpPr>
        <p:spPr>
          <a:xfrm>
            <a:off x="457200" y="1097280"/>
            <a:ext cx="3977640" cy="2743200"/>
          </a:xfrm>
          <a:prstGeom prst="roundRect">
            <a:avLst>
              <a:gd name="adj" fmla="val 2667"/>
            </a:avLst>
          </a:prstGeom>
          <a:solidFill>
            <a:schemeClr val="bg2"/>
          </a:solidFill>
          <a:ln/>
        </p:spPr>
        <p:txBody>
          <a:bodyPr/>
          <a:lstStyle/>
          <a:p>
            <a:endParaRPr lang="it-IT" dirty="0"/>
          </a:p>
        </p:txBody>
      </p:sp>
      <p:sp>
        <p:nvSpPr>
          <p:cNvPr id="5" name="cerchio FiBarChart"/>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BarChart"/>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500" b="1" dirty="0">
                <a:solidFill>
                  <a:schemeClr val="tx1"/>
                </a:solidFill>
              </a:rPr>
              <a:t>Benchmark</a:t>
            </a:r>
            <a:endParaRPr lang="it-IT" sz="1500" dirty="0"/>
          </a:p>
        </p:txBody>
      </p:sp>
      <p:sp>
        <p:nvSpPr>
          <p:cNvPr id="8" name="Text 4"/>
          <p:cNvSpPr txBox="1"/>
          <p:nvPr/>
        </p:nvSpPr>
        <p:spPr>
          <a:xfrm>
            <a:off x="640080" y="2231136"/>
            <a:ext cx="3611880" cy="1499616"/>
          </a:xfrm>
          <a:prstGeom prst="rect">
            <a:avLst/>
          </a:prstGeom>
          <a:noFill/>
          <a:ln/>
        </p:spPr>
        <p:txBody>
          <a:bodyPr wrap="square" lIns="0" tIns="0" rIns="0" bIns="0" rtlCol="0" anchor="t"/>
          <a:lstStyle/>
          <a:p>
            <a:pPr marL="0" indent="0">
              <a:spcAft>
                <a:spcPts val="600"/>
              </a:spcAft>
              <a:buNone/>
            </a:pPr>
            <a:r>
              <a:rPr lang="it-IT" sz="1300" b="1" dirty="0">
                <a:solidFill>
                  <a:schemeClr val="tx1"/>
                </a:solidFill>
              </a:rPr>
              <a:t>Raccolte standardizzate di compiti per confrontare i modelli</a:t>
            </a:r>
            <a:endParaRPr lang="it-IT" sz="1300" dirty="0"/>
          </a:p>
          <a:p>
            <a:pPr marL="177800" indent="-177800">
              <a:spcAft>
                <a:spcPts val="200"/>
              </a:spcAft>
              <a:buSzPct val="100000"/>
              <a:buChar char="•"/>
            </a:pPr>
            <a:r>
              <a:rPr lang="it-IT" sz="1300" dirty="0">
                <a:solidFill>
                  <a:schemeClr val="tx2"/>
                </a:solidFill>
              </a:rPr>
              <a:t>Compiti diversi da quelli reali</a:t>
            </a:r>
            <a:endParaRPr lang="it-IT" sz="1300" dirty="0"/>
          </a:p>
          <a:p>
            <a:pPr marL="177800" indent="-177800">
              <a:spcAft>
                <a:spcPts val="200"/>
              </a:spcAft>
              <a:buSzPct val="100000"/>
              <a:buChar char="•"/>
            </a:pPr>
            <a:r>
              <a:rPr lang="it-IT" sz="1300" dirty="0">
                <a:solidFill>
                  <a:schemeClr val="tx2"/>
                </a:solidFill>
              </a:rPr>
              <a:t>Contaminazione: domande note in addestramento</a:t>
            </a:r>
            <a:endParaRPr lang="it-IT" sz="1300" dirty="0"/>
          </a:p>
          <a:p>
            <a:pPr marL="177800" indent="-177800">
              <a:spcAft>
                <a:spcPts val="200"/>
              </a:spcAft>
              <a:buSzPct val="100000"/>
              <a:buChar char="•"/>
            </a:pPr>
            <a:r>
              <a:rPr lang="it-IT" sz="1300" dirty="0">
                <a:solidFill>
                  <a:schemeClr val="tx2"/>
                </a:solidFill>
              </a:rPr>
              <a:t>Saturazione: punteggi tutti alti</a:t>
            </a:r>
            <a:endParaRPr lang="it-IT" sz="1300" dirty="0"/>
          </a:p>
          <a:p>
            <a:pPr marL="177800" indent="-177800">
              <a:spcAft>
                <a:spcPts val="200"/>
              </a:spcAft>
              <a:buSzPct val="100000"/>
              <a:buChar char="•"/>
            </a:pPr>
            <a:r>
              <a:rPr lang="it-IT" sz="1300" dirty="0">
                <a:solidFill>
                  <a:schemeClr val="tx2"/>
                </a:solidFill>
              </a:rPr>
              <a:t>Media che non descrive i nostri casi</a:t>
            </a:r>
            <a:endParaRPr lang="it-IT" sz="1300" dirty="0"/>
          </a:p>
        </p:txBody>
      </p:sp>
      <p:sp>
        <p:nvSpPr>
          <p:cNvPr id="9" name="scheda Dimostrazioni"/>
          <p:cNvSpPr/>
          <p:nvPr/>
        </p:nvSpPr>
        <p:spPr>
          <a:xfrm>
            <a:off x="4709160" y="1097280"/>
            <a:ext cx="3977640" cy="2743200"/>
          </a:xfrm>
          <a:prstGeom prst="roundRect">
            <a:avLst>
              <a:gd name="adj" fmla="val 2667"/>
            </a:avLst>
          </a:prstGeom>
          <a:solidFill>
            <a:schemeClr val="bg2"/>
          </a:solidFill>
          <a:ln/>
        </p:spPr>
        <p:txBody>
          <a:bodyPr/>
          <a:lstStyle/>
          <a:p>
            <a:endParaRPr lang="it-IT" dirty="0"/>
          </a:p>
        </p:txBody>
      </p:sp>
      <p:sp>
        <p:nvSpPr>
          <p:cNvPr id="10" name="cerchio FiMonitor"/>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Monitor"/>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500" b="1" dirty="0">
                <a:solidFill>
                  <a:schemeClr val="tx1"/>
                </a:solidFill>
              </a:rPr>
              <a:t>Dimostrazioni</a:t>
            </a:r>
            <a:endParaRPr lang="it-IT" sz="1500" dirty="0"/>
          </a:p>
        </p:txBody>
      </p:sp>
      <p:sp>
        <p:nvSpPr>
          <p:cNvPr id="13" name="Text 8"/>
          <p:cNvSpPr txBox="1"/>
          <p:nvPr/>
        </p:nvSpPr>
        <p:spPr>
          <a:xfrm>
            <a:off x="4892040" y="2231136"/>
            <a:ext cx="3611880" cy="1499616"/>
          </a:xfrm>
          <a:prstGeom prst="rect">
            <a:avLst/>
          </a:prstGeom>
          <a:noFill/>
          <a:ln/>
        </p:spPr>
        <p:txBody>
          <a:bodyPr wrap="square" lIns="0" tIns="0" rIns="0" bIns="0" rtlCol="0" anchor="t"/>
          <a:lstStyle/>
          <a:p>
            <a:pPr marL="0" indent="0">
              <a:spcAft>
                <a:spcPts val="600"/>
              </a:spcAft>
              <a:buNone/>
            </a:pPr>
            <a:r>
              <a:rPr lang="it-IT" sz="1300" b="1" dirty="0">
                <a:solidFill>
                  <a:schemeClr val="tx1"/>
                </a:solidFill>
              </a:rPr>
              <a:t>Esempi presentati dal fornitore o in pubblico</a:t>
            </a:r>
            <a:endParaRPr lang="it-IT" sz="1300" dirty="0"/>
          </a:p>
          <a:p>
            <a:pPr marL="177800" indent="-177800">
              <a:spcAft>
                <a:spcPts val="200"/>
              </a:spcAft>
              <a:buSzPct val="100000"/>
              <a:buChar char="•"/>
            </a:pPr>
            <a:r>
              <a:rPr lang="it-IT" sz="1300" dirty="0">
                <a:solidFill>
                  <a:schemeClr val="tx2"/>
                </a:solidFill>
              </a:rPr>
              <a:t>Casi scelti con cura</a:t>
            </a:r>
            <a:endParaRPr lang="it-IT" sz="1300" dirty="0"/>
          </a:p>
          <a:p>
            <a:pPr marL="177800" indent="-177800">
              <a:spcAft>
                <a:spcPts val="200"/>
              </a:spcAft>
              <a:buSzPct val="100000"/>
              <a:buChar char="•"/>
            </a:pPr>
            <a:r>
              <a:rPr lang="it-IT" sz="1300" dirty="0">
                <a:solidFill>
                  <a:schemeClr val="tx2"/>
                </a:solidFill>
              </a:rPr>
              <a:t>Condizioni controllate</a:t>
            </a:r>
            <a:endParaRPr lang="it-IT" sz="1300" dirty="0"/>
          </a:p>
          <a:p>
            <a:pPr marL="177800" indent="-177800">
              <a:spcAft>
                <a:spcPts val="200"/>
              </a:spcAft>
              <a:buSzPct val="100000"/>
              <a:buChar char="•"/>
            </a:pPr>
            <a:r>
              <a:rPr lang="it-IT" sz="1300" dirty="0">
                <a:solidFill>
                  <a:schemeClr val="tx2"/>
                </a:solidFill>
              </a:rPr>
              <a:t>Nessuna integrazione con processi reali</a:t>
            </a:r>
            <a:endParaRPr lang="it-IT" sz="1300" dirty="0"/>
          </a:p>
        </p:txBody>
      </p:sp>
      <p:sp>
        <p:nvSpPr>
          <p:cNvPr id="14" name="messaggio"/>
          <p:cNvSpPr/>
          <p:nvPr/>
        </p:nvSpPr>
        <p:spPr>
          <a:xfrm>
            <a:off x="457200" y="3977640"/>
            <a:ext cx="8229600" cy="548640"/>
          </a:xfrm>
          <a:prstGeom prst="roundRect">
            <a:avLst>
              <a:gd name="adj" fmla="val 13333"/>
            </a:avLst>
          </a:prstGeom>
          <a:solidFill>
            <a:schemeClr val="tx1"/>
          </a:solidFill>
          <a:ln/>
        </p:spPr>
        <p:txBody>
          <a:bodyPr/>
          <a:lstStyle/>
          <a:p>
            <a:endParaRPr lang="it-IT" dirty="0"/>
          </a:p>
        </p:txBody>
      </p:sp>
      <p:sp>
        <p:nvSpPr>
          <p:cNvPr id="15" name="Text 10"/>
          <p:cNvSpPr txBox="1"/>
          <p:nvPr/>
        </p:nvSpPr>
        <p:spPr>
          <a:xfrm>
            <a:off x="640080" y="3977640"/>
            <a:ext cx="7863840" cy="548640"/>
          </a:xfrm>
          <a:prstGeom prst="rect">
            <a:avLst/>
          </a:prstGeom>
          <a:noFill/>
          <a:ln/>
        </p:spPr>
        <p:txBody>
          <a:bodyPr wrap="square" lIns="0" tIns="0" rIns="0" bIns="0" rtlCol="0" anchor="ctr"/>
          <a:lstStyle/>
          <a:p>
            <a:pPr marL="0" indent="0">
              <a:buNone/>
            </a:pPr>
            <a:r>
              <a:rPr lang="it-IT" sz="1400" dirty="0">
                <a:solidFill>
                  <a:schemeClr val="bg1"/>
                </a:solidFill>
              </a:rPr>
              <a:t>Indizi utili, ma non sostituiscono la prova sul proprio contesto.</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39</a:t>
            </a:fld>
            <a:endParaRPr lang="it-IT"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Valutare le prestazioni nel contesto reale</a:t>
            </a:r>
            <a:endParaRPr lang="it-IT" sz="2600" dirty="0"/>
          </a:p>
        </p:txBody>
      </p:sp>
      <p:sp>
        <p:nvSpPr>
          <p:cNvPr id="4" name="Definire il compito"/>
          <p:cNvSpPr/>
          <p:nvPr/>
        </p:nvSpPr>
        <p:spPr>
          <a:xfrm>
            <a:off x="457200" y="1143000"/>
            <a:ext cx="1536192" cy="2148840"/>
          </a:xfrm>
          <a:prstGeom prst="roundRect">
            <a:avLst>
              <a:gd name="adj" fmla="val 4762"/>
            </a:avLst>
          </a:prstGeom>
          <a:solidFill>
            <a:schemeClr val="bg2"/>
          </a:solidFill>
          <a:ln/>
        </p:spPr>
        <p:txBody>
          <a:bodyPr/>
          <a:lstStyle/>
          <a:p>
            <a:endParaRPr lang="it-IT" dirty="0"/>
          </a:p>
        </p:txBody>
      </p:sp>
      <p:sp>
        <p:nvSpPr>
          <p:cNvPr id="5" name="cerchio FiTarget"/>
          <p:cNvSpPr/>
          <p:nvPr/>
        </p:nvSpPr>
        <p:spPr>
          <a:xfrm>
            <a:off x="969264" y="1280160"/>
            <a:ext cx="512064" cy="512064"/>
          </a:xfrm>
          <a:prstGeom prst="ellipse">
            <a:avLst/>
          </a:prstGeom>
          <a:solidFill>
            <a:schemeClr val="accent1"/>
          </a:solidFill>
          <a:ln/>
        </p:spPr>
        <p:txBody>
          <a:bodyPr/>
          <a:lstStyle/>
          <a:p>
            <a:endParaRPr lang="it-IT" dirty="0"/>
          </a:p>
        </p:txBody>
      </p:sp>
      <p:pic>
        <p:nvPicPr>
          <p:cNvPr id="6" name="Image 0" descr="FiTarget"/>
          <p:cNvPicPr>
            <a:picLocks noChangeAspect="1"/>
          </p:cNvPicPr>
          <p:nvPr/>
        </p:nvPicPr>
        <p:blipFill>
          <a:blip r:embed="rId3"/>
          <a:stretch>
            <a:fillRect/>
          </a:stretch>
        </p:blipFill>
        <p:spPr>
          <a:xfrm>
            <a:off x="1097280" y="1408176"/>
            <a:ext cx="256032" cy="256032"/>
          </a:xfrm>
          <a:prstGeom prst="rect">
            <a:avLst/>
          </a:prstGeom>
        </p:spPr>
      </p:pic>
      <p:sp>
        <p:nvSpPr>
          <p:cNvPr id="7" name="Text 3"/>
          <p:cNvSpPr txBox="1"/>
          <p:nvPr/>
        </p:nvSpPr>
        <p:spPr>
          <a:xfrm>
            <a:off x="530352" y="1874520"/>
            <a:ext cx="1389888" cy="548640"/>
          </a:xfrm>
          <a:prstGeom prst="rect">
            <a:avLst/>
          </a:prstGeom>
          <a:noFill/>
          <a:ln/>
        </p:spPr>
        <p:txBody>
          <a:bodyPr wrap="square" lIns="0" tIns="0" rIns="0" bIns="0" rtlCol="0" anchor="ctr"/>
          <a:lstStyle/>
          <a:p>
            <a:pPr marL="0" indent="0" algn="ctr">
              <a:buNone/>
            </a:pPr>
            <a:r>
              <a:rPr lang="it-IT" sz="1300" b="1" dirty="0">
                <a:solidFill>
                  <a:schemeClr val="tx1"/>
                </a:solidFill>
              </a:rPr>
              <a:t>1. Definire il compito</a:t>
            </a:r>
            <a:endParaRPr lang="it-IT" sz="1300" dirty="0"/>
          </a:p>
        </p:txBody>
      </p:sp>
      <p:sp>
        <p:nvSpPr>
          <p:cNvPr id="8" name="Text 4"/>
          <p:cNvSpPr txBox="1"/>
          <p:nvPr/>
        </p:nvSpPr>
        <p:spPr>
          <a:xfrm>
            <a:off x="548640" y="2450592"/>
            <a:ext cx="1353312" cy="777240"/>
          </a:xfrm>
          <a:prstGeom prst="rect">
            <a:avLst/>
          </a:prstGeom>
          <a:noFill/>
          <a:ln/>
        </p:spPr>
        <p:txBody>
          <a:bodyPr wrap="square" lIns="0" tIns="0" rIns="0" bIns="0" rtlCol="0" anchor="t"/>
          <a:lstStyle/>
          <a:p>
            <a:pPr marL="0" indent="0" algn="ctr">
              <a:buNone/>
            </a:pPr>
            <a:r>
              <a:rPr lang="it-IT" sz="1100" dirty="0">
                <a:solidFill>
                  <a:schemeClr val="tx2"/>
                </a:solidFill>
              </a:rPr>
              <a:t>Che cosa significa un buon risultato</a:t>
            </a:r>
            <a:endParaRPr lang="it-IT" sz="1100" dirty="0"/>
          </a:p>
        </p:txBody>
      </p:sp>
      <p:sp>
        <p:nvSpPr>
          <p:cNvPr id="9" name="Raccogliere casi reali"/>
          <p:cNvSpPr/>
          <p:nvPr/>
        </p:nvSpPr>
        <p:spPr>
          <a:xfrm>
            <a:off x="2139696" y="1143000"/>
            <a:ext cx="1536192" cy="2148840"/>
          </a:xfrm>
          <a:prstGeom prst="roundRect">
            <a:avLst>
              <a:gd name="adj" fmla="val 4762"/>
            </a:avLst>
          </a:prstGeom>
          <a:solidFill>
            <a:schemeClr val="bg2"/>
          </a:solidFill>
          <a:ln/>
        </p:spPr>
        <p:txBody>
          <a:bodyPr/>
          <a:lstStyle/>
          <a:p>
            <a:endParaRPr lang="it-IT" dirty="0"/>
          </a:p>
        </p:txBody>
      </p:sp>
      <p:sp>
        <p:nvSpPr>
          <p:cNvPr id="10" name="cerchio FiFolder"/>
          <p:cNvSpPr/>
          <p:nvPr/>
        </p:nvSpPr>
        <p:spPr>
          <a:xfrm>
            <a:off x="2651760" y="1280160"/>
            <a:ext cx="512064" cy="512064"/>
          </a:xfrm>
          <a:prstGeom prst="ellipse">
            <a:avLst/>
          </a:prstGeom>
          <a:solidFill>
            <a:schemeClr val="accent1"/>
          </a:solidFill>
          <a:ln/>
        </p:spPr>
        <p:txBody>
          <a:bodyPr/>
          <a:lstStyle/>
          <a:p>
            <a:endParaRPr lang="it-IT" dirty="0"/>
          </a:p>
        </p:txBody>
      </p:sp>
      <p:pic>
        <p:nvPicPr>
          <p:cNvPr id="11" name="Image 1" descr="FiFolder"/>
          <p:cNvPicPr>
            <a:picLocks noChangeAspect="1"/>
          </p:cNvPicPr>
          <p:nvPr/>
        </p:nvPicPr>
        <p:blipFill>
          <a:blip r:embed="rId4"/>
          <a:stretch>
            <a:fillRect/>
          </a:stretch>
        </p:blipFill>
        <p:spPr>
          <a:xfrm>
            <a:off x="2779776" y="1408176"/>
            <a:ext cx="256032" cy="256032"/>
          </a:xfrm>
          <a:prstGeom prst="rect">
            <a:avLst/>
          </a:prstGeom>
        </p:spPr>
      </p:pic>
      <p:sp>
        <p:nvSpPr>
          <p:cNvPr id="12" name="Text 7"/>
          <p:cNvSpPr txBox="1"/>
          <p:nvPr/>
        </p:nvSpPr>
        <p:spPr>
          <a:xfrm>
            <a:off x="2212848" y="1874520"/>
            <a:ext cx="1389888" cy="548640"/>
          </a:xfrm>
          <a:prstGeom prst="rect">
            <a:avLst/>
          </a:prstGeom>
          <a:noFill/>
          <a:ln/>
        </p:spPr>
        <p:txBody>
          <a:bodyPr wrap="square" lIns="0" tIns="0" rIns="0" bIns="0" rtlCol="0" anchor="ctr"/>
          <a:lstStyle/>
          <a:p>
            <a:pPr marL="0" indent="0" algn="ctr">
              <a:buNone/>
            </a:pPr>
            <a:r>
              <a:rPr lang="it-IT" sz="1300" b="1" dirty="0">
                <a:solidFill>
                  <a:schemeClr val="tx1"/>
                </a:solidFill>
              </a:rPr>
              <a:t>2. Raccogliere casi reali</a:t>
            </a:r>
            <a:endParaRPr lang="it-IT" sz="1300" dirty="0"/>
          </a:p>
        </p:txBody>
      </p:sp>
      <p:sp>
        <p:nvSpPr>
          <p:cNvPr id="13" name="Text 8"/>
          <p:cNvSpPr txBox="1"/>
          <p:nvPr/>
        </p:nvSpPr>
        <p:spPr>
          <a:xfrm>
            <a:off x="2231136" y="2450592"/>
            <a:ext cx="1353312" cy="777240"/>
          </a:xfrm>
          <a:prstGeom prst="rect">
            <a:avLst/>
          </a:prstGeom>
          <a:noFill/>
          <a:ln/>
        </p:spPr>
        <p:txBody>
          <a:bodyPr wrap="square" lIns="0" tIns="0" rIns="0" bIns="0" rtlCol="0" anchor="t"/>
          <a:lstStyle/>
          <a:p>
            <a:pPr marL="0" indent="0" algn="ctr">
              <a:buNone/>
            </a:pPr>
            <a:r>
              <a:rPr lang="it-IT" sz="1100" dirty="0">
                <a:solidFill>
                  <a:schemeClr val="tx2"/>
                </a:solidFill>
              </a:rPr>
              <a:t>Anche difficili, insoliti, ambigui</a:t>
            </a:r>
            <a:endParaRPr lang="it-IT" sz="1100" dirty="0"/>
          </a:p>
        </p:txBody>
      </p:sp>
      <p:sp>
        <p:nvSpPr>
          <p:cNvPr id="14" name="Confrontare"/>
          <p:cNvSpPr/>
          <p:nvPr/>
        </p:nvSpPr>
        <p:spPr>
          <a:xfrm>
            <a:off x="3822192" y="1143000"/>
            <a:ext cx="1536192" cy="2148840"/>
          </a:xfrm>
          <a:prstGeom prst="roundRect">
            <a:avLst>
              <a:gd name="adj" fmla="val 4762"/>
            </a:avLst>
          </a:prstGeom>
          <a:solidFill>
            <a:schemeClr val="bg2"/>
          </a:solidFill>
          <a:ln/>
        </p:spPr>
        <p:txBody>
          <a:bodyPr/>
          <a:lstStyle/>
          <a:p>
            <a:endParaRPr lang="it-IT" dirty="0"/>
          </a:p>
        </p:txBody>
      </p:sp>
      <p:sp>
        <p:nvSpPr>
          <p:cNvPr id="15" name="cerchio FiColumns"/>
          <p:cNvSpPr/>
          <p:nvPr/>
        </p:nvSpPr>
        <p:spPr>
          <a:xfrm>
            <a:off x="4334256" y="1280160"/>
            <a:ext cx="512064" cy="512064"/>
          </a:xfrm>
          <a:prstGeom prst="ellipse">
            <a:avLst/>
          </a:prstGeom>
          <a:solidFill>
            <a:schemeClr val="accent1"/>
          </a:solidFill>
          <a:ln/>
        </p:spPr>
        <p:txBody>
          <a:bodyPr/>
          <a:lstStyle/>
          <a:p>
            <a:endParaRPr lang="it-IT" dirty="0"/>
          </a:p>
        </p:txBody>
      </p:sp>
      <p:pic>
        <p:nvPicPr>
          <p:cNvPr id="16" name="Image 2" descr="FiColumns"/>
          <p:cNvPicPr>
            <a:picLocks noChangeAspect="1"/>
          </p:cNvPicPr>
          <p:nvPr/>
        </p:nvPicPr>
        <p:blipFill>
          <a:blip r:embed="rId5"/>
          <a:stretch>
            <a:fillRect/>
          </a:stretch>
        </p:blipFill>
        <p:spPr>
          <a:xfrm>
            <a:off x="4462272" y="1408176"/>
            <a:ext cx="256032" cy="256032"/>
          </a:xfrm>
          <a:prstGeom prst="rect">
            <a:avLst/>
          </a:prstGeom>
        </p:spPr>
      </p:pic>
      <p:sp>
        <p:nvSpPr>
          <p:cNvPr id="17" name="Text 11"/>
          <p:cNvSpPr txBox="1"/>
          <p:nvPr/>
        </p:nvSpPr>
        <p:spPr>
          <a:xfrm>
            <a:off x="3895344" y="1874520"/>
            <a:ext cx="1389888" cy="548640"/>
          </a:xfrm>
          <a:prstGeom prst="rect">
            <a:avLst/>
          </a:prstGeom>
          <a:noFill/>
          <a:ln/>
        </p:spPr>
        <p:txBody>
          <a:bodyPr wrap="square" lIns="0" tIns="0" rIns="0" bIns="0" rtlCol="0" anchor="ctr"/>
          <a:lstStyle/>
          <a:p>
            <a:pPr marL="0" indent="0" algn="ctr">
              <a:buNone/>
            </a:pPr>
            <a:r>
              <a:rPr lang="it-IT" sz="1300" b="1" dirty="0">
                <a:solidFill>
                  <a:schemeClr val="tx1"/>
                </a:solidFill>
              </a:rPr>
              <a:t>3. Confrontare</a:t>
            </a:r>
            <a:endParaRPr lang="it-IT" sz="1300" dirty="0"/>
          </a:p>
        </p:txBody>
      </p:sp>
      <p:sp>
        <p:nvSpPr>
          <p:cNvPr id="18" name="Text 12"/>
          <p:cNvSpPr txBox="1"/>
          <p:nvPr/>
        </p:nvSpPr>
        <p:spPr>
          <a:xfrm>
            <a:off x="3913632" y="2450592"/>
            <a:ext cx="1353312" cy="777240"/>
          </a:xfrm>
          <a:prstGeom prst="rect">
            <a:avLst/>
          </a:prstGeom>
          <a:noFill/>
          <a:ln/>
        </p:spPr>
        <p:txBody>
          <a:bodyPr wrap="square" lIns="0" tIns="0" rIns="0" bIns="0" rtlCol="0" anchor="t"/>
          <a:lstStyle/>
          <a:p>
            <a:pPr marL="0" indent="0" algn="ctr">
              <a:buNone/>
            </a:pPr>
            <a:r>
              <a:rPr lang="it-IT" sz="1100" dirty="0">
                <a:solidFill>
                  <a:schemeClr val="tx2"/>
                </a:solidFill>
              </a:rPr>
              <a:t>Con il risultato atteso e il giudizio esperto</a:t>
            </a:r>
            <a:endParaRPr lang="it-IT" sz="1100" dirty="0"/>
          </a:p>
        </p:txBody>
      </p:sp>
      <p:sp>
        <p:nvSpPr>
          <p:cNvPr id="19" name="Analizzare gli errori"/>
          <p:cNvSpPr/>
          <p:nvPr/>
        </p:nvSpPr>
        <p:spPr>
          <a:xfrm>
            <a:off x="5504688" y="1143000"/>
            <a:ext cx="1536192" cy="2148840"/>
          </a:xfrm>
          <a:prstGeom prst="roundRect">
            <a:avLst>
              <a:gd name="adj" fmla="val 4762"/>
            </a:avLst>
          </a:prstGeom>
          <a:solidFill>
            <a:schemeClr val="accent6"/>
          </a:solidFill>
          <a:ln/>
        </p:spPr>
        <p:txBody>
          <a:bodyPr/>
          <a:lstStyle/>
          <a:p>
            <a:endParaRPr lang="it-IT" dirty="0"/>
          </a:p>
        </p:txBody>
      </p:sp>
      <p:sp>
        <p:nvSpPr>
          <p:cNvPr id="20" name="cerchio FiAlertTriangle"/>
          <p:cNvSpPr/>
          <p:nvPr/>
        </p:nvSpPr>
        <p:spPr>
          <a:xfrm>
            <a:off x="6016752" y="1280160"/>
            <a:ext cx="512064" cy="512064"/>
          </a:xfrm>
          <a:prstGeom prst="ellipse">
            <a:avLst/>
          </a:prstGeom>
          <a:solidFill>
            <a:schemeClr val="accent1"/>
          </a:solidFill>
          <a:ln/>
        </p:spPr>
        <p:txBody>
          <a:bodyPr/>
          <a:lstStyle/>
          <a:p>
            <a:endParaRPr lang="it-IT" dirty="0"/>
          </a:p>
        </p:txBody>
      </p:sp>
      <p:pic>
        <p:nvPicPr>
          <p:cNvPr id="21" name="Image 3" descr="FiAlertTriangle"/>
          <p:cNvPicPr>
            <a:picLocks noChangeAspect="1"/>
          </p:cNvPicPr>
          <p:nvPr/>
        </p:nvPicPr>
        <p:blipFill>
          <a:blip r:embed="rId6"/>
          <a:stretch>
            <a:fillRect/>
          </a:stretch>
        </p:blipFill>
        <p:spPr>
          <a:xfrm>
            <a:off x="6144768" y="1408176"/>
            <a:ext cx="256032" cy="256032"/>
          </a:xfrm>
          <a:prstGeom prst="rect">
            <a:avLst/>
          </a:prstGeom>
        </p:spPr>
      </p:pic>
      <p:sp>
        <p:nvSpPr>
          <p:cNvPr id="22" name="Text 15"/>
          <p:cNvSpPr txBox="1"/>
          <p:nvPr/>
        </p:nvSpPr>
        <p:spPr>
          <a:xfrm>
            <a:off x="5577840" y="1874520"/>
            <a:ext cx="1389888" cy="548640"/>
          </a:xfrm>
          <a:prstGeom prst="rect">
            <a:avLst/>
          </a:prstGeom>
          <a:noFill/>
          <a:ln/>
        </p:spPr>
        <p:txBody>
          <a:bodyPr wrap="square" lIns="0" tIns="0" rIns="0" bIns="0" rtlCol="0" anchor="ctr"/>
          <a:lstStyle/>
          <a:p>
            <a:pPr marL="0" indent="0" algn="ctr">
              <a:buNone/>
            </a:pPr>
            <a:r>
              <a:rPr lang="it-IT" sz="1300" b="1" dirty="0">
                <a:solidFill>
                  <a:schemeClr val="tx1"/>
                </a:solidFill>
              </a:rPr>
              <a:t>4. Analizzare gli errori</a:t>
            </a:r>
            <a:endParaRPr lang="it-IT" sz="1300" dirty="0"/>
          </a:p>
        </p:txBody>
      </p:sp>
      <p:sp>
        <p:nvSpPr>
          <p:cNvPr id="23" name="Text 16"/>
          <p:cNvSpPr txBox="1"/>
          <p:nvPr/>
        </p:nvSpPr>
        <p:spPr>
          <a:xfrm>
            <a:off x="5596128" y="2450592"/>
            <a:ext cx="1353312" cy="777240"/>
          </a:xfrm>
          <a:prstGeom prst="rect">
            <a:avLst/>
          </a:prstGeom>
          <a:noFill/>
          <a:ln/>
        </p:spPr>
        <p:txBody>
          <a:bodyPr wrap="square" lIns="0" tIns="0" rIns="0" bIns="0" rtlCol="0" anchor="t"/>
          <a:lstStyle/>
          <a:p>
            <a:pPr marL="0" indent="0" algn="ctr">
              <a:buNone/>
            </a:pPr>
            <a:r>
              <a:rPr lang="it-IT" sz="1100" dirty="0">
                <a:solidFill>
                  <a:schemeClr val="tx2"/>
                </a:solidFill>
              </a:rPr>
              <a:t>Tipo, gravità, facilità di individuazione</a:t>
            </a:r>
            <a:endParaRPr lang="it-IT" sz="1100" dirty="0"/>
          </a:p>
        </p:txBody>
      </p:sp>
      <p:sp>
        <p:nvSpPr>
          <p:cNvPr id="24" name="Ripetere nel tempo"/>
          <p:cNvSpPr/>
          <p:nvPr/>
        </p:nvSpPr>
        <p:spPr>
          <a:xfrm>
            <a:off x="7187184" y="1143000"/>
            <a:ext cx="1536192" cy="2148840"/>
          </a:xfrm>
          <a:prstGeom prst="roundRect">
            <a:avLst>
              <a:gd name="adj" fmla="val 4762"/>
            </a:avLst>
          </a:prstGeom>
          <a:solidFill>
            <a:schemeClr val="bg2"/>
          </a:solidFill>
          <a:ln/>
        </p:spPr>
        <p:txBody>
          <a:bodyPr/>
          <a:lstStyle/>
          <a:p>
            <a:endParaRPr lang="it-IT" dirty="0"/>
          </a:p>
        </p:txBody>
      </p:sp>
      <p:sp>
        <p:nvSpPr>
          <p:cNvPr id="25" name="cerchio FiRefreshCw"/>
          <p:cNvSpPr/>
          <p:nvPr/>
        </p:nvSpPr>
        <p:spPr>
          <a:xfrm>
            <a:off x="7699248" y="1280160"/>
            <a:ext cx="512064" cy="512064"/>
          </a:xfrm>
          <a:prstGeom prst="ellipse">
            <a:avLst/>
          </a:prstGeom>
          <a:solidFill>
            <a:schemeClr val="accent1"/>
          </a:solidFill>
          <a:ln/>
        </p:spPr>
        <p:txBody>
          <a:bodyPr/>
          <a:lstStyle/>
          <a:p>
            <a:endParaRPr lang="it-IT" dirty="0"/>
          </a:p>
        </p:txBody>
      </p:sp>
      <p:pic>
        <p:nvPicPr>
          <p:cNvPr id="26" name="Image 4" descr="FiRefreshCw"/>
          <p:cNvPicPr>
            <a:picLocks noChangeAspect="1"/>
          </p:cNvPicPr>
          <p:nvPr/>
        </p:nvPicPr>
        <p:blipFill>
          <a:blip r:embed="rId7"/>
          <a:stretch>
            <a:fillRect/>
          </a:stretch>
        </p:blipFill>
        <p:spPr>
          <a:xfrm>
            <a:off x="7827264" y="1408176"/>
            <a:ext cx="256032" cy="256032"/>
          </a:xfrm>
          <a:prstGeom prst="rect">
            <a:avLst/>
          </a:prstGeom>
        </p:spPr>
      </p:pic>
      <p:sp>
        <p:nvSpPr>
          <p:cNvPr id="27" name="Text 19"/>
          <p:cNvSpPr txBox="1"/>
          <p:nvPr/>
        </p:nvSpPr>
        <p:spPr>
          <a:xfrm>
            <a:off x="7260336" y="1874520"/>
            <a:ext cx="1389888" cy="548640"/>
          </a:xfrm>
          <a:prstGeom prst="rect">
            <a:avLst/>
          </a:prstGeom>
          <a:noFill/>
          <a:ln/>
        </p:spPr>
        <p:txBody>
          <a:bodyPr wrap="square" lIns="0" tIns="0" rIns="0" bIns="0" rtlCol="0" anchor="ctr"/>
          <a:lstStyle/>
          <a:p>
            <a:pPr marL="0" indent="0" algn="ctr">
              <a:buNone/>
            </a:pPr>
            <a:r>
              <a:rPr lang="it-IT" sz="1300" b="1" dirty="0">
                <a:solidFill>
                  <a:schemeClr val="tx1"/>
                </a:solidFill>
              </a:rPr>
              <a:t>5. Ripetere nel tempo</a:t>
            </a:r>
            <a:endParaRPr lang="it-IT" sz="1300" dirty="0"/>
          </a:p>
        </p:txBody>
      </p:sp>
      <p:sp>
        <p:nvSpPr>
          <p:cNvPr id="28" name="Text 20"/>
          <p:cNvSpPr txBox="1"/>
          <p:nvPr/>
        </p:nvSpPr>
        <p:spPr>
          <a:xfrm>
            <a:off x="7278624" y="2450592"/>
            <a:ext cx="1353312" cy="777240"/>
          </a:xfrm>
          <a:prstGeom prst="rect">
            <a:avLst/>
          </a:prstGeom>
          <a:noFill/>
          <a:ln/>
        </p:spPr>
        <p:txBody>
          <a:bodyPr wrap="square" lIns="0" tIns="0" rIns="0" bIns="0" rtlCol="0" anchor="t"/>
          <a:lstStyle/>
          <a:p>
            <a:pPr marL="0" indent="0" algn="ctr">
              <a:buNone/>
            </a:pPr>
            <a:r>
              <a:rPr lang="it-IT" sz="1100" dirty="0">
                <a:solidFill>
                  <a:schemeClr val="tx2"/>
                </a:solidFill>
              </a:rPr>
              <a:t>Modelli e dati cambiano</a:t>
            </a:r>
            <a:endParaRPr lang="it-IT" sz="1100" dirty="0"/>
          </a:p>
        </p:txBody>
      </p:sp>
      <p:sp>
        <p:nvSpPr>
          <p:cNvPr id="29" name="esempio fatture"/>
          <p:cNvSpPr/>
          <p:nvPr/>
        </p:nvSpPr>
        <p:spPr>
          <a:xfrm>
            <a:off x="457200" y="3474720"/>
            <a:ext cx="8229600" cy="1051560"/>
          </a:xfrm>
          <a:prstGeom prst="roundRect">
            <a:avLst>
              <a:gd name="adj" fmla="val 6957"/>
            </a:avLst>
          </a:prstGeom>
          <a:solidFill>
            <a:schemeClr val="tx1"/>
          </a:solidFill>
          <a:ln/>
        </p:spPr>
        <p:txBody>
          <a:bodyPr/>
          <a:lstStyle/>
          <a:p>
            <a:endParaRPr lang="it-IT" dirty="0"/>
          </a:p>
        </p:txBody>
      </p:sp>
      <p:sp>
        <p:nvSpPr>
          <p:cNvPr id="30" name="Text 22"/>
          <p:cNvSpPr txBox="1"/>
          <p:nvPr/>
        </p:nvSpPr>
        <p:spPr>
          <a:xfrm>
            <a:off x="640080" y="3566160"/>
            <a:ext cx="1828800" cy="256032"/>
          </a:xfrm>
          <a:prstGeom prst="rect">
            <a:avLst/>
          </a:prstGeom>
          <a:noFill/>
          <a:ln/>
        </p:spPr>
        <p:txBody>
          <a:bodyPr wrap="square" lIns="0" tIns="0" rIns="0" bIns="0" rtlCol="0" anchor="t"/>
          <a:lstStyle/>
          <a:p>
            <a:pPr marL="0" indent="0">
              <a:buNone/>
            </a:pPr>
            <a:r>
              <a:rPr lang="it-IT" sz="1000" b="1" kern="0" spc="200" dirty="0">
                <a:solidFill>
                  <a:schemeClr val="accent1"/>
                </a:solidFill>
              </a:rPr>
              <a:t>ESEMPIO</a:t>
            </a:r>
            <a:endParaRPr lang="it-IT" sz="1000" dirty="0"/>
          </a:p>
        </p:txBody>
      </p:sp>
      <p:sp>
        <p:nvSpPr>
          <p:cNvPr id="31" name="Text 23"/>
          <p:cNvSpPr txBox="1"/>
          <p:nvPr/>
        </p:nvSpPr>
        <p:spPr>
          <a:xfrm>
            <a:off x="640080" y="3822192"/>
            <a:ext cx="7863840" cy="640080"/>
          </a:xfrm>
          <a:prstGeom prst="rect">
            <a:avLst/>
          </a:prstGeom>
          <a:noFill/>
          <a:ln/>
        </p:spPr>
        <p:txBody>
          <a:bodyPr wrap="square" lIns="0" tIns="0" rIns="0" bIns="0" rtlCol="0" anchor="t"/>
          <a:lstStyle/>
          <a:p>
            <a:pPr marL="0" indent="0">
              <a:buNone/>
            </a:pPr>
            <a:r>
              <a:rPr lang="it-IT" sz="1300" dirty="0">
                <a:solidFill>
                  <a:schemeClr val="bg1"/>
                </a:solidFill>
              </a:rPr>
              <a:t>Prima di usare l'AI per estrarre dati dalle fatture: provarla su 50 fatture reali di formati diversi, comprese quelle scansionate male, e controllare campo per campo.</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40</a:t>
            </a:fld>
            <a:endParaRPr lang="it-IT"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Il modello e il sistema completo</a:t>
            </a:r>
            <a:endParaRPr lang="it-IT" sz="2600" dirty="0"/>
          </a:p>
        </p:txBody>
      </p:sp>
      <p:sp>
        <p:nvSpPr>
          <p:cNvPr id="4" name="anello Dati e documenti"/>
          <p:cNvSpPr/>
          <p:nvPr/>
        </p:nvSpPr>
        <p:spPr>
          <a:xfrm>
            <a:off x="457200" y="1280160"/>
            <a:ext cx="1261872" cy="1737360"/>
          </a:xfrm>
          <a:prstGeom prst="roundRect">
            <a:avLst>
              <a:gd name="adj" fmla="val 21739"/>
            </a:avLst>
          </a:prstGeom>
          <a:solidFill>
            <a:schemeClr val="bg2"/>
          </a:solidFill>
          <a:ln w="19050">
            <a:solidFill>
              <a:schemeClr val="accent1"/>
            </a:solidFill>
            <a:prstDash val="solid"/>
          </a:ln>
        </p:spPr>
        <p:txBody>
          <a:bodyPr/>
          <a:lstStyle/>
          <a:p>
            <a:endParaRPr lang="it-IT" dirty="0"/>
          </a:p>
        </p:txBody>
      </p:sp>
      <p:sp>
        <p:nvSpPr>
          <p:cNvPr id="5" name="cerchio FiDatabase"/>
          <p:cNvSpPr/>
          <p:nvPr/>
        </p:nvSpPr>
        <p:spPr>
          <a:xfrm>
            <a:off x="841248" y="1463040"/>
            <a:ext cx="502920" cy="502920"/>
          </a:xfrm>
          <a:prstGeom prst="ellipse">
            <a:avLst/>
          </a:prstGeom>
          <a:solidFill>
            <a:schemeClr val="accent1"/>
          </a:solidFill>
          <a:ln/>
        </p:spPr>
        <p:txBody>
          <a:bodyPr/>
          <a:lstStyle/>
          <a:p>
            <a:endParaRPr lang="it-IT" dirty="0"/>
          </a:p>
        </p:txBody>
      </p:sp>
      <p:pic>
        <p:nvPicPr>
          <p:cNvPr id="6" name="Image 0" descr="FiDatabase"/>
          <p:cNvPicPr>
            <a:picLocks noChangeAspect="1"/>
          </p:cNvPicPr>
          <p:nvPr/>
        </p:nvPicPr>
        <p:blipFill>
          <a:blip r:embed="rId3"/>
          <a:stretch>
            <a:fillRect/>
          </a:stretch>
        </p:blipFill>
        <p:spPr>
          <a:xfrm>
            <a:off x="966978" y="1588770"/>
            <a:ext cx="251460" cy="251460"/>
          </a:xfrm>
          <a:prstGeom prst="rect">
            <a:avLst/>
          </a:prstGeom>
        </p:spPr>
      </p:pic>
      <p:sp>
        <p:nvSpPr>
          <p:cNvPr id="7" name="Text 3"/>
          <p:cNvSpPr txBox="1"/>
          <p:nvPr/>
        </p:nvSpPr>
        <p:spPr>
          <a:xfrm>
            <a:off x="530352" y="2057400"/>
            <a:ext cx="1115568" cy="822960"/>
          </a:xfrm>
          <a:prstGeom prst="rect">
            <a:avLst/>
          </a:prstGeom>
          <a:noFill/>
          <a:ln/>
        </p:spPr>
        <p:txBody>
          <a:bodyPr wrap="square" lIns="0" tIns="0" rIns="0" bIns="0" rtlCol="0" anchor="ctr"/>
          <a:lstStyle/>
          <a:p>
            <a:pPr marL="0" indent="0" algn="ctr">
              <a:buNone/>
            </a:pPr>
            <a:r>
              <a:rPr lang="it-IT" sz="1200" b="1" dirty="0">
                <a:solidFill>
                  <a:schemeClr val="tx1"/>
                </a:solidFill>
              </a:rPr>
              <a:t>Dati e documenti</a:t>
            </a:r>
            <a:endParaRPr lang="it-IT" sz="1200" dirty="0"/>
          </a:p>
        </p:txBody>
      </p:sp>
      <p:sp>
        <p:nvSpPr>
          <p:cNvPr id="8" name="collegamento"/>
          <p:cNvSpPr/>
          <p:nvPr/>
        </p:nvSpPr>
        <p:spPr>
          <a:xfrm>
            <a:off x="1719072" y="2148840"/>
            <a:ext cx="155448" cy="0"/>
          </a:xfrm>
          <a:prstGeom prst="line">
            <a:avLst/>
          </a:prstGeom>
          <a:noFill/>
          <a:ln w="38100">
            <a:solidFill>
              <a:schemeClr val="accent1"/>
            </a:solidFill>
            <a:prstDash val="solid"/>
          </a:ln>
        </p:spPr>
        <p:txBody>
          <a:bodyPr/>
          <a:lstStyle/>
          <a:p>
            <a:endParaRPr lang="it-IT" dirty="0"/>
          </a:p>
        </p:txBody>
      </p:sp>
      <p:sp>
        <p:nvSpPr>
          <p:cNvPr id="9" name="anello Recupero delle informazioni"/>
          <p:cNvSpPr/>
          <p:nvPr/>
        </p:nvSpPr>
        <p:spPr>
          <a:xfrm>
            <a:off x="1874520" y="1280160"/>
            <a:ext cx="1261872" cy="1737360"/>
          </a:xfrm>
          <a:prstGeom prst="roundRect">
            <a:avLst>
              <a:gd name="adj" fmla="val 21739"/>
            </a:avLst>
          </a:prstGeom>
          <a:solidFill>
            <a:schemeClr val="bg2"/>
          </a:solidFill>
          <a:ln w="19050">
            <a:solidFill>
              <a:schemeClr val="accent1"/>
            </a:solidFill>
            <a:prstDash val="solid"/>
          </a:ln>
        </p:spPr>
        <p:txBody>
          <a:bodyPr/>
          <a:lstStyle/>
          <a:p>
            <a:endParaRPr lang="it-IT" dirty="0"/>
          </a:p>
        </p:txBody>
      </p:sp>
      <p:sp>
        <p:nvSpPr>
          <p:cNvPr id="10" name="cerchio FiSearch"/>
          <p:cNvSpPr/>
          <p:nvPr/>
        </p:nvSpPr>
        <p:spPr>
          <a:xfrm>
            <a:off x="2258568" y="1463040"/>
            <a:ext cx="502920" cy="502920"/>
          </a:xfrm>
          <a:prstGeom prst="ellipse">
            <a:avLst/>
          </a:prstGeom>
          <a:solidFill>
            <a:schemeClr val="accent1"/>
          </a:solidFill>
          <a:ln/>
        </p:spPr>
        <p:txBody>
          <a:bodyPr/>
          <a:lstStyle/>
          <a:p>
            <a:endParaRPr lang="it-IT" dirty="0"/>
          </a:p>
        </p:txBody>
      </p:sp>
      <p:pic>
        <p:nvPicPr>
          <p:cNvPr id="11" name="Image 1" descr="FiSearch"/>
          <p:cNvPicPr>
            <a:picLocks noChangeAspect="1"/>
          </p:cNvPicPr>
          <p:nvPr/>
        </p:nvPicPr>
        <p:blipFill>
          <a:blip r:embed="rId4"/>
          <a:stretch>
            <a:fillRect/>
          </a:stretch>
        </p:blipFill>
        <p:spPr>
          <a:xfrm>
            <a:off x="2384298" y="1588770"/>
            <a:ext cx="251460" cy="251460"/>
          </a:xfrm>
          <a:prstGeom prst="rect">
            <a:avLst/>
          </a:prstGeom>
        </p:spPr>
      </p:pic>
      <p:sp>
        <p:nvSpPr>
          <p:cNvPr id="12" name="Text 7"/>
          <p:cNvSpPr txBox="1"/>
          <p:nvPr/>
        </p:nvSpPr>
        <p:spPr>
          <a:xfrm>
            <a:off x="1947672" y="2057400"/>
            <a:ext cx="1115568" cy="822960"/>
          </a:xfrm>
          <a:prstGeom prst="rect">
            <a:avLst/>
          </a:prstGeom>
          <a:noFill/>
          <a:ln/>
        </p:spPr>
        <p:txBody>
          <a:bodyPr wrap="square" lIns="0" tIns="0" rIns="0" bIns="0" rtlCol="0" anchor="ctr"/>
          <a:lstStyle/>
          <a:p>
            <a:pPr marL="0" indent="0" algn="ctr">
              <a:buNone/>
            </a:pPr>
            <a:r>
              <a:rPr lang="it-IT" sz="1200" b="1" dirty="0">
                <a:solidFill>
                  <a:schemeClr val="tx1"/>
                </a:solidFill>
              </a:rPr>
              <a:t>Recupero delle informazioni</a:t>
            </a:r>
            <a:endParaRPr lang="it-IT" sz="1200" dirty="0"/>
          </a:p>
        </p:txBody>
      </p:sp>
      <p:sp>
        <p:nvSpPr>
          <p:cNvPr id="13" name="collegamento"/>
          <p:cNvSpPr/>
          <p:nvPr/>
        </p:nvSpPr>
        <p:spPr>
          <a:xfrm>
            <a:off x="3136392" y="2148840"/>
            <a:ext cx="155448" cy="0"/>
          </a:xfrm>
          <a:prstGeom prst="line">
            <a:avLst/>
          </a:prstGeom>
          <a:noFill/>
          <a:ln w="38100">
            <a:solidFill>
              <a:schemeClr val="accent1"/>
            </a:solidFill>
            <a:prstDash val="solid"/>
          </a:ln>
        </p:spPr>
        <p:txBody>
          <a:bodyPr/>
          <a:lstStyle/>
          <a:p>
            <a:endParaRPr lang="it-IT" dirty="0"/>
          </a:p>
        </p:txBody>
      </p:sp>
      <p:sp>
        <p:nvSpPr>
          <p:cNvPr id="14" name="anello Modello"/>
          <p:cNvSpPr/>
          <p:nvPr/>
        </p:nvSpPr>
        <p:spPr>
          <a:xfrm>
            <a:off x="3291840" y="1280160"/>
            <a:ext cx="1261872" cy="1737360"/>
          </a:xfrm>
          <a:prstGeom prst="roundRect">
            <a:avLst>
              <a:gd name="adj" fmla="val 21739"/>
            </a:avLst>
          </a:prstGeom>
          <a:solidFill>
            <a:schemeClr val="accent1"/>
          </a:solidFill>
          <a:ln w="19050">
            <a:solidFill>
              <a:schemeClr val="accent1"/>
            </a:solidFill>
            <a:prstDash val="solid"/>
          </a:ln>
        </p:spPr>
        <p:txBody>
          <a:bodyPr/>
          <a:lstStyle/>
          <a:p>
            <a:endParaRPr lang="it-IT" dirty="0"/>
          </a:p>
        </p:txBody>
      </p:sp>
      <p:sp>
        <p:nvSpPr>
          <p:cNvPr id="15" name="cerchio FiCpu"/>
          <p:cNvSpPr/>
          <p:nvPr/>
        </p:nvSpPr>
        <p:spPr>
          <a:xfrm>
            <a:off x="3675888" y="1463040"/>
            <a:ext cx="502920" cy="502920"/>
          </a:xfrm>
          <a:prstGeom prst="ellipse">
            <a:avLst/>
          </a:prstGeom>
          <a:solidFill>
            <a:schemeClr val="bg1"/>
          </a:solidFill>
          <a:ln/>
        </p:spPr>
        <p:txBody>
          <a:bodyPr/>
          <a:lstStyle/>
          <a:p>
            <a:endParaRPr lang="it-IT" dirty="0"/>
          </a:p>
        </p:txBody>
      </p:sp>
      <p:pic>
        <p:nvPicPr>
          <p:cNvPr id="16" name="Image 2" descr="FiCpu"/>
          <p:cNvPicPr>
            <a:picLocks noChangeAspect="1"/>
          </p:cNvPicPr>
          <p:nvPr/>
        </p:nvPicPr>
        <p:blipFill>
          <a:blip r:embed="rId5"/>
          <a:stretch>
            <a:fillRect/>
          </a:stretch>
        </p:blipFill>
        <p:spPr>
          <a:xfrm>
            <a:off x="3801618" y="1588770"/>
            <a:ext cx="251460" cy="251460"/>
          </a:xfrm>
          <a:prstGeom prst="rect">
            <a:avLst/>
          </a:prstGeom>
        </p:spPr>
      </p:pic>
      <p:sp>
        <p:nvSpPr>
          <p:cNvPr id="17" name="Text 11"/>
          <p:cNvSpPr txBox="1"/>
          <p:nvPr/>
        </p:nvSpPr>
        <p:spPr>
          <a:xfrm>
            <a:off x="3364992" y="2057400"/>
            <a:ext cx="1115568" cy="822960"/>
          </a:xfrm>
          <a:prstGeom prst="rect">
            <a:avLst/>
          </a:prstGeom>
          <a:noFill/>
          <a:ln/>
        </p:spPr>
        <p:txBody>
          <a:bodyPr wrap="square" lIns="0" tIns="0" rIns="0" bIns="0" rtlCol="0" anchor="ctr"/>
          <a:lstStyle/>
          <a:p>
            <a:pPr marL="0" indent="0" algn="ctr">
              <a:buNone/>
            </a:pPr>
            <a:r>
              <a:rPr lang="it-IT" sz="1200" b="1" dirty="0">
                <a:solidFill>
                  <a:schemeClr val="bg1"/>
                </a:solidFill>
              </a:rPr>
              <a:t>Modello</a:t>
            </a:r>
            <a:endParaRPr lang="it-IT" sz="1200" dirty="0"/>
          </a:p>
        </p:txBody>
      </p:sp>
      <p:sp>
        <p:nvSpPr>
          <p:cNvPr id="18" name="collegamento"/>
          <p:cNvSpPr/>
          <p:nvPr/>
        </p:nvSpPr>
        <p:spPr>
          <a:xfrm>
            <a:off x="4553712" y="2148840"/>
            <a:ext cx="155448" cy="0"/>
          </a:xfrm>
          <a:prstGeom prst="line">
            <a:avLst/>
          </a:prstGeom>
          <a:noFill/>
          <a:ln w="38100">
            <a:solidFill>
              <a:schemeClr val="accent1"/>
            </a:solidFill>
            <a:prstDash val="solid"/>
          </a:ln>
        </p:spPr>
        <p:txBody>
          <a:bodyPr/>
          <a:lstStyle/>
          <a:p>
            <a:endParaRPr lang="it-IT" dirty="0"/>
          </a:p>
        </p:txBody>
      </p:sp>
      <p:sp>
        <p:nvSpPr>
          <p:cNvPr id="19" name="anello Istruzioni e configurazione"/>
          <p:cNvSpPr/>
          <p:nvPr/>
        </p:nvSpPr>
        <p:spPr>
          <a:xfrm>
            <a:off x="4709160" y="1280160"/>
            <a:ext cx="1261872" cy="1737360"/>
          </a:xfrm>
          <a:prstGeom prst="roundRect">
            <a:avLst>
              <a:gd name="adj" fmla="val 21739"/>
            </a:avLst>
          </a:prstGeom>
          <a:solidFill>
            <a:schemeClr val="bg2"/>
          </a:solidFill>
          <a:ln w="19050">
            <a:solidFill>
              <a:schemeClr val="accent1"/>
            </a:solidFill>
            <a:prstDash val="solid"/>
          </a:ln>
        </p:spPr>
        <p:txBody>
          <a:bodyPr/>
          <a:lstStyle/>
          <a:p>
            <a:endParaRPr lang="it-IT" dirty="0"/>
          </a:p>
        </p:txBody>
      </p:sp>
      <p:sp>
        <p:nvSpPr>
          <p:cNvPr id="20" name="cerchio FiSettings"/>
          <p:cNvSpPr/>
          <p:nvPr/>
        </p:nvSpPr>
        <p:spPr>
          <a:xfrm>
            <a:off x="5093208" y="1463040"/>
            <a:ext cx="502920" cy="502920"/>
          </a:xfrm>
          <a:prstGeom prst="ellipse">
            <a:avLst/>
          </a:prstGeom>
          <a:solidFill>
            <a:schemeClr val="accent1"/>
          </a:solidFill>
          <a:ln/>
        </p:spPr>
        <p:txBody>
          <a:bodyPr/>
          <a:lstStyle/>
          <a:p>
            <a:endParaRPr lang="it-IT" dirty="0"/>
          </a:p>
        </p:txBody>
      </p:sp>
      <p:pic>
        <p:nvPicPr>
          <p:cNvPr id="21" name="Image 3" descr="FiSettings"/>
          <p:cNvPicPr>
            <a:picLocks noChangeAspect="1"/>
          </p:cNvPicPr>
          <p:nvPr/>
        </p:nvPicPr>
        <p:blipFill>
          <a:blip r:embed="rId6"/>
          <a:stretch>
            <a:fillRect/>
          </a:stretch>
        </p:blipFill>
        <p:spPr>
          <a:xfrm>
            <a:off x="5218938" y="1588770"/>
            <a:ext cx="251460" cy="251460"/>
          </a:xfrm>
          <a:prstGeom prst="rect">
            <a:avLst/>
          </a:prstGeom>
        </p:spPr>
      </p:pic>
      <p:sp>
        <p:nvSpPr>
          <p:cNvPr id="22" name="Text 15"/>
          <p:cNvSpPr txBox="1"/>
          <p:nvPr/>
        </p:nvSpPr>
        <p:spPr>
          <a:xfrm>
            <a:off x="4782312" y="2057400"/>
            <a:ext cx="1115568" cy="822960"/>
          </a:xfrm>
          <a:prstGeom prst="rect">
            <a:avLst/>
          </a:prstGeom>
          <a:noFill/>
          <a:ln/>
        </p:spPr>
        <p:txBody>
          <a:bodyPr wrap="square" lIns="0" tIns="0" rIns="0" bIns="0" rtlCol="0" anchor="ctr"/>
          <a:lstStyle/>
          <a:p>
            <a:pPr marL="0" indent="0" algn="ctr">
              <a:buNone/>
            </a:pPr>
            <a:r>
              <a:rPr lang="it-IT" sz="1200" b="1" dirty="0">
                <a:solidFill>
                  <a:schemeClr val="tx1"/>
                </a:solidFill>
              </a:rPr>
              <a:t>Istruzioni e configurazione</a:t>
            </a:r>
            <a:endParaRPr lang="it-IT" sz="1200" dirty="0"/>
          </a:p>
        </p:txBody>
      </p:sp>
      <p:sp>
        <p:nvSpPr>
          <p:cNvPr id="23" name="collegamento"/>
          <p:cNvSpPr/>
          <p:nvPr/>
        </p:nvSpPr>
        <p:spPr>
          <a:xfrm>
            <a:off x="5971032" y="2148840"/>
            <a:ext cx="155448" cy="0"/>
          </a:xfrm>
          <a:prstGeom prst="line">
            <a:avLst/>
          </a:prstGeom>
          <a:noFill/>
          <a:ln w="38100">
            <a:solidFill>
              <a:schemeClr val="accent1"/>
            </a:solidFill>
            <a:prstDash val="solid"/>
          </a:ln>
        </p:spPr>
        <p:txBody>
          <a:bodyPr/>
          <a:lstStyle/>
          <a:p>
            <a:endParaRPr lang="it-IT" dirty="0"/>
          </a:p>
        </p:txBody>
      </p:sp>
      <p:sp>
        <p:nvSpPr>
          <p:cNvPr id="24" name="anello Strumenti collegati"/>
          <p:cNvSpPr/>
          <p:nvPr/>
        </p:nvSpPr>
        <p:spPr>
          <a:xfrm>
            <a:off x="6126480" y="1280160"/>
            <a:ext cx="1261872" cy="1737360"/>
          </a:xfrm>
          <a:prstGeom prst="roundRect">
            <a:avLst>
              <a:gd name="adj" fmla="val 21739"/>
            </a:avLst>
          </a:prstGeom>
          <a:solidFill>
            <a:schemeClr val="bg2"/>
          </a:solidFill>
          <a:ln w="19050">
            <a:solidFill>
              <a:schemeClr val="accent1"/>
            </a:solidFill>
            <a:prstDash val="solid"/>
          </a:ln>
        </p:spPr>
        <p:txBody>
          <a:bodyPr/>
          <a:lstStyle/>
          <a:p>
            <a:endParaRPr lang="it-IT" dirty="0"/>
          </a:p>
        </p:txBody>
      </p:sp>
      <p:sp>
        <p:nvSpPr>
          <p:cNvPr id="25" name="cerchio FiTool"/>
          <p:cNvSpPr/>
          <p:nvPr/>
        </p:nvSpPr>
        <p:spPr>
          <a:xfrm>
            <a:off x="6510528" y="1463040"/>
            <a:ext cx="502920" cy="502920"/>
          </a:xfrm>
          <a:prstGeom prst="ellipse">
            <a:avLst/>
          </a:prstGeom>
          <a:solidFill>
            <a:schemeClr val="accent1"/>
          </a:solidFill>
          <a:ln/>
        </p:spPr>
        <p:txBody>
          <a:bodyPr/>
          <a:lstStyle/>
          <a:p>
            <a:endParaRPr lang="it-IT" dirty="0"/>
          </a:p>
        </p:txBody>
      </p:sp>
      <p:pic>
        <p:nvPicPr>
          <p:cNvPr id="26" name="Image 4" descr="FiTool"/>
          <p:cNvPicPr>
            <a:picLocks noChangeAspect="1"/>
          </p:cNvPicPr>
          <p:nvPr/>
        </p:nvPicPr>
        <p:blipFill>
          <a:blip r:embed="rId7"/>
          <a:stretch>
            <a:fillRect/>
          </a:stretch>
        </p:blipFill>
        <p:spPr>
          <a:xfrm>
            <a:off x="6636258" y="1588770"/>
            <a:ext cx="251460" cy="251460"/>
          </a:xfrm>
          <a:prstGeom prst="rect">
            <a:avLst/>
          </a:prstGeom>
        </p:spPr>
      </p:pic>
      <p:sp>
        <p:nvSpPr>
          <p:cNvPr id="27" name="Text 19"/>
          <p:cNvSpPr txBox="1"/>
          <p:nvPr/>
        </p:nvSpPr>
        <p:spPr>
          <a:xfrm>
            <a:off x="6199632" y="2057400"/>
            <a:ext cx="1115568" cy="822960"/>
          </a:xfrm>
          <a:prstGeom prst="rect">
            <a:avLst/>
          </a:prstGeom>
          <a:noFill/>
          <a:ln/>
        </p:spPr>
        <p:txBody>
          <a:bodyPr wrap="square" lIns="0" tIns="0" rIns="0" bIns="0" rtlCol="0" anchor="ctr"/>
          <a:lstStyle/>
          <a:p>
            <a:pPr marL="0" indent="0" algn="ctr">
              <a:buNone/>
            </a:pPr>
            <a:r>
              <a:rPr lang="it-IT" sz="1200" b="1" dirty="0">
                <a:solidFill>
                  <a:schemeClr val="tx1"/>
                </a:solidFill>
              </a:rPr>
              <a:t>Strumenti collegati</a:t>
            </a:r>
            <a:endParaRPr lang="it-IT" sz="1200" dirty="0"/>
          </a:p>
        </p:txBody>
      </p:sp>
      <p:sp>
        <p:nvSpPr>
          <p:cNvPr id="28" name="collegamento"/>
          <p:cNvSpPr/>
          <p:nvPr/>
        </p:nvSpPr>
        <p:spPr>
          <a:xfrm>
            <a:off x="7388352" y="2148840"/>
            <a:ext cx="155448" cy="0"/>
          </a:xfrm>
          <a:prstGeom prst="line">
            <a:avLst/>
          </a:prstGeom>
          <a:noFill/>
          <a:ln w="38100">
            <a:solidFill>
              <a:schemeClr val="accent1"/>
            </a:solidFill>
            <a:prstDash val="solid"/>
          </a:ln>
        </p:spPr>
        <p:txBody>
          <a:bodyPr/>
          <a:lstStyle/>
          <a:p>
            <a:endParaRPr lang="it-IT" dirty="0"/>
          </a:p>
        </p:txBody>
      </p:sp>
      <p:sp>
        <p:nvSpPr>
          <p:cNvPr id="29" name="anello Persona che usa e controlla"/>
          <p:cNvSpPr/>
          <p:nvPr/>
        </p:nvSpPr>
        <p:spPr>
          <a:xfrm>
            <a:off x="7543800" y="1280160"/>
            <a:ext cx="1261872" cy="1737360"/>
          </a:xfrm>
          <a:prstGeom prst="roundRect">
            <a:avLst>
              <a:gd name="adj" fmla="val 21739"/>
            </a:avLst>
          </a:prstGeom>
          <a:solidFill>
            <a:schemeClr val="bg2"/>
          </a:solidFill>
          <a:ln w="19050">
            <a:solidFill>
              <a:schemeClr val="accent1"/>
            </a:solidFill>
            <a:prstDash val="solid"/>
          </a:ln>
        </p:spPr>
        <p:txBody>
          <a:bodyPr/>
          <a:lstStyle/>
          <a:p>
            <a:endParaRPr lang="it-IT" dirty="0"/>
          </a:p>
        </p:txBody>
      </p:sp>
      <p:sp>
        <p:nvSpPr>
          <p:cNvPr id="30" name="cerchio FiUserCheck"/>
          <p:cNvSpPr/>
          <p:nvPr/>
        </p:nvSpPr>
        <p:spPr>
          <a:xfrm>
            <a:off x="7927848" y="1463040"/>
            <a:ext cx="502920" cy="502920"/>
          </a:xfrm>
          <a:prstGeom prst="ellipse">
            <a:avLst/>
          </a:prstGeom>
          <a:solidFill>
            <a:schemeClr val="accent1"/>
          </a:solidFill>
          <a:ln/>
        </p:spPr>
        <p:txBody>
          <a:bodyPr/>
          <a:lstStyle/>
          <a:p>
            <a:endParaRPr lang="it-IT" dirty="0"/>
          </a:p>
        </p:txBody>
      </p:sp>
      <p:pic>
        <p:nvPicPr>
          <p:cNvPr id="31" name="Image 5" descr="FiUserCheck"/>
          <p:cNvPicPr>
            <a:picLocks noChangeAspect="1"/>
          </p:cNvPicPr>
          <p:nvPr/>
        </p:nvPicPr>
        <p:blipFill>
          <a:blip r:embed="rId8"/>
          <a:stretch>
            <a:fillRect/>
          </a:stretch>
        </p:blipFill>
        <p:spPr>
          <a:xfrm>
            <a:off x="8053578" y="1588770"/>
            <a:ext cx="251460" cy="251460"/>
          </a:xfrm>
          <a:prstGeom prst="rect">
            <a:avLst/>
          </a:prstGeom>
        </p:spPr>
      </p:pic>
      <p:sp>
        <p:nvSpPr>
          <p:cNvPr id="32" name="Text 23"/>
          <p:cNvSpPr txBox="1"/>
          <p:nvPr/>
        </p:nvSpPr>
        <p:spPr>
          <a:xfrm>
            <a:off x="7616952" y="2057400"/>
            <a:ext cx="1115568" cy="822960"/>
          </a:xfrm>
          <a:prstGeom prst="rect">
            <a:avLst/>
          </a:prstGeom>
          <a:noFill/>
          <a:ln/>
        </p:spPr>
        <p:txBody>
          <a:bodyPr wrap="square" lIns="0" tIns="0" rIns="0" bIns="0" rtlCol="0" anchor="ctr"/>
          <a:lstStyle/>
          <a:p>
            <a:pPr marL="0" indent="0" algn="ctr">
              <a:buNone/>
            </a:pPr>
            <a:r>
              <a:rPr lang="it-IT" sz="1200" b="1" dirty="0">
                <a:solidFill>
                  <a:schemeClr val="tx1"/>
                </a:solidFill>
              </a:rPr>
              <a:t>Persona che usa e controlla</a:t>
            </a:r>
            <a:endParaRPr lang="it-IT" sz="1200" dirty="0"/>
          </a:p>
        </p:txBody>
      </p:sp>
      <p:sp>
        <p:nvSpPr>
          <p:cNvPr id="33" name="Text 24"/>
          <p:cNvSpPr txBox="1"/>
          <p:nvPr/>
        </p:nvSpPr>
        <p:spPr>
          <a:xfrm>
            <a:off x="457200" y="3154680"/>
            <a:ext cx="8229600" cy="320040"/>
          </a:xfrm>
          <a:prstGeom prst="rect">
            <a:avLst/>
          </a:prstGeom>
          <a:noFill/>
          <a:ln/>
        </p:spPr>
        <p:txBody>
          <a:bodyPr wrap="square" lIns="0" tIns="0" rIns="0" bIns="0" rtlCol="0" anchor="t"/>
          <a:lstStyle/>
          <a:p>
            <a:pPr marL="0" indent="0" algn="ctr">
              <a:buNone/>
            </a:pPr>
            <a:r>
              <a:rPr lang="it-IT" sz="1400" b="1" dirty="0">
                <a:solidFill>
                  <a:schemeClr val="tx1"/>
                </a:solidFill>
              </a:rPr>
              <a:t>L'affidabilità complessiva dipende anche dagli anelli più deboli</a:t>
            </a:r>
            <a:endParaRPr lang="it-IT" sz="1400" dirty="0"/>
          </a:p>
        </p:txBody>
      </p:sp>
      <p:sp>
        <p:nvSpPr>
          <p:cNvPr id="34" name="scheda Ottimo modello + archivio obsoleto"/>
          <p:cNvSpPr/>
          <p:nvPr/>
        </p:nvSpPr>
        <p:spPr>
          <a:xfrm>
            <a:off x="457200" y="3520440"/>
            <a:ext cx="3977640" cy="1051560"/>
          </a:xfrm>
          <a:prstGeom prst="roundRect">
            <a:avLst>
              <a:gd name="adj" fmla="val 6957"/>
            </a:avLst>
          </a:prstGeom>
          <a:solidFill>
            <a:schemeClr val="bg2"/>
          </a:solidFill>
          <a:ln/>
        </p:spPr>
        <p:txBody>
          <a:bodyPr/>
          <a:lstStyle/>
          <a:p>
            <a:endParaRPr lang="it-IT" dirty="0"/>
          </a:p>
        </p:txBody>
      </p:sp>
      <p:sp>
        <p:nvSpPr>
          <p:cNvPr id="35" name="Text 26"/>
          <p:cNvSpPr txBox="1"/>
          <p:nvPr/>
        </p:nvSpPr>
        <p:spPr>
          <a:xfrm>
            <a:off x="640080" y="3703320"/>
            <a:ext cx="3611880" cy="347472"/>
          </a:xfrm>
          <a:prstGeom prst="rect">
            <a:avLst/>
          </a:prstGeom>
          <a:noFill/>
          <a:ln/>
        </p:spPr>
        <p:txBody>
          <a:bodyPr wrap="square" lIns="0" tIns="0" rIns="0" bIns="0" rtlCol="0" anchor="t"/>
          <a:lstStyle/>
          <a:p>
            <a:pPr marL="0" indent="0">
              <a:buNone/>
            </a:pPr>
            <a:r>
              <a:rPr lang="it-IT" sz="1300" b="1" dirty="0">
                <a:solidFill>
                  <a:schemeClr val="tx1"/>
                </a:solidFill>
              </a:rPr>
              <a:t>Ottimo modello + archivio obsoleto</a:t>
            </a:r>
            <a:endParaRPr lang="it-IT" sz="1300" dirty="0"/>
          </a:p>
        </p:txBody>
      </p:sp>
      <p:sp>
        <p:nvSpPr>
          <p:cNvPr id="36" name="Text 27"/>
          <p:cNvSpPr txBox="1"/>
          <p:nvPr/>
        </p:nvSpPr>
        <p:spPr>
          <a:xfrm>
            <a:off x="640080" y="4087368"/>
            <a:ext cx="3611880" cy="374904"/>
          </a:xfrm>
          <a:prstGeom prst="rect">
            <a:avLst/>
          </a:prstGeom>
          <a:noFill/>
          <a:ln/>
        </p:spPr>
        <p:txBody>
          <a:bodyPr wrap="square" lIns="0" tIns="0" rIns="0" bIns="0" rtlCol="0" anchor="t"/>
          <a:lstStyle/>
          <a:p>
            <a:pPr marL="0" indent="0">
              <a:buNone/>
            </a:pPr>
            <a:r>
              <a:rPr lang="it-IT" sz="1200" dirty="0">
                <a:solidFill>
                  <a:schemeClr val="tx2"/>
                </a:solidFill>
              </a:rPr>
              <a:t>= risposte obsolete</a:t>
            </a:r>
            <a:endParaRPr lang="it-IT" sz="1200" dirty="0"/>
          </a:p>
        </p:txBody>
      </p:sp>
      <p:sp>
        <p:nvSpPr>
          <p:cNvPr id="37" name="scheda Buone fonti + istruzioni chiare + controlli"/>
          <p:cNvSpPr/>
          <p:nvPr/>
        </p:nvSpPr>
        <p:spPr>
          <a:xfrm>
            <a:off x="4709160" y="3520440"/>
            <a:ext cx="3977640" cy="1051560"/>
          </a:xfrm>
          <a:prstGeom prst="roundRect">
            <a:avLst>
              <a:gd name="adj" fmla="val 6957"/>
            </a:avLst>
          </a:prstGeom>
          <a:solidFill>
            <a:schemeClr val="accent6"/>
          </a:solidFill>
          <a:ln/>
        </p:spPr>
        <p:txBody>
          <a:bodyPr/>
          <a:lstStyle/>
          <a:p>
            <a:endParaRPr lang="it-IT" dirty="0"/>
          </a:p>
        </p:txBody>
      </p:sp>
      <p:sp>
        <p:nvSpPr>
          <p:cNvPr id="38" name="Text 29"/>
          <p:cNvSpPr txBox="1"/>
          <p:nvPr/>
        </p:nvSpPr>
        <p:spPr>
          <a:xfrm>
            <a:off x="4892040" y="3703320"/>
            <a:ext cx="3611880" cy="347472"/>
          </a:xfrm>
          <a:prstGeom prst="rect">
            <a:avLst/>
          </a:prstGeom>
          <a:noFill/>
          <a:ln/>
        </p:spPr>
        <p:txBody>
          <a:bodyPr wrap="square" lIns="0" tIns="0" rIns="0" bIns="0" rtlCol="0" anchor="t"/>
          <a:lstStyle/>
          <a:p>
            <a:pPr marL="0" indent="0">
              <a:buNone/>
            </a:pPr>
            <a:r>
              <a:rPr lang="it-IT" sz="1300" b="1" dirty="0">
                <a:solidFill>
                  <a:schemeClr val="tx1"/>
                </a:solidFill>
              </a:rPr>
              <a:t>Buone fonti + istruzioni chiare + controlli</a:t>
            </a:r>
            <a:endParaRPr lang="it-IT" sz="1300" dirty="0"/>
          </a:p>
        </p:txBody>
      </p:sp>
      <p:sp>
        <p:nvSpPr>
          <p:cNvPr id="39" name="Text 30"/>
          <p:cNvSpPr txBox="1"/>
          <p:nvPr/>
        </p:nvSpPr>
        <p:spPr>
          <a:xfrm>
            <a:off x="4892040" y="4087368"/>
            <a:ext cx="3611880" cy="374904"/>
          </a:xfrm>
          <a:prstGeom prst="rect">
            <a:avLst/>
          </a:prstGeom>
          <a:noFill/>
          <a:ln/>
        </p:spPr>
        <p:txBody>
          <a:bodyPr wrap="square" lIns="0" tIns="0" rIns="0" bIns="0" rtlCol="0" anchor="t"/>
          <a:lstStyle/>
          <a:p>
            <a:pPr marL="0" indent="0">
              <a:buNone/>
            </a:pPr>
            <a:r>
              <a:rPr lang="it-IT" sz="1200" dirty="0">
                <a:solidFill>
                  <a:schemeClr val="tx2"/>
                </a:solidFill>
              </a:rPr>
              <a:t>= risultati più affidabili, anche con un modello meno potente</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41</a:t>
            </a:fld>
            <a:endParaRPr lang="it-IT"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name="Slide 4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dirty="0">
                <a:solidFill>
                  <a:schemeClr val="bg1"/>
                </a:solidFill>
              </a:rPr>
              <a:t>L'affidabilità non è una proprietà unica e universale di un modello; deve essere valutata per compiti e condizioni d'uso specifici.</a:t>
            </a:r>
            <a:endParaRPr lang="it-IT"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dirty="0">
                <a:solidFill>
                  <a:schemeClr val="accent3"/>
                </a:solidFill>
              </a:rPr>
              <a:t>Sottotema 3.5  ·  Accuratezza, affidabilità e consistenza</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42</a:t>
            </a:fld>
            <a:endParaRPr lang="it-IT"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3.6</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Verificabilità e controllo dei risultati</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La verifica è parte dell'uso consapevole dell'AI ed è proporzionata all'importanza del compito</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43</a:t>
            </a:fld>
            <a:endParaRPr lang="it-IT"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Che cosa verificare</a:t>
            </a:r>
            <a:endParaRPr lang="it-IT" sz="2600" dirty="0"/>
          </a:p>
        </p:txBody>
      </p:sp>
      <p:sp>
        <p:nvSpPr>
          <p:cNvPr id="4" name="Affermazioni fattuali"/>
          <p:cNvSpPr/>
          <p:nvPr/>
        </p:nvSpPr>
        <p:spPr>
          <a:xfrm>
            <a:off x="457200" y="1097280"/>
            <a:ext cx="4023360" cy="1097280"/>
          </a:xfrm>
          <a:prstGeom prst="roundRect">
            <a:avLst>
              <a:gd name="adj" fmla="val 6667"/>
            </a:avLst>
          </a:prstGeom>
          <a:solidFill>
            <a:schemeClr val="bg2"/>
          </a:solidFill>
          <a:ln/>
        </p:spPr>
        <p:txBody>
          <a:bodyPr/>
          <a:lstStyle/>
          <a:p>
            <a:endParaRPr lang="it-IT" dirty="0"/>
          </a:p>
        </p:txBody>
      </p:sp>
      <p:sp>
        <p:nvSpPr>
          <p:cNvPr id="5" name="cerchio FiCheckCircle"/>
          <p:cNvSpPr/>
          <p:nvPr/>
        </p:nvSpPr>
        <p:spPr>
          <a:xfrm>
            <a:off x="621792" y="1261872"/>
            <a:ext cx="438912" cy="438912"/>
          </a:xfrm>
          <a:prstGeom prst="ellipse">
            <a:avLst/>
          </a:prstGeom>
          <a:solidFill>
            <a:schemeClr val="accent1"/>
          </a:solidFill>
          <a:ln/>
        </p:spPr>
        <p:txBody>
          <a:bodyPr/>
          <a:lstStyle/>
          <a:p>
            <a:endParaRPr lang="it-IT" dirty="0"/>
          </a:p>
        </p:txBody>
      </p:sp>
      <p:pic>
        <p:nvPicPr>
          <p:cNvPr id="6" name="Image 0" descr="FiCheckCircle"/>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3200400" cy="512064"/>
          </a:xfrm>
          <a:prstGeom prst="rect">
            <a:avLst/>
          </a:prstGeom>
          <a:noFill/>
          <a:ln/>
        </p:spPr>
        <p:txBody>
          <a:bodyPr wrap="square" lIns="0" tIns="0" rIns="0" bIns="0" rtlCol="0" anchor="ctr"/>
          <a:lstStyle/>
          <a:p>
            <a:pPr marL="0" indent="0">
              <a:buNone/>
            </a:pPr>
            <a:r>
              <a:rPr lang="it-IT" sz="1500" b="1" dirty="0">
                <a:solidFill>
                  <a:schemeClr val="tx1"/>
                </a:solidFill>
              </a:rPr>
              <a:t>Affermazioni fattuali</a:t>
            </a:r>
            <a:endParaRPr lang="it-IT" sz="1500" dirty="0"/>
          </a:p>
        </p:txBody>
      </p:sp>
      <p:sp>
        <p:nvSpPr>
          <p:cNvPr id="8" name="Text 4"/>
          <p:cNvSpPr txBox="1"/>
          <p:nvPr/>
        </p:nvSpPr>
        <p:spPr>
          <a:xfrm>
            <a:off x="621792" y="1810512"/>
            <a:ext cx="3694176" cy="292608"/>
          </a:xfrm>
          <a:prstGeom prst="rect">
            <a:avLst/>
          </a:prstGeom>
          <a:noFill/>
          <a:ln/>
        </p:spPr>
        <p:txBody>
          <a:bodyPr wrap="square" lIns="0" tIns="0" rIns="0" bIns="0" rtlCol="0" anchor="t"/>
          <a:lstStyle/>
          <a:p>
            <a:pPr marL="0" indent="0">
              <a:buNone/>
            </a:pPr>
            <a:r>
              <a:rPr lang="it-IT" sz="1300" dirty="0">
                <a:solidFill>
                  <a:schemeClr val="tx2"/>
                </a:solidFill>
              </a:rPr>
              <a:t>Nomi, date, eventi, norme, caratteristiche</a:t>
            </a:r>
            <a:endParaRPr lang="it-IT" sz="1300" dirty="0"/>
          </a:p>
        </p:txBody>
      </p:sp>
      <p:sp>
        <p:nvSpPr>
          <p:cNvPr id="9" name="Fonti e riferimenti"/>
          <p:cNvSpPr/>
          <p:nvPr/>
        </p:nvSpPr>
        <p:spPr>
          <a:xfrm>
            <a:off x="4663440" y="1097280"/>
            <a:ext cx="4023360" cy="1097280"/>
          </a:xfrm>
          <a:prstGeom prst="roundRect">
            <a:avLst>
              <a:gd name="adj" fmla="val 6667"/>
            </a:avLst>
          </a:prstGeom>
          <a:solidFill>
            <a:schemeClr val="bg2"/>
          </a:solidFill>
          <a:ln/>
        </p:spPr>
        <p:txBody>
          <a:bodyPr/>
          <a:lstStyle/>
          <a:p>
            <a:endParaRPr lang="it-IT" dirty="0"/>
          </a:p>
        </p:txBody>
      </p:sp>
      <p:sp>
        <p:nvSpPr>
          <p:cNvPr id="10" name="cerchio FiBookmark"/>
          <p:cNvSpPr/>
          <p:nvPr/>
        </p:nvSpPr>
        <p:spPr>
          <a:xfrm>
            <a:off x="4828032" y="1261872"/>
            <a:ext cx="438912" cy="438912"/>
          </a:xfrm>
          <a:prstGeom prst="ellipse">
            <a:avLst/>
          </a:prstGeom>
          <a:solidFill>
            <a:schemeClr val="accent1"/>
          </a:solidFill>
          <a:ln/>
        </p:spPr>
        <p:txBody>
          <a:bodyPr/>
          <a:lstStyle/>
          <a:p>
            <a:endParaRPr lang="it-IT" dirty="0"/>
          </a:p>
        </p:txBody>
      </p:sp>
      <p:pic>
        <p:nvPicPr>
          <p:cNvPr id="11" name="Image 1" descr="FiBookmark"/>
          <p:cNvPicPr>
            <a:picLocks noChangeAspect="1"/>
          </p:cNvPicPr>
          <p:nvPr/>
        </p:nvPicPr>
        <p:blipFill>
          <a:blip r:embed="rId4"/>
          <a:stretch>
            <a:fillRect/>
          </a:stretch>
        </p:blipFill>
        <p:spPr>
          <a:xfrm>
            <a:off x="4937760" y="1371600"/>
            <a:ext cx="219456" cy="219456"/>
          </a:xfrm>
          <a:prstGeom prst="rect">
            <a:avLst/>
          </a:prstGeom>
        </p:spPr>
      </p:pic>
      <p:sp>
        <p:nvSpPr>
          <p:cNvPr id="12" name="Text 7"/>
          <p:cNvSpPr txBox="1"/>
          <p:nvPr/>
        </p:nvSpPr>
        <p:spPr>
          <a:xfrm>
            <a:off x="5376672" y="1225296"/>
            <a:ext cx="3200400" cy="512064"/>
          </a:xfrm>
          <a:prstGeom prst="rect">
            <a:avLst/>
          </a:prstGeom>
          <a:noFill/>
          <a:ln/>
        </p:spPr>
        <p:txBody>
          <a:bodyPr wrap="square" lIns="0" tIns="0" rIns="0" bIns="0" rtlCol="0" anchor="ctr"/>
          <a:lstStyle/>
          <a:p>
            <a:pPr marL="0" indent="0">
              <a:buNone/>
            </a:pPr>
            <a:r>
              <a:rPr lang="it-IT" sz="1500" b="1" dirty="0">
                <a:solidFill>
                  <a:schemeClr val="tx1"/>
                </a:solidFill>
              </a:rPr>
              <a:t>Fonti e riferimenti</a:t>
            </a:r>
            <a:endParaRPr lang="it-IT" sz="1500" dirty="0"/>
          </a:p>
        </p:txBody>
      </p:sp>
      <p:sp>
        <p:nvSpPr>
          <p:cNvPr id="13" name="Text 8"/>
          <p:cNvSpPr txBox="1"/>
          <p:nvPr/>
        </p:nvSpPr>
        <p:spPr>
          <a:xfrm>
            <a:off x="4828032" y="1810512"/>
            <a:ext cx="3694176" cy="292608"/>
          </a:xfrm>
          <a:prstGeom prst="rect">
            <a:avLst/>
          </a:prstGeom>
          <a:noFill/>
          <a:ln/>
        </p:spPr>
        <p:txBody>
          <a:bodyPr wrap="square" lIns="0" tIns="0" rIns="0" bIns="0" rtlCol="0" anchor="t"/>
          <a:lstStyle/>
          <a:p>
            <a:pPr marL="0" indent="0">
              <a:buNone/>
            </a:pPr>
            <a:r>
              <a:rPr lang="it-IT" sz="1300" dirty="0">
                <a:solidFill>
                  <a:schemeClr val="tx2"/>
                </a:solidFill>
              </a:rPr>
              <a:t>Esistono, dicono questo, sono autorevoli?</a:t>
            </a:r>
            <a:endParaRPr lang="it-IT" sz="1300" dirty="0"/>
          </a:p>
        </p:txBody>
      </p:sp>
      <p:sp>
        <p:nvSpPr>
          <p:cNvPr id="14" name="Calcoli e dati"/>
          <p:cNvSpPr/>
          <p:nvPr/>
        </p:nvSpPr>
        <p:spPr>
          <a:xfrm>
            <a:off x="457200" y="2377440"/>
            <a:ext cx="4023360" cy="1097280"/>
          </a:xfrm>
          <a:prstGeom prst="roundRect">
            <a:avLst>
              <a:gd name="adj" fmla="val 6667"/>
            </a:avLst>
          </a:prstGeom>
          <a:solidFill>
            <a:schemeClr val="bg2"/>
          </a:solidFill>
          <a:ln/>
        </p:spPr>
        <p:txBody>
          <a:bodyPr/>
          <a:lstStyle/>
          <a:p>
            <a:endParaRPr lang="it-IT" dirty="0"/>
          </a:p>
        </p:txBody>
      </p:sp>
      <p:sp>
        <p:nvSpPr>
          <p:cNvPr id="15" name="cerchio FiHash"/>
          <p:cNvSpPr/>
          <p:nvPr/>
        </p:nvSpPr>
        <p:spPr>
          <a:xfrm>
            <a:off x="621792" y="2542032"/>
            <a:ext cx="438912" cy="438912"/>
          </a:xfrm>
          <a:prstGeom prst="ellipse">
            <a:avLst/>
          </a:prstGeom>
          <a:solidFill>
            <a:schemeClr val="accent1"/>
          </a:solidFill>
          <a:ln/>
        </p:spPr>
        <p:txBody>
          <a:bodyPr/>
          <a:lstStyle/>
          <a:p>
            <a:endParaRPr lang="it-IT" dirty="0"/>
          </a:p>
        </p:txBody>
      </p:sp>
      <p:pic>
        <p:nvPicPr>
          <p:cNvPr id="16" name="Image 2" descr="FiHash"/>
          <p:cNvPicPr>
            <a:picLocks noChangeAspect="1"/>
          </p:cNvPicPr>
          <p:nvPr/>
        </p:nvPicPr>
        <p:blipFill>
          <a:blip r:embed="rId5"/>
          <a:stretch>
            <a:fillRect/>
          </a:stretch>
        </p:blipFill>
        <p:spPr>
          <a:xfrm>
            <a:off x="731520" y="2651760"/>
            <a:ext cx="219456" cy="219456"/>
          </a:xfrm>
          <a:prstGeom prst="rect">
            <a:avLst/>
          </a:prstGeom>
        </p:spPr>
      </p:pic>
      <p:sp>
        <p:nvSpPr>
          <p:cNvPr id="17" name="Text 11"/>
          <p:cNvSpPr txBox="1"/>
          <p:nvPr/>
        </p:nvSpPr>
        <p:spPr>
          <a:xfrm>
            <a:off x="1170432" y="2505456"/>
            <a:ext cx="3200400" cy="512064"/>
          </a:xfrm>
          <a:prstGeom prst="rect">
            <a:avLst/>
          </a:prstGeom>
          <a:noFill/>
          <a:ln/>
        </p:spPr>
        <p:txBody>
          <a:bodyPr wrap="square" lIns="0" tIns="0" rIns="0" bIns="0" rtlCol="0" anchor="ctr"/>
          <a:lstStyle/>
          <a:p>
            <a:pPr marL="0" indent="0">
              <a:buNone/>
            </a:pPr>
            <a:r>
              <a:rPr lang="it-IT" sz="1500" b="1" dirty="0">
                <a:solidFill>
                  <a:schemeClr val="tx1"/>
                </a:solidFill>
              </a:rPr>
              <a:t>Calcoli e dati</a:t>
            </a:r>
            <a:endParaRPr lang="it-IT" sz="1500" dirty="0"/>
          </a:p>
        </p:txBody>
      </p:sp>
      <p:sp>
        <p:nvSpPr>
          <p:cNvPr id="18" name="Text 12"/>
          <p:cNvSpPr txBox="1"/>
          <p:nvPr/>
        </p:nvSpPr>
        <p:spPr>
          <a:xfrm>
            <a:off x="621792" y="3090672"/>
            <a:ext cx="3694176" cy="292608"/>
          </a:xfrm>
          <a:prstGeom prst="rect">
            <a:avLst/>
          </a:prstGeom>
          <a:noFill/>
          <a:ln/>
        </p:spPr>
        <p:txBody>
          <a:bodyPr wrap="square" lIns="0" tIns="0" rIns="0" bIns="0" rtlCol="0" anchor="t"/>
          <a:lstStyle/>
          <a:p>
            <a:pPr marL="0" indent="0">
              <a:buNone/>
            </a:pPr>
            <a:r>
              <a:rPr lang="it-IT" sz="1300" dirty="0">
                <a:solidFill>
                  <a:schemeClr val="tx2"/>
                </a:solidFill>
              </a:rPr>
              <a:t>Numeri corretti, totali che tornano, estrazioni fedeli</a:t>
            </a:r>
            <a:endParaRPr lang="it-IT" sz="1300" dirty="0"/>
          </a:p>
        </p:txBody>
      </p:sp>
      <p:sp>
        <p:nvSpPr>
          <p:cNvPr id="19" name="Completezza e coerenza"/>
          <p:cNvSpPr/>
          <p:nvPr/>
        </p:nvSpPr>
        <p:spPr>
          <a:xfrm>
            <a:off x="4663440" y="2377440"/>
            <a:ext cx="4023360" cy="1097280"/>
          </a:xfrm>
          <a:prstGeom prst="roundRect">
            <a:avLst>
              <a:gd name="adj" fmla="val 6667"/>
            </a:avLst>
          </a:prstGeom>
          <a:solidFill>
            <a:schemeClr val="bg2"/>
          </a:solidFill>
          <a:ln/>
        </p:spPr>
        <p:txBody>
          <a:bodyPr/>
          <a:lstStyle/>
          <a:p>
            <a:endParaRPr lang="it-IT" dirty="0"/>
          </a:p>
        </p:txBody>
      </p:sp>
      <p:sp>
        <p:nvSpPr>
          <p:cNvPr id="20" name="cerchio FiList"/>
          <p:cNvSpPr/>
          <p:nvPr/>
        </p:nvSpPr>
        <p:spPr>
          <a:xfrm>
            <a:off x="4828032" y="2542032"/>
            <a:ext cx="438912" cy="438912"/>
          </a:xfrm>
          <a:prstGeom prst="ellipse">
            <a:avLst/>
          </a:prstGeom>
          <a:solidFill>
            <a:schemeClr val="accent1"/>
          </a:solidFill>
          <a:ln/>
        </p:spPr>
        <p:txBody>
          <a:bodyPr/>
          <a:lstStyle/>
          <a:p>
            <a:endParaRPr lang="it-IT" dirty="0"/>
          </a:p>
        </p:txBody>
      </p:sp>
      <p:pic>
        <p:nvPicPr>
          <p:cNvPr id="21" name="Image 3" descr="FiList"/>
          <p:cNvPicPr>
            <a:picLocks noChangeAspect="1"/>
          </p:cNvPicPr>
          <p:nvPr/>
        </p:nvPicPr>
        <p:blipFill>
          <a:blip r:embed="rId6"/>
          <a:stretch>
            <a:fillRect/>
          </a:stretch>
        </p:blipFill>
        <p:spPr>
          <a:xfrm>
            <a:off x="4937760" y="2651760"/>
            <a:ext cx="219456" cy="219456"/>
          </a:xfrm>
          <a:prstGeom prst="rect">
            <a:avLst/>
          </a:prstGeom>
        </p:spPr>
      </p:pic>
      <p:sp>
        <p:nvSpPr>
          <p:cNvPr id="22" name="Text 15"/>
          <p:cNvSpPr txBox="1"/>
          <p:nvPr/>
        </p:nvSpPr>
        <p:spPr>
          <a:xfrm>
            <a:off x="5376672" y="2505456"/>
            <a:ext cx="3200400" cy="512064"/>
          </a:xfrm>
          <a:prstGeom prst="rect">
            <a:avLst/>
          </a:prstGeom>
          <a:noFill/>
          <a:ln/>
        </p:spPr>
        <p:txBody>
          <a:bodyPr wrap="square" lIns="0" tIns="0" rIns="0" bIns="0" rtlCol="0" anchor="ctr"/>
          <a:lstStyle/>
          <a:p>
            <a:pPr marL="0" indent="0">
              <a:buNone/>
            </a:pPr>
            <a:r>
              <a:rPr lang="it-IT" sz="1500" b="1" dirty="0">
                <a:solidFill>
                  <a:schemeClr val="tx1"/>
                </a:solidFill>
              </a:rPr>
              <a:t>Completezza e coerenza</a:t>
            </a:r>
            <a:endParaRPr lang="it-IT" sz="1500" dirty="0"/>
          </a:p>
        </p:txBody>
      </p:sp>
      <p:sp>
        <p:nvSpPr>
          <p:cNvPr id="23" name="Text 16"/>
          <p:cNvSpPr txBox="1"/>
          <p:nvPr/>
        </p:nvSpPr>
        <p:spPr>
          <a:xfrm>
            <a:off x="4828032" y="3090672"/>
            <a:ext cx="3694176" cy="292608"/>
          </a:xfrm>
          <a:prstGeom prst="rect">
            <a:avLst/>
          </a:prstGeom>
          <a:noFill/>
          <a:ln/>
        </p:spPr>
        <p:txBody>
          <a:bodyPr wrap="square" lIns="0" tIns="0" rIns="0" bIns="0" rtlCol="0" anchor="t"/>
          <a:lstStyle/>
          <a:p>
            <a:pPr marL="0" indent="0">
              <a:buNone/>
            </a:pPr>
            <a:r>
              <a:rPr lang="it-IT" sz="1300" dirty="0">
                <a:solidFill>
                  <a:schemeClr val="tx2"/>
                </a:solidFill>
              </a:rPr>
              <a:t>Nulla di importante omesso, nessuna contraddizione</a:t>
            </a:r>
            <a:endParaRPr lang="it-IT" sz="1300" dirty="0"/>
          </a:p>
        </p:txBody>
      </p:sp>
      <p:sp>
        <p:nvSpPr>
          <p:cNvPr id="24" name="Text 17"/>
          <p:cNvSpPr txBox="1"/>
          <p:nvPr/>
        </p:nvSpPr>
        <p:spPr>
          <a:xfrm>
            <a:off x="457200" y="3657600"/>
            <a:ext cx="8229600" cy="274320"/>
          </a:xfrm>
          <a:prstGeom prst="rect">
            <a:avLst/>
          </a:prstGeom>
          <a:noFill/>
          <a:ln/>
        </p:spPr>
        <p:txBody>
          <a:bodyPr wrap="square" lIns="0" tIns="0" rIns="0" bIns="0" rtlCol="0" anchor="t"/>
          <a:lstStyle/>
          <a:p>
            <a:pPr marL="0" indent="0">
              <a:buNone/>
            </a:pPr>
            <a:r>
              <a:rPr lang="it-IT" sz="1300" b="1" dirty="0">
                <a:solidFill>
                  <a:schemeClr val="tx1"/>
                </a:solidFill>
              </a:rPr>
              <a:t>Il controllo dipende dal tipo di output</a:t>
            </a:r>
            <a:endParaRPr lang="it-IT" sz="1300" dirty="0"/>
          </a:p>
        </p:txBody>
      </p:sp>
      <p:sp>
        <p:nvSpPr>
          <p:cNvPr id="25" name="blocco Email: coerenza e tono"/>
          <p:cNvSpPr/>
          <p:nvPr/>
        </p:nvSpPr>
        <p:spPr>
          <a:xfrm>
            <a:off x="457200" y="4023360"/>
            <a:ext cx="2615184" cy="502920"/>
          </a:xfrm>
          <a:prstGeom prst="roundRect">
            <a:avLst>
              <a:gd name="adj" fmla="val 21818"/>
            </a:avLst>
          </a:prstGeom>
          <a:solidFill>
            <a:schemeClr val="accent6"/>
          </a:solidFill>
          <a:ln/>
        </p:spPr>
        <p:txBody>
          <a:bodyPr/>
          <a:lstStyle/>
          <a:p>
            <a:endParaRPr lang="it-IT" dirty="0"/>
          </a:p>
        </p:txBody>
      </p:sp>
      <p:sp>
        <p:nvSpPr>
          <p:cNvPr id="26" name="Text 19"/>
          <p:cNvSpPr txBox="1"/>
          <p:nvPr/>
        </p:nvSpPr>
        <p:spPr>
          <a:xfrm>
            <a:off x="502920" y="4023360"/>
            <a:ext cx="2523744" cy="502920"/>
          </a:xfrm>
          <a:prstGeom prst="rect">
            <a:avLst/>
          </a:prstGeom>
          <a:noFill/>
          <a:ln/>
        </p:spPr>
        <p:txBody>
          <a:bodyPr wrap="square" lIns="0" tIns="0" rIns="0" bIns="0" rtlCol="0" anchor="ctr"/>
          <a:lstStyle/>
          <a:p>
            <a:pPr marL="0" indent="0" algn="ctr">
              <a:buNone/>
            </a:pPr>
            <a:r>
              <a:rPr lang="it-IT" sz="1200" b="1" dirty="0">
                <a:solidFill>
                  <a:schemeClr val="tx1"/>
                </a:solidFill>
              </a:rPr>
              <a:t>Email: coerenza e tono</a:t>
            </a:r>
            <a:endParaRPr lang="it-IT" sz="1200" dirty="0"/>
          </a:p>
        </p:txBody>
      </p:sp>
      <p:sp>
        <p:nvSpPr>
          <p:cNvPr id="27" name="blocco Report: numeri e fonti"/>
          <p:cNvSpPr/>
          <p:nvPr/>
        </p:nvSpPr>
        <p:spPr>
          <a:xfrm>
            <a:off x="3264408" y="4023360"/>
            <a:ext cx="2615184" cy="502920"/>
          </a:xfrm>
          <a:prstGeom prst="roundRect">
            <a:avLst>
              <a:gd name="adj" fmla="val 21818"/>
            </a:avLst>
          </a:prstGeom>
          <a:solidFill>
            <a:schemeClr val="accent6"/>
          </a:solidFill>
          <a:ln/>
        </p:spPr>
        <p:txBody>
          <a:bodyPr/>
          <a:lstStyle/>
          <a:p>
            <a:endParaRPr lang="it-IT" dirty="0"/>
          </a:p>
        </p:txBody>
      </p:sp>
      <p:sp>
        <p:nvSpPr>
          <p:cNvPr id="28" name="Text 21"/>
          <p:cNvSpPr txBox="1"/>
          <p:nvPr/>
        </p:nvSpPr>
        <p:spPr>
          <a:xfrm>
            <a:off x="3310128" y="4023360"/>
            <a:ext cx="2523744" cy="502920"/>
          </a:xfrm>
          <a:prstGeom prst="rect">
            <a:avLst/>
          </a:prstGeom>
          <a:noFill/>
          <a:ln/>
        </p:spPr>
        <p:txBody>
          <a:bodyPr wrap="square" lIns="0" tIns="0" rIns="0" bIns="0" rtlCol="0" anchor="ctr"/>
          <a:lstStyle/>
          <a:p>
            <a:pPr marL="0" indent="0" algn="ctr">
              <a:buNone/>
            </a:pPr>
            <a:r>
              <a:rPr lang="it-IT" sz="1200" b="1" dirty="0">
                <a:solidFill>
                  <a:schemeClr val="tx1"/>
                </a:solidFill>
              </a:rPr>
              <a:t>Report: numeri e fonti</a:t>
            </a:r>
            <a:endParaRPr lang="it-IT" sz="1200" dirty="0"/>
          </a:p>
        </p:txBody>
      </p:sp>
      <p:sp>
        <p:nvSpPr>
          <p:cNvPr id="29" name="blocco Riassunto: completezza e fedeltà"/>
          <p:cNvSpPr/>
          <p:nvPr/>
        </p:nvSpPr>
        <p:spPr>
          <a:xfrm>
            <a:off x="6071616" y="4023360"/>
            <a:ext cx="2615184" cy="502920"/>
          </a:xfrm>
          <a:prstGeom prst="roundRect">
            <a:avLst>
              <a:gd name="adj" fmla="val 21818"/>
            </a:avLst>
          </a:prstGeom>
          <a:solidFill>
            <a:schemeClr val="accent6"/>
          </a:solidFill>
          <a:ln/>
        </p:spPr>
        <p:txBody>
          <a:bodyPr/>
          <a:lstStyle/>
          <a:p>
            <a:endParaRPr lang="it-IT" dirty="0"/>
          </a:p>
        </p:txBody>
      </p:sp>
      <p:sp>
        <p:nvSpPr>
          <p:cNvPr id="30" name="Text 23"/>
          <p:cNvSpPr txBox="1"/>
          <p:nvPr/>
        </p:nvSpPr>
        <p:spPr>
          <a:xfrm>
            <a:off x="6117336" y="4023360"/>
            <a:ext cx="2523744" cy="502920"/>
          </a:xfrm>
          <a:prstGeom prst="rect">
            <a:avLst/>
          </a:prstGeom>
          <a:noFill/>
          <a:ln/>
        </p:spPr>
        <p:txBody>
          <a:bodyPr wrap="square" lIns="0" tIns="0" rIns="0" bIns="0" rtlCol="0" anchor="ctr"/>
          <a:lstStyle/>
          <a:p>
            <a:pPr marL="0" indent="0" algn="ctr">
              <a:buNone/>
            </a:pPr>
            <a:r>
              <a:rPr lang="it-IT" sz="1200" b="1" dirty="0">
                <a:solidFill>
                  <a:schemeClr val="tx1"/>
                </a:solidFill>
              </a:rPr>
              <a:t>Riassunto: completezza e fedeltà</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44</a:t>
            </a:fld>
            <a:endParaRPr lang="it-IT"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Verificare fatti, fonti e riferimenti</a:t>
            </a:r>
            <a:endParaRPr lang="it-IT" sz="2600" dirty="0"/>
          </a:p>
        </p:txBody>
      </p:sp>
      <p:sp>
        <p:nvSpPr>
          <p:cNvPr id="4" name="La fonte esiste?"/>
          <p:cNvSpPr/>
          <p:nvPr/>
        </p:nvSpPr>
        <p:spPr>
          <a:xfrm>
            <a:off x="457200" y="1097280"/>
            <a:ext cx="2615184" cy="2194560"/>
          </a:xfrm>
          <a:prstGeom prst="roundRect">
            <a:avLst>
              <a:gd name="adj" fmla="val 3333"/>
            </a:avLst>
          </a:prstGeom>
          <a:solidFill>
            <a:schemeClr val="bg2"/>
          </a:solidFill>
          <a:ln/>
        </p:spPr>
        <p:txBody>
          <a:bodyPr/>
          <a:lstStyle/>
          <a:p>
            <a:endParaRPr lang="it-IT" dirty="0"/>
          </a:p>
        </p:txBody>
      </p:sp>
      <p:sp>
        <p:nvSpPr>
          <p:cNvPr id="5" name="Text 2"/>
          <p:cNvSpPr txBox="1"/>
          <p:nvPr/>
        </p:nvSpPr>
        <p:spPr>
          <a:xfrm>
            <a:off x="640080" y="1188720"/>
            <a:ext cx="548640" cy="594360"/>
          </a:xfrm>
          <a:prstGeom prst="rect">
            <a:avLst/>
          </a:prstGeom>
          <a:noFill/>
          <a:ln/>
        </p:spPr>
        <p:txBody>
          <a:bodyPr wrap="square" lIns="0" tIns="0" rIns="0" bIns="0" rtlCol="0" anchor="t"/>
          <a:lstStyle/>
          <a:p>
            <a:pPr marL="0" indent="0">
              <a:buNone/>
            </a:pPr>
            <a:r>
              <a:rPr lang="it-IT" sz="3200" b="1" dirty="0">
                <a:solidFill>
                  <a:schemeClr val="accent1"/>
                </a:solidFill>
              </a:rPr>
              <a:t>1</a:t>
            </a:r>
            <a:endParaRPr lang="it-IT" sz="3200" dirty="0"/>
          </a:p>
        </p:txBody>
      </p:sp>
      <p:sp>
        <p:nvSpPr>
          <p:cNvPr id="6" name="Text 3"/>
          <p:cNvSpPr txBox="1"/>
          <p:nvPr/>
        </p:nvSpPr>
        <p:spPr>
          <a:xfrm>
            <a:off x="640080" y="1828800"/>
            <a:ext cx="2249424" cy="411480"/>
          </a:xfrm>
          <a:prstGeom prst="rect">
            <a:avLst/>
          </a:prstGeom>
          <a:noFill/>
          <a:ln/>
        </p:spPr>
        <p:txBody>
          <a:bodyPr wrap="square" lIns="0" tIns="0" rIns="0" bIns="0" rtlCol="0" anchor="t"/>
          <a:lstStyle/>
          <a:p>
            <a:pPr marL="0" indent="0">
              <a:buNone/>
            </a:pPr>
            <a:r>
              <a:rPr lang="it-IT" sz="1500" b="1" dirty="0">
                <a:solidFill>
                  <a:schemeClr val="tx1"/>
                </a:solidFill>
              </a:rPr>
              <a:t>La fonte esiste?</a:t>
            </a:r>
            <a:endParaRPr lang="it-IT" sz="1500" dirty="0"/>
          </a:p>
        </p:txBody>
      </p:sp>
      <p:sp>
        <p:nvSpPr>
          <p:cNvPr id="7" name="Text 4"/>
          <p:cNvSpPr txBox="1"/>
          <p:nvPr/>
        </p:nvSpPr>
        <p:spPr>
          <a:xfrm>
            <a:off x="640080" y="2286000"/>
            <a:ext cx="2249424" cy="914400"/>
          </a:xfrm>
          <a:prstGeom prst="rect">
            <a:avLst/>
          </a:prstGeom>
          <a:noFill/>
          <a:ln/>
        </p:spPr>
        <p:txBody>
          <a:bodyPr wrap="square" lIns="0" tIns="0" rIns="0" bIns="0" rtlCol="0" anchor="t"/>
          <a:lstStyle/>
          <a:p>
            <a:pPr marL="0" indent="0">
              <a:buNone/>
            </a:pPr>
            <a:r>
              <a:rPr lang="it-IT" sz="1300" dirty="0">
                <a:solidFill>
                  <a:schemeClr val="tx2"/>
                </a:solidFill>
              </a:rPr>
              <a:t>Cercarla. Se non si trova, considerarla inesistente.</a:t>
            </a:r>
            <a:endParaRPr lang="it-IT" sz="1300" dirty="0"/>
          </a:p>
        </p:txBody>
      </p:sp>
      <p:sp>
        <p:nvSpPr>
          <p:cNvPr id="8" name="freccia"/>
          <p:cNvSpPr/>
          <p:nvPr/>
        </p:nvSpPr>
        <p:spPr>
          <a:xfrm>
            <a:off x="3090672" y="2057400"/>
            <a:ext cx="155448" cy="292608"/>
          </a:xfrm>
          <a:prstGeom prst="rightArrow">
            <a:avLst/>
          </a:prstGeom>
          <a:solidFill>
            <a:schemeClr val="accent2"/>
          </a:solidFill>
          <a:ln/>
        </p:spPr>
        <p:txBody>
          <a:bodyPr/>
          <a:lstStyle/>
          <a:p>
            <a:endParaRPr lang="it-IT" dirty="0"/>
          </a:p>
        </p:txBody>
      </p:sp>
      <p:sp>
        <p:nvSpPr>
          <p:cNvPr id="9" name="Dice davvero questo?"/>
          <p:cNvSpPr/>
          <p:nvPr/>
        </p:nvSpPr>
        <p:spPr>
          <a:xfrm>
            <a:off x="3264408" y="1097280"/>
            <a:ext cx="2615184" cy="2194560"/>
          </a:xfrm>
          <a:prstGeom prst="roundRect">
            <a:avLst>
              <a:gd name="adj" fmla="val 3333"/>
            </a:avLst>
          </a:prstGeom>
          <a:solidFill>
            <a:schemeClr val="accent6"/>
          </a:solidFill>
          <a:ln/>
        </p:spPr>
        <p:txBody>
          <a:bodyPr/>
          <a:lstStyle/>
          <a:p>
            <a:endParaRPr lang="it-IT" dirty="0"/>
          </a:p>
        </p:txBody>
      </p:sp>
      <p:sp>
        <p:nvSpPr>
          <p:cNvPr id="10" name="Text 7"/>
          <p:cNvSpPr txBox="1"/>
          <p:nvPr/>
        </p:nvSpPr>
        <p:spPr>
          <a:xfrm>
            <a:off x="3447288" y="1188720"/>
            <a:ext cx="548640" cy="594360"/>
          </a:xfrm>
          <a:prstGeom prst="rect">
            <a:avLst/>
          </a:prstGeom>
          <a:noFill/>
          <a:ln/>
        </p:spPr>
        <p:txBody>
          <a:bodyPr wrap="square" lIns="0" tIns="0" rIns="0" bIns="0" rtlCol="0" anchor="t"/>
          <a:lstStyle/>
          <a:p>
            <a:pPr marL="0" indent="0">
              <a:buNone/>
            </a:pPr>
            <a:r>
              <a:rPr lang="it-IT" sz="3200" b="1" dirty="0">
                <a:solidFill>
                  <a:schemeClr val="accent1"/>
                </a:solidFill>
              </a:rPr>
              <a:t>2</a:t>
            </a:r>
            <a:endParaRPr lang="it-IT" sz="3200" dirty="0"/>
          </a:p>
        </p:txBody>
      </p:sp>
      <p:sp>
        <p:nvSpPr>
          <p:cNvPr id="11" name="Text 8"/>
          <p:cNvSpPr txBox="1"/>
          <p:nvPr/>
        </p:nvSpPr>
        <p:spPr>
          <a:xfrm>
            <a:off x="3447288" y="1828800"/>
            <a:ext cx="2249424" cy="411480"/>
          </a:xfrm>
          <a:prstGeom prst="rect">
            <a:avLst/>
          </a:prstGeom>
          <a:noFill/>
          <a:ln/>
        </p:spPr>
        <p:txBody>
          <a:bodyPr wrap="square" lIns="0" tIns="0" rIns="0" bIns="0" rtlCol="0" anchor="t"/>
          <a:lstStyle/>
          <a:p>
            <a:pPr marL="0" indent="0">
              <a:buNone/>
            </a:pPr>
            <a:r>
              <a:rPr lang="it-IT" sz="1500" b="1" dirty="0">
                <a:solidFill>
                  <a:schemeClr val="tx1"/>
                </a:solidFill>
              </a:rPr>
              <a:t>Dice davvero questo?</a:t>
            </a:r>
            <a:endParaRPr lang="it-IT" sz="1500" dirty="0"/>
          </a:p>
        </p:txBody>
      </p:sp>
      <p:sp>
        <p:nvSpPr>
          <p:cNvPr id="12" name="Text 9"/>
          <p:cNvSpPr txBox="1"/>
          <p:nvPr/>
        </p:nvSpPr>
        <p:spPr>
          <a:xfrm>
            <a:off x="3447288" y="2286000"/>
            <a:ext cx="2249424" cy="914400"/>
          </a:xfrm>
          <a:prstGeom prst="rect">
            <a:avLst/>
          </a:prstGeom>
          <a:noFill/>
          <a:ln/>
        </p:spPr>
        <p:txBody>
          <a:bodyPr wrap="square" lIns="0" tIns="0" rIns="0" bIns="0" rtlCol="0" anchor="t"/>
          <a:lstStyle/>
          <a:p>
            <a:pPr marL="0" indent="0">
              <a:buNone/>
            </a:pPr>
            <a:r>
              <a:rPr lang="it-IT" sz="1300" dirty="0">
                <a:solidFill>
                  <a:schemeClr val="tx2"/>
                </a:solidFill>
              </a:rPr>
              <a:t>Aprirla e leggere il passaggio, non fermarsi al titolo.</a:t>
            </a:r>
            <a:endParaRPr lang="it-IT" sz="1300" dirty="0"/>
          </a:p>
        </p:txBody>
      </p:sp>
      <p:sp>
        <p:nvSpPr>
          <p:cNvPr id="13" name="freccia"/>
          <p:cNvSpPr/>
          <p:nvPr/>
        </p:nvSpPr>
        <p:spPr>
          <a:xfrm>
            <a:off x="5897880" y="2057400"/>
            <a:ext cx="155448" cy="292608"/>
          </a:xfrm>
          <a:prstGeom prst="rightArrow">
            <a:avLst/>
          </a:prstGeom>
          <a:solidFill>
            <a:schemeClr val="accent2"/>
          </a:solidFill>
          <a:ln/>
        </p:spPr>
        <p:txBody>
          <a:bodyPr/>
          <a:lstStyle/>
          <a:p>
            <a:endParaRPr lang="it-IT" dirty="0"/>
          </a:p>
        </p:txBody>
      </p:sp>
      <p:sp>
        <p:nvSpPr>
          <p:cNvPr id="14" name="È autorevole e aggiornata?"/>
          <p:cNvSpPr/>
          <p:nvPr/>
        </p:nvSpPr>
        <p:spPr>
          <a:xfrm>
            <a:off x="6071616" y="1097280"/>
            <a:ext cx="2615184" cy="2194560"/>
          </a:xfrm>
          <a:prstGeom prst="roundRect">
            <a:avLst>
              <a:gd name="adj" fmla="val 3333"/>
            </a:avLst>
          </a:prstGeom>
          <a:solidFill>
            <a:schemeClr val="bg2"/>
          </a:solidFill>
          <a:ln/>
        </p:spPr>
        <p:txBody>
          <a:bodyPr/>
          <a:lstStyle/>
          <a:p>
            <a:endParaRPr lang="it-IT" dirty="0"/>
          </a:p>
        </p:txBody>
      </p:sp>
      <p:sp>
        <p:nvSpPr>
          <p:cNvPr id="15" name="Text 12"/>
          <p:cNvSpPr txBox="1"/>
          <p:nvPr/>
        </p:nvSpPr>
        <p:spPr>
          <a:xfrm>
            <a:off x="6254496" y="1188720"/>
            <a:ext cx="548640" cy="594360"/>
          </a:xfrm>
          <a:prstGeom prst="rect">
            <a:avLst/>
          </a:prstGeom>
          <a:noFill/>
          <a:ln/>
        </p:spPr>
        <p:txBody>
          <a:bodyPr wrap="square" lIns="0" tIns="0" rIns="0" bIns="0" rtlCol="0" anchor="t"/>
          <a:lstStyle/>
          <a:p>
            <a:pPr marL="0" indent="0">
              <a:buNone/>
            </a:pPr>
            <a:r>
              <a:rPr lang="it-IT" sz="3200" b="1" dirty="0">
                <a:solidFill>
                  <a:schemeClr val="accent1"/>
                </a:solidFill>
              </a:rPr>
              <a:t>3</a:t>
            </a:r>
            <a:endParaRPr lang="it-IT" sz="3200" dirty="0"/>
          </a:p>
        </p:txBody>
      </p:sp>
      <p:sp>
        <p:nvSpPr>
          <p:cNvPr id="16" name="Text 13"/>
          <p:cNvSpPr txBox="1"/>
          <p:nvPr/>
        </p:nvSpPr>
        <p:spPr>
          <a:xfrm>
            <a:off x="6254496" y="1828800"/>
            <a:ext cx="2249424" cy="411480"/>
          </a:xfrm>
          <a:prstGeom prst="rect">
            <a:avLst/>
          </a:prstGeom>
          <a:noFill/>
          <a:ln/>
        </p:spPr>
        <p:txBody>
          <a:bodyPr wrap="square" lIns="0" tIns="0" rIns="0" bIns="0" rtlCol="0" anchor="t"/>
          <a:lstStyle/>
          <a:p>
            <a:pPr marL="0" indent="0">
              <a:buNone/>
            </a:pPr>
            <a:r>
              <a:rPr lang="it-IT" sz="1500" b="1" dirty="0">
                <a:solidFill>
                  <a:schemeClr val="tx1"/>
                </a:solidFill>
              </a:rPr>
              <a:t>È autorevole e aggiornata?</a:t>
            </a:r>
            <a:endParaRPr lang="it-IT" sz="1500" dirty="0"/>
          </a:p>
        </p:txBody>
      </p:sp>
      <p:sp>
        <p:nvSpPr>
          <p:cNvPr id="17" name="Text 14"/>
          <p:cNvSpPr txBox="1"/>
          <p:nvPr/>
        </p:nvSpPr>
        <p:spPr>
          <a:xfrm>
            <a:off x="6254496" y="2286000"/>
            <a:ext cx="2249424" cy="914400"/>
          </a:xfrm>
          <a:prstGeom prst="rect">
            <a:avLst/>
          </a:prstGeom>
          <a:noFill/>
          <a:ln/>
        </p:spPr>
        <p:txBody>
          <a:bodyPr wrap="square" lIns="0" tIns="0" rIns="0" bIns="0" rtlCol="0" anchor="t"/>
          <a:lstStyle/>
          <a:p>
            <a:pPr marL="0" indent="0">
              <a:buNone/>
            </a:pPr>
            <a:r>
              <a:rPr lang="it-IT" sz="1300" dirty="0">
                <a:solidFill>
                  <a:schemeClr val="tx2"/>
                </a:solidFill>
              </a:rPr>
              <a:t>Niente norme abrogate, opinioni o documenti superati.</a:t>
            </a:r>
            <a:endParaRPr lang="it-IT" sz="1300" dirty="0"/>
          </a:p>
        </p:txBody>
      </p:sp>
      <p:sp>
        <p:nvSpPr>
          <p:cNvPr id="18" name="scheda Affermazioni senza fonte"/>
          <p:cNvSpPr/>
          <p:nvPr/>
        </p:nvSpPr>
        <p:spPr>
          <a:xfrm>
            <a:off x="457200" y="3474720"/>
            <a:ext cx="3977640" cy="1051560"/>
          </a:xfrm>
          <a:prstGeom prst="roundRect">
            <a:avLst>
              <a:gd name="adj" fmla="val 6957"/>
            </a:avLst>
          </a:prstGeom>
          <a:solidFill>
            <a:schemeClr val="bg2"/>
          </a:solidFill>
          <a:ln/>
        </p:spPr>
        <p:txBody>
          <a:bodyPr/>
          <a:lstStyle/>
          <a:p>
            <a:endParaRPr lang="it-IT" dirty="0"/>
          </a:p>
        </p:txBody>
      </p:sp>
      <p:sp>
        <p:nvSpPr>
          <p:cNvPr id="19" name="cerchio FiExternalLink"/>
          <p:cNvSpPr/>
          <p:nvPr/>
        </p:nvSpPr>
        <p:spPr>
          <a:xfrm>
            <a:off x="640080" y="3657600"/>
            <a:ext cx="457200" cy="457200"/>
          </a:xfrm>
          <a:prstGeom prst="ellipse">
            <a:avLst/>
          </a:prstGeom>
          <a:solidFill>
            <a:schemeClr val="accent1"/>
          </a:solidFill>
          <a:ln/>
        </p:spPr>
        <p:txBody>
          <a:bodyPr/>
          <a:lstStyle/>
          <a:p>
            <a:endParaRPr lang="it-IT" dirty="0"/>
          </a:p>
        </p:txBody>
      </p:sp>
      <p:pic>
        <p:nvPicPr>
          <p:cNvPr id="20" name="Image 0" descr="FiExternalLink"/>
          <p:cNvPicPr>
            <a:picLocks noChangeAspect="1"/>
          </p:cNvPicPr>
          <p:nvPr/>
        </p:nvPicPr>
        <p:blipFill>
          <a:blip r:embed="rId3"/>
          <a:stretch>
            <a:fillRect/>
          </a:stretch>
        </p:blipFill>
        <p:spPr>
          <a:xfrm>
            <a:off x="754380" y="3771900"/>
            <a:ext cx="228600" cy="228600"/>
          </a:xfrm>
          <a:prstGeom prst="rect">
            <a:avLst/>
          </a:prstGeom>
        </p:spPr>
      </p:pic>
      <p:sp>
        <p:nvSpPr>
          <p:cNvPr id="21" name="Text 17"/>
          <p:cNvSpPr txBox="1"/>
          <p:nvPr/>
        </p:nvSpPr>
        <p:spPr>
          <a:xfrm>
            <a:off x="1234440" y="365760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Affermazioni senza fonte</a:t>
            </a:r>
            <a:endParaRPr lang="it-IT" sz="1500" dirty="0"/>
          </a:p>
        </p:txBody>
      </p:sp>
      <p:sp>
        <p:nvSpPr>
          <p:cNvPr id="22" name="Text 18"/>
          <p:cNvSpPr txBox="1"/>
          <p:nvPr/>
        </p:nvSpPr>
        <p:spPr>
          <a:xfrm>
            <a:off x="640080" y="4251960"/>
            <a:ext cx="3611880" cy="164592"/>
          </a:xfrm>
          <a:prstGeom prst="rect">
            <a:avLst/>
          </a:prstGeom>
          <a:noFill/>
          <a:ln/>
        </p:spPr>
        <p:txBody>
          <a:bodyPr wrap="square" lIns="0" tIns="0" rIns="0" bIns="0" rtlCol="0" anchor="t"/>
          <a:lstStyle/>
          <a:p>
            <a:pPr marL="0" indent="0">
              <a:buNone/>
            </a:pPr>
            <a:r>
              <a:rPr lang="it-IT" sz="1200" dirty="0">
                <a:solidFill>
                  <a:schemeClr val="tx2"/>
                </a:solidFill>
              </a:rPr>
              <a:t>Confrontarle con una fonte indipendente e affidabile.</a:t>
            </a:r>
            <a:endParaRPr lang="it-IT" sz="1200" dirty="0"/>
          </a:p>
        </p:txBody>
      </p:sp>
      <p:sp>
        <p:nvSpPr>
          <p:cNvPr id="23" name="scheda Fonti cliccabili"/>
          <p:cNvSpPr/>
          <p:nvPr/>
        </p:nvSpPr>
        <p:spPr>
          <a:xfrm>
            <a:off x="4709160" y="3474720"/>
            <a:ext cx="3977640" cy="1051560"/>
          </a:xfrm>
          <a:prstGeom prst="roundRect">
            <a:avLst>
              <a:gd name="adj" fmla="val 6957"/>
            </a:avLst>
          </a:prstGeom>
          <a:solidFill>
            <a:schemeClr val="accent6"/>
          </a:solidFill>
          <a:ln/>
        </p:spPr>
        <p:txBody>
          <a:bodyPr/>
          <a:lstStyle/>
          <a:p>
            <a:endParaRPr lang="it-IT" dirty="0"/>
          </a:p>
        </p:txBody>
      </p:sp>
      <p:sp>
        <p:nvSpPr>
          <p:cNvPr id="24" name="cerchio FiMousePointer"/>
          <p:cNvSpPr/>
          <p:nvPr/>
        </p:nvSpPr>
        <p:spPr>
          <a:xfrm>
            <a:off x="4892040" y="3657600"/>
            <a:ext cx="457200" cy="457200"/>
          </a:xfrm>
          <a:prstGeom prst="ellipse">
            <a:avLst/>
          </a:prstGeom>
          <a:solidFill>
            <a:schemeClr val="accent1"/>
          </a:solidFill>
          <a:ln/>
        </p:spPr>
        <p:txBody>
          <a:bodyPr/>
          <a:lstStyle/>
          <a:p>
            <a:endParaRPr lang="it-IT" dirty="0"/>
          </a:p>
        </p:txBody>
      </p:sp>
      <p:pic>
        <p:nvPicPr>
          <p:cNvPr id="25" name="Image 1" descr="FiMousePointer"/>
          <p:cNvPicPr>
            <a:picLocks noChangeAspect="1"/>
          </p:cNvPicPr>
          <p:nvPr/>
        </p:nvPicPr>
        <p:blipFill>
          <a:blip r:embed="rId4"/>
          <a:stretch>
            <a:fillRect/>
          </a:stretch>
        </p:blipFill>
        <p:spPr>
          <a:xfrm>
            <a:off x="5006340" y="3771900"/>
            <a:ext cx="228600" cy="228600"/>
          </a:xfrm>
          <a:prstGeom prst="rect">
            <a:avLst/>
          </a:prstGeom>
        </p:spPr>
      </p:pic>
      <p:sp>
        <p:nvSpPr>
          <p:cNvPr id="26" name="Text 21"/>
          <p:cNvSpPr txBox="1"/>
          <p:nvPr/>
        </p:nvSpPr>
        <p:spPr>
          <a:xfrm>
            <a:off x="5486400" y="365760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Fonti cliccabili</a:t>
            </a:r>
            <a:endParaRPr lang="it-IT" sz="1500" dirty="0"/>
          </a:p>
        </p:txBody>
      </p:sp>
      <p:sp>
        <p:nvSpPr>
          <p:cNvPr id="27" name="Text 22"/>
          <p:cNvSpPr txBox="1"/>
          <p:nvPr/>
        </p:nvSpPr>
        <p:spPr>
          <a:xfrm>
            <a:off x="4892040" y="4251960"/>
            <a:ext cx="3611880" cy="164592"/>
          </a:xfrm>
          <a:prstGeom prst="rect">
            <a:avLst/>
          </a:prstGeom>
          <a:noFill/>
          <a:ln/>
        </p:spPr>
        <p:txBody>
          <a:bodyPr wrap="square" lIns="0" tIns="0" rIns="0" bIns="0" rtlCol="0" anchor="t"/>
          <a:lstStyle/>
          <a:p>
            <a:pPr marL="0" indent="0">
              <a:buNone/>
            </a:pPr>
            <a:r>
              <a:rPr lang="it-IT" sz="1200" dirty="0">
                <a:solidFill>
                  <a:schemeClr val="tx2"/>
                </a:solidFill>
              </a:rPr>
              <a:t>Rendono la verifica rapida. Ma il clic va fatto.</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45</a:t>
            </a:fld>
            <a:endParaRPr lang="it-IT"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name="Slide 4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Controllare calcoli, dati e informazioni</a:t>
            </a:r>
            <a:endParaRPr lang="it-IT" sz="2600" dirty="0"/>
          </a:p>
        </p:txBody>
      </p:sp>
      <p:sp>
        <p:nvSpPr>
          <p:cNvPr id="4" name="Ricalcolare"/>
          <p:cNvSpPr/>
          <p:nvPr/>
        </p:nvSpPr>
        <p:spPr>
          <a:xfrm>
            <a:off x="457200" y="1097280"/>
            <a:ext cx="2621280" cy="1463040"/>
          </a:xfrm>
          <a:prstGeom prst="roundRect">
            <a:avLst>
              <a:gd name="adj" fmla="val 5000"/>
            </a:avLst>
          </a:prstGeom>
          <a:solidFill>
            <a:schemeClr val="bg2"/>
          </a:solidFill>
          <a:ln/>
        </p:spPr>
        <p:txBody>
          <a:bodyPr/>
          <a:lstStyle/>
          <a:p>
            <a:endParaRPr lang="it-IT" dirty="0"/>
          </a:p>
        </p:txBody>
      </p:sp>
      <p:sp>
        <p:nvSpPr>
          <p:cNvPr id="5" name="cerchio FiGrid"/>
          <p:cNvSpPr/>
          <p:nvPr/>
        </p:nvSpPr>
        <p:spPr>
          <a:xfrm>
            <a:off x="621792" y="1261872"/>
            <a:ext cx="438912" cy="438912"/>
          </a:xfrm>
          <a:prstGeom prst="ellipse">
            <a:avLst/>
          </a:prstGeom>
          <a:solidFill>
            <a:schemeClr val="accent1"/>
          </a:solidFill>
          <a:ln/>
        </p:spPr>
        <p:txBody>
          <a:bodyPr/>
          <a:lstStyle/>
          <a:p>
            <a:endParaRPr lang="it-IT" dirty="0"/>
          </a:p>
        </p:txBody>
      </p:sp>
      <p:pic>
        <p:nvPicPr>
          <p:cNvPr id="6" name="Image 0" descr="FiGrid"/>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Ricalcolare</a:t>
            </a:r>
            <a:endParaRPr lang="it-IT" sz="1300" dirty="0"/>
          </a:p>
        </p:txBody>
      </p:sp>
      <p:sp>
        <p:nvSpPr>
          <p:cNvPr id="8" name="Text 4"/>
          <p:cNvSpPr txBox="1"/>
          <p:nvPr/>
        </p:nvSpPr>
        <p:spPr>
          <a:xfrm>
            <a:off x="621792" y="1810512"/>
            <a:ext cx="2292096" cy="658368"/>
          </a:xfrm>
          <a:prstGeom prst="rect">
            <a:avLst/>
          </a:prstGeom>
          <a:noFill/>
          <a:ln/>
        </p:spPr>
        <p:txBody>
          <a:bodyPr wrap="square" lIns="0" tIns="0" rIns="0" bIns="0" rtlCol="0" anchor="t"/>
          <a:lstStyle/>
          <a:p>
            <a:pPr marL="0" indent="0">
              <a:buNone/>
            </a:pPr>
            <a:r>
              <a:rPr lang="it-IT" sz="1200" dirty="0">
                <a:solidFill>
                  <a:schemeClr val="tx2"/>
                </a:solidFill>
              </a:rPr>
              <a:t>Con un foglio di calcolo, o chiedendo l'esecuzione di codice</a:t>
            </a:r>
            <a:endParaRPr lang="it-IT" sz="1200" dirty="0"/>
          </a:p>
        </p:txBody>
      </p:sp>
      <p:sp>
        <p:nvSpPr>
          <p:cNvPr id="9" name="Confrontare con l'originale"/>
          <p:cNvSpPr/>
          <p:nvPr/>
        </p:nvSpPr>
        <p:spPr>
          <a:xfrm>
            <a:off x="3261360" y="1097280"/>
            <a:ext cx="2621280" cy="1463040"/>
          </a:xfrm>
          <a:prstGeom prst="roundRect">
            <a:avLst>
              <a:gd name="adj" fmla="val 5000"/>
            </a:avLst>
          </a:prstGeom>
          <a:solidFill>
            <a:schemeClr val="bg2"/>
          </a:solidFill>
          <a:ln/>
        </p:spPr>
        <p:txBody>
          <a:bodyPr/>
          <a:lstStyle/>
          <a:p>
            <a:endParaRPr lang="it-IT" dirty="0"/>
          </a:p>
        </p:txBody>
      </p:sp>
      <p:sp>
        <p:nvSpPr>
          <p:cNvPr id="10" name="cerchio FiColumns"/>
          <p:cNvSpPr/>
          <p:nvPr/>
        </p:nvSpPr>
        <p:spPr>
          <a:xfrm>
            <a:off x="3425952" y="1261872"/>
            <a:ext cx="438912" cy="438912"/>
          </a:xfrm>
          <a:prstGeom prst="ellipse">
            <a:avLst/>
          </a:prstGeom>
          <a:solidFill>
            <a:schemeClr val="accent1"/>
          </a:solidFill>
          <a:ln/>
        </p:spPr>
        <p:txBody>
          <a:bodyPr/>
          <a:lstStyle/>
          <a:p>
            <a:endParaRPr lang="it-IT" dirty="0"/>
          </a:p>
        </p:txBody>
      </p:sp>
      <p:pic>
        <p:nvPicPr>
          <p:cNvPr id="11" name="Image 1" descr="FiColumns"/>
          <p:cNvPicPr>
            <a:picLocks noChangeAspect="1"/>
          </p:cNvPicPr>
          <p:nvPr/>
        </p:nvPicPr>
        <p:blipFill>
          <a:blip r:embed="rId4"/>
          <a:stretch>
            <a:fillRect/>
          </a:stretch>
        </p:blipFill>
        <p:spPr>
          <a:xfrm>
            <a:off x="3535680" y="1371600"/>
            <a:ext cx="219456" cy="219456"/>
          </a:xfrm>
          <a:prstGeom prst="rect">
            <a:avLst/>
          </a:prstGeom>
        </p:spPr>
      </p:pic>
      <p:sp>
        <p:nvSpPr>
          <p:cNvPr id="12" name="Text 7"/>
          <p:cNvSpPr txBox="1"/>
          <p:nvPr/>
        </p:nvSpPr>
        <p:spPr>
          <a:xfrm>
            <a:off x="3974592" y="122529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Confrontare con l'originale</a:t>
            </a:r>
            <a:endParaRPr lang="it-IT" sz="1300" dirty="0"/>
          </a:p>
        </p:txBody>
      </p:sp>
      <p:sp>
        <p:nvSpPr>
          <p:cNvPr id="13" name="Text 8"/>
          <p:cNvSpPr txBox="1"/>
          <p:nvPr/>
        </p:nvSpPr>
        <p:spPr>
          <a:xfrm>
            <a:off x="3425952" y="1810512"/>
            <a:ext cx="2292096" cy="658368"/>
          </a:xfrm>
          <a:prstGeom prst="rect">
            <a:avLst/>
          </a:prstGeom>
          <a:noFill/>
          <a:ln/>
        </p:spPr>
        <p:txBody>
          <a:bodyPr wrap="square" lIns="0" tIns="0" rIns="0" bIns="0" rtlCol="0" anchor="t"/>
          <a:lstStyle/>
          <a:p>
            <a:pPr marL="0" indent="0">
              <a:buNone/>
            </a:pPr>
            <a:r>
              <a:rPr lang="it-IT" sz="1200" dirty="0">
                <a:solidFill>
                  <a:schemeClr val="tx2"/>
                </a:solidFill>
              </a:rPr>
              <a:t>A campione, o tutti se i dati sono critici</a:t>
            </a:r>
            <a:endParaRPr lang="it-IT" sz="1200" dirty="0"/>
          </a:p>
        </p:txBody>
      </p:sp>
      <p:sp>
        <p:nvSpPr>
          <p:cNvPr id="14" name="Controlli di plausibilità"/>
          <p:cNvSpPr/>
          <p:nvPr/>
        </p:nvSpPr>
        <p:spPr>
          <a:xfrm>
            <a:off x="6065520" y="1097280"/>
            <a:ext cx="2621280" cy="1463040"/>
          </a:xfrm>
          <a:prstGeom prst="roundRect">
            <a:avLst>
              <a:gd name="adj" fmla="val 5000"/>
            </a:avLst>
          </a:prstGeom>
          <a:solidFill>
            <a:schemeClr val="bg2"/>
          </a:solidFill>
          <a:ln/>
        </p:spPr>
        <p:txBody>
          <a:bodyPr/>
          <a:lstStyle/>
          <a:p>
            <a:endParaRPr lang="it-IT" dirty="0"/>
          </a:p>
        </p:txBody>
      </p:sp>
      <p:sp>
        <p:nvSpPr>
          <p:cNvPr id="15" name="cerchio FiActivity"/>
          <p:cNvSpPr/>
          <p:nvPr/>
        </p:nvSpPr>
        <p:spPr>
          <a:xfrm>
            <a:off x="6230112" y="1261872"/>
            <a:ext cx="438912" cy="438912"/>
          </a:xfrm>
          <a:prstGeom prst="ellipse">
            <a:avLst/>
          </a:prstGeom>
          <a:solidFill>
            <a:schemeClr val="accent1"/>
          </a:solidFill>
          <a:ln/>
        </p:spPr>
        <p:txBody>
          <a:bodyPr/>
          <a:lstStyle/>
          <a:p>
            <a:endParaRPr lang="it-IT" dirty="0"/>
          </a:p>
        </p:txBody>
      </p:sp>
      <p:pic>
        <p:nvPicPr>
          <p:cNvPr id="16" name="Image 2" descr="FiActivity"/>
          <p:cNvPicPr>
            <a:picLocks noChangeAspect="1"/>
          </p:cNvPicPr>
          <p:nvPr/>
        </p:nvPicPr>
        <p:blipFill>
          <a:blip r:embed="rId5"/>
          <a:stretch>
            <a:fillRect/>
          </a:stretch>
        </p:blipFill>
        <p:spPr>
          <a:xfrm>
            <a:off x="6339840" y="1371600"/>
            <a:ext cx="219456" cy="219456"/>
          </a:xfrm>
          <a:prstGeom prst="rect">
            <a:avLst/>
          </a:prstGeom>
        </p:spPr>
      </p:pic>
      <p:sp>
        <p:nvSpPr>
          <p:cNvPr id="17" name="Text 11"/>
          <p:cNvSpPr txBox="1"/>
          <p:nvPr/>
        </p:nvSpPr>
        <p:spPr>
          <a:xfrm>
            <a:off x="6778752" y="122529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Controlli di plausibilità</a:t>
            </a:r>
            <a:endParaRPr lang="it-IT" sz="1300" dirty="0"/>
          </a:p>
        </p:txBody>
      </p:sp>
      <p:sp>
        <p:nvSpPr>
          <p:cNvPr id="18" name="Text 12"/>
          <p:cNvSpPr txBox="1"/>
          <p:nvPr/>
        </p:nvSpPr>
        <p:spPr>
          <a:xfrm>
            <a:off x="6230112" y="1810512"/>
            <a:ext cx="2292096" cy="658368"/>
          </a:xfrm>
          <a:prstGeom prst="rect">
            <a:avLst/>
          </a:prstGeom>
          <a:noFill/>
          <a:ln/>
        </p:spPr>
        <p:txBody>
          <a:bodyPr wrap="square" lIns="0" tIns="0" rIns="0" bIns="0" rtlCol="0" anchor="t"/>
          <a:lstStyle/>
          <a:p>
            <a:pPr marL="0" indent="0">
              <a:buNone/>
            </a:pPr>
            <a:r>
              <a:rPr lang="it-IT" sz="1200" dirty="0">
                <a:solidFill>
                  <a:schemeClr val="tx2"/>
                </a:solidFill>
              </a:rPr>
              <a:t>Ordini di grandezza, totali, percentuali, date</a:t>
            </a:r>
            <a:endParaRPr lang="it-IT" sz="1200" dirty="0"/>
          </a:p>
        </p:txBody>
      </p:sp>
      <p:sp>
        <p:nvSpPr>
          <p:cNvPr id="19" name="Unità e formati"/>
          <p:cNvSpPr/>
          <p:nvPr/>
        </p:nvSpPr>
        <p:spPr>
          <a:xfrm>
            <a:off x="457200" y="2743200"/>
            <a:ext cx="4023360" cy="1188720"/>
          </a:xfrm>
          <a:prstGeom prst="roundRect">
            <a:avLst>
              <a:gd name="adj" fmla="val 6154"/>
            </a:avLst>
          </a:prstGeom>
          <a:solidFill>
            <a:schemeClr val="bg2"/>
          </a:solidFill>
          <a:ln/>
        </p:spPr>
        <p:txBody>
          <a:bodyPr/>
          <a:lstStyle/>
          <a:p>
            <a:endParaRPr lang="it-IT" dirty="0"/>
          </a:p>
        </p:txBody>
      </p:sp>
      <p:sp>
        <p:nvSpPr>
          <p:cNvPr id="20" name="cerchio FiDollarSign"/>
          <p:cNvSpPr/>
          <p:nvPr/>
        </p:nvSpPr>
        <p:spPr>
          <a:xfrm>
            <a:off x="621792" y="2907792"/>
            <a:ext cx="438912" cy="438912"/>
          </a:xfrm>
          <a:prstGeom prst="ellipse">
            <a:avLst/>
          </a:prstGeom>
          <a:solidFill>
            <a:schemeClr val="accent1"/>
          </a:solidFill>
          <a:ln/>
        </p:spPr>
        <p:txBody>
          <a:bodyPr/>
          <a:lstStyle/>
          <a:p>
            <a:endParaRPr lang="it-IT" dirty="0"/>
          </a:p>
        </p:txBody>
      </p:sp>
      <p:pic>
        <p:nvPicPr>
          <p:cNvPr id="21" name="Image 3" descr="FiDollarSign"/>
          <p:cNvPicPr>
            <a:picLocks noChangeAspect="1"/>
          </p:cNvPicPr>
          <p:nvPr/>
        </p:nvPicPr>
        <p:blipFill>
          <a:blip r:embed="rId6"/>
          <a:stretch>
            <a:fillRect/>
          </a:stretch>
        </p:blipFill>
        <p:spPr>
          <a:xfrm>
            <a:off x="731520" y="3017520"/>
            <a:ext cx="219456" cy="219456"/>
          </a:xfrm>
          <a:prstGeom prst="rect">
            <a:avLst/>
          </a:prstGeom>
        </p:spPr>
      </p:pic>
      <p:sp>
        <p:nvSpPr>
          <p:cNvPr id="22" name="Text 15"/>
          <p:cNvSpPr txBox="1"/>
          <p:nvPr/>
        </p:nvSpPr>
        <p:spPr>
          <a:xfrm>
            <a:off x="1170432" y="2871216"/>
            <a:ext cx="3200400" cy="512064"/>
          </a:xfrm>
          <a:prstGeom prst="rect">
            <a:avLst/>
          </a:prstGeom>
          <a:noFill/>
          <a:ln/>
        </p:spPr>
        <p:txBody>
          <a:bodyPr wrap="square" lIns="0" tIns="0" rIns="0" bIns="0" rtlCol="0" anchor="ctr"/>
          <a:lstStyle/>
          <a:p>
            <a:pPr marL="0" indent="0">
              <a:buNone/>
            </a:pPr>
            <a:r>
              <a:rPr lang="it-IT" sz="1300" b="1" dirty="0">
                <a:solidFill>
                  <a:schemeClr val="tx1"/>
                </a:solidFill>
              </a:rPr>
              <a:t>Unità e formati</a:t>
            </a:r>
            <a:endParaRPr lang="it-IT" sz="1300" dirty="0"/>
          </a:p>
        </p:txBody>
      </p:sp>
      <p:sp>
        <p:nvSpPr>
          <p:cNvPr id="23" name="Text 16"/>
          <p:cNvSpPr txBox="1"/>
          <p:nvPr/>
        </p:nvSpPr>
        <p:spPr>
          <a:xfrm>
            <a:off x="621792" y="3456432"/>
            <a:ext cx="3694176" cy="384048"/>
          </a:xfrm>
          <a:prstGeom prst="rect">
            <a:avLst/>
          </a:prstGeom>
          <a:noFill/>
          <a:ln/>
        </p:spPr>
        <p:txBody>
          <a:bodyPr wrap="square" lIns="0" tIns="0" rIns="0" bIns="0" rtlCol="0" anchor="t"/>
          <a:lstStyle/>
          <a:p>
            <a:pPr marL="0" indent="0">
              <a:buNone/>
            </a:pPr>
            <a:r>
              <a:rPr lang="it-IT" sz="1200" dirty="0">
                <a:solidFill>
                  <a:schemeClr val="tx2"/>
                </a:solidFill>
              </a:rPr>
              <a:t>Valute, unità di misura, separatori decimali</a:t>
            </a:r>
            <a:endParaRPr lang="it-IT" sz="1200" dirty="0"/>
          </a:p>
        </p:txBody>
      </p:sp>
      <p:sp>
        <p:nvSpPr>
          <p:cNvPr id="24" name="Dato giusto, riferimento giusto"/>
          <p:cNvSpPr/>
          <p:nvPr/>
        </p:nvSpPr>
        <p:spPr>
          <a:xfrm>
            <a:off x="4663440" y="2743200"/>
            <a:ext cx="4023360" cy="1188720"/>
          </a:xfrm>
          <a:prstGeom prst="roundRect">
            <a:avLst>
              <a:gd name="adj" fmla="val 6154"/>
            </a:avLst>
          </a:prstGeom>
          <a:solidFill>
            <a:schemeClr val="bg2"/>
          </a:solidFill>
          <a:ln/>
        </p:spPr>
        <p:txBody>
          <a:bodyPr/>
          <a:lstStyle/>
          <a:p>
            <a:endParaRPr lang="it-IT" dirty="0"/>
          </a:p>
        </p:txBody>
      </p:sp>
      <p:sp>
        <p:nvSpPr>
          <p:cNvPr id="25" name="cerchio FiCalendar"/>
          <p:cNvSpPr/>
          <p:nvPr/>
        </p:nvSpPr>
        <p:spPr>
          <a:xfrm>
            <a:off x="4828032" y="2907792"/>
            <a:ext cx="438912" cy="438912"/>
          </a:xfrm>
          <a:prstGeom prst="ellipse">
            <a:avLst/>
          </a:prstGeom>
          <a:solidFill>
            <a:schemeClr val="accent1"/>
          </a:solidFill>
          <a:ln/>
        </p:spPr>
        <p:txBody>
          <a:bodyPr/>
          <a:lstStyle/>
          <a:p>
            <a:endParaRPr lang="it-IT" dirty="0"/>
          </a:p>
        </p:txBody>
      </p:sp>
      <p:pic>
        <p:nvPicPr>
          <p:cNvPr id="26" name="Image 4" descr="FiCalendar"/>
          <p:cNvPicPr>
            <a:picLocks noChangeAspect="1"/>
          </p:cNvPicPr>
          <p:nvPr/>
        </p:nvPicPr>
        <p:blipFill>
          <a:blip r:embed="rId7"/>
          <a:stretch>
            <a:fillRect/>
          </a:stretch>
        </p:blipFill>
        <p:spPr>
          <a:xfrm>
            <a:off x="4937760" y="3017520"/>
            <a:ext cx="219456" cy="219456"/>
          </a:xfrm>
          <a:prstGeom prst="rect">
            <a:avLst/>
          </a:prstGeom>
        </p:spPr>
      </p:pic>
      <p:sp>
        <p:nvSpPr>
          <p:cNvPr id="27" name="Text 19"/>
          <p:cNvSpPr txBox="1"/>
          <p:nvPr/>
        </p:nvSpPr>
        <p:spPr>
          <a:xfrm>
            <a:off x="5376672" y="2871216"/>
            <a:ext cx="3200400" cy="512064"/>
          </a:xfrm>
          <a:prstGeom prst="rect">
            <a:avLst/>
          </a:prstGeom>
          <a:noFill/>
          <a:ln/>
        </p:spPr>
        <p:txBody>
          <a:bodyPr wrap="square" lIns="0" tIns="0" rIns="0" bIns="0" rtlCol="0" anchor="ctr"/>
          <a:lstStyle/>
          <a:p>
            <a:pPr marL="0" indent="0">
              <a:buNone/>
            </a:pPr>
            <a:r>
              <a:rPr lang="it-IT" sz="1300" b="1" dirty="0">
                <a:solidFill>
                  <a:schemeClr val="tx1"/>
                </a:solidFill>
              </a:rPr>
              <a:t>Dato giusto, riferimento giusto</a:t>
            </a:r>
            <a:endParaRPr lang="it-IT" sz="1300" dirty="0"/>
          </a:p>
        </p:txBody>
      </p:sp>
      <p:sp>
        <p:nvSpPr>
          <p:cNvPr id="28" name="Text 20"/>
          <p:cNvSpPr txBox="1"/>
          <p:nvPr/>
        </p:nvSpPr>
        <p:spPr>
          <a:xfrm>
            <a:off x="4828032" y="3456432"/>
            <a:ext cx="3694176" cy="384048"/>
          </a:xfrm>
          <a:prstGeom prst="rect">
            <a:avLst/>
          </a:prstGeom>
          <a:noFill/>
          <a:ln/>
        </p:spPr>
        <p:txBody>
          <a:bodyPr wrap="square" lIns="0" tIns="0" rIns="0" bIns="0" rtlCol="0" anchor="t"/>
          <a:lstStyle/>
          <a:p>
            <a:pPr marL="0" indent="0">
              <a:buNone/>
            </a:pPr>
            <a:r>
              <a:rPr lang="it-IT" sz="1200" dirty="0">
                <a:solidFill>
                  <a:schemeClr val="tx2"/>
                </a:solidFill>
              </a:rPr>
              <a:t>Periodo, entità, versione corretti</a:t>
            </a:r>
            <a:endParaRPr lang="it-IT" sz="1200" dirty="0"/>
          </a:p>
        </p:txBody>
      </p:sp>
      <p:sp>
        <p:nvSpPr>
          <p:cNvPr id="29" name="Text 21"/>
          <p:cNvSpPr txBox="1"/>
          <p:nvPr/>
        </p:nvSpPr>
        <p:spPr>
          <a:xfrm>
            <a:off x="457200" y="4114800"/>
            <a:ext cx="8229600" cy="365760"/>
          </a:xfrm>
          <a:prstGeom prst="rect">
            <a:avLst/>
          </a:prstGeom>
          <a:noFill/>
          <a:ln/>
        </p:spPr>
        <p:txBody>
          <a:bodyPr wrap="square" lIns="0" tIns="0" rIns="0" bIns="0" rtlCol="0" anchor="t"/>
          <a:lstStyle/>
          <a:p>
            <a:pPr marL="0" indent="0">
              <a:buNone/>
            </a:pPr>
            <a:r>
              <a:rPr lang="it-IT" sz="1300" i="1" dirty="0">
                <a:solidFill>
                  <a:schemeClr val="tx1"/>
                </a:solidFill>
              </a:rPr>
              <a:t>Pochi minuti di controllo prevengono gli errori più costosi.</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46</a:t>
            </a:fld>
            <a:endParaRPr lang="it-IT"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name="Slide 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Completezza, coerenza e tracciabilità</a:t>
            </a:r>
            <a:endParaRPr lang="it-IT" sz="2600" dirty="0"/>
          </a:p>
        </p:txBody>
      </p:sp>
      <p:sp>
        <p:nvSpPr>
          <p:cNvPr id="4" name="scheda Completezza"/>
          <p:cNvSpPr/>
          <p:nvPr/>
        </p:nvSpPr>
        <p:spPr>
          <a:xfrm>
            <a:off x="457200" y="1097280"/>
            <a:ext cx="2615184" cy="2514600"/>
          </a:xfrm>
          <a:prstGeom prst="roundRect">
            <a:avLst>
              <a:gd name="adj" fmla="val 2909"/>
            </a:avLst>
          </a:prstGeom>
          <a:solidFill>
            <a:schemeClr val="bg2"/>
          </a:solidFill>
          <a:ln/>
        </p:spPr>
        <p:txBody>
          <a:bodyPr/>
          <a:lstStyle/>
          <a:p>
            <a:endParaRPr lang="it-IT" dirty="0"/>
          </a:p>
        </p:txBody>
      </p:sp>
      <p:sp>
        <p:nvSpPr>
          <p:cNvPr id="5" name="cerchio FiCheckSquare"/>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CheckSquar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marL="0" indent="0">
              <a:buNone/>
            </a:pPr>
            <a:r>
              <a:rPr lang="it-IT" sz="1500" b="1" dirty="0">
                <a:solidFill>
                  <a:schemeClr val="tx1"/>
                </a:solidFill>
              </a:rPr>
              <a:t>Completezza</a:t>
            </a:r>
            <a:endParaRPr lang="it-IT" sz="1500" dirty="0"/>
          </a:p>
        </p:txBody>
      </p:sp>
      <p:sp>
        <p:nvSpPr>
          <p:cNvPr id="8" name="Text 4"/>
          <p:cNvSpPr txBox="1"/>
          <p:nvPr/>
        </p:nvSpPr>
        <p:spPr>
          <a:xfrm>
            <a:off x="640080" y="2231136"/>
            <a:ext cx="2249424" cy="1271016"/>
          </a:xfrm>
          <a:prstGeom prst="rect">
            <a:avLst/>
          </a:prstGeom>
          <a:noFill/>
          <a:ln/>
        </p:spPr>
        <p:txBody>
          <a:bodyPr wrap="square" lIns="0" tIns="0" rIns="0" bIns="0" rtlCol="0" anchor="t"/>
          <a:lstStyle/>
          <a:p>
            <a:pPr marL="0" indent="0">
              <a:buNone/>
            </a:pPr>
            <a:r>
              <a:rPr lang="it-IT" sz="1200" dirty="0">
                <a:solidFill>
                  <a:schemeClr val="tx2"/>
                </a:solidFill>
              </a:rPr>
              <a:t>Tutto ciò che era richiesto è presente?</a:t>
            </a:r>
            <a:endParaRPr lang="it-IT" sz="1200" dirty="0"/>
          </a:p>
          <a:p>
            <a:pPr marL="0" indent="0">
              <a:buNone/>
            </a:pPr>
            <a:endParaRPr lang="it-IT" sz="1200" dirty="0"/>
          </a:p>
          <a:p>
            <a:pPr marL="0" indent="0">
              <a:buNone/>
            </a:pPr>
            <a:r>
              <a:rPr lang="it-IT" sz="1200" dirty="0">
                <a:solidFill>
                  <a:schemeClr val="tx2"/>
                </a:solidFill>
              </a:rPr>
              <a:t>Le omissioni non si vedono: spuntare ogni punto della richiesta.</a:t>
            </a:r>
            <a:endParaRPr lang="it-IT" sz="1200" dirty="0"/>
          </a:p>
        </p:txBody>
      </p:sp>
      <p:sp>
        <p:nvSpPr>
          <p:cNvPr id="9" name="scheda Coerenza"/>
          <p:cNvSpPr/>
          <p:nvPr/>
        </p:nvSpPr>
        <p:spPr>
          <a:xfrm>
            <a:off x="3264408" y="1097280"/>
            <a:ext cx="2615184" cy="2514600"/>
          </a:xfrm>
          <a:prstGeom prst="roundRect">
            <a:avLst>
              <a:gd name="adj" fmla="val 2909"/>
            </a:avLst>
          </a:prstGeom>
          <a:solidFill>
            <a:schemeClr val="bg2"/>
          </a:solidFill>
          <a:ln/>
        </p:spPr>
        <p:txBody>
          <a:bodyPr/>
          <a:lstStyle/>
          <a:p>
            <a:endParaRPr lang="it-IT" dirty="0"/>
          </a:p>
        </p:txBody>
      </p:sp>
      <p:sp>
        <p:nvSpPr>
          <p:cNvPr id="10" name="cerchio FiGitMerge"/>
          <p:cNvSpPr/>
          <p:nvPr/>
        </p:nvSpPr>
        <p:spPr>
          <a:xfrm>
            <a:off x="3447288" y="1280160"/>
            <a:ext cx="457200" cy="457200"/>
          </a:xfrm>
          <a:prstGeom prst="ellipse">
            <a:avLst/>
          </a:prstGeom>
          <a:solidFill>
            <a:schemeClr val="accent1"/>
          </a:solidFill>
          <a:ln/>
        </p:spPr>
        <p:txBody>
          <a:bodyPr/>
          <a:lstStyle/>
          <a:p>
            <a:endParaRPr lang="it-IT" dirty="0"/>
          </a:p>
        </p:txBody>
      </p:sp>
      <p:pic>
        <p:nvPicPr>
          <p:cNvPr id="11" name="Image 1" descr="FiGitMerge"/>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marL="0" indent="0">
              <a:buNone/>
            </a:pPr>
            <a:r>
              <a:rPr lang="it-IT" sz="1500" b="1" dirty="0">
                <a:solidFill>
                  <a:schemeClr val="tx1"/>
                </a:solidFill>
              </a:rPr>
              <a:t>Coerenza</a:t>
            </a:r>
            <a:endParaRPr lang="it-IT" sz="1500" dirty="0"/>
          </a:p>
        </p:txBody>
      </p:sp>
      <p:sp>
        <p:nvSpPr>
          <p:cNvPr id="13" name="Text 8"/>
          <p:cNvSpPr txBox="1"/>
          <p:nvPr/>
        </p:nvSpPr>
        <p:spPr>
          <a:xfrm>
            <a:off x="3447288" y="2231136"/>
            <a:ext cx="2249424" cy="1271016"/>
          </a:xfrm>
          <a:prstGeom prst="rect">
            <a:avLst/>
          </a:prstGeom>
          <a:noFill/>
          <a:ln/>
        </p:spPr>
        <p:txBody>
          <a:bodyPr wrap="square" lIns="0" tIns="0" rIns="0" bIns="0" rtlCol="0" anchor="t"/>
          <a:lstStyle/>
          <a:p>
            <a:pPr marL="0" indent="0">
              <a:buNone/>
            </a:pPr>
            <a:r>
              <a:rPr lang="it-IT" sz="1200" dirty="0">
                <a:solidFill>
                  <a:schemeClr val="tx2"/>
                </a:solidFill>
              </a:rPr>
              <a:t>Nessuna contraddizione interna.</a:t>
            </a:r>
            <a:endParaRPr lang="it-IT" sz="1200" dirty="0"/>
          </a:p>
          <a:p>
            <a:pPr marL="0" indent="0">
              <a:buNone/>
            </a:pPr>
            <a:endParaRPr lang="it-IT" sz="1200" dirty="0"/>
          </a:p>
          <a:p>
            <a:pPr marL="0" indent="0">
              <a:buNone/>
            </a:pPr>
            <a:r>
              <a:rPr lang="it-IT" sz="1200" dirty="0">
                <a:solidFill>
                  <a:schemeClr val="tx2"/>
                </a:solidFill>
              </a:rPr>
              <a:t>Coerenza con istruzioni, contesto e ciò che sappiamo.</a:t>
            </a:r>
            <a:endParaRPr lang="it-IT" sz="1200" dirty="0"/>
          </a:p>
        </p:txBody>
      </p:sp>
      <p:sp>
        <p:nvSpPr>
          <p:cNvPr id="14" name="scheda Tracciabilità"/>
          <p:cNvSpPr/>
          <p:nvPr/>
        </p:nvSpPr>
        <p:spPr>
          <a:xfrm>
            <a:off x="6071616" y="1097280"/>
            <a:ext cx="2615184" cy="2514600"/>
          </a:xfrm>
          <a:prstGeom prst="roundRect">
            <a:avLst>
              <a:gd name="adj" fmla="val 2909"/>
            </a:avLst>
          </a:prstGeom>
          <a:solidFill>
            <a:schemeClr val="accent6"/>
          </a:solidFill>
          <a:ln/>
        </p:spPr>
        <p:txBody>
          <a:bodyPr/>
          <a:lstStyle/>
          <a:p>
            <a:endParaRPr lang="it-IT" dirty="0"/>
          </a:p>
        </p:txBody>
      </p:sp>
      <p:sp>
        <p:nvSpPr>
          <p:cNvPr id="15" name="cerchio FiMap"/>
          <p:cNvSpPr/>
          <p:nvPr/>
        </p:nvSpPr>
        <p:spPr>
          <a:xfrm>
            <a:off x="6254496" y="1280160"/>
            <a:ext cx="457200" cy="457200"/>
          </a:xfrm>
          <a:prstGeom prst="ellipse">
            <a:avLst/>
          </a:prstGeom>
          <a:solidFill>
            <a:schemeClr val="accent1"/>
          </a:solidFill>
          <a:ln/>
        </p:spPr>
        <p:txBody>
          <a:bodyPr/>
          <a:lstStyle/>
          <a:p>
            <a:endParaRPr lang="it-IT" dirty="0"/>
          </a:p>
        </p:txBody>
      </p:sp>
      <p:pic>
        <p:nvPicPr>
          <p:cNvPr id="16" name="Image 2" descr="FiMap"/>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marL="0" indent="0">
              <a:buNone/>
            </a:pPr>
            <a:r>
              <a:rPr lang="it-IT" sz="1500" b="1" dirty="0">
                <a:solidFill>
                  <a:schemeClr val="tx1"/>
                </a:solidFill>
              </a:rPr>
              <a:t>Tracciabilità</a:t>
            </a:r>
            <a:endParaRPr lang="it-IT" sz="1500" dirty="0"/>
          </a:p>
        </p:txBody>
      </p:sp>
      <p:sp>
        <p:nvSpPr>
          <p:cNvPr id="18" name="Text 12"/>
          <p:cNvSpPr txBox="1"/>
          <p:nvPr/>
        </p:nvSpPr>
        <p:spPr>
          <a:xfrm>
            <a:off x="6254496" y="2231136"/>
            <a:ext cx="2249424" cy="1271016"/>
          </a:xfrm>
          <a:prstGeom prst="rect">
            <a:avLst/>
          </a:prstGeom>
          <a:noFill/>
          <a:ln/>
        </p:spPr>
        <p:txBody>
          <a:bodyPr wrap="square" lIns="0" tIns="0" rIns="0" bIns="0" rtlCol="0" anchor="t"/>
          <a:lstStyle/>
          <a:p>
            <a:pPr marL="0" indent="0">
              <a:buNone/>
            </a:pPr>
            <a:r>
              <a:rPr lang="it-IT" sz="1200" dirty="0">
                <a:solidFill>
                  <a:schemeClr val="tx2"/>
                </a:solidFill>
              </a:rPr>
              <a:t>Sapere da dove viene ogni informazione importante.</a:t>
            </a:r>
            <a:endParaRPr lang="it-IT" sz="1200" dirty="0"/>
          </a:p>
          <a:p>
            <a:pPr marL="0" indent="0">
              <a:buNone/>
            </a:pPr>
            <a:endParaRPr lang="it-IT" sz="1200" dirty="0"/>
          </a:p>
          <a:p>
            <a:pPr marL="0" indent="0">
              <a:buNone/>
            </a:pPr>
            <a:r>
              <a:rPr lang="it-IT" sz="1200" dirty="0">
                <a:solidFill>
                  <a:schemeClr val="tx2"/>
                </a:solidFill>
              </a:rPr>
              <a:t>Conservare le fonti, annotare l'uso dell'AI quando rilevante.</a:t>
            </a:r>
            <a:endParaRPr lang="it-IT" sz="1200" dirty="0"/>
          </a:p>
        </p:txBody>
      </p:sp>
      <p:sp>
        <p:nvSpPr>
          <p:cNvPr id="19" name="messaggio"/>
          <p:cNvSpPr/>
          <p:nvPr/>
        </p:nvSpPr>
        <p:spPr>
          <a:xfrm>
            <a:off x="457200" y="3794760"/>
            <a:ext cx="8229600" cy="731520"/>
          </a:xfrm>
          <a:prstGeom prst="roundRect">
            <a:avLst>
              <a:gd name="adj" fmla="val 10000"/>
            </a:avLst>
          </a:prstGeom>
          <a:solidFill>
            <a:schemeClr val="tx1"/>
          </a:solidFill>
          <a:ln/>
        </p:spPr>
        <p:txBody>
          <a:bodyPr/>
          <a:lstStyle/>
          <a:p>
            <a:endParaRPr lang="it-IT" dirty="0"/>
          </a:p>
        </p:txBody>
      </p:sp>
      <p:sp>
        <p:nvSpPr>
          <p:cNvPr id="20" name="Text 14"/>
          <p:cNvSpPr txBox="1"/>
          <p:nvPr/>
        </p:nvSpPr>
        <p:spPr>
          <a:xfrm>
            <a:off x="640080" y="3794760"/>
            <a:ext cx="7863840" cy="731520"/>
          </a:xfrm>
          <a:prstGeom prst="rect">
            <a:avLst/>
          </a:prstGeom>
          <a:noFill/>
          <a:ln/>
        </p:spPr>
        <p:txBody>
          <a:bodyPr wrap="square" lIns="0" tIns="0" rIns="0" bIns="0" rtlCol="0" anchor="ctr"/>
          <a:lstStyle/>
          <a:p>
            <a:pPr marL="0" indent="0">
              <a:buNone/>
            </a:pPr>
            <a:r>
              <a:rPr lang="it-IT" sz="1300" dirty="0">
                <a:solidFill>
                  <a:schemeClr val="bg1"/>
                </a:solidFill>
              </a:rPr>
              <a:t>Esempio: un riassunto accurato in ogni frase, che omette proprio la clausola di recesso.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47</a:t>
            </a:fld>
            <a:endParaRPr lang="it-IT"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I limiti dell'autoverifica</a:t>
            </a:r>
            <a:endParaRPr lang="it-IT" sz="2600" dirty="0"/>
          </a:p>
        </p:txBody>
      </p:sp>
      <p:sp>
        <p:nvSpPr>
          <p:cNvPr id="4" name="scheda Utile come primo filtro"/>
          <p:cNvSpPr/>
          <p:nvPr/>
        </p:nvSpPr>
        <p:spPr>
          <a:xfrm>
            <a:off x="457200" y="1097280"/>
            <a:ext cx="3017520" cy="3429000"/>
          </a:xfrm>
          <a:prstGeom prst="roundRect">
            <a:avLst>
              <a:gd name="adj" fmla="val 2424"/>
            </a:avLst>
          </a:prstGeom>
          <a:solidFill>
            <a:schemeClr val="accent6"/>
          </a:solidFill>
          <a:ln/>
        </p:spPr>
        <p:txBody>
          <a:bodyPr/>
          <a:lstStyle/>
          <a:p>
            <a:endParaRPr lang="it-IT" dirty="0"/>
          </a:p>
        </p:txBody>
      </p:sp>
      <p:sp>
        <p:nvSpPr>
          <p:cNvPr id="5" name="cerchio FiFilter"/>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Filter"/>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651760" cy="347472"/>
          </a:xfrm>
          <a:prstGeom prst="rect">
            <a:avLst/>
          </a:prstGeom>
          <a:noFill/>
          <a:ln/>
        </p:spPr>
        <p:txBody>
          <a:bodyPr wrap="square" lIns="0" tIns="0" rIns="0" bIns="0" rtlCol="0" anchor="t"/>
          <a:lstStyle/>
          <a:p>
            <a:pPr marL="0" indent="0">
              <a:buNone/>
            </a:pPr>
            <a:r>
              <a:rPr lang="it-IT" sz="1500" b="1" dirty="0">
                <a:solidFill>
                  <a:schemeClr val="tx1"/>
                </a:solidFill>
              </a:rPr>
              <a:t>Utile come primo filtro</a:t>
            </a:r>
            <a:endParaRPr lang="it-IT" sz="1500" dirty="0"/>
          </a:p>
        </p:txBody>
      </p:sp>
      <p:sp>
        <p:nvSpPr>
          <p:cNvPr id="8" name="Text 4"/>
          <p:cNvSpPr txBox="1"/>
          <p:nvPr/>
        </p:nvSpPr>
        <p:spPr>
          <a:xfrm>
            <a:off x="640080" y="2231136"/>
            <a:ext cx="2651760" cy="2185416"/>
          </a:xfrm>
          <a:prstGeom prst="rect">
            <a:avLst/>
          </a:prstGeom>
          <a:noFill/>
          <a:ln/>
        </p:spPr>
        <p:txBody>
          <a:bodyPr wrap="square" lIns="0" tIns="0" rIns="0" bIns="0" rtlCol="0" anchor="t"/>
          <a:lstStyle/>
          <a:p>
            <a:pPr marL="177800" indent="-177800">
              <a:spcAft>
                <a:spcPts val="400"/>
              </a:spcAft>
              <a:buSzPct val="100000"/>
              <a:buChar char="•"/>
            </a:pPr>
            <a:r>
              <a:rPr lang="it-IT" sz="1300" dirty="0">
                <a:solidFill>
                  <a:schemeClr val="tx2"/>
                </a:solidFill>
              </a:rPr>
              <a:t>Rileggere e cercare errori</a:t>
            </a:r>
            <a:endParaRPr lang="it-IT" sz="1300" dirty="0"/>
          </a:p>
          <a:p>
            <a:pPr marL="177800" indent="-177800">
              <a:spcAft>
                <a:spcPts val="400"/>
              </a:spcAft>
              <a:buSzPct val="100000"/>
              <a:buChar char="•"/>
            </a:pPr>
            <a:r>
              <a:rPr lang="it-IT" sz="1300" dirty="0">
                <a:solidFill>
                  <a:schemeClr val="tx2"/>
                </a:solidFill>
              </a:rPr>
              <a:t>Mostrare i passaggi</a:t>
            </a:r>
            <a:endParaRPr lang="it-IT" sz="1300" dirty="0"/>
          </a:p>
          <a:p>
            <a:pPr marL="177800" indent="-177800">
              <a:spcAft>
                <a:spcPts val="400"/>
              </a:spcAft>
              <a:buSzPct val="100000"/>
              <a:buChar char="•"/>
            </a:pPr>
            <a:r>
              <a:rPr lang="it-IT" sz="1300" dirty="0">
                <a:solidFill>
                  <a:schemeClr val="tx2"/>
                </a:solidFill>
              </a:rPr>
              <a:t>Far emergere sbagli evidenti in calcoli e logica</a:t>
            </a:r>
            <a:endParaRPr lang="it-IT" sz="1300" dirty="0"/>
          </a:p>
        </p:txBody>
      </p:sp>
      <p:sp>
        <p:nvSpPr>
          <p:cNvPr id="9" name="Text 5"/>
          <p:cNvSpPr txBox="1"/>
          <p:nvPr/>
        </p:nvSpPr>
        <p:spPr>
          <a:xfrm>
            <a:off x="3749040" y="1097280"/>
            <a:ext cx="4937760" cy="320040"/>
          </a:xfrm>
          <a:prstGeom prst="rect">
            <a:avLst/>
          </a:prstGeom>
          <a:noFill/>
          <a:ln/>
        </p:spPr>
        <p:txBody>
          <a:bodyPr wrap="square" lIns="0" tIns="0" rIns="0" bIns="0" rtlCol="0" anchor="t"/>
          <a:lstStyle/>
          <a:p>
            <a:pPr marL="0" indent="0">
              <a:buNone/>
            </a:pPr>
            <a:r>
              <a:rPr lang="it-IT" sz="1500" b="1" dirty="0">
                <a:solidFill>
                  <a:schemeClr val="tx1"/>
                </a:solidFill>
              </a:rPr>
              <a:t>Ma non è una verifica indipendente</a:t>
            </a:r>
            <a:endParaRPr lang="it-IT" sz="1500" dirty="0"/>
          </a:p>
        </p:txBody>
      </p:sp>
      <p:sp>
        <p:nvSpPr>
          <p:cNvPr id="10" name="cerchio FiRepeat"/>
          <p:cNvSpPr/>
          <p:nvPr/>
        </p:nvSpPr>
        <p:spPr>
          <a:xfrm>
            <a:off x="3749040" y="1554480"/>
            <a:ext cx="457200" cy="457200"/>
          </a:xfrm>
          <a:prstGeom prst="ellipse">
            <a:avLst/>
          </a:prstGeom>
          <a:solidFill>
            <a:schemeClr val="accent5"/>
          </a:solidFill>
          <a:ln/>
        </p:spPr>
        <p:txBody>
          <a:bodyPr/>
          <a:lstStyle/>
          <a:p>
            <a:endParaRPr lang="it-IT" dirty="0"/>
          </a:p>
        </p:txBody>
      </p:sp>
      <p:pic>
        <p:nvPicPr>
          <p:cNvPr id="11" name="Image 1" descr="FiRepeat"/>
          <p:cNvPicPr>
            <a:picLocks noChangeAspect="1"/>
          </p:cNvPicPr>
          <p:nvPr/>
        </p:nvPicPr>
        <p:blipFill>
          <a:blip r:embed="rId4"/>
          <a:stretch>
            <a:fillRect/>
          </a:stretch>
        </p:blipFill>
        <p:spPr>
          <a:xfrm>
            <a:off x="3863340" y="1668780"/>
            <a:ext cx="228600" cy="228600"/>
          </a:xfrm>
          <a:prstGeom prst="rect">
            <a:avLst/>
          </a:prstGeom>
        </p:spPr>
      </p:pic>
      <p:sp>
        <p:nvSpPr>
          <p:cNvPr id="12" name="Text 7"/>
          <p:cNvSpPr txBox="1"/>
          <p:nvPr/>
        </p:nvSpPr>
        <p:spPr>
          <a:xfrm>
            <a:off x="4343400" y="1517904"/>
            <a:ext cx="4343400" cy="292608"/>
          </a:xfrm>
          <a:prstGeom prst="rect">
            <a:avLst/>
          </a:prstGeom>
          <a:noFill/>
          <a:ln/>
        </p:spPr>
        <p:txBody>
          <a:bodyPr wrap="square" lIns="0" tIns="0" rIns="0" bIns="0" rtlCol="0" anchor="t"/>
          <a:lstStyle/>
          <a:p>
            <a:pPr marL="0" indent="0">
              <a:buNone/>
            </a:pPr>
            <a:r>
              <a:rPr lang="it-IT" sz="1300" b="1" dirty="0">
                <a:solidFill>
                  <a:schemeClr val="tx1"/>
                </a:solidFill>
              </a:rPr>
              <a:t>Stessa conoscenza, stessi meccanismi</a:t>
            </a:r>
            <a:endParaRPr lang="it-IT" sz="1300" dirty="0"/>
          </a:p>
        </p:txBody>
      </p:sp>
      <p:sp>
        <p:nvSpPr>
          <p:cNvPr id="13" name="Text 8"/>
          <p:cNvSpPr txBox="1"/>
          <p:nvPr/>
        </p:nvSpPr>
        <p:spPr>
          <a:xfrm>
            <a:off x="4343400" y="1828800"/>
            <a:ext cx="4343400" cy="548640"/>
          </a:xfrm>
          <a:prstGeom prst="rect">
            <a:avLst/>
          </a:prstGeom>
          <a:noFill/>
          <a:ln/>
        </p:spPr>
        <p:txBody>
          <a:bodyPr wrap="square" lIns="0" tIns="0" rIns="0" bIns="0" rtlCol="0" anchor="t"/>
          <a:lstStyle/>
          <a:p>
            <a:pPr marL="0" indent="0">
              <a:buNone/>
            </a:pPr>
            <a:r>
              <a:rPr lang="it-IT" sz="1200" dirty="0">
                <a:solidFill>
                  <a:schemeClr val="tx2"/>
                </a:solidFill>
              </a:rPr>
              <a:t>Se non sa che un'informazione è falsa, non lo saprà al secondo controllo</a:t>
            </a:r>
            <a:endParaRPr lang="it-IT" sz="1200" dirty="0"/>
          </a:p>
        </p:txBody>
      </p:sp>
      <p:sp>
        <p:nvSpPr>
          <p:cNvPr id="14" name="cerchio FiThumbsUp"/>
          <p:cNvSpPr/>
          <p:nvPr/>
        </p:nvSpPr>
        <p:spPr>
          <a:xfrm>
            <a:off x="3749040" y="2542032"/>
            <a:ext cx="457200" cy="457200"/>
          </a:xfrm>
          <a:prstGeom prst="ellipse">
            <a:avLst/>
          </a:prstGeom>
          <a:solidFill>
            <a:schemeClr val="accent5"/>
          </a:solidFill>
          <a:ln/>
        </p:spPr>
        <p:txBody>
          <a:bodyPr/>
          <a:lstStyle/>
          <a:p>
            <a:endParaRPr lang="it-IT" dirty="0"/>
          </a:p>
        </p:txBody>
      </p:sp>
      <p:pic>
        <p:nvPicPr>
          <p:cNvPr id="15" name="Image 2" descr="FiThumbsUp"/>
          <p:cNvPicPr>
            <a:picLocks noChangeAspect="1"/>
          </p:cNvPicPr>
          <p:nvPr/>
        </p:nvPicPr>
        <p:blipFill>
          <a:blip r:embed="rId5"/>
          <a:stretch>
            <a:fillRect/>
          </a:stretch>
        </p:blipFill>
        <p:spPr>
          <a:xfrm>
            <a:off x="3863340" y="2656332"/>
            <a:ext cx="228600" cy="228600"/>
          </a:xfrm>
          <a:prstGeom prst="rect">
            <a:avLst/>
          </a:prstGeom>
        </p:spPr>
      </p:pic>
      <p:sp>
        <p:nvSpPr>
          <p:cNvPr id="16" name="Text 10"/>
          <p:cNvSpPr txBox="1"/>
          <p:nvPr/>
        </p:nvSpPr>
        <p:spPr>
          <a:xfrm>
            <a:off x="4343400" y="2505456"/>
            <a:ext cx="4343400" cy="292608"/>
          </a:xfrm>
          <a:prstGeom prst="rect">
            <a:avLst/>
          </a:prstGeom>
          <a:noFill/>
          <a:ln/>
        </p:spPr>
        <p:txBody>
          <a:bodyPr wrap="square" lIns="0" tIns="0" rIns="0" bIns="0" rtlCol="0" anchor="t"/>
          <a:lstStyle/>
          <a:p>
            <a:pPr marL="0" indent="0">
              <a:buNone/>
            </a:pPr>
            <a:r>
              <a:rPr lang="it-IT" sz="1300" b="1" dirty="0">
                <a:solidFill>
                  <a:schemeClr val="tx1"/>
                </a:solidFill>
              </a:rPr>
              <a:t>Tendenza ad assecondare</a:t>
            </a:r>
            <a:endParaRPr lang="it-IT" sz="1300" dirty="0"/>
          </a:p>
        </p:txBody>
      </p:sp>
      <p:sp>
        <p:nvSpPr>
          <p:cNvPr id="17" name="Text 11"/>
          <p:cNvSpPr txBox="1"/>
          <p:nvPr/>
        </p:nvSpPr>
        <p:spPr>
          <a:xfrm>
            <a:off x="4343400" y="2816352"/>
            <a:ext cx="4343400" cy="548640"/>
          </a:xfrm>
          <a:prstGeom prst="rect">
            <a:avLst/>
          </a:prstGeom>
          <a:noFill/>
          <a:ln/>
        </p:spPr>
        <p:txBody>
          <a:bodyPr wrap="square" lIns="0" tIns="0" rIns="0" bIns="0" rtlCol="0" anchor="t"/>
          <a:lstStyle/>
          <a:p>
            <a:pPr marL="0" indent="0">
              <a:buNone/>
            </a:pPr>
            <a:r>
              <a:rPr lang="it-IT" sz="1200" dirty="0">
                <a:solidFill>
                  <a:schemeClr val="tx2"/>
                </a:solidFill>
              </a:rPr>
              <a:t>Può confermare un errore o cambiare una risposta corretta</a:t>
            </a:r>
            <a:endParaRPr lang="it-IT" sz="1200" dirty="0"/>
          </a:p>
        </p:txBody>
      </p:sp>
      <p:sp>
        <p:nvSpPr>
          <p:cNvPr id="18" name="cerchio FiSearch"/>
          <p:cNvSpPr/>
          <p:nvPr/>
        </p:nvSpPr>
        <p:spPr>
          <a:xfrm>
            <a:off x="3749040" y="3529584"/>
            <a:ext cx="457200" cy="457200"/>
          </a:xfrm>
          <a:prstGeom prst="ellipse">
            <a:avLst/>
          </a:prstGeom>
          <a:solidFill>
            <a:schemeClr val="accent5"/>
          </a:solidFill>
          <a:ln/>
        </p:spPr>
        <p:txBody>
          <a:bodyPr/>
          <a:lstStyle/>
          <a:p>
            <a:endParaRPr lang="it-IT" dirty="0"/>
          </a:p>
        </p:txBody>
      </p:sp>
      <p:pic>
        <p:nvPicPr>
          <p:cNvPr id="19" name="Image 3" descr="FiSearch"/>
          <p:cNvPicPr>
            <a:picLocks noChangeAspect="1"/>
          </p:cNvPicPr>
          <p:nvPr/>
        </p:nvPicPr>
        <p:blipFill>
          <a:blip r:embed="rId6"/>
          <a:stretch>
            <a:fillRect/>
          </a:stretch>
        </p:blipFill>
        <p:spPr>
          <a:xfrm>
            <a:off x="3863340" y="3643884"/>
            <a:ext cx="228600" cy="228600"/>
          </a:xfrm>
          <a:prstGeom prst="rect">
            <a:avLst/>
          </a:prstGeom>
        </p:spPr>
      </p:pic>
      <p:sp>
        <p:nvSpPr>
          <p:cNvPr id="20" name="Text 13"/>
          <p:cNvSpPr txBox="1"/>
          <p:nvPr/>
        </p:nvSpPr>
        <p:spPr>
          <a:xfrm>
            <a:off x="4343400" y="3493008"/>
            <a:ext cx="4343400" cy="292608"/>
          </a:xfrm>
          <a:prstGeom prst="rect">
            <a:avLst/>
          </a:prstGeom>
          <a:noFill/>
          <a:ln/>
        </p:spPr>
        <p:txBody>
          <a:bodyPr wrap="square" lIns="0" tIns="0" rIns="0" bIns="0" rtlCol="0" anchor="t"/>
          <a:lstStyle/>
          <a:p>
            <a:pPr marL="0" indent="0">
              <a:buNone/>
            </a:pPr>
            <a:r>
              <a:rPr lang="it-IT" sz="1300" b="1" dirty="0">
                <a:solidFill>
                  <a:schemeClr val="tx1"/>
                </a:solidFill>
              </a:rPr>
              <a:t>Nessun accesso diretto alla verità</a:t>
            </a:r>
            <a:endParaRPr lang="it-IT" sz="1300" dirty="0"/>
          </a:p>
        </p:txBody>
      </p:sp>
      <p:sp>
        <p:nvSpPr>
          <p:cNvPr id="21" name="Text 14"/>
          <p:cNvSpPr txBox="1"/>
          <p:nvPr/>
        </p:nvSpPr>
        <p:spPr>
          <a:xfrm>
            <a:off x="4343400" y="3803904"/>
            <a:ext cx="4343400" cy="548640"/>
          </a:xfrm>
          <a:prstGeom prst="rect">
            <a:avLst/>
          </a:prstGeom>
          <a:noFill/>
          <a:ln/>
        </p:spPr>
        <p:txBody>
          <a:bodyPr wrap="square" lIns="0" tIns="0" rIns="0" bIns="0" rtlCol="0" anchor="t"/>
          <a:lstStyle/>
          <a:p>
            <a:pPr marL="0" indent="0">
              <a:buNone/>
            </a:pPr>
            <a:r>
              <a:rPr lang="it-IT" sz="1200" dirty="0">
                <a:solidFill>
                  <a:schemeClr val="tx2"/>
                </a:solidFill>
              </a:rPr>
              <a:t>Senza strumenti esterni, verificare significa rigenerare</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48</a:t>
            </a:fld>
            <a:endParaRPr lang="it-IT"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Supervisione umana e verifica proporzionata</a:t>
            </a:r>
            <a:endParaRPr lang="it-IT" sz="2600" dirty="0"/>
          </a:p>
        </p:txBody>
      </p:sp>
      <p:sp>
        <p:nvSpPr>
          <p:cNvPr id="4" name="Leggera"/>
          <p:cNvSpPr/>
          <p:nvPr/>
        </p:nvSpPr>
        <p:spPr>
          <a:xfrm>
            <a:off x="457200" y="2194560"/>
            <a:ext cx="2615184" cy="1554480"/>
          </a:xfrm>
          <a:prstGeom prst="roundRect">
            <a:avLst>
              <a:gd name="adj" fmla="val 4706"/>
            </a:avLst>
          </a:prstGeom>
          <a:solidFill>
            <a:schemeClr val="bg2"/>
          </a:solidFill>
          <a:ln/>
        </p:spPr>
        <p:txBody>
          <a:bodyPr/>
          <a:lstStyle/>
          <a:p>
            <a:endParaRPr lang="it-IT" dirty="0"/>
          </a:p>
        </p:txBody>
      </p:sp>
      <p:sp>
        <p:nvSpPr>
          <p:cNvPr id="5" name="Text 2"/>
          <p:cNvSpPr txBox="1"/>
          <p:nvPr/>
        </p:nvSpPr>
        <p:spPr>
          <a:xfrm>
            <a:off x="640080" y="2304288"/>
            <a:ext cx="2286000" cy="347472"/>
          </a:xfrm>
          <a:prstGeom prst="rect">
            <a:avLst/>
          </a:prstGeom>
          <a:noFill/>
          <a:ln/>
        </p:spPr>
        <p:txBody>
          <a:bodyPr wrap="square" lIns="0" tIns="0" rIns="0" bIns="0" rtlCol="0" anchor="t"/>
          <a:lstStyle/>
          <a:p>
            <a:pPr marL="0" indent="0">
              <a:buNone/>
            </a:pPr>
            <a:r>
              <a:rPr lang="it-IT" sz="1600" b="1" dirty="0">
                <a:solidFill>
                  <a:schemeClr val="tx1"/>
                </a:solidFill>
              </a:rPr>
              <a:t>Verifica leggera</a:t>
            </a:r>
            <a:endParaRPr lang="it-IT" sz="1600" dirty="0"/>
          </a:p>
        </p:txBody>
      </p:sp>
      <p:sp>
        <p:nvSpPr>
          <p:cNvPr id="6" name="Text 3"/>
          <p:cNvSpPr txBox="1"/>
          <p:nvPr/>
        </p:nvSpPr>
        <p:spPr>
          <a:xfrm>
            <a:off x="640080" y="2670048"/>
            <a:ext cx="2286000" cy="457200"/>
          </a:xfrm>
          <a:prstGeom prst="rect">
            <a:avLst/>
          </a:prstGeom>
          <a:noFill/>
          <a:ln/>
        </p:spPr>
        <p:txBody>
          <a:bodyPr wrap="square" lIns="0" tIns="0" rIns="0" bIns="0" rtlCol="0" anchor="t"/>
          <a:lstStyle/>
          <a:p>
            <a:pPr marL="0" indent="0">
              <a:buNone/>
            </a:pPr>
            <a:r>
              <a:rPr lang="it-IT" sz="1300" b="1" dirty="0">
                <a:solidFill>
                  <a:schemeClr val="accent1"/>
                </a:solidFill>
              </a:rPr>
              <a:t>Rilettura critica</a:t>
            </a:r>
            <a:endParaRPr lang="it-IT" sz="1300" dirty="0"/>
          </a:p>
        </p:txBody>
      </p:sp>
      <p:sp>
        <p:nvSpPr>
          <p:cNvPr id="7" name="Text 4"/>
          <p:cNvSpPr txBox="1"/>
          <p:nvPr/>
        </p:nvSpPr>
        <p:spPr>
          <a:xfrm>
            <a:off x="640080" y="3108960"/>
            <a:ext cx="2286000" cy="548640"/>
          </a:xfrm>
          <a:prstGeom prst="rect">
            <a:avLst/>
          </a:prstGeom>
          <a:noFill/>
          <a:ln/>
        </p:spPr>
        <p:txBody>
          <a:bodyPr wrap="square" lIns="0" tIns="0" rIns="0" bIns="0" rtlCol="0" anchor="t"/>
          <a:lstStyle/>
          <a:p>
            <a:pPr marL="0" indent="0">
              <a:buNone/>
            </a:pPr>
            <a:r>
              <a:rPr lang="it-IT" sz="1200" dirty="0">
                <a:solidFill>
                  <a:schemeClr val="tx1"/>
                </a:solidFill>
              </a:rPr>
              <a:t>Bozze interne, idee, testi a basso impatto</a:t>
            </a:r>
            <a:endParaRPr lang="it-IT" sz="1200" dirty="0"/>
          </a:p>
        </p:txBody>
      </p:sp>
      <p:sp>
        <p:nvSpPr>
          <p:cNvPr id="8" name="Standard"/>
          <p:cNvSpPr/>
          <p:nvPr/>
        </p:nvSpPr>
        <p:spPr>
          <a:xfrm>
            <a:off x="3264408" y="1828800"/>
            <a:ext cx="2615184" cy="1920240"/>
          </a:xfrm>
          <a:prstGeom prst="roundRect">
            <a:avLst>
              <a:gd name="adj" fmla="val 3810"/>
            </a:avLst>
          </a:prstGeom>
          <a:solidFill>
            <a:schemeClr val="accent6"/>
          </a:solidFill>
          <a:ln/>
        </p:spPr>
        <p:txBody>
          <a:bodyPr/>
          <a:lstStyle/>
          <a:p>
            <a:endParaRPr lang="it-IT" dirty="0"/>
          </a:p>
        </p:txBody>
      </p:sp>
      <p:sp>
        <p:nvSpPr>
          <p:cNvPr id="9" name="Text 6"/>
          <p:cNvSpPr txBox="1"/>
          <p:nvPr/>
        </p:nvSpPr>
        <p:spPr>
          <a:xfrm>
            <a:off x="3447288" y="1938528"/>
            <a:ext cx="2286000" cy="347472"/>
          </a:xfrm>
          <a:prstGeom prst="rect">
            <a:avLst/>
          </a:prstGeom>
          <a:noFill/>
          <a:ln/>
        </p:spPr>
        <p:txBody>
          <a:bodyPr wrap="square" lIns="0" tIns="0" rIns="0" bIns="0" rtlCol="0" anchor="t"/>
          <a:lstStyle/>
          <a:p>
            <a:pPr marL="0" indent="0">
              <a:buNone/>
            </a:pPr>
            <a:r>
              <a:rPr lang="it-IT" sz="1600" b="1" dirty="0">
                <a:solidFill>
                  <a:schemeClr val="tx1"/>
                </a:solidFill>
              </a:rPr>
              <a:t>Verifica standard</a:t>
            </a:r>
            <a:endParaRPr lang="it-IT" sz="1600" dirty="0"/>
          </a:p>
        </p:txBody>
      </p:sp>
      <p:sp>
        <p:nvSpPr>
          <p:cNvPr id="10" name="Text 7"/>
          <p:cNvSpPr txBox="1"/>
          <p:nvPr/>
        </p:nvSpPr>
        <p:spPr>
          <a:xfrm>
            <a:off x="3447288" y="2304288"/>
            <a:ext cx="2286000" cy="457200"/>
          </a:xfrm>
          <a:prstGeom prst="rect">
            <a:avLst/>
          </a:prstGeom>
          <a:noFill/>
          <a:ln/>
        </p:spPr>
        <p:txBody>
          <a:bodyPr wrap="square" lIns="0" tIns="0" rIns="0" bIns="0" rtlCol="0" anchor="t"/>
          <a:lstStyle/>
          <a:p>
            <a:pPr marL="0" indent="0">
              <a:buNone/>
            </a:pPr>
            <a:r>
              <a:rPr lang="it-IT" sz="1300" b="1" dirty="0">
                <a:solidFill>
                  <a:schemeClr val="accent1"/>
                </a:solidFill>
              </a:rPr>
              <a:t>Fatti principali, numeri, fonti</a:t>
            </a:r>
            <a:endParaRPr lang="it-IT" sz="1300" dirty="0"/>
          </a:p>
        </p:txBody>
      </p:sp>
      <p:sp>
        <p:nvSpPr>
          <p:cNvPr id="11" name="Text 8"/>
          <p:cNvSpPr txBox="1"/>
          <p:nvPr/>
        </p:nvSpPr>
        <p:spPr>
          <a:xfrm>
            <a:off x="3447288" y="2743200"/>
            <a:ext cx="2286000" cy="914400"/>
          </a:xfrm>
          <a:prstGeom prst="rect">
            <a:avLst/>
          </a:prstGeom>
          <a:noFill/>
          <a:ln/>
        </p:spPr>
        <p:txBody>
          <a:bodyPr wrap="square" lIns="0" tIns="0" rIns="0" bIns="0" rtlCol="0" anchor="t"/>
          <a:lstStyle/>
          <a:p>
            <a:pPr marL="0" indent="0">
              <a:buNone/>
            </a:pPr>
            <a:r>
              <a:rPr lang="it-IT" sz="1200" dirty="0">
                <a:solidFill>
                  <a:schemeClr val="tx1"/>
                </a:solidFill>
              </a:rPr>
              <a:t>Documenti che escono dal gruppo di lavoro</a:t>
            </a:r>
            <a:endParaRPr lang="it-IT" sz="1200" dirty="0"/>
          </a:p>
        </p:txBody>
      </p:sp>
      <p:sp>
        <p:nvSpPr>
          <p:cNvPr id="12" name="Approfondita"/>
          <p:cNvSpPr/>
          <p:nvPr/>
        </p:nvSpPr>
        <p:spPr>
          <a:xfrm>
            <a:off x="6071616" y="1463040"/>
            <a:ext cx="2615184" cy="2286000"/>
          </a:xfrm>
          <a:prstGeom prst="roundRect">
            <a:avLst>
              <a:gd name="adj" fmla="val 3200"/>
            </a:avLst>
          </a:prstGeom>
          <a:solidFill>
            <a:schemeClr val="accent1"/>
          </a:solidFill>
          <a:ln/>
        </p:spPr>
        <p:txBody>
          <a:bodyPr/>
          <a:lstStyle/>
          <a:p>
            <a:endParaRPr lang="it-IT" dirty="0"/>
          </a:p>
        </p:txBody>
      </p:sp>
      <p:sp>
        <p:nvSpPr>
          <p:cNvPr id="13" name="Text 10"/>
          <p:cNvSpPr txBox="1"/>
          <p:nvPr/>
        </p:nvSpPr>
        <p:spPr>
          <a:xfrm>
            <a:off x="6254496" y="1572768"/>
            <a:ext cx="2286000" cy="347472"/>
          </a:xfrm>
          <a:prstGeom prst="rect">
            <a:avLst/>
          </a:prstGeom>
          <a:noFill/>
          <a:ln/>
        </p:spPr>
        <p:txBody>
          <a:bodyPr wrap="square" lIns="0" tIns="0" rIns="0" bIns="0" rtlCol="0" anchor="t"/>
          <a:lstStyle/>
          <a:p>
            <a:pPr marL="0" indent="0">
              <a:buNone/>
            </a:pPr>
            <a:r>
              <a:rPr lang="it-IT" sz="1600" b="1" dirty="0">
                <a:solidFill>
                  <a:schemeClr val="bg1"/>
                </a:solidFill>
              </a:rPr>
              <a:t>Verifica approfondita</a:t>
            </a:r>
            <a:endParaRPr lang="it-IT" sz="1600" dirty="0"/>
          </a:p>
        </p:txBody>
      </p:sp>
      <p:sp>
        <p:nvSpPr>
          <p:cNvPr id="14" name="Text 11"/>
          <p:cNvSpPr txBox="1"/>
          <p:nvPr/>
        </p:nvSpPr>
        <p:spPr>
          <a:xfrm>
            <a:off x="6254496" y="1938528"/>
            <a:ext cx="2286000" cy="457200"/>
          </a:xfrm>
          <a:prstGeom prst="rect">
            <a:avLst/>
          </a:prstGeom>
          <a:noFill/>
          <a:ln/>
        </p:spPr>
        <p:txBody>
          <a:bodyPr wrap="square" lIns="0" tIns="0" rIns="0" bIns="0" rtlCol="0" anchor="t"/>
          <a:lstStyle/>
          <a:p>
            <a:pPr marL="0" indent="0">
              <a:buNone/>
            </a:pPr>
            <a:r>
              <a:rPr lang="it-IT" sz="1300" b="1" dirty="0">
                <a:solidFill>
                  <a:schemeClr val="accent6"/>
                </a:solidFill>
              </a:rPr>
              <a:t>Fonti indipendenti e revisione esperta</a:t>
            </a:r>
            <a:endParaRPr lang="it-IT" sz="1300" dirty="0"/>
          </a:p>
        </p:txBody>
      </p:sp>
      <p:sp>
        <p:nvSpPr>
          <p:cNvPr id="15" name="Text 12"/>
          <p:cNvSpPr txBox="1"/>
          <p:nvPr/>
        </p:nvSpPr>
        <p:spPr>
          <a:xfrm>
            <a:off x="6254496" y="2377440"/>
            <a:ext cx="2286000" cy="1280160"/>
          </a:xfrm>
          <a:prstGeom prst="rect">
            <a:avLst/>
          </a:prstGeom>
          <a:noFill/>
          <a:ln/>
        </p:spPr>
        <p:txBody>
          <a:bodyPr wrap="square" lIns="0" tIns="0" rIns="0" bIns="0" rtlCol="0" anchor="t"/>
          <a:lstStyle/>
          <a:p>
            <a:pPr marL="0" indent="0">
              <a:buNone/>
            </a:pPr>
            <a:r>
              <a:rPr lang="it-IT" sz="1200" dirty="0">
                <a:solidFill>
                  <a:schemeClr val="bg1"/>
                </a:solidFill>
              </a:rPr>
              <a:t>Conseguenze legali, economiche, di sicurezza, reputazionali</a:t>
            </a:r>
            <a:endParaRPr lang="it-IT" sz="1200" dirty="0"/>
          </a:p>
        </p:txBody>
      </p:sp>
      <p:sp>
        <p:nvSpPr>
          <p:cNvPr id="16" name="scheda Chi verifica deve avere le competenze"/>
          <p:cNvSpPr/>
          <p:nvPr/>
        </p:nvSpPr>
        <p:spPr>
          <a:xfrm>
            <a:off x="457200" y="3886200"/>
            <a:ext cx="3977640" cy="685800"/>
          </a:xfrm>
          <a:prstGeom prst="roundRect">
            <a:avLst>
              <a:gd name="adj" fmla="val 10667"/>
            </a:avLst>
          </a:prstGeom>
          <a:solidFill>
            <a:schemeClr val="bg2"/>
          </a:solidFill>
          <a:ln/>
        </p:spPr>
        <p:txBody>
          <a:bodyPr/>
          <a:lstStyle/>
          <a:p>
            <a:endParaRPr lang="it-IT" dirty="0"/>
          </a:p>
        </p:txBody>
      </p:sp>
      <p:sp>
        <p:nvSpPr>
          <p:cNvPr id="17" name="Text 14"/>
          <p:cNvSpPr txBox="1"/>
          <p:nvPr/>
        </p:nvSpPr>
        <p:spPr>
          <a:xfrm>
            <a:off x="640080" y="4069080"/>
            <a:ext cx="3611880" cy="347472"/>
          </a:xfrm>
          <a:prstGeom prst="rect">
            <a:avLst/>
          </a:prstGeom>
          <a:noFill/>
          <a:ln/>
        </p:spPr>
        <p:txBody>
          <a:bodyPr wrap="square" lIns="0" tIns="0" rIns="0" bIns="0" rtlCol="0" anchor="t"/>
          <a:lstStyle/>
          <a:p>
            <a:pPr marL="0" indent="0">
              <a:buNone/>
            </a:pPr>
            <a:r>
              <a:rPr lang="it-IT" sz="1300" b="1" dirty="0">
                <a:solidFill>
                  <a:schemeClr val="tx1"/>
                </a:solidFill>
              </a:rPr>
              <a:t>Chi verifica deve avere le competenze</a:t>
            </a:r>
            <a:endParaRPr lang="it-IT" sz="1300" dirty="0"/>
          </a:p>
        </p:txBody>
      </p:sp>
      <p:sp>
        <p:nvSpPr>
          <p:cNvPr id="18" name="scheda Automation bias: più funziona, meno controlliamo"/>
          <p:cNvSpPr/>
          <p:nvPr/>
        </p:nvSpPr>
        <p:spPr>
          <a:xfrm>
            <a:off x="4709160" y="3886200"/>
            <a:ext cx="3977640" cy="685800"/>
          </a:xfrm>
          <a:prstGeom prst="roundRect">
            <a:avLst>
              <a:gd name="adj" fmla="val 10667"/>
            </a:avLst>
          </a:prstGeom>
          <a:solidFill>
            <a:schemeClr val="bg2"/>
          </a:solidFill>
          <a:ln/>
        </p:spPr>
        <p:txBody>
          <a:bodyPr/>
          <a:lstStyle/>
          <a:p>
            <a:endParaRPr lang="it-IT" dirty="0"/>
          </a:p>
        </p:txBody>
      </p:sp>
      <p:sp>
        <p:nvSpPr>
          <p:cNvPr id="19" name="Text 16"/>
          <p:cNvSpPr txBox="1"/>
          <p:nvPr/>
        </p:nvSpPr>
        <p:spPr>
          <a:xfrm>
            <a:off x="4892040" y="4069080"/>
            <a:ext cx="3611880" cy="347472"/>
          </a:xfrm>
          <a:prstGeom prst="rect">
            <a:avLst/>
          </a:prstGeom>
          <a:noFill/>
          <a:ln/>
        </p:spPr>
        <p:txBody>
          <a:bodyPr wrap="square" lIns="0" tIns="0" rIns="0" bIns="0" rtlCol="0" anchor="t"/>
          <a:lstStyle/>
          <a:p>
            <a:pPr marL="0" indent="0">
              <a:buNone/>
            </a:pPr>
            <a:r>
              <a:rPr lang="it-IT" sz="1300" b="1" dirty="0">
                <a:solidFill>
                  <a:schemeClr val="tx1"/>
                </a:solidFill>
              </a:rPr>
              <a:t>Automation </a:t>
            </a:r>
            <a:r>
              <a:rPr lang="it-IT" sz="1300" b="1" dirty="0" err="1">
                <a:solidFill>
                  <a:schemeClr val="tx1"/>
                </a:solidFill>
              </a:rPr>
              <a:t>bias</a:t>
            </a:r>
            <a:r>
              <a:rPr lang="it-IT" sz="1300" b="1" dirty="0">
                <a:solidFill>
                  <a:schemeClr val="tx1"/>
                </a:solidFill>
              </a:rPr>
              <a:t>: più funziona, meno controlliamo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49</a:t>
            </a:fld>
            <a:endParaRPr lang="it-IT"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name="Slide 5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dirty="0">
                <a:solidFill>
                  <a:schemeClr val="bg1"/>
                </a:solidFill>
              </a:rPr>
              <a:t>La verifica è parte dell'uso consapevole dell'AI e deve essere proporzionata all'importanza del compito e alle possibili conseguenze di un errore.</a:t>
            </a:r>
            <a:endParaRPr lang="it-IT"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dirty="0">
                <a:solidFill>
                  <a:schemeClr val="accent3"/>
                </a:solidFill>
              </a:rPr>
              <a:t>Sottotema 3.6  ·  Verificabilità e controllo dei risultati</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50</a:t>
            </a:fld>
            <a:endParaRPr lang="it-IT"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3.7</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I fattori che influenzano le prestazioni</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Le prestazioni derivano dall'interazione tra tecnologia, qualità delle informazioni e modalità operative</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51</a:t>
            </a:fld>
            <a:endParaRPr lang="it-IT"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Sette fattori</a:t>
            </a:r>
            <a:endParaRPr lang="it-IT" sz="2600" dirty="0"/>
          </a:p>
        </p:txBody>
      </p:sp>
      <p:sp>
        <p:nvSpPr>
          <p:cNvPr id="4" name="Modello e sistema"/>
          <p:cNvSpPr/>
          <p:nvPr/>
        </p:nvSpPr>
        <p:spPr>
          <a:xfrm>
            <a:off x="457200" y="1097280"/>
            <a:ext cx="1965960" cy="1298448"/>
          </a:xfrm>
          <a:prstGeom prst="roundRect">
            <a:avLst>
              <a:gd name="adj" fmla="val 5634"/>
            </a:avLst>
          </a:prstGeom>
          <a:solidFill>
            <a:schemeClr val="accent6"/>
          </a:solidFill>
          <a:ln w="25400">
            <a:solidFill>
              <a:schemeClr val="accent1"/>
            </a:solidFill>
            <a:prstDash val="solid"/>
          </a:ln>
        </p:spPr>
        <p:txBody>
          <a:bodyPr/>
          <a:lstStyle/>
          <a:p>
            <a:endParaRPr lang="it-IT" dirty="0"/>
          </a:p>
        </p:txBody>
      </p:sp>
      <p:sp>
        <p:nvSpPr>
          <p:cNvPr id="5" name="cerchio FiCpu"/>
          <p:cNvSpPr/>
          <p:nvPr/>
        </p:nvSpPr>
        <p:spPr>
          <a:xfrm>
            <a:off x="621792" y="1261872"/>
            <a:ext cx="457200" cy="457200"/>
          </a:xfrm>
          <a:prstGeom prst="ellipse">
            <a:avLst/>
          </a:prstGeom>
          <a:solidFill>
            <a:schemeClr val="accent1"/>
          </a:solidFill>
          <a:ln/>
        </p:spPr>
        <p:txBody>
          <a:bodyPr/>
          <a:lstStyle/>
          <a:p>
            <a:endParaRPr lang="it-IT" dirty="0"/>
          </a:p>
        </p:txBody>
      </p:sp>
      <p:pic>
        <p:nvPicPr>
          <p:cNvPr id="6" name="Image 0" descr="FiCpu"/>
          <p:cNvPicPr>
            <a:picLocks noChangeAspect="1"/>
          </p:cNvPicPr>
          <p:nvPr/>
        </p:nvPicPr>
        <p:blipFill>
          <a:blip r:embed="rId3"/>
          <a:stretch>
            <a:fillRect/>
          </a:stretch>
        </p:blipFill>
        <p:spPr>
          <a:xfrm>
            <a:off x="736092" y="1376172"/>
            <a:ext cx="228600" cy="228600"/>
          </a:xfrm>
          <a:prstGeom prst="rect">
            <a:avLst/>
          </a:prstGeom>
        </p:spPr>
      </p:pic>
      <p:sp>
        <p:nvSpPr>
          <p:cNvPr id="7" name="Text 3"/>
          <p:cNvSpPr txBox="1"/>
          <p:nvPr/>
        </p:nvSpPr>
        <p:spPr>
          <a:xfrm>
            <a:off x="621792" y="1783080"/>
            <a:ext cx="1691640" cy="548640"/>
          </a:xfrm>
          <a:prstGeom prst="rect">
            <a:avLst/>
          </a:prstGeom>
          <a:noFill/>
          <a:ln/>
        </p:spPr>
        <p:txBody>
          <a:bodyPr wrap="square" lIns="0" tIns="0" rIns="0" bIns="0" rtlCol="0" anchor="t"/>
          <a:lstStyle/>
          <a:p>
            <a:pPr marL="0" indent="0">
              <a:buNone/>
            </a:pPr>
            <a:r>
              <a:rPr lang="it-IT" sz="1300" b="1" dirty="0">
                <a:solidFill>
                  <a:schemeClr val="tx1"/>
                </a:solidFill>
              </a:rPr>
              <a:t>Modello e sistema</a:t>
            </a:r>
            <a:endParaRPr lang="it-IT" sz="1300" dirty="0"/>
          </a:p>
        </p:txBody>
      </p:sp>
      <p:sp>
        <p:nvSpPr>
          <p:cNvPr id="8" name="Complessità e ambiguità del compito"/>
          <p:cNvSpPr/>
          <p:nvPr/>
        </p:nvSpPr>
        <p:spPr>
          <a:xfrm>
            <a:off x="2560320" y="1097280"/>
            <a:ext cx="1965960" cy="1298448"/>
          </a:xfrm>
          <a:prstGeom prst="roundRect">
            <a:avLst>
              <a:gd name="adj" fmla="val 5634"/>
            </a:avLst>
          </a:prstGeom>
          <a:solidFill>
            <a:schemeClr val="bg2"/>
          </a:solidFill>
          <a:ln/>
        </p:spPr>
        <p:txBody>
          <a:bodyPr/>
          <a:lstStyle/>
          <a:p>
            <a:endParaRPr lang="it-IT" dirty="0"/>
          </a:p>
        </p:txBody>
      </p:sp>
      <p:sp>
        <p:nvSpPr>
          <p:cNvPr id="9" name="cerchio FiLayers"/>
          <p:cNvSpPr/>
          <p:nvPr/>
        </p:nvSpPr>
        <p:spPr>
          <a:xfrm>
            <a:off x="2724912" y="1261872"/>
            <a:ext cx="457200" cy="457200"/>
          </a:xfrm>
          <a:prstGeom prst="ellipse">
            <a:avLst/>
          </a:prstGeom>
          <a:solidFill>
            <a:schemeClr val="accent1"/>
          </a:solidFill>
          <a:ln/>
        </p:spPr>
        <p:txBody>
          <a:bodyPr/>
          <a:lstStyle/>
          <a:p>
            <a:endParaRPr lang="it-IT" dirty="0"/>
          </a:p>
        </p:txBody>
      </p:sp>
      <p:pic>
        <p:nvPicPr>
          <p:cNvPr id="10" name="Image 1" descr="FiLayers"/>
          <p:cNvPicPr>
            <a:picLocks noChangeAspect="1"/>
          </p:cNvPicPr>
          <p:nvPr/>
        </p:nvPicPr>
        <p:blipFill>
          <a:blip r:embed="rId4"/>
          <a:stretch>
            <a:fillRect/>
          </a:stretch>
        </p:blipFill>
        <p:spPr>
          <a:xfrm>
            <a:off x="2839212" y="1376172"/>
            <a:ext cx="228600" cy="228600"/>
          </a:xfrm>
          <a:prstGeom prst="rect">
            <a:avLst/>
          </a:prstGeom>
        </p:spPr>
      </p:pic>
      <p:sp>
        <p:nvSpPr>
          <p:cNvPr id="11" name="Text 6"/>
          <p:cNvSpPr txBox="1"/>
          <p:nvPr/>
        </p:nvSpPr>
        <p:spPr>
          <a:xfrm>
            <a:off x="2724912" y="1783080"/>
            <a:ext cx="1691640" cy="548640"/>
          </a:xfrm>
          <a:prstGeom prst="rect">
            <a:avLst/>
          </a:prstGeom>
          <a:noFill/>
          <a:ln/>
        </p:spPr>
        <p:txBody>
          <a:bodyPr wrap="square" lIns="0" tIns="0" rIns="0" bIns="0" rtlCol="0" anchor="t"/>
          <a:lstStyle/>
          <a:p>
            <a:pPr marL="0" indent="0">
              <a:buNone/>
            </a:pPr>
            <a:r>
              <a:rPr lang="it-IT" sz="1300" b="1" dirty="0">
                <a:solidFill>
                  <a:schemeClr val="tx1"/>
                </a:solidFill>
              </a:rPr>
              <a:t>Complessità e ambiguità del compito</a:t>
            </a:r>
            <a:endParaRPr lang="it-IT" sz="1300" dirty="0"/>
          </a:p>
        </p:txBody>
      </p:sp>
      <p:sp>
        <p:nvSpPr>
          <p:cNvPr id="12" name="Qualità delle informazioni"/>
          <p:cNvSpPr/>
          <p:nvPr/>
        </p:nvSpPr>
        <p:spPr>
          <a:xfrm>
            <a:off x="4663440" y="1097280"/>
            <a:ext cx="1965960" cy="1298448"/>
          </a:xfrm>
          <a:prstGeom prst="roundRect">
            <a:avLst>
              <a:gd name="adj" fmla="val 5634"/>
            </a:avLst>
          </a:prstGeom>
          <a:solidFill>
            <a:schemeClr val="accent6"/>
          </a:solidFill>
          <a:ln w="25400">
            <a:solidFill>
              <a:schemeClr val="accent1"/>
            </a:solidFill>
            <a:prstDash val="solid"/>
          </a:ln>
        </p:spPr>
        <p:txBody>
          <a:bodyPr/>
          <a:lstStyle/>
          <a:p>
            <a:endParaRPr lang="it-IT" dirty="0"/>
          </a:p>
        </p:txBody>
      </p:sp>
      <p:sp>
        <p:nvSpPr>
          <p:cNvPr id="13" name="cerchio FiFileText"/>
          <p:cNvSpPr/>
          <p:nvPr/>
        </p:nvSpPr>
        <p:spPr>
          <a:xfrm>
            <a:off x="4828032" y="1261872"/>
            <a:ext cx="457200" cy="457200"/>
          </a:xfrm>
          <a:prstGeom prst="ellipse">
            <a:avLst/>
          </a:prstGeom>
          <a:solidFill>
            <a:schemeClr val="accent1"/>
          </a:solidFill>
          <a:ln/>
        </p:spPr>
        <p:txBody>
          <a:bodyPr/>
          <a:lstStyle/>
          <a:p>
            <a:endParaRPr lang="it-IT" dirty="0"/>
          </a:p>
        </p:txBody>
      </p:sp>
      <p:pic>
        <p:nvPicPr>
          <p:cNvPr id="14" name="Image 2" descr="FiFileText"/>
          <p:cNvPicPr>
            <a:picLocks noChangeAspect="1"/>
          </p:cNvPicPr>
          <p:nvPr/>
        </p:nvPicPr>
        <p:blipFill>
          <a:blip r:embed="rId5"/>
          <a:stretch>
            <a:fillRect/>
          </a:stretch>
        </p:blipFill>
        <p:spPr>
          <a:xfrm>
            <a:off x="4942332" y="1376172"/>
            <a:ext cx="228600" cy="228600"/>
          </a:xfrm>
          <a:prstGeom prst="rect">
            <a:avLst/>
          </a:prstGeom>
        </p:spPr>
      </p:pic>
      <p:sp>
        <p:nvSpPr>
          <p:cNvPr id="15" name="Text 9"/>
          <p:cNvSpPr txBox="1"/>
          <p:nvPr/>
        </p:nvSpPr>
        <p:spPr>
          <a:xfrm>
            <a:off x="4828032" y="1783080"/>
            <a:ext cx="1691640" cy="548640"/>
          </a:xfrm>
          <a:prstGeom prst="rect">
            <a:avLst/>
          </a:prstGeom>
          <a:noFill/>
          <a:ln/>
        </p:spPr>
        <p:txBody>
          <a:bodyPr wrap="square" lIns="0" tIns="0" rIns="0" bIns="0" rtlCol="0" anchor="t"/>
          <a:lstStyle/>
          <a:p>
            <a:pPr marL="0" indent="0">
              <a:buNone/>
            </a:pPr>
            <a:r>
              <a:rPr lang="it-IT" sz="1300" b="1" dirty="0">
                <a:solidFill>
                  <a:schemeClr val="tx1"/>
                </a:solidFill>
              </a:rPr>
              <a:t>Qualità delle informazioni</a:t>
            </a:r>
            <a:endParaRPr lang="it-IT" sz="1300" dirty="0"/>
          </a:p>
        </p:txBody>
      </p:sp>
      <p:sp>
        <p:nvSpPr>
          <p:cNvPr id="16" name="Formulazione delle istruzioni"/>
          <p:cNvSpPr/>
          <p:nvPr/>
        </p:nvSpPr>
        <p:spPr>
          <a:xfrm>
            <a:off x="6766560" y="1097280"/>
            <a:ext cx="1965960" cy="1298448"/>
          </a:xfrm>
          <a:prstGeom prst="roundRect">
            <a:avLst>
              <a:gd name="adj" fmla="val 5634"/>
            </a:avLst>
          </a:prstGeom>
          <a:solidFill>
            <a:schemeClr val="accent6"/>
          </a:solidFill>
          <a:ln w="25400">
            <a:solidFill>
              <a:schemeClr val="accent1"/>
            </a:solidFill>
            <a:prstDash val="solid"/>
          </a:ln>
        </p:spPr>
        <p:txBody>
          <a:bodyPr/>
          <a:lstStyle/>
          <a:p>
            <a:endParaRPr lang="it-IT" dirty="0"/>
          </a:p>
        </p:txBody>
      </p:sp>
      <p:sp>
        <p:nvSpPr>
          <p:cNvPr id="17" name="cerchio FiEdit3"/>
          <p:cNvSpPr/>
          <p:nvPr/>
        </p:nvSpPr>
        <p:spPr>
          <a:xfrm>
            <a:off x="6931152" y="1261872"/>
            <a:ext cx="457200" cy="457200"/>
          </a:xfrm>
          <a:prstGeom prst="ellipse">
            <a:avLst/>
          </a:prstGeom>
          <a:solidFill>
            <a:schemeClr val="accent1"/>
          </a:solidFill>
          <a:ln/>
        </p:spPr>
        <p:txBody>
          <a:bodyPr/>
          <a:lstStyle/>
          <a:p>
            <a:endParaRPr lang="it-IT" dirty="0"/>
          </a:p>
        </p:txBody>
      </p:sp>
      <p:pic>
        <p:nvPicPr>
          <p:cNvPr id="18" name="Image 3" descr="FiEdit3"/>
          <p:cNvPicPr>
            <a:picLocks noChangeAspect="1"/>
          </p:cNvPicPr>
          <p:nvPr/>
        </p:nvPicPr>
        <p:blipFill>
          <a:blip r:embed="rId6"/>
          <a:stretch>
            <a:fillRect/>
          </a:stretch>
        </p:blipFill>
        <p:spPr>
          <a:xfrm>
            <a:off x="7045452" y="1376172"/>
            <a:ext cx="228600" cy="228600"/>
          </a:xfrm>
          <a:prstGeom prst="rect">
            <a:avLst/>
          </a:prstGeom>
        </p:spPr>
      </p:pic>
      <p:sp>
        <p:nvSpPr>
          <p:cNvPr id="19" name="Text 12"/>
          <p:cNvSpPr txBox="1"/>
          <p:nvPr/>
        </p:nvSpPr>
        <p:spPr>
          <a:xfrm>
            <a:off x="6931152" y="1783080"/>
            <a:ext cx="1691640" cy="548640"/>
          </a:xfrm>
          <a:prstGeom prst="rect">
            <a:avLst/>
          </a:prstGeom>
          <a:noFill/>
          <a:ln/>
        </p:spPr>
        <p:txBody>
          <a:bodyPr wrap="square" lIns="0" tIns="0" rIns="0" bIns="0" rtlCol="0" anchor="t"/>
          <a:lstStyle/>
          <a:p>
            <a:pPr marL="0" indent="0">
              <a:buNone/>
            </a:pPr>
            <a:r>
              <a:rPr lang="it-IT" sz="1300" b="1" dirty="0">
                <a:solidFill>
                  <a:schemeClr val="tx1"/>
                </a:solidFill>
              </a:rPr>
              <a:t>Formulazione delle istruzioni</a:t>
            </a:r>
            <a:endParaRPr lang="it-IT" sz="1300" dirty="0"/>
          </a:p>
        </p:txBody>
      </p:sp>
      <p:sp>
        <p:nvSpPr>
          <p:cNvPr id="20" name="Quantità e pertinenza del contesto"/>
          <p:cNvSpPr/>
          <p:nvPr/>
        </p:nvSpPr>
        <p:spPr>
          <a:xfrm>
            <a:off x="1508760" y="2560320"/>
            <a:ext cx="1965960" cy="1298448"/>
          </a:xfrm>
          <a:prstGeom prst="roundRect">
            <a:avLst>
              <a:gd name="adj" fmla="val 5634"/>
            </a:avLst>
          </a:prstGeom>
          <a:solidFill>
            <a:schemeClr val="accent6"/>
          </a:solidFill>
          <a:ln w="25400">
            <a:solidFill>
              <a:schemeClr val="accent1"/>
            </a:solidFill>
            <a:prstDash val="solid"/>
          </a:ln>
        </p:spPr>
        <p:txBody>
          <a:bodyPr/>
          <a:lstStyle/>
          <a:p>
            <a:endParaRPr lang="it-IT" dirty="0"/>
          </a:p>
        </p:txBody>
      </p:sp>
      <p:sp>
        <p:nvSpPr>
          <p:cNvPr id="21" name="cerchio FiMaximize2"/>
          <p:cNvSpPr/>
          <p:nvPr/>
        </p:nvSpPr>
        <p:spPr>
          <a:xfrm>
            <a:off x="1673352" y="2724912"/>
            <a:ext cx="457200" cy="457200"/>
          </a:xfrm>
          <a:prstGeom prst="ellipse">
            <a:avLst/>
          </a:prstGeom>
          <a:solidFill>
            <a:schemeClr val="accent1"/>
          </a:solidFill>
          <a:ln/>
        </p:spPr>
        <p:txBody>
          <a:bodyPr/>
          <a:lstStyle/>
          <a:p>
            <a:endParaRPr lang="it-IT" dirty="0"/>
          </a:p>
        </p:txBody>
      </p:sp>
      <p:pic>
        <p:nvPicPr>
          <p:cNvPr id="22" name="Image 4" descr="FiMaximize2"/>
          <p:cNvPicPr>
            <a:picLocks noChangeAspect="1"/>
          </p:cNvPicPr>
          <p:nvPr/>
        </p:nvPicPr>
        <p:blipFill>
          <a:blip r:embed="rId7"/>
          <a:stretch>
            <a:fillRect/>
          </a:stretch>
        </p:blipFill>
        <p:spPr>
          <a:xfrm>
            <a:off x="1787652" y="2839212"/>
            <a:ext cx="228600" cy="228600"/>
          </a:xfrm>
          <a:prstGeom prst="rect">
            <a:avLst/>
          </a:prstGeom>
        </p:spPr>
      </p:pic>
      <p:sp>
        <p:nvSpPr>
          <p:cNvPr id="23" name="Text 15"/>
          <p:cNvSpPr txBox="1"/>
          <p:nvPr/>
        </p:nvSpPr>
        <p:spPr>
          <a:xfrm>
            <a:off x="1673352" y="3246120"/>
            <a:ext cx="1691640" cy="548640"/>
          </a:xfrm>
          <a:prstGeom prst="rect">
            <a:avLst/>
          </a:prstGeom>
          <a:noFill/>
          <a:ln/>
        </p:spPr>
        <p:txBody>
          <a:bodyPr wrap="square" lIns="0" tIns="0" rIns="0" bIns="0" rtlCol="0" anchor="t"/>
          <a:lstStyle/>
          <a:p>
            <a:pPr marL="0" indent="0">
              <a:buNone/>
            </a:pPr>
            <a:r>
              <a:rPr lang="it-IT" sz="1300" b="1" dirty="0">
                <a:solidFill>
                  <a:schemeClr val="tx1"/>
                </a:solidFill>
              </a:rPr>
              <a:t>Quantità e pertinenza del contesto</a:t>
            </a:r>
            <a:endParaRPr lang="it-IT" sz="1300" dirty="0"/>
          </a:p>
        </p:txBody>
      </p:sp>
      <p:sp>
        <p:nvSpPr>
          <p:cNvPr id="24" name="Strumenti e fonti esterne"/>
          <p:cNvSpPr/>
          <p:nvPr/>
        </p:nvSpPr>
        <p:spPr>
          <a:xfrm>
            <a:off x="3611880" y="2560320"/>
            <a:ext cx="1965960" cy="1298448"/>
          </a:xfrm>
          <a:prstGeom prst="roundRect">
            <a:avLst>
              <a:gd name="adj" fmla="val 5634"/>
            </a:avLst>
          </a:prstGeom>
          <a:solidFill>
            <a:schemeClr val="bg2"/>
          </a:solidFill>
          <a:ln/>
        </p:spPr>
        <p:txBody>
          <a:bodyPr/>
          <a:lstStyle/>
          <a:p>
            <a:endParaRPr lang="it-IT" dirty="0"/>
          </a:p>
        </p:txBody>
      </p:sp>
      <p:sp>
        <p:nvSpPr>
          <p:cNvPr id="25" name="cerchio FiTool"/>
          <p:cNvSpPr/>
          <p:nvPr/>
        </p:nvSpPr>
        <p:spPr>
          <a:xfrm>
            <a:off x="3776472" y="2724912"/>
            <a:ext cx="457200" cy="457200"/>
          </a:xfrm>
          <a:prstGeom prst="ellipse">
            <a:avLst/>
          </a:prstGeom>
          <a:solidFill>
            <a:schemeClr val="accent1"/>
          </a:solidFill>
          <a:ln/>
        </p:spPr>
        <p:txBody>
          <a:bodyPr/>
          <a:lstStyle/>
          <a:p>
            <a:endParaRPr lang="it-IT" dirty="0"/>
          </a:p>
        </p:txBody>
      </p:sp>
      <p:pic>
        <p:nvPicPr>
          <p:cNvPr id="26" name="Image 5" descr="FiTool"/>
          <p:cNvPicPr>
            <a:picLocks noChangeAspect="1"/>
          </p:cNvPicPr>
          <p:nvPr/>
        </p:nvPicPr>
        <p:blipFill>
          <a:blip r:embed="rId8"/>
          <a:stretch>
            <a:fillRect/>
          </a:stretch>
        </p:blipFill>
        <p:spPr>
          <a:xfrm>
            <a:off x="3890772" y="2839212"/>
            <a:ext cx="228600" cy="228600"/>
          </a:xfrm>
          <a:prstGeom prst="rect">
            <a:avLst/>
          </a:prstGeom>
        </p:spPr>
      </p:pic>
      <p:sp>
        <p:nvSpPr>
          <p:cNvPr id="27" name="Text 18"/>
          <p:cNvSpPr txBox="1"/>
          <p:nvPr/>
        </p:nvSpPr>
        <p:spPr>
          <a:xfrm>
            <a:off x="3776472" y="3246120"/>
            <a:ext cx="1691640" cy="548640"/>
          </a:xfrm>
          <a:prstGeom prst="rect">
            <a:avLst/>
          </a:prstGeom>
          <a:noFill/>
          <a:ln/>
        </p:spPr>
        <p:txBody>
          <a:bodyPr wrap="square" lIns="0" tIns="0" rIns="0" bIns="0" rtlCol="0" anchor="t"/>
          <a:lstStyle/>
          <a:p>
            <a:pPr marL="0" indent="0">
              <a:buNone/>
            </a:pPr>
            <a:r>
              <a:rPr lang="it-IT" sz="1300" b="1" dirty="0">
                <a:solidFill>
                  <a:schemeClr val="tx1"/>
                </a:solidFill>
              </a:rPr>
              <a:t>Strumenti e fonti esterne</a:t>
            </a:r>
            <a:endParaRPr lang="it-IT" sz="1300" dirty="0"/>
          </a:p>
        </p:txBody>
      </p:sp>
      <p:sp>
        <p:nvSpPr>
          <p:cNvPr id="28" name="Ambito applicativo"/>
          <p:cNvSpPr/>
          <p:nvPr/>
        </p:nvSpPr>
        <p:spPr>
          <a:xfrm>
            <a:off x="5715000" y="2560320"/>
            <a:ext cx="1965960" cy="1298448"/>
          </a:xfrm>
          <a:prstGeom prst="roundRect">
            <a:avLst>
              <a:gd name="adj" fmla="val 5634"/>
            </a:avLst>
          </a:prstGeom>
          <a:solidFill>
            <a:schemeClr val="bg2"/>
          </a:solidFill>
          <a:ln/>
        </p:spPr>
        <p:txBody>
          <a:bodyPr/>
          <a:lstStyle/>
          <a:p>
            <a:endParaRPr lang="it-IT" dirty="0"/>
          </a:p>
        </p:txBody>
      </p:sp>
      <p:sp>
        <p:nvSpPr>
          <p:cNvPr id="29" name="cerchio FiGlobe"/>
          <p:cNvSpPr/>
          <p:nvPr/>
        </p:nvSpPr>
        <p:spPr>
          <a:xfrm>
            <a:off x="5879592" y="2724912"/>
            <a:ext cx="457200" cy="457200"/>
          </a:xfrm>
          <a:prstGeom prst="ellipse">
            <a:avLst/>
          </a:prstGeom>
          <a:solidFill>
            <a:schemeClr val="accent1"/>
          </a:solidFill>
          <a:ln/>
        </p:spPr>
        <p:txBody>
          <a:bodyPr/>
          <a:lstStyle/>
          <a:p>
            <a:endParaRPr lang="it-IT" dirty="0"/>
          </a:p>
        </p:txBody>
      </p:sp>
      <p:pic>
        <p:nvPicPr>
          <p:cNvPr id="30" name="Image 6" descr="FiGlobe"/>
          <p:cNvPicPr>
            <a:picLocks noChangeAspect="1"/>
          </p:cNvPicPr>
          <p:nvPr/>
        </p:nvPicPr>
        <p:blipFill>
          <a:blip r:embed="rId9"/>
          <a:stretch>
            <a:fillRect/>
          </a:stretch>
        </p:blipFill>
        <p:spPr>
          <a:xfrm>
            <a:off x="5993892" y="2839212"/>
            <a:ext cx="228600" cy="228600"/>
          </a:xfrm>
          <a:prstGeom prst="rect">
            <a:avLst/>
          </a:prstGeom>
        </p:spPr>
      </p:pic>
      <p:sp>
        <p:nvSpPr>
          <p:cNvPr id="31" name="Text 21"/>
          <p:cNvSpPr txBox="1"/>
          <p:nvPr/>
        </p:nvSpPr>
        <p:spPr>
          <a:xfrm>
            <a:off x="5879592" y="3246120"/>
            <a:ext cx="1691640" cy="548640"/>
          </a:xfrm>
          <a:prstGeom prst="rect">
            <a:avLst/>
          </a:prstGeom>
          <a:noFill/>
          <a:ln/>
        </p:spPr>
        <p:txBody>
          <a:bodyPr wrap="square" lIns="0" tIns="0" rIns="0" bIns="0" rtlCol="0" anchor="t"/>
          <a:lstStyle/>
          <a:p>
            <a:pPr marL="0" indent="0">
              <a:buNone/>
            </a:pPr>
            <a:r>
              <a:rPr lang="it-IT" sz="1300" b="1" dirty="0">
                <a:solidFill>
                  <a:schemeClr val="tx1"/>
                </a:solidFill>
              </a:rPr>
              <a:t>Ambito applicativo</a:t>
            </a:r>
            <a:endParaRPr lang="it-IT" sz="1300" dirty="0"/>
          </a:p>
        </p:txBody>
      </p:sp>
      <p:sp>
        <p:nvSpPr>
          <p:cNvPr id="32" name="legenda"/>
          <p:cNvSpPr/>
          <p:nvPr/>
        </p:nvSpPr>
        <p:spPr>
          <a:xfrm>
            <a:off x="457200" y="4160520"/>
            <a:ext cx="320040" cy="274320"/>
          </a:xfrm>
          <a:prstGeom prst="roundRect">
            <a:avLst>
              <a:gd name="adj" fmla="val 16667"/>
            </a:avLst>
          </a:prstGeom>
          <a:solidFill>
            <a:schemeClr val="accent6"/>
          </a:solidFill>
          <a:ln w="25400">
            <a:solidFill>
              <a:schemeClr val="accent1"/>
            </a:solidFill>
            <a:prstDash val="solid"/>
          </a:ln>
        </p:spPr>
        <p:txBody>
          <a:bodyPr/>
          <a:lstStyle/>
          <a:p>
            <a:endParaRPr lang="it-IT" dirty="0"/>
          </a:p>
        </p:txBody>
      </p:sp>
      <p:sp>
        <p:nvSpPr>
          <p:cNvPr id="33" name="Text 23"/>
          <p:cNvSpPr txBox="1"/>
          <p:nvPr/>
        </p:nvSpPr>
        <p:spPr>
          <a:xfrm>
            <a:off x="868680" y="4114800"/>
            <a:ext cx="5486400" cy="365760"/>
          </a:xfrm>
          <a:prstGeom prst="rect">
            <a:avLst/>
          </a:prstGeom>
          <a:noFill/>
          <a:ln/>
        </p:spPr>
        <p:txBody>
          <a:bodyPr wrap="square" lIns="0" tIns="0" rIns="0" bIns="0" rtlCol="0" anchor="ctr"/>
          <a:lstStyle/>
          <a:p>
            <a:pPr marL="0" indent="0">
              <a:buNone/>
            </a:pPr>
            <a:r>
              <a:rPr lang="it-IT" sz="1200" dirty="0">
                <a:solidFill>
                  <a:schemeClr val="tx2"/>
                </a:solidFill>
              </a:rPr>
              <a:t>Fattori in gran parte sotto il nostro controllo</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52</a:t>
            </a:fld>
            <a:endParaRPr lang="it-IT"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Tecnologia, informazioni e modalità operative</a:t>
            </a:r>
            <a:endParaRPr lang="it-IT" sz="2600" dirty="0"/>
          </a:p>
        </p:txBody>
      </p:sp>
      <p:sp>
        <p:nvSpPr>
          <p:cNvPr id="4" name="scheda Tecnologia"/>
          <p:cNvSpPr/>
          <p:nvPr/>
        </p:nvSpPr>
        <p:spPr>
          <a:xfrm>
            <a:off x="457200" y="1097280"/>
            <a:ext cx="2615184" cy="1143000"/>
          </a:xfrm>
          <a:prstGeom prst="roundRect">
            <a:avLst>
              <a:gd name="adj" fmla="val 6400"/>
            </a:avLst>
          </a:prstGeom>
          <a:solidFill>
            <a:schemeClr val="bg2"/>
          </a:solidFill>
          <a:ln/>
        </p:spPr>
        <p:txBody>
          <a:bodyPr/>
          <a:lstStyle/>
          <a:p>
            <a:endParaRPr lang="it-IT" dirty="0"/>
          </a:p>
        </p:txBody>
      </p:sp>
      <p:sp>
        <p:nvSpPr>
          <p:cNvPr id="5" name="cerchio FiCpu"/>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Cpu"/>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1234440" y="1280160"/>
            <a:ext cx="1655064" cy="457200"/>
          </a:xfrm>
          <a:prstGeom prst="rect">
            <a:avLst/>
          </a:prstGeom>
          <a:noFill/>
          <a:ln/>
        </p:spPr>
        <p:txBody>
          <a:bodyPr wrap="square" lIns="0" tIns="0" rIns="0" bIns="0" rtlCol="0" anchor="ctr"/>
          <a:lstStyle/>
          <a:p>
            <a:pPr marL="0" indent="0">
              <a:buNone/>
            </a:pPr>
            <a:r>
              <a:rPr lang="it-IT" sz="1500" b="1" dirty="0">
                <a:solidFill>
                  <a:schemeClr val="tx1"/>
                </a:solidFill>
              </a:rPr>
              <a:t>Tecnologia</a:t>
            </a:r>
            <a:endParaRPr lang="it-IT" sz="1500" dirty="0"/>
          </a:p>
        </p:txBody>
      </p:sp>
      <p:sp>
        <p:nvSpPr>
          <p:cNvPr id="8" name="Text 4"/>
          <p:cNvSpPr txBox="1"/>
          <p:nvPr/>
        </p:nvSpPr>
        <p:spPr>
          <a:xfrm>
            <a:off x="640080" y="1874520"/>
            <a:ext cx="2249424" cy="256032"/>
          </a:xfrm>
          <a:prstGeom prst="rect">
            <a:avLst/>
          </a:prstGeom>
          <a:noFill/>
          <a:ln/>
        </p:spPr>
        <p:txBody>
          <a:bodyPr wrap="square" lIns="0" tIns="0" rIns="0" bIns="0" rtlCol="0" anchor="t"/>
          <a:lstStyle/>
          <a:p>
            <a:pPr marL="0" indent="0">
              <a:buNone/>
            </a:pPr>
            <a:r>
              <a:rPr lang="it-IT" sz="1200" dirty="0">
                <a:solidFill>
                  <a:schemeClr val="tx2"/>
                </a:solidFill>
              </a:rPr>
              <a:t>Modello, sistema, strumenti</a:t>
            </a:r>
            <a:endParaRPr lang="it-IT" sz="1200" dirty="0"/>
          </a:p>
        </p:txBody>
      </p:sp>
      <p:sp>
        <p:nvSpPr>
          <p:cNvPr id="9" name="scheda Informazioni"/>
          <p:cNvSpPr/>
          <p:nvPr/>
        </p:nvSpPr>
        <p:spPr>
          <a:xfrm>
            <a:off x="3264408" y="1097280"/>
            <a:ext cx="2615184" cy="1143000"/>
          </a:xfrm>
          <a:prstGeom prst="roundRect">
            <a:avLst>
              <a:gd name="adj" fmla="val 6400"/>
            </a:avLst>
          </a:prstGeom>
          <a:solidFill>
            <a:schemeClr val="bg2"/>
          </a:solidFill>
          <a:ln/>
        </p:spPr>
        <p:txBody>
          <a:bodyPr/>
          <a:lstStyle/>
          <a:p>
            <a:endParaRPr lang="it-IT" dirty="0"/>
          </a:p>
        </p:txBody>
      </p:sp>
      <p:sp>
        <p:nvSpPr>
          <p:cNvPr id="10" name="cerchio FiDatabase"/>
          <p:cNvSpPr/>
          <p:nvPr/>
        </p:nvSpPr>
        <p:spPr>
          <a:xfrm>
            <a:off x="3447288" y="1280160"/>
            <a:ext cx="457200" cy="457200"/>
          </a:xfrm>
          <a:prstGeom prst="ellipse">
            <a:avLst/>
          </a:prstGeom>
          <a:solidFill>
            <a:schemeClr val="accent1"/>
          </a:solidFill>
          <a:ln/>
        </p:spPr>
        <p:txBody>
          <a:bodyPr/>
          <a:lstStyle/>
          <a:p>
            <a:endParaRPr lang="it-IT" dirty="0"/>
          </a:p>
        </p:txBody>
      </p:sp>
      <p:pic>
        <p:nvPicPr>
          <p:cNvPr id="11" name="Image 1" descr="FiDatabase"/>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4041648" y="1280160"/>
            <a:ext cx="1655064" cy="457200"/>
          </a:xfrm>
          <a:prstGeom prst="rect">
            <a:avLst/>
          </a:prstGeom>
          <a:noFill/>
          <a:ln/>
        </p:spPr>
        <p:txBody>
          <a:bodyPr wrap="square" lIns="0" tIns="0" rIns="0" bIns="0" rtlCol="0" anchor="ctr"/>
          <a:lstStyle/>
          <a:p>
            <a:pPr marL="0" indent="0">
              <a:buNone/>
            </a:pPr>
            <a:r>
              <a:rPr lang="it-IT" sz="1500" b="1" dirty="0">
                <a:solidFill>
                  <a:schemeClr val="tx1"/>
                </a:solidFill>
              </a:rPr>
              <a:t>Informazioni</a:t>
            </a:r>
            <a:endParaRPr lang="it-IT" sz="1500" dirty="0"/>
          </a:p>
        </p:txBody>
      </p:sp>
      <p:sp>
        <p:nvSpPr>
          <p:cNvPr id="13" name="Text 8"/>
          <p:cNvSpPr txBox="1"/>
          <p:nvPr/>
        </p:nvSpPr>
        <p:spPr>
          <a:xfrm>
            <a:off x="3447288" y="1874520"/>
            <a:ext cx="2249424" cy="256032"/>
          </a:xfrm>
          <a:prstGeom prst="rect">
            <a:avLst/>
          </a:prstGeom>
          <a:noFill/>
          <a:ln/>
        </p:spPr>
        <p:txBody>
          <a:bodyPr wrap="square" lIns="0" tIns="0" rIns="0" bIns="0" rtlCol="0" anchor="t"/>
          <a:lstStyle/>
          <a:p>
            <a:pPr marL="0" indent="0">
              <a:buNone/>
            </a:pPr>
            <a:r>
              <a:rPr lang="it-IT" sz="1200" dirty="0">
                <a:solidFill>
                  <a:schemeClr val="tx2"/>
                </a:solidFill>
              </a:rPr>
              <a:t>Qualità, quantità, pertinenza</a:t>
            </a:r>
            <a:endParaRPr lang="it-IT" sz="1200" dirty="0"/>
          </a:p>
        </p:txBody>
      </p:sp>
      <p:sp>
        <p:nvSpPr>
          <p:cNvPr id="14" name="scheda Modalità operative"/>
          <p:cNvSpPr/>
          <p:nvPr/>
        </p:nvSpPr>
        <p:spPr>
          <a:xfrm>
            <a:off x="6071616" y="1097280"/>
            <a:ext cx="2615184" cy="1143000"/>
          </a:xfrm>
          <a:prstGeom prst="roundRect">
            <a:avLst>
              <a:gd name="adj" fmla="val 6400"/>
            </a:avLst>
          </a:prstGeom>
          <a:solidFill>
            <a:schemeClr val="bg2"/>
          </a:solidFill>
          <a:ln/>
        </p:spPr>
        <p:txBody>
          <a:bodyPr/>
          <a:lstStyle/>
          <a:p>
            <a:endParaRPr lang="it-IT" dirty="0"/>
          </a:p>
        </p:txBody>
      </p:sp>
      <p:sp>
        <p:nvSpPr>
          <p:cNvPr id="15" name="cerchio FiEdit3"/>
          <p:cNvSpPr/>
          <p:nvPr/>
        </p:nvSpPr>
        <p:spPr>
          <a:xfrm>
            <a:off x="6254496" y="1280160"/>
            <a:ext cx="457200" cy="457200"/>
          </a:xfrm>
          <a:prstGeom prst="ellipse">
            <a:avLst/>
          </a:prstGeom>
          <a:solidFill>
            <a:schemeClr val="accent1"/>
          </a:solidFill>
          <a:ln/>
        </p:spPr>
        <p:txBody>
          <a:bodyPr/>
          <a:lstStyle/>
          <a:p>
            <a:endParaRPr lang="it-IT" dirty="0"/>
          </a:p>
        </p:txBody>
      </p:sp>
      <p:pic>
        <p:nvPicPr>
          <p:cNvPr id="16" name="Image 2" descr="FiEdit3"/>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848856" y="1280160"/>
            <a:ext cx="1655064" cy="457200"/>
          </a:xfrm>
          <a:prstGeom prst="rect">
            <a:avLst/>
          </a:prstGeom>
          <a:noFill/>
          <a:ln/>
        </p:spPr>
        <p:txBody>
          <a:bodyPr wrap="square" lIns="0" tIns="0" rIns="0" bIns="0" rtlCol="0" anchor="ctr"/>
          <a:lstStyle/>
          <a:p>
            <a:pPr marL="0" indent="0">
              <a:buNone/>
            </a:pPr>
            <a:r>
              <a:rPr lang="it-IT" sz="1500" b="1" dirty="0">
                <a:solidFill>
                  <a:schemeClr val="tx1"/>
                </a:solidFill>
              </a:rPr>
              <a:t>Modalità operative</a:t>
            </a:r>
            <a:endParaRPr lang="it-IT" sz="1500" dirty="0"/>
          </a:p>
        </p:txBody>
      </p:sp>
      <p:sp>
        <p:nvSpPr>
          <p:cNvPr id="18" name="Text 12"/>
          <p:cNvSpPr txBox="1"/>
          <p:nvPr/>
        </p:nvSpPr>
        <p:spPr>
          <a:xfrm>
            <a:off x="6254496" y="1874520"/>
            <a:ext cx="2249424" cy="256032"/>
          </a:xfrm>
          <a:prstGeom prst="rect">
            <a:avLst/>
          </a:prstGeom>
          <a:noFill/>
          <a:ln/>
        </p:spPr>
        <p:txBody>
          <a:bodyPr wrap="square" lIns="0" tIns="0" rIns="0" bIns="0" rtlCol="0" anchor="t"/>
          <a:lstStyle/>
          <a:p>
            <a:pPr marL="0" indent="0">
              <a:buNone/>
            </a:pPr>
            <a:r>
              <a:rPr lang="it-IT" sz="1200" dirty="0">
                <a:solidFill>
                  <a:schemeClr val="tx2"/>
                </a:solidFill>
              </a:rPr>
              <a:t>Istruzioni, compito, ambito</a:t>
            </a:r>
            <a:endParaRPr lang="it-IT" sz="1200" dirty="0"/>
          </a:p>
        </p:txBody>
      </p:sp>
      <p:sp>
        <p:nvSpPr>
          <p:cNvPr id="19" name="domanda esempio"/>
          <p:cNvSpPr/>
          <p:nvPr/>
        </p:nvSpPr>
        <p:spPr>
          <a:xfrm>
            <a:off x="457200" y="2377440"/>
            <a:ext cx="8229600" cy="457200"/>
          </a:xfrm>
          <a:prstGeom prst="roundRect">
            <a:avLst>
              <a:gd name="adj" fmla="val 16000"/>
            </a:avLst>
          </a:prstGeom>
          <a:solidFill>
            <a:schemeClr val="bg2"/>
          </a:solidFill>
          <a:ln/>
        </p:spPr>
        <p:txBody>
          <a:bodyPr/>
          <a:lstStyle/>
          <a:p>
            <a:endParaRPr lang="it-IT" dirty="0"/>
          </a:p>
        </p:txBody>
      </p:sp>
      <p:sp>
        <p:nvSpPr>
          <p:cNvPr id="20" name="Text 14"/>
          <p:cNvSpPr txBox="1"/>
          <p:nvPr/>
        </p:nvSpPr>
        <p:spPr>
          <a:xfrm>
            <a:off x="640080" y="2377440"/>
            <a:ext cx="7863840" cy="457200"/>
          </a:xfrm>
          <a:prstGeom prst="rect">
            <a:avLst/>
          </a:prstGeom>
          <a:noFill/>
          <a:ln/>
        </p:spPr>
        <p:txBody>
          <a:bodyPr wrap="square" lIns="0" tIns="0" rIns="0" bIns="0" rtlCol="0" anchor="ctr"/>
          <a:lstStyle/>
          <a:p>
            <a:pPr marL="0" indent="0">
              <a:buNone/>
            </a:pPr>
            <a:r>
              <a:rPr lang="it-IT" sz="1300" b="1" dirty="0">
                <a:solidFill>
                  <a:schemeClr val="tx1"/>
                </a:solidFill>
              </a:rPr>
              <a:t>Stessa domanda, stesso modello: </a:t>
            </a:r>
            <a:r>
              <a:rPr lang="it-IT" sz="1300" i="1" dirty="0">
                <a:solidFill>
                  <a:schemeClr val="tx1"/>
                </a:solidFill>
              </a:rPr>
              <a:t>"Quali sono i termini di pagamento concordati con il fornitore Rossi?"</a:t>
            </a:r>
            <a:endParaRPr lang="it-IT" sz="1300" dirty="0"/>
          </a:p>
        </p:txBody>
      </p:sp>
      <p:sp>
        <p:nvSpPr>
          <p:cNvPr id="21" name="Nessun documento"/>
          <p:cNvSpPr/>
          <p:nvPr/>
        </p:nvSpPr>
        <p:spPr>
          <a:xfrm>
            <a:off x="457200" y="2971800"/>
            <a:ext cx="2615184" cy="1554480"/>
          </a:xfrm>
          <a:prstGeom prst="roundRect">
            <a:avLst>
              <a:gd name="adj" fmla="val 4706"/>
            </a:avLst>
          </a:prstGeom>
          <a:solidFill>
            <a:schemeClr val="bg2"/>
          </a:solidFill>
          <a:ln/>
        </p:spPr>
        <p:txBody>
          <a:bodyPr/>
          <a:lstStyle/>
          <a:p>
            <a:endParaRPr lang="it-IT" dirty="0"/>
          </a:p>
        </p:txBody>
      </p:sp>
      <p:sp>
        <p:nvSpPr>
          <p:cNvPr id="22" name="Text 16"/>
          <p:cNvSpPr txBox="1"/>
          <p:nvPr/>
        </p:nvSpPr>
        <p:spPr>
          <a:xfrm>
            <a:off x="640080" y="3081528"/>
            <a:ext cx="2249424" cy="365760"/>
          </a:xfrm>
          <a:prstGeom prst="rect">
            <a:avLst/>
          </a:prstGeom>
          <a:noFill/>
          <a:ln/>
        </p:spPr>
        <p:txBody>
          <a:bodyPr wrap="square" lIns="0" tIns="0" rIns="0" bIns="0" rtlCol="0" anchor="t"/>
          <a:lstStyle/>
          <a:p>
            <a:pPr marL="0" indent="0">
              <a:buNone/>
            </a:pPr>
            <a:r>
              <a:rPr lang="it-IT" sz="1400" b="1" dirty="0">
                <a:solidFill>
                  <a:schemeClr val="tx1"/>
                </a:solidFill>
              </a:rPr>
              <a:t>Nessun documento</a:t>
            </a:r>
            <a:endParaRPr lang="it-IT" sz="1400" dirty="0"/>
          </a:p>
        </p:txBody>
      </p:sp>
      <p:sp>
        <p:nvSpPr>
          <p:cNvPr id="23" name="Text 17"/>
          <p:cNvSpPr txBox="1"/>
          <p:nvPr/>
        </p:nvSpPr>
        <p:spPr>
          <a:xfrm>
            <a:off x="640080" y="3474720"/>
            <a:ext cx="2249424" cy="960120"/>
          </a:xfrm>
          <a:prstGeom prst="rect">
            <a:avLst/>
          </a:prstGeom>
          <a:noFill/>
          <a:ln/>
        </p:spPr>
        <p:txBody>
          <a:bodyPr wrap="square" lIns="0" tIns="0" rIns="0" bIns="0" rtlCol="0" anchor="t"/>
          <a:lstStyle/>
          <a:p>
            <a:pPr marL="0" indent="0">
              <a:buNone/>
            </a:pPr>
            <a:r>
              <a:rPr lang="it-IT" sz="1200" dirty="0">
                <a:solidFill>
                  <a:schemeClr val="tx1"/>
                </a:solidFill>
              </a:rPr>
              <a:t>Il sistema non può saperlo: se risponde, inventa</a:t>
            </a:r>
            <a:endParaRPr lang="it-IT" sz="1200" dirty="0"/>
          </a:p>
        </p:txBody>
      </p:sp>
      <p:sp>
        <p:nvSpPr>
          <p:cNvPr id="24" name="Contratto + richiesta vaga"/>
          <p:cNvSpPr/>
          <p:nvPr/>
        </p:nvSpPr>
        <p:spPr>
          <a:xfrm>
            <a:off x="3264408" y="2971800"/>
            <a:ext cx="2615184" cy="1554480"/>
          </a:xfrm>
          <a:prstGeom prst="roundRect">
            <a:avLst>
              <a:gd name="adj" fmla="val 4706"/>
            </a:avLst>
          </a:prstGeom>
          <a:solidFill>
            <a:schemeClr val="accent6"/>
          </a:solidFill>
          <a:ln/>
        </p:spPr>
        <p:txBody>
          <a:bodyPr/>
          <a:lstStyle/>
          <a:p>
            <a:endParaRPr lang="it-IT" dirty="0"/>
          </a:p>
        </p:txBody>
      </p:sp>
      <p:sp>
        <p:nvSpPr>
          <p:cNvPr id="25" name="Text 19"/>
          <p:cNvSpPr txBox="1"/>
          <p:nvPr/>
        </p:nvSpPr>
        <p:spPr>
          <a:xfrm>
            <a:off x="3447288" y="3081528"/>
            <a:ext cx="2249424" cy="365760"/>
          </a:xfrm>
          <a:prstGeom prst="rect">
            <a:avLst/>
          </a:prstGeom>
          <a:noFill/>
          <a:ln/>
        </p:spPr>
        <p:txBody>
          <a:bodyPr wrap="square" lIns="0" tIns="0" rIns="0" bIns="0" rtlCol="0" anchor="t"/>
          <a:lstStyle/>
          <a:p>
            <a:pPr marL="0" indent="0">
              <a:buNone/>
            </a:pPr>
            <a:r>
              <a:rPr lang="it-IT" sz="1400" b="1" dirty="0">
                <a:solidFill>
                  <a:schemeClr val="tx1"/>
                </a:solidFill>
              </a:rPr>
              <a:t>Contratto + richiesta vaga</a:t>
            </a:r>
            <a:endParaRPr lang="it-IT" sz="1400" dirty="0"/>
          </a:p>
        </p:txBody>
      </p:sp>
      <p:sp>
        <p:nvSpPr>
          <p:cNvPr id="26" name="Text 20"/>
          <p:cNvSpPr txBox="1"/>
          <p:nvPr/>
        </p:nvSpPr>
        <p:spPr>
          <a:xfrm>
            <a:off x="3447288" y="3474720"/>
            <a:ext cx="2249424" cy="960120"/>
          </a:xfrm>
          <a:prstGeom prst="rect">
            <a:avLst/>
          </a:prstGeom>
          <a:noFill/>
          <a:ln/>
        </p:spPr>
        <p:txBody>
          <a:bodyPr wrap="square" lIns="0" tIns="0" rIns="0" bIns="0" rtlCol="0" anchor="t"/>
          <a:lstStyle/>
          <a:p>
            <a:pPr marL="0" indent="0">
              <a:buNone/>
            </a:pPr>
            <a:r>
              <a:rPr lang="it-IT" sz="1200" dirty="0">
                <a:solidFill>
                  <a:schemeClr val="tx1"/>
                </a:solidFill>
              </a:rPr>
              <a:t>Probabilmente corretta, forse incompleta</a:t>
            </a:r>
            <a:endParaRPr lang="it-IT" sz="1200" dirty="0"/>
          </a:p>
        </p:txBody>
      </p:sp>
      <p:sp>
        <p:nvSpPr>
          <p:cNvPr id="27" name="Contratto + richiesta precisa"/>
          <p:cNvSpPr/>
          <p:nvPr/>
        </p:nvSpPr>
        <p:spPr>
          <a:xfrm>
            <a:off x="6071616" y="2971800"/>
            <a:ext cx="2615184" cy="1554480"/>
          </a:xfrm>
          <a:prstGeom prst="roundRect">
            <a:avLst>
              <a:gd name="adj" fmla="val 4706"/>
            </a:avLst>
          </a:prstGeom>
          <a:solidFill>
            <a:schemeClr val="accent1"/>
          </a:solidFill>
          <a:ln/>
        </p:spPr>
        <p:txBody>
          <a:bodyPr/>
          <a:lstStyle/>
          <a:p>
            <a:endParaRPr lang="it-IT" dirty="0"/>
          </a:p>
        </p:txBody>
      </p:sp>
      <p:sp>
        <p:nvSpPr>
          <p:cNvPr id="28" name="Text 22"/>
          <p:cNvSpPr txBox="1"/>
          <p:nvPr/>
        </p:nvSpPr>
        <p:spPr>
          <a:xfrm>
            <a:off x="6254496" y="3081528"/>
            <a:ext cx="2249424" cy="365760"/>
          </a:xfrm>
          <a:prstGeom prst="rect">
            <a:avLst/>
          </a:prstGeom>
          <a:noFill/>
          <a:ln/>
        </p:spPr>
        <p:txBody>
          <a:bodyPr wrap="square" lIns="0" tIns="0" rIns="0" bIns="0" rtlCol="0" anchor="t"/>
          <a:lstStyle/>
          <a:p>
            <a:pPr marL="0" indent="0">
              <a:buNone/>
            </a:pPr>
            <a:r>
              <a:rPr lang="it-IT" sz="1400" b="1" dirty="0">
                <a:solidFill>
                  <a:schemeClr val="bg1"/>
                </a:solidFill>
              </a:rPr>
              <a:t>Contratto + richiesta precisa</a:t>
            </a:r>
            <a:endParaRPr lang="it-IT" sz="1400" dirty="0"/>
          </a:p>
        </p:txBody>
      </p:sp>
      <p:sp>
        <p:nvSpPr>
          <p:cNvPr id="29" name="Text 23"/>
          <p:cNvSpPr txBox="1"/>
          <p:nvPr/>
        </p:nvSpPr>
        <p:spPr>
          <a:xfrm>
            <a:off x="6254496" y="3474720"/>
            <a:ext cx="2249424" cy="960120"/>
          </a:xfrm>
          <a:prstGeom prst="rect">
            <a:avLst/>
          </a:prstGeom>
          <a:noFill/>
          <a:ln/>
        </p:spPr>
        <p:txBody>
          <a:bodyPr wrap="square" lIns="0" tIns="0" rIns="0" bIns="0" rtlCol="0" anchor="t"/>
          <a:lstStyle/>
          <a:p>
            <a:pPr marL="0" indent="0">
              <a:buNone/>
            </a:pPr>
            <a:r>
              <a:rPr lang="it-IT" sz="1200" dirty="0">
                <a:solidFill>
                  <a:schemeClr val="bg1"/>
                </a:solidFill>
              </a:rPr>
              <a:t>Termini, scadenze e penali con la clausola: completa e verificabile</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53</a:t>
            </a:fld>
            <a:endParaRPr lang="it-IT"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name="Slide 5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Differenze tra ambiti applicativi</a:t>
            </a:r>
            <a:endParaRPr lang="it-IT" sz="2600" dirty="0"/>
          </a:p>
        </p:txBody>
      </p:sp>
      <p:graphicFrame>
        <p:nvGraphicFramePr>
          <p:cNvPr id="55" name="Table 0"/>
          <p:cNvGraphicFramePr>
            <a:graphicFrameLocks noGrp="1"/>
          </p:cNvGraphicFramePr>
          <p:nvPr>
            <p:extLst>
              <p:ext uri="{D42A27DB-BD31-4B8C-83A1-F6EECF244321}">
                <p14:modId xmlns:p14="http://schemas.microsoft.com/office/powerpoint/2010/main" val="3001033909"/>
              </p:ext>
            </p:extLst>
          </p:nvPr>
        </p:nvGraphicFramePr>
        <p:xfrm>
          <a:off x="457200" y="1097280"/>
          <a:ext cx="8229600" cy="2852928"/>
        </p:xfrm>
        <a:graphic>
          <a:graphicData uri="http://schemas.openxmlformats.org/drawingml/2006/table">
            <a:tbl>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75488">
                <a:tc>
                  <a:txBody>
                    <a:bodyPr/>
                    <a:lstStyle/>
                    <a:p>
                      <a:pPr marL="0" indent="0">
                        <a:buNone/>
                      </a:pPr>
                      <a:r>
                        <a:rPr lang="it-IT" sz="1300" b="1" dirty="0">
                          <a:solidFill>
                            <a:schemeClr val="bg1"/>
                          </a:solidFill>
                        </a:rPr>
                        <a:t>Fattore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dirty="0">
                          <a:solidFill>
                            <a:schemeClr val="bg1"/>
                          </a:solidFill>
                        </a:rPr>
                        <a:t>Più favorevole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it-IT" sz="1300" b="1" dirty="0">
                          <a:solidFill>
                            <a:schemeClr val="bg1"/>
                          </a:solidFill>
                        </a:rPr>
                        <a:t>Meno favorevole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75488">
                <a:tc>
                  <a:txBody>
                    <a:bodyPr/>
                    <a:lstStyle/>
                    <a:p>
                      <a:pPr marL="0" indent="0">
                        <a:buNone/>
                      </a:pPr>
                      <a:r>
                        <a:rPr lang="it-IT" sz="1300" b="1" dirty="0">
                          <a:solidFill>
                            <a:schemeClr val="tx1"/>
                          </a:solidFill>
                        </a:rPr>
                        <a:t>Linguaggio</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Generale, comune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dirty="0">
                          <a:solidFill>
                            <a:schemeClr val="tx1"/>
                          </a:solidFill>
                        </a:rPr>
                        <a:t>Molto tecnico o settoriale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75488">
                <a:tc>
                  <a:txBody>
                    <a:bodyPr/>
                    <a:lstStyle/>
                    <a:p>
                      <a:pPr marL="0" indent="0">
                        <a:buNone/>
                      </a:pPr>
                      <a:r>
                        <a:rPr lang="it-IT" sz="1300" b="1" dirty="0">
                          <a:solidFill>
                            <a:schemeClr val="tx1"/>
                          </a:solidFill>
                        </a:rPr>
                        <a:t>Lingua</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Inglese e lingue molto diffuse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dirty="0">
                          <a:solidFill>
                            <a:schemeClr val="tx1"/>
                          </a:solidFill>
                        </a:rPr>
                        <a:t>Terminologia specialistica in altre lingue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75488">
                <a:tc>
                  <a:txBody>
                    <a:bodyPr/>
                    <a:lstStyle/>
                    <a:p>
                      <a:pPr marL="0" indent="0">
                        <a:buNone/>
                      </a:pPr>
                      <a:r>
                        <a:rPr lang="it-IT" sz="1300" b="1" dirty="0">
                          <a:solidFill>
                            <a:schemeClr val="tx1"/>
                          </a:solidFill>
                        </a:rPr>
                        <a:t>Contesto</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Temi globali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dirty="0">
                          <a:solidFill>
                            <a:schemeClr val="tx1"/>
                          </a:solidFill>
                        </a:rPr>
                        <a:t>Normative e prassi nazionali o locali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75488">
                <a:tc>
                  <a:txBody>
                    <a:bodyPr/>
                    <a:lstStyle/>
                    <a:p>
                      <a:pPr marL="0" indent="0">
                        <a:buNone/>
                      </a:pPr>
                      <a:r>
                        <a:rPr lang="it-IT" sz="1300" b="1" dirty="0">
                          <a:solidFill>
                            <a:schemeClr val="tx1"/>
                          </a:solidFill>
                        </a:rPr>
                        <a:t>Conoscenze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Pubbliche e diffuse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dirty="0">
                          <a:solidFill>
                            <a:schemeClr val="tx1"/>
                          </a:solidFill>
                        </a:rPr>
                        <a:t>Interne all'azienda, se non fornite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75488">
                <a:tc>
                  <a:txBody>
                    <a:bodyPr/>
                    <a:lstStyle/>
                    <a:p>
                      <a:pPr marL="0" indent="0">
                        <a:buNone/>
                      </a:pPr>
                      <a:r>
                        <a:rPr lang="it-IT" sz="1300" b="1" dirty="0">
                          <a:solidFill>
                            <a:schemeClr val="tx1"/>
                          </a:solidFill>
                        </a:rPr>
                        <a:t>Cambiamento</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Ambiti stabili</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dirty="0">
                          <a:solidFill>
                            <a:schemeClr val="tx1"/>
                          </a:solidFill>
                        </a:rPr>
                        <a:t>Ambiti in rapida evoluzione</a:t>
                      </a:r>
                      <a:endParaRPr lang="it-IT"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5" name="messaggio"/>
          <p:cNvSpPr/>
          <p:nvPr/>
        </p:nvSpPr>
        <p:spPr>
          <a:xfrm>
            <a:off x="457200" y="3977640"/>
            <a:ext cx="8229600" cy="548640"/>
          </a:xfrm>
          <a:prstGeom prst="roundRect">
            <a:avLst>
              <a:gd name="adj" fmla="val 13333"/>
            </a:avLst>
          </a:prstGeom>
          <a:solidFill>
            <a:schemeClr val="tx1"/>
          </a:solidFill>
          <a:ln/>
        </p:spPr>
        <p:txBody>
          <a:bodyPr/>
          <a:lstStyle/>
          <a:p>
            <a:endParaRPr lang="it-IT" dirty="0"/>
          </a:p>
        </p:txBody>
      </p:sp>
      <p:sp>
        <p:nvSpPr>
          <p:cNvPr id="6" name="Text 2"/>
          <p:cNvSpPr txBox="1"/>
          <p:nvPr/>
        </p:nvSpPr>
        <p:spPr>
          <a:xfrm>
            <a:off x="640080" y="3977640"/>
            <a:ext cx="7863840" cy="548640"/>
          </a:xfrm>
          <a:prstGeom prst="rect">
            <a:avLst/>
          </a:prstGeom>
          <a:noFill/>
          <a:ln/>
        </p:spPr>
        <p:txBody>
          <a:bodyPr wrap="square" lIns="0" tIns="0" rIns="0" bIns="0" rtlCol="0" anchor="ctr"/>
          <a:lstStyle/>
          <a:p>
            <a:pPr marL="0" indent="0">
              <a:buNone/>
            </a:pPr>
            <a:r>
              <a:rPr lang="it-IT" sz="1300" dirty="0">
                <a:solidFill>
                  <a:schemeClr val="bg1"/>
                </a:solidFill>
              </a:rPr>
              <a:t>Più un ambito è specialistico, locale, interno o in rapido cambiamento, più contano fonti fornite e verifica esperta.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54</a:t>
            </a:fld>
            <a:endParaRPr lang="it-IT"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name="Slide 5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dirty="0">
                <a:solidFill>
                  <a:schemeClr val="bg1"/>
                </a:solidFill>
              </a:rPr>
              <a:t>Le prestazioni derivano dall'interazione tra caratteristiche tecnologiche, qualità delle informazioni e modalità operative.</a:t>
            </a:r>
            <a:endParaRPr lang="it-IT"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dirty="0">
                <a:solidFill>
                  <a:schemeClr val="accent3"/>
                </a:solidFill>
              </a:rPr>
              <a:t>Sottotema 3.7  ·  I fattori che influenzano le prestazioni</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55</a:t>
            </a:fld>
            <a:endParaRPr lang="it-IT"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3.8</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Quando utilizzare o limitare l'AI</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Usare l'AI quando prestazioni e controlli sono compatibili con il rischio del compito, non solo quando sembra capace di eseguirlo</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56</a:t>
            </a:fld>
            <a:endParaRPr lang="it-IT"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Possibilità tecnica e opportunità di utilizzo</a:t>
            </a:r>
            <a:endParaRPr lang="it-IT" sz="2600" dirty="0"/>
          </a:p>
        </p:txBody>
      </p:sp>
      <p:sp>
        <p:nvSpPr>
          <p:cNvPr id="4" name="scheda Può farlo?"/>
          <p:cNvSpPr/>
          <p:nvPr/>
        </p:nvSpPr>
        <p:spPr>
          <a:xfrm>
            <a:off x="457200" y="1097280"/>
            <a:ext cx="3977640" cy="2286000"/>
          </a:xfrm>
          <a:prstGeom prst="roundRect">
            <a:avLst>
              <a:gd name="adj" fmla="val 3200"/>
            </a:avLst>
          </a:prstGeom>
          <a:solidFill>
            <a:schemeClr val="bg2"/>
          </a:solidFill>
          <a:ln/>
        </p:spPr>
        <p:txBody>
          <a:bodyPr/>
          <a:lstStyle/>
          <a:p>
            <a:endParaRPr lang="it-IT" dirty="0"/>
          </a:p>
        </p:txBody>
      </p:sp>
      <p:sp>
        <p:nvSpPr>
          <p:cNvPr id="5" name="cerchio FiCpu"/>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Cpu"/>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700" b="1" dirty="0">
                <a:solidFill>
                  <a:schemeClr val="tx1"/>
                </a:solidFill>
              </a:rPr>
              <a:t>Può farlo?</a:t>
            </a:r>
            <a:endParaRPr lang="it-IT" sz="1700" dirty="0"/>
          </a:p>
        </p:txBody>
      </p:sp>
      <p:sp>
        <p:nvSpPr>
          <p:cNvPr id="8" name="Text 4"/>
          <p:cNvSpPr txBox="1"/>
          <p:nvPr/>
        </p:nvSpPr>
        <p:spPr>
          <a:xfrm>
            <a:off x="640080" y="2231136"/>
            <a:ext cx="3611880" cy="1042416"/>
          </a:xfrm>
          <a:prstGeom prst="rect">
            <a:avLst/>
          </a:prstGeom>
          <a:noFill/>
          <a:ln/>
        </p:spPr>
        <p:txBody>
          <a:bodyPr wrap="square" lIns="0" tIns="0" rIns="0" bIns="0" rtlCol="0" anchor="t"/>
          <a:lstStyle/>
          <a:p>
            <a:pPr marL="0" indent="0">
              <a:buNone/>
            </a:pPr>
            <a:r>
              <a:rPr lang="it-IT" sz="1300" dirty="0">
                <a:solidFill>
                  <a:schemeClr val="tx2"/>
                </a:solidFill>
              </a:rPr>
              <a:t>Possibilità tecnica.</a:t>
            </a:r>
            <a:endParaRPr lang="it-IT" sz="1300" dirty="0"/>
          </a:p>
          <a:p>
            <a:pPr marL="0" indent="0">
              <a:buNone/>
            </a:pPr>
            <a:endParaRPr lang="it-IT" sz="1300" dirty="0"/>
          </a:p>
          <a:p>
            <a:pPr marL="0" indent="0">
              <a:buNone/>
            </a:pPr>
            <a:r>
              <a:rPr lang="it-IT" sz="1300" dirty="0">
                <a:solidFill>
                  <a:schemeClr val="tx2"/>
                </a:solidFill>
              </a:rPr>
              <a:t>Spesso sì: valutazioni, risposte mediche, pareri legali, decisioni su clienti.</a:t>
            </a:r>
            <a:endParaRPr lang="it-IT" sz="1300" dirty="0"/>
          </a:p>
        </p:txBody>
      </p:sp>
      <p:sp>
        <p:nvSpPr>
          <p:cNvPr id="9" name="scheda È opportuno farlo?"/>
          <p:cNvSpPr/>
          <p:nvPr/>
        </p:nvSpPr>
        <p:spPr>
          <a:xfrm>
            <a:off x="4709160" y="1097280"/>
            <a:ext cx="3977640" cy="2286000"/>
          </a:xfrm>
          <a:prstGeom prst="roundRect">
            <a:avLst>
              <a:gd name="adj" fmla="val 3200"/>
            </a:avLst>
          </a:prstGeom>
          <a:solidFill>
            <a:schemeClr val="accent6"/>
          </a:solidFill>
          <a:ln/>
        </p:spPr>
        <p:txBody>
          <a:bodyPr/>
          <a:lstStyle/>
          <a:p>
            <a:endParaRPr lang="it-IT" dirty="0"/>
          </a:p>
        </p:txBody>
      </p:sp>
      <p:sp>
        <p:nvSpPr>
          <p:cNvPr id="10" name="cerchio FiHelpCircle"/>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HelpCircle"/>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700" b="1" dirty="0">
                <a:solidFill>
                  <a:schemeClr val="tx1"/>
                </a:solidFill>
              </a:rPr>
              <a:t>È opportuno farlo?</a:t>
            </a:r>
            <a:endParaRPr lang="it-IT" sz="1700" dirty="0"/>
          </a:p>
        </p:txBody>
      </p:sp>
      <p:sp>
        <p:nvSpPr>
          <p:cNvPr id="13" name="Text 8"/>
          <p:cNvSpPr txBox="1"/>
          <p:nvPr/>
        </p:nvSpPr>
        <p:spPr>
          <a:xfrm>
            <a:off x="4892040" y="2231136"/>
            <a:ext cx="3611880" cy="1042416"/>
          </a:xfrm>
          <a:prstGeom prst="rect">
            <a:avLst/>
          </a:prstGeom>
          <a:noFill/>
          <a:ln/>
        </p:spPr>
        <p:txBody>
          <a:bodyPr wrap="square" lIns="0" tIns="0" rIns="0" bIns="0" rtlCol="0" anchor="t"/>
          <a:lstStyle/>
          <a:p>
            <a:pPr marL="177800" indent="-177800">
              <a:spcAft>
                <a:spcPts val="100"/>
              </a:spcAft>
              <a:buSzPct val="100000"/>
              <a:buChar char="•"/>
            </a:pPr>
            <a:r>
              <a:rPr lang="it-IT" sz="1300" dirty="0">
                <a:solidFill>
                  <a:schemeClr val="tx2"/>
                </a:solidFill>
              </a:rPr>
              <a:t>Affidabilità per quel compito</a:t>
            </a:r>
            <a:endParaRPr lang="it-IT" sz="1300" dirty="0"/>
          </a:p>
          <a:p>
            <a:pPr marL="177800" indent="-177800">
              <a:spcAft>
                <a:spcPts val="100"/>
              </a:spcAft>
              <a:buSzPct val="100000"/>
              <a:buChar char="•"/>
            </a:pPr>
            <a:r>
              <a:rPr lang="it-IT" sz="1300" dirty="0">
                <a:solidFill>
                  <a:schemeClr val="tx2"/>
                </a:solidFill>
              </a:rPr>
              <a:t>Gravità di un errore</a:t>
            </a:r>
            <a:endParaRPr lang="it-IT" sz="1300" dirty="0"/>
          </a:p>
          <a:p>
            <a:pPr marL="177800" indent="-177800">
              <a:spcAft>
                <a:spcPts val="100"/>
              </a:spcAft>
              <a:buSzPct val="100000"/>
              <a:buChar char="•"/>
            </a:pPr>
            <a:r>
              <a:rPr lang="it-IT" sz="1300" dirty="0">
                <a:solidFill>
                  <a:schemeClr val="tx2"/>
                </a:solidFill>
              </a:rPr>
              <a:t>Possibilità di verificare</a:t>
            </a:r>
            <a:endParaRPr lang="it-IT" sz="1300" dirty="0"/>
          </a:p>
          <a:p>
            <a:pPr marL="177800" indent="-177800">
              <a:spcAft>
                <a:spcPts val="100"/>
              </a:spcAft>
              <a:buSzPct val="100000"/>
              <a:buChar char="•"/>
            </a:pPr>
            <a:r>
              <a:rPr lang="it-IT" sz="1300" dirty="0">
                <a:solidFill>
                  <a:schemeClr val="tx2"/>
                </a:solidFill>
              </a:rPr>
              <a:t>Chi subisce le conseguenze</a:t>
            </a:r>
            <a:endParaRPr lang="it-IT" sz="1300" dirty="0"/>
          </a:p>
          <a:p>
            <a:pPr marL="177800" indent="-177800">
              <a:spcAft>
                <a:spcPts val="100"/>
              </a:spcAft>
              <a:buSzPct val="100000"/>
              <a:buChar char="•"/>
            </a:pPr>
            <a:r>
              <a:rPr lang="it-IT" sz="1300" dirty="0">
                <a:solidFill>
                  <a:schemeClr val="tx2"/>
                </a:solidFill>
              </a:rPr>
              <a:t>Regole aziendali e normative</a:t>
            </a:r>
            <a:endParaRPr lang="it-IT" sz="1300" dirty="0"/>
          </a:p>
        </p:txBody>
      </p:sp>
      <p:sp>
        <p:nvSpPr>
          <p:cNvPr id="14" name="messaggio"/>
          <p:cNvSpPr/>
          <p:nvPr/>
        </p:nvSpPr>
        <p:spPr>
          <a:xfrm>
            <a:off x="457200" y="3566160"/>
            <a:ext cx="8229600" cy="960120"/>
          </a:xfrm>
          <a:prstGeom prst="roundRect">
            <a:avLst>
              <a:gd name="adj" fmla="val 7619"/>
            </a:avLst>
          </a:prstGeom>
          <a:solidFill>
            <a:schemeClr val="tx1"/>
          </a:solidFill>
          <a:ln/>
        </p:spPr>
        <p:txBody>
          <a:bodyPr/>
          <a:lstStyle/>
          <a:p>
            <a:endParaRPr lang="it-IT" dirty="0"/>
          </a:p>
        </p:txBody>
      </p:sp>
      <p:sp>
        <p:nvSpPr>
          <p:cNvPr id="15" name="Text 10"/>
          <p:cNvSpPr txBox="1"/>
          <p:nvPr/>
        </p:nvSpPr>
        <p:spPr>
          <a:xfrm>
            <a:off x="640080" y="3566160"/>
            <a:ext cx="7863840" cy="960120"/>
          </a:xfrm>
          <a:prstGeom prst="rect">
            <a:avLst/>
          </a:prstGeom>
          <a:noFill/>
          <a:ln/>
        </p:spPr>
        <p:txBody>
          <a:bodyPr wrap="square" lIns="0" tIns="0" rIns="0" bIns="0" rtlCol="0" anchor="ctr"/>
          <a:lstStyle/>
          <a:p>
            <a:pPr marL="0" indent="0">
              <a:buNone/>
            </a:pPr>
            <a:r>
              <a:rPr lang="it-IT" sz="1400" dirty="0">
                <a:solidFill>
                  <a:schemeClr val="bg1"/>
                </a:solidFill>
              </a:rPr>
              <a:t>Un neoassunto brillante può scrivere un contratto, ma non lo facciamo firmare senza revisione.</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57</a:t>
            </a:fld>
            <a:endParaRPr lang="it-IT"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Le conseguenze di un errore</a:t>
            </a:r>
            <a:endParaRPr lang="it-IT" sz="2600" dirty="0"/>
          </a:p>
        </p:txBody>
      </p:sp>
      <p:sp>
        <p:nvSpPr>
          <p:cNvPr id="4" name="Gravità"/>
          <p:cNvSpPr/>
          <p:nvPr/>
        </p:nvSpPr>
        <p:spPr>
          <a:xfrm>
            <a:off x="457200" y="1097280"/>
            <a:ext cx="4023360" cy="1211580"/>
          </a:xfrm>
          <a:prstGeom prst="roundRect">
            <a:avLst>
              <a:gd name="adj" fmla="val 6038"/>
            </a:avLst>
          </a:prstGeom>
          <a:solidFill>
            <a:schemeClr val="bg2"/>
          </a:solidFill>
          <a:ln/>
        </p:spPr>
        <p:txBody>
          <a:bodyPr/>
          <a:lstStyle/>
          <a:p>
            <a:endParaRPr lang="it-IT" dirty="0"/>
          </a:p>
        </p:txBody>
      </p:sp>
      <p:sp>
        <p:nvSpPr>
          <p:cNvPr id="5" name="cerchio FiAlertTriangle"/>
          <p:cNvSpPr/>
          <p:nvPr/>
        </p:nvSpPr>
        <p:spPr>
          <a:xfrm>
            <a:off x="621792" y="1261872"/>
            <a:ext cx="438912" cy="438912"/>
          </a:xfrm>
          <a:prstGeom prst="ellipse">
            <a:avLst/>
          </a:prstGeom>
          <a:solidFill>
            <a:schemeClr val="accent1"/>
          </a:solidFill>
          <a:ln/>
        </p:spPr>
        <p:txBody>
          <a:bodyPr/>
          <a:lstStyle/>
          <a:p>
            <a:endParaRPr lang="it-IT" dirty="0"/>
          </a:p>
        </p:txBody>
      </p:sp>
      <p:pic>
        <p:nvPicPr>
          <p:cNvPr id="6" name="Image 0" descr="FiAlertTriangle"/>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3200400" cy="512064"/>
          </a:xfrm>
          <a:prstGeom prst="rect">
            <a:avLst/>
          </a:prstGeom>
          <a:noFill/>
          <a:ln/>
        </p:spPr>
        <p:txBody>
          <a:bodyPr wrap="square" lIns="0" tIns="0" rIns="0" bIns="0" rtlCol="0" anchor="ctr"/>
          <a:lstStyle/>
          <a:p>
            <a:pPr marL="0" indent="0">
              <a:buNone/>
            </a:pPr>
            <a:r>
              <a:rPr lang="it-IT" sz="1500" b="1" dirty="0">
                <a:solidFill>
                  <a:schemeClr val="tx1"/>
                </a:solidFill>
              </a:rPr>
              <a:t>Gravità</a:t>
            </a:r>
            <a:endParaRPr lang="it-IT" sz="1500" dirty="0"/>
          </a:p>
        </p:txBody>
      </p:sp>
      <p:sp>
        <p:nvSpPr>
          <p:cNvPr id="8" name="Text 4"/>
          <p:cNvSpPr txBox="1"/>
          <p:nvPr/>
        </p:nvSpPr>
        <p:spPr>
          <a:xfrm>
            <a:off x="621792" y="1810512"/>
            <a:ext cx="3694176" cy="406908"/>
          </a:xfrm>
          <a:prstGeom prst="rect">
            <a:avLst/>
          </a:prstGeom>
          <a:noFill/>
          <a:ln/>
        </p:spPr>
        <p:txBody>
          <a:bodyPr wrap="square" lIns="0" tIns="0" rIns="0" bIns="0" rtlCol="0" anchor="t"/>
          <a:lstStyle/>
          <a:p>
            <a:pPr marL="0" indent="0">
              <a:buNone/>
            </a:pPr>
            <a:r>
              <a:rPr lang="it-IT" sz="1300" dirty="0">
                <a:solidFill>
                  <a:schemeClr val="tx2"/>
                </a:solidFill>
              </a:rPr>
              <a:t>Una frase poco elegante o un importo sbagliato in un'offerta?</a:t>
            </a:r>
            <a:endParaRPr lang="it-IT" sz="1300" dirty="0"/>
          </a:p>
        </p:txBody>
      </p:sp>
      <p:sp>
        <p:nvSpPr>
          <p:cNvPr id="9" name="Reversibilità"/>
          <p:cNvSpPr/>
          <p:nvPr/>
        </p:nvSpPr>
        <p:spPr>
          <a:xfrm>
            <a:off x="4663440" y="1097280"/>
            <a:ext cx="4023360" cy="1211580"/>
          </a:xfrm>
          <a:prstGeom prst="roundRect">
            <a:avLst>
              <a:gd name="adj" fmla="val 6038"/>
            </a:avLst>
          </a:prstGeom>
          <a:solidFill>
            <a:schemeClr val="bg2"/>
          </a:solidFill>
          <a:ln/>
        </p:spPr>
        <p:txBody>
          <a:bodyPr/>
          <a:lstStyle/>
          <a:p>
            <a:endParaRPr lang="it-IT" dirty="0"/>
          </a:p>
        </p:txBody>
      </p:sp>
      <p:sp>
        <p:nvSpPr>
          <p:cNvPr id="10" name="cerchio FiRotateCcw"/>
          <p:cNvSpPr/>
          <p:nvPr/>
        </p:nvSpPr>
        <p:spPr>
          <a:xfrm>
            <a:off x="4828032" y="1261872"/>
            <a:ext cx="438912" cy="438912"/>
          </a:xfrm>
          <a:prstGeom prst="ellipse">
            <a:avLst/>
          </a:prstGeom>
          <a:solidFill>
            <a:schemeClr val="accent1"/>
          </a:solidFill>
          <a:ln/>
        </p:spPr>
        <p:txBody>
          <a:bodyPr/>
          <a:lstStyle/>
          <a:p>
            <a:endParaRPr lang="it-IT" dirty="0"/>
          </a:p>
        </p:txBody>
      </p:sp>
      <p:pic>
        <p:nvPicPr>
          <p:cNvPr id="11" name="Image 1" descr="FiRotateCcw"/>
          <p:cNvPicPr>
            <a:picLocks noChangeAspect="1"/>
          </p:cNvPicPr>
          <p:nvPr/>
        </p:nvPicPr>
        <p:blipFill>
          <a:blip r:embed="rId4"/>
          <a:stretch>
            <a:fillRect/>
          </a:stretch>
        </p:blipFill>
        <p:spPr>
          <a:xfrm>
            <a:off x="4937760" y="1371600"/>
            <a:ext cx="219456" cy="219456"/>
          </a:xfrm>
          <a:prstGeom prst="rect">
            <a:avLst/>
          </a:prstGeom>
        </p:spPr>
      </p:pic>
      <p:sp>
        <p:nvSpPr>
          <p:cNvPr id="12" name="Text 7"/>
          <p:cNvSpPr txBox="1"/>
          <p:nvPr/>
        </p:nvSpPr>
        <p:spPr>
          <a:xfrm>
            <a:off x="5376672" y="1225296"/>
            <a:ext cx="3200400" cy="512064"/>
          </a:xfrm>
          <a:prstGeom prst="rect">
            <a:avLst/>
          </a:prstGeom>
          <a:noFill/>
          <a:ln/>
        </p:spPr>
        <p:txBody>
          <a:bodyPr wrap="square" lIns="0" tIns="0" rIns="0" bIns="0" rtlCol="0" anchor="ctr"/>
          <a:lstStyle/>
          <a:p>
            <a:pPr marL="0" indent="0">
              <a:buNone/>
            </a:pPr>
            <a:r>
              <a:rPr lang="it-IT" sz="1500" b="1" dirty="0">
                <a:solidFill>
                  <a:schemeClr val="tx1"/>
                </a:solidFill>
              </a:rPr>
              <a:t>Reversibilità</a:t>
            </a:r>
            <a:endParaRPr lang="it-IT" sz="1500" dirty="0"/>
          </a:p>
        </p:txBody>
      </p:sp>
      <p:sp>
        <p:nvSpPr>
          <p:cNvPr id="13" name="Text 8"/>
          <p:cNvSpPr txBox="1"/>
          <p:nvPr/>
        </p:nvSpPr>
        <p:spPr>
          <a:xfrm>
            <a:off x="4828032" y="1810512"/>
            <a:ext cx="3694176" cy="406908"/>
          </a:xfrm>
          <a:prstGeom prst="rect">
            <a:avLst/>
          </a:prstGeom>
          <a:noFill/>
          <a:ln/>
        </p:spPr>
        <p:txBody>
          <a:bodyPr wrap="square" lIns="0" tIns="0" rIns="0" bIns="0" rtlCol="0" anchor="t"/>
          <a:lstStyle/>
          <a:p>
            <a:pPr marL="0" indent="0">
              <a:buNone/>
            </a:pPr>
            <a:r>
              <a:rPr lang="it-IT" sz="1300" dirty="0">
                <a:solidFill>
                  <a:schemeClr val="tx2"/>
                </a:solidFill>
              </a:rPr>
              <a:t>Una bozza da correggere o un'email inviata a mille clienti?</a:t>
            </a:r>
            <a:endParaRPr lang="it-IT" sz="1300" dirty="0"/>
          </a:p>
        </p:txBody>
      </p:sp>
      <p:sp>
        <p:nvSpPr>
          <p:cNvPr id="14" name="Chi ne subisce le conseguenze"/>
          <p:cNvSpPr/>
          <p:nvPr/>
        </p:nvSpPr>
        <p:spPr>
          <a:xfrm>
            <a:off x="457200" y="2491740"/>
            <a:ext cx="4023360" cy="1211580"/>
          </a:xfrm>
          <a:prstGeom prst="roundRect">
            <a:avLst>
              <a:gd name="adj" fmla="val 6038"/>
            </a:avLst>
          </a:prstGeom>
          <a:solidFill>
            <a:schemeClr val="bg2"/>
          </a:solidFill>
          <a:ln/>
        </p:spPr>
        <p:txBody>
          <a:bodyPr/>
          <a:lstStyle/>
          <a:p>
            <a:endParaRPr lang="it-IT" dirty="0"/>
          </a:p>
        </p:txBody>
      </p:sp>
      <p:sp>
        <p:nvSpPr>
          <p:cNvPr id="15" name="cerchio FiUsers"/>
          <p:cNvSpPr/>
          <p:nvPr/>
        </p:nvSpPr>
        <p:spPr>
          <a:xfrm>
            <a:off x="621792" y="2656332"/>
            <a:ext cx="438912" cy="438912"/>
          </a:xfrm>
          <a:prstGeom prst="ellipse">
            <a:avLst/>
          </a:prstGeom>
          <a:solidFill>
            <a:schemeClr val="accent1"/>
          </a:solidFill>
          <a:ln/>
        </p:spPr>
        <p:txBody>
          <a:bodyPr/>
          <a:lstStyle/>
          <a:p>
            <a:endParaRPr lang="it-IT" dirty="0"/>
          </a:p>
        </p:txBody>
      </p:sp>
      <p:pic>
        <p:nvPicPr>
          <p:cNvPr id="16" name="Image 2" descr="FiUsers"/>
          <p:cNvPicPr>
            <a:picLocks noChangeAspect="1"/>
          </p:cNvPicPr>
          <p:nvPr/>
        </p:nvPicPr>
        <p:blipFill>
          <a:blip r:embed="rId5"/>
          <a:stretch>
            <a:fillRect/>
          </a:stretch>
        </p:blipFill>
        <p:spPr>
          <a:xfrm>
            <a:off x="731520" y="2766060"/>
            <a:ext cx="219456" cy="219456"/>
          </a:xfrm>
          <a:prstGeom prst="rect">
            <a:avLst/>
          </a:prstGeom>
        </p:spPr>
      </p:pic>
      <p:sp>
        <p:nvSpPr>
          <p:cNvPr id="17" name="Text 11"/>
          <p:cNvSpPr txBox="1"/>
          <p:nvPr/>
        </p:nvSpPr>
        <p:spPr>
          <a:xfrm>
            <a:off x="1170432" y="2619756"/>
            <a:ext cx="3200400" cy="512064"/>
          </a:xfrm>
          <a:prstGeom prst="rect">
            <a:avLst/>
          </a:prstGeom>
          <a:noFill/>
          <a:ln/>
        </p:spPr>
        <p:txBody>
          <a:bodyPr wrap="square" lIns="0" tIns="0" rIns="0" bIns="0" rtlCol="0" anchor="ctr"/>
          <a:lstStyle/>
          <a:p>
            <a:pPr marL="0" indent="0">
              <a:buNone/>
            </a:pPr>
            <a:r>
              <a:rPr lang="it-IT" sz="1500" b="1" dirty="0">
                <a:solidFill>
                  <a:schemeClr val="tx1"/>
                </a:solidFill>
              </a:rPr>
              <a:t>Chi ne subisce le conseguenze</a:t>
            </a:r>
            <a:endParaRPr lang="it-IT" sz="1500" dirty="0"/>
          </a:p>
        </p:txBody>
      </p:sp>
      <p:sp>
        <p:nvSpPr>
          <p:cNvPr id="18" name="Text 12"/>
          <p:cNvSpPr txBox="1"/>
          <p:nvPr/>
        </p:nvSpPr>
        <p:spPr>
          <a:xfrm>
            <a:off x="621792" y="3204972"/>
            <a:ext cx="3694176" cy="406908"/>
          </a:xfrm>
          <a:prstGeom prst="rect">
            <a:avLst/>
          </a:prstGeom>
          <a:noFill/>
          <a:ln/>
        </p:spPr>
        <p:txBody>
          <a:bodyPr wrap="square" lIns="0" tIns="0" rIns="0" bIns="0" rtlCol="0" anchor="t"/>
          <a:lstStyle/>
          <a:p>
            <a:pPr marL="0" indent="0">
              <a:buNone/>
            </a:pPr>
            <a:r>
              <a:rPr lang="it-IT" sz="1300" dirty="0">
                <a:solidFill>
                  <a:schemeClr val="tx2"/>
                </a:solidFill>
              </a:rPr>
              <a:t>Resta a noi o ricade su clienti, collaboratori, cittadini?</a:t>
            </a:r>
            <a:endParaRPr lang="it-IT" sz="1300" dirty="0"/>
          </a:p>
        </p:txBody>
      </p:sp>
      <p:sp>
        <p:nvSpPr>
          <p:cNvPr id="19" name="Rilevabilità"/>
          <p:cNvSpPr/>
          <p:nvPr/>
        </p:nvSpPr>
        <p:spPr>
          <a:xfrm>
            <a:off x="4663440" y="2491740"/>
            <a:ext cx="4023360" cy="1211580"/>
          </a:xfrm>
          <a:prstGeom prst="roundRect">
            <a:avLst>
              <a:gd name="adj" fmla="val 6038"/>
            </a:avLst>
          </a:prstGeom>
          <a:solidFill>
            <a:schemeClr val="bg2"/>
          </a:solidFill>
          <a:ln/>
        </p:spPr>
        <p:txBody>
          <a:bodyPr/>
          <a:lstStyle/>
          <a:p>
            <a:endParaRPr lang="it-IT" dirty="0"/>
          </a:p>
        </p:txBody>
      </p:sp>
      <p:sp>
        <p:nvSpPr>
          <p:cNvPr id="20" name="cerchio FiEyeOff"/>
          <p:cNvSpPr/>
          <p:nvPr/>
        </p:nvSpPr>
        <p:spPr>
          <a:xfrm>
            <a:off x="4828032" y="2656332"/>
            <a:ext cx="438912" cy="438912"/>
          </a:xfrm>
          <a:prstGeom prst="ellipse">
            <a:avLst/>
          </a:prstGeom>
          <a:solidFill>
            <a:schemeClr val="accent1"/>
          </a:solidFill>
          <a:ln/>
        </p:spPr>
        <p:txBody>
          <a:bodyPr/>
          <a:lstStyle/>
          <a:p>
            <a:endParaRPr lang="it-IT" dirty="0"/>
          </a:p>
        </p:txBody>
      </p:sp>
      <p:pic>
        <p:nvPicPr>
          <p:cNvPr id="21" name="Image 3" descr="FiEyeOff"/>
          <p:cNvPicPr>
            <a:picLocks noChangeAspect="1"/>
          </p:cNvPicPr>
          <p:nvPr/>
        </p:nvPicPr>
        <p:blipFill>
          <a:blip r:embed="rId6"/>
          <a:stretch>
            <a:fillRect/>
          </a:stretch>
        </p:blipFill>
        <p:spPr>
          <a:xfrm>
            <a:off x="4937760" y="2766060"/>
            <a:ext cx="219456" cy="219456"/>
          </a:xfrm>
          <a:prstGeom prst="rect">
            <a:avLst/>
          </a:prstGeom>
        </p:spPr>
      </p:pic>
      <p:sp>
        <p:nvSpPr>
          <p:cNvPr id="22" name="Text 15"/>
          <p:cNvSpPr txBox="1"/>
          <p:nvPr/>
        </p:nvSpPr>
        <p:spPr>
          <a:xfrm>
            <a:off x="5376672" y="2619756"/>
            <a:ext cx="3200400" cy="512064"/>
          </a:xfrm>
          <a:prstGeom prst="rect">
            <a:avLst/>
          </a:prstGeom>
          <a:noFill/>
          <a:ln/>
        </p:spPr>
        <p:txBody>
          <a:bodyPr wrap="square" lIns="0" tIns="0" rIns="0" bIns="0" rtlCol="0" anchor="ctr"/>
          <a:lstStyle/>
          <a:p>
            <a:pPr marL="0" indent="0">
              <a:buNone/>
            </a:pPr>
            <a:r>
              <a:rPr lang="it-IT" sz="1500" b="1" dirty="0">
                <a:solidFill>
                  <a:schemeClr val="tx1"/>
                </a:solidFill>
              </a:rPr>
              <a:t>Rilevabilità</a:t>
            </a:r>
            <a:endParaRPr lang="it-IT" sz="1500" dirty="0"/>
          </a:p>
        </p:txBody>
      </p:sp>
      <p:sp>
        <p:nvSpPr>
          <p:cNvPr id="23" name="Text 16"/>
          <p:cNvSpPr txBox="1"/>
          <p:nvPr/>
        </p:nvSpPr>
        <p:spPr>
          <a:xfrm>
            <a:off x="4828032" y="3204972"/>
            <a:ext cx="3694176" cy="406908"/>
          </a:xfrm>
          <a:prstGeom prst="rect">
            <a:avLst/>
          </a:prstGeom>
          <a:noFill/>
          <a:ln/>
        </p:spPr>
        <p:txBody>
          <a:bodyPr wrap="square" lIns="0" tIns="0" rIns="0" bIns="0" rtlCol="0" anchor="t"/>
          <a:lstStyle/>
          <a:p>
            <a:pPr marL="0" indent="0">
              <a:buNone/>
            </a:pPr>
            <a:r>
              <a:rPr lang="it-IT" sz="1300" dirty="0">
                <a:solidFill>
                  <a:schemeClr val="tx2"/>
                </a:solidFill>
              </a:rPr>
              <a:t>Si nota subito o resta nascosto e si propaga?</a:t>
            </a:r>
            <a:endParaRPr lang="it-IT" sz="1300" dirty="0"/>
          </a:p>
        </p:txBody>
      </p:sp>
      <p:sp>
        <p:nvSpPr>
          <p:cNvPr id="24" name="messaggio"/>
          <p:cNvSpPr/>
          <p:nvPr/>
        </p:nvSpPr>
        <p:spPr>
          <a:xfrm>
            <a:off x="457200" y="3886200"/>
            <a:ext cx="8229600" cy="640080"/>
          </a:xfrm>
          <a:prstGeom prst="roundRect">
            <a:avLst>
              <a:gd name="adj" fmla="val 11429"/>
            </a:avLst>
          </a:prstGeom>
          <a:solidFill>
            <a:schemeClr val="tx1"/>
          </a:solidFill>
          <a:ln/>
        </p:spPr>
        <p:txBody>
          <a:bodyPr/>
          <a:lstStyle/>
          <a:p>
            <a:endParaRPr lang="it-IT" dirty="0"/>
          </a:p>
        </p:txBody>
      </p:sp>
      <p:sp>
        <p:nvSpPr>
          <p:cNvPr id="25" name="Text 18"/>
          <p:cNvSpPr txBox="1"/>
          <p:nvPr/>
        </p:nvSpPr>
        <p:spPr>
          <a:xfrm>
            <a:off x="640080" y="3886200"/>
            <a:ext cx="7863840" cy="640080"/>
          </a:xfrm>
          <a:prstGeom prst="rect">
            <a:avLst/>
          </a:prstGeom>
          <a:noFill/>
          <a:ln/>
        </p:spPr>
        <p:txBody>
          <a:bodyPr wrap="square" lIns="0" tIns="0" rIns="0" bIns="0" rtlCol="0" anchor="ctr"/>
          <a:lstStyle/>
          <a:p>
            <a:pPr marL="0" indent="0">
              <a:buNone/>
            </a:pPr>
            <a:r>
              <a:rPr lang="it-IT" sz="1400" dirty="0">
                <a:solidFill>
                  <a:schemeClr val="bg1"/>
                </a:solidFill>
              </a:rPr>
              <a:t>Più gravità, irreversibilità, impatto su terzi e difficoltà di rilevazione: più cautela.</a:t>
            </a:r>
            <a:endParaRPr lang="it-IT"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58</a:t>
            </a:fld>
            <a:endParaRPr lang="it-IT"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Attività a basso e alto impatto</a:t>
            </a:r>
            <a:endParaRPr lang="it-IT" sz="2600" dirty="0"/>
          </a:p>
        </p:txBody>
      </p:sp>
      <p:sp>
        <p:nvSpPr>
          <p:cNvPr id="4" name="Text 1"/>
          <p:cNvSpPr txBox="1"/>
          <p:nvPr/>
        </p:nvSpPr>
        <p:spPr>
          <a:xfrm>
            <a:off x="1463040" y="1051560"/>
            <a:ext cx="3474720" cy="274320"/>
          </a:xfrm>
          <a:prstGeom prst="rect">
            <a:avLst/>
          </a:prstGeom>
          <a:noFill/>
          <a:ln/>
        </p:spPr>
        <p:txBody>
          <a:bodyPr wrap="square" lIns="0" tIns="0" rIns="0" bIns="0" rtlCol="0" anchor="t"/>
          <a:lstStyle/>
          <a:p>
            <a:pPr marL="0" indent="0" algn="ctr">
              <a:buNone/>
            </a:pPr>
            <a:r>
              <a:rPr lang="it-IT" sz="1200" b="1" dirty="0">
                <a:solidFill>
                  <a:schemeClr val="accent2"/>
                </a:solidFill>
              </a:rPr>
              <a:t>Verifica facile</a:t>
            </a:r>
            <a:endParaRPr lang="it-IT" sz="1200" dirty="0"/>
          </a:p>
        </p:txBody>
      </p:sp>
      <p:sp>
        <p:nvSpPr>
          <p:cNvPr id="5" name="Text 2"/>
          <p:cNvSpPr txBox="1"/>
          <p:nvPr/>
        </p:nvSpPr>
        <p:spPr>
          <a:xfrm>
            <a:off x="5029200" y="1051560"/>
            <a:ext cx="3474720" cy="274320"/>
          </a:xfrm>
          <a:prstGeom prst="rect">
            <a:avLst/>
          </a:prstGeom>
          <a:noFill/>
          <a:ln/>
        </p:spPr>
        <p:txBody>
          <a:bodyPr wrap="square" lIns="0" tIns="0" rIns="0" bIns="0" rtlCol="0" anchor="t"/>
          <a:lstStyle/>
          <a:p>
            <a:pPr marL="0" indent="0" algn="ctr">
              <a:buNone/>
            </a:pPr>
            <a:r>
              <a:rPr lang="it-IT" sz="1200" b="1" dirty="0">
                <a:solidFill>
                  <a:schemeClr val="accent2"/>
                </a:solidFill>
              </a:rPr>
              <a:t>Verifica difficile</a:t>
            </a:r>
            <a:endParaRPr lang="it-IT" sz="1200" dirty="0"/>
          </a:p>
        </p:txBody>
      </p:sp>
      <p:sp>
        <p:nvSpPr>
          <p:cNvPr id="6" name="Text 3"/>
          <p:cNvSpPr txBox="1"/>
          <p:nvPr/>
        </p:nvSpPr>
        <p:spPr>
          <a:xfrm>
            <a:off x="457200" y="1371600"/>
            <a:ext cx="914400" cy="1463040"/>
          </a:xfrm>
          <a:prstGeom prst="rect">
            <a:avLst/>
          </a:prstGeom>
          <a:noFill/>
          <a:ln/>
        </p:spPr>
        <p:txBody>
          <a:bodyPr wrap="square" lIns="0" tIns="0" rIns="0" bIns="0" rtlCol="0" anchor="ctr"/>
          <a:lstStyle/>
          <a:p>
            <a:pPr marL="0" indent="0">
              <a:buNone/>
            </a:pPr>
            <a:r>
              <a:rPr lang="it-IT" sz="1200" b="1" dirty="0">
                <a:solidFill>
                  <a:schemeClr val="accent2"/>
                </a:solidFill>
              </a:rPr>
              <a:t>Basso impatto</a:t>
            </a:r>
            <a:endParaRPr lang="it-IT" sz="1200" dirty="0"/>
          </a:p>
        </p:txBody>
      </p:sp>
      <p:sp>
        <p:nvSpPr>
          <p:cNvPr id="7" name="Text 4"/>
          <p:cNvSpPr txBox="1"/>
          <p:nvPr/>
        </p:nvSpPr>
        <p:spPr>
          <a:xfrm>
            <a:off x="457200" y="2971800"/>
            <a:ext cx="914400" cy="1463040"/>
          </a:xfrm>
          <a:prstGeom prst="rect">
            <a:avLst/>
          </a:prstGeom>
          <a:noFill/>
          <a:ln/>
        </p:spPr>
        <p:txBody>
          <a:bodyPr wrap="square" lIns="0" tIns="0" rIns="0" bIns="0" rtlCol="0" anchor="ctr"/>
          <a:lstStyle/>
          <a:p>
            <a:pPr marL="0" indent="0">
              <a:buNone/>
            </a:pPr>
            <a:r>
              <a:rPr lang="it-IT" sz="1200" b="1" dirty="0">
                <a:solidFill>
                  <a:schemeClr val="accent2"/>
                </a:solidFill>
              </a:rPr>
              <a:t>Alto impatto</a:t>
            </a:r>
            <a:endParaRPr lang="it-IT" sz="1200" dirty="0"/>
          </a:p>
        </p:txBody>
      </p:sp>
      <p:sp>
        <p:nvSpPr>
          <p:cNvPr id="8" name="Usare liberamente"/>
          <p:cNvSpPr/>
          <p:nvPr/>
        </p:nvSpPr>
        <p:spPr>
          <a:xfrm>
            <a:off x="1463040" y="1371600"/>
            <a:ext cx="3429000" cy="1463040"/>
          </a:xfrm>
          <a:prstGeom prst="roundRect">
            <a:avLst>
              <a:gd name="adj" fmla="val 5000"/>
            </a:avLst>
          </a:prstGeom>
          <a:solidFill>
            <a:schemeClr val="accent6"/>
          </a:solidFill>
          <a:ln/>
        </p:spPr>
        <p:txBody>
          <a:bodyPr/>
          <a:lstStyle/>
          <a:p>
            <a:endParaRPr lang="it-IT" dirty="0"/>
          </a:p>
        </p:txBody>
      </p:sp>
      <p:sp>
        <p:nvSpPr>
          <p:cNvPr id="9" name="Text 6"/>
          <p:cNvSpPr txBox="1"/>
          <p:nvPr/>
        </p:nvSpPr>
        <p:spPr>
          <a:xfrm>
            <a:off x="1645920" y="1463040"/>
            <a:ext cx="3063240" cy="347472"/>
          </a:xfrm>
          <a:prstGeom prst="rect">
            <a:avLst/>
          </a:prstGeom>
          <a:noFill/>
          <a:ln/>
        </p:spPr>
        <p:txBody>
          <a:bodyPr wrap="square" lIns="0" tIns="0" rIns="0" bIns="0" rtlCol="0" anchor="t"/>
          <a:lstStyle/>
          <a:p>
            <a:pPr marL="0" indent="0">
              <a:buNone/>
            </a:pPr>
            <a:r>
              <a:rPr lang="it-IT" sz="1500" b="1" dirty="0">
                <a:solidFill>
                  <a:schemeClr val="tx1"/>
                </a:solidFill>
              </a:rPr>
              <a:t>Usare liberamente</a:t>
            </a:r>
            <a:endParaRPr lang="it-IT" sz="1500" dirty="0"/>
          </a:p>
        </p:txBody>
      </p:sp>
      <p:sp>
        <p:nvSpPr>
          <p:cNvPr id="10" name="Text 7"/>
          <p:cNvSpPr txBox="1"/>
          <p:nvPr/>
        </p:nvSpPr>
        <p:spPr>
          <a:xfrm>
            <a:off x="1645920" y="1828800"/>
            <a:ext cx="3063240" cy="292608"/>
          </a:xfrm>
          <a:prstGeom prst="rect">
            <a:avLst/>
          </a:prstGeom>
          <a:noFill/>
          <a:ln/>
        </p:spPr>
        <p:txBody>
          <a:bodyPr wrap="square" lIns="0" tIns="0" rIns="0" bIns="0" rtlCol="0" anchor="t"/>
          <a:lstStyle/>
          <a:p>
            <a:pPr marL="0" indent="0">
              <a:buNone/>
            </a:pPr>
            <a:r>
              <a:rPr lang="it-IT" sz="1200" b="1" dirty="0">
                <a:solidFill>
                  <a:schemeClr val="accent1"/>
                </a:solidFill>
              </a:rPr>
              <a:t>Con una rilettura</a:t>
            </a:r>
            <a:endParaRPr lang="it-IT" sz="1200" dirty="0"/>
          </a:p>
        </p:txBody>
      </p:sp>
      <p:sp>
        <p:nvSpPr>
          <p:cNvPr id="11" name="Text 8"/>
          <p:cNvSpPr txBox="1"/>
          <p:nvPr/>
        </p:nvSpPr>
        <p:spPr>
          <a:xfrm>
            <a:off x="1645920" y="2148840"/>
            <a:ext cx="3063240" cy="640080"/>
          </a:xfrm>
          <a:prstGeom prst="rect">
            <a:avLst/>
          </a:prstGeom>
          <a:noFill/>
          <a:ln/>
        </p:spPr>
        <p:txBody>
          <a:bodyPr wrap="square" lIns="0" tIns="0" rIns="0" bIns="0" rtlCol="0" anchor="t"/>
          <a:lstStyle/>
          <a:p>
            <a:pPr marL="0" indent="0">
              <a:buNone/>
            </a:pPr>
            <a:r>
              <a:rPr lang="it-IT" sz="1200" dirty="0">
                <a:solidFill>
                  <a:schemeClr val="tx1"/>
                </a:solidFill>
              </a:rPr>
              <a:t>Bozze interne, idee, riformulazioni</a:t>
            </a:r>
            <a:endParaRPr lang="it-IT" sz="1200" dirty="0"/>
          </a:p>
        </p:txBody>
      </p:sp>
      <p:sp>
        <p:nvSpPr>
          <p:cNvPr id="12" name="Usare come indicazione"/>
          <p:cNvSpPr/>
          <p:nvPr/>
        </p:nvSpPr>
        <p:spPr>
          <a:xfrm>
            <a:off x="5029200" y="1371600"/>
            <a:ext cx="3429000" cy="1463040"/>
          </a:xfrm>
          <a:prstGeom prst="roundRect">
            <a:avLst>
              <a:gd name="adj" fmla="val 5000"/>
            </a:avLst>
          </a:prstGeom>
          <a:solidFill>
            <a:schemeClr val="bg2"/>
          </a:solidFill>
          <a:ln/>
        </p:spPr>
        <p:txBody>
          <a:bodyPr/>
          <a:lstStyle/>
          <a:p>
            <a:endParaRPr lang="it-IT" dirty="0"/>
          </a:p>
        </p:txBody>
      </p:sp>
      <p:sp>
        <p:nvSpPr>
          <p:cNvPr id="13" name="Text 10"/>
          <p:cNvSpPr txBox="1"/>
          <p:nvPr/>
        </p:nvSpPr>
        <p:spPr>
          <a:xfrm>
            <a:off x="5212080" y="1463040"/>
            <a:ext cx="3063240" cy="347472"/>
          </a:xfrm>
          <a:prstGeom prst="rect">
            <a:avLst/>
          </a:prstGeom>
          <a:noFill/>
          <a:ln/>
        </p:spPr>
        <p:txBody>
          <a:bodyPr wrap="square" lIns="0" tIns="0" rIns="0" bIns="0" rtlCol="0" anchor="t"/>
          <a:lstStyle/>
          <a:p>
            <a:pPr marL="0" indent="0">
              <a:buNone/>
            </a:pPr>
            <a:r>
              <a:rPr lang="it-IT" sz="1500" b="1" dirty="0">
                <a:solidFill>
                  <a:schemeClr val="tx1"/>
                </a:solidFill>
              </a:rPr>
              <a:t>Usare come indicazione</a:t>
            </a:r>
            <a:endParaRPr lang="it-IT" sz="1500" dirty="0"/>
          </a:p>
        </p:txBody>
      </p:sp>
      <p:sp>
        <p:nvSpPr>
          <p:cNvPr id="14" name="Text 11"/>
          <p:cNvSpPr txBox="1"/>
          <p:nvPr/>
        </p:nvSpPr>
        <p:spPr>
          <a:xfrm>
            <a:off x="5212080" y="1828800"/>
            <a:ext cx="3063240" cy="292608"/>
          </a:xfrm>
          <a:prstGeom prst="rect">
            <a:avLst/>
          </a:prstGeom>
          <a:noFill/>
          <a:ln/>
        </p:spPr>
        <p:txBody>
          <a:bodyPr wrap="square" lIns="0" tIns="0" rIns="0" bIns="0" rtlCol="0" anchor="t"/>
          <a:lstStyle/>
          <a:p>
            <a:pPr marL="0" indent="0">
              <a:buNone/>
            </a:pPr>
            <a:r>
              <a:rPr lang="it-IT" sz="1200" b="1" dirty="0">
                <a:solidFill>
                  <a:schemeClr val="accent1"/>
                </a:solidFill>
              </a:rPr>
              <a:t>Da approfondire, non conclusioni</a:t>
            </a:r>
            <a:endParaRPr lang="it-IT" sz="1200" dirty="0"/>
          </a:p>
        </p:txBody>
      </p:sp>
      <p:sp>
        <p:nvSpPr>
          <p:cNvPr id="15" name="Text 12"/>
          <p:cNvSpPr txBox="1"/>
          <p:nvPr/>
        </p:nvSpPr>
        <p:spPr>
          <a:xfrm>
            <a:off x="5212080" y="2148840"/>
            <a:ext cx="3063240" cy="640080"/>
          </a:xfrm>
          <a:prstGeom prst="rect">
            <a:avLst/>
          </a:prstGeom>
          <a:noFill/>
          <a:ln/>
        </p:spPr>
        <p:txBody>
          <a:bodyPr wrap="square" lIns="0" tIns="0" rIns="0" bIns="0" rtlCol="0" anchor="t"/>
          <a:lstStyle/>
          <a:p>
            <a:pPr marL="0" indent="0">
              <a:buNone/>
            </a:pPr>
            <a:r>
              <a:rPr lang="it-IT" sz="1200" dirty="0">
                <a:solidFill>
                  <a:schemeClr val="tx1"/>
                </a:solidFill>
              </a:rPr>
              <a:t>Ricerche esplorative su temi poco noti</a:t>
            </a:r>
            <a:endParaRPr lang="it-IT" sz="1200" dirty="0"/>
          </a:p>
        </p:txBody>
      </p:sp>
      <p:sp>
        <p:nvSpPr>
          <p:cNvPr id="16" name="Usare con verifica sistematica"/>
          <p:cNvSpPr/>
          <p:nvPr/>
        </p:nvSpPr>
        <p:spPr>
          <a:xfrm>
            <a:off x="1463040" y="2971800"/>
            <a:ext cx="3429000" cy="1463040"/>
          </a:xfrm>
          <a:prstGeom prst="roundRect">
            <a:avLst>
              <a:gd name="adj" fmla="val 5000"/>
            </a:avLst>
          </a:prstGeom>
          <a:solidFill>
            <a:schemeClr val="bg2"/>
          </a:solidFill>
          <a:ln/>
        </p:spPr>
        <p:txBody>
          <a:bodyPr/>
          <a:lstStyle/>
          <a:p>
            <a:endParaRPr lang="it-IT" dirty="0"/>
          </a:p>
        </p:txBody>
      </p:sp>
      <p:sp>
        <p:nvSpPr>
          <p:cNvPr id="17" name="Text 14"/>
          <p:cNvSpPr txBox="1"/>
          <p:nvPr/>
        </p:nvSpPr>
        <p:spPr>
          <a:xfrm>
            <a:off x="1645920" y="3063240"/>
            <a:ext cx="3063240" cy="347472"/>
          </a:xfrm>
          <a:prstGeom prst="rect">
            <a:avLst/>
          </a:prstGeom>
          <a:noFill/>
          <a:ln/>
        </p:spPr>
        <p:txBody>
          <a:bodyPr wrap="square" lIns="0" tIns="0" rIns="0" bIns="0" rtlCol="0" anchor="t"/>
          <a:lstStyle/>
          <a:p>
            <a:pPr marL="0" indent="0">
              <a:buNone/>
            </a:pPr>
            <a:r>
              <a:rPr lang="it-IT" sz="1500" b="1" dirty="0">
                <a:solidFill>
                  <a:schemeClr val="tx1"/>
                </a:solidFill>
              </a:rPr>
              <a:t>Usare con verifica sistematica</a:t>
            </a:r>
            <a:endParaRPr lang="it-IT" sz="1500" dirty="0"/>
          </a:p>
        </p:txBody>
      </p:sp>
      <p:sp>
        <p:nvSpPr>
          <p:cNvPr id="18" name="Text 15"/>
          <p:cNvSpPr txBox="1"/>
          <p:nvPr/>
        </p:nvSpPr>
        <p:spPr>
          <a:xfrm>
            <a:off x="1645920" y="3429000"/>
            <a:ext cx="3063240" cy="292608"/>
          </a:xfrm>
          <a:prstGeom prst="rect">
            <a:avLst/>
          </a:prstGeom>
          <a:noFill/>
          <a:ln/>
        </p:spPr>
        <p:txBody>
          <a:bodyPr wrap="square" lIns="0" tIns="0" rIns="0" bIns="0" rtlCol="0" anchor="t"/>
          <a:lstStyle/>
          <a:p>
            <a:pPr marL="0" indent="0">
              <a:buNone/>
            </a:pPr>
            <a:r>
              <a:rPr lang="it-IT" sz="1200" b="1" dirty="0">
                <a:solidFill>
                  <a:schemeClr val="accent1"/>
                </a:solidFill>
              </a:rPr>
              <a:t>Controllo completo prima dell'uso</a:t>
            </a:r>
            <a:endParaRPr lang="it-IT" sz="1200" dirty="0"/>
          </a:p>
        </p:txBody>
      </p:sp>
      <p:sp>
        <p:nvSpPr>
          <p:cNvPr id="19" name="Text 16"/>
          <p:cNvSpPr txBox="1"/>
          <p:nvPr/>
        </p:nvSpPr>
        <p:spPr>
          <a:xfrm>
            <a:off x="1645920" y="3749040"/>
            <a:ext cx="3063240" cy="640080"/>
          </a:xfrm>
          <a:prstGeom prst="rect">
            <a:avLst/>
          </a:prstGeom>
          <a:noFill/>
          <a:ln/>
        </p:spPr>
        <p:txBody>
          <a:bodyPr wrap="square" lIns="0" tIns="0" rIns="0" bIns="0" rtlCol="0" anchor="t"/>
          <a:lstStyle/>
          <a:p>
            <a:pPr marL="0" indent="0">
              <a:buNone/>
            </a:pPr>
            <a:r>
              <a:rPr lang="it-IT" sz="1200" dirty="0">
                <a:solidFill>
                  <a:schemeClr val="tx1"/>
                </a:solidFill>
              </a:rPr>
              <a:t>Offerte, documenti da dati controllabili</a:t>
            </a:r>
            <a:endParaRPr lang="it-IT" sz="1200" dirty="0"/>
          </a:p>
        </p:txBody>
      </p:sp>
      <p:sp>
        <p:nvSpPr>
          <p:cNvPr id="20" name="Limitare o evitare"/>
          <p:cNvSpPr/>
          <p:nvPr/>
        </p:nvSpPr>
        <p:spPr>
          <a:xfrm>
            <a:off x="5029200" y="2971800"/>
            <a:ext cx="3429000" cy="1463040"/>
          </a:xfrm>
          <a:prstGeom prst="roundRect">
            <a:avLst>
              <a:gd name="adj" fmla="val 5000"/>
            </a:avLst>
          </a:prstGeom>
          <a:solidFill>
            <a:schemeClr val="tx1"/>
          </a:solidFill>
          <a:ln/>
        </p:spPr>
        <p:txBody>
          <a:bodyPr/>
          <a:lstStyle/>
          <a:p>
            <a:endParaRPr lang="it-IT" dirty="0"/>
          </a:p>
        </p:txBody>
      </p:sp>
      <p:sp>
        <p:nvSpPr>
          <p:cNvPr id="21" name="Text 18"/>
          <p:cNvSpPr txBox="1"/>
          <p:nvPr/>
        </p:nvSpPr>
        <p:spPr>
          <a:xfrm>
            <a:off x="5212080" y="3063240"/>
            <a:ext cx="3063240" cy="347472"/>
          </a:xfrm>
          <a:prstGeom prst="rect">
            <a:avLst/>
          </a:prstGeom>
          <a:noFill/>
          <a:ln/>
        </p:spPr>
        <p:txBody>
          <a:bodyPr wrap="square" lIns="0" tIns="0" rIns="0" bIns="0" rtlCol="0" anchor="t"/>
          <a:lstStyle/>
          <a:p>
            <a:pPr marL="0" indent="0">
              <a:buNone/>
            </a:pPr>
            <a:r>
              <a:rPr lang="it-IT" sz="1500" b="1" dirty="0">
                <a:solidFill>
                  <a:schemeClr val="bg1"/>
                </a:solidFill>
              </a:rPr>
              <a:t>Limitare o evitare</a:t>
            </a:r>
            <a:endParaRPr lang="it-IT" sz="1500" dirty="0"/>
          </a:p>
        </p:txBody>
      </p:sp>
      <p:sp>
        <p:nvSpPr>
          <p:cNvPr id="22" name="Text 19"/>
          <p:cNvSpPr txBox="1"/>
          <p:nvPr/>
        </p:nvSpPr>
        <p:spPr>
          <a:xfrm>
            <a:off x="5212080" y="3429000"/>
            <a:ext cx="3063240" cy="292608"/>
          </a:xfrm>
          <a:prstGeom prst="rect">
            <a:avLst/>
          </a:prstGeom>
          <a:noFill/>
          <a:ln/>
        </p:spPr>
        <p:txBody>
          <a:bodyPr wrap="square" lIns="0" tIns="0" rIns="0" bIns="0" rtlCol="0" anchor="t"/>
          <a:lstStyle/>
          <a:p>
            <a:pPr marL="0" indent="0">
              <a:buNone/>
            </a:pPr>
            <a:r>
              <a:rPr lang="it-IT" sz="1200" b="1" dirty="0">
                <a:solidFill>
                  <a:schemeClr val="accent6"/>
                </a:solidFill>
              </a:rPr>
              <a:t>Solo supporto a esperti competenti</a:t>
            </a:r>
            <a:endParaRPr lang="it-IT" sz="1200" dirty="0"/>
          </a:p>
        </p:txBody>
      </p:sp>
      <p:sp>
        <p:nvSpPr>
          <p:cNvPr id="23" name="Text 20"/>
          <p:cNvSpPr txBox="1"/>
          <p:nvPr/>
        </p:nvSpPr>
        <p:spPr>
          <a:xfrm>
            <a:off x="5212080" y="3749040"/>
            <a:ext cx="3063240" cy="640080"/>
          </a:xfrm>
          <a:prstGeom prst="rect">
            <a:avLst/>
          </a:prstGeom>
          <a:noFill/>
          <a:ln/>
        </p:spPr>
        <p:txBody>
          <a:bodyPr wrap="square" lIns="0" tIns="0" rIns="0" bIns="0" rtlCol="0" anchor="t"/>
          <a:lstStyle/>
          <a:p>
            <a:pPr marL="0" indent="0">
              <a:buNone/>
            </a:pPr>
            <a:r>
              <a:rPr lang="it-IT" sz="1200" dirty="0">
                <a:solidFill>
                  <a:schemeClr val="bg1"/>
                </a:solidFill>
              </a:rPr>
              <a:t>Decisioni su persone, valutazioni legali, mediche, di sicurezza</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59</a:t>
            </a:fld>
            <a:endParaRPr lang="it-IT"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name="Slide 6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Affidabilità adeguata allo scopo</a:t>
            </a:r>
            <a:endParaRPr lang="it-IT" sz="2600" dirty="0"/>
          </a:p>
        </p:txBody>
      </p:sp>
      <p:sp>
        <p:nvSpPr>
          <p:cNvPr id="4" name="Text 1"/>
          <p:cNvSpPr txBox="1"/>
          <p:nvPr/>
        </p:nvSpPr>
        <p:spPr>
          <a:xfrm>
            <a:off x="457200" y="1051560"/>
            <a:ext cx="2743200" cy="274320"/>
          </a:xfrm>
          <a:prstGeom prst="rect">
            <a:avLst/>
          </a:prstGeom>
          <a:noFill/>
          <a:ln/>
        </p:spPr>
        <p:txBody>
          <a:bodyPr wrap="square" lIns="0" tIns="0" rIns="0" bIns="0" rtlCol="0" anchor="t"/>
          <a:lstStyle/>
          <a:p>
            <a:pPr marL="0" indent="0">
              <a:buNone/>
            </a:pPr>
            <a:r>
              <a:rPr lang="it-IT" sz="1200" b="1" dirty="0">
                <a:solidFill>
                  <a:schemeClr val="accent2"/>
                </a:solidFill>
              </a:rPr>
              <a:t>Conseguenze di un errore</a:t>
            </a:r>
            <a:endParaRPr lang="it-IT" sz="1200" dirty="0"/>
          </a:p>
        </p:txBody>
      </p:sp>
      <p:sp>
        <p:nvSpPr>
          <p:cNvPr id="5" name="Text 2"/>
          <p:cNvSpPr txBox="1"/>
          <p:nvPr/>
        </p:nvSpPr>
        <p:spPr>
          <a:xfrm>
            <a:off x="3383280" y="1051560"/>
            <a:ext cx="2651760" cy="274320"/>
          </a:xfrm>
          <a:prstGeom prst="rect">
            <a:avLst/>
          </a:prstGeom>
          <a:noFill/>
          <a:ln/>
        </p:spPr>
        <p:txBody>
          <a:bodyPr wrap="square" lIns="0" tIns="0" rIns="0" bIns="0" rtlCol="0" anchor="t"/>
          <a:lstStyle/>
          <a:p>
            <a:pPr marL="0" indent="0">
              <a:buNone/>
            </a:pPr>
            <a:r>
              <a:rPr lang="it-IT" sz="1200" b="1" dirty="0">
                <a:solidFill>
                  <a:schemeClr val="accent2"/>
                </a:solidFill>
              </a:rPr>
              <a:t>Affidabilità richiesta</a:t>
            </a:r>
            <a:endParaRPr lang="it-IT" sz="1200" dirty="0"/>
          </a:p>
        </p:txBody>
      </p:sp>
      <p:sp>
        <p:nvSpPr>
          <p:cNvPr id="6" name="Text 3"/>
          <p:cNvSpPr txBox="1"/>
          <p:nvPr/>
        </p:nvSpPr>
        <p:spPr>
          <a:xfrm>
            <a:off x="6217920" y="1051560"/>
            <a:ext cx="2468880" cy="274320"/>
          </a:xfrm>
          <a:prstGeom prst="rect">
            <a:avLst/>
          </a:prstGeom>
          <a:noFill/>
          <a:ln/>
        </p:spPr>
        <p:txBody>
          <a:bodyPr wrap="square" lIns="0" tIns="0" rIns="0" bIns="0" rtlCol="0" anchor="t"/>
          <a:lstStyle/>
          <a:p>
            <a:pPr marL="0" indent="0">
              <a:buNone/>
            </a:pPr>
            <a:r>
              <a:rPr lang="it-IT" sz="1200" b="1" dirty="0">
                <a:solidFill>
                  <a:schemeClr val="accent2"/>
                </a:solidFill>
              </a:rPr>
              <a:t>Controlli necessari</a:t>
            </a:r>
            <a:endParaRPr lang="it-IT" sz="1200" dirty="0"/>
          </a:p>
        </p:txBody>
      </p:sp>
      <p:sp>
        <p:nvSpPr>
          <p:cNvPr id="7" name="conseguenze Lievi"/>
          <p:cNvSpPr/>
          <p:nvPr/>
        </p:nvSpPr>
        <p:spPr>
          <a:xfrm>
            <a:off x="457200" y="1371600"/>
            <a:ext cx="2743200" cy="749808"/>
          </a:xfrm>
          <a:prstGeom prst="roundRect">
            <a:avLst>
              <a:gd name="adj" fmla="val 9756"/>
            </a:avLst>
          </a:prstGeom>
          <a:solidFill>
            <a:schemeClr val="bg2"/>
          </a:solidFill>
          <a:ln/>
        </p:spPr>
        <p:txBody>
          <a:bodyPr/>
          <a:lstStyle/>
          <a:p>
            <a:endParaRPr lang="it-IT" dirty="0"/>
          </a:p>
        </p:txBody>
      </p:sp>
      <p:sp>
        <p:nvSpPr>
          <p:cNvPr id="8" name="Text 5"/>
          <p:cNvSpPr txBox="1"/>
          <p:nvPr/>
        </p:nvSpPr>
        <p:spPr>
          <a:xfrm>
            <a:off x="594360" y="1426464"/>
            <a:ext cx="2468880" cy="292608"/>
          </a:xfrm>
          <a:prstGeom prst="rect">
            <a:avLst/>
          </a:prstGeom>
          <a:noFill/>
          <a:ln/>
        </p:spPr>
        <p:txBody>
          <a:bodyPr wrap="square" lIns="0" tIns="0" rIns="0" bIns="0" rtlCol="0" anchor="t"/>
          <a:lstStyle/>
          <a:p>
            <a:pPr marL="0" indent="0">
              <a:buNone/>
            </a:pPr>
            <a:r>
              <a:rPr lang="it-IT" sz="1400" b="1" dirty="0">
                <a:solidFill>
                  <a:schemeClr val="tx1"/>
                </a:solidFill>
              </a:rPr>
              <a:t>Lievi</a:t>
            </a:r>
            <a:endParaRPr lang="it-IT" sz="1400" dirty="0"/>
          </a:p>
        </p:txBody>
      </p:sp>
      <p:sp>
        <p:nvSpPr>
          <p:cNvPr id="9" name="Text 6"/>
          <p:cNvSpPr txBox="1"/>
          <p:nvPr/>
        </p:nvSpPr>
        <p:spPr>
          <a:xfrm>
            <a:off x="594360" y="1719072"/>
            <a:ext cx="2514600" cy="384048"/>
          </a:xfrm>
          <a:prstGeom prst="rect">
            <a:avLst/>
          </a:prstGeom>
          <a:noFill/>
          <a:ln/>
        </p:spPr>
        <p:txBody>
          <a:bodyPr wrap="square" lIns="0" tIns="0" rIns="0" bIns="0" rtlCol="0" anchor="t"/>
          <a:lstStyle/>
          <a:p>
            <a:pPr marL="0" indent="0">
              <a:buNone/>
            </a:pPr>
            <a:r>
              <a:rPr lang="it-IT" sz="1100" dirty="0">
                <a:solidFill>
                  <a:schemeClr val="tx2"/>
                </a:solidFill>
              </a:rPr>
              <a:t>Idee, bozze interne</a:t>
            </a:r>
            <a:endParaRPr lang="it-IT" sz="1100" dirty="0"/>
          </a:p>
        </p:txBody>
      </p:sp>
      <p:sp>
        <p:nvSpPr>
          <p:cNvPr id="10" name="barra base"/>
          <p:cNvSpPr/>
          <p:nvPr/>
        </p:nvSpPr>
        <p:spPr>
          <a:xfrm>
            <a:off x="3383280" y="1481328"/>
            <a:ext cx="2651760" cy="237744"/>
          </a:xfrm>
          <a:prstGeom prst="rect">
            <a:avLst/>
          </a:prstGeom>
          <a:solidFill>
            <a:schemeClr val="bg2"/>
          </a:solidFill>
          <a:ln/>
        </p:spPr>
        <p:txBody>
          <a:bodyPr/>
          <a:lstStyle/>
          <a:p>
            <a:endParaRPr lang="it-IT" dirty="0"/>
          </a:p>
        </p:txBody>
      </p:sp>
      <p:sp>
        <p:nvSpPr>
          <p:cNvPr id="11" name="barra affidabilità"/>
          <p:cNvSpPr/>
          <p:nvPr/>
        </p:nvSpPr>
        <p:spPr>
          <a:xfrm>
            <a:off x="3383280" y="1481328"/>
            <a:ext cx="928116" cy="237744"/>
          </a:xfrm>
          <a:prstGeom prst="rect">
            <a:avLst/>
          </a:prstGeom>
          <a:solidFill>
            <a:schemeClr val="accent1"/>
          </a:solidFill>
          <a:ln/>
        </p:spPr>
        <p:txBody>
          <a:bodyPr/>
          <a:lstStyle/>
          <a:p>
            <a:endParaRPr lang="it-IT" dirty="0"/>
          </a:p>
        </p:txBody>
      </p:sp>
      <p:sp>
        <p:nvSpPr>
          <p:cNvPr id="12" name="Text 9"/>
          <p:cNvSpPr txBox="1"/>
          <p:nvPr/>
        </p:nvSpPr>
        <p:spPr>
          <a:xfrm>
            <a:off x="3383280" y="1773936"/>
            <a:ext cx="2651760" cy="292608"/>
          </a:xfrm>
          <a:prstGeom prst="rect">
            <a:avLst/>
          </a:prstGeom>
          <a:noFill/>
          <a:ln/>
        </p:spPr>
        <p:txBody>
          <a:bodyPr wrap="square" lIns="0" tIns="0" rIns="0" bIns="0" rtlCol="0" anchor="t"/>
          <a:lstStyle/>
          <a:p>
            <a:pPr marL="0" indent="0">
              <a:buNone/>
            </a:pPr>
            <a:r>
              <a:rPr lang="it-IT" sz="1200" b="1" dirty="0">
                <a:solidFill>
                  <a:schemeClr val="tx1"/>
                </a:solidFill>
              </a:rPr>
              <a:t>Moderata</a:t>
            </a:r>
            <a:endParaRPr lang="it-IT" sz="1200" dirty="0"/>
          </a:p>
        </p:txBody>
      </p:sp>
      <p:sp>
        <p:nvSpPr>
          <p:cNvPr id="13" name="controlli Lievi"/>
          <p:cNvSpPr/>
          <p:nvPr/>
        </p:nvSpPr>
        <p:spPr>
          <a:xfrm>
            <a:off x="6217920" y="1371600"/>
            <a:ext cx="2468880" cy="749808"/>
          </a:xfrm>
          <a:prstGeom prst="roundRect">
            <a:avLst>
              <a:gd name="adj" fmla="val 9756"/>
            </a:avLst>
          </a:prstGeom>
          <a:solidFill>
            <a:schemeClr val="accent6"/>
          </a:solidFill>
          <a:ln/>
        </p:spPr>
        <p:txBody>
          <a:bodyPr/>
          <a:lstStyle/>
          <a:p>
            <a:endParaRPr lang="it-IT" dirty="0"/>
          </a:p>
        </p:txBody>
      </p:sp>
      <p:sp>
        <p:nvSpPr>
          <p:cNvPr id="14" name="Text 11"/>
          <p:cNvSpPr txBox="1"/>
          <p:nvPr/>
        </p:nvSpPr>
        <p:spPr>
          <a:xfrm>
            <a:off x="6355080" y="1371600"/>
            <a:ext cx="2240280" cy="749808"/>
          </a:xfrm>
          <a:prstGeom prst="rect">
            <a:avLst/>
          </a:prstGeom>
          <a:noFill/>
          <a:ln/>
        </p:spPr>
        <p:txBody>
          <a:bodyPr wrap="square" lIns="0" tIns="0" rIns="0" bIns="0" rtlCol="0" anchor="ctr"/>
          <a:lstStyle/>
          <a:p>
            <a:pPr marL="0" indent="0">
              <a:buNone/>
            </a:pPr>
            <a:r>
              <a:rPr lang="it-IT" sz="1200" b="1" dirty="0">
                <a:solidFill>
                  <a:schemeClr val="tx1"/>
                </a:solidFill>
              </a:rPr>
              <a:t>Rilettura</a:t>
            </a:r>
            <a:endParaRPr lang="it-IT" sz="1200" dirty="0"/>
          </a:p>
        </p:txBody>
      </p:sp>
      <p:sp>
        <p:nvSpPr>
          <p:cNvPr id="15" name="conseguenze Moderate"/>
          <p:cNvSpPr/>
          <p:nvPr/>
        </p:nvSpPr>
        <p:spPr>
          <a:xfrm>
            <a:off x="457200" y="2240280"/>
            <a:ext cx="2743200" cy="749808"/>
          </a:xfrm>
          <a:prstGeom prst="roundRect">
            <a:avLst>
              <a:gd name="adj" fmla="val 9756"/>
            </a:avLst>
          </a:prstGeom>
          <a:solidFill>
            <a:schemeClr val="bg2"/>
          </a:solidFill>
          <a:ln/>
        </p:spPr>
        <p:txBody>
          <a:bodyPr/>
          <a:lstStyle/>
          <a:p>
            <a:endParaRPr lang="it-IT" dirty="0"/>
          </a:p>
        </p:txBody>
      </p:sp>
      <p:sp>
        <p:nvSpPr>
          <p:cNvPr id="16" name="Text 13"/>
          <p:cNvSpPr txBox="1"/>
          <p:nvPr/>
        </p:nvSpPr>
        <p:spPr>
          <a:xfrm>
            <a:off x="594360" y="2295144"/>
            <a:ext cx="2468880" cy="292608"/>
          </a:xfrm>
          <a:prstGeom prst="rect">
            <a:avLst/>
          </a:prstGeom>
          <a:noFill/>
          <a:ln/>
        </p:spPr>
        <p:txBody>
          <a:bodyPr wrap="square" lIns="0" tIns="0" rIns="0" bIns="0" rtlCol="0" anchor="t"/>
          <a:lstStyle/>
          <a:p>
            <a:pPr marL="0" indent="0">
              <a:buNone/>
            </a:pPr>
            <a:r>
              <a:rPr lang="it-IT" sz="1400" b="1" dirty="0">
                <a:solidFill>
                  <a:schemeClr val="tx1"/>
                </a:solidFill>
              </a:rPr>
              <a:t>Moderate</a:t>
            </a:r>
            <a:endParaRPr lang="it-IT" sz="1400" dirty="0"/>
          </a:p>
        </p:txBody>
      </p:sp>
      <p:sp>
        <p:nvSpPr>
          <p:cNvPr id="17" name="Text 14"/>
          <p:cNvSpPr txBox="1"/>
          <p:nvPr/>
        </p:nvSpPr>
        <p:spPr>
          <a:xfrm>
            <a:off x="594360" y="2587752"/>
            <a:ext cx="2514600" cy="384048"/>
          </a:xfrm>
          <a:prstGeom prst="rect">
            <a:avLst/>
          </a:prstGeom>
          <a:noFill/>
          <a:ln/>
        </p:spPr>
        <p:txBody>
          <a:bodyPr wrap="square" lIns="0" tIns="0" rIns="0" bIns="0" rtlCol="0" anchor="t"/>
          <a:lstStyle/>
          <a:p>
            <a:pPr marL="0" indent="0">
              <a:buNone/>
            </a:pPr>
            <a:r>
              <a:rPr lang="it-IT" sz="1100" dirty="0">
                <a:solidFill>
                  <a:schemeClr val="tx2"/>
                </a:solidFill>
              </a:rPr>
              <a:t>Documenti condivisi, comunicazioni</a:t>
            </a:r>
            <a:endParaRPr lang="it-IT" sz="1100" dirty="0"/>
          </a:p>
        </p:txBody>
      </p:sp>
      <p:sp>
        <p:nvSpPr>
          <p:cNvPr id="18" name="barra base"/>
          <p:cNvSpPr/>
          <p:nvPr/>
        </p:nvSpPr>
        <p:spPr>
          <a:xfrm>
            <a:off x="3383280" y="2350008"/>
            <a:ext cx="2651760" cy="237744"/>
          </a:xfrm>
          <a:prstGeom prst="rect">
            <a:avLst/>
          </a:prstGeom>
          <a:solidFill>
            <a:schemeClr val="bg2"/>
          </a:solidFill>
          <a:ln/>
        </p:spPr>
        <p:txBody>
          <a:bodyPr/>
          <a:lstStyle/>
          <a:p>
            <a:endParaRPr lang="it-IT" dirty="0"/>
          </a:p>
        </p:txBody>
      </p:sp>
      <p:sp>
        <p:nvSpPr>
          <p:cNvPr id="19" name="barra affidabilità"/>
          <p:cNvSpPr/>
          <p:nvPr/>
        </p:nvSpPr>
        <p:spPr>
          <a:xfrm>
            <a:off x="3383280" y="2350008"/>
            <a:ext cx="1591056" cy="237744"/>
          </a:xfrm>
          <a:prstGeom prst="rect">
            <a:avLst/>
          </a:prstGeom>
          <a:solidFill>
            <a:schemeClr val="accent1"/>
          </a:solidFill>
          <a:ln/>
        </p:spPr>
        <p:txBody>
          <a:bodyPr/>
          <a:lstStyle/>
          <a:p>
            <a:endParaRPr lang="it-IT" dirty="0"/>
          </a:p>
        </p:txBody>
      </p:sp>
      <p:sp>
        <p:nvSpPr>
          <p:cNvPr id="20" name="Text 17"/>
          <p:cNvSpPr txBox="1"/>
          <p:nvPr/>
        </p:nvSpPr>
        <p:spPr>
          <a:xfrm>
            <a:off x="3383280" y="2642616"/>
            <a:ext cx="2651760" cy="292608"/>
          </a:xfrm>
          <a:prstGeom prst="rect">
            <a:avLst/>
          </a:prstGeom>
          <a:noFill/>
          <a:ln/>
        </p:spPr>
        <p:txBody>
          <a:bodyPr wrap="square" lIns="0" tIns="0" rIns="0" bIns="0" rtlCol="0" anchor="t"/>
          <a:lstStyle/>
          <a:p>
            <a:pPr marL="0" indent="0">
              <a:buNone/>
            </a:pPr>
            <a:r>
              <a:rPr lang="it-IT" sz="1200" b="1" dirty="0">
                <a:solidFill>
                  <a:schemeClr val="tx1"/>
                </a:solidFill>
              </a:rPr>
              <a:t>Buona</a:t>
            </a:r>
            <a:endParaRPr lang="it-IT" sz="1200" dirty="0"/>
          </a:p>
        </p:txBody>
      </p:sp>
      <p:sp>
        <p:nvSpPr>
          <p:cNvPr id="21" name="controlli Moderate"/>
          <p:cNvSpPr/>
          <p:nvPr/>
        </p:nvSpPr>
        <p:spPr>
          <a:xfrm>
            <a:off x="6217920" y="2240280"/>
            <a:ext cx="2468880" cy="749808"/>
          </a:xfrm>
          <a:prstGeom prst="roundRect">
            <a:avLst>
              <a:gd name="adj" fmla="val 9756"/>
            </a:avLst>
          </a:prstGeom>
          <a:solidFill>
            <a:schemeClr val="accent6"/>
          </a:solidFill>
          <a:ln/>
        </p:spPr>
        <p:txBody>
          <a:bodyPr/>
          <a:lstStyle/>
          <a:p>
            <a:endParaRPr lang="it-IT" dirty="0"/>
          </a:p>
        </p:txBody>
      </p:sp>
      <p:sp>
        <p:nvSpPr>
          <p:cNvPr id="22" name="Text 19"/>
          <p:cNvSpPr txBox="1"/>
          <p:nvPr/>
        </p:nvSpPr>
        <p:spPr>
          <a:xfrm>
            <a:off x="6355080" y="2240280"/>
            <a:ext cx="2240280" cy="749808"/>
          </a:xfrm>
          <a:prstGeom prst="rect">
            <a:avLst/>
          </a:prstGeom>
          <a:noFill/>
          <a:ln/>
        </p:spPr>
        <p:txBody>
          <a:bodyPr wrap="square" lIns="0" tIns="0" rIns="0" bIns="0" rtlCol="0" anchor="ctr"/>
          <a:lstStyle/>
          <a:p>
            <a:pPr marL="0" indent="0">
              <a:buNone/>
            </a:pPr>
            <a:r>
              <a:rPr lang="it-IT" sz="1200" b="1" dirty="0">
                <a:solidFill>
                  <a:schemeClr val="tx1"/>
                </a:solidFill>
              </a:rPr>
              <a:t>Verifica di fatti e numeri</a:t>
            </a:r>
            <a:endParaRPr lang="it-IT" sz="1200" dirty="0"/>
          </a:p>
        </p:txBody>
      </p:sp>
      <p:sp>
        <p:nvSpPr>
          <p:cNvPr id="23" name="conseguenze Gravi"/>
          <p:cNvSpPr/>
          <p:nvPr/>
        </p:nvSpPr>
        <p:spPr>
          <a:xfrm>
            <a:off x="457200" y="3108960"/>
            <a:ext cx="2743200" cy="749808"/>
          </a:xfrm>
          <a:prstGeom prst="roundRect">
            <a:avLst>
              <a:gd name="adj" fmla="val 9756"/>
            </a:avLst>
          </a:prstGeom>
          <a:solidFill>
            <a:schemeClr val="bg2"/>
          </a:solidFill>
          <a:ln/>
        </p:spPr>
        <p:txBody>
          <a:bodyPr/>
          <a:lstStyle/>
          <a:p>
            <a:endParaRPr lang="it-IT" dirty="0"/>
          </a:p>
        </p:txBody>
      </p:sp>
      <p:sp>
        <p:nvSpPr>
          <p:cNvPr id="24" name="Text 21"/>
          <p:cNvSpPr txBox="1"/>
          <p:nvPr/>
        </p:nvSpPr>
        <p:spPr>
          <a:xfrm>
            <a:off x="594360" y="3163824"/>
            <a:ext cx="2468880" cy="292608"/>
          </a:xfrm>
          <a:prstGeom prst="rect">
            <a:avLst/>
          </a:prstGeom>
          <a:noFill/>
          <a:ln/>
        </p:spPr>
        <p:txBody>
          <a:bodyPr wrap="square" lIns="0" tIns="0" rIns="0" bIns="0" rtlCol="0" anchor="t"/>
          <a:lstStyle/>
          <a:p>
            <a:pPr marL="0" indent="0">
              <a:buNone/>
            </a:pPr>
            <a:r>
              <a:rPr lang="it-IT" sz="1400" b="1" dirty="0">
                <a:solidFill>
                  <a:schemeClr val="tx1"/>
                </a:solidFill>
              </a:rPr>
              <a:t>Gravi</a:t>
            </a:r>
            <a:endParaRPr lang="it-IT" sz="1400" dirty="0"/>
          </a:p>
        </p:txBody>
      </p:sp>
      <p:sp>
        <p:nvSpPr>
          <p:cNvPr id="25" name="Text 22"/>
          <p:cNvSpPr txBox="1"/>
          <p:nvPr/>
        </p:nvSpPr>
        <p:spPr>
          <a:xfrm>
            <a:off x="594360" y="3456432"/>
            <a:ext cx="2514600" cy="384048"/>
          </a:xfrm>
          <a:prstGeom prst="rect">
            <a:avLst/>
          </a:prstGeom>
          <a:noFill/>
          <a:ln/>
        </p:spPr>
        <p:txBody>
          <a:bodyPr wrap="square" lIns="0" tIns="0" rIns="0" bIns="0" rtlCol="0" anchor="t"/>
          <a:lstStyle/>
          <a:p>
            <a:pPr marL="0" indent="0">
              <a:buNone/>
            </a:pPr>
            <a:r>
              <a:rPr lang="it-IT" sz="1100" dirty="0">
                <a:solidFill>
                  <a:schemeClr val="tx2"/>
                </a:solidFill>
              </a:rPr>
              <a:t>Contratti, dati economici, informazioni ai clienti</a:t>
            </a:r>
            <a:endParaRPr lang="it-IT" sz="1100" dirty="0"/>
          </a:p>
        </p:txBody>
      </p:sp>
      <p:sp>
        <p:nvSpPr>
          <p:cNvPr id="26" name="barra base"/>
          <p:cNvSpPr/>
          <p:nvPr/>
        </p:nvSpPr>
        <p:spPr>
          <a:xfrm>
            <a:off x="3383280" y="3218688"/>
            <a:ext cx="2651760" cy="237744"/>
          </a:xfrm>
          <a:prstGeom prst="rect">
            <a:avLst/>
          </a:prstGeom>
          <a:solidFill>
            <a:schemeClr val="bg2"/>
          </a:solidFill>
          <a:ln/>
        </p:spPr>
        <p:txBody>
          <a:bodyPr/>
          <a:lstStyle/>
          <a:p>
            <a:endParaRPr lang="it-IT" dirty="0"/>
          </a:p>
        </p:txBody>
      </p:sp>
      <p:sp>
        <p:nvSpPr>
          <p:cNvPr id="27" name="barra affidabilità"/>
          <p:cNvSpPr/>
          <p:nvPr/>
        </p:nvSpPr>
        <p:spPr>
          <a:xfrm>
            <a:off x="3383280" y="3218688"/>
            <a:ext cx="2253996" cy="237744"/>
          </a:xfrm>
          <a:prstGeom prst="rect">
            <a:avLst/>
          </a:prstGeom>
          <a:solidFill>
            <a:schemeClr val="accent1"/>
          </a:solidFill>
          <a:ln/>
        </p:spPr>
        <p:txBody>
          <a:bodyPr/>
          <a:lstStyle/>
          <a:p>
            <a:endParaRPr lang="it-IT" dirty="0"/>
          </a:p>
        </p:txBody>
      </p:sp>
      <p:sp>
        <p:nvSpPr>
          <p:cNvPr id="28" name="Text 25"/>
          <p:cNvSpPr txBox="1"/>
          <p:nvPr/>
        </p:nvSpPr>
        <p:spPr>
          <a:xfrm>
            <a:off x="3383280" y="3511296"/>
            <a:ext cx="2651760" cy="292608"/>
          </a:xfrm>
          <a:prstGeom prst="rect">
            <a:avLst/>
          </a:prstGeom>
          <a:noFill/>
          <a:ln/>
        </p:spPr>
        <p:txBody>
          <a:bodyPr wrap="square" lIns="0" tIns="0" rIns="0" bIns="0" rtlCol="0" anchor="t"/>
          <a:lstStyle/>
          <a:p>
            <a:pPr marL="0" indent="0">
              <a:buNone/>
            </a:pPr>
            <a:r>
              <a:rPr lang="it-IT" sz="1200" b="1" dirty="0">
                <a:solidFill>
                  <a:schemeClr val="tx1"/>
                </a:solidFill>
              </a:rPr>
              <a:t>Elevata e dimostrata</a:t>
            </a:r>
            <a:endParaRPr lang="it-IT" sz="1200" dirty="0"/>
          </a:p>
        </p:txBody>
      </p:sp>
      <p:sp>
        <p:nvSpPr>
          <p:cNvPr id="29" name="controlli Gravi"/>
          <p:cNvSpPr/>
          <p:nvPr/>
        </p:nvSpPr>
        <p:spPr>
          <a:xfrm>
            <a:off x="6217920" y="3108960"/>
            <a:ext cx="2468880" cy="749808"/>
          </a:xfrm>
          <a:prstGeom prst="roundRect">
            <a:avLst>
              <a:gd name="adj" fmla="val 9756"/>
            </a:avLst>
          </a:prstGeom>
          <a:solidFill>
            <a:schemeClr val="accent1"/>
          </a:solidFill>
          <a:ln/>
        </p:spPr>
        <p:txBody>
          <a:bodyPr/>
          <a:lstStyle/>
          <a:p>
            <a:endParaRPr lang="it-IT" dirty="0"/>
          </a:p>
        </p:txBody>
      </p:sp>
      <p:sp>
        <p:nvSpPr>
          <p:cNvPr id="30" name="Text 27"/>
          <p:cNvSpPr txBox="1"/>
          <p:nvPr/>
        </p:nvSpPr>
        <p:spPr>
          <a:xfrm>
            <a:off x="6355080" y="3108960"/>
            <a:ext cx="2240280" cy="749808"/>
          </a:xfrm>
          <a:prstGeom prst="rect">
            <a:avLst/>
          </a:prstGeom>
          <a:noFill/>
          <a:ln/>
        </p:spPr>
        <p:txBody>
          <a:bodyPr wrap="square" lIns="0" tIns="0" rIns="0" bIns="0" rtlCol="0" anchor="ctr"/>
          <a:lstStyle/>
          <a:p>
            <a:pPr marL="0" indent="0">
              <a:buNone/>
            </a:pPr>
            <a:r>
              <a:rPr lang="it-IT" sz="1200" b="1" dirty="0">
                <a:solidFill>
                  <a:schemeClr val="bg1"/>
                </a:solidFill>
              </a:rPr>
              <a:t>Verifica sistematica e revisione esperta</a:t>
            </a:r>
            <a:endParaRPr lang="it-IT" sz="1200" dirty="0"/>
          </a:p>
        </p:txBody>
      </p:sp>
      <p:sp>
        <p:nvSpPr>
          <p:cNvPr id="31" name="messaggio"/>
          <p:cNvSpPr/>
          <p:nvPr/>
        </p:nvSpPr>
        <p:spPr>
          <a:xfrm>
            <a:off x="457200" y="4023360"/>
            <a:ext cx="8229600" cy="548640"/>
          </a:xfrm>
          <a:prstGeom prst="roundRect">
            <a:avLst>
              <a:gd name="adj" fmla="val 13333"/>
            </a:avLst>
          </a:prstGeom>
          <a:solidFill>
            <a:schemeClr val="tx1"/>
          </a:solidFill>
          <a:ln/>
        </p:spPr>
        <p:txBody>
          <a:bodyPr/>
          <a:lstStyle/>
          <a:p>
            <a:endParaRPr lang="it-IT" dirty="0"/>
          </a:p>
        </p:txBody>
      </p:sp>
      <p:sp>
        <p:nvSpPr>
          <p:cNvPr id="32" name="Text 29"/>
          <p:cNvSpPr txBox="1"/>
          <p:nvPr/>
        </p:nvSpPr>
        <p:spPr>
          <a:xfrm>
            <a:off x="640080" y="4023360"/>
            <a:ext cx="7863840" cy="548640"/>
          </a:xfrm>
          <a:prstGeom prst="rect">
            <a:avLst/>
          </a:prstGeom>
          <a:noFill/>
          <a:ln/>
        </p:spPr>
        <p:txBody>
          <a:bodyPr wrap="square" lIns="0" tIns="0" rIns="0" bIns="0" rtlCol="0" anchor="ctr"/>
          <a:lstStyle/>
          <a:p>
            <a:pPr marL="0" indent="0">
              <a:buNone/>
            </a:pPr>
            <a:r>
              <a:rPr lang="it-IT" sz="1300" dirty="0">
                <a:solidFill>
                  <a:schemeClr val="bg1"/>
                </a:solidFill>
              </a:rPr>
              <a:t>Non "l'AI è affidabile?", ma "è abbastanza affidabile per questo scopo, con i controlli possibili?"</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60</a:t>
            </a:fld>
            <a:endParaRPr lang="it-IT"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Supporto, supervisione e delega</a:t>
            </a:r>
            <a:endParaRPr lang="it-IT" sz="2600" dirty="0"/>
          </a:p>
        </p:txBody>
      </p:sp>
      <p:sp>
        <p:nvSpPr>
          <p:cNvPr id="4" name="Supporto"/>
          <p:cNvSpPr/>
          <p:nvPr/>
        </p:nvSpPr>
        <p:spPr>
          <a:xfrm>
            <a:off x="457200" y="1417320"/>
            <a:ext cx="2615184" cy="2377440"/>
          </a:xfrm>
          <a:prstGeom prst="roundRect">
            <a:avLst>
              <a:gd name="adj" fmla="val 3077"/>
            </a:avLst>
          </a:prstGeom>
          <a:solidFill>
            <a:schemeClr val="bg2"/>
          </a:solidFill>
          <a:ln/>
        </p:spPr>
        <p:txBody>
          <a:bodyPr/>
          <a:lstStyle/>
          <a:p>
            <a:endParaRPr lang="it-IT" dirty="0"/>
          </a:p>
        </p:txBody>
      </p:sp>
      <p:sp>
        <p:nvSpPr>
          <p:cNvPr id="5" name="cerchio FiUser"/>
          <p:cNvSpPr/>
          <p:nvPr/>
        </p:nvSpPr>
        <p:spPr>
          <a:xfrm>
            <a:off x="640080" y="1572768"/>
            <a:ext cx="502920" cy="502920"/>
          </a:xfrm>
          <a:prstGeom prst="ellipse">
            <a:avLst/>
          </a:prstGeom>
          <a:solidFill>
            <a:schemeClr val="accent1"/>
          </a:solidFill>
          <a:ln/>
        </p:spPr>
        <p:txBody>
          <a:bodyPr/>
          <a:lstStyle/>
          <a:p>
            <a:endParaRPr lang="it-IT" dirty="0"/>
          </a:p>
        </p:txBody>
      </p:sp>
      <p:pic>
        <p:nvPicPr>
          <p:cNvPr id="6" name="Image 0" descr="FiUser"/>
          <p:cNvPicPr>
            <a:picLocks noChangeAspect="1"/>
          </p:cNvPicPr>
          <p:nvPr/>
        </p:nvPicPr>
        <p:blipFill>
          <a:blip r:embed="rId3"/>
          <a:stretch>
            <a:fillRect/>
          </a:stretch>
        </p:blipFill>
        <p:spPr>
          <a:xfrm>
            <a:off x="765810" y="1698498"/>
            <a:ext cx="251460" cy="251460"/>
          </a:xfrm>
          <a:prstGeom prst="rect">
            <a:avLst/>
          </a:prstGeom>
        </p:spPr>
      </p:pic>
      <p:sp>
        <p:nvSpPr>
          <p:cNvPr id="7" name="Text 3"/>
          <p:cNvSpPr txBox="1"/>
          <p:nvPr/>
        </p:nvSpPr>
        <p:spPr>
          <a:xfrm>
            <a:off x="1280160" y="1572768"/>
            <a:ext cx="1645920" cy="502920"/>
          </a:xfrm>
          <a:prstGeom prst="rect">
            <a:avLst/>
          </a:prstGeom>
          <a:noFill/>
          <a:ln/>
        </p:spPr>
        <p:txBody>
          <a:bodyPr wrap="square" lIns="0" tIns="0" rIns="0" bIns="0" rtlCol="0" anchor="ctr"/>
          <a:lstStyle/>
          <a:p>
            <a:pPr marL="0" indent="0">
              <a:buNone/>
            </a:pPr>
            <a:r>
              <a:rPr lang="it-IT" sz="1700" b="1" dirty="0">
                <a:solidFill>
                  <a:schemeClr val="tx1"/>
                </a:solidFill>
              </a:rPr>
              <a:t>Supporto</a:t>
            </a:r>
            <a:endParaRPr lang="it-IT" sz="1700" dirty="0"/>
          </a:p>
        </p:txBody>
      </p:sp>
      <p:sp>
        <p:nvSpPr>
          <p:cNvPr id="8" name="Text 4"/>
          <p:cNvSpPr txBox="1"/>
          <p:nvPr/>
        </p:nvSpPr>
        <p:spPr>
          <a:xfrm>
            <a:off x="640080" y="2240280"/>
            <a:ext cx="2249424" cy="731520"/>
          </a:xfrm>
          <a:prstGeom prst="rect">
            <a:avLst/>
          </a:prstGeom>
          <a:noFill/>
          <a:ln/>
        </p:spPr>
        <p:txBody>
          <a:bodyPr wrap="square" lIns="0" tIns="0" rIns="0" bIns="0" rtlCol="0" anchor="t"/>
          <a:lstStyle/>
          <a:p>
            <a:pPr marL="0" indent="0">
              <a:buNone/>
            </a:pPr>
            <a:r>
              <a:rPr lang="it-IT" sz="1300" b="1" dirty="0">
                <a:solidFill>
                  <a:schemeClr val="tx1"/>
                </a:solidFill>
              </a:rPr>
              <a:t>L'AI aiuta, la persona svolge il compito e decide</a:t>
            </a:r>
            <a:endParaRPr lang="it-IT" sz="1300" dirty="0"/>
          </a:p>
        </p:txBody>
      </p:sp>
      <p:sp>
        <p:nvSpPr>
          <p:cNvPr id="9" name="Text 5"/>
          <p:cNvSpPr txBox="1"/>
          <p:nvPr/>
        </p:nvSpPr>
        <p:spPr>
          <a:xfrm>
            <a:off x="640080" y="3017520"/>
            <a:ext cx="2249424" cy="685800"/>
          </a:xfrm>
          <a:prstGeom prst="rect">
            <a:avLst/>
          </a:prstGeom>
          <a:noFill/>
          <a:ln/>
        </p:spPr>
        <p:txBody>
          <a:bodyPr wrap="square" lIns="0" tIns="0" rIns="0" bIns="0" rtlCol="0" anchor="t"/>
          <a:lstStyle/>
          <a:p>
            <a:pPr marL="0" indent="0">
              <a:buNone/>
            </a:pPr>
            <a:r>
              <a:rPr lang="it-IT" sz="1200" dirty="0">
                <a:solidFill>
                  <a:schemeClr val="tx1"/>
                </a:solidFill>
              </a:rPr>
              <a:t>Esempio: Idee, bozze, sintesi</a:t>
            </a:r>
            <a:endParaRPr lang="it-IT" sz="1200" dirty="0"/>
          </a:p>
        </p:txBody>
      </p:sp>
      <p:sp>
        <p:nvSpPr>
          <p:cNvPr id="10" name="Supervisione"/>
          <p:cNvSpPr/>
          <p:nvPr/>
        </p:nvSpPr>
        <p:spPr>
          <a:xfrm>
            <a:off x="3264408" y="1417320"/>
            <a:ext cx="2615184" cy="2377440"/>
          </a:xfrm>
          <a:prstGeom prst="roundRect">
            <a:avLst>
              <a:gd name="adj" fmla="val 3077"/>
            </a:avLst>
          </a:prstGeom>
          <a:solidFill>
            <a:schemeClr val="accent6"/>
          </a:solidFill>
          <a:ln/>
        </p:spPr>
        <p:txBody>
          <a:bodyPr/>
          <a:lstStyle/>
          <a:p>
            <a:endParaRPr lang="it-IT" dirty="0"/>
          </a:p>
        </p:txBody>
      </p:sp>
      <p:sp>
        <p:nvSpPr>
          <p:cNvPr id="11" name="cerchio FiUserCheck"/>
          <p:cNvSpPr/>
          <p:nvPr/>
        </p:nvSpPr>
        <p:spPr>
          <a:xfrm>
            <a:off x="3447288" y="1572768"/>
            <a:ext cx="502920" cy="502920"/>
          </a:xfrm>
          <a:prstGeom prst="ellipse">
            <a:avLst/>
          </a:prstGeom>
          <a:solidFill>
            <a:schemeClr val="accent1"/>
          </a:solidFill>
          <a:ln/>
        </p:spPr>
        <p:txBody>
          <a:bodyPr/>
          <a:lstStyle/>
          <a:p>
            <a:endParaRPr lang="it-IT" dirty="0"/>
          </a:p>
        </p:txBody>
      </p:sp>
      <p:pic>
        <p:nvPicPr>
          <p:cNvPr id="12" name="Image 1" descr="FiUserCheck"/>
          <p:cNvPicPr>
            <a:picLocks noChangeAspect="1"/>
          </p:cNvPicPr>
          <p:nvPr/>
        </p:nvPicPr>
        <p:blipFill>
          <a:blip r:embed="rId4"/>
          <a:stretch>
            <a:fillRect/>
          </a:stretch>
        </p:blipFill>
        <p:spPr>
          <a:xfrm>
            <a:off x="3573018" y="1698498"/>
            <a:ext cx="251460" cy="251460"/>
          </a:xfrm>
          <a:prstGeom prst="rect">
            <a:avLst/>
          </a:prstGeom>
        </p:spPr>
      </p:pic>
      <p:sp>
        <p:nvSpPr>
          <p:cNvPr id="13" name="Text 8"/>
          <p:cNvSpPr txBox="1"/>
          <p:nvPr/>
        </p:nvSpPr>
        <p:spPr>
          <a:xfrm>
            <a:off x="4087368" y="1572768"/>
            <a:ext cx="1645920" cy="502920"/>
          </a:xfrm>
          <a:prstGeom prst="rect">
            <a:avLst/>
          </a:prstGeom>
          <a:noFill/>
          <a:ln/>
        </p:spPr>
        <p:txBody>
          <a:bodyPr wrap="square" lIns="0" tIns="0" rIns="0" bIns="0" rtlCol="0" anchor="ctr"/>
          <a:lstStyle/>
          <a:p>
            <a:pPr marL="0" indent="0">
              <a:buNone/>
            </a:pPr>
            <a:r>
              <a:rPr lang="it-IT" sz="1700" b="1" dirty="0">
                <a:solidFill>
                  <a:schemeClr val="tx1"/>
                </a:solidFill>
              </a:rPr>
              <a:t>Supervisione</a:t>
            </a:r>
            <a:endParaRPr lang="it-IT" sz="1700" dirty="0"/>
          </a:p>
        </p:txBody>
      </p:sp>
      <p:sp>
        <p:nvSpPr>
          <p:cNvPr id="14" name="Text 9"/>
          <p:cNvSpPr txBox="1"/>
          <p:nvPr/>
        </p:nvSpPr>
        <p:spPr>
          <a:xfrm>
            <a:off x="3447288" y="2240280"/>
            <a:ext cx="2249424" cy="731520"/>
          </a:xfrm>
          <a:prstGeom prst="rect">
            <a:avLst/>
          </a:prstGeom>
          <a:noFill/>
          <a:ln/>
        </p:spPr>
        <p:txBody>
          <a:bodyPr wrap="square" lIns="0" tIns="0" rIns="0" bIns="0" rtlCol="0" anchor="t"/>
          <a:lstStyle/>
          <a:p>
            <a:pPr marL="0" indent="0">
              <a:buNone/>
            </a:pPr>
            <a:r>
              <a:rPr lang="it-IT" sz="1300" b="1" dirty="0">
                <a:solidFill>
                  <a:schemeClr val="tx1"/>
                </a:solidFill>
              </a:rPr>
              <a:t>L'AI svolge il compito, la persona controlla ogni risultato</a:t>
            </a:r>
            <a:endParaRPr lang="it-IT" sz="1300" dirty="0"/>
          </a:p>
        </p:txBody>
      </p:sp>
      <p:sp>
        <p:nvSpPr>
          <p:cNvPr id="15" name="Text 10"/>
          <p:cNvSpPr txBox="1"/>
          <p:nvPr/>
        </p:nvSpPr>
        <p:spPr>
          <a:xfrm>
            <a:off x="3447288" y="3017520"/>
            <a:ext cx="2249424" cy="685800"/>
          </a:xfrm>
          <a:prstGeom prst="rect">
            <a:avLst/>
          </a:prstGeom>
          <a:noFill/>
          <a:ln/>
        </p:spPr>
        <p:txBody>
          <a:bodyPr wrap="square" lIns="0" tIns="0" rIns="0" bIns="0" rtlCol="0" anchor="t"/>
          <a:lstStyle/>
          <a:p>
            <a:pPr marL="0" indent="0">
              <a:buNone/>
            </a:pPr>
            <a:r>
              <a:rPr lang="it-IT" sz="1200" dirty="0">
                <a:solidFill>
                  <a:schemeClr val="tx1"/>
                </a:solidFill>
              </a:rPr>
              <a:t>Esempio: Risposte ai clienti verificate da un operatore</a:t>
            </a:r>
            <a:endParaRPr lang="it-IT" sz="1200" dirty="0"/>
          </a:p>
        </p:txBody>
      </p:sp>
      <p:sp>
        <p:nvSpPr>
          <p:cNvPr id="16" name="Delega"/>
          <p:cNvSpPr/>
          <p:nvPr/>
        </p:nvSpPr>
        <p:spPr>
          <a:xfrm>
            <a:off x="6071616" y="1417320"/>
            <a:ext cx="2615184" cy="2377440"/>
          </a:xfrm>
          <a:prstGeom prst="roundRect">
            <a:avLst>
              <a:gd name="adj" fmla="val 3077"/>
            </a:avLst>
          </a:prstGeom>
          <a:solidFill>
            <a:schemeClr val="accent1"/>
          </a:solidFill>
          <a:ln/>
        </p:spPr>
        <p:txBody>
          <a:bodyPr/>
          <a:lstStyle/>
          <a:p>
            <a:endParaRPr lang="it-IT" dirty="0"/>
          </a:p>
        </p:txBody>
      </p:sp>
      <p:sp>
        <p:nvSpPr>
          <p:cNvPr id="17" name="cerchio FiCpu"/>
          <p:cNvSpPr/>
          <p:nvPr/>
        </p:nvSpPr>
        <p:spPr>
          <a:xfrm>
            <a:off x="6254496" y="1572768"/>
            <a:ext cx="502920" cy="502920"/>
          </a:xfrm>
          <a:prstGeom prst="ellipse">
            <a:avLst/>
          </a:prstGeom>
          <a:solidFill>
            <a:schemeClr val="bg1"/>
          </a:solidFill>
          <a:ln/>
        </p:spPr>
        <p:txBody>
          <a:bodyPr/>
          <a:lstStyle/>
          <a:p>
            <a:endParaRPr lang="it-IT" dirty="0"/>
          </a:p>
        </p:txBody>
      </p:sp>
      <p:pic>
        <p:nvPicPr>
          <p:cNvPr id="18" name="Image 2" descr="FiCpu"/>
          <p:cNvPicPr>
            <a:picLocks noChangeAspect="1"/>
          </p:cNvPicPr>
          <p:nvPr/>
        </p:nvPicPr>
        <p:blipFill>
          <a:blip r:embed="rId5"/>
          <a:stretch>
            <a:fillRect/>
          </a:stretch>
        </p:blipFill>
        <p:spPr>
          <a:xfrm>
            <a:off x="6380226" y="1698498"/>
            <a:ext cx="251460" cy="251460"/>
          </a:xfrm>
          <a:prstGeom prst="rect">
            <a:avLst/>
          </a:prstGeom>
        </p:spPr>
      </p:pic>
      <p:sp>
        <p:nvSpPr>
          <p:cNvPr id="19" name="Text 13"/>
          <p:cNvSpPr txBox="1"/>
          <p:nvPr/>
        </p:nvSpPr>
        <p:spPr>
          <a:xfrm>
            <a:off x="6894576" y="1572768"/>
            <a:ext cx="1645920" cy="502920"/>
          </a:xfrm>
          <a:prstGeom prst="rect">
            <a:avLst/>
          </a:prstGeom>
          <a:noFill/>
          <a:ln/>
        </p:spPr>
        <p:txBody>
          <a:bodyPr wrap="square" lIns="0" tIns="0" rIns="0" bIns="0" rtlCol="0" anchor="ctr"/>
          <a:lstStyle/>
          <a:p>
            <a:pPr marL="0" indent="0">
              <a:buNone/>
            </a:pPr>
            <a:r>
              <a:rPr lang="it-IT" sz="1700" b="1" dirty="0">
                <a:solidFill>
                  <a:schemeClr val="bg1"/>
                </a:solidFill>
              </a:rPr>
              <a:t>Delega</a:t>
            </a:r>
            <a:endParaRPr lang="it-IT" sz="1700" dirty="0"/>
          </a:p>
        </p:txBody>
      </p:sp>
      <p:sp>
        <p:nvSpPr>
          <p:cNvPr id="20" name="Text 14"/>
          <p:cNvSpPr txBox="1"/>
          <p:nvPr/>
        </p:nvSpPr>
        <p:spPr>
          <a:xfrm>
            <a:off x="6254496" y="2240280"/>
            <a:ext cx="2249424" cy="731520"/>
          </a:xfrm>
          <a:prstGeom prst="rect">
            <a:avLst/>
          </a:prstGeom>
          <a:noFill/>
          <a:ln/>
        </p:spPr>
        <p:txBody>
          <a:bodyPr wrap="square" lIns="0" tIns="0" rIns="0" bIns="0" rtlCol="0" anchor="t"/>
          <a:lstStyle/>
          <a:p>
            <a:pPr marL="0" indent="0">
              <a:buNone/>
            </a:pPr>
            <a:r>
              <a:rPr lang="it-IT" sz="1300" b="1" dirty="0">
                <a:solidFill>
                  <a:schemeClr val="bg1"/>
                </a:solidFill>
              </a:rPr>
              <a:t>L'AI agisce in autonomia, la persona interviene su eccezioni</a:t>
            </a:r>
            <a:endParaRPr lang="it-IT" sz="1300" dirty="0"/>
          </a:p>
        </p:txBody>
      </p:sp>
      <p:sp>
        <p:nvSpPr>
          <p:cNvPr id="21" name="Text 15"/>
          <p:cNvSpPr txBox="1"/>
          <p:nvPr/>
        </p:nvSpPr>
        <p:spPr>
          <a:xfrm>
            <a:off x="6254496" y="3017520"/>
            <a:ext cx="2249424" cy="685800"/>
          </a:xfrm>
          <a:prstGeom prst="rect">
            <a:avLst/>
          </a:prstGeom>
          <a:noFill/>
          <a:ln/>
        </p:spPr>
        <p:txBody>
          <a:bodyPr wrap="square" lIns="0" tIns="0" rIns="0" bIns="0" rtlCol="0" anchor="t"/>
          <a:lstStyle/>
          <a:p>
            <a:pPr marL="0" indent="0">
              <a:buNone/>
            </a:pPr>
            <a:r>
              <a:rPr lang="it-IT" sz="1200" dirty="0">
                <a:solidFill>
                  <a:schemeClr val="bg1"/>
                </a:solidFill>
              </a:rPr>
              <a:t>Esempio: Classificazione di documenti a basso impatto</a:t>
            </a:r>
            <a:endParaRPr lang="it-IT" sz="1200" dirty="0"/>
          </a:p>
        </p:txBody>
      </p:sp>
      <p:sp>
        <p:nvSpPr>
          <p:cNvPr id="22" name="autonomia"/>
          <p:cNvSpPr/>
          <p:nvPr/>
        </p:nvSpPr>
        <p:spPr>
          <a:xfrm>
            <a:off x="457200" y="1188720"/>
            <a:ext cx="8229600" cy="0"/>
          </a:xfrm>
          <a:prstGeom prst="line">
            <a:avLst/>
          </a:prstGeom>
          <a:noFill/>
          <a:ln w="25400">
            <a:solidFill>
              <a:schemeClr val="accent2"/>
            </a:solidFill>
            <a:prstDash val="solid"/>
            <a:tailEnd type="triangle"/>
          </a:ln>
        </p:spPr>
        <p:txBody>
          <a:bodyPr/>
          <a:lstStyle/>
          <a:p>
            <a:endParaRPr lang="it-IT" dirty="0"/>
          </a:p>
        </p:txBody>
      </p:sp>
      <p:sp>
        <p:nvSpPr>
          <p:cNvPr id="23" name="Text 17"/>
          <p:cNvSpPr txBox="1"/>
          <p:nvPr/>
        </p:nvSpPr>
        <p:spPr>
          <a:xfrm>
            <a:off x="5943600" y="960120"/>
            <a:ext cx="2743200" cy="228600"/>
          </a:xfrm>
          <a:prstGeom prst="rect">
            <a:avLst/>
          </a:prstGeom>
          <a:noFill/>
          <a:ln/>
        </p:spPr>
        <p:txBody>
          <a:bodyPr wrap="square" lIns="0" tIns="0" rIns="0" bIns="0" rtlCol="0" anchor="t"/>
          <a:lstStyle/>
          <a:p>
            <a:pPr marL="0" indent="0" algn="r">
              <a:buNone/>
            </a:pPr>
            <a:r>
              <a:rPr lang="it-IT" sz="1100" b="1" dirty="0">
                <a:solidFill>
                  <a:schemeClr val="accent2"/>
                </a:solidFill>
              </a:rPr>
              <a:t>Autonomia crescente</a:t>
            </a:r>
            <a:endParaRPr lang="it-IT" sz="1100" dirty="0"/>
          </a:p>
        </p:txBody>
      </p:sp>
      <p:sp>
        <p:nvSpPr>
          <p:cNvPr id="24" name="messaggio"/>
          <p:cNvSpPr/>
          <p:nvPr/>
        </p:nvSpPr>
        <p:spPr>
          <a:xfrm>
            <a:off x="457200" y="3977640"/>
            <a:ext cx="8229600" cy="548640"/>
          </a:xfrm>
          <a:prstGeom prst="roundRect">
            <a:avLst>
              <a:gd name="adj" fmla="val 13333"/>
            </a:avLst>
          </a:prstGeom>
          <a:solidFill>
            <a:schemeClr val="tx1"/>
          </a:solidFill>
          <a:ln/>
        </p:spPr>
        <p:txBody>
          <a:bodyPr/>
          <a:lstStyle/>
          <a:p>
            <a:endParaRPr lang="it-IT" dirty="0"/>
          </a:p>
        </p:txBody>
      </p:sp>
      <p:sp>
        <p:nvSpPr>
          <p:cNvPr id="25" name="Text 19"/>
          <p:cNvSpPr txBox="1"/>
          <p:nvPr/>
        </p:nvSpPr>
        <p:spPr>
          <a:xfrm>
            <a:off x="640080" y="3977640"/>
            <a:ext cx="7863840" cy="548640"/>
          </a:xfrm>
          <a:prstGeom prst="rect">
            <a:avLst/>
          </a:prstGeom>
          <a:noFill/>
          <a:ln/>
        </p:spPr>
        <p:txBody>
          <a:bodyPr wrap="square" lIns="0" tIns="0" rIns="0" bIns="0" rtlCol="0" anchor="ctr"/>
          <a:lstStyle/>
          <a:p>
            <a:pPr marL="0" indent="0">
              <a:buNone/>
            </a:pPr>
            <a:r>
              <a:rPr lang="it-IT" sz="1300" dirty="0">
                <a:solidFill>
                  <a:schemeClr val="bg1"/>
                </a:solidFill>
              </a:rPr>
              <a:t>Più autonomia diamo, più alta l'affidabilità dimostrata e più basse le conseguenze degli errori.</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61</a:t>
            </a:fld>
            <a:endParaRPr lang="it-IT"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Quando limitare o evitare l'uso</a:t>
            </a:r>
            <a:endParaRPr lang="it-IT" sz="2600" dirty="0"/>
          </a:p>
        </p:txBody>
      </p:sp>
      <p:sp>
        <p:nvSpPr>
          <p:cNvPr id="4" name="Servono competenze che non abbiamo"/>
          <p:cNvSpPr/>
          <p:nvPr/>
        </p:nvSpPr>
        <p:spPr>
          <a:xfrm>
            <a:off x="457200" y="1097280"/>
            <a:ext cx="4023360" cy="1005840"/>
          </a:xfrm>
          <a:prstGeom prst="roundRect">
            <a:avLst>
              <a:gd name="adj" fmla="val 7273"/>
            </a:avLst>
          </a:prstGeom>
          <a:solidFill>
            <a:schemeClr val="bg2"/>
          </a:solidFill>
          <a:ln/>
        </p:spPr>
        <p:txBody>
          <a:bodyPr/>
          <a:lstStyle/>
          <a:p>
            <a:endParaRPr lang="it-IT" dirty="0"/>
          </a:p>
        </p:txBody>
      </p:sp>
      <p:sp>
        <p:nvSpPr>
          <p:cNvPr id="5" name="cerchio FiAward"/>
          <p:cNvSpPr/>
          <p:nvPr/>
        </p:nvSpPr>
        <p:spPr>
          <a:xfrm>
            <a:off x="621792" y="1344168"/>
            <a:ext cx="512064" cy="512064"/>
          </a:xfrm>
          <a:prstGeom prst="ellipse">
            <a:avLst/>
          </a:prstGeom>
          <a:solidFill>
            <a:schemeClr val="accent1"/>
          </a:solidFill>
          <a:ln/>
        </p:spPr>
        <p:txBody>
          <a:bodyPr/>
          <a:lstStyle/>
          <a:p>
            <a:endParaRPr lang="it-IT" dirty="0"/>
          </a:p>
        </p:txBody>
      </p:sp>
      <p:pic>
        <p:nvPicPr>
          <p:cNvPr id="6" name="Image 0" descr="FiAward"/>
          <p:cNvPicPr>
            <a:picLocks noChangeAspect="1"/>
          </p:cNvPicPr>
          <p:nvPr/>
        </p:nvPicPr>
        <p:blipFill>
          <a:blip r:embed="rId3"/>
          <a:stretch>
            <a:fillRect/>
          </a:stretch>
        </p:blipFill>
        <p:spPr>
          <a:xfrm>
            <a:off x="749808" y="1472184"/>
            <a:ext cx="256032" cy="256032"/>
          </a:xfrm>
          <a:prstGeom prst="rect">
            <a:avLst/>
          </a:prstGeom>
        </p:spPr>
      </p:pic>
      <p:sp>
        <p:nvSpPr>
          <p:cNvPr id="7" name="Text 3"/>
          <p:cNvSpPr txBox="1"/>
          <p:nvPr/>
        </p:nvSpPr>
        <p:spPr>
          <a:xfrm>
            <a:off x="1280160" y="1207008"/>
            <a:ext cx="3108960" cy="411480"/>
          </a:xfrm>
          <a:prstGeom prst="rect">
            <a:avLst/>
          </a:prstGeom>
          <a:noFill/>
          <a:ln/>
        </p:spPr>
        <p:txBody>
          <a:bodyPr wrap="square" lIns="0" tIns="0" rIns="0" bIns="0" rtlCol="0" anchor="ctr"/>
          <a:lstStyle/>
          <a:p>
            <a:pPr marL="0" indent="0">
              <a:buNone/>
            </a:pPr>
            <a:r>
              <a:rPr lang="it-IT" sz="1300" b="1" dirty="0">
                <a:solidFill>
                  <a:schemeClr val="tx1"/>
                </a:solidFill>
              </a:rPr>
              <a:t>Servono competenze che non abbiamo</a:t>
            </a:r>
            <a:endParaRPr lang="it-IT" sz="1300" dirty="0"/>
          </a:p>
        </p:txBody>
      </p:sp>
      <p:sp>
        <p:nvSpPr>
          <p:cNvPr id="8" name="Text 4"/>
          <p:cNvSpPr txBox="1"/>
          <p:nvPr/>
        </p:nvSpPr>
        <p:spPr>
          <a:xfrm>
            <a:off x="1280160" y="1600200"/>
            <a:ext cx="3108960" cy="411480"/>
          </a:xfrm>
          <a:prstGeom prst="rect">
            <a:avLst/>
          </a:prstGeom>
          <a:noFill/>
          <a:ln/>
        </p:spPr>
        <p:txBody>
          <a:bodyPr wrap="square" lIns="0" tIns="0" rIns="0" bIns="0" rtlCol="0" anchor="t"/>
          <a:lstStyle/>
          <a:p>
            <a:pPr marL="0" indent="0">
              <a:buNone/>
            </a:pPr>
            <a:r>
              <a:rPr lang="it-IT" sz="1200" dirty="0">
                <a:solidFill>
                  <a:schemeClr val="tx2"/>
                </a:solidFill>
              </a:rPr>
              <a:t>e non possiamo coinvolgere un esperto</a:t>
            </a:r>
            <a:endParaRPr lang="it-IT" sz="1200" dirty="0"/>
          </a:p>
        </p:txBody>
      </p:sp>
      <p:sp>
        <p:nvSpPr>
          <p:cNvPr id="9" name="Conseguenze gravi o irreversibili"/>
          <p:cNvSpPr/>
          <p:nvPr/>
        </p:nvSpPr>
        <p:spPr>
          <a:xfrm>
            <a:off x="4663440" y="1097280"/>
            <a:ext cx="4023360" cy="1005840"/>
          </a:xfrm>
          <a:prstGeom prst="roundRect">
            <a:avLst>
              <a:gd name="adj" fmla="val 7273"/>
            </a:avLst>
          </a:prstGeom>
          <a:solidFill>
            <a:schemeClr val="bg2"/>
          </a:solidFill>
          <a:ln/>
        </p:spPr>
        <p:txBody>
          <a:bodyPr/>
          <a:lstStyle/>
          <a:p>
            <a:endParaRPr lang="it-IT" dirty="0"/>
          </a:p>
        </p:txBody>
      </p:sp>
      <p:sp>
        <p:nvSpPr>
          <p:cNvPr id="10" name="cerchio FiAlertOctagon"/>
          <p:cNvSpPr/>
          <p:nvPr/>
        </p:nvSpPr>
        <p:spPr>
          <a:xfrm>
            <a:off x="4828032" y="1344168"/>
            <a:ext cx="512064" cy="512064"/>
          </a:xfrm>
          <a:prstGeom prst="ellipse">
            <a:avLst/>
          </a:prstGeom>
          <a:solidFill>
            <a:schemeClr val="accent5"/>
          </a:solidFill>
          <a:ln/>
        </p:spPr>
        <p:txBody>
          <a:bodyPr/>
          <a:lstStyle/>
          <a:p>
            <a:endParaRPr lang="it-IT" dirty="0"/>
          </a:p>
        </p:txBody>
      </p:sp>
      <p:pic>
        <p:nvPicPr>
          <p:cNvPr id="11" name="Image 1" descr="FiAlertOctagon"/>
          <p:cNvPicPr>
            <a:picLocks noChangeAspect="1"/>
          </p:cNvPicPr>
          <p:nvPr/>
        </p:nvPicPr>
        <p:blipFill>
          <a:blip r:embed="rId4"/>
          <a:stretch>
            <a:fillRect/>
          </a:stretch>
        </p:blipFill>
        <p:spPr>
          <a:xfrm>
            <a:off x="4956048" y="1472184"/>
            <a:ext cx="256032" cy="256032"/>
          </a:xfrm>
          <a:prstGeom prst="rect">
            <a:avLst/>
          </a:prstGeom>
        </p:spPr>
      </p:pic>
      <p:sp>
        <p:nvSpPr>
          <p:cNvPr id="12" name="Text 7"/>
          <p:cNvSpPr txBox="1"/>
          <p:nvPr/>
        </p:nvSpPr>
        <p:spPr>
          <a:xfrm>
            <a:off x="5486400" y="1207008"/>
            <a:ext cx="3108960" cy="411480"/>
          </a:xfrm>
          <a:prstGeom prst="rect">
            <a:avLst/>
          </a:prstGeom>
          <a:noFill/>
          <a:ln/>
        </p:spPr>
        <p:txBody>
          <a:bodyPr wrap="square" lIns="0" tIns="0" rIns="0" bIns="0" rtlCol="0" anchor="ctr"/>
          <a:lstStyle/>
          <a:p>
            <a:pPr marL="0" indent="0">
              <a:buNone/>
            </a:pPr>
            <a:r>
              <a:rPr lang="it-IT" sz="1300" b="1" dirty="0">
                <a:solidFill>
                  <a:schemeClr val="tx1"/>
                </a:solidFill>
              </a:rPr>
              <a:t>Conseguenze gravi o irreversibili</a:t>
            </a:r>
            <a:endParaRPr lang="it-IT" sz="1300" dirty="0"/>
          </a:p>
        </p:txBody>
      </p:sp>
      <p:sp>
        <p:nvSpPr>
          <p:cNvPr id="13" name="Text 8"/>
          <p:cNvSpPr txBox="1"/>
          <p:nvPr/>
        </p:nvSpPr>
        <p:spPr>
          <a:xfrm>
            <a:off x="5486400" y="1600200"/>
            <a:ext cx="3108960" cy="411480"/>
          </a:xfrm>
          <a:prstGeom prst="rect">
            <a:avLst/>
          </a:prstGeom>
          <a:noFill/>
          <a:ln/>
        </p:spPr>
        <p:txBody>
          <a:bodyPr wrap="square" lIns="0" tIns="0" rIns="0" bIns="0" rtlCol="0" anchor="t"/>
          <a:lstStyle/>
          <a:p>
            <a:pPr marL="0" indent="0">
              <a:buNone/>
            </a:pPr>
            <a:r>
              <a:rPr lang="it-IT" sz="1200" dirty="0">
                <a:solidFill>
                  <a:schemeClr val="tx2"/>
                </a:solidFill>
              </a:rPr>
              <a:t>senza controlli adeguati</a:t>
            </a:r>
            <a:endParaRPr lang="it-IT" sz="1200" dirty="0"/>
          </a:p>
        </p:txBody>
      </p:sp>
      <p:sp>
        <p:nvSpPr>
          <p:cNvPr id="14" name="Decisioni con effetti sulle persone"/>
          <p:cNvSpPr/>
          <p:nvPr/>
        </p:nvSpPr>
        <p:spPr>
          <a:xfrm>
            <a:off x="457200" y="2240280"/>
            <a:ext cx="4023360" cy="1005840"/>
          </a:xfrm>
          <a:prstGeom prst="roundRect">
            <a:avLst>
              <a:gd name="adj" fmla="val 7273"/>
            </a:avLst>
          </a:prstGeom>
          <a:solidFill>
            <a:schemeClr val="bg2"/>
          </a:solidFill>
          <a:ln/>
        </p:spPr>
        <p:txBody>
          <a:bodyPr/>
          <a:lstStyle/>
          <a:p>
            <a:endParaRPr lang="it-IT" dirty="0"/>
          </a:p>
        </p:txBody>
      </p:sp>
      <p:sp>
        <p:nvSpPr>
          <p:cNvPr id="15" name="cerchio FiUsers"/>
          <p:cNvSpPr/>
          <p:nvPr/>
        </p:nvSpPr>
        <p:spPr>
          <a:xfrm>
            <a:off x="621792" y="2487168"/>
            <a:ext cx="512064" cy="512064"/>
          </a:xfrm>
          <a:prstGeom prst="ellipse">
            <a:avLst/>
          </a:prstGeom>
          <a:solidFill>
            <a:schemeClr val="accent1"/>
          </a:solidFill>
          <a:ln/>
        </p:spPr>
        <p:txBody>
          <a:bodyPr/>
          <a:lstStyle/>
          <a:p>
            <a:endParaRPr lang="it-IT" dirty="0"/>
          </a:p>
        </p:txBody>
      </p:sp>
      <p:pic>
        <p:nvPicPr>
          <p:cNvPr id="16" name="Image 2" descr="FiUsers"/>
          <p:cNvPicPr>
            <a:picLocks noChangeAspect="1"/>
          </p:cNvPicPr>
          <p:nvPr/>
        </p:nvPicPr>
        <p:blipFill>
          <a:blip r:embed="rId5"/>
          <a:stretch>
            <a:fillRect/>
          </a:stretch>
        </p:blipFill>
        <p:spPr>
          <a:xfrm>
            <a:off x="749808" y="2615184"/>
            <a:ext cx="256032" cy="256032"/>
          </a:xfrm>
          <a:prstGeom prst="rect">
            <a:avLst/>
          </a:prstGeom>
        </p:spPr>
      </p:pic>
      <p:sp>
        <p:nvSpPr>
          <p:cNvPr id="17" name="Text 11"/>
          <p:cNvSpPr txBox="1"/>
          <p:nvPr/>
        </p:nvSpPr>
        <p:spPr>
          <a:xfrm>
            <a:off x="1280160" y="2350008"/>
            <a:ext cx="3108960" cy="411480"/>
          </a:xfrm>
          <a:prstGeom prst="rect">
            <a:avLst/>
          </a:prstGeom>
          <a:noFill/>
          <a:ln/>
        </p:spPr>
        <p:txBody>
          <a:bodyPr wrap="square" lIns="0" tIns="0" rIns="0" bIns="0" rtlCol="0" anchor="ctr"/>
          <a:lstStyle/>
          <a:p>
            <a:pPr marL="0" indent="0">
              <a:buNone/>
            </a:pPr>
            <a:r>
              <a:rPr lang="it-IT" sz="1300" b="1" dirty="0">
                <a:solidFill>
                  <a:schemeClr val="tx1"/>
                </a:solidFill>
              </a:rPr>
              <a:t>Decisioni con effetti sulle persone</a:t>
            </a:r>
            <a:endParaRPr lang="it-IT" sz="1300" dirty="0"/>
          </a:p>
        </p:txBody>
      </p:sp>
      <p:sp>
        <p:nvSpPr>
          <p:cNvPr id="18" name="Text 12"/>
          <p:cNvSpPr txBox="1"/>
          <p:nvPr/>
        </p:nvSpPr>
        <p:spPr>
          <a:xfrm>
            <a:off x="1280160" y="2743200"/>
            <a:ext cx="3108960" cy="411480"/>
          </a:xfrm>
          <a:prstGeom prst="rect">
            <a:avLst/>
          </a:prstGeom>
          <a:noFill/>
          <a:ln/>
        </p:spPr>
        <p:txBody>
          <a:bodyPr wrap="square" lIns="0" tIns="0" rIns="0" bIns="0" rtlCol="0" anchor="t"/>
          <a:lstStyle/>
          <a:p>
            <a:pPr marL="0" indent="0">
              <a:buNone/>
            </a:pPr>
            <a:r>
              <a:rPr lang="it-IT" sz="1200" dirty="0">
                <a:solidFill>
                  <a:schemeClr val="tx2"/>
                </a:solidFill>
              </a:rPr>
              <a:t>selezione, valutazione, servizi, salute, sicurezza</a:t>
            </a:r>
            <a:endParaRPr lang="it-IT" sz="1200" dirty="0"/>
          </a:p>
        </p:txBody>
      </p:sp>
      <p:sp>
        <p:nvSpPr>
          <p:cNvPr id="19" name="Risultato non verificabile"/>
          <p:cNvSpPr/>
          <p:nvPr/>
        </p:nvSpPr>
        <p:spPr>
          <a:xfrm>
            <a:off x="4663440" y="2240280"/>
            <a:ext cx="4023360" cy="1005840"/>
          </a:xfrm>
          <a:prstGeom prst="roundRect">
            <a:avLst>
              <a:gd name="adj" fmla="val 7273"/>
            </a:avLst>
          </a:prstGeom>
          <a:solidFill>
            <a:schemeClr val="bg2"/>
          </a:solidFill>
          <a:ln/>
        </p:spPr>
        <p:txBody>
          <a:bodyPr/>
          <a:lstStyle/>
          <a:p>
            <a:endParaRPr lang="it-IT" dirty="0"/>
          </a:p>
        </p:txBody>
      </p:sp>
      <p:sp>
        <p:nvSpPr>
          <p:cNvPr id="20" name="cerchio FiSearch"/>
          <p:cNvSpPr/>
          <p:nvPr/>
        </p:nvSpPr>
        <p:spPr>
          <a:xfrm>
            <a:off x="4828032" y="2487168"/>
            <a:ext cx="512064" cy="512064"/>
          </a:xfrm>
          <a:prstGeom prst="ellipse">
            <a:avLst/>
          </a:prstGeom>
          <a:solidFill>
            <a:schemeClr val="accent1"/>
          </a:solidFill>
          <a:ln/>
        </p:spPr>
        <p:txBody>
          <a:bodyPr/>
          <a:lstStyle/>
          <a:p>
            <a:endParaRPr lang="it-IT" dirty="0"/>
          </a:p>
        </p:txBody>
      </p:sp>
      <p:pic>
        <p:nvPicPr>
          <p:cNvPr id="21" name="Image 3" descr="FiSearch"/>
          <p:cNvPicPr>
            <a:picLocks noChangeAspect="1"/>
          </p:cNvPicPr>
          <p:nvPr/>
        </p:nvPicPr>
        <p:blipFill>
          <a:blip r:embed="rId6"/>
          <a:stretch>
            <a:fillRect/>
          </a:stretch>
        </p:blipFill>
        <p:spPr>
          <a:xfrm>
            <a:off x="4956048" y="2615184"/>
            <a:ext cx="256032" cy="256032"/>
          </a:xfrm>
          <a:prstGeom prst="rect">
            <a:avLst/>
          </a:prstGeom>
        </p:spPr>
      </p:pic>
      <p:sp>
        <p:nvSpPr>
          <p:cNvPr id="22" name="Text 15"/>
          <p:cNvSpPr txBox="1"/>
          <p:nvPr/>
        </p:nvSpPr>
        <p:spPr>
          <a:xfrm>
            <a:off x="5486400" y="2350008"/>
            <a:ext cx="3108960" cy="411480"/>
          </a:xfrm>
          <a:prstGeom prst="rect">
            <a:avLst/>
          </a:prstGeom>
          <a:noFill/>
          <a:ln/>
        </p:spPr>
        <p:txBody>
          <a:bodyPr wrap="square" lIns="0" tIns="0" rIns="0" bIns="0" rtlCol="0" anchor="ctr"/>
          <a:lstStyle/>
          <a:p>
            <a:pPr marL="0" indent="0">
              <a:buNone/>
            </a:pPr>
            <a:r>
              <a:rPr lang="it-IT" sz="1300" b="1" dirty="0">
                <a:solidFill>
                  <a:schemeClr val="tx1"/>
                </a:solidFill>
              </a:rPr>
              <a:t>Risultato non verificabile</a:t>
            </a:r>
            <a:endParaRPr lang="it-IT" sz="1300" dirty="0"/>
          </a:p>
        </p:txBody>
      </p:sp>
      <p:sp>
        <p:nvSpPr>
          <p:cNvPr id="23" name="Text 16"/>
          <p:cNvSpPr txBox="1"/>
          <p:nvPr/>
        </p:nvSpPr>
        <p:spPr>
          <a:xfrm>
            <a:off x="5486400" y="2743200"/>
            <a:ext cx="3108960" cy="411480"/>
          </a:xfrm>
          <a:prstGeom prst="rect">
            <a:avLst/>
          </a:prstGeom>
          <a:noFill/>
          <a:ln/>
        </p:spPr>
        <p:txBody>
          <a:bodyPr wrap="square" lIns="0" tIns="0" rIns="0" bIns="0" rtlCol="0" anchor="t"/>
          <a:lstStyle/>
          <a:p>
            <a:pPr marL="0" indent="0">
              <a:buNone/>
            </a:pPr>
            <a:r>
              <a:rPr lang="it-IT" sz="1200" dirty="0">
                <a:solidFill>
                  <a:schemeClr val="tx2"/>
                </a:solidFill>
              </a:rPr>
              <a:t>né su fonti né con competenza adeguata</a:t>
            </a:r>
            <a:endParaRPr lang="it-IT" sz="1200" dirty="0"/>
          </a:p>
        </p:txBody>
      </p:sp>
      <p:sp>
        <p:nvSpPr>
          <p:cNvPr id="24" name="Dati riservati"/>
          <p:cNvSpPr/>
          <p:nvPr/>
        </p:nvSpPr>
        <p:spPr>
          <a:xfrm>
            <a:off x="457200" y="3383280"/>
            <a:ext cx="4023360" cy="1005840"/>
          </a:xfrm>
          <a:prstGeom prst="roundRect">
            <a:avLst>
              <a:gd name="adj" fmla="val 7273"/>
            </a:avLst>
          </a:prstGeom>
          <a:solidFill>
            <a:schemeClr val="bg2"/>
          </a:solidFill>
          <a:ln/>
        </p:spPr>
        <p:txBody>
          <a:bodyPr/>
          <a:lstStyle/>
          <a:p>
            <a:endParaRPr lang="it-IT" dirty="0"/>
          </a:p>
        </p:txBody>
      </p:sp>
      <p:sp>
        <p:nvSpPr>
          <p:cNvPr id="25" name="cerchio FiLock"/>
          <p:cNvSpPr/>
          <p:nvPr/>
        </p:nvSpPr>
        <p:spPr>
          <a:xfrm>
            <a:off x="621792" y="3630168"/>
            <a:ext cx="512064" cy="512064"/>
          </a:xfrm>
          <a:prstGeom prst="ellipse">
            <a:avLst/>
          </a:prstGeom>
          <a:solidFill>
            <a:schemeClr val="accent1"/>
          </a:solidFill>
          <a:ln/>
        </p:spPr>
        <p:txBody>
          <a:bodyPr/>
          <a:lstStyle/>
          <a:p>
            <a:endParaRPr lang="it-IT" dirty="0"/>
          </a:p>
        </p:txBody>
      </p:sp>
      <p:pic>
        <p:nvPicPr>
          <p:cNvPr id="26" name="Image 4" descr="FiLock"/>
          <p:cNvPicPr>
            <a:picLocks noChangeAspect="1"/>
          </p:cNvPicPr>
          <p:nvPr/>
        </p:nvPicPr>
        <p:blipFill>
          <a:blip r:embed="rId7"/>
          <a:stretch>
            <a:fillRect/>
          </a:stretch>
        </p:blipFill>
        <p:spPr>
          <a:xfrm>
            <a:off x="749808" y="3758184"/>
            <a:ext cx="256032" cy="256032"/>
          </a:xfrm>
          <a:prstGeom prst="rect">
            <a:avLst/>
          </a:prstGeom>
        </p:spPr>
      </p:pic>
      <p:sp>
        <p:nvSpPr>
          <p:cNvPr id="27" name="Text 19"/>
          <p:cNvSpPr txBox="1"/>
          <p:nvPr/>
        </p:nvSpPr>
        <p:spPr>
          <a:xfrm>
            <a:off x="1280160" y="3493008"/>
            <a:ext cx="3108960" cy="411480"/>
          </a:xfrm>
          <a:prstGeom prst="rect">
            <a:avLst/>
          </a:prstGeom>
          <a:noFill/>
          <a:ln/>
        </p:spPr>
        <p:txBody>
          <a:bodyPr wrap="square" lIns="0" tIns="0" rIns="0" bIns="0" rtlCol="0" anchor="ctr"/>
          <a:lstStyle/>
          <a:p>
            <a:pPr marL="0" indent="0">
              <a:buNone/>
            </a:pPr>
            <a:r>
              <a:rPr lang="it-IT" sz="1300" b="1" dirty="0">
                <a:solidFill>
                  <a:schemeClr val="tx1"/>
                </a:solidFill>
              </a:rPr>
              <a:t>Dati riservati</a:t>
            </a:r>
            <a:endParaRPr lang="it-IT" sz="1300" dirty="0"/>
          </a:p>
        </p:txBody>
      </p:sp>
      <p:sp>
        <p:nvSpPr>
          <p:cNvPr id="28" name="Text 20"/>
          <p:cNvSpPr txBox="1"/>
          <p:nvPr/>
        </p:nvSpPr>
        <p:spPr>
          <a:xfrm>
            <a:off x="1280160" y="3886200"/>
            <a:ext cx="3108960" cy="411480"/>
          </a:xfrm>
          <a:prstGeom prst="rect">
            <a:avLst/>
          </a:prstGeom>
          <a:noFill/>
          <a:ln/>
        </p:spPr>
        <p:txBody>
          <a:bodyPr wrap="square" lIns="0" tIns="0" rIns="0" bIns="0" rtlCol="0" anchor="t"/>
          <a:lstStyle/>
          <a:p>
            <a:pPr marL="0" indent="0">
              <a:buNone/>
            </a:pPr>
            <a:r>
              <a:rPr lang="it-IT" sz="1200" dirty="0">
                <a:solidFill>
                  <a:schemeClr val="tx2"/>
                </a:solidFill>
              </a:rPr>
              <a:t>con strumenti non autorizzati</a:t>
            </a:r>
            <a:endParaRPr lang="it-IT" sz="1200" dirty="0"/>
          </a:p>
        </p:txBody>
      </p:sp>
      <p:sp>
        <p:nvSpPr>
          <p:cNvPr id="29" name="Il valore è nel contributo umano"/>
          <p:cNvSpPr/>
          <p:nvPr/>
        </p:nvSpPr>
        <p:spPr>
          <a:xfrm>
            <a:off x="4663440" y="3383280"/>
            <a:ext cx="4023360" cy="1005840"/>
          </a:xfrm>
          <a:prstGeom prst="roundRect">
            <a:avLst>
              <a:gd name="adj" fmla="val 7273"/>
            </a:avLst>
          </a:prstGeom>
          <a:solidFill>
            <a:schemeClr val="bg2"/>
          </a:solidFill>
          <a:ln/>
        </p:spPr>
        <p:txBody>
          <a:bodyPr/>
          <a:lstStyle/>
          <a:p>
            <a:endParaRPr lang="it-IT" dirty="0"/>
          </a:p>
        </p:txBody>
      </p:sp>
      <p:sp>
        <p:nvSpPr>
          <p:cNvPr id="30" name="cerchio FiHeart"/>
          <p:cNvSpPr/>
          <p:nvPr/>
        </p:nvSpPr>
        <p:spPr>
          <a:xfrm>
            <a:off x="4828032" y="3630168"/>
            <a:ext cx="512064" cy="512064"/>
          </a:xfrm>
          <a:prstGeom prst="ellipse">
            <a:avLst/>
          </a:prstGeom>
          <a:solidFill>
            <a:schemeClr val="accent1"/>
          </a:solidFill>
          <a:ln/>
        </p:spPr>
        <p:txBody>
          <a:bodyPr/>
          <a:lstStyle/>
          <a:p>
            <a:endParaRPr lang="it-IT" dirty="0"/>
          </a:p>
        </p:txBody>
      </p:sp>
      <p:pic>
        <p:nvPicPr>
          <p:cNvPr id="31" name="Image 5" descr="FiHeart"/>
          <p:cNvPicPr>
            <a:picLocks noChangeAspect="1"/>
          </p:cNvPicPr>
          <p:nvPr/>
        </p:nvPicPr>
        <p:blipFill>
          <a:blip r:embed="rId8"/>
          <a:stretch>
            <a:fillRect/>
          </a:stretch>
        </p:blipFill>
        <p:spPr>
          <a:xfrm>
            <a:off x="4956048" y="3758184"/>
            <a:ext cx="256032" cy="256032"/>
          </a:xfrm>
          <a:prstGeom prst="rect">
            <a:avLst/>
          </a:prstGeom>
        </p:spPr>
      </p:pic>
      <p:sp>
        <p:nvSpPr>
          <p:cNvPr id="32" name="Text 23"/>
          <p:cNvSpPr txBox="1"/>
          <p:nvPr/>
        </p:nvSpPr>
        <p:spPr>
          <a:xfrm>
            <a:off x="5486400" y="3493008"/>
            <a:ext cx="3108960" cy="411480"/>
          </a:xfrm>
          <a:prstGeom prst="rect">
            <a:avLst/>
          </a:prstGeom>
          <a:noFill/>
          <a:ln/>
        </p:spPr>
        <p:txBody>
          <a:bodyPr wrap="square" lIns="0" tIns="0" rIns="0" bIns="0" rtlCol="0" anchor="ctr"/>
          <a:lstStyle/>
          <a:p>
            <a:pPr marL="0" indent="0">
              <a:buNone/>
            </a:pPr>
            <a:r>
              <a:rPr lang="it-IT" sz="1300" b="1" dirty="0">
                <a:solidFill>
                  <a:schemeClr val="tx1"/>
                </a:solidFill>
              </a:rPr>
              <a:t>Il valore è nel contributo umano</a:t>
            </a:r>
            <a:endParaRPr lang="it-IT" sz="1300" dirty="0"/>
          </a:p>
        </p:txBody>
      </p:sp>
      <p:sp>
        <p:nvSpPr>
          <p:cNvPr id="33" name="Text 24"/>
          <p:cNvSpPr txBox="1"/>
          <p:nvPr/>
        </p:nvSpPr>
        <p:spPr>
          <a:xfrm>
            <a:off x="5486400" y="3886200"/>
            <a:ext cx="3108960" cy="411480"/>
          </a:xfrm>
          <a:prstGeom prst="rect">
            <a:avLst/>
          </a:prstGeom>
          <a:noFill/>
          <a:ln/>
        </p:spPr>
        <p:txBody>
          <a:bodyPr wrap="square" lIns="0" tIns="0" rIns="0" bIns="0" rtlCol="0" anchor="t"/>
          <a:lstStyle/>
          <a:p>
            <a:pPr marL="0" indent="0">
              <a:buNone/>
            </a:pPr>
            <a:r>
              <a:rPr lang="it-IT" sz="1200" dirty="0">
                <a:solidFill>
                  <a:schemeClr val="tx2"/>
                </a:solidFill>
              </a:rPr>
              <a:t>messaggi personali, colloqui delicati, apprendimento</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62</a:t>
            </a:fld>
            <a:endParaRPr lang="it-IT"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La responsabilità resta umana</a:t>
            </a:r>
            <a:endParaRPr lang="it-IT" sz="2600" dirty="0"/>
          </a:p>
        </p:txBody>
      </p:sp>
      <p:sp>
        <p:nvSpPr>
          <p:cNvPr id="4" name="principio responsabilità"/>
          <p:cNvSpPr/>
          <p:nvPr/>
        </p:nvSpPr>
        <p:spPr>
          <a:xfrm>
            <a:off x="457200" y="1097280"/>
            <a:ext cx="3977640" cy="3429000"/>
          </a:xfrm>
          <a:prstGeom prst="roundRect">
            <a:avLst>
              <a:gd name="adj" fmla="val 2133"/>
            </a:avLst>
          </a:prstGeom>
          <a:solidFill>
            <a:schemeClr val="tx1"/>
          </a:solidFill>
          <a:ln/>
        </p:spPr>
        <p:txBody>
          <a:bodyPr/>
          <a:lstStyle/>
          <a:p>
            <a:endParaRPr lang="it-IT" dirty="0"/>
          </a:p>
        </p:txBody>
      </p:sp>
      <p:sp>
        <p:nvSpPr>
          <p:cNvPr id="5" name="cerchio FiUserCheck"/>
          <p:cNvSpPr/>
          <p:nvPr/>
        </p:nvSpPr>
        <p:spPr>
          <a:xfrm>
            <a:off x="685800" y="1325880"/>
            <a:ext cx="640080" cy="640080"/>
          </a:xfrm>
          <a:prstGeom prst="ellipse">
            <a:avLst/>
          </a:prstGeom>
          <a:solidFill>
            <a:schemeClr val="accent1"/>
          </a:solidFill>
          <a:ln/>
        </p:spPr>
        <p:txBody>
          <a:bodyPr/>
          <a:lstStyle/>
          <a:p>
            <a:endParaRPr lang="it-IT" dirty="0"/>
          </a:p>
        </p:txBody>
      </p:sp>
      <p:pic>
        <p:nvPicPr>
          <p:cNvPr id="6" name="Image 0" descr="FiUserCheck"/>
          <p:cNvPicPr>
            <a:picLocks noChangeAspect="1"/>
          </p:cNvPicPr>
          <p:nvPr/>
        </p:nvPicPr>
        <p:blipFill>
          <a:blip r:embed="rId3"/>
          <a:stretch>
            <a:fillRect/>
          </a:stretch>
        </p:blipFill>
        <p:spPr>
          <a:xfrm>
            <a:off x="845820" y="1485900"/>
            <a:ext cx="320040" cy="320040"/>
          </a:xfrm>
          <a:prstGeom prst="rect">
            <a:avLst/>
          </a:prstGeom>
        </p:spPr>
      </p:pic>
      <p:sp>
        <p:nvSpPr>
          <p:cNvPr id="7" name="Text 3"/>
          <p:cNvSpPr txBox="1"/>
          <p:nvPr/>
        </p:nvSpPr>
        <p:spPr>
          <a:xfrm>
            <a:off x="685800" y="2148840"/>
            <a:ext cx="3520440" cy="1371600"/>
          </a:xfrm>
          <a:prstGeom prst="rect">
            <a:avLst/>
          </a:prstGeom>
          <a:noFill/>
          <a:ln/>
        </p:spPr>
        <p:txBody>
          <a:bodyPr wrap="square" lIns="0" tIns="0" rIns="0" bIns="0" rtlCol="0" anchor="t"/>
          <a:lstStyle/>
          <a:p>
            <a:pPr marL="0" indent="0">
              <a:buNone/>
            </a:pPr>
            <a:r>
              <a:rPr lang="it-IT" sz="1600" dirty="0">
                <a:solidFill>
                  <a:schemeClr val="bg1"/>
                </a:solidFill>
              </a:rPr>
              <a:t>Quando usiamo un risultato prodotto con l'AI, ne diventiamo responsabili come se l'avessimo prodotto noi.</a:t>
            </a:r>
            <a:endParaRPr lang="it-IT" sz="1600" dirty="0"/>
          </a:p>
        </p:txBody>
      </p:sp>
      <p:sp>
        <p:nvSpPr>
          <p:cNvPr id="8" name="Text 4"/>
          <p:cNvSpPr txBox="1"/>
          <p:nvPr/>
        </p:nvSpPr>
        <p:spPr>
          <a:xfrm>
            <a:off x="685800" y="3657600"/>
            <a:ext cx="3520440" cy="548640"/>
          </a:xfrm>
          <a:prstGeom prst="rect">
            <a:avLst/>
          </a:prstGeom>
          <a:noFill/>
          <a:ln/>
        </p:spPr>
        <p:txBody>
          <a:bodyPr wrap="square" lIns="0" tIns="0" rIns="0" bIns="0" rtlCol="0" anchor="t"/>
          <a:lstStyle/>
          <a:p>
            <a:pPr marL="0" indent="0">
              <a:buNone/>
            </a:pPr>
            <a:r>
              <a:rPr lang="it-IT" sz="1400" b="1" dirty="0">
                <a:solidFill>
                  <a:schemeClr val="accent1"/>
                </a:solidFill>
              </a:rPr>
              <a:t>"L'ha scritto l'AI" non è una giustificazione.</a:t>
            </a:r>
            <a:endParaRPr lang="it-IT" sz="1400" dirty="0"/>
          </a:p>
        </p:txBody>
      </p:sp>
      <p:sp>
        <p:nvSpPr>
          <p:cNvPr id="9" name="Text 5"/>
          <p:cNvSpPr txBox="1"/>
          <p:nvPr/>
        </p:nvSpPr>
        <p:spPr>
          <a:xfrm>
            <a:off x="4709160" y="1097280"/>
            <a:ext cx="3977640" cy="320040"/>
          </a:xfrm>
          <a:prstGeom prst="rect">
            <a:avLst/>
          </a:prstGeom>
          <a:noFill/>
          <a:ln/>
        </p:spPr>
        <p:txBody>
          <a:bodyPr wrap="square" lIns="0" tIns="0" rIns="0" bIns="0" rtlCol="0" anchor="t"/>
          <a:lstStyle/>
          <a:p>
            <a:pPr marL="0" indent="0">
              <a:buNone/>
            </a:pPr>
            <a:r>
              <a:rPr lang="it-IT" sz="1500" b="1" dirty="0">
                <a:solidFill>
                  <a:schemeClr val="tx1"/>
                </a:solidFill>
              </a:rPr>
              <a:t>Tre implicazioni</a:t>
            </a:r>
            <a:endParaRPr lang="it-IT" sz="1500" dirty="0"/>
          </a:p>
        </p:txBody>
      </p:sp>
      <p:sp>
        <p:nvSpPr>
          <p:cNvPr id="10" name="implicazione 1"/>
          <p:cNvSpPr/>
          <p:nvPr/>
        </p:nvSpPr>
        <p:spPr>
          <a:xfrm>
            <a:off x="4709160" y="1554480"/>
            <a:ext cx="3977640" cy="841248"/>
          </a:xfrm>
          <a:prstGeom prst="roundRect">
            <a:avLst>
              <a:gd name="adj" fmla="val 8696"/>
            </a:avLst>
          </a:prstGeom>
          <a:solidFill>
            <a:schemeClr val="bg2"/>
          </a:solidFill>
          <a:ln/>
        </p:spPr>
        <p:txBody>
          <a:bodyPr/>
          <a:lstStyle/>
          <a:p>
            <a:endParaRPr lang="it-IT" dirty="0"/>
          </a:p>
        </p:txBody>
      </p:sp>
      <p:sp>
        <p:nvSpPr>
          <p:cNvPr id="11" name="Text 7"/>
          <p:cNvSpPr txBox="1"/>
          <p:nvPr/>
        </p:nvSpPr>
        <p:spPr>
          <a:xfrm>
            <a:off x="4846320" y="1554480"/>
            <a:ext cx="457200" cy="841248"/>
          </a:xfrm>
          <a:prstGeom prst="rect">
            <a:avLst/>
          </a:prstGeom>
          <a:noFill/>
          <a:ln/>
        </p:spPr>
        <p:txBody>
          <a:bodyPr wrap="square" lIns="0" tIns="0" rIns="0" bIns="0" rtlCol="0" anchor="ctr"/>
          <a:lstStyle/>
          <a:p>
            <a:pPr marL="0" indent="0">
              <a:buNone/>
            </a:pPr>
            <a:r>
              <a:rPr lang="it-IT" sz="2400" b="1" dirty="0">
                <a:solidFill>
                  <a:schemeClr val="accent1"/>
                </a:solidFill>
              </a:rPr>
              <a:t>1</a:t>
            </a:r>
            <a:endParaRPr lang="it-IT" sz="2400" dirty="0"/>
          </a:p>
        </p:txBody>
      </p:sp>
      <p:sp>
        <p:nvSpPr>
          <p:cNvPr id="12" name="Text 8"/>
          <p:cNvSpPr txBox="1"/>
          <p:nvPr/>
        </p:nvSpPr>
        <p:spPr>
          <a:xfrm>
            <a:off x="5349240" y="1554480"/>
            <a:ext cx="3200400" cy="841248"/>
          </a:xfrm>
          <a:prstGeom prst="rect">
            <a:avLst/>
          </a:prstGeom>
          <a:noFill/>
          <a:ln/>
        </p:spPr>
        <p:txBody>
          <a:bodyPr wrap="square" lIns="0" tIns="0" rIns="0" bIns="0" rtlCol="0" anchor="ctr"/>
          <a:lstStyle/>
          <a:p>
            <a:pPr marL="0" indent="0">
              <a:buNone/>
            </a:pPr>
            <a:r>
              <a:rPr lang="it-IT" sz="1400" dirty="0">
                <a:solidFill>
                  <a:schemeClr val="tx1"/>
                </a:solidFill>
              </a:rPr>
              <a:t>Conoscere capacità e limiti dello strumento</a:t>
            </a:r>
            <a:endParaRPr lang="it-IT" sz="1400" dirty="0"/>
          </a:p>
        </p:txBody>
      </p:sp>
      <p:sp>
        <p:nvSpPr>
          <p:cNvPr id="13" name="implicazione 2"/>
          <p:cNvSpPr/>
          <p:nvPr/>
        </p:nvSpPr>
        <p:spPr>
          <a:xfrm>
            <a:off x="4709160" y="2542032"/>
            <a:ext cx="3977640" cy="841248"/>
          </a:xfrm>
          <a:prstGeom prst="roundRect">
            <a:avLst>
              <a:gd name="adj" fmla="val 8696"/>
            </a:avLst>
          </a:prstGeom>
          <a:solidFill>
            <a:schemeClr val="accent6"/>
          </a:solidFill>
          <a:ln/>
        </p:spPr>
        <p:txBody>
          <a:bodyPr/>
          <a:lstStyle/>
          <a:p>
            <a:endParaRPr lang="it-IT" dirty="0"/>
          </a:p>
        </p:txBody>
      </p:sp>
      <p:sp>
        <p:nvSpPr>
          <p:cNvPr id="14" name="Text 10"/>
          <p:cNvSpPr txBox="1"/>
          <p:nvPr/>
        </p:nvSpPr>
        <p:spPr>
          <a:xfrm>
            <a:off x="4846320" y="2542032"/>
            <a:ext cx="457200" cy="841248"/>
          </a:xfrm>
          <a:prstGeom prst="rect">
            <a:avLst/>
          </a:prstGeom>
          <a:noFill/>
          <a:ln/>
        </p:spPr>
        <p:txBody>
          <a:bodyPr wrap="square" lIns="0" tIns="0" rIns="0" bIns="0" rtlCol="0" anchor="ctr"/>
          <a:lstStyle/>
          <a:p>
            <a:pPr marL="0" indent="0">
              <a:buNone/>
            </a:pPr>
            <a:r>
              <a:rPr lang="it-IT" sz="2400" b="1" dirty="0">
                <a:solidFill>
                  <a:schemeClr val="accent1"/>
                </a:solidFill>
              </a:rPr>
              <a:t>2</a:t>
            </a:r>
            <a:endParaRPr lang="it-IT" sz="2400" dirty="0"/>
          </a:p>
        </p:txBody>
      </p:sp>
      <p:sp>
        <p:nvSpPr>
          <p:cNvPr id="15" name="Text 11"/>
          <p:cNvSpPr txBox="1"/>
          <p:nvPr/>
        </p:nvSpPr>
        <p:spPr>
          <a:xfrm>
            <a:off x="5349240" y="2542032"/>
            <a:ext cx="3200400" cy="841248"/>
          </a:xfrm>
          <a:prstGeom prst="rect">
            <a:avLst/>
          </a:prstGeom>
          <a:noFill/>
          <a:ln/>
        </p:spPr>
        <p:txBody>
          <a:bodyPr wrap="square" lIns="0" tIns="0" rIns="0" bIns="0" rtlCol="0" anchor="ctr"/>
          <a:lstStyle/>
          <a:p>
            <a:pPr marL="0" indent="0">
              <a:buNone/>
            </a:pPr>
            <a:r>
              <a:rPr lang="it-IT" sz="1400" dirty="0">
                <a:solidFill>
                  <a:schemeClr val="tx1"/>
                </a:solidFill>
              </a:rPr>
              <a:t>Controllare in modo proporzionato alle conseguenze</a:t>
            </a:r>
            <a:endParaRPr lang="it-IT" sz="1400" dirty="0"/>
          </a:p>
        </p:txBody>
      </p:sp>
      <p:sp>
        <p:nvSpPr>
          <p:cNvPr id="16" name="implicazione 3"/>
          <p:cNvSpPr/>
          <p:nvPr/>
        </p:nvSpPr>
        <p:spPr>
          <a:xfrm>
            <a:off x="4709160" y="3529584"/>
            <a:ext cx="3977640" cy="841248"/>
          </a:xfrm>
          <a:prstGeom prst="roundRect">
            <a:avLst>
              <a:gd name="adj" fmla="val 8696"/>
            </a:avLst>
          </a:prstGeom>
          <a:solidFill>
            <a:schemeClr val="bg2"/>
          </a:solidFill>
          <a:ln/>
        </p:spPr>
        <p:txBody>
          <a:bodyPr/>
          <a:lstStyle/>
          <a:p>
            <a:endParaRPr lang="it-IT" dirty="0"/>
          </a:p>
        </p:txBody>
      </p:sp>
      <p:sp>
        <p:nvSpPr>
          <p:cNvPr id="17" name="Text 13"/>
          <p:cNvSpPr txBox="1"/>
          <p:nvPr/>
        </p:nvSpPr>
        <p:spPr>
          <a:xfrm>
            <a:off x="4846320" y="3529584"/>
            <a:ext cx="457200" cy="841248"/>
          </a:xfrm>
          <a:prstGeom prst="rect">
            <a:avLst/>
          </a:prstGeom>
          <a:noFill/>
          <a:ln/>
        </p:spPr>
        <p:txBody>
          <a:bodyPr wrap="square" lIns="0" tIns="0" rIns="0" bIns="0" rtlCol="0" anchor="ctr"/>
          <a:lstStyle/>
          <a:p>
            <a:pPr marL="0" indent="0">
              <a:buNone/>
            </a:pPr>
            <a:r>
              <a:rPr lang="it-IT" sz="2400" b="1" dirty="0">
                <a:solidFill>
                  <a:schemeClr val="accent1"/>
                </a:solidFill>
              </a:rPr>
              <a:t>3</a:t>
            </a:r>
            <a:endParaRPr lang="it-IT" sz="2400" dirty="0"/>
          </a:p>
        </p:txBody>
      </p:sp>
      <p:sp>
        <p:nvSpPr>
          <p:cNvPr id="18" name="Text 14"/>
          <p:cNvSpPr txBox="1"/>
          <p:nvPr/>
        </p:nvSpPr>
        <p:spPr>
          <a:xfrm>
            <a:off x="5349240" y="3529584"/>
            <a:ext cx="3200400" cy="841248"/>
          </a:xfrm>
          <a:prstGeom prst="rect">
            <a:avLst/>
          </a:prstGeom>
          <a:noFill/>
          <a:ln/>
        </p:spPr>
        <p:txBody>
          <a:bodyPr wrap="square" lIns="0" tIns="0" rIns="0" bIns="0" rtlCol="0" anchor="ctr"/>
          <a:lstStyle/>
          <a:p>
            <a:pPr marL="0" indent="0">
              <a:buNone/>
            </a:pPr>
            <a:r>
              <a:rPr lang="it-IT" sz="1400" dirty="0">
                <a:solidFill>
                  <a:schemeClr val="tx1"/>
                </a:solidFill>
              </a:rPr>
              <a:t>Sapere quando non usarlo o chi coinvolgere</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63</a:t>
            </a:fld>
            <a:endParaRPr lang="it-IT"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name="Slide 6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7498080" cy="2011680"/>
          </a:xfrm>
          <a:prstGeom prst="rect">
            <a:avLst/>
          </a:prstGeom>
          <a:noFill/>
          <a:ln/>
        </p:spPr>
        <p:txBody>
          <a:bodyPr wrap="square" lIns="0" tIns="0" rIns="0" bIns="0" rtlCol="0" anchor="t"/>
          <a:lstStyle/>
          <a:p>
            <a:pPr marL="0" indent="0">
              <a:buNone/>
            </a:pPr>
            <a:r>
              <a:rPr lang="it-IT" sz="2600" dirty="0">
                <a:solidFill>
                  <a:schemeClr val="bg1"/>
                </a:solidFill>
              </a:rPr>
              <a:t>L'AI va utilizzata quando le sue prestazioni e i controlli disponibili sono compatibili con il rischio del compito, non soltanto quando il sistema sembra capace di eseguirlo.</a:t>
            </a:r>
            <a:endParaRPr lang="it-IT" sz="2600" dirty="0"/>
          </a:p>
        </p:txBody>
      </p:sp>
      <p:sp>
        <p:nvSpPr>
          <p:cNvPr id="3" name="Text 1"/>
          <p:cNvSpPr>
            <a:spLocks noGrp="1"/>
          </p:cNvSpPr>
          <p:nvPr>
            <p:ph type="body" idx="102" hasCustomPrompt="1"/>
          </p:nvPr>
        </p:nvSpPr>
        <p:spPr>
          <a:xfrm>
            <a:off x="822960" y="3794760"/>
            <a:ext cx="7498080" cy="365760"/>
          </a:xfrm>
          <a:prstGeom prst="rect">
            <a:avLst/>
          </a:prstGeom>
          <a:noFill/>
          <a:ln/>
        </p:spPr>
        <p:txBody>
          <a:bodyPr wrap="square" lIns="0" tIns="0" rIns="0" bIns="0" rtlCol="0"/>
          <a:lstStyle/>
          <a:p>
            <a:pPr marL="0" indent="0">
              <a:buNone/>
            </a:pPr>
            <a:r>
              <a:rPr lang="it-IT" sz="1300" dirty="0">
                <a:solidFill>
                  <a:schemeClr val="accent3"/>
                </a:solidFill>
              </a:rPr>
              <a:t>Sottotema 3.8  ·  Quando utilizzare o limitare l'AI</a:t>
            </a:r>
            <a:endParaRPr lang="it-IT"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64</a:t>
            </a:fld>
            <a:endParaRPr lang="it-IT"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name="Slide 6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Le domande guida: le nostre risposte</a:t>
            </a:r>
            <a:endParaRPr lang="it-IT" sz="2600" dirty="0"/>
          </a:p>
        </p:txBody>
      </p:sp>
      <p:sp>
        <p:nvSpPr>
          <p:cNvPr id="4" name="risposta 1"/>
          <p:cNvSpPr/>
          <p:nvPr/>
        </p:nvSpPr>
        <p:spPr>
          <a:xfrm>
            <a:off x="457200" y="1051560"/>
            <a:ext cx="4023360" cy="777240"/>
          </a:xfrm>
          <a:prstGeom prst="roundRect">
            <a:avLst>
              <a:gd name="adj" fmla="val 9412"/>
            </a:avLst>
          </a:prstGeom>
          <a:solidFill>
            <a:schemeClr val="bg2"/>
          </a:solidFill>
          <a:ln/>
        </p:spPr>
        <p:txBody>
          <a:bodyPr/>
          <a:lstStyle/>
          <a:p>
            <a:endParaRPr lang="it-IT" dirty="0"/>
          </a:p>
        </p:txBody>
      </p:sp>
      <p:sp>
        <p:nvSpPr>
          <p:cNvPr id="5" name="Text 2"/>
          <p:cNvSpPr txBox="1"/>
          <p:nvPr/>
        </p:nvSpPr>
        <p:spPr>
          <a:xfrm>
            <a:off x="594360" y="1124712"/>
            <a:ext cx="365760" cy="365760"/>
          </a:xfrm>
          <a:prstGeom prst="rect">
            <a:avLst/>
          </a:prstGeom>
          <a:noFill/>
          <a:ln/>
        </p:spPr>
        <p:txBody>
          <a:bodyPr wrap="square" lIns="0" tIns="0" rIns="0" bIns="0" rtlCol="0" anchor="t"/>
          <a:lstStyle/>
          <a:p>
            <a:pPr marL="0" indent="0">
              <a:buNone/>
            </a:pPr>
            <a:r>
              <a:rPr lang="it-IT" sz="1800" b="1" dirty="0">
                <a:solidFill>
                  <a:schemeClr val="accent1"/>
                </a:solidFill>
              </a:rPr>
              <a:t>1</a:t>
            </a:r>
            <a:endParaRPr lang="it-IT" sz="1800" dirty="0"/>
          </a:p>
        </p:txBody>
      </p:sp>
      <p:sp>
        <p:nvSpPr>
          <p:cNvPr id="6" name="Text 3"/>
          <p:cNvSpPr txBox="1"/>
          <p:nvPr/>
        </p:nvSpPr>
        <p:spPr>
          <a:xfrm>
            <a:off x="960120" y="1124712"/>
            <a:ext cx="3429000" cy="292608"/>
          </a:xfrm>
          <a:prstGeom prst="rect">
            <a:avLst/>
          </a:prstGeom>
          <a:noFill/>
          <a:ln/>
        </p:spPr>
        <p:txBody>
          <a:bodyPr wrap="square" lIns="0" tIns="0" rIns="0" bIns="0" rtlCol="0" anchor="t"/>
          <a:lstStyle/>
          <a:p>
            <a:pPr marL="0" indent="0">
              <a:buNone/>
            </a:pPr>
            <a:r>
              <a:rPr lang="it-IT" sz="1300" b="1" dirty="0">
                <a:solidFill>
                  <a:schemeClr val="tx1"/>
                </a:solidFill>
              </a:rPr>
              <a:t>Che cosa sa fare bene?</a:t>
            </a:r>
            <a:endParaRPr lang="it-IT" sz="1300" dirty="0"/>
          </a:p>
        </p:txBody>
      </p:sp>
      <p:sp>
        <p:nvSpPr>
          <p:cNvPr id="7" name="Text 4"/>
          <p:cNvSpPr txBox="1"/>
          <p:nvPr/>
        </p:nvSpPr>
        <p:spPr>
          <a:xfrm>
            <a:off x="960120" y="1435608"/>
            <a:ext cx="3429000" cy="347472"/>
          </a:xfrm>
          <a:prstGeom prst="rect">
            <a:avLst/>
          </a:prstGeom>
          <a:noFill/>
          <a:ln/>
        </p:spPr>
        <p:txBody>
          <a:bodyPr wrap="square" lIns="0" tIns="0" rIns="0" bIns="0" rtlCol="0" anchor="t"/>
          <a:lstStyle/>
          <a:p>
            <a:pPr marL="0" indent="0">
              <a:buNone/>
            </a:pPr>
            <a:r>
              <a:rPr lang="it-IT" sz="1200" dirty="0">
                <a:solidFill>
                  <a:schemeClr val="tx2"/>
                </a:solidFill>
              </a:rPr>
              <a:t>Molte; la qualità dipende da sistema, compito, informazioni</a:t>
            </a:r>
            <a:endParaRPr lang="it-IT" sz="1200" dirty="0"/>
          </a:p>
        </p:txBody>
      </p:sp>
      <p:sp>
        <p:nvSpPr>
          <p:cNvPr id="8" name="risposta 2"/>
          <p:cNvSpPr/>
          <p:nvPr/>
        </p:nvSpPr>
        <p:spPr>
          <a:xfrm>
            <a:off x="4663440" y="1051560"/>
            <a:ext cx="4023360" cy="777240"/>
          </a:xfrm>
          <a:prstGeom prst="roundRect">
            <a:avLst>
              <a:gd name="adj" fmla="val 9412"/>
            </a:avLst>
          </a:prstGeom>
          <a:solidFill>
            <a:schemeClr val="bg2"/>
          </a:solidFill>
          <a:ln/>
        </p:spPr>
        <p:txBody>
          <a:bodyPr/>
          <a:lstStyle/>
          <a:p>
            <a:endParaRPr lang="it-IT" dirty="0"/>
          </a:p>
        </p:txBody>
      </p:sp>
      <p:sp>
        <p:nvSpPr>
          <p:cNvPr id="9" name="Text 6"/>
          <p:cNvSpPr txBox="1"/>
          <p:nvPr/>
        </p:nvSpPr>
        <p:spPr>
          <a:xfrm>
            <a:off x="4800600" y="1124712"/>
            <a:ext cx="365760" cy="365760"/>
          </a:xfrm>
          <a:prstGeom prst="rect">
            <a:avLst/>
          </a:prstGeom>
          <a:noFill/>
          <a:ln/>
        </p:spPr>
        <p:txBody>
          <a:bodyPr wrap="square" lIns="0" tIns="0" rIns="0" bIns="0" rtlCol="0" anchor="t"/>
          <a:lstStyle/>
          <a:p>
            <a:pPr marL="0" indent="0">
              <a:buNone/>
            </a:pPr>
            <a:r>
              <a:rPr lang="it-IT" sz="1800" b="1" dirty="0">
                <a:solidFill>
                  <a:schemeClr val="accent1"/>
                </a:solidFill>
              </a:rPr>
              <a:t>2</a:t>
            </a:r>
            <a:endParaRPr lang="it-IT" sz="1800" dirty="0"/>
          </a:p>
        </p:txBody>
      </p:sp>
      <p:sp>
        <p:nvSpPr>
          <p:cNvPr id="10" name="Text 7"/>
          <p:cNvSpPr txBox="1"/>
          <p:nvPr/>
        </p:nvSpPr>
        <p:spPr>
          <a:xfrm>
            <a:off x="5166360" y="1124712"/>
            <a:ext cx="3429000" cy="292608"/>
          </a:xfrm>
          <a:prstGeom prst="rect">
            <a:avLst/>
          </a:prstGeom>
          <a:noFill/>
          <a:ln/>
        </p:spPr>
        <p:txBody>
          <a:bodyPr wrap="square" lIns="0" tIns="0" rIns="0" bIns="0" rtlCol="0" anchor="t"/>
          <a:lstStyle/>
          <a:p>
            <a:pPr marL="0" indent="0">
              <a:buNone/>
            </a:pPr>
            <a:r>
              <a:rPr lang="it-IT" sz="1300" b="1" dirty="0">
                <a:solidFill>
                  <a:schemeClr val="tx1"/>
                </a:solidFill>
              </a:rPr>
              <a:t>Limiti del ragionamento?</a:t>
            </a:r>
            <a:endParaRPr lang="it-IT" sz="1300" dirty="0"/>
          </a:p>
        </p:txBody>
      </p:sp>
      <p:sp>
        <p:nvSpPr>
          <p:cNvPr id="11" name="Text 8"/>
          <p:cNvSpPr txBox="1"/>
          <p:nvPr/>
        </p:nvSpPr>
        <p:spPr>
          <a:xfrm>
            <a:off x="5166360" y="1435608"/>
            <a:ext cx="3429000" cy="347472"/>
          </a:xfrm>
          <a:prstGeom prst="rect">
            <a:avLst/>
          </a:prstGeom>
          <a:noFill/>
          <a:ln/>
        </p:spPr>
        <p:txBody>
          <a:bodyPr wrap="square" lIns="0" tIns="0" rIns="0" bIns="0" rtlCol="0" anchor="t"/>
          <a:lstStyle/>
          <a:p>
            <a:pPr marL="0" indent="0">
              <a:buNone/>
            </a:pPr>
            <a:r>
              <a:rPr lang="it-IT" sz="1200" dirty="0">
                <a:solidFill>
                  <a:schemeClr val="tx2"/>
                </a:solidFill>
              </a:rPr>
              <a:t>Errori intermedi; difficoltà su casi nuovi o ambigui</a:t>
            </a:r>
            <a:endParaRPr lang="it-IT" sz="1200" dirty="0"/>
          </a:p>
        </p:txBody>
      </p:sp>
      <p:sp>
        <p:nvSpPr>
          <p:cNvPr id="12" name="risposta 3"/>
          <p:cNvSpPr/>
          <p:nvPr/>
        </p:nvSpPr>
        <p:spPr>
          <a:xfrm>
            <a:off x="457200" y="1920240"/>
            <a:ext cx="4023360" cy="777240"/>
          </a:xfrm>
          <a:prstGeom prst="roundRect">
            <a:avLst>
              <a:gd name="adj" fmla="val 9412"/>
            </a:avLst>
          </a:prstGeom>
          <a:solidFill>
            <a:schemeClr val="bg2"/>
          </a:solidFill>
          <a:ln/>
        </p:spPr>
        <p:txBody>
          <a:bodyPr/>
          <a:lstStyle/>
          <a:p>
            <a:endParaRPr lang="it-IT" dirty="0"/>
          </a:p>
        </p:txBody>
      </p:sp>
      <p:sp>
        <p:nvSpPr>
          <p:cNvPr id="13" name="Text 10"/>
          <p:cNvSpPr txBox="1"/>
          <p:nvPr/>
        </p:nvSpPr>
        <p:spPr>
          <a:xfrm>
            <a:off x="594360" y="1993392"/>
            <a:ext cx="365760" cy="365760"/>
          </a:xfrm>
          <a:prstGeom prst="rect">
            <a:avLst/>
          </a:prstGeom>
          <a:noFill/>
          <a:ln/>
        </p:spPr>
        <p:txBody>
          <a:bodyPr wrap="square" lIns="0" tIns="0" rIns="0" bIns="0" rtlCol="0" anchor="t"/>
          <a:lstStyle/>
          <a:p>
            <a:pPr marL="0" indent="0">
              <a:buNone/>
            </a:pPr>
            <a:r>
              <a:rPr lang="it-IT" sz="1800" b="1" dirty="0">
                <a:solidFill>
                  <a:schemeClr val="accent1"/>
                </a:solidFill>
              </a:rPr>
              <a:t>3</a:t>
            </a:r>
            <a:endParaRPr lang="it-IT" sz="1800" dirty="0"/>
          </a:p>
        </p:txBody>
      </p:sp>
      <p:sp>
        <p:nvSpPr>
          <p:cNvPr id="14" name="Text 11"/>
          <p:cNvSpPr txBox="1"/>
          <p:nvPr/>
        </p:nvSpPr>
        <p:spPr>
          <a:xfrm>
            <a:off x="960120" y="1993392"/>
            <a:ext cx="3429000" cy="292608"/>
          </a:xfrm>
          <a:prstGeom prst="rect">
            <a:avLst/>
          </a:prstGeom>
          <a:noFill/>
          <a:ln/>
        </p:spPr>
        <p:txBody>
          <a:bodyPr wrap="square" lIns="0" tIns="0" rIns="0" bIns="0" rtlCol="0" anchor="t"/>
          <a:lstStyle/>
          <a:p>
            <a:pPr marL="0" indent="0">
              <a:buNone/>
            </a:pPr>
            <a:r>
              <a:rPr lang="it-IT" sz="1300" b="1" dirty="0">
                <a:solidFill>
                  <a:schemeClr val="tx1"/>
                </a:solidFill>
              </a:rPr>
              <a:t>Perché convincente ma falsa?</a:t>
            </a:r>
            <a:endParaRPr lang="it-IT" sz="1300" dirty="0"/>
          </a:p>
        </p:txBody>
      </p:sp>
      <p:sp>
        <p:nvSpPr>
          <p:cNvPr id="15" name="Text 12"/>
          <p:cNvSpPr txBox="1"/>
          <p:nvPr/>
        </p:nvSpPr>
        <p:spPr>
          <a:xfrm>
            <a:off x="960120" y="2304288"/>
            <a:ext cx="3429000" cy="347472"/>
          </a:xfrm>
          <a:prstGeom prst="rect">
            <a:avLst/>
          </a:prstGeom>
          <a:noFill/>
          <a:ln/>
        </p:spPr>
        <p:txBody>
          <a:bodyPr wrap="square" lIns="0" tIns="0" rIns="0" bIns="0" rtlCol="0" anchor="t"/>
          <a:lstStyle/>
          <a:p>
            <a:pPr marL="0" indent="0">
              <a:buNone/>
            </a:pPr>
            <a:r>
              <a:rPr lang="it-IT" sz="1200" dirty="0">
                <a:solidFill>
                  <a:schemeClr val="tx2"/>
                </a:solidFill>
              </a:rPr>
              <a:t>Genera testo plausibile, non verificato</a:t>
            </a:r>
            <a:endParaRPr lang="it-IT" sz="1200" dirty="0"/>
          </a:p>
        </p:txBody>
      </p:sp>
      <p:sp>
        <p:nvSpPr>
          <p:cNvPr id="16" name="risposta 4"/>
          <p:cNvSpPr/>
          <p:nvPr/>
        </p:nvSpPr>
        <p:spPr>
          <a:xfrm>
            <a:off x="4663440" y="1920240"/>
            <a:ext cx="4023360" cy="777240"/>
          </a:xfrm>
          <a:prstGeom prst="roundRect">
            <a:avLst>
              <a:gd name="adj" fmla="val 9412"/>
            </a:avLst>
          </a:prstGeom>
          <a:solidFill>
            <a:schemeClr val="bg2"/>
          </a:solidFill>
          <a:ln/>
        </p:spPr>
        <p:txBody>
          <a:bodyPr/>
          <a:lstStyle/>
          <a:p>
            <a:endParaRPr lang="it-IT" dirty="0"/>
          </a:p>
        </p:txBody>
      </p:sp>
      <p:sp>
        <p:nvSpPr>
          <p:cNvPr id="17" name="Text 14"/>
          <p:cNvSpPr txBox="1"/>
          <p:nvPr/>
        </p:nvSpPr>
        <p:spPr>
          <a:xfrm>
            <a:off x="4800600" y="1993392"/>
            <a:ext cx="365760" cy="365760"/>
          </a:xfrm>
          <a:prstGeom prst="rect">
            <a:avLst/>
          </a:prstGeom>
          <a:noFill/>
          <a:ln/>
        </p:spPr>
        <p:txBody>
          <a:bodyPr wrap="square" lIns="0" tIns="0" rIns="0" bIns="0" rtlCol="0" anchor="t"/>
          <a:lstStyle/>
          <a:p>
            <a:pPr marL="0" indent="0">
              <a:buNone/>
            </a:pPr>
            <a:r>
              <a:rPr lang="it-IT" sz="1800" b="1" dirty="0">
                <a:solidFill>
                  <a:schemeClr val="accent1"/>
                </a:solidFill>
              </a:rPr>
              <a:t>4</a:t>
            </a:r>
            <a:endParaRPr lang="it-IT" sz="1800" dirty="0"/>
          </a:p>
        </p:txBody>
      </p:sp>
      <p:sp>
        <p:nvSpPr>
          <p:cNvPr id="18" name="Text 15"/>
          <p:cNvSpPr txBox="1"/>
          <p:nvPr/>
        </p:nvSpPr>
        <p:spPr>
          <a:xfrm>
            <a:off x="5166360" y="1993392"/>
            <a:ext cx="3429000" cy="292608"/>
          </a:xfrm>
          <a:prstGeom prst="rect">
            <a:avLst/>
          </a:prstGeom>
          <a:noFill/>
          <a:ln/>
        </p:spPr>
        <p:txBody>
          <a:bodyPr wrap="square" lIns="0" tIns="0" rIns="0" bIns="0" rtlCol="0" anchor="t"/>
          <a:lstStyle/>
          <a:p>
            <a:pPr marL="0" indent="0">
              <a:buNone/>
            </a:pPr>
            <a:r>
              <a:rPr lang="it-IT" sz="1300" b="1" dirty="0">
                <a:solidFill>
                  <a:schemeClr val="tx1"/>
                </a:solidFill>
              </a:rPr>
              <a:t>Da dove vengono i </a:t>
            </a:r>
            <a:r>
              <a:rPr lang="it-IT" sz="1300" b="1" dirty="0" err="1">
                <a:solidFill>
                  <a:schemeClr val="tx1"/>
                </a:solidFill>
              </a:rPr>
              <a:t>bias</a:t>
            </a:r>
            <a:r>
              <a:rPr lang="it-IT" sz="1300" b="1" dirty="0">
                <a:solidFill>
                  <a:schemeClr val="tx1"/>
                </a:solidFill>
              </a:rPr>
              <a:t>?</a:t>
            </a:r>
            <a:endParaRPr lang="it-IT" sz="1300" dirty="0"/>
          </a:p>
        </p:txBody>
      </p:sp>
      <p:sp>
        <p:nvSpPr>
          <p:cNvPr id="19" name="Text 16"/>
          <p:cNvSpPr txBox="1"/>
          <p:nvPr/>
        </p:nvSpPr>
        <p:spPr>
          <a:xfrm>
            <a:off x="5166360" y="2304288"/>
            <a:ext cx="3429000" cy="347472"/>
          </a:xfrm>
          <a:prstGeom prst="rect">
            <a:avLst/>
          </a:prstGeom>
          <a:noFill/>
          <a:ln/>
        </p:spPr>
        <p:txBody>
          <a:bodyPr wrap="square" lIns="0" tIns="0" rIns="0" bIns="0" rtlCol="0" anchor="t"/>
          <a:lstStyle/>
          <a:p>
            <a:pPr marL="0" indent="0">
              <a:buNone/>
            </a:pPr>
            <a:r>
              <a:rPr lang="it-IT" sz="1200" dirty="0">
                <a:solidFill>
                  <a:schemeClr val="tx2"/>
                </a:solidFill>
              </a:rPr>
              <a:t>Dati, addestramento, contesto, compiacenza</a:t>
            </a:r>
            <a:endParaRPr lang="it-IT" sz="1200" dirty="0"/>
          </a:p>
        </p:txBody>
      </p:sp>
      <p:sp>
        <p:nvSpPr>
          <p:cNvPr id="20" name="risposta 5"/>
          <p:cNvSpPr/>
          <p:nvPr/>
        </p:nvSpPr>
        <p:spPr>
          <a:xfrm>
            <a:off x="457200" y="2788920"/>
            <a:ext cx="4023360" cy="777240"/>
          </a:xfrm>
          <a:prstGeom prst="roundRect">
            <a:avLst>
              <a:gd name="adj" fmla="val 9412"/>
            </a:avLst>
          </a:prstGeom>
          <a:solidFill>
            <a:schemeClr val="bg2"/>
          </a:solidFill>
          <a:ln/>
        </p:spPr>
        <p:txBody>
          <a:bodyPr/>
          <a:lstStyle/>
          <a:p>
            <a:endParaRPr lang="it-IT" dirty="0"/>
          </a:p>
        </p:txBody>
      </p:sp>
      <p:sp>
        <p:nvSpPr>
          <p:cNvPr id="21" name="Text 18"/>
          <p:cNvSpPr txBox="1"/>
          <p:nvPr/>
        </p:nvSpPr>
        <p:spPr>
          <a:xfrm>
            <a:off x="594360" y="2862072"/>
            <a:ext cx="365760" cy="365760"/>
          </a:xfrm>
          <a:prstGeom prst="rect">
            <a:avLst/>
          </a:prstGeom>
          <a:noFill/>
          <a:ln/>
        </p:spPr>
        <p:txBody>
          <a:bodyPr wrap="square" lIns="0" tIns="0" rIns="0" bIns="0" rtlCol="0" anchor="t"/>
          <a:lstStyle/>
          <a:p>
            <a:pPr marL="0" indent="0">
              <a:buNone/>
            </a:pPr>
            <a:r>
              <a:rPr lang="it-IT" sz="1800" b="1" dirty="0">
                <a:solidFill>
                  <a:schemeClr val="accent1"/>
                </a:solidFill>
              </a:rPr>
              <a:t>5</a:t>
            </a:r>
            <a:endParaRPr lang="it-IT" sz="1800" dirty="0"/>
          </a:p>
        </p:txBody>
      </p:sp>
      <p:sp>
        <p:nvSpPr>
          <p:cNvPr id="22" name="Text 19"/>
          <p:cNvSpPr txBox="1"/>
          <p:nvPr/>
        </p:nvSpPr>
        <p:spPr>
          <a:xfrm>
            <a:off x="960120" y="2862072"/>
            <a:ext cx="3429000" cy="292608"/>
          </a:xfrm>
          <a:prstGeom prst="rect">
            <a:avLst/>
          </a:prstGeom>
          <a:noFill/>
          <a:ln/>
        </p:spPr>
        <p:txBody>
          <a:bodyPr wrap="square" lIns="0" tIns="0" rIns="0" bIns="0" rtlCol="0" anchor="t"/>
          <a:lstStyle/>
          <a:p>
            <a:pPr marL="0" indent="0">
              <a:buNone/>
            </a:pPr>
            <a:r>
              <a:rPr lang="it-IT" sz="1300" b="1" dirty="0">
                <a:solidFill>
                  <a:schemeClr val="tx1"/>
                </a:solidFill>
              </a:rPr>
              <a:t>Accuratezza, affidabilità...?</a:t>
            </a:r>
            <a:endParaRPr lang="it-IT" sz="1300" dirty="0"/>
          </a:p>
        </p:txBody>
      </p:sp>
      <p:sp>
        <p:nvSpPr>
          <p:cNvPr id="23" name="Text 20"/>
          <p:cNvSpPr txBox="1"/>
          <p:nvPr/>
        </p:nvSpPr>
        <p:spPr>
          <a:xfrm>
            <a:off x="960120" y="3172968"/>
            <a:ext cx="3429000" cy="347472"/>
          </a:xfrm>
          <a:prstGeom prst="rect">
            <a:avLst/>
          </a:prstGeom>
          <a:noFill/>
          <a:ln/>
        </p:spPr>
        <p:txBody>
          <a:bodyPr wrap="square" lIns="0" tIns="0" rIns="0" bIns="0" rtlCol="0" anchor="t"/>
          <a:lstStyle/>
          <a:p>
            <a:pPr marL="0" indent="0">
              <a:buNone/>
            </a:pPr>
            <a:r>
              <a:rPr lang="it-IT" sz="1200" dirty="0">
                <a:solidFill>
                  <a:schemeClr val="tx2"/>
                </a:solidFill>
              </a:rPr>
              <a:t>Dimensioni diverse, che non coincidono</a:t>
            </a:r>
            <a:endParaRPr lang="it-IT" sz="1200" dirty="0"/>
          </a:p>
        </p:txBody>
      </p:sp>
      <p:sp>
        <p:nvSpPr>
          <p:cNvPr id="24" name="risposta 6"/>
          <p:cNvSpPr/>
          <p:nvPr/>
        </p:nvSpPr>
        <p:spPr>
          <a:xfrm>
            <a:off x="4663440" y="2788920"/>
            <a:ext cx="4023360" cy="777240"/>
          </a:xfrm>
          <a:prstGeom prst="roundRect">
            <a:avLst>
              <a:gd name="adj" fmla="val 9412"/>
            </a:avLst>
          </a:prstGeom>
          <a:solidFill>
            <a:schemeClr val="bg2"/>
          </a:solidFill>
          <a:ln/>
        </p:spPr>
        <p:txBody>
          <a:bodyPr/>
          <a:lstStyle/>
          <a:p>
            <a:endParaRPr lang="it-IT" dirty="0"/>
          </a:p>
        </p:txBody>
      </p:sp>
      <p:sp>
        <p:nvSpPr>
          <p:cNvPr id="25" name="Text 22"/>
          <p:cNvSpPr txBox="1"/>
          <p:nvPr/>
        </p:nvSpPr>
        <p:spPr>
          <a:xfrm>
            <a:off x="4800600" y="2862072"/>
            <a:ext cx="365760" cy="365760"/>
          </a:xfrm>
          <a:prstGeom prst="rect">
            <a:avLst/>
          </a:prstGeom>
          <a:noFill/>
          <a:ln/>
        </p:spPr>
        <p:txBody>
          <a:bodyPr wrap="square" lIns="0" tIns="0" rIns="0" bIns="0" rtlCol="0" anchor="t"/>
          <a:lstStyle/>
          <a:p>
            <a:pPr marL="0" indent="0">
              <a:buNone/>
            </a:pPr>
            <a:r>
              <a:rPr lang="it-IT" sz="1800" b="1" dirty="0">
                <a:solidFill>
                  <a:schemeClr val="accent1"/>
                </a:solidFill>
              </a:rPr>
              <a:t>6</a:t>
            </a:r>
            <a:endParaRPr lang="it-IT" sz="1800" dirty="0"/>
          </a:p>
        </p:txBody>
      </p:sp>
      <p:sp>
        <p:nvSpPr>
          <p:cNvPr id="26" name="Text 23"/>
          <p:cNvSpPr txBox="1"/>
          <p:nvPr/>
        </p:nvSpPr>
        <p:spPr>
          <a:xfrm>
            <a:off x="5166360" y="2862072"/>
            <a:ext cx="3429000" cy="292608"/>
          </a:xfrm>
          <a:prstGeom prst="rect">
            <a:avLst/>
          </a:prstGeom>
          <a:noFill/>
          <a:ln/>
        </p:spPr>
        <p:txBody>
          <a:bodyPr wrap="square" lIns="0" tIns="0" rIns="0" bIns="0" rtlCol="0" anchor="t"/>
          <a:lstStyle/>
          <a:p>
            <a:pPr marL="0" indent="0">
              <a:buNone/>
            </a:pPr>
            <a:r>
              <a:rPr lang="it-IT" sz="1300" b="1" dirty="0">
                <a:solidFill>
                  <a:schemeClr val="tx1"/>
                </a:solidFill>
              </a:rPr>
              <a:t>Quali controlli?</a:t>
            </a:r>
            <a:endParaRPr lang="it-IT" sz="1300" dirty="0"/>
          </a:p>
        </p:txBody>
      </p:sp>
      <p:sp>
        <p:nvSpPr>
          <p:cNvPr id="27" name="Text 24"/>
          <p:cNvSpPr txBox="1"/>
          <p:nvPr/>
        </p:nvSpPr>
        <p:spPr>
          <a:xfrm>
            <a:off x="5166360" y="3172968"/>
            <a:ext cx="3429000" cy="347472"/>
          </a:xfrm>
          <a:prstGeom prst="rect">
            <a:avLst/>
          </a:prstGeom>
          <a:noFill/>
          <a:ln/>
        </p:spPr>
        <p:txBody>
          <a:bodyPr wrap="square" lIns="0" tIns="0" rIns="0" bIns="0" rtlCol="0" anchor="t"/>
          <a:lstStyle/>
          <a:p>
            <a:pPr marL="0" indent="0">
              <a:buNone/>
            </a:pPr>
            <a:r>
              <a:rPr lang="it-IT" sz="1200" dirty="0">
                <a:solidFill>
                  <a:schemeClr val="tx2"/>
                </a:solidFill>
              </a:rPr>
              <a:t>Fatti, fonti, numeri, completezza, coerenza</a:t>
            </a:r>
            <a:endParaRPr lang="it-IT" sz="1200" dirty="0"/>
          </a:p>
        </p:txBody>
      </p:sp>
      <p:sp>
        <p:nvSpPr>
          <p:cNvPr id="28" name="risposta 7"/>
          <p:cNvSpPr/>
          <p:nvPr/>
        </p:nvSpPr>
        <p:spPr>
          <a:xfrm>
            <a:off x="457200" y="3657600"/>
            <a:ext cx="4023360" cy="777240"/>
          </a:xfrm>
          <a:prstGeom prst="roundRect">
            <a:avLst>
              <a:gd name="adj" fmla="val 9412"/>
            </a:avLst>
          </a:prstGeom>
          <a:solidFill>
            <a:schemeClr val="bg2"/>
          </a:solidFill>
          <a:ln/>
        </p:spPr>
        <p:txBody>
          <a:bodyPr/>
          <a:lstStyle/>
          <a:p>
            <a:endParaRPr lang="it-IT" dirty="0"/>
          </a:p>
        </p:txBody>
      </p:sp>
      <p:sp>
        <p:nvSpPr>
          <p:cNvPr id="29" name="Text 26"/>
          <p:cNvSpPr txBox="1"/>
          <p:nvPr/>
        </p:nvSpPr>
        <p:spPr>
          <a:xfrm>
            <a:off x="594360" y="3730752"/>
            <a:ext cx="365760" cy="365760"/>
          </a:xfrm>
          <a:prstGeom prst="rect">
            <a:avLst/>
          </a:prstGeom>
          <a:noFill/>
          <a:ln/>
        </p:spPr>
        <p:txBody>
          <a:bodyPr wrap="square" lIns="0" tIns="0" rIns="0" bIns="0" rtlCol="0" anchor="t"/>
          <a:lstStyle/>
          <a:p>
            <a:pPr marL="0" indent="0">
              <a:buNone/>
            </a:pPr>
            <a:r>
              <a:rPr lang="it-IT" sz="1800" b="1" dirty="0">
                <a:solidFill>
                  <a:schemeClr val="accent1"/>
                </a:solidFill>
              </a:rPr>
              <a:t>7</a:t>
            </a:r>
            <a:endParaRPr lang="it-IT" sz="1800" dirty="0"/>
          </a:p>
        </p:txBody>
      </p:sp>
      <p:sp>
        <p:nvSpPr>
          <p:cNvPr id="30" name="Text 27"/>
          <p:cNvSpPr txBox="1"/>
          <p:nvPr/>
        </p:nvSpPr>
        <p:spPr>
          <a:xfrm>
            <a:off x="960120" y="3730752"/>
            <a:ext cx="3429000" cy="292608"/>
          </a:xfrm>
          <a:prstGeom prst="rect">
            <a:avLst/>
          </a:prstGeom>
          <a:noFill/>
          <a:ln/>
        </p:spPr>
        <p:txBody>
          <a:bodyPr wrap="square" lIns="0" tIns="0" rIns="0" bIns="0" rtlCol="0" anchor="t"/>
          <a:lstStyle/>
          <a:p>
            <a:pPr marL="0" indent="0">
              <a:buNone/>
            </a:pPr>
            <a:r>
              <a:rPr lang="it-IT" sz="1300" b="1" dirty="0">
                <a:solidFill>
                  <a:schemeClr val="tx1"/>
                </a:solidFill>
              </a:rPr>
              <a:t>Bene in un compito, male in un altro?</a:t>
            </a:r>
            <a:endParaRPr lang="it-IT" sz="1300" dirty="0"/>
          </a:p>
        </p:txBody>
      </p:sp>
      <p:sp>
        <p:nvSpPr>
          <p:cNvPr id="31" name="Text 28"/>
          <p:cNvSpPr txBox="1"/>
          <p:nvPr/>
        </p:nvSpPr>
        <p:spPr>
          <a:xfrm>
            <a:off x="960120" y="4041648"/>
            <a:ext cx="3429000" cy="347472"/>
          </a:xfrm>
          <a:prstGeom prst="rect">
            <a:avLst/>
          </a:prstGeom>
          <a:noFill/>
          <a:ln/>
        </p:spPr>
        <p:txBody>
          <a:bodyPr wrap="square" lIns="0" tIns="0" rIns="0" bIns="0" rtlCol="0" anchor="t"/>
          <a:lstStyle/>
          <a:p>
            <a:pPr marL="0" indent="0">
              <a:buNone/>
            </a:pPr>
            <a:r>
              <a:rPr lang="it-IT" sz="1200" dirty="0">
                <a:solidFill>
                  <a:schemeClr val="tx2"/>
                </a:solidFill>
              </a:rPr>
              <a:t>Frontiera frastagliata: dipende dal compito</a:t>
            </a:r>
            <a:endParaRPr lang="it-IT" sz="1200" dirty="0"/>
          </a:p>
        </p:txBody>
      </p:sp>
      <p:sp>
        <p:nvSpPr>
          <p:cNvPr id="32" name="risposta 8"/>
          <p:cNvSpPr/>
          <p:nvPr/>
        </p:nvSpPr>
        <p:spPr>
          <a:xfrm>
            <a:off x="4663440" y="3657600"/>
            <a:ext cx="4023360" cy="777240"/>
          </a:xfrm>
          <a:prstGeom prst="roundRect">
            <a:avLst>
              <a:gd name="adj" fmla="val 9412"/>
            </a:avLst>
          </a:prstGeom>
          <a:solidFill>
            <a:schemeClr val="bg2"/>
          </a:solidFill>
          <a:ln/>
        </p:spPr>
        <p:txBody>
          <a:bodyPr/>
          <a:lstStyle/>
          <a:p>
            <a:endParaRPr lang="it-IT" dirty="0"/>
          </a:p>
        </p:txBody>
      </p:sp>
      <p:sp>
        <p:nvSpPr>
          <p:cNvPr id="33" name="Text 30"/>
          <p:cNvSpPr txBox="1"/>
          <p:nvPr/>
        </p:nvSpPr>
        <p:spPr>
          <a:xfrm>
            <a:off x="4800600" y="3730752"/>
            <a:ext cx="365760" cy="365760"/>
          </a:xfrm>
          <a:prstGeom prst="rect">
            <a:avLst/>
          </a:prstGeom>
          <a:noFill/>
          <a:ln/>
        </p:spPr>
        <p:txBody>
          <a:bodyPr wrap="square" lIns="0" tIns="0" rIns="0" bIns="0" rtlCol="0" anchor="t"/>
          <a:lstStyle/>
          <a:p>
            <a:pPr marL="0" indent="0">
              <a:buNone/>
            </a:pPr>
            <a:r>
              <a:rPr lang="it-IT" sz="1800" b="1" dirty="0">
                <a:solidFill>
                  <a:schemeClr val="accent1"/>
                </a:solidFill>
              </a:rPr>
              <a:t>8</a:t>
            </a:r>
            <a:endParaRPr lang="it-IT" sz="1800" dirty="0"/>
          </a:p>
        </p:txBody>
      </p:sp>
      <p:sp>
        <p:nvSpPr>
          <p:cNvPr id="34" name="Text 31"/>
          <p:cNvSpPr txBox="1"/>
          <p:nvPr/>
        </p:nvSpPr>
        <p:spPr>
          <a:xfrm>
            <a:off x="5166360" y="3730752"/>
            <a:ext cx="3429000" cy="292608"/>
          </a:xfrm>
          <a:prstGeom prst="rect">
            <a:avLst/>
          </a:prstGeom>
          <a:noFill/>
          <a:ln/>
        </p:spPr>
        <p:txBody>
          <a:bodyPr wrap="square" lIns="0" tIns="0" rIns="0" bIns="0" rtlCol="0" anchor="t"/>
          <a:lstStyle/>
          <a:p>
            <a:pPr marL="0" indent="0">
              <a:buNone/>
            </a:pPr>
            <a:r>
              <a:rPr lang="it-IT" sz="1300" b="1" dirty="0">
                <a:solidFill>
                  <a:schemeClr val="tx1"/>
                </a:solidFill>
              </a:rPr>
              <a:t>Quando più supervisione o evitare?</a:t>
            </a:r>
            <a:endParaRPr lang="it-IT" sz="1300" dirty="0"/>
          </a:p>
        </p:txBody>
      </p:sp>
      <p:sp>
        <p:nvSpPr>
          <p:cNvPr id="35" name="Text 32"/>
          <p:cNvSpPr txBox="1"/>
          <p:nvPr/>
        </p:nvSpPr>
        <p:spPr>
          <a:xfrm>
            <a:off x="5166360" y="4041648"/>
            <a:ext cx="3429000" cy="347472"/>
          </a:xfrm>
          <a:prstGeom prst="rect">
            <a:avLst/>
          </a:prstGeom>
          <a:noFill/>
          <a:ln/>
        </p:spPr>
        <p:txBody>
          <a:bodyPr wrap="square" lIns="0" tIns="0" rIns="0" bIns="0" rtlCol="0" anchor="t"/>
          <a:lstStyle/>
          <a:p>
            <a:pPr marL="0" indent="0">
              <a:buNone/>
            </a:pPr>
            <a:r>
              <a:rPr lang="it-IT" sz="1200" dirty="0">
                <a:solidFill>
                  <a:schemeClr val="tx2"/>
                </a:solidFill>
              </a:rPr>
              <a:t>Conseguenze gravi, irreversibili, non controllabili</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65</a:t>
            </a:fld>
            <a:endParaRPr lang="it-IT"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Che cosa portiamo a casa</a:t>
            </a:r>
            <a:endParaRPr lang="it-IT" sz="2600" dirty="0"/>
          </a:p>
        </p:txBody>
      </p:sp>
      <p:sp>
        <p:nvSpPr>
          <p:cNvPr id="4" name="risultato 1"/>
          <p:cNvSpPr/>
          <p:nvPr/>
        </p:nvSpPr>
        <p:spPr>
          <a:xfrm>
            <a:off x="457200" y="1051560"/>
            <a:ext cx="4023360" cy="749808"/>
          </a:xfrm>
          <a:prstGeom prst="roundRect">
            <a:avLst>
              <a:gd name="adj" fmla="val 9756"/>
            </a:avLst>
          </a:prstGeom>
          <a:solidFill>
            <a:schemeClr val="bg2"/>
          </a:solidFill>
          <a:ln/>
        </p:spPr>
        <p:txBody>
          <a:bodyPr/>
          <a:lstStyle/>
          <a:p>
            <a:endParaRPr lang="it-IT" dirty="0"/>
          </a:p>
        </p:txBody>
      </p:sp>
      <p:sp>
        <p:nvSpPr>
          <p:cNvPr id="5" name="cerchio FiGrid"/>
          <p:cNvSpPr/>
          <p:nvPr/>
        </p:nvSpPr>
        <p:spPr>
          <a:xfrm>
            <a:off x="594360" y="1207008"/>
            <a:ext cx="438912" cy="438912"/>
          </a:xfrm>
          <a:prstGeom prst="ellipse">
            <a:avLst/>
          </a:prstGeom>
          <a:solidFill>
            <a:schemeClr val="accent1"/>
          </a:solidFill>
          <a:ln/>
        </p:spPr>
        <p:txBody>
          <a:bodyPr/>
          <a:lstStyle/>
          <a:p>
            <a:endParaRPr lang="it-IT" dirty="0"/>
          </a:p>
        </p:txBody>
      </p:sp>
      <p:pic>
        <p:nvPicPr>
          <p:cNvPr id="6" name="Image 0" descr="FiGrid"/>
          <p:cNvPicPr>
            <a:picLocks noChangeAspect="1"/>
          </p:cNvPicPr>
          <p:nvPr/>
        </p:nvPicPr>
        <p:blipFill>
          <a:blip r:embed="rId3"/>
          <a:stretch>
            <a:fillRect/>
          </a:stretch>
        </p:blipFill>
        <p:spPr>
          <a:xfrm>
            <a:off x="704088" y="1316736"/>
            <a:ext cx="219456" cy="219456"/>
          </a:xfrm>
          <a:prstGeom prst="rect">
            <a:avLst/>
          </a:prstGeom>
        </p:spPr>
      </p:pic>
      <p:sp>
        <p:nvSpPr>
          <p:cNvPr id="7" name="Text 3"/>
          <p:cNvSpPr txBox="1"/>
          <p:nvPr/>
        </p:nvSpPr>
        <p:spPr>
          <a:xfrm>
            <a:off x="1170432" y="1051560"/>
            <a:ext cx="3200400" cy="749808"/>
          </a:xfrm>
          <a:prstGeom prst="rect">
            <a:avLst/>
          </a:prstGeom>
          <a:noFill/>
          <a:ln/>
        </p:spPr>
        <p:txBody>
          <a:bodyPr wrap="square" lIns="0" tIns="0" rIns="0" bIns="0" rtlCol="0" anchor="ctr"/>
          <a:lstStyle/>
          <a:p>
            <a:pPr marL="0" indent="0">
              <a:buNone/>
            </a:pPr>
            <a:r>
              <a:rPr lang="it-IT" sz="1300" dirty="0">
                <a:solidFill>
                  <a:schemeClr val="tx1"/>
                </a:solidFill>
              </a:rPr>
              <a:t>Associare le capacità dell'AI a tipologie di attività</a:t>
            </a:r>
            <a:endParaRPr lang="it-IT" sz="1300" dirty="0"/>
          </a:p>
        </p:txBody>
      </p:sp>
      <p:sp>
        <p:nvSpPr>
          <p:cNvPr id="8" name="risultato 2"/>
          <p:cNvSpPr/>
          <p:nvPr/>
        </p:nvSpPr>
        <p:spPr>
          <a:xfrm>
            <a:off x="4663440" y="1051560"/>
            <a:ext cx="4023360" cy="749808"/>
          </a:xfrm>
          <a:prstGeom prst="roundRect">
            <a:avLst>
              <a:gd name="adj" fmla="val 9756"/>
            </a:avLst>
          </a:prstGeom>
          <a:solidFill>
            <a:schemeClr val="bg2"/>
          </a:solidFill>
          <a:ln/>
        </p:spPr>
        <p:txBody>
          <a:bodyPr/>
          <a:lstStyle/>
          <a:p>
            <a:endParaRPr lang="it-IT" dirty="0"/>
          </a:p>
        </p:txBody>
      </p:sp>
      <p:sp>
        <p:nvSpPr>
          <p:cNvPr id="9" name="cerchio FiAlertCircle"/>
          <p:cNvSpPr/>
          <p:nvPr/>
        </p:nvSpPr>
        <p:spPr>
          <a:xfrm>
            <a:off x="4800600" y="1207008"/>
            <a:ext cx="438912" cy="438912"/>
          </a:xfrm>
          <a:prstGeom prst="ellipse">
            <a:avLst/>
          </a:prstGeom>
          <a:solidFill>
            <a:schemeClr val="accent1"/>
          </a:solidFill>
          <a:ln/>
        </p:spPr>
        <p:txBody>
          <a:bodyPr/>
          <a:lstStyle/>
          <a:p>
            <a:endParaRPr lang="it-IT" dirty="0"/>
          </a:p>
        </p:txBody>
      </p:sp>
      <p:pic>
        <p:nvPicPr>
          <p:cNvPr id="10" name="Image 1" descr="FiAlertCircle"/>
          <p:cNvPicPr>
            <a:picLocks noChangeAspect="1"/>
          </p:cNvPicPr>
          <p:nvPr/>
        </p:nvPicPr>
        <p:blipFill>
          <a:blip r:embed="rId4"/>
          <a:stretch>
            <a:fillRect/>
          </a:stretch>
        </p:blipFill>
        <p:spPr>
          <a:xfrm>
            <a:off x="4910328" y="1316736"/>
            <a:ext cx="219456" cy="219456"/>
          </a:xfrm>
          <a:prstGeom prst="rect">
            <a:avLst/>
          </a:prstGeom>
        </p:spPr>
      </p:pic>
      <p:sp>
        <p:nvSpPr>
          <p:cNvPr id="11" name="Text 6"/>
          <p:cNvSpPr txBox="1"/>
          <p:nvPr/>
        </p:nvSpPr>
        <p:spPr>
          <a:xfrm>
            <a:off x="5376672" y="1051560"/>
            <a:ext cx="3200400" cy="749808"/>
          </a:xfrm>
          <a:prstGeom prst="rect">
            <a:avLst/>
          </a:prstGeom>
          <a:noFill/>
          <a:ln/>
        </p:spPr>
        <p:txBody>
          <a:bodyPr wrap="square" lIns="0" tIns="0" rIns="0" bIns="0" rtlCol="0" anchor="ctr"/>
          <a:lstStyle/>
          <a:p>
            <a:pPr marL="0" indent="0">
              <a:buNone/>
            </a:pPr>
            <a:r>
              <a:rPr lang="it-IT" sz="1300" dirty="0">
                <a:solidFill>
                  <a:schemeClr val="tx1"/>
                </a:solidFill>
              </a:rPr>
              <a:t>Capire perché una risposta plausibile può essere errata</a:t>
            </a:r>
            <a:endParaRPr lang="it-IT" sz="1300" dirty="0"/>
          </a:p>
        </p:txBody>
      </p:sp>
      <p:sp>
        <p:nvSpPr>
          <p:cNvPr id="12" name="risultato 3"/>
          <p:cNvSpPr/>
          <p:nvPr/>
        </p:nvSpPr>
        <p:spPr>
          <a:xfrm>
            <a:off x="457200" y="1920240"/>
            <a:ext cx="4023360" cy="749808"/>
          </a:xfrm>
          <a:prstGeom prst="roundRect">
            <a:avLst>
              <a:gd name="adj" fmla="val 9756"/>
            </a:avLst>
          </a:prstGeom>
          <a:solidFill>
            <a:schemeClr val="bg1"/>
          </a:solidFill>
          <a:ln/>
        </p:spPr>
        <p:txBody>
          <a:bodyPr/>
          <a:lstStyle/>
          <a:p>
            <a:endParaRPr lang="it-IT" dirty="0"/>
          </a:p>
        </p:txBody>
      </p:sp>
      <p:sp>
        <p:nvSpPr>
          <p:cNvPr id="13" name="cerchio FiEye"/>
          <p:cNvSpPr/>
          <p:nvPr/>
        </p:nvSpPr>
        <p:spPr>
          <a:xfrm>
            <a:off x="594360" y="2075688"/>
            <a:ext cx="438912" cy="438912"/>
          </a:xfrm>
          <a:prstGeom prst="ellipse">
            <a:avLst/>
          </a:prstGeom>
          <a:solidFill>
            <a:schemeClr val="accent1"/>
          </a:solidFill>
          <a:ln/>
        </p:spPr>
        <p:txBody>
          <a:bodyPr/>
          <a:lstStyle/>
          <a:p>
            <a:endParaRPr lang="it-IT" dirty="0"/>
          </a:p>
        </p:txBody>
      </p:sp>
      <p:pic>
        <p:nvPicPr>
          <p:cNvPr id="14" name="Image 2" descr="FiEye"/>
          <p:cNvPicPr>
            <a:picLocks noChangeAspect="1"/>
          </p:cNvPicPr>
          <p:nvPr/>
        </p:nvPicPr>
        <p:blipFill>
          <a:blip r:embed="rId5"/>
          <a:stretch>
            <a:fillRect/>
          </a:stretch>
        </p:blipFill>
        <p:spPr>
          <a:xfrm>
            <a:off x="704088" y="2185416"/>
            <a:ext cx="219456" cy="219456"/>
          </a:xfrm>
          <a:prstGeom prst="rect">
            <a:avLst/>
          </a:prstGeom>
        </p:spPr>
      </p:pic>
      <p:sp>
        <p:nvSpPr>
          <p:cNvPr id="15" name="Text 9"/>
          <p:cNvSpPr txBox="1"/>
          <p:nvPr/>
        </p:nvSpPr>
        <p:spPr>
          <a:xfrm>
            <a:off x="1170432" y="1920240"/>
            <a:ext cx="3200400" cy="749808"/>
          </a:xfrm>
          <a:prstGeom prst="rect">
            <a:avLst/>
          </a:prstGeom>
          <a:noFill/>
          <a:ln/>
        </p:spPr>
        <p:txBody>
          <a:bodyPr wrap="square" lIns="0" tIns="0" rIns="0" bIns="0" rtlCol="0" anchor="ctr"/>
          <a:lstStyle/>
          <a:p>
            <a:pPr marL="0" indent="0">
              <a:buNone/>
            </a:pPr>
            <a:r>
              <a:rPr lang="it-IT" sz="1300" dirty="0">
                <a:solidFill>
                  <a:schemeClr val="tx1"/>
                </a:solidFill>
              </a:rPr>
              <a:t>Identificare possibili </a:t>
            </a:r>
            <a:r>
              <a:rPr lang="it-IT" sz="1300" dirty="0" err="1">
                <a:solidFill>
                  <a:schemeClr val="tx1"/>
                </a:solidFill>
              </a:rPr>
              <a:t>bias</a:t>
            </a:r>
            <a:r>
              <a:rPr lang="it-IT" sz="1300" dirty="0">
                <a:solidFill>
                  <a:schemeClr val="tx1"/>
                </a:solidFill>
              </a:rPr>
              <a:t> e distorsioni</a:t>
            </a:r>
            <a:endParaRPr lang="it-IT" sz="1300" dirty="0"/>
          </a:p>
        </p:txBody>
      </p:sp>
      <p:sp>
        <p:nvSpPr>
          <p:cNvPr id="16" name="risultato 4"/>
          <p:cNvSpPr/>
          <p:nvPr/>
        </p:nvSpPr>
        <p:spPr>
          <a:xfrm>
            <a:off x="4663440" y="1920240"/>
            <a:ext cx="4023360" cy="749808"/>
          </a:xfrm>
          <a:prstGeom prst="roundRect">
            <a:avLst>
              <a:gd name="adj" fmla="val 9756"/>
            </a:avLst>
          </a:prstGeom>
          <a:solidFill>
            <a:schemeClr val="bg1"/>
          </a:solidFill>
          <a:ln/>
        </p:spPr>
        <p:txBody>
          <a:bodyPr/>
          <a:lstStyle/>
          <a:p>
            <a:endParaRPr lang="it-IT" dirty="0"/>
          </a:p>
        </p:txBody>
      </p:sp>
      <p:sp>
        <p:nvSpPr>
          <p:cNvPr id="17" name="cerchio FiType"/>
          <p:cNvSpPr/>
          <p:nvPr/>
        </p:nvSpPr>
        <p:spPr>
          <a:xfrm>
            <a:off x="4800600" y="2075688"/>
            <a:ext cx="438912" cy="438912"/>
          </a:xfrm>
          <a:prstGeom prst="ellipse">
            <a:avLst/>
          </a:prstGeom>
          <a:solidFill>
            <a:schemeClr val="accent1"/>
          </a:solidFill>
          <a:ln/>
        </p:spPr>
        <p:txBody>
          <a:bodyPr/>
          <a:lstStyle/>
          <a:p>
            <a:endParaRPr lang="it-IT" dirty="0"/>
          </a:p>
        </p:txBody>
      </p:sp>
      <p:pic>
        <p:nvPicPr>
          <p:cNvPr id="18" name="Image 3" descr="FiType"/>
          <p:cNvPicPr>
            <a:picLocks noChangeAspect="1"/>
          </p:cNvPicPr>
          <p:nvPr/>
        </p:nvPicPr>
        <p:blipFill>
          <a:blip r:embed="rId6"/>
          <a:stretch>
            <a:fillRect/>
          </a:stretch>
        </p:blipFill>
        <p:spPr>
          <a:xfrm>
            <a:off x="4910328" y="2185416"/>
            <a:ext cx="219456" cy="219456"/>
          </a:xfrm>
          <a:prstGeom prst="rect">
            <a:avLst/>
          </a:prstGeom>
        </p:spPr>
      </p:pic>
      <p:sp>
        <p:nvSpPr>
          <p:cNvPr id="19" name="Text 12"/>
          <p:cNvSpPr txBox="1"/>
          <p:nvPr/>
        </p:nvSpPr>
        <p:spPr>
          <a:xfrm>
            <a:off x="5376672" y="1920240"/>
            <a:ext cx="3200400" cy="749808"/>
          </a:xfrm>
          <a:prstGeom prst="rect">
            <a:avLst/>
          </a:prstGeom>
          <a:noFill/>
          <a:ln/>
        </p:spPr>
        <p:txBody>
          <a:bodyPr wrap="square" lIns="0" tIns="0" rIns="0" bIns="0" rtlCol="0" anchor="ctr"/>
          <a:lstStyle/>
          <a:p>
            <a:pPr marL="0" indent="0">
              <a:buNone/>
            </a:pPr>
            <a:r>
              <a:rPr lang="it-IT" sz="1300" dirty="0">
                <a:solidFill>
                  <a:schemeClr val="tx1"/>
                </a:solidFill>
              </a:rPr>
              <a:t>Distinguere qualità espressiva e correttezza</a:t>
            </a:r>
            <a:endParaRPr lang="it-IT" sz="1300" dirty="0"/>
          </a:p>
        </p:txBody>
      </p:sp>
      <p:sp>
        <p:nvSpPr>
          <p:cNvPr id="20" name="risultato 5"/>
          <p:cNvSpPr/>
          <p:nvPr/>
        </p:nvSpPr>
        <p:spPr>
          <a:xfrm>
            <a:off x="457200" y="2788920"/>
            <a:ext cx="4023360" cy="749808"/>
          </a:xfrm>
          <a:prstGeom prst="roundRect">
            <a:avLst>
              <a:gd name="adj" fmla="val 9756"/>
            </a:avLst>
          </a:prstGeom>
          <a:solidFill>
            <a:schemeClr val="bg2"/>
          </a:solidFill>
          <a:ln/>
        </p:spPr>
        <p:txBody>
          <a:bodyPr/>
          <a:lstStyle/>
          <a:p>
            <a:endParaRPr lang="it-IT" dirty="0"/>
          </a:p>
        </p:txBody>
      </p:sp>
      <p:sp>
        <p:nvSpPr>
          <p:cNvPr id="21" name="cerchio FiLayers"/>
          <p:cNvSpPr/>
          <p:nvPr/>
        </p:nvSpPr>
        <p:spPr>
          <a:xfrm>
            <a:off x="594360" y="2944368"/>
            <a:ext cx="438912" cy="438912"/>
          </a:xfrm>
          <a:prstGeom prst="ellipse">
            <a:avLst/>
          </a:prstGeom>
          <a:solidFill>
            <a:schemeClr val="accent1"/>
          </a:solidFill>
          <a:ln/>
        </p:spPr>
        <p:txBody>
          <a:bodyPr/>
          <a:lstStyle/>
          <a:p>
            <a:endParaRPr lang="it-IT" dirty="0"/>
          </a:p>
        </p:txBody>
      </p:sp>
      <p:pic>
        <p:nvPicPr>
          <p:cNvPr id="22" name="Image 4" descr="FiLayers"/>
          <p:cNvPicPr>
            <a:picLocks noChangeAspect="1"/>
          </p:cNvPicPr>
          <p:nvPr/>
        </p:nvPicPr>
        <p:blipFill>
          <a:blip r:embed="rId7"/>
          <a:stretch>
            <a:fillRect/>
          </a:stretch>
        </p:blipFill>
        <p:spPr>
          <a:xfrm>
            <a:off x="704088" y="3054096"/>
            <a:ext cx="219456" cy="219456"/>
          </a:xfrm>
          <a:prstGeom prst="rect">
            <a:avLst/>
          </a:prstGeom>
        </p:spPr>
      </p:pic>
      <p:sp>
        <p:nvSpPr>
          <p:cNvPr id="23" name="Text 15"/>
          <p:cNvSpPr txBox="1"/>
          <p:nvPr/>
        </p:nvSpPr>
        <p:spPr>
          <a:xfrm>
            <a:off x="1170432" y="2788920"/>
            <a:ext cx="3200400" cy="749808"/>
          </a:xfrm>
          <a:prstGeom prst="rect">
            <a:avLst/>
          </a:prstGeom>
          <a:noFill/>
          <a:ln/>
        </p:spPr>
        <p:txBody>
          <a:bodyPr wrap="square" lIns="0" tIns="0" rIns="0" bIns="0" rtlCol="0" anchor="ctr"/>
          <a:lstStyle/>
          <a:p>
            <a:pPr marL="0" indent="0">
              <a:buNone/>
            </a:pPr>
            <a:r>
              <a:rPr lang="it-IT" sz="1300" dirty="0">
                <a:solidFill>
                  <a:schemeClr val="tx1"/>
                </a:solidFill>
              </a:rPr>
              <a:t>Capire che l'affidabilità dipende da modello, compito e contesto</a:t>
            </a:r>
            <a:endParaRPr lang="it-IT" sz="1300" dirty="0"/>
          </a:p>
        </p:txBody>
      </p:sp>
      <p:sp>
        <p:nvSpPr>
          <p:cNvPr id="24" name="risultato 6"/>
          <p:cNvSpPr/>
          <p:nvPr/>
        </p:nvSpPr>
        <p:spPr>
          <a:xfrm>
            <a:off x="4663440" y="2788920"/>
            <a:ext cx="4023360" cy="749808"/>
          </a:xfrm>
          <a:prstGeom prst="roundRect">
            <a:avLst>
              <a:gd name="adj" fmla="val 9756"/>
            </a:avLst>
          </a:prstGeom>
          <a:solidFill>
            <a:schemeClr val="bg2"/>
          </a:solidFill>
          <a:ln/>
        </p:spPr>
        <p:txBody>
          <a:bodyPr/>
          <a:lstStyle/>
          <a:p>
            <a:endParaRPr lang="it-IT" dirty="0"/>
          </a:p>
        </p:txBody>
      </p:sp>
      <p:sp>
        <p:nvSpPr>
          <p:cNvPr id="25" name="cerchio FiCheckSquare"/>
          <p:cNvSpPr/>
          <p:nvPr/>
        </p:nvSpPr>
        <p:spPr>
          <a:xfrm>
            <a:off x="4800600" y="2944368"/>
            <a:ext cx="438912" cy="438912"/>
          </a:xfrm>
          <a:prstGeom prst="ellipse">
            <a:avLst/>
          </a:prstGeom>
          <a:solidFill>
            <a:schemeClr val="accent1"/>
          </a:solidFill>
          <a:ln/>
        </p:spPr>
        <p:txBody>
          <a:bodyPr/>
          <a:lstStyle/>
          <a:p>
            <a:endParaRPr lang="it-IT" dirty="0"/>
          </a:p>
        </p:txBody>
      </p:sp>
      <p:pic>
        <p:nvPicPr>
          <p:cNvPr id="26" name="Image 5" descr="FiCheckSquare"/>
          <p:cNvPicPr>
            <a:picLocks noChangeAspect="1"/>
          </p:cNvPicPr>
          <p:nvPr/>
        </p:nvPicPr>
        <p:blipFill>
          <a:blip r:embed="rId8"/>
          <a:stretch>
            <a:fillRect/>
          </a:stretch>
        </p:blipFill>
        <p:spPr>
          <a:xfrm>
            <a:off x="4910328" y="3054096"/>
            <a:ext cx="219456" cy="219456"/>
          </a:xfrm>
          <a:prstGeom prst="rect">
            <a:avLst/>
          </a:prstGeom>
        </p:spPr>
      </p:pic>
      <p:sp>
        <p:nvSpPr>
          <p:cNvPr id="27" name="Text 18"/>
          <p:cNvSpPr txBox="1"/>
          <p:nvPr/>
        </p:nvSpPr>
        <p:spPr>
          <a:xfrm>
            <a:off x="5376672" y="2788920"/>
            <a:ext cx="3200400" cy="749808"/>
          </a:xfrm>
          <a:prstGeom prst="rect">
            <a:avLst/>
          </a:prstGeom>
          <a:noFill/>
          <a:ln/>
        </p:spPr>
        <p:txBody>
          <a:bodyPr wrap="square" lIns="0" tIns="0" rIns="0" bIns="0" rtlCol="0" anchor="ctr"/>
          <a:lstStyle/>
          <a:p>
            <a:pPr marL="0" indent="0">
              <a:buNone/>
            </a:pPr>
            <a:r>
              <a:rPr lang="it-IT" sz="1300" dirty="0">
                <a:solidFill>
                  <a:schemeClr val="tx1"/>
                </a:solidFill>
              </a:rPr>
              <a:t>Riconoscere quando e come verificare</a:t>
            </a:r>
            <a:endParaRPr lang="it-IT" sz="1300" dirty="0"/>
          </a:p>
        </p:txBody>
      </p:sp>
      <p:sp>
        <p:nvSpPr>
          <p:cNvPr id="28" name="risultato 7"/>
          <p:cNvSpPr/>
          <p:nvPr/>
        </p:nvSpPr>
        <p:spPr>
          <a:xfrm>
            <a:off x="457200" y="3657600"/>
            <a:ext cx="4023360" cy="749808"/>
          </a:xfrm>
          <a:prstGeom prst="roundRect">
            <a:avLst>
              <a:gd name="adj" fmla="val 9756"/>
            </a:avLst>
          </a:prstGeom>
          <a:solidFill>
            <a:schemeClr val="bg1"/>
          </a:solidFill>
          <a:ln/>
        </p:spPr>
        <p:txBody>
          <a:bodyPr/>
          <a:lstStyle/>
          <a:p>
            <a:endParaRPr lang="it-IT" dirty="0"/>
          </a:p>
        </p:txBody>
      </p:sp>
      <p:sp>
        <p:nvSpPr>
          <p:cNvPr id="29" name="cerchio FiSliders"/>
          <p:cNvSpPr/>
          <p:nvPr/>
        </p:nvSpPr>
        <p:spPr>
          <a:xfrm>
            <a:off x="594360" y="3813048"/>
            <a:ext cx="438912" cy="438912"/>
          </a:xfrm>
          <a:prstGeom prst="ellipse">
            <a:avLst/>
          </a:prstGeom>
          <a:solidFill>
            <a:schemeClr val="accent1"/>
          </a:solidFill>
          <a:ln/>
        </p:spPr>
        <p:txBody>
          <a:bodyPr/>
          <a:lstStyle/>
          <a:p>
            <a:endParaRPr lang="it-IT" dirty="0"/>
          </a:p>
        </p:txBody>
      </p:sp>
      <p:pic>
        <p:nvPicPr>
          <p:cNvPr id="30" name="Image 6" descr="FiSliders"/>
          <p:cNvPicPr>
            <a:picLocks noChangeAspect="1"/>
          </p:cNvPicPr>
          <p:nvPr/>
        </p:nvPicPr>
        <p:blipFill>
          <a:blip r:embed="rId9"/>
          <a:stretch>
            <a:fillRect/>
          </a:stretch>
        </p:blipFill>
        <p:spPr>
          <a:xfrm>
            <a:off x="704088" y="3922776"/>
            <a:ext cx="219456" cy="219456"/>
          </a:xfrm>
          <a:prstGeom prst="rect">
            <a:avLst/>
          </a:prstGeom>
        </p:spPr>
      </p:pic>
      <p:sp>
        <p:nvSpPr>
          <p:cNvPr id="31" name="Text 21"/>
          <p:cNvSpPr txBox="1"/>
          <p:nvPr/>
        </p:nvSpPr>
        <p:spPr>
          <a:xfrm>
            <a:off x="1170432" y="3657600"/>
            <a:ext cx="3200400" cy="749808"/>
          </a:xfrm>
          <a:prstGeom prst="rect">
            <a:avLst/>
          </a:prstGeom>
          <a:noFill/>
          <a:ln/>
        </p:spPr>
        <p:txBody>
          <a:bodyPr wrap="square" lIns="0" tIns="0" rIns="0" bIns="0" rtlCol="0" anchor="ctr"/>
          <a:lstStyle/>
          <a:p>
            <a:pPr marL="0" indent="0">
              <a:buNone/>
            </a:pPr>
            <a:r>
              <a:rPr lang="it-IT" sz="1300" dirty="0">
                <a:solidFill>
                  <a:schemeClr val="tx1"/>
                </a:solidFill>
              </a:rPr>
              <a:t>Valutare l'affidabilità rispetto alle conseguenze di un errore</a:t>
            </a:r>
            <a:endParaRPr lang="it-IT" sz="1300" dirty="0"/>
          </a:p>
        </p:txBody>
      </p:sp>
      <p:sp>
        <p:nvSpPr>
          <p:cNvPr id="32" name="risultato 8"/>
          <p:cNvSpPr/>
          <p:nvPr/>
        </p:nvSpPr>
        <p:spPr>
          <a:xfrm>
            <a:off x="4663440" y="3657600"/>
            <a:ext cx="4023360" cy="749808"/>
          </a:xfrm>
          <a:prstGeom prst="roundRect">
            <a:avLst>
              <a:gd name="adj" fmla="val 9756"/>
            </a:avLst>
          </a:prstGeom>
          <a:solidFill>
            <a:schemeClr val="bg1"/>
          </a:solidFill>
          <a:ln/>
        </p:spPr>
        <p:txBody>
          <a:bodyPr/>
          <a:lstStyle/>
          <a:p>
            <a:endParaRPr lang="it-IT" dirty="0"/>
          </a:p>
        </p:txBody>
      </p:sp>
      <p:sp>
        <p:nvSpPr>
          <p:cNvPr id="33" name="cerchio FiUserCheck"/>
          <p:cNvSpPr/>
          <p:nvPr/>
        </p:nvSpPr>
        <p:spPr>
          <a:xfrm>
            <a:off x="4800600" y="3813048"/>
            <a:ext cx="438912" cy="438912"/>
          </a:xfrm>
          <a:prstGeom prst="ellipse">
            <a:avLst/>
          </a:prstGeom>
          <a:solidFill>
            <a:schemeClr val="accent1"/>
          </a:solidFill>
          <a:ln/>
        </p:spPr>
        <p:txBody>
          <a:bodyPr/>
          <a:lstStyle/>
          <a:p>
            <a:endParaRPr lang="it-IT" dirty="0"/>
          </a:p>
        </p:txBody>
      </p:sp>
      <p:pic>
        <p:nvPicPr>
          <p:cNvPr id="34" name="Image 7" descr="FiUserCheck"/>
          <p:cNvPicPr>
            <a:picLocks noChangeAspect="1"/>
          </p:cNvPicPr>
          <p:nvPr/>
        </p:nvPicPr>
        <p:blipFill>
          <a:blip r:embed="rId10"/>
          <a:stretch>
            <a:fillRect/>
          </a:stretch>
        </p:blipFill>
        <p:spPr>
          <a:xfrm>
            <a:off x="4910328" y="3922776"/>
            <a:ext cx="219456" cy="219456"/>
          </a:xfrm>
          <a:prstGeom prst="rect">
            <a:avLst/>
          </a:prstGeom>
        </p:spPr>
      </p:pic>
      <p:sp>
        <p:nvSpPr>
          <p:cNvPr id="35" name="Text 24"/>
          <p:cNvSpPr txBox="1"/>
          <p:nvPr/>
        </p:nvSpPr>
        <p:spPr>
          <a:xfrm>
            <a:off x="5376672" y="3657600"/>
            <a:ext cx="3200400" cy="749808"/>
          </a:xfrm>
          <a:prstGeom prst="rect">
            <a:avLst/>
          </a:prstGeom>
          <a:noFill/>
          <a:ln/>
        </p:spPr>
        <p:txBody>
          <a:bodyPr wrap="square" lIns="0" tIns="0" rIns="0" bIns="0" rtlCol="0" anchor="ctr"/>
          <a:lstStyle/>
          <a:p>
            <a:pPr marL="0" indent="0">
              <a:buNone/>
            </a:pPr>
            <a:r>
              <a:rPr lang="it-IT" sz="1300" dirty="0">
                <a:solidFill>
                  <a:schemeClr val="tx1"/>
                </a:solidFill>
              </a:rPr>
              <a:t>Distinguere compiti supportabili da quelli che richiedono più controllo</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66</a:t>
            </a:fld>
            <a:endParaRPr lang="it-IT"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name="Slide 6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Prima di usare un risultato AI: una checklist</a:t>
            </a:r>
            <a:endParaRPr lang="it-IT" sz="2600" dirty="0"/>
          </a:p>
        </p:txBody>
      </p:sp>
      <p:sp>
        <p:nvSpPr>
          <p:cNvPr id="4" name="check 1"/>
          <p:cNvSpPr/>
          <p:nvPr/>
        </p:nvSpPr>
        <p:spPr>
          <a:xfrm>
            <a:off x="457200" y="1051560"/>
            <a:ext cx="8229600" cy="475488"/>
          </a:xfrm>
          <a:prstGeom prst="roundRect">
            <a:avLst>
              <a:gd name="adj" fmla="val 15385"/>
            </a:avLst>
          </a:prstGeom>
          <a:solidFill>
            <a:schemeClr val="bg2"/>
          </a:solidFill>
          <a:ln/>
        </p:spPr>
        <p:txBody>
          <a:bodyPr/>
          <a:lstStyle/>
          <a:p>
            <a:endParaRPr lang="it-IT" dirty="0"/>
          </a:p>
        </p:txBody>
      </p:sp>
      <p:sp>
        <p:nvSpPr>
          <p:cNvPr id="5" name="casella"/>
          <p:cNvSpPr/>
          <p:nvPr/>
        </p:nvSpPr>
        <p:spPr>
          <a:xfrm>
            <a:off x="594360" y="1152144"/>
            <a:ext cx="274320" cy="274320"/>
          </a:xfrm>
          <a:prstGeom prst="roundRect">
            <a:avLst>
              <a:gd name="adj" fmla="val 16667"/>
            </a:avLst>
          </a:prstGeom>
          <a:solidFill>
            <a:schemeClr val="bg1"/>
          </a:solidFill>
          <a:ln w="19050">
            <a:solidFill>
              <a:schemeClr val="accent1"/>
            </a:solidFill>
            <a:prstDash val="solid"/>
          </a:ln>
        </p:spPr>
        <p:txBody>
          <a:bodyPr/>
          <a:lstStyle/>
          <a:p>
            <a:endParaRPr lang="it-IT" dirty="0"/>
          </a:p>
        </p:txBody>
      </p:sp>
      <p:sp>
        <p:nvSpPr>
          <p:cNvPr id="6" name="cerchio FiTarget"/>
          <p:cNvSpPr/>
          <p:nvPr/>
        </p:nvSpPr>
        <p:spPr>
          <a:xfrm>
            <a:off x="1005840" y="1106424"/>
            <a:ext cx="365760" cy="365760"/>
          </a:xfrm>
          <a:prstGeom prst="ellipse">
            <a:avLst/>
          </a:prstGeom>
          <a:solidFill>
            <a:schemeClr val="accent1"/>
          </a:solidFill>
          <a:ln/>
        </p:spPr>
        <p:txBody>
          <a:bodyPr/>
          <a:lstStyle/>
          <a:p>
            <a:endParaRPr lang="it-IT" dirty="0"/>
          </a:p>
        </p:txBody>
      </p:sp>
      <p:pic>
        <p:nvPicPr>
          <p:cNvPr id="7" name="Image 0" descr="FiTarget"/>
          <p:cNvPicPr>
            <a:picLocks noChangeAspect="1"/>
          </p:cNvPicPr>
          <p:nvPr/>
        </p:nvPicPr>
        <p:blipFill>
          <a:blip r:embed="rId3"/>
          <a:stretch>
            <a:fillRect/>
          </a:stretch>
        </p:blipFill>
        <p:spPr>
          <a:xfrm>
            <a:off x="1097280" y="1197864"/>
            <a:ext cx="182880" cy="182880"/>
          </a:xfrm>
          <a:prstGeom prst="rect">
            <a:avLst/>
          </a:prstGeom>
        </p:spPr>
      </p:pic>
      <p:sp>
        <p:nvSpPr>
          <p:cNvPr id="8" name="Text 4"/>
          <p:cNvSpPr txBox="1"/>
          <p:nvPr/>
        </p:nvSpPr>
        <p:spPr>
          <a:xfrm>
            <a:off x="1508760" y="1051560"/>
            <a:ext cx="7040880" cy="475488"/>
          </a:xfrm>
          <a:prstGeom prst="rect">
            <a:avLst/>
          </a:prstGeom>
          <a:noFill/>
          <a:ln/>
        </p:spPr>
        <p:txBody>
          <a:bodyPr wrap="square" lIns="0" tIns="0" rIns="0" bIns="0" rtlCol="0" anchor="ctr"/>
          <a:lstStyle/>
          <a:p>
            <a:pPr marL="0" indent="0">
              <a:buNone/>
            </a:pPr>
            <a:r>
              <a:rPr lang="it-IT" sz="1400" dirty="0">
                <a:solidFill>
                  <a:schemeClr val="tx1"/>
                </a:solidFill>
              </a:rPr>
              <a:t>Il compito è adatto all'AI e a questo strumento?</a:t>
            </a:r>
            <a:endParaRPr lang="it-IT" sz="1400" dirty="0"/>
          </a:p>
        </p:txBody>
      </p:sp>
      <p:sp>
        <p:nvSpPr>
          <p:cNvPr id="9" name="check 2"/>
          <p:cNvSpPr/>
          <p:nvPr/>
        </p:nvSpPr>
        <p:spPr>
          <a:xfrm>
            <a:off x="457200" y="1600200"/>
            <a:ext cx="8229600" cy="475488"/>
          </a:xfrm>
          <a:prstGeom prst="roundRect">
            <a:avLst>
              <a:gd name="adj" fmla="val 15385"/>
            </a:avLst>
          </a:prstGeom>
          <a:solidFill>
            <a:schemeClr val="bg1"/>
          </a:solidFill>
          <a:ln/>
        </p:spPr>
        <p:txBody>
          <a:bodyPr/>
          <a:lstStyle/>
          <a:p>
            <a:endParaRPr lang="it-IT" dirty="0"/>
          </a:p>
        </p:txBody>
      </p:sp>
      <p:sp>
        <p:nvSpPr>
          <p:cNvPr id="10" name="casella"/>
          <p:cNvSpPr/>
          <p:nvPr/>
        </p:nvSpPr>
        <p:spPr>
          <a:xfrm>
            <a:off x="594360" y="1700784"/>
            <a:ext cx="274320" cy="274320"/>
          </a:xfrm>
          <a:prstGeom prst="roundRect">
            <a:avLst>
              <a:gd name="adj" fmla="val 16667"/>
            </a:avLst>
          </a:prstGeom>
          <a:solidFill>
            <a:schemeClr val="bg1"/>
          </a:solidFill>
          <a:ln w="19050">
            <a:solidFill>
              <a:schemeClr val="accent1"/>
            </a:solidFill>
            <a:prstDash val="solid"/>
          </a:ln>
        </p:spPr>
        <p:txBody>
          <a:bodyPr/>
          <a:lstStyle/>
          <a:p>
            <a:endParaRPr lang="it-IT" dirty="0"/>
          </a:p>
        </p:txBody>
      </p:sp>
      <p:sp>
        <p:nvSpPr>
          <p:cNvPr id="11" name="cerchio FiAlertTriangle"/>
          <p:cNvSpPr/>
          <p:nvPr/>
        </p:nvSpPr>
        <p:spPr>
          <a:xfrm>
            <a:off x="1005840" y="1655064"/>
            <a:ext cx="365760" cy="365760"/>
          </a:xfrm>
          <a:prstGeom prst="ellipse">
            <a:avLst/>
          </a:prstGeom>
          <a:solidFill>
            <a:schemeClr val="accent1"/>
          </a:solidFill>
          <a:ln/>
        </p:spPr>
        <p:txBody>
          <a:bodyPr/>
          <a:lstStyle/>
          <a:p>
            <a:endParaRPr lang="it-IT" dirty="0"/>
          </a:p>
        </p:txBody>
      </p:sp>
      <p:pic>
        <p:nvPicPr>
          <p:cNvPr id="12" name="Image 1" descr="FiAlertTriangle"/>
          <p:cNvPicPr>
            <a:picLocks noChangeAspect="1"/>
          </p:cNvPicPr>
          <p:nvPr/>
        </p:nvPicPr>
        <p:blipFill>
          <a:blip r:embed="rId4"/>
          <a:stretch>
            <a:fillRect/>
          </a:stretch>
        </p:blipFill>
        <p:spPr>
          <a:xfrm>
            <a:off x="1097280" y="1746504"/>
            <a:ext cx="182880" cy="182880"/>
          </a:xfrm>
          <a:prstGeom prst="rect">
            <a:avLst/>
          </a:prstGeom>
        </p:spPr>
      </p:pic>
      <p:sp>
        <p:nvSpPr>
          <p:cNvPr id="13" name="Text 8"/>
          <p:cNvSpPr txBox="1"/>
          <p:nvPr/>
        </p:nvSpPr>
        <p:spPr>
          <a:xfrm>
            <a:off x="1508760" y="1600200"/>
            <a:ext cx="7040880" cy="475488"/>
          </a:xfrm>
          <a:prstGeom prst="rect">
            <a:avLst/>
          </a:prstGeom>
          <a:noFill/>
          <a:ln/>
        </p:spPr>
        <p:txBody>
          <a:bodyPr wrap="square" lIns="0" tIns="0" rIns="0" bIns="0" rtlCol="0" anchor="ctr"/>
          <a:lstStyle/>
          <a:p>
            <a:pPr marL="0" indent="0">
              <a:buNone/>
            </a:pPr>
            <a:r>
              <a:rPr lang="it-IT" sz="1400" dirty="0">
                <a:solidFill>
                  <a:schemeClr val="tx1"/>
                </a:solidFill>
              </a:rPr>
              <a:t>Le conseguenze di un errore sono basse, o ho previsto controlli adeguati?</a:t>
            </a:r>
            <a:endParaRPr lang="it-IT" sz="1400" dirty="0"/>
          </a:p>
        </p:txBody>
      </p:sp>
      <p:sp>
        <p:nvSpPr>
          <p:cNvPr id="14" name="check 3"/>
          <p:cNvSpPr/>
          <p:nvPr/>
        </p:nvSpPr>
        <p:spPr>
          <a:xfrm>
            <a:off x="457200" y="2148840"/>
            <a:ext cx="8229600" cy="475488"/>
          </a:xfrm>
          <a:prstGeom prst="roundRect">
            <a:avLst>
              <a:gd name="adj" fmla="val 15385"/>
            </a:avLst>
          </a:prstGeom>
          <a:solidFill>
            <a:schemeClr val="bg2"/>
          </a:solidFill>
          <a:ln/>
        </p:spPr>
        <p:txBody>
          <a:bodyPr/>
          <a:lstStyle/>
          <a:p>
            <a:endParaRPr lang="it-IT" dirty="0"/>
          </a:p>
        </p:txBody>
      </p:sp>
      <p:sp>
        <p:nvSpPr>
          <p:cNvPr id="15" name="casella"/>
          <p:cNvSpPr/>
          <p:nvPr/>
        </p:nvSpPr>
        <p:spPr>
          <a:xfrm>
            <a:off x="594360" y="2249424"/>
            <a:ext cx="274320" cy="274320"/>
          </a:xfrm>
          <a:prstGeom prst="roundRect">
            <a:avLst>
              <a:gd name="adj" fmla="val 16667"/>
            </a:avLst>
          </a:prstGeom>
          <a:solidFill>
            <a:schemeClr val="bg1"/>
          </a:solidFill>
          <a:ln w="19050">
            <a:solidFill>
              <a:schemeClr val="accent1"/>
            </a:solidFill>
            <a:prstDash val="solid"/>
          </a:ln>
        </p:spPr>
        <p:txBody>
          <a:bodyPr/>
          <a:lstStyle/>
          <a:p>
            <a:endParaRPr lang="it-IT" dirty="0"/>
          </a:p>
        </p:txBody>
      </p:sp>
      <p:sp>
        <p:nvSpPr>
          <p:cNvPr id="16" name="cerchio FiCheckCircle"/>
          <p:cNvSpPr/>
          <p:nvPr/>
        </p:nvSpPr>
        <p:spPr>
          <a:xfrm>
            <a:off x="1005840" y="2203704"/>
            <a:ext cx="365760" cy="365760"/>
          </a:xfrm>
          <a:prstGeom prst="ellipse">
            <a:avLst/>
          </a:prstGeom>
          <a:solidFill>
            <a:schemeClr val="accent1"/>
          </a:solidFill>
          <a:ln/>
        </p:spPr>
        <p:txBody>
          <a:bodyPr/>
          <a:lstStyle/>
          <a:p>
            <a:endParaRPr lang="it-IT" dirty="0"/>
          </a:p>
        </p:txBody>
      </p:sp>
      <p:pic>
        <p:nvPicPr>
          <p:cNvPr id="17" name="Image 2" descr="FiCheckCircle"/>
          <p:cNvPicPr>
            <a:picLocks noChangeAspect="1"/>
          </p:cNvPicPr>
          <p:nvPr/>
        </p:nvPicPr>
        <p:blipFill>
          <a:blip r:embed="rId5"/>
          <a:stretch>
            <a:fillRect/>
          </a:stretch>
        </p:blipFill>
        <p:spPr>
          <a:xfrm>
            <a:off x="1097280" y="2295144"/>
            <a:ext cx="182880" cy="182880"/>
          </a:xfrm>
          <a:prstGeom prst="rect">
            <a:avLst/>
          </a:prstGeom>
        </p:spPr>
      </p:pic>
      <p:sp>
        <p:nvSpPr>
          <p:cNvPr id="18" name="Text 12"/>
          <p:cNvSpPr txBox="1"/>
          <p:nvPr/>
        </p:nvSpPr>
        <p:spPr>
          <a:xfrm>
            <a:off x="1508760" y="2148840"/>
            <a:ext cx="7040880" cy="475488"/>
          </a:xfrm>
          <a:prstGeom prst="rect">
            <a:avLst/>
          </a:prstGeom>
          <a:noFill/>
          <a:ln/>
        </p:spPr>
        <p:txBody>
          <a:bodyPr wrap="square" lIns="0" tIns="0" rIns="0" bIns="0" rtlCol="0" anchor="ctr"/>
          <a:lstStyle/>
          <a:p>
            <a:pPr marL="0" indent="0">
              <a:buNone/>
            </a:pPr>
            <a:r>
              <a:rPr lang="it-IT" sz="1400" dirty="0">
                <a:solidFill>
                  <a:schemeClr val="tx1"/>
                </a:solidFill>
              </a:rPr>
              <a:t>Ho verificato fatti, numeri e fonti importanti?</a:t>
            </a:r>
            <a:endParaRPr lang="it-IT" sz="1400" dirty="0"/>
          </a:p>
        </p:txBody>
      </p:sp>
      <p:sp>
        <p:nvSpPr>
          <p:cNvPr id="19" name="check 4"/>
          <p:cNvSpPr/>
          <p:nvPr/>
        </p:nvSpPr>
        <p:spPr>
          <a:xfrm>
            <a:off x="457200" y="2697480"/>
            <a:ext cx="8229600" cy="475488"/>
          </a:xfrm>
          <a:prstGeom prst="roundRect">
            <a:avLst>
              <a:gd name="adj" fmla="val 15385"/>
            </a:avLst>
          </a:prstGeom>
          <a:solidFill>
            <a:schemeClr val="bg1"/>
          </a:solidFill>
          <a:ln/>
        </p:spPr>
        <p:txBody>
          <a:bodyPr/>
          <a:lstStyle/>
          <a:p>
            <a:endParaRPr lang="it-IT" dirty="0"/>
          </a:p>
        </p:txBody>
      </p:sp>
      <p:sp>
        <p:nvSpPr>
          <p:cNvPr id="20" name="casella"/>
          <p:cNvSpPr/>
          <p:nvPr/>
        </p:nvSpPr>
        <p:spPr>
          <a:xfrm>
            <a:off x="594360" y="2798064"/>
            <a:ext cx="274320" cy="274320"/>
          </a:xfrm>
          <a:prstGeom prst="roundRect">
            <a:avLst>
              <a:gd name="adj" fmla="val 16667"/>
            </a:avLst>
          </a:prstGeom>
          <a:solidFill>
            <a:schemeClr val="bg1"/>
          </a:solidFill>
          <a:ln w="19050">
            <a:solidFill>
              <a:schemeClr val="accent1"/>
            </a:solidFill>
            <a:prstDash val="solid"/>
          </a:ln>
        </p:spPr>
        <p:txBody>
          <a:bodyPr/>
          <a:lstStyle/>
          <a:p>
            <a:endParaRPr lang="it-IT" dirty="0"/>
          </a:p>
        </p:txBody>
      </p:sp>
      <p:sp>
        <p:nvSpPr>
          <p:cNvPr id="21" name="cerchio FiList"/>
          <p:cNvSpPr/>
          <p:nvPr/>
        </p:nvSpPr>
        <p:spPr>
          <a:xfrm>
            <a:off x="1005840" y="2752344"/>
            <a:ext cx="365760" cy="365760"/>
          </a:xfrm>
          <a:prstGeom prst="ellipse">
            <a:avLst/>
          </a:prstGeom>
          <a:solidFill>
            <a:schemeClr val="accent1"/>
          </a:solidFill>
          <a:ln/>
        </p:spPr>
        <p:txBody>
          <a:bodyPr/>
          <a:lstStyle/>
          <a:p>
            <a:endParaRPr lang="it-IT" dirty="0"/>
          </a:p>
        </p:txBody>
      </p:sp>
      <p:pic>
        <p:nvPicPr>
          <p:cNvPr id="22" name="Image 3" descr="FiList"/>
          <p:cNvPicPr>
            <a:picLocks noChangeAspect="1"/>
          </p:cNvPicPr>
          <p:nvPr/>
        </p:nvPicPr>
        <p:blipFill>
          <a:blip r:embed="rId6"/>
          <a:stretch>
            <a:fillRect/>
          </a:stretch>
        </p:blipFill>
        <p:spPr>
          <a:xfrm>
            <a:off x="1097280" y="2843784"/>
            <a:ext cx="182880" cy="182880"/>
          </a:xfrm>
          <a:prstGeom prst="rect">
            <a:avLst/>
          </a:prstGeom>
        </p:spPr>
      </p:pic>
      <p:sp>
        <p:nvSpPr>
          <p:cNvPr id="23" name="Text 16"/>
          <p:cNvSpPr txBox="1"/>
          <p:nvPr/>
        </p:nvSpPr>
        <p:spPr>
          <a:xfrm>
            <a:off x="1508760" y="2697480"/>
            <a:ext cx="7040880" cy="475488"/>
          </a:xfrm>
          <a:prstGeom prst="rect">
            <a:avLst/>
          </a:prstGeom>
          <a:noFill/>
          <a:ln/>
        </p:spPr>
        <p:txBody>
          <a:bodyPr wrap="square" lIns="0" tIns="0" rIns="0" bIns="0" rtlCol="0" anchor="ctr"/>
          <a:lstStyle/>
          <a:p>
            <a:pPr marL="0" indent="0">
              <a:buNone/>
            </a:pPr>
            <a:r>
              <a:rPr lang="it-IT" sz="1400" dirty="0">
                <a:solidFill>
                  <a:schemeClr val="tx1"/>
                </a:solidFill>
              </a:rPr>
              <a:t>Manca qualcosa? Ci sono contraddizioni?</a:t>
            </a:r>
            <a:endParaRPr lang="it-IT" sz="1400" dirty="0"/>
          </a:p>
        </p:txBody>
      </p:sp>
      <p:sp>
        <p:nvSpPr>
          <p:cNvPr id="24" name="check 5"/>
          <p:cNvSpPr/>
          <p:nvPr/>
        </p:nvSpPr>
        <p:spPr>
          <a:xfrm>
            <a:off x="457200" y="3246120"/>
            <a:ext cx="8229600" cy="475488"/>
          </a:xfrm>
          <a:prstGeom prst="roundRect">
            <a:avLst>
              <a:gd name="adj" fmla="val 15385"/>
            </a:avLst>
          </a:prstGeom>
          <a:solidFill>
            <a:schemeClr val="bg2"/>
          </a:solidFill>
          <a:ln/>
        </p:spPr>
        <p:txBody>
          <a:bodyPr/>
          <a:lstStyle/>
          <a:p>
            <a:endParaRPr lang="it-IT" dirty="0"/>
          </a:p>
        </p:txBody>
      </p:sp>
      <p:sp>
        <p:nvSpPr>
          <p:cNvPr id="25" name="casella"/>
          <p:cNvSpPr/>
          <p:nvPr/>
        </p:nvSpPr>
        <p:spPr>
          <a:xfrm>
            <a:off x="594360" y="3346704"/>
            <a:ext cx="274320" cy="274320"/>
          </a:xfrm>
          <a:prstGeom prst="roundRect">
            <a:avLst>
              <a:gd name="adj" fmla="val 16667"/>
            </a:avLst>
          </a:prstGeom>
          <a:solidFill>
            <a:schemeClr val="bg1"/>
          </a:solidFill>
          <a:ln w="19050">
            <a:solidFill>
              <a:schemeClr val="accent1"/>
            </a:solidFill>
            <a:prstDash val="solid"/>
          </a:ln>
        </p:spPr>
        <p:txBody>
          <a:bodyPr/>
          <a:lstStyle/>
          <a:p>
            <a:endParaRPr lang="it-IT" dirty="0"/>
          </a:p>
        </p:txBody>
      </p:sp>
      <p:sp>
        <p:nvSpPr>
          <p:cNvPr id="26" name="cerchio FiSliders"/>
          <p:cNvSpPr/>
          <p:nvPr/>
        </p:nvSpPr>
        <p:spPr>
          <a:xfrm>
            <a:off x="1005840" y="3300984"/>
            <a:ext cx="365760" cy="365760"/>
          </a:xfrm>
          <a:prstGeom prst="ellipse">
            <a:avLst/>
          </a:prstGeom>
          <a:solidFill>
            <a:schemeClr val="accent1"/>
          </a:solidFill>
          <a:ln/>
        </p:spPr>
        <p:txBody>
          <a:bodyPr/>
          <a:lstStyle/>
          <a:p>
            <a:endParaRPr lang="it-IT" dirty="0"/>
          </a:p>
        </p:txBody>
      </p:sp>
      <p:pic>
        <p:nvPicPr>
          <p:cNvPr id="27" name="Image 4" descr="FiSliders"/>
          <p:cNvPicPr>
            <a:picLocks noChangeAspect="1"/>
          </p:cNvPicPr>
          <p:nvPr/>
        </p:nvPicPr>
        <p:blipFill>
          <a:blip r:embed="rId7"/>
          <a:stretch>
            <a:fillRect/>
          </a:stretch>
        </p:blipFill>
        <p:spPr>
          <a:xfrm>
            <a:off x="1097280" y="3392424"/>
            <a:ext cx="182880" cy="182880"/>
          </a:xfrm>
          <a:prstGeom prst="rect">
            <a:avLst/>
          </a:prstGeom>
        </p:spPr>
      </p:pic>
      <p:sp>
        <p:nvSpPr>
          <p:cNvPr id="28" name="Text 20"/>
          <p:cNvSpPr txBox="1"/>
          <p:nvPr/>
        </p:nvSpPr>
        <p:spPr>
          <a:xfrm>
            <a:off x="1508760" y="3246120"/>
            <a:ext cx="7040880" cy="475488"/>
          </a:xfrm>
          <a:prstGeom prst="rect">
            <a:avLst/>
          </a:prstGeom>
          <a:noFill/>
          <a:ln/>
        </p:spPr>
        <p:txBody>
          <a:bodyPr wrap="square" lIns="0" tIns="0" rIns="0" bIns="0" rtlCol="0" anchor="ctr"/>
          <a:lstStyle/>
          <a:p>
            <a:pPr marL="0" indent="0">
              <a:buNone/>
            </a:pPr>
            <a:r>
              <a:rPr lang="it-IT" sz="1400" dirty="0">
                <a:solidFill>
                  <a:schemeClr val="tx1"/>
                </a:solidFill>
              </a:rPr>
              <a:t>La risposta potrebbe essere sbilanciata?</a:t>
            </a:r>
            <a:endParaRPr lang="it-IT" sz="1400" dirty="0"/>
          </a:p>
        </p:txBody>
      </p:sp>
      <p:sp>
        <p:nvSpPr>
          <p:cNvPr id="29" name="check 6"/>
          <p:cNvSpPr/>
          <p:nvPr/>
        </p:nvSpPr>
        <p:spPr>
          <a:xfrm>
            <a:off x="457200" y="3794760"/>
            <a:ext cx="8229600" cy="475488"/>
          </a:xfrm>
          <a:prstGeom prst="roundRect">
            <a:avLst>
              <a:gd name="adj" fmla="val 15385"/>
            </a:avLst>
          </a:prstGeom>
          <a:solidFill>
            <a:schemeClr val="bg1"/>
          </a:solidFill>
          <a:ln/>
        </p:spPr>
        <p:txBody>
          <a:bodyPr/>
          <a:lstStyle/>
          <a:p>
            <a:endParaRPr lang="it-IT" dirty="0"/>
          </a:p>
        </p:txBody>
      </p:sp>
      <p:sp>
        <p:nvSpPr>
          <p:cNvPr id="30" name="casella"/>
          <p:cNvSpPr/>
          <p:nvPr/>
        </p:nvSpPr>
        <p:spPr>
          <a:xfrm>
            <a:off x="594360" y="3895344"/>
            <a:ext cx="274320" cy="274320"/>
          </a:xfrm>
          <a:prstGeom prst="roundRect">
            <a:avLst>
              <a:gd name="adj" fmla="val 16667"/>
            </a:avLst>
          </a:prstGeom>
          <a:solidFill>
            <a:schemeClr val="bg1"/>
          </a:solidFill>
          <a:ln w="19050">
            <a:solidFill>
              <a:schemeClr val="accent1"/>
            </a:solidFill>
            <a:prstDash val="solid"/>
          </a:ln>
        </p:spPr>
        <p:txBody>
          <a:bodyPr/>
          <a:lstStyle/>
          <a:p>
            <a:endParaRPr lang="it-IT" dirty="0"/>
          </a:p>
        </p:txBody>
      </p:sp>
      <p:sp>
        <p:nvSpPr>
          <p:cNvPr id="31" name="cerchio FiUserCheck"/>
          <p:cNvSpPr/>
          <p:nvPr/>
        </p:nvSpPr>
        <p:spPr>
          <a:xfrm>
            <a:off x="1005840" y="3849624"/>
            <a:ext cx="365760" cy="365760"/>
          </a:xfrm>
          <a:prstGeom prst="ellipse">
            <a:avLst/>
          </a:prstGeom>
          <a:solidFill>
            <a:schemeClr val="accent1"/>
          </a:solidFill>
          <a:ln/>
        </p:spPr>
        <p:txBody>
          <a:bodyPr/>
          <a:lstStyle/>
          <a:p>
            <a:endParaRPr lang="it-IT" dirty="0"/>
          </a:p>
        </p:txBody>
      </p:sp>
      <p:pic>
        <p:nvPicPr>
          <p:cNvPr id="32" name="Image 5" descr="FiUserCheck"/>
          <p:cNvPicPr>
            <a:picLocks noChangeAspect="1"/>
          </p:cNvPicPr>
          <p:nvPr/>
        </p:nvPicPr>
        <p:blipFill>
          <a:blip r:embed="rId8"/>
          <a:stretch>
            <a:fillRect/>
          </a:stretch>
        </p:blipFill>
        <p:spPr>
          <a:xfrm>
            <a:off x="1097280" y="3941064"/>
            <a:ext cx="182880" cy="182880"/>
          </a:xfrm>
          <a:prstGeom prst="rect">
            <a:avLst/>
          </a:prstGeom>
        </p:spPr>
      </p:pic>
      <p:sp>
        <p:nvSpPr>
          <p:cNvPr id="33" name="Text 24"/>
          <p:cNvSpPr txBox="1"/>
          <p:nvPr/>
        </p:nvSpPr>
        <p:spPr>
          <a:xfrm>
            <a:off x="1508760" y="3794760"/>
            <a:ext cx="7040880" cy="475488"/>
          </a:xfrm>
          <a:prstGeom prst="rect">
            <a:avLst/>
          </a:prstGeom>
          <a:noFill/>
          <a:ln/>
        </p:spPr>
        <p:txBody>
          <a:bodyPr wrap="square" lIns="0" tIns="0" rIns="0" bIns="0" rtlCol="0" anchor="ctr"/>
          <a:lstStyle/>
          <a:p>
            <a:pPr marL="0" indent="0">
              <a:buNone/>
            </a:pPr>
            <a:r>
              <a:rPr lang="it-IT" sz="1400" dirty="0">
                <a:solidFill>
                  <a:schemeClr val="tx1"/>
                </a:solidFill>
              </a:rPr>
              <a:t>So valutare il risultato e me ne assumo la responsabilità?</a:t>
            </a:r>
            <a:endParaRPr lang="it-IT" sz="1400" dirty="0"/>
          </a:p>
        </p:txBody>
      </p:sp>
      <p:sp>
        <p:nvSpPr>
          <p:cNvPr id="34" name="Text 25"/>
          <p:cNvSpPr txBox="1"/>
          <p:nvPr/>
        </p:nvSpPr>
        <p:spPr>
          <a:xfrm>
            <a:off x="457200" y="4434840"/>
            <a:ext cx="8229600" cy="274320"/>
          </a:xfrm>
          <a:prstGeom prst="rect">
            <a:avLst/>
          </a:prstGeom>
          <a:noFill/>
          <a:ln/>
        </p:spPr>
        <p:txBody>
          <a:bodyPr wrap="square" lIns="0" tIns="0" rIns="0" bIns="0" rtlCol="0" anchor="t"/>
          <a:lstStyle/>
          <a:p>
            <a:pPr marL="0" indent="0">
              <a:buNone/>
            </a:pPr>
            <a:r>
              <a:rPr lang="it-IT" sz="1200" i="1" dirty="0">
                <a:solidFill>
                  <a:schemeClr val="tx1"/>
                </a:solidFill>
              </a:rPr>
              <a:t>Se una risposta è no: un controllo in più, un collega competente, o non usare quel risultato.</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67</a:t>
            </a:fld>
            <a:endParaRPr lang="it-IT"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name="Slide 6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Che cosa evitare</a:t>
            </a:r>
            <a:endParaRPr lang="it-IT" sz="2600" dirty="0"/>
          </a:p>
        </p:txBody>
      </p:sp>
      <p:sp>
        <p:nvSpPr>
          <p:cNvPr id="4" name="evitare 1"/>
          <p:cNvSpPr/>
          <p:nvPr/>
        </p:nvSpPr>
        <p:spPr>
          <a:xfrm>
            <a:off x="457200" y="1051560"/>
            <a:ext cx="4023360" cy="1024128"/>
          </a:xfrm>
          <a:prstGeom prst="roundRect">
            <a:avLst>
              <a:gd name="adj" fmla="val 7143"/>
            </a:avLst>
          </a:prstGeom>
          <a:solidFill>
            <a:schemeClr val="bg2"/>
          </a:solidFill>
          <a:ln/>
        </p:spPr>
        <p:txBody>
          <a:bodyPr/>
          <a:lstStyle/>
          <a:p>
            <a:endParaRPr lang="it-IT" dirty="0"/>
          </a:p>
        </p:txBody>
      </p:sp>
      <p:sp>
        <p:nvSpPr>
          <p:cNvPr id="5" name="cerchio FiList"/>
          <p:cNvSpPr/>
          <p:nvPr/>
        </p:nvSpPr>
        <p:spPr>
          <a:xfrm>
            <a:off x="621792" y="1216152"/>
            <a:ext cx="457200" cy="457200"/>
          </a:xfrm>
          <a:prstGeom prst="ellipse">
            <a:avLst/>
          </a:prstGeom>
          <a:solidFill>
            <a:schemeClr val="accent5"/>
          </a:solidFill>
          <a:ln/>
        </p:spPr>
        <p:txBody>
          <a:bodyPr/>
          <a:lstStyle/>
          <a:p>
            <a:endParaRPr lang="it-IT" dirty="0"/>
          </a:p>
        </p:txBody>
      </p:sp>
      <p:pic>
        <p:nvPicPr>
          <p:cNvPr id="6" name="Image 0" descr="FiList"/>
          <p:cNvPicPr>
            <a:picLocks noChangeAspect="1"/>
          </p:cNvPicPr>
          <p:nvPr/>
        </p:nvPicPr>
        <p:blipFill>
          <a:blip r:embed="rId3"/>
          <a:stretch>
            <a:fillRect/>
          </a:stretch>
        </p:blipFill>
        <p:spPr>
          <a:xfrm>
            <a:off x="736092" y="1330452"/>
            <a:ext cx="228600" cy="228600"/>
          </a:xfrm>
          <a:prstGeom prst="rect">
            <a:avLst/>
          </a:prstGeom>
        </p:spPr>
      </p:pic>
      <p:sp>
        <p:nvSpPr>
          <p:cNvPr id="7" name="Text 3"/>
          <p:cNvSpPr txBox="1"/>
          <p:nvPr/>
        </p:nvSpPr>
        <p:spPr>
          <a:xfrm>
            <a:off x="1188720" y="1143000"/>
            <a:ext cx="2743200" cy="502920"/>
          </a:xfrm>
          <a:prstGeom prst="rect">
            <a:avLst/>
          </a:prstGeom>
          <a:noFill/>
          <a:ln/>
        </p:spPr>
        <p:txBody>
          <a:bodyPr wrap="square" lIns="0" tIns="0" rIns="0" bIns="0" rtlCol="0" anchor="ctr"/>
          <a:lstStyle/>
          <a:p>
            <a:pPr marL="0" indent="0">
              <a:buNone/>
            </a:pPr>
            <a:r>
              <a:rPr lang="it-IT" sz="1300" b="1" dirty="0">
                <a:solidFill>
                  <a:schemeClr val="tx1"/>
                </a:solidFill>
              </a:rPr>
              <a:t>"Ha mostrato i passaggi, quindi è corretto"</a:t>
            </a:r>
            <a:endParaRPr lang="it-IT" sz="1300" dirty="0"/>
          </a:p>
        </p:txBody>
      </p:sp>
      <p:sp>
        <p:nvSpPr>
          <p:cNvPr id="8" name="Text 4"/>
          <p:cNvSpPr txBox="1"/>
          <p:nvPr/>
        </p:nvSpPr>
        <p:spPr>
          <a:xfrm>
            <a:off x="1188720" y="1655064"/>
            <a:ext cx="2743200" cy="347472"/>
          </a:xfrm>
          <a:prstGeom prst="rect">
            <a:avLst/>
          </a:prstGeom>
          <a:noFill/>
          <a:ln/>
        </p:spPr>
        <p:txBody>
          <a:bodyPr wrap="square" lIns="0" tIns="0" rIns="0" bIns="0" rtlCol="0" anchor="t"/>
          <a:lstStyle/>
          <a:p>
            <a:pPr marL="0" indent="0">
              <a:buNone/>
            </a:pPr>
            <a:r>
              <a:rPr lang="it-IT" sz="1200" dirty="0">
                <a:solidFill>
                  <a:schemeClr val="tx2"/>
                </a:solidFill>
              </a:rPr>
              <a:t>I passaggi servono a cercare l'errore</a:t>
            </a:r>
            <a:endParaRPr lang="it-IT" sz="1200" dirty="0"/>
          </a:p>
        </p:txBody>
      </p:sp>
      <p:sp>
        <p:nvSpPr>
          <p:cNvPr id="9" name="Text 5"/>
          <p:cNvSpPr txBox="1"/>
          <p:nvPr/>
        </p:nvSpPr>
        <p:spPr>
          <a:xfrm>
            <a:off x="3886200" y="1143000"/>
            <a:ext cx="457200" cy="365760"/>
          </a:xfrm>
          <a:prstGeom prst="rect">
            <a:avLst/>
          </a:prstGeom>
          <a:noFill/>
          <a:ln/>
        </p:spPr>
        <p:txBody>
          <a:bodyPr wrap="square" lIns="0" tIns="0" rIns="0" bIns="0" rtlCol="0" anchor="t"/>
          <a:lstStyle/>
          <a:p>
            <a:pPr marL="0" indent="0" algn="r">
              <a:buNone/>
            </a:pPr>
            <a:r>
              <a:rPr lang="it-IT" sz="1100" b="1" dirty="0">
                <a:solidFill>
                  <a:schemeClr val="accent1"/>
                </a:solidFill>
              </a:rPr>
              <a:t>3.2</a:t>
            </a:r>
            <a:endParaRPr lang="it-IT" sz="1100" dirty="0"/>
          </a:p>
        </p:txBody>
      </p:sp>
      <p:sp>
        <p:nvSpPr>
          <p:cNvPr id="10" name="evitare 2"/>
          <p:cNvSpPr/>
          <p:nvPr/>
        </p:nvSpPr>
        <p:spPr>
          <a:xfrm>
            <a:off x="4663440" y="1051560"/>
            <a:ext cx="4023360" cy="1024128"/>
          </a:xfrm>
          <a:prstGeom prst="roundRect">
            <a:avLst>
              <a:gd name="adj" fmla="val 7143"/>
            </a:avLst>
          </a:prstGeom>
          <a:solidFill>
            <a:schemeClr val="bg2"/>
          </a:solidFill>
          <a:ln/>
        </p:spPr>
        <p:txBody>
          <a:bodyPr/>
          <a:lstStyle/>
          <a:p>
            <a:endParaRPr lang="it-IT" dirty="0"/>
          </a:p>
        </p:txBody>
      </p:sp>
      <p:sp>
        <p:nvSpPr>
          <p:cNvPr id="11" name="cerchio FiFeather"/>
          <p:cNvSpPr/>
          <p:nvPr/>
        </p:nvSpPr>
        <p:spPr>
          <a:xfrm>
            <a:off x="4828032" y="1216152"/>
            <a:ext cx="457200" cy="457200"/>
          </a:xfrm>
          <a:prstGeom prst="ellipse">
            <a:avLst/>
          </a:prstGeom>
          <a:solidFill>
            <a:schemeClr val="accent5"/>
          </a:solidFill>
          <a:ln/>
        </p:spPr>
        <p:txBody>
          <a:bodyPr/>
          <a:lstStyle/>
          <a:p>
            <a:endParaRPr lang="it-IT" dirty="0"/>
          </a:p>
        </p:txBody>
      </p:sp>
      <p:pic>
        <p:nvPicPr>
          <p:cNvPr id="12" name="Image 1" descr="FiFeather"/>
          <p:cNvPicPr>
            <a:picLocks noChangeAspect="1"/>
          </p:cNvPicPr>
          <p:nvPr/>
        </p:nvPicPr>
        <p:blipFill>
          <a:blip r:embed="rId4"/>
          <a:stretch>
            <a:fillRect/>
          </a:stretch>
        </p:blipFill>
        <p:spPr>
          <a:xfrm>
            <a:off x="4942332" y="1330452"/>
            <a:ext cx="228600" cy="228600"/>
          </a:xfrm>
          <a:prstGeom prst="rect">
            <a:avLst/>
          </a:prstGeom>
        </p:spPr>
      </p:pic>
      <p:sp>
        <p:nvSpPr>
          <p:cNvPr id="13" name="Text 8"/>
          <p:cNvSpPr txBox="1"/>
          <p:nvPr/>
        </p:nvSpPr>
        <p:spPr>
          <a:xfrm>
            <a:off x="5394960" y="1143000"/>
            <a:ext cx="2743200" cy="502920"/>
          </a:xfrm>
          <a:prstGeom prst="rect">
            <a:avLst/>
          </a:prstGeom>
          <a:noFill/>
          <a:ln/>
        </p:spPr>
        <p:txBody>
          <a:bodyPr wrap="square" lIns="0" tIns="0" rIns="0" bIns="0" rtlCol="0" anchor="ctr"/>
          <a:lstStyle/>
          <a:p>
            <a:pPr marL="0" indent="0">
              <a:buNone/>
            </a:pPr>
            <a:r>
              <a:rPr lang="it-IT" sz="1300" b="1" dirty="0">
                <a:solidFill>
                  <a:schemeClr val="tx1"/>
                </a:solidFill>
              </a:rPr>
              <a:t>"È scritto bene, quindi è vero"</a:t>
            </a:r>
            <a:endParaRPr lang="it-IT" sz="1300" dirty="0"/>
          </a:p>
        </p:txBody>
      </p:sp>
      <p:sp>
        <p:nvSpPr>
          <p:cNvPr id="14" name="Text 9"/>
          <p:cNvSpPr txBox="1"/>
          <p:nvPr/>
        </p:nvSpPr>
        <p:spPr>
          <a:xfrm>
            <a:off x="5394960" y="1655064"/>
            <a:ext cx="2743200" cy="347472"/>
          </a:xfrm>
          <a:prstGeom prst="rect">
            <a:avLst/>
          </a:prstGeom>
          <a:noFill/>
          <a:ln/>
        </p:spPr>
        <p:txBody>
          <a:bodyPr wrap="square" lIns="0" tIns="0" rIns="0" bIns="0" rtlCol="0" anchor="t"/>
          <a:lstStyle/>
          <a:p>
            <a:pPr marL="0" indent="0">
              <a:buNone/>
            </a:pPr>
            <a:r>
              <a:rPr lang="it-IT" sz="1200" dirty="0">
                <a:solidFill>
                  <a:schemeClr val="tx2"/>
                </a:solidFill>
              </a:rPr>
              <a:t>La forma non dimostra la correttezza</a:t>
            </a:r>
            <a:endParaRPr lang="it-IT" sz="1200" dirty="0"/>
          </a:p>
        </p:txBody>
      </p:sp>
      <p:sp>
        <p:nvSpPr>
          <p:cNvPr id="15" name="Text 10"/>
          <p:cNvSpPr txBox="1"/>
          <p:nvPr/>
        </p:nvSpPr>
        <p:spPr>
          <a:xfrm>
            <a:off x="8092440" y="1143000"/>
            <a:ext cx="457200" cy="365760"/>
          </a:xfrm>
          <a:prstGeom prst="rect">
            <a:avLst/>
          </a:prstGeom>
          <a:noFill/>
          <a:ln/>
        </p:spPr>
        <p:txBody>
          <a:bodyPr wrap="square" lIns="0" tIns="0" rIns="0" bIns="0" rtlCol="0" anchor="t"/>
          <a:lstStyle/>
          <a:p>
            <a:pPr marL="0" indent="0" algn="r">
              <a:buNone/>
            </a:pPr>
            <a:r>
              <a:rPr lang="it-IT" sz="1100" b="1" dirty="0">
                <a:solidFill>
                  <a:schemeClr val="accent1"/>
                </a:solidFill>
              </a:rPr>
              <a:t>3.3</a:t>
            </a:r>
            <a:endParaRPr lang="it-IT" sz="1100" dirty="0"/>
          </a:p>
        </p:txBody>
      </p:sp>
      <p:sp>
        <p:nvSpPr>
          <p:cNvPr id="16" name="evitare 3"/>
          <p:cNvSpPr/>
          <p:nvPr/>
        </p:nvSpPr>
        <p:spPr>
          <a:xfrm>
            <a:off x="457200" y="2212848"/>
            <a:ext cx="4023360" cy="1024128"/>
          </a:xfrm>
          <a:prstGeom prst="roundRect">
            <a:avLst>
              <a:gd name="adj" fmla="val 7143"/>
            </a:avLst>
          </a:prstGeom>
          <a:solidFill>
            <a:schemeClr val="accent6"/>
          </a:solidFill>
          <a:ln/>
        </p:spPr>
        <p:txBody>
          <a:bodyPr/>
          <a:lstStyle/>
          <a:p>
            <a:endParaRPr lang="it-IT" dirty="0"/>
          </a:p>
        </p:txBody>
      </p:sp>
      <p:sp>
        <p:nvSpPr>
          <p:cNvPr id="17" name="cerchio FiMinus"/>
          <p:cNvSpPr/>
          <p:nvPr/>
        </p:nvSpPr>
        <p:spPr>
          <a:xfrm>
            <a:off x="621792" y="2377440"/>
            <a:ext cx="457200" cy="457200"/>
          </a:xfrm>
          <a:prstGeom prst="ellipse">
            <a:avLst/>
          </a:prstGeom>
          <a:solidFill>
            <a:schemeClr val="accent5"/>
          </a:solidFill>
          <a:ln/>
        </p:spPr>
        <p:txBody>
          <a:bodyPr/>
          <a:lstStyle/>
          <a:p>
            <a:endParaRPr lang="it-IT" dirty="0"/>
          </a:p>
        </p:txBody>
      </p:sp>
      <p:pic>
        <p:nvPicPr>
          <p:cNvPr id="18" name="Image 2" descr="FiMinus"/>
          <p:cNvPicPr>
            <a:picLocks noChangeAspect="1"/>
          </p:cNvPicPr>
          <p:nvPr/>
        </p:nvPicPr>
        <p:blipFill>
          <a:blip r:embed="rId5"/>
          <a:stretch>
            <a:fillRect/>
          </a:stretch>
        </p:blipFill>
        <p:spPr>
          <a:xfrm>
            <a:off x="736092" y="2491740"/>
            <a:ext cx="228600" cy="228600"/>
          </a:xfrm>
          <a:prstGeom prst="rect">
            <a:avLst/>
          </a:prstGeom>
        </p:spPr>
      </p:pic>
      <p:sp>
        <p:nvSpPr>
          <p:cNvPr id="19" name="Text 13"/>
          <p:cNvSpPr txBox="1"/>
          <p:nvPr/>
        </p:nvSpPr>
        <p:spPr>
          <a:xfrm>
            <a:off x="1188720" y="2304288"/>
            <a:ext cx="2743200" cy="502920"/>
          </a:xfrm>
          <a:prstGeom prst="rect">
            <a:avLst/>
          </a:prstGeom>
          <a:noFill/>
          <a:ln/>
        </p:spPr>
        <p:txBody>
          <a:bodyPr wrap="square" lIns="0" tIns="0" rIns="0" bIns="0" rtlCol="0" anchor="ctr"/>
          <a:lstStyle/>
          <a:p>
            <a:pPr marL="0" indent="0">
              <a:buNone/>
            </a:pPr>
            <a:r>
              <a:rPr lang="it-IT" sz="1300" b="1" dirty="0">
                <a:solidFill>
                  <a:schemeClr val="tx1"/>
                </a:solidFill>
              </a:rPr>
              <a:t>"Il tono è neutro, quindi è imparziale"</a:t>
            </a:r>
            <a:endParaRPr lang="it-IT" sz="1300" dirty="0"/>
          </a:p>
        </p:txBody>
      </p:sp>
      <p:sp>
        <p:nvSpPr>
          <p:cNvPr id="20" name="Text 14"/>
          <p:cNvSpPr txBox="1"/>
          <p:nvPr/>
        </p:nvSpPr>
        <p:spPr>
          <a:xfrm>
            <a:off x="1188720" y="2816352"/>
            <a:ext cx="2743200" cy="347472"/>
          </a:xfrm>
          <a:prstGeom prst="rect">
            <a:avLst/>
          </a:prstGeom>
          <a:noFill/>
          <a:ln/>
        </p:spPr>
        <p:txBody>
          <a:bodyPr wrap="square" lIns="0" tIns="0" rIns="0" bIns="0" rtlCol="0" anchor="t"/>
          <a:lstStyle/>
          <a:p>
            <a:pPr marL="0" indent="0">
              <a:buNone/>
            </a:pPr>
            <a:r>
              <a:rPr lang="it-IT" sz="1200" dirty="0">
                <a:solidFill>
                  <a:schemeClr val="tx2"/>
                </a:solidFill>
              </a:rPr>
              <a:t>Che cosa include e come lo presenta</a:t>
            </a:r>
            <a:endParaRPr lang="it-IT" sz="1200" dirty="0"/>
          </a:p>
        </p:txBody>
      </p:sp>
      <p:sp>
        <p:nvSpPr>
          <p:cNvPr id="21" name="Text 15"/>
          <p:cNvSpPr txBox="1"/>
          <p:nvPr/>
        </p:nvSpPr>
        <p:spPr>
          <a:xfrm>
            <a:off x="3886200" y="2304288"/>
            <a:ext cx="457200" cy="365760"/>
          </a:xfrm>
          <a:prstGeom prst="rect">
            <a:avLst/>
          </a:prstGeom>
          <a:noFill/>
          <a:ln/>
        </p:spPr>
        <p:txBody>
          <a:bodyPr wrap="square" lIns="0" tIns="0" rIns="0" bIns="0" rtlCol="0" anchor="t"/>
          <a:lstStyle/>
          <a:p>
            <a:pPr marL="0" indent="0" algn="r">
              <a:buNone/>
            </a:pPr>
            <a:r>
              <a:rPr lang="it-IT" sz="1100" b="1" dirty="0">
                <a:solidFill>
                  <a:schemeClr val="accent1"/>
                </a:solidFill>
              </a:rPr>
              <a:t>3.4</a:t>
            </a:r>
            <a:endParaRPr lang="it-IT" sz="1100" dirty="0"/>
          </a:p>
        </p:txBody>
      </p:sp>
      <p:sp>
        <p:nvSpPr>
          <p:cNvPr id="22" name="evitare 4"/>
          <p:cNvSpPr/>
          <p:nvPr/>
        </p:nvSpPr>
        <p:spPr>
          <a:xfrm>
            <a:off x="4663440" y="2212848"/>
            <a:ext cx="4023360" cy="1024128"/>
          </a:xfrm>
          <a:prstGeom prst="roundRect">
            <a:avLst>
              <a:gd name="adj" fmla="val 7143"/>
            </a:avLst>
          </a:prstGeom>
          <a:solidFill>
            <a:schemeClr val="accent6"/>
          </a:solidFill>
          <a:ln/>
        </p:spPr>
        <p:txBody>
          <a:bodyPr/>
          <a:lstStyle/>
          <a:p>
            <a:endParaRPr lang="it-IT" dirty="0"/>
          </a:p>
        </p:txBody>
      </p:sp>
      <p:sp>
        <p:nvSpPr>
          <p:cNvPr id="23" name="cerchio FiAward"/>
          <p:cNvSpPr/>
          <p:nvPr/>
        </p:nvSpPr>
        <p:spPr>
          <a:xfrm>
            <a:off x="4828032" y="2377440"/>
            <a:ext cx="457200" cy="457200"/>
          </a:xfrm>
          <a:prstGeom prst="ellipse">
            <a:avLst/>
          </a:prstGeom>
          <a:solidFill>
            <a:schemeClr val="accent5"/>
          </a:solidFill>
          <a:ln/>
        </p:spPr>
        <p:txBody>
          <a:bodyPr/>
          <a:lstStyle/>
          <a:p>
            <a:endParaRPr lang="it-IT" dirty="0"/>
          </a:p>
        </p:txBody>
      </p:sp>
      <p:pic>
        <p:nvPicPr>
          <p:cNvPr id="24" name="Image 3" descr="FiAward"/>
          <p:cNvPicPr>
            <a:picLocks noChangeAspect="1"/>
          </p:cNvPicPr>
          <p:nvPr/>
        </p:nvPicPr>
        <p:blipFill>
          <a:blip r:embed="rId6"/>
          <a:stretch>
            <a:fillRect/>
          </a:stretch>
        </p:blipFill>
        <p:spPr>
          <a:xfrm>
            <a:off x="4942332" y="2491740"/>
            <a:ext cx="228600" cy="228600"/>
          </a:xfrm>
          <a:prstGeom prst="rect">
            <a:avLst/>
          </a:prstGeom>
        </p:spPr>
      </p:pic>
      <p:sp>
        <p:nvSpPr>
          <p:cNvPr id="25" name="Text 18"/>
          <p:cNvSpPr txBox="1"/>
          <p:nvPr/>
        </p:nvSpPr>
        <p:spPr>
          <a:xfrm>
            <a:off x="5394960" y="2304288"/>
            <a:ext cx="2743200" cy="502920"/>
          </a:xfrm>
          <a:prstGeom prst="rect">
            <a:avLst/>
          </a:prstGeom>
          <a:noFill/>
          <a:ln/>
        </p:spPr>
        <p:txBody>
          <a:bodyPr wrap="square" lIns="0" tIns="0" rIns="0" bIns="0" rtlCol="0" anchor="ctr"/>
          <a:lstStyle/>
          <a:p>
            <a:pPr marL="0" indent="0">
              <a:buNone/>
            </a:pPr>
            <a:r>
              <a:rPr lang="it-IT" sz="1300" b="1" dirty="0">
                <a:solidFill>
                  <a:schemeClr val="tx1"/>
                </a:solidFill>
              </a:rPr>
              <a:t>"È il migliore nei test, quindi va bene per noi"</a:t>
            </a:r>
            <a:endParaRPr lang="it-IT" sz="1300" dirty="0"/>
          </a:p>
        </p:txBody>
      </p:sp>
      <p:sp>
        <p:nvSpPr>
          <p:cNvPr id="26" name="Text 19"/>
          <p:cNvSpPr txBox="1"/>
          <p:nvPr/>
        </p:nvSpPr>
        <p:spPr>
          <a:xfrm>
            <a:off x="5394960" y="2816352"/>
            <a:ext cx="2743200" cy="347472"/>
          </a:xfrm>
          <a:prstGeom prst="rect">
            <a:avLst/>
          </a:prstGeom>
          <a:noFill/>
          <a:ln/>
        </p:spPr>
        <p:txBody>
          <a:bodyPr wrap="square" lIns="0" tIns="0" rIns="0" bIns="0" rtlCol="0" anchor="t"/>
          <a:lstStyle/>
          <a:p>
            <a:pPr marL="0" indent="0">
              <a:buNone/>
            </a:pPr>
            <a:r>
              <a:rPr lang="it-IT" sz="1200" dirty="0">
                <a:solidFill>
                  <a:schemeClr val="tx2"/>
                </a:solidFill>
              </a:rPr>
              <a:t>Conta la prova sui nostri casi</a:t>
            </a:r>
            <a:endParaRPr lang="it-IT" sz="1200" dirty="0"/>
          </a:p>
        </p:txBody>
      </p:sp>
      <p:sp>
        <p:nvSpPr>
          <p:cNvPr id="27" name="Text 20"/>
          <p:cNvSpPr txBox="1"/>
          <p:nvPr/>
        </p:nvSpPr>
        <p:spPr>
          <a:xfrm>
            <a:off x="8092440" y="2304288"/>
            <a:ext cx="457200" cy="365760"/>
          </a:xfrm>
          <a:prstGeom prst="rect">
            <a:avLst/>
          </a:prstGeom>
          <a:noFill/>
          <a:ln/>
        </p:spPr>
        <p:txBody>
          <a:bodyPr wrap="square" lIns="0" tIns="0" rIns="0" bIns="0" rtlCol="0" anchor="t"/>
          <a:lstStyle/>
          <a:p>
            <a:pPr marL="0" indent="0" algn="r">
              <a:buNone/>
            </a:pPr>
            <a:r>
              <a:rPr lang="it-IT" sz="1100" b="1" dirty="0">
                <a:solidFill>
                  <a:schemeClr val="accent1"/>
                </a:solidFill>
              </a:rPr>
              <a:t>3.5</a:t>
            </a:r>
            <a:endParaRPr lang="it-IT" sz="1100" dirty="0"/>
          </a:p>
        </p:txBody>
      </p:sp>
      <p:sp>
        <p:nvSpPr>
          <p:cNvPr id="28" name="evitare 5"/>
          <p:cNvSpPr/>
          <p:nvPr/>
        </p:nvSpPr>
        <p:spPr>
          <a:xfrm>
            <a:off x="457200" y="3374136"/>
            <a:ext cx="4023360" cy="1024128"/>
          </a:xfrm>
          <a:prstGeom prst="roundRect">
            <a:avLst>
              <a:gd name="adj" fmla="val 7143"/>
            </a:avLst>
          </a:prstGeom>
          <a:solidFill>
            <a:schemeClr val="bg2"/>
          </a:solidFill>
          <a:ln/>
        </p:spPr>
        <p:txBody>
          <a:bodyPr/>
          <a:lstStyle/>
          <a:p>
            <a:endParaRPr lang="it-IT" dirty="0"/>
          </a:p>
        </p:txBody>
      </p:sp>
      <p:sp>
        <p:nvSpPr>
          <p:cNvPr id="29" name="cerchio FiHelpCircle"/>
          <p:cNvSpPr/>
          <p:nvPr/>
        </p:nvSpPr>
        <p:spPr>
          <a:xfrm>
            <a:off x="621792" y="3538728"/>
            <a:ext cx="457200" cy="457200"/>
          </a:xfrm>
          <a:prstGeom prst="ellipse">
            <a:avLst/>
          </a:prstGeom>
          <a:solidFill>
            <a:schemeClr val="accent5"/>
          </a:solidFill>
          <a:ln/>
        </p:spPr>
        <p:txBody>
          <a:bodyPr/>
          <a:lstStyle/>
          <a:p>
            <a:endParaRPr lang="it-IT" dirty="0"/>
          </a:p>
        </p:txBody>
      </p:sp>
      <p:pic>
        <p:nvPicPr>
          <p:cNvPr id="30" name="Image 4" descr="FiHelpCircle"/>
          <p:cNvPicPr>
            <a:picLocks noChangeAspect="1"/>
          </p:cNvPicPr>
          <p:nvPr/>
        </p:nvPicPr>
        <p:blipFill>
          <a:blip r:embed="rId7"/>
          <a:stretch>
            <a:fillRect/>
          </a:stretch>
        </p:blipFill>
        <p:spPr>
          <a:xfrm>
            <a:off x="736092" y="3653028"/>
            <a:ext cx="228600" cy="228600"/>
          </a:xfrm>
          <a:prstGeom prst="rect">
            <a:avLst/>
          </a:prstGeom>
        </p:spPr>
      </p:pic>
      <p:sp>
        <p:nvSpPr>
          <p:cNvPr id="31" name="Text 23"/>
          <p:cNvSpPr txBox="1"/>
          <p:nvPr/>
        </p:nvSpPr>
        <p:spPr>
          <a:xfrm>
            <a:off x="1188720" y="3465576"/>
            <a:ext cx="2743200" cy="502920"/>
          </a:xfrm>
          <a:prstGeom prst="rect">
            <a:avLst/>
          </a:prstGeom>
          <a:noFill/>
          <a:ln/>
        </p:spPr>
        <p:txBody>
          <a:bodyPr wrap="square" lIns="0" tIns="0" rIns="0" bIns="0" rtlCol="0" anchor="ctr"/>
          <a:lstStyle/>
          <a:p>
            <a:pPr marL="0" indent="0">
              <a:buNone/>
            </a:pPr>
            <a:r>
              <a:rPr lang="it-IT" sz="1300" b="1" dirty="0">
                <a:solidFill>
                  <a:schemeClr val="tx1"/>
                </a:solidFill>
              </a:rPr>
              <a:t>"Gli ho chiesto se è sicuro: ha confermato"</a:t>
            </a:r>
            <a:endParaRPr lang="it-IT" sz="1300" dirty="0"/>
          </a:p>
        </p:txBody>
      </p:sp>
      <p:sp>
        <p:nvSpPr>
          <p:cNvPr id="32" name="Text 24"/>
          <p:cNvSpPr txBox="1"/>
          <p:nvPr/>
        </p:nvSpPr>
        <p:spPr>
          <a:xfrm>
            <a:off x="1188720" y="3977640"/>
            <a:ext cx="2743200" cy="347472"/>
          </a:xfrm>
          <a:prstGeom prst="rect">
            <a:avLst/>
          </a:prstGeom>
          <a:noFill/>
          <a:ln/>
        </p:spPr>
        <p:txBody>
          <a:bodyPr wrap="square" lIns="0" tIns="0" rIns="0" bIns="0" rtlCol="0" anchor="t"/>
          <a:lstStyle/>
          <a:p>
            <a:pPr marL="0" indent="0">
              <a:buNone/>
            </a:pPr>
            <a:r>
              <a:rPr lang="it-IT" sz="1200" dirty="0">
                <a:solidFill>
                  <a:schemeClr val="tx2"/>
                </a:solidFill>
              </a:rPr>
              <a:t>L'autoverifica non è indipendente</a:t>
            </a:r>
            <a:endParaRPr lang="it-IT" sz="1200" dirty="0"/>
          </a:p>
        </p:txBody>
      </p:sp>
      <p:sp>
        <p:nvSpPr>
          <p:cNvPr id="33" name="Text 25"/>
          <p:cNvSpPr txBox="1"/>
          <p:nvPr/>
        </p:nvSpPr>
        <p:spPr>
          <a:xfrm>
            <a:off x="3886200" y="3465576"/>
            <a:ext cx="457200" cy="365760"/>
          </a:xfrm>
          <a:prstGeom prst="rect">
            <a:avLst/>
          </a:prstGeom>
          <a:noFill/>
          <a:ln/>
        </p:spPr>
        <p:txBody>
          <a:bodyPr wrap="square" lIns="0" tIns="0" rIns="0" bIns="0" rtlCol="0" anchor="t"/>
          <a:lstStyle/>
          <a:p>
            <a:pPr marL="0" indent="0" algn="r">
              <a:buNone/>
            </a:pPr>
            <a:r>
              <a:rPr lang="it-IT" sz="1100" b="1" dirty="0">
                <a:solidFill>
                  <a:schemeClr val="accent1"/>
                </a:solidFill>
              </a:rPr>
              <a:t>3.6</a:t>
            </a:r>
            <a:endParaRPr lang="it-IT" sz="1100" dirty="0"/>
          </a:p>
        </p:txBody>
      </p:sp>
      <p:sp>
        <p:nvSpPr>
          <p:cNvPr id="34" name="evitare 6"/>
          <p:cNvSpPr/>
          <p:nvPr/>
        </p:nvSpPr>
        <p:spPr>
          <a:xfrm>
            <a:off x="4663440" y="3374136"/>
            <a:ext cx="4023360" cy="1024128"/>
          </a:xfrm>
          <a:prstGeom prst="roundRect">
            <a:avLst>
              <a:gd name="adj" fmla="val 7143"/>
            </a:avLst>
          </a:prstGeom>
          <a:solidFill>
            <a:schemeClr val="bg2"/>
          </a:solidFill>
          <a:ln/>
        </p:spPr>
        <p:txBody>
          <a:bodyPr/>
          <a:lstStyle/>
          <a:p>
            <a:endParaRPr lang="it-IT" dirty="0"/>
          </a:p>
        </p:txBody>
      </p:sp>
      <p:sp>
        <p:nvSpPr>
          <p:cNvPr id="35" name="cerchio FiXCircle"/>
          <p:cNvSpPr/>
          <p:nvPr/>
        </p:nvSpPr>
        <p:spPr>
          <a:xfrm>
            <a:off x="4828032" y="3538728"/>
            <a:ext cx="457200" cy="457200"/>
          </a:xfrm>
          <a:prstGeom prst="ellipse">
            <a:avLst/>
          </a:prstGeom>
          <a:solidFill>
            <a:schemeClr val="accent5"/>
          </a:solidFill>
          <a:ln/>
        </p:spPr>
        <p:txBody>
          <a:bodyPr/>
          <a:lstStyle/>
          <a:p>
            <a:endParaRPr lang="it-IT" dirty="0"/>
          </a:p>
        </p:txBody>
      </p:sp>
      <p:pic>
        <p:nvPicPr>
          <p:cNvPr id="36" name="Image 5" descr="FiXCircle"/>
          <p:cNvPicPr>
            <a:picLocks noChangeAspect="1"/>
          </p:cNvPicPr>
          <p:nvPr/>
        </p:nvPicPr>
        <p:blipFill>
          <a:blip r:embed="rId8"/>
          <a:stretch>
            <a:fillRect/>
          </a:stretch>
        </p:blipFill>
        <p:spPr>
          <a:xfrm>
            <a:off x="4942332" y="3653028"/>
            <a:ext cx="228600" cy="228600"/>
          </a:xfrm>
          <a:prstGeom prst="rect">
            <a:avLst/>
          </a:prstGeom>
        </p:spPr>
      </p:pic>
      <p:sp>
        <p:nvSpPr>
          <p:cNvPr id="37" name="Text 28"/>
          <p:cNvSpPr txBox="1"/>
          <p:nvPr/>
        </p:nvSpPr>
        <p:spPr>
          <a:xfrm>
            <a:off x="5394960" y="3465576"/>
            <a:ext cx="2743200" cy="502920"/>
          </a:xfrm>
          <a:prstGeom prst="rect">
            <a:avLst/>
          </a:prstGeom>
          <a:noFill/>
          <a:ln/>
        </p:spPr>
        <p:txBody>
          <a:bodyPr wrap="square" lIns="0" tIns="0" rIns="0" bIns="0" rtlCol="0" anchor="ctr"/>
          <a:lstStyle/>
          <a:p>
            <a:pPr marL="0" indent="0">
              <a:buNone/>
            </a:pPr>
            <a:r>
              <a:rPr lang="it-IT" sz="1300" b="1" dirty="0">
                <a:solidFill>
                  <a:schemeClr val="tx1"/>
                </a:solidFill>
              </a:rPr>
              <a:t>"Sbaglia, quindi è meglio non usarla"</a:t>
            </a:r>
            <a:endParaRPr lang="it-IT" sz="1300" dirty="0"/>
          </a:p>
        </p:txBody>
      </p:sp>
      <p:sp>
        <p:nvSpPr>
          <p:cNvPr id="38" name="Text 29"/>
          <p:cNvSpPr txBox="1"/>
          <p:nvPr/>
        </p:nvSpPr>
        <p:spPr>
          <a:xfrm>
            <a:off x="5394960" y="3977640"/>
            <a:ext cx="2743200" cy="347472"/>
          </a:xfrm>
          <a:prstGeom prst="rect">
            <a:avLst/>
          </a:prstGeom>
          <a:noFill/>
          <a:ln/>
        </p:spPr>
        <p:txBody>
          <a:bodyPr wrap="square" lIns="0" tIns="0" rIns="0" bIns="0" rtlCol="0" anchor="t"/>
          <a:lstStyle/>
          <a:p>
            <a:pPr marL="0" indent="0">
              <a:buNone/>
            </a:pPr>
            <a:r>
              <a:rPr lang="it-IT" sz="1200" dirty="0">
                <a:solidFill>
                  <a:schemeClr val="tx2"/>
                </a:solidFill>
              </a:rPr>
              <a:t>Affidabilità adeguata allo scopo</a:t>
            </a:r>
            <a:endParaRPr lang="it-IT" sz="1200" dirty="0"/>
          </a:p>
        </p:txBody>
      </p:sp>
      <p:sp>
        <p:nvSpPr>
          <p:cNvPr id="39" name="Text 30"/>
          <p:cNvSpPr txBox="1"/>
          <p:nvPr/>
        </p:nvSpPr>
        <p:spPr>
          <a:xfrm>
            <a:off x="8092440" y="3465576"/>
            <a:ext cx="457200" cy="365760"/>
          </a:xfrm>
          <a:prstGeom prst="rect">
            <a:avLst/>
          </a:prstGeom>
          <a:noFill/>
          <a:ln/>
        </p:spPr>
        <p:txBody>
          <a:bodyPr wrap="square" lIns="0" tIns="0" rIns="0" bIns="0" rtlCol="0" anchor="t"/>
          <a:lstStyle/>
          <a:p>
            <a:pPr marL="0" indent="0" algn="r">
              <a:buNone/>
            </a:pPr>
            <a:r>
              <a:rPr lang="it-IT" sz="1100" b="1" dirty="0">
                <a:solidFill>
                  <a:schemeClr val="accent1"/>
                </a:solidFill>
              </a:rPr>
              <a:t>3.8</a:t>
            </a:r>
            <a:endParaRPr lang="it-IT" sz="11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68</a:t>
            </a:fld>
            <a:endParaRPr lang="it-IT"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name="Slide 6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Prossimo passo: il Tema 4</a:t>
            </a:r>
            <a:endParaRPr lang="it-IT" sz="2600" dirty="0"/>
          </a:p>
        </p:txBody>
      </p:sp>
      <p:sp>
        <p:nvSpPr>
          <p:cNvPr id="4" name="tema 3"/>
          <p:cNvSpPr/>
          <p:nvPr/>
        </p:nvSpPr>
        <p:spPr>
          <a:xfrm>
            <a:off x="457200" y="1097280"/>
            <a:ext cx="3291840" cy="3429000"/>
          </a:xfrm>
          <a:prstGeom prst="roundRect">
            <a:avLst>
              <a:gd name="adj" fmla="val 2222"/>
            </a:avLst>
          </a:prstGeom>
          <a:solidFill>
            <a:schemeClr val="bg2"/>
          </a:solidFill>
          <a:ln/>
        </p:spPr>
        <p:txBody>
          <a:bodyPr/>
          <a:lstStyle/>
          <a:p>
            <a:endParaRPr lang="it-IT" dirty="0"/>
          </a:p>
        </p:txBody>
      </p:sp>
      <p:sp>
        <p:nvSpPr>
          <p:cNvPr id="5" name="Text 2"/>
          <p:cNvSpPr txBox="1"/>
          <p:nvPr/>
        </p:nvSpPr>
        <p:spPr>
          <a:xfrm>
            <a:off x="685800" y="1280160"/>
            <a:ext cx="2834640" cy="320040"/>
          </a:xfrm>
          <a:prstGeom prst="rect">
            <a:avLst/>
          </a:prstGeom>
          <a:noFill/>
          <a:ln/>
        </p:spPr>
        <p:txBody>
          <a:bodyPr wrap="square" lIns="0" tIns="0" rIns="0" bIns="0" rtlCol="0" anchor="t"/>
          <a:lstStyle/>
          <a:p>
            <a:pPr marL="0" indent="0">
              <a:buNone/>
            </a:pPr>
            <a:r>
              <a:rPr lang="it-IT" sz="1300" b="1" kern="0" spc="200" dirty="0">
                <a:solidFill>
                  <a:schemeClr val="accent2"/>
                </a:solidFill>
              </a:rPr>
              <a:t>TEMA 3</a:t>
            </a:r>
            <a:endParaRPr lang="it-IT" sz="1300" dirty="0"/>
          </a:p>
        </p:txBody>
      </p:sp>
      <p:sp>
        <p:nvSpPr>
          <p:cNvPr id="6" name="Text 3"/>
          <p:cNvSpPr txBox="1"/>
          <p:nvPr/>
        </p:nvSpPr>
        <p:spPr>
          <a:xfrm>
            <a:off x="685800" y="1645920"/>
            <a:ext cx="2834640" cy="640080"/>
          </a:xfrm>
          <a:prstGeom prst="rect">
            <a:avLst/>
          </a:prstGeom>
          <a:noFill/>
          <a:ln/>
        </p:spPr>
        <p:txBody>
          <a:bodyPr wrap="square" lIns="0" tIns="0" rIns="0" bIns="0" rtlCol="0" anchor="t"/>
          <a:lstStyle/>
          <a:p>
            <a:pPr marL="0" indent="0">
              <a:buNone/>
            </a:pPr>
            <a:r>
              <a:rPr lang="it-IT" sz="1800" b="1" dirty="0">
                <a:solidFill>
                  <a:schemeClr val="tx1"/>
                </a:solidFill>
              </a:rPr>
              <a:t>Capacità, limiti e affidabilità</a:t>
            </a:r>
            <a:endParaRPr lang="it-IT" sz="1800" dirty="0"/>
          </a:p>
        </p:txBody>
      </p:sp>
      <p:sp>
        <p:nvSpPr>
          <p:cNvPr id="7" name="Text 4"/>
          <p:cNvSpPr txBox="1"/>
          <p:nvPr/>
        </p:nvSpPr>
        <p:spPr>
          <a:xfrm>
            <a:off x="685800" y="2377440"/>
            <a:ext cx="2834640" cy="1920240"/>
          </a:xfrm>
          <a:prstGeom prst="rect">
            <a:avLst/>
          </a:prstGeom>
          <a:noFill/>
          <a:ln/>
        </p:spPr>
        <p:txBody>
          <a:bodyPr wrap="square" lIns="0" tIns="0" rIns="0" bIns="0" rtlCol="0" anchor="t"/>
          <a:lstStyle/>
          <a:p>
            <a:pPr marL="177800" indent="-177800">
              <a:spcAft>
                <a:spcPts val="400"/>
              </a:spcAft>
              <a:buSzPct val="100000"/>
              <a:buChar char="•"/>
            </a:pPr>
            <a:r>
              <a:rPr lang="it-IT" sz="1400" dirty="0">
                <a:solidFill>
                  <a:schemeClr val="tx2"/>
                </a:solidFill>
              </a:rPr>
              <a:t>Che cosa sa fare l'AI</a:t>
            </a:r>
            <a:endParaRPr lang="it-IT" sz="1400" dirty="0"/>
          </a:p>
          <a:p>
            <a:pPr marL="177800" indent="-177800">
              <a:spcAft>
                <a:spcPts val="400"/>
              </a:spcAft>
              <a:buSzPct val="100000"/>
              <a:buChar char="•"/>
            </a:pPr>
            <a:r>
              <a:rPr lang="it-IT" sz="1400" dirty="0">
                <a:solidFill>
                  <a:schemeClr val="tx2"/>
                </a:solidFill>
              </a:rPr>
              <a:t>Allucinazioni e </a:t>
            </a:r>
            <a:r>
              <a:rPr lang="it-IT" sz="1400" dirty="0" err="1">
                <a:solidFill>
                  <a:schemeClr val="tx2"/>
                </a:solidFill>
              </a:rPr>
              <a:t>bias</a:t>
            </a:r>
            <a:endParaRPr lang="it-IT" sz="1400" dirty="0"/>
          </a:p>
          <a:p>
            <a:pPr marL="177800" indent="-177800">
              <a:spcAft>
                <a:spcPts val="400"/>
              </a:spcAft>
              <a:buSzPct val="100000"/>
              <a:buChar char="•"/>
            </a:pPr>
            <a:r>
              <a:rPr lang="it-IT" sz="1400" dirty="0">
                <a:solidFill>
                  <a:schemeClr val="tx2"/>
                </a:solidFill>
              </a:rPr>
              <a:t>Valutare e verificare</a:t>
            </a:r>
            <a:endParaRPr lang="it-IT" sz="1400" dirty="0"/>
          </a:p>
          <a:p>
            <a:pPr marL="177800" indent="-177800">
              <a:spcAft>
                <a:spcPts val="400"/>
              </a:spcAft>
              <a:buSzPct val="100000"/>
              <a:buChar char="•"/>
            </a:pPr>
            <a:r>
              <a:rPr lang="it-IT" sz="1400" dirty="0">
                <a:solidFill>
                  <a:schemeClr val="tx2"/>
                </a:solidFill>
              </a:rPr>
              <a:t>Quando usarla o limitarla</a:t>
            </a:r>
            <a:endParaRPr lang="it-IT" sz="1400" dirty="0"/>
          </a:p>
        </p:txBody>
      </p:sp>
      <p:sp>
        <p:nvSpPr>
          <p:cNvPr id="8" name="freccia"/>
          <p:cNvSpPr/>
          <p:nvPr/>
        </p:nvSpPr>
        <p:spPr>
          <a:xfrm>
            <a:off x="3886200" y="2651760"/>
            <a:ext cx="502920" cy="292608"/>
          </a:xfrm>
          <a:prstGeom prst="rightArrow">
            <a:avLst/>
          </a:prstGeom>
          <a:solidFill>
            <a:schemeClr val="accent1"/>
          </a:solidFill>
          <a:ln/>
        </p:spPr>
        <p:txBody>
          <a:bodyPr/>
          <a:lstStyle/>
          <a:p>
            <a:endParaRPr lang="it-IT" dirty="0"/>
          </a:p>
        </p:txBody>
      </p:sp>
      <p:sp>
        <p:nvSpPr>
          <p:cNvPr id="9" name="tema 4"/>
          <p:cNvSpPr/>
          <p:nvPr/>
        </p:nvSpPr>
        <p:spPr>
          <a:xfrm>
            <a:off x="4526280" y="1097280"/>
            <a:ext cx="4160520" cy="3429000"/>
          </a:xfrm>
          <a:prstGeom prst="roundRect">
            <a:avLst>
              <a:gd name="adj" fmla="val 2133"/>
            </a:avLst>
          </a:prstGeom>
          <a:solidFill>
            <a:schemeClr val="tx1"/>
          </a:solidFill>
          <a:ln/>
        </p:spPr>
        <p:txBody>
          <a:bodyPr/>
          <a:lstStyle/>
          <a:p>
            <a:endParaRPr lang="it-IT" dirty="0"/>
          </a:p>
        </p:txBody>
      </p:sp>
      <p:sp>
        <p:nvSpPr>
          <p:cNvPr id="10" name="Text 7"/>
          <p:cNvSpPr txBox="1"/>
          <p:nvPr/>
        </p:nvSpPr>
        <p:spPr>
          <a:xfrm>
            <a:off x="4754880" y="1280160"/>
            <a:ext cx="3657600" cy="320040"/>
          </a:xfrm>
          <a:prstGeom prst="rect">
            <a:avLst/>
          </a:prstGeom>
          <a:noFill/>
          <a:ln/>
        </p:spPr>
        <p:txBody>
          <a:bodyPr wrap="square" lIns="0" tIns="0" rIns="0" bIns="0" rtlCol="0" anchor="t"/>
          <a:lstStyle/>
          <a:p>
            <a:pPr marL="0" indent="0">
              <a:buNone/>
            </a:pPr>
            <a:r>
              <a:rPr lang="it-IT" sz="1300" b="1" kern="0" spc="200" dirty="0">
                <a:solidFill>
                  <a:schemeClr val="accent1"/>
                </a:solidFill>
              </a:rPr>
              <a:t>TEMA 4</a:t>
            </a:r>
            <a:endParaRPr lang="it-IT" sz="1300" dirty="0"/>
          </a:p>
        </p:txBody>
      </p:sp>
      <p:sp>
        <p:nvSpPr>
          <p:cNvPr id="11" name="Text 8"/>
          <p:cNvSpPr txBox="1"/>
          <p:nvPr/>
        </p:nvSpPr>
        <p:spPr>
          <a:xfrm>
            <a:off x="4754880" y="1645920"/>
            <a:ext cx="3749040" cy="457200"/>
          </a:xfrm>
          <a:prstGeom prst="rect">
            <a:avLst/>
          </a:prstGeom>
          <a:noFill/>
          <a:ln/>
        </p:spPr>
        <p:txBody>
          <a:bodyPr wrap="square" lIns="0" tIns="0" rIns="0" bIns="0" rtlCol="0" anchor="t"/>
          <a:lstStyle/>
          <a:p>
            <a:pPr marL="0" indent="0">
              <a:buNone/>
            </a:pPr>
            <a:r>
              <a:rPr lang="it-IT" sz="1800" b="1" dirty="0">
                <a:solidFill>
                  <a:schemeClr val="bg1"/>
                </a:solidFill>
              </a:rPr>
              <a:t>Ecosistema AI</a:t>
            </a:r>
            <a:endParaRPr lang="it-IT" sz="1800" dirty="0"/>
          </a:p>
        </p:txBody>
      </p:sp>
      <p:sp>
        <p:nvSpPr>
          <p:cNvPr id="12" name="Text 9"/>
          <p:cNvSpPr txBox="1"/>
          <p:nvPr/>
        </p:nvSpPr>
        <p:spPr>
          <a:xfrm>
            <a:off x="4754880" y="2240280"/>
            <a:ext cx="3749040" cy="2103120"/>
          </a:xfrm>
          <a:prstGeom prst="rect">
            <a:avLst/>
          </a:prstGeom>
          <a:noFill/>
          <a:ln/>
        </p:spPr>
        <p:txBody>
          <a:bodyPr wrap="square" lIns="0" tIns="0" rIns="0" bIns="0" rtlCol="0" anchor="t"/>
          <a:lstStyle/>
          <a:p>
            <a:pPr marL="177800" indent="-177800">
              <a:spcAft>
                <a:spcPts val="300"/>
              </a:spcAft>
              <a:buSzPct val="100000"/>
              <a:buChar char="•"/>
            </a:pPr>
            <a:r>
              <a:rPr lang="it-IT" sz="1400" dirty="0">
                <a:solidFill>
                  <a:schemeClr val="accent3"/>
                </a:solidFill>
              </a:rPr>
              <a:t>Prodotti e piattaforme</a:t>
            </a:r>
            <a:endParaRPr lang="it-IT" sz="1400" dirty="0"/>
          </a:p>
          <a:p>
            <a:pPr marL="177800" indent="-177800">
              <a:spcAft>
                <a:spcPts val="300"/>
              </a:spcAft>
              <a:buSzPct val="100000"/>
              <a:buChar char="•"/>
            </a:pPr>
            <a:r>
              <a:rPr lang="it-IT" sz="1400" dirty="0">
                <a:solidFill>
                  <a:schemeClr val="accent3"/>
                </a:solidFill>
              </a:rPr>
              <a:t>Modelli disponibili</a:t>
            </a:r>
            <a:endParaRPr lang="it-IT" sz="1400" dirty="0"/>
          </a:p>
          <a:p>
            <a:pPr marL="177800" indent="-177800">
              <a:spcAft>
                <a:spcPts val="300"/>
              </a:spcAft>
              <a:buSzPct val="100000"/>
              <a:buChar char="•"/>
            </a:pPr>
            <a:r>
              <a:rPr lang="it-IT" sz="1400" dirty="0">
                <a:solidFill>
                  <a:schemeClr val="accent3"/>
                </a:solidFill>
              </a:rPr>
              <a:t>Come leggere confronti e proposte</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69</a:t>
            </a:fld>
            <a:endParaRPr lang="it-IT"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Fonti e riferimenti</a:t>
            </a:r>
            <a:endParaRPr lang="it-IT" sz="2600" dirty="0"/>
          </a:p>
        </p:txBody>
      </p:sp>
      <p:sp>
        <p:nvSpPr>
          <p:cNvPr id="4" name="cerchio FiBookmark"/>
          <p:cNvSpPr/>
          <p:nvPr/>
        </p:nvSpPr>
        <p:spPr>
          <a:xfrm>
            <a:off x="457200" y="1143000"/>
            <a:ext cx="502920" cy="502920"/>
          </a:xfrm>
          <a:prstGeom prst="ellipse">
            <a:avLst/>
          </a:prstGeom>
          <a:solidFill>
            <a:schemeClr val="accent1"/>
          </a:solidFill>
          <a:ln/>
        </p:spPr>
        <p:txBody>
          <a:bodyPr/>
          <a:lstStyle/>
          <a:p>
            <a:endParaRPr lang="it-IT" dirty="0"/>
          </a:p>
        </p:txBody>
      </p:sp>
      <p:pic>
        <p:nvPicPr>
          <p:cNvPr id="5" name="Image 0" descr="FiBookmark"/>
          <p:cNvPicPr>
            <a:picLocks noChangeAspect="1"/>
          </p:cNvPicPr>
          <p:nvPr/>
        </p:nvPicPr>
        <p:blipFill>
          <a:blip r:embed="rId3"/>
          <a:stretch>
            <a:fillRect/>
          </a:stretch>
        </p:blipFill>
        <p:spPr>
          <a:xfrm>
            <a:off x="582930" y="1268730"/>
            <a:ext cx="251460" cy="251460"/>
          </a:xfrm>
          <a:prstGeom prst="rect">
            <a:avLst/>
          </a:prstGeom>
        </p:spPr>
      </p:pic>
      <p:sp>
        <p:nvSpPr>
          <p:cNvPr id="6" name="Text 2"/>
          <p:cNvSpPr txBox="1"/>
          <p:nvPr/>
        </p:nvSpPr>
        <p:spPr>
          <a:xfrm>
            <a:off x="1188720" y="1097280"/>
            <a:ext cx="7498080" cy="3154680"/>
          </a:xfrm>
          <a:prstGeom prst="rect">
            <a:avLst/>
          </a:prstGeom>
          <a:noFill/>
          <a:ln/>
        </p:spPr>
        <p:txBody>
          <a:bodyPr wrap="square" lIns="0" tIns="0" rIns="0" bIns="0" rtlCol="0" anchor="t"/>
          <a:lstStyle/>
          <a:p>
            <a:pPr marL="177800" indent="-177800">
              <a:spcAft>
                <a:spcPts val="500"/>
              </a:spcAft>
              <a:buSzPct val="100000"/>
              <a:buChar char="•"/>
            </a:pPr>
            <a:r>
              <a:rPr lang="it-IT" sz="1200" dirty="0">
                <a:solidFill>
                  <a:schemeClr val="tx1"/>
                </a:solidFill>
              </a:rPr>
              <a:t>Mata v. Avianca, Inc., U.S. </a:t>
            </a:r>
            <a:r>
              <a:rPr lang="it-IT" sz="1200" dirty="0" err="1">
                <a:solidFill>
                  <a:schemeClr val="tx1"/>
                </a:solidFill>
              </a:rPr>
              <a:t>District</a:t>
            </a:r>
            <a:r>
              <a:rPr lang="it-IT" sz="1200" dirty="0">
                <a:solidFill>
                  <a:schemeClr val="tx1"/>
                </a:solidFill>
              </a:rPr>
              <a:t> Court, Southern </a:t>
            </a:r>
            <a:r>
              <a:rPr lang="it-IT" sz="1200" dirty="0" err="1">
                <a:solidFill>
                  <a:schemeClr val="tx1"/>
                </a:solidFill>
              </a:rPr>
              <a:t>District</a:t>
            </a:r>
            <a:r>
              <a:rPr lang="it-IT" sz="1200" dirty="0">
                <a:solidFill>
                  <a:schemeClr val="tx1"/>
                </a:solidFill>
              </a:rPr>
              <a:t> of New York, giugno 2023.</a:t>
            </a:r>
            <a:endParaRPr lang="it-IT" sz="1200" dirty="0"/>
          </a:p>
          <a:p>
            <a:pPr marL="177800" indent="-177800">
              <a:spcAft>
                <a:spcPts val="500"/>
              </a:spcAft>
              <a:buSzPct val="100000"/>
              <a:buChar char="•"/>
            </a:pPr>
            <a:r>
              <a:rPr lang="it-IT" sz="1200" dirty="0">
                <a:solidFill>
                  <a:schemeClr val="tx1"/>
                </a:solidFill>
              </a:rPr>
              <a:t>Kalai, A. T. et al. (2025). Why Language Models </a:t>
            </a:r>
            <a:r>
              <a:rPr lang="it-IT" sz="1200" dirty="0" err="1">
                <a:solidFill>
                  <a:schemeClr val="tx1"/>
                </a:solidFill>
              </a:rPr>
              <a:t>Hallucinate</a:t>
            </a:r>
            <a:r>
              <a:rPr lang="it-IT" sz="1200" dirty="0">
                <a:solidFill>
                  <a:schemeClr val="tx1"/>
                </a:solidFill>
              </a:rPr>
              <a:t>. OpenAI, arXiv:2509.04664.</a:t>
            </a:r>
            <a:endParaRPr lang="it-IT" sz="1200" dirty="0"/>
          </a:p>
          <a:p>
            <a:pPr marL="177800" indent="-177800">
              <a:spcAft>
                <a:spcPts val="500"/>
              </a:spcAft>
              <a:buSzPct val="100000"/>
              <a:buChar char="•"/>
            </a:pPr>
            <a:r>
              <a:rPr lang="it-IT" sz="1200" dirty="0">
                <a:solidFill>
                  <a:schemeClr val="tx1"/>
                </a:solidFill>
              </a:rPr>
              <a:t>Sharma, M. et al. (2024). </a:t>
            </a:r>
            <a:r>
              <a:rPr lang="it-IT" sz="1200" dirty="0" err="1">
                <a:solidFill>
                  <a:schemeClr val="tx1"/>
                </a:solidFill>
              </a:rPr>
              <a:t>Towards</a:t>
            </a:r>
            <a:r>
              <a:rPr lang="it-IT" sz="1200" dirty="0">
                <a:solidFill>
                  <a:schemeClr val="tx1"/>
                </a:solidFill>
              </a:rPr>
              <a:t> </a:t>
            </a:r>
            <a:r>
              <a:rPr lang="it-IT" sz="1200" dirty="0" err="1">
                <a:solidFill>
                  <a:schemeClr val="tx1"/>
                </a:solidFill>
              </a:rPr>
              <a:t>Understanding</a:t>
            </a:r>
            <a:r>
              <a:rPr lang="it-IT" sz="1200" dirty="0">
                <a:solidFill>
                  <a:schemeClr val="tx1"/>
                </a:solidFill>
              </a:rPr>
              <a:t> </a:t>
            </a:r>
            <a:r>
              <a:rPr lang="it-IT" sz="1200" dirty="0" err="1">
                <a:solidFill>
                  <a:schemeClr val="tx1"/>
                </a:solidFill>
              </a:rPr>
              <a:t>Sycophancy</a:t>
            </a:r>
            <a:r>
              <a:rPr lang="it-IT" sz="1200" dirty="0">
                <a:solidFill>
                  <a:schemeClr val="tx1"/>
                </a:solidFill>
              </a:rPr>
              <a:t> in Language Models. ICLR 2024 (</a:t>
            </a:r>
            <a:r>
              <a:rPr lang="it-IT" sz="1200" dirty="0" err="1">
                <a:solidFill>
                  <a:schemeClr val="tx1"/>
                </a:solidFill>
              </a:rPr>
              <a:t>Anthropic</a:t>
            </a:r>
            <a:r>
              <a:rPr lang="it-IT" sz="1200" dirty="0">
                <a:solidFill>
                  <a:schemeClr val="tx1"/>
                </a:solidFill>
              </a:rPr>
              <a:t>).</a:t>
            </a:r>
            <a:endParaRPr lang="it-IT" sz="1200" dirty="0"/>
          </a:p>
          <a:p>
            <a:pPr marL="177800" indent="-177800">
              <a:spcAft>
                <a:spcPts val="500"/>
              </a:spcAft>
              <a:buSzPct val="100000"/>
              <a:buChar char="•"/>
            </a:pPr>
            <a:r>
              <a:rPr lang="it-IT" sz="1200" dirty="0">
                <a:solidFill>
                  <a:schemeClr val="tx1"/>
                </a:solidFill>
              </a:rPr>
              <a:t>Dastin, </a:t>
            </a:r>
            <a:r>
              <a:rPr lang="it-IT" sz="1200" dirty="0" err="1">
                <a:solidFill>
                  <a:schemeClr val="tx1"/>
                </a:solidFill>
              </a:rPr>
              <a:t>J</a:t>
            </a:r>
            <a:r>
              <a:rPr lang="it-IT" sz="1200" dirty="0">
                <a:solidFill>
                  <a:schemeClr val="tx1"/>
                </a:solidFill>
              </a:rPr>
              <a:t>. (2018). Amazon </a:t>
            </a:r>
            <a:r>
              <a:rPr lang="it-IT" sz="1200" dirty="0" err="1">
                <a:solidFill>
                  <a:schemeClr val="tx1"/>
                </a:solidFill>
              </a:rPr>
              <a:t>scraps</a:t>
            </a:r>
            <a:r>
              <a:rPr lang="it-IT" sz="1200" dirty="0">
                <a:solidFill>
                  <a:schemeClr val="tx1"/>
                </a:solidFill>
              </a:rPr>
              <a:t> secret AI recruiting tool </a:t>
            </a:r>
            <a:r>
              <a:rPr lang="it-IT" sz="1200" dirty="0" err="1">
                <a:solidFill>
                  <a:schemeClr val="tx1"/>
                </a:solidFill>
              </a:rPr>
              <a:t>that</a:t>
            </a:r>
            <a:r>
              <a:rPr lang="it-IT" sz="1200" dirty="0">
                <a:solidFill>
                  <a:schemeClr val="tx1"/>
                </a:solidFill>
              </a:rPr>
              <a:t> </a:t>
            </a:r>
            <a:r>
              <a:rPr lang="it-IT" sz="1200" dirty="0" err="1">
                <a:solidFill>
                  <a:schemeClr val="tx1"/>
                </a:solidFill>
              </a:rPr>
              <a:t>showed</a:t>
            </a:r>
            <a:r>
              <a:rPr lang="it-IT" sz="1200" dirty="0">
                <a:solidFill>
                  <a:schemeClr val="tx1"/>
                </a:solidFill>
              </a:rPr>
              <a:t> </a:t>
            </a:r>
            <a:r>
              <a:rPr lang="it-IT" sz="1200" dirty="0" err="1">
                <a:solidFill>
                  <a:schemeClr val="tx1"/>
                </a:solidFill>
              </a:rPr>
              <a:t>bias</a:t>
            </a:r>
            <a:r>
              <a:rPr lang="it-IT" sz="1200" dirty="0">
                <a:solidFill>
                  <a:schemeClr val="tx1"/>
                </a:solidFill>
              </a:rPr>
              <a:t> </a:t>
            </a:r>
            <a:r>
              <a:rPr lang="it-IT" sz="1200" dirty="0" err="1">
                <a:solidFill>
                  <a:schemeClr val="tx1"/>
                </a:solidFill>
              </a:rPr>
              <a:t>against</a:t>
            </a:r>
            <a:r>
              <a:rPr lang="it-IT" sz="1200" dirty="0">
                <a:solidFill>
                  <a:schemeClr val="tx1"/>
                </a:solidFill>
              </a:rPr>
              <a:t> women. Reuters.</a:t>
            </a:r>
            <a:endParaRPr lang="it-IT" sz="1200" dirty="0"/>
          </a:p>
          <a:p>
            <a:pPr marL="177800" indent="-177800">
              <a:spcAft>
                <a:spcPts val="500"/>
              </a:spcAft>
              <a:buSzPct val="100000"/>
              <a:buChar char="•"/>
            </a:pPr>
            <a:r>
              <a:rPr lang="it-IT" sz="1200" dirty="0">
                <a:solidFill>
                  <a:schemeClr val="tx1"/>
                </a:solidFill>
              </a:rPr>
              <a:t>Doshi, A. </a:t>
            </a:r>
            <a:r>
              <a:rPr lang="it-IT" sz="1200" dirty="0" err="1">
                <a:solidFill>
                  <a:schemeClr val="tx1"/>
                </a:solidFill>
              </a:rPr>
              <a:t>R</a:t>
            </a:r>
            <a:r>
              <a:rPr lang="it-IT" sz="1200" dirty="0">
                <a:solidFill>
                  <a:schemeClr val="tx1"/>
                </a:solidFill>
              </a:rPr>
              <a:t>., Hauser, O. P. (2024). Generative AI </a:t>
            </a:r>
            <a:r>
              <a:rPr lang="it-IT" sz="1200" dirty="0" err="1">
                <a:solidFill>
                  <a:schemeClr val="tx1"/>
                </a:solidFill>
              </a:rPr>
              <a:t>enhances</a:t>
            </a:r>
            <a:r>
              <a:rPr lang="it-IT" sz="1200" dirty="0">
                <a:solidFill>
                  <a:schemeClr val="tx1"/>
                </a:solidFill>
              </a:rPr>
              <a:t> </a:t>
            </a:r>
            <a:r>
              <a:rPr lang="it-IT" sz="1200" dirty="0" err="1">
                <a:solidFill>
                  <a:schemeClr val="tx1"/>
                </a:solidFill>
              </a:rPr>
              <a:t>individual</a:t>
            </a:r>
            <a:r>
              <a:rPr lang="it-IT" sz="1200" dirty="0">
                <a:solidFill>
                  <a:schemeClr val="tx1"/>
                </a:solidFill>
              </a:rPr>
              <a:t> </a:t>
            </a:r>
            <a:r>
              <a:rPr lang="it-IT" sz="1200" dirty="0" err="1">
                <a:solidFill>
                  <a:schemeClr val="tx1"/>
                </a:solidFill>
              </a:rPr>
              <a:t>creativity</a:t>
            </a:r>
            <a:r>
              <a:rPr lang="it-IT" sz="1200" dirty="0">
                <a:solidFill>
                  <a:schemeClr val="tx1"/>
                </a:solidFill>
              </a:rPr>
              <a:t> </a:t>
            </a:r>
            <a:r>
              <a:rPr lang="it-IT" sz="1200" dirty="0" err="1">
                <a:solidFill>
                  <a:schemeClr val="tx1"/>
                </a:solidFill>
              </a:rPr>
              <a:t>but</a:t>
            </a:r>
            <a:r>
              <a:rPr lang="it-IT" sz="1200" dirty="0">
                <a:solidFill>
                  <a:schemeClr val="tx1"/>
                </a:solidFill>
              </a:rPr>
              <a:t> </a:t>
            </a:r>
            <a:r>
              <a:rPr lang="it-IT" sz="1200" dirty="0" err="1">
                <a:solidFill>
                  <a:schemeClr val="tx1"/>
                </a:solidFill>
              </a:rPr>
              <a:t>reduces</a:t>
            </a:r>
            <a:r>
              <a:rPr lang="it-IT" sz="1200" dirty="0">
                <a:solidFill>
                  <a:schemeClr val="tx1"/>
                </a:solidFill>
              </a:rPr>
              <a:t> the </a:t>
            </a:r>
            <a:r>
              <a:rPr lang="it-IT" sz="1200" dirty="0" err="1">
                <a:solidFill>
                  <a:schemeClr val="tx1"/>
                </a:solidFill>
              </a:rPr>
              <a:t>collective</a:t>
            </a:r>
            <a:r>
              <a:rPr lang="it-IT" sz="1200" dirty="0">
                <a:solidFill>
                  <a:schemeClr val="tx1"/>
                </a:solidFill>
              </a:rPr>
              <a:t> </a:t>
            </a:r>
            <a:r>
              <a:rPr lang="it-IT" sz="1200" dirty="0" err="1">
                <a:solidFill>
                  <a:schemeClr val="tx1"/>
                </a:solidFill>
              </a:rPr>
              <a:t>diversity</a:t>
            </a:r>
            <a:r>
              <a:rPr lang="it-IT" sz="1200" dirty="0">
                <a:solidFill>
                  <a:schemeClr val="tx1"/>
                </a:solidFill>
              </a:rPr>
              <a:t> of </a:t>
            </a:r>
            <a:r>
              <a:rPr lang="it-IT" sz="1200" dirty="0" err="1">
                <a:solidFill>
                  <a:schemeClr val="tx1"/>
                </a:solidFill>
              </a:rPr>
              <a:t>novel</a:t>
            </a:r>
            <a:r>
              <a:rPr lang="it-IT" sz="1200" dirty="0">
                <a:solidFill>
                  <a:schemeClr val="tx1"/>
                </a:solidFill>
              </a:rPr>
              <a:t> </a:t>
            </a:r>
            <a:r>
              <a:rPr lang="it-IT" sz="1200" dirty="0" err="1">
                <a:solidFill>
                  <a:schemeClr val="tx1"/>
                </a:solidFill>
              </a:rPr>
              <a:t>content</a:t>
            </a:r>
            <a:r>
              <a:rPr lang="it-IT" sz="1200" dirty="0">
                <a:solidFill>
                  <a:schemeClr val="tx1"/>
                </a:solidFill>
              </a:rPr>
              <a:t>. Science </a:t>
            </a:r>
            <a:r>
              <a:rPr lang="it-IT" sz="1200" dirty="0" err="1">
                <a:solidFill>
                  <a:schemeClr val="tx1"/>
                </a:solidFill>
              </a:rPr>
              <a:t>Advances</a:t>
            </a:r>
            <a:r>
              <a:rPr lang="it-IT" sz="1200" dirty="0">
                <a:solidFill>
                  <a:schemeClr val="tx1"/>
                </a:solidFill>
              </a:rPr>
              <a:t>, 10(28).</a:t>
            </a:r>
            <a:endParaRPr lang="it-IT" sz="1200" dirty="0"/>
          </a:p>
          <a:p>
            <a:pPr marL="177800" indent="-177800">
              <a:spcAft>
                <a:spcPts val="500"/>
              </a:spcAft>
              <a:buSzPct val="100000"/>
              <a:buChar char="•"/>
            </a:pPr>
            <a:r>
              <a:rPr lang="it-IT" sz="1200" dirty="0">
                <a:solidFill>
                  <a:schemeClr val="tx1"/>
                </a:solidFill>
              </a:rPr>
              <a:t>Dell'Acqua, </a:t>
            </a:r>
            <a:r>
              <a:rPr lang="it-IT" sz="1200" dirty="0" err="1">
                <a:solidFill>
                  <a:schemeClr val="tx1"/>
                </a:solidFill>
              </a:rPr>
              <a:t>F</a:t>
            </a:r>
            <a:r>
              <a:rPr lang="it-IT" sz="1200" dirty="0">
                <a:solidFill>
                  <a:schemeClr val="tx1"/>
                </a:solidFill>
              </a:rPr>
              <a:t>. et al. (2026). </a:t>
            </a:r>
            <a:r>
              <a:rPr lang="it-IT" sz="1200" dirty="0" err="1">
                <a:solidFill>
                  <a:schemeClr val="tx1"/>
                </a:solidFill>
              </a:rPr>
              <a:t>Navigating</a:t>
            </a:r>
            <a:r>
              <a:rPr lang="it-IT" sz="1200" dirty="0">
                <a:solidFill>
                  <a:schemeClr val="tx1"/>
                </a:solidFill>
              </a:rPr>
              <a:t> the </a:t>
            </a:r>
            <a:r>
              <a:rPr lang="it-IT" sz="1200" dirty="0" err="1">
                <a:solidFill>
                  <a:schemeClr val="tx1"/>
                </a:solidFill>
              </a:rPr>
              <a:t>Jagged</a:t>
            </a:r>
            <a:r>
              <a:rPr lang="it-IT" sz="1200" dirty="0">
                <a:solidFill>
                  <a:schemeClr val="tx1"/>
                </a:solidFill>
              </a:rPr>
              <a:t> </a:t>
            </a:r>
            <a:r>
              <a:rPr lang="it-IT" sz="1200" dirty="0" err="1">
                <a:solidFill>
                  <a:schemeClr val="tx1"/>
                </a:solidFill>
              </a:rPr>
              <a:t>Technological</a:t>
            </a:r>
            <a:r>
              <a:rPr lang="it-IT" sz="1200" dirty="0">
                <a:solidFill>
                  <a:schemeClr val="tx1"/>
                </a:solidFill>
              </a:rPr>
              <a:t> </a:t>
            </a:r>
            <a:r>
              <a:rPr lang="it-IT" sz="1200" dirty="0" err="1">
                <a:solidFill>
                  <a:schemeClr val="tx1"/>
                </a:solidFill>
              </a:rPr>
              <a:t>Frontier</a:t>
            </a:r>
            <a:r>
              <a:rPr lang="it-IT" sz="1200" dirty="0">
                <a:solidFill>
                  <a:schemeClr val="tx1"/>
                </a:solidFill>
              </a:rPr>
              <a:t>. Organization Science, 37(2), 403-423.</a:t>
            </a:r>
            <a:endParaRPr lang="it-IT" sz="1200" dirty="0"/>
          </a:p>
          <a:p>
            <a:pPr marL="177800" indent="-177800">
              <a:spcAft>
                <a:spcPts val="500"/>
              </a:spcAft>
              <a:buSzPct val="100000"/>
              <a:buChar char="•"/>
            </a:pPr>
            <a:r>
              <a:rPr lang="it-IT" sz="1200" dirty="0" err="1">
                <a:solidFill>
                  <a:schemeClr val="tx1"/>
                </a:solidFill>
              </a:rPr>
              <a:t>Parasuraman</a:t>
            </a:r>
            <a:r>
              <a:rPr lang="it-IT" sz="1200" dirty="0">
                <a:solidFill>
                  <a:schemeClr val="tx1"/>
                </a:solidFill>
              </a:rPr>
              <a:t>, </a:t>
            </a:r>
            <a:r>
              <a:rPr lang="it-IT" sz="1200" dirty="0" err="1">
                <a:solidFill>
                  <a:schemeClr val="tx1"/>
                </a:solidFill>
              </a:rPr>
              <a:t>R</a:t>
            </a:r>
            <a:r>
              <a:rPr lang="it-IT" sz="1200" dirty="0">
                <a:solidFill>
                  <a:schemeClr val="tx1"/>
                </a:solidFill>
              </a:rPr>
              <a:t>., Manzey, D. H. (2010). </a:t>
            </a:r>
            <a:r>
              <a:rPr lang="it-IT" sz="1200" dirty="0" err="1">
                <a:solidFill>
                  <a:schemeClr val="tx1"/>
                </a:solidFill>
              </a:rPr>
              <a:t>Complacency</a:t>
            </a:r>
            <a:r>
              <a:rPr lang="it-IT" sz="1200" dirty="0">
                <a:solidFill>
                  <a:schemeClr val="tx1"/>
                </a:solidFill>
              </a:rPr>
              <a:t> and Bias in Human Use of Automation: An </a:t>
            </a:r>
            <a:r>
              <a:rPr lang="it-IT" sz="1200" dirty="0" err="1">
                <a:solidFill>
                  <a:schemeClr val="tx1"/>
                </a:solidFill>
              </a:rPr>
              <a:t>Attentional</a:t>
            </a:r>
            <a:r>
              <a:rPr lang="it-IT" sz="1200" dirty="0">
                <a:solidFill>
                  <a:schemeClr val="tx1"/>
                </a:solidFill>
              </a:rPr>
              <a:t> Integration. Human </a:t>
            </a:r>
            <a:r>
              <a:rPr lang="it-IT" sz="1200" dirty="0" err="1">
                <a:solidFill>
                  <a:schemeClr val="tx1"/>
                </a:solidFill>
              </a:rPr>
              <a:t>Factors</a:t>
            </a:r>
            <a:r>
              <a:rPr lang="it-IT" sz="1200" dirty="0">
                <a:solidFill>
                  <a:schemeClr val="tx1"/>
                </a:solidFill>
              </a:rPr>
              <a:t>, 52(3).</a:t>
            </a:r>
            <a:endParaRPr lang="it-IT" sz="1200" dirty="0"/>
          </a:p>
          <a:p>
            <a:pPr marL="177800" indent="-177800">
              <a:spcAft>
                <a:spcPts val="500"/>
              </a:spcAft>
              <a:buSzPct val="100000"/>
              <a:buChar char="•"/>
            </a:pPr>
            <a:r>
              <a:rPr lang="it-IT" sz="1200" dirty="0">
                <a:solidFill>
                  <a:schemeClr val="tx1"/>
                </a:solidFill>
              </a:rPr>
              <a:t>Regolamento (UE) 2024/1689 sull'intelligenza artificiale (AI Act).</a:t>
            </a:r>
            <a:endParaRPr lang="it-IT" sz="1200" dirty="0"/>
          </a:p>
        </p:txBody>
      </p:sp>
      <p:sp>
        <p:nvSpPr>
          <p:cNvPr id="7" name="Text 3"/>
          <p:cNvSpPr txBox="1"/>
          <p:nvPr/>
        </p:nvSpPr>
        <p:spPr>
          <a:xfrm>
            <a:off x="1188720" y="4297680"/>
            <a:ext cx="7498080" cy="274320"/>
          </a:xfrm>
          <a:prstGeom prst="rect">
            <a:avLst/>
          </a:prstGeom>
          <a:noFill/>
          <a:ln/>
        </p:spPr>
        <p:txBody>
          <a:bodyPr wrap="square" lIns="0" tIns="0" rIns="0" bIns="0" rtlCol="0" anchor="t"/>
          <a:lstStyle/>
          <a:p>
            <a:pPr marL="0" indent="0">
              <a:buNone/>
            </a:pPr>
            <a:r>
              <a:rPr lang="it-IT" sz="1100" i="1" dirty="0">
                <a:solidFill>
                  <a:schemeClr val="accent2"/>
                </a:solidFill>
              </a:rPr>
              <a:t>Dati verificati a ottobre 2026: ricontrollarli prima di ogni edizione.</a:t>
            </a:r>
            <a:endParaRPr lang="it-IT"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smtClean="0"/>
              <a:t>70</a:t>
            </a:fld>
            <a:endParaRPr lang="it-IT" dirty="0"/>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16892</Words>
  <Application>Microsoft Macintosh PowerPoint</Application>
  <PresentationFormat>Presentazione su schermo (16:9)</PresentationFormat>
  <Paragraphs>961</Paragraphs>
  <Slides>70</Slides>
  <Notes>70</Notes>
  <HiddenSlides>25</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70</vt:i4>
      </vt:variant>
    </vt:vector>
  </HeadingPairs>
  <TitlesOfParts>
    <vt:vector size="73" baseType="lpstr">
      <vt:lpstr>Arial</vt:lpstr>
      <vt:lpstr>Calibri</vt:lpstr>
      <vt:lpstr>AI Literacy Neutro</vt:lpstr>
      <vt:lpstr>Capacità, limiti e affidabilità dell'Intelligenza Artificiale</vt:lpstr>
      <vt:lpstr>Obiettivo del modulo</vt:lpstr>
      <vt:lpstr>Calibrare la fiducia</vt:lpstr>
      <vt:lpstr>Otto domande guida per questo modulo</vt:lpstr>
      <vt:lpstr>Il filo conduttore</vt:lpstr>
      <vt:lpstr>Il percorso del modulo</vt:lpstr>
      <vt:lpstr>Le principali capacità dell'AI</vt:lpstr>
      <vt:lpstr>Una mappa delle capacità</vt:lpstr>
      <vt:lpstr>Dalle capacità alle attività</vt:lpstr>
      <vt:lpstr>Non tutti i sistemi hanno le stesse capacità</vt:lpstr>
      <vt:lpstr>Presentazione standard di PowerPoint</vt:lpstr>
      <vt:lpstr>Ragionamento, problem solving e creatività</vt:lpstr>
      <vt:lpstr>Ragionamento logico, matematico e analitico</vt:lpstr>
      <vt:lpstr>Problemi strutturati e non strutturati</vt:lpstr>
      <vt:lpstr>Scomporre, pianificare, valutare alternative</vt:lpstr>
      <vt:lpstr>Generazione di idee e supporto creativo</vt:lpstr>
      <vt:lpstr>Limiti nelle situazioni nuove, ambigue o complesse</vt:lpstr>
      <vt:lpstr>Presentazione standard di PowerPoint</vt:lpstr>
      <vt:lpstr>Allucinazioni e informazioni false</vt:lpstr>
      <vt:lpstr>Che cos'è un'allucinazione</vt:lpstr>
      <vt:lpstr>Citazioni, riferimenti e fonti inesistenti</vt:lpstr>
      <vt:lpstr>Perché si verificano le allucinazioni</vt:lpstr>
      <vt:lpstr>Plausibilità linguistica e veridicità</vt:lpstr>
      <vt:lpstr>L'autorevolezza apparente</vt:lpstr>
      <vt:lpstr>Dove le allucinazioni sono più probabili</vt:lpstr>
      <vt:lpstr>Presentazione standard di PowerPoint</vt:lpstr>
      <vt:lpstr>Bias e distorsioni nei risultati</vt:lpstr>
      <vt:lpstr>Che cosa sono bias e distorsioni</vt:lpstr>
      <vt:lpstr>Da dove nascono le distorsioni</vt:lpstr>
      <vt:lpstr>Stereotipi e rappresentazioni non equilibrate</vt:lpstr>
      <vt:lpstr>L'influenza del contesto e delle istruzioni</vt:lpstr>
      <vt:lpstr>Bias di conferma e tendenza ad assecondare</vt:lpstr>
      <vt:lpstr>Neutralità apparente e oggettività effettiva</vt:lpstr>
      <vt:lpstr>Presentazione standard di PowerPoint</vt:lpstr>
      <vt:lpstr>Accuratezza, affidabilità e consistenza</vt:lpstr>
      <vt:lpstr>Quattro concetti da distinguere</vt:lpstr>
      <vt:lpstr>Prestazioni diverse in base al compito</vt:lpstr>
      <vt:lpstr>Coerenza, ripetibilità e robustezza</vt:lpstr>
      <vt:lpstr>I limiti di benchmark e dimostrazioni</vt:lpstr>
      <vt:lpstr>Valutare le prestazioni nel contesto reale</vt:lpstr>
      <vt:lpstr>Il modello e il sistema completo</vt:lpstr>
      <vt:lpstr>Presentazione standard di PowerPoint</vt:lpstr>
      <vt:lpstr>Verificabilità e controllo dei risultati</vt:lpstr>
      <vt:lpstr>Che cosa verificare</vt:lpstr>
      <vt:lpstr>Verificare fatti, fonti e riferimenti</vt:lpstr>
      <vt:lpstr>Controllare calcoli, dati e informazioni</vt:lpstr>
      <vt:lpstr>Completezza, coerenza e tracciabilità</vt:lpstr>
      <vt:lpstr>I limiti dell'autoverifica</vt:lpstr>
      <vt:lpstr>Supervisione umana e verifica proporzionata</vt:lpstr>
      <vt:lpstr>Presentazione standard di PowerPoint</vt:lpstr>
      <vt:lpstr>I fattori che influenzano le prestazioni</vt:lpstr>
      <vt:lpstr>Sette fattori</vt:lpstr>
      <vt:lpstr>Tecnologia, informazioni e modalità operative</vt:lpstr>
      <vt:lpstr>Differenze tra ambiti applicativi</vt:lpstr>
      <vt:lpstr>Presentazione standard di PowerPoint</vt:lpstr>
      <vt:lpstr>Quando utilizzare o limitare l'AI</vt:lpstr>
      <vt:lpstr>Possibilità tecnica e opportunità di utilizzo</vt:lpstr>
      <vt:lpstr>Le conseguenze di un errore</vt:lpstr>
      <vt:lpstr>Attività a basso e alto impatto</vt:lpstr>
      <vt:lpstr>Affidabilità adeguata allo scopo</vt:lpstr>
      <vt:lpstr>Supporto, supervisione e delega</vt:lpstr>
      <vt:lpstr>Quando limitare o evitare l'uso</vt:lpstr>
      <vt:lpstr>La responsabilità resta umana</vt:lpstr>
      <vt:lpstr>Presentazione standard di PowerPoint</vt:lpstr>
      <vt:lpstr>Le domande guida: le nostre risposte</vt:lpstr>
      <vt:lpstr>Che cosa portiamo a casa</vt:lpstr>
      <vt:lpstr>Prima di usare un risultato AI: una checklist</vt:lpstr>
      <vt:lpstr>Che cosa evitare</vt:lpstr>
      <vt:lpstr>Prossimo passo: il Tema 4</vt:lpstr>
      <vt:lpstr>Fonti e riferimenti</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3: Capacità, limiti e affidabilità dell'Intelligenza Artificiale</dc:title>
  <dc:subject>Percorso AI Literacy</dc:subject>
  <dc:creator>Percorso AI Literacy</dc:creator>
  <cp:lastModifiedBy>Michele Barchi</cp:lastModifiedBy>
  <cp:revision>17</cp:revision>
  <dcterms:created xsi:type="dcterms:W3CDTF">2026-10-09T10:29:07Z</dcterms:created>
  <dcterms:modified xsi:type="dcterms:W3CDTF">2026-10-13T14:19:14Z</dcterms:modified>
</cp:coreProperties>
</file>