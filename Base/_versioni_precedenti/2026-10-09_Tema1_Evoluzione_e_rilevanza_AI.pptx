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charts/chart3.xml" ContentType="application/vnd.openxmlformats-officedocument.drawingml.chart+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zione" id="{f49417b7-e486-7a44-4f89-18ff45b03894}">
          <p14:sldIdLst>
            <p14:sldId id="256"/>
            <p14:sldId id="257"/>
            <p14:sldId id="258"/>
            <p14:sldId id="259"/>
          </p14:sldIdLst>
        </p14:section>
        <p14:section name="1.1 Storia ed evoluzione" id="{3f10a3f3-af14-6356-5f80-b5231335e654}">
          <p14:sldIdLst>
            <p14:sldId id="260"/>
            <p14:sldId id="261"/>
            <p14:sldId id="262"/>
            <p14:sldId id="263"/>
            <p14:sldId id="264"/>
            <p14:sldId id="265"/>
            <p14:sldId id="266"/>
            <p14:sldId id="267"/>
            <p14:sldId id="268"/>
          </p14:sldIdLst>
        </p14:section>
        <p14:section name="1.2 Fattori dell'accelerazione" id="{eeb770f0-72ea-146d-ba5c-2fe69f722497}">
          <p14:sldIdLst>
            <p14:sldId id="269"/>
            <p14:sldId id="270"/>
            <p14:sldId id="271"/>
            <p14:sldId id="272"/>
            <p14:sldId id="273"/>
            <p14:sldId id="274"/>
            <p14:sldId id="275"/>
            <p14:sldId id="276"/>
          </p14:sldIdLst>
        </p14:section>
        <p14:section name="1.3 La svolta generativa" id="{459ca879-aed3-9b80-c9a9-cb62f2b8ee27}">
          <p14:sldIdLst>
            <p14:sldId id="277"/>
            <p14:sldId id="278"/>
            <p14:sldId id="279"/>
            <p14:sldId id="280"/>
            <p14:sldId id="281"/>
            <p14:sldId id="282"/>
            <p14:sldId id="283"/>
          </p14:sldIdLst>
        </p14:section>
        <p14:section name="1.4 Digitalizzazione e AI" id="{c4ef0611-0434-b10b-f318-711774c6358d}">
          <p14:sldIdLst>
            <p14:sldId id="284"/>
            <p14:sldId id="285"/>
            <p14:sldId id="286"/>
            <p14:sldId id="287"/>
            <p14:sldId id="288"/>
          </p14:sldIdLst>
        </p14:section>
        <p14:section name="1.5 Rilevanza per le aziende" id="{14b034ed-0e5b-94cd-3012-954727620cb5}">
          <p14:sldIdLst>
            <p14:sldId id="289"/>
            <p14:sldId id="290"/>
            <p14:sldId id="291"/>
            <p14:sldId id="292"/>
            <p14:sldId id="293"/>
            <p14:sldId id="294"/>
            <p14:sldId id="295"/>
            <p14:sldId id="296"/>
            <p14:sldId id="297"/>
          </p14:sldIdLst>
        </p14:section>
        <p14:section name="1.6 Hype e realtà" id="{cfeaa56d-5b8e-1607-7ed7-a11c23e594d6}">
          <p14:sldIdLst>
            <p14:sldId id="298"/>
            <p14:sldId id="299"/>
            <p14:sldId id="300"/>
            <p14:sldId id="301"/>
            <p14:sldId id="302"/>
            <p14:sldId id="303"/>
            <p14:sldId id="304"/>
            <p14:sldId id="305"/>
            <p14:sldId id="306"/>
          </p14:sldIdLst>
        </p14:section>
        <p14:section name="Conclusioni" id="{3eeb4092-fb33-60d5-2fb7-09d26402cddd}">
          <p14:sldIdLst>
            <p14:sldId id="307"/>
            <p14:sldId id="308"/>
            <p14:sldId id="309"/>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Interesse e investimenti (indicativo)</c:v>
                </c:pt>
              </c:strCache>
            </c:strRef>
          </c:tx>
          <c:spPr>
            <a:solidFill>
              <a:srgbClr val="2E7D7A"/>
            </a:solidFill>
            <a:ln w="3810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Sheet1!$A$2:$A$12</c:f>
              <c:multiLvlStrCache>
                <c:ptCount val="11"/>
                <c:lvl>
                  <c:pt idx="0">
                    <c:v>1956</c:v>
                  </c:pt>
                  <c:pt idx="1">
                    <c:v>1965</c:v>
                  </c:pt>
                  <c:pt idx="2">
                    <c:v>1974</c:v>
                  </c:pt>
                  <c:pt idx="3">
                    <c:v>1980</c:v>
                  </c:pt>
                  <c:pt idx="4">
                    <c:v>1987</c:v>
                  </c:pt>
                  <c:pt idx="5">
                    <c:v>1993</c:v>
                  </c:pt>
                  <c:pt idx="6">
                    <c:v>2000</c:v>
                  </c:pt>
                  <c:pt idx="7">
                    <c:v>2012</c:v>
                  </c:pt>
                  <c:pt idx="8">
                    <c:v>2017</c:v>
                  </c:pt>
                  <c:pt idx="9">
                    <c:v>2022</c:v>
                  </c:pt>
                  <c:pt idx="10">
                    <c:v>Oggi</c:v>
                  </c:pt>
                </c:lvl>
              </c:multiLvlStrCache>
            </c:multiLvlStrRef>
          </c:cat>
          <c:val>
            <c:numRef>
              <c:f>Sheet1!$B$2:$B$12</c:f>
              <c:numCache>
                <c:formatCode>General</c:formatCode>
                <c:ptCount val="11"/>
                <c:pt idx="0">
                  <c:v>3</c:v>
                </c:pt>
                <c:pt idx="1">
                  <c:v>6</c:v>
                </c:pt>
                <c:pt idx="2">
                  <c:v>2</c:v>
                </c:pt>
                <c:pt idx="3">
                  <c:v>5</c:v>
                </c:pt>
                <c:pt idx="4">
                  <c:v>7.5</c:v>
                </c:pt>
                <c:pt idx="5">
                  <c:v>2.5</c:v>
                </c:pt>
                <c:pt idx="6">
                  <c:v>4</c:v>
                </c:pt>
                <c:pt idx="7">
                  <c:v>6</c:v>
                </c:pt>
                <c:pt idx="8">
                  <c:v>7.5</c:v>
                </c:pt>
                <c:pt idx="9">
                  <c:v>9.2</c:v>
                </c:pt>
                <c:pt idx="10">
                  <c:v>10</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D5D9DE"/>
            </a:solidFill>
            <a:prstDash val="solid"/>
            <a:round/>
          </a:ln>
        </c:spPr>
        <c:txPr>
          <a:bodyPr/>
          <a:lstStyle/>
          <a:p>
            <a:pPr>
              <a:defRPr sz="11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max val="11"/>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515C"/>
                </a:solidFill>
                <a:latin typeface="+mn-lt"/>
              </a:defRPr>
            </a:pPr>
            <a:r>
              <a:rPr sz="1300" b="0" i="0" u="none" strike="noStrike">
                <a:solidFill>
                  <a:srgbClr val="4A515C"/>
                </a:solidFill>
                <a:latin typeface="+mn-lt"/>
              </a:rPr>
              <a:t>Parametri, in miliardi</a:t>
            </a:r>
          </a:p>
        </c:rich>
      </c:tx>
      <c:layout/>
      <c:overlay val="0"/>
    </c:title>
    <c:autoTitleDeleted val="0"/>
    <c:plotArea>
      <c:layout/>
      <c:barChart>
        <c:barDir val="col"/>
        <c:grouping val="clustered"/>
        <c:varyColors val="0"/>
        <c:ser>
          <c:idx val="0"/>
          <c:order val="0"/>
          <c:tx>
            <c:strRef>
              <c:f>Sheet1!$B$1</c:f>
              <c:strCache>
                <c:ptCount val="1"/>
                <c:pt idx="0">
                  <c:v>Parametri (miliardi)</c:v>
                </c:pt>
              </c:strCache>
            </c:strRef>
          </c:tx>
          <c:spPr>
            <a:solidFill>
              <a:srgbClr val="8A939E"/>
            </a:solidFill>
            <a:effectLst/>
          </c:spPr>
          <c:invertIfNegative val="0"/>
          <c:dLbls>
            <c:numFmt formatCode="#,##0.0" sourceLinked="0"/>
            <c:txPr>
              <a:bodyPr/>
              <a:lstStyle/>
              <a:p>
                <a:pPr>
                  <a:defRPr b="0" i="0" strike="noStrike" sz="1400" u="none">
                    <a:solidFill>
                      <a:srgbClr val="22262B"/>
                    </a:solidFill>
                    <a:latin typeface="+mn-lt"/>
                  </a:defRPr>
                </a:pPr>
              </a:p>
            </c:txPr>
            <c:showLegendKey val="0"/>
            <c:showVal val="1"/>
            <c:showCatName val="0"/>
            <c:showSerName val="0"/>
            <c:showPercent val="0"/>
            <c:showBubbleSize val="0"/>
            <c:showLeaderLines val="0"/>
          </c:dLbls>
          <c:dPt>
            <c:idx val="0"/>
            <c:invertIfNegative val="0"/>
            <c:bubble3D val="0"/>
            <c:spPr>
              <a:solidFill>
                <a:srgbClr val="8A939E"/>
              </a:solidFill>
              <a:effectLst/>
            </c:spPr>
          </c:dPt>
          <c:dPt>
            <c:idx val="1"/>
            <c:invertIfNegative val="0"/>
            <c:bubble3D val="0"/>
            <c:spPr>
              <a:solidFill>
                <a:srgbClr val="2E7D7A"/>
              </a:solidFill>
              <a:effectLst/>
            </c:spPr>
          </c:dPt>
          <c:cat>
            <c:multiLvlStrRef>
              <c:f>Sheet1!$A$2:$A$3</c:f>
              <c:multiLvlStrCache>
                <c:ptCount val="2"/>
                <c:lvl>
                  <c:pt idx="0">
                    <c:v>GPT-2 (2019)</c:v>
                  </c:pt>
                  <c:pt idx="1">
                    <c:v>GPT-3 (2020)</c:v>
                  </c:pt>
                </c:lvl>
              </c:multiLvlStrCache>
            </c:multiLvlStrRef>
          </c:cat>
          <c:val>
            <c:numRef>
              <c:f>Sheet1!$B$2:$B$3</c:f>
              <c:numCache>
                <c:formatCode>General</c:formatCode>
                <c:ptCount val="2"/>
                <c:pt idx="0">
                  <c:v>1.5</c:v>
                </c:pt>
                <c:pt idx="1">
                  <c:v>175</c:v>
                </c:pt>
              </c:numCache>
            </c:numRef>
          </c:val>
        </c:ser>
        <c:dLbls>
          <c:numFmt formatCode="#,##0.0" sourceLinked="0"/>
          <c:txPr>
            <a:bodyPr/>
            <a:lstStyle/>
            <a:p>
              <a:pPr>
                <a:defRPr b="0" i="0" strike="noStrike" sz="1400" u="none">
                  <a:solidFill>
                    <a:srgbClr val="2226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15C"/>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Aspettative</c:v>
                </c:pt>
              </c:strCache>
            </c:strRef>
          </c:tx>
          <c:spPr>
            <a:solidFill>
              <a:srgbClr val="2E7D7A"/>
            </a:solidFill>
            <a:ln w="38100" cap="flat">
              <a:solidFill>
                <a:srgbClr val="2E7D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D7A"/>
              </a:solidFill>
              <a:ln w="9525" cap="flat">
                <a:solidFill>
                  <a:srgbClr val="2E7D7A"/>
                </a:solidFill>
                <a:prstDash val="solid"/>
                <a:round/>
              </a:ln>
              <a:effectLst/>
            </c:spPr>
          </c:marker>
          <c:cat>
            <c:multiLvlStrRef>
              <c:f>Sheet1!$A$2:$A$16</c:f>
              <c:multiLvlStrCache>
                <c:ptCount val="15"/>
                <c:lvl>
                  <c:pt idx="0">
                    <c:v/>
                  </c:pt>
                  <c:pt idx="1">
                    <c:v/>
                  </c:pt>
                  <c:pt idx="2">
                    <c:v/>
                  </c:pt>
                  <c:pt idx="3">
                    <c:v/>
                  </c:pt>
                  <c:pt idx="4">
                    <c:v/>
                  </c:pt>
                  <c:pt idx="5">
                    <c:v/>
                  </c:pt>
                  <c:pt idx="6">
                    <c:v/>
                  </c:pt>
                  <c:pt idx="7">
                    <c:v/>
                  </c:pt>
                  <c:pt idx="8">
                    <c:v/>
                  </c:pt>
                  <c:pt idx="9">
                    <c:v/>
                  </c:pt>
                  <c:pt idx="10">
                    <c:v/>
                  </c:pt>
                  <c:pt idx="11">
                    <c:v/>
                  </c:pt>
                  <c:pt idx="12">
                    <c:v/>
                  </c:pt>
                  <c:pt idx="13">
                    <c:v/>
                  </c:pt>
                  <c:pt idx="14">
                    <c:v/>
                  </c:pt>
                </c:lvl>
              </c:multiLvlStrCache>
            </c:multiLvlStrRef>
          </c:cat>
          <c:val>
            <c:numRef>
              <c:f>Sheet1!$B$2:$B$16</c:f>
              <c:numCache>
                <c:formatCode>General</c:formatCode>
                <c:ptCount val="15"/>
                <c:pt idx="0">
                  <c:v>0.5</c:v>
                </c:pt>
                <c:pt idx="1">
                  <c:v>2.5</c:v>
                </c:pt>
                <c:pt idx="2">
                  <c:v>6</c:v>
                </c:pt>
                <c:pt idx="3">
                  <c:v>9.5</c:v>
                </c:pt>
                <c:pt idx="4">
                  <c:v>8</c:v>
                </c:pt>
                <c:pt idx="5">
                  <c:v>5</c:v>
                </c:pt>
                <c:pt idx="6">
                  <c:v>2.6</c:v>
                </c:pt>
                <c:pt idx="7">
                  <c:v>2.2</c:v>
                </c:pt>
                <c:pt idx="8">
                  <c:v>3</c:v>
                </c:pt>
                <c:pt idx="9">
                  <c:v>4</c:v>
                </c:pt>
                <c:pt idx="10">
                  <c:v>4.8</c:v>
                </c:pt>
                <c:pt idx="11">
                  <c:v>5.4</c:v>
                </c:pt>
                <c:pt idx="12">
                  <c:v>5.8</c:v>
                </c:pt>
                <c:pt idx="13">
                  <c:v>6</c:v>
                </c:pt>
                <c:pt idx="14">
                  <c:v>6.1</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5"/>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Benvenuti al primo tema del percorso di AI Literacy. In questo modulo non entreremo ancora nel funzionamento tecnico dei sistemi di Intelligenza Artificiale: quello sarà l'oggetto del Tema 2. Qui costruiamo il quadro di riferimento: da dove arriva l'AI, perché proprio negli ultimi anni è diventata così centrale, che cosa è cambiato con l'AI generativa e perché questa evoluzione riguarda da vicino anche la nostra azienda. Il filo conduttore del modulo è un equilibrio: da un lato riconoscere che si tratta di un'evoluzione tecnologica significativa, dall'altro sviluppare uno sguardo critico, che distingua il potenziale della tecnologia dal valore che effettivamente si riesce a realizzare. Suggerimento per l'apertura: chiedere ai partecipanti di indicare con una parola che cosa associano oggi al termine 'Intelligenza Artificiale'. Le risposte (entusiasmo, timore, curiosità, scetticismo) sono un ottimo punto di partenza e potranno essere riprese nella sezione su hype e realtà.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L'obiettivo formativo del tema è triplice: capire come si è evoluta l'AI, capire perché ha assunto un ruolo centrale proprio ora e capire quali cambiamenti può introdurre nelle attività delle persone e delle organizzazioni. Accanto all'obiettivo di conoscenza c'è un obiettivo di consapevolezza, che è forse il più importante. L'AI è un'evoluzione tecnologica significativa, ma il suo impatto non è automatico: non si produce da solo per il solo fatto che la tecnologia esiste. Non è uniforme: alcune attività, persone e organizzazioni ne beneficiano molto, altre poco o per niente. E non è necessariamente positivo: dipende da come la tecnologia viene scelta, inserita nei processi e governata. In altre parole, il risultato dipende da tre elementi: le capacità della tecnologia, il contesto in cui viene usata e le scelte delle persone. Questo messaggio tornerà più volte nel corso del modulo.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Queste sei domande accompagnano tutto il modulo e ne rappresentano la struttura logica. Le prime due riguardano la storia e il contesto: perché se ne parla tanto, e se si tratta davvero di qualcosa di nuovo. La terza riguarda la svolta dell'AI generativa. La quarta chiarisce in che cosa l'AI si differenzia dalle tecnologie digitali che già conosciamo. Le ultime due portano il discorso in azienda: perché ci riguarda e quali aspettative sono ragionevoli. Suggerimento: leggere le domande ad alta voce e chiedere ai partecipanti quale ritengono la più importante per il proprio lavoro. Alla fine del modulo torneremo su queste stesse domande con una risposta sintetica per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modulo è organizzato in sei sottotemi. I primi due (storia ed evoluzione, fattori dell'accelerazione) servono a contestualizzare: li tratteremo con una profondità media, senza entrare in cronologie storiche dettagliate. Gli ultimi quattro sono quelli a priorità alta: la svolta dell'AI generativa, la distinzione tra digitalizzazione, automazione e AI, la rilevanza per le aziende e infine il confronto tra hype e realtà. Precisare fin da subito i confini: in questo modulo non spiegheremo come funzionano tecnicamente i modelli linguistici (Tema 2), non analizzeremo in dettaglio errori, allucinazioni e bias (Tema 3), non confronteremo prodotti e piattaforme specifiche (Tema 4) e non entreremo nei casi d'uso delle singole funzioni aziendali o nella valutazione del ROI. Quando questi argomenti emergono, possiamo anticiparli con un esempio e rimandarli al tema dedicato.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Apriamo il primo sottotema. L'obiettivo non è fare una lezione di storia, ma smontare un'idea molto diffusa: che l'Intelligenza Artificiale sia nata con ChatGPT alla fine del 2022. In realtà l'AI ha una storia di oltre settant'anni, fatta di approcci diversi, di periodi di grande entusiasmo e di fasi di disillusione. Conoscere questa traiettoria aiuta a leggere il presente con più equilibrio: molte delle promesse e dei timori di oggi sono già stati formulati in passato. Domanda da porre al gruppo: secondo voi, quando è nata l'Intelligenza Artificiale? Raccogliere le risposte prima di mostrare la slide successiva.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radici dell'AI risalgono agli anni Cinquanta. Nel 1950 il matematico britannico Alan Turing pubblica l'articolo 'Computing Machinery and Intelligence', in cui si chiede se le macchine possano pensare e propone quello che diventerà noto come test di Turing: invece di definire che cosa sia il pensiero, propone di verificare se una macchina riesce a sostenere una conversazione in modo indistinguibile da una persona. Nel 1956, al Dartmouth College negli Stati Uniti, un gruppo di ricercatori tra cui John McCarthy, Marvin Minsky, Claude Shannon e Nathaniel Rochester organizza un seminario estivo: nella proposta del progetto compare per la prima volta l'espressione 'Artificial Intelligence'. L'ipotesi di partenza era molto ambiziosa: che ogni aspetto dell'apprendimento e dell'intelligenza potesse, in linea di principio, essere descritto in modo così preciso da poter essere simulato da una macchina. Questa ambizione iniziale spiega anche le aspettative molto alte, e in parte deluse, dei decenni successivi. Curiosità utile: il test di Turing ruota attorno al linguaggio, lo stesso terreno su cui oggi l'AI generativa ha raggiunto la massima visibilità.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linea del tempo serve a dare un colpo d'occhio sull'intera traiettoria, senza entrare nei dettagli. 1950: Turing pone la domanda sulle macchine pensanti. 1956: il seminario di Dartmouth dà il nome alla disciplina. 1958: Frank Rosenblatt presenta il perceptron, uno dei primi modelli di neurone artificiale, antenato lontano delle reti neurali di oggi. Anni Settanta e Ottanta: si diffondono i sistemi esperti, che codificano la conoscenza di specialisti in regole. 1997: il computer Deep Blue di IBM batte il campione del mondo di scacchi Garry Kasparov, un traguardo simbolico raggiunto però con un sistema altamente specializzato. 2012: una rete neurale profonda (AlexNet) vince nettamente una competizione di riconoscimento delle immagini basata sul dataset ImageNet, segnando la svolta del deep learning. 2017: ricercatori di Google pubblicano l'architettura Transformer, alla base dei moderni modelli linguistici. 2022: il lancio pubblico di ChatGPT porta l'AI generativa al grande pubblico. Messaggio: ciò che vediamo oggi è l'ultimo tratto di una lunga strada.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i primi decenni l'approccio dominante è stato quello dell'AI simbolica, detta anche AI basata su regole. L'idea è semplice: se un esperto sa risolvere un problema, possiamo intervistarlo, tradurre la sua conoscenza in regole esplicite del tipo 'se si verifica questa condizione, allora fai quest'altra cosa' e affidarle a un computer. Negli anni Settanta e Ottanta questo approccio ha prodotto i sistemi esperti, impiegati per esempio nella diagnosi medica (il sistema MYCIN, sviluppato a Stanford, suggeriva terapie antibiotiche) o nella configurazione di sistemi informatici. Punti di forza: il comportamento è trasparente e controllabile, perché si può sempre risalire alla regola che ha prodotto una decisione. Limiti: scrivere e mantenere migliaia di regole è costoso; i sistemi sono fragili quando incontrano situazioni non previste; e molta conoscenza umana è difficile da esplicitare. Pensate a quanto sarebbe difficile scrivere le regole per riconoscere un volto o per capire il tono di una email. Ancora oggi i sistemi a regole sono molto usati, per esempio nei motori di regole dei software gestionali: non sono un approccio superato, ma uno strumento adatto a certi problemi.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storia dell'AI non è stata una crescita lineare. Si sono alternate fasi di grande entusiasmo, con promesse ambiziose e forti investimenti, e fasi di disillusione, chiamate 'inverni dell'AI', in cui i finanziamenti e l'interesse sono crollati perché i risultati non erano all'altezza delle aspettative. Il primo inverno si colloca indicativamente a metà degli anni Settanta, dopo che le previsioni dei pionieri (macchine intelligenti come l'uomo entro pochi decenni) si erano rivelate irrealistiche. Il secondo arriva tra la fine degli anni Ottanta e l'inizio dei Novanta, quando i sistemi esperti si dimostrano costosi e difficili da mantenere. Dagli anni Novanta il Machine Learning riprende quota, e dal 2012 il deep learning avvia la fase di crescita attuale, accelerata ulteriormente nel 2022 dall'AI generativa. Precisare che il grafico è qualitativo: rappresenta l'andamento indicativo dell'interesse e degli investimenti, non una misura precisa. La lezione per noi: aspettative eccessive e delusioni fanno parte della storia di questa tecnologia. Ne riparleremo nel sottotema 1.6, dedicato a hype e realtà.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probabilmente la distinzione concettuale più importante del sottotema. Nella programmazione tradizionale, e nell'AI simbolica, sono le persone a scrivere le regole: il programmatore fornisce al computer regole e dati, e il computer produce le risposte. Con il Machine Learning il paradigma si inverte: forniamo al sistema moltissimi esempi, cioè dati accompagnati dalle risposte corrette, e il sistema ricava da solo le regolarità che collegano gli uni alle altre. Il risultato dell'addestramento è un modello, che possiamo poi usare su casi nuovi. Esempio concreto: per filtrare lo spam con le regole dovremmo elencare tutte le parole sospette e aggiornarle continuamente. Con il Machine Learning mostriamo al sistema migliaia di email già etichettate come spam o non spam, e il sistema impara a riconoscerle. Questo approccio funziona molto bene proprio dove le regole sono difficili da scrivere: riconoscere immagini, comprendere il linguaggio, prevedere comportamenti. Non approfondiamo qui il meccanismo dell'apprendimento: lo vedremo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Machine Learning e Deep Learning sono spesso usati come sinonimi, ma il secondo è un sottoinsieme del primo, che a sua volta è un sottoinsieme dell'AI. L'Intelligenza Artificiale è il campo più ampio: comprende qualsiasi tecnica che permetta a una macchina di svolgere compiti che associamo all'intelligenza, inclusi i sistemi a regole. Il Machine Learning comprende le tecniche in cui il sistema apprende dai dati invece di seguire regole scritte a mano; si diffonde soprattutto dagli anni Novanta in applicazioni come il filtro antispam, i sistemi di raccomandazione o la valutazione del rischio di credito. Il Deep Learning usa reti neurali artificiali con molti strati (da qui 'profondo'), capaci di apprendere direttamente da dati grezzi come immagini, suoni e testi. Le reti neurali esistevano da decenni, ma è attorno al 2012 che, grazie a più dati e più potenza di calcolo, iniziano a superare nettamente gli altri approcci, prima nel riconoscimento delle immagini e poi nel riconoscimento vocale e nella traduzione automatica. L'AI generativa di oggi è costruita su questa base. Il Tema 2 approfondirà queste categorie e la loro classificazione.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Fino a pochi anni fa la quasi totalità dei sistemi AI era specializzata: un modello addestrato per un compito preciso, come riconoscere difetti su una linea di produzione, prevedere la domanda di un prodotto o filtrare lo spam. Ciascuno richiedeva dati specifici, competenze tecniche e un progetto dedicato. Con l'AI generativa compare un nuovo tipo di sistema: modelli addestrati su enormi quantità di dati, capaci di svolgere molti compiti diversi (scrivere, riassumere, tradurre, analizzare, generare codice) e di essere guidati semplicemente con istruzioni in linguaggio naturale. Sono spesso chiamati modelli di base o modelli fondazionali, perché fanno da base per molte applicazioni. Attenzione però a due equivoci. Primo: l'AI specializzata non scompare, anzi resta la soluzione migliore per molti problemi aziendali. Secondo: la versatilità dei modelli generativi non equivale a un'intelligenza generale paragonabile a quella umana. L'AGI, l'intelligenza artificiale generale, è oggi un tema di dibattito e di ricerca, non una realtà acquisita; ne parleremo nel sottotema 1.6 e il concetto sarà definito meglio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il primo sottotema con il concetto chiave. Quello che oggi chiamiamo AI generativa è l'ultima fase di un percorso lungo oltre settant'anni, fatto di approcci diversi (regole, apprendimento dai dati, reti neurali profonde) e di cicli di entusiasmo e disillusione. Tre messaggi da fissare: primo, l'AI non è nuova, è nuova la sua diffusione; secondo, non esiste un solo tipo di AI, e approcci diversi convivono ancora oggi; terzo, la storia insegna che le aspettative vanno calibrate. Domanda di verifica: qualcuno sa indicare un sistema AI che usava già prima del 2022 senza saperlo? Esempi tipici: filtro antispam, suggerimenti di acquisto, navigatore, riconoscimento facciale dello smartphone, traduzione automatica.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l'AI esiste da decenni, perché la sua accelerazione è avvenuta proprio negli ultimi anni? La risposta non è una singola scoperta geniale, ma la convergenza di cinque fattori che sono maturati più o meno nello stesso periodo e si sono rafforzati a vicenda. È un po' come per lo smartphone: nessuno dei suoi componenti era una novità assoluta, ma la loro combinazione al momento giusto ha cambiato le abitudini di miliardi di persone.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i cinque fattori. La potenza di calcolo, grazie soprattutto ai processori grafici (GPU) e al cloud. I dati, resi disponibili in quantità enormi dalla digitalizzazione e da internet. Gli algoritmi e le architetture, migliorati in modo decisivo, con l'architettura Transformer del 2017 come tappa cruciale. I modelli di grandi dimensioni, resi possibili dalla combinazione dei tre fattori precedenti. Infine gli investimenti e le infrastrutture, cioè i capitali, i data center e gli ecosistemi industriali che hanno permesso di passare dalla ricerca ai prodotti. Il punto chiave è il rafforzamento reciproco: più dati richiedono più calcolo; più calcolo permette modelli più grandi; risultati migliori attirano più investimenti, che finanziano più calcolo. Nelle prossime slide vediamo brevemente ciascun fattore.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primo fattore è la potenza di calcolo. Addestrare una rete neurale significa eseguire un numero enorme di operazioni matematiche relativamente semplici, molte delle quali possono essere svolte in parallelo. Le GPU, i processori grafici nati per i videogiochi, si sono rivelate perfette per questo tipo di lavoro, e dal 2012 sono diventate lo strumento standard per il deep learning. Oggi esistono anche chip progettati appositamente per l'AI. Il cloud computing, poi, ha reso questa potenza accessibile a noleggio, senza dover acquistare e gestire infrastrutture proprie. Il dato in evidenza viene da Epoch AI, un istituto di ricerca che monitora l'evoluzione dei modelli: secondo le loro stime, la potenza di calcolo usata per addestrare i modelli di frontiera è cresciuta di circa 4-5 volte all'anno tra il 2010 e il 2024. Per dare un'idea: una crescita di 4 volte all'anno significa moltiplicare per circa mille in cinque anni. Fonte: Epoch AI, 'Training compute of frontier AI models grows by 4-5x per year', 2024. Trattandosi di una stima su un periodo storico, è bene non presentarla come previsione per il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secondo fattore sono i dati. Le tecniche di Machine Learning, e il deep learning in particolare, hanno bisogno di moltissimi esempi per apprendere. Negli ultimi vent'anni la digitalizzazione di quasi ogni attività ha prodotto una quantità di dati senza precedenti: pagine web, libri digitalizzati, foto e video condivisi, transazioni, dati di sensori e macchinari, documenti aziendali. Un esempio emblematico è ImageNet, un archivio di oltre 14 milioni di immagini etichettate a mano, avviato da ricercatori di Princeton e Stanford alla fine degli anni Duemila: proprio la competizione basata su ImageNet ha mostrato nel 2012 la superiorità del deep learning. I modelli linguistici attuali sono addestrati su quantità di testo enormemente superiori. Un messaggio da collegare all'azienda: i dati sono un ingrediente essenziale, ma non basta averne tanti. Contano qualità, pertinenza, rappresentatività e la possibilità legittima di usarli. Il tema dei dati aziendali sarà approfondito in un modulo dedicato.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terzo fattore riguarda gli algoritmi, cioè i metodi con cui i modelli apprendono, e le architetture, cioè il modo in cui sono strutturati. Alcune tappe significative. Nel 1986 un articolo di Rumelhart, Hinton e Williams rende popolare la retropropagazione dell'errore (backpropagation), il metodo che ancora oggi permette di addestrare le reti neurali. Negli anni successivi si affermano le reti convoluzionali, particolarmente adatte alle immagini. Nel 2017 un gruppo di ricercatori di Google pubblica l'articolo 'Attention Is All You Need', che introduce l'architettura Transformer: un modo di elaborare il testo che considera le relazioni tra tutte le parole di una frase e che si presta molto bene al calcolo parallelo su larga scala. È la base di quasi tutti i grandi modelli linguistici attuali. Infine, attorno al 2022, si diffondono tecniche di addestramento che usano il feedback umano per rendere i modelli più capaci di seguire istruzioni e di conversare in modo utile. Non serve ricordare i nomi tecnici: il messaggio è che i progressi nei metodi sono stati importanti quanto quelli nell'hardware. Il funzionamento del Transformer sarà ripreso, a livello concettuale,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quarto fattore è la scala. Combinando più calcolo, più dati e architetture efficienti, è diventato possibile addestrare modelli sempre più grandi. La dimensione di un modello si misura spesso in parametri, cioè i valori numerici che il modello regola durante l'addestramento (il concetto verrà spiegato nel Tema 2). Un esempio della crescita: GPT-2, presentato da OpenAI nel 2019, aveva circa 1,5 miliardi di parametri; GPT-3, l'anno successivo, ne aveva 175 miliardi, oltre cento volte di più. Le ricerche sulle cosiddette 'leggi di scala', pubblicate a partire dal 2020, hanno mostrato che aumentando insieme dimensioni del modello, dati e calcolo le prestazioni tendono a migliorare in modo relativamente prevedibile. Questo ha incoraggiato investimenti crescenti. Due precisazioni importanti: primo, più grande non significa automaticamente migliore per ogni uso, e oggi esistono anche modelli più piccoli ed efficienti, adatti a compiti specifici; secondo, molti produttori non rendono più pubbliche le dimensioni dei loro modelli più recenti, quindi i numeri vanno usati solo come illustrazione della tendenza.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quinto fattore è economico e industriale. Addestrare e far funzionare i grandi modelli richiede capitali ingenti: data center, chip, energia, competenze specialistiche. Negli ultimi anni le grandi aziende tecnologiche e numerose startup hanno investito somme molto elevate, e attorno all'AI è nato un intero ecosistema: produttori di chip, fornitori di cloud, sviluppatori di modelli, aziende che costruiscono applicazioni sopra i modelli, consulenti e integratori. Un aspetto importante per le aziende utenti: grazie a questo ecosistema, le capacità AI arrivano sotto forma di servizi pronti, accessibili via abbonamento o tramite API, cioè interfacce che permettono ai software di comunicare tra loro, senza dover costruire nulla da zero. Evitare in aula di citare cifre puntuali sugli investimenti, che cambiano molto rapidamente: se servono numeri aggiornati, verificarli poco prima della sessione. Va anche ricordato che l'infrastruttura dell'AI ha costi e impatti rilevanti, per esempio in termini di consumo energetico: è un tema emergente da tenere presente.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Calcolo, dati, algoritmi, scala dei modelli e investimenti sono maturati insieme e si sono alimentati a vicenda. Nessuno di questi fattori, da solo, avrebbe prodotto l'accelerazione che osserviamo. Questa lettura ha una conseguenza pratica: poiché l'evoluzione dipende da più fattori, anche il suo ritmo futuro dipende da come questi evolveranno (disponibilità di dati di qualità, costi dell'energia e del calcolo, nuove scoperte nei metodi, sostenibilità degli investimenti). Per questo, come vedremo nel sottotema 1.6, è prudente distinguere ciò che è osservabile oggi dalle previsioni sul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Entriamo in uno dei sottotemi a priorità alta. L'AI generativa non ha soltanto aggiunto nuove capacità tecniche: ha cambiato chi può usare l'AI e come. Fino a pochi anni fa l'AI era qualcosa che lavorava dietro le quinte, progettato da specialisti. Oggi chiunque può interagire direttamente con un sistema AI scrivendo una frase. È questa combinazione di nuove capacità e accessibilità che spiega la centralità attuale del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 parte dell'AI tradizionale svolge compiti di analisi: classifica (questa email è spam o no? questo pezzo è difettoso o no?) oppure prevede (quanto venderemo il mese prossimo? qual è la probabilità che questo cliente abbandoni il servizio?). L'output è un'etichetta, un numero, una probabilità. L'AI generativa produce invece contenuti nuovi: un testo, un'immagine, un frammento di codice, una sintesi, una traduzione. Contenuti che non esistevano prima nella forma in cui vengono prodotti, anche se derivano da ciò che il modello ha appreso. È importante sottolineare che le due famiglie non sono in competizione: in azienda convivono e spesso si combinano. Un sistema predittivo può individuare i clienti a rischio di abbandono, e un sistema generativo può aiutare a preparare un messaggio personalizzato per ciascuno di loro, che una persona poi verifica. La classificazione più precisa tra AI predittiva, discriminativa e generativa sarà affrontata nel Tema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cuore della svolta. La storia dell'informatica può essere letta anche come una storia delle interfacce, cioè di come le persone comunicano con i computer. All'inizio servivano comandi testuali precisi, da imparare a memoria. Poi le interfacce grafiche, con finestre, icone e mouse, hanno reso il computer accessibile a milioni di persone. Gli schermi touch e le app hanno fatto lo stesso con gli smartphone. Con l'AI generativa l'interfaccia diventa il linguaggio naturale: possiamo chiedere ciò che ci serve con parole nostre, in italiano, senza conoscere comandi o linguaggi di programmazione, e possiamo correggere e affinare la richiesta come in una conversazione. Questo abbassa drasticamente la barriera d'ingresso. Attenzione però: scrivere in linguaggio naturale è facile, scrivere richieste efficaci è una competenza che si impara. Le tecniche per interagire bene con l'AI saranno oggetto di moduli dedicati.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30 novembre 2022 OpenAI rende disponibile al pubblico ChatGPT. Nel giro di poche settimane il servizio raggiunge milioni di utenti; secondo stime riportate all'epoca dalla stampa (analisi di UBS citata da Reuters, febbraio 2023), circa 100 milioni di utenti mensili in due mesi, un ritmo di adozione mai visto prima per un'applicazione consumer. Nei mesi e negli anni successivi altri sviluppatori hanno lanciato i propri assistenti, e le funzioni di AI generativa sono state integrate nei software di uso quotidiano: suite di produttività, motori di ricerca, sistemi operativi, strumenti di sviluppo, CRM. Oggi l'AI generativa arriva quindi in tre forme principali: assistenti conversazionali a cui ci si rivolge direttamente; funzioni AI integrate negli strumenti che già usiamo; e servizi accessibili via API, che le aziende incorporano nei propri sistemi. Non ci soffermiamo sui singoli prodotti: il confronto tra modelli e piattaforme è oggetto del Tema 4. Se necessario, aggiornare i riferimenti alla situazione del mercato al momento della sessione.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generativa non si limita al testo. Oggi esistono sistemi in grado di generare testi (email, report, sintesi, traduzioni), immagini a partire da una descrizione, codice informatico, audio e voce sintetica, video, e di lavorare su dati strutturati come tabelle e fogli di calcolo. Molti sistemi sono multimodali, cioè capaci di ricevere e produrre più tipi di contenuto: per esempio descrivere una fotografia, leggere un grafico o trasformare una registrazione in un verbale. È utile far notare che la maturità non è la stessa per tutti i tipi di contenuto, e che qualità e affidabilità variano a seconda del compito: lo vedremo nel sottotema 1.6 e lo approfondiremo nel Tema 3. Domanda per il gruppo: quali di questi tipi di contenuto producete più spesso nel vostro lavoro quotidiano?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forse il cambiamento più rilevante dal punto di vista organizzativo. Prima dell'AI generativa, per usare l'AI in azienda servivano tipicamente un progetto dedicato, un team di data scientist, dati preparati ad hoc e mesi di sviluppo; gli utenti finali beneficiavano dei risultati, ma non interagivano direttamente con la tecnologia. Oggi qualunque collaboratore, senza competenze informatiche specialistiche, può usare direttamente capacità AI nel proprio lavoro: per scrivere, sintetizzare, analizzare, preparare una presentazione. Questa democratizzazione ha due facce. È un'opportunità, perché moltiplica le persone e le attività che possono beneficiare dell'AI e fa nascere idee di utilizzo dal basso. Ma porta anche nuove responsabilità: se tutti possono usare l'AI, tutti devono saperla usare in modo consapevole, sapere quali dati condividere e come verificare i risultati. Ed è esattamente la ragione per cui esiste questo percorso di AI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Fissiamo il concetto chiave. La svolta dell'AI generativa ha due componenti: nuove capacità, cioè la generazione di contenuti, e una nuova accessibilità, grazie al linguaggio naturale come interfaccia. È la seconda componente a spiegare soprattutto perché l'AI è diventata un tema per tutti e non solo per gli specialisti. Domanda di verifica: nel vostro lavoro, quali attività svolgete oggi che, almeno in parte, potrebbero essere supportate da un assistente AI? Prendere nota delle risposte senza approfondire: i casi d'uso specifici delle funzioni aziendali saranno trattati in moduli successivi.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altro sottotema ad alta priorità. Nel linguaggio comune, e talvolta anche nel marketing dei fornitori, digitalizzazione, automazione e AI vengono spesso confusi. Chiarire le differenze ci aiuta a capire che cosa è davvero nuovo nell'AI, a valutare meglio le proposte che riceviamo e a riconoscere che spesso la soluzione migliore a un problema non è l'AI, ma una buona digitalizzazione o una semplice automazione.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Possiamo descrivere l'evoluzione come quattro passaggi successivi, ciascuno dei quali si appoggia al precedente. Primo, la digitalizzazione: trasformare le informazioni in formato digitale, per esempio passare dalla carta ai documenti elettronici, dagli archivi fisici ai database. Secondo, l'automazione basata su regole: far eseguire al software attività ripetitive secondo regole definite da persone, come inviare automaticamente un sollecito quando una fattura scade. Terzo, i sistemi che apprendono dai dati: il Machine Learning, che ricava le regole dagli esempi e permette di classificare o prevedere. Quarto, l'AI generativa: sistemi che generano, analizzano e trasformano informazioni, anche non strutturate come testi e immagini. Un punto fondamentale: ogni passaggio presuppone i precedenti. Senza dati digitali non c'è automazione, e senza dati di qualità non c'è AI utile. Molte aziende che desiderano 'fare AI' scoprono di dover prima consolidare digitalizzazione e qualità dei dati.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Vediamo come i quattro passaggi possono coesistere nello stesso processo aziendale, usando un esempio semplice: la gestione delle email che i clienti inviano all'assistenza. Digitalizzazione: le email arrivano in una casella condivisa e vengono registrate nel CRM, con lo storico di ogni cliente consultabile. Automazione a regole: una regola invia subito una conferma di ricezione e inoltra all'amministrazione tutte le richieste provenienti da un determinato indirizzo o con determinate parole nell'oggetto. Apprendimento dai dati: un modello addestrato sulle richieste passate classifica ogni nuova email per categoria e urgenza, anche quando non contiene le parole previste dalle regole. AI generativa: un assistente riassume la richiesta, recupera le informazioni pertinenti e propone una bozza di risposta, che l'operatore controlla, modifica e invia. Il messaggio è che non si tratta di alternative: ciascuna tecnologia fa ciò che sa fare meglio. E la persona resta nel processo, con un ruolo diverso. Suggerimento: chiedere ai partecipanti di individuare i quattro livelli in un processo che conoscono bene.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una distinzione concettuale che useremo molto nel resto del percorso. Il software tradizionale è deterministico: a parità di input, produce sempre lo stesso output, perché segue istruzioni precise scritte da programmatori. Se una calcolatrice sbaglia, c'è un errore nel programma, che può essere trovato e corretto. I sistemi AI basati sull'apprendimento, e in particolare quelli generativi, sono invece probabilistici: producono l'output più plausibile in base a ciò che hanno appreso e al contesto. Questo significa che possono produrre risposte diverse alla stessa domanda e che possono sbagliare anche quando funzionano 'correttamente', perché un risultato plausibile non è necessariamente un risultato vero. La conseguenza pratica è importante: con il software deterministico ci si può fidare del risultato una volta collaudato il programma; con i sistemi probabilistici occorre una verifica proporzionata all'importanza del risultato. Restiamo a livello generale: il meccanismo della variabilità sarà spiegato nel Tema 2 e le cause degli errori nel Tema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 sottotema. Tre implicazioni pratiche. Primo: non ogni problema richiede l'AI; spesso una buona digitalizzazione o una semplice regola automatica sono la soluzione più economica e affidabile. Secondo: l'AI ha bisogno delle basi, cioè informazioni digitali e dati di qualità. Terzo: la natura probabilistica dei sistemi AI cambia il modo in cui dobbiamo trattarne i risultati, introducendo la necessità di verifica. Domanda di verifica: quando una proposta viene presentata come 'soluzione AI', quali domande potremmo fare per capire se si tratta davvero di AI o di automazione tradizionale?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Arriviamo alla domanda più vicina all'esperienza dei partecipanti: perché tutto questo riguarda la nostra azienda? In questo sottotema vediamo perché l'AI è considerata una tecnologia trasversale, quali effetti potenziali può avere su produttività, qualità e innovazione, come cambia il lavoro e quali implicazioni competitive comporta. Chiuderemo con una distinzione decisiva: quella tra potenziale tecnologico e valore effettivamente realizzato. Ricordare che non entreremo nei casi d'uso specifici di ciascuna funzione né nei metodi di calcolo del ROI, trattati in altri moduli.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differenza di molte tecnologie che riguardano una sola funzione (pensiamo a un software di contabilità o a un sistema di gestione del magazzino), l'AI, e in particolare l'AI generativa, tocca potenzialmente tutte le funzioni, perché quasi tutte lavorano con informazioni, testi, dati e comunicazione. In questa slide ci sono solo esempi indicativi, citati per dare un'idea dell'ampiezza: marketing e comunicazione per la produzione di contenuti; vendite per la preparazione degli incontri e delle offerte; assistenza clienti per lo smistamento e le risposte; risorse umane per gli annunci e la formazione; amministrazione e finanza per l'elaborazione dei documenti; operations e produzione per la manutenzione predittiva e il controllo qualità; IT per lo sviluppo e il supporto; legale e compliance per l'analisi preliminare dei documenti. Non approfondire i singoli casi, che saranno trattati in moduli dedicati. Il messaggio è l'ampiezza: proprio perché è trasversale, l'AI richiede consapevolezza diffusa e non solo competenze in un singolo reparto.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è spesso descritta come una tecnologia abilitante, o di uso generale, come lo sono state in passato l'elettricità o internet. Una tecnologia abilitante non è un prodotto in sé, ma una capacità che può essere incorporata in molti contesti diversi, rendendo possibili cose nuove o facendo meglio quelle esistenti. Per l'AI questo vale su quattro piani. Nelle funzioni: supporta il lavoro delle persone nelle diverse aree aziendali, come abbiamo visto. Nei prodotti: può essere incorporata in ciò che l'azienda vende, per esempio un macchinario che segnala in anticipo i propri guasti o un software con funzioni intelligenti. Nei servizi: può cambiare il modo in cui l'azienda serve i clienti, per esempio con un'assistenza disponibile in qualsiasi orario per le richieste più semplici. Nei processi: può ridisegnare il modo in cui il lavoro viene organizzato, non solo velocizzare singoli compiti. Il paragone con l'elettricità è utile anche per un altro motivo: i benefici economici delle grandi tecnologie abilitanti si sono manifestati pienamente solo quando le organizzazioni hanno ripensato i propri processi, e questo ha richiesto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elemento che rende l'AI particolarmente rilevante per le aziende di ogni dimensione è il modo in cui oggi è disponibile. Fino a pochi anni fa, adottare l'AI richiedeva di sviluppare modelli propri, con team specializzati e investimenti significativi: una strada percorribile soprattutto dalle grandi organizzazioni. Oggi le capacità AI sono accessibili tramite strumenti commerciali: assistenti disponibili in abbonamento, funzioni AI integrate nei software già in uso, servizi accessibili via API da collegare ai propri sistemi. Questo abbassa le barriere d'ingresso anche per le piccole e medie imprese. Ma accessibile non significa privo di scelte: bisogna decidere quali strumenti adottare, con quali regole d'uso, come proteggere i dati, come formare le persone e come integrare gli strumenti nei processi. Facilità di accesso significa anche rischio di adozione disordinata, per esempio con collaboratori che usano strumenti non autorizzati inserendo dati aziendali. Il confronto tra prodotti e piattaforme è oggetto del Tema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può produrre effetti su tre dimensioni principali. Produttività: svolgere certe attività in meno tempo, per esempio una prima bozza di documento o la sintesi di materiali lunghi. Qualità: migliorare l'output, per esempio con testi più chiari, controlli più sistematici, analisi più complete. Innovazione: rendere possibili cose prima non praticabili, come nuovi servizi o l'esplorazione rapida di molte alternative. Sottolineare la parola 'potenziali'. Un esempio di evidenza empirica: lo studio di Erik Brynjolfsson, Danielle Li e Lindsey Raymond (NBER, 2023), condotto su oltre 5.000 operatori di assistenza clienti di un'azienda di software, ha rilevato che l'introduzione di un assistente basato su AI generativa ha aumentato in media del 14% il numero di problemi risolti per ora. L'aumento è stato del 34% per gli operatori meno esperti, mentre per i più esperti l'effetto è stato minimo. È un risultato interessante perché mostra due cose: i benefici possono essere reali e misurabili, ma non sono uguali per tutti. È un singolo studio in un contesto specifico: non va generalizzato automaticamente ad altri contesti. Fonte: Brynjolfsson, Li, Raymond, 'Generative AI at Work', NBER Working Paper 31161,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L'impatto dell'AI sul lavoro è uno dei temi che generano più preoccupazioni, ed è giusto affrontarlo con equilibrio. Un primo concetto utile: l'AI agisce soprattutto sulle singole attività, più che sui ruoli nel loro complesso. Un ruolo è fatto di molte attività diverse: alcune possono essere automatizzate, altre supportate dall'AI, altre restano essenzialmente umane, come le relazioni, il giudizio in situazioni complesse e la responsabilità delle decisioni. Un secondo concetto: in molti casi l'AI aumenta le capacità delle persone invece di sostituirle; la persona resta responsabile del risultato, ma cambia il modo in cui lavora. Questo sposta il valore verso competenze come saper formulare bene un problema, valutare criticamente un output, integrare l'AI nel proprio flusso di lavoro e mantenere le competenze di dominio necessarie per accorgersi degli errori. È onesto riconoscere che gli effetti complessivi sull'occupazione sono ancora oggetto di studio e dibattito, e che alcune attività e professioni potranno essere trasformate in modo significativo. Evitare in aula sia rassicurazioni assolute sia scenari catastrofici.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ha anche implicazioni competitive, che è bene considerare senza enfasi eccessiva. Primo: quando una capacità diventa ampiamente disponibile, il suo uso tende a diventare uno standard. Se tutti i concorrenti usano l'AI per rispondere più rapidamente ai clienti, non usarla può diventare uno svantaggio, mentre usarla non è più di per sé un vantaggio. Secondo: il vantaggio duraturo raramente deriva dallo strumento in sé, che è accessibile a tutti, ma da ciò che è specifico dell'azienda: la conoscenza del proprio mercato, la qualità dei propri dati, i processi, le competenze delle persone e la capacità di imparare in fretta. Terzo: possono cambiare le aspettative dei clienti, per esempio sui tempi di risposta o sulla personalizzazione. Quarto: l'AI può abbassare le barriere d'ingresso in alcuni settori, favorendo nuovi concorrenti. Restiamo a livello di consapevolezza: le valutazioni strategiche e organizzative sono oggetto di altri moduli. Domanda per il gruppo: nel nostro settore, quali di queste dinamiche vediamo già?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è la slide più importante del sottotema. Il potenziale tecnologico è ciò che l'AI potrebbe fare; il valore realizzato è il beneficio che l'azienda ottiene davvero. Tra i due c'è un percorso con diversi passaggi, e a ciascuno corrisponde un possibile ostacolo. Prima di tutto bisogna individuare un problema reale da risolvere, non adottare l'AI per moda: molti progetti partono dalla tecnologia e cercano poi un problema. Poi la soluzione va integrata nei processi, con dati adeguati e strumenti compatibili. Quindi deve essere adottata dalle persone, che devono sapere come usarla, fidarsi il giusto e trovarla utile. Infine il valore va misurato, confrontando i risultati con la situazione di partenza e tenendo conto anche dei costi, compreso il tempo necessario per verificare gli output. A ogni passaggio parte del potenziale può andare perso: per questo è frequente che le iniziative AI producano meno valore di quanto ci si aspettasse. Non entriamo nei metodi di valutazione del ROI, oggetto di un modulo dedicato: qui ci interessa la consapevolezza della distanza tra potenziale e valore.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L'AI è rilevante per le aziende perché è trasversale, abilitante e oggi facilmente accessibile. Ma la rilevanza non coincide con il valore: il valore nasce quando l'AI viene applicata in modo appropriato a problemi reali, integrata nei processi, adottata dalle persone e misurata. Domanda di verifica: pensando alla nostra azienda, qual è un problema concreto, non una tecnologia, che varrebbe la pena esplorare? Raccogliere gli spunti: potranno essere ripresi nei moduli sui casi d'uso.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Ultimo sottotema, a priorità alta. Dopo aver visto l'evoluzione, i fattori, la svolta generativa e la rilevanza per le aziende, è il momento di sviluppare uno strumento indispensabile: il giudizio critico. Attorno all'AI circolano promesse entusiastiche e timori catastrofici, spesso amplificati dai media e dagli interessi commerciali. L'obiettivo non è essere scettici o entusiasti a priori, ma imparare a distinguere ciò che è dimostrato da ciò che è promesso, e ciò che è possibile da ciò che è affidabile e conveniente.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modello spesso usato per descrivere l'andamento delle aspettative verso le nuove tecnologie è il cosiddetto 'hype cycle', proposto dalla società di analisi Gartner. Lo presentiamo come schema interpretativo, non come una legge: non tutte le tecnologie seguono questo percorso. Le fasi sono cinque. Un innesco tecnologico, cioè una novità che attira l'attenzione. Un picco di aspettative eccessive, alimentato da dimostrazioni spettacolari e da narrazioni mediatiche. Una fase di disillusione, quando le applicazioni reali si scontrano con limiti, costi e difficoltà. Una risalita più lenta, in cui si capisce dove la tecnologia funziona davvero. Infine un plateau di produttività, con un uso maturo e stabile. Abbiamo visto un andamento simile nella storia dell'AI, con i suoi inverni. Le diverse applicazioni dell'AI generativa possono trovarsi in fasi diverse. Le narrazioni mediatiche tendono a concentrarsi sugli estremi, cioè promesse straordinarie o rischi catastrofici, perché attirano attenzione. Domanda per il gruppo: dove pensate che si trovi oggi l'AI generativa? Non c'è una risposta unica: l'importante è motivarla.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delle fonti più frequenti di aspettative eccessive è la confusione tra ciò che si vede in una dimostrazione e ciò che serve per usare una tecnologia ogni giorno in azienda. Una demo mostra il caso migliore: un esempio scelto con cura, condizioni controllate, nessun vincolo di costo, nessuna integrazione con i sistemi esistenti. L'uso aziendale continuativo richiede invece che il sistema funzioni bene su tutti i casi reali, compresi quelli difficili e imprevisti; che sia affidabile nel tempo; che si integri con dati e processi esistenti; che rispetti sicurezza, privacy e normative; che abbia costi sostenibili; e che le persone lo usino davvero. La distanza tra 'funziona nella demo' e 'funziona in produzione' può essere molto grande. Domanda utile da porre davanti a qualunque dimostrazione: come si comporta il sistema sui nostri casi, con i nostri dati, nei casi difficili, e quanto costa farlo funzionare ogni giorno?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Quanto sono mature oggi le capacità dell'AI generativa? La risposta onesta è: dipende dal compito. Ci sono attività in cui i sistemi attuali sono generalmente utili e relativamente consolidati, soprattutto quando una persona competente verifica il risultato: produrre bozze di testi, riassumere documenti, tradurre, riformulare, generare idee, supportare la scrittura di codice, estrarre informazioni da testi. Ci sono poi attività in cui serve maggiore cautela: fornire fatti precisi, dati, citazioni e riferimenti senza verifica; svolgere calcoli complessi senza strumenti appositi; prendere decisioni ad alto impatto senza supervisione umana; svolgere compiti lunghi e articolati in completa autonomia. Il confine si sposta nel tempo, perché le capacità evolvono rapidamente: ciò che oggi è limitato potrebbe migliorare, e per questo va rivalutato periodicamente. Restiamo a livello generale: le cause degli errori, le allucinazioni e i bias, e i metodi per valutare l'affidabilità sono oggetto del Tema 3. Aggiornare questa slide se necessario in base all'evoluzione degli strumenti al momento della sessione.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possiamo distinguere un'opportunità concreta da un'affermazione non dimostrata? Ecco sei domande semplici da porre davanti a qualunque promessa sull'AI, che arrivi da un fornitore, da un articolo o da un collega entusiasta. Chi lo afferma, e che interesse ha? Un fornitore ha legittimamente interesse a presentare il suo prodotto nel modo migliore. Su quali evidenze si basa? Un'opinione, un caso aneddotico, uno studio indipendente? In quale contesto è stato misurato? Un risultato ottenuto in un settore o su un compito non si trasferisce automaticamente al nostro. Rispetto a che cosa? Un miglioramento del 30% rispetto a quale situazione di partenza? Quanto costa davvero, considerando licenze, integrazione, formazione e tempo per verificare i risultati? Il risultato è ripetibile nel tempo, o è stato osservato una volta? Queste domande ci aiutano a passare da 'l'AI può fare X' a 'l'AI può fare X in modo affidabile e conveniente nel nostro contesto', che è la domanda che conta. Suggerimento: proporre ai partecipanti di applicare le sei domande a un titolo di giornale o a una pubblicità di un prodotto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aspetto spesso trascurato nelle narrazioni sull'AI è l'eterogeneità dei benefici: l'AI non migliora tutto e tutti nella stessa misura. Lo studio più citato su questo tema è quello condotto da ricercatori di Harvard Business School e altre università in collaborazione con Boston Consulting Group (Dell'Acqua e colleghi, 2023), su 758 consulenti. Per compiti che rientravano nelle capacità dell'AI, i consulenti che la usavano hanno completato in media il 12,2% di compiti in più, il 25,1% più velocemente e con una qualità superiore di oltre il 40%. Ma per un compito scelto appositamente al di fuori delle capacità dell'AI, chi la usava aveva una probabilità di arrivare alla soluzione corretta inferiore di 19 punti percentuali rispetto a chi lavorava senza. Gli autori parlano di 'frontiera tecnologica frastagliata': i confini di ciò che l'AI sa fare bene sono irregolari e non intuitivi, e compiti apparentemente simili possono trovarsi da parti opposte. Anche lo studio sull'assistenza clienti visto prima mostrava benefici molto diversi tra operatori esperti e meno esperti. Conclusione: i benefici variano tra attività, persone e organizzazioni, e saper riconoscere quando usare l'AI è una competenza. Fonte: Dell'Acqua et al., 'Navigating the Jagged Technological Frontier', Harvard Business School Working Paper 24-013,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 evolve rapidamente, e questo genera sia entusiasmo sia ansia. Per orientarsi è utile distinguere due tipi di affermazioni. Le evoluzioni osservabili: capacità che possiamo verificare oggi, strumenti disponibili, risultati misurati in studi e in contesti reali. E le previsioni: affermazioni su ciò che accadrà, quanto rapidamente e con quali effetti. Le previsioni sull'AI hanno una lunga storia di errori, in entrambe le direzioni: i pionieri degli anni Cinquanta e Sessanta prevedevano macchine intelligenti come l'uomo entro pochi decenni, mentre pochi avevano previsto la rapidità dei progressi recenti nel linguaggio. In questo contesto rientrano anche concetti come l'AGI, l'intelligenza artificiale generale, cioè un sistema capace di svolgere la maggior parte dei compiti cognitivi umani, e la cosiddetta 'singolarità', l'ipotesi di un punto in cui il progresso tecnologico diventerebbe inarrestabile e imprevedibile. Sono temi legittimi del dibattito pubblico e scientifico, su cui esperti autorevoli hanno posizioni molto diverse, sia sui tempi sia sulla possibilità stessa. Il nostro atteggiamento: prendere sul serio il cambiamento, senza trattare le previsioni come certezze.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il futuro è incerto e gli strumenti cambiano rapidamente, su che cosa conviene investire? La risposta di questo percorso è chiara: sulle competenze adattabili, più che sulla padronanza di un singolo strumento. Gli strumenti e le loro interfacce cambiano ogni pochi mesi; un prodotto oggi leader potrebbe essere superato domani; le funzionalità si aggiornano continuamente. Ciò che resta valido nel tempo sono invece le competenze di fondo: comprendere i principi di funzionamento dell'AI, che vedremo nel Tema 2; saper valutare criticamente gli output e la loro affidabilità, oggetto del Tema 3; saper formulare bene problemi e richieste; conoscere i rischi e le regole d'uso; mantenere un atteggiamento di apprendimento continuo. Chi possiede queste competenze può passare da uno strumento all'altro senza ricominciare da zero e può valutare con lucidità le novità che arrivano. È esattamente l'obiettivo dell'AI Literacy: non formare utenti di un prodotto, ma persone capaci di usare l'AI in modo consapevole, qualunque forma assuma.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Concetto chiave dell'ultimo sottotema. Tre domande diverse, da non confondere. È tecnicamente possibile? Molte cose lo sono, almeno in una demo. È affidabile? Cioè funziona in modo costante sui casi reali, con un livello di errore accettabile per l'uso previsto. È conveniente? Cioè i benefici superano i costi complessivi, compresi integrazione, formazione e verifica. Una risposta positiva alla prima domanda non garantisce risposte positive alle altre due. A questo si aggiungono due atteggiamenti: riconoscere che i benefici sono eterogenei e distinguere ciò che è osservabile da ciò che è previsto. Domanda di verifica: pensate a una notizia recente sull'AI. In quale delle tre categorie rientra: possibilità, affidabilità o convenienza?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Torniamo alle sei domande guida dell'inizio e proviamo a rispondere in modo sintetico. Perché se ne parla tanto? Per la convergenza di più fattori tecnologici e per la svolta dell'AI generativa, che l'ha resa accessibile a tutti. È una tecnologia nuova? No: ha oltre settant'anni di storia; è nuova la sua diffusione. Che cosa è cambiato con l'AI generativa? L'AI genera contenuti e si usa con il linguaggio naturale. In che cosa differisce dalle tecnologie precedenti? Apprende dai dati e funziona in modo probabilistico, non deterministico. Perché riguarda la mia azienda? Perché è trasversale e abilitante, e oggi accessibile tramite strumenti commerciali. Quali aspettative sono ragionevoli? Quelle basate su evidenze osservabili nel proprio contesto; il resto va trattato come incerto. Suggerimento: prima di mostrare le risposte, chiedere ai partecipanti di formularle con parole proprie.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Riassumiamo i cinque risultati attesi del modulo. Primo: l'AI esiste da decenni e l'AI generativa è una fase importante, ma non l'unica, della sua evoluzione. Secondo: il linguaggio naturale ha contribuito in modo decisivo a rendere l'AI accessibile a un pubblico molto ampio. Terzo: l'AI è una tecnologia abilitante, applicabile a diverse attività e settori. Quarto: il potenziale tecnologico non garantisce automaticamente benefici economici o organizzativi; il valore va costruito e misurato. Quinto: le evoluzioni future sono incerte, ed è quindi utile sviluppare capacità critiche e adattabili. Se i partecipanti escono da questo modulo con questi cinque concetti, il primo obiettivo del percorso è raggiunto.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Chiudiamo con uno sguardo al prossimo modulo. In questo primo tema abbiamo costruito il contesto: abbiamo visto da dove arriva l'AI, perché è centrale oggi e perché ci riguarda, sviluppando uno sguardo critico. Nel Tema 2 entreremo nel funzionamento: che cos'è davvero l'Intelligenza Artificiale e in che cosa differisce dall'intelligenza umana; quali sono le principali categorie di AI; come un sistema apprende dai dati; che cosa sono i Large Language Models; che cosa succede quando inviamo una richiesta a un assistente AI; da dove provengono le informazioni che usa; e perché le risposte possono variare. Molti concetti che oggi abbiamo solo accennato, come il funzionamento probabilistico, i parametri o il Transformer, troveranno lì una spiegazione chiara e intuitiva. Lasciare spazio alle domande finali.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Questa slide raccoglie le principali fonti citate nel modulo, utili sia al relatore per approfondire sia ai partecipanti che desiderano leggere gli originali. I dati quantitativi, in particolare quelli su adozione, investimenti e capacità dei modelli, cambiano rapidamente: prima di ogni edizione del corso è consigliabile verificarne l'attualità e, se necessario, aggiornarli.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OL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ZIONE">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rtlCol="0"/>
          <a:lstStyle>
            <a:lvl1pPr indent="0" marL="0">
              <a:buNone/>
              <a:defRPr lang="en-US" sz="6000" b="1" dirty="0">
                <a:solidFill>
                  <a:schemeClr val="accent1"/>
                </a:solidFill>
              </a:defRPr>
            </a:lvl1pPr>
          </a:lstStyle>
          <a:p>
            <a:pPr indent="0" marL="0">
              <a:buNone/>
            </a:pP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rtlCol="0"/>
          <a:lstStyle>
            <a:lvl1pPr indent="0" marL="0">
              <a:buNone/>
              <a:defRPr lang="en-US" sz="1600" dirty="0">
                <a:solidFill>
                  <a:schemeClr val="accent3"/>
                </a:solidFill>
              </a:defRPr>
            </a:lvl1pPr>
          </a:lstStyle>
          <a:p>
            <a:pPr indent="0" marL="0">
              <a:buNone/>
            </a:pPr>
            <a:endParaRPr lang="en-US" sz="1600" dirty="0"/>
          </a:p>
        </p:txBody>
      </p:sp>
      <p:sp>
        <p:nvSpPr>
          <p:cNvPr id="5" name="Text 0"/>
          <p:cNvSpPr/>
          <p:nvPr/>
        </p:nvSpPr>
        <p:spPr>
          <a:xfrm>
            <a:off x="64008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3" name="Text 0"/>
          <p:cNvSpPr/>
          <p:nvPr/>
        </p:nvSpPr>
        <p:spPr>
          <a:xfrm>
            <a:off x="457200" y="4754880"/>
            <a:ext cx="6400800" cy="228600"/>
          </a:xfrm>
          <a:prstGeom prst="rect">
            <a:avLst/>
          </a:prstGeom>
          <a:noFill/>
          <a:ln/>
        </p:spPr>
        <p:txBody>
          <a:bodyPr wrap="square" lIns="0" tIns="0" rIns="0" bIns="0" rtlCol="0" anchor="ctr"/>
          <a:lstStyle/>
          <a:p>
            <a:pPr indent="0" marL="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IAVE">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822960" y="1143000"/>
            <a:ext cx="54864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CONCETTO CHIAVE</a:t>
            </a:r>
            <a:endParaRPr lang="en-US" sz="1300" dirty="0"/>
          </a:p>
        </p:txBody>
      </p:sp>
      <p:sp>
        <p:nvSpPr>
          <p:cNvPr id="3" name="Text 1"/>
          <p:cNvSpPr/>
          <p:nvPr>
            <p:ph idx="101" type="body" hasCustomPrompt="1"/>
          </p:nvPr>
        </p:nvSpPr>
        <p:spPr>
          <a:xfrm>
            <a:off x="822960" y="1600200"/>
            <a:ext cx="7498080" cy="2011680"/>
          </a:xfrm>
          <a:prstGeom prst="rect">
            <a:avLst/>
          </a:prstGeom>
          <a:noFill/>
          <a:ln/>
        </p:spPr>
        <p:txBody>
          <a:bodyPr wrap="square" rtlCol="0"/>
          <a:lstStyle>
            <a:lvl1pPr indent="0" marL="0">
              <a:buNone/>
              <a:defRPr lang="en-US" sz="2600" dirty="0">
                <a:solidFill>
                  <a:schemeClr val="bg1"/>
                </a:solidFill>
              </a:defRPr>
            </a:lvl1pPr>
          </a:lstStyle>
          <a:p>
            <a:pPr indent="0" marL="0">
              <a:buNone/>
            </a:pPr>
            <a:endParaRPr lang="en-US" sz="2600" dirty="0"/>
          </a:p>
        </p:txBody>
      </p:sp>
      <p:sp>
        <p:nvSpPr>
          <p:cNvPr id="4" name="Text 1"/>
          <p:cNvSpPr/>
          <p:nvPr>
            <p:ph idx="102" type="body" hasCustomPrompt="1"/>
          </p:nvPr>
        </p:nvSpPr>
        <p:spPr>
          <a:xfrm>
            <a:off x="822960" y="3794760"/>
            <a:ext cx="7498080" cy="365760"/>
          </a:xfrm>
          <a:prstGeom prst="rect">
            <a:avLst/>
          </a:prstGeom>
          <a:noFill/>
          <a:ln/>
        </p:spPr>
        <p:txBody>
          <a:bodyPr wrap="square" rtlCol="0"/>
          <a:lstStyle>
            <a:lvl1pPr indent="0" marL="0">
              <a:buNone/>
              <a:defRPr lang="en-US" sz="1300" dirty="0">
                <a:solidFill>
                  <a:schemeClr val="accent3"/>
                </a:solidFill>
              </a:defRPr>
            </a:lvl1pPr>
          </a:lstStyle>
          <a:p>
            <a:pPr indent="0" marL="0">
              <a:buNone/>
            </a:pPr>
            <a:endParaRPr lang="en-US" sz="1300" dirty="0"/>
          </a:p>
        </p:txBody>
      </p:sp>
      <p:sp>
        <p:nvSpPr>
          <p:cNvPr id="5" name="Text 1"/>
          <p:cNvSpPr/>
          <p:nvPr/>
        </p:nvSpPr>
        <p:spPr>
          <a:xfrm>
            <a:off x="822960" y="4663440"/>
            <a:ext cx="6400800" cy="274320"/>
          </a:xfrm>
          <a:prstGeom prst="rect">
            <a:avLst/>
          </a:prstGeom>
          <a:noFill/>
          <a:ln/>
        </p:spPr>
        <p:txBody>
          <a:bodyPr wrap="square" lIns="0" tIns="0" rIns="0" bIns="0" rtlCol="0" anchor="ctr"/>
          <a:lstStyle/>
          <a:p>
            <a:pPr indent="0" marL="0">
              <a:buNone/>
            </a:pPr>
            <a:r>
              <a:rPr lang="en-US" sz="900" dirty="0">
                <a:solidFill>
                  <a:schemeClr val="accent2"/>
                </a:solidFill>
              </a:rPr>
              <a:t>AI Literacy  ·  Tema 1  ·  Evoluzione e rilevanza dell'AI</a:t>
            </a:r>
            <a:endParaRPr lang="en-US" sz="9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4.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slideLayout" Target="../slideLayouts/slideLayout4.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4.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4.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4.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slideLayout" Target="../slideLayouts/slideLayout4.xml"/><Relationship Id="rId6"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4.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4.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4.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4.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slideLayout" Target="../slideLayouts/slideLayout4.xml"/><Relationship Id="rId7"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300" b="1" spc="200" kern="0" dirty="0">
                <a:solidFill>
                  <a:schemeClr val="accent1"/>
                </a:solidFill>
              </a:rPr>
              <a:t>PERCORSO AI LITERACY  ·  TEMA 1</a:t>
            </a:r>
            <a:endParaRPr lang="en-US" sz="1300" dirty="0"/>
          </a:p>
        </p:txBody>
      </p:sp>
      <p:sp>
        <p:nvSpPr>
          <p:cNvPr id="3" name="Text 0"/>
          <p:cNvSpPr/>
          <p:nvPr>
            <p:ph idx="101" type="title" hasCustomPrompt="1"/>
          </p:nvPr>
        </p:nvSpPr>
        <p:spPr>
          <a:xfrm>
            <a:off x="640080" y="1554480"/>
            <a:ext cx="7863840" cy="1463040"/>
          </a:xfrm>
          <a:prstGeom prst="rect">
            <a:avLst/>
          </a:prstGeom>
          <a:noFill/>
          <a:ln/>
        </p:spPr>
        <p:txBody>
          <a:bodyPr wrap="square" lIns="0" tIns="0" rIns="0" bIns="0" rtlCol="0" anchor="t"/>
          <a:lstStyle/>
          <a:p>
            <a:pPr algn="l" indent="0" marL="0">
              <a:buNone/>
            </a:pPr>
            <a:r>
              <a:rPr lang="en-US" sz="3600" b="1" dirty="0">
                <a:solidFill>
                  <a:schemeClr val="bg1"/>
                </a:solidFill>
              </a:rPr>
              <a:t>Evoluzione e rilevanza dell'Intelligenza Artificiale</a:t>
            </a:r>
            <a:endParaRPr lang="en-US" sz="3600" dirty="0"/>
          </a:p>
        </p:txBody>
      </p:sp>
      <p:sp>
        <p:nvSpPr>
          <p:cNvPr id="4" name="Text 0"/>
          <p:cNvSpPr/>
          <p:nvPr>
            <p:ph idx="102" type="body" hasCustomPrompt="1"/>
          </p:nvPr>
        </p:nvSpPr>
        <p:spPr>
          <a:xfrm>
            <a:off x="640080" y="3154680"/>
            <a:ext cx="7863840" cy="822960"/>
          </a:xfrm>
          <a:prstGeom prst="rect">
            <a:avLst/>
          </a:prstGeom>
          <a:noFill/>
          <a:ln/>
        </p:spPr>
        <p:txBody>
          <a:bodyPr wrap="square" lIns="0" tIns="0" rIns="0" bIns="0" rtlCol="0" anchor="t"/>
          <a:lstStyle/>
          <a:p>
            <a:pPr indent="0" marL="0">
              <a:buNone/>
            </a:pPr>
            <a:r>
              <a:rPr lang="en-US" sz="1600" dirty="0">
                <a:solidFill>
                  <a:schemeClr val="accent3"/>
                </a:solidFill>
              </a:rPr>
              <a:t>Area: Comprendere l'AI</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Obiettivo del modulo</a:t>
            </a:r>
            <a:endParaRPr lang="en-US" sz="2600" dirty="0"/>
          </a:p>
        </p:txBody>
      </p:sp>
      <p:sp>
        <p:nvSpPr>
          <p:cNvPr id="4" name="scheda Che cosa vogliamo comprendere"/>
          <p:cNvSpPr/>
          <p:nvPr/>
        </p:nvSpPr>
        <p:spPr>
          <a:xfrm>
            <a:off x="457200" y="1097280"/>
            <a:ext cx="3977640" cy="3429000"/>
          </a:xfrm>
          <a:prstGeom prst="roundRect">
            <a:avLst>
              <a:gd name="adj" fmla="val 2133"/>
            </a:avLst>
          </a:prstGeom>
          <a:solidFill>
            <a:schemeClr val="bg2"/>
          </a:solidFill>
          <a:ln/>
        </p:spPr>
      </p:sp>
      <p:sp>
        <p:nvSpPr>
          <p:cNvPr id="5" name="cerchio FiTarget"/>
          <p:cNvSpPr/>
          <p:nvPr/>
        </p:nvSpPr>
        <p:spPr>
          <a:xfrm>
            <a:off x="640080" y="1280160"/>
            <a:ext cx="457200" cy="457200"/>
          </a:xfrm>
          <a:prstGeom prst="ellipse">
            <a:avLst/>
          </a:prstGeom>
          <a:solidFill>
            <a:schemeClr val="accent1"/>
          </a:solidFill>
          <a:ln/>
        </p:spPr>
      </p:sp>
      <p:pic>
        <p:nvPicPr>
          <p:cNvPr id="6" name="Image 0" descr="FiTarget">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Che cosa vogliamo comprendere</a:t>
            </a:r>
            <a:endParaRPr lang="en-US" sz="16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rPr>
              <a:t>Come si è evoluta l'Intelligenza Artificiale</a:t>
            </a:r>
            <a:endParaRPr lang="en-US" sz="1400" dirty="0"/>
          </a:p>
          <a:p>
            <a:pPr marL="177800" indent="-177800">
              <a:spcAft>
                <a:spcPts val="600"/>
              </a:spcAft>
              <a:buSzPct val="100000"/>
              <a:buChar char="•"/>
            </a:pPr>
            <a:r>
              <a:rPr lang="en-US" sz="1400" dirty="0">
                <a:solidFill>
                  <a:schemeClr val="tx2"/>
                </a:solidFill>
              </a:rPr>
              <a:t>Perché è diventata centrale negli ultimi anni</a:t>
            </a:r>
            <a:endParaRPr lang="en-US" sz="1400" dirty="0"/>
          </a:p>
          <a:p>
            <a:pPr marL="177800" indent="-177800">
              <a:spcAft>
                <a:spcPts val="600"/>
              </a:spcAft>
              <a:buSzPct val="100000"/>
              <a:buChar char="•"/>
            </a:pPr>
            <a:r>
              <a:rPr lang="en-US" sz="1400" dirty="0">
                <a:solidFill>
                  <a:schemeClr val="tx2"/>
                </a:solidFill>
              </a:rPr>
              <a:t>Quali cambiamenti può introdurre nelle attività umane e nelle organizzazioni</a:t>
            </a:r>
            <a:endParaRPr lang="en-US" sz="1400" dirty="0"/>
          </a:p>
        </p:txBody>
      </p:sp>
      <p:sp>
        <p:nvSpPr>
          <p:cNvPr id="9" name="scheda Quale consapevolezza sviluppare"/>
          <p:cNvSpPr/>
          <p:nvPr/>
        </p:nvSpPr>
        <p:spPr>
          <a:xfrm>
            <a:off x="4709160" y="1097280"/>
            <a:ext cx="3977640" cy="3429000"/>
          </a:xfrm>
          <a:prstGeom prst="roundRect">
            <a:avLst>
              <a:gd name="adj" fmla="val 2133"/>
            </a:avLst>
          </a:prstGeom>
          <a:solidFill>
            <a:schemeClr val="accent6"/>
          </a:solidFill>
          <a:ln/>
        </p:spPr>
      </p:sp>
      <p:sp>
        <p:nvSpPr>
          <p:cNvPr id="10" name="cerchio FiCompass"/>
          <p:cNvSpPr/>
          <p:nvPr/>
        </p:nvSpPr>
        <p:spPr>
          <a:xfrm>
            <a:off x="4892040" y="1280160"/>
            <a:ext cx="457200" cy="457200"/>
          </a:xfrm>
          <a:prstGeom prst="ellipse">
            <a:avLst/>
          </a:prstGeom>
          <a:solidFill>
            <a:schemeClr val="accent1"/>
          </a:solidFill>
          <a:ln/>
        </p:spPr>
      </p:sp>
      <p:pic>
        <p:nvPicPr>
          <p:cNvPr id="11" name="Image 1" descr="FiCompas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Quale consapevolezza sviluppare</a:t>
            </a:r>
            <a:endParaRPr lang="en-US" sz="16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L'impatto dell'AI non è automatico, uniforme o necessariamente positivo.</a:t>
            </a:r>
            <a:endParaRPr lang="en-US" sz="1400" dirty="0"/>
          </a:p>
          <a:p>
            <a:pPr indent="0" marL="0">
              <a:buNone/>
            </a:pPr>
            <a:endParaRPr lang="en-US" sz="1400" dirty="0"/>
          </a:p>
          <a:p>
            <a:pPr indent="0" marL="0">
              <a:buNone/>
            </a:pPr>
            <a:r>
              <a:rPr lang="en-US" sz="1400" dirty="0">
                <a:solidFill>
                  <a:schemeClr val="tx2"/>
                </a:solidFill>
              </a:rPr>
              <a:t>Dipende dalle capacità della tecnologia, dal contesto e dalle scelte delle persone e delle organizzazioni.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Sei domande guida per questo modulo</a:t>
            </a:r>
            <a:endParaRPr lang="en-US" sz="2600" dirty="0"/>
          </a:p>
        </p:txBody>
      </p:sp>
      <p:sp>
        <p:nvSpPr>
          <p:cNvPr id="4" name="domanda 1"/>
          <p:cNvSpPr/>
          <p:nvPr/>
        </p:nvSpPr>
        <p:spPr>
          <a:xfrm>
            <a:off x="457200" y="1097280"/>
            <a:ext cx="2615184" cy="1600200"/>
          </a:xfrm>
          <a:prstGeom prst="roundRect">
            <a:avLst>
              <a:gd name="adj" fmla="val 4571"/>
            </a:avLst>
          </a:prstGeom>
          <a:solidFill>
            <a:schemeClr val="bg2"/>
          </a:solidFill>
          <a:ln/>
        </p:spPr>
      </p:sp>
      <p:sp>
        <p:nvSpPr>
          <p:cNvPr id="5" name="Text 2"/>
          <p:cNvSpPr txBox="1"/>
          <p:nvPr/>
        </p:nvSpPr>
        <p:spPr>
          <a:xfrm>
            <a:off x="640080" y="123444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1</a:t>
            </a:r>
            <a:endParaRPr lang="en-US" sz="2400" dirty="0"/>
          </a:p>
        </p:txBody>
      </p:sp>
      <p:sp>
        <p:nvSpPr>
          <p:cNvPr id="6" name="Text 3"/>
          <p:cNvSpPr txBox="1"/>
          <p:nvPr/>
        </p:nvSpPr>
        <p:spPr>
          <a:xfrm>
            <a:off x="640080" y="1691640"/>
            <a:ext cx="2249424" cy="914400"/>
          </a:xfrm>
          <a:prstGeom prst="rect">
            <a:avLst/>
          </a:prstGeom>
          <a:noFill/>
          <a:ln/>
        </p:spPr>
        <p:txBody>
          <a:bodyPr wrap="square" lIns="0" tIns="0" rIns="0" bIns="0" rtlCol="0" anchor="t"/>
          <a:lstStyle/>
          <a:p>
            <a:pPr indent="0" marL="0">
              <a:buNone/>
            </a:pPr>
            <a:r>
              <a:rPr lang="en-US" sz="1400" dirty="0">
                <a:solidFill>
                  <a:schemeClr val="tx1"/>
                </a:solidFill>
              </a:rPr>
              <a:t>Perché oggi si parla così tanto di Intelligenza Artificiale?</a:t>
            </a:r>
            <a:endParaRPr lang="en-US" sz="1400" dirty="0"/>
          </a:p>
        </p:txBody>
      </p:sp>
      <p:sp>
        <p:nvSpPr>
          <p:cNvPr id="7" name="domanda 2"/>
          <p:cNvSpPr/>
          <p:nvPr/>
        </p:nvSpPr>
        <p:spPr>
          <a:xfrm>
            <a:off x="3264408" y="1097280"/>
            <a:ext cx="2615184" cy="1600200"/>
          </a:xfrm>
          <a:prstGeom prst="roundRect">
            <a:avLst>
              <a:gd name="adj" fmla="val 4571"/>
            </a:avLst>
          </a:prstGeom>
          <a:solidFill>
            <a:schemeClr val="bg2"/>
          </a:solidFill>
          <a:ln/>
        </p:spPr>
      </p:sp>
      <p:sp>
        <p:nvSpPr>
          <p:cNvPr id="8" name="Text 5"/>
          <p:cNvSpPr txBox="1"/>
          <p:nvPr/>
        </p:nvSpPr>
        <p:spPr>
          <a:xfrm>
            <a:off x="3447288" y="123444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2</a:t>
            </a:r>
            <a:endParaRPr lang="en-US" sz="2400" dirty="0"/>
          </a:p>
        </p:txBody>
      </p:sp>
      <p:sp>
        <p:nvSpPr>
          <p:cNvPr id="9" name="Text 6"/>
          <p:cNvSpPr txBox="1"/>
          <p:nvPr/>
        </p:nvSpPr>
        <p:spPr>
          <a:xfrm>
            <a:off x="3447288" y="1691640"/>
            <a:ext cx="2249424" cy="914400"/>
          </a:xfrm>
          <a:prstGeom prst="rect">
            <a:avLst/>
          </a:prstGeom>
          <a:noFill/>
          <a:ln/>
        </p:spPr>
        <p:txBody>
          <a:bodyPr wrap="square" lIns="0" tIns="0" rIns="0" bIns="0" rtlCol="0" anchor="t"/>
          <a:lstStyle/>
          <a:p>
            <a:pPr indent="0" marL="0">
              <a:buNone/>
            </a:pPr>
            <a:r>
              <a:rPr lang="en-US" sz="1400" dirty="0">
                <a:solidFill>
                  <a:schemeClr val="tx1"/>
                </a:solidFill>
              </a:rPr>
              <a:t>L'AI è una tecnologia nuova?</a:t>
            </a:r>
            <a:endParaRPr lang="en-US" sz="1400" dirty="0"/>
          </a:p>
        </p:txBody>
      </p:sp>
      <p:sp>
        <p:nvSpPr>
          <p:cNvPr id="10" name="domanda 3"/>
          <p:cNvSpPr/>
          <p:nvPr/>
        </p:nvSpPr>
        <p:spPr>
          <a:xfrm>
            <a:off x="6071616" y="1097280"/>
            <a:ext cx="2615184" cy="1600200"/>
          </a:xfrm>
          <a:prstGeom prst="roundRect">
            <a:avLst>
              <a:gd name="adj" fmla="val 4571"/>
            </a:avLst>
          </a:prstGeom>
          <a:solidFill>
            <a:schemeClr val="bg2"/>
          </a:solidFill>
          <a:ln/>
        </p:spPr>
      </p:sp>
      <p:sp>
        <p:nvSpPr>
          <p:cNvPr id="11" name="Text 8"/>
          <p:cNvSpPr txBox="1"/>
          <p:nvPr/>
        </p:nvSpPr>
        <p:spPr>
          <a:xfrm>
            <a:off x="6254496" y="123444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3</a:t>
            </a:r>
            <a:endParaRPr lang="en-US" sz="2400" dirty="0"/>
          </a:p>
        </p:txBody>
      </p:sp>
      <p:sp>
        <p:nvSpPr>
          <p:cNvPr id="12" name="Text 9"/>
          <p:cNvSpPr txBox="1"/>
          <p:nvPr/>
        </p:nvSpPr>
        <p:spPr>
          <a:xfrm>
            <a:off x="6254496" y="1691640"/>
            <a:ext cx="2249424" cy="914400"/>
          </a:xfrm>
          <a:prstGeom prst="rect">
            <a:avLst/>
          </a:prstGeom>
          <a:noFill/>
          <a:ln/>
        </p:spPr>
        <p:txBody>
          <a:bodyPr wrap="square" lIns="0" tIns="0" rIns="0" bIns="0" rtlCol="0" anchor="t"/>
          <a:lstStyle/>
          <a:p>
            <a:pPr indent="0" marL="0">
              <a:buNone/>
            </a:pPr>
            <a:r>
              <a:rPr lang="en-US" sz="1400" dirty="0">
                <a:solidFill>
                  <a:schemeClr val="tx1"/>
                </a:solidFill>
              </a:rPr>
              <a:t>Che cosa è cambiato con l'arrivo dell'AI generativa?</a:t>
            </a:r>
            <a:endParaRPr lang="en-US" sz="1400" dirty="0"/>
          </a:p>
        </p:txBody>
      </p:sp>
      <p:sp>
        <p:nvSpPr>
          <p:cNvPr id="13" name="domanda 4"/>
          <p:cNvSpPr/>
          <p:nvPr/>
        </p:nvSpPr>
        <p:spPr>
          <a:xfrm>
            <a:off x="457200" y="2880360"/>
            <a:ext cx="2615184" cy="1600200"/>
          </a:xfrm>
          <a:prstGeom prst="roundRect">
            <a:avLst>
              <a:gd name="adj" fmla="val 4571"/>
            </a:avLst>
          </a:prstGeom>
          <a:solidFill>
            <a:schemeClr val="bg2"/>
          </a:solidFill>
          <a:ln/>
        </p:spPr>
      </p:sp>
      <p:sp>
        <p:nvSpPr>
          <p:cNvPr id="14" name="Text 11"/>
          <p:cNvSpPr txBox="1"/>
          <p:nvPr/>
        </p:nvSpPr>
        <p:spPr>
          <a:xfrm>
            <a:off x="640080" y="301752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4</a:t>
            </a:r>
            <a:endParaRPr lang="en-US" sz="2400" dirty="0"/>
          </a:p>
        </p:txBody>
      </p:sp>
      <p:sp>
        <p:nvSpPr>
          <p:cNvPr id="15" name="Text 12"/>
          <p:cNvSpPr txBox="1"/>
          <p:nvPr/>
        </p:nvSpPr>
        <p:spPr>
          <a:xfrm>
            <a:off x="640080" y="3474720"/>
            <a:ext cx="2249424" cy="914400"/>
          </a:xfrm>
          <a:prstGeom prst="rect">
            <a:avLst/>
          </a:prstGeom>
          <a:noFill/>
          <a:ln/>
        </p:spPr>
        <p:txBody>
          <a:bodyPr wrap="square" lIns="0" tIns="0" rIns="0" bIns="0" rtlCol="0" anchor="t"/>
          <a:lstStyle/>
          <a:p>
            <a:pPr indent="0" marL="0">
              <a:buNone/>
            </a:pPr>
            <a:r>
              <a:rPr lang="en-US" sz="1400" dirty="0">
                <a:solidFill>
                  <a:schemeClr val="tx1"/>
                </a:solidFill>
              </a:rPr>
              <a:t>In che cosa l'AI differisce dalle precedenti tecnologie digitali?</a:t>
            </a:r>
            <a:endParaRPr lang="en-US" sz="1400" dirty="0"/>
          </a:p>
        </p:txBody>
      </p:sp>
      <p:sp>
        <p:nvSpPr>
          <p:cNvPr id="16" name="domanda 5"/>
          <p:cNvSpPr/>
          <p:nvPr/>
        </p:nvSpPr>
        <p:spPr>
          <a:xfrm>
            <a:off x="3264408" y="2880360"/>
            <a:ext cx="2615184" cy="1600200"/>
          </a:xfrm>
          <a:prstGeom prst="roundRect">
            <a:avLst>
              <a:gd name="adj" fmla="val 4571"/>
            </a:avLst>
          </a:prstGeom>
          <a:solidFill>
            <a:schemeClr val="bg2"/>
          </a:solidFill>
          <a:ln/>
        </p:spPr>
      </p:sp>
      <p:sp>
        <p:nvSpPr>
          <p:cNvPr id="17" name="Text 14"/>
          <p:cNvSpPr txBox="1"/>
          <p:nvPr/>
        </p:nvSpPr>
        <p:spPr>
          <a:xfrm>
            <a:off x="3447288" y="301752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5</a:t>
            </a:r>
            <a:endParaRPr lang="en-US" sz="2400" dirty="0"/>
          </a:p>
        </p:txBody>
      </p:sp>
      <p:sp>
        <p:nvSpPr>
          <p:cNvPr id="18" name="Text 15"/>
          <p:cNvSpPr txBox="1"/>
          <p:nvPr/>
        </p:nvSpPr>
        <p:spPr>
          <a:xfrm>
            <a:off x="3447288" y="3474720"/>
            <a:ext cx="2249424" cy="914400"/>
          </a:xfrm>
          <a:prstGeom prst="rect">
            <a:avLst/>
          </a:prstGeom>
          <a:noFill/>
          <a:ln/>
        </p:spPr>
        <p:txBody>
          <a:bodyPr wrap="square" lIns="0" tIns="0" rIns="0" bIns="0" rtlCol="0" anchor="t"/>
          <a:lstStyle/>
          <a:p>
            <a:pPr indent="0" marL="0">
              <a:buNone/>
            </a:pPr>
            <a:r>
              <a:rPr lang="en-US" sz="1400" dirty="0">
                <a:solidFill>
                  <a:schemeClr val="tx1"/>
                </a:solidFill>
              </a:rPr>
              <a:t>Perché questa evoluzione riguarda anche la mia azienda?</a:t>
            </a:r>
            <a:endParaRPr lang="en-US" sz="1400" dirty="0"/>
          </a:p>
        </p:txBody>
      </p:sp>
      <p:sp>
        <p:nvSpPr>
          <p:cNvPr id="19" name="domanda 6"/>
          <p:cNvSpPr/>
          <p:nvPr/>
        </p:nvSpPr>
        <p:spPr>
          <a:xfrm>
            <a:off x="6071616" y="2880360"/>
            <a:ext cx="2615184" cy="1600200"/>
          </a:xfrm>
          <a:prstGeom prst="roundRect">
            <a:avLst>
              <a:gd name="adj" fmla="val 4571"/>
            </a:avLst>
          </a:prstGeom>
          <a:solidFill>
            <a:schemeClr val="bg2"/>
          </a:solidFill>
          <a:ln/>
        </p:spPr>
      </p:sp>
      <p:sp>
        <p:nvSpPr>
          <p:cNvPr id="20" name="Text 17"/>
          <p:cNvSpPr txBox="1"/>
          <p:nvPr/>
        </p:nvSpPr>
        <p:spPr>
          <a:xfrm>
            <a:off x="6254496" y="3017520"/>
            <a:ext cx="548640" cy="457200"/>
          </a:xfrm>
          <a:prstGeom prst="rect">
            <a:avLst/>
          </a:prstGeom>
          <a:noFill/>
          <a:ln/>
        </p:spPr>
        <p:txBody>
          <a:bodyPr wrap="square" lIns="0" tIns="0" rIns="0" bIns="0" rtlCol="0" anchor="t"/>
          <a:lstStyle/>
          <a:p>
            <a:pPr indent="0" marL="0">
              <a:buNone/>
            </a:pPr>
            <a:r>
              <a:rPr lang="en-US" sz="2400" b="1" dirty="0">
                <a:solidFill>
                  <a:schemeClr val="accent1"/>
                </a:solidFill>
              </a:rPr>
              <a:t>6</a:t>
            </a:r>
            <a:endParaRPr lang="en-US" sz="2400" dirty="0"/>
          </a:p>
        </p:txBody>
      </p:sp>
      <p:sp>
        <p:nvSpPr>
          <p:cNvPr id="21" name="Text 18"/>
          <p:cNvSpPr txBox="1"/>
          <p:nvPr/>
        </p:nvSpPr>
        <p:spPr>
          <a:xfrm>
            <a:off x="6254496" y="3474720"/>
            <a:ext cx="2249424" cy="914400"/>
          </a:xfrm>
          <a:prstGeom prst="rect">
            <a:avLst/>
          </a:prstGeom>
          <a:noFill/>
          <a:ln/>
        </p:spPr>
        <p:txBody>
          <a:bodyPr wrap="square" lIns="0" tIns="0" rIns="0" bIns="0" rtlCol="0" anchor="t"/>
          <a:lstStyle/>
          <a:p>
            <a:pPr indent="0" marL="0">
              <a:buNone/>
            </a:pPr>
            <a:r>
              <a:rPr lang="en-US" sz="1400" dirty="0">
                <a:solidFill>
                  <a:schemeClr val="tx1"/>
                </a:solidFill>
              </a:rPr>
              <a:t>Quali aspettative sono ragionevoli e quali rimangono incerte?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percorso del modulo</a:t>
            </a:r>
            <a:endParaRPr lang="en-US" sz="2600" dirty="0"/>
          </a:p>
        </p:txBody>
      </p:sp>
      <p:sp>
        <p:nvSpPr>
          <p:cNvPr id="4" name="Text 1"/>
          <p:cNvSpPr txBox="1"/>
          <p:nvPr/>
        </p:nvSpPr>
        <p:spPr>
          <a:xfrm>
            <a:off x="7498080" y="1024128"/>
            <a:ext cx="1188720" cy="274320"/>
          </a:xfrm>
          <a:prstGeom prst="rect">
            <a:avLst/>
          </a:prstGeom>
          <a:noFill/>
          <a:ln/>
        </p:spPr>
        <p:txBody>
          <a:bodyPr wrap="square" lIns="0" tIns="0" rIns="0" bIns="0" rtlCol="0" anchor="t"/>
          <a:lstStyle/>
          <a:p>
            <a:pPr algn="ctr" indent="0" marL="0">
              <a:buNone/>
            </a:pPr>
            <a:r>
              <a:rPr lang="en-US" sz="1100" dirty="0">
                <a:solidFill>
                  <a:schemeClr val="accent2"/>
                </a:solidFill>
              </a:rPr>
              <a:t>Priorità</a:t>
            </a:r>
            <a:endParaRPr lang="en-US" sz="1100" dirty="0"/>
          </a:p>
        </p:txBody>
      </p:sp>
      <p:sp>
        <p:nvSpPr>
          <p:cNvPr id="5" name="riga 1.1"/>
          <p:cNvSpPr/>
          <p:nvPr/>
        </p:nvSpPr>
        <p:spPr>
          <a:xfrm>
            <a:off x="457200" y="1325880"/>
            <a:ext cx="8229600" cy="457200"/>
          </a:xfrm>
          <a:prstGeom prst="roundRect">
            <a:avLst>
              <a:gd name="adj" fmla="val 16000"/>
            </a:avLst>
          </a:prstGeom>
          <a:solidFill>
            <a:schemeClr val="bg2"/>
          </a:solidFill>
          <a:ln/>
        </p:spPr>
      </p:sp>
      <p:sp>
        <p:nvSpPr>
          <p:cNvPr id="6" name="Text 3"/>
          <p:cNvSpPr txBox="1"/>
          <p:nvPr/>
        </p:nvSpPr>
        <p:spPr>
          <a:xfrm>
            <a:off x="640080" y="132588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1.1</a:t>
            </a:r>
            <a:endParaRPr lang="en-US" sz="1600" dirty="0"/>
          </a:p>
        </p:txBody>
      </p:sp>
      <p:sp>
        <p:nvSpPr>
          <p:cNvPr id="7" name="Text 4"/>
          <p:cNvSpPr txBox="1"/>
          <p:nvPr/>
        </p:nvSpPr>
        <p:spPr>
          <a:xfrm>
            <a:off x="1371600" y="1325880"/>
            <a:ext cx="5943600" cy="457200"/>
          </a:xfrm>
          <a:prstGeom prst="rect">
            <a:avLst/>
          </a:prstGeom>
          <a:noFill/>
          <a:ln/>
        </p:spPr>
        <p:txBody>
          <a:bodyPr wrap="square" lIns="0" tIns="0" rIns="0" bIns="0" rtlCol="0" anchor="ctr"/>
          <a:lstStyle/>
          <a:p>
            <a:pPr indent="0" marL="0">
              <a:buNone/>
            </a:pPr>
            <a:r>
              <a:rPr lang="en-US" sz="1500" dirty="0">
                <a:solidFill>
                  <a:schemeClr val="tx1"/>
                </a:solidFill>
              </a:rPr>
              <a:t>Storia ed evoluzione dell'AI</a:t>
            </a:r>
            <a:endParaRPr lang="en-US" sz="1500" dirty="0"/>
          </a:p>
        </p:txBody>
      </p:sp>
      <p:sp>
        <p:nvSpPr>
          <p:cNvPr id="8" name="priorità 1.1"/>
          <p:cNvSpPr/>
          <p:nvPr/>
        </p:nvSpPr>
        <p:spPr>
          <a:xfrm>
            <a:off x="7635240" y="1417320"/>
            <a:ext cx="914400" cy="274320"/>
          </a:xfrm>
          <a:prstGeom prst="roundRect">
            <a:avLst>
              <a:gd name="adj" fmla="val 50000"/>
            </a:avLst>
          </a:prstGeom>
          <a:solidFill>
            <a:schemeClr val="bg1"/>
          </a:solidFill>
          <a:ln w="12700">
            <a:solidFill>
              <a:schemeClr val="accent1"/>
            </a:solidFill>
            <a:prstDash val="solid"/>
          </a:ln>
        </p:spPr>
      </p:sp>
      <p:sp>
        <p:nvSpPr>
          <p:cNvPr id="9" name="Text 6"/>
          <p:cNvSpPr txBox="1"/>
          <p:nvPr/>
        </p:nvSpPr>
        <p:spPr>
          <a:xfrm>
            <a:off x="7635240" y="1417320"/>
            <a:ext cx="914400" cy="274320"/>
          </a:xfrm>
          <a:prstGeom prst="rect">
            <a:avLst/>
          </a:prstGeom>
          <a:noFill/>
          <a:ln/>
        </p:spPr>
        <p:txBody>
          <a:bodyPr wrap="square" lIns="0" tIns="0" rIns="0" bIns="0" rtlCol="0" anchor="ctr"/>
          <a:lstStyle/>
          <a:p>
            <a:pPr algn="ctr" indent="0" marL="0">
              <a:buNone/>
            </a:pPr>
            <a:r>
              <a:rPr lang="en-US" sz="1100" b="1" dirty="0">
                <a:solidFill>
                  <a:schemeClr val="accent1"/>
                </a:solidFill>
              </a:rPr>
              <a:t>Media</a:t>
            </a:r>
            <a:endParaRPr lang="en-US" sz="1100" dirty="0"/>
          </a:p>
        </p:txBody>
      </p:sp>
      <p:sp>
        <p:nvSpPr>
          <p:cNvPr id="10" name="riga 1.2"/>
          <p:cNvSpPr/>
          <p:nvPr/>
        </p:nvSpPr>
        <p:spPr>
          <a:xfrm>
            <a:off x="457200" y="1874520"/>
            <a:ext cx="8229600" cy="457200"/>
          </a:xfrm>
          <a:prstGeom prst="roundRect">
            <a:avLst>
              <a:gd name="adj" fmla="val 16000"/>
            </a:avLst>
          </a:prstGeom>
          <a:solidFill>
            <a:schemeClr val="bg1"/>
          </a:solidFill>
          <a:ln/>
        </p:spPr>
      </p:sp>
      <p:sp>
        <p:nvSpPr>
          <p:cNvPr id="11" name="Text 8"/>
          <p:cNvSpPr txBox="1"/>
          <p:nvPr/>
        </p:nvSpPr>
        <p:spPr>
          <a:xfrm>
            <a:off x="640080" y="187452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1.2</a:t>
            </a:r>
            <a:endParaRPr lang="en-US" sz="1600" dirty="0"/>
          </a:p>
        </p:txBody>
      </p:sp>
      <p:sp>
        <p:nvSpPr>
          <p:cNvPr id="12" name="Text 9"/>
          <p:cNvSpPr txBox="1"/>
          <p:nvPr/>
        </p:nvSpPr>
        <p:spPr>
          <a:xfrm>
            <a:off x="1371600" y="1874520"/>
            <a:ext cx="5943600" cy="457200"/>
          </a:xfrm>
          <a:prstGeom prst="rect">
            <a:avLst/>
          </a:prstGeom>
          <a:noFill/>
          <a:ln/>
        </p:spPr>
        <p:txBody>
          <a:bodyPr wrap="square" lIns="0" tIns="0" rIns="0" bIns="0" rtlCol="0" anchor="ctr"/>
          <a:lstStyle/>
          <a:p>
            <a:pPr indent="0" marL="0">
              <a:buNone/>
            </a:pPr>
            <a:r>
              <a:rPr lang="en-US" sz="1500" dirty="0">
                <a:solidFill>
                  <a:schemeClr val="tx1"/>
                </a:solidFill>
              </a:rPr>
              <a:t>I fattori dell'accelerazione tecnologica</a:t>
            </a:r>
            <a:endParaRPr lang="en-US" sz="1500" dirty="0"/>
          </a:p>
        </p:txBody>
      </p:sp>
      <p:sp>
        <p:nvSpPr>
          <p:cNvPr id="13" name="priorità 1.2"/>
          <p:cNvSpPr/>
          <p:nvPr/>
        </p:nvSpPr>
        <p:spPr>
          <a:xfrm>
            <a:off x="7635240" y="1965960"/>
            <a:ext cx="914400" cy="274320"/>
          </a:xfrm>
          <a:prstGeom prst="roundRect">
            <a:avLst>
              <a:gd name="adj" fmla="val 50000"/>
            </a:avLst>
          </a:prstGeom>
          <a:solidFill>
            <a:schemeClr val="bg1"/>
          </a:solidFill>
          <a:ln w="12700">
            <a:solidFill>
              <a:schemeClr val="accent1"/>
            </a:solidFill>
            <a:prstDash val="solid"/>
          </a:ln>
        </p:spPr>
      </p:sp>
      <p:sp>
        <p:nvSpPr>
          <p:cNvPr id="14" name="Text 11"/>
          <p:cNvSpPr txBox="1"/>
          <p:nvPr/>
        </p:nvSpPr>
        <p:spPr>
          <a:xfrm>
            <a:off x="7635240" y="1965960"/>
            <a:ext cx="914400" cy="274320"/>
          </a:xfrm>
          <a:prstGeom prst="rect">
            <a:avLst/>
          </a:prstGeom>
          <a:noFill/>
          <a:ln/>
        </p:spPr>
        <p:txBody>
          <a:bodyPr wrap="square" lIns="0" tIns="0" rIns="0" bIns="0" rtlCol="0" anchor="ctr"/>
          <a:lstStyle/>
          <a:p>
            <a:pPr algn="ctr" indent="0" marL="0">
              <a:buNone/>
            </a:pPr>
            <a:r>
              <a:rPr lang="en-US" sz="1100" b="1" dirty="0">
                <a:solidFill>
                  <a:schemeClr val="accent1"/>
                </a:solidFill>
              </a:rPr>
              <a:t>Media</a:t>
            </a:r>
            <a:endParaRPr lang="en-US" sz="1100" dirty="0"/>
          </a:p>
        </p:txBody>
      </p:sp>
      <p:sp>
        <p:nvSpPr>
          <p:cNvPr id="15" name="riga 1.3"/>
          <p:cNvSpPr/>
          <p:nvPr/>
        </p:nvSpPr>
        <p:spPr>
          <a:xfrm>
            <a:off x="457200" y="2423160"/>
            <a:ext cx="8229600" cy="457200"/>
          </a:xfrm>
          <a:prstGeom prst="roundRect">
            <a:avLst>
              <a:gd name="adj" fmla="val 16000"/>
            </a:avLst>
          </a:prstGeom>
          <a:solidFill>
            <a:schemeClr val="bg2"/>
          </a:solidFill>
          <a:ln/>
        </p:spPr>
      </p:sp>
      <p:sp>
        <p:nvSpPr>
          <p:cNvPr id="16" name="Text 13"/>
          <p:cNvSpPr txBox="1"/>
          <p:nvPr/>
        </p:nvSpPr>
        <p:spPr>
          <a:xfrm>
            <a:off x="640080" y="242316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1.3</a:t>
            </a:r>
            <a:endParaRPr lang="en-US" sz="1600" dirty="0"/>
          </a:p>
        </p:txBody>
      </p:sp>
      <p:sp>
        <p:nvSpPr>
          <p:cNvPr id="17" name="Text 14"/>
          <p:cNvSpPr txBox="1"/>
          <p:nvPr/>
        </p:nvSpPr>
        <p:spPr>
          <a:xfrm>
            <a:off x="1371600" y="2423160"/>
            <a:ext cx="5943600" cy="457200"/>
          </a:xfrm>
          <a:prstGeom prst="rect">
            <a:avLst/>
          </a:prstGeom>
          <a:noFill/>
          <a:ln/>
        </p:spPr>
        <p:txBody>
          <a:bodyPr wrap="square" lIns="0" tIns="0" rIns="0" bIns="0" rtlCol="0" anchor="ctr"/>
          <a:lstStyle/>
          <a:p>
            <a:pPr indent="0" marL="0">
              <a:buNone/>
            </a:pPr>
            <a:r>
              <a:rPr lang="en-US" sz="1500" dirty="0">
                <a:solidFill>
                  <a:schemeClr val="tx1"/>
                </a:solidFill>
              </a:rPr>
              <a:t>La svolta dell'AI generativa</a:t>
            </a:r>
            <a:endParaRPr lang="en-US" sz="1500" dirty="0"/>
          </a:p>
        </p:txBody>
      </p:sp>
      <p:sp>
        <p:nvSpPr>
          <p:cNvPr id="18" name="priorità 1.3"/>
          <p:cNvSpPr/>
          <p:nvPr/>
        </p:nvSpPr>
        <p:spPr>
          <a:xfrm>
            <a:off x="7635240" y="2514600"/>
            <a:ext cx="914400" cy="274320"/>
          </a:xfrm>
          <a:prstGeom prst="roundRect">
            <a:avLst>
              <a:gd name="adj" fmla="val 50000"/>
            </a:avLst>
          </a:prstGeom>
          <a:solidFill>
            <a:schemeClr val="accent1"/>
          </a:solidFill>
          <a:ln w="12700">
            <a:solidFill>
              <a:schemeClr val="accent1"/>
            </a:solidFill>
            <a:prstDash val="solid"/>
          </a:ln>
        </p:spPr>
      </p:sp>
      <p:sp>
        <p:nvSpPr>
          <p:cNvPr id="19" name="Text 16"/>
          <p:cNvSpPr txBox="1"/>
          <p:nvPr/>
        </p:nvSpPr>
        <p:spPr>
          <a:xfrm>
            <a:off x="7635240" y="2514600"/>
            <a:ext cx="914400" cy="274320"/>
          </a:xfrm>
          <a:prstGeom prst="rect">
            <a:avLst/>
          </a:prstGeom>
          <a:noFill/>
          <a:ln/>
        </p:spPr>
        <p:txBody>
          <a:bodyPr wrap="square" lIns="0" tIns="0" rIns="0" bIns="0" rtlCol="0" anchor="ctr"/>
          <a:lstStyle/>
          <a:p>
            <a:pPr algn="ctr" indent="0" marL="0">
              <a:buNone/>
            </a:pPr>
            <a:r>
              <a:rPr lang="en-US" sz="1100" b="1" dirty="0">
                <a:solidFill>
                  <a:schemeClr val="bg1"/>
                </a:solidFill>
              </a:rPr>
              <a:t>Alta</a:t>
            </a:r>
            <a:endParaRPr lang="en-US" sz="1100" dirty="0"/>
          </a:p>
        </p:txBody>
      </p:sp>
      <p:sp>
        <p:nvSpPr>
          <p:cNvPr id="20" name="riga 1.4"/>
          <p:cNvSpPr/>
          <p:nvPr/>
        </p:nvSpPr>
        <p:spPr>
          <a:xfrm>
            <a:off x="457200" y="2971800"/>
            <a:ext cx="8229600" cy="457200"/>
          </a:xfrm>
          <a:prstGeom prst="roundRect">
            <a:avLst>
              <a:gd name="adj" fmla="val 16000"/>
            </a:avLst>
          </a:prstGeom>
          <a:solidFill>
            <a:schemeClr val="bg1"/>
          </a:solidFill>
          <a:ln/>
        </p:spPr>
      </p:sp>
      <p:sp>
        <p:nvSpPr>
          <p:cNvPr id="21" name="Text 18"/>
          <p:cNvSpPr txBox="1"/>
          <p:nvPr/>
        </p:nvSpPr>
        <p:spPr>
          <a:xfrm>
            <a:off x="640080" y="297180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1.4</a:t>
            </a:r>
            <a:endParaRPr lang="en-US" sz="1600" dirty="0"/>
          </a:p>
        </p:txBody>
      </p:sp>
      <p:sp>
        <p:nvSpPr>
          <p:cNvPr id="22" name="Text 19"/>
          <p:cNvSpPr txBox="1"/>
          <p:nvPr/>
        </p:nvSpPr>
        <p:spPr>
          <a:xfrm>
            <a:off x="1371600" y="2971800"/>
            <a:ext cx="5943600" cy="457200"/>
          </a:xfrm>
          <a:prstGeom prst="rect">
            <a:avLst/>
          </a:prstGeom>
          <a:noFill/>
          <a:ln/>
        </p:spPr>
        <p:txBody>
          <a:bodyPr wrap="square" lIns="0" tIns="0" rIns="0" bIns="0" rtlCol="0" anchor="ctr"/>
          <a:lstStyle/>
          <a:p>
            <a:pPr indent="0" marL="0">
              <a:buNone/>
            </a:pPr>
            <a:r>
              <a:rPr lang="en-US" sz="1500" dirty="0">
                <a:solidFill>
                  <a:schemeClr val="tx1"/>
                </a:solidFill>
              </a:rPr>
              <a:t>Dalla digitalizzazione all'Intelligenza Artificiale</a:t>
            </a:r>
            <a:endParaRPr lang="en-US" sz="1500" dirty="0"/>
          </a:p>
        </p:txBody>
      </p:sp>
      <p:sp>
        <p:nvSpPr>
          <p:cNvPr id="23" name="priorità 1.4"/>
          <p:cNvSpPr/>
          <p:nvPr/>
        </p:nvSpPr>
        <p:spPr>
          <a:xfrm>
            <a:off x="7635240" y="3063240"/>
            <a:ext cx="914400" cy="274320"/>
          </a:xfrm>
          <a:prstGeom prst="roundRect">
            <a:avLst>
              <a:gd name="adj" fmla="val 50000"/>
            </a:avLst>
          </a:prstGeom>
          <a:solidFill>
            <a:schemeClr val="accent1"/>
          </a:solidFill>
          <a:ln w="12700">
            <a:solidFill>
              <a:schemeClr val="accent1"/>
            </a:solidFill>
            <a:prstDash val="solid"/>
          </a:ln>
        </p:spPr>
      </p:sp>
      <p:sp>
        <p:nvSpPr>
          <p:cNvPr id="24" name="Text 21"/>
          <p:cNvSpPr txBox="1"/>
          <p:nvPr/>
        </p:nvSpPr>
        <p:spPr>
          <a:xfrm>
            <a:off x="7635240" y="3063240"/>
            <a:ext cx="914400" cy="274320"/>
          </a:xfrm>
          <a:prstGeom prst="rect">
            <a:avLst/>
          </a:prstGeom>
          <a:noFill/>
          <a:ln/>
        </p:spPr>
        <p:txBody>
          <a:bodyPr wrap="square" lIns="0" tIns="0" rIns="0" bIns="0" rtlCol="0" anchor="ctr"/>
          <a:lstStyle/>
          <a:p>
            <a:pPr algn="ctr" indent="0" marL="0">
              <a:buNone/>
            </a:pPr>
            <a:r>
              <a:rPr lang="en-US" sz="1100" b="1" dirty="0">
                <a:solidFill>
                  <a:schemeClr val="bg1"/>
                </a:solidFill>
              </a:rPr>
              <a:t>Alta</a:t>
            </a:r>
            <a:endParaRPr lang="en-US" sz="1100" dirty="0"/>
          </a:p>
        </p:txBody>
      </p:sp>
      <p:sp>
        <p:nvSpPr>
          <p:cNvPr id="25" name="riga 1.5"/>
          <p:cNvSpPr/>
          <p:nvPr/>
        </p:nvSpPr>
        <p:spPr>
          <a:xfrm>
            <a:off x="457200" y="3520440"/>
            <a:ext cx="8229600" cy="457200"/>
          </a:xfrm>
          <a:prstGeom prst="roundRect">
            <a:avLst>
              <a:gd name="adj" fmla="val 16000"/>
            </a:avLst>
          </a:prstGeom>
          <a:solidFill>
            <a:schemeClr val="bg2"/>
          </a:solidFill>
          <a:ln/>
        </p:spPr>
      </p:sp>
      <p:sp>
        <p:nvSpPr>
          <p:cNvPr id="26" name="Text 23"/>
          <p:cNvSpPr txBox="1"/>
          <p:nvPr/>
        </p:nvSpPr>
        <p:spPr>
          <a:xfrm>
            <a:off x="640080" y="352044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1.5</a:t>
            </a:r>
            <a:endParaRPr lang="en-US" sz="1600" dirty="0"/>
          </a:p>
        </p:txBody>
      </p:sp>
      <p:sp>
        <p:nvSpPr>
          <p:cNvPr id="27" name="Text 24"/>
          <p:cNvSpPr txBox="1"/>
          <p:nvPr/>
        </p:nvSpPr>
        <p:spPr>
          <a:xfrm>
            <a:off x="1371600" y="3520440"/>
            <a:ext cx="5943600" cy="457200"/>
          </a:xfrm>
          <a:prstGeom prst="rect">
            <a:avLst/>
          </a:prstGeom>
          <a:noFill/>
          <a:ln/>
        </p:spPr>
        <p:txBody>
          <a:bodyPr wrap="square" lIns="0" tIns="0" rIns="0" bIns="0" rtlCol="0" anchor="ctr"/>
          <a:lstStyle/>
          <a:p>
            <a:pPr indent="0" marL="0">
              <a:buNone/>
            </a:pPr>
            <a:r>
              <a:rPr lang="en-US" sz="1500" dirty="0">
                <a:solidFill>
                  <a:schemeClr val="tx1"/>
                </a:solidFill>
              </a:rPr>
              <a:t>Rilevanza dell'AI per le aziende</a:t>
            </a:r>
            <a:endParaRPr lang="en-US" sz="1500" dirty="0"/>
          </a:p>
        </p:txBody>
      </p:sp>
      <p:sp>
        <p:nvSpPr>
          <p:cNvPr id="28" name="priorità 1.5"/>
          <p:cNvSpPr/>
          <p:nvPr/>
        </p:nvSpPr>
        <p:spPr>
          <a:xfrm>
            <a:off x="7635240" y="3611880"/>
            <a:ext cx="914400" cy="274320"/>
          </a:xfrm>
          <a:prstGeom prst="roundRect">
            <a:avLst>
              <a:gd name="adj" fmla="val 50000"/>
            </a:avLst>
          </a:prstGeom>
          <a:solidFill>
            <a:schemeClr val="accent1"/>
          </a:solidFill>
          <a:ln w="12700">
            <a:solidFill>
              <a:schemeClr val="accent1"/>
            </a:solidFill>
            <a:prstDash val="solid"/>
          </a:ln>
        </p:spPr>
      </p:sp>
      <p:sp>
        <p:nvSpPr>
          <p:cNvPr id="29" name="Text 26"/>
          <p:cNvSpPr txBox="1"/>
          <p:nvPr/>
        </p:nvSpPr>
        <p:spPr>
          <a:xfrm>
            <a:off x="7635240" y="3611880"/>
            <a:ext cx="914400" cy="274320"/>
          </a:xfrm>
          <a:prstGeom prst="rect">
            <a:avLst/>
          </a:prstGeom>
          <a:noFill/>
          <a:ln/>
        </p:spPr>
        <p:txBody>
          <a:bodyPr wrap="square" lIns="0" tIns="0" rIns="0" bIns="0" rtlCol="0" anchor="ctr"/>
          <a:lstStyle/>
          <a:p>
            <a:pPr algn="ctr" indent="0" marL="0">
              <a:buNone/>
            </a:pPr>
            <a:r>
              <a:rPr lang="en-US" sz="1100" b="1" dirty="0">
                <a:solidFill>
                  <a:schemeClr val="bg1"/>
                </a:solidFill>
              </a:rPr>
              <a:t>Alta</a:t>
            </a:r>
            <a:endParaRPr lang="en-US" sz="1100" dirty="0"/>
          </a:p>
        </p:txBody>
      </p:sp>
      <p:sp>
        <p:nvSpPr>
          <p:cNvPr id="30" name="riga 1.6"/>
          <p:cNvSpPr/>
          <p:nvPr/>
        </p:nvSpPr>
        <p:spPr>
          <a:xfrm>
            <a:off x="457200" y="4069080"/>
            <a:ext cx="8229600" cy="457200"/>
          </a:xfrm>
          <a:prstGeom prst="roundRect">
            <a:avLst>
              <a:gd name="adj" fmla="val 16000"/>
            </a:avLst>
          </a:prstGeom>
          <a:solidFill>
            <a:schemeClr val="bg1"/>
          </a:solidFill>
          <a:ln/>
        </p:spPr>
      </p:sp>
      <p:sp>
        <p:nvSpPr>
          <p:cNvPr id="31" name="Text 28"/>
          <p:cNvSpPr txBox="1"/>
          <p:nvPr/>
        </p:nvSpPr>
        <p:spPr>
          <a:xfrm>
            <a:off x="640080" y="4069080"/>
            <a:ext cx="640080" cy="457200"/>
          </a:xfrm>
          <a:prstGeom prst="rect">
            <a:avLst/>
          </a:prstGeom>
          <a:noFill/>
          <a:ln/>
        </p:spPr>
        <p:txBody>
          <a:bodyPr wrap="square" lIns="0" tIns="0" rIns="0" bIns="0" rtlCol="0" anchor="ctr"/>
          <a:lstStyle/>
          <a:p>
            <a:pPr indent="0" marL="0">
              <a:buNone/>
            </a:pPr>
            <a:r>
              <a:rPr lang="en-US" sz="1600" b="1" dirty="0">
                <a:solidFill>
                  <a:schemeClr val="accent1"/>
                </a:solidFill>
              </a:rPr>
              <a:t>1.6</a:t>
            </a:r>
            <a:endParaRPr lang="en-US" sz="1600" dirty="0"/>
          </a:p>
        </p:txBody>
      </p:sp>
      <p:sp>
        <p:nvSpPr>
          <p:cNvPr id="32" name="Text 29"/>
          <p:cNvSpPr txBox="1"/>
          <p:nvPr/>
        </p:nvSpPr>
        <p:spPr>
          <a:xfrm>
            <a:off x="1371600" y="4069080"/>
            <a:ext cx="5943600" cy="457200"/>
          </a:xfrm>
          <a:prstGeom prst="rect">
            <a:avLst/>
          </a:prstGeom>
          <a:noFill/>
          <a:ln/>
        </p:spPr>
        <p:txBody>
          <a:bodyPr wrap="square" lIns="0" tIns="0" rIns="0" bIns="0" rtlCol="0" anchor="ctr"/>
          <a:lstStyle/>
          <a:p>
            <a:pPr indent="0" marL="0">
              <a:buNone/>
            </a:pPr>
            <a:r>
              <a:rPr lang="en-US" sz="1500" dirty="0">
                <a:solidFill>
                  <a:schemeClr val="tx1"/>
                </a:solidFill>
              </a:rPr>
              <a:t>Tra hype e realtà</a:t>
            </a:r>
            <a:endParaRPr lang="en-US" sz="1500" dirty="0"/>
          </a:p>
        </p:txBody>
      </p:sp>
      <p:sp>
        <p:nvSpPr>
          <p:cNvPr id="33" name="priorità 1.6"/>
          <p:cNvSpPr/>
          <p:nvPr/>
        </p:nvSpPr>
        <p:spPr>
          <a:xfrm>
            <a:off x="7635240" y="4160520"/>
            <a:ext cx="914400" cy="274320"/>
          </a:xfrm>
          <a:prstGeom prst="roundRect">
            <a:avLst>
              <a:gd name="adj" fmla="val 50000"/>
            </a:avLst>
          </a:prstGeom>
          <a:solidFill>
            <a:schemeClr val="accent1"/>
          </a:solidFill>
          <a:ln w="12700">
            <a:solidFill>
              <a:schemeClr val="accent1"/>
            </a:solidFill>
            <a:prstDash val="solid"/>
          </a:ln>
        </p:spPr>
      </p:sp>
      <p:sp>
        <p:nvSpPr>
          <p:cNvPr id="34" name="Text 31"/>
          <p:cNvSpPr txBox="1"/>
          <p:nvPr/>
        </p:nvSpPr>
        <p:spPr>
          <a:xfrm>
            <a:off x="7635240" y="4160520"/>
            <a:ext cx="914400" cy="274320"/>
          </a:xfrm>
          <a:prstGeom prst="rect">
            <a:avLst/>
          </a:prstGeom>
          <a:noFill/>
          <a:ln/>
        </p:spPr>
        <p:txBody>
          <a:bodyPr wrap="square" lIns="0" tIns="0" rIns="0" bIns="0" rtlCol="0" anchor="ctr"/>
          <a:lstStyle/>
          <a:p>
            <a:pPr algn="ctr" indent="0" marL="0">
              <a:buNone/>
            </a:pPr>
            <a:r>
              <a:rPr lang="en-US" sz="1100" b="1" dirty="0">
                <a:solidFill>
                  <a:schemeClr val="bg1"/>
                </a:solidFill>
              </a:rPr>
              <a:t>Alta</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1.1</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Storia ed evoluzione dell'AI</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L'AI è il risultato di decenni di ricerca, non un'invenzione recente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origini: si possono costruire macchine che pensano?</a:t>
            </a:r>
            <a:endParaRPr lang="en-US" sz="2600" dirty="0"/>
          </a:p>
        </p:txBody>
      </p:sp>
      <p:sp>
        <p:nvSpPr>
          <p:cNvPr id="4" name="scheda 1950: Alan Turing"/>
          <p:cNvSpPr/>
          <p:nvPr/>
        </p:nvSpPr>
        <p:spPr>
          <a:xfrm>
            <a:off x="457200" y="1097280"/>
            <a:ext cx="3977640" cy="3429000"/>
          </a:xfrm>
          <a:prstGeom prst="roundRect">
            <a:avLst>
              <a:gd name="adj" fmla="val 2133"/>
            </a:avLst>
          </a:prstGeom>
          <a:solidFill>
            <a:schemeClr val="bg2"/>
          </a:solidFill>
          <a:ln/>
        </p:spPr>
      </p:sp>
      <p:sp>
        <p:nvSpPr>
          <p:cNvPr id="5" name="cerchio FiBookOpen"/>
          <p:cNvSpPr/>
          <p:nvPr/>
        </p:nvSpPr>
        <p:spPr>
          <a:xfrm>
            <a:off x="640080" y="1280160"/>
            <a:ext cx="457200" cy="457200"/>
          </a:xfrm>
          <a:prstGeom prst="ellipse">
            <a:avLst/>
          </a:prstGeom>
          <a:solidFill>
            <a:schemeClr val="accent1"/>
          </a:solidFill>
          <a:ln/>
        </p:spPr>
      </p:sp>
      <p:pic>
        <p:nvPicPr>
          <p:cNvPr id="6" name="Image 0" descr="FiBookOpen">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1950: Alan Turing</a:t>
            </a:r>
            <a:endParaRPr lang="en-US" sz="1700" dirty="0"/>
          </a:p>
        </p:txBody>
      </p:sp>
      <p:sp>
        <p:nvSpPr>
          <p:cNvPr id="8" name="Text 4"/>
          <p:cNvSpPr txBox="1"/>
          <p:nvPr/>
        </p:nvSpPr>
        <p:spPr>
          <a:xfrm>
            <a:off x="64008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Nell'articolo "Computing Machinery and Intelligence" si chiede se le macchine possano pensare.</a:t>
            </a:r>
            <a:endParaRPr lang="en-US" sz="1400" dirty="0"/>
          </a:p>
          <a:p>
            <a:pPr indent="0" marL="0">
              <a:buNone/>
            </a:pPr>
            <a:endParaRPr lang="en-US" sz="1400" dirty="0"/>
          </a:p>
          <a:p>
            <a:pPr indent="0" marL="0">
              <a:buNone/>
            </a:pPr>
            <a:r>
              <a:rPr lang="en-US" sz="1400" dirty="0">
                <a:solidFill>
                  <a:schemeClr val="tx2"/>
                </a:solidFill>
              </a:rPr>
              <a:t>Propone un criterio pratico: una macchina che conversa in modo indistinguibile da una persona (il "gioco dell'imitazione").</a:t>
            </a:r>
            <a:endParaRPr lang="en-US" sz="1400" dirty="0"/>
          </a:p>
        </p:txBody>
      </p:sp>
      <p:sp>
        <p:nvSpPr>
          <p:cNvPr id="9" name="scheda 1956: Dartmouth College"/>
          <p:cNvSpPr/>
          <p:nvPr/>
        </p:nvSpPr>
        <p:spPr>
          <a:xfrm>
            <a:off x="4709160" y="1097280"/>
            <a:ext cx="3977640" cy="3429000"/>
          </a:xfrm>
          <a:prstGeom prst="roundRect">
            <a:avLst>
              <a:gd name="adj" fmla="val 2133"/>
            </a:avLst>
          </a:prstGeom>
          <a:solidFill>
            <a:schemeClr val="bg2"/>
          </a:solidFill>
          <a:ln/>
        </p:spPr>
      </p:sp>
      <p:sp>
        <p:nvSpPr>
          <p:cNvPr id="10" name="cerchio FiUsers"/>
          <p:cNvSpPr/>
          <p:nvPr/>
        </p:nvSpPr>
        <p:spPr>
          <a:xfrm>
            <a:off x="4892040" y="1280160"/>
            <a:ext cx="457200" cy="457200"/>
          </a:xfrm>
          <a:prstGeom prst="ellipse">
            <a:avLst/>
          </a:prstGeom>
          <a:solidFill>
            <a:schemeClr val="accent1"/>
          </a:solidFill>
          <a:ln/>
        </p:spPr>
      </p:sp>
      <p:pic>
        <p:nvPicPr>
          <p:cNvPr id="11" name="Image 1" descr="FiUsers">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700" b="1" dirty="0">
                <a:solidFill>
                  <a:schemeClr val="tx1"/>
                </a:solidFill>
              </a:rPr>
              <a:t>1956: Dartmouth College</a:t>
            </a:r>
            <a:endParaRPr lang="en-US" sz="1700" dirty="0"/>
          </a:p>
        </p:txBody>
      </p:sp>
      <p:sp>
        <p:nvSpPr>
          <p:cNvPr id="13" name="Text 8"/>
          <p:cNvSpPr txBox="1"/>
          <p:nvPr/>
        </p:nvSpPr>
        <p:spPr>
          <a:xfrm>
            <a:off x="4892040" y="2231136"/>
            <a:ext cx="3611880" cy="2185416"/>
          </a:xfrm>
          <a:prstGeom prst="rect">
            <a:avLst/>
          </a:prstGeom>
          <a:noFill/>
          <a:ln/>
        </p:spPr>
        <p:txBody>
          <a:bodyPr wrap="square" lIns="0" tIns="0" rIns="0" bIns="0" rtlCol="0" anchor="t"/>
          <a:lstStyle/>
          <a:p>
            <a:pPr indent="0" marL="0">
              <a:buNone/>
            </a:pPr>
            <a:r>
              <a:rPr lang="en-US" sz="1400" dirty="0">
                <a:solidFill>
                  <a:schemeClr val="tx2"/>
                </a:solidFill>
              </a:rPr>
              <a:t>Un gruppo di ricercatori (McCarthy, Minsky, Shannon, Rochester) propone un seminario sull'"Artificial Intelligence": nasce il nome della disciplina.</a:t>
            </a:r>
            <a:endParaRPr lang="en-US" sz="1400" dirty="0"/>
          </a:p>
          <a:p>
            <a:pPr indent="0" marL="0">
              <a:buNone/>
            </a:pPr>
            <a:endParaRPr lang="en-US" sz="1400" dirty="0"/>
          </a:p>
          <a:p>
            <a:pPr indent="0" marL="0">
              <a:buNone/>
            </a:pPr>
            <a:r>
              <a:rPr lang="en-US" sz="1400" dirty="0">
                <a:solidFill>
                  <a:schemeClr val="tx2"/>
                </a:solidFill>
              </a:rPr>
              <a:t>L'ipotesi: ogni aspetto dell'intelligenza può essere descritto e simulato da una macchina.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Oltre settant'anni di evoluzione</a:t>
            </a:r>
            <a:endParaRPr lang="en-US" sz="2600" dirty="0"/>
          </a:p>
        </p:txBody>
      </p:sp>
      <p:sp>
        <p:nvSpPr>
          <p:cNvPr id="4" name="linea del tempo"/>
          <p:cNvSpPr/>
          <p:nvPr/>
        </p:nvSpPr>
        <p:spPr>
          <a:xfrm>
            <a:off x="457200" y="2788920"/>
            <a:ext cx="8229600" cy="0"/>
          </a:xfrm>
          <a:prstGeom prst="line">
            <a:avLst/>
          </a:prstGeom>
          <a:noFill/>
          <a:ln w="25400">
            <a:solidFill>
              <a:schemeClr val="accent3"/>
            </a:solidFill>
            <a:prstDash val="solid"/>
          </a:ln>
        </p:spPr>
      </p:sp>
      <p:sp>
        <p:nvSpPr>
          <p:cNvPr id="5" name="tappa 1950"/>
          <p:cNvSpPr/>
          <p:nvPr/>
        </p:nvSpPr>
        <p:spPr>
          <a:xfrm>
            <a:off x="1060704" y="2688336"/>
            <a:ext cx="201168" cy="201168"/>
          </a:xfrm>
          <a:prstGeom prst="ellipse">
            <a:avLst/>
          </a:prstGeom>
          <a:solidFill>
            <a:schemeClr val="bg1"/>
          </a:solidFill>
          <a:ln w="25400">
            <a:solidFill>
              <a:schemeClr val="accent1"/>
            </a:solidFill>
            <a:prstDash val="solid"/>
          </a:ln>
        </p:spPr>
      </p:sp>
      <p:sp>
        <p:nvSpPr>
          <p:cNvPr id="6" name="connettore 1950"/>
          <p:cNvSpPr/>
          <p:nvPr/>
        </p:nvSpPr>
        <p:spPr>
          <a:xfrm>
            <a:off x="1161288" y="2286000"/>
            <a:ext cx="0" cy="402336"/>
          </a:xfrm>
          <a:prstGeom prst="line">
            <a:avLst/>
          </a:prstGeom>
          <a:noFill/>
          <a:ln w="12700">
            <a:solidFill>
              <a:schemeClr val="accent3"/>
            </a:solidFill>
            <a:prstDash val="solid"/>
          </a:ln>
        </p:spPr>
      </p:sp>
      <p:sp>
        <p:nvSpPr>
          <p:cNvPr id="7" name="Text 4"/>
          <p:cNvSpPr txBox="1"/>
          <p:nvPr/>
        </p:nvSpPr>
        <p:spPr>
          <a:xfrm>
            <a:off x="502920" y="114300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1950</a:t>
            </a:r>
            <a:endParaRPr lang="en-US" sz="1400" dirty="0"/>
          </a:p>
        </p:txBody>
      </p:sp>
      <p:sp>
        <p:nvSpPr>
          <p:cNvPr id="8" name="Text 5"/>
          <p:cNvSpPr txBox="1"/>
          <p:nvPr/>
        </p:nvSpPr>
        <p:spPr>
          <a:xfrm>
            <a:off x="502920" y="143560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Turing: le macchine possono pensare?</a:t>
            </a:r>
            <a:endParaRPr lang="en-US" sz="1200" dirty="0"/>
          </a:p>
        </p:txBody>
      </p:sp>
      <p:sp>
        <p:nvSpPr>
          <p:cNvPr id="9" name="tappa 1956"/>
          <p:cNvSpPr/>
          <p:nvPr/>
        </p:nvSpPr>
        <p:spPr>
          <a:xfrm>
            <a:off x="2034540" y="2688336"/>
            <a:ext cx="201168" cy="201168"/>
          </a:xfrm>
          <a:prstGeom prst="ellipse">
            <a:avLst/>
          </a:prstGeom>
          <a:solidFill>
            <a:schemeClr val="bg1"/>
          </a:solidFill>
          <a:ln w="25400">
            <a:solidFill>
              <a:schemeClr val="accent1"/>
            </a:solidFill>
            <a:prstDash val="solid"/>
          </a:ln>
        </p:spPr>
      </p:sp>
      <p:sp>
        <p:nvSpPr>
          <p:cNvPr id="10" name="connettore 1956"/>
          <p:cNvSpPr/>
          <p:nvPr/>
        </p:nvSpPr>
        <p:spPr>
          <a:xfrm>
            <a:off x="2135124" y="2889504"/>
            <a:ext cx="0" cy="402336"/>
          </a:xfrm>
          <a:prstGeom prst="line">
            <a:avLst/>
          </a:prstGeom>
          <a:noFill/>
          <a:ln w="12700">
            <a:solidFill>
              <a:schemeClr val="accent3"/>
            </a:solidFill>
            <a:prstDash val="solid"/>
          </a:ln>
        </p:spPr>
      </p:sp>
      <p:sp>
        <p:nvSpPr>
          <p:cNvPr id="11" name="Text 8"/>
          <p:cNvSpPr txBox="1"/>
          <p:nvPr/>
        </p:nvSpPr>
        <p:spPr>
          <a:xfrm>
            <a:off x="1476756" y="333756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1956</a:t>
            </a:r>
            <a:endParaRPr lang="en-US" sz="1400" dirty="0"/>
          </a:p>
        </p:txBody>
      </p:sp>
      <p:sp>
        <p:nvSpPr>
          <p:cNvPr id="12" name="Text 9"/>
          <p:cNvSpPr txBox="1"/>
          <p:nvPr/>
        </p:nvSpPr>
        <p:spPr>
          <a:xfrm>
            <a:off x="1476756" y="363016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Dartmouth: nasce il termine AI</a:t>
            </a:r>
            <a:endParaRPr lang="en-US" sz="1200" dirty="0"/>
          </a:p>
        </p:txBody>
      </p:sp>
      <p:sp>
        <p:nvSpPr>
          <p:cNvPr id="13" name="tappa 1958"/>
          <p:cNvSpPr/>
          <p:nvPr/>
        </p:nvSpPr>
        <p:spPr>
          <a:xfrm>
            <a:off x="3008376" y="2688336"/>
            <a:ext cx="201168" cy="201168"/>
          </a:xfrm>
          <a:prstGeom prst="ellipse">
            <a:avLst/>
          </a:prstGeom>
          <a:solidFill>
            <a:schemeClr val="bg1"/>
          </a:solidFill>
          <a:ln w="25400">
            <a:solidFill>
              <a:schemeClr val="accent1"/>
            </a:solidFill>
            <a:prstDash val="solid"/>
          </a:ln>
        </p:spPr>
      </p:sp>
      <p:sp>
        <p:nvSpPr>
          <p:cNvPr id="14" name="connettore 1958"/>
          <p:cNvSpPr/>
          <p:nvPr/>
        </p:nvSpPr>
        <p:spPr>
          <a:xfrm>
            <a:off x="3108960" y="2286000"/>
            <a:ext cx="0" cy="402336"/>
          </a:xfrm>
          <a:prstGeom prst="line">
            <a:avLst/>
          </a:prstGeom>
          <a:noFill/>
          <a:ln w="12700">
            <a:solidFill>
              <a:schemeClr val="accent3"/>
            </a:solidFill>
            <a:prstDash val="solid"/>
          </a:ln>
        </p:spPr>
      </p:sp>
      <p:sp>
        <p:nvSpPr>
          <p:cNvPr id="15" name="Text 12"/>
          <p:cNvSpPr txBox="1"/>
          <p:nvPr/>
        </p:nvSpPr>
        <p:spPr>
          <a:xfrm>
            <a:off x="2450592" y="114300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1958</a:t>
            </a:r>
            <a:endParaRPr lang="en-US" sz="1400" dirty="0"/>
          </a:p>
        </p:txBody>
      </p:sp>
      <p:sp>
        <p:nvSpPr>
          <p:cNvPr id="16" name="Text 13"/>
          <p:cNvSpPr txBox="1"/>
          <p:nvPr/>
        </p:nvSpPr>
        <p:spPr>
          <a:xfrm>
            <a:off x="2450592" y="143560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Perceptron: primo neurone artificiale</a:t>
            </a:r>
            <a:endParaRPr lang="en-US" sz="1200" dirty="0"/>
          </a:p>
        </p:txBody>
      </p:sp>
      <p:sp>
        <p:nvSpPr>
          <p:cNvPr id="17" name="tappa Anni '70-'80"/>
          <p:cNvSpPr/>
          <p:nvPr/>
        </p:nvSpPr>
        <p:spPr>
          <a:xfrm>
            <a:off x="3982212" y="2688336"/>
            <a:ext cx="201168" cy="201168"/>
          </a:xfrm>
          <a:prstGeom prst="ellipse">
            <a:avLst/>
          </a:prstGeom>
          <a:solidFill>
            <a:schemeClr val="bg1"/>
          </a:solidFill>
          <a:ln w="25400">
            <a:solidFill>
              <a:schemeClr val="accent1"/>
            </a:solidFill>
            <a:prstDash val="solid"/>
          </a:ln>
        </p:spPr>
      </p:sp>
      <p:sp>
        <p:nvSpPr>
          <p:cNvPr id="18" name="connettore Anni '70-'80"/>
          <p:cNvSpPr/>
          <p:nvPr/>
        </p:nvSpPr>
        <p:spPr>
          <a:xfrm>
            <a:off x="4082796" y="2889504"/>
            <a:ext cx="0" cy="402336"/>
          </a:xfrm>
          <a:prstGeom prst="line">
            <a:avLst/>
          </a:prstGeom>
          <a:noFill/>
          <a:ln w="12700">
            <a:solidFill>
              <a:schemeClr val="accent3"/>
            </a:solidFill>
            <a:prstDash val="solid"/>
          </a:ln>
        </p:spPr>
      </p:sp>
      <p:sp>
        <p:nvSpPr>
          <p:cNvPr id="19" name="Text 16"/>
          <p:cNvSpPr txBox="1"/>
          <p:nvPr/>
        </p:nvSpPr>
        <p:spPr>
          <a:xfrm>
            <a:off x="3424428" y="333756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Anni '70-'80</a:t>
            </a:r>
            <a:endParaRPr lang="en-US" sz="1400" dirty="0"/>
          </a:p>
        </p:txBody>
      </p:sp>
      <p:sp>
        <p:nvSpPr>
          <p:cNvPr id="20" name="Text 17"/>
          <p:cNvSpPr txBox="1"/>
          <p:nvPr/>
        </p:nvSpPr>
        <p:spPr>
          <a:xfrm>
            <a:off x="3424428" y="363016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Diffusione dei sistemi esperti</a:t>
            </a:r>
            <a:endParaRPr lang="en-US" sz="1200" dirty="0"/>
          </a:p>
        </p:txBody>
      </p:sp>
      <p:sp>
        <p:nvSpPr>
          <p:cNvPr id="21" name="tappa 1997"/>
          <p:cNvSpPr/>
          <p:nvPr/>
        </p:nvSpPr>
        <p:spPr>
          <a:xfrm>
            <a:off x="4956048" y="2688336"/>
            <a:ext cx="201168" cy="201168"/>
          </a:xfrm>
          <a:prstGeom prst="ellipse">
            <a:avLst/>
          </a:prstGeom>
          <a:solidFill>
            <a:schemeClr val="bg1"/>
          </a:solidFill>
          <a:ln w="25400">
            <a:solidFill>
              <a:schemeClr val="accent1"/>
            </a:solidFill>
            <a:prstDash val="solid"/>
          </a:ln>
        </p:spPr>
      </p:sp>
      <p:sp>
        <p:nvSpPr>
          <p:cNvPr id="22" name="connettore 1997"/>
          <p:cNvSpPr/>
          <p:nvPr/>
        </p:nvSpPr>
        <p:spPr>
          <a:xfrm>
            <a:off x="5056632" y="2286000"/>
            <a:ext cx="0" cy="402336"/>
          </a:xfrm>
          <a:prstGeom prst="line">
            <a:avLst/>
          </a:prstGeom>
          <a:noFill/>
          <a:ln w="12700">
            <a:solidFill>
              <a:schemeClr val="accent3"/>
            </a:solidFill>
            <a:prstDash val="solid"/>
          </a:ln>
        </p:spPr>
      </p:sp>
      <p:sp>
        <p:nvSpPr>
          <p:cNvPr id="23" name="Text 20"/>
          <p:cNvSpPr txBox="1"/>
          <p:nvPr/>
        </p:nvSpPr>
        <p:spPr>
          <a:xfrm>
            <a:off x="4398264" y="114300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1997</a:t>
            </a:r>
            <a:endParaRPr lang="en-US" sz="1400" dirty="0"/>
          </a:p>
        </p:txBody>
      </p:sp>
      <p:sp>
        <p:nvSpPr>
          <p:cNvPr id="24" name="Text 21"/>
          <p:cNvSpPr txBox="1"/>
          <p:nvPr/>
        </p:nvSpPr>
        <p:spPr>
          <a:xfrm>
            <a:off x="4398264" y="143560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Deep Blue batte Kasparov a scacchi</a:t>
            </a:r>
            <a:endParaRPr lang="en-US" sz="1200" dirty="0"/>
          </a:p>
        </p:txBody>
      </p:sp>
      <p:sp>
        <p:nvSpPr>
          <p:cNvPr id="25" name="tappa 2012"/>
          <p:cNvSpPr/>
          <p:nvPr/>
        </p:nvSpPr>
        <p:spPr>
          <a:xfrm>
            <a:off x="5929884" y="2688336"/>
            <a:ext cx="201168" cy="201168"/>
          </a:xfrm>
          <a:prstGeom prst="ellipse">
            <a:avLst/>
          </a:prstGeom>
          <a:solidFill>
            <a:schemeClr val="bg1"/>
          </a:solidFill>
          <a:ln w="25400">
            <a:solidFill>
              <a:schemeClr val="accent1"/>
            </a:solidFill>
            <a:prstDash val="solid"/>
          </a:ln>
        </p:spPr>
      </p:sp>
      <p:sp>
        <p:nvSpPr>
          <p:cNvPr id="26" name="connettore 2012"/>
          <p:cNvSpPr/>
          <p:nvPr/>
        </p:nvSpPr>
        <p:spPr>
          <a:xfrm>
            <a:off x="6030468" y="2889504"/>
            <a:ext cx="0" cy="402336"/>
          </a:xfrm>
          <a:prstGeom prst="line">
            <a:avLst/>
          </a:prstGeom>
          <a:noFill/>
          <a:ln w="12700">
            <a:solidFill>
              <a:schemeClr val="accent3"/>
            </a:solidFill>
            <a:prstDash val="solid"/>
          </a:ln>
        </p:spPr>
      </p:sp>
      <p:sp>
        <p:nvSpPr>
          <p:cNvPr id="27" name="Text 24"/>
          <p:cNvSpPr txBox="1"/>
          <p:nvPr/>
        </p:nvSpPr>
        <p:spPr>
          <a:xfrm>
            <a:off x="5372100" y="333756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2012</a:t>
            </a:r>
            <a:endParaRPr lang="en-US" sz="1400" dirty="0"/>
          </a:p>
        </p:txBody>
      </p:sp>
      <p:sp>
        <p:nvSpPr>
          <p:cNvPr id="28" name="Text 25"/>
          <p:cNvSpPr txBox="1"/>
          <p:nvPr/>
        </p:nvSpPr>
        <p:spPr>
          <a:xfrm>
            <a:off x="5372100" y="363016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Svolta del deep learning nelle immagini</a:t>
            </a:r>
            <a:endParaRPr lang="en-US" sz="1200" dirty="0"/>
          </a:p>
        </p:txBody>
      </p:sp>
      <p:sp>
        <p:nvSpPr>
          <p:cNvPr id="29" name="tappa 2017"/>
          <p:cNvSpPr/>
          <p:nvPr/>
        </p:nvSpPr>
        <p:spPr>
          <a:xfrm>
            <a:off x="6903720" y="2688336"/>
            <a:ext cx="201168" cy="201168"/>
          </a:xfrm>
          <a:prstGeom prst="ellipse">
            <a:avLst/>
          </a:prstGeom>
          <a:solidFill>
            <a:schemeClr val="bg1"/>
          </a:solidFill>
          <a:ln w="25400">
            <a:solidFill>
              <a:schemeClr val="accent1"/>
            </a:solidFill>
            <a:prstDash val="solid"/>
          </a:ln>
        </p:spPr>
      </p:sp>
      <p:sp>
        <p:nvSpPr>
          <p:cNvPr id="30" name="connettore 2017"/>
          <p:cNvSpPr/>
          <p:nvPr/>
        </p:nvSpPr>
        <p:spPr>
          <a:xfrm>
            <a:off x="7004304" y="2286000"/>
            <a:ext cx="0" cy="402336"/>
          </a:xfrm>
          <a:prstGeom prst="line">
            <a:avLst/>
          </a:prstGeom>
          <a:noFill/>
          <a:ln w="12700">
            <a:solidFill>
              <a:schemeClr val="accent3"/>
            </a:solidFill>
            <a:prstDash val="solid"/>
          </a:ln>
        </p:spPr>
      </p:sp>
      <p:sp>
        <p:nvSpPr>
          <p:cNvPr id="31" name="Text 28"/>
          <p:cNvSpPr txBox="1"/>
          <p:nvPr/>
        </p:nvSpPr>
        <p:spPr>
          <a:xfrm>
            <a:off x="6345936" y="114300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2017</a:t>
            </a:r>
            <a:endParaRPr lang="en-US" sz="1400" dirty="0"/>
          </a:p>
        </p:txBody>
      </p:sp>
      <p:sp>
        <p:nvSpPr>
          <p:cNvPr id="32" name="Text 29"/>
          <p:cNvSpPr txBox="1"/>
          <p:nvPr/>
        </p:nvSpPr>
        <p:spPr>
          <a:xfrm>
            <a:off x="6345936" y="143560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Architettura Transformer</a:t>
            </a:r>
            <a:endParaRPr lang="en-US" sz="1200" dirty="0"/>
          </a:p>
        </p:txBody>
      </p:sp>
      <p:sp>
        <p:nvSpPr>
          <p:cNvPr id="33" name="tappa 2022"/>
          <p:cNvSpPr/>
          <p:nvPr/>
        </p:nvSpPr>
        <p:spPr>
          <a:xfrm>
            <a:off x="7877556" y="2688336"/>
            <a:ext cx="201168" cy="201168"/>
          </a:xfrm>
          <a:prstGeom prst="ellipse">
            <a:avLst/>
          </a:prstGeom>
          <a:solidFill>
            <a:schemeClr val="accent1"/>
          </a:solidFill>
          <a:ln w="25400">
            <a:solidFill>
              <a:schemeClr val="accent1"/>
            </a:solidFill>
            <a:prstDash val="solid"/>
          </a:ln>
        </p:spPr>
      </p:sp>
      <p:sp>
        <p:nvSpPr>
          <p:cNvPr id="34" name="connettore 2022"/>
          <p:cNvSpPr/>
          <p:nvPr/>
        </p:nvSpPr>
        <p:spPr>
          <a:xfrm>
            <a:off x="7978140" y="2889504"/>
            <a:ext cx="0" cy="402336"/>
          </a:xfrm>
          <a:prstGeom prst="line">
            <a:avLst/>
          </a:prstGeom>
          <a:noFill/>
          <a:ln w="12700">
            <a:solidFill>
              <a:schemeClr val="accent3"/>
            </a:solidFill>
            <a:prstDash val="solid"/>
          </a:ln>
        </p:spPr>
      </p:sp>
      <p:sp>
        <p:nvSpPr>
          <p:cNvPr id="35" name="Text 32"/>
          <p:cNvSpPr txBox="1"/>
          <p:nvPr/>
        </p:nvSpPr>
        <p:spPr>
          <a:xfrm>
            <a:off x="7319772" y="3337560"/>
            <a:ext cx="1316736" cy="292608"/>
          </a:xfrm>
          <a:prstGeom prst="rect">
            <a:avLst/>
          </a:prstGeom>
          <a:noFill/>
          <a:ln/>
        </p:spPr>
        <p:txBody>
          <a:bodyPr wrap="square" lIns="0" tIns="0" rIns="0" bIns="0" rtlCol="0" anchor="t"/>
          <a:lstStyle/>
          <a:p>
            <a:pPr algn="ctr" indent="0" marL="0">
              <a:buNone/>
            </a:pPr>
            <a:r>
              <a:rPr lang="en-US" sz="1400" b="1" dirty="0">
                <a:solidFill>
                  <a:schemeClr val="accent1"/>
                </a:solidFill>
              </a:rPr>
              <a:t>2022</a:t>
            </a:r>
            <a:endParaRPr lang="en-US" sz="1400" dirty="0"/>
          </a:p>
        </p:txBody>
      </p:sp>
      <p:sp>
        <p:nvSpPr>
          <p:cNvPr id="36" name="Text 33"/>
          <p:cNvSpPr txBox="1"/>
          <p:nvPr/>
        </p:nvSpPr>
        <p:spPr>
          <a:xfrm>
            <a:off x="7319772" y="3630168"/>
            <a:ext cx="1316736" cy="822960"/>
          </a:xfrm>
          <a:prstGeom prst="rect">
            <a:avLst/>
          </a:prstGeom>
          <a:noFill/>
          <a:ln/>
        </p:spPr>
        <p:txBody>
          <a:bodyPr wrap="square" lIns="0" tIns="0" rIns="0" bIns="0" rtlCol="0" anchor="t"/>
          <a:lstStyle/>
          <a:p>
            <a:pPr algn="ctr" indent="0" marL="0">
              <a:buNone/>
            </a:pPr>
            <a:r>
              <a:rPr lang="en-US" sz="1200" dirty="0">
                <a:solidFill>
                  <a:schemeClr val="tx2"/>
                </a:solidFill>
              </a:rPr>
              <a:t>ChatGPT porta l'AI generativa al pubblico</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simbolica: la conoscenza scritta in regole</a:t>
            </a:r>
            <a:endParaRPr lang="en-US" sz="2600" dirty="0"/>
          </a:p>
        </p:txBody>
      </p:sp>
      <p:sp>
        <p:nvSpPr>
          <p:cNvPr id="4" name="cerchio FiUser"/>
          <p:cNvSpPr/>
          <p:nvPr/>
        </p:nvSpPr>
        <p:spPr>
          <a:xfrm>
            <a:off x="777240" y="1143000"/>
            <a:ext cx="548640" cy="548640"/>
          </a:xfrm>
          <a:prstGeom prst="ellipse">
            <a:avLst/>
          </a:prstGeom>
          <a:solidFill>
            <a:schemeClr val="accent1"/>
          </a:solidFill>
          <a:ln/>
        </p:spPr>
      </p:sp>
      <p:pic>
        <p:nvPicPr>
          <p:cNvPr id="5" name="Image 0" descr="FiUser">    </p:cNvPr>
          <p:cNvPicPr>
            <a:picLocks noChangeAspect="1"/>
          </p:cNvPicPr>
          <p:nvPr/>
        </p:nvPicPr>
        <p:blipFill>
          <a:blip r:embed="rId1"/>
          <a:stretch>
            <a:fillRect/>
          </a:stretch>
        </p:blipFill>
        <p:spPr>
          <a:xfrm>
            <a:off x="914400" y="1280160"/>
            <a:ext cx="274320" cy="274320"/>
          </a:xfrm>
          <a:prstGeom prst="rect">
            <a:avLst/>
          </a:prstGeom>
        </p:spPr>
      </p:pic>
      <p:sp>
        <p:nvSpPr>
          <p:cNvPr id="6" name="Text 2"/>
          <p:cNvSpPr txBox="1"/>
          <p:nvPr/>
        </p:nvSpPr>
        <p:spPr>
          <a:xfrm>
            <a:off x="411480" y="1783080"/>
            <a:ext cx="1280160" cy="274320"/>
          </a:xfrm>
          <a:prstGeom prst="rect">
            <a:avLst/>
          </a:prstGeom>
          <a:noFill/>
          <a:ln/>
        </p:spPr>
        <p:txBody>
          <a:bodyPr wrap="square" lIns="0" tIns="0" rIns="0" bIns="0" rtlCol="0" anchor="t"/>
          <a:lstStyle/>
          <a:p>
            <a:pPr algn="ctr" indent="0" marL="0">
              <a:buNone/>
            </a:pPr>
            <a:r>
              <a:rPr lang="en-US" sz="1300" b="1" dirty="0">
                <a:solidFill>
                  <a:schemeClr val="tx1"/>
                </a:solidFill>
              </a:rPr>
              <a:t>Esperto umano</a:t>
            </a:r>
            <a:endParaRPr lang="en-US" sz="1300" dirty="0"/>
          </a:p>
        </p:txBody>
      </p:sp>
      <p:sp>
        <p:nvSpPr>
          <p:cNvPr id="7" name="Text 3"/>
          <p:cNvSpPr txBox="1"/>
          <p:nvPr/>
        </p:nvSpPr>
        <p:spPr>
          <a:xfrm>
            <a:off x="411480" y="2075688"/>
            <a:ext cx="1280160" cy="502920"/>
          </a:xfrm>
          <a:prstGeom prst="rect">
            <a:avLst/>
          </a:prstGeom>
          <a:noFill/>
          <a:ln/>
        </p:spPr>
        <p:txBody>
          <a:bodyPr wrap="square" lIns="0" tIns="0" rIns="0" bIns="0" rtlCol="0" anchor="t"/>
          <a:lstStyle/>
          <a:p>
            <a:pPr algn="ctr" indent="0" marL="0">
              <a:buNone/>
            </a:pPr>
            <a:r>
              <a:rPr lang="en-US" sz="1100" dirty="0">
                <a:solidFill>
                  <a:schemeClr val="tx2"/>
                </a:solidFill>
              </a:rPr>
              <a:t>Conosce il dominio</a:t>
            </a:r>
            <a:endParaRPr lang="en-US" sz="1100" dirty="0"/>
          </a:p>
        </p:txBody>
      </p:sp>
      <p:sp>
        <p:nvSpPr>
          <p:cNvPr id="8" name="freccia"/>
          <p:cNvSpPr/>
          <p:nvPr/>
        </p:nvSpPr>
        <p:spPr>
          <a:xfrm>
            <a:off x="1554480" y="1280160"/>
            <a:ext cx="320040" cy="292608"/>
          </a:xfrm>
          <a:prstGeom prst="rightArrow">
            <a:avLst/>
          </a:prstGeom>
          <a:solidFill>
            <a:schemeClr val="accent2"/>
          </a:solidFill>
          <a:ln/>
        </p:spPr>
      </p:sp>
      <p:sp>
        <p:nvSpPr>
          <p:cNvPr id="9" name="cerchio FiList"/>
          <p:cNvSpPr/>
          <p:nvPr/>
        </p:nvSpPr>
        <p:spPr>
          <a:xfrm>
            <a:off x="2258568" y="1143000"/>
            <a:ext cx="548640" cy="548640"/>
          </a:xfrm>
          <a:prstGeom prst="ellipse">
            <a:avLst/>
          </a:prstGeom>
          <a:solidFill>
            <a:schemeClr val="accent1"/>
          </a:solidFill>
          <a:ln/>
        </p:spPr>
      </p:sp>
      <p:pic>
        <p:nvPicPr>
          <p:cNvPr id="10" name="Image 1" descr="FiList">    </p:cNvPr>
          <p:cNvPicPr>
            <a:picLocks noChangeAspect="1"/>
          </p:cNvPicPr>
          <p:nvPr/>
        </p:nvPicPr>
        <p:blipFill>
          <a:blip r:embed="rId2"/>
          <a:stretch>
            <a:fillRect/>
          </a:stretch>
        </p:blipFill>
        <p:spPr>
          <a:xfrm>
            <a:off x="2395728" y="1280160"/>
            <a:ext cx="274320" cy="274320"/>
          </a:xfrm>
          <a:prstGeom prst="rect">
            <a:avLst/>
          </a:prstGeom>
        </p:spPr>
      </p:pic>
      <p:sp>
        <p:nvSpPr>
          <p:cNvPr id="11" name="Text 6"/>
          <p:cNvSpPr txBox="1"/>
          <p:nvPr/>
        </p:nvSpPr>
        <p:spPr>
          <a:xfrm>
            <a:off x="1892808" y="1783080"/>
            <a:ext cx="1280160" cy="274320"/>
          </a:xfrm>
          <a:prstGeom prst="rect">
            <a:avLst/>
          </a:prstGeom>
          <a:noFill/>
          <a:ln/>
        </p:spPr>
        <p:txBody>
          <a:bodyPr wrap="square" lIns="0" tIns="0" rIns="0" bIns="0" rtlCol="0" anchor="t"/>
          <a:lstStyle/>
          <a:p>
            <a:pPr algn="ctr" indent="0" marL="0">
              <a:buNone/>
            </a:pPr>
            <a:r>
              <a:rPr lang="en-US" sz="1300" b="1" dirty="0">
                <a:solidFill>
                  <a:schemeClr val="tx1"/>
                </a:solidFill>
              </a:rPr>
              <a:t>Regole esplicite</a:t>
            </a:r>
            <a:endParaRPr lang="en-US" sz="1300" dirty="0"/>
          </a:p>
        </p:txBody>
      </p:sp>
      <p:sp>
        <p:nvSpPr>
          <p:cNvPr id="12" name="Text 7"/>
          <p:cNvSpPr txBox="1"/>
          <p:nvPr/>
        </p:nvSpPr>
        <p:spPr>
          <a:xfrm>
            <a:off x="1892808" y="2075688"/>
            <a:ext cx="1280160" cy="502920"/>
          </a:xfrm>
          <a:prstGeom prst="rect">
            <a:avLst/>
          </a:prstGeom>
          <a:noFill/>
          <a:ln/>
        </p:spPr>
        <p:txBody>
          <a:bodyPr wrap="square" lIns="0" tIns="0" rIns="0" bIns="0" rtlCol="0" anchor="t"/>
          <a:lstStyle/>
          <a:p>
            <a:pPr algn="ctr" indent="0" marL="0">
              <a:buNone/>
            </a:pPr>
            <a:r>
              <a:rPr lang="en-US" sz="1100" dirty="0">
                <a:solidFill>
                  <a:schemeClr val="tx2"/>
                </a:solidFill>
              </a:rPr>
              <a:t>SE condizione ALLORA azione</a:t>
            </a:r>
            <a:endParaRPr lang="en-US" sz="1100" dirty="0"/>
          </a:p>
        </p:txBody>
      </p:sp>
      <p:sp>
        <p:nvSpPr>
          <p:cNvPr id="13" name="freccia"/>
          <p:cNvSpPr/>
          <p:nvPr/>
        </p:nvSpPr>
        <p:spPr>
          <a:xfrm>
            <a:off x="3035808" y="1280160"/>
            <a:ext cx="320040" cy="292608"/>
          </a:xfrm>
          <a:prstGeom prst="rightArrow">
            <a:avLst/>
          </a:prstGeom>
          <a:solidFill>
            <a:schemeClr val="accent2"/>
          </a:solidFill>
          <a:ln/>
        </p:spPr>
      </p:sp>
      <p:sp>
        <p:nvSpPr>
          <p:cNvPr id="14" name="cerchio FiCpu"/>
          <p:cNvSpPr/>
          <p:nvPr/>
        </p:nvSpPr>
        <p:spPr>
          <a:xfrm>
            <a:off x="3739896" y="1143000"/>
            <a:ext cx="548640" cy="548640"/>
          </a:xfrm>
          <a:prstGeom prst="ellipse">
            <a:avLst/>
          </a:prstGeom>
          <a:solidFill>
            <a:schemeClr val="accent1"/>
          </a:solidFill>
          <a:ln/>
        </p:spPr>
      </p:sp>
      <p:pic>
        <p:nvPicPr>
          <p:cNvPr id="15" name="Image 2" descr="FiCpu">    </p:cNvPr>
          <p:cNvPicPr>
            <a:picLocks noChangeAspect="1"/>
          </p:cNvPicPr>
          <p:nvPr/>
        </p:nvPicPr>
        <p:blipFill>
          <a:blip r:embed="rId3"/>
          <a:stretch>
            <a:fillRect/>
          </a:stretch>
        </p:blipFill>
        <p:spPr>
          <a:xfrm>
            <a:off x="3877056" y="1280160"/>
            <a:ext cx="274320" cy="274320"/>
          </a:xfrm>
          <a:prstGeom prst="rect">
            <a:avLst/>
          </a:prstGeom>
        </p:spPr>
      </p:pic>
      <p:sp>
        <p:nvSpPr>
          <p:cNvPr id="16" name="Text 10"/>
          <p:cNvSpPr txBox="1"/>
          <p:nvPr/>
        </p:nvSpPr>
        <p:spPr>
          <a:xfrm>
            <a:off x="3374136" y="1783080"/>
            <a:ext cx="1280160" cy="274320"/>
          </a:xfrm>
          <a:prstGeom prst="rect">
            <a:avLst/>
          </a:prstGeom>
          <a:noFill/>
          <a:ln/>
        </p:spPr>
        <p:txBody>
          <a:bodyPr wrap="square" lIns="0" tIns="0" rIns="0" bIns="0" rtlCol="0" anchor="t"/>
          <a:lstStyle/>
          <a:p>
            <a:pPr algn="ctr" indent="0" marL="0">
              <a:buNone/>
            </a:pPr>
            <a:r>
              <a:rPr lang="en-US" sz="1300" b="1" dirty="0">
                <a:solidFill>
                  <a:schemeClr val="tx1"/>
                </a:solidFill>
              </a:rPr>
              <a:t>Sistema esperto</a:t>
            </a:r>
            <a:endParaRPr lang="en-US" sz="1300" dirty="0"/>
          </a:p>
        </p:txBody>
      </p:sp>
      <p:sp>
        <p:nvSpPr>
          <p:cNvPr id="17" name="Text 11"/>
          <p:cNvSpPr txBox="1"/>
          <p:nvPr/>
        </p:nvSpPr>
        <p:spPr>
          <a:xfrm>
            <a:off x="3374136" y="2075688"/>
            <a:ext cx="1280160" cy="502920"/>
          </a:xfrm>
          <a:prstGeom prst="rect">
            <a:avLst/>
          </a:prstGeom>
          <a:noFill/>
          <a:ln/>
        </p:spPr>
        <p:txBody>
          <a:bodyPr wrap="square" lIns="0" tIns="0" rIns="0" bIns="0" rtlCol="0" anchor="t"/>
          <a:lstStyle/>
          <a:p>
            <a:pPr algn="ctr" indent="0" marL="0">
              <a:buNone/>
            </a:pPr>
            <a:r>
              <a:rPr lang="en-US" sz="1100" dirty="0">
                <a:solidFill>
                  <a:schemeClr val="tx2"/>
                </a:solidFill>
              </a:rPr>
              <a:t>Applica le regole ai casi</a:t>
            </a:r>
            <a:endParaRPr lang="en-US" sz="1100" dirty="0"/>
          </a:p>
        </p:txBody>
      </p:sp>
      <p:sp>
        <p:nvSpPr>
          <p:cNvPr id="18" name="esempio regola"/>
          <p:cNvSpPr/>
          <p:nvPr/>
        </p:nvSpPr>
        <p:spPr>
          <a:xfrm>
            <a:off x="457200" y="2788920"/>
            <a:ext cx="4114800" cy="1737360"/>
          </a:xfrm>
          <a:prstGeom prst="roundRect">
            <a:avLst>
              <a:gd name="adj" fmla="val 4211"/>
            </a:avLst>
          </a:prstGeom>
          <a:solidFill>
            <a:schemeClr val="bg2"/>
          </a:solidFill>
          <a:ln/>
        </p:spPr>
      </p:sp>
      <p:sp>
        <p:nvSpPr>
          <p:cNvPr id="19" name="Text 13"/>
          <p:cNvSpPr txBox="1"/>
          <p:nvPr/>
        </p:nvSpPr>
        <p:spPr>
          <a:xfrm>
            <a:off x="640080" y="2926080"/>
            <a:ext cx="3749040" cy="274320"/>
          </a:xfrm>
          <a:prstGeom prst="rect">
            <a:avLst/>
          </a:prstGeom>
          <a:noFill/>
          <a:ln/>
        </p:spPr>
        <p:txBody>
          <a:bodyPr wrap="square" lIns="0" tIns="0" rIns="0" bIns="0" rtlCol="0" anchor="t"/>
          <a:lstStyle/>
          <a:p>
            <a:pPr indent="0" marL="0">
              <a:buNone/>
            </a:pPr>
            <a:r>
              <a:rPr lang="en-US" sz="1300" b="1" dirty="0">
                <a:solidFill>
                  <a:schemeClr val="accent1"/>
                </a:solidFill>
              </a:rPr>
              <a:t>Esempio di regola</a:t>
            </a:r>
            <a:endParaRPr lang="en-US" sz="1300" dirty="0"/>
          </a:p>
        </p:txBody>
      </p:sp>
      <p:sp>
        <p:nvSpPr>
          <p:cNvPr id="20" name="Text 14"/>
          <p:cNvSpPr txBox="1"/>
          <p:nvPr/>
        </p:nvSpPr>
        <p:spPr>
          <a:xfrm>
            <a:off x="640080" y="3246120"/>
            <a:ext cx="3749040" cy="109728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SE la fattura supera 10.000 euro</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E il fornitore è nuovo</a:t>
            </a:r>
            <a:endParaRPr lang="en-US" sz="1400" dirty="0"/>
          </a:p>
          <a:p>
            <a:pPr indent="0" marL="0">
              <a:buNone/>
            </a:pPr>
            <a:r>
              <a:rPr lang="en-US" sz="1400" dirty="0">
                <a:solidFill>
                  <a:schemeClr val="tx1"/>
                </a:solidFill>
                <a:latin typeface="Courier New" pitchFamily="34" charset="0"/>
                <a:ea typeface="Courier New" pitchFamily="34" charset="-122"/>
                <a:cs typeface="Courier New" pitchFamily="34" charset="-120"/>
              </a:rPr>
              <a:t>ALLORA richiedi approvazione del responsabile</a:t>
            </a:r>
            <a:endParaRPr lang="en-US" sz="1400" dirty="0"/>
          </a:p>
        </p:txBody>
      </p:sp>
      <p:sp>
        <p:nvSpPr>
          <p:cNvPr id="21" name="scheda Punti di forza"/>
          <p:cNvSpPr/>
          <p:nvPr/>
        </p:nvSpPr>
        <p:spPr>
          <a:xfrm>
            <a:off x="4846320" y="1097280"/>
            <a:ext cx="3840480" cy="1600200"/>
          </a:xfrm>
          <a:prstGeom prst="roundRect">
            <a:avLst>
              <a:gd name="adj" fmla="val 4571"/>
            </a:avLst>
          </a:prstGeom>
          <a:solidFill>
            <a:schemeClr val="bg2"/>
          </a:solidFill>
          <a:ln/>
        </p:spPr>
      </p:sp>
      <p:sp>
        <p:nvSpPr>
          <p:cNvPr id="22" name="Text 16"/>
          <p:cNvSpPr txBox="1"/>
          <p:nvPr/>
        </p:nvSpPr>
        <p:spPr>
          <a:xfrm>
            <a:off x="5029200" y="1280160"/>
            <a:ext cx="3474720" cy="347472"/>
          </a:xfrm>
          <a:prstGeom prst="rect">
            <a:avLst/>
          </a:prstGeom>
          <a:noFill/>
          <a:ln/>
        </p:spPr>
        <p:txBody>
          <a:bodyPr wrap="square" lIns="0" tIns="0" rIns="0" bIns="0" rtlCol="0" anchor="t"/>
          <a:lstStyle/>
          <a:p>
            <a:pPr indent="0" marL="0">
              <a:buNone/>
            </a:pPr>
            <a:r>
              <a:rPr lang="en-US" sz="1500" b="1" dirty="0">
                <a:solidFill>
                  <a:schemeClr val="tx1"/>
                </a:solidFill>
              </a:rPr>
              <a:t>Punti di forza</a:t>
            </a:r>
            <a:endParaRPr lang="en-US" sz="1500" dirty="0"/>
          </a:p>
        </p:txBody>
      </p:sp>
      <p:sp>
        <p:nvSpPr>
          <p:cNvPr id="23" name="Text 17"/>
          <p:cNvSpPr txBox="1"/>
          <p:nvPr/>
        </p:nvSpPr>
        <p:spPr>
          <a:xfrm>
            <a:off x="5029200" y="1664208"/>
            <a:ext cx="3474720" cy="923544"/>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2"/>
                </a:solidFill>
              </a:rPr>
              <a:t>Comportamento trasparente e verificabile</a:t>
            </a:r>
            <a:endParaRPr lang="en-US" sz="1300" dirty="0"/>
          </a:p>
          <a:p>
            <a:pPr marL="177800" indent="-177800">
              <a:spcAft>
                <a:spcPts val="200"/>
              </a:spcAft>
              <a:buSzPct val="100000"/>
              <a:buChar char="•"/>
            </a:pPr>
            <a:r>
              <a:rPr lang="en-US" sz="1300" dirty="0">
                <a:solidFill>
                  <a:schemeClr val="tx2"/>
                </a:solidFill>
              </a:rPr>
              <a:t>Prevedibile: stesse condizioni, stessa risposta</a:t>
            </a:r>
            <a:endParaRPr lang="en-US" sz="1300" dirty="0"/>
          </a:p>
        </p:txBody>
      </p:sp>
      <p:sp>
        <p:nvSpPr>
          <p:cNvPr id="24" name="scheda Limiti"/>
          <p:cNvSpPr/>
          <p:nvPr/>
        </p:nvSpPr>
        <p:spPr>
          <a:xfrm>
            <a:off x="4846320" y="2834640"/>
            <a:ext cx="3840480" cy="1691640"/>
          </a:xfrm>
          <a:prstGeom prst="roundRect">
            <a:avLst>
              <a:gd name="adj" fmla="val 4324"/>
            </a:avLst>
          </a:prstGeom>
          <a:solidFill>
            <a:schemeClr val="bg2"/>
          </a:solidFill>
          <a:ln/>
        </p:spPr>
      </p:sp>
      <p:sp>
        <p:nvSpPr>
          <p:cNvPr id="25" name="Text 19"/>
          <p:cNvSpPr txBox="1"/>
          <p:nvPr/>
        </p:nvSpPr>
        <p:spPr>
          <a:xfrm>
            <a:off x="5029200" y="3017520"/>
            <a:ext cx="3474720" cy="347472"/>
          </a:xfrm>
          <a:prstGeom prst="rect">
            <a:avLst/>
          </a:prstGeom>
          <a:noFill/>
          <a:ln/>
        </p:spPr>
        <p:txBody>
          <a:bodyPr wrap="square" lIns="0" tIns="0" rIns="0" bIns="0" rtlCol="0" anchor="t"/>
          <a:lstStyle/>
          <a:p>
            <a:pPr indent="0" marL="0">
              <a:buNone/>
            </a:pPr>
            <a:r>
              <a:rPr lang="en-US" sz="1500" b="1" dirty="0">
                <a:solidFill>
                  <a:schemeClr val="tx1"/>
                </a:solidFill>
              </a:rPr>
              <a:t>Limiti</a:t>
            </a:r>
            <a:endParaRPr lang="en-US" sz="1500" dirty="0"/>
          </a:p>
        </p:txBody>
      </p:sp>
      <p:sp>
        <p:nvSpPr>
          <p:cNvPr id="26" name="Text 20"/>
          <p:cNvSpPr txBox="1"/>
          <p:nvPr/>
        </p:nvSpPr>
        <p:spPr>
          <a:xfrm>
            <a:off x="5029200" y="3401568"/>
            <a:ext cx="3474720" cy="1014984"/>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2"/>
                </a:solidFill>
              </a:rPr>
              <a:t>Costoso scrivere e mantenere le regole</a:t>
            </a:r>
            <a:endParaRPr lang="en-US" sz="1300" dirty="0"/>
          </a:p>
          <a:p>
            <a:pPr marL="177800" indent="-177800">
              <a:spcAft>
                <a:spcPts val="200"/>
              </a:spcAft>
              <a:buSzPct val="100000"/>
              <a:buChar char="•"/>
            </a:pPr>
            <a:r>
              <a:rPr lang="en-US" sz="1300" dirty="0">
                <a:solidFill>
                  <a:schemeClr val="tx2"/>
                </a:solidFill>
              </a:rPr>
              <a:t>Fragile davanti a casi non previsti</a:t>
            </a:r>
            <a:endParaRPr lang="en-US" sz="1300" dirty="0"/>
          </a:p>
          <a:p>
            <a:pPr marL="177800" indent="-177800">
              <a:spcAft>
                <a:spcPts val="200"/>
              </a:spcAft>
              <a:buSzPct val="100000"/>
              <a:buChar char="•"/>
            </a:pPr>
            <a:r>
              <a:rPr lang="en-US" sz="1300" dirty="0">
                <a:solidFill>
                  <a:schemeClr val="tx2"/>
                </a:solidFill>
              </a:rPr>
              <a:t>Difficile esplicitare conoscenze intuitive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Cicli di entusiasmo e disillusione</a:t>
            </a:r>
            <a:endParaRPr lang="en-US" sz="2600" dirty="0"/>
          </a:p>
        </p:txBody>
      </p:sp>
      <p:graphicFrame>
        <p:nvGraphicFramePr>
          <p:cNvPr id="4" name="Chart 0" descr=""/>
          <p:cNvGraphicFramePr/>
          <p:nvPr/>
        </p:nvGraphicFramePr>
        <p:xfrm>
          <a:off x="457200" y="1051560"/>
          <a:ext cx="8229600" cy="274320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1920240" y="3200400"/>
            <a:ext cx="1371600" cy="274320"/>
          </a:xfrm>
          <a:prstGeom prst="rect">
            <a:avLst/>
          </a:prstGeom>
          <a:noFill/>
          <a:ln/>
        </p:spPr>
        <p:txBody>
          <a:bodyPr wrap="square" lIns="0" tIns="0" rIns="0" bIns="0" rtlCol="0" anchor="t"/>
          <a:lstStyle/>
          <a:p>
            <a:pPr algn="ctr" indent="0" marL="0">
              <a:buNone/>
            </a:pPr>
            <a:r>
              <a:rPr lang="en-US" sz="1200" b="1" dirty="0">
                <a:solidFill>
                  <a:schemeClr val="accent5"/>
                </a:solidFill>
              </a:rPr>
              <a:t>Primo inverno</a:t>
            </a:r>
            <a:endParaRPr lang="en-US" sz="1200" dirty="0"/>
          </a:p>
        </p:txBody>
      </p:sp>
      <p:sp>
        <p:nvSpPr>
          <p:cNvPr id="6" name="Text 2"/>
          <p:cNvSpPr txBox="1"/>
          <p:nvPr/>
        </p:nvSpPr>
        <p:spPr>
          <a:xfrm>
            <a:off x="3977640" y="3200400"/>
            <a:ext cx="1463040" cy="274320"/>
          </a:xfrm>
          <a:prstGeom prst="rect">
            <a:avLst/>
          </a:prstGeom>
          <a:noFill/>
          <a:ln/>
        </p:spPr>
        <p:txBody>
          <a:bodyPr wrap="square" lIns="0" tIns="0" rIns="0" bIns="0" rtlCol="0" anchor="t"/>
          <a:lstStyle/>
          <a:p>
            <a:pPr algn="ctr" indent="0" marL="0">
              <a:buNone/>
            </a:pPr>
            <a:r>
              <a:rPr lang="en-US" sz="1200" b="1" dirty="0">
                <a:solidFill>
                  <a:schemeClr val="accent5"/>
                </a:solidFill>
              </a:rPr>
              <a:t>Secondo inverno</a:t>
            </a:r>
            <a:endParaRPr lang="en-US" sz="1200" dirty="0"/>
          </a:p>
        </p:txBody>
      </p:sp>
      <p:sp>
        <p:nvSpPr>
          <p:cNvPr id="7" name="Text 3"/>
          <p:cNvSpPr txBox="1"/>
          <p:nvPr/>
        </p:nvSpPr>
        <p:spPr>
          <a:xfrm>
            <a:off x="457200" y="3931920"/>
            <a:ext cx="2011680" cy="274320"/>
          </a:xfrm>
          <a:prstGeom prst="rect">
            <a:avLst/>
          </a:prstGeom>
          <a:noFill/>
          <a:ln/>
        </p:spPr>
        <p:txBody>
          <a:bodyPr wrap="square" lIns="0" tIns="0" rIns="0" bIns="0" rtlCol="0" anchor="t"/>
          <a:lstStyle/>
          <a:p>
            <a:pPr algn="l" indent="0" marL="0">
              <a:buNone/>
            </a:pPr>
            <a:r>
              <a:rPr lang="en-US" sz="1200" dirty="0">
                <a:solidFill>
                  <a:schemeClr val="tx2"/>
                </a:solidFill>
              </a:rPr>
              <a:t>Pionieri e grandi promesse</a:t>
            </a:r>
            <a:endParaRPr lang="en-US" sz="1200" dirty="0"/>
          </a:p>
        </p:txBody>
      </p:sp>
      <p:sp>
        <p:nvSpPr>
          <p:cNvPr id="8" name="Text 4"/>
          <p:cNvSpPr txBox="1"/>
          <p:nvPr/>
        </p:nvSpPr>
        <p:spPr>
          <a:xfrm>
            <a:off x="2834640" y="3931920"/>
            <a:ext cx="2011680" cy="274320"/>
          </a:xfrm>
          <a:prstGeom prst="rect">
            <a:avLst/>
          </a:prstGeom>
          <a:noFill/>
          <a:ln/>
        </p:spPr>
        <p:txBody>
          <a:bodyPr wrap="square" lIns="0" tIns="0" rIns="0" bIns="0" rtlCol="0" anchor="t"/>
          <a:lstStyle/>
          <a:p>
            <a:pPr algn="l" indent="0" marL="0">
              <a:buNone/>
            </a:pPr>
            <a:r>
              <a:rPr lang="en-US" sz="1200" dirty="0">
                <a:solidFill>
                  <a:schemeClr val="tx2"/>
                </a:solidFill>
              </a:rPr>
              <a:t>Sistemi esperti</a:t>
            </a:r>
            <a:endParaRPr lang="en-US" sz="1200" dirty="0"/>
          </a:p>
        </p:txBody>
      </p:sp>
      <p:sp>
        <p:nvSpPr>
          <p:cNvPr id="9" name="Text 5"/>
          <p:cNvSpPr txBox="1"/>
          <p:nvPr/>
        </p:nvSpPr>
        <p:spPr>
          <a:xfrm>
            <a:off x="4937760" y="3931920"/>
            <a:ext cx="2011680" cy="274320"/>
          </a:xfrm>
          <a:prstGeom prst="rect">
            <a:avLst/>
          </a:prstGeom>
          <a:noFill/>
          <a:ln/>
        </p:spPr>
        <p:txBody>
          <a:bodyPr wrap="square" lIns="0" tIns="0" rIns="0" bIns="0" rtlCol="0" anchor="t"/>
          <a:lstStyle/>
          <a:p>
            <a:pPr algn="l" indent="0" marL="0">
              <a:buNone/>
            </a:pPr>
            <a:r>
              <a:rPr lang="en-US" sz="1200" dirty="0">
                <a:solidFill>
                  <a:schemeClr val="tx2"/>
                </a:solidFill>
              </a:rPr>
              <a:t>Machine Learning</a:t>
            </a:r>
            <a:endParaRPr lang="en-US" sz="1200" dirty="0"/>
          </a:p>
        </p:txBody>
      </p:sp>
      <p:sp>
        <p:nvSpPr>
          <p:cNvPr id="10" name="Text 6"/>
          <p:cNvSpPr txBox="1"/>
          <p:nvPr/>
        </p:nvSpPr>
        <p:spPr>
          <a:xfrm>
            <a:off x="6675120" y="3931920"/>
            <a:ext cx="2011680" cy="274320"/>
          </a:xfrm>
          <a:prstGeom prst="rect">
            <a:avLst/>
          </a:prstGeom>
          <a:noFill/>
          <a:ln/>
        </p:spPr>
        <p:txBody>
          <a:bodyPr wrap="square" lIns="0" tIns="0" rIns="0" bIns="0" rtlCol="0" anchor="t"/>
          <a:lstStyle/>
          <a:p>
            <a:pPr algn="l" indent="0" marL="0">
              <a:buNone/>
            </a:pPr>
            <a:r>
              <a:rPr lang="en-US" sz="1200" dirty="0">
                <a:solidFill>
                  <a:schemeClr val="tx2"/>
                </a:solidFill>
              </a:rPr>
              <a:t>Deep learning e AI generativa</a:t>
            </a:r>
            <a:endParaRPr lang="en-US" sz="1200" dirty="0"/>
          </a:p>
        </p:txBody>
      </p:sp>
      <p:sp>
        <p:nvSpPr>
          <p:cNvPr id="11" name="Text 7"/>
          <p:cNvSpPr txBox="1"/>
          <p:nvPr/>
        </p:nvSpPr>
        <p:spPr>
          <a:xfrm>
            <a:off x="457200" y="4343400"/>
            <a:ext cx="4572000" cy="274320"/>
          </a:xfrm>
          <a:prstGeom prst="rect">
            <a:avLst/>
          </a:prstGeom>
          <a:noFill/>
          <a:ln/>
        </p:spPr>
        <p:txBody>
          <a:bodyPr wrap="square" lIns="0" tIns="0" rIns="0" bIns="0" rtlCol="0" anchor="t"/>
          <a:lstStyle/>
          <a:p>
            <a:pPr indent="0" marL="0">
              <a:buNone/>
            </a:pPr>
            <a:r>
              <a:rPr lang="en-US" sz="1000" i="1" dirty="0">
                <a:solidFill>
                  <a:schemeClr val="accent2"/>
                </a:solidFill>
              </a:rPr>
              <a:t>Andamento qualitativo, a scopo illustrativo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Dalle regole all'apprendimento dai dati</a:t>
            </a:r>
            <a:endParaRPr lang="en-US" sz="2600" dirty="0"/>
          </a:p>
        </p:txBody>
      </p:sp>
      <p:sp>
        <p:nvSpPr>
          <p:cNvPr id="4" name="Text 1"/>
          <p:cNvSpPr txBox="1"/>
          <p:nvPr/>
        </p:nvSpPr>
        <p:spPr>
          <a:xfrm>
            <a:off x="457200" y="1051560"/>
            <a:ext cx="5486400" cy="274320"/>
          </a:xfrm>
          <a:prstGeom prst="rect">
            <a:avLst/>
          </a:prstGeom>
          <a:noFill/>
          <a:ln/>
        </p:spPr>
        <p:txBody>
          <a:bodyPr wrap="square" lIns="0" tIns="0" rIns="0" bIns="0" rtlCol="0" anchor="t"/>
          <a:lstStyle/>
          <a:p>
            <a:pPr indent="0" marL="0">
              <a:buNone/>
            </a:pPr>
            <a:r>
              <a:rPr lang="en-US" sz="1400" b="1" dirty="0">
                <a:solidFill>
                  <a:schemeClr val="tx1"/>
                </a:solidFill>
              </a:rPr>
              <a:t>Programmazione tradizionale e AI a regole</a:t>
            </a:r>
            <a:endParaRPr lang="en-US" sz="1400" dirty="0"/>
          </a:p>
        </p:txBody>
      </p:sp>
      <p:sp>
        <p:nvSpPr>
          <p:cNvPr id="5" name="input a"/>
          <p:cNvSpPr/>
          <p:nvPr/>
        </p:nvSpPr>
        <p:spPr>
          <a:xfrm>
            <a:off x="457200" y="1417320"/>
            <a:ext cx="2103120" cy="502920"/>
          </a:xfrm>
          <a:prstGeom prst="roundRect">
            <a:avLst>
              <a:gd name="adj" fmla="val 14545"/>
            </a:avLst>
          </a:prstGeom>
          <a:solidFill>
            <a:schemeClr val="bg2"/>
          </a:solidFill>
          <a:ln/>
        </p:spPr>
      </p:sp>
      <p:sp>
        <p:nvSpPr>
          <p:cNvPr id="6" name="Text 3"/>
          <p:cNvSpPr txBox="1"/>
          <p:nvPr/>
        </p:nvSpPr>
        <p:spPr>
          <a:xfrm>
            <a:off x="502920" y="1417320"/>
            <a:ext cx="2011680" cy="502920"/>
          </a:xfrm>
          <a:prstGeom prst="rect">
            <a:avLst/>
          </a:prstGeom>
          <a:noFill/>
          <a:ln/>
        </p:spPr>
        <p:txBody>
          <a:bodyPr wrap="square" lIns="0" tIns="0" rIns="0" bIns="0" rtlCol="0" anchor="ctr"/>
          <a:lstStyle/>
          <a:p>
            <a:pPr algn="ctr" indent="0" marL="0">
              <a:buNone/>
            </a:pPr>
            <a:r>
              <a:rPr lang="en-US" sz="1300" dirty="0">
                <a:solidFill>
                  <a:schemeClr val="tx1"/>
                </a:solidFill>
              </a:rPr>
              <a:t>Regole scritte da persone</a:t>
            </a:r>
            <a:endParaRPr lang="en-US" sz="1300" dirty="0"/>
          </a:p>
        </p:txBody>
      </p:sp>
      <p:sp>
        <p:nvSpPr>
          <p:cNvPr id="7" name="Text 4"/>
          <p:cNvSpPr txBox="1"/>
          <p:nvPr/>
        </p:nvSpPr>
        <p:spPr>
          <a:xfrm>
            <a:off x="457200" y="1929384"/>
            <a:ext cx="2103120" cy="274320"/>
          </a:xfrm>
          <a:prstGeom prst="rect">
            <a:avLst/>
          </a:prstGeom>
          <a:noFill/>
          <a:ln/>
        </p:spPr>
        <p:txBody>
          <a:bodyPr wrap="square" lIns="0" tIns="0" rIns="0" bIns="0" rtlCol="0" anchor="t"/>
          <a:lstStyle/>
          <a:p>
            <a:pPr algn="ctr" indent="0" marL="0">
              <a:buNone/>
            </a:pPr>
            <a:r>
              <a:rPr lang="en-US" sz="1400" b="1" dirty="0">
                <a:solidFill>
                  <a:schemeClr val="accent2"/>
                </a:solidFill>
              </a:rPr>
              <a:t>+</a:t>
            </a:r>
            <a:endParaRPr lang="en-US" sz="1400" dirty="0"/>
          </a:p>
        </p:txBody>
      </p:sp>
      <p:sp>
        <p:nvSpPr>
          <p:cNvPr id="8" name="input b"/>
          <p:cNvSpPr/>
          <p:nvPr/>
        </p:nvSpPr>
        <p:spPr>
          <a:xfrm>
            <a:off x="457200" y="2194560"/>
            <a:ext cx="2103120" cy="502920"/>
          </a:xfrm>
          <a:prstGeom prst="roundRect">
            <a:avLst>
              <a:gd name="adj" fmla="val 14545"/>
            </a:avLst>
          </a:prstGeom>
          <a:solidFill>
            <a:schemeClr val="bg2"/>
          </a:solidFill>
          <a:ln/>
        </p:spPr>
      </p:sp>
      <p:sp>
        <p:nvSpPr>
          <p:cNvPr id="9" name="Text 6"/>
          <p:cNvSpPr txBox="1"/>
          <p:nvPr/>
        </p:nvSpPr>
        <p:spPr>
          <a:xfrm>
            <a:off x="502920" y="2194560"/>
            <a:ext cx="2011680" cy="502920"/>
          </a:xfrm>
          <a:prstGeom prst="rect">
            <a:avLst/>
          </a:prstGeom>
          <a:noFill/>
          <a:ln/>
        </p:spPr>
        <p:txBody>
          <a:bodyPr wrap="square" lIns="0" tIns="0" rIns="0" bIns="0" rtlCol="0" anchor="ctr"/>
          <a:lstStyle/>
          <a:p>
            <a:pPr algn="ctr" indent="0" marL="0">
              <a:buNone/>
            </a:pPr>
            <a:r>
              <a:rPr lang="en-US" sz="1300" dirty="0">
                <a:solidFill>
                  <a:schemeClr val="tx1"/>
                </a:solidFill>
              </a:rPr>
              <a:t>Dati</a:t>
            </a:r>
            <a:endParaRPr lang="en-US" sz="1300" dirty="0"/>
          </a:p>
        </p:txBody>
      </p:sp>
      <p:sp>
        <p:nvSpPr>
          <p:cNvPr id="10" name="freccia"/>
          <p:cNvSpPr/>
          <p:nvPr/>
        </p:nvSpPr>
        <p:spPr>
          <a:xfrm>
            <a:off x="2743200" y="1911096"/>
            <a:ext cx="548640" cy="292608"/>
          </a:xfrm>
          <a:prstGeom prst="rightArrow">
            <a:avLst/>
          </a:prstGeom>
          <a:solidFill>
            <a:schemeClr val="accent2"/>
          </a:solidFill>
          <a:ln/>
        </p:spPr>
      </p:sp>
      <p:sp>
        <p:nvSpPr>
          <p:cNvPr id="11" name="processo"/>
          <p:cNvSpPr/>
          <p:nvPr/>
        </p:nvSpPr>
        <p:spPr>
          <a:xfrm>
            <a:off x="3474720" y="1737360"/>
            <a:ext cx="2011680" cy="640080"/>
          </a:xfrm>
          <a:prstGeom prst="roundRect">
            <a:avLst>
              <a:gd name="adj" fmla="val 11429"/>
            </a:avLst>
          </a:prstGeom>
          <a:solidFill>
            <a:schemeClr val="tx2"/>
          </a:solidFill>
          <a:ln/>
        </p:spPr>
      </p:sp>
      <p:sp>
        <p:nvSpPr>
          <p:cNvPr id="12" name="Text 9"/>
          <p:cNvSpPr txBox="1"/>
          <p:nvPr/>
        </p:nvSpPr>
        <p:spPr>
          <a:xfrm>
            <a:off x="3520440" y="173736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Programma</a:t>
            </a:r>
            <a:endParaRPr lang="en-US" sz="1400" dirty="0"/>
          </a:p>
        </p:txBody>
      </p:sp>
      <p:sp>
        <p:nvSpPr>
          <p:cNvPr id="13" name="freccia"/>
          <p:cNvSpPr/>
          <p:nvPr/>
        </p:nvSpPr>
        <p:spPr>
          <a:xfrm>
            <a:off x="5669280" y="1911096"/>
            <a:ext cx="548640" cy="292608"/>
          </a:xfrm>
          <a:prstGeom prst="rightArrow">
            <a:avLst/>
          </a:prstGeom>
          <a:solidFill>
            <a:schemeClr val="accent2"/>
          </a:solidFill>
          <a:ln/>
        </p:spPr>
      </p:sp>
      <p:sp>
        <p:nvSpPr>
          <p:cNvPr id="14" name="output"/>
          <p:cNvSpPr/>
          <p:nvPr/>
        </p:nvSpPr>
        <p:spPr>
          <a:xfrm>
            <a:off x="6400800" y="1737360"/>
            <a:ext cx="2286000" cy="640080"/>
          </a:xfrm>
          <a:prstGeom prst="roundRect">
            <a:avLst>
              <a:gd name="adj" fmla="val 11429"/>
            </a:avLst>
          </a:prstGeom>
          <a:solidFill>
            <a:schemeClr val="bg2"/>
          </a:solidFill>
          <a:ln/>
        </p:spPr>
      </p:sp>
      <p:sp>
        <p:nvSpPr>
          <p:cNvPr id="15" name="Text 12"/>
          <p:cNvSpPr txBox="1"/>
          <p:nvPr/>
        </p:nvSpPr>
        <p:spPr>
          <a:xfrm>
            <a:off x="6446520" y="1737360"/>
            <a:ext cx="2194560" cy="640080"/>
          </a:xfrm>
          <a:prstGeom prst="rect">
            <a:avLst/>
          </a:prstGeom>
          <a:noFill/>
          <a:ln/>
        </p:spPr>
        <p:txBody>
          <a:bodyPr wrap="square" lIns="0" tIns="0" rIns="0" bIns="0" rtlCol="0" anchor="ctr"/>
          <a:lstStyle/>
          <a:p>
            <a:pPr algn="ctr" indent="0" marL="0">
              <a:buNone/>
            </a:pPr>
            <a:r>
              <a:rPr lang="en-US" sz="1400" b="1" dirty="0">
                <a:solidFill>
                  <a:schemeClr val="tx1"/>
                </a:solidFill>
              </a:rPr>
              <a:t>Risposte</a:t>
            </a:r>
            <a:endParaRPr lang="en-US" sz="1400" dirty="0"/>
          </a:p>
        </p:txBody>
      </p:sp>
      <p:sp>
        <p:nvSpPr>
          <p:cNvPr id="16" name="Text 13"/>
          <p:cNvSpPr txBox="1"/>
          <p:nvPr/>
        </p:nvSpPr>
        <p:spPr>
          <a:xfrm>
            <a:off x="457200" y="2788920"/>
            <a:ext cx="5486400" cy="274320"/>
          </a:xfrm>
          <a:prstGeom prst="rect">
            <a:avLst/>
          </a:prstGeom>
          <a:noFill/>
          <a:ln/>
        </p:spPr>
        <p:txBody>
          <a:bodyPr wrap="square" lIns="0" tIns="0" rIns="0" bIns="0" rtlCol="0" anchor="t"/>
          <a:lstStyle/>
          <a:p>
            <a:pPr indent="0" marL="0">
              <a:buNone/>
            </a:pPr>
            <a:r>
              <a:rPr lang="en-US" sz="1400" b="1" dirty="0">
                <a:solidFill>
                  <a:schemeClr val="accent1"/>
                </a:solidFill>
              </a:rPr>
              <a:t>Machine Learning</a:t>
            </a:r>
            <a:endParaRPr lang="en-US" sz="1400" dirty="0"/>
          </a:p>
        </p:txBody>
      </p:sp>
      <p:sp>
        <p:nvSpPr>
          <p:cNvPr id="17" name="input a"/>
          <p:cNvSpPr/>
          <p:nvPr/>
        </p:nvSpPr>
        <p:spPr>
          <a:xfrm>
            <a:off x="457200" y="3154680"/>
            <a:ext cx="2103120" cy="502920"/>
          </a:xfrm>
          <a:prstGeom prst="roundRect">
            <a:avLst>
              <a:gd name="adj" fmla="val 14545"/>
            </a:avLst>
          </a:prstGeom>
          <a:solidFill>
            <a:schemeClr val="bg2"/>
          </a:solidFill>
          <a:ln/>
        </p:spPr>
      </p:sp>
      <p:sp>
        <p:nvSpPr>
          <p:cNvPr id="18" name="Text 15"/>
          <p:cNvSpPr txBox="1"/>
          <p:nvPr/>
        </p:nvSpPr>
        <p:spPr>
          <a:xfrm>
            <a:off x="502920" y="3154680"/>
            <a:ext cx="2011680" cy="502920"/>
          </a:xfrm>
          <a:prstGeom prst="rect">
            <a:avLst/>
          </a:prstGeom>
          <a:noFill/>
          <a:ln/>
        </p:spPr>
        <p:txBody>
          <a:bodyPr wrap="square" lIns="0" tIns="0" rIns="0" bIns="0" rtlCol="0" anchor="ctr"/>
          <a:lstStyle/>
          <a:p>
            <a:pPr algn="ctr" indent="0" marL="0">
              <a:buNone/>
            </a:pPr>
            <a:r>
              <a:rPr lang="en-US" sz="1300" dirty="0">
                <a:solidFill>
                  <a:schemeClr val="tx1"/>
                </a:solidFill>
              </a:rPr>
              <a:t>Dati</a:t>
            </a:r>
            <a:endParaRPr lang="en-US" sz="1300" dirty="0"/>
          </a:p>
        </p:txBody>
      </p:sp>
      <p:sp>
        <p:nvSpPr>
          <p:cNvPr id="19" name="Text 16"/>
          <p:cNvSpPr txBox="1"/>
          <p:nvPr/>
        </p:nvSpPr>
        <p:spPr>
          <a:xfrm>
            <a:off x="457200" y="3666744"/>
            <a:ext cx="2103120" cy="274320"/>
          </a:xfrm>
          <a:prstGeom prst="rect">
            <a:avLst/>
          </a:prstGeom>
          <a:noFill/>
          <a:ln/>
        </p:spPr>
        <p:txBody>
          <a:bodyPr wrap="square" lIns="0" tIns="0" rIns="0" bIns="0" rtlCol="0" anchor="t"/>
          <a:lstStyle/>
          <a:p>
            <a:pPr algn="ctr" indent="0" marL="0">
              <a:buNone/>
            </a:pPr>
            <a:r>
              <a:rPr lang="en-US" sz="1400" b="1" dirty="0">
                <a:solidFill>
                  <a:schemeClr val="accent2"/>
                </a:solidFill>
              </a:rPr>
              <a:t>+</a:t>
            </a:r>
            <a:endParaRPr lang="en-US" sz="1400" dirty="0"/>
          </a:p>
        </p:txBody>
      </p:sp>
      <p:sp>
        <p:nvSpPr>
          <p:cNvPr id="20" name="input b"/>
          <p:cNvSpPr/>
          <p:nvPr/>
        </p:nvSpPr>
        <p:spPr>
          <a:xfrm>
            <a:off x="457200" y="3931920"/>
            <a:ext cx="2103120" cy="502920"/>
          </a:xfrm>
          <a:prstGeom prst="roundRect">
            <a:avLst>
              <a:gd name="adj" fmla="val 14545"/>
            </a:avLst>
          </a:prstGeom>
          <a:solidFill>
            <a:schemeClr val="bg2"/>
          </a:solidFill>
          <a:ln/>
        </p:spPr>
      </p:sp>
      <p:sp>
        <p:nvSpPr>
          <p:cNvPr id="21" name="Text 18"/>
          <p:cNvSpPr txBox="1"/>
          <p:nvPr/>
        </p:nvSpPr>
        <p:spPr>
          <a:xfrm>
            <a:off x="502920" y="3931920"/>
            <a:ext cx="2011680" cy="502920"/>
          </a:xfrm>
          <a:prstGeom prst="rect">
            <a:avLst/>
          </a:prstGeom>
          <a:noFill/>
          <a:ln/>
        </p:spPr>
        <p:txBody>
          <a:bodyPr wrap="square" lIns="0" tIns="0" rIns="0" bIns="0" rtlCol="0" anchor="ctr"/>
          <a:lstStyle/>
          <a:p>
            <a:pPr algn="ctr" indent="0" marL="0">
              <a:buNone/>
            </a:pPr>
            <a:r>
              <a:rPr lang="en-US" sz="1300" dirty="0">
                <a:solidFill>
                  <a:schemeClr val="tx1"/>
                </a:solidFill>
              </a:rPr>
              <a:t>Risposte corrette (esempi)</a:t>
            </a:r>
            <a:endParaRPr lang="en-US" sz="1300" dirty="0"/>
          </a:p>
        </p:txBody>
      </p:sp>
      <p:sp>
        <p:nvSpPr>
          <p:cNvPr id="22" name="freccia"/>
          <p:cNvSpPr/>
          <p:nvPr/>
        </p:nvSpPr>
        <p:spPr>
          <a:xfrm>
            <a:off x="2743200" y="3648456"/>
            <a:ext cx="548640" cy="292608"/>
          </a:xfrm>
          <a:prstGeom prst="rightArrow">
            <a:avLst/>
          </a:prstGeom>
          <a:solidFill>
            <a:schemeClr val="accent2"/>
          </a:solidFill>
          <a:ln/>
        </p:spPr>
      </p:sp>
      <p:sp>
        <p:nvSpPr>
          <p:cNvPr id="23" name="processo"/>
          <p:cNvSpPr/>
          <p:nvPr/>
        </p:nvSpPr>
        <p:spPr>
          <a:xfrm>
            <a:off x="3474720" y="3474720"/>
            <a:ext cx="2011680" cy="640080"/>
          </a:xfrm>
          <a:prstGeom prst="roundRect">
            <a:avLst>
              <a:gd name="adj" fmla="val 11429"/>
            </a:avLst>
          </a:prstGeom>
          <a:solidFill>
            <a:schemeClr val="accent1"/>
          </a:solidFill>
          <a:ln/>
        </p:spPr>
      </p:sp>
      <p:sp>
        <p:nvSpPr>
          <p:cNvPr id="24" name="Text 21"/>
          <p:cNvSpPr txBox="1"/>
          <p:nvPr/>
        </p:nvSpPr>
        <p:spPr>
          <a:xfrm>
            <a:off x="3520440" y="3474720"/>
            <a:ext cx="1920240" cy="640080"/>
          </a:xfrm>
          <a:prstGeom prst="rect">
            <a:avLst/>
          </a:prstGeom>
          <a:noFill/>
          <a:ln/>
        </p:spPr>
        <p:txBody>
          <a:bodyPr wrap="square" lIns="0" tIns="0" rIns="0" bIns="0" rtlCol="0" anchor="ctr"/>
          <a:lstStyle/>
          <a:p>
            <a:pPr algn="ctr" indent="0" marL="0">
              <a:buNone/>
            </a:pPr>
            <a:r>
              <a:rPr lang="en-US" sz="1400" b="1" dirty="0">
                <a:solidFill>
                  <a:schemeClr val="bg1"/>
                </a:solidFill>
              </a:rPr>
              <a:t>Addestramento</a:t>
            </a:r>
            <a:endParaRPr lang="en-US" sz="1400" dirty="0"/>
          </a:p>
        </p:txBody>
      </p:sp>
      <p:sp>
        <p:nvSpPr>
          <p:cNvPr id="25" name="freccia"/>
          <p:cNvSpPr/>
          <p:nvPr/>
        </p:nvSpPr>
        <p:spPr>
          <a:xfrm>
            <a:off x="5669280" y="3648456"/>
            <a:ext cx="548640" cy="292608"/>
          </a:xfrm>
          <a:prstGeom prst="rightArrow">
            <a:avLst/>
          </a:prstGeom>
          <a:solidFill>
            <a:schemeClr val="accent2"/>
          </a:solidFill>
          <a:ln/>
        </p:spPr>
      </p:sp>
      <p:sp>
        <p:nvSpPr>
          <p:cNvPr id="26" name="output"/>
          <p:cNvSpPr/>
          <p:nvPr/>
        </p:nvSpPr>
        <p:spPr>
          <a:xfrm>
            <a:off x="6400800" y="3474720"/>
            <a:ext cx="2286000" cy="640080"/>
          </a:xfrm>
          <a:prstGeom prst="roundRect">
            <a:avLst>
              <a:gd name="adj" fmla="val 11429"/>
            </a:avLst>
          </a:prstGeom>
          <a:solidFill>
            <a:schemeClr val="accent6"/>
          </a:solidFill>
          <a:ln/>
        </p:spPr>
      </p:sp>
      <p:sp>
        <p:nvSpPr>
          <p:cNvPr id="27" name="Text 24"/>
          <p:cNvSpPr txBox="1"/>
          <p:nvPr/>
        </p:nvSpPr>
        <p:spPr>
          <a:xfrm>
            <a:off x="6446520" y="3474720"/>
            <a:ext cx="2194560" cy="640080"/>
          </a:xfrm>
          <a:prstGeom prst="rect">
            <a:avLst/>
          </a:prstGeom>
          <a:noFill/>
          <a:ln/>
        </p:spPr>
        <p:txBody>
          <a:bodyPr wrap="square" lIns="0" tIns="0" rIns="0" bIns="0" rtlCol="0" anchor="ctr"/>
          <a:lstStyle/>
          <a:p>
            <a:pPr algn="ctr" indent="0" marL="0">
              <a:buNone/>
            </a:pPr>
            <a:r>
              <a:rPr lang="en-US" sz="1400" b="1" dirty="0">
                <a:solidFill>
                  <a:schemeClr val="tx1"/>
                </a:solidFill>
              </a:rPr>
              <a:t>Modello: regole apprese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Machine Learning e Deep Learning</a:t>
            </a:r>
            <a:endParaRPr lang="en-US" sz="2600" dirty="0"/>
          </a:p>
        </p:txBody>
      </p:sp>
      <p:sp>
        <p:nvSpPr>
          <p:cNvPr id="4" name="insieme AI"/>
          <p:cNvSpPr/>
          <p:nvPr/>
        </p:nvSpPr>
        <p:spPr>
          <a:xfrm>
            <a:off x="457200" y="1051560"/>
            <a:ext cx="4480560" cy="3520440"/>
          </a:xfrm>
          <a:prstGeom prst="ellipse">
            <a:avLst/>
          </a:prstGeom>
          <a:solidFill>
            <a:schemeClr val="bg2"/>
          </a:solidFill>
          <a:ln w="12700">
            <a:solidFill>
              <a:schemeClr val="accent3"/>
            </a:solidFill>
            <a:prstDash val="solid"/>
          </a:ln>
        </p:spPr>
      </p:sp>
      <p:sp>
        <p:nvSpPr>
          <p:cNvPr id="5" name="insieme ML"/>
          <p:cNvSpPr/>
          <p:nvPr/>
        </p:nvSpPr>
        <p:spPr>
          <a:xfrm>
            <a:off x="1097280" y="1691640"/>
            <a:ext cx="3383280" cy="2697480"/>
          </a:xfrm>
          <a:prstGeom prst="ellipse">
            <a:avLst/>
          </a:prstGeom>
          <a:solidFill>
            <a:schemeClr val="accent6"/>
          </a:solidFill>
          <a:ln w="12700">
            <a:solidFill>
              <a:schemeClr val="accent1"/>
            </a:solidFill>
            <a:prstDash val="solid"/>
          </a:ln>
        </p:spPr>
      </p:sp>
      <p:sp>
        <p:nvSpPr>
          <p:cNvPr id="6" name="insieme DL"/>
          <p:cNvSpPr/>
          <p:nvPr/>
        </p:nvSpPr>
        <p:spPr>
          <a:xfrm>
            <a:off x="1783080" y="2423160"/>
            <a:ext cx="2286000" cy="1783080"/>
          </a:xfrm>
          <a:prstGeom prst="ellipse">
            <a:avLst/>
          </a:prstGeom>
          <a:solidFill>
            <a:schemeClr val="accent1"/>
          </a:solidFill>
          <a:ln/>
        </p:spPr>
      </p:sp>
      <p:sp>
        <p:nvSpPr>
          <p:cNvPr id="7" name="Text 4"/>
          <p:cNvSpPr txBox="1"/>
          <p:nvPr/>
        </p:nvSpPr>
        <p:spPr>
          <a:xfrm>
            <a:off x="1097280" y="1261872"/>
            <a:ext cx="3200400" cy="320040"/>
          </a:xfrm>
          <a:prstGeom prst="rect">
            <a:avLst/>
          </a:prstGeom>
          <a:noFill/>
          <a:ln/>
        </p:spPr>
        <p:txBody>
          <a:bodyPr wrap="square" lIns="0" tIns="0" rIns="0" bIns="0" rtlCol="0" anchor="t"/>
          <a:lstStyle/>
          <a:p>
            <a:pPr algn="ctr" indent="0" marL="0">
              <a:buNone/>
            </a:pPr>
            <a:r>
              <a:rPr lang="en-US" sz="1400" b="1" dirty="0">
                <a:solidFill>
                  <a:schemeClr val="tx1"/>
                </a:solidFill>
              </a:rPr>
              <a:t>Intelligenza Artificiale</a:t>
            </a:r>
            <a:endParaRPr lang="en-US" sz="1400" dirty="0"/>
          </a:p>
        </p:txBody>
      </p:sp>
      <p:sp>
        <p:nvSpPr>
          <p:cNvPr id="8" name="Text 5"/>
          <p:cNvSpPr txBox="1"/>
          <p:nvPr/>
        </p:nvSpPr>
        <p:spPr>
          <a:xfrm>
            <a:off x="1463040" y="1938528"/>
            <a:ext cx="2651760" cy="320040"/>
          </a:xfrm>
          <a:prstGeom prst="rect">
            <a:avLst/>
          </a:prstGeom>
          <a:noFill/>
          <a:ln/>
        </p:spPr>
        <p:txBody>
          <a:bodyPr wrap="square" lIns="0" tIns="0" rIns="0" bIns="0" rtlCol="0" anchor="t"/>
          <a:lstStyle/>
          <a:p>
            <a:pPr algn="ctr" indent="0" marL="0">
              <a:buNone/>
            </a:pPr>
            <a:r>
              <a:rPr lang="en-US" sz="1400" b="1" dirty="0">
                <a:solidFill>
                  <a:schemeClr val="accent1"/>
                </a:solidFill>
              </a:rPr>
              <a:t>Machine Learning</a:t>
            </a:r>
            <a:endParaRPr lang="en-US" sz="1400" dirty="0"/>
          </a:p>
        </p:txBody>
      </p:sp>
      <p:sp>
        <p:nvSpPr>
          <p:cNvPr id="9" name="Text 6"/>
          <p:cNvSpPr txBox="1"/>
          <p:nvPr/>
        </p:nvSpPr>
        <p:spPr>
          <a:xfrm>
            <a:off x="1828800" y="3108960"/>
            <a:ext cx="2194560" cy="365760"/>
          </a:xfrm>
          <a:prstGeom prst="rect">
            <a:avLst/>
          </a:prstGeom>
          <a:noFill/>
          <a:ln/>
        </p:spPr>
        <p:txBody>
          <a:bodyPr wrap="square" lIns="0" tIns="0" rIns="0" bIns="0" rtlCol="0" anchor="t"/>
          <a:lstStyle/>
          <a:p>
            <a:pPr algn="ctr" indent="0" marL="0">
              <a:buNone/>
            </a:pPr>
            <a:r>
              <a:rPr lang="en-US" sz="1500" b="1" dirty="0">
                <a:solidFill>
                  <a:schemeClr val="bg1"/>
                </a:solidFill>
              </a:rPr>
              <a:t>Deep Learning</a:t>
            </a:r>
            <a:endParaRPr lang="en-US" sz="1500" dirty="0"/>
          </a:p>
        </p:txBody>
      </p:sp>
      <p:sp>
        <p:nvSpPr>
          <p:cNvPr id="10" name="Text 7"/>
          <p:cNvSpPr txBox="1"/>
          <p:nvPr/>
        </p:nvSpPr>
        <p:spPr>
          <a:xfrm>
            <a:off x="5303520" y="1143000"/>
            <a:ext cx="3383280" cy="292608"/>
          </a:xfrm>
          <a:prstGeom prst="rect">
            <a:avLst/>
          </a:prstGeom>
          <a:noFill/>
          <a:ln/>
        </p:spPr>
        <p:txBody>
          <a:bodyPr wrap="square" lIns="0" tIns="0" rIns="0" bIns="0" rtlCol="0" anchor="t"/>
          <a:lstStyle/>
          <a:p>
            <a:pPr indent="0" marL="0">
              <a:buNone/>
            </a:pPr>
            <a:r>
              <a:rPr lang="en-US" sz="1500" b="1" dirty="0">
                <a:solidFill>
                  <a:schemeClr val="tx1"/>
                </a:solidFill>
              </a:rPr>
              <a:t>Intelligenza Artificiale</a:t>
            </a:r>
            <a:endParaRPr lang="en-US" sz="1500" dirty="0"/>
          </a:p>
        </p:txBody>
      </p:sp>
      <p:sp>
        <p:nvSpPr>
          <p:cNvPr id="11" name="Text 8"/>
          <p:cNvSpPr txBox="1"/>
          <p:nvPr/>
        </p:nvSpPr>
        <p:spPr>
          <a:xfrm>
            <a:off x="5303520" y="1463040"/>
            <a:ext cx="3383280" cy="731520"/>
          </a:xfrm>
          <a:prstGeom prst="rect">
            <a:avLst/>
          </a:prstGeom>
          <a:noFill/>
          <a:ln/>
        </p:spPr>
        <p:txBody>
          <a:bodyPr wrap="square" lIns="0" tIns="0" rIns="0" bIns="0" rtlCol="0" anchor="t"/>
          <a:lstStyle/>
          <a:p>
            <a:pPr indent="0" marL="0">
              <a:buNone/>
            </a:pPr>
            <a:r>
              <a:rPr lang="en-US" sz="1300" dirty="0">
                <a:solidFill>
                  <a:schemeClr val="tx2"/>
                </a:solidFill>
              </a:rPr>
              <a:t>Campo ampio: tecniche che svolgono compiti associati all'intelligenza, comprese le regole</a:t>
            </a:r>
            <a:endParaRPr lang="en-US" sz="1300" dirty="0"/>
          </a:p>
        </p:txBody>
      </p:sp>
      <p:sp>
        <p:nvSpPr>
          <p:cNvPr id="12" name="Text 9"/>
          <p:cNvSpPr txBox="1"/>
          <p:nvPr/>
        </p:nvSpPr>
        <p:spPr>
          <a:xfrm>
            <a:off x="5303520" y="2286000"/>
            <a:ext cx="3383280" cy="292608"/>
          </a:xfrm>
          <a:prstGeom prst="rect">
            <a:avLst/>
          </a:prstGeom>
          <a:noFill/>
          <a:ln/>
        </p:spPr>
        <p:txBody>
          <a:bodyPr wrap="square" lIns="0" tIns="0" rIns="0" bIns="0" rtlCol="0" anchor="t"/>
          <a:lstStyle/>
          <a:p>
            <a:pPr indent="0" marL="0">
              <a:buNone/>
            </a:pPr>
            <a:r>
              <a:rPr lang="en-US" sz="1500" b="1" dirty="0">
                <a:solidFill>
                  <a:schemeClr val="accent1"/>
                </a:solidFill>
              </a:rPr>
              <a:t>Machine Learning</a:t>
            </a:r>
            <a:endParaRPr lang="en-US" sz="1500" dirty="0"/>
          </a:p>
        </p:txBody>
      </p:sp>
      <p:sp>
        <p:nvSpPr>
          <p:cNvPr id="13" name="Text 10"/>
          <p:cNvSpPr txBox="1"/>
          <p:nvPr/>
        </p:nvSpPr>
        <p:spPr>
          <a:xfrm>
            <a:off x="5303520" y="2606040"/>
            <a:ext cx="3383280" cy="731520"/>
          </a:xfrm>
          <a:prstGeom prst="rect">
            <a:avLst/>
          </a:prstGeom>
          <a:noFill/>
          <a:ln/>
        </p:spPr>
        <p:txBody>
          <a:bodyPr wrap="square" lIns="0" tIns="0" rIns="0" bIns="0" rtlCol="0" anchor="t"/>
          <a:lstStyle/>
          <a:p>
            <a:pPr indent="0" marL="0">
              <a:buNone/>
            </a:pPr>
            <a:r>
              <a:rPr lang="en-US" sz="1300" dirty="0">
                <a:solidFill>
                  <a:schemeClr val="tx2"/>
                </a:solidFill>
              </a:rPr>
              <a:t>Il sistema apprende dai dati. Diffuso dagli anni '90: antispam, raccomandazioni, rischio di credito</a:t>
            </a:r>
            <a:endParaRPr lang="en-US" sz="1300" dirty="0"/>
          </a:p>
        </p:txBody>
      </p:sp>
      <p:sp>
        <p:nvSpPr>
          <p:cNvPr id="14" name="Text 11"/>
          <p:cNvSpPr txBox="1"/>
          <p:nvPr/>
        </p:nvSpPr>
        <p:spPr>
          <a:xfrm>
            <a:off x="5303520" y="3429000"/>
            <a:ext cx="3383280" cy="292608"/>
          </a:xfrm>
          <a:prstGeom prst="rect">
            <a:avLst/>
          </a:prstGeom>
          <a:noFill/>
          <a:ln/>
        </p:spPr>
        <p:txBody>
          <a:bodyPr wrap="square" lIns="0" tIns="0" rIns="0" bIns="0" rtlCol="0" anchor="t"/>
          <a:lstStyle/>
          <a:p>
            <a:pPr indent="0" marL="0">
              <a:buNone/>
            </a:pPr>
            <a:r>
              <a:rPr lang="en-US" sz="1500" b="1" dirty="0">
                <a:solidFill>
                  <a:schemeClr val="accent1"/>
                </a:solidFill>
              </a:rPr>
              <a:t>Deep Learning</a:t>
            </a:r>
            <a:endParaRPr lang="en-US" sz="1500" dirty="0"/>
          </a:p>
        </p:txBody>
      </p:sp>
      <p:sp>
        <p:nvSpPr>
          <p:cNvPr id="15" name="Text 12"/>
          <p:cNvSpPr txBox="1"/>
          <p:nvPr/>
        </p:nvSpPr>
        <p:spPr>
          <a:xfrm>
            <a:off x="5303520" y="3749040"/>
            <a:ext cx="3383280" cy="731520"/>
          </a:xfrm>
          <a:prstGeom prst="rect">
            <a:avLst/>
          </a:prstGeom>
          <a:noFill/>
          <a:ln/>
        </p:spPr>
        <p:txBody>
          <a:bodyPr wrap="square" lIns="0" tIns="0" rIns="0" bIns="0" rtlCol="0" anchor="t"/>
          <a:lstStyle/>
          <a:p>
            <a:pPr indent="0" marL="0">
              <a:buNone/>
            </a:pPr>
            <a:r>
              <a:rPr lang="en-US" sz="1300" dirty="0">
                <a:solidFill>
                  <a:schemeClr val="tx2"/>
                </a:solidFill>
              </a:rPr>
              <a:t>Reti neurali a molti strati. Dal 2012 svolta in immagini, voce, traduzione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Dall'AI specializzata all'AI generativa</a:t>
            </a:r>
            <a:endParaRPr lang="en-US" sz="2600" dirty="0"/>
          </a:p>
        </p:txBody>
      </p:sp>
      <p:sp>
        <p:nvSpPr>
          <p:cNvPr id="4" name="scheda AI specializzata"/>
          <p:cNvSpPr/>
          <p:nvPr/>
        </p:nvSpPr>
        <p:spPr>
          <a:xfrm>
            <a:off x="457200" y="1097280"/>
            <a:ext cx="3657600" cy="3429000"/>
          </a:xfrm>
          <a:prstGeom prst="roundRect">
            <a:avLst>
              <a:gd name="adj" fmla="val 2133"/>
            </a:avLst>
          </a:prstGeom>
          <a:solidFill>
            <a:schemeClr val="bg2"/>
          </a:solidFill>
          <a:ln/>
        </p:spPr>
      </p:sp>
      <p:sp>
        <p:nvSpPr>
          <p:cNvPr id="5" name="cerchio FiCrosshair"/>
          <p:cNvSpPr/>
          <p:nvPr/>
        </p:nvSpPr>
        <p:spPr>
          <a:xfrm>
            <a:off x="640080" y="1280160"/>
            <a:ext cx="457200" cy="457200"/>
          </a:xfrm>
          <a:prstGeom prst="ellipse">
            <a:avLst/>
          </a:prstGeom>
          <a:solidFill>
            <a:schemeClr val="accent1"/>
          </a:solidFill>
          <a:ln/>
        </p:spPr>
      </p:sp>
      <p:pic>
        <p:nvPicPr>
          <p:cNvPr id="6" name="Image 0" descr="FiCrosshair">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291840" cy="347472"/>
          </a:xfrm>
          <a:prstGeom prst="rect">
            <a:avLst/>
          </a:prstGeom>
          <a:noFill/>
          <a:ln/>
        </p:spPr>
        <p:txBody>
          <a:bodyPr wrap="square" lIns="0" tIns="0" rIns="0" bIns="0" rtlCol="0" anchor="t"/>
          <a:lstStyle/>
          <a:p>
            <a:pPr indent="0" marL="0">
              <a:buNone/>
            </a:pPr>
            <a:r>
              <a:rPr lang="en-US" sz="1700" b="1" dirty="0">
                <a:solidFill>
                  <a:schemeClr val="tx1"/>
                </a:solidFill>
              </a:rPr>
              <a:t>AI specializzata</a:t>
            </a:r>
            <a:endParaRPr lang="en-US" sz="1700" dirty="0"/>
          </a:p>
        </p:txBody>
      </p:sp>
      <p:sp>
        <p:nvSpPr>
          <p:cNvPr id="8" name="Text 4"/>
          <p:cNvSpPr txBox="1"/>
          <p:nvPr/>
        </p:nvSpPr>
        <p:spPr>
          <a:xfrm>
            <a:off x="640080" y="2231136"/>
            <a:ext cx="3291840" cy="2185416"/>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Un modello per un compito preciso</a:t>
            </a:r>
            <a:endParaRPr lang="en-US" sz="1400" dirty="0"/>
          </a:p>
          <a:p>
            <a:pPr marL="177800" indent="-177800">
              <a:spcAft>
                <a:spcPts val="400"/>
              </a:spcAft>
              <a:buSzPct val="100000"/>
              <a:buChar char="•"/>
            </a:pPr>
            <a:r>
              <a:rPr lang="en-US" sz="1400" dirty="0">
                <a:solidFill>
                  <a:schemeClr val="tx2"/>
                </a:solidFill>
              </a:rPr>
              <a:t>Dati e progetto dedicati</a:t>
            </a:r>
            <a:endParaRPr lang="en-US" sz="1400" dirty="0"/>
          </a:p>
          <a:p>
            <a:pPr marL="177800" indent="-177800">
              <a:spcAft>
                <a:spcPts val="400"/>
              </a:spcAft>
              <a:buSzPct val="100000"/>
              <a:buChar char="•"/>
            </a:pPr>
            <a:r>
              <a:rPr lang="en-US" sz="1400" dirty="0">
                <a:solidFill>
                  <a:schemeClr val="tx2"/>
                </a:solidFill>
              </a:rPr>
              <a:t>Esempi: controllo qualità visivo, previsione della domanda, filtro antispam</a:t>
            </a:r>
            <a:endParaRPr lang="en-US" sz="1400" dirty="0"/>
          </a:p>
          <a:p>
            <a:pPr marL="177800" indent="-177800">
              <a:spcAft>
                <a:spcPts val="400"/>
              </a:spcAft>
              <a:buSzPct val="100000"/>
              <a:buChar char="•"/>
            </a:pPr>
            <a:r>
              <a:rPr lang="en-US" sz="1400" dirty="0">
                <a:solidFill>
                  <a:schemeClr val="tx2"/>
                </a:solidFill>
              </a:rPr>
              <a:t>Ancora oggi molto diffusa ed efficace</a:t>
            </a:r>
            <a:endParaRPr lang="en-US" sz="1400" dirty="0"/>
          </a:p>
        </p:txBody>
      </p:sp>
      <p:sp>
        <p:nvSpPr>
          <p:cNvPr id="9" name="freccia"/>
          <p:cNvSpPr/>
          <p:nvPr/>
        </p:nvSpPr>
        <p:spPr>
          <a:xfrm>
            <a:off x="4251960" y="2651760"/>
            <a:ext cx="640080" cy="292608"/>
          </a:xfrm>
          <a:prstGeom prst="rightArrow">
            <a:avLst/>
          </a:prstGeom>
          <a:solidFill>
            <a:schemeClr val="accent1"/>
          </a:solidFill>
          <a:ln/>
        </p:spPr>
      </p:sp>
      <p:sp>
        <p:nvSpPr>
          <p:cNvPr id="10" name="scheda AI generativa"/>
          <p:cNvSpPr/>
          <p:nvPr/>
        </p:nvSpPr>
        <p:spPr>
          <a:xfrm>
            <a:off x="5029200" y="1097280"/>
            <a:ext cx="3657600" cy="3429000"/>
          </a:xfrm>
          <a:prstGeom prst="roundRect">
            <a:avLst>
              <a:gd name="adj" fmla="val 2133"/>
            </a:avLst>
          </a:prstGeom>
          <a:solidFill>
            <a:schemeClr val="accent6"/>
          </a:solidFill>
          <a:ln/>
        </p:spPr>
      </p:sp>
      <p:sp>
        <p:nvSpPr>
          <p:cNvPr id="11" name="cerchio FiLayers"/>
          <p:cNvSpPr/>
          <p:nvPr/>
        </p:nvSpPr>
        <p:spPr>
          <a:xfrm>
            <a:off x="5212080" y="1280160"/>
            <a:ext cx="457200" cy="457200"/>
          </a:xfrm>
          <a:prstGeom prst="ellipse">
            <a:avLst/>
          </a:prstGeom>
          <a:solidFill>
            <a:schemeClr val="accent1"/>
          </a:solidFill>
          <a:ln/>
        </p:spPr>
      </p:sp>
      <p:pic>
        <p:nvPicPr>
          <p:cNvPr id="12" name="Image 1" descr="FiLayers">    </p:cNvPr>
          <p:cNvPicPr>
            <a:picLocks noChangeAspect="1"/>
          </p:cNvPicPr>
          <p:nvPr/>
        </p:nvPicPr>
        <p:blipFill>
          <a:blip r:embed="rId2"/>
          <a:stretch>
            <a:fillRect/>
          </a:stretch>
        </p:blipFill>
        <p:spPr>
          <a:xfrm>
            <a:off x="5326380" y="1394460"/>
            <a:ext cx="228600" cy="228600"/>
          </a:xfrm>
          <a:prstGeom prst="rect">
            <a:avLst/>
          </a:prstGeom>
        </p:spPr>
      </p:pic>
      <p:sp>
        <p:nvSpPr>
          <p:cNvPr id="13" name="Text 8"/>
          <p:cNvSpPr txBox="1"/>
          <p:nvPr/>
        </p:nvSpPr>
        <p:spPr>
          <a:xfrm>
            <a:off x="5212080" y="1847088"/>
            <a:ext cx="3291840" cy="347472"/>
          </a:xfrm>
          <a:prstGeom prst="rect">
            <a:avLst/>
          </a:prstGeom>
          <a:noFill/>
          <a:ln/>
        </p:spPr>
        <p:txBody>
          <a:bodyPr wrap="square" lIns="0" tIns="0" rIns="0" bIns="0" rtlCol="0" anchor="t"/>
          <a:lstStyle/>
          <a:p>
            <a:pPr indent="0" marL="0">
              <a:buNone/>
            </a:pPr>
            <a:r>
              <a:rPr lang="en-US" sz="1700" b="1" dirty="0">
                <a:solidFill>
                  <a:schemeClr val="tx1"/>
                </a:solidFill>
              </a:rPr>
              <a:t>AI generativa</a:t>
            </a:r>
            <a:endParaRPr lang="en-US" sz="1700" dirty="0"/>
          </a:p>
        </p:txBody>
      </p:sp>
      <p:sp>
        <p:nvSpPr>
          <p:cNvPr id="14" name="Text 9"/>
          <p:cNvSpPr txBox="1"/>
          <p:nvPr/>
        </p:nvSpPr>
        <p:spPr>
          <a:xfrm>
            <a:off x="5212080" y="2231136"/>
            <a:ext cx="3291840" cy="2185416"/>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Un modello per molti compiti diversi</a:t>
            </a:r>
            <a:endParaRPr lang="en-US" sz="1400" dirty="0"/>
          </a:p>
          <a:p>
            <a:pPr marL="177800" indent="-177800">
              <a:spcAft>
                <a:spcPts val="400"/>
              </a:spcAft>
              <a:buSzPct val="100000"/>
              <a:buChar char="•"/>
            </a:pPr>
            <a:r>
              <a:rPr lang="en-US" sz="1400" dirty="0">
                <a:solidFill>
                  <a:schemeClr val="tx2"/>
                </a:solidFill>
              </a:rPr>
              <a:t>Guidata con istruzioni in linguaggio naturale</a:t>
            </a:r>
            <a:endParaRPr lang="en-US" sz="1400" dirty="0"/>
          </a:p>
          <a:p>
            <a:pPr marL="177800" indent="-177800">
              <a:spcAft>
                <a:spcPts val="400"/>
              </a:spcAft>
              <a:buSzPct val="100000"/>
              <a:buChar char="•"/>
            </a:pPr>
            <a:r>
              <a:rPr lang="en-US" sz="1400" dirty="0">
                <a:solidFill>
                  <a:schemeClr val="tx2"/>
                </a:solidFill>
              </a:rPr>
              <a:t>Esempi: scrivere, riassumere, tradurre, analizzare, generare codice</a:t>
            </a:r>
            <a:endParaRPr lang="en-US" sz="1400" dirty="0"/>
          </a:p>
          <a:p>
            <a:pPr marL="177800" indent="-177800">
              <a:spcAft>
                <a:spcPts val="400"/>
              </a:spcAft>
              <a:buSzPct val="100000"/>
              <a:buChar char="•"/>
            </a:pPr>
            <a:r>
              <a:rPr lang="en-US" sz="1400" dirty="0">
                <a:solidFill>
                  <a:schemeClr val="tx2"/>
                </a:solidFill>
              </a:rPr>
              <a:t>Versatile, ma non "intelligenza generale"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è il risultato di decenni di ricerca ed evoluzione tecnologica, non un'invenzione recente.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1.1  ·  Storia ed evoluzione dell'AI</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1.2</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I fattori dell'accelerazione tecnologica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Perché proprio ora? La convergenza di più fattori, non una singola invenzione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Cinque fattori che si rafforzano a vicenda</a:t>
            </a:r>
            <a:endParaRPr lang="en-US" sz="2600" dirty="0"/>
          </a:p>
        </p:txBody>
      </p:sp>
      <p:sp>
        <p:nvSpPr>
          <p:cNvPr id="4" name="fattore Potenza di calcolo"/>
          <p:cNvSpPr/>
          <p:nvPr/>
        </p:nvSpPr>
        <p:spPr>
          <a:xfrm>
            <a:off x="457200" y="1143000"/>
            <a:ext cx="1517904" cy="2331720"/>
          </a:xfrm>
          <a:prstGeom prst="roundRect">
            <a:avLst>
              <a:gd name="adj" fmla="val 4819"/>
            </a:avLst>
          </a:prstGeom>
          <a:solidFill>
            <a:schemeClr val="bg2"/>
          </a:solidFill>
          <a:ln/>
        </p:spPr>
      </p:sp>
      <p:sp>
        <p:nvSpPr>
          <p:cNvPr id="5" name="cerchio FiCpu"/>
          <p:cNvSpPr/>
          <p:nvPr/>
        </p:nvSpPr>
        <p:spPr>
          <a:xfrm>
            <a:off x="941832" y="1325880"/>
            <a:ext cx="548640" cy="548640"/>
          </a:xfrm>
          <a:prstGeom prst="ellipse">
            <a:avLst/>
          </a:prstGeom>
          <a:solidFill>
            <a:schemeClr val="accent1"/>
          </a:solidFill>
          <a:ln/>
        </p:spPr>
      </p:sp>
      <p:pic>
        <p:nvPicPr>
          <p:cNvPr id="6" name="Image 0" descr="FiCpu">    </p:cNvPr>
          <p:cNvPicPr>
            <a:picLocks noChangeAspect="1"/>
          </p:cNvPicPr>
          <p:nvPr/>
        </p:nvPicPr>
        <p:blipFill>
          <a:blip r:embed="rId1"/>
          <a:stretch>
            <a:fillRect/>
          </a:stretch>
        </p:blipFill>
        <p:spPr>
          <a:xfrm>
            <a:off x="1078992" y="1463040"/>
            <a:ext cx="274320" cy="274320"/>
          </a:xfrm>
          <a:prstGeom prst="rect">
            <a:avLst/>
          </a:prstGeom>
        </p:spPr>
      </p:pic>
      <p:sp>
        <p:nvSpPr>
          <p:cNvPr id="7" name="Text 3"/>
          <p:cNvSpPr txBox="1"/>
          <p:nvPr/>
        </p:nvSpPr>
        <p:spPr>
          <a:xfrm>
            <a:off x="548640" y="2011680"/>
            <a:ext cx="1335024" cy="594360"/>
          </a:xfrm>
          <a:prstGeom prst="rect">
            <a:avLst/>
          </a:prstGeom>
          <a:noFill/>
          <a:ln/>
        </p:spPr>
        <p:txBody>
          <a:bodyPr wrap="square" lIns="0" tIns="0" rIns="0" bIns="0" rtlCol="0" anchor="ctr"/>
          <a:lstStyle/>
          <a:p>
            <a:pPr algn="ctr" indent="0" marL="0">
              <a:buNone/>
            </a:pPr>
            <a:r>
              <a:rPr lang="en-US" sz="1400" b="1" dirty="0">
                <a:solidFill>
                  <a:schemeClr val="tx1"/>
                </a:solidFill>
              </a:rPr>
              <a:t>Potenza di calcolo</a:t>
            </a:r>
            <a:endParaRPr lang="en-US" sz="1400" dirty="0"/>
          </a:p>
        </p:txBody>
      </p:sp>
      <p:sp>
        <p:nvSpPr>
          <p:cNvPr id="8" name="Text 4"/>
          <p:cNvSpPr txBox="1"/>
          <p:nvPr/>
        </p:nvSpPr>
        <p:spPr>
          <a:xfrm>
            <a:off x="548640" y="2651760"/>
            <a:ext cx="1335024" cy="731520"/>
          </a:xfrm>
          <a:prstGeom prst="rect">
            <a:avLst/>
          </a:prstGeom>
          <a:noFill/>
          <a:ln/>
        </p:spPr>
        <p:txBody>
          <a:bodyPr wrap="square" lIns="0" tIns="0" rIns="0" bIns="0" rtlCol="0" anchor="t"/>
          <a:lstStyle/>
          <a:p>
            <a:pPr algn="ctr" indent="0" marL="0">
              <a:buNone/>
            </a:pPr>
            <a:r>
              <a:rPr lang="en-US" sz="1200" dirty="0">
                <a:solidFill>
                  <a:schemeClr val="tx2"/>
                </a:solidFill>
              </a:rPr>
              <a:t>GPU, chip specializzati, cloud</a:t>
            </a:r>
            <a:endParaRPr lang="en-US" sz="1200" dirty="0"/>
          </a:p>
        </p:txBody>
      </p:sp>
      <p:sp>
        <p:nvSpPr>
          <p:cNvPr id="9" name="fattore Dati"/>
          <p:cNvSpPr/>
          <p:nvPr/>
        </p:nvSpPr>
        <p:spPr>
          <a:xfrm>
            <a:off x="2139696" y="1143000"/>
            <a:ext cx="1517904" cy="2331720"/>
          </a:xfrm>
          <a:prstGeom prst="roundRect">
            <a:avLst>
              <a:gd name="adj" fmla="val 4819"/>
            </a:avLst>
          </a:prstGeom>
          <a:solidFill>
            <a:schemeClr val="bg2"/>
          </a:solidFill>
          <a:ln/>
        </p:spPr>
      </p:sp>
      <p:sp>
        <p:nvSpPr>
          <p:cNvPr id="10" name="cerchio FiDatabase"/>
          <p:cNvSpPr/>
          <p:nvPr/>
        </p:nvSpPr>
        <p:spPr>
          <a:xfrm>
            <a:off x="2624328" y="1325880"/>
            <a:ext cx="548640" cy="548640"/>
          </a:xfrm>
          <a:prstGeom prst="ellipse">
            <a:avLst/>
          </a:prstGeom>
          <a:solidFill>
            <a:schemeClr val="accent1"/>
          </a:solidFill>
          <a:ln/>
        </p:spPr>
      </p:sp>
      <p:pic>
        <p:nvPicPr>
          <p:cNvPr id="11" name="Image 1" descr="FiDatabase">    </p:cNvPr>
          <p:cNvPicPr>
            <a:picLocks noChangeAspect="1"/>
          </p:cNvPicPr>
          <p:nvPr/>
        </p:nvPicPr>
        <p:blipFill>
          <a:blip r:embed="rId2"/>
          <a:stretch>
            <a:fillRect/>
          </a:stretch>
        </p:blipFill>
        <p:spPr>
          <a:xfrm>
            <a:off x="2761488" y="1463040"/>
            <a:ext cx="274320" cy="274320"/>
          </a:xfrm>
          <a:prstGeom prst="rect">
            <a:avLst/>
          </a:prstGeom>
        </p:spPr>
      </p:pic>
      <p:sp>
        <p:nvSpPr>
          <p:cNvPr id="12" name="Text 7"/>
          <p:cNvSpPr txBox="1"/>
          <p:nvPr/>
        </p:nvSpPr>
        <p:spPr>
          <a:xfrm>
            <a:off x="2231136" y="2011680"/>
            <a:ext cx="1335024" cy="594360"/>
          </a:xfrm>
          <a:prstGeom prst="rect">
            <a:avLst/>
          </a:prstGeom>
          <a:noFill/>
          <a:ln/>
        </p:spPr>
        <p:txBody>
          <a:bodyPr wrap="square" lIns="0" tIns="0" rIns="0" bIns="0" rtlCol="0" anchor="ctr"/>
          <a:lstStyle/>
          <a:p>
            <a:pPr algn="ctr" indent="0" marL="0">
              <a:buNone/>
            </a:pPr>
            <a:r>
              <a:rPr lang="en-US" sz="1400" b="1" dirty="0">
                <a:solidFill>
                  <a:schemeClr val="tx1"/>
                </a:solidFill>
              </a:rPr>
              <a:t>Dati</a:t>
            </a:r>
            <a:endParaRPr lang="en-US" sz="1400" dirty="0"/>
          </a:p>
        </p:txBody>
      </p:sp>
      <p:sp>
        <p:nvSpPr>
          <p:cNvPr id="13" name="Text 8"/>
          <p:cNvSpPr txBox="1"/>
          <p:nvPr/>
        </p:nvSpPr>
        <p:spPr>
          <a:xfrm>
            <a:off x="2231136" y="2651760"/>
            <a:ext cx="1335024" cy="731520"/>
          </a:xfrm>
          <a:prstGeom prst="rect">
            <a:avLst/>
          </a:prstGeom>
          <a:noFill/>
          <a:ln/>
        </p:spPr>
        <p:txBody>
          <a:bodyPr wrap="square" lIns="0" tIns="0" rIns="0" bIns="0" rtlCol="0" anchor="t"/>
          <a:lstStyle/>
          <a:p>
            <a:pPr algn="ctr" indent="0" marL="0">
              <a:buNone/>
            </a:pPr>
            <a:r>
              <a:rPr lang="en-US" sz="1200" dirty="0">
                <a:solidFill>
                  <a:schemeClr val="tx2"/>
                </a:solidFill>
              </a:rPr>
              <a:t>Digitalizzazione e internet</a:t>
            </a:r>
            <a:endParaRPr lang="en-US" sz="1200" dirty="0"/>
          </a:p>
        </p:txBody>
      </p:sp>
      <p:sp>
        <p:nvSpPr>
          <p:cNvPr id="14" name="fattore Algoritmi e architetture"/>
          <p:cNvSpPr/>
          <p:nvPr/>
        </p:nvSpPr>
        <p:spPr>
          <a:xfrm>
            <a:off x="3822192" y="1143000"/>
            <a:ext cx="1517904" cy="2331720"/>
          </a:xfrm>
          <a:prstGeom prst="roundRect">
            <a:avLst>
              <a:gd name="adj" fmla="val 4819"/>
            </a:avLst>
          </a:prstGeom>
          <a:solidFill>
            <a:schemeClr val="bg2"/>
          </a:solidFill>
          <a:ln/>
        </p:spPr>
      </p:sp>
      <p:sp>
        <p:nvSpPr>
          <p:cNvPr id="15" name="cerchio FiGitBranch"/>
          <p:cNvSpPr/>
          <p:nvPr/>
        </p:nvSpPr>
        <p:spPr>
          <a:xfrm>
            <a:off x="4306824" y="1325880"/>
            <a:ext cx="548640" cy="548640"/>
          </a:xfrm>
          <a:prstGeom prst="ellipse">
            <a:avLst/>
          </a:prstGeom>
          <a:solidFill>
            <a:schemeClr val="accent1"/>
          </a:solidFill>
          <a:ln/>
        </p:spPr>
      </p:sp>
      <p:pic>
        <p:nvPicPr>
          <p:cNvPr id="16" name="Image 2" descr="FiGitBranch">    </p:cNvPr>
          <p:cNvPicPr>
            <a:picLocks noChangeAspect="1"/>
          </p:cNvPicPr>
          <p:nvPr/>
        </p:nvPicPr>
        <p:blipFill>
          <a:blip r:embed="rId3"/>
          <a:stretch>
            <a:fillRect/>
          </a:stretch>
        </p:blipFill>
        <p:spPr>
          <a:xfrm>
            <a:off x="4443984" y="1463040"/>
            <a:ext cx="274320" cy="274320"/>
          </a:xfrm>
          <a:prstGeom prst="rect">
            <a:avLst/>
          </a:prstGeom>
        </p:spPr>
      </p:pic>
      <p:sp>
        <p:nvSpPr>
          <p:cNvPr id="17" name="Text 11"/>
          <p:cNvSpPr txBox="1"/>
          <p:nvPr/>
        </p:nvSpPr>
        <p:spPr>
          <a:xfrm>
            <a:off x="3913632" y="2011680"/>
            <a:ext cx="1335024" cy="594360"/>
          </a:xfrm>
          <a:prstGeom prst="rect">
            <a:avLst/>
          </a:prstGeom>
          <a:noFill/>
          <a:ln/>
        </p:spPr>
        <p:txBody>
          <a:bodyPr wrap="square" lIns="0" tIns="0" rIns="0" bIns="0" rtlCol="0" anchor="ctr"/>
          <a:lstStyle/>
          <a:p>
            <a:pPr algn="ctr" indent="0" marL="0">
              <a:buNone/>
            </a:pPr>
            <a:r>
              <a:rPr lang="en-US" sz="1400" b="1" dirty="0">
                <a:solidFill>
                  <a:schemeClr val="tx1"/>
                </a:solidFill>
              </a:rPr>
              <a:t>Algoritmi e architetture</a:t>
            </a:r>
            <a:endParaRPr lang="en-US" sz="1400" dirty="0"/>
          </a:p>
        </p:txBody>
      </p:sp>
      <p:sp>
        <p:nvSpPr>
          <p:cNvPr id="18" name="Text 12"/>
          <p:cNvSpPr txBox="1"/>
          <p:nvPr/>
        </p:nvSpPr>
        <p:spPr>
          <a:xfrm>
            <a:off x="3913632" y="2651760"/>
            <a:ext cx="1335024" cy="731520"/>
          </a:xfrm>
          <a:prstGeom prst="rect">
            <a:avLst/>
          </a:prstGeom>
          <a:noFill/>
          <a:ln/>
        </p:spPr>
        <p:txBody>
          <a:bodyPr wrap="square" lIns="0" tIns="0" rIns="0" bIns="0" rtlCol="0" anchor="t"/>
          <a:lstStyle/>
          <a:p>
            <a:pPr algn="ctr" indent="0" marL="0">
              <a:buNone/>
            </a:pPr>
            <a:r>
              <a:rPr lang="en-US" sz="1200" dirty="0">
                <a:solidFill>
                  <a:schemeClr val="tx2"/>
                </a:solidFill>
              </a:rPr>
              <a:t>Deep learning, Transformer</a:t>
            </a:r>
            <a:endParaRPr lang="en-US" sz="1200" dirty="0"/>
          </a:p>
        </p:txBody>
      </p:sp>
      <p:sp>
        <p:nvSpPr>
          <p:cNvPr id="19" name="fattore Modelli di grandi dimensioni"/>
          <p:cNvSpPr/>
          <p:nvPr/>
        </p:nvSpPr>
        <p:spPr>
          <a:xfrm>
            <a:off x="5504688" y="1143000"/>
            <a:ext cx="1517904" cy="2331720"/>
          </a:xfrm>
          <a:prstGeom prst="roundRect">
            <a:avLst>
              <a:gd name="adj" fmla="val 4819"/>
            </a:avLst>
          </a:prstGeom>
          <a:solidFill>
            <a:schemeClr val="bg2"/>
          </a:solidFill>
          <a:ln/>
        </p:spPr>
      </p:sp>
      <p:sp>
        <p:nvSpPr>
          <p:cNvPr id="20" name="cerchio FiMaximize2"/>
          <p:cNvSpPr/>
          <p:nvPr/>
        </p:nvSpPr>
        <p:spPr>
          <a:xfrm>
            <a:off x="5989320" y="1325880"/>
            <a:ext cx="548640" cy="548640"/>
          </a:xfrm>
          <a:prstGeom prst="ellipse">
            <a:avLst/>
          </a:prstGeom>
          <a:solidFill>
            <a:schemeClr val="accent1"/>
          </a:solidFill>
          <a:ln/>
        </p:spPr>
      </p:sp>
      <p:pic>
        <p:nvPicPr>
          <p:cNvPr id="21" name="Image 3" descr="FiMaximize2">    </p:cNvPr>
          <p:cNvPicPr>
            <a:picLocks noChangeAspect="1"/>
          </p:cNvPicPr>
          <p:nvPr/>
        </p:nvPicPr>
        <p:blipFill>
          <a:blip r:embed="rId4"/>
          <a:stretch>
            <a:fillRect/>
          </a:stretch>
        </p:blipFill>
        <p:spPr>
          <a:xfrm>
            <a:off x="6126480" y="1463040"/>
            <a:ext cx="274320" cy="274320"/>
          </a:xfrm>
          <a:prstGeom prst="rect">
            <a:avLst/>
          </a:prstGeom>
        </p:spPr>
      </p:pic>
      <p:sp>
        <p:nvSpPr>
          <p:cNvPr id="22" name="Text 15"/>
          <p:cNvSpPr txBox="1"/>
          <p:nvPr/>
        </p:nvSpPr>
        <p:spPr>
          <a:xfrm>
            <a:off x="5596128" y="2011680"/>
            <a:ext cx="1335024" cy="594360"/>
          </a:xfrm>
          <a:prstGeom prst="rect">
            <a:avLst/>
          </a:prstGeom>
          <a:noFill/>
          <a:ln/>
        </p:spPr>
        <p:txBody>
          <a:bodyPr wrap="square" lIns="0" tIns="0" rIns="0" bIns="0" rtlCol="0" anchor="ctr"/>
          <a:lstStyle/>
          <a:p>
            <a:pPr algn="ctr" indent="0" marL="0">
              <a:buNone/>
            </a:pPr>
            <a:r>
              <a:rPr lang="en-US" sz="1400" b="1" dirty="0">
                <a:solidFill>
                  <a:schemeClr val="tx1"/>
                </a:solidFill>
              </a:rPr>
              <a:t>Modelli di grandi dimensioni</a:t>
            </a:r>
            <a:endParaRPr lang="en-US" sz="1400" dirty="0"/>
          </a:p>
        </p:txBody>
      </p:sp>
      <p:sp>
        <p:nvSpPr>
          <p:cNvPr id="23" name="Text 16"/>
          <p:cNvSpPr txBox="1"/>
          <p:nvPr/>
        </p:nvSpPr>
        <p:spPr>
          <a:xfrm>
            <a:off x="5596128" y="2651760"/>
            <a:ext cx="1335024" cy="731520"/>
          </a:xfrm>
          <a:prstGeom prst="rect">
            <a:avLst/>
          </a:prstGeom>
          <a:noFill/>
          <a:ln/>
        </p:spPr>
        <p:txBody>
          <a:bodyPr wrap="square" lIns="0" tIns="0" rIns="0" bIns="0" rtlCol="0" anchor="t"/>
          <a:lstStyle/>
          <a:p>
            <a:pPr algn="ctr" indent="0" marL="0">
              <a:buNone/>
            </a:pPr>
            <a:r>
              <a:rPr lang="en-US" sz="1200" dirty="0">
                <a:solidFill>
                  <a:schemeClr val="tx2"/>
                </a:solidFill>
              </a:rPr>
              <a:t>Più parametri, dati e calcolo</a:t>
            </a:r>
            <a:endParaRPr lang="en-US" sz="1200" dirty="0"/>
          </a:p>
        </p:txBody>
      </p:sp>
      <p:sp>
        <p:nvSpPr>
          <p:cNvPr id="24" name="fattore Investimenti e infrastrutture"/>
          <p:cNvSpPr/>
          <p:nvPr/>
        </p:nvSpPr>
        <p:spPr>
          <a:xfrm>
            <a:off x="7187184" y="1143000"/>
            <a:ext cx="1517904" cy="2331720"/>
          </a:xfrm>
          <a:prstGeom prst="roundRect">
            <a:avLst>
              <a:gd name="adj" fmla="val 4819"/>
            </a:avLst>
          </a:prstGeom>
          <a:solidFill>
            <a:schemeClr val="bg2"/>
          </a:solidFill>
          <a:ln/>
        </p:spPr>
      </p:sp>
      <p:sp>
        <p:nvSpPr>
          <p:cNvPr id="25" name="cerchio FiServer"/>
          <p:cNvSpPr/>
          <p:nvPr/>
        </p:nvSpPr>
        <p:spPr>
          <a:xfrm>
            <a:off x="7671816" y="1325880"/>
            <a:ext cx="548640" cy="548640"/>
          </a:xfrm>
          <a:prstGeom prst="ellipse">
            <a:avLst/>
          </a:prstGeom>
          <a:solidFill>
            <a:schemeClr val="accent1"/>
          </a:solidFill>
          <a:ln/>
        </p:spPr>
      </p:sp>
      <p:pic>
        <p:nvPicPr>
          <p:cNvPr id="26" name="Image 4" descr="FiServer">    </p:cNvPr>
          <p:cNvPicPr>
            <a:picLocks noChangeAspect="1"/>
          </p:cNvPicPr>
          <p:nvPr/>
        </p:nvPicPr>
        <p:blipFill>
          <a:blip r:embed="rId5"/>
          <a:stretch>
            <a:fillRect/>
          </a:stretch>
        </p:blipFill>
        <p:spPr>
          <a:xfrm>
            <a:off x="7808976" y="1463040"/>
            <a:ext cx="274320" cy="274320"/>
          </a:xfrm>
          <a:prstGeom prst="rect">
            <a:avLst/>
          </a:prstGeom>
        </p:spPr>
      </p:pic>
      <p:sp>
        <p:nvSpPr>
          <p:cNvPr id="27" name="Text 19"/>
          <p:cNvSpPr txBox="1"/>
          <p:nvPr/>
        </p:nvSpPr>
        <p:spPr>
          <a:xfrm>
            <a:off x="7278624" y="2011680"/>
            <a:ext cx="1335024" cy="594360"/>
          </a:xfrm>
          <a:prstGeom prst="rect">
            <a:avLst/>
          </a:prstGeom>
          <a:noFill/>
          <a:ln/>
        </p:spPr>
        <p:txBody>
          <a:bodyPr wrap="square" lIns="0" tIns="0" rIns="0" bIns="0" rtlCol="0" anchor="ctr"/>
          <a:lstStyle/>
          <a:p>
            <a:pPr algn="ctr" indent="0" marL="0">
              <a:buNone/>
            </a:pPr>
            <a:r>
              <a:rPr lang="en-US" sz="1400" b="1" dirty="0">
                <a:solidFill>
                  <a:schemeClr val="tx1"/>
                </a:solidFill>
              </a:rPr>
              <a:t>Investimenti e infrastrutture</a:t>
            </a:r>
            <a:endParaRPr lang="en-US" sz="1400" dirty="0"/>
          </a:p>
        </p:txBody>
      </p:sp>
      <p:sp>
        <p:nvSpPr>
          <p:cNvPr id="28" name="Text 20"/>
          <p:cNvSpPr txBox="1"/>
          <p:nvPr/>
        </p:nvSpPr>
        <p:spPr>
          <a:xfrm>
            <a:off x="7278624" y="2651760"/>
            <a:ext cx="1335024" cy="731520"/>
          </a:xfrm>
          <a:prstGeom prst="rect">
            <a:avLst/>
          </a:prstGeom>
          <a:noFill/>
          <a:ln/>
        </p:spPr>
        <p:txBody>
          <a:bodyPr wrap="square" lIns="0" tIns="0" rIns="0" bIns="0" rtlCol="0" anchor="t"/>
          <a:lstStyle/>
          <a:p>
            <a:pPr algn="ctr" indent="0" marL="0">
              <a:buNone/>
            </a:pPr>
            <a:r>
              <a:rPr lang="en-US" sz="1200" dirty="0">
                <a:solidFill>
                  <a:schemeClr val="tx2"/>
                </a:solidFill>
              </a:rPr>
              <a:t>Capitali, data center, ecosistemi</a:t>
            </a:r>
            <a:endParaRPr lang="en-US" sz="1200" dirty="0"/>
          </a:p>
        </p:txBody>
      </p:sp>
      <p:sp>
        <p:nvSpPr>
          <p:cNvPr id="29" name="sintesi convergenza"/>
          <p:cNvSpPr/>
          <p:nvPr/>
        </p:nvSpPr>
        <p:spPr>
          <a:xfrm>
            <a:off x="457200" y="3703320"/>
            <a:ext cx="8229600" cy="822960"/>
          </a:xfrm>
          <a:prstGeom prst="roundRect">
            <a:avLst>
              <a:gd name="adj" fmla="val 8889"/>
            </a:avLst>
          </a:prstGeom>
          <a:solidFill>
            <a:schemeClr val="accent6"/>
          </a:solidFill>
          <a:ln/>
        </p:spPr>
      </p:sp>
      <p:sp>
        <p:nvSpPr>
          <p:cNvPr id="30" name="cerchio FiRefreshCw"/>
          <p:cNvSpPr/>
          <p:nvPr/>
        </p:nvSpPr>
        <p:spPr>
          <a:xfrm>
            <a:off x="640080" y="3858768"/>
            <a:ext cx="512064" cy="512064"/>
          </a:xfrm>
          <a:prstGeom prst="ellipse">
            <a:avLst/>
          </a:prstGeom>
          <a:solidFill>
            <a:schemeClr val="accent1"/>
          </a:solidFill>
          <a:ln/>
        </p:spPr>
      </p:sp>
      <p:pic>
        <p:nvPicPr>
          <p:cNvPr id="31" name="Image 5" descr="FiRefreshCw">    </p:cNvPr>
          <p:cNvPicPr>
            <a:picLocks noChangeAspect="1"/>
          </p:cNvPicPr>
          <p:nvPr/>
        </p:nvPicPr>
        <p:blipFill>
          <a:blip r:embed="rId6"/>
          <a:stretch>
            <a:fillRect/>
          </a:stretch>
        </p:blipFill>
        <p:spPr>
          <a:xfrm>
            <a:off x="768096" y="3986784"/>
            <a:ext cx="256032" cy="256032"/>
          </a:xfrm>
          <a:prstGeom prst="rect">
            <a:avLst/>
          </a:prstGeom>
        </p:spPr>
      </p:pic>
      <p:sp>
        <p:nvSpPr>
          <p:cNvPr id="32" name="Text 23"/>
          <p:cNvSpPr txBox="1"/>
          <p:nvPr/>
        </p:nvSpPr>
        <p:spPr>
          <a:xfrm>
            <a:off x="1325880" y="3749040"/>
            <a:ext cx="7223760" cy="731520"/>
          </a:xfrm>
          <a:prstGeom prst="rect">
            <a:avLst/>
          </a:prstGeom>
          <a:noFill/>
          <a:ln/>
        </p:spPr>
        <p:txBody>
          <a:bodyPr wrap="square" lIns="0" tIns="0" rIns="0" bIns="0" rtlCol="0" anchor="ctr"/>
          <a:lstStyle/>
          <a:p>
            <a:pPr indent="0" marL="0">
              <a:buNone/>
            </a:pPr>
            <a:r>
              <a:rPr lang="en-US" sz="1400" dirty="0">
                <a:solidFill>
                  <a:schemeClr val="tx1"/>
                </a:solidFill>
              </a:rPr>
              <a:t>Un circolo che si autoalimenta: più dati richiedono più calcolo, il calcolo permette modelli più grandi, i risultati attirano investimenti che finanziano nuovo calcolo.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Potenza di calcolo</a:t>
            </a:r>
            <a:endParaRPr lang="en-US" sz="2600" dirty="0"/>
          </a:p>
        </p:txBody>
      </p:sp>
      <p:sp>
        <p:nvSpPr>
          <p:cNvPr id="4" name="callout calcolo"/>
          <p:cNvSpPr/>
          <p:nvPr/>
        </p:nvSpPr>
        <p:spPr>
          <a:xfrm>
            <a:off x="457200" y="1097280"/>
            <a:ext cx="3291840" cy="3429000"/>
          </a:xfrm>
          <a:prstGeom prst="roundRect">
            <a:avLst>
              <a:gd name="adj" fmla="val 2222"/>
            </a:avLst>
          </a:prstGeom>
          <a:solidFill>
            <a:schemeClr val="tx1"/>
          </a:solidFill>
          <a:ln/>
        </p:spPr>
      </p:sp>
      <p:sp>
        <p:nvSpPr>
          <p:cNvPr id="5" name="Text 2"/>
          <p:cNvSpPr txBox="1"/>
          <p:nvPr/>
        </p:nvSpPr>
        <p:spPr>
          <a:xfrm>
            <a:off x="685800" y="1371600"/>
            <a:ext cx="2834640" cy="1005840"/>
          </a:xfrm>
          <a:prstGeom prst="rect">
            <a:avLst/>
          </a:prstGeom>
          <a:noFill/>
          <a:ln/>
        </p:spPr>
        <p:txBody>
          <a:bodyPr wrap="square" lIns="0" tIns="0" rIns="0" bIns="0" rtlCol="0" anchor="t"/>
          <a:lstStyle/>
          <a:p>
            <a:pPr indent="0" marL="0">
              <a:buNone/>
            </a:pPr>
            <a:r>
              <a:rPr lang="en-US" sz="6000" b="1" dirty="0">
                <a:solidFill>
                  <a:schemeClr val="accent1"/>
                </a:solidFill>
              </a:rPr>
              <a:t>4-5x</a:t>
            </a:r>
            <a:endParaRPr lang="en-US" sz="6000" dirty="0"/>
          </a:p>
        </p:txBody>
      </p:sp>
      <p:sp>
        <p:nvSpPr>
          <p:cNvPr id="6" name="Text 3"/>
          <p:cNvSpPr txBox="1"/>
          <p:nvPr/>
        </p:nvSpPr>
        <p:spPr>
          <a:xfrm>
            <a:off x="685800" y="2468880"/>
            <a:ext cx="2834640" cy="1188720"/>
          </a:xfrm>
          <a:prstGeom prst="rect">
            <a:avLst/>
          </a:prstGeom>
          <a:noFill/>
          <a:ln/>
        </p:spPr>
        <p:txBody>
          <a:bodyPr wrap="square" lIns="0" tIns="0" rIns="0" bIns="0" rtlCol="0" anchor="t"/>
          <a:lstStyle/>
          <a:p>
            <a:pPr indent="0" marL="0">
              <a:buNone/>
            </a:pPr>
            <a:r>
              <a:rPr lang="en-US" sz="1400" dirty="0">
                <a:solidFill>
                  <a:schemeClr val="bg1"/>
                </a:solidFill>
              </a:rPr>
              <a:t>crescita annua stimata della potenza di calcolo usata per addestrare i modelli AI di frontiera (2010-2024)</a:t>
            </a:r>
            <a:endParaRPr lang="en-US" sz="1400" dirty="0"/>
          </a:p>
        </p:txBody>
      </p:sp>
      <p:sp>
        <p:nvSpPr>
          <p:cNvPr id="7" name="Text 4"/>
          <p:cNvSpPr txBox="1"/>
          <p:nvPr/>
        </p:nvSpPr>
        <p:spPr>
          <a:xfrm>
            <a:off x="685800" y="4023360"/>
            <a:ext cx="2834640" cy="274320"/>
          </a:xfrm>
          <a:prstGeom prst="rect">
            <a:avLst/>
          </a:prstGeom>
          <a:noFill/>
          <a:ln/>
        </p:spPr>
        <p:txBody>
          <a:bodyPr wrap="square" lIns="0" tIns="0" rIns="0" bIns="0" rtlCol="0" anchor="t"/>
          <a:lstStyle/>
          <a:p>
            <a:pPr indent="0" marL="0">
              <a:buNone/>
            </a:pPr>
            <a:r>
              <a:rPr lang="en-US" sz="1000" dirty="0">
                <a:solidFill>
                  <a:schemeClr val="accent3"/>
                </a:solidFill>
              </a:rPr>
              <a:t>Fonte: Epoch AI, 2024</a:t>
            </a:r>
            <a:endParaRPr lang="en-US" sz="1000" dirty="0"/>
          </a:p>
        </p:txBody>
      </p:sp>
      <p:sp>
        <p:nvSpPr>
          <p:cNvPr id="8" name="cerchio FiMonitor"/>
          <p:cNvSpPr/>
          <p:nvPr/>
        </p:nvSpPr>
        <p:spPr>
          <a:xfrm>
            <a:off x="4114800" y="1143000"/>
            <a:ext cx="502920" cy="502920"/>
          </a:xfrm>
          <a:prstGeom prst="ellipse">
            <a:avLst/>
          </a:prstGeom>
          <a:solidFill>
            <a:schemeClr val="accent1"/>
          </a:solidFill>
          <a:ln/>
        </p:spPr>
      </p:sp>
      <p:pic>
        <p:nvPicPr>
          <p:cNvPr id="9" name="Image 0" descr="FiMonitor">    </p:cNvPr>
          <p:cNvPicPr>
            <a:picLocks noChangeAspect="1"/>
          </p:cNvPicPr>
          <p:nvPr/>
        </p:nvPicPr>
        <p:blipFill>
          <a:blip r:embed="rId1"/>
          <a:stretch>
            <a:fillRect/>
          </a:stretch>
        </p:blipFill>
        <p:spPr>
          <a:xfrm>
            <a:off x="4240530" y="1268730"/>
            <a:ext cx="251460" cy="251460"/>
          </a:xfrm>
          <a:prstGeom prst="rect">
            <a:avLst/>
          </a:prstGeom>
        </p:spPr>
      </p:pic>
      <p:sp>
        <p:nvSpPr>
          <p:cNvPr id="10" name="Text 6"/>
          <p:cNvSpPr txBox="1"/>
          <p:nvPr/>
        </p:nvSpPr>
        <p:spPr>
          <a:xfrm>
            <a:off x="4800600" y="1124712"/>
            <a:ext cx="3886200" cy="292608"/>
          </a:xfrm>
          <a:prstGeom prst="rect">
            <a:avLst/>
          </a:prstGeom>
          <a:noFill/>
          <a:ln/>
        </p:spPr>
        <p:txBody>
          <a:bodyPr wrap="square" lIns="0" tIns="0" rIns="0" bIns="0" rtlCol="0" anchor="t"/>
          <a:lstStyle/>
          <a:p>
            <a:pPr indent="0" marL="0">
              <a:buNone/>
            </a:pPr>
            <a:r>
              <a:rPr lang="en-US" sz="1500" b="1" dirty="0">
                <a:solidFill>
                  <a:schemeClr val="tx1"/>
                </a:solidFill>
              </a:rPr>
              <a:t>GPU</a:t>
            </a:r>
            <a:endParaRPr lang="en-US" sz="1500" dirty="0"/>
          </a:p>
        </p:txBody>
      </p:sp>
      <p:sp>
        <p:nvSpPr>
          <p:cNvPr id="11" name="Text 7"/>
          <p:cNvSpPr txBox="1"/>
          <p:nvPr/>
        </p:nvSpPr>
        <p:spPr>
          <a:xfrm>
            <a:off x="4800600" y="1435608"/>
            <a:ext cx="3886200" cy="685800"/>
          </a:xfrm>
          <a:prstGeom prst="rect">
            <a:avLst/>
          </a:prstGeom>
          <a:noFill/>
          <a:ln/>
        </p:spPr>
        <p:txBody>
          <a:bodyPr wrap="square" lIns="0" tIns="0" rIns="0" bIns="0" rtlCol="0" anchor="t"/>
          <a:lstStyle/>
          <a:p>
            <a:pPr indent="0" marL="0">
              <a:buNone/>
            </a:pPr>
            <a:r>
              <a:rPr lang="en-US" sz="1300" dirty="0">
                <a:solidFill>
                  <a:schemeClr val="tx2"/>
                </a:solidFill>
              </a:rPr>
              <a:t>Nate per la grafica dei videogiochi, eseguono in parallelo molte operazioni: ideali per le reti neurali</a:t>
            </a:r>
            <a:endParaRPr lang="en-US" sz="1300" dirty="0"/>
          </a:p>
        </p:txBody>
      </p:sp>
      <p:sp>
        <p:nvSpPr>
          <p:cNvPr id="12" name="cerchio FiCpu"/>
          <p:cNvSpPr/>
          <p:nvPr/>
        </p:nvSpPr>
        <p:spPr>
          <a:xfrm>
            <a:off x="4114800" y="2286000"/>
            <a:ext cx="502920" cy="502920"/>
          </a:xfrm>
          <a:prstGeom prst="ellipse">
            <a:avLst/>
          </a:prstGeom>
          <a:solidFill>
            <a:schemeClr val="accent1"/>
          </a:solidFill>
          <a:ln/>
        </p:spPr>
      </p:sp>
      <p:pic>
        <p:nvPicPr>
          <p:cNvPr id="13" name="Image 1" descr="FiCpu">    </p:cNvPr>
          <p:cNvPicPr>
            <a:picLocks noChangeAspect="1"/>
          </p:cNvPicPr>
          <p:nvPr/>
        </p:nvPicPr>
        <p:blipFill>
          <a:blip r:embed="rId2"/>
          <a:stretch>
            <a:fillRect/>
          </a:stretch>
        </p:blipFill>
        <p:spPr>
          <a:xfrm>
            <a:off x="4240530" y="2411730"/>
            <a:ext cx="251460" cy="251460"/>
          </a:xfrm>
          <a:prstGeom prst="rect">
            <a:avLst/>
          </a:prstGeom>
        </p:spPr>
      </p:pic>
      <p:sp>
        <p:nvSpPr>
          <p:cNvPr id="14" name="Text 9"/>
          <p:cNvSpPr txBox="1"/>
          <p:nvPr/>
        </p:nvSpPr>
        <p:spPr>
          <a:xfrm>
            <a:off x="4800600" y="2267712"/>
            <a:ext cx="3886200" cy="292608"/>
          </a:xfrm>
          <a:prstGeom prst="rect">
            <a:avLst/>
          </a:prstGeom>
          <a:noFill/>
          <a:ln/>
        </p:spPr>
        <p:txBody>
          <a:bodyPr wrap="square" lIns="0" tIns="0" rIns="0" bIns="0" rtlCol="0" anchor="t"/>
          <a:lstStyle/>
          <a:p>
            <a:pPr indent="0" marL="0">
              <a:buNone/>
            </a:pPr>
            <a:r>
              <a:rPr lang="en-US" sz="1500" b="1" dirty="0">
                <a:solidFill>
                  <a:schemeClr val="tx1"/>
                </a:solidFill>
              </a:rPr>
              <a:t>Chip specializzati</a:t>
            </a:r>
            <a:endParaRPr lang="en-US" sz="1500" dirty="0"/>
          </a:p>
        </p:txBody>
      </p:sp>
      <p:sp>
        <p:nvSpPr>
          <p:cNvPr id="15" name="Text 10"/>
          <p:cNvSpPr txBox="1"/>
          <p:nvPr/>
        </p:nvSpPr>
        <p:spPr>
          <a:xfrm>
            <a:off x="4800600" y="2578608"/>
            <a:ext cx="3886200" cy="685800"/>
          </a:xfrm>
          <a:prstGeom prst="rect">
            <a:avLst/>
          </a:prstGeom>
          <a:noFill/>
          <a:ln/>
        </p:spPr>
        <p:txBody>
          <a:bodyPr wrap="square" lIns="0" tIns="0" rIns="0" bIns="0" rtlCol="0" anchor="t"/>
          <a:lstStyle/>
          <a:p>
            <a:pPr indent="0" marL="0">
              <a:buNone/>
            </a:pPr>
            <a:r>
              <a:rPr lang="en-US" sz="1300" dirty="0">
                <a:solidFill>
                  <a:schemeClr val="tx2"/>
                </a:solidFill>
              </a:rPr>
              <a:t>Processori progettati appositamente per i carichi di lavoro dell'AI</a:t>
            </a:r>
            <a:endParaRPr lang="en-US" sz="1300" dirty="0"/>
          </a:p>
        </p:txBody>
      </p:sp>
      <p:sp>
        <p:nvSpPr>
          <p:cNvPr id="16" name="cerchio FiCloud"/>
          <p:cNvSpPr/>
          <p:nvPr/>
        </p:nvSpPr>
        <p:spPr>
          <a:xfrm>
            <a:off x="4114800" y="3429000"/>
            <a:ext cx="502920" cy="502920"/>
          </a:xfrm>
          <a:prstGeom prst="ellipse">
            <a:avLst/>
          </a:prstGeom>
          <a:solidFill>
            <a:schemeClr val="accent1"/>
          </a:solidFill>
          <a:ln/>
        </p:spPr>
      </p:sp>
      <p:pic>
        <p:nvPicPr>
          <p:cNvPr id="17" name="Image 2" descr="FiCloud">    </p:cNvPr>
          <p:cNvPicPr>
            <a:picLocks noChangeAspect="1"/>
          </p:cNvPicPr>
          <p:nvPr/>
        </p:nvPicPr>
        <p:blipFill>
          <a:blip r:embed="rId3"/>
          <a:stretch>
            <a:fillRect/>
          </a:stretch>
        </p:blipFill>
        <p:spPr>
          <a:xfrm>
            <a:off x="4240530" y="3554730"/>
            <a:ext cx="251460" cy="251460"/>
          </a:xfrm>
          <a:prstGeom prst="rect">
            <a:avLst/>
          </a:prstGeom>
        </p:spPr>
      </p:pic>
      <p:sp>
        <p:nvSpPr>
          <p:cNvPr id="18" name="Text 12"/>
          <p:cNvSpPr txBox="1"/>
          <p:nvPr/>
        </p:nvSpPr>
        <p:spPr>
          <a:xfrm>
            <a:off x="4800600" y="3410712"/>
            <a:ext cx="3886200" cy="292608"/>
          </a:xfrm>
          <a:prstGeom prst="rect">
            <a:avLst/>
          </a:prstGeom>
          <a:noFill/>
          <a:ln/>
        </p:spPr>
        <p:txBody>
          <a:bodyPr wrap="square" lIns="0" tIns="0" rIns="0" bIns="0" rtlCol="0" anchor="t"/>
          <a:lstStyle/>
          <a:p>
            <a:pPr indent="0" marL="0">
              <a:buNone/>
            </a:pPr>
            <a:r>
              <a:rPr lang="en-US" sz="1500" b="1" dirty="0">
                <a:solidFill>
                  <a:schemeClr val="tx1"/>
                </a:solidFill>
              </a:rPr>
              <a:t>Cloud</a:t>
            </a:r>
            <a:endParaRPr lang="en-US" sz="1500" dirty="0"/>
          </a:p>
        </p:txBody>
      </p:sp>
      <p:sp>
        <p:nvSpPr>
          <p:cNvPr id="19" name="Text 13"/>
          <p:cNvSpPr txBox="1"/>
          <p:nvPr/>
        </p:nvSpPr>
        <p:spPr>
          <a:xfrm>
            <a:off x="4800600" y="3721608"/>
            <a:ext cx="3886200" cy="685800"/>
          </a:xfrm>
          <a:prstGeom prst="rect">
            <a:avLst/>
          </a:prstGeom>
          <a:noFill/>
          <a:ln/>
        </p:spPr>
        <p:txBody>
          <a:bodyPr wrap="square" lIns="0" tIns="0" rIns="0" bIns="0" rtlCol="0" anchor="t"/>
          <a:lstStyle/>
          <a:p>
            <a:pPr indent="0" marL="0">
              <a:buNone/>
            </a:pPr>
            <a:r>
              <a:rPr lang="en-US" sz="1300" dirty="0">
                <a:solidFill>
                  <a:schemeClr val="tx2"/>
                </a:solidFill>
              </a:rPr>
              <a:t>Potenza di calcolo noleggiabile, senza infrastrutture proprie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Disponibilità di grandi quantità di dati</a:t>
            </a:r>
            <a:endParaRPr lang="en-US" sz="2600" dirty="0"/>
          </a:p>
        </p:txBody>
      </p:sp>
      <p:sp>
        <p:nvSpPr>
          <p:cNvPr id="4" name="Web e contenuti online"/>
          <p:cNvSpPr/>
          <p:nvPr/>
        </p:nvSpPr>
        <p:spPr>
          <a:xfrm>
            <a:off x="457200" y="1097280"/>
            <a:ext cx="2377440" cy="777240"/>
          </a:xfrm>
          <a:prstGeom prst="roundRect">
            <a:avLst>
              <a:gd name="adj" fmla="val 9412"/>
            </a:avLst>
          </a:prstGeom>
          <a:solidFill>
            <a:schemeClr val="bg2"/>
          </a:solidFill>
          <a:ln/>
        </p:spPr>
      </p:sp>
      <p:sp>
        <p:nvSpPr>
          <p:cNvPr id="5" name="cerchio FiGlobe"/>
          <p:cNvSpPr/>
          <p:nvPr/>
        </p:nvSpPr>
        <p:spPr>
          <a:xfrm>
            <a:off x="594360" y="1252728"/>
            <a:ext cx="457200" cy="457200"/>
          </a:xfrm>
          <a:prstGeom prst="ellipse">
            <a:avLst/>
          </a:prstGeom>
          <a:solidFill>
            <a:schemeClr val="accent1"/>
          </a:solidFill>
          <a:ln/>
        </p:spPr>
      </p:sp>
      <p:pic>
        <p:nvPicPr>
          <p:cNvPr id="6" name="Image 0" descr="FiGlobe">    </p:cNvPr>
          <p:cNvPicPr>
            <a:picLocks noChangeAspect="1"/>
          </p:cNvPicPr>
          <p:nvPr/>
        </p:nvPicPr>
        <p:blipFill>
          <a:blip r:embed="rId1"/>
          <a:stretch>
            <a:fillRect/>
          </a:stretch>
        </p:blipFill>
        <p:spPr>
          <a:xfrm>
            <a:off x="708660" y="1367028"/>
            <a:ext cx="228600" cy="228600"/>
          </a:xfrm>
          <a:prstGeom prst="rect">
            <a:avLst/>
          </a:prstGeom>
        </p:spPr>
      </p:pic>
      <p:sp>
        <p:nvSpPr>
          <p:cNvPr id="7" name="Text 3"/>
          <p:cNvSpPr txBox="1"/>
          <p:nvPr/>
        </p:nvSpPr>
        <p:spPr>
          <a:xfrm>
            <a:off x="1170432" y="1097280"/>
            <a:ext cx="1600200" cy="777240"/>
          </a:xfrm>
          <a:prstGeom prst="rect">
            <a:avLst/>
          </a:prstGeom>
          <a:noFill/>
          <a:ln/>
        </p:spPr>
        <p:txBody>
          <a:bodyPr wrap="square" lIns="0" tIns="0" rIns="0" bIns="0" rtlCol="0" anchor="ctr"/>
          <a:lstStyle/>
          <a:p>
            <a:pPr indent="0" marL="0">
              <a:buNone/>
            </a:pPr>
            <a:r>
              <a:rPr lang="en-US" sz="1300" dirty="0">
                <a:solidFill>
                  <a:schemeClr val="tx1"/>
                </a:solidFill>
              </a:rPr>
              <a:t>Web e contenuti online</a:t>
            </a:r>
            <a:endParaRPr lang="en-US" sz="1300" dirty="0"/>
          </a:p>
        </p:txBody>
      </p:sp>
      <p:sp>
        <p:nvSpPr>
          <p:cNvPr id="8" name="Libri e documenti digitalizzati"/>
          <p:cNvSpPr/>
          <p:nvPr/>
        </p:nvSpPr>
        <p:spPr>
          <a:xfrm>
            <a:off x="2971800" y="1097280"/>
            <a:ext cx="2377440" cy="777240"/>
          </a:xfrm>
          <a:prstGeom prst="roundRect">
            <a:avLst>
              <a:gd name="adj" fmla="val 9412"/>
            </a:avLst>
          </a:prstGeom>
          <a:solidFill>
            <a:schemeClr val="bg2"/>
          </a:solidFill>
          <a:ln/>
        </p:spPr>
      </p:sp>
      <p:sp>
        <p:nvSpPr>
          <p:cNvPr id="9" name="cerchio FiBook"/>
          <p:cNvSpPr/>
          <p:nvPr/>
        </p:nvSpPr>
        <p:spPr>
          <a:xfrm>
            <a:off x="3108960" y="1252728"/>
            <a:ext cx="457200" cy="457200"/>
          </a:xfrm>
          <a:prstGeom prst="ellipse">
            <a:avLst/>
          </a:prstGeom>
          <a:solidFill>
            <a:schemeClr val="accent1"/>
          </a:solidFill>
          <a:ln/>
        </p:spPr>
      </p:sp>
      <p:pic>
        <p:nvPicPr>
          <p:cNvPr id="10" name="Image 1" descr="FiBook">    </p:cNvPr>
          <p:cNvPicPr>
            <a:picLocks noChangeAspect="1"/>
          </p:cNvPicPr>
          <p:nvPr/>
        </p:nvPicPr>
        <p:blipFill>
          <a:blip r:embed="rId2"/>
          <a:stretch>
            <a:fillRect/>
          </a:stretch>
        </p:blipFill>
        <p:spPr>
          <a:xfrm>
            <a:off x="3223260" y="1367028"/>
            <a:ext cx="228600" cy="228600"/>
          </a:xfrm>
          <a:prstGeom prst="rect">
            <a:avLst/>
          </a:prstGeom>
        </p:spPr>
      </p:pic>
      <p:sp>
        <p:nvSpPr>
          <p:cNvPr id="11" name="Text 6"/>
          <p:cNvSpPr txBox="1"/>
          <p:nvPr/>
        </p:nvSpPr>
        <p:spPr>
          <a:xfrm>
            <a:off x="3685032" y="1097280"/>
            <a:ext cx="1600200" cy="777240"/>
          </a:xfrm>
          <a:prstGeom prst="rect">
            <a:avLst/>
          </a:prstGeom>
          <a:noFill/>
          <a:ln/>
        </p:spPr>
        <p:txBody>
          <a:bodyPr wrap="square" lIns="0" tIns="0" rIns="0" bIns="0" rtlCol="0" anchor="ctr"/>
          <a:lstStyle/>
          <a:p>
            <a:pPr indent="0" marL="0">
              <a:buNone/>
            </a:pPr>
            <a:r>
              <a:rPr lang="en-US" sz="1300" dirty="0">
                <a:solidFill>
                  <a:schemeClr val="tx1"/>
                </a:solidFill>
              </a:rPr>
              <a:t>Libri e documenti digitalizzati</a:t>
            </a:r>
            <a:endParaRPr lang="en-US" sz="1300" dirty="0"/>
          </a:p>
        </p:txBody>
      </p:sp>
      <p:sp>
        <p:nvSpPr>
          <p:cNvPr id="12" name="Foto, video e audio"/>
          <p:cNvSpPr/>
          <p:nvPr/>
        </p:nvSpPr>
        <p:spPr>
          <a:xfrm>
            <a:off x="457200" y="2011680"/>
            <a:ext cx="2377440" cy="777240"/>
          </a:xfrm>
          <a:prstGeom prst="roundRect">
            <a:avLst>
              <a:gd name="adj" fmla="val 9412"/>
            </a:avLst>
          </a:prstGeom>
          <a:solidFill>
            <a:schemeClr val="bg2"/>
          </a:solidFill>
          <a:ln/>
        </p:spPr>
      </p:sp>
      <p:sp>
        <p:nvSpPr>
          <p:cNvPr id="13" name="cerchio FiImage"/>
          <p:cNvSpPr/>
          <p:nvPr/>
        </p:nvSpPr>
        <p:spPr>
          <a:xfrm>
            <a:off x="594360" y="2167128"/>
            <a:ext cx="457200" cy="457200"/>
          </a:xfrm>
          <a:prstGeom prst="ellipse">
            <a:avLst/>
          </a:prstGeom>
          <a:solidFill>
            <a:schemeClr val="accent1"/>
          </a:solidFill>
          <a:ln/>
        </p:spPr>
      </p:sp>
      <p:pic>
        <p:nvPicPr>
          <p:cNvPr id="14" name="Image 2" descr="FiImage">    </p:cNvPr>
          <p:cNvPicPr>
            <a:picLocks noChangeAspect="1"/>
          </p:cNvPicPr>
          <p:nvPr/>
        </p:nvPicPr>
        <p:blipFill>
          <a:blip r:embed="rId3"/>
          <a:stretch>
            <a:fillRect/>
          </a:stretch>
        </p:blipFill>
        <p:spPr>
          <a:xfrm>
            <a:off x="708660" y="2281428"/>
            <a:ext cx="228600" cy="228600"/>
          </a:xfrm>
          <a:prstGeom prst="rect">
            <a:avLst/>
          </a:prstGeom>
        </p:spPr>
      </p:pic>
      <p:sp>
        <p:nvSpPr>
          <p:cNvPr id="15" name="Text 9"/>
          <p:cNvSpPr txBox="1"/>
          <p:nvPr/>
        </p:nvSpPr>
        <p:spPr>
          <a:xfrm>
            <a:off x="1170432" y="2011680"/>
            <a:ext cx="1600200" cy="777240"/>
          </a:xfrm>
          <a:prstGeom prst="rect">
            <a:avLst/>
          </a:prstGeom>
          <a:noFill/>
          <a:ln/>
        </p:spPr>
        <p:txBody>
          <a:bodyPr wrap="square" lIns="0" tIns="0" rIns="0" bIns="0" rtlCol="0" anchor="ctr"/>
          <a:lstStyle/>
          <a:p>
            <a:pPr indent="0" marL="0">
              <a:buNone/>
            </a:pPr>
            <a:r>
              <a:rPr lang="en-US" sz="1300" dirty="0">
                <a:solidFill>
                  <a:schemeClr val="tx1"/>
                </a:solidFill>
              </a:rPr>
              <a:t>Foto, video e audio</a:t>
            </a:r>
            <a:endParaRPr lang="en-US" sz="1300" dirty="0"/>
          </a:p>
        </p:txBody>
      </p:sp>
      <p:sp>
        <p:nvSpPr>
          <p:cNvPr id="16" name="Transazioni e attività online"/>
          <p:cNvSpPr/>
          <p:nvPr/>
        </p:nvSpPr>
        <p:spPr>
          <a:xfrm>
            <a:off x="2971800" y="2011680"/>
            <a:ext cx="2377440" cy="777240"/>
          </a:xfrm>
          <a:prstGeom prst="roundRect">
            <a:avLst>
              <a:gd name="adj" fmla="val 9412"/>
            </a:avLst>
          </a:prstGeom>
          <a:solidFill>
            <a:schemeClr val="bg2"/>
          </a:solidFill>
          <a:ln/>
        </p:spPr>
      </p:sp>
      <p:sp>
        <p:nvSpPr>
          <p:cNvPr id="17" name="cerchio FiShoppingCart"/>
          <p:cNvSpPr/>
          <p:nvPr/>
        </p:nvSpPr>
        <p:spPr>
          <a:xfrm>
            <a:off x="3108960" y="2167128"/>
            <a:ext cx="457200" cy="457200"/>
          </a:xfrm>
          <a:prstGeom prst="ellipse">
            <a:avLst/>
          </a:prstGeom>
          <a:solidFill>
            <a:schemeClr val="accent1"/>
          </a:solidFill>
          <a:ln/>
        </p:spPr>
      </p:sp>
      <p:pic>
        <p:nvPicPr>
          <p:cNvPr id="18" name="Image 3" descr="FiShoppingCart">    </p:cNvPr>
          <p:cNvPicPr>
            <a:picLocks noChangeAspect="1"/>
          </p:cNvPicPr>
          <p:nvPr/>
        </p:nvPicPr>
        <p:blipFill>
          <a:blip r:embed="rId4"/>
          <a:stretch>
            <a:fillRect/>
          </a:stretch>
        </p:blipFill>
        <p:spPr>
          <a:xfrm>
            <a:off x="3223260" y="2281428"/>
            <a:ext cx="228600" cy="228600"/>
          </a:xfrm>
          <a:prstGeom prst="rect">
            <a:avLst/>
          </a:prstGeom>
        </p:spPr>
      </p:pic>
      <p:sp>
        <p:nvSpPr>
          <p:cNvPr id="19" name="Text 12"/>
          <p:cNvSpPr txBox="1"/>
          <p:nvPr/>
        </p:nvSpPr>
        <p:spPr>
          <a:xfrm>
            <a:off x="3685032" y="2011680"/>
            <a:ext cx="1600200" cy="777240"/>
          </a:xfrm>
          <a:prstGeom prst="rect">
            <a:avLst/>
          </a:prstGeom>
          <a:noFill/>
          <a:ln/>
        </p:spPr>
        <p:txBody>
          <a:bodyPr wrap="square" lIns="0" tIns="0" rIns="0" bIns="0" rtlCol="0" anchor="ctr"/>
          <a:lstStyle/>
          <a:p>
            <a:pPr indent="0" marL="0">
              <a:buNone/>
            </a:pPr>
            <a:r>
              <a:rPr lang="en-US" sz="1300" dirty="0">
                <a:solidFill>
                  <a:schemeClr val="tx1"/>
                </a:solidFill>
              </a:rPr>
              <a:t>Transazioni e attività online</a:t>
            </a:r>
            <a:endParaRPr lang="en-US" sz="1300" dirty="0"/>
          </a:p>
        </p:txBody>
      </p:sp>
      <p:sp>
        <p:nvSpPr>
          <p:cNvPr id="20" name="Sensori e macchinari"/>
          <p:cNvSpPr/>
          <p:nvPr/>
        </p:nvSpPr>
        <p:spPr>
          <a:xfrm>
            <a:off x="457200" y="2926080"/>
            <a:ext cx="2377440" cy="777240"/>
          </a:xfrm>
          <a:prstGeom prst="roundRect">
            <a:avLst>
              <a:gd name="adj" fmla="val 9412"/>
            </a:avLst>
          </a:prstGeom>
          <a:solidFill>
            <a:schemeClr val="bg2"/>
          </a:solidFill>
          <a:ln/>
        </p:spPr>
      </p:sp>
      <p:sp>
        <p:nvSpPr>
          <p:cNvPr id="21" name="cerchio FiActivity"/>
          <p:cNvSpPr/>
          <p:nvPr/>
        </p:nvSpPr>
        <p:spPr>
          <a:xfrm>
            <a:off x="594360" y="3081528"/>
            <a:ext cx="457200" cy="457200"/>
          </a:xfrm>
          <a:prstGeom prst="ellipse">
            <a:avLst/>
          </a:prstGeom>
          <a:solidFill>
            <a:schemeClr val="accent1"/>
          </a:solidFill>
          <a:ln/>
        </p:spPr>
      </p:sp>
      <p:pic>
        <p:nvPicPr>
          <p:cNvPr id="22" name="Image 4" descr="FiActivity">    </p:cNvPr>
          <p:cNvPicPr>
            <a:picLocks noChangeAspect="1"/>
          </p:cNvPicPr>
          <p:nvPr/>
        </p:nvPicPr>
        <p:blipFill>
          <a:blip r:embed="rId5"/>
          <a:stretch>
            <a:fillRect/>
          </a:stretch>
        </p:blipFill>
        <p:spPr>
          <a:xfrm>
            <a:off x="708660" y="3195828"/>
            <a:ext cx="228600" cy="228600"/>
          </a:xfrm>
          <a:prstGeom prst="rect">
            <a:avLst/>
          </a:prstGeom>
        </p:spPr>
      </p:pic>
      <p:sp>
        <p:nvSpPr>
          <p:cNvPr id="23" name="Text 15"/>
          <p:cNvSpPr txBox="1"/>
          <p:nvPr/>
        </p:nvSpPr>
        <p:spPr>
          <a:xfrm>
            <a:off x="1170432" y="2926080"/>
            <a:ext cx="1600200" cy="777240"/>
          </a:xfrm>
          <a:prstGeom prst="rect">
            <a:avLst/>
          </a:prstGeom>
          <a:noFill/>
          <a:ln/>
        </p:spPr>
        <p:txBody>
          <a:bodyPr wrap="square" lIns="0" tIns="0" rIns="0" bIns="0" rtlCol="0" anchor="ctr"/>
          <a:lstStyle/>
          <a:p>
            <a:pPr indent="0" marL="0">
              <a:buNone/>
            </a:pPr>
            <a:r>
              <a:rPr lang="en-US" sz="1300" dirty="0">
                <a:solidFill>
                  <a:schemeClr val="tx1"/>
                </a:solidFill>
              </a:rPr>
              <a:t>Sensori e macchinari</a:t>
            </a:r>
            <a:endParaRPr lang="en-US" sz="1300" dirty="0"/>
          </a:p>
        </p:txBody>
      </p:sp>
      <p:sp>
        <p:nvSpPr>
          <p:cNvPr id="24" name="Archivi aziendali"/>
          <p:cNvSpPr/>
          <p:nvPr/>
        </p:nvSpPr>
        <p:spPr>
          <a:xfrm>
            <a:off x="2971800" y="2926080"/>
            <a:ext cx="2377440" cy="777240"/>
          </a:xfrm>
          <a:prstGeom prst="roundRect">
            <a:avLst>
              <a:gd name="adj" fmla="val 9412"/>
            </a:avLst>
          </a:prstGeom>
          <a:solidFill>
            <a:schemeClr val="bg2"/>
          </a:solidFill>
          <a:ln/>
        </p:spPr>
      </p:sp>
      <p:sp>
        <p:nvSpPr>
          <p:cNvPr id="25" name="cerchio FiFolder"/>
          <p:cNvSpPr/>
          <p:nvPr/>
        </p:nvSpPr>
        <p:spPr>
          <a:xfrm>
            <a:off x="3108960" y="3081528"/>
            <a:ext cx="457200" cy="457200"/>
          </a:xfrm>
          <a:prstGeom prst="ellipse">
            <a:avLst/>
          </a:prstGeom>
          <a:solidFill>
            <a:schemeClr val="accent1"/>
          </a:solidFill>
          <a:ln/>
        </p:spPr>
      </p:sp>
      <p:pic>
        <p:nvPicPr>
          <p:cNvPr id="26" name="Image 5" descr="FiFolder">    </p:cNvPr>
          <p:cNvPicPr>
            <a:picLocks noChangeAspect="1"/>
          </p:cNvPicPr>
          <p:nvPr/>
        </p:nvPicPr>
        <p:blipFill>
          <a:blip r:embed="rId6"/>
          <a:stretch>
            <a:fillRect/>
          </a:stretch>
        </p:blipFill>
        <p:spPr>
          <a:xfrm>
            <a:off x="3223260" y="3195828"/>
            <a:ext cx="228600" cy="228600"/>
          </a:xfrm>
          <a:prstGeom prst="rect">
            <a:avLst/>
          </a:prstGeom>
        </p:spPr>
      </p:pic>
      <p:sp>
        <p:nvSpPr>
          <p:cNvPr id="27" name="Text 18"/>
          <p:cNvSpPr txBox="1"/>
          <p:nvPr/>
        </p:nvSpPr>
        <p:spPr>
          <a:xfrm>
            <a:off x="3685032" y="2926080"/>
            <a:ext cx="1600200" cy="777240"/>
          </a:xfrm>
          <a:prstGeom prst="rect">
            <a:avLst/>
          </a:prstGeom>
          <a:noFill/>
          <a:ln/>
        </p:spPr>
        <p:txBody>
          <a:bodyPr wrap="square" lIns="0" tIns="0" rIns="0" bIns="0" rtlCol="0" anchor="ctr"/>
          <a:lstStyle/>
          <a:p>
            <a:pPr indent="0" marL="0">
              <a:buNone/>
            </a:pPr>
            <a:r>
              <a:rPr lang="en-US" sz="1300" dirty="0">
                <a:solidFill>
                  <a:schemeClr val="tx1"/>
                </a:solidFill>
              </a:rPr>
              <a:t>Archivi aziendali</a:t>
            </a:r>
            <a:endParaRPr lang="en-US" sz="1300" dirty="0"/>
          </a:p>
        </p:txBody>
      </p:sp>
      <p:sp>
        <p:nvSpPr>
          <p:cNvPr id="28" name="callout imagenet"/>
          <p:cNvSpPr/>
          <p:nvPr/>
        </p:nvSpPr>
        <p:spPr>
          <a:xfrm>
            <a:off x="5669280" y="1097280"/>
            <a:ext cx="3017520" cy="2560320"/>
          </a:xfrm>
          <a:prstGeom prst="roundRect">
            <a:avLst>
              <a:gd name="adj" fmla="val 2857"/>
            </a:avLst>
          </a:prstGeom>
          <a:solidFill>
            <a:schemeClr val="tx1"/>
          </a:solidFill>
          <a:ln/>
        </p:spPr>
      </p:sp>
      <p:sp>
        <p:nvSpPr>
          <p:cNvPr id="29" name="Text 20"/>
          <p:cNvSpPr txBox="1"/>
          <p:nvPr/>
        </p:nvSpPr>
        <p:spPr>
          <a:xfrm>
            <a:off x="5852160" y="1234440"/>
            <a:ext cx="2651760" cy="685800"/>
          </a:xfrm>
          <a:prstGeom prst="rect">
            <a:avLst/>
          </a:prstGeom>
          <a:noFill/>
          <a:ln/>
        </p:spPr>
        <p:txBody>
          <a:bodyPr wrap="square" lIns="0" tIns="0" rIns="0" bIns="0" rtlCol="0" anchor="t"/>
          <a:lstStyle/>
          <a:p>
            <a:pPr indent="0" marL="0">
              <a:buNone/>
            </a:pPr>
            <a:r>
              <a:rPr lang="en-US" sz="3600" b="1" dirty="0">
                <a:solidFill>
                  <a:schemeClr val="accent1"/>
                </a:solidFill>
              </a:rPr>
              <a:t>14 milioni</a:t>
            </a:r>
            <a:endParaRPr lang="en-US" sz="3600" dirty="0"/>
          </a:p>
        </p:txBody>
      </p:sp>
      <p:sp>
        <p:nvSpPr>
          <p:cNvPr id="30" name="Text 21"/>
          <p:cNvSpPr txBox="1"/>
          <p:nvPr/>
        </p:nvSpPr>
        <p:spPr>
          <a:xfrm>
            <a:off x="5852160" y="1965960"/>
            <a:ext cx="2651760" cy="1371600"/>
          </a:xfrm>
          <a:prstGeom prst="rect">
            <a:avLst/>
          </a:prstGeom>
          <a:noFill/>
          <a:ln/>
        </p:spPr>
        <p:txBody>
          <a:bodyPr wrap="square" lIns="0" tIns="0" rIns="0" bIns="0" rtlCol="0" anchor="t"/>
          <a:lstStyle/>
          <a:p>
            <a:pPr indent="0" marL="0">
              <a:buNone/>
            </a:pPr>
            <a:r>
              <a:rPr lang="en-US" sz="1300" dirty="0">
                <a:solidFill>
                  <a:schemeClr val="bg1"/>
                </a:solidFill>
              </a:rPr>
              <a:t>di immagini etichettate in ImageNet: il dataset che nel 2012 ha mostrato la forza del deep learning</a:t>
            </a:r>
            <a:endParaRPr lang="en-US" sz="1300" dirty="0"/>
          </a:p>
        </p:txBody>
      </p:sp>
      <p:sp>
        <p:nvSpPr>
          <p:cNvPr id="31" name="Text 22"/>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400" i="1" dirty="0">
                <a:solidFill>
                  <a:schemeClr val="tx1"/>
                </a:solidFill>
              </a:rPr>
              <a:t>Non basta la quantità: contano qualità, pertinenza, rappresentatività e diritto di utilizzo dei dati.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Evoluzione degli algoritmi e delle architetture</a:t>
            </a:r>
            <a:endParaRPr lang="en-US" sz="2600" dirty="0"/>
          </a:p>
        </p:txBody>
      </p:sp>
      <p:sp>
        <p:nvSpPr>
          <p:cNvPr id="4" name="tappa Retropropagazione"/>
          <p:cNvSpPr/>
          <p:nvPr/>
        </p:nvSpPr>
        <p:spPr>
          <a:xfrm>
            <a:off x="457200" y="1188720"/>
            <a:ext cx="1920240" cy="2743200"/>
          </a:xfrm>
          <a:prstGeom prst="roundRect">
            <a:avLst>
              <a:gd name="adj" fmla="val 3810"/>
            </a:avLst>
          </a:prstGeom>
          <a:solidFill>
            <a:schemeClr val="bg2"/>
          </a:solidFill>
          <a:ln/>
        </p:spPr>
      </p:sp>
      <p:sp>
        <p:nvSpPr>
          <p:cNvPr id="5" name="Text 2"/>
          <p:cNvSpPr txBox="1"/>
          <p:nvPr/>
        </p:nvSpPr>
        <p:spPr>
          <a:xfrm>
            <a:off x="621792" y="1325880"/>
            <a:ext cx="1645920" cy="365760"/>
          </a:xfrm>
          <a:prstGeom prst="rect">
            <a:avLst/>
          </a:prstGeom>
          <a:noFill/>
          <a:ln/>
        </p:spPr>
        <p:txBody>
          <a:bodyPr wrap="square" lIns="0" tIns="0" rIns="0" bIns="0" rtlCol="0" anchor="t"/>
          <a:lstStyle/>
          <a:p>
            <a:pPr indent="0" marL="0">
              <a:buNone/>
            </a:pPr>
            <a:r>
              <a:rPr lang="en-US" sz="1500" b="1" dirty="0">
                <a:solidFill>
                  <a:schemeClr val="accent1"/>
                </a:solidFill>
              </a:rPr>
              <a:t>1986</a:t>
            </a:r>
            <a:endParaRPr lang="en-US" sz="1500" dirty="0"/>
          </a:p>
        </p:txBody>
      </p:sp>
      <p:sp>
        <p:nvSpPr>
          <p:cNvPr id="6" name="Text 3"/>
          <p:cNvSpPr txBox="1"/>
          <p:nvPr/>
        </p:nvSpPr>
        <p:spPr>
          <a:xfrm>
            <a:off x="621792" y="1737360"/>
            <a:ext cx="1645920" cy="548640"/>
          </a:xfrm>
          <a:prstGeom prst="rect">
            <a:avLst/>
          </a:prstGeom>
          <a:noFill/>
          <a:ln/>
        </p:spPr>
        <p:txBody>
          <a:bodyPr wrap="square" lIns="0" tIns="0" rIns="0" bIns="0" rtlCol="0" anchor="t"/>
          <a:lstStyle/>
          <a:p>
            <a:pPr indent="0" marL="0">
              <a:buNone/>
            </a:pPr>
            <a:r>
              <a:rPr lang="en-US" sz="1600" b="1" dirty="0">
                <a:solidFill>
                  <a:schemeClr val="tx1"/>
                </a:solidFill>
              </a:rPr>
              <a:t>Retropropagazione</a:t>
            </a:r>
            <a:endParaRPr lang="en-US" sz="1600" dirty="0"/>
          </a:p>
        </p:txBody>
      </p:sp>
      <p:sp>
        <p:nvSpPr>
          <p:cNvPr id="7" name="Text 4"/>
          <p:cNvSpPr txBox="1"/>
          <p:nvPr/>
        </p:nvSpPr>
        <p:spPr>
          <a:xfrm>
            <a:off x="621792" y="2331720"/>
            <a:ext cx="1645920" cy="1463040"/>
          </a:xfrm>
          <a:prstGeom prst="rect">
            <a:avLst/>
          </a:prstGeom>
          <a:noFill/>
          <a:ln/>
        </p:spPr>
        <p:txBody>
          <a:bodyPr wrap="square" lIns="0" tIns="0" rIns="0" bIns="0" rtlCol="0" anchor="t"/>
          <a:lstStyle/>
          <a:p>
            <a:pPr indent="0" marL="0">
              <a:buNone/>
            </a:pPr>
            <a:r>
              <a:rPr lang="en-US" sz="1300" dirty="0">
                <a:solidFill>
                  <a:schemeClr val="tx2"/>
                </a:solidFill>
              </a:rPr>
              <a:t>Un metodo efficace per addestrare reti neurali a più strati</a:t>
            </a:r>
            <a:endParaRPr lang="en-US" sz="1300" dirty="0"/>
          </a:p>
        </p:txBody>
      </p:sp>
      <p:sp>
        <p:nvSpPr>
          <p:cNvPr id="8" name="freccia"/>
          <p:cNvSpPr/>
          <p:nvPr/>
        </p:nvSpPr>
        <p:spPr>
          <a:xfrm>
            <a:off x="2386584" y="2423160"/>
            <a:ext cx="164592" cy="292608"/>
          </a:xfrm>
          <a:prstGeom prst="rightArrow">
            <a:avLst/>
          </a:prstGeom>
          <a:solidFill>
            <a:schemeClr val="accent2"/>
          </a:solidFill>
          <a:ln/>
        </p:spPr>
      </p:sp>
      <p:sp>
        <p:nvSpPr>
          <p:cNvPr id="9" name="tappa Reti convoluzionali"/>
          <p:cNvSpPr/>
          <p:nvPr/>
        </p:nvSpPr>
        <p:spPr>
          <a:xfrm>
            <a:off x="2560320" y="1188720"/>
            <a:ext cx="1920240" cy="2743200"/>
          </a:xfrm>
          <a:prstGeom prst="roundRect">
            <a:avLst>
              <a:gd name="adj" fmla="val 3810"/>
            </a:avLst>
          </a:prstGeom>
          <a:solidFill>
            <a:schemeClr val="bg2"/>
          </a:solidFill>
          <a:ln/>
        </p:spPr>
      </p:sp>
      <p:sp>
        <p:nvSpPr>
          <p:cNvPr id="10" name="Text 7"/>
          <p:cNvSpPr txBox="1"/>
          <p:nvPr/>
        </p:nvSpPr>
        <p:spPr>
          <a:xfrm>
            <a:off x="2724912" y="1325880"/>
            <a:ext cx="1645920" cy="365760"/>
          </a:xfrm>
          <a:prstGeom prst="rect">
            <a:avLst/>
          </a:prstGeom>
          <a:noFill/>
          <a:ln/>
        </p:spPr>
        <p:txBody>
          <a:bodyPr wrap="square" lIns="0" tIns="0" rIns="0" bIns="0" rtlCol="0" anchor="t"/>
          <a:lstStyle/>
          <a:p>
            <a:pPr indent="0" marL="0">
              <a:buNone/>
            </a:pPr>
            <a:r>
              <a:rPr lang="en-US" sz="1500" b="1" dirty="0">
                <a:solidFill>
                  <a:schemeClr val="accent1"/>
                </a:solidFill>
              </a:rPr>
              <a:t>Anni '90-2010</a:t>
            </a:r>
            <a:endParaRPr lang="en-US" sz="1500" dirty="0"/>
          </a:p>
        </p:txBody>
      </p:sp>
      <p:sp>
        <p:nvSpPr>
          <p:cNvPr id="11" name="Text 8"/>
          <p:cNvSpPr txBox="1"/>
          <p:nvPr/>
        </p:nvSpPr>
        <p:spPr>
          <a:xfrm>
            <a:off x="2724912" y="1737360"/>
            <a:ext cx="1645920" cy="548640"/>
          </a:xfrm>
          <a:prstGeom prst="rect">
            <a:avLst/>
          </a:prstGeom>
          <a:noFill/>
          <a:ln/>
        </p:spPr>
        <p:txBody>
          <a:bodyPr wrap="square" lIns="0" tIns="0" rIns="0" bIns="0" rtlCol="0" anchor="t"/>
          <a:lstStyle/>
          <a:p>
            <a:pPr indent="0" marL="0">
              <a:buNone/>
            </a:pPr>
            <a:r>
              <a:rPr lang="en-US" sz="1600" b="1" dirty="0">
                <a:solidFill>
                  <a:schemeClr val="tx1"/>
                </a:solidFill>
              </a:rPr>
              <a:t>Reti convoluzionali</a:t>
            </a:r>
            <a:endParaRPr lang="en-US" sz="1600" dirty="0"/>
          </a:p>
        </p:txBody>
      </p:sp>
      <p:sp>
        <p:nvSpPr>
          <p:cNvPr id="12" name="Text 9"/>
          <p:cNvSpPr txBox="1"/>
          <p:nvPr/>
        </p:nvSpPr>
        <p:spPr>
          <a:xfrm>
            <a:off x="2724912" y="2331720"/>
            <a:ext cx="1645920" cy="1463040"/>
          </a:xfrm>
          <a:prstGeom prst="rect">
            <a:avLst/>
          </a:prstGeom>
          <a:noFill/>
          <a:ln/>
        </p:spPr>
        <p:txBody>
          <a:bodyPr wrap="square" lIns="0" tIns="0" rIns="0" bIns="0" rtlCol="0" anchor="t"/>
          <a:lstStyle/>
          <a:p>
            <a:pPr indent="0" marL="0">
              <a:buNone/>
            </a:pPr>
            <a:r>
              <a:rPr lang="en-US" sz="1300" dirty="0">
                <a:solidFill>
                  <a:schemeClr val="tx2"/>
                </a:solidFill>
              </a:rPr>
              <a:t>Architetture adatte a riconoscere schemi nelle immagini</a:t>
            </a:r>
            <a:endParaRPr lang="en-US" sz="1300" dirty="0"/>
          </a:p>
        </p:txBody>
      </p:sp>
      <p:sp>
        <p:nvSpPr>
          <p:cNvPr id="13" name="freccia"/>
          <p:cNvSpPr/>
          <p:nvPr/>
        </p:nvSpPr>
        <p:spPr>
          <a:xfrm>
            <a:off x="4489704" y="2423160"/>
            <a:ext cx="164592" cy="292608"/>
          </a:xfrm>
          <a:prstGeom prst="rightArrow">
            <a:avLst/>
          </a:prstGeom>
          <a:solidFill>
            <a:schemeClr val="accent2"/>
          </a:solidFill>
          <a:ln/>
        </p:spPr>
      </p:sp>
      <p:sp>
        <p:nvSpPr>
          <p:cNvPr id="14" name="tappa Transformer"/>
          <p:cNvSpPr/>
          <p:nvPr/>
        </p:nvSpPr>
        <p:spPr>
          <a:xfrm>
            <a:off x="4663440" y="1188720"/>
            <a:ext cx="1920240" cy="2743200"/>
          </a:xfrm>
          <a:prstGeom prst="roundRect">
            <a:avLst>
              <a:gd name="adj" fmla="val 3810"/>
            </a:avLst>
          </a:prstGeom>
          <a:solidFill>
            <a:schemeClr val="accent6"/>
          </a:solidFill>
          <a:ln/>
        </p:spPr>
      </p:sp>
      <p:sp>
        <p:nvSpPr>
          <p:cNvPr id="15" name="Text 12"/>
          <p:cNvSpPr txBox="1"/>
          <p:nvPr/>
        </p:nvSpPr>
        <p:spPr>
          <a:xfrm>
            <a:off x="4828032" y="1325880"/>
            <a:ext cx="1645920" cy="365760"/>
          </a:xfrm>
          <a:prstGeom prst="rect">
            <a:avLst/>
          </a:prstGeom>
          <a:noFill/>
          <a:ln/>
        </p:spPr>
        <p:txBody>
          <a:bodyPr wrap="square" lIns="0" tIns="0" rIns="0" bIns="0" rtlCol="0" anchor="t"/>
          <a:lstStyle/>
          <a:p>
            <a:pPr indent="0" marL="0">
              <a:buNone/>
            </a:pPr>
            <a:r>
              <a:rPr lang="en-US" sz="1500" b="1" dirty="0">
                <a:solidFill>
                  <a:schemeClr val="accent1"/>
                </a:solidFill>
              </a:rPr>
              <a:t>2017</a:t>
            </a:r>
            <a:endParaRPr lang="en-US" sz="1500" dirty="0"/>
          </a:p>
        </p:txBody>
      </p:sp>
      <p:sp>
        <p:nvSpPr>
          <p:cNvPr id="16" name="Text 13"/>
          <p:cNvSpPr txBox="1"/>
          <p:nvPr/>
        </p:nvSpPr>
        <p:spPr>
          <a:xfrm>
            <a:off x="4828032" y="1737360"/>
            <a:ext cx="1645920" cy="548640"/>
          </a:xfrm>
          <a:prstGeom prst="rect">
            <a:avLst/>
          </a:prstGeom>
          <a:noFill/>
          <a:ln/>
        </p:spPr>
        <p:txBody>
          <a:bodyPr wrap="square" lIns="0" tIns="0" rIns="0" bIns="0" rtlCol="0" anchor="t"/>
          <a:lstStyle/>
          <a:p>
            <a:pPr indent="0" marL="0">
              <a:buNone/>
            </a:pPr>
            <a:r>
              <a:rPr lang="en-US" sz="1600" b="1" dirty="0">
                <a:solidFill>
                  <a:schemeClr val="tx1"/>
                </a:solidFill>
              </a:rPr>
              <a:t>Transformer</a:t>
            </a:r>
            <a:endParaRPr lang="en-US" sz="1600" dirty="0"/>
          </a:p>
        </p:txBody>
      </p:sp>
      <p:sp>
        <p:nvSpPr>
          <p:cNvPr id="17" name="Text 14"/>
          <p:cNvSpPr txBox="1"/>
          <p:nvPr/>
        </p:nvSpPr>
        <p:spPr>
          <a:xfrm>
            <a:off x="4828032" y="2331720"/>
            <a:ext cx="1645920" cy="1463040"/>
          </a:xfrm>
          <a:prstGeom prst="rect">
            <a:avLst/>
          </a:prstGeom>
          <a:noFill/>
          <a:ln/>
        </p:spPr>
        <p:txBody>
          <a:bodyPr wrap="square" lIns="0" tIns="0" rIns="0" bIns="0" rtlCol="0" anchor="t"/>
          <a:lstStyle/>
          <a:p>
            <a:pPr indent="0" marL="0">
              <a:buNone/>
            </a:pPr>
            <a:r>
              <a:rPr lang="en-US" sz="1300" dirty="0">
                <a:solidFill>
                  <a:schemeClr val="tx2"/>
                </a:solidFill>
              </a:rPr>
              <a:t>Elabora le relazioni tra tutte le parole di un testo, su larga scala</a:t>
            </a:r>
            <a:endParaRPr lang="en-US" sz="1300" dirty="0"/>
          </a:p>
        </p:txBody>
      </p:sp>
      <p:sp>
        <p:nvSpPr>
          <p:cNvPr id="18" name="freccia"/>
          <p:cNvSpPr/>
          <p:nvPr/>
        </p:nvSpPr>
        <p:spPr>
          <a:xfrm>
            <a:off x="6592824" y="2423160"/>
            <a:ext cx="164592" cy="292608"/>
          </a:xfrm>
          <a:prstGeom prst="rightArrow">
            <a:avLst/>
          </a:prstGeom>
          <a:solidFill>
            <a:schemeClr val="accent2"/>
          </a:solidFill>
          <a:ln/>
        </p:spPr>
      </p:sp>
      <p:sp>
        <p:nvSpPr>
          <p:cNvPr id="19" name="tappa Feedback umano"/>
          <p:cNvSpPr/>
          <p:nvPr/>
        </p:nvSpPr>
        <p:spPr>
          <a:xfrm>
            <a:off x="6766560" y="1188720"/>
            <a:ext cx="1920240" cy="2743200"/>
          </a:xfrm>
          <a:prstGeom prst="roundRect">
            <a:avLst>
              <a:gd name="adj" fmla="val 3810"/>
            </a:avLst>
          </a:prstGeom>
          <a:solidFill>
            <a:schemeClr val="bg2"/>
          </a:solidFill>
          <a:ln/>
        </p:spPr>
      </p:sp>
      <p:sp>
        <p:nvSpPr>
          <p:cNvPr id="20" name="Text 17"/>
          <p:cNvSpPr txBox="1"/>
          <p:nvPr/>
        </p:nvSpPr>
        <p:spPr>
          <a:xfrm>
            <a:off x="6931152" y="1325880"/>
            <a:ext cx="1645920" cy="365760"/>
          </a:xfrm>
          <a:prstGeom prst="rect">
            <a:avLst/>
          </a:prstGeom>
          <a:noFill/>
          <a:ln/>
        </p:spPr>
        <p:txBody>
          <a:bodyPr wrap="square" lIns="0" tIns="0" rIns="0" bIns="0" rtlCol="0" anchor="t"/>
          <a:lstStyle/>
          <a:p>
            <a:pPr indent="0" marL="0">
              <a:buNone/>
            </a:pPr>
            <a:r>
              <a:rPr lang="en-US" sz="1500" b="1" dirty="0">
                <a:solidFill>
                  <a:schemeClr val="accent1"/>
                </a:solidFill>
              </a:rPr>
              <a:t>2022</a:t>
            </a:r>
            <a:endParaRPr lang="en-US" sz="1500" dirty="0"/>
          </a:p>
        </p:txBody>
      </p:sp>
      <p:sp>
        <p:nvSpPr>
          <p:cNvPr id="21" name="Text 18"/>
          <p:cNvSpPr txBox="1"/>
          <p:nvPr/>
        </p:nvSpPr>
        <p:spPr>
          <a:xfrm>
            <a:off x="6931152" y="1737360"/>
            <a:ext cx="1645920" cy="548640"/>
          </a:xfrm>
          <a:prstGeom prst="rect">
            <a:avLst/>
          </a:prstGeom>
          <a:noFill/>
          <a:ln/>
        </p:spPr>
        <p:txBody>
          <a:bodyPr wrap="square" lIns="0" tIns="0" rIns="0" bIns="0" rtlCol="0" anchor="t"/>
          <a:lstStyle/>
          <a:p>
            <a:pPr indent="0" marL="0">
              <a:buNone/>
            </a:pPr>
            <a:r>
              <a:rPr lang="en-US" sz="1600" b="1" dirty="0">
                <a:solidFill>
                  <a:schemeClr val="tx1"/>
                </a:solidFill>
              </a:rPr>
              <a:t>Feedback umano</a:t>
            </a:r>
            <a:endParaRPr lang="en-US" sz="1600" dirty="0"/>
          </a:p>
        </p:txBody>
      </p:sp>
      <p:sp>
        <p:nvSpPr>
          <p:cNvPr id="22" name="Text 19"/>
          <p:cNvSpPr txBox="1"/>
          <p:nvPr/>
        </p:nvSpPr>
        <p:spPr>
          <a:xfrm>
            <a:off x="6931152" y="2331720"/>
            <a:ext cx="1645920" cy="1463040"/>
          </a:xfrm>
          <a:prstGeom prst="rect">
            <a:avLst/>
          </a:prstGeom>
          <a:noFill/>
          <a:ln/>
        </p:spPr>
        <p:txBody>
          <a:bodyPr wrap="square" lIns="0" tIns="0" rIns="0" bIns="0" rtlCol="0" anchor="t"/>
          <a:lstStyle/>
          <a:p>
            <a:pPr indent="0" marL="0">
              <a:buNone/>
            </a:pPr>
            <a:r>
              <a:rPr lang="en-US" sz="1300" dirty="0">
                <a:solidFill>
                  <a:schemeClr val="tx2"/>
                </a:solidFill>
              </a:rPr>
              <a:t>Addestramento per seguire istruzioni e conversare in modo utile</a:t>
            </a:r>
            <a:endParaRPr lang="en-US" sz="1300" dirty="0"/>
          </a:p>
        </p:txBody>
      </p:sp>
      <p:sp>
        <p:nvSpPr>
          <p:cNvPr id="23" name="Text 20"/>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chemeClr val="tx1"/>
                </a:solidFill>
              </a:rPr>
              <a:t>I progressi nei metodi hanno contato quanto quelli nell'hardware.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Lo sviluppo di modelli di grandi dimensioni</a:t>
            </a:r>
            <a:endParaRPr lang="en-US" sz="2600" dirty="0"/>
          </a:p>
        </p:txBody>
      </p:sp>
      <p:graphicFrame>
        <p:nvGraphicFramePr>
          <p:cNvPr id="4" name="Chart 0" descr=""/>
          <p:cNvGraphicFramePr/>
          <p:nvPr/>
        </p:nvGraphicFramePr>
        <p:xfrm>
          <a:off x="457200" y="1051560"/>
          <a:ext cx="4023360" cy="31089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251960"/>
            <a:ext cx="4023360" cy="274320"/>
          </a:xfrm>
          <a:prstGeom prst="rect">
            <a:avLst/>
          </a:prstGeom>
          <a:noFill/>
          <a:ln/>
        </p:spPr>
        <p:txBody>
          <a:bodyPr wrap="square" lIns="0" tIns="0" rIns="0" bIns="0" rtlCol="0" anchor="t"/>
          <a:lstStyle/>
          <a:p>
            <a:pPr indent="0" marL="0">
              <a:buNone/>
            </a:pPr>
            <a:r>
              <a:rPr lang="en-US" sz="1000" dirty="0">
                <a:solidFill>
                  <a:schemeClr val="accent2"/>
                </a:solidFill>
              </a:rPr>
              <a:t>Fonte: articoli tecnici OpenAI (2019, 2020)</a:t>
            </a:r>
            <a:endParaRPr lang="en-US" sz="1000" dirty="0"/>
          </a:p>
        </p:txBody>
      </p:sp>
      <p:sp>
        <p:nvSpPr>
          <p:cNvPr id="6" name="scheda Leggi di scala"/>
          <p:cNvSpPr/>
          <p:nvPr/>
        </p:nvSpPr>
        <p:spPr>
          <a:xfrm>
            <a:off x="4754880" y="1097280"/>
            <a:ext cx="3931920" cy="1600200"/>
          </a:xfrm>
          <a:prstGeom prst="roundRect">
            <a:avLst>
              <a:gd name="adj" fmla="val 4571"/>
            </a:avLst>
          </a:prstGeom>
          <a:solidFill>
            <a:schemeClr val="bg2"/>
          </a:solidFill>
          <a:ln/>
        </p:spPr>
      </p:sp>
      <p:sp>
        <p:nvSpPr>
          <p:cNvPr id="7" name="cerchio FiTrendingUp"/>
          <p:cNvSpPr/>
          <p:nvPr/>
        </p:nvSpPr>
        <p:spPr>
          <a:xfrm>
            <a:off x="4937760" y="1280160"/>
            <a:ext cx="457200" cy="457200"/>
          </a:xfrm>
          <a:prstGeom prst="ellipse">
            <a:avLst/>
          </a:prstGeom>
          <a:solidFill>
            <a:schemeClr val="accent1"/>
          </a:solidFill>
          <a:ln/>
        </p:spPr>
      </p:sp>
      <p:pic>
        <p:nvPicPr>
          <p:cNvPr id="8" name="Image 0" descr="FiTrendingUp">    </p:cNvPr>
          <p:cNvPicPr>
            <a:picLocks noChangeAspect="1"/>
          </p:cNvPicPr>
          <p:nvPr/>
        </p:nvPicPr>
        <p:blipFill>
          <a:blip r:embed="rId2"/>
          <a:stretch>
            <a:fillRect/>
          </a:stretch>
        </p:blipFill>
        <p:spPr>
          <a:xfrm>
            <a:off x="5052060" y="1394460"/>
            <a:ext cx="228600" cy="228600"/>
          </a:xfrm>
          <a:prstGeom prst="rect">
            <a:avLst/>
          </a:prstGeom>
        </p:spPr>
      </p:pic>
      <p:sp>
        <p:nvSpPr>
          <p:cNvPr id="9" name="Text 4"/>
          <p:cNvSpPr txBox="1"/>
          <p:nvPr/>
        </p:nvSpPr>
        <p:spPr>
          <a:xfrm>
            <a:off x="5532120" y="1280160"/>
            <a:ext cx="2971800" cy="457200"/>
          </a:xfrm>
          <a:prstGeom prst="rect">
            <a:avLst/>
          </a:prstGeom>
          <a:noFill/>
          <a:ln/>
        </p:spPr>
        <p:txBody>
          <a:bodyPr wrap="square" lIns="0" tIns="0" rIns="0" bIns="0" rtlCol="0" anchor="ctr"/>
          <a:lstStyle/>
          <a:p>
            <a:pPr indent="0" marL="0">
              <a:buNone/>
            </a:pPr>
            <a:r>
              <a:rPr lang="en-US" sz="1500" b="1" dirty="0">
                <a:solidFill>
                  <a:schemeClr val="tx1"/>
                </a:solidFill>
              </a:rPr>
              <a:t>Leggi di scala</a:t>
            </a:r>
            <a:endParaRPr lang="en-US" sz="1500" dirty="0"/>
          </a:p>
        </p:txBody>
      </p:sp>
      <p:sp>
        <p:nvSpPr>
          <p:cNvPr id="10" name="Text 5"/>
          <p:cNvSpPr txBox="1"/>
          <p:nvPr/>
        </p:nvSpPr>
        <p:spPr>
          <a:xfrm>
            <a:off x="4937760" y="1874520"/>
            <a:ext cx="3566160" cy="713232"/>
          </a:xfrm>
          <a:prstGeom prst="rect">
            <a:avLst/>
          </a:prstGeom>
          <a:noFill/>
          <a:ln/>
        </p:spPr>
        <p:txBody>
          <a:bodyPr wrap="square" lIns="0" tIns="0" rIns="0" bIns="0" rtlCol="0" anchor="t"/>
          <a:lstStyle/>
          <a:p>
            <a:pPr indent="0" marL="0">
              <a:buNone/>
            </a:pPr>
            <a:r>
              <a:rPr lang="en-US" sz="1300" dirty="0">
                <a:solidFill>
                  <a:schemeClr val="tx2"/>
                </a:solidFill>
              </a:rPr>
              <a:t>Aumentando insieme modello, dati e calcolo le prestazioni migliorano in modo relativamente prevedibile</a:t>
            </a:r>
            <a:endParaRPr lang="en-US" sz="1300" dirty="0"/>
          </a:p>
        </p:txBody>
      </p:sp>
      <p:sp>
        <p:nvSpPr>
          <p:cNvPr id="11" name="scheda Più grande non è sempre meglio"/>
          <p:cNvSpPr/>
          <p:nvPr/>
        </p:nvSpPr>
        <p:spPr>
          <a:xfrm>
            <a:off x="4754880" y="2880360"/>
            <a:ext cx="3931920" cy="1645920"/>
          </a:xfrm>
          <a:prstGeom prst="roundRect">
            <a:avLst>
              <a:gd name="adj" fmla="val 4444"/>
            </a:avLst>
          </a:prstGeom>
          <a:solidFill>
            <a:schemeClr val="bg2"/>
          </a:solidFill>
          <a:ln/>
        </p:spPr>
      </p:sp>
      <p:sp>
        <p:nvSpPr>
          <p:cNvPr id="12" name="cerchio FiAlertCircle"/>
          <p:cNvSpPr/>
          <p:nvPr/>
        </p:nvSpPr>
        <p:spPr>
          <a:xfrm>
            <a:off x="4937760" y="3063240"/>
            <a:ext cx="457200" cy="457200"/>
          </a:xfrm>
          <a:prstGeom prst="ellipse">
            <a:avLst/>
          </a:prstGeom>
          <a:solidFill>
            <a:schemeClr val="accent1"/>
          </a:solidFill>
          <a:ln/>
        </p:spPr>
      </p:sp>
      <p:pic>
        <p:nvPicPr>
          <p:cNvPr id="13" name="Image 1" descr="FiAlertCircle">    </p:cNvPr>
          <p:cNvPicPr>
            <a:picLocks noChangeAspect="1"/>
          </p:cNvPicPr>
          <p:nvPr/>
        </p:nvPicPr>
        <p:blipFill>
          <a:blip r:embed="rId3"/>
          <a:stretch>
            <a:fillRect/>
          </a:stretch>
        </p:blipFill>
        <p:spPr>
          <a:xfrm>
            <a:off x="5052060" y="3177540"/>
            <a:ext cx="228600" cy="228600"/>
          </a:xfrm>
          <a:prstGeom prst="rect">
            <a:avLst/>
          </a:prstGeom>
        </p:spPr>
      </p:pic>
      <p:sp>
        <p:nvSpPr>
          <p:cNvPr id="14" name="Text 8"/>
          <p:cNvSpPr txBox="1"/>
          <p:nvPr/>
        </p:nvSpPr>
        <p:spPr>
          <a:xfrm>
            <a:off x="5532120" y="3063240"/>
            <a:ext cx="2971800" cy="457200"/>
          </a:xfrm>
          <a:prstGeom prst="rect">
            <a:avLst/>
          </a:prstGeom>
          <a:noFill/>
          <a:ln/>
        </p:spPr>
        <p:txBody>
          <a:bodyPr wrap="square" lIns="0" tIns="0" rIns="0" bIns="0" rtlCol="0" anchor="ctr"/>
          <a:lstStyle/>
          <a:p>
            <a:pPr indent="0" marL="0">
              <a:buNone/>
            </a:pPr>
            <a:r>
              <a:rPr lang="en-US" sz="1500" b="1" dirty="0">
                <a:solidFill>
                  <a:schemeClr val="tx1"/>
                </a:solidFill>
              </a:rPr>
              <a:t>Più grande non è sempre meglio</a:t>
            </a:r>
            <a:endParaRPr lang="en-US" sz="1500" dirty="0"/>
          </a:p>
        </p:txBody>
      </p:sp>
      <p:sp>
        <p:nvSpPr>
          <p:cNvPr id="15" name="Text 9"/>
          <p:cNvSpPr txBox="1"/>
          <p:nvPr/>
        </p:nvSpPr>
        <p:spPr>
          <a:xfrm>
            <a:off x="4937760" y="3657600"/>
            <a:ext cx="3566160" cy="758952"/>
          </a:xfrm>
          <a:prstGeom prst="rect">
            <a:avLst/>
          </a:prstGeom>
          <a:noFill/>
          <a:ln/>
        </p:spPr>
        <p:txBody>
          <a:bodyPr wrap="square" lIns="0" tIns="0" rIns="0" bIns="0" rtlCol="0" anchor="t"/>
          <a:lstStyle/>
          <a:p>
            <a:pPr indent="0" marL="0">
              <a:buNone/>
            </a:pPr>
            <a:r>
              <a:rPr lang="en-US" sz="1300" dirty="0">
                <a:solidFill>
                  <a:schemeClr val="tx2"/>
                </a:solidFill>
              </a:rPr>
              <a:t>Esistono anche modelli piccoli ed efficienti per compiti specifici. Molte dimensioni oggi non sono pubbliche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Investimenti e infrastrutture tecnologiche</a:t>
            </a:r>
            <a:endParaRPr lang="en-US" sz="2600" dirty="0"/>
          </a:p>
        </p:txBody>
      </p:sp>
      <p:sp>
        <p:nvSpPr>
          <p:cNvPr id="4" name="livello Applicazioni e servizi"/>
          <p:cNvSpPr/>
          <p:nvPr/>
        </p:nvSpPr>
        <p:spPr>
          <a:xfrm>
            <a:off x="457200" y="1097280"/>
            <a:ext cx="4937760" cy="731520"/>
          </a:xfrm>
          <a:prstGeom prst="roundRect">
            <a:avLst>
              <a:gd name="adj" fmla="val 10000"/>
            </a:avLst>
          </a:prstGeom>
          <a:solidFill>
            <a:schemeClr val="accent1"/>
          </a:solidFill>
          <a:ln/>
        </p:spPr>
      </p:sp>
      <p:sp>
        <p:nvSpPr>
          <p:cNvPr id="5" name="Text 2"/>
          <p:cNvSpPr txBox="1"/>
          <p:nvPr/>
        </p:nvSpPr>
        <p:spPr>
          <a:xfrm>
            <a:off x="457200" y="1097280"/>
            <a:ext cx="4937760" cy="731520"/>
          </a:xfrm>
          <a:prstGeom prst="rect">
            <a:avLst/>
          </a:prstGeom>
          <a:noFill/>
          <a:ln/>
        </p:spPr>
        <p:txBody>
          <a:bodyPr wrap="square" lIns="0" tIns="0" rIns="0" bIns="0" rtlCol="0" anchor="ctr"/>
          <a:lstStyle/>
          <a:p>
            <a:pPr algn="ctr" indent="0" marL="0">
              <a:buNone/>
            </a:pPr>
            <a:r>
              <a:rPr lang="en-US" sz="1500" b="1" dirty="0">
                <a:solidFill>
                  <a:schemeClr val="bg1"/>
                </a:solidFill>
              </a:rPr>
              <a:t>Applicazioni e servizi</a:t>
            </a:r>
            <a:endParaRPr lang="en-US" sz="1500" dirty="0"/>
          </a:p>
        </p:txBody>
      </p:sp>
      <p:sp>
        <p:nvSpPr>
          <p:cNvPr id="6" name="livello Modelli"/>
          <p:cNvSpPr/>
          <p:nvPr/>
        </p:nvSpPr>
        <p:spPr>
          <a:xfrm>
            <a:off x="685800" y="1965960"/>
            <a:ext cx="4480560" cy="731520"/>
          </a:xfrm>
          <a:prstGeom prst="roundRect">
            <a:avLst>
              <a:gd name="adj" fmla="val 10000"/>
            </a:avLst>
          </a:prstGeom>
          <a:solidFill>
            <a:schemeClr val="bg2"/>
          </a:solidFill>
          <a:ln/>
        </p:spPr>
      </p:sp>
      <p:sp>
        <p:nvSpPr>
          <p:cNvPr id="7" name="Text 4"/>
          <p:cNvSpPr txBox="1"/>
          <p:nvPr/>
        </p:nvSpPr>
        <p:spPr>
          <a:xfrm>
            <a:off x="685800" y="1965960"/>
            <a:ext cx="4480560" cy="731520"/>
          </a:xfrm>
          <a:prstGeom prst="rect">
            <a:avLst/>
          </a:prstGeom>
          <a:noFill/>
          <a:ln/>
        </p:spPr>
        <p:txBody>
          <a:bodyPr wrap="square" lIns="0" tIns="0" rIns="0" bIns="0" rtlCol="0" anchor="ctr"/>
          <a:lstStyle/>
          <a:p>
            <a:pPr algn="ctr" indent="0" marL="0">
              <a:buNone/>
            </a:pPr>
            <a:r>
              <a:rPr lang="en-US" sz="1500" b="1" dirty="0">
                <a:solidFill>
                  <a:schemeClr val="tx1"/>
                </a:solidFill>
              </a:rPr>
              <a:t>Modelli</a:t>
            </a:r>
            <a:endParaRPr lang="en-US" sz="1500" dirty="0"/>
          </a:p>
        </p:txBody>
      </p:sp>
      <p:sp>
        <p:nvSpPr>
          <p:cNvPr id="8" name="livello Cloud e data center"/>
          <p:cNvSpPr/>
          <p:nvPr/>
        </p:nvSpPr>
        <p:spPr>
          <a:xfrm>
            <a:off x="914400" y="2834640"/>
            <a:ext cx="4023360" cy="731520"/>
          </a:xfrm>
          <a:prstGeom prst="roundRect">
            <a:avLst>
              <a:gd name="adj" fmla="val 10000"/>
            </a:avLst>
          </a:prstGeom>
          <a:solidFill>
            <a:schemeClr val="bg2"/>
          </a:solidFill>
          <a:ln/>
        </p:spPr>
      </p:sp>
      <p:sp>
        <p:nvSpPr>
          <p:cNvPr id="9" name="Text 6"/>
          <p:cNvSpPr txBox="1"/>
          <p:nvPr/>
        </p:nvSpPr>
        <p:spPr>
          <a:xfrm>
            <a:off x="914400" y="2834640"/>
            <a:ext cx="4023360" cy="731520"/>
          </a:xfrm>
          <a:prstGeom prst="rect">
            <a:avLst/>
          </a:prstGeom>
          <a:noFill/>
          <a:ln/>
        </p:spPr>
        <p:txBody>
          <a:bodyPr wrap="square" lIns="0" tIns="0" rIns="0" bIns="0" rtlCol="0" anchor="ctr"/>
          <a:lstStyle/>
          <a:p>
            <a:pPr algn="ctr" indent="0" marL="0">
              <a:buNone/>
            </a:pPr>
            <a:r>
              <a:rPr lang="en-US" sz="1500" b="1" dirty="0">
                <a:solidFill>
                  <a:schemeClr val="tx1"/>
                </a:solidFill>
              </a:rPr>
              <a:t>Cloud e data center</a:t>
            </a:r>
            <a:endParaRPr lang="en-US" sz="1500" dirty="0"/>
          </a:p>
        </p:txBody>
      </p:sp>
      <p:sp>
        <p:nvSpPr>
          <p:cNvPr id="10" name="livello Chip ed energia"/>
          <p:cNvSpPr/>
          <p:nvPr/>
        </p:nvSpPr>
        <p:spPr>
          <a:xfrm>
            <a:off x="1143000" y="3703320"/>
            <a:ext cx="3566160" cy="731520"/>
          </a:xfrm>
          <a:prstGeom prst="roundRect">
            <a:avLst>
              <a:gd name="adj" fmla="val 10000"/>
            </a:avLst>
          </a:prstGeom>
          <a:solidFill>
            <a:schemeClr val="bg2"/>
          </a:solidFill>
          <a:ln/>
        </p:spPr>
      </p:sp>
      <p:sp>
        <p:nvSpPr>
          <p:cNvPr id="11" name="Text 8"/>
          <p:cNvSpPr txBox="1"/>
          <p:nvPr/>
        </p:nvSpPr>
        <p:spPr>
          <a:xfrm>
            <a:off x="1143000" y="3703320"/>
            <a:ext cx="3566160" cy="731520"/>
          </a:xfrm>
          <a:prstGeom prst="rect">
            <a:avLst/>
          </a:prstGeom>
          <a:noFill/>
          <a:ln/>
        </p:spPr>
        <p:txBody>
          <a:bodyPr wrap="square" lIns="0" tIns="0" rIns="0" bIns="0" rtlCol="0" anchor="ctr"/>
          <a:lstStyle/>
          <a:p>
            <a:pPr algn="ctr" indent="0" marL="0">
              <a:buNone/>
            </a:pPr>
            <a:r>
              <a:rPr lang="en-US" sz="1500" b="1" dirty="0">
                <a:solidFill>
                  <a:schemeClr val="tx1"/>
                </a:solidFill>
              </a:rPr>
              <a:t>Chip ed energia</a:t>
            </a:r>
            <a:endParaRPr lang="en-US" sz="1500" dirty="0"/>
          </a:p>
        </p:txBody>
      </p:sp>
      <p:sp>
        <p:nvSpPr>
          <p:cNvPr id="12" name="Text 9"/>
          <p:cNvSpPr txBox="1"/>
          <p:nvPr/>
        </p:nvSpPr>
        <p:spPr>
          <a:xfrm>
            <a:off x="457200" y="4526280"/>
            <a:ext cx="4937760" cy="228600"/>
          </a:xfrm>
          <a:prstGeom prst="rect">
            <a:avLst/>
          </a:prstGeom>
          <a:noFill/>
          <a:ln/>
        </p:spPr>
        <p:txBody>
          <a:bodyPr wrap="square" lIns="0" tIns="0" rIns="0" bIns="0" rtlCol="0" anchor="t"/>
          <a:lstStyle/>
          <a:p>
            <a:pPr algn="ctr" indent="0" marL="0">
              <a:buNone/>
            </a:pPr>
            <a:r>
              <a:rPr lang="en-US" sz="1000" dirty="0">
                <a:solidFill>
                  <a:schemeClr val="accent2"/>
                </a:solidFill>
              </a:rPr>
              <a:t>La filiera dell'AI</a:t>
            </a:r>
            <a:endParaRPr lang="en-US" sz="1000" dirty="0"/>
          </a:p>
        </p:txBody>
      </p:sp>
      <p:sp>
        <p:nvSpPr>
          <p:cNvPr id="13" name="scheda Per le aziende utenti"/>
          <p:cNvSpPr/>
          <p:nvPr/>
        </p:nvSpPr>
        <p:spPr>
          <a:xfrm>
            <a:off x="5669280" y="1097280"/>
            <a:ext cx="3017520" cy="1691640"/>
          </a:xfrm>
          <a:prstGeom prst="roundRect">
            <a:avLst>
              <a:gd name="adj" fmla="val 4324"/>
            </a:avLst>
          </a:prstGeom>
          <a:solidFill>
            <a:schemeClr val="bg2"/>
          </a:solidFill>
          <a:ln/>
        </p:spPr>
      </p:sp>
      <p:sp>
        <p:nvSpPr>
          <p:cNvPr id="14" name="cerchio FiBriefcase"/>
          <p:cNvSpPr/>
          <p:nvPr/>
        </p:nvSpPr>
        <p:spPr>
          <a:xfrm>
            <a:off x="5852160" y="1280160"/>
            <a:ext cx="457200" cy="457200"/>
          </a:xfrm>
          <a:prstGeom prst="ellipse">
            <a:avLst/>
          </a:prstGeom>
          <a:solidFill>
            <a:schemeClr val="accent1"/>
          </a:solidFill>
          <a:ln/>
        </p:spPr>
      </p:sp>
      <p:pic>
        <p:nvPicPr>
          <p:cNvPr id="15" name="Image 0" descr="FiBriefcase">    </p:cNvPr>
          <p:cNvPicPr>
            <a:picLocks noChangeAspect="1"/>
          </p:cNvPicPr>
          <p:nvPr/>
        </p:nvPicPr>
        <p:blipFill>
          <a:blip r:embed="rId1"/>
          <a:stretch>
            <a:fillRect/>
          </a:stretch>
        </p:blipFill>
        <p:spPr>
          <a:xfrm>
            <a:off x="5966460" y="1394460"/>
            <a:ext cx="228600" cy="228600"/>
          </a:xfrm>
          <a:prstGeom prst="rect">
            <a:avLst/>
          </a:prstGeom>
        </p:spPr>
      </p:pic>
      <p:sp>
        <p:nvSpPr>
          <p:cNvPr id="16" name="Text 12"/>
          <p:cNvSpPr txBox="1"/>
          <p:nvPr/>
        </p:nvSpPr>
        <p:spPr>
          <a:xfrm>
            <a:off x="6446520" y="1280160"/>
            <a:ext cx="2057400" cy="457200"/>
          </a:xfrm>
          <a:prstGeom prst="rect">
            <a:avLst/>
          </a:prstGeom>
          <a:noFill/>
          <a:ln/>
        </p:spPr>
        <p:txBody>
          <a:bodyPr wrap="square" lIns="0" tIns="0" rIns="0" bIns="0" rtlCol="0" anchor="ctr"/>
          <a:lstStyle/>
          <a:p>
            <a:pPr indent="0" marL="0">
              <a:buNone/>
            </a:pPr>
            <a:r>
              <a:rPr lang="en-US" sz="1500" b="1" dirty="0">
                <a:solidFill>
                  <a:schemeClr val="tx1"/>
                </a:solidFill>
              </a:rPr>
              <a:t>Per le aziende utenti</a:t>
            </a:r>
            <a:endParaRPr lang="en-US" sz="1500" dirty="0"/>
          </a:p>
        </p:txBody>
      </p:sp>
      <p:sp>
        <p:nvSpPr>
          <p:cNvPr id="17" name="Text 13"/>
          <p:cNvSpPr txBox="1"/>
          <p:nvPr/>
        </p:nvSpPr>
        <p:spPr>
          <a:xfrm>
            <a:off x="5852160" y="1874520"/>
            <a:ext cx="2651760" cy="804672"/>
          </a:xfrm>
          <a:prstGeom prst="rect">
            <a:avLst/>
          </a:prstGeom>
          <a:noFill/>
          <a:ln/>
        </p:spPr>
        <p:txBody>
          <a:bodyPr wrap="square" lIns="0" tIns="0" rIns="0" bIns="0" rtlCol="0" anchor="t"/>
          <a:lstStyle/>
          <a:p>
            <a:pPr indent="0" marL="0">
              <a:buNone/>
            </a:pPr>
            <a:r>
              <a:rPr lang="en-US" sz="1300" dirty="0">
                <a:solidFill>
                  <a:schemeClr val="tx2"/>
                </a:solidFill>
              </a:rPr>
              <a:t>Le capacità AI arrivano come servizi pronti: abbonamenti, funzioni integrate, API</a:t>
            </a:r>
            <a:endParaRPr lang="en-US" sz="1300" dirty="0"/>
          </a:p>
        </p:txBody>
      </p:sp>
      <p:sp>
        <p:nvSpPr>
          <p:cNvPr id="18" name="scheda Costi e impatti"/>
          <p:cNvSpPr/>
          <p:nvPr/>
        </p:nvSpPr>
        <p:spPr>
          <a:xfrm>
            <a:off x="5669280" y="2926080"/>
            <a:ext cx="3017520" cy="1600200"/>
          </a:xfrm>
          <a:prstGeom prst="roundRect">
            <a:avLst>
              <a:gd name="adj" fmla="val 4571"/>
            </a:avLst>
          </a:prstGeom>
          <a:solidFill>
            <a:schemeClr val="bg2"/>
          </a:solidFill>
          <a:ln/>
        </p:spPr>
      </p:sp>
      <p:sp>
        <p:nvSpPr>
          <p:cNvPr id="19" name="cerchio FiZap"/>
          <p:cNvSpPr/>
          <p:nvPr/>
        </p:nvSpPr>
        <p:spPr>
          <a:xfrm>
            <a:off x="5852160" y="3108960"/>
            <a:ext cx="457200" cy="457200"/>
          </a:xfrm>
          <a:prstGeom prst="ellipse">
            <a:avLst/>
          </a:prstGeom>
          <a:solidFill>
            <a:schemeClr val="accent1"/>
          </a:solidFill>
          <a:ln/>
        </p:spPr>
      </p:sp>
      <p:pic>
        <p:nvPicPr>
          <p:cNvPr id="20" name="Image 1" descr="FiZap">    </p:cNvPr>
          <p:cNvPicPr>
            <a:picLocks noChangeAspect="1"/>
          </p:cNvPicPr>
          <p:nvPr/>
        </p:nvPicPr>
        <p:blipFill>
          <a:blip r:embed="rId2"/>
          <a:stretch>
            <a:fillRect/>
          </a:stretch>
        </p:blipFill>
        <p:spPr>
          <a:xfrm>
            <a:off x="5966460" y="3223260"/>
            <a:ext cx="228600" cy="228600"/>
          </a:xfrm>
          <a:prstGeom prst="rect">
            <a:avLst/>
          </a:prstGeom>
        </p:spPr>
      </p:pic>
      <p:sp>
        <p:nvSpPr>
          <p:cNvPr id="21" name="Text 16"/>
          <p:cNvSpPr txBox="1"/>
          <p:nvPr/>
        </p:nvSpPr>
        <p:spPr>
          <a:xfrm>
            <a:off x="6446520" y="3108960"/>
            <a:ext cx="2057400" cy="457200"/>
          </a:xfrm>
          <a:prstGeom prst="rect">
            <a:avLst/>
          </a:prstGeom>
          <a:noFill/>
          <a:ln/>
        </p:spPr>
        <p:txBody>
          <a:bodyPr wrap="square" lIns="0" tIns="0" rIns="0" bIns="0" rtlCol="0" anchor="ctr"/>
          <a:lstStyle/>
          <a:p>
            <a:pPr indent="0" marL="0">
              <a:buNone/>
            </a:pPr>
            <a:r>
              <a:rPr lang="en-US" sz="1500" b="1" dirty="0">
                <a:solidFill>
                  <a:schemeClr val="tx1"/>
                </a:solidFill>
              </a:rPr>
              <a:t>Costi e impatti</a:t>
            </a:r>
            <a:endParaRPr lang="en-US" sz="1500" dirty="0"/>
          </a:p>
        </p:txBody>
      </p:sp>
      <p:sp>
        <p:nvSpPr>
          <p:cNvPr id="22" name="Text 17"/>
          <p:cNvSpPr txBox="1"/>
          <p:nvPr/>
        </p:nvSpPr>
        <p:spPr>
          <a:xfrm>
            <a:off x="5852160" y="3703320"/>
            <a:ext cx="2651760" cy="713232"/>
          </a:xfrm>
          <a:prstGeom prst="rect">
            <a:avLst/>
          </a:prstGeom>
          <a:noFill/>
          <a:ln/>
        </p:spPr>
        <p:txBody>
          <a:bodyPr wrap="square" lIns="0" tIns="0" rIns="0" bIns="0" rtlCol="0" anchor="t"/>
          <a:lstStyle/>
          <a:p>
            <a:pPr indent="0" marL="0">
              <a:buNone/>
            </a:pPr>
            <a:r>
              <a:rPr lang="en-US" sz="1300" dirty="0">
                <a:solidFill>
                  <a:schemeClr val="tx2"/>
                </a:solidFill>
              </a:rPr>
              <a:t>Infrastrutture costose ed energivore: un tema emergente da considerare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L'accelerazione deriva dalla convergenza di diversi fattori, non da una singola invenzione.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1.2  ·  I fattori dell'accelerazione tecnologica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1.3</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La svolta dell'AI generativa</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Dall'AI che classifica e prevede all'AI che genera contenuti, usando il linguaggio naturale</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classificare e prevedere al generare</a:t>
            </a:r>
            <a:endParaRPr lang="en-US" sz="2600" dirty="0"/>
          </a:p>
        </p:txBody>
      </p:sp>
      <p:sp>
        <p:nvSpPr>
          <p:cNvPr id="4" name="scheda AI che classifica e prevede"/>
          <p:cNvSpPr/>
          <p:nvPr/>
        </p:nvSpPr>
        <p:spPr>
          <a:xfrm>
            <a:off x="457200" y="1097280"/>
            <a:ext cx="3931920" cy="3429000"/>
          </a:xfrm>
          <a:prstGeom prst="roundRect">
            <a:avLst>
              <a:gd name="adj" fmla="val 2133"/>
            </a:avLst>
          </a:prstGeom>
          <a:solidFill>
            <a:schemeClr val="bg2"/>
          </a:solidFill>
          <a:ln/>
        </p:spPr>
      </p:sp>
      <p:sp>
        <p:nvSpPr>
          <p:cNvPr id="5" name="cerchio FiBarChart2"/>
          <p:cNvSpPr/>
          <p:nvPr/>
        </p:nvSpPr>
        <p:spPr>
          <a:xfrm>
            <a:off x="640080" y="1280160"/>
            <a:ext cx="457200" cy="457200"/>
          </a:xfrm>
          <a:prstGeom prst="ellipse">
            <a:avLst/>
          </a:prstGeom>
          <a:solidFill>
            <a:schemeClr val="accent1"/>
          </a:solidFill>
          <a:ln/>
        </p:spPr>
      </p:sp>
      <p:pic>
        <p:nvPicPr>
          <p:cNvPr id="6" name="Image 0" descr="FiBarChart2">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566160" cy="347472"/>
          </a:xfrm>
          <a:prstGeom prst="rect">
            <a:avLst/>
          </a:prstGeom>
          <a:noFill/>
          <a:ln/>
        </p:spPr>
        <p:txBody>
          <a:bodyPr wrap="square" lIns="0" tIns="0" rIns="0" bIns="0" rtlCol="0" anchor="t"/>
          <a:lstStyle/>
          <a:p>
            <a:pPr indent="0" marL="0">
              <a:buNone/>
            </a:pPr>
            <a:r>
              <a:rPr lang="en-US" sz="1600" b="1" dirty="0">
                <a:solidFill>
                  <a:schemeClr val="tx1"/>
                </a:solidFill>
              </a:rPr>
              <a:t>AI che classifica e prevede</a:t>
            </a:r>
            <a:endParaRPr lang="en-US" sz="1600" dirty="0"/>
          </a:p>
        </p:txBody>
      </p:sp>
      <p:sp>
        <p:nvSpPr>
          <p:cNvPr id="8" name="Text 4"/>
          <p:cNvSpPr txBox="1"/>
          <p:nvPr/>
        </p:nvSpPr>
        <p:spPr>
          <a:xfrm>
            <a:off x="640080" y="2231136"/>
            <a:ext cx="3566160" cy="2185416"/>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Output: un'etichetta, un numero, una probabilità</a:t>
            </a:r>
            <a:endParaRPr lang="en-US" sz="1300" dirty="0"/>
          </a:p>
          <a:p>
            <a:pPr marL="177800" indent="-177800">
              <a:spcAft>
                <a:spcPts val="300"/>
              </a:spcAft>
              <a:buSzPct val="100000"/>
              <a:buChar char="•"/>
            </a:pPr>
            <a:r>
              <a:rPr lang="en-US" sz="1300" dirty="0">
                <a:solidFill>
                  <a:schemeClr val="tx2"/>
                </a:solidFill>
              </a:rPr>
              <a:t>Questa email è spam?</a:t>
            </a:r>
            <a:endParaRPr lang="en-US" sz="1300" dirty="0"/>
          </a:p>
          <a:p>
            <a:pPr marL="177800" indent="-177800">
              <a:spcAft>
                <a:spcPts val="300"/>
              </a:spcAft>
              <a:buSzPct val="100000"/>
              <a:buChar char="•"/>
            </a:pPr>
            <a:r>
              <a:rPr lang="en-US" sz="1300" dirty="0">
                <a:solidFill>
                  <a:schemeClr val="tx2"/>
                </a:solidFill>
              </a:rPr>
              <a:t>Questo pezzo è difettoso?</a:t>
            </a:r>
            <a:endParaRPr lang="en-US" sz="1300" dirty="0"/>
          </a:p>
          <a:p>
            <a:pPr marL="177800" indent="-177800">
              <a:spcAft>
                <a:spcPts val="300"/>
              </a:spcAft>
              <a:buSzPct val="100000"/>
              <a:buChar char="•"/>
            </a:pPr>
            <a:r>
              <a:rPr lang="en-US" sz="1300" dirty="0">
                <a:solidFill>
                  <a:schemeClr val="tx2"/>
                </a:solidFill>
              </a:rPr>
              <a:t>Quanto venderemo il mese prossimo?</a:t>
            </a:r>
            <a:endParaRPr lang="en-US" sz="1300" dirty="0"/>
          </a:p>
          <a:p>
            <a:pPr marL="177800" indent="-177800">
              <a:spcAft>
                <a:spcPts val="300"/>
              </a:spcAft>
              <a:buSzPct val="100000"/>
              <a:buChar char="•"/>
            </a:pPr>
            <a:r>
              <a:rPr lang="en-US" sz="1300" dirty="0">
                <a:solidFill>
                  <a:schemeClr val="tx2"/>
                </a:solidFill>
              </a:rPr>
              <a:t>Questo cliente rischia di abbandonarci?</a:t>
            </a:r>
            <a:endParaRPr lang="en-US" sz="1300" dirty="0"/>
          </a:p>
        </p:txBody>
      </p:sp>
      <p:sp>
        <p:nvSpPr>
          <p:cNvPr id="9" name="freccia"/>
          <p:cNvSpPr/>
          <p:nvPr/>
        </p:nvSpPr>
        <p:spPr>
          <a:xfrm>
            <a:off x="4526280" y="2651760"/>
            <a:ext cx="502920" cy="292608"/>
          </a:xfrm>
          <a:prstGeom prst="rightArrow">
            <a:avLst/>
          </a:prstGeom>
          <a:solidFill>
            <a:schemeClr val="accent1"/>
          </a:solidFill>
          <a:ln/>
        </p:spPr>
      </p:sp>
      <p:sp>
        <p:nvSpPr>
          <p:cNvPr id="10" name="scheda AI che genera"/>
          <p:cNvSpPr/>
          <p:nvPr/>
        </p:nvSpPr>
        <p:spPr>
          <a:xfrm>
            <a:off x="5166360" y="1097280"/>
            <a:ext cx="3520440" cy="3429000"/>
          </a:xfrm>
          <a:prstGeom prst="roundRect">
            <a:avLst>
              <a:gd name="adj" fmla="val 2133"/>
            </a:avLst>
          </a:prstGeom>
          <a:solidFill>
            <a:schemeClr val="accent6"/>
          </a:solidFill>
          <a:ln/>
        </p:spPr>
      </p:sp>
      <p:sp>
        <p:nvSpPr>
          <p:cNvPr id="11" name="cerchio FiEdit3"/>
          <p:cNvSpPr/>
          <p:nvPr/>
        </p:nvSpPr>
        <p:spPr>
          <a:xfrm>
            <a:off x="5349240" y="1280160"/>
            <a:ext cx="457200" cy="457200"/>
          </a:xfrm>
          <a:prstGeom prst="ellipse">
            <a:avLst/>
          </a:prstGeom>
          <a:solidFill>
            <a:schemeClr val="accent1"/>
          </a:solidFill>
          <a:ln/>
        </p:spPr>
      </p:sp>
      <p:pic>
        <p:nvPicPr>
          <p:cNvPr id="12" name="Image 1" descr="FiEdit3">    </p:cNvPr>
          <p:cNvPicPr>
            <a:picLocks noChangeAspect="1"/>
          </p:cNvPicPr>
          <p:nvPr/>
        </p:nvPicPr>
        <p:blipFill>
          <a:blip r:embed="rId2"/>
          <a:stretch>
            <a:fillRect/>
          </a:stretch>
        </p:blipFill>
        <p:spPr>
          <a:xfrm>
            <a:off x="5463540" y="1394460"/>
            <a:ext cx="228600" cy="228600"/>
          </a:xfrm>
          <a:prstGeom prst="rect">
            <a:avLst/>
          </a:prstGeom>
        </p:spPr>
      </p:pic>
      <p:sp>
        <p:nvSpPr>
          <p:cNvPr id="13" name="Text 8"/>
          <p:cNvSpPr txBox="1"/>
          <p:nvPr/>
        </p:nvSpPr>
        <p:spPr>
          <a:xfrm>
            <a:off x="5349240" y="1847088"/>
            <a:ext cx="3154680" cy="347472"/>
          </a:xfrm>
          <a:prstGeom prst="rect">
            <a:avLst/>
          </a:prstGeom>
          <a:noFill/>
          <a:ln/>
        </p:spPr>
        <p:txBody>
          <a:bodyPr wrap="square" lIns="0" tIns="0" rIns="0" bIns="0" rtlCol="0" anchor="t"/>
          <a:lstStyle/>
          <a:p>
            <a:pPr indent="0" marL="0">
              <a:buNone/>
            </a:pPr>
            <a:r>
              <a:rPr lang="en-US" sz="1600" b="1" dirty="0">
                <a:solidFill>
                  <a:schemeClr val="tx1"/>
                </a:solidFill>
              </a:rPr>
              <a:t>AI che genera</a:t>
            </a:r>
            <a:endParaRPr lang="en-US" sz="1600" dirty="0"/>
          </a:p>
        </p:txBody>
      </p:sp>
      <p:sp>
        <p:nvSpPr>
          <p:cNvPr id="14" name="Text 9"/>
          <p:cNvSpPr txBox="1"/>
          <p:nvPr/>
        </p:nvSpPr>
        <p:spPr>
          <a:xfrm>
            <a:off x="5349240" y="2231136"/>
            <a:ext cx="3154680" cy="2185416"/>
          </a:xfrm>
          <a:prstGeom prst="rect">
            <a:avLst/>
          </a:prstGeom>
          <a:noFill/>
          <a:ln/>
        </p:spPr>
        <p:txBody>
          <a:bodyPr wrap="square" lIns="0" tIns="0" rIns="0" bIns="0" rtlCol="0" anchor="t"/>
          <a:lstStyle/>
          <a:p>
            <a:pPr indent="0" marL="0">
              <a:spcAft>
                <a:spcPts val="800"/>
              </a:spcAft>
              <a:buNone/>
            </a:pPr>
            <a:r>
              <a:rPr lang="en-US" sz="1300" b="1" dirty="0">
                <a:solidFill>
                  <a:schemeClr val="tx2"/>
                </a:solidFill>
              </a:rPr>
              <a:t>Output: un contenuto nuovo</a:t>
            </a:r>
            <a:endParaRPr lang="en-US" sz="1300" dirty="0"/>
          </a:p>
          <a:p>
            <a:pPr marL="177800" indent="-177800">
              <a:spcAft>
                <a:spcPts val="300"/>
              </a:spcAft>
              <a:buSzPct val="100000"/>
              <a:buChar char="•"/>
            </a:pPr>
            <a:r>
              <a:rPr lang="en-US" sz="1300" dirty="0">
                <a:solidFill>
                  <a:schemeClr val="tx2"/>
                </a:solidFill>
              </a:rPr>
              <a:t>Scrivi una bozza di risposta</a:t>
            </a:r>
            <a:endParaRPr lang="en-US" sz="1300" dirty="0"/>
          </a:p>
          <a:p>
            <a:pPr marL="177800" indent="-177800">
              <a:spcAft>
                <a:spcPts val="300"/>
              </a:spcAft>
              <a:buSzPct val="100000"/>
              <a:buChar char="•"/>
            </a:pPr>
            <a:r>
              <a:rPr lang="en-US" sz="1300" dirty="0">
                <a:solidFill>
                  <a:schemeClr val="tx2"/>
                </a:solidFill>
              </a:rPr>
              <a:t>Riassumi questo documento</a:t>
            </a:r>
            <a:endParaRPr lang="en-US" sz="1300" dirty="0"/>
          </a:p>
          <a:p>
            <a:pPr marL="177800" indent="-177800">
              <a:spcAft>
                <a:spcPts val="300"/>
              </a:spcAft>
              <a:buSzPct val="100000"/>
              <a:buChar char="•"/>
            </a:pPr>
            <a:r>
              <a:rPr lang="en-US" sz="1300" dirty="0">
                <a:solidFill>
                  <a:schemeClr val="tx2"/>
                </a:solidFill>
              </a:rPr>
              <a:t>Traduci questa offerta</a:t>
            </a:r>
            <a:endParaRPr lang="en-US" sz="1300" dirty="0"/>
          </a:p>
          <a:p>
            <a:pPr marL="177800" indent="-177800">
              <a:spcAft>
                <a:spcPts val="300"/>
              </a:spcAft>
              <a:buSzPct val="100000"/>
              <a:buChar char="•"/>
            </a:pPr>
            <a:r>
              <a:rPr lang="en-US" sz="1300" dirty="0">
                <a:solidFill>
                  <a:schemeClr val="tx2"/>
                </a:solidFill>
              </a:rPr>
              <a:t>Proponi tre titoli per l'articolo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Il linguaggio naturale diventa l'interfaccia</a:t>
            </a:r>
            <a:endParaRPr lang="en-US" sz="2600" dirty="0"/>
          </a:p>
        </p:txBody>
      </p:sp>
      <p:sp>
        <p:nvSpPr>
          <p:cNvPr id="4" name="Riga di comando"/>
          <p:cNvSpPr/>
          <p:nvPr/>
        </p:nvSpPr>
        <p:spPr>
          <a:xfrm>
            <a:off x="457200" y="1188720"/>
            <a:ext cx="1874520" cy="2377440"/>
          </a:xfrm>
          <a:prstGeom prst="roundRect">
            <a:avLst>
              <a:gd name="adj" fmla="val 3902"/>
            </a:avLst>
          </a:prstGeom>
          <a:solidFill>
            <a:schemeClr val="bg2"/>
          </a:solidFill>
          <a:ln/>
        </p:spPr>
      </p:sp>
      <p:sp>
        <p:nvSpPr>
          <p:cNvPr id="5" name="cerchio FiTerminal"/>
          <p:cNvSpPr/>
          <p:nvPr/>
        </p:nvSpPr>
        <p:spPr>
          <a:xfrm>
            <a:off x="1115568" y="1371600"/>
            <a:ext cx="566928" cy="566928"/>
          </a:xfrm>
          <a:prstGeom prst="ellipse">
            <a:avLst/>
          </a:prstGeom>
          <a:solidFill>
            <a:schemeClr val="accent1"/>
          </a:solidFill>
          <a:ln/>
        </p:spPr>
      </p:sp>
      <p:pic>
        <p:nvPicPr>
          <p:cNvPr id="6" name="Image 0" descr="FiTerminal">    </p:cNvPr>
          <p:cNvPicPr>
            <a:picLocks noChangeAspect="1"/>
          </p:cNvPicPr>
          <p:nvPr/>
        </p:nvPicPr>
        <p:blipFill>
          <a:blip r:embed="rId1"/>
          <a:stretch>
            <a:fillRect/>
          </a:stretch>
        </p:blipFill>
        <p:spPr>
          <a:xfrm>
            <a:off x="1257300" y="1513332"/>
            <a:ext cx="283464" cy="283464"/>
          </a:xfrm>
          <a:prstGeom prst="rect">
            <a:avLst/>
          </a:prstGeom>
        </p:spPr>
      </p:pic>
      <p:sp>
        <p:nvSpPr>
          <p:cNvPr id="7" name="Text 3"/>
          <p:cNvSpPr txBox="1"/>
          <p:nvPr/>
        </p:nvSpPr>
        <p:spPr>
          <a:xfrm>
            <a:off x="566928" y="2103120"/>
            <a:ext cx="1655064" cy="548640"/>
          </a:xfrm>
          <a:prstGeom prst="rect">
            <a:avLst/>
          </a:prstGeom>
          <a:noFill/>
          <a:ln/>
        </p:spPr>
        <p:txBody>
          <a:bodyPr wrap="square" lIns="0" tIns="0" rIns="0" bIns="0" rtlCol="0" anchor="ctr"/>
          <a:lstStyle/>
          <a:p>
            <a:pPr algn="ctr" indent="0" marL="0">
              <a:buNone/>
            </a:pPr>
            <a:r>
              <a:rPr lang="en-US" sz="1500" b="1" dirty="0">
                <a:solidFill>
                  <a:schemeClr val="tx1"/>
                </a:solidFill>
              </a:rPr>
              <a:t>Riga di comando</a:t>
            </a:r>
            <a:endParaRPr lang="en-US" sz="1500" dirty="0"/>
          </a:p>
        </p:txBody>
      </p:sp>
      <p:sp>
        <p:nvSpPr>
          <p:cNvPr id="8" name="Text 4"/>
          <p:cNvSpPr txBox="1"/>
          <p:nvPr/>
        </p:nvSpPr>
        <p:spPr>
          <a:xfrm>
            <a:off x="566928" y="2697480"/>
            <a:ext cx="1655064" cy="731520"/>
          </a:xfrm>
          <a:prstGeom prst="rect">
            <a:avLst/>
          </a:prstGeom>
          <a:noFill/>
          <a:ln/>
        </p:spPr>
        <p:txBody>
          <a:bodyPr wrap="square" lIns="0" tIns="0" rIns="0" bIns="0" rtlCol="0" anchor="t"/>
          <a:lstStyle/>
          <a:p>
            <a:pPr algn="ctr" indent="0" marL="0">
              <a:buNone/>
            </a:pPr>
            <a:r>
              <a:rPr lang="en-US" sz="1300" dirty="0">
                <a:solidFill>
                  <a:schemeClr val="tx2"/>
                </a:solidFill>
              </a:rPr>
              <a:t>Comandi precisi da memorizzare</a:t>
            </a:r>
            <a:endParaRPr lang="en-US" sz="1300" dirty="0"/>
          </a:p>
        </p:txBody>
      </p:sp>
      <p:sp>
        <p:nvSpPr>
          <p:cNvPr id="9" name="freccia"/>
          <p:cNvSpPr/>
          <p:nvPr/>
        </p:nvSpPr>
        <p:spPr>
          <a:xfrm>
            <a:off x="2350008" y="2240280"/>
            <a:ext cx="219456" cy="292608"/>
          </a:xfrm>
          <a:prstGeom prst="rightArrow">
            <a:avLst/>
          </a:prstGeom>
          <a:solidFill>
            <a:schemeClr val="accent2"/>
          </a:solidFill>
          <a:ln/>
        </p:spPr>
      </p:sp>
      <p:sp>
        <p:nvSpPr>
          <p:cNvPr id="10" name="Interfaccia grafica"/>
          <p:cNvSpPr/>
          <p:nvPr/>
        </p:nvSpPr>
        <p:spPr>
          <a:xfrm>
            <a:off x="2587752" y="1188720"/>
            <a:ext cx="1874520" cy="2377440"/>
          </a:xfrm>
          <a:prstGeom prst="roundRect">
            <a:avLst>
              <a:gd name="adj" fmla="val 3902"/>
            </a:avLst>
          </a:prstGeom>
          <a:solidFill>
            <a:schemeClr val="bg2"/>
          </a:solidFill>
          <a:ln/>
        </p:spPr>
      </p:sp>
      <p:sp>
        <p:nvSpPr>
          <p:cNvPr id="11" name="cerchio FiMonitor"/>
          <p:cNvSpPr/>
          <p:nvPr/>
        </p:nvSpPr>
        <p:spPr>
          <a:xfrm>
            <a:off x="3246120" y="1371600"/>
            <a:ext cx="566928" cy="566928"/>
          </a:xfrm>
          <a:prstGeom prst="ellipse">
            <a:avLst/>
          </a:prstGeom>
          <a:solidFill>
            <a:schemeClr val="accent1"/>
          </a:solidFill>
          <a:ln/>
        </p:spPr>
      </p:sp>
      <p:pic>
        <p:nvPicPr>
          <p:cNvPr id="12" name="Image 1" descr="FiMonitor">    </p:cNvPr>
          <p:cNvPicPr>
            <a:picLocks noChangeAspect="1"/>
          </p:cNvPicPr>
          <p:nvPr/>
        </p:nvPicPr>
        <p:blipFill>
          <a:blip r:embed="rId2"/>
          <a:stretch>
            <a:fillRect/>
          </a:stretch>
        </p:blipFill>
        <p:spPr>
          <a:xfrm>
            <a:off x="3387852" y="1513332"/>
            <a:ext cx="283464" cy="283464"/>
          </a:xfrm>
          <a:prstGeom prst="rect">
            <a:avLst/>
          </a:prstGeom>
        </p:spPr>
      </p:pic>
      <p:sp>
        <p:nvSpPr>
          <p:cNvPr id="13" name="Text 8"/>
          <p:cNvSpPr txBox="1"/>
          <p:nvPr/>
        </p:nvSpPr>
        <p:spPr>
          <a:xfrm>
            <a:off x="2697480" y="2103120"/>
            <a:ext cx="1655064" cy="548640"/>
          </a:xfrm>
          <a:prstGeom prst="rect">
            <a:avLst/>
          </a:prstGeom>
          <a:noFill/>
          <a:ln/>
        </p:spPr>
        <p:txBody>
          <a:bodyPr wrap="square" lIns="0" tIns="0" rIns="0" bIns="0" rtlCol="0" anchor="ctr"/>
          <a:lstStyle/>
          <a:p>
            <a:pPr algn="ctr" indent="0" marL="0">
              <a:buNone/>
            </a:pPr>
            <a:r>
              <a:rPr lang="en-US" sz="1500" b="1" dirty="0">
                <a:solidFill>
                  <a:schemeClr val="tx1"/>
                </a:solidFill>
              </a:rPr>
              <a:t>Interfaccia grafica</a:t>
            </a:r>
            <a:endParaRPr lang="en-US" sz="1500" dirty="0"/>
          </a:p>
        </p:txBody>
      </p:sp>
      <p:sp>
        <p:nvSpPr>
          <p:cNvPr id="14" name="Text 9"/>
          <p:cNvSpPr txBox="1"/>
          <p:nvPr/>
        </p:nvSpPr>
        <p:spPr>
          <a:xfrm>
            <a:off x="2697480" y="2697480"/>
            <a:ext cx="1655064" cy="731520"/>
          </a:xfrm>
          <a:prstGeom prst="rect">
            <a:avLst/>
          </a:prstGeom>
          <a:noFill/>
          <a:ln/>
        </p:spPr>
        <p:txBody>
          <a:bodyPr wrap="square" lIns="0" tIns="0" rIns="0" bIns="0" rtlCol="0" anchor="t"/>
          <a:lstStyle/>
          <a:p>
            <a:pPr algn="ctr" indent="0" marL="0">
              <a:buNone/>
            </a:pPr>
            <a:r>
              <a:rPr lang="en-US" sz="1300" dirty="0">
                <a:solidFill>
                  <a:schemeClr val="tx2"/>
                </a:solidFill>
              </a:rPr>
              <a:t>Finestre, icone, mouse</a:t>
            </a:r>
            <a:endParaRPr lang="en-US" sz="1300" dirty="0"/>
          </a:p>
        </p:txBody>
      </p:sp>
      <p:sp>
        <p:nvSpPr>
          <p:cNvPr id="15" name="freccia"/>
          <p:cNvSpPr/>
          <p:nvPr/>
        </p:nvSpPr>
        <p:spPr>
          <a:xfrm>
            <a:off x="4480560" y="2240280"/>
            <a:ext cx="219456" cy="292608"/>
          </a:xfrm>
          <a:prstGeom prst="rightArrow">
            <a:avLst/>
          </a:prstGeom>
          <a:solidFill>
            <a:schemeClr val="accent2"/>
          </a:solidFill>
          <a:ln/>
        </p:spPr>
      </p:sp>
      <p:sp>
        <p:nvSpPr>
          <p:cNvPr id="16" name="Touch e app"/>
          <p:cNvSpPr/>
          <p:nvPr/>
        </p:nvSpPr>
        <p:spPr>
          <a:xfrm>
            <a:off x="4718304" y="1188720"/>
            <a:ext cx="1874520" cy="2377440"/>
          </a:xfrm>
          <a:prstGeom prst="roundRect">
            <a:avLst>
              <a:gd name="adj" fmla="val 3902"/>
            </a:avLst>
          </a:prstGeom>
          <a:solidFill>
            <a:schemeClr val="bg2"/>
          </a:solidFill>
          <a:ln/>
        </p:spPr>
      </p:sp>
      <p:sp>
        <p:nvSpPr>
          <p:cNvPr id="17" name="cerchio FiSmartphone"/>
          <p:cNvSpPr/>
          <p:nvPr/>
        </p:nvSpPr>
        <p:spPr>
          <a:xfrm>
            <a:off x="5376672" y="1371600"/>
            <a:ext cx="566928" cy="566928"/>
          </a:xfrm>
          <a:prstGeom prst="ellipse">
            <a:avLst/>
          </a:prstGeom>
          <a:solidFill>
            <a:schemeClr val="accent1"/>
          </a:solidFill>
          <a:ln/>
        </p:spPr>
      </p:sp>
      <p:pic>
        <p:nvPicPr>
          <p:cNvPr id="18" name="Image 2" descr="FiSmartphone">    </p:cNvPr>
          <p:cNvPicPr>
            <a:picLocks noChangeAspect="1"/>
          </p:cNvPicPr>
          <p:nvPr/>
        </p:nvPicPr>
        <p:blipFill>
          <a:blip r:embed="rId3"/>
          <a:stretch>
            <a:fillRect/>
          </a:stretch>
        </p:blipFill>
        <p:spPr>
          <a:xfrm>
            <a:off x="5518404" y="1513332"/>
            <a:ext cx="283464" cy="283464"/>
          </a:xfrm>
          <a:prstGeom prst="rect">
            <a:avLst/>
          </a:prstGeom>
        </p:spPr>
      </p:pic>
      <p:sp>
        <p:nvSpPr>
          <p:cNvPr id="19" name="Text 13"/>
          <p:cNvSpPr txBox="1"/>
          <p:nvPr/>
        </p:nvSpPr>
        <p:spPr>
          <a:xfrm>
            <a:off x="4828032" y="2103120"/>
            <a:ext cx="1655064" cy="548640"/>
          </a:xfrm>
          <a:prstGeom prst="rect">
            <a:avLst/>
          </a:prstGeom>
          <a:noFill/>
          <a:ln/>
        </p:spPr>
        <p:txBody>
          <a:bodyPr wrap="square" lIns="0" tIns="0" rIns="0" bIns="0" rtlCol="0" anchor="ctr"/>
          <a:lstStyle/>
          <a:p>
            <a:pPr algn="ctr" indent="0" marL="0">
              <a:buNone/>
            </a:pPr>
            <a:r>
              <a:rPr lang="en-US" sz="1500" b="1" dirty="0">
                <a:solidFill>
                  <a:schemeClr val="tx1"/>
                </a:solidFill>
              </a:rPr>
              <a:t>Touch e app</a:t>
            </a:r>
            <a:endParaRPr lang="en-US" sz="1500" dirty="0"/>
          </a:p>
        </p:txBody>
      </p:sp>
      <p:sp>
        <p:nvSpPr>
          <p:cNvPr id="20" name="Text 14"/>
          <p:cNvSpPr txBox="1"/>
          <p:nvPr/>
        </p:nvSpPr>
        <p:spPr>
          <a:xfrm>
            <a:off x="4828032" y="2697480"/>
            <a:ext cx="1655064" cy="731520"/>
          </a:xfrm>
          <a:prstGeom prst="rect">
            <a:avLst/>
          </a:prstGeom>
          <a:noFill/>
          <a:ln/>
        </p:spPr>
        <p:txBody>
          <a:bodyPr wrap="square" lIns="0" tIns="0" rIns="0" bIns="0" rtlCol="0" anchor="t"/>
          <a:lstStyle/>
          <a:p>
            <a:pPr algn="ctr" indent="0" marL="0">
              <a:buNone/>
            </a:pPr>
            <a:r>
              <a:rPr lang="en-US" sz="1300" dirty="0">
                <a:solidFill>
                  <a:schemeClr val="tx2"/>
                </a:solidFill>
              </a:rPr>
              <a:t>Gesti intuitivi, sempre con sé</a:t>
            </a:r>
            <a:endParaRPr lang="en-US" sz="1300" dirty="0"/>
          </a:p>
        </p:txBody>
      </p:sp>
      <p:sp>
        <p:nvSpPr>
          <p:cNvPr id="21" name="freccia"/>
          <p:cNvSpPr/>
          <p:nvPr/>
        </p:nvSpPr>
        <p:spPr>
          <a:xfrm>
            <a:off x="6611112" y="2240280"/>
            <a:ext cx="219456" cy="292608"/>
          </a:xfrm>
          <a:prstGeom prst="rightArrow">
            <a:avLst/>
          </a:prstGeom>
          <a:solidFill>
            <a:schemeClr val="accent2"/>
          </a:solidFill>
          <a:ln/>
        </p:spPr>
      </p:sp>
      <p:sp>
        <p:nvSpPr>
          <p:cNvPr id="22" name="Linguaggio naturale"/>
          <p:cNvSpPr/>
          <p:nvPr/>
        </p:nvSpPr>
        <p:spPr>
          <a:xfrm>
            <a:off x="6848856" y="1188720"/>
            <a:ext cx="1874520" cy="2377440"/>
          </a:xfrm>
          <a:prstGeom prst="roundRect">
            <a:avLst>
              <a:gd name="adj" fmla="val 3902"/>
            </a:avLst>
          </a:prstGeom>
          <a:solidFill>
            <a:schemeClr val="accent1"/>
          </a:solidFill>
          <a:ln/>
        </p:spPr>
      </p:sp>
      <p:sp>
        <p:nvSpPr>
          <p:cNvPr id="23" name="cerchio FiMessageCircle"/>
          <p:cNvSpPr/>
          <p:nvPr/>
        </p:nvSpPr>
        <p:spPr>
          <a:xfrm>
            <a:off x="7507224" y="1371600"/>
            <a:ext cx="566928" cy="566928"/>
          </a:xfrm>
          <a:prstGeom prst="ellipse">
            <a:avLst/>
          </a:prstGeom>
          <a:solidFill>
            <a:schemeClr val="bg1"/>
          </a:solidFill>
          <a:ln/>
        </p:spPr>
      </p:sp>
      <p:pic>
        <p:nvPicPr>
          <p:cNvPr id="24" name="Image 3" descr="FiMessageCircle">    </p:cNvPr>
          <p:cNvPicPr>
            <a:picLocks noChangeAspect="1"/>
          </p:cNvPicPr>
          <p:nvPr/>
        </p:nvPicPr>
        <p:blipFill>
          <a:blip r:embed="rId4"/>
          <a:stretch>
            <a:fillRect/>
          </a:stretch>
        </p:blipFill>
        <p:spPr>
          <a:xfrm>
            <a:off x="7648956" y="1513332"/>
            <a:ext cx="283464" cy="283464"/>
          </a:xfrm>
          <a:prstGeom prst="rect">
            <a:avLst/>
          </a:prstGeom>
        </p:spPr>
      </p:pic>
      <p:sp>
        <p:nvSpPr>
          <p:cNvPr id="25" name="Text 18"/>
          <p:cNvSpPr txBox="1"/>
          <p:nvPr/>
        </p:nvSpPr>
        <p:spPr>
          <a:xfrm>
            <a:off x="6958584" y="2103120"/>
            <a:ext cx="1655064" cy="548640"/>
          </a:xfrm>
          <a:prstGeom prst="rect">
            <a:avLst/>
          </a:prstGeom>
          <a:noFill/>
          <a:ln/>
        </p:spPr>
        <p:txBody>
          <a:bodyPr wrap="square" lIns="0" tIns="0" rIns="0" bIns="0" rtlCol="0" anchor="ctr"/>
          <a:lstStyle/>
          <a:p>
            <a:pPr algn="ctr" indent="0" marL="0">
              <a:buNone/>
            </a:pPr>
            <a:r>
              <a:rPr lang="en-US" sz="1500" b="1" dirty="0">
                <a:solidFill>
                  <a:schemeClr val="bg1"/>
                </a:solidFill>
              </a:rPr>
              <a:t>Linguaggio naturale</a:t>
            </a:r>
            <a:endParaRPr lang="en-US" sz="1500" dirty="0"/>
          </a:p>
        </p:txBody>
      </p:sp>
      <p:sp>
        <p:nvSpPr>
          <p:cNvPr id="26" name="Text 19"/>
          <p:cNvSpPr txBox="1"/>
          <p:nvPr/>
        </p:nvSpPr>
        <p:spPr>
          <a:xfrm>
            <a:off x="6958584" y="2697480"/>
            <a:ext cx="1655064" cy="731520"/>
          </a:xfrm>
          <a:prstGeom prst="rect">
            <a:avLst/>
          </a:prstGeom>
          <a:noFill/>
          <a:ln/>
        </p:spPr>
        <p:txBody>
          <a:bodyPr wrap="square" lIns="0" tIns="0" rIns="0" bIns="0" rtlCol="0" anchor="t"/>
          <a:lstStyle/>
          <a:p>
            <a:pPr algn="ctr" indent="0" marL="0">
              <a:buNone/>
            </a:pPr>
            <a:r>
              <a:rPr lang="en-US" sz="1300" dirty="0">
                <a:solidFill>
                  <a:schemeClr val="bg1"/>
                </a:solidFill>
              </a:rPr>
              <a:t>Chiediamo con parole nostre</a:t>
            </a:r>
            <a:endParaRPr lang="en-US" sz="1300" dirty="0"/>
          </a:p>
        </p:txBody>
      </p:sp>
      <p:sp>
        <p:nvSpPr>
          <p:cNvPr id="27" name="Text 20"/>
          <p:cNvSpPr txBox="1"/>
          <p:nvPr/>
        </p:nvSpPr>
        <p:spPr>
          <a:xfrm>
            <a:off x="457200" y="3886200"/>
            <a:ext cx="8229600" cy="457200"/>
          </a:xfrm>
          <a:prstGeom prst="rect">
            <a:avLst/>
          </a:prstGeom>
          <a:noFill/>
          <a:ln/>
        </p:spPr>
        <p:txBody>
          <a:bodyPr wrap="square" lIns="0" tIns="0" rIns="0" bIns="0" rtlCol="0" anchor="t"/>
          <a:lstStyle/>
          <a:p>
            <a:pPr indent="0" marL="0">
              <a:buNone/>
            </a:pPr>
            <a:r>
              <a:rPr lang="en-US" sz="1400" i="1" dirty="0">
                <a:solidFill>
                  <a:schemeClr val="tx1"/>
                </a:solidFill>
              </a:rPr>
              <a:t>Scrivere una richiesta è facile; scriverne una efficace è una competenza che si impara.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 diffusione di chatbot e assistenti AI</a:t>
            </a:r>
            <a:endParaRPr lang="en-US" sz="2600" dirty="0"/>
          </a:p>
        </p:txBody>
      </p:sp>
      <p:sp>
        <p:nvSpPr>
          <p:cNvPr id="4" name="callout novembre 2022"/>
          <p:cNvSpPr/>
          <p:nvPr/>
        </p:nvSpPr>
        <p:spPr>
          <a:xfrm>
            <a:off x="457200" y="1097280"/>
            <a:ext cx="3108960" cy="3429000"/>
          </a:xfrm>
          <a:prstGeom prst="roundRect">
            <a:avLst>
              <a:gd name="adj" fmla="val 2353"/>
            </a:avLst>
          </a:prstGeom>
          <a:solidFill>
            <a:schemeClr val="tx1"/>
          </a:solidFill>
          <a:ln/>
        </p:spPr>
      </p:sp>
      <p:sp>
        <p:nvSpPr>
          <p:cNvPr id="5" name="Text 2"/>
          <p:cNvSpPr txBox="1"/>
          <p:nvPr/>
        </p:nvSpPr>
        <p:spPr>
          <a:xfrm>
            <a:off x="685800" y="1325880"/>
            <a:ext cx="2743200" cy="548640"/>
          </a:xfrm>
          <a:prstGeom prst="rect">
            <a:avLst/>
          </a:prstGeom>
          <a:noFill/>
          <a:ln/>
        </p:spPr>
        <p:txBody>
          <a:bodyPr wrap="square" lIns="0" tIns="0" rIns="0" bIns="0" rtlCol="0" anchor="t"/>
          <a:lstStyle/>
          <a:p>
            <a:pPr indent="0" marL="0">
              <a:buNone/>
            </a:pPr>
            <a:r>
              <a:rPr lang="en-US" sz="2800" b="1" dirty="0">
                <a:solidFill>
                  <a:schemeClr val="accent1"/>
                </a:solidFill>
              </a:rPr>
              <a:t>Novembre 2022</a:t>
            </a:r>
            <a:endParaRPr lang="en-US" sz="2800" dirty="0"/>
          </a:p>
        </p:txBody>
      </p:sp>
      <p:sp>
        <p:nvSpPr>
          <p:cNvPr id="6" name="Text 3"/>
          <p:cNvSpPr txBox="1"/>
          <p:nvPr/>
        </p:nvSpPr>
        <p:spPr>
          <a:xfrm>
            <a:off x="685800" y="1965960"/>
            <a:ext cx="2697480" cy="2103120"/>
          </a:xfrm>
          <a:prstGeom prst="rect">
            <a:avLst/>
          </a:prstGeom>
          <a:noFill/>
          <a:ln/>
        </p:spPr>
        <p:txBody>
          <a:bodyPr wrap="square" lIns="0" tIns="0" rIns="0" bIns="0" rtlCol="0" anchor="t"/>
          <a:lstStyle/>
          <a:p>
            <a:pPr indent="0" marL="0">
              <a:buNone/>
            </a:pPr>
            <a:r>
              <a:rPr lang="en-US" sz="1400" dirty="0">
                <a:solidFill>
                  <a:schemeClr val="bg1"/>
                </a:solidFill>
              </a:rPr>
              <a:t>Il lancio pubblico di ChatGPT porta l'AI generativa a un pubblico di massa.</a:t>
            </a:r>
            <a:endParaRPr lang="en-US" sz="1400" dirty="0"/>
          </a:p>
          <a:p>
            <a:pPr indent="0" marL="0">
              <a:buNone/>
            </a:pPr>
            <a:endParaRPr lang="en-US" sz="1400" dirty="0"/>
          </a:p>
          <a:p>
            <a:pPr indent="0" marL="0">
              <a:buNone/>
            </a:pPr>
            <a:r>
              <a:rPr lang="en-US" sz="1400" dirty="0">
                <a:solidFill>
                  <a:schemeClr val="bg1"/>
                </a:solidFill>
              </a:rPr>
              <a:t>Secondo stime dell'epoca, circa 100 milioni di utenti in due mesi.</a:t>
            </a:r>
            <a:endParaRPr lang="en-US" sz="1400" dirty="0"/>
          </a:p>
        </p:txBody>
      </p:sp>
      <p:sp>
        <p:nvSpPr>
          <p:cNvPr id="7" name="Text 4"/>
          <p:cNvSpPr txBox="1"/>
          <p:nvPr/>
        </p:nvSpPr>
        <p:spPr>
          <a:xfrm>
            <a:off x="685800" y="4114800"/>
            <a:ext cx="2743200" cy="274320"/>
          </a:xfrm>
          <a:prstGeom prst="rect">
            <a:avLst/>
          </a:prstGeom>
          <a:noFill/>
          <a:ln/>
        </p:spPr>
        <p:txBody>
          <a:bodyPr wrap="square" lIns="0" tIns="0" rIns="0" bIns="0" rtlCol="0" anchor="t"/>
          <a:lstStyle/>
          <a:p>
            <a:pPr indent="0" marL="0">
              <a:buNone/>
            </a:pPr>
            <a:r>
              <a:rPr lang="en-US" sz="1000" dirty="0">
                <a:solidFill>
                  <a:schemeClr val="accent3"/>
                </a:solidFill>
              </a:rPr>
              <a:t>Fonte: stima UBS riportata da Reuters, 2023</a:t>
            </a:r>
            <a:endParaRPr lang="en-US" sz="1000" dirty="0"/>
          </a:p>
        </p:txBody>
      </p:sp>
      <p:sp>
        <p:nvSpPr>
          <p:cNvPr id="8" name="Text 5"/>
          <p:cNvSpPr txBox="1"/>
          <p:nvPr/>
        </p:nvSpPr>
        <p:spPr>
          <a:xfrm>
            <a:off x="3840480" y="1097280"/>
            <a:ext cx="4846320" cy="320040"/>
          </a:xfrm>
          <a:prstGeom prst="rect">
            <a:avLst/>
          </a:prstGeom>
          <a:noFill/>
          <a:ln/>
        </p:spPr>
        <p:txBody>
          <a:bodyPr wrap="square" lIns="0" tIns="0" rIns="0" bIns="0" rtlCol="0" anchor="t"/>
          <a:lstStyle/>
          <a:p>
            <a:pPr indent="0" marL="0">
              <a:buNone/>
            </a:pPr>
            <a:r>
              <a:rPr lang="en-US" sz="1500" b="1" dirty="0">
                <a:solidFill>
                  <a:schemeClr val="tx1"/>
                </a:solidFill>
              </a:rPr>
              <a:t>Tre forme in cui l'AI generativa arriva a noi</a:t>
            </a:r>
            <a:endParaRPr lang="en-US" sz="1500" dirty="0"/>
          </a:p>
        </p:txBody>
      </p:sp>
      <p:sp>
        <p:nvSpPr>
          <p:cNvPr id="9" name="cerchio FiMessageSquare"/>
          <p:cNvSpPr/>
          <p:nvPr/>
        </p:nvSpPr>
        <p:spPr>
          <a:xfrm>
            <a:off x="3840480" y="1554480"/>
            <a:ext cx="502920" cy="502920"/>
          </a:xfrm>
          <a:prstGeom prst="ellipse">
            <a:avLst/>
          </a:prstGeom>
          <a:solidFill>
            <a:schemeClr val="accent1"/>
          </a:solidFill>
          <a:ln/>
        </p:spPr>
      </p:sp>
      <p:pic>
        <p:nvPicPr>
          <p:cNvPr id="10" name="Image 0" descr="FiMessageSquare">    </p:cNvPr>
          <p:cNvPicPr>
            <a:picLocks noChangeAspect="1"/>
          </p:cNvPicPr>
          <p:nvPr/>
        </p:nvPicPr>
        <p:blipFill>
          <a:blip r:embed="rId1"/>
          <a:stretch>
            <a:fillRect/>
          </a:stretch>
        </p:blipFill>
        <p:spPr>
          <a:xfrm>
            <a:off x="3966210" y="1680210"/>
            <a:ext cx="251460" cy="251460"/>
          </a:xfrm>
          <a:prstGeom prst="rect">
            <a:avLst/>
          </a:prstGeom>
        </p:spPr>
      </p:pic>
      <p:sp>
        <p:nvSpPr>
          <p:cNvPr id="11" name="Text 7"/>
          <p:cNvSpPr txBox="1"/>
          <p:nvPr/>
        </p:nvSpPr>
        <p:spPr>
          <a:xfrm>
            <a:off x="4526280" y="1527048"/>
            <a:ext cx="4160520" cy="292608"/>
          </a:xfrm>
          <a:prstGeom prst="rect">
            <a:avLst/>
          </a:prstGeom>
          <a:noFill/>
          <a:ln/>
        </p:spPr>
        <p:txBody>
          <a:bodyPr wrap="square" lIns="0" tIns="0" rIns="0" bIns="0" rtlCol="0" anchor="t"/>
          <a:lstStyle/>
          <a:p>
            <a:pPr indent="0" marL="0">
              <a:buNone/>
            </a:pPr>
            <a:r>
              <a:rPr lang="en-US" sz="1500" b="1" dirty="0">
                <a:solidFill>
                  <a:schemeClr val="tx1"/>
                </a:solidFill>
              </a:rPr>
              <a:t>Assistenti conversazionali</a:t>
            </a:r>
            <a:endParaRPr lang="en-US" sz="1500" dirty="0"/>
          </a:p>
        </p:txBody>
      </p:sp>
      <p:sp>
        <p:nvSpPr>
          <p:cNvPr id="12" name="Text 8"/>
          <p:cNvSpPr txBox="1"/>
          <p:nvPr/>
        </p:nvSpPr>
        <p:spPr>
          <a:xfrm>
            <a:off x="4526280" y="1828800"/>
            <a:ext cx="4160520" cy="548640"/>
          </a:xfrm>
          <a:prstGeom prst="rect">
            <a:avLst/>
          </a:prstGeom>
          <a:noFill/>
          <a:ln/>
        </p:spPr>
        <p:txBody>
          <a:bodyPr wrap="square" lIns="0" tIns="0" rIns="0" bIns="0" rtlCol="0" anchor="t"/>
          <a:lstStyle/>
          <a:p>
            <a:pPr indent="0" marL="0">
              <a:buNone/>
            </a:pPr>
            <a:r>
              <a:rPr lang="en-US" sz="1300" dirty="0">
                <a:solidFill>
                  <a:schemeClr val="tx2"/>
                </a:solidFill>
              </a:rPr>
              <a:t>Ci si rivolge direttamente al sistema con domande e richieste</a:t>
            </a:r>
            <a:endParaRPr lang="en-US" sz="1300" dirty="0"/>
          </a:p>
        </p:txBody>
      </p:sp>
      <p:sp>
        <p:nvSpPr>
          <p:cNvPr id="13" name="cerchio FiGrid"/>
          <p:cNvSpPr/>
          <p:nvPr/>
        </p:nvSpPr>
        <p:spPr>
          <a:xfrm>
            <a:off x="3840480" y="2560320"/>
            <a:ext cx="502920" cy="502920"/>
          </a:xfrm>
          <a:prstGeom prst="ellipse">
            <a:avLst/>
          </a:prstGeom>
          <a:solidFill>
            <a:schemeClr val="accent1"/>
          </a:solidFill>
          <a:ln/>
        </p:spPr>
      </p:sp>
      <p:pic>
        <p:nvPicPr>
          <p:cNvPr id="14" name="Image 1" descr="FiGrid">    </p:cNvPr>
          <p:cNvPicPr>
            <a:picLocks noChangeAspect="1"/>
          </p:cNvPicPr>
          <p:nvPr/>
        </p:nvPicPr>
        <p:blipFill>
          <a:blip r:embed="rId2"/>
          <a:stretch>
            <a:fillRect/>
          </a:stretch>
        </p:blipFill>
        <p:spPr>
          <a:xfrm>
            <a:off x="3966210" y="2686050"/>
            <a:ext cx="251460" cy="251460"/>
          </a:xfrm>
          <a:prstGeom prst="rect">
            <a:avLst/>
          </a:prstGeom>
        </p:spPr>
      </p:pic>
      <p:sp>
        <p:nvSpPr>
          <p:cNvPr id="15" name="Text 10"/>
          <p:cNvSpPr txBox="1"/>
          <p:nvPr/>
        </p:nvSpPr>
        <p:spPr>
          <a:xfrm>
            <a:off x="4526280" y="2532888"/>
            <a:ext cx="4160520" cy="292608"/>
          </a:xfrm>
          <a:prstGeom prst="rect">
            <a:avLst/>
          </a:prstGeom>
          <a:noFill/>
          <a:ln/>
        </p:spPr>
        <p:txBody>
          <a:bodyPr wrap="square" lIns="0" tIns="0" rIns="0" bIns="0" rtlCol="0" anchor="t"/>
          <a:lstStyle/>
          <a:p>
            <a:pPr indent="0" marL="0">
              <a:buNone/>
            </a:pPr>
            <a:r>
              <a:rPr lang="en-US" sz="1500" b="1" dirty="0">
                <a:solidFill>
                  <a:schemeClr val="tx1"/>
                </a:solidFill>
              </a:rPr>
              <a:t>Funzioni integrate</a:t>
            </a:r>
            <a:endParaRPr lang="en-US" sz="1500" dirty="0"/>
          </a:p>
        </p:txBody>
      </p:sp>
      <p:sp>
        <p:nvSpPr>
          <p:cNvPr id="16" name="Text 11"/>
          <p:cNvSpPr txBox="1"/>
          <p:nvPr/>
        </p:nvSpPr>
        <p:spPr>
          <a:xfrm>
            <a:off x="4526280" y="2834640"/>
            <a:ext cx="4160520" cy="548640"/>
          </a:xfrm>
          <a:prstGeom prst="rect">
            <a:avLst/>
          </a:prstGeom>
          <a:noFill/>
          <a:ln/>
        </p:spPr>
        <p:txBody>
          <a:bodyPr wrap="square" lIns="0" tIns="0" rIns="0" bIns="0" rtlCol="0" anchor="t"/>
          <a:lstStyle/>
          <a:p>
            <a:pPr indent="0" marL="0">
              <a:buNone/>
            </a:pPr>
            <a:r>
              <a:rPr lang="en-US" sz="1300" dirty="0">
                <a:solidFill>
                  <a:schemeClr val="tx2"/>
                </a:solidFill>
              </a:rPr>
              <a:t>L'AI compare dentro software già in uso: email, documenti, CRM</a:t>
            </a:r>
            <a:endParaRPr lang="en-US" sz="1300" dirty="0"/>
          </a:p>
        </p:txBody>
      </p:sp>
      <p:sp>
        <p:nvSpPr>
          <p:cNvPr id="17" name="cerchio FiLink"/>
          <p:cNvSpPr/>
          <p:nvPr/>
        </p:nvSpPr>
        <p:spPr>
          <a:xfrm>
            <a:off x="3840480" y="3566160"/>
            <a:ext cx="502920" cy="502920"/>
          </a:xfrm>
          <a:prstGeom prst="ellipse">
            <a:avLst/>
          </a:prstGeom>
          <a:solidFill>
            <a:schemeClr val="accent1"/>
          </a:solidFill>
          <a:ln/>
        </p:spPr>
      </p:sp>
      <p:pic>
        <p:nvPicPr>
          <p:cNvPr id="18" name="Image 2" descr="FiLink">    </p:cNvPr>
          <p:cNvPicPr>
            <a:picLocks noChangeAspect="1"/>
          </p:cNvPicPr>
          <p:nvPr/>
        </p:nvPicPr>
        <p:blipFill>
          <a:blip r:embed="rId3"/>
          <a:stretch>
            <a:fillRect/>
          </a:stretch>
        </p:blipFill>
        <p:spPr>
          <a:xfrm>
            <a:off x="3966210" y="3691890"/>
            <a:ext cx="251460" cy="251460"/>
          </a:xfrm>
          <a:prstGeom prst="rect">
            <a:avLst/>
          </a:prstGeom>
        </p:spPr>
      </p:pic>
      <p:sp>
        <p:nvSpPr>
          <p:cNvPr id="19" name="Text 13"/>
          <p:cNvSpPr txBox="1"/>
          <p:nvPr/>
        </p:nvSpPr>
        <p:spPr>
          <a:xfrm>
            <a:off x="4526280" y="3538728"/>
            <a:ext cx="4160520" cy="292608"/>
          </a:xfrm>
          <a:prstGeom prst="rect">
            <a:avLst/>
          </a:prstGeom>
          <a:noFill/>
          <a:ln/>
        </p:spPr>
        <p:txBody>
          <a:bodyPr wrap="square" lIns="0" tIns="0" rIns="0" bIns="0" rtlCol="0" anchor="t"/>
          <a:lstStyle/>
          <a:p>
            <a:pPr indent="0" marL="0">
              <a:buNone/>
            </a:pPr>
            <a:r>
              <a:rPr lang="en-US" sz="1500" b="1" dirty="0">
                <a:solidFill>
                  <a:schemeClr val="tx1"/>
                </a:solidFill>
              </a:rPr>
              <a:t>Servizi via API</a:t>
            </a:r>
            <a:endParaRPr lang="en-US" sz="1500" dirty="0"/>
          </a:p>
        </p:txBody>
      </p:sp>
      <p:sp>
        <p:nvSpPr>
          <p:cNvPr id="20" name="Text 14"/>
          <p:cNvSpPr txBox="1"/>
          <p:nvPr/>
        </p:nvSpPr>
        <p:spPr>
          <a:xfrm>
            <a:off x="4526280" y="3840480"/>
            <a:ext cx="4160520" cy="548640"/>
          </a:xfrm>
          <a:prstGeom prst="rect">
            <a:avLst/>
          </a:prstGeom>
          <a:noFill/>
          <a:ln/>
        </p:spPr>
        <p:txBody>
          <a:bodyPr wrap="square" lIns="0" tIns="0" rIns="0" bIns="0" rtlCol="0" anchor="t"/>
          <a:lstStyle/>
          <a:p>
            <a:pPr indent="0" marL="0">
              <a:buNone/>
            </a:pPr>
            <a:r>
              <a:rPr lang="en-US" sz="1300" dirty="0">
                <a:solidFill>
                  <a:schemeClr val="tx2"/>
                </a:solidFill>
              </a:rPr>
              <a:t>Le aziende incorporano i modelli nei propri sistemi e prodotti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può generare l'AI</a:t>
            </a:r>
            <a:endParaRPr lang="en-US" sz="2600" dirty="0"/>
          </a:p>
        </p:txBody>
      </p:sp>
      <p:sp>
        <p:nvSpPr>
          <p:cNvPr id="4" name="Testi"/>
          <p:cNvSpPr/>
          <p:nvPr/>
        </p:nvSpPr>
        <p:spPr>
          <a:xfrm>
            <a:off x="457200" y="1097280"/>
            <a:ext cx="2615184" cy="1417320"/>
          </a:xfrm>
          <a:prstGeom prst="roundRect">
            <a:avLst>
              <a:gd name="adj" fmla="val 5161"/>
            </a:avLst>
          </a:prstGeom>
          <a:solidFill>
            <a:schemeClr val="bg2"/>
          </a:solidFill>
          <a:ln/>
        </p:spPr>
      </p:sp>
      <p:sp>
        <p:nvSpPr>
          <p:cNvPr id="5" name="cerchio FiFileText"/>
          <p:cNvSpPr/>
          <p:nvPr/>
        </p:nvSpPr>
        <p:spPr>
          <a:xfrm>
            <a:off x="640080" y="1325880"/>
            <a:ext cx="548640" cy="548640"/>
          </a:xfrm>
          <a:prstGeom prst="ellipse">
            <a:avLst/>
          </a:prstGeom>
          <a:solidFill>
            <a:schemeClr val="accent1"/>
          </a:solidFill>
          <a:ln/>
        </p:spPr>
      </p:sp>
      <p:pic>
        <p:nvPicPr>
          <p:cNvPr id="6" name="Image 0" descr="FiFileText">    </p:cNvPr>
          <p:cNvPicPr>
            <a:picLocks noChangeAspect="1"/>
          </p:cNvPicPr>
          <p:nvPr/>
        </p:nvPicPr>
        <p:blipFill>
          <a:blip r:embed="rId1"/>
          <a:stretch>
            <a:fillRect/>
          </a:stretch>
        </p:blipFill>
        <p:spPr>
          <a:xfrm>
            <a:off x="777240" y="1463040"/>
            <a:ext cx="274320" cy="274320"/>
          </a:xfrm>
          <a:prstGeom prst="rect">
            <a:avLst/>
          </a:prstGeom>
        </p:spPr>
      </p:pic>
      <p:sp>
        <p:nvSpPr>
          <p:cNvPr id="7" name="Text 3"/>
          <p:cNvSpPr txBox="1"/>
          <p:nvPr/>
        </p:nvSpPr>
        <p:spPr>
          <a:xfrm>
            <a:off x="1325880" y="1325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Testi</a:t>
            </a:r>
            <a:endParaRPr lang="en-US" sz="1600" dirty="0"/>
          </a:p>
        </p:txBody>
      </p:sp>
      <p:sp>
        <p:nvSpPr>
          <p:cNvPr id="8" name="Text 4"/>
          <p:cNvSpPr txBox="1"/>
          <p:nvPr/>
        </p:nvSpPr>
        <p:spPr>
          <a:xfrm>
            <a:off x="1325880" y="1709928"/>
            <a:ext cx="1645920" cy="685800"/>
          </a:xfrm>
          <a:prstGeom prst="rect">
            <a:avLst/>
          </a:prstGeom>
          <a:noFill/>
          <a:ln/>
        </p:spPr>
        <p:txBody>
          <a:bodyPr wrap="square" lIns="0" tIns="0" rIns="0" bIns="0" rtlCol="0" anchor="t"/>
          <a:lstStyle/>
          <a:p>
            <a:pPr indent="0" marL="0">
              <a:buNone/>
            </a:pPr>
            <a:r>
              <a:rPr lang="en-US" sz="1300" dirty="0">
                <a:solidFill>
                  <a:schemeClr val="tx2"/>
                </a:solidFill>
              </a:rPr>
              <a:t>Email, report, sintesi, traduzioni</a:t>
            </a:r>
            <a:endParaRPr lang="en-US" sz="1300" dirty="0"/>
          </a:p>
        </p:txBody>
      </p:sp>
      <p:sp>
        <p:nvSpPr>
          <p:cNvPr id="9" name="Immagini"/>
          <p:cNvSpPr/>
          <p:nvPr/>
        </p:nvSpPr>
        <p:spPr>
          <a:xfrm>
            <a:off x="3264408" y="1097280"/>
            <a:ext cx="2615184" cy="1417320"/>
          </a:xfrm>
          <a:prstGeom prst="roundRect">
            <a:avLst>
              <a:gd name="adj" fmla="val 5161"/>
            </a:avLst>
          </a:prstGeom>
          <a:solidFill>
            <a:schemeClr val="bg2"/>
          </a:solidFill>
          <a:ln/>
        </p:spPr>
      </p:sp>
      <p:sp>
        <p:nvSpPr>
          <p:cNvPr id="10" name="cerchio FiImage"/>
          <p:cNvSpPr/>
          <p:nvPr/>
        </p:nvSpPr>
        <p:spPr>
          <a:xfrm>
            <a:off x="3447288" y="1325880"/>
            <a:ext cx="548640" cy="548640"/>
          </a:xfrm>
          <a:prstGeom prst="ellipse">
            <a:avLst/>
          </a:prstGeom>
          <a:solidFill>
            <a:schemeClr val="accent1"/>
          </a:solidFill>
          <a:ln/>
        </p:spPr>
      </p:sp>
      <p:pic>
        <p:nvPicPr>
          <p:cNvPr id="11" name="Image 1" descr="FiImage">    </p:cNvPr>
          <p:cNvPicPr>
            <a:picLocks noChangeAspect="1"/>
          </p:cNvPicPr>
          <p:nvPr/>
        </p:nvPicPr>
        <p:blipFill>
          <a:blip r:embed="rId2"/>
          <a:stretch>
            <a:fillRect/>
          </a:stretch>
        </p:blipFill>
        <p:spPr>
          <a:xfrm>
            <a:off x="3584448" y="1463040"/>
            <a:ext cx="274320" cy="274320"/>
          </a:xfrm>
          <a:prstGeom prst="rect">
            <a:avLst/>
          </a:prstGeom>
        </p:spPr>
      </p:pic>
      <p:sp>
        <p:nvSpPr>
          <p:cNvPr id="12" name="Text 7"/>
          <p:cNvSpPr txBox="1"/>
          <p:nvPr/>
        </p:nvSpPr>
        <p:spPr>
          <a:xfrm>
            <a:off x="4133088" y="1325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Immagini</a:t>
            </a:r>
            <a:endParaRPr lang="en-US" sz="1600" dirty="0"/>
          </a:p>
        </p:txBody>
      </p:sp>
      <p:sp>
        <p:nvSpPr>
          <p:cNvPr id="13" name="Text 8"/>
          <p:cNvSpPr txBox="1"/>
          <p:nvPr/>
        </p:nvSpPr>
        <p:spPr>
          <a:xfrm>
            <a:off x="4133088" y="1709928"/>
            <a:ext cx="1645920" cy="685800"/>
          </a:xfrm>
          <a:prstGeom prst="rect">
            <a:avLst/>
          </a:prstGeom>
          <a:noFill/>
          <a:ln/>
        </p:spPr>
        <p:txBody>
          <a:bodyPr wrap="square" lIns="0" tIns="0" rIns="0" bIns="0" rtlCol="0" anchor="t"/>
          <a:lstStyle/>
          <a:p>
            <a:pPr indent="0" marL="0">
              <a:buNone/>
            </a:pPr>
            <a:r>
              <a:rPr lang="en-US" sz="1300" dirty="0">
                <a:solidFill>
                  <a:schemeClr val="tx2"/>
                </a:solidFill>
              </a:rPr>
              <a:t>Illustrazioni e grafiche da una descrizione</a:t>
            </a:r>
            <a:endParaRPr lang="en-US" sz="1300" dirty="0"/>
          </a:p>
        </p:txBody>
      </p:sp>
      <p:sp>
        <p:nvSpPr>
          <p:cNvPr id="14" name="Codice"/>
          <p:cNvSpPr/>
          <p:nvPr/>
        </p:nvSpPr>
        <p:spPr>
          <a:xfrm>
            <a:off x="6071616" y="1097280"/>
            <a:ext cx="2615184" cy="1417320"/>
          </a:xfrm>
          <a:prstGeom prst="roundRect">
            <a:avLst>
              <a:gd name="adj" fmla="val 5161"/>
            </a:avLst>
          </a:prstGeom>
          <a:solidFill>
            <a:schemeClr val="bg2"/>
          </a:solidFill>
          <a:ln/>
        </p:spPr>
      </p:sp>
      <p:sp>
        <p:nvSpPr>
          <p:cNvPr id="15" name="cerchio FiCode"/>
          <p:cNvSpPr/>
          <p:nvPr/>
        </p:nvSpPr>
        <p:spPr>
          <a:xfrm>
            <a:off x="6254496" y="1325880"/>
            <a:ext cx="548640" cy="548640"/>
          </a:xfrm>
          <a:prstGeom prst="ellipse">
            <a:avLst/>
          </a:prstGeom>
          <a:solidFill>
            <a:schemeClr val="accent1"/>
          </a:solidFill>
          <a:ln/>
        </p:spPr>
      </p:sp>
      <p:pic>
        <p:nvPicPr>
          <p:cNvPr id="16" name="Image 2" descr="FiCode">    </p:cNvPr>
          <p:cNvPicPr>
            <a:picLocks noChangeAspect="1"/>
          </p:cNvPicPr>
          <p:nvPr/>
        </p:nvPicPr>
        <p:blipFill>
          <a:blip r:embed="rId3"/>
          <a:stretch>
            <a:fillRect/>
          </a:stretch>
        </p:blipFill>
        <p:spPr>
          <a:xfrm>
            <a:off x="6391656" y="1463040"/>
            <a:ext cx="274320" cy="274320"/>
          </a:xfrm>
          <a:prstGeom prst="rect">
            <a:avLst/>
          </a:prstGeom>
        </p:spPr>
      </p:pic>
      <p:sp>
        <p:nvSpPr>
          <p:cNvPr id="17" name="Text 11"/>
          <p:cNvSpPr txBox="1"/>
          <p:nvPr/>
        </p:nvSpPr>
        <p:spPr>
          <a:xfrm>
            <a:off x="6940296" y="13258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Codice</a:t>
            </a:r>
            <a:endParaRPr lang="en-US" sz="1600" dirty="0"/>
          </a:p>
        </p:txBody>
      </p:sp>
      <p:sp>
        <p:nvSpPr>
          <p:cNvPr id="18" name="Text 12"/>
          <p:cNvSpPr txBox="1"/>
          <p:nvPr/>
        </p:nvSpPr>
        <p:spPr>
          <a:xfrm>
            <a:off x="6940296" y="1709928"/>
            <a:ext cx="1645920" cy="685800"/>
          </a:xfrm>
          <a:prstGeom prst="rect">
            <a:avLst/>
          </a:prstGeom>
          <a:noFill/>
          <a:ln/>
        </p:spPr>
        <p:txBody>
          <a:bodyPr wrap="square" lIns="0" tIns="0" rIns="0" bIns="0" rtlCol="0" anchor="t"/>
          <a:lstStyle/>
          <a:p>
            <a:pPr indent="0" marL="0">
              <a:buNone/>
            </a:pPr>
            <a:r>
              <a:rPr lang="en-US" sz="1300" dirty="0">
                <a:solidFill>
                  <a:schemeClr val="tx2"/>
                </a:solidFill>
              </a:rPr>
              <a:t>Programmi, formule, script, query</a:t>
            </a:r>
            <a:endParaRPr lang="en-US" sz="1300" dirty="0"/>
          </a:p>
        </p:txBody>
      </p:sp>
      <p:sp>
        <p:nvSpPr>
          <p:cNvPr id="19" name="Audio e voce"/>
          <p:cNvSpPr/>
          <p:nvPr/>
        </p:nvSpPr>
        <p:spPr>
          <a:xfrm>
            <a:off x="457200" y="2697480"/>
            <a:ext cx="2615184" cy="1417320"/>
          </a:xfrm>
          <a:prstGeom prst="roundRect">
            <a:avLst>
              <a:gd name="adj" fmla="val 5161"/>
            </a:avLst>
          </a:prstGeom>
          <a:solidFill>
            <a:schemeClr val="bg2"/>
          </a:solidFill>
          <a:ln/>
        </p:spPr>
      </p:sp>
      <p:sp>
        <p:nvSpPr>
          <p:cNvPr id="20" name="cerchio FiMic"/>
          <p:cNvSpPr/>
          <p:nvPr/>
        </p:nvSpPr>
        <p:spPr>
          <a:xfrm>
            <a:off x="640080" y="2926080"/>
            <a:ext cx="548640" cy="548640"/>
          </a:xfrm>
          <a:prstGeom prst="ellipse">
            <a:avLst/>
          </a:prstGeom>
          <a:solidFill>
            <a:schemeClr val="accent1"/>
          </a:solidFill>
          <a:ln/>
        </p:spPr>
      </p:sp>
      <p:pic>
        <p:nvPicPr>
          <p:cNvPr id="21" name="Image 3" descr="FiMic">    </p:cNvPr>
          <p:cNvPicPr>
            <a:picLocks noChangeAspect="1"/>
          </p:cNvPicPr>
          <p:nvPr/>
        </p:nvPicPr>
        <p:blipFill>
          <a:blip r:embed="rId4"/>
          <a:stretch>
            <a:fillRect/>
          </a:stretch>
        </p:blipFill>
        <p:spPr>
          <a:xfrm>
            <a:off x="777240" y="3063240"/>
            <a:ext cx="274320" cy="274320"/>
          </a:xfrm>
          <a:prstGeom prst="rect">
            <a:avLst/>
          </a:prstGeom>
        </p:spPr>
      </p:pic>
      <p:sp>
        <p:nvSpPr>
          <p:cNvPr id="22" name="Text 15"/>
          <p:cNvSpPr txBox="1"/>
          <p:nvPr/>
        </p:nvSpPr>
        <p:spPr>
          <a:xfrm>
            <a:off x="1325880" y="29260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Audio e voce</a:t>
            </a:r>
            <a:endParaRPr lang="en-US" sz="1600" dirty="0"/>
          </a:p>
        </p:txBody>
      </p:sp>
      <p:sp>
        <p:nvSpPr>
          <p:cNvPr id="23" name="Text 16"/>
          <p:cNvSpPr txBox="1"/>
          <p:nvPr/>
        </p:nvSpPr>
        <p:spPr>
          <a:xfrm>
            <a:off x="1325880" y="3310128"/>
            <a:ext cx="1645920" cy="685800"/>
          </a:xfrm>
          <a:prstGeom prst="rect">
            <a:avLst/>
          </a:prstGeom>
          <a:noFill/>
          <a:ln/>
        </p:spPr>
        <p:txBody>
          <a:bodyPr wrap="square" lIns="0" tIns="0" rIns="0" bIns="0" rtlCol="0" anchor="t"/>
          <a:lstStyle/>
          <a:p>
            <a:pPr indent="0" marL="0">
              <a:buNone/>
            </a:pPr>
            <a:r>
              <a:rPr lang="en-US" sz="1300" dirty="0">
                <a:solidFill>
                  <a:schemeClr val="tx2"/>
                </a:solidFill>
              </a:rPr>
              <a:t>Voce sintetica, trascrizioni</a:t>
            </a:r>
            <a:endParaRPr lang="en-US" sz="1300" dirty="0"/>
          </a:p>
        </p:txBody>
      </p:sp>
      <p:sp>
        <p:nvSpPr>
          <p:cNvPr id="24" name="Video"/>
          <p:cNvSpPr/>
          <p:nvPr/>
        </p:nvSpPr>
        <p:spPr>
          <a:xfrm>
            <a:off x="3264408" y="2697480"/>
            <a:ext cx="2615184" cy="1417320"/>
          </a:xfrm>
          <a:prstGeom prst="roundRect">
            <a:avLst>
              <a:gd name="adj" fmla="val 5161"/>
            </a:avLst>
          </a:prstGeom>
          <a:solidFill>
            <a:schemeClr val="bg2"/>
          </a:solidFill>
          <a:ln/>
        </p:spPr>
      </p:sp>
      <p:sp>
        <p:nvSpPr>
          <p:cNvPr id="25" name="cerchio FiFilm"/>
          <p:cNvSpPr/>
          <p:nvPr/>
        </p:nvSpPr>
        <p:spPr>
          <a:xfrm>
            <a:off x="3447288" y="2926080"/>
            <a:ext cx="548640" cy="548640"/>
          </a:xfrm>
          <a:prstGeom prst="ellipse">
            <a:avLst/>
          </a:prstGeom>
          <a:solidFill>
            <a:schemeClr val="accent1"/>
          </a:solidFill>
          <a:ln/>
        </p:spPr>
      </p:sp>
      <p:pic>
        <p:nvPicPr>
          <p:cNvPr id="26" name="Image 4" descr="FiFilm">    </p:cNvPr>
          <p:cNvPicPr>
            <a:picLocks noChangeAspect="1"/>
          </p:cNvPicPr>
          <p:nvPr/>
        </p:nvPicPr>
        <p:blipFill>
          <a:blip r:embed="rId5"/>
          <a:stretch>
            <a:fillRect/>
          </a:stretch>
        </p:blipFill>
        <p:spPr>
          <a:xfrm>
            <a:off x="3584448" y="3063240"/>
            <a:ext cx="274320" cy="274320"/>
          </a:xfrm>
          <a:prstGeom prst="rect">
            <a:avLst/>
          </a:prstGeom>
        </p:spPr>
      </p:pic>
      <p:sp>
        <p:nvSpPr>
          <p:cNvPr id="27" name="Text 19"/>
          <p:cNvSpPr txBox="1"/>
          <p:nvPr/>
        </p:nvSpPr>
        <p:spPr>
          <a:xfrm>
            <a:off x="4133088" y="29260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Video</a:t>
            </a:r>
            <a:endParaRPr lang="en-US" sz="1600" dirty="0"/>
          </a:p>
        </p:txBody>
      </p:sp>
      <p:sp>
        <p:nvSpPr>
          <p:cNvPr id="28" name="Text 20"/>
          <p:cNvSpPr txBox="1"/>
          <p:nvPr/>
        </p:nvSpPr>
        <p:spPr>
          <a:xfrm>
            <a:off x="4133088" y="3310128"/>
            <a:ext cx="1645920" cy="685800"/>
          </a:xfrm>
          <a:prstGeom prst="rect">
            <a:avLst/>
          </a:prstGeom>
          <a:noFill/>
          <a:ln/>
        </p:spPr>
        <p:txBody>
          <a:bodyPr wrap="square" lIns="0" tIns="0" rIns="0" bIns="0" rtlCol="0" anchor="t"/>
          <a:lstStyle/>
          <a:p>
            <a:pPr indent="0" marL="0">
              <a:buNone/>
            </a:pPr>
            <a:r>
              <a:rPr lang="en-US" sz="1300" dirty="0">
                <a:solidFill>
                  <a:schemeClr val="tx2"/>
                </a:solidFill>
              </a:rPr>
              <a:t>Clip e animazioni da testo o immagini</a:t>
            </a:r>
            <a:endParaRPr lang="en-US" sz="1300" dirty="0"/>
          </a:p>
        </p:txBody>
      </p:sp>
      <p:sp>
        <p:nvSpPr>
          <p:cNvPr id="29" name="Dati e tabelle"/>
          <p:cNvSpPr/>
          <p:nvPr/>
        </p:nvSpPr>
        <p:spPr>
          <a:xfrm>
            <a:off x="6071616" y="2697480"/>
            <a:ext cx="2615184" cy="1417320"/>
          </a:xfrm>
          <a:prstGeom prst="roundRect">
            <a:avLst>
              <a:gd name="adj" fmla="val 5161"/>
            </a:avLst>
          </a:prstGeom>
          <a:solidFill>
            <a:schemeClr val="bg2"/>
          </a:solidFill>
          <a:ln/>
        </p:spPr>
      </p:sp>
      <p:sp>
        <p:nvSpPr>
          <p:cNvPr id="30" name="cerchio FiTable"/>
          <p:cNvSpPr/>
          <p:nvPr/>
        </p:nvSpPr>
        <p:spPr>
          <a:xfrm>
            <a:off x="6254496" y="2926080"/>
            <a:ext cx="548640" cy="548640"/>
          </a:xfrm>
          <a:prstGeom prst="ellipse">
            <a:avLst/>
          </a:prstGeom>
          <a:solidFill>
            <a:schemeClr val="accent1"/>
          </a:solidFill>
          <a:ln/>
        </p:spPr>
      </p:sp>
      <p:pic>
        <p:nvPicPr>
          <p:cNvPr id="31" name="Image 5" descr="FiTable">    </p:cNvPr>
          <p:cNvPicPr>
            <a:picLocks noChangeAspect="1"/>
          </p:cNvPicPr>
          <p:nvPr/>
        </p:nvPicPr>
        <p:blipFill>
          <a:blip r:embed="rId6"/>
          <a:stretch>
            <a:fillRect/>
          </a:stretch>
        </p:blipFill>
        <p:spPr>
          <a:xfrm>
            <a:off x="6391656" y="3063240"/>
            <a:ext cx="274320" cy="274320"/>
          </a:xfrm>
          <a:prstGeom prst="rect">
            <a:avLst/>
          </a:prstGeom>
        </p:spPr>
      </p:pic>
      <p:sp>
        <p:nvSpPr>
          <p:cNvPr id="32" name="Text 23"/>
          <p:cNvSpPr txBox="1"/>
          <p:nvPr/>
        </p:nvSpPr>
        <p:spPr>
          <a:xfrm>
            <a:off x="6940296" y="2926080"/>
            <a:ext cx="1645920" cy="365760"/>
          </a:xfrm>
          <a:prstGeom prst="rect">
            <a:avLst/>
          </a:prstGeom>
          <a:noFill/>
          <a:ln/>
        </p:spPr>
        <p:txBody>
          <a:bodyPr wrap="square" lIns="0" tIns="0" rIns="0" bIns="0" rtlCol="0" anchor="t"/>
          <a:lstStyle/>
          <a:p>
            <a:pPr indent="0" marL="0">
              <a:buNone/>
            </a:pPr>
            <a:r>
              <a:rPr lang="en-US" sz="1600" b="1" dirty="0">
                <a:solidFill>
                  <a:schemeClr val="tx1"/>
                </a:solidFill>
              </a:rPr>
              <a:t>Dati e tabelle</a:t>
            </a:r>
            <a:endParaRPr lang="en-US" sz="1600" dirty="0"/>
          </a:p>
        </p:txBody>
      </p:sp>
      <p:sp>
        <p:nvSpPr>
          <p:cNvPr id="33" name="Text 24"/>
          <p:cNvSpPr txBox="1"/>
          <p:nvPr/>
        </p:nvSpPr>
        <p:spPr>
          <a:xfrm>
            <a:off x="6940296" y="3310128"/>
            <a:ext cx="1645920" cy="685800"/>
          </a:xfrm>
          <a:prstGeom prst="rect">
            <a:avLst/>
          </a:prstGeom>
          <a:noFill/>
          <a:ln/>
        </p:spPr>
        <p:txBody>
          <a:bodyPr wrap="square" lIns="0" tIns="0" rIns="0" bIns="0" rtlCol="0" anchor="t"/>
          <a:lstStyle/>
          <a:p>
            <a:pPr indent="0" marL="0">
              <a:buNone/>
            </a:pPr>
            <a:r>
              <a:rPr lang="en-US" sz="1300" dirty="0">
                <a:solidFill>
                  <a:schemeClr val="tx2"/>
                </a:solidFill>
              </a:rPr>
              <a:t>Analisi, estrazione, strutturazione</a:t>
            </a:r>
            <a:endParaRPr lang="en-US" sz="1300" dirty="0"/>
          </a:p>
        </p:txBody>
      </p:sp>
      <p:sp>
        <p:nvSpPr>
          <p:cNvPr id="34" name="Text 25"/>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300" i="1" dirty="0">
                <a:solidFill>
                  <a:schemeClr val="tx1"/>
                </a:solidFill>
              </a:rPr>
              <a:t>Molti sistemi sono multimodali: ricevono e producono più tipi di contenuto.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Un'AI accessibile a tutti</a:t>
            </a:r>
            <a:endParaRPr lang="en-US" sz="2600" dirty="0"/>
          </a:p>
        </p:txBody>
      </p:sp>
      <p:sp>
        <p:nvSpPr>
          <p:cNvPr id="4" name="scheda Prima"/>
          <p:cNvSpPr/>
          <p:nvPr/>
        </p:nvSpPr>
        <p:spPr>
          <a:xfrm>
            <a:off x="457200" y="1097280"/>
            <a:ext cx="3977640" cy="2331720"/>
          </a:xfrm>
          <a:prstGeom prst="roundRect">
            <a:avLst>
              <a:gd name="adj" fmla="val 3137"/>
            </a:avLst>
          </a:prstGeom>
          <a:solidFill>
            <a:schemeClr val="bg2"/>
          </a:solidFill>
          <a:ln/>
        </p:spPr>
      </p:sp>
      <p:sp>
        <p:nvSpPr>
          <p:cNvPr id="5" name="cerchio FiUsers"/>
          <p:cNvSpPr/>
          <p:nvPr/>
        </p:nvSpPr>
        <p:spPr>
          <a:xfrm>
            <a:off x="640080" y="1280160"/>
            <a:ext cx="457200" cy="457200"/>
          </a:xfrm>
          <a:prstGeom prst="ellipse">
            <a:avLst/>
          </a:prstGeom>
          <a:solidFill>
            <a:schemeClr val="accent1"/>
          </a:solidFill>
          <a:ln/>
        </p:spPr>
      </p:sp>
      <p:pic>
        <p:nvPicPr>
          <p:cNvPr id="6" name="Image 0" descr="FiUsers">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Prima</a:t>
            </a:r>
            <a:endParaRPr lang="en-US" sz="16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L'AI era progettata da specialisti</a:t>
            </a:r>
            <a:endParaRPr lang="en-US" sz="1300" dirty="0"/>
          </a:p>
          <a:p>
            <a:pPr marL="177800" indent="-177800">
              <a:spcAft>
                <a:spcPts val="300"/>
              </a:spcAft>
              <a:buSzPct val="100000"/>
              <a:buChar char="•"/>
            </a:pPr>
            <a:r>
              <a:rPr lang="en-US" sz="1300" dirty="0">
                <a:solidFill>
                  <a:schemeClr val="tx2"/>
                </a:solidFill>
              </a:rPr>
              <a:t>Servivano progetti, dati e mesi di sviluppo</a:t>
            </a:r>
            <a:endParaRPr lang="en-US" sz="1300" dirty="0"/>
          </a:p>
          <a:p>
            <a:pPr marL="177800" indent="-177800">
              <a:spcAft>
                <a:spcPts val="300"/>
              </a:spcAft>
              <a:buSzPct val="100000"/>
              <a:buChar char="•"/>
            </a:pPr>
            <a:r>
              <a:rPr lang="en-US" sz="1300" dirty="0">
                <a:solidFill>
                  <a:schemeClr val="tx2"/>
                </a:solidFill>
              </a:rPr>
              <a:t>Gli utenti ne vedevano solo i risultati</a:t>
            </a:r>
            <a:endParaRPr lang="en-US" sz="1300" dirty="0"/>
          </a:p>
        </p:txBody>
      </p:sp>
      <p:sp>
        <p:nvSpPr>
          <p:cNvPr id="9" name="scheda Oggi"/>
          <p:cNvSpPr/>
          <p:nvPr/>
        </p:nvSpPr>
        <p:spPr>
          <a:xfrm>
            <a:off x="4709160" y="1097280"/>
            <a:ext cx="3977640" cy="2331720"/>
          </a:xfrm>
          <a:prstGeom prst="roundRect">
            <a:avLst>
              <a:gd name="adj" fmla="val 3137"/>
            </a:avLst>
          </a:prstGeom>
          <a:solidFill>
            <a:schemeClr val="accent6"/>
          </a:solidFill>
          <a:ln/>
        </p:spPr>
      </p:sp>
      <p:sp>
        <p:nvSpPr>
          <p:cNvPr id="10" name="cerchio FiUser"/>
          <p:cNvSpPr/>
          <p:nvPr/>
        </p:nvSpPr>
        <p:spPr>
          <a:xfrm>
            <a:off x="4892040" y="1280160"/>
            <a:ext cx="457200" cy="457200"/>
          </a:xfrm>
          <a:prstGeom prst="ellipse">
            <a:avLst/>
          </a:prstGeom>
          <a:solidFill>
            <a:schemeClr val="accent1"/>
          </a:solidFill>
          <a:ln/>
        </p:spPr>
      </p:sp>
      <p:pic>
        <p:nvPicPr>
          <p:cNvPr id="11" name="Image 1" descr="FiUser">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Oggi</a:t>
            </a:r>
            <a:endParaRPr lang="en-US" sz="16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Chiunque può usarla direttamente</a:t>
            </a:r>
            <a:endParaRPr lang="en-US" sz="1300" dirty="0"/>
          </a:p>
          <a:p>
            <a:pPr marL="177800" indent="-177800">
              <a:spcAft>
                <a:spcPts val="300"/>
              </a:spcAft>
              <a:buSzPct val="100000"/>
              <a:buChar char="•"/>
            </a:pPr>
            <a:r>
              <a:rPr lang="en-US" sz="1300" dirty="0">
                <a:solidFill>
                  <a:schemeClr val="tx2"/>
                </a:solidFill>
              </a:rPr>
              <a:t>Basta scrivere una richiesta</a:t>
            </a:r>
            <a:endParaRPr lang="en-US" sz="1300" dirty="0"/>
          </a:p>
          <a:p>
            <a:pPr marL="177800" indent="-177800">
              <a:spcAft>
                <a:spcPts val="300"/>
              </a:spcAft>
              <a:buSzPct val="100000"/>
              <a:buChar char="•"/>
            </a:pPr>
            <a:r>
              <a:rPr lang="en-US" sz="1300" dirty="0">
                <a:solidFill>
                  <a:schemeClr val="tx2"/>
                </a:solidFill>
              </a:rPr>
              <a:t>Le idee di utilizzo nascono anche dal basso</a:t>
            </a:r>
            <a:endParaRPr lang="en-US" sz="1300" dirty="0"/>
          </a:p>
        </p:txBody>
      </p:sp>
      <p:sp>
        <p:nvSpPr>
          <p:cNvPr id="14" name="messaggio responsabilità"/>
          <p:cNvSpPr/>
          <p:nvPr/>
        </p:nvSpPr>
        <p:spPr>
          <a:xfrm>
            <a:off x="457200" y="3611880"/>
            <a:ext cx="8229600" cy="914400"/>
          </a:xfrm>
          <a:prstGeom prst="roundRect">
            <a:avLst>
              <a:gd name="adj" fmla="val 8000"/>
            </a:avLst>
          </a:prstGeom>
          <a:solidFill>
            <a:schemeClr val="tx1"/>
          </a:solidFill>
          <a:ln/>
        </p:spPr>
      </p:sp>
      <p:sp>
        <p:nvSpPr>
          <p:cNvPr id="15" name="cerchio FiShield"/>
          <p:cNvSpPr/>
          <p:nvPr/>
        </p:nvSpPr>
        <p:spPr>
          <a:xfrm>
            <a:off x="640080" y="3813048"/>
            <a:ext cx="512064" cy="512064"/>
          </a:xfrm>
          <a:prstGeom prst="ellipse">
            <a:avLst/>
          </a:prstGeom>
          <a:solidFill>
            <a:schemeClr val="accent1"/>
          </a:solidFill>
          <a:ln/>
        </p:spPr>
      </p:sp>
      <p:pic>
        <p:nvPicPr>
          <p:cNvPr id="16" name="Image 2" descr="FiShield">    </p:cNvPr>
          <p:cNvPicPr>
            <a:picLocks noChangeAspect="1"/>
          </p:cNvPicPr>
          <p:nvPr/>
        </p:nvPicPr>
        <p:blipFill>
          <a:blip r:embed="rId3"/>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indent="0" marL="0">
              <a:buNone/>
            </a:pPr>
            <a:r>
              <a:rPr lang="en-US" sz="1500" dirty="0">
                <a:solidFill>
                  <a:schemeClr val="bg1"/>
                </a:solidFill>
              </a:rPr>
              <a:t>Se tutti possono usare l'AI, tutti devono saperla usare in modo consapevole: è lo scopo della AI Literacy.</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generativa ha ampliato le persone e le attività che possono utilizzare direttamente capacità AI.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1.3  ·  La svolta dell'AI generativa</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1.4</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Dalla digitalizzazione all'Intelligenza Artificiale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Concetti collegati ma distinti, che possono coesistere nello stesso processo</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Quattro passaggi di un'evoluzione</a:t>
            </a:r>
            <a:endParaRPr lang="en-US" sz="2600" dirty="0"/>
          </a:p>
        </p:txBody>
      </p:sp>
      <p:sp>
        <p:nvSpPr>
          <p:cNvPr id="4" name="gradino Digitalizzazione"/>
          <p:cNvSpPr/>
          <p:nvPr/>
        </p:nvSpPr>
        <p:spPr>
          <a:xfrm>
            <a:off x="457200" y="2651760"/>
            <a:ext cx="1965960" cy="1874520"/>
          </a:xfrm>
          <a:prstGeom prst="roundRect">
            <a:avLst>
              <a:gd name="adj" fmla="val 3902"/>
            </a:avLst>
          </a:prstGeom>
          <a:solidFill>
            <a:schemeClr val="bg2"/>
          </a:solidFill>
          <a:ln/>
        </p:spPr>
      </p:sp>
      <p:sp>
        <p:nvSpPr>
          <p:cNvPr id="5" name="cerchio FiFile"/>
          <p:cNvSpPr/>
          <p:nvPr/>
        </p:nvSpPr>
        <p:spPr>
          <a:xfrm>
            <a:off x="640080" y="2834640"/>
            <a:ext cx="457200" cy="457200"/>
          </a:xfrm>
          <a:prstGeom prst="ellipse">
            <a:avLst/>
          </a:prstGeom>
          <a:solidFill>
            <a:schemeClr val="accent1"/>
          </a:solidFill>
          <a:ln/>
        </p:spPr>
      </p:sp>
      <p:pic>
        <p:nvPicPr>
          <p:cNvPr id="6" name="Image 0" descr="FiFile">    </p:cNvPr>
          <p:cNvPicPr>
            <a:picLocks noChangeAspect="1"/>
          </p:cNvPicPr>
          <p:nvPr/>
        </p:nvPicPr>
        <p:blipFill>
          <a:blip r:embed="rId1"/>
          <a:stretch>
            <a:fillRect/>
          </a:stretch>
        </p:blipFill>
        <p:spPr>
          <a:xfrm>
            <a:off x="754380" y="2948940"/>
            <a:ext cx="228600" cy="228600"/>
          </a:xfrm>
          <a:prstGeom prst="rect">
            <a:avLst/>
          </a:prstGeom>
        </p:spPr>
      </p:pic>
      <p:sp>
        <p:nvSpPr>
          <p:cNvPr id="7" name="Text 3"/>
          <p:cNvSpPr txBox="1"/>
          <p:nvPr/>
        </p:nvSpPr>
        <p:spPr>
          <a:xfrm>
            <a:off x="640080" y="3383280"/>
            <a:ext cx="1645920" cy="548640"/>
          </a:xfrm>
          <a:prstGeom prst="rect">
            <a:avLst/>
          </a:prstGeom>
          <a:noFill/>
          <a:ln/>
        </p:spPr>
        <p:txBody>
          <a:bodyPr wrap="square" lIns="0" tIns="0" rIns="0" bIns="0" rtlCol="0" anchor="t"/>
          <a:lstStyle/>
          <a:p>
            <a:pPr indent="0" marL="0">
              <a:buNone/>
            </a:pPr>
            <a:r>
              <a:rPr lang="en-US" sz="1400" b="1" dirty="0">
                <a:solidFill>
                  <a:schemeClr val="tx1"/>
                </a:solidFill>
              </a:rPr>
              <a:t>1. Digitalizzazione</a:t>
            </a:r>
            <a:endParaRPr lang="en-US" sz="1400" dirty="0"/>
          </a:p>
        </p:txBody>
      </p:sp>
      <p:sp>
        <p:nvSpPr>
          <p:cNvPr id="8" name="Text 4"/>
          <p:cNvSpPr txBox="1"/>
          <p:nvPr/>
        </p:nvSpPr>
        <p:spPr>
          <a:xfrm>
            <a:off x="640080" y="3931920"/>
            <a:ext cx="1645920" cy="502920"/>
          </a:xfrm>
          <a:prstGeom prst="rect">
            <a:avLst/>
          </a:prstGeom>
          <a:noFill/>
          <a:ln/>
        </p:spPr>
        <p:txBody>
          <a:bodyPr wrap="square" lIns="0" tIns="0" rIns="0" bIns="0" rtlCol="0" anchor="t"/>
          <a:lstStyle/>
          <a:p>
            <a:pPr indent="0" marL="0">
              <a:buNone/>
            </a:pPr>
            <a:r>
              <a:rPr lang="en-US" sz="1200" dirty="0">
                <a:solidFill>
                  <a:schemeClr val="tx2"/>
                </a:solidFill>
              </a:rPr>
              <a:t>Le informazioni diventano digitali</a:t>
            </a:r>
            <a:endParaRPr lang="en-US" sz="1200" dirty="0"/>
          </a:p>
        </p:txBody>
      </p:sp>
      <p:sp>
        <p:nvSpPr>
          <p:cNvPr id="9" name="gradino Automazione a regole"/>
          <p:cNvSpPr/>
          <p:nvPr/>
        </p:nvSpPr>
        <p:spPr>
          <a:xfrm>
            <a:off x="2560320" y="2194560"/>
            <a:ext cx="1965960" cy="2331720"/>
          </a:xfrm>
          <a:prstGeom prst="roundRect">
            <a:avLst>
              <a:gd name="adj" fmla="val 3721"/>
            </a:avLst>
          </a:prstGeom>
          <a:solidFill>
            <a:schemeClr val="bg2"/>
          </a:solidFill>
          <a:ln/>
        </p:spPr>
      </p:sp>
      <p:sp>
        <p:nvSpPr>
          <p:cNvPr id="10" name="cerchio FiSettings"/>
          <p:cNvSpPr/>
          <p:nvPr/>
        </p:nvSpPr>
        <p:spPr>
          <a:xfrm>
            <a:off x="2743200" y="2377440"/>
            <a:ext cx="457200" cy="457200"/>
          </a:xfrm>
          <a:prstGeom prst="ellipse">
            <a:avLst/>
          </a:prstGeom>
          <a:solidFill>
            <a:schemeClr val="accent1"/>
          </a:solidFill>
          <a:ln/>
        </p:spPr>
      </p:sp>
      <p:pic>
        <p:nvPicPr>
          <p:cNvPr id="11" name="Image 1" descr="FiSettings">    </p:cNvPr>
          <p:cNvPicPr>
            <a:picLocks noChangeAspect="1"/>
          </p:cNvPicPr>
          <p:nvPr/>
        </p:nvPicPr>
        <p:blipFill>
          <a:blip r:embed="rId2"/>
          <a:stretch>
            <a:fillRect/>
          </a:stretch>
        </p:blipFill>
        <p:spPr>
          <a:xfrm>
            <a:off x="2857500" y="2491740"/>
            <a:ext cx="228600" cy="228600"/>
          </a:xfrm>
          <a:prstGeom prst="rect">
            <a:avLst/>
          </a:prstGeom>
        </p:spPr>
      </p:pic>
      <p:sp>
        <p:nvSpPr>
          <p:cNvPr id="12" name="Text 7"/>
          <p:cNvSpPr txBox="1"/>
          <p:nvPr/>
        </p:nvSpPr>
        <p:spPr>
          <a:xfrm>
            <a:off x="2743200" y="2926080"/>
            <a:ext cx="1645920" cy="548640"/>
          </a:xfrm>
          <a:prstGeom prst="rect">
            <a:avLst/>
          </a:prstGeom>
          <a:noFill/>
          <a:ln/>
        </p:spPr>
        <p:txBody>
          <a:bodyPr wrap="square" lIns="0" tIns="0" rIns="0" bIns="0" rtlCol="0" anchor="t"/>
          <a:lstStyle/>
          <a:p>
            <a:pPr indent="0" marL="0">
              <a:buNone/>
            </a:pPr>
            <a:r>
              <a:rPr lang="en-US" sz="1400" b="1" dirty="0">
                <a:solidFill>
                  <a:schemeClr val="tx1"/>
                </a:solidFill>
              </a:rPr>
              <a:t>2. Automazione a regole</a:t>
            </a:r>
            <a:endParaRPr lang="en-US" sz="1400" dirty="0"/>
          </a:p>
        </p:txBody>
      </p:sp>
      <p:sp>
        <p:nvSpPr>
          <p:cNvPr id="13" name="Text 8"/>
          <p:cNvSpPr txBox="1"/>
          <p:nvPr/>
        </p:nvSpPr>
        <p:spPr>
          <a:xfrm>
            <a:off x="2743200" y="3474720"/>
            <a:ext cx="1645920" cy="960120"/>
          </a:xfrm>
          <a:prstGeom prst="rect">
            <a:avLst/>
          </a:prstGeom>
          <a:noFill/>
          <a:ln/>
        </p:spPr>
        <p:txBody>
          <a:bodyPr wrap="square" lIns="0" tIns="0" rIns="0" bIns="0" rtlCol="0" anchor="t"/>
          <a:lstStyle/>
          <a:p>
            <a:pPr indent="0" marL="0">
              <a:buNone/>
            </a:pPr>
            <a:r>
              <a:rPr lang="en-US" sz="1200" dirty="0">
                <a:solidFill>
                  <a:schemeClr val="tx2"/>
                </a:solidFill>
              </a:rPr>
              <a:t>Il software esegue regole definite da persone</a:t>
            </a:r>
            <a:endParaRPr lang="en-US" sz="1200" dirty="0"/>
          </a:p>
        </p:txBody>
      </p:sp>
      <p:sp>
        <p:nvSpPr>
          <p:cNvPr id="14" name="gradino Apprendimento dai dati"/>
          <p:cNvSpPr/>
          <p:nvPr/>
        </p:nvSpPr>
        <p:spPr>
          <a:xfrm>
            <a:off x="4663440" y="1737360"/>
            <a:ext cx="1965960" cy="2788920"/>
          </a:xfrm>
          <a:prstGeom prst="roundRect">
            <a:avLst>
              <a:gd name="adj" fmla="val 3721"/>
            </a:avLst>
          </a:prstGeom>
          <a:solidFill>
            <a:schemeClr val="accent6"/>
          </a:solidFill>
          <a:ln/>
        </p:spPr>
      </p:sp>
      <p:sp>
        <p:nvSpPr>
          <p:cNvPr id="15" name="cerchio FiTrendingUp"/>
          <p:cNvSpPr/>
          <p:nvPr/>
        </p:nvSpPr>
        <p:spPr>
          <a:xfrm>
            <a:off x="4846320" y="1920240"/>
            <a:ext cx="457200" cy="457200"/>
          </a:xfrm>
          <a:prstGeom prst="ellipse">
            <a:avLst/>
          </a:prstGeom>
          <a:solidFill>
            <a:schemeClr val="accent1"/>
          </a:solidFill>
          <a:ln/>
        </p:spPr>
      </p:sp>
      <p:pic>
        <p:nvPicPr>
          <p:cNvPr id="16" name="Image 2" descr="FiTrendingUp">    </p:cNvPr>
          <p:cNvPicPr>
            <a:picLocks noChangeAspect="1"/>
          </p:cNvPicPr>
          <p:nvPr/>
        </p:nvPicPr>
        <p:blipFill>
          <a:blip r:embed="rId3"/>
          <a:stretch>
            <a:fillRect/>
          </a:stretch>
        </p:blipFill>
        <p:spPr>
          <a:xfrm>
            <a:off x="4960620" y="2034540"/>
            <a:ext cx="228600" cy="228600"/>
          </a:xfrm>
          <a:prstGeom prst="rect">
            <a:avLst/>
          </a:prstGeom>
        </p:spPr>
      </p:pic>
      <p:sp>
        <p:nvSpPr>
          <p:cNvPr id="17" name="Text 11"/>
          <p:cNvSpPr txBox="1"/>
          <p:nvPr/>
        </p:nvSpPr>
        <p:spPr>
          <a:xfrm>
            <a:off x="4846320" y="2468880"/>
            <a:ext cx="1645920" cy="548640"/>
          </a:xfrm>
          <a:prstGeom prst="rect">
            <a:avLst/>
          </a:prstGeom>
          <a:noFill/>
          <a:ln/>
        </p:spPr>
        <p:txBody>
          <a:bodyPr wrap="square" lIns="0" tIns="0" rIns="0" bIns="0" rtlCol="0" anchor="t"/>
          <a:lstStyle/>
          <a:p>
            <a:pPr indent="0" marL="0">
              <a:buNone/>
            </a:pPr>
            <a:r>
              <a:rPr lang="en-US" sz="1400" b="1" dirty="0">
                <a:solidFill>
                  <a:schemeClr val="tx1"/>
                </a:solidFill>
              </a:rPr>
              <a:t>3. Apprendimento dai dati</a:t>
            </a:r>
            <a:endParaRPr lang="en-US" sz="1400" dirty="0"/>
          </a:p>
        </p:txBody>
      </p:sp>
      <p:sp>
        <p:nvSpPr>
          <p:cNvPr id="18" name="Text 12"/>
          <p:cNvSpPr txBox="1"/>
          <p:nvPr/>
        </p:nvSpPr>
        <p:spPr>
          <a:xfrm>
            <a:off x="4846320" y="3017520"/>
            <a:ext cx="1645920" cy="1417320"/>
          </a:xfrm>
          <a:prstGeom prst="rect">
            <a:avLst/>
          </a:prstGeom>
          <a:noFill/>
          <a:ln/>
        </p:spPr>
        <p:txBody>
          <a:bodyPr wrap="square" lIns="0" tIns="0" rIns="0" bIns="0" rtlCol="0" anchor="t"/>
          <a:lstStyle/>
          <a:p>
            <a:pPr indent="0" marL="0">
              <a:buNone/>
            </a:pPr>
            <a:r>
              <a:rPr lang="en-US" sz="1200" dirty="0">
                <a:solidFill>
                  <a:schemeClr val="tx2"/>
                </a:solidFill>
              </a:rPr>
              <a:t>Il sistema ricava regolarità per classificare e prevedere</a:t>
            </a:r>
            <a:endParaRPr lang="en-US" sz="1200" dirty="0"/>
          </a:p>
        </p:txBody>
      </p:sp>
      <p:sp>
        <p:nvSpPr>
          <p:cNvPr id="19" name="gradino AI generativa"/>
          <p:cNvSpPr/>
          <p:nvPr/>
        </p:nvSpPr>
        <p:spPr>
          <a:xfrm>
            <a:off x="6766560" y="1280160"/>
            <a:ext cx="1965960" cy="3246120"/>
          </a:xfrm>
          <a:prstGeom prst="roundRect">
            <a:avLst>
              <a:gd name="adj" fmla="val 3721"/>
            </a:avLst>
          </a:prstGeom>
          <a:solidFill>
            <a:schemeClr val="accent1"/>
          </a:solidFill>
          <a:ln/>
        </p:spPr>
      </p:sp>
      <p:sp>
        <p:nvSpPr>
          <p:cNvPr id="20" name="cerchio FiZap"/>
          <p:cNvSpPr/>
          <p:nvPr/>
        </p:nvSpPr>
        <p:spPr>
          <a:xfrm>
            <a:off x="6949440" y="1463040"/>
            <a:ext cx="457200" cy="457200"/>
          </a:xfrm>
          <a:prstGeom prst="ellipse">
            <a:avLst/>
          </a:prstGeom>
          <a:solidFill>
            <a:schemeClr val="bg1"/>
          </a:solidFill>
          <a:ln/>
        </p:spPr>
      </p:sp>
      <p:pic>
        <p:nvPicPr>
          <p:cNvPr id="21" name="Image 3" descr="FiZap">    </p:cNvPr>
          <p:cNvPicPr>
            <a:picLocks noChangeAspect="1"/>
          </p:cNvPicPr>
          <p:nvPr/>
        </p:nvPicPr>
        <p:blipFill>
          <a:blip r:embed="rId4"/>
          <a:stretch>
            <a:fillRect/>
          </a:stretch>
        </p:blipFill>
        <p:spPr>
          <a:xfrm>
            <a:off x="7063740" y="1577340"/>
            <a:ext cx="228600" cy="228600"/>
          </a:xfrm>
          <a:prstGeom prst="rect">
            <a:avLst/>
          </a:prstGeom>
        </p:spPr>
      </p:pic>
      <p:sp>
        <p:nvSpPr>
          <p:cNvPr id="22" name="Text 15"/>
          <p:cNvSpPr txBox="1"/>
          <p:nvPr/>
        </p:nvSpPr>
        <p:spPr>
          <a:xfrm>
            <a:off x="6949440" y="2011680"/>
            <a:ext cx="1645920" cy="548640"/>
          </a:xfrm>
          <a:prstGeom prst="rect">
            <a:avLst/>
          </a:prstGeom>
          <a:noFill/>
          <a:ln/>
        </p:spPr>
        <p:txBody>
          <a:bodyPr wrap="square" lIns="0" tIns="0" rIns="0" bIns="0" rtlCol="0" anchor="t"/>
          <a:lstStyle/>
          <a:p>
            <a:pPr indent="0" marL="0">
              <a:buNone/>
            </a:pPr>
            <a:r>
              <a:rPr lang="en-US" sz="1400" b="1" dirty="0">
                <a:solidFill>
                  <a:schemeClr val="bg1"/>
                </a:solidFill>
              </a:rPr>
              <a:t>4. AI generativa</a:t>
            </a:r>
            <a:endParaRPr lang="en-US" sz="1400" dirty="0"/>
          </a:p>
        </p:txBody>
      </p:sp>
      <p:sp>
        <p:nvSpPr>
          <p:cNvPr id="23" name="Text 16"/>
          <p:cNvSpPr txBox="1"/>
          <p:nvPr/>
        </p:nvSpPr>
        <p:spPr>
          <a:xfrm>
            <a:off x="6949440" y="2560320"/>
            <a:ext cx="1645920" cy="1874520"/>
          </a:xfrm>
          <a:prstGeom prst="rect">
            <a:avLst/>
          </a:prstGeom>
          <a:noFill/>
          <a:ln/>
        </p:spPr>
        <p:txBody>
          <a:bodyPr wrap="square" lIns="0" tIns="0" rIns="0" bIns="0" rtlCol="0" anchor="t"/>
          <a:lstStyle/>
          <a:p>
            <a:pPr indent="0" marL="0">
              <a:buNone/>
            </a:pPr>
            <a:r>
              <a:rPr lang="en-US" sz="1200" dirty="0">
                <a:solidFill>
                  <a:schemeClr val="bg1"/>
                </a:solidFill>
              </a:rPr>
              <a:t>Genera, analizza e trasforma informazioni</a:t>
            </a:r>
            <a:endParaRPr lang="en-US" sz="1200" dirty="0"/>
          </a:p>
        </p:txBody>
      </p:sp>
      <p:sp>
        <p:nvSpPr>
          <p:cNvPr id="24" name="Text 17"/>
          <p:cNvSpPr txBox="1"/>
          <p:nvPr/>
        </p:nvSpPr>
        <p:spPr>
          <a:xfrm>
            <a:off x="457200" y="1097280"/>
            <a:ext cx="4114800" cy="320040"/>
          </a:xfrm>
          <a:prstGeom prst="rect">
            <a:avLst/>
          </a:prstGeom>
          <a:noFill/>
          <a:ln/>
        </p:spPr>
        <p:txBody>
          <a:bodyPr wrap="square" lIns="0" tIns="0" rIns="0" bIns="0" rtlCol="0" anchor="t"/>
          <a:lstStyle/>
          <a:p>
            <a:pPr indent="0" marL="0">
              <a:buNone/>
            </a:pPr>
            <a:r>
              <a:rPr lang="en-US" sz="1400" i="1" dirty="0">
                <a:solidFill>
                  <a:schemeClr val="tx2"/>
                </a:solidFill>
              </a:rPr>
              <a:t>Ogni passaggio si appoggia ai precedenti</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 esempio: la gestione delle richieste dei clienti</a:t>
            </a:r>
            <a:endParaRPr lang="en-US" sz="2600" dirty="0"/>
          </a:p>
        </p:txBody>
      </p:sp>
      <p:sp>
        <p:nvSpPr>
          <p:cNvPr id="4" name="cerchio FiMail"/>
          <p:cNvSpPr/>
          <p:nvPr/>
        </p:nvSpPr>
        <p:spPr>
          <a:xfrm>
            <a:off x="457200" y="2057400"/>
            <a:ext cx="731520" cy="731520"/>
          </a:xfrm>
          <a:prstGeom prst="ellipse">
            <a:avLst/>
          </a:prstGeom>
          <a:solidFill>
            <a:schemeClr val="accent1"/>
          </a:solidFill>
          <a:ln/>
        </p:spPr>
      </p:sp>
      <p:pic>
        <p:nvPicPr>
          <p:cNvPr id="5" name="Image 0" descr="FiMail">    </p:cNvPr>
          <p:cNvPicPr>
            <a:picLocks noChangeAspect="1"/>
          </p:cNvPicPr>
          <p:nvPr/>
        </p:nvPicPr>
        <p:blipFill>
          <a:blip r:embed="rId1"/>
          <a:stretch>
            <a:fillRect/>
          </a:stretch>
        </p:blipFill>
        <p:spPr>
          <a:xfrm>
            <a:off x="640080" y="2240280"/>
            <a:ext cx="365760" cy="365760"/>
          </a:xfrm>
          <a:prstGeom prst="rect">
            <a:avLst/>
          </a:prstGeom>
        </p:spPr>
      </p:pic>
      <p:sp>
        <p:nvSpPr>
          <p:cNvPr id="6" name="Text 2"/>
          <p:cNvSpPr txBox="1"/>
          <p:nvPr/>
        </p:nvSpPr>
        <p:spPr>
          <a:xfrm>
            <a:off x="182880" y="2834640"/>
            <a:ext cx="1280160" cy="457200"/>
          </a:xfrm>
          <a:prstGeom prst="rect">
            <a:avLst/>
          </a:prstGeom>
          <a:noFill/>
          <a:ln/>
        </p:spPr>
        <p:txBody>
          <a:bodyPr wrap="square" lIns="0" tIns="0" rIns="0" bIns="0" rtlCol="0" anchor="t"/>
          <a:lstStyle/>
          <a:p>
            <a:pPr algn="ctr" indent="0" marL="0">
              <a:buNone/>
            </a:pPr>
            <a:r>
              <a:rPr lang="en-US" sz="1200" b="1" dirty="0">
                <a:solidFill>
                  <a:schemeClr val="tx1"/>
                </a:solidFill>
              </a:rPr>
              <a:t>Email del cliente</a:t>
            </a:r>
            <a:endParaRPr lang="en-US" sz="1200" dirty="0"/>
          </a:p>
        </p:txBody>
      </p:sp>
      <p:sp>
        <p:nvSpPr>
          <p:cNvPr id="7" name="fase Digitalizzazione"/>
          <p:cNvSpPr/>
          <p:nvPr/>
        </p:nvSpPr>
        <p:spPr>
          <a:xfrm>
            <a:off x="1508760" y="1188720"/>
            <a:ext cx="1673352" cy="2651760"/>
          </a:xfrm>
          <a:prstGeom prst="roundRect">
            <a:avLst>
              <a:gd name="adj" fmla="val 4372"/>
            </a:avLst>
          </a:prstGeom>
          <a:solidFill>
            <a:schemeClr val="bg2"/>
          </a:solidFill>
          <a:ln/>
        </p:spPr>
      </p:sp>
      <p:sp>
        <p:nvSpPr>
          <p:cNvPr id="8" name="Text 4"/>
          <p:cNvSpPr txBox="1"/>
          <p:nvPr/>
        </p:nvSpPr>
        <p:spPr>
          <a:xfrm>
            <a:off x="1645920" y="1298448"/>
            <a:ext cx="457200" cy="411480"/>
          </a:xfrm>
          <a:prstGeom prst="rect">
            <a:avLst/>
          </a:prstGeom>
          <a:noFill/>
          <a:ln/>
        </p:spPr>
        <p:txBody>
          <a:bodyPr wrap="square" lIns="0" tIns="0" rIns="0" bIns="0" rtlCol="0" anchor="t"/>
          <a:lstStyle/>
          <a:p>
            <a:pPr indent="0" marL="0">
              <a:buNone/>
            </a:pPr>
            <a:r>
              <a:rPr lang="en-US" sz="2200" b="1" dirty="0">
                <a:solidFill>
                  <a:schemeClr val="accent1"/>
                </a:solidFill>
              </a:rPr>
              <a:t>1</a:t>
            </a:r>
            <a:endParaRPr lang="en-US" sz="2200" dirty="0"/>
          </a:p>
        </p:txBody>
      </p:sp>
      <p:sp>
        <p:nvSpPr>
          <p:cNvPr id="9" name="Text 5"/>
          <p:cNvSpPr txBox="1"/>
          <p:nvPr/>
        </p:nvSpPr>
        <p:spPr>
          <a:xfrm>
            <a:off x="1645920" y="1737360"/>
            <a:ext cx="1417320" cy="594360"/>
          </a:xfrm>
          <a:prstGeom prst="rect">
            <a:avLst/>
          </a:prstGeom>
          <a:noFill/>
          <a:ln/>
        </p:spPr>
        <p:txBody>
          <a:bodyPr wrap="square" lIns="0" tIns="0" rIns="0" bIns="0" rtlCol="0" anchor="t"/>
          <a:lstStyle/>
          <a:p>
            <a:pPr indent="0" marL="0">
              <a:buNone/>
            </a:pPr>
            <a:r>
              <a:rPr lang="en-US" sz="1300" b="1" dirty="0">
                <a:solidFill>
                  <a:schemeClr val="tx1"/>
                </a:solidFill>
              </a:rPr>
              <a:t>Digitalizzazione</a:t>
            </a:r>
            <a:endParaRPr lang="en-US" sz="1300" dirty="0"/>
          </a:p>
        </p:txBody>
      </p:sp>
      <p:sp>
        <p:nvSpPr>
          <p:cNvPr id="10" name="Text 6"/>
          <p:cNvSpPr txBox="1"/>
          <p:nvPr/>
        </p:nvSpPr>
        <p:spPr>
          <a:xfrm>
            <a:off x="1645920" y="2359152"/>
            <a:ext cx="1417320" cy="1371600"/>
          </a:xfrm>
          <a:prstGeom prst="rect">
            <a:avLst/>
          </a:prstGeom>
          <a:noFill/>
          <a:ln/>
        </p:spPr>
        <p:txBody>
          <a:bodyPr wrap="square" lIns="0" tIns="0" rIns="0" bIns="0" rtlCol="0" anchor="t"/>
          <a:lstStyle/>
          <a:p>
            <a:pPr indent="0" marL="0">
              <a:buNone/>
            </a:pPr>
            <a:r>
              <a:rPr lang="en-US" sz="1200" dirty="0">
                <a:solidFill>
                  <a:schemeClr val="tx2"/>
                </a:solidFill>
              </a:rPr>
              <a:t>Le email arrivano in una casella condivisa e sono registrate nel CRM</a:t>
            </a:r>
            <a:endParaRPr lang="en-US" sz="1200" dirty="0"/>
          </a:p>
        </p:txBody>
      </p:sp>
      <p:sp>
        <p:nvSpPr>
          <p:cNvPr id="11" name="fase Automazione a regole"/>
          <p:cNvSpPr/>
          <p:nvPr/>
        </p:nvSpPr>
        <p:spPr>
          <a:xfrm>
            <a:off x="3319272" y="1188720"/>
            <a:ext cx="1673352" cy="2651760"/>
          </a:xfrm>
          <a:prstGeom prst="roundRect">
            <a:avLst>
              <a:gd name="adj" fmla="val 4372"/>
            </a:avLst>
          </a:prstGeom>
          <a:solidFill>
            <a:schemeClr val="bg2"/>
          </a:solidFill>
          <a:ln/>
        </p:spPr>
      </p:sp>
      <p:sp>
        <p:nvSpPr>
          <p:cNvPr id="12" name="Text 8"/>
          <p:cNvSpPr txBox="1"/>
          <p:nvPr/>
        </p:nvSpPr>
        <p:spPr>
          <a:xfrm>
            <a:off x="3456432" y="1298448"/>
            <a:ext cx="457200" cy="411480"/>
          </a:xfrm>
          <a:prstGeom prst="rect">
            <a:avLst/>
          </a:prstGeom>
          <a:noFill/>
          <a:ln/>
        </p:spPr>
        <p:txBody>
          <a:bodyPr wrap="square" lIns="0" tIns="0" rIns="0" bIns="0" rtlCol="0" anchor="t"/>
          <a:lstStyle/>
          <a:p>
            <a:pPr indent="0" marL="0">
              <a:buNone/>
            </a:pPr>
            <a:r>
              <a:rPr lang="en-US" sz="2200" b="1" dirty="0">
                <a:solidFill>
                  <a:schemeClr val="accent1"/>
                </a:solidFill>
              </a:rPr>
              <a:t>2</a:t>
            </a:r>
            <a:endParaRPr lang="en-US" sz="2200" dirty="0"/>
          </a:p>
        </p:txBody>
      </p:sp>
      <p:sp>
        <p:nvSpPr>
          <p:cNvPr id="13" name="Text 9"/>
          <p:cNvSpPr txBox="1"/>
          <p:nvPr/>
        </p:nvSpPr>
        <p:spPr>
          <a:xfrm>
            <a:off x="3456432" y="1737360"/>
            <a:ext cx="1417320" cy="594360"/>
          </a:xfrm>
          <a:prstGeom prst="rect">
            <a:avLst/>
          </a:prstGeom>
          <a:noFill/>
          <a:ln/>
        </p:spPr>
        <p:txBody>
          <a:bodyPr wrap="square" lIns="0" tIns="0" rIns="0" bIns="0" rtlCol="0" anchor="t"/>
          <a:lstStyle/>
          <a:p>
            <a:pPr indent="0" marL="0">
              <a:buNone/>
            </a:pPr>
            <a:r>
              <a:rPr lang="en-US" sz="1300" b="1" dirty="0">
                <a:solidFill>
                  <a:schemeClr val="tx1"/>
                </a:solidFill>
              </a:rPr>
              <a:t>Automazione a regole</a:t>
            </a:r>
            <a:endParaRPr lang="en-US" sz="1300" dirty="0"/>
          </a:p>
        </p:txBody>
      </p:sp>
      <p:sp>
        <p:nvSpPr>
          <p:cNvPr id="14" name="Text 10"/>
          <p:cNvSpPr txBox="1"/>
          <p:nvPr/>
        </p:nvSpPr>
        <p:spPr>
          <a:xfrm>
            <a:off x="3456432" y="2359152"/>
            <a:ext cx="1417320" cy="1371600"/>
          </a:xfrm>
          <a:prstGeom prst="rect">
            <a:avLst/>
          </a:prstGeom>
          <a:noFill/>
          <a:ln/>
        </p:spPr>
        <p:txBody>
          <a:bodyPr wrap="square" lIns="0" tIns="0" rIns="0" bIns="0" rtlCol="0" anchor="t"/>
          <a:lstStyle/>
          <a:p>
            <a:pPr indent="0" marL="0">
              <a:buNone/>
            </a:pPr>
            <a:r>
              <a:rPr lang="en-US" sz="1200" dirty="0">
                <a:solidFill>
                  <a:schemeClr val="tx2"/>
                </a:solidFill>
              </a:rPr>
              <a:t>Conferma di ricezione automatica e inoltro in base a regole fisse</a:t>
            </a:r>
            <a:endParaRPr lang="en-US" sz="1200" dirty="0"/>
          </a:p>
        </p:txBody>
      </p:sp>
      <p:sp>
        <p:nvSpPr>
          <p:cNvPr id="15" name="fase Apprendimento dai dati"/>
          <p:cNvSpPr/>
          <p:nvPr/>
        </p:nvSpPr>
        <p:spPr>
          <a:xfrm>
            <a:off x="5129784" y="1188720"/>
            <a:ext cx="1673352" cy="2651760"/>
          </a:xfrm>
          <a:prstGeom prst="roundRect">
            <a:avLst>
              <a:gd name="adj" fmla="val 4372"/>
            </a:avLst>
          </a:prstGeom>
          <a:solidFill>
            <a:schemeClr val="bg2"/>
          </a:solidFill>
          <a:ln/>
        </p:spPr>
      </p:sp>
      <p:sp>
        <p:nvSpPr>
          <p:cNvPr id="16" name="Text 12"/>
          <p:cNvSpPr txBox="1"/>
          <p:nvPr/>
        </p:nvSpPr>
        <p:spPr>
          <a:xfrm>
            <a:off x="5266944" y="1298448"/>
            <a:ext cx="457200" cy="411480"/>
          </a:xfrm>
          <a:prstGeom prst="rect">
            <a:avLst/>
          </a:prstGeom>
          <a:noFill/>
          <a:ln/>
        </p:spPr>
        <p:txBody>
          <a:bodyPr wrap="square" lIns="0" tIns="0" rIns="0" bIns="0" rtlCol="0" anchor="t"/>
          <a:lstStyle/>
          <a:p>
            <a:pPr indent="0" marL="0">
              <a:buNone/>
            </a:pPr>
            <a:r>
              <a:rPr lang="en-US" sz="2200" b="1" dirty="0">
                <a:solidFill>
                  <a:schemeClr val="accent1"/>
                </a:solidFill>
              </a:rPr>
              <a:t>3</a:t>
            </a:r>
            <a:endParaRPr lang="en-US" sz="2200" dirty="0"/>
          </a:p>
        </p:txBody>
      </p:sp>
      <p:sp>
        <p:nvSpPr>
          <p:cNvPr id="17" name="Text 13"/>
          <p:cNvSpPr txBox="1"/>
          <p:nvPr/>
        </p:nvSpPr>
        <p:spPr>
          <a:xfrm>
            <a:off x="5266944" y="1737360"/>
            <a:ext cx="1417320" cy="594360"/>
          </a:xfrm>
          <a:prstGeom prst="rect">
            <a:avLst/>
          </a:prstGeom>
          <a:noFill/>
          <a:ln/>
        </p:spPr>
        <p:txBody>
          <a:bodyPr wrap="square" lIns="0" tIns="0" rIns="0" bIns="0" rtlCol="0" anchor="t"/>
          <a:lstStyle/>
          <a:p>
            <a:pPr indent="0" marL="0">
              <a:buNone/>
            </a:pPr>
            <a:r>
              <a:rPr lang="en-US" sz="1300" b="1" dirty="0">
                <a:solidFill>
                  <a:schemeClr val="tx1"/>
                </a:solidFill>
              </a:rPr>
              <a:t>Apprendimento dai dati</a:t>
            </a:r>
            <a:endParaRPr lang="en-US" sz="1300" dirty="0"/>
          </a:p>
        </p:txBody>
      </p:sp>
      <p:sp>
        <p:nvSpPr>
          <p:cNvPr id="18" name="Text 14"/>
          <p:cNvSpPr txBox="1"/>
          <p:nvPr/>
        </p:nvSpPr>
        <p:spPr>
          <a:xfrm>
            <a:off x="5266944" y="2359152"/>
            <a:ext cx="1417320" cy="1371600"/>
          </a:xfrm>
          <a:prstGeom prst="rect">
            <a:avLst/>
          </a:prstGeom>
          <a:noFill/>
          <a:ln/>
        </p:spPr>
        <p:txBody>
          <a:bodyPr wrap="square" lIns="0" tIns="0" rIns="0" bIns="0" rtlCol="0" anchor="t"/>
          <a:lstStyle/>
          <a:p>
            <a:pPr indent="0" marL="0">
              <a:buNone/>
            </a:pPr>
            <a:r>
              <a:rPr lang="en-US" sz="1200" dirty="0">
                <a:solidFill>
                  <a:schemeClr val="tx2"/>
                </a:solidFill>
              </a:rPr>
              <a:t>Un modello classifica ogni richiesta per categoria e urgenza</a:t>
            </a:r>
            <a:endParaRPr lang="en-US" sz="1200" dirty="0"/>
          </a:p>
        </p:txBody>
      </p:sp>
      <p:sp>
        <p:nvSpPr>
          <p:cNvPr id="19" name="fase AI generativa"/>
          <p:cNvSpPr/>
          <p:nvPr/>
        </p:nvSpPr>
        <p:spPr>
          <a:xfrm>
            <a:off x="6940296" y="1188720"/>
            <a:ext cx="1673352" cy="2651760"/>
          </a:xfrm>
          <a:prstGeom prst="roundRect">
            <a:avLst>
              <a:gd name="adj" fmla="val 4372"/>
            </a:avLst>
          </a:prstGeom>
          <a:solidFill>
            <a:schemeClr val="accent6"/>
          </a:solidFill>
          <a:ln/>
        </p:spPr>
      </p:sp>
      <p:sp>
        <p:nvSpPr>
          <p:cNvPr id="20" name="Text 16"/>
          <p:cNvSpPr txBox="1"/>
          <p:nvPr/>
        </p:nvSpPr>
        <p:spPr>
          <a:xfrm>
            <a:off x="7077456" y="1298448"/>
            <a:ext cx="457200" cy="411480"/>
          </a:xfrm>
          <a:prstGeom prst="rect">
            <a:avLst/>
          </a:prstGeom>
          <a:noFill/>
          <a:ln/>
        </p:spPr>
        <p:txBody>
          <a:bodyPr wrap="square" lIns="0" tIns="0" rIns="0" bIns="0" rtlCol="0" anchor="t"/>
          <a:lstStyle/>
          <a:p>
            <a:pPr indent="0" marL="0">
              <a:buNone/>
            </a:pPr>
            <a:r>
              <a:rPr lang="en-US" sz="2200" b="1" dirty="0">
                <a:solidFill>
                  <a:schemeClr val="accent1"/>
                </a:solidFill>
              </a:rPr>
              <a:t>4</a:t>
            </a:r>
            <a:endParaRPr lang="en-US" sz="2200" dirty="0"/>
          </a:p>
        </p:txBody>
      </p:sp>
      <p:sp>
        <p:nvSpPr>
          <p:cNvPr id="21" name="Text 17"/>
          <p:cNvSpPr txBox="1"/>
          <p:nvPr/>
        </p:nvSpPr>
        <p:spPr>
          <a:xfrm>
            <a:off x="7077456" y="1737360"/>
            <a:ext cx="1417320" cy="594360"/>
          </a:xfrm>
          <a:prstGeom prst="rect">
            <a:avLst/>
          </a:prstGeom>
          <a:noFill/>
          <a:ln/>
        </p:spPr>
        <p:txBody>
          <a:bodyPr wrap="square" lIns="0" tIns="0" rIns="0" bIns="0" rtlCol="0" anchor="t"/>
          <a:lstStyle/>
          <a:p>
            <a:pPr indent="0" marL="0">
              <a:buNone/>
            </a:pPr>
            <a:r>
              <a:rPr lang="en-US" sz="1300" b="1" dirty="0">
                <a:solidFill>
                  <a:schemeClr val="tx1"/>
                </a:solidFill>
              </a:rPr>
              <a:t>AI generativa</a:t>
            </a:r>
            <a:endParaRPr lang="en-US" sz="1300" dirty="0"/>
          </a:p>
        </p:txBody>
      </p:sp>
      <p:sp>
        <p:nvSpPr>
          <p:cNvPr id="22" name="Text 18"/>
          <p:cNvSpPr txBox="1"/>
          <p:nvPr/>
        </p:nvSpPr>
        <p:spPr>
          <a:xfrm>
            <a:off x="7077456" y="2359152"/>
            <a:ext cx="1417320" cy="1371600"/>
          </a:xfrm>
          <a:prstGeom prst="rect">
            <a:avLst/>
          </a:prstGeom>
          <a:noFill/>
          <a:ln/>
        </p:spPr>
        <p:txBody>
          <a:bodyPr wrap="square" lIns="0" tIns="0" rIns="0" bIns="0" rtlCol="0" anchor="t"/>
          <a:lstStyle/>
          <a:p>
            <a:pPr indent="0" marL="0">
              <a:buNone/>
            </a:pPr>
            <a:r>
              <a:rPr lang="en-US" sz="1200" dirty="0">
                <a:solidFill>
                  <a:schemeClr val="tx2"/>
                </a:solidFill>
              </a:rPr>
              <a:t>Sintesi della richiesta e bozza di risposta</a:t>
            </a:r>
            <a:endParaRPr lang="en-US" sz="1200" dirty="0"/>
          </a:p>
        </p:txBody>
      </p:sp>
      <p:sp>
        <p:nvSpPr>
          <p:cNvPr id="23" name="operatore"/>
          <p:cNvSpPr/>
          <p:nvPr/>
        </p:nvSpPr>
        <p:spPr>
          <a:xfrm>
            <a:off x="1508760" y="3977640"/>
            <a:ext cx="7178040" cy="548640"/>
          </a:xfrm>
          <a:prstGeom prst="roundRect">
            <a:avLst>
              <a:gd name="adj" fmla="val 13333"/>
            </a:avLst>
          </a:prstGeom>
          <a:solidFill>
            <a:schemeClr val="tx1"/>
          </a:solidFill>
          <a:ln/>
        </p:spPr>
      </p:sp>
      <p:sp>
        <p:nvSpPr>
          <p:cNvPr id="24" name="cerchio FiUserCheck"/>
          <p:cNvSpPr/>
          <p:nvPr/>
        </p:nvSpPr>
        <p:spPr>
          <a:xfrm>
            <a:off x="1645920" y="4041648"/>
            <a:ext cx="420624" cy="420624"/>
          </a:xfrm>
          <a:prstGeom prst="ellipse">
            <a:avLst/>
          </a:prstGeom>
          <a:solidFill>
            <a:schemeClr val="accent1"/>
          </a:solidFill>
          <a:ln/>
        </p:spPr>
      </p:sp>
      <p:pic>
        <p:nvPicPr>
          <p:cNvPr id="25" name="Image 1" descr="FiUserCheck">    </p:cNvPr>
          <p:cNvPicPr>
            <a:picLocks noChangeAspect="1"/>
          </p:cNvPicPr>
          <p:nvPr/>
        </p:nvPicPr>
        <p:blipFill>
          <a:blip r:embed="rId2"/>
          <a:stretch>
            <a:fillRect/>
          </a:stretch>
        </p:blipFill>
        <p:spPr>
          <a:xfrm>
            <a:off x="1751076" y="4146804"/>
            <a:ext cx="210312" cy="210312"/>
          </a:xfrm>
          <a:prstGeom prst="rect">
            <a:avLst/>
          </a:prstGeom>
        </p:spPr>
      </p:pic>
      <p:sp>
        <p:nvSpPr>
          <p:cNvPr id="26" name="Text 21"/>
          <p:cNvSpPr txBox="1"/>
          <p:nvPr/>
        </p:nvSpPr>
        <p:spPr>
          <a:xfrm>
            <a:off x="2240280" y="3977640"/>
            <a:ext cx="6309360" cy="548640"/>
          </a:xfrm>
          <a:prstGeom prst="rect">
            <a:avLst/>
          </a:prstGeom>
          <a:noFill/>
          <a:ln/>
        </p:spPr>
        <p:txBody>
          <a:bodyPr wrap="square" lIns="0" tIns="0" rIns="0" bIns="0" rtlCol="0" anchor="ctr"/>
          <a:lstStyle/>
          <a:p>
            <a:pPr indent="0" marL="0">
              <a:buNone/>
            </a:pPr>
            <a:r>
              <a:rPr lang="en-US" sz="1400" dirty="0">
                <a:solidFill>
                  <a:schemeClr val="bg1"/>
                </a:solidFill>
              </a:rPr>
              <a:t>L'operatore verifica, modifica e invia la risposta</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Software deterministico e sistemi probabilistici</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463040"/>
                <a:gridCol w="3383280"/>
                <a:gridCol w="3383280"/>
              </a:tblGrid>
              <a:tr h="512064">
                <a:tc>
                  <a:txBody>
                    <a:bodyPr/>
                    <a:lstStyle/>
                    <a:p>
                      <a:pPr indent="0" marL="0">
                        <a:buNone/>
                      </a:pP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bg1"/>
                          </a:solidFill>
                        </a:rPr>
                        <a:t>Software deterministico</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Sistema probabilistico</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512064">
                <a:tc>
                  <a:txBody>
                    <a:bodyPr/>
                    <a:lstStyle/>
                    <a:p>
                      <a:pPr indent="0" marL="0">
                        <a:buNone/>
                      </a:pPr>
                      <a:r>
                        <a:rPr lang="en-US" sz="1300" b="1" dirty="0">
                          <a:solidFill>
                            <a:schemeClr val="tx1"/>
                          </a:solidFill>
                        </a:rPr>
                        <a:t>Logica</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Istruzioni scritte da persone</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Regolarità apprese dai dati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12064">
                <a:tc>
                  <a:txBody>
                    <a:bodyPr/>
                    <a:lstStyle/>
                    <a:p>
                      <a:pPr indent="0" marL="0">
                        <a:buNone/>
                      </a:pPr>
                      <a:r>
                        <a:rPr lang="en-US" sz="1300" b="1" dirty="0">
                          <a:solidFill>
                            <a:schemeClr val="tx1"/>
                          </a:solidFill>
                        </a:rPr>
                        <a:t>Stesso input</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Sempre lo stesso output</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Output anche diversi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12064">
                <a:tc>
                  <a:txBody>
                    <a:bodyPr/>
                    <a:lstStyle/>
                    <a:p>
                      <a:pPr indent="0" marL="0">
                        <a:buNone/>
                      </a:pPr>
                      <a:r>
                        <a:rPr lang="en-US" sz="1300" b="1" dirty="0">
                          <a:solidFill>
                            <a:schemeClr val="tx1"/>
                          </a:solidFill>
                        </a:rPr>
                        <a:t>Errori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Difetti del programma, correggibili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Risultati plausibili ma non sempre corretti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12064">
                <a:tc>
                  <a:txBody>
                    <a:bodyPr/>
                    <a:lstStyle/>
                    <a:p>
                      <a:pPr indent="0" marL="0">
                        <a:buNone/>
                      </a:pPr>
                      <a:r>
                        <a:rPr lang="en-US" sz="1300" b="1" dirty="0">
                          <a:solidFill>
                            <a:schemeClr val="tx1"/>
                          </a:solidFill>
                        </a:rPr>
                        <a:t>Verifica</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Collaudo del programma</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Verifica proporzionata all'importanza</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512064">
                <a:tc>
                  <a:txBody>
                    <a:bodyPr/>
                    <a:lstStyle/>
                    <a:p>
                      <a:pPr indent="0" marL="0">
                        <a:buNone/>
                      </a:pPr>
                      <a:r>
                        <a:rPr lang="en-US" sz="1300" b="1" dirty="0">
                          <a:solidFill>
                            <a:schemeClr val="tx1"/>
                          </a:solidFill>
                        </a:rPr>
                        <a:t>Esempi</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Calcolo IVA, gestionale, foglio di calcolo</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Classificazione email, assistente che scrive</a:t>
                      </a:r>
                      <a:endParaRPr lang="en-US" sz="1300" dirty="0"/>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Digitalizzazione, automazione e AI sono concetti collegati ma distinti; possono coesistere nello stesso processo aziendale.</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1.4  ·  Dalla digitalizzazione all'Intelligenza Artificiale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1.5</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Rilevanza dell'AI per le aziende</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Una tecnologia abilitante e trasversale: il valore nasce da applicazioni appropriate a problemi reali</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Un'applicazione trasversale alle funzioni aziendali</a:t>
            </a:r>
            <a:endParaRPr lang="en-US" sz="2600" dirty="0"/>
          </a:p>
        </p:txBody>
      </p:sp>
      <p:sp>
        <p:nvSpPr>
          <p:cNvPr id="4" name="Marketing"/>
          <p:cNvSpPr/>
          <p:nvPr/>
        </p:nvSpPr>
        <p:spPr>
          <a:xfrm>
            <a:off x="457200" y="1097280"/>
            <a:ext cx="1965960" cy="1463040"/>
          </a:xfrm>
          <a:prstGeom prst="roundRect">
            <a:avLst>
              <a:gd name="adj" fmla="val 5000"/>
            </a:avLst>
          </a:prstGeom>
          <a:solidFill>
            <a:schemeClr val="bg2"/>
          </a:solidFill>
          <a:ln/>
        </p:spPr>
      </p:sp>
      <p:sp>
        <p:nvSpPr>
          <p:cNvPr id="5" name="cerchio FiSpeaker"/>
          <p:cNvSpPr/>
          <p:nvPr/>
        </p:nvSpPr>
        <p:spPr>
          <a:xfrm>
            <a:off x="621792" y="1261872"/>
            <a:ext cx="457200" cy="457200"/>
          </a:xfrm>
          <a:prstGeom prst="ellipse">
            <a:avLst/>
          </a:prstGeom>
          <a:solidFill>
            <a:schemeClr val="accent1"/>
          </a:solidFill>
          <a:ln/>
        </p:spPr>
      </p:sp>
      <p:pic>
        <p:nvPicPr>
          <p:cNvPr id="6" name="Image 0" descr="FiSpeaker">    </p:cNvPr>
          <p:cNvPicPr>
            <a:picLocks noChangeAspect="1"/>
          </p:cNvPicPr>
          <p:nvPr/>
        </p:nvPicPr>
        <p:blipFill>
          <a:blip r:embed="rId1"/>
          <a:stretch>
            <a:fillRect/>
          </a:stretch>
        </p:blipFill>
        <p:spPr>
          <a:xfrm>
            <a:off x="736092" y="1376172"/>
            <a:ext cx="228600" cy="228600"/>
          </a:xfrm>
          <a:prstGeom prst="rect">
            <a:avLst/>
          </a:prstGeom>
        </p:spPr>
      </p:pic>
      <p:sp>
        <p:nvSpPr>
          <p:cNvPr id="7" name="Text 3"/>
          <p:cNvSpPr txBox="1"/>
          <p:nvPr/>
        </p:nvSpPr>
        <p:spPr>
          <a:xfrm>
            <a:off x="621792" y="18105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Marketing</a:t>
            </a:r>
            <a:endParaRPr lang="en-US" sz="1300" dirty="0"/>
          </a:p>
        </p:txBody>
      </p:sp>
      <p:sp>
        <p:nvSpPr>
          <p:cNvPr id="8" name="Text 4"/>
          <p:cNvSpPr txBox="1"/>
          <p:nvPr/>
        </p:nvSpPr>
        <p:spPr>
          <a:xfrm>
            <a:off x="621792" y="2176272"/>
            <a:ext cx="1691640" cy="320040"/>
          </a:xfrm>
          <a:prstGeom prst="rect">
            <a:avLst/>
          </a:prstGeom>
          <a:noFill/>
          <a:ln/>
        </p:spPr>
        <p:txBody>
          <a:bodyPr wrap="square" lIns="0" tIns="0" rIns="0" bIns="0" rtlCol="0" anchor="t"/>
          <a:lstStyle/>
          <a:p>
            <a:pPr indent="0" marL="0">
              <a:buNone/>
            </a:pPr>
            <a:r>
              <a:rPr lang="en-US" sz="1200" dirty="0">
                <a:solidFill>
                  <a:schemeClr val="tx2"/>
                </a:solidFill>
              </a:rPr>
              <a:t>Contenuti e analisi</a:t>
            </a:r>
            <a:endParaRPr lang="en-US" sz="1200" dirty="0"/>
          </a:p>
        </p:txBody>
      </p:sp>
      <p:sp>
        <p:nvSpPr>
          <p:cNvPr id="9" name="Vendite"/>
          <p:cNvSpPr/>
          <p:nvPr/>
        </p:nvSpPr>
        <p:spPr>
          <a:xfrm>
            <a:off x="2560320" y="1097280"/>
            <a:ext cx="1965960" cy="1463040"/>
          </a:xfrm>
          <a:prstGeom prst="roundRect">
            <a:avLst>
              <a:gd name="adj" fmla="val 5000"/>
            </a:avLst>
          </a:prstGeom>
          <a:solidFill>
            <a:schemeClr val="bg2"/>
          </a:solidFill>
          <a:ln/>
        </p:spPr>
      </p:sp>
      <p:sp>
        <p:nvSpPr>
          <p:cNvPr id="10" name="cerchio FiTrendingUp"/>
          <p:cNvSpPr/>
          <p:nvPr/>
        </p:nvSpPr>
        <p:spPr>
          <a:xfrm>
            <a:off x="2724912" y="1261872"/>
            <a:ext cx="457200" cy="457200"/>
          </a:xfrm>
          <a:prstGeom prst="ellipse">
            <a:avLst/>
          </a:prstGeom>
          <a:solidFill>
            <a:schemeClr val="accent1"/>
          </a:solidFill>
          <a:ln/>
        </p:spPr>
      </p:sp>
      <p:pic>
        <p:nvPicPr>
          <p:cNvPr id="11" name="Image 1" descr="FiTrendingUp">    </p:cNvPr>
          <p:cNvPicPr>
            <a:picLocks noChangeAspect="1"/>
          </p:cNvPicPr>
          <p:nvPr/>
        </p:nvPicPr>
        <p:blipFill>
          <a:blip r:embed="rId2"/>
          <a:stretch>
            <a:fillRect/>
          </a:stretch>
        </p:blipFill>
        <p:spPr>
          <a:xfrm>
            <a:off x="2839212" y="1376172"/>
            <a:ext cx="228600" cy="228600"/>
          </a:xfrm>
          <a:prstGeom prst="rect">
            <a:avLst/>
          </a:prstGeom>
        </p:spPr>
      </p:pic>
      <p:sp>
        <p:nvSpPr>
          <p:cNvPr id="12" name="Text 7"/>
          <p:cNvSpPr txBox="1"/>
          <p:nvPr/>
        </p:nvSpPr>
        <p:spPr>
          <a:xfrm>
            <a:off x="2724912" y="18105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Vendite</a:t>
            </a:r>
            <a:endParaRPr lang="en-US" sz="1300" dirty="0"/>
          </a:p>
        </p:txBody>
      </p:sp>
      <p:sp>
        <p:nvSpPr>
          <p:cNvPr id="13" name="Text 8"/>
          <p:cNvSpPr txBox="1"/>
          <p:nvPr/>
        </p:nvSpPr>
        <p:spPr>
          <a:xfrm>
            <a:off x="2724912" y="2176272"/>
            <a:ext cx="1691640" cy="320040"/>
          </a:xfrm>
          <a:prstGeom prst="rect">
            <a:avLst/>
          </a:prstGeom>
          <a:noFill/>
          <a:ln/>
        </p:spPr>
        <p:txBody>
          <a:bodyPr wrap="square" lIns="0" tIns="0" rIns="0" bIns="0" rtlCol="0" anchor="t"/>
          <a:lstStyle/>
          <a:p>
            <a:pPr indent="0" marL="0">
              <a:buNone/>
            </a:pPr>
            <a:r>
              <a:rPr lang="en-US" sz="1200" dirty="0">
                <a:solidFill>
                  <a:schemeClr val="tx2"/>
                </a:solidFill>
              </a:rPr>
              <a:t>Incontri e offerte</a:t>
            </a:r>
            <a:endParaRPr lang="en-US" sz="1200" dirty="0"/>
          </a:p>
        </p:txBody>
      </p:sp>
      <p:sp>
        <p:nvSpPr>
          <p:cNvPr id="14" name="Assistenza clienti"/>
          <p:cNvSpPr/>
          <p:nvPr/>
        </p:nvSpPr>
        <p:spPr>
          <a:xfrm>
            <a:off x="4663440" y="1097280"/>
            <a:ext cx="1965960" cy="1463040"/>
          </a:xfrm>
          <a:prstGeom prst="roundRect">
            <a:avLst>
              <a:gd name="adj" fmla="val 5000"/>
            </a:avLst>
          </a:prstGeom>
          <a:solidFill>
            <a:schemeClr val="bg2"/>
          </a:solidFill>
          <a:ln/>
        </p:spPr>
      </p:sp>
      <p:sp>
        <p:nvSpPr>
          <p:cNvPr id="15" name="cerchio FiHeadphones"/>
          <p:cNvSpPr/>
          <p:nvPr/>
        </p:nvSpPr>
        <p:spPr>
          <a:xfrm>
            <a:off x="4828032" y="1261872"/>
            <a:ext cx="457200" cy="457200"/>
          </a:xfrm>
          <a:prstGeom prst="ellipse">
            <a:avLst/>
          </a:prstGeom>
          <a:solidFill>
            <a:schemeClr val="accent1"/>
          </a:solidFill>
          <a:ln/>
        </p:spPr>
      </p:sp>
      <p:pic>
        <p:nvPicPr>
          <p:cNvPr id="16" name="Image 2" descr="FiHeadphones">    </p:cNvPr>
          <p:cNvPicPr>
            <a:picLocks noChangeAspect="1"/>
          </p:cNvPicPr>
          <p:nvPr/>
        </p:nvPicPr>
        <p:blipFill>
          <a:blip r:embed="rId3"/>
          <a:stretch>
            <a:fillRect/>
          </a:stretch>
        </p:blipFill>
        <p:spPr>
          <a:xfrm>
            <a:off x="4942332" y="1376172"/>
            <a:ext cx="228600" cy="228600"/>
          </a:xfrm>
          <a:prstGeom prst="rect">
            <a:avLst/>
          </a:prstGeom>
        </p:spPr>
      </p:pic>
      <p:sp>
        <p:nvSpPr>
          <p:cNvPr id="17" name="Text 11"/>
          <p:cNvSpPr txBox="1"/>
          <p:nvPr/>
        </p:nvSpPr>
        <p:spPr>
          <a:xfrm>
            <a:off x="4828032" y="18105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Assistenza clienti</a:t>
            </a:r>
            <a:endParaRPr lang="en-US" sz="1300" dirty="0"/>
          </a:p>
        </p:txBody>
      </p:sp>
      <p:sp>
        <p:nvSpPr>
          <p:cNvPr id="18" name="Text 12"/>
          <p:cNvSpPr txBox="1"/>
          <p:nvPr/>
        </p:nvSpPr>
        <p:spPr>
          <a:xfrm>
            <a:off x="4828032" y="2176272"/>
            <a:ext cx="1691640" cy="320040"/>
          </a:xfrm>
          <a:prstGeom prst="rect">
            <a:avLst/>
          </a:prstGeom>
          <a:noFill/>
          <a:ln/>
        </p:spPr>
        <p:txBody>
          <a:bodyPr wrap="square" lIns="0" tIns="0" rIns="0" bIns="0" rtlCol="0" anchor="t"/>
          <a:lstStyle/>
          <a:p>
            <a:pPr indent="0" marL="0">
              <a:buNone/>
            </a:pPr>
            <a:r>
              <a:rPr lang="en-US" sz="1200" dirty="0">
                <a:solidFill>
                  <a:schemeClr val="tx2"/>
                </a:solidFill>
              </a:rPr>
              <a:t>Smistamento e risposte</a:t>
            </a:r>
            <a:endParaRPr lang="en-US" sz="1200" dirty="0"/>
          </a:p>
        </p:txBody>
      </p:sp>
      <p:sp>
        <p:nvSpPr>
          <p:cNvPr id="19" name="Risorse umane"/>
          <p:cNvSpPr/>
          <p:nvPr/>
        </p:nvSpPr>
        <p:spPr>
          <a:xfrm>
            <a:off x="6766560" y="1097280"/>
            <a:ext cx="1965960" cy="1463040"/>
          </a:xfrm>
          <a:prstGeom prst="roundRect">
            <a:avLst>
              <a:gd name="adj" fmla="val 5000"/>
            </a:avLst>
          </a:prstGeom>
          <a:solidFill>
            <a:schemeClr val="bg2"/>
          </a:solidFill>
          <a:ln/>
        </p:spPr>
      </p:sp>
      <p:sp>
        <p:nvSpPr>
          <p:cNvPr id="20" name="cerchio FiUsers"/>
          <p:cNvSpPr/>
          <p:nvPr/>
        </p:nvSpPr>
        <p:spPr>
          <a:xfrm>
            <a:off x="6931152" y="1261872"/>
            <a:ext cx="457200" cy="457200"/>
          </a:xfrm>
          <a:prstGeom prst="ellipse">
            <a:avLst/>
          </a:prstGeom>
          <a:solidFill>
            <a:schemeClr val="accent1"/>
          </a:solidFill>
          <a:ln/>
        </p:spPr>
      </p:sp>
      <p:pic>
        <p:nvPicPr>
          <p:cNvPr id="21" name="Image 3" descr="FiUsers">    </p:cNvPr>
          <p:cNvPicPr>
            <a:picLocks noChangeAspect="1"/>
          </p:cNvPicPr>
          <p:nvPr/>
        </p:nvPicPr>
        <p:blipFill>
          <a:blip r:embed="rId4"/>
          <a:stretch>
            <a:fillRect/>
          </a:stretch>
        </p:blipFill>
        <p:spPr>
          <a:xfrm>
            <a:off x="7045452" y="1376172"/>
            <a:ext cx="228600" cy="228600"/>
          </a:xfrm>
          <a:prstGeom prst="rect">
            <a:avLst/>
          </a:prstGeom>
        </p:spPr>
      </p:pic>
      <p:sp>
        <p:nvSpPr>
          <p:cNvPr id="22" name="Text 15"/>
          <p:cNvSpPr txBox="1"/>
          <p:nvPr/>
        </p:nvSpPr>
        <p:spPr>
          <a:xfrm>
            <a:off x="6931152" y="18105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Risorse umane</a:t>
            </a:r>
            <a:endParaRPr lang="en-US" sz="1300" dirty="0"/>
          </a:p>
        </p:txBody>
      </p:sp>
      <p:sp>
        <p:nvSpPr>
          <p:cNvPr id="23" name="Text 16"/>
          <p:cNvSpPr txBox="1"/>
          <p:nvPr/>
        </p:nvSpPr>
        <p:spPr>
          <a:xfrm>
            <a:off x="6931152" y="2176272"/>
            <a:ext cx="1691640" cy="320040"/>
          </a:xfrm>
          <a:prstGeom prst="rect">
            <a:avLst/>
          </a:prstGeom>
          <a:noFill/>
          <a:ln/>
        </p:spPr>
        <p:txBody>
          <a:bodyPr wrap="square" lIns="0" tIns="0" rIns="0" bIns="0" rtlCol="0" anchor="t"/>
          <a:lstStyle/>
          <a:p>
            <a:pPr indent="0" marL="0">
              <a:buNone/>
            </a:pPr>
            <a:r>
              <a:rPr lang="en-US" sz="1200" dirty="0">
                <a:solidFill>
                  <a:schemeClr val="tx2"/>
                </a:solidFill>
              </a:rPr>
              <a:t>Annunci, formazione</a:t>
            </a:r>
            <a:endParaRPr lang="en-US" sz="1200" dirty="0"/>
          </a:p>
        </p:txBody>
      </p:sp>
      <p:sp>
        <p:nvSpPr>
          <p:cNvPr id="24" name="Amministrazione"/>
          <p:cNvSpPr/>
          <p:nvPr/>
        </p:nvSpPr>
        <p:spPr>
          <a:xfrm>
            <a:off x="457200" y="2697480"/>
            <a:ext cx="1965960" cy="1463040"/>
          </a:xfrm>
          <a:prstGeom prst="roundRect">
            <a:avLst>
              <a:gd name="adj" fmla="val 5000"/>
            </a:avLst>
          </a:prstGeom>
          <a:solidFill>
            <a:schemeClr val="bg2"/>
          </a:solidFill>
          <a:ln/>
        </p:spPr>
      </p:sp>
      <p:sp>
        <p:nvSpPr>
          <p:cNvPr id="25" name="cerchio FiDollarSign"/>
          <p:cNvSpPr/>
          <p:nvPr/>
        </p:nvSpPr>
        <p:spPr>
          <a:xfrm>
            <a:off x="621792" y="2862072"/>
            <a:ext cx="457200" cy="457200"/>
          </a:xfrm>
          <a:prstGeom prst="ellipse">
            <a:avLst/>
          </a:prstGeom>
          <a:solidFill>
            <a:schemeClr val="accent1"/>
          </a:solidFill>
          <a:ln/>
        </p:spPr>
      </p:sp>
      <p:pic>
        <p:nvPicPr>
          <p:cNvPr id="26" name="Image 4" descr="FiDollarSign">    </p:cNvPr>
          <p:cNvPicPr>
            <a:picLocks noChangeAspect="1"/>
          </p:cNvPicPr>
          <p:nvPr/>
        </p:nvPicPr>
        <p:blipFill>
          <a:blip r:embed="rId5"/>
          <a:stretch>
            <a:fillRect/>
          </a:stretch>
        </p:blipFill>
        <p:spPr>
          <a:xfrm>
            <a:off x="736092" y="2976372"/>
            <a:ext cx="228600" cy="228600"/>
          </a:xfrm>
          <a:prstGeom prst="rect">
            <a:avLst/>
          </a:prstGeom>
        </p:spPr>
      </p:pic>
      <p:sp>
        <p:nvSpPr>
          <p:cNvPr id="27" name="Text 19"/>
          <p:cNvSpPr txBox="1"/>
          <p:nvPr/>
        </p:nvSpPr>
        <p:spPr>
          <a:xfrm>
            <a:off x="621792" y="34107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Amministrazione</a:t>
            </a:r>
            <a:endParaRPr lang="en-US" sz="1300" dirty="0"/>
          </a:p>
        </p:txBody>
      </p:sp>
      <p:sp>
        <p:nvSpPr>
          <p:cNvPr id="28" name="Text 20"/>
          <p:cNvSpPr txBox="1"/>
          <p:nvPr/>
        </p:nvSpPr>
        <p:spPr>
          <a:xfrm>
            <a:off x="621792" y="3776472"/>
            <a:ext cx="1691640" cy="320040"/>
          </a:xfrm>
          <a:prstGeom prst="rect">
            <a:avLst/>
          </a:prstGeom>
          <a:noFill/>
          <a:ln/>
        </p:spPr>
        <p:txBody>
          <a:bodyPr wrap="square" lIns="0" tIns="0" rIns="0" bIns="0" rtlCol="0" anchor="t"/>
          <a:lstStyle/>
          <a:p>
            <a:pPr indent="0" marL="0">
              <a:buNone/>
            </a:pPr>
            <a:r>
              <a:rPr lang="en-US" sz="1200" dirty="0">
                <a:solidFill>
                  <a:schemeClr val="tx2"/>
                </a:solidFill>
              </a:rPr>
              <a:t>Elaborazione documenti</a:t>
            </a:r>
            <a:endParaRPr lang="en-US" sz="1200" dirty="0"/>
          </a:p>
        </p:txBody>
      </p:sp>
      <p:sp>
        <p:nvSpPr>
          <p:cNvPr id="29" name="Produzione"/>
          <p:cNvSpPr/>
          <p:nvPr/>
        </p:nvSpPr>
        <p:spPr>
          <a:xfrm>
            <a:off x="2560320" y="2697480"/>
            <a:ext cx="1965960" cy="1463040"/>
          </a:xfrm>
          <a:prstGeom prst="roundRect">
            <a:avLst>
              <a:gd name="adj" fmla="val 5000"/>
            </a:avLst>
          </a:prstGeom>
          <a:solidFill>
            <a:schemeClr val="bg2"/>
          </a:solidFill>
          <a:ln/>
        </p:spPr>
      </p:sp>
      <p:sp>
        <p:nvSpPr>
          <p:cNvPr id="30" name="cerchio FiTool"/>
          <p:cNvSpPr/>
          <p:nvPr/>
        </p:nvSpPr>
        <p:spPr>
          <a:xfrm>
            <a:off x="2724912" y="2862072"/>
            <a:ext cx="457200" cy="457200"/>
          </a:xfrm>
          <a:prstGeom prst="ellipse">
            <a:avLst/>
          </a:prstGeom>
          <a:solidFill>
            <a:schemeClr val="accent1"/>
          </a:solidFill>
          <a:ln/>
        </p:spPr>
      </p:sp>
      <p:pic>
        <p:nvPicPr>
          <p:cNvPr id="31" name="Image 5" descr="FiTool">    </p:cNvPr>
          <p:cNvPicPr>
            <a:picLocks noChangeAspect="1"/>
          </p:cNvPicPr>
          <p:nvPr/>
        </p:nvPicPr>
        <p:blipFill>
          <a:blip r:embed="rId6"/>
          <a:stretch>
            <a:fillRect/>
          </a:stretch>
        </p:blipFill>
        <p:spPr>
          <a:xfrm>
            <a:off x="2839212" y="2976372"/>
            <a:ext cx="228600" cy="228600"/>
          </a:xfrm>
          <a:prstGeom prst="rect">
            <a:avLst/>
          </a:prstGeom>
        </p:spPr>
      </p:pic>
      <p:sp>
        <p:nvSpPr>
          <p:cNvPr id="32" name="Text 23"/>
          <p:cNvSpPr txBox="1"/>
          <p:nvPr/>
        </p:nvSpPr>
        <p:spPr>
          <a:xfrm>
            <a:off x="2724912" y="34107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Produzione</a:t>
            </a:r>
            <a:endParaRPr lang="en-US" sz="1300" dirty="0"/>
          </a:p>
        </p:txBody>
      </p:sp>
      <p:sp>
        <p:nvSpPr>
          <p:cNvPr id="33" name="Text 24"/>
          <p:cNvSpPr txBox="1"/>
          <p:nvPr/>
        </p:nvSpPr>
        <p:spPr>
          <a:xfrm>
            <a:off x="2724912" y="3776472"/>
            <a:ext cx="1691640" cy="320040"/>
          </a:xfrm>
          <a:prstGeom prst="rect">
            <a:avLst/>
          </a:prstGeom>
          <a:noFill/>
          <a:ln/>
        </p:spPr>
        <p:txBody>
          <a:bodyPr wrap="square" lIns="0" tIns="0" rIns="0" bIns="0" rtlCol="0" anchor="t"/>
          <a:lstStyle/>
          <a:p>
            <a:pPr indent="0" marL="0">
              <a:buNone/>
            </a:pPr>
            <a:r>
              <a:rPr lang="en-US" sz="1200" dirty="0">
                <a:solidFill>
                  <a:schemeClr val="tx2"/>
                </a:solidFill>
              </a:rPr>
              <a:t>Manutenzione, qualità</a:t>
            </a:r>
            <a:endParaRPr lang="en-US" sz="1200" dirty="0"/>
          </a:p>
        </p:txBody>
      </p:sp>
      <p:sp>
        <p:nvSpPr>
          <p:cNvPr id="34" name="IT"/>
          <p:cNvSpPr/>
          <p:nvPr/>
        </p:nvSpPr>
        <p:spPr>
          <a:xfrm>
            <a:off x="4663440" y="2697480"/>
            <a:ext cx="1965960" cy="1463040"/>
          </a:xfrm>
          <a:prstGeom prst="roundRect">
            <a:avLst>
              <a:gd name="adj" fmla="val 5000"/>
            </a:avLst>
          </a:prstGeom>
          <a:solidFill>
            <a:schemeClr val="bg2"/>
          </a:solidFill>
          <a:ln/>
        </p:spPr>
      </p:sp>
      <p:sp>
        <p:nvSpPr>
          <p:cNvPr id="35" name="cerchio FiCode"/>
          <p:cNvSpPr/>
          <p:nvPr/>
        </p:nvSpPr>
        <p:spPr>
          <a:xfrm>
            <a:off x="4828032" y="2862072"/>
            <a:ext cx="457200" cy="457200"/>
          </a:xfrm>
          <a:prstGeom prst="ellipse">
            <a:avLst/>
          </a:prstGeom>
          <a:solidFill>
            <a:schemeClr val="accent1"/>
          </a:solidFill>
          <a:ln/>
        </p:spPr>
      </p:sp>
      <p:pic>
        <p:nvPicPr>
          <p:cNvPr id="36" name="Image 6" descr="FiCode">    </p:cNvPr>
          <p:cNvPicPr>
            <a:picLocks noChangeAspect="1"/>
          </p:cNvPicPr>
          <p:nvPr/>
        </p:nvPicPr>
        <p:blipFill>
          <a:blip r:embed="rId7"/>
          <a:stretch>
            <a:fillRect/>
          </a:stretch>
        </p:blipFill>
        <p:spPr>
          <a:xfrm>
            <a:off x="4942332" y="2976372"/>
            <a:ext cx="228600" cy="228600"/>
          </a:xfrm>
          <a:prstGeom prst="rect">
            <a:avLst/>
          </a:prstGeom>
        </p:spPr>
      </p:pic>
      <p:sp>
        <p:nvSpPr>
          <p:cNvPr id="37" name="Text 27"/>
          <p:cNvSpPr txBox="1"/>
          <p:nvPr/>
        </p:nvSpPr>
        <p:spPr>
          <a:xfrm>
            <a:off x="4828032" y="34107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IT</a:t>
            </a:r>
            <a:endParaRPr lang="en-US" sz="1300" dirty="0"/>
          </a:p>
        </p:txBody>
      </p:sp>
      <p:sp>
        <p:nvSpPr>
          <p:cNvPr id="38" name="Text 28"/>
          <p:cNvSpPr txBox="1"/>
          <p:nvPr/>
        </p:nvSpPr>
        <p:spPr>
          <a:xfrm>
            <a:off x="4828032" y="3776472"/>
            <a:ext cx="1691640" cy="320040"/>
          </a:xfrm>
          <a:prstGeom prst="rect">
            <a:avLst/>
          </a:prstGeom>
          <a:noFill/>
          <a:ln/>
        </p:spPr>
        <p:txBody>
          <a:bodyPr wrap="square" lIns="0" tIns="0" rIns="0" bIns="0" rtlCol="0" anchor="t"/>
          <a:lstStyle/>
          <a:p>
            <a:pPr indent="0" marL="0">
              <a:buNone/>
            </a:pPr>
            <a:r>
              <a:rPr lang="en-US" sz="1200" dirty="0">
                <a:solidFill>
                  <a:schemeClr val="tx2"/>
                </a:solidFill>
              </a:rPr>
              <a:t>Sviluppo e supporto</a:t>
            </a:r>
            <a:endParaRPr lang="en-US" sz="1200" dirty="0"/>
          </a:p>
        </p:txBody>
      </p:sp>
      <p:sp>
        <p:nvSpPr>
          <p:cNvPr id="39" name="Legale e compliance"/>
          <p:cNvSpPr/>
          <p:nvPr/>
        </p:nvSpPr>
        <p:spPr>
          <a:xfrm>
            <a:off x="6766560" y="2697480"/>
            <a:ext cx="1965960" cy="1463040"/>
          </a:xfrm>
          <a:prstGeom prst="roundRect">
            <a:avLst>
              <a:gd name="adj" fmla="val 5000"/>
            </a:avLst>
          </a:prstGeom>
          <a:solidFill>
            <a:schemeClr val="bg2"/>
          </a:solidFill>
          <a:ln/>
        </p:spPr>
      </p:sp>
      <p:sp>
        <p:nvSpPr>
          <p:cNvPr id="40" name="cerchio FiShield"/>
          <p:cNvSpPr/>
          <p:nvPr/>
        </p:nvSpPr>
        <p:spPr>
          <a:xfrm>
            <a:off x="6931152" y="2862072"/>
            <a:ext cx="457200" cy="457200"/>
          </a:xfrm>
          <a:prstGeom prst="ellipse">
            <a:avLst/>
          </a:prstGeom>
          <a:solidFill>
            <a:schemeClr val="accent1"/>
          </a:solidFill>
          <a:ln/>
        </p:spPr>
      </p:sp>
      <p:pic>
        <p:nvPicPr>
          <p:cNvPr id="41" name="Image 7" descr="FiShield">    </p:cNvPr>
          <p:cNvPicPr>
            <a:picLocks noChangeAspect="1"/>
          </p:cNvPicPr>
          <p:nvPr/>
        </p:nvPicPr>
        <p:blipFill>
          <a:blip r:embed="rId8"/>
          <a:stretch>
            <a:fillRect/>
          </a:stretch>
        </p:blipFill>
        <p:spPr>
          <a:xfrm>
            <a:off x="7045452" y="2976372"/>
            <a:ext cx="228600" cy="228600"/>
          </a:xfrm>
          <a:prstGeom prst="rect">
            <a:avLst/>
          </a:prstGeom>
        </p:spPr>
      </p:pic>
      <p:sp>
        <p:nvSpPr>
          <p:cNvPr id="42" name="Text 31"/>
          <p:cNvSpPr txBox="1"/>
          <p:nvPr/>
        </p:nvSpPr>
        <p:spPr>
          <a:xfrm>
            <a:off x="6931152" y="3410712"/>
            <a:ext cx="1691640" cy="320040"/>
          </a:xfrm>
          <a:prstGeom prst="rect">
            <a:avLst/>
          </a:prstGeom>
          <a:noFill/>
          <a:ln/>
        </p:spPr>
        <p:txBody>
          <a:bodyPr wrap="square" lIns="0" tIns="0" rIns="0" bIns="0" rtlCol="0" anchor="t"/>
          <a:lstStyle/>
          <a:p>
            <a:pPr indent="0" marL="0">
              <a:buNone/>
            </a:pPr>
            <a:r>
              <a:rPr lang="en-US" sz="1300" b="1" dirty="0">
                <a:solidFill>
                  <a:schemeClr val="tx1"/>
                </a:solidFill>
              </a:rPr>
              <a:t>Legale e compliance</a:t>
            </a:r>
            <a:endParaRPr lang="en-US" sz="1300" dirty="0"/>
          </a:p>
        </p:txBody>
      </p:sp>
      <p:sp>
        <p:nvSpPr>
          <p:cNvPr id="43" name="Text 32"/>
          <p:cNvSpPr txBox="1"/>
          <p:nvPr/>
        </p:nvSpPr>
        <p:spPr>
          <a:xfrm>
            <a:off x="6931152" y="3776472"/>
            <a:ext cx="1691640" cy="320040"/>
          </a:xfrm>
          <a:prstGeom prst="rect">
            <a:avLst/>
          </a:prstGeom>
          <a:noFill/>
          <a:ln/>
        </p:spPr>
        <p:txBody>
          <a:bodyPr wrap="square" lIns="0" tIns="0" rIns="0" bIns="0" rtlCol="0" anchor="t"/>
          <a:lstStyle/>
          <a:p>
            <a:pPr indent="0" marL="0">
              <a:buNone/>
            </a:pPr>
            <a:r>
              <a:rPr lang="en-US" sz="1200" dirty="0">
                <a:solidFill>
                  <a:schemeClr val="tx2"/>
                </a:solidFill>
              </a:rPr>
              <a:t>Analisi dei documenti</a:t>
            </a:r>
            <a:endParaRPr lang="en-US" sz="1200" dirty="0"/>
          </a:p>
        </p:txBody>
      </p:sp>
      <p:sp>
        <p:nvSpPr>
          <p:cNvPr id="44" name="Text 33"/>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200" i="1" dirty="0">
                <a:solidFill>
                  <a:schemeClr val="accent2"/>
                </a:solidFill>
              </a:rPr>
              <a:t>Esempi indicativi: i casi d'uso per funzione sono trattati in moduli dedicati.</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L'AI come tecnologia abilitante</a:t>
            </a:r>
            <a:endParaRPr lang="en-US" sz="2600" dirty="0"/>
          </a:p>
        </p:txBody>
      </p:sp>
      <p:sp>
        <p:nvSpPr>
          <p:cNvPr id="4" name="centro AI"/>
          <p:cNvSpPr/>
          <p:nvPr/>
        </p:nvSpPr>
        <p:spPr>
          <a:xfrm>
            <a:off x="3611880" y="2011680"/>
            <a:ext cx="1920240" cy="1463040"/>
          </a:xfrm>
          <a:prstGeom prst="ellipse">
            <a:avLst/>
          </a:prstGeom>
          <a:solidFill>
            <a:schemeClr val="accent1"/>
          </a:solidFill>
          <a:ln/>
        </p:spPr>
      </p:sp>
      <p:sp>
        <p:nvSpPr>
          <p:cNvPr id="5" name="Text 2"/>
          <p:cNvSpPr txBox="1"/>
          <p:nvPr/>
        </p:nvSpPr>
        <p:spPr>
          <a:xfrm>
            <a:off x="3611880" y="2011680"/>
            <a:ext cx="1920240" cy="1463040"/>
          </a:xfrm>
          <a:prstGeom prst="rect">
            <a:avLst/>
          </a:prstGeom>
          <a:noFill/>
          <a:ln/>
        </p:spPr>
        <p:txBody>
          <a:bodyPr wrap="square" lIns="0" tIns="0" rIns="0" bIns="0" rtlCol="0" anchor="ctr"/>
          <a:lstStyle/>
          <a:p>
            <a:pPr algn="ctr" indent="0" marL="0">
              <a:buNone/>
            </a:pPr>
            <a:r>
              <a:rPr lang="en-US" sz="1600" b="1" dirty="0">
                <a:solidFill>
                  <a:schemeClr val="bg1"/>
                </a:solidFill>
              </a:rPr>
              <a:t>AI</a:t>
            </a:r>
            <a:endParaRPr lang="en-US" sz="1600" dirty="0"/>
          </a:p>
          <a:p>
            <a:pPr algn="ctr" indent="0" marL="0">
              <a:buNone/>
            </a:pPr>
            <a:r>
              <a:rPr lang="en-US" sz="1600" b="1" dirty="0">
                <a:solidFill>
                  <a:schemeClr val="bg1"/>
                </a:solidFill>
              </a:rPr>
              <a:t>abilitante</a:t>
            </a:r>
            <a:endParaRPr lang="en-US" sz="1600" dirty="0"/>
          </a:p>
        </p:txBody>
      </p:sp>
      <p:sp>
        <p:nvSpPr>
          <p:cNvPr id="6" name="Funzioni"/>
          <p:cNvSpPr/>
          <p:nvPr/>
        </p:nvSpPr>
        <p:spPr>
          <a:xfrm>
            <a:off x="457200" y="1097280"/>
            <a:ext cx="3017520" cy="1463040"/>
          </a:xfrm>
          <a:prstGeom prst="roundRect">
            <a:avLst>
              <a:gd name="adj" fmla="val 5000"/>
            </a:avLst>
          </a:prstGeom>
          <a:solidFill>
            <a:schemeClr val="bg2"/>
          </a:solidFill>
          <a:ln/>
        </p:spPr>
      </p:sp>
      <p:sp>
        <p:nvSpPr>
          <p:cNvPr id="7" name="cerchio FiBriefcase"/>
          <p:cNvSpPr/>
          <p:nvPr/>
        </p:nvSpPr>
        <p:spPr>
          <a:xfrm>
            <a:off x="640080" y="1280160"/>
            <a:ext cx="457200" cy="457200"/>
          </a:xfrm>
          <a:prstGeom prst="ellipse">
            <a:avLst/>
          </a:prstGeom>
          <a:solidFill>
            <a:schemeClr val="accent1"/>
          </a:solidFill>
          <a:ln/>
        </p:spPr>
      </p:sp>
      <p:pic>
        <p:nvPicPr>
          <p:cNvPr id="8" name="Image 0" descr="FiBriefcase">    </p:cNvPr>
          <p:cNvPicPr>
            <a:picLocks noChangeAspect="1"/>
          </p:cNvPicPr>
          <p:nvPr/>
        </p:nvPicPr>
        <p:blipFill>
          <a:blip r:embed="rId1"/>
          <a:stretch>
            <a:fillRect/>
          </a:stretch>
        </p:blipFill>
        <p:spPr>
          <a:xfrm>
            <a:off x="754380" y="1394460"/>
            <a:ext cx="228600" cy="228600"/>
          </a:xfrm>
          <a:prstGeom prst="rect">
            <a:avLst/>
          </a:prstGeom>
        </p:spPr>
      </p:pic>
      <p:sp>
        <p:nvSpPr>
          <p:cNvPr id="9" name="Text 5"/>
          <p:cNvSpPr txBox="1"/>
          <p:nvPr/>
        </p:nvSpPr>
        <p:spPr>
          <a:xfrm>
            <a:off x="1234440" y="1325880"/>
            <a:ext cx="2103120" cy="365760"/>
          </a:xfrm>
          <a:prstGeom prst="rect">
            <a:avLst/>
          </a:prstGeom>
          <a:noFill/>
          <a:ln/>
        </p:spPr>
        <p:txBody>
          <a:bodyPr wrap="square" lIns="0" tIns="0" rIns="0" bIns="0" rtlCol="0" anchor="t"/>
          <a:lstStyle/>
          <a:p>
            <a:pPr indent="0" marL="0">
              <a:buNone/>
            </a:pPr>
            <a:r>
              <a:rPr lang="en-US" sz="1600" b="1" dirty="0">
                <a:solidFill>
                  <a:schemeClr val="tx1"/>
                </a:solidFill>
              </a:rPr>
              <a:t>Funzioni</a:t>
            </a:r>
            <a:endParaRPr lang="en-US" sz="1600" dirty="0"/>
          </a:p>
        </p:txBody>
      </p:sp>
      <p:sp>
        <p:nvSpPr>
          <p:cNvPr id="10" name="Text 6"/>
          <p:cNvSpPr txBox="1"/>
          <p:nvPr/>
        </p:nvSpPr>
        <p:spPr>
          <a:xfrm>
            <a:off x="640080" y="1828800"/>
            <a:ext cx="2697480" cy="640080"/>
          </a:xfrm>
          <a:prstGeom prst="rect">
            <a:avLst/>
          </a:prstGeom>
          <a:noFill/>
          <a:ln/>
        </p:spPr>
        <p:txBody>
          <a:bodyPr wrap="square" lIns="0" tIns="0" rIns="0" bIns="0" rtlCol="0" anchor="t"/>
          <a:lstStyle/>
          <a:p>
            <a:pPr indent="0" marL="0">
              <a:buNone/>
            </a:pPr>
            <a:r>
              <a:rPr lang="en-US" sz="1300" dirty="0">
                <a:solidFill>
                  <a:schemeClr val="tx2"/>
                </a:solidFill>
              </a:rPr>
              <a:t>Supporta il lavoro delle persone nelle diverse aree aziendali</a:t>
            </a:r>
            <a:endParaRPr lang="en-US" sz="1300" dirty="0"/>
          </a:p>
        </p:txBody>
      </p:sp>
      <p:sp>
        <p:nvSpPr>
          <p:cNvPr id="11" name="Prodotti"/>
          <p:cNvSpPr/>
          <p:nvPr/>
        </p:nvSpPr>
        <p:spPr>
          <a:xfrm>
            <a:off x="5669280" y="1097280"/>
            <a:ext cx="3017520" cy="1463040"/>
          </a:xfrm>
          <a:prstGeom prst="roundRect">
            <a:avLst>
              <a:gd name="adj" fmla="val 5000"/>
            </a:avLst>
          </a:prstGeom>
          <a:solidFill>
            <a:schemeClr val="bg2"/>
          </a:solidFill>
          <a:ln/>
        </p:spPr>
      </p:sp>
      <p:sp>
        <p:nvSpPr>
          <p:cNvPr id="12" name="cerchio FiBox"/>
          <p:cNvSpPr/>
          <p:nvPr/>
        </p:nvSpPr>
        <p:spPr>
          <a:xfrm>
            <a:off x="5852160" y="1280160"/>
            <a:ext cx="457200" cy="457200"/>
          </a:xfrm>
          <a:prstGeom prst="ellipse">
            <a:avLst/>
          </a:prstGeom>
          <a:solidFill>
            <a:schemeClr val="accent1"/>
          </a:solidFill>
          <a:ln/>
        </p:spPr>
      </p:sp>
      <p:pic>
        <p:nvPicPr>
          <p:cNvPr id="13" name="Image 1" descr="FiBox">    </p:cNvPr>
          <p:cNvPicPr>
            <a:picLocks noChangeAspect="1"/>
          </p:cNvPicPr>
          <p:nvPr/>
        </p:nvPicPr>
        <p:blipFill>
          <a:blip r:embed="rId2"/>
          <a:stretch>
            <a:fillRect/>
          </a:stretch>
        </p:blipFill>
        <p:spPr>
          <a:xfrm>
            <a:off x="5966460" y="1394460"/>
            <a:ext cx="228600" cy="228600"/>
          </a:xfrm>
          <a:prstGeom prst="rect">
            <a:avLst/>
          </a:prstGeom>
        </p:spPr>
      </p:pic>
      <p:sp>
        <p:nvSpPr>
          <p:cNvPr id="14" name="Text 9"/>
          <p:cNvSpPr txBox="1"/>
          <p:nvPr/>
        </p:nvSpPr>
        <p:spPr>
          <a:xfrm>
            <a:off x="6446520" y="1325880"/>
            <a:ext cx="2103120" cy="365760"/>
          </a:xfrm>
          <a:prstGeom prst="rect">
            <a:avLst/>
          </a:prstGeom>
          <a:noFill/>
          <a:ln/>
        </p:spPr>
        <p:txBody>
          <a:bodyPr wrap="square" lIns="0" tIns="0" rIns="0" bIns="0" rtlCol="0" anchor="t"/>
          <a:lstStyle/>
          <a:p>
            <a:pPr indent="0" marL="0">
              <a:buNone/>
            </a:pPr>
            <a:r>
              <a:rPr lang="en-US" sz="1600" b="1" dirty="0">
                <a:solidFill>
                  <a:schemeClr val="tx1"/>
                </a:solidFill>
              </a:rPr>
              <a:t>Prodotti</a:t>
            </a:r>
            <a:endParaRPr lang="en-US" sz="1600" dirty="0"/>
          </a:p>
        </p:txBody>
      </p:sp>
      <p:sp>
        <p:nvSpPr>
          <p:cNvPr id="15" name="Text 10"/>
          <p:cNvSpPr txBox="1"/>
          <p:nvPr/>
        </p:nvSpPr>
        <p:spPr>
          <a:xfrm>
            <a:off x="5852160" y="1828800"/>
            <a:ext cx="2697480" cy="640080"/>
          </a:xfrm>
          <a:prstGeom prst="rect">
            <a:avLst/>
          </a:prstGeom>
          <a:noFill/>
          <a:ln/>
        </p:spPr>
        <p:txBody>
          <a:bodyPr wrap="square" lIns="0" tIns="0" rIns="0" bIns="0" rtlCol="0" anchor="t"/>
          <a:lstStyle/>
          <a:p>
            <a:pPr indent="0" marL="0">
              <a:buNone/>
            </a:pPr>
            <a:r>
              <a:rPr lang="en-US" sz="1300" dirty="0">
                <a:solidFill>
                  <a:schemeClr val="tx2"/>
                </a:solidFill>
              </a:rPr>
              <a:t>Viene incorporata in ciò che l'azienda vende</a:t>
            </a:r>
            <a:endParaRPr lang="en-US" sz="1300" dirty="0"/>
          </a:p>
        </p:txBody>
      </p:sp>
      <p:sp>
        <p:nvSpPr>
          <p:cNvPr id="16" name="Servizi"/>
          <p:cNvSpPr/>
          <p:nvPr/>
        </p:nvSpPr>
        <p:spPr>
          <a:xfrm>
            <a:off x="457200" y="3063240"/>
            <a:ext cx="3017520" cy="1463040"/>
          </a:xfrm>
          <a:prstGeom prst="roundRect">
            <a:avLst>
              <a:gd name="adj" fmla="val 5000"/>
            </a:avLst>
          </a:prstGeom>
          <a:solidFill>
            <a:schemeClr val="bg2"/>
          </a:solidFill>
          <a:ln/>
        </p:spPr>
      </p:sp>
      <p:sp>
        <p:nvSpPr>
          <p:cNvPr id="17" name="cerchio FiSmile"/>
          <p:cNvSpPr/>
          <p:nvPr/>
        </p:nvSpPr>
        <p:spPr>
          <a:xfrm>
            <a:off x="640080" y="3246120"/>
            <a:ext cx="457200" cy="457200"/>
          </a:xfrm>
          <a:prstGeom prst="ellipse">
            <a:avLst/>
          </a:prstGeom>
          <a:solidFill>
            <a:schemeClr val="accent1"/>
          </a:solidFill>
          <a:ln/>
        </p:spPr>
      </p:sp>
      <p:pic>
        <p:nvPicPr>
          <p:cNvPr id="18" name="Image 2" descr="FiSmile">    </p:cNvPr>
          <p:cNvPicPr>
            <a:picLocks noChangeAspect="1"/>
          </p:cNvPicPr>
          <p:nvPr/>
        </p:nvPicPr>
        <p:blipFill>
          <a:blip r:embed="rId3"/>
          <a:stretch>
            <a:fillRect/>
          </a:stretch>
        </p:blipFill>
        <p:spPr>
          <a:xfrm>
            <a:off x="754380" y="3360420"/>
            <a:ext cx="228600" cy="228600"/>
          </a:xfrm>
          <a:prstGeom prst="rect">
            <a:avLst/>
          </a:prstGeom>
        </p:spPr>
      </p:pic>
      <p:sp>
        <p:nvSpPr>
          <p:cNvPr id="19" name="Text 13"/>
          <p:cNvSpPr txBox="1"/>
          <p:nvPr/>
        </p:nvSpPr>
        <p:spPr>
          <a:xfrm>
            <a:off x="1234440" y="32918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Servizi</a:t>
            </a:r>
            <a:endParaRPr lang="en-US" sz="1600" dirty="0"/>
          </a:p>
        </p:txBody>
      </p:sp>
      <p:sp>
        <p:nvSpPr>
          <p:cNvPr id="20" name="Text 14"/>
          <p:cNvSpPr txBox="1"/>
          <p:nvPr/>
        </p:nvSpPr>
        <p:spPr>
          <a:xfrm>
            <a:off x="640080" y="3794760"/>
            <a:ext cx="2697480" cy="640080"/>
          </a:xfrm>
          <a:prstGeom prst="rect">
            <a:avLst/>
          </a:prstGeom>
          <a:noFill/>
          <a:ln/>
        </p:spPr>
        <p:txBody>
          <a:bodyPr wrap="square" lIns="0" tIns="0" rIns="0" bIns="0" rtlCol="0" anchor="t"/>
          <a:lstStyle/>
          <a:p>
            <a:pPr indent="0" marL="0">
              <a:buNone/>
            </a:pPr>
            <a:r>
              <a:rPr lang="en-US" sz="1300" dirty="0">
                <a:solidFill>
                  <a:schemeClr val="tx2"/>
                </a:solidFill>
              </a:rPr>
              <a:t>Cambia il modo in cui l'azienda serve i clienti</a:t>
            </a:r>
            <a:endParaRPr lang="en-US" sz="1300" dirty="0"/>
          </a:p>
        </p:txBody>
      </p:sp>
      <p:sp>
        <p:nvSpPr>
          <p:cNvPr id="21" name="Processi"/>
          <p:cNvSpPr/>
          <p:nvPr/>
        </p:nvSpPr>
        <p:spPr>
          <a:xfrm>
            <a:off x="5669280" y="3063240"/>
            <a:ext cx="3017520" cy="1463040"/>
          </a:xfrm>
          <a:prstGeom prst="roundRect">
            <a:avLst>
              <a:gd name="adj" fmla="val 5000"/>
            </a:avLst>
          </a:prstGeom>
          <a:solidFill>
            <a:schemeClr val="bg2"/>
          </a:solidFill>
          <a:ln/>
        </p:spPr>
      </p:sp>
      <p:sp>
        <p:nvSpPr>
          <p:cNvPr id="22" name="cerchio FiShuffle"/>
          <p:cNvSpPr/>
          <p:nvPr/>
        </p:nvSpPr>
        <p:spPr>
          <a:xfrm>
            <a:off x="5852160" y="3246120"/>
            <a:ext cx="457200" cy="457200"/>
          </a:xfrm>
          <a:prstGeom prst="ellipse">
            <a:avLst/>
          </a:prstGeom>
          <a:solidFill>
            <a:schemeClr val="accent1"/>
          </a:solidFill>
          <a:ln/>
        </p:spPr>
      </p:sp>
      <p:pic>
        <p:nvPicPr>
          <p:cNvPr id="23" name="Image 3" descr="FiShuffle">    </p:cNvPr>
          <p:cNvPicPr>
            <a:picLocks noChangeAspect="1"/>
          </p:cNvPicPr>
          <p:nvPr/>
        </p:nvPicPr>
        <p:blipFill>
          <a:blip r:embed="rId4"/>
          <a:stretch>
            <a:fillRect/>
          </a:stretch>
        </p:blipFill>
        <p:spPr>
          <a:xfrm>
            <a:off x="5966460" y="3360420"/>
            <a:ext cx="228600" cy="228600"/>
          </a:xfrm>
          <a:prstGeom prst="rect">
            <a:avLst/>
          </a:prstGeom>
        </p:spPr>
      </p:pic>
      <p:sp>
        <p:nvSpPr>
          <p:cNvPr id="24" name="Text 17"/>
          <p:cNvSpPr txBox="1"/>
          <p:nvPr/>
        </p:nvSpPr>
        <p:spPr>
          <a:xfrm>
            <a:off x="6446520" y="3291840"/>
            <a:ext cx="2103120" cy="365760"/>
          </a:xfrm>
          <a:prstGeom prst="rect">
            <a:avLst/>
          </a:prstGeom>
          <a:noFill/>
          <a:ln/>
        </p:spPr>
        <p:txBody>
          <a:bodyPr wrap="square" lIns="0" tIns="0" rIns="0" bIns="0" rtlCol="0" anchor="t"/>
          <a:lstStyle/>
          <a:p>
            <a:pPr indent="0" marL="0">
              <a:buNone/>
            </a:pPr>
            <a:r>
              <a:rPr lang="en-US" sz="1600" b="1" dirty="0">
                <a:solidFill>
                  <a:schemeClr val="tx1"/>
                </a:solidFill>
              </a:rPr>
              <a:t>Processi</a:t>
            </a:r>
            <a:endParaRPr lang="en-US" sz="1600" dirty="0"/>
          </a:p>
        </p:txBody>
      </p:sp>
      <p:sp>
        <p:nvSpPr>
          <p:cNvPr id="25" name="Text 18"/>
          <p:cNvSpPr txBox="1"/>
          <p:nvPr/>
        </p:nvSpPr>
        <p:spPr>
          <a:xfrm>
            <a:off x="5852160" y="3794760"/>
            <a:ext cx="2697480" cy="640080"/>
          </a:xfrm>
          <a:prstGeom prst="rect">
            <a:avLst/>
          </a:prstGeom>
          <a:noFill/>
          <a:ln/>
        </p:spPr>
        <p:txBody>
          <a:bodyPr wrap="square" lIns="0" tIns="0" rIns="0" bIns="0" rtlCol="0" anchor="t"/>
          <a:lstStyle/>
          <a:p>
            <a:pPr indent="0" marL="0">
              <a:buNone/>
            </a:pPr>
            <a:r>
              <a:rPr lang="en-US" sz="1300" dirty="0">
                <a:solidFill>
                  <a:schemeClr val="tx2"/>
                </a:solidFill>
              </a:rPr>
              <a:t>Ridisegna l'organizzazione del lavoro, non solo i singoli compiti</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Capacità AI accessibili tramite strumenti commerciali</a:t>
            </a:r>
            <a:endParaRPr lang="en-US" sz="2600" dirty="0"/>
          </a:p>
        </p:txBody>
      </p:sp>
      <p:sp>
        <p:nvSpPr>
          <p:cNvPr id="4" name="scheda Ieri: costruire"/>
          <p:cNvSpPr/>
          <p:nvPr/>
        </p:nvSpPr>
        <p:spPr>
          <a:xfrm>
            <a:off x="457200" y="1097280"/>
            <a:ext cx="3977640" cy="2194560"/>
          </a:xfrm>
          <a:prstGeom prst="roundRect">
            <a:avLst>
              <a:gd name="adj" fmla="val 3333"/>
            </a:avLst>
          </a:prstGeom>
          <a:solidFill>
            <a:schemeClr val="bg2"/>
          </a:solidFill>
          <a:ln/>
        </p:spPr>
      </p:sp>
      <p:sp>
        <p:nvSpPr>
          <p:cNvPr id="5" name="cerchio FiTool"/>
          <p:cNvSpPr/>
          <p:nvPr/>
        </p:nvSpPr>
        <p:spPr>
          <a:xfrm>
            <a:off x="640080" y="1280160"/>
            <a:ext cx="457200" cy="457200"/>
          </a:xfrm>
          <a:prstGeom prst="ellipse">
            <a:avLst/>
          </a:prstGeom>
          <a:solidFill>
            <a:schemeClr val="accent1"/>
          </a:solidFill>
          <a:ln/>
        </p:spPr>
      </p:sp>
      <p:pic>
        <p:nvPicPr>
          <p:cNvPr id="6" name="Image 0" descr="FiTool">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Ieri: costruire</a:t>
            </a:r>
            <a:endParaRPr lang="en-US" sz="1600" dirty="0"/>
          </a:p>
        </p:txBody>
      </p:sp>
      <p:sp>
        <p:nvSpPr>
          <p:cNvPr id="8" name="Text 4"/>
          <p:cNvSpPr txBox="1"/>
          <p:nvPr/>
        </p:nvSpPr>
        <p:spPr>
          <a:xfrm>
            <a:off x="64008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Sviluppare modelli propri</a:t>
            </a:r>
            <a:endParaRPr lang="en-US" sz="1300" dirty="0"/>
          </a:p>
          <a:p>
            <a:pPr marL="177800" indent="-177800">
              <a:spcAft>
                <a:spcPts val="300"/>
              </a:spcAft>
              <a:buSzPct val="100000"/>
              <a:buChar char="•"/>
            </a:pPr>
            <a:r>
              <a:rPr lang="en-US" sz="1300" dirty="0">
                <a:solidFill>
                  <a:schemeClr val="tx2"/>
                </a:solidFill>
              </a:rPr>
              <a:t>Team specializzati e investimenti elevati</a:t>
            </a:r>
            <a:endParaRPr lang="en-US" sz="1300" dirty="0"/>
          </a:p>
          <a:p>
            <a:pPr marL="177800" indent="-177800">
              <a:spcAft>
                <a:spcPts val="300"/>
              </a:spcAft>
              <a:buSzPct val="100000"/>
              <a:buChar char="•"/>
            </a:pPr>
            <a:r>
              <a:rPr lang="en-US" sz="1300" dirty="0">
                <a:solidFill>
                  <a:schemeClr val="tx2"/>
                </a:solidFill>
              </a:rPr>
              <a:t>Accessibile soprattutto alle grandi aziende</a:t>
            </a:r>
            <a:endParaRPr lang="en-US" sz="1300" dirty="0"/>
          </a:p>
        </p:txBody>
      </p:sp>
      <p:sp>
        <p:nvSpPr>
          <p:cNvPr id="9" name="scheda Oggi: adottare"/>
          <p:cNvSpPr/>
          <p:nvPr/>
        </p:nvSpPr>
        <p:spPr>
          <a:xfrm>
            <a:off x="4709160" y="1097280"/>
            <a:ext cx="3977640" cy="2194560"/>
          </a:xfrm>
          <a:prstGeom prst="roundRect">
            <a:avLst>
              <a:gd name="adj" fmla="val 3333"/>
            </a:avLst>
          </a:prstGeom>
          <a:solidFill>
            <a:schemeClr val="accent6"/>
          </a:solidFill>
          <a:ln/>
        </p:spPr>
      </p:sp>
      <p:sp>
        <p:nvSpPr>
          <p:cNvPr id="10" name="cerchio FiShoppingBag"/>
          <p:cNvSpPr/>
          <p:nvPr/>
        </p:nvSpPr>
        <p:spPr>
          <a:xfrm>
            <a:off x="4892040" y="1280160"/>
            <a:ext cx="457200" cy="457200"/>
          </a:xfrm>
          <a:prstGeom prst="ellipse">
            <a:avLst/>
          </a:prstGeom>
          <a:solidFill>
            <a:schemeClr val="accent1"/>
          </a:solidFill>
          <a:ln/>
        </p:spPr>
      </p:sp>
      <p:pic>
        <p:nvPicPr>
          <p:cNvPr id="11" name="Image 1" descr="FiShoppingBag">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Oggi: adottare</a:t>
            </a:r>
            <a:endParaRPr lang="en-US" sz="1600" dirty="0"/>
          </a:p>
        </p:txBody>
      </p:sp>
      <p:sp>
        <p:nvSpPr>
          <p:cNvPr id="13" name="Text 8"/>
          <p:cNvSpPr txBox="1"/>
          <p:nvPr/>
        </p:nvSpPr>
        <p:spPr>
          <a:xfrm>
            <a:off x="4892040" y="2231136"/>
            <a:ext cx="3611880" cy="95097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Assistenti in abbonamento</a:t>
            </a:r>
            <a:endParaRPr lang="en-US" sz="1300" dirty="0"/>
          </a:p>
          <a:p>
            <a:pPr marL="177800" indent="-177800">
              <a:spcAft>
                <a:spcPts val="300"/>
              </a:spcAft>
              <a:buSzPct val="100000"/>
              <a:buChar char="•"/>
            </a:pPr>
            <a:r>
              <a:rPr lang="en-US" sz="1300" dirty="0">
                <a:solidFill>
                  <a:schemeClr val="tx2"/>
                </a:solidFill>
              </a:rPr>
              <a:t>Funzioni integrate nei software in uso</a:t>
            </a:r>
            <a:endParaRPr lang="en-US" sz="1300" dirty="0"/>
          </a:p>
          <a:p>
            <a:pPr marL="177800" indent="-177800">
              <a:spcAft>
                <a:spcPts val="300"/>
              </a:spcAft>
              <a:buSzPct val="100000"/>
              <a:buChar char="•"/>
            </a:pPr>
            <a:r>
              <a:rPr lang="en-US" sz="1300" dirty="0">
                <a:solidFill>
                  <a:schemeClr val="tx2"/>
                </a:solidFill>
              </a:rPr>
              <a:t>Servizi via API collegabili ai sistemi</a:t>
            </a:r>
            <a:endParaRPr lang="en-US" sz="1300" dirty="0"/>
          </a:p>
        </p:txBody>
      </p:sp>
      <p:sp>
        <p:nvSpPr>
          <p:cNvPr id="14" name="Text 9"/>
          <p:cNvSpPr txBox="1"/>
          <p:nvPr/>
        </p:nvSpPr>
        <p:spPr>
          <a:xfrm>
            <a:off x="457200" y="3474720"/>
            <a:ext cx="8229600" cy="320040"/>
          </a:xfrm>
          <a:prstGeom prst="rect">
            <a:avLst/>
          </a:prstGeom>
          <a:noFill/>
          <a:ln/>
        </p:spPr>
        <p:txBody>
          <a:bodyPr wrap="square" lIns="0" tIns="0" rIns="0" bIns="0" rtlCol="0" anchor="t"/>
          <a:lstStyle/>
          <a:p>
            <a:pPr indent="0" marL="0">
              <a:buNone/>
            </a:pPr>
            <a:r>
              <a:rPr lang="en-US" sz="1500" b="1" dirty="0">
                <a:solidFill>
                  <a:schemeClr val="tx1"/>
                </a:solidFill>
              </a:rPr>
              <a:t>Accessibile non significa privo di scelte</a:t>
            </a:r>
            <a:endParaRPr lang="en-US" sz="1500" dirty="0"/>
          </a:p>
        </p:txBody>
      </p:sp>
      <p:sp>
        <p:nvSpPr>
          <p:cNvPr id="15" name="scelta Quali strumenti"/>
          <p:cNvSpPr/>
          <p:nvPr/>
        </p:nvSpPr>
        <p:spPr>
          <a:xfrm>
            <a:off x="457200" y="3886200"/>
            <a:ext cx="1554480" cy="548640"/>
          </a:xfrm>
          <a:prstGeom prst="roundRect">
            <a:avLst>
              <a:gd name="adj" fmla="val 50000"/>
            </a:avLst>
          </a:prstGeom>
          <a:solidFill>
            <a:schemeClr val="bg1"/>
          </a:solidFill>
          <a:ln w="15875">
            <a:solidFill>
              <a:schemeClr val="accent1"/>
            </a:solidFill>
            <a:prstDash val="solid"/>
          </a:ln>
        </p:spPr>
      </p:sp>
      <p:sp>
        <p:nvSpPr>
          <p:cNvPr id="16" name="Text 11"/>
          <p:cNvSpPr txBox="1"/>
          <p:nvPr/>
        </p:nvSpPr>
        <p:spPr>
          <a:xfrm>
            <a:off x="457200" y="3886200"/>
            <a:ext cx="1554480" cy="548640"/>
          </a:xfrm>
          <a:prstGeom prst="rect">
            <a:avLst/>
          </a:prstGeom>
          <a:noFill/>
          <a:ln/>
        </p:spPr>
        <p:txBody>
          <a:bodyPr wrap="square" lIns="0" tIns="0" rIns="0" bIns="0" rtlCol="0" anchor="ctr"/>
          <a:lstStyle/>
          <a:p>
            <a:pPr algn="ctr" indent="0" marL="0">
              <a:buNone/>
            </a:pPr>
            <a:r>
              <a:rPr lang="en-US" sz="1200" b="1" dirty="0">
                <a:solidFill>
                  <a:schemeClr val="accent1"/>
                </a:solidFill>
              </a:rPr>
              <a:t>Quali strumenti</a:t>
            </a:r>
            <a:endParaRPr lang="en-US" sz="1200" dirty="0"/>
          </a:p>
        </p:txBody>
      </p:sp>
      <p:sp>
        <p:nvSpPr>
          <p:cNvPr id="17" name="scelta Quali regole d'uso"/>
          <p:cNvSpPr/>
          <p:nvPr/>
        </p:nvSpPr>
        <p:spPr>
          <a:xfrm>
            <a:off x="2139696" y="3886200"/>
            <a:ext cx="1554480" cy="548640"/>
          </a:xfrm>
          <a:prstGeom prst="roundRect">
            <a:avLst>
              <a:gd name="adj" fmla="val 50000"/>
            </a:avLst>
          </a:prstGeom>
          <a:solidFill>
            <a:schemeClr val="bg1"/>
          </a:solidFill>
          <a:ln w="15875">
            <a:solidFill>
              <a:schemeClr val="accent1"/>
            </a:solidFill>
            <a:prstDash val="solid"/>
          </a:ln>
        </p:spPr>
      </p:sp>
      <p:sp>
        <p:nvSpPr>
          <p:cNvPr id="18" name="Text 13"/>
          <p:cNvSpPr txBox="1"/>
          <p:nvPr/>
        </p:nvSpPr>
        <p:spPr>
          <a:xfrm>
            <a:off x="2139696" y="3886200"/>
            <a:ext cx="1554480" cy="548640"/>
          </a:xfrm>
          <a:prstGeom prst="rect">
            <a:avLst/>
          </a:prstGeom>
          <a:noFill/>
          <a:ln/>
        </p:spPr>
        <p:txBody>
          <a:bodyPr wrap="square" lIns="0" tIns="0" rIns="0" bIns="0" rtlCol="0" anchor="ctr"/>
          <a:lstStyle/>
          <a:p>
            <a:pPr algn="ctr" indent="0" marL="0">
              <a:buNone/>
            </a:pPr>
            <a:r>
              <a:rPr lang="en-US" sz="1200" b="1" dirty="0">
                <a:solidFill>
                  <a:schemeClr val="accent1"/>
                </a:solidFill>
              </a:rPr>
              <a:t>Quali regole d'uso</a:t>
            </a:r>
            <a:endParaRPr lang="en-US" sz="1200" dirty="0"/>
          </a:p>
        </p:txBody>
      </p:sp>
      <p:sp>
        <p:nvSpPr>
          <p:cNvPr id="19" name="scelta Quali dati condividere"/>
          <p:cNvSpPr/>
          <p:nvPr/>
        </p:nvSpPr>
        <p:spPr>
          <a:xfrm>
            <a:off x="3822192" y="3886200"/>
            <a:ext cx="1554480" cy="548640"/>
          </a:xfrm>
          <a:prstGeom prst="roundRect">
            <a:avLst>
              <a:gd name="adj" fmla="val 50000"/>
            </a:avLst>
          </a:prstGeom>
          <a:solidFill>
            <a:schemeClr val="bg1"/>
          </a:solidFill>
          <a:ln w="15875">
            <a:solidFill>
              <a:schemeClr val="accent1"/>
            </a:solidFill>
            <a:prstDash val="solid"/>
          </a:ln>
        </p:spPr>
      </p:sp>
      <p:sp>
        <p:nvSpPr>
          <p:cNvPr id="20" name="Text 15"/>
          <p:cNvSpPr txBox="1"/>
          <p:nvPr/>
        </p:nvSpPr>
        <p:spPr>
          <a:xfrm>
            <a:off x="3822192" y="3886200"/>
            <a:ext cx="1554480" cy="548640"/>
          </a:xfrm>
          <a:prstGeom prst="rect">
            <a:avLst/>
          </a:prstGeom>
          <a:noFill/>
          <a:ln/>
        </p:spPr>
        <p:txBody>
          <a:bodyPr wrap="square" lIns="0" tIns="0" rIns="0" bIns="0" rtlCol="0" anchor="ctr"/>
          <a:lstStyle/>
          <a:p>
            <a:pPr algn="ctr" indent="0" marL="0">
              <a:buNone/>
            </a:pPr>
            <a:r>
              <a:rPr lang="en-US" sz="1200" b="1" dirty="0">
                <a:solidFill>
                  <a:schemeClr val="accent1"/>
                </a:solidFill>
              </a:rPr>
              <a:t>Quali dati condividere</a:t>
            </a:r>
            <a:endParaRPr lang="en-US" sz="1200" dirty="0"/>
          </a:p>
        </p:txBody>
      </p:sp>
      <p:sp>
        <p:nvSpPr>
          <p:cNvPr id="21" name="scelta Quale formazione"/>
          <p:cNvSpPr/>
          <p:nvPr/>
        </p:nvSpPr>
        <p:spPr>
          <a:xfrm>
            <a:off x="5504688" y="3886200"/>
            <a:ext cx="1554480" cy="548640"/>
          </a:xfrm>
          <a:prstGeom prst="roundRect">
            <a:avLst>
              <a:gd name="adj" fmla="val 50000"/>
            </a:avLst>
          </a:prstGeom>
          <a:solidFill>
            <a:schemeClr val="bg1"/>
          </a:solidFill>
          <a:ln w="15875">
            <a:solidFill>
              <a:schemeClr val="accent1"/>
            </a:solidFill>
            <a:prstDash val="solid"/>
          </a:ln>
        </p:spPr>
      </p:sp>
      <p:sp>
        <p:nvSpPr>
          <p:cNvPr id="22" name="Text 17"/>
          <p:cNvSpPr txBox="1"/>
          <p:nvPr/>
        </p:nvSpPr>
        <p:spPr>
          <a:xfrm>
            <a:off x="5504688" y="3886200"/>
            <a:ext cx="1554480" cy="548640"/>
          </a:xfrm>
          <a:prstGeom prst="rect">
            <a:avLst/>
          </a:prstGeom>
          <a:noFill/>
          <a:ln/>
        </p:spPr>
        <p:txBody>
          <a:bodyPr wrap="square" lIns="0" tIns="0" rIns="0" bIns="0" rtlCol="0" anchor="ctr"/>
          <a:lstStyle/>
          <a:p>
            <a:pPr algn="ctr" indent="0" marL="0">
              <a:buNone/>
            </a:pPr>
            <a:r>
              <a:rPr lang="en-US" sz="1200" b="1" dirty="0">
                <a:solidFill>
                  <a:schemeClr val="accent1"/>
                </a:solidFill>
              </a:rPr>
              <a:t>Quale formazione</a:t>
            </a:r>
            <a:endParaRPr lang="en-US" sz="1200" dirty="0"/>
          </a:p>
        </p:txBody>
      </p:sp>
      <p:sp>
        <p:nvSpPr>
          <p:cNvPr id="23" name="scelta Quale integrazione"/>
          <p:cNvSpPr/>
          <p:nvPr/>
        </p:nvSpPr>
        <p:spPr>
          <a:xfrm>
            <a:off x="7187184" y="3886200"/>
            <a:ext cx="1554480" cy="548640"/>
          </a:xfrm>
          <a:prstGeom prst="roundRect">
            <a:avLst>
              <a:gd name="adj" fmla="val 50000"/>
            </a:avLst>
          </a:prstGeom>
          <a:solidFill>
            <a:schemeClr val="bg1"/>
          </a:solidFill>
          <a:ln w="15875">
            <a:solidFill>
              <a:schemeClr val="accent1"/>
            </a:solidFill>
            <a:prstDash val="solid"/>
          </a:ln>
        </p:spPr>
      </p:sp>
      <p:sp>
        <p:nvSpPr>
          <p:cNvPr id="24" name="Text 19"/>
          <p:cNvSpPr txBox="1"/>
          <p:nvPr/>
        </p:nvSpPr>
        <p:spPr>
          <a:xfrm>
            <a:off x="7187184" y="3886200"/>
            <a:ext cx="1554480" cy="548640"/>
          </a:xfrm>
          <a:prstGeom prst="rect">
            <a:avLst/>
          </a:prstGeom>
          <a:noFill/>
          <a:ln/>
        </p:spPr>
        <p:txBody>
          <a:bodyPr wrap="square" lIns="0" tIns="0" rIns="0" bIns="0" rtlCol="0" anchor="ctr"/>
          <a:lstStyle/>
          <a:p>
            <a:pPr algn="ctr" indent="0" marL="0">
              <a:buNone/>
            </a:pPr>
            <a:r>
              <a:rPr lang="en-US" sz="1200" b="1" dirty="0">
                <a:solidFill>
                  <a:schemeClr val="accent1"/>
                </a:solidFill>
              </a:rPr>
              <a:t>Quale integrazione</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Effetti potenziali: produttività, qualità, innovazione</a:t>
            </a:r>
            <a:endParaRPr lang="en-US" sz="2600" dirty="0"/>
          </a:p>
        </p:txBody>
      </p:sp>
      <p:sp>
        <p:nvSpPr>
          <p:cNvPr id="4" name="Produttività"/>
          <p:cNvSpPr/>
          <p:nvPr/>
        </p:nvSpPr>
        <p:spPr>
          <a:xfrm>
            <a:off x="457200" y="1097280"/>
            <a:ext cx="4206240" cy="1024128"/>
          </a:xfrm>
          <a:prstGeom prst="roundRect">
            <a:avLst>
              <a:gd name="adj" fmla="val 7143"/>
            </a:avLst>
          </a:prstGeom>
          <a:solidFill>
            <a:schemeClr val="bg2"/>
          </a:solidFill>
          <a:ln/>
        </p:spPr>
      </p:sp>
      <p:sp>
        <p:nvSpPr>
          <p:cNvPr id="5" name="cerchio FiClock"/>
          <p:cNvSpPr/>
          <p:nvPr/>
        </p:nvSpPr>
        <p:spPr>
          <a:xfrm>
            <a:off x="640080" y="1353312"/>
            <a:ext cx="512064" cy="512064"/>
          </a:xfrm>
          <a:prstGeom prst="ellipse">
            <a:avLst/>
          </a:prstGeom>
          <a:solidFill>
            <a:schemeClr val="accent1"/>
          </a:solidFill>
          <a:ln/>
        </p:spPr>
      </p:sp>
      <p:pic>
        <p:nvPicPr>
          <p:cNvPr id="6" name="Image 0" descr="FiClock">    </p:cNvPr>
          <p:cNvPicPr>
            <a:picLocks noChangeAspect="1"/>
          </p:cNvPicPr>
          <p:nvPr/>
        </p:nvPicPr>
        <p:blipFill>
          <a:blip r:embed="rId1"/>
          <a:stretch>
            <a:fillRect/>
          </a:stretch>
        </p:blipFill>
        <p:spPr>
          <a:xfrm>
            <a:off x="768096" y="1481328"/>
            <a:ext cx="256032" cy="256032"/>
          </a:xfrm>
          <a:prstGeom prst="rect">
            <a:avLst/>
          </a:prstGeom>
        </p:spPr>
      </p:pic>
      <p:sp>
        <p:nvSpPr>
          <p:cNvPr id="7" name="Text 3"/>
          <p:cNvSpPr txBox="1"/>
          <p:nvPr/>
        </p:nvSpPr>
        <p:spPr>
          <a:xfrm>
            <a:off x="1325880" y="1234440"/>
            <a:ext cx="3200400" cy="347472"/>
          </a:xfrm>
          <a:prstGeom prst="rect">
            <a:avLst/>
          </a:prstGeom>
          <a:noFill/>
          <a:ln/>
        </p:spPr>
        <p:txBody>
          <a:bodyPr wrap="square" lIns="0" tIns="0" rIns="0" bIns="0" rtlCol="0" anchor="t"/>
          <a:lstStyle/>
          <a:p>
            <a:pPr indent="0" marL="0">
              <a:buNone/>
            </a:pPr>
            <a:r>
              <a:rPr lang="en-US" sz="1600" b="1" dirty="0">
                <a:solidFill>
                  <a:schemeClr val="tx1"/>
                </a:solidFill>
              </a:rPr>
              <a:t>Produttività</a:t>
            </a:r>
            <a:endParaRPr lang="en-US" sz="1600" dirty="0"/>
          </a:p>
        </p:txBody>
      </p:sp>
      <p:sp>
        <p:nvSpPr>
          <p:cNvPr id="8" name="Text 4"/>
          <p:cNvSpPr txBox="1"/>
          <p:nvPr/>
        </p:nvSpPr>
        <p:spPr>
          <a:xfrm>
            <a:off x="1325880" y="1600200"/>
            <a:ext cx="3200400" cy="457200"/>
          </a:xfrm>
          <a:prstGeom prst="rect">
            <a:avLst/>
          </a:prstGeom>
          <a:noFill/>
          <a:ln/>
        </p:spPr>
        <p:txBody>
          <a:bodyPr wrap="square" lIns="0" tIns="0" rIns="0" bIns="0" rtlCol="0" anchor="t"/>
          <a:lstStyle/>
          <a:p>
            <a:pPr indent="0" marL="0">
              <a:buNone/>
            </a:pPr>
            <a:r>
              <a:rPr lang="en-US" sz="1300" dirty="0">
                <a:solidFill>
                  <a:schemeClr val="tx2"/>
                </a:solidFill>
              </a:rPr>
              <a:t>Svolgere alcune attività in meno tempo</a:t>
            </a:r>
            <a:endParaRPr lang="en-US" sz="1300" dirty="0"/>
          </a:p>
        </p:txBody>
      </p:sp>
      <p:sp>
        <p:nvSpPr>
          <p:cNvPr id="9" name="Qualità"/>
          <p:cNvSpPr/>
          <p:nvPr/>
        </p:nvSpPr>
        <p:spPr>
          <a:xfrm>
            <a:off x="457200" y="2258568"/>
            <a:ext cx="4206240" cy="1024128"/>
          </a:xfrm>
          <a:prstGeom prst="roundRect">
            <a:avLst>
              <a:gd name="adj" fmla="val 7143"/>
            </a:avLst>
          </a:prstGeom>
          <a:solidFill>
            <a:schemeClr val="bg2"/>
          </a:solidFill>
          <a:ln/>
        </p:spPr>
      </p:sp>
      <p:sp>
        <p:nvSpPr>
          <p:cNvPr id="10" name="cerchio FiAward"/>
          <p:cNvSpPr/>
          <p:nvPr/>
        </p:nvSpPr>
        <p:spPr>
          <a:xfrm>
            <a:off x="640080" y="2514600"/>
            <a:ext cx="512064" cy="512064"/>
          </a:xfrm>
          <a:prstGeom prst="ellipse">
            <a:avLst/>
          </a:prstGeom>
          <a:solidFill>
            <a:schemeClr val="accent1"/>
          </a:solidFill>
          <a:ln/>
        </p:spPr>
      </p:sp>
      <p:pic>
        <p:nvPicPr>
          <p:cNvPr id="11" name="Image 1" descr="FiAward">    </p:cNvPr>
          <p:cNvPicPr>
            <a:picLocks noChangeAspect="1"/>
          </p:cNvPicPr>
          <p:nvPr/>
        </p:nvPicPr>
        <p:blipFill>
          <a:blip r:embed="rId2"/>
          <a:stretch>
            <a:fillRect/>
          </a:stretch>
        </p:blipFill>
        <p:spPr>
          <a:xfrm>
            <a:off x="768096" y="2642616"/>
            <a:ext cx="256032" cy="256032"/>
          </a:xfrm>
          <a:prstGeom prst="rect">
            <a:avLst/>
          </a:prstGeom>
        </p:spPr>
      </p:pic>
      <p:sp>
        <p:nvSpPr>
          <p:cNvPr id="12" name="Text 7"/>
          <p:cNvSpPr txBox="1"/>
          <p:nvPr/>
        </p:nvSpPr>
        <p:spPr>
          <a:xfrm>
            <a:off x="1325880" y="2395728"/>
            <a:ext cx="3200400" cy="347472"/>
          </a:xfrm>
          <a:prstGeom prst="rect">
            <a:avLst/>
          </a:prstGeom>
          <a:noFill/>
          <a:ln/>
        </p:spPr>
        <p:txBody>
          <a:bodyPr wrap="square" lIns="0" tIns="0" rIns="0" bIns="0" rtlCol="0" anchor="t"/>
          <a:lstStyle/>
          <a:p>
            <a:pPr indent="0" marL="0">
              <a:buNone/>
            </a:pPr>
            <a:r>
              <a:rPr lang="en-US" sz="1600" b="1" dirty="0">
                <a:solidFill>
                  <a:schemeClr val="tx1"/>
                </a:solidFill>
              </a:rPr>
              <a:t>Qualità</a:t>
            </a:r>
            <a:endParaRPr lang="en-US" sz="1600" dirty="0"/>
          </a:p>
        </p:txBody>
      </p:sp>
      <p:sp>
        <p:nvSpPr>
          <p:cNvPr id="13" name="Text 8"/>
          <p:cNvSpPr txBox="1"/>
          <p:nvPr/>
        </p:nvSpPr>
        <p:spPr>
          <a:xfrm>
            <a:off x="1325880" y="2761488"/>
            <a:ext cx="3200400" cy="457200"/>
          </a:xfrm>
          <a:prstGeom prst="rect">
            <a:avLst/>
          </a:prstGeom>
          <a:noFill/>
          <a:ln/>
        </p:spPr>
        <p:txBody>
          <a:bodyPr wrap="square" lIns="0" tIns="0" rIns="0" bIns="0" rtlCol="0" anchor="t"/>
          <a:lstStyle/>
          <a:p>
            <a:pPr indent="0" marL="0">
              <a:buNone/>
            </a:pPr>
            <a:r>
              <a:rPr lang="en-US" sz="1300" dirty="0">
                <a:solidFill>
                  <a:schemeClr val="tx2"/>
                </a:solidFill>
              </a:rPr>
              <a:t>Output più chiari, completi e controllati</a:t>
            </a:r>
            <a:endParaRPr lang="en-US" sz="1300" dirty="0"/>
          </a:p>
        </p:txBody>
      </p:sp>
      <p:sp>
        <p:nvSpPr>
          <p:cNvPr id="14" name="Innovazione"/>
          <p:cNvSpPr/>
          <p:nvPr/>
        </p:nvSpPr>
        <p:spPr>
          <a:xfrm>
            <a:off x="457200" y="3419856"/>
            <a:ext cx="4206240" cy="1024128"/>
          </a:xfrm>
          <a:prstGeom prst="roundRect">
            <a:avLst>
              <a:gd name="adj" fmla="val 7143"/>
            </a:avLst>
          </a:prstGeom>
          <a:solidFill>
            <a:schemeClr val="bg2"/>
          </a:solidFill>
          <a:ln/>
        </p:spPr>
      </p:sp>
      <p:sp>
        <p:nvSpPr>
          <p:cNvPr id="15" name="cerchio FiStar"/>
          <p:cNvSpPr/>
          <p:nvPr/>
        </p:nvSpPr>
        <p:spPr>
          <a:xfrm>
            <a:off x="640080" y="3675888"/>
            <a:ext cx="512064" cy="512064"/>
          </a:xfrm>
          <a:prstGeom prst="ellipse">
            <a:avLst/>
          </a:prstGeom>
          <a:solidFill>
            <a:schemeClr val="accent1"/>
          </a:solidFill>
          <a:ln/>
        </p:spPr>
      </p:sp>
      <p:pic>
        <p:nvPicPr>
          <p:cNvPr id="16" name="Image 2" descr="FiStar">    </p:cNvPr>
          <p:cNvPicPr>
            <a:picLocks noChangeAspect="1"/>
          </p:cNvPicPr>
          <p:nvPr/>
        </p:nvPicPr>
        <p:blipFill>
          <a:blip r:embed="rId3"/>
          <a:stretch>
            <a:fillRect/>
          </a:stretch>
        </p:blipFill>
        <p:spPr>
          <a:xfrm>
            <a:off x="768096" y="3803904"/>
            <a:ext cx="256032" cy="256032"/>
          </a:xfrm>
          <a:prstGeom prst="rect">
            <a:avLst/>
          </a:prstGeom>
        </p:spPr>
      </p:pic>
      <p:sp>
        <p:nvSpPr>
          <p:cNvPr id="17" name="Text 11"/>
          <p:cNvSpPr txBox="1"/>
          <p:nvPr/>
        </p:nvSpPr>
        <p:spPr>
          <a:xfrm>
            <a:off x="1325880" y="3557016"/>
            <a:ext cx="3200400" cy="347472"/>
          </a:xfrm>
          <a:prstGeom prst="rect">
            <a:avLst/>
          </a:prstGeom>
          <a:noFill/>
          <a:ln/>
        </p:spPr>
        <p:txBody>
          <a:bodyPr wrap="square" lIns="0" tIns="0" rIns="0" bIns="0" rtlCol="0" anchor="t"/>
          <a:lstStyle/>
          <a:p>
            <a:pPr indent="0" marL="0">
              <a:buNone/>
            </a:pPr>
            <a:r>
              <a:rPr lang="en-US" sz="1600" b="1" dirty="0">
                <a:solidFill>
                  <a:schemeClr val="tx1"/>
                </a:solidFill>
              </a:rPr>
              <a:t>Innovazione</a:t>
            </a:r>
            <a:endParaRPr lang="en-US" sz="1600" dirty="0"/>
          </a:p>
        </p:txBody>
      </p:sp>
      <p:sp>
        <p:nvSpPr>
          <p:cNvPr id="18" name="Text 12"/>
          <p:cNvSpPr txBox="1"/>
          <p:nvPr/>
        </p:nvSpPr>
        <p:spPr>
          <a:xfrm>
            <a:off x="1325880" y="3922776"/>
            <a:ext cx="3200400" cy="457200"/>
          </a:xfrm>
          <a:prstGeom prst="rect">
            <a:avLst/>
          </a:prstGeom>
          <a:noFill/>
          <a:ln/>
        </p:spPr>
        <p:txBody>
          <a:bodyPr wrap="square" lIns="0" tIns="0" rIns="0" bIns="0" rtlCol="0" anchor="t"/>
          <a:lstStyle/>
          <a:p>
            <a:pPr indent="0" marL="0">
              <a:buNone/>
            </a:pPr>
            <a:r>
              <a:rPr lang="en-US" sz="1300" dirty="0">
                <a:solidFill>
                  <a:schemeClr val="tx2"/>
                </a:solidFill>
              </a:rPr>
              <a:t>Rendere possibili cose prima non praticabili</a:t>
            </a:r>
            <a:endParaRPr lang="en-US" sz="1300" dirty="0"/>
          </a:p>
        </p:txBody>
      </p:sp>
      <p:sp>
        <p:nvSpPr>
          <p:cNvPr id="19" name="evidenza studio"/>
          <p:cNvSpPr/>
          <p:nvPr/>
        </p:nvSpPr>
        <p:spPr>
          <a:xfrm>
            <a:off x="4937760" y="1097280"/>
            <a:ext cx="3749040" cy="3429000"/>
          </a:xfrm>
          <a:prstGeom prst="roundRect">
            <a:avLst>
              <a:gd name="adj" fmla="val 2133"/>
            </a:avLst>
          </a:prstGeom>
          <a:solidFill>
            <a:schemeClr val="tx1"/>
          </a:solidFill>
          <a:ln/>
        </p:spPr>
      </p:sp>
      <p:sp>
        <p:nvSpPr>
          <p:cNvPr id="20" name="Text 14"/>
          <p:cNvSpPr txBox="1"/>
          <p:nvPr/>
        </p:nvSpPr>
        <p:spPr>
          <a:xfrm>
            <a:off x="5166360" y="1234440"/>
            <a:ext cx="329184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UN ESEMPIO DI EVIDENZA</a:t>
            </a:r>
            <a:endParaRPr lang="en-US" sz="1100" dirty="0"/>
          </a:p>
        </p:txBody>
      </p:sp>
      <p:sp>
        <p:nvSpPr>
          <p:cNvPr id="21" name="Text 15"/>
          <p:cNvSpPr txBox="1"/>
          <p:nvPr/>
        </p:nvSpPr>
        <p:spPr>
          <a:xfrm>
            <a:off x="5166360" y="1554480"/>
            <a:ext cx="1737360" cy="731520"/>
          </a:xfrm>
          <a:prstGeom prst="rect">
            <a:avLst/>
          </a:prstGeom>
          <a:noFill/>
          <a:ln/>
        </p:spPr>
        <p:txBody>
          <a:bodyPr wrap="square" lIns="0" tIns="0" rIns="0" bIns="0" rtlCol="0" anchor="t"/>
          <a:lstStyle/>
          <a:p>
            <a:pPr indent="0" marL="0">
              <a:buNone/>
            </a:pPr>
            <a:r>
              <a:rPr lang="en-US" sz="4000" b="1" dirty="0">
                <a:solidFill>
                  <a:schemeClr val="accent1"/>
                </a:solidFill>
              </a:rPr>
              <a:t>+14%</a:t>
            </a:r>
            <a:endParaRPr lang="en-US" sz="4000" dirty="0"/>
          </a:p>
        </p:txBody>
      </p:sp>
      <p:sp>
        <p:nvSpPr>
          <p:cNvPr id="22" name="Text 16"/>
          <p:cNvSpPr txBox="1"/>
          <p:nvPr/>
        </p:nvSpPr>
        <p:spPr>
          <a:xfrm>
            <a:off x="6903720" y="1554480"/>
            <a:ext cx="1737360" cy="731520"/>
          </a:xfrm>
          <a:prstGeom prst="rect">
            <a:avLst/>
          </a:prstGeom>
          <a:noFill/>
          <a:ln/>
        </p:spPr>
        <p:txBody>
          <a:bodyPr wrap="square" lIns="0" tIns="0" rIns="0" bIns="0" rtlCol="0" anchor="t"/>
          <a:lstStyle/>
          <a:p>
            <a:pPr indent="0" marL="0">
              <a:buNone/>
            </a:pPr>
            <a:r>
              <a:rPr lang="en-US" sz="4000" b="1" dirty="0">
                <a:solidFill>
                  <a:schemeClr val="bg1"/>
                </a:solidFill>
              </a:rPr>
              <a:t>+34%</a:t>
            </a:r>
            <a:endParaRPr lang="en-US" sz="4000" dirty="0"/>
          </a:p>
        </p:txBody>
      </p:sp>
      <p:sp>
        <p:nvSpPr>
          <p:cNvPr id="23" name="Text 17"/>
          <p:cNvSpPr txBox="1"/>
          <p:nvPr/>
        </p:nvSpPr>
        <p:spPr>
          <a:xfrm>
            <a:off x="5166360" y="2286000"/>
            <a:ext cx="1645920" cy="548640"/>
          </a:xfrm>
          <a:prstGeom prst="rect">
            <a:avLst/>
          </a:prstGeom>
          <a:noFill/>
          <a:ln/>
        </p:spPr>
        <p:txBody>
          <a:bodyPr wrap="square" lIns="0" tIns="0" rIns="0" bIns="0" rtlCol="0" anchor="t"/>
          <a:lstStyle/>
          <a:p>
            <a:pPr indent="0" marL="0">
              <a:buNone/>
            </a:pPr>
            <a:r>
              <a:rPr lang="en-US" sz="1200" dirty="0">
                <a:solidFill>
                  <a:schemeClr val="bg1"/>
                </a:solidFill>
              </a:rPr>
              <a:t>problemi risolti per ora, in media</a:t>
            </a:r>
            <a:endParaRPr lang="en-US" sz="1200" dirty="0"/>
          </a:p>
        </p:txBody>
      </p:sp>
      <p:sp>
        <p:nvSpPr>
          <p:cNvPr id="24" name="Text 18"/>
          <p:cNvSpPr txBox="1"/>
          <p:nvPr/>
        </p:nvSpPr>
        <p:spPr>
          <a:xfrm>
            <a:off x="6903720" y="2286000"/>
            <a:ext cx="1645920" cy="548640"/>
          </a:xfrm>
          <a:prstGeom prst="rect">
            <a:avLst/>
          </a:prstGeom>
          <a:noFill/>
          <a:ln/>
        </p:spPr>
        <p:txBody>
          <a:bodyPr wrap="square" lIns="0" tIns="0" rIns="0" bIns="0" rtlCol="0" anchor="t"/>
          <a:lstStyle/>
          <a:p>
            <a:pPr indent="0" marL="0">
              <a:buNone/>
            </a:pPr>
            <a:r>
              <a:rPr lang="en-US" sz="1200" dirty="0">
                <a:solidFill>
                  <a:schemeClr val="bg1"/>
                </a:solidFill>
              </a:rPr>
              <a:t>per gli operatori meno esperti</a:t>
            </a:r>
            <a:endParaRPr lang="en-US" sz="1200" dirty="0"/>
          </a:p>
        </p:txBody>
      </p:sp>
      <p:sp>
        <p:nvSpPr>
          <p:cNvPr id="25" name="Text 19"/>
          <p:cNvSpPr txBox="1"/>
          <p:nvPr/>
        </p:nvSpPr>
        <p:spPr>
          <a:xfrm>
            <a:off x="5166360" y="2926080"/>
            <a:ext cx="3337560" cy="914400"/>
          </a:xfrm>
          <a:prstGeom prst="rect">
            <a:avLst/>
          </a:prstGeom>
          <a:noFill/>
          <a:ln/>
        </p:spPr>
        <p:txBody>
          <a:bodyPr wrap="square" lIns="0" tIns="0" rIns="0" bIns="0" rtlCol="0" anchor="t"/>
          <a:lstStyle/>
          <a:p>
            <a:pPr indent="0" marL="0">
              <a:buNone/>
            </a:pPr>
            <a:r>
              <a:rPr lang="en-US" sz="1300" dirty="0">
                <a:solidFill>
                  <a:schemeClr val="accent3"/>
                </a:solidFill>
              </a:rPr>
              <a:t>Oltre 5.000 operatori di assistenza clienti con un assistente di AI generativa. Per i più esperti l'effetto è stato minimo.</a:t>
            </a:r>
            <a:endParaRPr lang="en-US" sz="1300" dirty="0"/>
          </a:p>
        </p:txBody>
      </p:sp>
      <p:sp>
        <p:nvSpPr>
          <p:cNvPr id="26" name="Text 20"/>
          <p:cNvSpPr txBox="1"/>
          <p:nvPr/>
        </p:nvSpPr>
        <p:spPr>
          <a:xfrm>
            <a:off x="5166360" y="4114800"/>
            <a:ext cx="3337560" cy="274320"/>
          </a:xfrm>
          <a:prstGeom prst="rect">
            <a:avLst/>
          </a:prstGeom>
          <a:noFill/>
          <a:ln/>
        </p:spPr>
        <p:txBody>
          <a:bodyPr wrap="square" lIns="0" tIns="0" rIns="0" bIns="0" rtlCol="0" anchor="t"/>
          <a:lstStyle/>
          <a:p>
            <a:pPr indent="0" marL="0">
              <a:buNone/>
            </a:pPr>
            <a:r>
              <a:rPr lang="en-US" sz="1000" dirty="0">
                <a:solidFill>
                  <a:schemeClr val="accent2"/>
                </a:solidFill>
              </a:rPr>
              <a:t>Fonte: Brynjolfsson, Li, Raymond, NBER, 2023</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Come evolvono il lavoro e le competenze</a:t>
            </a:r>
            <a:endParaRPr lang="en-US" sz="2600" dirty="0"/>
          </a:p>
        </p:txBody>
      </p:sp>
      <p:sp>
        <p:nvSpPr>
          <p:cNvPr id="4" name="Text 1"/>
          <p:cNvSpPr txBox="1"/>
          <p:nvPr/>
        </p:nvSpPr>
        <p:spPr>
          <a:xfrm>
            <a:off x="457200" y="1051560"/>
            <a:ext cx="4114800" cy="320040"/>
          </a:xfrm>
          <a:prstGeom prst="rect">
            <a:avLst/>
          </a:prstGeom>
          <a:noFill/>
          <a:ln/>
        </p:spPr>
        <p:txBody>
          <a:bodyPr wrap="square" lIns="0" tIns="0" rIns="0" bIns="0" rtlCol="0" anchor="t"/>
          <a:lstStyle/>
          <a:p>
            <a:pPr indent="0" marL="0">
              <a:buNone/>
            </a:pPr>
            <a:r>
              <a:rPr lang="en-US" sz="1400" b="1" dirty="0">
                <a:solidFill>
                  <a:schemeClr val="tx1"/>
                </a:solidFill>
              </a:rPr>
              <a:t>Un ruolo è fatto di molte attività</a:t>
            </a:r>
            <a:endParaRPr lang="en-US" sz="1400" dirty="0"/>
          </a:p>
        </p:txBody>
      </p:sp>
      <p:sp>
        <p:nvSpPr>
          <p:cNvPr id="5" name="Attività automatizzabili"/>
          <p:cNvSpPr/>
          <p:nvPr/>
        </p:nvSpPr>
        <p:spPr>
          <a:xfrm>
            <a:off x="457200" y="1463040"/>
            <a:ext cx="4023360" cy="841248"/>
          </a:xfrm>
          <a:prstGeom prst="roundRect">
            <a:avLst>
              <a:gd name="adj" fmla="val 8696"/>
            </a:avLst>
          </a:prstGeom>
          <a:solidFill>
            <a:schemeClr val="accent1"/>
          </a:solidFill>
          <a:ln/>
        </p:spPr>
      </p:sp>
      <p:sp>
        <p:nvSpPr>
          <p:cNvPr id="6" name="Text 3"/>
          <p:cNvSpPr txBox="1"/>
          <p:nvPr/>
        </p:nvSpPr>
        <p:spPr>
          <a:xfrm>
            <a:off x="640080" y="1463040"/>
            <a:ext cx="3657600" cy="841248"/>
          </a:xfrm>
          <a:prstGeom prst="rect">
            <a:avLst/>
          </a:prstGeom>
          <a:noFill/>
          <a:ln/>
        </p:spPr>
        <p:txBody>
          <a:bodyPr wrap="square" lIns="0" tIns="0" rIns="0" bIns="0" rtlCol="0" anchor="ctr"/>
          <a:lstStyle/>
          <a:p>
            <a:pPr indent="0" marL="0">
              <a:buNone/>
            </a:pPr>
            <a:r>
              <a:rPr lang="en-US" sz="1400" b="1" dirty="0">
                <a:solidFill>
                  <a:schemeClr val="bg1"/>
                </a:solidFill>
              </a:rPr>
              <a:t>Attività automatizzabili</a:t>
            </a:r>
            <a:endParaRPr lang="en-US" sz="1400" dirty="0"/>
          </a:p>
        </p:txBody>
      </p:sp>
      <p:sp>
        <p:nvSpPr>
          <p:cNvPr id="7" name="Attività supportate dall'AI"/>
          <p:cNvSpPr/>
          <p:nvPr/>
        </p:nvSpPr>
        <p:spPr>
          <a:xfrm>
            <a:off x="457200" y="2450592"/>
            <a:ext cx="4023360" cy="841248"/>
          </a:xfrm>
          <a:prstGeom prst="roundRect">
            <a:avLst>
              <a:gd name="adj" fmla="val 8696"/>
            </a:avLst>
          </a:prstGeom>
          <a:solidFill>
            <a:schemeClr val="accent6"/>
          </a:solidFill>
          <a:ln/>
        </p:spPr>
      </p:sp>
      <p:sp>
        <p:nvSpPr>
          <p:cNvPr id="8" name="Text 5"/>
          <p:cNvSpPr txBox="1"/>
          <p:nvPr/>
        </p:nvSpPr>
        <p:spPr>
          <a:xfrm>
            <a:off x="640080" y="2450592"/>
            <a:ext cx="3657600" cy="841248"/>
          </a:xfrm>
          <a:prstGeom prst="rect">
            <a:avLst/>
          </a:prstGeom>
          <a:noFill/>
          <a:ln/>
        </p:spPr>
        <p:txBody>
          <a:bodyPr wrap="square" lIns="0" tIns="0" rIns="0" bIns="0" rtlCol="0" anchor="ctr"/>
          <a:lstStyle/>
          <a:p>
            <a:pPr indent="0" marL="0">
              <a:buNone/>
            </a:pPr>
            <a:r>
              <a:rPr lang="en-US" sz="1400" b="1" dirty="0">
                <a:solidFill>
                  <a:schemeClr val="tx1"/>
                </a:solidFill>
              </a:rPr>
              <a:t>Attività supportate dall'AI</a:t>
            </a:r>
            <a:endParaRPr lang="en-US" sz="1400" dirty="0"/>
          </a:p>
        </p:txBody>
      </p:sp>
      <p:sp>
        <p:nvSpPr>
          <p:cNvPr id="9" name="Attività essenzialmente umane: relazioni, giudizio, responsabilità"/>
          <p:cNvSpPr/>
          <p:nvPr/>
        </p:nvSpPr>
        <p:spPr>
          <a:xfrm>
            <a:off x="457200" y="3438144"/>
            <a:ext cx="4023360" cy="841248"/>
          </a:xfrm>
          <a:prstGeom prst="roundRect">
            <a:avLst>
              <a:gd name="adj" fmla="val 8696"/>
            </a:avLst>
          </a:prstGeom>
          <a:solidFill>
            <a:schemeClr val="bg2"/>
          </a:solidFill>
          <a:ln/>
        </p:spPr>
      </p:sp>
      <p:sp>
        <p:nvSpPr>
          <p:cNvPr id="10" name="Text 7"/>
          <p:cNvSpPr txBox="1"/>
          <p:nvPr/>
        </p:nvSpPr>
        <p:spPr>
          <a:xfrm>
            <a:off x="640080" y="3438144"/>
            <a:ext cx="3657600" cy="841248"/>
          </a:xfrm>
          <a:prstGeom prst="rect">
            <a:avLst/>
          </a:prstGeom>
          <a:noFill/>
          <a:ln/>
        </p:spPr>
        <p:txBody>
          <a:bodyPr wrap="square" lIns="0" tIns="0" rIns="0" bIns="0" rtlCol="0" anchor="ctr"/>
          <a:lstStyle/>
          <a:p>
            <a:pPr indent="0" marL="0">
              <a:buNone/>
            </a:pPr>
            <a:r>
              <a:rPr lang="en-US" sz="1400" b="1" dirty="0">
                <a:solidFill>
                  <a:schemeClr val="tx1"/>
                </a:solidFill>
              </a:rPr>
              <a:t>Attività essenzialmente umane: relazioni, giudizio, responsabilità</a:t>
            </a:r>
            <a:endParaRPr lang="en-US" sz="1400" dirty="0"/>
          </a:p>
        </p:txBody>
      </p:sp>
      <p:sp>
        <p:nvSpPr>
          <p:cNvPr id="11" name="Text 8"/>
          <p:cNvSpPr txBox="1"/>
          <p:nvPr/>
        </p:nvSpPr>
        <p:spPr>
          <a:xfrm>
            <a:off x="4846320" y="1051560"/>
            <a:ext cx="3840480" cy="320040"/>
          </a:xfrm>
          <a:prstGeom prst="rect">
            <a:avLst/>
          </a:prstGeom>
          <a:noFill/>
          <a:ln/>
        </p:spPr>
        <p:txBody>
          <a:bodyPr wrap="square" lIns="0" tIns="0" rIns="0" bIns="0" rtlCol="0" anchor="t"/>
          <a:lstStyle/>
          <a:p>
            <a:pPr indent="0" marL="0">
              <a:buNone/>
            </a:pPr>
            <a:r>
              <a:rPr lang="en-US" sz="1400" b="1" dirty="0">
                <a:solidFill>
                  <a:schemeClr val="tx1"/>
                </a:solidFill>
              </a:rPr>
              <a:t>Competenze che acquistano valore</a:t>
            </a:r>
            <a:endParaRPr lang="en-US" sz="1400" dirty="0"/>
          </a:p>
        </p:txBody>
      </p:sp>
      <p:sp>
        <p:nvSpPr>
          <p:cNvPr id="12" name="cerchio FiHelpCircle"/>
          <p:cNvSpPr/>
          <p:nvPr/>
        </p:nvSpPr>
        <p:spPr>
          <a:xfrm>
            <a:off x="4846320" y="1481328"/>
            <a:ext cx="457200" cy="457200"/>
          </a:xfrm>
          <a:prstGeom prst="ellipse">
            <a:avLst/>
          </a:prstGeom>
          <a:solidFill>
            <a:schemeClr val="accent1"/>
          </a:solidFill>
          <a:ln/>
        </p:spPr>
      </p:sp>
      <p:pic>
        <p:nvPicPr>
          <p:cNvPr id="13" name="Image 0" descr="FiHelpCircle">    </p:cNvPr>
          <p:cNvPicPr>
            <a:picLocks noChangeAspect="1"/>
          </p:cNvPicPr>
          <p:nvPr/>
        </p:nvPicPr>
        <p:blipFill>
          <a:blip r:embed="rId1"/>
          <a:stretch>
            <a:fillRect/>
          </a:stretch>
        </p:blipFill>
        <p:spPr>
          <a:xfrm>
            <a:off x="4960620" y="1595628"/>
            <a:ext cx="228600" cy="228600"/>
          </a:xfrm>
          <a:prstGeom prst="rect">
            <a:avLst/>
          </a:prstGeom>
        </p:spPr>
      </p:pic>
      <p:sp>
        <p:nvSpPr>
          <p:cNvPr id="14" name="Text 10"/>
          <p:cNvSpPr txBox="1"/>
          <p:nvPr/>
        </p:nvSpPr>
        <p:spPr>
          <a:xfrm>
            <a:off x="5486400" y="1481328"/>
            <a:ext cx="3200400" cy="457200"/>
          </a:xfrm>
          <a:prstGeom prst="rect">
            <a:avLst/>
          </a:prstGeom>
          <a:noFill/>
          <a:ln/>
        </p:spPr>
        <p:txBody>
          <a:bodyPr wrap="square" lIns="0" tIns="0" rIns="0" bIns="0" rtlCol="0" anchor="ctr"/>
          <a:lstStyle/>
          <a:p>
            <a:pPr indent="0" marL="0">
              <a:buNone/>
            </a:pPr>
            <a:r>
              <a:rPr lang="en-US" sz="1400" dirty="0">
                <a:solidFill>
                  <a:schemeClr val="tx1"/>
                </a:solidFill>
              </a:rPr>
              <a:t>Formulare bene i problemi</a:t>
            </a:r>
            <a:endParaRPr lang="en-US" sz="1400" dirty="0"/>
          </a:p>
        </p:txBody>
      </p:sp>
      <p:sp>
        <p:nvSpPr>
          <p:cNvPr id="15" name="cerchio FiEye"/>
          <p:cNvSpPr/>
          <p:nvPr/>
        </p:nvSpPr>
        <p:spPr>
          <a:xfrm>
            <a:off x="4846320" y="2231136"/>
            <a:ext cx="457200" cy="457200"/>
          </a:xfrm>
          <a:prstGeom prst="ellipse">
            <a:avLst/>
          </a:prstGeom>
          <a:solidFill>
            <a:schemeClr val="accent1"/>
          </a:solidFill>
          <a:ln/>
        </p:spPr>
      </p:sp>
      <p:pic>
        <p:nvPicPr>
          <p:cNvPr id="16" name="Image 1" descr="FiEye">    </p:cNvPr>
          <p:cNvPicPr>
            <a:picLocks noChangeAspect="1"/>
          </p:cNvPicPr>
          <p:nvPr/>
        </p:nvPicPr>
        <p:blipFill>
          <a:blip r:embed="rId2"/>
          <a:stretch>
            <a:fillRect/>
          </a:stretch>
        </p:blipFill>
        <p:spPr>
          <a:xfrm>
            <a:off x="4960620" y="2345436"/>
            <a:ext cx="228600" cy="228600"/>
          </a:xfrm>
          <a:prstGeom prst="rect">
            <a:avLst/>
          </a:prstGeom>
        </p:spPr>
      </p:pic>
      <p:sp>
        <p:nvSpPr>
          <p:cNvPr id="17" name="Text 12"/>
          <p:cNvSpPr txBox="1"/>
          <p:nvPr/>
        </p:nvSpPr>
        <p:spPr>
          <a:xfrm>
            <a:off x="5486400" y="2231136"/>
            <a:ext cx="3200400" cy="457200"/>
          </a:xfrm>
          <a:prstGeom prst="rect">
            <a:avLst/>
          </a:prstGeom>
          <a:noFill/>
          <a:ln/>
        </p:spPr>
        <p:txBody>
          <a:bodyPr wrap="square" lIns="0" tIns="0" rIns="0" bIns="0" rtlCol="0" anchor="ctr"/>
          <a:lstStyle/>
          <a:p>
            <a:pPr indent="0" marL="0">
              <a:buNone/>
            </a:pPr>
            <a:r>
              <a:rPr lang="en-US" sz="1400" dirty="0">
                <a:solidFill>
                  <a:schemeClr val="tx1"/>
                </a:solidFill>
              </a:rPr>
              <a:t>Valutare criticamente gli output</a:t>
            </a:r>
            <a:endParaRPr lang="en-US" sz="1400" dirty="0"/>
          </a:p>
        </p:txBody>
      </p:sp>
      <p:sp>
        <p:nvSpPr>
          <p:cNvPr id="18" name="cerchio FiLayers"/>
          <p:cNvSpPr/>
          <p:nvPr/>
        </p:nvSpPr>
        <p:spPr>
          <a:xfrm>
            <a:off x="4846320" y="2980944"/>
            <a:ext cx="457200" cy="457200"/>
          </a:xfrm>
          <a:prstGeom prst="ellipse">
            <a:avLst/>
          </a:prstGeom>
          <a:solidFill>
            <a:schemeClr val="accent1"/>
          </a:solidFill>
          <a:ln/>
        </p:spPr>
      </p:sp>
      <p:pic>
        <p:nvPicPr>
          <p:cNvPr id="19" name="Image 2" descr="FiLayers">    </p:cNvPr>
          <p:cNvPicPr>
            <a:picLocks noChangeAspect="1"/>
          </p:cNvPicPr>
          <p:nvPr/>
        </p:nvPicPr>
        <p:blipFill>
          <a:blip r:embed="rId3"/>
          <a:stretch>
            <a:fillRect/>
          </a:stretch>
        </p:blipFill>
        <p:spPr>
          <a:xfrm>
            <a:off x="4960620" y="3095244"/>
            <a:ext cx="228600" cy="228600"/>
          </a:xfrm>
          <a:prstGeom prst="rect">
            <a:avLst/>
          </a:prstGeom>
        </p:spPr>
      </p:pic>
      <p:sp>
        <p:nvSpPr>
          <p:cNvPr id="20" name="Text 14"/>
          <p:cNvSpPr txBox="1"/>
          <p:nvPr/>
        </p:nvSpPr>
        <p:spPr>
          <a:xfrm>
            <a:off x="5486400" y="2980944"/>
            <a:ext cx="3200400" cy="457200"/>
          </a:xfrm>
          <a:prstGeom prst="rect">
            <a:avLst/>
          </a:prstGeom>
          <a:noFill/>
          <a:ln/>
        </p:spPr>
        <p:txBody>
          <a:bodyPr wrap="square" lIns="0" tIns="0" rIns="0" bIns="0" rtlCol="0" anchor="ctr"/>
          <a:lstStyle/>
          <a:p>
            <a:pPr indent="0" marL="0">
              <a:buNone/>
            </a:pPr>
            <a:r>
              <a:rPr lang="en-US" sz="1400" dirty="0">
                <a:solidFill>
                  <a:schemeClr val="tx1"/>
                </a:solidFill>
              </a:rPr>
              <a:t>Integrare l'AI nel proprio lavoro</a:t>
            </a:r>
            <a:endParaRPr lang="en-US" sz="1400" dirty="0"/>
          </a:p>
        </p:txBody>
      </p:sp>
      <p:sp>
        <p:nvSpPr>
          <p:cNvPr id="21" name="cerchio FiBookOpen"/>
          <p:cNvSpPr/>
          <p:nvPr/>
        </p:nvSpPr>
        <p:spPr>
          <a:xfrm>
            <a:off x="4846320" y="3730752"/>
            <a:ext cx="457200" cy="457200"/>
          </a:xfrm>
          <a:prstGeom prst="ellipse">
            <a:avLst/>
          </a:prstGeom>
          <a:solidFill>
            <a:schemeClr val="accent1"/>
          </a:solidFill>
          <a:ln/>
        </p:spPr>
      </p:sp>
      <p:pic>
        <p:nvPicPr>
          <p:cNvPr id="22" name="Image 3" descr="FiBookOpen">    </p:cNvPr>
          <p:cNvPicPr>
            <a:picLocks noChangeAspect="1"/>
          </p:cNvPicPr>
          <p:nvPr/>
        </p:nvPicPr>
        <p:blipFill>
          <a:blip r:embed="rId4"/>
          <a:stretch>
            <a:fillRect/>
          </a:stretch>
        </p:blipFill>
        <p:spPr>
          <a:xfrm>
            <a:off x="4960620" y="3845052"/>
            <a:ext cx="228600" cy="228600"/>
          </a:xfrm>
          <a:prstGeom prst="rect">
            <a:avLst/>
          </a:prstGeom>
        </p:spPr>
      </p:pic>
      <p:sp>
        <p:nvSpPr>
          <p:cNvPr id="23" name="Text 16"/>
          <p:cNvSpPr txBox="1"/>
          <p:nvPr/>
        </p:nvSpPr>
        <p:spPr>
          <a:xfrm>
            <a:off x="5486400" y="3730752"/>
            <a:ext cx="3200400" cy="457200"/>
          </a:xfrm>
          <a:prstGeom prst="rect">
            <a:avLst/>
          </a:prstGeom>
          <a:noFill/>
          <a:ln/>
        </p:spPr>
        <p:txBody>
          <a:bodyPr wrap="square" lIns="0" tIns="0" rIns="0" bIns="0" rtlCol="0" anchor="ctr"/>
          <a:lstStyle/>
          <a:p>
            <a:pPr indent="0" marL="0">
              <a:buNone/>
            </a:pPr>
            <a:r>
              <a:rPr lang="en-US" sz="1400" dirty="0">
                <a:solidFill>
                  <a:schemeClr val="tx1"/>
                </a:solidFill>
              </a:rPr>
              <a:t>Mantenere la competenza di dominio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Possibili implicazioni competitive</a:t>
            </a:r>
            <a:endParaRPr lang="en-US" sz="2600" dirty="0"/>
          </a:p>
        </p:txBody>
      </p:sp>
      <p:sp>
        <p:nvSpPr>
          <p:cNvPr id="4" name="scheda Da vantaggio a standard"/>
          <p:cNvSpPr/>
          <p:nvPr/>
        </p:nvSpPr>
        <p:spPr>
          <a:xfrm>
            <a:off x="457200" y="1097280"/>
            <a:ext cx="3977640" cy="1600200"/>
          </a:xfrm>
          <a:prstGeom prst="roundRect">
            <a:avLst>
              <a:gd name="adj" fmla="val 4571"/>
            </a:avLst>
          </a:prstGeom>
          <a:solidFill>
            <a:schemeClr val="bg2"/>
          </a:solidFill>
          <a:ln/>
        </p:spPr>
      </p:sp>
      <p:sp>
        <p:nvSpPr>
          <p:cNvPr id="5" name="cerchio FiMinusCircle"/>
          <p:cNvSpPr/>
          <p:nvPr/>
        </p:nvSpPr>
        <p:spPr>
          <a:xfrm>
            <a:off x="640080" y="1280160"/>
            <a:ext cx="457200" cy="457200"/>
          </a:xfrm>
          <a:prstGeom prst="ellipse">
            <a:avLst/>
          </a:prstGeom>
          <a:solidFill>
            <a:schemeClr val="accent1"/>
          </a:solidFill>
          <a:ln/>
        </p:spPr>
      </p:sp>
      <p:pic>
        <p:nvPicPr>
          <p:cNvPr id="6" name="Image 0" descr="FiMinusCircl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Da vantaggio a standard</a:t>
            </a:r>
            <a:endParaRPr lang="en-US" sz="1500" dirty="0"/>
          </a:p>
        </p:txBody>
      </p:sp>
      <p:sp>
        <p:nvSpPr>
          <p:cNvPr id="8" name="Text 4"/>
          <p:cNvSpPr txBox="1"/>
          <p:nvPr/>
        </p:nvSpPr>
        <p:spPr>
          <a:xfrm>
            <a:off x="64008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Ciò che è disponibile a tutti diventa presto la norma: non usarlo può diventare uno svantaggio</a:t>
            </a:r>
            <a:endParaRPr lang="en-US" sz="1300" dirty="0"/>
          </a:p>
        </p:txBody>
      </p:sp>
      <p:sp>
        <p:nvSpPr>
          <p:cNvPr id="9" name="scheda Il vantaggio è in ciò che è specifico"/>
          <p:cNvSpPr/>
          <p:nvPr/>
        </p:nvSpPr>
        <p:spPr>
          <a:xfrm>
            <a:off x="4709160" y="1097280"/>
            <a:ext cx="3977640" cy="1600200"/>
          </a:xfrm>
          <a:prstGeom prst="roundRect">
            <a:avLst>
              <a:gd name="adj" fmla="val 4571"/>
            </a:avLst>
          </a:prstGeom>
          <a:solidFill>
            <a:schemeClr val="accent6"/>
          </a:solidFill>
          <a:ln/>
        </p:spPr>
      </p:sp>
      <p:sp>
        <p:nvSpPr>
          <p:cNvPr id="10" name="cerchio FiKey"/>
          <p:cNvSpPr/>
          <p:nvPr/>
        </p:nvSpPr>
        <p:spPr>
          <a:xfrm>
            <a:off x="4892040" y="1280160"/>
            <a:ext cx="457200" cy="457200"/>
          </a:xfrm>
          <a:prstGeom prst="ellipse">
            <a:avLst/>
          </a:prstGeom>
          <a:solidFill>
            <a:schemeClr val="accent1"/>
          </a:solidFill>
          <a:ln/>
        </p:spPr>
      </p:sp>
      <p:pic>
        <p:nvPicPr>
          <p:cNvPr id="11" name="Image 1" descr="FiKey">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5486400" y="128016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Il vantaggio è in ciò che è specifico</a:t>
            </a:r>
            <a:endParaRPr lang="en-US" sz="1500" dirty="0"/>
          </a:p>
        </p:txBody>
      </p:sp>
      <p:sp>
        <p:nvSpPr>
          <p:cNvPr id="13" name="Text 8"/>
          <p:cNvSpPr txBox="1"/>
          <p:nvPr/>
        </p:nvSpPr>
        <p:spPr>
          <a:xfrm>
            <a:off x="4892040" y="1874520"/>
            <a:ext cx="3611880" cy="713232"/>
          </a:xfrm>
          <a:prstGeom prst="rect">
            <a:avLst/>
          </a:prstGeom>
          <a:noFill/>
          <a:ln/>
        </p:spPr>
        <p:txBody>
          <a:bodyPr wrap="square" lIns="0" tIns="0" rIns="0" bIns="0" rtlCol="0" anchor="t"/>
          <a:lstStyle/>
          <a:p>
            <a:pPr indent="0" marL="0">
              <a:buNone/>
            </a:pPr>
            <a:r>
              <a:rPr lang="en-US" sz="1300" dirty="0">
                <a:solidFill>
                  <a:schemeClr val="tx2"/>
                </a:solidFill>
              </a:rPr>
              <a:t>Conoscenza del mercato, dati, processi, persone, capacità di apprendere</a:t>
            </a:r>
            <a:endParaRPr lang="en-US" sz="1300" dirty="0"/>
          </a:p>
        </p:txBody>
      </p:sp>
      <p:sp>
        <p:nvSpPr>
          <p:cNvPr id="14" name="scheda Cambiano le aspettative"/>
          <p:cNvSpPr/>
          <p:nvPr/>
        </p:nvSpPr>
        <p:spPr>
          <a:xfrm>
            <a:off x="457200" y="2834640"/>
            <a:ext cx="3977640" cy="1600200"/>
          </a:xfrm>
          <a:prstGeom prst="roundRect">
            <a:avLst>
              <a:gd name="adj" fmla="val 4571"/>
            </a:avLst>
          </a:prstGeom>
          <a:solidFill>
            <a:schemeClr val="bg2"/>
          </a:solidFill>
          <a:ln/>
        </p:spPr>
      </p:sp>
      <p:sp>
        <p:nvSpPr>
          <p:cNvPr id="15" name="cerchio FiUserPlus"/>
          <p:cNvSpPr/>
          <p:nvPr/>
        </p:nvSpPr>
        <p:spPr>
          <a:xfrm>
            <a:off x="640080" y="3017520"/>
            <a:ext cx="457200" cy="457200"/>
          </a:xfrm>
          <a:prstGeom prst="ellipse">
            <a:avLst/>
          </a:prstGeom>
          <a:solidFill>
            <a:schemeClr val="accent1"/>
          </a:solidFill>
          <a:ln/>
        </p:spPr>
      </p:sp>
      <p:pic>
        <p:nvPicPr>
          <p:cNvPr id="16" name="Image 2" descr="FiUserPlus">    </p:cNvPr>
          <p:cNvPicPr>
            <a:picLocks noChangeAspect="1"/>
          </p:cNvPicPr>
          <p:nvPr/>
        </p:nvPicPr>
        <p:blipFill>
          <a:blip r:embed="rId3"/>
          <a:stretch>
            <a:fillRect/>
          </a:stretch>
        </p:blipFill>
        <p:spPr>
          <a:xfrm>
            <a:off x="754380" y="3131820"/>
            <a:ext cx="228600" cy="228600"/>
          </a:xfrm>
          <a:prstGeom prst="rect">
            <a:avLst/>
          </a:prstGeom>
        </p:spPr>
      </p:pic>
      <p:sp>
        <p:nvSpPr>
          <p:cNvPr id="17" name="Text 11"/>
          <p:cNvSpPr txBox="1"/>
          <p:nvPr/>
        </p:nvSpPr>
        <p:spPr>
          <a:xfrm>
            <a:off x="1234440" y="30175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Cambiano le aspettative</a:t>
            </a:r>
            <a:endParaRPr lang="en-US" sz="1500" dirty="0"/>
          </a:p>
        </p:txBody>
      </p:sp>
      <p:sp>
        <p:nvSpPr>
          <p:cNvPr id="18" name="Text 12"/>
          <p:cNvSpPr txBox="1"/>
          <p:nvPr/>
        </p:nvSpPr>
        <p:spPr>
          <a:xfrm>
            <a:off x="640080" y="3611880"/>
            <a:ext cx="3611880" cy="713232"/>
          </a:xfrm>
          <a:prstGeom prst="rect">
            <a:avLst/>
          </a:prstGeom>
          <a:noFill/>
          <a:ln/>
        </p:spPr>
        <p:txBody>
          <a:bodyPr wrap="square" lIns="0" tIns="0" rIns="0" bIns="0" rtlCol="0" anchor="t"/>
          <a:lstStyle/>
          <a:p>
            <a:pPr indent="0" marL="0">
              <a:buNone/>
            </a:pPr>
            <a:r>
              <a:rPr lang="en-US" sz="1300" dirty="0">
                <a:solidFill>
                  <a:schemeClr val="tx2"/>
                </a:solidFill>
              </a:rPr>
              <a:t>I clienti si abituano a risposte più rapide e personalizzate</a:t>
            </a:r>
            <a:endParaRPr lang="en-US" sz="1300" dirty="0"/>
          </a:p>
        </p:txBody>
      </p:sp>
      <p:sp>
        <p:nvSpPr>
          <p:cNvPr id="19" name="scheda Nuovi concorrenti"/>
          <p:cNvSpPr/>
          <p:nvPr/>
        </p:nvSpPr>
        <p:spPr>
          <a:xfrm>
            <a:off x="4709160" y="2834640"/>
            <a:ext cx="3977640" cy="1600200"/>
          </a:xfrm>
          <a:prstGeom prst="roundRect">
            <a:avLst>
              <a:gd name="adj" fmla="val 4571"/>
            </a:avLst>
          </a:prstGeom>
          <a:solidFill>
            <a:schemeClr val="bg2"/>
          </a:solidFill>
          <a:ln/>
        </p:spPr>
      </p:sp>
      <p:sp>
        <p:nvSpPr>
          <p:cNvPr id="20" name="cerchio FiLogIn"/>
          <p:cNvSpPr/>
          <p:nvPr/>
        </p:nvSpPr>
        <p:spPr>
          <a:xfrm>
            <a:off x="4892040" y="3017520"/>
            <a:ext cx="457200" cy="457200"/>
          </a:xfrm>
          <a:prstGeom prst="ellipse">
            <a:avLst/>
          </a:prstGeom>
          <a:solidFill>
            <a:schemeClr val="accent1"/>
          </a:solidFill>
          <a:ln/>
        </p:spPr>
      </p:sp>
      <p:pic>
        <p:nvPicPr>
          <p:cNvPr id="21" name="Image 3" descr="FiLogIn">    </p:cNvPr>
          <p:cNvPicPr>
            <a:picLocks noChangeAspect="1"/>
          </p:cNvPicPr>
          <p:nvPr/>
        </p:nvPicPr>
        <p:blipFill>
          <a:blip r:embed="rId4"/>
          <a:stretch>
            <a:fillRect/>
          </a:stretch>
        </p:blipFill>
        <p:spPr>
          <a:xfrm>
            <a:off x="5006340" y="3131820"/>
            <a:ext cx="228600" cy="228600"/>
          </a:xfrm>
          <a:prstGeom prst="rect">
            <a:avLst/>
          </a:prstGeom>
        </p:spPr>
      </p:pic>
      <p:sp>
        <p:nvSpPr>
          <p:cNvPr id="22" name="Text 15"/>
          <p:cNvSpPr txBox="1"/>
          <p:nvPr/>
        </p:nvSpPr>
        <p:spPr>
          <a:xfrm>
            <a:off x="5486400" y="3017520"/>
            <a:ext cx="3017520" cy="457200"/>
          </a:xfrm>
          <a:prstGeom prst="rect">
            <a:avLst/>
          </a:prstGeom>
          <a:noFill/>
          <a:ln/>
        </p:spPr>
        <p:txBody>
          <a:bodyPr wrap="square" lIns="0" tIns="0" rIns="0" bIns="0" rtlCol="0" anchor="ctr"/>
          <a:lstStyle/>
          <a:p>
            <a:pPr indent="0" marL="0">
              <a:buNone/>
            </a:pPr>
            <a:r>
              <a:rPr lang="en-US" sz="1500" b="1" dirty="0">
                <a:solidFill>
                  <a:schemeClr val="tx1"/>
                </a:solidFill>
              </a:rPr>
              <a:t>Nuovi concorrenti</a:t>
            </a:r>
            <a:endParaRPr lang="en-US" sz="1500" dirty="0"/>
          </a:p>
        </p:txBody>
      </p:sp>
      <p:sp>
        <p:nvSpPr>
          <p:cNvPr id="23" name="Text 16"/>
          <p:cNvSpPr txBox="1"/>
          <p:nvPr/>
        </p:nvSpPr>
        <p:spPr>
          <a:xfrm>
            <a:off x="4892040" y="3611880"/>
            <a:ext cx="3611880" cy="713232"/>
          </a:xfrm>
          <a:prstGeom prst="rect">
            <a:avLst/>
          </a:prstGeom>
          <a:noFill/>
          <a:ln/>
        </p:spPr>
        <p:txBody>
          <a:bodyPr wrap="square" lIns="0" tIns="0" rIns="0" bIns="0" rtlCol="0" anchor="t"/>
          <a:lstStyle/>
          <a:p>
            <a:pPr indent="0" marL="0">
              <a:buNone/>
            </a:pPr>
            <a:r>
              <a:rPr lang="en-US" sz="1300" dirty="0">
                <a:solidFill>
                  <a:schemeClr val="tx2"/>
                </a:solidFill>
              </a:rPr>
              <a:t>In alcuni settori si abbassano le barriere d'ingresso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Dal potenziale tecnologico al valore realizzato</a:t>
            </a:r>
            <a:endParaRPr lang="en-US" sz="2600" dirty="0"/>
          </a:p>
        </p:txBody>
      </p:sp>
      <p:sp>
        <p:nvSpPr>
          <p:cNvPr id="4" name="imbuto Potenziale tecnologico"/>
          <p:cNvSpPr/>
          <p:nvPr/>
        </p:nvSpPr>
        <p:spPr>
          <a:xfrm>
            <a:off x="466344" y="1097280"/>
            <a:ext cx="5102352" cy="585216"/>
          </a:xfrm>
          <a:prstGeom prst="roundRect">
            <a:avLst>
              <a:gd name="adj" fmla="val 12500"/>
            </a:avLst>
          </a:prstGeom>
          <a:solidFill>
            <a:schemeClr val="tx2"/>
          </a:solidFill>
          <a:ln/>
        </p:spPr>
      </p:sp>
      <p:sp>
        <p:nvSpPr>
          <p:cNvPr id="5" name="Text 2"/>
          <p:cNvSpPr txBox="1"/>
          <p:nvPr/>
        </p:nvSpPr>
        <p:spPr>
          <a:xfrm>
            <a:off x="466344" y="1097280"/>
            <a:ext cx="5102352" cy="585216"/>
          </a:xfrm>
          <a:prstGeom prst="rect">
            <a:avLst/>
          </a:prstGeom>
          <a:noFill/>
          <a:ln/>
        </p:spPr>
        <p:txBody>
          <a:bodyPr wrap="square" lIns="0" tIns="0" rIns="0" bIns="0" rtlCol="0" anchor="ctr"/>
          <a:lstStyle/>
          <a:p>
            <a:pPr algn="ctr" indent="0" marL="0">
              <a:buNone/>
            </a:pPr>
            <a:r>
              <a:rPr lang="en-US" sz="1400" b="1" dirty="0">
                <a:solidFill>
                  <a:schemeClr val="bg1"/>
                </a:solidFill>
              </a:rPr>
              <a:t>Potenziale tecnologico</a:t>
            </a:r>
            <a:endParaRPr lang="en-US" sz="1400" dirty="0"/>
          </a:p>
        </p:txBody>
      </p:sp>
      <p:sp>
        <p:nvSpPr>
          <p:cNvPr id="6" name="Text 3"/>
          <p:cNvSpPr txBox="1"/>
          <p:nvPr/>
        </p:nvSpPr>
        <p:spPr>
          <a:xfrm>
            <a:off x="5806440" y="1097280"/>
            <a:ext cx="2880360" cy="585216"/>
          </a:xfrm>
          <a:prstGeom prst="rect">
            <a:avLst/>
          </a:prstGeom>
          <a:noFill/>
          <a:ln/>
        </p:spPr>
        <p:txBody>
          <a:bodyPr wrap="square" lIns="0" tIns="0" rIns="0" bIns="0" rtlCol="0" anchor="ctr"/>
          <a:lstStyle/>
          <a:p>
            <a:pPr indent="0" marL="0">
              <a:buNone/>
            </a:pPr>
            <a:r>
              <a:rPr lang="en-US" sz="1300" dirty="0">
                <a:solidFill>
                  <a:schemeClr val="tx2"/>
                </a:solidFill>
              </a:rPr>
              <a:t>Ciò che l'AI potrebbe fare</a:t>
            </a:r>
            <a:endParaRPr lang="en-US" sz="1300" dirty="0"/>
          </a:p>
        </p:txBody>
      </p:sp>
      <p:sp>
        <p:nvSpPr>
          <p:cNvPr id="7" name="imbuto Problema reale"/>
          <p:cNvSpPr/>
          <p:nvPr/>
        </p:nvSpPr>
        <p:spPr>
          <a:xfrm>
            <a:off x="749808" y="1792224"/>
            <a:ext cx="4535424" cy="585216"/>
          </a:xfrm>
          <a:prstGeom prst="roundRect">
            <a:avLst>
              <a:gd name="adj" fmla="val 12500"/>
            </a:avLst>
          </a:prstGeom>
          <a:solidFill>
            <a:schemeClr val="bg2"/>
          </a:solidFill>
          <a:ln/>
        </p:spPr>
      </p:sp>
      <p:sp>
        <p:nvSpPr>
          <p:cNvPr id="8" name="Text 5"/>
          <p:cNvSpPr txBox="1"/>
          <p:nvPr/>
        </p:nvSpPr>
        <p:spPr>
          <a:xfrm>
            <a:off x="749808" y="1792224"/>
            <a:ext cx="4535424" cy="585216"/>
          </a:xfrm>
          <a:prstGeom prst="rect">
            <a:avLst/>
          </a:prstGeom>
          <a:noFill/>
          <a:ln/>
        </p:spPr>
        <p:txBody>
          <a:bodyPr wrap="square" lIns="0" tIns="0" rIns="0" bIns="0" rtlCol="0" anchor="ctr"/>
          <a:lstStyle/>
          <a:p>
            <a:pPr algn="ctr" indent="0" marL="0">
              <a:buNone/>
            </a:pPr>
            <a:r>
              <a:rPr lang="en-US" sz="1400" b="1" dirty="0">
                <a:solidFill>
                  <a:schemeClr val="tx1"/>
                </a:solidFill>
              </a:rPr>
              <a:t>Problema reale</a:t>
            </a:r>
            <a:endParaRPr lang="en-US" sz="1400" dirty="0"/>
          </a:p>
        </p:txBody>
      </p:sp>
      <p:sp>
        <p:nvSpPr>
          <p:cNvPr id="9" name="Text 6"/>
          <p:cNvSpPr txBox="1"/>
          <p:nvPr/>
        </p:nvSpPr>
        <p:spPr>
          <a:xfrm>
            <a:off x="5806440" y="1792224"/>
            <a:ext cx="2880360" cy="585216"/>
          </a:xfrm>
          <a:prstGeom prst="rect">
            <a:avLst/>
          </a:prstGeom>
          <a:noFill/>
          <a:ln/>
        </p:spPr>
        <p:txBody>
          <a:bodyPr wrap="square" lIns="0" tIns="0" rIns="0" bIns="0" rtlCol="0" anchor="ctr"/>
          <a:lstStyle/>
          <a:p>
            <a:pPr indent="0" marL="0">
              <a:buNone/>
            </a:pPr>
            <a:r>
              <a:rPr lang="en-US" sz="1300" dirty="0">
                <a:solidFill>
                  <a:schemeClr val="tx2"/>
                </a:solidFill>
              </a:rPr>
              <a:t>Un bisogno concreto e rilevante</a:t>
            </a:r>
            <a:endParaRPr lang="en-US" sz="1300" dirty="0"/>
          </a:p>
        </p:txBody>
      </p:sp>
      <p:sp>
        <p:nvSpPr>
          <p:cNvPr id="10" name="imbuto Integrazione nei processi"/>
          <p:cNvSpPr/>
          <p:nvPr/>
        </p:nvSpPr>
        <p:spPr>
          <a:xfrm>
            <a:off x="1033272" y="2487168"/>
            <a:ext cx="3968496" cy="585216"/>
          </a:xfrm>
          <a:prstGeom prst="roundRect">
            <a:avLst>
              <a:gd name="adj" fmla="val 12500"/>
            </a:avLst>
          </a:prstGeom>
          <a:solidFill>
            <a:schemeClr val="bg2"/>
          </a:solidFill>
          <a:ln/>
        </p:spPr>
      </p:sp>
      <p:sp>
        <p:nvSpPr>
          <p:cNvPr id="11" name="Text 8"/>
          <p:cNvSpPr txBox="1"/>
          <p:nvPr/>
        </p:nvSpPr>
        <p:spPr>
          <a:xfrm>
            <a:off x="1033272" y="2487168"/>
            <a:ext cx="3968496" cy="585216"/>
          </a:xfrm>
          <a:prstGeom prst="rect">
            <a:avLst/>
          </a:prstGeom>
          <a:noFill/>
          <a:ln/>
        </p:spPr>
        <p:txBody>
          <a:bodyPr wrap="square" lIns="0" tIns="0" rIns="0" bIns="0" rtlCol="0" anchor="ctr"/>
          <a:lstStyle/>
          <a:p>
            <a:pPr algn="ctr" indent="0" marL="0">
              <a:buNone/>
            </a:pPr>
            <a:r>
              <a:rPr lang="en-US" sz="1400" b="1" dirty="0">
                <a:solidFill>
                  <a:schemeClr val="tx1"/>
                </a:solidFill>
              </a:rPr>
              <a:t>Integrazione nei processi</a:t>
            </a:r>
            <a:endParaRPr lang="en-US" sz="1400" dirty="0"/>
          </a:p>
        </p:txBody>
      </p:sp>
      <p:sp>
        <p:nvSpPr>
          <p:cNvPr id="12" name="Text 9"/>
          <p:cNvSpPr txBox="1"/>
          <p:nvPr/>
        </p:nvSpPr>
        <p:spPr>
          <a:xfrm>
            <a:off x="5806440" y="2487168"/>
            <a:ext cx="2880360" cy="585216"/>
          </a:xfrm>
          <a:prstGeom prst="rect">
            <a:avLst/>
          </a:prstGeom>
          <a:noFill/>
          <a:ln/>
        </p:spPr>
        <p:txBody>
          <a:bodyPr wrap="square" lIns="0" tIns="0" rIns="0" bIns="0" rtlCol="0" anchor="ctr"/>
          <a:lstStyle/>
          <a:p>
            <a:pPr indent="0" marL="0">
              <a:buNone/>
            </a:pPr>
            <a:r>
              <a:rPr lang="en-US" sz="1300" dirty="0">
                <a:solidFill>
                  <a:schemeClr val="tx2"/>
                </a:solidFill>
              </a:rPr>
              <a:t>Dati, strumenti, flussi di lavoro</a:t>
            </a:r>
            <a:endParaRPr lang="en-US" sz="1300" dirty="0"/>
          </a:p>
        </p:txBody>
      </p:sp>
      <p:sp>
        <p:nvSpPr>
          <p:cNvPr id="13" name="imbuto Adozione delle persone"/>
          <p:cNvSpPr/>
          <p:nvPr/>
        </p:nvSpPr>
        <p:spPr>
          <a:xfrm>
            <a:off x="1316736" y="3182112"/>
            <a:ext cx="3401568" cy="585216"/>
          </a:xfrm>
          <a:prstGeom prst="roundRect">
            <a:avLst>
              <a:gd name="adj" fmla="val 12500"/>
            </a:avLst>
          </a:prstGeom>
          <a:solidFill>
            <a:schemeClr val="bg2"/>
          </a:solidFill>
          <a:ln/>
        </p:spPr>
      </p:sp>
      <p:sp>
        <p:nvSpPr>
          <p:cNvPr id="14" name="Text 11"/>
          <p:cNvSpPr txBox="1"/>
          <p:nvPr/>
        </p:nvSpPr>
        <p:spPr>
          <a:xfrm>
            <a:off x="1316736" y="3182112"/>
            <a:ext cx="3401568" cy="585216"/>
          </a:xfrm>
          <a:prstGeom prst="rect">
            <a:avLst/>
          </a:prstGeom>
          <a:noFill/>
          <a:ln/>
        </p:spPr>
        <p:txBody>
          <a:bodyPr wrap="square" lIns="0" tIns="0" rIns="0" bIns="0" rtlCol="0" anchor="ctr"/>
          <a:lstStyle/>
          <a:p>
            <a:pPr algn="ctr" indent="0" marL="0">
              <a:buNone/>
            </a:pPr>
            <a:r>
              <a:rPr lang="en-US" sz="1400" b="1" dirty="0">
                <a:solidFill>
                  <a:schemeClr val="tx1"/>
                </a:solidFill>
              </a:rPr>
              <a:t>Adozione delle persone</a:t>
            </a:r>
            <a:endParaRPr lang="en-US" sz="1400" dirty="0"/>
          </a:p>
        </p:txBody>
      </p:sp>
      <p:sp>
        <p:nvSpPr>
          <p:cNvPr id="15" name="Text 12"/>
          <p:cNvSpPr txBox="1"/>
          <p:nvPr/>
        </p:nvSpPr>
        <p:spPr>
          <a:xfrm>
            <a:off x="5806440" y="3182112"/>
            <a:ext cx="2880360" cy="585216"/>
          </a:xfrm>
          <a:prstGeom prst="rect">
            <a:avLst/>
          </a:prstGeom>
          <a:noFill/>
          <a:ln/>
        </p:spPr>
        <p:txBody>
          <a:bodyPr wrap="square" lIns="0" tIns="0" rIns="0" bIns="0" rtlCol="0" anchor="ctr"/>
          <a:lstStyle/>
          <a:p>
            <a:pPr indent="0" marL="0">
              <a:buNone/>
            </a:pPr>
            <a:r>
              <a:rPr lang="en-US" sz="1300" dirty="0">
                <a:solidFill>
                  <a:schemeClr val="tx2"/>
                </a:solidFill>
              </a:rPr>
              <a:t>Competenze, fiducia, utilità percepita</a:t>
            </a:r>
            <a:endParaRPr lang="en-US" sz="1300" dirty="0"/>
          </a:p>
        </p:txBody>
      </p:sp>
      <p:sp>
        <p:nvSpPr>
          <p:cNvPr id="16" name="imbuto Valore misurato"/>
          <p:cNvSpPr/>
          <p:nvPr/>
        </p:nvSpPr>
        <p:spPr>
          <a:xfrm>
            <a:off x="1600200" y="3877056"/>
            <a:ext cx="2834640" cy="585216"/>
          </a:xfrm>
          <a:prstGeom prst="roundRect">
            <a:avLst>
              <a:gd name="adj" fmla="val 12500"/>
            </a:avLst>
          </a:prstGeom>
          <a:solidFill>
            <a:schemeClr val="accent1"/>
          </a:solidFill>
          <a:ln/>
        </p:spPr>
      </p:sp>
      <p:sp>
        <p:nvSpPr>
          <p:cNvPr id="17" name="Text 14"/>
          <p:cNvSpPr txBox="1"/>
          <p:nvPr/>
        </p:nvSpPr>
        <p:spPr>
          <a:xfrm>
            <a:off x="1600200" y="3877056"/>
            <a:ext cx="2834640" cy="585216"/>
          </a:xfrm>
          <a:prstGeom prst="rect">
            <a:avLst/>
          </a:prstGeom>
          <a:noFill/>
          <a:ln/>
        </p:spPr>
        <p:txBody>
          <a:bodyPr wrap="square" lIns="0" tIns="0" rIns="0" bIns="0" rtlCol="0" anchor="ctr"/>
          <a:lstStyle/>
          <a:p>
            <a:pPr algn="ctr" indent="0" marL="0">
              <a:buNone/>
            </a:pPr>
            <a:r>
              <a:rPr lang="en-US" sz="1400" b="1" dirty="0">
                <a:solidFill>
                  <a:schemeClr val="bg1"/>
                </a:solidFill>
              </a:rPr>
              <a:t>Valore misurato</a:t>
            </a:r>
            <a:endParaRPr lang="en-US" sz="1400" dirty="0"/>
          </a:p>
        </p:txBody>
      </p:sp>
      <p:sp>
        <p:nvSpPr>
          <p:cNvPr id="18" name="Text 15"/>
          <p:cNvSpPr txBox="1"/>
          <p:nvPr/>
        </p:nvSpPr>
        <p:spPr>
          <a:xfrm>
            <a:off x="5806440" y="3877056"/>
            <a:ext cx="2880360" cy="585216"/>
          </a:xfrm>
          <a:prstGeom prst="rect">
            <a:avLst/>
          </a:prstGeom>
          <a:noFill/>
          <a:ln/>
        </p:spPr>
        <p:txBody>
          <a:bodyPr wrap="square" lIns="0" tIns="0" rIns="0" bIns="0" rtlCol="0" anchor="ctr"/>
          <a:lstStyle/>
          <a:p>
            <a:pPr indent="0" marL="0">
              <a:buNone/>
            </a:pPr>
            <a:r>
              <a:rPr lang="en-US" sz="1300" dirty="0">
                <a:solidFill>
                  <a:schemeClr val="tx2"/>
                </a:solidFill>
              </a:rPr>
              <a:t>Benefici reali al netto dei costi</a:t>
            </a:r>
            <a:endParaRPr lang="en-US" sz="1300" dirty="0"/>
          </a:p>
        </p:txBody>
      </p:sp>
      <p:sp>
        <p:nvSpPr>
          <p:cNvPr id="19" name="Text 16"/>
          <p:cNvSpPr txBox="1"/>
          <p:nvPr/>
        </p:nvSpPr>
        <p:spPr>
          <a:xfrm>
            <a:off x="457200" y="4572000"/>
            <a:ext cx="5486400" cy="182880"/>
          </a:xfrm>
          <a:prstGeom prst="rect">
            <a:avLst/>
          </a:prstGeom>
          <a:noFill/>
          <a:ln/>
        </p:spPr>
        <p:txBody>
          <a:bodyPr wrap="square" lIns="0" tIns="0" rIns="0" bIns="0" rtlCol="0" anchor="t"/>
          <a:lstStyle/>
          <a:p>
            <a:pPr indent="0" marL="0">
              <a:buNone/>
            </a:pPr>
            <a:r>
              <a:rPr lang="en-US" sz="1100" i="1" dirty="0">
                <a:solidFill>
                  <a:schemeClr val="accent2"/>
                </a:solidFill>
              </a:rPr>
              <a:t>A ogni passaggio parte del potenziale può andare perso</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L'AI può abilitare cambiamenti in molte aree dell'impresa, ma il valore nasce da applicazioni appropriate a problemi reali.</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1.5  ·  Rilevanza dell'AI per le aziende</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914400"/>
            <a:ext cx="3657600" cy="1005840"/>
          </a:xfrm>
          <a:prstGeom prst="rect">
            <a:avLst/>
          </a:prstGeom>
          <a:noFill/>
          <a:ln/>
        </p:spPr>
        <p:txBody>
          <a:bodyPr wrap="square" lIns="0" tIns="0" rIns="0" bIns="0" rtlCol="0" anchor="b"/>
          <a:lstStyle/>
          <a:p>
            <a:pPr indent="0" marL="0">
              <a:buNone/>
            </a:pPr>
            <a:r>
              <a:rPr lang="en-US" sz="6000" b="1" dirty="0">
                <a:solidFill>
                  <a:schemeClr val="accent1"/>
                </a:solidFill>
              </a:rPr>
              <a:t>1.6</a:t>
            </a:r>
            <a:endParaRPr lang="en-US" sz="6000" dirty="0"/>
          </a:p>
        </p:txBody>
      </p:sp>
      <p:sp>
        <p:nvSpPr>
          <p:cNvPr id="3" name="Text 0"/>
          <p:cNvSpPr/>
          <p:nvPr>
            <p:ph idx="101" type="title" hasCustomPrompt="1"/>
          </p:nvPr>
        </p:nvSpPr>
        <p:spPr>
          <a:xfrm>
            <a:off x="640080" y="2057400"/>
            <a:ext cx="7863840" cy="914400"/>
          </a:xfrm>
          <a:prstGeom prst="rect">
            <a:avLst/>
          </a:prstGeom>
          <a:noFill/>
          <a:ln/>
        </p:spPr>
        <p:txBody>
          <a:bodyPr wrap="square" lIns="0" tIns="0" rIns="0" bIns="0" rtlCol="0" anchor="t"/>
          <a:lstStyle/>
          <a:p>
            <a:pPr algn="l" indent="0" marL="0">
              <a:buNone/>
            </a:pPr>
            <a:r>
              <a:rPr lang="en-US" sz="3200" b="1" dirty="0">
                <a:solidFill>
                  <a:schemeClr val="bg1"/>
                </a:solidFill>
              </a:rPr>
              <a:t>Tra hype e realtà</a:t>
            </a:r>
            <a:endParaRPr lang="en-US" sz="3200" dirty="0"/>
          </a:p>
        </p:txBody>
      </p:sp>
      <p:sp>
        <p:nvSpPr>
          <p:cNvPr id="4" name="Text 0"/>
          <p:cNvSpPr/>
          <p:nvPr>
            <p:ph idx="102" type="body" hasCustomPrompt="1"/>
          </p:nvPr>
        </p:nvSpPr>
        <p:spPr>
          <a:xfrm>
            <a:off x="640080" y="3063240"/>
            <a:ext cx="7315200" cy="1097280"/>
          </a:xfrm>
          <a:prstGeom prst="rect">
            <a:avLst/>
          </a:prstGeom>
          <a:noFill/>
          <a:ln/>
        </p:spPr>
        <p:txBody>
          <a:bodyPr wrap="square" lIns="0" tIns="0" rIns="0" bIns="0" rtlCol="0" anchor="t"/>
          <a:lstStyle/>
          <a:p>
            <a:pPr indent="0" marL="0">
              <a:buNone/>
            </a:pPr>
            <a:r>
              <a:rPr lang="en-US" sz="1600" dirty="0">
                <a:solidFill>
                  <a:schemeClr val="accent3"/>
                </a:solidFill>
              </a:rPr>
              <a:t>Valutare criticamente le promesse dell'AI, distinguendo possibilità tecniche, affidabilità e convenienza</a:t>
            </a:r>
            <a:endParaRPr lang="en-US" sz="16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Aspettative, promesse e narrazioni mediatiche</a:t>
            </a:r>
            <a:endParaRPr lang="en-US" sz="2600" dirty="0"/>
          </a:p>
        </p:txBody>
      </p:sp>
      <p:graphicFrame>
        <p:nvGraphicFramePr>
          <p:cNvPr id="4" name="Chart 0" descr=""/>
          <p:cNvGraphicFramePr/>
          <p:nvPr/>
        </p:nvGraphicFramePr>
        <p:xfrm>
          <a:off x="457200" y="1051560"/>
          <a:ext cx="8229600" cy="2743200"/>
        </p:xfrm>
        <a:graphic xmlns:a="http://schemas.openxmlformats.org/drawingml/2006/main">
          <a:graphicData uri="http://schemas.openxmlformats.org/drawingml/2006/chart">
            <c:chart xmlns:c="http://schemas.openxmlformats.org/drawingml/2006/chart" r:id="rId1"/>
          </a:graphicData>
        </a:graphic>
      </p:graphicFrame>
      <p:sp>
        <p:nvSpPr>
          <p:cNvPr id="5" name="fase Innesco tecnologico"/>
          <p:cNvSpPr/>
          <p:nvPr/>
        </p:nvSpPr>
        <p:spPr>
          <a:xfrm>
            <a:off x="457200" y="3886200"/>
            <a:ext cx="1600200" cy="548640"/>
          </a:xfrm>
          <a:prstGeom prst="roundRect">
            <a:avLst>
              <a:gd name="adj" fmla="val 13333"/>
            </a:avLst>
          </a:prstGeom>
          <a:solidFill>
            <a:schemeClr val="bg2"/>
          </a:solidFill>
          <a:ln/>
        </p:spPr>
      </p:sp>
      <p:sp>
        <p:nvSpPr>
          <p:cNvPr id="6" name="Text 2"/>
          <p:cNvSpPr txBox="1"/>
          <p:nvPr/>
        </p:nvSpPr>
        <p:spPr>
          <a:xfrm>
            <a:off x="502920" y="3886200"/>
            <a:ext cx="1508760" cy="548640"/>
          </a:xfrm>
          <a:prstGeom prst="rect">
            <a:avLst/>
          </a:prstGeom>
          <a:noFill/>
          <a:ln/>
        </p:spPr>
        <p:txBody>
          <a:bodyPr wrap="square" lIns="0" tIns="0" rIns="0" bIns="0" rtlCol="0" anchor="ctr"/>
          <a:lstStyle/>
          <a:p>
            <a:pPr algn="ctr" indent="0" marL="0">
              <a:buNone/>
            </a:pPr>
            <a:r>
              <a:rPr lang="en-US" sz="1200" b="1" dirty="0">
                <a:solidFill>
                  <a:schemeClr val="tx1"/>
                </a:solidFill>
              </a:rPr>
              <a:t>Innesco tecnologico</a:t>
            </a:r>
            <a:endParaRPr lang="en-US" sz="1200" dirty="0"/>
          </a:p>
        </p:txBody>
      </p:sp>
      <p:sp>
        <p:nvSpPr>
          <p:cNvPr id="7" name="fase Picco di aspettative eccessive"/>
          <p:cNvSpPr/>
          <p:nvPr/>
        </p:nvSpPr>
        <p:spPr>
          <a:xfrm>
            <a:off x="2011680" y="3886200"/>
            <a:ext cx="1600200" cy="548640"/>
          </a:xfrm>
          <a:prstGeom prst="roundRect">
            <a:avLst>
              <a:gd name="adj" fmla="val 13333"/>
            </a:avLst>
          </a:prstGeom>
          <a:solidFill>
            <a:schemeClr val="accent6"/>
          </a:solidFill>
          <a:ln/>
        </p:spPr>
      </p:sp>
      <p:sp>
        <p:nvSpPr>
          <p:cNvPr id="8" name="Text 4"/>
          <p:cNvSpPr txBox="1"/>
          <p:nvPr/>
        </p:nvSpPr>
        <p:spPr>
          <a:xfrm>
            <a:off x="2057400" y="3886200"/>
            <a:ext cx="1508760" cy="548640"/>
          </a:xfrm>
          <a:prstGeom prst="rect">
            <a:avLst/>
          </a:prstGeom>
          <a:noFill/>
          <a:ln/>
        </p:spPr>
        <p:txBody>
          <a:bodyPr wrap="square" lIns="0" tIns="0" rIns="0" bIns="0" rtlCol="0" anchor="ctr"/>
          <a:lstStyle/>
          <a:p>
            <a:pPr algn="ctr" indent="0" marL="0">
              <a:buNone/>
            </a:pPr>
            <a:r>
              <a:rPr lang="en-US" sz="1200" b="1" dirty="0">
                <a:solidFill>
                  <a:schemeClr val="tx1"/>
                </a:solidFill>
              </a:rPr>
              <a:t>Picco di aspettative eccessive</a:t>
            </a:r>
            <a:endParaRPr lang="en-US" sz="1200" dirty="0"/>
          </a:p>
        </p:txBody>
      </p:sp>
      <p:sp>
        <p:nvSpPr>
          <p:cNvPr id="9" name="fase Fase di disillusione"/>
          <p:cNvSpPr/>
          <p:nvPr/>
        </p:nvSpPr>
        <p:spPr>
          <a:xfrm>
            <a:off x="3657600" y="3886200"/>
            <a:ext cx="1600200" cy="548640"/>
          </a:xfrm>
          <a:prstGeom prst="roundRect">
            <a:avLst>
              <a:gd name="adj" fmla="val 13333"/>
            </a:avLst>
          </a:prstGeom>
          <a:solidFill>
            <a:schemeClr val="bg2"/>
          </a:solidFill>
          <a:ln/>
        </p:spPr>
      </p:sp>
      <p:sp>
        <p:nvSpPr>
          <p:cNvPr id="10" name="Text 6"/>
          <p:cNvSpPr txBox="1"/>
          <p:nvPr/>
        </p:nvSpPr>
        <p:spPr>
          <a:xfrm>
            <a:off x="3703320" y="3886200"/>
            <a:ext cx="1508760" cy="548640"/>
          </a:xfrm>
          <a:prstGeom prst="rect">
            <a:avLst/>
          </a:prstGeom>
          <a:noFill/>
          <a:ln/>
        </p:spPr>
        <p:txBody>
          <a:bodyPr wrap="square" lIns="0" tIns="0" rIns="0" bIns="0" rtlCol="0" anchor="ctr"/>
          <a:lstStyle/>
          <a:p>
            <a:pPr algn="ctr" indent="0" marL="0">
              <a:buNone/>
            </a:pPr>
            <a:r>
              <a:rPr lang="en-US" sz="1200" b="1" dirty="0">
                <a:solidFill>
                  <a:schemeClr val="tx1"/>
                </a:solidFill>
              </a:rPr>
              <a:t>Fase di disillusione</a:t>
            </a:r>
            <a:endParaRPr lang="en-US" sz="1200" dirty="0"/>
          </a:p>
        </p:txBody>
      </p:sp>
      <p:sp>
        <p:nvSpPr>
          <p:cNvPr id="11" name="fase Risalita della comprensione"/>
          <p:cNvSpPr/>
          <p:nvPr/>
        </p:nvSpPr>
        <p:spPr>
          <a:xfrm>
            <a:off x="5303520" y="3886200"/>
            <a:ext cx="1600200" cy="548640"/>
          </a:xfrm>
          <a:prstGeom prst="roundRect">
            <a:avLst>
              <a:gd name="adj" fmla="val 13333"/>
            </a:avLst>
          </a:prstGeom>
          <a:solidFill>
            <a:schemeClr val="bg2"/>
          </a:solidFill>
          <a:ln/>
        </p:spPr>
      </p:sp>
      <p:sp>
        <p:nvSpPr>
          <p:cNvPr id="12" name="Text 8"/>
          <p:cNvSpPr txBox="1"/>
          <p:nvPr/>
        </p:nvSpPr>
        <p:spPr>
          <a:xfrm>
            <a:off x="5349240" y="3886200"/>
            <a:ext cx="1508760" cy="548640"/>
          </a:xfrm>
          <a:prstGeom prst="rect">
            <a:avLst/>
          </a:prstGeom>
          <a:noFill/>
          <a:ln/>
        </p:spPr>
        <p:txBody>
          <a:bodyPr wrap="square" lIns="0" tIns="0" rIns="0" bIns="0" rtlCol="0" anchor="ctr"/>
          <a:lstStyle/>
          <a:p>
            <a:pPr algn="ctr" indent="0" marL="0">
              <a:buNone/>
            </a:pPr>
            <a:r>
              <a:rPr lang="en-US" sz="1200" b="1" dirty="0">
                <a:solidFill>
                  <a:schemeClr val="tx1"/>
                </a:solidFill>
              </a:rPr>
              <a:t>Risalita della comprensione</a:t>
            </a:r>
            <a:endParaRPr lang="en-US" sz="1200" dirty="0"/>
          </a:p>
        </p:txBody>
      </p:sp>
      <p:sp>
        <p:nvSpPr>
          <p:cNvPr id="13" name="fase Plateau di produttività"/>
          <p:cNvSpPr/>
          <p:nvPr/>
        </p:nvSpPr>
        <p:spPr>
          <a:xfrm>
            <a:off x="6949440" y="3886200"/>
            <a:ext cx="1600200" cy="548640"/>
          </a:xfrm>
          <a:prstGeom prst="roundRect">
            <a:avLst>
              <a:gd name="adj" fmla="val 13333"/>
            </a:avLst>
          </a:prstGeom>
          <a:solidFill>
            <a:schemeClr val="bg2"/>
          </a:solidFill>
          <a:ln/>
        </p:spPr>
      </p:sp>
      <p:sp>
        <p:nvSpPr>
          <p:cNvPr id="14" name="Text 10"/>
          <p:cNvSpPr txBox="1"/>
          <p:nvPr/>
        </p:nvSpPr>
        <p:spPr>
          <a:xfrm>
            <a:off x="6995160" y="3886200"/>
            <a:ext cx="1508760" cy="548640"/>
          </a:xfrm>
          <a:prstGeom prst="rect">
            <a:avLst/>
          </a:prstGeom>
          <a:noFill/>
          <a:ln/>
        </p:spPr>
        <p:txBody>
          <a:bodyPr wrap="square" lIns="0" tIns="0" rIns="0" bIns="0" rtlCol="0" anchor="ctr"/>
          <a:lstStyle/>
          <a:p>
            <a:pPr algn="ctr" indent="0" marL="0">
              <a:buNone/>
            </a:pPr>
            <a:r>
              <a:rPr lang="en-US" sz="1200" b="1" dirty="0">
                <a:solidFill>
                  <a:schemeClr val="tx1"/>
                </a:solidFill>
              </a:rPr>
              <a:t>Plateau di produttività</a:t>
            </a:r>
            <a:endParaRPr lang="en-US" sz="1200" dirty="0"/>
          </a:p>
        </p:txBody>
      </p:sp>
      <p:sp>
        <p:nvSpPr>
          <p:cNvPr id="15" name="Text 11"/>
          <p:cNvSpPr txBox="1"/>
          <p:nvPr/>
        </p:nvSpPr>
        <p:spPr>
          <a:xfrm>
            <a:off x="457200" y="4498848"/>
            <a:ext cx="5486400" cy="228600"/>
          </a:xfrm>
          <a:prstGeom prst="rect">
            <a:avLst/>
          </a:prstGeom>
          <a:noFill/>
          <a:ln/>
        </p:spPr>
        <p:txBody>
          <a:bodyPr wrap="square" lIns="0" tIns="0" rIns="0" bIns="0" rtlCol="0" anchor="t"/>
          <a:lstStyle/>
          <a:p>
            <a:pPr indent="0" marL="0">
              <a:buNone/>
            </a:pPr>
            <a:r>
              <a:rPr lang="en-US" sz="1000" i="1" dirty="0">
                <a:solidFill>
                  <a:schemeClr val="accent2"/>
                </a:solidFill>
              </a:rPr>
              <a:t>Schema "hype cycle" di Gartner, a scopo interpretativo</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Dimostrazione tecnologica e uso aziendale continuativo</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3108960"/>
                <a:gridCol w="3566160"/>
              </a:tblGrid>
              <a:tr h="429768">
                <a:tc>
                  <a:txBody>
                    <a:bodyPr/>
                    <a:lstStyle/>
                    <a:p>
                      <a:pPr indent="0" marL="0">
                        <a:buNone/>
                      </a:pP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b="1" dirty="0">
                          <a:solidFill>
                            <a:schemeClr val="bg1"/>
                          </a:solidFill>
                        </a:rPr>
                        <a:t>Dimostrazione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Uso aziendale continuativo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r>
              <a:tr h="429768">
                <a:tc>
                  <a:txBody>
                    <a:bodyPr/>
                    <a:lstStyle/>
                    <a:p>
                      <a:pPr indent="0" marL="0">
                        <a:buNone/>
                      </a:pPr>
                      <a:r>
                        <a:rPr lang="en-US" sz="1300" b="1" dirty="0">
                          <a:solidFill>
                            <a:schemeClr val="tx1"/>
                          </a:solidFill>
                        </a:rPr>
                        <a:t>Casi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Esempi scelti con cura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Tutti i casi reali, anche difficili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300" b="1" dirty="0">
                          <a:solidFill>
                            <a:schemeClr val="tx1"/>
                          </a:solidFill>
                        </a:rPr>
                        <a:t>Condizioni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Controllate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Variabili e imprevedibili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300" b="1" dirty="0">
                          <a:solidFill>
                            <a:schemeClr val="tx1"/>
                          </a:solidFill>
                        </a:rPr>
                        <a:t>Durata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 momento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Affidabilità nel tempo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300" b="1" dirty="0">
                          <a:solidFill>
                            <a:schemeClr val="tx1"/>
                          </a:solidFill>
                        </a:rPr>
                        <a:t>Integrazione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 necessaria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Con dati, sistemi e processi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300" b="1" dirty="0">
                          <a:solidFill>
                            <a:schemeClr val="tx1"/>
                          </a:solidFill>
                        </a:rPr>
                        <a:t>Vincoli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Pochi o nessuno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Sicurezza, privacy, normative, costi</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r h="429768">
                <a:tc>
                  <a:txBody>
                    <a:bodyPr/>
                    <a:lstStyle/>
                    <a:p>
                      <a:pPr indent="0" marL="0">
                        <a:buNone/>
                      </a:pPr>
                      <a:r>
                        <a:rPr lang="en-US" sz="1300" b="1" dirty="0">
                          <a:solidFill>
                            <a:schemeClr val="tx1"/>
                          </a:solidFill>
                        </a:rPr>
                        <a:t>Persone</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 esperto la presenta</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Molti la usano ogni giorno</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solidFill>
                  </a:tcPr>
                </a:tc>
              </a:tr>
            </a:tbl>
          </a:graphicData>
        </a:graphic>
      </p:graphicFrame>
      <p:sp>
        <p:nvSpPr>
          <p:cNvPr id="5" name="Text 1"/>
          <p:cNvSpPr txBox="1"/>
          <p:nvPr/>
        </p:nvSpPr>
        <p:spPr>
          <a:xfrm>
            <a:off x="457200" y="4297680"/>
            <a:ext cx="8229600" cy="320040"/>
          </a:xfrm>
          <a:prstGeom prst="rect">
            <a:avLst/>
          </a:prstGeom>
          <a:noFill/>
          <a:ln/>
        </p:spPr>
        <p:txBody>
          <a:bodyPr wrap="square" lIns="0" tIns="0" rIns="0" bIns="0" rtlCol="0" anchor="t"/>
          <a:lstStyle/>
          <a:p>
            <a:pPr indent="0" marL="0">
              <a:buNone/>
            </a:pPr>
            <a:r>
              <a:rPr lang="en-US" sz="1300" i="1" dirty="0">
                <a:solidFill>
                  <a:schemeClr val="tx1"/>
                </a:solidFill>
              </a:rPr>
              <a:t>La domanda chiave: come si comporta con i nostri casi, i nostri dati, ogni giorno?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Maturità delle capacità e limiti attuali</a:t>
            </a:r>
            <a:endParaRPr lang="en-US" sz="2600" dirty="0"/>
          </a:p>
        </p:txBody>
      </p:sp>
      <p:sp>
        <p:nvSpPr>
          <p:cNvPr id="4" name="scheda Generalmente utile, con verifica"/>
          <p:cNvSpPr/>
          <p:nvPr/>
        </p:nvSpPr>
        <p:spPr>
          <a:xfrm>
            <a:off x="457200" y="1097280"/>
            <a:ext cx="3977640" cy="3108960"/>
          </a:xfrm>
          <a:prstGeom prst="roundRect">
            <a:avLst>
              <a:gd name="adj" fmla="val 2353"/>
            </a:avLst>
          </a:prstGeom>
          <a:solidFill>
            <a:schemeClr val="accent6"/>
          </a:solidFill>
          <a:ln/>
        </p:spPr>
      </p:sp>
      <p:sp>
        <p:nvSpPr>
          <p:cNvPr id="5" name="cerchio FiCheckCircle"/>
          <p:cNvSpPr/>
          <p:nvPr/>
        </p:nvSpPr>
        <p:spPr>
          <a:xfrm>
            <a:off x="640080" y="1280160"/>
            <a:ext cx="457200" cy="457200"/>
          </a:xfrm>
          <a:prstGeom prst="ellipse">
            <a:avLst/>
          </a:prstGeom>
          <a:solidFill>
            <a:schemeClr val="accent1"/>
          </a:solidFill>
          <a:ln/>
        </p:spPr>
      </p:sp>
      <p:pic>
        <p:nvPicPr>
          <p:cNvPr id="6" name="Image 0" descr="FiCheckCircl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Generalmente utile, con verifica</a:t>
            </a:r>
            <a:endParaRPr lang="en-US" sz="1600" dirty="0"/>
          </a:p>
        </p:txBody>
      </p:sp>
      <p:sp>
        <p:nvSpPr>
          <p:cNvPr id="8" name="Text 4"/>
          <p:cNvSpPr txBox="1"/>
          <p:nvPr/>
        </p:nvSpPr>
        <p:spPr>
          <a:xfrm>
            <a:off x="640080" y="2231136"/>
            <a:ext cx="3611880" cy="1865376"/>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2"/>
                </a:solidFill>
              </a:rPr>
              <a:t>Bozze di testi e riformulazioni</a:t>
            </a:r>
            <a:endParaRPr lang="en-US" sz="1300" dirty="0"/>
          </a:p>
          <a:p>
            <a:pPr marL="177800" indent="-177800">
              <a:spcAft>
                <a:spcPts val="200"/>
              </a:spcAft>
              <a:buSzPct val="100000"/>
              <a:buChar char="•"/>
            </a:pPr>
            <a:r>
              <a:rPr lang="en-US" sz="1300" dirty="0">
                <a:solidFill>
                  <a:schemeClr val="tx2"/>
                </a:solidFill>
              </a:rPr>
              <a:t>Sintesi di documenti</a:t>
            </a:r>
            <a:endParaRPr lang="en-US" sz="1300" dirty="0"/>
          </a:p>
          <a:p>
            <a:pPr marL="177800" indent="-177800">
              <a:spcAft>
                <a:spcPts val="200"/>
              </a:spcAft>
              <a:buSzPct val="100000"/>
              <a:buChar char="•"/>
            </a:pPr>
            <a:r>
              <a:rPr lang="en-US" sz="1300" dirty="0">
                <a:solidFill>
                  <a:schemeClr val="tx2"/>
                </a:solidFill>
              </a:rPr>
              <a:t>Traduzioni</a:t>
            </a:r>
            <a:endParaRPr lang="en-US" sz="1300" dirty="0"/>
          </a:p>
          <a:p>
            <a:pPr marL="177800" indent="-177800">
              <a:spcAft>
                <a:spcPts val="200"/>
              </a:spcAft>
              <a:buSzPct val="100000"/>
              <a:buChar char="•"/>
            </a:pPr>
            <a:r>
              <a:rPr lang="en-US" sz="1300" dirty="0">
                <a:solidFill>
                  <a:schemeClr val="tx2"/>
                </a:solidFill>
              </a:rPr>
              <a:t>Generazione di idee e alternative</a:t>
            </a:r>
            <a:endParaRPr lang="en-US" sz="1300" dirty="0"/>
          </a:p>
          <a:p>
            <a:pPr marL="177800" indent="-177800">
              <a:spcAft>
                <a:spcPts val="200"/>
              </a:spcAft>
              <a:buSzPct val="100000"/>
              <a:buChar char="•"/>
            </a:pPr>
            <a:r>
              <a:rPr lang="en-US" sz="1300" dirty="0">
                <a:solidFill>
                  <a:schemeClr val="tx2"/>
                </a:solidFill>
              </a:rPr>
              <a:t>Supporto alla scrittura di codice</a:t>
            </a:r>
            <a:endParaRPr lang="en-US" sz="1300" dirty="0"/>
          </a:p>
          <a:p>
            <a:pPr marL="177800" indent="-177800">
              <a:spcAft>
                <a:spcPts val="200"/>
              </a:spcAft>
              <a:buSzPct val="100000"/>
              <a:buChar char="•"/>
            </a:pPr>
            <a:r>
              <a:rPr lang="en-US" sz="1300" dirty="0">
                <a:solidFill>
                  <a:schemeClr val="tx2"/>
                </a:solidFill>
              </a:rPr>
              <a:t>Estrazione di informazioni da testi</a:t>
            </a:r>
            <a:endParaRPr lang="en-US" sz="1300" dirty="0"/>
          </a:p>
        </p:txBody>
      </p:sp>
      <p:sp>
        <p:nvSpPr>
          <p:cNvPr id="9" name="scheda Richiede maggiore cautela"/>
          <p:cNvSpPr/>
          <p:nvPr/>
        </p:nvSpPr>
        <p:spPr>
          <a:xfrm>
            <a:off x="4709160" y="1097280"/>
            <a:ext cx="3977640" cy="3108960"/>
          </a:xfrm>
          <a:prstGeom prst="roundRect">
            <a:avLst>
              <a:gd name="adj" fmla="val 2353"/>
            </a:avLst>
          </a:prstGeom>
          <a:solidFill>
            <a:schemeClr val="bg2"/>
          </a:solidFill>
          <a:ln/>
        </p:spPr>
      </p:sp>
      <p:sp>
        <p:nvSpPr>
          <p:cNvPr id="10" name="cerchio FiAlertTriangle"/>
          <p:cNvSpPr/>
          <p:nvPr/>
        </p:nvSpPr>
        <p:spPr>
          <a:xfrm>
            <a:off x="4892040" y="1280160"/>
            <a:ext cx="457200" cy="457200"/>
          </a:xfrm>
          <a:prstGeom prst="ellipse">
            <a:avLst/>
          </a:prstGeom>
          <a:solidFill>
            <a:schemeClr val="accent5"/>
          </a:solidFill>
          <a:ln/>
        </p:spPr>
      </p:sp>
      <p:pic>
        <p:nvPicPr>
          <p:cNvPr id="11" name="Image 1" descr="FiAlertTriangl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Richiede maggiore cautela</a:t>
            </a:r>
            <a:endParaRPr lang="en-US" sz="1600" dirty="0"/>
          </a:p>
        </p:txBody>
      </p:sp>
      <p:sp>
        <p:nvSpPr>
          <p:cNvPr id="13" name="Text 8"/>
          <p:cNvSpPr txBox="1"/>
          <p:nvPr/>
        </p:nvSpPr>
        <p:spPr>
          <a:xfrm>
            <a:off x="4892040" y="2231136"/>
            <a:ext cx="3611880" cy="1865376"/>
          </a:xfrm>
          <a:prstGeom prst="rect">
            <a:avLst/>
          </a:prstGeom>
          <a:noFill/>
          <a:ln/>
        </p:spPr>
        <p:txBody>
          <a:bodyPr wrap="square" lIns="0" tIns="0" rIns="0" bIns="0" rtlCol="0" anchor="t"/>
          <a:lstStyle/>
          <a:p>
            <a:pPr marL="177800" indent="-177800">
              <a:spcAft>
                <a:spcPts val="200"/>
              </a:spcAft>
              <a:buSzPct val="100000"/>
              <a:buChar char="•"/>
            </a:pPr>
            <a:r>
              <a:rPr lang="en-US" sz="1300" dirty="0">
                <a:solidFill>
                  <a:schemeClr val="tx2"/>
                </a:solidFill>
              </a:rPr>
              <a:t>Fatti, dati e citazioni senza verifica</a:t>
            </a:r>
            <a:endParaRPr lang="en-US" sz="1300" dirty="0"/>
          </a:p>
          <a:p>
            <a:pPr marL="177800" indent="-177800">
              <a:spcAft>
                <a:spcPts val="200"/>
              </a:spcAft>
              <a:buSzPct val="100000"/>
              <a:buChar char="•"/>
            </a:pPr>
            <a:r>
              <a:rPr lang="en-US" sz="1300" dirty="0">
                <a:solidFill>
                  <a:schemeClr val="tx2"/>
                </a:solidFill>
              </a:rPr>
              <a:t>Calcoli complessi senza strumenti appositi</a:t>
            </a:r>
            <a:endParaRPr lang="en-US" sz="1300" dirty="0"/>
          </a:p>
          <a:p>
            <a:pPr marL="177800" indent="-177800">
              <a:spcAft>
                <a:spcPts val="200"/>
              </a:spcAft>
              <a:buSzPct val="100000"/>
              <a:buChar char="•"/>
            </a:pPr>
            <a:r>
              <a:rPr lang="en-US" sz="1300" dirty="0">
                <a:solidFill>
                  <a:schemeClr val="tx2"/>
                </a:solidFill>
              </a:rPr>
              <a:t>Decisioni ad alto impatto senza supervisione</a:t>
            </a:r>
            <a:endParaRPr lang="en-US" sz="1300" dirty="0"/>
          </a:p>
          <a:p>
            <a:pPr marL="177800" indent="-177800">
              <a:spcAft>
                <a:spcPts val="200"/>
              </a:spcAft>
              <a:buSzPct val="100000"/>
              <a:buChar char="•"/>
            </a:pPr>
            <a:r>
              <a:rPr lang="en-US" sz="1300" dirty="0">
                <a:solidFill>
                  <a:schemeClr val="tx2"/>
                </a:solidFill>
              </a:rPr>
              <a:t>Compiti lunghi in completa autonomia</a:t>
            </a:r>
            <a:endParaRPr lang="en-US" sz="1300" dirty="0"/>
          </a:p>
        </p:txBody>
      </p:sp>
      <p:sp>
        <p:nvSpPr>
          <p:cNvPr id="14" name="Text 9"/>
          <p:cNvSpPr txBox="1"/>
          <p:nvPr/>
        </p:nvSpPr>
        <p:spPr>
          <a:xfrm>
            <a:off x="457200" y="4315968"/>
            <a:ext cx="8229600" cy="320040"/>
          </a:xfrm>
          <a:prstGeom prst="rect">
            <a:avLst/>
          </a:prstGeom>
          <a:noFill/>
          <a:ln/>
        </p:spPr>
        <p:txBody>
          <a:bodyPr wrap="square" lIns="0" tIns="0" rIns="0" bIns="0" rtlCol="0" anchor="t"/>
          <a:lstStyle/>
          <a:p>
            <a:pPr indent="0" marL="0">
              <a:buNone/>
            </a:pPr>
            <a:r>
              <a:rPr lang="en-US" sz="1300" i="1" dirty="0">
                <a:solidFill>
                  <a:schemeClr val="tx2"/>
                </a:solidFill>
              </a:rPr>
              <a:t>Il confine si sposta nel tempo: va rivalutato periodicamente. Approfondimento nel Tema 3.</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Opportunità concrete o affermazioni non dimostrate?</a:t>
            </a:r>
            <a:endParaRPr lang="en-US" sz="2600" dirty="0"/>
          </a:p>
        </p:txBody>
      </p:sp>
      <p:sp>
        <p:nvSpPr>
          <p:cNvPr id="4" name="Chi lo afferma?"/>
          <p:cNvSpPr/>
          <p:nvPr/>
        </p:nvSpPr>
        <p:spPr>
          <a:xfrm>
            <a:off x="457200" y="1097280"/>
            <a:ext cx="2615184" cy="1536192"/>
          </a:xfrm>
          <a:prstGeom prst="roundRect">
            <a:avLst>
              <a:gd name="adj" fmla="val 4762"/>
            </a:avLst>
          </a:prstGeom>
          <a:solidFill>
            <a:schemeClr val="bg2"/>
          </a:solidFill>
          <a:ln/>
        </p:spPr>
      </p:sp>
      <p:sp>
        <p:nvSpPr>
          <p:cNvPr id="5" name="cerchio FiUser"/>
          <p:cNvSpPr/>
          <p:nvPr/>
        </p:nvSpPr>
        <p:spPr>
          <a:xfrm>
            <a:off x="640080" y="1280160"/>
            <a:ext cx="457200" cy="457200"/>
          </a:xfrm>
          <a:prstGeom prst="ellipse">
            <a:avLst/>
          </a:prstGeom>
          <a:solidFill>
            <a:schemeClr val="accent1"/>
          </a:solidFill>
          <a:ln/>
        </p:spPr>
      </p:sp>
      <p:pic>
        <p:nvPicPr>
          <p:cNvPr id="6" name="Image 0" descr="FiUser">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1234440" y="128016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Chi lo afferma?</a:t>
            </a:r>
            <a:endParaRPr lang="en-US" sz="1400" dirty="0"/>
          </a:p>
        </p:txBody>
      </p:sp>
      <p:sp>
        <p:nvSpPr>
          <p:cNvPr id="8" name="Text 4"/>
          <p:cNvSpPr txBox="1"/>
          <p:nvPr/>
        </p:nvSpPr>
        <p:spPr>
          <a:xfrm>
            <a:off x="640080" y="1874520"/>
            <a:ext cx="2249424" cy="640080"/>
          </a:xfrm>
          <a:prstGeom prst="rect">
            <a:avLst/>
          </a:prstGeom>
          <a:noFill/>
          <a:ln/>
        </p:spPr>
        <p:txBody>
          <a:bodyPr wrap="square" lIns="0" tIns="0" rIns="0" bIns="0" rtlCol="0" anchor="t"/>
          <a:lstStyle/>
          <a:p>
            <a:pPr indent="0" marL="0">
              <a:buNone/>
            </a:pPr>
            <a:r>
              <a:rPr lang="en-US" sz="1300" dirty="0">
                <a:solidFill>
                  <a:schemeClr val="tx2"/>
                </a:solidFill>
              </a:rPr>
              <a:t>E che interesse ha?</a:t>
            </a:r>
            <a:endParaRPr lang="en-US" sz="1300" dirty="0"/>
          </a:p>
        </p:txBody>
      </p:sp>
      <p:sp>
        <p:nvSpPr>
          <p:cNvPr id="9" name="Su quali evidenze?"/>
          <p:cNvSpPr/>
          <p:nvPr/>
        </p:nvSpPr>
        <p:spPr>
          <a:xfrm>
            <a:off x="3264408" y="1097280"/>
            <a:ext cx="2615184" cy="1536192"/>
          </a:xfrm>
          <a:prstGeom prst="roundRect">
            <a:avLst>
              <a:gd name="adj" fmla="val 4762"/>
            </a:avLst>
          </a:prstGeom>
          <a:solidFill>
            <a:schemeClr val="bg2"/>
          </a:solidFill>
          <a:ln/>
        </p:spPr>
      </p:sp>
      <p:sp>
        <p:nvSpPr>
          <p:cNvPr id="10" name="cerchio FiSearch"/>
          <p:cNvSpPr/>
          <p:nvPr/>
        </p:nvSpPr>
        <p:spPr>
          <a:xfrm>
            <a:off x="3447288" y="1280160"/>
            <a:ext cx="457200" cy="457200"/>
          </a:xfrm>
          <a:prstGeom prst="ellipse">
            <a:avLst/>
          </a:prstGeom>
          <a:solidFill>
            <a:schemeClr val="accent1"/>
          </a:solidFill>
          <a:ln/>
        </p:spPr>
      </p:sp>
      <p:pic>
        <p:nvPicPr>
          <p:cNvPr id="11" name="Image 1" descr="FiSearch">    </p:cNvPr>
          <p:cNvPicPr>
            <a:picLocks noChangeAspect="1"/>
          </p:cNvPicPr>
          <p:nvPr/>
        </p:nvPicPr>
        <p:blipFill>
          <a:blip r:embed="rId2"/>
          <a:stretch>
            <a:fillRect/>
          </a:stretch>
        </p:blipFill>
        <p:spPr>
          <a:xfrm>
            <a:off x="3561588" y="1394460"/>
            <a:ext cx="228600" cy="228600"/>
          </a:xfrm>
          <a:prstGeom prst="rect">
            <a:avLst/>
          </a:prstGeom>
        </p:spPr>
      </p:pic>
      <p:sp>
        <p:nvSpPr>
          <p:cNvPr id="12" name="Text 7"/>
          <p:cNvSpPr txBox="1"/>
          <p:nvPr/>
        </p:nvSpPr>
        <p:spPr>
          <a:xfrm>
            <a:off x="4041648" y="128016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Su quali evidenze?</a:t>
            </a:r>
            <a:endParaRPr lang="en-US" sz="1400" dirty="0"/>
          </a:p>
        </p:txBody>
      </p:sp>
      <p:sp>
        <p:nvSpPr>
          <p:cNvPr id="13" name="Text 8"/>
          <p:cNvSpPr txBox="1"/>
          <p:nvPr/>
        </p:nvSpPr>
        <p:spPr>
          <a:xfrm>
            <a:off x="3447288" y="1874520"/>
            <a:ext cx="2249424" cy="640080"/>
          </a:xfrm>
          <a:prstGeom prst="rect">
            <a:avLst/>
          </a:prstGeom>
          <a:noFill/>
          <a:ln/>
        </p:spPr>
        <p:txBody>
          <a:bodyPr wrap="square" lIns="0" tIns="0" rIns="0" bIns="0" rtlCol="0" anchor="t"/>
          <a:lstStyle/>
          <a:p>
            <a:pPr indent="0" marL="0">
              <a:buNone/>
            </a:pPr>
            <a:r>
              <a:rPr lang="en-US" sz="1300" dirty="0">
                <a:solidFill>
                  <a:schemeClr val="tx2"/>
                </a:solidFill>
              </a:rPr>
              <a:t>Opinione, aneddoto o studio indipendente?</a:t>
            </a:r>
            <a:endParaRPr lang="en-US" sz="1300" dirty="0"/>
          </a:p>
        </p:txBody>
      </p:sp>
      <p:sp>
        <p:nvSpPr>
          <p:cNvPr id="14" name="In quale contesto?"/>
          <p:cNvSpPr/>
          <p:nvPr/>
        </p:nvSpPr>
        <p:spPr>
          <a:xfrm>
            <a:off x="6071616" y="1097280"/>
            <a:ext cx="2615184" cy="1536192"/>
          </a:xfrm>
          <a:prstGeom prst="roundRect">
            <a:avLst>
              <a:gd name="adj" fmla="val 4762"/>
            </a:avLst>
          </a:prstGeom>
          <a:solidFill>
            <a:schemeClr val="bg2"/>
          </a:solidFill>
          <a:ln/>
        </p:spPr>
      </p:sp>
      <p:sp>
        <p:nvSpPr>
          <p:cNvPr id="15" name="cerchio FiMapPin"/>
          <p:cNvSpPr/>
          <p:nvPr/>
        </p:nvSpPr>
        <p:spPr>
          <a:xfrm>
            <a:off x="6254496" y="1280160"/>
            <a:ext cx="457200" cy="457200"/>
          </a:xfrm>
          <a:prstGeom prst="ellipse">
            <a:avLst/>
          </a:prstGeom>
          <a:solidFill>
            <a:schemeClr val="accent1"/>
          </a:solidFill>
          <a:ln/>
        </p:spPr>
      </p:sp>
      <p:pic>
        <p:nvPicPr>
          <p:cNvPr id="16" name="Image 2" descr="FiMapPin">    </p:cNvPr>
          <p:cNvPicPr>
            <a:picLocks noChangeAspect="1"/>
          </p:cNvPicPr>
          <p:nvPr/>
        </p:nvPicPr>
        <p:blipFill>
          <a:blip r:embed="rId3"/>
          <a:stretch>
            <a:fillRect/>
          </a:stretch>
        </p:blipFill>
        <p:spPr>
          <a:xfrm>
            <a:off x="6368796" y="1394460"/>
            <a:ext cx="228600" cy="228600"/>
          </a:xfrm>
          <a:prstGeom prst="rect">
            <a:avLst/>
          </a:prstGeom>
        </p:spPr>
      </p:pic>
      <p:sp>
        <p:nvSpPr>
          <p:cNvPr id="17" name="Text 11"/>
          <p:cNvSpPr txBox="1"/>
          <p:nvPr/>
        </p:nvSpPr>
        <p:spPr>
          <a:xfrm>
            <a:off x="6848856" y="128016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In quale contesto?</a:t>
            </a:r>
            <a:endParaRPr lang="en-US" sz="1400" dirty="0"/>
          </a:p>
        </p:txBody>
      </p:sp>
      <p:sp>
        <p:nvSpPr>
          <p:cNvPr id="18" name="Text 12"/>
          <p:cNvSpPr txBox="1"/>
          <p:nvPr/>
        </p:nvSpPr>
        <p:spPr>
          <a:xfrm>
            <a:off x="6254496" y="1874520"/>
            <a:ext cx="2249424" cy="640080"/>
          </a:xfrm>
          <a:prstGeom prst="rect">
            <a:avLst/>
          </a:prstGeom>
          <a:noFill/>
          <a:ln/>
        </p:spPr>
        <p:txBody>
          <a:bodyPr wrap="square" lIns="0" tIns="0" rIns="0" bIns="0" rtlCol="0" anchor="t"/>
          <a:lstStyle/>
          <a:p>
            <a:pPr indent="0" marL="0">
              <a:buNone/>
            </a:pPr>
            <a:r>
              <a:rPr lang="en-US" sz="1300" dirty="0">
                <a:solidFill>
                  <a:schemeClr val="tx2"/>
                </a:solidFill>
              </a:rPr>
              <a:t>Vale anche per il nostro?</a:t>
            </a:r>
            <a:endParaRPr lang="en-US" sz="1300" dirty="0"/>
          </a:p>
        </p:txBody>
      </p:sp>
      <p:sp>
        <p:nvSpPr>
          <p:cNvPr id="19" name="Rispetto a che cosa?"/>
          <p:cNvSpPr/>
          <p:nvPr/>
        </p:nvSpPr>
        <p:spPr>
          <a:xfrm>
            <a:off x="457200" y="2788920"/>
            <a:ext cx="2615184" cy="1536192"/>
          </a:xfrm>
          <a:prstGeom prst="roundRect">
            <a:avLst>
              <a:gd name="adj" fmla="val 4762"/>
            </a:avLst>
          </a:prstGeom>
          <a:solidFill>
            <a:schemeClr val="bg2"/>
          </a:solidFill>
          <a:ln/>
        </p:spPr>
      </p:sp>
      <p:sp>
        <p:nvSpPr>
          <p:cNvPr id="20" name="cerchio FiSliders"/>
          <p:cNvSpPr/>
          <p:nvPr/>
        </p:nvSpPr>
        <p:spPr>
          <a:xfrm>
            <a:off x="640080" y="2971800"/>
            <a:ext cx="457200" cy="457200"/>
          </a:xfrm>
          <a:prstGeom prst="ellipse">
            <a:avLst/>
          </a:prstGeom>
          <a:solidFill>
            <a:schemeClr val="accent1"/>
          </a:solidFill>
          <a:ln/>
        </p:spPr>
      </p:sp>
      <p:pic>
        <p:nvPicPr>
          <p:cNvPr id="21" name="Image 3" descr="FiSliders">    </p:cNvPr>
          <p:cNvPicPr>
            <a:picLocks noChangeAspect="1"/>
          </p:cNvPicPr>
          <p:nvPr/>
        </p:nvPicPr>
        <p:blipFill>
          <a:blip r:embed="rId4"/>
          <a:stretch>
            <a:fillRect/>
          </a:stretch>
        </p:blipFill>
        <p:spPr>
          <a:xfrm>
            <a:off x="754380" y="3086100"/>
            <a:ext cx="228600" cy="228600"/>
          </a:xfrm>
          <a:prstGeom prst="rect">
            <a:avLst/>
          </a:prstGeom>
        </p:spPr>
      </p:pic>
      <p:sp>
        <p:nvSpPr>
          <p:cNvPr id="22" name="Text 15"/>
          <p:cNvSpPr txBox="1"/>
          <p:nvPr/>
        </p:nvSpPr>
        <p:spPr>
          <a:xfrm>
            <a:off x="1234440" y="297180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Rispetto a che cosa?</a:t>
            </a:r>
            <a:endParaRPr lang="en-US" sz="1400" dirty="0"/>
          </a:p>
        </p:txBody>
      </p:sp>
      <p:sp>
        <p:nvSpPr>
          <p:cNvPr id="23" name="Text 16"/>
          <p:cNvSpPr txBox="1"/>
          <p:nvPr/>
        </p:nvSpPr>
        <p:spPr>
          <a:xfrm>
            <a:off x="640080" y="3566160"/>
            <a:ext cx="2249424" cy="640080"/>
          </a:xfrm>
          <a:prstGeom prst="rect">
            <a:avLst/>
          </a:prstGeom>
          <a:noFill/>
          <a:ln/>
        </p:spPr>
        <p:txBody>
          <a:bodyPr wrap="square" lIns="0" tIns="0" rIns="0" bIns="0" rtlCol="0" anchor="t"/>
          <a:lstStyle/>
          <a:p>
            <a:pPr indent="0" marL="0">
              <a:buNone/>
            </a:pPr>
            <a:r>
              <a:rPr lang="en-US" sz="1300" dirty="0">
                <a:solidFill>
                  <a:schemeClr val="tx2"/>
                </a:solidFill>
              </a:rPr>
              <a:t>Qual è il punto di partenza?</a:t>
            </a:r>
            <a:endParaRPr lang="en-US" sz="1300" dirty="0"/>
          </a:p>
        </p:txBody>
      </p:sp>
      <p:sp>
        <p:nvSpPr>
          <p:cNvPr id="24" name="Quanto costa davvero?"/>
          <p:cNvSpPr/>
          <p:nvPr/>
        </p:nvSpPr>
        <p:spPr>
          <a:xfrm>
            <a:off x="3264408" y="2788920"/>
            <a:ext cx="2615184" cy="1536192"/>
          </a:xfrm>
          <a:prstGeom prst="roundRect">
            <a:avLst>
              <a:gd name="adj" fmla="val 4762"/>
            </a:avLst>
          </a:prstGeom>
          <a:solidFill>
            <a:schemeClr val="bg2"/>
          </a:solidFill>
          <a:ln/>
        </p:spPr>
      </p:sp>
      <p:sp>
        <p:nvSpPr>
          <p:cNvPr id="25" name="cerchio FiDollarSign"/>
          <p:cNvSpPr/>
          <p:nvPr/>
        </p:nvSpPr>
        <p:spPr>
          <a:xfrm>
            <a:off x="3447288" y="2971800"/>
            <a:ext cx="457200" cy="457200"/>
          </a:xfrm>
          <a:prstGeom prst="ellipse">
            <a:avLst/>
          </a:prstGeom>
          <a:solidFill>
            <a:schemeClr val="accent1"/>
          </a:solidFill>
          <a:ln/>
        </p:spPr>
      </p:sp>
      <p:pic>
        <p:nvPicPr>
          <p:cNvPr id="26" name="Image 4" descr="FiDollarSign">    </p:cNvPr>
          <p:cNvPicPr>
            <a:picLocks noChangeAspect="1"/>
          </p:cNvPicPr>
          <p:nvPr/>
        </p:nvPicPr>
        <p:blipFill>
          <a:blip r:embed="rId5"/>
          <a:stretch>
            <a:fillRect/>
          </a:stretch>
        </p:blipFill>
        <p:spPr>
          <a:xfrm>
            <a:off x="3561588" y="3086100"/>
            <a:ext cx="228600" cy="228600"/>
          </a:xfrm>
          <a:prstGeom prst="rect">
            <a:avLst/>
          </a:prstGeom>
        </p:spPr>
      </p:pic>
      <p:sp>
        <p:nvSpPr>
          <p:cNvPr id="27" name="Text 19"/>
          <p:cNvSpPr txBox="1"/>
          <p:nvPr/>
        </p:nvSpPr>
        <p:spPr>
          <a:xfrm>
            <a:off x="4041648" y="297180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Quanto costa davvero?</a:t>
            </a:r>
            <a:endParaRPr lang="en-US" sz="1400" dirty="0"/>
          </a:p>
        </p:txBody>
      </p:sp>
      <p:sp>
        <p:nvSpPr>
          <p:cNvPr id="28" name="Text 20"/>
          <p:cNvSpPr txBox="1"/>
          <p:nvPr/>
        </p:nvSpPr>
        <p:spPr>
          <a:xfrm>
            <a:off x="3447288" y="3566160"/>
            <a:ext cx="2249424" cy="640080"/>
          </a:xfrm>
          <a:prstGeom prst="rect">
            <a:avLst/>
          </a:prstGeom>
          <a:noFill/>
          <a:ln/>
        </p:spPr>
        <p:txBody>
          <a:bodyPr wrap="square" lIns="0" tIns="0" rIns="0" bIns="0" rtlCol="0" anchor="t"/>
          <a:lstStyle/>
          <a:p>
            <a:pPr indent="0" marL="0">
              <a:buNone/>
            </a:pPr>
            <a:r>
              <a:rPr lang="en-US" sz="1300" dirty="0">
                <a:solidFill>
                  <a:schemeClr val="tx2"/>
                </a:solidFill>
              </a:rPr>
              <a:t>Licenze, integrazione, formazione, verifica</a:t>
            </a:r>
            <a:endParaRPr lang="en-US" sz="1300" dirty="0"/>
          </a:p>
        </p:txBody>
      </p:sp>
      <p:sp>
        <p:nvSpPr>
          <p:cNvPr id="29" name="È ripetibile?"/>
          <p:cNvSpPr/>
          <p:nvPr/>
        </p:nvSpPr>
        <p:spPr>
          <a:xfrm>
            <a:off x="6071616" y="2788920"/>
            <a:ext cx="2615184" cy="1536192"/>
          </a:xfrm>
          <a:prstGeom prst="roundRect">
            <a:avLst>
              <a:gd name="adj" fmla="val 4762"/>
            </a:avLst>
          </a:prstGeom>
          <a:solidFill>
            <a:schemeClr val="bg2"/>
          </a:solidFill>
          <a:ln/>
        </p:spPr>
      </p:sp>
      <p:sp>
        <p:nvSpPr>
          <p:cNvPr id="30" name="cerchio FiRepeat"/>
          <p:cNvSpPr/>
          <p:nvPr/>
        </p:nvSpPr>
        <p:spPr>
          <a:xfrm>
            <a:off x="6254496" y="2971800"/>
            <a:ext cx="457200" cy="457200"/>
          </a:xfrm>
          <a:prstGeom prst="ellipse">
            <a:avLst/>
          </a:prstGeom>
          <a:solidFill>
            <a:schemeClr val="accent1"/>
          </a:solidFill>
          <a:ln/>
        </p:spPr>
      </p:sp>
      <p:pic>
        <p:nvPicPr>
          <p:cNvPr id="31" name="Image 5" descr="FiRepeat">    </p:cNvPr>
          <p:cNvPicPr>
            <a:picLocks noChangeAspect="1"/>
          </p:cNvPicPr>
          <p:nvPr/>
        </p:nvPicPr>
        <p:blipFill>
          <a:blip r:embed="rId6"/>
          <a:stretch>
            <a:fillRect/>
          </a:stretch>
        </p:blipFill>
        <p:spPr>
          <a:xfrm>
            <a:off x="6368796" y="3086100"/>
            <a:ext cx="228600" cy="228600"/>
          </a:xfrm>
          <a:prstGeom prst="rect">
            <a:avLst/>
          </a:prstGeom>
        </p:spPr>
      </p:pic>
      <p:sp>
        <p:nvSpPr>
          <p:cNvPr id="32" name="Text 23"/>
          <p:cNvSpPr txBox="1"/>
          <p:nvPr/>
        </p:nvSpPr>
        <p:spPr>
          <a:xfrm>
            <a:off x="6848856" y="2971800"/>
            <a:ext cx="1737360" cy="457200"/>
          </a:xfrm>
          <a:prstGeom prst="rect">
            <a:avLst/>
          </a:prstGeom>
          <a:noFill/>
          <a:ln/>
        </p:spPr>
        <p:txBody>
          <a:bodyPr wrap="square" lIns="0" tIns="0" rIns="0" bIns="0" rtlCol="0" anchor="ctr"/>
          <a:lstStyle/>
          <a:p>
            <a:pPr indent="0" marL="0">
              <a:buNone/>
            </a:pPr>
            <a:r>
              <a:rPr lang="en-US" sz="1400" b="1" dirty="0">
                <a:solidFill>
                  <a:schemeClr val="tx1"/>
                </a:solidFill>
              </a:rPr>
              <a:t>È ripetibile?</a:t>
            </a:r>
            <a:endParaRPr lang="en-US" sz="1400" dirty="0"/>
          </a:p>
        </p:txBody>
      </p:sp>
      <p:sp>
        <p:nvSpPr>
          <p:cNvPr id="33" name="Text 24"/>
          <p:cNvSpPr txBox="1"/>
          <p:nvPr/>
        </p:nvSpPr>
        <p:spPr>
          <a:xfrm>
            <a:off x="6254496" y="3566160"/>
            <a:ext cx="2249424" cy="640080"/>
          </a:xfrm>
          <a:prstGeom prst="rect">
            <a:avLst/>
          </a:prstGeom>
          <a:noFill/>
          <a:ln/>
        </p:spPr>
        <p:txBody>
          <a:bodyPr wrap="square" lIns="0" tIns="0" rIns="0" bIns="0" rtlCol="0" anchor="t"/>
          <a:lstStyle/>
          <a:p>
            <a:pPr indent="0" marL="0">
              <a:buNone/>
            </a:pPr>
            <a:r>
              <a:rPr lang="en-US" sz="1300" dirty="0">
                <a:solidFill>
                  <a:schemeClr val="tx2"/>
                </a:solidFill>
              </a:rPr>
              <a:t>Funziona stabilmente nel tempo?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I benefici non sono uguali per tutti</a:t>
            </a:r>
            <a:endParaRPr lang="en-US" sz="2600" dirty="0"/>
          </a:p>
        </p:txBody>
      </p:sp>
      <p:sp>
        <p:nvSpPr>
          <p:cNvPr id="4" name="Text 1"/>
          <p:cNvSpPr txBox="1"/>
          <p:nvPr/>
        </p:nvSpPr>
        <p:spPr>
          <a:xfrm>
            <a:off x="457200" y="1051560"/>
            <a:ext cx="8229600" cy="274320"/>
          </a:xfrm>
          <a:prstGeom prst="rect">
            <a:avLst/>
          </a:prstGeom>
          <a:noFill/>
          <a:ln/>
        </p:spPr>
        <p:txBody>
          <a:bodyPr wrap="square" lIns="0" tIns="0" rIns="0" bIns="0" rtlCol="0" anchor="t"/>
          <a:lstStyle/>
          <a:p>
            <a:pPr indent="0" marL="0">
              <a:buNone/>
            </a:pPr>
            <a:r>
              <a:rPr lang="en-US" sz="1300" dirty="0">
                <a:solidFill>
                  <a:schemeClr val="tx2"/>
                </a:solidFill>
              </a:rPr>
              <a:t>Studio su 758 consulenti (Harvard Business School e BCG, 2023)</a:t>
            </a:r>
            <a:endParaRPr lang="en-US" sz="1300" dirty="0"/>
          </a:p>
        </p:txBody>
      </p:sp>
      <p:sp>
        <p:nvSpPr>
          <p:cNvPr id="5" name="dentro la frontiera"/>
          <p:cNvSpPr/>
          <p:nvPr/>
        </p:nvSpPr>
        <p:spPr>
          <a:xfrm>
            <a:off x="457200" y="1417320"/>
            <a:ext cx="5120640" cy="2514600"/>
          </a:xfrm>
          <a:prstGeom prst="roundRect">
            <a:avLst>
              <a:gd name="adj" fmla="val 2909"/>
            </a:avLst>
          </a:prstGeom>
          <a:solidFill>
            <a:schemeClr val="accent6"/>
          </a:solidFill>
          <a:ln/>
        </p:spPr>
      </p:sp>
      <p:sp>
        <p:nvSpPr>
          <p:cNvPr id="6" name="Text 3"/>
          <p:cNvSpPr txBox="1"/>
          <p:nvPr/>
        </p:nvSpPr>
        <p:spPr>
          <a:xfrm>
            <a:off x="640080" y="1536192"/>
            <a:ext cx="4754880" cy="320040"/>
          </a:xfrm>
          <a:prstGeom prst="rect">
            <a:avLst/>
          </a:prstGeom>
          <a:noFill/>
          <a:ln/>
        </p:spPr>
        <p:txBody>
          <a:bodyPr wrap="square" lIns="0" tIns="0" rIns="0" bIns="0" rtlCol="0" anchor="t"/>
          <a:lstStyle/>
          <a:p>
            <a:pPr indent="0" marL="0">
              <a:buNone/>
            </a:pPr>
            <a:r>
              <a:rPr lang="en-US" sz="1400" b="1" dirty="0">
                <a:solidFill>
                  <a:schemeClr val="tx1"/>
                </a:solidFill>
              </a:rPr>
              <a:t>Compiti adatti alle capacità dell'AI</a:t>
            </a:r>
            <a:endParaRPr lang="en-US" sz="1400" dirty="0"/>
          </a:p>
        </p:txBody>
      </p:sp>
      <p:sp>
        <p:nvSpPr>
          <p:cNvPr id="7" name="Text 4"/>
          <p:cNvSpPr txBox="1"/>
          <p:nvPr/>
        </p:nvSpPr>
        <p:spPr>
          <a:xfrm>
            <a:off x="640080" y="2011680"/>
            <a:ext cx="1554480" cy="685800"/>
          </a:xfrm>
          <a:prstGeom prst="rect">
            <a:avLst/>
          </a:prstGeom>
          <a:noFill/>
          <a:ln/>
        </p:spPr>
        <p:txBody>
          <a:bodyPr wrap="square" lIns="0" tIns="0" rIns="0" bIns="0" rtlCol="0" anchor="t"/>
          <a:lstStyle/>
          <a:p>
            <a:pPr indent="0" marL="0">
              <a:buNone/>
            </a:pPr>
            <a:r>
              <a:rPr lang="en-US" sz="3000" b="1" dirty="0">
                <a:solidFill>
                  <a:schemeClr val="accent1"/>
                </a:solidFill>
              </a:rPr>
              <a:t>+12,2%</a:t>
            </a:r>
            <a:endParaRPr lang="en-US" sz="3000" dirty="0"/>
          </a:p>
        </p:txBody>
      </p:sp>
      <p:sp>
        <p:nvSpPr>
          <p:cNvPr id="8" name="Text 5"/>
          <p:cNvSpPr txBox="1"/>
          <p:nvPr/>
        </p:nvSpPr>
        <p:spPr>
          <a:xfrm>
            <a:off x="640080" y="2697480"/>
            <a:ext cx="1554480" cy="457200"/>
          </a:xfrm>
          <a:prstGeom prst="rect">
            <a:avLst/>
          </a:prstGeom>
          <a:noFill/>
          <a:ln/>
        </p:spPr>
        <p:txBody>
          <a:bodyPr wrap="square" lIns="0" tIns="0" rIns="0" bIns="0" rtlCol="0" anchor="t"/>
          <a:lstStyle/>
          <a:p>
            <a:pPr indent="0" marL="0">
              <a:buNone/>
            </a:pPr>
            <a:r>
              <a:rPr lang="en-US" sz="1300" dirty="0">
                <a:solidFill>
                  <a:schemeClr val="tx1"/>
                </a:solidFill>
              </a:rPr>
              <a:t>compiti completati</a:t>
            </a:r>
            <a:endParaRPr lang="en-US" sz="1300" dirty="0"/>
          </a:p>
        </p:txBody>
      </p:sp>
      <p:sp>
        <p:nvSpPr>
          <p:cNvPr id="9" name="Text 6"/>
          <p:cNvSpPr txBox="1"/>
          <p:nvPr/>
        </p:nvSpPr>
        <p:spPr>
          <a:xfrm>
            <a:off x="2240280" y="2011680"/>
            <a:ext cx="1554480" cy="685800"/>
          </a:xfrm>
          <a:prstGeom prst="rect">
            <a:avLst/>
          </a:prstGeom>
          <a:noFill/>
          <a:ln/>
        </p:spPr>
        <p:txBody>
          <a:bodyPr wrap="square" lIns="0" tIns="0" rIns="0" bIns="0" rtlCol="0" anchor="t"/>
          <a:lstStyle/>
          <a:p>
            <a:pPr indent="0" marL="0">
              <a:buNone/>
            </a:pPr>
            <a:r>
              <a:rPr lang="en-US" sz="3000" b="1" dirty="0">
                <a:solidFill>
                  <a:schemeClr val="accent1"/>
                </a:solidFill>
              </a:rPr>
              <a:t>+25,1%</a:t>
            </a:r>
            <a:endParaRPr lang="en-US" sz="3000" dirty="0"/>
          </a:p>
        </p:txBody>
      </p:sp>
      <p:sp>
        <p:nvSpPr>
          <p:cNvPr id="10" name="Text 7"/>
          <p:cNvSpPr txBox="1"/>
          <p:nvPr/>
        </p:nvSpPr>
        <p:spPr>
          <a:xfrm>
            <a:off x="2240280" y="2697480"/>
            <a:ext cx="1554480" cy="457200"/>
          </a:xfrm>
          <a:prstGeom prst="rect">
            <a:avLst/>
          </a:prstGeom>
          <a:noFill/>
          <a:ln/>
        </p:spPr>
        <p:txBody>
          <a:bodyPr wrap="square" lIns="0" tIns="0" rIns="0" bIns="0" rtlCol="0" anchor="t"/>
          <a:lstStyle/>
          <a:p>
            <a:pPr indent="0" marL="0">
              <a:buNone/>
            </a:pPr>
            <a:r>
              <a:rPr lang="en-US" sz="1300" dirty="0">
                <a:solidFill>
                  <a:schemeClr val="tx1"/>
                </a:solidFill>
              </a:rPr>
              <a:t>velocità</a:t>
            </a:r>
            <a:endParaRPr lang="en-US" sz="1300" dirty="0"/>
          </a:p>
        </p:txBody>
      </p:sp>
      <p:sp>
        <p:nvSpPr>
          <p:cNvPr id="11" name="Text 8"/>
          <p:cNvSpPr txBox="1"/>
          <p:nvPr/>
        </p:nvSpPr>
        <p:spPr>
          <a:xfrm>
            <a:off x="3840480" y="2011680"/>
            <a:ext cx="1554480" cy="685800"/>
          </a:xfrm>
          <a:prstGeom prst="rect">
            <a:avLst/>
          </a:prstGeom>
          <a:noFill/>
          <a:ln/>
        </p:spPr>
        <p:txBody>
          <a:bodyPr wrap="square" lIns="0" tIns="0" rIns="0" bIns="0" rtlCol="0" anchor="t"/>
          <a:lstStyle/>
          <a:p>
            <a:pPr indent="0" marL="0">
              <a:buNone/>
            </a:pPr>
            <a:r>
              <a:rPr lang="en-US" sz="3000" b="1" dirty="0">
                <a:solidFill>
                  <a:schemeClr val="accent1"/>
                </a:solidFill>
              </a:rPr>
              <a:t>+40%</a:t>
            </a:r>
            <a:endParaRPr lang="en-US" sz="3000" dirty="0"/>
          </a:p>
        </p:txBody>
      </p:sp>
      <p:sp>
        <p:nvSpPr>
          <p:cNvPr id="12" name="Text 9"/>
          <p:cNvSpPr txBox="1"/>
          <p:nvPr/>
        </p:nvSpPr>
        <p:spPr>
          <a:xfrm>
            <a:off x="3840480" y="2697480"/>
            <a:ext cx="1554480" cy="457200"/>
          </a:xfrm>
          <a:prstGeom prst="rect">
            <a:avLst/>
          </a:prstGeom>
          <a:noFill/>
          <a:ln/>
        </p:spPr>
        <p:txBody>
          <a:bodyPr wrap="square" lIns="0" tIns="0" rIns="0" bIns="0" rtlCol="0" anchor="t"/>
          <a:lstStyle/>
          <a:p>
            <a:pPr indent="0" marL="0">
              <a:buNone/>
            </a:pPr>
            <a:r>
              <a:rPr lang="en-US" sz="1300" dirty="0">
                <a:solidFill>
                  <a:schemeClr val="tx1"/>
                </a:solidFill>
              </a:rPr>
              <a:t>qualità (oltre)</a:t>
            </a:r>
            <a:endParaRPr lang="en-US" sz="1300" dirty="0"/>
          </a:p>
        </p:txBody>
      </p:sp>
      <p:sp>
        <p:nvSpPr>
          <p:cNvPr id="13" name="fuori dalla frontiera"/>
          <p:cNvSpPr/>
          <p:nvPr/>
        </p:nvSpPr>
        <p:spPr>
          <a:xfrm>
            <a:off x="5806440" y="1417320"/>
            <a:ext cx="2880360" cy="2514600"/>
          </a:xfrm>
          <a:prstGeom prst="roundRect">
            <a:avLst>
              <a:gd name="adj" fmla="val 2909"/>
            </a:avLst>
          </a:prstGeom>
          <a:solidFill>
            <a:schemeClr val="tx1"/>
          </a:solidFill>
          <a:ln/>
        </p:spPr>
      </p:sp>
      <p:sp>
        <p:nvSpPr>
          <p:cNvPr id="14" name="Text 11"/>
          <p:cNvSpPr txBox="1"/>
          <p:nvPr/>
        </p:nvSpPr>
        <p:spPr>
          <a:xfrm>
            <a:off x="5989320" y="1536192"/>
            <a:ext cx="2560320" cy="548640"/>
          </a:xfrm>
          <a:prstGeom prst="rect">
            <a:avLst/>
          </a:prstGeom>
          <a:noFill/>
          <a:ln/>
        </p:spPr>
        <p:txBody>
          <a:bodyPr wrap="square" lIns="0" tIns="0" rIns="0" bIns="0" rtlCol="0" anchor="t"/>
          <a:lstStyle/>
          <a:p>
            <a:pPr indent="0" marL="0">
              <a:buNone/>
            </a:pPr>
            <a:r>
              <a:rPr lang="en-US" sz="1400" b="1" dirty="0">
                <a:solidFill>
                  <a:schemeClr val="bg1"/>
                </a:solidFill>
              </a:rPr>
              <a:t>Compito fuori dalle capacità dell'AI</a:t>
            </a:r>
            <a:endParaRPr lang="en-US" sz="1400" dirty="0"/>
          </a:p>
        </p:txBody>
      </p:sp>
      <p:sp>
        <p:nvSpPr>
          <p:cNvPr id="15" name="Text 12"/>
          <p:cNvSpPr txBox="1"/>
          <p:nvPr/>
        </p:nvSpPr>
        <p:spPr>
          <a:xfrm>
            <a:off x="5989320" y="2103120"/>
            <a:ext cx="2560320" cy="640080"/>
          </a:xfrm>
          <a:prstGeom prst="rect">
            <a:avLst/>
          </a:prstGeom>
          <a:noFill/>
          <a:ln/>
        </p:spPr>
        <p:txBody>
          <a:bodyPr wrap="square" lIns="0" tIns="0" rIns="0" bIns="0" rtlCol="0" anchor="t"/>
          <a:lstStyle/>
          <a:p>
            <a:pPr indent="0" marL="0">
              <a:buNone/>
            </a:pPr>
            <a:r>
              <a:rPr lang="en-US" sz="3000" b="1" dirty="0">
                <a:solidFill>
                  <a:schemeClr val="accent5"/>
                </a:solidFill>
              </a:rPr>
              <a:t>-19 punti</a:t>
            </a:r>
            <a:endParaRPr lang="en-US" sz="3000" dirty="0"/>
          </a:p>
        </p:txBody>
      </p:sp>
      <p:sp>
        <p:nvSpPr>
          <p:cNvPr id="16" name="Text 13"/>
          <p:cNvSpPr txBox="1"/>
          <p:nvPr/>
        </p:nvSpPr>
        <p:spPr>
          <a:xfrm>
            <a:off x="5989320" y="2743200"/>
            <a:ext cx="2560320" cy="822960"/>
          </a:xfrm>
          <a:prstGeom prst="rect">
            <a:avLst/>
          </a:prstGeom>
          <a:noFill/>
          <a:ln/>
        </p:spPr>
        <p:txBody>
          <a:bodyPr wrap="square" lIns="0" tIns="0" rIns="0" bIns="0" rtlCol="0" anchor="t"/>
          <a:lstStyle/>
          <a:p>
            <a:pPr indent="0" marL="0">
              <a:buNone/>
            </a:pPr>
            <a:r>
              <a:rPr lang="en-US" sz="1300" dirty="0">
                <a:solidFill>
                  <a:schemeClr val="bg1"/>
                </a:solidFill>
              </a:rPr>
              <a:t>percentuali di probabilità di arrivare alla soluzione corretta</a:t>
            </a:r>
            <a:endParaRPr lang="en-US" sz="1300" dirty="0"/>
          </a:p>
        </p:txBody>
      </p:sp>
      <p:sp>
        <p:nvSpPr>
          <p:cNvPr id="17" name="Text 14"/>
          <p:cNvSpPr txBox="1"/>
          <p:nvPr/>
        </p:nvSpPr>
        <p:spPr>
          <a:xfrm>
            <a:off x="457200" y="4023360"/>
            <a:ext cx="8229600" cy="457200"/>
          </a:xfrm>
          <a:prstGeom prst="rect">
            <a:avLst/>
          </a:prstGeom>
          <a:noFill/>
          <a:ln/>
        </p:spPr>
        <p:txBody>
          <a:bodyPr wrap="square" lIns="0" tIns="0" rIns="0" bIns="0" rtlCol="0" anchor="t"/>
          <a:lstStyle/>
          <a:p>
            <a:pPr indent="0" marL="0">
              <a:buNone/>
            </a:pPr>
            <a:r>
              <a:rPr lang="en-US" sz="1300" i="1" dirty="0">
                <a:solidFill>
                  <a:schemeClr val="tx1"/>
                </a:solidFill>
              </a:rPr>
              <a:t>Una "frontiera frastagliata": compiti simili possono stare da parti opposte del confine. Saper riconoscere quando usare l'AI è una competenza.</a:t>
            </a:r>
            <a:endParaRPr lang="en-US" sz="1300" dirty="0"/>
          </a:p>
        </p:txBody>
      </p:sp>
      <p:sp>
        <p:nvSpPr>
          <p:cNvPr id="18" name="Text 15"/>
          <p:cNvSpPr txBox="1"/>
          <p:nvPr/>
        </p:nvSpPr>
        <p:spPr>
          <a:xfrm>
            <a:off x="457200" y="4498848"/>
            <a:ext cx="5486400" cy="228600"/>
          </a:xfrm>
          <a:prstGeom prst="rect">
            <a:avLst/>
          </a:prstGeom>
          <a:noFill/>
          <a:ln/>
        </p:spPr>
        <p:txBody>
          <a:bodyPr wrap="square" lIns="0" tIns="0" rIns="0" bIns="0" rtlCol="0" anchor="t"/>
          <a:lstStyle/>
          <a:p>
            <a:pPr indent="0" marL="0">
              <a:buNone/>
            </a:pPr>
            <a:r>
              <a:rPr lang="en-US" sz="1000" dirty="0">
                <a:solidFill>
                  <a:schemeClr val="accent2"/>
                </a:solidFill>
              </a:rPr>
              <a:t>Fonte: Dell'Acqua et al., HBS Working Paper 24-013, 2023</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Velocità del cambiamento e incertezza sul futuro</a:t>
            </a:r>
            <a:endParaRPr lang="en-US" sz="2600" dirty="0"/>
          </a:p>
        </p:txBody>
      </p:sp>
      <p:sp>
        <p:nvSpPr>
          <p:cNvPr id="4" name="scheda Evoluzioni osservabili"/>
          <p:cNvSpPr/>
          <p:nvPr/>
        </p:nvSpPr>
        <p:spPr>
          <a:xfrm>
            <a:off x="457200" y="1097280"/>
            <a:ext cx="3977640" cy="2331720"/>
          </a:xfrm>
          <a:prstGeom prst="roundRect">
            <a:avLst>
              <a:gd name="adj" fmla="val 3137"/>
            </a:avLst>
          </a:prstGeom>
          <a:solidFill>
            <a:schemeClr val="accent6"/>
          </a:solidFill>
          <a:ln/>
        </p:spPr>
      </p:sp>
      <p:sp>
        <p:nvSpPr>
          <p:cNvPr id="5" name="cerchio FiEye"/>
          <p:cNvSpPr/>
          <p:nvPr/>
        </p:nvSpPr>
        <p:spPr>
          <a:xfrm>
            <a:off x="640080" y="1280160"/>
            <a:ext cx="457200" cy="457200"/>
          </a:xfrm>
          <a:prstGeom prst="ellipse">
            <a:avLst/>
          </a:prstGeom>
          <a:solidFill>
            <a:schemeClr val="accent1"/>
          </a:solidFill>
          <a:ln/>
        </p:spPr>
      </p:sp>
      <p:pic>
        <p:nvPicPr>
          <p:cNvPr id="6" name="Image 0" descr="FiEye">    </p:cNvPr>
          <p:cNvPicPr>
            <a:picLocks noChangeAspect="1"/>
          </p:cNvPicPr>
          <p:nvPr/>
        </p:nvPicPr>
        <p:blipFill>
          <a:blip r:embed="rId1"/>
          <a:stretch>
            <a:fillRect/>
          </a:stretch>
        </p:blipFill>
        <p:spPr>
          <a:xfrm>
            <a:off x="754380" y="1394460"/>
            <a:ext cx="228600" cy="228600"/>
          </a:xfrm>
          <a:prstGeom prst="rect">
            <a:avLst/>
          </a:prstGeom>
        </p:spPr>
      </p:pic>
      <p:sp>
        <p:nvSpPr>
          <p:cNvPr id="7" name="Text 3"/>
          <p:cNvSpPr txBox="1"/>
          <p:nvPr/>
        </p:nvSpPr>
        <p:spPr>
          <a:xfrm>
            <a:off x="64008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Evoluzioni osservabili</a:t>
            </a:r>
            <a:endParaRPr lang="en-US" sz="1600" dirty="0"/>
          </a:p>
        </p:txBody>
      </p:sp>
      <p:sp>
        <p:nvSpPr>
          <p:cNvPr id="8" name="Text 4"/>
          <p:cNvSpPr txBox="1"/>
          <p:nvPr/>
        </p:nvSpPr>
        <p:spPr>
          <a:xfrm>
            <a:off x="64008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Capacità verificabili oggi</a:t>
            </a:r>
            <a:endParaRPr lang="en-US" sz="1300" dirty="0"/>
          </a:p>
          <a:p>
            <a:pPr marL="177800" indent="-177800">
              <a:spcAft>
                <a:spcPts val="300"/>
              </a:spcAft>
              <a:buSzPct val="100000"/>
              <a:buChar char="•"/>
            </a:pPr>
            <a:r>
              <a:rPr lang="en-US" sz="1300" dirty="0">
                <a:solidFill>
                  <a:schemeClr val="tx2"/>
                </a:solidFill>
              </a:rPr>
              <a:t>Strumenti effettivamente disponibili</a:t>
            </a:r>
            <a:endParaRPr lang="en-US" sz="1300" dirty="0"/>
          </a:p>
          <a:p>
            <a:pPr marL="177800" indent="-177800">
              <a:spcAft>
                <a:spcPts val="300"/>
              </a:spcAft>
              <a:buSzPct val="100000"/>
              <a:buChar char="•"/>
            </a:pPr>
            <a:r>
              <a:rPr lang="en-US" sz="1300" dirty="0">
                <a:solidFill>
                  <a:schemeClr val="tx2"/>
                </a:solidFill>
              </a:rPr>
              <a:t>Risultati misurati in contesti reali</a:t>
            </a:r>
            <a:endParaRPr lang="en-US" sz="1300" dirty="0"/>
          </a:p>
        </p:txBody>
      </p:sp>
      <p:sp>
        <p:nvSpPr>
          <p:cNvPr id="9" name="scheda Previsioni"/>
          <p:cNvSpPr/>
          <p:nvPr/>
        </p:nvSpPr>
        <p:spPr>
          <a:xfrm>
            <a:off x="4709160" y="1097280"/>
            <a:ext cx="3977640" cy="2331720"/>
          </a:xfrm>
          <a:prstGeom prst="roundRect">
            <a:avLst>
              <a:gd name="adj" fmla="val 3137"/>
            </a:avLst>
          </a:prstGeom>
          <a:solidFill>
            <a:schemeClr val="bg2"/>
          </a:solidFill>
          <a:ln/>
        </p:spPr>
      </p:sp>
      <p:sp>
        <p:nvSpPr>
          <p:cNvPr id="10" name="cerchio FiCloudDrizzle"/>
          <p:cNvSpPr/>
          <p:nvPr/>
        </p:nvSpPr>
        <p:spPr>
          <a:xfrm>
            <a:off x="4892040" y="1280160"/>
            <a:ext cx="457200" cy="457200"/>
          </a:xfrm>
          <a:prstGeom prst="ellipse">
            <a:avLst/>
          </a:prstGeom>
          <a:solidFill>
            <a:schemeClr val="accent1"/>
          </a:solidFill>
          <a:ln/>
        </p:spPr>
      </p:sp>
      <p:pic>
        <p:nvPicPr>
          <p:cNvPr id="11" name="Image 1" descr="FiCloudDrizzle">    </p:cNvPr>
          <p:cNvPicPr>
            <a:picLocks noChangeAspect="1"/>
          </p:cNvPicPr>
          <p:nvPr/>
        </p:nvPicPr>
        <p:blipFill>
          <a:blip r:embed="rId2"/>
          <a:stretch>
            <a:fillRect/>
          </a:stretch>
        </p:blipFill>
        <p:spPr>
          <a:xfrm>
            <a:off x="5006340" y="1394460"/>
            <a:ext cx="228600" cy="228600"/>
          </a:xfrm>
          <a:prstGeom prst="rect">
            <a:avLst/>
          </a:prstGeom>
        </p:spPr>
      </p:pic>
      <p:sp>
        <p:nvSpPr>
          <p:cNvPr id="12" name="Text 7"/>
          <p:cNvSpPr txBox="1"/>
          <p:nvPr/>
        </p:nvSpPr>
        <p:spPr>
          <a:xfrm>
            <a:off x="4892040" y="1847088"/>
            <a:ext cx="3611880" cy="347472"/>
          </a:xfrm>
          <a:prstGeom prst="rect">
            <a:avLst/>
          </a:prstGeom>
          <a:noFill/>
          <a:ln/>
        </p:spPr>
        <p:txBody>
          <a:bodyPr wrap="square" lIns="0" tIns="0" rIns="0" bIns="0" rtlCol="0" anchor="t"/>
          <a:lstStyle/>
          <a:p>
            <a:pPr indent="0" marL="0">
              <a:buNone/>
            </a:pPr>
            <a:r>
              <a:rPr lang="en-US" sz="1600" b="1" dirty="0">
                <a:solidFill>
                  <a:schemeClr val="tx1"/>
                </a:solidFill>
              </a:rPr>
              <a:t>Previsioni</a:t>
            </a:r>
            <a:endParaRPr lang="en-US" sz="1600" dirty="0"/>
          </a:p>
        </p:txBody>
      </p:sp>
      <p:sp>
        <p:nvSpPr>
          <p:cNvPr id="13" name="Text 8"/>
          <p:cNvSpPr txBox="1"/>
          <p:nvPr/>
        </p:nvSpPr>
        <p:spPr>
          <a:xfrm>
            <a:off x="4892040" y="2231136"/>
            <a:ext cx="3611880" cy="1088136"/>
          </a:xfrm>
          <a:prstGeom prst="rect">
            <a:avLst/>
          </a:prstGeom>
          <a:noFill/>
          <a:ln/>
        </p:spPr>
        <p:txBody>
          <a:bodyPr wrap="square" lIns="0" tIns="0" rIns="0" bIns="0" rtlCol="0" anchor="t"/>
          <a:lstStyle/>
          <a:p>
            <a:pPr marL="177800" indent="-177800">
              <a:spcAft>
                <a:spcPts val="300"/>
              </a:spcAft>
              <a:buSzPct val="100000"/>
              <a:buChar char="•"/>
            </a:pPr>
            <a:r>
              <a:rPr lang="en-US" sz="1300" dirty="0">
                <a:solidFill>
                  <a:schemeClr val="tx2"/>
                </a:solidFill>
              </a:rPr>
              <a:t>Che cosa accadrà, e quando</a:t>
            </a:r>
            <a:endParaRPr lang="en-US" sz="1300" dirty="0"/>
          </a:p>
          <a:p>
            <a:pPr marL="177800" indent="-177800">
              <a:spcAft>
                <a:spcPts val="300"/>
              </a:spcAft>
              <a:buSzPct val="100000"/>
              <a:buChar char="•"/>
            </a:pPr>
            <a:r>
              <a:rPr lang="en-US" sz="1300" dirty="0">
                <a:solidFill>
                  <a:schemeClr val="tx2"/>
                </a:solidFill>
              </a:rPr>
              <a:t>Con quali effetti su lavoro e società</a:t>
            </a:r>
            <a:endParaRPr lang="en-US" sz="1300" dirty="0"/>
          </a:p>
          <a:p>
            <a:pPr marL="177800" indent="-177800">
              <a:spcAft>
                <a:spcPts val="300"/>
              </a:spcAft>
              <a:buSzPct val="100000"/>
              <a:buChar char="•"/>
            </a:pPr>
            <a:r>
              <a:rPr lang="en-US" sz="1300" dirty="0">
                <a:solidFill>
                  <a:schemeClr val="tx2"/>
                </a:solidFill>
              </a:rPr>
              <a:t>Storicamente spesso errate, in entrambe le direzioni</a:t>
            </a:r>
            <a:endParaRPr lang="en-US" sz="1300" dirty="0"/>
          </a:p>
        </p:txBody>
      </p:sp>
      <p:sp>
        <p:nvSpPr>
          <p:cNvPr id="14" name="AGI e singolarità"/>
          <p:cNvSpPr/>
          <p:nvPr/>
        </p:nvSpPr>
        <p:spPr>
          <a:xfrm>
            <a:off x="457200" y="3611880"/>
            <a:ext cx="8229600" cy="914400"/>
          </a:xfrm>
          <a:prstGeom prst="roundRect">
            <a:avLst>
              <a:gd name="adj" fmla="val 8000"/>
            </a:avLst>
          </a:prstGeom>
          <a:solidFill>
            <a:schemeClr val="bg2"/>
          </a:solidFill>
          <a:ln/>
        </p:spPr>
      </p:sp>
      <p:sp>
        <p:nvSpPr>
          <p:cNvPr id="15" name="cerchio FiHelpCircle"/>
          <p:cNvSpPr/>
          <p:nvPr/>
        </p:nvSpPr>
        <p:spPr>
          <a:xfrm>
            <a:off x="640080" y="3813048"/>
            <a:ext cx="512064" cy="512064"/>
          </a:xfrm>
          <a:prstGeom prst="ellipse">
            <a:avLst/>
          </a:prstGeom>
          <a:solidFill>
            <a:schemeClr val="accent2"/>
          </a:solidFill>
          <a:ln/>
        </p:spPr>
      </p:sp>
      <p:pic>
        <p:nvPicPr>
          <p:cNvPr id="16" name="Image 2" descr="FiHelpCircle">    </p:cNvPr>
          <p:cNvPicPr>
            <a:picLocks noChangeAspect="1"/>
          </p:cNvPicPr>
          <p:nvPr/>
        </p:nvPicPr>
        <p:blipFill>
          <a:blip r:embed="rId3"/>
          <a:stretch>
            <a:fillRect/>
          </a:stretch>
        </p:blipFill>
        <p:spPr>
          <a:xfrm>
            <a:off x="768096" y="3941064"/>
            <a:ext cx="256032" cy="256032"/>
          </a:xfrm>
          <a:prstGeom prst="rect">
            <a:avLst/>
          </a:prstGeom>
        </p:spPr>
      </p:pic>
      <p:sp>
        <p:nvSpPr>
          <p:cNvPr id="17" name="Text 11"/>
          <p:cNvSpPr txBox="1"/>
          <p:nvPr/>
        </p:nvSpPr>
        <p:spPr>
          <a:xfrm>
            <a:off x="1325880" y="3611880"/>
            <a:ext cx="7223760" cy="914400"/>
          </a:xfrm>
          <a:prstGeom prst="rect">
            <a:avLst/>
          </a:prstGeom>
          <a:noFill/>
          <a:ln/>
        </p:spPr>
        <p:txBody>
          <a:bodyPr wrap="square" lIns="0" tIns="0" rIns="0" bIns="0" rtlCol="0" anchor="ctr"/>
          <a:lstStyle/>
          <a:p>
            <a:pPr indent="0" marL="0">
              <a:buNone/>
            </a:pPr>
            <a:r>
              <a:rPr lang="en-US" sz="1400" b="1" dirty="0">
                <a:solidFill>
                  <a:schemeClr val="tx1"/>
                </a:solidFill>
              </a:rPr>
              <a:t>AGI e singolarità </a:t>
            </a:r>
            <a:pPr indent="0" marL="0">
              <a:buNone/>
            </a:pPr>
            <a:r>
              <a:rPr lang="en-US" sz="1400" dirty="0">
                <a:solidFill>
                  <a:schemeClr val="tx2"/>
                </a:solidFill>
              </a:rPr>
              <a:t>fanno parte del dibattito sulle aspettative: esperti autorevoli hanno posizioni molto diverse su tempi e possibilità.</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Competenze adattabili, non dipendenza dagli strumenti</a:t>
            </a:r>
            <a:endParaRPr lang="en-US" sz="2600" dirty="0"/>
          </a:p>
        </p:txBody>
      </p:sp>
      <p:sp>
        <p:nvSpPr>
          <p:cNvPr id="4" name="Text 1"/>
          <p:cNvSpPr txBox="1"/>
          <p:nvPr/>
        </p:nvSpPr>
        <p:spPr>
          <a:xfrm>
            <a:off x="457200" y="1097280"/>
            <a:ext cx="3291840" cy="320040"/>
          </a:xfrm>
          <a:prstGeom prst="rect">
            <a:avLst/>
          </a:prstGeom>
          <a:noFill/>
          <a:ln/>
        </p:spPr>
        <p:txBody>
          <a:bodyPr wrap="square" lIns="0" tIns="0" rIns="0" bIns="0" rtlCol="0" anchor="t"/>
          <a:lstStyle/>
          <a:p>
            <a:pPr indent="0" marL="0">
              <a:buNone/>
            </a:pPr>
            <a:r>
              <a:rPr lang="en-US" sz="1500" b="1" dirty="0">
                <a:solidFill>
                  <a:schemeClr val="tx2"/>
                </a:solidFill>
              </a:rPr>
              <a:t>Cambia rapidamente</a:t>
            </a:r>
            <a:endParaRPr lang="en-US" sz="1500" dirty="0"/>
          </a:p>
        </p:txBody>
      </p:sp>
      <p:sp>
        <p:nvSpPr>
          <p:cNvPr id="5" name="Singoli strumenti e prodotti"/>
          <p:cNvSpPr/>
          <p:nvPr/>
        </p:nvSpPr>
        <p:spPr>
          <a:xfrm>
            <a:off x="457200" y="1508760"/>
            <a:ext cx="3291840" cy="566928"/>
          </a:xfrm>
          <a:prstGeom prst="roundRect">
            <a:avLst>
              <a:gd name="adj" fmla="val 12903"/>
            </a:avLst>
          </a:prstGeom>
          <a:solidFill>
            <a:schemeClr val="bg2"/>
          </a:solidFill>
          <a:ln/>
        </p:spPr>
      </p:sp>
      <p:sp>
        <p:nvSpPr>
          <p:cNvPr id="6" name="Text 3"/>
          <p:cNvSpPr txBox="1"/>
          <p:nvPr/>
        </p:nvSpPr>
        <p:spPr>
          <a:xfrm>
            <a:off x="640080" y="1508760"/>
            <a:ext cx="3017520" cy="566928"/>
          </a:xfrm>
          <a:prstGeom prst="rect">
            <a:avLst/>
          </a:prstGeom>
          <a:noFill/>
          <a:ln/>
        </p:spPr>
        <p:txBody>
          <a:bodyPr wrap="square" lIns="0" tIns="0" rIns="0" bIns="0" rtlCol="0" anchor="ctr"/>
          <a:lstStyle/>
          <a:p>
            <a:pPr indent="0" marL="0">
              <a:buNone/>
            </a:pPr>
            <a:r>
              <a:rPr lang="en-US" sz="1400" dirty="0">
                <a:solidFill>
                  <a:schemeClr val="tx2"/>
                </a:solidFill>
              </a:rPr>
              <a:t>Singoli strumenti e prodotti</a:t>
            </a:r>
            <a:endParaRPr lang="en-US" sz="1400" dirty="0"/>
          </a:p>
        </p:txBody>
      </p:sp>
      <p:sp>
        <p:nvSpPr>
          <p:cNvPr id="7" name="Interfacce e funzionalità"/>
          <p:cNvSpPr/>
          <p:nvPr/>
        </p:nvSpPr>
        <p:spPr>
          <a:xfrm>
            <a:off x="457200" y="2194560"/>
            <a:ext cx="3291840" cy="566928"/>
          </a:xfrm>
          <a:prstGeom prst="roundRect">
            <a:avLst>
              <a:gd name="adj" fmla="val 12903"/>
            </a:avLst>
          </a:prstGeom>
          <a:solidFill>
            <a:schemeClr val="bg2"/>
          </a:solidFill>
          <a:ln/>
        </p:spPr>
      </p:sp>
      <p:sp>
        <p:nvSpPr>
          <p:cNvPr id="8" name="Text 5"/>
          <p:cNvSpPr txBox="1"/>
          <p:nvPr/>
        </p:nvSpPr>
        <p:spPr>
          <a:xfrm>
            <a:off x="640080" y="2194560"/>
            <a:ext cx="3017520" cy="566928"/>
          </a:xfrm>
          <a:prstGeom prst="rect">
            <a:avLst/>
          </a:prstGeom>
          <a:noFill/>
          <a:ln/>
        </p:spPr>
        <p:txBody>
          <a:bodyPr wrap="square" lIns="0" tIns="0" rIns="0" bIns="0" rtlCol="0" anchor="ctr"/>
          <a:lstStyle/>
          <a:p>
            <a:pPr indent="0" marL="0">
              <a:buNone/>
            </a:pPr>
            <a:r>
              <a:rPr lang="en-US" sz="1400" dirty="0">
                <a:solidFill>
                  <a:schemeClr val="tx2"/>
                </a:solidFill>
              </a:rPr>
              <a:t>Interfacce e funzionalità</a:t>
            </a:r>
            <a:endParaRPr lang="en-US" sz="1400" dirty="0"/>
          </a:p>
        </p:txBody>
      </p:sp>
      <p:sp>
        <p:nvSpPr>
          <p:cNvPr id="9" name="Posizioni di mercato"/>
          <p:cNvSpPr/>
          <p:nvPr/>
        </p:nvSpPr>
        <p:spPr>
          <a:xfrm>
            <a:off x="457200" y="2880360"/>
            <a:ext cx="3291840" cy="566928"/>
          </a:xfrm>
          <a:prstGeom prst="roundRect">
            <a:avLst>
              <a:gd name="adj" fmla="val 12903"/>
            </a:avLst>
          </a:prstGeom>
          <a:solidFill>
            <a:schemeClr val="bg2"/>
          </a:solidFill>
          <a:ln/>
        </p:spPr>
      </p:sp>
      <p:sp>
        <p:nvSpPr>
          <p:cNvPr id="10" name="Text 7"/>
          <p:cNvSpPr txBox="1"/>
          <p:nvPr/>
        </p:nvSpPr>
        <p:spPr>
          <a:xfrm>
            <a:off x="640080" y="2880360"/>
            <a:ext cx="3017520" cy="566928"/>
          </a:xfrm>
          <a:prstGeom prst="rect">
            <a:avLst/>
          </a:prstGeom>
          <a:noFill/>
          <a:ln/>
        </p:spPr>
        <p:txBody>
          <a:bodyPr wrap="square" lIns="0" tIns="0" rIns="0" bIns="0" rtlCol="0" anchor="ctr"/>
          <a:lstStyle/>
          <a:p>
            <a:pPr indent="0" marL="0">
              <a:buNone/>
            </a:pPr>
            <a:r>
              <a:rPr lang="en-US" sz="1400" dirty="0">
                <a:solidFill>
                  <a:schemeClr val="tx2"/>
                </a:solidFill>
              </a:rPr>
              <a:t>Posizioni di mercato</a:t>
            </a:r>
            <a:endParaRPr lang="en-US" sz="1400" dirty="0"/>
          </a:p>
        </p:txBody>
      </p:sp>
      <p:sp>
        <p:nvSpPr>
          <p:cNvPr id="11" name="freccia"/>
          <p:cNvSpPr/>
          <p:nvPr/>
        </p:nvSpPr>
        <p:spPr>
          <a:xfrm>
            <a:off x="3931920" y="2286000"/>
            <a:ext cx="548640" cy="292608"/>
          </a:xfrm>
          <a:prstGeom prst="rightArrow">
            <a:avLst/>
          </a:prstGeom>
          <a:solidFill>
            <a:schemeClr val="accent1"/>
          </a:solidFill>
          <a:ln/>
        </p:spPr>
      </p:sp>
      <p:sp>
        <p:nvSpPr>
          <p:cNvPr id="12" name="Text 9"/>
          <p:cNvSpPr txBox="1"/>
          <p:nvPr/>
        </p:nvSpPr>
        <p:spPr>
          <a:xfrm>
            <a:off x="4663440" y="1097280"/>
            <a:ext cx="4023360" cy="320040"/>
          </a:xfrm>
          <a:prstGeom prst="rect">
            <a:avLst/>
          </a:prstGeom>
          <a:noFill/>
          <a:ln/>
        </p:spPr>
        <p:txBody>
          <a:bodyPr wrap="square" lIns="0" tIns="0" rIns="0" bIns="0" rtlCol="0" anchor="t"/>
          <a:lstStyle/>
          <a:p>
            <a:pPr indent="0" marL="0">
              <a:buNone/>
            </a:pPr>
            <a:r>
              <a:rPr lang="en-US" sz="1500" b="1" dirty="0">
                <a:solidFill>
                  <a:schemeClr val="accent1"/>
                </a:solidFill>
              </a:rPr>
              <a:t>Resta valido nel tempo</a:t>
            </a:r>
            <a:endParaRPr lang="en-US" sz="1500" dirty="0"/>
          </a:p>
        </p:txBody>
      </p:sp>
      <p:sp>
        <p:nvSpPr>
          <p:cNvPr id="13" name="cerchio FiCpu"/>
          <p:cNvSpPr/>
          <p:nvPr/>
        </p:nvSpPr>
        <p:spPr>
          <a:xfrm>
            <a:off x="4663440" y="1508760"/>
            <a:ext cx="420624" cy="420624"/>
          </a:xfrm>
          <a:prstGeom prst="ellipse">
            <a:avLst/>
          </a:prstGeom>
          <a:solidFill>
            <a:schemeClr val="accent1"/>
          </a:solidFill>
          <a:ln/>
        </p:spPr>
      </p:sp>
      <p:pic>
        <p:nvPicPr>
          <p:cNvPr id="14" name="Image 0" descr="FiCpu">    </p:cNvPr>
          <p:cNvPicPr>
            <a:picLocks noChangeAspect="1"/>
          </p:cNvPicPr>
          <p:nvPr/>
        </p:nvPicPr>
        <p:blipFill>
          <a:blip r:embed="rId1"/>
          <a:stretch>
            <a:fillRect/>
          </a:stretch>
        </p:blipFill>
        <p:spPr>
          <a:xfrm>
            <a:off x="4768596" y="1613916"/>
            <a:ext cx="210312" cy="210312"/>
          </a:xfrm>
          <a:prstGeom prst="rect">
            <a:avLst/>
          </a:prstGeom>
        </p:spPr>
      </p:pic>
      <p:sp>
        <p:nvSpPr>
          <p:cNvPr id="15" name="Text 11"/>
          <p:cNvSpPr txBox="1"/>
          <p:nvPr/>
        </p:nvSpPr>
        <p:spPr>
          <a:xfrm>
            <a:off x="5257800" y="1508760"/>
            <a:ext cx="3429000" cy="420624"/>
          </a:xfrm>
          <a:prstGeom prst="rect">
            <a:avLst/>
          </a:prstGeom>
          <a:noFill/>
          <a:ln/>
        </p:spPr>
        <p:txBody>
          <a:bodyPr wrap="square" lIns="0" tIns="0" rIns="0" bIns="0" rtlCol="0" anchor="ctr"/>
          <a:lstStyle/>
          <a:p>
            <a:pPr indent="0" marL="0">
              <a:buNone/>
            </a:pPr>
            <a:r>
              <a:rPr lang="en-US" sz="1400" dirty="0">
                <a:solidFill>
                  <a:schemeClr val="tx1"/>
                </a:solidFill>
              </a:rPr>
              <a:t>Comprendere i principi di funzionamento</a:t>
            </a:r>
            <a:endParaRPr lang="en-US" sz="1400" dirty="0"/>
          </a:p>
        </p:txBody>
      </p:sp>
      <p:sp>
        <p:nvSpPr>
          <p:cNvPr id="16" name="cerchio FiEye"/>
          <p:cNvSpPr/>
          <p:nvPr/>
        </p:nvSpPr>
        <p:spPr>
          <a:xfrm>
            <a:off x="4663440" y="2075688"/>
            <a:ext cx="420624" cy="420624"/>
          </a:xfrm>
          <a:prstGeom prst="ellipse">
            <a:avLst/>
          </a:prstGeom>
          <a:solidFill>
            <a:schemeClr val="accent1"/>
          </a:solidFill>
          <a:ln/>
        </p:spPr>
      </p:sp>
      <p:pic>
        <p:nvPicPr>
          <p:cNvPr id="17" name="Image 1" descr="FiEye">    </p:cNvPr>
          <p:cNvPicPr>
            <a:picLocks noChangeAspect="1"/>
          </p:cNvPicPr>
          <p:nvPr/>
        </p:nvPicPr>
        <p:blipFill>
          <a:blip r:embed="rId2"/>
          <a:stretch>
            <a:fillRect/>
          </a:stretch>
        </p:blipFill>
        <p:spPr>
          <a:xfrm>
            <a:off x="4768596" y="2180844"/>
            <a:ext cx="210312" cy="210312"/>
          </a:xfrm>
          <a:prstGeom prst="rect">
            <a:avLst/>
          </a:prstGeom>
        </p:spPr>
      </p:pic>
      <p:sp>
        <p:nvSpPr>
          <p:cNvPr id="18" name="Text 13"/>
          <p:cNvSpPr txBox="1"/>
          <p:nvPr/>
        </p:nvSpPr>
        <p:spPr>
          <a:xfrm>
            <a:off x="5257800" y="2075688"/>
            <a:ext cx="3429000" cy="420624"/>
          </a:xfrm>
          <a:prstGeom prst="rect">
            <a:avLst/>
          </a:prstGeom>
          <a:noFill/>
          <a:ln/>
        </p:spPr>
        <p:txBody>
          <a:bodyPr wrap="square" lIns="0" tIns="0" rIns="0" bIns="0" rtlCol="0" anchor="ctr"/>
          <a:lstStyle/>
          <a:p>
            <a:pPr indent="0" marL="0">
              <a:buNone/>
            </a:pPr>
            <a:r>
              <a:rPr lang="en-US" sz="1400" dirty="0">
                <a:solidFill>
                  <a:schemeClr val="tx1"/>
                </a:solidFill>
              </a:rPr>
              <a:t>Valutare criticamente gli output</a:t>
            </a:r>
            <a:endParaRPr lang="en-US" sz="1400" dirty="0"/>
          </a:p>
        </p:txBody>
      </p:sp>
      <p:sp>
        <p:nvSpPr>
          <p:cNvPr id="19" name="cerchio FiEdit3"/>
          <p:cNvSpPr/>
          <p:nvPr/>
        </p:nvSpPr>
        <p:spPr>
          <a:xfrm>
            <a:off x="4663440" y="2642616"/>
            <a:ext cx="420624" cy="420624"/>
          </a:xfrm>
          <a:prstGeom prst="ellipse">
            <a:avLst/>
          </a:prstGeom>
          <a:solidFill>
            <a:schemeClr val="accent1"/>
          </a:solidFill>
          <a:ln/>
        </p:spPr>
      </p:sp>
      <p:pic>
        <p:nvPicPr>
          <p:cNvPr id="20" name="Image 2" descr="FiEdit3">    </p:cNvPr>
          <p:cNvPicPr>
            <a:picLocks noChangeAspect="1"/>
          </p:cNvPicPr>
          <p:nvPr/>
        </p:nvPicPr>
        <p:blipFill>
          <a:blip r:embed="rId3"/>
          <a:stretch>
            <a:fillRect/>
          </a:stretch>
        </p:blipFill>
        <p:spPr>
          <a:xfrm>
            <a:off x="4768596" y="2747772"/>
            <a:ext cx="210312" cy="210312"/>
          </a:xfrm>
          <a:prstGeom prst="rect">
            <a:avLst/>
          </a:prstGeom>
        </p:spPr>
      </p:pic>
      <p:sp>
        <p:nvSpPr>
          <p:cNvPr id="21" name="Text 15"/>
          <p:cNvSpPr txBox="1"/>
          <p:nvPr/>
        </p:nvSpPr>
        <p:spPr>
          <a:xfrm>
            <a:off x="5257800" y="2642616"/>
            <a:ext cx="3429000" cy="420624"/>
          </a:xfrm>
          <a:prstGeom prst="rect">
            <a:avLst/>
          </a:prstGeom>
          <a:noFill/>
          <a:ln/>
        </p:spPr>
        <p:txBody>
          <a:bodyPr wrap="square" lIns="0" tIns="0" rIns="0" bIns="0" rtlCol="0" anchor="ctr"/>
          <a:lstStyle/>
          <a:p>
            <a:pPr indent="0" marL="0">
              <a:buNone/>
            </a:pPr>
            <a:r>
              <a:rPr lang="en-US" sz="1400" dirty="0">
                <a:solidFill>
                  <a:schemeClr val="tx1"/>
                </a:solidFill>
              </a:rPr>
              <a:t>Formulare bene problemi e richieste</a:t>
            </a:r>
            <a:endParaRPr lang="en-US" sz="1400" dirty="0"/>
          </a:p>
        </p:txBody>
      </p:sp>
      <p:sp>
        <p:nvSpPr>
          <p:cNvPr id="22" name="cerchio FiShield"/>
          <p:cNvSpPr/>
          <p:nvPr/>
        </p:nvSpPr>
        <p:spPr>
          <a:xfrm>
            <a:off x="4663440" y="3209544"/>
            <a:ext cx="420624" cy="420624"/>
          </a:xfrm>
          <a:prstGeom prst="ellipse">
            <a:avLst/>
          </a:prstGeom>
          <a:solidFill>
            <a:schemeClr val="accent1"/>
          </a:solidFill>
          <a:ln/>
        </p:spPr>
      </p:sp>
      <p:pic>
        <p:nvPicPr>
          <p:cNvPr id="23" name="Image 3" descr="FiShield">    </p:cNvPr>
          <p:cNvPicPr>
            <a:picLocks noChangeAspect="1"/>
          </p:cNvPicPr>
          <p:nvPr/>
        </p:nvPicPr>
        <p:blipFill>
          <a:blip r:embed="rId4"/>
          <a:stretch>
            <a:fillRect/>
          </a:stretch>
        </p:blipFill>
        <p:spPr>
          <a:xfrm>
            <a:off x="4768596" y="3314700"/>
            <a:ext cx="210312" cy="210312"/>
          </a:xfrm>
          <a:prstGeom prst="rect">
            <a:avLst/>
          </a:prstGeom>
        </p:spPr>
      </p:pic>
      <p:sp>
        <p:nvSpPr>
          <p:cNvPr id="24" name="Text 17"/>
          <p:cNvSpPr txBox="1"/>
          <p:nvPr/>
        </p:nvSpPr>
        <p:spPr>
          <a:xfrm>
            <a:off x="5257800" y="3209544"/>
            <a:ext cx="3429000" cy="420624"/>
          </a:xfrm>
          <a:prstGeom prst="rect">
            <a:avLst/>
          </a:prstGeom>
          <a:noFill/>
          <a:ln/>
        </p:spPr>
        <p:txBody>
          <a:bodyPr wrap="square" lIns="0" tIns="0" rIns="0" bIns="0" rtlCol="0" anchor="ctr"/>
          <a:lstStyle/>
          <a:p>
            <a:pPr indent="0" marL="0">
              <a:buNone/>
            </a:pPr>
            <a:r>
              <a:rPr lang="en-US" sz="1400" dirty="0">
                <a:solidFill>
                  <a:schemeClr val="tx1"/>
                </a:solidFill>
              </a:rPr>
              <a:t>Conoscere rischi e regole d'uso</a:t>
            </a:r>
            <a:endParaRPr lang="en-US" sz="1400" dirty="0"/>
          </a:p>
        </p:txBody>
      </p:sp>
      <p:sp>
        <p:nvSpPr>
          <p:cNvPr id="25" name="cerchio FiRefreshCw"/>
          <p:cNvSpPr/>
          <p:nvPr/>
        </p:nvSpPr>
        <p:spPr>
          <a:xfrm>
            <a:off x="4663440" y="3776472"/>
            <a:ext cx="420624" cy="420624"/>
          </a:xfrm>
          <a:prstGeom prst="ellipse">
            <a:avLst/>
          </a:prstGeom>
          <a:solidFill>
            <a:schemeClr val="accent1"/>
          </a:solidFill>
          <a:ln/>
        </p:spPr>
      </p:sp>
      <p:pic>
        <p:nvPicPr>
          <p:cNvPr id="26" name="Image 4" descr="FiRefreshCw">    </p:cNvPr>
          <p:cNvPicPr>
            <a:picLocks noChangeAspect="1"/>
          </p:cNvPicPr>
          <p:nvPr/>
        </p:nvPicPr>
        <p:blipFill>
          <a:blip r:embed="rId5"/>
          <a:stretch>
            <a:fillRect/>
          </a:stretch>
        </p:blipFill>
        <p:spPr>
          <a:xfrm>
            <a:off x="4768596" y="3881628"/>
            <a:ext cx="210312" cy="210312"/>
          </a:xfrm>
          <a:prstGeom prst="rect">
            <a:avLst/>
          </a:prstGeom>
        </p:spPr>
      </p:pic>
      <p:sp>
        <p:nvSpPr>
          <p:cNvPr id="27" name="Text 19"/>
          <p:cNvSpPr txBox="1"/>
          <p:nvPr/>
        </p:nvSpPr>
        <p:spPr>
          <a:xfrm>
            <a:off x="5257800" y="3776472"/>
            <a:ext cx="3429000" cy="420624"/>
          </a:xfrm>
          <a:prstGeom prst="rect">
            <a:avLst/>
          </a:prstGeom>
          <a:noFill/>
          <a:ln/>
        </p:spPr>
        <p:txBody>
          <a:bodyPr wrap="square" lIns="0" tIns="0" rIns="0" bIns="0" rtlCol="0" anchor="ctr"/>
          <a:lstStyle/>
          <a:p>
            <a:pPr indent="0" marL="0">
              <a:buNone/>
            </a:pPr>
            <a:r>
              <a:rPr lang="en-US" sz="1400" dirty="0">
                <a:solidFill>
                  <a:schemeClr val="tx1"/>
                </a:solidFill>
              </a:rPr>
              <a:t>Apprendere in modo continuo</a:t>
            </a:r>
            <a:endParaRPr lang="en-US" sz="1400" dirty="0"/>
          </a:p>
        </p:txBody>
      </p:sp>
      <p:sp>
        <p:nvSpPr>
          <p:cNvPr id="28" name="Text 20"/>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400" i="1" dirty="0">
                <a:solidFill>
                  <a:schemeClr val="tx1"/>
                </a:solidFill>
              </a:rPr>
              <a:t>Non utenti di un prodotto, ma persone capaci di usare l'AI in modo consapevole.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822960" y="1600200"/>
            <a:ext cx="7498080" cy="2011680"/>
          </a:xfrm>
          <a:prstGeom prst="rect">
            <a:avLst/>
          </a:prstGeom>
          <a:noFill/>
          <a:ln/>
        </p:spPr>
        <p:txBody>
          <a:bodyPr wrap="square" lIns="0" tIns="0" rIns="0" bIns="0" rtlCol="0" anchor="t"/>
          <a:lstStyle/>
          <a:p>
            <a:pPr indent="0" marL="0">
              <a:buNone/>
            </a:pPr>
            <a:r>
              <a:rPr lang="en-US" sz="2600" dirty="0">
                <a:solidFill>
                  <a:schemeClr val="bg1"/>
                </a:solidFill>
              </a:rPr>
              <a:t>Occorre valutare criticamente le promesse dell'AI, distinguendo possibilità tecniche, affidabilità e convenienza.</a:t>
            </a:r>
            <a:endParaRPr lang="en-US" sz="2600" dirty="0"/>
          </a:p>
        </p:txBody>
      </p:sp>
      <p:sp>
        <p:nvSpPr>
          <p:cNvPr id="3" name="Text 1"/>
          <p:cNvSpPr/>
          <p:nvPr>
            <p:ph idx="102" type="body" hasCustomPrompt="1"/>
          </p:nvPr>
        </p:nvSpPr>
        <p:spPr>
          <a:xfrm>
            <a:off x="822960" y="3794760"/>
            <a:ext cx="7498080" cy="365760"/>
          </a:xfrm>
          <a:prstGeom prst="rect">
            <a:avLst/>
          </a:prstGeom>
          <a:noFill/>
          <a:ln/>
        </p:spPr>
        <p:txBody>
          <a:bodyPr wrap="square" lIns="0" tIns="0" rIns="0" bIns="0" rtlCol="0"/>
          <a:lstStyle/>
          <a:p>
            <a:pPr indent="0" marL="0">
              <a:buNone/>
            </a:pPr>
            <a:r>
              <a:rPr lang="en-US" sz="1300" dirty="0">
                <a:solidFill>
                  <a:schemeClr val="accent3"/>
                </a:solidFill>
              </a:rPr>
              <a:t>Sottotema 1.6  ·  Tra hype e realtà</a:t>
            </a:r>
            <a:endParaRPr lang="en-US" sz="13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Le domande guida: le nostre risposte</a:t>
            </a:r>
            <a:endParaRPr lang="en-US" sz="2600" dirty="0"/>
          </a:p>
        </p:txBody>
      </p:sp>
      <p:sp>
        <p:nvSpPr>
          <p:cNvPr id="4" name="risposta 1"/>
          <p:cNvSpPr/>
          <p:nvPr/>
        </p:nvSpPr>
        <p:spPr>
          <a:xfrm>
            <a:off x="457200" y="1097280"/>
            <a:ext cx="4023360" cy="1024128"/>
          </a:xfrm>
          <a:prstGeom prst="roundRect">
            <a:avLst>
              <a:gd name="adj" fmla="val 7143"/>
            </a:avLst>
          </a:prstGeom>
          <a:solidFill>
            <a:schemeClr val="bg2"/>
          </a:solidFill>
          <a:ln/>
        </p:spPr>
      </p:sp>
      <p:sp>
        <p:nvSpPr>
          <p:cNvPr id="5" name="Text 2"/>
          <p:cNvSpPr txBox="1"/>
          <p:nvPr/>
        </p:nvSpPr>
        <p:spPr>
          <a:xfrm>
            <a:off x="621792" y="1207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1</a:t>
            </a:r>
            <a:endParaRPr lang="en-US" sz="2000" dirty="0"/>
          </a:p>
        </p:txBody>
      </p:sp>
      <p:sp>
        <p:nvSpPr>
          <p:cNvPr id="6" name="Text 3"/>
          <p:cNvSpPr txBox="1"/>
          <p:nvPr/>
        </p:nvSpPr>
        <p:spPr>
          <a:xfrm>
            <a:off x="1005840" y="1207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Perché se ne parla tanto?</a:t>
            </a:r>
            <a:endParaRPr lang="en-US" sz="1400" dirty="0"/>
          </a:p>
        </p:txBody>
      </p:sp>
      <p:sp>
        <p:nvSpPr>
          <p:cNvPr id="7" name="Text 4"/>
          <p:cNvSpPr txBox="1"/>
          <p:nvPr/>
        </p:nvSpPr>
        <p:spPr>
          <a:xfrm>
            <a:off x="1005840" y="1600200"/>
            <a:ext cx="3337560" cy="457200"/>
          </a:xfrm>
          <a:prstGeom prst="rect">
            <a:avLst/>
          </a:prstGeom>
          <a:noFill/>
          <a:ln/>
        </p:spPr>
        <p:txBody>
          <a:bodyPr wrap="square" lIns="0" tIns="0" rIns="0" bIns="0" rtlCol="0" anchor="t"/>
          <a:lstStyle/>
          <a:p>
            <a:pPr indent="0" marL="0">
              <a:buNone/>
            </a:pPr>
            <a:r>
              <a:rPr lang="en-US" sz="1300" dirty="0">
                <a:solidFill>
                  <a:schemeClr val="tx2"/>
                </a:solidFill>
              </a:rPr>
              <a:t>Convergenza di più fattori e svolta generativa</a:t>
            </a:r>
            <a:endParaRPr lang="en-US" sz="1300" dirty="0"/>
          </a:p>
        </p:txBody>
      </p:sp>
      <p:sp>
        <p:nvSpPr>
          <p:cNvPr id="8" name="risposta 2"/>
          <p:cNvSpPr/>
          <p:nvPr/>
        </p:nvSpPr>
        <p:spPr>
          <a:xfrm>
            <a:off x="4663440" y="1097280"/>
            <a:ext cx="4023360" cy="1024128"/>
          </a:xfrm>
          <a:prstGeom prst="roundRect">
            <a:avLst>
              <a:gd name="adj" fmla="val 7143"/>
            </a:avLst>
          </a:prstGeom>
          <a:solidFill>
            <a:schemeClr val="bg2"/>
          </a:solidFill>
          <a:ln/>
        </p:spPr>
      </p:sp>
      <p:sp>
        <p:nvSpPr>
          <p:cNvPr id="9" name="Text 6"/>
          <p:cNvSpPr txBox="1"/>
          <p:nvPr/>
        </p:nvSpPr>
        <p:spPr>
          <a:xfrm>
            <a:off x="4828032" y="1207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2</a:t>
            </a:r>
            <a:endParaRPr lang="en-US" sz="2000" dirty="0"/>
          </a:p>
        </p:txBody>
      </p:sp>
      <p:sp>
        <p:nvSpPr>
          <p:cNvPr id="10" name="Text 7"/>
          <p:cNvSpPr txBox="1"/>
          <p:nvPr/>
        </p:nvSpPr>
        <p:spPr>
          <a:xfrm>
            <a:off x="5212080" y="1207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È una tecnologia nuova?</a:t>
            </a:r>
            <a:endParaRPr lang="en-US" sz="1400" dirty="0"/>
          </a:p>
        </p:txBody>
      </p:sp>
      <p:sp>
        <p:nvSpPr>
          <p:cNvPr id="11" name="Text 8"/>
          <p:cNvSpPr txBox="1"/>
          <p:nvPr/>
        </p:nvSpPr>
        <p:spPr>
          <a:xfrm>
            <a:off x="5212080" y="1600200"/>
            <a:ext cx="3337560" cy="457200"/>
          </a:xfrm>
          <a:prstGeom prst="rect">
            <a:avLst/>
          </a:prstGeom>
          <a:noFill/>
          <a:ln/>
        </p:spPr>
        <p:txBody>
          <a:bodyPr wrap="square" lIns="0" tIns="0" rIns="0" bIns="0" rtlCol="0" anchor="t"/>
          <a:lstStyle/>
          <a:p>
            <a:pPr indent="0" marL="0">
              <a:buNone/>
            </a:pPr>
            <a:r>
              <a:rPr lang="en-US" sz="1300" dirty="0">
                <a:solidFill>
                  <a:schemeClr val="tx2"/>
                </a:solidFill>
              </a:rPr>
              <a:t>No: oltre 70 anni di storia; è nuova la diffusione</a:t>
            </a:r>
            <a:endParaRPr lang="en-US" sz="1300" dirty="0"/>
          </a:p>
        </p:txBody>
      </p:sp>
      <p:sp>
        <p:nvSpPr>
          <p:cNvPr id="12" name="risposta 3"/>
          <p:cNvSpPr/>
          <p:nvPr/>
        </p:nvSpPr>
        <p:spPr>
          <a:xfrm>
            <a:off x="457200" y="2240280"/>
            <a:ext cx="4023360" cy="1024128"/>
          </a:xfrm>
          <a:prstGeom prst="roundRect">
            <a:avLst>
              <a:gd name="adj" fmla="val 7143"/>
            </a:avLst>
          </a:prstGeom>
          <a:solidFill>
            <a:schemeClr val="bg2"/>
          </a:solidFill>
          <a:ln/>
        </p:spPr>
      </p:sp>
      <p:sp>
        <p:nvSpPr>
          <p:cNvPr id="13" name="Text 10"/>
          <p:cNvSpPr txBox="1"/>
          <p:nvPr/>
        </p:nvSpPr>
        <p:spPr>
          <a:xfrm>
            <a:off x="621792" y="2350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3</a:t>
            </a:r>
            <a:endParaRPr lang="en-US" sz="2000" dirty="0"/>
          </a:p>
        </p:txBody>
      </p:sp>
      <p:sp>
        <p:nvSpPr>
          <p:cNvPr id="14" name="Text 11"/>
          <p:cNvSpPr txBox="1"/>
          <p:nvPr/>
        </p:nvSpPr>
        <p:spPr>
          <a:xfrm>
            <a:off x="1005840" y="2350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Che cosa ha cambiato l'AI generativa?</a:t>
            </a:r>
            <a:endParaRPr lang="en-US" sz="1400" dirty="0"/>
          </a:p>
        </p:txBody>
      </p:sp>
      <p:sp>
        <p:nvSpPr>
          <p:cNvPr id="15" name="Text 12"/>
          <p:cNvSpPr txBox="1"/>
          <p:nvPr/>
        </p:nvSpPr>
        <p:spPr>
          <a:xfrm>
            <a:off x="1005840" y="2743200"/>
            <a:ext cx="3337560" cy="457200"/>
          </a:xfrm>
          <a:prstGeom prst="rect">
            <a:avLst/>
          </a:prstGeom>
          <a:noFill/>
          <a:ln/>
        </p:spPr>
        <p:txBody>
          <a:bodyPr wrap="square" lIns="0" tIns="0" rIns="0" bIns="0" rtlCol="0" anchor="t"/>
          <a:lstStyle/>
          <a:p>
            <a:pPr indent="0" marL="0">
              <a:buNone/>
            </a:pPr>
            <a:r>
              <a:rPr lang="en-US" sz="1300" dirty="0">
                <a:solidFill>
                  <a:schemeClr val="tx2"/>
                </a:solidFill>
              </a:rPr>
              <a:t>Genera contenuti e si usa col linguaggio naturale</a:t>
            </a:r>
            <a:endParaRPr lang="en-US" sz="1300" dirty="0"/>
          </a:p>
        </p:txBody>
      </p:sp>
      <p:sp>
        <p:nvSpPr>
          <p:cNvPr id="16" name="risposta 4"/>
          <p:cNvSpPr/>
          <p:nvPr/>
        </p:nvSpPr>
        <p:spPr>
          <a:xfrm>
            <a:off x="4663440" y="2240280"/>
            <a:ext cx="4023360" cy="1024128"/>
          </a:xfrm>
          <a:prstGeom prst="roundRect">
            <a:avLst>
              <a:gd name="adj" fmla="val 7143"/>
            </a:avLst>
          </a:prstGeom>
          <a:solidFill>
            <a:schemeClr val="bg2"/>
          </a:solidFill>
          <a:ln/>
        </p:spPr>
      </p:sp>
      <p:sp>
        <p:nvSpPr>
          <p:cNvPr id="17" name="Text 14"/>
          <p:cNvSpPr txBox="1"/>
          <p:nvPr/>
        </p:nvSpPr>
        <p:spPr>
          <a:xfrm>
            <a:off x="4828032" y="2350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4</a:t>
            </a:r>
            <a:endParaRPr lang="en-US" sz="2000" dirty="0"/>
          </a:p>
        </p:txBody>
      </p:sp>
      <p:sp>
        <p:nvSpPr>
          <p:cNvPr id="18" name="Text 15"/>
          <p:cNvSpPr txBox="1"/>
          <p:nvPr/>
        </p:nvSpPr>
        <p:spPr>
          <a:xfrm>
            <a:off x="5212080" y="2350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Che cosa la distingue dal digitale?</a:t>
            </a:r>
            <a:endParaRPr lang="en-US" sz="1400" dirty="0"/>
          </a:p>
        </p:txBody>
      </p:sp>
      <p:sp>
        <p:nvSpPr>
          <p:cNvPr id="19" name="Text 16"/>
          <p:cNvSpPr txBox="1"/>
          <p:nvPr/>
        </p:nvSpPr>
        <p:spPr>
          <a:xfrm>
            <a:off x="5212080" y="2743200"/>
            <a:ext cx="3337560" cy="457200"/>
          </a:xfrm>
          <a:prstGeom prst="rect">
            <a:avLst/>
          </a:prstGeom>
          <a:noFill/>
          <a:ln/>
        </p:spPr>
        <p:txBody>
          <a:bodyPr wrap="square" lIns="0" tIns="0" rIns="0" bIns="0" rtlCol="0" anchor="t"/>
          <a:lstStyle/>
          <a:p>
            <a:pPr indent="0" marL="0">
              <a:buNone/>
            </a:pPr>
            <a:r>
              <a:rPr lang="en-US" sz="1300" dirty="0">
                <a:solidFill>
                  <a:schemeClr val="tx2"/>
                </a:solidFill>
              </a:rPr>
              <a:t>Apprende dai dati e funziona in modo probabilistico</a:t>
            </a:r>
            <a:endParaRPr lang="en-US" sz="1300" dirty="0"/>
          </a:p>
        </p:txBody>
      </p:sp>
      <p:sp>
        <p:nvSpPr>
          <p:cNvPr id="20" name="risposta 5"/>
          <p:cNvSpPr/>
          <p:nvPr/>
        </p:nvSpPr>
        <p:spPr>
          <a:xfrm>
            <a:off x="457200" y="3383280"/>
            <a:ext cx="4023360" cy="1024128"/>
          </a:xfrm>
          <a:prstGeom prst="roundRect">
            <a:avLst>
              <a:gd name="adj" fmla="val 7143"/>
            </a:avLst>
          </a:prstGeom>
          <a:solidFill>
            <a:schemeClr val="bg2"/>
          </a:solidFill>
          <a:ln/>
        </p:spPr>
      </p:sp>
      <p:sp>
        <p:nvSpPr>
          <p:cNvPr id="21" name="Text 18"/>
          <p:cNvSpPr txBox="1"/>
          <p:nvPr/>
        </p:nvSpPr>
        <p:spPr>
          <a:xfrm>
            <a:off x="621792" y="3493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5</a:t>
            </a:r>
            <a:endParaRPr lang="en-US" sz="2000" dirty="0"/>
          </a:p>
        </p:txBody>
      </p:sp>
      <p:sp>
        <p:nvSpPr>
          <p:cNvPr id="22" name="Text 19"/>
          <p:cNvSpPr txBox="1"/>
          <p:nvPr/>
        </p:nvSpPr>
        <p:spPr>
          <a:xfrm>
            <a:off x="1005840" y="3493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Perché riguarda la mia azienda?</a:t>
            </a:r>
            <a:endParaRPr lang="en-US" sz="1400" dirty="0"/>
          </a:p>
        </p:txBody>
      </p:sp>
      <p:sp>
        <p:nvSpPr>
          <p:cNvPr id="23" name="Text 20"/>
          <p:cNvSpPr txBox="1"/>
          <p:nvPr/>
        </p:nvSpPr>
        <p:spPr>
          <a:xfrm>
            <a:off x="1005840" y="3886200"/>
            <a:ext cx="3337560" cy="457200"/>
          </a:xfrm>
          <a:prstGeom prst="rect">
            <a:avLst/>
          </a:prstGeom>
          <a:noFill/>
          <a:ln/>
        </p:spPr>
        <p:txBody>
          <a:bodyPr wrap="square" lIns="0" tIns="0" rIns="0" bIns="0" rtlCol="0" anchor="t"/>
          <a:lstStyle/>
          <a:p>
            <a:pPr indent="0" marL="0">
              <a:buNone/>
            </a:pPr>
            <a:r>
              <a:rPr lang="en-US" sz="1300" dirty="0">
                <a:solidFill>
                  <a:schemeClr val="tx2"/>
                </a:solidFill>
              </a:rPr>
              <a:t>È trasversale, abilitante e accessibile</a:t>
            </a:r>
            <a:endParaRPr lang="en-US" sz="1300" dirty="0"/>
          </a:p>
        </p:txBody>
      </p:sp>
      <p:sp>
        <p:nvSpPr>
          <p:cNvPr id="24" name="risposta 6"/>
          <p:cNvSpPr/>
          <p:nvPr/>
        </p:nvSpPr>
        <p:spPr>
          <a:xfrm>
            <a:off x="4663440" y="3383280"/>
            <a:ext cx="4023360" cy="1024128"/>
          </a:xfrm>
          <a:prstGeom prst="roundRect">
            <a:avLst>
              <a:gd name="adj" fmla="val 7143"/>
            </a:avLst>
          </a:prstGeom>
          <a:solidFill>
            <a:schemeClr val="bg2"/>
          </a:solidFill>
          <a:ln/>
        </p:spPr>
      </p:sp>
      <p:sp>
        <p:nvSpPr>
          <p:cNvPr id="25" name="Text 22"/>
          <p:cNvSpPr txBox="1"/>
          <p:nvPr/>
        </p:nvSpPr>
        <p:spPr>
          <a:xfrm>
            <a:off x="4828032" y="3493008"/>
            <a:ext cx="365760" cy="411480"/>
          </a:xfrm>
          <a:prstGeom prst="rect">
            <a:avLst/>
          </a:prstGeom>
          <a:noFill/>
          <a:ln/>
        </p:spPr>
        <p:txBody>
          <a:bodyPr wrap="square" lIns="0" tIns="0" rIns="0" bIns="0" rtlCol="0" anchor="t"/>
          <a:lstStyle/>
          <a:p>
            <a:pPr indent="0" marL="0">
              <a:buNone/>
            </a:pPr>
            <a:r>
              <a:rPr lang="en-US" sz="2000" b="1" dirty="0">
                <a:solidFill>
                  <a:schemeClr val="accent1"/>
                </a:solidFill>
              </a:rPr>
              <a:t>6</a:t>
            </a:r>
            <a:endParaRPr lang="en-US" sz="2000" dirty="0"/>
          </a:p>
        </p:txBody>
      </p:sp>
      <p:sp>
        <p:nvSpPr>
          <p:cNvPr id="26" name="Text 23"/>
          <p:cNvSpPr txBox="1"/>
          <p:nvPr/>
        </p:nvSpPr>
        <p:spPr>
          <a:xfrm>
            <a:off x="5212080" y="3493008"/>
            <a:ext cx="3337560" cy="365760"/>
          </a:xfrm>
          <a:prstGeom prst="rect">
            <a:avLst/>
          </a:prstGeom>
          <a:noFill/>
          <a:ln/>
        </p:spPr>
        <p:txBody>
          <a:bodyPr wrap="square" lIns="0" tIns="0" rIns="0" bIns="0" rtlCol="0" anchor="t"/>
          <a:lstStyle/>
          <a:p>
            <a:pPr indent="0" marL="0">
              <a:buNone/>
            </a:pPr>
            <a:r>
              <a:rPr lang="en-US" sz="1400" b="1" dirty="0">
                <a:solidFill>
                  <a:schemeClr val="tx1"/>
                </a:solidFill>
              </a:rPr>
              <a:t>Quali aspettative sono ragionevoli?</a:t>
            </a:r>
            <a:endParaRPr lang="en-US" sz="1400" dirty="0"/>
          </a:p>
        </p:txBody>
      </p:sp>
      <p:sp>
        <p:nvSpPr>
          <p:cNvPr id="27" name="Text 24"/>
          <p:cNvSpPr txBox="1"/>
          <p:nvPr/>
        </p:nvSpPr>
        <p:spPr>
          <a:xfrm>
            <a:off x="5212080" y="3886200"/>
            <a:ext cx="3337560" cy="457200"/>
          </a:xfrm>
          <a:prstGeom prst="rect">
            <a:avLst/>
          </a:prstGeom>
          <a:noFill/>
          <a:ln/>
        </p:spPr>
        <p:txBody>
          <a:bodyPr wrap="square" lIns="0" tIns="0" rIns="0" bIns="0" rtlCol="0" anchor="t"/>
          <a:lstStyle/>
          <a:p>
            <a:pPr indent="0" marL="0">
              <a:buNone/>
            </a:pPr>
            <a:r>
              <a:rPr lang="en-US" sz="1300" dirty="0">
                <a:solidFill>
                  <a:schemeClr val="tx2"/>
                </a:solidFill>
              </a:rPr>
              <a:t>Quelle basate su evidenze nel proprio contesto</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Che cosa portiamo a casa</a:t>
            </a:r>
            <a:endParaRPr lang="en-US" sz="2600" dirty="0"/>
          </a:p>
        </p:txBody>
      </p:sp>
      <p:sp>
        <p:nvSpPr>
          <p:cNvPr id="4" name="risultato 1"/>
          <p:cNvSpPr/>
          <p:nvPr/>
        </p:nvSpPr>
        <p:spPr>
          <a:xfrm>
            <a:off x="457200" y="1097280"/>
            <a:ext cx="8229600" cy="603504"/>
          </a:xfrm>
          <a:prstGeom prst="roundRect">
            <a:avLst>
              <a:gd name="adj" fmla="val 12121"/>
            </a:avLst>
          </a:prstGeom>
          <a:solidFill>
            <a:schemeClr val="bg2"/>
          </a:solidFill>
          <a:ln/>
        </p:spPr>
      </p:sp>
      <p:sp>
        <p:nvSpPr>
          <p:cNvPr id="5" name="cerchio FiClock"/>
          <p:cNvSpPr/>
          <p:nvPr/>
        </p:nvSpPr>
        <p:spPr>
          <a:xfrm>
            <a:off x="594360" y="1188720"/>
            <a:ext cx="420624" cy="420624"/>
          </a:xfrm>
          <a:prstGeom prst="ellipse">
            <a:avLst/>
          </a:prstGeom>
          <a:solidFill>
            <a:schemeClr val="accent1"/>
          </a:solidFill>
          <a:ln/>
        </p:spPr>
      </p:sp>
      <p:pic>
        <p:nvPicPr>
          <p:cNvPr id="6" name="Image 0" descr="FiClock">    </p:cNvPr>
          <p:cNvPicPr>
            <a:picLocks noChangeAspect="1"/>
          </p:cNvPicPr>
          <p:nvPr/>
        </p:nvPicPr>
        <p:blipFill>
          <a:blip r:embed="rId1"/>
          <a:stretch>
            <a:fillRect/>
          </a:stretch>
        </p:blipFill>
        <p:spPr>
          <a:xfrm>
            <a:off x="699516" y="1293876"/>
            <a:ext cx="210312" cy="210312"/>
          </a:xfrm>
          <a:prstGeom prst="rect">
            <a:avLst/>
          </a:prstGeom>
        </p:spPr>
      </p:pic>
      <p:sp>
        <p:nvSpPr>
          <p:cNvPr id="7" name="Text 3"/>
          <p:cNvSpPr txBox="1"/>
          <p:nvPr/>
        </p:nvSpPr>
        <p:spPr>
          <a:xfrm>
            <a:off x="1188720" y="1097280"/>
            <a:ext cx="7315200" cy="603504"/>
          </a:xfrm>
          <a:prstGeom prst="rect">
            <a:avLst/>
          </a:prstGeom>
          <a:noFill/>
          <a:ln/>
        </p:spPr>
        <p:txBody>
          <a:bodyPr wrap="square" lIns="0" tIns="0" rIns="0" bIns="0" rtlCol="0" anchor="ctr"/>
          <a:lstStyle/>
          <a:p>
            <a:pPr indent="0" marL="0">
              <a:buNone/>
            </a:pPr>
            <a:r>
              <a:rPr lang="en-US" sz="1500" dirty="0">
                <a:solidFill>
                  <a:schemeClr val="tx1"/>
                </a:solidFill>
              </a:rPr>
              <a:t>L'AI esiste da decenni: l'AI generativa è una fase importante della sua evoluzione</a:t>
            </a:r>
            <a:endParaRPr lang="en-US" sz="1500" dirty="0"/>
          </a:p>
        </p:txBody>
      </p:sp>
      <p:sp>
        <p:nvSpPr>
          <p:cNvPr id="8" name="risultato 2"/>
          <p:cNvSpPr/>
          <p:nvPr/>
        </p:nvSpPr>
        <p:spPr>
          <a:xfrm>
            <a:off x="457200" y="1792224"/>
            <a:ext cx="8229600" cy="603504"/>
          </a:xfrm>
          <a:prstGeom prst="roundRect">
            <a:avLst>
              <a:gd name="adj" fmla="val 12121"/>
            </a:avLst>
          </a:prstGeom>
          <a:solidFill>
            <a:schemeClr val="bg1"/>
          </a:solidFill>
          <a:ln/>
        </p:spPr>
      </p:sp>
      <p:sp>
        <p:nvSpPr>
          <p:cNvPr id="9" name="cerchio FiMessageCircle"/>
          <p:cNvSpPr/>
          <p:nvPr/>
        </p:nvSpPr>
        <p:spPr>
          <a:xfrm>
            <a:off x="594360" y="1883664"/>
            <a:ext cx="420624" cy="420624"/>
          </a:xfrm>
          <a:prstGeom prst="ellipse">
            <a:avLst/>
          </a:prstGeom>
          <a:solidFill>
            <a:schemeClr val="accent1"/>
          </a:solidFill>
          <a:ln/>
        </p:spPr>
      </p:sp>
      <p:pic>
        <p:nvPicPr>
          <p:cNvPr id="10" name="Image 1" descr="FiMessageCircle">    </p:cNvPr>
          <p:cNvPicPr>
            <a:picLocks noChangeAspect="1"/>
          </p:cNvPicPr>
          <p:nvPr/>
        </p:nvPicPr>
        <p:blipFill>
          <a:blip r:embed="rId2"/>
          <a:stretch>
            <a:fillRect/>
          </a:stretch>
        </p:blipFill>
        <p:spPr>
          <a:xfrm>
            <a:off x="699516" y="1988820"/>
            <a:ext cx="210312" cy="210312"/>
          </a:xfrm>
          <a:prstGeom prst="rect">
            <a:avLst/>
          </a:prstGeom>
        </p:spPr>
      </p:pic>
      <p:sp>
        <p:nvSpPr>
          <p:cNvPr id="11" name="Text 6"/>
          <p:cNvSpPr txBox="1"/>
          <p:nvPr/>
        </p:nvSpPr>
        <p:spPr>
          <a:xfrm>
            <a:off x="1188720" y="1792224"/>
            <a:ext cx="7315200" cy="603504"/>
          </a:xfrm>
          <a:prstGeom prst="rect">
            <a:avLst/>
          </a:prstGeom>
          <a:noFill/>
          <a:ln/>
        </p:spPr>
        <p:txBody>
          <a:bodyPr wrap="square" lIns="0" tIns="0" rIns="0" bIns="0" rtlCol="0" anchor="ctr"/>
          <a:lstStyle/>
          <a:p>
            <a:pPr indent="0" marL="0">
              <a:buNone/>
            </a:pPr>
            <a:r>
              <a:rPr lang="en-US" sz="1500" dirty="0">
                <a:solidFill>
                  <a:schemeClr val="tx1"/>
                </a:solidFill>
              </a:rPr>
              <a:t>Il linguaggio naturale ha reso l'AI accessibile a un pubblico molto ampio</a:t>
            </a:r>
            <a:endParaRPr lang="en-US" sz="1500" dirty="0"/>
          </a:p>
        </p:txBody>
      </p:sp>
      <p:sp>
        <p:nvSpPr>
          <p:cNvPr id="12" name="risultato 3"/>
          <p:cNvSpPr/>
          <p:nvPr/>
        </p:nvSpPr>
        <p:spPr>
          <a:xfrm>
            <a:off x="457200" y="2487168"/>
            <a:ext cx="8229600" cy="603504"/>
          </a:xfrm>
          <a:prstGeom prst="roundRect">
            <a:avLst>
              <a:gd name="adj" fmla="val 12121"/>
            </a:avLst>
          </a:prstGeom>
          <a:solidFill>
            <a:schemeClr val="bg2"/>
          </a:solidFill>
          <a:ln/>
        </p:spPr>
      </p:sp>
      <p:sp>
        <p:nvSpPr>
          <p:cNvPr id="13" name="cerchio FiGrid"/>
          <p:cNvSpPr/>
          <p:nvPr/>
        </p:nvSpPr>
        <p:spPr>
          <a:xfrm>
            <a:off x="594360" y="2578608"/>
            <a:ext cx="420624" cy="420624"/>
          </a:xfrm>
          <a:prstGeom prst="ellipse">
            <a:avLst/>
          </a:prstGeom>
          <a:solidFill>
            <a:schemeClr val="accent1"/>
          </a:solidFill>
          <a:ln/>
        </p:spPr>
      </p:sp>
      <p:pic>
        <p:nvPicPr>
          <p:cNvPr id="14" name="Image 2" descr="FiGrid">    </p:cNvPr>
          <p:cNvPicPr>
            <a:picLocks noChangeAspect="1"/>
          </p:cNvPicPr>
          <p:nvPr/>
        </p:nvPicPr>
        <p:blipFill>
          <a:blip r:embed="rId3"/>
          <a:stretch>
            <a:fillRect/>
          </a:stretch>
        </p:blipFill>
        <p:spPr>
          <a:xfrm>
            <a:off x="699516" y="2683764"/>
            <a:ext cx="210312" cy="210312"/>
          </a:xfrm>
          <a:prstGeom prst="rect">
            <a:avLst/>
          </a:prstGeom>
        </p:spPr>
      </p:pic>
      <p:sp>
        <p:nvSpPr>
          <p:cNvPr id="15" name="Text 9"/>
          <p:cNvSpPr txBox="1"/>
          <p:nvPr/>
        </p:nvSpPr>
        <p:spPr>
          <a:xfrm>
            <a:off x="1188720" y="2487168"/>
            <a:ext cx="7315200" cy="603504"/>
          </a:xfrm>
          <a:prstGeom prst="rect">
            <a:avLst/>
          </a:prstGeom>
          <a:noFill/>
          <a:ln/>
        </p:spPr>
        <p:txBody>
          <a:bodyPr wrap="square" lIns="0" tIns="0" rIns="0" bIns="0" rtlCol="0" anchor="ctr"/>
          <a:lstStyle/>
          <a:p>
            <a:pPr indent="0" marL="0">
              <a:buNone/>
            </a:pPr>
            <a:r>
              <a:rPr lang="en-US" sz="1500" dirty="0">
                <a:solidFill>
                  <a:schemeClr val="tx1"/>
                </a:solidFill>
              </a:rPr>
              <a:t>L'AI è una tecnologia abilitante, applicabile a diverse attività e settori</a:t>
            </a:r>
            <a:endParaRPr lang="en-US" sz="1500" dirty="0"/>
          </a:p>
        </p:txBody>
      </p:sp>
      <p:sp>
        <p:nvSpPr>
          <p:cNvPr id="16" name="risultato 4"/>
          <p:cNvSpPr/>
          <p:nvPr/>
        </p:nvSpPr>
        <p:spPr>
          <a:xfrm>
            <a:off x="457200" y="3182112"/>
            <a:ext cx="8229600" cy="603504"/>
          </a:xfrm>
          <a:prstGeom prst="roundRect">
            <a:avLst>
              <a:gd name="adj" fmla="val 12121"/>
            </a:avLst>
          </a:prstGeom>
          <a:solidFill>
            <a:schemeClr val="bg1"/>
          </a:solidFill>
          <a:ln/>
        </p:spPr>
      </p:sp>
      <p:sp>
        <p:nvSpPr>
          <p:cNvPr id="17" name="cerchio FiTarget"/>
          <p:cNvSpPr/>
          <p:nvPr/>
        </p:nvSpPr>
        <p:spPr>
          <a:xfrm>
            <a:off x="594360" y="3273552"/>
            <a:ext cx="420624" cy="420624"/>
          </a:xfrm>
          <a:prstGeom prst="ellipse">
            <a:avLst/>
          </a:prstGeom>
          <a:solidFill>
            <a:schemeClr val="accent1"/>
          </a:solidFill>
          <a:ln/>
        </p:spPr>
      </p:sp>
      <p:pic>
        <p:nvPicPr>
          <p:cNvPr id="18" name="Image 3" descr="FiTarget">    </p:cNvPr>
          <p:cNvPicPr>
            <a:picLocks noChangeAspect="1"/>
          </p:cNvPicPr>
          <p:nvPr/>
        </p:nvPicPr>
        <p:blipFill>
          <a:blip r:embed="rId4"/>
          <a:stretch>
            <a:fillRect/>
          </a:stretch>
        </p:blipFill>
        <p:spPr>
          <a:xfrm>
            <a:off x="699516" y="3378708"/>
            <a:ext cx="210312" cy="210312"/>
          </a:xfrm>
          <a:prstGeom prst="rect">
            <a:avLst/>
          </a:prstGeom>
        </p:spPr>
      </p:pic>
      <p:sp>
        <p:nvSpPr>
          <p:cNvPr id="19" name="Text 12"/>
          <p:cNvSpPr txBox="1"/>
          <p:nvPr/>
        </p:nvSpPr>
        <p:spPr>
          <a:xfrm>
            <a:off x="1188720" y="3182112"/>
            <a:ext cx="7315200" cy="603504"/>
          </a:xfrm>
          <a:prstGeom prst="rect">
            <a:avLst/>
          </a:prstGeom>
          <a:noFill/>
          <a:ln/>
        </p:spPr>
        <p:txBody>
          <a:bodyPr wrap="square" lIns="0" tIns="0" rIns="0" bIns="0" rtlCol="0" anchor="ctr"/>
          <a:lstStyle/>
          <a:p>
            <a:pPr indent="0" marL="0">
              <a:buNone/>
            </a:pPr>
            <a:r>
              <a:rPr lang="en-US" sz="1500" dirty="0">
                <a:solidFill>
                  <a:schemeClr val="tx1"/>
                </a:solidFill>
              </a:rPr>
              <a:t>Il potenziale tecnologico non garantisce automaticamente benefici</a:t>
            </a:r>
            <a:endParaRPr lang="en-US" sz="1500" dirty="0"/>
          </a:p>
        </p:txBody>
      </p:sp>
      <p:sp>
        <p:nvSpPr>
          <p:cNvPr id="20" name="risultato 5"/>
          <p:cNvSpPr/>
          <p:nvPr/>
        </p:nvSpPr>
        <p:spPr>
          <a:xfrm>
            <a:off x="457200" y="3877056"/>
            <a:ext cx="8229600" cy="603504"/>
          </a:xfrm>
          <a:prstGeom prst="roundRect">
            <a:avLst>
              <a:gd name="adj" fmla="val 12121"/>
            </a:avLst>
          </a:prstGeom>
          <a:solidFill>
            <a:schemeClr val="bg2"/>
          </a:solidFill>
          <a:ln/>
        </p:spPr>
      </p:sp>
      <p:sp>
        <p:nvSpPr>
          <p:cNvPr id="21" name="cerchio FiCompass"/>
          <p:cNvSpPr/>
          <p:nvPr/>
        </p:nvSpPr>
        <p:spPr>
          <a:xfrm>
            <a:off x="594360" y="3968496"/>
            <a:ext cx="420624" cy="420624"/>
          </a:xfrm>
          <a:prstGeom prst="ellipse">
            <a:avLst/>
          </a:prstGeom>
          <a:solidFill>
            <a:schemeClr val="accent1"/>
          </a:solidFill>
          <a:ln/>
        </p:spPr>
      </p:sp>
      <p:pic>
        <p:nvPicPr>
          <p:cNvPr id="22" name="Image 4" descr="FiCompass">    </p:cNvPr>
          <p:cNvPicPr>
            <a:picLocks noChangeAspect="1"/>
          </p:cNvPicPr>
          <p:nvPr/>
        </p:nvPicPr>
        <p:blipFill>
          <a:blip r:embed="rId5"/>
          <a:stretch>
            <a:fillRect/>
          </a:stretch>
        </p:blipFill>
        <p:spPr>
          <a:xfrm>
            <a:off x="699516" y="4073652"/>
            <a:ext cx="210312" cy="210312"/>
          </a:xfrm>
          <a:prstGeom prst="rect">
            <a:avLst/>
          </a:prstGeom>
        </p:spPr>
      </p:pic>
      <p:sp>
        <p:nvSpPr>
          <p:cNvPr id="23" name="Text 15"/>
          <p:cNvSpPr txBox="1"/>
          <p:nvPr/>
        </p:nvSpPr>
        <p:spPr>
          <a:xfrm>
            <a:off x="1188720" y="3877056"/>
            <a:ext cx="7315200" cy="603504"/>
          </a:xfrm>
          <a:prstGeom prst="rect">
            <a:avLst/>
          </a:prstGeom>
          <a:noFill/>
          <a:ln/>
        </p:spPr>
        <p:txBody>
          <a:bodyPr wrap="square" lIns="0" tIns="0" rIns="0" bIns="0" rtlCol="0" anchor="ctr"/>
          <a:lstStyle/>
          <a:p>
            <a:pPr indent="0" marL="0">
              <a:buNone/>
            </a:pPr>
            <a:r>
              <a:rPr lang="en-US" sz="1500" dirty="0">
                <a:solidFill>
                  <a:schemeClr val="tx1"/>
                </a:solidFill>
              </a:rPr>
              <a:t>Il futuro è incerto: servono capacità critiche e adattabili</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Prossimo passo: il Tema 2</a:t>
            </a:r>
            <a:endParaRPr lang="en-US" sz="2600" dirty="0"/>
          </a:p>
        </p:txBody>
      </p:sp>
      <p:sp>
        <p:nvSpPr>
          <p:cNvPr id="4" name="tema 1"/>
          <p:cNvSpPr/>
          <p:nvPr/>
        </p:nvSpPr>
        <p:spPr>
          <a:xfrm>
            <a:off x="457200" y="1097280"/>
            <a:ext cx="3291840" cy="3429000"/>
          </a:xfrm>
          <a:prstGeom prst="roundRect">
            <a:avLst>
              <a:gd name="adj" fmla="val 2222"/>
            </a:avLst>
          </a:prstGeom>
          <a:solidFill>
            <a:schemeClr val="bg2"/>
          </a:solidFill>
          <a:ln/>
        </p:spPr>
      </p:sp>
      <p:sp>
        <p:nvSpPr>
          <p:cNvPr id="5" name="Text 2"/>
          <p:cNvSpPr txBox="1"/>
          <p:nvPr/>
        </p:nvSpPr>
        <p:spPr>
          <a:xfrm>
            <a:off x="685800" y="1280160"/>
            <a:ext cx="2834640" cy="320040"/>
          </a:xfrm>
          <a:prstGeom prst="rect">
            <a:avLst/>
          </a:prstGeom>
          <a:noFill/>
          <a:ln/>
        </p:spPr>
        <p:txBody>
          <a:bodyPr wrap="square" lIns="0" tIns="0" rIns="0" bIns="0" rtlCol="0" anchor="t"/>
          <a:lstStyle/>
          <a:p>
            <a:pPr indent="0" marL="0">
              <a:buNone/>
            </a:pPr>
            <a:r>
              <a:rPr lang="en-US" sz="1300" b="1" spc="200" kern="0" dirty="0">
                <a:solidFill>
                  <a:schemeClr val="accent2"/>
                </a:solidFill>
              </a:rPr>
              <a:t>TEMA 1</a:t>
            </a:r>
            <a:endParaRPr lang="en-US" sz="1300" dirty="0"/>
          </a:p>
        </p:txBody>
      </p:sp>
      <p:sp>
        <p:nvSpPr>
          <p:cNvPr id="6" name="Text 3"/>
          <p:cNvSpPr txBox="1"/>
          <p:nvPr/>
        </p:nvSpPr>
        <p:spPr>
          <a:xfrm>
            <a:off x="685800" y="1645920"/>
            <a:ext cx="2834640" cy="457200"/>
          </a:xfrm>
          <a:prstGeom prst="rect">
            <a:avLst/>
          </a:prstGeom>
          <a:noFill/>
          <a:ln/>
        </p:spPr>
        <p:txBody>
          <a:bodyPr wrap="square" lIns="0" tIns="0" rIns="0" bIns="0" rtlCol="0" anchor="t"/>
          <a:lstStyle/>
          <a:p>
            <a:pPr indent="0" marL="0">
              <a:buNone/>
            </a:pPr>
            <a:r>
              <a:rPr lang="en-US" sz="1800" b="1" dirty="0">
                <a:solidFill>
                  <a:schemeClr val="tx1"/>
                </a:solidFill>
              </a:rPr>
              <a:t>Evoluzione e rilevanza</a:t>
            </a:r>
            <a:endParaRPr lang="en-US" sz="1800" dirty="0"/>
          </a:p>
        </p:txBody>
      </p:sp>
      <p:sp>
        <p:nvSpPr>
          <p:cNvPr id="7" name="Text 4"/>
          <p:cNvSpPr txBox="1"/>
          <p:nvPr/>
        </p:nvSpPr>
        <p:spPr>
          <a:xfrm>
            <a:off x="685800" y="2240280"/>
            <a:ext cx="2834640" cy="201168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2"/>
                </a:solidFill>
              </a:rPr>
              <a:t>Da dove arriva l'AI</a:t>
            </a:r>
            <a:endParaRPr lang="en-US" sz="1400" dirty="0"/>
          </a:p>
          <a:p>
            <a:pPr marL="177800" indent="-177800">
              <a:spcAft>
                <a:spcPts val="400"/>
              </a:spcAft>
              <a:buSzPct val="100000"/>
              <a:buChar char="•"/>
            </a:pPr>
            <a:r>
              <a:rPr lang="en-US" sz="1400" dirty="0">
                <a:solidFill>
                  <a:schemeClr val="tx2"/>
                </a:solidFill>
              </a:rPr>
              <a:t>Perché è centrale oggi</a:t>
            </a:r>
            <a:endParaRPr lang="en-US" sz="1400" dirty="0"/>
          </a:p>
          <a:p>
            <a:pPr marL="177800" indent="-177800">
              <a:spcAft>
                <a:spcPts val="400"/>
              </a:spcAft>
              <a:buSzPct val="100000"/>
              <a:buChar char="•"/>
            </a:pPr>
            <a:r>
              <a:rPr lang="en-US" sz="1400" dirty="0">
                <a:solidFill>
                  <a:schemeClr val="tx2"/>
                </a:solidFill>
              </a:rPr>
              <a:t>Perché ci riguarda</a:t>
            </a:r>
            <a:endParaRPr lang="en-US" sz="1400" dirty="0"/>
          </a:p>
          <a:p>
            <a:pPr marL="177800" indent="-177800">
              <a:spcAft>
                <a:spcPts val="400"/>
              </a:spcAft>
              <a:buSzPct val="100000"/>
              <a:buChar char="•"/>
            </a:pPr>
            <a:r>
              <a:rPr lang="en-US" sz="1400" dirty="0">
                <a:solidFill>
                  <a:schemeClr val="tx2"/>
                </a:solidFill>
              </a:rPr>
              <a:t>Come valutarne le promesse</a:t>
            </a:r>
            <a:endParaRPr lang="en-US" sz="1400" dirty="0"/>
          </a:p>
        </p:txBody>
      </p:sp>
      <p:sp>
        <p:nvSpPr>
          <p:cNvPr id="8" name="freccia"/>
          <p:cNvSpPr/>
          <p:nvPr/>
        </p:nvSpPr>
        <p:spPr>
          <a:xfrm>
            <a:off x="3886200" y="2651760"/>
            <a:ext cx="502920" cy="292608"/>
          </a:xfrm>
          <a:prstGeom prst="rightArrow">
            <a:avLst/>
          </a:prstGeom>
          <a:solidFill>
            <a:schemeClr val="accent1"/>
          </a:solidFill>
          <a:ln/>
        </p:spPr>
      </p:sp>
      <p:sp>
        <p:nvSpPr>
          <p:cNvPr id="9" name="tema 2"/>
          <p:cNvSpPr/>
          <p:nvPr/>
        </p:nvSpPr>
        <p:spPr>
          <a:xfrm>
            <a:off x="4526280" y="1097280"/>
            <a:ext cx="4160520" cy="3429000"/>
          </a:xfrm>
          <a:prstGeom prst="roundRect">
            <a:avLst>
              <a:gd name="adj" fmla="val 2133"/>
            </a:avLst>
          </a:prstGeom>
          <a:solidFill>
            <a:schemeClr val="tx1"/>
          </a:solidFill>
          <a:ln/>
        </p:spPr>
      </p:sp>
      <p:sp>
        <p:nvSpPr>
          <p:cNvPr id="10" name="Text 7"/>
          <p:cNvSpPr txBox="1"/>
          <p:nvPr/>
        </p:nvSpPr>
        <p:spPr>
          <a:xfrm>
            <a:off x="4754880" y="1280160"/>
            <a:ext cx="36576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TEMA 2</a:t>
            </a:r>
            <a:endParaRPr lang="en-US" sz="1300" dirty="0"/>
          </a:p>
        </p:txBody>
      </p:sp>
      <p:sp>
        <p:nvSpPr>
          <p:cNvPr id="11" name="Text 8"/>
          <p:cNvSpPr txBox="1"/>
          <p:nvPr/>
        </p:nvSpPr>
        <p:spPr>
          <a:xfrm>
            <a:off x="4754880" y="1645920"/>
            <a:ext cx="3749040" cy="457200"/>
          </a:xfrm>
          <a:prstGeom prst="rect">
            <a:avLst/>
          </a:prstGeom>
          <a:noFill/>
          <a:ln/>
        </p:spPr>
        <p:txBody>
          <a:bodyPr wrap="square" lIns="0" tIns="0" rIns="0" bIns="0" rtlCol="0" anchor="t"/>
          <a:lstStyle/>
          <a:p>
            <a:pPr indent="0" marL="0">
              <a:buNone/>
            </a:pPr>
            <a:r>
              <a:rPr lang="en-US" sz="1800" b="1" dirty="0">
                <a:solidFill>
                  <a:schemeClr val="bg1"/>
                </a:solidFill>
              </a:rPr>
              <a:t>Fondamenti e funzionamento</a:t>
            </a:r>
            <a:endParaRPr lang="en-US" sz="1800" dirty="0"/>
          </a:p>
        </p:txBody>
      </p:sp>
      <p:sp>
        <p:nvSpPr>
          <p:cNvPr id="12" name="Text 9"/>
          <p:cNvSpPr txBox="1"/>
          <p:nvPr/>
        </p:nvSpPr>
        <p:spPr>
          <a:xfrm>
            <a:off x="4754880" y="2240280"/>
            <a:ext cx="3749040" cy="2103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accent3"/>
                </a:solidFill>
              </a:rPr>
              <a:t>Che cos'è davvero l'AI</a:t>
            </a:r>
            <a:endParaRPr lang="en-US" sz="1400" dirty="0"/>
          </a:p>
          <a:p>
            <a:pPr marL="177800" indent="-177800">
              <a:spcAft>
                <a:spcPts val="300"/>
              </a:spcAft>
              <a:buSzPct val="100000"/>
              <a:buChar char="•"/>
            </a:pPr>
            <a:r>
              <a:rPr lang="en-US" sz="1400" dirty="0">
                <a:solidFill>
                  <a:schemeClr val="accent3"/>
                </a:solidFill>
              </a:rPr>
              <a:t>Come apprende dai dati</a:t>
            </a:r>
            <a:endParaRPr lang="en-US" sz="1400" dirty="0"/>
          </a:p>
          <a:p>
            <a:pPr marL="177800" indent="-177800">
              <a:spcAft>
                <a:spcPts val="300"/>
              </a:spcAft>
              <a:buSzPct val="100000"/>
              <a:buChar char="•"/>
            </a:pPr>
            <a:r>
              <a:rPr lang="en-US" sz="1400" dirty="0">
                <a:solidFill>
                  <a:schemeClr val="accent3"/>
                </a:solidFill>
              </a:rPr>
              <a:t>Che cosa sono gli LLM</a:t>
            </a:r>
            <a:endParaRPr lang="en-US" sz="1400" dirty="0"/>
          </a:p>
          <a:p>
            <a:pPr marL="177800" indent="-177800">
              <a:spcAft>
                <a:spcPts val="300"/>
              </a:spcAft>
              <a:buSzPct val="100000"/>
              <a:buChar char="•"/>
            </a:pPr>
            <a:r>
              <a:rPr lang="en-US" sz="1400" dirty="0">
                <a:solidFill>
                  <a:schemeClr val="accent3"/>
                </a:solidFill>
              </a:rPr>
              <a:t>Che cosa accade quando inviamo un prompt</a:t>
            </a:r>
            <a:endParaRPr lang="en-US" sz="1400" dirty="0"/>
          </a:p>
          <a:p>
            <a:pPr marL="177800" indent="-177800">
              <a:spcAft>
                <a:spcPts val="300"/>
              </a:spcAft>
              <a:buSzPct val="100000"/>
              <a:buChar char="•"/>
            </a:pPr>
            <a:r>
              <a:rPr lang="en-US" sz="1400" dirty="0">
                <a:solidFill>
                  <a:schemeClr val="accent3"/>
                </a:solidFill>
              </a:rPr>
              <a:t>Da dove arrivano le informazioni</a:t>
            </a:r>
            <a:endParaRPr lang="en-US" sz="1400" dirty="0"/>
          </a:p>
          <a:p>
            <a:pPr marL="177800" indent="-177800">
              <a:spcAft>
                <a:spcPts val="300"/>
              </a:spcAft>
              <a:buSzPct val="100000"/>
              <a:buChar char="•"/>
            </a:pPr>
            <a:r>
              <a:rPr lang="en-US" sz="1400" dirty="0">
                <a:solidFill>
                  <a:schemeClr val="accent3"/>
                </a:solidFill>
              </a:rPr>
              <a:t>Perché le risposte variano</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40080"/>
          </a:xfrm>
          <a:prstGeom prst="rect">
            <a:avLst/>
          </a:prstGeom>
          <a:noFill/>
          <a:ln/>
        </p:spPr>
        <p:txBody>
          <a:bodyPr wrap="square" lIns="0" tIns="0" rIns="0" bIns="0" rtlCol="0" anchor="ctr"/>
          <a:lstStyle/>
          <a:p>
            <a:pPr algn="l" indent="0" marL="0">
              <a:buNone/>
            </a:pPr>
            <a:r>
              <a:rPr lang="en-US" sz="2600" b="1" dirty="0">
                <a:solidFill>
                  <a:schemeClr val="tx1"/>
                </a:solidFill>
              </a:rPr>
              <a:t>Fonti e riferimenti</a:t>
            </a:r>
            <a:endParaRPr lang="en-US" sz="2600" dirty="0"/>
          </a:p>
        </p:txBody>
      </p:sp>
      <p:sp>
        <p:nvSpPr>
          <p:cNvPr id="4" name="cerchio FiBookmark"/>
          <p:cNvSpPr/>
          <p:nvPr/>
        </p:nvSpPr>
        <p:spPr>
          <a:xfrm>
            <a:off x="457200" y="1143000"/>
            <a:ext cx="502920" cy="502920"/>
          </a:xfrm>
          <a:prstGeom prst="ellipse">
            <a:avLst/>
          </a:prstGeom>
          <a:solidFill>
            <a:schemeClr val="accent1"/>
          </a:solidFill>
          <a:ln/>
        </p:spPr>
      </p:sp>
      <p:pic>
        <p:nvPicPr>
          <p:cNvPr id="5" name="Image 0" descr="FiBookmark">    </p:cNvPr>
          <p:cNvPicPr>
            <a:picLocks noChangeAspect="1"/>
          </p:cNvPicPr>
          <p:nvPr/>
        </p:nvPicPr>
        <p:blipFill>
          <a:blip r:embed="rId1"/>
          <a:stretch>
            <a:fillRect/>
          </a:stretch>
        </p:blipFill>
        <p:spPr>
          <a:xfrm>
            <a:off x="582930" y="1268730"/>
            <a:ext cx="251460" cy="251460"/>
          </a:xfrm>
          <a:prstGeom prst="rect">
            <a:avLst/>
          </a:prstGeom>
        </p:spPr>
      </p:pic>
      <p:sp>
        <p:nvSpPr>
          <p:cNvPr id="6" name="Text 2"/>
          <p:cNvSpPr txBox="1"/>
          <p:nvPr/>
        </p:nvSpPr>
        <p:spPr>
          <a:xfrm>
            <a:off x="1188720" y="1097280"/>
            <a:ext cx="7498080" cy="347472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Turing, A. M. (1950). Computing Machinery and Intelligence. Mind, 59(236).</a:t>
            </a:r>
            <a:endParaRPr lang="en-US" sz="1300" dirty="0"/>
          </a:p>
          <a:p>
            <a:pPr marL="177800" indent="-177800">
              <a:spcAft>
                <a:spcPts val="500"/>
              </a:spcAft>
              <a:buSzPct val="100000"/>
              <a:buChar char="•"/>
            </a:pPr>
            <a:r>
              <a:rPr lang="en-US" sz="1300" dirty="0">
                <a:solidFill>
                  <a:schemeClr val="tx1"/>
                </a:solidFill>
              </a:rPr>
              <a:t>McCarthy, J., Minsky, M., Rochester, N., Shannon, C. (1955). A Proposal for the Dartmouth Summer Research Project on Artificial Intelligence.</a:t>
            </a:r>
            <a:endParaRPr lang="en-US" sz="1300" dirty="0"/>
          </a:p>
          <a:p>
            <a:pPr marL="177800" indent="-177800">
              <a:spcAft>
                <a:spcPts val="500"/>
              </a:spcAft>
              <a:buSzPct val="100000"/>
              <a:buChar char="•"/>
            </a:pPr>
            <a:r>
              <a:rPr lang="en-US" sz="1300" dirty="0">
                <a:solidFill>
                  <a:schemeClr val="tx1"/>
                </a:solidFill>
              </a:rPr>
              <a:t>Vaswani, A. et al. (2017). Attention Is All You Need. NeurIPS.</a:t>
            </a:r>
            <a:endParaRPr lang="en-US" sz="1300" dirty="0"/>
          </a:p>
          <a:p>
            <a:pPr marL="177800" indent="-177800">
              <a:spcAft>
                <a:spcPts val="500"/>
              </a:spcAft>
              <a:buSzPct val="100000"/>
              <a:buChar char="•"/>
            </a:pPr>
            <a:r>
              <a:rPr lang="en-US" sz="1300" dirty="0">
                <a:solidFill>
                  <a:schemeClr val="tx1"/>
                </a:solidFill>
              </a:rPr>
              <a:t>Epoch AI (2024). Training compute of frontier AI models grows by 4-5x per year.</a:t>
            </a:r>
            <a:endParaRPr lang="en-US" sz="1300" dirty="0"/>
          </a:p>
          <a:p>
            <a:pPr marL="177800" indent="-177800">
              <a:spcAft>
                <a:spcPts val="500"/>
              </a:spcAft>
              <a:buSzPct val="100000"/>
              <a:buChar char="•"/>
            </a:pPr>
            <a:r>
              <a:rPr lang="en-US" sz="1300" dirty="0">
                <a:solidFill>
                  <a:schemeClr val="tx1"/>
                </a:solidFill>
              </a:rPr>
              <a:t>Brynjolfsson, E., Li, D., Raymond, L. (2023). Generative AI at Work. NBER Working Paper 31161.</a:t>
            </a:r>
            <a:endParaRPr lang="en-US" sz="1300" dirty="0"/>
          </a:p>
          <a:p>
            <a:pPr marL="177800" indent="-177800">
              <a:spcAft>
                <a:spcPts val="500"/>
              </a:spcAft>
              <a:buSzPct val="100000"/>
              <a:buChar char="•"/>
            </a:pPr>
            <a:r>
              <a:rPr lang="en-US" sz="1300" dirty="0">
                <a:solidFill>
                  <a:schemeClr val="tx1"/>
                </a:solidFill>
              </a:rPr>
              <a:t>Dell'Acqua, F. et al. (2023). Navigating the Jagged Technological Frontier. Harvard Business School Working Paper 24-013.</a:t>
            </a:r>
            <a:endParaRPr lang="en-US" sz="1300" dirty="0"/>
          </a:p>
          <a:p>
            <a:pPr marL="177800" indent="-177800">
              <a:spcAft>
                <a:spcPts val="500"/>
              </a:spcAft>
              <a:buSzPct val="100000"/>
              <a:buChar char="•"/>
            </a:pPr>
            <a:r>
              <a:rPr lang="en-US" sz="1300" dirty="0">
                <a:solidFill>
                  <a:schemeClr val="tx1"/>
                </a:solidFill>
              </a:rPr>
              <a:t>Gartner. Hype Cycle for Emerging Technologies (modello interpretativo).</a:t>
            </a:r>
            <a:endParaRPr lang="en-US" sz="1300" dirty="0"/>
          </a:p>
          <a:p>
            <a:pPr marL="177800" indent="-177800">
              <a:spcAft>
                <a:spcPts val="500"/>
              </a:spcAft>
              <a:buSzPct val="100000"/>
              <a:buChar char="•"/>
            </a:pPr>
            <a:r>
              <a:rPr lang="en-US" sz="1300" dirty="0">
                <a:solidFill>
                  <a:schemeClr val="tx1"/>
                </a:solidFill>
              </a:rPr>
              <a:t>Reuters (febbraio 2023). Stima UBS sulla crescita degli utenti di ChatGPT.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55</a:t>
            </a:fld>
            <a:endParaRPr lang="en-US"/>
          </a:p>
        </p:txBody>
      </p:sp>
    </p:spTree>
  </p:cSld>
  <p:clrMapOvr>
    <a:masterClrMapping/>
  </p:clrMapOvr>
</p:sld>
</file>

<file path=ppt/theme/theme1.xml><?xml version="1.0" encoding="utf-8"?>
<a:theme xmlns:a="http://schemas.openxmlformats.org/drawingml/2006/main" name="AI Literacy Neutro">
  <a:themeElements>
    <a:clrScheme name="AI Literacy Neutro">
      <a:dk1>
        <a:srgbClr val="22262B"/>
      </a:dk1>
      <a:lt1>
        <a:srgbClr val="FFFFFF"/>
      </a:lt1>
      <a:dk2>
        <a:srgbClr val="4A515C"/>
      </a:dk2>
      <a:lt2>
        <a:srgbClr val="F2F3F5"/>
      </a:lt2>
      <a:accent1>
        <a:srgbClr val="2E7D7A"/>
      </a:accent1>
      <a:accent2>
        <a:srgbClr val="8A939E"/>
      </a:accent2>
      <a:accent3>
        <a:srgbClr val="D5D9DE"/>
      </a:accent3>
      <a:accent4>
        <a:srgbClr val="5B6573"/>
      </a:accent4>
      <a:accent5>
        <a:srgbClr val="A86F1C"/>
      </a:accent5>
      <a:accent6>
        <a:srgbClr val="E6F0EF"/>
      </a:accent6>
      <a:hlink>
        <a:srgbClr val="2E7D7A"/>
      </a:hlink>
      <a:folHlink>
        <a:srgbClr val="5B6573"/>
      </a:folHlink>
    </a:clrScheme>
    <a:fontScheme name="AI Literacy Neutr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Tema 1: Evoluzione e rilevanza dell'Intelligenza Artificiale</dc:title>
  <dc:subject>Percorso AI Literacy</dc:subject>
  <dc:creator>Percorso AI Literacy</dc:creator>
  <cp:lastModifiedBy>Percorso AI Literacy</cp:lastModifiedBy>
  <cp:revision>1</cp:revision>
  <dcterms:created xsi:type="dcterms:W3CDTF">2026-10-08T15:05:35Z</dcterms:created>
  <dcterms:modified xsi:type="dcterms:W3CDTF">2026-10-08T15:05:35Z</dcterms:modified>
</cp:coreProperties>
</file>