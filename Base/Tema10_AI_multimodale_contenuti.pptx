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charts/chart1.xml" ContentType="application/vnd.openxmlformats-officedocument.drawingml.chart+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Lst>
  <p:notesMasterIdLst>
    <p:notesMasterId r:id="rId7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zione" id="{cbb3ca74-cd53-9aab-b728-e5d0f04fa5cd}">
          <p14:sldIdLst>
            <p14:sldId id="256"/>
            <p14:sldId id="257"/>
            <p14:sldId id="258"/>
            <p14:sldId id="259"/>
            <p14:sldId id="260"/>
          </p14:sldIdLst>
        </p14:section>
        <p14:section name="10.1 Fondamenti" id="{51a717e7-e551-e0b1-8917-60184ea31ec2}">
          <p14:sldIdLst>
            <p14:sldId id="261"/>
            <p14:sldId id="262"/>
            <p14:sldId id="263"/>
            <p14:sldId id="264"/>
            <p14:sldId id="265"/>
            <p14:sldId id="266"/>
            <p14:sldId id="267"/>
            <p14:sldId id="268"/>
          </p14:sldIdLst>
        </p14:section>
        <p14:section name="10.2 Immagini: comprendere" id="{12af7bc9-2e55-48dc-4656-97fab4398174}">
          <p14:sldIdLst>
            <p14:sldId id="269"/>
            <p14:sldId id="270"/>
            <p14:sldId id="271"/>
            <p14:sldId id="272"/>
            <p14:sldId id="273"/>
            <p14:sldId id="274"/>
            <p14:sldId id="275"/>
            <p14:sldId id="276"/>
          </p14:sldIdLst>
        </p14:section>
        <p14:section name="10.3 Immagini: generare" id="{25ab7e69-4fb6-a4f2-a3e9-1ff2c5e93850}">
          <p14:sldIdLst>
            <p14:sldId id="277"/>
            <p14:sldId id="278"/>
            <p14:sldId id="279"/>
            <p14:sldId id="280"/>
            <p14:sldId id="281"/>
            <p14:sldId id="282"/>
            <p14:sldId id="283"/>
            <p14:sldId id="284"/>
          </p14:sldIdLst>
        </p14:section>
        <p14:section name="10.4 Audio e voce" id="{72730785-3809-f386-e56c-f928531850e0}">
          <p14:sldIdLst>
            <p14:sldId id="285"/>
            <p14:sldId id="286"/>
            <p14:sldId id="287"/>
            <p14:sldId id="288"/>
            <p14:sldId id="289"/>
            <p14:sldId id="290"/>
            <p14:sldId id="291"/>
            <p14:sldId id="292"/>
            <p14:sldId id="293"/>
            <p14:sldId id="294"/>
          </p14:sldIdLst>
        </p14:section>
        <p14:section name="10.5 Video" id="{a1b40754-76b8-8f9e-92ba-2d9c336f2d0d}">
          <p14:sldIdLst>
            <p14:sldId id="295"/>
            <p14:sldId id="296"/>
            <p14:sldId id="297"/>
            <p14:sldId id="298"/>
            <p14:sldId id="299"/>
          </p14:sldIdLst>
        </p14:section>
        <p14:section name="10.6 Presentazioni" id="{2274e107-741e-19d6-5ab6-97501d2f2b98}">
          <p14:sldIdLst>
            <p14:sldId id="300"/>
            <p14:sldId id="301"/>
            <p14:sldId id="302"/>
            <p14:sldId id="303"/>
            <p14:sldId id="304"/>
            <p14:sldId id="305"/>
            <p14:sldId id="306"/>
          </p14:sldIdLst>
        </p14:section>
        <p14:section name="10.7 Trasformazioni" id="{faf056cf-2355-dc07-6706-c17b59156564}">
          <p14:sldIdLst>
            <p14:sldId id="307"/>
            <p14:sldId id="308"/>
            <p14:sldId id="309"/>
            <p14:sldId id="310"/>
            <p14:sldId id="311"/>
            <p14:sldId id="312"/>
            <p14:sldId id="313"/>
            <p14:sldId id="314"/>
          </p14:sldIdLst>
        </p14:section>
        <p14:section name="10.8 Autenticità e affidabilità" id="{df8b0924-8c93-16b2-9301-86209b0daedf}">
          <p14:sldIdLst>
            <p14:sldId id="315"/>
            <p14:sldId id="316"/>
            <p14:sldId id="317"/>
            <p14:sldId id="318"/>
            <p14:sldId id="319"/>
            <p14:sldId id="320"/>
            <p14:sldId id="321"/>
            <p14:sldId id="322"/>
            <p14:sldId id="323"/>
            <p14:sldId id="324"/>
          </p14:sldIdLst>
        </p14:section>
        <p14:section name="Conclusioni" id="{69d0bedc-35b8-6963-b3a2-0a47fd52187f}">
          <p14:sldIdLst>
            <p14:sldId id="325"/>
            <p14:sldId id="326"/>
            <p14:sldId id="327"/>
            <p14:sldId id="328"/>
            <p14:sldId id="329"/>
            <p14:sldId id="33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notesMaster" Target="notesMasters/notesMaster1.xml"/><Relationship Id="rId78" Type="http://schemas.openxmlformats.org/officeDocument/2006/relationships/presProps" Target="presProps.xml"/><Relationship Id="rId79" Type="http://schemas.openxmlformats.org/officeDocument/2006/relationships/viewProps" Target="viewProps.xml"/><Relationship Id="rId80" Type="http://schemas.openxmlformats.org/officeDocument/2006/relationships/theme" Target="theme/theme1.xml"/><Relationship Id="rId8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pieChart>
        <c:varyColors val="1"/>
        <c:ser>
          <c:idx val="0"/>
          <c:order val="0"/>
          <c:tx>
            <c:strRef>
              <c:f>Sheet1!$B$1</c:f>
              <c:strCache>
                <c:ptCount val="1"/>
                <c:pt idx="0">
                  <c:v>Canali</c:v>
                </c:pt>
              </c:strCache>
            </c:strRef>
          </c:tx>
          <c:spPr>
            <a:solidFill>
              <a:schemeClr val="accent1"/>
            </a:solidFill>
            <a:ln w="9525" cap="flat">
              <a:solidFill>
                <a:srgbClr val="F9F9F9"/>
              </a:solidFill>
              <a:prstDash val="solid"/>
              <a:round/>
            </a:ln>
            <a:effectLst/>
          </c:spPr>
          <c:dPt>
            <c:idx val="0"/>
            <c:bubble3D val="0"/>
            <c:spPr>
              <a:solidFill>
                <a:srgbClr val="A86F1C"/>
              </a:solidFill>
              <a:ln w="12700" cap="flat">
                <a:solidFill>
                  <a:srgbClr val="FFFFFF"/>
                </a:solidFill>
                <a:prstDash val="solid"/>
                <a:round/>
              </a:ln>
              <a:effectLst/>
            </c:spPr>
          </c:dPt>
          <c:dPt>
            <c:idx val="1"/>
            <c:bubble3D val="0"/>
            <c:spPr>
              <a:solidFill>
                <a:srgbClr val="D5D9DE"/>
              </a:solidFill>
              <a:ln w="12700" cap="flat">
                <a:solidFill>
                  <a:srgbClr val="FFFFFF"/>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Sheet1!$A$2:$A$3</c:f>
              <c:strCache>
                <c:ptCount val="2"/>
                <c:pt idx="0">
                  <c:v>Online</c:v>
                </c:pt>
                <c:pt idx="1">
                  <c:v>Negozi</c:v>
                </c:pt>
              </c:strCache>
            </c:strRef>
          </c:cat>
          <c:val>
            <c:numRef>
              <c:f>Sheet1!$B$2:$B$3</c:f>
              <c:numCache>
                <c:ptCount val="2"/>
                <c:pt idx="0">
                  <c:v>50</c:v>
                </c:pt>
                <c:pt idx="1">
                  <c:v>50</c:v>
                </c:pt>
              </c:numCache>
            </c:numRef>
          </c:val>
        </c:ser>
        <c:firstSliceAng val="0"/>
      </c:pieChart>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Benvenuti al decimo tema, il terzo dell'area 'Esplorare le possibilità dell'AI'. Nel Tema 8 abbiamo lavorato su testi e documenti, nel Tema 9 sui dati. Qui allarghiamo lo sguardo alle altre modalità attraverso cui le informazioni si presentano: immagini, audio, video, e i materiali di comunicazione che le combinano, come le presentazioni. I sistemi AI attuali non lavorano più solo con il testo: possono descrivere una fotografia, leggere una schermata, trascrivere una riunione, generare un'immagine o un breve video, trasformare un documento in slide. Sono possibilità che cambiano molte attività quotidiane, dalla comunicazione alla formazione, dal supporto tecnico all'accessibilità. E portano con sé una questione nuova e importante: un contenuto può essere molto realistico senza essere autentico. Il punto di vista resta quello dell'utilizzatore: non entriamo nelle architetture dei modelli multimodali né nella produzione audiovisiva professionale. Suggerimento per l'apertura: mostrare due immagini, una fotografia reale e una generata, e chiedere ai partecipanti di indovinare quale sia quale. La difficoltà del compito introduce bene il tema. Usare immagini prive di persone reali riconoscibili o di marchi. Nota per il relatore: i contenuti sono stati verificati a ottobre 2026, compresi gli obblighi di trasparenza dell'AI Act sui contenuti generati; le capacità di generazione di immagini, voci e video evolvono molto rapidamente, quindi esempi, dimostrazioni e riferimenti normativi vanno ricontrollati prima di ogni edizione.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L'obiettivo formativo è sviluppare la comprensione delle principali possibilità offerte dall'AI multimodale nella percezione, interpretazione, generazione e trasformazione di contenuti visivi, sonori e audiovisivi, riconoscendo opportunità applicative, condizioni di efficacia e limiti. La consapevolezza da sviluppare ha due parti. La prima: l'AI può comprendere, produrre e trasformare informazioni attraverso modalità diverse, e questo apre possibilità concrete in molti ambiti di lavoro. La seconda: un contenuto realistico non è necessariamente autentico, e una trasformazione da una modalità all'altra può introdurre errori, omissioni o alterazioni del significato. Il concetto centrale del tema: l'AI multimodale amplia le possibilità di comprendere, creare e trasformare contenuti attraverso testo, immagini, audio e video; il realismo non garantisce autenticità e ogni trasformazione richiede attenzione alla fedeltà, alla correttezza e all'adeguatezza delle informazioni. Un principio di metodo indicato dal documento: le capacità effettive vanno sempre ricondotte allo specifico sistema, e non dedotte genericamente dall'etichetta 'multimodale'.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dieci domande guida accompagnano il modulo. Le prime due sono concettuali: che cosa significa multimodale, e in che cosa differiscono interpretazione, generazione e trasformazione dei contenuti. Le successive quattro percorrono le modalità: immagini da comprendere, immagini da generare e modificare, audio e parlato, video. La settima riguarda presentazioni e materiali di comunicazione. Le ultime tre riguardano i temi trasversali: che cosa può andare perduto passando da una modalità all'altra, come distinguere realismo, autenticità e accuratezza, e quali opportunità offre la multimodalità per l'accessibilità delle informazioni. Alla fine del modulo torneremo su tutte.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documento di perimetro organizza il tema in quattro dimensioni complementari. Comprendere le modalità: che cosa significa multimodalità e come sono rappresentate le informazioni, nel sottotema 10.1. Interpretare e generare contenuti nelle diverse modalità: immagini, audio, video e materiali comunicativi, nei sottotemi dal 10.2 al 10.6. Trasformare e combinare, cioè passare tra più modalità preservando significato e utilità, nel 10.7. Valutare i risultati: autenticità, accuratezza, provenienza, fedeltà e limiti, nel 10.8. Trasversale a tutto il tema c'è la distinzione, chiesta dalla seconda domanda guida, tra tre operazioni: interpretare un contenuto, cioè comprenderlo e descriverlo; generarne uno nuovo; trasformarlo da una forma all'altra. Sono operazioni con rischi diversi: interpretare può portare a errori di riconoscimento; generare può produrre contenuti realistici ma non autentici; trasformare può far perdere o alterare informazioni. Nelle slide, un indicatore in alto a destra ricorda di quale operazione si sta parlando.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modulo è articolato in otto sottotemi, sette con priorità alta e uno, il video, con priorità media. Vanno compresi e sperimentati: interpretazione di immagini, generazione e modifica visiva, trascrizione, interazione vocale e trasformazioni tra modalità. Vanno conosciuti: generazione video, presentazioni, accessibilità, autenticità, provenienza e controlli di coerenza. Vanno solo accennati: architetture multimodali, modelli di diffusione, editing professionale, produzione audiovisiva specialistica e verifica forense tecnica. Confini: non ripetiamo i meccanismi del Tema 2, la teoria degli errori del Tema 3, i confronti commerciali tra strumenti del Tema 4, le tecniche di prompting del Tema 6, la metodologia di verifica del Tema 7. Il confine più importante è con il Tema 8: lì si trattava la conoscenza contenuta nei documenti, qui le modalità visive, sonore e audiovisive. Non progettiamo workflow automatizzati, che appartengono al Tema 11, e introduciamo autenticità e diritti senza analizzare gli obblighi giuridici, che appartengono ai Temi 17 e 18. Un'avvertenza pratica: immagini, registrazioni e video aziendali possono contenere dati personali o riservati, e vanno caricati solo negli strumenti autorizzati.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Partiamo dai concetti. Che cosa significa che un sistema AI è multimodale? Quali sono le modalità, che cosa vuol dire comprenderle o generarle, e come si realizza in pratica un sistema multimodale? In questo sottotema, da comprendere, costruiamo il vocabolario per tutto il modulo. Senza entrare nelle architetture, che il documento chiede solo di accennare, vedremo una distinzione importante: quella tra un modello che elabora più modalità e un'applicazione che combina più modelli specializzati. È una distinzione che spiega perché due strumenti entrambi 'multimodali' possono avere capacità molto diverse.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modalità è una forma in cui l'informazione si presenta: testo, immagini, audio, video. Gli esseri umani sono naturalmente multimodali: in una riunione ascoltiamo le parole, guardiamo le slide, osserviamo le espressioni, leggiamo gli appunti, e integriamo tutto in una comprensione unica. I primi sistemi di AI generativa erano essenzialmente testuali: ricevevano testo e producevano testo. Un sistema multimodale può ricevere e, in alcuni casi, produrre informazioni in più modalità: può ricevere una fotografia e una domanda scritta, una registrazione audio, una schermata, e rispondere con un testo, un'immagine, una voce. Le quattro modalità principali sono quelle in slide. Il testo, che resta la modalità centrale e spesso il ponte tra le altre. Le immagini: fotografie, illustrazioni, diagrammi, schermate, documenti scansionati. L'audio: parlato, musica, suoni. Il video: sequenze di immagini nel tempo, spesso con audio. Ciascuna modalità ha caratteristiche proprie, e un sistema può gestirne bene alcune e meno bene altre.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Confrontiamo un sistema solo testuale con uno multimodale, dal punto di vista di chi lo usa. Con un sistema testuale, per chiedere aiuto su un errore che compare a schermo bisogna descriverlo a parole; per analizzare un grafico bisogna trascriverne i valori; per riassumere una riunione bisogna prima averla trascritta. Con un sistema multimodale si può mostrare direttamente la schermata, caricare l'immagine del grafico, fornire la registrazione. L'interazione diventa più naturale e più rapida, e si possono affrontare compiti prima impossibili. Ma ci sono due conseguenze meno evidenti. La prima: si aggiunge un passaggio di interpretazione. Quando descriviamo noi la schermata, siamo noi a scegliere che cosa è rilevante; quando la carichiamo, è il sistema a interpretarla, e può sbagliare, per esempio leggendo male un numero o non notando un dettaglio. La seconda: si condividono più informazioni di quante se ne intendano condividere. Una schermata può contenere nomi, email, dati di clienti visibili in un'altra finestra; una fotografia può contenere documenti sulla scrivania; una registrazione contiene le voci di tutti i presenti.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distinzione fondamentale del sottotema: comprendere e generare. Comprendere una modalità significa ricevere un contenuto in quella forma ed estrarne informazioni: descrivere un'immagine, trascrivere un audio, riassumere un video. Generare significa produrre un contenuto in quella forma: creare un'immagine, sintetizzare una voce, produrre un video. Le due capacità sono indipendenti: un sistema può comprendere bene le immagini senza saperle generare, o generare audio senza comprenderlo. La tabella in slide incrocia modalità e capacità con esempi concreti. Si aggiunge una terza operazione, la trasformazione, che combina le prime due: si comprende un contenuto in una modalità e se ne genera uno in un'altra, come da un audio a una trascrizione, da un testo a un'immagine, da un documento a una presentazione. Sono le tre operazioni del filo conduttore. Ricordiamo che i rischi sono diversi: comprendere può portare a errori di riconoscimento e di interpretazione; generare a contenuti plausibili ma inventati o non autentici; trasformare a perdite e alterazioni di significato.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valore più interessante della multimodalità non sta nel trattare ogni modalità separatamente, ma nel combinarle in una stessa interazione. Alcuni esempi tipici del lavoro quotidiano. Una fotografia di una lavagna con gli appunti di una riunione, accompagnata dalla richiesta di trasformarli in un elenco di azioni. Una schermata di un messaggio di errore, con la domanda 'che cosa devo fare?'. La foto di un componente guasto, con la richiesta di identificarlo e di trovare la procedura di sostituzione nel manuale caricato. Una registrazione di una riunione insieme alle slide presentate, per produrre un verbale che colleghi ciò che è stato detto a ciò che è stato mostrato. Una conversazione vocale con un assistente mentre si guida o si lavora con le mani occupate. In tutti questi casi, il sistema deve integrare informazioni di natura diversa, ed è proprio nell'integrazione che nascono sia il valore sia i rischi: il sistema può collegare in modo errato elementi di modalità diverse, per esempio attribuire a una slide un commento detto su un'altra.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distinzione che il documento chiede di introdurre, senza entrare nelle architetture: la differenza tra un modello multimodale e un'applicazione che combina modelli specializzati. Un modello multimodale nativo è addestrato per elaborare più modalità insieme: riceve, per esempio, immagini e testo come input dello stesso modello. Un'applicazione che combina modelli specializzati collega più sistemi diversi: un modello di riconoscimento vocale trascrive l'audio, un modello linguistico elabora la trascrizione, un modello di sintesi vocale legge la risposta. Per l'utente le due soluzioni possono sembrare identiche: in entrambi i casi si parla e si riceve una risposta vocale. Ma il comportamento può essere diverso. In una catena di modelli, ogni passaggio può introdurre errori che si propagano, e alcune informazioni si perdono: se l'audio viene prima trascritto, il tono, le pause e l'enfasi della voce non arrivano al modello linguistico. In un modello nativo, alcune di queste informazioni possono essere conservate. Nella pratica, molti strumenti combinano entrambe le soluzioni. La conseguenza per l'utente è il principio del documento: le capacità effettive dipendono dal sistema impiegato.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consapevolezza del sottotema, e uno dei principi metodologici di tutto il tema: la multimodalità può essere realizzata con architetture diverse, e le capacità effettive e le modalità supportate dipendono dal sistema impiegato. In pratica, l'etichetta 'multimodale' dice poco. Due strumenti entrambi definiti multimodali possono differire su molti aspetti: quali modalità accettano in ingresso e quali producono in uscita; quanto bene interpretano dettagli piccoli, testi nelle immagini, grafici complessi; quali lingue e accenti riconoscono nel parlato; quanto lunghi possono essere gli audio e i video elaborati; se un video viene analizzato in tutti i fotogrammi o solo in alcuni campionati; se elaborano i contenuti sul dispositivo o li inviano a un servizio esterno; quali regole d'uso e quali limiti applicano, per esempio sulla generazione di immagini di persone reali. Per questo il documento chiede di mantenere la distinzione tra concetti durevoli e funzionalità dei prodotti soggette a cambiamento. In questo modulo ci concentriamo sui primi; per le funzionalità specifiche, conviene verificare quelle degli strumenti autorizzati in azienda, che cambiano rapidamente.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Concetto chiave del primo sottotema. Un sistema multimodale lavora con più modalità: testo, immagini, audio, video. Può comprenderle, generarle, trasformarle da una all'altra, e combinarle in un'unica interazione. Questo rende l'interazione più naturale e apre compiti nuovi, ma aggiunge un passaggio di interpretazione e può far condividere più informazioni del previsto. Un modello multimodale nativo e una catena di modelli specializzati possono sembrare uguali all'utente e comportarsi in modo diverso. Per questo le capacità vanno sempre verificate sullo strumento specifico. Esercizio suggerito: con lo strumento autorizzato in azienda, provare a fornire la stessa informazione in tre modalità diverse, per esempio una tabella scritta, una sua fotografia e una lettura ad alta voce, e confrontare le risposte.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Entriamo nelle modalità, partendo dalla comprensione delle immagini. È una delle capacità multimodali più mature e più utili nel lavoro quotidiano: descrivere una fotografia, leggere una schermata, interpretare un diagramma, estrarre il testo da un'immagine. In questo sottotema, da conoscere e sperimentare, vediamo che cosa i sistemi sanno fare con le immagini, dove sbagliano più facilmente, e una distinzione importante: quella tra descrivere ciò che si vede e comprenderne il significato. Il confine con il Tema 8: lì abbiamo parlato di documenti scansionati per il loro contenuto testuale; qui parliamo di immagini come modalità visiva.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possibilità di comprensione delle immagini sono ampie. Interpretare fotografie: descrivere che cosa rappresentano, le persone, gli oggetti, l'ambiente, la situazione. Analizzare schermate e interfacce: capire che cosa mostra un programma, leggere un messaggio di errore, individuare dove cliccare. Interpretare diagrammi e contenuti visivi: schemi di processo, organigrammi, mappe, grafici. Leggere il testo presente nelle immagini: cartelli, etichette, lavagne, documenti fotografati, scritte a mano. Estrarre informazioni visive: quanti elementi, quali colori, quali condizioni, per esempio lo stato di un macchinario o di un magazzino. Identificare elementi e relazioni spaziali: che cosa sta sopra, accanto, dentro che cosa. Le applicazioni aziendali sono molte: supporto tecnico a partire da schermate, catalogazione di prodotti, controllo visivo di documenti o ambienti, accessibilità per persone con disabilità visive, digitalizzazione di appunti. In molti di questi casi il sistema fornisce in pochi secondi una descrizione utile. Ma, come vedremo, la sua affidabilità varia molto a seconda del tipo di compito.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schermate meritano un approfondimento, perché sono probabilmente l'uso più frequente della comprensione visiva nel lavoro d'ufficio. Si fotografa o si cattura lo schermo e si chiede: che cosa significa questo errore? Come faccio a esportare questi dati? Dove si trova questa impostazione? Il sistema legge il testo dell'interfaccia, riconosce menu, pulsanti, campi, e può guidare passo per passo. È un supporto prezioso, che riduce le richieste ripetitive all'assistenza tecnica e aiuta con programmi poco familiari. Tre attenzioni. Prima: il sistema può riconoscere l'interfaccia ma non conoscere la versione specifica del programma o la configurazione aziendale, e suggerire passaggi che nel nostro caso non esistono. Seconda: le istruzioni operative su sistemi aziendali, specialmente quando comportano modifiche di configurazione o di dati, vanno seguite con prudenza, e in caso di dubbio con l'assistenza interna. Terza, la più importante: una schermata contiene spesso molto più di quanto si intende mostrare. Prima di condividerla, conviene ritagliarla sulla parte rilevante e verificare che non contenga dati personali, dati di clienti, credenziali, informazioni riservate in altre finestre o nelle notifiche.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Due compiti molto utili, con affidabilità diversa. Leggere il testo nelle immagini, compito che un tempo richiedeva software specifici di riconoscimento ottico, è oggi molto affidabile per testi stampati, chiari, in lingue diffuse. Diventa meno affidabile con scritture a mano, caratteri piccoli o sfocati, inclinazioni, riflessi, testi in lingue o alfabeti meno comuni. Gli errori più insidiosi riguardano numeri e codici: un 8 letto come 3, uno 0 come una O, una cifra saltata. A differenza delle parole, dove un errore produce spesso una parola senza senso facile da notare, un numero sbagliato resta un numero plausibile. Interpretare diagrammi, schemi di processo, organigrammi, mappe concettuali, è un compito più complesso, perché richiede di capire le relazioni tra gli elementi: le frecce, la gerarchia, la sequenza. I sistemi attuali lo fanno spesso bene con diagrammi semplici e ordinati, peggio con diagrammi densi, frecce che si incrociano, legende separate. L'analisi quantitativa dei grafici appartiene al Tema 9: qui ricordiamo solo che leggere valori da un grafico in un'immagine è un'operazione approssimativa, e i valori letti vanno trattati come stime.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sottotema chiede di conoscere i limiti nel riconoscimento dei dettagli. Pur essendo molto capaci, i sistemi di comprensione visiva hanno alcune debolezze ricorrenti, che è utile conoscere per sapere quando fidarsi meno. Contare: il numero di oggetti in un'immagine affollata è spesso approssimativo. Dettagli piccoli: un piccolo difetto, una cifra in un angolo, un'etichetta lontana possono non essere notati o essere letti male, anche perché le immagini vengono spesso ridotte di risoluzione prima dell'elaborazione. Relazioni spaziali: destra e sinistra, sopra e sotto, davanti e dietro, distanze e proporzioni sono fonte di errori frequenti. Orientamento e prospettiva: immagini ruotate, riflesse o con prospettive insolite. Elementi parzialmente nascosti o ambigui. In tutti questi casi, il problema è lo stesso visto per il testo nel Tema 3: il sistema risponde con la stessa sicurezza sia quando ha visto bene sia quando ha ricostruito in modo plausibile. Una tecnica pratica: per i dettagli importanti, chiedere al sistema dove si trova esattamente l'elemento descritto, e controllare; per i conteggi e le misure, considerare la risposta come una stima.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distinzione più importante del sottotema. Descrivere ciò che appare in un'immagine non equivale a comprenderne il significato, la provenienza o il contesto. L'esempio in slide lo mostra. Davanti alla fotografia di un magazzino con alcuni scaffali vuoti, un sistema può dare una descrizione accurata: scaffali metallici, alcuni pieni, alcuni vuoti, un carrello elevatore, luce artificiale. Fin qui, descrizione. Ma che cosa significa? Gli scaffali vuoti indicano una carenza di scorte, un'area appena svuotata per un inventario, un reparto in riorganizzazione, o un magazzino nuovo non ancora riempito? La foto è di oggi o di due anni fa? È davvero il nostro magazzino? Queste domande riguardano il significato, la provenienza e il contesto, e non trovano risposta nell'immagine. Il sistema, se gli si chiede un'interpretazione, ne fornirà una plausibile, spesso con la stessa sicurezza della descrizione. È lo stesso passaggio visto nel Tema 9 dalla descrizione all'interpretazione dei dati, e nel Tema 7 dalla descrizione al giudizio. Nelle immagini è particolarmente insidioso, perché ciò che si vede sembra parlare da sé.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aspetto delle immagini che merita attenzione specifica: la presenza di persone. Le fotografie e i video di lavoro contengono spesso persone: colleghi, clienti, visitatori, passanti. Tre considerazioni. La prima riguarda i dati personali: il volto e l'immagine di una persona sono dati personali, e caricarli in uno strumento AI è un trattamento di dati, che va fatto negli strumenti autorizzati e per finalità legittime. Le regole specifiche sono trattate nei Temi 17 e 18; qui basta ricordare che non si tratta di un'operazione neutra. La seconda riguarda il riconoscimento delle persone: molti strumenti di uso generale sono configurati per non identificare le persone dal volto, e l'identificazione biometrica è soggetta a limiti normativi specifici. Non è un compito per cui usare questi strumenti. La terza riguarda le inferenze: chiedere a un sistema di dedurre da una fotografia caratteristiche delle persone, come età, stato d'animo, intenzioni o condizioni personali, produce risposte che sembrano oggettive ma sono stime incerte, spesso influenzate da stereotipi, e possono essere usate in modo discriminatorio. Descrivere una scena è una cosa; giudicare le persone che vi compaiono è un'altra.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Concetto chiave del sottotema 10.2. I sistemi multimodali sanno interpretare fotografie, schermate, diagrammi e testo nelle immagini, con applicazioni concrete nel supporto tecnico, nella digitalizzazione, nell'accessibilità. Ma hanno limiti ricorrenti nei dettagli, nei conteggi, nelle relazioni spaziali e nei numeri, e rispondono con la stessa sicurezza quando vedono bene e quando ricostruiscono. Soprattutto, descrivere non è comprendere: significato, provenienza e contesto non sono nell'immagine. Le immagini con persone richiedono attenzioni specifiche. Esercizio suggerito: dare ai partecipanti una schermata o una foto fittizia con alcuni dettagli importanti piccoli, chiedere una descrizione all'AI e verificare quali dettagli sono stati letti correttamente, quali mancati e quali inventati.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Dalla comprensione alla generazione. I sistemi di generazione di immagini sono tra gli strumenti di AI più noti al grande pubblico: da una descrizione testuale producono in pochi secondi illustrazioni, immagini fotorealistiche, concept, varianti. Possono anche modificare immagini esistenti: aggiungere o rimuovere elementi, cambiare lo stile, adattare il formato. In questo sottotema, da conoscere e sperimentare, vediamo le possibilità e le applicazioni nella comunicazione aziendale, ma anche i limiti di precisione e di riproducibilità, e i requisiti professionali che la generazione non garantisce automaticamente. I modelli di diffusione, la tecnologia su cui si basano molti di questi sistemi, sono solo da accennare.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generazione di immagini da descrizioni testuali funziona così, dal punto di vista dell'utente: si descrive ciò che si vuole, e il sistema produce una o più immagini. La descrizione può indicare il soggetto, la composizione, lo stile, i colori, l'atmosfera, il formato. Il risultato può essere un'illustrazione, un'immagine dall'aspetto fotografico, uno schizzo, un'icona, un'immagine astratta. Le tecniche di formulazione delle richieste per le immagini sono specialistiche, e il documento chiede di non svilupparle; i principi generali del Tema 6 restano validi: chiarezza, contesto, esempi, iterazione. Il punto concettuale da cogliere è un altro: la descrizione non determina l'immagine in modo univoco. La stessa richiesta produce immagini diverse a ogni generazione, e molti dettagli non descritti vengono decisi dal sistema: il volto di una persona, la disposizione degli oggetti, la luce, lo sfondo. Questo è un vantaggio per l'esplorazione creativa, perché propone soluzioni a cui non si era pensato. Ed è un limite per il controllo: è difficile ottenere esattamente ciò che si ha in mente, e ancora più difficile ottenere di nuovo la stessa immagine. Per molti sistemi è possibile ripartire da un'immagine generata e chiederne modifiche, procedendo per affinamenti successivi.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tipologie di immagini che si possono generare sono molte, e il sottotema le elenca. Illustrazioni: immagini disegnate, in stili diversi, per accompagnare testi, presentazioni, materiali formativi. Immagini sintetiche dall'aspetto fotografico: ambienti, oggetti, scene, che sembrano fotografie ma non lo sono. Concept: bozze visive per esplorare un'idea, come l'allestimento di uno stand, il design di un packaging, l'atmosfera di una campagna, prima di affidarne la realizzazione a professionisti. Varianti visive: più versioni della stessa idea, con colori, composizioni o stili diversi, per confrontarle e scegliere. Elementi grafici: icone, sfondi, pattern, decorazioni. Il valore principale, nel contesto aziendale, è l'esplorazione rapida: vedere un'idea prima di investire nella sua realizzazione, provare dieci varianti in pochi minuti, dare forma visiva a un concetto astratto. Come accenna il documento, in contesti professionali la generazione è spesso un punto di partenza, non un prodotto finito: la produzione professionale richiede controllo creativo, revisione e, spesso, il lavoro di professionisti della comunicazione visiva.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Oltre a generare immagini nuove, i sistemi possono trasformare immagini esistenti. Il sottotema elenca le principali operazioni. Aggiungere elementi: inserire un oggetto, una persona, una scritta in una fotografia. Rimuovere elementi: cancellare un oggetto, un passante, un difetto, ricostruendo lo sfondo. Sostituire elementi: cambiare il colore di un prodotto, lo sfondo di una foto, un oggetto con un altro. Trasformare lo stile: rendere una fotografia un disegno, un acquerello, uno schizzo. Modificare la composizione: estendere un'immagine oltre i suoi bordi, cambiarne l'inquadratura. Adattare il formato: da orizzontale a verticale per i social, da alta a bassa risoluzione. Sono operazioni che un tempo richiedevano competenze di fotoritocco e ore di lavoro, e oggi si ottengono con una richiesta. Il loro valore pratico è evidente. Ma è proprio qui che nasce una delle questioni più importanti del tema, che svilupperemo nel 10.8: un'immagine modificata in modo realistico può non essere più distinguibile dall'originale. Rimuovere un elemento da una fotografia che documenta un fatto, come lo stato di un cantiere o un danno, cambia ciò che la fotografia documenta. Le modifiche alle immagini usate come documentazione richiedono quindi particolare cautela e trasparenza.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Vediamo alcune applicazioni concrete nella comunicazione aziendale, con il loro valore e la loro principale attenzione. Materiali interni, come presentazioni, newsletter, intranet, materiali formativi: illustrazioni per rendere più chiari e gradevoli i contenuti. È l'uso a minor rischio, a condizione di rispettare lo stile aziendale. Concept e prototipi visivi, per esplorare idee prima di affidarle a professionisti: grande risparmio di tempo nelle fasi iniziali; attenzione a non confondere il concept con il prodotto finale. Adattamento di materiali esistenti a formati diversi, per canali e destinatari differenti: rapido ed efficace; attenzione a mantenere la coerenza con l'originale e con l'identità visiva. Comunicazione esterna, come social, pubblicità, sito: possibile, ma è l'uso che richiede più attenzione, per i requisiti di marchio, i diritti, la rappresentazione delle persone e la trasparenza verso il pubblico sull'uso di immagini generate. In tutti i casi, le linee guida aziendali sull'uso delle immagini generate, quando esistono, vanno seguite. Se non esistono, è un buon segnale per chiederle.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sottotema chiede di conoscere i limiti nella precisione dei dettagli e nella riproducibilità. I principali, dal punto di vista dell'uso professionale. Il testo nelle immagini: i sistemi sono migliorati molto, ma scritte, etichette e numeri possono ancora risultare errati, deformati o inventati, specialmente se lunghi o in lingue meno comuni. I dettagli anatomici e strutturali: mani, dita, oggetti complessi, meccanismi, architetture possono contenere incoerenze che un occhio attento nota. La fedeltà ai riferimenti: chiedere di riprodurre un prodotto specifico, un luogo reale, un macchinario aziendale porta spesso a immagini simili ma non fedeli, con dettagli sbagliati che chi conosce l'oggetto riconosce subito. La riproducibilità: la stessa richiesta produce immagini diverse, e ottenere una serie di immagini coerenti tra loro, per esempio lo stesso personaggio in più scene o lo stesso prodotto da più angolazioni, è difficile, anche se alcuni strumenti offrono funzioni dedicate. Il controllo fine: spostare un elemento di pochi centimetri, cambiare un solo dettaglio senza alterare il resto, è spesso più difficile di quanto ci si aspetti. Per questi motivi, la generazione visiva è ottima per esplorare e meno adatta quando servono precisione e coerenza rigorose.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consapevolezza del sottotema dice che la generazione visiva non garantisce conformità automatica a requisiti professionali. Quali sono questi requisiti? Quattro famiglie. L'identità visiva: colori, caratteri, stile fotografico e regole d'uso del marchio aziendale. Un'immagine generata non li rispetta automaticamente, e i loghi in particolare vanno inseriti come elementi originali, non generati. I diritti: il documento chiede di introdurre il tema senza analisi normativa. Basti sapere che esistono questioni aperte sui diritti relativi alle immagini generate e ai dati usati per addestrare i sistemi, che le condizioni d'uso degli strumenti variano, e che generare immagini che imitano lo stile riconoscibile di un artista vivente, o riproducono personaggi, opere e marchi altrui, può creare problemi. Le persone: generare immagini di persone reali riconoscibili, colleghi, clienti, personaggi pubblici, solleva questioni di consenso, di immagine e di possibile inganno; molti strumenti lo limitano. La trasparenza: in alcuni contesti è opportuno, o richiesto, dichiarare che un'immagine è generata, specialmente quando potrebbe essere scambiata per una fotografia reale. Le regole specifiche sono trattate nei Temi 17 e 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Concetto chiave del sottotema 10.3. I sistemi generano illustrazioni, immagini sintetiche, concept e varianti, e modificano immagini esistenti aggiungendo, rimuovendo o sostituendo elementi, cambiando stile e formato. Il valore principale è l'esplorazione rapida. Ma la descrizione non determina l'immagine, i dettagli e i testi possono essere errati, la fedeltà ai riferimenti e la riproducibilità sono limitate, e requisiti di marchio, diritti, persone e trasparenza non sono garantiti automaticamente. Le modifiche a immagini usate come documentazione richiedono particolare cautela. Esercizio suggerito: chiedere ai partecipanti di generare un'immagine per una slide interna su un tema fittizio, poi valutarla con una breve lista di controllo: dettagli corretti, testo corretto, coerenza con lo stile aziendale, assenza di persone reali o marchi altrui.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Passiamo all'audio. Le tecnologie vocali sono forse quelle con l'impatto più immediato sul lavoro quotidiano: trascrivere riunioni, interviste e telefonate, produrne sintesi, interagire con un assistente a voce, tradurre il parlato, generare una voce che legge un testo. In questo sottotema, da conoscere e sperimentare, vediamo queste capacità, i loro limiti tipici, in particolare nel riconoscimento della terminologia e nell'attribuzione delle affermazioni agli interlocutori, e la prima delle integrazioni del tema: l'AI multimodale come strumento di accessibilità.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panoramica delle capacità che il sottotema elenca. Il riconoscimento del parlato: il sistema capisce che cosa viene detto. È alla base di tutte le altre. La trascrizione da audio a testo: una registrazione diventa un testo, eventualmente con l'indicazione di chi parla e dei tempi. La sintesi vocale: un testo viene letto da una voce artificiale, oggi molto naturale. L'interazione vocale: si conversa a voce con un assistente, con tempi di risposta sempre più simili a una conversazione umana. La traduzione del parlato: ciò che viene detto in una lingua viene restituito in un'altra, come testo o come voce, anche quasi in tempo reale. L'analisi e la sintesi di registrazioni: dal contenuto di una riunione o di un'intervista si ricavano un riassunto, le decisioni, le azioni, i temi principali. Le applicazioni più diffuse riguardano le riunioni, le interviste, le telefonate con i clienti, la formazione, la comunicazione multilingue, e l'accessibilità, che vedremo tra poco. La qualità di tutte queste capacità è molto migliorata negli ultimi anni, ma dipende fortemente dalla qualità dell'audio, dalla lingua, dagli accenti e dalla terminologia.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L'applicazione più diffusa delle tecnologie vocali in azienda è la trascrizione e la sintesi di riunioni. Molti strumenti di videoconferenza la offrono direttamente: al termine della riunione si ottengono la trascrizione completa, un riassunto, le decisioni e le azioni con i responsabili. Il valore è evidente: nessuno deve prendere appunti, chi era assente può recuperare, le azioni concordate non si perdono. Lo stesso vale per interviste, focus group, telefonate di assistenza, colloqui di formazione. Ma il passaggio dalla registrazione al verbale è una catena di trasformazioni, come vedremo nel 10.7, e ogni passaggio può introdurre errori: il riconoscimento può fraintendere parole, la trascrizione può attribuire frasi alla persona sbagliata, la sintesi può omettere obiezioni, trasformare un'ipotesi in una decisione, o un 'ci penso' in un 'sì', come abbiamo visto nel Tema 8 per i verbali. Due buone pratiche. Far rivedere il riassunto e le azioni a chi ha partecipato, prima di diffonderli. E conservare la trascrizione completa, o la registrazione quando consentito, come riferimento per verificare i punti controversi.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sottotema chiede di conoscere i limiti nel riconoscimento di voci e terminologia. Gli errori tipici delle trascrizioni sono prevedibili, e conoscerli aiuta a controllarle in modo mirato. Nomi propri: persone, aziende, prodotti, luoghi, specialmente se stranieri o poco comuni. Terminologia tecnica e sigle aziendali: parole che il sistema non conosce vengono sostituite con parole simili nel suono ma diverse nel significato. Numeri: cifre, importi, date, percentuali, dove un errore è grave e poco visibile, come 'quindici' e 'cinquanta', o 'diciotto per cento' e 'otto per cento'. Accenti, dialetti, voci poco chiare, persone che parlano velocemente. Sovrapposizioni: quando più persone parlano insieme, parti del discorso si perdono o si mescolano. Rumore di fondo e qualità della registrazione. Lingue miste: riunioni in cui si alternano italiano e inglese. Un fenomeno da conoscere, osservato in alcuni sistemi di trascrizione, è l'aggiunta di frasi mai pronunciate, specialmente durante pause o rumori: un caso di 'allucinazione' applicato all'audio. Alcuni strumenti permettono di fornire un vocabolario di termini specifici, che riduce gli errori su nomi e terminologia.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rischio specifico che il sottotema mette in evidenza: l'errore nell'attribuzione delle affermazioni agli interlocutori. Molti strumenti di trascrizione distinguono le voci e indicano chi sta parlando, una funzione chiamata diarizzazione. Quando le persone sono collegate con account separati in una videoconferenza, l'attribuzione è di solito affidabile. Quando invece più persone parlano nella stessa stanza con un solo microfono, o hanno voci simili, o si interrompono, l'attribuzione può essere sbagliata. L'esempio fittizio in slide mostra due versioni di uno stesso scambio: nella trascrizione, l'impegno a consegnare entro venerdì è attribuito alla persona sbagliata. In un verbale, questo errore cambia chi ha preso un impegno; in un'intervista, chi ha espresso un'opinione; in una telefonata con un cliente, chi ha promesso che cosa. Ed è un errore difficile da notare per chi non era presente, perché la trascrizione è coerente e ben formattata. Le conseguenze possono essere serie, specialmente per impegni, responsabilità e posizioni espresse in contesti delicati. Per questo, nei verbali e nei riassunti, le attribuzioni importanti vanno controllate da chi era presente.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Due capacità di generazione vocale. La sintesi vocale trasforma un testo in parlato. Le voci attuali sono molto naturali, con intonazione, pause ed espressività, in molte lingue. Applicazioni: narrazione di video formativi, lettura di documenti per chi preferisce ascoltare o non può leggere, messaggi vocali, assistenti telefonici, versioni audio di contenuti. Alcuni sistemi possono anche riprodurre la voce di una persona specifica a partire da pochi secondi di registrazione. È una capacità con usi legittimi, come dare voce a chi l'ha persa, ma anche con rischi seri di inganno, che vedremo nel 10.8: la voce di una persona non va riprodotta senza il suo consenso esplicito. L'interazione vocale permette di conversare a voce con un assistente: porre domande, dettare, ricevere risposte parlate. È utile quando le mani o gli occhi sono occupati, per chi ha difficoltà con la tastiera, o semplicemente perché parlare è più rapido che scrivere. Un'attenzione: nell'interazione vocale la risposta si ascolta una volta e non si rilegge, quindi è più difficile notarne gli errori. Per informazioni importanti, conviene chiedere anche la versione scritta.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traduzione del parlato combina riconoscimento, traduzione e, a volte, sintesi vocale. Può avvenire in modi diversi: sottotitoli tradotti in una videoconferenza, traduzione di una registrazione, conversazione bilingue quasi in tempo reale con un dispositivo che ascolta e traduce. Le opportunità sono grandi: riunioni con colleghi o clienti di altri paesi senza una lingua comune, formazione per personale di lingue diverse, assistenza a clienti stranieri. La qualità per le lingue più diffuse e per conversazioni ordinarie è oggi buona. Ma la traduzione del parlato somma i rischi di due passaggi: gli errori di riconoscimento visti prima, e quelli di traduzione visti nel Tema 8, come terminologia, sfumature, gradi di obbligo, registro. In più, la traduzione quasi in tempo reale ha meno contesto: traduce frase per frase, senza sapere come proseguirà il discorso. E chi ascolta la traduzione spesso non può verificarla, perché non conosce la lingua di partenza. Per questo, nelle conversazioni con conseguenze, come trattative, accordi, istruzioni di sicurezza, comunicazioni mediche o legali, la traduzione automatica del parlato può supportare ma non sostituire un interprete o una conferma scritta.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Un'integrazione del tema: l'AI multimodale come strumento di accessibilità. Trascrizioni, sottotitoli, descrizioni, sintesi vocale e traduzioni possono rendere le informazioni accessibili a persone con esigenze diverse. Le persone sorde o con difficoltà uditive possono seguire riunioni e video grazie ai sottotitoli automatici. Le persone cieche o ipovedenti possono ascoltare documenti con la sintesi vocale, e ricevere descrizioni di immagini e grafici, come visto nel 10.2. Le persone con dislessia o difficoltà di lettura possono ascoltare invece di leggere. Le persone con difficoltà motorie possono interagire con la voce invece che con la tastiera. Le persone che non conoscono bene la lingua possono ricevere traduzioni e versioni semplificate. E chiunque, in situazioni temporanee, come in viaggio, in un ambiente rumoroso, con le mani occupate, può beneficiare di modalità alternative. È uno dei contributi più concreti e meno discussi dell'AI multimodale, e un'opportunità per rendere più inclusiva la comunicazione aziendale. La consapevolezza del sottotema aggiunge però una condizione: trascrizioni e traduzioni richiedono controlli adeguati di accuratezza e contesto. Un sottotitolo sbagliato, per chi non può ascoltare l'audio, è un'informazione sbagliata che non ha modo di correggere.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considerazione pratica che riguarda tutte le applicazioni vocali sulle riunioni e sulle conversazioni: la registrazione e la trascrizione coinvolgono le voci e le parole di altre persone. Anche senza entrare nell'analisi normativa, che appartiene ai Temi 17 e 18, alcuni principi di buona pratica sono semplici. Informare i partecipanti che la conversazione viene registrata o trascritta, prima di iniziare, e rispettare chi preferisce di no. Usare solo strumenti autorizzati dall'azienda, perché una registrazione di una riunione contiene spesso informazioni riservate, e caricarla in uno strumento non autorizzato significa trasferirle fuori dal controllo aziendale. Fare attenzione alle conversazioni con esterni, come clienti, fornitori, candidati, per cui possono valere regole più stringenti. Non registrare di nascosto. Definire per quanto tempo conservare registrazioni e trascrizioni, e chi può accedervi. Molti strumenti di videoconferenza mostrano un avviso quando la trascrizione è attiva: è un buon punto di partenza, ma non sostituisce l'informazione esplicita ai partecipanti, specialmente quando la trascrizione viene poi elaborata da sistemi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Concetto chiave del sottotema 10.4. Le tecnologie vocali trascrivono, sintetizzano, traducono e permettono di interagire a voce, con applicazioni immediate a riunioni, interviste, comunicazioni e formazione, e un contributo importante all'accessibilità. Ma gli errori di riconoscimento su nomi, terminologia e numeri, e gli errori di attribuzione tra interlocutori, sono frequenti e poco visibili; la traduzione del parlato somma i rischi; le risposte vocali sono più difficili da controllare. Registrazioni e trascrizioni richiedono consenso e strumenti autorizzati. Esercizio suggerito: registrare, con il consenso dei partecipanti e uno strumento autorizzato, una breve discussione simulata con nomi, numeri e impegni, e confrontare la trascrizione e il riassunto automatici con quanto effettivamente detto.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video combina immagini, tempo e spesso audio, ed è la modalità più complessa. Il documento gli assegna priorità media e un livello di conoscenza: vogliamo che i partecipanti sappiano che cosa i sistemi possono fare oggi con i video, sia nell'analizzarli sia nel generarli, e quali sono i limiti principali. La produzione audiovisiva specialistica e l'editing professionale sono solo da accennare. Il punto concettuale del sottotema anticipa il 10.8: un video plausibile non è la prova che qualcosa sia accaduto.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sistemi multimodali possono analizzare filmati e sequenze audiovisive. Le capacità principali. Descrivere il contenuto: che cosa succede, chi compare, in quale ambiente. Identificare eventi e momenti: quando avviene un certo fatto, in quale punto del video si parla di un argomento. Riassumere: ricavare una sintesi di un video lungo, come una registrazione di un webinar, una lezione, una presentazione, combinando ciò che si vede e ciò che si sente. Estrarre informazioni: il testo che compare a schermo, le slide mostrate, i passaggi di una procedura dimostrata. Le applicazioni: rendere ricercabili archivi di video formativi, ricavare istruzioni scritte da un video dimostrativo, riassumere webinar, creare capitoli e indici. Un limite tecnico da conoscere: molti sistemi non analizzano ogni fotogramma, ma ne campionano alcuni a intervalli, per esempio uno al secondo o meno. Un evento rapido tra due fotogrammi campionati può sfuggire completamente. Inoltre, le relazioni temporali, come che cosa è successo prima e dopo, quanto è durato un evento, sono una fonte di errori frequente. Per i video usati come documentazione, la sintesi automatica è un indice utile, non un sostituto della visione dei passaggi rilevanti.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generazione di video è la capacità multimodale che è progredita più rapidamente negli ultimi anni. Oggi i sistemi possono generare brevi video da una descrizione testuale, animare un'immagine fissa, generare video a partire da altri video cambiandone lo stile, creare animazioni, produrre presentatori virtuali che leggono un testo con una voce sintetica. Possono anche modificare filmati esistenti: rimuovere elementi, cambiare lo sfondo, allungare una scena, tradurre il parlato sincronizzando il movimento delle labbra. Per la comunicazione e la formazione le opportunità sono concrete: video formativi prodotti e aggiornati rapidamente, versioni in più lingue di uno stesso video, animazioni per spiegare processi, brevi contenuti per la comunicazione interna. I limiti principali sono quelli del sottotema: la coerenza temporale e la continuità delle scene, perché oggetti e persone possono cambiare aspetto da un fotogramma all'altro, apparire o scomparire, muoversi in modo fisicamente impossibile; e il controllo degli eventi rappresentati, perché è difficile ottenere esattamente l'azione voluta, nella sequenza voluta. I video generati sono in genere brevi, e la produzione di video lunghi e coerenti richiede ancora un lavoro di montaggio e competenze specialistiche, da accennare.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distinzione più importante del sottotema: tra contenuto documentale e contenuto sintetico. Un video documentale è la registrazione di qualcosa che è accaduto davanti a una telecamera: una riunione, un evento, un'ispezione, una testimonianza. Il suo valore sta nel legame con la realtà. Un video sintetico è generato o profondamente modificato da un sistema: rappresenta qualcosa che può non essere mai accaduto. Il suo valore sta nella comunicazione, nella spiegazione, nella creatività. Entrambi sono legittimi, ma non vanno confusi. Il problema è che i video sintetici di alta qualità possono essere indistinguibili, a occhio, da quelli documentali. La consapevolezza del sottotema lo dice chiaramente: la coerenza visiva e la plausibilità di una sequenza video non dimostrano che gli eventi rappresentati siano realmente accaduti. Per molto tempo un video è stato considerato una prova particolarmente forte, più di una fotografia e molto più di un testo. Questa presunzione non è più fondata. Nella comunicazione aziendale ne derivano due regole. Quando si usa un video sintetico, dichiararlo, specialmente se rappresenta persone o situazioni realistiche. Quando si riceve un video come prova di qualcosa, chiedersi da dove viene, come vedremo nel 10.8.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Concetto chiave del sottotema 10.5. I sistemi possono descrivere, riassumere e indicizzare video, e generare o modificare brevi filmati, con opportunità concrete per la comunicazione e la formazione. Ma l'analisi può perdere eventi rapidi e sbagliare le relazioni temporali, e la generazione ha limiti di coerenza e di controllo. Soprattutto, contenuto documentale e contenuto sintetico vanno distinti: un video realistico non è più, di per sé, una prova. Esercizio suggerito: mostrare un breve video generato, privo di persone reali e marchi, insieme a un video reale di soggetto simile, e discutere quali elementi aiutano o non aiutano a distinguerli.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Un'applicazione specifica che combina testo e immagini: le presentazioni e i materiali di comunicazione. È un ambito in cui l'AI è entrata rapidamente nel lavoro quotidiano: dalla descrizione di un argomento, o da un documento, si ottengono in pochi minuti slide impaginate, schemi, infografiche. In questo sottotema, da conoscere e sperimentare, vediamo che cosa si può fare, come valutare la qualità comunicativa, e la distinzione che il sottotema mette al centro: qualità estetica e accuratezza informativa sono cose diverse. Il confine con il 10.7: qui descriviamo l'applicazione, lì il principio generale delle conversioni tra modalità.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possibilità che il sottotema elenca. Generare presentazioni da contenuti testuali: da una scaletta, da appunti, da una descrizione dell'argomento, il sistema produce un insieme di slide con titoli, punti, immagini e impaginazione. Trasformare documenti in materiali visivi: una relazione diventa una presentazione per la direzione, un manuale diventa una serie di schede, una procedura diventa un diagramma di flusso. Creare slide e schemi: diagrammi di processo, organigrammi, mappe concettuali, linee del tempo. Produrre infografiche: rappresentazioni visive sintetiche di informazioni e numeri. Organizzare visivamente le informazioni: scegliere che cosa mettere in evidenza, come raggrupparlo, in quale ordine presentarlo. Il valore principale è il tempo risparmiato nella parte più meccanica del lavoro, l'impaginazione, e la possibilità di partire da una struttura invece che da una pagina bianca. Questi strumenti possono essere integrati nei programmi di presentazione o essere servizi separati, e producono risultati di qualità molto variabile. In ogni caso, una presentazione generata è una bozza: struttura, contenuti e immagini vanno rivisti con la stessa attenzione di qualsiasi altro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delle possibilità più utili è l'adattamento di uno stesso contenuto a destinatari diversi, come visto nel Tema 8 per i testi. Da un unico documento di progetto si possono ottenere una presentazione sintetica per la direzione, con obiettivi, costi e rischi; una presentazione operativa per il gruppo di lavoro, con attività, tempi e responsabilità; un materiale formativo per chi dovrà usare il risultato, con istruzioni ed esempi; una scheda per la comunicazione interna, breve e visiva. L'AI è molto efficace in questo lavoro di adattamento, che a mano richiederebbe di ripartire più volte da capo. Il supporto alla comunicazione e alla formazione è uno degli usi più apprezzati: materiali formativi aggiornati rapidamente, versioni per livelli di esperienza diversi, schede riassuntive. Ma, come per i testi, ogni versione eredita gli errori della base, e ogni adattamento seleziona: la versione per la direzione può omettere un rischio importante, quella formativa può semplificare una regola fino a renderla scorretta. Ogni versione va controllata per il proprio destinatario.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sottotema chiede attenzione alla coerenza tra contenuti testuali e rappresentazioni visive. Quando un documento viene trasformato in un materiale visivo, possono nascere incoerenze tra ciò che dice il testo e ciò che mostra la grafica. L'esempio fittizio in slide mostra un'infografica generata da un rapporto: il testo del rapporto dice che le vendite online sono il 35 per cento del totale, ma il grafico a torta mostra una fetta che a occhio sembra metà; l'icona scelta per 'clienti business' rappresenta un consumatore con un carrello; la freccia del processo collega due fasi nell'ordine sbagliato. Sono errori tipici. Le proporzioni dei grafici decorativi non sempre corrispondono ai numeri, perché il sistema le disegna invece di calcolarle. Le icone e le immagini scelte possono suggerire significati diversi da quelli del testo. Gli schemi possono semplificare relazioni fino a renderle sbagliate. I numeri riportati nelle slide possono differire da quelli del documento di partenza, per arrotondamento o per errore. E il risultato è sempre visivamente gradevole, il che rende questi errori meno evidenti. Il controllo consiste nel confrontare ogni elemento visivo con il contenuto di partenza: numeri, proporzioni, sequenze, icone.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distinzione centrale del sottotema, e la sua consapevolezza: l'efficacia estetica di un materiale non garantisce accuratezza, completezza né coerenza narrativa. È un principio che abbiamo incontrato più volte: nel Tema 7 la fluidità del testo che produce fiducia, nel Tema 9 la comunicazione efficace che non garantisce un'interpretazione corretta. Nelle presentazioni il fenomeno è particolarmente forte, per due motivi. Primo, una presentazione curata visivamente comunica professionalità e affidabilità, e chi la guarda tende a fidarsi dei contenuti. Secondo, le presentazioni sono spesso viste velocemente, in riunione, senza il tempo di verificare. Il sottotema indica tre dimensioni da valutare oltre all'estetica. L'accuratezza: le informazioni sono corrette e corrispondono alla fonte? La completezza: manca qualcosa di importante, come un rischio, una condizione, un dato sfavorevole? La coerenza narrativa: la sequenza delle slide costruisce un ragionamento solido, o salta passaggi, presenta conclusioni non sostenute dalle slide precedenti? Con l'AI, l'estetica è quasi gratuita, come visto nel Tema 9 per i report: per questo l'attenzione va spostata sulle altre tre dimensioni.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Come si valuta, in pratica, un materiale di comunicazione prodotto con l'AI? Il sottotema parla di valutazione della qualità comunicativa. Proponiamo una breve lista di controllo, da applicare prima di usare o diffondere il materiale. Il messaggio: è chiaro qual è il messaggio principale, e lo si capisce in pochi secondi? Il destinatario: linguaggio, livello di dettaglio e tono sono adatti a chi lo riceverà? L'accuratezza: numeri, nomi, date, citazioni corrispondono alla fonte? La completezza: ci sono tutti gli elementi necessari, compresi rischi e limiti? La coerenza: testo, grafici, icone e immagini dicono la stessa cosa? La sequenza: l'ordine delle slide costruisce un ragionamento? La sobrietà: ci sono elementi decorativi superflui, testo eccessivo, immagini generiche che non aggiungono nulla? Le immagini: sono appropriate, rispettano l'identità visiva, non contengono persone reali o marchi altrui senza autorizzazione, e se sono generate è opportuno dichiararlo? Una lista così richiede pochi minuti, e intercetta la maggior parte dei problemi tipici. È anche un buon criterio per decidere quanto intervenire su una bozza generata.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Concetto chiave del sottotema 10.6. L'AI genera presentazioni, schemi e infografiche da testi e documenti, e adatta i materiali a destinatari diversi, con un grande risparmio di tempo nella parte meccanica del lavoro. Ma la coerenza tra testo e visivo non è garantita, gli adattamenti selezionano, e soprattutto l'estetica, ormai quasi gratuita, genera una fiducia che va spostata su accuratezza, completezza e coerenza narrativa. Una breve lista di controllo aiuta a valutare la qualità comunicativa. Esercizio suggerito: generare con l'AI una breve presentazione a partire da un documento fittizio di due pagine, e far applicare ai partecipanti la lista di controllo, contando gli interventi necessari.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Nei sottotemi precedenti abbiamo incontrato molte trasformazioni: dall'audio alla trascrizione, dal testo all'immagine, dal documento alla presentazione. In questo sottotema, da comprendere e sperimentare, le guardiamo insieme, come principio generale. Che cosa significa trasformare un contenuto da una modalità all'altra? Che cosa si guadagna e che cosa si può perdere? Due integrazioni sono centrali: l'accessibilità, perché le conversioni permettono modalità alternative di fruizione, e la coerenza delle informazioni tra modalità, perché ogni passaggio può introdurre omissioni, errori o variazioni di significato. Il confine con il 10.4: lì le capacità vocali, qui le catene tra modalità.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tabella in slide mostra le principali conversioni tra modalità, con un esempio per ciascuna. Dal testo all'immagine: un'illustrazione generata da una descrizione. Dal testo all'audio: un documento letto da una voce sintetica. Dal testo al video: un breve video generato da una sceneggiatura. Dall'immagine al testo: la descrizione di una fotografia o l'estrazione del testo da una schermata. Dall'audio al testo: la trascrizione di una riunione. Dal video al testo: la sintesi di un webinar. Dal documento alla presentazione: una relazione trasformata in slide. E le combinazioni: testo, voce e immagini insieme in un video formativo, o la creazione di un contenuto a partire da più fonti di natura diversa, come una registrazione, delle slide e un documento. Ogni conversione ha un valore pratico: rendere un contenuto più accessibile, più rapido da consumare, adatto a un altro canale o a un altro destinatario. E ogni conversione comporta una scelta su che cosa portare nella nuova forma e che cosa lasciare indietro, perché le modalità non sono equivalenti: un'immagine contiene informazioni che un testo non riesce a descrivere del tutto, e un testo contiene precisazioni che un'immagine non riesce a mostrare.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Spesso le trasformazioni non sono singole, ma formano catene. L'esempio in slide è tipico: una riunione viene registrata; la registrazione viene trascritta; la trascrizione viene riassunta; il riassunto viene trasformato in slide per la direzione; le slide vengono lette da una voce sintetica in un video di aggiornamento. Ogni passaggio è utile e, preso da solo, abbastanza affidabile. Ma gli errori si accumulano: una parola fraintesa nella trascrizione diventa un concetto sbagliato nel riassunto, che diventa un punto elenco nelle slide, che diventa un'affermazione nel video. E ogni passaggio seleziona: la trascrizione perde il tono e le esitazioni, il riassunto perde le obiezioni minori, le slide perdono le condizioni, il video perde la possibilità di rileggere. Alla fine della catena, il contenuto può essere molto lontano dall'originale, pur sembrando a ogni passaggio una trasformazione ragionevole del precedente. È il fenomeno del passaparola, applicato alle modalità. Due buone pratiche: limitare la lunghezza delle catene, partendo quando possibile dalla fonte originale invece che da una trasformazione intermedia; e, per i contenuti importanti, confrontare il risultato finale con la fonte originale, non solo con il passaggio precedente.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forma particolare di trasformazione è la creazione di contenuti a partire da più fonti di natura diversa. Per esempio, un verbale che combina la registrazione di una riunione, le slide proiettate e il documento discusso; un materiale formativo che integra un video dimostrativo, un manuale e le domande frequenti; un rapporto di sopralluogo che combina fotografie, note vocali e una lista di controllo. La combinazione ha un grande valore, perché ogni fonte compensa i limiti delle altre: le slide chiariscono a che cosa si riferiva una frase della registrazione, le fotografie documentano ciò che le note descrivono. Ma introduce un rischio specifico: il collegamento errato tra elementi di fonti diverse. Il sistema può attribuire un commento alla slide sbagliata, associare una fotografia alla nota di un'altra stanza, combinare un dato del documento con un'affermazione della registrazione che si riferiva ad altro. E il risultato combinato, ben integrato e scorrevole, non mostra le giunture tra le fonti, rendendo difficile capire da quale fonte venga ciascuna informazione. Per i contenuti importanti, conviene chiedere che ogni affermazione indichi la fonte da cui proviene, applicando alle modalità il principio di tracciabilità visto nel Tema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L'integrazione B torna in questo sottotema in forma generale: le conversioni tra modalità permettono modalità alternative di fruizione dei contenuti. Nel 10.4 l'abbiamo vista per l'audio; qui la estendiamo a tutte le modalità. Un contenuto disponibile in una sola modalità esclude chi non può o non riesce a usarla. Un contenuto disponibile in più modalità include. Le conversioni più utili per l'accessibilità: testi alternativi per le immagini, che descrivono a chi non vede ciò che l'immagine mostra; sottotitoli e trascrizioni per audio e video; versioni audio di documenti; descrizioni testuali di grafici e diagrammi; versioni semplificate di testi complessi; traduzioni. L'AI rende queste conversioni molto più rapide ed economiche, e quindi possibili su scala, per esempio su tutti i video formativi o su tutte le immagini della intranet. È un'opportunità concreta per rendere più inclusiva la comunicazione aziendale. Valgono però le stesse condizioni viste per tutte le trasformazioni: un testo alternativo generico, come 'immagine di un grafico', non aiuta; uno sbagliato, come una descrizione che inverte una tendenza, danneggia proprio chi non può verificare. Per i contenuti importanti, le conversioni per l'accessibilità vanno controllate come qualsiasi altro contenuto.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L'integrazione C del tema: la coerenza delle informazioni tra modalità diverse. Ogni passaggio tra formati può introdurre omissioni, errori o variazioni di significato, per cui occorre confrontare il contenuto risultante con quello di origine. Il sottotema la chiama coerenza semantica: il significato deve restare lo stesso, anche se la forma cambia. Le alterazioni tipiche sono tre, come abbiamo visto nel Tema 8 per i documenti, e qui si presentano in forme specifiche. Le omissioni: ciò che una modalità non riesce a esprimere si perde, come il tono ironico di una frase nella trascrizione, o una condizione scritta in piccolo che non entra nell'infografica. Le reinterpretazioni: la conversione impone un'interpretazione, come un'immagine generata da una descrizione ambigua, che sceglie una delle possibili letture, o una sintesi vocale che, con l'intonazione, trasforma una domanda in un'affermazione. Le alterazioni: un contenuto cambia, come un numero letto male in una schermata, o un'immagine generata che aggiunge dettagli non presenti nel testo. L'esempio fittizio in slide mostra una frase detta in riunione con tono dubitativo e la sua trascrizione, che la trasforma in un'affermazione. Nessun errore di parola, ma il significato è cambiato.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Come si controlla, in pratica, la fedeltà di una trasformazione tra modalità? Il principio è semplice: confrontare il contenuto risultante con quello di origine. La difficoltà è che le due modalità sono diverse, e il confronto richiede di passare dall'una all'altra. Alcune tecniche pratiche. Identificare prima gli elementi critici che devono sopravvivere alla trasformazione: numeri, nomi, impegni, condizioni, avvertenze, il messaggio principale. Controllare quegli elementi nel risultato, uno per uno. Per le trascrizioni, ascoltare i passaggi in cui compaiono numeri, nomi e decisioni. Per le immagini generate da testi, verificare che non aggiungano elementi non previsti e che rappresentino correttamente ciò che il testo dice. Per le presentazioni ricavate da documenti, confrontare numeri e conclusioni con il documento. Per le descrizioni di immagini, guardare l'immagine. Coinvolgere, quando serve, chi conosce l'originale: chi era presente alla riunione, chi ha scritto il documento. La consapevolezza del sottotema riassume il criterio: il valore delle conversioni è legato alla loro utilità e alla fedeltà delle informazioni, non soltanto alla comodità o alla rapidità del processo. Una conversione rapida ma infedele non fa risparmiare tempo: lo sposta su chi dovrà correggerne le conseguenze.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Concetto chiave del sottotema 10.7. Le conversioni tra modalità sono molte e utili: testo in immagine, audio in testo, documento in slide, più fonti in un unico contenuto. Rendono i contenuti più accessibili, rapidi da consumare, adatti a canali diversi. Ma le modalità non sono equivalenti, le catene accumulano errori, la combinazione di fonti può creare collegamenti errati, e ogni passaggio può omettere, reinterpretare o alterare. Il controllo consiste nel confrontare il risultato con l'origine sugli elementi critici. Esercizio suggerito: far percorrere ai partecipanti una catena di tre trasformazioni, per esempio da un breve audio fittizio a una trascrizione, a un riassunto, a una slide, e confrontare il risultato finale con l'audio originale, elencando che cosa si è perso o alterato.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Ultimo sottotema, di consapevolezza critica. Raccogliamo i limiti incontrati nel modulo e affrontiamo la questione più importante del tema: l'autenticità. Con la generazione di immagini, voci e video realistici, il legame tra ciò che sembra reale e ciò che è reale si è indebolito. In questo sottotema vediamo gli errori tipici dei contenuti multimodali, i contenuti sintetici realistici e i deepfake, la distinzione tra realismo, autenticità e accuratezza, il tema della provenienza, e introduciamo, senza analisi normativa, i diritti su contenuti, immagini e voci delle persone. La verifica forense tecnica è solo da accennare.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Riassumiamo gli errori tipici dei contenuti multimodali incontrati nel modulo, che il sottotema elenca. Errori di riconoscimento visivo: dettagli non visti, numeri letti male, conteggi sbagliati, relazioni spaziali invertite. Errori di riconoscimento sonoro: nomi, terminologia e numeri fraintesi, frasi aggiunte, affermazioni attribuite alla persona sbagliata. Incoerenze nei contenuti generati: dettagli anatomici o strutturali impossibili, testi deformati, oggetti che cambiano da un fotogramma all'altro. Alterazioni di immagini e materiali originali: modifiche che cambiano ciò che un'immagine documenta. Perdita di informazioni nei passaggi tra modalità: tono, condizioni, obiezioni, contesto. Accuratezza delle trascrizioni e fedeltà semantica delle trasformazioni. Non ripetiamo la teoria generale degli errori del Tema 3: il punto qui è che nei contenuti multimodali questi errori hanno una caratteristica comune. Sono difficili da vedere, perché il risultato è visivamente o acusticamente convincente, e perché controllare richiede di tornare a una modalità diversa: riascoltare, riguardare, confrontare. Come dice l'integrazione C: trasformazioni apparentemente corrette possono modificare informazioni rilevanti senza errori immediatamente evidenti.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contenuti sintetici realistici sono immagini, audio e video generati o modificati dall'AI in modo da sembrare registrazioni della realtà. Si parla di deepfake quando rappresentano persone reali che dicono o fanno cose che non hanno mai detto o fatto: un video in cui un dirigente annuncia una decisione, una telefonata con la voce di un collega, una fotografia di un evento mai accaduto. La tecnologia ha usi legittimi: doppiaggio, effetti speciali, formazione, accessibilità, satira dichiarata. Ma è anche usata per frodi, disinformazione, danni alla reputazione. In ambito aziendale il rischio più concreto è la frode basata sull'imitazione della voce o del volto di persone conosciute. Sono stati documentati casi di questo tipo: nel 2019 la stampa ha riportato il caso di un'azienda energetica britannica il cui amministratore trasferì circa 220.000 euro dopo una telefonata in cui la voce del suo superiore era stata imitata; nel 2024 è stato riportato il caso di una multinazionale in cui un dipendente della sede di Hong Kong trasferì l'equivalente di circa 25 milioni di dollari dopo una videochiamata in cui i colleghi, compreso il direttore finanziario, erano stati ricreati artificialmente. Lo schema è sempre simile: una richiesta urgente, da una persona di cui ci si fida, attraverso un canale che sembra sicuro.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cuore del sottotema e l'integrazione A del tema: contenuto realistico e contenuto autentico. Il documento propone di distinguere tre caratteristiche che nel linguaggio comune si confondono. Il realismo: il contenuto appare plausibile, sembra reale. Un'immagine sintetica può somigliare in tutto a una fotografia. L'autenticità: l'origine del contenuto è effettivamente accertabile. Un video ha una provenienza documentata: chi l'ha girato, quando, dove, con quale dispositivo. L'accuratezza: le informazioni rappresentate corrispondono ai fatti o alla fonte. Una descrizione riporta fedelmente quanto documentato. Le tre caratteristiche sono indipendenti, e il documento offre tre esempi. Un'immagine sintetica può essere realistica senza essere autentica come testimonianza di un evento. Una registrazione autentica può contenere affermazioni false: è vero che quella persona ha detto quelle cose, ma ciò che ha detto può essere sbagliato. Una presentazione dall'aspetto professionale può riportare dati inesatti. Il messaggio dell'integrazione: la somiglianza con la realtà non dimostra l'origine, l'autenticità o la verità di quanto rappresentato. Davanti a un contenuto multimodale, le tre domande vanno poste separatamente: sembra reale? Da dove viene? Ciò che mostra è vero?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 il realismo non basta, come si accerta l'autenticità? La risposta sta nella provenienza: la storia documentata di un contenuto, da chi l'ha creato a come è arrivato a noi. Esistono strumenti tecnici che aiutano. I metadati, cioè informazioni incorporate nei file, come data, dispositivo, posizione; ma si possono modificare o rimuovere facilmente. Le filigrane digitali, inserite da alcuni sistemi di generazione nei contenuti che producono, a volte invisibili; ma non tutti i sistemi le usano, e possono essere alterate. Gli standard di provenienza, come le credenziali di contenuto promosse dalla coalizione C2PA, che registrano in modo verificabile l'origine e le modifiche di un contenuto; utili, ma ancora non universalmente adottati. Le etichette applicate dalle piattaforme ai contenuti generati. Il documento ricorda un punto importante: anche etichette, metadati e informazioni sulla provenienza richiedono interpretazione, e non sempre costituiscono una prova definitiva della veridicità dei fatti rappresentati. L'assenza di un'etichetta non prova che un contenuto sia autentico. La verifica forense tecnica è solo da accennare. Per l'utente, la verifica più efficace è spesso di tipo organizzativo: risalire alla fonte, chiedere conferma attraverso un canale indipendente, confrontare con altre fonti.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Dal punto di vista pratico, la difesa più efficace contro le frodi basate su contenuti sintetici non è tecnica, ma organizzativa e comportamentale. Il motivo è che riconoscere un deepfake di buona qualità a occhio o a orecchio è sempre più difficile, e gli strumenti di rilevamento automatico non sono infallibili. Conviene quindi non basare decisioni importanti sul solo riconoscimento di una voce o di un volto. Le contromisure più efficaci. Verifica su un canale indipendente: davanti a una richiesta insolita, specialmente di pagamenti, credenziali o dati riservati, richiamare la persona a un numero noto, non a quello fornito nel messaggio, o confermare di persona. Procedure che non dipendono dalla voce: autorizzazioni a più firme, controlli incrociati, regole che non si possono saltare nemmeno per una richiesta del vertice. Diffidenza verso l'urgenza e la segretezza: sono i due ingredienti tipici delle frodi, perché impediscono la verifica. Parole o domande di controllo concordate per le situazioni delicate. Segnalazione: in caso di dubbio, segnalare alla sicurezza aziendale, anche se poi la richiesta si rivela autentica. Nessuno dovrebbe sentirsi in imbarazzo nel verificare una richiesta del proprio superiore: è una procedura, non una mancanza di fiducia.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sottotema include i rischi di comunicazione fuorviante, che riguardano non solo i contenuti ricevuti, ma anche quelli che produciamo. Un'azienda può comunicare in modo fuorviante con contenuti multimodali anche senza alcuna intenzione di ingannare. Alcuni esempi. Usare immagini generate che sembrano fotografie reali di prodotti, sedi, persone, eventi, senza dichiararlo: chi le vede può credere che documentino la realtà. Usare immagini generate di 'clienti' o 'dipendenti' che non esistono, in materiali che suggeriscono testimonianze reali. Modificare fotografie in modo da migliorare l'aspetto di un prodotto o di un luogo oltre il ritocco accettabile. Usare voci sintetiche che imitano persone reali, o presentatori virtuali senza chiarire che non sono persone. Presentare come documentazione un video o un'immagine ricostruiti. In ciascun caso, il problema non è l'uso dell'AI in sé, ma la differenza tra ciò che il contenuto sembra e ciò che è. Il principio guida è la trasparenza: quando un contenuto sintetico potrebbe essere scambiato per una rappresentazione della realtà, conviene dichiararlo. Alcune norme e piattaforme lo richiedono già esplicitamente. In particolare, dal 2 agosto 2026 l'articolo 50 dell'AI Act chiede a chi usa sistemi AI di dichiarare i contenuti deepfake, cioè immagini, audio o video che ritraggono in modo realistico persone, luoghi o eventi, e ai fornitori di sistemi generativi di marcare i contenuti prodotti in modo leggibile dalle macchine; per i sistemi già sul mercato prima di agosto, la marcatura è rinviata al 2 dicembre 2026 dal Regolamento 2026/1744 (Digital Omnibus). Nel giugno 2026 è stato finalizzato anche un codice di condotta europeo sulla trasparenza dei contenuti generati. Questi dettagli provengono in parte da fonti secondarie: da verificare sul testo ufficiale prima di ogni edizione. Le regole specifiche sono trattate nei Temi 17 e 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documento chiede di introdurre il tema dei diritti sui contenuti, sulle immagini e sulle voci delle persone, senza un'analisi normativa, che appartiene ai Temi 17 e 18. Ci limitiamo quindi a segnalare le questioni principali, perché i partecipanti sappiano riconoscere quando serve un approfondimento. I diritti sui contenuti di partenza: usare come base per una trasformazione un'immagine, un video, una musica, un testo di cui non si hanno i diritti non diventa lecito perché passa attraverso un sistema AI. I diritti sui contenuti generati: la titolarità dei contenuti prodotti con l'AI è una questione ancora in evoluzione, e le condizioni d'uso degli strumenti variano. L'immagine delle persone: usare il volto di una persona, anche modificato o in un contenuto generato, richiede di regola il suo consenso. La voce delle persone: anche la voce è un elemento dell'identità personale, e riprodurla o imitarla senza consenso è problematico, oltre che rischioso. Gli stili e le opere riconoscibili: imitare lo stile di un artista vivente, riprodurre personaggi, marchi, opere protette. Il comportamento pratico è semplice: nei casi dubbi, specialmente per contenuti destinati all'esterno, chiedere prima a chi in azienda si occupa di questi aspetti.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L'ultimo punto del sottotema: la necessità di verifica e supervisione, proporzionata all'uso, come in tutto il percorso. Proponiamo tre livelli, coerenti con quelli dei temi precedenti. Per uso personale o esplorativo, come capire una schermata, farsi un'idea di un video, generare un concept, basta un controllo di plausibilità e la consapevolezza dei limiti. Per uso interno, come verbali, materiali formativi, presentazioni interne, conviene controllare gli elementi critici sull'originale: numeri, nomi, impegni, attribuzioni, e far rivedere a chi conosce il contenuto. Per uso esterno o decisionale, come comunicazione al pubblico, materiali per clienti, contenuti usati come prova o documentazione, decisioni basate su immagini o registrazioni, serve una verifica completa: provenienza accertata, confronto sistematico con l'originale, diritti verificati, trasparenza sull'uso di contenuti sintetici, e il coinvolgimento delle funzioni competenti. Due fattori alzano il livello: la presenza di persone reali e la possibilità che il contenuto venga scambiato per una rappresentazione della realtà. La consapevolezza del sottotema chiude il tema: distinguere realismo, provenienza e accuratezza è essenziale per utilizzare in modo critico i contenuti multimodali.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Concetto chiave dell'ultimo sottotema. Gli errori dei contenuti multimodali sono difficili da vedere, perché il risultato è convincente e il controllo richiede di tornare a un'altra modalità. I contenuti sintetici realistici e i deepfake rendono necessario distinguere realismo, autenticità e accuratezza, e porre separatamente le tre domande. La provenienza si accerta con strumenti tecnici che vanno interpretati e, soprattutto, con verifiche organizzative. La comunicazione aziendale richiede trasparenza sull'uso di contenuti sintetici, e i diritti su contenuti, immagini e voci vanno considerati. Esercizio suggerito: presentare uno scenario fittizio di richiesta urgente via messaggio vocale da parte di un dirigente e discutere in gruppo quali verifiche fare e quali procedure aziendali le rendono possibili.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Torniamo alle dieci domande guida. Che cosa significa multimodale: lavorare con più modalità, testo, immagini, audio e video, con capacità che dipendono dal sistema. Interpretare, generare, trasformare: comprendere un contenuto, produrne uno nuovo, passarlo da una forma all'altra, con rischi diversi. Immagini, diagrammi e schermate: descrizione utile e rapida, con limiti nei dettagli, e descrivere non è comprendere. Generazione di immagini: esplorazione rapida, controllo e conformità non garantiti. Parlato e registrazioni: trascrizione, sintesi, traduzione, voce; attenzione a terminologia, numeri e attribuzioni. Video: analisi, sintesi, generazione di brevi filmati; documentale e sintetico vanno distinti. Presentazioni: bozze rapide; l'estetica non garantisce l'accuratezza. Che cosa si perde: tono, condizioni, contesto, e le catene accumulano errori. Realismo, autenticità, accuratezza: tre domande separate. Accessibilità: le conversioni tra modalità includono, purché controllate. Suggerimento: far rispondere i partecipanti prima di mostrare la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Riassumiamo i dodici risultati attesi. Il partecipante dovrebbe essere in grado di: spiegare il significato di AI multimodale; distinguere comprensione, generazione e trasformazione di contenuti; riconoscere applicazioni di interpretazione visiva; comprendere possibilità e limiti della generazione e modifica di immagini; conoscere le principali capacità relative ad audio e parlato; riconoscere opportunità e limiti relativi ai video; comprendere il supporto alla creazione di presentazioni e materiali comunicativi; individuare le possibilità di trasformazione tra modalità; riconoscere il contributo all'accessibilità; distinguere realismo, autenticità e accuratezza; identificare rischi di perdita del significato nelle trasformazioni; comprendere l'importanza di verificare provenienza, fedeltà e adeguatezza dei contenuti.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Traduciamo il modulo in una scheda pratica, organizzata per operazione. Interpretare: controllare i dettagli importanti, numeri e testi, guardando o ascoltando l'originale; ricordare che descrivere non è comprendere, e che significato, provenienza e contesto non sono nel contenuto. Generare: usare la generazione per esplorare; controllare dettagli, testi e coerenza; rispettare identità visiva, diritti e persone; dichiarare i contenuti sintetici che potrebbero sembrare reali. Trasformare: identificare gli elementi critici, limitare le catene, confrontare con l'originale, chiedere la fonte di ogni affermazione quando si combinano più contenuti. Valutare: porre separatamente le tre domande su realismo, autenticità e accuratezza; verificare le richieste insolite su canali indipendenti; proporzionare i controlli all'uso. E sempre: immagini, registrazioni e video aziendali solo negli strumenti autorizzati, con il consenso delle persone coinvolte. Il messaggio centrale del tema: il realismo non garantisce autenticità, e ogni trasformazione richiede attenzione alla fedeltà, alla correttezza e all'adeguatezza delle informazioni.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Chiudiamo con sei errori tipici nell'uso dell'AI multimodale, uno per ciascuno dei principali messaggi del modulo. Primo: 'l'ha letto dalla foto, quindi è giusto'. Numeri, codici e dettagli piccoli possono essere letti male o ricostruiti in modo plausibile: i punti critici si controllano sull'originale. Secondo: 'l'immagine generata è pronta per il cliente'. La generazione è ottima per esplorare, ma non garantisce fedeltà, rispetto del marchio, diritti e trasparenza. Terzo: 'la trascrizione è fedele'. Nomi, numeri, attribuzioni e frasi aggiunte sono gli errori tipici; le parti importanti le controlla chi era presente. Quarto: 'è un video, quindi è successo'. Coerenza visiva e realismo non dimostrano che gli eventi siano accaduti: conta la provenienza. Quinto: 'la slide è bella, quindi è corretta'. L'estetica è quasi gratuita, l'accuratezza no. Sesto: 'riconosco la voce del capo, quindi procedo'. Voce e volto possono essere imitati: le richieste urgenti e insolite si confermano su un canale indipendente. Suggerimento: chiedere ai partecipanti quale di questi errori ritengono più probabile nel proprio contesto.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 il Tema 10 completiamo l'esplorazione delle modalità: testi e documenti nel Tema 8, dati nel Tema 9, immagini, audio e video in questo tema. Il tema successivo, il Tema 11, è dedicato ad assistenti, agenti e automazioni: come l'AI possa evolvere da strumento conversazionale a componente operativa di attività e processi. Vedremo che cosa sono gli assistenti con strumenti e integrazioni, che cosa sono gli agenti AI, la differenza tra automazione tradizionale e intelligente, i livelli di autonomia e di supervisione umana, e le condizioni per un uso affidabile. Molte capacità viste finora, come la trascrizione di riunioni, la lettura di schermate, l'estrazione di dati dai documenti, diventeranno lì componenti di flussi di lavoro più ampi, e i principi di verifica e di fedeltà acquisteranno un peso ancora maggiore, perché gli errori potranno propagarsi in azioni e non solo in contenuti. I documenti di perimetro richiamano poi il Tema 12, sulla creazione di valore in azienda, e il Tema 14, su dati e conoscenza aziendale. Lasciare spazio alle domande finali. Slide facoltativa: se il modulo è presentato da solo o in una selezione di slide, può essere nascosta o tolta senza perdere nulla del contenuto.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fonti citate nel modulo. Per l'articolo 50 dell'AI Act: il rinvio al 2 dicembre 2026 della marcatura per i sistemi già sul mercato e il codice di condotta di giugno 2026 sono stati verificati su fonti secondarie a ottobre 2026; confermarli sul testo ufficiale e sul sito della Commissione europea. I due casi di frode sono stati riportati dalla stampa internazionale: conviene verificare le fonti e i dettagli aggiornati prima di citarli in aula. Le capacità degli strumenti multimodali, in particolare la generazione di video e di voci, evolvono molto rapidamente: prima di ogni edizione è consigliabile aggiornare esempi e dimostrazioni con gli strumenti autorizzati in azienda. Tutti gli esempi del modulo sono fittizi.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OLO">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40080" y="1097280"/>
            <a:ext cx="7863840" cy="365760"/>
          </a:xfrm>
          <a:prstGeom prst="rect">
            <a:avLst/>
          </a:prstGeom>
          <a:noFill/>
          <a:ln/>
        </p:spPr>
        <p:txBody>
          <a:bodyPr wrap="square" rtlCol="0"/>
          <a:lstStyle>
            <a:lvl1pPr indent="0" marL="0">
              <a:buNone/>
              <a:defRPr lang="en-US" sz="1300" b="1" spc="200" kern="0" dirty="0">
                <a:solidFill>
                  <a:schemeClr val="accent1"/>
                </a:solidFill>
              </a:defRPr>
            </a:lvl1pPr>
          </a:lstStyle>
          <a:p>
            <a:pPr indent="0" marL="0">
              <a:buNone/>
            </a:pPr>
            <a:endParaRPr lang="en-US" sz="1300" dirty="0"/>
          </a:p>
        </p:txBody>
      </p:sp>
      <p:sp>
        <p:nvSpPr>
          <p:cNvPr id="3" name="Text 0"/>
          <p:cNvSpPr/>
          <p:nvPr>
            <p:ph idx="101" type="title" hasCustomPrompt="1"/>
          </p:nvPr>
        </p:nvSpPr>
        <p:spPr>
          <a:xfrm>
            <a:off x="640080" y="1554480"/>
            <a:ext cx="7863840" cy="146304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4" name="Text 0"/>
          <p:cNvSpPr/>
          <p:nvPr>
            <p:ph idx="102" type="body" hasCustomPrompt="1"/>
          </p:nvPr>
        </p:nvSpPr>
        <p:spPr>
          <a:xfrm>
            <a:off x="640080" y="3154680"/>
            <a:ext cx="7863840" cy="822960"/>
          </a:xfrm>
          <a:prstGeom prst="rect">
            <a:avLst/>
          </a:prstGeom>
          <a:noFill/>
          <a:ln/>
        </p:spPr>
        <p:txBody>
          <a:bodyPr wrap="square" rtlCol="0"/>
          <a:lstStyle>
            <a:lvl1pPr indent="0" marL="0">
              <a:buNone/>
              <a:defRPr lang="en-US" sz="1600" dirty="0">
                <a:solidFill>
                  <a:schemeClr val="accent3"/>
                </a:solidFill>
              </a:defRPr>
            </a:lvl1pPr>
          </a:lstStyle>
          <a:p>
            <a:pPr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ZIONE">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40080" y="914400"/>
            <a:ext cx="3657600" cy="1005840"/>
          </a:xfrm>
          <a:prstGeom prst="rect">
            <a:avLst/>
          </a:prstGeom>
          <a:noFill/>
          <a:ln/>
        </p:spPr>
        <p:txBody>
          <a:bodyPr wrap="square" rtlCol="0"/>
          <a:lstStyle>
            <a:lvl1pPr indent="0" marL="0">
              <a:buNone/>
              <a:defRPr lang="en-US" sz="6000" b="1" dirty="0">
                <a:solidFill>
                  <a:schemeClr val="accent1"/>
                </a:solidFill>
              </a:defRPr>
            </a:lvl1pPr>
          </a:lstStyle>
          <a:p>
            <a:pPr indent="0" marL="0">
              <a:buNone/>
            </a:pPr>
            <a:endParaRPr lang="en-US" sz="6000" dirty="0"/>
          </a:p>
        </p:txBody>
      </p:sp>
      <p:sp>
        <p:nvSpPr>
          <p:cNvPr id="3" name="Text 0"/>
          <p:cNvSpPr/>
          <p:nvPr>
            <p:ph idx="101" type="title" hasCustomPrompt="1"/>
          </p:nvPr>
        </p:nvSpPr>
        <p:spPr>
          <a:xfrm>
            <a:off x="640080" y="2057400"/>
            <a:ext cx="7863840" cy="91440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4" name="Text 0"/>
          <p:cNvSpPr/>
          <p:nvPr>
            <p:ph idx="102" type="body" hasCustomPrompt="1"/>
          </p:nvPr>
        </p:nvSpPr>
        <p:spPr>
          <a:xfrm>
            <a:off x="640080" y="3063240"/>
            <a:ext cx="7315200" cy="1097280"/>
          </a:xfrm>
          <a:prstGeom prst="rect">
            <a:avLst/>
          </a:prstGeom>
          <a:noFill/>
          <a:ln/>
        </p:spPr>
        <p:txBody>
          <a:bodyPr wrap="square" rtlCol="0"/>
          <a:lstStyle>
            <a:lvl1pPr indent="0" marL="0">
              <a:buNone/>
              <a:defRPr lang="en-US" sz="1600" dirty="0">
                <a:solidFill>
                  <a:schemeClr val="accent3"/>
                </a:solidFill>
              </a:defRPr>
            </a:lvl1pPr>
          </a:lstStyle>
          <a:p>
            <a:pPr indent="0" marL="0">
              <a:buNone/>
            </a:pPr>
            <a:endParaRPr lang="en-US" sz="1600" dirty="0"/>
          </a:p>
        </p:txBody>
      </p:sp>
      <p:sp>
        <p:nvSpPr>
          <p:cNvPr id="5" name="Text 0"/>
          <p:cNvSpPr/>
          <p:nvPr/>
        </p:nvSpPr>
        <p:spPr>
          <a:xfrm>
            <a:off x="640080" y="4663440"/>
            <a:ext cx="6400800" cy="274320"/>
          </a:xfrm>
          <a:prstGeom prst="rect">
            <a:avLst/>
          </a:prstGeom>
          <a:noFill/>
          <a:ln/>
        </p:spPr>
        <p:txBody>
          <a:bodyPr wrap="square" lIns="0" tIns="0" rIns="0" bIns="0" rtlCol="0" anchor="ctr"/>
          <a:lstStyle/>
          <a:p>
            <a:pPr indent="0" marL="0">
              <a:buNone/>
            </a:pPr>
            <a:r>
              <a:rPr lang="en-US" sz="900" dirty="0">
                <a:solidFill>
                  <a:schemeClr val="accent2"/>
                </a:solidFill>
              </a:rPr>
              <a:t>AI Literacy  ·  Tema 10  ·  AI multimodale e creazione di contenuti</a:t>
            </a:r>
            <a:endParaRPr lang="en-US" sz="9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UTO">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rtlCol="0"/>
          <a:lstStyle>
            <a:lvl1pPr algn="l" indent="0" marL="0">
              <a:buNone/>
              <a:defRPr lang="en-US" sz="2600" b="1" dirty="0">
                <a:solidFill>
                  <a:schemeClr val="tx1"/>
                </a:solidFill>
              </a:defRPr>
            </a:lvl1pPr>
          </a:lstStyle>
          <a:p>
            <a:pPr algn="l" indent="0" marL="0">
              <a:buNone/>
            </a:pPr>
            <a:endParaRPr lang="en-US" sz="2600" dirty="0"/>
          </a:p>
        </p:txBody>
      </p:sp>
      <p:sp>
        <p:nvSpPr>
          <p:cNvPr id="3" name="Text 0"/>
          <p:cNvSpPr/>
          <p:nvPr/>
        </p:nvSpPr>
        <p:spPr>
          <a:xfrm>
            <a:off x="457200" y="4754880"/>
            <a:ext cx="6400800" cy="228600"/>
          </a:xfrm>
          <a:prstGeom prst="rect">
            <a:avLst/>
          </a:prstGeom>
          <a:noFill/>
          <a:ln/>
        </p:spPr>
        <p:txBody>
          <a:bodyPr wrap="square" lIns="0" tIns="0" rIns="0" bIns="0" rtlCol="0" anchor="ctr"/>
          <a:lstStyle/>
          <a:p>
            <a:pPr indent="0" marL="0">
              <a:buNone/>
            </a:pPr>
            <a:r>
              <a:rPr lang="en-US" sz="900" dirty="0">
                <a:solidFill>
                  <a:schemeClr val="accent2"/>
                </a:solidFill>
              </a:rPr>
              <a:t>AI Literacy  ·  Tema 10  ·  AI multimodale e creazione di contenuti</a:t>
            </a:r>
            <a:endParaRPr lang="en-US" sz="9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HIAVE">
    <p:bg>
      <p:bgPr>
        <a:solidFill>
          <a:schemeClr val="tx1"/>
        </a:solidFill>
      </p:bgPr>
    </p:bg>
    <p:spTree>
      <p:nvGrpSpPr>
        <p:cNvPr id="1" name=""/>
        <p:cNvGrpSpPr/>
        <p:nvPr/>
      </p:nvGrpSpPr>
      <p:grpSpPr>
        <a:xfrm>
          <a:off x="0" y="0"/>
          <a:ext cx="0" cy="0"/>
          <a:chOff x="0" y="0"/>
          <a:chExt cx="0" cy="0"/>
        </a:xfrm>
      </p:grpSpPr>
      <p:sp>
        <p:nvSpPr>
          <p:cNvPr id="2" name="Text 0"/>
          <p:cNvSpPr/>
          <p:nvPr/>
        </p:nvSpPr>
        <p:spPr>
          <a:xfrm>
            <a:off x="822960" y="1143000"/>
            <a:ext cx="5486400" cy="320040"/>
          </a:xfrm>
          <a:prstGeom prst="rect">
            <a:avLst/>
          </a:prstGeom>
          <a:noFill/>
          <a:ln/>
        </p:spPr>
        <p:txBody>
          <a:bodyPr wrap="square" lIns="0" tIns="0" rIns="0" bIns="0" rtlCol="0" anchor="ctr"/>
          <a:lstStyle/>
          <a:p>
            <a:pPr indent="0" marL="0">
              <a:buNone/>
            </a:pPr>
            <a:r>
              <a:rPr lang="en-US" sz="1300" b="1" spc="300" kern="0" dirty="0">
                <a:solidFill>
                  <a:schemeClr val="accent1"/>
                </a:solidFill>
              </a:rPr>
              <a:t>CONCETTO CHIAVE</a:t>
            </a:r>
            <a:endParaRPr lang="en-US" sz="1300" dirty="0"/>
          </a:p>
        </p:txBody>
      </p:sp>
      <p:sp>
        <p:nvSpPr>
          <p:cNvPr id="3" name="Text 1"/>
          <p:cNvSpPr/>
          <p:nvPr>
            <p:ph idx="101" type="body" hasCustomPrompt="1"/>
          </p:nvPr>
        </p:nvSpPr>
        <p:spPr>
          <a:xfrm>
            <a:off x="822960" y="1600200"/>
            <a:ext cx="7498080" cy="2011680"/>
          </a:xfrm>
          <a:prstGeom prst="rect">
            <a:avLst/>
          </a:prstGeom>
          <a:noFill/>
          <a:ln/>
        </p:spPr>
        <p:txBody>
          <a:bodyPr wrap="square" rtlCol="0"/>
          <a:lstStyle>
            <a:lvl1pPr indent="0" marL="0">
              <a:buNone/>
              <a:defRPr lang="en-US" sz="2600" dirty="0">
                <a:solidFill>
                  <a:schemeClr val="bg1"/>
                </a:solidFill>
              </a:defRPr>
            </a:lvl1pPr>
          </a:lstStyle>
          <a:p>
            <a:pPr indent="0" marL="0">
              <a:buNone/>
            </a:pPr>
            <a:endParaRPr lang="en-US" sz="2600" dirty="0"/>
          </a:p>
        </p:txBody>
      </p:sp>
      <p:sp>
        <p:nvSpPr>
          <p:cNvPr id="4" name="Text 1"/>
          <p:cNvSpPr/>
          <p:nvPr>
            <p:ph idx="102" type="body" hasCustomPrompt="1"/>
          </p:nvPr>
        </p:nvSpPr>
        <p:spPr>
          <a:xfrm>
            <a:off x="822960" y="3794760"/>
            <a:ext cx="7498080" cy="365760"/>
          </a:xfrm>
          <a:prstGeom prst="rect">
            <a:avLst/>
          </a:prstGeom>
          <a:noFill/>
          <a:ln/>
        </p:spPr>
        <p:txBody>
          <a:bodyPr wrap="square" rtlCol="0"/>
          <a:lstStyle>
            <a:lvl1pPr indent="0" marL="0">
              <a:buNone/>
              <a:defRPr lang="en-US" sz="1300" dirty="0">
                <a:solidFill>
                  <a:schemeClr val="accent3"/>
                </a:solidFill>
              </a:defRPr>
            </a:lvl1pPr>
          </a:lstStyle>
          <a:p>
            <a:pPr indent="0" marL="0">
              <a:buNone/>
            </a:pPr>
            <a:endParaRPr lang="en-US" sz="1300" dirty="0"/>
          </a:p>
        </p:txBody>
      </p:sp>
      <p:sp>
        <p:nvSpPr>
          <p:cNvPr id="5" name="Text 1"/>
          <p:cNvSpPr/>
          <p:nvPr/>
        </p:nvSpPr>
        <p:spPr>
          <a:xfrm>
            <a:off x="822960" y="4663440"/>
            <a:ext cx="6400800" cy="274320"/>
          </a:xfrm>
          <a:prstGeom prst="rect">
            <a:avLst/>
          </a:prstGeom>
          <a:noFill/>
          <a:ln/>
        </p:spPr>
        <p:txBody>
          <a:bodyPr wrap="square" lIns="0" tIns="0" rIns="0" bIns="0" rtlCol="0" anchor="ctr"/>
          <a:lstStyle/>
          <a:p>
            <a:pPr indent="0" marL="0">
              <a:buNone/>
            </a:pPr>
            <a:r>
              <a:rPr lang="en-US" sz="900" dirty="0">
                <a:solidFill>
                  <a:schemeClr val="accent2"/>
                </a:solidFill>
              </a:rPr>
              <a:t>AI Literacy  ·  Tema 10  ·  AI multimodale e creazione di contenuti</a:t>
            </a:r>
            <a:endParaRPr lang="en-US" sz="9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4.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4.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4.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4.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4.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slideLayout" Target="../slideLayouts/slideLayout4.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4.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4.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slideLayout" Target="../slideLayouts/slideLayout4.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4.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4.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slideLayout" Target="../slideLayouts/slideLayout4.xml"/><Relationship Id="rId8"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image" Target="../media/image-25-6.png"/><Relationship Id="rId7" Type="http://schemas.openxmlformats.org/officeDocument/2006/relationships/slideLayout" Target="../slideLayouts/slideLayout4.xml"/><Relationship Id="rId8"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slideLayout" Target="../slideLayouts/slideLayout4.xml"/><Relationship Id="rId6"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image" Target="../media/image-31-4.png"/><Relationship Id="rId5" Type="http://schemas.openxmlformats.org/officeDocument/2006/relationships/image" Target="../media/image-31-5.png"/><Relationship Id="rId6" Type="http://schemas.openxmlformats.org/officeDocument/2006/relationships/image" Target="../media/image-31-6.png"/><Relationship Id="rId7" Type="http://schemas.openxmlformats.org/officeDocument/2006/relationships/slideLayout" Target="../slideLayouts/slideLayout4.xml"/><Relationship Id="rId8"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slideLayout" Target="../slideLayouts/slideLayout4.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slideLayout" Target="../slideLayouts/slideLayout4.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slideLayout" Target="../slideLayouts/slideLayout4.xm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image" Target="../media/image-37-3.png"/><Relationship Id="rId4" Type="http://schemas.openxmlformats.org/officeDocument/2006/relationships/image" Target="../media/image-37-4.png"/><Relationship Id="rId5" Type="http://schemas.openxmlformats.org/officeDocument/2006/relationships/image" Target="../media/image-37-5.png"/><Relationship Id="rId6" Type="http://schemas.openxmlformats.org/officeDocument/2006/relationships/image" Target="../media/image-37-6.png"/><Relationship Id="rId7" Type="http://schemas.openxmlformats.org/officeDocument/2006/relationships/slideLayout" Target="../slideLayouts/slideLayout4.xml"/><Relationship Id="rId8"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image" Target="../media/image-41-3.png"/><Relationship Id="rId4" Type="http://schemas.openxmlformats.org/officeDocument/2006/relationships/image" Target="../media/image-41-4.png"/><Relationship Id="rId5" Type="http://schemas.openxmlformats.org/officeDocument/2006/relationships/slideLayout" Target="../slideLayouts/slideLayout4.xml"/><Relationship Id="rId6"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slideLayout" Target="../slideLayouts/slideLayout4.xml"/><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slideLayout" Target="../slideLayouts/slideLayout4.xml"/><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image" Target="../media/image-46-3.png"/><Relationship Id="rId4" Type="http://schemas.openxmlformats.org/officeDocument/2006/relationships/image" Target="../media/image-46-4.png"/><Relationship Id="rId5" Type="http://schemas.openxmlformats.org/officeDocument/2006/relationships/image" Target="../media/image-46-5.png"/><Relationship Id="rId6" Type="http://schemas.openxmlformats.org/officeDocument/2006/relationships/image" Target="../media/image-46-6.png"/><Relationship Id="rId7" Type="http://schemas.openxmlformats.org/officeDocument/2006/relationships/slideLayout" Target="../slideLayouts/slideLayout4.xml"/><Relationship Id="rId8"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4.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image" Target="../media/image-55-2.png"/><Relationship Id="rId3" Type="http://schemas.openxmlformats.org/officeDocument/2006/relationships/image" Target="../media/image-55-3.png"/><Relationship Id="rId4" Type="http://schemas.openxmlformats.org/officeDocument/2006/relationships/image" Target="../media/image-55-4.png"/><Relationship Id="rId5" Type="http://schemas.openxmlformats.org/officeDocument/2006/relationships/slideLayout" Target="../slideLayouts/slideLayout4.xml"/><Relationship Id="rId6"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image" Target="../media/image-62-2.png"/><Relationship Id="rId3" Type="http://schemas.openxmlformats.org/officeDocument/2006/relationships/slideLayout" Target="../slideLayouts/slideLayout4.xml"/><Relationship Id="rId4"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image" Target="../media/image-65-2.png"/><Relationship Id="rId3" Type="http://schemas.openxmlformats.org/officeDocument/2006/relationships/image" Target="../media/image-65-3.png"/><Relationship Id="rId4" Type="http://schemas.openxmlformats.org/officeDocument/2006/relationships/image" Target="../media/image-65-4.png"/><Relationship Id="rId5" Type="http://schemas.openxmlformats.org/officeDocument/2006/relationships/image" Target="../media/image-65-5.png"/><Relationship Id="rId6" Type="http://schemas.openxmlformats.org/officeDocument/2006/relationships/image" Target="../media/image-65-6.png"/><Relationship Id="rId7" Type="http://schemas.openxmlformats.org/officeDocument/2006/relationships/slideLayout" Target="../slideLayouts/slideLayout4.xml"/><Relationship Id="rId8"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image" Target="../media/image-67-2.png"/><Relationship Id="rId3" Type="http://schemas.openxmlformats.org/officeDocument/2006/relationships/image" Target="../media/image-67-3.png"/><Relationship Id="rId4" Type="http://schemas.openxmlformats.org/officeDocument/2006/relationships/image" Target="../media/image-67-4.png"/><Relationship Id="rId5" Type="http://schemas.openxmlformats.org/officeDocument/2006/relationships/image" Target="../media/image-67-5.png"/><Relationship Id="rId6" Type="http://schemas.openxmlformats.org/officeDocument/2006/relationships/image" Target="../media/image-67-6.png"/><Relationship Id="rId7" Type="http://schemas.openxmlformats.org/officeDocument/2006/relationships/slideLayout" Target="../slideLayouts/slideLayout4.xml"/><Relationship Id="rId8"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image" Target="../media/image-73-1.png"/><Relationship Id="rId2" Type="http://schemas.openxmlformats.org/officeDocument/2006/relationships/image" Target="../media/image-73-2.png"/><Relationship Id="rId3" Type="http://schemas.openxmlformats.org/officeDocument/2006/relationships/image" Target="../media/image-73-3.png"/><Relationship Id="rId4" Type="http://schemas.openxmlformats.org/officeDocument/2006/relationships/image" Target="../media/image-73-4.png"/><Relationship Id="rId5" Type="http://schemas.openxmlformats.org/officeDocument/2006/relationships/image" Target="../media/image-73-5.png"/><Relationship Id="rId6" Type="http://schemas.openxmlformats.org/officeDocument/2006/relationships/image" Target="../media/image-73-6.png"/><Relationship Id="rId7" Type="http://schemas.openxmlformats.org/officeDocument/2006/relationships/slideLayout" Target="../slideLayouts/slideLayout4.xml"/><Relationship Id="rId8"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image-75-1.png"/><Relationship Id="rId2" Type="http://schemas.openxmlformats.org/officeDocument/2006/relationships/slideLayout" Target="../slideLayouts/slideLayout4.xml"/><Relationship Id="rId3" Type="http://schemas.openxmlformats.org/officeDocument/2006/relationships/notesSlide" Target="../notesSlides/notesSlide7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640080" y="1097280"/>
            <a:ext cx="7863840" cy="365760"/>
          </a:xfrm>
          <a:prstGeom prst="rect">
            <a:avLst/>
          </a:prstGeom>
          <a:noFill/>
          <a:ln/>
        </p:spPr>
        <p:txBody>
          <a:bodyPr wrap="square" lIns="0" tIns="0" rIns="0" bIns="0" rtlCol="0"/>
          <a:lstStyle/>
          <a:p>
            <a:pPr indent="0" marL="0">
              <a:buNone/>
            </a:pPr>
            <a:r>
              <a:rPr lang="en-US" sz="1300" b="1" spc="200" kern="0" dirty="0">
                <a:solidFill>
                  <a:schemeClr val="accent1"/>
                </a:solidFill>
              </a:rPr>
              <a:t>PERCORSO AI LITERACY  ·  TEMA 10</a:t>
            </a:r>
            <a:endParaRPr lang="en-US" sz="1300" dirty="0"/>
          </a:p>
        </p:txBody>
      </p:sp>
      <p:sp>
        <p:nvSpPr>
          <p:cNvPr id="3" name="Text 0"/>
          <p:cNvSpPr/>
          <p:nvPr>
            <p:ph idx="101" type="title" hasCustomPrompt="1"/>
          </p:nvPr>
        </p:nvSpPr>
        <p:spPr>
          <a:xfrm>
            <a:off x="640080" y="1554480"/>
            <a:ext cx="7863840" cy="1463040"/>
          </a:xfrm>
          <a:prstGeom prst="rect">
            <a:avLst/>
          </a:prstGeom>
          <a:noFill/>
          <a:ln/>
        </p:spPr>
        <p:txBody>
          <a:bodyPr wrap="square" lIns="0" tIns="0" rIns="0" bIns="0" rtlCol="0" anchor="t"/>
          <a:lstStyle/>
          <a:p>
            <a:pPr algn="l" indent="0" marL="0">
              <a:buNone/>
            </a:pPr>
            <a:r>
              <a:rPr lang="en-US" sz="3600" b="1" dirty="0">
                <a:solidFill>
                  <a:schemeClr val="bg1"/>
                </a:solidFill>
              </a:rPr>
              <a:t>AI multimodale e creazione di contenuti</a:t>
            </a:r>
            <a:endParaRPr lang="en-US" sz="3600" dirty="0"/>
          </a:p>
        </p:txBody>
      </p:sp>
      <p:sp>
        <p:nvSpPr>
          <p:cNvPr id="4" name="Text 0"/>
          <p:cNvSpPr/>
          <p:nvPr>
            <p:ph idx="102" type="body" hasCustomPrompt="1"/>
          </p:nvPr>
        </p:nvSpPr>
        <p:spPr>
          <a:xfrm>
            <a:off x="640080" y="3154680"/>
            <a:ext cx="7863840" cy="822960"/>
          </a:xfrm>
          <a:prstGeom prst="rect">
            <a:avLst/>
          </a:prstGeom>
          <a:noFill/>
          <a:ln/>
        </p:spPr>
        <p:txBody>
          <a:bodyPr wrap="square" lIns="0" tIns="0" rIns="0" bIns="0" rtlCol="0" anchor="t"/>
          <a:lstStyle/>
          <a:p>
            <a:pPr indent="0" marL="0">
              <a:buNone/>
            </a:pPr>
            <a:r>
              <a:rPr lang="en-US" sz="1600" dirty="0">
                <a:solidFill>
                  <a:schemeClr val="accent3"/>
                </a:solidFill>
              </a:rPr>
              <a:t>Area: Esplorare le possibilità dell'AI</a:t>
            </a:r>
            <a:endParaRPr lang="en-US" sz="1600" dirty="0"/>
          </a:p>
        </p:txBody>
      </p:sp>
      <p:sp>
        <p:nvSpPr>
          <p:cNvPr id="5" name="Text 3"/>
          <p:cNvSpPr txBox="1"/>
          <p:nvPr/>
        </p:nvSpPr>
        <p:spPr>
          <a:xfrm>
            <a:off x="640080" y="4343400"/>
            <a:ext cx="5486400" cy="274320"/>
          </a:xfrm>
          <a:prstGeom prst="rect">
            <a:avLst/>
          </a:prstGeom>
          <a:noFill/>
          <a:ln/>
        </p:spPr>
        <p:txBody>
          <a:bodyPr wrap="square" lIns="0" tIns="0" rIns="0" bIns="0" rtlCol="0" anchor="t"/>
          <a:lstStyle/>
          <a:p>
            <a:pPr indent="0" marL="0">
              <a:buNone/>
            </a:pPr>
            <a:r>
              <a:rPr lang="en-US" sz="1100" dirty="0">
                <a:solidFill>
                  <a:schemeClr val="accent2"/>
                </a:solidFill>
              </a:rPr>
              <a:t>Contenuti aggiornati a ottobre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Obiettivo del modulo</a:t>
            </a:r>
            <a:endParaRPr lang="en-US" sz="2600" dirty="0"/>
          </a:p>
        </p:txBody>
      </p:sp>
      <p:sp>
        <p:nvSpPr>
          <p:cNvPr id="4" name="scheda Che cosa vogliamo sviluppare"/>
          <p:cNvSpPr/>
          <p:nvPr/>
        </p:nvSpPr>
        <p:spPr>
          <a:xfrm>
            <a:off x="457200" y="1097280"/>
            <a:ext cx="3977640" cy="3429000"/>
          </a:xfrm>
          <a:prstGeom prst="roundRect">
            <a:avLst>
              <a:gd name="adj" fmla="val 2133"/>
            </a:avLst>
          </a:prstGeom>
          <a:solidFill>
            <a:schemeClr val="bg2"/>
          </a:solidFill>
          <a:ln/>
        </p:spPr>
      </p:sp>
      <p:sp>
        <p:nvSpPr>
          <p:cNvPr id="5" name="cerchio FiTarget"/>
          <p:cNvSpPr/>
          <p:nvPr/>
        </p:nvSpPr>
        <p:spPr>
          <a:xfrm>
            <a:off x="640080" y="1280160"/>
            <a:ext cx="457200" cy="457200"/>
          </a:xfrm>
          <a:prstGeom prst="ellipse">
            <a:avLst/>
          </a:prstGeom>
          <a:solidFill>
            <a:schemeClr val="accent1"/>
          </a:solidFill>
          <a:ln/>
        </p:spPr>
      </p:sp>
      <p:pic>
        <p:nvPicPr>
          <p:cNvPr id="6" name="Image 0" descr="FiTarget">    </p:cNvPr>
          <p:cNvPicPr>
            <a:picLocks noChangeAspect="1"/>
          </p:cNvPicPr>
          <p:nvPr/>
        </p:nvPicPr>
        <p:blipFill>
          <a:blip r:embed="rId1"/>
          <a:stretch>
            <a:fillRect/>
          </a:stretch>
        </p:blipFill>
        <p:spPr>
          <a:xfrm>
            <a:off x="754380" y="1394460"/>
            <a:ext cx="228600" cy="228600"/>
          </a:xfrm>
          <a:prstGeom prst="rect">
            <a:avLst/>
          </a:prstGeom>
        </p:spPr>
      </p:pic>
      <p:sp>
        <p:nvSpPr>
          <p:cNvPr id="7" name="Text 3"/>
          <p:cNvSpPr txBox="1"/>
          <p:nvPr/>
        </p:nvSpPr>
        <p:spPr>
          <a:xfrm>
            <a:off x="640080" y="1847088"/>
            <a:ext cx="3611880" cy="347472"/>
          </a:xfrm>
          <a:prstGeom prst="rect">
            <a:avLst/>
          </a:prstGeom>
          <a:noFill/>
          <a:ln/>
        </p:spPr>
        <p:txBody>
          <a:bodyPr wrap="square" lIns="0" tIns="0" rIns="0" bIns="0" rtlCol="0" anchor="t"/>
          <a:lstStyle/>
          <a:p>
            <a:pPr indent="0" marL="0">
              <a:buNone/>
            </a:pPr>
            <a:r>
              <a:rPr lang="en-US" sz="1600" b="1" dirty="0">
                <a:solidFill>
                  <a:schemeClr val="tx1"/>
                </a:solidFill>
              </a:rPr>
              <a:t>Che cosa vogliamo sviluppare</a:t>
            </a:r>
            <a:endParaRPr lang="en-US" sz="1600" dirty="0"/>
          </a:p>
        </p:txBody>
      </p:sp>
      <p:sp>
        <p:nvSpPr>
          <p:cNvPr id="8" name="Text 4"/>
          <p:cNvSpPr txBox="1"/>
          <p:nvPr/>
        </p:nvSpPr>
        <p:spPr>
          <a:xfrm>
            <a:off x="640080" y="2231136"/>
            <a:ext cx="3611880" cy="2185416"/>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2"/>
                </a:solidFill>
              </a:rPr>
              <a:t>Conoscere le possibilità dell'AI su immagini, audio e video</a:t>
            </a:r>
            <a:endParaRPr lang="en-US" sz="1400" dirty="0"/>
          </a:p>
          <a:p>
            <a:pPr marL="177800" indent="-177800">
              <a:spcAft>
                <a:spcPts val="600"/>
              </a:spcAft>
              <a:buSzPct val="100000"/>
              <a:buChar char="•"/>
            </a:pPr>
            <a:r>
              <a:rPr lang="en-US" sz="1400" dirty="0">
                <a:solidFill>
                  <a:schemeClr val="tx2"/>
                </a:solidFill>
              </a:rPr>
              <a:t>Distinguere interpretare, generare e trasformare</a:t>
            </a:r>
            <a:endParaRPr lang="en-US" sz="1400" dirty="0"/>
          </a:p>
          <a:p>
            <a:pPr marL="177800" indent="-177800">
              <a:spcAft>
                <a:spcPts val="600"/>
              </a:spcAft>
              <a:buSzPct val="100000"/>
              <a:buChar char="•"/>
            </a:pPr>
            <a:r>
              <a:rPr lang="en-US" sz="1400" dirty="0">
                <a:solidFill>
                  <a:schemeClr val="tx2"/>
                </a:solidFill>
              </a:rPr>
              <a:t>Riconoscere opportunità, condizioni di efficacia e limiti</a:t>
            </a:r>
            <a:endParaRPr lang="en-US" sz="1400" dirty="0"/>
          </a:p>
        </p:txBody>
      </p:sp>
      <p:sp>
        <p:nvSpPr>
          <p:cNvPr id="9" name="scheda Quale consapevolezza"/>
          <p:cNvSpPr/>
          <p:nvPr/>
        </p:nvSpPr>
        <p:spPr>
          <a:xfrm>
            <a:off x="4709160" y="1097280"/>
            <a:ext cx="3977640" cy="3429000"/>
          </a:xfrm>
          <a:prstGeom prst="roundRect">
            <a:avLst>
              <a:gd name="adj" fmla="val 2133"/>
            </a:avLst>
          </a:prstGeom>
          <a:solidFill>
            <a:schemeClr val="accent6"/>
          </a:solidFill>
          <a:ln/>
        </p:spPr>
      </p:sp>
      <p:sp>
        <p:nvSpPr>
          <p:cNvPr id="10" name="cerchio FiCompass"/>
          <p:cNvSpPr/>
          <p:nvPr/>
        </p:nvSpPr>
        <p:spPr>
          <a:xfrm>
            <a:off x="4892040" y="1280160"/>
            <a:ext cx="457200" cy="457200"/>
          </a:xfrm>
          <a:prstGeom prst="ellipse">
            <a:avLst/>
          </a:prstGeom>
          <a:solidFill>
            <a:schemeClr val="accent1"/>
          </a:solidFill>
          <a:ln/>
        </p:spPr>
      </p:sp>
      <p:pic>
        <p:nvPicPr>
          <p:cNvPr id="11" name="Image 1" descr="FiCompass">    </p:cNvPr>
          <p:cNvPicPr>
            <a:picLocks noChangeAspect="1"/>
          </p:cNvPicPr>
          <p:nvPr/>
        </p:nvPicPr>
        <p:blipFill>
          <a:blip r:embed="rId2"/>
          <a:stretch>
            <a:fillRect/>
          </a:stretch>
        </p:blipFill>
        <p:spPr>
          <a:xfrm>
            <a:off x="5006340" y="1394460"/>
            <a:ext cx="228600" cy="228600"/>
          </a:xfrm>
          <a:prstGeom prst="rect">
            <a:avLst/>
          </a:prstGeom>
        </p:spPr>
      </p:pic>
      <p:sp>
        <p:nvSpPr>
          <p:cNvPr id="12" name="Text 7"/>
          <p:cNvSpPr txBox="1"/>
          <p:nvPr/>
        </p:nvSpPr>
        <p:spPr>
          <a:xfrm>
            <a:off x="4892040" y="1847088"/>
            <a:ext cx="3611880" cy="347472"/>
          </a:xfrm>
          <a:prstGeom prst="rect">
            <a:avLst/>
          </a:prstGeom>
          <a:noFill/>
          <a:ln/>
        </p:spPr>
        <p:txBody>
          <a:bodyPr wrap="square" lIns="0" tIns="0" rIns="0" bIns="0" rtlCol="0" anchor="t"/>
          <a:lstStyle/>
          <a:p>
            <a:pPr indent="0" marL="0">
              <a:buNone/>
            </a:pPr>
            <a:r>
              <a:rPr lang="en-US" sz="1600" b="1" dirty="0">
                <a:solidFill>
                  <a:schemeClr val="tx1"/>
                </a:solidFill>
              </a:rPr>
              <a:t>Quale consapevolezza</a:t>
            </a:r>
            <a:endParaRPr lang="en-US" sz="1600" dirty="0"/>
          </a:p>
        </p:txBody>
      </p:sp>
      <p:sp>
        <p:nvSpPr>
          <p:cNvPr id="13" name="Text 8"/>
          <p:cNvSpPr txBox="1"/>
          <p:nvPr/>
        </p:nvSpPr>
        <p:spPr>
          <a:xfrm>
            <a:off x="4892040" y="2231136"/>
            <a:ext cx="3611880" cy="2185416"/>
          </a:xfrm>
          <a:prstGeom prst="rect">
            <a:avLst/>
          </a:prstGeom>
          <a:noFill/>
          <a:ln/>
        </p:spPr>
        <p:txBody>
          <a:bodyPr wrap="square" lIns="0" tIns="0" rIns="0" bIns="0" rtlCol="0" anchor="t"/>
          <a:lstStyle/>
          <a:p>
            <a:pPr indent="0" marL="0">
              <a:buNone/>
            </a:pPr>
            <a:r>
              <a:rPr lang="en-US" sz="1400" dirty="0">
                <a:solidFill>
                  <a:schemeClr val="tx2"/>
                </a:solidFill>
              </a:rPr>
              <a:t>Un contenuto realistico non è necessariamente autentico.</a:t>
            </a:r>
            <a:endParaRPr lang="en-US" sz="1400" dirty="0"/>
          </a:p>
          <a:p>
            <a:pPr indent="0" marL="0">
              <a:buNone/>
            </a:pPr>
            <a:endParaRPr lang="en-US" sz="1400" dirty="0"/>
          </a:p>
          <a:p>
            <a:pPr indent="0" marL="0">
              <a:buNone/>
            </a:pPr>
            <a:r>
              <a:rPr lang="en-US" sz="1400" dirty="0">
                <a:solidFill>
                  <a:schemeClr val="tx2"/>
                </a:solidFill>
              </a:rPr>
              <a:t>Ogni passaggio tra modalità può introdurre errori, omissioni o alterazioni del significato.</a:t>
            </a:r>
            <a:endParaRPr lang="en-US" sz="1400" dirty="0"/>
          </a:p>
          <a:p>
            <a:pPr indent="0" marL="0">
              <a:buNone/>
            </a:pPr>
            <a:endParaRPr lang="en-US" sz="1400" dirty="0"/>
          </a:p>
          <a:p>
            <a:pPr indent="0" marL="0">
              <a:buNone/>
            </a:pPr>
            <a:r>
              <a:rPr lang="en-US" sz="1400" dirty="0">
                <a:solidFill>
                  <a:schemeClr val="tx2"/>
                </a:solidFill>
              </a:rPr>
              <a:t>Le capacità dipendono dal sistema, non dall'etichetta 'multimodale'.</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Dieci domande guida</a:t>
            </a:r>
            <a:endParaRPr lang="en-US" sz="2600" dirty="0"/>
          </a:p>
        </p:txBody>
      </p:sp>
      <p:sp>
        <p:nvSpPr>
          <p:cNvPr id="4" name="domanda 1"/>
          <p:cNvSpPr/>
          <p:nvPr/>
        </p:nvSpPr>
        <p:spPr>
          <a:xfrm>
            <a:off x="457200" y="1097280"/>
            <a:ext cx="1543507" cy="1463040"/>
          </a:xfrm>
          <a:prstGeom prst="roundRect">
            <a:avLst>
              <a:gd name="adj" fmla="val 5000"/>
            </a:avLst>
          </a:prstGeom>
          <a:solidFill>
            <a:schemeClr val="bg2"/>
          </a:solidFill>
          <a:ln/>
        </p:spPr>
      </p:sp>
      <p:sp>
        <p:nvSpPr>
          <p:cNvPr id="5" name="Text 2"/>
          <p:cNvSpPr txBox="1"/>
          <p:nvPr/>
        </p:nvSpPr>
        <p:spPr>
          <a:xfrm>
            <a:off x="594360" y="1188720"/>
            <a:ext cx="548640" cy="384048"/>
          </a:xfrm>
          <a:prstGeom prst="rect">
            <a:avLst/>
          </a:prstGeom>
          <a:noFill/>
          <a:ln/>
        </p:spPr>
        <p:txBody>
          <a:bodyPr wrap="square" lIns="0" tIns="0" rIns="0" bIns="0" rtlCol="0" anchor="t"/>
          <a:lstStyle/>
          <a:p>
            <a:pPr indent="0" marL="0">
              <a:buNone/>
            </a:pPr>
            <a:r>
              <a:rPr lang="en-US" sz="2000" b="1" dirty="0">
                <a:solidFill>
                  <a:schemeClr val="accent1"/>
                </a:solidFill>
              </a:rPr>
              <a:t>1</a:t>
            </a:r>
            <a:endParaRPr lang="en-US" sz="2000" dirty="0"/>
          </a:p>
        </p:txBody>
      </p:sp>
      <p:sp>
        <p:nvSpPr>
          <p:cNvPr id="6" name="Text 3"/>
          <p:cNvSpPr txBox="1"/>
          <p:nvPr/>
        </p:nvSpPr>
        <p:spPr>
          <a:xfrm>
            <a:off x="594360" y="1600200"/>
            <a:ext cx="1314907" cy="914400"/>
          </a:xfrm>
          <a:prstGeom prst="rect">
            <a:avLst/>
          </a:prstGeom>
          <a:noFill/>
          <a:ln/>
        </p:spPr>
        <p:txBody>
          <a:bodyPr wrap="square" lIns="0" tIns="0" rIns="0" bIns="0" rtlCol="0" anchor="t"/>
          <a:lstStyle/>
          <a:p>
            <a:pPr indent="0" marL="0">
              <a:buNone/>
            </a:pPr>
            <a:r>
              <a:rPr lang="en-US" sz="1200" dirty="0">
                <a:solidFill>
                  <a:schemeClr val="tx1"/>
                </a:solidFill>
              </a:rPr>
              <a:t>Che cosa significa AI multimodale?</a:t>
            </a:r>
            <a:endParaRPr lang="en-US" sz="1200" dirty="0"/>
          </a:p>
        </p:txBody>
      </p:sp>
      <p:sp>
        <p:nvSpPr>
          <p:cNvPr id="7" name="domanda 2"/>
          <p:cNvSpPr/>
          <p:nvPr/>
        </p:nvSpPr>
        <p:spPr>
          <a:xfrm>
            <a:off x="2128723" y="1097280"/>
            <a:ext cx="1543507" cy="1463040"/>
          </a:xfrm>
          <a:prstGeom prst="roundRect">
            <a:avLst>
              <a:gd name="adj" fmla="val 5000"/>
            </a:avLst>
          </a:prstGeom>
          <a:solidFill>
            <a:schemeClr val="bg2"/>
          </a:solidFill>
          <a:ln/>
        </p:spPr>
      </p:sp>
      <p:sp>
        <p:nvSpPr>
          <p:cNvPr id="8" name="Text 5"/>
          <p:cNvSpPr txBox="1"/>
          <p:nvPr/>
        </p:nvSpPr>
        <p:spPr>
          <a:xfrm>
            <a:off x="2265883" y="1188720"/>
            <a:ext cx="548640" cy="384048"/>
          </a:xfrm>
          <a:prstGeom prst="rect">
            <a:avLst/>
          </a:prstGeom>
          <a:noFill/>
          <a:ln/>
        </p:spPr>
        <p:txBody>
          <a:bodyPr wrap="square" lIns="0" tIns="0" rIns="0" bIns="0" rtlCol="0" anchor="t"/>
          <a:lstStyle/>
          <a:p>
            <a:pPr indent="0" marL="0">
              <a:buNone/>
            </a:pPr>
            <a:r>
              <a:rPr lang="en-US" sz="2000" b="1" dirty="0">
                <a:solidFill>
                  <a:schemeClr val="accent1"/>
                </a:solidFill>
              </a:rPr>
              <a:t>2</a:t>
            </a:r>
            <a:endParaRPr lang="en-US" sz="2000" dirty="0"/>
          </a:p>
        </p:txBody>
      </p:sp>
      <p:sp>
        <p:nvSpPr>
          <p:cNvPr id="9" name="Text 6"/>
          <p:cNvSpPr txBox="1"/>
          <p:nvPr/>
        </p:nvSpPr>
        <p:spPr>
          <a:xfrm>
            <a:off x="2265883" y="1600200"/>
            <a:ext cx="1314907" cy="914400"/>
          </a:xfrm>
          <a:prstGeom prst="rect">
            <a:avLst/>
          </a:prstGeom>
          <a:noFill/>
          <a:ln/>
        </p:spPr>
        <p:txBody>
          <a:bodyPr wrap="square" lIns="0" tIns="0" rIns="0" bIns="0" rtlCol="0" anchor="t"/>
          <a:lstStyle/>
          <a:p>
            <a:pPr indent="0" marL="0">
              <a:buNone/>
            </a:pPr>
            <a:r>
              <a:rPr lang="en-US" sz="1200" dirty="0">
                <a:solidFill>
                  <a:schemeClr val="tx1"/>
                </a:solidFill>
              </a:rPr>
              <a:t>Interpretare, generare, trasformare: che differenza c'è?</a:t>
            </a:r>
            <a:endParaRPr lang="en-US" sz="1200" dirty="0"/>
          </a:p>
        </p:txBody>
      </p:sp>
      <p:sp>
        <p:nvSpPr>
          <p:cNvPr id="10" name="domanda 3"/>
          <p:cNvSpPr/>
          <p:nvPr/>
        </p:nvSpPr>
        <p:spPr>
          <a:xfrm>
            <a:off x="3800246" y="1097280"/>
            <a:ext cx="1543507" cy="1463040"/>
          </a:xfrm>
          <a:prstGeom prst="roundRect">
            <a:avLst>
              <a:gd name="adj" fmla="val 5000"/>
            </a:avLst>
          </a:prstGeom>
          <a:solidFill>
            <a:schemeClr val="bg2"/>
          </a:solidFill>
          <a:ln/>
        </p:spPr>
      </p:sp>
      <p:sp>
        <p:nvSpPr>
          <p:cNvPr id="11" name="Text 8"/>
          <p:cNvSpPr txBox="1"/>
          <p:nvPr/>
        </p:nvSpPr>
        <p:spPr>
          <a:xfrm>
            <a:off x="3937406" y="1188720"/>
            <a:ext cx="548640" cy="384048"/>
          </a:xfrm>
          <a:prstGeom prst="rect">
            <a:avLst/>
          </a:prstGeom>
          <a:noFill/>
          <a:ln/>
        </p:spPr>
        <p:txBody>
          <a:bodyPr wrap="square" lIns="0" tIns="0" rIns="0" bIns="0" rtlCol="0" anchor="t"/>
          <a:lstStyle/>
          <a:p>
            <a:pPr indent="0" marL="0">
              <a:buNone/>
            </a:pPr>
            <a:r>
              <a:rPr lang="en-US" sz="2000" b="1" dirty="0">
                <a:solidFill>
                  <a:schemeClr val="accent1"/>
                </a:solidFill>
              </a:rPr>
              <a:t>3</a:t>
            </a:r>
            <a:endParaRPr lang="en-US" sz="2000" dirty="0"/>
          </a:p>
        </p:txBody>
      </p:sp>
      <p:sp>
        <p:nvSpPr>
          <p:cNvPr id="12" name="Text 9"/>
          <p:cNvSpPr txBox="1"/>
          <p:nvPr/>
        </p:nvSpPr>
        <p:spPr>
          <a:xfrm>
            <a:off x="3937406" y="1600200"/>
            <a:ext cx="1314907" cy="914400"/>
          </a:xfrm>
          <a:prstGeom prst="rect">
            <a:avLst/>
          </a:prstGeom>
          <a:noFill/>
          <a:ln/>
        </p:spPr>
        <p:txBody>
          <a:bodyPr wrap="square" lIns="0" tIns="0" rIns="0" bIns="0" rtlCol="0" anchor="t"/>
          <a:lstStyle/>
          <a:p>
            <a:pPr indent="0" marL="0">
              <a:buNone/>
            </a:pPr>
            <a:r>
              <a:rPr lang="en-US" sz="1200" dirty="0">
                <a:solidFill>
                  <a:schemeClr val="tx1"/>
                </a:solidFill>
              </a:rPr>
              <a:t>Come comprende immagini, diagrammi e schermate?</a:t>
            </a:r>
            <a:endParaRPr lang="en-US" sz="1200" dirty="0"/>
          </a:p>
        </p:txBody>
      </p:sp>
      <p:sp>
        <p:nvSpPr>
          <p:cNvPr id="13" name="domanda 4"/>
          <p:cNvSpPr/>
          <p:nvPr/>
        </p:nvSpPr>
        <p:spPr>
          <a:xfrm>
            <a:off x="5471770" y="1097280"/>
            <a:ext cx="1543507" cy="1463040"/>
          </a:xfrm>
          <a:prstGeom prst="roundRect">
            <a:avLst>
              <a:gd name="adj" fmla="val 5000"/>
            </a:avLst>
          </a:prstGeom>
          <a:solidFill>
            <a:schemeClr val="bg2"/>
          </a:solidFill>
          <a:ln/>
        </p:spPr>
      </p:sp>
      <p:sp>
        <p:nvSpPr>
          <p:cNvPr id="14" name="Text 11"/>
          <p:cNvSpPr txBox="1"/>
          <p:nvPr/>
        </p:nvSpPr>
        <p:spPr>
          <a:xfrm>
            <a:off x="5608930" y="1188720"/>
            <a:ext cx="548640" cy="384048"/>
          </a:xfrm>
          <a:prstGeom prst="rect">
            <a:avLst/>
          </a:prstGeom>
          <a:noFill/>
          <a:ln/>
        </p:spPr>
        <p:txBody>
          <a:bodyPr wrap="square" lIns="0" tIns="0" rIns="0" bIns="0" rtlCol="0" anchor="t"/>
          <a:lstStyle/>
          <a:p>
            <a:pPr indent="0" marL="0">
              <a:buNone/>
            </a:pPr>
            <a:r>
              <a:rPr lang="en-US" sz="2000" b="1" dirty="0">
                <a:solidFill>
                  <a:schemeClr val="accent1"/>
                </a:solidFill>
              </a:rPr>
              <a:t>4</a:t>
            </a:r>
            <a:endParaRPr lang="en-US" sz="2000" dirty="0"/>
          </a:p>
        </p:txBody>
      </p:sp>
      <p:sp>
        <p:nvSpPr>
          <p:cNvPr id="15" name="Text 12"/>
          <p:cNvSpPr txBox="1"/>
          <p:nvPr/>
        </p:nvSpPr>
        <p:spPr>
          <a:xfrm>
            <a:off x="5608930" y="1600200"/>
            <a:ext cx="1314907" cy="914400"/>
          </a:xfrm>
          <a:prstGeom prst="rect">
            <a:avLst/>
          </a:prstGeom>
          <a:noFill/>
          <a:ln/>
        </p:spPr>
        <p:txBody>
          <a:bodyPr wrap="square" lIns="0" tIns="0" rIns="0" bIns="0" rtlCol="0" anchor="t"/>
          <a:lstStyle/>
          <a:p>
            <a:pPr indent="0" marL="0">
              <a:buNone/>
            </a:pPr>
            <a:r>
              <a:rPr lang="en-US" sz="1200" dirty="0">
                <a:solidFill>
                  <a:schemeClr val="tx1"/>
                </a:solidFill>
              </a:rPr>
              <a:t>Possibilità e limiti della generazione di immagini?</a:t>
            </a:r>
            <a:endParaRPr lang="en-US" sz="1200" dirty="0"/>
          </a:p>
        </p:txBody>
      </p:sp>
      <p:sp>
        <p:nvSpPr>
          <p:cNvPr id="16" name="domanda 5"/>
          <p:cNvSpPr/>
          <p:nvPr/>
        </p:nvSpPr>
        <p:spPr>
          <a:xfrm>
            <a:off x="7143293" y="1097280"/>
            <a:ext cx="1543507" cy="1463040"/>
          </a:xfrm>
          <a:prstGeom prst="roundRect">
            <a:avLst>
              <a:gd name="adj" fmla="val 5000"/>
            </a:avLst>
          </a:prstGeom>
          <a:solidFill>
            <a:schemeClr val="bg2"/>
          </a:solidFill>
          <a:ln/>
        </p:spPr>
      </p:sp>
      <p:sp>
        <p:nvSpPr>
          <p:cNvPr id="17" name="Text 14"/>
          <p:cNvSpPr txBox="1"/>
          <p:nvPr/>
        </p:nvSpPr>
        <p:spPr>
          <a:xfrm>
            <a:off x="7280453" y="1188720"/>
            <a:ext cx="548640" cy="384048"/>
          </a:xfrm>
          <a:prstGeom prst="rect">
            <a:avLst/>
          </a:prstGeom>
          <a:noFill/>
          <a:ln/>
        </p:spPr>
        <p:txBody>
          <a:bodyPr wrap="square" lIns="0" tIns="0" rIns="0" bIns="0" rtlCol="0" anchor="t"/>
          <a:lstStyle/>
          <a:p>
            <a:pPr indent="0" marL="0">
              <a:buNone/>
            </a:pPr>
            <a:r>
              <a:rPr lang="en-US" sz="2000" b="1" dirty="0">
                <a:solidFill>
                  <a:schemeClr val="accent1"/>
                </a:solidFill>
              </a:rPr>
              <a:t>5</a:t>
            </a:r>
            <a:endParaRPr lang="en-US" sz="2000" dirty="0"/>
          </a:p>
        </p:txBody>
      </p:sp>
      <p:sp>
        <p:nvSpPr>
          <p:cNvPr id="18" name="Text 15"/>
          <p:cNvSpPr txBox="1"/>
          <p:nvPr/>
        </p:nvSpPr>
        <p:spPr>
          <a:xfrm>
            <a:off x="7280453" y="1600200"/>
            <a:ext cx="1314907" cy="914400"/>
          </a:xfrm>
          <a:prstGeom prst="rect">
            <a:avLst/>
          </a:prstGeom>
          <a:noFill/>
          <a:ln/>
        </p:spPr>
        <p:txBody>
          <a:bodyPr wrap="square" lIns="0" tIns="0" rIns="0" bIns="0" rtlCol="0" anchor="t"/>
          <a:lstStyle/>
          <a:p>
            <a:pPr indent="0" marL="0">
              <a:buNone/>
            </a:pPr>
            <a:r>
              <a:rPr lang="en-US" sz="1200" dirty="0">
                <a:solidFill>
                  <a:schemeClr val="tx1"/>
                </a:solidFill>
              </a:rPr>
              <a:t>Come elabora parlato e registrazioni?</a:t>
            </a:r>
            <a:endParaRPr lang="en-US" sz="1200" dirty="0"/>
          </a:p>
        </p:txBody>
      </p:sp>
      <p:sp>
        <p:nvSpPr>
          <p:cNvPr id="19" name="domanda 6"/>
          <p:cNvSpPr/>
          <p:nvPr/>
        </p:nvSpPr>
        <p:spPr>
          <a:xfrm>
            <a:off x="457200" y="2697480"/>
            <a:ext cx="1543507" cy="1463040"/>
          </a:xfrm>
          <a:prstGeom prst="roundRect">
            <a:avLst>
              <a:gd name="adj" fmla="val 5000"/>
            </a:avLst>
          </a:prstGeom>
          <a:solidFill>
            <a:schemeClr val="bg2"/>
          </a:solidFill>
          <a:ln/>
        </p:spPr>
      </p:sp>
      <p:sp>
        <p:nvSpPr>
          <p:cNvPr id="20" name="Text 17"/>
          <p:cNvSpPr txBox="1"/>
          <p:nvPr/>
        </p:nvSpPr>
        <p:spPr>
          <a:xfrm>
            <a:off x="594360" y="2788920"/>
            <a:ext cx="548640" cy="384048"/>
          </a:xfrm>
          <a:prstGeom prst="rect">
            <a:avLst/>
          </a:prstGeom>
          <a:noFill/>
          <a:ln/>
        </p:spPr>
        <p:txBody>
          <a:bodyPr wrap="square" lIns="0" tIns="0" rIns="0" bIns="0" rtlCol="0" anchor="t"/>
          <a:lstStyle/>
          <a:p>
            <a:pPr indent="0" marL="0">
              <a:buNone/>
            </a:pPr>
            <a:r>
              <a:rPr lang="en-US" sz="2000" b="1" dirty="0">
                <a:solidFill>
                  <a:schemeClr val="accent1"/>
                </a:solidFill>
              </a:rPr>
              <a:t>6</a:t>
            </a:r>
            <a:endParaRPr lang="en-US" sz="2000" dirty="0"/>
          </a:p>
        </p:txBody>
      </p:sp>
      <p:sp>
        <p:nvSpPr>
          <p:cNvPr id="21" name="Text 18"/>
          <p:cNvSpPr txBox="1"/>
          <p:nvPr/>
        </p:nvSpPr>
        <p:spPr>
          <a:xfrm>
            <a:off x="594360" y="3200400"/>
            <a:ext cx="1314907" cy="914400"/>
          </a:xfrm>
          <a:prstGeom prst="rect">
            <a:avLst/>
          </a:prstGeom>
          <a:noFill/>
          <a:ln/>
        </p:spPr>
        <p:txBody>
          <a:bodyPr wrap="square" lIns="0" tIns="0" rIns="0" bIns="0" rtlCol="0" anchor="t"/>
          <a:lstStyle/>
          <a:p>
            <a:pPr indent="0" marL="0">
              <a:buNone/>
            </a:pPr>
            <a:r>
              <a:rPr lang="en-US" sz="1200" dirty="0">
                <a:solidFill>
                  <a:schemeClr val="tx1"/>
                </a:solidFill>
              </a:rPr>
              <a:t>Quali capacità applicate ai video?</a:t>
            </a:r>
            <a:endParaRPr lang="en-US" sz="1200" dirty="0"/>
          </a:p>
        </p:txBody>
      </p:sp>
      <p:sp>
        <p:nvSpPr>
          <p:cNvPr id="22" name="domanda 7"/>
          <p:cNvSpPr/>
          <p:nvPr/>
        </p:nvSpPr>
        <p:spPr>
          <a:xfrm>
            <a:off x="2128723" y="2697480"/>
            <a:ext cx="1543507" cy="1463040"/>
          </a:xfrm>
          <a:prstGeom prst="roundRect">
            <a:avLst>
              <a:gd name="adj" fmla="val 5000"/>
            </a:avLst>
          </a:prstGeom>
          <a:solidFill>
            <a:schemeClr val="bg2"/>
          </a:solidFill>
          <a:ln/>
        </p:spPr>
      </p:sp>
      <p:sp>
        <p:nvSpPr>
          <p:cNvPr id="23" name="Text 20"/>
          <p:cNvSpPr txBox="1"/>
          <p:nvPr/>
        </p:nvSpPr>
        <p:spPr>
          <a:xfrm>
            <a:off x="2265883" y="2788920"/>
            <a:ext cx="548640" cy="384048"/>
          </a:xfrm>
          <a:prstGeom prst="rect">
            <a:avLst/>
          </a:prstGeom>
          <a:noFill/>
          <a:ln/>
        </p:spPr>
        <p:txBody>
          <a:bodyPr wrap="square" lIns="0" tIns="0" rIns="0" bIns="0" rtlCol="0" anchor="t"/>
          <a:lstStyle/>
          <a:p>
            <a:pPr indent="0" marL="0">
              <a:buNone/>
            </a:pPr>
            <a:r>
              <a:rPr lang="en-US" sz="2000" b="1" dirty="0">
                <a:solidFill>
                  <a:schemeClr val="accent1"/>
                </a:solidFill>
              </a:rPr>
              <a:t>7</a:t>
            </a:r>
            <a:endParaRPr lang="en-US" sz="2000" dirty="0"/>
          </a:p>
        </p:txBody>
      </p:sp>
      <p:sp>
        <p:nvSpPr>
          <p:cNvPr id="24" name="Text 21"/>
          <p:cNvSpPr txBox="1"/>
          <p:nvPr/>
        </p:nvSpPr>
        <p:spPr>
          <a:xfrm>
            <a:off x="2265883" y="3200400"/>
            <a:ext cx="1314907" cy="914400"/>
          </a:xfrm>
          <a:prstGeom prst="rect">
            <a:avLst/>
          </a:prstGeom>
          <a:noFill/>
          <a:ln/>
        </p:spPr>
        <p:txBody>
          <a:bodyPr wrap="square" lIns="0" tIns="0" rIns="0" bIns="0" rtlCol="0" anchor="t"/>
          <a:lstStyle/>
          <a:p>
            <a:pPr indent="0" marL="0">
              <a:buNone/>
            </a:pPr>
            <a:r>
              <a:rPr lang="en-US" sz="1200" dirty="0">
                <a:solidFill>
                  <a:schemeClr val="tx1"/>
                </a:solidFill>
              </a:rPr>
              <a:t>Come supporta presentazioni e materiali?</a:t>
            </a:r>
            <a:endParaRPr lang="en-US" sz="1200" dirty="0"/>
          </a:p>
        </p:txBody>
      </p:sp>
      <p:sp>
        <p:nvSpPr>
          <p:cNvPr id="25" name="domanda 8"/>
          <p:cNvSpPr/>
          <p:nvPr/>
        </p:nvSpPr>
        <p:spPr>
          <a:xfrm>
            <a:off x="3800246" y="2697480"/>
            <a:ext cx="1543507" cy="1463040"/>
          </a:xfrm>
          <a:prstGeom prst="roundRect">
            <a:avLst>
              <a:gd name="adj" fmla="val 5000"/>
            </a:avLst>
          </a:prstGeom>
          <a:solidFill>
            <a:schemeClr val="bg2"/>
          </a:solidFill>
          <a:ln/>
        </p:spPr>
      </p:sp>
      <p:sp>
        <p:nvSpPr>
          <p:cNvPr id="26" name="Text 23"/>
          <p:cNvSpPr txBox="1"/>
          <p:nvPr/>
        </p:nvSpPr>
        <p:spPr>
          <a:xfrm>
            <a:off x="3937406" y="2788920"/>
            <a:ext cx="548640" cy="384048"/>
          </a:xfrm>
          <a:prstGeom prst="rect">
            <a:avLst/>
          </a:prstGeom>
          <a:noFill/>
          <a:ln/>
        </p:spPr>
        <p:txBody>
          <a:bodyPr wrap="square" lIns="0" tIns="0" rIns="0" bIns="0" rtlCol="0" anchor="t"/>
          <a:lstStyle/>
          <a:p>
            <a:pPr indent="0" marL="0">
              <a:buNone/>
            </a:pPr>
            <a:r>
              <a:rPr lang="en-US" sz="2000" b="1" dirty="0">
                <a:solidFill>
                  <a:schemeClr val="accent1"/>
                </a:solidFill>
              </a:rPr>
              <a:t>8</a:t>
            </a:r>
            <a:endParaRPr lang="en-US" sz="2000" dirty="0"/>
          </a:p>
        </p:txBody>
      </p:sp>
      <p:sp>
        <p:nvSpPr>
          <p:cNvPr id="27" name="Text 24"/>
          <p:cNvSpPr txBox="1"/>
          <p:nvPr/>
        </p:nvSpPr>
        <p:spPr>
          <a:xfrm>
            <a:off x="3937406" y="3200400"/>
            <a:ext cx="1314907" cy="914400"/>
          </a:xfrm>
          <a:prstGeom prst="rect">
            <a:avLst/>
          </a:prstGeom>
          <a:noFill/>
          <a:ln/>
        </p:spPr>
        <p:txBody>
          <a:bodyPr wrap="square" lIns="0" tIns="0" rIns="0" bIns="0" rtlCol="0" anchor="t"/>
          <a:lstStyle/>
          <a:p>
            <a:pPr indent="0" marL="0">
              <a:buNone/>
            </a:pPr>
            <a:r>
              <a:rPr lang="en-US" sz="1200" dirty="0">
                <a:solidFill>
                  <a:schemeClr val="tx1"/>
                </a:solidFill>
              </a:rPr>
              <a:t>Che cosa si perde passando da una modalità all'altra?</a:t>
            </a:r>
            <a:endParaRPr lang="en-US" sz="1200" dirty="0"/>
          </a:p>
        </p:txBody>
      </p:sp>
      <p:sp>
        <p:nvSpPr>
          <p:cNvPr id="28" name="domanda 9"/>
          <p:cNvSpPr/>
          <p:nvPr/>
        </p:nvSpPr>
        <p:spPr>
          <a:xfrm>
            <a:off x="5471770" y="2697480"/>
            <a:ext cx="1543507" cy="1463040"/>
          </a:xfrm>
          <a:prstGeom prst="roundRect">
            <a:avLst>
              <a:gd name="adj" fmla="val 5000"/>
            </a:avLst>
          </a:prstGeom>
          <a:solidFill>
            <a:schemeClr val="bg2"/>
          </a:solidFill>
          <a:ln/>
        </p:spPr>
      </p:sp>
      <p:sp>
        <p:nvSpPr>
          <p:cNvPr id="29" name="Text 26"/>
          <p:cNvSpPr txBox="1"/>
          <p:nvPr/>
        </p:nvSpPr>
        <p:spPr>
          <a:xfrm>
            <a:off x="5608930" y="2788920"/>
            <a:ext cx="548640" cy="384048"/>
          </a:xfrm>
          <a:prstGeom prst="rect">
            <a:avLst/>
          </a:prstGeom>
          <a:noFill/>
          <a:ln/>
        </p:spPr>
        <p:txBody>
          <a:bodyPr wrap="square" lIns="0" tIns="0" rIns="0" bIns="0" rtlCol="0" anchor="t"/>
          <a:lstStyle/>
          <a:p>
            <a:pPr indent="0" marL="0">
              <a:buNone/>
            </a:pPr>
            <a:r>
              <a:rPr lang="en-US" sz="2000" b="1" dirty="0">
                <a:solidFill>
                  <a:schemeClr val="accent1"/>
                </a:solidFill>
              </a:rPr>
              <a:t>9</a:t>
            </a:r>
            <a:endParaRPr lang="en-US" sz="2000" dirty="0"/>
          </a:p>
        </p:txBody>
      </p:sp>
      <p:sp>
        <p:nvSpPr>
          <p:cNvPr id="30" name="Text 27"/>
          <p:cNvSpPr txBox="1"/>
          <p:nvPr/>
        </p:nvSpPr>
        <p:spPr>
          <a:xfrm>
            <a:off x="5608930" y="3200400"/>
            <a:ext cx="1314907" cy="914400"/>
          </a:xfrm>
          <a:prstGeom prst="rect">
            <a:avLst/>
          </a:prstGeom>
          <a:noFill/>
          <a:ln/>
        </p:spPr>
        <p:txBody>
          <a:bodyPr wrap="square" lIns="0" tIns="0" rIns="0" bIns="0" rtlCol="0" anchor="t"/>
          <a:lstStyle/>
          <a:p>
            <a:pPr indent="0" marL="0">
              <a:buNone/>
            </a:pPr>
            <a:r>
              <a:rPr lang="en-US" sz="1200" dirty="0">
                <a:solidFill>
                  <a:schemeClr val="tx1"/>
                </a:solidFill>
              </a:rPr>
              <a:t>Come distinguere realismo, autenticità, accuratezza?</a:t>
            </a:r>
            <a:endParaRPr lang="en-US" sz="1200" dirty="0"/>
          </a:p>
        </p:txBody>
      </p:sp>
      <p:sp>
        <p:nvSpPr>
          <p:cNvPr id="31" name="domanda 10"/>
          <p:cNvSpPr/>
          <p:nvPr/>
        </p:nvSpPr>
        <p:spPr>
          <a:xfrm>
            <a:off x="7143293" y="2697480"/>
            <a:ext cx="1543507" cy="1463040"/>
          </a:xfrm>
          <a:prstGeom prst="roundRect">
            <a:avLst>
              <a:gd name="adj" fmla="val 5000"/>
            </a:avLst>
          </a:prstGeom>
          <a:solidFill>
            <a:schemeClr val="bg2"/>
          </a:solidFill>
          <a:ln/>
        </p:spPr>
      </p:sp>
      <p:sp>
        <p:nvSpPr>
          <p:cNvPr id="32" name="Text 29"/>
          <p:cNvSpPr txBox="1"/>
          <p:nvPr/>
        </p:nvSpPr>
        <p:spPr>
          <a:xfrm>
            <a:off x="7280453" y="2788920"/>
            <a:ext cx="548640" cy="384048"/>
          </a:xfrm>
          <a:prstGeom prst="rect">
            <a:avLst/>
          </a:prstGeom>
          <a:noFill/>
          <a:ln/>
        </p:spPr>
        <p:txBody>
          <a:bodyPr wrap="square" lIns="0" tIns="0" rIns="0" bIns="0" rtlCol="0" anchor="t"/>
          <a:lstStyle/>
          <a:p>
            <a:pPr indent="0" marL="0">
              <a:buNone/>
            </a:pPr>
            <a:r>
              <a:rPr lang="en-US" sz="2000" b="1" dirty="0">
                <a:solidFill>
                  <a:schemeClr val="accent1"/>
                </a:solidFill>
              </a:rPr>
              <a:t>10</a:t>
            </a:r>
            <a:endParaRPr lang="en-US" sz="2000" dirty="0"/>
          </a:p>
        </p:txBody>
      </p:sp>
      <p:sp>
        <p:nvSpPr>
          <p:cNvPr id="33" name="Text 30"/>
          <p:cNvSpPr txBox="1"/>
          <p:nvPr/>
        </p:nvSpPr>
        <p:spPr>
          <a:xfrm>
            <a:off x="7280453" y="3200400"/>
            <a:ext cx="1314907" cy="914400"/>
          </a:xfrm>
          <a:prstGeom prst="rect">
            <a:avLst/>
          </a:prstGeom>
          <a:noFill/>
          <a:ln/>
        </p:spPr>
        <p:txBody>
          <a:bodyPr wrap="square" lIns="0" tIns="0" rIns="0" bIns="0" rtlCol="0" anchor="t"/>
          <a:lstStyle/>
          <a:p>
            <a:pPr indent="0" marL="0">
              <a:buNone/>
            </a:pPr>
            <a:r>
              <a:rPr lang="en-US" sz="1200" dirty="0">
                <a:solidFill>
                  <a:schemeClr val="tx1"/>
                </a:solidFill>
              </a:rPr>
              <a:t>Quali opportunità per l'accessibilità?</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Il filo conduttore</a:t>
            </a:r>
            <a:endParaRPr lang="en-US" sz="2600" dirty="0"/>
          </a:p>
        </p:txBody>
      </p:sp>
      <p:sp>
        <p:nvSpPr>
          <p:cNvPr id="4" name="Comprendere le modalità"/>
          <p:cNvSpPr/>
          <p:nvPr/>
        </p:nvSpPr>
        <p:spPr>
          <a:xfrm>
            <a:off x="457200" y="1051560"/>
            <a:ext cx="1920240" cy="1920240"/>
          </a:xfrm>
          <a:prstGeom prst="roundRect">
            <a:avLst>
              <a:gd name="adj" fmla="val 3810"/>
            </a:avLst>
          </a:prstGeom>
          <a:solidFill>
            <a:schemeClr val="bg2"/>
          </a:solidFill>
          <a:ln/>
        </p:spPr>
      </p:sp>
      <p:sp>
        <p:nvSpPr>
          <p:cNvPr id="5" name="cerchio FiLayers"/>
          <p:cNvSpPr/>
          <p:nvPr/>
        </p:nvSpPr>
        <p:spPr>
          <a:xfrm>
            <a:off x="1097280" y="1161288"/>
            <a:ext cx="640080" cy="640080"/>
          </a:xfrm>
          <a:prstGeom prst="ellipse">
            <a:avLst/>
          </a:prstGeom>
          <a:solidFill>
            <a:schemeClr val="accent1"/>
          </a:solidFill>
          <a:ln/>
        </p:spPr>
      </p:sp>
      <p:pic>
        <p:nvPicPr>
          <p:cNvPr id="6" name="Image 0" descr="FiLayers">    </p:cNvPr>
          <p:cNvPicPr>
            <a:picLocks noChangeAspect="1"/>
          </p:cNvPicPr>
          <p:nvPr/>
        </p:nvPicPr>
        <p:blipFill>
          <a:blip r:embed="rId1"/>
          <a:stretch>
            <a:fillRect/>
          </a:stretch>
        </p:blipFill>
        <p:spPr>
          <a:xfrm>
            <a:off x="1257300" y="1321308"/>
            <a:ext cx="320040" cy="320040"/>
          </a:xfrm>
          <a:prstGeom prst="rect">
            <a:avLst/>
          </a:prstGeom>
        </p:spPr>
      </p:pic>
      <p:sp>
        <p:nvSpPr>
          <p:cNvPr id="7" name="Text 3"/>
          <p:cNvSpPr txBox="1"/>
          <p:nvPr/>
        </p:nvSpPr>
        <p:spPr>
          <a:xfrm>
            <a:off x="548640" y="1856232"/>
            <a:ext cx="1737360" cy="548640"/>
          </a:xfrm>
          <a:prstGeom prst="rect">
            <a:avLst/>
          </a:prstGeom>
          <a:noFill/>
          <a:ln/>
        </p:spPr>
        <p:txBody>
          <a:bodyPr wrap="square" lIns="0" tIns="0" rIns="0" bIns="0" rtlCol="0" anchor="ctr"/>
          <a:lstStyle/>
          <a:p>
            <a:pPr algn="ctr" indent="0" marL="0">
              <a:buNone/>
            </a:pPr>
            <a:r>
              <a:rPr lang="en-US" sz="1400" b="1" dirty="0">
                <a:solidFill>
                  <a:schemeClr val="tx1"/>
                </a:solidFill>
              </a:rPr>
              <a:t>Comprendere le modalità</a:t>
            </a:r>
            <a:endParaRPr lang="en-US" sz="1400" dirty="0"/>
          </a:p>
        </p:txBody>
      </p:sp>
      <p:sp>
        <p:nvSpPr>
          <p:cNvPr id="8" name="Text 4"/>
          <p:cNvSpPr txBox="1"/>
          <p:nvPr/>
        </p:nvSpPr>
        <p:spPr>
          <a:xfrm>
            <a:off x="548640" y="2468880"/>
            <a:ext cx="1737360" cy="365760"/>
          </a:xfrm>
          <a:prstGeom prst="rect">
            <a:avLst/>
          </a:prstGeom>
          <a:noFill/>
          <a:ln/>
        </p:spPr>
        <p:txBody>
          <a:bodyPr wrap="square" lIns="0" tIns="0" rIns="0" bIns="0" rtlCol="0" anchor="t"/>
          <a:lstStyle/>
          <a:p>
            <a:pPr algn="ctr" indent="0" marL="0">
              <a:buNone/>
            </a:pPr>
            <a:r>
              <a:rPr lang="en-US" sz="1100" b="1" dirty="0">
                <a:solidFill>
                  <a:schemeClr val="accent1"/>
                </a:solidFill>
              </a:rPr>
              <a:t>10.1</a:t>
            </a:r>
            <a:endParaRPr lang="en-US" sz="1100" dirty="0"/>
          </a:p>
        </p:txBody>
      </p:sp>
      <p:sp>
        <p:nvSpPr>
          <p:cNvPr id="9" name="freccia"/>
          <p:cNvSpPr/>
          <p:nvPr/>
        </p:nvSpPr>
        <p:spPr>
          <a:xfrm>
            <a:off x="2386584" y="1828800"/>
            <a:ext cx="155448" cy="292608"/>
          </a:xfrm>
          <a:prstGeom prst="rightArrow">
            <a:avLst/>
          </a:prstGeom>
          <a:solidFill>
            <a:schemeClr val="accent2"/>
          </a:solidFill>
          <a:ln/>
        </p:spPr>
      </p:sp>
      <p:sp>
        <p:nvSpPr>
          <p:cNvPr id="10" name="Interpretare e generare"/>
          <p:cNvSpPr/>
          <p:nvPr/>
        </p:nvSpPr>
        <p:spPr>
          <a:xfrm>
            <a:off x="2560320" y="1051560"/>
            <a:ext cx="1920240" cy="1920240"/>
          </a:xfrm>
          <a:prstGeom prst="roundRect">
            <a:avLst>
              <a:gd name="adj" fmla="val 3810"/>
            </a:avLst>
          </a:prstGeom>
          <a:solidFill>
            <a:schemeClr val="bg2"/>
          </a:solidFill>
          <a:ln/>
        </p:spPr>
      </p:sp>
      <p:sp>
        <p:nvSpPr>
          <p:cNvPr id="11" name="cerchio FiImage"/>
          <p:cNvSpPr/>
          <p:nvPr/>
        </p:nvSpPr>
        <p:spPr>
          <a:xfrm>
            <a:off x="3200400" y="1161288"/>
            <a:ext cx="640080" cy="640080"/>
          </a:xfrm>
          <a:prstGeom prst="ellipse">
            <a:avLst/>
          </a:prstGeom>
          <a:solidFill>
            <a:schemeClr val="accent1"/>
          </a:solidFill>
          <a:ln/>
        </p:spPr>
      </p:sp>
      <p:pic>
        <p:nvPicPr>
          <p:cNvPr id="12" name="Image 1" descr="FiImage">    </p:cNvPr>
          <p:cNvPicPr>
            <a:picLocks noChangeAspect="1"/>
          </p:cNvPicPr>
          <p:nvPr/>
        </p:nvPicPr>
        <p:blipFill>
          <a:blip r:embed="rId2"/>
          <a:stretch>
            <a:fillRect/>
          </a:stretch>
        </p:blipFill>
        <p:spPr>
          <a:xfrm>
            <a:off x="3360420" y="1321308"/>
            <a:ext cx="320040" cy="320040"/>
          </a:xfrm>
          <a:prstGeom prst="rect">
            <a:avLst/>
          </a:prstGeom>
        </p:spPr>
      </p:pic>
      <p:sp>
        <p:nvSpPr>
          <p:cNvPr id="13" name="Text 8"/>
          <p:cNvSpPr txBox="1"/>
          <p:nvPr/>
        </p:nvSpPr>
        <p:spPr>
          <a:xfrm>
            <a:off x="2651760" y="1856232"/>
            <a:ext cx="1737360" cy="548640"/>
          </a:xfrm>
          <a:prstGeom prst="rect">
            <a:avLst/>
          </a:prstGeom>
          <a:noFill/>
          <a:ln/>
        </p:spPr>
        <p:txBody>
          <a:bodyPr wrap="square" lIns="0" tIns="0" rIns="0" bIns="0" rtlCol="0" anchor="ctr"/>
          <a:lstStyle/>
          <a:p>
            <a:pPr algn="ctr" indent="0" marL="0">
              <a:buNone/>
            </a:pPr>
            <a:r>
              <a:rPr lang="en-US" sz="1400" b="1" dirty="0">
                <a:solidFill>
                  <a:schemeClr val="tx1"/>
                </a:solidFill>
              </a:rPr>
              <a:t>Interpretare e generare</a:t>
            </a:r>
            <a:endParaRPr lang="en-US" sz="1400" dirty="0"/>
          </a:p>
        </p:txBody>
      </p:sp>
      <p:sp>
        <p:nvSpPr>
          <p:cNvPr id="14" name="Text 9"/>
          <p:cNvSpPr txBox="1"/>
          <p:nvPr/>
        </p:nvSpPr>
        <p:spPr>
          <a:xfrm>
            <a:off x="2651760" y="2468880"/>
            <a:ext cx="1737360" cy="365760"/>
          </a:xfrm>
          <a:prstGeom prst="rect">
            <a:avLst/>
          </a:prstGeom>
          <a:noFill/>
          <a:ln/>
        </p:spPr>
        <p:txBody>
          <a:bodyPr wrap="square" lIns="0" tIns="0" rIns="0" bIns="0" rtlCol="0" anchor="t"/>
          <a:lstStyle/>
          <a:p>
            <a:pPr algn="ctr" indent="0" marL="0">
              <a:buNone/>
            </a:pPr>
            <a:r>
              <a:rPr lang="en-US" sz="1100" b="1" dirty="0">
                <a:solidFill>
                  <a:schemeClr val="accent1"/>
                </a:solidFill>
              </a:rPr>
              <a:t>10.2  10.3  10.4  10.5  10.6</a:t>
            </a:r>
            <a:endParaRPr lang="en-US" sz="1100" dirty="0"/>
          </a:p>
        </p:txBody>
      </p:sp>
      <p:sp>
        <p:nvSpPr>
          <p:cNvPr id="15" name="freccia"/>
          <p:cNvSpPr/>
          <p:nvPr/>
        </p:nvSpPr>
        <p:spPr>
          <a:xfrm>
            <a:off x="4489704" y="1828800"/>
            <a:ext cx="155448" cy="292608"/>
          </a:xfrm>
          <a:prstGeom prst="rightArrow">
            <a:avLst/>
          </a:prstGeom>
          <a:solidFill>
            <a:schemeClr val="accent2"/>
          </a:solidFill>
          <a:ln/>
        </p:spPr>
      </p:sp>
      <p:sp>
        <p:nvSpPr>
          <p:cNvPr id="16" name="Trasformare e combinare"/>
          <p:cNvSpPr/>
          <p:nvPr/>
        </p:nvSpPr>
        <p:spPr>
          <a:xfrm>
            <a:off x="4663440" y="1051560"/>
            <a:ext cx="1920240" cy="1920240"/>
          </a:xfrm>
          <a:prstGeom prst="roundRect">
            <a:avLst>
              <a:gd name="adj" fmla="val 3810"/>
            </a:avLst>
          </a:prstGeom>
          <a:solidFill>
            <a:schemeClr val="bg2"/>
          </a:solidFill>
          <a:ln/>
        </p:spPr>
      </p:sp>
      <p:sp>
        <p:nvSpPr>
          <p:cNvPr id="17" name="cerchio FiRepeat"/>
          <p:cNvSpPr/>
          <p:nvPr/>
        </p:nvSpPr>
        <p:spPr>
          <a:xfrm>
            <a:off x="5303520" y="1161288"/>
            <a:ext cx="640080" cy="640080"/>
          </a:xfrm>
          <a:prstGeom prst="ellipse">
            <a:avLst/>
          </a:prstGeom>
          <a:solidFill>
            <a:schemeClr val="accent1"/>
          </a:solidFill>
          <a:ln/>
        </p:spPr>
      </p:sp>
      <p:pic>
        <p:nvPicPr>
          <p:cNvPr id="18" name="Image 2" descr="FiRepeat">    </p:cNvPr>
          <p:cNvPicPr>
            <a:picLocks noChangeAspect="1"/>
          </p:cNvPicPr>
          <p:nvPr/>
        </p:nvPicPr>
        <p:blipFill>
          <a:blip r:embed="rId3"/>
          <a:stretch>
            <a:fillRect/>
          </a:stretch>
        </p:blipFill>
        <p:spPr>
          <a:xfrm>
            <a:off x="5463540" y="1321308"/>
            <a:ext cx="320040" cy="320040"/>
          </a:xfrm>
          <a:prstGeom prst="rect">
            <a:avLst/>
          </a:prstGeom>
        </p:spPr>
      </p:pic>
      <p:sp>
        <p:nvSpPr>
          <p:cNvPr id="19" name="Text 13"/>
          <p:cNvSpPr txBox="1"/>
          <p:nvPr/>
        </p:nvSpPr>
        <p:spPr>
          <a:xfrm>
            <a:off x="4754880" y="1856232"/>
            <a:ext cx="1737360" cy="548640"/>
          </a:xfrm>
          <a:prstGeom prst="rect">
            <a:avLst/>
          </a:prstGeom>
          <a:noFill/>
          <a:ln/>
        </p:spPr>
        <p:txBody>
          <a:bodyPr wrap="square" lIns="0" tIns="0" rIns="0" bIns="0" rtlCol="0" anchor="ctr"/>
          <a:lstStyle/>
          <a:p>
            <a:pPr algn="ctr" indent="0" marL="0">
              <a:buNone/>
            </a:pPr>
            <a:r>
              <a:rPr lang="en-US" sz="1400" b="1" dirty="0">
                <a:solidFill>
                  <a:schemeClr val="tx1"/>
                </a:solidFill>
              </a:rPr>
              <a:t>Trasformare e combinare</a:t>
            </a:r>
            <a:endParaRPr lang="en-US" sz="1400" dirty="0"/>
          </a:p>
        </p:txBody>
      </p:sp>
      <p:sp>
        <p:nvSpPr>
          <p:cNvPr id="20" name="Text 14"/>
          <p:cNvSpPr txBox="1"/>
          <p:nvPr/>
        </p:nvSpPr>
        <p:spPr>
          <a:xfrm>
            <a:off x="4754880" y="2468880"/>
            <a:ext cx="1737360" cy="365760"/>
          </a:xfrm>
          <a:prstGeom prst="rect">
            <a:avLst/>
          </a:prstGeom>
          <a:noFill/>
          <a:ln/>
        </p:spPr>
        <p:txBody>
          <a:bodyPr wrap="square" lIns="0" tIns="0" rIns="0" bIns="0" rtlCol="0" anchor="t"/>
          <a:lstStyle/>
          <a:p>
            <a:pPr algn="ctr" indent="0" marL="0">
              <a:buNone/>
            </a:pPr>
            <a:r>
              <a:rPr lang="en-US" sz="1100" b="1" dirty="0">
                <a:solidFill>
                  <a:schemeClr val="accent1"/>
                </a:solidFill>
              </a:rPr>
              <a:t>10.7</a:t>
            </a:r>
            <a:endParaRPr lang="en-US" sz="1100" dirty="0"/>
          </a:p>
        </p:txBody>
      </p:sp>
      <p:sp>
        <p:nvSpPr>
          <p:cNvPr id="21" name="freccia"/>
          <p:cNvSpPr/>
          <p:nvPr/>
        </p:nvSpPr>
        <p:spPr>
          <a:xfrm>
            <a:off x="6592824" y="1828800"/>
            <a:ext cx="155448" cy="292608"/>
          </a:xfrm>
          <a:prstGeom prst="rightArrow">
            <a:avLst/>
          </a:prstGeom>
          <a:solidFill>
            <a:schemeClr val="accent2"/>
          </a:solidFill>
          <a:ln/>
        </p:spPr>
      </p:sp>
      <p:sp>
        <p:nvSpPr>
          <p:cNvPr id="22" name="Valutare i risultati"/>
          <p:cNvSpPr/>
          <p:nvPr/>
        </p:nvSpPr>
        <p:spPr>
          <a:xfrm>
            <a:off x="6766560" y="1051560"/>
            <a:ext cx="1920240" cy="1920240"/>
          </a:xfrm>
          <a:prstGeom prst="roundRect">
            <a:avLst>
              <a:gd name="adj" fmla="val 3810"/>
            </a:avLst>
          </a:prstGeom>
          <a:solidFill>
            <a:schemeClr val="accent1"/>
          </a:solidFill>
          <a:ln/>
        </p:spPr>
      </p:sp>
      <p:sp>
        <p:nvSpPr>
          <p:cNvPr id="23" name="cerchio FiShield"/>
          <p:cNvSpPr/>
          <p:nvPr/>
        </p:nvSpPr>
        <p:spPr>
          <a:xfrm>
            <a:off x="7406640" y="1161288"/>
            <a:ext cx="640080" cy="640080"/>
          </a:xfrm>
          <a:prstGeom prst="ellipse">
            <a:avLst/>
          </a:prstGeom>
          <a:solidFill>
            <a:schemeClr val="bg1"/>
          </a:solidFill>
          <a:ln/>
        </p:spPr>
      </p:sp>
      <p:pic>
        <p:nvPicPr>
          <p:cNvPr id="24" name="Image 3" descr="FiShield">    </p:cNvPr>
          <p:cNvPicPr>
            <a:picLocks noChangeAspect="1"/>
          </p:cNvPicPr>
          <p:nvPr/>
        </p:nvPicPr>
        <p:blipFill>
          <a:blip r:embed="rId4"/>
          <a:stretch>
            <a:fillRect/>
          </a:stretch>
        </p:blipFill>
        <p:spPr>
          <a:xfrm>
            <a:off x="7566660" y="1321308"/>
            <a:ext cx="320040" cy="320040"/>
          </a:xfrm>
          <a:prstGeom prst="rect">
            <a:avLst/>
          </a:prstGeom>
        </p:spPr>
      </p:pic>
      <p:sp>
        <p:nvSpPr>
          <p:cNvPr id="25" name="Text 18"/>
          <p:cNvSpPr txBox="1"/>
          <p:nvPr/>
        </p:nvSpPr>
        <p:spPr>
          <a:xfrm>
            <a:off x="6858000" y="1856232"/>
            <a:ext cx="1737360" cy="548640"/>
          </a:xfrm>
          <a:prstGeom prst="rect">
            <a:avLst/>
          </a:prstGeom>
          <a:noFill/>
          <a:ln/>
        </p:spPr>
        <p:txBody>
          <a:bodyPr wrap="square" lIns="0" tIns="0" rIns="0" bIns="0" rtlCol="0" anchor="ctr"/>
          <a:lstStyle/>
          <a:p>
            <a:pPr algn="ctr" indent="0" marL="0">
              <a:buNone/>
            </a:pPr>
            <a:r>
              <a:rPr lang="en-US" sz="1400" b="1" dirty="0">
                <a:solidFill>
                  <a:schemeClr val="bg1"/>
                </a:solidFill>
              </a:rPr>
              <a:t>Valutare i risultati</a:t>
            </a:r>
            <a:endParaRPr lang="en-US" sz="1400" dirty="0"/>
          </a:p>
        </p:txBody>
      </p:sp>
      <p:sp>
        <p:nvSpPr>
          <p:cNvPr id="26" name="Text 19"/>
          <p:cNvSpPr txBox="1"/>
          <p:nvPr/>
        </p:nvSpPr>
        <p:spPr>
          <a:xfrm>
            <a:off x="6858000" y="2468880"/>
            <a:ext cx="1737360" cy="365760"/>
          </a:xfrm>
          <a:prstGeom prst="rect">
            <a:avLst/>
          </a:prstGeom>
          <a:noFill/>
          <a:ln/>
        </p:spPr>
        <p:txBody>
          <a:bodyPr wrap="square" lIns="0" tIns="0" rIns="0" bIns="0" rtlCol="0" anchor="t"/>
          <a:lstStyle/>
          <a:p>
            <a:pPr algn="ctr" indent="0" marL="0">
              <a:buNone/>
            </a:pPr>
            <a:r>
              <a:rPr lang="en-US" sz="1100" b="1" dirty="0">
                <a:solidFill>
                  <a:schemeClr val="accent6"/>
                </a:solidFill>
              </a:rPr>
              <a:t>10.8</a:t>
            </a:r>
            <a:endParaRPr lang="en-US" sz="1100" dirty="0"/>
          </a:p>
        </p:txBody>
      </p:sp>
      <p:sp>
        <p:nvSpPr>
          <p:cNvPr id="27" name="Text 20"/>
          <p:cNvSpPr txBox="1"/>
          <p:nvPr/>
        </p:nvSpPr>
        <p:spPr>
          <a:xfrm>
            <a:off x="457200" y="3108960"/>
            <a:ext cx="8229600" cy="320040"/>
          </a:xfrm>
          <a:prstGeom prst="rect">
            <a:avLst/>
          </a:prstGeom>
          <a:noFill/>
          <a:ln/>
        </p:spPr>
        <p:txBody>
          <a:bodyPr wrap="square" lIns="0" tIns="0" rIns="0" bIns="0" rtlCol="0" anchor="t"/>
          <a:lstStyle/>
          <a:p>
            <a:pPr indent="0" marL="0">
              <a:buNone/>
            </a:pPr>
            <a:r>
              <a:rPr lang="en-US" sz="1300" b="1" dirty="0">
                <a:solidFill>
                  <a:schemeClr val="tx1"/>
                </a:solidFill>
              </a:rPr>
              <a:t>Trasversali: tre operazioni con rischi diversi</a:t>
            </a:r>
            <a:endParaRPr lang="en-US" sz="1300" dirty="0"/>
          </a:p>
        </p:txBody>
      </p:sp>
      <p:sp>
        <p:nvSpPr>
          <p:cNvPr id="28" name="Interpretare"/>
          <p:cNvSpPr/>
          <p:nvPr/>
        </p:nvSpPr>
        <p:spPr>
          <a:xfrm>
            <a:off x="457200" y="3474720"/>
            <a:ext cx="2615184" cy="1005840"/>
          </a:xfrm>
          <a:prstGeom prst="roundRect">
            <a:avLst>
              <a:gd name="adj" fmla="val 7273"/>
            </a:avLst>
          </a:prstGeom>
          <a:solidFill>
            <a:schemeClr val="accent6"/>
          </a:solidFill>
          <a:ln/>
        </p:spPr>
      </p:sp>
      <p:sp>
        <p:nvSpPr>
          <p:cNvPr id="29" name="Text 22"/>
          <p:cNvSpPr txBox="1"/>
          <p:nvPr/>
        </p:nvSpPr>
        <p:spPr>
          <a:xfrm>
            <a:off x="594360" y="3547872"/>
            <a:ext cx="2340864" cy="347472"/>
          </a:xfrm>
          <a:prstGeom prst="rect">
            <a:avLst/>
          </a:prstGeom>
          <a:noFill/>
          <a:ln/>
        </p:spPr>
        <p:txBody>
          <a:bodyPr wrap="square" lIns="0" tIns="0" rIns="0" bIns="0" rtlCol="0" anchor="t"/>
          <a:lstStyle/>
          <a:p>
            <a:pPr indent="0" marL="0">
              <a:buNone/>
            </a:pPr>
            <a:r>
              <a:rPr lang="en-US" sz="1500" b="1" dirty="0">
                <a:solidFill>
                  <a:schemeClr val="accent1"/>
                </a:solidFill>
              </a:rPr>
              <a:t>Interpretare</a:t>
            </a:r>
            <a:endParaRPr lang="en-US" sz="1500" dirty="0"/>
          </a:p>
        </p:txBody>
      </p:sp>
      <p:sp>
        <p:nvSpPr>
          <p:cNvPr id="30" name="Text 23"/>
          <p:cNvSpPr txBox="1"/>
          <p:nvPr/>
        </p:nvSpPr>
        <p:spPr>
          <a:xfrm>
            <a:off x="594360" y="3931920"/>
            <a:ext cx="2340864" cy="457200"/>
          </a:xfrm>
          <a:prstGeom prst="rect">
            <a:avLst/>
          </a:prstGeom>
          <a:noFill/>
          <a:ln/>
        </p:spPr>
        <p:txBody>
          <a:bodyPr wrap="square" lIns="0" tIns="0" rIns="0" bIns="0" rtlCol="0" anchor="t"/>
          <a:lstStyle/>
          <a:p>
            <a:pPr indent="0" marL="0">
              <a:buNone/>
            </a:pPr>
            <a:r>
              <a:rPr lang="en-US" sz="1200" dirty="0">
                <a:solidFill>
                  <a:schemeClr val="tx1"/>
                </a:solidFill>
              </a:rPr>
              <a:t>Errori di riconoscimento</a:t>
            </a:r>
            <a:endParaRPr lang="en-US" sz="1200" dirty="0"/>
          </a:p>
        </p:txBody>
      </p:sp>
      <p:sp>
        <p:nvSpPr>
          <p:cNvPr id="31" name="Generare"/>
          <p:cNvSpPr/>
          <p:nvPr/>
        </p:nvSpPr>
        <p:spPr>
          <a:xfrm>
            <a:off x="3264408" y="3474720"/>
            <a:ext cx="2615184" cy="1005840"/>
          </a:xfrm>
          <a:prstGeom prst="roundRect">
            <a:avLst>
              <a:gd name="adj" fmla="val 7273"/>
            </a:avLst>
          </a:prstGeom>
          <a:solidFill>
            <a:schemeClr val="accent6"/>
          </a:solidFill>
          <a:ln/>
        </p:spPr>
      </p:sp>
      <p:sp>
        <p:nvSpPr>
          <p:cNvPr id="32" name="Text 25"/>
          <p:cNvSpPr txBox="1"/>
          <p:nvPr/>
        </p:nvSpPr>
        <p:spPr>
          <a:xfrm>
            <a:off x="3401568" y="3547872"/>
            <a:ext cx="2340864" cy="347472"/>
          </a:xfrm>
          <a:prstGeom prst="rect">
            <a:avLst/>
          </a:prstGeom>
          <a:noFill/>
          <a:ln/>
        </p:spPr>
        <p:txBody>
          <a:bodyPr wrap="square" lIns="0" tIns="0" rIns="0" bIns="0" rtlCol="0" anchor="t"/>
          <a:lstStyle/>
          <a:p>
            <a:pPr indent="0" marL="0">
              <a:buNone/>
            </a:pPr>
            <a:r>
              <a:rPr lang="en-US" sz="1500" b="1" dirty="0">
                <a:solidFill>
                  <a:schemeClr val="accent1"/>
                </a:solidFill>
              </a:rPr>
              <a:t>Generare</a:t>
            </a:r>
            <a:endParaRPr lang="en-US" sz="1500" dirty="0"/>
          </a:p>
        </p:txBody>
      </p:sp>
      <p:sp>
        <p:nvSpPr>
          <p:cNvPr id="33" name="Text 26"/>
          <p:cNvSpPr txBox="1"/>
          <p:nvPr/>
        </p:nvSpPr>
        <p:spPr>
          <a:xfrm>
            <a:off x="3401568" y="3931920"/>
            <a:ext cx="2340864" cy="457200"/>
          </a:xfrm>
          <a:prstGeom prst="rect">
            <a:avLst/>
          </a:prstGeom>
          <a:noFill/>
          <a:ln/>
        </p:spPr>
        <p:txBody>
          <a:bodyPr wrap="square" lIns="0" tIns="0" rIns="0" bIns="0" rtlCol="0" anchor="t"/>
          <a:lstStyle/>
          <a:p>
            <a:pPr indent="0" marL="0">
              <a:buNone/>
            </a:pPr>
            <a:r>
              <a:rPr lang="en-US" sz="1200" dirty="0">
                <a:solidFill>
                  <a:schemeClr val="tx1"/>
                </a:solidFill>
              </a:rPr>
              <a:t>Realistico ma non autentico</a:t>
            </a:r>
            <a:endParaRPr lang="en-US" sz="1200" dirty="0"/>
          </a:p>
        </p:txBody>
      </p:sp>
      <p:sp>
        <p:nvSpPr>
          <p:cNvPr id="34" name="Trasformare"/>
          <p:cNvSpPr/>
          <p:nvPr/>
        </p:nvSpPr>
        <p:spPr>
          <a:xfrm>
            <a:off x="6071616" y="3474720"/>
            <a:ext cx="2615184" cy="1005840"/>
          </a:xfrm>
          <a:prstGeom prst="roundRect">
            <a:avLst>
              <a:gd name="adj" fmla="val 7273"/>
            </a:avLst>
          </a:prstGeom>
          <a:solidFill>
            <a:schemeClr val="accent6"/>
          </a:solidFill>
          <a:ln/>
        </p:spPr>
      </p:sp>
      <p:sp>
        <p:nvSpPr>
          <p:cNvPr id="35" name="Text 28"/>
          <p:cNvSpPr txBox="1"/>
          <p:nvPr/>
        </p:nvSpPr>
        <p:spPr>
          <a:xfrm>
            <a:off x="6208776" y="3547872"/>
            <a:ext cx="2340864" cy="347472"/>
          </a:xfrm>
          <a:prstGeom prst="rect">
            <a:avLst/>
          </a:prstGeom>
          <a:noFill/>
          <a:ln/>
        </p:spPr>
        <p:txBody>
          <a:bodyPr wrap="square" lIns="0" tIns="0" rIns="0" bIns="0" rtlCol="0" anchor="t"/>
          <a:lstStyle/>
          <a:p>
            <a:pPr indent="0" marL="0">
              <a:buNone/>
            </a:pPr>
            <a:r>
              <a:rPr lang="en-US" sz="1500" b="1" dirty="0">
                <a:solidFill>
                  <a:schemeClr val="accent1"/>
                </a:solidFill>
              </a:rPr>
              <a:t>Trasformare</a:t>
            </a:r>
            <a:endParaRPr lang="en-US" sz="1500" dirty="0"/>
          </a:p>
        </p:txBody>
      </p:sp>
      <p:sp>
        <p:nvSpPr>
          <p:cNvPr id="36" name="Text 29"/>
          <p:cNvSpPr txBox="1"/>
          <p:nvPr/>
        </p:nvSpPr>
        <p:spPr>
          <a:xfrm>
            <a:off x="6208776" y="3931920"/>
            <a:ext cx="2340864" cy="457200"/>
          </a:xfrm>
          <a:prstGeom prst="rect">
            <a:avLst/>
          </a:prstGeom>
          <a:noFill/>
          <a:ln/>
        </p:spPr>
        <p:txBody>
          <a:bodyPr wrap="square" lIns="0" tIns="0" rIns="0" bIns="0" rtlCol="0" anchor="t"/>
          <a:lstStyle/>
          <a:p>
            <a:pPr indent="0" marL="0">
              <a:buNone/>
            </a:pPr>
            <a:r>
              <a:rPr lang="en-US" sz="1200" dirty="0">
                <a:solidFill>
                  <a:schemeClr val="tx1"/>
                </a:solidFill>
              </a:rPr>
              <a:t>Informazioni perse o alterate</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Il percorso del modulo</a:t>
            </a:r>
            <a:endParaRPr lang="en-US" sz="2600" dirty="0"/>
          </a:p>
        </p:txBody>
      </p:sp>
      <p:sp>
        <p:nvSpPr>
          <p:cNvPr id="4" name="riga 10.1"/>
          <p:cNvSpPr/>
          <p:nvPr/>
        </p:nvSpPr>
        <p:spPr>
          <a:xfrm>
            <a:off x="457200" y="1024128"/>
            <a:ext cx="5120640" cy="365760"/>
          </a:xfrm>
          <a:prstGeom prst="roundRect">
            <a:avLst>
              <a:gd name="adj" fmla="val 20000"/>
            </a:avLst>
          </a:prstGeom>
          <a:solidFill>
            <a:schemeClr val="bg2"/>
          </a:solidFill>
          <a:ln/>
        </p:spPr>
      </p:sp>
      <p:sp>
        <p:nvSpPr>
          <p:cNvPr id="5" name="Text 2"/>
          <p:cNvSpPr txBox="1"/>
          <p:nvPr/>
        </p:nvSpPr>
        <p:spPr>
          <a:xfrm>
            <a:off x="594360" y="1024128"/>
            <a:ext cx="502920" cy="365760"/>
          </a:xfrm>
          <a:prstGeom prst="rect">
            <a:avLst/>
          </a:prstGeom>
          <a:noFill/>
          <a:ln/>
        </p:spPr>
        <p:txBody>
          <a:bodyPr wrap="square" lIns="0" tIns="0" rIns="0" bIns="0" rtlCol="0" anchor="ctr"/>
          <a:lstStyle/>
          <a:p>
            <a:pPr indent="0" marL="0">
              <a:buNone/>
            </a:pPr>
            <a:r>
              <a:rPr lang="en-US" sz="1300" b="1" dirty="0">
                <a:solidFill>
                  <a:schemeClr val="accent1"/>
                </a:solidFill>
              </a:rPr>
              <a:t>10.1</a:t>
            </a:r>
            <a:endParaRPr lang="en-US" sz="1300" dirty="0"/>
          </a:p>
        </p:txBody>
      </p:sp>
      <p:sp>
        <p:nvSpPr>
          <p:cNvPr id="6" name="Text 3"/>
          <p:cNvSpPr txBox="1"/>
          <p:nvPr/>
        </p:nvSpPr>
        <p:spPr>
          <a:xfrm>
            <a:off x="1097280" y="1024128"/>
            <a:ext cx="3566160" cy="365760"/>
          </a:xfrm>
          <a:prstGeom prst="rect">
            <a:avLst/>
          </a:prstGeom>
          <a:noFill/>
          <a:ln/>
        </p:spPr>
        <p:txBody>
          <a:bodyPr wrap="square" lIns="0" tIns="0" rIns="0" bIns="0" rtlCol="0" anchor="ctr"/>
          <a:lstStyle/>
          <a:p>
            <a:pPr indent="0" marL="0">
              <a:buNone/>
            </a:pPr>
            <a:r>
              <a:rPr lang="en-US" sz="1300" dirty="0">
                <a:solidFill>
                  <a:schemeClr val="tx1"/>
                </a:solidFill>
              </a:rPr>
              <a:t>Fondamenti dell'AI multimodale</a:t>
            </a:r>
            <a:endParaRPr lang="en-US" sz="1300" dirty="0"/>
          </a:p>
        </p:txBody>
      </p:sp>
      <p:sp>
        <p:nvSpPr>
          <p:cNvPr id="7" name="priorità 10.1"/>
          <p:cNvSpPr/>
          <p:nvPr/>
        </p:nvSpPr>
        <p:spPr>
          <a:xfrm>
            <a:off x="4754880" y="1088136"/>
            <a:ext cx="731520" cy="237744"/>
          </a:xfrm>
          <a:prstGeom prst="roundRect">
            <a:avLst>
              <a:gd name="adj" fmla="val 50000"/>
            </a:avLst>
          </a:prstGeom>
          <a:solidFill>
            <a:schemeClr val="accent1"/>
          </a:solidFill>
          <a:ln w="12700">
            <a:solidFill>
              <a:schemeClr val="accent1"/>
            </a:solidFill>
            <a:prstDash val="solid"/>
          </a:ln>
        </p:spPr>
      </p:sp>
      <p:sp>
        <p:nvSpPr>
          <p:cNvPr id="8" name="Text 5"/>
          <p:cNvSpPr txBox="1"/>
          <p:nvPr/>
        </p:nvSpPr>
        <p:spPr>
          <a:xfrm>
            <a:off x="4754880" y="1088136"/>
            <a:ext cx="731520" cy="237744"/>
          </a:xfrm>
          <a:prstGeom prst="rect">
            <a:avLst/>
          </a:prstGeom>
          <a:noFill/>
          <a:ln/>
        </p:spPr>
        <p:txBody>
          <a:bodyPr wrap="square" lIns="0" tIns="0" rIns="0" bIns="0" rtlCol="0" anchor="ctr"/>
          <a:lstStyle/>
          <a:p>
            <a:pPr algn="ctr" indent="0" marL="0">
              <a:buNone/>
            </a:pPr>
            <a:r>
              <a:rPr lang="en-US" sz="1000" b="1" dirty="0">
                <a:solidFill>
                  <a:schemeClr val="bg1"/>
                </a:solidFill>
              </a:rPr>
              <a:t>Alta</a:t>
            </a:r>
            <a:endParaRPr lang="en-US" sz="1000" dirty="0"/>
          </a:p>
        </p:txBody>
      </p:sp>
      <p:sp>
        <p:nvSpPr>
          <p:cNvPr id="9" name="riga 10.2"/>
          <p:cNvSpPr/>
          <p:nvPr/>
        </p:nvSpPr>
        <p:spPr>
          <a:xfrm>
            <a:off x="457200" y="1453896"/>
            <a:ext cx="5120640" cy="365760"/>
          </a:xfrm>
          <a:prstGeom prst="roundRect">
            <a:avLst>
              <a:gd name="adj" fmla="val 20000"/>
            </a:avLst>
          </a:prstGeom>
          <a:solidFill>
            <a:schemeClr val="bg1"/>
          </a:solidFill>
          <a:ln/>
        </p:spPr>
      </p:sp>
      <p:sp>
        <p:nvSpPr>
          <p:cNvPr id="10" name="Text 7"/>
          <p:cNvSpPr txBox="1"/>
          <p:nvPr/>
        </p:nvSpPr>
        <p:spPr>
          <a:xfrm>
            <a:off x="594360" y="1453896"/>
            <a:ext cx="502920" cy="365760"/>
          </a:xfrm>
          <a:prstGeom prst="rect">
            <a:avLst/>
          </a:prstGeom>
          <a:noFill/>
          <a:ln/>
        </p:spPr>
        <p:txBody>
          <a:bodyPr wrap="square" lIns="0" tIns="0" rIns="0" bIns="0" rtlCol="0" anchor="ctr"/>
          <a:lstStyle/>
          <a:p>
            <a:pPr indent="0" marL="0">
              <a:buNone/>
            </a:pPr>
            <a:r>
              <a:rPr lang="en-US" sz="1300" b="1" dirty="0">
                <a:solidFill>
                  <a:schemeClr val="accent1"/>
                </a:solidFill>
              </a:rPr>
              <a:t>10.2</a:t>
            </a:r>
            <a:endParaRPr lang="en-US" sz="1300" dirty="0"/>
          </a:p>
        </p:txBody>
      </p:sp>
      <p:sp>
        <p:nvSpPr>
          <p:cNvPr id="11" name="Text 8"/>
          <p:cNvSpPr txBox="1"/>
          <p:nvPr/>
        </p:nvSpPr>
        <p:spPr>
          <a:xfrm>
            <a:off x="1097280" y="1453896"/>
            <a:ext cx="3566160" cy="365760"/>
          </a:xfrm>
          <a:prstGeom prst="rect">
            <a:avLst/>
          </a:prstGeom>
          <a:noFill/>
          <a:ln/>
        </p:spPr>
        <p:txBody>
          <a:bodyPr wrap="square" lIns="0" tIns="0" rIns="0" bIns="0" rtlCol="0" anchor="ctr"/>
          <a:lstStyle/>
          <a:p>
            <a:pPr indent="0" marL="0">
              <a:buNone/>
            </a:pPr>
            <a:r>
              <a:rPr lang="en-US" sz="1300" dirty="0">
                <a:solidFill>
                  <a:schemeClr val="tx1"/>
                </a:solidFill>
              </a:rPr>
              <a:t>Comprensione delle immagini</a:t>
            </a:r>
            <a:endParaRPr lang="en-US" sz="1300" dirty="0"/>
          </a:p>
        </p:txBody>
      </p:sp>
      <p:sp>
        <p:nvSpPr>
          <p:cNvPr id="12" name="priorità 10.2"/>
          <p:cNvSpPr/>
          <p:nvPr/>
        </p:nvSpPr>
        <p:spPr>
          <a:xfrm>
            <a:off x="4754880" y="1517904"/>
            <a:ext cx="731520" cy="237744"/>
          </a:xfrm>
          <a:prstGeom prst="roundRect">
            <a:avLst>
              <a:gd name="adj" fmla="val 50000"/>
            </a:avLst>
          </a:prstGeom>
          <a:solidFill>
            <a:schemeClr val="accent1"/>
          </a:solidFill>
          <a:ln w="12700">
            <a:solidFill>
              <a:schemeClr val="accent1"/>
            </a:solidFill>
            <a:prstDash val="solid"/>
          </a:ln>
        </p:spPr>
      </p:sp>
      <p:sp>
        <p:nvSpPr>
          <p:cNvPr id="13" name="Text 10"/>
          <p:cNvSpPr txBox="1"/>
          <p:nvPr/>
        </p:nvSpPr>
        <p:spPr>
          <a:xfrm>
            <a:off x="4754880" y="1517904"/>
            <a:ext cx="731520" cy="237744"/>
          </a:xfrm>
          <a:prstGeom prst="rect">
            <a:avLst/>
          </a:prstGeom>
          <a:noFill/>
          <a:ln/>
        </p:spPr>
        <p:txBody>
          <a:bodyPr wrap="square" lIns="0" tIns="0" rIns="0" bIns="0" rtlCol="0" anchor="ctr"/>
          <a:lstStyle/>
          <a:p>
            <a:pPr algn="ctr" indent="0" marL="0">
              <a:buNone/>
            </a:pPr>
            <a:r>
              <a:rPr lang="en-US" sz="1000" b="1" dirty="0">
                <a:solidFill>
                  <a:schemeClr val="bg1"/>
                </a:solidFill>
              </a:rPr>
              <a:t>Alta</a:t>
            </a:r>
            <a:endParaRPr lang="en-US" sz="1000" dirty="0"/>
          </a:p>
        </p:txBody>
      </p:sp>
      <p:sp>
        <p:nvSpPr>
          <p:cNvPr id="14" name="riga 10.3"/>
          <p:cNvSpPr/>
          <p:nvPr/>
        </p:nvSpPr>
        <p:spPr>
          <a:xfrm>
            <a:off x="457200" y="1883664"/>
            <a:ext cx="5120640" cy="365760"/>
          </a:xfrm>
          <a:prstGeom prst="roundRect">
            <a:avLst>
              <a:gd name="adj" fmla="val 20000"/>
            </a:avLst>
          </a:prstGeom>
          <a:solidFill>
            <a:schemeClr val="bg2"/>
          </a:solidFill>
          <a:ln/>
        </p:spPr>
      </p:sp>
      <p:sp>
        <p:nvSpPr>
          <p:cNvPr id="15" name="Text 12"/>
          <p:cNvSpPr txBox="1"/>
          <p:nvPr/>
        </p:nvSpPr>
        <p:spPr>
          <a:xfrm>
            <a:off x="594360" y="1883664"/>
            <a:ext cx="502920" cy="365760"/>
          </a:xfrm>
          <a:prstGeom prst="rect">
            <a:avLst/>
          </a:prstGeom>
          <a:noFill/>
          <a:ln/>
        </p:spPr>
        <p:txBody>
          <a:bodyPr wrap="square" lIns="0" tIns="0" rIns="0" bIns="0" rtlCol="0" anchor="ctr"/>
          <a:lstStyle/>
          <a:p>
            <a:pPr indent="0" marL="0">
              <a:buNone/>
            </a:pPr>
            <a:r>
              <a:rPr lang="en-US" sz="1300" b="1" dirty="0">
                <a:solidFill>
                  <a:schemeClr val="accent1"/>
                </a:solidFill>
              </a:rPr>
              <a:t>10.3</a:t>
            </a:r>
            <a:endParaRPr lang="en-US" sz="1300" dirty="0"/>
          </a:p>
        </p:txBody>
      </p:sp>
      <p:sp>
        <p:nvSpPr>
          <p:cNvPr id="16" name="Text 13"/>
          <p:cNvSpPr txBox="1"/>
          <p:nvPr/>
        </p:nvSpPr>
        <p:spPr>
          <a:xfrm>
            <a:off x="1097280" y="1883664"/>
            <a:ext cx="3566160" cy="365760"/>
          </a:xfrm>
          <a:prstGeom prst="rect">
            <a:avLst/>
          </a:prstGeom>
          <a:noFill/>
          <a:ln/>
        </p:spPr>
        <p:txBody>
          <a:bodyPr wrap="square" lIns="0" tIns="0" rIns="0" bIns="0" rtlCol="0" anchor="ctr"/>
          <a:lstStyle/>
          <a:p>
            <a:pPr indent="0" marL="0">
              <a:buNone/>
            </a:pPr>
            <a:r>
              <a:rPr lang="en-US" sz="1300" dirty="0">
                <a:solidFill>
                  <a:schemeClr val="tx1"/>
                </a:solidFill>
              </a:rPr>
              <a:t>Generazione e modifica delle immagini</a:t>
            </a:r>
            <a:endParaRPr lang="en-US" sz="1300" dirty="0"/>
          </a:p>
        </p:txBody>
      </p:sp>
      <p:sp>
        <p:nvSpPr>
          <p:cNvPr id="17" name="priorità 10.3"/>
          <p:cNvSpPr/>
          <p:nvPr/>
        </p:nvSpPr>
        <p:spPr>
          <a:xfrm>
            <a:off x="4754880" y="1947672"/>
            <a:ext cx="731520" cy="237744"/>
          </a:xfrm>
          <a:prstGeom prst="roundRect">
            <a:avLst>
              <a:gd name="adj" fmla="val 50000"/>
            </a:avLst>
          </a:prstGeom>
          <a:solidFill>
            <a:schemeClr val="accent1"/>
          </a:solidFill>
          <a:ln w="12700">
            <a:solidFill>
              <a:schemeClr val="accent1"/>
            </a:solidFill>
            <a:prstDash val="solid"/>
          </a:ln>
        </p:spPr>
      </p:sp>
      <p:sp>
        <p:nvSpPr>
          <p:cNvPr id="18" name="Text 15"/>
          <p:cNvSpPr txBox="1"/>
          <p:nvPr/>
        </p:nvSpPr>
        <p:spPr>
          <a:xfrm>
            <a:off x="4754880" y="1947672"/>
            <a:ext cx="731520" cy="237744"/>
          </a:xfrm>
          <a:prstGeom prst="rect">
            <a:avLst/>
          </a:prstGeom>
          <a:noFill/>
          <a:ln/>
        </p:spPr>
        <p:txBody>
          <a:bodyPr wrap="square" lIns="0" tIns="0" rIns="0" bIns="0" rtlCol="0" anchor="ctr"/>
          <a:lstStyle/>
          <a:p>
            <a:pPr algn="ctr" indent="0" marL="0">
              <a:buNone/>
            </a:pPr>
            <a:r>
              <a:rPr lang="en-US" sz="1000" b="1" dirty="0">
                <a:solidFill>
                  <a:schemeClr val="bg1"/>
                </a:solidFill>
              </a:rPr>
              <a:t>Alta</a:t>
            </a:r>
            <a:endParaRPr lang="en-US" sz="1000" dirty="0"/>
          </a:p>
        </p:txBody>
      </p:sp>
      <p:sp>
        <p:nvSpPr>
          <p:cNvPr id="19" name="riga 10.4"/>
          <p:cNvSpPr/>
          <p:nvPr/>
        </p:nvSpPr>
        <p:spPr>
          <a:xfrm>
            <a:off x="457200" y="2313432"/>
            <a:ext cx="5120640" cy="365760"/>
          </a:xfrm>
          <a:prstGeom prst="roundRect">
            <a:avLst>
              <a:gd name="adj" fmla="val 20000"/>
            </a:avLst>
          </a:prstGeom>
          <a:solidFill>
            <a:schemeClr val="bg1"/>
          </a:solidFill>
          <a:ln/>
        </p:spPr>
      </p:sp>
      <p:sp>
        <p:nvSpPr>
          <p:cNvPr id="20" name="Text 17"/>
          <p:cNvSpPr txBox="1"/>
          <p:nvPr/>
        </p:nvSpPr>
        <p:spPr>
          <a:xfrm>
            <a:off x="594360" y="2313432"/>
            <a:ext cx="502920" cy="365760"/>
          </a:xfrm>
          <a:prstGeom prst="rect">
            <a:avLst/>
          </a:prstGeom>
          <a:noFill/>
          <a:ln/>
        </p:spPr>
        <p:txBody>
          <a:bodyPr wrap="square" lIns="0" tIns="0" rIns="0" bIns="0" rtlCol="0" anchor="ctr"/>
          <a:lstStyle/>
          <a:p>
            <a:pPr indent="0" marL="0">
              <a:buNone/>
            </a:pPr>
            <a:r>
              <a:rPr lang="en-US" sz="1300" b="1" dirty="0">
                <a:solidFill>
                  <a:schemeClr val="accent1"/>
                </a:solidFill>
              </a:rPr>
              <a:t>10.4</a:t>
            </a:r>
            <a:endParaRPr lang="en-US" sz="1300" dirty="0"/>
          </a:p>
        </p:txBody>
      </p:sp>
      <p:sp>
        <p:nvSpPr>
          <p:cNvPr id="21" name="Text 18"/>
          <p:cNvSpPr txBox="1"/>
          <p:nvPr/>
        </p:nvSpPr>
        <p:spPr>
          <a:xfrm>
            <a:off x="1097280" y="2313432"/>
            <a:ext cx="3566160" cy="365760"/>
          </a:xfrm>
          <a:prstGeom prst="rect">
            <a:avLst/>
          </a:prstGeom>
          <a:noFill/>
          <a:ln/>
        </p:spPr>
        <p:txBody>
          <a:bodyPr wrap="square" lIns="0" tIns="0" rIns="0" bIns="0" rtlCol="0" anchor="ctr"/>
          <a:lstStyle/>
          <a:p>
            <a:pPr indent="0" marL="0">
              <a:buNone/>
            </a:pPr>
            <a:r>
              <a:rPr lang="en-US" sz="1300" dirty="0">
                <a:solidFill>
                  <a:schemeClr val="tx1"/>
                </a:solidFill>
              </a:rPr>
              <a:t>Audio, voce e parlato</a:t>
            </a:r>
            <a:endParaRPr lang="en-US" sz="1300" dirty="0"/>
          </a:p>
        </p:txBody>
      </p:sp>
      <p:sp>
        <p:nvSpPr>
          <p:cNvPr id="22" name="priorità 10.4"/>
          <p:cNvSpPr/>
          <p:nvPr/>
        </p:nvSpPr>
        <p:spPr>
          <a:xfrm>
            <a:off x="4754880" y="2377440"/>
            <a:ext cx="731520" cy="237744"/>
          </a:xfrm>
          <a:prstGeom prst="roundRect">
            <a:avLst>
              <a:gd name="adj" fmla="val 50000"/>
            </a:avLst>
          </a:prstGeom>
          <a:solidFill>
            <a:schemeClr val="accent1"/>
          </a:solidFill>
          <a:ln w="12700">
            <a:solidFill>
              <a:schemeClr val="accent1"/>
            </a:solidFill>
            <a:prstDash val="solid"/>
          </a:ln>
        </p:spPr>
      </p:sp>
      <p:sp>
        <p:nvSpPr>
          <p:cNvPr id="23" name="Text 20"/>
          <p:cNvSpPr txBox="1"/>
          <p:nvPr/>
        </p:nvSpPr>
        <p:spPr>
          <a:xfrm>
            <a:off x="4754880" y="2377440"/>
            <a:ext cx="731520" cy="237744"/>
          </a:xfrm>
          <a:prstGeom prst="rect">
            <a:avLst/>
          </a:prstGeom>
          <a:noFill/>
          <a:ln/>
        </p:spPr>
        <p:txBody>
          <a:bodyPr wrap="square" lIns="0" tIns="0" rIns="0" bIns="0" rtlCol="0" anchor="ctr"/>
          <a:lstStyle/>
          <a:p>
            <a:pPr algn="ctr" indent="0" marL="0">
              <a:buNone/>
            </a:pPr>
            <a:r>
              <a:rPr lang="en-US" sz="1000" b="1" dirty="0">
                <a:solidFill>
                  <a:schemeClr val="bg1"/>
                </a:solidFill>
              </a:rPr>
              <a:t>Alta</a:t>
            </a:r>
            <a:endParaRPr lang="en-US" sz="1000" dirty="0"/>
          </a:p>
        </p:txBody>
      </p:sp>
      <p:sp>
        <p:nvSpPr>
          <p:cNvPr id="24" name="riga 10.5"/>
          <p:cNvSpPr/>
          <p:nvPr/>
        </p:nvSpPr>
        <p:spPr>
          <a:xfrm>
            <a:off x="457200" y="2743200"/>
            <a:ext cx="5120640" cy="365760"/>
          </a:xfrm>
          <a:prstGeom prst="roundRect">
            <a:avLst>
              <a:gd name="adj" fmla="val 20000"/>
            </a:avLst>
          </a:prstGeom>
          <a:solidFill>
            <a:schemeClr val="bg2"/>
          </a:solidFill>
          <a:ln/>
        </p:spPr>
      </p:sp>
      <p:sp>
        <p:nvSpPr>
          <p:cNvPr id="25" name="Text 22"/>
          <p:cNvSpPr txBox="1"/>
          <p:nvPr/>
        </p:nvSpPr>
        <p:spPr>
          <a:xfrm>
            <a:off x="594360" y="2743200"/>
            <a:ext cx="502920" cy="365760"/>
          </a:xfrm>
          <a:prstGeom prst="rect">
            <a:avLst/>
          </a:prstGeom>
          <a:noFill/>
          <a:ln/>
        </p:spPr>
        <p:txBody>
          <a:bodyPr wrap="square" lIns="0" tIns="0" rIns="0" bIns="0" rtlCol="0" anchor="ctr"/>
          <a:lstStyle/>
          <a:p>
            <a:pPr indent="0" marL="0">
              <a:buNone/>
            </a:pPr>
            <a:r>
              <a:rPr lang="en-US" sz="1300" b="1" dirty="0">
                <a:solidFill>
                  <a:schemeClr val="accent1"/>
                </a:solidFill>
              </a:rPr>
              <a:t>10.5</a:t>
            </a:r>
            <a:endParaRPr lang="en-US" sz="1300" dirty="0"/>
          </a:p>
        </p:txBody>
      </p:sp>
      <p:sp>
        <p:nvSpPr>
          <p:cNvPr id="26" name="Text 23"/>
          <p:cNvSpPr txBox="1"/>
          <p:nvPr/>
        </p:nvSpPr>
        <p:spPr>
          <a:xfrm>
            <a:off x="1097280" y="2743200"/>
            <a:ext cx="3566160" cy="365760"/>
          </a:xfrm>
          <a:prstGeom prst="rect">
            <a:avLst/>
          </a:prstGeom>
          <a:noFill/>
          <a:ln/>
        </p:spPr>
        <p:txBody>
          <a:bodyPr wrap="square" lIns="0" tIns="0" rIns="0" bIns="0" rtlCol="0" anchor="ctr"/>
          <a:lstStyle/>
          <a:p>
            <a:pPr indent="0" marL="0">
              <a:buNone/>
            </a:pPr>
            <a:r>
              <a:rPr lang="en-US" sz="1300" dirty="0">
                <a:solidFill>
                  <a:schemeClr val="tx1"/>
                </a:solidFill>
              </a:rPr>
              <a:t>Comprensione e generazione video</a:t>
            </a:r>
            <a:endParaRPr lang="en-US" sz="1300" dirty="0"/>
          </a:p>
        </p:txBody>
      </p:sp>
      <p:sp>
        <p:nvSpPr>
          <p:cNvPr id="27" name="priorità 10.5"/>
          <p:cNvSpPr/>
          <p:nvPr/>
        </p:nvSpPr>
        <p:spPr>
          <a:xfrm>
            <a:off x="4754880" y="2807208"/>
            <a:ext cx="731520" cy="237744"/>
          </a:xfrm>
          <a:prstGeom prst="roundRect">
            <a:avLst>
              <a:gd name="adj" fmla="val 50000"/>
            </a:avLst>
          </a:prstGeom>
          <a:solidFill>
            <a:schemeClr val="bg1"/>
          </a:solidFill>
          <a:ln w="12700">
            <a:solidFill>
              <a:schemeClr val="accent1"/>
            </a:solidFill>
            <a:prstDash val="solid"/>
          </a:ln>
        </p:spPr>
      </p:sp>
      <p:sp>
        <p:nvSpPr>
          <p:cNvPr id="28" name="Text 25"/>
          <p:cNvSpPr txBox="1"/>
          <p:nvPr/>
        </p:nvSpPr>
        <p:spPr>
          <a:xfrm>
            <a:off x="4754880" y="2807208"/>
            <a:ext cx="731520" cy="237744"/>
          </a:xfrm>
          <a:prstGeom prst="rect">
            <a:avLst/>
          </a:prstGeom>
          <a:noFill/>
          <a:ln/>
        </p:spPr>
        <p:txBody>
          <a:bodyPr wrap="square" lIns="0" tIns="0" rIns="0" bIns="0" rtlCol="0" anchor="ctr"/>
          <a:lstStyle/>
          <a:p>
            <a:pPr algn="ctr" indent="0" marL="0">
              <a:buNone/>
            </a:pPr>
            <a:r>
              <a:rPr lang="en-US" sz="1000" b="1" dirty="0">
                <a:solidFill>
                  <a:schemeClr val="accent1"/>
                </a:solidFill>
              </a:rPr>
              <a:t>Media</a:t>
            </a:r>
            <a:endParaRPr lang="en-US" sz="1000" dirty="0"/>
          </a:p>
        </p:txBody>
      </p:sp>
      <p:sp>
        <p:nvSpPr>
          <p:cNvPr id="29" name="riga 10.6"/>
          <p:cNvSpPr/>
          <p:nvPr/>
        </p:nvSpPr>
        <p:spPr>
          <a:xfrm>
            <a:off x="457200" y="3172968"/>
            <a:ext cx="5120640" cy="365760"/>
          </a:xfrm>
          <a:prstGeom prst="roundRect">
            <a:avLst>
              <a:gd name="adj" fmla="val 20000"/>
            </a:avLst>
          </a:prstGeom>
          <a:solidFill>
            <a:schemeClr val="bg1"/>
          </a:solidFill>
          <a:ln/>
        </p:spPr>
      </p:sp>
      <p:sp>
        <p:nvSpPr>
          <p:cNvPr id="30" name="Text 27"/>
          <p:cNvSpPr txBox="1"/>
          <p:nvPr/>
        </p:nvSpPr>
        <p:spPr>
          <a:xfrm>
            <a:off x="594360" y="3172968"/>
            <a:ext cx="502920" cy="365760"/>
          </a:xfrm>
          <a:prstGeom prst="rect">
            <a:avLst/>
          </a:prstGeom>
          <a:noFill/>
          <a:ln/>
        </p:spPr>
        <p:txBody>
          <a:bodyPr wrap="square" lIns="0" tIns="0" rIns="0" bIns="0" rtlCol="0" anchor="ctr"/>
          <a:lstStyle/>
          <a:p>
            <a:pPr indent="0" marL="0">
              <a:buNone/>
            </a:pPr>
            <a:r>
              <a:rPr lang="en-US" sz="1300" b="1" dirty="0">
                <a:solidFill>
                  <a:schemeClr val="accent1"/>
                </a:solidFill>
              </a:rPr>
              <a:t>10.6</a:t>
            </a:r>
            <a:endParaRPr lang="en-US" sz="1300" dirty="0"/>
          </a:p>
        </p:txBody>
      </p:sp>
      <p:sp>
        <p:nvSpPr>
          <p:cNvPr id="31" name="Text 28"/>
          <p:cNvSpPr txBox="1"/>
          <p:nvPr/>
        </p:nvSpPr>
        <p:spPr>
          <a:xfrm>
            <a:off x="1097280" y="3172968"/>
            <a:ext cx="3566160" cy="365760"/>
          </a:xfrm>
          <a:prstGeom prst="rect">
            <a:avLst/>
          </a:prstGeom>
          <a:noFill/>
          <a:ln/>
        </p:spPr>
        <p:txBody>
          <a:bodyPr wrap="square" lIns="0" tIns="0" rIns="0" bIns="0" rtlCol="0" anchor="ctr"/>
          <a:lstStyle/>
          <a:p>
            <a:pPr indent="0" marL="0">
              <a:buNone/>
            </a:pPr>
            <a:r>
              <a:rPr lang="en-US" sz="1300" dirty="0">
                <a:solidFill>
                  <a:schemeClr val="tx1"/>
                </a:solidFill>
              </a:rPr>
              <a:t>Presentazioni e comunicazione</a:t>
            </a:r>
            <a:endParaRPr lang="en-US" sz="1300" dirty="0"/>
          </a:p>
        </p:txBody>
      </p:sp>
      <p:sp>
        <p:nvSpPr>
          <p:cNvPr id="32" name="priorità 10.6"/>
          <p:cNvSpPr/>
          <p:nvPr/>
        </p:nvSpPr>
        <p:spPr>
          <a:xfrm>
            <a:off x="4754880" y="3236976"/>
            <a:ext cx="731520" cy="237744"/>
          </a:xfrm>
          <a:prstGeom prst="roundRect">
            <a:avLst>
              <a:gd name="adj" fmla="val 50000"/>
            </a:avLst>
          </a:prstGeom>
          <a:solidFill>
            <a:schemeClr val="accent1"/>
          </a:solidFill>
          <a:ln w="12700">
            <a:solidFill>
              <a:schemeClr val="accent1"/>
            </a:solidFill>
            <a:prstDash val="solid"/>
          </a:ln>
        </p:spPr>
      </p:sp>
      <p:sp>
        <p:nvSpPr>
          <p:cNvPr id="33" name="Text 30"/>
          <p:cNvSpPr txBox="1"/>
          <p:nvPr/>
        </p:nvSpPr>
        <p:spPr>
          <a:xfrm>
            <a:off x="4754880" y="3236976"/>
            <a:ext cx="731520" cy="237744"/>
          </a:xfrm>
          <a:prstGeom prst="rect">
            <a:avLst/>
          </a:prstGeom>
          <a:noFill/>
          <a:ln/>
        </p:spPr>
        <p:txBody>
          <a:bodyPr wrap="square" lIns="0" tIns="0" rIns="0" bIns="0" rtlCol="0" anchor="ctr"/>
          <a:lstStyle/>
          <a:p>
            <a:pPr algn="ctr" indent="0" marL="0">
              <a:buNone/>
            </a:pPr>
            <a:r>
              <a:rPr lang="en-US" sz="1000" b="1" dirty="0">
                <a:solidFill>
                  <a:schemeClr val="bg1"/>
                </a:solidFill>
              </a:rPr>
              <a:t>Alta</a:t>
            </a:r>
            <a:endParaRPr lang="en-US" sz="1000" dirty="0"/>
          </a:p>
        </p:txBody>
      </p:sp>
      <p:sp>
        <p:nvSpPr>
          <p:cNvPr id="34" name="riga 10.7"/>
          <p:cNvSpPr/>
          <p:nvPr/>
        </p:nvSpPr>
        <p:spPr>
          <a:xfrm>
            <a:off x="457200" y="3602736"/>
            <a:ext cx="5120640" cy="365760"/>
          </a:xfrm>
          <a:prstGeom prst="roundRect">
            <a:avLst>
              <a:gd name="adj" fmla="val 20000"/>
            </a:avLst>
          </a:prstGeom>
          <a:solidFill>
            <a:schemeClr val="bg2"/>
          </a:solidFill>
          <a:ln/>
        </p:spPr>
      </p:sp>
      <p:sp>
        <p:nvSpPr>
          <p:cNvPr id="35" name="Text 32"/>
          <p:cNvSpPr txBox="1"/>
          <p:nvPr/>
        </p:nvSpPr>
        <p:spPr>
          <a:xfrm>
            <a:off x="594360" y="3602736"/>
            <a:ext cx="502920" cy="365760"/>
          </a:xfrm>
          <a:prstGeom prst="rect">
            <a:avLst/>
          </a:prstGeom>
          <a:noFill/>
          <a:ln/>
        </p:spPr>
        <p:txBody>
          <a:bodyPr wrap="square" lIns="0" tIns="0" rIns="0" bIns="0" rtlCol="0" anchor="ctr"/>
          <a:lstStyle/>
          <a:p>
            <a:pPr indent="0" marL="0">
              <a:buNone/>
            </a:pPr>
            <a:r>
              <a:rPr lang="en-US" sz="1300" b="1" dirty="0">
                <a:solidFill>
                  <a:schemeClr val="accent1"/>
                </a:solidFill>
              </a:rPr>
              <a:t>10.7</a:t>
            </a:r>
            <a:endParaRPr lang="en-US" sz="1300" dirty="0"/>
          </a:p>
        </p:txBody>
      </p:sp>
      <p:sp>
        <p:nvSpPr>
          <p:cNvPr id="36" name="Text 33"/>
          <p:cNvSpPr txBox="1"/>
          <p:nvPr/>
        </p:nvSpPr>
        <p:spPr>
          <a:xfrm>
            <a:off x="1097280" y="3602736"/>
            <a:ext cx="3566160" cy="365760"/>
          </a:xfrm>
          <a:prstGeom prst="rect">
            <a:avLst/>
          </a:prstGeom>
          <a:noFill/>
          <a:ln/>
        </p:spPr>
        <p:txBody>
          <a:bodyPr wrap="square" lIns="0" tIns="0" rIns="0" bIns="0" rtlCol="0" anchor="ctr"/>
          <a:lstStyle/>
          <a:p>
            <a:pPr indent="0" marL="0">
              <a:buNone/>
            </a:pPr>
            <a:r>
              <a:rPr lang="en-US" sz="1300" dirty="0">
                <a:solidFill>
                  <a:schemeClr val="tx1"/>
                </a:solidFill>
              </a:rPr>
              <a:t>Trasformazioni tra modalità</a:t>
            </a:r>
            <a:endParaRPr lang="en-US" sz="1300" dirty="0"/>
          </a:p>
        </p:txBody>
      </p:sp>
      <p:sp>
        <p:nvSpPr>
          <p:cNvPr id="37" name="priorità 10.7"/>
          <p:cNvSpPr/>
          <p:nvPr/>
        </p:nvSpPr>
        <p:spPr>
          <a:xfrm>
            <a:off x="4754880" y="3666744"/>
            <a:ext cx="731520" cy="237744"/>
          </a:xfrm>
          <a:prstGeom prst="roundRect">
            <a:avLst>
              <a:gd name="adj" fmla="val 50000"/>
            </a:avLst>
          </a:prstGeom>
          <a:solidFill>
            <a:schemeClr val="accent1"/>
          </a:solidFill>
          <a:ln w="12700">
            <a:solidFill>
              <a:schemeClr val="accent1"/>
            </a:solidFill>
            <a:prstDash val="solid"/>
          </a:ln>
        </p:spPr>
      </p:sp>
      <p:sp>
        <p:nvSpPr>
          <p:cNvPr id="38" name="Text 35"/>
          <p:cNvSpPr txBox="1"/>
          <p:nvPr/>
        </p:nvSpPr>
        <p:spPr>
          <a:xfrm>
            <a:off x="4754880" y="3666744"/>
            <a:ext cx="731520" cy="237744"/>
          </a:xfrm>
          <a:prstGeom prst="rect">
            <a:avLst/>
          </a:prstGeom>
          <a:noFill/>
          <a:ln/>
        </p:spPr>
        <p:txBody>
          <a:bodyPr wrap="square" lIns="0" tIns="0" rIns="0" bIns="0" rtlCol="0" anchor="ctr"/>
          <a:lstStyle/>
          <a:p>
            <a:pPr algn="ctr" indent="0" marL="0">
              <a:buNone/>
            </a:pPr>
            <a:r>
              <a:rPr lang="en-US" sz="1000" b="1" dirty="0">
                <a:solidFill>
                  <a:schemeClr val="bg1"/>
                </a:solidFill>
              </a:rPr>
              <a:t>Alta</a:t>
            </a:r>
            <a:endParaRPr lang="en-US" sz="1000" dirty="0"/>
          </a:p>
        </p:txBody>
      </p:sp>
      <p:sp>
        <p:nvSpPr>
          <p:cNvPr id="39" name="riga 10.8"/>
          <p:cNvSpPr/>
          <p:nvPr/>
        </p:nvSpPr>
        <p:spPr>
          <a:xfrm>
            <a:off x="457200" y="4032504"/>
            <a:ext cx="5120640" cy="365760"/>
          </a:xfrm>
          <a:prstGeom prst="roundRect">
            <a:avLst>
              <a:gd name="adj" fmla="val 20000"/>
            </a:avLst>
          </a:prstGeom>
          <a:solidFill>
            <a:schemeClr val="bg1"/>
          </a:solidFill>
          <a:ln/>
        </p:spPr>
      </p:sp>
      <p:sp>
        <p:nvSpPr>
          <p:cNvPr id="40" name="Text 37"/>
          <p:cNvSpPr txBox="1"/>
          <p:nvPr/>
        </p:nvSpPr>
        <p:spPr>
          <a:xfrm>
            <a:off x="594360" y="4032504"/>
            <a:ext cx="502920" cy="365760"/>
          </a:xfrm>
          <a:prstGeom prst="rect">
            <a:avLst/>
          </a:prstGeom>
          <a:noFill/>
          <a:ln/>
        </p:spPr>
        <p:txBody>
          <a:bodyPr wrap="square" lIns="0" tIns="0" rIns="0" bIns="0" rtlCol="0" anchor="ctr"/>
          <a:lstStyle/>
          <a:p>
            <a:pPr indent="0" marL="0">
              <a:buNone/>
            </a:pPr>
            <a:r>
              <a:rPr lang="en-US" sz="1300" b="1" dirty="0">
                <a:solidFill>
                  <a:schemeClr val="accent1"/>
                </a:solidFill>
              </a:rPr>
              <a:t>10.8</a:t>
            </a:r>
            <a:endParaRPr lang="en-US" sz="1300" dirty="0"/>
          </a:p>
        </p:txBody>
      </p:sp>
      <p:sp>
        <p:nvSpPr>
          <p:cNvPr id="41" name="Text 38"/>
          <p:cNvSpPr txBox="1"/>
          <p:nvPr/>
        </p:nvSpPr>
        <p:spPr>
          <a:xfrm>
            <a:off x="1097280" y="4032504"/>
            <a:ext cx="3566160" cy="365760"/>
          </a:xfrm>
          <a:prstGeom prst="rect">
            <a:avLst/>
          </a:prstGeom>
          <a:noFill/>
          <a:ln/>
        </p:spPr>
        <p:txBody>
          <a:bodyPr wrap="square" lIns="0" tIns="0" rIns="0" bIns="0" rtlCol="0" anchor="ctr"/>
          <a:lstStyle/>
          <a:p>
            <a:pPr indent="0" marL="0">
              <a:buNone/>
            </a:pPr>
            <a:r>
              <a:rPr lang="en-US" sz="1300" dirty="0">
                <a:solidFill>
                  <a:schemeClr val="tx1"/>
                </a:solidFill>
              </a:rPr>
              <a:t>Limiti, autenticità, affidabilità</a:t>
            </a:r>
            <a:endParaRPr lang="en-US" sz="1300" dirty="0"/>
          </a:p>
        </p:txBody>
      </p:sp>
      <p:sp>
        <p:nvSpPr>
          <p:cNvPr id="42" name="priorità 10.8"/>
          <p:cNvSpPr/>
          <p:nvPr/>
        </p:nvSpPr>
        <p:spPr>
          <a:xfrm>
            <a:off x="4754880" y="4096512"/>
            <a:ext cx="731520" cy="237744"/>
          </a:xfrm>
          <a:prstGeom prst="roundRect">
            <a:avLst>
              <a:gd name="adj" fmla="val 50000"/>
            </a:avLst>
          </a:prstGeom>
          <a:solidFill>
            <a:schemeClr val="accent1"/>
          </a:solidFill>
          <a:ln w="12700">
            <a:solidFill>
              <a:schemeClr val="accent1"/>
            </a:solidFill>
            <a:prstDash val="solid"/>
          </a:ln>
        </p:spPr>
      </p:sp>
      <p:sp>
        <p:nvSpPr>
          <p:cNvPr id="43" name="Text 40"/>
          <p:cNvSpPr txBox="1"/>
          <p:nvPr/>
        </p:nvSpPr>
        <p:spPr>
          <a:xfrm>
            <a:off x="4754880" y="4096512"/>
            <a:ext cx="731520" cy="237744"/>
          </a:xfrm>
          <a:prstGeom prst="rect">
            <a:avLst/>
          </a:prstGeom>
          <a:noFill/>
          <a:ln/>
        </p:spPr>
        <p:txBody>
          <a:bodyPr wrap="square" lIns="0" tIns="0" rIns="0" bIns="0" rtlCol="0" anchor="ctr"/>
          <a:lstStyle/>
          <a:p>
            <a:pPr algn="ctr" indent="0" marL="0">
              <a:buNone/>
            </a:pPr>
            <a:r>
              <a:rPr lang="en-US" sz="1000" b="1" dirty="0">
                <a:solidFill>
                  <a:schemeClr val="bg1"/>
                </a:solidFill>
              </a:rPr>
              <a:t>Alta</a:t>
            </a:r>
            <a:endParaRPr lang="en-US" sz="1000" dirty="0"/>
          </a:p>
        </p:txBody>
      </p:sp>
      <p:sp>
        <p:nvSpPr>
          <p:cNvPr id="44" name="livello Comprendere e sperimentare"/>
          <p:cNvSpPr/>
          <p:nvPr/>
        </p:nvSpPr>
        <p:spPr>
          <a:xfrm>
            <a:off x="5806440" y="1024128"/>
            <a:ext cx="2880360" cy="1024128"/>
          </a:xfrm>
          <a:prstGeom prst="roundRect">
            <a:avLst>
              <a:gd name="adj" fmla="val 7143"/>
            </a:avLst>
          </a:prstGeom>
          <a:solidFill>
            <a:schemeClr val="accent1"/>
          </a:solidFill>
          <a:ln/>
        </p:spPr>
      </p:sp>
      <p:sp>
        <p:nvSpPr>
          <p:cNvPr id="45" name="Text 42"/>
          <p:cNvSpPr txBox="1"/>
          <p:nvPr/>
        </p:nvSpPr>
        <p:spPr>
          <a:xfrm>
            <a:off x="5943600" y="1097280"/>
            <a:ext cx="2651760" cy="274320"/>
          </a:xfrm>
          <a:prstGeom prst="rect">
            <a:avLst/>
          </a:prstGeom>
          <a:noFill/>
          <a:ln/>
        </p:spPr>
        <p:txBody>
          <a:bodyPr wrap="square" lIns="0" tIns="0" rIns="0" bIns="0" rtlCol="0" anchor="t"/>
          <a:lstStyle/>
          <a:p>
            <a:pPr indent="0" marL="0">
              <a:buNone/>
            </a:pPr>
            <a:r>
              <a:rPr lang="en-US" sz="1300" b="1" dirty="0">
                <a:solidFill>
                  <a:schemeClr val="bg1"/>
                </a:solidFill>
              </a:rPr>
              <a:t>Comprendere e sperimentare</a:t>
            </a:r>
            <a:endParaRPr lang="en-US" sz="1300" dirty="0"/>
          </a:p>
        </p:txBody>
      </p:sp>
      <p:sp>
        <p:nvSpPr>
          <p:cNvPr id="46" name="Text 43"/>
          <p:cNvSpPr txBox="1"/>
          <p:nvPr/>
        </p:nvSpPr>
        <p:spPr>
          <a:xfrm>
            <a:off x="5943600" y="1389888"/>
            <a:ext cx="2651760" cy="621792"/>
          </a:xfrm>
          <a:prstGeom prst="rect">
            <a:avLst/>
          </a:prstGeom>
          <a:noFill/>
          <a:ln/>
        </p:spPr>
        <p:txBody>
          <a:bodyPr wrap="square" lIns="0" tIns="0" rIns="0" bIns="0" rtlCol="0" anchor="t"/>
          <a:lstStyle/>
          <a:p>
            <a:pPr indent="0" marL="0">
              <a:buNone/>
            </a:pPr>
            <a:r>
              <a:rPr lang="en-US" sz="1000" dirty="0">
                <a:solidFill>
                  <a:schemeClr val="bg1"/>
                </a:solidFill>
              </a:rPr>
              <a:t>Interpretare immagini, generare e modificare, trascrivere, voce, trasformazioni</a:t>
            </a:r>
            <a:endParaRPr lang="en-US" sz="1000" dirty="0"/>
          </a:p>
        </p:txBody>
      </p:sp>
      <p:sp>
        <p:nvSpPr>
          <p:cNvPr id="47" name="livello Conoscere"/>
          <p:cNvSpPr/>
          <p:nvPr/>
        </p:nvSpPr>
        <p:spPr>
          <a:xfrm>
            <a:off x="5806440" y="2185416"/>
            <a:ext cx="2880360" cy="1024128"/>
          </a:xfrm>
          <a:prstGeom prst="roundRect">
            <a:avLst>
              <a:gd name="adj" fmla="val 7143"/>
            </a:avLst>
          </a:prstGeom>
          <a:solidFill>
            <a:schemeClr val="accent6"/>
          </a:solidFill>
          <a:ln/>
        </p:spPr>
      </p:sp>
      <p:sp>
        <p:nvSpPr>
          <p:cNvPr id="48" name="Text 45"/>
          <p:cNvSpPr txBox="1"/>
          <p:nvPr/>
        </p:nvSpPr>
        <p:spPr>
          <a:xfrm>
            <a:off x="5943600" y="2258568"/>
            <a:ext cx="2651760" cy="274320"/>
          </a:xfrm>
          <a:prstGeom prst="rect">
            <a:avLst/>
          </a:prstGeom>
          <a:noFill/>
          <a:ln/>
        </p:spPr>
        <p:txBody>
          <a:bodyPr wrap="square" lIns="0" tIns="0" rIns="0" bIns="0" rtlCol="0" anchor="t"/>
          <a:lstStyle/>
          <a:p>
            <a:pPr indent="0" marL="0">
              <a:buNone/>
            </a:pPr>
            <a:r>
              <a:rPr lang="en-US" sz="1300" b="1" dirty="0">
                <a:solidFill>
                  <a:schemeClr val="tx1"/>
                </a:solidFill>
              </a:rPr>
              <a:t>Conoscere</a:t>
            </a:r>
            <a:endParaRPr lang="en-US" sz="1300" dirty="0"/>
          </a:p>
        </p:txBody>
      </p:sp>
      <p:sp>
        <p:nvSpPr>
          <p:cNvPr id="49" name="Text 46"/>
          <p:cNvSpPr txBox="1"/>
          <p:nvPr/>
        </p:nvSpPr>
        <p:spPr>
          <a:xfrm>
            <a:off x="5943600" y="2551176"/>
            <a:ext cx="2651760" cy="621792"/>
          </a:xfrm>
          <a:prstGeom prst="rect">
            <a:avLst/>
          </a:prstGeom>
          <a:noFill/>
          <a:ln/>
        </p:spPr>
        <p:txBody>
          <a:bodyPr wrap="square" lIns="0" tIns="0" rIns="0" bIns="0" rtlCol="0" anchor="t"/>
          <a:lstStyle/>
          <a:p>
            <a:pPr indent="0" marL="0">
              <a:buNone/>
            </a:pPr>
            <a:r>
              <a:rPr lang="en-US" sz="1000" dirty="0">
                <a:solidFill>
                  <a:schemeClr val="tx1"/>
                </a:solidFill>
              </a:rPr>
              <a:t>Video, presentazioni, accessibilità, autenticità, provenienza, coerenza</a:t>
            </a:r>
            <a:endParaRPr lang="en-US" sz="1000" dirty="0"/>
          </a:p>
        </p:txBody>
      </p:sp>
      <p:sp>
        <p:nvSpPr>
          <p:cNvPr id="50" name="livello Solo accennare"/>
          <p:cNvSpPr/>
          <p:nvPr/>
        </p:nvSpPr>
        <p:spPr>
          <a:xfrm>
            <a:off x="5806440" y="3346704"/>
            <a:ext cx="2880360" cy="1024128"/>
          </a:xfrm>
          <a:prstGeom prst="roundRect">
            <a:avLst>
              <a:gd name="adj" fmla="val 7143"/>
            </a:avLst>
          </a:prstGeom>
          <a:solidFill>
            <a:schemeClr val="bg2"/>
          </a:solidFill>
          <a:ln/>
        </p:spPr>
      </p:sp>
      <p:sp>
        <p:nvSpPr>
          <p:cNvPr id="51" name="Text 48"/>
          <p:cNvSpPr txBox="1"/>
          <p:nvPr/>
        </p:nvSpPr>
        <p:spPr>
          <a:xfrm>
            <a:off x="5943600" y="3419856"/>
            <a:ext cx="2651760" cy="274320"/>
          </a:xfrm>
          <a:prstGeom prst="rect">
            <a:avLst/>
          </a:prstGeom>
          <a:noFill/>
          <a:ln/>
        </p:spPr>
        <p:txBody>
          <a:bodyPr wrap="square" lIns="0" tIns="0" rIns="0" bIns="0" rtlCol="0" anchor="t"/>
          <a:lstStyle/>
          <a:p>
            <a:pPr indent="0" marL="0">
              <a:buNone/>
            </a:pPr>
            <a:r>
              <a:rPr lang="en-US" sz="1300" b="1" dirty="0">
                <a:solidFill>
                  <a:schemeClr val="tx1"/>
                </a:solidFill>
              </a:rPr>
              <a:t>Solo accennare</a:t>
            </a:r>
            <a:endParaRPr lang="en-US" sz="1300" dirty="0"/>
          </a:p>
        </p:txBody>
      </p:sp>
      <p:sp>
        <p:nvSpPr>
          <p:cNvPr id="52" name="Text 49"/>
          <p:cNvSpPr txBox="1"/>
          <p:nvPr/>
        </p:nvSpPr>
        <p:spPr>
          <a:xfrm>
            <a:off x="5943600" y="3712464"/>
            <a:ext cx="2651760" cy="621792"/>
          </a:xfrm>
          <a:prstGeom prst="rect">
            <a:avLst/>
          </a:prstGeom>
          <a:noFill/>
          <a:ln/>
        </p:spPr>
        <p:txBody>
          <a:bodyPr wrap="square" lIns="0" tIns="0" rIns="0" bIns="0" rtlCol="0" anchor="t"/>
          <a:lstStyle/>
          <a:p>
            <a:pPr indent="0" marL="0">
              <a:buNone/>
            </a:pPr>
            <a:r>
              <a:rPr lang="en-US" sz="1000" dirty="0">
                <a:solidFill>
                  <a:schemeClr val="tx1"/>
                </a:solidFill>
              </a:rPr>
              <a:t>Architetture, modelli di diffusione, editing professionale, verifica forense</a:t>
            </a:r>
            <a:endParaRPr lang="en-US" sz="10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640080" y="914400"/>
            <a:ext cx="3657600" cy="1005840"/>
          </a:xfrm>
          <a:prstGeom prst="rect">
            <a:avLst/>
          </a:prstGeom>
          <a:noFill/>
          <a:ln/>
        </p:spPr>
        <p:txBody>
          <a:bodyPr wrap="square" lIns="0" tIns="0" rIns="0" bIns="0" rtlCol="0" anchor="b"/>
          <a:lstStyle/>
          <a:p>
            <a:pPr indent="0" marL="0">
              <a:buNone/>
            </a:pPr>
            <a:r>
              <a:rPr lang="en-US" sz="6000" b="1" dirty="0">
                <a:solidFill>
                  <a:schemeClr val="accent1"/>
                </a:solidFill>
              </a:rPr>
              <a:t>10.1</a:t>
            </a:r>
            <a:endParaRPr lang="en-US" sz="6000" dirty="0"/>
          </a:p>
        </p:txBody>
      </p:sp>
      <p:sp>
        <p:nvSpPr>
          <p:cNvPr id="3" name="Text 0"/>
          <p:cNvSpPr/>
          <p:nvPr>
            <p:ph idx="101" type="title" hasCustomPrompt="1"/>
          </p:nvPr>
        </p:nvSpPr>
        <p:spPr>
          <a:xfrm>
            <a:off x="640080" y="2057400"/>
            <a:ext cx="7863840" cy="914400"/>
          </a:xfrm>
          <a:prstGeom prst="rect">
            <a:avLst/>
          </a:prstGeom>
          <a:noFill/>
          <a:ln/>
        </p:spPr>
        <p:txBody>
          <a:bodyPr wrap="square" lIns="0" tIns="0" rIns="0" bIns="0" rtlCol="0" anchor="t"/>
          <a:lstStyle/>
          <a:p>
            <a:pPr algn="l" indent="0" marL="0">
              <a:buNone/>
            </a:pPr>
            <a:r>
              <a:rPr lang="en-US" sz="3200" b="1" dirty="0">
                <a:solidFill>
                  <a:schemeClr val="bg1"/>
                </a:solidFill>
              </a:rPr>
              <a:t>Fondamenti dell'AI multimodale</a:t>
            </a:r>
            <a:endParaRPr lang="en-US" sz="3200" dirty="0"/>
          </a:p>
        </p:txBody>
      </p:sp>
      <p:sp>
        <p:nvSpPr>
          <p:cNvPr id="4" name="Text 0"/>
          <p:cNvSpPr/>
          <p:nvPr>
            <p:ph idx="102" type="body" hasCustomPrompt="1"/>
          </p:nvPr>
        </p:nvSpPr>
        <p:spPr>
          <a:xfrm>
            <a:off x="640080" y="3063240"/>
            <a:ext cx="7315200" cy="1097280"/>
          </a:xfrm>
          <a:prstGeom prst="rect">
            <a:avLst/>
          </a:prstGeom>
          <a:noFill/>
          <a:ln/>
        </p:spPr>
        <p:txBody>
          <a:bodyPr wrap="square" lIns="0" tIns="0" rIns="0" bIns="0" rtlCol="0" anchor="t"/>
          <a:lstStyle/>
          <a:p>
            <a:pPr indent="0" marL="0">
              <a:buNone/>
            </a:pPr>
            <a:r>
              <a:rPr lang="en-US" sz="1600" dirty="0">
                <a:solidFill>
                  <a:schemeClr val="accent3"/>
                </a:solidFill>
              </a:rPr>
              <a:t>Capacità effettive e modalità supportate dipendono dal sistema impiegato</a:t>
            </a:r>
            <a:endParaRPr lang="en-US"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Che cosa significa multimodale</a:t>
            </a:r>
            <a:endParaRPr lang="en-US" sz="2600" dirty="0"/>
          </a:p>
        </p:txBody>
      </p:sp>
      <p:sp>
        <p:nvSpPr>
          <p:cNvPr id="4" name="operazione Interpretare"/>
          <p:cNvSpPr/>
          <p:nvPr/>
        </p:nvSpPr>
        <p:spPr>
          <a:xfrm>
            <a:off x="6053328" y="384048"/>
            <a:ext cx="841248"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6053328" y="384048"/>
            <a:ext cx="841248" cy="237744"/>
          </a:xfrm>
          <a:prstGeom prst="rect">
            <a:avLst/>
          </a:prstGeom>
          <a:noFill/>
          <a:ln/>
        </p:spPr>
        <p:txBody>
          <a:bodyPr wrap="square" lIns="0" tIns="0" rIns="0" bIns="0" rtlCol="0" anchor="ctr"/>
          <a:lstStyle/>
          <a:p>
            <a:pPr algn="ctr" indent="0" marL="0">
              <a:buNone/>
            </a:pPr>
            <a:r>
              <a:rPr lang="en-US" sz="900" b="1" dirty="0">
                <a:solidFill>
                  <a:schemeClr val="accent1"/>
                </a:solidFill>
              </a:rPr>
              <a:t>Interpretare</a:t>
            </a:r>
            <a:endParaRPr lang="en-US" sz="900" dirty="0"/>
          </a:p>
        </p:txBody>
      </p:sp>
      <p:sp>
        <p:nvSpPr>
          <p:cNvPr id="6" name="operazione Generare"/>
          <p:cNvSpPr/>
          <p:nvPr/>
        </p:nvSpPr>
        <p:spPr>
          <a:xfrm>
            <a:off x="6940296" y="384048"/>
            <a:ext cx="841248"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940296" y="384048"/>
            <a:ext cx="841248" cy="237744"/>
          </a:xfrm>
          <a:prstGeom prst="rect">
            <a:avLst/>
          </a:prstGeom>
          <a:noFill/>
          <a:ln/>
        </p:spPr>
        <p:txBody>
          <a:bodyPr wrap="square" lIns="0" tIns="0" rIns="0" bIns="0" rtlCol="0" anchor="ctr"/>
          <a:lstStyle/>
          <a:p>
            <a:pPr algn="ctr" indent="0" marL="0">
              <a:buNone/>
            </a:pPr>
            <a:r>
              <a:rPr lang="en-US" sz="900" b="1" dirty="0">
                <a:solidFill>
                  <a:schemeClr val="accent1"/>
                </a:solidFill>
              </a:rPr>
              <a:t>Generare</a:t>
            </a:r>
            <a:endParaRPr lang="en-US" sz="900" dirty="0"/>
          </a:p>
        </p:txBody>
      </p:sp>
      <p:sp>
        <p:nvSpPr>
          <p:cNvPr id="8" name="operazione Trasformare"/>
          <p:cNvSpPr/>
          <p:nvPr/>
        </p:nvSpPr>
        <p:spPr>
          <a:xfrm>
            <a:off x="7827264" y="384048"/>
            <a:ext cx="841248"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827264" y="384048"/>
            <a:ext cx="841248" cy="237744"/>
          </a:xfrm>
          <a:prstGeom prst="rect">
            <a:avLst/>
          </a:prstGeom>
          <a:noFill/>
          <a:ln/>
        </p:spPr>
        <p:txBody>
          <a:bodyPr wrap="square" lIns="0" tIns="0" rIns="0" bIns="0" rtlCol="0" anchor="ctr"/>
          <a:lstStyle/>
          <a:p>
            <a:pPr algn="ctr" indent="0" marL="0">
              <a:buNone/>
            </a:pPr>
            <a:r>
              <a:rPr lang="en-US" sz="900" b="1" dirty="0">
                <a:solidFill>
                  <a:schemeClr val="accent1"/>
                </a:solidFill>
              </a:rPr>
              <a:t>Trasformare</a:t>
            </a:r>
            <a:endParaRPr lang="en-US" sz="900" dirty="0"/>
          </a:p>
        </p:txBody>
      </p:sp>
      <p:sp>
        <p:nvSpPr>
          <p:cNvPr id="10" name="Testo"/>
          <p:cNvSpPr/>
          <p:nvPr/>
        </p:nvSpPr>
        <p:spPr>
          <a:xfrm>
            <a:off x="457200" y="1051560"/>
            <a:ext cx="1965960" cy="2194560"/>
          </a:xfrm>
          <a:prstGeom prst="roundRect">
            <a:avLst>
              <a:gd name="adj" fmla="val 3721"/>
            </a:avLst>
          </a:prstGeom>
          <a:solidFill>
            <a:schemeClr val="accent6"/>
          </a:solidFill>
          <a:ln/>
        </p:spPr>
      </p:sp>
      <p:sp>
        <p:nvSpPr>
          <p:cNvPr id="11" name="cerchio FiType"/>
          <p:cNvSpPr/>
          <p:nvPr/>
        </p:nvSpPr>
        <p:spPr>
          <a:xfrm>
            <a:off x="1078992" y="1188720"/>
            <a:ext cx="731520" cy="731520"/>
          </a:xfrm>
          <a:prstGeom prst="ellipse">
            <a:avLst/>
          </a:prstGeom>
          <a:solidFill>
            <a:schemeClr val="accent1"/>
          </a:solidFill>
          <a:ln/>
        </p:spPr>
      </p:sp>
      <p:pic>
        <p:nvPicPr>
          <p:cNvPr id="12" name="Image 0" descr="FiType">    </p:cNvPr>
          <p:cNvPicPr>
            <a:picLocks noChangeAspect="1"/>
          </p:cNvPicPr>
          <p:nvPr/>
        </p:nvPicPr>
        <p:blipFill>
          <a:blip r:embed="rId1"/>
          <a:stretch>
            <a:fillRect/>
          </a:stretch>
        </p:blipFill>
        <p:spPr>
          <a:xfrm>
            <a:off x="1261872" y="1371600"/>
            <a:ext cx="365760" cy="365760"/>
          </a:xfrm>
          <a:prstGeom prst="rect">
            <a:avLst/>
          </a:prstGeom>
        </p:spPr>
      </p:pic>
      <p:sp>
        <p:nvSpPr>
          <p:cNvPr id="13" name="Text 9"/>
          <p:cNvSpPr txBox="1"/>
          <p:nvPr/>
        </p:nvSpPr>
        <p:spPr>
          <a:xfrm>
            <a:off x="548640" y="2011680"/>
            <a:ext cx="1783080" cy="384048"/>
          </a:xfrm>
          <a:prstGeom prst="rect">
            <a:avLst/>
          </a:prstGeom>
          <a:noFill/>
          <a:ln/>
        </p:spPr>
        <p:txBody>
          <a:bodyPr wrap="square" lIns="0" tIns="0" rIns="0" bIns="0" rtlCol="0" anchor="t"/>
          <a:lstStyle/>
          <a:p>
            <a:pPr algn="ctr" indent="0" marL="0">
              <a:buNone/>
            </a:pPr>
            <a:r>
              <a:rPr lang="en-US" sz="1700" b="1" dirty="0">
                <a:solidFill>
                  <a:schemeClr val="tx1"/>
                </a:solidFill>
              </a:rPr>
              <a:t>Testo</a:t>
            </a:r>
            <a:endParaRPr lang="en-US" sz="1700" dirty="0"/>
          </a:p>
        </p:txBody>
      </p:sp>
      <p:sp>
        <p:nvSpPr>
          <p:cNvPr id="14" name="Text 10"/>
          <p:cNvSpPr txBox="1"/>
          <p:nvPr/>
        </p:nvSpPr>
        <p:spPr>
          <a:xfrm>
            <a:off x="594360" y="2423160"/>
            <a:ext cx="1691640" cy="731520"/>
          </a:xfrm>
          <a:prstGeom prst="rect">
            <a:avLst/>
          </a:prstGeom>
          <a:noFill/>
          <a:ln/>
        </p:spPr>
        <p:txBody>
          <a:bodyPr wrap="square" lIns="0" tIns="0" rIns="0" bIns="0" rtlCol="0" anchor="t"/>
          <a:lstStyle/>
          <a:p>
            <a:pPr algn="ctr" indent="0" marL="0">
              <a:buNone/>
            </a:pPr>
            <a:r>
              <a:rPr lang="en-US" sz="1100" dirty="0">
                <a:solidFill>
                  <a:schemeClr val="tx2"/>
                </a:solidFill>
              </a:rPr>
              <a:t>La modalità centrale, spesso il ponte tra le altre</a:t>
            </a:r>
            <a:endParaRPr lang="en-US" sz="1100" dirty="0"/>
          </a:p>
        </p:txBody>
      </p:sp>
      <p:sp>
        <p:nvSpPr>
          <p:cNvPr id="15" name="Immagini"/>
          <p:cNvSpPr/>
          <p:nvPr/>
        </p:nvSpPr>
        <p:spPr>
          <a:xfrm>
            <a:off x="2560320" y="1051560"/>
            <a:ext cx="1965960" cy="2194560"/>
          </a:xfrm>
          <a:prstGeom prst="roundRect">
            <a:avLst>
              <a:gd name="adj" fmla="val 3721"/>
            </a:avLst>
          </a:prstGeom>
          <a:solidFill>
            <a:schemeClr val="bg2"/>
          </a:solidFill>
          <a:ln/>
        </p:spPr>
      </p:sp>
      <p:sp>
        <p:nvSpPr>
          <p:cNvPr id="16" name="cerchio FiImage"/>
          <p:cNvSpPr/>
          <p:nvPr/>
        </p:nvSpPr>
        <p:spPr>
          <a:xfrm>
            <a:off x="3182112" y="1188720"/>
            <a:ext cx="731520" cy="731520"/>
          </a:xfrm>
          <a:prstGeom prst="ellipse">
            <a:avLst/>
          </a:prstGeom>
          <a:solidFill>
            <a:schemeClr val="accent1"/>
          </a:solidFill>
          <a:ln/>
        </p:spPr>
      </p:sp>
      <p:pic>
        <p:nvPicPr>
          <p:cNvPr id="17" name="Image 1" descr="FiImage">    </p:cNvPr>
          <p:cNvPicPr>
            <a:picLocks noChangeAspect="1"/>
          </p:cNvPicPr>
          <p:nvPr/>
        </p:nvPicPr>
        <p:blipFill>
          <a:blip r:embed="rId2"/>
          <a:stretch>
            <a:fillRect/>
          </a:stretch>
        </p:blipFill>
        <p:spPr>
          <a:xfrm>
            <a:off x="3364992" y="1371600"/>
            <a:ext cx="365760" cy="365760"/>
          </a:xfrm>
          <a:prstGeom prst="rect">
            <a:avLst/>
          </a:prstGeom>
        </p:spPr>
      </p:pic>
      <p:sp>
        <p:nvSpPr>
          <p:cNvPr id="18" name="Text 13"/>
          <p:cNvSpPr txBox="1"/>
          <p:nvPr/>
        </p:nvSpPr>
        <p:spPr>
          <a:xfrm>
            <a:off x="2651760" y="2011680"/>
            <a:ext cx="1783080" cy="384048"/>
          </a:xfrm>
          <a:prstGeom prst="rect">
            <a:avLst/>
          </a:prstGeom>
          <a:noFill/>
          <a:ln/>
        </p:spPr>
        <p:txBody>
          <a:bodyPr wrap="square" lIns="0" tIns="0" rIns="0" bIns="0" rtlCol="0" anchor="t"/>
          <a:lstStyle/>
          <a:p>
            <a:pPr algn="ctr" indent="0" marL="0">
              <a:buNone/>
            </a:pPr>
            <a:r>
              <a:rPr lang="en-US" sz="1700" b="1" dirty="0">
                <a:solidFill>
                  <a:schemeClr val="tx1"/>
                </a:solidFill>
              </a:rPr>
              <a:t>Immagini</a:t>
            </a:r>
            <a:endParaRPr lang="en-US" sz="1700" dirty="0"/>
          </a:p>
        </p:txBody>
      </p:sp>
      <p:sp>
        <p:nvSpPr>
          <p:cNvPr id="19" name="Text 14"/>
          <p:cNvSpPr txBox="1"/>
          <p:nvPr/>
        </p:nvSpPr>
        <p:spPr>
          <a:xfrm>
            <a:off x="2697480" y="2423160"/>
            <a:ext cx="1691640" cy="731520"/>
          </a:xfrm>
          <a:prstGeom prst="rect">
            <a:avLst/>
          </a:prstGeom>
          <a:noFill/>
          <a:ln/>
        </p:spPr>
        <p:txBody>
          <a:bodyPr wrap="square" lIns="0" tIns="0" rIns="0" bIns="0" rtlCol="0" anchor="t"/>
          <a:lstStyle/>
          <a:p>
            <a:pPr algn="ctr" indent="0" marL="0">
              <a:buNone/>
            </a:pPr>
            <a:r>
              <a:rPr lang="en-US" sz="1100" dirty="0">
                <a:solidFill>
                  <a:schemeClr val="tx2"/>
                </a:solidFill>
              </a:rPr>
              <a:t>Fotografie, illustrazioni, diagrammi, schermate, scansioni</a:t>
            </a:r>
            <a:endParaRPr lang="en-US" sz="1100" dirty="0"/>
          </a:p>
        </p:txBody>
      </p:sp>
      <p:sp>
        <p:nvSpPr>
          <p:cNvPr id="20" name="Audio"/>
          <p:cNvSpPr/>
          <p:nvPr/>
        </p:nvSpPr>
        <p:spPr>
          <a:xfrm>
            <a:off x="4663440" y="1051560"/>
            <a:ext cx="1965960" cy="2194560"/>
          </a:xfrm>
          <a:prstGeom prst="roundRect">
            <a:avLst>
              <a:gd name="adj" fmla="val 3721"/>
            </a:avLst>
          </a:prstGeom>
          <a:solidFill>
            <a:schemeClr val="bg2"/>
          </a:solidFill>
          <a:ln/>
        </p:spPr>
      </p:sp>
      <p:sp>
        <p:nvSpPr>
          <p:cNvPr id="21" name="cerchio FiMic"/>
          <p:cNvSpPr/>
          <p:nvPr/>
        </p:nvSpPr>
        <p:spPr>
          <a:xfrm>
            <a:off x="5285232" y="1188720"/>
            <a:ext cx="731520" cy="731520"/>
          </a:xfrm>
          <a:prstGeom prst="ellipse">
            <a:avLst/>
          </a:prstGeom>
          <a:solidFill>
            <a:schemeClr val="accent1"/>
          </a:solidFill>
          <a:ln/>
        </p:spPr>
      </p:sp>
      <p:pic>
        <p:nvPicPr>
          <p:cNvPr id="22" name="Image 2" descr="FiMic">    </p:cNvPr>
          <p:cNvPicPr>
            <a:picLocks noChangeAspect="1"/>
          </p:cNvPicPr>
          <p:nvPr/>
        </p:nvPicPr>
        <p:blipFill>
          <a:blip r:embed="rId3"/>
          <a:stretch>
            <a:fillRect/>
          </a:stretch>
        </p:blipFill>
        <p:spPr>
          <a:xfrm>
            <a:off x="5468112" y="1371600"/>
            <a:ext cx="365760" cy="365760"/>
          </a:xfrm>
          <a:prstGeom prst="rect">
            <a:avLst/>
          </a:prstGeom>
        </p:spPr>
      </p:pic>
      <p:sp>
        <p:nvSpPr>
          <p:cNvPr id="23" name="Text 17"/>
          <p:cNvSpPr txBox="1"/>
          <p:nvPr/>
        </p:nvSpPr>
        <p:spPr>
          <a:xfrm>
            <a:off x="4754880" y="2011680"/>
            <a:ext cx="1783080" cy="384048"/>
          </a:xfrm>
          <a:prstGeom prst="rect">
            <a:avLst/>
          </a:prstGeom>
          <a:noFill/>
          <a:ln/>
        </p:spPr>
        <p:txBody>
          <a:bodyPr wrap="square" lIns="0" tIns="0" rIns="0" bIns="0" rtlCol="0" anchor="t"/>
          <a:lstStyle/>
          <a:p>
            <a:pPr algn="ctr" indent="0" marL="0">
              <a:buNone/>
            </a:pPr>
            <a:r>
              <a:rPr lang="en-US" sz="1700" b="1" dirty="0">
                <a:solidFill>
                  <a:schemeClr val="tx1"/>
                </a:solidFill>
              </a:rPr>
              <a:t>Audio</a:t>
            </a:r>
            <a:endParaRPr lang="en-US" sz="1700" dirty="0"/>
          </a:p>
        </p:txBody>
      </p:sp>
      <p:sp>
        <p:nvSpPr>
          <p:cNvPr id="24" name="Text 18"/>
          <p:cNvSpPr txBox="1"/>
          <p:nvPr/>
        </p:nvSpPr>
        <p:spPr>
          <a:xfrm>
            <a:off x="4800600" y="2423160"/>
            <a:ext cx="1691640" cy="731520"/>
          </a:xfrm>
          <a:prstGeom prst="rect">
            <a:avLst/>
          </a:prstGeom>
          <a:noFill/>
          <a:ln/>
        </p:spPr>
        <p:txBody>
          <a:bodyPr wrap="square" lIns="0" tIns="0" rIns="0" bIns="0" rtlCol="0" anchor="t"/>
          <a:lstStyle/>
          <a:p>
            <a:pPr algn="ctr" indent="0" marL="0">
              <a:buNone/>
            </a:pPr>
            <a:r>
              <a:rPr lang="en-US" sz="1100" dirty="0">
                <a:solidFill>
                  <a:schemeClr val="tx2"/>
                </a:solidFill>
              </a:rPr>
              <a:t>Parlato, musica, suoni</a:t>
            </a:r>
            <a:endParaRPr lang="en-US" sz="1100" dirty="0"/>
          </a:p>
        </p:txBody>
      </p:sp>
      <p:sp>
        <p:nvSpPr>
          <p:cNvPr id="25" name="Video"/>
          <p:cNvSpPr/>
          <p:nvPr/>
        </p:nvSpPr>
        <p:spPr>
          <a:xfrm>
            <a:off x="6766560" y="1051560"/>
            <a:ext cx="1965960" cy="2194560"/>
          </a:xfrm>
          <a:prstGeom prst="roundRect">
            <a:avLst>
              <a:gd name="adj" fmla="val 3721"/>
            </a:avLst>
          </a:prstGeom>
          <a:solidFill>
            <a:schemeClr val="bg2"/>
          </a:solidFill>
          <a:ln/>
        </p:spPr>
      </p:sp>
      <p:sp>
        <p:nvSpPr>
          <p:cNvPr id="26" name="cerchio FiFilm"/>
          <p:cNvSpPr/>
          <p:nvPr/>
        </p:nvSpPr>
        <p:spPr>
          <a:xfrm>
            <a:off x="7388352" y="1188720"/>
            <a:ext cx="731520" cy="731520"/>
          </a:xfrm>
          <a:prstGeom prst="ellipse">
            <a:avLst/>
          </a:prstGeom>
          <a:solidFill>
            <a:schemeClr val="accent1"/>
          </a:solidFill>
          <a:ln/>
        </p:spPr>
      </p:sp>
      <p:pic>
        <p:nvPicPr>
          <p:cNvPr id="27" name="Image 3" descr="FiFilm">    </p:cNvPr>
          <p:cNvPicPr>
            <a:picLocks noChangeAspect="1"/>
          </p:cNvPicPr>
          <p:nvPr/>
        </p:nvPicPr>
        <p:blipFill>
          <a:blip r:embed="rId4"/>
          <a:stretch>
            <a:fillRect/>
          </a:stretch>
        </p:blipFill>
        <p:spPr>
          <a:xfrm>
            <a:off x="7571232" y="1371600"/>
            <a:ext cx="365760" cy="365760"/>
          </a:xfrm>
          <a:prstGeom prst="rect">
            <a:avLst/>
          </a:prstGeom>
        </p:spPr>
      </p:pic>
      <p:sp>
        <p:nvSpPr>
          <p:cNvPr id="28" name="Text 21"/>
          <p:cNvSpPr txBox="1"/>
          <p:nvPr/>
        </p:nvSpPr>
        <p:spPr>
          <a:xfrm>
            <a:off x="6858000" y="2011680"/>
            <a:ext cx="1783080" cy="384048"/>
          </a:xfrm>
          <a:prstGeom prst="rect">
            <a:avLst/>
          </a:prstGeom>
          <a:noFill/>
          <a:ln/>
        </p:spPr>
        <p:txBody>
          <a:bodyPr wrap="square" lIns="0" tIns="0" rIns="0" bIns="0" rtlCol="0" anchor="t"/>
          <a:lstStyle/>
          <a:p>
            <a:pPr algn="ctr" indent="0" marL="0">
              <a:buNone/>
            </a:pPr>
            <a:r>
              <a:rPr lang="en-US" sz="1700" b="1" dirty="0">
                <a:solidFill>
                  <a:schemeClr val="tx1"/>
                </a:solidFill>
              </a:rPr>
              <a:t>Video</a:t>
            </a:r>
            <a:endParaRPr lang="en-US" sz="1700" dirty="0"/>
          </a:p>
        </p:txBody>
      </p:sp>
      <p:sp>
        <p:nvSpPr>
          <p:cNvPr id="29" name="Text 22"/>
          <p:cNvSpPr txBox="1"/>
          <p:nvPr/>
        </p:nvSpPr>
        <p:spPr>
          <a:xfrm>
            <a:off x="6903720" y="2423160"/>
            <a:ext cx="1691640" cy="731520"/>
          </a:xfrm>
          <a:prstGeom prst="rect">
            <a:avLst/>
          </a:prstGeom>
          <a:noFill/>
          <a:ln/>
        </p:spPr>
        <p:txBody>
          <a:bodyPr wrap="square" lIns="0" tIns="0" rIns="0" bIns="0" rtlCol="0" anchor="t"/>
          <a:lstStyle/>
          <a:p>
            <a:pPr algn="ctr" indent="0" marL="0">
              <a:buNone/>
            </a:pPr>
            <a:r>
              <a:rPr lang="en-US" sz="1100" dirty="0">
                <a:solidFill>
                  <a:schemeClr val="tx2"/>
                </a:solidFill>
              </a:rPr>
              <a:t>Immagini nel tempo, spesso con audio</a:t>
            </a:r>
            <a:endParaRPr lang="en-US" sz="1100" dirty="0"/>
          </a:p>
        </p:txBody>
      </p:sp>
      <p:sp>
        <p:nvSpPr>
          <p:cNvPr id="30" name="messaggio"/>
          <p:cNvSpPr/>
          <p:nvPr/>
        </p:nvSpPr>
        <p:spPr>
          <a:xfrm>
            <a:off x="457200" y="3474720"/>
            <a:ext cx="8229600" cy="594360"/>
          </a:xfrm>
          <a:prstGeom prst="roundRect">
            <a:avLst>
              <a:gd name="adj" fmla="val 12308"/>
            </a:avLst>
          </a:prstGeom>
          <a:solidFill>
            <a:schemeClr val="tx1"/>
          </a:solidFill>
          <a:ln/>
        </p:spPr>
      </p:sp>
      <p:sp>
        <p:nvSpPr>
          <p:cNvPr id="31" name="Text 24"/>
          <p:cNvSpPr txBox="1"/>
          <p:nvPr/>
        </p:nvSpPr>
        <p:spPr>
          <a:xfrm>
            <a:off x="640080" y="3474720"/>
            <a:ext cx="7863840" cy="594360"/>
          </a:xfrm>
          <a:prstGeom prst="rect">
            <a:avLst/>
          </a:prstGeom>
          <a:noFill/>
          <a:ln/>
        </p:spPr>
        <p:txBody>
          <a:bodyPr wrap="square" lIns="0" tIns="0" rIns="0" bIns="0" rtlCol="0" anchor="ctr"/>
          <a:lstStyle/>
          <a:p>
            <a:pPr indent="0" marL="0">
              <a:buNone/>
            </a:pPr>
            <a:r>
              <a:rPr lang="en-US" sz="1300" dirty="0">
                <a:solidFill>
                  <a:schemeClr val="bg1"/>
                </a:solidFill>
              </a:rPr>
              <a:t>Gli esseri umani sono naturalmente multimodali: in una riunione integriamo parole, slide, espressioni e appunti.</a:t>
            </a:r>
            <a:endParaRPr lang="en-US" sz="1300" dirty="0"/>
          </a:p>
        </p:txBody>
      </p:sp>
      <p:sp>
        <p:nvSpPr>
          <p:cNvPr id="32" name="Text 25"/>
          <p:cNvSpPr txBox="1"/>
          <p:nvPr/>
        </p:nvSpPr>
        <p:spPr>
          <a:xfrm>
            <a:off x="457200" y="4187952"/>
            <a:ext cx="8229600" cy="320040"/>
          </a:xfrm>
          <a:prstGeom prst="rect">
            <a:avLst/>
          </a:prstGeom>
          <a:noFill/>
          <a:ln/>
        </p:spPr>
        <p:txBody>
          <a:bodyPr wrap="square" lIns="0" tIns="0" rIns="0" bIns="0" rtlCol="0" anchor="t"/>
          <a:lstStyle/>
          <a:p>
            <a:pPr indent="0" marL="0">
              <a:buNone/>
            </a:pPr>
            <a:r>
              <a:rPr lang="en-US" sz="1200" i="1" dirty="0">
                <a:solidFill>
                  <a:schemeClr val="tx2"/>
                </a:solidFill>
              </a:rPr>
              <a:t>Un sistema può gestire bene alcune modalità e meno bene altre.</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Testuali e multimodali</a:t>
            </a:r>
            <a:endParaRPr lang="en-US" sz="2600" dirty="0"/>
          </a:p>
        </p:txBody>
      </p:sp>
      <p:sp>
        <p:nvSpPr>
          <p:cNvPr id="4" name="operazione Interpretare"/>
          <p:cNvSpPr/>
          <p:nvPr/>
        </p:nvSpPr>
        <p:spPr>
          <a:xfrm>
            <a:off x="6053328" y="384048"/>
            <a:ext cx="841248" cy="237744"/>
          </a:xfrm>
          <a:prstGeom prst="roundRect">
            <a:avLst>
              <a:gd name="adj" fmla="val 50000"/>
            </a:avLst>
          </a:prstGeom>
          <a:solidFill>
            <a:schemeClr val="accent1"/>
          </a:solidFill>
          <a:ln w="9525">
            <a:solidFill>
              <a:schemeClr val="accent1"/>
            </a:solidFill>
            <a:prstDash val="solid"/>
          </a:ln>
        </p:spPr>
      </p:sp>
      <p:sp>
        <p:nvSpPr>
          <p:cNvPr id="5" name="Text 2"/>
          <p:cNvSpPr txBox="1"/>
          <p:nvPr/>
        </p:nvSpPr>
        <p:spPr>
          <a:xfrm>
            <a:off x="6053328" y="384048"/>
            <a:ext cx="841248" cy="237744"/>
          </a:xfrm>
          <a:prstGeom prst="rect">
            <a:avLst/>
          </a:prstGeom>
          <a:noFill/>
          <a:ln/>
        </p:spPr>
        <p:txBody>
          <a:bodyPr wrap="square" lIns="0" tIns="0" rIns="0" bIns="0" rtlCol="0" anchor="ctr"/>
          <a:lstStyle/>
          <a:p>
            <a:pPr algn="ctr" indent="0" marL="0">
              <a:buNone/>
            </a:pPr>
            <a:r>
              <a:rPr lang="en-US" sz="900" b="1" dirty="0">
                <a:solidFill>
                  <a:schemeClr val="bg1"/>
                </a:solidFill>
              </a:rPr>
              <a:t>Interpretare</a:t>
            </a:r>
            <a:endParaRPr lang="en-US" sz="900" dirty="0"/>
          </a:p>
        </p:txBody>
      </p:sp>
      <p:sp>
        <p:nvSpPr>
          <p:cNvPr id="6" name="operazione Generare"/>
          <p:cNvSpPr/>
          <p:nvPr/>
        </p:nvSpPr>
        <p:spPr>
          <a:xfrm>
            <a:off x="6940296" y="384048"/>
            <a:ext cx="841248"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940296" y="384048"/>
            <a:ext cx="841248" cy="237744"/>
          </a:xfrm>
          <a:prstGeom prst="rect">
            <a:avLst/>
          </a:prstGeom>
          <a:noFill/>
          <a:ln/>
        </p:spPr>
        <p:txBody>
          <a:bodyPr wrap="square" lIns="0" tIns="0" rIns="0" bIns="0" rtlCol="0" anchor="ctr"/>
          <a:lstStyle/>
          <a:p>
            <a:pPr algn="ctr" indent="0" marL="0">
              <a:buNone/>
            </a:pPr>
            <a:r>
              <a:rPr lang="en-US" sz="900" b="1" dirty="0">
                <a:solidFill>
                  <a:schemeClr val="accent1"/>
                </a:solidFill>
              </a:rPr>
              <a:t>Generare</a:t>
            </a:r>
            <a:endParaRPr lang="en-US" sz="900" dirty="0"/>
          </a:p>
        </p:txBody>
      </p:sp>
      <p:sp>
        <p:nvSpPr>
          <p:cNvPr id="8" name="operazione Trasformare"/>
          <p:cNvSpPr/>
          <p:nvPr/>
        </p:nvSpPr>
        <p:spPr>
          <a:xfrm>
            <a:off x="7827264" y="384048"/>
            <a:ext cx="841248"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827264" y="384048"/>
            <a:ext cx="841248" cy="237744"/>
          </a:xfrm>
          <a:prstGeom prst="rect">
            <a:avLst/>
          </a:prstGeom>
          <a:noFill/>
          <a:ln/>
        </p:spPr>
        <p:txBody>
          <a:bodyPr wrap="square" lIns="0" tIns="0" rIns="0" bIns="0" rtlCol="0" anchor="ctr"/>
          <a:lstStyle/>
          <a:p>
            <a:pPr algn="ctr" indent="0" marL="0">
              <a:buNone/>
            </a:pPr>
            <a:r>
              <a:rPr lang="en-US" sz="900" b="1" dirty="0">
                <a:solidFill>
                  <a:schemeClr val="accent1"/>
                </a:solidFill>
              </a:rPr>
              <a:t>Trasformare</a:t>
            </a:r>
            <a:endParaRPr lang="en-US" sz="9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2743200"/>
                <a:gridCol w="2743200"/>
                <a:gridCol w="2743200"/>
              </a:tblGrid>
              <a:tr h="411480">
                <a:tc>
                  <a:txBody>
                    <a:bodyPr/>
                    <a:lstStyle/>
                    <a:p>
                      <a:pPr indent="0" marL="0">
                        <a:buNone/>
                      </a:pPr>
                      <a:r>
                        <a:rPr lang="en-US" sz="1300" b="1" dirty="0">
                          <a:solidFill>
                            <a:schemeClr val="bg1"/>
                          </a:solidFill>
                        </a:rPr>
                        <a:t>Compito</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Sistema testuale</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Sistema multimodale</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tr>
              <a:tr h="411480">
                <a:tc>
                  <a:txBody>
                    <a:bodyPr/>
                    <a:lstStyle/>
                    <a:p>
                      <a:pPr indent="0" marL="0">
                        <a:buNone/>
                      </a:pPr>
                      <a:r>
                        <a:rPr lang="en-US" sz="1300" b="1" dirty="0">
                          <a:solidFill>
                            <a:schemeClr val="tx1"/>
                          </a:solidFill>
                        </a:rPr>
                        <a:t>Un errore a schermo</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Descriverlo a parole</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Mostrare la schermata</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411480">
                <a:tc>
                  <a:txBody>
                    <a:bodyPr/>
                    <a:lstStyle/>
                    <a:p>
                      <a:pPr indent="0" marL="0">
                        <a:buNone/>
                      </a:pPr>
                      <a:r>
                        <a:rPr lang="en-US" sz="1300" b="1" dirty="0">
                          <a:solidFill>
                            <a:schemeClr val="tx1"/>
                          </a:solidFill>
                        </a:rPr>
                        <a:t>Un grafico da analizzare</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Trascriverne i valori</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Caricare l'immagine</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411480">
                <a:tc>
                  <a:txBody>
                    <a:bodyPr/>
                    <a:lstStyle/>
                    <a:p>
                      <a:pPr indent="0" marL="0">
                        <a:buNone/>
                      </a:pPr>
                      <a:r>
                        <a:rPr lang="en-US" sz="1300" b="1" dirty="0">
                          <a:solidFill>
                            <a:schemeClr val="tx1"/>
                          </a:solidFill>
                        </a:rPr>
                        <a:t>Una riunione da riassumere</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Trascriverla prima</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Fornire la registrazione</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bl>
          </a:graphicData>
        </a:graphic>
      </p:graphicFrame>
      <p:sp>
        <p:nvSpPr>
          <p:cNvPr id="11" name="scheda Un passaggio di interpretazione in più"/>
          <p:cNvSpPr/>
          <p:nvPr/>
        </p:nvSpPr>
        <p:spPr>
          <a:xfrm>
            <a:off x="457200" y="2834640"/>
            <a:ext cx="3977640" cy="1691640"/>
          </a:xfrm>
          <a:prstGeom prst="roundRect">
            <a:avLst>
              <a:gd name="adj" fmla="val 4324"/>
            </a:avLst>
          </a:prstGeom>
          <a:solidFill>
            <a:schemeClr val="bg2"/>
          </a:solidFill>
          <a:ln/>
        </p:spPr>
      </p:sp>
      <p:sp>
        <p:nvSpPr>
          <p:cNvPr id="12" name="cerchio FiEye"/>
          <p:cNvSpPr/>
          <p:nvPr/>
        </p:nvSpPr>
        <p:spPr>
          <a:xfrm>
            <a:off x="640080" y="3017520"/>
            <a:ext cx="457200" cy="457200"/>
          </a:xfrm>
          <a:prstGeom prst="ellipse">
            <a:avLst/>
          </a:prstGeom>
          <a:solidFill>
            <a:schemeClr val="accent1"/>
          </a:solidFill>
          <a:ln/>
        </p:spPr>
      </p:sp>
      <p:pic>
        <p:nvPicPr>
          <p:cNvPr id="13" name="Image 0" descr="FiEye">    </p:cNvPr>
          <p:cNvPicPr>
            <a:picLocks noChangeAspect="1"/>
          </p:cNvPicPr>
          <p:nvPr/>
        </p:nvPicPr>
        <p:blipFill>
          <a:blip r:embed="rId1"/>
          <a:stretch>
            <a:fillRect/>
          </a:stretch>
        </p:blipFill>
        <p:spPr>
          <a:xfrm>
            <a:off x="754380" y="3131820"/>
            <a:ext cx="228600" cy="228600"/>
          </a:xfrm>
          <a:prstGeom prst="rect">
            <a:avLst/>
          </a:prstGeom>
        </p:spPr>
      </p:pic>
      <p:sp>
        <p:nvSpPr>
          <p:cNvPr id="14" name="Text 9"/>
          <p:cNvSpPr txBox="1"/>
          <p:nvPr/>
        </p:nvSpPr>
        <p:spPr>
          <a:xfrm>
            <a:off x="1234440" y="3017520"/>
            <a:ext cx="3017520" cy="457200"/>
          </a:xfrm>
          <a:prstGeom prst="rect">
            <a:avLst/>
          </a:prstGeom>
          <a:noFill/>
          <a:ln/>
        </p:spPr>
        <p:txBody>
          <a:bodyPr wrap="square" lIns="0" tIns="0" rIns="0" bIns="0" rtlCol="0" anchor="ctr"/>
          <a:lstStyle/>
          <a:p>
            <a:pPr indent="0" marL="0">
              <a:buNone/>
            </a:pPr>
            <a:r>
              <a:rPr lang="en-US" sz="1300" b="1" dirty="0">
                <a:solidFill>
                  <a:schemeClr val="tx1"/>
                </a:solidFill>
              </a:rPr>
              <a:t>Un passaggio di interpretazione in più</a:t>
            </a:r>
            <a:endParaRPr lang="en-US" sz="1300" dirty="0"/>
          </a:p>
        </p:txBody>
      </p:sp>
      <p:sp>
        <p:nvSpPr>
          <p:cNvPr id="15" name="Text 10"/>
          <p:cNvSpPr txBox="1"/>
          <p:nvPr/>
        </p:nvSpPr>
        <p:spPr>
          <a:xfrm>
            <a:off x="640080" y="3611880"/>
            <a:ext cx="3611880" cy="804672"/>
          </a:xfrm>
          <a:prstGeom prst="rect">
            <a:avLst/>
          </a:prstGeom>
          <a:noFill/>
          <a:ln/>
        </p:spPr>
        <p:txBody>
          <a:bodyPr wrap="square" lIns="0" tIns="0" rIns="0" bIns="0" rtlCol="0" anchor="t"/>
          <a:lstStyle/>
          <a:p>
            <a:pPr indent="0" marL="0">
              <a:buNone/>
            </a:pPr>
            <a:r>
              <a:rPr lang="en-US" sz="1200" dirty="0">
                <a:solidFill>
                  <a:schemeClr val="tx2"/>
                </a:solidFill>
              </a:rPr>
              <a:t>Non scegliamo più noi che cosa è rilevante: lo interpreta il sistema, e può sbagliare.</a:t>
            </a:r>
            <a:endParaRPr lang="en-US" sz="1200" dirty="0"/>
          </a:p>
        </p:txBody>
      </p:sp>
      <p:sp>
        <p:nvSpPr>
          <p:cNvPr id="16" name="scheda Più informazioni del previsto"/>
          <p:cNvSpPr/>
          <p:nvPr/>
        </p:nvSpPr>
        <p:spPr>
          <a:xfrm>
            <a:off x="4709160" y="2834640"/>
            <a:ext cx="3977640" cy="1691640"/>
          </a:xfrm>
          <a:prstGeom prst="roundRect">
            <a:avLst>
              <a:gd name="adj" fmla="val 4324"/>
            </a:avLst>
          </a:prstGeom>
          <a:solidFill>
            <a:schemeClr val="accent6"/>
          </a:solidFill>
          <a:ln/>
        </p:spPr>
      </p:sp>
      <p:sp>
        <p:nvSpPr>
          <p:cNvPr id="17" name="cerchio FiLock"/>
          <p:cNvSpPr/>
          <p:nvPr/>
        </p:nvSpPr>
        <p:spPr>
          <a:xfrm>
            <a:off x="4892040" y="3017520"/>
            <a:ext cx="457200" cy="457200"/>
          </a:xfrm>
          <a:prstGeom prst="ellipse">
            <a:avLst/>
          </a:prstGeom>
          <a:solidFill>
            <a:schemeClr val="accent1"/>
          </a:solidFill>
          <a:ln/>
        </p:spPr>
      </p:sp>
      <p:pic>
        <p:nvPicPr>
          <p:cNvPr id="18" name="Image 1" descr="FiLock">    </p:cNvPr>
          <p:cNvPicPr>
            <a:picLocks noChangeAspect="1"/>
          </p:cNvPicPr>
          <p:nvPr/>
        </p:nvPicPr>
        <p:blipFill>
          <a:blip r:embed="rId2"/>
          <a:stretch>
            <a:fillRect/>
          </a:stretch>
        </p:blipFill>
        <p:spPr>
          <a:xfrm>
            <a:off x="5006340" y="3131820"/>
            <a:ext cx="228600" cy="228600"/>
          </a:xfrm>
          <a:prstGeom prst="rect">
            <a:avLst/>
          </a:prstGeom>
        </p:spPr>
      </p:pic>
      <p:sp>
        <p:nvSpPr>
          <p:cNvPr id="19" name="Text 13"/>
          <p:cNvSpPr txBox="1"/>
          <p:nvPr/>
        </p:nvSpPr>
        <p:spPr>
          <a:xfrm>
            <a:off x="5486400" y="3017520"/>
            <a:ext cx="3017520" cy="457200"/>
          </a:xfrm>
          <a:prstGeom prst="rect">
            <a:avLst/>
          </a:prstGeom>
          <a:noFill/>
          <a:ln/>
        </p:spPr>
        <p:txBody>
          <a:bodyPr wrap="square" lIns="0" tIns="0" rIns="0" bIns="0" rtlCol="0" anchor="ctr"/>
          <a:lstStyle/>
          <a:p>
            <a:pPr indent="0" marL="0">
              <a:buNone/>
            </a:pPr>
            <a:r>
              <a:rPr lang="en-US" sz="1300" b="1" dirty="0">
                <a:solidFill>
                  <a:schemeClr val="tx1"/>
                </a:solidFill>
              </a:rPr>
              <a:t>Più informazioni del previsto</a:t>
            </a:r>
            <a:endParaRPr lang="en-US" sz="1300" dirty="0"/>
          </a:p>
        </p:txBody>
      </p:sp>
      <p:sp>
        <p:nvSpPr>
          <p:cNvPr id="20" name="Text 14"/>
          <p:cNvSpPr txBox="1"/>
          <p:nvPr/>
        </p:nvSpPr>
        <p:spPr>
          <a:xfrm>
            <a:off x="4892040" y="3611880"/>
            <a:ext cx="3611880" cy="804672"/>
          </a:xfrm>
          <a:prstGeom prst="rect">
            <a:avLst/>
          </a:prstGeom>
          <a:noFill/>
          <a:ln/>
        </p:spPr>
        <p:txBody>
          <a:bodyPr wrap="square" lIns="0" tIns="0" rIns="0" bIns="0" rtlCol="0" anchor="t"/>
          <a:lstStyle/>
          <a:p>
            <a:pPr indent="0" marL="0">
              <a:buNone/>
            </a:pPr>
            <a:r>
              <a:rPr lang="en-US" sz="1200" dirty="0">
                <a:solidFill>
                  <a:schemeClr val="tx2"/>
                </a:solidFill>
              </a:rPr>
              <a:t>Nomi in un'altra finestra, documenti sulla scrivania, le voci di tutti i presenti.</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Comprendere e generare</a:t>
            </a:r>
            <a:endParaRPr lang="en-US" sz="2600" dirty="0"/>
          </a:p>
        </p:txBody>
      </p:sp>
      <p:sp>
        <p:nvSpPr>
          <p:cNvPr id="4" name="operazione Interpretare"/>
          <p:cNvSpPr/>
          <p:nvPr/>
        </p:nvSpPr>
        <p:spPr>
          <a:xfrm>
            <a:off x="6053328" y="384048"/>
            <a:ext cx="841248" cy="237744"/>
          </a:xfrm>
          <a:prstGeom prst="roundRect">
            <a:avLst>
              <a:gd name="adj" fmla="val 50000"/>
            </a:avLst>
          </a:prstGeom>
          <a:solidFill>
            <a:schemeClr val="accent1"/>
          </a:solidFill>
          <a:ln w="9525">
            <a:solidFill>
              <a:schemeClr val="accent1"/>
            </a:solidFill>
            <a:prstDash val="solid"/>
          </a:ln>
        </p:spPr>
      </p:sp>
      <p:sp>
        <p:nvSpPr>
          <p:cNvPr id="5" name="Text 2"/>
          <p:cNvSpPr txBox="1"/>
          <p:nvPr/>
        </p:nvSpPr>
        <p:spPr>
          <a:xfrm>
            <a:off x="6053328" y="384048"/>
            <a:ext cx="841248" cy="237744"/>
          </a:xfrm>
          <a:prstGeom prst="rect">
            <a:avLst/>
          </a:prstGeom>
          <a:noFill/>
          <a:ln/>
        </p:spPr>
        <p:txBody>
          <a:bodyPr wrap="square" lIns="0" tIns="0" rIns="0" bIns="0" rtlCol="0" anchor="ctr"/>
          <a:lstStyle/>
          <a:p>
            <a:pPr algn="ctr" indent="0" marL="0">
              <a:buNone/>
            </a:pPr>
            <a:r>
              <a:rPr lang="en-US" sz="900" b="1" dirty="0">
                <a:solidFill>
                  <a:schemeClr val="bg1"/>
                </a:solidFill>
              </a:rPr>
              <a:t>Interpretare</a:t>
            </a:r>
            <a:endParaRPr lang="en-US" sz="900" dirty="0"/>
          </a:p>
        </p:txBody>
      </p:sp>
      <p:sp>
        <p:nvSpPr>
          <p:cNvPr id="6" name="operazione Generare"/>
          <p:cNvSpPr/>
          <p:nvPr/>
        </p:nvSpPr>
        <p:spPr>
          <a:xfrm>
            <a:off x="6940296" y="384048"/>
            <a:ext cx="841248"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940296" y="384048"/>
            <a:ext cx="841248" cy="237744"/>
          </a:xfrm>
          <a:prstGeom prst="rect">
            <a:avLst/>
          </a:prstGeom>
          <a:noFill/>
          <a:ln/>
        </p:spPr>
        <p:txBody>
          <a:bodyPr wrap="square" lIns="0" tIns="0" rIns="0" bIns="0" rtlCol="0" anchor="ctr"/>
          <a:lstStyle/>
          <a:p>
            <a:pPr algn="ctr" indent="0" marL="0">
              <a:buNone/>
            </a:pPr>
            <a:r>
              <a:rPr lang="en-US" sz="900" b="1" dirty="0">
                <a:solidFill>
                  <a:schemeClr val="bg1"/>
                </a:solidFill>
              </a:rPr>
              <a:t>Generare</a:t>
            </a:r>
            <a:endParaRPr lang="en-US" sz="900" dirty="0"/>
          </a:p>
        </p:txBody>
      </p:sp>
      <p:sp>
        <p:nvSpPr>
          <p:cNvPr id="8" name="operazione Trasformare"/>
          <p:cNvSpPr/>
          <p:nvPr/>
        </p:nvSpPr>
        <p:spPr>
          <a:xfrm>
            <a:off x="7827264" y="384048"/>
            <a:ext cx="841248"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827264" y="384048"/>
            <a:ext cx="841248" cy="237744"/>
          </a:xfrm>
          <a:prstGeom prst="rect">
            <a:avLst/>
          </a:prstGeom>
          <a:noFill/>
          <a:ln/>
        </p:spPr>
        <p:txBody>
          <a:bodyPr wrap="square" lIns="0" tIns="0" rIns="0" bIns="0" rtlCol="0" anchor="ctr"/>
          <a:lstStyle/>
          <a:p>
            <a:pPr algn="ctr" indent="0" marL="0">
              <a:buNone/>
            </a:pPr>
            <a:r>
              <a:rPr lang="en-US" sz="900" b="1" dirty="0">
                <a:solidFill>
                  <a:schemeClr val="accent1"/>
                </a:solidFill>
              </a:rPr>
              <a:t>Trasformare</a:t>
            </a:r>
            <a:endParaRPr lang="en-US" sz="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1645920"/>
                <a:gridCol w="3291840"/>
                <a:gridCol w="3291840"/>
              </a:tblGrid>
              <a:tr h="457200">
                <a:tc>
                  <a:txBody>
                    <a:bodyPr/>
                    <a:lstStyle/>
                    <a:p>
                      <a:pPr indent="0" marL="0">
                        <a:buNone/>
                      </a:pPr>
                      <a:r>
                        <a:rPr lang="en-US" sz="1200" b="1" dirty="0">
                          <a:solidFill>
                            <a:schemeClr val="bg1"/>
                          </a:solidFill>
                        </a:rPr>
                        <a:t>Modalità</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Comprendere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Generare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r>
              <a:tr h="457200">
                <a:tc>
                  <a:txBody>
                    <a:bodyPr/>
                    <a:lstStyle/>
                    <a:p>
                      <a:pPr indent="0" marL="0">
                        <a:buNone/>
                      </a:pPr>
                      <a:r>
                        <a:rPr lang="en-US" sz="1200" b="1" dirty="0">
                          <a:solidFill>
                            <a:schemeClr val="tx1"/>
                          </a:solidFill>
                        </a:rPr>
                        <a:t>Immagini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Descrivere una foto, leggere una schermata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Creare un'illustrazione, modificare una foto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457200">
                <a:tc>
                  <a:txBody>
                    <a:bodyPr/>
                    <a:lstStyle/>
                    <a:p>
                      <a:pPr indent="0" marL="0">
                        <a:buNone/>
                      </a:pPr>
                      <a:r>
                        <a:rPr lang="en-US" sz="1200" b="1" dirty="0">
                          <a:solidFill>
                            <a:schemeClr val="tx1"/>
                          </a:solidFill>
                        </a:rPr>
                        <a:t>Audio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Trascrivere una riunione, riconoscere il parlato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Sintetizzare una voce, leggere un testo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457200">
                <a:tc>
                  <a:txBody>
                    <a:bodyPr/>
                    <a:lstStyle/>
                    <a:p>
                      <a:pPr indent="0" marL="0">
                        <a:buNone/>
                      </a:pPr>
                      <a:r>
                        <a:rPr lang="en-US" sz="1200" b="1" dirty="0">
                          <a:solidFill>
                            <a:schemeClr val="tx1"/>
                          </a:solidFill>
                        </a:rPr>
                        <a:t>Video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Riassumere un filmato, individuare eventi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Produrre una breve animazione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bl>
          </a:graphicData>
        </a:graphic>
      </p:graphicFrame>
      <p:sp>
        <p:nvSpPr>
          <p:cNvPr id="11" name="trasformare"/>
          <p:cNvSpPr/>
          <p:nvPr/>
        </p:nvSpPr>
        <p:spPr>
          <a:xfrm>
            <a:off x="457200" y="3063240"/>
            <a:ext cx="8229600" cy="777240"/>
          </a:xfrm>
          <a:prstGeom prst="roundRect">
            <a:avLst>
              <a:gd name="adj" fmla="val 9412"/>
            </a:avLst>
          </a:prstGeom>
          <a:solidFill>
            <a:schemeClr val="accent6"/>
          </a:solidFill>
          <a:ln/>
        </p:spPr>
      </p:sp>
      <p:sp>
        <p:nvSpPr>
          <p:cNvPr id="12" name="Text 8"/>
          <p:cNvSpPr txBox="1"/>
          <p:nvPr/>
        </p:nvSpPr>
        <p:spPr>
          <a:xfrm>
            <a:off x="640080" y="3063240"/>
            <a:ext cx="7863840" cy="777240"/>
          </a:xfrm>
          <a:prstGeom prst="rect">
            <a:avLst/>
          </a:prstGeom>
          <a:noFill/>
          <a:ln/>
        </p:spPr>
        <p:txBody>
          <a:bodyPr wrap="square" lIns="0" tIns="0" rIns="0" bIns="0" rtlCol="0" anchor="ctr"/>
          <a:lstStyle/>
          <a:p>
            <a:pPr indent="0" marL="0">
              <a:buNone/>
            </a:pPr>
            <a:r>
              <a:rPr lang="en-US" sz="1300" b="1" dirty="0">
                <a:solidFill>
                  <a:schemeClr val="accent1"/>
                </a:solidFill>
              </a:rPr>
              <a:t>Trasformare </a:t>
            </a:r>
            <a:pPr indent="0" marL="0">
              <a:buNone/>
            </a:pPr>
            <a:r>
              <a:rPr lang="en-US" sz="1300" dirty="0">
                <a:solidFill>
                  <a:schemeClr val="tx1"/>
                </a:solidFill>
              </a:rPr>
              <a:t>combina le due: comprendere in una modalità e generare in un'altra. Audio in testo, testo in immagine, documento in slide.</a:t>
            </a:r>
            <a:endParaRPr lang="en-US" sz="1300" dirty="0"/>
          </a:p>
        </p:txBody>
      </p:sp>
      <p:sp>
        <p:nvSpPr>
          <p:cNvPr id="13" name="Text 9"/>
          <p:cNvSpPr txBox="1"/>
          <p:nvPr/>
        </p:nvSpPr>
        <p:spPr>
          <a:xfrm>
            <a:off x="457200" y="4023360"/>
            <a:ext cx="8229600" cy="411480"/>
          </a:xfrm>
          <a:prstGeom prst="rect">
            <a:avLst/>
          </a:prstGeom>
          <a:noFill/>
          <a:ln/>
        </p:spPr>
        <p:txBody>
          <a:bodyPr wrap="square" lIns="0" tIns="0" rIns="0" bIns="0" rtlCol="0" anchor="t"/>
          <a:lstStyle/>
          <a:p>
            <a:pPr indent="0" marL="0">
              <a:buNone/>
            </a:pPr>
            <a:r>
              <a:rPr lang="en-US" sz="1200" i="1" dirty="0">
                <a:solidFill>
                  <a:schemeClr val="tx2"/>
                </a:solidFill>
              </a:rPr>
              <a:t>Le capacità sono indipendenti: si può comprendere una modalità senza saperla generare, e viceversa.</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Interazioni che combinano modalità</a:t>
            </a:r>
            <a:endParaRPr lang="en-US" sz="2600" dirty="0"/>
          </a:p>
        </p:txBody>
      </p:sp>
      <p:sp>
        <p:nvSpPr>
          <p:cNvPr id="4" name="operazione Interpretare"/>
          <p:cNvSpPr/>
          <p:nvPr/>
        </p:nvSpPr>
        <p:spPr>
          <a:xfrm>
            <a:off x="6053328" y="384048"/>
            <a:ext cx="841248" cy="237744"/>
          </a:xfrm>
          <a:prstGeom prst="roundRect">
            <a:avLst>
              <a:gd name="adj" fmla="val 50000"/>
            </a:avLst>
          </a:prstGeom>
          <a:solidFill>
            <a:schemeClr val="accent1"/>
          </a:solidFill>
          <a:ln w="9525">
            <a:solidFill>
              <a:schemeClr val="accent1"/>
            </a:solidFill>
            <a:prstDash val="solid"/>
          </a:ln>
        </p:spPr>
      </p:sp>
      <p:sp>
        <p:nvSpPr>
          <p:cNvPr id="5" name="Text 2"/>
          <p:cNvSpPr txBox="1"/>
          <p:nvPr/>
        </p:nvSpPr>
        <p:spPr>
          <a:xfrm>
            <a:off x="6053328" y="384048"/>
            <a:ext cx="841248" cy="237744"/>
          </a:xfrm>
          <a:prstGeom prst="rect">
            <a:avLst/>
          </a:prstGeom>
          <a:noFill/>
          <a:ln/>
        </p:spPr>
        <p:txBody>
          <a:bodyPr wrap="square" lIns="0" tIns="0" rIns="0" bIns="0" rtlCol="0" anchor="ctr"/>
          <a:lstStyle/>
          <a:p>
            <a:pPr algn="ctr" indent="0" marL="0">
              <a:buNone/>
            </a:pPr>
            <a:r>
              <a:rPr lang="en-US" sz="900" b="1" dirty="0">
                <a:solidFill>
                  <a:schemeClr val="bg1"/>
                </a:solidFill>
              </a:rPr>
              <a:t>Interpretare</a:t>
            </a:r>
            <a:endParaRPr lang="en-US" sz="900" dirty="0"/>
          </a:p>
        </p:txBody>
      </p:sp>
      <p:sp>
        <p:nvSpPr>
          <p:cNvPr id="6" name="operazione Generare"/>
          <p:cNvSpPr/>
          <p:nvPr/>
        </p:nvSpPr>
        <p:spPr>
          <a:xfrm>
            <a:off x="6940296" y="384048"/>
            <a:ext cx="841248"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940296" y="384048"/>
            <a:ext cx="841248" cy="237744"/>
          </a:xfrm>
          <a:prstGeom prst="rect">
            <a:avLst/>
          </a:prstGeom>
          <a:noFill/>
          <a:ln/>
        </p:spPr>
        <p:txBody>
          <a:bodyPr wrap="square" lIns="0" tIns="0" rIns="0" bIns="0" rtlCol="0" anchor="ctr"/>
          <a:lstStyle/>
          <a:p>
            <a:pPr algn="ctr" indent="0" marL="0">
              <a:buNone/>
            </a:pPr>
            <a:r>
              <a:rPr lang="en-US" sz="900" b="1" dirty="0">
                <a:solidFill>
                  <a:schemeClr val="accent1"/>
                </a:solidFill>
              </a:rPr>
              <a:t>Generare</a:t>
            </a:r>
            <a:endParaRPr lang="en-US" sz="900" dirty="0"/>
          </a:p>
        </p:txBody>
      </p:sp>
      <p:sp>
        <p:nvSpPr>
          <p:cNvPr id="8" name="operazione Trasformare"/>
          <p:cNvSpPr/>
          <p:nvPr/>
        </p:nvSpPr>
        <p:spPr>
          <a:xfrm>
            <a:off x="7827264" y="384048"/>
            <a:ext cx="841248"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7827264" y="384048"/>
            <a:ext cx="841248" cy="237744"/>
          </a:xfrm>
          <a:prstGeom prst="rect">
            <a:avLst/>
          </a:prstGeom>
          <a:noFill/>
          <a:ln/>
        </p:spPr>
        <p:txBody>
          <a:bodyPr wrap="square" lIns="0" tIns="0" rIns="0" bIns="0" rtlCol="0" anchor="ctr"/>
          <a:lstStyle/>
          <a:p>
            <a:pPr algn="ctr" indent="0" marL="0">
              <a:buNone/>
            </a:pPr>
            <a:r>
              <a:rPr lang="en-US" sz="900" b="1" dirty="0">
                <a:solidFill>
                  <a:schemeClr val="bg1"/>
                </a:solidFill>
              </a:rPr>
              <a:t>Trasformare</a:t>
            </a:r>
            <a:endParaRPr lang="en-US" sz="900" dirty="0"/>
          </a:p>
        </p:txBody>
      </p:sp>
      <p:sp>
        <p:nvSpPr>
          <p:cNvPr id="10" name="Foto della lavagna + richiesta"/>
          <p:cNvSpPr/>
          <p:nvPr/>
        </p:nvSpPr>
        <p:spPr>
          <a:xfrm>
            <a:off x="457200" y="1051560"/>
            <a:ext cx="4023360" cy="1097280"/>
          </a:xfrm>
          <a:prstGeom prst="roundRect">
            <a:avLst>
              <a:gd name="adj" fmla="val 6667"/>
            </a:avLst>
          </a:prstGeom>
          <a:solidFill>
            <a:schemeClr val="bg2"/>
          </a:solidFill>
          <a:ln/>
        </p:spPr>
      </p:sp>
      <p:sp>
        <p:nvSpPr>
          <p:cNvPr id="11" name="cerchio FiClipboard"/>
          <p:cNvSpPr/>
          <p:nvPr/>
        </p:nvSpPr>
        <p:spPr>
          <a:xfrm>
            <a:off x="621792" y="1216152"/>
            <a:ext cx="438912" cy="438912"/>
          </a:xfrm>
          <a:prstGeom prst="ellipse">
            <a:avLst/>
          </a:prstGeom>
          <a:solidFill>
            <a:schemeClr val="accent1"/>
          </a:solidFill>
          <a:ln/>
        </p:spPr>
      </p:sp>
      <p:pic>
        <p:nvPicPr>
          <p:cNvPr id="12" name="Image 0" descr="FiClipboard">    </p:cNvPr>
          <p:cNvPicPr>
            <a:picLocks noChangeAspect="1"/>
          </p:cNvPicPr>
          <p:nvPr/>
        </p:nvPicPr>
        <p:blipFill>
          <a:blip r:embed="rId1"/>
          <a:stretch>
            <a:fillRect/>
          </a:stretch>
        </p:blipFill>
        <p:spPr>
          <a:xfrm>
            <a:off x="731520" y="1325880"/>
            <a:ext cx="219456" cy="219456"/>
          </a:xfrm>
          <a:prstGeom prst="rect">
            <a:avLst/>
          </a:prstGeom>
        </p:spPr>
      </p:pic>
      <p:sp>
        <p:nvSpPr>
          <p:cNvPr id="13" name="Text 9"/>
          <p:cNvSpPr txBox="1"/>
          <p:nvPr/>
        </p:nvSpPr>
        <p:spPr>
          <a:xfrm>
            <a:off x="1170432" y="1179576"/>
            <a:ext cx="3200400" cy="512064"/>
          </a:xfrm>
          <a:prstGeom prst="rect">
            <a:avLst/>
          </a:prstGeom>
          <a:noFill/>
          <a:ln/>
        </p:spPr>
        <p:txBody>
          <a:bodyPr wrap="square" lIns="0" tIns="0" rIns="0" bIns="0" rtlCol="0" anchor="ctr"/>
          <a:lstStyle/>
          <a:p>
            <a:pPr indent="0" marL="0">
              <a:buNone/>
            </a:pPr>
            <a:r>
              <a:rPr lang="en-US" sz="1300" b="1" dirty="0">
                <a:solidFill>
                  <a:schemeClr val="tx1"/>
                </a:solidFill>
              </a:rPr>
              <a:t>Foto della lavagna + richiesta</a:t>
            </a:r>
            <a:endParaRPr lang="en-US" sz="1300" dirty="0"/>
          </a:p>
        </p:txBody>
      </p:sp>
      <p:sp>
        <p:nvSpPr>
          <p:cNvPr id="14" name="Text 10"/>
          <p:cNvSpPr txBox="1"/>
          <p:nvPr/>
        </p:nvSpPr>
        <p:spPr>
          <a:xfrm>
            <a:off x="621792" y="1764792"/>
            <a:ext cx="3694176" cy="292608"/>
          </a:xfrm>
          <a:prstGeom prst="rect">
            <a:avLst/>
          </a:prstGeom>
          <a:noFill/>
          <a:ln/>
        </p:spPr>
        <p:txBody>
          <a:bodyPr wrap="square" lIns="0" tIns="0" rIns="0" bIns="0" rtlCol="0" anchor="t"/>
          <a:lstStyle/>
          <a:p>
            <a:pPr indent="0" marL="0">
              <a:buNone/>
            </a:pPr>
            <a:r>
              <a:rPr lang="en-US" sz="1200" dirty="0">
                <a:solidFill>
                  <a:schemeClr val="tx2"/>
                </a:solidFill>
              </a:rPr>
              <a:t>Gli appunti diventano un elenco di azioni</a:t>
            </a:r>
            <a:endParaRPr lang="en-US" sz="1200" dirty="0"/>
          </a:p>
        </p:txBody>
      </p:sp>
      <p:sp>
        <p:nvSpPr>
          <p:cNvPr id="15" name="Schermata di errore + domanda"/>
          <p:cNvSpPr/>
          <p:nvPr/>
        </p:nvSpPr>
        <p:spPr>
          <a:xfrm>
            <a:off x="4663440" y="1051560"/>
            <a:ext cx="4023360" cy="1097280"/>
          </a:xfrm>
          <a:prstGeom prst="roundRect">
            <a:avLst>
              <a:gd name="adj" fmla="val 6667"/>
            </a:avLst>
          </a:prstGeom>
          <a:solidFill>
            <a:schemeClr val="bg2"/>
          </a:solidFill>
          <a:ln/>
        </p:spPr>
      </p:sp>
      <p:sp>
        <p:nvSpPr>
          <p:cNvPr id="16" name="cerchio FiMonitor"/>
          <p:cNvSpPr/>
          <p:nvPr/>
        </p:nvSpPr>
        <p:spPr>
          <a:xfrm>
            <a:off x="4828032" y="1216152"/>
            <a:ext cx="438912" cy="438912"/>
          </a:xfrm>
          <a:prstGeom prst="ellipse">
            <a:avLst/>
          </a:prstGeom>
          <a:solidFill>
            <a:schemeClr val="accent1"/>
          </a:solidFill>
          <a:ln/>
        </p:spPr>
      </p:sp>
      <p:pic>
        <p:nvPicPr>
          <p:cNvPr id="17" name="Image 1" descr="FiMonitor">    </p:cNvPr>
          <p:cNvPicPr>
            <a:picLocks noChangeAspect="1"/>
          </p:cNvPicPr>
          <p:nvPr/>
        </p:nvPicPr>
        <p:blipFill>
          <a:blip r:embed="rId2"/>
          <a:stretch>
            <a:fillRect/>
          </a:stretch>
        </p:blipFill>
        <p:spPr>
          <a:xfrm>
            <a:off x="4937760" y="1325880"/>
            <a:ext cx="219456" cy="219456"/>
          </a:xfrm>
          <a:prstGeom prst="rect">
            <a:avLst/>
          </a:prstGeom>
        </p:spPr>
      </p:pic>
      <p:sp>
        <p:nvSpPr>
          <p:cNvPr id="18" name="Text 13"/>
          <p:cNvSpPr txBox="1"/>
          <p:nvPr/>
        </p:nvSpPr>
        <p:spPr>
          <a:xfrm>
            <a:off x="5376672" y="1179576"/>
            <a:ext cx="3200400" cy="512064"/>
          </a:xfrm>
          <a:prstGeom prst="rect">
            <a:avLst/>
          </a:prstGeom>
          <a:noFill/>
          <a:ln/>
        </p:spPr>
        <p:txBody>
          <a:bodyPr wrap="square" lIns="0" tIns="0" rIns="0" bIns="0" rtlCol="0" anchor="ctr"/>
          <a:lstStyle/>
          <a:p>
            <a:pPr indent="0" marL="0">
              <a:buNone/>
            </a:pPr>
            <a:r>
              <a:rPr lang="en-US" sz="1300" b="1" dirty="0">
                <a:solidFill>
                  <a:schemeClr val="tx1"/>
                </a:solidFill>
              </a:rPr>
              <a:t>Schermata di errore + domanda</a:t>
            </a:r>
            <a:endParaRPr lang="en-US" sz="1300" dirty="0"/>
          </a:p>
        </p:txBody>
      </p:sp>
      <p:sp>
        <p:nvSpPr>
          <p:cNvPr id="19" name="Text 14"/>
          <p:cNvSpPr txBox="1"/>
          <p:nvPr/>
        </p:nvSpPr>
        <p:spPr>
          <a:xfrm>
            <a:off x="4828032" y="1764792"/>
            <a:ext cx="3694176" cy="292608"/>
          </a:xfrm>
          <a:prstGeom prst="rect">
            <a:avLst/>
          </a:prstGeom>
          <a:noFill/>
          <a:ln/>
        </p:spPr>
        <p:txBody>
          <a:bodyPr wrap="square" lIns="0" tIns="0" rIns="0" bIns="0" rtlCol="0" anchor="t"/>
          <a:lstStyle/>
          <a:p>
            <a:pPr indent="0" marL="0">
              <a:buNone/>
            </a:pPr>
            <a:r>
              <a:rPr lang="en-US" sz="1200" dirty="0">
                <a:solidFill>
                  <a:schemeClr val="tx2"/>
                </a:solidFill>
              </a:rPr>
              <a:t>'Che cosa devo fare?'</a:t>
            </a:r>
            <a:endParaRPr lang="en-US" sz="1200" dirty="0"/>
          </a:p>
        </p:txBody>
      </p:sp>
      <p:sp>
        <p:nvSpPr>
          <p:cNvPr id="20" name="Foto di un componente + manuale"/>
          <p:cNvSpPr/>
          <p:nvPr/>
        </p:nvSpPr>
        <p:spPr>
          <a:xfrm>
            <a:off x="457200" y="2331720"/>
            <a:ext cx="4023360" cy="1097280"/>
          </a:xfrm>
          <a:prstGeom prst="roundRect">
            <a:avLst>
              <a:gd name="adj" fmla="val 6667"/>
            </a:avLst>
          </a:prstGeom>
          <a:solidFill>
            <a:schemeClr val="bg2"/>
          </a:solidFill>
          <a:ln/>
        </p:spPr>
      </p:sp>
      <p:sp>
        <p:nvSpPr>
          <p:cNvPr id="21" name="cerchio FiTool"/>
          <p:cNvSpPr/>
          <p:nvPr/>
        </p:nvSpPr>
        <p:spPr>
          <a:xfrm>
            <a:off x="621792" y="2496312"/>
            <a:ext cx="438912" cy="438912"/>
          </a:xfrm>
          <a:prstGeom prst="ellipse">
            <a:avLst/>
          </a:prstGeom>
          <a:solidFill>
            <a:schemeClr val="accent1"/>
          </a:solidFill>
          <a:ln/>
        </p:spPr>
      </p:sp>
      <p:pic>
        <p:nvPicPr>
          <p:cNvPr id="22" name="Image 2" descr="FiTool">    </p:cNvPr>
          <p:cNvPicPr>
            <a:picLocks noChangeAspect="1"/>
          </p:cNvPicPr>
          <p:nvPr/>
        </p:nvPicPr>
        <p:blipFill>
          <a:blip r:embed="rId3"/>
          <a:stretch>
            <a:fillRect/>
          </a:stretch>
        </p:blipFill>
        <p:spPr>
          <a:xfrm>
            <a:off x="731520" y="2606040"/>
            <a:ext cx="219456" cy="219456"/>
          </a:xfrm>
          <a:prstGeom prst="rect">
            <a:avLst/>
          </a:prstGeom>
        </p:spPr>
      </p:pic>
      <p:sp>
        <p:nvSpPr>
          <p:cNvPr id="23" name="Text 17"/>
          <p:cNvSpPr txBox="1"/>
          <p:nvPr/>
        </p:nvSpPr>
        <p:spPr>
          <a:xfrm>
            <a:off x="1170432" y="2459736"/>
            <a:ext cx="3200400" cy="512064"/>
          </a:xfrm>
          <a:prstGeom prst="rect">
            <a:avLst/>
          </a:prstGeom>
          <a:noFill/>
          <a:ln/>
        </p:spPr>
        <p:txBody>
          <a:bodyPr wrap="square" lIns="0" tIns="0" rIns="0" bIns="0" rtlCol="0" anchor="ctr"/>
          <a:lstStyle/>
          <a:p>
            <a:pPr indent="0" marL="0">
              <a:buNone/>
            </a:pPr>
            <a:r>
              <a:rPr lang="en-US" sz="1300" b="1" dirty="0">
                <a:solidFill>
                  <a:schemeClr val="tx1"/>
                </a:solidFill>
              </a:rPr>
              <a:t>Foto di un componente + manuale</a:t>
            </a:r>
            <a:endParaRPr lang="en-US" sz="1300" dirty="0"/>
          </a:p>
        </p:txBody>
      </p:sp>
      <p:sp>
        <p:nvSpPr>
          <p:cNvPr id="24" name="Text 18"/>
          <p:cNvSpPr txBox="1"/>
          <p:nvPr/>
        </p:nvSpPr>
        <p:spPr>
          <a:xfrm>
            <a:off x="621792" y="3044952"/>
            <a:ext cx="3694176" cy="292608"/>
          </a:xfrm>
          <a:prstGeom prst="rect">
            <a:avLst/>
          </a:prstGeom>
          <a:noFill/>
          <a:ln/>
        </p:spPr>
        <p:txBody>
          <a:bodyPr wrap="square" lIns="0" tIns="0" rIns="0" bIns="0" rtlCol="0" anchor="t"/>
          <a:lstStyle/>
          <a:p>
            <a:pPr indent="0" marL="0">
              <a:buNone/>
            </a:pPr>
            <a:r>
              <a:rPr lang="en-US" sz="1200" dirty="0">
                <a:solidFill>
                  <a:schemeClr val="tx2"/>
                </a:solidFill>
              </a:rPr>
              <a:t>Identificarlo e trovare la procedura</a:t>
            </a:r>
            <a:endParaRPr lang="en-US" sz="1200" dirty="0"/>
          </a:p>
        </p:txBody>
      </p:sp>
      <p:sp>
        <p:nvSpPr>
          <p:cNvPr id="25" name="Registrazione + slide"/>
          <p:cNvSpPr/>
          <p:nvPr/>
        </p:nvSpPr>
        <p:spPr>
          <a:xfrm>
            <a:off x="4663440" y="2331720"/>
            <a:ext cx="4023360" cy="1097280"/>
          </a:xfrm>
          <a:prstGeom prst="roundRect">
            <a:avLst>
              <a:gd name="adj" fmla="val 6667"/>
            </a:avLst>
          </a:prstGeom>
          <a:solidFill>
            <a:schemeClr val="bg2"/>
          </a:solidFill>
          <a:ln/>
        </p:spPr>
      </p:sp>
      <p:sp>
        <p:nvSpPr>
          <p:cNvPr id="26" name="cerchio FiMic"/>
          <p:cNvSpPr/>
          <p:nvPr/>
        </p:nvSpPr>
        <p:spPr>
          <a:xfrm>
            <a:off x="4828032" y="2496312"/>
            <a:ext cx="438912" cy="438912"/>
          </a:xfrm>
          <a:prstGeom prst="ellipse">
            <a:avLst/>
          </a:prstGeom>
          <a:solidFill>
            <a:schemeClr val="accent1"/>
          </a:solidFill>
          <a:ln/>
        </p:spPr>
      </p:sp>
      <p:pic>
        <p:nvPicPr>
          <p:cNvPr id="27" name="Image 3" descr="FiMic">    </p:cNvPr>
          <p:cNvPicPr>
            <a:picLocks noChangeAspect="1"/>
          </p:cNvPicPr>
          <p:nvPr/>
        </p:nvPicPr>
        <p:blipFill>
          <a:blip r:embed="rId4"/>
          <a:stretch>
            <a:fillRect/>
          </a:stretch>
        </p:blipFill>
        <p:spPr>
          <a:xfrm>
            <a:off x="4937760" y="2606040"/>
            <a:ext cx="219456" cy="219456"/>
          </a:xfrm>
          <a:prstGeom prst="rect">
            <a:avLst/>
          </a:prstGeom>
        </p:spPr>
      </p:pic>
      <p:sp>
        <p:nvSpPr>
          <p:cNvPr id="28" name="Text 21"/>
          <p:cNvSpPr txBox="1"/>
          <p:nvPr/>
        </p:nvSpPr>
        <p:spPr>
          <a:xfrm>
            <a:off x="5376672" y="2459736"/>
            <a:ext cx="3200400" cy="512064"/>
          </a:xfrm>
          <a:prstGeom prst="rect">
            <a:avLst/>
          </a:prstGeom>
          <a:noFill/>
          <a:ln/>
        </p:spPr>
        <p:txBody>
          <a:bodyPr wrap="square" lIns="0" tIns="0" rIns="0" bIns="0" rtlCol="0" anchor="ctr"/>
          <a:lstStyle/>
          <a:p>
            <a:pPr indent="0" marL="0">
              <a:buNone/>
            </a:pPr>
            <a:r>
              <a:rPr lang="en-US" sz="1300" b="1" dirty="0">
                <a:solidFill>
                  <a:schemeClr val="tx1"/>
                </a:solidFill>
              </a:rPr>
              <a:t>Registrazione + slide</a:t>
            </a:r>
            <a:endParaRPr lang="en-US" sz="1300" dirty="0"/>
          </a:p>
        </p:txBody>
      </p:sp>
      <p:sp>
        <p:nvSpPr>
          <p:cNvPr id="29" name="Text 22"/>
          <p:cNvSpPr txBox="1"/>
          <p:nvPr/>
        </p:nvSpPr>
        <p:spPr>
          <a:xfrm>
            <a:off x="4828032" y="3044952"/>
            <a:ext cx="3694176" cy="292608"/>
          </a:xfrm>
          <a:prstGeom prst="rect">
            <a:avLst/>
          </a:prstGeom>
          <a:noFill/>
          <a:ln/>
        </p:spPr>
        <p:txBody>
          <a:bodyPr wrap="square" lIns="0" tIns="0" rIns="0" bIns="0" rtlCol="0" anchor="t"/>
          <a:lstStyle/>
          <a:p>
            <a:pPr indent="0" marL="0">
              <a:buNone/>
            </a:pPr>
            <a:r>
              <a:rPr lang="en-US" sz="1200" dirty="0">
                <a:solidFill>
                  <a:schemeClr val="tx2"/>
                </a:solidFill>
              </a:rPr>
              <a:t>Un verbale che collega detto e mostrato</a:t>
            </a:r>
            <a:endParaRPr lang="en-US" sz="1200" dirty="0"/>
          </a:p>
        </p:txBody>
      </p:sp>
      <p:sp>
        <p:nvSpPr>
          <p:cNvPr id="30" name="messaggio"/>
          <p:cNvSpPr/>
          <p:nvPr/>
        </p:nvSpPr>
        <p:spPr>
          <a:xfrm>
            <a:off x="457200" y="3611880"/>
            <a:ext cx="8229600" cy="685800"/>
          </a:xfrm>
          <a:prstGeom prst="roundRect">
            <a:avLst>
              <a:gd name="adj" fmla="val 10667"/>
            </a:avLst>
          </a:prstGeom>
          <a:solidFill>
            <a:schemeClr val="tx1"/>
          </a:solidFill>
          <a:ln/>
        </p:spPr>
      </p:sp>
      <p:sp>
        <p:nvSpPr>
          <p:cNvPr id="31" name="Text 24"/>
          <p:cNvSpPr txBox="1"/>
          <p:nvPr/>
        </p:nvSpPr>
        <p:spPr>
          <a:xfrm>
            <a:off x="640080" y="3611880"/>
            <a:ext cx="7863840" cy="685800"/>
          </a:xfrm>
          <a:prstGeom prst="rect">
            <a:avLst/>
          </a:prstGeom>
          <a:noFill/>
          <a:ln/>
        </p:spPr>
        <p:txBody>
          <a:bodyPr wrap="square" lIns="0" tIns="0" rIns="0" bIns="0" rtlCol="0" anchor="ctr"/>
          <a:lstStyle/>
          <a:p>
            <a:pPr indent="0" marL="0">
              <a:buNone/>
            </a:pPr>
            <a:r>
              <a:rPr lang="en-US" sz="1300" dirty="0">
                <a:solidFill>
                  <a:schemeClr val="bg1"/>
                </a:solidFill>
              </a:rPr>
              <a:t>Il valore e i rischi nascono nell'integrazione: elementi di modalità diverse possono essere collegati in modo errato.</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Un modello o più modelli?</a:t>
            </a:r>
            <a:endParaRPr lang="en-US" sz="2600" dirty="0"/>
          </a:p>
        </p:txBody>
      </p:sp>
      <p:sp>
        <p:nvSpPr>
          <p:cNvPr id="4" name="operazione Interpretare"/>
          <p:cNvSpPr/>
          <p:nvPr/>
        </p:nvSpPr>
        <p:spPr>
          <a:xfrm>
            <a:off x="6053328" y="384048"/>
            <a:ext cx="841248"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6053328" y="384048"/>
            <a:ext cx="841248" cy="237744"/>
          </a:xfrm>
          <a:prstGeom prst="rect">
            <a:avLst/>
          </a:prstGeom>
          <a:noFill/>
          <a:ln/>
        </p:spPr>
        <p:txBody>
          <a:bodyPr wrap="square" lIns="0" tIns="0" rIns="0" bIns="0" rtlCol="0" anchor="ctr"/>
          <a:lstStyle/>
          <a:p>
            <a:pPr algn="ctr" indent="0" marL="0">
              <a:buNone/>
            </a:pPr>
            <a:r>
              <a:rPr lang="en-US" sz="900" b="1" dirty="0">
                <a:solidFill>
                  <a:schemeClr val="accent1"/>
                </a:solidFill>
              </a:rPr>
              <a:t>Interpretare</a:t>
            </a:r>
            <a:endParaRPr lang="en-US" sz="900" dirty="0"/>
          </a:p>
        </p:txBody>
      </p:sp>
      <p:sp>
        <p:nvSpPr>
          <p:cNvPr id="6" name="operazione Generare"/>
          <p:cNvSpPr/>
          <p:nvPr/>
        </p:nvSpPr>
        <p:spPr>
          <a:xfrm>
            <a:off x="6940296" y="384048"/>
            <a:ext cx="841248"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940296" y="384048"/>
            <a:ext cx="841248" cy="237744"/>
          </a:xfrm>
          <a:prstGeom prst="rect">
            <a:avLst/>
          </a:prstGeom>
          <a:noFill/>
          <a:ln/>
        </p:spPr>
        <p:txBody>
          <a:bodyPr wrap="square" lIns="0" tIns="0" rIns="0" bIns="0" rtlCol="0" anchor="ctr"/>
          <a:lstStyle/>
          <a:p>
            <a:pPr algn="ctr" indent="0" marL="0">
              <a:buNone/>
            </a:pPr>
            <a:r>
              <a:rPr lang="en-US" sz="900" b="1" dirty="0">
                <a:solidFill>
                  <a:schemeClr val="accent1"/>
                </a:solidFill>
              </a:rPr>
              <a:t>Generare</a:t>
            </a:r>
            <a:endParaRPr lang="en-US" sz="900" dirty="0"/>
          </a:p>
        </p:txBody>
      </p:sp>
      <p:sp>
        <p:nvSpPr>
          <p:cNvPr id="8" name="operazione Trasformare"/>
          <p:cNvSpPr/>
          <p:nvPr/>
        </p:nvSpPr>
        <p:spPr>
          <a:xfrm>
            <a:off x="7827264" y="384048"/>
            <a:ext cx="841248"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827264" y="384048"/>
            <a:ext cx="841248" cy="237744"/>
          </a:xfrm>
          <a:prstGeom prst="rect">
            <a:avLst/>
          </a:prstGeom>
          <a:noFill/>
          <a:ln/>
        </p:spPr>
        <p:txBody>
          <a:bodyPr wrap="square" lIns="0" tIns="0" rIns="0" bIns="0" rtlCol="0" anchor="ctr"/>
          <a:lstStyle/>
          <a:p>
            <a:pPr algn="ctr" indent="0" marL="0">
              <a:buNone/>
            </a:pPr>
            <a:r>
              <a:rPr lang="en-US" sz="900" b="1" dirty="0">
                <a:solidFill>
                  <a:schemeClr val="accent1"/>
                </a:solidFill>
              </a:rPr>
              <a:t>Trasformare</a:t>
            </a:r>
            <a:endParaRPr lang="en-US" sz="900" dirty="0"/>
          </a:p>
        </p:txBody>
      </p:sp>
      <p:sp>
        <p:nvSpPr>
          <p:cNvPr id="10" name="Text 7"/>
          <p:cNvSpPr txBox="1"/>
          <p:nvPr/>
        </p:nvSpPr>
        <p:spPr>
          <a:xfrm>
            <a:off x="457200" y="1024128"/>
            <a:ext cx="8229600" cy="301752"/>
          </a:xfrm>
          <a:prstGeom prst="rect">
            <a:avLst/>
          </a:prstGeom>
          <a:noFill/>
          <a:ln/>
        </p:spPr>
        <p:txBody>
          <a:bodyPr wrap="square" lIns="0" tIns="0" rIns="0" bIns="0" rtlCol="0" anchor="t"/>
          <a:lstStyle/>
          <a:p>
            <a:pPr indent="0" marL="0">
              <a:buNone/>
            </a:pPr>
            <a:r>
              <a:rPr lang="en-US" sz="1300" b="1" dirty="0">
                <a:solidFill>
                  <a:schemeClr val="tx1"/>
                </a:solidFill>
              </a:rPr>
              <a:t>Applicazione che combina modelli specializzati</a:t>
            </a:r>
            <a:endParaRPr lang="en-US" sz="1300" dirty="0"/>
          </a:p>
        </p:txBody>
      </p:sp>
      <p:sp>
        <p:nvSpPr>
          <p:cNvPr id="11" name="blocco Voce"/>
          <p:cNvSpPr/>
          <p:nvPr/>
        </p:nvSpPr>
        <p:spPr>
          <a:xfrm>
            <a:off x="457200" y="1371600"/>
            <a:ext cx="1463040" cy="594360"/>
          </a:xfrm>
          <a:prstGeom prst="roundRect">
            <a:avLst>
              <a:gd name="adj" fmla="val 18462"/>
            </a:avLst>
          </a:prstGeom>
          <a:solidFill>
            <a:schemeClr val="bg2"/>
          </a:solidFill>
          <a:ln/>
        </p:spPr>
      </p:sp>
      <p:sp>
        <p:nvSpPr>
          <p:cNvPr id="12" name="Text 9"/>
          <p:cNvSpPr txBox="1"/>
          <p:nvPr/>
        </p:nvSpPr>
        <p:spPr>
          <a:xfrm>
            <a:off x="502920" y="1371600"/>
            <a:ext cx="1371600" cy="594360"/>
          </a:xfrm>
          <a:prstGeom prst="rect">
            <a:avLst/>
          </a:prstGeom>
          <a:noFill/>
          <a:ln/>
        </p:spPr>
        <p:txBody>
          <a:bodyPr wrap="square" lIns="0" tIns="0" rIns="0" bIns="0" rtlCol="0" anchor="ctr"/>
          <a:lstStyle/>
          <a:p>
            <a:pPr algn="ctr" indent="0" marL="0">
              <a:buNone/>
            </a:pPr>
            <a:r>
              <a:rPr lang="en-US" sz="1100" b="1" dirty="0">
                <a:solidFill>
                  <a:schemeClr val="tx1"/>
                </a:solidFill>
              </a:rPr>
              <a:t>Voce</a:t>
            </a:r>
            <a:endParaRPr lang="en-US" sz="1100" dirty="0"/>
          </a:p>
        </p:txBody>
      </p:sp>
      <p:sp>
        <p:nvSpPr>
          <p:cNvPr id="13" name="freccia"/>
          <p:cNvSpPr/>
          <p:nvPr/>
        </p:nvSpPr>
        <p:spPr>
          <a:xfrm>
            <a:off x="1938528" y="1517904"/>
            <a:ext cx="182880" cy="292608"/>
          </a:xfrm>
          <a:prstGeom prst="rightArrow">
            <a:avLst/>
          </a:prstGeom>
          <a:solidFill>
            <a:schemeClr val="accent2"/>
          </a:solidFill>
          <a:ln/>
        </p:spPr>
      </p:sp>
      <p:sp>
        <p:nvSpPr>
          <p:cNvPr id="14" name="blocco Riconoscimento vocale"/>
          <p:cNvSpPr/>
          <p:nvPr/>
        </p:nvSpPr>
        <p:spPr>
          <a:xfrm>
            <a:off x="2139696" y="1371600"/>
            <a:ext cx="1463040" cy="594360"/>
          </a:xfrm>
          <a:prstGeom prst="roundRect">
            <a:avLst>
              <a:gd name="adj" fmla="val 18462"/>
            </a:avLst>
          </a:prstGeom>
          <a:solidFill>
            <a:schemeClr val="accent6"/>
          </a:solidFill>
          <a:ln/>
        </p:spPr>
      </p:sp>
      <p:sp>
        <p:nvSpPr>
          <p:cNvPr id="15" name="Text 12"/>
          <p:cNvSpPr txBox="1"/>
          <p:nvPr/>
        </p:nvSpPr>
        <p:spPr>
          <a:xfrm>
            <a:off x="2185416" y="1371600"/>
            <a:ext cx="1371600" cy="594360"/>
          </a:xfrm>
          <a:prstGeom prst="rect">
            <a:avLst/>
          </a:prstGeom>
          <a:noFill/>
          <a:ln/>
        </p:spPr>
        <p:txBody>
          <a:bodyPr wrap="square" lIns="0" tIns="0" rIns="0" bIns="0" rtlCol="0" anchor="ctr"/>
          <a:lstStyle/>
          <a:p>
            <a:pPr algn="ctr" indent="0" marL="0">
              <a:buNone/>
            </a:pPr>
            <a:r>
              <a:rPr lang="en-US" sz="1100" b="1" dirty="0">
                <a:solidFill>
                  <a:schemeClr val="tx1"/>
                </a:solidFill>
              </a:rPr>
              <a:t>Riconoscimento vocale</a:t>
            </a:r>
            <a:endParaRPr lang="en-US" sz="1100" dirty="0"/>
          </a:p>
        </p:txBody>
      </p:sp>
      <p:sp>
        <p:nvSpPr>
          <p:cNvPr id="16" name="freccia"/>
          <p:cNvSpPr/>
          <p:nvPr/>
        </p:nvSpPr>
        <p:spPr>
          <a:xfrm>
            <a:off x="3621024" y="1517904"/>
            <a:ext cx="182880" cy="292608"/>
          </a:xfrm>
          <a:prstGeom prst="rightArrow">
            <a:avLst/>
          </a:prstGeom>
          <a:solidFill>
            <a:schemeClr val="accent2"/>
          </a:solidFill>
          <a:ln/>
        </p:spPr>
      </p:sp>
      <p:sp>
        <p:nvSpPr>
          <p:cNvPr id="17" name="blocco Modello linguistico"/>
          <p:cNvSpPr/>
          <p:nvPr/>
        </p:nvSpPr>
        <p:spPr>
          <a:xfrm>
            <a:off x="3822192" y="1371600"/>
            <a:ext cx="1463040" cy="594360"/>
          </a:xfrm>
          <a:prstGeom prst="roundRect">
            <a:avLst>
              <a:gd name="adj" fmla="val 18462"/>
            </a:avLst>
          </a:prstGeom>
          <a:solidFill>
            <a:schemeClr val="accent6"/>
          </a:solidFill>
          <a:ln/>
        </p:spPr>
      </p:sp>
      <p:sp>
        <p:nvSpPr>
          <p:cNvPr id="18" name="Text 15"/>
          <p:cNvSpPr txBox="1"/>
          <p:nvPr/>
        </p:nvSpPr>
        <p:spPr>
          <a:xfrm>
            <a:off x="3867912" y="1371600"/>
            <a:ext cx="1371600" cy="594360"/>
          </a:xfrm>
          <a:prstGeom prst="rect">
            <a:avLst/>
          </a:prstGeom>
          <a:noFill/>
          <a:ln/>
        </p:spPr>
        <p:txBody>
          <a:bodyPr wrap="square" lIns="0" tIns="0" rIns="0" bIns="0" rtlCol="0" anchor="ctr"/>
          <a:lstStyle/>
          <a:p>
            <a:pPr algn="ctr" indent="0" marL="0">
              <a:buNone/>
            </a:pPr>
            <a:r>
              <a:rPr lang="en-US" sz="1100" b="1" dirty="0">
                <a:solidFill>
                  <a:schemeClr val="tx1"/>
                </a:solidFill>
              </a:rPr>
              <a:t>Modello linguistico</a:t>
            </a:r>
            <a:endParaRPr lang="en-US" sz="1100" dirty="0"/>
          </a:p>
        </p:txBody>
      </p:sp>
      <p:sp>
        <p:nvSpPr>
          <p:cNvPr id="19" name="freccia"/>
          <p:cNvSpPr/>
          <p:nvPr/>
        </p:nvSpPr>
        <p:spPr>
          <a:xfrm>
            <a:off x="5303520" y="1517904"/>
            <a:ext cx="182880" cy="292608"/>
          </a:xfrm>
          <a:prstGeom prst="rightArrow">
            <a:avLst/>
          </a:prstGeom>
          <a:solidFill>
            <a:schemeClr val="accent2"/>
          </a:solidFill>
          <a:ln/>
        </p:spPr>
      </p:sp>
      <p:sp>
        <p:nvSpPr>
          <p:cNvPr id="20" name="blocco Sintesi vocale"/>
          <p:cNvSpPr/>
          <p:nvPr/>
        </p:nvSpPr>
        <p:spPr>
          <a:xfrm>
            <a:off x="5504688" y="1371600"/>
            <a:ext cx="1463040" cy="594360"/>
          </a:xfrm>
          <a:prstGeom prst="roundRect">
            <a:avLst>
              <a:gd name="adj" fmla="val 18462"/>
            </a:avLst>
          </a:prstGeom>
          <a:solidFill>
            <a:schemeClr val="accent6"/>
          </a:solidFill>
          <a:ln/>
        </p:spPr>
      </p:sp>
      <p:sp>
        <p:nvSpPr>
          <p:cNvPr id="21" name="Text 18"/>
          <p:cNvSpPr txBox="1"/>
          <p:nvPr/>
        </p:nvSpPr>
        <p:spPr>
          <a:xfrm>
            <a:off x="5550408" y="1371600"/>
            <a:ext cx="1371600" cy="594360"/>
          </a:xfrm>
          <a:prstGeom prst="rect">
            <a:avLst/>
          </a:prstGeom>
          <a:noFill/>
          <a:ln/>
        </p:spPr>
        <p:txBody>
          <a:bodyPr wrap="square" lIns="0" tIns="0" rIns="0" bIns="0" rtlCol="0" anchor="ctr"/>
          <a:lstStyle/>
          <a:p>
            <a:pPr algn="ctr" indent="0" marL="0">
              <a:buNone/>
            </a:pPr>
            <a:r>
              <a:rPr lang="en-US" sz="1100" b="1" dirty="0">
                <a:solidFill>
                  <a:schemeClr val="tx1"/>
                </a:solidFill>
              </a:rPr>
              <a:t>Sintesi vocale</a:t>
            </a:r>
            <a:endParaRPr lang="en-US" sz="1100" dirty="0"/>
          </a:p>
        </p:txBody>
      </p:sp>
      <p:sp>
        <p:nvSpPr>
          <p:cNvPr id="22" name="freccia"/>
          <p:cNvSpPr/>
          <p:nvPr/>
        </p:nvSpPr>
        <p:spPr>
          <a:xfrm>
            <a:off x="6986016" y="1517904"/>
            <a:ext cx="182880" cy="292608"/>
          </a:xfrm>
          <a:prstGeom prst="rightArrow">
            <a:avLst/>
          </a:prstGeom>
          <a:solidFill>
            <a:schemeClr val="accent2"/>
          </a:solidFill>
          <a:ln/>
        </p:spPr>
      </p:sp>
      <p:sp>
        <p:nvSpPr>
          <p:cNvPr id="23" name="blocco Risposta"/>
          <p:cNvSpPr/>
          <p:nvPr/>
        </p:nvSpPr>
        <p:spPr>
          <a:xfrm>
            <a:off x="7187184" y="1371600"/>
            <a:ext cx="1463040" cy="594360"/>
          </a:xfrm>
          <a:prstGeom prst="roundRect">
            <a:avLst>
              <a:gd name="adj" fmla="val 18462"/>
            </a:avLst>
          </a:prstGeom>
          <a:solidFill>
            <a:schemeClr val="bg2"/>
          </a:solidFill>
          <a:ln/>
        </p:spPr>
      </p:sp>
      <p:sp>
        <p:nvSpPr>
          <p:cNvPr id="24" name="Text 21"/>
          <p:cNvSpPr txBox="1"/>
          <p:nvPr/>
        </p:nvSpPr>
        <p:spPr>
          <a:xfrm>
            <a:off x="7232904" y="1371600"/>
            <a:ext cx="1371600" cy="594360"/>
          </a:xfrm>
          <a:prstGeom prst="rect">
            <a:avLst/>
          </a:prstGeom>
          <a:noFill/>
          <a:ln/>
        </p:spPr>
        <p:txBody>
          <a:bodyPr wrap="square" lIns="0" tIns="0" rIns="0" bIns="0" rtlCol="0" anchor="ctr"/>
          <a:lstStyle/>
          <a:p>
            <a:pPr algn="ctr" indent="0" marL="0">
              <a:buNone/>
            </a:pPr>
            <a:r>
              <a:rPr lang="en-US" sz="1100" b="1" dirty="0">
                <a:solidFill>
                  <a:schemeClr val="tx1"/>
                </a:solidFill>
              </a:rPr>
              <a:t>Risposta</a:t>
            </a:r>
            <a:endParaRPr lang="en-US" sz="1100" dirty="0"/>
          </a:p>
        </p:txBody>
      </p:sp>
      <p:sp>
        <p:nvSpPr>
          <p:cNvPr id="25" name="Text 22"/>
          <p:cNvSpPr txBox="1"/>
          <p:nvPr/>
        </p:nvSpPr>
        <p:spPr>
          <a:xfrm>
            <a:off x="457200" y="2011680"/>
            <a:ext cx="8229600" cy="274320"/>
          </a:xfrm>
          <a:prstGeom prst="rect">
            <a:avLst/>
          </a:prstGeom>
          <a:noFill/>
          <a:ln/>
        </p:spPr>
        <p:txBody>
          <a:bodyPr wrap="square" lIns="0" tIns="0" rIns="0" bIns="0" rtlCol="0" anchor="t"/>
          <a:lstStyle/>
          <a:p>
            <a:pPr indent="0" marL="0">
              <a:buNone/>
            </a:pPr>
            <a:r>
              <a:rPr lang="en-US" sz="1100" i="1" dirty="0">
                <a:solidFill>
                  <a:schemeClr val="accent5"/>
                </a:solidFill>
              </a:rPr>
              <a:t>Ogni passaggio può introdurre errori; tono, pause ed enfasi si perdono nella trascrizione</a:t>
            </a:r>
            <a:endParaRPr lang="en-US" sz="1100" dirty="0"/>
          </a:p>
        </p:txBody>
      </p:sp>
      <p:sp>
        <p:nvSpPr>
          <p:cNvPr id="26" name="Text 23"/>
          <p:cNvSpPr txBox="1"/>
          <p:nvPr/>
        </p:nvSpPr>
        <p:spPr>
          <a:xfrm>
            <a:off x="457200" y="2423160"/>
            <a:ext cx="8229600" cy="301752"/>
          </a:xfrm>
          <a:prstGeom prst="rect">
            <a:avLst/>
          </a:prstGeom>
          <a:noFill/>
          <a:ln/>
        </p:spPr>
        <p:txBody>
          <a:bodyPr wrap="square" lIns="0" tIns="0" rIns="0" bIns="0" rtlCol="0" anchor="t"/>
          <a:lstStyle/>
          <a:p>
            <a:pPr indent="0" marL="0">
              <a:buNone/>
            </a:pPr>
            <a:r>
              <a:rPr lang="en-US" sz="1300" b="1" dirty="0">
                <a:solidFill>
                  <a:schemeClr val="tx1"/>
                </a:solidFill>
              </a:rPr>
              <a:t>Modello multimodale nativo</a:t>
            </a:r>
            <a:endParaRPr lang="en-US" sz="1300" dirty="0"/>
          </a:p>
        </p:txBody>
      </p:sp>
      <p:sp>
        <p:nvSpPr>
          <p:cNvPr id="27" name="blocco Voce"/>
          <p:cNvSpPr/>
          <p:nvPr/>
        </p:nvSpPr>
        <p:spPr>
          <a:xfrm>
            <a:off x="457200" y="2770632"/>
            <a:ext cx="1463040" cy="594360"/>
          </a:xfrm>
          <a:prstGeom prst="roundRect">
            <a:avLst>
              <a:gd name="adj" fmla="val 18462"/>
            </a:avLst>
          </a:prstGeom>
          <a:solidFill>
            <a:schemeClr val="bg2"/>
          </a:solidFill>
          <a:ln/>
        </p:spPr>
      </p:sp>
      <p:sp>
        <p:nvSpPr>
          <p:cNvPr id="28" name="Text 25"/>
          <p:cNvSpPr txBox="1"/>
          <p:nvPr/>
        </p:nvSpPr>
        <p:spPr>
          <a:xfrm>
            <a:off x="502920" y="2770632"/>
            <a:ext cx="1371600" cy="594360"/>
          </a:xfrm>
          <a:prstGeom prst="rect">
            <a:avLst/>
          </a:prstGeom>
          <a:noFill/>
          <a:ln/>
        </p:spPr>
        <p:txBody>
          <a:bodyPr wrap="square" lIns="0" tIns="0" rIns="0" bIns="0" rtlCol="0" anchor="ctr"/>
          <a:lstStyle/>
          <a:p>
            <a:pPr algn="ctr" indent="0" marL="0">
              <a:buNone/>
            </a:pPr>
            <a:r>
              <a:rPr lang="en-US" sz="1100" b="1" dirty="0">
                <a:solidFill>
                  <a:schemeClr val="tx1"/>
                </a:solidFill>
              </a:rPr>
              <a:t>Voce</a:t>
            </a:r>
            <a:endParaRPr lang="en-US" sz="1100" dirty="0"/>
          </a:p>
        </p:txBody>
      </p:sp>
      <p:sp>
        <p:nvSpPr>
          <p:cNvPr id="29" name="freccia"/>
          <p:cNvSpPr/>
          <p:nvPr/>
        </p:nvSpPr>
        <p:spPr>
          <a:xfrm>
            <a:off x="1938528" y="2916936"/>
            <a:ext cx="182880" cy="292608"/>
          </a:xfrm>
          <a:prstGeom prst="rightArrow">
            <a:avLst/>
          </a:prstGeom>
          <a:solidFill>
            <a:schemeClr val="accent2"/>
          </a:solidFill>
          <a:ln/>
        </p:spPr>
      </p:sp>
      <p:sp>
        <p:nvSpPr>
          <p:cNvPr id="30" name="blocco Un solo modello per più modalità"/>
          <p:cNvSpPr/>
          <p:nvPr/>
        </p:nvSpPr>
        <p:spPr>
          <a:xfrm>
            <a:off x="2139696" y="2770632"/>
            <a:ext cx="4828032" cy="594360"/>
          </a:xfrm>
          <a:prstGeom prst="roundRect">
            <a:avLst>
              <a:gd name="adj" fmla="val 18462"/>
            </a:avLst>
          </a:prstGeom>
          <a:solidFill>
            <a:schemeClr val="accent1"/>
          </a:solidFill>
          <a:ln/>
        </p:spPr>
      </p:sp>
      <p:sp>
        <p:nvSpPr>
          <p:cNvPr id="31" name="Text 28"/>
          <p:cNvSpPr txBox="1"/>
          <p:nvPr/>
        </p:nvSpPr>
        <p:spPr>
          <a:xfrm>
            <a:off x="2185416" y="2770632"/>
            <a:ext cx="4736592" cy="594360"/>
          </a:xfrm>
          <a:prstGeom prst="rect">
            <a:avLst/>
          </a:prstGeom>
          <a:noFill/>
          <a:ln/>
        </p:spPr>
        <p:txBody>
          <a:bodyPr wrap="square" lIns="0" tIns="0" rIns="0" bIns="0" rtlCol="0" anchor="ctr"/>
          <a:lstStyle/>
          <a:p>
            <a:pPr algn="ctr" indent="0" marL="0">
              <a:buNone/>
            </a:pPr>
            <a:r>
              <a:rPr lang="en-US" sz="1200" b="1" dirty="0">
                <a:solidFill>
                  <a:schemeClr val="bg1"/>
                </a:solidFill>
              </a:rPr>
              <a:t>Un solo modello per più modalità</a:t>
            </a:r>
            <a:endParaRPr lang="en-US" sz="1200" dirty="0"/>
          </a:p>
        </p:txBody>
      </p:sp>
      <p:sp>
        <p:nvSpPr>
          <p:cNvPr id="32" name="freccia"/>
          <p:cNvSpPr/>
          <p:nvPr/>
        </p:nvSpPr>
        <p:spPr>
          <a:xfrm>
            <a:off x="6986016" y="2916936"/>
            <a:ext cx="182880" cy="292608"/>
          </a:xfrm>
          <a:prstGeom prst="rightArrow">
            <a:avLst/>
          </a:prstGeom>
          <a:solidFill>
            <a:schemeClr val="accent2"/>
          </a:solidFill>
          <a:ln/>
        </p:spPr>
      </p:sp>
      <p:sp>
        <p:nvSpPr>
          <p:cNvPr id="33" name="blocco Risposta"/>
          <p:cNvSpPr/>
          <p:nvPr/>
        </p:nvSpPr>
        <p:spPr>
          <a:xfrm>
            <a:off x="7187184" y="2770632"/>
            <a:ext cx="1463040" cy="594360"/>
          </a:xfrm>
          <a:prstGeom prst="roundRect">
            <a:avLst>
              <a:gd name="adj" fmla="val 18462"/>
            </a:avLst>
          </a:prstGeom>
          <a:solidFill>
            <a:schemeClr val="bg2"/>
          </a:solidFill>
          <a:ln/>
        </p:spPr>
      </p:sp>
      <p:sp>
        <p:nvSpPr>
          <p:cNvPr id="34" name="Text 31"/>
          <p:cNvSpPr txBox="1"/>
          <p:nvPr/>
        </p:nvSpPr>
        <p:spPr>
          <a:xfrm>
            <a:off x="7232904" y="2770632"/>
            <a:ext cx="1371600" cy="594360"/>
          </a:xfrm>
          <a:prstGeom prst="rect">
            <a:avLst/>
          </a:prstGeom>
          <a:noFill/>
          <a:ln/>
        </p:spPr>
        <p:txBody>
          <a:bodyPr wrap="square" lIns="0" tIns="0" rIns="0" bIns="0" rtlCol="0" anchor="ctr"/>
          <a:lstStyle/>
          <a:p>
            <a:pPr algn="ctr" indent="0" marL="0">
              <a:buNone/>
            </a:pPr>
            <a:r>
              <a:rPr lang="en-US" sz="1100" b="1" dirty="0">
                <a:solidFill>
                  <a:schemeClr val="tx1"/>
                </a:solidFill>
              </a:rPr>
              <a:t>Risposta</a:t>
            </a:r>
            <a:endParaRPr lang="en-US" sz="1100" dirty="0"/>
          </a:p>
        </p:txBody>
      </p:sp>
      <p:sp>
        <p:nvSpPr>
          <p:cNvPr id="35" name="messaggio"/>
          <p:cNvSpPr/>
          <p:nvPr/>
        </p:nvSpPr>
        <p:spPr>
          <a:xfrm>
            <a:off x="457200" y="3611880"/>
            <a:ext cx="8229600" cy="685800"/>
          </a:xfrm>
          <a:prstGeom prst="roundRect">
            <a:avLst>
              <a:gd name="adj" fmla="val 10667"/>
            </a:avLst>
          </a:prstGeom>
          <a:solidFill>
            <a:schemeClr val="tx1"/>
          </a:solidFill>
          <a:ln/>
        </p:spPr>
      </p:sp>
      <p:sp>
        <p:nvSpPr>
          <p:cNvPr id="36" name="Text 33"/>
          <p:cNvSpPr txBox="1"/>
          <p:nvPr/>
        </p:nvSpPr>
        <p:spPr>
          <a:xfrm>
            <a:off x="640080" y="3611880"/>
            <a:ext cx="7863840" cy="685800"/>
          </a:xfrm>
          <a:prstGeom prst="rect">
            <a:avLst/>
          </a:prstGeom>
          <a:noFill/>
          <a:ln/>
        </p:spPr>
        <p:txBody>
          <a:bodyPr wrap="square" lIns="0" tIns="0" rIns="0" bIns="0" rtlCol="0" anchor="ctr"/>
          <a:lstStyle/>
          <a:p>
            <a:pPr indent="0" marL="0">
              <a:buNone/>
            </a:pPr>
            <a:r>
              <a:rPr lang="en-US" sz="1300" dirty="0">
                <a:solidFill>
                  <a:schemeClr val="bg1"/>
                </a:solidFill>
              </a:rPr>
              <a:t>Per l'utente possono sembrare identici, ma si comportano diversamente. Le capacità dipendono dal sistema.</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Capacità che dipendono dal sistema</a:t>
            </a:r>
            <a:endParaRPr lang="en-US" sz="2600" dirty="0"/>
          </a:p>
        </p:txBody>
      </p:sp>
      <p:sp>
        <p:nvSpPr>
          <p:cNvPr id="4" name="operazione Interpretare"/>
          <p:cNvSpPr/>
          <p:nvPr/>
        </p:nvSpPr>
        <p:spPr>
          <a:xfrm>
            <a:off x="6053328" y="384048"/>
            <a:ext cx="841248"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6053328" y="384048"/>
            <a:ext cx="841248" cy="237744"/>
          </a:xfrm>
          <a:prstGeom prst="rect">
            <a:avLst/>
          </a:prstGeom>
          <a:noFill/>
          <a:ln/>
        </p:spPr>
        <p:txBody>
          <a:bodyPr wrap="square" lIns="0" tIns="0" rIns="0" bIns="0" rtlCol="0" anchor="ctr"/>
          <a:lstStyle/>
          <a:p>
            <a:pPr algn="ctr" indent="0" marL="0">
              <a:buNone/>
            </a:pPr>
            <a:r>
              <a:rPr lang="en-US" sz="900" b="1" dirty="0">
                <a:solidFill>
                  <a:schemeClr val="accent1"/>
                </a:solidFill>
              </a:rPr>
              <a:t>Interpretare</a:t>
            </a:r>
            <a:endParaRPr lang="en-US" sz="900" dirty="0"/>
          </a:p>
        </p:txBody>
      </p:sp>
      <p:sp>
        <p:nvSpPr>
          <p:cNvPr id="6" name="operazione Generare"/>
          <p:cNvSpPr/>
          <p:nvPr/>
        </p:nvSpPr>
        <p:spPr>
          <a:xfrm>
            <a:off x="6940296" y="384048"/>
            <a:ext cx="841248"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940296" y="384048"/>
            <a:ext cx="841248" cy="237744"/>
          </a:xfrm>
          <a:prstGeom prst="rect">
            <a:avLst/>
          </a:prstGeom>
          <a:noFill/>
          <a:ln/>
        </p:spPr>
        <p:txBody>
          <a:bodyPr wrap="square" lIns="0" tIns="0" rIns="0" bIns="0" rtlCol="0" anchor="ctr"/>
          <a:lstStyle/>
          <a:p>
            <a:pPr algn="ctr" indent="0" marL="0">
              <a:buNone/>
            </a:pPr>
            <a:r>
              <a:rPr lang="en-US" sz="900" b="1" dirty="0">
                <a:solidFill>
                  <a:schemeClr val="accent1"/>
                </a:solidFill>
              </a:rPr>
              <a:t>Generare</a:t>
            </a:r>
            <a:endParaRPr lang="en-US" sz="900" dirty="0"/>
          </a:p>
        </p:txBody>
      </p:sp>
      <p:sp>
        <p:nvSpPr>
          <p:cNvPr id="8" name="operazione Trasformare"/>
          <p:cNvSpPr/>
          <p:nvPr/>
        </p:nvSpPr>
        <p:spPr>
          <a:xfrm>
            <a:off x="7827264" y="384048"/>
            <a:ext cx="841248"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827264" y="384048"/>
            <a:ext cx="841248" cy="237744"/>
          </a:xfrm>
          <a:prstGeom prst="rect">
            <a:avLst/>
          </a:prstGeom>
          <a:noFill/>
          <a:ln/>
        </p:spPr>
        <p:txBody>
          <a:bodyPr wrap="square" lIns="0" tIns="0" rIns="0" bIns="0" rtlCol="0" anchor="ctr"/>
          <a:lstStyle/>
          <a:p>
            <a:pPr algn="ctr" indent="0" marL="0">
              <a:buNone/>
            </a:pPr>
            <a:r>
              <a:rPr lang="en-US" sz="900" b="1" dirty="0">
                <a:solidFill>
                  <a:schemeClr val="accent1"/>
                </a:solidFill>
              </a:rPr>
              <a:t>Trasformare</a:t>
            </a:r>
            <a:endParaRPr lang="en-US" sz="900" dirty="0"/>
          </a:p>
        </p:txBody>
      </p:sp>
      <p:sp>
        <p:nvSpPr>
          <p:cNvPr id="10" name="domanda 1"/>
          <p:cNvSpPr/>
          <p:nvPr/>
        </p:nvSpPr>
        <p:spPr>
          <a:xfrm>
            <a:off x="457200" y="1051560"/>
            <a:ext cx="4023360" cy="493776"/>
          </a:xfrm>
          <a:prstGeom prst="roundRect">
            <a:avLst>
              <a:gd name="adj" fmla="val 14815"/>
            </a:avLst>
          </a:prstGeom>
          <a:solidFill>
            <a:schemeClr val="bg2"/>
          </a:solidFill>
          <a:ln/>
        </p:spPr>
      </p:sp>
      <p:sp>
        <p:nvSpPr>
          <p:cNvPr id="11" name="Text 8"/>
          <p:cNvSpPr txBox="1"/>
          <p:nvPr/>
        </p:nvSpPr>
        <p:spPr>
          <a:xfrm>
            <a:off x="640080" y="1051560"/>
            <a:ext cx="3657600" cy="493776"/>
          </a:xfrm>
          <a:prstGeom prst="rect">
            <a:avLst/>
          </a:prstGeom>
          <a:noFill/>
          <a:ln/>
        </p:spPr>
        <p:txBody>
          <a:bodyPr wrap="square" lIns="0" tIns="0" rIns="0" bIns="0" rtlCol="0" anchor="ctr"/>
          <a:lstStyle/>
          <a:p>
            <a:pPr indent="0" marL="0">
              <a:buNone/>
            </a:pPr>
            <a:r>
              <a:rPr lang="en-US" sz="1200" dirty="0">
                <a:solidFill>
                  <a:schemeClr val="tx1"/>
                </a:solidFill>
              </a:rPr>
              <a:t>Quali modalità in ingresso e in uscita?</a:t>
            </a:r>
            <a:endParaRPr lang="en-US" sz="1200" dirty="0"/>
          </a:p>
        </p:txBody>
      </p:sp>
      <p:sp>
        <p:nvSpPr>
          <p:cNvPr id="12" name="domanda 2"/>
          <p:cNvSpPr/>
          <p:nvPr/>
        </p:nvSpPr>
        <p:spPr>
          <a:xfrm>
            <a:off x="4663440" y="1051560"/>
            <a:ext cx="4023360" cy="493776"/>
          </a:xfrm>
          <a:prstGeom prst="roundRect">
            <a:avLst>
              <a:gd name="adj" fmla="val 14815"/>
            </a:avLst>
          </a:prstGeom>
          <a:solidFill>
            <a:schemeClr val="bg2"/>
          </a:solidFill>
          <a:ln/>
        </p:spPr>
      </p:sp>
      <p:sp>
        <p:nvSpPr>
          <p:cNvPr id="13" name="Text 10"/>
          <p:cNvSpPr txBox="1"/>
          <p:nvPr/>
        </p:nvSpPr>
        <p:spPr>
          <a:xfrm>
            <a:off x="4846320" y="1051560"/>
            <a:ext cx="3657600" cy="493776"/>
          </a:xfrm>
          <a:prstGeom prst="rect">
            <a:avLst/>
          </a:prstGeom>
          <a:noFill/>
          <a:ln/>
        </p:spPr>
        <p:txBody>
          <a:bodyPr wrap="square" lIns="0" tIns="0" rIns="0" bIns="0" rtlCol="0" anchor="ctr"/>
          <a:lstStyle/>
          <a:p>
            <a:pPr indent="0" marL="0">
              <a:buNone/>
            </a:pPr>
            <a:r>
              <a:rPr lang="en-US" sz="1200" dirty="0">
                <a:solidFill>
                  <a:schemeClr val="tx1"/>
                </a:solidFill>
              </a:rPr>
              <a:t>Quanto bene legge dettagli, testi, grafici?</a:t>
            </a:r>
            <a:endParaRPr lang="en-US" sz="1200" dirty="0"/>
          </a:p>
        </p:txBody>
      </p:sp>
      <p:sp>
        <p:nvSpPr>
          <p:cNvPr id="14" name="domanda 3"/>
          <p:cNvSpPr/>
          <p:nvPr/>
        </p:nvSpPr>
        <p:spPr>
          <a:xfrm>
            <a:off x="457200" y="1618488"/>
            <a:ext cx="4023360" cy="493776"/>
          </a:xfrm>
          <a:prstGeom prst="roundRect">
            <a:avLst>
              <a:gd name="adj" fmla="val 14815"/>
            </a:avLst>
          </a:prstGeom>
          <a:solidFill>
            <a:schemeClr val="bg2"/>
          </a:solidFill>
          <a:ln/>
        </p:spPr>
      </p:sp>
      <p:sp>
        <p:nvSpPr>
          <p:cNvPr id="15" name="Text 12"/>
          <p:cNvSpPr txBox="1"/>
          <p:nvPr/>
        </p:nvSpPr>
        <p:spPr>
          <a:xfrm>
            <a:off x="640080" y="1618488"/>
            <a:ext cx="3657600" cy="493776"/>
          </a:xfrm>
          <a:prstGeom prst="rect">
            <a:avLst/>
          </a:prstGeom>
          <a:noFill/>
          <a:ln/>
        </p:spPr>
        <p:txBody>
          <a:bodyPr wrap="square" lIns="0" tIns="0" rIns="0" bIns="0" rtlCol="0" anchor="ctr"/>
          <a:lstStyle/>
          <a:p>
            <a:pPr indent="0" marL="0">
              <a:buNone/>
            </a:pPr>
            <a:r>
              <a:rPr lang="en-US" sz="1200" dirty="0">
                <a:solidFill>
                  <a:schemeClr val="tx1"/>
                </a:solidFill>
              </a:rPr>
              <a:t>Quali lingue e accenti nel parlato?</a:t>
            </a:r>
            <a:endParaRPr lang="en-US" sz="1200" dirty="0"/>
          </a:p>
        </p:txBody>
      </p:sp>
      <p:sp>
        <p:nvSpPr>
          <p:cNvPr id="16" name="domanda 4"/>
          <p:cNvSpPr/>
          <p:nvPr/>
        </p:nvSpPr>
        <p:spPr>
          <a:xfrm>
            <a:off x="4663440" y="1618488"/>
            <a:ext cx="4023360" cy="493776"/>
          </a:xfrm>
          <a:prstGeom prst="roundRect">
            <a:avLst>
              <a:gd name="adj" fmla="val 14815"/>
            </a:avLst>
          </a:prstGeom>
          <a:solidFill>
            <a:schemeClr val="bg2"/>
          </a:solidFill>
          <a:ln/>
        </p:spPr>
      </p:sp>
      <p:sp>
        <p:nvSpPr>
          <p:cNvPr id="17" name="Text 14"/>
          <p:cNvSpPr txBox="1"/>
          <p:nvPr/>
        </p:nvSpPr>
        <p:spPr>
          <a:xfrm>
            <a:off x="4846320" y="1618488"/>
            <a:ext cx="3657600" cy="493776"/>
          </a:xfrm>
          <a:prstGeom prst="rect">
            <a:avLst/>
          </a:prstGeom>
          <a:noFill/>
          <a:ln/>
        </p:spPr>
        <p:txBody>
          <a:bodyPr wrap="square" lIns="0" tIns="0" rIns="0" bIns="0" rtlCol="0" anchor="ctr"/>
          <a:lstStyle/>
          <a:p>
            <a:pPr indent="0" marL="0">
              <a:buNone/>
            </a:pPr>
            <a:r>
              <a:rPr lang="en-US" sz="1200" dirty="0">
                <a:solidFill>
                  <a:schemeClr val="tx1"/>
                </a:solidFill>
              </a:rPr>
              <a:t>Quale durata massima di audio e video?</a:t>
            </a:r>
            <a:endParaRPr lang="en-US" sz="1200" dirty="0"/>
          </a:p>
        </p:txBody>
      </p:sp>
      <p:sp>
        <p:nvSpPr>
          <p:cNvPr id="18" name="domanda 5"/>
          <p:cNvSpPr/>
          <p:nvPr/>
        </p:nvSpPr>
        <p:spPr>
          <a:xfrm>
            <a:off x="457200" y="2185416"/>
            <a:ext cx="4023360" cy="493776"/>
          </a:xfrm>
          <a:prstGeom prst="roundRect">
            <a:avLst>
              <a:gd name="adj" fmla="val 14815"/>
            </a:avLst>
          </a:prstGeom>
          <a:solidFill>
            <a:schemeClr val="bg2"/>
          </a:solidFill>
          <a:ln/>
        </p:spPr>
      </p:sp>
      <p:sp>
        <p:nvSpPr>
          <p:cNvPr id="19" name="Text 16"/>
          <p:cNvSpPr txBox="1"/>
          <p:nvPr/>
        </p:nvSpPr>
        <p:spPr>
          <a:xfrm>
            <a:off x="640080" y="2185416"/>
            <a:ext cx="3657600" cy="493776"/>
          </a:xfrm>
          <a:prstGeom prst="rect">
            <a:avLst/>
          </a:prstGeom>
          <a:noFill/>
          <a:ln/>
        </p:spPr>
        <p:txBody>
          <a:bodyPr wrap="square" lIns="0" tIns="0" rIns="0" bIns="0" rtlCol="0" anchor="ctr"/>
          <a:lstStyle/>
          <a:p>
            <a:pPr indent="0" marL="0">
              <a:buNone/>
            </a:pPr>
            <a:r>
              <a:rPr lang="en-US" sz="1200" dirty="0">
                <a:solidFill>
                  <a:schemeClr val="tx1"/>
                </a:solidFill>
              </a:rPr>
              <a:t>Video analizzati in tutti i fotogrammi o solo in alcuni?</a:t>
            </a:r>
            <a:endParaRPr lang="en-US" sz="1200" dirty="0"/>
          </a:p>
        </p:txBody>
      </p:sp>
      <p:sp>
        <p:nvSpPr>
          <p:cNvPr id="20" name="domanda 6"/>
          <p:cNvSpPr/>
          <p:nvPr/>
        </p:nvSpPr>
        <p:spPr>
          <a:xfrm>
            <a:off x="4663440" y="2185416"/>
            <a:ext cx="4023360" cy="493776"/>
          </a:xfrm>
          <a:prstGeom prst="roundRect">
            <a:avLst>
              <a:gd name="adj" fmla="val 14815"/>
            </a:avLst>
          </a:prstGeom>
          <a:solidFill>
            <a:schemeClr val="bg2"/>
          </a:solidFill>
          <a:ln/>
        </p:spPr>
      </p:sp>
      <p:sp>
        <p:nvSpPr>
          <p:cNvPr id="21" name="Text 18"/>
          <p:cNvSpPr txBox="1"/>
          <p:nvPr/>
        </p:nvSpPr>
        <p:spPr>
          <a:xfrm>
            <a:off x="4846320" y="2185416"/>
            <a:ext cx="3657600" cy="493776"/>
          </a:xfrm>
          <a:prstGeom prst="rect">
            <a:avLst/>
          </a:prstGeom>
          <a:noFill/>
          <a:ln/>
        </p:spPr>
        <p:txBody>
          <a:bodyPr wrap="square" lIns="0" tIns="0" rIns="0" bIns="0" rtlCol="0" anchor="ctr"/>
          <a:lstStyle/>
          <a:p>
            <a:pPr indent="0" marL="0">
              <a:buNone/>
            </a:pPr>
            <a:r>
              <a:rPr lang="en-US" sz="1200" dirty="0">
                <a:solidFill>
                  <a:schemeClr val="tx1"/>
                </a:solidFill>
              </a:rPr>
              <a:t>Elaborazione sul dispositivo o su un servizio esterno?</a:t>
            </a:r>
            <a:endParaRPr lang="en-US" sz="1200" dirty="0"/>
          </a:p>
        </p:txBody>
      </p:sp>
      <p:sp>
        <p:nvSpPr>
          <p:cNvPr id="22" name="domanda 7"/>
          <p:cNvSpPr/>
          <p:nvPr/>
        </p:nvSpPr>
        <p:spPr>
          <a:xfrm>
            <a:off x="457200" y="2752344"/>
            <a:ext cx="4023360" cy="493776"/>
          </a:xfrm>
          <a:prstGeom prst="roundRect">
            <a:avLst>
              <a:gd name="adj" fmla="val 14815"/>
            </a:avLst>
          </a:prstGeom>
          <a:solidFill>
            <a:schemeClr val="bg2"/>
          </a:solidFill>
          <a:ln/>
        </p:spPr>
      </p:sp>
      <p:sp>
        <p:nvSpPr>
          <p:cNvPr id="23" name="Text 20"/>
          <p:cNvSpPr txBox="1"/>
          <p:nvPr/>
        </p:nvSpPr>
        <p:spPr>
          <a:xfrm>
            <a:off x="640080" y="2752344"/>
            <a:ext cx="3657600" cy="493776"/>
          </a:xfrm>
          <a:prstGeom prst="rect">
            <a:avLst/>
          </a:prstGeom>
          <a:noFill/>
          <a:ln/>
        </p:spPr>
        <p:txBody>
          <a:bodyPr wrap="square" lIns="0" tIns="0" rIns="0" bIns="0" rtlCol="0" anchor="ctr"/>
          <a:lstStyle/>
          <a:p>
            <a:pPr indent="0" marL="0">
              <a:buNone/>
            </a:pPr>
            <a:r>
              <a:rPr lang="en-US" sz="1200" dirty="0">
                <a:solidFill>
                  <a:schemeClr val="tx1"/>
                </a:solidFill>
              </a:rPr>
              <a:t>Quali regole d'uso, per esempio sulle persone reali?</a:t>
            </a:r>
            <a:endParaRPr lang="en-US" sz="1200" dirty="0"/>
          </a:p>
        </p:txBody>
      </p:sp>
      <p:sp>
        <p:nvSpPr>
          <p:cNvPr id="24" name="messaggio"/>
          <p:cNvSpPr/>
          <p:nvPr/>
        </p:nvSpPr>
        <p:spPr>
          <a:xfrm>
            <a:off x="457200" y="3429000"/>
            <a:ext cx="8229600" cy="685800"/>
          </a:xfrm>
          <a:prstGeom prst="roundRect">
            <a:avLst>
              <a:gd name="adj" fmla="val 10667"/>
            </a:avLst>
          </a:prstGeom>
          <a:solidFill>
            <a:schemeClr val="tx1"/>
          </a:solidFill>
          <a:ln/>
        </p:spPr>
      </p:sp>
      <p:sp>
        <p:nvSpPr>
          <p:cNvPr id="25" name="Text 22"/>
          <p:cNvSpPr txBox="1"/>
          <p:nvPr/>
        </p:nvSpPr>
        <p:spPr>
          <a:xfrm>
            <a:off x="640080" y="3429000"/>
            <a:ext cx="7863840" cy="685800"/>
          </a:xfrm>
          <a:prstGeom prst="rect">
            <a:avLst/>
          </a:prstGeom>
          <a:noFill/>
          <a:ln/>
        </p:spPr>
        <p:txBody>
          <a:bodyPr wrap="square" lIns="0" tIns="0" rIns="0" bIns="0" rtlCol="0" anchor="ctr"/>
          <a:lstStyle/>
          <a:p>
            <a:pPr indent="0" marL="0">
              <a:buNone/>
            </a:pPr>
            <a:r>
              <a:rPr lang="en-US" sz="1300" dirty="0">
                <a:solidFill>
                  <a:schemeClr val="bg1"/>
                </a:solidFill>
              </a:rPr>
              <a:t>L'etichetta 'multimodale' dice poco. Verificare le capacità degli strumenti autorizzati, che cambiano rapidamente.</a:t>
            </a:r>
            <a:endParaRPr lang="en-US" sz="1300" dirty="0"/>
          </a:p>
        </p:txBody>
      </p:sp>
      <p:sp>
        <p:nvSpPr>
          <p:cNvPr id="26" name="Text 23"/>
          <p:cNvSpPr txBox="1"/>
          <p:nvPr/>
        </p:nvSpPr>
        <p:spPr>
          <a:xfrm>
            <a:off x="457200" y="4224528"/>
            <a:ext cx="8229600" cy="320040"/>
          </a:xfrm>
          <a:prstGeom prst="rect">
            <a:avLst/>
          </a:prstGeom>
          <a:noFill/>
          <a:ln/>
        </p:spPr>
        <p:txBody>
          <a:bodyPr wrap="square" lIns="0" tIns="0" rIns="0" bIns="0" rtlCol="0" anchor="t"/>
          <a:lstStyle/>
          <a:p>
            <a:pPr indent="0" marL="0">
              <a:buNone/>
            </a:pPr>
            <a:r>
              <a:rPr lang="en-US" sz="1200" i="1" dirty="0">
                <a:solidFill>
                  <a:schemeClr val="tx2"/>
                </a:solidFill>
              </a:rPr>
              <a:t>In questo modulo: concetti durevoli, non funzionalità dei prodotti.</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body" hasCustomPrompt="1"/>
          </p:nvPr>
        </p:nvSpPr>
        <p:spPr>
          <a:xfrm>
            <a:off x="822960" y="1600200"/>
            <a:ext cx="7498080" cy="2011680"/>
          </a:xfrm>
          <a:prstGeom prst="rect">
            <a:avLst/>
          </a:prstGeom>
          <a:noFill/>
          <a:ln/>
        </p:spPr>
        <p:txBody>
          <a:bodyPr wrap="square" lIns="0" tIns="0" rIns="0" bIns="0" rtlCol="0" anchor="t"/>
          <a:lstStyle/>
          <a:p>
            <a:pPr indent="0" marL="0">
              <a:buNone/>
            </a:pPr>
            <a:r>
              <a:rPr lang="en-US" sz="2600" dirty="0">
                <a:solidFill>
                  <a:schemeClr val="bg1"/>
                </a:solidFill>
              </a:rPr>
              <a:t>La multimodalità può essere realizzata con architetture differenti: capacità effettive e modalità supportate dipendono dal sistema impiegato.</a:t>
            </a:r>
            <a:endParaRPr lang="en-US" sz="2600" dirty="0"/>
          </a:p>
        </p:txBody>
      </p:sp>
      <p:sp>
        <p:nvSpPr>
          <p:cNvPr id="3" name="Text 1"/>
          <p:cNvSpPr/>
          <p:nvPr>
            <p:ph idx="102" type="body" hasCustomPrompt="1"/>
          </p:nvPr>
        </p:nvSpPr>
        <p:spPr>
          <a:xfrm>
            <a:off x="822960" y="3794760"/>
            <a:ext cx="7498080" cy="365760"/>
          </a:xfrm>
          <a:prstGeom prst="rect">
            <a:avLst/>
          </a:prstGeom>
          <a:noFill/>
          <a:ln/>
        </p:spPr>
        <p:txBody>
          <a:bodyPr wrap="square" lIns="0" tIns="0" rIns="0" bIns="0" rtlCol="0"/>
          <a:lstStyle/>
          <a:p>
            <a:pPr indent="0" marL="0">
              <a:buNone/>
            </a:pPr>
            <a:r>
              <a:rPr lang="en-US" sz="1300" dirty="0">
                <a:solidFill>
                  <a:schemeClr val="accent3"/>
                </a:solidFill>
              </a:rPr>
              <a:t>Sottotema 10.1  ·  Fondamenti dell'AI multimodale</a:t>
            </a:r>
            <a:endParaRPr lang="en-US" sz="13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640080" y="914400"/>
            <a:ext cx="3657600" cy="1005840"/>
          </a:xfrm>
          <a:prstGeom prst="rect">
            <a:avLst/>
          </a:prstGeom>
          <a:noFill/>
          <a:ln/>
        </p:spPr>
        <p:txBody>
          <a:bodyPr wrap="square" lIns="0" tIns="0" rIns="0" bIns="0" rtlCol="0" anchor="b"/>
          <a:lstStyle/>
          <a:p>
            <a:pPr indent="0" marL="0">
              <a:buNone/>
            </a:pPr>
            <a:r>
              <a:rPr lang="en-US" sz="6000" b="1" dirty="0">
                <a:solidFill>
                  <a:schemeClr val="accent1"/>
                </a:solidFill>
              </a:rPr>
              <a:t>10.2</a:t>
            </a:r>
            <a:endParaRPr lang="en-US" sz="6000" dirty="0"/>
          </a:p>
        </p:txBody>
      </p:sp>
      <p:sp>
        <p:nvSpPr>
          <p:cNvPr id="3" name="Text 0"/>
          <p:cNvSpPr/>
          <p:nvPr>
            <p:ph idx="101" type="title" hasCustomPrompt="1"/>
          </p:nvPr>
        </p:nvSpPr>
        <p:spPr>
          <a:xfrm>
            <a:off x="640080" y="2057400"/>
            <a:ext cx="7863840" cy="914400"/>
          </a:xfrm>
          <a:prstGeom prst="rect">
            <a:avLst/>
          </a:prstGeom>
          <a:noFill/>
          <a:ln/>
        </p:spPr>
        <p:txBody>
          <a:bodyPr wrap="square" lIns="0" tIns="0" rIns="0" bIns="0" rtlCol="0" anchor="t"/>
          <a:lstStyle/>
          <a:p>
            <a:pPr algn="l" indent="0" marL="0">
              <a:buNone/>
            </a:pPr>
            <a:r>
              <a:rPr lang="en-US" sz="3200" b="1" dirty="0">
                <a:solidFill>
                  <a:schemeClr val="bg1"/>
                </a:solidFill>
              </a:rPr>
              <a:t>Comprensione e analisi delle immagini</a:t>
            </a:r>
            <a:endParaRPr lang="en-US" sz="3200" dirty="0"/>
          </a:p>
        </p:txBody>
      </p:sp>
      <p:sp>
        <p:nvSpPr>
          <p:cNvPr id="4" name="Text 0"/>
          <p:cNvSpPr/>
          <p:nvPr>
            <p:ph idx="102" type="body" hasCustomPrompt="1"/>
          </p:nvPr>
        </p:nvSpPr>
        <p:spPr>
          <a:xfrm>
            <a:off x="640080" y="3063240"/>
            <a:ext cx="7315200" cy="1097280"/>
          </a:xfrm>
          <a:prstGeom prst="rect">
            <a:avLst/>
          </a:prstGeom>
          <a:noFill/>
          <a:ln/>
        </p:spPr>
        <p:txBody>
          <a:bodyPr wrap="square" lIns="0" tIns="0" rIns="0" bIns="0" rtlCol="0" anchor="t"/>
          <a:lstStyle/>
          <a:p>
            <a:pPr indent="0" marL="0">
              <a:buNone/>
            </a:pPr>
            <a:r>
              <a:rPr lang="en-US" sz="1600" dirty="0">
                <a:solidFill>
                  <a:schemeClr val="accent3"/>
                </a:solidFill>
              </a:rPr>
              <a:t>Descrivere ciò che appare in un'immagine non equivale a comprenderne significato, provenienza o contesto</a:t>
            </a:r>
            <a:endParaRPr lang="en-US"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Le possibilità su un'immagine</a:t>
            </a:r>
            <a:endParaRPr lang="en-US" sz="2600" dirty="0"/>
          </a:p>
        </p:txBody>
      </p:sp>
      <p:sp>
        <p:nvSpPr>
          <p:cNvPr id="4" name="operazione Interpretare"/>
          <p:cNvSpPr/>
          <p:nvPr/>
        </p:nvSpPr>
        <p:spPr>
          <a:xfrm>
            <a:off x="6053328" y="384048"/>
            <a:ext cx="841248" cy="237744"/>
          </a:xfrm>
          <a:prstGeom prst="roundRect">
            <a:avLst>
              <a:gd name="adj" fmla="val 50000"/>
            </a:avLst>
          </a:prstGeom>
          <a:solidFill>
            <a:schemeClr val="accent1"/>
          </a:solidFill>
          <a:ln w="9525">
            <a:solidFill>
              <a:schemeClr val="accent1"/>
            </a:solidFill>
            <a:prstDash val="solid"/>
          </a:ln>
        </p:spPr>
      </p:sp>
      <p:sp>
        <p:nvSpPr>
          <p:cNvPr id="5" name="Text 2"/>
          <p:cNvSpPr txBox="1"/>
          <p:nvPr/>
        </p:nvSpPr>
        <p:spPr>
          <a:xfrm>
            <a:off x="6053328" y="384048"/>
            <a:ext cx="841248" cy="237744"/>
          </a:xfrm>
          <a:prstGeom prst="rect">
            <a:avLst/>
          </a:prstGeom>
          <a:noFill/>
          <a:ln/>
        </p:spPr>
        <p:txBody>
          <a:bodyPr wrap="square" lIns="0" tIns="0" rIns="0" bIns="0" rtlCol="0" anchor="ctr"/>
          <a:lstStyle/>
          <a:p>
            <a:pPr algn="ctr" indent="0" marL="0">
              <a:buNone/>
            </a:pPr>
            <a:r>
              <a:rPr lang="en-US" sz="900" b="1" dirty="0">
                <a:solidFill>
                  <a:schemeClr val="bg1"/>
                </a:solidFill>
              </a:rPr>
              <a:t>Interpretare</a:t>
            </a:r>
            <a:endParaRPr lang="en-US" sz="900" dirty="0"/>
          </a:p>
        </p:txBody>
      </p:sp>
      <p:sp>
        <p:nvSpPr>
          <p:cNvPr id="6" name="operazione Generare"/>
          <p:cNvSpPr/>
          <p:nvPr/>
        </p:nvSpPr>
        <p:spPr>
          <a:xfrm>
            <a:off x="6940296" y="384048"/>
            <a:ext cx="841248"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940296" y="384048"/>
            <a:ext cx="841248" cy="237744"/>
          </a:xfrm>
          <a:prstGeom prst="rect">
            <a:avLst/>
          </a:prstGeom>
          <a:noFill/>
          <a:ln/>
        </p:spPr>
        <p:txBody>
          <a:bodyPr wrap="square" lIns="0" tIns="0" rIns="0" bIns="0" rtlCol="0" anchor="ctr"/>
          <a:lstStyle/>
          <a:p>
            <a:pPr algn="ctr" indent="0" marL="0">
              <a:buNone/>
            </a:pPr>
            <a:r>
              <a:rPr lang="en-US" sz="900" b="1" dirty="0">
                <a:solidFill>
                  <a:schemeClr val="accent1"/>
                </a:solidFill>
              </a:rPr>
              <a:t>Generare</a:t>
            </a:r>
            <a:endParaRPr lang="en-US" sz="900" dirty="0"/>
          </a:p>
        </p:txBody>
      </p:sp>
      <p:sp>
        <p:nvSpPr>
          <p:cNvPr id="8" name="operazione Trasformare"/>
          <p:cNvSpPr/>
          <p:nvPr/>
        </p:nvSpPr>
        <p:spPr>
          <a:xfrm>
            <a:off x="7827264" y="384048"/>
            <a:ext cx="841248"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827264" y="384048"/>
            <a:ext cx="841248" cy="237744"/>
          </a:xfrm>
          <a:prstGeom prst="rect">
            <a:avLst/>
          </a:prstGeom>
          <a:noFill/>
          <a:ln/>
        </p:spPr>
        <p:txBody>
          <a:bodyPr wrap="square" lIns="0" tIns="0" rIns="0" bIns="0" rtlCol="0" anchor="ctr"/>
          <a:lstStyle/>
          <a:p>
            <a:pPr algn="ctr" indent="0" marL="0">
              <a:buNone/>
            </a:pPr>
            <a:r>
              <a:rPr lang="en-US" sz="900" b="1" dirty="0">
                <a:solidFill>
                  <a:schemeClr val="accent1"/>
                </a:solidFill>
              </a:rPr>
              <a:t>Trasformare</a:t>
            </a:r>
            <a:endParaRPr lang="en-US" sz="900" dirty="0"/>
          </a:p>
        </p:txBody>
      </p:sp>
      <p:sp>
        <p:nvSpPr>
          <p:cNvPr id="10" name="Fotografie"/>
          <p:cNvSpPr/>
          <p:nvPr/>
        </p:nvSpPr>
        <p:spPr>
          <a:xfrm>
            <a:off x="457200" y="1051560"/>
            <a:ext cx="2621280" cy="1280160"/>
          </a:xfrm>
          <a:prstGeom prst="roundRect">
            <a:avLst>
              <a:gd name="adj" fmla="val 5714"/>
            </a:avLst>
          </a:prstGeom>
          <a:solidFill>
            <a:schemeClr val="bg2"/>
          </a:solidFill>
          <a:ln/>
        </p:spPr>
      </p:sp>
      <p:sp>
        <p:nvSpPr>
          <p:cNvPr id="11" name="cerchio FiCamera"/>
          <p:cNvSpPr/>
          <p:nvPr/>
        </p:nvSpPr>
        <p:spPr>
          <a:xfrm>
            <a:off x="621792" y="1216152"/>
            <a:ext cx="438912" cy="438912"/>
          </a:xfrm>
          <a:prstGeom prst="ellipse">
            <a:avLst/>
          </a:prstGeom>
          <a:solidFill>
            <a:schemeClr val="accent1"/>
          </a:solidFill>
          <a:ln/>
        </p:spPr>
      </p:sp>
      <p:pic>
        <p:nvPicPr>
          <p:cNvPr id="12" name="Image 0" descr="FiCamera">    </p:cNvPr>
          <p:cNvPicPr>
            <a:picLocks noChangeAspect="1"/>
          </p:cNvPicPr>
          <p:nvPr/>
        </p:nvPicPr>
        <p:blipFill>
          <a:blip r:embed="rId1"/>
          <a:stretch>
            <a:fillRect/>
          </a:stretch>
        </p:blipFill>
        <p:spPr>
          <a:xfrm>
            <a:off x="731520" y="1325880"/>
            <a:ext cx="219456" cy="219456"/>
          </a:xfrm>
          <a:prstGeom prst="rect">
            <a:avLst/>
          </a:prstGeom>
        </p:spPr>
      </p:pic>
      <p:sp>
        <p:nvSpPr>
          <p:cNvPr id="13" name="Text 9"/>
          <p:cNvSpPr txBox="1"/>
          <p:nvPr/>
        </p:nvSpPr>
        <p:spPr>
          <a:xfrm>
            <a:off x="1170432" y="117957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Fotografie</a:t>
            </a:r>
            <a:endParaRPr lang="en-US" sz="1300" dirty="0"/>
          </a:p>
        </p:txBody>
      </p:sp>
      <p:sp>
        <p:nvSpPr>
          <p:cNvPr id="14" name="Text 10"/>
          <p:cNvSpPr txBox="1"/>
          <p:nvPr/>
        </p:nvSpPr>
        <p:spPr>
          <a:xfrm>
            <a:off x="621792" y="1764792"/>
            <a:ext cx="2292096" cy="475488"/>
          </a:xfrm>
          <a:prstGeom prst="rect">
            <a:avLst/>
          </a:prstGeom>
          <a:noFill/>
          <a:ln/>
        </p:spPr>
        <p:txBody>
          <a:bodyPr wrap="square" lIns="0" tIns="0" rIns="0" bIns="0" rtlCol="0" anchor="t"/>
          <a:lstStyle/>
          <a:p>
            <a:pPr indent="0" marL="0">
              <a:buNone/>
            </a:pPr>
            <a:r>
              <a:rPr lang="en-US" sz="1200" dirty="0">
                <a:solidFill>
                  <a:schemeClr val="tx2"/>
                </a:solidFill>
              </a:rPr>
              <a:t>Persone, oggetti, ambienti, situazioni</a:t>
            </a:r>
            <a:endParaRPr lang="en-US" sz="1200" dirty="0"/>
          </a:p>
        </p:txBody>
      </p:sp>
      <p:sp>
        <p:nvSpPr>
          <p:cNvPr id="15" name="Schermate e interfacce"/>
          <p:cNvSpPr/>
          <p:nvPr/>
        </p:nvSpPr>
        <p:spPr>
          <a:xfrm>
            <a:off x="3261360" y="1051560"/>
            <a:ext cx="2621280" cy="1280160"/>
          </a:xfrm>
          <a:prstGeom prst="roundRect">
            <a:avLst>
              <a:gd name="adj" fmla="val 5714"/>
            </a:avLst>
          </a:prstGeom>
          <a:solidFill>
            <a:schemeClr val="bg2"/>
          </a:solidFill>
          <a:ln/>
        </p:spPr>
      </p:sp>
      <p:sp>
        <p:nvSpPr>
          <p:cNvPr id="16" name="cerchio FiMonitor"/>
          <p:cNvSpPr/>
          <p:nvPr/>
        </p:nvSpPr>
        <p:spPr>
          <a:xfrm>
            <a:off x="3425952" y="1216152"/>
            <a:ext cx="438912" cy="438912"/>
          </a:xfrm>
          <a:prstGeom prst="ellipse">
            <a:avLst/>
          </a:prstGeom>
          <a:solidFill>
            <a:schemeClr val="accent1"/>
          </a:solidFill>
          <a:ln/>
        </p:spPr>
      </p:sp>
      <p:pic>
        <p:nvPicPr>
          <p:cNvPr id="17" name="Image 1" descr="FiMonitor">    </p:cNvPr>
          <p:cNvPicPr>
            <a:picLocks noChangeAspect="1"/>
          </p:cNvPicPr>
          <p:nvPr/>
        </p:nvPicPr>
        <p:blipFill>
          <a:blip r:embed="rId2"/>
          <a:stretch>
            <a:fillRect/>
          </a:stretch>
        </p:blipFill>
        <p:spPr>
          <a:xfrm>
            <a:off x="3535680" y="1325880"/>
            <a:ext cx="219456" cy="219456"/>
          </a:xfrm>
          <a:prstGeom prst="rect">
            <a:avLst/>
          </a:prstGeom>
        </p:spPr>
      </p:pic>
      <p:sp>
        <p:nvSpPr>
          <p:cNvPr id="18" name="Text 13"/>
          <p:cNvSpPr txBox="1"/>
          <p:nvPr/>
        </p:nvSpPr>
        <p:spPr>
          <a:xfrm>
            <a:off x="3974592" y="117957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Schermate e interfacce</a:t>
            </a:r>
            <a:endParaRPr lang="en-US" sz="1300" dirty="0"/>
          </a:p>
        </p:txBody>
      </p:sp>
      <p:sp>
        <p:nvSpPr>
          <p:cNvPr id="19" name="Text 14"/>
          <p:cNvSpPr txBox="1"/>
          <p:nvPr/>
        </p:nvSpPr>
        <p:spPr>
          <a:xfrm>
            <a:off x="3425952" y="1764792"/>
            <a:ext cx="2292096" cy="475488"/>
          </a:xfrm>
          <a:prstGeom prst="rect">
            <a:avLst/>
          </a:prstGeom>
          <a:noFill/>
          <a:ln/>
        </p:spPr>
        <p:txBody>
          <a:bodyPr wrap="square" lIns="0" tIns="0" rIns="0" bIns="0" rtlCol="0" anchor="t"/>
          <a:lstStyle/>
          <a:p>
            <a:pPr indent="0" marL="0">
              <a:buNone/>
            </a:pPr>
            <a:r>
              <a:rPr lang="en-US" sz="1200" dirty="0">
                <a:solidFill>
                  <a:schemeClr val="tx2"/>
                </a:solidFill>
              </a:rPr>
              <a:t>Errori, menu, dove cliccare</a:t>
            </a:r>
            <a:endParaRPr lang="en-US" sz="1200" dirty="0"/>
          </a:p>
        </p:txBody>
      </p:sp>
      <p:sp>
        <p:nvSpPr>
          <p:cNvPr id="20" name="Diagrammi e schemi"/>
          <p:cNvSpPr/>
          <p:nvPr/>
        </p:nvSpPr>
        <p:spPr>
          <a:xfrm>
            <a:off x="6065520" y="1051560"/>
            <a:ext cx="2621280" cy="1280160"/>
          </a:xfrm>
          <a:prstGeom prst="roundRect">
            <a:avLst>
              <a:gd name="adj" fmla="val 5714"/>
            </a:avLst>
          </a:prstGeom>
          <a:solidFill>
            <a:schemeClr val="bg2"/>
          </a:solidFill>
          <a:ln/>
        </p:spPr>
      </p:sp>
      <p:sp>
        <p:nvSpPr>
          <p:cNvPr id="21" name="cerchio FiShare2"/>
          <p:cNvSpPr/>
          <p:nvPr/>
        </p:nvSpPr>
        <p:spPr>
          <a:xfrm>
            <a:off x="6230112" y="1216152"/>
            <a:ext cx="438912" cy="438912"/>
          </a:xfrm>
          <a:prstGeom prst="ellipse">
            <a:avLst/>
          </a:prstGeom>
          <a:solidFill>
            <a:schemeClr val="accent1"/>
          </a:solidFill>
          <a:ln/>
        </p:spPr>
      </p:sp>
      <p:pic>
        <p:nvPicPr>
          <p:cNvPr id="22" name="Image 2" descr="FiShare2">    </p:cNvPr>
          <p:cNvPicPr>
            <a:picLocks noChangeAspect="1"/>
          </p:cNvPicPr>
          <p:nvPr/>
        </p:nvPicPr>
        <p:blipFill>
          <a:blip r:embed="rId3"/>
          <a:stretch>
            <a:fillRect/>
          </a:stretch>
        </p:blipFill>
        <p:spPr>
          <a:xfrm>
            <a:off x="6339840" y="1325880"/>
            <a:ext cx="219456" cy="219456"/>
          </a:xfrm>
          <a:prstGeom prst="rect">
            <a:avLst/>
          </a:prstGeom>
        </p:spPr>
      </p:pic>
      <p:sp>
        <p:nvSpPr>
          <p:cNvPr id="23" name="Text 17"/>
          <p:cNvSpPr txBox="1"/>
          <p:nvPr/>
        </p:nvSpPr>
        <p:spPr>
          <a:xfrm>
            <a:off x="6778752" y="117957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Diagrammi e schemi</a:t>
            </a:r>
            <a:endParaRPr lang="en-US" sz="1300" dirty="0"/>
          </a:p>
        </p:txBody>
      </p:sp>
      <p:sp>
        <p:nvSpPr>
          <p:cNvPr id="24" name="Text 18"/>
          <p:cNvSpPr txBox="1"/>
          <p:nvPr/>
        </p:nvSpPr>
        <p:spPr>
          <a:xfrm>
            <a:off x="6230112" y="1764792"/>
            <a:ext cx="2292096" cy="475488"/>
          </a:xfrm>
          <a:prstGeom prst="rect">
            <a:avLst/>
          </a:prstGeom>
          <a:noFill/>
          <a:ln/>
        </p:spPr>
        <p:txBody>
          <a:bodyPr wrap="square" lIns="0" tIns="0" rIns="0" bIns="0" rtlCol="0" anchor="t"/>
          <a:lstStyle/>
          <a:p>
            <a:pPr indent="0" marL="0">
              <a:buNone/>
            </a:pPr>
            <a:r>
              <a:rPr lang="en-US" sz="1200" dirty="0">
                <a:solidFill>
                  <a:schemeClr val="tx2"/>
                </a:solidFill>
              </a:rPr>
              <a:t>Processi, organigrammi, mappe, grafici</a:t>
            </a:r>
            <a:endParaRPr lang="en-US" sz="1200" dirty="0"/>
          </a:p>
        </p:txBody>
      </p:sp>
      <p:sp>
        <p:nvSpPr>
          <p:cNvPr id="25" name="Testo nelle immagini"/>
          <p:cNvSpPr/>
          <p:nvPr/>
        </p:nvSpPr>
        <p:spPr>
          <a:xfrm>
            <a:off x="457200" y="2514600"/>
            <a:ext cx="2621280" cy="1280160"/>
          </a:xfrm>
          <a:prstGeom prst="roundRect">
            <a:avLst>
              <a:gd name="adj" fmla="val 5714"/>
            </a:avLst>
          </a:prstGeom>
          <a:solidFill>
            <a:schemeClr val="bg2"/>
          </a:solidFill>
          <a:ln/>
        </p:spPr>
      </p:sp>
      <p:sp>
        <p:nvSpPr>
          <p:cNvPr id="26" name="cerchio FiType"/>
          <p:cNvSpPr/>
          <p:nvPr/>
        </p:nvSpPr>
        <p:spPr>
          <a:xfrm>
            <a:off x="621792" y="2679192"/>
            <a:ext cx="438912" cy="438912"/>
          </a:xfrm>
          <a:prstGeom prst="ellipse">
            <a:avLst/>
          </a:prstGeom>
          <a:solidFill>
            <a:schemeClr val="accent1"/>
          </a:solidFill>
          <a:ln/>
        </p:spPr>
      </p:sp>
      <p:pic>
        <p:nvPicPr>
          <p:cNvPr id="27" name="Image 3" descr="FiType">    </p:cNvPr>
          <p:cNvPicPr>
            <a:picLocks noChangeAspect="1"/>
          </p:cNvPicPr>
          <p:nvPr/>
        </p:nvPicPr>
        <p:blipFill>
          <a:blip r:embed="rId4"/>
          <a:stretch>
            <a:fillRect/>
          </a:stretch>
        </p:blipFill>
        <p:spPr>
          <a:xfrm>
            <a:off x="731520" y="2788920"/>
            <a:ext cx="219456" cy="219456"/>
          </a:xfrm>
          <a:prstGeom prst="rect">
            <a:avLst/>
          </a:prstGeom>
        </p:spPr>
      </p:pic>
      <p:sp>
        <p:nvSpPr>
          <p:cNvPr id="28" name="Text 21"/>
          <p:cNvSpPr txBox="1"/>
          <p:nvPr/>
        </p:nvSpPr>
        <p:spPr>
          <a:xfrm>
            <a:off x="1170432" y="264261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Testo nelle immagini</a:t>
            </a:r>
            <a:endParaRPr lang="en-US" sz="1300" dirty="0"/>
          </a:p>
        </p:txBody>
      </p:sp>
      <p:sp>
        <p:nvSpPr>
          <p:cNvPr id="29" name="Text 22"/>
          <p:cNvSpPr txBox="1"/>
          <p:nvPr/>
        </p:nvSpPr>
        <p:spPr>
          <a:xfrm>
            <a:off x="621792" y="3227832"/>
            <a:ext cx="2292096" cy="475488"/>
          </a:xfrm>
          <a:prstGeom prst="rect">
            <a:avLst/>
          </a:prstGeom>
          <a:noFill/>
          <a:ln/>
        </p:spPr>
        <p:txBody>
          <a:bodyPr wrap="square" lIns="0" tIns="0" rIns="0" bIns="0" rtlCol="0" anchor="t"/>
          <a:lstStyle/>
          <a:p>
            <a:pPr indent="0" marL="0">
              <a:buNone/>
            </a:pPr>
            <a:r>
              <a:rPr lang="en-US" sz="1200" dirty="0">
                <a:solidFill>
                  <a:schemeClr val="tx2"/>
                </a:solidFill>
              </a:rPr>
              <a:t>Cartelli, etichette, lavagne, scritte a mano</a:t>
            </a:r>
            <a:endParaRPr lang="en-US" sz="1200" dirty="0"/>
          </a:p>
        </p:txBody>
      </p:sp>
      <p:sp>
        <p:nvSpPr>
          <p:cNvPr id="30" name="Informazioni visive"/>
          <p:cNvSpPr/>
          <p:nvPr/>
        </p:nvSpPr>
        <p:spPr>
          <a:xfrm>
            <a:off x="3261360" y="2514600"/>
            <a:ext cx="2621280" cy="1280160"/>
          </a:xfrm>
          <a:prstGeom prst="roundRect">
            <a:avLst>
              <a:gd name="adj" fmla="val 5714"/>
            </a:avLst>
          </a:prstGeom>
          <a:solidFill>
            <a:schemeClr val="bg2"/>
          </a:solidFill>
          <a:ln/>
        </p:spPr>
      </p:sp>
      <p:sp>
        <p:nvSpPr>
          <p:cNvPr id="31" name="cerchio FiSearch"/>
          <p:cNvSpPr/>
          <p:nvPr/>
        </p:nvSpPr>
        <p:spPr>
          <a:xfrm>
            <a:off x="3425952" y="2679192"/>
            <a:ext cx="438912" cy="438912"/>
          </a:xfrm>
          <a:prstGeom prst="ellipse">
            <a:avLst/>
          </a:prstGeom>
          <a:solidFill>
            <a:schemeClr val="accent1"/>
          </a:solidFill>
          <a:ln/>
        </p:spPr>
      </p:sp>
      <p:pic>
        <p:nvPicPr>
          <p:cNvPr id="32" name="Image 4" descr="FiSearch">    </p:cNvPr>
          <p:cNvPicPr>
            <a:picLocks noChangeAspect="1"/>
          </p:cNvPicPr>
          <p:nvPr/>
        </p:nvPicPr>
        <p:blipFill>
          <a:blip r:embed="rId5"/>
          <a:stretch>
            <a:fillRect/>
          </a:stretch>
        </p:blipFill>
        <p:spPr>
          <a:xfrm>
            <a:off x="3535680" y="2788920"/>
            <a:ext cx="219456" cy="219456"/>
          </a:xfrm>
          <a:prstGeom prst="rect">
            <a:avLst/>
          </a:prstGeom>
        </p:spPr>
      </p:pic>
      <p:sp>
        <p:nvSpPr>
          <p:cNvPr id="33" name="Text 25"/>
          <p:cNvSpPr txBox="1"/>
          <p:nvPr/>
        </p:nvSpPr>
        <p:spPr>
          <a:xfrm>
            <a:off x="3974592" y="264261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Informazioni visive</a:t>
            </a:r>
            <a:endParaRPr lang="en-US" sz="1300" dirty="0"/>
          </a:p>
        </p:txBody>
      </p:sp>
      <p:sp>
        <p:nvSpPr>
          <p:cNvPr id="34" name="Text 26"/>
          <p:cNvSpPr txBox="1"/>
          <p:nvPr/>
        </p:nvSpPr>
        <p:spPr>
          <a:xfrm>
            <a:off x="3425952" y="3227832"/>
            <a:ext cx="2292096" cy="475488"/>
          </a:xfrm>
          <a:prstGeom prst="rect">
            <a:avLst/>
          </a:prstGeom>
          <a:noFill/>
          <a:ln/>
        </p:spPr>
        <p:txBody>
          <a:bodyPr wrap="square" lIns="0" tIns="0" rIns="0" bIns="0" rtlCol="0" anchor="t"/>
          <a:lstStyle/>
          <a:p>
            <a:pPr indent="0" marL="0">
              <a:buNone/>
            </a:pPr>
            <a:r>
              <a:rPr lang="en-US" sz="1200" dirty="0">
                <a:solidFill>
                  <a:schemeClr val="tx2"/>
                </a:solidFill>
              </a:rPr>
              <a:t>Quantità, colori, condizioni, stato</a:t>
            </a:r>
            <a:endParaRPr lang="en-US" sz="1200" dirty="0"/>
          </a:p>
        </p:txBody>
      </p:sp>
      <p:sp>
        <p:nvSpPr>
          <p:cNvPr id="35" name="Relazioni spaziali"/>
          <p:cNvSpPr/>
          <p:nvPr/>
        </p:nvSpPr>
        <p:spPr>
          <a:xfrm>
            <a:off x="6065520" y="2514600"/>
            <a:ext cx="2621280" cy="1280160"/>
          </a:xfrm>
          <a:prstGeom prst="roundRect">
            <a:avLst>
              <a:gd name="adj" fmla="val 5714"/>
            </a:avLst>
          </a:prstGeom>
          <a:solidFill>
            <a:schemeClr val="bg2"/>
          </a:solidFill>
          <a:ln/>
        </p:spPr>
      </p:sp>
      <p:sp>
        <p:nvSpPr>
          <p:cNvPr id="36" name="cerchio FiMove"/>
          <p:cNvSpPr/>
          <p:nvPr/>
        </p:nvSpPr>
        <p:spPr>
          <a:xfrm>
            <a:off x="6230112" y="2679192"/>
            <a:ext cx="438912" cy="438912"/>
          </a:xfrm>
          <a:prstGeom prst="ellipse">
            <a:avLst/>
          </a:prstGeom>
          <a:solidFill>
            <a:schemeClr val="accent1"/>
          </a:solidFill>
          <a:ln/>
        </p:spPr>
      </p:sp>
      <p:pic>
        <p:nvPicPr>
          <p:cNvPr id="37" name="Image 5" descr="FiMove">    </p:cNvPr>
          <p:cNvPicPr>
            <a:picLocks noChangeAspect="1"/>
          </p:cNvPicPr>
          <p:nvPr/>
        </p:nvPicPr>
        <p:blipFill>
          <a:blip r:embed="rId6"/>
          <a:stretch>
            <a:fillRect/>
          </a:stretch>
        </p:blipFill>
        <p:spPr>
          <a:xfrm>
            <a:off x="6339840" y="2788920"/>
            <a:ext cx="219456" cy="219456"/>
          </a:xfrm>
          <a:prstGeom prst="rect">
            <a:avLst/>
          </a:prstGeom>
        </p:spPr>
      </p:pic>
      <p:sp>
        <p:nvSpPr>
          <p:cNvPr id="38" name="Text 29"/>
          <p:cNvSpPr txBox="1"/>
          <p:nvPr/>
        </p:nvSpPr>
        <p:spPr>
          <a:xfrm>
            <a:off x="6778752" y="264261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Relazioni spaziali</a:t>
            </a:r>
            <a:endParaRPr lang="en-US" sz="1300" dirty="0"/>
          </a:p>
        </p:txBody>
      </p:sp>
      <p:sp>
        <p:nvSpPr>
          <p:cNvPr id="39" name="Text 30"/>
          <p:cNvSpPr txBox="1"/>
          <p:nvPr/>
        </p:nvSpPr>
        <p:spPr>
          <a:xfrm>
            <a:off x="6230112" y="3227832"/>
            <a:ext cx="2292096" cy="475488"/>
          </a:xfrm>
          <a:prstGeom prst="rect">
            <a:avLst/>
          </a:prstGeom>
          <a:noFill/>
          <a:ln/>
        </p:spPr>
        <p:txBody>
          <a:bodyPr wrap="square" lIns="0" tIns="0" rIns="0" bIns="0" rtlCol="0" anchor="t"/>
          <a:lstStyle/>
          <a:p>
            <a:pPr indent="0" marL="0">
              <a:buNone/>
            </a:pPr>
            <a:r>
              <a:rPr lang="en-US" sz="1200" dirty="0">
                <a:solidFill>
                  <a:schemeClr val="tx2"/>
                </a:solidFill>
              </a:rPr>
              <a:t>Sopra, accanto, dentro</a:t>
            </a:r>
            <a:endParaRPr lang="en-US" sz="1200" dirty="0"/>
          </a:p>
        </p:txBody>
      </p:sp>
      <p:sp>
        <p:nvSpPr>
          <p:cNvPr id="40" name="messaggio"/>
          <p:cNvSpPr/>
          <p:nvPr/>
        </p:nvSpPr>
        <p:spPr>
          <a:xfrm>
            <a:off x="457200" y="3977640"/>
            <a:ext cx="8229600" cy="548640"/>
          </a:xfrm>
          <a:prstGeom prst="roundRect">
            <a:avLst>
              <a:gd name="adj" fmla="val 13333"/>
            </a:avLst>
          </a:prstGeom>
          <a:solidFill>
            <a:schemeClr val="tx1"/>
          </a:solidFill>
          <a:ln/>
        </p:spPr>
      </p:sp>
      <p:sp>
        <p:nvSpPr>
          <p:cNvPr id="41" name="Text 32"/>
          <p:cNvSpPr txBox="1"/>
          <p:nvPr/>
        </p:nvSpPr>
        <p:spPr>
          <a:xfrm>
            <a:off x="640080" y="3977640"/>
            <a:ext cx="7863840" cy="548640"/>
          </a:xfrm>
          <a:prstGeom prst="rect">
            <a:avLst/>
          </a:prstGeom>
          <a:noFill/>
          <a:ln/>
        </p:spPr>
        <p:txBody>
          <a:bodyPr wrap="square" lIns="0" tIns="0" rIns="0" bIns="0" rtlCol="0" anchor="ctr"/>
          <a:lstStyle/>
          <a:p>
            <a:pPr indent="0" marL="0">
              <a:buNone/>
            </a:pPr>
            <a:r>
              <a:rPr lang="en-US" sz="1300" dirty="0">
                <a:solidFill>
                  <a:schemeClr val="bg1"/>
                </a:solidFill>
              </a:rPr>
              <a:t>Una descrizione utile in pochi secondi. Ma l'affidabilità varia molto a seconda del compito.</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Schermate e interfacce</a:t>
            </a:r>
            <a:endParaRPr lang="en-US" sz="2600" dirty="0"/>
          </a:p>
        </p:txBody>
      </p:sp>
      <p:sp>
        <p:nvSpPr>
          <p:cNvPr id="4" name="operazione Interpretare"/>
          <p:cNvSpPr/>
          <p:nvPr/>
        </p:nvSpPr>
        <p:spPr>
          <a:xfrm>
            <a:off x="6053328" y="384048"/>
            <a:ext cx="841248" cy="237744"/>
          </a:xfrm>
          <a:prstGeom prst="roundRect">
            <a:avLst>
              <a:gd name="adj" fmla="val 50000"/>
            </a:avLst>
          </a:prstGeom>
          <a:solidFill>
            <a:schemeClr val="accent1"/>
          </a:solidFill>
          <a:ln w="9525">
            <a:solidFill>
              <a:schemeClr val="accent1"/>
            </a:solidFill>
            <a:prstDash val="solid"/>
          </a:ln>
        </p:spPr>
      </p:sp>
      <p:sp>
        <p:nvSpPr>
          <p:cNvPr id="5" name="Text 2"/>
          <p:cNvSpPr txBox="1"/>
          <p:nvPr/>
        </p:nvSpPr>
        <p:spPr>
          <a:xfrm>
            <a:off x="6053328" y="384048"/>
            <a:ext cx="841248" cy="237744"/>
          </a:xfrm>
          <a:prstGeom prst="rect">
            <a:avLst/>
          </a:prstGeom>
          <a:noFill/>
          <a:ln/>
        </p:spPr>
        <p:txBody>
          <a:bodyPr wrap="square" lIns="0" tIns="0" rIns="0" bIns="0" rtlCol="0" anchor="ctr"/>
          <a:lstStyle/>
          <a:p>
            <a:pPr algn="ctr" indent="0" marL="0">
              <a:buNone/>
            </a:pPr>
            <a:r>
              <a:rPr lang="en-US" sz="900" b="1" dirty="0">
                <a:solidFill>
                  <a:schemeClr val="bg1"/>
                </a:solidFill>
              </a:rPr>
              <a:t>Interpretare</a:t>
            </a:r>
            <a:endParaRPr lang="en-US" sz="900" dirty="0"/>
          </a:p>
        </p:txBody>
      </p:sp>
      <p:sp>
        <p:nvSpPr>
          <p:cNvPr id="6" name="operazione Generare"/>
          <p:cNvSpPr/>
          <p:nvPr/>
        </p:nvSpPr>
        <p:spPr>
          <a:xfrm>
            <a:off x="6940296" y="384048"/>
            <a:ext cx="841248"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940296" y="384048"/>
            <a:ext cx="841248" cy="237744"/>
          </a:xfrm>
          <a:prstGeom prst="rect">
            <a:avLst/>
          </a:prstGeom>
          <a:noFill/>
          <a:ln/>
        </p:spPr>
        <p:txBody>
          <a:bodyPr wrap="square" lIns="0" tIns="0" rIns="0" bIns="0" rtlCol="0" anchor="ctr"/>
          <a:lstStyle/>
          <a:p>
            <a:pPr algn="ctr" indent="0" marL="0">
              <a:buNone/>
            </a:pPr>
            <a:r>
              <a:rPr lang="en-US" sz="900" b="1" dirty="0">
                <a:solidFill>
                  <a:schemeClr val="accent1"/>
                </a:solidFill>
              </a:rPr>
              <a:t>Generare</a:t>
            </a:r>
            <a:endParaRPr lang="en-US" sz="900" dirty="0"/>
          </a:p>
        </p:txBody>
      </p:sp>
      <p:sp>
        <p:nvSpPr>
          <p:cNvPr id="8" name="operazione Trasformare"/>
          <p:cNvSpPr/>
          <p:nvPr/>
        </p:nvSpPr>
        <p:spPr>
          <a:xfrm>
            <a:off x="7827264" y="384048"/>
            <a:ext cx="841248"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827264" y="384048"/>
            <a:ext cx="841248" cy="237744"/>
          </a:xfrm>
          <a:prstGeom prst="rect">
            <a:avLst/>
          </a:prstGeom>
          <a:noFill/>
          <a:ln/>
        </p:spPr>
        <p:txBody>
          <a:bodyPr wrap="square" lIns="0" tIns="0" rIns="0" bIns="0" rtlCol="0" anchor="ctr"/>
          <a:lstStyle/>
          <a:p>
            <a:pPr algn="ctr" indent="0" marL="0">
              <a:buNone/>
            </a:pPr>
            <a:r>
              <a:rPr lang="en-US" sz="900" b="1" dirty="0">
                <a:solidFill>
                  <a:schemeClr val="accent1"/>
                </a:solidFill>
              </a:rPr>
              <a:t>Trasformare</a:t>
            </a:r>
            <a:endParaRPr lang="en-US" sz="900" dirty="0"/>
          </a:p>
        </p:txBody>
      </p:sp>
      <p:sp>
        <p:nvSpPr>
          <p:cNvPr id="10" name="riquadro Domande tipiche"/>
          <p:cNvSpPr/>
          <p:nvPr/>
        </p:nvSpPr>
        <p:spPr>
          <a:xfrm>
            <a:off x="457200" y="1051560"/>
            <a:ext cx="3977640" cy="1463040"/>
          </a:xfrm>
          <a:prstGeom prst="roundRect">
            <a:avLst>
              <a:gd name="adj" fmla="val 5000"/>
            </a:avLst>
          </a:prstGeom>
          <a:solidFill>
            <a:schemeClr val="accent6"/>
          </a:solidFill>
          <a:ln/>
        </p:spPr>
      </p:sp>
      <p:sp>
        <p:nvSpPr>
          <p:cNvPr id="11" name="barra"/>
          <p:cNvSpPr/>
          <p:nvPr/>
        </p:nvSpPr>
        <p:spPr>
          <a:xfrm>
            <a:off x="457200" y="1161288"/>
            <a:ext cx="54864" cy="1243584"/>
          </a:xfrm>
          <a:prstGeom prst="rect">
            <a:avLst/>
          </a:prstGeom>
          <a:solidFill>
            <a:schemeClr val="accent1"/>
          </a:solidFill>
          <a:ln/>
        </p:spPr>
      </p:sp>
      <p:sp>
        <p:nvSpPr>
          <p:cNvPr id="12" name="Text 9"/>
          <p:cNvSpPr txBox="1"/>
          <p:nvPr/>
        </p:nvSpPr>
        <p:spPr>
          <a:xfrm>
            <a:off x="658368" y="1143000"/>
            <a:ext cx="3611880" cy="256032"/>
          </a:xfrm>
          <a:prstGeom prst="rect">
            <a:avLst/>
          </a:prstGeom>
          <a:noFill/>
          <a:ln/>
        </p:spPr>
        <p:txBody>
          <a:bodyPr wrap="square" lIns="0" tIns="0" rIns="0" bIns="0" rtlCol="0" anchor="t"/>
          <a:lstStyle/>
          <a:p>
            <a:pPr indent="0" marL="0">
              <a:buNone/>
            </a:pPr>
            <a:r>
              <a:rPr lang="en-US" sz="1100" b="1" dirty="0">
                <a:solidFill>
                  <a:schemeClr val="accent1"/>
                </a:solidFill>
              </a:rPr>
              <a:t>Domande tipiche</a:t>
            </a:r>
            <a:endParaRPr lang="en-US" sz="1100" dirty="0"/>
          </a:p>
        </p:txBody>
      </p:sp>
      <p:sp>
        <p:nvSpPr>
          <p:cNvPr id="13" name="Text 10"/>
          <p:cNvSpPr txBox="1"/>
          <p:nvPr/>
        </p:nvSpPr>
        <p:spPr>
          <a:xfrm>
            <a:off x="658368" y="1435608"/>
            <a:ext cx="3611880" cy="987552"/>
          </a:xfrm>
          <a:prstGeom prst="rect">
            <a:avLst/>
          </a:prstGeom>
          <a:noFill/>
          <a:ln/>
        </p:spPr>
        <p:txBody>
          <a:bodyPr wrap="square" lIns="0" tIns="0" rIns="0" bIns="0" rtlCol="0" anchor="t"/>
          <a:lstStyle/>
          <a:p>
            <a:pPr indent="0" marL="0">
              <a:buNone/>
            </a:pPr>
            <a:r>
              <a:rPr lang="en-US" sz="1300" dirty="0">
                <a:solidFill>
                  <a:schemeClr val="tx1"/>
                </a:solidFill>
              </a:rPr>
              <a:t>Che cosa significa questo errore?</a:t>
            </a:r>
            <a:endParaRPr lang="en-US" sz="1300" dirty="0"/>
          </a:p>
          <a:p>
            <a:pPr indent="0" marL="0">
              <a:buNone/>
            </a:pPr>
            <a:r>
              <a:rPr lang="en-US" sz="1300" dirty="0">
                <a:solidFill>
                  <a:schemeClr val="tx1"/>
                </a:solidFill>
              </a:rPr>
              <a:t>Come esporto questi dati?</a:t>
            </a:r>
            <a:endParaRPr lang="en-US" sz="1300" dirty="0"/>
          </a:p>
          <a:p>
            <a:pPr indent="0" marL="0">
              <a:buNone/>
            </a:pPr>
            <a:r>
              <a:rPr lang="en-US" sz="1300" dirty="0">
                <a:solidFill>
                  <a:schemeClr val="tx1"/>
                </a:solidFill>
              </a:rPr>
              <a:t>Dove si trova questa impostazione?</a:t>
            </a:r>
            <a:endParaRPr lang="en-US" sz="1300" dirty="0"/>
          </a:p>
        </p:txBody>
      </p:sp>
      <p:sp>
        <p:nvSpPr>
          <p:cNvPr id="14" name="scheda Il valore"/>
          <p:cNvSpPr/>
          <p:nvPr/>
        </p:nvSpPr>
        <p:spPr>
          <a:xfrm>
            <a:off x="4709160" y="1051560"/>
            <a:ext cx="3977640" cy="1463040"/>
          </a:xfrm>
          <a:prstGeom prst="roundRect">
            <a:avLst>
              <a:gd name="adj" fmla="val 5000"/>
            </a:avLst>
          </a:prstGeom>
          <a:solidFill>
            <a:schemeClr val="bg2"/>
          </a:solidFill>
          <a:ln/>
        </p:spPr>
      </p:sp>
      <p:sp>
        <p:nvSpPr>
          <p:cNvPr id="15" name="cerchio FiThumbsUp"/>
          <p:cNvSpPr/>
          <p:nvPr/>
        </p:nvSpPr>
        <p:spPr>
          <a:xfrm>
            <a:off x="4892040" y="1234440"/>
            <a:ext cx="457200" cy="457200"/>
          </a:xfrm>
          <a:prstGeom prst="ellipse">
            <a:avLst/>
          </a:prstGeom>
          <a:solidFill>
            <a:schemeClr val="accent1"/>
          </a:solidFill>
          <a:ln/>
        </p:spPr>
      </p:sp>
      <p:pic>
        <p:nvPicPr>
          <p:cNvPr id="16" name="Image 0" descr="FiThumbsUp">    </p:cNvPr>
          <p:cNvPicPr>
            <a:picLocks noChangeAspect="1"/>
          </p:cNvPicPr>
          <p:nvPr/>
        </p:nvPicPr>
        <p:blipFill>
          <a:blip r:embed="rId1"/>
          <a:stretch>
            <a:fillRect/>
          </a:stretch>
        </p:blipFill>
        <p:spPr>
          <a:xfrm>
            <a:off x="5006340" y="1348740"/>
            <a:ext cx="228600" cy="228600"/>
          </a:xfrm>
          <a:prstGeom prst="rect">
            <a:avLst/>
          </a:prstGeom>
        </p:spPr>
      </p:pic>
      <p:sp>
        <p:nvSpPr>
          <p:cNvPr id="17" name="Text 13"/>
          <p:cNvSpPr txBox="1"/>
          <p:nvPr/>
        </p:nvSpPr>
        <p:spPr>
          <a:xfrm>
            <a:off x="5486400" y="1234440"/>
            <a:ext cx="3017520" cy="457200"/>
          </a:xfrm>
          <a:prstGeom prst="rect">
            <a:avLst/>
          </a:prstGeom>
          <a:noFill/>
          <a:ln/>
        </p:spPr>
        <p:txBody>
          <a:bodyPr wrap="square" lIns="0" tIns="0" rIns="0" bIns="0" rtlCol="0" anchor="ctr"/>
          <a:lstStyle/>
          <a:p>
            <a:pPr indent="0" marL="0">
              <a:buNone/>
            </a:pPr>
            <a:r>
              <a:rPr lang="en-US" sz="1400" b="1" dirty="0">
                <a:solidFill>
                  <a:schemeClr val="tx1"/>
                </a:solidFill>
              </a:rPr>
              <a:t>Il valore</a:t>
            </a:r>
            <a:endParaRPr lang="en-US" sz="1400" dirty="0"/>
          </a:p>
        </p:txBody>
      </p:sp>
      <p:sp>
        <p:nvSpPr>
          <p:cNvPr id="18" name="Text 14"/>
          <p:cNvSpPr txBox="1"/>
          <p:nvPr/>
        </p:nvSpPr>
        <p:spPr>
          <a:xfrm>
            <a:off x="4892040" y="1828800"/>
            <a:ext cx="3611880" cy="576072"/>
          </a:xfrm>
          <a:prstGeom prst="rect">
            <a:avLst/>
          </a:prstGeom>
          <a:noFill/>
          <a:ln/>
        </p:spPr>
        <p:txBody>
          <a:bodyPr wrap="square" lIns="0" tIns="0" rIns="0" bIns="0" rtlCol="0" anchor="t"/>
          <a:lstStyle/>
          <a:p>
            <a:pPr indent="0" marL="0">
              <a:buNone/>
            </a:pPr>
            <a:r>
              <a:rPr lang="en-US" sz="1200" dirty="0">
                <a:solidFill>
                  <a:schemeClr val="tx2"/>
                </a:solidFill>
              </a:rPr>
              <a:t>Guida passo per passo, meno richieste ripetitive all'assistenza, aiuto con programmi poco familiari.</a:t>
            </a:r>
            <a:endParaRPr lang="en-US" sz="1200" dirty="0"/>
          </a:p>
        </p:txBody>
      </p:sp>
      <p:sp>
        <p:nvSpPr>
          <p:cNvPr id="19" name="Versione e configurazione"/>
          <p:cNvSpPr/>
          <p:nvPr/>
        </p:nvSpPr>
        <p:spPr>
          <a:xfrm>
            <a:off x="457200" y="2697480"/>
            <a:ext cx="8229600" cy="512064"/>
          </a:xfrm>
          <a:prstGeom prst="roundRect">
            <a:avLst>
              <a:gd name="adj" fmla="val 14286"/>
            </a:avLst>
          </a:prstGeom>
          <a:solidFill>
            <a:schemeClr val="bg2"/>
          </a:solidFill>
          <a:ln/>
        </p:spPr>
      </p:sp>
      <p:sp>
        <p:nvSpPr>
          <p:cNvPr id="20" name="Text 16"/>
          <p:cNvSpPr txBox="1"/>
          <p:nvPr/>
        </p:nvSpPr>
        <p:spPr>
          <a:xfrm>
            <a:off x="640080" y="2697480"/>
            <a:ext cx="2651760" cy="512064"/>
          </a:xfrm>
          <a:prstGeom prst="rect">
            <a:avLst/>
          </a:prstGeom>
          <a:noFill/>
          <a:ln/>
        </p:spPr>
        <p:txBody>
          <a:bodyPr wrap="square" lIns="0" tIns="0" rIns="0" bIns="0" rtlCol="0" anchor="ctr"/>
          <a:lstStyle/>
          <a:p>
            <a:pPr indent="0" marL="0">
              <a:buNone/>
            </a:pPr>
            <a:r>
              <a:rPr lang="en-US" sz="1300" b="1" dirty="0">
                <a:solidFill>
                  <a:schemeClr val="accent1"/>
                </a:solidFill>
              </a:rPr>
              <a:t>Versione e configurazione</a:t>
            </a:r>
            <a:endParaRPr lang="en-US" sz="1300" dirty="0"/>
          </a:p>
        </p:txBody>
      </p:sp>
      <p:sp>
        <p:nvSpPr>
          <p:cNvPr id="21" name="Text 17"/>
          <p:cNvSpPr txBox="1"/>
          <p:nvPr/>
        </p:nvSpPr>
        <p:spPr>
          <a:xfrm>
            <a:off x="3291840" y="2697480"/>
            <a:ext cx="5212080" cy="512064"/>
          </a:xfrm>
          <a:prstGeom prst="rect">
            <a:avLst/>
          </a:prstGeom>
          <a:noFill/>
          <a:ln/>
        </p:spPr>
        <p:txBody>
          <a:bodyPr wrap="square" lIns="0" tIns="0" rIns="0" bIns="0" rtlCol="0" anchor="ctr"/>
          <a:lstStyle/>
          <a:p>
            <a:pPr indent="0" marL="0">
              <a:buNone/>
            </a:pPr>
            <a:r>
              <a:rPr lang="en-US" sz="1200" dirty="0">
                <a:solidFill>
                  <a:schemeClr val="tx1"/>
                </a:solidFill>
              </a:rPr>
              <a:t>Il sistema può suggerire passaggi che nel nostro caso non esistono</a:t>
            </a:r>
            <a:endParaRPr lang="en-US" sz="1200" dirty="0"/>
          </a:p>
        </p:txBody>
      </p:sp>
      <p:sp>
        <p:nvSpPr>
          <p:cNvPr id="22" name="Modifiche a sistemi aziendali"/>
          <p:cNvSpPr/>
          <p:nvPr/>
        </p:nvSpPr>
        <p:spPr>
          <a:xfrm>
            <a:off x="457200" y="3282696"/>
            <a:ext cx="8229600" cy="512064"/>
          </a:xfrm>
          <a:prstGeom prst="roundRect">
            <a:avLst>
              <a:gd name="adj" fmla="val 14286"/>
            </a:avLst>
          </a:prstGeom>
          <a:solidFill>
            <a:schemeClr val="bg1"/>
          </a:solidFill>
          <a:ln/>
        </p:spPr>
      </p:sp>
      <p:sp>
        <p:nvSpPr>
          <p:cNvPr id="23" name="Text 19"/>
          <p:cNvSpPr txBox="1"/>
          <p:nvPr/>
        </p:nvSpPr>
        <p:spPr>
          <a:xfrm>
            <a:off x="640080" y="3282696"/>
            <a:ext cx="2651760" cy="512064"/>
          </a:xfrm>
          <a:prstGeom prst="rect">
            <a:avLst/>
          </a:prstGeom>
          <a:noFill/>
          <a:ln/>
        </p:spPr>
        <p:txBody>
          <a:bodyPr wrap="square" lIns="0" tIns="0" rIns="0" bIns="0" rtlCol="0" anchor="ctr"/>
          <a:lstStyle/>
          <a:p>
            <a:pPr indent="0" marL="0">
              <a:buNone/>
            </a:pPr>
            <a:r>
              <a:rPr lang="en-US" sz="1300" b="1" dirty="0">
                <a:solidFill>
                  <a:schemeClr val="accent1"/>
                </a:solidFill>
              </a:rPr>
              <a:t>Modifiche a sistemi aziendali</a:t>
            </a:r>
            <a:endParaRPr lang="en-US" sz="1300" dirty="0"/>
          </a:p>
        </p:txBody>
      </p:sp>
      <p:sp>
        <p:nvSpPr>
          <p:cNvPr id="24" name="Text 20"/>
          <p:cNvSpPr txBox="1"/>
          <p:nvPr/>
        </p:nvSpPr>
        <p:spPr>
          <a:xfrm>
            <a:off x="3291840" y="3282696"/>
            <a:ext cx="5212080" cy="512064"/>
          </a:xfrm>
          <a:prstGeom prst="rect">
            <a:avLst/>
          </a:prstGeom>
          <a:noFill/>
          <a:ln/>
        </p:spPr>
        <p:txBody>
          <a:bodyPr wrap="square" lIns="0" tIns="0" rIns="0" bIns="0" rtlCol="0" anchor="ctr"/>
          <a:lstStyle/>
          <a:p>
            <a:pPr indent="0" marL="0">
              <a:buNone/>
            </a:pPr>
            <a:r>
              <a:rPr lang="en-US" sz="1200" dirty="0">
                <a:solidFill>
                  <a:schemeClr val="tx1"/>
                </a:solidFill>
              </a:rPr>
              <a:t>Prudenza; in caso di dubbio, l'assistenza interna</a:t>
            </a:r>
            <a:endParaRPr lang="en-US" sz="1200" dirty="0"/>
          </a:p>
        </p:txBody>
      </p:sp>
      <p:sp>
        <p:nvSpPr>
          <p:cNvPr id="25" name="Prima di condividere"/>
          <p:cNvSpPr/>
          <p:nvPr/>
        </p:nvSpPr>
        <p:spPr>
          <a:xfrm>
            <a:off x="457200" y="3867912"/>
            <a:ext cx="8229600" cy="512064"/>
          </a:xfrm>
          <a:prstGeom prst="roundRect">
            <a:avLst>
              <a:gd name="adj" fmla="val 14286"/>
            </a:avLst>
          </a:prstGeom>
          <a:solidFill>
            <a:schemeClr val="bg2"/>
          </a:solidFill>
          <a:ln/>
        </p:spPr>
      </p:sp>
      <p:sp>
        <p:nvSpPr>
          <p:cNvPr id="26" name="Text 22"/>
          <p:cNvSpPr txBox="1"/>
          <p:nvPr/>
        </p:nvSpPr>
        <p:spPr>
          <a:xfrm>
            <a:off x="640080" y="3867912"/>
            <a:ext cx="2651760" cy="512064"/>
          </a:xfrm>
          <a:prstGeom prst="rect">
            <a:avLst/>
          </a:prstGeom>
          <a:noFill/>
          <a:ln/>
        </p:spPr>
        <p:txBody>
          <a:bodyPr wrap="square" lIns="0" tIns="0" rIns="0" bIns="0" rtlCol="0" anchor="ctr"/>
          <a:lstStyle/>
          <a:p>
            <a:pPr indent="0" marL="0">
              <a:buNone/>
            </a:pPr>
            <a:r>
              <a:rPr lang="en-US" sz="1300" b="1" dirty="0">
                <a:solidFill>
                  <a:schemeClr val="accent1"/>
                </a:solidFill>
              </a:rPr>
              <a:t>Prima di condividere</a:t>
            </a:r>
            <a:endParaRPr lang="en-US" sz="1300" dirty="0"/>
          </a:p>
        </p:txBody>
      </p:sp>
      <p:sp>
        <p:nvSpPr>
          <p:cNvPr id="27" name="Text 23"/>
          <p:cNvSpPr txBox="1"/>
          <p:nvPr/>
        </p:nvSpPr>
        <p:spPr>
          <a:xfrm>
            <a:off x="3291840" y="3867912"/>
            <a:ext cx="5212080" cy="512064"/>
          </a:xfrm>
          <a:prstGeom prst="rect">
            <a:avLst/>
          </a:prstGeom>
          <a:noFill/>
          <a:ln/>
        </p:spPr>
        <p:txBody>
          <a:bodyPr wrap="square" lIns="0" tIns="0" rIns="0" bIns="0" rtlCol="0" anchor="ctr"/>
          <a:lstStyle/>
          <a:p>
            <a:pPr indent="0" marL="0">
              <a:buNone/>
            </a:pPr>
            <a:r>
              <a:rPr lang="en-US" sz="1200" dirty="0">
                <a:solidFill>
                  <a:schemeClr val="tx1"/>
                </a:solidFill>
              </a:rPr>
              <a:t>Ritagliare; niente dati personali, credenziali, notifiche, altre finestre</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Diagrammi e testo nelle immagini</a:t>
            </a:r>
            <a:endParaRPr lang="en-US" sz="2600" dirty="0"/>
          </a:p>
        </p:txBody>
      </p:sp>
      <p:sp>
        <p:nvSpPr>
          <p:cNvPr id="4" name="operazione Interpretare"/>
          <p:cNvSpPr/>
          <p:nvPr/>
        </p:nvSpPr>
        <p:spPr>
          <a:xfrm>
            <a:off x="6053328" y="384048"/>
            <a:ext cx="841248" cy="237744"/>
          </a:xfrm>
          <a:prstGeom prst="roundRect">
            <a:avLst>
              <a:gd name="adj" fmla="val 50000"/>
            </a:avLst>
          </a:prstGeom>
          <a:solidFill>
            <a:schemeClr val="accent1"/>
          </a:solidFill>
          <a:ln w="9525">
            <a:solidFill>
              <a:schemeClr val="accent1"/>
            </a:solidFill>
            <a:prstDash val="solid"/>
          </a:ln>
        </p:spPr>
      </p:sp>
      <p:sp>
        <p:nvSpPr>
          <p:cNvPr id="5" name="Text 2"/>
          <p:cNvSpPr txBox="1"/>
          <p:nvPr/>
        </p:nvSpPr>
        <p:spPr>
          <a:xfrm>
            <a:off x="6053328" y="384048"/>
            <a:ext cx="841248" cy="237744"/>
          </a:xfrm>
          <a:prstGeom prst="rect">
            <a:avLst/>
          </a:prstGeom>
          <a:noFill/>
          <a:ln/>
        </p:spPr>
        <p:txBody>
          <a:bodyPr wrap="square" lIns="0" tIns="0" rIns="0" bIns="0" rtlCol="0" anchor="ctr"/>
          <a:lstStyle/>
          <a:p>
            <a:pPr algn="ctr" indent="0" marL="0">
              <a:buNone/>
            </a:pPr>
            <a:r>
              <a:rPr lang="en-US" sz="900" b="1" dirty="0">
                <a:solidFill>
                  <a:schemeClr val="bg1"/>
                </a:solidFill>
              </a:rPr>
              <a:t>Interpretare</a:t>
            </a:r>
            <a:endParaRPr lang="en-US" sz="900" dirty="0"/>
          </a:p>
        </p:txBody>
      </p:sp>
      <p:sp>
        <p:nvSpPr>
          <p:cNvPr id="6" name="operazione Generare"/>
          <p:cNvSpPr/>
          <p:nvPr/>
        </p:nvSpPr>
        <p:spPr>
          <a:xfrm>
            <a:off x="6940296" y="384048"/>
            <a:ext cx="841248"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940296" y="384048"/>
            <a:ext cx="841248" cy="237744"/>
          </a:xfrm>
          <a:prstGeom prst="rect">
            <a:avLst/>
          </a:prstGeom>
          <a:noFill/>
          <a:ln/>
        </p:spPr>
        <p:txBody>
          <a:bodyPr wrap="square" lIns="0" tIns="0" rIns="0" bIns="0" rtlCol="0" anchor="ctr"/>
          <a:lstStyle/>
          <a:p>
            <a:pPr algn="ctr" indent="0" marL="0">
              <a:buNone/>
            </a:pPr>
            <a:r>
              <a:rPr lang="en-US" sz="900" b="1" dirty="0">
                <a:solidFill>
                  <a:schemeClr val="accent1"/>
                </a:solidFill>
              </a:rPr>
              <a:t>Generare</a:t>
            </a:r>
            <a:endParaRPr lang="en-US" sz="900" dirty="0"/>
          </a:p>
        </p:txBody>
      </p:sp>
      <p:sp>
        <p:nvSpPr>
          <p:cNvPr id="8" name="operazione Trasformare"/>
          <p:cNvSpPr/>
          <p:nvPr/>
        </p:nvSpPr>
        <p:spPr>
          <a:xfrm>
            <a:off x="7827264" y="384048"/>
            <a:ext cx="841248"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827264" y="384048"/>
            <a:ext cx="841248" cy="237744"/>
          </a:xfrm>
          <a:prstGeom prst="rect">
            <a:avLst/>
          </a:prstGeom>
          <a:noFill/>
          <a:ln/>
        </p:spPr>
        <p:txBody>
          <a:bodyPr wrap="square" lIns="0" tIns="0" rIns="0" bIns="0" rtlCol="0" anchor="ctr"/>
          <a:lstStyle/>
          <a:p>
            <a:pPr algn="ctr" indent="0" marL="0">
              <a:buNone/>
            </a:pPr>
            <a:r>
              <a:rPr lang="en-US" sz="900" b="1" dirty="0">
                <a:solidFill>
                  <a:schemeClr val="accent1"/>
                </a:solidFill>
              </a:rPr>
              <a:t>Trasformare</a:t>
            </a:r>
            <a:endParaRPr lang="en-US" sz="900" dirty="0"/>
          </a:p>
        </p:txBody>
      </p:sp>
      <p:sp>
        <p:nvSpPr>
          <p:cNvPr id="10" name="scheda Testo nelle immagini"/>
          <p:cNvSpPr/>
          <p:nvPr/>
        </p:nvSpPr>
        <p:spPr>
          <a:xfrm>
            <a:off x="457200" y="1097280"/>
            <a:ext cx="3977640" cy="2331720"/>
          </a:xfrm>
          <a:prstGeom prst="roundRect">
            <a:avLst>
              <a:gd name="adj" fmla="val 3137"/>
            </a:avLst>
          </a:prstGeom>
          <a:solidFill>
            <a:schemeClr val="bg2"/>
          </a:solidFill>
          <a:ln/>
        </p:spPr>
      </p:sp>
      <p:sp>
        <p:nvSpPr>
          <p:cNvPr id="11" name="cerchio FiType"/>
          <p:cNvSpPr/>
          <p:nvPr/>
        </p:nvSpPr>
        <p:spPr>
          <a:xfrm>
            <a:off x="640080" y="1280160"/>
            <a:ext cx="457200" cy="457200"/>
          </a:xfrm>
          <a:prstGeom prst="ellipse">
            <a:avLst/>
          </a:prstGeom>
          <a:solidFill>
            <a:schemeClr val="accent1"/>
          </a:solidFill>
          <a:ln/>
        </p:spPr>
      </p:sp>
      <p:pic>
        <p:nvPicPr>
          <p:cNvPr id="12" name="Image 0" descr="FiType">    </p:cNvPr>
          <p:cNvPicPr>
            <a:picLocks noChangeAspect="1"/>
          </p:cNvPicPr>
          <p:nvPr/>
        </p:nvPicPr>
        <p:blipFill>
          <a:blip r:embed="rId1"/>
          <a:stretch>
            <a:fillRect/>
          </a:stretch>
        </p:blipFill>
        <p:spPr>
          <a:xfrm>
            <a:off x="754380" y="1394460"/>
            <a:ext cx="228600" cy="228600"/>
          </a:xfrm>
          <a:prstGeom prst="rect">
            <a:avLst/>
          </a:prstGeom>
        </p:spPr>
      </p:pic>
      <p:sp>
        <p:nvSpPr>
          <p:cNvPr id="13" name="Text 9"/>
          <p:cNvSpPr txBox="1"/>
          <p:nvPr/>
        </p:nvSpPr>
        <p:spPr>
          <a:xfrm>
            <a:off x="640080" y="1847088"/>
            <a:ext cx="3611880" cy="347472"/>
          </a:xfrm>
          <a:prstGeom prst="rect">
            <a:avLst/>
          </a:prstGeom>
          <a:noFill/>
          <a:ln/>
        </p:spPr>
        <p:txBody>
          <a:bodyPr wrap="square" lIns="0" tIns="0" rIns="0" bIns="0" rtlCol="0" anchor="t"/>
          <a:lstStyle/>
          <a:p>
            <a:pPr indent="0" marL="0">
              <a:buNone/>
            </a:pPr>
            <a:r>
              <a:rPr lang="en-US" sz="1500" b="1" dirty="0">
                <a:solidFill>
                  <a:schemeClr val="tx1"/>
                </a:solidFill>
              </a:rPr>
              <a:t>Testo nelle immagini</a:t>
            </a:r>
            <a:endParaRPr lang="en-US" sz="1500" dirty="0"/>
          </a:p>
        </p:txBody>
      </p:sp>
      <p:sp>
        <p:nvSpPr>
          <p:cNvPr id="14" name="Text 10"/>
          <p:cNvSpPr txBox="1"/>
          <p:nvPr/>
        </p:nvSpPr>
        <p:spPr>
          <a:xfrm>
            <a:off x="640080" y="2231136"/>
            <a:ext cx="3611880" cy="1088136"/>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chemeClr val="tx2"/>
                </a:solidFill>
              </a:rPr>
              <a:t>Molto affidabile: stampato, chiaro, lingue diffuse</a:t>
            </a:r>
            <a:endParaRPr lang="en-US" sz="1200" dirty="0"/>
          </a:p>
          <a:p>
            <a:pPr marL="177800" indent="-177800">
              <a:spcAft>
                <a:spcPts val="500"/>
              </a:spcAft>
              <a:buSzPct val="100000"/>
              <a:buChar char="•"/>
            </a:pPr>
            <a:r>
              <a:rPr lang="en-US" sz="1200" dirty="0">
                <a:solidFill>
                  <a:schemeClr val="tx2"/>
                </a:solidFill>
              </a:rPr>
              <a:t>Meno: a mano, piccolo, sfocato, inclinato</a:t>
            </a:r>
            <a:endParaRPr lang="en-US" sz="1200" dirty="0"/>
          </a:p>
          <a:p>
            <a:pPr marL="177800" indent="-177800">
              <a:spcAft>
                <a:spcPts val="500"/>
              </a:spcAft>
              <a:buSzPct val="100000"/>
              <a:buChar char="•"/>
            </a:pPr>
            <a:r>
              <a:rPr lang="en-US" sz="1200" dirty="0">
                <a:solidFill>
                  <a:schemeClr val="tx2"/>
                </a:solidFill>
              </a:rPr>
              <a:t>Insidiosi: numeri e codici, 8 e 3, 0 e O</a:t>
            </a:r>
            <a:endParaRPr lang="en-US" sz="1200" dirty="0"/>
          </a:p>
        </p:txBody>
      </p:sp>
      <p:sp>
        <p:nvSpPr>
          <p:cNvPr id="15" name="scheda Diagrammi e schemi"/>
          <p:cNvSpPr/>
          <p:nvPr/>
        </p:nvSpPr>
        <p:spPr>
          <a:xfrm>
            <a:off x="4709160" y="1097280"/>
            <a:ext cx="3977640" cy="2331720"/>
          </a:xfrm>
          <a:prstGeom prst="roundRect">
            <a:avLst>
              <a:gd name="adj" fmla="val 3137"/>
            </a:avLst>
          </a:prstGeom>
          <a:solidFill>
            <a:schemeClr val="accent6"/>
          </a:solidFill>
          <a:ln/>
        </p:spPr>
      </p:sp>
      <p:sp>
        <p:nvSpPr>
          <p:cNvPr id="16" name="cerchio FiShare2"/>
          <p:cNvSpPr/>
          <p:nvPr/>
        </p:nvSpPr>
        <p:spPr>
          <a:xfrm>
            <a:off x="4892040" y="1280160"/>
            <a:ext cx="457200" cy="457200"/>
          </a:xfrm>
          <a:prstGeom prst="ellipse">
            <a:avLst/>
          </a:prstGeom>
          <a:solidFill>
            <a:schemeClr val="accent1"/>
          </a:solidFill>
          <a:ln/>
        </p:spPr>
      </p:sp>
      <p:pic>
        <p:nvPicPr>
          <p:cNvPr id="17" name="Image 1" descr="FiShare2">    </p:cNvPr>
          <p:cNvPicPr>
            <a:picLocks noChangeAspect="1"/>
          </p:cNvPicPr>
          <p:nvPr/>
        </p:nvPicPr>
        <p:blipFill>
          <a:blip r:embed="rId2"/>
          <a:stretch>
            <a:fillRect/>
          </a:stretch>
        </p:blipFill>
        <p:spPr>
          <a:xfrm>
            <a:off x="5006340" y="1394460"/>
            <a:ext cx="228600" cy="228600"/>
          </a:xfrm>
          <a:prstGeom prst="rect">
            <a:avLst/>
          </a:prstGeom>
        </p:spPr>
      </p:pic>
      <p:sp>
        <p:nvSpPr>
          <p:cNvPr id="18" name="Text 13"/>
          <p:cNvSpPr txBox="1"/>
          <p:nvPr/>
        </p:nvSpPr>
        <p:spPr>
          <a:xfrm>
            <a:off x="4892040" y="1847088"/>
            <a:ext cx="3611880" cy="347472"/>
          </a:xfrm>
          <a:prstGeom prst="rect">
            <a:avLst/>
          </a:prstGeom>
          <a:noFill/>
          <a:ln/>
        </p:spPr>
        <p:txBody>
          <a:bodyPr wrap="square" lIns="0" tIns="0" rIns="0" bIns="0" rtlCol="0" anchor="t"/>
          <a:lstStyle/>
          <a:p>
            <a:pPr indent="0" marL="0">
              <a:buNone/>
            </a:pPr>
            <a:r>
              <a:rPr lang="en-US" sz="1500" b="1" dirty="0">
                <a:solidFill>
                  <a:schemeClr val="tx1"/>
                </a:solidFill>
              </a:rPr>
              <a:t>Diagrammi e schemi</a:t>
            </a:r>
            <a:endParaRPr lang="en-US" sz="1500" dirty="0"/>
          </a:p>
        </p:txBody>
      </p:sp>
      <p:sp>
        <p:nvSpPr>
          <p:cNvPr id="19" name="Text 14"/>
          <p:cNvSpPr txBox="1"/>
          <p:nvPr/>
        </p:nvSpPr>
        <p:spPr>
          <a:xfrm>
            <a:off x="4892040" y="2231136"/>
            <a:ext cx="3611880" cy="1088136"/>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chemeClr val="tx2"/>
                </a:solidFill>
              </a:rPr>
              <a:t>Richiedono di capire relazioni e sequenze</a:t>
            </a:r>
            <a:endParaRPr lang="en-US" sz="1200" dirty="0"/>
          </a:p>
          <a:p>
            <a:pPr marL="177800" indent="-177800">
              <a:spcAft>
                <a:spcPts val="500"/>
              </a:spcAft>
              <a:buSzPct val="100000"/>
              <a:buChar char="•"/>
            </a:pPr>
            <a:r>
              <a:rPr lang="en-US" sz="1200" dirty="0">
                <a:solidFill>
                  <a:schemeClr val="tx2"/>
                </a:solidFill>
              </a:rPr>
              <a:t>Bene: semplici e ordinati</a:t>
            </a:r>
            <a:endParaRPr lang="en-US" sz="1200" dirty="0"/>
          </a:p>
          <a:p>
            <a:pPr marL="177800" indent="-177800">
              <a:spcAft>
                <a:spcPts val="500"/>
              </a:spcAft>
              <a:buSzPct val="100000"/>
              <a:buChar char="•"/>
            </a:pPr>
            <a:r>
              <a:rPr lang="en-US" sz="1200" dirty="0">
                <a:solidFill>
                  <a:schemeClr val="tx2"/>
                </a:solidFill>
              </a:rPr>
              <a:t>Peggio: densi, frecce incrociate, legende separate</a:t>
            </a:r>
            <a:endParaRPr lang="en-US" sz="1200" dirty="0"/>
          </a:p>
        </p:txBody>
      </p:sp>
      <p:sp>
        <p:nvSpPr>
          <p:cNvPr id="20" name="messaggio"/>
          <p:cNvSpPr/>
          <p:nvPr/>
        </p:nvSpPr>
        <p:spPr>
          <a:xfrm>
            <a:off x="457200" y="3611880"/>
            <a:ext cx="8229600" cy="731520"/>
          </a:xfrm>
          <a:prstGeom prst="roundRect">
            <a:avLst>
              <a:gd name="adj" fmla="val 10000"/>
            </a:avLst>
          </a:prstGeom>
          <a:solidFill>
            <a:schemeClr val="tx1"/>
          </a:solidFill>
          <a:ln/>
        </p:spPr>
      </p:sp>
      <p:sp>
        <p:nvSpPr>
          <p:cNvPr id="21" name="Text 16"/>
          <p:cNvSpPr txBox="1"/>
          <p:nvPr/>
        </p:nvSpPr>
        <p:spPr>
          <a:xfrm>
            <a:off x="640080" y="3611880"/>
            <a:ext cx="7863840" cy="731520"/>
          </a:xfrm>
          <a:prstGeom prst="rect">
            <a:avLst/>
          </a:prstGeom>
          <a:noFill/>
          <a:ln/>
        </p:spPr>
        <p:txBody>
          <a:bodyPr wrap="square" lIns="0" tIns="0" rIns="0" bIns="0" rtlCol="0" anchor="ctr"/>
          <a:lstStyle/>
          <a:p>
            <a:pPr indent="0" marL="0">
              <a:buNone/>
            </a:pPr>
            <a:r>
              <a:rPr lang="en-US" sz="1300" dirty="0">
                <a:solidFill>
                  <a:schemeClr val="bg1"/>
                </a:solidFill>
              </a:rPr>
              <a:t>Una parola sbagliata spesso si nota; un numero sbagliato resta un numero plausibile. I valori letti da un grafico sono stime.</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Dettagli e relazioni spaziali</a:t>
            </a:r>
            <a:endParaRPr lang="en-US" sz="2600" dirty="0"/>
          </a:p>
        </p:txBody>
      </p:sp>
      <p:sp>
        <p:nvSpPr>
          <p:cNvPr id="4" name="operazione Interpretare"/>
          <p:cNvSpPr/>
          <p:nvPr/>
        </p:nvSpPr>
        <p:spPr>
          <a:xfrm>
            <a:off x="6053328" y="384048"/>
            <a:ext cx="841248" cy="237744"/>
          </a:xfrm>
          <a:prstGeom prst="roundRect">
            <a:avLst>
              <a:gd name="adj" fmla="val 50000"/>
            </a:avLst>
          </a:prstGeom>
          <a:solidFill>
            <a:schemeClr val="accent1"/>
          </a:solidFill>
          <a:ln w="9525">
            <a:solidFill>
              <a:schemeClr val="accent1"/>
            </a:solidFill>
            <a:prstDash val="solid"/>
          </a:ln>
        </p:spPr>
      </p:sp>
      <p:sp>
        <p:nvSpPr>
          <p:cNvPr id="5" name="Text 2"/>
          <p:cNvSpPr txBox="1"/>
          <p:nvPr/>
        </p:nvSpPr>
        <p:spPr>
          <a:xfrm>
            <a:off x="6053328" y="384048"/>
            <a:ext cx="841248" cy="237744"/>
          </a:xfrm>
          <a:prstGeom prst="rect">
            <a:avLst/>
          </a:prstGeom>
          <a:noFill/>
          <a:ln/>
        </p:spPr>
        <p:txBody>
          <a:bodyPr wrap="square" lIns="0" tIns="0" rIns="0" bIns="0" rtlCol="0" anchor="ctr"/>
          <a:lstStyle/>
          <a:p>
            <a:pPr algn="ctr" indent="0" marL="0">
              <a:buNone/>
            </a:pPr>
            <a:r>
              <a:rPr lang="en-US" sz="900" b="1" dirty="0">
                <a:solidFill>
                  <a:schemeClr val="bg1"/>
                </a:solidFill>
              </a:rPr>
              <a:t>Interpretare</a:t>
            </a:r>
            <a:endParaRPr lang="en-US" sz="900" dirty="0"/>
          </a:p>
        </p:txBody>
      </p:sp>
      <p:sp>
        <p:nvSpPr>
          <p:cNvPr id="6" name="operazione Generare"/>
          <p:cNvSpPr/>
          <p:nvPr/>
        </p:nvSpPr>
        <p:spPr>
          <a:xfrm>
            <a:off x="6940296" y="384048"/>
            <a:ext cx="841248"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940296" y="384048"/>
            <a:ext cx="841248" cy="237744"/>
          </a:xfrm>
          <a:prstGeom prst="rect">
            <a:avLst/>
          </a:prstGeom>
          <a:noFill/>
          <a:ln/>
        </p:spPr>
        <p:txBody>
          <a:bodyPr wrap="square" lIns="0" tIns="0" rIns="0" bIns="0" rtlCol="0" anchor="ctr"/>
          <a:lstStyle/>
          <a:p>
            <a:pPr algn="ctr" indent="0" marL="0">
              <a:buNone/>
            </a:pPr>
            <a:r>
              <a:rPr lang="en-US" sz="900" b="1" dirty="0">
                <a:solidFill>
                  <a:schemeClr val="accent1"/>
                </a:solidFill>
              </a:rPr>
              <a:t>Generare</a:t>
            </a:r>
            <a:endParaRPr lang="en-US" sz="900" dirty="0"/>
          </a:p>
        </p:txBody>
      </p:sp>
      <p:sp>
        <p:nvSpPr>
          <p:cNvPr id="8" name="operazione Trasformare"/>
          <p:cNvSpPr/>
          <p:nvPr/>
        </p:nvSpPr>
        <p:spPr>
          <a:xfrm>
            <a:off x="7827264" y="384048"/>
            <a:ext cx="841248"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827264" y="384048"/>
            <a:ext cx="841248" cy="237744"/>
          </a:xfrm>
          <a:prstGeom prst="rect">
            <a:avLst/>
          </a:prstGeom>
          <a:noFill/>
          <a:ln/>
        </p:spPr>
        <p:txBody>
          <a:bodyPr wrap="square" lIns="0" tIns="0" rIns="0" bIns="0" rtlCol="0" anchor="ctr"/>
          <a:lstStyle/>
          <a:p>
            <a:pPr algn="ctr" indent="0" marL="0">
              <a:buNone/>
            </a:pPr>
            <a:r>
              <a:rPr lang="en-US" sz="900" b="1" dirty="0">
                <a:solidFill>
                  <a:schemeClr val="accent1"/>
                </a:solidFill>
              </a:rPr>
              <a:t>Trasformare</a:t>
            </a:r>
            <a:endParaRPr lang="en-US" sz="900" dirty="0"/>
          </a:p>
        </p:txBody>
      </p:sp>
      <p:sp>
        <p:nvSpPr>
          <p:cNvPr id="10" name="Contare"/>
          <p:cNvSpPr/>
          <p:nvPr/>
        </p:nvSpPr>
        <p:spPr>
          <a:xfrm>
            <a:off x="457200" y="1097280"/>
            <a:ext cx="1920240" cy="1691640"/>
          </a:xfrm>
          <a:prstGeom prst="roundRect">
            <a:avLst>
              <a:gd name="adj" fmla="val 4324"/>
            </a:avLst>
          </a:prstGeom>
          <a:solidFill>
            <a:schemeClr val="bg2"/>
          </a:solidFill>
          <a:ln/>
        </p:spPr>
      </p:sp>
      <p:sp>
        <p:nvSpPr>
          <p:cNvPr id="11" name="cerchio FiHash"/>
          <p:cNvSpPr/>
          <p:nvPr/>
        </p:nvSpPr>
        <p:spPr>
          <a:xfrm>
            <a:off x="621792" y="1261872"/>
            <a:ext cx="438912" cy="438912"/>
          </a:xfrm>
          <a:prstGeom prst="ellipse">
            <a:avLst/>
          </a:prstGeom>
          <a:solidFill>
            <a:schemeClr val="accent1"/>
          </a:solidFill>
          <a:ln/>
        </p:spPr>
      </p:sp>
      <p:pic>
        <p:nvPicPr>
          <p:cNvPr id="12" name="Image 0" descr="FiHash">    </p:cNvPr>
          <p:cNvPicPr>
            <a:picLocks noChangeAspect="1"/>
          </p:cNvPicPr>
          <p:nvPr/>
        </p:nvPicPr>
        <p:blipFill>
          <a:blip r:embed="rId1"/>
          <a:stretch>
            <a:fillRect/>
          </a:stretch>
        </p:blipFill>
        <p:spPr>
          <a:xfrm>
            <a:off x="731520" y="1371600"/>
            <a:ext cx="219456" cy="219456"/>
          </a:xfrm>
          <a:prstGeom prst="rect">
            <a:avLst/>
          </a:prstGeom>
        </p:spPr>
      </p:pic>
      <p:sp>
        <p:nvSpPr>
          <p:cNvPr id="13" name="Text 9"/>
          <p:cNvSpPr txBox="1"/>
          <p:nvPr/>
        </p:nvSpPr>
        <p:spPr>
          <a:xfrm>
            <a:off x="1170432" y="1225296"/>
            <a:ext cx="1097280" cy="512064"/>
          </a:xfrm>
          <a:prstGeom prst="rect">
            <a:avLst/>
          </a:prstGeom>
          <a:noFill/>
          <a:ln/>
        </p:spPr>
        <p:txBody>
          <a:bodyPr wrap="square" lIns="0" tIns="0" rIns="0" bIns="0" rtlCol="0" anchor="ctr"/>
          <a:lstStyle/>
          <a:p>
            <a:pPr indent="0" marL="0">
              <a:buNone/>
            </a:pPr>
            <a:r>
              <a:rPr lang="en-US" sz="1300" b="1" dirty="0">
                <a:solidFill>
                  <a:schemeClr val="tx1"/>
                </a:solidFill>
              </a:rPr>
              <a:t>Contare</a:t>
            </a:r>
            <a:endParaRPr lang="en-US" sz="1300" dirty="0"/>
          </a:p>
        </p:txBody>
      </p:sp>
      <p:sp>
        <p:nvSpPr>
          <p:cNvPr id="14" name="Text 10"/>
          <p:cNvSpPr txBox="1"/>
          <p:nvPr/>
        </p:nvSpPr>
        <p:spPr>
          <a:xfrm>
            <a:off x="621792" y="1810512"/>
            <a:ext cx="1591056" cy="886968"/>
          </a:xfrm>
          <a:prstGeom prst="rect">
            <a:avLst/>
          </a:prstGeom>
          <a:noFill/>
          <a:ln/>
        </p:spPr>
        <p:txBody>
          <a:bodyPr wrap="square" lIns="0" tIns="0" rIns="0" bIns="0" rtlCol="0" anchor="t"/>
          <a:lstStyle/>
          <a:p>
            <a:pPr indent="0" marL="0">
              <a:buNone/>
            </a:pPr>
            <a:r>
              <a:rPr lang="en-US" sz="1200" dirty="0">
                <a:solidFill>
                  <a:schemeClr val="tx2"/>
                </a:solidFill>
              </a:rPr>
              <a:t>In immagini affollate, spesso approssimativo</a:t>
            </a:r>
            <a:endParaRPr lang="en-US" sz="1200" dirty="0"/>
          </a:p>
        </p:txBody>
      </p:sp>
      <p:sp>
        <p:nvSpPr>
          <p:cNvPr id="15" name="Dettagli piccoli"/>
          <p:cNvSpPr/>
          <p:nvPr/>
        </p:nvSpPr>
        <p:spPr>
          <a:xfrm>
            <a:off x="2560320" y="1097280"/>
            <a:ext cx="1920240" cy="1691640"/>
          </a:xfrm>
          <a:prstGeom prst="roundRect">
            <a:avLst>
              <a:gd name="adj" fmla="val 4324"/>
            </a:avLst>
          </a:prstGeom>
          <a:solidFill>
            <a:schemeClr val="bg2"/>
          </a:solidFill>
          <a:ln/>
        </p:spPr>
      </p:sp>
      <p:sp>
        <p:nvSpPr>
          <p:cNvPr id="16" name="cerchio FiZoomIn"/>
          <p:cNvSpPr/>
          <p:nvPr/>
        </p:nvSpPr>
        <p:spPr>
          <a:xfrm>
            <a:off x="2724912" y="1261872"/>
            <a:ext cx="438912" cy="438912"/>
          </a:xfrm>
          <a:prstGeom prst="ellipse">
            <a:avLst/>
          </a:prstGeom>
          <a:solidFill>
            <a:schemeClr val="accent1"/>
          </a:solidFill>
          <a:ln/>
        </p:spPr>
      </p:sp>
      <p:pic>
        <p:nvPicPr>
          <p:cNvPr id="17" name="Image 1" descr="FiZoomIn">    </p:cNvPr>
          <p:cNvPicPr>
            <a:picLocks noChangeAspect="1"/>
          </p:cNvPicPr>
          <p:nvPr/>
        </p:nvPicPr>
        <p:blipFill>
          <a:blip r:embed="rId2"/>
          <a:stretch>
            <a:fillRect/>
          </a:stretch>
        </p:blipFill>
        <p:spPr>
          <a:xfrm>
            <a:off x="2834640" y="1371600"/>
            <a:ext cx="219456" cy="219456"/>
          </a:xfrm>
          <a:prstGeom prst="rect">
            <a:avLst/>
          </a:prstGeom>
        </p:spPr>
      </p:pic>
      <p:sp>
        <p:nvSpPr>
          <p:cNvPr id="18" name="Text 13"/>
          <p:cNvSpPr txBox="1"/>
          <p:nvPr/>
        </p:nvSpPr>
        <p:spPr>
          <a:xfrm>
            <a:off x="3273552" y="1225296"/>
            <a:ext cx="1097280" cy="512064"/>
          </a:xfrm>
          <a:prstGeom prst="rect">
            <a:avLst/>
          </a:prstGeom>
          <a:noFill/>
          <a:ln/>
        </p:spPr>
        <p:txBody>
          <a:bodyPr wrap="square" lIns="0" tIns="0" rIns="0" bIns="0" rtlCol="0" anchor="ctr"/>
          <a:lstStyle/>
          <a:p>
            <a:pPr indent="0" marL="0">
              <a:buNone/>
            </a:pPr>
            <a:r>
              <a:rPr lang="en-US" sz="1300" b="1" dirty="0">
                <a:solidFill>
                  <a:schemeClr val="tx1"/>
                </a:solidFill>
              </a:rPr>
              <a:t>Dettagli piccoli</a:t>
            </a:r>
            <a:endParaRPr lang="en-US" sz="1300" dirty="0"/>
          </a:p>
        </p:txBody>
      </p:sp>
      <p:sp>
        <p:nvSpPr>
          <p:cNvPr id="19" name="Text 14"/>
          <p:cNvSpPr txBox="1"/>
          <p:nvPr/>
        </p:nvSpPr>
        <p:spPr>
          <a:xfrm>
            <a:off x="2724912" y="1810512"/>
            <a:ext cx="1591056" cy="886968"/>
          </a:xfrm>
          <a:prstGeom prst="rect">
            <a:avLst/>
          </a:prstGeom>
          <a:noFill/>
          <a:ln/>
        </p:spPr>
        <p:txBody>
          <a:bodyPr wrap="square" lIns="0" tIns="0" rIns="0" bIns="0" rtlCol="0" anchor="t"/>
          <a:lstStyle/>
          <a:p>
            <a:pPr indent="0" marL="0">
              <a:buNone/>
            </a:pPr>
            <a:r>
              <a:rPr lang="en-US" sz="1200" dirty="0">
                <a:solidFill>
                  <a:schemeClr val="tx2"/>
                </a:solidFill>
              </a:rPr>
              <a:t>Difetti, cifre, etichette lontane</a:t>
            </a:r>
            <a:endParaRPr lang="en-US" sz="1200" dirty="0"/>
          </a:p>
        </p:txBody>
      </p:sp>
      <p:sp>
        <p:nvSpPr>
          <p:cNvPr id="20" name="Relazioni spaziali"/>
          <p:cNvSpPr/>
          <p:nvPr/>
        </p:nvSpPr>
        <p:spPr>
          <a:xfrm>
            <a:off x="4663440" y="1097280"/>
            <a:ext cx="1920240" cy="1691640"/>
          </a:xfrm>
          <a:prstGeom prst="roundRect">
            <a:avLst>
              <a:gd name="adj" fmla="val 4324"/>
            </a:avLst>
          </a:prstGeom>
          <a:solidFill>
            <a:schemeClr val="bg2"/>
          </a:solidFill>
          <a:ln/>
        </p:spPr>
      </p:sp>
      <p:sp>
        <p:nvSpPr>
          <p:cNvPr id="21" name="cerchio FiMove"/>
          <p:cNvSpPr/>
          <p:nvPr/>
        </p:nvSpPr>
        <p:spPr>
          <a:xfrm>
            <a:off x="4828032" y="1261872"/>
            <a:ext cx="438912" cy="438912"/>
          </a:xfrm>
          <a:prstGeom prst="ellipse">
            <a:avLst/>
          </a:prstGeom>
          <a:solidFill>
            <a:schemeClr val="accent1"/>
          </a:solidFill>
          <a:ln/>
        </p:spPr>
      </p:sp>
      <p:pic>
        <p:nvPicPr>
          <p:cNvPr id="22" name="Image 2" descr="FiMove">    </p:cNvPr>
          <p:cNvPicPr>
            <a:picLocks noChangeAspect="1"/>
          </p:cNvPicPr>
          <p:nvPr/>
        </p:nvPicPr>
        <p:blipFill>
          <a:blip r:embed="rId3"/>
          <a:stretch>
            <a:fillRect/>
          </a:stretch>
        </p:blipFill>
        <p:spPr>
          <a:xfrm>
            <a:off x="4937760" y="1371600"/>
            <a:ext cx="219456" cy="219456"/>
          </a:xfrm>
          <a:prstGeom prst="rect">
            <a:avLst/>
          </a:prstGeom>
        </p:spPr>
      </p:pic>
      <p:sp>
        <p:nvSpPr>
          <p:cNvPr id="23" name="Text 17"/>
          <p:cNvSpPr txBox="1"/>
          <p:nvPr/>
        </p:nvSpPr>
        <p:spPr>
          <a:xfrm>
            <a:off x="5376672" y="1225296"/>
            <a:ext cx="1097280" cy="512064"/>
          </a:xfrm>
          <a:prstGeom prst="rect">
            <a:avLst/>
          </a:prstGeom>
          <a:noFill/>
          <a:ln/>
        </p:spPr>
        <p:txBody>
          <a:bodyPr wrap="square" lIns="0" tIns="0" rIns="0" bIns="0" rtlCol="0" anchor="ctr"/>
          <a:lstStyle/>
          <a:p>
            <a:pPr indent="0" marL="0">
              <a:buNone/>
            </a:pPr>
            <a:r>
              <a:rPr lang="en-US" sz="1300" b="1" dirty="0">
                <a:solidFill>
                  <a:schemeClr val="tx1"/>
                </a:solidFill>
              </a:rPr>
              <a:t>Relazioni spaziali</a:t>
            </a:r>
            <a:endParaRPr lang="en-US" sz="1300" dirty="0"/>
          </a:p>
        </p:txBody>
      </p:sp>
      <p:sp>
        <p:nvSpPr>
          <p:cNvPr id="24" name="Text 18"/>
          <p:cNvSpPr txBox="1"/>
          <p:nvPr/>
        </p:nvSpPr>
        <p:spPr>
          <a:xfrm>
            <a:off x="4828032" y="1810512"/>
            <a:ext cx="1591056" cy="886968"/>
          </a:xfrm>
          <a:prstGeom prst="rect">
            <a:avLst/>
          </a:prstGeom>
          <a:noFill/>
          <a:ln/>
        </p:spPr>
        <p:txBody>
          <a:bodyPr wrap="square" lIns="0" tIns="0" rIns="0" bIns="0" rtlCol="0" anchor="t"/>
          <a:lstStyle/>
          <a:p>
            <a:pPr indent="0" marL="0">
              <a:buNone/>
            </a:pPr>
            <a:r>
              <a:rPr lang="en-US" sz="1200" dirty="0">
                <a:solidFill>
                  <a:schemeClr val="tx2"/>
                </a:solidFill>
              </a:rPr>
              <a:t>Destra e sinistra, distanze, proporzioni</a:t>
            </a:r>
            <a:endParaRPr lang="en-US" sz="1200" dirty="0"/>
          </a:p>
        </p:txBody>
      </p:sp>
      <p:sp>
        <p:nvSpPr>
          <p:cNvPr id="25" name="Orientamento"/>
          <p:cNvSpPr/>
          <p:nvPr/>
        </p:nvSpPr>
        <p:spPr>
          <a:xfrm>
            <a:off x="6766560" y="1097280"/>
            <a:ext cx="1920240" cy="1691640"/>
          </a:xfrm>
          <a:prstGeom prst="roundRect">
            <a:avLst>
              <a:gd name="adj" fmla="val 4324"/>
            </a:avLst>
          </a:prstGeom>
          <a:solidFill>
            <a:schemeClr val="bg2"/>
          </a:solidFill>
          <a:ln/>
        </p:spPr>
      </p:sp>
      <p:sp>
        <p:nvSpPr>
          <p:cNvPr id="26" name="cerchio FiRotateCw"/>
          <p:cNvSpPr/>
          <p:nvPr/>
        </p:nvSpPr>
        <p:spPr>
          <a:xfrm>
            <a:off x="6931152" y="1261872"/>
            <a:ext cx="438912" cy="438912"/>
          </a:xfrm>
          <a:prstGeom prst="ellipse">
            <a:avLst/>
          </a:prstGeom>
          <a:solidFill>
            <a:schemeClr val="accent1"/>
          </a:solidFill>
          <a:ln/>
        </p:spPr>
      </p:sp>
      <p:pic>
        <p:nvPicPr>
          <p:cNvPr id="27" name="Image 3" descr="FiRotateCw">    </p:cNvPr>
          <p:cNvPicPr>
            <a:picLocks noChangeAspect="1"/>
          </p:cNvPicPr>
          <p:nvPr/>
        </p:nvPicPr>
        <p:blipFill>
          <a:blip r:embed="rId4"/>
          <a:stretch>
            <a:fillRect/>
          </a:stretch>
        </p:blipFill>
        <p:spPr>
          <a:xfrm>
            <a:off x="7040880" y="1371600"/>
            <a:ext cx="219456" cy="219456"/>
          </a:xfrm>
          <a:prstGeom prst="rect">
            <a:avLst/>
          </a:prstGeom>
        </p:spPr>
      </p:pic>
      <p:sp>
        <p:nvSpPr>
          <p:cNvPr id="28" name="Text 21"/>
          <p:cNvSpPr txBox="1"/>
          <p:nvPr/>
        </p:nvSpPr>
        <p:spPr>
          <a:xfrm>
            <a:off x="7479792" y="1225296"/>
            <a:ext cx="1097280" cy="512064"/>
          </a:xfrm>
          <a:prstGeom prst="rect">
            <a:avLst/>
          </a:prstGeom>
          <a:noFill/>
          <a:ln/>
        </p:spPr>
        <p:txBody>
          <a:bodyPr wrap="square" lIns="0" tIns="0" rIns="0" bIns="0" rtlCol="0" anchor="ctr"/>
          <a:lstStyle/>
          <a:p>
            <a:pPr indent="0" marL="0">
              <a:buNone/>
            </a:pPr>
            <a:r>
              <a:rPr lang="en-US" sz="1300" b="1" dirty="0">
                <a:solidFill>
                  <a:schemeClr val="tx1"/>
                </a:solidFill>
              </a:rPr>
              <a:t>Orientamento</a:t>
            </a:r>
            <a:endParaRPr lang="en-US" sz="1300" dirty="0"/>
          </a:p>
        </p:txBody>
      </p:sp>
      <p:sp>
        <p:nvSpPr>
          <p:cNvPr id="29" name="Text 22"/>
          <p:cNvSpPr txBox="1"/>
          <p:nvPr/>
        </p:nvSpPr>
        <p:spPr>
          <a:xfrm>
            <a:off x="6931152" y="1810512"/>
            <a:ext cx="1591056" cy="886968"/>
          </a:xfrm>
          <a:prstGeom prst="rect">
            <a:avLst/>
          </a:prstGeom>
          <a:noFill/>
          <a:ln/>
        </p:spPr>
        <p:txBody>
          <a:bodyPr wrap="square" lIns="0" tIns="0" rIns="0" bIns="0" rtlCol="0" anchor="t"/>
          <a:lstStyle/>
          <a:p>
            <a:pPr indent="0" marL="0">
              <a:buNone/>
            </a:pPr>
            <a:r>
              <a:rPr lang="en-US" sz="1200" dirty="0">
                <a:solidFill>
                  <a:schemeClr val="tx2"/>
                </a:solidFill>
              </a:rPr>
              <a:t>Immagini ruotate, riflesse, prospettive insolite</a:t>
            </a:r>
            <a:endParaRPr lang="en-US" sz="1200" dirty="0"/>
          </a:p>
        </p:txBody>
      </p:sp>
      <p:sp>
        <p:nvSpPr>
          <p:cNvPr id="30" name="messaggio"/>
          <p:cNvSpPr/>
          <p:nvPr/>
        </p:nvSpPr>
        <p:spPr>
          <a:xfrm>
            <a:off x="457200" y="3017520"/>
            <a:ext cx="8229600" cy="640080"/>
          </a:xfrm>
          <a:prstGeom prst="roundRect">
            <a:avLst>
              <a:gd name="adj" fmla="val 11429"/>
            </a:avLst>
          </a:prstGeom>
          <a:solidFill>
            <a:schemeClr val="tx1"/>
          </a:solidFill>
          <a:ln/>
        </p:spPr>
      </p:sp>
      <p:sp>
        <p:nvSpPr>
          <p:cNvPr id="31" name="Text 24"/>
          <p:cNvSpPr txBox="1"/>
          <p:nvPr/>
        </p:nvSpPr>
        <p:spPr>
          <a:xfrm>
            <a:off x="640080" y="3017520"/>
            <a:ext cx="7863840" cy="640080"/>
          </a:xfrm>
          <a:prstGeom prst="rect">
            <a:avLst/>
          </a:prstGeom>
          <a:noFill/>
          <a:ln/>
        </p:spPr>
        <p:txBody>
          <a:bodyPr wrap="square" lIns="0" tIns="0" rIns="0" bIns="0" rtlCol="0" anchor="ctr"/>
          <a:lstStyle/>
          <a:p>
            <a:pPr indent="0" marL="0">
              <a:buNone/>
            </a:pPr>
            <a:r>
              <a:rPr lang="en-US" sz="1400" dirty="0">
                <a:solidFill>
                  <a:schemeClr val="bg1"/>
                </a:solidFill>
              </a:rPr>
              <a:t>Stessa sicurezza quando ha visto bene e quando ha ricostruito in modo plausibile.</a:t>
            </a:r>
            <a:endParaRPr lang="en-US" sz="1400" dirty="0"/>
          </a:p>
        </p:txBody>
      </p:sp>
      <p:sp>
        <p:nvSpPr>
          <p:cNvPr id="32" name="Text 25"/>
          <p:cNvSpPr txBox="1"/>
          <p:nvPr/>
        </p:nvSpPr>
        <p:spPr>
          <a:xfrm>
            <a:off x="457200" y="3840480"/>
            <a:ext cx="8229600" cy="548640"/>
          </a:xfrm>
          <a:prstGeom prst="rect">
            <a:avLst/>
          </a:prstGeom>
          <a:noFill/>
          <a:ln/>
        </p:spPr>
        <p:txBody>
          <a:bodyPr wrap="square" lIns="0" tIns="0" rIns="0" bIns="0" rtlCol="0" anchor="t"/>
          <a:lstStyle/>
          <a:p>
            <a:pPr indent="0" marL="0">
              <a:buNone/>
            </a:pPr>
            <a:r>
              <a:rPr lang="en-US" sz="1300" b="1" i="1" dirty="0">
                <a:solidFill>
                  <a:schemeClr val="accent1"/>
                </a:solidFill>
              </a:rPr>
              <a:t>Per i dettagli importanti: chiedere dove si trova esattamente l'elemento, e controllare. Conteggi e misure: stime.</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Descrivere o comprendere</a:t>
            </a:r>
            <a:endParaRPr lang="en-US" sz="2600" dirty="0"/>
          </a:p>
        </p:txBody>
      </p:sp>
      <p:sp>
        <p:nvSpPr>
          <p:cNvPr id="4" name="operazione Interpretare"/>
          <p:cNvSpPr/>
          <p:nvPr/>
        </p:nvSpPr>
        <p:spPr>
          <a:xfrm>
            <a:off x="6053328" y="384048"/>
            <a:ext cx="841248" cy="237744"/>
          </a:xfrm>
          <a:prstGeom prst="roundRect">
            <a:avLst>
              <a:gd name="adj" fmla="val 50000"/>
            </a:avLst>
          </a:prstGeom>
          <a:solidFill>
            <a:schemeClr val="accent1"/>
          </a:solidFill>
          <a:ln w="9525">
            <a:solidFill>
              <a:schemeClr val="accent1"/>
            </a:solidFill>
            <a:prstDash val="solid"/>
          </a:ln>
        </p:spPr>
      </p:sp>
      <p:sp>
        <p:nvSpPr>
          <p:cNvPr id="5" name="Text 2"/>
          <p:cNvSpPr txBox="1"/>
          <p:nvPr/>
        </p:nvSpPr>
        <p:spPr>
          <a:xfrm>
            <a:off x="6053328" y="384048"/>
            <a:ext cx="841248" cy="237744"/>
          </a:xfrm>
          <a:prstGeom prst="rect">
            <a:avLst/>
          </a:prstGeom>
          <a:noFill/>
          <a:ln/>
        </p:spPr>
        <p:txBody>
          <a:bodyPr wrap="square" lIns="0" tIns="0" rIns="0" bIns="0" rtlCol="0" anchor="ctr"/>
          <a:lstStyle/>
          <a:p>
            <a:pPr algn="ctr" indent="0" marL="0">
              <a:buNone/>
            </a:pPr>
            <a:r>
              <a:rPr lang="en-US" sz="900" b="1" dirty="0">
                <a:solidFill>
                  <a:schemeClr val="bg1"/>
                </a:solidFill>
              </a:rPr>
              <a:t>Interpretare</a:t>
            </a:r>
            <a:endParaRPr lang="en-US" sz="900" dirty="0"/>
          </a:p>
        </p:txBody>
      </p:sp>
      <p:sp>
        <p:nvSpPr>
          <p:cNvPr id="6" name="operazione Generare"/>
          <p:cNvSpPr/>
          <p:nvPr/>
        </p:nvSpPr>
        <p:spPr>
          <a:xfrm>
            <a:off x="6940296" y="384048"/>
            <a:ext cx="841248"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940296" y="384048"/>
            <a:ext cx="841248" cy="237744"/>
          </a:xfrm>
          <a:prstGeom prst="rect">
            <a:avLst/>
          </a:prstGeom>
          <a:noFill/>
          <a:ln/>
        </p:spPr>
        <p:txBody>
          <a:bodyPr wrap="square" lIns="0" tIns="0" rIns="0" bIns="0" rtlCol="0" anchor="ctr"/>
          <a:lstStyle/>
          <a:p>
            <a:pPr algn="ctr" indent="0" marL="0">
              <a:buNone/>
            </a:pPr>
            <a:r>
              <a:rPr lang="en-US" sz="900" b="1" dirty="0">
                <a:solidFill>
                  <a:schemeClr val="accent1"/>
                </a:solidFill>
              </a:rPr>
              <a:t>Generare</a:t>
            </a:r>
            <a:endParaRPr lang="en-US" sz="900" dirty="0"/>
          </a:p>
        </p:txBody>
      </p:sp>
      <p:sp>
        <p:nvSpPr>
          <p:cNvPr id="8" name="operazione Trasformare"/>
          <p:cNvSpPr/>
          <p:nvPr/>
        </p:nvSpPr>
        <p:spPr>
          <a:xfrm>
            <a:off x="7827264" y="384048"/>
            <a:ext cx="841248"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827264" y="384048"/>
            <a:ext cx="841248" cy="237744"/>
          </a:xfrm>
          <a:prstGeom prst="rect">
            <a:avLst/>
          </a:prstGeom>
          <a:noFill/>
          <a:ln/>
        </p:spPr>
        <p:txBody>
          <a:bodyPr wrap="square" lIns="0" tIns="0" rIns="0" bIns="0" rtlCol="0" anchor="ctr"/>
          <a:lstStyle/>
          <a:p>
            <a:pPr algn="ctr" indent="0" marL="0">
              <a:buNone/>
            </a:pPr>
            <a:r>
              <a:rPr lang="en-US" sz="900" b="1" dirty="0">
                <a:solidFill>
                  <a:schemeClr val="accent1"/>
                </a:solidFill>
              </a:rPr>
              <a:t>Trasformare</a:t>
            </a:r>
            <a:endParaRPr lang="en-US" sz="900" dirty="0"/>
          </a:p>
        </p:txBody>
      </p:sp>
      <p:sp>
        <p:nvSpPr>
          <p:cNvPr id="10" name="riquadro Descrizione (ciò che appare)"/>
          <p:cNvSpPr/>
          <p:nvPr/>
        </p:nvSpPr>
        <p:spPr>
          <a:xfrm>
            <a:off x="457200" y="1051560"/>
            <a:ext cx="3977640" cy="1463040"/>
          </a:xfrm>
          <a:prstGeom prst="roundRect">
            <a:avLst>
              <a:gd name="adj" fmla="val 5000"/>
            </a:avLst>
          </a:prstGeom>
          <a:solidFill>
            <a:schemeClr val="accent6"/>
          </a:solidFill>
          <a:ln/>
        </p:spPr>
      </p:sp>
      <p:sp>
        <p:nvSpPr>
          <p:cNvPr id="11" name="barra"/>
          <p:cNvSpPr/>
          <p:nvPr/>
        </p:nvSpPr>
        <p:spPr>
          <a:xfrm>
            <a:off x="457200" y="1161288"/>
            <a:ext cx="54864" cy="1243584"/>
          </a:xfrm>
          <a:prstGeom prst="rect">
            <a:avLst/>
          </a:prstGeom>
          <a:solidFill>
            <a:schemeClr val="accent1"/>
          </a:solidFill>
          <a:ln/>
        </p:spPr>
      </p:sp>
      <p:sp>
        <p:nvSpPr>
          <p:cNvPr id="12" name="Text 9"/>
          <p:cNvSpPr txBox="1"/>
          <p:nvPr/>
        </p:nvSpPr>
        <p:spPr>
          <a:xfrm>
            <a:off x="658368" y="1143000"/>
            <a:ext cx="3611880" cy="256032"/>
          </a:xfrm>
          <a:prstGeom prst="rect">
            <a:avLst/>
          </a:prstGeom>
          <a:noFill/>
          <a:ln/>
        </p:spPr>
        <p:txBody>
          <a:bodyPr wrap="square" lIns="0" tIns="0" rIns="0" bIns="0" rtlCol="0" anchor="t"/>
          <a:lstStyle/>
          <a:p>
            <a:pPr indent="0" marL="0">
              <a:buNone/>
            </a:pPr>
            <a:r>
              <a:rPr lang="en-US" sz="1100" b="1" dirty="0">
                <a:solidFill>
                  <a:schemeClr val="accent1"/>
                </a:solidFill>
              </a:rPr>
              <a:t>Descrizione (ciò che appare)</a:t>
            </a:r>
            <a:endParaRPr lang="en-US" sz="1100" dirty="0"/>
          </a:p>
        </p:txBody>
      </p:sp>
      <p:sp>
        <p:nvSpPr>
          <p:cNvPr id="13" name="Text 10"/>
          <p:cNvSpPr txBox="1"/>
          <p:nvPr/>
        </p:nvSpPr>
        <p:spPr>
          <a:xfrm>
            <a:off x="658368" y="1435608"/>
            <a:ext cx="3611880" cy="987552"/>
          </a:xfrm>
          <a:prstGeom prst="rect">
            <a:avLst/>
          </a:prstGeom>
          <a:noFill/>
          <a:ln/>
        </p:spPr>
        <p:txBody>
          <a:bodyPr wrap="square" lIns="0" tIns="0" rIns="0" bIns="0" rtlCol="0" anchor="t"/>
          <a:lstStyle/>
          <a:p>
            <a:pPr indent="0" marL="0">
              <a:buNone/>
            </a:pPr>
            <a:r>
              <a:rPr lang="en-US" sz="1300" dirty="0">
                <a:solidFill>
                  <a:schemeClr val="tx1"/>
                </a:solidFill>
              </a:rPr>
              <a:t>Scaffali metallici, alcuni pieni e alcuni vuoti, un carrello elevatore, luce artificiale.</a:t>
            </a:r>
            <a:endParaRPr lang="en-US" sz="1300" dirty="0"/>
          </a:p>
        </p:txBody>
      </p:sp>
      <p:sp>
        <p:nvSpPr>
          <p:cNvPr id="14" name="interpretazioni"/>
          <p:cNvSpPr/>
          <p:nvPr/>
        </p:nvSpPr>
        <p:spPr>
          <a:xfrm>
            <a:off x="4709160" y="1051560"/>
            <a:ext cx="3977640" cy="1463040"/>
          </a:xfrm>
          <a:prstGeom prst="roundRect">
            <a:avLst>
              <a:gd name="adj" fmla="val 5000"/>
            </a:avLst>
          </a:prstGeom>
          <a:solidFill>
            <a:schemeClr val="bg2"/>
          </a:solidFill>
          <a:ln/>
        </p:spPr>
      </p:sp>
      <p:sp>
        <p:nvSpPr>
          <p:cNvPr id="15" name="Text 12"/>
          <p:cNvSpPr txBox="1"/>
          <p:nvPr/>
        </p:nvSpPr>
        <p:spPr>
          <a:xfrm>
            <a:off x="4892040" y="1115568"/>
            <a:ext cx="3657600" cy="274320"/>
          </a:xfrm>
          <a:prstGeom prst="rect">
            <a:avLst/>
          </a:prstGeom>
          <a:noFill/>
          <a:ln/>
        </p:spPr>
        <p:txBody>
          <a:bodyPr wrap="square" lIns="0" tIns="0" rIns="0" bIns="0" rtlCol="0" anchor="t"/>
          <a:lstStyle/>
          <a:p>
            <a:pPr indent="0" marL="0">
              <a:buNone/>
            </a:pPr>
            <a:r>
              <a:rPr lang="en-US" sz="1100" b="1" dirty="0">
                <a:solidFill>
                  <a:schemeClr val="accent5"/>
                </a:solidFill>
              </a:rPr>
              <a:t>Interpretazioni possibili</a:t>
            </a:r>
            <a:endParaRPr lang="en-US" sz="1100" dirty="0"/>
          </a:p>
        </p:txBody>
      </p:sp>
      <p:sp>
        <p:nvSpPr>
          <p:cNvPr id="16" name="Text 13"/>
          <p:cNvSpPr txBox="1"/>
          <p:nvPr/>
        </p:nvSpPr>
        <p:spPr>
          <a:xfrm>
            <a:off x="4892040" y="1417320"/>
            <a:ext cx="3657600" cy="1051560"/>
          </a:xfrm>
          <a:prstGeom prst="rect">
            <a:avLst/>
          </a:prstGeom>
          <a:noFill/>
          <a:ln/>
        </p:spPr>
        <p:txBody>
          <a:bodyPr wrap="square" lIns="0" tIns="0" rIns="0" bIns="0" rtlCol="0" anchor="t"/>
          <a:lstStyle/>
          <a:p>
            <a:pPr marL="177800" indent="-177800">
              <a:spcAft>
                <a:spcPts val="200"/>
              </a:spcAft>
              <a:buSzPct val="100000"/>
              <a:buChar char="•"/>
            </a:pPr>
            <a:r>
              <a:rPr lang="en-US" sz="1200" dirty="0">
                <a:solidFill>
                  <a:schemeClr val="tx1"/>
                </a:solidFill>
              </a:rPr>
              <a:t>Carenza di scorte</a:t>
            </a:r>
            <a:endParaRPr lang="en-US" sz="1200" dirty="0"/>
          </a:p>
          <a:p>
            <a:pPr marL="177800" indent="-177800">
              <a:spcAft>
                <a:spcPts val="200"/>
              </a:spcAft>
              <a:buSzPct val="100000"/>
              <a:buChar char="•"/>
            </a:pPr>
            <a:r>
              <a:rPr lang="en-US" sz="1200" dirty="0">
                <a:solidFill>
                  <a:schemeClr val="tx1"/>
                </a:solidFill>
              </a:rPr>
              <a:t>Area svuotata per un inventario</a:t>
            </a:r>
            <a:endParaRPr lang="en-US" sz="1200" dirty="0"/>
          </a:p>
          <a:p>
            <a:pPr marL="177800" indent="-177800">
              <a:spcAft>
                <a:spcPts val="200"/>
              </a:spcAft>
              <a:buSzPct val="100000"/>
              <a:buChar char="•"/>
            </a:pPr>
            <a:r>
              <a:rPr lang="en-US" sz="1200" dirty="0">
                <a:solidFill>
                  <a:schemeClr val="tx1"/>
                </a:solidFill>
              </a:rPr>
              <a:t>Reparto in riorganizzazione</a:t>
            </a:r>
            <a:endParaRPr lang="en-US" sz="1200" dirty="0"/>
          </a:p>
          <a:p>
            <a:pPr marL="177800" indent="-177800">
              <a:spcAft>
                <a:spcPts val="200"/>
              </a:spcAft>
              <a:buSzPct val="100000"/>
              <a:buChar char="•"/>
            </a:pPr>
            <a:r>
              <a:rPr lang="en-US" sz="1200" dirty="0">
                <a:solidFill>
                  <a:schemeClr val="tx1"/>
                </a:solidFill>
              </a:rPr>
              <a:t>Magazzino nuovo</a:t>
            </a:r>
            <a:endParaRPr lang="en-US" sz="1200" dirty="0"/>
          </a:p>
        </p:txBody>
      </p:sp>
      <p:sp>
        <p:nvSpPr>
          <p:cNvPr id="17" name="Text 14"/>
          <p:cNvSpPr txBox="1"/>
          <p:nvPr/>
        </p:nvSpPr>
        <p:spPr>
          <a:xfrm>
            <a:off x="457200" y="2697480"/>
            <a:ext cx="8229600" cy="301752"/>
          </a:xfrm>
          <a:prstGeom prst="rect">
            <a:avLst/>
          </a:prstGeom>
          <a:noFill/>
          <a:ln/>
        </p:spPr>
        <p:txBody>
          <a:bodyPr wrap="square" lIns="0" tIns="0" rIns="0" bIns="0" rtlCol="0" anchor="t"/>
          <a:lstStyle/>
          <a:p>
            <a:pPr indent="0" marL="0">
              <a:buNone/>
            </a:pPr>
            <a:r>
              <a:rPr lang="en-US" sz="1300" b="1" dirty="0">
                <a:solidFill>
                  <a:schemeClr val="tx1"/>
                </a:solidFill>
              </a:rPr>
              <a:t>Domande a cui l'immagine non risponde</a:t>
            </a:r>
            <a:endParaRPr lang="en-US" sz="1300" dirty="0"/>
          </a:p>
        </p:txBody>
      </p:sp>
      <p:sp>
        <p:nvSpPr>
          <p:cNvPr id="18" name="blocco Che cosa significa?"/>
          <p:cNvSpPr/>
          <p:nvPr/>
        </p:nvSpPr>
        <p:spPr>
          <a:xfrm>
            <a:off x="457200" y="3044952"/>
            <a:ext cx="2651760" cy="502920"/>
          </a:xfrm>
          <a:prstGeom prst="roundRect">
            <a:avLst>
              <a:gd name="adj" fmla="val 21818"/>
            </a:avLst>
          </a:prstGeom>
          <a:solidFill>
            <a:schemeClr val="bg2"/>
          </a:solidFill>
          <a:ln/>
        </p:spPr>
      </p:sp>
      <p:sp>
        <p:nvSpPr>
          <p:cNvPr id="19" name="Text 16"/>
          <p:cNvSpPr txBox="1"/>
          <p:nvPr/>
        </p:nvSpPr>
        <p:spPr>
          <a:xfrm>
            <a:off x="502920" y="3044952"/>
            <a:ext cx="2560320" cy="502920"/>
          </a:xfrm>
          <a:prstGeom prst="rect">
            <a:avLst/>
          </a:prstGeom>
          <a:noFill/>
          <a:ln/>
        </p:spPr>
        <p:txBody>
          <a:bodyPr wrap="square" lIns="0" tIns="0" rIns="0" bIns="0" rtlCol="0" anchor="ctr"/>
          <a:lstStyle/>
          <a:p>
            <a:pPr algn="ctr" indent="0" marL="0">
              <a:buNone/>
            </a:pPr>
            <a:r>
              <a:rPr lang="en-US" sz="1200" b="1" dirty="0">
                <a:solidFill>
                  <a:schemeClr val="tx1"/>
                </a:solidFill>
              </a:rPr>
              <a:t>Che cosa significa?</a:t>
            </a:r>
            <a:endParaRPr lang="en-US" sz="1200" dirty="0"/>
          </a:p>
        </p:txBody>
      </p:sp>
      <p:sp>
        <p:nvSpPr>
          <p:cNvPr id="20" name="blocco Quando è stata scattata?"/>
          <p:cNvSpPr/>
          <p:nvPr/>
        </p:nvSpPr>
        <p:spPr>
          <a:xfrm>
            <a:off x="3246120" y="3044952"/>
            <a:ext cx="2651760" cy="502920"/>
          </a:xfrm>
          <a:prstGeom prst="roundRect">
            <a:avLst>
              <a:gd name="adj" fmla="val 21818"/>
            </a:avLst>
          </a:prstGeom>
          <a:solidFill>
            <a:schemeClr val="bg2"/>
          </a:solidFill>
          <a:ln/>
        </p:spPr>
      </p:sp>
      <p:sp>
        <p:nvSpPr>
          <p:cNvPr id="21" name="Text 18"/>
          <p:cNvSpPr txBox="1"/>
          <p:nvPr/>
        </p:nvSpPr>
        <p:spPr>
          <a:xfrm>
            <a:off x="3291840" y="3044952"/>
            <a:ext cx="2560320" cy="502920"/>
          </a:xfrm>
          <a:prstGeom prst="rect">
            <a:avLst/>
          </a:prstGeom>
          <a:noFill/>
          <a:ln/>
        </p:spPr>
        <p:txBody>
          <a:bodyPr wrap="square" lIns="0" tIns="0" rIns="0" bIns="0" rtlCol="0" anchor="ctr"/>
          <a:lstStyle/>
          <a:p>
            <a:pPr algn="ctr" indent="0" marL="0">
              <a:buNone/>
            </a:pPr>
            <a:r>
              <a:rPr lang="en-US" sz="1200" b="1" dirty="0">
                <a:solidFill>
                  <a:schemeClr val="tx1"/>
                </a:solidFill>
              </a:rPr>
              <a:t>Quando è stata scattata?</a:t>
            </a:r>
            <a:endParaRPr lang="en-US" sz="1200" dirty="0"/>
          </a:p>
        </p:txBody>
      </p:sp>
      <p:sp>
        <p:nvSpPr>
          <p:cNvPr id="22" name="blocco Da dove viene?"/>
          <p:cNvSpPr/>
          <p:nvPr/>
        </p:nvSpPr>
        <p:spPr>
          <a:xfrm>
            <a:off x="6035040" y="3044952"/>
            <a:ext cx="2651760" cy="502920"/>
          </a:xfrm>
          <a:prstGeom prst="roundRect">
            <a:avLst>
              <a:gd name="adj" fmla="val 21818"/>
            </a:avLst>
          </a:prstGeom>
          <a:solidFill>
            <a:schemeClr val="bg2"/>
          </a:solidFill>
          <a:ln/>
        </p:spPr>
      </p:sp>
      <p:sp>
        <p:nvSpPr>
          <p:cNvPr id="23" name="Text 20"/>
          <p:cNvSpPr txBox="1"/>
          <p:nvPr/>
        </p:nvSpPr>
        <p:spPr>
          <a:xfrm>
            <a:off x="6080760" y="3044952"/>
            <a:ext cx="2560320" cy="502920"/>
          </a:xfrm>
          <a:prstGeom prst="rect">
            <a:avLst/>
          </a:prstGeom>
          <a:noFill/>
          <a:ln/>
        </p:spPr>
        <p:txBody>
          <a:bodyPr wrap="square" lIns="0" tIns="0" rIns="0" bIns="0" rtlCol="0" anchor="ctr"/>
          <a:lstStyle/>
          <a:p>
            <a:pPr algn="ctr" indent="0" marL="0">
              <a:buNone/>
            </a:pPr>
            <a:r>
              <a:rPr lang="en-US" sz="1200" b="1" dirty="0">
                <a:solidFill>
                  <a:schemeClr val="tx1"/>
                </a:solidFill>
              </a:rPr>
              <a:t>Da dove viene?</a:t>
            </a:r>
            <a:endParaRPr lang="en-US" sz="1200" dirty="0"/>
          </a:p>
        </p:txBody>
      </p:sp>
      <p:sp>
        <p:nvSpPr>
          <p:cNvPr id="24" name="messaggio"/>
          <p:cNvSpPr/>
          <p:nvPr/>
        </p:nvSpPr>
        <p:spPr>
          <a:xfrm>
            <a:off x="457200" y="3749040"/>
            <a:ext cx="8229600" cy="731520"/>
          </a:xfrm>
          <a:prstGeom prst="roundRect">
            <a:avLst>
              <a:gd name="adj" fmla="val 10000"/>
            </a:avLst>
          </a:prstGeom>
          <a:solidFill>
            <a:schemeClr val="tx1"/>
          </a:solidFill>
          <a:ln/>
        </p:spPr>
      </p:sp>
      <p:sp>
        <p:nvSpPr>
          <p:cNvPr id="25" name="Text 22"/>
          <p:cNvSpPr txBox="1"/>
          <p:nvPr/>
        </p:nvSpPr>
        <p:spPr>
          <a:xfrm>
            <a:off x="640080" y="3749040"/>
            <a:ext cx="7863840" cy="731520"/>
          </a:xfrm>
          <a:prstGeom prst="rect">
            <a:avLst/>
          </a:prstGeom>
          <a:noFill/>
          <a:ln/>
        </p:spPr>
        <p:txBody>
          <a:bodyPr wrap="square" lIns="0" tIns="0" rIns="0" bIns="0" rtlCol="0" anchor="ctr"/>
          <a:lstStyle/>
          <a:p>
            <a:pPr indent="0" marL="0">
              <a:buNone/>
            </a:pPr>
            <a:r>
              <a:rPr lang="en-US" sz="1300" dirty="0">
                <a:solidFill>
                  <a:schemeClr val="bg1"/>
                </a:solidFill>
              </a:rPr>
              <a:t>Ciò che si vede sembra parlare da sé. Ma significato, provenienza e contesto non sono nell'immagine.</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Immagini e persone</a:t>
            </a:r>
            <a:endParaRPr lang="en-US" sz="2600" dirty="0"/>
          </a:p>
        </p:txBody>
      </p:sp>
      <p:sp>
        <p:nvSpPr>
          <p:cNvPr id="4" name="operazione Interpretare"/>
          <p:cNvSpPr/>
          <p:nvPr/>
        </p:nvSpPr>
        <p:spPr>
          <a:xfrm>
            <a:off x="6053328" y="384048"/>
            <a:ext cx="841248" cy="237744"/>
          </a:xfrm>
          <a:prstGeom prst="roundRect">
            <a:avLst>
              <a:gd name="adj" fmla="val 50000"/>
            </a:avLst>
          </a:prstGeom>
          <a:solidFill>
            <a:schemeClr val="accent1"/>
          </a:solidFill>
          <a:ln w="9525">
            <a:solidFill>
              <a:schemeClr val="accent1"/>
            </a:solidFill>
            <a:prstDash val="solid"/>
          </a:ln>
        </p:spPr>
      </p:sp>
      <p:sp>
        <p:nvSpPr>
          <p:cNvPr id="5" name="Text 2"/>
          <p:cNvSpPr txBox="1"/>
          <p:nvPr/>
        </p:nvSpPr>
        <p:spPr>
          <a:xfrm>
            <a:off x="6053328" y="384048"/>
            <a:ext cx="841248" cy="237744"/>
          </a:xfrm>
          <a:prstGeom prst="rect">
            <a:avLst/>
          </a:prstGeom>
          <a:noFill/>
          <a:ln/>
        </p:spPr>
        <p:txBody>
          <a:bodyPr wrap="square" lIns="0" tIns="0" rIns="0" bIns="0" rtlCol="0" anchor="ctr"/>
          <a:lstStyle/>
          <a:p>
            <a:pPr algn="ctr" indent="0" marL="0">
              <a:buNone/>
            </a:pPr>
            <a:r>
              <a:rPr lang="en-US" sz="900" b="1" dirty="0">
                <a:solidFill>
                  <a:schemeClr val="bg1"/>
                </a:solidFill>
              </a:rPr>
              <a:t>Interpretare</a:t>
            </a:r>
            <a:endParaRPr lang="en-US" sz="900" dirty="0"/>
          </a:p>
        </p:txBody>
      </p:sp>
      <p:sp>
        <p:nvSpPr>
          <p:cNvPr id="6" name="operazione Generare"/>
          <p:cNvSpPr/>
          <p:nvPr/>
        </p:nvSpPr>
        <p:spPr>
          <a:xfrm>
            <a:off x="6940296" y="384048"/>
            <a:ext cx="841248"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940296" y="384048"/>
            <a:ext cx="841248" cy="237744"/>
          </a:xfrm>
          <a:prstGeom prst="rect">
            <a:avLst/>
          </a:prstGeom>
          <a:noFill/>
          <a:ln/>
        </p:spPr>
        <p:txBody>
          <a:bodyPr wrap="square" lIns="0" tIns="0" rIns="0" bIns="0" rtlCol="0" anchor="ctr"/>
          <a:lstStyle/>
          <a:p>
            <a:pPr algn="ctr" indent="0" marL="0">
              <a:buNone/>
            </a:pPr>
            <a:r>
              <a:rPr lang="en-US" sz="900" b="1" dirty="0">
                <a:solidFill>
                  <a:schemeClr val="accent1"/>
                </a:solidFill>
              </a:rPr>
              <a:t>Generare</a:t>
            </a:r>
            <a:endParaRPr lang="en-US" sz="900" dirty="0"/>
          </a:p>
        </p:txBody>
      </p:sp>
      <p:sp>
        <p:nvSpPr>
          <p:cNvPr id="8" name="operazione Trasformare"/>
          <p:cNvSpPr/>
          <p:nvPr/>
        </p:nvSpPr>
        <p:spPr>
          <a:xfrm>
            <a:off x="7827264" y="384048"/>
            <a:ext cx="841248"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827264" y="384048"/>
            <a:ext cx="841248" cy="237744"/>
          </a:xfrm>
          <a:prstGeom prst="rect">
            <a:avLst/>
          </a:prstGeom>
          <a:noFill/>
          <a:ln/>
        </p:spPr>
        <p:txBody>
          <a:bodyPr wrap="square" lIns="0" tIns="0" rIns="0" bIns="0" rtlCol="0" anchor="ctr"/>
          <a:lstStyle/>
          <a:p>
            <a:pPr algn="ctr" indent="0" marL="0">
              <a:buNone/>
            </a:pPr>
            <a:r>
              <a:rPr lang="en-US" sz="900" b="1" dirty="0">
                <a:solidFill>
                  <a:schemeClr val="accent1"/>
                </a:solidFill>
              </a:rPr>
              <a:t>Trasformare</a:t>
            </a:r>
            <a:endParaRPr lang="en-US" sz="900" dirty="0"/>
          </a:p>
        </p:txBody>
      </p:sp>
      <p:sp>
        <p:nvSpPr>
          <p:cNvPr id="10" name="Dati personali"/>
          <p:cNvSpPr/>
          <p:nvPr/>
        </p:nvSpPr>
        <p:spPr>
          <a:xfrm>
            <a:off x="457200" y="1097280"/>
            <a:ext cx="2621280" cy="1920240"/>
          </a:xfrm>
          <a:prstGeom prst="roundRect">
            <a:avLst>
              <a:gd name="adj" fmla="val 3810"/>
            </a:avLst>
          </a:prstGeom>
          <a:solidFill>
            <a:schemeClr val="bg2"/>
          </a:solidFill>
          <a:ln/>
        </p:spPr>
      </p:sp>
      <p:sp>
        <p:nvSpPr>
          <p:cNvPr id="11" name="cerchio FiUser"/>
          <p:cNvSpPr/>
          <p:nvPr/>
        </p:nvSpPr>
        <p:spPr>
          <a:xfrm>
            <a:off x="621792" y="1261872"/>
            <a:ext cx="438912" cy="438912"/>
          </a:xfrm>
          <a:prstGeom prst="ellipse">
            <a:avLst/>
          </a:prstGeom>
          <a:solidFill>
            <a:schemeClr val="accent1"/>
          </a:solidFill>
          <a:ln/>
        </p:spPr>
      </p:sp>
      <p:pic>
        <p:nvPicPr>
          <p:cNvPr id="12" name="Image 0" descr="FiUser">    </p:cNvPr>
          <p:cNvPicPr>
            <a:picLocks noChangeAspect="1"/>
          </p:cNvPicPr>
          <p:nvPr/>
        </p:nvPicPr>
        <p:blipFill>
          <a:blip r:embed="rId1"/>
          <a:stretch>
            <a:fillRect/>
          </a:stretch>
        </p:blipFill>
        <p:spPr>
          <a:xfrm>
            <a:off x="731520" y="1371600"/>
            <a:ext cx="219456" cy="219456"/>
          </a:xfrm>
          <a:prstGeom prst="rect">
            <a:avLst/>
          </a:prstGeom>
        </p:spPr>
      </p:pic>
      <p:sp>
        <p:nvSpPr>
          <p:cNvPr id="13" name="Text 9"/>
          <p:cNvSpPr txBox="1"/>
          <p:nvPr/>
        </p:nvSpPr>
        <p:spPr>
          <a:xfrm>
            <a:off x="1170432" y="1225296"/>
            <a:ext cx="1798320" cy="512064"/>
          </a:xfrm>
          <a:prstGeom prst="rect">
            <a:avLst/>
          </a:prstGeom>
          <a:noFill/>
          <a:ln/>
        </p:spPr>
        <p:txBody>
          <a:bodyPr wrap="square" lIns="0" tIns="0" rIns="0" bIns="0" rtlCol="0" anchor="ctr"/>
          <a:lstStyle/>
          <a:p>
            <a:pPr indent="0" marL="0">
              <a:buNone/>
            </a:pPr>
            <a:r>
              <a:rPr lang="en-US" sz="1400" b="1" dirty="0">
                <a:solidFill>
                  <a:schemeClr val="tx1"/>
                </a:solidFill>
              </a:rPr>
              <a:t>Dati personali</a:t>
            </a:r>
            <a:endParaRPr lang="en-US" sz="1400" dirty="0"/>
          </a:p>
        </p:txBody>
      </p:sp>
      <p:sp>
        <p:nvSpPr>
          <p:cNvPr id="14" name="Text 10"/>
          <p:cNvSpPr txBox="1"/>
          <p:nvPr/>
        </p:nvSpPr>
        <p:spPr>
          <a:xfrm>
            <a:off x="621792" y="1810512"/>
            <a:ext cx="2292096" cy="1115568"/>
          </a:xfrm>
          <a:prstGeom prst="rect">
            <a:avLst/>
          </a:prstGeom>
          <a:noFill/>
          <a:ln/>
        </p:spPr>
        <p:txBody>
          <a:bodyPr wrap="square" lIns="0" tIns="0" rIns="0" bIns="0" rtlCol="0" anchor="t"/>
          <a:lstStyle/>
          <a:p>
            <a:pPr indent="0" marL="0">
              <a:buNone/>
            </a:pPr>
            <a:r>
              <a:rPr lang="en-US" sz="1200" dirty="0">
                <a:solidFill>
                  <a:schemeClr val="tx2"/>
                </a:solidFill>
              </a:rPr>
              <a:t>Volti e immagini sono dati personali: solo strumenti autorizzati, finalità legittime</a:t>
            </a:r>
            <a:endParaRPr lang="en-US" sz="1200" dirty="0"/>
          </a:p>
        </p:txBody>
      </p:sp>
      <p:sp>
        <p:nvSpPr>
          <p:cNvPr id="15" name="Identificazione"/>
          <p:cNvSpPr/>
          <p:nvPr/>
        </p:nvSpPr>
        <p:spPr>
          <a:xfrm>
            <a:off x="3261360" y="1097280"/>
            <a:ext cx="2621280" cy="1920240"/>
          </a:xfrm>
          <a:prstGeom prst="roundRect">
            <a:avLst>
              <a:gd name="adj" fmla="val 3810"/>
            </a:avLst>
          </a:prstGeom>
          <a:solidFill>
            <a:schemeClr val="bg2"/>
          </a:solidFill>
          <a:ln/>
        </p:spPr>
      </p:sp>
      <p:sp>
        <p:nvSpPr>
          <p:cNvPr id="16" name="cerchio FiUserX"/>
          <p:cNvSpPr/>
          <p:nvPr/>
        </p:nvSpPr>
        <p:spPr>
          <a:xfrm>
            <a:off x="3425952" y="1261872"/>
            <a:ext cx="438912" cy="438912"/>
          </a:xfrm>
          <a:prstGeom prst="ellipse">
            <a:avLst/>
          </a:prstGeom>
          <a:solidFill>
            <a:schemeClr val="accent1"/>
          </a:solidFill>
          <a:ln/>
        </p:spPr>
      </p:sp>
      <p:pic>
        <p:nvPicPr>
          <p:cNvPr id="17" name="Image 1" descr="FiUserX">    </p:cNvPr>
          <p:cNvPicPr>
            <a:picLocks noChangeAspect="1"/>
          </p:cNvPicPr>
          <p:nvPr/>
        </p:nvPicPr>
        <p:blipFill>
          <a:blip r:embed="rId2"/>
          <a:stretch>
            <a:fillRect/>
          </a:stretch>
        </p:blipFill>
        <p:spPr>
          <a:xfrm>
            <a:off x="3535680" y="1371600"/>
            <a:ext cx="219456" cy="219456"/>
          </a:xfrm>
          <a:prstGeom prst="rect">
            <a:avLst/>
          </a:prstGeom>
        </p:spPr>
      </p:pic>
      <p:sp>
        <p:nvSpPr>
          <p:cNvPr id="18" name="Text 13"/>
          <p:cNvSpPr txBox="1"/>
          <p:nvPr/>
        </p:nvSpPr>
        <p:spPr>
          <a:xfrm>
            <a:off x="3974592" y="1225296"/>
            <a:ext cx="1798320" cy="512064"/>
          </a:xfrm>
          <a:prstGeom prst="rect">
            <a:avLst/>
          </a:prstGeom>
          <a:noFill/>
          <a:ln/>
        </p:spPr>
        <p:txBody>
          <a:bodyPr wrap="square" lIns="0" tIns="0" rIns="0" bIns="0" rtlCol="0" anchor="ctr"/>
          <a:lstStyle/>
          <a:p>
            <a:pPr indent="0" marL="0">
              <a:buNone/>
            </a:pPr>
            <a:r>
              <a:rPr lang="en-US" sz="1400" b="1" dirty="0">
                <a:solidFill>
                  <a:schemeClr val="tx1"/>
                </a:solidFill>
              </a:rPr>
              <a:t>Identificazione</a:t>
            </a:r>
            <a:endParaRPr lang="en-US" sz="1400" dirty="0"/>
          </a:p>
        </p:txBody>
      </p:sp>
      <p:sp>
        <p:nvSpPr>
          <p:cNvPr id="19" name="Text 14"/>
          <p:cNvSpPr txBox="1"/>
          <p:nvPr/>
        </p:nvSpPr>
        <p:spPr>
          <a:xfrm>
            <a:off x="3425952" y="1810512"/>
            <a:ext cx="2292096" cy="1115568"/>
          </a:xfrm>
          <a:prstGeom prst="rect">
            <a:avLst/>
          </a:prstGeom>
          <a:noFill/>
          <a:ln/>
        </p:spPr>
        <p:txBody>
          <a:bodyPr wrap="square" lIns="0" tIns="0" rIns="0" bIns="0" rtlCol="0" anchor="t"/>
          <a:lstStyle/>
          <a:p>
            <a:pPr indent="0" marL="0">
              <a:buNone/>
            </a:pPr>
            <a:r>
              <a:rPr lang="en-US" sz="1200" dirty="0">
                <a:solidFill>
                  <a:schemeClr val="tx2"/>
                </a:solidFill>
              </a:rPr>
              <a:t>Molti strumenti non identificano dal volto; limiti normativi specifici</a:t>
            </a:r>
            <a:endParaRPr lang="en-US" sz="1200" dirty="0"/>
          </a:p>
        </p:txBody>
      </p:sp>
      <p:sp>
        <p:nvSpPr>
          <p:cNvPr id="20" name="Inferenze sulle persone"/>
          <p:cNvSpPr/>
          <p:nvPr/>
        </p:nvSpPr>
        <p:spPr>
          <a:xfrm>
            <a:off x="6065520" y="1097280"/>
            <a:ext cx="2621280" cy="1920240"/>
          </a:xfrm>
          <a:prstGeom prst="roundRect">
            <a:avLst>
              <a:gd name="adj" fmla="val 3810"/>
            </a:avLst>
          </a:prstGeom>
          <a:solidFill>
            <a:schemeClr val="bg2"/>
          </a:solidFill>
          <a:ln/>
        </p:spPr>
      </p:sp>
      <p:sp>
        <p:nvSpPr>
          <p:cNvPr id="21" name="cerchio FiAlertTriangle"/>
          <p:cNvSpPr/>
          <p:nvPr/>
        </p:nvSpPr>
        <p:spPr>
          <a:xfrm>
            <a:off x="6230112" y="1261872"/>
            <a:ext cx="438912" cy="438912"/>
          </a:xfrm>
          <a:prstGeom prst="ellipse">
            <a:avLst/>
          </a:prstGeom>
          <a:solidFill>
            <a:schemeClr val="accent1"/>
          </a:solidFill>
          <a:ln/>
        </p:spPr>
      </p:sp>
      <p:pic>
        <p:nvPicPr>
          <p:cNvPr id="22" name="Image 2" descr="FiAlertTriangle">    </p:cNvPr>
          <p:cNvPicPr>
            <a:picLocks noChangeAspect="1"/>
          </p:cNvPicPr>
          <p:nvPr/>
        </p:nvPicPr>
        <p:blipFill>
          <a:blip r:embed="rId3"/>
          <a:stretch>
            <a:fillRect/>
          </a:stretch>
        </p:blipFill>
        <p:spPr>
          <a:xfrm>
            <a:off x="6339840" y="1371600"/>
            <a:ext cx="219456" cy="219456"/>
          </a:xfrm>
          <a:prstGeom prst="rect">
            <a:avLst/>
          </a:prstGeom>
        </p:spPr>
      </p:pic>
      <p:sp>
        <p:nvSpPr>
          <p:cNvPr id="23" name="Text 17"/>
          <p:cNvSpPr txBox="1"/>
          <p:nvPr/>
        </p:nvSpPr>
        <p:spPr>
          <a:xfrm>
            <a:off x="6778752" y="1225296"/>
            <a:ext cx="1798320" cy="512064"/>
          </a:xfrm>
          <a:prstGeom prst="rect">
            <a:avLst/>
          </a:prstGeom>
          <a:noFill/>
          <a:ln/>
        </p:spPr>
        <p:txBody>
          <a:bodyPr wrap="square" lIns="0" tIns="0" rIns="0" bIns="0" rtlCol="0" anchor="ctr"/>
          <a:lstStyle/>
          <a:p>
            <a:pPr indent="0" marL="0">
              <a:buNone/>
            </a:pPr>
            <a:r>
              <a:rPr lang="en-US" sz="1400" b="1" dirty="0">
                <a:solidFill>
                  <a:schemeClr val="tx1"/>
                </a:solidFill>
              </a:rPr>
              <a:t>Inferenze sulle persone</a:t>
            </a:r>
            <a:endParaRPr lang="en-US" sz="1400" dirty="0"/>
          </a:p>
        </p:txBody>
      </p:sp>
      <p:sp>
        <p:nvSpPr>
          <p:cNvPr id="24" name="Text 18"/>
          <p:cNvSpPr txBox="1"/>
          <p:nvPr/>
        </p:nvSpPr>
        <p:spPr>
          <a:xfrm>
            <a:off x="6230112" y="1810512"/>
            <a:ext cx="2292096" cy="1115568"/>
          </a:xfrm>
          <a:prstGeom prst="rect">
            <a:avLst/>
          </a:prstGeom>
          <a:noFill/>
          <a:ln/>
        </p:spPr>
        <p:txBody>
          <a:bodyPr wrap="square" lIns="0" tIns="0" rIns="0" bIns="0" rtlCol="0" anchor="t"/>
          <a:lstStyle/>
          <a:p>
            <a:pPr indent="0" marL="0">
              <a:buNone/>
            </a:pPr>
            <a:r>
              <a:rPr lang="en-US" sz="1200" dirty="0">
                <a:solidFill>
                  <a:schemeClr val="tx2"/>
                </a:solidFill>
              </a:rPr>
              <a:t>Età, stato d'animo, intenzioni: stime incerte, rischio di stereotipi</a:t>
            </a:r>
            <a:endParaRPr lang="en-US" sz="1200" dirty="0"/>
          </a:p>
        </p:txBody>
      </p:sp>
      <p:sp>
        <p:nvSpPr>
          <p:cNvPr id="25" name="messaggio"/>
          <p:cNvSpPr/>
          <p:nvPr/>
        </p:nvSpPr>
        <p:spPr>
          <a:xfrm>
            <a:off x="457200" y="3246120"/>
            <a:ext cx="8229600" cy="685800"/>
          </a:xfrm>
          <a:prstGeom prst="roundRect">
            <a:avLst>
              <a:gd name="adj" fmla="val 10667"/>
            </a:avLst>
          </a:prstGeom>
          <a:solidFill>
            <a:schemeClr val="tx1"/>
          </a:solidFill>
          <a:ln/>
        </p:spPr>
      </p:sp>
      <p:sp>
        <p:nvSpPr>
          <p:cNvPr id="26" name="Text 20"/>
          <p:cNvSpPr txBox="1"/>
          <p:nvPr/>
        </p:nvSpPr>
        <p:spPr>
          <a:xfrm>
            <a:off x="640080" y="3246120"/>
            <a:ext cx="7863840" cy="685800"/>
          </a:xfrm>
          <a:prstGeom prst="rect">
            <a:avLst/>
          </a:prstGeom>
          <a:noFill/>
          <a:ln/>
        </p:spPr>
        <p:txBody>
          <a:bodyPr wrap="square" lIns="0" tIns="0" rIns="0" bIns="0" rtlCol="0" anchor="ctr"/>
          <a:lstStyle/>
          <a:p>
            <a:pPr indent="0" marL="0">
              <a:buNone/>
            </a:pPr>
            <a:r>
              <a:rPr lang="en-US" sz="1500" dirty="0">
                <a:solidFill>
                  <a:schemeClr val="bg1"/>
                </a:solidFill>
              </a:rPr>
              <a:t>Descrivere una scena è una cosa; giudicare le persone che vi compaiono è un'altra.</a:t>
            </a:r>
            <a:endParaRPr lang="en-US" sz="1500" dirty="0"/>
          </a:p>
        </p:txBody>
      </p:sp>
      <p:sp>
        <p:nvSpPr>
          <p:cNvPr id="27" name="Text 21"/>
          <p:cNvSpPr txBox="1"/>
          <p:nvPr/>
        </p:nvSpPr>
        <p:spPr>
          <a:xfrm>
            <a:off x="457200" y="4069080"/>
            <a:ext cx="8229600" cy="320040"/>
          </a:xfrm>
          <a:prstGeom prst="rect">
            <a:avLst/>
          </a:prstGeom>
          <a:noFill/>
          <a:ln/>
        </p:spPr>
        <p:txBody>
          <a:bodyPr wrap="square" lIns="0" tIns="0" rIns="0" bIns="0" rtlCol="0" anchor="t"/>
          <a:lstStyle/>
          <a:p>
            <a:pPr indent="0" marL="0">
              <a:buNone/>
            </a:pPr>
            <a:r>
              <a:rPr lang="en-US" sz="1200" i="1" dirty="0">
                <a:solidFill>
                  <a:schemeClr val="tx2"/>
                </a:solidFill>
              </a:rPr>
              <a:t>Volti e inferenze sulle persone sono soggetti a regole specifiche: in caso di dubbio, chiedere prima.</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body" hasCustomPrompt="1"/>
          </p:nvPr>
        </p:nvSpPr>
        <p:spPr>
          <a:xfrm>
            <a:off x="822960" y="1600200"/>
            <a:ext cx="7498080" cy="2011680"/>
          </a:xfrm>
          <a:prstGeom prst="rect">
            <a:avLst/>
          </a:prstGeom>
          <a:noFill/>
          <a:ln/>
        </p:spPr>
        <p:txBody>
          <a:bodyPr wrap="square" lIns="0" tIns="0" rIns="0" bIns="0" rtlCol="0" anchor="t"/>
          <a:lstStyle/>
          <a:p>
            <a:pPr indent="0" marL="0">
              <a:buNone/>
            </a:pPr>
            <a:r>
              <a:rPr lang="en-US" sz="2600" dirty="0">
                <a:solidFill>
                  <a:schemeClr val="bg1"/>
                </a:solidFill>
              </a:rPr>
              <a:t>Descrivere ciò che appare in un'immagine non equivale a comprenderne necessariamente il significato, la provenienza o il contesto.</a:t>
            </a:r>
            <a:endParaRPr lang="en-US" sz="2600" dirty="0"/>
          </a:p>
        </p:txBody>
      </p:sp>
      <p:sp>
        <p:nvSpPr>
          <p:cNvPr id="3" name="Text 1"/>
          <p:cNvSpPr/>
          <p:nvPr>
            <p:ph idx="102" type="body" hasCustomPrompt="1"/>
          </p:nvPr>
        </p:nvSpPr>
        <p:spPr>
          <a:xfrm>
            <a:off x="822960" y="3794760"/>
            <a:ext cx="7498080" cy="365760"/>
          </a:xfrm>
          <a:prstGeom prst="rect">
            <a:avLst/>
          </a:prstGeom>
          <a:noFill/>
          <a:ln/>
        </p:spPr>
        <p:txBody>
          <a:bodyPr wrap="square" lIns="0" tIns="0" rIns="0" bIns="0" rtlCol="0"/>
          <a:lstStyle/>
          <a:p>
            <a:pPr indent="0" marL="0">
              <a:buNone/>
            </a:pPr>
            <a:r>
              <a:rPr lang="en-US" sz="1300" dirty="0">
                <a:solidFill>
                  <a:schemeClr val="accent3"/>
                </a:solidFill>
              </a:rPr>
              <a:t>Sottotema 10.2  ·  Comprensione e analisi delle immagini</a:t>
            </a:r>
            <a:endParaRPr lang="en-US" sz="13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640080" y="914400"/>
            <a:ext cx="3657600" cy="1005840"/>
          </a:xfrm>
          <a:prstGeom prst="rect">
            <a:avLst/>
          </a:prstGeom>
          <a:noFill/>
          <a:ln/>
        </p:spPr>
        <p:txBody>
          <a:bodyPr wrap="square" lIns="0" tIns="0" rIns="0" bIns="0" rtlCol="0" anchor="b"/>
          <a:lstStyle/>
          <a:p>
            <a:pPr indent="0" marL="0">
              <a:buNone/>
            </a:pPr>
            <a:r>
              <a:rPr lang="en-US" sz="6000" b="1" dirty="0">
                <a:solidFill>
                  <a:schemeClr val="accent1"/>
                </a:solidFill>
              </a:rPr>
              <a:t>10.3</a:t>
            </a:r>
            <a:endParaRPr lang="en-US" sz="6000" dirty="0"/>
          </a:p>
        </p:txBody>
      </p:sp>
      <p:sp>
        <p:nvSpPr>
          <p:cNvPr id="3" name="Text 0"/>
          <p:cNvSpPr/>
          <p:nvPr>
            <p:ph idx="101" type="title" hasCustomPrompt="1"/>
          </p:nvPr>
        </p:nvSpPr>
        <p:spPr>
          <a:xfrm>
            <a:off x="640080" y="2057400"/>
            <a:ext cx="7863840" cy="914400"/>
          </a:xfrm>
          <a:prstGeom prst="rect">
            <a:avLst/>
          </a:prstGeom>
          <a:noFill/>
          <a:ln/>
        </p:spPr>
        <p:txBody>
          <a:bodyPr wrap="square" lIns="0" tIns="0" rIns="0" bIns="0" rtlCol="0" anchor="t"/>
          <a:lstStyle/>
          <a:p>
            <a:pPr algn="l" indent="0" marL="0">
              <a:buNone/>
            </a:pPr>
            <a:r>
              <a:rPr lang="en-US" sz="3200" b="1" dirty="0">
                <a:solidFill>
                  <a:schemeClr val="bg1"/>
                </a:solidFill>
              </a:rPr>
              <a:t>Generazione e trasformazione delle immagini</a:t>
            </a:r>
            <a:endParaRPr lang="en-US" sz="3200" dirty="0"/>
          </a:p>
        </p:txBody>
      </p:sp>
      <p:sp>
        <p:nvSpPr>
          <p:cNvPr id="4" name="Text 0"/>
          <p:cNvSpPr/>
          <p:nvPr>
            <p:ph idx="102" type="body" hasCustomPrompt="1"/>
          </p:nvPr>
        </p:nvSpPr>
        <p:spPr>
          <a:xfrm>
            <a:off x="640080" y="3063240"/>
            <a:ext cx="7315200" cy="1097280"/>
          </a:xfrm>
          <a:prstGeom prst="rect">
            <a:avLst/>
          </a:prstGeom>
          <a:noFill/>
          <a:ln/>
        </p:spPr>
        <p:txBody>
          <a:bodyPr wrap="square" lIns="0" tIns="0" rIns="0" bIns="0" rtlCol="0" anchor="t"/>
          <a:lstStyle/>
          <a:p>
            <a:pPr indent="0" marL="0">
              <a:buNone/>
            </a:pPr>
            <a:r>
              <a:rPr lang="en-US" sz="1600" dirty="0">
                <a:solidFill>
                  <a:schemeClr val="accent3"/>
                </a:solidFill>
              </a:rPr>
              <a:t>La generazione visiva accelera l'esplorazione creativa, ma non garantisce controllo completo e conformità</a:t>
            </a:r>
            <a:endParaRPr lang="en-US"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Dalla descrizione all'immagine</a:t>
            </a:r>
            <a:endParaRPr lang="en-US" sz="2600" dirty="0"/>
          </a:p>
        </p:txBody>
      </p:sp>
      <p:sp>
        <p:nvSpPr>
          <p:cNvPr id="4" name="operazione Interpretare"/>
          <p:cNvSpPr/>
          <p:nvPr/>
        </p:nvSpPr>
        <p:spPr>
          <a:xfrm>
            <a:off x="6053328" y="384048"/>
            <a:ext cx="841248"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6053328" y="384048"/>
            <a:ext cx="841248" cy="237744"/>
          </a:xfrm>
          <a:prstGeom prst="rect">
            <a:avLst/>
          </a:prstGeom>
          <a:noFill/>
          <a:ln/>
        </p:spPr>
        <p:txBody>
          <a:bodyPr wrap="square" lIns="0" tIns="0" rIns="0" bIns="0" rtlCol="0" anchor="ctr"/>
          <a:lstStyle/>
          <a:p>
            <a:pPr algn="ctr" indent="0" marL="0">
              <a:buNone/>
            </a:pPr>
            <a:r>
              <a:rPr lang="en-US" sz="900" b="1" dirty="0">
                <a:solidFill>
                  <a:schemeClr val="accent1"/>
                </a:solidFill>
              </a:rPr>
              <a:t>Interpretare</a:t>
            </a:r>
            <a:endParaRPr lang="en-US" sz="900" dirty="0"/>
          </a:p>
        </p:txBody>
      </p:sp>
      <p:sp>
        <p:nvSpPr>
          <p:cNvPr id="6" name="operazione Generare"/>
          <p:cNvSpPr/>
          <p:nvPr/>
        </p:nvSpPr>
        <p:spPr>
          <a:xfrm>
            <a:off x="6940296" y="384048"/>
            <a:ext cx="841248"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940296" y="384048"/>
            <a:ext cx="841248" cy="237744"/>
          </a:xfrm>
          <a:prstGeom prst="rect">
            <a:avLst/>
          </a:prstGeom>
          <a:noFill/>
          <a:ln/>
        </p:spPr>
        <p:txBody>
          <a:bodyPr wrap="square" lIns="0" tIns="0" rIns="0" bIns="0" rtlCol="0" anchor="ctr"/>
          <a:lstStyle/>
          <a:p>
            <a:pPr algn="ctr" indent="0" marL="0">
              <a:buNone/>
            </a:pPr>
            <a:r>
              <a:rPr lang="en-US" sz="900" b="1" dirty="0">
                <a:solidFill>
                  <a:schemeClr val="bg1"/>
                </a:solidFill>
              </a:rPr>
              <a:t>Generare</a:t>
            </a:r>
            <a:endParaRPr lang="en-US" sz="900" dirty="0"/>
          </a:p>
        </p:txBody>
      </p:sp>
      <p:sp>
        <p:nvSpPr>
          <p:cNvPr id="8" name="operazione Trasformare"/>
          <p:cNvSpPr/>
          <p:nvPr/>
        </p:nvSpPr>
        <p:spPr>
          <a:xfrm>
            <a:off x="7827264" y="384048"/>
            <a:ext cx="841248"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827264" y="384048"/>
            <a:ext cx="841248" cy="237744"/>
          </a:xfrm>
          <a:prstGeom prst="rect">
            <a:avLst/>
          </a:prstGeom>
          <a:noFill/>
          <a:ln/>
        </p:spPr>
        <p:txBody>
          <a:bodyPr wrap="square" lIns="0" tIns="0" rIns="0" bIns="0" rtlCol="0" anchor="ctr"/>
          <a:lstStyle/>
          <a:p>
            <a:pPr algn="ctr" indent="0" marL="0">
              <a:buNone/>
            </a:pPr>
            <a:r>
              <a:rPr lang="en-US" sz="900" b="1" dirty="0">
                <a:solidFill>
                  <a:schemeClr val="accent1"/>
                </a:solidFill>
              </a:rPr>
              <a:t>Trasformare</a:t>
            </a:r>
            <a:endParaRPr lang="en-US" sz="900" dirty="0"/>
          </a:p>
        </p:txBody>
      </p:sp>
      <p:sp>
        <p:nvSpPr>
          <p:cNvPr id="10" name="riquadro Una descrizione può indicare"/>
          <p:cNvSpPr/>
          <p:nvPr/>
        </p:nvSpPr>
        <p:spPr>
          <a:xfrm>
            <a:off x="457200" y="1051560"/>
            <a:ext cx="3977640" cy="1508760"/>
          </a:xfrm>
          <a:prstGeom prst="roundRect">
            <a:avLst>
              <a:gd name="adj" fmla="val 4848"/>
            </a:avLst>
          </a:prstGeom>
          <a:solidFill>
            <a:schemeClr val="bg2"/>
          </a:solidFill>
          <a:ln/>
        </p:spPr>
      </p:sp>
      <p:sp>
        <p:nvSpPr>
          <p:cNvPr id="11" name="barra"/>
          <p:cNvSpPr/>
          <p:nvPr/>
        </p:nvSpPr>
        <p:spPr>
          <a:xfrm>
            <a:off x="457200" y="1161288"/>
            <a:ext cx="54864" cy="1289304"/>
          </a:xfrm>
          <a:prstGeom prst="rect">
            <a:avLst/>
          </a:prstGeom>
          <a:solidFill>
            <a:schemeClr val="accent1"/>
          </a:solidFill>
          <a:ln/>
        </p:spPr>
      </p:sp>
      <p:sp>
        <p:nvSpPr>
          <p:cNvPr id="12" name="Text 9"/>
          <p:cNvSpPr txBox="1"/>
          <p:nvPr/>
        </p:nvSpPr>
        <p:spPr>
          <a:xfrm>
            <a:off x="658368" y="1143000"/>
            <a:ext cx="3611880" cy="256032"/>
          </a:xfrm>
          <a:prstGeom prst="rect">
            <a:avLst/>
          </a:prstGeom>
          <a:noFill/>
          <a:ln/>
        </p:spPr>
        <p:txBody>
          <a:bodyPr wrap="square" lIns="0" tIns="0" rIns="0" bIns="0" rtlCol="0" anchor="t"/>
          <a:lstStyle/>
          <a:p>
            <a:pPr indent="0" marL="0">
              <a:buNone/>
            </a:pPr>
            <a:r>
              <a:rPr lang="en-US" sz="1100" b="1" dirty="0">
                <a:solidFill>
                  <a:schemeClr val="accent1"/>
                </a:solidFill>
              </a:rPr>
              <a:t>Una descrizione può indicare</a:t>
            </a:r>
            <a:endParaRPr lang="en-US" sz="1100" dirty="0"/>
          </a:p>
        </p:txBody>
      </p:sp>
      <p:sp>
        <p:nvSpPr>
          <p:cNvPr id="13" name="Text 10"/>
          <p:cNvSpPr txBox="1"/>
          <p:nvPr/>
        </p:nvSpPr>
        <p:spPr>
          <a:xfrm>
            <a:off x="658368" y="1435608"/>
            <a:ext cx="3611880" cy="1033272"/>
          </a:xfrm>
          <a:prstGeom prst="rect">
            <a:avLst/>
          </a:prstGeom>
          <a:noFill/>
          <a:ln/>
        </p:spPr>
        <p:txBody>
          <a:bodyPr wrap="square" lIns="0" tIns="0" rIns="0" bIns="0" rtlCol="0" anchor="t"/>
          <a:lstStyle/>
          <a:p>
            <a:pPr indent="0" marL="0">
              <a:buNone/>
            </a:pPr>
            <a:r>
              <a:rPr lang="en-US" sz="1300" dirty="0">
                <a:solidFill>
                  <a:schemeClr val="tx1"/>
                </a:solidFill>
              </a:rPr>
              <a:t>Soggetto, composizione, stile, colori, atmosfera, formato.</a:t>
            </a:r>
            <a:endParaRPr lang="en-US" sz="1300" dirty="0"/>
          </a:p>
        </p:txBody>
      </p:sp>
      <p:sp>
        <p:nvSpPr>
          <p:cNvPr id="14" name="scheda Non determina l'immagine"/>
          <p:cNvSpPr/>
          <p:nvPr/>
        </p:nvSpPr>
        <p:spPr>
          <a:xfrm>
            <a:off x="4709160" y="1051560"/>
            <a:ext cx="3977640" cy="1508760"/>
          </a:xfrm>
          <a:prstGeom prst="roundRect">
            <a:avLst>
              <a:gd name="adj" fmla="val 4848"/>
            </a:avLst>
          </a:prstGeom>
          <a:solidFill>
            <a:schemeClr val="accent6"/>
          </a:solidFill>
          <a:ln/>
        </p:spPr>
      </p:sp>
      <p:sp>
        <p:nvSpPr>
          <p:cNvPr id="15" name="cerchio FiShuffle"/>
          <p:cNvSpPr/>
          <p:nvPr/>
        </p:nvSpPr>
        <p:spPr>
          <a:xfrm>
            <a:off x="4892040" y="1234440"/>
            <a:ext cx="457200" cy="457200"/>
          </a:xfrm>
          <a:prstGeom prst="ellipse">
            <a:avLst/>
          </a:prstGeom>
          <a:solidFill>
            <a:schemeClr val="accent1"/>
          </a:solidFill>
          <a:ln/>
        </p:spPr>
      </p:sp>
      <p:pic>
        <p:nvPicPr>
          <p:cNvPr id="16" name="Image 0" descr="FiShuffle">    </p:cNvPr>
          <p:cNvPicPr>
            <a:picLocks noChangeAspect="1"/>
          </p:cNvPicPr>
          <p:nvPr/>
        </p:nvPicPr>
        <p:blipFill>
          <a:blip r:embed="rId1"/>
          <a:stretch>
            <a:fillRect/>
          </a:stretch>
        </p:blipFill>
        <p:spPr>
          <a:xfrm>
            <a:off x="5006340" y="1348740"/>
            <a:ext cx="228600" cy="228600"/>
          </a:xfrm>
          <a:prstGeom prst="rect">
            <a:avLst/>
          </a:prstGeom>
        </p:spPr>
      </p:pic>
      <p:sp>
        <p:nvSpPr>
          <p:cNvPr id="17" name="Text 13"/>
          <p:cNvSpPr txBox="1"/>
          <p:nvPr/>
        </p:nvSpPr>
        <p:spPr>
          <a:xfrm>
            <a:off x="5486400" y="1234440"/>
            <a:ext cx="3017520" cy="457200"/>
          </a:xfrm>
          <a:prstGeom prst="rect">
            <a:avLst/>
          </a:prstGeom>
          <a:noFill/>
          <a:ln/>
        </p:spPr>
        <p:txBody>
          <a:bodyPr wrap="square" lIns="0" tIns="0" rIns="0" bIns="0" rtlCol="0" anchor="ctr"/>
          <a:lstStyle/>
          <a:p>
            <a:pPr indent="0" marL="0">
              <a:buNone/>
            </a:pPr>
            <a:r>
              <a:rPr lang="en-US" sz="1400" b="1" dirty="0">
                <a:solidFill>
                  <a:schemeClr val="tx1"/>
                </a:solidFill>
              </a:rPr>
              <a:t>Non determina l'immagine</a:t>
            </a:r>
            <a:endParaRPr lang="en-US" sz="1400" dirty="0"/>
          </a:p>
        </p:txBody>
      </p:sp>
      <p:sp>
        <p:nvSpPr>
          <p:cNvPr id="18" name="Text 14"/>
          <p:cNvSpPr txBox="1"/>
          <p:nvPr/>
        </p:nvSpPr>
        <p:spPr>
          <a:xfrm>
            <a:off x="4892040" y="1828800"/>
            <a:ext cx="3611880" cy="621792"/>
          </a:xfrm>
          <a:prstGeom prst="rect">
            <a:avLst/>
          </a:prstGeom>
          <a:noFill/>
          <a:ln/>
        </p:spPr>
        <p:txBody>
          <a:bodyPr wrap="square" lIns="0" tIns="0" rIns="0" bIns="0" rtlCol="0" anchor="t"/>
          <a:lstStyle/>
          <a:p>
            <a:pPr indent="0" marL="0">
              <a:buNone/>
            </a:pPr>
            <a:r>
              <a:rPr lang="en-US" sz="1200" dirty="0">
                <a:solidFill>
                  <a:schemeClr val="tx2"/>
                </a:solidFill>
              </a:rPr>
              <a:t>Molti dettagli non descritti li decide il sistema: volti, disposizione, luce, sfondo.</a:t>
            </a:r>
            <a:endParaRPr lang="en-US" sz="1200" dirty="0"/>
          </a:p>
        </p:txBody>
      </p:sp>
      <p:sp>
        <p:nvSpPr>
          <p:cNvPr id="19" name="scheda Un vantaggio per esplorare"/>
          <p:cNvSpPr/>
          <p:nvPr/>
        </p:nvSpPr>
        <p:spPr>
          <a:xfrm>
            <a:off x="457200" y="2743200"/>
            <a:ext cx="3977640" cy="1280160"/>
          </a:xfrm>
          <a:prstGeom prst="roundRect">
            <a:avLst>
              <a:gd name="adj" fmla="val 5714"/>
            </a:avLst>
          </a:prstGeom>
          <a:solidFill>
            <a:schemeClr val="bg2"/>
          </a:solidFill>
          <a:ln/>
        </p:spPr>
      </p:sp>
      <p:sp>
        <p:nvSpPr>
          <p:cNvPr id="20" name="Text 16"/>
          <p:cNvSpPr txBox="1"/>
          <p:nvPr/>
        </p:nvSpPr>
        <p:spPr>
          <a:xfrm>
            <a:off x="640080" y="2926080"/>
            <a:ext cx="3611880" cy="347472"/>
          </a:xfrm>
          <a:prstGeom prst="rect">
            <a:avLst/>
          </a:prstGeom>
          <a:noFill/>
          <a:ln/>
        </p:spPr>
        <p:txBody>
          <a:bodyPr wrap="square" lIns="0" tIns="0" rIns="0" bIns="0" rtlCol="0" anchor="t"/>
          <a:lstStyle/>
          <a:p>
            <a:pPr indent="0" marL="0">
              <a:buNone/>
            </a:pPr>
            <a:r>
              <a:rPr lang="en-US" sz="1400" b="1" dirty="0">
                <a:solidFill>
                  <a:schemeClr val="tx1"/>
                </a:solidFill>
              </a:rPr>
              <a:t>Un vantaggio per esplorare</a:t>
            </a:r>
            <a:endParaRPr lang="en-US" sz="1400" dirty="0"/>
          </a:p>
        </p:txBody>
      </p:sp>
      <p:sp>
        <p:nvSpPr>
          <p:cNvPr id="21" name="Text 17"/>
          <p:cNvSpPr txBox="1"/>
          <p:nvPr/>
        </p:nvSpPr>
        <p:spPr>
          <a:xfrm>
            <a:off x="640080" y="3310128"/>
            <a:ext cx="3611880" cy="603504"/>
          </a:xfrm>
          <a:prstGeom prst="rect">
            <a:avLst/>
          </a:prstGeom>
          <a:noFill/>
          <a:ln/>
        </p:spPr>
        <p:txBody>
          <a:bodyPr wrap="square" lIns="0" tIns="0" rIns="0" bIns="0" rtlCol="0" anchor="t"/>
          <a:lstStyle/>
          <a:p>
            <a:pPr indent="0" marL="0">
              <a:buNone/>
            </a:pPr>
            <a:r>
              <a:rPr lang="en-US" sz="1200" dirty="0">
                <a:solidFill>
                  <a:schemeClr val="tx2"/>
                </a:solidFill>
              </a:rPr>
              <a:t>Propone soluzioni a cui non si era pensato.</a:t>
            </a:r>
            <a:endParaRPr lang="en-US" sz="1200" dirty="0"/>
          </a:p>
        </p:txBody>
      </p:sp>
      <p:sp>
        <p:nvSpPr>
          <p:cNvPr id="22" name="scheda Un limite per controllare"/>
          <p:cNvSpPr/>
          <p:nvPr/>
        </p:nvSpPr>
        <p:spPr>
          <a:xfrm>
            <a:off x="4709160" y="2743200"/>
            <a:ext cx="3977640" cy="1280160"/>
          </a:xfrm>
          <a:prstGeom prst="roundRect">
            <a:avLst>
              <a:gd name="adj" fmla="val 5714"/>
            </a:avLst>
          </a:prstGeom>
          <a:solidFill>
            <a:schemeClr val="bg2"/>
          </a:solidFill>
          <a:ln/>
        </p:spPr>
      </p:sp>
      <p:sp>
        <p:nvSpPr>
          <p:cNvPr id="23" name="Text 19"/>
          <p:cNvSpPr txBox="1"/>
          <p:nvPr/>
        </p:nvSpPr>
        <p:spPr>
          <a:xfrm>
            <a:off x="4892040" y="2926080"/>
            <a:ext cx="3611880" cy="347472"/>
          </a:xfrm>
          <a:prstGeom prst="rect">
            <a:avLst/>
          </a:prstGeom>
          <a:noFill/>
          <a:ln/>
        </p:spPr>
        <p:txBody>
          <a:bodyPr wrap="square" lIns="0" tIns="0" rIns="0" bIns="0" rtlCol="0" anchor="t"/>
          <a:lstStyle/>
          <a:p>
            <a:pPr indent="0" marL="0">
              <a:buNone/>
            </a:pPr>
            <a:r>
              <a:rPr lang="en-US" sz="1400" b="1" dirty="0">
                <a:solidFill>
                  <a:schemeClr val="tx1"/>
                </a:solidFill>
              </a:rPr>
              <a:t>Un limite per controllare</a:t>
            </a:r>
            <a:endParaRPr lang="en-US" sz="1400" dirty="0"/>
          </a:p>
        </p:txBody>
      </p:sp>
      <p:sp>
        <p:nvSpPr>
          <p:cNvPr id="24" name="Text 20"/>
          <p:cNvSpPr txBox="1"/>
          <p:nvPr/>
        </p:nvSpPr>
        <p:spPr>
          <a:xfrm>
            <a:off x="4892040" y="3310128"/>
            <a:ext cx="3611880" cy="603504"/>
          </a:xfrm>
          <a:prstGeom prst="rect">
            <a:avLst/>
          </a:prstGeom>
          <a:noFill/>
          <a:ln/>
        </p:spPr>
        <p:txBody>
          <a:bodyPr wrap="square" lIns="0" tIns="0" rIns="0" bIns="0" rtlCol="0" anchor="t"/>
          <a:lstStyle/>
          <a:p>
            <a:pPr indent="0" marL="0">
              <a:buNone/>
            </a:pPr>
            <a:r>
              <a:rPr lang="en-US" sz="1200" dirty="0">
                <a:solidFill>
                  <a:schemeClr val="tx2"/>
                </a:solidFill>
              </a:rPr>
              <a:t>Difficile ottenere esattamente ciò che si ha in mente, e ottenerlo di nuovo.</a:t>
            </a:r>
            <a:endParaRPr lang="en-US" sz="1200" dirty="0"/>
          </a:p>
        </p:txBody>
      </p:sp>
      <p:sp>
        <p:nvSpPr>
          <p:cNvPr id="25" name="Text 21"/>
          <p:cNvSpPr txBox="1"/>
          <p:nvPr/>
        </p:nvSpPr>
        <p:spPr>
          <a:xfrm>
            <a:off x="457200" y="4160520"/>
            <a:ext cx="8229600" cy="320040"/>
          </a:xfrm>
          <a:prstGeom prst="rect">
            <a:avLst/>
          </a:prstGeom>
          <a:noFill/>
          <a:ln/>
        </p:spPr>
        <p:txBody>
          <a:bodyPr wrap="square" lIns="0" tIns="0" rIns="0" bIns="0" rtlCol="0" anchor="t"/>
          <a:lstStyle/>
          <a:p>
            <a:pPr indent="0" marL="0">
              <a:buNone/>
            </a:pPr>
            <a:r>
              <a:rPr lang="en-US" sz="1200" i="1" dirty="0">
                <a:solidFill>
                  <a:schemeClr val="tx2"/>
                </a:solidFill>
              </a:rPr>
              <a:t>Tecniche di richiesta specialistiche: non sviluppate. Valgono i principi generali di una buona richiesta.</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Che cosa si può produrre</a:t>
            </a:r>
            <a:endParaRPr lang="en-US" sz="2600" dirty="0"/>
          </a:p>
        </p:txBody>
      </p:sp>
      <p:sp>
        <p:nvSpPr>
          <p:cNvPr id="4" name="operazione Interpretare"/>
          <p:cNvSpPr/>
          <p:nvPr/>
        </p:nvSpPr>
        <p:spPr>
          <a:xfrm>
            <a:off x="6053328" y="384048"/>
            <a:ext cx="841248"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6053328" y="384048"/>
            <a:ext cx="841248" cy="237744"/>
          </a:xfrm>
          <a:prstGeom prst="rect">
            <a:avLst/>
          </a:prstGeom>
          <a:noFill/>
          <a:ln/>
        </p:spPr>
        <p:txBody>
          <a:bodyPr wrap="square" lIns="0" tIns="0" rIns="0" bIns="0" rtlCol="0" anchor="ctr"/>
          <a:lstStyle/>
          <a:p>
            <a:pPr algn="ctr" indent="0" marL="0">
              <a:buNone/>
            </a:pPr>
            <a:r>
              <a:rPr lang="en-US" sz="900" b="1" dirty="0">
                <a:solidFill>
                  <a:schemeClr val="accent1"/>
                </a:solidFill>
              </a:rPr>
              <a:t>Interpretare</a:t>
            </a:r>
            <a:endParaRPr lang="en-US" sz="900" dirty="0"/>
          </a:p>
        </p:txBody>
      </p:sp>
      <p:sp>
        <p:nvSpPr>
          <p:cNvPr id="6" name="operazione Generare"/>
          <p:cNvSpPr/>
          <p:nvPr/>
        </p:nvSpPr>
        <p:spPr>
          <a:xfrm>
            <a:off x="6940296" y="384048"/>
            <a:ext cx="841248"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940296" y="384048"/>
            <a:ext cx="841248" cy="237744"/>
          </a:xfrm>
          <a:prstGeom prst="rect">
            <a:avLst/>
          </a:prstGeom>
          <a:noFill/>
          <a:ln/>
        </p:spPr>
        <p:txBody>
          <a:bodyPr wrap="square" lIns="0" tIns="0" rIns="0" bIns="0" rtlCol="0" anchor="ctr"/>
          <a:lstStyle/>
          <a:p>
            <a:pPr algn="ctr" indent="0" marL="0">
              <a:buNone/>
            </a:pPr>
            <a:r>
              <a:rPr lang="en-US" sz="900" b="1" dirty="0">
                <a:solidFill>
                  <a:schemeClr val="bg1"/>
                </a:solidFill>
              </a:rPr>
              <a:t>Generare</a:t>
            </a:r>
            <a:endParaRPr lang="en-US" sz="900" dirty="0"/>
          </a:p>
        </p:txBody>
      </p:sp>
      <p:sp>
        <p:nvSpPr>
          <p:cNvPr id="8" name="operazione Trasformare"/>
          <p:cNvSpPr/>
          <p:nvPr/>
        </p:nvSpPr>
        <p:spPr>
          <a:xfrm>
            <a:off x="7827264" y="384048"/>
            <a:ext cx="841248"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827264" y="384048"/>
            <a:ext cx="841248" cy="237744"/>
          </a:xfrm>
          <a:prstGeom prst="rect">
            <a:avLst/>
          </a:prstGeom>
          <a:noFill/>
          <a:ln/>
        </p:spPr>
        <p:txBody>
          <a:bodyPr wrap="square" lIns="0" tIns="0" rIns="0" bIns="0" rtlCol="0" anchor="ctr"/>
          <a:lstStyle/>
          <a:p>
            <a:pPr algn="ctr" indent="0" marL="0">
              <a:buNone/>
            </a:pPr>
            <a:r>
              <a:rPr lang="en-US" sz="900" b="1" dirty="0">
                <a:solidFill>
                  <a:schemeClr val="accent1"/>
                </a:solidFill>
              </a:rPr>
              <a:t>Trasformare</a:t>
            </a:r>
            <a:endParaRPr lang="en-US" sz="900" dirty="0"/>
          </a:p>
        </p:txBody>
      </p:sp>
      <p:sp>
        <p:nvSpPr>
          <p:cNvPr id="10" name="Illustrazioni"/>
          <p:cNvSpPr/>
          <p:nvPr/>
        </p:nvSpPr>
        <p:spPr>
          <a:xfrm>
            <a:off x="457200" y="1051560"/>
            <a:ext cx="2621280" cy="1280160"/>
          </a:xfrm>
          <a:prstGeom prst="roundRect">
            <a:avLst>
              <a:gd name="adj" fmla="val 5714"/>
            </a:avLst>
          </a:prstGeom>
          <a:solidFill>
            <a:schemeClr val="bg2"/>
          </a:solidFill>
          <a:ln/>
        </p:spPr>
      </p:sp>
      <p:sp>
        <p:nvSpPr>
          <p:cNvPr id="11" name="cerchio FiFeather"/>
          <p:cNvSpPr/>
          <p:nvPr/>
        </p:nvSpPr>
        <p:spPr>
          <a:xfrm>
            <a:off x="621792" y="1216152"/>
            <a:ext cx="438912" cy="438912"/>
          </a:xfrm>
          <a:prstGeom prst="ellipse">
            <a:avLst/>
          </a:prstGeom>
          <a:solidFill>
            <a:schemeClr val="accent1"/>
          </a:solidFill>
          <a:ln/>
        </p:spPr>
      </p:sp>
      <p:pic>
        <p:nvPicPr>
          <p:cNvPr id="12" name="Image 0" descr="FiFeather">    </p:cNvPr>
          <p:cNvPicPr>
            <a:picLocks noChangeAspect="1"/>
          </p:cNvPicPr>
          <p:nvPr/>
        </p:nvPicPr>
        <p:blipFill>
          <a:blip r:embed="rId1"/>
          <a:stretch>
            <a:fillRect/>
          </a:stretch>
        </p:blipFill>
        <p:spPr>
          <a:xfrm>
            <a:off x="731520" y="1325880"/>
            <a:ext cx="219456" cy="219456"/>
          </a:xfrm>
          <a:prstGeom prst="rect">
            <a:avLst/>
          </a:prstGeom>
        </p:spPr>
      </p:pic>
      <p:sp>
        <p:nvSpPr>
          <p:cNvPr id="13" name="Text 9"/>
          <p:cNvSpPr txBox="1"/>
          <p:nvPr/>
        </p:nvSpPr>
        <p:spPr>
          <a:xfrm>
            <a:off x="1170432" y="117957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Illustrazioni</a:t>
            </a:r>
            <a:endParaRPr lang="en-US" sz="1300" dirty="0"/>
          </a:p>
        </p:txBody>
      </p:sp>
      <p:sp>
        <p:nvSpPr>
          <p:cNvPr id="14" name="Text 10"/>
          <p:cNvSpPr txBox="1"/>
          <p:nvPr/>
        </p:nvSpPr>
        <p:spPr>
          <a:xfrm>
            <a:off x="621792" y="1764792"/>
            <a:ext cx="2292096" cy="475488"/>
          </a:xfrm>
          <a:prstGeom prst="rect">
            <a:avLst/>
          </a:prstGeom>
          <a:noFill/>
          <a:ln/>
        </p:spPr>
        <p:txBody>
          <a:bodyPr wrap="square" lIns="0" tIns="0" rIns="0" bIns="0" rtlCol="0" anchor="t"/>
          <a:lstStyle/>
          <a:p>
            <a:pPr indent="0" marL="0">
              <a:buNone/>
            </a:pPr>
            <a:r>
              <a:rPr lang="en-US" sz="1200" dirty="0">
                <a:solidFill>
                  <a:schemeClr val="tx2"/>
                </a:solidFill>
              </a:rPr>
              <a:t>Per testi, presentazioni, materiali formativi</a:t>
            </a:r>
            <a:endParaRPr lang="en-US" sz="1200" dirty="0"/>
          </a:p>
        </p:txBody>
      </p:sp>
      <p:sp>
        <p:nvSpPr>
          <p:cNvPr id="15" name="Immagini sintetiche"/>
          <p:cNvSpPr/>
          <p:nvPr/>
        </p:nvSpPr>
        <p:spPr>
          <a:xfrm>
            <a:off x="3261360" y="1051560"/>
            <a:ext cx="2621280" cy="1280160"/>
          </a:xfrm>
          <a:prstGeom prst="roundRect">
            <a:avLst>
              <a:gd name="adj" fmla="val 5714"/>
            </a:avLst>
          </a:prstGeom>
          <a:solidFill>
            <a:schemeClr val="bg2"/>
          </a:solidFill>
          <a:ln/>
        </p:spPr>
      </p:sp>
      <p:sp>
        <p:nvSpPr>
          <p:cNvPr id="16" name="cerchio FiCamera"/>
          <p:cNvSpPr/>
          <p:nvPr/>
        </p:nvSpPr>
        <p:spPr>
          <a:xfrm>
            <a:off x="3425952" y="1216152"/>
            <a:ext cx="438912" cy="438912"/>
          </a:xfrm>
          <a:prstGeom prst="ellipse">
            <a:avLst/>
          </a:prstGeom>
          <a:solidFill>
            <a:schemeClr val="accent1"/>
          </a:solidFill>
          <a:ln/>
        </p:spPr>
      </p:sp>
      <p:pic>
        <p:nvPicPr>
          <p:cNvPr id="17" name="Image 1" descr="FiCamera">    </p:cNvPr>
          <p:cNvPicPr>
            <a:picLocks noChangeAspect="1"/>
          </p:cNvPicPr>
          <p:nvPr/>
        </p:nvPicPr>
        <p:blipFill>
          <a:blip r:embed="rId2"/>
          <a:stretch>
            <a:fillRect/>
          </a:stretch>
        </p:blipFill>
        <p:spPr>
          <a:xfrm>
            <a:off x="3535680" y="1325880"/>
            <a:ext cx="219456" cy="219456"/>
          </a:xfrm>
          <a:prstGeom prst="rect">
            <a:avLst/>
          </a:prstGeom>
        </p:spPr>
      </p:pic>
      <p:sp>
        <p:nvSpPr>
          <p:cNvPr id="18" name="Text 13"/>
          <p:cNvSpPr txBox="1"/>
          <p:nvPr/>
        </p:nvSpPr>
        <p:spPr>
          <a:xfrm>
            <a:off x="3974592" y="117957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Immagini sintetiche</a:t>
            </a:r>
            <a:endParaRPr lang="en-US" sz="1300" dirty="0"/>
          </a:p>
        </p:txBody>
      </p:sp>
      <p:sp>
        <p:nvSpPr>
          <p:cNvPr id="19" name="Text 14"/>
          <p:cNvSpPr txBox="1"/>
          <p:nvPr/>
        </p:nvSpPr>
        <p:spPr>
          <a:xfrm>
            <a:off x="3425952" y="1764792"/>
            <a:ext cx="2292096" cy="475488"/>
          </a:xfrm>
          <a:prstGeom prst="rect">
            <a:avLst/>
          </a:prstGeom>
          <a:noFill/>
          <a:ln/>
        </p:spPr>
        <p:txBody>
          <a:bodyPr wrap="square" lIns="0" tIns="0" rIns="0" bIns="0" rtlCol="0" anchor="t"/>
          <a:lstStyle/>
          <a:p>
            <a:pPr indent="0" marL="0">
              <a:buNone/>
            </a:pPr>
            <a:r>
              <a:rPr lang="en-US" sz="1200" dirty="0">
                <a:solidFill>
                  <a:schemeClr val="tx2"/>
                </a:solidFill>
              </a:rPr>
              <a:t>Sembrano fotografie, ma non lo sono</a:t>
            </a:r>
            <a:endParaRPr lang="en-US" sz="1200" dirty="0"/>
          </a:p>
        </p:txBody>
      </p:sp>
      <p:sp>
        <p:nvSpPr>
          <p:cNvPr id="20" name="Concept"/>
          <p:cNvSpPr/>
          <p:nvPr/>
        </p:nvSpPr>
        <p:spPr>
          <a:xfrm>
            <a:off x="6065520" y="1051560"/>
            <a:ext cx="2621280" cy="1280160"/>
          </a:xfrm>
          <a:prstGeom prst="roundRect">
            <a:avLst>
              <a:gd name="adj" fmla="val 5714"/>
            </a:avLst>
          </a:prstGeom>
          <a:solidFill>
            <a:schemeClr val="bg2"/>
          </a:solidFill>
          <a:ln/>
        </p:spPr>
      </p:sp>
      <p:sp>
        <p:nvSpPr>
          <p:cNvPr id="21" name="cerchio FiPenTool"/>
          <p:cNvSpPr/>
          <p:nvPr/>
        </p:nvSpPr>
        <p:spPr>
          <a:xfrm>
            <a:off x="6230112" y="1216152"/>
            <a:ext cx="438912" cy="438912"/>
          </a:xfrm>
          <a:prstGeom prst="ellipse">
            <a:avLst/>
          </a:prstGeom>
          <a:solidFill>
            <a:schemeClr val="accent1"/>
          </a:solidFill>
          <a:ln/>
        </p:spPr>
      </p:sp>
      <p:pic>
        <p:nvPicPr>
          <p:cNvPr id="22" name="Image 2" descr="FiPenTool">    </p:cNvPr>
          <p:cNvPicPr>
            <a:picLocks noChangeAspect="1"/>
          </p:cNvPicPr>
          <p:nvPr/>
        </p:nvPicPr>
        <p:blipFill>
          <a:blip r:embed="rId3"/>
          <a:stretch>
            <a:fillRect/>
          </a:stretch>
        </p:blipFill>
        <p:spPr>
          <a:xfrm>
            <a:off x="6339840" y="1325880"/>
            <a:ext cx="219456" cy="219456"/>
          </a:xfrm>
          <a:prstGeom prst="rect">
            <a:avLst/>
          </a:prstGeom>
        </p:spPr>
      </p:pic>
      <p:sp>
        <p:nvSpPr>
          <p:cNvPr id="23" name="Text 17"/>
          <p:cNvSpPr txBox="1"/>
          <p:nvPr/>
        </p:nvSpPr>
        <p:spPr>
          <a:xfrm>
            <a:off x="6778752" y="117957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Concept</a:t>
            </a:r>
            <a:endParaRPr lang="en-US" sz="1300" dirty="0"/>
          </a:p>
        </p:txBody>
      </p:sp>
      <p:sp>
        <p:nvSpPr>
          <p:cNvPr id="24" name="Text 18"/>
          <p:cNvSpPr txBox="1"/>
          <p:nvPr/>
        </p:nvSpPr>
        <p:spPr>
          <a:xfrm>
            <a:off x="6230112" y="1764792"/>
            <a:ext cx="2292096" cy="475488"/>
          </a:xfrm>
          <a:prstGeom prst="rect">
            <a:avLst/>
          </a:prstGeom>
          <a:noFill/>
          <a:ln/>
        </p:spPr>
        <p:txBody>
          <a:bodyPr wrap="square" lIns="0" tIns="0" rIns="0" bIns="0" rtlCol="0" anchor="t"/>
          <a:lstStyle/>
          <a:p>
            <a:pPr indent="0" marL="0">
              <a:buNone/>
            </a:pPr>
            <a:r>
              <a:rPr lang="en-US" sz="1200" dirty="0">
                <a:solidFill>
                  <a:schemeClr val="tx2"/>
                </a:solidFill>
              </a:rPr>
              <a:t>Uno stand, un packaging, un'atmosfera</a:t>
            </a:r>
            <a:endParaRPr lang="en-US" sz="1200" dirty="0"/>
          </a:p>
        </p:txBody>
      </p:sp>
      <p:sp>
        <p:nvSpPr>
          <p:cNvPr id="25" name="Varianti"/>
          <p:cNvSpPr/>
          <p:nvPr/>
        </p:nvSpPr>
        <p:spPr>
          <a:xfrm>
            <a:off x="457200" y="2514600"/>
            <a:ext cx="2621280" cy="1280160"/>
          </a:xfrm>
          <a:prstGeom prst="roundRect">
            <a:avLst>
              <a:gd name="adj" fmla="val 5714"/>
            </a:avLst>
          </a:prstGeom>
          <a:solidFill>
            <a:schemeClr val="bg2"/>
          </a:solidFill>
          <a:ln/>
        </p:spPr>
      </p:sp>
      <p:sp>
        <p:nvSpPr>
          <p:cNvPr id="26" name="cerchio FiCopy"/>
          <p:cNvSpPr/>
          <p:nvPr/>
        </p:nvSpPr>
        <p:spPr>
          <a:xfrm>
            <a:off x="621792" y="2679192"/>
            <a:ext cx="438912" cy="438912"/>
          </a:xfrm>
          <a:prstGeom prst="ellipse">
            <a:avLst/>
          </a:prstGeom>
          <a:solidFill>
            <a:schemeClr val="accent1"/>
          </a:solidFill>
          <a:ln/>
        </p:spPr>
      </p:sp>
      <p:pic>
        <p:nvPicPr>
          <p:cNvPr id="27" name="Image 3" descr="FiCopy">    </p:cNvPr>
          <p:cNvPicPr>
            <a:picLocks noChangeAspect="1"/>
          </p:cNvPicPr>
          <p:nvPr/>
        </p:nvPicPr>
        <p:blipFill>
          <a:blip r:embed="rId4"/>
          <a:stretch>
            <a:fillRect/>
          </a:stretch>
        </p:blipFill>
        <p:spPr>
          <a:xfrm>
            <a:off x="731520" y="2788920"/>
            <a:ext cx="219456" cy="219456"/>
          </a:xfrm>
          <a:prstGeom prst="rect">
            <a:avLst/>
          </a:prstGeom>
        </p:spPr>
      </p:pic>
      <p:sp>
        <p:nvSpPr>
          <p:cNvPr id="28" name="Text 21"/>
          <p:cNvSpPr txBox="1"/>
          <p:nvPr/>
        </p:nvSpPr>
        <p:spPr>
          <a:xfrm>
            <a:off x="1170432" y="264261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Varianti</a:t>
            </a:r>
            <a:endParaRPr lang="en-US" sz="1300" dirty="0"/>
          </a:p>
        </p:txBody>
      </p:sp>
      <p:sp>
        <p:nvSpPr>
          <p:cNvPr id="29" name="Text 22"/>
          <p:cNvSpPr txBox="1"/>
          <p:nvPr/>
        </p:nvSpPr>
        <p:spPr>
          <a:xfrm>
            <a:off x="621792" y="3227832"/>
            <a:ext cx="2292096" cy="475488"/>
          </a:xfrm>
          <a:prstGeom prst="rect">
            <a:avLst/>
          </a:prstGeom>
          <a:noFill/>
          <a:ln/>
        </p:spPr>
        <p:txBody>
          <a:bodyPr wrap="square" lIns="0" tIns="0" rIns="0" bIns="0" rtlCol="0" anchor="t"/>
          <a:lstStyle/>
          <a:p>
            <a:pPr indent="0" marL="0">
              <a:buNone/>
            </a:pPr>
            <a:r>
              <a:rPr lang="en-US" sz="1200" dirty="0">
                <a:solidFill>
                  <a:schemeClr val="tx2"/>
                </a:solidFill>
              </a:rPr>
              <a:t>Colori, composizioni, stili da confrontare</a:t>
            </a:r>
            <a:endParaRPr lang="en-US" sz="1200" dirty="0"/>
          </a:p>
        </p:txBody>
      </p:sp>
      <p:sp>
        <p:nvSpPr>
          <p:cNvPr id="30" name="Elementi grafici"/>
          <p:cNvSpPr/>
          <p:nvPr/>
        </p:nvSpPr>
        <p:spPr>
          <a:xfrm>
            <a:off x="3261360" y="2514600"/>
            <a:ext cx="2621280" cy="1280160"/>
          </a:xfrm>
          <a:prstGeom prst="roundRect">
            <a:avLst>
              <a:gd name="adj" fmla="val 5714"/>
            </a:avLst>
          </a:prstGeom>
          <a:solidFill>
            <a:schemeClr val="bg2"/>
          </a:solidFill>
          <a:ln/>
        </p:spPr>
      </p:sp>
      <p:sp>
        <p:nvSpPr>
          <p:cNvPr id="31" name="cerchio FiGrid"/>
          <p:cNvSpPr/>
          <p:nvPr/>
        </p:nvSpPr>
        <p:spPr>
          <a:xfrm>
            <a:off x="3425952" y="2679192"/>
            <a:ext cx="438912" cy="438912"/>
          </a:xfrm>
          <a:prstGeom prst="ellipse">
            <a:avLst/>
          </a:prstGeom>
          <a:solidFill>
            <a:schemeClr val="accent1"/>
          </a:solidFill>
          <a:ln/>
        </p:spPr>
      </p:sp>
      <p:pic>
        <p:nvPicPr>
          <p:cNvPr id="32" name="Image 4" descr="FiGrid">    </p:cNvPr>
          <p:cNvPicPr>
            <a:picLocks noChangeAspect="1"/>
          </p:cNvPicPr>
          <p:nvPr/>
        </p:nvPicPr>
        <p:blipFill>
          <a:blip r:embed="rId5"/>
          <a:stretch>
            <a:fillRect/>
          </a:stretch>
        </p:blipFill>
        <p:spPr>
          <a:xfrm>
            <a:off x="3535680" y="2788920"/>
            <a:ext cx="219456" cy="219456"/>
          </a:xfrm>
          <a:prstGeom prst="rect">
            <a:avLst/>
          </a:prstGeom>
        </p:spPr>
      </p:pic>
      <p:sp>
        <p:nvSpPr>
          <p:cNvPr id="33" name="Text 25"/>
          <p:cNvSpPr txBox="1"/>
          <p:nvPr/>
        </p:nvSpPr>
        <p:spPr>
          <a:xfrm>
            <a:off x="3974592" y="264261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Elementi grafici</a:t>
            </a:r>
            <a:endParaRPr lang="en-US" sz="1300" dirty="0"/>
          </a:p>
        </p:txBody>
      </p:sp>
      <p:sp>
        <p:nvSpPr>
          <p:cNvPr id="34" name="Text 26"/>
          <p:cNvSpPr txBox="1"/>
          <p:nvPr/>
        </p:nvSpPr>
        <p:spPr>
          <a:xfrm>
            <a:off x="3425952" y="3227832"/>
            <a:ext cx="2292096" cy="475488"/>
          </a:xfrm>
          <a:prstGeom prst="rect">
            <a:avLst/>
          </a:prstGeom>
          <a:noFill/>
          <a:ln/>
        </p:spPr>
        <p:txBody>
          <a:bodyPr wrap="square" lIns="0" tIns="0" rIns="0" bIns="0" rtlCol="0" anchor="t"/>
          <a:lstStyle/>
          <a:p>
            <a:pPr indent="0" marL="0">
              <a:buNone/>
            </a:pPr>
            <a:r>
              <a:rPr lang="en-US" sz="1200" dirty="0">
                <a:solidFill>
                  <a:schemeClr val="tx2"/>
                </a:solidFill>
              </a:rPr>
              <a:t>Icone, sfondi, pattern</a:t>
            </a:r>
            <a:endParaRPr lang="en-US" sz="1200" dirty="0"/>
          </a:p>
        </p:txBody>
      </p:sp>
      <p:sp>
        <p:nvSpPr>
          <p:cNvPr id="35" name="Esplorazione rapida"/>
          <p:cNvSpPr/>
          <p:nvPr/>
        </p:nvSpPr>
        <p:spPr>
          <a:xfrm>
            <a:off x="6065520" y="2514600"/>
            <a:ext cx="2621280" cy="1280160"/>
          </a:xfrm>
          <a:prstGeom prst="roundRect">
            <a:avLst>
              <a:gd name="adj" fmla="val 5714"/>
            </a:avLst>
          </a:prstGeom>
          <a:solidFill>
            <a:schemeClr val="accent6"/>
          </a:solidFill>
          <a:ln/>
        </p:spPr>
      </p:sp>
      <p:sp>
        <p:nvSpPr>
          <p:cNvPr id="36" name="cerchio FiZap"/>
          <p:cNvSpPr/>
          <p:nvPr/>
        </p:nvSpPr>
        <p:spPr>
          <a:xfrm>
            <a:off x="6230112" y="2679192"/>
            <a:ext cx="438912" cy="438912"/>
          </a:xfrm>
          <a:prstGeom prst="ellipse">
            <a:avLst/>
          </a:prstGeom>
          <a:solidFill>
            <a:schemeClr val="accent1"/>
          </a:solidFill>
          <a:ln/>
        </p:spPr>
      </p:sp>
      <p:pic>
        <p:nvPicPr>
          <p:cNvPr id="37" name="Image 5" descr="FiZap">    </p:cNvPr>
          <p:cNvPicPr>
            <a:picLocks noChangeAspect="1"/>
          </p:cNvPicPr>
          <p:nvPr/>
        </p:nvPicPr>
        <p:blipFill>
          <a:blip r:embed="rId6"/>
          <a:stretch>
            <a:fillRect/>
          </a:stretch>
        </p:blipFill>
        <p:spPr>
          <a:xfrm>
            <a:off x="6339840" y="2788920"/>
            <a:ext cx="219456" cy="219456"/>
          </a:xfrm>
          <a:prstGeom prst="rect">
            <a:avLst/>
          </a:prstGeom>
        </p:spPr>
      </p:pic>
      <p:sp>
        <p:nvSpPr>
          <p:cNvPr id="38" name="Text 29"/>
          <p:cNvSpPr txBox="1"/>
          <p:nvPr/>
        </p:nvSpPr>
        <p:spPr>
          <a:xfrm>
            <a:off x="6778752" y="264261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Esplorazione rapida</a:t>
            </a:r>
            <a:endParaRPr lang="en-US" sz="1300" dirty="0"/>
          </a:p>
        </p:txBody>
      </p:sp>
      <p:sp>
        <p:nvSpPr>
          <p:cNvPr id="39" name="Text 30"/>
          <p:cNvSpPr txBox="1"/>
          <p:nvPr/>
        </p:nvSpPr>
        <p:spPr>
          <a:xfrm>
            <a:off x="6230112" y="3227832"/>
            <a:ext cx="2292096" cy="475488"/>
          </a:xfrm>
          <a:prstGeom prst="rect">
            <a:avLst/>
          </a:prstGeom>
          <a:noFill/>
          <a:ln/>
        </p:spPr>
        <p:txBody>
          <a:bodyPr wrap="square" lIns="0" tIns="0" rIns="0" bIns="0" rtlCol="0" anchor="t"/>
          <a:lstStyle/>
          <a:p>
            <a:pPr indent="0" marL="0">
              <a:buNone/>
            </a:pPr>
            <a:r>
              <a:rPr lang="en-US" sz="1200" dirty="0">
                <a:solidFill>
                  <a:schemeClr val="tx2"/>
                </a:solidFill>
              </a:rPr>
              <a:t>Vedere un'idea prima di investire</a:t>
            </a:r>
            <a:endParaRPr lang="en-US" sz="1200" dirty="0"/>
          </a:p>
        </p:txBody>
      </p:sp>
      <p:sp>
        <p:nvSpPr>
          <p:cNvPr id="40" name="messaggio"/>
          <p:cNvSpPr/>
          <p:nvPr/>
        </p:nvSpPr>
        <p:spPr>
          <a:xfrm>
            <a:off x="457200" y="3977640"/>
            <a:ext cx="8229600" cy="548640"/>
          </a:xfrm>
          <a:prstGeom prst="roundRect">
            <a:avLst>
              <a:gd name="adj" fmla="val 13333"/>
            </a:avLst>
          </a:prstGeom>
          <a:solidFill>
            <a:schemeClr val="tx1"/>
          </a:solidFill>
          <a:ln/>
        </p:spPr>
      </p:sp>
      <p:sp>
        <p:nvSpPr>
          <p:cNvPr id="41" name="Text 32"/>
          <p:cNvSpPr txBox="1"/>
          <p:nvPr/>
        </p:nvSpPr>
        <p:spPr>
          <a:xfrm>
            <a:off x="640080" y="3977640"/>
            <a:ext cx="7863840" cy="548640"/>
          </a:xfrm>
          <a:prstGeom prst="rect">
            <a:avLst/>
          </a:prstGeom>
          <a:noFill/>
          <a:ln/>
        </p:spPr>
        <p:txBody>
          <a:bodyPr wrap="square" lIns="0" tIns="0" rIns="0" bIns="0" rtlCol="0" anchor="ctr"/>
          <a:lstStyle/>
          <a:p>
            <a:pPr indent="0" marL="0">
              <a:buNone/>
            </a:pPr>
            <a:r>
              <a:rPr lang="en-US" sz="1400" dirty="0">
                <a:solidFill>
                  <a:schemeClr val="bg1"/>
                </a:solidFill>
              </a:rPr>
              <a:t>In contesti professionali, spesso un punto di partenza, non un prodotto finito.</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Modificare immagini esistenti</a:t>
            </a:r>
            <a:endParaRPr lang="en-US" sz="2600" dirty="0"/>
          </a:p>
        </p:txBody>
      </p:sp>
      <p:sp>
        <p:nvSpPr>
          <p:cNvPr id="4" name="operazione Interpretare"/>
          <p:cNvSpPr/>
          <p:nvPr/>
        </p:nvSpPr>
        <p:spPr>
          <a:xfrm>
            <a:off x="6053328" y="384048"/>
            <a:ext cx="841248"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6053328" y="384048"/>
            <a:ext cx="841248" cy="237744"/>
          </a:xfrm>
          <a:prstGeom prst="rect">
            <a:avLst/>
          </a:prstGeom>
          <a:noFill/>
          <a:ln/>
        </p:spPr>
        <p:txBody>
          <a:bodyPr wrap="square" lIns="0" tIns="0" rIns="0" bIns="0" rtlCol="0" anchor="ctr"/>
          <a:lstStyle/>
          <a:p>
            <a:pPr algn="ctr" indent="0" marL="0">
              <a:buNone/>
            </a:pPr>
            <a:r>
              <a:rPr lang="en-US" sz="900" b="1" dirty="0">
                <a:solidFill>
                  <a:schemeClr val="accent1"/>
                </a:solidFill>
              </a:rPr>
              <a:t>Interpretare</a:t>
            </a:r>
            <a:endParaRPr lang="en-US" sz="900" dirty="0"/>
          </a:p>
        </p:txBody>
      </p:sp>
      <p:sp>
        <p:nvSpPr>
          <p:cNvPr id="6" name="operazione Generare"/>
          <p:cNvSpPr/>
          <p:nvPr/>
        </p:nvSpPr>
        <p:spPr>
          <a:xfrm>
            <a:off x="6940296" y="384048"/>
            <a:ext cx="841248"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940296" y="384048"/>
            <a:ext cx="841248" cy="237744"/>
          </a:xfrm>
          <a:prstGeom prst="rect">
            <a:avLst/>
          </a:prstGeom>
          <a:noFill/>
          <a:ln/>
        </p:spPr>
        <p:txBody>
          <a:bodyPr wrap="square" lIns="0" tIns="0" rIns="0" bIns="0" rtlCol="0" anchor="ctr"/>
          <a:lstStyle/>
          <a:p>
            <a:pPr algn="ctr" indent="0" marL="0">
              <a:buNone/>
            </a:pPr>
            <a:r>
              <a:rPr lang="en-US" sz="900" b="1" dirty="0">
                <a:solidFill>
                  <a:schemeClr val="bg1"/>
                </a:solidFill>
              </a:rPr>
              <a:t>Generare</a:t>
            </a:r>
            <a:endParaRPr lang="en-US" sz="900" dirty="0"/>
          </a:p>
        </p:txBody>
      </p:sp>
      <p:sp>
        <p:nvSpPr>
          <p:cNvPr id="8" name="operazione Trasformare"/>
          <p:cNvSpPr/>
          <p:nvPr/>
        </p:nvSpPr>
        <p:spPr>
          <a:xfrm>
            <a:off x="7827264" y="384048"/>
            <a:ext cx="841248"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7827264" y="384048"/>
            <a:ext cx="841248" cy="237744"/>
          </a:xfrm>
          <a:prstGeom prst="rect">
            <a:avLst/>
          </a:prstGeom>
          <a:noFill/>
          <a:ln/>
        </p:spPr>
        <p:txBody>
          <a:bodyPr wrap="square" lIns="0" tIns="0" rIns="0" bIns="0" rtlCol="0" anchor="ctr"/>
          <a:lstStyle/>
          <a:p>
            <a:pPr algn="ctr" indent="0" marL="0">
              <a:buNone/>
            </a:pPr>
            <a:r>
              <a:rPr lang="en-US" sz="900" b="1" dirty="0">
                <a:solidFill>
                  <a:schemeClr val="bg1"/>
                </a:solidFill>
              </a:rPr>
              <a:t>Trasformare</a:t>
            </a:r>
            <a:endParaRPr lang="en-US" sz="900" dirty="0"/>
          </a:p>
        </p:txBody>
      </p:sp>
      <p:sp>
        <p:nvSpPr>
          <p:cNvPr id="10" name="Aggiungere"/>
          <p:cNvSpPr/>
          <p:nvPr/>
        </p:nvSpPr>
        <p:spPr>
          <a:xfrm>
            <a:off x="457200" y="1051560"/>
            <a:ext cx="2621280" cy="1097280"/>
          </a:xfrm>
          <a:prstGeom prst="roundRect">
            <a:avLst>
              <a:gd name="adj" fmla="val 6667"/>
            </a:avLst>
          </a:prstGeom>
          <a:solidFill>
            <a:schemeClr val="bg2"/>
          </a:solidFill>
          <a:ln/>
        </p:spPr>
      </p:sp>
      <p:sp>
        <p:nvSpPr>
          <p:cNvPr id="11" name="cerchio FiPlusCircle"/>
          <p:cNvSpPr/>
          <p:nvPr/>
        </p:nvSpPr>
        <p:spPr>
          <a:xfrm>
            <a:off x="621792" y="1216152"/>
            <a:ext cx="438912" cy="438912"/>
          </a:xfrm>
          <a:prstGeom prst="ellipse">
            <a:avLst/>
          </a:prstGeom>
          <a:solidFill>
            <a:schemeClr val="accent1"/>
          </a:solidFill>
          <a:ln/>
        </p:spPr>
      </p:sp>
      <p:pic>
        <p:nvPicPr>
          <p:cNvPr id="12" name="Image 0" descr="FiPlusCircle">    </p:cNvPr>
          <p:cNvPicPr>
            <a:picLocks noChangeAspect="1"/>
          </p:cNvPicPr>
          <p:nvPr/>
        </p:nvPicPr>
        <p:blipFill>
          <a:blip r:embed="rId1"/>
          <a:stretch>
            <a:fillRect/>
          </a:stretch>
        </p:blipFill>
        <p:spPr>
          <a:xfrm>
            <a:off x="731520" y="1325880"/>
            <a:ext cx="219456" cy="219456"/>
          </a:xfrm>
          <a:prstGeom prst="rect">
            <a:avLst/>
          </a:prstGeom>
        </p:spPr>
      </p:pic>
      <p:sp>
        <p:nvSpPr>
          <p:cNvPr id="13" name="Text 9"/>
          <p:cNvSpPr txBox="1"/>
          <p:nvPr/>
        </p:nvSpPr>
        <p:spPr>
          <a:xfrm>
            <a:off x="1170432" y="117957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Aggiungere</a:t>
            </a:r>
            <a:endParaRPr lang="en-US" sz="1300" dirty="0"/>
          </a:p>
        </p:txBody>
      </p:sp>
      <p:sp>
        <p:nvSpPr>
          <p:cNvPr id="14" name="Text 10"/>
          <p:cNvSpPr txBox="1"/>
          <p:nvPr/>
        </p:nvSpPr>
        <p:spPr>
          <a:xfrm>
            <a:off x="621792" y="1764792"/>
            <a:ext cx="2292096" cy="292608"/>
          </a:xfrm>
          <a:prstGeom prst="rect">
            <a:avLst/>
          </a:prstGeom>
          <a:noFill/>
          <a:ln/>
        </p:spPr>
        <p:txBody>
          <a:bodyPr wrap="square" lIns="0" tIns="0" rIns="0" bIns="0" rtlCol="0" anchor="t"/>
          <a:lstStyle/>
          <a:p>
            <a:pPr indent="0" marL="0">
              <a:buNone/>
            </a:pPr>
            <a:r>
              <a:rPr lang="en-US" sz="1200" dirty="0">
                <a:solidFill>
                  <a:schemeClr val="tx2"/>
                </a:solidFill>
              </a:rPr>
              <a:t>Un oggetto, una scritta</a:t>
            </a:r>
            <a:endParaRPr lang="en-US" sz="1200" dirty="0"/>
          </a:p>
        </p:txBody>
      </p:sp>
      <p:sp>
        <p:nvSpPr>
          <p:cNvPr id="15" name="Rimuovere"/>
          <p:cNvSpPr/>
          <p:nvPr/>
        </p:nvSpPr>
        <p:spPr>
          <a:xfrm>
            <a:off x="3261360" y="1051560"/>
            <a:ext cx="2621280" cy="1097280"/>
          </a:xfrm>
          <a:prstGeom prst="roundRect">
            <a:avLst>
              <a:gd name="adj" fmla="val 6667"/>
            </a:avLst>
          </a:prstGeom>
          <a:solidFill>
            <a:schemeClr val="bg2"/>
          </a:solidFill>
          <a:ln/>
        </p:spPr>
      </p:sp>
      <p:sp>
        <p:nvSpPr>
          <p:cNvPr id="16" name="cerchio FiMinusCircle"/>
          <p:cNvSpPr/>
          <p:nvPr/>
        </p:nvSpPr>
        <p:spPr>
          <a:xfrm>
            <a:off x="3425952" y="1216152"/>
            <a:ext cx="438912" cy="438912"/>
          </a:xfrm>
          <a:prstGeom prst="ellipse">
            <a:avLst/>
          </a:prstGeom>
          <a:solidFill>
            <a:schemeClr val="accent1"/>
          </a:solidFill>
          <a:ln/>
        </p:spPr>
      </p:sp>
      <p:pic>
        <p:nvPicPr>
          <p:cNvPr id="17" name="Image 1" descr="FiMinusCircle">    </p:cNvPr>
          <p:cNvPicPr>
            <a:picLocks noChangeAspect="1"/>
          </p:cNvPicPr>
          <p:nvPr/>
        </p:nvPicPr>
        <p:blipFill>
          <a:blip r:embed="rId2"/>
          <a:stretch>
            <a:fillRect/>
          </a:stretch>
        </p:blipFill>
        <p:spPr>
          <a:xfrm>
            <a:off x="3535680" y="1325880"/>
            <a:ext cx="219456" cy="219456"/>
          </a:xfrm>
          <a:prstGeom prst="rect">
            <a:avLst/>
          </a:prstGeom>
        </p:spPr>
      </p:pic>
      <p:sp>
        <p:nvSpPr>
          <p:cNvPr id="18" name="Text 13"/>
          <p:cNvSpPr txBox="1"/>
          <p:nvPr/>
        </p:nvSpPr>
        <p:spPr>
          <a:xfrm>
            <a:off x="3974592" y="117957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Rimuovere</a:t>
            </a:r>
            <a:endParaRPr lang="en-US" sz="1300" dirty="0"/>
          </a:p>
        </p:txBody>
      </p:sp>
      <p:sp>
        <p:nvSpPr>
          <p:cNvPr id="19" name="Text 14"/>
          <p:cNvSpPr txBox="1"/>
          <p:nvPr/>
        </p:nvSpPr>
        <p:spPr>
          <a:xfrm>
            <a:off x="3425952" y="1764792"/>
            <a:ext cx="2292096" cy="292608"/>
          </a:xfrm>
          <a:prstGeom prst="rect">
            <a:avLst/>
          </a:prstGeom>
          <a:noFill/>
          <a:ln/>
        </p:spPr>
        <p:txBody>
          <a:bodyPr wrap="square" lIns="0" tIns="0" rIns="0" bIns="0" rtlCol="0" anchor="t"/>
          <a:lstStyle/>
          <a:p>
            <a:pPr indent="0" marL="0">
              <a:buNone/>
            </a:pPr>
            <a:r>
              <a:rPr lang="en-US" sz="1200" dirty="0">
                <a:solidFill>
                  <a:schemeClr val="tx2"/>
                </a:solidFill>
              </a:rPr>
              <a:t>Un oggetto, un difetto, un passante</a:t>
            </a:r>
            <a:endParaRPr lang="en-US" sz="1200" dirty="0"/>
          </a:p>
        </p:txBody>
      </p:sp>
      <p:sp>
        <p:nvSpPr>
          <p:cNvPr id="20" name="Sostituire"/>
          <p:cNvSpPr/>
          <p:nvPr/>
        </p:nvSpPr>
        <p:spPr>
          <a:xfrm>
            <a:off x="6065520" y="1051560"/>
            <a:ext cx="2621280" cy="1097280"/>
          </a:xfrm>
          <a:prstGeom prst="roundRect">
            <a:avLst>
              <a:gd name="adj" fmla="val 6667"/>
            </a:avLst>
          </a:prstGeom>
          <a:solidFill>
            <a:schemeClr val="bg2"/>
          </a:solidFill>
          <a:ln/>
        </p:spPr>
      </p:sp>
      <p:sp>
        <p:nvSpPr>
          <p:cNvPr id="21" name="cerchio FiRefreshCw"/>
          <p:cNvSpPr/>
          <p:nvPr/>
        </p:nvSpPr>
        <p:spPr>
          <a:xfrm>
            <a:off x="6230112" y="1216152"/>
            <a:ext cx="438912" cy="438912"/>
          </a:xfrm>
          <a:prstGeom prst="ellipse">
            <a:avLst/>
          </a:prstGeom>
          <a:solidFill>
            <a:schemeClr val="accent1"/>
          </a:solidFill>
          <a:ln/>
        </p:spPr>
      </p:sp>
      <p:pic>
        <p:nvPicPr>
          <p:cNvPr id="22" name="Image 2" descr="FiRefreshCw">    </p:cNvPr>
          <p:cNvPicPr>
            <a:picLocks noChangeAspect="1"/>
          </p:cNvPicPr>
          <p:nvPr/>
        </p:nvPicPr>
        <p:blipFill>
          <a:blip r:embed="rId3"/>
          <a:stretch>
            <a:fillRect/>
          </a:stretch>
        </p:blipFill>
        <p:spPr>
          <a:xfrm>
            <a:off x="6339840" y="1325880"/>
            <a:ext cx="219456" cy="219456"/>
          </a:xfrm>
          <a:prstGeom prst="rect">
            <a:avLst/>
          </a:prstGeom>
        </p:spPr>
      </p:pic>
      <p:sp>
        <p:nvSpPr>
          <p:cNvPr id="23" name="Text 17"/>
          <p:cNvSpPr txBox="1"/>
          <p:nvPr/>
        </p:nvSpPr>
        <p:spPr>
          <a:xfrm>
            <a:off x="6778752" y="117957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Sostituire</a:t>
            </a:r>
            <a:endParaRPr lang="en-US" sz="1300" dirty="0"/>
          </a:p>
        </p:txBody>
      </p:sp>
      <p:sp>
        <p:nvSpPr>
          <p:cNvPr id="24" name="Text 18"/>
          <p:cNvSpPr txBox="1"/>
          <p:nvPr/>
        </p:nvSpPr>
        <p:spPr>
          <a:xfrm>
            <a:off x="6230112" y="1764792"/>
            <a:ext cx="2292096" cy="292608"/>
          </a:xfrm>
          <a:prstGeom prst="rect">
            <a:avLst/>
          </a:prstGeom>
          <a:noFill/>
          <a:ln/>
        </p:spPr>
        <p:txBody>
          <a:bodyPr wrap="square" lIns="0" tIns="0" rIns="0" bIns="0" rtlCol="0" anchor="t"/>
          <a:lstStyle/>
          <a:p>
            <a:pPr indent="0" marL="0">
              <a:buNone/>
            </a:pPr>
            <a:r>
              <a:rPr lang="en-US" sz="1200" dirty="0">
                <a:solidFill>
                  <a:schemeClr val="tx2"/>
                </a:solidFill>
              </a:rPr>
              <a:t>Colore, sfondo, oggetto</a:t>
            </a:r>
            <a:endParaRPr lang="en-US" sz="1200" dirty="0"/>
          </a:p>
        </p:txBody>
      </p:sp>
      <p:sp>
        <p:nvSpPr>
          <p:cNvPr id="25" name="Cambiare stile"/>
          <p:cNvSpPr/>
          <p:nvPr/>
        </p:nvSpPr>
        <p:spPr>
          <a:xfrm>
            <a:off x="457200" y="2331720"/>
            <a:ext cx="2621280" cy="1097280"/>
          </a:xfrm>
          <a:prstGeom prst="roundRect">
            <a:avLst>
              <a:gd name="adj" fmla="val 6667"/>
            </a:avLst>
          </a:prstGeom>
          <a:solidFill>
            <a:schemeClr val="bg2"/>
          </a:solidFill>
          <a:ln/>
        </p:spPr>
      </p:sp>
      <p:sp>
        <p:nvSpPr>
          <p:cNvPr id="26" name="cerchio FiFeather"/>
          <p:cNvSpPr/>
          <p:nvPr/>
        </p:nvSpPr>
        <p:spPr>
          <a:xfrm>
            <a:off x="621792" y="2496312"/>
            <a:ext cx="438912" cy="438912"/>
          </a:xfrm>
          <a:prstGeom prst="ellipse">
            <a:avLst/>
          </a:prstGeom>
          <a:solidFill>
            <a:schemeClr val="accent1"/>
          </a:solidFill>
          <a:ln/>
        </p:spPr>
      </p:sp>
      <p:pic>
        <p:nvPicPr>
          <p:cNvPr id="27" name="Image 3" descr="FiFeather">    </p:cNvPr>
          <p:cNvPicPr>
            <a:picLocks noChangeAspect="1"/>
          </p:cNvPicPr>
          <p:nvPr/>
        </p:nvPicPr>
        <p:blipFill>
          <a:blip r:embed="rId4"/>
          <a:stretch>
            <a:fillRect/>
          </a:stretch>
        </p:blipFill>
        <p:spPr>
          <a:xfrm>
            <a:off x="731520" y="2606040"/>
            <a:ext cx="219456" cy="219456"/>
          </a:xfrm>
          <a:prstGeom prst="rect">
            <a:avLst/>
          </a:prstGeom>
        </p:spPr>
      </p:pic>
      <p:sp>
        <p:nvSpPr>
          <p:cNvPr id="28" name="Text 21"/>
          <p:cNvSpPr txBox="1"/>
          <p:nvPr/>
        </p:nvSpPr>
        <p:spPr>
          <a:xfrm>
            <a:off x="1170432" y="245973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Cambiare stile</a:t>
            </a:r>
            <a:endParaRPr lang="en-US" sz="1300" dirty="0"/>
          </a:p>
        </p:txBody>
      </p:sp>
      <p:sp>
        <p:nvSpPr>
          <p:cNvPr id="29" name="Text 22"/>
          <p:cNvSpPr txBox="1"/>
          <p:nvPr/>
        </p:nvSpPr>
        <p:spPr>
          <a:xfrm>
            <a:off x="621792" y="3044952"/>
            <a:ext cx="2292096" cy="292608"/>
          </a:xfrm>
          <a:prstGeom prst="rect">
            <a:avLst/>
          </a:prstGeom>
          <a:noFill/>
          <a:ln/>
        </p:spPr>
        <p:txBody>
          <a:bodyPr wrap="square" lIns="0" tIns="0" rIns="0" bIns="0" rtlCol="0" anchor="t"/>
          <a:lstStyle/>
          <a:p>
            <a:pPr indent="0" marL="0">
              <a:buNone/>
            </a:pPr>
            <a:r>
              <a:rPr lang="en-US" sz="1200" dirty="0">
                <a:solidFill>
                  <a:schemeClr val="tx2"/>
                </a:solidFill>
              </a:rPr>
              <a:t>Da foto a disegno o acquerello</a:t>
            </a:r>
            <a:endParaRPr lang="en-US" sz="1200" dirty="0"/>
          </a:p>
        </p:txBody>
      </p:sp>
      <p:sp>
        <p:nvSpPr>
          <p:cNvPr id="30" name="Composizione"/>
          <p:cNvSpPr/>
          <p:nvPr/>
        </p:nvSpPr>
        <p:spPr>
          <a:xfrm>
            <a:off x="3261360" y="2331720"/>
            <a:ext cx="2621280" cy="1097280"/>
          </a:xfrm>
          <a:prstGeom prst="roundRect">
            <a:avLst>
              <a:gd name="adj" fmla="val 6667"/>
            </a:avLst>
          </a:prstGeom>
          <a:solidFill>
            <a:schemeClr val="bg2"/>
          </a:solidFill>
          <a:ln/>
        </p:spPr>
      </p:sp>
      <p:sp>
        <p:nvSpPr>
          <p:cNvPr id="31" name="cerchio FiMaximize"/>
          <p:cNvSpPr/>
          <p:nvPr/>
        </p:nvSpPr>
        <p:spPr>
          <a:xfrm>
            <a:off x="3425952" y="2496312"/>
            <a:ext cx="438912" cy="438912"/>
          </a:xfrm>
          <a:prstGeom prst="ellipse">
            <a:avLst/>
          </a:prstGeom>
          <a:solidFill>
            <a:schemeClr val="accent1"/>
          </a:solidFill>
          <a:ln/>
        </p:spPr>
      </p:sp>
      <p:pic>
        <p:nvPicPr>
          <p:cNvPr id="32" name="Image 4" descr="FiMaximize">    </p:cNvPr>
          <p:cNvPicPr>
            <a:picLocks noChangeAspect="1"/>
          </p:cNvPicPr>
          <p:nvPr/>
        </p:nvPicPr>
        <p:blipFill>
          <a:blip r:embed="rId5"/>
          <a:stretch>
            <a:fillRect/>
          </a:stretch>
        </p:blipFill>
        <p:spPr>
          <a:xfrm>
            <a:off x="3535680" y="2606040"/>
            <a:ext cx="219456" cy="219456"/>
          </a:xfrm>
          <a:prstGeom prst="rect">
            <a:avLst/>
          </a:prstGeom>
        </p:spPr>
      </p:pic>
      <p:sp>
        <p:nvSpPr>
          <p:cNvPr id="33" name="Text 25"/>
          <p:cNvSpPr txBox="1"/>
          <p:nvPr/>
        </p:nvSpPr>
        <p:spPr>
          <a:xfrm>
            <a:off x="3974592" y="245973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Composizione</a:t>
            </a:r>
            <a:endParaRPr lang="en-US" sz="1300" dirty="0"/>
          </a:p>
        </p:txBody>
      </p:sp>
      <p:sp>
        <p:nvSpPr>
          <p:cNvPr id="34" name="Text 26"/>
          <p:cNvSpPr txBox="1"/>
          <p:nvPr/>
        </p:nvSpPr>
        <p:spPr>
          <a:xfrm>
            <a:off x="3425952" y="3044952"/>
            <a:ext cx="2292096" cy="292608"/>
          </a:xfrm>
          <a:prstGeom prst="rect">
            <a:avLst/>
          </a:prstGeom>
          <a:noFill/>
          <a:ln/>
        </p:spPr>
        <p:txBody>
          <a:bodyPr wrap="square" lIns="0" tIns="0" rIns="0" bIns="0" rtlCol="0" anchor="t"/>
          <a:lstStyle/>
          <a:p>
            <a:pPr indent="0" marL="0">
              <a:buNone/>
            </a:pPr>
            <a:r>
              <a:rPr lang="en-US" sz="1200" dirty="0">
                <a:solidFill>
                  <a:schemeClr val="tx2"/>
                </a:solidFill>
              </a:rPr>
              <a:t>Estendere, reinquadrare</a:t>
            </a:r>
            <a:endParaRPr lang="en-US" sz="1200" dirty="0"/>
          </a:p>
        </p:txBody>
      </p:sp>
      <p:sp>
        <p:nvSpPr>
          <p:cNvPr id="35" name="Formato"/>
          <p:cNvSpPr/>
          <p:nvPr/>
        </p:nvSpPr>
        <p:spPr>
          <a:xfrm>
            <a:off x="6065520" y="2331720"/>
            <a:ext cx="2621280" cy="1097280"/>
          </a:xfrm>
          <a:prstGeom prst="roundRect">
            <a:avLst>
              <a:gd name="adj" fmla="val 6667"/>
            </a:avLst>
          </a:prstGeom>
          <a:solidFill>
            <a:schemeClr val="bg2"/>
          </a:solidFill>
          <a:ln/>
        </p:spPr>
      </p:sp>
      <p:sp>
        <p:nvSpPr>
          <p:cNvPr id="36" name="cerchio FiSmartphone"/>
          <p:cNvSpPr/>
          <p:nvPr/>
        </p:nvSpPr>
        <p:spPr>
          <a:xfrm>
            <a:off x="6230112" y="2496312"/>
            <a:ext cx="438912" cy="438912"/>
          </a:xfrm>
          <a:prstGeom prst="ellipse">
            <a:avLst/>
          </a:prstGeom>
          <a:solidFill>
            <a:schemeClr val="accent1"/>
          </a:solidFill>
          <a:ln/>
        </p:spPr>
      </p:sp>
      <p:pic>
        <p:nvPicPr>
          <p:cNvPr id="37" name="Image 5" descr="FiSmartphone">    </p:cNvPr>
          <p:cNvPicPr>
            <a:picLocks noChangeAspect="1"/>
          </p:cNvPicPr>
          <p:nvPr/>
        </p:nvPicPr>
        <p:blipFill>
          <a:blip r:embed="rId6"/>
          <a:stretch>
            <a:fillRect/>
          </a:stretch>
        </p:blipFill>
        <p:spPr>
          <a:xfrm>
            <a:off x="6339840" y="2606040"/>
            <a:ext cx="219456" cy="219456"/>
          </a:xfrm>
          <a:prstGeom prst="rect">
            <a:avLst/>
          </a:prstGeom>
        </p:spPr>
      </p:pic>
      <p:sp>
        <p:nvSpPr>
          <p:cNvPr id="38" name="Text 29"/>
          <p:cNvSpPr txBox="1"/>
          <p:nvPr/>
        </p:nvSpPr>
        <p:spPr>
          <a:xfrm>
            <a:off x="6778752" y="245973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Formato</a:t>
            </a:r>
            <a:endParaRPr lang="en-US" sz="1300" dirty="0"/>
          </a:p>
        </p:txBody>
      </p:sp>
      <p:sp>
        <p:nvSpPr>
          <p:cNvPr id="39" name="Text 30"/>
          <p:cNvSpPr txBox="1"/>
          <p:nvPr/>
        </p:nvSpPr>
        <p:spPr>
          <a:xfrm>
            <a:off x="6230112" y="3044952"/>
            <a:ext cx="2292096" cy="292608"/>
          </a:xfrm>
          <a:prstGeom prst="rect">
            <a:avLst/>
          </a:prstGeom>
          <a:noFill/>
          <a:ln/>
        </p:spPr>
        <p:txBody>
          <a:bodyPr wrap="square" lIns="0" tIns="0" rIns="0" bIns="0" rtlCol="0" anchor="t"/>
          <a:lstStyle/>
          <a:p>
            <a:pPr indent="0" marL="0">
              <a:buNone/>
            </a:pPr>
            <a:r>
              <a:rPr lang="en-US" sz="1200" dirty="0">
                <a:solidFill>
                  <a:schemeClr val="tx2"/>
                </a:solidFill>
              </a:rPr>
              <a:t>Orizzontale, verticale, risoluzione</a:t>
            </a:r>
            <a:endParaRPr lang="en-US" sz="1200" dirty="0"/>
          </a:p>
        </p:txBody>
      </p:sp>
      <p:sp>
        <p:nvSpPr>
          <p:cNvPr id="40" name="attenzione documentazione"/>
          <p:cNvSpPr/>
          <p:nvPr/>
        </p:nvSpPr>
        <p:spPr>
          <a:xfrm>
            <a:off x="457200" y="3611880"/>
            <a:ext cx="8229600" cy="914400"/>
          </a:xfrm>
          <a:prstGeom prst="roundRect">
            <a:avLst>
              <a:gd name="adj" fmla="val 8000"/>
            </a:avLst>
          </a:prstGeom>
          <a:solidFill>
            <a:schemeClr val="tx1"/>
          </a:solidFill>
          <a:ln/>
        </p:spPr>
      </p:sp>
      <p:sp>
        <p:nvSpPr>
          <p:cNvPr id="41" name="Text 32"/>
          <p:cNvSpPr txBox="1"/>
          <p:nvPr/>
        </p:nvSpPr>
        <p:spPr>
          <a:xfrm>
            <a:off x="640080" y="3611880"/>
            <a:ext cx="7863840" cy="914400"/>
          </a:xfrm>
          <a:prstGeom prst="rect">
            <a:avLst/>
          </a:prstGeom>
          <a:noFill/>
          <a:ln/>
        </p:spPr>
        <p:txBody>
          <a:bodyPr wrap="square" lIns="0" tIns="0" rIns="0" bIns="0" rtlCol="0" anchor="ctr"/>
          <a:lstStyle/>
          <a:p>
            <a:pPr indent="0" marL="0">
              <a:buNone/>
            </a:pPr>
            <a:r>
              <a:rPr lang="en-US" sz="1300" b="1" dirty="0">
                <a:solidFill>
                  <a:schemeClr val="accent6"/>
                </a:solidFill>
              </a:rPr>
              <a:t>Attenzione: </a:t>
            </a:r>
            <a:pPr indent="0" marL="0">
              <a:buNone/>
            </a:pPr>
            <a:r>
              <a:rPr lang="en-US" sz="1300" dirty="0">
                <a:solidFill>
                  <a:schemeClr val="bg1"/>
                </a:solidFill>
              </a:rPr>
              <a:t>rimuovere un elemento da una foto che documenta un fatto, come un cantiere o un danno, cambia ciò che la foto documenta. Cautela e trasparenza (10.8).</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Applicazioni alla comunicazione</a:t>
            </a:r>
            <a:endParaRPr lang="en-US" sz="2600" dirty="0"/>
          </a:p>
        </p:txBody>
      </p:sp>
      <p:sp>
        <p:nvSpPr>
          <p:cNvPr id="4" name="operazione Interpretare"/>
          <p:cNvSpPr/>
          <p:nvPr/>
        </p:nvSpPr>
        <p:spPr>
          <a:xfrm>
            <a:off x="6053328" y="384048"/>
            <a:ext cx="841248"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6053328" y="384048"/>
            <a:ext cx="841248" cy="237744"/>
          </a:xfrm>
          <a:prstGeom prst="rect">
            <a:avLst/>
          </a:prstGeom>
          <a:noFill/>
          <a:ln/>
        </p:spPr>
        <p:txBody>
          <a:bodyPr wrap="square" lIns="0" tIns="0" rIns="0" bIns="0" rtlCol="0" anchor="ctr"/>
          <a:lstStyle/>
          <a:p>
            <a:pPr algn="ctr" indent="0" marL="0">
              <a:buNone/>
            </a:pPr>
            <a:r>
              <a:rPr lang="en-US" sz="900" b="1" dirty="0">
                <a:solidFill>
                  <a:schemeClr val="accent1"/>
                </a:solidFill>
              </a:rPr>
              <a:t>Interpretare</a:t>
            </a:r>
            <a:endParaRPr lang="en-US" sz="900" dirty="0"/>
          </a:p>
        </p:txBody>
      </p:sp>
      <p:sp>
        <p:nvSpPr>
          <p:cNvPr id="6" name="operazione Generare"/>
          <p:cNvSpPr/>
          <p:nvPr/>
        </p:nvSpPr>
        <p:spPr>
          <a:xfrm>
            <a:off x="6940296" y="384048"/>
            <a:ext cx="841248"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940296" y="384048"/>
            <a:ext cx="841248" cy="237744"/>
          </a:xfrm>
          <a:prstGeom prst="rect">
            <a:avLst/>
          </a:prstGeom>
          <a:noFill/>
          <a:ln/>
        </p:spPr>
        <p:txBody>
          <a:bodyPr wrap="square" lIns="0" tIns="0" rIns="0" bIns="0" rtlCol="0" anchor="ctr"/>
          <a:lstStyle/>
          <a:p>
            <a:pPr algn="ctr" indent="0" marL="0">
              <a:buNone/>
            </a:pPr>
            <a:r>
              <a:rPr lang="en-US" sz="900" b="1" dirty="0">
                <a:solidFill>
                  <a:schemeClr val="bg1"/>
                </a:solidFill>
              </a:rPr>
              <a:t>Generare</a:t>
            </a:r>
            <a:endParaRPr lang="en-US" sz="900" dirty="0"/>
          </a:p>
        </p:txBody>
      </p:sp>
      <p:sp>
        <p:nvSpPr>
          <p:cNvPr id="8" name="operazione Trasformare"/>
          <p:cNvSpPr/>
          <p:nvPr/>
        </p:nvSpPr>
        <p:spPr>
          <a:xfrm>
            <a:off x="7827264" y="384048"/>
            <a:ext cx="841248"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7827264" y="384048"/>
            <a:ext cx="841248" cy="237744"/>
          </a:xfrm>
          <a:prstGeom prst="rect">
            <a:avLst/>
          </a:prstGeom>
          <a:noFill/>
          <a:ln/>
        </p:spPr>
        <p:txBody>
          <a:bodyPr wrap="square" lIns="0" tIns="0" rIns="0" bIns="0" rtlCol="0" anchor="ctr"/>
          <a:lstStyle/>
          <a:p>
            <a:pPr algn="ctr" indent="0" marL="0">
              <a:buNone/>
            </a:pPr>
            <a:r>
              <a:rPr lang="en-US" sz="900" b="1" dirty="0">
                <a:solidFill>
                  <a:schemeClr val="bg1"/>
                </a:solidFill>
              </a:rPr>
              <a:t>Trasformare</a:t>
            </a:r>
            <a:endParaRPr lang="en-US" sz="9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2286000"/>
                <a:gridCol w="2743200"/>
                <a:gridCol w="3200400"/>
              </a:tblGrid>
              <a:tr h="457200">
                <a:tc>
                  <a:txBody>
                    <a:bodyPr/>
                    <a:lstStyle/>
                    <a:p>
                      <a:pPr indent="0" marL="0">
                        <a:buNone/>
                      </a:pPr>
                      <a:r>
                        <a:rPr lang="en-US" sz="1200" b="1" dirty="0">
                          <a:solidFill>
                            <a:schemeClr val="bg1"/>
                          </a:solidFill>
                        </a:rPr>
                        <a:t>Applicazione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Valore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Attenzione principale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tr>
              <a:tr h="457200">
                <a:tc>
                  <a:txBody>
                    <a:bodyPr/>
                    <a:lstStyle/>
                    <a:p>
                      <a:pPr indent="0" marL="0">
                        <a:buNone/>
                      </a:pPr>
                      <a:r>
                        <a:rPr lang="en-US" sz="1200" b="1" dirty="0">
                          <a:solidFill>
                            <a:schemeClr val="tx1"/>
                          </a:solidFill>
                        </a:rPr>
                        <a:t>Materiali interni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Contenuti più chiari e gradevoli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Coerenza con lo stile aziendale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457200">
                <a:tc>
                  <a:txBody>
                    <a:bodyPr/>
                    <a:lstStyle/>
                    <a:p>
                      <a:pPr indent="0" marL="0">
                        <a:buNone/>
                      </a:pPr>
                      <a:r>
                        <a:rPr lang="en-US" sz="1200" b="1" dirty="0">
                          <a:solidFill>
                            <a:schemeClr val="tx1"/>
                          </a:solidFill>
                        </a:rPr>
                        <a:t>Concept e prototipi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Esplorare prima di investire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Non confonderli con il prodotto finale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457200">
                <a:tc>
                  <a:txBody>
                    <a:bodyPr/>
                    <a:lstStyle/>
                    <a:p>
                      <a:pPr indent="0" marL="0">
                        <a:buNone/>
                      </a:pPr>
                      <a:r>
                        <a:rPr lang="en-US" sz="1200" b="1" dirty="0">
                          <a:solidFill>
                            <a:schemeClr val="tx1"/>
                          </a:solidFill>
                        </a:rPr>
                        <a:t>Adattamento di formati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Rapido, per più canali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Coerenza con originale e identità visiva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457200">
                <a:tc>
                  <a:txBody>
                    <a:bodyPr/>
                    <a:lstStyle/>
                    <a:p>
                      <a:pPr indent="0" marL="0">
                        <a:buNone/>
                      </a:pPr>
                      <a:r>
                        <a:rPr lang="en-US" sz="1200" b="1" dirty="0">
                          <a:solidFill>
                            <a:schemeClr val="tx1"/>
                          </a:solidFill>
                        </a:rPr>
                        <a:t>Comunicazione esterna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Contenuti in quantità</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Marchio, diritti, persone, trasparenza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bl>
          </a:graphicData>
        </a:graphic>
      </p:graphicFrame>
      <p:sp>
        <p:nvSpPr>
          <p:cNvPr id="11" name="messaggio"/>
          <p:cNvSpPr/>
          <p:nvPr/>
        </p:nvSpPr>
        <p:spPr>
          <a:xfrm>
            <a:off x="457200" y="3520440"/>
            <a:ext cx="8229600" cy="685800"/>
          </a:xfrm>
          <a:prstGeom prst="roundRect">
            <a:avLst>
              <a:gd name="adj" fmla="val 10667"/>
            </a:avLst>
          </a:prstGeom>
          <a:solidFill>
            <a:schemeClr val="tx1"/>
          </a:solidFill>
          <a:ln/>
        </p:spPr>
      </p:sp>
      <p:sp>
        <p:nvSpPr>
          <p:cNvPr id="12" name="Text 8"/>
          <p:cNvSpPr txBox="1"/>
          <p:nvPr/>
        </p:nvSpPr>
        <p:spPr>
          <a:xfrm>
            <a:off x="640080" y="3520440"/>
            <a:ext cx="7863840" cy="685800"/>
          </a:xfrm>
          <a:prstGeom prst="rect">
            <a:avLst/>
          </a:prstGeom>
          <a:noFill/>
          <a:ln/>
        </p:spPr>
        <p:txBody>
          <a:bodyPr wrap="square" lIns="0" tIns="0" rIns="0" bIns="0" rtlCol="0" anchor="ctr"/>
          <a:lstStyle/>
          <a:p>
            <a:pPr indent="0" marL="0">
              <a:buNone/>
            </a:pPr>
            <a:r>
              <a:rPr lang="en-US" sz="1300" dirty="0">
                <a:solidFill>
                  <a:schemeClr val="bg1"/>
                </a:solidFill>
              </a:rPr>
              <a:t>Seguire le linee guida aziendali sulle immagini generate. Se non esistono, è il momento di chiederle.</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Limiti di precisione e riproducibilità</a:t>
            </a:r>
            <a:endParaRPr lang="en-US" sz="2600" dirty="0"/>
          </a:p>
        </p:txBody>
      </p:sp>
      <p:sp>
        <p:nvSpPr>
          <p:cNvPr id="4" name="operazione Interpretare"/>
          <p:cNvSpPr/>
          <p:nvPr/>
        </p:nvSpPr>
        <p:spPr>
          <a:xfrm>
            <a:off x="6053328" y="384048"/>
            <a:ext cx="841248"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6053328" y="384048"/>
            <a:ext cx="841248" cy="237744"/>
          </a:xfrm>
          <a:prstGeom prst="rect">
            <a:avLst/>
          </a:prstGeom>
          <a:noFill/>
          <a:ln/>
        </p:spPr>
        <p:txBody>
          <a:bodyPr wrap="square" lIns="0" tIns="0" rIns="0" bIns="0" rtlCol="0" anchor="ctr"/>
          <a:lstStyle/>
          <a:p>
            <a:pPr algn="ctr" indent="0" marL="0">
              <a:buNone/>
            </a:pPr>
            <a:r>
              <a:rPr lang="en-US" sz="900" b="1" dirty="0">
                <a:solidFill>
                  <a:schemeClr val="accent1"/>
                </a:solidFill>
              </a:rPr>
              <a:t>Interpretare</a:t>
            </a:r>
            <a:endParaRPr lang="en-US" sz="900" dirty="0"/>
          </a:p>
        </p:txBody>
      </p:sp>
      <p:sp>
        <p:nvSpPr>
          <p:cNvPr id="6" name="operazione Generare"/>
          <p:cNvSpPr/>
          <p:nvPr/>
        </p:nvSpPr>
        <p:spPr>
          <a:xfrm>
            <a:off x="6940296" y="384048"/>
            <a:ext cx="841248"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940296" y="384048"/>
            <a:ext cx="841248" cy="237744"/>
          </a:xfrm>
          <a:prstGeom prst="rect">
            <a:avLst/>
          </a:prstGeom>
          <a:noFill/>
          <a:ln/>
        </p:spPr>
        <p:txBody>
          <a:bodyPr wrap="square" lIns="0" tIns="0" rIns="0" bIns="0" rtlCol="0" anchor="ctr"/>
          <a:lstStyle/>
          <a:p>
            <a:pPr algn="ctr" indent="0" marL="0">
              <a:buNone/>
            </a:pPr>
            <a:r>
              <a:rPr lang="en-US" sz="900" b="1" dirty="0">
                <a:solidFill>
                  <a:schemeClr val="bg1"/>
                </a:solidFill>
              </a:rPr>
              <a:t>Generare</a:t>
            </a:r>
            <a:endParaRPr lang="en-US" sz="900" dirty="0"/>
          </a:p>
        </p:txBody>
      </p:sp>
      <p:sp>
        <p:nvSpPr>
          <p:cNvPr id="8" name="operazione Trasformare"/>
          <p:cNvSpPr/>
          <p:nvPr/>
        </p:nvSpPr>
        <p:spPr>
          <a:xfrm>
            <a:off x="7827264" y="384048"/>
            <a:ext cx="841248"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827264" y="384048"/>
            <a:ext cx="841248" cy="237744"/>
          </a:xfrm>
          <a:prstGeom prst="rect">
            <a:avLst/>
          </a:prstGeom>
          <a:noFill/>
          <a:ln/>
        </p:spPr>
        <p:txBody>
          <a:bodyPr wrap="square" lIns="0" tIns="0" rIns="0" bIns="0" rtlCol="0" anchor="ctr"/>
          <a:lstStyle/>
          <a:p>
            <a:pPr algn="ctr" indent="0" marL="0">
              <a:buNone/>
            </a:pPr>
            <a:r>
              <a:rPr lang="en-US" sz="900" b="1" dirty="0">
                <a:solidFill>
                  <a:schemeClr val="accent1"/>
                </a:solidFill>
              </a:rPr>
              <a:t>Trasformare</a:t>
            </a:r>
            <a:endParaRPr lang="en-US" sz="900" dirty="0"/>
          </a:p>
        </p:txBody>
      </p:sp>
      <p:sp>
        <p:nvSpPr>
          <p:cNvPr id="10" name="Testo nell'immagine"/>
          <p:cNvSpPr/>
          <p:nvPr/>
        </p:nvSpPr>
        <p:spPr>
          <a:xfrm>
            <a:off x="457200" y="1051560"/>
            <a:ext cx="8229600" cy="475488"/>
          </a:xfrm>
          <a:prstGeom prst="roundRect">
            <a:avLst>
              <a:gd name="adj" fmla="val 15385"/>
            </a:avLst>
          </a:prstGeom>
          <a:solidFill>
            <a:schemeClr val="bg2"/>
          </a:solidFill>
          <a:ln/>
        </p:spPr>
      </p:sp>
      <p:sp>
        <p:nvSpPr>
          <p:cNvPr id="11" name="Text 8"/>
          <p:cNvSpPr txBox="1"/>
          <p:nvPr/>
        </p:nvSpPr>
        <p:spPr>
          <a:xfrm>
            <a:off x="640080" y="1051560"/>
            <a:ext cx="2377440" cy="475488"/>
          </a:xfrm>
          <a:prstGeom prst="rect">
            <a:avLst/>
          </a:prstGeom>
          <a:noFill/>
          <a:ln/>
        </p:spPr>
        <p:txBody>
          <a:bodyPr wrap="square" lIns="0" tIns="0" rIns="0" bIns="0" rtlCol="0" anchor="ctr"/>
          <a:lstStyle/>
          <a:p>
            <a:pPr indent="0" marL="0">
              <a:buNone/>
            </a:pPr>
            <a:r>
              <a:rPr lang="en-US" sz="1300" b="1" dirty="0">
                <a:solidFill>
                  <a:schemeClr val="accent1"/>
                </a:solidFill>
              </a:rPr>
              <a:t>Testo nell'immagine</a:t>
            </a:r>
            <a:endParaRPr lang="en-US" sz="1300" dirty="0"/>
          </a:p>
        </p:txBody>
      </p:sp>
      <p:sp>
        <p:nvSpPr>
          <p:cNvPr id="12" name="Text 9"/>
          <p:cNvSpPr txBox="1"/>
          <p:nvPr/>
        </p:nvSpPr>
        <p:spPr>
          <a:xfrm>
            <a:off x="3017520" y="1051560"/>
            <a:ext cx="5486400" cy="475488"/>
          </a:xfrm>
          <a:prstGeom prst="rect">
            <a:avLst/>
          </a:prstGeom>
          <a:noFill/>
          <a:ln/>
        </p:spPr>
        <p:txBody>
          <a:bodyPr wrap="square" lIns="0" tIns="0" rIns="0" bIns="0" rtlCol="0" anchor="ctr"/>
          <a:lstStyle/>
          <a:p>
            <a:pPr indent="0" marL="0">
              <a:buNone/>
            </a:pPr>
            <a:r>
              <a:rPr lang="en-US" sz="1200" dirty="0">
                <a:solidFill>
                  <a:schemeClr val="tx1"/>
                </a:solidFill>
              </a:rPr>
              <a:t>Scritte, etichette e numeri errati, deformati o inventati</a:t>
            </a:r>
            <a:endParaRPr lang="en-US" sz="1200" dirty="0"/>
          </a:p>
        </p:txBody>
      </p:sp>
      <p:sp>
        <p:nvSpPr>
          <p:cNvPr id="13" name="Dettagli"/>
          <p:cNvSpPr/>
          <p:nvPr/>
        </p:nvSpPr>
        <p:spPr>
          <a:xfrm>
            <a:off x="457200" y="1600200"/>
            <a:ext cx="8229600" cy="475488"/>
          </a:xfrm>
          <a:prstGeom prst="roundRect">
            <a:avLst>
              <a:gd name="adj" fmla="val 15385"/>
            </a:avLst>
          </a:prstGeom>
          <a:solidFill>
            <a:schemeClr val="bg1"/>
          </a:solidFill>
          <a:ln/>
        </p:spPr>
      </p:sp>
      <p:sp>
        <p:nvSpPr>
          <p:cNvPr id="14" name="Text 11"/>
          <p:cNvSpPr txBox="1"/>
          <p:nvPr/>
        </p:nvSpPr>
        <p:spPr>
          <a:xfrm>
            <a:off x="640080" y="1600200"/>
            <a:ext cx="2377440" cy="475488"/>
          </a:xfrm>
          <a:prstGeom prst="rect">
            <a:avLst/>
          </a:prstGeom>
          <a:noFill/>
          <a:ln/>
        </p:spPr>
        <p:txBody>
          <a:bodyPr wrap="square" lIns="0" tIns="0" rIns="0" bIns="0" rtlCol="0" anchor="ctr"/>
          <a:lstStyle/>
          <a:p>
            <a:pPr indent="0" marL="0">
              <a:buNone/>
            </a:pPr>
            <a:r>
              <a:rPr lang="en-US" sz="1300" b="1" dirty="0">
                <a:solidFill>
                  <a:schemeClr val="accent1"/>
                </a:solidFill>
              </a:rPr>
              <a:t>Dettagli</a:t>
            </a:r>
            <a:endParaRPr lang="en-US" sz="1300" dirty="0"/>
          </a:p>
        </p:txBody>
      </p:sp>
      <p:sp>
        <p:nvSpPr>
          <p:cNvPr id="15" name="Text 12"/>
          <p:cNvSpPr txBox="1"/>
          <p:nvPr/>
        </p:nvSpPr>
        <p:spPr>
          <a:xfrm>
            <a:off x="3017520" y="1600200"/>
            <a:ext cx="5486400" cy="475488"/>
          </a:xfrm>
          <a:prstGeom prst="rect">
            <a:avLst/>
          </a:prstGeom>
          <a:noFill/>
          <a:ln/>
        </p:spPr>
        <p:txBody>
          <a:bodyPr wrap="square" lIns="0" tIns="0" rIns="0" bIns="0" rtlCol="0" anchor="ctr"/>
          <a:lstStyle/>
          <a:p>
            <a:pPr indent="0" marL="0">
              <a:buNone/>
            </a:pPr>
            <a:r>
              <a:rPr lang="en-US" sz="1200" dirty="0">
                <a:solidFill>
                  <a:schemeClr val="tx1"/>
                </a:solidFill>
              </a:rPr>
              <a:t>Mani, oggetti complessi, meccanismi con incoerenze</a:t>
            </a:r>
            <a:endParaRPr lang="en-US" sz="1200" dirty="0"/>
          </a:p>
        </p:txBody>
      </p:sp>
      <p:sp>
        <p:nvSpPr>
          <p:cNvPr id="16" name="Fedeltà ai riferimenti"/>
          <p:cNvSpPr/>
          <p:nvPr/>
        </p:nvSpPr>
        <p:spPr>
          <a:xfrm>
            <a:off x="457200" y="2148840"/>
            <a:ext cx="8229600" cy="475488"/>
          </a:xfrm>
          <a:prstGeom prst="roundRect">
            <a:avLst>
              <a:gd name="adj" fmla="val 15385"/>
            </a:avLst>
          </a:prstGeom>
          <a:solidFill>
            <a:schemeClr val="bg2"/>
          </a:solidFill>
          <a:ln/>
        </p:spPr>
      </p:sp>
      <p:sp>
        <p:nvSpPr>
          <p:cNvPr id="17" name="Text 14"/>
          <p:cNvSpPr txBox="1"/>
          <p:nvPr/>
        </p:nvSpPr>
        <p:spPr>
          <a:xfrm>
            <a:off x="640080" y="2148840"/>
            <a:ext cx="2377440" cy="475488"/>
          </a:xfrm>
          <a:prstGeom prst="rect">
            <a:avLst/>
          </a:prstGeom>
          <a:noFill/>
          <a:ln/>
        </p:spPr>
        <p:txBody>
          <a:bodyPr wrap="square" lIns="0" tIns="0" rIns="0" bIns="0" rtlCol="0" anchor="ctr"/>
          <a:lstStyle/>
          <a:p>
            <a:pPr indent="0" marL="0">
              <a:buNone/>
            </a:pPr>
            <a:r>
              <a:rPr lang="en-US" sz="1300" b="1" dirty="0">
                <a:solidFill>
                  <a:schemeClr val="accent1"/>
                </a:solidFill>
              </a:rPr>
              <a:t>Fedeltà ai riferimenti</a:t>
            </a:r>
            <a:endParaRPr lang="en-US" sz="1300" dirty="0"/>
          </a:p>
        </p:txBody>
      </p:sp>
      <p:sp>
        <p:nvSpPr>
          <p:cNvPr id="18" name="Text 15"/>
          <p:cNvSpPr txBox="1"/>
          <p:nvPr/>
        </p:nvSpPr>
        <p:spPr>
          <a:xfrm>
            <a:off x="3017520" y="2148840"/>
            <a:ext cx="5486400" cy="475488"/>
          </a:xfrm>
          <a:prstGeom prst="rect">
            <a:avLst/>
          </a:prstGeom>
          <a:noFill/>
          <a:ln/>
        </p:spPr>
        <p:txBody>
          <a:bodyPr wrap="square" lIns="0" tIns="0" rIns="0" bIns="0" rtlCol="0" anchor="ctr"/>
          <a:lstStyle/>
          <a:p>
            <a:pPr indent="0" marL="0">
              <a:buNone/>
            </a:pPr>
            <a:r>
              <a:rPr lang="en-US" sz="1200" dirty="0">
                <a:solidFill>
                  <a:schemeClr val="tx1"/>
                </a:solidFill>
              </a:rPr>
              <a:t>Un prodotto o un luogo reale: simile, ma non fedele</a:t>
            </a:r>
            <a:endParaRPr lang="en-US" sz="1200" dirty="0"/>
          </a:p>
        </p:txBody>
      </p:sp>
      <p:sp>
        <p:nvSpPr>
          <p:cNvPr id="19" name="Riproducibilità"/>
          <p:cNvSpPr/>
          <p:nvPr/>
        </p:nvSpPr>
        <p:spPr>
          <a:xfrm>
            <a:off x="457200" y="2697480"/>
            <a:ext cx="8229600" cy="475488"/>
          </a:xfrm>
          <a:prstGeom prst="roundRect">
            <a:avLst>
              <a:gd name="adj" fmla="val 15385"/>
            </a:avLst>
          </a:prstGeom>
          <a:solidFill>
            <a:schemeClr val="bg1"/>
          </a:solidFill>
          <a:ln/>
        </p:spPr>
      </p:sp>
      <p:sp>
        <p:nvSpPr>
          <p:cNvPr id="20" name="Text 17"/>
          <p:cNvSpPr txBox="1"/>
          <p:nvPr/>
        </p:nvSpPr>
        <p:spPr>
          <a:xfrm>
            <a:off x="640080" y="2697480"/>
            <a:ext cx="2377440" cy="475488"/>
          </a:xfrm>
          <a:prstGeom prst="rect">
            <a:avLst/>
          </a:prstGeom>
          <a:noFill/>
          <a:ln/>
        </p:spPr>
        <p:txBody>
          <a:bodyPr wrap="square" lIns="0" tIns="0" rIns="0" bIns="0" rtlCol="0" anchor="ctr"/>
          <a:lstStyle/>
          <a:p>
            <a:pPr indent="0" marL="0">
              <a:buNone/>
            </a:pPr>
            <a:r>
              <a:rPr lang="en-US" sz="1300" b="1" dirty="0">
                <a:solidFill>
                  <a:schemeClr val="accent1"/>
                </a:solidFill>
              </a:rPr>
              <a:t>Riproducibilità</a:t>
            </a:r>
            <a:endParaRPr lang="en-US" sz="1300" dirty="0"/>
          </a:p>
        </p:txBody>
      </p:sp>
      <p:sp>
        <p:nvSpPr>
          <p:cNvPr id="21" name="Text 18"/>
          <p:cNvSpPr txBox="1"/>
          <p:nvPr/>
        </p:nvSpPr>
        <p:spPr>
          <a:xfrm>
            <a:off x="3017520" y="2697480"/>
            <a:ext cx="5486400" cy="475488"/>
          </a:xfrm>
          <a:prstGeom prst="rect">
            <a:avLst/>
          </a:prstGeom>
          <a:noFill/>
          <a:ln/>
        </p:spPr>
        <p:txBody>
          <a:bodyPr wrap="square" lIns="0" tIns="0" rIns="0" bIns="0" rtlCol="0" anchor="ctr"/>
          <a:lstStyle/>
          <a:p>
            <a:pPr indent="0" marL="0">
              <a:buNone/>
            </a:pPr>
            <a:r>
              <a:rPr lang="en-US" sz="1200" dirty="0">
                <a:solidFill>
                  <a:schemeClr val="tx1"/>
                </a:solidFill>
              </a:rPr>
              <a:t>Stessa richiesta, immagini diverse; serie coerenti difficili</a:t>
            </a:r>
            <a:endParaRPr lang="en-US" sz="1200" dirty="0"/>
          </a:p>
        </p:txBody>
      </p:sp>
      <p:sp>
        <p:nvSpPr>
          <p:cNvPr id="22" name="Controllo fine"/>
          <p:cNvSpPr/>
          <p:nvPr/>
        </p:nvSpPr>
        <p:spPr>
          <a:xfrm>
            <a:off x="457200" y="3246120"/>
            <a:ext cx="8229600" cy="475488"/>
          </a:xfrm>
          <a:prstGeom prst="roundRect">
            <a:avLst>
              <a:gd name="adj" fmla="val 15385"/>
            </a:avLst>
          </a:prstGeom>
          <a:solidFill>
            <a:schemeClr val="bg2"/>
          </a:solidFill>
          <a:ln/>
        </p:spPr>
      </p:sp>
      <p:sp>
        <p:nvSpPr>
          <p:cNvPr id="23" name="Text 20"/>
          <p:cNvSpPr txBox="1"/>
          <p:nvPr/>
        </p:nvSpPr>
        <p:spPr>
          <a:xfrm>
            <a:off x="640080" y="3246120"/>
            <a:ext cx="2377440" cy="475488"/>
          </a:xfrm>
          <a:prstGeom prst="rect">
            <a:avLst/>
          </a:prstGeom>
          <a:noFill/>
          <a:ln/>
        </p:spPr>
        <p:txBody>
          <a:bodyPr wrap="square" lIns="0" tIns="0" rIns="0" bIns="0" rtlCol="0" anchor="ctr"/>
          <a:lstStyle/>
          <a:p>
            <a:pPr indent="0" marL="0">
              <a:buNone/>
            </a:pPr>
            <a:r>
              <a:rPr lang="en-US" sz="1300" b="1" dirty="0">
                <a:solidFill>
                  <a:schemeClr val="accent1"/>
                </a:solidFill>
              </a:rPr>
              <a:t>Controllo fine</a:t>
            </a:r>
            <a:endParaRPr lang="en-US" sz="1300" dirty="0"/>
          </a:p>
        </p:txBody>
      </p:sp>
      <p:sp>
        <p:nvSpPr>
          <p:cNvPr id="24" name="Text 21"/>
          <p:cNvSpPr txBox="1"/>
          <p:nvPr/>
        </p:nvSpPr>
        <p:spPr>
          <a:xfrm>
            <a:off x="3017520" y="3246120"/>
            <a:ext cx="5486400" cy="475488"/>
          </a:xfrm>
          <a:prstGeom prst="rect">
            <a:avLst/>
          </a:prstGeom>
          <a:noFill/>
          <a:ln/>
        </p:spPr>
        <p:txBody>
          <a:bodyPr wrap="square" lIns="0" tIns="0" rIns="0" bIns="0" rtlCol="0" anchor="ctr"/>
          <a:lstStyle/>
          <a:p>
            <a:pPr indent="0" marL="0">
              <a:buNone/>
            </a:pPr>
            <a:r>
              <a:rPr lang="en-US" sz="1200" dirty="0">
                <a:solidFill>
                  <a:schemeClr val="tx1"/>
                </a:solidFill>
              </a:rPr>
              <a:t>Cambiare un solo dettaglio senza alterare il resto</a:t>
            </a:r>
            <a:endParaRPr lang="en-US" sz="1200" dirty="0"/>
          </a:p>
        </p:txBody>
      </p:sp>
      <p:sp>
        <p:nvSpPr>
          <p:cNvPr id="25" name="messaggio"/>
          <p:cNvSpPr/>
          <p:nvPr/>
        </p:nvSpPr>
        <p:spPr>
          <a:xfrm>
            <a:off x="457200" y="3886200"/>
            <a:ext cx="8229600" cy="594360"/>
          </a:xfrm>
          <a:prstGeom prst="roundRect">
            <a:avLst>
              <a:gd name="adj" fmla="val 12308"/>
            </a:avLst>
          </a:prstGeom>
          <a:solidFill>
            <a:schemeClr val="tx1"/>
          </a:solidFill>
          <a:ln/>
        </p:spPr>
      </p:sp>
      <p:sp>
        <p:nvSpPr>
          <p:cNvPr id="26" name="Text 23"/>
          <p:cNvSpPr txBox="1"/>
          <p:nvPr/>
        </p:nvSpPr>
        <p:spPr>
          <a:xfrm>
            <a:off x="640080" y="3886200"/>
            <a:ext cx="7863840" cy="594360"/>
          </a:xfrm>
          <a:prstGeom prst="rect">
            <a:avLst/>
          </a:prstGeom>
          <a:noFill/>
          <a:ln/>
        </p:spPr>
        <p:txBody>
          <a:bodyPr wrap="square" lIns="0" tIns="0" rIns="0" bIns="0" rtlCol="0" anchor="ctr"/>
          <a:lstStyle/>
          <a:p>
            <a:pPr indent="0" marL="0">
              <a:buNone/>
            </a:pPr>
            <a:r>
              <a:rPr lang="en-US" sz="1400" dirty="0">
                <a:solidFill>
                  <a:schemeClr val="bg1"/>
                </a:solidFill>
              </a:rPr>
              <a:t>Ottima per esplorare; meno adatta quando servono precisione e coerenza rigorose.</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Requisiti professionali</a:t>
            </a:r>
            <a:endParaRPr lang="en-US" sz="2600" dirty="0"/>
          </a:p>
        </p:txBody>
      </p:sp>
      <p:sp>
        <p:nvSpPr>
          <p:cNvPr id="4" name="operazione Interpretare"/>
          <p:cNvSpPr/>
          <p:nvPr/>
        </p:nvSpPr>
        <p:spPr>
          <a:xfrm>
            <a:off x="6053328" y="384048"/>
            <a:ext cx="841248"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6053328" y="384048"/>
            <a:ext cx="841248" cy="237744"/>
          </a:xfrm>
          <a:prstGeom prst="rect">
            <a:avLst/>
          </a:prstGeom>
          <a:noFill/>
          <a:ln/>
        </p:spPr>
        <p:txBody>
          <a:bodyPr wrap="square" lIns="0" tIns="0" rIns="0" bIns="0" rtlCol="0" anchor="ctr"/>
          <a:lstStyle/>
          <a:p>
            <a:pPr algn="ctr" indent="0" marL="0">
              <a:buNone/>
            </a:pPr>
            <a:r>
              <a:rPr lang="en-US" sz="900" b="1" dirty="0">
                <a:solidFill>
                  <a:schemeClr val="accent1"/>
                </a:solidFill>
              </a:rPr>
              <a:t>Interpretare</a:t>
            </a:r>
            <a:endParaRPr lang="en-US" sz="900" dirty="0"/>
          </a:p>
        </p:txBody>
      </p:sp>
      <p:sp>
        <p:nvSpPr>
          <p:cNvPr id="6" name="operazione Generare"/>
          <p:cNvSpPr/>
          <p:nvPr/>
        </p:nvSpPr>
        <p:spPr>
          <a:xfrm>
            <a:off x="6940296" y="384048"/>
            <a:ext cx="841248"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940296" y="384048"/>
            <a:ext cx="841248" cy="237744"/>
          </a:xfrm>
          <a:prstGeom prst="rect">
            <a:avLst/>
          </a:prstGeom>
          <a:noFill/>
          <a:ln/>
        </p:spPr>
        <p:txBody>
          <a:bodyPr wrap="square" lIns="0" tIns="0" rIns="0" bIns="0" rtlCol="0" anchor="ctr"/>
          <a:lstStyle/>
          <a:p>
            <a:pPr algn="ctr" indent="0" marL="0">
              <a:buNone/>
            </a:pPr>
            <a:r>
              <a:rPr lang="en-US" sz="900" b="1" dirty="0">
                <a:solidFill>
                  <a:schemeClr val="bg1"/>
                </a:solidFill>
              </a:rPr>
              <a:t>Generare</a:t>
            </a:r>
            <a:endParaRPr lang="en-US" sz="900" dirty="0"/>
          </a:p>
        </p:txBody>
      </p:sp>
      <p:sp>
        <p:nvSpPr>
          <p:cNvPr id="8" name="operazione Trasformare"/>
          <p:cNvSpPr/>
          <p:nvPr/>
        </p:nvSpPr>
        <p:spPr>
          <a:xfrm>
            <a:off x="7827264" y="384048"/>
            <a:ext cx="841248"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827264" y="384048"/>
            <a:ext cx="841248" cy="237744"/>
          </a:xfrm>
          <a:prstGeom prst="rect">
            <a:avLst/>
          </a:prstGeom>
          <a:noFill/>
          <a:ln/>
        </p:spPr>
        <p:txBody>
          <a:bodyPr wrap="square" lIns="0" tIns="0" rIns="0" bIns="0" rtlCol="0" anchor="ctr"/>
          <a:lstStyle/>
          <a:p>
            <a:pPr algn="ctr" indent="0" marL="0">
              <a:buNone/>
            </a:pPr>
            <a:r>
              <a:rPr lang="en-US" sz="900" b="1" dirty="0">
                <a:solidFill>
                  <a:schemeClr val="accent1"/>
                </a:solidFill>
              </a:rPr>
              <a:t>Trasformare</a:t>
            </a:r>
            <a:endParaRPr lang="en-US" sz="900" dirty="0"/>
          </a:p>
        </p:txBody>
      </p:sp>
      <p:sp>
        <p:nvSpPr>
          <p:cNvPr id="10" name="Identità visiva"/>
          <p:cNvSpPr/>
          <p:nvPr/>
        </p:nvSpPr>
        <p:spPr>
          <a:xfrm>
            <a:off x="457200" y="1051560"/>
            <a:ext cx="4023360" cy="1120140"/>
          </a:xfrm>
          <a:prstGeom prst="roundRect">
            <a:avLst>
              <a:gd name="adj" fmla="val 6531"/>
            </a:avLst>
          </a:prstGeom>
          <a:solidFill>
            <a:schemeClr val="bg2"/>
          </a:solidFill>
          <a:ln/>
        </p:spPr>
      </p:sp>
      <p:sp>
        <p:nvSpPr>
          <p:cNvPr id="11" name="cerchio FiDroplet"/>
          <p:cNvSpPr/>
          <p:nvPr/>
        </p:nvSpPr>
        <p:spPr>
          <a:xfrm>
            <a:off x="621792" y="1216152"/>
            <a:ext cx="438912" cy="438912"/>
          </a:xfrm>
          <a:prstGeom prst="ellipse">
            <a:avLst/>
          </a:prstGeom>
          <a:solidFill>
            <a:schemeClr val="accent1"/>
          </a:solidFill>
          <a:ln/>
        </p:spPr>
      </p:sp>
      <p:pic>
        <p:nvPicPr>
          <p:cNvPr id="12" name="Image 0" descr="FiDroplet">    </p:cNvPr>
          <p:cNvPicPr>
            <a:picLocks noChangeAspect="1"/>
          </p:cNvPicPr>
          <p:nvPr/>
        </p:nvPicPr>
        <p:blipFill>
          <a:blip r:embed="rId1"/>
          <a:stretch>
            <a:fillRect/>
          </a:stretch>
        </p:blipFill>
        <p:spPr>
          <a:xfrm>
            <a:off x="731520" y="1325880"/>
            <a:ext cx="219456" cy="219456"/>
          </a:xfrm>
          <a:prstGeom prst="rect">
            <a:avLst/>
          </a:prstGeom>
        </p:spPr>
      </p:pic>
      <p:sp>
        <p:nvSpPr>
          <p:cNvPr id="13" name="Text 9"/>
          <p:cNvSpPr txBox="1"/>
          <p:nvPr/>
        </p:nvSpPr>
        <p:spPr>
          <a:xfrm>
            <a:off x="1170432" y="1179576"/>
            <a:ext cx="3200400" cy="512064"/>
          </a:xfrm>
          <a:prstGeom prst="rect">
            <a:avLst/>
          </a:prstGeom>
          <a:noFill/>
          <a:ln/>
        </p:spPr>
        <p:txBody>
          <a:bodyPr wrap="square" lIns="0" tIns="0" rIns="0" bIns="0" rtlCol="0" anchor="ctr"/>
          <a:lstStyle/>
          <a:p>
            <a:pPr indent="0" marL="0">
              <a:buNone/>
            </a:pPr>
            <a:r>
              <a:rPr lang="en-US" sz="1400" b="1" dirty="0">
                <a:solidFill>
                  <a:schemeClr val="tx1"/>
                </a:solidFill>
              </a:rPr>
              <a:t>Identità visiva</a:t>
            </a:r>
            <a:endParaRPr lang="en-US" sz="1400" dirty="0"/>
          </a:p>
        </p:txBody>
      </p:sp>
      <p:sp>
        <p:nvSpPr>
          <p:cNvPr id="14" name="Text 10"/>
          <p:cNvSpPr txBox="1"/>
          <p:nvPr/>
        </p:nvSpPr>
        <p:spPr>
          <a:xfrm>
            <a:off x="621792" y="1764792"/>
            <a:ext cx="3694176" cy="315468"/>
          </a:xfrm>
          <a:prstGeom prst="rect">
            <a:avLst/>
          </a:prstGeom>
          <a:noFill/>
          <a:ln/>
        </p:spPr>
        <p:txBody>
          <a:bodyPr wrap="square" lIns="0" tIns="0" rIns="0" bIns="0" rtlCol="0" anchor="t"/>
          <a:lstStyle/>
          <a:p>
            <a:pPr indent="0" marL="0">
              <a:buNone/>
            </a:pPr>
            <a:r>
              <a:rPr lang="en-US" sz="1200" dirty="0">
                <a:solidFill>
                  <a:schemeClr val="tx2"/>
                </a:solidFill>
              </a:rPr>
              <a:t>Colori, caratteri, stile; loghi originali, non generati</a:t>
            </a:r>
            <a:endParaRPr lang="en-US" sz="1200" dirty="0"/>
          </a:p>
        </p:txBody>
      </p:sp>
      <p:sp>
        <p:nvSpPr>
          <p:cNvPr id="15" name="Diritti"/>
          <p:cNvSpPr/>
          <p:nvPr/>
        </p:nvSpPr>
        <p:spPr>
          <a:xfrm>
            <a:off x="4663440" y="1051560"/>
            <a:ext cx="4023360" cy="1120140"/>
          </a:xfrm>
          <a:prstGeom prst="roundRect">
            <a:avLst>
              <a:gd name="adj" fmla="val 6531"/>
            </a:avLst>
          </a:prstGeom>
          <a:solidFill>
            <a:schemeClr val="bg2"/>
          </a:solidFill>
          <a:ln/>
        </p:spPr>
      </p:sp>
      <p:sp>
        <p:nvSpPr>
          <p:cNvPr id="16" name="cerchio FiFileText"/>
          <p:cNvSpPr/>
          <p:nvPr/>
        </p:nvSpPr>
        <p:spPr>
          <a:xfrm>
            <a:off x="4828032" y="1216152"/>
            <a:ext cx="438912" cy="438912"/>
          </a:xfrm>
          <a:prstGeom prst="ellipse">
            <a:avLst/>
          </a:prstGeom>
          <a:solidFill>
            <a:schemeClr val="accent1"/>
          </a:solidFill>
          <a:ln/>
        </p:spPr>
      </p:sp>
      <p:pic>
        <p:nvPicPr>
          <p:cNvPr id="17" name="Image 1" descr="FiFileText">    </p:cNvPr>
          <p:cNvPicPr>
            <a:picLocks noChangeAspect="1"/>
          </p:cNvPicPr>
          <p:nvPr/>
        </p:nvPicPr>
        <p:blipFill>
          <a:blip r:embed="rId2"/>
          <a:stretch>
            <a:fillRect/>
          </a:stretch>
        </p:blipFill>
        <p:spPr>
          <a:xfrm>
            <a:off x="4937760" y="1325880"/>
            <a:ext cx="219456" cy="219456"/>
          </a:xfrm>
          <a:prstGeom prst="rect">
            <a:avLst/>
          </a:prstGeom>
        </p:spPr>
      </p:pic>
      <p:sp>
        <p:nvSpPr>
          <p:cNvPr id="18" name="Text 13"/>
          <p:cNvSpPr txBox="1"/>
          <p:nvPr/>
        </p:nvSpPr>
        <p:spPr>
          <a:xfrm>
            <a:off x="5376672" y="1179576"/>
            <a:ext cx="3200400" cy="512064"/>
          </a:xfrm>
          <a:prstGeom prst="rect">
            <a:avLst/>
          </a:prstGeom>
          <a:noFill/>
          <a:ln/>
        </p:spPr>
        <p:txBody>
          <a:bodyPr wrap="square" lIns="0" tIns="0" rIns="0" bIns="0" rtlCol="0" anchor="ctr"/>
          <a:lstStyle/>
          <a:p>
            <a:pPr indent="0" marL="0">
              <a:buNone/>
            </a:pPr>
            <a:r>
              <a:rPr lang="en-US" sz="1400" b="1" dirty="0">
                <a:solidFill>
                  <a:schemeClr val="tx1"/>
                </a:solidFill>
              </a:rPr>
              <a:t>Diritti</a:t>
            </a:r>
            <a:endParaRPr lang="en-US" sz="1400" dirty="0"/>
          </a:p>
        </p:txBody>
      </p:sp>
      <p:sp>
        <p:nvSpPr>
          <p:cNvPr id="19" name="Text 14"/>
          <p:cNvSpPr txBox="1"/>
          <p:nvPr/>
        </p:nvSpPr>
        <p:spPr>
          <a:xfrm>
            <a:off x="4828032" y="1764792"/>
            <a:ext cx="3694176" cy="315468"/>
          </a:xfrm>
          <a:prstGeom prst="rect">
            <a:avLst/>
          </a:prstGeom>
          <a:noFill/>
          <a:ln/>
        </p:spPr>
        <p:txBody>
          <a:bodyPr wrap="square" lIns="0" tIns="0" rIns="0" bIns="0" rtlCol="0" anchor="t"/>
          <a:lstStyle/>
          <a:p>
            <a:pPr indent="0" marL="0">
              <a:buNone/>
            </a:pPr>
            <a:r>
              <a:rPr lang="en-US" sz="1200" dirty="0">
                <a:solidFill>
                  <a:schemeClr val="tx2"/>
                </a:solidFill>
              </a:rPr>
              <a:t>Questioni aperte; stili di artisti, personaggi e marchi altrui</a:t>
            </a:r>
            <a:endParaRPr lang="en-US" sz="1200" dirty="0"/>
          </a:p>
        </p:txBody>
      </p:sp>
      <p:sp>
        <p:nvSpPr>
          <p:cNvPr id="20" name="Persone reali"/>
          <p:cNvSpPr/>
          <p:nvPr/>
        </p:nvSpPr>
        <p:spPr>
          <a:xfrm>
            <a:off x="457200" y="2354580"/>
            <a:ext cx="4023360" cy="1120140"/>
          </a:xfrm>
          <a:prstGeom prst="roundRect">
            <a:avLst>
              <a:gd name="adj" fmla="val 6531"/>
            </a:avLst>
          </a:prstGeom>
          <a:solidFill>
            <a:schemeClr val="bg2"/>
          </a:solidFill>
          <a:ln/>
        </p:spPr>
      </p:sp>
      <p:sp>
        <p:nvSpPr>
          <p:cNvPr id="21" name="cerchio FiUsers"/>
          <p:cNvSpPr/>
          <p:nvPr/>
        </p:nvSpPr>
        <p:spPr>
          <a:xfrm>
            <a:off x="621792" y="2519172"/>
            <a:ext cx="438912" cy="438912"/>
          </a:xfrm>
          <a:prstGeom prst="ellipse">
            <a:avLst/>
          </a:prstGeom>
          <a:solidFill>
            <a:schemeClr val="accent1"/>
          </a:solidFill>
          <a:ln/>
        </p:spPr>
      </p:sp>
      <p:pic>
        <p:nvPicPr>
          <p:cNvPr id="22" name="Image 2" descr="FiUsers">    </p:cNvPr>
          <p:cNvPicPr>
            <a:picLocks noChangeAspect="1"/>
          </p:cNvPicPr>
          <p:nvPr/>
        </p:nvPicPr>
        <p:blipFill>
          <a:blip r:embed="rId3"/>
          <a:stretch>
            <a:fillRect/>
          </a:stretch>
        </p:blipFill>
        <p:spPr>
          <a:xfrm>
            <a:off x="731520" y="2628900"/>
            <a:ext cx="219456" cy="219456"/>
          </a:xfrm>
          <a:prstGeom prst="rect">
            <a:avLst/>
          </a:prstGeom>
        </p:spPr>
      </p:pic>
      <p:sp>
        <p:nvSpPr>
          <p:cNvPr id="23" name="Text 17"/>
          <p:cNvSpPr txBox="1"/>
          <p:nvPr/>
        </p:nvSpPr>
        <p:spPr>
          <a:xfrm>
            <a:off x="1170432" y="2482596"/>
            <a:ext cx="3200400" cy="512064"/>
          </a:xfrm>
          <a:prstGeom prst="rect">
            <a:avLst/>
          </a:prstGeom>
          <a:noFill/>
          <a:ln/>
        </p:spPr>
        <p:txBody>
          <a:bodyPr wrap="square" lIns="0" tIns="0" rIns="0" bIns="0" rtlCol="0" anchor="ctr"/>
          <a:lstStyle/>
          <a:p>
            <a:pPr indent="0" marL="0">
              <a:buNone/>
            </a:pPr>
            <a:r>
              <a:rPr lang="en-US" sz="1400" b="1" dirty="0">
                <a:solidFill>
                  <a:schemeClr val="tx1"/>
                </a:solidFill>
              </a:rPr>
              <a:t>Persone reali</a:t>
            </a:r>
            <a:endParaRPr lang="en-US" sz="1400" dirty="0"/>
          </a:p>
        </p:txBody>
      </p:sp>
      <p:sp>
        <p:nvSpPr>
          <p:cNvPr id="24" name="Text 18"/>
          <p:cNvSpPr txBox="1"/>
          <p:nvPr/>
        </p:nvSpPr>
        <p:spPr>
          <a:xfrm>
            <a:off x="621792" y="3067812"/>
            <a:ext cx="3694176" cy="315468"/>
          </a:xfrm>
          <a:prstGeom prst="rect">
            <a:avLst/>
          </a:prstGeom>
          <a:noFill/>
          <a:ln/>
        </p:spPr>
        <p:txBody>
          <a:bodyPr wrap="square" lIns="0" tIns="0" rIns="0" bIns="0" rtlCol="0" anchor="t"/>
          <a:lstStyle/>
          <a:p>
            <a:pPr indent="0" marL="0">
              <a:buNone/>
            </a:pPr>
            <a:r>
              <a:rPr lang="en-US" sz="1200" dirty="0">
                <a:solidFill>
                  <a:schemeClr val="tx2"/>
                </a:solidFill>
              </a:rPr>
              <a:t>Consenso, immagine, possibile inganno</a:t>
            </a:r>
            <a:endParaRPr lang="en-US" sz="1200" dirty="0"/>
          </a:p>
        </p:txBody>
      </p:sp>
      <p:sp>
        <p:nvSpPr>
          <p:cNvPr id="25" name="Trasparenza"/>
          <p:cNvSpPr/>
          <p:nvPr/>
        </p:nvSpPr>
        <p:spPr>
          <a:xfrm>
            <a:off x="4663440" y="2354580"/>
            <a:ext cx="4023360" cy="1120140"/>
          </a:xfrm>
          <a:prstGeom prst="roundRect">
            <a:avLst>
              <a:gd name="adj" fmla="val 6531"/>
            </a:avLst>
          </a:prstGeom>
          <a:solidFill>
            <a:schemeClr val="bg2"/>
          </a:solidFill>
          <a:ln/>
        </p:spPr>
      </p:sp>
      <p:sp>
        <p:nvSpPr>
          <p:cNvPr id="26" name="cerchio FiEye"/>
          <p:cNvSpPr/>
          <p:nvPr/>
        </p:nvSpPr>
        <p:spPr>
          <a:xfrm>
            <a:off x="4828032" y="2519172"/>
            <a:ext cx="438912" cy="438912"/>
          </a:xfrm>
          <a:prstGeom prst="ellipse">
            <a:avLst/>
          </a:prstGeom>
          <a:solidFill>
            <a:schemeClr val="accent1"/>
          </a:solidFill>
          <a:ln/>
        </p:spPr>
      </p:sp>
      <p:pic>
        <p:nvPicPr>
          <p:cNvPr id="27" name="Image 3" descr="FiEye">    </p:cNvPr>
          <p:cNvPicPr>
            <a:picLocks noChangeAspect="1"/>
          </p:cNvPicPr>
          <p:nvPr/>
        </p:nvPicPr>
        <p:blipFill>
          <a:blip r:embed="rId4"/>
          <a:stretch>
            <a:fillRect/>
          </a:stretch>
        </p:blipFill>
        <p:spPr>
          <a:xfrm>
            <a:off x="4937760" y="2628900"/>
            <a:ext cx="219456" cy="219456"/>
          </a:xfrm>
          <a:prstGeom prst="rect">
            <a:avLst/>
          </a:prstGeom>
        </p:spPr>
      </p:pic>
      <p:sp>
        <p:nvSpPr>
          <p:cNvPr id="28" name="Text 21"/>
          <p:cNvSpPr txBox="1"/>
          <p:nvPr/>
        </p:nvSpPr>
        <p:spPr>
          <a:xfrm>
            <a:off x="5376672" y="2482596"/>
            <a:ext cx="3200400" cy="512064"/>
          </a:xfrm>
          <a:prstGeom prst="rect">
            <a:avLst/>
          </a:prstGeom>
          <a:noFill/>
          <a:ln/>
        </p:spPr>
        <p:txBody>
          <a:bodyPr wrap="square" lIns="0" tIns="0" rIns="0" bIns="0" rtlCol="0" anchor="ctr"/>
          <a:lstStyle/>
          <a:p>
            <a:pPr indent="0" marL="0">
              <a:buNone/>
            </a:pPr>
            <a:r>
              <a:rPr lang="en-US" sz="1400" b="1" dirty="0">
                <a:solidFill>
                  <a:schemeClr val="tx1"/>
                </a:solidFill>
              </a:rPr>
              <a:t>Trasparenza</a:t>
            </a:r>
            <a:endParaRPr lang="en-US" sz="1400" dirty="0"/>
          </a:p>
        </p:txBody>
      </p:sp>
      <p:sp>
        <p:nvSpPr>
          <p:cNvPr id="29" name="Text 22"/>
          <p:cNvSpPr txBox="1"/>
          <p:nvPr/>
        </p:nvSpPr>
        <p:spPr>
          <a:xfrm>
            <a:off x="4828032" y="3067812"/>
            <a:ext cx="3694176" cy="315468"/>
          </a:xfrm>
          <a:prstGeom prst="rect">
            <a:avLst/>
          </a:prstGeom>
          <a:noFill/>
          <a:ln/>
        </p:spPr>
        <p:txBody>
          <a:bodyPr wrap="square" lIns="0" tIns="0" rIns="0" bIns="0" rtlCol="0" anchor="t"/>
          <a:lstStyle/>
          <a:p>
            <a:pPr indent="0" marL="0">
              <a:buNone/>
            </a:pPr>
            <a:r>
              <a:rPr lang="en-US" sz="1200" dirty="0">
                <a:solidFill>
                  <a:schemeClr val="tx2"/>
                </a:solidFill>
              </a:rPr>
              <a:t>Dichiarare che è generata, se può sembrare una foto</a:t>
            </a:r>
            <a:endParaRPr lang="en-US" sz="1200" dirty="0"/>
          </a:p>
        </p:txBody>
      </p:sp>
      <p:sp>
        <p:nvSpPr>
          <p:cNvPr id="30" name="messaggio"/>
          <p:cNvSpPr/>
          <p:nvPr/>
        </p:nvSpPr>
        <p:spPr>
          <a:xfrm>
            <a:off x="457200" y="3657600"/>
            <a:ext cx="8229600" cy="777240"/>
          </a:xfrm>
          <a:prstGeom prst="roundRect">
            <a:avLst>
              <a:gd name="adj" fmla="val 9412"/>
            </a:avLst>
          </a:prstGeom>
          <a:solidFill>
            <a:schemeClr val="tx1"/>
          </a:solidFill>
          <a:ln/>
        </p:spPr>
      </p:sp>
      <p:sp>
        <p:nvSpPr>
          <p:cNvPr id="31" name="Text 24"/>
          <p:cNvSpPr txBox="1"/>
          <p:nvPr/>
        </p:nvSpPr>
        <p:spPr>
          <a:xfrm>
            <a:off x="640080" y="3657600"/>
            <a:ext cx="7863840" cy="777240"/>
          </a:xfrm>
          <a:prstGeom prst="rect">
            <a:avLst/>
          </a:prstGeom>
          <a:noFill/>
          <a:ln/>
        </p:spPr>
        <p:txBody>
          <a:bodyPr wrap="square" lIns="0" tIns="0" rIns="0" bIns="0" rtlCol="0" anchor="ctr"/>
          <a:lstStyle/>
          <a:p>
            <a:pPr indent="0" marL="0">
              <a:buNone/>
            </a:pPr>
            <a:r>
              <a:rPr lang="en-US" sz="1300" dirty="0">
                <a:solidFill>
                  <a:schemeClr val="bg1"/>
                </a:solidFill>
              </a:rPr>
              <a:t>La generazione non garantisce conformità automatica a requisiti professionali: marchio, diritti, persone, trasparenza.</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1"/>
          <p:cNvSpPr/>
          <p:nvPr>
            <p:ph idx="101" type="body" hasCustomPrompt="1"/>
          </p:nvPr>
        </p:nvSpPr>
        <p:spPr>
          <a:xfrm>
            <a:off x="822960" y="1600200"/>
            <a:ext cx="7498080" cy="2011680"/>
          </a:xfrm>
          <a:prstGeom prst="rect">
            <a:avLst/>
          </a:prstGeom>
          <a:noFill/>
          <a:ln/>
        </p:spPr>
        <p:txBody>
          <a:bodyPr wrap="square" lIns="0" tIns="0" rIns="0" bIns="0" rtlCol="0" anchor="t"/>
          <a:lstStyle/>
          <a:p>
            <a:pPr indent="0" marL="0">
              <a:buNone/>
            </a:pPr>
            <a:r>
              <a:rPr lang="en-US" sz="2600" dirty="0">
                <a:solidFill>
                  <a:schemeClr val="bg1"/>
                </a:solidFill>
              </a:rPr>
              <a:t>La generazione visiva accelera l'esplorazione creativa ma non garantisce controllo completo, fedeltà ai riferimenti o conformità automatica a requisiti professionali.</a:t>
            </a:r>
            <a:endParaRPr lang="en-US" sz="2600" dirty="0"/>
          </a:p>
        </p:txBody>
      </p:sp>
      <p:sp>
        <p:nvSpPr>
          <p:cNvPr id="3" name="Text 1"/>
          <p:cNvSpPr/>
          <p:nvPr>
            <p:ph idx="102" type="body" hasCustomPrompt="1"/>
          </p:nvPr>
        </p:nvSpPr>
        <p:spPr>
          <a:xfrm>
            <a:off x="822960" y="3794760"/>
            <a:ext cx="7498080" cy="365760"/>
          </a:xfrm>
          <a:prstGeom prst="rect">
            <a:avLst/>
          </a:prstGeom>
          <a:noFill/>
          <a:ln/>
        </p:spPr>
        <p:txBody>
          <a:bodyPr wrap="square" lIns="0" tIns="0" rIns="0" bIns="0" rtlCol="0"/>
          <a:lstStyle/>
          <a:p>
            <a:pPr indent="0" marL="0">
              <a:buNone/>
            </a:pPr>
            <a:r>
              <a:rPr lang="en-US" sz="1300" dirty="0">
                <a:solidFill>
                  <a:schemeClr val="accent3"/>
                </a:solidFill>
              </a:rPr>
              <a:t>Sottotema 10.3  ·  Generazione e trasformazione delle immagini</a:t>
            </a:r>
            <a:endParaRPr lang="en-US" sz="13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body" hasCustomPrompt="1"/>
          </p:nvPr>
        </p:nvSpPr>
        <p:spPr>
          <a:xfrm>
            <a:off x="640080" y="914400"/>
            <a:ext cx="3657600" cy="1005840"/>
          </a:xfrm>
          <a:prstGeom prst="rect">
            <a:avLst/>
          </a:prstGeom>
          <a:noFill/>
          <a:ln/>
        </p:spPr>
        <p:txBody>
          <a:bodyPr wrap="square" lIns="0" tIns="0" rIns="0" bIns="0" rtlCol="0" anchor="b"/>
          <a:lstStyle/>
          <a:p>
            <a:pPr indent="0" marL="0">
              <a:buNone/>
            </a:pPr>
            <a:r>
              <a:rPr lang="en-US" sz="6000" b="1" dirty="0">
                <a:solidFill>
                  <a:schemeClr val="accent1"/>
                </a:solidFill>
              </a:rPr>
              <a:t>10.4</a:t>
            </a:r>
            <a:endParaRPr lang="en-US" sz="6000" dirty="0"/>
          </a:p>
        </p:txBody>
      </p:sp>
      <p:sp>
        <p:nvSpPr>
          <p:cNvPr id="3" name="Text 0"/>
          <p:cNvSpPr/>
          <p:nvPr>
            <p:ph idx="101" type="title" hasCustomPrompt="1"/>
          </p:nvPr>
        </p:nvSpPr>
        <p:spPr>
          <a:xfrm>
            <a:off x="640080" y="2057400"/>
            <a:ext cx="7863840" cy="914400"/>
          </a:xfrm>
          <a:prstGeom prst="rect">
            <a:avLst/>
          </a:prstGeom>
          <a:noFill/>
          <a:ln/>
        </p:spPr>
        <p:txBody>
          <a:bodyPr wrap="square" lIns="0" tIns="0" rIns="0" bIns="0" rtlCol="0" anchor="t"/>
          <a:lstStyle/>
          <a:p>
            <a:pPr algn="l" indent="0" marL="0">
              <a:buNone/>
            </a:pPr>
            <a:r>
              <a:rPr lang="en-US" sz="3200" b="1" dirty="0">
                <a:solidFill>
                  <a:schemeClr val="bg1"/>
                </a:solidFill>
              </a:rPr>
              <a:t>AI per audio, voce e linguaggio parlato</a:t>
            </a:r>
            <a:endParaRPr lang="en-US" sz="3200" dirty="0"/>
          </a:p>
        </p:txBody>
      </p:sp>
      <p:sp>
        <p:nvSpPr>
          <p:cNvPr id="4" name="Text 0"/>
          <p:cNvSpPr/>
          <p:nvPr>
            <p:ph idx="102" type="body" hasCustomPrompt="1"/>
          </p:nvPr>
        </p:nvSpPr>
        <p:spPr>
          <a:xfrm>
            <a:off x="640080" y="3063240"/>
            <a:ext cx="7315200" cy="1097280"/>
          </a:xfrm>
          <a:prstGeom prst="rect">
            <a:avLst/>
          </a:prstGeom>
          <a:noFill/>
          <a:ln/>
        </p:spPr>
        <p:txBody>
          <a:bodyPr wrap="square" lIns="0" tIns="0" rIns="0" bIns="0" rtlCol="0" anchor="t"/>
          <a:lstStyle/>
          <a:p>
            <a:pPr indent="0" marL="0">
              <a:buNone/>
            </a:pPr>
            <a:r>
              <a:rPr lang="en-US" sz="1600" dirty="0">
                <a:solidFill>
                  <a:schemeClr val="accent3"/>
                </a:solidFill>
              </a:rPr>
              <a:t>L'accessibilità può migliorare grazie alle tecnologie vocali, ma trascrizioni e traduzioni richiedono controlli</a:t>
            </a:r>
            <a:endParaRPr lang="en-US"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Le capacità vocali</a:t>
            </a:r>
            <a:endParaRPr lang="en-US" sz="2600" dirty="0"/>
          </a:p>
        </p:txBody>
      </p:sp>
      <p:sp>
        <p:nvSpPr>
          <p:cNvPr id="4" name="operazione Interpretare"/>
          <p:cNvSpPr/>
          <p:nvPr/>
        </p:nvSpPr>
        <p:spPr>
          <a:xfrm>
            <a:off x="6053328" y="384048"/>
            <a:ext cx="841248" cy="237744"/>
          </a:xfrm>
          <a:prstGeom prst="roundRect">
            <a:avLst>
              <a:gd name="adj" fmla="val 50000"/>
            </a:avLst>
          </a:prstGeom>
          <a:solidFill>
            <a:schemeClr val="accent1"/>
          </a:solidFill>
          <a:ln w="9525">
            <a:solidFill>
              <a:schemeClr val="accent1"/>
            </a:solidFill>
            <a:prstDash val="solid"/>
          </a:ln>
        </p:spPr>
      </p:sp>
      <p:sp>
        <p:nvSpPr>
          <p:cNvPr id="5" name="Text 2"/>
          <p:cNvSpPr txBox="1"/>
          <p:nvPr/>
        </p:nvSpPr>
        <p:spPr>
          <a:xfrm>
            <a:off x="6053328" y="384048"/>
            <a:ext cx="841248" cy="237744"/>
          </a:xfrm>
          <a:prstGeom prst="rect">
            <a:avLst/>
          </a:prstGeom>
          <a:noFill/>
          <a:ln/>
        </p:spPr>
        <p:txBody>
          <a:bodyPr wrap="square" lIns="0" tIns="0" rIns="0" bIns="0" rtlCol="0" anchor="ctr"/>
          <a:lstStyle/>
          <a:p>
            <a:pPr algn="ctr" indent="0" marL="0">
              <a:buNone/>
            </a:pPr>
            <a:r>
              <a:rPr lang="en-US" sz="900" b="1" dirty="0">
                <a:solidFill>
                  <a:schemeClr val="bg1"/>
                </a:solidFill>
              </a:rPr>
              <a:t>Interpretare</a:t>
            </a:r>
            <a:endParaRPr lang="en-US" sz="900" dirty="0"/>
          </a:p>
        </p:txBody>
      </p:sp>
      <p:sp>
        <p:nvSpPr>
          <p:cNvPr id="6" name="operazione Generare"/>
          <p:cNvSpPr/>
          <p:nvPr/>
        </p:nvSpPr>
        <p:spPr>
          <a:xfrm>
            <a:off x="6940296" y="384048"/>
            <a:ext cx="841248"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940296" y="384048"/>
            <a:ext cx="841248" cy="237744"/>
          </a:xfrm>
          <a:prstGeom prst="rect">
            <a:avLst/>
          </a:prstGeom>
          <a:noFill/>
          <a:ln/>
        </p:spPr>
        <p:txBody>
          <a:bodyPr wrap="square" lIns="0" tIns="0" rIns="0" bIns="0" rtlCol="0" anchor="ctr"/>
          <a:lstStyle/>
          <a:p>
            <a:pPr algn="ctr" indent="0" marL="0">
              <a:buNone/>
            </a:pPr>
            <a:r>
              <a:rPr lang="en-US" sz="900" b="1" dirty="0">
                <a:solidFill>
                  <a:schemeClr val="bg1"/>
                </a:solidFill>
              </a:rPr>
              <a:t>Generare</a:t>
            </a:r>
            <a:endParaRPr lang="en-US" sz="900" dirty="0"/>
          </a:p>
        </p:txBody>
      </p:sp>
      <p:sp>
        <p:nvSpPr>
          <p:cNvPr id="8" name="operazione Trasformare"/>
          <p:cNvSpPr/>
          <p:nvPr/>
        </p:nvSpPr>
        <p:spPr>
          <a:xfrm>
            <a:off x="7827264" y="384048"/>
            <a:ext cx="841248"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7827264" y="384048"/>
            <a:ext cx="841248" cy="237744"/>
          </a:xfrm>
          <a:prstGeom prst="rect">
            <a:avLst/>
          </a:prstGeom>
          <a:noFill/>
          <a:ln/>
        </p:spPr>
        <p:txBody>
          <a:bodyPr wrap="square" lIns="0" tIns="0" rIns="0" bIns="0" rtlCol="0" anchor="ctr"/>
          <a:lstStyle/>
          <a:p>
            <a:pPr algn="ctr" indent="0" marL="0">
              <a:buNone/>
            </a:pPr>
            <a:r>
              <a:rPr lang="en-US" sz="900" b="1" dirty="0">
                <a:solidFill>
                  <a:schemeClr val="bg1"/>
                </a:solidFill>
              </a:rPr>
              <a:t>Trasformare</a:t>
            </a:r>
            <a:endParaRPr lang="en-US" sz="900" dirty="0"/>
          </a:p>
        </p:txBody>
      </p:sp>
      <p:sp>
        <p:nvSpPr>
          <p:cNvPr id="10" name="Riconoscimento"/>
          <p:cNvSpPr/>
          <p:nvPr/>
        </p:nvSpPr>
        <p:spPr>
          <a:xfrm>
            <a:off x="457200" y="1051560"/>
            <a:ext cx="2621280" cy="1280160"/>
          </a:xfrm>
          <a:prstGeom prst="roundRect">
            <a:avLst>
              <a:gd name="adj" fmla="val 5714"/>
            </a:avLst>
          </a:prstGeom>
          <a:solidFill>
            <a:schemeClr val="bg2"/>
          </a:solidFill>
          <a:ln/>
        </p:spPr>
      </p:sp>
      <p:sp>
        <p:nvSpPr>
          <p:cNvPr id="11" name="cerchio FiMic"/>
          <p:cNvSpPr/>
          <p:nvPr/>
        </p:nvSpPr>
        <p:spPr>
          <a:xfrm>
            <a:off x="621792" y="1216152"/>
            <a:ext cx="438912" cy="438912"/>
          </a:xfrm>
          <a:prstGeom prst="ellipse">
            <a:avLst/>
          </a:prstGeom>
          <a:solidFill>
            <a:schemeClr val="accent1"/>
          </a:solidFill>
          <a:ln/>
        </p:spPr>
      </p:sp>
      <p:pic>
        <p:nvPicPr>
          <p:cNvPr id="12" name="Image 0" descr="FiMic">    </p:cNvPr>
          <p:cNvPicPr>
            <a:picLocks noChangeAspect="1"/>
          </p:cNvPicPr>
          <p:nvPr/>
        </p:nvPicPr>
        <p:blipFill>
          <a:blip r:embed="rId1"/>
          <a:stretch>
            <a:fillRect/>
          </a:stretch>
        </p:blipFill>
        <p:spPr>
          <a:xfrm>
            <a:off x="731520" y="1325880"/>
            <a:ext cx="219456" cy="219456"/>
          </a:xfrm>
          <a:prstGeom prst="rect">
            <a:avLst/>
          </a:prstGeom>
        </p:spPr>
      </p:pic>
      <p:sp>
        <p:nvSpPr>
          <p:cNvPr id="13" name="Text 9"/>
          <p:cNvSpPr txBox="1"/>
          <p:nvPr/>
        </p:nvSpPr>
        <p:spPr>
          <a:xfrm>
            <a:off x="1170432" y="117957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Riconoscimento</a:t>
            </a:r>
            <a:endParaRPr lang="en-US" sz="1300" dirty="0"/>
          </a:p>
        </p:txBody>
      </p:sp>
      <p:sp>
        <p:nvSpPr>
          <p:cNvPr id="14" name="Text 10"/>
          <p:cNvSpPr txBox="1"/>
          <p:nvPr/>
        </p:nvSpPr>
        <p:spPr>
          <a:xfrm>
            <a:off x="621792" y="1764792"/>
            <a:ext cx="2292096" cy="475488"/>
          </a:xfrm>
          <a:prstGeom prst="rect">
            <a:avLst/>
          </a:prstGeom>
          <a:noFill/>
          <a:ln/>
        </p:spPr>
        <p:txBody>
          <a:bodyPr wrap="square" lIns="0" tIns="0" rIns="0" bIns="0" rtlCol="0" anchor="t"/>
          <a:lstStyle/>
          <a:p>
            <a:pPr indent="0" marL="0">
              <a:buNone/>
            </a:pPr>
            <a:r>
              <a:rPr lang="en-US" sz="1200" dirty="0">
                <a:solidFill>
                  <a:schemeClr val="tx2"/>
                </a:solidFill>
              </a:rPr>
              <a:t>Capire che cosa viene detto</a:t>
            </a:r>
            <a:endParaRPr lang="en-US" sz="1200" dirty="0"/>
          </a:p>
        </p:txBody>
      </p:sp>
      <p:sp>
        <p:nvSpPr>
          <p:cNvPr id="15" name="Trascrizione"/>
          <p:cNvSpPr/>
          <p:nvPr/>
        </p:nvSpPr>
        <p:spPr>
          <a:xfrm>
            <a:off x="3261360" y="1051560"/>
            <a:ext cx="2621280" cy="1280160"/>
          </a:xfrm>
          <a:prstGeom prst="roundRect">
            <a:avLst>
              <a:gd name="adj" fmla="val 5714"/>
            </a:avLst>
          </a:prstGeom>
          <a:solidFill>
            <a:schemeClr val="bg2"/>
          </a:solidFill>
          <a:ln/>
        </p:spPr>
      </p:sp>
      <p:sp>
        <p:nvSpPr>
          <p:cNvPr id="16" name="cerchio FiFileText"/>
          <p:cNvSpPr/>
          <p:nvPr/>
        </p:nvSpPr>
        <p:spPr>
          <a:xfrm>
            <a:off x="3425952" y="1216152"/>
            <a:ext cx="438912" cy="438912"/>
          </a:xfrm>
          <a:prstGeom prst="ellipse">
            <a:avLst/>
          </a:prstGeom>
          <a:solidFill>
            <a:schemeClr val="accent1"/>
          </a:solidFill>
          <a:ln/>
        </p:spPr>
      </p:sp>
      <p:pic>
        <p:nvPicPr>
          <p:cNvPr id="17" name="Image 1" descr="FiFileText">    </p:cNvPr>
          <p:cNvPicPr>
            <a:picLocks noChangeAspect="1"/>
          </p:cNvPicPr>
          <p:nvPr/>
        </p:nvPicPr>
        <p:blipFill>
          <a:blip r:embed="rId2"/>
          <a:stretch>
            <a:fillRect/>
          </a:stretch>
        </p:blipFill>
        <p:spPr>
          <a:xfrm>
            <a:off x="3535680" y="1325880"/>
            <a:ext cx="219456" cy="219456"/>
          </a:xfrm>
          <a:prstGeom prst="rect">
            <a:avLst/>
          </a:prstGeom>
        </p:spPr>
      </p:pic>
      <p:sp>
        <p:nvSpPr>
          <p:cNvPr id="18" name="Text 13"/>
          <p:cNvSpPr txBox="1"/>
          <p:nvPr/>
        </p:nvSpPr>
        <p:spPr>
          <a:xfrm>
            <a:off x="3974592" y="117957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Trascrizione</a:t>
            </a:r>
            <a:endParaRPr lang="en-US" sz="1300" dirty="0"/>
          </a:p>
        </p:txBody>
      </p:sp>
      <p:sp>
        <p:nvSpPr>
          <p:cNvPr id="19" name="Text 14"/>
          <p:cNvSpPr txBox="1"/>
          <p:nvPr/>
        </p:nvSpPr>
        <p:spPr>
          <a:xfrm>
            <a:off x="3425952" y="1764792"/>
            <a:ext cx="2292096" cy="475488"/>
          </a:xfrm>
          <a:prstGeom prst="rect">
            <a:avLst/>
          </a:prstGeom>
          <a:noFill/>
          <a:ln/>
        </p:spPr>
        <p:txBody>
          <a:bodyPr wrap="square" lIns="0" tIns="0" rIns="0" bIns="0" rtlCol="0" anchor="t"/>
          <a:lstStyle/>
          <a:p>
            <a:pPr indent="0" marL="0">
              <a:buNone/>
            </a:pPr>
            <a:r>
              <a:rPr lang="en-US" sz="1200" dirty="0">
                <a:solidFill>
                  <a:schemeClr val="tx2"/>
                </a:solidFill>
              </a:rPr>
              <a:t>Da audio a testo, con chi parla e quando</a:t>
            </a:r>
            <a:endParaRPr lang="en-US" sz="1200" dirty="0"/>
          </a:p>
        </p:txBody>
      </p:sp>
      <p:sp>
        <p:nvSpPr>
          <p:cNvPr id="20" name="Sintesi vocale"/>
          <p:cNvSpPr/>
          <p:nvPr/>
        </p:nvSpPr>
        <p:spPr>
          <a:xfrm>
            <a:off x="6065520" y="1051560"/>
            <a:ext cx="2621280" cy="1280160"/>
          </a:xfrm>
          <a:prstGeom prst="roundRect">
            <a:avLst>
              <a:gd name="adj" fmla="val 5714"/>
            </a:avLst>
          </a:prstGeom>
          <a:solidFill>
            <a:schemeClr val="bg2"/>
          </a:solidFill>
          <a:ln/>
        </p:spPr>
      </p:sp>
      <p:sp>
        <p:nvSpPr>
          <p:cNvPr id="21" name="cerchio FiVolume2"/>
          <p:cNvSpPr/>
          <p:nvPr/>
        </p:nvSpPr>
        <p:spPr>
          <a:xfrm>
            <a:off x="6230112" y="1216152"/>
            <a:ext cx="438912" cy="438912"/>
          </a:xfrm>
          <a:prstGeom prst="ellipse">
            <a:avLst/>
          </a:prstGeom>
          <a:solidFill>
            <a:schemeClr val="accent1"/>
          </a:solidFill>
          <a:ln/>
        </p:spPr>
      </p:sp>
      <p:pic>
        <p:nvPicPr>
          <p:cNvPr id="22" name="Image 2" descr="FiVolume2">    </p:cNvPr>
          <p:cNvPicPr>
            <a:picLocks noChangeAspect="1"/>
          </p:cNvPicPr>
          <p:nvPr/>
        </p:nvPicPr>
        <p:blipFill>
          <a:blip r:embed="rId3"/>
          <a:stretch>
            <a:fillRect/>
          </a:stretch>
        </p:blipFill>
        <p:spPr>
          <a:xfrm>
            <a:off x="6339840" y="1325880"/>
            <a:ext cx="219456" cy="219456"/>
          </a:xfrm>
          <a:prstGeom prst="rect">
            <a:avLst/>
          </a:prstGeom>
        </p:spPr>
      </p:pic>
      <p:sp>
        <p:nvSpPr>
          <p:cNvPr id="23" name="Text 17"/>
          <p:cNvSpPr txBox="1"/>
          <p:nvPr/>
        </p:nvSpPr>
        <p:spPr>
          <a:xfrm>
            <a:off x="6778752" y="117957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Sintesi vocale</a:t>
            </a:r>
            <a:endParaRPr lang="en-US" sz="1300" dirty="0"/>
          </a:p>
        </p:txBody>
      </p:sp>
      <p:sp>
        <p:nvSpPr>
          <p:cNvPr id="24" name="Text 18"/>
          <p:cNvSpPr txBox="1"/>
          <p:nvPr/>
        </p:nvSpPr>
        <p:spPr>
          <a:xfrm>
            <a:off x="6230112" y="1764792"/>
            <a:ext cx="2292096" cy="475488"/>
          </a:xfrm>
          <a:prstGeom prst="rect">
            <a:avLst/>
          </a:prstGeom>
          <a:noFill/>
          <a:ln/>
        </p:spPr>
        <p:txBody>
          <a:bodyPr wrap="square" lIns="0" tIns="0" rIns="0" bIns="0" rtlCol="0" anchor="t"/>
          <a:lstStyle/>
          <a:p>
            <a:pPr indent="0" marL="0">
              <a:buNone/>
            </a:pPr>
            <a:r>
              <a:rPr lang="en-US" sz="1200" dirty="0">
                <a:solidFill>
                  <a:schemeClr val="tx2"/>
                </a:solidFill>
              </a:rPr>
              <a:t>Un testo letto da una voce naturale</a:t>
            </a:r>
            <a:endParaRPr lang="en-US" sz="1200" dirty="0"/>
          </a:p>
        </p:txBody>
      </p:sp>
      <p:sp>
        <p:nvSpPr>
          <p:cNvPr id="25" name="Interazione vocale"/>
          <p:cNvSpPr/>
          <p:nvPr/>
        </p:nvSpPr>
        <p:spPr>
          <a:xfrm>
            <a:off x="457200" y="2514600"/>
            <a:ext cx="2621280" cy="1280160"/>
          </a:xfrm>
          <a:prstGeom prst="roundRect">
            <a:avLst>
              <a:gd name="adj" fmla="val 5714"/>
            </a:avLst>
          </a:prstGeom>
          <a:solidFill>
            <a:schemeClr val="bg2"/>
          </a:solidFill>
          <a:ln/>
        </p:spPr>
      </p:sp>
      <p:sp>
        <p:nvSpPr>
          <p:cNvPr id="26" name="cerchio FiMessageCircle"/>
          <p:cNvSpPr/>
          <p:nvPr/>
        </p:nvSpPr>
        <p:spPr>
          <a:xfrm>
            <a:off x="621792" y="2679192"/>
            <a:ext cx="438912" cy="438912"/>
          </a:xfrm>
          <a:prstGeom prst="ellipse">
            <a:avLst/>
          </a:prstGeom>
          <a:solidFill>
            <a:schemeClr val="accent1"/>
          </a:solidFill>
          <a:ln/>
        </p:spPr>
      </p:sp>
      <p:pic>
        <p:nvPicPr>
          <p:cNvPr id="27" name="Image 3" descr="FiMessageCircle">    </p:cNvPr>
          <p:cNvPicPr>
            <a:picLocks noChangeAspect="1"/>
          </p:cNvPicPr>
          <p:nvPr/>
        </p:nvPicPr>
        <p:blipFill>
          <a:blip r:embed="rId4"/>
          <a:stretch>
            <a:fillRect/>
          </a:stretch>
        </p:blipFill>
        <p:spPr>
          <a:xfrm>
            <a:off x="731520" y="2788920"/>
            <a:ext cx="219456" cy="219456"/>
          </a:xfrm>
          <a:prstGeom prst="rect">
            <a:avLst/>
          </a:prstGeom>
        </p:spPr>
      </p:pic>
      <p:sp>
        <p:nvSpPr>
          <p:cNvPr id="28" name="Text 21"/>
          <p:cNvSpPr txBox="1"/>
          <p:nvPr/>
        </p:nvSpPr>
        <p:spPr>
          <a:xfrm>
            <a:off x="1170432" y="264261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Interazione vocale</a:t>
            </a:r>
            <a:endParaRPr lang="en-US" sz="1300" dirty="0"/>
          </a:p>
        </p:txBody>
      </p:sp>
      <p:sp>
        <p:nvSpPr>
          <p:cNvPr id="29" name="Text 22"/>
          <p:cNvSpPr txBox="1"/>
          <p:nvPr/>
        </p:nvSpPr>
        <p:spPr>
          <a:xfrm>
            <a:off x="621792" y="3227832"/>
            <a:ext cx="2292096" cy="475488"/>
          </a:xfrm>
          <a:prstGeom prst="rect">
            <a:avLst/>
          </a:prstGeom>
          <a:noFill/>
          <a:ln/>
        </p:spPr>
        <p:txBody>
          <a:bodyPr wrap="square" lIns="0" tIns="0" rIns="0" bIns="0" rtlCol="0" anchor="t"/>
          <a:lstStyle/>
          <a:p>
            <a:pPr indent="0" marL="0">
              <a:buNone/>
            </a:pPr>
            <a:r>
              <a:rPr lang="en-US" sz="1200" dirty="0">
                <a:solidFill>
                  <a:schemeClr val="tx2"/>
                </a:solidFill>
              </a:rPr>
              <a:t>Conversare a voce con un assistente</a:t>
            </a:r>
            <a:endParaRPr lang="en-US" sz="1200" dirty="0"/>
          </a:p>
        </p:txBody>
      </p:sp>
      <p:sp>
        <p:nvSpPr>
          <p:cNvPr id="30" name="Traduzione del parlato"/>
          <p:cNvSpPr/>
          <p:nvPr/>
        </p:nvSpPr>
        <p:spPr>
          <a:xfrm>
            <a:off x="3261360" y="2514600"/>
            <a:ext cx="2621280" cy="1280160"/>
          </a:xfrm>
          <a:prstGeom prst="roundRect">
            <a:avLst>
              <a:gd name="adj" fmla="val 5714"/>
            </a:avLst>
          </a:prstGeom>
          <a:solidFill>
            <a:schemeClr val="bg2"/>
          </a:solidFill>
          <a:ln/>
        </p:spPr>
      </p:sp>
      <p:sp>
        <p:nvSpPr>
          <p:cNvPr id="31" name="cerchio FiGlobe"/>
          <p:cNvSpPr/>
          <p:nvPr/>
        </p:nvSpPr>
        <p:spPr>
          <a:xfrm>
            <a:off x="3425952" y="2679192"/>
            <a:ext cx="438912" cy="438912"/>
          </a:xfrm>
          <a:prstGeom prst="ellipse">
            <a:avLst/>
          </a:prstGeom>
          <a:solidFill>
            <a:schemeClr val="accent1"/>
          </a:solidFill>
          <a:ln/>
        </p:spPr>
      </p:sp>
      <p:pic>
        <p:nvPicPr>
          <p:cNvPr id="32" name="Image 4" descr="FiGlobe">    </p:cNvPr>
          <p:cNvPicPr>
            <a:picLocks noChangeAspect="1"/>
          </p:cNvPicPr>
          <p:nvPr/>
        </p:nvPicPr>
        <p:blipFill>
          <a:blip r:embed="rId5"/>
          <a:stretch>
            <a:fillRect/>
          </a:stretch>
        </p:blipFill>
        <p:spPr>
          <a:xfrm>
            <a:off x="3535680" y="2788920"/>
            <a:ext cx="219456" cy="219456"/>
          </a:xfrm>
          <a:prstGeom prst="rect">
            <a:avLst/>
          </a:prstGeom>
        </p:spPr>
      </p:pic>
      <p:sp>
        <p:nvSpPr>
          <p:cNvPr id="33" name="Text 25"/>
          <p:cNvSpPr txBox="1"/>
          <p:nvPr/>
        </p:nvSpPr>
        <p:spPr>
          <a:xfrm>
            <a:off x="3974592" y="264261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Traduzione del parlato</a:t>
            </a:r>
            <a:endParaRPr lang="en-US" sz="1300" dirty="0"/>
          </a:p>
        </p:txBody>
      </p:sp>
      <p:sp>
        <p:nvSpPr>
          <p:cNvPr id="34" name="Text 26"/>
          <p:cNvSpPr txBox="1"/>
          <p:nvPr/>
        </p:nvSpPr>
        <p:spPr>
          <a:xfrm>
            <a:off x="3425952" y="3227832"/>
            <a:ext cx="2292096" cy="475488"/>
          </a:xfrm>
          <a:prstGeom prst="rect">
            <a:avLst/>
          </a:prstGeom>
          <a:noFill/>
          <a:ln/>
        </p:spPr>
        <p:txBody>
          <a:bodyPr wrap="square" lIns="0" tIns="0" rIns="0" bIns="0" rtlCol="0" anchor="t"/>
          <a:lstStyle/>
          <a:p>
            <a:pPr indent="0" marL="0">
              <a:buNone/>
            </a:pPr>
            <a:r>
              <a:rPr lang="en-US" sz="1200" dirty="0">
                <a:solidFill>
                  <a:schemeClr val="tx2"/>
                </a:solidFill>
              </a:rPr>
              <a:t>In un'altra lingua, anche quasi in tempo reale</a:t>
            </a:r>
            <a:endParaRPr lang="en-US" sz="1200" dirty="0"/>
          </a:p>
        </p:txBody>
      </p:sp>
      <p:sp>
        <p:nvSpPr>
          <p:cNvPr id="35" name="Analisi e sintesi"/>
          <p:cNvSpPr/>
          <p:nvPr/>
        </p:nvSpPr>
        <p:spPr>
          <a:xfrm>
            <a:off x="6065520" y="2514600"/>
            <a:ext cx="2621280" cy="1280160"/>
          </a:xfrm>
          <a:prstGeom prst="roundRect">
            <a:avLst>
              <a:gd name="adj" fmla="val 5714"/>
            </a:avLst>
          </a:prstGeom>
          <a:solidFill>
            <a:schemeClr val="bg2"/>
          </a:solidFill>
          <a:ln/>
        </p:spPr>
      </p:sp>
      <p:sp>
        <p:nvSpPr>
          <p:cNvPr id="36" name="cerchio FiList"/>
          <p:cNvSpPr/>
          <p:nvPr/>
        </p:nvSpPr>
        <p:spPr>
          <a:xfrm>
            <a:off x="6230112" y="2679192"/>
            <a:ext cx="438912" cy="438912"/>
          </a:xfrm>
          <a:prstGeom prst="ellipse">
            <a:avLst/>
          </a:prstGeom>
          <a:solidFill>
            <a:schemeClr val="accent1"/>
          </a:solidFill>
          <a:ln/>
        </p:spPr>
      </p:sp>
      <p:pic>
        <p:nvPicPr>
          <p:cNvPr id="37" name="Image 5" descr="FiList">    </p:cNvPr>
          <p:cNvPicPr>
            <a:picLocks noChangeAspect="1"/>
          </p:cNvPicPr>
          <p:nvPr/>
        </p:nvPicPr>
        <p:blipFill>
          <a:blip r:embed="rId6"/>
          <a:stretch>
            <a:fillRect/>
          </a:stretch>
        </p:blipFill>
        <p:spPr>
          <a:xfrm>
            <a:off x="6339840" y="2788920"/>
            <a:ext cx="219456" cy="219456"/>
          </a:xfrm>
          <a:prstGeom prst="rect">
            <a:avLst/>
          </a:prstGeom>
        </p:spPr>
      </p:pic>
      <p:sp>
        <p:nvSpPr>
          <p:cNvPr id="38" name="Text 29"/>
          <p:cNvSpPr txBox="1"/>
          <p:nvPr/>
        </p:nvSpPr>
        <p:spPr>
          <a:xfrm>
            <a:off x="6778752" y="264261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Analisi e sintesi</a:t>
            </a:r>
            <a:endParaRPr lang="en-US" sz="1300" dirty="0"/>
          </a:p>
        </p:txBody>
      </p:sp>
      <p:sp>
        <p:nvSpPr>
          <p:cNvPr id="39" name="Text 30"/>
          <p:cNvSpPr txBox="1"/>
          <p:nvPr/>
        </p:nvSpPr>
        <p:spPr>
          <a:xfrm>
            <a:off x="6230112" y="3227832"/>
            <a:ext cx="2292096" cy="475488"/>
          </a:xfrm>
          <a:prstGeom prst="rect">
            <a:avLst/>
          </a:prstGeom>
          <a:noFill/>
          <a:ln/>
        </p:spPr>
        <p:txBody>
          <a:bodyPr wrap="square" lIns="0" tIns="0" rIns="0" bIns="0" rtlCol="0" anchor="t"/>
          <a:lstStyle/>
          <a:p>
            <a:pPr indent="0" marL="0">
              <a:buNone/>
            </a:pPr>
            <a:r>
              <a:rPr lang="en-US" sz="1200" dirty="0">
                <a:solidFill>
                  <a:schemeClr val="tx2"/>
                </a:solidFill>
              </a:rPr>
              <a:t>Riassunto, decisioni, azioni, temi</a:t>
            </a:r>
            <a:endParaRPr lang="en-US" sz="1200" dirty="0"/>
          </a:p>
        </p:txBody>
      </p:sp>
      <p:sp>
        <p:nvSpPr>
          <p:cNvPr id="40" name="messaggio"/>
          <p:cNvSpPr/>
          <p:nvPr/>
        </p:nvSpPr>
        <p:spPr>
          <a:xfrm>
            <a:off x="457200" y="3977640"/>
            <a:ext cx="8229600" cy="548640"/>
          </a:xfrm>
          <a:prstGeom prst="roundRect">
            <a:avLst>
              <a:gd name="adj" fmla="val 13333"/>
            </a:avLst>
          </a:prstGeom>
          <a:solidFill>
            <a:schemeClr val="tx1"/>
          </a:solidFill>
          <a:ln/>
        </p:spPr>
      </p:sp>
      <p:sp>
        <p:nvSpPr>
          <p:cNvPr id="41" name="Text 32"/>
          <p:cNvSpPr txBox="1"/>
          <p:nvPr/>
        </p:nvSpPr>
        <p:spPr>
          <a:xfrm>
            <a:off x="640080" y="3977640"/>
            <a:ext cx="7863840" cy="548640"/>
          </a:xfrm>
          <a:prstGeom prst="rect">
            <a:avLst/>
          </a:prstGeom>
          <a:noFill/>
          <a:ln/>
        </p:spPr>
        <p:txBody>
          <a:bodyPr wrap="square" lIns="0" tIns="0" rIns="0" bIns="0" rtlCol="0" anchor="ctr"/>
          <a:lstStyle/>
          <a:p>
            <a:pPr indent="0" marL="0">
              <a:buNone/>
            </a:pPr>
            <a:r>
              <a:rPr lang="en-US" sz="1300" dirty="0">
                <a:solidFill>
                  <a:schemeClr val="bg1"/>
                </a:solidFill>
              </a:rPr>
              <a:t>Qualità molto migliorata, ma dipende da audio, lingua, accenti e terminologia.</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Riunioni, interviste, comunicazioni</a:t>
            </a:r>
            <a:endParaRPr lang="en-US" sz="2600" dirty="0"/>
          </a:p>
        </p:txBody>
      </p:sp>
      <p:sp>
        <p:nvSpPr>
          <p:cNvPr id="4" name="operazione Interpretare"/>
          <p:cNvSpPr/>
          <p:nvPr/>
        </p:nvSpPr>
        <p:spPr>
          <a:xfrm>
            <a:off x="6053328" y="384048"/>
            <a:ext cx="841248" cy="237744"/>
          </a:xfrm>
          <a:prstGeom prst="roundRect">
            <a:avLst>
              <a:gd name="adj" fmla="val 50000"/>
            </a:avLst>
          </a:prstGeom>
          <a:solidFill>
            <a:schemeClr val="accent1"/>
          </a:solidFill>
          <a:ln w="9525">
            <a:solidFill>
              <a:schemeClr val="accent1"/>
            </a:solidFill>
            <a:prstDash val="solid"/>
          </a:ln>
        </p:spPr>
      </p:sp>
      <p:sp>
        <p:nvSpPr>
          <p:cNvPr id="5" name="Text 2"/>
          <p:cNvSpPr txBox="1"/>
          <p:nvPr/>
        </p:nvSpPr>
        <p:spPr>
          <a:xfrm>
            <a:off x="6053328" y="384048"/>
            <a:ext cx="841248" cy="237744"/>
          </a:xfrm>
          <a:prstGeom prst="rect">
            <a:avLst/>
          </a:prstGeom>
          <a:noFill/>
          <a:ln/>
        </p:spPr>
        <p:txBody>
          <a:bodyPr wrap="square" lIns="0" tIns="0" rIns="0" bIns="0" rtlCol="0" anchor="ctr"/>
          <a:lstStyle/>
          <a:p>
            <a:pPr algn="ctr" indent="0" marL="0">
              <a:buNone/>
            </a:pPr>
            <a:r>
              <a:rPr lang="en-US" sz="900" b="1" dirty="0">
                <a:solidFill>
                  <a:schemeClr val="bg1"/>
                </a:solidFill>
              </a:rPr>
              <a:t>Interpretare</a:t>
            </a:r>
            <a:endParaRPr lang="en-US" sz="900" dirty="0"/>
          </a:p>
        </p:txBody>
      </p:sp>
      <p:sp>
        <p:nvSpPr>
          <p:cNvPr id="6" name="operazione Generare"/>
          <p:cNvSpPr/>
          <p:nvPr/>
        </p:nvSpPr>
        <p:spPr>
          <a:xfrm>
            <a:off x="6940296" y="384048"/>
            <a:ext cx="841248"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940296" y="384048"/>
            <a:ext cx="841248" cy="237744"/>
          </a:xfrm>
          <a:prstGeom prst="rect">
            <a:avLst/>
          </a:prstGeom>
          <a:noFill/>
          <a:ln/>
        </p:spPr>
        <p:txBody>
          <a:bodyPr wrap="square" lIns="0" tIns="0" rIns="0" bIns="0" rtlCol="0" anchor="ctr"/>
          <a:lstStyle/>
          <a:p>
            <a:pPr algn="ctr" indent="0" marL="0">
              <a:buNone/>
            </a:pPr>
            <a:r>
              <a:rPr lang="en-US" sz="900" b="1" dirty="0">
                <a:solidFill>
                  <a:schemeClr val="accent1"/>
                </a:solidFill>
              </a:rPr>
              <a:t>Generare</a:t>
            </a:r>
            <a:endParaRPr lang="en-US" sz="900" dirty="0"/>
          </a:p>
        </p:txBody>
      </p:sp>
      <p:sp>
        <p:nvSpPr>
          <p:cNvPr id="8" name="operazione Trasformare"/>
          <p:cNvSpPr/>
          <p:nvPr/>
        </p:nvSpPr>
        <p:spPr>
          <a:xfrm>
            <a:off x="7827264" y="384048"/>
            <a:ext cx="841248"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7827264" y="384048"/>
            <a:ext cx="841248" cy="237744"/>
          </a:xfrm>
          <a:prstGeom prst="rect">
            <a:avLst/>
          </a:prstGeom>
          <a:noFill/>
          <a:ln/>
        </p:spPr>
        <p:txBody>
          <a:bodyPr wrap="square" lIns="0" tIns="0" rIns="0" bIns="0" rtlCol="0" anchor="ctr"/>
          <a:lstStyle/>
          <a:p>
            <a:pPr algn="ctr" indent="0" marL="0">
              <a:buNone/>
            </a:pPr>
            <a:r>
              <a:rPr lang="en-US" sz="900" b="1" dirty="0">
                <a:solidFill>
                  <a:schemeClr val="bg1"/>
                </a:solidFill>
              </a:rPr>
              <a:t>Trasformare</a:t>
            </a:r>
            <a:endParaRPr lang="en-US" sz="900" dirty="0"/>
          </a:p>
        </p:txBody>
      </p:sp>
      <p:sp>
        <p:nvSpPr>
          <p:cNvPr id="10" name="blocco Registrazione"/>
          <p:cNvSpPr/>
          <p:nvPr/>
        </p:nvSpPr>
        <p:spPr>
          <a:xfrm>
            <a:off x="457200" y="1097280"/>
            <a:ext cx="1874520" cy="594360"/>
          </a:xfrm>
          <a:prstGeom prst="roundRect">
            <a:avLst>
              <a:gd name="adj" fmla="val 18462"/>
            </a:avLst>
          </a:prstGeom>
          <a:solidFill>
            <a:schemeClr val="bg2"/>
          </a:solidFill>
          <a:ln/>
        </p:spPr>
      </p:sp>
      <p:sp>
        <p:nvSpPr>
          <p:cNvPr id="11" name="Text 8"/>
          <p:cNvSpPr txBox="1"/>
          <p:nvPr/>
        </p:nvSpPr>
        <p:spPr>
          <a:xfrm>
            <a:off x="502920" y="1097280"/>
            <a:ext cx="1783080" cy="594360"/>
          </a:xfrm>
          <a:prstGeom prst="rect">
            <a:avLst/>
          </a:prstGeom>
          <a:noFill/>
          <a:ln/>
        </p:spPr>
        <p:txBody>
          <a:bodyPr wrap="square" lIns="0" tIns="0" rIns="0" bIns="0" rtlCol="0" anchor="ctr"/>
          <a:lstStyle/>
          <a:p>
            <a:pPr algn="ctr" indent="0" marL="0">
              <a:buNone/>
            </a:pPr>
            <a:r>
              <a:rPr lang="en-US" sz="1300" b="1" dirty="0">
                <a:solidFill>
                  <a:schemeClr val="tx1"/>
                </a:solidFill>
              </a:rPr>
              <a:t>Registrazione</a:t>
            </a:r>
            <a:endParaRPr lang="en-US" sz="1300" dirty="0"/>
          </a:p>
        </p:txBody>
      </p:sp>
      <p:sp>
        <p:nvSpPr>
          <p:cNvPr id="12" name="freccia"/>
          <p:cNvSpPr/>
          <p:nvPr/>
        </p:nvSpPr>
        <p:spPr>
          <a:xfrm>
            <a:off x="2350008" y="1252728"/>
            <a:ext cx="182880" cy="292608"/>
          </a:xfrm>
          <a:prstGeom prst="rightArrow">
            <a:avLst/>
          </a:prstGeom>
          <a:solidFill>
            <a:schemeClr val="accent2"/>
          </a:solidFill>
          <a:ln/>
        </p:spPr>
      </p:sp>
      <p:sp>
        <p:nvSpPr>
          <p:cNvPr id="13" name="blocco Trascrizione"/>
          <p:cNvSpPr/>
          <p:nvPr/>
        </p:nvSpPr>
        <p:spPr>
          <a:xfrm>
            <a:off x="2560320" y="1097280"/>
            <a:ext cx="1874520" cy="594360"/>
          </a:xfrm>
          <a:prstGeom prst="roundRect">
            <a:avLst>
              <a:gd name="adj" fmla="val 18462"/>
            </a:avLst>
          </a:prstGeom>
          <a:solidFill>
            <a:schemeClr val="accent6"/>
          </a:solidFill>
          <a:ln/>
        </p:spPr>
      </p:sp>
      <p:sp>
        <p:nvSpPr>
          <p:cNvPr id="14" name="Text 11"/>
          <p:cNvSpPr txBox="1"/>
          <p:nvPr/>
        </p:nvSpPr>
        <p:spPr>
          <a:xfrm>
            <a:off x="2606040" y="1097280"/>
            <a:ext cx="1783080" cy="594360"/>
          </a:xfrm>
          <a:prstGeom prst="rect">
            <a:avLst/>
          </a:prstGeom>
          <a:noFill/>
          <a:ln/>
        </p:spPr>
        <p:txBody>
          <a:bodyPr wrap="square" lIns="0" tIns="0" rIns="0" bIns="0" rtlCol="0" anchor="ctr"/>
          <a:lstStyle/>
          <a:p>
            <a:pPr algn="ctr" indent="0" marL="0">
              <a:buNone/>
            </a:pPr>
            <a:r>
              <a:rPr lang="en-US" sz="1300" b="1" dirty="0">
                <a:solidFill>
                  <a:schemeClr val="tx1"/>
                </a:solidFill>
              </a:rPr>
              <a:t>Trascrizione</a:t>
            </a:r>
            <a:endParaRPr lang="en-US" sz="1300" dirty="0"/>
          </a:p>
        </p:txBody>
      </p:sp>
      <p:sp>
        <p:nvSpPr>
          <p:cNvPr id="15" name="freccia"/>
          <p:cNvSpPr/>
          <p:nvPr/>
        </p:nvSpPr>
        <p:spPr>
          <a:xfrm>
            <a:off x="4453128" y="1252728"/>
            <a:ext cx="182880" cy="292608"/>
          </a:xfrm>
          <a:prstGeom prst="rightArrow">
            <a:avLst/>
          </a:prstGeom>
          <a:solidFill>
            <a:schemeClr val="accent2"/>
          </a:solidFill>
          <a:ln/>
        </p:spPr>
      </p:sp>
      <p:sp>
        <p:nvSpPr>
          <p:cNvPr id="16" name="blocco Riassunto"/>
          <p:cNvSpPr/>
          <p:nvPr/>
        </p:nvSpPr>
        <p:spPr>
          <a:xfrm>
            <a:off x="4663440" y="1097280"/>
            <a:ext cx="1874520" cy="594360"/>
          </a:xfrm>
          <a:prstGeom prst="roundRect">
            <a:avLst>
              <a:gd name="adj" fmla="val 18462"/>
            </a:avLst>
          </a:prstGeom>
          <a:solidFill>
            <a:schemeClr val="accent6"/>
          </a:solidFill>
          <a:ln/>
        </p:spPr>
      </p:sp>
      <p:sp>
        <p:nvSpPr>
          <p:cNvPr id="17" name="Text 14"/>
          <p:cNvSpPr txBox="1"/>
          <p:nvPr/>
        </p:nvSpPr>
        <p:spPr>
          <a:xfrm>
            <a:off x="4709160" y="1097280"/>
            <a:ext cx="1783080" cy="594360"/>
          </a:xfrm>
          <a:prstGeom prst="rect">
            <a:avLst/>
          </a:prstGeom>
          <a:noFill/>
          <a:ln/>
        </p:spPr>
        <p:txBody>
          <a:bodyPr wrap="square" lIns="0" tIns="0" rIns="0" bIns="0" rtlCol="0" anchor="ctr"/>
          <a:lstStyle/>
          <a:p>
            <a:pPr algn="ctr" indent="0" marL="0">
              <a:buNone/>
            </a:pPr>
            <a:r>
              <a:rPr lang="en-US" sz="1300" b="1" dirty="0">
                <a:solidFill>
                  <a:schemeClr val="tx1"/>
                </a:solidFill>
              </a:rPr>
              <a:t>Riassunto</a:t>
            </a:r>
            <a:endParaRPr lang="en-US" sz="1300" dirty="0"/>
          </a:p>
        </p:txBody>
      </p:sp>
      <p:sp>
        <p:nvSpPr>
          <p:cNvPr id="18" name="freccia"/>
          <p:cNvSpPr/>
          <p:nvPr/>
        </p:nvSpPr>
        <p:spPr>
          <a:xfrm>
            <a:off x="6556248" y="1252728"/>
            <a:ext cx="182880" cy="292608"/>
          </a:xfrm>
          <a:prstGeom prst="rightArrow">
            <a:avLst/>
          </a:prstGeom>
          <a:solidFill>
            <a:schemeClr val="accent2"/>
          </a:solidFill>
          <a:ln/>
        </p:spPr>
      </p:sp>
      <p:sp>
        <p:nvSpPr>
          <p:cNvPr id="19" name="blocco Decisioni e azioni"/>
          <p:cNvSpPr/>
          <p:nvPr/>
        </p:nvSpPr>
        <p:spPr>
          <a:xfrm>
            <a:off x="6766560" y="1097280"/>
            <a:ext cx="1874520" cy="594360"/>
          </a:xfrm>
          <a:prstGeom prst="roundRect">
            <a:avLst>
              <a:gd name="adj" fmla="val 18462"/>
            </a:avLst>
          </a:prstGeom>
          <a:solidFill>
            <a:schemeClr val="accent1"/>
          </a:solidFill>
          <a:ln/>
        </p:spPr>
      </p:sp>
      <p:sp>
        <p:nvSpPr>
          <p:cNvPr id="20" name="Text 17"/>
          <p:cNvSpPr txBox="1"/>
          <p:nvPr/>
        </p:nvSpPr>
        <p:spPr>
          <a:xfrm>
            <a:off x="6812280" y="1097280"/>
            <a:ext cx="1783080" cy="594360"/>
          </a:xfrm>
          <a:prstGeom prst="rect">
            <a:avLst/>
          </a:prstGeom>
          <a:noFill/>
          <a:ln/>
        </p:spPr>
        <p:txBody>
          <a:bodyPr wrap="square" lIns="0" tIns="0" rIns="0" bIns="0" rtlCol="0" anchor="ctr"/>
          <a:lstStyle/>
          <a:p>
            <a:pPr algn="ctr" indent="0" marL="0">
              <a:buNone/>
            </a:pPr>
            <a:r>
              <a:rPr lang="en-US" sz="1300" b="1" dirty="0">
                <a:solidFill>
                  <a:schemeClr val="bg1"/>
                </a:solidFill>
              </a:rPr>
              <a:t>Decisioni e azioni</a:t>
            </a:r>
            <a:endParaRPr lang="en-US" sz="1300" dirty="0"/>
          </a:p>
        </p:txBody>
      </p:sp>
      <p:sp>
        <p:nvSpPr>
          <p:cNvPr id="21" name="Parole fraintese"/>
          <p:cNvSpPr/>
          <p:nvPr/>
        </p:nvSpPr>
        <p:spPr>
          <a:xfrm>
            <a:off x="457200" y="1828800"/>
            <a:ext cx="1874520" cy="868680"/>
          </a:xfrm>
          <a:prstGeom prst="roundRect">
            <a:avLst>
              <a:gd name="adj" fmla="val 8421"/>
            </a:avLst>
          </a:prstGeom>
          <a:solidFill>
            <a:schemeClr val="bg2"/>
          </a:solidFill>
          <a:ln/>
        </p:spPr>
      </p:sp>
      <p:sp>
        <p:nvSpPr>
          <p:cNvPr id="22" name="Text 19"/>
          <p:cNvSpPr txBox="1"/>
          <p:nvPr/>
        </p:nvSpPr>
        <p:spPr>
          <a:xfrm>
            <a:off x="566928" y="1883664"/>
            <a:ext cx="1691640" cy="438912"/>
          </a:xfrm>
          <a:prstGeom prst="rect">
            <a:avLst/>
          </a:prstGeom>
          <a:noFill/>
          <a:ln/>
        </p:spPr>
        <p:txBody>
          <a:bodyPr wrap="square" lIns="0" tIns="0" rIns="0" bIns="0" rtlCol="0" anchor="t"/>
          <a:lstStyle/>
          <a:p>
            <a:pPr indent="0" marL="0">
              <a:buNone/>
            </a:pPr>
            <a:r>
              <a:rPr lang="en-US" sz="1200" b="1" dirty="0">
                <a:solidFill>
                  <a:schemeClr val="accent5"/>
                </a:solidFill>
              </a:rPr>
              <a:t>Parole fraintese</a:t>
            </a:r>
            <a:endParaRPr lang="en-US" sz="1200" dirty="0"/>
          </a:p>
        </p:txBody>
      </p:sp>
      <p:sp>
        <p:nvSpPr>
          <p:cNvPr id="23" name="Text 20"/>
          <p:cNvSpPr txBox="1"/>
          <p:nvPr/>
        </p:nvSpPr>
        <p:spPr>
          <a:xfrm>
            <a:off x="566928" y="2331720"/>
            <a:ext cx="1691640" cy="292608"/>
          </a:xfrm>
          <a:prstGeom prst="rect">
            <a:avLst/>
          </a:prstGeom>
          <a:noFill/>
          <a:ln/>
        </p:spPr>
        <p:txBody>
          <a:bodyPr wrap="square" lIns="0" tIns="0" rIns="0" bIns="0" rtlCol="0" anchor="t"/>
          <a:lstStyle/>
          <a:p>
            <a:pPr indent="0" marL="0">
              <a:buNone/>
            </a:pPr>
            <a:r>
              <a:rPr lang="en-US" sz="1100" dirty="0">
                <a:solidFill>
                  <a:schemeClr val="tx2"/>
                </a:solidFill>
              </a:rPr>
              <a:t>Nel riconoscimento</a:t>
            </a:r>
            <a:endParaRPr lang="en-US" sz="1100" dirty="0"/>
          </a:p>
        </p:txBody>
      </p:sp>
      <p:sp>
        <p:nvSpPr>
          <p:cNvPr id="24" name="Frasi attribuite male"/>
          <p:cNvSpPr/>
          <p:nvPr/>
        </p:nvSpPr>
        <p:spPr>
          <a:xfrm>
            <a:off x="2560320" y="1828800"/>
            <a:ext cx="1874520" cy="868680"/>
          </a:xfrm>
          <a:prstGeom prst="roundRect">
            <a:avLst>
              <a:gd name="adj" fmla="val 8421"/>
            </a:avLst>
          </a:prstGeom>
          <a:solidFill>
            <a:schemeClr val="bg2"/>
          </a:solidFill>
          <a:ln/>
        </p:spPr>
      </p:sp>
      <p:sp>
        <p:nvSpPr>
          <p:cNvPr id="25" name="Text 22"/>
          <p:cNvSpPr txBox="1"/>
          <p:nvPr/>
        </p:nvSpPr>
        <p:spPr>
          <a:xfrm>
            <a:off x="2670048" y="1883664"/>
            <a:ext cx="1691640" cy="438912"/>
          </a:xfrm>
          <a:prstGeom prst="rect">
            <a:avLst/>
          </a:prstGeom>
          <a:noFill/>
          <a:ln/>
        </p:spPr>
        <p:txBody>
          <a:bodyPr wrap="square" lIns="0" tIns="0" rIns="0" bIns="0" rtlCol="0" anchor="t"/>
          <a:lstStyle/>
          <a:p>
            <a:pPr indent="0" marL="0">
              <a:buNone/>
            </a:pPr>
            <a:r>
              <a:rPr lang="en-US" sz="1200" b="1" dirty="0">
                <a:solidFill>
                  <a:schemeClr val="accent5"/>
                </a:solidFill>
              </a:rPr>
              <a:t>Frasi attribuite male</a:t>
            </a:r>
            <a:endParaRPr lang="en-US" sz="1200" dirty="0"/>
          </a:p>
        </p:txBody>
      </p:sp>
      <p:sp>
        <p:nvSpPr>
          <p:cNvPr id="26" name="Text 23"/>
          <p:cNvSpPr txBox="1"/>
          <p:nvPr/>
        </p:nvSpPr>
        <p:spPr>
          <a:xfrm>
            <a:off x="2670048" y="2331720"/>
            <a:ext cx="1691640" cy="292608"/>
          </a:xfrm>
          <a:prstGeom prst="rect">
            <a:avLst/>
          </a:prstGeom>
          <a:noFill/>
          <a:ln/>
        </p:spPr>
        <p:txBody>
          <a:bodyPr wrap="square" lIns="0" tIns="0" rIns="0" bIns="0" rtlCol="0" anchor="t"/>
          <a:lstStyle/>
          <a:p>
            <a:pPr indent="0" marL="0">
              <a:buNone/>
            </a:pPr>
            <a:r>
              <a:rPr lang="en-US" sz="1100" dirty="0">
                <a:solidFill>
                  <a:schemeClr val="tx2"/>
                </a:solidFill>
              </a:rPr>
              <a:t>Nella trascrizione</a:t>
            </a:r>
            <a:endParaRPr lang="en-US" sz="1100" dirty="0"/>
          </a:p>
        </p:txBody>
      </p:sp>
      <p:sp>
        <p:nvSpPr>
          <p:cNvPr id="27" name="Obiezioni omesse"/>
          <p:cNvSpPr/>
          <p:nvPr/>
        </p:nvSpPr>
        <p:spPr>
          <a:xfrm>
            <a:off x="4663440" y="1828800"/>
            <a:ext cx="1874520" cy="868680"/>
          </a:xfrm>
          <a:prstGeom prst="roundRect">
            <a:avLst>
              <a:gd name="adj" fmla="val 8421"/>
            </a:avLst>
          </a:prstGeom>
          <a:solidFill>
            <a:schemeClr val="bg2"/>
          </a:solidFill>
          <a:ln/>
        </p:spPr>
      </p:sp>
      <p:sp>
        <p:nvSpPr>
          <p:cNvPr id="28" name="Text 25"/>
          <p:cNvSpPr txBox="1"/>
          <p:nvPr/>
        </p:nvSpPr>
        <p:spPr>
          <a:xfrm>
            <a:off x="4773168" y="1883664"/>
            <a:ext cx="1691640" cy="438912"/>
          </a:xfrm>
          <a:prstGeom prst="rect">
            <a:avLst/>
          </a:prstGeom>
          <a:noFill/>
          <a:ln/>
        </p:spPr>
        <p:txBody>
          <a:bodyPr wrap="square" lIns="0" tIns="0" rIns="0" bIns="0" rtlCol="0" anchor="t"/>
          <a:lstStyle/>
          <a:p>
            <a:pPr indent="0" marL="0">
              <a:buNone/>
            </a:pPr>
            <a:r>
              <a:rPr lang="en-US" sz="1200" b="1" dirty="0">
                <a:solidFill>
                  <a:schemeClr val="accent5"/>
                </a:solidFill>
              </a:rPr>
              <a:t>Obiezioni omesse</a:t>
            </a:r>
            <a:endParaRPr lang="en-US" sz="1200" dirty="0"/>
          </a:p>
        </p:txBody>
      </p:sp>
      <p:sp>
        <p:nvSpPr>
          <p:cNvPr id="29" name="Text 26"/>
          <p:cNvSpPr txBox="1"/>
          <p:nvPr/>
        </p:nvSpPr>
        <p:spPr>
          <a:xfrm>
            <a:off x="4773168" y="2331720"/>
            <a:ext cx="1691640" cy="292608"/>
          </a:xfrm>
          <a:prstGeom prst="rect">
            <a:avLst/>
          </a:prstGeom>
          <a:noFill/>
          <a:ln/>
        </p:spPr>
        <p:txBody>
          <a:bodyPr wrap="square" lIns="0" tIns="0" rIns="0" bIns="0" rtlCol="0" anchor="t"/>
          <a:lstStyle/>
          <a:p>
            <a:pPr indent="0" marL="0">
              <a:buNone/>
            </a:pPr>
            <a:r>
              <a:rPr lang="en-US" sz="1100" dirty="0">
                <a:solidFill>
                  <a:schemeClr val="tx2"/>
                </a:solidFill>
              </a:rPr>
              <a:t>Nel riassunto</a:t>
            </a:r>
            <a:endParaRPr lang="en-US" sz="1100" dirty="0"/>
          </a:p>
        </p:txBody>
      </p:sp>
      <p:sp>
        <p:nvSpPr>
          <p:cNvPr id="30" name="'Ci penso' diventa 'sì'"/>
          <p:cNvSpPr/>
          <p:nvPr/>
        </p:nvSpPr>
        <p:spPr>
          <a:xfrm>
            <a:off x="6766560" y="1828800"/>
            <a:ext cx="1874520" cy="868680"/>
          </a:xfrm>
          <a:prstGeom prst="roundRect">
            <a:avLst>
              <a:gd name="adj" fmla="val 8421"/>
            </a:avLst>
          </a:prstGeom>
          <a:solidFill>
            <a:schemeClr val="bg2"/>
          </a:solidFill>
          <a:ln/>
        </p:spPr>
      </p:sp>
      <p:sp>
        <p:nvSpPr>
          <p:cNvPr id="31" name="Text 28"/>
          <p:cNvSpPr txBox="1"/>
          <p:nvPr/>
        </p:nvSpPr>
        <p:spPr>
          <a:xfrm>
            <a:off x="6876288" y="1883664"/>
            <a:ext cx="1691640" cy="438912"/>
          </a:xfrm>
          <a:prstGeom prst="rect">
            <a:avLst/>
          </a:prstGeom>
          <a:noFill/>
          <a:ln/>
        </p:spPr>
        <p:txBody>
          <a:bodyPr wrap="square" lIns="0" tIns="0" rIns="0" bIns="0" rtlCol="0" anchor="t"/>
          <a:lstStyle/>
          <a:p>
            <a:pPr indent="0" marL="0">
              <a:buNone/>
            </a:pPr>
            <a:r>
              <a:rPr lang="en-US" sz="1200" b="1" dirty="0">
                <a:solidFill>
                  <a:schemeClr val="accent5"/>
                </a:solidFill>
              </a:rPr>
              <a:t>'Ci penso' diventa 'sì'</a:t>
            </a:r>
            <a:endParaRPr lang="en-US" sz="1200" dirty="0"/>
          </a:p>
        </p:txBody>
      </p:sp>
      <p:sp>
        <p:nvSpPr>
          <p:cNvPr id="32" name="Text 29"/>
          <p:cNvSpPr txBox="1"/>
          <p:nvPr/>
        </p:nvSpPr>
        <p:spPr>
          <a:xfrm>
            <a:off x="6876288" y="2331720"/>
            <a:ext cx="1691640" cy="292608"/>
          </a:xfrm>
          <a:prstGeom prst="rect">
            <a:avLst/>
          </a:prstGeom>
          <a:noFill/>
          <a:ln/>
        </p:spPr>
        <p:txBody>
          <a:bodyPr wrap="square" lIns="0" tIns="0" rIns="0" bIns="0" rtlCol="0" anchor="t"/>
          <a:lstStyle/>
          <a:p>
            <a:pPr indent="0" marL="0">
              <a:buNone/>
            </a:pPr>
            <a:r>
              <a:rPr lang="en-US" sz="1100" dirty="0">
                <a:solidFill>
                  <a:schemeClr val="tx2"/>
                </a:solidFill>
              </a:rPr>
              <a:t>Nelle decisioni</a:t>
            </a:r>
            <a:endParaRPr lang="en-US" sz="1100" dirty="0"/>
          </a:p>
        </p:txBody>
      </p:sp>
      <p:sp>
        <p:nvSpPr>
          <p:cNvPr id="33" name="scheda Far rivedere ai partecipanti"/>
          <p:cNvSpPr/>
          <p:nvPr/>
        </p:nvSpPr>
        <p:spPr>
          <a:xfrm>
            <a:off x="457200" y="2880360"/>
            <a:ext cx="3977640" cy="1645920"/>
          </a:xfrm>
          <a:prstGeom prst="roundRect">
            <a:avLst>
              <a:gd name="adj" fmla="val 4444"/>
            </a:avLst>
          </a:prstGeom>
          <a:solidFill>
            <a:schemeClr val="accent6"/>
          </a:solidFill>
          <a:ln/>
        </p:spPr>
      </p:sp>
      <p:sp>
        <p:nvSpPr>
          <p:cNvPr id="34" name="cerchio FiUsers"/>
          <p:cNvSpPr/>
          <p:nvPr/>
        </p:nvSpPr>
        <p:spPr>
          <a:xfrm>
            <a:off x="640080" y="3063240"/>
            <a:ext cx="457200" cy="457200"/>
          </a:xfrm>
          <a:prstGeom prst="ellipse">
            <a:avLst/>
          </a:prstGeom>
          <a:solidFill>
            <a:schemeClr val="accent1"/>
          </a:solidFill>
          <a:ln/>
        </p:spPr>
      </p:sp>
      <p:pic>
        <p:nvPicPr>
          <p:cNvPr id="35" name="Image 0" descr="FiUsers">    </p:cNvPr>
          <p:cNvPicPr>
            <a:picLocks noChangeAspect="1"/>
          </p:cNvPicPr>
          <p:nvPr/>
        </p:nvPicPr>
        <p:blipFill>
          <a:blip r:embed="rId1"/>
          <a:stretch>
            <a:fillRect/>
          </a:stretch>
        </p:blipFill>
        <p:spPr>
          <a:xfrm>
            <a:off x="754380" y="3177540"/>
            <a:ext cx="228600" cy="228600"/>
          </a:xfrm>
          <a:prstGeom prst="rect">
            <a:avLst/>
          </a:prstGeom>
        </p:spPr>
      </p:pic>
      <p:sp>
        <p:nvSpPr>
          <p:cNvPr id="36" name="Text 32"/>
          <p:cNvSpPr txBox="1"/>
          <p:nvPr/>
        </p:nvSpPr>
        <p:spPr>
          <a:xfrm>
            <a:off x="1234440" y="3063240"/>
            <a:ext cx="3017520" cy="457200"/>
          </a:xfrm>
          <a:prstGeom prst="rect">
            <a:avLst/>
          </a:prstGeom>
          <a:noFill/>
          <a:ln/>
        </p:spPr>
        <p:txBody>
          <a:bodyPr wrap="square" lIns="0" tIns="0" rIns="0" bIns="0" rtlCol="0" anchor="ctr"/>
          <a:lstStyle/>
          <a:p>
            <a:pPr indent="0" marL="0">
              <a:buNone/>
            </a:pPr>
            <a:r>
              <a:rPr lang="en-US" sz="1400" b="1" dirty="0">
                <a:solidFill>
                  <a:schemeClr val="tx1"/>
                </a:solidFill>
              </a:rPr>
              <a:t>Far rivedere ai partecipanti</a:t>
            </a:r>
            <a:endParaRPr lang="en-US" sz="1400" dirty="0"/>
          </a:p>
        </p:txBody>
      </p:sp>
      <p:sp>
        <p:nvSpPr>
          <p:cNvPr id="37" name="Text 33"/>
          <p:cNvSpPr txBox="1"/>
          <p:nvPr/>
        </p:nvSpPr>
        <p:spPr>
          <a:xfrm>
            <a:off x="640080" y="3657600"/>
            <a:ext cx="3611880" cy="758952"/>
          </a:xfrm>
          <a:prstGeom prst="rect">
            <a:avLst/>
          </a:prstGeom>
          <a:noFill/>
          <a:ln/>
        </p:spPr>
        <p:txBody>
          <a:bodyPr wrap="square" lIns="0" tIns="0" rIns="0" bIns="0" rtlCol="0" anchor="t"/>
          <a:lstStyle/>
          <a:p>
            <a:pPr indent="0" marL="0">
              <a:buNone/>
            </a:pPr>
            <a:r>
              <a:rPr lang="en-US" sz="1200" dirty="0">
                <a:solidFill>
                  <a:schemeClr val="tx2"/>
                </a:solidFill>
              </a:rPr>
              <a:t>Riassunto e azioni, prima di diffonderli.</a:t>
            </a:r>
            <a:endParaRPr lang="en-US" sz="1200" dirty="0"/>
          </a:p>
        </p:txBody>
      </p:sp>
      <p:sp>
        <p:nvSpPr>
          <p:cNvPr id="38" name="scheda Conservare la trascrizione"/>
          <p:cNvSpPr/>
          <p:nvPr/>
        </p:nvSpPr>
        <p:spPr>
          <a:xfrm>
            <a:off x="4709160" y="2880360"/>
            <a:ext cx="3977640" cy="1645920"/>
          </a:xfrm>
          <a:prstGeom prst="roundRect">
            <a:avLst>
              <a:gd name="adj" fmla="val 4444"/>
            </a:avLst>
          </a:prstGeom>
          <a:solidFill>
            <a:schemeClr val="bg2"/>
          </a:solidFill>
          <a:ln/>
        </p:spPr>
      </p:sp>
      <p:sp>
        <p:nvSpPr>
          <p:cNvPr id="39" name="cerchio FiArchive"/>
          <p:cNvSpPr/>
          <p:nvPr/>
        </p:nvSpPr>
        <p:spPr>
          <a:xfrm>
            <a:off x="4892040" y="3063240"/>
            <a:ext cx="457200" cy="457200"/>
          </a:xfrm>
          <a:prstGeom prst="ellipse">
            <a:avLst/>
          </a:prstGeom>
          <a:solidFill>
            <a:schemeClr val="accent1"/>
          </a:solidFill>
          <a:ln/>
        </p:spPr>
      </p:sp>
      <p:pic>
        <p:nvPicPr>
          <p:cNvPr id="40" name="Image 1" descr="FiArchive">    </p:cNvPr>
          <p:cNvPicPr>
            <a:picLocks noChangeAspect="1"/>
          </p:cNvPicPr>
          <p:nvPr/>
        </p:nvPicPr>
        <p:blipFill>
          <a:blip r:embed="rId2"/>
          <a:stretch>
            <a:fillRect/>
          </a:stretch>
        </p:blipFill>
        <p:spPr>
          <a:xfrm>
            <a:off x="5006340" y="3177540"/>
            <a:ext cx="228600" cy="228600"/>
          </a:xfrm>
          <a:prstGeom prst="rect">
            <a:avLst/>
          </a:prstGeom>
        </p:spPr>
      </p:pic>
      <p:sp>
        <p:nvSpPr>
          <p:cNvPr id="41" name="Text 36"/>
          <p:cNvSpPr txBox="1"/>
          <p:nvPr/>
        </p:nvSpPr>
        <p:spPr>
          <a:xfrm>
            <a:off x="5486400" y="3063240"/>
            <a:ext cx="3017520" cy="457200"/>
          </a:xfrm>
          <a:prstGeom prst="rect">
            <a:avLst/>
          </a:prstGeom>
          <a:noFill/>
          <a:ln/>
        </p:spPr>
        <p:txBody>
          <a:bodyPr wrap="square" lIns="0" tIns="0" rIns="0" bIns="0" rtlCol="0" anchor="ctr"/>
          <a:lstStyle/>
          <a:p>
            <a:pPr indent="0" marL="0">
              <a:buNone/>
            </a:pPr>
            <a:r>
              <a:rPr lang="en-US" sz="1400" b="1" dirty="0">
                <a:solidFill>
                  <a:schemeClr val="tx1"/>
                </a:solidFill>
              </a:rPr>
              <a:t>Conservare la trascrizione</a:t>
            </a:r>
            <a:endParaRPr lang="en-US" sz="1400" dirty="0"/>
          </a:p>
        </p:txBody>
      </p:sp>
      <p:sp>
        <p:nvSpPr>
          <p:cNvPr id="42" name="Text 37"/>
          <p:cNvSpPr txBox="1"/>
          <p:nvPr/>
        </p:nvSpPr>
        <p:spPr>
          <a:xfrm>
            <a:off x="4892040" y="3657600"/>
            <a:ext cx="3611880" cy="758952"/>
          </a:xfrm>
          <a:prstGeom prst="rect">
            <a:avLst/>
          </a:prstGeom>
          <a:noFill/>
          <a:ln/>
        </p:spPr>
        <p:txBody>
          <a:bodyPr wrap="square" lIns="0" tIns="0" rIns="0" bIns="0" rtlCol="0" anchor="t"/>
          <a:lstStyle/>
          <a:p>
            <a:pPr indent="0" marL="0">
              <a:buNone/>
            </a:pPr>
            <a:r>
              <a:rPr lang="en-US" sz="1200" dirty="0">
                <a:solidFill>
                  <a:schemeClr val="tx2"/>
                </a:solidFill>
              </a:rPr>
              <a:t>O la registrazione, quando consentito, come riferimento per i punti controversi.</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Errori di riconoscimento</a:t>
            </a:r>
            <a:endParaRPr lang="en-US" sz="2600" dirty="0"/>
          </a:p>
        </p:txBody>
      </p:sp>
      <p:sp>
        <p:nvSpPr>
          <p:cNvPr id="4" name="operazione Interpretare"/>
          <p:cNvSpPr/>
          <p:nvPr/>
        </p:nvSpPr>
        <p:spPr>
          <a:xfrm>
            <a:off x="6053328" y="384048"/>
            <a:ext cx="841248" cy="237744"/>
          </a:xfrm>
          <a:prstGeom prst="roundRect">
            <a:avLst>
              <a:gd name="adj" fmla="val 50000"/>
            </a:avLst>
          </a:prstGeom>
          <a:solidFill>
            <a:schemeClr val="accent1"/>
          </a:solidFill>
          <a:ln w="9525">
            <a:solidFill>
              <a:schemeClr val="accent1"/>
            </a:solidFill>
            <a:prstDash val="solid"/>
          </a:ln>
        </p:spPr>
      </p:sp>
      <p:sp>
        <p:nvSpPr>
          <p:cNvPr id="5" name="Text 2"/>
          <p:cNvSpPr txBox="1"/>
          <p:nvPr/>
        </p:nvSpPr>
        <p:spPr>
          <a:xfrm>
            <a:off x="6053328" y="384048"/>
            <a:ext cx="841248" cy="237744"/>
          </a:xfrm>
          <a:prstGeom prst="rect">
            <a:avLst/>
          </a:prstGeom>
          <a:noFill/>
          <a:ln/>
        </p:spPr>
        <p:txBody>
          <a:bodyPr wrap="square" lIns="0" tIns="0" rIns="0" bIns="0" rtlCol="0" anchor="ctr"/>
          <a:lstStyle/>
          <a:p>
            <a:pPr algn="ctr" indent="0" marL="0">
              <a:buNone/>
            </a:pPr>
            <a:r>
              <a:rPr lang="en-US" sz="900" b="1" dirty="0">
                <a:solidFill>
                  <a:schemeClr val="bg1"/>
                </a:solidFill>
              </a:rPr>
              <a:t>Interpretare</a:t>
            </a:r>
            <a:endParaRPr lang="en-US" sz="900" dirty="0"/>
          </a:p>
        </p:txBody>
      </p:sp>
      <p:sp>
        <p:nvSpPr>
          <p:cNvPr id="6" name="operazione Generare"/>
          <p:cNvSpPr/>
          <p:nvPr/>
        </p:nvSpPr>
        <p:spPr>
          <a:xfrm>
            <a:off x="6940296" y="384048"/>
            <a:ext cx="841248"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940296" y="384048"/>
            <a:ext cx="841248" cy="237744"/>
          </a:xfrm>
          <a:prstGeom prst="rect">
            <a:avLst/>
          </a:prstGeom>
          <a:noFill/>
          <a:ln/>
        </p:spPr>
        <p:txBody>
          <a:bodyPr wrap="square" lIns="0" tIns="0" rIns="0" bIns="0" rtlCol="0" anchor="ctr"/>
          <a:lstStyle/>
          <a:p>
            <a:pPr algn="ctr" indent="0" marL="0">
              <a:buNone/>
            </a:pPr>
            <a:r>
              <a:rPr lang="en-US" sz="900" b="1" dirty="0">
                <a:solidFill>
                  <a:schemeClr val="accent1"/>
                </a:solidFill>
              </a:rPr>
              <a:t>Generare</a:t>
            </a:r>
            <a:endParaRPr lang="en-US" sz="900" dirty="0"/>
          </a:p>
        </p:txBody>
      </p:sp>
      <p:sp>
        <p:nvSpPr>
          <p:cNvPr id="8" name="operazione Trasformare"/>
          <p:cNvSpPr/>
          <p:nvPr/>
        </p:nvSpPr>
        <p:spPr>
          <a:xfrm>
            <a:off x="7827264" y="384048"/>
            <a:ext cx="841248"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827264" y="384048"/>
            <a:ext cx="841248" cy="237744"/>
          </a:xfrm>
          <a:prstGeom prst="rect">
            <a:avLst/>
          </a:prstGeom>
          <a:noFill/>
          <a:ln/>
        </p:spPr>
        <p:txBody>
          <a:bodyPr wrap="square" lIns="0" tIns="0" rIns="0" bIns="0" rtlCol="0" anchor="ctr"/>
          <a:lstStyle/>
          <a:p>
            <a:pPr algn="ctr" indent="0" marL="0">
              <a:buNone/>
            </a:pPr>
            <a:r>
              <a:rPr lang="en-US" sz="900" b="1" dirty="0">
                <a:solidFill>
                  <a:schemeClr val="accent1"/>
                </a:solidFill>
              </a:rPr>
              <a:t>Trasformare</a:t>
            </a:r>
            <a:endParaRPr lang="en-US" sz="9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2926080"/>
                <a:gridCol w="2926080"/>
                <a:gridCol w="2377440"/>
              </a:tblGrid>
              <a:tr h="411480">
                <a:tc>
                  <a:txBody>
                    <a:bodyPr/>
                    <a:lstStyle/>
                    <a:p>
                      <a:pPr indent="0" marL="0">
                        <a:buNone/>
                      </a:pPr>
                      <a:r>
                        <a:rPr lang="en-US" sz="1200" b="1" dirty="0">
                          <a:solidFill>
                            <a:schemeClr val="bg1"/>
                          </a:solidFill>
                        </a:rPr>
                        <a:t>Detto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Trascritto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Tipo di errore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tr>
              <a:tr h="411480">
                <a:tc>
                  <a:txBody>
                    <a:bodyPr/>
                    <a:lstStyle/>
                    <a:p>
                      <a:pPr indent="0" marL="0">
                        <a:buNone/>
                      </a:pPr>
                      <a:r>
                        <a:rPr lang="en-US" sz="1200" b="1" dirty="0">
                          <a:solidFill>
                            <a:schemeClr val="tx1"/>
                          </a:solidFill>
                        </a:rPr>
                        <a:t>Il fornitore Kessler</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Il fornitore Kessel</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Nome proprio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411480">
                <a:tc>
                  <a:txBody>
                    <a:bodyPr/>
                    <a:lstStyle/>
                    <a:p>
                      <a:pPr indent="0" marL="0">
                        <a:buNone/>
                      </a:pPr>
                      <a:r>
                        <a:rPr lang="en-US" sz="1200" b="1" dirty="0">
                          <a:solidFill>
                            <a:schemeClr val="tx1"/>
                          </a:solidFill>
                        </a:rPr>
                        <a:t>Il modulo SDI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Il modulo esse di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Sigla aziendale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411480">
                <a:tc>
                  <a:txBody>
                    <a:bodyPr/>
                    <a:lstStyle/>
                    <a:p>
                      <a:pPr indent="0" marL="0">
                        <a:buNone/>
                      </a:pPr>
                      <a:r>
                        <a:rPr lang="en-US" sz="1200" b="1" dirty="0">
                          <a:solidFill>
                            <a:schemeClr val="tx1"/>
                          </a:solidFill>
                        </a:rPr>
                        <a:t>Sconto del diciotto per cento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Sconto dell'otto per cento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Numero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411480">
                <a:tc>
                  <a:txBody>
                    <a:bodyPr/>
                    <a:lstStyle/>
                    <a:p>
                      <a:pPr indent="0" marL="0">
                        <a:buNone/>
                      </a:pPr>
                      <a:r>
                        <a:rPr lang="en-US" sz="1200" b="1" dirty="0">
                          <a:solidFill>
                            <a:schemeClr val="tx1"/>
                          </a:solidFill>
                        </a:rPr>
                        <a:t>(pausa di silenzio)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Grazie per l'attenzione.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Frase aggiunta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bl>
          </a:graphicData>
        </a:graphic>
      </p:graphicFrame>
      <p:sp>
        <p:nvSpPr>
          <p:cNvPr id="11" name="Text 7"/>
          <p:cNvSpPr txBox="1"/>
          <p:nvPr/>
        </p:nvSpPr>
        <p:spPr>
          <a:xfrm>
            <a:off x="457200" y="3136392"/>
            <a:ext cx="2743200" cy="256032"/>
          </a:xfrm>
          <a:prstGeom prst="rect">
            <a:avLst/>
          </a:prstGeom>
          <a:noFill/>
          <a:ln/>
        </p:spPr>
        <p:txBody>
          <a:bodyPr wrap="square" lIns="0" tIns="0" rIns="0" bIns="0" rtlCol="0" anchor="t"/>
          <a:lstStyle/>
          <a:p>
            <a:pPr indent="0" marL="0">
              <a:buNone/>
            </a:pPr>
            <a:r>
              <a:rPr lang="en-US" sz="1000" i="1" dirty="0">
                <a:solidFill>
                  <a:schemeClr val="accent2"/>
                </a:solidFill>
              </a:rPr>
              <a:t>Esempi fittizi</a:t>
            </a:r>
            <a:endParaRPr lang="en-US" sz="1000" dirty="0"/>
          </a:p>
        </p:txBody>
      </p:sp>
      <p:sp>
        <p:nvSpPr>
          <p:cNvPr id="12" name="blocco Accenti e dialetti"/>
          <p:cNvSpPr/>
          <p:nvPr/>
        </p:nvSpPr>
        <p:spPr>
          <a:xfrm>
            <a:off x="457200" y="3429000"/>
            <a:ext cx="1965960" cy="457200"/>
          </a:xfrm>
          <a:prstGeom prst="roundRect">
            <a:avLst>
              <a:gd name="adj" fmla="val 24000"/>
            </a:avLst>
          </a:prstGeom>
          <a:solidFill>
            <a:schemeClr val="bg2"/>
          </a:solidFill>
          <a:ln/>
        </p:spPr>
      </p:sp>
      <p:sp>
        <p:nvSpPr>
          <p:cNvPr id="13" name="Text 9"/>
          <p:cNvSpPr txBox="1"/>
          <p:nvPr/>
        </p:nvSpPr>
        <p:spPr>
          <a:xfrm>
            <a:off x="502920" y="3429000"/>
            <a:ext cx="1874520" cy="457200"/>
          </a:xfrm>
          <a:prstGeom prst="rect">
            <a:avLst/>
          </a:prstGeom>
          <a:noFill/>
          <a:ln/>
        </p:spPr>
        <p:txBody>
          <a:bodyPr wrap="square" lIns="0" tIns="0" rIns="0" bIns="0" rtlCol="0" anchor="ctr"/>
          <a:lstStyle/>
          <a:p>
            <a:pPr algn="ctr" indent="0" marL="0">
              <a:buNone/>
            </a:pPr>
            <a:r>
              <a:rPr lang="en-US" sz="1200" b="1" dirty="0">
                <a:solidFill>
                  <a:schemeClr val="tx1"/>
                </a:solidFill>
              </a:rPr>
              <a:t>Accenti e dialetti</a:t>
            </a:r>
            <a:endParaRPr lang="en-US" sz="1200" dirty="0"/>
          </a:p>
        </p:txBody>
      </p:sp>
      <p:sp>
        <p:nvSpPr>
          <p:cNvPr id="14" name="blocco Sovrapposizioni"/>
          <p:cNvSpPr/>
          <p:nvPr/>
        </p:nvSpPr>
        <p:spPr>
          <a:xfrm>
            <a:off x="2560320" y="3429000"/>
            <a:ext cx="1965960" cy="457200"/>
          </a:xfrm>
          <a:prstGeom prst="roundRect">
            <a:avLst>
              <a:gd name="adj" fmla="val 24000"/>
            </a:avLst>
          </a:prstGeom>
          <a:solidFill>
            <a:schemeClr val="bg2"/>
          </a:solidFill>
          <a:ln/>
        </p:spPr>
      </p:sp>
      <p:sp>
        <p:nvSpPr>
          <p:cNvPr id="15" name="Text 11"/>
          <p:cNvSpPr txBox="1"/>
          <p:nvPr/>
        </p:nvSpPr>
        <p:spPr>
          <a:xfrm>
            <a:off x="2606040" y="3429000"/>
            <a:ext cx="1874520" cy="457200"/>
          </a:xfrm>
          <a:prstGeom prst="rect">
            <a:avLst/>
          </a:prstGeom>
          <a:noFill/>
          <a:ln/>
        </p:spPr>
        <p:txBody>
          <a:bodyPr wrap="square" lIns="0" tIns="0" rIns="0" bIns="0" rtlCol="0" anchor="ctr"/>
          <a:lstStyle/>
          <a:p>
            <a:pPr algn="ctr" indent="0" marL="0">
              <a:buNone/>
            </a:pPr>
            <a:r>
              <a:rPr lang="en-US" sz="1200" b="1" dirty="0">
                <a:solidFill>
                  <a:schemeClr val="tx1"/>
                </a:solidFill>
              </a:rPr>
              <a:t>Sovrapposizioni</a:t>
            </a:r>
            <a:endParaRPr lang="en-US" sz="1200" dirty="0"/>
          </a:p>
        </p:txBody>
      </p:sp>
      <p:sp>
        <p:nvSpPr>
          <p:cNvPr id="16" name="blocco Rumore di fondo"/>
          <p:cNvSpPr/>
          <p:nvPr/>
        </p:nvSpPr>
        <p:spPr>
          <a:xfrm>
            <a:off x="4663440" y="3429000"/>
            <a:ext cx="1965960" cy="457200"/>
          </a:xfrm>
          <a:prstGeom prst="roundRect">
            <a:avLst>
              <a:gd name="adj" fmla="val 24000"/>
            </a:avLst>
          </a:prstGeom>
          <a:solidFill>
            <a:schemeClr val="bg2"/>
          </a:solidFill>
          <a:ln/>
        </p:spPr>
      </p:sp>
      <p:sp>
        <p:nvSpPr>
          <p:cNvPr id="17" name="Text 13"/>
          <p:cNvSpPr txBox="1"/>
          <p:nvPr/>
        </p:nvSpPr>
        <p:spPr>
          <a:xfrm>
            <a:off x="4709160" y="3429000"/>
            <a:ext cx="1874520" cy="457200"/>
          </a:xfrm>
          <a:prstGeom prst="rect">
            <a:avLst/>
          </a:prstGeom>
          <a:noFill/>
          <a:ln/>
        </p:spPr>
        <p:txBody>
          <a:bodyPr wrap="square" lIns="0" tIns="0" rIns="0" bIns="0" rtlCol="0" anchor="ctr"/>
          <a:lstStyle/>
          <a:p>
            <a:pPr algn="ctr" indent="0" marL="0">
              <a:buNone/>
            </a:pPr>
            <a:r>
              <a:rPr lang="en-US" sz="1200" b="1" dirty="0">
                <a:solidFill>
                  <a:schemeClr val="tx1"/>
                </a:solidFill>
              </a:rPr>
              <a:t>Rumore di fondo</a:t>
            </a:r>
            <a:endParaRPr lang="en-US" sz="1200" dirty="0"/>
          </a:p>
        </p:txBody>
      </p:sp>
      <p:sp>
        <p:nvSpPr>
          <p:cNvPr id="18" name="blocco Lingue miste"/>
          <p:cNvSpPr/>
          <p:nvPr/>
        </p:nvSpPr>
        <p:spPr>
          <a:xfrm>
            <a:off x="6766560" y="3429000"/>
            <a:ext cx="1965960" cy="457200"/>
          </a:xfrm>
          <a:prstGeom prst="roundRect">
            <a:avLst>
              <a:gd name="adj" fmla="val 24000"/>
            </a:avLst>
          </a:prstGeom>
          <a:solidFill>
            <a:schemeClr val="bg2"/>
          </a:solidFill>
          <a:ln/>
        </p:spPr>
      </p:sp>
      <p:sp>
        <p:nvSpPr>
          <p:cNvPr id="19" name="Text 15"/>
          <p:cNvSpPr txBox="1"/>
          <p:nvPr/>
        </p:nvSpPr>
        <p:spPr>
          <a:xfrm>
            <a:off x="6812280" y="3429000"/>
            <a:ext cx="1874520" cy="457200"/>
          </a:xfrm>
          <a:prstGeom prst="rect">
            <a:avLst/>
          </a:prstGeom>
          <a:noFill/>
          <a:ln/>
        </p:spPr>
        <p:txBody>
          <a:bodyPr wrap="square" lIns="0" tIns="0" rIns="0" bIns="0" rtlCol="0" anchor="ctr"/>
          <a:lstStyle/>
          <a:p>
            <a:pPr algn="ctr" indent="0" marL="0">
              <a:buNone/>
            </a:pPr>
            <a:r>
              <a:rPr lang="en-US" sz="1200" b="1" dirty="0">
                <a:solidFill>
                  <a:schemeClr val="tx1"/>
                </a:solidFill>
              </a:rPr>
              <a:t>Lingue miste</a:t>
            </a:r>
            <a:endParaRPr lang="en-US" sz="1200" dirty="0"/>
          </a:p>
        </p:txBody>
      </p:sp>
      <p:sp>
        <p:nvSpPr>
          <p:cNvPr id="20" name="Text 16"/>
          <p:cNvSpPr txBox="1"/>
          <p:nvPr/>
        </p:nvSpPr>
        <p:spPr>
          <a:xfrm>
            <a:off x="457200" y="4023360"/>
            <a:ext cx="8229600" cy="411480"/>
          </a:xfrm>
          <a:prstGeom prst="rect">
            <a:avLst/>
          </a:prstGeom>
          <a:noFill/>
          <a:ln/>
        </p:spPr>
        <p:txBody>
          <a:bodyPr wrap="square" lIns="0" tIns="0" rIns="0" bIns="0" rtlCol="0" anchor="t"/>
          <a:lstStyle/>
          <a:p>
            <a:pPr indent="0" marL="0">
              <a:buNone/>
            </a:pPr>
            <a:r>
              <a:rPr lang="en-US" sz="1200" i="1" dirty="0">
                <a:solidFill>
                  <a:schemeClr val="tx2"/>
                </a:solidFill>
              </a:rPr>
              <a:t>Alcuni strumenti accettano un vocabolario di termini specifici: riduce gli errori su nomi e terminologia.</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Chi ha detto che cosa</a:t>
            </a:r>
            <a:endParaRPr lang="en-US" sz="2600" dirty="0"/>
          </a:p>
        </p:txBody>
      </p:sp>
      <p:sp>
        <p:nvSpPr>
          <p:cNvPr id="4" name="operazione Interpretare"/>
          <p:cNvSpPr/>
          <p:nvPr/>
        </p:nvSpPr>
        <p:spPr>
          <a:xfrm>
            <a:off x="6053328" y="384048"/>
            <a:ext cx="841248" cy="237744"/>
          </a:xfrm>
          <a:prstGeom prst="roundRect">
            <a:avLst>
              <a:gd name="adj" fmla="val 50000"/>
            </a:avLst>
          </a:prstGeom>
          <a:solidFill>
            <a:schemeClr val="accent1"/>
          </a:solidFill>
          <a:ln w="9525">
            <a:solidFill>
              <a:schemeClr val="accent1"/>
            </a:solidFill>
            <a:prstDash val="solid"/>
          </a:ln>
        </p:spPr>
      </p:sp>
      <p:sp>
        <p:nvSpPr>
          <p:cNvPr id="5" name="Text 2"/>
          <p:cNvSpPr txBox="1"/>
          <p:nvPr/>
        </p:nvSpPr>
        <p:spPr>
          <a:xfrm>
            <a:off x="6053328" y="384048"/>
            <a:ext cx="841248" cy="237744"/>
          </a:xfrm>
          <a:prstGeom prst="rect">
            <a:avLst/>
          </a:prstGeom>
          <a:noFill/>
          <a:ln/>
        </p:spPr>
        <p:txBody>
          <a:bodyPr wrap="square" lIns="0" tIns="0" rIns="0" bIns="0" rtlCol="0" anchor="ctr"/>
          <a:lstStyle/>
          <a:p>
            <a:pPr algn="ctr" indent="0" marL="0">
              <a:buNone/>
            </a:pPr>
            <a:r>
              <a:rPr lang="en-US" sz="900" b="1" dirty="0">
                <a:solidFill>
                  <a:schemeClr val="bg1"/>
                </a:solidFill>
              </a:rPr>
              <a:t>Interpretare</a:t>
            </a:r>
            <a:endParaRPr lang="en-US" sz="900" dirty="0"/>
          </a:p>
        </p:txBody>
      </p:sp>
      <p:sp>
        <p:nvSpPr>
          <p:cNvPr id="6" name="operazione Generare"/>
          <p:cNvSpPr/>
          <p:nvPr/>
        </p:nvSpPr>
        <p:spPr>
          <a:xfrm>
            <a:off x="6940296" y="384048"/>
            <a:ext cx="841248"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940296" y="384048"/>
            <a:ext cx="841248" cy="237744"/>
          </a:xfrm>
          <a:prstGeom prst="rect">
            <a:avLst/>
          </a:prstGeom>
          <a:noFill/>
          <a:ln/>
        </p:spPr>
        <p:txBody>
          <a:bodyPr wrap="square" lIns="0" tIns="0" rIns="0" bIns="0" rtlCol="0" anchor="ctr"/>
          <a:lstStyle/>
          <a:p>
            <a:pPr algn="ctr" indent="0" marL="0">
              <a:buNone/>
            </a:pPr>
            <a:r>
              <a:rPr lang="en-US" sz="900" b="1" dirty="0">
                <a:solidFill>
                  <a:schemeClr val="accent1"/>
                </a:solidFill>
              </a:rPr>
              <a:t>Generare</a:t>
            </a:r>
            <a:endParaRPr lang="en-US" sz="900" dirty="0"/>
          </a:p>
        </p:txBody>
      </p:sp>
      <p:sp>
        <p:nvSpPr>
          <p:cNvPr id="8" name="operazione Trasformare"/>
          <p:cNvSpPr/>
          <p:nvPr/>
        </p:nvSpPr>
        <p:spPr>
          <a:xfrm>
            <a:off x="7827264" y="384048"/>
            <a:ext cx="841248"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827264" y="384048"/>
            <a:ext cx="841248" cy="237744"/>
          </a:xfrm>
          <a:prstGeom prst="rect">
            <a:avLst/>
          </a:prstGeom>
          <a:noFill/>
          <a:ln/>
        </p:spPr>
        <p:txBody>
          <a:bodyPr wrap="square" lIns="0" tIns="0" rIns="0" bIns="0" rtlCol="0" anchor="ctr"/>
          <a:lstStyle/>
          <a:p>
            <a:pPr algn="ctr" indent="0" marL="0">
              <a:buNone/>
            </a:pPr>
            <a:r>
              <a:rPr lang="en-US" sz="900" b="1" dirty="0">
                <a:solidFill>
                  <a:schemeClr val="accent1"/>
                </a:solidFill>
              </a:rPr>
              <a:t>Trasformare</a:t>
            </a:r>
            <a:endParaRPr lang="en-US" sz="900" dirty="0"/>
          </a:p>
        </p:txBody>
      </p:sp>
      <p:sp>
        <p:nvSpPr>
          <p:cNvPr id="10" name="riquadro Che cosa è stato detto (esempio fittizio)"/>
          <p:cNvSpPr/>
          <p:nvPr/>
        </p:nvSpPr>
        <p:spPr>
          <a:xfrm>
            <a:off x="457200" y="1051560"/>
            <a:ext cx="3977640" cy="1600200"/>
          </a:xfrm>
          <a:prstGeom prst="roundRect">
            <a:avLst>
              <a:gd name="adj" fmla="val 4571"/>
            </a:avLst>
          </a:prstGeom>
          <a:solidFill>
            <a:schemeClr val="accent6"/>
          </a:solidFill>
          <a:ln/>
        </p:spPr>
      </p:sp>
      <p:sp>
        <p:nvSpPr>
          <p:cNvPr id="11" name="barra"/>
          <p:cNvSpPr/>
          <p:nvPr/>
        </p:nvSpPr>
        <p:spPr>
          <a:xfrm>
            <a:off x="457200" y="1161288"/>
            <a:ext cx="54864" cy="1380744"/>
          </a:xfrm>
          <a:prstGeom prst="rect">
            <a:avLst/>
          </a:prstGeom>
          <a:solidFill>
            <a:schemeClr val="accent1"/>
          </a:solidFill>
          <a:ln/>
        </p:spPr>
      </p:sp>
      <p:sp>
        <p:nvSpPr>
          <p:cNvPr id="12" name="Text 9"/>
          <p:cNvSpPr txBox="1"/>
          <p:nvPr/>
        </p:nvSpPr>
        <p:spPr>
          <a:xfrm>
            <a:off x="658368" y="1143000"/>
            <a:ext cx="3611880" cy="256032"/>
          </a:xfrm>
          <a:prstGeom prst="rect">
            <a:avLst/>
          </a:prstGeom>
          <a:noFill/>
          <a:ln/>
        </p:spPr>
        <p:txBody>
          <a:bodyPr wrap="square" lIns="0" tIns="0" rIns="0" bIns="0" rtlCol="0" anchor="t"/>
          <a:lstStyle/>
          <a:p>
            <a:pPr indent="0" marL="0">
              <a:buNone/>
            </a:pPr>
            <a:r>
              <a:rPr lang="en-US" sz="1100" b="1" dirty="0">
                <a:solidFill>
                  <a:schemeClr val="accent1"/>
                </a:solidFill>
              </a:rPr>
              <a:t>Che cosa è stato detto (esempio fittizio)</a:t>
            </a:r>
            <a:endParaRPr lang="en-US" sz="1100" dirty="0"/>
          </a:p>
        </p:txBody>
      </p:sp>
      <p:sp>
        <p:nvSpPr>
          <p:cNvPr id="13" name="Text 10"/>
          <p:cNvSpPr txBox="1"/>
          <p:nvPr/>
        </p:nvSpPr>
        <p:spPr>
          <a:xfrm>
            <a:off x="658368" y="1435608"/>
            <a:ext cx="3611880" cy="1124712"/>
          </a:xfrm>
          <a:prstGeom prst="rect">
            <a:avLst/>
          </a:prstGeom>
          <a:noFill/>
          <a:ln/>
        </p:spPr>
        <p:txBody>
          <a:bodyPr wrap="square" lIns="0" tIns="0" rIns="0" bIns="0" rtlCol="0" anchor="t"/>
          <a:lstStyle/>
          <a:p>
            <a:pPr indent="0" marL="0">
              <a:buNone/>
            </a:pPr>
            <a:r>
              <a:rPr lang="en-US" sz="1300" dirty="0">
                <a:solidFill>
                  <a:schemeClr val="tx1"/>
                </a:solidFill>
              </a:rPr>
              <a:t>Bianchi: "Riesci a consegnare entro venerdì?"</a:t>
            </a:r>
            <a:endParaRPr lang="en-US" sz="1300" dirty="0"/>
          </a:p>
          <a:p>
            <a:pPr indent="0" marL="0">
              <a:buNone/>
            </a:pPr>
            <a:r>
              <a:rPr lang="en-US" sz="1300" dirty="0">
                <a:solidFill>
                  <a:schemeClr val="tx1"/>
                </a:solidFill>
              </a:rPr>
              <a:t>Verdi: "Sì, me ne occupo io."</a:t>
            </a:r>
            <a:endParaRPr lang="en-US" sz="1300" dirty="0"/>
          </a:p>
        </p:txBody>
      </p:sp>
      <p:sp>
        <p:nvSpPr>
          <p:cNvPr id="14" name="riquadro Trascrizione con attribuzione errata"/>
          <p:cNvSpPr/>
          <p:nvPr/>
        </p:nvSpPr>
        <p:spPr>
          <a:xfrm>
            <a:off x="4709160" y="1051560"/>
            <a:ext cx="3977640" cy="1600200"/>
          </a:xfrm>
          <a:prstGeom prst="roundRect">
            <a:avLst>
              <a:gd name="adj" fmla="val 4571"/>
            </a:avLst>
          </a:prstGeom>
          <a:solidFill>
            <a:schemeClr val="bg2"/>
          </a:solidFill>
          <a:ln/>
        </p:spPr>
      </p:sp>
      <p:sp>
        <p:nvSpPr>
          <p:cNvPr id="15" name="barra"/>
          <p:cNvSpPr/>
          <p:nvPr/>
        </p:nvSpPr>
        <p:spPr>
          <a:xfrm>
            <a:off x="4709160" y="1161288"/>
            <a:ext cx="54864" cy="1380744"/>
          </a:xfrm>
          <a:prstGeom prst="rect">
            <a:avLst/>
          </a:prstGeom>
          <a:solidFill>
            <a:schemeClr val="accent5"/>
          </a:solidFill>
          <a:ln/>
        </p:spPr>
      </p:sp>
      <p:sp>
        <p:nvSpPr>
          <p:cNvPr id="16" name="Text 13"/>
          <p:cNvSpPr txBox="1"/>
          <p:nvPr/>
        </p:nvSpPr>
        <p:spPr>
          <a:xfrm>
            <a:off x="4910328" y="1143000"/>
            <a:ext cx="3611880" cy="256032"/>
          </a:xfrm>
          <a:prstGeom prst="rect">
            <a:avLst/>
          </a:prstGeom>
          <a:noFill/>
          <a:ln/>
        </p:spPr>
        <p:txBody>
          <a:bodyPr wrap="square" lIns="0" tIns="0" rIns="0" bIns="0" rtlCol="0" anchor="t"/>
          <a:lstStyle/>
          <a:p>
            <a:pPr indent="0" marL="0">
              <a:buNone/>
            </a:pPr>
            <a:r>
              <a:rPr lang="en-US" sz="1100" b="1" dirty="0">
                <a:solidFill>
                  <a:schemeClr val="accent5"/>
                </a:solidFill>
              </a:rPr>
              <a:t>Trascrizione con attribuzione errata</a:t>
            </a:r>
            <a:endParaRPr lang="en-US" sz="1100" dirty="0"/>
          </a:p>
        </p:txBody>
      </p:sp>
      <p:sp>
        <p:nvSpPr>
          <p:cNvPr id="17" name="Text 14"/>
          <p:cNvSpPr txBox="1"/>
          <p:nvPr/>
        </p:nvSpPr>
        <p:spPr>
          <a:xfrm>
            <a:off x="4910328" y="1435608"/>
            <a:ext cx="3611880" cy="1124712"/>
          </a:xfrm>
          <a:prstGeom prst="rect">
            <a:avLst/>
          </a:prstGeom>
          <a:noFill/>
          <a:ln/>
        </p:spPr>
        <p:txBody>
          <a:bodyPr wrap="square" lIns="0" tIns="0" rIns="0" bIns="0" rtlCol="0" anchor="t"/>
          <a:lstStyle/>
          <a:p>
            <a:pPr indent="0" marL="0">
              <a:buNone/>
            </a:pPr>
            <a:r>
              <a:rPr lang="en-US" sz="1300" dirty="0">
                <a:solidFill>
                  <a:schemeClr val="tx1"/>
                </a:solidFill>
              </a:rPr>
              <a:t>Bianchi: "Riesci a consegnare entro venerdì? Sì, me ne occupo io."</a:t>
            </a:r>
            <a:endParaRPr lang="en-US" sz="1300" dirty="0"/>
          </a:p>
        </p:txBody>
      </p:sp>
      <p:sp>
        <p:nvSpPr>
          <p:cNvPr id="18" name="Text 15"/>
          <p:cNvSpPr txBox="1"/>
          <p:nvPr/>
        </p:nvSpPr>
        <p:spPr>
          <a:xfrm>
            <a:off x="457200" y="2788920"/>
            <a:ext cx="8229600" cy="301752"/>
          </a:xfrm>
          <a:prstGeom prst="rect">
            <a:avLst/>
          </a:prstGeom>
          <a:noFill/>
          <a:ln/>
        </p:spPr>
        <p:txBody>
          <a:bodyPr wrap="square" lIns="0" tIns="0" rIns="0" bIns="0" rtlCol="0" anchor="t"/>
          <a:lstStyle/>
          <a:p>
            <a:pPr indent="0" marL="0">
              <a:buNone/>
            </a:pPr>
            <a:r>
              <a:rPr lang="en-US" sz="1300" b="1" dirty="0">
                <a:solidFill>
                  <a:schemeClr val="tx1"/>
                </a:solidFill>
              </a:rPr>
              <a:t>Un errore di attribuzione cambia</a:t>
            </a:r>
            <a:endParaRPr lang="en-US" sz="1300" dirty="0"/>
          </a:p>
        </p:txBody>
      </p:sp>
      <p:sp>
        <p:nvSpPr>
          <p:cNvPr id="19" name="blocco Chi ha preso un impegno"/>
          <p:cNvSpPr/>
          <p:nvPr/>
        </p:nvSpPr>
        <p:spPr>
          <a:xfrm>
            <a:off x="457200" y="3136392"/>
            <a:ext cx="2651760" cy="502920"/>
          </a:xfrm>
          <a:prstGeom prst="roundRect">
            <a:avLst>
              <a:gd name="adj" fmla="val 21818"/>
            </a:avLst>
          </a:prstGeom>
          <a:solidFill>
            <a:schemeClr val="bg2"/>
          </a:solidFill>
          <a:ln/>
        </p:spPr>
      </p:sp>
      <p:sp>
        <p:nvSpPr>
          <p:cNvPr id="20" name="Text 17"/>
          <p:cNvSpPr txBox="1"/>
          <p:nvPr/>
        </p:nvSpPr>
        <p:spPr>
          <a:xfrm>
            <a:off x="502920" y="3136392"/>
            <a:ext cx="2560320" cy="502920"/>
          </a:xfrm>
          <a:prstGeom prst="rect">
            <a:avLst/>
          </a:prstGeom>
          <a:noFill/>
          <a:ln/>
        </p:spPr>
        <p:txBody>
          <a:bodyPr wrap="square" lIns="0" tIns="0" rIns="0" bIns="0" rtlCol="0" anchor="ctr"/>
          <a:lstStyle/>
          <a:p>
            <a:pPr algn="ctr" indent="0" marL="0">
              <a:buNone/>
            </a:pPr>
            <a:r>
              <a:rPr lang="en-US" sz="1200" b="1" dirty="0">
                <a:solidFill>
                  <a:schemeClr val="tx1"/>
                </a:solidFill>
              </a:rPr>
              <a:t>Chi ha preso un impegno</a:t>
            </a:r>
            <a:endParaRPr lang="en-US" sz="1200" dirty="0"/>
          </a:p>
        </p:txBody>
      </p:sp>
      <p:sp>
        <p:nvSpPr>
          <p:cNvPr id="21" name="blocco Chi ha espresso un'opinione"/>
          <p:cNvSpPr/>
          <p:nvPr/>
        </p:nvSpPr>
        <p:spPr>
          <a:xfrm>
            <a:off x="3246120" y="3136392"/>
            <a:ext cx="2651760" cy="502920"/>
          </a:xfrm>
          <a:prstGeom prst="roundRect">
            <a:avLst>
              <a:gd name="adj" fmla="val 21818"/>
            </a:avLst>
          </a:prstGeom>
          <a:solidFill>
            <a:schemeClr val="bg2"/>
          </a:solidFill>
          <a:ln/>
        </p:spPr>
      </p:sp>
      <p:sp>
        <p:nvSpPr>
          <p:cNvPr id="22" name="Text 19"/>
          <p:cNvSpPr txBox="1"/>
          <p:nvPr/>
        </p:nvSpPr>
        <p:spPr>
          <a:xfrm>
            <a:off x="3291840" y="3136392"/>
            <a:ext cx="2560320" cy="502920"/>
          </a:xfrm>
          <a:prstGeom prst="rect">
            <a:avLst/>
          </a:prstGeom>
          <a:noFill/>
          <a:ln/>
        </p:spPr>
        <p:txBody>
          <a:bodyPr wrap="square" lIns="0" tIns="0" rIns="0" bIns="0" rtlCol="0" anchor="ctr"/>
          <a:lstStyle/>
          <a:p>
            <a:pPr algn="ctr" indent="0" marL="0">
              <a:buNone/>
            </a:pPr>
            <a:r>
              <a:rPr lang="en-US" sz="1200" b="1" dirty="0">
                <a:solidFill>
                  <a:schemeClr val="tx1"/>
                </a:solidFill>
              </a:rPr>
              <a:t>Chi ha espresso un'opinione</a:t>
            </a:r>
            <a:endParaRPr lang="en-US" sz="1200" dirty="0"/>
          </a:p>
        </p:txBody>
      </p:sp>
      <p:sp>
        <p:nvSpPr>
          <p:cNvPr id="23" name="blocco Chi ha promesso che cosa"/>
          <p:cNvSpPr/>
          <p:nvPr/>
        </p:nvSpPr>
        <p:spPr>
          <a:xfrm>
            <a:off x="6035040" y="3136392"/>
            <a:ext cx="2651760" cy="502920"/>
          </a:xfrm>
          <a:prstGeom prst="roundRect">
            <a:avLst>
              <a:gd name="adj" fmla="val 21818"/>
            </a:avLst>
          </a:prstGeom>
          <a:solidFill>
            <a:schemeClr val="bg2"/>
          </a:solidFill>
          <a:ln/>
        </p:spPr>
      </p:sp>
      <p:sp>
        <p:nvSpPr>
          <p:cNvPr id="24" name="Text 21"/>
          <p:cNvSpPr txBox="1"/>
          <p:nvPr/>
        </p:nvSpPr>
        <p:spPr>
          <a:xfrm>
            <a:off x="6080760" y="3136392"/>
            <a:ext cx="2560320" cy="502920"/>
          </a:xfrm>
          <a:prstGeom prst="rect">
            <a:avLst/>
          </a:prstGeom>
          <a:noFill/>
          <a:ln/>
        </p:spPr>
        <p:txBody>
          <a:bodyPr wrap="square" lIns="0" tIns="0" rIns="0" bIns="0" rtlCol="0" anchor="ctr"/>
          <a:lstStyle/>
          <a:p>
            <a:pPr algn="ctr" indent="0" marL="0">
              <a:buNone/>
            </a:pPr>
            <a:r>
              <a:rPr lang="en-US" sz="1200" b="1" dirty="0">
                <a:solidFill>
                  <a:schemeClr val="tx1"/>
                </a:solidFill>
              </a:rPr>
              <a:t>Chi ha promesso che cosa</a:t>
            </a:r>
            <a:endParaRPr lang="en-US" sz="1200" dirty="0"/>
          </a:p>
        </p:txBody>
      </p:sp>
      <p:sp>
        <p:nvSpPr>
          <p:cNvPr id="25" name="messaggio"/>
          <p:cNvSpPr/>
          <p:nvPr/>
        </p:nvSpPr>
        <p:spPr>
          <a:xfrm>
            <a:off x="457200" y="3794760"/>
            <a:ext cx="8229600" cy="685800"/>
          </a:xfrm>
          <a:prstGeom prst="roundRect">
            <a:avLst>
              <a:gd name="adj" fmla="val 10667"/>
            </a:avLst>
          </a:prstGeom>
          <a:solidFill>
            <a:schemeClr val="tx1"/>
          </a:solidFill>
          <a:ln/>
        </p:spPr>
      </p:sp>
      <p:sp>
        <p:nvSpPr>
          <p:cNvPr id="26" name="Text 23"/>
          <p:cNvSpPr txBox="1"/>
          <p:nvPr/>
        </p:nvSpPr>
        <p:spPr>
          <a:xfrm>
            <a:off x="640080" y="3794760"/>
            <a:ext cx="7863840" cy="685800"/>
          </a:xfrm>
          <a:prstGeom prst="rect">
            <a:avLst/>
          </a:prstGeom>
          <a:noFill/>
          <a:ln/>
        </p:spPr>
        <p:txBody>
          <a:bodyPr wrap="square" lIns="0" tIns="0" rIns="0" bIns="0" rtlCol="0" anchor="ctr"/>
          <a:lstStyle/>
          <a:p>
            <a:pPr indent="0" marL="0">
              <a:buNone/>
            </a:pPr>
            <a:r>
              <a:rPr lang="en-US" sz="1300" dirty="0">
                <a:solidFill>
                  <a:schemeClr val="bg1"/>
                </a:solidFill>
              </a:rPr>
              <a:t>Difficile da notare per chi non c'era. Le attribuzioni importanti le controlla chi era presente.</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Sintesi vocale e interazione</a:t>
            </a:r>
            <a:endParaRPr lang="en-US" sz="2600" dirty="0"/>
          </a:p>
        </p:txBody>
      </p:sp>
      <p:sp>
        <p:nvSpPr>
          <p:cNvPr id="4" name="operazione Interpretare"/>
          <p:cNvSpPr/>
          <p:nvPr/>
        </p:nvSpPr>
        <p:spPr>
          <a:xfrm>
            <a:off x="6053328" y="384048"/>
            <a:ext cx="841248"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6053328" y="384048"/>
            <a:ext cx="841248" cy="237744"/>
          </a:xfrm>
          <a:prstGeom prst="rect">
            <a:avLst/>
          </a:prstGeom>
          <a:noFill/>
          <a:ln/>
        </p:spPr>
        <p:txBody>
          <a:bodyPr wrap="square" lIns="0" tIns="0" rIns="0" bIns="0" rtlCol="0" anchor="ctr"/>
          <a:lstStyle/>
          <a:p>
            <a:pPr algn="ctr" indent="0" marL="0">
              <a:buNone/>
            </a:pPr>
            <a:r>
              <a:rPr lang="en-US" sz="900" b="1" dirty="0">
                <a:solidFill>
                  <a:schemeClr val="accent1"/>
                </a:solidFill>
              </a:rPr>
              <a:t>Interpretare</a:t>
            </a:r>
            <a:endParaRPr lang="en-US" sz="900" dirty="0"/>
          </a:p>
        </p:txBody>
      </p:sp>
      <p:sp>
        <p:nvSpPr>
          <p:cNvPr id="6" name="operazione Generare"/>
          <p:cNvSpPr/>
          <p:nvPr/>
        </p:nvSpPr>
        <p:spPr>
          <a:xfrm>
            <a:off x="6940296" y="384048"/>
            <a:ext cx="841248"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940296" y="384048"/>
            <a:ext cx="841248" cy="237744"/>
          </a:xfrm>
          <a:prstGeom prst="rect">
            <a:avLst/>
          </a:prstGeom>
          <a:noFill/>
          <a:ln/>
        </p:spPr>
        <p:txBody>
          <a:bodyPr wrap="square" lIns="0" tIns="0" rIns="0" bIns="0" rtlCol="0" anchor="ctr"/>
          <a:lstStyle/>
          <a:p>
            <a:pPr algn="ctr" indent="0" marL="0">
              <a:buNone/>
            </a:pPr>
            <a:r>
              <a:rPr lang="en-US" sz="900" b="1" dirty="0">
                <a:solidFill>
                  <a:schemeClr val="bg1"/>
                </a:solidFill>
              </a:rPr>
              <a:t>Generare</a:t>
            </a:r>
            <a:endParaRPr lang="en-US" sz="900" dirty="0"/>
          </a:p>
        </p:txBody>
      </p:sp>
      <p:sp>
        <p:nvSpPr>
          <p:cNvPr id="8" name="operazione Trasformare"/>
          <p:cNvSpPr/>
          <p:nvPr/>
        </p:nvSpPr>
        <p:spPr>
          <a:xfrm>
            <a:off x="7827264" y="384048"/>
            <a:ext cx="841248"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827264" y="384048"/>
            <a:ext cx="841248" cy="237744"/>
          </a:xfrm>
          <a:prstGeom prst="rect">
            <a:avLst/>
          </a:prstGeom>
          <a:noFill/>
          <a:ln/>
        </p:spPr>
        <p:txBody>
          <a:bodyPr wrap="square" lIns="0" tIns="0" rIns="0" bIns="0" rtlCol="0" anchor="ctr"/>
          <a:lstStyle/>
          <a:p>
            <a:pPr algn="ctr" indent="0" marL="0">
              <a:buNone/>
            </a:pPr>
            <a:r>
              <a:rPr lang="en-US" sz="900" b="1" dirty="0">
                <a:solidFill>
                  <a:schemeClr val="accent1"/>
                </a:solidFill>
              </a:rPr>
              <a:t>Trasformare</a:t>
            </a:r>
            <a:endParaRPr lang="en-US" sz="900" dirty="0"/>
          </a:p>
        </p:txBody>
      </p:sp>
      <p:sp>
        <p:nvSpPr>
          <p:cNvPr id="10" name="scheda Sintesi vocale"/>
          <p:cNvSpPr/>
          <p:nvPr/>
        </p:nvSpPr>
        <p:spPr>
          <a:xfrm>
            <a:off x="457200" y="1097280"/>
            <a:ext cx="3977640" cy="2286000"/>
          </a:xfrm>
          <a:prstGeom prst="roundRect">
            <a:avLst>
              <a:gd name="adj" fmla="val 3200"/>
            </a:avLst>
          </a:prstGeom>
          <a:solidFill>
            <a:schemeClr val="bg2"/>
          </a:solidFill>
          <a:ln/>
        </p:spPr>
      </p:sp>
      <p:sp>
        <p:nvSpPr>
          <p:cNvPr id="11" name="cerchio FiVolume2"/>
          <p:cNvSpPr/>
          <p:nvPr/>
        </p:nvSpPr>
        <p:spPr>
          <a:xfrm>
            <a:off x="640080" y="1280160"/>
            <a:ext cx="457200" cy="457200"/>
          </a:xfrm>
          <a:prstGeom prst="ellipse">
            <a:avLst/>
          </a:prstGeom>
          <a:solidFill>
            <a:schemeClr val="accent1"/>
          </a:solidFill>
          <a:ln/>
        </p:spPr>
      </p:sp>
      <p:pic>
        <p:nvPicPr>
          <p:cNvPr id="12" name="Image 0" descr="FiVolume2">    </p:cNvPr>
          <p:cNvPicPr>
            <a:picLocks noChangeAspect="1"/>
          </p:cNvPicPr>
          <p:nvPr/>
        </p:nvPicPr>
        <p:blipFill>
          <a:blip r:embed="rId1"/>
          <a:stretch>
            <a:fillRect/>
          </a:stretch>
        </p:blipFill>
        <p:spPr>
          <a:xfrm>
            <a:off x="754380" y="1394460"/>
            <a:ext cx="228600" cy="228600"/>
          </a:xfrm>
          <a:prstGeom prst="rect">
            <a:avLst/>
          </a:prstGeom>
        </p:spPr>
      </p:pic>
      <p:sp>
        <p:nvSpPr>
          <p:cNvPr id="13" name="Text 9"/>
          <p:cNvSpPr txBox="1"/>
          <p:nvPr/>
        </p:nvSpPr>
        <p:spPr>
          <a:xfrm>
            <a:off x="640080" y="1847088"/>
            <a:ext cx="3611880" cy="347472"/>
          </a:xfrm>
          <a:prstGeom prst="rect">
            <a:avLst/>
          </a:prstGeom>
          <a:noFill/>
          <a:ln/>
        </p:spPr>
        <p:txBody>
          <a:bodyPr wrap="square" lIns="0" tIns="0" rIns="0" bIns="0" rtlCol="0" anchor="t"/>
          <a:lstStyle/>
          <a:p>
            <a:pPr indent="0" marL="0">
              <a:buNone/>
            </a:pPr>
            <a:r>
              <a:rPr lang="en-US" sz="1500" b="1" dirty="0">
                <a:solidFill>
                  <a:schemeClr val="tx1"/>
                </a:solidFill>
              </a:rPr>
              <a:t>Sintesi vocale</a:t>
            </a:r>
            <a:endParaRPr lang="en-US" sz="1500" dirty="0"/>
          </a:p>
        </p:txBody>
      </p:sp>
      <p:sp>
        <p:nvSpPr>
          <p:cNvPr id="14" name="Text 10"/>
          <p:cNvSpPr txBox="1"/>
          <p:nvPr/>
        </p:nvSpPr>
        <p:spPr>
          <a:xfrm>
            <a:off x="640080" y="2231136"/>
            <a:ext cx="3611880" cy="1042416"/>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chemeClr val="tx2"/>
                </a:solidFill>
              </a:rPr>
              <a:t>Voci naturali, in molte lingue</a:t>
            </a:r>
            <a:endParaRPr lang="en-US" sz="1200" dirty="0"/>
          </a:p>
          <a:p>
            <a:pPr marL="177800" indent="-177800">
              <a:spcAft>
                <a:spcPts val="500"/>
              </a:spcAft>
              <a:buSzPct val="100000"/>
              <a:buChar char="•"/>
            </a:pPr>
            <a:r>
              <a:rPr lang="en-US" sz="1200" dirty="0">
                <a:solidFill>
                  <a:schemeClr val="tx2"/>
                </a:solidFill>
              </a:rPr>
              <a:t>Video formativi, documenti in audio, assistenti</a:t>
            </a:r>
            <a:endParaRPr lang="en-US" sz="1200" dirty="0"/>
          </a:p>
          <a:p>
            <a:pPr marL="177800" indent="-177800">
              <a:spcAft>
                <a:spcPts val="500"/>
              </a:spcAft>
              <a:buSzPct val="100000"/>
              <a:buChar char="•"/>
            </a:pPr>
            <a:r>
              <a:rPr lang="en-US" sz="1200" dirty="0">
                <a:solidFill>
                  <a:schemeClr val="tx2"/>
                </a:solidFill>
              </a:rPr>
              <a:t>Riprodurre una voce specifica: solo con consenso esplicito</a:t>
            </a:r>
            <a:endParaRPr lang="en-US" sz="1200" dirty="0"/>
          </a:p>
        </p:txBody>
      </p:sp>
      <p:sp>
        <p:nvSpPr>
          <p:cNvPr id="15" name="scheda Interazione vocale"/>
          <p:cNvSpPr/>
          <p:nvPr/>
        </p:nvSpPr>
        <p:spPr>
          <a:xfrm>
            <a:off x="4709160" y="1097280"/>
            <a:ext cx="3977640" cy="2286000"/>
          </a:xfrm>
          <a:prstGeom prst="roundRect">
            <a:avLst>
              <a:gd name="adj" fmla="val 3200"/>
            </a:avLst>
          </a:prstGeom>
          <a:solidFill>
            <a:schemeClr val="accent6"/>
          </a:solidFill>
          <a:ln/>
        </p:spPr>
      </p:sp>
      <p:sp>
        <p:nvSpPr>
          <p:cNvPr id="16" name="cerchio FiMessageCircle"/>
          <p:cNvSpPr/>
          <p:nvPr/>
        </p:nvSpPr>
        <p:spPr>
          <a:xfrm>
            <a:off x="4892040" y="1280160"/>
            <a:ext cx="457200" cy="457200"/>
          </a:xfrm>
          <a:prstGeom prst="ellipse">
            <a:avLst/>
          </a:prstGeom>
          <a:solidFill>
            <a:schemeClr val="accent1"/>
          </a:solidFill>
          <a:ln/>
        </p:spPr>
      </p:sp>
      <p:pic>
        <p:nvPicPr>
          <p:cNvPr id="17" name="Image 1" descr="FiMessageCircle">    </p:cNvPr>
          <p:cNvPicPr>
            <a:picLocks noChangeAspect="1"/>
          </p:cNvPicPr>
          <p:nvPr/>
        </p:nvPicPr>
        <p:blipFill>
          <a:blip r:embed="rId2"/>
          <a:stretch>
            <a:fillRect/>
          </a:stretch>
        </p:blipFill>
        <p:spPr>
          <a:xfrm>
            <a:off x="5006340" y="1394460"/>
            <a:ext cx="228600" cy="228600"/>
          </a:xfrm>
          <a:prstGeom prst="rect">
            <a:avLst/>
          </a:prstGeom>
        </p:spPr>
      </p:pic>
      <p:sp>
        <p:nvSpPr>
          <p:cNvPr id="18" name="Text 13"/>
          <p:cNvSpPr txBox="1"/>
          <p:nvPr/>
        </p:nvSpPr>
        <p:spPr>
          <a:xfrm>
            <a:off x="4892040" y="1847088"/>
            <a:ext cx="3611880" cy="347472"/>
          </a:xfrm>
          <a:prstGeom prst="rect">
            <a:avLst/>
          </a:prstGeom>
          <a:noFill/>
          <a:ln/>
        </p:spPr>
        <p:txBody>
          <a:bodyPr wrap="square" lIns="0" tIns="0" rIns="0" bIns="0" rtlCol="0" anchor="t"/>
          <a:lstStyle/>
          <a:p>
            <a:pPr indent="0" marL="0">
              <a:buNone/>
            </a:pPr>
            <a:r>
              <a:rPr lang="en-US" sz="1500" b="1" dirty="0">
                <a:solidFill>
                  <a:schemeClr val="tx1"/>
                </a:solidFill>
              </a:rPr>
              <a:t>Interazione vocale</a:t>
            </a:r>
            <a:endParaRPr lang="en-US" sz="1500" dirty="0"/>
          </a:p>
        </p:txBody>
      </p:sp>
      <p:sp>
        <p:nvSpPr>
          <p:cNvPr id="19" name="Text 14"/>
          <p:cNvSpPr txBox="1"/>
          <p:nvPr/>
        </p:nvSpPr>
        <p:spPr>
          <a:xfrm>
            <a:off x="4892040" y="2231136"/>
            <a:ext cx="3611880" cy="1042416"/>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chemeClr val="tx2"/>
                </a:solidFill>
              </a:rPr>
              <a:t>Domande, dettatura, risposte parlate</a:t>
            </a:r>
            <a:endParaRPr lang="en-US" sz="1200" dirty="0"/>
          </a:p>
          <a:p>
            <a:pPr marL="177800" indent="-177800">
              <a:spcAft>
                <a:spcPts val="500"/>
              </a:spcAft>
              <a:buSzPct val="100000"/>
              <a:buChar char="•"/>
            </a:pPr>
            <a:r>
              <a:rPr lang="en-US" sz="1200" dirty="0">
                <a:solidFill>
                  <a:schemeClr val="tx2"/>
                </a:solidFill>
              </a:rPr>
              <a:t>Mani o occhi occupati, difficoltà con la tastiera</a:t>
            </a:r>
            <a:endParaRPr lang="en-US" sz="1200" dirty="0"/>
          </a:p>
          <a:p>
            <a:pPr marL="177800" indent="-177800">
              <a:spcAft>
                <a:spcPts val="500"/>
              </a:spcAft>
              <a:buSzPct val="100000"/>
              <a:buChar char="•"/>
            </a:pPr>
            <a:r>
              <a:rPr lang="en-US" sz="1200" dirty="0">
                <a:solidFill>
                  <a:schemeClr val="tx2"/>
                </a:solidFill>
              </a:rPr>
              <a:t>Si ascolta una volta: errori meno visibili</a:t>
            </a:r>
            <a:endParaRPr lang="en-US" sz="1200" dirty="0"/>
          </a:p>
        </p:txBody>
      </p:sp>
      <p:sp>
        <p:nvSpPr>
          <p:cNvPr id="20" name="messaggio"/>
          <p:cNvSpPr/>
          <p:nvPr/>
        </p:nvSpPr>
        <p:spPr>
          <a:xfrm>
            <a:off x="457200" y="3566160"/>
            <a:ext cx="8229600" cy="640080"/>
          </a:xfrm>
          <a:prstGeom prst="roundRect">
            <a:avLst>
              <a:gd name="adj" fmla="val 11429"/>
            </a:avLst>
          </a:prstGeom>
          <a:solidFill>
            <a:schemeClr val="tx1"/>
          </a:solidFill>
          <a:ln/>
        </p:spPr>
      </p:sp>
      <p:sp>
        <p:nvSpPr>
          <p:cNvPr id="21" name="Text 16"/>
          <p:cNvSpPr txBox="1"/>
          <p:nvPr/>
        </p:nvSpPr>
        <p:spPr>
          <a:xfrm>
            <a:off x="640080" y="3566160"/>
            <a:ext cx="7863840" cy="640080"/>
          </a:xfrm>
          <a:prstGeom prst="rect">
            <a:avLst/>
          </a:prstGeom>
          <a:noFill/>
          <a:ln/>
        </p:spPr>
        <p:txBody>
          <a:bodyPr wrap="square" lIns="0" tIns="0" rIns="0" bIns="0" rtlCol="0" anchor="ctr"/>
          <a:lstStyle/>
          <a:p>
            <a:pPr indent="0" marL="0">
              <a:buNone/>
            </a:pPr>
            <a:r>
              <a:rPr lang="en-US" sz="1400" dirty="0">
                <a:solidFill>
                  <a:schemeClr val="bg1"/>
                </a:solidFill>
              </a:rPr>
              <a:t>Per informazioni importanti ricevute a voce, chiedere anche la versione scritta.</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Tradurre il parlato</a:t>
            </a:r>
            <a:endParaRPr lang="en-US" sz="2600" dirty="0"/>
          </a:p>
        </p:txBody>
      </p:sp>
      <p:sp>
        <p:nvSpPr>
          <p:cNvPr id="4" name="operazione Interpretare"/>
          <p:cNvSpPr/>
          <p:nvPr/>
        </p:nvSpPr>
        <p:spPr>
          <a:xfrm>
            <a:off x="6053328" y="384048"/>
            <a:ext cx="841248" cy="237744"/>
          </a:xfrm>
          <a:prstGeom prst="roundRect">
            <a:avLst>
              <a:gd name="adj" fmla="val 50000"/>
            </a:avLst>
          </a:prstGeom>
          <a:solidFill>
            <a:schemeClr val="accent1"/>
          </a:solidFill>
          <a:ln w="9525">
            <a:solidFill>
              <a:schemeClr val="accent1"/>
            </a:solidFill>
            <a:prstDash val="solid"/>
          </a:ln>
        </p:spPr>
      </p:sp>
      <p:sp>
        <p:nvSpPr>
          <p:cNvPr id="5" name="Text 2"/>
          <p:cNvSpPr txBox="1"/>
          <p:nvPr/>
        </p:nvSpPr>
        <p:spPr>
          <a:xfrm>
            <a:off x="6053328" y="384048"/>
            <a:ext cx="841248" cy="237744"/>
          </a:xfrm>
          <a:prstGeom prst="rect">
            <a:avLst/>
          </a:prstGeom>
          <a:noFill/>
          <a:ln/>
        </p:spPr>
        <p:txBody>
          <a:bodyPr wrap="square" lIns="0" tIns="0" rIns="0" bIns="0" rtlCol="0" anchor="ctr"/>
          <a:lstStyle/>
          <a:p>
            <a:pPr algn="ctr" indent="0" marL="0">
              <a:buNone/>
            </a:pPr>
            <a:r>
              <a:rPr lang="en-US" sz="900" b="1" dirty="0">
                <a:solidFill>
                  <a:schemeClr val="bg1"/>
                </a:solidFill>
              </a:rPr>
              <a:t>Interpretare</a:t>
            </a:r>
            <a:endParaRPr lang="en-US" sz="900" dirty="0"/>
          </a:p>
        </p:txBody>
      </p:sp>
      <p:sp>
        <p:nvSpPr>
          <p:cNvPr id="6" name="operazione Generare"/>
          <p:cNvSpPr/>
          <p:nvPr/>
        </p:nvSpPr>
        <p:spPr>
          <a:xfrm>
            <a:off x="6940296" y="384048"/>
            <a:ext cx="841248"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940296" y="384048"/>
            <a:ext cx="841248" cy="237744"/>
          </a:xfrm>
          <a:prstGeom prst="rect">
            <a:avLst/>
          </a:prstGeom>
          <a:noFill/>
          <a:ln/>
        </p:spPr>
        <p:txBody>
          <a:bodyPr wrap="square" lIns="0" tIns="0" rIns="0" bIns="0" rtlCol="0" anchor="ctr"/>
          <a:lstStyle/>
          <a:p>
            <a:pPr algn="ctr" indent="0" marL="0">
              <a:buNone/>
            </a:pPr>
            <a:r>
              <a:rPr lang="en-US" sz="900" b="1" dirty="0">
                <a:solidFill>
                  <a:schemeClr val="accent1"/>
                </a:solidFill>
              </a:rPr>
              <a:t>Generare</a:t>
            </a:r>
            <a:endParaRPr lang="en-US" sz="900" dirty="0"/>
          </a:p>
        </p:txBody>
      </p:sp>
      <p:sp>
        <p:nvSpPr>
          <p:cNvPr id="8" name="operazione Trasformare"/>
          <p:cNvSpPr/>
          <p:nvPr/>
        </p:nvSpPr>
        <p:spPr>
          <a:xfrm>
            <a:off x="7827264" y="384048"/>
            <a:ext cx="841248"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7827264" y="384048"/>
            <a:ext cx="841248" cy="237744"/>
          </a:xfrm>
          <a:prstGeom prst="rect">
            <a:avLst/>
          </a:prstGeom>
          <a:noFill/>
          <a:ln/>
        </p:spPr>
        <p:txBody>
          <a:bodyPr wrap="square" lIns="0" tIns="0" rIns="0" bIns="0" rtlCol="0" anchor="ctr"/>
          <a:lstStyle/>
          <a:p>
            <a:pPr algn="ctr" indent="0" marL="0">
              <a:buNone/>
            </a:pPr>
            <a:r>
              <a:rPr lang="en-US" sz="900" b="1" dirty="0">
                <a:solidFill>
                  <a:schemeClr val="bg1"/>
                </a:solidFill>
              </a:rPr>
              <a:t>Trasformare</a:t>
            </a:r>
            <a:endParaRPr lang="en-US" sz="900" dirty="0"/>
          </a:p>
        </p:txBody>
      </p:sp>
      <p:sp>
        <p:nvSpPr>
          <p:cNvPr id="10" name="blocco Parlato"/>
          <p:cNvSpPr/>
          <p:nvPr/>
        </p:nvSpPr>
        <p:spPr>
          <a:xfrm>
            <a:off x="457200" y="1097280"/>
            <a:ext cx="1874520" cy="594360"/>
          </a:xfrm>
          <a:prstGeom prst="roundRect">
            <a:avLst>
              <a:gd name="adj" fmla="val 18462"/>
            </a:avLst>
          </a:prstGeom>
          <a:solidFill>
            <a:schemeClr val="bg2"/>
          </a:solidFill>
          <a:ln/>
        </p:spPr>
      </p:sp>
      <p:sp>
        <p:nvSpPr>
          <p:cNvPr id="11" name="Text 8"/>
          <p:cNvSpPr txBox="1"/>
          <p:nvPr/>
        </p:nvSpPr>
        <p:spPr>
          <a:xfrm>
            <a:off x="502920" y="1097280"/>
            <a:ext cx="1783080" cy="594360"/>
          </a:xfrm>
          <a:prstGeom prst="rect">
            <a:avLst/>
          </a:prstGeom>
          <a:noFill/>
          <a:ln/>
        </p:spPr>
        <p:txBody>
          <a:bodyPr wrap="square" lIns="0" tIns="0" rIns="0" bIns="0" rtlCol="0" anchor="ctr"/>
          <a:lstStyle/>
          <a:p>
            <a:pPr algn="ctr" indent="0" marL="0">
              <a:buNone/>
            </a:pPr>
            <a:r>
              <a:rPr lang="en-US" sz="1300" b="1" dirty="0">
                <a:solidFill>
                  <a:schemeClr val="tx1"/>
                </a:solidFill>
              </a:rPr>
              <a:t>Parlato</a:t>
            </a:r>
            <a:endParaRPr lang="en-US" sz="1300" dirty="0"/>
          </a:p>
        </p:txBody>
      </p:sp>
      <p:sp>
        <p:nvSpPr>
          <p:cNvPr id="12" name="freccia"/>
          <p:cNvSpPr/>
          <p:nvPr/>
        </p:nvSpPr>
        <p:spPr>
          <a:xfrm>
            <a:off x="2350008" y="1252728"/>
            <a:ext cx="182880" cy="292608"/>
          </a:xfrm>
          <a:prstGeom prst="rightArrow">
            <a:avLst/>
          </a:prstGeom>
          <a:solidFill>
            <a:schemeClr val="accent2"/>
          </a:solidFill>
          <a:ln/>
        </p:spPr>
      </p:sp>
      <p:sp>
        <p:nvSpPr>
          <p:cNvPr id="13" name="blocco Riconoscimento"/>
          <p:cNvSpPr/>
          <p:nvPr/>
        </p:nvSpPr>
        <p:spPr>
          <a:xfrm>
            <a:off x="2560320" y="1097280"/>
            <a:ext cx="1874520" cy="594360"/>
          </a:xfrm>
          <a:prstGeom prst="roundRect">
            <a:avLst>
              <a:gd name="adj" fmla="val 18462"/>
            </a:avLst>
          </a:prstGeom>
          <a:solidFill>
            <a:schemeClr val="accent6"/>
          </a:solidFill>
          <a:ln/>
        </p:spPr>
      </p:sp>
      <p:sp>
        <p:nvSpPr>
          <p:cNvPr id="14" name="Text 11"/>
          <p:cNvSpPr txBox="1"/>
          <p:nvPr/>
        </p:nvSpPr>
        <p:spPr>
          <a:xfrm>
            <a:off x="2606040" y="1097280"/>
            <a:ext cx="1783080" cy="594360"/>
          </a:xfrm>
          <a:prstGeom prst="rect">
            <a:avLst/>
          </a:prstGeom>
          <a:noFill/>
          <a:ln/>
        </p:spPr>
        <p:txBody>
          <a:bodyPr wrap="square" lIns="0" tIns="0" rIns="0" bIns="0" rtlCol="0" anchor="ctr"/>
          <a:lstStyle/>
          <a:p>
            <a:pPr algn="ctr" indent="0" marL="0">
              <a:buNone/>
            </a:pPr>
            <a:r>
              <a:rPr lang="en-US" sz="1300" b="1" dirty="0">
                <a:solidFill>
                  <a:schemeClr val="tx1"/>
                </a:solidFill>
              </a:rPr>
              <a:t>Riconoscimento</a:t>
            </a:r>
            <a:endParaRPr lang="en-US" sz="1300" dirty="0"/>
          </a:p>
        </p:txBody>
      </p:sp>
      <p:sp>
        <p:nvSpPr>
          <p:cNvPr id="15" name="freccia"/>
          <p:cNvSpPr/>
          <p:nvPr/>
        </p:nvSpPr>
        <p:spPr>
          <a:xfrm>
            <a:off x="4453128" y="1252728"/>
            <a:ext cx="182880" cy="292608"/>
          </a:xfrm>
          <a:prstGeom prst="rightArrow">
            <a:avLst/>
          </a:prstGeom>
          <a:solidFill>
            <a:schemeClr val="accent2"/>
          </a:solidFill>
          <a:ln/>
        </p:spPr>
      </p:sp>
      <p:sp>
        <p:nvSpPr>
          <p:cNvPr id="16" name="blocco Traduzione"/>
          <p:cNvSpPr/>
          <p:nvPr/>
        </p:nvSpPr>
        <p:spPr>
          <a:xfrm>
            <a:off x="4663440" y="1097280"/>
            <a:ext cx="1874520" cy="594360"/>
          </a:xfrm>
          <a:prstGeom prst="roundRect">
            <a:avLst>
              <a:gd name="adj" fmla="val 18462"/>
            </a:avLst>
          </a:prstGeom>
          <a:solidFill>
            <a:schemeClr val="accent6"/>
          </a:solidFill>
          <a:ln/>
        </p:spPr>
      </p:sp>
      <p:sp>
        <p:nvSpPr>
          <p:cNvPr id="17" name="Text 14"/>
          <p:cNvSpPr txBox="1"/>
          <p:nvPr/>
        </p:nvSpPr>
        <p:spPr>
          <a:xfrm>
            <a:off x="4709160" y="1097280"/>
            <a:ext cx="1783080" cy="594360"/>
          </a:xfrm>
          <a:prstGeom prst="rect">
            <a:avLst/>
          </a:prstGeom>
          <a:noFill/>
          <a:ln/>
        </p:spPr>
        <p:txBody>
          <a:bodyPr wrap="square" lIns="0" tIns="0" rIns="0" bIns="0" rtlCol="0" anchor="ctr"/>
          <a:lstStyle/>
          <a:p>
            <a:pPr algn="ctr" indent="0" marL="0">
              <a:buNone/>
            </a:pPr>
            <a:r>
              <a:rPr lang="en-US" sz="1300" b="1" dirty="0">
                <a:solidFill>
                  <a:schemeClr val="tx1"/>
                </a:solidFill>
              </a:rPr>
              <a:t>Traduzione</a:t>
            </a:r>
            <a:endParaRPr lang="en-US" sz="1300" dirty="0"/>
          </a:p>
        </p:txBody>
      </p:sp>
      <p:sp>
        <p:nvSpPr>
          <p:cNvPr id="18" name="freccia"/>
          <p:cNvSpPr/>
          <p:nvPr/>
        </p:nvSpPr>
        <p:spPr>
          <a:xfrm>
            <a:off x="6556248" y="1252728"/>
            <a:ext cx="182880" cy="292608"/>
          </a:xfrm>
          <a:prstGeom prst="rightArrow">
            <a:avLst/>
          </a:prstGeom>
          <a:solidFill>
            <a:schemeClr val="accent2"/>
          </a:solidFill>
          <a:ln/>
        </p:spPr>
      </p:sp>
      <p:sp>
        <p:nvSpPr>
          <p:cNvPr id="19" name="blocco Testo o voce"/>
          <p:cNvSpPr/>
          <p:nvPr/>
        </p:nvSpPr>
        <p:spPr>
          <a:xfrm>
            <a:off x="6766560" y="1097280"/>
            <a:ext cx="1874520" cy="594360"/>
          </a:xfrm>
          <a:prstGeom prst="roundRect">
            <a:avLst>
              <a:gd name="adj" fmla="val 18462"/>
            </a:avLst>
          </a:prstGeom>
          <a:solidFill>
            <a:schemeClr val="bg2"/>
          </a:solidFill>
          <a:ln/>
        </p:spPr>
      </p:sp>
      <p:sp>
        <p:nvSpPr>
          <p:cNvPr id="20" name="Text 17"/>
          <p:cNvSpPr txBox="1"/>
          <p:nvPr/>
        </p:nvSpPr>
        <p:spPr>
          <a:xfrm>
            <a:off x="6812280" y="1097280"/>
            <a:ext cx="1783080" cy="594360"/>
          </a:xfrm>
          <a:prstGeom prst="rect">
            <a:avLst/>
          </a:prstGeom>
          <a:noFill/>
          <a:ln/>
        </p:spPr>
        <p:txBody>
          <a:bodyPr wrap="square" lIns="0" tIns="0" rIns="0" bIns="0" rtlCol="0" anchor="ctr"/>
          <a:lstStyle/>
          <a:p>
            <a:pPr algn="ctr" indent="0" marL="0">
              <a:buNone/>
            </a:pPr>
            <a:r>
              <a:rPr lang="en-US" sz="1300" b="1" dirty="0">
                <a:solidFill>
                  <a:schemeClr val="tx1"/>
                </a:solidFill>
              </a:rPr>
              <a:t>Testo o voce</a:t>
            </a:r>
            <a:endParaRPr lang="en-US" sz="1300" dirty="0"/>
          </a:p>
        </p:txBody>
      </p:sp>
      <p:sp>
        <p:nvSpPr>
          <p:cNvPr id="21" name="scheda Opportunità"/>
          <p:cNvSpPr/>
          <p:nvPr/>
        </p:nvSpPr>
        <p:spPr>
          <a:xfrm>
            <a:off x="457200" y="1874520"/>
            <a:ext cx="3977640" cy="1600200"/>
          </a:xfrm>
          <a:prstGeom prst="roundRect">
            <a:avLst>
              <a:gd name="adj" fmla="val 4571"/>
            </a:avLst>
          </a:prstGeom>
          <a:solidFill>
            <a:schemeClr val="accent6"/>
          </a:solidFill>
          <a:ln/>
        </p:spPr>
      </p:sp>
      <p:sp>
        <p:nvSpPr>
          <p:cNvPr id="22" name="cerchio FiThumbsUp"/>
          <p:cNvSpPr/>
          <p:nvPr/>
        </p:nvSpPr>
        <p:spPr>
          <a:xfrm>
            <a:off x="640080" y="2057400"/>
            <a:ext cx="457200" cy="457200"/>
          </a:xfrm>
          <a:prstGeom prst="ellipse">
            <a:avLst/>
          </a:prstGeom>
          <a:solidFill>
            <a:schemeClr val="accent1"/>
          </a:solidFill>
          <a:ln/>
        </p:spPr>
      </p:sp>
      <p:pic>
        <p:nvPicPr>
          <p:cNvPr id="23" name="Image 0" descr="FiThumbsUp">    </p:cNvPr>
          <p:cNvPicPr>
            <a:picLocks noChangeAspect="1"/>
          </p:cNvPicPr>
          <p:nvPr/>
        </p:nvPicPr>
        <p:blipFill>
          <a:blip r:embed="rId1"/>
          <a:stretch>
            <a:fillRect/>
          </a:stretch>
        </p:blipFill>
        <p:spPr>
          <a:xfrm>
            <a:off x="754380" y="2171700"/>
            <a:ext cx="228600" cy="228600"/>
          </a:xfrm>
          <a:prstGeom prst="rect">
            <a:avLst/>
          </a:prstGeom>
        </p:spPr>
      </p:pic>
      <p:sp>
        <p:nvSpPr>
          <p:cNvPr id="24" name="Text 20"/>
          <p:cNvSpPr txBox="1"/>
          <p:nvPr/>
        </p:nvSpPr>
        <p:spPr>
          <a:xfrm>
            <a:off x="1234440" y="2057400"/>
            <a:ext cx="3017520" cy="457200"/>
          </a:xfrm>
          <a:prstGeom prst="rect">
            <a:avLst/>
          </a:prstGeom>
          <a:noFill/>
          <a:ln/>
        </p:spPr>
        <p:txBody>
          <a:bodyPr wrap="square" lIns="0" tIns="0" rIns="0" bIns="0" rtlCol="0" anchor="ctr"/>
          <a:lstStyle/>
          <a:p>
            <a:pPr indent="0" marL="0">
              <a:buNone/>
            </a:pPr>
            <a:r>
              <a:rPr lang="en-US" sz="1400" b="1" dirty="0">
                <a:solidFill>
                  <a:schemeClr val="tx1"/>
                </a:solidFill>
              </a:rPr>
              <a:t>Opportunità</a:t>
            </a:r>
            <a:endParaRPr lang="en-US" sz="1400" dirty="0"/>
          </a:p>
        </p:txBody>
      </p:sp>
      <p:sp>
        <p:nvSpPr>
          <p:cNvPr id="25" name="Text 21"/>
          <p:cNvSpPr txBox="1"/>
          <p:nvPr/>
        </p:nvSpPr>
        <p:spPr>
          <a:xfrm>
            <a:off x="640080" y="2651760"/>
            <a:ext cx="3611880" cy="713232"/>
          </a:xfrm>
          <a:prstGeom prst="rect">
            <a:avLst/>
          </a:prstGeom>
          <a:noFill/>
          <a:ln/>
        </p:spPr>
        <p:txBody>
          <a:bodyPr wrap="square" lIns="0" tIns="0" rIns="0" bIns="0" rtlCol="0" anchor="t"/>
          <a:lstStyle/>
          <a:p>
            <a:pPr indent="0" marL="0">
              <a:buNone/>
            </a:pPr>
            <a:r>
              <a:rPr lang="en-US" sz="1200" dirty="0">
                <a:solidFill>
                  <a:schemeClr val="tx2"/>
                </a:solidFill>
              </a:rPr>
              <a:t>Riunioni senza lingua comune, formazione multilingue, assistenza a clienti stranieri.</a:t>
            </a:r>
            <a:endParaRPr lang="en-US" sz="1200" dirty="0"/>
          </a:p>
        </p:txBody>
      </p:sp>
      <p:sp>
        <p:nvSpPr>
          <p:cNvPr id="26" name="scheda Rischi sommati"/>
          <p:cNvSpPr/>
          <p:nvPr/>
        </p:nvSpPr>
        <p:spPr>
          <a:xfrm>
            <a:off x="4709160" y="1874520"/>
            <a:ext cx="3977640" cy="1600200"/>
          </a:xfrm>
          <a:prstGeom prst="roundRect">
            <a:avLst>
              <a:gd name="adj" fmla="val 4571"/>
            </a:avLst>
          </a:prstGeom>
          <a:solidFill>
            <a:schemeClr val="bg2"/>
          </a:solidFill>
          <a:ln/>
        </p:spPr>
      </p:sp>
      <p:sp>
        <p:nvSpPr>
          <p:cNvPr id="27" name="cerchio FiAlertTriangle"/>
          <p:cNvSpPr/>
          <p:nvPr/>
        </p:nvSpPr>
        <p:spPr>
          <a:xfrm>
            <a:off x="4892040" y="2057400"/>
            <a:ext cx="457200" cy="457200"/>
          </a:xfrm>
          <a:prstGeom prst="ellipse">
            <a:avLst/>
          </a:prstGeom>
          <a:solidFill>
            <a:schemeClr val="accent5"/>
          </a:solidFill>
          <a:ln/>
        </p:spPr>
      </p:sp>
      <p:pic>
        <p:nvPicPr>
          <p:cNvPr id="28" name="Image 1" descr="FiAlertTriangle">    </p:cNvPr>
          <p:cNvPicPr>
            <a:picLocks noChangeAspect="1"/>
          </p:cNvPicPr>
          <p:nvPr/>
        </p:nvPicPr>
        <p:blipFill>
          <a:blip r:embed="rId2"/>
          <a:stretch>
            <a:fillRect/>
          </a:stretch>
        </p:blipFill>
        <p:spPr>
          <a:xfrm>
            <a:off x="5006340" y="2171700"/>
            <a:ext cx="228600" cy="228600"/>
          </a:xfrm>
          <a:prstGeom prst="rect">
            <a:avLst/>
          </a:prstGeom>
        </p:spPr>
      </p:pic>
      <p:sp>
        <p:nvSpPr>
          <p:cNvPr id="29" name="Text 24"/>
          <p:cNvSpPr txBox="1"/>
          <p:nvPr/>
        </p:nvSpPr>
        <p:spPr>
          <a:xfrm>
            <a:off x="5486400" y="2057400"/>
            <a:ext cx="3017520" cy="457200"/>
          </a:xfrm>
          <a:prstGeom prst="rect">
            <a:avLst/>
          </a:prstGeom>
          <a:noFill/>
          <a:ln/>
        </p:spPr>
        <p:txBody>
          <a:bodyPr wrap="square" lIns="0" tIns="0" rIns="0" bIns="0" rtlCol="0" anchor="ctr"/>
          <a:lstStyle/>
          <a:p>
            <a:pPr indent="0" marL="0">
              <a:buNone/>
            </a:pPr>
            <a:r>
              <a:rPr lang="en-US" sz="1400" b="1" dirty="0">
                <a:solidFill>
                  <a:schemeClr val="tx1"/>
                </a:solidFill>
              </a:rPr>
              <a:t>Rischi sommati</a:t>
            </a:r>
            <a:endParaRPr lang="en-US" sz="1400" dirty="0"/>
          </a:p>
        </p:txBody>
      </p:sp>
      <p:sp>
        <p:nvSpPr>
          <p:cNvPr id="30" name="Text 25"/>
          <p:cNvSpPr txBox="1"/>
          <p:nvPr/>
        </p:nvSpPr>
        <p:spPr>
          <a:xfrm>
            <a:off x="4892040" y="2651760"/>
            <a:ext cx="3611880" cy="713232"/>
          </a:xfrm>
          <a:prstGeom prst="rect">
            <a:avLst/>
          </a:prstGeom>
          <a:noFill/>
          <a:ln/>
        </p:spPr>
        <p:txBody>
          <a:bodyPr wrap="square" lIns="0" tIns="0" rIns="0" bIns="0" rtlCol="0" anchor="t"/>
          <a:lstStyle/>
          <a:p>
            <a:pPr indent="0" marL="0">
              <a:buNone/>
            </a:pPr>
            <a:r>
              <a:rPr lang="en-US" sz="1200" dirty="0">
                <a:solidFill>
                  <a:schemeClr val="tx2"/>
                </a:solidFill>
              </a:rPr>
              <a:t>Errori di riconoscimento e di traduzione, meno contesto, ascoltatore che non può verificare.</a:t>
            </a:r>
            <a:endParaRPr lang="en-US" sz="1200" dirty="0"/>
          </a:p>
        </p:txBody>
      </p:sp>
      <p:sp>
        <p:nvSpPr>
          <p:cNvPr id="31" name="messaggio"/>
          <p:cNvSpPr/>
          <p:nvPr/>
        </p:nvSpPr>
        <p:spPr>
          <a:xfrm>
            <a:off x="457200" y="3657600"/>
            <a:ext cx="8229600" cy="777240"/>
          </a:xfrm>
          <a:prstGeom prst="roundRect">
            <a:avLst>
              <a:gd name="adj" fmla="val 9412"/>
            </a:avLst>
          </a:prstGeom>
          <a:solidFill>
            <a:schemeClr val="tx1"/>
          </a:solidFill>
          <a:ln/>
        </p:spPr>
      </p:sp>
      <p:sp>
        <p:nvSpPr>
          <p:cNvPr id="32" name="Text 27"/>
          <p:cNvSpPr txBox="1"/>
          <p:nvPr/>
        </p:nvSpPr>
        <p:spPr>
          <a:xfrm>
            <a:off x="640080" y="3657600"/>
            <a:ext cx="7863840" cy="777240"/>
          </a:xfrm>
          <a:prstGeom prst="rect">
            <a:avLst/>
          </a:prstGeom>
          <a:noFill/>
          <a:ln/>
        </p:spPr>
        <p:txBody>
          <a:bodyPr wrap="square" lIns="0" tIns="0" rIns="0" bIns="0" rtlCol="0" anchor="ctr"/>
          <a:lstStyle/>
          <a:p>
            <a:pPr indent="0" marL="0">
              <a:buNone/>
            </a:pPr>
            <a:r>
              <a:rPr lang="en-US" sz="1300" dirty="0">
                <a:solidFill>
                  <a:schemeClr val="bg1"/>
                </a:solidFill>
              </a:rPr>
              <a:t>Trattative, accordi, sicurezza, ambiti medici o legali: supporto sì, sostituto di un interprete o di una conferma scritta no.</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Uno strumento di accessibilità</a:t>
            </a:r>
            <a:endParaRPr lang="en-US" sz="2600" dirty="0"/>
          </a:p>
        </p:txBody>
      </p:sp>
      <p:sp>
        <p:nvSpPr>
          <p:cNvPr id="4" name="operazione Interpretare"/>
          <p:cNvSpPr/>
          <p:nvPr/>
        </p:nvSpPr>
        <p:spPr>
          <a:xfrm>
            <a:off x="6053328" y="384048"/>
            <a:ext cx="841248" cy="237744"/>
          </a:xfrm>
          <a:prstGeom prst="roundRect">
            <a:avLst>
              <a:gd name="adj" fmla="val 50000"/>
            </a:avLst>
          </a:prstGeom>
          <a:solidFill>
            <a:schemeClr val="accent1"/>
          </a:solidFill>
          <a:ln w="9525">
            <a:solidFill>
              <a:schemeClr val="accent1"/>
            </a:solidFill>
            <a:prstDash val="solid"/>
          </a:ln>
        </p:spPr>
      </p:sp>
      <p:sp>
        <p:nvSpPr>
          <p:cNvPr id="5" name="Text 2"/>
          <p:cNvSpPr txBox="1"/>
          <p:nvPr/>
        </p:nvSpPr>
        <p:spPr>
          <a:xfrm>
            <a:off x="6053328" y="384048"/>
            <a:ext cx="841248" cy="237744"/>
          </a:xfrm>
          <a:prstGeom prst="rect">
            <a:avLst/>
          </a:prstGeom>
          <a:noFill/>
          <a:ln/>
        </p:spPr>
        <p:txBody>
          <a:bodyPr wrap="square" lIns="0" tIns="0" rIns="0" bIns="0" rtlCol="0" anchor="ctr"/>
          <a:lstStyle/>
          <a:p>
            <a:pPr algn="ctr" indent="0" marL="0">
              <a:buNone/>
            </a:pPr>
            <a:r>
              <a:rPr lang="en-US" sz="900" b="1" dirty="0">
                <a:solidFill>
                  <a:schemeClr val="bg1"/>
                </a:solidFill>
              </a:rPr>
              <a:t>Interpretare</a:t>
            </a:r>
            <a:endParaRPr lang="en-US" sz="900" dirty="0"/>
          </a:p>
        </p:txBody>
      </p:sp>
      <p:sp>
        <p:nvSpPr>
          <p:cNvPr id="6" name="operazione Generare"/>
          <p:cNvSpPr/>
          <p:nvPr/>
        </p:nvSpPr>
        <p:spPr>
          <a:xfrm>
            <a:off x="6940296" y="384048"/>
            <a:ext cx="841248"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940296" y="384048"/>
            <a:ext cx="841248" cy="237744"/>
          </a:xfrm>
          <a:prstGeom prst="rect">
            <a:avLst/>
          </a:prstGeom>
          <a:noFill/>
          <a:ln/>
        </p:spPr>
        <p:txBody>
          <a:bodyPr wrap="square" lIns="0" tIns="0" rIns="0" bIns="0" rtlCol="0" anchor="ctr"/>
          <a:lstStyle/>
          <a:p>
            <a:pPr algn="ctr" indent="0" marL="0">
              <a:buNone/>
            </a:pPr>
            <a:r>
              <a:rPr lang="en-US" sz="900" b="1" dirty="0">
                <a:solidFill>
                  <a:schemeClr val="bg1"/>
                </a:solidFill>
              </a:rPr>
              <a:t>Generare</a:t>
            </a:r>
            <a:endParaRPr lang="en-US" sz="900" dirty="0"/>
          </a:p>
        </p:txBody>
      </p:sp>
      <p:sp>
        <p:nvSpPr>
          <p:cNvPr id="8" name="operazione Trasformare"/>
          <p:cNvSpPr/>
          <p:nvPr/>
        </p:nvSpPr>
        <p:spPr>
          <a:xfrm>
            <a:off x="7827264" y="384048"/>
            <a:ext cx="841248"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7827264" y="384048"/>
            <a:ext cx="841248" cy="237744"/>
          </a:xfrm>
          <a:prstGeom prst="rect">
            <a:avLst/>
          </a:prstGeom>
          <a:noFill/>
          <a:ln/>
        </p:spPr>
        <p:txBody>
          <a:bodyPr wrap="square" lIns="0" tIns="0" rIns="0" bIns="0" rtlCol="0" anchor="ctr"/>
          <a:lstStyle/>
          <a:p>
            <a:pPr algn="ctr" indent="0" marL="0">
              <a:buNone/>
            </a:pPr>
            <a:r>
              <a:rPr lang="en-US" sz="900" b="1" dirty="0">
                <a:solidFill>
                  <a:schemeClr val="bg1"/>
                </a:solidFill>
              </a:rPr>
              <a:t>Trasformare</a:t>
            </a:r>
            <a:endParaRPr lang="en-US" sz="900" dirty="0"/>
          </a:p>
        </p:txBody>
      </p:sp>
      <p:sp>
        <p:nvSpPr>
          <p:cNvPr id="10" name="Sottotitoli"/>
          <p:cNvSpPr/>
          <p:nvPr/>
        </p:nvSpPr>
        <p:spPr>
          <a:xfrm>
            <a:off x="457200" y="1051560"/>
            <a:ext cx="2621280" cy="1143000"/>
          </a:xfrm>
          <a:prstGeom prst="roundRect">
            <a:avLst>
              <a:gd name="adj" fmla="val 6400"/>
            </a:avLst>
          </a:prstGeom>
          <a:solidFill>
            <a:schemeClr val="bg2"/>
          </a:solidFill>
          <a:ln/>
        </p:spPr>
      </p:sp>
      <p:sp>
        <p:nvSpPr>
          <p:cNvPr id="11" name="cerchio FiType"/>
          <p:cNvSpPr/>
          <p:nvPr/>
        </p:nvSpPr>
        <p:spPr>
          <a:xfrm>
            <a:off x="621792" y="1216152"/>
            <a:ext cx="438912" cy="438912"/>
          </a:xfrm>
          <a:prstGeom prst="ellipse">
            <a:avLst/>
          </a:prstGeom>
          <a:solidFill>
            <a:schemeClr val="accent1"/>
          </a:solidFill>
          <a:ln/>
        </p:spPr>
      </p:sp>
      <p:pic>
        <p:nvPicPr>
          <p:cNvPr id="12" name="Image 0" descr="FiType">    </p:cNvPr>
          <p:cNvPicPr>
            <a:picLocks noChangeAspect="1"/>
          </p:cNvPicPr>
          <p:nvPr/>
        </p:nvPicPr>
        <p:blipFill>
          <a:blip r:embed="rId1"/>
          <a:stretch>
            <a:fillRect/>
          </a:stretch>
        </p:blipFill>
        <p:spPr>
          <a:xfrm>
            <a:off x="731520" y="1325880"/>
            <a:ext cx="219456" cy="219456"/>
          </a:xfrm>
          <a:prstGeom prst="rect">
            <a:avLst/>
          </a:prstGeom>
        </p:spPr>
      </p:pic>
      <p:sp>
        <p:nvSpPr>
          <p:cNvPr id="13" name="Text 9"/>
          <p:cNvSpPr txBox="1"/>
          <p:nvPr/>
        </p:nvSpPr>
        <p:spPr>
          <a:xfrm>
            <a:off x="1170432" y="117957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Sottotitoli</a:t>
            </a:r>
            <a:endParaRPr lang="en-US" sz="1300" dirty="0"/>
          </a:p>
        </p:txBody>
      </p:sp>
      <p:sp>
        <p:nvSpPr>
          <p:cNvPr id="14" name="Text 10"/>
          <p:cNvSpPr txBox="1"/>
          <p:nvPr/>
        </p:nvSpPr>
        <p:spPr>
          <a:xfrm>
            <a:off x="621792" y="1764792"/>
            <a:ext cx="2292096" cy="338328"/>
          </a:xfrm>
          <a:prstGeom prst="rect">
            <a:avLst/>
          </a:prstGeom>
          <a:noFill/>
          <a:ln/>
        </p:spPr>
        <p:txBody>
          <a:bodyPr wrap="square" lIns="0" tIns="0" rIns="0" bIns="0" rtlCol="0" anchor="t"/>
          <a:lstStyle/>
          <a:p>
            <a:pPr indent="0" marL="0">
              <a:buNone/>
            </a:pPr>
            <a:r>
              <a:rPr lang="en-US" sz="1200" dirty="0">
                <a:solidFill>
                  <a:schemeClr val="tx2"/>
                </a:solidFill>
              </a:rPr>
              <a:t>Per chi non sente o è in un luogo rumoroso</a:t>
            </a:r>
            <a:endParaRPr lang="en-US" sz="1200" dirty="0"/>
          </a:p>
        </p:txBody>
      </p:sp>
      <p:sp>
        <p:nvSpPr>
          <p:cNvPr id="15" name="Sintesi vocale"/>
          <p:cNvSpPr/>
          <p:nvPr/>
        </p:nvSpPr>
        <p:spPr>
          <a:xfrm>
            <a:off x="3261360" y="1051560"/>
            <a:ext cx="2621280" cy="1143000"/>
          </a:xfrm>
          <a:prstGeom prst="roundRect">
            <a:avLst>
              <a:gd name="adj" fmla="val 6400"/>
            </a:avLst>
          </a:prstGeom>
          <a:solidFill>
            <a:schemeClr val="bg2"/>
          </a:solidFill>
          <a:ln/>
        </p:spPr>
      </p:sp>
      <p:sp>
        <p:nvSpPr>
          <p:cNvPr id="16" name="cerchio FiVolume2"/>
          <p:cNvSpPr/>
          <p:nvPr/>
        </p:nvSpPr>
        <p:spPr>
          <a:xfrm>
            <a:off x="3425952" y="1216152"/>
            <a:ext cx="438912" cy="438912"/>
          </a:xfrm>
          <a:prstGeom prst="ellipse">
            <a:avLst/>
          </a:prstGeom>
          <a:solidFill>
            <a:schemeClr val="accent1"/>
          </a:solidFill>
          <a:ln/>
        </p:spPr>
      </p:sp>
      <p:pic>
        <p:nvPicPr>
          <p:cNvPr id="17" name="Image 1" descr="FiVolume2">    </p:cNvPr>
          <p:cNvPicPr>
            <a:picLocks noChangeAspect="1"/>
          </p:cNvPicPr>
          <p:nvPr/>
        </p:nvPicPr>
        <p:blipFill>
          <a:blip r:embed="rId2"/>
          <a:stretch>
            <a:fillRect/>
          </a:stretch>
        </p:blipFill>
        <p:spPr>
          <a:xfrm>
            <a:off x="3535680" y="1325880"/>
            <a:ext cx="219456" cy="219456"/>
          </a:xfrm>
          <a:prstGeom prst="rect">
            <a:avLst/>
          </a:prstGeom>
        </p:spPr>
      </p:pic>
      <p:sp>
        <p:nvSpPr>
          <p:cNvPr id="18" name="Text 13"/>
          <p:cNvSpPr txBox="1"/>
          <p:nvPr/>
        </p:nvSpPr>
        <p:spPr>
          <a:xfrm>
            <a:off x="3974592" y="117957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Sintesi vocale</a:t>
            </a:r>
            <a:endParaRPr lang="en-US" sz="1300" dirty="0"/>
          </a:p>
        </p:txBody>
      </p:sp>
      <p:sp>
        <p:nvSpPr>
          <p:cNvPr id="19" name="Text 14"/>
          <p:cNvSpPr txBox="1"/>
          <p:nvPr/>
        </p:nvSpPr>
        <p:spPr>
          <a:xfrm>
            <a:off x="3425952" y="1764792"/>
            <a:ext cx="2292096" cy="338328"/>
          </a:xfrm>
          <a:prstGeom prst="rect">
            <a:avLst/>
          </a:prstGeom>
          <a:noFill/>
          <a:ln/>
        </p:spPr>
        <p:txBody>
          <a:bodyPr wrap="square" lIns="0" tIns="0" rIns="0" bIns="0" rtlCol="0" anchor="t"/>
          <a:lstStyle/>
          <a:p>
            <a:pPr indent="0" marL="0">
              <a:buNone/>
            </a:pPr>
            <a:r>
              <a:rPr lang="en-US" sz="1200" dirty="0">
                <a:solidFill>
                  <a:schemeClr val="tx2"/>
                </a:solidFill>
              </a:rPr>
              <a:t>Per chi non vede o fatica a leggere</a:t>
            </a:r>
            <a:endParaRPr lang="en-US" sz="1200" dirty="0"/>
          </a:p>
        </p:txBody>
      </p:sp>
      <p:sp>
        <p:nvSpPr>
          <p:cNvPr id="20" name="Descrizioni di immagini"/>
          <p:cNvSpPr/>
          <p:nvPr/>
        </p:nvSpPr>
        <p:spPr>
          <a:xfrm>
            <a:off x="6065520" y="1051560"/>
            <a:ext cx="2621280" cy="1143000"/>
          </a:xfrm>
          <a:prstGeom prst="roundRect">
            <a:avLst>
              <a:gd name="adj" fmla="val 6400"/>
            </a:avLst>
          </a:prstGeom>
          <a:solidFill>
            <a:schemeClr val="bg2"/>
          </a:solidFill>
          <a:ln/>
        </p:spPr>
      </p:sp>
      <p:sp>
        <p:nvSpPr>
          <p:cNvPr id="21" name="cerchio FiImage"/>
          <p:cNvSpPr/>
          <p:nvPr/>
        </p:nvSpPr>
        <p:spPr>
          <a:xfrm>
            <a:off x="6230112" y="1216152"/>
            <a:ext cx="438912" cy="438912"/>
          </a:xfrm>
          <a:prstGeom prst="ellipse">
            <a:avLst/>
          </a:prstGeom>
          <a:solidFill>
            <a:schemeClr val="accent1"/>
          </a:solidFill>
          <a:ln/>
        </p:spPr>
      </p:sp>
      <p:pic>
        <p:nvPicPr>
          <p:cNvPr id="22" name="Image 2" descr="FiImage">    </p:cNvPr>
          <p:cNvPicPr>
            <a:picLocks noChangeAspect="1"/>
          </p:cNvPicPr>
          <p:nvPr/>
        </p:nvPicPr>
        <p:blipFill>
          <a:blip r:embed="rId3"/>
          <a:stretch>
            <a:fillRect/>
          </a:stretch>
        </p:blipFill>
        <p:spPr>
          <a:xfrm>
            <a:off x="6339840" y="1325880"/>
            <a:ext cx="219456" cy="219456"/>
          </a:xfrm>
          <a:prstGeom prst="rect">
            <a:avLst/>
          </a:prstGeom>
        </p:spPr>
      </p:pic>
      <p:sp>
        <p:nvSpPr>
          <p:cNvPr id="23" name="Text 17"/>
          <p:cNvSpPr txBox="1"/>
          <p:nvPr/>
        </p:nvSpPr>
        <p:spPr>
          <a:xfrm>
            <a:off x="6778752" y="117957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Descrizioni di immagini</a:t>
            </a:r>
            <a:endParaRPr lang="en-US" sz="1300" dirty="0"/>
          </a:p>
        </p:txBody>
      </p:sp>
      <p:sp>
        <p:nvSpPr>
          <p:cNvPr id="24" name="Text 18"/>
          <p:cNvSpPr txBox="1"/>
          <p:nvPr/>
        </p:nvSpPr>
        <p:spPr>
          <a:xfrm>
            <a:off x="6230112" y="1764792"/>
            <a:ext cx="2292096" cy="338328"/>
          </a:xfrm>
          <a:prstGeom prst="rect">
            <a:avLst/>
          </a:prstGeom>
          <a:noFill/>
          <a:ln/>
        </p:spPr>
        <p:txBody>
          <a:bodyPr wrap="square" lIns="0" tIns="0" rIns="0" bIns="0" rtlCol="0" anchor="t"/>
          <a:lstStyle/>
          <a:p>
            <a:pPr indent="0" marL="0">
              <a:buNone/>
            </a:pPr>
            <a:r>
              <a:rPr lang="en-US" sz="1200" dirty="0">
                <a:solidFill>
                  <a:schemeClr val="tx2"/>
                </a:solidFill>
              </a:rPr>
              <a:t>Grafici e foto per chi non vede</a:t>
            </a:r>
            <a:endParaRPr lang="en-US" sz="1200" dirty="0"/>
          </a:p>
        </p:txBody>
      </p:sp>
      <p:sp>
        <p:nvSpPr>
          <p:cNvPr id="25" name="Comandi vocali"/>
          <p:cNvSpPr/>
          <p:nvPr/>
        </p:nvSpPr>
        <p:spPr>
          <a:xfrm>
            <a:off x="457200" y="2377440"/>
            <a:ext cx="2621280" cy="1143000"/>
          </a:xfrm>
          <a:prstGeom prst="roundRect">
            <a:avLst>
              <a:gd name="adj" fmla="val 6400"/>
            </a:avLst>
          </a:prstGeom>
          <a:solidFill>
            <a:schemeClr val="bg2"/>
          </a:solidFill>
          <a:ln/>
        </p:spPr>
      </p:sp>
      <p:sp>
        <p:nvSpPr>
          <p:cNvPr id="26" name="cerchio FiMic"/>
          <p:cNvSpPr/>
          <p:nvPr/>
        </p:nvSpPr>
        <p:spPr>
          <a:xfrm>
            <a:off x="621792" y="2542032"/>
            <a:ext cx="438912" cy="438912"/>
          </a:xfrm>
          <a:prstGeom prst="ellipse">
            <a:avLst/>
          </a:prstGeom>
          <a:solidFill>
            <a:schemeClr val="accent1"/>
          </a:solidFill>
          <a:ln/>
        </p:spPr>
      </p:sp>
      <p:pic>
        <p:nvPicPr>
          <p:cNvPr id="27" name="Image 3" descr="FiMic">    </p:cNvPr>
          <p:cNvPicPr>
            <a:picLocks noChangeAspect="1"/>
          </p:cNvPicPr>
          <p:nvPr/>
        </p:nvPicPr>
        <p:blipFill>
          <a:blip r:embed="rId4"/>
          <a:stretch>
            <a:fillRect/>
          </a:stretch>
        </p:blipFill>
        <p:spPr>
          <a:xfrm>
            <a:off x="731520" y="2651760"/>
            <a:ext cx="219456" cy="219456"/>
          </a:xfrm>
          <a:prstGeom prst="rect">
            <a:avLst/>
          </a:prstGeom>
        </p:spPr>
      </p:pic>
      <p:sp>
        <p:nvSpPr>
          <p:cNvPr id="28" name="Text 21"/>
          <p:cNvSpPr txBox="1"/>
          <p:nvPr/>
        </p:nvSpPr>
        <p:spPr>
          <a:xfrm>
            <a:off x="1170432" y="250545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Comandi vocali</a:t>
            </a:r>
            <a:endParaRPr lang="en-US" sz="1300" dirty="0"/>
          </a:p>
        </p:txBody>
      </p:sp>
      <p:sp>
        <p:nvSpPr>
          <p:cNvPr id="29" name="Text 22"/>
          <p:cNvSpPr txBox="1"/>
          <p:nvPr/>
        </p:nvSpPr>
        <p:spPr>
          <a:xfrm>
            <a:off x="621792" y="3090672"/>
            <a:ext cx="2292096" cy="338328"/>
          </a:xfrm>
          <a:prstGeom prst="rect">
            <a:avLst/>
          </a:prstGeom>
          <a:noFill/>
          <a:ln/>
        </p:spPr>
        <p:txBody>
          <a:bodyPr wrap="square" lIns="0" tIns="0" rIns="0" bIns="0" rtlCol="0" anchor="t"/>
          <a:lstStyle/>
          <a:p>
            <a:pPr indent="0" marL="0">
              <a:buNone/>
            </a:pPr>
            <a:r>
              <a:rPr lang="en-US" sz="1200" dirty="0">
                <a:solidFill>
                  <a:schemeClr val="tx2"/>
                </a:solidFill>
              </a:rPr>
              <a:t>Per chi non usa la tastiera</a:t>
            </a:r>
            <a:endParaRPr lang="en-US" sz="1200" dirty="0"/>
          </a:p>
        </p:txBody>
      </p:sp>
      <p:sp>
        <p:nvSpPr>
          <p:cNvPr id="30" name="Traduzioni"/>
          <p:cNvSpPr/>
          <p:nvPr/>
        </p:nvSpPr>
        <p:spPr>
          <a:xfrm>
            <a:off x="3261360" y="2377440"/>
            <a:ext cx="2621280" cy="1143000"/>
          </a:xfrm>
          <a:prstGeom prst="roundRect">
            <a:avLst>
              <a:gd name="adj" fmla="val 6400"/>
            </a:avLst>
          </a:prstGeom>
          <a:solidFill>
            <a:schemeClr val="bg2"/>
          </a:solidFill>
          <a:ln/>
        </p:spPr>
      </p:sp>
      <p:sp>
        <p:nvSpPr>
          <p:cNvPr id="31" name="cerchio FiGlobe"/>
          <p:cNvSpPr/>
          <p:nvPr/>
        </p:nvSpPr>
        <p:spPr>
          <a:xfrm>
            <a:off x="3425952" y="2542032"/>
            <a:ext cx="438912" cy="438912"/>
          </a:xfrm>
          <a:prstGeom prst="ellipse">
            <a:avLst/>
          </a:prstGeom>
          <a:solidFill>
            <a:schemeClr val="accent1"/>
          </a:solidFill>
          <a:ln/>
        </p:spPr>
      </p:sp>
      <p:pic>
        <p:nvPicPr>
          <p:cNvPr id="32" name="Image 4" descr="FiGlobe">    </p:cNvPr>
          <p:cNvPicPr>
            <a:picLocks noChangeAspect="1"/>
          </p:cNvPicPr>
          <p:nvPr/>
        </p:nvPicPr>
        <p:blipFill>
          <a:blip r:embed="rId5"/>
          <a:stretch>
            <a:fillRect/>
          </a:stretch>
        </p:blipFill>
        <p:spPr>
          <a:xfrm>
            <a:off x="3535680" y="2651760"/>
            <a:ext cx="219456" cy="219456"/>
          </a:xfrm>
          <a:prstGeom prst="rect">
            <a:avLst/>
          </a:prstGeom>
        </p:spPr>
      </p:pic>
      <p:sp>
        <p:nvSpPr>
          <p:cNvPr id="33" name="Text 25"/>
          <p:cNvSpPr txBox="1"/>
          <p:nvPr/>
        </p:nvSpPr>
        <p:spPr>
          <a:xfrm>
            <a:off x="3974592" y="250545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Traduzioni</a:t>
            </a:r>
            <a:endParaRPr lang="en-US" sz="1300" dirty="0"/>
          </a:p>
        </p:txBody>
      </p:sp>
      <p:sp>
        <p:nvSpPr>
          <p:cNvPr id="34" name="Text 26"/>
          <p:cNvSpPr txBox="1"/>
          <p:nvPr/>
        </p:nvSpPr>
        <p:spPr>
          <a:xfrm>
            <a:off x="3425952" y="3090672"/>
            <a:ext cx="2292096" cy="338328"/>
          </a:xfrm>
          <a:prstGeom prst="rect">
            <a:avLst/>
          </a:prstGeom>
          <a:noFill/>
          <a:ln/>
        </p:spPr>
        <p:txBody>
          <a:bodyPr wrap="square" lIns="0" tIns="0" rIns="0" bIns="0" rtlCol="0" anchor="t"/>
          <a:lstStyle/>
          <a:p>
            <a:pPr indent="0" marL="0">
              <a:buNone/>
            </a:pPr>
            <a:r>
              <a:rPr lang="en-US" sz="1200" dirty="0">
                <a:solidFill>
                  <a:schemeClr val="tx2"/>
                </a:solidFill>
              </a:rPr>
              <a:t>Per chi non conosce bene la lingua</a:t>
            </a:r>
            <a:endParaRPr lang="en-US" sz="1200" dirty="0"/>
          </a:p>
        </p:txBody>
      </p:sp>
      <p:sp>
        <p:nvSpPr>
          <p:cNvPr id="35" name="Versioni semplificate"/>
          <p:cNvSpPr/>
          <p:nvPr/>
        </p:nvSpPr>
        <p:spPr>
          <a:xfrm>
            <a:off x="6065520" y="2377440"/>
            <a:ext cx="2621280" cy="1143000"/>
          </a:xfrm>
          <a:prstGeom prst="roundRect">
            <a:avLst>
              <a:gd name="adj" fmla="val 6400"/>
            </a:avLst>
          </a:prstGeom>
          <a:solidFill>
            <a:schemeClr val="bg2"/>
          </a:solidFill>
          <a:ln/>
        </p:spPr>
      </p:sp>
      <p:sp>
        <p:nvSpPr>
          <p:cNvPr id="36" name="cerchio FiAlignLeft"/>
          <p:cNvSpPr/>
          <p:nvPr/>
        </p:nvSpPr>
        <p:spPr>
          <a:xfrm>
            <a:off x="6230112" y="2542032"/>
            <a:ext cx="438912" cy="438912"/>
          </a:xfrm>
          <a:prstGeom prst="ellipse">
            <a:avLst/>
          </a:prstGeom>
          <a:solidFill>
            <a:schemeClr val="accent1"/>
          </a:solidFill>
          <a:ln/>
        </p:spPr>
      </p:sp>
      <p:pic>
        <p:nvPicPr>
          <p:cNvPr id="37" name="Image 5" descr="FiAlignLeft">    </p:cNvPr>
          <p:cNvPicPr>
            <a:picLocks noChangeAspect="1"/>
          </p:cNvPicPr>
          <p:nvPr/>
        </p:nvPicPr>
        <p:blipFill>
          <a:blip r:embed="rId6"/>
          <a:stretch>
            <a:fillRect/>
          </a:stretch>
        </p:blipFill>
        <p:spPr>
          <a:xfrm>
            <a:off x="6339840" y="2651760"/>
            <a:ext cx="219456" cy="219456"/>
          </a:xfrm>
          <a:prstGeom prst="rect">
            <a:avLst/>
          </a:prstGeom>
        </p:spPr>
      </p:pic>
      <p:sp>
        <p:nvSpPr>
          <p:cNvPr id="38" name="Text 29"/>
          <p:cNvSpPr txBox="1"/>
          <p:nvPr/>
        </p:nvSpPr>
        <p:spPr>
          <a:xfrm>
            <a:off x="6778752" y="250545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Versioni semplificate</a:t>
            </a:r>
            <a:endParaRPr lang="en-US" sz="1300" dirty="0"/>
          </a:p>
        </p:txBody>
      </p:sp>
      <p:sp>
        <p:nvSpPr>
          <p:cNvPr id="39" name="Text 30"/>
          <p:cNvSpPr txBox="1"/>
          <p:nvPr/>
        </p:nvSpPr>
        <p:spPr>
          <a:xfrm>
            <a:off x="6230112" y="3090672"/>
            <a:ext cx="2292096" cy="338328"/>
          </a:xfrm>
          <a:prstGeom prst="rect">
            <a:avLst/>
          </a:prstGeom>
          <a:noFill/>
          <a:ln/>
        </p:spPr>
        <p:txBody>
          <a:bodyPr wrap="square" lIns="0" tIns="0" rIns="0" bIns="0" rtlCol="0" anchor="t"/>
          <a:lstStyle/>
          <a:p>
            <a:pPr indent="0" marL="0">
              <a:buNone/>
            </a:pPr>
            <a:r>
              <a:rPr lang="en-US" sz="1200" dirty="0">
                <a:solidFill>
                  <a:schemeClr val="tx2"/>
                </a:solidFill>
              </a:rPr>
              <a:t>Per chi ha bisogno di testi più chiari</a:t>
            </a:r>
            <a:endParaRPr lang="en-US" sz="1200" dirty="0"/>
          </a:p>
        </p:txBody>
      </p:sp>
      <p:sp>
        <p:nvSpPr>
          <p:cNvPr id="40" name="messaggio"/>
          <p:cNvSpPr/>
          <p:nvPr/>
        </p:nvSpPr>
        <p:spPr>
          <a:xfrm>
            <a:off x="457200" y="3703320"/>
            <a:ext cx="8229600" cy="685800"/>
          </a:xfrm>
          <a:prstGeom prst="roundRect">
            <a:avLst>
              <a:gd name="adj" fmla="val 10667"/>
            </a:avLst>
          </a:prstGeom>
          <a:solidFill>
            <a:schemeClr val="tx1"/>
          </a:solidFill>
          <a:ln/>
        </p:spPr>
      </p:sp>
      <p:sp>
        <p:nvSpPr>
          <p:cNvPr id="41" name="Text 32"/>
          <p:cNvSpPr txBox="1"/>
          <p:nvPr/>
        </p:nvSpPr>
        <p:spPr>
          <a:xfrm>
            <a:off x="640080" y="3703320"/>
            <a:ext cx="7863840" cy="685800"/>
          </a:xfrm>
          <a:prstGeom prst="rect">
            <a:avLst/>
          </a:prstGeom>
          <a:noFill/>
          <a:ln/>
        </p:spPr>
        <p:txBody>
          <a:bodyPr wrap="square" lIns="0" tIns="0" rIns="0" bIns="0" rtlCol="0" anchor="ctr"/>
          <a:lstStyle/>
          <a:p>
            <a:pPr indent="0" marL="0">
              <a:buNone/>
            </a:pPr>
            <a:r>
              <a:rPr lang="en-US" sz="1300" dirty="0">
                <a:solidFill>
                  <a:schemeClr val="bg1"/>
                </a:solidFill>
              </a:rPr>
              <a:t>Un sottotitolo sbagliato, per chi non può ascoltare, è un errore che non ha modo di correggere. Servono controlli.</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Registrare con consenso</a:t>
            </a:r>
            <a:endParaRPr lang="en-US" sz="2600" dirty="0"/>
          </a:p>
        </p:txBody>
      </p:sp>
      <p:sp>
        <p:nvSpPr>
          <p:cNvPr id="4" name="operazione Interpretare"/>
          <p:cNvSpPr/>
          <p:nvPr/>
        </p:nvSpPr>
        <p:spPr>
          <a:xfrm>
            <a:off x="6053328" y="384048"/>
            <a:ext cx="841248" cy="237744"/>
          </a:xfrm>
          <a:prstGeom prst="roundRect">
            <a:avLst>
              <a:gd name="adj" fmla="val 50000"/>
            </a:avLst>
          </a:prstGeom>
          <a:solidFill>
            <a:schemeClr val="accent1"/>
          </a:solidFill>
          <a:ln w="9525">
            <a:solidFill>
              <a:schemeClr val="accent1"/>
            </a:solidFill>
            <a:prstDash val="solid"/>
          </a:ln>
        </p:spPr>
      </p:sp>
      <p:sp>
        <p:nvSpPr>
          <p:cNvPr id="5" name="Text 2"/>
          <p:cNvSpPr txBox="1"/>
          <p:nvPr/>
        </p:nvSpPr>
        <p:spPr>
          <a:xfrm>
            <a:off x="6053328" y="384048"/>
            <a:ext cx="841248" cy="237744"/>
          </a:xfrm>
          <a:prstGeom prst="rect">
            <a:avLst/>
          </a:prstGeom>
          <a:noFill/>
          <a:ln/>
        </p:spPr>
        <p:txBody>
          <a:bodyPr wrap="square" lIns="0" tIns="0" rIns="0" bIns="0" rtlCol="0" anchor="ctr"/>
          <a:lstStyle/>
          <a:p>
            <a:pPr algn="ctr" indent="0" marL="0">
              <a:buNone/>
            </a:pPr>
            <a:r>
              <a:rPr lang="en-US" sz="900" b="1" dirty="0">
                <a:solidFill>
                  <a:schemeClr val="bg1"/>
                </a:solidFill>
              </a:rPr>
              <a:t>Interpretare</a:t>
            </a:r>
            <a:endParaRPr lang="en-US" sz="900" dirty="0"/>
          </a:p>
        </p:txBody>
      </p:sp>
      <p:sp>
        <p:nvSpPr>
          <p:cNvPr id="6" name="operazione Generare"/>
          <p:cNvSpPr/>
          <p:nvPr/>
        </p:nvSpPr>
        <p:spPr>
          <a:xfrm>
            <a:off x="6940296" y="384048"/>
            <a:ext cx="841248"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940296" y="384048"/>
            <a:ext cx="841248" cy="237744"/>
          </a:xfrm>
          <a:prstGeom prst="rect">
            <a:avLst/>
          </a:prstGeom>
          <a:noFill/>
          <a:ln/>
        </p:spPr>
        <p:txBody>
          <a:bodyPr wrap="square" lIns="0" tIns="0" rIns="0" bIns="0" rtlCol="0" anchor="ctr"/>
          <a:lstStyle/>
          <a:p>
            <a:pPr algn="ctr" indent="0" marL="0">
              <a:buNone/>
            </a:pPr>
            <a:r>
              <a:rPr lang="en-US" sz="900" b="1" dirty="0">
                <a:solidFill>
                  <a:schemeClr val="accent1"/>
                </a:solidFill>
              </a:rPr>
              <a:t>Generare</a:t>
            </a:r>
            <a:endParaRPr lang="en-US" sz="900" dirty="0"/>
          </a:p>
        </p:txBody>
      </p:sp>
      <p:sp>
        <p:nvSpPr>
          <p:cNvPr id="8" name="operazione Trasformare"/>
          <p:cNvSpPr/>
          <p:nvPr/>
        </p:nvSpPr>
        <p:spPr>
          <a:xfrm>
            <a:off x="7827264" y="384048"/>
            <a:ext cx="841248"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827264" y="384048"/>
            <a:ext cx="841248" cy="237744"/>
          </a:xfrm>
          <a:prstGeom prst="rect">
            <a:avLst/>
          </a:prstGeom>
          <a:noFill/>
          <a:ln/>
        </p:spPr>
        <p:txBody>
          <a:bodyPr wrap="square" lIns="0" tIns="0" rIns="0" bIns="0" rtlCol="0" anchor="ctr"/>
          <a:lstStyle/>
          <a:p>
            <a:pPr algn="ctr" indent="0" marL="0">
              <a:buNone/>
            </a:pPr>
            <a:r>
              <a:rPr lang="en-US" sz="900" b="1" dirty="0">
                <a:solidFill>
                  <a:schemeClr val="accent1"/>
                </a:solidFill>
              </a:rPr>
              <a:t>Trasformare</a:t>
            </a:r>
            <a:endParaRPr lang="en-US" sz="900" dirty="0"/>
          </a:p>
        </p:txBody>
      </p:sp>
      <p:sp>
        <p:nvSpPr>
          <p:cNvPr id="10" name="voce 1"/>
          <p:cNvSpPr/>
          <p:nvPr/>
        </p:nvSpPr>
        <p:spPr>
          <a:xfrm>
            <a:off x="457200" y="1051560"/>
            <a:ext cx="8229600" cy="475488"/>
          </a:xfrm>
          <a:prstGeom prst="roundRect">
            <a:avLst>
              <a:gd name="adj" fmla="val 15385"/>
            </a:avLst>
          </a:prstGeom>
          <a:solidFill>
            <a:schemeClr val="bg2"/>
          </a:solidFill>
          <a:ln/>
        </p:spPr>
      </p:sp>
      <p:sp>
        <p:nvSpPr>
          <p:cNvPr id="11" name="Text 8"/>
          <p:cNvSpPr txBox="1"/>
          <p:nvPr/>
        </p:nvSpPr>
        <p:spPr>
          <a:xfrm>
            <a:off x="566928" y="1051560"/>
            <a:ext cx="365760" cy="475488"/>
          </a:xfrm>
          <a:prstGeom prst="rect">
            <a:avLst/>
          </a:prstGeom>
          <a:noFill/>
          <a:ln/>
        </p:spPr>
        <p:txBody>
          <a:bodyPr wrap="square" lIns="0" tIns="0" rIns="0" bIns="0" rtlCol="0" anchor="ctr"/>
          <a:lstStyle/>
          <a:p>
            <a:pPr indent="0" marL="0">
              <a:buNone/>
            </a:pPr>
            <a:r>
              <a:rPr lang="en-US" sz="1500" b="1" dirty="0">
                <a:solidFill>
                  <a:schemeClr val="accent1"/>
                </a:solidFill>
              </a:rPr>
              <a:t>1</a:t>
            </a:r>
            <a:endParaRPr lang="en-US" sz="1500" dirty="0"/>
          </a:p>
        </p:txBody>
      </p:sp>
      <p:sp>
        <p:nvSpPr>
          <p:cNvPr id="12" name="Text 9"/>
          <p:cNvSpPr txBox="1"/>
          <p:nvPr/>
        </p:nvSpPr>
        <p:spPr>
          <a:xfrm>
            <a:off x="960120" y="1051560"/>
            <a:ext cx="7589520" cy="475488"/>
          </a:xfrm>
          <a:prstGeom prst="rect">
            <a:avLst/>
          </a:prstGeom>
          <a:noFill/>
          <a:ln/>
        </p:spPr>
        <p:txBody>
          <a:bodyPr wrap="square" lIns="0" tIns="0" rIns="0" bIns="0" rtlCol="0" anchor="ctr"/>
          <a:lstStyle/>
          <a:p>
            <a:pPr indent="0" marL="0">
              <a:buNone/>
            </a:pPr>
            <a:r>
              <a:rPr lang="en-US" sz="1300" dirty="0">
                <a:solidFill>
                  <a:schemeClr val="tx1"/>
                </a:solidFill>
              </a:rPr>
              <a:t>Informare i partecipanti prima di iniziare, e rispettare chi preferisce di no</a:t>
            </a:r>
            <a:endParaRPr lang="en-US" sz="1300" dirty="0"/>
          </a:p>
        </p:txBody>
      </p:sp>
      <p:sp>
        <p:nvSpPr>
          <p:cNvPr id="13" name="voce 2"/>
          <p:cNvSpPr/>
          <p:nvPr/>
        </p:nvSpPr>
        <p:spPr>
          <a:xfrm>
            <a:off x="457200" y="1600200"/>
            <a:ext cx="8229600" cy="475488"/>
          </a:xfrm>
          <a:prstGeom prst="roundRect">
            <a:avLst>
              <a:gd name="adj" fmla="val 15385"/>
            </a:avLst>
          </a:prstGeom>
          <a:solidFill>
            <a:schemeClr val="bg1"/>
          </a:solidFill>
          <a:ln/>
        </p:spPr>
      </p:sp>
      <p:sp>
        <p:nvSpPr>
          <p:cNvPr id="14" name="Text 11"/>
          <p:cNvSpPr txBox="1"/>
          <p:nvPr/>
        </p:nvSpPr>
        <p:spPr>
          <a:xfrm>
            <a:off x="566928" y="1600200"/>
            <a:ext cx="365760" cy="475488"/>
          </a:xfrm>
          <a:prstGeom prst="rect">
            <a:avLst/>
          </a:prstGeom>
          <a:noFill/>
          <a:ln/>
        </p:spPr>
        <p:txBody>
          <a:bodyPr wrap="square" lIns="0" tIns="0" rIns="0" bIns="0" rtlCol="0" anchor="ctr"/>
          <a:lstStyle/>
          <a:p>
            <a:pPr indent="0" marL="0">
              <a:buNone/>
            </a:pPr>
            <a:r>
              <a:rPr lang="en-US" sz="1500" b="1" dirty="0">
                <a:solidFill>
                  <a:schemeClr val="accent1"/>
                </a:solidFill>
              </a:rPr>
              <a:t>2</a:t>
            </a:r>
            <a:endParaRPr lang="en-US" sz="1500" dirty="0"/>
          </a:p>
        </p:txBody>
      </p:sp>
      <p:sp>
        <p:nvSpPr>
          <p:cNvPr id="15" name="Text 12"/>
          <p:cNvSpPr txBox="1"/>
          <p:nvPr/>
        </p:nvSpPr>
        <p:spPr>
          <a:xfrm>
            <a:off x="960120" y="1600200"/>
            <a:ext cx="7589520" cy="475488"/>
          </a:xfrm>
          <a:prstGeom prst="rect">
            <a:avLst/>
          </a:prstGeom>
          <a:noFill/>
          <a:ln/>
        </p:spPr>
        <p:txBody>
          <a:bodyPr wrap="square" lIns="0" tIns="0" rIns="0" bIns="0" rtlCol="0" anchor="ctr"/>
          <a:lstStyle/>
          <a:p>
            <a:pPr indent="0" marL="0">
              <a:buNone/>
            </a:pPr>
            <a:r>
              <a:rPr lang="en-US" sz="1300" dirty="0">
                <a:solidFill>
                  <a:schemeClr val="tx1"/>
                </a:solidFill>
              </a:rPr>
              <a:t>Solo strumenti autorizzati: le registrazioni contengono informazioni riservate</a:t>
            </a:r>
            <a:endParaRPr lang="en-US" sz="1300" dirty="0"/>
          </a:p>
        </p:txBody>
      </p:sp>
      <p:sp>
        <p:nvSpPr>
          <p:cNvPr id="16" name="voce 3"/>
          <p:cNvSpPr/>
          <p:nvPr/>
        </p:nvSpPr>
        <p:spPr>
          <a:xfrm>
            <a:off x="457200" y="2148840"/>
            <a:ext cx="8229600" cy="475488"/>
          </a:xfrm>
          <a:prstGeom prst="roundRect">
            <a:avLst>
              <a:gd name="adj" fmla="val 15385"/>
            </a:avLst>
          </a:prstGeom>
          <a:solidFill>
            <a:schemeClr val="bg2"/>
          </a:solidFill>
          <a:ln/>
        </p:spPr>
      </p:sp>
      <p:sp>
        <p:nvSpPr>
          <p:cNvPr id="17" name="Text 14"/>
          <p:cNvSpPr txBox="1"/>
          <p:nvPr/>
        </p:nvSpPr>
        <p:spPr>
          <a:xfrm>
            <a:off x="566928" y="2148840"/>
            <a:ext cx="365760" cy="475488"/>
          </a:xfrm>
          <a:prstGeom prst="rect">
            <a:avLst/>
          </a:prstGeom>
          <a:noFill/>
          <a:ln/>
        </p:spPr>
        <p:txBody>
          <a:bodyPr wrap="square" lIns="0" tIns="0" rIns="0" bIns="0" rtlCol="0" anchor="ctr"/>
          <a:lstStyle/>
          <a:p>
            <a:pPr indent="0" marL="0">
              <a:buNone/>
            </a:pPr>
            <a:r>
              <a:rPr lang="en-US" sz="1500" b="1" dirty="0">
                <a:solidFill>
                  <a:schemeClr val="accent1"/>
                </a:solidFill>
              </a:rPr>
              <a:t>3</a:t>
            </a:r>
            <a:endParaRPr lang="en-US" sz="1500" dirty="0"/>
          </a:p>
        </p:txBody>
      </p:sp>
      <p:sp>
        <p:nvSpPr>
          <p:cNvPr id="18" name="Text 15"/>
          <p:cNvSpPr txBox="1"/>
          <p:nvPr/>
        </p:nvSpPr>
        <p:spPr>
          <a:xfrm>
            <a:off x="960120" y="2148840"/>
            <a:ext cx="7589520" cy="475488"/>
          </a:xfrm>
          <a:prstGeom prst="rect">
            <a:avLst/>
          </a:prstGeom>
          <a:noFill/>
          <a:ln/>
        </p:spPr>
        <p:txBody>
          <a:bodyPr wrap="square" lIns="0" tIns="0" rIns="0" bIns="0" rtlCol="0" anchor="ctr"/>
          <a:lstStyle/>
          <a:p>
            <a:pPr indent="0" marL="0">
              <a:buNone/>
            </a:pPr>
            <a:r>
              <a:rPr lang="en-US" sz="1300" dirty="0">
                <a:solidFill>
                  <a:schemeClr val="tx1"/>
                </a:solidFill>
              </a:rPr>
              <a:t>Più attenzione con esterni: clienti, fornitori, candidati</a:t>
            </a:r>
            <a:endParaRPr lang="en-US" sz="1300" dirty="0"/>
          </a:p>
        </p:txBody>
      </p:sp>
      <p:sp>
        <p:nvSpPr>
          <p:cNvPr id="19" name="voce 4"/>
          <p:cNvSpPr/>
          <p:nvPr/>
        </p:nvSpPr>
        <p:spPr>
          <a:xfrm>
            <a:off x="457200" y="2697480"/>
            <a:ext cx="8229600" cy="475488"/>
          </a:xfrm>
          <a:prstGeom prst="roundRect">
            <a:avLst>
              <a:gd name="adj" fmla="val 15385"/>
            </a:avLst>
          </a:prstGeom>
          <a:solidFill>
            <a:schemeClr val="bg1"/>
          </a:solidFill>
          <a:ln/>
        </p:spPr>
      </p:sp>
      <p:sp>
        <p:nvSpPr>
          <p:cNvPr id="20" name="Text 17"/>
          <p:cNvSpPr txBox="1"/>
          <p:nvPr/>
        </p:nvSpPr>
        <p:spPr>
          <a:xfrm>
            <a:off x="566928" y="2697480"/>
            <a:ext cx="365760" cy="475488"/>
          </a:xfrm>
          <a:prstGeom prst="rect">
            <a:avLst/>
          </a:prstGeom>
          <a:noFill/>
          <a:ln/>
        </p:spPr>
        <p:txBody>
          <a:bodyPr wrap="square" lIns="0" tIns="0" rIns="0" bIns="0" rtlCol="0" anchor="ctr"/>
          <a:lstStyle/>
          <a:p>
            <a:pPr indent="0" marL="0">
              <a:buNone/>
            </a:pPr>
            <a:r>
              <a:rPr lang="en-US" sz="1500" b="1" dirty="0">
                <a:solidFill>
                  <a:schemeClr val="accent1"/>
                </a:solidFill>
              </a:rPr>
              <a:t>4</a:t>
            </a:r>
            <a:endParaRPr lang="en-US" sz="1500" dirty="0"/>
          </a:p>
        </p:txBody>
      </p:sp>
      <p:sp>
        <p:nvSpPr>
          <p:cNvPr id="21" name="Text 18"/>
          <p:cNvSpPr txBox="1"/>
          <p:nvPr/>
        </p:nvSpPr>
        <p:spPr>
          <a:xfrm>
            <a:off x="960120" y="2697480"/>
            <a:ext cx="7589520" cy="475488"/>
          </a:xfrm>
          <a:prstGeom prst="rect">
            <a:avLst/>
          </a:prstGeom>
          <a:noFill/>
          <a:ln/>
        </p:spPr>
        <p:txBody>
          <a:bodyPr wrap="square" lIns="0" tIns="0" rIns="0" bIns="0" rtlCol="0" anchor="ctr"/>
          <a:lstStyle/>
          <a:p>
            <a:pPr indent="0" marL="0">
              <a:buNone/>
            </a:pPr>
            <a:r>
              <a:rPr lang="en-US" sz="1300" dirty="0">
                <a:solidFill>
                  <a:schemeClr val="tx1"/>
                </a:solidFill>
              </a:rPr>
              <a:t>Non registrare di nascosto</a:t>
            </a:r>
            <a:endParaRPr lang="en-US" sz="1300" dirty="0"/>
          </a:p>
        </p:txBody>
      </p:sp>
      <p:sp>
        <p:nvSpPr>
          <p:cNvPr id="22" name="voce 5"/>
          <p:cNvSpPr/>
          <p:nvPr/>
        </p:nvSpPr>
        <p:spPr>
          <a:xfrm>
            <a:off x="457200" y="3246120"/>
            <a:ext cx="8229600" cy="475488"/>
          </a:xfrm>
          <a:prstGeom prst="roundRect">
            <a:avLst>
              <a:gd name="adj" fmla="val 15385"/>
            </a:avLst>
          </a:prstGeom>
          <a:solidFill>
            <a:schemeClr val="bg2"/>
          </a:solidFill>
          <a:ln/>
        </p:spPr>
      </p:sp>
      <p:sp>
        <p:nvSpPr>
          <p:cNvPr id="23" name="Text 20"/>
          <p:cNvSpPr txBox="1"/>
          <p:nvPr/>
        </p:nvSpPr>
        <p:spPr>
          <a:xfrm>
            <a:off x="566928" y="3246120"/>
            <a:ext cx="365760" cy="475488"/>
          </a:xfrm>
          <a:prstGeom prst="rect">
            <a:avLst/>
          </a:prstGeom>
          <a:noFill/>
          <a:ln/>
        </p:spPr>
        <p:txBody>
          <a:bodyPr wrap="square" lIns="0" tIns="0" rIns="0" bIns="0" rtlCol="0" anchor="ctr"/>
          <a:lstStyle/>
          <a:p>
            <a:pPr indent="0" marL="0">
              <a:buNone/>
            </a:pPr>
            <a:r>
              <a:rPr lang="en-US" sz="1500" b="1" dirty="0">
                <a:solidFill>
                  <a:schemeClr val="accent1"/>
                </a:solidFill>
              </a:rPr>
              <a:t>5</a:t>
            </a:r>
            <a:endParaRPr lang="en-US" sz="1500" dirty="0"/>
          </a:p>
        </p:txBody>
      </p:sp>
      <p:sp>
        <p:nvSpPr>
          <p:cNvPr id="24" name="Text 21"/>
          <p:cNvSpPr txBox="1"/>
          <p:nvPr/>
        </p:nvSpPr>
        <p:spPr>
          <a:xfrm>
            <a:off x="960120" y="3246120"/>
            <a:ext cx="7589520" cy="475488"/>
          </a:xfrm>
          <a:prstGeom prst="rect">
            <a:avLst/>
          </a:prstGeom>
          <a:noFill/>
          <a:ln/>
        </p:spPr>
        <p:txBody>
          <a:bodyPr wrap="square" lIns="0" tIns="0" rIns="0" bIns="0" rtlCol="0" anchor="ctr"/>
          <a:lstStyle/>
          <a:p>
            <a:pPr indent="0" marL="0">
              <a:buNone/>
            </a:pPr>
            <a:r>
              <a:rPr lang="en-US" sz="1300" dirty="0">
                <a:solidFill>
                  <a:schemeClr val="tx1"/>
                </a:solidFill>
              </a:rPr>
              <a:t>Definire conservazione e accesso a registrazioni e trascrizioni</a:t>
            </a:r>
            <a:endParaRPr lang="en-US" sz="1300" dirty="0"/>
          </a:p>
        </p:txBody>
      </p:sp>
      <p:sp>
        <p:nvSpPr>
          <p:cNvPr id="25" name="messaggio"/>
          <p:cNvSpPr/>
          <p:nvPr/>
        </p:nvSpPr>
        <p:spPr>
          <a:xfrm>
            <a:off x="457200" y="3886200"/>
            <a:ext cx="8229600" cy="594360"/>
          </a:xfrm>
          <a:prstGeom prst="roundRect">
            <a:avLst>
              <a:gd name="adj" fmla="val 12308"/>
            </a:avLst>
          </a:prstGeom>
          <a:solidFill>
            <a:schemeClr val="tx1"/>
          </a:solidFill>
          <a:ln/>
        </p:spPr>
      </p:sp>
      <p:sp>
        <p:nvSpPr>
          <p:cNvPr id="26" name="Text 23"/>
          <p:cNvSpPr txBox="1"/>
          <p:nvPr/>
        </p:nvSpPr>
        <p:spPr>
          <a:xfrm>
            <a:off x="640080" y="3886200"/>
            <a:ext cx="7863840" cy="594360"/>
          </a:xfrm>
          <a:prstGeom prst="rect">
            <a:avLst/>
          </a:prstGeom>
          <a:noFill/>
          <a:ln/>
        </p:spPr>
        <p:txBody>
          <a:bodyPr wrap="square" lIns="0" tIns="0" rIns="0" bIns="0" rtlCol="0" anchor="ctr"/>
          <a:lstStyle/>
          <a:p>
            <a:pPr indent="0" marL="0">
              <a:buNone/>
            </a:pPr>
            <a:r>
              <a:rPr lang="en-US" sz="1300" dirty="0">
                <a:solidFill>
                  <a:schemeClr val="bg1"/>
                </a:solidFill>
              </a:rPr>
              <a:t>L'avviso automatico dello strumento è un punto di partenza, non sostituisce l'informazione esplicita.</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1"/>
          <p:cNvSpPr/>
          <p:nvPr>
            <p:ph idx="101" type="body" hasCustomPrompt="1"/>
          </p:nvPr>
        </p:nvSpPr>
        <p:spPr>
          <a:xfrm>
            <a:off x="822960" y="1600200"/>
            <a:ext cx="7498080" cy="2011680"/>
          </a:xfrm>
          <a:prstGeom prst="rect">
            <a:avLst/>
          </a:prstGeom>
          <a:noFill/>
          <a:ln/>
        </p:spPr>
        <p:txBody>
          <a:bodyPr wrap="square" lIns="0" tIns="0" rIns="0" bIns="0" rtlCol="0" anchor="t"/>
          <a:lstStyle/>
          <a:p>
            <a:pPr indent="0" marL="0">
              <a:buNone/>
            </a:pPr>
            <a:r>
              <a:rPr lang="en-US" sz="2600" dirty="0">
                <a:solidFill>
                  <a:schemeClr val="bg1"/>
                </a:solidFill>
              </a:rPr>
              <a:t>L'accessibilità può migliorare grazie alle tecnologie vocali, ma trascrizioni e traduzioni richiedono controlli adeguati di accuratezza e contesto.</a:t>
            </a:r>
            <a:endParaRPr lang="en-US" sz="2600" dirty="0"/>
          </a:p>
        </p:txBody>
      </p:sp>
      <p:sp>
        <p:nvSpPr>
          <p:cNvPr id="3" name="Text 1"/>
          <p:cNvSpPr/>
          <p:nvPr>
            <p:ph idx="102" type="body" hasCustomPrompt="1"/>
          </p:nvPr>
        </p:nvSpPr>
        <p:spPr>
          <a:xfrm>
            <a:off x="822960" y="3794760"/>
            <a:ext cx="7498080" cy="365760"/>
          </a:xfrm>
          <a:prstGeom prst="rect">
            <a:avLst/>
          </a:prstGeom>
          <a:noFill/>
          <a:ln/>
        </p:spPr>
        <p:txBody>
          <a:bodyPr wrap="square" lIns="0" tIns="0" rIns="0" bIns="0" rtlCol="0"/>
          <a:lstStyle/>
          <a:p>
            <a:pPr indent="0" marL="0">
              <a:buNone/>
            </a:pPr>
            <a:r>
              <a:rPr lang="en-US" sz="1300" dirty="0">
                <a:solidFill>
                  <a:schemeClr val="accent3"/>
                </a:solidFill>
              </a:rPr>
              <a:t>Sottotema 10.4  ·  AI per audio, voce e linguaggio parlato</a:t>
            </a:r>
            <a:endParaRPr lang="en-US" sz="13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body" hasCustomPrompt="1"/>
          </p:nvPr>
        </p:nvSpPr>
        <p:spPr>
          <a:xfrm>
            <a:off x="640080" y="914400"/>
            <a:ext cx="3657600" cy="1005840"/>
          </a:xfrm>
          <a:prstGeom prst="rect">
            <a:avLst/>
          </a:prstGeom>
          <a:noFill/>
          <a:ln/>
        </p:spPr>
        <p:txBody>
          <a:bodyPr wrap="square" lIns="0" tIns="0" rIns="0" bIns="0" rtlCol="0" anchor="b"/>
          <a:lstStyle/>
          <a:p>
            <a:pPr indent="0" marL="0">
              <a:buNone/>
            </a:pPr>
            <a:r>
              <a:rPr lang="en-US" sz="6000" b="1" dirty="0">
                <a:solidFill>
                  <a:schemeClr val="accent1"/>
                </a:solidFill>
              </a:rPr>
              <a:t>10.5</a:t>
            </a:r>
            <a:endParaRPr lang="en-US" sz="6000" dirty="0"/>
          </a:p>
        </p:txBody>
      </p:sp>
      <p:sp>
        <p:nvSpPr>
          <p:cNvPr id="3" name="Text 0"/>
          <p:cNvSpPr/>
          <p:nvPr>
            <p:ph idx="101" type="title" hasCustomPrompt="1"/>
          </p:nvPr>
        </p:nvSpPr>
        <p:spPr>
          <a:xfrm>
            <a:off x="640080" y="2057400"/>
            <a:ext cx="7863840" cy="914400"/>
          </a:xfrm>
          <a:prstGeom prst="rect">
            <a:avLst/>
          </a:prstGeom>
          <a:noFill/>
          <a:ln/>
        </p:spPr>
        <p:txBody>
          <a:bodyPr wrap="square" lIns="0" tIns="0" rIns="0" bIns="0" rtlCol="0" anchor="t"/>
          <a:lstStyle/>
          <a:p>
            <a:pPr algn="l" indent="0" marL="0">
              <a:buNone/>
            </a:pPr>
            <a:r>
              <a:rPr lang="en-US" sz="3200" b="1" dirty="0">
                <a:solidFill>
                  <a:schemeClr val="bg1"/>
                </a:solidFill>
              </a:rPr>
              <a:t>AI per comprensione e generazione video</a:t>
            </a:r>
            <a:endParaRPr lang="en-US" sz="3200" dirty="0"/>
          </a:p>
        </p:txBody>
      </p:sp>
      <p:sp>
        <p:nvSpPr>
          <p:cNvPr id="4" name="Text 0"/>
          <p:cNvSpPr/>
          <p:nvPr>
            <p:ph idx="102" type="body" hasCustomPrompt="1"/>
          </p:nvPr>
        </p:nvSpPr>
        <p:spPr>
          <a:xfrm>
            <a:off x="640080" y="3063240"/>
            <a:ext cx="7315200" cy="1097280"/>
          </a:xfrm>
          <a:prstGeom prst="rect">
            <a:avLst/>
          </a:prstGeom>
          <a:noFill/>
          <a:ln/>
        </p:spPr>
        <p:txBody>
          <a:bodyPr wrap="square" lIns="0" tIns="0" rIns="0" bIns="0" rtlCol="0" anchor="t"/>
          <a:lstStyle/>
          <a:p>
            <a:pPr indent="0" marL="0">
              <a:buNone/>
            </a:pPr>
            <a:r>
              <a:rPr lang="en-US" sz="1600" dirty="0">
                <a:solidFill>
                  <a:schemeClr val="accent3"/>
                </a:solidFill>
              </a:rPr>
              <a:t>Coerenza visiva e plausibilità di una sequenza non dimostrano che gli eventi siano realmente accaduti</a:t>
            </a:r>
            <a:endParaRPr lang="en-US"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Comprendere i video</a:t>
            </a:r>
            <a:endParaRPr lang="en-US" sz="2600" dirty="0"/>
          </a:p>
        </p:txBody>
      </p:sp>
      <p:sp>
        <p:nvSpPr>
          <p:cNvPr id="4" name="operazione Interpretare"/>
          <p:cNvSpPr/>
          <p:nvPr/>
        </p:nvSpPr>
        <p:spPr>
          <a:xfrm>
            <a:off x="6053328" y="384048"/>
            <a:ext cx="841248" cy="237744"/>
          </a:xfrm>
          <a:prstGeom prst="roundRect">
            <a:avLst>
              <a:gd name="adj" fmla="val 50000"/>
            </a:avLst>
          </a:prstGeom>
          <a:solidFill>
            <a:schemeClr val="accent1"/>
          </a:solidFill>
          <a:ln w="9525">
            <a:solidFill>
              <a:schemeClr val="accent1"/>
            </a:solidFill>
            <a:prstDash val="solid"/>
          </a:ln>
        </p:spPr>
      </p:sp>
      <p:sp>
        <p:nvSpPr>
          <p:cNvPr id="5" name="Text 2"/>
          <p:cNvSpPr txBox="1"/>
          <p:nvPr/>
        </p:nvSpPr>
        <p:spPr>
          <a:xfrm>
            <a:off x="6053328" y="384048"/>
            <a:ext cx="841248" cy="237744"/>
          </a:xfrm>
          <a:prstGeom prst="rect">
            <a:avLst/>
          </a:prstGeom>
          <a:noFill/>
          <a:ln/>
        </p:spPr>
        <p:txBody>
          <a:bodyPr wrap="square" lIns="0" tIns="0" rIns="0" bIns="0" rtlCol="0" anchor="ctr"/>
          <a:lstStyle/>
          <a:p>
            <a:pPr algn="ctr" indent="0" marL="0">
              <a:buNone/>
            </a:pPr>
            <a:r>
              <a:rPr lang="en-US" sz="900" b="1" dirty="0">
                <a:solidFill>
                  <a:schemeClr val="bg1"/>
                </a:solidFill>
              </a:rPr>
              <a:t>Interpretare</a:t>
            </a:r>
            <a:endParaRPr lang="en-US" sz="900" dirty="0"/>
          </a:p>
        </p:txBody>
      </p:sp>
      <p:sp>
        <p:nvSpPr>
          <p:cNvPr id="6" name="operazione Generare"/>
          <p:cNvSpPr/>
          <p:nvPr/>
        </p:nvSpPr>
        <p:spPr>
          <a:xfrm>
            <a:off x="6940296" y="384048"/>
            <a:ext cx="841248"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940296" y="384048"/>
            <a:ext cx="841248" cy="237744"/>
          </a:xfrm>
          <a:prstGeom prst="rect">
            <a:avLst/>
          </a:prstGeom>
          <a:noFill/>
          <a:ln/>
        </p:spPr>
        <p:txBody>
          <a:bodyPr wrap="square" lIns="0" tIns="0" rIns="0" bIns="0" rtlCol="0" anchor="ctr"/>
          <a:lstStyle/>
          <a:p>
            <a:pPr algn="ctr" indent="0" marL="0">
              <a:buNone/>
            </a:pPr>
            <a:r>
              <a:rPr lang="en-US" sz="900" b="1" dirty="0">
                <a:solidFill>
                  <a:schemeClr val="accent1"/>
                </a:solidFill>
              </a:rPr>
              <a:t>Generare</a:t>
            </a:r>
            <a:endParaRPr lang="en-US" sz="900" dirty="0"/>
          </a:p>
        </p:txBody>
      </p:sp>
      <p:sp>
        <p:nvSpPr>
          <p:cNvPr id="8" name="operazione Trasformare"/>
          <p:cNvSpPr/>
          <p:nvPr/>
        </p:nvSpPr>
        <p:spPr>
          <a:xfrm>
            <a:off x="7827264" y="384048"/>
            <a:ext cx="841248"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827264" y="384048"/>
            <a:ext cx="841248" cy="237744"/>
          </a:xfrm>
          <a:prstGeom prst="rect">
            <a:avLst/>
          </a:prstGeom>
          <a:noFill/>
          <a:ln/>
        </p:spPr>
        <p:txBody>
          <a:bodyPr wrap="square" lIns="0" tIns="0" rIns="0" bIns="0" rtlCol="0" anchor="ctr"/>
          <a:lstStyle/>
          <a:p>
            <a:pPr algn="ctr" indent="0" marL="0">
              <a:buNone/>
            </a:pPr>
            <a:r>
              <a:rPr lang="en-US" sz="900" b="1" dirty="0">
                <a:solidFill>
                  <a:schemeClr val="accent1"/>
                </a:solidFill>
              </a:rPr>
              <a:t>Trasformare</a:t>
            </a:r>
            <a:endParaRPr lang="en-US" sz="900" dirty="0"/>
          </a:p>
        </p:txBody>
      </p:sp>
      <p:sp>
        <p:nvSpPr>
          <p:cNvPr id="10" name="Descrivere"/>
          <p:cNvSpPr/>
          <p:nvPr/>
        </p:nvSpPr>
        <p:spPr>
          <a:xfrm>
            <a:off x="457200" y="1051560"/>
            <a:ext cx="4023360" cy="1005840"/>
          </a:xfrm>
          <a:prstGeom prst="roundRect">
            <a:avLst>
              <a:gd name="adj" fmla="val 7273"/>
            </a:avLst>
          </a:prstGeom>
          <a:solidFill>
            <a:schemeClr val="bg2"/>
          </a:solidFill>
          <a:ln/>
        </p:spPr>
      </p:sp>
      <p:sp>
        <p:nvSpPr>
          <p:cNvPr id="11" name="cerchio FiEye"/>
          <p:cNvSpPr/>
          <p:nvPr/>
        </p:nvSpPr>
        <p:spPr>
          <a:xfrm>
            <a:off x="621792" y="1216152"/>
            <a:ext cx="438912" cy="438912"/>
          </a:xfrm>
          <a:prstGeom prst="ellipse">
            <a:avLst/>
          </a:prstGeom>
          <a:solidFill>
            <a:schemeClr val="accent1"/>
          </a:solidFill>
          <a:ln/>
        </p:spPr>
      </p:sp>
      <p:pic>
        <p:nvPicPr>
          <p:cNvPr id="12" name="Image 0" descr="FiEye">    </p:cNvPr>
          <p:cNvPicPr>
            <a:picLocks noChangeAspect="1"/>
          </p:cNvPicPr>
          <p:nvPr/>
        </p:nvPicPr>
        <p:blipFill>
          <a:blip r:embed="rId1"/>
          <a:stretch>
            <a:fillRect/>
          </a:stretch>
        </p:blipFill>
        <p:spPr>
          <a:xfrm>
            <a:off x="731520" y="1325880"/>
            <a:ext cx="219456" cy="219456"/>
          </a:xfrm>
          <a:prstGeom prst="rect">
            <a:avLst/>
          </a:prstGeom>
        </p:spPr>
      </p:pic>
      <p:sp>
        <p:nvSpPr>
          <p:cNvPr id="13" name="Text 9"/>
          <p:cNvSpPr txBox="1"/>
          <p:nvPr/>
        </p:nvSpPr>
        <p:spPr>
          <a:xfrm>
            <a:off x="1170432" y="1179576"/>
            <a:ext cx="3200400" cy="512064"/>
          </a:xfrm>
          <a:prstGeom prst="rect">
            <a:avLst/>
          </a:prstGeom>
          <a:noFill/>
          <a:ln/>
        </p:spPr>
        <p:txBody>
          <a:bodyPr wrap="square" lIns="0" tIns="0" rIns="0" bIns="0" rtlCol="0" anchor="ctr"/>
          <a:lstStyle/>
          <a:p>
            <a:pPr indent="0" marL="0">
              <a:buNone/>
            </a:pPr>
            <a:r>
              <a:rPr lang="en-US" sz="1400" b="1" dirty="0">
                <a:solidFill>
                  <a:schemeClr val="tx1"/>
                </a:solidFill>
              </a:rPr>
              <a:t>Descrivere</a:t>
            </a:r>
            <a:endParaRPr lang="en-US" sz="1400" dirty="0"/>
          </a:p>
        </p:txBody>
      </p:sp>
      <p:sp>
        <p:nvSpPr>
          <p:cNvPr id="14" name="Text 10"/>
          <p:cNvSpPr txBox="1"/>
          <p:nvPr/>
        </p:nvSpPr>
        <p:spPr>
          <a:xfrm>
            <a:off x="621792" y="1764792"/>
            <a:ext cx="3694176" cy="201168"/>
          </a:xfrm>
          <a:prstGeom prst="rect">
            <a:avLst/>
          </a:prstGeom>
          <a:noFill/>
          <a:ln/>
        </p:spPr>
        <p:txBody>
          <a:bodyPr wrap="square" lIns="0" tIns="0" rIns="0" bIns="0" rtlCol="0" anchor="t"/>
          <a:lstStyle/>
          <a:p>
            <a:pPr indent="0" marL="0">
              <a:buNone/>
            </a:pPr>
            <a:r>
              <a:rPr lang="en-US" sz="1200" dirty="0">
                <a:solidFill>
                  <a:schemeClr val="tx2"/>
                </a:solidFill>
              </a:rPr>
              <a:t>Che cosa succede, chi compare, dove</a:t>
            </a:r>
            <a:endParaRPr lang="en-US" sz="1200" dirty="0"/>
          </a:p>
        </p:txBody>
      </p:sp>
      <p:sp>
        <p:nvSpPr>
          <p:cNvPr id="15" name="Individuare eventi"/>
          <p:cNvSpPr/>
          <p:nvPr/>
        </p:nvSpPr>
        <p:spPr>
          <a:xfrm>
            <a:off x="4663440" y="1051560"/>
            <a:ext cx="4023360" cy="1005840"/>
          </a:xfrm>
          <a:prstGeom prst="roundRect">
            <a:avLst>
              <a:gd name="adj" fmla="val 7273"/>
            </a:avLst>
          </a:prstGeom>
          <a:solidFill>
            <a:schemeClr val="bg2"/>
          </a:solidFill>
          <a:ln/>
        </p:spPr>
      </p:sp>
      <p:sp>
        <p:nvSpPr>
          <p:cNvPr id="16" name="cerchio FiClock"/>
          <p:cNvSpPr/>
          <p:nvPr/>
        </p:nvSpPr>
        <p:spPr>
          <a:xfrm>
            <a:off x="4828032" y="1216152"/>
            <a:ext cx="438912" cy="438912"/>
          </a:xfrm>
          <a:prstGeom prst="ellipse">
            <a:avLst/>
          </a:prstGeom>
          <a:solidFill>
            <a:schemeClr val="accent1"/>
          </a:solidFill>
          <a:ln/>
        </p:spPr>
      </p:sp>
      <p:pic>
        <p:nvPicPr>
          <p:cNvPr id="17" name="Image 1" descr="FiClock">    </p:cNvPr>
          <p:cNvPicPr>
            <a:picLocks noChangeAspect="1"/>
          </p:cNvPicPr>
          <p:nvPr/>
        </p:nvPicPr>
        <p:blipFill>
          <a:blip r:embed="rId2"/>
          <a:stretch>
            <a:fillRect/>
          </a:stretch>
        </p:blipFill>
        <p:spPr>
          <a:xfrm>
            <a:off x="4937760" y="1325880"/>
            <a:ext cx="219456" cy="219456"/>
          </a:xfrm>
          <a:prstGeom prst="rect">
            <a:avLst/>
          </a:prstGeom>
        </p:spPr>
      </p:pic>
      <p:sp>
        <p:nvSpPr>
          <p:cNvPr id="18" name="Text 13"/>
          <p:cNvSpPr txBox="1"/>
          <p:nvPr/>
        </p:nvSpPr>
        <p:spPr>
          <a:xfrm>
            <a:off x="5376672" y="1179576"/>
            <a:ext cx="3200400" cy="512064"/>
          </a:xfrm>
          <a:prstGeom prst="rect">
            <a:avLst/>
          </a:prstGeom>
          <a:noFill/>
          <a:ln/>
        </p:spPr>
        <p:txBody>
          <a:bodyPr wrap="square" lIns="0" tIns="0" rIns="0" bIns="0" rtlCol="0" anchor="ctr"/>
          <a:lstStyle/>
          <a:p>
            <a:pPr indent="0" marL="0">
              <a:buNone/>
            </a:pPr>
            <a:r>
              <a:rPr lang="en-US" sz="1400" b="1" dirty="0">
                <a:solidFill>
                  <a:schemeClr val="tx1"/>
                </a:solidFill>
              </a:rPr>
              <a:t>Individuare eventi</a:t>
            </a:r>
            <a:endParaRPr lang="en-US" sz="1400" dirty="0"/>
          </a:p>
        </p:txBody>
      </p:sp>
      <p:sp>
        <p:nvSpPr>
          <p:cNvPr id="19" name="Text 14"/>
          <p:cNvSpPr txBox="1"/>
          <p:nvPr/>
        </p:nvSpPr>
        <p:spPr>
          <a:xfrm>
            <a:off x="4828032" y="1764792"/>
            <a:ext cx="3694176" cy="201168"/>
          </a:xfrm>
          <a:prstGeom prst="rect">
            <a:avLst/>
          </a:prstGeom>
          <a:noFill/>
          <a:ln/>
        </p:spPr>
        <p:txBody>
          <a:bodyPr wrap="square" lIns="0" tIns="0" rIns="0" bIns="0" rtlCol="0" anchor="t"/>
          <a:lstStyle/>
          <a:p>
            <a:pPr indent="0" marL="0">
              <a:buNone/>
            </a:pPr>
            <a:r>
              <a:rPr lang="en-US" sz="1200" dirty="0">
                <a:solidFill>
                  <a:schemeClr val="tx2"/>
                </a:solidFill>
              </a:rPr>
              <a:t>Quando succede, dove si parla di un tema</a:t>
            </a:r>
            <a:endParaRPr lang="en-US" sz="1200" dirty="0"/>
          </a:p>
        </p:txBody>
      </p:sp>
      <p:sp>
        <p:nvSpPr>
          <p:cNvPr id="20" name="Riassumere"/>
          <p:cNvSpPr/>
          <p:nvPr/>
        </p:nvSpPr>
        <p:spPr>
          <a:xfrm>
            <a:off x="457200" y="2240280"/>
            <a:ext cx="4023360" cy="1005840"/>
          </a:xfrm>
          <a:prstGeom prst="roundRect">
            <a:avLst>
              <a:gd name="adj" fmla="val 7273"/>
            </a:avLst>
          </a:prstGeom>
          <a:solidFill>
            <a:schemeClr val="bg2"/>
          </a:solidFill>
          <a:ln/>
        </p:spPr>
      </p:sp>
      <p:sp>
        <p:nvSpPr>
          <p:cNvPr id="21" name="cerchio FiAlignLeft"/>
          <p:cNvSpPr/>
          <p:nvPr/>
        </p:nvSpPr>
        <p:spPr>
          <a:xfrm>
            <a:off x="621792" y="2404872"/>
            <a:ext cx="438912" cy="438912"/>
          </a:xfrm>
          <a:prstGeom prst="ellipse">
            <a:avLst/>
          </a:prstGeom>
          <a:solidFill>
            <a:schemeClr val="accent1"/>
          </a:solidFill>
          <a:ln/>
        </p:spPr>
      </p:sp>
      <p:pic>
        <p:nvPicPr>
          <p:cNvPr id="22" name="Image 2" descr="FiAlignLeft">    </p:cNvPr>
          <p:cNvPicPr>
            <a:picLocks noChangeAspect="1"/>
          </p:cNvPicPr>
          <p:nvPr/>
        </p:nvPicPr>
        <p:blipFill>
          <a:blip r:embed="rId3"/>
          <a:stretch>
            <a:fillRect/>
          </a:stretch>
        </p:blipFill>
        <p:spPr>
          <a:xfrm>
            <a:off x="731520" y="2514600"/>
            <a:ext cx="219456" cy="219456"/>
          </a:xfrm>
          <a:prstGeom prst="rect">
            <a:avLst/>
          </a:prstGeom>
        </p:spPr>
      </p:pic>
      <p:sp>
        <p:nvSpPr>
          <p:cNvPr id="23" name="Text 17"/>
          <p:cNvSpPr txBox="1"/>
          <p:nvPr/>
        </p:nvSpPr>
        <p:spPr>
          <a:xfrm>
            <a:off x="1170432" y="2368296"/>
            <a:ext cx="3200400" cy="512064"/>
          </a:xfrm>
          <a:prstGeom prst="rect">
            <a:avLst/>
          </a:prstGeom>
          <a:noFill/>
          <a:ln/>
        </p:spPr>
        <p:txBody>
          <a:bodyPr wrap="square" lIns="0" tIns="0" rIns="0" bIns="0" rtlCol="0" anchor="ctr"/>
          <a:lstStyle/>
          <a:p>
            <a:pPr indent="0" marL="0">
              <a:buNone/>
            </a:pPr>
            <a:r>
              <a:rPr lang="en-US" sz="1400" b="1" dirty="0">
                <a:solidFill>
                  <a:schemeClr val="tx1"/>
                </a:solidFill>
              </a:rPr>
              <a:t>Riassumere</a:t>
            </a:r>
            <a:endParaRPr lang="en-US" sz="1400" dirty="0"/>
          </a:p>
        </p:txBody>
      </p:sp>
      <p:sp>
        <p:nvSpPr>
          <p:cNvPr id="24" name="Text 18"/>
          <p:cNvSpPr txBox="1"/>
          <p:nvPr/>
        </p:nvSpPr>
        <p:spPr>
          <a:xfrm>
            <a:off x="621792" y="2953512"/>
            <a:ext cx="3694176" cy="201168"/>
          </a:xfrm>
          <a:prstGeom prst="rect">
            <a:avLst/>
          </a:prstGeom>
          <a:noFill/>
          <a:ln/>
        </p:spPr>
        <p:txBody>
          <a:bodyPr wrap="square" lIns="0" tIns="0" rIns="0" bIns="0" rtlCol="0" anchor="t"/>
          <a:lstStyle/>
          <a:p>
            <a:pPr indent="0" marL="0">
              <a:buNone/>
            </a:pPr>
            <a:r>
              <a:rPr lang="en-US" sz="1200" dirty="0">
                <a:solidFill>
                  <a:schemeClr val="tx2"/>
                </a:solidFill>
              </a:rPr>
              <a:t>Webinar, lezioni, presentazioni</a:t>
            </a:r>
            <a:endParaRPr lang="en-US" sz="1200" dirty="0"/>
          </a:p>
        </p:txBody>
      </p:sp>
      <p:sp>
        <p:nvSpPr>
          <p:cNvPr id="25" name="Estrarre"/>
          <p:cNvSpPr/>
          <p:nvPr/>
        </p:nvSpPr>
        <p:spPr>
          <a:xfrm>
            <a:off x="4663440" y="2240280"/>
            <a:ext cx="4023360" cy="1005840"/>
          </a:xfrm>
          <a:prstGeom prst="roundRect">
            <a:avLst>
              <a:gd name="adj" fmla="val 7273"/>
            </a:avLst>
          </a:prstGeom>
          <a:solidFill>
            <a:schemeClr val="bg2"/>
          </a:solidFill>
          <a:ln/>
        </p:spPr>
      </p:sp>
      <p:sp>
        <p:nvSpPr>
          <p:cNvPr id="26" name="cerchio FiList"/>
          <p:cNvSpPr/>
          <p:nvPr/>
        </p:nvSpPr>
        <p:spPr>
          <a:xfrm>
            <a:off x="4828032" y="2404872"/>
            <a:ext cx="438912" cy="438912"/>
          </a:xfrm>
          <a:prstGeom prst="ellipse">
            <a:avLst/>
          </a:prstGeom>
          <a:solidFill>
            <a:schemeClr val="accent1"/>
          </a:solidFill>
          <a:ln/>
        </p:spPr>
      </p:sp>
      <p:pic>
        <p:nvPicPr>
          <p:cNvPr id="27" name="Image 3" descr="FiList">    </p:cNvPr>
          <p:cNvPicPr>
            <a:picLocks noChangeAspect="1"/>
          </p:cNvPicPr>
          <p:nvPr/>
        </p:nvPicPr>
        <p:blipFill>
          <a:blip r:embed="rId4"/>
          <a:stretch>
            <a:fillRect/>
          </a:stretch>
        </p:blipFill>
        <p:spPr>
          <a:xfrm>
            <a:off x="4937760" y="2514600"/>
            <a:ext cx="219456" cy="219456"/>
          </a:xfrm>
          <a:prstGeom prst="rect">
            <a:avLst/>
          </a:prstGeom>
        </p:spPr>
      </p:pic>
      <p:sp>
        <p:nvSpPr>
          <p:cNvPr id="28" name="Text 21"/>
          <p:cNvSpPr txBox="1"/>
          <p:nvPr/>
        </p:nvSpPr>
        <p:spPr>
          <a:xfrm>
            <a:off x="5376672" y="2368296"/>
            <a:ext cx="3200400" cy="512064"/>
          </a:xfrm>
          <a:prstGeom prst="rect">
            <a:avLst/>
          </a:prstGeom>
          <a:noFill/>
          <a:ln/>
        </p:spPr>
        <p:txBody>
          <a:bodyPr wrap="square" lIns="0" tIns="0" rIns="0" bIns="0" rtlCol="0" anchor="ctr"/>
          <a:lstStyle/>
          <a:p>
            <a:pPr indent="0" marL="0">
              <a:buNone/>
            </a:pPr>
            <a:r>
              <a:rPr lang="en-US" sz="1400" b="1" dirty="0">
                <a:solidFill>
                  <a:schemeClr val="tx1"/>
                </a:solidFill>
              </a:rPr>
              <a:t>Estrarre</a:t>
            </a:r>
            <a:endParaRPr lang="en-US" sz="1400" dirty="0"/>
          </a:p>
        </p:txBody>
      </p:sp>
      <p:sp>
        <p:nvSpPr>
          <p:cNvPr id="29" name="Text 22"/>
          <p:cNvSpPr txBox="1"/>
          <p:nvPr/>
        </p:nvSpPr>
        <p:spPr>
          <a:xfrm>
            <a:off x="4828032" y="2953512"/>
            <a:ext cx="3694176" cy="201168"/>
          </a:xfrm>
          <a:prstGeom prst="rect">
            <a:avLst/>
          </a:prstGeom>
          <a:noFill/>
          <a:ln/>
        </p:spPr>
        <p:txBody>
          <a:bodyPr wrap="square" lIns="0" tIns="0" rIns="0" bIns="0" rtlCol="0" anchor="t"/>
          <a:lstStyle/>
          <a:p>
            <a:pPr indent="0" marL="0">
              <a:buNone/>
            </a:pPr>
            <a:r>
              <a:rPr lang="en-US" sz="1200" dirty="0">
                <a:solidFill>
                  <a:schemeClr val="tx2"/>
                </a:solidFill>
              </a:rPr>
              <a:t>Testi a schermo, slide, passaggi di una procedura</a:t>
            </a:r>
            <a:endParaRPr lang="en-US" sz="1200" dirty="0"/>
          </a:p>
        </p:txBody>
      </p:sp>
      <p:sp>
        <p:nvSpPr>
          <p:cNvPr id="30" name="scheda Fotogrammi campionati"/>
          <p:cNvSpPr/>
          <p:nvPr/>
        </p:nvSpPr>
        <p:spPr>
          <a:xfrm>
            <a:off x="457200" y="3429000"/>
            <a:ext cx="3977640" cy="1097280"/>
          </a:xfrm>
          <a:prstGeom prst="roundRect">
            <a:avLst>
              <a:gd name="adj" fmla="val 6667"/>
            </a:avLst>
          </a:prstGeom>
          <a:solidFill>
            <a:schemeClr val="bg2"/>
          </a:solidFill>
          <a:ln/>
        </p:spPr>
      </p:sp>
      <p:sp>
        <p:nvSpPr>
          <p:cNvPr id="31" name="Text 24"/>
          <p:cNvSpPr txBox="1"/>
          <p:nvPr/>
        </p:nvSpPr>
        <p:spPr>
          <a:xfrm>
            <a:off x="640080" y="3611880"/>
            <a:ext cx="3611880" cy="347472"/>
          </a:xfrm>
          <a:prstGeom prst="rect">
            <a:avLst/>
          </a:prstGeom>
          <a:noFill/>
          <a:ln/>
        </p:spPr>
        <p:txBody>
          <a:bodyPr wrap="square" lIns="0" tIns="0" rIns="0" bIns="0" rtlCol="0" anchor="t"/>
          <a:lstStyle/>
          <a:p>
            <a:pPr indent="0" marL="0">
              <a:buNone/>
            </a:pPr>
            <a:r>
              <a:rPr lang="en-US" sz="1300" b="1" dirty="0">
                <a:solidFill>
                  <a:schemeClr val="tx1"/>
                </a:solidFill>
              </a:rPr>
              <a:t>Fotogrammi campionati</a:t>
            </a:r>
            <a:endParaRPr lang="en-US" sz="1300" dirty="0"/>
          </a:p>
        </p:txBody>
      </p:sp>
      <p:sp>
        <p:nvSpPr>
          <p:cNvPr id="32" name="Text 25"/>
          <p:cNvSpPr txBox="1"/>
          <p:nvPr/>
        </p:nvSpPr>
        <p:spPr>
          <a:xfrm>
            <a:off x="640080" y="3995928"/>
            <a:ext cx="3611880" cy="420624"/>
          </a:xfrm>
          <a:prstGeom prst="rect">
            <a:avLst/>
          </a:prstGeom>
          <a:noFill/>
          <a:ln/>
        </p:spPr>
        <p:txBody>
          <a:bodyPr wrap="square" lIns="0" tIns="0" rIns="0" bIns="0" rtlCol="0" anchor="t"/>
          <a:lstStyle/>
          <a:p>
            <a:pPr indent="0" marL="0">
              <a:buNone/>
            </a:pPr>
            <a:r>
              <a:rPr lang="en-US" sz="1200" dirty="0">
                <a:solidFill>
                  <a:schemeClr val="tx2"/>
                </a:solidFill>
              </a:rPr>
              <a:t>Un evento rapido tra due campioni può sfuggire.</a:t>
            </a:r>
            <a:endParaRPr lang="en-US" sz="1200" dirty="0"/>
          </a:p>
        </p:txBody>
      </p:sp>
      <p:sp>
        <p:nvSpPr>
          <p:cNvPr id="33" name="scheda Relazioni temporali"/>
          <p:cNvSpPr/>
          <p:nvPr/>
        </p:nvSpPr>
        <p:spPr>
          <a:xfrm>
            <a:off x="4709160" y="3429000"/>
            <a:ext cx="3977640" cy="1097280"/>
          </a:xfrm>
          <a:prstGeom prst="roundRect">
            <a:avLst>
              <a:gd name="adj" fmla="val 6667"/>
            </a:avLst>
          </a:prstGeom>
          <a:solidFill>
            <a:schemeClr val="accent6"/>
          </a:solidFill>
          <a:ln/>
        </p:spPr>
      </p:sp>
      <p:sp>
        <p:nvSpPr>
          <p:cNvPr id="34" name="Text 27"/>
          <p:cNvSpPr txBox="1"/>
          <p:nvPr/>
        </p:nvSpPr>
        <p:spPr>
          <a:xfrm>
            <a:off x="4892040" y="3611880"/>
            <a:ext cx="3611880" cy="347472"/>
          </a:xfrm>
          <a:prstGeom prst="rect">
            <a:avLst/>
          </a:prstGeom>
          <a:noFill/>
          <a:ln/>
        </p:spPr>
        <p:txBody>
          <a:bodyPr wrap="square" lIns="0" tIns="0" rIns="0" bIns="0" rtlCol="0" anchor="t"/>
          <a:lstStyle/>
          <a:p>
            <a:pPr indent="0" marL="0">
              <a:buNone/>
            </a:pPr>
            <a:r>
              <a:rPr lang="en-US" sz="1300" b="1" dirty="0">
                <a:solidFill>
                  <a:schemeClr val="tx1"/>
                </a:solidFill>
              </a:rPr>
              <a:t>Relazioni temporali</a:t>
            </a:r>
            <a:endParaRPr lang="en-US" sz="1300" dirty="0"/>
          </a:p>
        </p:txBody>
      </p:sp>
      <p:sp>
        <p:nvSpPr>
          <p:cNvPr id="35" name="Text 28"/>
          <p:cNvSpPr txBox="1"/>
          <p:nvPr/>
        </p:nvSpPr>
        <p:spPr>
          <a:xfrm>
            <a:off x="4892040" y="3995928"/>
            <a:ext cx="3611880" cy="420624"/>
          </a:xfrm>
          <a:prstGeom prst="rect">
            <a:avLst/>
          </a:prstGeom>
          <a:noFill/>
          <a:ln/>
        </p:spPr>
        <p:txBody>
          <a:bodyPr wrap="square" lIns="0" tIns="0" rIns="0" bIns="0" rtlCol="0" anchor="t"/>
          <a:lstStyle/>
          <a:p>
            <a:pPr indent="0" marL="0">
              <a:buNone/>
            </a:pPr>
            <a:r>
              <a:rPr lang="en-US" sz="1200" dirty="0">
                <a:solidFill>
                  <a:schemeClr val="tx2"/>
                </a:solidFill>
              </a:rPr>
              <a:t>Prima, dopo, durata: errori frequenti.</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Generare e modificare video</a:t>
            </a:r>
            <a:endParaRPr lang="en-US" sz="2600" dirty="0"/>
          </a:p>
        </p:txBody>
      </p:sp>
      <p:sp>
        <p:nvSpPr>
          <p:cNvPr id="4" name="operazione Interpretare"/>
          <p:cNvSpPr/>
          <p:nvPr/>
        </p:nvSpPr>
        <p:spPr>
          <a:xfrm>
            <a:off x="6053328" y="384048"/>
            <a:ext cx="841248"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6053328" y="384048"/>
            <a:ext cx="841248" cy="237744"/>
          </a:xfrm>
          <a:prstGeom prst="rect">
            <a:avLst/>
          </a:prstGeom>
          <a:noFill/>
          <a:ln/>
        </p:spPr>
        <p:txBody>
          <a:bodyPr wrap="square" lIns="0" tIns="0" rIns="0" bIns="0" rtlCol="0" anchor="ctr"/>
          <a:lstStyle/>
          <a:p>
            <a:pPr algn="ctr" indent="0" marL="0">
              <a:buNone/>
            </a:pPr>
            <a:r>
              <a:rPr lang="en-US" sz="900" b="1" dirty="0">
                <a:solidFill>
                  <a:schemeClr val="accent1"/>
                </a:solidFill>
              </a:rPr>
              <a:t>Interpretare</a:t>
            </a:r>
            <a:endParaRPr lang="en-US" sz="900" dirty="0"/>
          </a:p>
        </p:txBody>
      </p:sp>
      <p:sp>
        <p:nvSpPr>
          <p:cNvPr id="6" name="operazione Generare"/>
          <p:cNvSpPr/>
          <p:nvPr/>
        </p:nvSpPr>
        <p:spPr>
          <a:xfrm>
            <a:off x="6940296" y="384048"/>
            <a:ext cx="841248"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940296" y="384048"/>
            <a:ext cx="841248" cy="237744"/>
          </a:xfrm>
          <a:prstGeom prst="rect">
            <a:avLst/>
          </a:prstGeom>
          <a:noFill/>
          <a:ln/>
        </p:spPr>
        <p:txBody>
          <a:bodyPr wrap="square" lIns="0" tIns="0" rIns="0" bIns="0" rtlCol="0" anchor="ctr"/>
          <a:lstStyle/>
          <a:p>
            <a:pPr algn="ctr" indent="0" marL="0">
              <a:buNone/>
            </a:pPr>
            <a:r>
              <a:rPr lang="en-US" sz="900" b="1" dirty="0">
                <a:solidFill>
                  <a:schemeClr val="bg1"/>
                </a:solidFill>
              </a:rPr>
              <a:t>Generare</a:t>
            </a:r>
            <a:endParaRPr lang="en-US" sz="900" dirty="0"/>
          </a:p>
        </p:txBody>
      </p:sp>
      <p:sp>
        <p:nvSpPr>
          <p:cNvPr id="8" name="operazione Trasformare"/>
          <p:cNvSpPr/>
          <p:nvPr/>
        </p:nvSpPr>
        <p:spPr>
          <a:xfrm>
            <a:off x="7827264" y="384048"/>
            <a:ext cx="841248"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7827264" y="384048"/>
            <a:ext cx="841248" cy="237744"/>
          </a:xfrm>
          <a:prstGeom prst="rect">
            <a:avLst/>
          </a:prstGeom>
          <a:noFill/>
          <a:ln/>
        </p:spPr>
        <p:txBody>
          <a:bodyPr wrap="square" lIns="0" tIns="0" rIns="0" bIns="0" rtlCol="0" anchor="ctr"/>
          <a:lstStyle/>
          <a:p>
            <a:pPr algn="ctr" indent="0" marL="0">
              <a:buNone/>
            </a:pPr>
            <a:r>
              <a:rPr lang="en-US" sz="900" b="1" dirty="0">
                <a:solidFill>
                  <a:schemeClr val="bg1"/>
                </a:solidFill>
              </a:rPr>
              <a:t>Trasformare</a:t>
            </a:r>
            <a:endParaRPr lang="en-US" sz="900" dirty="0"/>
          </a:p>
        </p:txBody>
      </p:sp>
      <p:sp>
        <p:nvSpPr>
          <p:cNvPr id="10" name="scheda Che cosa si può fare"/>
          <p:cNvSpPr/>
          <p:nvPr/>
        </p:nvSpPr>
        <p:spPr>
          <a:xfrm>
            <a:off x="457200" y="1097280"/>
            <a:ext cx="3977640" cy="2240280"/>
          </a:xfrm>
          <a:prstGeom prst="roundRect">
            <a:avLst>
              <a:gd name="adj" fmla="val 3265"/>
            </a:avLst>
          </a:prstGeom>
          <a:solidFill>
            <a:schemeClr val="bg2"/>
          </a:solidFill>
          <a:ln/>
        </p:spPr>
      </p:sp>
      <p:sp>
        <p:nvSpPr>
          <p:cNvPr id="11" name="cerchio FiFilm"/>
          <p:cNvSpPr/>
          <p:nvPr/>
        </p:nvSpPr>
        <p:spPr>
          <a:xfrm>
            <a:off x="640080" y="1280160"/>
            <a:ext cx="457200" cy="457200"/>
          </a:xfrm>
          <a:prstGeom prst="ellipse">
            <a:avLst/>
          </a:prstGeom>
          <a:solidFill>
            <a:schemeClr val="accent1"/>
          </a:solidFill>
          <a:ln/>
        </p:spPr>
      </p:sp>
      <p:pic>
        <p:nvPicPr>
          <p:cNvPr id="12" name="Image 0" descr="FiFilm">    </p:cNvPr>
          <p:cNvPicPr>
            <a:picLocks noChangeAspect="1"/>
          </p:cNvPicPr>
          <p:nvPr/>
        </p:nvPicPr>
        <p:blipFill>
          <a:blip r:embed="rId1"/>
          <a:stretch>
            <a:fillRect/>
          </a:stretch>
        </p:blipFill>
        <p:spPr>
          <a:xfrm>
            <a:off x="754380" y="1394460"/>
            <a:ext cx="228600" cy="228600"/>
          </a:xfrm>
          <a:prstGeom prst="rect">
            <a:avLst/>
          </a:prstGeom>
        </p:spPr>
      </p:pic>
      <p:sp>
        <p:nvSpPr>
          <p:cNvPr id="13" name="Text 9"/>
          <p:cNvSpPr txBox="1"/>
          <p:nvPr/>
        </p:nvSpPr>
        <p:spPr>
          <a:xfrm>
            <a:off x="640080" y="1847088"/>
            <a:ext cx="3611880" cy="347472"/>
          </a:xfrm>
          <a:prstGeom prst="rect">
            <a:avLst/>
          </a:prstGeom>
          <a:noFill/>
          <a:ln/>
        </p:spPr>
        <p:txBody>
          <a:bodyPr wrap="square" lIns="0" tIns="0" rIns="0" bIns="0" rtlCol="0" anchor="t"/>
          <a:lstStyle/>
          <a:p>
            <a:pPr indent="0" marL="0">
              <a:buNone/>
            </a:pPr>
            <a:r>
              <a:rPr lang="en-US" sz="1500" b="1" dirty="0">
                <a:solidFill>
                  <a:schemeClr val="tx1"/>
                </a:solidFill>
              </a:rPr>
              <a:t>Che cosa si può fare</a:t>
            </a:r>
            <a:endParaRPr lang="en-US" sz="1500" dirty="0"/>
          </a:p>
        </p:txBody>
      </p:sp>
      <p:sp>
        <p:nvSpPr>
          <p:cNvPr id="14" name="Text 10"/>
          <p:cNvSpPr txBox="1"/>
          <p:nvPr/>
        </p:nvSpPr>
        <p:spPr>
          <a:xfrm>
            <a:off x="640080" y="2231136"/>
            <a:ext cx="3611880" cy="996696"/>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chemeClr val="tx2"/>
                </a:solidFill>
              </a:rPr>
              <a:t>Brevi video da testo o da immagini</a:t>
            </a:r>
            <a:endParaRPr lang="en-US" sz="1200" dirty="0"/>
          </a:p>
          <a:p>
            <a:pPr marL="177800" indent="-177800">
              <a:spcAft>
                <a:spcPts val="500"/>
              </a:spcAft>
              <a:buSzPct val="100000"/>
              <a:buChar char="•"/>
            </a:pPr>
            <a:r>
              <a:rPr lang="en-US" sz="1200" dirty="0">
                <a:solidFill>
                  <a:schemeClr val="tx2"/>
                </a:solidFill>
              </a:rPr>
              <a:t>Animazioni e presentatori virtuali</a:t>
            </a:r>
            <a:endParaRPr lang="en-US" sz="1200" dirty="0"/>
          </a:p>
          <a:p>
            <a:pPr marL="177800" indent="-177800">
              <a:spcAft>
                <a:spcPts val="500"/>
              </a:spcAft>
              <a:buSzPct val="100000"/>
              <a:buChar char="•"/>
            </a:pPr>
            <a:r>
              <a:rPr lang="en-US" sz="1200" dirty="0">
                <a:solidFill>
                  <a:schemeClr val="tx2"/>
                </a:solidFill>
              </a:rPr>
              <a:t>Modifiche: sfondi, elementi, doppiaggio con labiale</a:t>
            </a:r>
            <a:endParaRPr lang="en-US" sz="1200" dirty="0"/>
          </a:p>
        </p:txBody>
      </p:sp>
      <p:sp>
        <p:nvSpPr>
          <p:cNvPr id="15" name="scheda Opportunità"/>
          <p:cNvSpPr/>
          <p:nvPr/>
        </p:nvSpPr>
        <p:spPr>
          <a:xfrm>
            <a:off x="4709160" y="1097280"/>
            <a:ext cx="3977640" cy="2240280"/>
          </a:xfrm>
          <a:prstGeom prst="roundRect">
            <a:avLst>
              <a:gd name="adj" fmla="val 3265"/>
            </a:avLst>
          </a:prstGeom>
          <a:solidFill>
            <a:schemeClr val="accent6"/>
          </a:solidFill>
          <a:ln/>
        </p:spPr>
      </p:sp>
      <p:sp>
        <p:nvSpPr>
          <p:cNvPr id="16" name="cerchio FiBookOpen"/>
          <p:cNvSpPr/>
          <p:nvPr/>
        </p:nvSpPr>
        <p:spPr>
          <a:xfrm>
            <a:off x="4892040" y="1280160"/>
            <a:ext cx="457200" cy="457200"/>
          </a:xfrm>
          <a:prstGeom prst="ellipse">
            <a:avLst/>
          </a:prstGeom>
          <a:solidFill>
            <a:schemeClr val="accent1"/>
          </a:solidFill>
          <a:ln/>
        </p:spPr>
      </p:sp>
      <p:pic>
        <p:nvPicPr>
          <p:cNvPr id="17" name="Image 1" descr="FiBookOpen">    </p:cNvPr>
          <p:cNvPicPr>
            <a:picLocks noChangeAspect="1"/>
          </p:cNvPicPr>
          <p:nvPr/>
        </p:nvPicPr>
        <p:blipFill>
          <a:blip r:embed="rId2"/>
          <a:stretch>
            <a:fillRect/>
          </a:stretch>
        </p:blipFill>
        <p:spPr>
          <a:xfrm>
            <a:off x="5006340" y="1394460"/>
            <a:ext cx="228600" cy="228600"/>
          </a:xfrm>
          <a:prstGeom prst="rect">
            <a:avLst/>
          </a:prstGeom>
        </p:spPr>
      </p:pic>
      <p:sp>
        <p:nvSpPr>
          <p:cNvPr id="18" name="Text 13"/>
          <p:cNvSpPr txBox="1"/>
          <p:nvPr/>
        </p:nvSpPr>
        <p:spPr>
          <a:xfrm>
            <a:off x="4892040" y="1847088"/>
            <a:ext cx="3611880" cy="347472"/>
          </a:xfrm>
          <a:prstGeom prst="rect">
            <a:avLst/>
          </a:prstGeom>
          <a:noFill/>
          <a:ln/>
        </p:spPr>
        <p:txBody>
          <a:bodyPr wrap="square" lIns="0" tIns="0" rIns="0" bIns="0" rtlCol="0" anchor="t"/>
          <a:lstStyle/>
          <a:p>
            <a:pPr indent="0" marL="0">
              <a:buNone/>
            </a:pPr>
            <a:r>
              <a:rPr lang="en-US" sz="1500" b="1" dirty="0">
                <a:solidFill>
                  <a:schemeClr val="tx1"/>
                </a:solidFill>
              </a:rPr>
              <a:t>Opportunità</a:t>
            </a:r>
            <a:endParaRPr lang="en-US" sz="1500" dirty="0"/>
          </a:p>
        </p:txBody>
      </p:sp>
      <p:sp>
        <p:nvSpPr>
          <p:cNvPr id="19" name="Text 14"/>
          <p:cNvSpPr txBox="1"/>
          <p:nvPr/>
        </p:nvSpPr>
        <p:spPr>
          <a:xfrm>
            <a:off x="4892040" y="2231136"/>
            <a:ext cx="3611880" cy="996696"/>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chemeClr val="tx2"/>
                </a:solidFill>
              </a:rPr>
              <a:t>Video formativi rapidi da aggiornare</a:t>
            </a:r>
            <a:endParaRPr lang="en-US" sz="1200" dirty="0"/>
          </a:p>
          <a:p>
            <a:pPr marL="177800" indent="-177800">
              <a:spcAft>
                <a:spcPts val="500"/>
              </a:spcAft>
              <a:buSzPct val="100000"/>
              <a:buChar char="•"/>
            </a:pPr>
            <a:r>
              <a:rPr lang="en-US" sz="1200" dirty="0">
                <a:solidFill>
                  <a:schemeClr val="tx2"/>
                </a:solidFill>
              </a:rPr>
              <a:t>Versioni in più lingue</a:t>
            </a:r>
            <a:endParaRPr lang="en-US" sz="1200" dirty="0"/>
          </a:p>
          <a:p>
            <a:pPr marL="177800" indent="-177800">
              <a:spcAft>
                <a:spcPts val="500"/>
              </a:spcAft>
              <a:buSzPct val="100000"/>
              <a:buChar char="•"/>
            </a:pPr>
            <a:r>
              <a:rPr lang="en-US" sz="1200" dirty="0">
                <a:solidFill>
                  <a:schemeClr val="tx2"/>
                </a:solidFill>
              </a:rPr>
              <a:t>Animazioni per spiegare processi</a:t>
            </a:r>
            <a:endParaRPr lang="en-US" sz="1200" dirty="0"/>
          </a:p>
        </p:txBody>
      </p:sp>
      <p:sp>
        <p:nvSpPr>
          <p:cNvPr id="20" name="Coerenza temporale"/>
          <p:cNvSpPr/>
          <p:nvPr/>
        </p:nvSpPr>
        <p:spPr>
          <a:xfrm>
            <a:off x="457200" y="3520440"/>
            <a:ext cx="3977640" cy="1005840"/>
          </a:xfrm>
          <a:prstGeom prst="roundRect">
            <a:avLst>
              <a:gd name="adj" fmla="val 7273"/>
            </a:avLst>
          </a:prstGeom>
          <a:solidFill>
            <a:schemeClr val="tx1"/>
          </a:solidFill>
          <a:ln/>
        </p:spPr>
      </p:sp>
      <p:sp>
        <p:nvSpPr>
          <p:cNvPr id="21" name="Text 16"/>
          <p:cNvSpPr txBox="1"/>
          <p:nvPr/>
        </p:nvSpPr>
        <p:spPr>
          <a:xfrm>
            <a:off x="640080" y="3593592"/>
            <a:ext cx="3611880" cy="347472"/>
          </a:xfrm>
          <a:prstGeom prst="rect">
            <a:avLst/>
          </a:prstGeom>
          <a:noFill/>
          <a:ln/>
        </p:spPr>
        <p:txBody>
          <a:bodyPr wrap="square" lIns="0" tIns="0" rIns="0" bIns="0" rtlCol="0" anchor="t"/>
          <a:lstStyle/>
          <a:p>
            <a:pPr indent="0" marL="0">
              <a:buNone/>
            </a:pPr>
            <a:r>
              <a:rPr lang="en-US" sz="1400" b="1" dirty="0">
                <a:solidFill>
                  <a:schemeClr val="accent6"/>
                </a:solidFill>
              </a:rPr>
              <a:t>Coerenza temporale</a:t>
            </a:r>
            <a:endParaRPr lang="en-US" sz="1400" dirty="0"/>
          </a:p>
        </p:txBody>
      </p:sp>
      <p:sp>
        <p:nvSpPr>
          <p:cNvPr id="22" name="Text 17"/>
          <p:cNvSpPr txBox="1"/>
          <p:nvPr/>
        </p:nvSpPr>
        <p:spPr>
          <a:xfrm>
            <a:off x="640080" y="3950208"/>
            <a:ext cx="3611880" cy="502920"/>
          </a:xfrm>
          <a:prstGeom prst="rect">
            <a:avLst/>
          </a:prstGeom>
          <a:noFill/>
          <a:ln/>
        </p:spPr>
        <p:txBody>
          <a:bodyPr wrap="square" lIns="0" tIns="0" rIns="0" bIns="0" rtlCol="0" anchor="t"/>
          <a:lstStyle/>
          <a:p>
            <a:pPr indent="0" marL="0">
              <a:buNone/>
            </a:pPr>
            <a:r>
              <a:rPr lang="en-US" sz="1200" dirty="0">
                <a:solidFill>
                  <a:schemeClr val="bg1"/>
                </a:solidFill>
              </a:rPr>
              <a:t>Oggetti e persone che cambiano, appaiono, scompaiono</a:t>
            </a:r>
            <a:endParaRPr lang="en-US" sz="1200" dirty="0"/>
          </a:p>
        </p:txBody>
      </p:sp>
      <p:sp>
        <p:nvSpPr>
          <p:cNvPr id="23" name="Controllo degli eventi"/>
          <p:cNvSpPr/>
          <p:nvPr/>
        </p:nvSpPr>
        <p:spPr>
          <a:xfrm>
            <a:off x="4709160" y="3520440"/>
            <a:ext cx="3977640" cy="1005840"/>
          </a:xfrm>
          <a:prstGeom prst="roundRect">
            <a:avLst>
              <a:gd name="adj" fmla="val 7273"/>
            </a:avLst>
          </a:prstGeom>
          <a:solidFill>
            <a:schemeClr val="tx1"/>
          </a:solidFill>
          <a:ln/>
        </p:spPr>
      </p:sp>
      <p:sp>
        <p:nvSpPr>
          <p:cNvPr id="24" name="Text 19"/>
          <p:cNvSpPr txBox="1"/>
          <p:nvPr/>
        </p:nvSpPr>
        <p:spPr>
          <a:xfrm>
            <a:off x="4892040" y="3593592"/>
            <a:ext cx="3611880" cy="347472"/>
          </a:xfrm>
          <a:prstGeom prst="rect">
            <a:avLst/>
          </a:prstGeom>
          <a:noFill/>
          <a:ln/>
        </p:spPr>
        <p:txBody>
          <a:bodyPr wrap="square" lIns="0" tIns="0" rIns="0" bIns="0" rtlCol="0" anchor="t"/>
          <a:lstStyle/>
          <a:p>
            <a:pPr indent="0" marL="0">
              <a:buNone/>
            </a:pPr>
            <a:r>
              <a:rPr lang="en-US" sz="1400" b="1" dirty="0">
                <a:solidFill>
                  <a:schemeClr val="accent6"/>
                </a:solidFill>
              </a:rPr>
              <a:t>Controllo degli eventi</a:t>
            </a:r>
            <a:endParaRPr lang="en-US" sz="1400" dirty="0"/>
          </a:p>
        </p:txBody>
      </p:sp>
      <p:sp>
        <p:nvSpPr>
          <p:cNvPr id="25" name="Text 20"/>
          <p:cNvSpPr txBox="1"/>
          <p:nvPr/>
        </p:nvSpPr>
        <p:spPr>
          <a:xfrm>
            <a:off x="4892040" y="3950208"/>
            <a:ext cx="3611880" cy="502920"/>
          </a:xfrm>
          <a:prstGeom prst="rect">
            <a:avLst/>
          </a:prstGeom>
          <a:noFill/>
          <a:ln/>
        </p:spPr>
        <p:txBody>
          <a:bodyPr wrap="square" lIns="0" tIns="0" rIns="0" bIns="0" rtlCol="0" anchor="t"/>
          <a:lstStyle/>
          <a:p>
            <a:pPr indent="0" marL="0">
              <a:buNone/>
            </a:pPr>
            <a:r>
              <a:rPr lang="en-US" sz="1200" dirty="0">
                <a:solidFill>
                  <a:schemeClr val="bg1"/>
                </a:solidFill>
              </a:rPr>
              <a:t>Difficile ottenere l'azione voluta nella sequenza voluta</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Documentale o sintetico</a:t>
            </a:r>
            <a:endParaRPr lang="en-US" sz="2600" dirty="0"/>
          </a:p>
        </p:txBody>
      </p:sp>
      <p:sp>
        <p:nvSpPr>
          <p:cNvPr id="4" name="operazione Interpretare"/>
          <p:cNvSpPr/>
          <p:nvPr/>
        </p:nvSpPr>
        <p:spPr>
          <a:xfrm>
            <a:off x="6053328" y="384048"/>
            <a:ext cx="841248"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6053328" y="384048"/>
            <a:ext cx="841248" cy="237744"/>
          </a:xfrm>
          <a:prstGeom prst="rect">
            <a:avLst/>
          </a:prstGeom>
          <a:noFill/>
          <a:ln/>
        </p:spPr>
        <p:txBody>
          <a:bodyPr wrap="square" lIns="0" tIns="0" rIns="0" bIns="0" rtlCol="0" anchor="ctr"/>
          <a:lstStyle/>
          <a:p>
            <a:pPr algn="ctr" indent="0" marL="0">
              <a:buNone/>
            </a:pPr>
            <a:r>
              <a:rPr lang="en-US" sz="900" b="1" dirty="0">
                <a:solidFill>
                  <a:schemeClr val="accent1"/>
                </a:solidFill>
              </a:rPr>
              <a:t>Interpretare</a:t>
            </a:r>
            <a:endParaRPr lang="en-US" sz="900" dirty="0"/>
          </a:p>
        </p:txBody>
      </p:sp>
      <p:sp>
        <p:nvSpPr>
          <p:cNvPr id="6" name="operazione Generare"/>
          <p:cNvSpPr/>
          <p:nvPr/>
        </p:nvSpPr>
        <p:spPr>
          <a:xfrm>
            <a:off x="6940296" y="384048"/>
            <a:ext cx="841248"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940296" y="384048"/>
            <a:ext cx="841248" cy="237744"/>
          </a:xfrm>
          <a:prstGeom prst="rect">
            <a:avLst/>
          </a:prstGeom>
          <a:noFill/>
          <a:ln/>
        </p:spPr>
        <p:txBody>
          <a:bodyPr wrap="square" lIns="0" tIns="0" rIns="0" bIns="0" rtlCol="0" anchor="ctr"/>
          <a:lstStyle/>
          <a:p>
            <a:pPr algn="ctr" indent="0" marL="0">
              <a:buNone/>
            </a:pPr>
            <a:r>
              <a:rPr lang="en-US" sz="900" b="1" dirty="0">
                <a:solidFill>
                  <a:schemeClr val="bg1"/>
                </a:solidFill>
              </a:rPr>
              <a:t>Generare</a:t>
            </a:r>
            <a:endParaRPr lang="en-US" sz="900" dirty="0"/>
          </a:p>
        </p:txBody>
      </p:sp>
      <p:sp>
        <p:nvSpPr>
          <p:cNvPr id="8" name="operazione Trasformare"/>
          <p:cNvSpPr/>
          <p:nvPr/>
        </p:nvSpPr>
        <p:spPr>
          <a:xfrm>
            <a:off x="7827264" y="384048"/>
            <a:ext cx="841248"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7827264" y="384048"/>
            <a:ext cx="841248" cy="237744"/>
          </a:xfrm>
          <a:prstGeom prst="rect">
            <a:avLst/>
          </a:prstGeom>
          <a:noFill/>
          <a:ln/>
        </p:spPr>
        <p:txBody>
          <a:bodyPr wrap="square" lIns="0" tIns="0" rIns="0" bIns="0" rtlCol="0" anchor="ctr"/>
          <a:lstStyle/>
          <a:p>
            <a:pPr algn="ctr" indent="0" marL="0">
              <a:buNone/>
            </a:pPr>
            <a:r>
              <a:rPr lang="en-US" sz="900" b="1" dirty="0">
                <a:solidFill>
                  <a:schemeClr val="bg1"/>
                </a:solidFill>
              </a:rPr>
              <a:t>Trasformare</a:t>
            </a:r>
            <a:endParaRPr lang="en-US" sz="900" dirty="0"/>
          </a:p>
        </p:txBody>
      </p:sp>
      <p:sp>
        <p:nvSpPr>
          <p:cNvPr id="10" name="scheda Contenuto documentale"/>
          <p:cNvSpPr/>
          <p:nvPr/>
        </p:nvSpPr>
        <p:spPr>
          <a:xfrm>
            <a:off x="457200" y="1097280"/>
            <a:ext cx="3977640" cy="2011680"/>
          </a:xfrm>
          <a:prstGeom prst="roundRect">
            <a:avLst>
              <a:gd name="adj" fmla="val 3636"/>
            </a:avLst>
          </a:prstGeom>
          <a:solidFill>
            <a:schemeClr val="bg2"/>
          </a:solidFill>
          <a:ln/>
        </p:spPr>
      </p:sp>
      <p:sp>
        <p:nvSpPr>
          <p:cNvPr id="11" name="cerchio FiVideo"/>
          <p:cNvSpPr/>
          <p:nvPr/>
        </p:nvSpPr>
        <p:spPr>
          <a:xfrm>
            <a:off x="640080" y="1280160"/>
            <a:ext cx="457200" cy="457200"/>
          </a:xfrm>
          <a:prstGeom prst="ellipse">
            <a:avLst/>
          </a:prstGeom>
          <a:solidFill>
            <a:schemeClr val="accent1"/>
          </a:solidFill>
          <a:ln/>
        </p:spPr>
      </p:sp>
      <p:pic>
        <p:nvPicPr>
          <p:cNvPr id="12" name="Image 0" descr="FiVideo">    </p:cNvPr>
          <p:cNvPicPr>
            <a:picLocks noChangeAspect="1"/>
          </p:cNvPicPr>
          <p:nvPr/>
        </p:nvPicPr>
        <p:blipFill>
          <a:blip r:embed="rId1"/>
          <a:stretch>
            <a:fillRect/>
          </a:stretch>
        </p:blipFill>
        <p:spPr>
          <a:xfrm>
            <a:off x="754380" y="1394460"/>
            <a:ext cx="228600" cy="228600"/>
          </a:xfrm>
          <a:prstGeom prst="rect">
            <a:avLst/>
          </a:prstGeom>
        </p:spPr>
      </p:pic>
      <p:sp>
        <p:nvSpPr>
          <p:cNvPr id="13" name="Text 9"/>
          <p:cNvSpPr txBox="1"/>
          <p:nvPr/>
        </p:nvSpPr>
        <p:spPr>
          <a:xfrm>
            <a:off x="640080" y="1847088"/>
            <a:ext cx="3611880" cy="347472"/>
          </a:xfrm>
          <a:prstGeom prst="rect">
            <a:avLst/>
          </a:prstGeom>
          <a:noFill/>
          <a:ln/>
        </p:spPr>
        <p:txBody>
          <a:bodyPr wrap="square" lIns="0" tIns="0" rIns="0" bIns="0" rtlCol="0" anchor="t"/>
          <a:lstStyle/>
          <a:p>
            <a:pPr indent="0" marL="0">
              <a:buNone/>
            </a:pPr>
            <a:r>
              <a:rPr lang="en-US" sz="1500" b="1" dirty="0">
                <a:solidFill>
                  <a:schemeClr val="tx1"/>
                </a:solidFill>
              </a:rPr>
              <a:t>Contenuto documentale</a:t>
            </a:r>
            <a:endParaRPr lang="en-US" sz="1500" dirty="0"/>
          </a:p>
        </p:txBody>
      </p:sp>
      <p:sp>
        <p:nvSpPr>
          <p:cNvPr id="14" name="Text 10"/>
          <p:cNvSpPr txBox="1"/>
          <p:nvPr/>
        </p:nvSpPr>
        <p:spPr>
          <a:xfrm>
            <a:off x="640080" y="2231136"/>
            <a:ext cx="3611880" cy="768096"/>
          </a:xfrm>
          <a:prstGeom prst="rect">
            <a:avLst/>
          </a:prstGeom>
          <a:noFill/>
          <a:ln/>
        </p:spPr>
        <p:txBody>
          <a:bodyPr wrap="square" lIns="0" tIns="0" rIns="0" bIns="0" rtlCol="0" anchor="t"/>
          <a:lstStyle/>
          <a:p>
            <a:pPr marL="177800" indent="-177800">
              <a:spcAft>
                <a:spcPts val="400"/>
              </a:spcAft>
              <a:buSzPct val="100000"/>
              <a:buChar char="•"/>
            </a:pPr>
            <a:r>
              <a:rPr lang="en-US" sz="1200" dirty="0">
                <a:solidFill>
                  <a:schemeClr val="tx2"/>
                </a:solidFill>
              </a:rPr>
              <a:t>Registra qualcosa che è accaduto</a:t>
            </a:r>
            <a:endParaRPr lang="en-US" sz="1200" dirty="0"/>
          </a:p>
          <a:p>
            <a:pPr marL="177800" indent="-177800">
              <a:spcAft>
                <a:spcPts val="400"/>
              </a:spcAft>
              <a:buSzPct val="100000"/>
              <a:buChar char="•"/>
            </a:pPr>
            <a:r>
              <a:rPr lang="en-US" sz="1200" dirty="0">
                <a:solidFill>
                  <a:schemeClr val="tx2"/>
                </a:solidFill>
              </a:rPr>
              <a:t>Valore: il legame con la realtà</a:t>
            </a:r>
            <a:endParaRPr lang="en-US" sz="1200" dirty="0"/>
          </a:p>
          <a:p>
            <a:pPr marL="177800" indent="-177800">
              <a:spcAft>
                <a:spcPts val="400"/>
              </a:spcAft>
              <a:buSzPct val="100000"/>
              <a:buChar char="•"/>
            </a:pPr>
            <a:r>
              <a:rPr lang="en-US" sz="1200" dirty="0">
                <a:solidFill>
                  <a:schemeClr val="tx2"/>
                </a:solidFill>
              </a:rPr>
              <a:t>Riunioni, eventi, ispezioni, testimonianze</a:t>
            </a:r>
            <a:endParaRPr lang="en-US" sz="1200" dirty="0"/>
          </a:p>
        </p:txBody>
      </p:sp>
      <p:sp>
        <p:nvSpPr>
          <p:cNvPr id="15" name="scheda Contenuto sintetico"/>
          <p:cNvSpPr/>
          <p:nvPr/>
        </p:nvSpPr>
        <p:spPr>
          <a:xfrm>
            <a:off x="4709160" y="1097280"/>
            <a:ext cx="3977640" cy="2011680"/>
          </a:xfrm>
          <a:prstGeom prst="roundRect">
            <a:avLst>
              <a:gd name="adj" fmla="val 3636"/>
            </a:avLst>
          </a:prstGeom>
          <a:solidFill>
            <a:schemeClr val="accent6"/>
          </a:solidFill>
          <a:ln/>
        </p:spPr>
      </p:sp>
      <p:sp>
        <p:nvSpPr>
          <p:cNvPr id="16" name="cerchio FiCpu"/>
          <p:cNvSpPr/>
          <p:nvPr/>
        </p:nvSpPr>
        <p:spPr>
          <a:xfrm>
            <a:off x="4892040" y="1280160"/>
            <a:ext cx="457200" cy="457200"/>
          </a:xfrm>
          <a:prstGeom prst="ellipse">
            <a:avLst/>
          </a:prstGeom>
          <a:solidFill>
            <a:schemeClr val="accent1"/>
          </a:solidFill>
          <a:ln/>
        </p:spPr>
      </p:sp>
      <p:pic>
        <p:nvPicPr>
          <p:cNvPr id="17" name="Image 1" descr="FiCpu">    </p:cNvPr>
          <p:cNvPicPr>
            <a:picLocks noChangeAspect="1"/>
          </p:cNvPicPr>
          <p:nvPr/>
        </p:nvPicPr>
        <p:blipFill>
          <a:blip r:embed="rId2"/>
          <a:stretch>
            <a:fillRect/>
          </a:stretch>
        </p:blipFill>
        <p:spPr>
          <a:xfrm>
            <a:off x="5006340" y="1394460"/>
            <a:ext cx="228600" cy="228600"/>
          </a:xfrm>
          <a:prstGeom prst="rect">
            <a:avLst/>
          </a:prstGeom>
        </p:spPr>
      </p:pic>
      <p:sp>
        <p:nvSpPr>
          <p:cNvPr id="18" name="Text 13"/>
          <p:cNvSpPr txBox="1"/>
          <p:nvPr/>
        </p:nvSpPr>
        <p:spPr>
          <a:xfrm>
            <a:off x="4892040" y="1847088"/>
            <a:ext cx="3611880" cy="347472"/>
          </a:xfrm>
          <a:prstGeom prst="rect">
            <a:avLst/>
          </a:prstGeom>
          <a:noFill/>
          <a:ln/>
        </p:spPr>
        <p:txBody>
          <a:bodyPr wrap="square" lIns="0" tIns="0" rIns="0" bIns="0" rtlCol="0" anchor="t"/>
          <a:lstStyle/>
          <a:p>
            <a:pPr indent="0" marL="0">
              <a:buNone/>
            </a:pPr>
            <a:r>
              <a:rPr lang="en-US" sz="1500" b="1" dirty="0">
                <a:solidFill>
                  <a:schemeClr val="tx1"/>
                </a:solidFill>
              </a:rPr>
              <a:t>Contenuto sintetico</a:t>
            </a:r>
            <a:endParaRPr lang="en-US" sz="1500" dirty="0"/>
          </a:p>
        </p:txBody>
      </p:sp>
      <p:sp>
        <p:nvSpPr>
          <p:cNvPr id="19" name="Text 14"/>
          <p:cNvSpPr txBox="1"/>
          <p:nvPr/>
        </p:nvSpPr>
        <p:spPr>
          <a:xfrm>
            <a:off x="4892040" y="2231136"/>
            <a:ext cx="3611880" cy="768096"/>
          </a:xfrm>
          <a:prstGeom prst="rect">
            <a:avLst/>
          </a:prstGeom>
          <a:noFill/>
          <a:ln/>
        </p:spPr>
        <p:txBody>
          <a:bodyPr wrap="square" lIns="0" tIns="0" rIns="0" bIns="0" rtlCol="0" anchor="t"/>
          <a:lstStyle/>
          <a:p>
            <a:pPr marL="177800" indent="-177800">
              <a:spcAft>
                <a:spcPts val="400"/>
              </a:spcAft>
              <a:buSzPct val="100000"/>
              <a:buChar char="•"/>
            </a:pPr>
            <a:r>
              <a:rPr lang="en-US" sz="1200" dirty="0">
                <a:solidFill>
                  <a:schemeClr val="tx2"/>
                </a:solidFill>
              </a:rPr>
              <a:t>Generato o profondamente modificato</a:t>
            </a:r>
            <a:endParaRPr lang="en-US" sz="1200" dirty="0"/>
          </a:p>
          <a:p>
            <a:pPr marL="177800" indent="-177800">
              <a:spcAft>
                <a:spcPts val="400"/>
              </a:spcAft>
              <a:buSzPct val="100000"/>
              <a:buChar char="•"/>
            </a:pPr>
            <a:r>
              <a:rPr lang="en-US" sz="1200" dirty="0">
                <a:solidFill>
                  <a:schemeClr val="tx2"/>
                </a:solidFill>
              </a:rPr>
              <a:t>Valore: comunicazione, spiegazione, creatività</a:t>
            </a:r>
            <a:endParaRPr lang="en-US" sz="1200" dirty="0"/>
          </a:p>
          <a:p>
            <a:pPr marL="177800" indent="-177800">
              <a:spcAft>
                <a:spcPts val="400"/>
              </a:spcAft>
              <a:buSzPct val="100000"/>
              <a:buChar char="•"/>
            </a:pPr>
            <a:r>
              <a:rPr lang="en-US" sz="1200" dirty="0">
                <a:solidFill>
                  <a:schemeClr val="tx2"/>
                </a:solidFill>
              </a:rPr>
              <a:t>Può non essere mai accaduto</a:t>
            </a:r>
            <a:endParaRPr lang="en-US" sz="1200" dirty="0"/>
          </a:p>
        </p:txBody>
      </p:sp>
      <p:sp>
        <p:nvSpPr>
          <p:cNvPr id="20" name="messaggio"/>
          <p:cNvSpPr/>
          <p:nvPr/>
        </p:nvSpPr>
        <p:spPr>
          <a:xfrm>
            <a:off x="457200" y="3291840"/>
            <a:ext cx="8229600" cy="594360"/>
          </a:xfrm>
          <a:prstGeom prst="roundRect">
            <a:avLst>
              <a:gd name="adj" fmla="val 12308"/>
            </a:avLst>
          </a:prstGeom>
          <a:solidFill>
            <a:schemeClr val="tx1"/>
          </a:solidFill>
          <a:ln/>
        </p:spPr>
      </p:sp>
      <p:sp>
        <p:nvSpPr>
          <p:cNvPr id="21" name="Text 16"/>
          <p:cNvSpPr txBox="1"/>
          <p:nvPr/>
        </p:nvSpPr>
        <p:spPr>
          <a:xfrm>
            <a:off x="640080" y="3291840"/>
            <a:ext cx="7863840" cy="594360"/>
          </a:xfrm>
          <a:prstGeom prst="rect">
            <a:avLst/>
          </a:prstGeom>
          <a:noFill/>
          <a:ln/>
        </p:spPr>
        <p:txBody>
          <a:bodyPr wrap="square" lIns="0" tIns="0" rIns="0" bIns="0" rtlCol="0" anchor="ctr"/>
          <a:lstStyle/>
          <a:p>
            <a:pPr indent="0" marL="0">
              <a:buNone/>
            </a:pPr>
            <a:r>
              <a:rPr lang="en-US" sz="1400" dirty="0">
                <a:solidFill>
                  <a:schemeClr val="bg1"/>
                </a:solidFill>
              </a:rPr>
              <a:t>Un video è stato a lungo considerato una prova forte. Questa presunzione non è più fondata.</a:t>
            </a:r>
            <a:endParaRPr lang="en-US" sz="1400" dirty="0"/>
          </a:p>
        </p:txBody>
      </p:sp>
      <p:sp>
        <p:nvSpPr>
          <p:cNvPr id="22" name="blocco Se si usa un video sintetico: dichiararlo"/>
          <p:cNvSpPr/>
          <p:nvPr/>
        </p:nvSpPr>
        <p:spPr>
          <a:xfrm>
            <a:off x="457200" y="4023360"/>
            <a:ext cx="4023360" cy="502920"/>
          </a:xfrm>
          <a:prstGeom prst="roundRect">
            <a:avLst>
              <a:gd name="adj" fmla="val 21818"/>
            </a:avLst>
          </a:prstGeom>
          <a:solidFill>
            <a:schemeClr val="bg2"/>
          </a:solidFill>
          <a:ln/>
        </p:spPr>
      </p:sp>
      <p:sp>
        <p:nvSpPr>
          <p:cNvPr id="23" name="Text 18"/>
          <p:cNvSpPr txBox="1"/>
          <p:nvPr/>
        </p:nvSpPr>
        <p:spPr>
          <a:xfrm>
            <a:off x="502920" y="4023360"/>
            <a:ext cx="3931920" cy="502920"/>
          </a:xfrm>
          <a:prstGeom prst="rect">
            <a:avLst/>
          </a:prstGeom>
          <a:noFill/>
          <a:ln/>
        </p:spPr>
        <p:txBody>
          <a:bodyPr wrap="square" lIns="0" tIns="0" rIns="0" bIns="0" rtlCol="0" anchor="ctr"/>
          <a:lstStyle/>
          <a:p>
            <a:pPr algn="ctr" indent="0" marL="0">
              <a:buNone/>
            </a:pPr>
            <a:r>
              <a:rPr lang="en-US" sz="1200" b="1" dirty="0">
                <a:solidFill>
                  <a:schemeClr val="tx1"/>
                </a:solidFill>
              </a:rPr>
              <a:t>Se si usa un video sintetico: dichiararlo</a:t>
            </a:r>
            <a:endParaRPr lang="en-US" sz="1200" dirty="0"/>
          </a:p>
        </p:txBody>
      </p:sp>
      <p:sp>
        <p:nvSpPr>
          <p:cNvPr id="24" name="blocco Se si riceve un video come prova: da dove viene?"/>
          <p:cNvSpPr/>
          <p:nvPr/>
        </p:nvSpPr>
        <p:spPr>
          <a:xfrm>
            <a:off x="4663440" y="4023360"/>
            <a:ext cx="4023360" cy="502920"/>
          </a:xfrm>
          <a:prstGeom prst="roundRect">
            <a:avLst>
              <a:gd name="adj" fmla="val 21818"/>
            </a:avLst>
          </a:prstGeom>
          <a:solidFill>
            <a:schemeClr val="bg2"/>
          </a:solidFill>
          <a:ln/>
        </p:spPr>
      </p:sp>
      <p:sp>
        <p:nvSpPr>
          <p:cNvPr id="25" name="Text 20"/>
          <p:cNvSpPr txBox="1"/>
          <p:nvPr/>
        </p:nvSpPr>
        <p:spPr>
          <a:xfrm>
            <a:off x="4709160" y="4023360"/>
            <a:ext cx="3931920" cy="502920"/>
          </a:xfrm>
          <a:prstGeom prst="rect">
            <a:avLst/>
          </a:prstGeom>
          <a:noFill/>
          <a:ln/>
        </p:spPr>
        <p:txBody>
          <a:bodyPr wrap="square" lIns="0" tIns="0" rIns="0" bIns="0" rtlCol="0" anchor="ctr"/>
          <a:lstStyle/>
          <a:p>
            <a:pPr algn="ctr" indent="0" marL="0">
              <a:buNone/>
            </a:pPr>
            <a:r>
              <a:rPr lang="en-US" sz="1200" b="1" dirty="0">
                <a:solidFill>
                  <a:schemeClr val="tx1"/>
                </a:solidFill>
              </a:rPr>
              <a:t>Se si riceve un video come prova: da dove viene?</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1"/>
          <p:cNvSpPr/>
          <p:nvPr>
            <p:ph idx="101" type="body" hasCustomPrompt="1"/>
          </p:nvPr>
        </p:nvSpPr>
        <p:spPr>
          <a:xfrm>
            <a:off x="822960" y="1600200"/>
            <a:ext cx="7498080" cy="2011680"/>
          </a:xfrm>
          <a:prstGeom prst="rect">
            <a:avLst/>
          </a:prstGeom>
          <a:noFill/>
          <a:ln/>
        </p:spPr>
        <p:txBody>
          <a:bodyPr wrap="square" lIns="0" tIns="0" rIns="0" bIns="0" rtlCol="0" anchor="t"/>
          <a:lstStyle/>
          <a:p>
            <a:pPr indent="0" marL="0">
              <a:buNone/>
            </a:pPr>
            <a:r>
              <a:rPr lang="en-US" sz="2600" dirty="0">
                <a:solidFill>
                  <a:schemeClr val="bg1"/>
                </a:solidFill>
              </a:rPr>
              <a:t>Coerenza visiva e plausibilità di una sequenza video non dimostrano che gli eventi rappresentati siano realmente accaduti.</a:t>
            </a:r>
            <a:endParaRPr lang="en-US" sz="2600" dirty="0"/>
          </a:p>
        </p:txBody>
      </p:sp>
      <p:sp>
        <p:nvSpPr>
          <p:cNvPr id="3" name="Text 1"/>
          <p:cNvSpPr/>
          <p:nvPr>
            <p:ph idx="102" type="body" hasCustomPrompt="1"/>
          </p:nvPr>
        </p:nvSpPr>
        <p:spPr>
          <a:xfrm>
            <a:off x="822960" y="3794760"/>
            <a:ext cx="7498080" cy="365760"/>
          </a:xfrm>
          <a:prstGeom prst="rect">
            <a:avLst/>
          </a:prstGeom>
          <a:noFill/>
          <a:ln/>
        </p:spPr>
        <p:txBody>
          <a:bodyPr wrap="square" lIns="0" tIns="0" rIns="0" bIns="0" rtlCol="0"/>
          <a:lstStyle/>
          <a:p>
            <a:pPr indent="0" marL="0">
              <a:buNone/>
            </a:pPr>
            <a:r>
              <a:rPr lang="en-US" sz="1300" dirty="0">
                <a:solidFill>
                  <a:schemeClr val="accent3"/>
                </a:solidFill>
              </a:rPr>
              <a:t>Sottotema 10.5  ·  AI per comprensione e generazione video</a:t>
            </a:r>
            <a:endParaRPr lang="en-US" sz="13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0" type="body" hasCustomPrompt="1"/>
          </p:nvPr>
        </p:nvSpPr>
        <p:spPr>
          <a:xfrm>
            <a:off x="640080" y="914400"/>
            <a:ext cx="3657600" cy="1005840"/>
          </a:xfrm>
          <a:prstGeom prst="rect">
            <a:avLst/>
          </a:prstGeom>
          <a:noFill/>
          <a:ln/>
        </p:spPr>
        <p:txBody>
          <a:bodyPr wrap="square" lIns="0" tIns="0" rIns="0" bIns="0" rtlCol="0" anchor="b"/>
          <a:lstStyle/>
          <a:p>
            <a:pPr indent="0" marL="0">
              <a:buNone/>
            </a:pPr>
            <a:r>
              <a:rPr lang="en-US" sz="6000" b="1" dirty="0">
                <a:solidFill>
                  <a:schemeClr val="accent1"/>
                </a:solidFill>
              </a:rPr>
              <a:t>10.6</a:t>
            </a:r>
            <a:endParaRPr lang="en-US" sz="6000" dirty="0"/>
          </a:p>
        </p:txBody>
      </p:sp>
      <p:sp>
        <p:nvSpPr>
          <p:cNvPr id="3" name="Text 0"/>
          <p:cNvSpPr/>
          <p:nvPr>
            <p:ph idx="101" type="title" hasCustomPrompt="1"/>
          </p:nvPr>
        </p:nvSpPr>
        <p:spPr>
          <a:xfrm>
            <a:off x="640080" y="2057400"/>
            <a:ext cx="7863840" cy="914400"/>
          </a:xfrm>
          <a:prstGeom prst="rect">
            <a:avLst/>
          </a:prstGeom>
          <a:noFill/>
          <a:ln/>
        </p:spPr>
        <p:txBody>
          <a:bodyPr wrap="square" lIns="0" tIns="0" rIns="0" bIns="0" rtlCol="0" anchor="t"/>
          <a:lstStyle/>
          <a:p>
            <a:pPr algn="l" indent="0" marL="0">
              <a:buNone/>
            </a:pPr>
            <a:r>
              <a:rPr lang="en-US" sz="3200" b="1" dirty="0">
                <a:solidFill>
                  <a:schemeClr val="bg1"/>
                </a:solidFill>
              </a:rPr>
              <a:t>Presentazioni e materiali di comunicazione</a:t>
            </a:r>
            <a:endParaRPr lang="en-US" sz="3200" dirty="0"/>
          </a:p>
        </p:txBody>
      </p:sp>
      <p:sp>
        <p:nvSpPr>
          <p:cNvPr id="4" name="Text 0"/>
          <p:cNvSpPr/>
          <p:nvPr>
            <p:ph idx="102" type="body" hasCustomPrompt="1"/>
          </p:nvPr>
        </p:nvSpPr>
        <p:spPr>
          <a:xfrm>
            <a:off x="640080" y="3063240"/>
            <a:ext cx="7315200" cy="1097280"/>
          </a:xfrm>
          <a:prstGeom prst="rect">
            <a:avLst/>
          </a:prstGeom>
          <a:noFill/>
          <a:ln/>
        </p:spPr>
        <p:txBody>
          <a:bodyPr wrap="square" lIns="0" tIns="0" rIns="0" bIns="0" rtlCol="0" anchor="t"/>
          <a:lstStyle/>
          <a:p>
            <a:pPr indent="0" marL="0">
              <a:buNone/>
            </a:pPr>
            <a:r>
              <a:rPr lang="en-US" sz="1600" dirty="0">
                <a:solidFill>
                  <a:schemeClr val="accent3"/>
                </a:solidFill>
              </a:rPr>
              <a:t>L'efficacia estetica di un materiale non garantisce accuratezza, completezza né coerenza narrativa</a:t>
            </a:r>
            <a:endParaRPr lang="en-US"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Dal testo alle slide</a:t>
            </a:r>
            <a:endParaRPr lang="en-US" sz="2600" dirty="0"/>
          </a:p>
        </p:txBody>
      </p:sp>
      <p:sp>
        <p:nvSpPr>
          <p:cNvPr id="4" name="operazione Interpretare"/>
          <p:cNvSpPr/>
          <p:nvPr/>
        </p:nvSpPr>
        <p:spPr>
          <a:xfrm>
            <a:off x="6053328" y="384048"/>
            <a:ext cx="841248"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6053328" y="384048"/>
            <a:ext cx="841248" cy="237744"/>
          </a:xfrm>
          <a:prstGeom prst="rect">
            <a:avLst/>
          </a:prstGeom>
          <a:noFill/>
          <a:ln/>
        </p:spPr>
        <p:txBody>
          <a:bodyPr wrap="square" lIns="0" tIns="0" rIns="0" bIns="0" rtlCol="0" anchor="ctr"/>
          <a:lstStyle/>
          <a:p>
            <a:pPr algn="ctr" indent="0" marL="0">
              <a:buNone/>
            </a:pPr>
            <a:r>
              <a:rPr lang="en-US" sz="900" b="1" dirty="0">
                <a:solidFill>
                  <a:schemeClr val="accent1"/>
                </a:solidFill>
              </a:rPr>
              <a:t>Interpretare</a:t>
            </a:r>
            <a:endParaRPr lang="en-US" sz="900" dirty="0"/>
          </a:p>
        </p:txBody>
      </p:sp>
      <p:sp>
        <p:nvSpPr>
          <p:cNvPr id="6" name="operazione Generare"/>
          <p:cNvSpPr/>
          <p:nvPr/>
        </p:nvSpPr>
        <p:spPr>
          <a:xfrm>
            <a:off x="6940296" y="384048"/>
            <a:ext cx="841248"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940296" y="384048"/>
            <a:ext cx="841248" cy="237744"/>
          </a:xfrm>
          <a:prstGeom prst="rect">
            <a:avLst/>
          </a:prstGeom>
          <a:noFill/>
          <a:ln/>
        </p:spPr>
        <p:txBody>
          <a:bodyPr wrap="square" lIns="0" tIns="0" rIns="0" bIns="0" rtlCol="0" anchor="ctr"/>
          <a:lstStyle/>
          <a:p>
            <a:pPr algn="ctr" indent="0" marL="0">
              <a:buNone/>
            </a:pPr>
            <a:r>
              <a:rPr lang="en-US" sz="900" b="1" dirty="0">
                <a:solidFill>
                  <a:schemeClr val="bg1"/>
                </a:solidFill>
              </a:rPr>
              <a:t>Generare</a:t>
            </a:r>
            <a:endParaRPr lang="en-US" sz="900" dirty="0"/>
          </a:p>
        </p:txBody>
      </p:sp>
      <p:sp>
        <p:nvSpPr>
          <p:cNvPr id="8" name="operazione Trasformare"/>
          <p:cNvSpPr/>
          <p:nvPr/>
        </p:nvSpPr>
        <p:spPr>
          <a:xfrm>
            <a:off x="7827264" y="384048"/>
            <a:ext cx="841248"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7827264" y="384048"/>
            <a:ext cx="841248" cy="237744"/>
          </a:xfrm>
          <a:prstGeom prst="rect">
            <a:avLst/>
          </a:prstGeom>
          <a:noFill/>
          <a:ln/>
        </p:spPr>
        <p:txBody>
          <a:bodyPr wrap="square" lIns="0" tIns="0" rIns="0" bIns="0" rtlCol="0" anchor="ctr"/>
          <a:lstStyle/>
          <a:p>
            <a:pPr algn="ctr" indent="0" marL="0">
              <a:buNone/>
            </a:pPr>
            <a:r>
              <a:rPr lang="en-US" sz="900" b="1" dirty="0">
                <a:solidFill>
                  <a:schemeClr val="bg1"/>
                </a:solidFill>
              </a:rPr>
              <a:t>Trasformare</a:t>
            </a:r>
            <a:endParaRPr lang="en-US" sz="900" dirty="0"/>
          </a:p>
        </p:txBody>
      </p:sp>
      <p:sp>
        <p:nvSpPr>
          <p:cNvPr id="10" name="Presentazioni da testo"/>
          <p:cNvSpPr/>
          <p:nvPr/>
        </p:nvSpPr>
        <p:spPr>
          <a:xfrm>
            <a:off x="457200" y="1051560"/>
            <a:ext cx="2621280" cy="1280160"/>
          </a:xfrm>
          <a:prstGeom prst="roundRect">
            <a:avLst>
              <a:gd name="adj" fmla="val 5714"/>
            </a:avLst>
          </a:prstGeom>
          <a:solidFill>
            <a:schemeClr val="bg2"/>
          </a:solidFill>
          <a:ln/>
        </p:spPr>
      </p:sp>
      <p:sp>
        <p:nvSpPr>
          <p:cNvPr id="11" name="cerchio FiLayout"/>
          <p:cNvSpPr/>
          <p:nvPr/>
        </p:nvSpPr>
        <p:spPr>
          <a:xfrm>
            <a:off x="621792" y="1216152"/>
            <a:ext cx="438912" cy="438912"/>
          </a:xfrm>
          <a:prstGeom prst="ellipse">
            <a:avLst/>
          </a:prstGeom>
          <a:solidFill>
            <a:schemeClr val="accent1"/>
          </a:solidFill>
          <a:ln/>
        </p:spPr>
      </p:sp>
      <p:pic>
        <p:nvPicPr>
          <p:cNvPr id="12" name="Image 0" descr="FiLayout">    </p:cNvPr>
          <p:cNvPicPr>
            <a:picLocks noChangeAspect="1"/>
          </p:cNvPicPr>
          <p:nvPr/>
        </p:nvPicPr>
        <p:blipFill>
          <a:blip r:embed="rId1"/>
          <a:stretch>
            <a:fillRect/>
          </a:stretch>
        </p:blipFill>
        <p:spPr>
          <a:xfrm>
            <a:off x="731520" y="1325880"/>
            <a:ext cx="219456" cy="219456"/>
          </a:xfrm>
          <a:prstGeom prst="rect">
            <a:avLst/>
          </a:prstGeom>
        </p:spPr>
      </p:pic>
      <p:sp>
        <p:nvSpPr>
          <p:cNvPr id="13" name="Text 9"/>
          <p:cNvSpPr txBox="1"/>
          <p:nvPr/>
        </p:nvSpPr>
        <p:spPr>
          <a:xfrm>
            <a:off x="1170432" y="117957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Presentazioni da testo</a:t>
            </a:r>
            <a:endParaRPr lang="en-US" sz="1300" dirty="0"/>
          </a:p>
        </p:txBody>
      </p:sp>
      <p:sp>
        <p:nvSpPr>
          <p:cNvPr id="14" name="Text 10"/>
          <p:cNvSpPr txBox="1"/>
          <p:nvPr/>
        </p:nvSpPr>
        <p:spPr>
          <a:xfrm>
            <a:off x="621792" y="1764792"/>
            <a:ext cx="2292096" cy="475488"/>
          </a:xfrm>
          <a:prstGeom prst="rect">
            <a:avLst/>
          </a:prstGeom>
          <a:noFill/>
          <a:ln/>
        </p:spPr>
        <p:txBody>
          <a:bodyPr wrap="square" lIns="0" tIns="0" rIns="0" bIns="0" rtlCol="0" anchor="t"/>
          <a:lstStyle/>
          <a:p>
            <a:pPr indent="0" marL="0">
              <a:buNone/>
            </a:pPr>
            <a:r>
              <a:rPr lang="en-US" sz="1200" dirty="0">
                <a:solidFill>
                  <a:schemeClr val="tx2"/>
                </a:solidFill>
              </a:rPr>
              <a:t>Da scaletta, appunti o descrizione</a:t>
            </a:r>
            <a:endParaRPr lang="en-US" sz="1200" dirty="0"/>
          </a:p>
        </p:txBody>
      </p:sp>
      <p:sp>
        <p:nvSpPr>
          <p:cNvPr id="15" name="Documenti in materiali visivi"/>
          <p:cNvSpPr/>
          <p:nvPr/>
        </p:nvSpPr>
        <p:spPr>
          <a:xfrm>
            <a:off x="3261360" y="1051560"/>
            <a:ext cx="2621280" cy="1280160"/>
          </a:xfrm>
          <a:prstGeom prst="roundRect">
            <a:avLst>
              <a:gd name="adj" fmla="val 5714"/>
            </a:avLst>
          </a:prstGeom>
          <a:solidFill>
            <a:schemeClr val="bg2"/>
          </a:solidFill>
          <a:ln/>
        </p:spPr>
      </p:sp>
      <p:sp>
        <p:nvSpPr>
          <p:cNvPr id="16" name="cerchio FiRepeat"/>
          <p:cNvSpPr/>
          <p:nvPr/>
        </p:nvSpPr>
        <p:spPr>
          <a:xfrm>
            <a:off x="3425952" y="1216152"/>
            <a:ext cx="438912" cy="438912"/>
          </a:xfrm>
          <a:prstGeom prst="ellipse">
            <a:avLst/>
          </a:prstGeom>
          <a:solidFill>
            <a:schemeClr val="accent1"/>
          </a:solidFill>
          <a:ln/>
        </p:spPr>
      </p:sp>
      <p:pic>
        <p:nvPicPr>
          <p:cNvPr id="17" name="Image 1" descr="FiRepeat">    </p:cNvPr>
          <p:cNvPicPr>
            <a:picLocks noChangeAspect="1"/>
          </p:cNvPicPr>
          <p:nvPr/>
        </p:nvPicPr>
        <p:blipFill>
          <a:blip r:embed="rId2"/>
          <a:stretch>
            <a:fillRect/>
          </a:stretch>
        </p:blipFill>
        <p:spPr>
          <a:xfrm>
            <a:off x="3535680" y="1325880"/>
            <a:ext cx="219456" cy="219456"/>
          </a:xfrm>
          <a:prstGeom prst="rect">
            <a:avLst/>
          </a:prstGeom>
        </p:spPr>
      </p:pic>
      <p:sp>
        <p:nvSpPr>
          <p:cNvPr id="18" name="Text 13"/>
          <p:cNvSpPr txBox="1"/>
          <p:nvPr/>
        </p:nvSpPr>
        <p:spPr>
          <a:xfrm>
            <a:off x="3974592" y="117957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Documenti in materiali visivi</a:t>
            </a:r>
            <a:endParaRPr lang="en-US" sz="1300" dirty="0"/>
          </a:p>
        </p:txBody>
      </p:sp>
      <p:sp>
        <p:nvSpPr>
          <p:cNvPr id="19" name="Text 14"/>
          <p:cNvSpPr txBox="1"/>
          <p:nvPr/>
        </p:nvSpPr>
        <p:spPr>
          <a:xfrm>
            <a:off x="3425952" y="1764792"/>
            <a:ext cx="2292096" cy="475488"/>
          </a:xfrm>
          <a:prstGeom prst="rect">
            <a:avLst/>
          </a:prstGeom>
          <a:noFill/>
          <a:ln/>
        </p:spPr>
        <p:txBody>
          <a:bodyPr wrap="square" lIns="0" tIns="0" rIns="0" bIns="0" rtlCol="0" anchor="t"/>
          <a:lstStyle/>
          <a:p>
            <a:pPr indent="0" marL="0">
              <a:buNone/>
            </a:pPr>
            <a:r>
              <a:rPr lang="en-US" sz="1200" dirty="0">
                <a:solidFill>
                  <a:schemeClr val="tx2"/>
                </a:solidFill>
              </a:rPr>
              <a:t>Relazione in slide, procedura in diagramma</a:t>
            </a:r>
            <a:endParaRPr lang="en-US" sz="1200" dirty="0"/>
          </a:p>
        </p:txBody>
      </p:sp>
      <p:sp>
        <p:nvSpPr>
          <p:cNvPr id="20" name="Schemi e diagrammi"/>
          <p:cNvSpPr/>
          <p:nvPr/>
        </p:nvSpPr>
        <p:spPr>
          <a:xfrm>
            <a:off x="6065520" y="1051560"/>
            <a:ext cx="2621280" cy="1280160"/>
          </a:xfrm>
          <a:prstGeom prst="roundRect">
            <a:avLst>
              <a:gd name="adj" fmla="val 5714"/>
            </a:avLst>
          </a:prstGeom>
          <a:solidFill>
            <a:schemeClr val="bg2"/>
          </a:solidFill>
          <a:ln/>
        </p:spPr>
      </p:sp>
      <p:sp>
        <p:nvSpPr>
          <p:cNvPr id="21" name="cerchio FiShare2"/>
          <p:cNvSpPr/>
          <p:nvPr/>
        </p:nvSpPr>
        <p:spPr>
          <a:xfrm>
            <a:off x="6230112" y="1216152"/>
            <a:ext cx="438912" cy="438912"/>
          </a:xfrm>
          <a:prstGeom prst="ellipse">
            <a:avLst/>
          </a:prstGeom>
          <a:solidFill>
            <a:schemeClr val="accent1"/>
          </a:solidFill>
          <a:ln/>
        </p:spPr>
      </p:sp>
      <p:pic>
        <p:nvPicPr>
          <p:cNvPr id="22" name="Image 2" descr="FiShare2">    </p:cNvPr>
          <p:cNvPicPr>
            <a:picLocks noChangeAspect="1"/>
          </p:cNvPicPr>
          <p:nvPr/>
        </p:nvPicPr>
        <p:blipFill>
          <a:blip r:embed="rId3"/>
          <a:stretch>
            <a:fillRect/>
          </a:stretch>
        </p:blipFill>
        <p:spPr>
          <a:xfrm>
            <a:off x="6339840" y="1325880"/>
            <a:ext cx="219456" cy="219456"/>
          </a:xfrm>
          <a:prstGeom prst="rect">
            <a:avLst/>
          </a:prstGeom>
        </p:spPr>
      </p:pic>
      <p:sp>
        <p:nvSpPr>
          <p:cNvPr id="23" name="Text 17"/>
          <p:cNvSpPr txBox="1"/>
          <p:nvPr/>
        </p:nvSpPr>
        <p:spPr>
          <a:xfrm>
            <a:off x="6778752" y="117957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Schemi e diagrammi</a:t>
            </a:r>
            <a:endParaRPr lang="en-US" sz="1300" dirty="0"/>
          </a:p>
        </p:txBody>
      </p:sp>
      <p:sp>
        <p:nvSpPr>
          <p:cNvPr id="24" name="Text 18"/>
          <p:cNvSpPr txBox="1"/>
          <p:nvPr/>
        </p:nvSpPr>
        <p:spPr>
          <a:xfrm>
            <a:off x="6230112" y="1764792"/>
            <a:ext cx="2292096" cy="475488"/>
          </a:xfrm>
          <a:prstGeom prst="rect">
            <a:avLst/>
          </a:prstGeom>
          <a:noFill/>
          <a:ln/>
        </p:spPr>
        <p:txBody>
          <a:bodyPr wrap="square" lIns="0" tIns="0" rIns="0" bIns="0" rtlCol="0" anchor="t"/>
          <a:lstStyle/>
          <a:p>
            <a:pPr indent="0" marL="0">
              <a:buNone/>
            </a:pPr>
            <a:r>
              <a:rPr lang="en-US" sz="1200" dirty="0">
                <a:solidFill>
                  <a:schemeClr val="tx2"/>
                </a:solidFill>
              </a:rPr>
              <a:t>Processi, organigrammi, linee del tempo</a:t>
            </a:r>
            <a:endParaRPr lang="en-US" sz="1200" dirty="0"/>
          </a:p>
        </p:txBody>
      </p:sp>
      <p:sp>
        <p:nvSpPr>
          <p:cNvPr id="25" name="Infografiche"/>
          <p:cNvSpPr/>
          <p:nvPr/>
        </p:nvSpPr>
        <p:spPr>
          <a:xfrm>
            <a:off x="457200" y="2514600"/>
            <a:ext cx="2621280" cy="1280160"/>
          </a:xfrm>
          <a:prstGeom prst="roundRect">
            <a:avLst>
              <a:gd name="adj" fmla="val 5714"/>
            </a:avLst>
          </a:prstGeom>
          <a:solidFill>
            <a:schemeClr val="bg2"/>
          </a:solidFill>
          <a:ln/>
        </p:spPr>
      </p:sp>
      <p:sp>
        <p:nvSpPr>
          <p:cNvPr id="26" name="cerchio FiPieChart"/>
          <p:cNvSpPr/>
          <p:nvPr/>
        </p:nvSpPr>
        <p:spPr>
          <a:xfrm>
            <a:off x="621792" y="2679192"/>
            <a:ext cx="438912" cy="438912"/>
          </a:xfrm>
          <a:prstGeom prst="ellipse">
            <a:avLst/>
          </a:prstGeom>
          <a:solidFill>
            <a:schemeClr val="accent1"/>
          </a:solidFill>
          <a:ln/>
        </p:spPr>
      </p:sp>
      <p:pic>
        <p:nvPicPr>
          <p:cNvPr id="27" name="Image 3" descr="FiPieChart">    </p:cNvPr>
          <p:cNvPicPr>
            <a:picLocks noChangeAspect="1"/>
          </p:cNvPicPr>
          <p:nvPr/>
        </p:nvPicPr>
        <p:blipFill>
          <a:blip r:embed="rId4"/>
          <a:stretch>
            <a:fillRect/>
          </a:stretch>
        </p:blipFill>
        <p:spPr>
          <a:xfrm>
            <a:off x="731520" y="2788920"/>
            <a:ext cx="219456" cy="219456"/>
          </a:xfrm>
          <a:prstGeom prst="rect">
            <a:avLst/>
          </a:prstGeom>
        </p:spPr>
      </p:pic>
      <p:sp>
        <p:nvSpPr>
          <p:cNvPr id="28" name="Text 21"/>
          <p:cNvSpPr txBox="1"/>
          <p:nvPr/>
        </p:nvSpPr>
        <p:spPr>
          <a:xfrm>
            <a:off x="1170432" y="264261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Infografiche</a:t>
            </a:r>
            <a:endParaRPr lang="en-US" sz="1300" dirty="0"/>
          </a:p>
        </p:txBody>
      </p:sp>
      <p:sp>
        <p:nvSpPr>
          <p:cNvPr id="29" name="Text 22"/>
          <p:cNvSpPr txBox="1"/>
          <p:nvPr/>
        </p:nvSpPr>
        <p:spPr>
          <a:xfrm>
            <a:off x="621792" y="3227832"/>
            <a:ext cx="2292096" cy="475488"/>
          </a:xfrm>
          <a:prstGeom prst="rect">
            <a:avLst/>
          </a:prstGeom>
          <a:noFill/>
          <a:ln/>
        </p:spPr>
        <p:txBody>
          <a:bodyPr wrap="square" lIns="0" tIns="0" rIns="0" bIns="0" rtlCol="0" anchor="t"/>
          <a:lstStyle/>
          <a:p>
            <a:pPr indent="0" marL="0">
              <a:buNone/>
            </a:pPr>
            <a:r>
              <a:rPr lang="en-US" sz="1200" dirty="0">
                <a:solidFill>
                  <a:schemeClr val="tx2"/>
                </a:solidFill>
              </a:rPr>
              <a:t>Informazioni e numeri in sintesi visiva</a:t>
            </a:r>
            <a:endParaRPr lang="en-US" sz="1200" dirty="0"/>
          </a:p>
        </p:txBody>
      </p:sp>
      <p:sp>
        <p:nvSpPr>
          <p:cNvPr id="30" name="Organizzazione visiva"/>
          <p:cNvSpPr/>
          <p:nvPr/>
        </p:nvSpPr>
        <p:spPr>
          <a:xfrm>
            <a:off x="3261360" y="2514600"/>
            <a:ext cx="2621280" cy="1280160"/>
          </a:xfrm>
          <a:prstGeom prst="roundRect">
            <a:avLst>
              <a:gd name="adj" fmla="val 5714"/>
            </a:avLst>
          </a:prstGeom>
          <a:solidFill>
            <a:schemeClr val="bg2"/>
          </a:solidFill>
          <a:ln/>
        </p:spPr>
      </p:sp>
      <p:sp>
        <p:nvSpPr>
          <p:cNvPr id="31" name="cerchio FiGrid"/>
          <p:cNvSpPr/>
          <p:nvPr/>
        </p:nvSpPr>
        <p:spPr>
          <a:xfrm>
            <a:off x="3425952" y="2679192"/>
            <a:ext cx="438912" cy="438912"/>
          </a:xfrm>
          <a:prstGeom prst="ellipse">
            <a:avLst/>
          </a:prstGeom>
          <a:solidFill>
            <a:schemeClr val="accent1"/>
          </a:solidFill>
          <a:ln/>
        </p:spPr>
      </p:sp>
      <p:pic>
        <p:nvPicPr>
          <p:cNvPr id="32" name="Image 4" descr="FiGrid">    </p:cNvPr>
          <p:cNvPicPr>
            <a:picLocks noChangeAspect="1"/>
          </p:cNvPicPr>
          <p:nvPr/>
        </p:nvPicPr>
        <p:blipFill>
          <a:blip r:embed="rId5"/>
          <a:stretch>
            <a:fillRect/>
          </a:stretch>
        </p:blipFill>
        <p:spPr>
          <a:xfrm>
            <a:off x="3535680" y="2788920"/>
            <a:ext cx="219456" cy="219456"/>
          </a:xfrm>
          <a:prstGeom prst="rect">
            <a:avLst/>
          </a:prstGeom>
        </p:spPr>
      </p:pic>
      <p:sp>
        <p:nvSpPr>
          <p:cNvPr id="33" name="Text 25"/>
          <p:cNvSpPr txBox="1"/>
          <p:nvPr/>
        </p:nvSpPr>
        <p:spPr>
          <a:xfrm>
            <a:off x="3974592" y="264261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Organizzazione visiva</a:t>
            </a:r>
            <a:endParaRPr lang="en-US" sz="1300" dirty="0"/>
          </a:p>
        </p:txBody>
      </p:sp>
      <p:sp>
        <p:nvSpPr>
          <p:cNvPr id="34" name="Text 26"/>
          <p:cNvSpPr txBox="1"/>
          <p:nvPr/>
        </p:nvSpPr>
        <p:spPr>
          <a:xfrm>
            <a:off x="3425952" y="3227832"/>
            <a:ext cx="2292096" cy="475488"/>
          </a:xfrm>
          <a:prstGeom prst="rect">
            <a:avLst/>
          </a:prstGeom>
          <a:noFill/>
          <a:ln/>
        </p:spPr>
        <p:txBody>
          <a:bodyPr wrap="square" lIns="0" tIns="0" rIns="0" bIns="0" rtlCol="0" anchor="t"/>
          <a:lstStyle/>
          <a:p>
            <a:pPr indent="0" marL="0">
              <a:buNone/>
            </a:pPr>
            <a:r>
              <a:rPr lang="en-US" sz="1200" dirty="0">
                <a:solidFill>
                  <a:schemeClr val="tx2"/>
                </a:solidFill>
              </a:rPr>
              <a:t>Che cosa evidenziare, come raggruppare</a:t>
            </a:r>
            <a:endParaRPr lang="en-US" sz="1200" dirty="0"/>
          </a:p>
        </p:txBody>
      </p:sp>
      <p:sp>
        <p:nvSpPr>
          <p:cNvPr id="35" name="Una bozza"/>
          <p:cNvSpPr/>
          <p:nvPr/>
        </p:nvSpPr>
        <p:spPr>
          <a:xfrm>
            <a:off x="6065520" y="2514600"/>
            <a:ext cx="2621280" cy="1280160"/>
          </a:xfrm>
          <a:prstGeom prst="roundRect">
            <a:avLst>
              <a:gd name="adj" fmla="val 5714"/>
            </a:avLst>
          </a:prstGeom>
          <a:solidFill>
            <a:schemeClr val="accent6"/>
          </a:solidFill>
          <a:ln/>
        </p:spPr>
      </p:sp>
      <p:sp>
        <p:nvSpPr>
          <p:cNvPr id="36" name="cerchio FiEdit"/>
          <p:cNvSpPr/>
          <p:nvPr/>
        </p:nvSpPr>
        <p:spPr>
          <a:xfrm>
            <a:off x="6230112" y="2679192"/>
            <a:ext cx="438912" cy="438912"/>
          </a:xfrm>
          <a:prstGeom prst="ellipse">
            <a:avLst/>
          </a:prstGeom>
          <a:solidFill>
            <a:schemeClr val="accent1"/>
          </a:solidFill>
          <a:ln/>
        </p:spPr>
      </p:sp>
      <p:pic>
        <p:nvPicPr>
          <p:cNvPr id="37" name="Image 5" descr="FiEdit">    </p:cNvPr>
          <p:cNvPicPr>
            <a:picLocks noChangeAspect="1"/>
          </p:cNvPicPr>
          <p:nvPr/>
        </p:nvPicPr>
        <p:blipFill>
          <a:blip r:embed="rId6"/>
          <a:stretch>
            <a:fillRect/>
          </a:stretch>
        </p:blipFill>
        <p:spPr>
          <a:xfrm>
            <a:off x="6339840" y="2788920"/>
            <a:ext cx="219456" cy="219456"/>
          </a:xfrm>
          <a:prstGeom prst="rect">
            <a:avLst/>
          </a:prstGeom>
        </p:spPr>
      </p:pic>
      <p:sp>
        <p:nvSpPr>
          <p:cNvPr id="38" name="Text 29"/>
          <p:cNvSpPr txBox="1"/>
          <p:nvPr/>
        </p:nvSpPr>
        <p:spPr>
          <a:xfrm>
            <a:off x="6778752" y="264261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Una bozza</a:t>
            </a:r>
            <a:endParaRPr lang="en-US" sz="1300" dirty="0"/>
          </a:p>
        </p:txBody>
      </p:sp>
      <p:sp>
        <p:nvSpPr>
          <p:cNvPr id="39" name="Text 30"/>
          <p:cNvSpPr txBox="1"/>
          <p:nvPr/>
        </p:nvSpPr>
        <p:spPr>
          <a:xfrm>
            <a:off x="6230112" y="3227832"/>
            <a:ext cx="2292096" cy="475488"/>
          </a:xfrm>
          <a:prstGeom prst="rect">
            <a:avLst/>
          </a:prstGeom>
          <a:noFill/>
          <a:ln/>
        </p:spPr>
        <p:txBody>
          <a:bodyPr wrap="square" lIns="0" tIns="0" rIns="0" bIns="0" rtlCol="0" anchor="t"/>
          <a:lstStyle/>
          <a:p>
            <a:pPr indent="0" marL="0">
              <a:buNone/>
            </a:pPr>
            <a:r>
              <a:rPr lang="en-US" sz="1200" dirty="0">
                <a:solidFill>
                  <a:schemeClr val="tx2"/>
                </a:solidFill>
              </a:rPr>
              <a:t>Struttura, contenuti e immagini da rivedere</a:t>
            </a:r>
            <a:endParaRPr lang="en-US" sz="1200" dirty="0"/>
          </a:p>
        </p:txBody>
      </p:sp>
      <p:sp>
        <p:nvSpPr>
          <p:cNvPr id="40" name="messaggio"/>
          <p:cNvSpPr/>
          <p:nvPr/>
        </p:nvSpPr>
        <p:spPr>
          <a:xfrm>
            <a:off x="457200" y="3977640"/>
            <a:ext cx="8229600" cy="548640"/>
          </a:xfrm>
          <a:prstGeom prst="roundRect">
            <a:avLst>
              <a:gd name="adj" fmla="val 13333"/>
            </a:avLst>
          </a:prstGeom>
          <a:solidFill>
            <a:schemeClr val="tx1"/>
          </a:solidFill>
          <a:ln/>
        </p:spPr>
      </p:sp>
      <p:sp>
        <p:nvSpPr>
          <p:cNvPr id="41" name="Text 32"/>
          <p:cNvSpPr txBox="1"/>
          <p:nvPr/>
        </p:nvSpPr>
        <p:spPr>
          <a:xfrm>
            <a:off x="640080" y="3977640"/>
            <a:ext cx="7863840" cy="548640"/>
          </a:xfrm>
          <a:prstGeom prst="rect">
            <a:avLst/>
          </a:prstGeom>
          <a:noFill/>
          <a:ln/>
        </p:spPr>
        <p:txBody>
          <a:bodyPr wrap="square" lIns="0" tIns="0" rIns="0" bIns="0" rtlCol="0" anchor="ctr"/>
          <a:lstStyle/>
          <a:p>
            <a:pPr indent="0" marL="0">
              <a:buNone/>
            </a:pPr>
            <a:r>
              <a:rPr lang="en-US" sz="1300" dirty="0">
                <a:solidFill>
                  <a:schemeClr val="bg1"/>
                </a:solidFill>
              </a:rPr>
              <a:t>Il valore: meno tempo sull'impaginazione, una struttura da cui partire invece di una pagina bianca.</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Adattare ai destinatari</a:t>
            </a:r>
            <a:endParaRPr lang="en-US" sz="2600" dirty="0"/>
          </a:p>
        </p:txBody>
      </p:sp>
      <p:sp>
        <p:nvSpPr>
          <p:cNvPr id="4" name="operazione Interpretare"/>
          <p:cNvSpPr/>
          <p:nvPr/>
        </p:nvSpPr>
        <p:spPr>
          <a:xfrm>
            <a:off x="6053328" y="384048"/>
            <a:ext cx="841248"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6053328" y="384048"/>
            <a:ext cx="841248" cy="237744"/>
          </a:xfrm>
          <a:prstGeom prst="rect">
            <a:avLst/>
          </a:prstGeom>
          <a:noFill/>
          <a:ln/>
        </p:spPr>
        <p:txBody>
          <a:bodyPr wrap="square" lIns="0" tIns="0" rIns="0" bIns="0" rtlCol="0" anchor="ctr"/>
          <a:lstStyle/>
          <a:p>
            <a:pPr algn="ctr" indent="0" marL="0">
              <a:buNone/>
            </a:pPr>
            <a:r>
              <a:rPr lang="en-US" sz="900" b="1" dirty="0">
                <a:solidFill>
                  <a:schemeClr val="accent1"/>
                </a:solidFill>
              </a:rPr>
              <a:t>Interpretare</a:t>
            </a:r>
            <a:endParaRPr lang="en-US" sz="900" dirty="0"/>
          </a:p>
        </p:txBody>
      </p:sp>
      <p:sp>
        <p:nvSpPr>
          <p:cNvPr id="6" name="operazione Generare"/>
          <p:cNvSpPr/>
          <p:nvPr/>
        </p:nvSpPr>
        <p:spPr>
          <a:xfrm>
            <a:off x="6940296" y="384048"/>
            <a:ext cx="841248"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940296" y="384048"/>
            <a:ext cx="841248" cy="237744"/>
          </a:xfrm>
          <a:prstGeom prst="rect">
            <a:avLst/>
          </a:prstGeom>
          <a:noFill/>
          <a:ln/>
        </p:spPr>
        <p:txBody>
          <a:bodyPr wrap="square" lIns="0" tIns="0" rIns="0" bIns="0" rtlCol="0" anchor="ctr"/>
          <a:lstStyle/>
          <a:p>
            <a:pPr algn="ctr" indent="0" marL="0">
              <a:buNone/>
            </a:pPr>
            <a:r>
              <a:rPr lang="en-US" sz="900" b="1" dirty="0">
                <a:solidFill>
                  <a:schemeClr val="accent1"/>
                </a:solidFill>
              </a:rPr>
              <a:t>Generare</a:t>
            </a:r>
            <a:endParaRPr lang="en-US" sz="900" dirty="0"/>
          </a:p>
        </p:txBody>
      </p:sp>
      <p:sp>
        <p:nvSpPr>
          <p:cNvPr id="8" name="operazione Trasformare"/>
          <p:cNvSpPr/>
          <p:nvPr/>
        </p:nvSpPr>
        <p:spPr>
          <a:xfrm>
            <a:off x="7827264" y="384048"/>
            <a:ext cx="841248"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7827264" y="384048"/>
            <a:ext cx="841248" cy="237744"/>
          </a:xfrm>
          <a:prstGeom prst="rect">
            <a:avLst/>
          </a:prstGeom>
          <a:noFill/>
          <a:ln/>
        </p:spPr>
        <p:txBody>
          <a:bodyPr wrap="square" lIns="0" tIns="0" rIns="0" bIns="0" rtlCol="0" anchor="ctr"/>
          <a:lstStyle/>
          <a:p>
            <a:pPr algn="ctr" indent="0" marL="0">
              <a:buNone/>
            </a:pPr>
            <a:r>
              <a:rPr lang="en-US" sz="900" b="1" dirty="0">
                <a:solidFill>
                  <a:schemeClr val="bg1"/>
                </a:solidFill>
              </a:rPr>
              <a:t>Trasformare</a:t>
            </a:r>
            <a:endParaRPr lang="en-US" sz="900" dirty="0"/>
          </a:p>
        </p:txBody>
      </p:sp>
      <p:sp>
        <p:nvSpPr>
          <p:cNvPr id="10" name="riquadro Un documento di progetto"/>
          <p:cNvSpPr/>
          <p:nvPr/>
        </p:nvSpPr>
        <p:spPr>
          <a:xfrm>
            <a:off x="457200" y="1051560"/>
            <a:ext cx="2377440" cy="2377440"/>
          </a:xfrm>
          <a:prstGeom prst="roundRect">
            <a:avLst>
              <a:gd name="adj" fmla="val 3077"/>
            </a:avLst>
          </a:prstGeom>
          <a:solidFill>
            <a:schemeClr val="accent6"/>
          </a:solidFill>
          <a:ln/>
        </p:spPr>
      </p:sp>
      <p:sp>
        <p:nvSpPr>
          <p:cNvPr id="11" name="barra"/>
          <p:cNvSpPr/>
          <p:nvPr/>
        </p:nvSpPr>
        <p:spPr>
          <a:xfrm>
            <a:off x="457200" y="1161288"/>
            <a:ext cx="54864" cy="2157984"/>
          </a:xfrm>
          <a:prstGeom prst="rect">
            <a:avLst/>
          </a:prstGeom>
          <a:solidFill>
            <a:schemeClr val="accent1"/>
          </a:solidFill>
          <a:ln/>
        </p:spPr>
      </p:sp>
      <p:sp>
        <p:nvSpPr>
          <p:cNvPr id="12" name="Text 9"/>
          <p:cNvSpPr txBox="1"/>
          <p:nvPr/>
        </p:nvSpPr>
        <p:spPr>
          <a:xfrm>
            <a:off x="658368" y="1143000"/>
            <a:ext cx="2011680" cy="256032"/>
          </a:xfrm>
          <a:prstGeom prst="rect">
            <a:avLst/>
          </a:prstGeom>
          <a:noFill/>
          <a:ln/>
        </p:spPr>
        <p:txBody>
          <a:bodyPr wrap="square" lIns="0" tIns="0" rIns="0" bIns="0" rtlCol="0" anchor="t"/>
          <a:lstStyle/>
          <a:p>
            <a:pPr indent="0" marL="0">
              <a:buNone/>
            </a:pPr>
            <a:r>
              <a:rPr lang="en-US" sz="1100" b="1" dirty="0">
                <a:solidFill>
                  <a:schemeClr val="accent1"/>
                </a:solidFill>
              </a:rPr>
              <a:t>Un documento di progetto</a:t>
            </a:r>
            <a:endParaRPr lang="en-US" sz="1100" dirty="0"/>
          </a:p>
        </p:txBody>
      </p:sp>
      <p:sp>
        <p:nvSpPr>
          <p:cNvPr id="13" name="Text 10"/>
          <p:cNvSpPr txBox="1"/>
          <p:nvPr/>
        </p:nvSpPr>
        <p:spPr>
          <a:xfrm>
            <a:off x="658368" y="1435608"/>
            <a:ext cx="2011680" cy="1901952"/>
          </a:xfrm>
          <a:prstGeom prst="rect">
            <a:avLst/>
          </a:prstGeom>
          <a:noFill/>
          <a:ln/>
        </p:spPr>
        <p:txBody>
          <a:bodyPr wrap="square" lIns="0" tIns="0" rIns="0" bIns="0" rtlCol="0" anchor="t"/>
          <a:lstStyle/>
          <a:p>
            <a:pPr indent="0" marL="0">
              <a:buNone/>
            </a:pPr>
            <a:r>
              <a:rPr lang="en-US" sz="1200" dirty="0">
                <a:solidFill>
                  <a:schemeClr val="tx1"/>
                </a:solidFill>
              </a:rPr>
              <a:t>Obiettivi, attività, tempi, costi, rischi, responsabilità, istruzioni.</a:t>
            </a:r>
            <a:endParaRPr lang="en-US" sz="1200" dirty="0"/>
          </a:p>
        </p:txBody>
      </p:sp>
      <p:sp>
        <p:nvSpPr>
          <p:cNvPr id="14" name="freccia"/>
          <p:cNvSpPr/>
          <p:nvPr/>
        </p:nvSpPr>
        <p:spPr>
          <a:xfrm>
            <a:off x="2926080" y="2103120"/>
            <a:ext cx="320040" cy="292608"/>
          </a:xfrm>
          <a:prstGeom prst="rightArrow">
            <a:avLst/>
          </a:prstGeom>
          <a:solidFill>
            <a:schemeClr val="accent2"/>
          </a:solidFill>
          <a:ln/>
        </p:spPr>
      </p:sp>
      <p:sp>
        <p:nvSpPr>
          <p:cNvPr id="15" name="Direzione"/>
          <p:cNvSpPr/>
          <p:nvPr/>
        </p:nvSpPr>
        <p:spPr>
          <a:xfrm>
            <a:off x="3383280" y="1051560"/>
            <a:ext cx="5303520" cy="530352"/>
          </a:xfrm>
          <a:prstGeom prst="roundRect">
            <a:avLst>
              <a:gd name="adj" fmla="val 13793"/>
            </a:avLst>
          </a:prstGeom>
          <a:solidFill>
            <a:schemeClr val="bg2"/>
          </a:solidFill>
          <a:ln/>
        </p:spPr>
      </p:sp>
      <p:sp>
        <p:nvSpPr>
          <p:cNvPr id="16" name="Text 13"/>
          <p:cNvSpPr txBox="1"/>
          <p:nvPr/>
        </p:nvSpPr>
        <p:spPr>
          <a:xfrm>
            <a:off x="3566160" y="1051560"/>
            <a:ext cx="2103120" cy="530352"/>
          </a:xfrm>
          <a:prstGeom prst="rect">
            <a:avLst/>
          </a:prstGeom>
          <a:noFill/>
          <a:ln/>
        </p:spPr>
        <p:txBody>
          <a:bodyPr wrap="square" lIns="0" tIns="0" rIns="0" bIns="0" rtlCol="0" anchor="ctr"/>
          <a:lstStyle/>
          <a:p>
            <a:pPr indent="0" marL="0">
              <a:buNone/>
            </a:pPr>
            <a:r>
              <a:rPr lang="en-US" sz="1300" b="1" dirty="0">
                <a:solidFill>
                  <a:schemeClr val="accent1"/>
                </a:solidFill>
              </a:rPr>
              <a:t>Direzione</a:t>
            </a:r>
            <a:endParaRPr lang="en-US" sz="1300" dirty="0"/>
          </a:p>
        </p:txBody>
      </p:sp>
      <p:sp>
        <p:nvSpPr>
          <p:cNvPr id="17" name="Text 14"/>
          <p:cNvSpPr txBox="1"/>
          <p:nvPr/>
        </p:nvSpPr>
        <p:spPr>
          <a:xfrm>
            <a:off x="5669280" y="1051560"/>
            <a:ext cx="2926080" cy="530352"/>
          </a:xfrm>
          <a:prstGeom prst="rect">
            <a:avLst/>
          </a:prstGeom>
          <a:noFill/>
          <a:ln/>
        </p:spPr>
        <p:txBody>
          <a:bodyPr wrap="square" lIns="0" tIns="0" rIns="0" bIns="0" rtlCol="0" anchor="ctr"/>
          <a:lstStyle/>
          <a:p>
            <a:pPr indent="0" marL="0">
              <a:buNone/>
            </a:pPr>
            <a:r>
              <a:rPr lang="en-US" sz="1200" dirty="0">
                <a:solidFill>
                  <a:schemeClr val="tx1"/>
                </a:solidFill>
              </a:rPr>
              <a:t>Obiettivi, costi, rischi</a:t>
            </a:r>
            <a:endParaRPr lang="en-US" sz="1200" dirty="0"/>
          </a:p>
        </p:txBody>
      </p:sp>
      <p:sp>
        <p:nvSpPr>
          <p:cNvPr id="18" name="Gruppo di lavoro"/>
          <p:cNvSpPr/>
          <p:nvPr/>
        </p:nvSpPr>
        <p:spPr>
          <a:xfrm>
            <a:off x="3383280" y="1655064"/>
            <a:ext cx="5303520" cy="530352"/>
          </a:xfrm>
          <a:prstGeom prst="roundRect">
            <a:avLst>
              <a:gd name="adj" fmla="val 13793"/>
            </a:avLst>
          </a:prstGeom>
          <a:solidFill>
            <a:schemeClr val="bg1"/>
          </a:solidFill>
          <a:ln/>
        </p:spPr>
      </p:sp>
      <p:sp>
        <p:nvSpPr>
          <p:cNvPr id="19" name="Text 16"/>
          <p:cNvSpPr txBox="1"/>
          <p:nvPr/>
        </p:nvSpPr>
        <p:spPr>
          <a:xfrm>
            <a:off x="3566160" y="1655064"/>
            <a:ext cx="2103120" cy="530352"/>
          </a:xfrm>
          <a:prstGeom prst="rect">
            <a:avLst/>
          </a:prstGeom>
          <a:noFill/>
          <a:ln/>
        </p:spPr>
        <p:txBody>
          <a:bodyPr wrap="square" lIns="0" tIns="0" rIns="0" bIns="0" rtlCol="0" anchor="ctr"/>
          <a:lstStyle/>
          <a:p>
            <a:pPr indent="0" marL="0">
              <a:buNone/>
            </a:pPr>
            <a:r>
              <a:rPr lang="en-US" sz="1300" b="1" dirty="0">
                <a:solidFill>
                  <a:schemeClr val="accent1"/>
                </a:solidFill>
              </a:rPr>
              <a:t>Gruppo di lavoro</a:t>
            </a:r>
            <a:endParaRPr lang="en-US" sz="1300" dirty="0"/>
          </a:p>
        </p:txBody>
      </p:sp>
      <p:sp>
        <p:nvSpPr>
          <p:cNvPr id="20" name="Text 17"/>
          <p:cNvSpPr txBox="1"/>
          <p:nvPr/>
        </p:nvSpPr>
        <p:spPr>
          <a:xfrm>
            <a:off x="5669280" y="1655064"/>
            <a:ext cx="2926080" cy="530352"/>
          </a:xfrm>
          <a:prstGeom prst="rect">
            <a:avLst/>
          </a:prstGeom>
          <a:noFill/>
          <a:ln/>
        </p:spPr>
        <p:txBody>
          <a:bodyPr wrap="square" lIns="0" tIns="0" rIns="0" bIns="0" rtlCol="0" anchor="ctr"/>
          <a:lstStyle/>
          <a:p>
            <a:pPr indent="0" marL="0">
              <a:buNone/>
            </a:pPr>
            <a:r>
              <a:rPr lang="en-US" sz="1200" dirty="0">
                <a:solidFill>
                  <a:schemeClr val="tx1"/>
                </a:solidFill>
              </a:rPr>
              <a:t>Attività, tempi, responsabilità</a:t>
            </a:r>
            <a:endParaRPr lang="en-US" sz="1200" dirty="0"/>
          </a:p>
        </p:txBody>
      </p:sp>
      <p:sp>
        <p:nvSpPr>
          <p:cNvPr id="21" name="Formazione"/>
          <p:cNvSpPr/>
          <p:nvPr/>
        </p:nvSpPr>
        <p:spPr>
          <a:xfrm>
            <a:off x="3383280" y="2258568"/>
            <a:ext cx="5303520" cy="530352"/>
          </a:xfrm>
          <a:prstGeom prst="roundRect">
            <a:avLst>
              <a:gd name="adj" fmla="val 13793"/>
            </a:avLst>
          </a:prstGeom>
          <a:solidFill>
            <a:schemeClr val="bg2"/>
          </a:solidFill>
          <a:ln/>
        </p:spPr>
      </p:sp>
      <p:sp>
        <p:nvSpPr>
          <p:cNvPr id="22" name="Text 19"/>
          <p:cNvSpPr txBox="1"/>
          <p:nvPr/>
        </p:nvSpPr>
        <p:spPr>
          <a:xfrm>
            <a:off x="3566160" y="2258568"/>
            <a:ext cx="2103120" cy="530352"/>
          </a:xfrm>
          <a:prstGeom prst="rect">
            <a:avLst/>
          </a:prstGeom>
          <a:noFill/>
          <a:ln/>
        </p:spPr>
        <p:txBody>
          <a:bodyPr wrap="square" lIns="0" tIns="0" rIns="0" bIns="0" rtlCol="0" anchor="ctr"/>
          <a:lstStyle/>
          <a:p>
            <a:pPr indent="0" marL="0">
              <a:buNone/>
            </a:pPr>
            <a:r>
              <a:rPr lang="en-US" sz="1300" b="1" dirty="0">
                <a:solidFill>
                  <a:schemeClr val="accent1"/>
                </a:solidFill>
              </a:rPr>
              <a:t>Formazione</a:t>
            </a:r>
            <a:endParaRPr lang="en-US" sz="1300" dirty="0"/>
          </a:p>
        </p:txBody>
      </p:sp>
      <p:sp>
        <p:nvSpPr>
          <p:cNvPr id="23" name="Text 20"/>
          <p:cNvSpPr txBox="1"/>
          <p:nvPr/>
        </p:nvSpPr>
        <p:spPr>
          <a:xfrm>
            <a:off x="5669280" y="2258568"/>
            <a:ext cx="2926080" cy="530352"/>
          </a:xfrm>
          <a:prstGeom prst="rect">
            <a:avLst/>
          </a:prstGeom>
          <a:noFill/>
          <a:ln/>
        </p:spPr>
        <p:txBody>
          <a:bodyPr wrap="square" lIns="0" tIns="0" rIns="0" bIns="0" rtlCol="0" anchor="ctr"/>
          <a:lstStyle/>
          <a:p>
            <a:pPr indent="0" marL="0">
              <a:buNone/>
            </a:pPr>
            <a:r>
              <a:rPr lang="en-US" sz="1200" dirty="0">
                <a:solidFill>
                  <a:schemeClr val="tx1"/>
                </a:solidFill>
              </a:rPr>
              <a:t>Istruzioni ed esempi</a:t>
            </a:r>
            <a:endParaRPr lang="en-US" sz="1200" dirty="0"/>
          </a:p>
        </p:txBody>
      </p:sp>
      <p:sp>
        <p:nvSpPr>
          <p:cNvPr id="24" name="Comunicazione interna"/>
          <p:cNvSpPr/>
          <p:nvPr/>
        </p:nvSpPr>
        <p:spPr>
          <a:xfrm>
            <a:off x="3383280" y="2862072"/>
            <a:ext cx="5303520" cy="530352"/>
          </a:xfrm>
          <a:prstGeom prst="roundRect">
            <a:avLst>
              <a:gd name="adj" fmla="val 13793"/>
            </a:avLst>
          </a:prstGeom>
          <a:solidFill>
            <a:schemeClr val="bg1"/>
          </a:solidFill>
          <a:ln/>
        </p:spPr>
      </p:sp>
      <p:sp>
        <p:nvSpPr>
          <p:cNvPr id="25" name="Text 22"/>
          <p:cNvSpPr txBox="1"/>
          <p:nvPr/>
        </p:nvSpPr>
        <p:spPr>
          <a:xfrm>
            <a:off x="3566160" y="2862072"/>
            <a:ext cx="2103120" cy="530352"/>
          </a:xfrm>
          <a:prstGeom prst="rect">
            <a:avLst/>
          </a:prstGeom>
          <a:noFill/>
          <a:ln/>
        </p:spPr>
        <p:txBody>
          <a:bodyPr wrap="square" lIns="0" tIns="0" rIns="0" bIns="0" rtlCol="0" anchor="ctr"/>
          <a:lstStyle/>
          <a:p>
            <a:pPr indent="0" marL="0">
              <a:buNone/>
            </a:pPr>
            <a:r>
              <a:rPr lang="en-US" sz="1300" b="1" dirty="0">
                <a:solidFill>
                  <a:schemeClr val="accent1"/>
                </a:solidFill>
              </a:rPr>
              <a:t>Comunicazione interna</a:t>
            </a:r>
            <a:endParaRPr lang="en-US" sz="1300" dirty="0"/>
          </a:p>
        </p:txBody>
      </p:sp>
      <p:sp>
        <p:nvSpPr>
          <p:cNvPr id="26" name="Text 23"/>
          <p:cNvSpPr txBox="1"/>
          <p:nvPr/>
        </p:nvSpPr>
        <p:spPr>
          <a:xfrm>
            <a:off x="5669280" y="2862072"/>
            <a:ext cx="2926080" cy="530352"/>
          </a:xfrm>
          <a:prstGeom prst="rect">
            <a:avLst/>
          </a:prstGeom>
          <a:noFill/>
          <a:ln/>
        </p:spPr>
        <p:txBody>
          <a:bodyPr wrap="square" lIns="0" tIns="0" rIns="0" bIns="0" rtlCol="0" anchor="ctr"/>
          <a:lstStyle/>
          <a:p>
            <a:pPr indent="0" marL="0">
              <a:buNone/>
            </a:pPr>
            <a:r>
              <a:rPr lang="en-US" sz="1200" dirty="0">
                <a:solidFill>
                  <a:schemeClr val="tx1"/>
                </a:solidFill>
              </a:rPr>
              <a:t>Breve e visiva</a:t>
            </a:r>
            <a:endParaRPr lang="en-US" sz="1200" dirty="0"/>
          </a:p>
        </p:txBody>
      </p:sp>
      <p:sp>
        <p:nvSpPr>
          <p:cNvPr id="27" name="messaggio"/>
          <p:cNvSpPr/>
          <p:nvPr/>
        </p:nvSpPr>
        <p:spPr>
          <a:xfrm>
            <a:off x="457200" y="3611880"/>
            <a:ext cx="8229600" cy="685800"/>
          </a:xfrm>
          <a:prstGeom prst="roundRect">
            <a:avLst>
              <a:gd name="adj" fmla="val 10667"/>
            </a:avLst>
          </a:prstGeom>
          <a:solidFill>
            <a:schemeClr val="tx1"/>
          </a:solidFill>
          <a:ln/>
        </p:spPr>
      </p:sp>
      <p:sp>
        <p:nvSpPr>
          <p:cNvPr id="28" name="Text 25"/>
          <p:cNvSpPr txBox="1"/>
          <p:nvPr/>
        </p:nvSpPr>
        <p:spPr>
          <a:xfrm>
            <a:off x="640080" y="3611880"/>
            <a:ext cx="7863840" cy="685800"/>
          </a:xfrm>
          <a:prstGeom prst="rect">
            <a:avLst/>
          </a:prstGeom>
          <a:noFill/>
          <a:ln/>
        </p:spPr>
        <p:txBody>
          <a:bodyPr wrap="square" lIns="0" tIns="0" rIns="0" bIns="0" rtlCol="0" anchor="ctr"/>
          <a:lstStyle/>
          <a:p>
            <a:pPr indent="0" marL="0">
              <a:buNone/>
            </a:pPr>
            <a:r>
              <a:rPr lang="en-US" sz="1300" dirty="0">
                <a:solidFill>
                  <a:schemeClr val="bg1"/>
                </a:solidFill>
              </a:rPr>
              <a:t>Ogni versione eredita gli errori della base e seleziona: va controllata per il proprio destinatario.</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Coerenza tra testo e visivo</a:t>
            </a:r>
            <a:endParaRPr lang="en-US" sz="2600" dirty="0"/>
          </a:p>
        </p:txBody>
      </p:sp>
      <p:sp>
        <p:nvSpPr>
          <p:cNvPr id="4" name="operazione Interpretare"/>
          <p:cNvSpPr/>
          <p:nvPr/>
        </p:nvSpPr>
        <p:spPr>
          <a:xfrm>
            <a:off x="6053328" y="384048"/>
            <a:ext cx="841248"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6053328" y="384048"/>
            <a:ext cx="841248" cy="237744"/>
          </a:xfrm>
          <a:prstGeom prst="rect">
            <a:avLst/>
          </a:prstGeom>
          <a:noFill/>
          <a:ln/>
        </p:spPr>
        <p:txBody>
          <a:bodyPr wrap="square" lIns="0" tIns="0" rIns="0" bIns="0" rtlCol="0" anchor="ctr"/>
          <a:lstStyle/>
          <a:p>
            <a:pPr algn="ctr" indent="0" marL="0">
              <a:buNone/>
            </a:pPr>
            <a:r>
              <a:rPr lang="en-US" sz="900" b="1" dirty="0">
                <a:solidFill>
                  <a:schemeClr val="accent1"/>
                </a:solidFill>
              </a:rPr>
              <a:t>Interpretare</a:t>
            </a:r>
            <a:endParaRPr lang="en-US" sz="900" dirty="0"/>
          </a:p>
        </p:txBody>
      </p:sp>
      <p:sp>
        <p:nvSpPr>
          <p:cNvPr id="6" name="operazione Generare"/>
          <p:cNvSpPr/>
          <p:nvPr/>
        </p:nvSpPr>
        <p:spPr>
          <a:xfrm>
            <a:off x="6940296" y="384048"/>
            <a:ext cx="841248"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940296" y="384048"/>
            <a:ext cx="841248" cy="237744"/>
          </a:xfrm>
          <a:prstGeom prst="rect">
            <a:avLst/>
          </a:prstGeom>
          <a:noFill/>
          <a:ln/>
        </p:spPr>
        <p:txBody>
          <a:bodyPr wrap="square" lIns="0" tIns="0" rIns="0" bIns="0" rtlCol="0" anchor="ctr"/>
          <a:lstStyle/>
          <a:p>
            <a:pPr algn="ctr" indent="0" marL="0">
              <a:buNone/>
            </a:pPr>
            <a:r>
              <a:rPr lang="en-US" sz="900" b="1" dirty="0">
                <a:solidFill>
                  <a:schemeClr val="accent1"/>
                </a:solidFill>
              </a:rPr>
              <a:t>Generare</a:t>
            </a:r>
            <a:endParaRPr lang="en-US" sz="900" dirty="0"/>
          </a:p>
        </p:txBody>
      </p:sp>
      <p:sp>
        <p:nvSpPr>
          <p:cNvPr id="8" name="operazione Trasformare"/>
          <p:cNvSpPr/>
          <p:nvPr/>
        </p:nvSpPr>
        <p:spPr>
          <a:xfrm>
            <a:off x="7827264" y="384048"/>
            <a:ext cx="841248"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7827264" y="384048"/>
            <a:ext cx="841248" cy="237744"/>
          </a:xfrm>
          <a:prstGeom prst="rect">
            <a:avLst/>
          </a:prstGeom>
          <a:noFill/>
          <a:ln/>
        </p:spPr>
        <p:txBody>
          <a:bodyPr wrap="square" lIns="0" tIns="0" rIns="0" bIns="0" rtlCol="0" anchor="ctr"/>
          <a:lstStyle/>
          <a:p>
            <a:pPr algn="ctr" indent="0" marL="0">
              <a:buNone/>
            </a:pPr>
            <a:r>
              <a:rPr lang="en-US" sz="900" b="1" dirty="0">
                <a:solidFill>
                  <a:schemeClr val="bg1"/>
                </a:solidFill>
              </a:rPr>
              <a:t>Trasformare</a:t>
            </a:r>
            <a:endParaRPr lang="en-US" sz="900" dirty="0"/>
          </a:p>
        </p:txBody>
      </p:sp>
      <p:sp>
        <p:nvSpPr>
          <p:cNvPr id="10" name="riquadro Rapporto (esempio fittizio)"/>
          <p:cNvSpPr/>
          <p:nvPr/>
        </p:nvSpPr>
        <p:spPr>
          <a:xfrm>
            <a:off x="457200" y="1051560"/>
            <a:ext cx="3291840" cy="1371600"/>
          </a:xfrm>
          <a:prstGeom prst="roundRect">
            <a:avLst>
              <a:gd name="adj" fmla="val 5333"/>
            </a:avLst>
          </a:prstGeom>
          <a:solidFill>
            <a:schemeClr val="accent6"/>
          </a:solidFill>
          <a:ln/>
        </p:spPr>
      </p:sp>
      <p:sp>
        <p:nvSpPr>
          <p:cNvPr id="11" name="barra"/>
          <p:cNvSpPr/>
          <p:nvPr/>
        </p:nvSpPr>
        <p:spPr>
          <a:xfrm>
            <a:off x="457200" y="1161288"/>
            <a:ext cx="54864" cy="1152144"/>
          </a:xfrm>
          <a:prstGeom prst="rect">
            <a:avLst/>
          </a:prstGeom>
          <a:solidFill>
            <a:schemeClr val="accent1"/>
          </a:solidFill>
          <a:ln/>
        </p:spPr>
      </p:sp>
      <p:sp>
        <p:nvSpPr>
          <p:cNvPr id="12" name="Text 9"/>
          <p:cNvSpPr txBox="1"/>
          <p:nvPr/>
        </p:nvSpPr>
        <p:spPr>
          <a:xfrm>
            <a:off x="658368" y="1143000"/>
            <a:ext cx="2926080" cy="256032"/>
          </a:xfrm>
          <a:prstGeom prst="rect">
            <a:avLst/>
          </a:prstGeom>
          <a:noFill/>
          <a:ln/>
        </p:spPr>
        <p:txBody>
          <a:bodyPr wrap="square" lIns="0" tIns="0" rIns="0" bIns="0" rtlCol="0" anchor="t"/>
          <a:lstStyle/>
          <a:p>
            <a:pPr indent="0" marL="0">
              <a:buNone/>
            </a:pPr>
            <a:r>
              <a:rPr lang="en-US" sz="1100" b="1" dirty="0">
                <a:solidFill>
                  <a:schemeClr val="accent1"/>
                </a:solidFill>
              </a:rPr>
              <a:t>Rapporto (esempio fittizio)</a:t>
            </a:r>
            <a:endParaRPr lang="en-US" sz="1100" dirty="0"/>
          </a:p>
        </p:txBody>
      </p:sp>
      <p:sp>
        <p:nvSpPr>
          <p:cNvPr id="13" name="Text 10"/>
          <p:cNvSpPr txBox="1"/>
          <p:nvPr/>
        </p:nvSpPr>
        <p:spPr>
          <a:xfrm>
            <a:off x="658368" y="1435608"/>
            <a:ext cx="2926080" cy="896112"/>
          </a:xfrm>
          <a:prstGeom prst="rect">
            <a:avLst/>
          </a:prstGeom>
          <a:noFill/>
          <a:ln/>
        </p:spPr>
        <p:txBody>
          <a:bodyPr wrap="square" lIns="0" tIns="0" rIns="0" bIns="0" rtlCol="0" anchor="t"/>
          <a:lstStyle/>
          <a:p>
            <a:pPr indent="0" marL="0">
              <a:buNone/>
            </a:pPr>
            <a:r>
              <a:rPr lang="en-US" sz="1400" dirty="0">
                <a:solidFill>
                  <a:schemeClr val="tx1"/>
                </a:solidFill>
              </a:rPr>
              <a:t>Le vendite online sono il 35% del totale.</a:t>
            </a:r>
            <a:endParaRPr lang="en-US" sz="1400" dirty="0"/>
          </a:p>
        </p:txBody>
      </p:sp>
      <p:graphicFrame>
        <p:nvGraphicFramePr>
          <p:cNvPr id="14" name="Chart 0" descr=""/>
          <p:cNvGraphicFramePr/>
          <p:nvPr/>
        </p:nvGraphicFramePr>
        <p:xfrm>
          <a:off x="3931920" y="1005840"/>
          <a:ext cx="1828800" cy="1463040"/>
        </p:xfrm>
        <a:graphic xmlns:a="http://schemas.openxmlformats.org/drawingml/2006/main">
          <a:graphicData uri="http://schemas.openxmlformats.org/drawingml/2006/chart">
            <c:chart xmlns:c="http://schemas.openxmlformats.org/drawingml/2006/chart" r:id="rId1"/>
          </a:graphicData>
        </a:graphic>
      </p:graphicFrame>
      <p:sp>
        <p:nvSpPr>
          <p:cNvPr id="15" name="Text 11"/>
          <p:cNvSpPr txBox="1"/>
          <p:nvPr/>
        </p:nvSpPr>
        <p:spPr>
          <a:xfrm>
            <a:off x="5852160" y="1097280"/>
            <a:ext cx="2834640" cy="1280160"/>
          </a:xfrm>
          <a:prstGeom prst="rect">
            <a:avLst/>
          </a:prstGeom>
          <a:noFill/>
          <a:ln/>
        </p:spPr>
        <p:txBody>
          <a:bodyPr wrap="square" lIns="0" tIns="0" rIns="0" bIns="0" rtlCol="0" anchor="ctr"/>
          <a:lstStyle/>
          <a:p>
            <a:pPr indent="0" marL="0">
              <a:buNone/>
            </a:pPr>
            <a:r>
              <a:rPr lang="en-US" sz="1300" b="1" dirty="0">
                <a:solidFill>
                  <a:schemeClr val="accent5"/>
                </a:solidFill>
              </a:rPr>
              <a:t>Infografica: la fetta 'online' sembra metà</a:t>
            </a:r>
            <a:endParaRPr lang="en-US" sz="1300" dirty="0"/>
          </a:p>
        </p:txBody>
      </p:sp>
      <p:sp>
        <p:nvSpPr>
          <p:cNvPr id="16" name="blocco Proporzioni disegnate, non calcolate"/>
          <p:cNvSpPr/>
          <p:nvPr/>
        </p:nvSpPr>
        <p:spPr>
          <a:xfrm>
            <a:off x="457200" y="2651760"/>
            <a:ext cx="1965960" cy="640080"/>
          </a:xfrm>
          <a:prstGeom prst="roundRect">
            <a:avLst>
              <a:gd name="adj" fmla="val 17143"/>
            </a:avLst>
          </a:prstGeom>
          <a:solidFill>
            <a:schemeClr val="bg2"/>
          </a:solidFill>
          <a:ln/>
        </p:spPr>
      </p:sp>
      <p:sp>
        <p:nvSpPr>
          <p:cNvPr id="17" name="Text 13"/>
          <p:cNvSpPr txBox="1"/>
          <p:nvPr/>
        </p:nvSpPr>
        <p:spPr>
          <a:xfrm>
            <a:off x="502920" y="2651760"/>
            <a:ext cx="1874520" cy="640080"/>
          </a:xfrm>
          <a:prstGeom prst="rect">
            <a:avLst/>
          </a:prstGeom>
          <a:noFill/>
          <a:ln/>
        </p:spPr>
        <p:txBody>
          <a:bodyPr wrap="square" lIns="0" tIns="0" rIns="0" bIns="0" rtlCol="0" anchor="ctr"/>
          <a:lstStyle/>
          <a:p>
            <a:pPr algn="ctr" indent="0" marL="0">
              <a:buNone/>
            </a:pPr>
            <a:r>
              <a:rPr lang="en-US" sz="1100" b="1" dirty="0">
                <a:solidFill>
                  <a:schemeClr val="tx1"/>
                </a:solidFill>
              </a:rPr>
              <a:t>Proporzioni disegnate, non calcolate</a:t>
            </a:r>
            <a:endParaRPr lang="en-US" sz="1100" dirty="0"/>
          </a:p>
        </p:txBody>
      </p:sp>
      <p:sp>
        <p:nvSpPr>
          <p:cNvPr id="18" name="blocco Icone che suggeriscono altro"/>
          <p:cNvSpPr/>
          <p:nvPr/>
        </p:nvSpPr>
        <p:spPr>
          <a:xfrm>
            <a:off x="2560320" y="2651760"/>
            <a:ext cx="1965960" cy="640080"/>
          </a:xfrm>
          <a:prstGeom prst="roundRect">
            <a:avLst>
              <a:gd name="adj" fmla="val 17143"/>
            </a:avLst>
          </a:prstGeom>
          <a:solidFill>
            <a:schemeClr val="bg2"/>
          </a:solidFill>
          <a:ln/>
        </p:spPr>
      </p:sp>
      <p:sp>
        <p:nvSpPr>
          <p:cNvPr id="19" name="Text 15"/>
          <p:cNvSpPr txBox="1"/>
          <p:nvPr/>
        </p:nvSpPr>
        <p:spPr>
          <a:xfrm>
            <a:off x="2606040" y="2651760"/>
            <a:ext cx="1874520" cy="640080"/>
          </a:xfrm>
          <a:prstGeom prst="rect">
            <a:avLst/>
          </a:prstGeom>
          <a:noFill/>
          <a:ln/>
        </p:spPr>
        <p:txBody>
          <a:bodyPr wrap="square" lIns="0" tIns="0" rIns="0" bIns="0" rtlCol="0" anchor="ctr"/>
          <a:lstStyle/>
          <a:p>
            <a:pPr algn="ctr" indent="0" marL="0">
              <a:buNone/>
            </a:pPr>
            <a:r>
              <a:rPr lang="en-US" sz="1100" b="1" dirty="0">
                <a:solidFill>
                  <a:schemeClr val="tx1"/>
                </a:solidFill>
              </a:rPr>
              <a:t>Icone che suggeriscono altro</a:t>
            </a:r>
            <a:endParaRPr lang="en-US" sz="1100" dirty="0"/>
          </a:p>
        </p:txBody>
      </p:sp>
      <p:sp>
        <p:nvSpPr>
          <p:cNvPr id="20" name="blocco Schemi semplificati fino all'errore"/>
          <p:cNvSpPr/>
          <p:nvPr/>
        </p:nvSpPr>
        <p:spPr>
          <a:xfrm>
            <a:off x="4663440" y="2651760"/>
            <a:ext cx="1965960" cy="640080"/>
          </a:xfrm>
          <a:prstGeom prst="roundRect">
            <a:avLst>
              <a:gd name="adj" fmla="val 17143"/>
            </a:avLst>
          </a:prstGeom>
          <a:solidFill>
            <a:schemeClr val="bg2"/>
          </a:solidFill>
          <a:ln/>
        </p:spPr>
      </p:sp>
      <p:sp>
        <p:nvSpPr>
          <p:cNvPr id="21" name="Text 17"/>
          <p:cNvSpPr txBox="1"/>
          <p:nvPr/>
        </p:nvSpPr>
        <p:spPr>
          <a:xfrm>
            <a:off x="4709160" y="2651760"/>
            <a:ext cx="1874520" cy="640080"/>
          </a:xfrm>
          <a:prstGeom prst="rect">
            <a:avLst/>
          </a:prstGeom>
          <a:noFill/>
          <a:ln/>
        </p:spPr>
        <p:txBody>
          <a:bodyPr wrap="square" lIns="0" tIns="0" rIns="0" bIns="0" rtlCol="0" anchor="ctr"/>
          <a:lstStyle/>
          <a:p>
            <a:pPr algn="ctr" indent="0" marL="0">
              <a:buNone/>
            </a:pPr>
            <a:r>
              <a:rPr lang="en-US" sz="1100" b="1" dirty="0">
                <a:solidFill>
                  <a:schemeClr val="tx1"/>
                </a:solidFill>
              </a:rPr>
              <a:t>Schemi semplificati fino all'errore</a:t>
            </a:r>
            <a:endParaRPr lang="en-US" sz="1100" dirty="0"/>
          </a:p>
        </p:txBody>
      </p:sp>
      <p:sp>
        <p:nvSpPr>
          <p:cNvPr id="22" name="blocco Numeri diversi dal documento"/>
          <p:cNvSpPr/>
          <p:nvPr/>
        </p:nvSpPr>
        <p:spPr>
          <a:xfrm>
            <a:off x="6766560" y="2651760"/>
            <a:ext cx="1965960" cy="640080"/>
          </a:xfrm>
          <a:prstGeom prst="roundRect">
            <a:avLst>
              <a:gd name="adj" fmla="val 17143"/>
            </a:avLst>
          </a:prstGeom>
          <a:solidFill>
            <a:schemeClr val="bg2"/>
          </a:solidFill>
          <a:ln/>
        </p:spPr>
      </p:sp>
      <p:sp>
        <p:nvSpPr>
          <p:cNvPr id="23" name="Text 19"/>
          <p:cNvSpPr txBox="1"/>
          <p:nvPr/>
        </p:nvSpPr>
        <p:spPr>
          <a:xfrm>
            <a:off x="6812280" y="2651760"/>
            <a:ext cx="1874520" cy="640080"/>
          </a:xfrm>
          <a:prstGeom prst="rect">
            <a:avLst/>
          </a:prstGeom>
          <a:noFill/>
          <a:ln/>
        </p:spPr>
        <p:txBody>
          <a:bodyPr wrap="square" lIns="0" tIns="0" rIns="0" bIns="0" rtlCol="0" anchor="ctr"/>
          <a:lstStyle/>
          <a:p>
            <a:pPr algn="ctr" indent="0" marL="0">
              <a:buNone/>
            </a:pPr>
            <a:r>
              <a:rPr lang="en-US" sz="1100" b="1" dirty="0">
                <a:solidFill>
                  <a:schemeClr val="tx1"/>
                </a:solidFill>
              </a:rPr>
              <a:t>Numeri diversi dal documento</a:t>
            </a:r>
            <a:endParaRPr lang="en-US" sz="1100" dirty="0"/>
          </a:p>
        </p:txBody>
      </p:sp>
      <p:sp>
        <p:nvSpPr>
          <p:cNvPr id="24" name="messaggio"/>
          <p:cNvSpPr/>
          <p:nvPr/>
        </p:nvSpPr>
        <p:spPr>
          <a:xfrm>
            <a:off x="457200" y="3520440"/>
            <a:ext cx="8229600" cy="777240"/>
          </a:xfrm>
          <a:prstGeom prst="roundRect">
            <a:avLst>
              <a:gd name="adj" fmla="val 9412"/>
            </a:avLst>
          </a:prstGeom>
          <a:solidFill>
            <a:schemeClr val="tx1"/>
          </a:solidFill>
          <a:ln/>
        </p:spPr>
      </p:sp>
      <p:sp>
        <p:nvSpPr>
          <p:cNvPr id="25" name="Text 21"/>
          <p:cNvSpPr txBox="1"/>
          <p:nvPr/>
        </p:nvSpPr>
        <p:spPr>
          <a:xfrm>
            <a:off x="640080" y="3520440"/>
            <a:ext cx="7863840" cy="777240"/>
          </a:xfrm>
          <a:prstGeom prst="rect">
            <a:avLst/>
          </a:prstGeom>
          <a:noFill/>
          <a:ln/>
        </p:spPr>
        <p:txBody>
          <a:bodyPr wrap="square" lIns="0" tIns="0" rIns="0" bIns="0" rtlCol="0" anchor="ctr"/>
          <a:lstStyle/>
          <a:p>
            <a:pPr indent="0" marL="0">
              <a:buNone/>
            </a:pPr>
            <a:r>
              <a:rPr lang="en-US" sz="1300" dirty="0">
                <a:solidFill>
                  <a:schemeClr val="bg1"/>
                </a:solidFill>
              </a:rPr>
              <a:t>Il risultato è sempre gradevole, e questo rende gli errori meno evidenti. Confrontare ogni elemento visivo con il contenuto di partenza.</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Estetica e accuratezza</a:t>
            </a:r>
            <a:endParaRPr lang="en-US" sz="2600" dirty="0"/>
          </a:p>
        </p:txBody>
      </p:sp>
      <p:sp>
        <p:nvSpPr>
          <p:cNvPr id="4" name="operazione Interpretare"/>
          <p:cNvSpPr/>
          <p:nvPr/>
        </p:nvSpPr>
        <p:spPr>
          <a:xfrm>
            <a:off x="6053328" y="384048"/>
            <a:ext cx="841248"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6053328" y="384048"/>
            <a:ext cx="841248" cy="237744"/>
          </a:xfrm>
          <a:prstGeom prst="rect">
            <a:avLst/>
          </a:prstGeom>
          <a:noFill/>
          <a:ln/>
        </p:spPr>
        <p:txBody>
          <a:bodyPr wrap="square" lIns="0" tIns="0" rIns="0" bIns="0" rtlCol="0" anchor="ctr"/>
          <a:lstStyle/>
          <a:p>
            <a:pPr algn="ctr" indent="0" marL="0">
              <a:buNone/>
            </a:pPr>
            <a:r>
              <a:rPr lang="en-US" sz="900" b="1" dirty="0">
                <a:solidFill>
                  <a:schemeClr val="accent1"/>
                </a:solidFill>
              </a:rPr>
              <a:t>Interpretare</a:t>
            </a:r>
            <a:endParaRPr lang="en-US" sz="900" dirty="0"/>
          </a:p>
        </p:txBody>
      </p:sp>
      <p:sp>
        <p:nvSpPr>
          <p:cNvPr id="6" name="operazione Generare"/>
          <p:cNvSpPr/>
          <p:nvPr/>
        </p:nvSpPr>
        <p:spPr>
          <a:xfrm>
            <a:off x="6940296" y="384048"/>
            <a:ext cx="841248"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940296" y="384048"/>
            <a:ext cx="841248" cy="237744"/>
          </a:xfrm>
          <a:prstGeom prst="rect">
            <a:avLst/>
          </a:prstGeom>
          <a:noFill/>
          <a:ln/>
        </p:spPr>
        <p:txBody>
          <a:bodyPr wrap="square" lIns="0" tIns="0" rIns="0" bIns="0" rtlCol="0" anchor="ctr"/>
          <a:lstStyle/>
          <a:p>
            <a:pPr algn="ctr" indent="0" marL="0">
              <a:buNone/>
            </a:pPr>
            <a:r>
              <a:rPr lang="en-US" sz="900" b="1" dirty="0">
                <a:solidFill>
                  <a:schemeClr val="accent1"/>
                </a:solidFill>
              </a:rPr>
              <a:t>Generare</a:t>
            </a:r>
            <a:endParaRPr lang="en-US" sz="900" dirty="0"/>
          </a:p>
        </p:txBody>
      </p:sp>
      <p:sp>
        <p:nvSpPr>
          <p:cNvPr id="8" name="operazione Trasformare"/>
          <p:cNvSpPr/>
          <p:nvPr/>
        </p:nvSpPr>
        <p:spPr>
          <a:xfrm>
            <a:off x="7827264" y="384048"/>
            <a:ext cx="841248"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7827264" y="384048"/>
            <a:ext cx="841248" cy="237744"/>
          </a:xfrm>
          <a:prstGeom prst="rect">
            <a:avLst/>
          </a:prstGeom>
          <a:noFill/>
          <a:ln/>
        </p:spPr>
        <p:txBody>
          <a:bodyPr wrap="square" lIns="0" tIns="0" rIns="0" bIns="0" rtlCol="0" anchor="ctr"/>
          <a:lstStyle/>
          <a:p>
            <a:pPr algn="ctr" indent="0" marL="0">
              <a:buNone/>
            </a:pPr>
            <a:r>
              <a:rPr lang="en-US" sz="900" b="1" dirty="0">
                <a:solidFill>
                  <a:schemeClr val="bg1"/>
                </a:solidFill>
              </a:rPr>
              <a:t>Trasformare</a:t>
            </a:r>
            <a:endParaRPr lang="en-US" sz="900" dirty="0"/>
          </a:p>
        </p:txBody>
      </p:sp>
      <p:sp>
        <p:nvSpPr>
          <p:cNvPr id="10" name="estetica"/>
          <p:cNvSpPr/>
          <p:nvPr/>
        </p:nvSpPr>
        <p:spPr>
          <a:xfrm>
            <a:off x="457200" y="1051560"/>
            <a:ext cx="2377440" cy="2377440"/>
          </a:xfrm>
          <a:prstGeom prst="roundRect">
            <a:avLst>
              <a:gd name="adj" fmla="val 3077"/>
            </a:avLst>
          </a:prstGeom>
          <a:solidFill>
            <a:schemeClr val="bg2"/>
          </a:solidFill>
          <a:ln/>
        </p:spPr>
      </p:sp>
      <p:sp>
        <p:nvSpPr>
          <p:cNvPr id="11" name="cerchio FiStar"/>
          <p:cNvSpPr/>
          <p:nvPr/>
        </p:nvSpPr>
        <p:spPr>
          <a:xfrm>
            <a:off x="1325880" y="1234440"/>
            <a:ext cx="640080" cy="640080"/>
          </a:xfrm>
          <a:prstGeom prst="ellipse">
            <a:avLst/>
          </a:prstGeom>
          <a:solidFill>
            <a:schemeClr val="accent2"/>
          </a:solidFill>
          <a:ln/>
        </p:spPr>
      </p:sp>
      <p:pic>
        <p:nvPicPr>
          <p:cNvPr id="12" name="Image 0" descr="FiStar">    </p:cNvPr>
          <p:cNvPicPr>
            <a:picLocks noChangeAspect="1"/>
          </p:cNvPicPr>
          <p:nvPr/>
        </p:nvPicPr>
        <p:blipFill>
          <a:blip r:embed="rId1"/>
          <a:stretch>
            <a:fillRect/>
          </a:stretch>
        </p:blipFill>
        <p:spPr>
          <a:xfrm>
            <a:off x="1485900" y="1394460"/>
            <a:ext cx="320040" cy="320040"/>
          </a:xfrm>
          <a:prstGeom prst="rect">
            <a:avLst/>
          </a:prstGeom>
        </p:spPr>
      </p:pic>
      <p:sp>
        <p:nvSpPr>
          <p:cNvPr id="13" name="Text 9"/>
          <p:cNvSpPr txBox="1"/>
          <p:nvPr/>
        </p:nvSpPr>
        <p:spPr>
          <a:xfrm>
            <a:off x="548640" y="1965960"/>
            <a:ext cx="2194560" cy="384048"/>
          </a:xfrm>
          <a:prstGeom prst="rect">
            <a:avLst/>
          </a:prstGeom>
          <a:noFill/>
          <a:ln/>
        </p:spPr>
        <p:txBody>
          <a:bodyPr wrap="square" lIns="0" tIns="0" rIns="0" bIns="0" rtlCol="0" anchor="t"/>
          <a:lstStyle/>
          <a:p>
            <a:pPr algn="ctr" indent="0" marL="0">
              <a:buNone/>
            </a:pPr>
            <a:r>
              <a:rPr lang="en-US" sz="1700" b="1" dirty="0">
                <a:solidFill>
                  <a:schemeClr val="tx1"/>
                </a:solidFill>
              </a:rPr>
              <a:t>Estetica</a:t>
            </a:r>
            <a:endParaRPr lang="en-US" sz="1700" dirty="0"/>
          </a:p>
        </p:txBody>
      </p:sp>
      <p:sp>
        <p:nvSpPr>
          <p:cNvPr id="14" name="Text 10"/>
          <p:cNvSpPr txBox="1"/>
          <p:nvPr/>
        </p:nvSpPr>
        <p:spPr>
          <a:xfrm>
            <a:off x="548640" y="2377440"/>
            <a:ext cx="2194560" cy="548640"/>
          </a:xfrm>
          <a:prstGeom prst="rect">
            <a:avLst/>
          </a:prstGeom>
          <a:noFill/>
          <a:ln/>
        </p:spPr>
        <p:txBody>
          <a:bodyPr wrap="square" lIns="0" tIns="0" rIns="0" bIns="0" rtlCol="0" anchor="t"/>
          <a:lstStyle/>
          <a:p>
            <a:pPr algn="ctr" indent="0" marL="0">
              <a:buNone/>
            </a:pPr>
            <a:r>
              <a:rPr lang="en-US" sz="1200" i="1" dirty="0">
                <a:solidFill>
                  <a:schemeClr val="tx2"/>
                </a:solidFill>
              </a:rPr>
              <a:t>Con l'AI, quasi gratuita</a:t>
            </a:r>
            <a:endParaRPr lang="en-US" sz="1200" dirty="0"/>
          </a:p>
        </p:txBody>
      </p:sp>
      <p:sp>
        <p:nvSpPr>
          <p:cNvPr id="15" name="Text 11"/>
          <p:cNvSpPr txBox="1"/>
          <p:nvPr/>
        </p:nvSpPr>
        <p:spPr>
          <a:xfrm>
            <a:off x="2834640" y="1737360"/>
            <a:ext cx="457200" cy="731520"/>
          </a:xfrm>
          <a:prstGeom prst="rect">
            <a:avLst/>
          </a:prstGeom>
          <a:noFill/>
          <a:ln/>
        </p:spPr>
        <p:txBody>
          <a:bodyPr wrap="square" lIns="0" tIns="0" rIns="0" bIns="0" rtlCol="0" anchor="ctr"/>
          <a:lstStyle/>
          <a:p>
            <a:pPr algn="ctr" indent="0" marL="0">
              <a:buNone/>
            </a:pPr>
            <a:r>
              <a:rPr lang="en-US" sz="3600" b="1" dirty="0">
                <a:solidFill>
                  <a:schemeClr val="accent5"/>
                </a:solidFill>
              </a:rPr>
              <a:t>≠</a:t>
            </a:r>
            <a:endParaRPr lang="en-US" sz="3600" dirty="0"/>
          </a:p>
        </p:txBody>
      </p:sp>
      <p:sp>
        <p:nvSpPr>
          <p:cNvPr id="16" name="Accuratezza"/>
          <p:cNvSpPr/>
          <p:nvPr/>
        </p:nvSpPr>
        <p:spPr>
          <a:xfrm>
            <a:off x="3337560" y="1051560"/>
            <a:ext cx="5349240" cy="731520"/>
          </a:xfrm>
          <a:prstGeom prst="roundRect">
            <a:avLst>
              <a:gd name="adj" fmla="val 10000"/>
            </a:avLst>
          </a:prstGeom>
          <a:solidFill>
            <a:schemeClr val="accent6"/>
          </a:solidFill>
          <a:ln/>
        </p:spPr>
      </p:sp>
      <p:sp>
        <p:nvSpPr>
          <p:cNvPr id="17" name="Text 13"/>
          <p:cNvSpPr txBox="1"/>
          <p:nvPr/>
        </p:nvSpPr>
        <p:spPr>
          <a:xfrm>
            <a:off x="3520440" y="1051560"/>
            <a:ext cx="2011680" cy="731520"/>
          </a:xfrm>
          <a:prstGeom prst="rect">
            <a:avLst/>
          </a:prstGeom>
          <a:noFill/>
          <a:ln/>
        </p:spPr>
        <p:txBody>
          <a:bodyPr wrap="square" lIns="0" tIns="0" rIns="0" bIns="0" rtlCol="0" anchor="ctr"/>
          <a:lstStyle/>
          <a:p>
            <a:pPr indent="0" marL="0">
              <a:buNone/>
            </a:pPr>
            <a:r>
              <a:rPr lang="en-US" sz="1400" b="1" dirty="0">
                <a:solidFill>
                  <a:schemeClr val="accent1"/>
                </a:solidFill>
              </a:rPr>
              <a:t>Accuratezza</a:t>
            </a:r>
            <a:endParaRPr lang="en-US" sz="1400" dirty="0"/>
          </a:p>
        </p:txBody>
      </p:sp>
      <p:sp>
        <p:nvSpPr>
          <p:cNvPr id="18" name="Text 14"/>
          <p:cNvSpPr txBox="1"/>
          <p:nvPr/>
        </p:nvSpPr>
        <p:spPr>
          <a:xfrm>
            <a:off x="5532120" y="1051560"/>
            <a:ext cx="3063240" cy="731520"/>
          </a:xfrm>
          <a:prstGeom prst="rect">
            <a:avLst/>
          </a:prstGeom>
          <a:noFill/>
          <a:ln/>
        </p:spPr>
        <p:txBody>
          <a:bodyPr wrap="square" lIns="0" tIns="0" rIns="0" bIns="0" rtlCol="0" anchor="ctr"/>
          <a:lstStyle/>
          <a:p>
            <a:pPr indent="0" marL="0">
              <a:buNone/>
            </a:pPr>
            <a:r>
              <a:rPr lang="en-US" sz="1200" dirty="0">
                <a:solidFill>
                  <a:schemeClr val="tx1"/>
                </a:solidFill>
              </a:rPr>
              <a:t>Corretto e corrispondente alla fonte?</a:t>
            </a:r>
            <a:endParaRPr lang="en-US" sz="1200" dirty="0"/>
          </a:p>
        </p:txBody>
      </p:sp>
      <p:sp>
        <p:nvSpPr>
          <p:cNvPr id="19" name="Completezza"/>
          <p:cNvSpPr/>
          <p:nvPr/>
        </p:nvSpPr>
        <p:spPr>
          <a:xfrm>
            <a:off x="3337560" y="1865376"/>
            <a:ext cx="5349240" cy="731520"/>
          </a:xfrm>
          <a:prstGeom prst="roundRect">
            <a:avLst>
              <a:gd name="adj" fmla="val 10000"/>
            </a:avLst>
          </a:prstGeom>
          <a:solidFill>
            <a:schemeClr val="accent6"/>
          </a:solidFill>
          <a:ln/>
        </p:spPr>
      </p:sp>
      <p:sp>
        <p:nvSpPr>
          <p:cNvPr id="20" name="Text 16"/>
          <p:cNvSpPr txBox="1"/>
          <p:nvPr/>
        </p:nvSpPr>
        <p:spPr>
          <a:xfrm>
            <a:off x="3520440" y="1865376"/>
            <a:ext cx="2011680" cy="731520"/>
          </a:xfrm>
          <a:prstGeom prst="rect">
            <a:avLst/>
          </a:prstGeom>
          <a:noFill/>
          <a:ln/>
        </p:spPr>
        <p:txBody>
          <a:bodyPr wrap="square" lIns="0" tIns="0" rIns="0" bIns="0" rtlCol="0" anchor="ctr"/>
          <a:lstStyle/>
          <a:p>
            <a:pPr indent="0" marL="0">
              <a:buNone/>
            </a:pPr>
            <a:r>
              <a:rPr lang="en-US" sz="1400" b="1" dirty="0">
                <a:solidFill>
                  <a:schemeClr val="accent1"/>
                </a:solidFill>
              </a:rPr>
              <a:t>Completezza</a:t>
            </a:r>
            <a:endParaRPr lang="en-US" sz="1400" dirty="0"/>
          </a:p>
        </p:txBody>
      </p:sp>
      <p:sp>
        <p:nvSpPr>
          <p:cNvPr id="21" name="Text 17"/>
          <p:cNvSpPr txBox="1"/>
          <p:nvPr/>
        </p:nvSpPr>
        <p:spPr>
          <a:xfrm>
            <a:off x="5532120" y="1865376"/>
            <a:ext cx="3063240" cy="731520"/>
          </a:xfrm>
          <a:prstGeom prst="rect">
            <a:avLst/>
          </a:prstGeom>
          <a:noFill/>
          <a:ln/>
        </p:spPr>
        <p:txBody>
          <a:bodyPr wrap="square" lIns="0" tIns="0" rIns="0" bIns="0" rtlCol="0" anchor="ctr"/>
          <a:lstStyle/>
          <a:p>
            <a:pPr indent="0" marL="0">
              <a:buNone/>
            </a:pPr>
            <a:r>
              <a:rPr lang="en-US" sz="1200" dirty="0">
                <a:solidFill>
                  <a:schemeClr val="tx1"/>
                </a:solidFill>
              </a:rPr>
              <a:t>Manca un rischio, una condizione, un dato sfavorevole?</a:t>
            </a:r>
            <a:endParaRPr lang="en-US" sz="1200" dirty="0"/>
          </a:p>
        </p:txBody>
      </p:sp>
      <p:sp>
        <p:nvSpPr>
          <p:cNvPr id="22" name="Coerenza narrativa"/>
          <p:cNvSpPr/>
          <p:nvPr/>
        </p:nvSpPr>
        <p:spPr>
          <a:xfrm>
            <a:off x="3337560" y="2679192"/>
            <a:ext cx="5349240" cy="731520"/>
          </a:xfrm>
          <a:prstGeom prst="roundRect">
            <a:avLst>
              <a:gd name="adj" fmla="val 10000"/>
            </a:avLst>
          </a:prstGeom>
          <a:solidFill>
            <a:schemeClr val="accent6"/>
          </a:solidFill>
          <a:ln/>
        </p:spPr>
      </p:sp>
      <p:sp>
        <p:nvSpPr>
          <p:cNvPr id="23" name="Text 19"/>
          <p:cNvSpPr txBox="1"/>
          <p:nvPr/>
        </p:nvSpPr>
        <p:spPr>
          <a:xfrm>
            <a:off x="3520440" y="2679192"/>
            <a:ext cx="2011680" cy="731520"/>
          </a:xfrm>
          <a:prstGeom prst="rect">
            <a:avLst/>
          </a:prstGeom>
          <a:noFill/>
          <a:ln/>
        </p:spPr>
        <p:txBody>
          <a:bodyPr wrap="square" lIns="0" tIns="0" rIns="0" bIns="0" rtlCol="0" anchor="ctr"/>
          <a:lstStyle/>
          <a:p>
            <a:pPr indent="0" marL="0">
              <a:buNone/>
            </a:pPr>
            <a:r>
              <a:rPr lang="en-US" sz="1400" b="1" dirty="0">
                <a:solidFill>
                  <a:schemeClr val="accent1"/>
                </a:solidFill>
              </a:rPr>
              <a:t>Coerenza narrativa</a:t>
            </a:r>
            <a:endParaRPr lang="en-US" sz="1400" dirty="0"/>
          </a:p>
        </p:txBody>
      </p:sp>
      <p:sp>
        <p:nvSpPr>
          <p:cNvPr id="24" name="Text 20"/>
          <p:cNvSpPr txBox="1"/>
          <p:nvPr/>
        </p:nvSpPr>
        <p:spPr>
          <a:xfrm>
            <a:off x="5532120" y="2679192"/>
            <a:ext cx="3063240" cy="731520"/>
          </a:xfrm>
          <a:prstGeom prst="rect">
            <a:avLst/>
          </a:prstGeom>
          <a:noFill/>
          <a:ln/>
        </p:spPr>
        <p:txBody>
          <a:bodyPr wrap="square" lIns="0" tIns="0" rIns="0" bIns="0" rtlCol="0" anchor="ctr"/>
          <a:lstStyle/>
          <a:p>
            <a:pPr indent="0" marL="0">
              <a:buNone/>
            </a:pPr>
            <a:r>
              <a:rPr lang="en-US" sz="1200" dirty="0">
                <a:solidFill>
                  <a:schemeClr val="tx1"/>
                </a:solidFill>
              </a:rPr>
              <a:t>La sequenza costruisce un ragionamento solido?</a:t>
            </a:r>
            <a:endParaRPr lang="en-US" sz="1200" dirty="0"/>
          </a:p>
        </p:txBody>
      </p:sp>
      <p:sp>
        <p:nvSpPr>
          <p:cNvPr id="25" name="messaggio"/>
          <p:cNvSpPr/>
          <p:nvPr/>
        </p:nvSpPr>
        <p:spPr>
          <a:xfrm>
            <a:off x="457200" y="3657600"/>
            <a:ext cx="8229600" cy="777240"/>
          </a:xfrm>
          <a:prstGeom prst="roundRect">
            <a:avLst>
              <a:gd name="adj" fmla="val 9412"/>
            </a:avLst>
          </a:prstGeom>
          <a:solidFill>
            <a:schemeClr val="tx1"/>
          </a:solidFill>
          <a:ln/>
        </p:spPr>
      </p:sp>
      <p:sp>
        <p:nvSpPr>
          <p:cNvPr id="26" name="Text 22"/>
          <p:cNvSpPr txBox="1"/>
          <p:nvPr/>
        </p:nvSpPr>
        <p:spPr>
          <a:xfrm>
            <a:off x="640080" y="3657600"/>
            <a:ext cx="7863840" cy="777240"/>
          </a:xfrm>
          <a:prstGeom prst="rect">
            <a:avLst/>
          </a:prstGeom>
          <a:noFill/>
          <a:ln/>
        </p:spPr>
        <p:txBody>
          <a:bodyPr wrap="square" lIns="0" tIns="0" rIns="0" bIns="0" rtlCol="0" anchor="ctr"/>
          <a:lstStyle/>
          <a:p>
            <a:pPr indent="0" marL="0">
              <a:buNone/>
            </a:pPr>
            <a:r>
              <a:rPr lang="en-US" sz="1300" dirty="0">
                <a:solidFill>
                  <a:schemeClr val="bg1"/>
                </a:solidFill>
              </a:rPr>
              <a:t>Le presentazioni si guardano in fretta, in riunione: la cura visiva genera fiducia senza tempo per verificare.</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Valutare la qualità comunicativa</a:t>
            </a:r>
            <a:endParaRPr lang="en-US" sz="2600" dirty="0"/>
          </a:p>
        </p:txBody>
      </p:sp>
      <p:sp>
        <p:nvSpPr>
          <p:cNvPr id="4" name="operazione Interpretare"/>
          <p:cNvSpPr/>
          <p:nvPr/>
        </p:nvSpPr>
        <p:spPr>
          <a:xfrm>
            <a:off x="6053328" y="384048"/>
            <a:ext cx="841248"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6053328" y="384048"/>
            <a:ext cx="841248" cy="237744"/>
          </a:xfrm>
          <a:prstGeom prst="rect">
            <a:avLst/>
          </a:prstGeom>
          <a:noFill/>
          <a:ln/>
        </p:spPr>
        <p:txBody>
          <a:bodyPr wrap="square" lIns="0" tIns="0" rIns="0" bIns="0" rtlCol="0" anchor="ctr"/>
          <a:lstStyle/>
          <a:p>
            <a:pPr algn="ctr" indent="0" marL="0">
              <a:buNone/>
            </a:pPr>
            <a:r>
              <a:rPr lang="en-US" sz="900" b="1" dirty="0">
                <a:solidFill>
                  <a:schemeClr val="accent1"/>
                </a:solidFill>
              </a:rPr>
              <a:t>Interpretare</a:t>
            </a:r>
            <a:endParaRPr lang="en-US" sz="900" dirty="0"/>
          </a:p>
        </p:txBody>
      </p:sp>
      <p:sp>
        <p:nvSpPr>
          <p:cNvPr id="6" name="operazione Generare"/>
          <p:cNvSpPr/>
          <p:nvPr/>
        </p:nvSpPr>
        <p:spPr>
          <a:xfrm>
            <a:off x="6940296" y="384048"/>
            <a:ext cx="841248"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940296" y="384048"/>
            <a:ext cx="841248" cy="237744"/>
          </a:xfrm>
          <a:prstGeom prst="rect">
            <a:avLst/>
          </a:prstGeom>
          <a:noFill/>
          <a:ln/>
        </p:spPr>
        <p:txBody>
          <a:bodyPr wrap="square" lIns="0" tIns="0" rIns="0" bIns="0" rtlCol="0" anchor="ctr"/>
          <a:lstStyle/>
          <a:p>
            <a:pPr algn="ctr" indent="0" marL="0">
              <a:buNone/>
            </a:pPr>
            <a:r>
              <a:rPr lang="en-US" sz="900" b="1" dirty="0">
                <a:solidFill>
                  <a:schemeClr val="accent1"/>
                </a:solidFill>
              </a:rPr>
              <a:t>Generare</a:t>
            </a:r>
            <a:endParaRPr lang="en-US" sz="900" dirty="0"/>
          </a:p>
        </p:txBody>
      </p:sp>
      <p:sp>
        <p:nvSpPr>
          <p:cNvPr id="8" name="operazione Trasformare"/>
          <p:cNvSpPr/>
          <p:nvPr/>
        </p:nvSpPr>
        <p:spPr>
          <a:xfrm>
            <a:off x="7827264" y="384048"/>
            <a:ext cx="841248"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7827264" y="384048"/>
            <a:ext cx="841248" cy="237744"/>
          </a:xfrm>
          <a:prstGeom prst="rect">
            <a:avLst/>
          </a:prstGeom>
          <a:noFill/>
          <a:ln/>
        </p:spPr>
        <p:txBody>
          <a:bodyPr wrap="square" lIns="0" tIns="0" rIns="0" bIns="0" rtlCol="0" anchor="ctr"/>
          <a:lstStyle/>
          <a:p>
            <a:pPr algn="ctr" indent="0" marL="0">
              <a:buNone/>
            </a:pPr>
            <a:r>
              <a:rPr lang="en-US" sz="900" b="1" dirty="0">
                <a:solidFill>
                  <a:schemeClr val="bg1"/>
                </a:solidFill>
              </a:rPr>
              <a:t>Trasformare</a:t>
            </a:r>
            <a:endParaRPr lang="en-US" sz="900" dirty="0"/>
          </a:p>
        </p:txBody>
      </p:sp>
      <p:sp>
        <p:nvSpPr>
          <p:cNvPr id="10" name="Messaggio"/>
          <p:cNvSpPr/>
          <p:nvPr/>
        </p:nvSpPr>
        <p:spPr>
          <a:xfrm>
            <a:off x="457200" y="1051560"/>
            <a:ext cx="4023360" cy="603504"/>
          </a:xfrm>
          <a:prstGeom prst="roundRect">
            <a:avLst>
              <a:gd name="adj" fmla="val 12121"/>
            </a:avLst>
          </a:prstGeom>
          <a:solidFill>
            <a:schemeClr val="bg2"/>
          </a:solidFill>
          <a:ln/>
        </p:spPr>
      </p:sp>
      <p:sp>
        <p:nvSpPr>
          <p:cNvPr id="11" name="casella Messaggio"/>
          <p:cNvSpPr/>
          <p:nvPr/>
        </p:nvSpPr>
        <p:spPr>
          <a:xfrm>
            <a:off x="594360" y="1234440"/>
            <a:ext cx="237744" cy="237744"/>
          </a:xfrm>
          <a:prstGeom prst="rect">
            <a:avLst/>
          </a:prstGeom>
          <a:solidFill>
            <a:schemeClr val="bg1"/>
          </a:solidFill>
          <a:ln w="19050">
            <a:solidFill>
              <a:schemeClr val="accent1"/>
            </a:solidFill>
            <a:prstDash val="solid"/>
          </a:ln>
        </p:spPr>
      </p:sp>
      <p:sp>
        <p:nvSpPr>
          <p:cNvPr id="12" name="Text 9"/>
          <p:cNvSpPr txBox="1"/>
          <p:nvPr/>
        </p:nvSpPr>
        <p:spPr>
          <a:xfrm>
            <a:off x="960120" y="1051560"/>
            <a:ext cx="1371600" cy="603504"/>
          </a:xfrm>
          <a:prstGeom prst="rect">
            <a:avLst/>
          </a:prstGeom>
          <a:noFill/>
          <a:ln/>
        </p:spPr>
        <p:txBody>
          <a:bodyPr wrap="square" lIns="0" tIns="0" rIns="0" bIns="0" rtlCol="0" anchor="ctr"/>
          <a:lstStyle/>
          <a:p>
            <a:pPr indent="0" marL="0">
              <a:buNone/>
            </a:pPr>
            <a:r>
              <a:rPr lang="en-US" sz="1300" b="1" dirty="0">
                <a:solidFill>
                  <a:schemeClr val="accent1"/>
                </a:solidFill>
              </a:rPr>
              <a:t>Messaggio</a:t>
            </a:r>
            <a:endParaRPr lang="en-US" sz="1300" dirty="0"/>
          </a:p>
        </p:txBody>
      </p:sp>
      <p:sp>
        <p:nvSpPr>
          <p:cNvPr id="13" name="Text 10"/>
          <p:cNvSpPr txBox="1"/>
          <p:nvPr/>
        </p:nvSpPr>
        <p:spPr>
          <a:xfrm>
            <a:off x="2286000" y="1051560"/>
            <a:ext cx="2103120" cy="603504"/>
          </a:xfrm>
          <a:prstGeom prst="rect">
            <a:avLst/>
          </a:prstGeom>
          <a:noFill/>
          <a:ln/>
        </p:spPr>
        <p:txBody>
          <a:bodyPr wrap="square" lIns="0" tIns="0" rIns="0" bIns="0" rtlCol="0" anchor="ctr"/>
          <a:lstStyle/>
          <a:p>
            <a:pPr indent="0" marL="0">
              <a:buNone/>
            </a:pPr>
            <a:r>
              <a:rPr lang="en-US" sz="1100" dirty="0">
                <a:solidFill>
                  <a:schemeClr val="tx1"/>
                </a:solidFill>
              </a:rPr>
              <a:t>Chiaro in pochi secondi?</a:t>
            </a:r>
            <a:endParaRPr lang="en-US" sz="1100" dirty="0"/>
          </a:p>
        </p:txBody>
      </p:sp>
      <p:sp>
        <p:nvSpPr>
          <p:cNvPr id="14" name="Destinatario"/>
          <p:cNvSpPr/>
          <p:nvPr/>
        </p:nvSpPr>
        <p:spPr>
          <a:xfrm>
            <a:off x="4663440" y="1051560"/>
            <a:ext cx="4023360" cy="603504"/>
          </a:xfrm>
          <a:prstGeom prst="roundRect">
            <a:avLst>
              <a:gd name="adj" fmla="val 12121"/>
            </a:avLst>
          </a:prstGeom>
          <a:solidFill>
            <a:schemeClr val="bg2"/>
          </a:solidFill>
          <a:ln/>
        </p:spPr>
      </p:sp>
      <p:sp>
        <p:nvSpPr>
          <p:cNvPr id="15" name="casella Destinatario"/>
          <p:cNvSpPr/>
          <p:nvPr/>
        </p:nvSpPr>
        <p:spPr>
          <a:xfrm>
            <a:off x="4800600" y="1234440"/>
            <a:ext cx="237744" cy="237744"/>
          </a:xfrm>
          <a:prstGeom prst="rect">
            <a:avLst/>
          </a:prstGeom>
          <a:solidFill>
            <a:schemeClr val="bg1"/>
          </a:solidFill>
          <a:ln w="19050">
            <a:solidFill>
              <a:schemeClr val="accent1"/>
            </a:solidFill>
            <a:prstDash val="solid"/>
          </a:ln>
        </p:spPr>
      </p:sp>
      <p:sp>
        <p:nvSpPr>
          <p:cNvPr id="16" name="Text 13"/>
          <p:cNvSpPr txBox="1"/>
          <p:nvPr/>
        </p:nvSpPr>
        <p:spPr>
          <a:xfrm>
            <a:off x="5166360" y="1051560"/>
            <a:ext cx="1371600" cy="603504"/>
          </a:xfrm>
          <a:prstGeom prst="rect">
            <a:avLst/>
          </a:prstGeom>
          <a:noFill/>
          <a:ln/>
        </p:spPr>
        <p:txBody>
          <a:bodyPr wrap="square" lIns="0" tIns="0" rIns="0" bIns="0" rtlCol="0" anchor="ctr"/>
          <a:lstStyle/>
          <a:p>
            <a:pPr indent="0" marL="0">
              <a:buNone/>
            </a:pPr>
            <a:r>
              <a:rPr lang="en-US" sz="1300" b="1" dirty="0">
                <a:solidFill>
                  <a:schemeClr val="accent1"/>
                </a:solidFill>
              </a:rPr>
              <a:t>Destinatario</a:t>
            </a:r>
            <a:endParaRPr lang="en-US" sz="1300" dirty="0"/>
          </a:p>
        </p:txBody>
      </p:sp>
      <p:sp>
        <p:nvSpPr>
          <p:cNvPr id="17" name="Text 14"/>
          <p:cNvSpPr txBox="1"/>
          <p:nvPr/>
        </p:nvSpPr>
        <p:spPr>
          <a:xfrm>
            <a:off x="6492240" y="1051560"/>
            <a:ext cx="2103120" cy="603504"/>
          </a:xfrm>
          <a:prstGeom prst="rect">
            <a:avLst/>
          </a:prstGeom>
          <a:noFill/>
          <a:ln/>
        </p:spPr>
        <p:txBody>
          <a:bodyPr wrap="square" lIns="0" tIns="0" rIns="0" bIns="0" rtlCol="0" anchor="ctr"/>
          <a:lstStyle/>
          <a:p>
            <a:pPr indent="0" marL="0">
              <a:buNone/>
            </a:pPr>
            <a:r>
              <a:rPr lang="en-US" sz="1100" dirty="0">
                <a:solidFill>
                  <a:schemeClr val="tx1"/>
                </a:solidFill>
              </a:rPr>
              <a:t>Linguaggio, dettaglio, tono adatti?</a:t>
            </a:r>
            <a:endParaRPr lang="en-US" sz="1100" dirty="0"/>
          </a:p>
        </p:txBody>
      </p:sp>
      <p:sp>
        <p:nvSpPr>
          <p:cNvPr id="18" name="Accuratezza"/>
          <p:cNvSpPr/>
          <p:nvPr/>
        </p:nvSpPr>
        <p:spPr>
          <a:xfrm>
            <a:off x="457200" y="1737360"/>
            <a:ext cx="4023360" cy="603504"/>
          </a:xfrm>
          <a:prstGeom prst="roundRect">
            <a:avLst>
              <a:gd name="adj" fmla="val 12121"/>
            </a:avLst>
          </a:prstGeom>
          <a:solidFill>
            <a:schemeClr val="accent6"/>
          </a:solidFill>
          <a:ln/>
        </p:spPr>
      </p:sp>
      <p:sp>
        <p:nvSpPr>
          <p:cNvPr id="19" name="casella Accuratezza"/>
          <p:cNvSpPr/>
          <p:nvPr/>
        </p:nvSpPr>
        <p:spPr>
          <a:xfrm>
            <a:off x="594360" y="1920240"/>
            <a:ext cx="237744" cy="237744"/>
          </a:xfrm>
          <a:prstGeom prst="rect">
            <a:avLst/>
          </a:prstGeom>
          <a:solidFill>
            <a:schemeClr val="bg1"/>
          </a:solidFill>
          <a:ln w="19050">
            <a:solidFill>
              <a:schemeClr val="accent1"/>
            </a:solidFill>
            <a:prstDash val="solid"/>
          </a:ln>
        </p:spPr>
      </p:sp>
      <p:sp>
        <p:nvSpPr>
          <p:cNvPr id="20" name="Text 17"/>
          <p:cNvSpPr txBox="1"/>
          <p:nvPr/>
        </p:nvSpPr>
        <p:spPr>
          <a:xfrm>
            <a:off x="960120" y="1737360"/>
            <a:ext cx="1371600" cy="603504"/>
          </a:xfrm>
          <a:prstGeom prst="rect">
            <a:avLst/>
          </a:prstGeom>
          <a:noFill/>
          <a:ln/>
        </p:spPr>
        <p:txBody>
          <a:bodyPr wrap="square" lIns="0" tIns="0" rIns="0" bIns="0" rtlCol="0" anchor="ctr"/>
          <a:lstStyle/>
          <a:p>
            <a:pPr indent="0" marL="0">
              <a:buNone/>
            </a:pPr>
            <a:r>
              <a:rPr lang="en-US" sz="1300" b="1" dirty="0">
                <a:solidFill>
                  <a:schemeClr val="accent1"/>
                </a:solidFill>
              </a:rPr>
              <a:t>Accuratezza</a:t>
            </a:r>
            <a:endParaRPr lang="en-US" sz="1300" dirty="0"/>
          </a:p>
        </p:txBody>
      </p:sp>
      <p:sp>
        <p:nvSpPr>
          <p:cNvPr id="21" name="Text 18"/>
          <p:cNvSpPr txBox="1"/>
          <p:nvPr/>
        </p:nvSpPr>
        <p:spPr>
          <a:xfrm>
            <a:off x="2286000" y="1737360"/>
            <a:ext cx="2103120" cy="603504"/>
          </a:xfrm>
          <a:prstGeom prst="rect">
            <a:avLst/>
          </a:prstGeom>
          <a:noFill/>
          <a:ln/>
        </p:spPr>
        <p:txBody>
          <a:bodyPr wrap="square" lIns="0" tIns="0" rIns="0" bIns="0" rtlCol="0" anchor="ctr"/>
          <a:lstStyle/>
          <a:p>
            <a:pPr indent="0" marL="0">
              <a:buNone/>
            </a:pPr>
            <a:r>
              <a:rPr lang="en-US" sz="1100" dirty="0">
                <a:solidFill>
                  <a:schemeClr val="tx1"/>
                </a:solidFill>
              </a:rPr>
              <a:t>Numeri, nomi, date come nella fonte?</a:t>
            </a:r>
            <a:endParaRPr lang="en-US" sz="1100" dirty="0"/>
          </a:p>
        </p:txBody>
      </p:sp>
      <p:sp>
        <p:nvSpPr>
          <p:cNvPr id="22" name="Completezza"/>
          <p:cNvSpPr/>
          <p:nvPr/>
        </p:nvSpPr>
        <p:spPr>
          <a:xfrm>
            <a:off x="4663440" y="1737360"/>
            <a:ext cx="4023360" cy="603504"/>
          </a:xfrm>
          <a:prstGeom prst="roundRect">
            <a:avLst>
              <a:gd name="adj" fmla="val 12121"/>
            </a:avLst>
          </a:prstGeom>
          <a:solidFill>
            <a:schemeClr val="accent6"/>
          </a:solidFill>
          <a:ln/>
        </p:spPr>
      </p:sp>
      <p:sp>
        <p:nvSpPr>
          <p:cNvPr id="23" name="casella Completezza"/>
          <p:cNvSpPr/>
          <p:nvPr/>
        </p:nvSpPr>
        <p:spPr>
          <a:xfrm>
            <a:off x="4800600" y="1920240"/>
            <a:ext cx="237744" cy="237744"/>
          </a:xfrm>
          <a:prstGeom prst="rect">
            <a:avLst/>
          </a:prstGeom>
          <a:solidFill>
            <a:schemeClr val="bg1"/>
          </a:solidFill>
          <a:ln w="19050">
            <a:solidFill>
              <a:schemeClr val="accent1"/>
            </a:solidFill>
            <a:prstDash val="solid"/>
          </a:ln>
        </p:spPr>
      </p:sp>
      <p:sp>
        <p:nvSpPr>
          <p:cNvPr id="24" name="Text 21"/>
          <p:cNvSpPr txBox="1"/>
          <p:nvPr/>
        </p:nvSpPr>
        <p:spPr>
          <a:xfrm>
            <a:off x="5166360" y="1737360"/>
            <a:ext cx="1371600" cy="603504"/>
          </a:xfrm>
          <a:prstGeom prst="rect">
            <a:avLst/>
          </a:prstGeom>
          <a:noFill/>
          <a:ln/>
        </p:spPr>
        <p:txBody>
          <a:bodyPr wrap="square" lIns="0" tIns="0" rIns="0" bIns="0" rtlCol="0" anchor="ctr"/>
          <a:lstStyle/>
          <a:p>
            <a:pPr indent="0" marL="0">
              <a:buNone/>
            </a:pPr>
            <a:r>
              <a:rPr lang="en-US" sz="1300" b="1" dirty="0">
                <a:solidFill>
                  <a:schemeClr val="accent1"/>
                </a:solidFill>
              </a:rPr>
              <a:t>Completezza</a:t>
            </a:r>
            <a:endParaRPr lang="en-US" sz="1300" dirty="0"/>
          </a:p>
        </p:txBody>
      </p:sp>
      <p:sp>
        <p:nvSpPr>
          <p:cNvPr id="25" name="Text 22"/>
          <p:cNvSpPr txBox="1"/>
          <p:nvPr/>
        </p:nvSpPr>
        <p:spPr>
          <a:xfrm>
            <a:off x="6492240" y="1737360"/>
            <a:ext cx="2103120" cy="603504"/>
          </a:xfrm>
          <a:prstGeom prst="rect">
            <a:avLst/>
          </a:prstGeom>
          <a:noFill/>
          <a:ln/>
        </p:spPr>
        <p:txBody>
          <a:bodyPr wrap="square" lIns="0" tIns="0" rIns="0" bIns="0" rtlCol="0" anchor="ctr"/>
          <a:lstStyle/>
          <a:p>
            <a:pPr indent="0" marL="0">
              <a:buNone/>
            </a:pPr>
            <a:r>
              <a:rPr lang="en-US" sz="1100" dirty="0">
                <a:solidFill>
                  <a:schemeClr val="tx1"/>
                </a:solidFill>
              </a:rPr>
              <a:t>Rischi e limiti compresi?</a:t>
            </a:r>
            <a:endParaRPr lang="en-US" sz="1100" dirty="0"/>
          </a:p>
        </p:txBody>
      </p:sp>
      <p:sp>
        <p:nvSpPr>
          <p:cNvPr id="26" name="Coerenza"/>
          <p:cNvSpPr/>
          <p:nvPr/>
        </p:nvSpPr>
        <p:spPr>
          <a:xfrm>
            <a:off x="457200" y="2423160"/>
            <a:ext cx="4023360" cy="603504"/>
          </a:xfrm>
          <a:prstGeom prst="roundRect">
            <a:avLst>
              <a:gd name="adj" fmla="val 12121"/>
            </a:avLst>
          </a:prstGeom>
          <a:solidFill>
            <a:schemeClr val="bg2"/>
          </a:solidFill>
          <a:ln/>
        </p:spPr>
      </p:sp>
      <p:sp>
        <p:nvSpPr>
          <p:cNvPr id="27" name="casella Coerenza"/>
          <p:cNvSpPr/>
          <p:nvPr/>
        </p:nvSpPr>
        <p:spPr>
          <a:xfrm>
            <a:off x="594360" y="2606040"/>
            <a:ext cx="237744" cy="237744"/>
          </a:xfrm>
          <a:prstGeom prst="rect">
            <a:avLst/>
          </a:prstGeom>
          <a:solidFill>
            <a:schemeClr val="bg1"/>
          </a:solidFill>
          <a:ln w="19050">
            <a:solidFill>
              <a:schemeClr val="accent1"/>
            </a:solidFill>
            <a:prstDash val="solid"/>
          </a:ln>
        </p:spPr>
      </p:sp>
      <p:sp>
        <p:nvSpPr>
          <p:cNvPr id="28" name="Text 25"/>
          <p:cNvSpPr txBox="1"/>
          <p:nvPr/>
        </p:nvSpPr>
        <p:spPr>
          <a:xfrm>
            <a:off x="960120" y="2423160"/>
            <a:ext cx="1371600" cy="603504"/>
          </a:xfrm>
          <a:prstGeom prst="rect">
            <a:avLst/>
          </a:prstGeom>
          <a:noFill/>
          <a:ln/>
        </p:spPr>
        <p:txBody>
          <a:bodyPr wrap="square" lIns="0" tIns="0" rIns="0" bIns="0" rtlCol="0" anchor="ctr"/>
          <a:lstStyle/>
          <a:p>
            <a:pPr indent="0" marL="0">
              <a:buNone/>
            </a:pPr>
            <a:r>
              <a:rPr lang="en-US" sz="1300" b="1" dirty="0">
                <a:solidFill>
                  <a:schemeClr val="accent1"/>
                </a:solidFill>
              </a:rPr>
              <a:t>Coerenza</a:t>
            </a:r>
            <a:endParaRPr lang="en-US" sz="1300" dirty="0"/>
          </a:p>
        </p:txBody>
      </p:sp>
      <p:sp>
        <p:nvSpPr>
          <p:cNvPr id="29" name="Text 26"/>
          <p:cNvSpPr txBox="1"/>
          <p:nvPr/>
        </p:nvSpPr>
        <p:spPr>
          <a:xfrm>
            <a:off x="2286000" y="2423160"/>
            <a:ext cx="2103120" cy="603504"/>
          </a:xfrm>
          <a:prstGeom prst="rect">
            <a:avLst/>
          </a:prstGeom>
          <a:noFill/>
          <a:ln/>
        </p:spPr>
        <p:txBody>
          <a:bodyPr wrap="square" lIns="0" tIns="0" rIns="0" bIns="0" rtlCol="0" anchor="ctr"/>
          <a:lstStyle/>
          <a:p>
            <a:pPr indent="0" marL="0">
              <a:buNone/>
            </a:pPr>
            <a:r>
              <a:rPr lang="en-US" sz="1100" dirty="0">
                <a:solidFill>
                  <a:schemeClr val="tx1"/>
                </a:solidFill>
              </a:rPr>
              <a:t>Testo, grafici, icone dicono lo stesso?</a:t>
            </a:r>
            <a:endParaRPr lang="en-US" sz="1100" dirty="0"/>
          </a:p>
        </p:txBody>
      </p:sp>
      <p:sp>
        <p:nvSpPr>
          <p:cNvPr id="30" name="Sequenza"/>
          <p:cNvSpPr/>
          <p:nvPr/>
        </p:nvSpPr>
        <p:spPr>
          <a:xfrm>
            <a:off x="4663440" y="2423160"/>
            <a:ext cx="4023360" cy="603504"/>
          </a:xfrm>
          <a:prstGeom prst="roundRect">
            <a:avLst>
              <a:gd name="adj" fmla="val 12121"/>
            </a:avLst>
          </a:prstGeom>
          <a:solidFill>
            <a:schemeClr val="bg2"/>
          </a:solidFill>
          <a:ln/>
        </p:spPr>
      </p:sp>
      <p:sp>
        <p:nvSpPr>
          <p:cNvPr id="31" name="casella Sequenza"/>
          <p:cNvSpPr/>
          <p:nvPr/>
        </p:nvSpPr>
        <p:spPr>
          <a:xfrm>
            <a:off x="4800600" y="2606040"/>
            <a:ext cx="237744" cy="237744"/>
          </a:xfrm>
          <a:prstGeom prst="rect">
            <a:avLst/>
          </a:prstGeom>
          <a:solidFill>
            <a:schemeClr val="bg1"/>
          </a:solidFill>
          <a:ln w="19050">
            <a:solidFill>
              <a:schemeClr val="accent1"/>
            </a:solidFill>
            <a:prstDash val="solid"/>
          </a:ln>
        </p:spPr>
      </p:sp>
      <p:sp>
        <p:nvSpPr>
          <p:cNvPr id="32" name="Text 29"/>
          <p:cNvSpPr txBox="1"/>
          <p:nvPr/>
        </p:nvSpPr>
        <p:spPr>
          <a:xfrm>
            <a:off x="5166360" y="2423160"/>
            <a:ext cx="1371600" cy="603504"/>
          </a:xfrm>
          <a:prstGeom prst="rect">
            <a:avLst/>
          </a:prstGeom>
          <a:noFill/>
          <a:ln/>
        </p:spPr>
        <p:txBody>
          <a:bodyPr wrap="square" lIns="0" tIns="0" rIns="0" bIns="0" rtlCol="0" anchor="ctr"/>
          <a:lstStyle/>
          <a:p>
            <a:pPr indent="0" marL="0">
              <a:buNone/>
            </a:pPr>
            <a:r>
              <a:rPr lang="en-US" sz="1300" b="1" dirty="0">
                <a:solidFill>
                  <a:schemeClr val="accent1"/>
                </a:solidFill>
              </a:rPr>
              <a:t>Sequenza</a:t>
            </a:r>
            <a:endParaRPr lang="en-US" sz="1300" dirty="0"/>
          </a:p>
        </p:txBody>
      </p:sp>
      <p:sp>
        <p:nvSpPr>
          <p:cNvPr id="33" name="Text 30"/>
          <p:cNvSpPr txBox="1"/>
          <p:nvPr/>
        </p:nvSpPr>
        <p:spPr>
          <a:xfrm>
            <a:off x="6492240" y="2423160"/>
            <a:ext cx="2103120" cy="603504"/>
          </a:xfrm>
          <a:prstGeom prst="rect">
            <a:avLst/>
          </a:prstGeom>
          <a:noFill/>
          <a:ln/>
        </p:spPr>
        <p:txBody>
          <a:bodyPr wrap="square" lIns="0" tIns="0" rIns="0" bIns="0" rtlCol="0" anchor="ctr"/>
          <a:lstStyle/>
          <a:p>
            <a:pPr indent="0" marL="0">
              <a:buNone/>
            </a:pPr>
            <a:r>
              <a:rPr lang="en-US" sz="1100" dirty="0">
                <a:solidFill>
                  <a:schemeClr val="tx1"/>
                </a:solidFill>
              </a:rPr>
              <a:t>L'ordine costruisce un ragionamento?</a:t>
            </a:r>
            <a:endParaRPr lang="en-US" sz="1100" dirty="0"/>
          </a:p>
        </p:txBody>
      </p:sp>
      <p:sp>
        <p:nvSpPr>
          <p:cNvPr id="34" name="Sobrietà"/>
          <p:cNvSpPr/>
          <p:nvPr/>
        </p:nvSpPr>
        <p:spPr>
          <a:xfrm>
            <a:off x="457200" y="3108960"/>
            <a:ext cx="4023360" cy="603504"/>
          </a:xfrm>
          <a:prstGeom prst="roundRect">
            <a:avLst>
              <a:gd name="adj" fmla="val 12121"/>
            </a:avLst>
          </a:prstGeom>
          <a:solidFill>
            <a:schemeClr val="accent6"/>
          </a:solidFill>
          <a:ln/>
        </p:spPr>
      </p:sp>
      <p:sp>
        <p:nvSpPr>
          <p:cNvPr id="35" name="casella Sobrietà"/>
          <p:cNvSpPr/>
          <p:nvPr/>
        </p:nvSpPr>
        <p:spPr>
          <a:xfrm>
            <a:off x="594360" y="3291840"/>
            <a:ext cx="237744" cy="237744"/>
          </a:xfrm>
          <a:prstGeom prst="rect">
            <a:avLst/>
          </a:prstGeom>
          <a:solidFill>
            <a:schemeClr val="bg1"/>
          </a:solidFill>
          <a:ln w="19050">
            <a:solidFill>
              <a:schemeClr val="accent1"/>
            </a:solidFill>
            <a:prstDash val="solid"/>
          </a:ln>
        </p:spPr>
      </p:sp>
      <p:sp>
        <p:nvSpPr>
          <p:cNvPr id="36" name="Text 33"/>
          <p:cNvSpPr txBox="1"/>
          <p:nvPr/>
        </p:nvSpPr>
        <p:spPr>
          <a:xfrm>
            <a:off x="960120" y="3108960"/>
            <a:ext cx="1371600" cy="603504"/>
          </a:xfrm>
          <a:prstGeom prst="rect">
            <a:avLst/>
          </a:prstGeom>
          <a:noFill/>
          <a:ln/>
        </p:spPr>
        <p:txBody>
          <a:bodyPr wrap="square" lIns="0" tIns="0" rIns="0" bIns="0" rtlCol="0" anchor="ctr"/>
          <a:lstStyle/>
          <a:p>
            <a:pPr indent="0" marL="0">
              <a:buNone/>
            </a:pPr>
            <a:r>
              <a:rPr lang="en-US" sz="1300" b="1" dirty="0">
                <a:solidFill>
                  <a:schemeClr val="accent1"/>
                </a:solidFill>
              </a:rPr>
              <a:t>Sobrietà</a:t>
            </a:r>
            <a:endParaRPr lang="en-US" sz="1300" dirty="0"/>
          </a:p>
        </p:txBody>
      </p:sp>
      <p:sp>
        <p:nvSpPr>
          <p:cNvPr id="37" name="Text 34"/>
          <p:cNvSpPr txBox="1"/>
          <p:nvPr/>
        </p:nvSpPr>
        <p:spPr>
          <a:xfrm>
            <a:off x="2286000" y="3108960"/>
            <a:ext cx="2103120" cy="603504"/>
          </a:xfrm>
          <a:prstGeom prst="rect">
            <a:avLst/>
          </a:prstGeom>
          <a:noFill/>
          <a:ln/>
        </p:spPr>
        <p:txBody>
          <a:bodyPr wrap="square" lIns="0" tIns="0" rIns="0" bIns="0" rtlCol="0" anchor="ctr"/>
          <a:lstStyle/>
          <a:p>
            <a:pPr indent="0" marL="0">
              <a:buNone/>
            </a:pPr>
            <a:r>
              <a:rPr lang="en-US" sz="1100" dirty="0">
                <a:solidFill>
                  <a:schemeClr val="tx1"/>
                </a:solidFill>
              </a:rPr>
              <a:t>Niente decorazioni e testo superflui?</a:t>
            </a:r>
            <a:endParaRPr lang="en-US" sz="1100" dirty="0"/>
          </a:p>
        </p:txBody>
      </p:sp>
      <p:sp>
        <p:nvSpPr>
          <p:cNvPr id="38" name="Immagini"/>
          <p:cNvSpPr/>
          <p:nvPr/>
        </p:nvSpPr>
        <p:spPr>
          <a:xfrm>
            <a:off x="4663440" y="3108960"/>
            <a:ext cx="4023360" cy="603504"/>
          </a:xfrm>
          <a:prstGeom prst="roundRect">
            <a:avLst>
              <a:gd name="adj" fmla="val 12121"/>
            </a:avLst>
          </a:prstGeom>
          <a:solidFill>
            <a:schemeClr val="accent6"/>
          </a:solidFill>
          <a:ln/>
        </p:spPr>
      </p:sp>
      <p:sp>
        <p:nvSpPr>
          <p:cNvPr id="39" name="casella Immagini"/>
          <p:cNvSpPr/>
          <p:nvPr/>
        </p:nvSpPr>
        <p:spPr>
          <a:xfrm>
            <a:off x="4800600" y="3291840"/>
            <a:ext cx="237744" cy="237744"/>
          </a:xfrm>
          <a:prstGeom prst="rect">
            <a:avLst/>
          </a:prstGeom>
          <a:solidFill>
            <a:schemeClr val="bg1"/>
          </a:solidFill>
          <a:ln w="19050">
            <a:solidFill>
              <a:schemeClr val="accent1"/>
            </a:solidFill>
            <a:prstDash val="solid"/>
          </a:ln>
        </p:spPr>
      </p:sp>
      <p:sp>
        <p:nvSpPr>
          <p:cNvPr id="40" name="Text 37"/>
          <p:cNvSpPr txBox="1"/>
          <p:nvPr/>
        </p:nvSpPr>
        <p:spPr>
          <a:xfrm>
            <a:off x="5166360" y="3108960"/>
            <a:ext cx="1371600" cy="603504"/>
          </a:xfrm>
          <a:prstGeom prst="rect">
            <a:avLst/>
          </a:prstGeom>
          <a:noFill/>
          <a:ln/>
        </p:spPr>
        <p:txBody>
          <a:bodyPr wrap="square" lIns="0" tIns="0" rIns="0" bIns="0" rtlCol="0" anchor="ctr"/>
          <a:lstStyle/>
          <a:p>
            <a:pPr indent="0" marL="0">
              <a:buNone/>
            </a:pPr>
            <a:r>
              <a:rPr lang="en-US" sz="1300" b="1" dirty="0">
                <a:solidFill>
                  <a:schemeClr val="accent1"/>
                </a:solidFill>
              </a:rPr>
              <a:t>Immagini</a:t>
            </a:r>
            <a:endParaRPr lang="en-US" sz="1300" dirty="0"/>
          </a:p>
        </p:txBody>
      </p:sp>
      <p:sp>
        <p:nvSpPr>
          <p:cNvPr id="41" name="Text 38"/>
          <p:cNvSpPr txBox="1"/>
          <p:nvPr/>
        </p:nvSpPr>
        <p:spPr>
          <a:xfrm>
            <a:off x="6492240" y="3108960"/>
            <a:ext cx="2103120" cy="603504"/>
          </a:xfrm>
          <a:prstGeom prst="rect">
            <a:avLst/>
          </a:prstGeom>
          <a:noFill/>
          <a:ln/>
        </p:spPr>
        <p:txBody>
          <a:bodyPr wrap="square" lIns="0" tIns="0" rIns="0" bIns="0" rtlCol="0" anchor="ctr"/>
          <a:lstStyle/>
          <a:p>
            <a:pPr indent="0" marL="0">
              <a:buNone/>
            </a:pPr>
            <a:r>
              <a:rPr lang="en-US" sz="1100" dirty="0">
                <a:solidFill>
                  <a:schemeClr val="tx1"/>
                </a:solidFill>
              </a:rPr>
              <a:t>Appropriate, dichiarate se generate?</a:t>
            </a:r>
            <a:endParaRPr lang="en-US" sz="1100" dirty="0"/>
          </a:p>
        </p:txBody>
      </p:sp>
      <p:sp>
        <p:nvSpPr>
          <p:cNvPr id="42" name="Text 39"/>
          <p:cNvSpPr txBox="1"/>
          <p:nvPr/>
        </p:nvSpPr>
        <p:spPr>
          <a:xfrm>
            <a:off x="457200" y="3931920"/>
            <a:ext cx="8229600" cy="457200"/>
          </a:xfrm>
          <a:prstGeom prst="rect">
            <a:avLst/>
          </a:prstGeom>
          <a:noFill/>
          <a:ln/>
        </p:spPr>
        <p:txBody>
          <a:bodyPr wrap="square" lIns="0" tIns="0" rIns="0" bIns="0" rtlCol="0" anchor="t"/>
          <a:lstStyle/>
          <a:p>
            <a:pPr indent="0" marL="0">
              <a:buNone/>
            </a:pPr>
            <a:r>
              <a:rPr lang="en-US" sz="1300" b="1" i="1" dirty="0">
                <a:solidFill>
                  <a:schemeClr val="accent1"/>
                </a:solidFill>
              </a:rPr>
              <a:t>Pochi minuti per intercettare la maggior parte dei problemi, e decidere quanto intervenire sulla bozza.</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1"/>
          <p:cNvSpPr/>
          <p:nvPr>
            <p:ph idx="101" type="body" hasCustomPrompt="1"/>
          </p:nvPr>
        </p:nvSpPr>
        <p:spPr>
          <a:xfrm>
            <a:off x="822960" y="1600200"/>
            <a:ext cx="7498080" cy="2011680"/>
          </a:xfrm>
          <a:prstGeom prst="rect">
            <a:avLst/>
          </a:prstGeom>
          <a:noFill/>
          <a:ln/>
        </p:spPr>
        <p:txBody>
          <a:bodyPr wrap="square" lIns="0" tIns="0" rIns="0" bIns="0" rtlCol="0" anchor="t"/>
          <a:lstStyle/>
          <a:p>
            <a:pPr indent="0" marL="0">
              <a:buNone/>
            </a:pPr>
            <a:r>
              <a:rPr lang="en-US" sz="2600" dirty="0">
                <a:solidFill>
                  <a:schemeClr val="bg1"/>
                </a:solidFill>
              </a:rPr>
              <a:t>L'efficacia estetica di un materiale non garantisce accuratezza, completezza né coerenza narrativa.</a:t>
            </a:r>
            <a:endParaRPr lang="en-US" sz="2600" dirty="0"/>
          </a:p>
        </p:txBody>
      </p:sp>
      <p:sp>
        <p:nvSpPr>
          <p:cNvPr id="3" name="Text 1"/>
          <p:cNvSpPr/>
          <p:nvPr>
            <p:ph idx="102" type="body" hasCustomPrompt="1"/>
          </p:nvPr>
        </p:nvSpPr>
        <p:spPr>
          <a:xfrm>
            <a:off x="822960" y="3794760"/>
            <a:ext cx="7498080" cy="365760"/>
          </a:xfrm>
          <a:prstGeom prst="rect">
            <a:avLst/>
          </a:prstGeom>
          <a:noFill/>
          <a:ln/>
        </p:spPr>
        <p:txBody>
          <a:bodyPr wrap="square" lIns="0" tIns="0" rIns="0" bIns="0" rtlCol="0"/>
          <a:lstStyle/>
          <a:p>
            <a:pPr indent="0" marL="0">
              <a:buNone/>
            </a:pPr>
            <a:r>
              <a:rPr lang="en-US" sz="1300" dirty="0">
                <a:solidFill>
                  <a:schemeClr val="accent3"/>
                </a:solidFill>
              </a:rPr>
              <a:t>Sottotema 10.6  ·  Presentazioni e materiali di comunicazione</a:t>
            </a:r>
            <a:endParaRPr lang="en-US" sz="13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0" type="body" hasCustomPrompt="1"/>
          </p:nvPr>
        </p:nvSpPr>
        <p:spPr>
          <a:xfrm>
            <a:off x="640080" y="914400"/>
            <a:ext cx="3657600" cy="1005840"/>
          </a:xfrm>
          <a:prstGeom prst="rect">
            <a:avLst/>
          </a:prstGeom>
          <a:noFill/>
          <a:ln/>
        </p:spPr>
        <p:txBody>
          <a:bodyPr wrap="square" lIns="0" tIns="0" rIns="0" bIns="0" rtlCol="0" anchor="b"/>
          <a:lstStyle/>
          <a:p>
            <a:pPr indent="0" marL="0">
              <a:buNone/>
            </a:pPr>
            <a:r>
              <a:rPr lang="en-US" sz="6000" b="1" dirty="0">
                <a:solidFill>
                  <a:schemeClr val="accent1"/>
                </a:solidFill>
              </a:rPr>
              <a:t>10.7</a:t>
            </a:r>
            <a:endParaRPr lang="en-US" sz="6000" dirty="0"/>
          </a:p>
        </p:txBody>
      </p:sp>
      <p:sp>
        <p:nvSpPr>
          <p:cNvPr id="3" name="Text 0"/>
          <p:cNvSpPr/>
          <p:nvPr>
            <p:ph idx="101" type="title" hasCustomPrompt="1"/>
          </p:nvPr>
        </p:nvSpPr>
        <p:spPr>
          <a:xfrm>
            <a:off x="640080" y="2057400"/>
            <a:ext cx="7863840" cy="914400"/>
          </a:xfrm>
          <a:prstGeom prst="rect">
            <a:avLst/>
          </a:prstGeom>
          <a:noFill/>
          <a:ln/>
        </p:spPr>
        <p:txBody>
          <a:bodyPr wrap="square" lIns="0" tIns="0" rIns="0" bIns="0" rtlCol="0" anchor="t"/>
          <a:lstStyle/>
          <a:p>
            <a:pPr algn="l" indent="0" marL="0">
              <a:buNone/>
            </a:pPr>
            <a:r>
              <a:rPr lang="en-US" sz="3200" b="1" dirty="0">
                <a:solidFill>
                  <a:schemeClr val="bg1"/>
                </a:solidFill>
              </a:rPr>
              <a:t>Integrazione e trasformazione tra modalità</a:t>
            </a:r>
            <a:endParaRPr lang="en-US" sz="3200" dirty="0"/>
          </a:p>
        </p:txBody>
      </p:sp>
      <p:sp>
        <p:nvSpPr>
          <p:cNvPr id="4" name="Text 0"/>
          <p:cNvSpPr/>
          <p:nvPr>
            <p:ph idx="102" type="body" hasCustomPrompt="1"/>
          </p:nvPr>
        </p:nvSpPr>
        <p:spPr>
          <a:xfrm>
            <a:off x="640080" y="3063240"/>
            <a:ext cx="7315200" cy="1097280"/>
          </a:xfrm>
          <a:prstGeom prst="rect">
            <a:avLst/>
          </a:prstGeom>
          <a:noFill/>
          <a:ln/>
        </p:spPr>
        <p:txBody>
          <a:bodyPr wrap="square" lIns="0" tIns="0" rIns="0" bIns="0" rtlCol="0" anchor="t"/>
          <a:lstStyle/>
          <a:p>
            <a:pPr indent="0" marL="0">
              <a:buNone/>
            </a:pPr>
            <a:r>
              <a:rPr lang="en-US" sz="1600" dirty="0">
                <a:solidFill>
                  <a:schemeClr val="accent3"/>
                </a:solidFill>
              </a:rPr>
              <a:t>Il valore delle conversioni dipende dalla loro utilità e dalla fedeltà, non solo dalla comodità</a:t>
            </a:r>
            <a:endParaRPr lang="en-US"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La mappa delle conversioni</a:t>
            </a:r>
            <a:endParaRPr lang="en-US" sz="2600" dirty="0"/>
          </a:p>
        </p:txBody>
      </p:sp>
      <p:sp>
        <p:nvSpPr>
          <p:cNvPr id="4" name="operazione Interpretare"/>
          <p:cNvSpPr/>
          <p:nvPr/>
        </p:nvSpPr>
        <p:spPr>
          <a:xfrm>
            <a:off x="6053328" y="384048"/>
            <a:ext cx="841248"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6053328" y="384048"/>
            <a:ext cx="841248" cy="237744"/>
          </a:xfrm>
          <a:prstGeom prst="rect">
            <a:avLst/>
          </a:prstGeom>
          <a:noFill/>
          <a:ln/>
        </p:spPr>
        <p:txBody>
          <a:bodyPr wrap="square" lIns="0" tIns="0" rIns="0" bIns="0" rtlCol="0" anchor="ctr"/>
          <a:lstStyle/>
          <a:p>
            <a:pPr algn="ctr" indent="0" marL="0">
              <a:buNone/>
            </a:pPr>
            <a:r>
              <a:rPr lang="en-US" sz="900" b="1" dirty="0">
                <a:solidFill>
                  <a:schemeClr val="accent1"/>
                </a:solidFill>
              </a:rPr>
              <a:t>Interpretare</a:t>
            </a:r>
            <a:endParaRPr lang="en-US" sz="900" dirty="0"/>
          </a:p>
        </p:txBody>
      </p:sp>
      <p:sp>
        <p:nvSpPr>
          <p:cNvPr id="6" name="operazione Generare"/>
          <p:cNvSpPr/>
          <p:nvPr/>
        </p:nvSpPr>
        <p:spPr>
          <a:xfrm>
            <a:off x="6940296" y="384048"/>
            <a:ext cx="841248"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940296" y="384048"/>
            <a:ext cx="841248" cy="237744"/>
          </a:xfrm>
          <a:prstGeom prst="rect">
            <a:avLst/>
          </a:prstGeom>
          <a:noFill/>
          <a:ln/>
        </p:spPr>
        <p:txBody>
          <a:bodyPr wrap="square" lIns="0" tIns="0" rIns="0" bIns="0" rtlCol="0" anchor="ctr"/>
          <a:lstStyle/>
          <a:p>
            <a:pPr algn="ctr" indent="0" marL="0">
              <a:buNone/>
            </a:pPr>
            <a:r>
              <a:rPr lang="en-US" sz="900" b="1" dirty="0">
                <a:solidFill>
                  <a:schemeClr val="accent1"/>
                </a:solidFill>
              </a:rPr>
              <a:t>Generare</a:t>
            </a:r>
            <a:endParaRPr lang="en-US" sz="900" dirty="0"/>
          </a:p>
        </p:txBody>
      </p:sp>
      <p:sp>
        <p:nvSpPr>
          <p:cNvPr id="8" name="operazione Trasformare"/>
          <p:cNvSpPr/>
          <p:nvPr/>
        </p:nvSpPr>
        <p:spPr>
          <a:xfrm>
            <a:off x="7827264" y="384048"/>
            <a:ext cx="841248"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7827264" y="384048"/>
            <a:ext cx="841248" cy="237744"/>
          </a:xfrm>
          <a:prstGeom prst="rect">
            <a:avLst/>
          </a:prstGeom>
          <a:noFill/>
          <a:ln/>
        </p:spPr>
        <p:txBody>
          <a:bodyPr wrap="square" lIns="0" tIns="0" rIns="0" bIns="0" rtlCol="0" anchor="ctr"/>
          <a:lstStyle/>
          <a:p>
            <a:pPr algn="ctr" indent="0" marL="0">
              <a:buNone/>
            </a:pPr>
            <a:r>
              <a:rPr lang="en-US" sz="900" b="1" dirty="0">
                <a:solidFill>
                  <a:schemeClr val="bg1"/>
                </a:solidFill>
              </a:rPr>
              <a:t>Trasformare</a:t>
            </a:r>
            <a:endParaRPr lang="en-US" sz="9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1828800"/>
                <a:gridCol w="2377440"/>
                <a:gridCol w="4023360"/>
              </a:tblGrid>
              <a:tr h="365760">
                <a:tc>
                  <a:txBody>
                    <a:bodyPr/>
                    <a:lstStyle/>
                    <a:p>
                      <a:pPr indent="0" marL="0">
                        <a:buNone/>
                      </a:pPr>
                      <a:r>
                        <a:rPr lang="en-US" sz="1200" b="1" dirty="0">
                          <a:solidFill>
                            <a:schemeClr val="bg1"/>
                          </a:solidFill>
                        </a:rPr>
                        <a:t>Da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Esempio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r>
              <a:tr h="365760">
                <a:tc>
                  <a:txBody>
                    <a:bodyPr/>
                    <a:lstStyle/>
                    <a:p>
                      <a:pPr indent="0" marL="0">
                        <a:buNone/>
                      </a:pPr>
                      <a:r>
                        <a:rPr lang="en-US" sz="1200" b="1" dirty="0">
                          <a:solidFill>
                            <a:schemeClr val="tx1"/>
                          </a:solidFill>
                        </a:rPr>
                        <a:t>Testo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Immagine, audio, video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Illustrazione, lettura vocale, video da sceneggiatura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365760">
                <a:tc>
                  <a:txBody>
                    <a:bodyPr/>
                    <a:lstStyle/>
                    <a:p>
                      <a:pPr indent="0" marL="0">
                        <a:buNone/>
                      </a:pPr>
                      <a:r>
                        <a:rPr lang="en-US" sz="1200" b="1" dirty="0">
                          <a:solidFill>
                            <a:schemeClr val="tx1"/>
                          </a:solidFill>
                        </a:rPr>
                        <a:t>Immagine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Testo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Descrizione di una foto, testo da una schermata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365760">
                <a:tc>
                  <a:txBody>
                    <a:bodyPr/>
                    <a:lstStyle/>
                    <a:p>
                      <a:pPr indent="0" marL="0">
                        <a:buNone/>
                      </a:pPr>
                      <a:r>
                        <a:rPr lang="en-US" sz="1200" b="1" dirty="0">
                          <a:solidFill>
                            <a:schemeClr val="tx1"/>
                          </a:solidFill>
                        </a:rPr>
                        <a:t>Audio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Testo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Trascrizione di una riunione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365760">
                <a:tc>
                  <a:txBody>
                    <a:bodyPr/>
                    <a:lstStyle/>
                    <a:p>
                      <a:pPr indent="0" marL="0">
                        <a:buNone/>
                      </a:pPr>
                      <a:r>
                        <a:rPr lang="en-US" sz="1200" b="1" dirty="0">
                          <a:solidFill>
                            <a:schemeClr val="tx1"/>
                          </a:solidFill>
                        </a:rPr>
                        <a:t>Video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Testo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Sintesi di un webinar</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365760">
                <a:tc>
                  <a:txBody>
                    <a:bodyPr/>
                    <a:lstStyle/>
                    <a:p>
                      <a:pPr indent="0" marL="0">
                        <a:buNone/>
                      </a:pPr>
                      <a:r>
                        <a:rPr lang="en-US" sz="1200" b="1" dirty="0">
                          <a:solidFill>
                            <a:schemeClr val="tx1"/>
                          </a:solidFill>
                        </a:rPr>
                        <a:t>Documento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Presentazione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Relazione trasformata in slide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365760">
                <a:tc>
                  <a:txBody>
                    <a:bodyPr/>
                    <a:lstStyle/>
                    <a:p>
                      <a:pPr indent="0" marL="0">
                        <a:buNone/>
                      </a:pPr>
                      <a:r>
                        <a:rPr lang="en-US" sz="1200" b="1" dirty="0">
                          <a:solidFill>
                            <a:schemeClr val="tx1"/>
                          </a:solidFill>
                        </a:rPr>
                        <a:t>Più fonti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Un nuovo contenuto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Registrazione, slide e documento in un verbale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bl>
          </a:graphicData>
        </a:graphic>
      </p:graphicFrame>
      <p:sp>
        <p:nvSpPr>
          <p:cNvPr id="11" name="messaggio"/>
          <p:cNvSpPr/>
          <p:nvPr/>
        </p:nvSpPr>
        <p:spPr>
          <a:xfrm>
            <a:off x="457200" y="3749040"/>
            <a:ext cx="8229600" cy="731520"/>
          </a:xfrm>
          <a:prstGeom prst="roundRect">
            <a:avLst>
              <a:gd name="adj" fmla="val 10000"/>
            </a:avLst>
          </a:prstGeom>
          <a:solidFill>
            <a:schemeClr val="tx1"/>
          </a:solidFill>
          <a:ln/>
        </p:spPr>
      </p:sp>
      <p:sp>
        <p:nvSpPr>
          <p:cNvPr id="12" name="Text 8"/>
          <p:cNvSpPr txBox="1"/>
          <p:nvPr/>
        </p:nvSpPr>
        <p:spPr>
          <a:xfrm>
            <a:off x="640080" y="3749040"/>
            <a:ext cx="7863840" cy="731520"/>
          </a:xfrm>
          <a:prstGeom prst="rect">
            <a:avLst/>
          </a:prstGeom>
          <a:noFill/>
          <a:ln/>
        </p:spPr>
        <p:txBody>
          <a:bodyPr wrap="square" lIns="0" tIns="0" rIns="0" bIns="0" rtlCol="0" anchor="ctr"/>
          <a:lstStyle/>
          <a:p>
            <a:pPr indent="0" marL="0">
              <a:buNone/>
            </a:pPr>
            <a:r>
              <a:rPr lang="en-US" sz="1300" dirty="0">
                <a:solidFill>
                  <a:schemeClr val="bg1"/>
                </a:solidFill>
              </a:rPr>
              <a:t>Le modalità non sono equivalenti: ogni conversione sceglie che cosa portare nella nuova forma e che cosa lasciare indietro.</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Le catene di trasformazione</a:t>
            </a:r>
            <a:endParaRPr lang="en-US" sz="2600" dirty="0"/>
          </a:p>
        </p:txBody>
      </p:sp>
      <p:sp>
        <p:nvSpPr>
          <p:cNvPr id="4" name="operazione Interpretare"/>
          <p:cNvSpPr/>
          <p:nvPr/>
        </p:nvSpPr>
        <p:spPr>
          <a:xfrm>
            <a:off x="6053328" y="384048"/>
            <a:ext cx="841248"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6053328" y="384048"/>
            <a:ext cx="841248" cy="237744"/>
          </a:xfrm>
          <a:prstGeom prst="rect">
            <a:avLst/>
          </a:prstGeom>
          <a:noFill/>
          <a:ln/>
        </p:spPr>
        <p:txBody>
          <a:bodyPr wrap="square" lIns="0" tIns="0" rIns="0" bIns="0" rtlCol="0" anchor="ctr"/>
          <a:lstStyle/>
          <a:p>
            <a:pPr algn="ctr" indent="0" marL="0">
              <a:buNone/>
            </a:pPr>
            <a:r>
              <a:rPr lang="en-US" sz="900" b="1" dirty="0">
                <a:solidFill>
                  <a:schemeClr val="accent1"/>
                </a:solidFill>
              </a:rPr>
              <a:t>Interpretare</a:t>
            </a:r>
            <a:endParaRPr lang="en-US" sz="900" dirty="0"/>
          </a:p>
        </p:txBody>
      </p:sp>
      <p:sp>
        <p:nvSpPr>
          <p:cNvPr id="6" name="operazione Generare"/>
          <p:cNvSpPr/>
          <p:nvPr/>
        </p:nvSpPr>
        <p:spPr>
          <a:xfrm>
            <a:off x="6940296" y="384048"/>
            <a:ext cx="841248"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940296" y="384048"/>
            <a:ext cx="841248" cy="237744"/>
          </a:xfrm>
          <a:prstGeom prst="rect">
            <a:avLst/>
          </a:prstGeom>
          <a:noFill/>
          <a:ln/>
        </p:spPr>
        <p:txBody>
          <a:bodyPr wrap="square" lIns="0" tIns="0" rIns="0" bIns="0" rtlCol="0" anchor="ctr"/>
          <a:lstStyle/>
          <a:p>
            <a:pPr algn="ctr" indent="0" marL="0">
              <a:buNone/>
            </a:pPr>
            <a:r>
              <a:rPr lang="en-US" sz="900" b="1" dirty="0">
                <a:solidFill>
                  <a:schemeClr val="accent1"/>
                </a:solidFill>
              </a:rPr>
              <a:t>Generare</a:t>
            </a:r>
            <a:endParaRPr lang="en-US" sz="900" dirty="0"/>
          </a:p>
        </p:txBody>
      </p:sp>
      <p:sp>
        <p:nvSpPr>
          <p:cNvPr id="8" name="operazione Trasformare"/>
          <p:cNvSpPr/>
          <p:nvPr/>
        </p:nvSpPr>
        <p:spPr>
          <a:xfrm>
            <a:off x="7827264" y="384048"/>
            <a:ext cx="841248"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7827264" y="384048"/>
            <a:ext cx="841248" cy="237744"/>
          </a:xfrm>
          <a:prstGeom prst="rect">
            <a:avLst/>
          </a:prstGeom>
          <a:noFill/>
          <a:ln/>
        </p:spPr>
        <p:txBody>
          <a:bodyPr wrap="square" lIns="0" tIns="0" rIns="0" bIns="0" rtlCol="0" anchor="ctr"/>
          <a:lstStyle/>
          <a:p>
            <a:pPr algn="ctr" indent="0" marL="0">
              <a:buNone/>
            </a:pPr>
            <a:r>
              <a:rPr lang="en-US" sz="900" b="1" dirty="0">
                <a:solidFill>
                  <a:schemeClr val="bg1"/>
                </a:solidFill>
              </a:rPr>
              <a:t>Trasformare</a:t>
            </a:r>
            <a:endParaRPr lang="en-US" sz="900" dirty="0"/>
          </a:p>
        </p:txBody>
      </p:sp>
      <p:sp>
        <p:nvSpPr>
          <p:cNvPr id="10" name="blocco Riunione"/>
          <p:cNvSpPr/>
          <p:nvPr/>
        </p:nvSpPr>
        <p:spPr>
          <a:xfrm>
            <a:off x="457200" y="1143000"/>
            <a:ext cx="1463040" cy="640080"/>
          </a:xfrm>
          <a:prstGeom prst="roundRect">
            <a:avLst>
              <a:gd name="adj" fmla="val 17143"/>
            </a:avLst>
          </a:prstGeom>
          <a:solidFill>
            <a:schemeClr val="accent1"/>
          </a:solidFill>
          <a:ln/>
        </p:spPr>
      </p:sp>
      <p:sp>
        <p:nvSpPr>
          <p:cNvPr id="11" name="Text 8"/>
          <p:cNvSpPr txBox="1"/>
          <p:nvPr/>
        </p:nvSpPr>
        <p:spPr>
          <a:xfrm>
            <a:off x="502920" y="1143000"/>
            <a:ext cx="1371600" cy="640080"/>
          </a:xfrm>
          <a:prstGeom prst="rect">
            <a:avLst/>
          </a:prstGeom>
          <a:noFill/>
          <a:ln/>
        </p:spPr>
        <p:txBody>
          <a:bodyPr wrap="square" lIns="0" tIns="0" rIns="0" bIns="0" rtlCol="0" anchor="ctr"/>
          <a:lstStyle/>
          <a:p>
            <a:pPr algn="ctr" indent="0" marL="0">
              <a:buNone/>
            </a:pPr>
            <a:r>
              <a:rPr lang="en-US" sz="1300" b="1" dirty="0">
                <a:solidFill>
                  <a:schemeClr val="bg1"/>
                </a:solidFill>
              </a:rPr>
              <a:t>Riunione</a:t>
            </a:r>
            <a:endParaRPr lang="en-US" sz="1300" dirty="0"/>
          </a:p>
        </p:txBody>
      </p:sp>
      <p:sp>
        <p:nvSpPr>
          <p:cNvPr id="12" name="freccia"/>
          <p:cNvSpPr/>
          <p:nvPr/>
        </p:nvSpPr>
        <p:spPr>
          <a:xfrm>
            <a:off x="1938528" y="1316736"/>
            <a:ext cx="182880" cy="292608"/>
          </a:xfrm>
          <a:prstGeom prst="rightArrow">
            <a:avLst/>
          </a:prstGeom>
          <a:solidFill>
            <a:schemeClr val="accent2"/>
          </a:solidFill>
          <a:ln/>
        </p:spPr>
      </p:sp>
      <p:sp>
        <p:nvSpPr>
          <p:cNvPr id="13" name="blocco Trascrizione"/>
          <p:cNvSpPr/>
          <p:nvPr/>
        </p:nvSpPr>
        <p:spPr>
          <a:xfrm>
            <a:off x="2139696" y="1143000"/>
            <a:ext cx="1463040" cy="640080"/>
          </a:xfrm>
          <a:prstGeom prst="roundRect">
            <a:avLst>
              <a:gd name="adj" fmla="val 17143"/>
            </a:avLst>
          </a:prstGeom>
          <a:solidFill>
            <a:schemeClr val="accent6"/>
          </a:solidFill>
          <a:ln/>
        </p:spPr>
      </p:sp>
      <p:sp>
        <p:nvSpPr>
          <p:cNvPr id="14" name="Text 11"/>
          <p:cNvSpPr txBox="1"/>
          <p:nvPr/>
        </p:nvSpPr>
        <p:spPr>
          <a:xfrm>
            <a:off x="2185416" y="1143000"/>
            <a:ext cx="1371600" cy="640080"/>
          </a:xfrm>
          <a:prstGeom prst="rect">
            <a:avLst/>
          </a:prstGeom>
          <a:noFill/>
          <a:ln/>
        </p:spPr>
        <p:txBody>
          <a:bodyPr wrap="square" lIns="0" tIns="0" rIns="0" bIns="0" rtlCol="0" anchor="ctr"/>
          <a:lstStyle/>
          <a:p>
            <a:pPr algn="ctr" indent="0" marL="0">
              <a:buNone/>
            </a:pPr>
            <a:r>
              <a:rPr lang="en-US" sz="1300" b="1" dirty="0">
                <a:solidFill>
                  <a:schemeClr val="tx1"/>
                </a:solidFill>
              </a:rPr>
              <a:t>Trascrizione</a:t>
            </a:r>
            <a:endParaRPr lang="en-US" sz="1300" dirty="0"/>
          </a:p>
        </p:txBody>
      </p:sp>
      <p:sp>
        <p:nvSpPr>
          <p:cNvPr id="15" name="freccia"/>
          <p:cNvSpPr/>
          <p:nvPr/>
        </p:nvSpPr>
        <p:spPr>
          <a:xfrm>
            <a:off x="3621024" y="1316736"/>
            <a:ext cx="182880" cy="292608"/>
          </a:xfrm>
          <a:prstGeom prst="rightArrow">
            <a:avLst/>
          </a:prstGeom>
          <a:solidFill>
            <a:schemeClr val="accent2"/>
          </a:solidFill>
          <a:ln/>
        </p:spPr>
      </p:sp>
      <p:sp>
        <p:nvSpPr>
          <p:cNvPr id="16" name="Text 13"/>
          <p:cNvSpPr txBox="1"/>
          <p:nvPr/>
        </p:nvSpPr>
        <p:spPr>
          <a:xfrm>
            <a:off x="2139696" y="1874520"/>
            <a:ext cx="1463040" cy="228600"/>
          </a:xfrm>
          <a:prstGeom prst="rect">
            <a:avLst/>
          </a:prstGeom>
          <a:noFill/>
          <a:ln/>
        </p:spPr>
        <p:txBody>
          <a:bodyPr wrap="square" lIns="0" tIns="0" rIns="0" bIns="0" rtlCol="0" anchor="t"/>
          <a:lstStyle/>
          <a:p>
            <a:pPr algn="ctr" indent="0" marL="0">
              <a:buNone/>
            </a:pPr>
            <a:r>
              <a:rPr lang="en-US" sz="900" dirty="0">
                <a:solidFill>
                  <a:schemeClr val="tx2"/>
                </a:solidFill>
              </a:rPr>
              <a:t>Si perde:</a:t>
            </a:r>
            <a:endParaRPr lang="en-US" sz="900" dirty="0"/>
          </a:p>
        </p:txBody>
      </p:sp>
      <p:sp>
        <p:nvSpPr>
          <p:cNvPr id="17" name="Text 14"/>
          <p:cNvSpPr txBox="1"/>
          <p:nvPr/>
        </p:nvSpPr>
        <p:spPr>
          <a:xfrm>
            <a:off x="2139696" y="2084832"/>
            <a:ext cx="1463040" cy="411480"/>
          </a:xfrm>
          <a:prstGeom prst="rect">
            <a:avLst/>
          </a:prstGeom>
          <a:noFill/>
          <a:ln/>
        </p:spPr>
        <p:txBody>
          <a:bodyPr wrap="square" lIns="0" tIns="0" rIns="0" bIns="0" rtlCol="0" anchor="t"/>
          <a:lstStyle/>
          <a:p>
            <a:pPr algn="ctr" indent="0" marL="0">
              <a:buNone/>
            </a:pPr>
            <a:r>
              <a:rPr lang="en-US" sz="1100" b="1" dirty="0">
                <a:solidFill>
                  <a:schemeClr val="accent5"/>
                </a:solidFill>
              </a:rPr>
              <a:t>Tono, esitazioni</a:t>
            </a:r>
            <a:endParaRPr lang="en-US" sz="1100" dirty="0"/>
          </a:p>
        </p:txBody>
      </p:sp>
      <p:sp>
        <p:nvSpPr>
          <p:cNvPr id="18" name="blocco Riassunto"/>
          <p:cNvSpPr/>
          <p:nvPr/>
        </p:nvSpPr>
        <p:spPr>
          <a:xfrm>
            <a:off x="3822192" y="1143000"/>
            <a:ext cx="1463040" cy="640080"/>
          </a:xfrm>
          <a:prstGeom prst="roundRect">
            <a:avLst>
              <a:gd name="adj" fmla="val 17143"/>
            </a:avLst>
          </a:prstGeom>
          <a:solidFill>
            <a:schemeClr val="accent6"/>
          </a:solidFill>
          <a:ln/>
        </p:spPr>
      </p:sp>
      <p:sp>
        <p:nvSpPr>
          <p:cNvPr id="19" name="Text 16"/>
          <p:cNvSpPr txBox="1"/>
          <p:nvPr/>
        </p:nvSpPr>
        <p:spPr>
          <a:xfrm>
            <a:off x="3867912" y="1143000"/>
            <a:ext cx="1371600" cy="640080"/>
          </a:xfrm>
          <a:prstGeom prst="rect">
            <a:avLst/>
          </a:prstGeom>
          <a:noFill/>
          <a:ln/>
        </p:spPr>
        <p:txBody>
          <a:bodyPr wrap="square" lIns="0" tIns="0" rIns="0" bIns="0" rtlCol="0" anchor="ctr"/>
          <a:lstStyle/>
          <a:p>
            <a:pPr algn="ctr" indent="0" marL="0">
              <a:buNone/>
            </a:pPr>
            <a:r>
              <a:rPr lang="en-US" sz="1300" b="1" dirty="0">
                <a:solidFill>
                  <a:schemeClr val="tx1"/>
                </a:solidFill>
              </a:rPr>
              <a:t>Riassunto</a:t>
            </a:r>
            <a:endParaRPr lang="en-US" sz="1300" dirty="0"/>
          </a:p>
        </p:txBody>
      </p:sp>
      <p:sp>
        <p:nvSpPr>
          <p:cNvPr id="20" name="freccia"/>
          <p:cNvSpPr/>
          <p:nvPr/>
        </p:nvSpPr>
        <p:spPr>
          <a:xfrm>
            <a:off x="5303520" y="1316736"/>
            <a:ext cx="182880" cy="292608"/>
          </a:xfrm>
          <a:prstGeom prst="rightArrow">
            <a:avLst/>
          </a:prstGeom>
          <a:solidFill>
            <a:schemeClr val="accent2"/>
          </a:solidFill>
          <a:ln/>
        </p:spPr>
      </p:sp>
      <p:sp>
        <p:nvSpPr>
          <p:cNvPr id="21" name="Text 18"/>
          <p:cNvSpPr txBox="1"/>
          <p:nvPr/>
        </p:nvSpPr>
        <p:spPr>
          <a:xfrm>
            <a:off x="3822192" y="1874520"/>
            <a:ext cx="1463040" cy="228600"/>
          </a:xfrm>
          <a:prstGeom prst="rect">
            <a:avLst/>
          </a:prstGeom>
          <a:noFill/>
          <a:ln/>
        </p:spPr>
        <p:txBody>
          <a:bodyPr wrap="square" lIns="0" tIns="0" rIns="0" bIns="0" rtlCol="0" anchor="t"/>
          <a:lstStyle/>
          <a:p>
            <a:pPr algn="ctr" indent="0" marL="0">
              <a:buNone/>
            </a:pPr>
            <a:r>
              <a:rPr lang="en-US" sz="900" dirty="0">
                <a:solidFill>
                  <a:schemeClr val="tx2"/>
                </a:solidFill>
              </a:rPr>
              <a:t>Si perde:</a:t>
            </a:r>
            <a:endParaRPr lang="en-US" sz="900" dirty="0"/>
          </a:p>
        </p:txBody>
      </p:sp>
      <p:sp>
        <p:nvSpPr>
          <p:cNvPr id="22" name="Text 19"/>
          <p:cNvSpPr txBox="1"/>
          <p:nvPr/>
        </p:nvSpPr>
        <p:spPr>
          <a:xfrm>
            <a:off x="3822192" y="2084832"/>
            <a:ext cx="1463040" cy="411480"/>
          </a:xfrm>
          <a:prstGeom prst="rect">
            <a:avLst/>
          </a:prstGeom>
          <a:noFill/>
          <a:ln/>
        </p:spPr>
        <p:txBody>
          <a:bodyPr wrap="square" lIns="0" tIns="0" rIns="0" bIns="0" rtlCol="0" anchor="t"/>
          <a:lstStyle/>
          <a:p>
            <a:pPr algn="ctr" indent="0" marL="0">
              <a:buNone/>
            </a:pPr>
            <a:r>
              <a:rPr lang="en-US" sz="1100" b="1" dirty="0">
                <a:solidFill>
                  <a:schemeClr val="accent5"/>
                </a:solidFill>
              </a:rPr>
              <a:t>Obiezioni minori</a:t>
            </a:r>
            <a:endParaRPr lang="en-US" sz="1100" dirty="0"/>
          </a:p>
        </p:txBody>
      </p:sp>
      <p:sp>
        <p:nvSpPr>
          <p:cNvPr id="23" name="blocco Slide"/>
          <p:cNvSpPr/>
          <p:nvPr/>
        </p:nvSpPr>
        <p:spPr>
          <a:xfrm>
            <a:off x="5504688" y="1143000"/>
            <a:ext cx="1463040" cy="640080"/>
          </a:xfrm>
          <a:prstGeom prst="roundRect">
            <a:avLst>
              <a:gd name="adj" fmla="val 17143"/>
            </a:avLst>
          </a:prstGeom>
          <a:solidFill>
            <a:schemeClr val="accent6"/>
          </a:solidFill>
          <a:ln/>
        </p:spPr>
      </p:sp>
      <p:sp>
        <p:nvSpPr>
          <p:cNvPr id="24" name="Text 21"/>
          <p:cNvSpPr txBox="1"/>
          <p:nvPr/>
        </p:nvSpPr>
        <p:spPr>
          <a:xfrm>
            <a:off x="5550408" y="1143000"/>
            <a:ext cx="1371600" cy="640080"/>
          </a:xfrm>
          <a:prstGeom prst="rect">
            <a:avLst/>
          </a:prstGeom>
          <a:noFill/>
          <a:ln/>
        </p:spPr>
        <p:txBody>
          <a:bodyPr wrap="square" lIns="0" tIns="0" rIns="0" bIns="0" rtlCol="0" anchor="ctr"/>
          <a:lstStyle/>
          <a:p>
            <a:pPr algn="ctr" indent="0" marL="0">
              <a:buNone/>
            </a:pPr>
            <a:r>
              <a:rPr lang="en-US" sz="1300" b="1" dirty="0">
                <a:solidFill>
                  <a:schemeClr val="tx1"/>
                </a:solidFill>
              </a:rPr>
              <a:t>Slide</a:t>
            </a:r>
            <a:endParaRPr lang="en-US" sz="1300" dirty="0"/>
          </a:p>
        </p:txBody>
      </p:sp>
      <p:sp>
        <p:nvSpPr>
          <p:cNvPr id="25" name="freccia"/>
          <p:cNvSpPr/>
          <p:nvPr/>
        </p:nvSpPr>
        <p:spPr>
          <a:xfrm>
            <a:off x="6986016" y="1316736"/>
            <a:ext cx="182880" cy="292608"/>
          </a:xfrm>
          <a:prstGeom prst="rightArrow">
            <a:avLst/>
          </a:prstGeom>
          <a:solidFill>
            <a:schemeClr val="accent2"/>
          </a:solidFill>
          <a:ln/>
        </p:spPr>
      </p:sp>
      <p:sp>
        <p:nvSpPr>
          <p:cNvPr id="26" name="Text 23"/>
          <p:cNvSpPr txBox="1"/>
          <p:nvPr/>
        </p:nvSpPr>
        <p:spPr>
          <a:xfrm>
            <a:off x="5504688" y="1874520"/>
            <a:ext cx="1463040" cy="228600"/>
          </a:xfrm>
          <a:prstGeom prst="rect">
            <a:avLst/>
          </a:prstGeom>
          <a:noFill/>
          <a:ln/>
        </p:spPr>
        <p:txBody>
          <a:bodyPr wrap="square" lIns="0" tIns="0" rIns="0" bIns="0" rtlCol="0" anchor="t"/>
          <a:lstStyle/>
          <a:p>
            <a:pPr algn="ctr" indent="0" marL="0">
              <a:buNone/>
            </a:pPr>
            <a:r>
              <a:rPr lang="en-US" sz="900" dirty="0">
                <a:solidFill>
                  <a:schemeClr val="tx2"/>
                </a:solidFill>
              </a:rPr>
              <a:t>Si perde:</a:t>
            </a:r>
            <a:endParaRPr lang="en-US" sz="900" dirty="0"/>
          </a:p>
        </p:txBody>
      </p:sp>
      <p:sp>
        <p:nvSpPr>
          <p:cNvPr id="27" name="Text 24"/>
          <p:cNvSpPr txBox="1"/>
          <p:nvPr/>
        </p:nvSpPr>
        <p:spPr>
          <a:xfrm>
            <a:off x="5504688" y="2084832"/>
            <a:ext cx="1463040" cy="411480"/>
          </a:xfrm>
          <a:prstGeom prst="rect">
            <a:avLst/>
          </a:prstGeom>
          <a:noFill/>
          <a:ln/>
        </p:spPr>
        <p:txBody>
          <a:bodyPr wrap="square" lIns="0" tIns="0" rIns="0" bIns="0" rtlCol="0" anchor="t"/>
          <a:lstStyle/>
          <a:p>
            <a:pPr algn="ctr" indent="0" marL="0">
              <a:buNone/>
            </a:pPr>
            <a:r>
              <a:rPr lang="en-US" sz="1100" b="1" dirty="0">
                <a:solidFill>
                  <a:schemeClr val="accent5"/>
                </a:solidFill>
              </a:rPr>
              <a:t>Condizioni</a:t>
            </a:r>
            <a:endParaRPr lang="en-US" sz="1100" dirty="0"/>
          </a:p>
        </p:txBody>
      </p:sp>
      <p:sp>
        <p:nvSpPr>
          <p:cNvPr id="28" name="blocco Video"/>
          <p:cNvSpPr/>
          <p:nvPr/>
        </p:nvSpPr>
        <p:spPr>
          <a:xfrm>
            <a:off x="7187184" y="1143000"/>
            <a:ext cx="1463040" cy="640080"/>
          </a:xfrm>
          <a:prstGeom prst="roundRect">
            <a:avLst>
              <a:gd name="adj" fmla="val 17143"/>
            </a:avLst>
          </a:prstGeom>
          <a:solidFill>
            <a:schemeClr val="accent6"/>
          </a:solidFill>
          <a:ln/>
        </p:spPr>
      </p:sp>
      <p:sp>
        <p:nvSpPr>
          <p:cNvPr id="29" name="Text 26"/>
          <p:cNvSpPr txBox="1"/>
          <p:nvPr/>
        </p:nvSpPr>
        <p:spPr>
          <a:xfrm>
            <a:off x="7232904" y="1143000"/>
            <a:ext cx="1371600" cy="640080"/>
          </a:xfrm>
          <a:prstGeom prst="rect">
            <a:avLst/>
          </a:prstGeom>
          <a:noFill/>
          <a:ln/>
        </p:spPr>
        <p:txBody>
          <a:bodyPr wrap="square" lIns="0" tIns="0" rIns="0" bIns="0" rtlCol="0" anchor="ctr"/>
          <a:lstStyle/>
          <a:p>
            <a:pPr algn="ctr" indent="0" marL="0">
              <a:buNone/>
            </a:pPr>
            <a:r>
              <a:rPr lang="en-US" sz="1300" b="1" dirty="0">
                <a:solidFill>
                  <a:schemeClr val="tx1"/>
                </a:solidFill>
              </a:rPr>
              <a:t>Video</a:t>
            </a:r>
            <a:endParaRPr lang="en-US" sz="1300" dirty="0"/>
          </a:p>
        </p:txBody>
      </p:sp>
      <p:sp>
        <p:nvSpPr>
          <p:cNvPr id="30" name="Text 27"/>
          <p:cNvSpPr txBox="1"/>
          <p:nvPr/>
        </p:nvSpPr>
        <p:spPr>
          <a:xfrm>
            <a:off x="7187184" y="1874520"/>
            <a:ext cx="1463040" cy="228600"/>
          </a:xfrm>
          <a:prstGeom prst="rect">
            <a:avLst/>
          </a:prstGeom>
          <a:noFill/>
          <a:ln/>
        </p:spPr>
        <p:txBody>
          <a:bodyPr wrap="square" lIns="0" tIns="0" rIns="0" bIns="0" rtlCol="0" anchor="t"/>
          <a:lstStyle/>
          <a:p>
            <a:pPr algn="ctr" indent="0" marL="0">
              <a:buNone/>
            </a:pPr>
            <a:r>
              <a:rPr lang="en-US" sz="900" dirty="0">
                <a:solidFill>
                  <a:schemeClr val="tx2"/>
                </a:solidFill>
              </a:rPr>
              <a:t>Si perde:</a:t>
            </a:r>
            <a:endParaRPr lang="en-US" sz="900" dirty="0"/>
          </a:p>
        </p:txBody>
      </p:sp>
      <p:sp>
        <p:nvSpPr>
          <p:cNvPr id="31" name="Text 28"/>
          <p:cNvSpPr txBox="1"/>
          <p:nvPr/>
        </p:nvSpPr>
        <p:spPr>
          <a:xfrm>
            <a:off x="7187184" y="2084832"/>
            <a:ext cx="1463040" cy="411480"/>
          </a:xfrm>
          <a:prstGeom prst="rect">
            <a:avLst/>
          </a:prstGeom>
          <a:noFill/>
          <a:ln/>
        </p:spPr>
        <p:txBody>
          <a:bodyPr wrap="square" lIns="0" tIns="0" rIns="0" bIns="0" rtlCol="0" anchor="t"/>
          <a:lstStyle/>
          <a:p>
            <a:pPr algn="ctr" indent="0" marL="0">
              <a:buNone/>
            </a:pPr>
            <a:r>
              <a:rPr lang="en-US" sz="1100" b="1" dirty="0">
                <a:solidFill>
                  <a:schemeClr val="accent5"/>
                </a:solidFill>
              </a:rPr>
              <a:t>Rileggibilità</a:t>
            </a:r>
            <a:endParaRPr lang="en-US" sz="1100" dirty="0"/>
          </a:p>
        </p:txBody>
      </p:sp>
      <p:sp>
        <p:nvSpPr>
          <p:cNvPr id="32" name="passaparola"/>
          <p:cNvSpPr/>
          <p:nvPr/>
        </p:nvSpPr>
        <p:spPr>
          <a:xfrm>
            <a:off x="457200" y="2697480"/>
            <a:ext cx="8229600" cy="731520"/>
          </a:xfrm>
          <a:prstGeom prst="roundRect">
            <a:avLst>
              <a:gd name="adj" fmla="val 10000"/>
            </a:avLst>
          </a:prstGeom>
          <a:solidFill>
            <a:schemeClr val="bg2"/>
          </a:solidFill>
          <a:ln/>
        </p:spPr>
      </p:sp>
      <p:sp>
        <p:nvSpPr>
          <p:cNvPr id="33" name="Text 30"/>
          <p:cNvSpPr txBox="1"/>
          <p:nvPr/>
        </p:nvSpPr>
        <p:spPr>
          <a:xfrm>
            <a:off x="640080" y="2697480"/>
            <a:ext cx="7863840" cy="731520"/>
          </a:xfrm>
          <a:prstGeom prst="rect">
            <a:avLst/>
          </a:prstGeom>
          <a:noFill/>
          <a:ln/>
        </p:spPr>
        <p:txBody>
          <a:bodyPr wrap="square" lIns="0" tIns="0" rIns="0" bIns="0" rtlCol="0" anchor="ctr"/>
          <a:lstStyle/>
          <a:p>
            <a:pPr indent="0" marL="0">
              <a:buNone/>
            </a:pPr>
            <a:r>
              <a:rPr lang="en-US" sz="1300" b="1" dirty="0">
                <a:solidFill>
                  <a:schemeClr val="accent1"/>
                </a:solidFill>
              </a:rPr>
              <a:t>Il passaparola delle modalità: </a:t>
            </a:r>
            <a:pPr indent="0" marL="0">
              <a:buNone/>
            </a:pPr>
            <a:r>
              <a:rPr lang="en-US" sz="1300" dirty="0">
                <a:solidFill>
                  <a:schemeClr val="tx1"/>
                </a:solidFill>
              </a:rPr>
              <a:t>ogni passaggio sembra ragionevole, ma gli errori si accumulano e il risultato si allontana dall'originale.</a:t>
            </a:r>
            <a:endParaRPr lang="en-US" sz="1300" dirty="0"/>
          </a:p>
        </p:txBody>
      </p:sp>
      <p:sp>
        <p:nvSpPr>
          <p:cNvPr id="34" name="blocco Catene brevi: partire dalla fonte originale"/>
          <p:cNvSpPr/>
          <p:nvPr/>
        </p:nvSpPr>
        <p:spPr>
          <a:xfrm>
            <a:off x="457200" y="3611880"/>
            <a:ext cx="4023360" cy="640080"/>
          </a:xfrm>
          <a:prstGeom prst="roundRect">
            <a:avLst>
              <a:gd name="adj" fmla="val 17143"/>
            </a:avLst>
          </a:prstGeom>
          <a:solidFill>
            <a:schemeClr val="accent6"/>
          </a:solidFill>
          <a:ln/>
        </p:spPr>
      </p:sp>
      <p:sp>
        <p:nvSpPr>
          <p:cNvPr id="35" name="Text 32"/>
          <p:cNvSpPr txBox="1"/>
          <p:nvPr/>
        </p:nvSpPr>
        <p:spPr>
          <a:xfrm>
            <a:off x="502920" y="3611880"/>
            <a:ext cx="3931920" cy="640080"/>
          </a:xfrm>
          <a:prstGeom prst="rect">
            <a:avLst/>
          </a:prstGeom>
          <a:noFill/>
          <a:ln/>
        </p:spPr>
        <p:txBody>
          <a:bodyPr wrap="square" lIns="0" tIns="0" rIns="0" bIns="0" rtlCol="0" anchor="ctr"/>
          <a:lstStyle/>
          <a:p>
            <a:pPr algn="ctr" indent="0" marL="0">
              <a:buNone/>
            </a:pPr>
            <a:r>
              <a:rPr lang="en-US" sz="1200" b="1" dirty="0">
                <a:solidFill>
                  <a:schemeClr val="tx1"/>
                </a:solidFill>
              </a:rPr>
              <a:t>Catene brevi: partire dalla fonte originale</a:t>
            </a:r>
            <a:endParaRPr lang="en-US" sz="1200" dirty="0"/>
          </a:p>
        </p:txBody>
      </p:sp>
      <p:sp>
        <p:nvSpPr>
          <p:cNvPr id="36" name="blocco Confrontare il risultato finale con l'originale"/>
          <p:cNvSpPr/>
          <p:nvPr/>
        </p:nvSpPr>
        <p:spPr>
          <a:xfrm>
            <a:off x="4663440" y="3611880"/>
            <a:ext cx="4023360" cy="640080"/>
          </a:xfrm>
          <a:prstGeom prst="roundRect">
            <a:avLst>
              <a:gd name="adj" fmla="val 17143"/>
            </a:avLst>
          </a:prstGeom>
          <a:solidFill>
            <a:schemeClr val="accent6"/>
          </a:solidFill>
          <a:ln/>
        </p:spPr>
      </p:sp>
      <p:sp>
        <p:nvSpPr>
          <p:cNvPr id="37" name="Text 34"/>
          <p:cNvSpPr txBox="1"/>
          <p:nvPr/>
        </p:nvSpPr>
        <p:spPr>
          <a:xfrm>
            <a:off x="4709160" y="3611880"/>
            <a:ext cx="3931920" cy="640080"/>
          </a:xfrm>
          <a:prstGeom prst="rect">
            <a:avLst/>
          </a:prstGeom>
          <a:noFill/>
          <a:ln/>
        </p:spPr>
        <p:txBody>
          <a:bodyPr wrap="square" lIns="0" tIns="0" rIns="0" bIns="0" rtlCol="0" anchor="ctr"/>
          <a:lstStyle/>
          <a:p>
            <a:pPr algn="ctr" indent="0" marL="0">
              <a:buNone/>
            </a:pPr>
            <a:r>
              <a:rPr lang="en-US" sz="1200" b="1" dirty="0">
                <a:solidFill>
                  <a:schemeClr val="tx1"/>
                </a:solidFill>
              </a:rPr>
              <a:t>Confrontare il risultato finale con l'originale</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Combinare più fonti</a:t>
            </a:r>
            <a:endParaRPr lang="en-US" sz="2600" dirty="0"/>
          </a:p>
        </p:txBody>
      </p:sp>
      <p:sp>
        <p:nvSpPr>
          <p:cNvPr id="4" name="operazione Interpretare"/>
          <p:cNvSpPr/>
          <p:nvPr/>
        </p:nvSpPr>
        <p:spPr>
          <a:xfrm>
            <a:off x="6053328" y="384048"/>
            <a:ext cx="841248"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6053328" y="384048"/>
            <a:ext cx="841248" cy="237744"/>
          </a:xfrm>
          <a:prstGeom prst="rect">
            <a:avLst/>
          </a:prstGeom>
          <a:noFill/>
          <a:ln/>
        </p:spPr>
        <p:txBody>
          <a:bodyPr wrap="square" lIns="0" tIns="0" rIns="0" bIns="0" rtlCol="0" anchor="ctr"/>
          <a:lstStyle/>
          <a:p>
            <a:pPr algn="ctr" indent="0" marL="0">
              <a:buNone/>
            </a:pPr>
            <a:r>
              <a:rPr lang="en-US" sz="900" b="1" dirty="0">
                <a:solidFill>
                  <a:schemeClr val="accent1"/>
                </a:solidFill>
              </a:rPr>
              <a:t>Interpretare</a:t>
            </a:r>
            <a:endParaRPr lang="en-US" sz="900" dirty="0"/>
          </a:p>
        </p:txBody>
      </p:sp>
      <p:sp>
        <p:nvSpPr>
          <p:cNvPr id="6" name="operazione Generare"/>
          <p:cNvSpPr/>
          <p:nvPr/>
        </p:nvSpPr>
        <p:spPr>
          <a:xfrm>
            <a:off x="6940296" y="384048"/>
            <a:ext cx="841248"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940296" y="384048"/>
            <a:ext cx="841248" cy="237744"/>
          </a:xfrm>
          <a:prstGeom prst="rect">
            <a:avLst/>
          </a:prstGeom>
          <a:noFill/>
          <a:ln/>
        </p:spPr>
        <p:txBody>
          <a:bodyPr wrap="square" lIns="0" tIns="0" rIns="0" bIns="0" rtlCol="0" anchor="ctr"/>
          <a:lstStyle/>
          <a:p>
            <a:pPr algn="ctr" indent="0" marL="0">
              <a:buNone/>
            </a:pPr>
            <a:r>
              <a:rPr lang="en-US" sz="900" b="1" dirty="0">
                <a:solidFill>
                  <a:schemeClr val="accent1"/>
                </a:solidFill>
              </a:rPr>
              <a:t>Generare</a:t>
            </a:r>
            <a:endParaRPr lang="en-US" sz="900" dirty="0"/>
          </a:p>
        </p:txBody>
      </p:sp>
      <p:sp>
        <p:nvSpPr>
          <p:cNvPr id="8" name="operazione Trasformare"/>
          <p:cNvSpPr/>
          <p:nvPr/>
        </p:nvSpPr>
        <p:spPr>
          <a:xfrm>
            <a:off x="7827264" y="384048"/>
            <a:ext cx="841248"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7827264" y="384048"/>
            <a:ext cx="841248" cy="237744"/>
          </a:xfrm>
          <a:prstGeom prst="rect">
            <a:avLst/>
          </a:prstGeom>
          <a:noFill/>
          <a:ln/>
        </p:spPr>
        <p:txBody>
          <a:bodyPr wrap="square" lIns="0" tIns="0" rIns="0" bIns="0" rtlCol="0" anchor="ctr"/>
          <a:lstStyle/>
          <a:p>
            <a:pPr algn="ctr" indent="0" marL="0">
              <a:buNone/>
            </a:pPr>
            <a:r>
              <a:rPr lang="en-US" sz="900" b="1" dirty="0">
                <a:solidFill>
                  <a:schemeClr val="bg1"/>
                </a:solidFill>
              </a:rPr>
              <a:t>Trasformare</a:t>
            </a:r>
            <a:endParaRPr lang="en-US" sz="900" dirty="0"/>
          </a:p>
        </p:txBody>
      </p:sp>
      <p:sp>
        <p:nvSpPr>
          <p:cNvPr id="10" name="Registrazione"/>
          <p:cNvSpPr/>
          <p:nvPr/>
        </p:nvSpPr>
        <p:spPr>
          <a:xfrm>
            <a:off x="457200" y="1051560"/>
            <a:ext cx="2377440" cy="658368"/>
          </a:xfrm>
          <a:prstGeom prst="roundRect">
            <a:avLst>
              <a:gd name="adj" fmla="val 11111"/>
            </a:avLst>
          </a:prstGeom>
          <a:solidFill>
            <a:schemeClr val="bg2"/>
          </a:solidFill>
          <a:ln/>
        </p:spPr>
      </p:sp>
      <p:sp>
        <p:nvSpPr>
          <p:cNvPr id="11" name="cerchio FiMic"/>
          <p:cNvSpPr/>
          <p:nvPr/>
        </p:nvSpPr>
        <p:spPr>
          <a:xfrm>
            <a:off x="566928" y="1161288"/>
            <a:ext cx="438912" cy="438912"/>
          </a:xfrm>
          <a:prstGeom prst="ellipse">
            <a:avLst/>
          </a:prstGeom>
          <a:solidFill>
            <a:schemeClr val="accent1"/>
          </a:solidFill>
          <a:ln/>
        </p:spPr>
      </p:sp>
      <p:pic>
        <p:nvPicPr>
          <p:cNvPr id="12" name="Image 0" descr="FiMic">    </p:cNvPr>
          <p:cNvPicPr>
            <a:picLocks noChangeAspect="1"/>
          </p:cNvPicPr>
          <p:nvPr/>
        </p:nvPicPr>
        <p:blipFill>
          <a:blip r:embed="rId1"/>
          <a:stretch>
            <a:fillRect/>
          </a:stretch>
        </p:blipFill>
        <p:spPr>
          <a:xfrm>
            <a:off x="676656" y="1271016"/>
            <a:ext cx="219456" cy="219456"/>
          </a:xfrm>
          <a:prstGeom prst="rect">
            <a:avLst/>
          </a:prstGeom>
        </p:spPr>
      </p:pic>
      <p:sp>
        <p:nvSpPr>
          <p:cNvPr id="13" name="Text 9"/>
          <p:cNvSpPr txBox="1"/>
          <p:nvPr/>
        </p:nvSpPr>
        <p:spPr>
          <a:xfrm>
            <a:off x="1097280" y="1051560"/>
            <a:ext cx="1645920" cy="658368"/>
          </a:xfrm>
          <a:prstGeom prst="rect">
            <a:avLst/>
          </a:prstGeom>
          <a:noFill/>
          <a:ln/>
        </p:spPr>
        <p:txBody>
          <a:bodyPr wrap="square" lIns="0" tIns="0" rIns="0" bIns="0" rtlCol="0" anchor="ctr"/>
          <a:lstStyle/>
          <a:p>
            <a:pPr indent="0" marL="0">
              <a:buNone/>
            </a:pPr>
            <a:r>
              <a:rPr lang="en-US" sz="1400" b="1" dirty="0">
                <a:solidFill>
                  <a:schemeClr val="tx1"/>
                </a:solidFill>
              </a:rPr>
              <a:t>Registrazione</a:t>
            </a:r>
            <a:endParaRPr lang="en-US" sz="1400" dirty="0"/>
          </a:p>
        </p:txBody>
      </p:sp>
      <p:sp>
        <p:nvSpPr>
          <p:cNvPr id="14" name="Slide"/>
          <p:cNvSpPr/>
          <p:nvPr/>
        </p:nvSpPr>
        <p:spPr>
          <a:xfrm>
            <a:off x="457200" y="1828800"/>
            <a:ext cx="2377440" cy="658368"/>
          </a:xfrm>
          <a:prstGeom prst="roundRect">
            <a:avLst>
              <a:gd name="adj" fmla="val 11111"/>
            </a:avLst>
          </a:prstGeom>
          <a:solidFill>
            <a:schemeClr val="bg2"/>
          </a:solidFill>
          <a:ln/>
        </p:spPr>
      </p:sp>
      <p:sp>
        <p:nvSpPr>
          <p:cNvPr id="15" name="cerchio FiLayout"/>
          <p:cNvSpPr/>
          <p:nvPr/>
        </p:nvSpPr>
        <p:spPr>
          <a:xfrm>
            <a:off x="566928" y="1938528"/>
            <a:ext cx="438912" cy="438912"/>
          </a:xfrm>
          <a:prstGeom prst="ellipse">
            <a:avLst/>
          </a:prstGeom>
          <a:solidFill>
            <a:schemeClr val="accent1"/>
          </a:solidFill>
          <a:ln/>
        </p:spPr>
      </p:sp>
      <p:pic>
        <p:nvPicPr>
          <p:cNvPr id="16" name="Image 1" descr="FiLayout">    </p:cNvPr>
          <p:cNvPicPr>
            <a:picLocks noChangeAspect="1"/>
          </p:cNvPicPr>
          <p:nvPr/>
        </p:nvPicPr>
        <p:blipFill>
          <a:blip r:embed="rId2"/>
          <a:stretch>
            <a:fillRect/>
          </a:stretch>
        </p:blipFill>
        <p:spPr>
          <a:xfrm>
            <a:off x="676656" y="2048256"/>
            <a:ext cx="219456" cy="219456"/>
          </a:xfrm>
          <a:prstGeom prst="rect">
            <a:avLst/>
          </a:prstGeom>
        </p:spPr>
      </p:pic>
      <p:sp>
        <p:nvSpPr>
          <p:cNvPr id="17" name="Text 12"/>
          <p:cNvSpPr txBox="1"/>
          <p:nvPr/>
        </p:nvSpPr>
        <p:spPr>
          <a:xfrm>
            <a:off x="1097280" y="1828800"/>
            <a:ext cx="1645920" cy="658368"/>
          </a:xfrm>
          <a:prstGeom prst="rect">
            <a:avLst/>
          </a:prstGeom>
          <a:noFill/>
          <a:ln/>
        </p:spPr>
        <p:txBody>
          <a:bodyPr wrap="square" lIns="0" tIns="0" rIns="0" bIns="0" rtlCol="0" anchor="ctr"/>
          <a:lstStyle/>
          <a:p>
            <a:pPr indent="0" marL="0">
              <a:buNone/>
            </a:pPr>
            <a:r>
              <a:rPr lang="en-US" sz="1400" b="1" dirty="0">
                <a:solidFill>
                  <a:schemeClr val="tx1"/>
                </a:solidFill>
              </a:rPr>
              <a:t>Slide</a:t>
            </a:r>
            <a:endParaRPr lang="en-US" sz="1400" dirty="0"/>
          </a:p>
        </p:txBody>
      </p:sp>
      <p:sp>
        <p:nvSpPr>
          <p:cNvPr id="18" name="Documento"/>
          <p:cNvSpPr/>
          <p:nvPr/>
        </p:nvSpPr>
        <p:spPr>
          <a:xfrm>
            <a:off x="457200" y="2606040"/>
            <a:ext cx="2377440" cy="658368"/>
          </a:xfrm>
          <a:prstGeom prst="roundRect">
            <a:avLst>
              <a:gd name="adj" fmla="val 11111"/>
            </a:avLst>
          </a:prstGeom>
          <a:solidFill>
            <a:schemeClr val="bg2"/>
          </a:solidFill>
          <a:ln/>
        </p:spPr>
      </p:sp>
      <p:sp>
        <p:nvSpPr>
          <p:cNvPr id="19" name="cerchio FiFileText"/>
          <p:cNvSpPr/>
          <p:nvPr/>
        </p:nvSpPr>
        <p:spPr>
          <a:xfrm>
            <a:off x="566928" y="2715768"/>
            <a:ext cx="438912" cy="438912"/>
          </a:xfrm>
          <a:prstGeom prst="ellipse">
            <a:avLst/>
          </a:prstGeom>
          <a:solidFill>
            <a:schemeClr val="accent1"/>
          </a:solidFill>
          <a:ln/>
        </p:spPr>
      </p:sp>
      <p:pic>
        <p:nvPicPr>
          <p:cNvPr id="20" name="Image 2" descr="FiFileText">    </p:cNvPr>
          <p:cNvPicPr>
            <a:picLocks noChangeAspect="1"/>
          </p:cNvPicPr>
          <p:nvPr/>
        </p:nvPicPr>
        <p:blipFill>
          <a:blip r:embed="rId3"/>
          <a:stretch>
            <a:fillRect/>
          </a:stretch>
        </p:blipFill>
        <p:spPr>
          <a:xfrm>
            <a:off x="676656" y="2825496"/>
            <a:ext cx="219456" cy="219456"/>
          </a:xfrm>
          <a:prstGeom prst="rect">
            <a:avLst/>
          </a:prstGeom>
        </p:spPr>
      </p:pic>
      <p:sp>
        <p:nvSpPr>
          <p:cNvPr id="21" name="Text 15"/>
          <p:cNvSpPr txBox="1"/>
          <p:nvPr/>
        </p:nvSpPr>
        <p:spPr>
          <a:xfrm>
            <a:off x="1097280" y="2606040"/>
            <a:ext cx="1645920" cy="658368"/>
          </a:xfrm>
          <a:prstGeom prst="rect">
            <a:avLst/>
          </a:prstGeom>
          <a:noFill/>
          <a:ln/>
        </p:spPr>
        <p:txBody>
          <a:bodyPr wrap="square" lIns="0" tIns="0" rIns="0" bIns="0" rtlCol="0" anchor="ctr"/>
          <a:lstStyle/>
          <a:p>
            <a:pPr indent="0" marL="0">
              <a:buNone/>
            </a:pPr>
            <a:r>
              <a:rPr lang="en-US" sz="1400" b="1" dirty="0">
                <a:solidFill>
                  <a:schemeClr val="tx1"/>
                </a:solidFill>
              </a:rPr>
              <a:t>Documento</a:t>
            </a:r>
            <a:endParaRPr lang="en-US" sz="1400" dirty="0"/>
          </a:p>
        </p:txBody>
      </p:sp>
      <p:sp>
        <p:nvSpPr>
          <p:cNvPr id="22" name="freccia"/>
          <p:cNvSpPr/>
          <p:nvPr/>
        </p:nvSpPr>
        <p:spPr>
          <a:xfrm>
            <a:off x="2926080" y="1828800"/>
            <a:ext cx="365760" cy="292608"/>
          </a:xfrm>
          <a:prstGeom prst="rightArrow">
            <a:avLst/>
          </a:prstGeom>
          <a:solidFill>
            <a:schemeClr val="accent2"/>
          </a:solidFill>
          <a:ln/>
        </p:spPr>
      </p:sp>
      <p:sp>
        <p:nvSpPr>
          <p:cNvPr id="23" name="verbale"/>
          <p:cNvSpPr/>
          <p:nvPr/>
        </p:nvSpPr>
        <p:spPr>
          <a:xfrm>
            <a:off x="3429000" y="1051560"/>
            <a:ext cx="2011680" cy="2194560"/>
          </a:xfrm>
          <a:prstGeom prst="roundRect">
            <a:avLst>
              <a:gd name="adj" fmla="val 3636"/>
            </a:avLst>
          </a:prstGeom>
          <a:solidFill>
            <a:schemeClr val="accent1"/>
          </a:solidFill>
          <a:ln/>
        </p:spPr>
      </p:sp>
      <p:sp>
        <p:nvSpPr>
          <p:cNvPr id="24" name="Text 18"/>
          <p:cNvSpPr txBox="1"/>
          <p:nvPr/>
        </p:nvSpPr>
        <p:spPr>
          <a:xfrm>
            <a:off x="3520440" y="1051560"/>
            <a:ext cx="1828800" cy="2194560"/>
          </a:xfrm>
          <a:prstGeom prst="rect">
            <a:avLst/>
          </a:prstGeom>
          <a:noFill/>
          <a:ln/>
        </p:spPr>
        <p:txBody>
          <a:bodyPr wrap="square" lIns="0" tIns="0" rIns="0" bIns="0" rtlCol="0" anchor="ctr"/>
          <a:lstStyle/>
          <a:p>
            <a:pPr algn="ctr" indent="0" marL="0">
              <a:buNone/>
            </a:pPr>
            <a:r>
              <a:rPr lang="en-US" sz="1500" b="1" dirty="0">
                <a:solidFill>
                  <a:schemeClr val="bg1"/>
                </a:solidFill>
              </a:rPr>
              <a:t>Un verbale integrato</a:t>
            </a:r>
            <a:endParaRPr lang="en-US" sz="1500" dirty="0"/>
          </a:p>
        </p:txBody>
      </p:sp>
      <p:sp>
        <p:nvSpPr>
          <p:cNvPr id="25" name="scheda Collegamenti errati"/>
          <p:cNvSpPr/>
          <p:nvPr/>
        </p:nvSpPr>
        <p:spPr>
          <a:xfrm>
            <a:off x="5669280" y="1051560"/>
            <a:ext cx="3017520" cy="2194560"/>
          </a:xfrm>
          <a:prstGeom prst="roundRect">
            <a:avLst>
              <a:gd name="adj" fmla="val 3333"/>
            </a:avLst>
          </a:prstGeom>
          <a:solidFill>
            <a:schemeClr val="bg2"/>
          </a:solidFill>
          <a:ln/>
        </p:spPr>
      </p:sp>
      <p:sp>
        <p:nvSpPr>
          <p:cNvPr id="26" name="cerchio FiAlertTriangle"/>
          <p:cNvSpPr/>
          <p:nvPr/>
        </p:nvSpPr>
        <p:spPr>
          <a:xfrm>
            <a:off x="5852160" y="1234440"/>
            <a:ext cx="457200" cy="457200"/>
          </a:xfrm>
          <a:prstGeom prst="ellipse">
            <a:avLst/>
          </a:prstGeom>
          <a:solidFill>
            <a:schemeClr val="accent5"/>
          </a:solidFill>
          <a:ln/>
        </p:spPr>
      </p:sp>
      <p:pic>
        <p:nvPicPr>
          <p:cNvPr id="27" name="Image 3" descr="FiAlertTriangle">    </p:cNvPr>
          <p:cNvPicPr>
            <a:picLocks noChangeAspect="1"/>
          </p:cNvPicPr>
          <p:nvPr/>
        </p:nvPicPr>
        <p:blipFill>
          <a:blip r:embed="rId4"/>
          <a:stretch>
            <a:fillRect/>
          </a:stretch>
        </p:blipFill>
        <p:spPr>
          <a:xfrm>
            <a:off x="5966460" y="1348740"/>
            <a:ext cx="228600" cy="228600"/>
          </a:xfrm>
          <a:prstGeom prst="rect">
            <a:avLst/>
          </a:prstGeom>
        </p:spPr>
      </p:pic>
      <p:sp>
        <p:nvSpPr>
          <p:cNvPr id="28" name="Text 21"/>
          <p:cNvSpPr txBox="1"/>
          <p:nvPr/>
        </p:nvSpPr>
        <p:spPr>
          <a:xfrm>
            <a:off x="5852160" y="1801368"/>
            <a:ext cx="2651760" cy="347472"/>
          </a:xfrm>
          <a:prstGeom prst="rect">
            <a:avLst/>
          </a:prstGeom>
          <a:noFill/>
          <a:ln/>
        </p:spPr>
        <p:txBody>
          <a:bodyPr wrap="square" lIns="0" tIns="0" rIns="0" bIns="0" rtlCol="0" anchor="t"/>
          <a:lstStyle/>
          <a:p>
            <a:pPr indent="0" marL="0">
              <a:buNone/>
            </a:pPr>
            <a:r>
              <a:rPr lang="en-US" sz="1400" b="1" dirty="0">
                <a:solidFill>
                  <a:schemeClr val="tx1"/>
                </a:solidFill>
              </a:rPr>
              <a:t>Collegamenti errati</a:t>
            </a:r>
            <a:endParaRPr lang="en-US" sz="1400" dirty="0"/>
          </a:p>
        </p:txBody>
      </p:sp>
      <p:sp>
        <p:nvSpPr>
          <p:cNvPr id="29" name="Text 22"/>
          <p:cNvSpPr txBox="1"/>
          <p:nvPr/>
        </p:nvSpPr>
        <p:spPr>
          <a:xfrm>
            <a:off x="5852160" y="2185416"/>
            <a:ext cx="2651760" cy="950976"/>
          </a:xfrm>
          <a:prstGeom prst="rect">
            <a:avLst/>
          </a:prstGeom>
          <a:noFill/>
          <a:ln/>
        </p:spPr>
        <p:txBody>
          <a:bodyPr wrap="square" lIns="0" tIns="0" rIns="0" bIns="0" rtlCol="0" anchor="t"/>
          <a:lstStyle/>
          <a:p>
            <a:pPr indent="0" marL="0">
              <a:buNone/>
            </a:pPr>
            <a:r>
              <a:rPr lang="en-US" sz="1200" dirty="0">
                <a:solidFill>
                  <a:schemeClr val="tx2"/>
                </a:solidFill>
              </a:rPr>
              <a:t>Un commento sulla slide sbagliata, una foto con la nota di un'altra stanza. E le giunture non si vedono.</a:t>
            </a:r>
            <a:endParaRPr lang="en-US" sz="1200" dirty="0"/>
          </a:p>
        </p:txBody>
      </p:sp>
      <p:sp>
        <p:nvSpPr>
          <p:cNvPr id="30" name="messaggio"/>
          <p:cNvSpPr/>
          <p:nvPr/>
        </p:nvSpPr>
        <p:spPr>
          <a:xfrm>
            <a:off x="457200" y="3474720"/>
            <a:ext cx="8229600" cy="685800"/>
          </a:xfrm>
          <a:prstGeom prst="roundRect">
            <a:avLst>
              <a:gd name="adj" fmla="val 10667"/>
            </a:avLst>
          </a:prstGeom>
          <a:solidFill>
            <a:schemeClr val="tx1"/>
          </a:solidFill>
          <a:ln/>
        </p:spPr>
      </p:sp>
      <p:sp>
        <p:nvSpPr>
          <p:cNvPr id="31" name="Text 24"/>
          <p:cNvSpPr txBox="1"/>
          <p:nvPr/>
        </p:nvSpPr>
        <p:spPr>
          <a:xfrm>
            <a:off x="640080" y="3474720"/>
            <a:ext cx="7863840" cy="685800"/>
          </a:xfrm>
          <a:prstGeom prst="rect">
            <a:avLst/>
          </a:prstGeom>
          <a:noFill/>
          <a:ln/>
        </p:spPr>
        <p:txBody>
          <a:bodyPr wrap="square" lIns="0" tIns="0" rIns="0" bIns="0" rtlCol="0" anchor="ctr"/>
          <a:lstStyle/>
          <a:p>
            <a:pPr indent="0" marL="0">
              <a:buNone/>
            </a:pPr>
            <a:r>
              <a:rPr lang="en-US" sz="1300" dirty="0">
                <a:solidFill>
                  <a:schemeClr val="bg1"/>
                </a:solidFill>
              </a:rPr>
              <a:t>Ogni fonte compensa i limiti delle altre. Per i contenuti importanti: ogni affermazione indichi la sua fonte.</a:t>
            </a:r>
            <a:endParaRPr lang="en-US" sz="1300" dirty="0"/>
          </a:p>
        </p:txBody>
      </p:sp>
      <p:sp>
        <p:nvSpPr>
          <p:cNvPr id="32" name="Text 25"/>
          <p:cNvSpPr txBox="1"/>
          <p:nvPr/>
        </p:nvSpPr>
        <p:spPr>
          <a:xfrm>
            <a:off x="457200" y="4251960"/>
            <a:ext cx="8229600" cy="274320"/>
          </a:xfrm>
          <a:prstGeom prst="rect">
            <a:avLst/>
          </a:prstGeom>
          <a:noFill/>
          <a:ln/>
        </p:spPr>
        <p:txBody>
          <a:bodyPr wrap="square" lIns="0" tIns="0" rIns="0" bIns="0" rtlCol="0" anchor="t"/>
          <a:lstStyle/>
          <a:p>
            <a:pPr indent="0" marL="0">
              <a:buNone/>
            </a:pPr>
            <a:r>
              <a:rPr lang="en-US" sz="1200" i="1" dirty="0">
                <a:solidFill>
                  <a:schemeClr val="tx2"/>
                </a:solidFill>
              </a:rPr>
              <a:t>Tracciabilità: ogni elemento del risultato deve poter essere ricondotto alla sua fonte.</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Conversioni per l'accessibilità</a:t>
            </a:r>
            <a:endParaRPr lang="en-US" sz="2600" dirty="0"/>
          </a:p>
        </p:txBody>
      </p:sp>
      <p:sp>
        <p:nvSpPr>
          <p:cNvPr id="4" name="operazione Interpretare"/>
          <p:cNvSpPr/>
          <p:nvPr/>
        </p:nvSpPr>
        <p:spPr>
          <a:xfrm>
            <a:off x="6053328" y="384048"/>
            <a:ext cx="841248"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6053328" y="384048"/>
            <a:ext cx="841248" cy="237744"/>
          </a:xfrm>
          <a:prstGeom prst="rect">
            <a:avLst/>
          </a:prstGeom>
          <a:noFill/>
          <a:ln/>
        </p:spPr>
        <p:txBody>
          <a:bodyPr wrap="square" lIns="0" tIns="0" rIns="0" bIns="0" rtlCol="0" anchor="ctr"/>
          <a:lstStyle/>
          <a:p>
            <a:pPr algn="ctr" indent="0" marL="0">
              <a:buNone/>
            </a:pPr>
            <a:r>
              <a:rPr lang="en-US" sz="900" b="1" dirty="0">
                <a:solidFill>
                  <a:schemeClr val="accent1"/>
                </a:solidFill>
              </a:rPr>
              <a:t>Interpretare</a:t>
            </a:r>
            <a:endParaRPr lang="en-US" sz="900" dirty="0"/>
          </a:p>
        </p:txBody>
      </p:sp>
      <p:sp>
        <p:nvSpPr>
          <p:cNvPr id="6" name="operazione Generare"/>
          <p:cNvSpPr/>
          <p:nvPr/>
        </p:nvSpPr>
        <p:spPr>
          <a:xfrm>
            <a:off x="6940296" y="384048"/>
            <a:ext cx="841248"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940296" y="384048"/>
            <a:ext cx="841248" cy="237744"/>
          </a:xfrm>
          <a:prstGeom prst="rect">
            <a:avLst/>
          </a:prstGeom>
          <a:noFill/>
          <a:ln/>
        </p:spPr>
        <p:txBody>
          <a:bodyPr wrap="square" lIns="0" tIns="0" rIns="0" bIns="0" rtlCol="0" anchor="ctr"/>
          <a:lstStyle/>
          <a:p>
            <a:pPr algn="ctr" indent="0" marL="0">
              <a:buNone/>
            </a:pPr>
            <a:r>
              <a:rPr lang="en-US" sz="900" b="1" dirty="0">
                <a:solidFill>
                  <a:schemeClr val="accent1"/>
                </a:solidFill>
              </a:rPr>
              <a:t>Generare</a:t>
            </a:r>
            <a:endParaRPr lang="en-US" sz="900" dirty="0"/>
          </a:p>
        </p:txBody>
      </p:sp>
      <p:sp>
        <p:nvSpPr>
          <p:cNvPr id="8" name="operazione Trasformare"/>
          <p:cNvSpPr/>
          <p:nvPr/>
        </p:nvSpPr>
        <p:spPr>
          <a:xfrm>
            <a:off x="7827264" y="384048"/>
            <a:ext cx="841248"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7827264" y="384048"/>
            <a:ext cx="841248" cy="237744"/>
          </a:xfrm>
          <a:prstGeom prst="rect">
            <a:avLst/>
          </a:prstGeom>
          <a:noFill/>
          <a:ln/>
        </p:spPr>
        <p:txBody>
          <a:bodyPr wrap="square" lIns="0" tIns="0" rIns="0" bIns="0" rtlCol="0" anchor="ctr"/>
          <a:lstStyle/>
          <a:p>
            <a:pPr algn="ctr" indent="0" marL="0">
              <a:buNone/>
            </a:pPr>
            <a:r>
              <a:rPr lang="en-US" sz="900" b="1" dirty="0">
                <a:solidFill>
                  <a:schemeClr val="bg1"/>
                </a:solidFill>
              </a:rPr>
              <a:t>Trasformare</a:t>
            </a:r>
            <a:endParaRPr lang="en-US" sz="900" dirty="0"/>
          </a:p>
        </p:txBody>
      </p:sp>
      <p:graphicFrame>
        <p:nvGraphicFramePr>
          <p:cNvPr id="57"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2377440"/>
                <a:gridCol w="3108960"/>
                <a:gridCol w="2743200"/>
              </a:tblGrid>
              <a:tr h="384048">
                <a:tc>
                  <a:txBody>
                    <a:bodyPr/>
                    <a:lstStyle/>
                    <a:p>
                      <a:pPr indent="0" marL="0">
                        <a:buNone/>
                      </a:pPr>
                      <a:r>
                        <a:rPr lang="en-US" sz="1200" b="1" dirty="0">
                          <a:solidFill>
                            <a:schemeClr val="bg1"/>
                          </a:solidFill>
                        </a:rPr>
                        <a:t>Contenuto originale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Conversione accessibile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bg1"/>
                          </a:solidFill>
                        </a:rPr>
                        <a:t>Per chi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r>
              <a:tr h="384048">
                <a:tc>
                  <a:txBody>
                    <a:bodyPr/>
                    <a:lstStyle/>
                    <a:p>
                      <a:pPr indent="0" marL="0">
                        <a:buNone/>
                      </a:pPr>
                      <a:r>
                        <a:rPr lang="en-US" sz="1200" b="1" dirty="0">
                          <a:solidFill>
                            <a:schemeClr val="tx1"/>
                          </a:solidFill>
                        </a:rPr>
                        <a:t>Immagine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Testo alternativo, descrizione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c>
                  <a:txBody>
                    <a:bodyPr/>
                    <a:lstStyle/>
                    <a:p>
                      <a:pPr indent="0" marL="0">
                        <a:buNone/>
                      </a:pPr>
                      <a:r>
                        <a:rPr lang="en-US" sz="1200" dirty="0">
                          <a:solidFill>
                            <a:schemeClr val="tx1"/>
                          </a:solidFill>
                        </a:rPr>
                        <a:t>Chi non vede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384048">
                <a:tc>
                  <a:txBody>
                    <a:bodyPr/>
                    <a:lstStyle/>
                    <a:p>
                      <a:pPr indent="0" marL="0">
                        <a:buNone/>
                      </a:pPr>
                      <a:r>
                        <a:rPr lang="en-US" sz="1200" b="1" dirty="0">
                          <a:solidFill>
                            <a:schemeClr val="tx1"/>
                          </a:solidFill>
                        </a:rPr>
                        <a:t>Audio e video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Sottotitoli, trascrizione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c>
                  <a:txBody>
                    <a:bodyPr/>
                    <a:lstStyle/>
                    <a:p>
                      <a:pPr indent="0" marL="0">
                        <a:buNone/>
                      </a:pPr>
                      <a:r>
                        <a:rPr lang="en-US" sz="1200" dirty="0">
                          <a:solidFill>
                            <a:schemeClr val="tx1"/>
                          </a:solidFill>
                        </a:rPr>
                        <a:t>Chi non sente, luoghi rumorosi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384048">
                <a:tc>
                  <a:txBody>
                    <a:bodyPr/>
                    <a:lstStyle/>
                    <a:p>
                      <a:pPr indent="0" marL="0">
                        <a:buNone/>
                      </a:pPr>
                      <a:r>
                        <a:rPr lang="en-US" sz="1200" b="1" dirty="0">
                          <a:solidFill>
                            <a:schemeClr val="tx1"/>
                          </a:solidFill>
                        </a:rPr>
                        <a:t>Documento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Versione audio, versione semplificata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c>
                  <a:txBody>
                    <a:bodyPr/>
                    <a:lstStyle/>
                    <a:p>
                      <a:pPr indent="0" marL="0">
                        <a:buNone/>
                      </a:pPr>
                      <a:r>
                        <a:rPr lang="en-US" sz="1200" dirty="0">
                          <a:solidFill>
                            <a:schemeClr val="tx1"/>
                          </a:solidFill>
                        </a:rPr>
                        <a:t>Chi fatica a leggere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384048">
                <a:tc>
                  <a:txBody>
                    <a:bodyPr/>
                    <a:lstStyle/>
                    <a:p>
                      <a:pPr indent="0" marL="0">
                        <a:buNone/>
                      </a:pPr>
                      <a:r>
                        <a:rPr lang="en-US" sz="1200" b="1" dirty="0">
                          <a:solidFill>
                            <a:schemeClr val="tx1"/>
                          </a:solidFill>
                        </a:rPr>
                        <a:t>Grafico o diagramma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Descrizione testuale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c>
                  <a:txBody>
                    <a:bodyPr/>
                    <a:lstStyle/>
                    <a:p>
                      <a:pPr indent="0" marL="0">
                        <a:buNone/>
                      </a:pPr>
                      <a:r>
                        <a:rPr lang="en-US" sz="1200" dirty="0">
                          <a:solidFill>
                            <a:schemeClr val="tx1"/>
                          </a:solidFill>
                        </a:rPr>
                        <a:t>Chi non vede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384048">
                <a:tc>
                  <a:txBody>
                    <a:bodyPr/>
                    <a:lstStyle/>
                    <a:p>
                      <a:pPr indent="0" marL="0">
                        <a:buNone/>
                      </a:pPr>
                      <a:r>
                        <a:rPr lang="en-US" sz="1200" b="1" dirty="0">
                          <a:solidFill>
                            <a:schemeClr val="tx1"/>
                          </a:solidFill>
                        </a:rPr>
                        <a:t>Qualsiasi contenuto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Traduzione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c>
                  <a:txBody>
                    <a:bodyPr/>
                    <a:lstStyle/>
                    <a:p>
                      <a:pPr indent="0" marL="0">
                        <a:buNone/>
                      </a:pPr>
                      <a:r>
                        <a:rPr lang="en-US" sz="1200" dirty="0">
                          <a:solidFill>
                            <a:schemeClr val="tx1"/>
                          </a:solidFill>
                        </a:rPr>
                        <a:t>Chi non conosce la lingua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bl>
          </a:graphicData>
        </a:graphic>
      </p:graphicFrame>
      <p:sp>
        <p:nvSpPr>
          <p:cNvPr id="11" name="messaggio"/>
          <p:cNvSpPr/>
          <p:nvPr/>
        </p:nvSpPr>
        <p:spPr>
          <a:xfrm>
            <a:off x="457200" y="3520440"/>
            <a:ext cx="8229600" cy="685800"/>
          </a:xfrm>
          <a:prstGeom prst="roundRect">
            <a:avLst>
              <a:gd name="adj" fmla="val 10667"/>
            </a:avLst>
          </a:prstGeom>
          <a:solidFill>
            <a:schemeClr val="tx1"/>
          </a:solidFill>
          <a:ln/>
        </p:spPr>
      </p:sp>
      <p:sp>
        <p:nvSpPr>
          <p:cNvPr id="12" name="Text 8"/>
          <p:cNvSpPr txBox="1"/>
          <p:nvPr/>
        </p:nvSpPr>
        <p:spPr>
          <a:xfrm>
            <a:off x="640080" y="3520440"/>
            <a:ext cx="7863840" cy="685800"/>
          </a:xfrm>
          <a:prstGeom prst="rect">
            <a:avLst/>
          </a:prstGeom>
          <a:noFill/>
          <a:ln/>
        </p:spPr>
        <p:txBody>
          <a:bodyPr wrap="square" lIns="0" tIns="0" rIns="0" bIns="0" rtlCol="0" anchor="ctr"/>
          <a:lstStyle/>
          <a:p>
            <a:pPr indent="0" marL="0">
              <a:buNone/>
            </a:pPr>
            <a:r>
              <a:rPr lang="en-US" sz="1300" dirty="0">
                <a:solidFill>
                  <a:schemeClr val="bg1"/>
                </a:solidFill>
              </a:rPr>
              <a:t>'Immagine di un grafico' non aiuta; una descrizione che inverte una tendenza danneggia chi non può verificare.</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Coerenza tra modalità</a:t>
            </a:r>
            <a:endParaRPr lang="en-US" sz="2600" dirty="0"/>
          </a:p>
        </p:txBody>
      </p:sp>
      <p:sp>
        <p:nvSpPr>
          <p:cNvPr id="4" name="operazione Interpretare"/>
          <p:cNvSpPr/>
          <p:nvPr/>
        </p:nvSpPr>
        <p:spPr>
          <a:xfrm>
            <a:off x="6053328" y="384048"/>
            <a:ext cx="841248"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6053328" y="384048"/>
            <a:ext cx="841248" cy="237744"/>
          </a:xfrm>
          <a:prstGeom prst="rect">
            <a:avLst/>
          </a:prstGeom>
          <a:noFill/>
          <a:ln/>
        </p:spPr>
        <p:txBody>
          <a:bodyPr wrap="square" lIns="0" tIns="0" rIns="0" bIns="0" rtlCol="0" anchor="ctr"/>
          <a:lstStyle/>
          <a:p>
            <a:pPr algn="ctr" indent="0" marL="0">
              <a:buNone/>
            </a:pPr>
            <a:r>
              <a:rPr lang="en-US" sz="900" b="1" dirty="0">
                <a:solidFill>
                  <a:schemeClr val="accent1"/>
                </a:solidFill>
              </a:rPr>
              <a:t>Interpretare</a:t>
            </a:r>
            <a:endParaRPr lang="en-US" sz="900" dirty="0"/>
          </a:p>
        </p:txBody>
      </p:sp>
      <p:sp>
        <p:nvSpPr>
          <p:cNvPr id="6" name="operazione Generare"/>
          <p:cNvSpPr/>
          <p:nvPr/>
        </p:nvSpPr>
        <p:spPr>
          <a:xfrm>
            <a:off x="6940296" y="384048"/>
            <a:ext cx="841248"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940296" y="384048"/>
            <a:ext cx="841248" cy="237744"/>
          </a:xfrm>
          <a:prstGeom prst="rect">
            <a:avLst/>
          </a:prstGeom>
          <a:noFill/>
          <a:ln/>
        </p:spPr>
        <p:txBody>
          <a:bodyPr wrap="square" lIns="0" tIns="0" rIns="0" bIns="0" rtlCol="0" anchor="ctr"/>
          <a:lstStyle/>
          <a:p>
            <a:pPr algn="ctr" indent="0" marL="0">
              <a:buNone/>
            </a:pPr>
            <a:r>
              <a:rPr lang="en-US" sz="900" b="1" dirty="0">
                <a:solidFill>
                  <a:schemeClr val="accent1"/>
                </a:solidFill>
              </a:rPr>
              <a:t>Generare</a:t>
            </a:r>
            <a:endParaRPr lang="en-US" sz="900" dirty="0"/>
          </a:p>
        </p:txBody>
      </p:sp>
      <p:sp>
        <p:nvSpPr>
          <p:cNvPr id="8" name="operazione Trasformare"/>
          <p:cNvSpPr/>
          <p:nvPr/>
        </p:nvSpPr>
        <p:spPr>
          <a:xfrm>
            <a:off x="7827264" y="384048"/>
            <a:ext cx="841248"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7827264" y="384048"/>
            <a:ext cx="841248" cy="237744"/>
          </a:xfrm>
          <a:prstGeom prst="rect">
            <a:avLst/>
          </a:prstGeom>
          <a:noFill/>
          <a:ln/>
        </p:spPr>
        <p:txBody>
          <a:bodyPr wrap="square" lIns="0" tIns="0" rIns="0" bIns="0" rtlCol="0" anchor="ctr"/>
          <a:lstStyle/>
          <a:p>
            <a:pPr algn="ctr" indent="0" marL="0">
              <a:buNone/>
            </a:pPr>
            <a:r>
              <a:rPr lang="en-US" sz="900" b="1" dirty="0">
                <a:solidFill>
                  <a:schemeClr val="bg1"/>
                </a:solidFill>
              </a:rPr>
              <a:t>Trasformare</a:t>
            </a:r>
            <a:endParaRPr lang="en-US" sz="900" dirty="0"/>
          </a:p>
        </p:txBody>
      </p:sp>
      <p:sp>
        <p:nvSpPr>
          <p:cNvPr id="10" name="riquadro Detto in riunione (esempio fittizio)"/>
          <p:cNvSpPr/>
          <p:nvPr/>
        </p:nvSpPr>
        <p:spPr>
          <a:xfrm>
            <a:off x="457200" y="1051560"/>
            <a:ext cx="3977640" cy="1188720"/>
          </a:xfrm>
          <a:prstGeom prst="roundRect">
            <a:avLst>
              <a:gd name="adj" fmla="val 6154"/>
            </a:avLst>
          </a:prstGeom>
          <a:solidFill>
            <a:schemeClr val="accent6"/>
          </a:solidFill>
          <a:ln/>
        </p:spPr>
      </p:sp>
      <p:sp>
        <p:nvSpPr>
          <p:cNvPr id="11" name="barra"/>
          <p:cNvSpPr/>
          <p:nvPr/>
        </p:nvSpPr>
        <p:spPr>
          <a:xfrm>
            <a:off x="457200" y="1161288"/>
            <a:ext cx="54864" cy="969264"/>
          </a:xfrm>
          <a:prstGeom prst="rect">
            <a:avLst/>
          </a:prstGeom>
          <a:solidFill>
            <a:schemeClr val="accent1"/>
          </a:solidFill>
          <a:ln/>
        </p:spPr>
      </p:sp>
      <p:sp>
        <p:nvSpPr>
          <p:cNvPr id="12" name="Text 9"/>
          <p:cNvSpPr txBox="1"/>
          <p:nvPr/>
        </p:nvSpPr>
        <p:spPr>
          <a:xfrm>
            <a:off x="658368" y="1143000"/>
            <a:ext cx="3611880" cy="256032"/>
          </a:xfrm>
          <a:prstGeom prst="rect">
            <a:avLst/>
          </a:prstGeom>
          <a:noFill/>
          <a:ln/>
        </p:spPr>
        <p:txBody>
          <a:bodyPr wrap="square" lIns="0" tIns="0" rIns="0" bIns="0" rtlCol="0" anchor="t"/>
          <a:lstStyle/>
          <a:p>
            <a:pPr indent="0" marL="0">
              <a:buNone/>
            </a:pPr>
            <a:r>
              <a:rPr lang="en-US" sz="1100" b="1" dirty="0">
                <a:solidFill>
                  <a:schemeClr val="accent1"/>
                </a:solidFill>
              </a:rPr>
              <a:t>Detto in riunione (esempio fittizio)</a:t>
            </a:r>
            <a:endParaRPr lang="en-US" sz="1100" dirty="0"/>
          </a:p>
        </p:txBody>
      </p:sp>
      <p:sp>
        <p:nvSpPr>
          <p:cNvPr id="13" name="Text 10"/>
          <p:cNvSpPr txBox="1"/>
          <p:nvPr/>
        </p:nvSpPr>
        <p:spPr>
          <a:xfrm>
            <a:off x="658368" y="1435608"/>
            <a:ext cx="3611880" cy="713232"/>
          </a:xfrm>
          <a:prstGeom prst="rect">
            <a:avLst/>
          </a:prstGeom>
          <a:noFill/>
          <a:ln/>
        </p:spPr>
        <p:txBody>
          <a:bodyPr wrap="square" lIns="0" tIns="0" rIns="0" bIns="0" rtlCol="0" anchor="t"/>
          <a:lstStyle/>
          <a:p>
            <a:pPr indent="0" marL="0">
              <a:buNone/>
            </a:pPr>
            <a:r>
              <a:rPr lang="en-US" sz="1300" dirty="0">
                <a:solidFill>
                  <a:schemeClr val="tx1"/>
                </a:solidFill>
              </a:rPr>
              <a:t>"Sì... il budget dovrebbe bastare..." (tono dubitativo, lunga pausa)</a:t>
            </a:r>
            <a:endParaRPr lang="en-US" sz="1300" dirty="0"/>
          </a:p>
        </p:txBody>
      </p:sp>
      <p:sp>
        <p:nvSpPr>
          <p:cNvPr id="14" name="riquadro Trascrizione e sintesi"/>
          <p:cNvSpPr/>
          <p:nvPr/>
        </p:nvSpPr>
        <p:spPr>
          <a:xfrm>
            <a:off x="4709160" y="1051560"/>
            <a:ext cx="3977640" cy="1188720"/>
          </a:xfrm>
          <a:prstGeom prst="roundRect">
            <a:avLst>
              <a:gd name="adj" fmla="val 6154"/>
            </a:avLst>
          </a:prstGeom>
          <a:solidFill>
            <a:schemeClr val="bg2"/>
          </a:solidFill>
          <a:ln/>
        </p:spPr>
      </p:sp>
      <p:sp>
        <p:nvSpPr>
          <p:cNvPr id="15" name="barra"/>
          <p:cNvSpPr/>
          <p:nvPr/>
        </p:nvSpPr>
        <p:spPr>
          <a:xfrm>
            <a:off x="4709160" y="1161288"/>
            <a:ext cx="54864" cy="969264"/>
          </a:xfrm>
          <a:prstGeom prst="rect">
            <a:avLst/>
          </a:prstGeom>
          <a:solidFill>
            <a:schemeClr val="accent5"/>
          </a:solidFill>
          <a:ln/>
        </p:spPr>
      </p:sp>
      <p:sp>
        <p:nvSpPr>
          <p:cNvPr id="16" name="Text 13"/>
          <p:cNvSpPr txBox="1"/>
          <p:nvPr/>
        </p:nvSpPr>
        <p:spPr>
          <a:xfrm>
            <a:off x="4910328" y="1143000"/>
            <a:ext cx="3611880" cy="256032"/>
          </a:xfrm>
          <a:prstGeom prst="rect">
            <a:avLst/>
          </a:prstGeom>
          <a:noFill/>
          <a:ln/>
        </p:spPr>
        <p:txBody>
          <a:bodyPr wrap="square" lIns="0" tIns="0" rIns="0" bIns="0" rtlCol="0" anchor="t"/>
          <a:lstStyle/>
          <a:p>
            <a:pPr indent="0" marL="0">
              <a:buNone/>
            </a:pPr>
            <a:r>
              <a:rPr lang="en-US" sz="1100" b="1" dirty="0">
                <a:solidFill>
                  <a:schemeClr val="accent5"/>
                </a:solidFill>
              </a:rPr>
              <a:t>Trascrizione e sintesi</a:t>
            </a:r>
            <a:endParaRPr lang="en-US" sz="1100" dirty="0"/>
          </a:p>
        </p:txBody>
      </p:sp>
      <p:sp>
        <p:nvSpPr>
          <p:cNvPr id="17" name="Text 14"/>
          <p:cNvSpPr txBox="1"/>
          <p:nvPr/>
        </p:nvSpPr>
        <p:spPr>
          <a:xfrm>
            <a:off x="4910328" y="1435608"/>
            <a:ext cx="3611880" cy="713232"/>
          </a:xfrm>
          <a:prstGeom prst="rect">
            <a:avLst/>
          </a:prstGeom>
          <a:noFill/>
          <a:ln/>
        </p:spPr>
        <p:txBody>
          <a:bodyPr wrap="square" lIns="0" tIns="0" rIns="0" bIns="0" rtlCol="0" anchor="t"/>
          <a:lstStyle/>
          <a:p>
            <a:pPr indent="0" marL="0">
              <a:buNone/>
            </a:pPr>
            <a:r>
              <a:rPr lang="en-US" sz="1400" dirty="0">
                <a:solidFill>
                  <a:schemeClr val="tx1"/>
                </a:solidFill>
              </a:rPr>
              <a:t>"Il budget è sufficiente."</a:t>
            </a:r>
            <a:endParaRPr lang="en-US" sz="1400" dirty="0"/>
          </a:p>
        </p:txBody>
      </p:sp>
      <p:sp>
        <p:nvSpPr>
          <p:cNvPr id="18" name="Omissioni"/>
          <p:cNvSpPr/>
          <p:nvPr/>
        </p:nvSpPr>
        <p:spPr>
          <a:xfrm>
            <a:off x="457200" y="2423160"/>
            <a:ext cx="8229600" cy="502920"/>
          </a:xfrm>
          <a:prstGeom prst="roundRect">
            <a:avLst>
              <a:gd name="adj" fmla="val 14545"/>
            </a:avLst>
          </a:prstGeom>
          <a:solidFill>
            <a:schemeClr val="bg2"/>
          </a:solidFill>
          <a:ln/>
        </p:spPr>
      </p:sp>
      <p:sp>
        <p:nvSpPr>
          <p:cNvPr id="19" name="Text 16"/>
          <p:cNvSpPr txBox="1"/>
          <p:nvPr/>
        </p:nvSpPr>
        <p:spPr>
          <a:xfrm>
            <a:off x="640080" y="2423160"/>
            <a:ext cx="2011680" cy="502920"/>
          </a:xfrm>
          <a:prstGeom prst="rect">
            <a:avLst/>
          </a:prstGeom>
          <a:noFill/>
          <a:ln/>
        </p:spPr>
        <p:txBody>
          <a:bodyPr wrap="square" lIns="0" tIns="0" rIns="0" bIns="0" rtlCol="0" anchor="ctr"/>
          <a:lstStyle/>
          <a:p>
            <a:pPr indent="0" marL="0">
              <a:buNone/>
            </a:pPr>
            <a:r>
              <a:rPr lang="en-US" sz="1300" b="1" dirty="0">
                <a:solidFill>
                  <a:schemeClr val="accent1"/>
                </a:solidFill>
              </a:rPr>
              <a:t>Omissioni</a:t>
            </a:r>
            <a:endParaRPr lang="en-US" sz="1300" dirty="0"/>
          </a:p>
        </p:txBody>
      </p:sp>
      <p:sp>
        <p:nvSpPr>
          <p:cNvPr id="20" name="Text 17"/>
          <p:cNvSpPr txBox="1"/>
          <p:nvPr/>
        </p:nvSpPr>
        <p:spPr>
          <a:xfrm>
            <a:off x="2651760" y="2423160"/>
            <a:ext cx="5852160" cy="502920"/>
          </a:xfrm>
          <a:prstGeom prst="rect">
            <a:avLst/>
          </a:prstGeom>
          <a:noFill/>
          <a:ln/>
        </p:spPr>
        <p:txBody>
          <a:bodyPr wrap="square" lIns="0" tIns="0" rIns="0" bIns="0" rtlCol="0" anchor="ctr"/>
          <a:lstStyle/>
          <a:p>
            <a:pPr indent="0" marL="0">
              <a:buNone/>
            </a:pPr>
            <a:r>
              <a:rPr lang="en-US" sz="1200" dirty="0">
                <a:solidFill>
                  <a:schemeClr val="tx1"/>
                </a:solidFill>
              </a:rPr>
              <a:t>Ciò che la nuova modalità non esprime si perde: il tono, una condizione in piccolo</a:t>
            </a:r>
            <a:endParaRPr lang="en-US" sz="1200" dirty="0"/>
          </a:p>
        </p:txBody>
      </p:sp>
      <p:sp>
        <p:nvSpPr>
          <p:cNvPr id="21" name="Reinterpretazioni"/>
          <p:cNvSpPr/>
          <p:nvPr/>
        </p:nvSpPr>
        <p:spPr>
          <a:xfrm>
            <a:off x="457200" y="2999232"/>
            <a:ext cx="8229600" cy="502920"/>
          </a:xfrm>
          <a:prstGeom prst="roundRect">
            <a:avLst>
              <a:gd name="adj" fmla="val 14545"/>
            </a:avLst>
          </a:prstGeom>
          <a:solidFill>
            <a:schemeClr val="bg1"/>
          </a:solidFill>
          <a:ln/>
        </p:spPr>
      </p:sp>
      <p:sp>
        <p:nvSpPr>
          <p:cNvPr id="22" name="Text 19"/>
          <p:cNvSpPr txBox="1"/>
          <p:nvPr/>
        </p:nvSpPr>
        <p:spPr>
          <a:xfrm>
            <a:off x="640080" y="2999232"/>
            <a:ext cx="2011680" cy="502920"/>
          </a:xfrm>
          <a:prstGeom prst="rect">
            <a:avLst/>
          </a:prstGeom>
          <a:noFill/>
          <a:ln/>
        </p:spPr>
        <p:txBody>
          <a:bodyPr wrap="square" lIns="0" tIns="0" rIns="0" bIns="0" rtlCol="0" anchor="ctr"/>
          <a:lstStyle/>
          <a:p>
            <a:pPr indent="0" marL="0">
              <a:buNone/>
            </a:pPr>
            <a:r>
              <a:rPr lang="en-US" sz="1300" b="1" dirty="0">
                <a:solidFill>
                  <a:schemeClr val="accent1"/>
                </a:solidFill>
              </a:rPr>
              <a:t>Reinterpretazioni</a:t>
            </a:r>
            <a:endParaRPr lang="en-US" sz="1300" dirty="0"/>
          </a:p>
        </p:txBody>
      </p:sp>
      <p:sp>
        <p:nvSpPr>
          <p:cNvPr id="23" name="Text 20"/>
          <p:cNvSpPr txBox="1"/>
          <p:nvPr/>
        </p:nvSpPr>
        <p:spPr>
          <a:xfrm>
            <a:off x="2651760" y="2999232"/>
            <a:ext cx="5852160" cy="502920"/>
          </a:xfrm>
          <a:prstGeom prst="rect">
            <a:avLst/>
          </a:prstGeom>
          <a:noFill/>
          <a:ln/>
        </p:spPr>
        <p:txBody>
          <a:bodyPr wrap="square" lIns="0" tIns="0" rIns="0" bIns="0" rtlCol="0" anchor="ctr"/>
          <a:lstStyle/>
          <a:p>
            <a:pPr indent="0" marL="0">
              <a:buNone/>
            </a:pPr>
            <a:r>
              <a:rPr lang="en-US" sz="1200" dirty="0">
                <a:solidFill>
                  <a:schemeClr val="tx1"/>
                </a:solidFill>
              </a:rPr>
              <a:t>La conversione sceglie una lettura: un'immagine da una descrizione ambigua</a:t>
            </a:r>
            <a:endParaRPr lang="en-US" sz="1200" dirty="0"/>
          </a:p>
        </p:txBody>
      </p:sp>
      <p:sp>
        <p:nvSpPr>
          <p:cNvPr id="24" name="Alterazioni"/>
          <p:cNvSpPr/>
          <p:nvPr/>
        </p:nvSpPr>
        <p:spPr>
          <a:xfrm>
            <a:off x="457200" y="3575304"/>
            <a:ext cx="8229600" cy="502920"/>
          </a:xfrm>
          <a:prstGeom prst="roundRect">
            <a:avLst>
              <a:gd name="adj" fmla="val 14545"/>
            </a:avLst>
          </a:prstGeom>
          <a:solidFill>
            <a:schemeClr val="bg2"/>
          </a:solidFill>
          <a:ln/>
        </p:spPr>
      </p:sp>
      <p:sp>
        <p:nvSpPr>
          <p:cNvPr id="25" name="Text 22"/>
          <p:cNvSpPr txBox="1"/>
          <p:nvPr/>
        </p:nvSpPr>
        <p:spPr>
          <a:xfrm>
            <a:off x="640080" y="3575304"/>
            <a:ext cx="2011680" cy="502920"/>
          </a:xfrm>
          <a:prstGeom prst="rect">
            <a:avLst/>
          </a:prstGeom>
          <a:noFill/>
          <a:ln/>
        </p:spPr>
        <p:txBody>
          <a:bodyPr wrap="square" lIns="0" tIns="0" rIns="0" bIns="0" rtlCol="0" anchor="ctr"/>
          <a:lstStyle/>
          <a:p>
            <a:pPr indent="0" marL="0">
              <a:buNone/>
            </a:pPr>
            <a:r>
              <a:rPr lang="en-US" sz="1300" b="1" dirty="0">
                <a:solidFill>
                  <a:schemeClr val="accent1"/>
                </a:solidFill>
              </a:rPr>
              <a:t>Alterazioni</a:t>
            </a:r>
            <a:endParaRPr lang="en-US" sz="1300" dirty="0"/>
          </a:p>
        </p:txBody>
      </p:sp>
      <p:sp>
        <p:nvSpPr>
          <p:cNvPr id="26" name="Text 23"/>
          <p:cNvSpPr txBox="1"/>
          <p:nvPr/>
        </p:nvSpPr>
        <p:spPr>
          <a:xfrm>
            <a:off x="2651760" y="3575304"/>
            <a:ext cx="5852160" cy="502920"/>
          </a:xfrm>
          <a:prstGeom prst="rect">
            <a:avLst/>
          </a:prstGeom>
          <a:noFill/>
          <a:ln/>
        </p:spPr>
        <p:txBody>
          <a:bodyPr wrap="square" lIns="0" tIns="0" rIns="0" bIns="0" rtlCol="0" anchor="ctr"/>
          <a:lstStyle/>
          <a:p>
            <a:pPr indent="0" marL="0">
              <a:buNone/>
            </a:pPr>
            <a:r>
              <a:rPr lang="en-US" sz="1200" dirty="0">
                <a:solidFill>
                  <a:schemeClr val="tx1"/>
                </a:solidFill>
              </a:rPr>
              <a:t>Il contenuto cambia: un numero letto male, un dettaglio aggiunto</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Confrontare con l'origine</a:t>
            </a:r>
            <a:endParaRPr lang="en-US" sz="2600" dirty="0"/>
          </a:p>
        </p:txBody>
      </p:sp>
      <p:sp>
        <p:nvSpPr>
          <p:cNvPr id="4" name="operazione Interpretare"/>
          <p:cNvSpPr/>
          <p:nvPr/>
        </p:nvSpPr>
        <p:spPr>
          <a:xfrm>
            <a:off x="6053328" y="384048"/>
            <a:ext cx="841248"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6053328" y="384048"/>
            <a:ext cx="841248" cy="237744"/>
          </a:xfrm>
          <a:prstGeom prst="rect">
            <a:avLst/>
          </a:prstGeom>
          <a:noFill/>
          <a:ln/>
        </p:spPr>
        <p:txBody>
          <a:bodyPr wrap="square" lIns="0" tIns="0" rIns="0" bIns="0" rtlCol="0" anchor="ctr"/>
          <a:lstStyle/>
          <a:p>
            <a:pPr algn="ctr" indent="0" marL="0">
              <a:buNone/>
            </a:pPr>
            <a:r>
              <a:rPr lang="en-US" sz="900" b="1" dirty="0">
                <a:solidFill>
                  <a:schemeClr val="accent1"/>
                </a:solidFill>
              </a:rPr>
              <a:t>Interpretare</a:t>
            </a:r>
            <a:endParaRPr lang="en-US" sz="900" dirty="0"/>
          </a:p>
        </p:txBody>
      </p:sp>
      <p:sp>
        <p:nvSpPr>
          <p:cNvPr id="6" name="operazione Generare"/>
          <p:cNvSpPr/>
          <p:nvPr/>
        </p:nvSpPr>
        <p:spPr>
          <a:xfrm>
            <a:off x="6940296" y="384048"/>
            <a:ext cx="841248"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940296" y="384048"/>
            <a:ext cx="841248" cy="237744"/>
          </a:xfrm>
          <a:prstGeom prst="rect">
            <a:avLst/>
          </a:prstGeom>
          <a:noFill/>
          <a:ln/>
        </p:spPr>
        <p:txBody>
          <a:bodyPr wrap="square" lIns="0" tIns="0" rIns="0" bIns="0" rtlCol="0" anchor="ctr"/>
          <a:lstStyle/>
          <a:p>
            <a:pPr algn="ctr" indent="0" marL="0">
              <a:buNone/>
            </a:pPr>
            <a:r>
              <a:rPr lang="en-US" sz="900" b="1" dirty="0">
                <a:solidFill>
                  <a:schemeClr val="accent1"/>
                </a:solidFill>
              </a:rPr>
              <a:t>Generare</a:t>
            </a:r>
            <a:endParaRPr lang="en-US" sz="900" dirty="0"/>
          </a:p>
        </p:txBody>
      </p:sp>
      <p:sp>
        <p:nvSpPr>
          <p:cNvPr id="8" name="operazione Trasformare"/>
          <p:cNvSpPr/>
          <p:nvPr/>
        </p:nvSpPr>
        <p:spPr>
          <a:xfrm>
            <a:off x="7827264" y="384048"/>
            <a:ext cx="841248"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7827264" y="384048"/>
            <a:ext cx="841248" cy="237744"/>
          </a:xfrm>
          <a:prstGeom prst="rect">
            <a:avLst/>
          </a:prstGeom>
          <a:noFill/>
          <a:ln/>
        </p:spPr>
        <p:txBody>
          <a:bodyPr wrap="square" lIns="0" tIns="0" rIns="0" bIns="0" rtlCol="0" anchor="ctr"/>
          <a:lstStyle/>
          <a:p>
            <a:pPr algn="ctr" indent="0" marL="0">
              <a:buNone/>
            </a:pPr>
            <a:r>
              <a:rPr lang="en-US" sz="900" b="1" dirty="0">
                <a:solidFill>
                  <a:schemeClr val="bg1"/>
                </a:solidFill>
              </a:rPr>
              <a:t>Trasformare</a:t>
            </a:r>
            <a:endParaRPr lang="en-US" sz="900" dirty="0"/>
          </a:p>
        </p:txBody>
      </p:sp>
      <p:sp>
        <p:nvSpPr>
          <p:cNvPr id="10" name="voce 1"/>
          <p:cNvSpPr/>
          <p:nvPr/>
        </p:nvSpPr>
        <p:spPr>
          <a:xfrm>
            <a:off x="457200" y="1051560"/>
            <a:ext cx="8229600" cy="502920"/>
          </a:xfrm>
          <a:prstGeom prst="roundRect">
            <a:avLst>
              <a:gd name="adj" fmla="val 14545"/>
            </a:avLst>
          </a:prstGeom>
          <a:solidFill>
            <a:schemeClr val="bg2"/>
          </a:solidFill>
          <a:ln/>
        </p:spPr>
      </p:sp>
      <p:sp>
        <p:nvSpPr>
          <p:cNvPr id="11" name="Text 8"/>
          <p:cNvSpPr txBox="1"/>
          <p:nvPr/>
        </p:nvSpPr>
        <p:spPr>
          <a:xfrm>
            <a:off x="566928" y="1051560"/>
            <a:ext cx="365760" cy="502920"/>
          </a:xfrm>
          <a:prstGeom prst="rect">
            <a:avLst/>
          </a:prstGeom>
          <a:noFill/>
          <a:ln/>
        </p:spPr>
        <p:txBody>
          <a:bodyPr wrap="square" lIns="0" tIns="0" rIns="0" bIns="0" rtlCol="0" anchor="ctr"/>
          <a:lstStyle/>
          <a:p>
            <a:pPr indent="0" marL="0">
              <a:buNone/>
            </a:pPr>
            <a:r>
              <a:rPr lang="en-US" sz="1500" b="1" dirty="0">
                <a:solidFill>
                  <a:schemeClr val="accent1"/>
                </a:solidFill>
              </a:rPr>
              <a:t>1</a:t>
            </a:r>
            <a:endParaRPr lang="en-US" sz="1500" dirty="0"/>
          </a:p>
        </p:txBody>
      </p:sp>
      <p:sp>
        <p:nvSpPr>
          <p:cNvPr id="12" name="Text 9"/>
          <p:cNvSpPr txBox="1"/>
          <p:nvPr/>
        </p:nvSpPr>
        <p:spPr>
          <a:xfrm>
            <a:off x="960120" y="1051560"/>
            <a:ext cx="7589520" cy="502920"/>
          </a:xfrm>
          <a:prstGeom prst="rect">
            <a:avLst/>
          </a:prstGeom>
          <a:noFill/>
          <a:ln/>
        </p:spPr>
        <p:txBody>
          <a:bodyPr wrap="square" lIns="0" tIns="0" rIns="0" bIns="0" rtlCol="0" anchor="ctr"/>
          <a:lstStyle/>
          <a:p>
            <a:pPr indent="0" marL="0">
              <a:buNone/>
            </a:pPr>
            <a:r>
              <a:rPr lang="en-US" sz="1300" dirty="0">
                <a:solidFill>
                  <a:schemeClr val="tx1"/>
                </a:solidFill>
              </a:rPr>
              <a:t>Identificare gli elementi critici: numeri, nomi, impegni, condizioni, messaggio</a:t>
            </a:r>
            <a:endParaRPr lang="en-US" sz="1300" dirty="0"/>
          </a:p>
        </p:txBody>
      </p:sp>
      <p:sp>
        <p:nvSpPr>
          <p:cNvPr id="13" name="voce 2"/>
          <p:cNvSpPr/>
          <p:nvPr/>
        </p:nvSpPr>
        <p:spPr>
          <a:xfrm>
            <a:off x="457200" y="1627632"/>
            <a:ext cx="8229600" cy="502920"/>
          </a:xfrm>
          <a:prstGeom prst="roundRect">
            <a:avLst>
              <a:gd name="adj" fmla="val 14545"/>
            </a:avLst>
          </a:prstGeom>
          <a:solidFill>
            <a:schemeClr val="bg1"/>
          </a:solidFill>
          <a:ln/>
        </p:spPr>
      </p:sp>
      <p:sp>
        <p:nvSpPr>
          <p:cNvPr id="14" name="Text 11"/>
          <p:cNvSpPr txBox="1"/>
          <p:nvPr/>
        </p:nvSpPr>
        <p:spPr>
          <a:xfrm>
            <a:off x="566928" y="1627632"/>
            <a:ext cx="365760" cy="502920"/>
          </a:xfrm>
          <a:prstGeom prst="rect">
            <a:avLst/>
          </a:prstGeom>
          <a:noFill/>
          <a:ln/>
        </p:spPr>
        <p:txBody>
          <a:bodyPr wrap="square" lIns="0" tIns="0" rIns="0" bIns="0" rtlCol="0" anchor="ctr"/>
          <a:lstStyle/>
          <a:p>
            <a:pPr indent="0" marL="0">
              <a:buNone/>
            </a:pPr>
            <a:r>
              <a:rPr lang="en-US" sz="1500" b="1" dirty="0">
                <a:solidFill>
                  <a:schemeClr val="accent1"/>
                </a:solidFill>
              </a:rPr>
              <a:t>2</a:t>
            </a:r>
            <a:endParaRPr lang="en-US" sz="1500" dirty="0"/>
          </a:p>
        </p:txBody>
      </p:sp>
      <p:sp>
        <p:nvSpPr>
          <p:cNvPr id="15" name="Text 12"/>
          <p:cNvSpPr txBox="1"/>
          <p:nvPr/>
        </p:nvSpPr>
        <p:spPr>
          <a:xfrm>
            <a:off x="960120" y="1627632"/>
            <a:ext cx="7589520" cy="502920"/>
          </a:xfrm>
          <a:prstGeom prst="rect">
            <a:avLst/>
          </a:prstGeom>
          <a:noFill/>
          <a:ln/>
        </p:spPr>
        <p:txBody>
          <a:bodyPr wrap="square" lIns="0" tIns="0" rIns="0" bIns="0" rtlCol="0" anchor="ctr"/>
          <a:lstStyle/>
          <a:p>
            <a:pPr indent="0" marL="0">
              <a:buNone/>
            </a:pPr>
            <a:r>
              <a:rPr lang="en-US" sz="1300" dirty="0">
                <a:solidFill>
                  <a:schemeClr val="tx1"/>
                </a:solidFill>
              </a:rPr>
              <a:t>Controllarli nel risultato, uno per uno</a:t>
            </a:r>
            <a:endParaRPr lang="en-US" sz="1300" dirty="0"/>
          </a:p>
        </p:txBody>
      </p:sp>
      <p:sp>
        <p:nvSpPr>
          <p:cNvPr id="16" name="voce 3"/>
          <p:cNvSpPr/>
          <p:nvPr/>
        </p:nvSpPr>
        <p:spPr>
          <a:xfrm>
            <a:off x="457200" y="2203704"/>
            <a:ext cx="8229600" cy="502920"/>
          </a:xfrm>
          <a:prstGeom prst="roundRect">
            <a:avLst>
              <a:gd name="adj" fmla="val 14545"/>
            </a:avLst>
          </a:prstGeom>
          <a:solidFill>
            <a:schemeClr val="bg2"/>
          </a:solidFill>
          <a:ln/>
        </p:spPr>
      </p:sp>
      <p:sp>
        <p:nvSpPr>
          <p:cNvPr id="17" name="Text 14"/>
          <p:cNvSpPr txBox="1"/>
          <p:nvPr/>
        </p:nvSpPr>
        <p:spPr>
          <a:xfrm>
            <a:off x="566928" y="2203704"/>
            <a:ext cx="365760" cy="502920"/>
          </a:xfrm>
          <a:prstGeom prst="rect">
            <a:avLst/>
          </a:prstGeom>
          <a:noFill/>
          <a:ln/>
        </p:spPr>
        <p:txBody>
          <a:bodyPr wrap="square" lIns="0" tIns="0" rIns="0" bIns="0" rtlCol="0" anchor="ctr"/>
          <a:lstStyle/>
          <a:p>
            <a:pPr indent="0" marL="0">
              <a:buNone/>
            </a:pPr>
            <a:r>
              <a:rPr lang="en-US" sz="1500" b="1" dirty="0">
                <a:solidFill>
                  <a:schemeClr val="accent1"/>
                </a:solidFill>
              </a:rPr>
              <a:t>3</a:t>
            </a:r>
            <a:endParaRPr lang="en-US" sz="1500" dirty="0"/>
          </a:p>
        </p:txBody>
      </p:sp>
      <p:sp>
        <p:nvSpPr>
          <p:cNvPr id="18" name="Text 15"/>
          <p:cNvSpPr txBox="1"/>
          <p:nvPr/>
        </p:nvSpPr>
        <p:spPr>
          <a:xfrm>
            <a:off x="960120" y="2203704"/>
            <a:ext cx="7589520" cy="502920"/>
          </a:xfrm>
          <a:prstGeom prst="rect">
            <a:avLst/>
          </a:prstGeom>
          <a:noFill/>
          <a:ln/>
        </p:spPr>
        <p:txBody>
          <a:bodyPr wrap="square" lIns="0" tIns="0" rIns="0" bIns="0" rtlCol="0" anchor="ctr"/>
          <a:lstStyle/>
          <a:p>
            <a:pPr indent="0" marL="0">
              <a:buNone/>
            </a:pPr>
            <a:r>
              <a:rPr lang="en-US" sz="1300" dirty="0">
                <a:solidFill>
                  <a:schemeClr val="tx1"/>
                </a:solidFill>
              </a:rPr>
              <a:t>Tornare all'originale: ascoltare, guardare, rileggere i passaggi critici</a:t>
            </a:r>
            <a:endParaRPr lang="en-US" sz="1300" dirty="0"/>
          </a:p>
        </p:txBody>
      </p:sp>
      <p:sp>
        <p:nvSpPr>
          <p:cNvPr id="19" name="voce 4"/>
          <p:cNvSpPr/>
          <p:nvPr/>
        </p:nvSpPr>
        <p:spPr>
          <a:xfrm>
            <a:off x="457200" y="2779776"/>
            <a:ext cx="8229600" cy="502920"/>
          </a:xfrm>
          <a:prstGeom prst="roundRect">
            <a:avLst>
              <a:gd name="adj" fmla="val 14545"/>
            </a:avLst>
          </a:prstGeom>
          <a:solidFill>
            <a:schemeClr val="bg1"/>
          </a:solidFill>
          <a:ln/>
        </p:spPr>
      </p:sp>
      <p:sp>
        <p:nvSpPr>
          <p:cNvPr id="20" name="Text 17"/>
          <p:cNvSpPr txBox="1"/>
          <p:nvPr/>
        </p:nvSpPr>
        <p:spPr>
          <a:xfrm>
            <a:off x="566928" y="2779776"/>
            <a:ext cx="365760" cy="502920"/>
          </a:xfrm>
          <a:prstGeom prst="rect">
            <a:avLst/>
          </a:prstGeom>
          <a:noFill/>
          <a:ln/>
        </p:spPr>
        <p:txBody>
          <a:bodyPr wrap="square" lIns="0" tIns="0" rIns="0" bIns="0" rtlCol="0" anchor="ctr"/>
          <a:lstStyle/>
          <a:p>
            <a:pPr indent="0" marL="0">
              <a:buNone/>
            </a:pPr>
            <a:r>
              <a:rPr lang="en-US" sz="1500" b="1" dirty="0">
                <a:solidFill>
                  <a:schemeClr val="accent1"/>
                </a:solidFill>
              </a:rPr>
              <a:t>4</a:t>
            </a:r>
            <a:endParaRPr lang="en-US" sz="1500" dirty="0"/>
          </a:p>
        </p:txBody>
      </p:sp>
      <p:sp>
        <p:nvSpPr>
          <p:cNvPr id="21" name="Text 18"/>
          <p:cNvSpPr txBox="1"/>
          <p:nvPr/>
        </p:nvSpPr>
        <p:spPr>
          <a:xfrm>
            <a:off x="960120" y="2779776"/>
            <a:ext cx="7589520" cy="502920"/>
          </a:xfrm>
          <a:prstGeom prst="rect">
            <a:avLst/>
          </a:prstGeom>
          <a:noFill/>
          <a:ln/>
        </p:spPr>
        <p:txBody>
          <a:bodyPr wrap="square" lIns="0" tIns="0" rIns="0" bIns="0" rtlCol="0" anchor="ctr"/>
          <a:lstStyle/>
          <a:p>
            <a:pPr indent="0" marL="0">
              <a:buNone/>
            </a:pPr>
            <a:r>
              <a:rPr lang="en-US" sz="1300" dirty="0">
                <a:solidFill>
                  <a:schemeClr val="tx1"/>
                </a:solidFill>
              </a:rPr>
              <a:t>Coinvolgere chi conosce l'originale, quando serve</a:t>
            </a:r>
            <a:endParaRPr lang="en-US" sz="1300" dirty="0"/>
          </a:p>
        </p:txBody>
      </p:sp>
      <p:sp>
        <p:nvSpPr>
          <p:cNvPr id="22" name="messaggio"/>
          <p:cNvSpPr/>
          <p:nvPr/>
        </p:nvSpPr>
        <p:spPr>
          <a:xfrm>
            <a:off x="457200" y="3337560"/>
            <a:ext cx="8229600" cy="777240"/>
          </a:xfrm>
          <a:prstGeom prst="roundRect">
            <a:avLst>
              <a:gd name="adj" fmla="val 9412"/>
            </a:avLst>
          </a:prstGeom>
          <a:solidFill>
            <a:schemeClr val="tx1"/>
          </a:solidFill>
          <a:ln/>
        </p:spPr>
      </p:sp>
      <p:sp>
        <p:nvSpPr>
          <p:cNvPr id="23" name="Text 20"/>
          <p:cNvSpPr txBox="1"/>
          <p:nvPr/>
        </p:nvSpPr>
        <p:spPr>
          <a:xfrm>
            <a:off x="640080" y="3337560"/>
            <a:ext cx="7863840" cy="777240"/>
          </a:xfrm>
          <a:prstGeom prst="rect">
            <a:avLst/>
          </a:prstGeom>
          <a:noFill/>
          <a:ln/>
        </p:spPr>
        <p:txBody>
          <a:bodyPr wrap="square" lIns="0" tIns="0" rIns="0" bIns="0" rtlCol="0" anchor="ctr"/>
          <a:lstStyle/>
          <a:p>
            <a:pPr indent="0" marL="0">
              <a:buNone/>
            </a:pPr>
            <a:r>
              <a:rPr lang="en-US" sz="1300" dirty="0">
                <a:solidFill>
                  <a:schemeClr val="bg1"/>
                </a:solidFill>
              </a:rPr>
              <a:t>Una conversione rapida ma infedele non fa risparmiare tempo: lo sposta su chi dovrà correggerne le conseguenze.</a:t>
            </a:r>
            <a:endParaRPr lang="en-US" sz="1300" dirty="0"/>
          </a:p>
        </p:txBody>
      </p:sp>
      <p:sp>
        <p:nvSpPr>
          <p:cNvPr id="24" name="Text 21"/>
          <p:cNvSpPr txBox="1"/>
          <p:nvPr/>
        </p:nvSpPr>
        <p:spPr>
          <a:xfrm>
            <a:off x="457200" y="4206240"/>
            <a:ext cx="8229600" cy="320040"/>
          </a:xfrm>
          <a:prstGeom prst="rect">
            <a:avLst/>
          </a:prstGeom>
          <a:noFill/>
          <a:ln/>
        </p:spPr>
        <p:txBody>
          <a:bodyPr wrap="square" lIns="0" tIns="0" rIns="0" bIns="0" rtlCol="0" anchor="t"/>
          <a:lstStyle/>
          <a:p>
            <a:pPr indent="0" marL="0">
              <a:buNone/>
            </a:pPr>
            <a:r>
              <a:rPr lang="en-US" sz="1300" b="1" i="1" dirty="0">
                <a:solidFill>
                  <a:schemeClr val="accent1"/>
                </a:solidFill>
              </a:rPr>
              <a:t>Il valore delle conversioni: utilità e fedeltà, non solo comodità e rapidità.</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1"/>
          <p:cNvSpPr/>
          <p:nvPr>
            <p:ph idx="101" type="body" hasCustomPrompt="1"/>
          </p:nvPr>
        </p:nvSpPr>
        <p:spPr>
          <a:xfrm>
            <a:off x="822960" y="1600200"/>
            <a:ext cx="7498080" cy="2011680"/>
          </a:xfrm>
          <a:prstGeom prst="rect">
            <a:avLst/>
          </a:prstGeom>
          <a:noFill/>
          <a:ln/>
        </p:spPr>
        <p:txBody>
          <a:bodyPr wrap="square" lIns="0" tIns="0" rIns="0" bIns="0" rtlCol="0" anchor="t"/>
          <a:lstStyle/>
          <a:p>
            <a:pPr indent="0" marL="0">
              <a:buNone/>
            </a:pPr>
            <a:r>
              <a:rPr lang="en-US" sz="2600" dirty="0">
                <a:solidFill>
                  <a:schemeClr val="bg1"/>
                </a:solidFill>
              </a:rPr>
              <a:t>Il valore delle conversioni è legato alla loro utilità e alla fedeltà delle informazioni, non soltanto alla comodità o alla rapidità del processo.</a:t>
            </a:r>
            <a:endParaRPr lang="en-US" sz="2600" dirty="0"/>
          </a:p>
        </p:txBody>
      </p:sp>
      <p:sp>
        <p:nvSpPr>
          <p:cNvPr id="3" name="Text 1"/>
          <p:cNvSpPr/>
          <p:nvPr>
            <p:ph idx="102" type="body" hasCustomPrompt="1"/>
          </p:nvPr>
        </p:nvSpPr>
        <p:spPr>
          <a:xfrm>
            <a:off x="822960" y="3794760"/>
            <a:ext cx="7498080" cy="365760"/>
          </a:xfrm>
          <a:prstGeom prst="rect">
            <a:avLst/>
          </a:prstGeom>
          <a:noFill/>
          <a:ln/>
        </p:spPr>
        <p:txBody>
          <a:bodyPr wrap="square" lIns="0" tIns="0" rIns="0" bIns="0" rtlCol="0"/>
          <a:lstStyle/>
          <a:p>
            <a:pPr indent="0" marL="0">
              <a:buNone/>
            </a:pPr>
            <a:r>
              <a:rPr lang="en-US" sz="1300" dirty="0">
                <a:solidFill>
                  <a:schemeClr val="accent3"/>
                </a:solidFill>
              </a:rPr>
              <a:t>Sottotema 10.7  ·  Integrazione e trasformazione tra modalità</a:t>
            </a:r>
            <a:endParaRPr lang="en-US" sz="13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ph idx="100" type="body" hasCustomPrompt="1"/>
          </p:nvPr>
        </p:nvSpPr>
        <p:spPr>
          <a:xfrm>
            <a:off x="640080" y="914400"/>
            <a:ext cx="3657600" cy="1005840"/>
          </a:xfrm>
          <a:prstGeom prst="rect">
            <a:avLst/>
          </a:prstGeom>
          <a:noFill/>
          <a:ln/>
        </p:spPr>
        <p:txBody>
          <a:bodyPr wrap="square" lIns="0" tIns="0" rIns="0" bIns="0" rtlCol="0" anchor="b"/>
          <a:lstStyle/>
          <a:p>
            <a:pPr indent="0" marL="0">
              <a:buNone/>
            </a:pPr>
            <a:r>
              <a:rPr lang="en-US" sz="6000" b="1" dirty="0">
                <a:solidFill>
                  <a:schemeClr val="accent1"/>
                </a:solidFill>
              </a:rPr>
              <a:t>10.8</a:t>
            </a:r>
            <a:endParaRPr lang="en-US" sz="6000" dirty="0"/>
          </a:p>
        </p:txBody>
      </p:sp>
      <p:sp>
        <p:nvSpPr>
          <p:cNvPr id="3" name="Text 0"/>
          <p:cNvSpPr/>
          <p:nvPr>
            <p:ph idx="101" type="title" hasCustomPrompt="1"/>
          </p:nvPr>
        </p:nvSpPr>
        <p:spPr>
          <a:xfrm>
            <a:off x="640080" y="2057400"/>
            <a:ext cx="7863840" cy="914400"/>
          </a:xfrm>
          <a:prstGeom prst="rect">
            <a:avLst/>
          </a:prstGeom>
          <a:noFill/>
          <a:ln/>
        </p:spPr>
        <p:txBody>
          <a:bodyPr wrap="square" lIns="0" tIns="0" rIns="0" bIns="0" rtlCol="0" anchor="t"/>
          <a:lstStyle/>
          <a:p>
            <a:pPr algn="l" indent="0" marL="0">
              <a:buNone/>
            </a:pPr>
            <a:r>
              <a:rPr lang="en-US" sz="3200" b="1" dirty="0">
                <a:solidFill>
                  <a:schemeClr val="bg1"/>
                </a:solidFill>
              </a:rPr>
              <a:t>Limiti, autenticità e affidabilità</a:t>
            </a:r>
            <a:endParaRPr lang="en-US" sz="3200" dirty="0"/>
          </a:p>
        </p:txBody>
      </p:sp>
      <p:sp>
        <p:nvSpPr>
          <p:cNvPr id="4" name="Text 0"/>
          <p:cNvSpPr/>
          <p:nvPr>
            <p:ph idx="102" type="body" hasCustomPrompt="1"/>
          </p:nvPr>
        </p:nvSpPr>
        <p:spPr>
          <a:xfrm>
            <a:off x="640080" y="3063240"/>
            <a:ext cx="7315200" cy="1097280"/>
          </a:xfrm>
          <a:prstGeom prst="rect">
            <a:avLst/>
          </a:prstGeom>
          <a:noFill/>
          <a:ln/>
        </p:spPr>
        <p:txBody>
          <a:bodyPr wrap="square" lIns="0" tIns="0" rIns="0" bIns="0" rtlCol="0" anchor="t"/>
          <a:lstStyle/>
          <a:p>
            <a:pPr indent="0" marL="0">
              <a:buNone/>
            </a:pPr>
            <a:r>
              <a:rPr lang="en-US" sz="1600" dirty="0">
                <a:solidFill>
                  <a:schemeClr val="accent3"/>
                </a:solidFill>
              </a:rPr>
              <a:t>Distinguere realismo, provenienza e accuratezza è essenziale per usare in modo critico i contenuti multimodali</a:t>
            </a:r>
            <a:endParaRPr lang="en-US"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Gli errori tipici</a:t>
            </a:r>
            <a:endParaRPr lang="en-US" sz="2600" dirty="0"/>
          </a:p>
        </p:txBody>
      </p:sp>
      <p:sp>
        <p:nvSpPr>
          <p:cNvPr id="4" name="operazione Interpretare"/>
          <p:cNvSpPr/>
          <p:nvPr/>
        </p:nvSpPr>
        <p:spPr>
          <a:xfrm>
            <a:off x="6053328" y="384048"/>
            <a:ext cx="841248" cy="237744"/>
          </a:xfrm>
          <a:prstGeom prst="roundRect">
            <a:avLst>
              <a:gd name="adj" fmla="val 50000"/>
            </a:avLst>
          </a:prstGeom>
          <a:solidFill>
            <a:schemeClr val="accent1"/>
          </a:solidFill>
          <a:ln w="9525">
            <a:solidFill>
              <a:schemeClr val="accent1"/>
            </a:solidFill>
            <a:prstDash val="solid"/>
          </a:ln>
        </p:spPr>
      </p:sp>
      <p:sp>
        <p:nvSpPr>
          <p:cNvPr id="5" name="Text 2"/>
          <p:cNvSpPr txBox="1"/>
          <p:nvPr/>
        </p:nvSpPr>
        <p:spPr>
          <a:xfrm>
            <a:off x="6053328" y="384048"/>
            <a:ext cx="841248" cy="237744"/>
          </a:xfrm>
          <a:prstGeom prst="rect">
            <a:avLst/>
          </a:prstGeom>
          <a:noFill/>
          <a:ln/>
        </p:spPr>
        <p:txBody>
          <a:bodyPr wrap="square" lIns="0" tIns="0" rIns="0" bIns="0" rtlCol="0" anchor="ctr"/>
          <a:lstStyle/>
          <a:p>
            <a:pPr algn="ctr" indent="0" marL="0">
              <a:buNone/>
            </a:pPr>
            <a:r>
              <a:rPr lang="en-US" sz="900" b="1" dirty="0">
                <a:solidFill>
                  <a:schemeClr val="bg1"/>
                </a:solidFill>
              </a:rPr>
              <a:t>Interpretare</a:t>
            </a:r>
            <a:endParaRPr lang="en-US" sz="900" dirty="0"/>
          </a:p>
        </p:txBody>
      </p:sp>
      <p:sp>
        <p:nvSpPr>
          <p:cNvPr id="6" name="operazione Generare"/>
          <p:cNvSpPr/>
          <p:nvPr/>
        </p:nvSpPr>
        <p:spPr>
          <a:xfrm>
            <a:off x="6940296" y="384048"/>
            <a:ext cx="841248"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940296" y="384048"/>
            <a:ext cx="841248" cy="237744"/>
          </a:xfrm>
          <a:prstGeom prst="rect">
            <a:avLst/>
          </a:prstGeom>
          <a:noFill/>
          <a:ln/>
        </p:spPr>
        <p:txBody>
          <a:bodyPr wrap="square" lIns="0" tIns="0" rIns="0" bIns="0" rtlCol="0" anchor="ctr"/>
          <a:lstStyle/>
          <a:p>
            <a:pPr algn="ctr" indent="0" marL="0">
              <a:buNone/>
            </a:pPr>
            <a:r>
              <a:rPr lang="en-US" sz="900" b="1" dirty="0">
                <a:solidFill>
                  <a:schemeClr val="bg1"/>
                </a:solidFill>
              </a:rPr>
              <a:t>Generare</a:t>
            </a:r>
            <a:endParaRPr lang="en-US" sz="900" dirty="0"/>
          </a:p>
        </p:txBody>
      </p:sp>
      <p:sp>
        <p:nvSpPr>
          <p:cNvPr id="8" name="operazione Trasformare"/>
          <p:cNvSpPr/>
          <p:nvPr/>
        </p:nvSpPr>
        <p:spPr>
          <a:xfrm>
            <a:off x="7827264" y="384048"/>
            <a:ext cx="841248"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7827264" y="384048"/>
            <a:ext cx="841248" cy="237744"/>
          </a:xfrm>
          <a:prstGeom prst="rect">
            <a:avLst/>
          </a:prstGeom>
          <a:noFill/>
          <a:ln/>
        </p:spPr>
        <p:txBody>
          <a:bodyPr wrap="square" lIns="0" tIns="0" rIns="0" bIns="0" rtlCol="0" anchor="ctr"/>
          <a:lstStyle/>
          <a:p>
            <a:pPr algn="ctr" indent="0" marL="0">
              <a:buNone/>
            </a:pPr>
            <a:r>
              <a:rPr lang="en-US" sz="900" b="1" dirty="0">
                <a:solidFill>
                  <a:schemeClr val="bg1"/>
                </a:solidFill>
              </a:rPr>
              <a:t>Trasformare</a:t>
            </a:r>
            <a:endParaRPr lang="en-US" sz="900" dirty="0"/>
          </a:p>
        </p:txBody>
      </p:sp>
      <p:sp>
        <p:nvSpPr>
          <p:cNvPr id="10" name="Riconoscimento visivo"/>
          <p:cNvSpPr/>
          <p:nvPr/>
        </p:nvSpPr>
        <p:spPr>
          <a:xfrm>
            <a:off x="457200" y="1051560"/>
            <a:ext cx="1965960" cy="2057400"/>
          </a:xfrm>
          <a:prstGeom prst="roundRect">
            <a:avLst>
              <a:gd name="adj" fmla="val 3721"/>
            </a:avLst>
          </a:prstGeom>
          <a:solidFill>
            <a:schemeClr val="bg2"/>
          </a:solidFill>
          <a:ln/>
        </p:spPr>
      </p:sp>
      <p:sp>
        <p:nvSpPr>
          <p:cNvPr id="11" name="Text 8"/>
          <p:cNvSpPr txBox="1"/>
          <p:nvPr/>
        </p:nvSpPr>
        <p:spPr>
          <a:xfrm>
            <a:off x="594360" y="1115568"/>
            <a:ext cx="1737360" cy="457200"/>
          </a:xfrm>
          <a:prstGeom prst="rect">
            <a:avLst/>
          </a:prstGeom>
          <a:noFill/>
          <a:ln/>
        </p:spPr>
        <p:txBody>
          <a:bodyPr wrap="square" lIns="0" tIns="0" rIns="0" bIns="0" rtlCol="0" anchor="t"/>
          <a:lstStyle/>
          <a:p>
            <a:pPr indent="0" marL="0">
              <a:buNone/>
            </a:pPr>
            <a:r>
              <a:rPr lang="en-US" sz="1300" b="1" dirty="0">
                <a:solidFill>
                  <a:schemeClr val="accent1"/>
                </a:solidFill>
              </a:rPr>
              <a:t>Riconoscimento visivo</a:t>
            </a:r>
            <a:endParaRPr lang="en-US" sz="1300" dirty="0"/>
          </a:p>
        </p:txBody>
      </p:sp>
      <p:sp>
        <p:nvSpPr>
          <p:cNvPr id="12" name="Text 9"/>
          <p:cNvSpPr txBox="1"/>
          <p:nvPr/>
        </p:nvSpPr>
        <p:spPr>
          <a:xfrm>
            <a:off x="594360" y="1627632"/>
            <a:ext cx="1755648" cy="1371600"/>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chemeClr val="tx1"/>
                </a:solidFill>
              </a:rPr>
              <a:t>Dettagli non visti</a:t>
            </a:r>
            <a:endParaRPr lang="en-US" sz="1200" dirty="0"/>
          </a:p>
          <a:p>
            <a:pPr marL="177800" indent="-177800">
              <a:spcAft>
                <a:spcPts val="500"/>
              </a:spcAft>
              <a:buSzPct val="100000"/>
              <a:buChar char="•"/>
            </a:pPr>
            <a:r>
              <a:rPr lang="en-US" sz="1200" dirty="0">
                <a:solidFill>
                  <a:schemeClr val="tx1"/>
                </a:solidFill>
              </a:rPr>
              <a:t>Numeri letti male</a:t>
            </a:r>
            <a:endParaRPr lang="en-US" sz="1200" dirty="0"/>
          </a:p>
          <a:p>
            <a:pPr marL="177800" indent="-177800">
              <a:spcAft>
                <a:spcPts val="500"/>
              </a:spcAft>
              <a:buSzPct val="100000"/>
              <a:buChar char="•"/>
            </a:pPr>
            <a:r>
              <a:rPr lang="en-US" sz="1200" dirty="0">
                <a:solidFill>
                  <a:schemeClr val="tx1"/>
                </a:solidFill>
              </a:rPr>
              <a:t>Conteggi e spazi</a:t>
            </a:r>
            <a:endParaRPr lang="en-US" sz="1200" dirty="0"/>
          </a:p>
        </p:txBody>
      </p:sp>
      <p:sp>
        <p:nvSpPr>
          <p:cNvPr id="13" name="Riconoscimento sonoro"/>
          <p:cNvSpPr/>
          <p:nvPr/>
        </p:nvSpPr>
        <p:spPr>
          <a:xfrm>
            <a:off x="2560320" y="1051560"/>
            <a:ext cx="1965960" cy="2057400"/>
          </a:xfrm>
          <a:prstGeom prst="roundRect">
            <a:avLst>
              <a:gd name="adj" fmla="val 3721"/>
            </a:avLst>
          </a:prstGeom>
          <a:solidFill>
            <a:schemeClr val="accent6"/>
          </a:solidFill>
          <a:ln/>
        </p:spPr>
      </p:sp>
      <p:sp>
        <p:nvSpPr>
          <p:cNvPr id="14" name="Text 11"/>
          <p:cNvSpPr txBox="1"/>
          <p:nvPr/>
        </p:nvSpPr>
        <p:spPr>
          <a:xfrm>
            <a:off x="2697480" y="1115568"/>
            <a:ext cx="1737360" cy="457200"/>
          </a:xfrm>
          <a:prstGeom prst="rect">
            <a:avLst/>
          </a:prstGeom>
          <a:noFill/>
          <a:ln/>
        </p:spPr>
        <p:txBody>
          <a:bodyPr wrap="square" lIns="0" tIns="0" rIns="0" bIns="0" rtlCol="0" anchor="t"/>
          <a:lstStyle/>
          <a:p>
            <a:pPr indent="0" marL="0">
              <a:buNone/>
            </a:pPr>
            <a:r>
              <a:rPr lang="en-US" sz="1300" b="1" dirty="0">
                <a:solidFill>
                  <a:schemeClr val="accent1"/>
                </a:solidFill>
              </a:rPr>
              <a:t>Riconoscimento sonoro</a:t>
            </a:r>
            <a:endParaRPr lang="en-US" sz="1300" dirty="0"/>
          </a:p>
        </p:txBody>
      </p:sp>
      <p:sp>
        <p:nvSpPr>
          <p:cNvPr id="15" name="Text 12"/>
          <p:cNvSpPr txBox="1"/>
          <p:nvPr/>
        </p:nvSpPr>
        <p:spPr>
          <a:xfrm>
            <a:off x="2697480" y="1627632"/>
            <a:ext cx="1755648" cy="1371600"/>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chemeClr val="tx1"/>
                </a:solidFill>
              </a:rPr>
              <a:t>Nomi e termini</a:t>
            </a:r>
            <a:endParaRPr lang="en-US" sz="1200" dirty="0"/>
          </a:p>
          <a:p>
            <a:pPr marL="177800" indent="-177800">
              <a:spcAft>
                <a:spcPts val="500"/>
              </a:spcAft>
              <a:buSzPct val="100000"/>
              <a:buChar char="•"/>
            </a:pPr>
            <a:r>
              <a:rPr lang="en-US" sz="1200" dirty="0">
                <a:solidFill>
                  <a:schemeClr val="tx1"/>
                </a:solidFill>
              </a:rPr>
              <a:t>Frasi aggiunte</a:t>
            </a:r>
            <a:endParaRPr lang="en-US" sz="1200" dirty="0"/>
          </a:p>
          <a:p>
            <a:pPr marL="177800" indent="-177800">
              <a:spcAft>
                <a:spcPts val="500"/>
              </a:spcAft>
              <a:buSzPct val="100000"/>
              <a:buChar char="•"/>
            </a:pPr>
            <a:r>
              <a:rPr lang="en-US" sz="1200" dirty="0">
                <a:solidFill>
                  <a:schemeClr val="tx1"/>
                </a:solidFill>
              </a:rPr>
              <a:t>Attribuzioni errate</a:t>
            </a:r>
            <a:endParaRPr lang="en-US" sz="1200" dirty="0"/>
          </a:p>
        </p:txBody>
      </p:sp>
      <p:sp>
        <p:nvSpPr>
          <p:cNvPr id="16" name="Contenuti generati"/>
          <p:cNvSpPr/>
          <p:nvPr/>
        </p:nvSpPr>
        <p:spPr>
          <a:xfrm>
            <a:off x="4663440" y="1051560"/>
            <a:ext cx="1965960" cy="2057400"/>
          </a:xfrm>
          <a:prstGeom prst="roundRect">
            <a:avLst>
              <a:gd name="adj" fmla="val 3721"/>
            </a:avLst>
          </a:prstGeom>
          <a:solidFill>
            <a:schemeClr val="bg2"/>
          </a:solidFill>
          <a:ln/>
        </p:spPr>
      </p:sp>
      <p:sp>
        <p:nvSpPr>
          <p:cNvPr id="17" name="Text 14"/>
          <p:cNvSpPr txBox="1"/>
          <p:nvPr/>
        </p:nvSpPr>
        <p:spPr>
          <a:xfrm>
            <a:off x="4800600" y="1115568"/>
            <a:ext cx="1737360" cy="457200"/>
          </a:xfrm>
          <a:prstGeom prst="rect">
            <a:avLst/>
          </a:prstGeom>
          <a:noFill/>
          <a:ln/>
        </p:spPr>
        <p:txBody>
          <a:bodyPr wrap="square" lIns="0" tIns="0" rIns="0" bIns="0" rtlCol="0" anchor="t"/>
          <a:lstStyle/>
          <a:p>
            <a:pPr indent="0" marL="0">
              <a:buNone/>
            </a:pPr>
            <a:r>
              <a:rPr lang="en-US" sz="1300" b="1" dirty="0">
                <a:solidFill>
                  <a:schemeClr val="accent1"/>
                </a:solidFill>
              </a:rPr>
              <a:t>Contenuti generati</a:t>
            </a:r>
            <a:endParaRPr lang="en-US" sz="1300" dirty="0"/>
          </a:p>
        </p:txBody>
      </p:sp>
      <p:sp>
        <p:nvSpPr>
          <p:cNvPr id="18" name="Text 15"/>
          <p:cNvSpPr txBox="1"/>
          <p:nvPr/>
        </p:nvSpPr>
        <p:spPr>
          <a:xfrm>
            <a:off x="4800600" y="1627632"/>
            <a:ext cx="1755648" cy="1371600"/>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chemeClr val="tx1"/>
                </a:solidFill>
              </a:rPr>
              <a:t>Dettagli impossibili</a:t>
            </a:r>
            <a:endParaRPr lang="en-US" sz="1200" dirty="0"/>
          </a:p>
          <a:p>
            <a:pPr marL="177800" indent="-177800">
              <a:spcAft>
                <a:spcPts val="500"/>
              </a:spcAft>
              <a:buSzPct val="100000"/>
              <a:buChar char="•"/>
            </a:pPr>
            <a:r>
              <a:rPr lang="en-US" sz="1200" dirty="0">
                <a:solidFill>
                  <a:schemeClr val="tx1"/>
                </a:solidFill>
              </a:rPr>
              <a:t>Testi deformati</a:t>
            </a:r>
            <a:endParaRPr lang="en-US" sz="1200" dirty="0"/>
          </a:p>
          <a:p>
            <a:pPr marL="177800" indent="-177800">
              <a:spcAft>
                <a:spcPts val="500"/>
              </a:spcAft>
              <a:buSzPct val="100000"/>
              <a:buChar char="•"/>
            </a:pPr>
            <a:r>
              <a:rPr lang="en-US" sz="1200" dirty="0">
                <a:solidFill>
                  <a:schemeClr val="tx1"/>
                </a:solidFill>
              </a:rPr>
              <a:t>Incoerenze nel tempo</a:t>
            </a:r>
            <a:endParaRPr lang="en-US" sz="1200" dirty="0"/>
          </a:p>
        </p:txBody>
      </p:sp>
      <p:sp>
        <p:nvSpPr>
          <p:cNvPr id="19" name="Trasformazioni"/>
          <p:cNvSpPr/>
          <p:nvPr/>
        </p:nvSpPr>
        <p:spPr>
          <a:xfrm>
            <a:off x="6766560" y="1051560"/>
            <a:ext cx="1965960" cy="2057400"/>
          </a:xfrm>
          <a:prstGeom prst="roundRect">
            <a:avLst>
              <a:gd name="adj" fmla="val 3721"/>
            </a:avLst>
          </a:prstGeom>
          <a:solidFill>
            <a:schemeClr val="accent6"/>
          </a:solidFill>
          <a:ln/>
        </p:spPr>
      </p:sp>
      <p:sp>
        <p:nvSpPr>
          <p:cNvPr id="20" name="Text 17"/>
          <p:cNvSpPr txBox="1"/>
          <p:nvPr/>
        </p:nvSpPr>
        <p:spPr>
          <a:xfrm>
            <a:off x="6903720" y="1115568"/>
            <a:ext cx="1737360" cy="457200"/>
          </a:xfrm>
          <a:prstGeom prst="rect">
            <a:avLst/>
          </a:prstGeom>
          <a:noFill/>
          <a:ln/>
        </p:spPr>
        <p:txBody>
          <a:bodyPr wrap="square" lIns="0" tIns="0" rIns="0" bIns="0" rtlCol="0" anchor="t"/>
          <a:lstStyle/>
          <a:p>
            <a:pPr indent="0" marL="0">
              <a:buNone/>
            </a:pPr>
            <a:r>
              <a:rPr lang="en-US" sz="1300" b="1" dirty="0">
                <a:solidFill>
                  <a:schemeClr val="accent1"/>
                </a:solidFill>
              </a:rPr>
              <a:t>Trasformazioni</a:t>
            </a:r>
            <a:endParaRPr lang="en-US" sz="1300" dirty="0"/>
          </a:p>
        </p:txBody>
      </p:sp>
      <p:sp>
        <p:nvSpPr>
          <p:cNvPr id="21" name="Text 18"/>
          <p:cNvSpPr txBox="1"/>
          <p:nvPr/>
        </p:nvSpPr>
        <p:spPr>
          <a:xfrm>
            <a:off x="6903720" y="1627632"/>
            <a:ext cx="1755648" cy="1371600"/>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chemeClr val="tx1"/>
                </a:solidFill>
              </a:rPr>
              <a:t>Tono e contesto persi</a:t>
            </a:r>
            <a:endParaRPr lang="en-US" sz="1200" dirty="0"/>
          </a:p>
          <a:p>
            <a:pPr marL="177800" indent="-177800">
              <a:spcAft>
                <a:spcPts val="500"/>
              </a:spcAft>
              <a:buSzPct val="100000"/>
              <a:buChar char="•"/>
            </a:pPr>
            <a:r>
              <a:rPr lang="en-US" sz="1200" dirty="0">
                <a:solidFill>
                  <a:schemeClr val="tx1"/>
                </a:solidFill>
              </a:rPr>
              <a:t>Condizioni omesse</a:t>
            </a:r>
            <a:endParaRPr lang="en-US" sz="1200" dirty="0"/>
          </a:p>
          <a:p>
            <a:pPr marL="177800" indent="-177800">
              <a:spcAft>
                <a:spcPts val="500"/>
              </a:spcAft>
              <a:buSzPct val="100000"/>
              <a:buChar char="•"/>
            </a:pPr>
            <a:r>
              <a:rPr lang="en-US" sz="1200" dirty="0">
                <a:solidFill>
                  <a:schemeClr val="tx1"/>
                </a:solidFill>
              </a:rPr>
              <a:t>Significato alterato</a:t>
            </a:r>
            <a:endParaRPr lang="en-US" sz="1200" dirty="0"/>
          </a:p>
        </p:txBody>
      </p:sp>
      <p:sp>
        <p:nvSpPr>
          <p:cNvPr id="22" name="messaggio"/>
          <p:cNvSpPr/>
          <p:nvPr/>
        </p:nvSpPr>
        <p:spPr>
          <a:xfrm>
            <a:off x="457200" y="3291840"/>
            <a:ext cx="8229600" cy="685800"/>
          </a:xfrm>
          <a:prstGeom prst="roundRect">
            <a:avLst>
              <a:gd name="adj" fmla="val 10667"/>
            </a:avLst>
          </a:prstGeom>
          <a:solidFill>
            <a:schemeClr val="tx1"/>
          </a:solidFill>
          <a:ln/>
        </p:spPr>
      </p:sp>
      <p:sp>
        <p:nvSpPr>
          <p:cNvPr id="23" name="Text 20"/>
          <p:cNvSpPr txBox="1"/>
          <p:nvPr/>
        </p:nvSpPr>
        <p:spPr>
          <a:xfrm>
            <a:off x="640080" y="3291840"/>
            <a:ext cx="7863840" cy="685800"/>
          </a:xfrm>
          <a:prstGeom prst="rect">
            <a:avLst/>
          </a:prstGeom>
          <a:noFill/>
          <a:ln/>
        </p:spPr>
        <p:txBody>
          <a:bodyPr wrap="square" lIns="0" tIns="0" rIns="0" bIns="0" rtlCol="0" anchor="ctr"/>
          <a:lstStyle/>
          <a:p>
            <a:pPr indent="0" marL="0">
              <a:buNone/>
            </a:pPr>
            <a:r>
              <a:rPr lang="en-US" sz="1300" dirty="0">
                <a:solidFill>
                  <a:schemeClr val="bg1"/>
                </a:solidFill>
              </a:rPr>
              <a:t>Il tratto comune: il risultato è convincente, e controllare richiede di tornare a un'altra modalità.</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Contenuti sintetici e deepfake</a:t>
            </a:r>
            <a:endParaRPr lang="en-US" sz="2600" dirty="0"/>
          </a:p>
        </p:txBody>
      </p:sp>
      <p:sp>
        <p:nvSpPr>
          <p:cNvPr id="4" name="operazione Interpretare"/>
          <p:cNvSpPr/>
          <p:nvPr/>
        </p:nvSpPr>
        <p:spPr>
          <a:xfrm>
            <a:off x="6053328" y="384048"/>
            <a:ext cx="841248"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6053328" y="384048"/>
            <a:ext cx="841248" cy="237744"/>
          </a:xfrm>
          <a:prstGeom prst="rect">
            <a:avLst/>
          </a:prstGeom>
          <a:noFill/>
          <a:ln/>
        </p:spPr>
        <p:txBody>
          <a:bodyPr wrap="square" lIns="0" tIns="0" rIns="0" bIns="0" rtlCol="0" anchor="ctr"/>
          <a:lstStyle/>
          <a:p>
            <a:pPr algn="ctr" indent="0" marL="0">
              <a:buNone/>
            </a:pPr>
            <a:r>
              <a:rPr lang="en-US" sz="900" b="1" dirty="0">
                <a:solidFill>
                  <a:schemeClr val="accent1"/>
                </a:solidFill>
              </a:rPr>
              <a:t>Interpretare</a:t>
            </a:r>
            <a:endParaRPr lang="en-US" sz="900" dirty="0"/>
          </a:p>
        </p:txBody>
      </p:sp>
      <p:sp>
        <p:nvSpPr>
          <p:cNvPr id="6" name="operazione Generare"/>
          <p:cNvSpPr/>
          <p:nvPr/>
        </p:nvSpPr>
        <p:spPr>
          <a:xfrm>
            <a:off x="6940296" y="384048"/>
            <a:ext cx="841248"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940296" y="384048"/>
            <a:ext cx="841248" cy="237744"/>
          </a:xfrm>
          <a:prstGeom prst="rect">
            <a:avLst/>
          </a:prstGeom>
          <a:noFill/>
          <a:ln/>
        </p:spPr>
        <p:txBody>
          <a:bodyPr wrap="square" lIns="0" tIns="0" rIns="0" bIns="0" rtlCol="0" anchor="ctr"/>
          <a:lstStyle/>
          <a:p>
            <a:pPr algn="ctr" indent="0" marL="0">
              <a:buNone/>
            </a:pPr>
            <a:r>
              <a:rPr lang="en-US" sz="900" b="1" dirty="0">
                <a:solidFill>
                  <a:schemeClr val="bg1"/>
                </a:solidFill>
              </a:rPr>
              <a:t>Generare</a:t>
            </a:r>
            <a:endParaRPr lang="en-US" sz="900" dirty="0"/>
          </a:p>
        </p:txBody>
      </p:sp>
      <p:sp>
        <p:nvSpPr>
          <p:cNvPr id="8" name="operazione Trasformare"/>
          <p:cNvSpPr/>
          <p:nvPr/>
        </p:nvSpPr>
        <p:spPr>
          <a:xfrm>
            <a:off x="7827264" y="384048"/>
            <a:ext cx="841248"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827264" y="384048"/>
            <a:ext cx="841248" cy="237744"/>
          </a:xfrm>
          <a:prstGeom prst="rect">
            <a:avLst/>
          </a:prstGeom>
          <a:noFill/>
          <a:ln/>
        </p:spPr>
        <p:txBody>
          <a:bodyPr wrap="square" lIns="0" tIns="0" rIns="0" bIns="0" rtlCol="0" anchor="ctr"/>
          <a:lstStyle/>
          <a:p>
            <a:pPr algn="ctr" indent="0" marL="0">
              <a:buNone/>
            </a:pPr>
            <a:r>
              <a:rPr lang="en-US" sz="900" b="1" dirty="0">
                <a:solidFill>
                  <a:schemeClr val="accent1"/>
                </a:solidFill>
              </a:rPr>
              <a:t>Trasformare</a:t>
            </a:r>
            <a:endParaRPr lang="en-US" sz="900" dirty="0"/>
          </a:p>
        </p:txBody>
      </p:sp>
      <p:sp>
        <p:nvSpPr>
          <p:cNvPr id="10" name="scheda Usi legittimi"/>
          <p:cNvSpPr/>
          <p:nvPr/>
        </p:nvSpPr>
        <p:spPr>
          <a:xfrm>
            <a:off x="457200" y="1051560"/>
            <a:ext cx="3977640" cy="1828800"/>
          </a:xfrm>
          <a:prstGeom prst="roundRect">
            <a:avLst>
              <a:gd name="adj" fmla="val 4000"/>
            </a:avLst>
          </a:prstGeom>
          <a:solidFill>
            <a:schemeClr val="accent6"/>
          </a:solidFill>
          <a:ln/>
        </p:spPr>
      </p:sp>
      <p:sp>
        <p:nvSpPr>
          <p:cNvPr id="11" name="cerchio FiCheckCircle"/>
          <p:cNvSpPr/>
          <p:nvPr/>
        </p:nvSpPr>
        <p:spPr>
          <a:xfrm>
            <a:off x="640080" y="1234440"/>
            <a:ext cx="457200" cy="457200"/>
          </a:xfrm>
          <a:prstGeom prst="ellipse">
            <a:avLst/>
          </a:prstGeom>
          <a:solidFill>
            <a:schemeClr val="accent1"/>
          </a:solidFill>
          <a:ln/>
        </p:spPr>
      </p:sp>
      <p:pic>
        <p:nvPicPr>
          <p:cNvPr id="12" name="Image 0" descr="FiCheckCircle">    </p:cNvPr>
          <p:cNvPicPr>
            <a:picLocks noChangeAspect="1"/>
          </p:cNvPicPr>
          <p:nvPr/>
        </p:nvPicPr>
        <p:blipFill>
          <a:blip r:embed="rId1"/>
          <a:stretch>
            <a:fillRect/>
          </a:stretch>
        </p:blipFill>
        <p:spPr>
          <a:xfrm>
            <a:off x="754380" y="1348740"/>
            <a:ext cx="228600" cy="228600"/>
          </a:xfrm>
          <a:prstGeom prst="rect">
            <a:avLst/>
          </a:prstGeom>
        </p:spPr>
      </p:pic>
      <p:sp>
        <p:nvSpPr>
          <p:cNvPr id="13" name="Text 9"/>
          <p:cNvSpPr txBox="1"/>
          <p:nvPr/>
        </p:nvSpPr>
        <p:spPr>
          <a:xfrm>
            <a:off x="640080" y="1801368"/>
            <a:ext cx="3611880" cy="347472"/>
          </a:xfrm>
          <a:prstGeom prst="rect">
            <a:avLst/>
          </a:prstGeom>
          <a:noFill/>
          <a:ln/>
        </p:spPr>
        <p:txBody>
          <a:bodyPr wrap="square" lIns="0" tIns="0" rIns="0" bIns="0" rtlCol="0" anchor="t"/>
          <a:lstStyle/>
          <a:p>
            <a:pPr indent="0" marL="0">
              <a:buNone/>
            </a:pPr>
            <a:r>
              <a:rPr lang="en-US" sz="1500" b="1" dirty="0">
                <a:solidFill>
                  <a:schemeClr val="tx1"/>
                </a:solidFill>
              </a:rPr>
              <a:t>Usi legittimi</a:t>
            </a:r>
            <a:endParaRPr lang="en-US" sz="1500" dirty="0"/>
          </a:p>
        </p:txBody>
      </p:sp>
      <p:sp>
        <p:nvSpPr>
          <p:cNvPr id="14" name="Text 10"/>
          <p:cNvSpPr txBox="1"/>
          <p:nvPr/>
        </p:nvSpPr>
        <p:spPr>
          <a:xfrm>
            <a:off x="640080" y="2185416"/>
            <a:ext cx="3611880" cy="585216"/>
          </a:xfrm>
          <a:prstGeom prst="rect">
            <a:avLst/>
          </a:prstGeom>
          <a:noFill/>
          <a:ln/>
        </p:spPr>
        <p:txBody>
          <a:bodyPr wrap="square" lIns="0" tIns="0" rIns="0" bIns="0" rtlCol="0" anchor="t"/>
          <a:lstStyle/>
          <a:p>
            <a:pPr marL="177800" indent="-177800">
              <a:spcAft>
                <a:spcPts val="400"/>
              </a:spcAft>
              <a:buSzPct val="100000"/>
              <a:buChar char="•"/>
            </a:pPr>
            <a:r>
              <a:rPr lang="en-US" sz="1200" dirty="0">
                <a:solidFill>
                  <a:schemeClr val="tx2"/>
                </a:solidFill>
              </a:rPr>
              <a:t>Doppiaggio, effetti, formazione</a:t>
            </a:r>
            <a:endParaRPr lang="en-US" sz="1200" dirty="0"/>
          </a:p>
          <a:p>
            <a:pPr marL="177800" indent="-177800">
              <a:spcAft>
                <a:spcPts val="400"/>
              </a:spcAft>
              <a:buSzPct val="100000"/>
              <a:buChar char="•"/>
            </a:pPr>
            <a:r>
              <a:rPr lang="en-US" sz="1200" dirty="0">
                <a:solidFill>
                  <a:schemeClr val="tx2"/>
                </a:solidFill>
              </a:rPr>
              <a:t>Accessibilità, satira dichiarata</a:t>
            </a:r>
            <a:endParaRPr lang="en-US" sz="1200" dirty="0"/>
          </a:p>
        </p:txBody>
      </p:sp>
      <p:sp>
        <p:nvSpPr>
          <p:cNvPr id="15" name="scheda Usi dannosi"/>
          <p:cNvSpPr/>
          <p:nvPr/>
        </p:nvSpPr>
        <p:spPr>
          <a:xfrm>
            <a:off x="4709160" y="1051560"/>
            <a:ext cx="3977640" cy="1828800"/>
          </a:xfrm>
          <a:prstGeom prst="roundRect">
            <a:avLst>
              <a:gd name="adj" fmla="val 4000"/>
            </a:avLst>
          </a:prstGeom>
          <a:solidFill>
            <a:schemeClr val="bg2"/>
          </a:solidFill>
          <a:ln/>
        </p:spPr>
      </p:sp>
      <p:sp>
        <p:nvSpPr>
          <p:cNvPr id="16" name="cerchio FiAlertTriangle"/>
          <p:cNvSpPr/>
          <p:nvPr/>
        </p:nvSpPr>
        <p:spPr>
          <a:xfrm>
            <a:off x="4892040" y="1234440"/>
            <a:ext cx="457200" cy="457200"/>
          </a:xfrm>
          <a:prstGeom prst="ellipse">
            <a:avLst/>
          </a:prstGeom>
          <a:solidFill>
            <a:schemeClr val="accent5"/>
          </a:solidFill>
          <a:ln/>
        </p:spPr>
      </p:sp>
      <p:pic>
        <p:nvPicPr>
          <p:cNvPr id="17" name="Image 1" descr="FiAlertTriangle">    </p:cNvPr>
          <p:cNvPicPr>
            <a:picLocks noChangeAspect="1"/>
          </p:cNvPicPr>
          <p:nvPr/>
        </p:nvPicPr>
        <p:blipFill>
          <a:blip r:embed="rId2"/>
          <a:stretch>
            <a:fillRect/>
          </a:stretch>
        </p:blipFill>
        <p:spPr>
          <a:xfrm>
            <a:off x="5006340" y="1348740"/>
            <a:ext cx="228600" cy="228600"/>
          </a:xfrm>
          <a:prstGeom prst="rect">
            <a:avLst/>
          </a:prstGeom>
        </p:spPr>
      </p:pic>
      <p:sp>
        <p:nvSpPr>
          <p:cNvPr id="18" name="Text 13"/>
          <p:cNvSpPr txBox="1"/>
          <p:nvPr/>
        </p:nvSpPr>
        <p:spPr>
          <a:xfrm>
            <a:off x="4892040" y="1801368"/>
            <a:ext cx="3611880" cy="347472"/>
          </a:xfrm>
          <a:prstGeom prst="rect">
            <a:avLst/>
          </a:prstGeom>
          <a:noFill/>
          <a:ln/>
        </p:spPr>
        <p:txBody>
          <a:bodyPr wrap="square" lIns="0" tIns="0" rIns="0" bIns="0" rtlCol="0" anchor="t"/>
          <a:lstStyle/>
          <a:p>
            <a:pPr indent="0" marL="0">
              <a:buNone/>
            </a:pPr>
            <a:r>
              <a:rPr lang="en-US" sz="1500" b="1" dirty="0">
                <a:solidFill>
                  <a:schemeClr val="tx1"/>
                </a:solidFill>
              </a:rPr>
              <a:t>Usi dannosi</a:t>
            </a:r>
            <a:endParaRPr lang="en-US" sz="1500" dirty="0"/>
          </a:p>
        </p:txBody>
      </p:sp>
      <p:sp>
        <p:nvSpPr>
          <p:cNvPr id="19" name="Text 14"/>
          <p:cNvSpPr txBox="1"/>
          <p:nvPr/>
        </p:nvSpPr>
        <p:spPr>
          <a:xfrm>
            <a:off x="4892040" y="2185416"/>
            <a:ext cx="3611880" cy="585216"/>
          </a:xfrm>
          <a:prstGeom prst="rect">
            <a:avLst/>
          </a:prstGeom>
          <a:noFill/>
          <a:ln/>
        </p:spPr>
        <p:txBody>
          <a:bodyPr wrap="square" lIns="0" tIns="0" rIns="0" bIns="0" rtlCol="0" anchor="t"/>
          <a:lstStyle/>
          <a:p>
            <a:pPr marL="177800" indent="-177800">
              <a:spcAft>
                <a:spcPts val="400"/>
              </a:spcAft>
              <a:buSzPct val="100000"/>
              <a:buChar char="•"/>
            </a:pPr>
            <a:r>
              <a:rPr lang="en-US" sz="1200" dirty="0">
                <a:solidFill>
                  <a:schemeClr val="tx2"/>
                </a:solidFill>
              </a:rPr>
              <a:t>Frodi con voce o volto imitati</a:t>
            </a:r>
            <a:endParaRPr lang="en-US" sz="1200" dirty="0"/>
          </a:p>
          <a:p>
            <a:pPr marL="177800" indent="-177800">
              <a:spcAft>
                <a:spcPts val="400"/>
              </a:spcAft>
              <a:buSzPct val="100000"/>
              <a:buChar char="•"/>
            </a:pPr>
            <a:r>
              <a:rPr lang="en-US" sz="1200" dirty="0">
                <a:solidFill>
                  <a:schemeClr val="tx2"/>
                </a:solidFill>
              </a:rPr>
              <a:t>Disinformazione, danni alla reputazione</a:t>
            </a:r>
            <a:endParaRPr lang="en-US" sz="1200" dirty="0"/>
          </a:p>
        </p:txBody>
      </p:sp>
      <p:sp>
        <p:nvSpPr>
          <p:cNvPr id="20" name="casi"/>
          <p:cNvSpPr/>
          <p:nvPr/>
        </p:nvSpPr>
        <p:spPr>
          <a:xfrm>
            <a:off x="457200" y="3063240"/>
            <a:ext cx="8229600" cy="1463040"/>
          </a:xfrm>
          <a:prstGeom prst="roundRect">
            <a:avLst>
              <a:gd name="adj" fmla="val 5000"/>
            </a:avLst>
          </a:prstGeom>
          <a:solidFill>
            <a:schemeClr val="tx1"/>
          </a:solidFill>
          <a:ln/>
        </p:spPr>
      </p:sp>
      <p:sp>
        <p:nvSpPr>
          <p:cNvPr id="21" name="Text 16"/>
          <p:cNvSpPr txBox="1"/>
          <p:nvPr/>
        </p:nvSpPr>
        <p:spPr>
          <a:xfrm>
            <a:off x="685800" y="3127248"/>
            <a:ext cx="7772400" cy="292608"/>
          </a:xfrm>
          <a:prstGeom prst="rect">
            <a:avLst/>
          </a:prstGeom>
          <a:noFill/>
          <a:ln/>
        </p:spPr>
        <p:txBody>
          <a:bodyPr wrap="square" lIns="0" tIns="0" rIns="0" bIns="0" rtlCol="0" anchor="t"/>
          <a:lstStyle/>
          <a:p>
            <a:pPr indent="0" marL="0">
              <a:buNone/>
            </a:pPr>
            <a:r>
              <a:rPr lang="en-US" sz="1300" b="1" dirty="0">
                <a:solidFill>
                  <a:schemeClr val="accent6"/>
                </a:solidFill>
              </a:rPr>
              <a:t>Casi riportati dalla stampa</a:t>
            </a:r>
            <a:endParaRPr lang="en-US" sz="1300" dirty="0"/>
          </a:p>
        </p:txBody>
      </p:sp>
      <p:sp>
        <p:nvSpPr>
          <p:cNvPr id="22" name="Text 17"/>
          <p:cNvSpPr txBox="1"/>
          <p:nvPr/>
        </p:nvSpPr>
        <p:spPr>
          <a:xfrm>
            <a:off x="685800" y="3456432"/>
            <a:ext cx="7772400" cy="685800"/>
          </a:xfrm>
          <a:prstGeom prst="rect">
            <a:avLst/>
          </a:prstGeom>
          <a:noFill/>
          <a:ln/>
        </p:spPr>
        <p:txBody>
          <a:bodyPr wrap="square" lIns="0" tIns="0" rIns="0" bIns="0" rtlCol="0" anchor="t"/>
          <a:lstStyle/>
          <a:p>
            <a:pPr marL="177800" indent="-177800">
              <a:spcAft>
                <a:spcPts val="400"/>
              </a:spcAft>
              <a:buSzPct val="100000"/>
              <a:buChar char="•"/>
            </a:pPr>
            <a:r>
              <a:rPr lang="en-US" sz="1200" dirty="0">
                <a:solidFill>
                  <a:schemeClr val="bg1"/>
                </a:solidFill>
              </a:rPr>
              <a:t>2019: voce di un superiore imitata al telefono, circa 220.000 euro trasferiti</a:t>
            </a:r>
            <a:endParaRPr lang="en-US" sz="1200" dirty="0"/>
          </a:p>
          <a:p>
            <a:pPr marL="177800" indent="-177800">
              <a:spcAft>
                <a:spcPts val="400"/>
              </a:spcAft>
              <a:buSzPct val="100000"/>
              <a:buChar char="•"/>
            </a:pPr>
            <a:r>
              <a:rPr lang="en-US" sz="1200" dirty="0">
                <a:solidFill>
                  <a:schemeClr val="bg1"/>
                </a:solidFill>
              </a:rPr>
              <a:t>2024: videochiamata con colleghi ricreati artificialmente, circa 25 milioni di dollari trasferiti</a:t>
            </a:r>
            <a:endParaRPr lang="en-US" sz="1200" dirty="0"/>
          </a:p>
        </p:txBody>
      </p:sp>
      <p:sp>
        <p:nvSpPr>
          <p:cNvPr id="23" name="Text 18"/>
          <p:cNvSpPr txBox="1"/>
          <p:nvPr/>
        </p:nvSpPr>
        <p:spPr>
          <a:xfrm>
            <a:off x="685800" y="4160520"/>
            <a:ext cx="7772400" cy="292608"/>
          </a:xfrm>
          <a:prstGeom prst="rect">
            <a:avLst/>
          </a:prstGeom>
          <a:noFill/>
          <a:ln/>
        </p:spPr>
        <p:txBody>
          <a:bodyPr wrap="square" lIns="0" tIns="0" rIns="0" bIns="0" rtlCol="0" anchor="t"/>
          <a:lstStyle/>
          <a:p>
            <a:pPr indent="0" marL="0">
              <a:buNone/>
            </a:pPr>
            <a:r>
              <a:rPr lang="en-US" sz="1200" b="1" i="1" dirty="0">
                <a:solidFill>
                  <a:schemeClr val="accent3"/>
                </a:solidFill>
              </a:rPr>
              <a:t>Lo schema: richiesta urgente, persona di fiducia, canale che sembra sicuro.</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Realismo, autenticità, accuratezza</a:t>
            </a:r>
            <a:endParaRPr lang="en-US" sz="2600" dirty="0"/>
          </a:p>
        </p:txBody>
      </p:sp>
      <p:sp>
        <p:nvSpPr>
          <p:cNvPr id="4" name="operazione Interpretare"/>
          <p:cNvSpPr/>
          <p:nvPr/>
        </p:nvSpPr>
        <p:spPr>
          <a:xfrm>
            <a:off x="6053328" y="384048"/>
            <a:ext cx="841248"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6053328" y="384048"/>
            <a:ext cx="841248" cy="237744"/>
          </a:xfrm>
          <a:prstGeom prst="rect">
            <a:avLst/>
          </a:prstGeom>
          <a:noFill/>
          <a:ln/>
        </p:spPr>
        <p:txBody>
          <a:bodyPr wrap="square" lIns="0" tIns="0" rIns="0" bIns="0" rtlCol="0" anchor="ctr"/>
          <a:lstStyle/>
          <a:p>
            <a:pPr algn="ctr" indent="0" marL="0">
              <a:buNone/>
            </a:pPr>
            <a:r>
              <a:rPr lang="en-US" sz="900" b="1" dirty="0">
                <a:solidFill>
                  <a:schemeClr val="accent1"/>
                </a:solidFill>
              </a:rPr>
              <a:t>Interpretare</a:t>
            </a:r>
            <a:endParaRPr lang="en-US" sz="900" dirty="0"/>
          </a:p>
        </p:txBody>
      </p:sp>
      <p:sp>
        <p:nvSpPr>
          <p:cNvPr id="6" name="operazione Generare"/>
          <p:cNvSpPr/>
          <p:nvPr/>
        </p:nvSpPr>
        <p:spPr>
          <a:xfrm>
            <a:off x="6940296" y="384048"/>
            <a:ext cx="841248"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940296" y="384048"/>
            <a:ext cx="841248" cy="237744"/>
          </a:xfrm>
          <a:prstGeom prst="rect">
            <a:avLst/>
          </a:prstGeom>
          <a:noFill/>
          <a:ln/>
        </p:spPr>
        <p:txBody>
          <a:bodyPr wrap="square" lIns="0" tIns="0" rIns="0" bIns="0" rtlCol="0" anchor="ctr"/>
          <a:lstStyle/>
          <a:p>
            <a:pPr algn="ctr" indent="0" marL="0">
              <a:buNone/>
            </a:pPr>
            <a:r>
              <a:rPr lang="en-US" sz="900" b="1" dirty="0">
                <a:solidFill>
                  <a:schemeClr val="accent1"/>
                </a:solidFill>
              </a:rPr>
              <a:t>Generare</a:t>
            </a:r>
            <a:endParaRPr lang="en-US" sz="900" dirty="0"/>
          </a:p>
        </p:txBody>
      </p:sp>
      <p:sp>
        <p:nvSpPr>
          <p:cNvPr id="8" name="operazione Trasformare"/>
          <p:cNvSpPr/>
          <p:nvPr/>
        </p:nvSpPr>
        <p:spPr>
          <a:xfrm>
            <a:off x="7827264" y="384048"/>
            <a:ext cx="841248"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827264" y="384048"/>
            <a:ext cx="841248" cy="237744"/>
          </a:xfrm>
          <a:prstGeom prst="rect">
            <a:avLst/>
          </a:prstGeom>
          <a:noFill/>
          <a:ln/>
        </p:spPr>
        <p:txBody>
          <a:bodyPr wrap="square" lIns="0" tIns="0" rIns="0" bIns="0" rtlCol="0" anchor="ctr"/>
          <a:lstStyle/>
          <a:p>
            <a:pPr algn="ctr" indent="0" marL="0">
              <a:buNone/>
            </a:pPr>
            <a:r>
              <a:rPr lang="en-US" sz="900" b="1" dirty="0">
                <a:solidFill>
                  <a:schemeClr val="accent1"/>
                </a:solidFill>
              </a:rPr>
              <a:t>Trasformare</a:t>
            </a:r>
            <a:endParaRPr lang="en-US" sz="900" dirty="0"/>
          </a:p>
        </p:txBody>
      </p:sp>
      <p:graphicFrame>
        <p:nvGraphicFramePr>
          <p:cNvPr id="64"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1828800"/>
                <a:gridCol w="2926080"/>
                <a:gridCol w="3474720"/>
              </a:tblGrid>
              <a:tr h="457200">
                <a:tc>
                  <a:txBody>
                    <a:bodyPr/>
                    <a:lstStyle/>
                    <a:p>
                      <a:pPr indent="0" marL="0">
                        <a:buNone/>
                      </a:pPr>
                      <a:r>
                        <a:rPr lang="en-US" sz="1200" b="1" dirty="0">
                          <a:solidFill>
                            <a:schemeClr val="bg1"/>
                          </a:solidFill>
                        </a:rPr>
                        <a:t>Caratteristica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Significato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Esempio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r>
              <a:tr h="457200">
                <a:tc>
                  <a:txBody>
                    <a:bodyPr/>
                    <a:lstStyle/>
                    <a:p>
                      <a:pPr indent="0" marL="0">
                        <a:buNone/>
                      </a:pPr>
                      <a:r>
                        <a:rPr lang="en-US" sz="1200" b="1" dirty="0">
                          <a:solidFill>
                            <a:schemeClr val="tx1"/>
                          </a:solidFill>
                        </a:rPr>
                        <a:t>Realismo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Il contenuto appare plausibile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Un'immagine sintetica somiglia a una fotografia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457200">
                <a:tc>
                  <a:txBody>
                    <a:bodyPr/>
                    <a:lstStyle/>
                    <a:p>
                      <a:pPr indent="0" marL="0">
                        <a:buNone/>
                      </a:pPr>
                      <a:r>
                        <a:rPr lang="en-US" sz="1200" b="1" dirty="0">
                          <a:solidFill>
                            <a:schemeClr val="tx1"/>
                          </a:solidFill>
                        </a:rPr>
                        <a:t>Autenticità</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L'origine è effettivamente accertabile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Un video ha una provenienza documentata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457200">
                <a:tc>
                  <a:txBody>
                    <a:bodyPr/>
                    <a:lstStyle/>
                    <a:p>
                      <a:pPr indent="0" marL="0">
                        <a:buNone/>
                      </a:pPr>
                      <a:r>
                        <a:rPr lang="en-US" sz="1200" b="1" dirty="0">
                          <a:solidFill>
                            <a:schemeClr val="tx1"/>
                          </a:solidFill>
                        </a:rPr>
                        <a:t>Accuratezza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Corrisponde ai fatti o alla fonte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Una descrizione riporta fedelmente quanto documentato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bl>
          </a:graphicData>
        </a:graphic>
      </p:graphicFrame>
      <p:sp>
        <p:nvSpPr>
          <p:cNvPr id="11" name="blocco Realistica ma non autentica: un'immagine sintetica"/>
          <p:cNvSpPr/>
          <p:nvPr/>
        </p:nvSpPr>
        <p:spPr>
          <a:xfrm>
            <a:off x="457200" y="2971800"/>
            <a:ext cx="2615184" cy="685800"/>
          </a:xfrm>
          <a:prstGeom prst="roundRect">
            <a:avLst>
              <a:gd name="adj" fmla="val 16000"/>
            </a:avLst>
          </a:prstGeom>
          <a:solidFill>
            <a:schemeClr val="accent6"/>
          </a:solidFill>
          <a:ln/>
        </p:spPr>
      </p:sp>
      <p:sp>
        <p:nvSpPr>
          <p:cNvPr id="12" name="Text 8"/>
          <p:cNvSpPr txBox="1"/>
          <p:nvPr/>
        </p:nvSpPr>
        <p:spPr>
          <a:xfrm>
            <a:off x="502920" y="2971800"/>
            <a:ext cx="2523744" cy="685800"/>
          </a:xfrm>
          <a:prstGeom prst="rect">
            <a:avLst/>
          </a:prstGeom>
          <a:noFill/>
          <a:ln/>
        </p:spPr>
        <p:txBody>
          <a:bodyPr wrap="square" lIns="0" tIns="0" rIns="0" bIns="0" rtlCol="0" anchor="ctr"/>
          <a:lstStyle/>
          <a:p>
            <a:pPr algn="ctr" indent="0" marL="0">
              <a:buNone/>
            </a:pPr>
            <a:r>
              <a:rPr lang="en-US" sz="1100" b="1" dirty="0">
                <a:solidFill>
                  <a:schemeClr val="tx1"/>
                </a:solidFill>
              </a:rPr>
              <a:t>Realistica ma non autentica: un'immagine sintetica</a:t>
            </a:r>
            <a:endParaRPr lang="en-US" sz="1100" dirty="0"/>
          </a:p>
        </p:txBody>
      </p:sp>
      <p:sp>
        <p:nvSpPr>
          <p:cNvPr id="13" name="blocco Autentica ma non accurata: una registrazione con affermazioni false"/>
          <p:cNvSpPr/>
          <p:nvPr/>
        </p:nvSpPr>
        <p:spPr>
          <a:xfrm>
            <a:off x="3264408" y="2971800"/>
            <a:ext cx="2615184" cy="685800"/>
          </a:xfrm>
          <a:prstGeom prst="roundRect">
            <a:avLst>
              <a:gd name="adj" fmla="val 16000"/>
            </a:avLst>
          </a:prstGeom>
          <a:solidFill>
            <a:schemeClr val="accent6"/>
          </a:solidFill>
          <a:ln/>
        </p:spPr>
      </p:sp>
      <p:sp>
        <p:nvSpPr>
          <p:cNvPr id="14" name="Text 10"/>
          <p:cNvSpPr txBox="1"/>
          <p:nvPr/>
        </p:nvSpPr>
        <p:spPr>
          <a:xfrm>
            <a:off x="3310128" y="2971800"/>
            <a:ext cx="2523744" cy="685800"/>
          </a:xfrm>
          <a:prstGeom prst="rect">
            <a:avLst/>
          </a:prstGeom>
          <a:noFill/>
          <a:ln/>
        </p:spPr>
        <p:txBody>
          <a:bodyPr wrap="square" lIns="0" tIns="0" rIns="0" bIns="0" rtlCol="0" anchor="ctr"/>
          <a:lstStyle/>
          <a:p>
            <a:pPr algn="ctr" indent="0" marL="0">
              <a:buNone/>
            </a:pPr>
            <a:r>
              <a:rPr lang="en-US" sz="1100" b="1" dirty="0">
                <a:solidFill>
                  <a:schemeClr val="tx1"/>
                </a:solidFill>
              </a:rPr>
              <a:t>Autentica ma non accurata: una registrazione con affermazioni false</a:t>
            </a:r>
            <a:endParaRPr lang="en-US" sz="1100" dirty="0"/>
          </a:p>
        </p:txBody>
      </p:sp>
      <p:sp>
        <p:nvSpPr>
          <p:cNvPr id="15" name="blocco Professionale ma non accurata: una presentazione con dati inesatti"/>
          <p:cNvSpPr/>
          <p:nvPr/>
        </p:nvSpPr>
        <p:spPr>
          <a:xfrm>
            <a:off x="6071616" y="2971800"/>
            <a:ext cx="2615184" cy="685800"/>
          </a:xfrm>
          <a:prstGeom prst="roundRect">
            <a:avLst>
              <a:gd name="adj" fmla="val 16000"/>
            </a:avLst>
          </a:prstGeom>
          <a:solidFill>
            <a:schemeClr val="accent6"/>
          </a:solidFill>
          <a:ln/>
        </p:spPr>
      </p:sp>
      <p:sp>
        <p:nvSpPr>
          <p:cNvPr id="16" name="Text 12"/>
          <p:cNvSpPr txBox="1"/>
          <p:nvPr/>
        </p:nvSpPr>
        <p:spPr>
          <a:xfrm>
            <a:off x="6117336" y="2971800"/>
            <a:ext cx="2523744" cy="685800"/>
          </a:xfrm>
          <a:prstGeom prst="rect">
            <a:avLst/>
          </a:prstGeom>
          <a:noFill/>
          <a:ln/>
        </p:spPr>
        <p:txBody>
          <a:bodyPr wrap="square" lIns="0" tIns="0" rIns="0" bIns="0" rtlCol="0" anchor="ctr"/>
          <a:lstStyle/>
          <a:p>
            <a:pPr algn="ctr" indent="0" marL="0">
              <a:buNone/>
            </a:pPr>
            <a:r>
              <a:rPr lang="en-US" sz="1100" b="1" dirty="0">
                <a:solidFill>
                  <a:schemeClr val="tx1"/>
                </a:solidFill>
              </a:rPr>
              <a:t>Professionale ma non accurata: una presentazione con dati inesatti</a:t>
            </a:r>
            <a:endParaRPr lang="en-US" sz="1100" dirty="0"/>
          </a:p>
        </p:txBody>
      </p:sp>
      <p:sp>
        <p:nvSpPr>
          <p:cNvPr id="17" name="messaggio"/>
          <p:cNvSpPr/>
          <p:nvPr/>
        </p:nvSpPr>
        <p:spPr>
          <a:xfrm>
            <a:off x="457200" y="3840480"/>
            <a:ext cx="8229600" cy="640080"/>
          </a:xfrm>
          <a:prstGeom prst="roundRect">
            <a:avLst>
              <a:gd name="adj" fmla="val 11429"/>
            </a:avLst>
          </a:prstGeom>
          <a:solidFill>
            <a:schemeClr val="tx1"/>
          </a:solidFill>
          <a:ln/>
        </p:spPr>
      </p:sp>
      <p:sp>
        <p:nvSpPr>
          <p:cNvPr id="18" name="Text 14"/>
          <p:cNvSpPr txBox="1"/>
          <p:nvPr/>
        </p:nvSpPr>
        <p:spPr>
          <a:xfrm>
            <a:off x="640080" y="3840480"/>
            <a:ext cx="7863840" cy="640080"/>
          </a:xfrm>
          <a:prstGeom prst="rect">
            <a:avLst/>
          </a:prstGeom>
          <a:noFill/>
          <a:ln/>
        </p:spPr>
        <p:txBody>
          <a:bodyPr wrap="square" lIns="0" tIns="0" rIns="0" bIns="0" rtlCol="0" anchor="ctr"/>
          <a:lstStyle/>
          <a:p>
            <a:pPr indent="0" marL="0">
              <a:buNone/>
            </a:pPr>
            <a:r>
              <a:rPr lang="en-US" sz="1500" dirty="0">
                <a:solidFill>
                  <a:schemeClr val="bg1"/>
                </a:solidFill>
              </a:rPr>
              <a:t>Tre domande separate: sembra reale? Da dove viene? Ciò che mostra è vero?</a:t>
            </a:r>
            <a:endParaRPr lang="en-US" sz="15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Provenienza e verifica</a:t>
            </a:r>
            <a:endParaRPr lang="en-US" sz="2600" dirty="0"/>
          </a:p>
        </p:txBody>
      </p:sp>
      <p:sp>
        <p:nvSpPr>
          <p:cNvPr id="4" name="operazione Interpretare"/>
          <p:cNvSpPr/>
          <p:nvPr/>
        </p:nvSpPr>
        <p:spPr>
          <a:xfrm>
            <a:off x="6053328" y="384048"/>
            <a:ext cx="841248"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6053328" y="384048"/>
            <a:ext cx="841248" cy="237744"/>
          </a:xfrm>
          <a:prstGeom prst="rect">
            <a:avLst/>
          </a:prstGeom>
          <a:noFill/>
          <a:ln/>
        </p:spPr>
        <p:txBody>
          <a:bodyPr wrap="square" lIns="0" tIns="0" rIns="0" bIns="0" rtlCol="0" anchor="ctr"/>
          <a:lstStyle/>
          <a:p>
            <a:pPr algn="ctr" indent="0" marL="0">
              <a:buNone/>
            </a:pPr>
            <a:r>
              <a:rPr lang="en-US" sz="900" b="1" dirty="0">
                <a:solidFill>
                  <a:schemeClr val="accent1"/>
                </a:solidFill>
              </a:rPr>
              <a:t>Interpretare</a:t>
            </a:r>
            <a:endParaRPr lang="en-US" sz="900" dirty="0"/>
          </a:p>
        </p:txBody>
      </p:sp>
      <p:sp>
        <p:nvSpPr>
          <p:cNvPr id="6" name="operazione Generare"/>
          <p:cNvSpPr/>
          <p:nvPr/>
        </p:nvSpPr>
        <p:spPr>
          <a:xfrm>
            <a:off x="6940296" y="384048"/>
            <a:ext cx="841248"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940296" y="384048"/>
            <a:ext cx="841248" cy="237744"/>
          </a:xfrm>
          <a:prstGeom prst="rect">
            <a:avLst/>
          </a:prstGeom>
          <a:noFill/>
          <a:ln/>
        </p:spPr>
        <p:txBody>
          <a:bodyPr wrap="square" lIns="0" tIns="0" rIns="0" bIns="0" rtlCol="0" anchor="ctr"/>
          <a:lstStyle/>
          <a:p>
            <a:pPr algn="ctr" indent="0" marL="0">
              <a:buNone/>
            </a:pPr>
            <a:r>
              <a:rPr lang="en-US" sz="900" b="1" dirty="0">
                <a:solidFill>
                  <a:schemeClr val="accent1"/>
                </a:solidFill>
              </a:rPr>
              <a:t>Generare</a:t>
            </a:r>
            <a:endParaRPr lang="en-US" sz="900" dirty="0"/>
          </a:p>
        </p:txBody>
      </p:sp>
      <p:sp>
        <p:nvSpPr>
          <p:cNvPr id="8" name="operazione Trasformare"/>
          <p:cNvSpPr/>
          <p:nvPr/>
        </p:nvSpPr>
        <p:spPr>
          <a:xfrm>
            <a:off x="7827264" y="384048"/>
            <a:ext cx="841248"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827264" y="384048"/>
            <a:ext cx="841248" cy="237744"/>
          </a:xfrm>
          <a:prstGeom prst="rect">
            <a:avLst/>
          </a:prstGeom>
          <a:noFill/>
          <a:ln/>
        </p:spPr>
        <p:txBody>
          <a:bodyPr wrap="square" lIns="0" tIns="0" rIns="0" bIns="0" rtlCol="0" anchor="ctr"/>
          <a:lstStyle/>
          <a:p>
            <a:pPr algn="ctr" indent="0" marL="0">
              <a:buNone/>
            </a:pPr>
            <a:r>
              <a:rPr lang="en-US" sz="900" b="1" dirty="0">
                <a:solidFill>
                  <a:schemeClr val="accent1"/>
                </a:solidFill>
              </a:rPr>
              <a:t>Trasformare</a:t>
            </a:r>
            <a:endParaRPr lang="en-US" sz="900" dirty="0"/>
          </a:p>
        </p:txBody>
      </p:sp>
      <p:graphicFrame>
        <p:nvGraphicFramePr>
          <p:cNvPr id="65"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2743200"/>
                <a:gridCol w="2743200"/>
                <a:gridCol w="2743200"/>
              </a:tblGrid>
              <a:tr h="384048">
                <a:tc>
                  <a:txBody>
                    <a:bodyPr/>
                    <a:lstStyle/>
                    <a:p>
                      <a:pPr indent="0" marL="0">
                        <a:buNone/>
                      </a:pPr>
                      <a:r>
                        <a:rPr lang="en-US" sz="1200" b="1" dirty="0">
                          <a:solidFill>
                            <a:schemeClr val="bg1"/>
                          </a:solidFill>
                        </a:rPr>
                        <a:t>Strumento</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Che cosa offre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Limite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r>
              <a:tr h="384048">
                <a:tc>
                  <a:txBody>
                    <a:bodyPr/>
                    <a:lstStyle/>
                    <a:p>
                      <a:pPr indent="0" marL="0">
                        <a:buNone/>
                      </a:pPr>
                      <a:r>
                        <a:rPr lang="en-US" sz="1200" b="1" dirty="0">
                          <a:solidFill>
                            <a:schemeClr val="tx1"/>
                          </a:solidFill>
                        </a:rPr>
                        <a:t>Metadati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Data, dispositivo, posizione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Facili da modificare o rimuovere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384048">
                <a:tc>
                  <a:txBody>
                    <a:bodyPr/>
                    <a:lstStyle/>
                    <a:p>
                      <a:pPr indent="0" marL="0">
                        <a:buNone/>
                      </a:pPr>
                      <a:r>
                        <a:rPr lang="en-US" sz="1200" b="1" dirty="0">
                          <a:solidFill>
                            <a:schemeClr val="tx1"/>
                          </a:solidFill>
                        </a:rPr>
                        <a:t>Filigrane digitali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Inserite da alcuni generatori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Non universali, alterabili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384048">
                <a:tc>
                  <a:txBody>
                    <a:bodyPr/>
                    <a:lstStyle/>
                    <a:p>
                      <a:pPr indent="0" marL="0">
                        <a:buNone/>
                      </a:pPr>
                      <a:r>
                        <a:rPr lang="en-US" sz="1200" b="1" dirty="0">
                          <a:solidFill>
                            <a:schemeClr val="tx1"/>
                          </a:solidFill>
                        </a:rPr>
                        <a:t>Credenziali di contenuto (C2PA)</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Origine e modifiche verificabili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Non ancora adottate ovunque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384048">
                <a:tc>
                  <a:txBody>
                    <a:bodyPr/>
                    <a:lstStyle/>
                    <a:p>
                      <a:pPr indent="0" marL="0">
                        <a:buNone/>
                      </a:pPr>
                      <a:r>
                        <a:rPr lang="en-US" sz="1200" b="1" dirty="0">
                          <a:solidFill>
                            <a:schemeClr val="tx1"/>
                          </a:solidFill>
                        </a:rPr>
                        <a:t>Etichette delle piattaforme</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Segnalano contenuti generati</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L'assenza non prova l'autenticità</a:t>
                      </a:r>
                      <a:endParaRPr lang="en-US" sz="12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bl>
          </a:graphicData>
        </a:graphic>
      </p:graphicFrame>
      <p:sp>
        <p:nvSpPr>
          <p:cNvPr id="11" name="messaggio"/>
          <p:cNvSpPr/>
          <p:nvPr/>
        </p:nvSpPr>
        <p:spPr>
          <a:xfrm>
            <a:off x="457200" y="3108960"/>
            <a:ext cx="8229600" cy="685800"/>
          </a:xfrm>
          <a:prstGeom prst="roundRect">
            <a:avLst>
              <a:gd name="adj" fmla="val 10667"/>
            </a:avLst>
          </a:prstGeom>
          <a:solidFill>
            <a:schemeClr val="tx1"/>
          </a:solidFill>
          <a:ln/>
        </p:spPr>
      </p:sp>
      <p:sp>
        <p:nvSpPr>
          <p:cNvPr id="12" name="Text 8"/>
          <p:cNvSpPr txBox="1"/>
          <p:nvPr/>
        </p:nvSpPr>
        <p:spPr>
          <a:xfrm>
            <a:off x="640080" y="3108960"/>
            <a:ext cx="7863840" cy="685800"/>
          </a:xfrm>
          <a:prstGeom prst="rect">
            <a:avLst/>
          </a:prstGeom>
          <a:noFill/>
          <a:ln/>
        </p:spPr>
        <p:txBody>
          <a:bodyPr wrap="square" lIns="0" tIns="0" rIns="0" bIns="0" rtlCol="0" anchor="ctr"/>
          <a:lstStyle/>
          <a:p>
            <a:pPr indent="0" marL="0">
              <a:buNone/>
            </a:pPr>
            <a:r>
              <a:rPr lang="en-US" sz="1300" dirty="0">
                <a:solidFill>
                  <a:schemeClr val="bg1"/>
                </a:solidFill>
              </a:rPr>
              <a:t>Anche etichette e metadati richiedono interpretazione: non sono una prova definitiva della veridicità dei fatti.</a:t>
            </a:r>
            <a:endParaRPr lang="en-US" sz="1300" dirty="0"/>
          </a:p>
        </p:txBody>
      </p:sp>
      <p:sp>
        <p:nvSpPr>
          <p:cNvPr id="13" name="Text 9"/>
          <p:cNvSpPr txBox="1"/>
          <p:nvPr/>
        </p:nvSpPr>
        <p:spPr>
          <a:xfrm>
            <a:off x="457200" y="3886200"/>
            <a:ext cx="2743200" cy="548640"/>
          </a:xfrm>
          <a:prstGeom prst="rect">
            <a:avLst/>
          </a:prstGeom>
          <a:noFill/>
          <a:ln/>
        </p:spPr>
        <p:txBody>
          <a:bodyPr wrap="square" lIns="0" tIns="0" rIns="0" bIns="0" rtlCol="0" anchor="ctr"/>
          <a:lstStyle/>
          <a:p>
            <a:pPr indent="0" marL="0">
              <a:buNone/>
            </a:pPr>
            <a:r>
              <a:rPr lang="en-US" sz="1300" b="1" dirty="0">
                <a:solidFill>
                  <a:schemeClr val="accent1"/>
                </a:solidFill>
              </a:rPr>
              <a:t>Verifica più efficace per l'utente</a:t>
            </a:r>
            <a:endParaRPr lang="en-US" sz="1300" dirty="0"/>
          </a:p>
        </p:txBody>
      </p:sp>
      <p:sp>
        <p:nvSpPr>
          <p:cNvPr id="14" name="blocco Risalire alla fonte"/>
          <p:cNvSpPr/>
          <p:nvPr/>
        </p:nvSpPr>
        <p:spPr>
          <a:xfrm>
            <a:off x="3200400" y="3886200"/>
            <a:ext cx="1737360" cy="548640"/>
          </a:xfrm>
          <a:prstGeom prst="roundRect">
            <a:avLst>
              <a:gd name="adj" fmla="val 20000"/>
            </a:avLst>
          </a:prstGeom>
          <a:solidFill>
            <a:schemeClr val="accent6"/>
          </a:solidFill>
          <a:ln/>
        </p:spPr>
      </p:sp>
      <p:sp>
        <p:nvSpPr>
          <p:cNvPr id="15" name="Text 11"/>
          <p:cNvSpPr txBox="1"/>
          <p:nvPr/>
        </p:nvSpPr>
        <p:spPr>
          <a:xfrm>
            <a:off x="3246120" y="3886200"/>
            <a:ext cx="1645920" cy="548640"/>
          </a:xfrm>
          <a:prstGeom prst="rect">
            <a:avLst/>
          </a:prstGeom>
          <a:noFill/>
          <a:ln/>
        </p:spPr>
        <p:txBody>
          <a:bodyPr wrap="square" lIns="0" tIns="0" rIns="0" bIns="0" rtlCol="0" anchor="ctr"/>
          <a:lstStyle/>
          <a:p>
            <a:pPr algn="ctr" indent="0" marL="0">
              <a:buNone/>
            </a:pPr>
            <a:r>
              <a:rPr lang="en-US" sz="1100" b="1" dirty="0">
                <a:solidFill>
                  <a:schemeClr val="tx1"/>
                </a:solidFill>
              </a:rPr>
              <a:t>Risalire alla fonte</a:t>
            </a:r>
            <a:endParaRPr lang="en-US" sz="1100" dirty="0"/>
          </a:p>
        </p:txBody>
      </p:sp>
      <p:sp>
        <p:nvSpPr>
          <p:cNvPr id="16" name="blocco Canale indipendente"/>
          <p:cNvSpPr/>
          <p:nvPr/>
        </p:nvSpPr>
        <p:spPr>
          <a:xfrm>
            <a:off x="5029200" y="3886200"/>
            <a:ext cx="1828800" cy="548640"/>
          </a:xfrm>
          <a:prstGeom prst="roundRect">
            <a:avLst>
              <a:gd name="adj" fmla="val 20000"/>
            </a:avLst>
          </a:prstGeom>
          <a:solidFill>
            <a:schemeClr val="accent6"/>
          </a:solidFill>
          <a:ln/>
        </p:spPr>
      </p:sp>
      <p:sp>
        <p:nvSpPr>
          <p:cNvPr id="17" name="Text 13"/>
          <p:cNvSpPr txBox="1"/>
          <p:nvPr/>
        </p:nvSpPr>
        <p:spPr>
          <a:xfrm>
            <a:off x="5074920" y="3886200"/>
            <a:ext cx="1737360" cy="548640"/>
          </a:xfrm>
          <a:prstGeom prst="rect">
            <a:avLst/>
          </a:prstGeom>
          <a:noFill/>
          <a:ln/>
        </p:spPr>
        <p:txBody>
          <a:bodyPr wrap="square" lIns="0" tIns="0" rIns="0" bIns="0" rtlCol="0" anchor="ctr"/>
          <a:lstStyle/>
          <a:p>
            <a:pPr algn="ctr" indent="0" marL="0">
              <a:buNone/>
            </a:pPr>
            <a:r>
              <a:rPr lang="en-US" sz="1100" b="1" dirty="0">
                <a:solidFill>
                  <a:schemeClr val="tx1"/>
                </a:solidFill>
              </a:rPr>
              <a:t>Canale indipendente</a:t>
            </a:r>
            <a:endParaRPr lang="en-US" sz="1100" dirty="0"/>
          </a:p>
        </p:txBody>
      </p:sp>
      <p:sp>
        <p:nvSpPr>
          <p:cNvPr id="18" name="blocco Altre fonti"/>
          <p:cNvSpPr/>
          <p:nvPr/>
        </p:nvSpPr>
        <p:spPr>
          <a:xfrm>
            <a:off x="6949440" y="3886200"/>
            <a:ext cx="1737360" cy="548640"/>
          </a:xfrm>
          <a:prstGeom prst="roundRect">
            <a:avLst>
              <a:gd name="adj" fmla="val 20000"/>
            </a:avLst>
          </a:prstGeom>
          <a:solidFill>
            <a:schemeClr val="accent6"/>
          </a:solidFill>
          <a:ln/>
        </p:spPr>
      </p:sp>
      <p:sp>
        <p:nvSpPr>
          <p:cNvPr id="19" name="Text 15"/>
          <p:cNvSpPr txBox="1"/>
          <p:nvPr/>
        </p:nvSpPr>
        <p:spPr>
          <a:xfrm>
            <a:off x="6995160" y="3886200"/>
            <a:ext cx="1645920" cy="548640"/>
          </a:xfrm>
          <a:prstGeom prst="rect">
            <a:avLst/>
          </a:prstGeom>
          <a:noFill/>
          <a:ln/>
        </p:spPr>
        <p:txBody>
          <a:bodyPr wrap="square" lIns="0" tIns="0" rIns="0" bIns="0" rtlCol="0" anchor="ctr"/>
          <a:lstStyle/>
          <a:p>
            <a:pPr algn="ctr" indent="0" marL="0">
              <a:buNone/>
            </a:pPr>
            <a:r>
              <a:rPr lang="en-US" sz="1100" b="1" dirty="0">
                <a:solidFill>
                  <a:schemeClr val="tx1"/>
                </a:solidFill>
              </a:rPr>
              <a:t>Altre fonti</a:t>
            </a:r>
            <a:endParaRPr lang="en-US" sz="11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Difendersi dalle frodi</a:t>
            </a:r>
            <a:endParaRPr lang="en-US" sz="2600" dirty="0"/>
          </a:p>
        </p:txBody>
      </p:sp>
      <p:sp>
        <p:nvSpPr>
          <p:cNvPr id="4" name="operazione Interpretare"/>
          <p:cNvSpPr/>
          <p:nvPr/>
        </p:nvSpPr>
        <p:spPr>
          <a:xfrm>
            <a:off x="6053328" y="384048"/>
            <a:ext cx="841248"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6053328" y="384048"/>
            <a:ext cx="841248" cy="237744"/>
          </a:xfrm>
          <a:prstGeom prst="rect">
            <a:avLst/>
          </a:prstGeom>
          <a:noFill/>
          <a:ln/>
        </p:spPr>
        <p:txBody>
          <a:bodyPr wrap="square" lIns="0" tIns="0" rIns="0" bIns="0" rtlCol="0" anchor="ctr"/>
          <a:lstStyle/>
          <a:p>
            <a:pPr algn="ctr" indent="0" marL="0">
              <a:buNone/>
            </a:pPr>
            <a:r>
              <a:rPr lang="en-US" sz="900" b="1" dirty="0">
                <a:solidFill>
                  <a:schemeClr val="accent1"/>
                </a:solidFill>
              </a:rPr>
              <a:t>Interpretare</a:t>
            </a:r>
            <a:endParaRPr lang="en-US" sz="900" dirty="0"/>
          </a:p>
        </p:txBody>
      </p:sp>
      <p:sp>
        <p:nvSpPr>
          <p:cNvPr id="6" name="operazione Generare"/>
          <p:cNvSpPr/>
          <p:nvPr/>
        </p:nvSpPr>
        <p:spPr>
          <a:xfrm>
            <a:off x="6940296" y="384048"/>
            <a:ext cx="841248"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940296" y="384048"/>
            <a:ext cx="841248" cy="237744"/>
          </a:xfrm>
          <a:prstGeom prst="rect">
            <a:avLst/>
          </a:prstGeom>
          <a:noFill/>
          <a:ln/>
        </p:spPr>
        <p:txBody>
          <a:bodyPr wrap="square" lIns="0" tIns="0" rIns="0" bIns="0" rtlCol="0" anchor="ctr"/>
          <a:lstStyle/>
          <a:p>
            <a:pPr algn="ctr" indent="0" marL="0">
              <a:buNone/>
            </a:pPr>
            <a:r>
              <a:rPr lang="en-US" sz="900" b="1" dirty="0">
                <a:solidFill>
                  <a:schemeClr val="accent1"/>
                </a:solidFill>
              </a:rPr>
              <a:t>Generare</a:t>
            </a:r>
            <a:endParaRPr lang="en-US" sz="900" dirty="0"/>
          </a:p>
        </p:txBody>
      </p:sp>
      <p:sp>
        <p:nvSpPr>
          <p:cNvPr id="8" name="operazione Trasformare"/>
          <p:cNvSpPr/>
          <p:nvPr/>
        </p:nvSpPr>
        <p:spPr>
          <a:xfrm>
            <a:off x="7827264" y="384048"/>
            <a:ext cx="841248"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827264" y="384048"/>
            <a:ext cx="841248" cy="237744"/>
          </a:xfrm>
          <a:prstGeom prst="rect">
            <a:avLst/>
          </a:prstGeom>
          <a:noFill/>
          <a:ln/>
        </p:spPr>
        <p:txBody>
          <a:bodyPr wrap="square" lIns="0" tIns="0" rIns="0" bIns="0" rtlCol="0" anchor="ctr"/>
          <a:lstStyle/>
          <a:p>
            <a:pPr algn="ctr" indent="0" marL="0">
              <a:buNone/>
            </a:pPr>
            <a:r>
              <a:rPr lang="en-US" sz="900" b="1" dirty="0">
                <a:solidFill>
                  <a:schemeClr val="accent1"/>
                </a:solidFill>
              </a:rPr>
              <a:t>Trasformare</a:t>
            </a:r>
            <a:endParaRPr lang="en-US" sz="900" dirty="0"/>
          </a:p>
        </p:txBody>
      </p:sp>
      <p:sp>
        <p:nvSpPr>
          <p:cNvPr id="10" name="Canale indipendente"/>
          <p:cNvSpPr/>
          <p:nvPr/>
        </p:nvSpPr>
        <p:spPr>
          <a:xfrm>
            <a:off x="457200" y="1051560"/>
            <a:ext cx="2621280" cy="1280160"/>
          </a:xfrm>
          <a:prstGeom prst="roundRect">
            <a:avLst>
              <a:gd name="adj" fmla="val 5714"/>
            </a:avLst>
          </a:prstGeom>
          <a:solidFill>
            <a:schemeClr val="bg2"/>
          </a:solidFill>
          <a:ln/>
        </p:spPr>
      </p:sp>
      <p:sp>
        <p:nvSpPr>
          <p:cNvPr id="11" name="cerchio FiPhone"/>
          <p:cNvSpPr/>
          <p:nvPr/>
        </p:nvSpPr>
        <p:spPr>
          <a:xfrm>
            <a:off x="621792" y="1216152"/>
            <a:ext cx="438912" cy="438912"/>
          </a:xfrm>
          <a:prstGeom prst="ellipse">
            <a:avLst/>
          </a:prstGeom>
          <a:solidFill>
            <a:schemeClr val="accent1"/>
          </a:solidFill>
          <a:ln/>
        </p:spPr>
      </p:sp>
      <p:pic>
        <p:nvPicPr>
          <p:cNvPr id="12" name="Image 0" descr="FiPhone">    </p:cNvPr>
          <p:cNvPicPr>
            <a:picLocks noChangeAspect="1"/>
          </p:cNvPicPr>
          <p:nvPr/>
        </p:nvPicPr>
        <p:blipFill>
          <a:blip r:embed="rId1"/>
          <a:stretch>
            <a:fillRect/>
          </a:stretch>
        </p:blipFill>
        <p:spPr>
          <a:xfrm>
            <a:off x="731520" y="1325880"/>
            <a:ext cx="219456" cy="219456"/>
          </a:xfrm>
          <a:prstGeom prst="rect">
            <a:avLst/>
          </a:prstGeom>
        </p:spPr>
      </p:pic>
      <p:sp>
        <p:nvSpPr>
          <p:cNvPr id="13" name="Text 9"/>
          <p:cNvSpPr txBox="1"/>
          <p:nvPr/>
        </p:nvSpPr>
        <p:spPr>
          <a:xfrm>
            <a:off x="1170432" y="117957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Canale indipendente</a:t>
            </a:r>
            <a:endParaRPr lang="en-US" sz="1300" dirty="0"/>
          </a:p>
        </p:txBody>
      </p:sp>
      <p:sp>
        <p:nvSpPr>
          <p:cNvPr id="14" name="Text 10"/>
          <p:cNvSpPr txBox="1"/>
          <p:nvPr/>
        </p:nvSpPr>
        <p:spPr>
          <a:xfrm>
            <a:off x="621792" y="1764792"/>
            <a:ext cx="2292096" cy="475488"/>
          </a:xfrm>
          <a:prstGeom prst="rect">
            <a:avLst/>
          </a:prstGeom>
          <a:noFill/>
          <a:ln/>
        </p:spPr>
        <p:txBody>
          <a:bodyPr wrap="square" lIns="0" tIns="0" rIns="0" bIns="0" rtlCol="0" anchor="t"/>
          <a:lstStyle/>
          <a:p>
            <a:pPr indent="0" marL="0">
              <a:buNone/>
            </a:pPr>
            <a:r>
              <a:rPr lang="en-US" sz="1200" dirty="0">
                <a:solidFill>
                  <a:schemeClr val="tx2"/>
                </a:solidFill>
              </a:rPr>
              <a:t>Richiamare a un numero noto, confermare di persona</a:t>
            </a:r>
            <a:endParaRPr lang="en-US" sz="1200" dirty="0"/>
          </a:p>
        </p:txBody>
      </p:sp>
      <p:sp>
        <p:nvSpPr>
          <p:cNvPr id="15" name="Procedure robuste"/>
          <p:cNvSpPr/>
          <p:nvPr/>
        </p:nvSpPr>
        <p:spPr>
          <a:xfrm>
            <a:off x="3261360" y="1051560"/>
            <a:ext cx="2621280" cy="1280160"/>
          </a:xfrm>
          <a:prstGeom prst="roundRect">
            <a:avLst>
              <a:gd name="adj" fmla="val 5714"/>
            </a:avLst>
          </a:prstGeom>
          <a:solidFill>
            <a:schemeClr val="bg2"/>
          </a:solidFill>
          <a:ln/>
        </p:spPr>
      </p:sp>
      <p:sp>
        <p:nvSpPr>
          <p:cNvPr id="16" name="cerchio FiUsers"/>
          <p:cNvSpPr/>
          <p:nvPr/>
        </p:nvSpPr>
        <p:spPr>
          <a:xfrm>
            <a:off x="3425952" y="1216152"/>
            <a:ext cx="438912" cy="438912"/>
          </a:xfrm>
          <a:prstGeom prst="ellipse">
            <a:avLst/>
          </a:prstGeom>
          <a:solidFill>
            <a:schemeClr val="accent1"/>
          </a:solidFill>
          <a:ln/>
        </p:spPr>
      </p:sp>
      <p:pic>
        <p:nvPicPr>
          <p:cNvPr id="17" name="Image 1" descr="FiUsers">    </p:cNvPr>
          <p:cNvPicPr>
            <a:picLocks noChangeAspect="1"/>
          </p:cNvPicPr>
          <p:nvPr/>
        </p:nvPicPr>
        <p:blipFill>
          <a:blip r:embed="rId2"/>
          <a:stretch>
            <a:fillRect/>
          </a:stretch>
        </p:blipFill>
        <p:spPr>
          <a:xfrm>
            <a:off x="3535680" y="1325880"/>
            <a:ext cx="219456" cy="219456"/>
          </a:xfrm>
          <a:prstGeom prst="rect">
            <a:avLst/>
          </a:prstGeom>
        </p:spPr>
      </p:pic>
      <p:sp>
        <p:nvSpPr>
          <p:cNvPr id="18" name="Text 13"/>
          <p:cNvSpPr txBox="1"/>
          <p:nvPr/>
        </p:nvSpPr>
        <p:spPr>
          <a:xfrm>
            <a:off x="3974592" y="117957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Procedure robuste</a:t>
            </a:r>
            <a:endParaRPr lang="en-US" sz="1300" dirty="0"/>
          </a:p>
        </p:txBody>
      </p:sp>
      <p:sp>
        <p:nvSpPr>
          <p:cNvPr id="19" name="Text 14"/>
          <p:cNvSpPr txBox="1"/>
          <p:nvPr/>
        </p:nvSpPr>
        <p:spPr>
          <a:xfrm>
            <a:off x="3425952" y="1764792"/>
            <a:ext cx="2292096" cy="475488"/>
          </a:xfrm>
          <a:prstGeom prst="rect">
            <a:avLst/>
          </a:prstGeom>
          <a:noFill/>
          <a:ln/>
        </p:spPr>
        <p:txBody>
          <a:bodyPr wrap="square" lIns="0" tIns="0" rIns="0" bIns="0" rtlCol="0" anchor="t"/>
          <a:lstStyle/>
          <a:p>
            <a:pPr indent="0" marL="0">
              <a:buNone/>
            </a:pPr>
            <a:r>
              <a:rPr lang="en-US" sz="1200" dirty="0">
                <a:solidFill>
                  <a:schemeClr val="tx2"/>
                </a:solidFill>
              </a:rPr>
              <a:t>Più firme, controlli incrociati, nessuna eccezione</a:t>
            </a:r>
            <a:endParaRPr lang="en-US" sz="1200" dirty="0"/>
          </a:p>
        </p:txBody>
      </p:sp>
      <p:sp>
        <p:nvSpPr>
          <p:cNvPr id="20" name="Urgenza e segretezza"/>
          <p:cNvSpPr/>
          <p:nvPr/>
        </p:nvSpPr>
        <p:spPr>
          <a:xfrm>
            <a:off x="6065520" y="1051560"/>
            <a:ext cx="2621280" cy="1280160"/>
          </a:xfrm>
          <a:prstGeom prst="roundRect">
            <a:avLst>
              <a:gd name="adj" fmla="val 5714"/>
            </a:avLst>
          </a:prstGeom>
          <a:solidFill>
            <a:schemeClr val="bg2"/>
          </a:solidFill>
          <a:ln/>
        </p:spPr>
      </p:sp>
      <p:sp>
        <p:nvSpPr>
          <p:cNvPr id="21" name="cerchio FiClock"/>
          <p:cNvSpPr/>
          <p:nvPr/>
        </p:nvSpPr>
        <p:spPr>
          <a:xfrm>
            <a:off x="6230112" y="1216152"/>
            <a:ext cx="438912" cy="438912"/>
          </a:xfrm>
          <a:prstGeom prst="ellipse">
            <a:avLst/>
          </a:prstGeom>
          <a:solidFill>
            <a:schemeClr val="accent1"/>
          </a:solidFill>
          <a:ln/>
        </p:spPr>
      </p:sp>
      <p:pic>
        <p:nvPicPr>
          <p:cNvPr id="22" name="Image 2" descr="FiClock">    </p:cNvPr>
          <p:cNvPicPr>
            <a:picLocks noChangeAspect="1"/>
          </p:cNvPicPr>
          <p:nvPr/>
        </p:nvPicPr>
        <p:blipFill>
          <a:blip r:embed="rId3"/>
          <a:stretch>
            <a:fillRect/>
          </a:stretch>
        </p:blipFill>
        <p:spPr>
          <a:xfrm>
            <a:off x="6339840" y="1325880"/>
            <a:ext cx="219456" cy="219456"/>
          </a:xfrm>
          <a:prstGeom prst="rect">
            <a:avLst/>
          </a:prstGeom>
        </p:spPr>
      </p:pic>
      <p:sp>
        <p:nvSpPr>
          <p:cNvPr id="23" name="Text 17"/>
          <p:cNvSpPr txBox="1"/>
          <p:nvPr/>
        </p:nvSpPr>
        <p:spPr>
          <a:xfrm>
            <a:off x="6778752" y="117957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Urgenza e segretezza</a:t>
            </a:r>
            <a:endParaRPr lang="en-US" sz="1300" dirty="0"/>
          </a:p>
        </p:txBody>
      </p:sp>
      <p:sp>
        <p:nvSpPr>
          <p:cNvPr id="24" name="Text 18"/>
          <p:cNvSpPr txBox="1"/>
          <p:nvPr/>
        </p:nvSpPr>
        <p:spPr>
          <a:xfrm>
            <a:off x="6230112" y="1764792"/>
            <a:ext cx="2292096" cy="475488"/>
          </a:xfrm>
          <a:prstGeom prst="rect">
            <a:avLst/>
          </a:prstGeom>
          <a:noFill/>
          <a:ln/>
        </p:spPr>
        <p:txBody>
          <a:bodyPr wrap="square" lIns="0" tIns="0" rIns="0" bIns="0" rtlCol="0" anchor="t"/>
          <a:lstStyle/>
          <a:p>
            <a:pPr indent="0" marL="0">
              <a:buNone/>
            </a:pPr>
            <a:r>
              <a:rPr lang="en-US" sz="1200" dirty="0">
                <a:solidFill>
                  <a:schemeClr val="tx2"/>
                </a:solidFill>
              </a:rPr>
              <a:t>Gli ingredienti tipici delle frodi</a:t>
            </a:r>
            <a:endParaRPr lang="en-US" sz="1200" dirty="0"/>
          </a:p>
        </p:txBody>
      </p:sp>
      <p:sp>
        <p:nvSpPr>
          <p:cNvPr id="25" name="Domande di controllo"/>
          <p:cNvSpPr/>
          <p:nvPr/>
        </p:nvSpPr>
        <p:spPr>
          <a:xfrm>
            <a:off x="457200" y="2514600"/>
            <a:ext cx="2621280" cy="1280160"/>
          </a:xfrm>
          <a:prstGeom prst="roundRect">
            <a:avLst>
              <a:gd name="adj" fmla="val 5714"/>
            </a:avLst>
          </a:prstGeom>
          <a:solidFill>
            <a:schemeClr val="bg2"/>
          </a:solidFill>
          <a:ln/>
        </p:spPr>
      </p:sp>
      <p:sp>
        <p:nvSpPr>
          <p:cNvPr id="26" name="cerchio FiKey"/>
          <p:cNvSpPr/>
          <p:nvPr/>
        </p:nvSpPr>
        <p:spPr>
          <a:xfrm>
            <a:off x="621792" y="2679192"/>
            <a:ext cx="438912" cy="438912"/>
          </a:xfrm>
          <a:prstGeom prst="ellipse">
            <a:avLst/>
          </a:prstGeom>
          <a:solidFill>
            <a:schemeClr val="accent1"/>
          </a:solidFill>
          <a:ln/>
        </p:spPr>
      </p:sp>
      <p:pic>
        <p:nvPicPr>
          <p:cNvPr id="27" name="Image 3" descr="FiKey">    </p:cNvPr>
          <p:cNvPicPr>
            <a:picLocks noChangeAspect="1"/>
          </p:cNvPicPr>
          <p:nvPr/>
        </p:nvPicPr>
        <p:blipFill>
          <a:blip r:embed="rId4"/>
          <a:stretch>
            <a:fillRect/>
          </a:stretch>
        </p:blipFill>
        <p:spPr>
          <a:xfrm>
            <a:off x="731520" y="2788920"/>
            <a:ext cx="219456" cy="219456"/>
          </a:xfrm>
          <a:prstGeom prst="rect">
            <a:avLst/>
          </a:prstGeom>
        </p:spPr>
      </p:pic>
      <p:sp>
        <p:nvSpPr>
          <p:cNvPr id="28" name="Text 21"/>
          <p:cNvSpPr txBox="1"/>
          <p:nvPr/>
        </p:nvSpPr>
        <p:spPr>
          <a:xfrm>
            <a:off x="1170432" y="264261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Domande di controllo</a:t>
            </a:r>
            <a:endParaRPr lang="en-US" sz="1300" dirty="0"/>
          </a:p>
        </p:txBody>
      </p:sp>
      <p:sp>
        <p:nvSpPr>
          <p:cNvPr id="29" name="Text 22"/>
          <p:cNvSpPr txBox="1"/>
          <p:nvPr/>
        </p:nvSpPr>
        <p:spPr>
          <a:xfrm>
            <a:off x="621792" y="3227832"/>
            <a:ext cx="2292096" cy="475488"/>
          </a:xfrm>
          <a:prstGeom prst="rect">
            <a:avLst/>
          </a:prstGeom>
          <a:noFill/>
          <a:ln/>
        </p:spPr>
        <p:txBody>
          <a:bodyPr wrap="square" lIns="0" tIns="0" rIns="0" bIns="0" rtlCol="0" anchor="t"/>
          <a:lstStyle/>
          <a:p>
            <a:pPr indent="0" marL="0">
              <a:buNone/>
            </a:pPr>
            <a:r>
              <a:rPr lang="en-US" sz="1200" dirty="0">
                <a:solidFill>
                  <a:schemeClr val="tx2"/>
                </a:solidFill>
              </a:rPr>
              <a:t>Concordate per le situazioni delicate</a:t>
            </a:r>
            <a:endParaRPr lang="en-US" sz="1200" dirty="0"/>
          </a:p>
        </p:txBody>
      </p:sp>
      <p:sp>
        <p:nvSpPr>
          <p:cNvPr id="30" name="Segnalare"/>
          <p:cNvSpPr/>
          <p:nvPr/>
        </p:nvSpPr>
        <p:spPr>
          <a:xfrm>
            <a:off x="3261360" y="2514600"/>
            <a:ext cx="2621280" cy="1280160"/>
          </a:xfrm>
          <a:prstGeom prst="roundRect">
            <a:avLst>
              <a:gd name="adj" fmla="val 5714"/>
            </a:avLst>
          </a:prstGeom>
          <a:solidFill>
            <a:schemeClr val="bg2"/>
          </a:solidFill>
          <a:ln/>
        </p:spPr>
      </p:sp>
      <p:sp>
        <p:nvSpPr>
          <p:cNvPr id="31" name="cerchio FiFlag"/>
          <p:cNvSpPr/>
          <p:nvPr/>
        </p:nvSpPr>
        <p:spPr>
          <a:xfrm>
            <a:off x="3425952" y="2679192"/>
            <a:ext cx="438912" cy="438912"/>
          </a:xfrm>
          <a:prstGeom prst="ellipse">
            <a:avLst/>
          </a:prstGeom>
          <a:solidFill>
            <a:schemeClr val="accent1"/>
          </a:solidFill>
          <a:ln/>
        </p:spPr>
      </p:sp>
      <p:pic>
        <p:nvPicPr>
          <p:cNvPr id="32" name="Image 4" descr="FiFlag">    </p:cNvPr>
          <p:cNvPicPr>
            <a:picLocks noChangeAspect="1"/>
          </p:cNvPicPr>
          <p:nvPr/>
        </p:nvPicPr>
        <p:blipFill>
          <a:blip r:embed="rId5"/>
          <a:stretch>
            <a:fillRect/>
          </a:stretch>
        </p:blipFill>
        <p:spPr>
          <a:xfrm>
            <a:off x="3535680" y="2788920"/>
            <a:ext cx="219456" cy="219456"/>
          </a:xfrm>
          <a:prstGeom prst="rect">
            <a:avLst/>
          </a:prstGeom>
        </p:spPr>
      </p:pic>
      <p:sp>
        <p:nvSpPr>
          <p:cNvPr id="33" name="Text 25"/>
          <p:cNvSpPr txBox="1"/>
          <p:nvPr/>
        </p:nvSpPr>
        <p:spPr>
          <a:xfrm>
            <a:off x="3974592" y="264261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Segnalare</a:t>
            </a:r>
            <a:endParaRPr lang="en-US" sz="1300" dirty="0"/>
          </a:p>
        </p:txBody>
      </p:sp>
      <p:sp>
        <p:nvSpPr>
          <p:cNvPr id="34" name="Text 26"/>
          <p:cNvSpPr txBox="1"/>
          <p:nvPr/>
        </p:nvSpPr>
        <p:spPr>
          <a:xfrm>
            <a:off x="3425952" y="3227832"/>
            <a:ext cx="2292096" cy="475488"/>
          </a:xfrm>
          <a:prstGeom prst="rect">
            <a:avLst/>
          </a:prstGeom>
          <a:noFill/>
          <a:ln/>
        </p:spPr>
        <p:txBody>
          <a:bodyPr wrap="square" lIns="0" tIns="0" rIns="0" bIns="0" rtlCol="0" anchor="t"/>
          <a:lstStyle/>
          <a:p>
            <a:pPr indent="0" marL="0">
              <a:buNone/>
            </a:pPr>
            <a:r>
              <a:rPr lang="en-US" sz="1200" dirty="0">
                <a:solidFill>
                  <a:schemeClr val="tx2"/>
                </a:solidFill>
              </a:rPr>
              <a:t>In caso di dubbio, alla sicurezza aziendale</a:t>
            </a:r>
            <a:endParaRPr lang="en-US" sz="1200" dirty="0"/>
          </a:p>
        </p:txBody>
      </p:sp>
      <p:sp>
        <p:nvSpPr>
          <p:cNvPr id="35" name="Non solo riconoscere"/>
          <p:cNvSpPr/>
          <p:nvPr/>
        </p:nvSpPr>
        <p:spPr>
          <a:xfrm>
            <a:off x="6065520" y="2514600"/>
            <a:ext cx="2621280" cy="1280160"/>
          </a:xfrm>
          <a:prstGeom prst="roundRect">
            <a:avLst>
              <a:gd name="adj" fmla="val 5714"/>
            </a:avLst>
          </a:prstGeom>
          <a:solidFill>
            <a:schemeClr val="accent6"/>
          </a:solidFill>
          <a:ln/>
        </p:spPr>
      </p:sp>
      <p:sp>
        <p:nvSpPr>
          <p:cNvPr id="36" name="cerchio FiShield"/>
          <p:cNvSpPr/>
          <p:nvPr/>
        </p:nvSpPr>
        <p:spPr>
          <a:xfrm>
            <a:off x="6230112" y="2679192"/>
            <a:ext cx="438912" cy="438912"/>
          </a:xfrm>
          <a:prstGeom prst="ellipse">
            <a:avLst/>
          </a:prstGeom>
          <a:solidFill>
            <a:schemeClr val="accent1"/>
          </a:solidFill>
          <a:ln/>
        </p:spPr>
      </p:sp>
      <p:pic>
        <p:nvPicPr>
          <p:cNvPr id="37" name="Image 5" descr="FiShield">    </p:cNvPr>
          <p:cNvPicPr>
            <a:picLocks noChangeAspect="1"/>
          </p:cNvPicPr>
          <p:nvPr/>
        </p:nvPicPr>
        <p:blipFill>
          <a:blip r:embed="rId6"/>
          <a:stretch>
            <a:fillRect/>
          </a:stretch>
        </p:blipFill>
        <p:spPr>
          <a:xfrm>
            <a:off x="6339840" y="2788920"/>
            <a:ext cx="219456" cy="219456"/>
          </a:xfrm>
          <a:prstGeom prst="rect">
            <a:avLst/>
          </a:prstGeom>
        </p:spPr>
      </p:pic>
      <p:sp>
        <p:nvSpPr>
          <p:cNvPr id="38" name="Text 29"/>
          <p:cNvSpPr txBox="1"/>
          <p:nvPr/>
        </p:nvSpPr>
        <p:spPr>
          <a:xfrm>
            <a:off x="6778752" y="264261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Non solo riconoscere</a:t>
            </a:r>
            <a:endParaRPr lang="en-US" sz="1300" dirty="0"/>
          </a:p>
        </p:txBody>
      </p:sp>
      <p:sp>
        <p:nvSpPr>
          <p:cNvPr id="39" name="Text 30"/>
          <p:cNvSpPr txBox="1"/>
          <p:nvPr/>
        </p:nvSpPr>
        <p:spPr>
          <a:xfrm>
            <a:off x="6230112" y="3227832"/>
            <a:ext cx="2292096" cy="475488"/>
          </a:xfrm>
          <a:prstGeom prst="rect">
            <a:avLst/>
          </a:prstGeom>
          <a:noFill/>
          <a:ln/>
        </p:spPr>
        <p:txBody>
          <a:bodyPr wrap="square" lIns="0" tIns="0" rIns="0" bIns="0" rtlCol="0" anchor="t"/>
          <a:lstStyle/>
          <a:p>
            <a:pPr indent="0" marL="0">
              <a:buNone/>
            </a:pPr>
            <a:r>
              <a:rPr lang="en-US" sz="1200" dirty="0">
                <a:solidFill>
                  <a:schemeClr val="tx2"/>
                </a:solidFill>
              </a:rPr>
              <a:t>Voce e volto non bastano più</a:t>
            </a:r>
            <a:endParaRPr lang="en-US" sz="1200" dirty="0"/>
          </a:p>
        </p:txBody>
      </p:sp>
      <p:sp>
        <p:nvSpPr>
          <p:cNvPr id="40" name="messaggio"/>
          <p:cNvSpPr/>
          <p:nvPr/>
        </p:nvSpPr>
        <p:spPr>
          <a:xfrm>
            <a:off x="457200" y="3977640"/>
            <a:ext cx="8229600" cy="548640"/>
          </a:xfrm>
          <a:prstGeom prst="roundRect">
            <a:avLst>
              <a:gd name="adj" fmla="val 13333"/>
            </a:avLst>
          </a:prstGeom>
          <a:solidFill>
            <a:schemeClr val="tx1"/>
          </a:solidFill>
          <a:ln/>
        </p:spPr>
      </p:sp>
      <p:sp>
        <p:nvSpPr>
          <p:cNvPr id="41" name="Text 32"/>
          <p:cNvSpPr txBox="1"/>
          <p:nvPr/>
        </p:nvSpPr>
        <p:spPr>
          <a:xfrm>
            <a:off x="640080" y="3977640"/>
            <a:ext cx="7863840" cy="548640"/>
          </a:xfrm>
          <a:prstGeom prst="rect">
            <a:avLst/>
          </a:prstGeom>
          <a:noFill/>
          <a:ln/>
        </p:spPr>
        <p:txBody>
          <a:bodyPr wrap="square" lIns="0" tIns="0" rIns="0" bIns="0" rtlCol="0" anchor="ctr"/>
          <a:lstStyle/>
          <a:p>
            <a:pPr indent="0" marL="0">
              <a:buNone/>
            </a:pPr>
            <a:r>
              <a:rPr lang="en-US" sz="1400" dirty="0">
                <a:solidFill>
                  <a:schemeClr val="bg1"/>
                </a:solidFill>
              </a:rPr>
              <a:t>Verificare una richiesta del proprio superiore è una procedura, non una mancanza di fiducia.</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Comunicazione fuorviante</a:t>
            </a:r>
            <a:endParaRPr lang="en-US" sz="2600" dirty="0"/>
          </a:p>
        </p:txBody>
      </p:sp>
      <p:sp>
        <p:nvSpPr>
          <p:cNvPr id="4" name="operazione Interpretare"/>
          <p:cNvSpPr/>
          <p:nvPr/>
        </p:nvSpPr>
        <p:spPr>
          <a:xfrm>
            <a:off x="6053328" y="384048"/>
            <a:ext cx="841248"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6053328" y="384048"/>
            <a:ext cx="841248" cy="237744"/>
          </a:xfrm>
          <a:prstGeom prst="rect">
            <a:avLst/>
          </a:prstGeom>
          <a:noFill/>
          <a:ln/>
        </p:spPr>
        <p:txBody>
          <a:bodyPr wrap="square" lIns="0" tIns="0" rIns="0" bIns="0" rtlCol="0" anchor="ctr"/>
          <a:lstStyle/>
          <a:p>
            <a:pPr algn="ctr" indent="0" marL="0">
              <a:buNone/>
            </a:pPr>
            <a:r>
              <a:rPr lang="en-US" sz="900" b="1" dirty="0">
                <a:solidFill>
                  <a:schemeClr val="accent1"/>
                </a:solidFill>
              </a:rPr>
              <a:t>Interpretare</a:t>
            </a:r>
            <a:endParaRPr lang="en-US" sz="900" dirty="0"/>
          </a:p>
        </p:txBody>
      </p:sp>
      <p:sp>
        <p:nvSpPr>
          <p:cNvPr id="6" name="operazione Generare"/>
          <p:cNvSpPr/>
          <p:nvPr/>
        </p:nvSpPr>
        <p:spPr>
          <a:xfrm>
            <a:off x="6940296" y="384048"/>
            <a:ext cx="841248"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940296" y="384048"/>
            <a:ext cx="841248" cy="237744"/>
          </a:xfrm>
          <a:prstGeom prst="rect">
            <a:avLst/>
          </a:prstGeom>
          <a:noFill/>
          <a:ln/>
        </p:spPr>
        <p:txBody>
          <a:bodyPr wrap="square" lIns="0" tIns="0" rIns="0" bIns="0" rtlCol="0" anchor="ctr"/>
          <a:lstStyle/>
          <a:p>
            <a:pPr algn="ctr" indent="0" marL="0">
              <a:buNone/>
            </a:pPr>
            <a:r>
              <a:rPr lang="en-US" sz="900" b="1" dirty="0">
                <a:solidFill>
                  <a:schemeClr val="bg1"/>
                </a:solidFill>
              </a:rPr>
              <a:t>Generare</a:t>
            </a:r>
            <a:endParaRPr lang="en-US" sz="900" dirty="0"/>
          </a:p>
        </p:txBody>
      </p:sp>
      <p:sp>
        <p:nvSpPr>
          <p:cNvPr id="8" name="operazione Trasformare"/>
          <p:cNvSpPr/>
          <p:nvPr/>
        </p:nvSpPr>
        <p:spPr>
          <a:xfrm>
            <a:off x="7827264" y="384048"/>
            <a:ext cx="841248"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7827264" y="384048"/>
            <a:ext cx="841248" cy="237744"/>
          </a:xfrm>
          <a:prstGeom prst="rect">
            <a:avLst/>
          </a:prstGeom>
          <a:noFill/>
          <a:ln/>
        </p:spPr>
        <p:txBody>
          <a:bodyPr wrap="square" lIns="0" tIns="0" rIns="0" bIns="0" rtlCol="0" anchor="ctr"/>
          <a:lstStyle/>
          <a:p>
            <a:pPr algn="ctr" indent="0" marL="0">
              <a:buNone/>
            </a:pPr>
            <a:r>
              <a:rPr lang="en-US" sz="900" b="1" dirty="0">
                <a:solidFill>
                  <a:schemeClr val="bg1"/>
                </a:solidFill>
              </a:rPr>
              <a:t>Trasformare</a:t>
            </a:r>
            <a:endParaRPr lang="en-US" sz="900" dirty="0"/>
          </a:p>
        </p:txBody>
      </p:sp>
      <p:sp>
        <p:nvSpPr>
          <p:cNvPr id="10" name="Immagini come foto"/>
          <p:cNvSpPr/>
          <p:nvPr/>
        </p:nvSpPr>
        <p:spPr>
          <a:xfrm>
            <a:off x="457200" y="1051560"/>
            <a:ext cx="8229600" cy="457200"/>
          </a:xfrm>
          <a:prstGeom prst="roundRect">
            <a:avLst>
              <a:gd name="adj" fmla="val 16000"/>
            </a:avLst>
          </a:prstGeom>
          <a:solidFill>
            <a:schemeClr val="bg2"/>
          </a:solidFill>
          <a:ln/>
        </p:spPr>
      </p:sp>
      <p:sp>
        <p:nvSpPr>
          <p:cNvPr id="11" name="Text 8"/>
          <p:cNvSpPr txBox="1"/>
          <p:nvPr/>
        </p:nvSpPr>
        <p:spPr>
          <a:xfrm>
            <a:off x="640080" y="1051560"/>
            <a:ext cx="2377440" cy="457200"/>
          </a:xfrm>
          <a:prstGeom prst="rect">
            <a:avLst/>
          </a:prstGeom>
          <a:noFill/>
          <a:ln/>
        </p:spPr>
        <p:txBody>
          <a:bodyPr wrap="square" lIns="0" tIns="0" rIns="0" bIns="0" rtlCol="0" anchor="ctr"/>
          <a:lstStyle/>
          <a:p>
            <a:pPr indent="0" marL="0">
              <a:buNone/>
            </a:pPr>
            <a:r>
              <a:rPr lang="en-US" sz="1300" b="1" dirty="0">
                <a:solidFill>
                  <a:schemeClr val="accent1"/>
                </a:solidFill>
              </a:rPr>
              <a:t>Immagini come foto</a:t>
            </a:r>
            <a:endParaRPr lang="en-US" sz="1300" dirty="0"/>
          </a:p>
        </p:txBody>
      </p:sp>
      <p:sp>
        <p:nvSpPr>
          <p:cNvPr id="12" name="Text 9"/>
          <p:cNvSpPr txBox="1"/>
          <p:nvPr/>
        </p:nvSpPr>
        <p:spPr>
          <a:xfrm>
            <a:off x="3017520" y="1051560"/>
            <a:ext cx="5486400" cy="457200"/>
          </a:xfrm>
          <a:prstGeom prst="rect">
            <a:avLst/>
          </a:prstGeom>
          <a:noFill/>
          <a:ln/>
        </p:spPr>
        <p:txBody>
          <a:bodyPr wrap="square" lIns="0" tIns="0" rIns="0" bIns="0" rtlCol="0" anchor="ctr"/>
          <a:lstStyle/>
          <a:p>
            <a:pPr indent="0" marL="0">
              <a:buNone/>
            </a:pPr>
            <a:r>
              <a:rPr lang="en-US" sz="1200" dirty="0">
                <a:solidFill>
                  <a:schemeClr val="tx1"/>
                </a:solidFill>
              </a:rPr>
              <a:t>Prodotti, sedi, eventi generati che sembrano reali</a:t>
            </a:r>
            <a:endParaRPr lang="en-US" sz="1200" dirty="0"/>
          </a:p>
        </p:txBody>
      </p:sp>
      <p:sp>
        <p:nvSpPr>
          <p:cNvPr id="13" name="Persone inesistenti"/>
          <p:cNvSpPr/>
          <p:nvPr/>
        </p:nvSpPr>
        <p:spPr>
          <a:xfrm>
            <a:off x="457200" y="1581912"/>
            <a:ext cx="8229600" cy="457200"/>
          </a:xfrm>
          <a:prstGeom prst="roundRect">
            <a:avLst>
              <a:gd name="adj" fmla="val 16000"/>
            </a:avLst>
          </a:prstGeom>
          <a:solidFill>
            <a:schemeClr val="bg1"/>
          </a:solidFill>
          <a:ln/>
        </p:spPr>
      </p:sp>
      <p:sp>
        <p:nvSpPr>
          <p:cNvPr id="14" name="Text 11"/>
          <p:cNvSpPr txBox="1"/>
          <p:nvPr/>
        </p:nvSpPr>
        <p:spPr>
          <a:xfrm>
            <a:off x="640080" y="1581912"/>
            <a:ext cx="2377440" cy="457200"/>
          </a:xfrm>
          <a:prstGeom prst="rect">
            <a:avLst/>
          </a:prstGeom>
          <a:noFill/>
          <a:ln/>
        </p:spPr>
        <p:txBody>
          <a:bodyPr wrap="square" lIns="0" tIns="0" rIns="0" bIns="0" rtlCol="0" anchor="ctr"/>
          <a:lstStyle/>
          <a:p>
            <a:pPr indent="0" marL="0">
              <a:buNone/>
            </a:pPr>
            <a:r>
              <a:rPr lang="en-US" sz="1300" b="1" dirty="0">
                <a:solidFill>
                  <a:schemeClr val="accent1"/>
                </a:solidFill>
              </a:rPr>
              <a:t>Persone inesistenti</a:t>
            </a:r>
            <a:endParaRPr lang="en-US" sz="1300" dirty="0"/>
          </a:p>
        </p:txBody>
      </p:sp>
      <p:sp>
        <p:nvSpPr>
          <p:cNvPr id="15" name="Text 12"/>
          <p:cNvSpPr txBox="1"/>
          <p:nvPr/>
        </p:nvSpPr>
        <p:spPr>
          <a:xfrm>
            <a:off x="3017520" y="1581912"/>
            <a:ext cx="5486400" cy="457200"/>
          </a:xfrm>
          <a:prstGeom prst="rect">
            <a:avLst/>
          </a:prstGeom>
          <a:noFill/>
          <a:ln/>
        </p:spPr>
        <p:txBody>
          <a:bodyPr wrap="square" lIns="0" tIns="0" rIns="0" bIns="0" rtlCol="0" anchor="ctr"/>
          <a:lstStyle/>
          <a:p>
            <a:pPr indent="0" marL="0">
              <a:buNone/>
            </a:pPr>
            <a:r>
              <a:rPr lang="en-US" sz="1200" dirty="0">
                <a:solidFill>
                  <a:schemeClr val="tx1"/>
                </a:solidFill>
              </a:rPr>
              <a:t>'Clienti' o 'dipendenti' in finte testimonianze</a:t>
            </a:r>
            <a:endParaRPr lang="en-US" sz="1200" dirty="0"/>
          </a:p>
        </p:txBody>
      </p:sp>
      <p:sp>
        <p:nvSpPr>
          <p:cNvPr id="16" name="Ritocchi eccessivi"/>
          <p:cNvSpPr/>
          <p:nvPr/>
        </p:nvSpPr>
        <p:spPr>
          <a:xfrm>
            <a:off x="457200" y="2112264"/>
            <a:ext cx="8229600" cy="457200"/>
          </a:xfrm>
          <a:prstGeom prst="roundRect">
            <a:avLst>
              <a:gd name="adj" fmla="val 16000"/>
            </a:avLst>
          </a:prstGeom>
          <a:solidFill>
            <a:schemeClr val="bg2"/>
          </a:solidFill>
          <a:ln/>
        </p:spPr>
      </p:sp>
      <p:sp>
        <p:nvSpPr>
          <p:cNvPr id="17" name="Text 14"/>
          <p:cNvSpPr txBox="1"/>
          <p:nvPr/>
        </p:nvSpPr>
        <p:spPr>
          <a:xfrm>
            <a:off x="640080" y="2112264"/>
            <a:ext cx="2377440" cy="457200"/>
          </a:xfrm>
          <a:prstGeom prst="rect">
            <a:avLst/>
          </a:prstGeom>
          <a:noFill/>
          <a:ln/>
        </p:spPr>
        <p:txBody>
          <a:bodyPr wrap="square" lIns="0" tIns="0" rIns="0" bIns="0" rtlCol="0" anchor="ctr"/>
          <a:lstStyle/>
          <a:p>
            <a:pPr indent="0" marL="0">
              <a:buNone/>
            </a:pPr>
            <a:r>
              <a:rPr lang="en-US" sz="1300" b="1" dirty="0">
                <a:solidFill>
                  <a:schemeClr val="accent1"/>
                </a:solidFill>
              </a:rPr>
              <a:t>Ritocchi eccessivi</a:t>
            </a:r>
            <a:endParaRPr lang="en-US" sz="1300" dirty="0"/>
          </a:p>
        </p:txBody>
      </p:sp>
      <p:sp>
        <p:nvSpPr>
          <p:cNvPr id="18" name="Text 15"/>
          <p:cNvSpPr txBox="1"/>
          <p:nvPr/>
        </p:nvSpPr>
        <p:spPr>
          <a:xfrm>
            <a:off x="3017520" y="2112264"/>
            <a:ext cx="5486400" cy="457200"/>
          </a:xfrm>
          <a:prstGeom prst="rect">
            <a:avLst/>
          </a:prstGeom>
          <a:noFill/>
          <a:ln/>
        </p:spPr>
        <p:txBody>
          <a:bodyPr wrap="square" lIns="0" tIns="0" rIns="0" bIns="0" rtlCol="0" anchor="ctr"/>
          <a:lstStyle/>
          <a:p>
            <a:pPr indent="0" marL="0">
              <a:buNone/>
            </a:pPr>
            <a:r>
              <a:rPr lang="en-US" sz="1200" dirty="0">
                <a:solidFill>
                  <a:schemeClr val="tx1"/>
                </a:solidFill>
              </a:rPr>
              <a:t>Un prodotto o un luogo migliore di quanto sia</a:t>
            </a:r>
            <a:endParaRPr lang="en-US" sz="1200" dirty="0"/>
          </a:p>
        </p:txBody>
      </p:sp>
      <p:sp>
        <p:nvSpPr>
          <p:cNvPr id="19" name="Voci e presentatori"/>
          <p:cNvSpPr/>
          <p:nvPr/>
        </p:nvSpPr>
        <p:spPr>
          <a:xfrm>
            <a:off x="457200" y="2642616"/>
            <a:ext cx="8229600" cy="457200"/>
          </a:xfrm>
          <a:prstGeom prst="roundRect">
            <a:avLst>
              <a:gd name="adj" fmla="val 16000"/>
            </a:avLst>
          </a:prstGeom>
          <a:solidFill>
            <a:schemeClr val="bg1"/>
          </a:solidFill>
          <a:ln/>
        </p:spPr>
      </p:sp>
      <p:sp>
        <p:nvSpPr>
          <p:cNvPr id="20" name="Text 17"/>
          <p:cNvSpPr txBox="1"/>
          <p:nvPr/>
        </p:nvSpPr>
        <p:spPr>
          <a:xfrm>
            <a:off x="640080" y="2642616"/>
            <a:ext cx="2377440" cy="457200"/>
          </a:xfrm>
          <a:prstGeom prst="rect">
            <a:avLst/>
          </a:prstGeom>
          <a:noFill/>
          <a:ln/>
        </p:spPr>
        <p:txBody>
          <a:bodyPr wrap="square" lIns="0" tIns="0" rIns="0" bIns="0" rtlCol="0" anchor="ctr"/>
          <a:lstStyle/>
          <a:p>
            <a:pPr indent="0" marL="0">
              <a:buNone/>
            </a:pPr>
            <a:r>
              <a:rPr lang="en-US" sz="1300" b="1" dirty="0">
                <a:solidFill>
                  <a:schemeClr val="accent1"/>
                </a:solidFill>
              </a:rPr>
              <a:t>Voci e presentatori</a:t>
            </a:r>
            <a:endParaRPr lang="en-US" sz="1300" dirty="0"/>
          </a:p>
        </p:txBody>
      </p:sp>
      <p:sp>
        <p:nvSpPr>
          <p:cNvPr id="21" name="Text 18"/>
          <p:cNvSpPr txBox="1"/>
          <p:nvPr/>
        </p:nvSpPr>
        <p:spPr>
          <a:xfrm>
            <a:off x="3017520" y="2642616"/>
            <a:ext cx="5486400" cy="457200"/>
          </a:xfrm>
          <a:prstGeom prst="rect">
            <a:avLst/>
          </a:prstGeom>
          <a:noFill/>
          <a:ln/>
        </p:spPr>
        <p:txBody>
          <a:bodyPr wrap="square" lIns="0" tIns="0" rIns="0" bIns="0" rtlCol="0" anchor="ctr"/>
          <a:lstStyle/>
          <a:p>
            <a:pPr indent="0" marL="0">
              <a:buNone/>
            </a:pPr>
            <a:r>
              <a:rPr lang="en-US" sz="1200" dirty="0">
                <a:solidFill>
                  <a:schemeClr val="tx1"/>
                </a:solidFill>
              </a:rPr>
              <a:t>Sintetici, senza chiarire che non sono persone</a:t>
            </a:r>
            <a:endParaRPr lang="en-US" sz="1200" dirty="0"/>
          </a:p>
        </p:txBody>
      </p:sp>
      <p:sp>
        <p:nvSpPr>
          <p:cNvPr id="22" name="Ricostruzioni"/>
          <p:cNvSpPr/>
          <p:nvPr/>
        </p:nvSpPr>
        <p:spPr>
          <a:xfrm>
            <a:off x="457200" y="3172968"/>
            <a:ext cx="8229600" cy="457200"/>
          </a:xfrm>
          <a:prstGeom prst="roundRect">
            <a:avLst>
              <a:gd name="adj" fmla="val 16000"/>
            </a:avLst>
          </a:prstGeom>
          <a:solidFill>
            <a:schemeClr val="bg2"/>
          </a:solidFill>
          <a:ln/>
        </p:spPr>
      </p:sp>
      <p:sp>
        <p:nvSpPr>
          <p:cNvPr id="23" name="Text 20"/>
          <p:cNvSpPr txBox="1"/>
          <p:nvPr/>
        </p:nvSpPr>
        <p:spPr>
          <a:xfrm>
            <a:off x="640080" y="3172968"/>
            <a:ext cx="2377440" cy="457200"/>
          </a:xfrm>
          <a:prstGeom prst="rect">
            <a:avLst/>
          </a:prstGeom>
          <a:noFill/>
          <a:ln/>
        </p:spPr>
        <p:txBody>
          <a:bodyPr wrap="square" lIns="0" tIns="0" rIns="0" bIns="0" rtlCol="0" anchor="ctr"/>
          <a:lstStyle/>
          <a:p>
            <a:pPr indent="0" marL="0">
              <a:buNone/>
            </a:pPr>
            <a:r>
              <a:rPr lang="en-US" sz="1300" b="1" dirty="0">
                <a:solidFill>
                  <a:schemeClr val="accent1"/>
                </a:solidFill>
              </a:rPr>
              <a:t>Ricostruzioni</a:t>
            </a:r>
            <a:endParaRPr lang="en-US" sz="1300" dirty="0"/>
          </a:p>
        </p:txBody>
      </p:sp>
      <p:sp>
        <p:nvSpPr>
          <p:cNvPr id="24" name="Text 21"/>
          <p:cNvSpPr txBox="1"/>
          <p:nvPr/>
        </p:nvSpPr>
        <p:spPr>
          <a:xfrm>
            <a:off x="3017520" y="3172968"/>
            <a:ext cx="5486400" cy="457200"/>
          </a:xfrm>
          <a:prstGeom prst="rect">
            <a:avLst/>
          </a:prstGeom>
          <a:noFill/>
          <a:ln/>
        </p:spPr>
        <p:txBody>
          <a:bodyPr wrap="square" lIns="0" tIns="0" rIns="0" bIns="0" rtlCol="0" anchor="ctr"/>
          <a:lstStyle/>
          <a:p>
            <a:pPr indent="0" marL="0">
              <a:buNone/>
            </a:pPr>
            <a:r>
              <a:rPr lang="en-US" sz="1200" dirty="0">
                <a:solidFill>
                  <a:schemeClr val="tx1"/>
                </a:solidFill>
              </a:rPr>
              <a:t>Presentate come documentazione</a:t>
            </a:r>
            <a:endParaRPr lang="en-US" sz="1200" dirty="0"/>
          </a:p>
        </p:txBody>
      </p:sp>
      <p:sp>
        <p:nvSpPr>
          <p:cNvPr id="25" name="messaggio"/>
          <p:cNvSpPr/>
          <p:nvPr/>
        </p:nvSpPr>
        <p:spPr>
          <a:xfrm>
            <a:off x="457200" y="3749040"/>
            <a:ext cx="8229600" cy="777240"/>
          </a:xfrm>
          <a:prstGeom prst="roundRect">
            <a:avLst>
              <a:gd name="adj" fmla="val 9412"/>
            </a:avLst>
          </a:prstGeom>
          <a:solidFill>
            <a:schemeClr val="tx1"/>
          </a:solidFill>
          <a:ln/>
        </p:spPr>
      </p:sp>
      <p:sp>
        <p:nvSpPr>
          <p:cNvPr id="26" name="Text 23"/>
          <p:cNvSpPr txBox="1"/>
          <p:nvPr/>
        </p:nvSpPr>
        <p:spPr>
          <a:xfrm>
            <a:off x="640080" y="3749040"/>
            <a:ext cx="7863840" cy="777240"/>
          </a:xfrm>
          <a:prstGeom prst="rect">
            <a:avLst/>
          </a:prstGeom>
          <a:noFill/>
          <a:ln/>
        </p:spPr>
        <p:txBody>
          <a:bodyPr wrap="square" lIns="0" tIns="0" rIns="0" bIns="0" rtlCol="0" anchor="ctr"/>
          <a:lstStyle/>
          <a:p>
            <a:pPr indent="0" marL="0">
              <a:buNone/>
            </a:pPr>
            <a:r>
              <a:rPr lang="en-US" sz="1300" dirty="0">
                <a:solidFill>
                  <a:schemeClr val="bg1"/>
                </a:solidFill>
              </a:rPr>
              <a:t>Principio guida: trasparenza. Dal 2 agosto 2026 l'AI Act chiede di dichiarare i contenuti deepfake (art. 50).</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Diritti su contenuti, immagini, voci</a:t>
            </a:r>
            <a:endParaRPr lang="en-US" sz="2600" dirty="0"/>
          </a:p>
        </p:txBody>
      </p:sp>
      <p:sp>
        <p:nvSpPr>
          <p:cNvPr id="4" name="operazione Interpretare"/>
          <p:cNvSpPr/>
          <p:nvPr/>
        </p:nvSpPr>
        <p:spPr>
          <a:xfrm>
            <a:off x="6053328" y="384048"/>
            <a:ext cx="841248"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6053328" y="384048"/>
            <a:ext cx="841248" cy="237744"/>
          </a:xfrm>
          <a:prstGeom prst="rect">
            <a:avLst/>
          </a:prstGeom>
          <a:noFill/>
          <a:ln/>
        </p:spPr>
        <p:txBody>
          <a:bodyPr wrap="square" lIns="0" tIns="0" rIns="0" bIns="0" rtlCol="0" anchor="ctr"/>
          <a:lstStyle/>
          <a:p>
            <a:pPr algn="ctr" indent="0" marL="0">
              <a:buNone/>
            </a:pPr>
            <a:r>
              <a:rPr lang="en-US" sz="900" b="1" dirty="0">
                <a:solidFill>
                  <a:schemeClr val="accent1"/>
                </a:solidFill>
              </a:rPr>
              <a:t>Interpretare</a:t>
            </a:r>
            <a:endParaRPr lang="en-US" sz="900" dirty="0"/>
          </a:p>
        </p:txBody>
      </p:sp>
      <p:sp>
        <p:nvSpPr>
          <p:cNvPr id="6" name="operazione Generare"/>
          <p:cNvSpPr/>
          <p:nvPr/>
        </p:nvSpPr>
        <p:spPr>
          <a:xfrm>
            <a:off x="6940296" y="384048"/>
            <a:ext cx="841248" cy="237744"/>
          </a:xfrm>
          <a:prstGeom prst="roundRect">
            <a:avLst>
              <a:gd name="adj" fmla="val 50000"/>
            </a:avLst>
          </a:prstGeom>
          <a:solidFill>
            <a:schemeClr val="accent1"/>
          </a:solidFill>
          <a:ln w="9525">
            <a:solidFill>
              <a:schemeClr val="accent1"/>
            </a:solidFill>
            <a:prstDash val="solid"/>
          </a:ln>
        </p:spPr>
      </p:sp>
      <p:sp>
        <p:nvSpPr>
          <p:cNvPr id="7" name="Text 4"/>
          <p:cNvSpPr txBox="1"/>
          <p:nvPr/>
        </p:nvSpPr>
        <p:spPr>
          <a:xfrm>
            <a:off x="6940296" y="384048"/>
            <a:ext cx="841248" cy="237744"/>
          </a:xfrm>
          <a:prstGeom prst="rect">
            <a:avLst/>
          </a:prstGeom>
          <a:noFill/>
          <a:ln/>
        </p:spPr>
        <p:txBody>
          <a:bodyPr wrap="square" lIns="0" tIns="0" rIns="0" bIns="0" rtlCol="0" anchor="ctr"/>
          <a:lstStyle/>
          <a:p>
            <a:pPr algn="ctr" indent="0" marL="0">
              <a:buNone/>
            </a:pPr>
            <a:r>
              <a:rPr lang="en-US" sz="900" b="1" dirty="0">
                <a:solidFill>
                  <a:schemeClr val="bg1"/>
                </a:solidFill>
              </a:rPr>
              <a:t>Generare</a:t>
            </a:r>
            <a:endParaRPr lang="en-US" sz="900" dirty="0"/>
          </a:p>
        </p:txBody>
      </p:sp>
      <p:sp>
        <p:nvSpPr>
          <p:cNvPr id="8" name="operazione Trasformare"/>
          <p:cNvSpPr/>
          <p:nvPr/>
        </p:nvSpPr>
        <p:spPr>
          <a:xfrm>
            <a:off x="7827264" y="384048"/>
            <a:ext cx="841248" cy="237744"/>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7827264" y="384048"/>
            <a:ext cx="841248" cy="237744"/>
          </a:xfrm>
          <a:prstGeom prst="rect">
            <a:avLst/>
          </a:prstGeom>
          <a:noFill/>
          <a:ln/>
        </p:spPr>
        <p:txBody>
          <a:bodyPr wrap="square" lIns="0" tIns="0" rIns="0" bIns="0" rtlCol="0" anchor="ctr"/>
          <a:lstStyle/>
          <a:p>
            <a:pPr algn="ctr" indent="0" marL="0">
              <a:buNone/>
            </a:pPr>
            <a:r>
              <a:rPr lang="en-US" sz="900" b="1" dirty="0">
                <a:solidFill>
                  <a:schemeClr val="bg1"/>
                </a:solidFill>
              </a:rPr>
              <a:t>Trasformare</a:t>
            </a:r>
            <a:endParaRPr lang="en-US" sz="900" dirty="0"/>
          </a:p>
        </p:txBody>
      </p:sp>
      <p:sp>
        <p:nvSpPr>
          <p:cNvPr id="10" name="Contenuti di partenza"/>
          <p:cNvSpPr/>
          <p:nvPr/>
        </p:nvSpPr>
        <p:spPr>
          <a:xfrm>
            <a:off x="457200" y="1051560"/>
            <a:ext cx="2621280" cy="1280160"/>
          </a:xfrm>
          <a:prstGeom prst="roundRect">
            <a:avLst>
              <a:gd name="adj" fmla="val 5714"/>
            </a:avLst>
          </a:prstGeom>
          <a:solidFill>
            <a:schemeClr val="bg2"/>
          </a:solidFill>
          <a:ln/>
        </p:spPr>
      </p:sp>
      <p:sp>
        <p:nvSpPr>
          <p:cNvPr id="11" name="cerchio FiFile"/>
          <p:cNvSpPr/>
          <p:nvPr/>
        </p:nvSpPr>
        <p:spPr>
          <a:xfrm>
            <a:off x="621792" y="1216152"/>
            <a:ext cx="438912" cy="438912"/>
          </a:xfrm>
          <a:prstGeom prst="ellipse">
            <a:avLst/>
          </a:prstGeom>
          <a:solidFill>
            <a:schemeClr val="accent1"/>
          </a:solidFill>
          <a:ln/>
        </p:spPr>
      </p:sp>
      <p:pic>
        <p:nvPicPr>
          <p:cNvPr id="12" name="Image 0" descr="FiFile">    </p:cNvPr>
          <p:cNvPicPr>
            <a:picLocks noChangeAspect="1"/>
          </p:cNvPicPr>
          <p:nvPr/>
        </p:nvPicPr>
        <p:blipFill>
          <a:blip r:embed="rId1"/>
          <a:stretch>
            <a:fillRect/>
          </a:stretch>
        </p:blipFill>
        <p:spPr>
          <a:xfrm>
            <a:off x="731520" y="1325880"/>
            <a:ext cx="219456" cy="219456"/>
          </a:xfrm>
          <a:prstGeom prst="rect">
            <a:avLst/>
          </a:prstGeom>
        </p:spPr>
      </p:pic>
      <p:sp>
        <p:nvSpPr>
          <p:cNvPr id="13" name="Text 9"/>
          <p:cNvSpPr txBox="1"/>
          <p:nvPr/>
        </p:nvSpPr>
        <p:spPr>
          <a:xfrm>
            <a:off x="1170432" y="117957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Contenuti di partenza</a:t>
            </a:r>
            <a:endParaRPr lang="en-US" sz="1300" dirty="0"/>
          </a:p>
        </p:txBody>
      </p:sp>
      <p:sp>
        <p:nvSpPr>
          <p:cNvPr id="14" name="Text 10"/>
          <p:cNvSpPr txBox="1"/>
          <p:nvPr/>
        </p:nvSpPr>
        <p:spPr>
          <a:xfrm>
            <a:off x="621792" y="1764792"/>
            <a:ext cx="2292096" cy="475488"/>
          </a:xfrm>
          <a:prstGeom prst="rect">
            <a:avLst/>
          </a:prstGeom>
          <a:noFill/>
          <a:ln/>
        </p:spPr>
        <p:txBody>
          <a:bodyPr wrap="square" lIns="0" tIns="0" rIns="0" bIns="0" rtlCol="0" anchor="t"/>
          <a:lstStyle/>
          <a:p>
            <a:pPr indent="0" marL="0">
              <a:buNone/>
            </a:pPr>
            <a:r>
              <a:rPr lang="en-US" sz="1200" dirty="0">
                <a:solidFill>
                  <a:schemeClr val="tx2"/>
                </a:solidFill>
              </a:rPr>
              <a:t>Senza diritti non diventano leciti passando per l'AI</a:t>
            </a:r>
            <a:endParaRPr lang="en-US" sz="1200" dirty="0"/>
          </a:p>
        </p:txBody>
      </p:sp>
      <p:sp>
        <p:nvSpPr>
          <p:cNvPr id="15" name="Contenuti generati"/>
          <p:cNvSpPr/>
          <p:nvPr/>
        </p:nvSpPr>
        <p:spPr>
          <a:xfrm>
            <a:off x="3261360" y="1051560"/>
            <a:ext cx="2621280" cy="1280160"/>
          </a:xfrm>
          <a:prstGeom prst="roundRect">
            <a:avLst>
              <a:gd name="adj" fmla="val 5714"/>
            </a:avLst>
          </a:prstGeom>
          <a:solidFill>
            <a:schemeClr val="bg2"/>
          </a:solidFill>
          <a:ln/>
        </p:spPr>
      </p:sp>
      <p:sp>
        <p:nvSpPr>
          <p:cNvPr id="16" name="cerchio FiFileText"/>
          <p:cNvSpPr/>
          <p:nvPr/>
        </p:nvSpPr>
        <p:spPr>
          <a:xfrm>
            <a:off x="3425952" y="1216152"/>
            <a:ext cx="438912" cy="438912"/>
          </a:xfrm>
          <a:prstGeom prst="ellipse">
            <a:avLst/>
          </a:prstGeom>
          <a:solidFill>
            <a:schemeClr val="accent1"/>
          </a:solidFill>
          <a:ln/>
        </p:spPr>
      </p:sp>
      <p:pic>
        <p:nvPicPr>
          <p:cNvPr id="17" name="Image 1" descr="FiFileText">    </p:cNvPr>
          <p:cNvPicPr>
            <a:picLocks noChangeAspect="1"/>
          </p:cNvPicPr>
          <p:nvPr/>
        </p:nvPicPr>
        <p:blipFill>
          <a:blip r:embed="rId2"/>
          <a:stretch>
            <a:fillRect/>
          </a:stretch>
        </p:blipFill>
        <p:spPr>
          <a:xfrm>
            <a:off x="3535680" y="1325880"/>
            <a:ext cx="219456" cy="219456"/>
          </a:xfrm>
          <a:prstGeom prst="rect">
            <a:avLst/>
          </a:prstGeom>
        </p:spPr>
      </p:pic>
      <p:sp>
        <p:nvSpPr>
          <p:cNvPr id="18" name="Text 13"/>
          <p:cNvSpPr txBox="1"/>
          <p:nvPr/>
        </p:nvSpPr>
        <p:spPr>
          <a:xfrm>
            <a:off x="3974592" y="117957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Contenuti generati</a:t>
            </a:r>
            <a:endParaRPr lang="en-US" sz="1300" dirty="0"/>
          </a:p>
        </p:txBody>
      </p:sp>
      <p:sp>
        <p:nvSpPr>
          <p:cNvPr id="19" name="Text 14"/>
          <p:cNvSpPr txBox="1"/>
          <p:nvPr/>
        </p:nvSpPr>
        <p:spPr>
          <a:xfrm>
            <a:off x="3425952" y="1764792"/>
            <a:ext cx="2292096" cy="475488"/>
          </a:xfrm>
          <a:prstGeom prst="rect">
            <a:avLst/>
          </a:prstGeom>
          <a:noFill/>
          <a:ln/>
        </p:spPr>
        <p:txBody>
          <a:bodyPr wrap="square" lIns="0" tIns="0" rIns="0" bIns="0" rtlCol="0" anchor="t"/>
          <a:lstStyle/>
          <a:p>
            <a:pPr indent="0" marL="0">
              <a:buNone/>
            </a:pPr>
            <a:r>
              <a:rPr lang="en-US" sz="1200" dirty="0">
                <a:solidFill>
                  <a:schemeClr val="tx2"/>
                </a:solidFill>
              </a:rPr>
              <a:t>Titolarità in evoluzione, condizioni d'uso variabili</a:t>
            </a:r>
            <a:endParaRPr lang="en-US" sz="1200" dirty="0"/>
          </a:p>
        </p:txBody>
      </p:sp>
      <p:sp>
        <p:nvSpPr>
          <p:cNvPr id="20" name="Immagine delle persone"/>
          <p:cNvSpPr/>
          <p:nvPr/>
        </p:nvSpPr>
        <p:spPr>
          <a:xfrm>
            <a:off x="6065520" y="1051560"/>
            <a:ext cx="2621280" cy="1280160"/>
          </a:xfrm>
          <a:prstGeom prst="roundRect">
            <a:avLst>
              <a:gd name="adj" fmla="val 5714"/>
            </a:avLst>
          </a:prstGeom>
          <a:solidFill>
            <a:schemeClr val="bg2"/>
          </a:solidFill>
          <a:ln/>
        </p:spPr>
      </p:sp>
      <p:sp>
        <p:nvSpPr>
          <p:cNvPr id="21" name="cerchio FiUser"/>
          <p:cNvSpPr/>
          <p:nvPr/>
        </p:nvSpPr>
        <p:spPr>
          <a:xfrm>
            <a:off x="6230112" y="1216152"/>
            <a:ext cx="438912" cy="438912"/>
          </a:xfrm>
          <a:prstGeom prst="ellipse">
            <a:avLst/>
          </a:prstGeom>
          <a:solidFill>
            <a:schemeClr val="accent1"/>
          </a:solidFill>
          <a:ln/>
        </p:spPr>
      </p:sp>
      <p:pic>
        <p:nvPicPr>
          <p:cNvPr id="22" name="Image 2" descr="FiUser">    </p:cNvPr>
          <p:cNvPicPr>
            <a:picLocks noChangeAspect="1"/>
          </p:cNvPicPr>
          <p:nvPr/>
        </p:nvPicPr>
        <p:blipFill>
          <a:blip r:embed="rId3"/>
          <a:stretch>
            <a:fillRect/>
          </a:stretch>
        </p:blipFill>
        <p:spPr>
          <a:xfrm>
            <a:off x="6339840" y="1325880"/>
            <a:ext cx="219456" cy="219456"/>
          </a:xfrm>
          <a:prstGeom prst="rect">
            <a:avLst/>
          </a:prstGeom>
        </p:spPr>
      </p:pic>
      <p:sp>
        <p:nvSpPr>
          <p:cNvPr id="23" name="Text 17"/>
          <p:cNvSpPr txBox="1"/>
          <p:nvPr/>
        </p:nvSpPr>
        <p:spPr>
          <a:xfrm>
            <a:off x="6778752" y="117957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Immagine delle persone</a:t>
            </a:r>
            <a:endParaRPr lang="en-US" sz="1300" dirty="0"/>
          </a:p>
        </p:txBody>
      </p:sp>
      <p:sp>
        <p:nvSpPr>
          <p:cNvPr id="24" name="Text 18"/>
          <p:cNvSpPr txBox="1"/>
          <p:nvPr/>
        </p:nvSpPr>
        <p:spPr>
          <a:xfrm>
            <a:off x="6230112" y="1764792"/>
            <a:ext cx="2292096" cy="475488"/>
          </a:xfrm>
          <a:prstGeom prst="rect">
            <a:avLst/>
          </a:prstGeom>
          <a:noFill/>
          <a:ln/>
        </p:spPr>
        <p:txBody>
          <a:bodyPr wrap="square" lIns="0" tIns="0" rIns="0" bIns="0" rtlCol="0" anchor="t"/>
          <a:lstStyle/>
          <a:p>
            <a:pPr indent="0" marL="0">
              <a:buNone/>
            </a:pPr>
            <a:r>
              <a:rPr lang="en-US" sz="1200" dirty="0">
                <a:solidFill>
                  <a:schemeClr val="tx2"/>
                </a:solidFill>
              </a:rPr>
              <a:t>Di regola serve il consenso</a:t>
            </a:r>
            <a:endParaRPr lang="en-US" sz="1200" dirty="0"/>
          </a:p>
        </p:txBody>
      </p:sp>
      <p:sp>
        <p:nvSpPr>
          <p:cNvPr id="25" name="Voce delle persone"/>
          <p:cNvSpPr/>
          <p:nvPr/>
        </p:nvSpPr>
        <p:spPr>
          <a:xfrm>
            <a:off x="457200" y="2514600"/>
            <a:ext cx="2621280" cy="1280160"/>
          </a:xfrm>
          <a:prstGeom prst="roundRect">
            <a:avLst>
              <a:gd name="adj" fmla="val 5714"/>
            </a:avLst>
          </a:prstGeom>
          <a:solidFill>
            <a:schemeClr val="bg2"/>
          </a:solidFill>
          <a:ln/>
        </p:spPr>
      </p:sp>
      <p:sp>
        <p:nvSpPr>
          <p:cNvPr id="26" name="cerchio FiMic"/>
          <p:cNvSpPr/>
          <p:nvPr/>
        </p:nvSpPr>
        <p:spPr>
          <a:xfrm>
            <a:off x="621792" y="2679192"/>
            <a:ext cx="438912" cy="438912"/>
          </a:xfrm>
          <a:prstGeom prst="ellipse">
            <a:avLst/>
          </a:prstGeom>
          <a:solidFill>
            <a:schemeClr val="accent1"/>
          </a:solidFill>
          <a:ln/>
        </p:spPr>
      </p:sp>
      <p:pic>
        <p:nvPicPr>
          <p:cNvPr id="27" name="Image 3" descr="FiMic">    </p:cNvPr>
          <p:cNvPicPr>
            <a:picLocks noChangeAspect="1"/>
          </p:cNvPicPr>
          <p:nvPr/>
        </p:nvPicPr>
        <p:blipFill>
          <a:blip r:embed="rId4"/>
          <a:stretch>
            <a:fillRect/>
          </a:stretch>
        </p:blipFill>
        <p:spPr>
          <a:xfrm>
            <a:off x="731520" y="2788920"/>
            <a:ext cx="219456" cy="219456"/>
          </a:xfrm>
          <a:prstGeom prst="rect">
            <a:avLst/>
          </a:prstGeom>
        </p:spPr>
      </p:pic>
      <p:sp>
        <p:nvSpPr>
          <p:cNvPr id="28" name="Text 21"/>
          <p:cNvSpPr txBox="1"/>
          <p:nvPr/>
        </p:nvSpPr>
        <p:spPr>
          <a:xfrm>
            <a:off x="1170432" y="264261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Voce delle persone</a:t>
            </a:r>
            <a:endParaRPr lang="en-US" sz="1300" dirty="0"/>
          </a:p>
        </p:txBody>
      </p:sp>
      <p:sp>
        <p:nvSpPr>
          <p:cNvPr id="29" name="Text 22"/>
          <p:cNvSpPr txBox="1"/>
          <p:nvPr/>
        </p:nvSpPr>
        <p:spPr>
          <a:xfrm>
            <a:off x="621792" y="3227832"/>
            <a:ext cx="2292096" cy="475488"/>
          </a:xfrm>
          <a:prstGeom prst="rect">
            <a:avLst/>
          </a:prstGeom>
          <a:noFill/>
          <a:ln/>
        </p:spPr>
        <p:txBody>
          <a:bodyPr wrap="square" lIns="0" tIns="0" rIns="0" bIns="0" rtlCol="0" anchor="t"/>
          <a:lstStyle/>
          <a:p>
            <a:pPr indent="0" marL="0">
              <a:buNone/>
            </a:pPr>
            <a:r>
              <a:rPr lang="en-US" sz="1200" dirty="0">
                <a:solidFill>
                  <a:schemeClr val="tx2"/>
                </a:solidFill>
              </a:rPr>
              <a:t>Parte dell'identità: non imitarla senza consenso</a:t>
            </a:r>
            <a:endParaRPr lang="en-US" sz="1200" dirty="0"/>
          </a:p>
        </p:txBody>
      </p:sp>
      <p:sp>
        <p:nvSpPr>
          <p:cNvPr id="30" name="Stili e opere riconoscibili"/>
          <p:cNvSpPr/>
          <p:nvPr/>
        </p:nvSpPr>
        <p:spPr>
          <a:xfrm>
            <a:off x="3261360" y="2514600"/>
            <a:ext cx="2621280" cy="1280160"/>
          </a:xfrm>
          <a:prstGeom prst="roundRect">
            <a:avLst>
              <a:gd name="adj" fmla="val 5714"/>
            </a:avLst>
          </a:prstGeom>
          <a:solidFill>
            <a:schemeClr val="bg2"/>
          </a:solidFill>
          <a:ln/>
        </p:spPr>
      </p:sp>
      <p:sp>
        <p:nvSpPr>
          <p:cNvPr id="31" name="cerchio FiStar"/>
          <p:cNvSpPr/>
          <p:nvPr/>
        </p:nvSpPr>
        <p:spPr>
          <a:xfrm>
            <a:off x="3425952" y="2679192"/>
            <a:ext cx="438912" cy="438912"/>
          </a:xfrm>
          <a:prstGeom prst="ellipse">
            <a:avLst/>
          </a:prstGeom>
          <a:solidFill>
            <a:schemeClr val="accent1"/>
          </a:solidFill>
          <a:ln/>
        </p:spPr>
      </p:sp>
      <p:pic>
        <p:nvPicPr>
          <p:cNvPr id="32" name="Image 4" descr="FiStar">    </p:cNvPr>
          <p:cNvPicPr>
            <a:picLocks noChangeAspect="1"/>
          </p:cNvPicPr>
          <p:nvPr/>
        </p:nvPicPr>
        <p:blipFill>
          <a:blip r:embed="rId5"/>
          <a:stretch>
            <a:fillRect/>
          </a:stretch>
        </p:blipFill>
        <p:spPr>
          <a:xfrm>
            <a:off x="3535680" y="2788920"/>
            <a:ext cx="219456" cy="219456"/>
          </a:xfrm>
          <a:prstGeom prst="rect">
            <a:avLst/>
          </a:prstGeom>
        </p:spPr>
      </p:pic>
      <p:sp>
        <p:nvSpPr>
          <p:cNvPr id="33" name="Text 25"/>
          <p:cNvSpPr txBox="1"/>
          <p:nvPr/>
        </p:nvSpPr>
        <p:spPr>
          <a:xfrm>
            <a:off x="3974592" y="264261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Stili e opere riconoscibili</a:t>
            </a:r>
            <a:endParaRPr lang="en-US" sz="1300" dirty="0"/>
          </a:p>
        </p:txBody>
      </p:sp>
      <p:sp>
        <p:nvSpPr>
          <p:cNvPr id="34" name="Text 26"/>
          <p:cNvSpPr txBox="1"/>
          <p:nvPr/>
        </p:nvSpPr>
        <p:spPr>
          <a:xfrm>
            <a:off x="3425952" y="3227832"/>
            <a:ext cx="2292096" cy="475488"/>
          </a:xfrm>
          <a:prstGeom prst="rect">
            <a:avLst/>
          </a:prstGeom>
          <a:noFill/>
          <a:ln/>
        </p:spPr>
        <p:txBody>
          <a:bodyPr wrap="square" lIns="0" tIns="0" rIns="0" bIns="0" rtlCol="0" anchor="t"/>
          <a:lstStyle/>
          <a:p>
            <a:pPr indent="0" marL="0">
              <a:buNone/>
            </a:pPr>
            <a:r>
              <a:rPr lang="en-US" sz="1200" dirty="0">
                <a:solidFill>
                  <a:schemeClr val="tx2"/>
                </a:solidFill>
              </a:rPr>
              <a:t>Artisti viventi, personaggi, marchi</a:t>
            </a:r>
            <a:endParaRPr lang="en-US" sz="1200" dirty="0"/>
          </a:p>
        </p:txBody>
      </p:sp>
      <p:sp>
        <p:nvSpPr>
          <p:cNvPr id="35" name="Nei casi dubbi"/>
          <p:cNvSpPr/>
          <p:nvPr/>
        </p:nvSpPr>
        <p:spPr>
          <a:xfrm>
            <a:off x="6065520" y="2514600"/>
            <a:ext cx="2621280" cy="1280160"/>
          </a:xfrm>
          <a:prstGeom prst="roundRect">
            <a:avLst>
              <a:gd name="adj" fmla="val 5714"/>
            </a:avLst>
          </a:prstGeom>
          <a:solidFill>
            <a:schemeClr val="accent6"/>
          </a:solidFill>
          <a:ln/>
        </p:spPr>
      </p:sp>
      <p:sp>
        <p:nvSpPr>
          <p:cNvPr id="36" name="cerchio FiHelpCircle"/>
          <p:cNvSpPr/>
          <p:nvPr/>
        </p:nvSpPr>
        <p:spPr>
          <a:xfrm>
            <a:off x="6230112" y="2679192"/>
            <a:ext cx="438912" cy="438912"/>
          </a:xfrm>
          <a:prstGeom prst="ellipse">
            <a:avLst/>
          </a:prstGeom>
          <a:solidFill>
            <a:schemeClr val="accent1"/>
          </a:solidFill>
          <a:ln/>
        </p:spPr>
      </p:sp>
      <p:pic>
        <p:nvPicPr>
          <p:cNvPr id="37" name="Image 5" descr="FiHelpCircle">    </p:cNvPr>
          <p:cNvPicPr>
            <a:picLocks noChangeAspect="1"/>
          </p:cNvPicPr>
          <p:nvPr/>
        </p:nvPicPr>
        <p:blipFill>
          <a:blip r:embed="rId6"/>
          <a:stretch>
            <a:fillRect/>
          </a:stretch>
        </p:blipFill>
        <p:spPr>
          <a:xfrm>
            <a:off x="6339840" y="2788920"/>
            <a:ext cx="219456" cy="219456"/>
          </a:xfrm>
          <a:prstGeom prst="rect">
            <a:avLst/>
          </a:prstGeom>
        </p:spPr>
      </p:pic>
      <p:sp>
        <p:nvSpPr>
          <p:cNvPr id="38" name="Text 29"/>
          <p:cNvSpPr txBox="1"/>
          <p:nvPr/>
        </p:nvSpPr>
        <p:spPr>
          <a:xfrm>
            <a:off x="6778752" y="2642616"/>
            <a:ext cx="1798320" cy="512064"/>
          </a:xfrm>
          <a:prstGeom prst="rect">
            <a:avLst/>
          </a:prstGeom>
          <a:noFill/>
          <a:ln/>
        </p:spPr>
        <p:txBody>
          <a:bodyPr wrap="square" lIns="0" tIns="0" rIns="0" bIns="0" rtlCol="0" anchor="ctr"/>
          <a:lstStyle/>
          <a:p>
            <a:pPr indent="0" marL="0">
              <a:buNone/>
            </a:pPr>
            <a:r>
              <a:rPr lang="en-US" sz="1300" b="1" dirty="0">
                <a:solidFill>
                  <a:schemeClr val="tx1"/>
                </a:solidFill>
              </a:rPr>
              <a:t>Nei casi dubbi</a:t>
            </a:r>
            <a:endParaRPr lang="en-US" sz="1300" dirty="0"/>
          </a:p>
        </p:txBody>
      </p:sp>
      <p:sp>
        <p:nvSpPr>
          <p:cNvPr id="39" name="Text 30"/>
          <p:cNvSpPr txBox="1"/>
          <p:nvPr/>
        </p:nvSpPr>
        <p:spPr>
          <a:xfrm>
            <a:off x="6230112" y="3227832"/>
            <a:ext cx="2292096" cy="475488"/>
          </a:xfrm>
          <a:prstGeom prst="rect">
            <a:avLst/>
          </a:prstGeom>
          <a:noFill/>
          <a:ln/>
        </p:spPr>
        <p:txBody>
          <a:bodyPr wrap="square" lIns="0" tIns="0" rIns="0" bIns="0" rtlCol="0" anchor="t"/>
          <a:lstStyle/>
          <a:p>
            <a:pPr indent="0" marL="0">
              <a:buNone/>
            </a:pPr>
            <a:r>
              <a:rPr lang="en-US" sz="1200" dirty="0">
                <a:solidFill>
                  <a:schemeClr val="tx2"/>
                </a:solidFill>
              </a:rPr>
              <a:t>Chiedere prima a chi se ne occupa in azienda</a:t>
            </a:r>
            <a:endParaRPr lang="en-US" sz="1200" dirty="0"/>
          </a:p>
        </p:txBody>
      </p:sp>
      <p:sp>
        <p:nvSpPr>
          <p:cNvPr id="40" name="Text 31"/>
          <p:cNvSpPr txBox="1"/>
          <p:nvPr/>
        </p:nvSpPr>
        <p:spPr>
          <a:xfrm>
            <a:off x="457200" y="4023360"/>
            <a:ext cx="8229600" cy="411480"/>
          </a:xfrm>
          <a:prstGeom prst="rect">
            <a:avLst/>
          </a:prstGeom>
          <a:noFill/>
          <a:ln/>
        </p:spPr>
        <p:txBody>
          <a:bodyPr wrap="square" lIns="0" tIns="0" rIns="0" bIns="0" rtlCol="0" anchor="t"/>
          <a:lstStyle/>
          <a:p>
            <a:pPr indent="0" marL="0">
              <a:buNone/>
            </a:pPr>
            <a:r>
              <a:rPr lang="en-US" sz="1200" i="1" dirty="0">
                <a:solidFill>
                  <a:schemeClr val="tx2"/>
                </a:solidFill>
              </a:rPr>
              <a:t>Un'introduzione, senza analisi normativa: nei casi dubbi, chiedere prima a chi se ne occupa in azienda.</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Verifica e supervisione</a:t>
            </a:r>
            <a:endParaRPr lang="en-US" sz="2600" dirty="0"/>
          </a:p>
        </p:txBody>
      </p:sp>
      <p:sp>
        <p:nvSpPr>
          <p:cNvPr id="4" name="operazione Interpretare"/>
          <p:cNvSpPr/>
          <p:nvPr/>
        </p:nvSpPr>
        <p:spPr>
          <a:xfrm>
            <a:off x="6053328" y="384048"/>
            <a:ext cx="841248" cy="237744"/>
          </a:xfrm>
          <a:prstGeom prst="roundRect">
            <a:avLst>
              <a:gd name="adj" fmla="val 50000"/>
            </a:avLst>
          </a:prstGeom>
          <a:solidFill>
            <a:schemeClr val="bg1"/>
          </a:solidFill>
          <a:ln w="9525">
            <a:solidFill>
              <a:schemeClr val="accent1"/>
            </a:solidFill>
            <a:prstDash val="solid"/>
          </a:ln>
        </p:spPr>
      </p:sp>
      <p:sp>
        <p:nvSpPr>
          <p:cNvPr id="5" name="Text 2"/>
          <p:cNvSpPr txBox="1"/>
          <p:nvPr/>
        </p:nvSpPr>
        <p:spPr>
          <a:xfrm>
            <a:off x="6053328" y="384048"/>
            <a:ext cx="841248" cy="237744"/>
          </a:xfrm>
          <a:prstGeom prst="rect">
            <a:avLst/>
          </a:prstGeom>
          <a:noFill/>
          <a:ln/>
        </p:spPr>
        <p:txBody>
          <a:bodyPr wrap="square" lIns="0" tIns="0" rIns="0" bIns="0" rtlCol="0" anchor="ctr"/>
          <a:lstStyle/>
          <a:p>
            <a:pPr algn="ctr" indent="0" marL="0">
              <a:buNone/>
            </a:pPr>
            <a:r>
              <a:rPr lang="en-US" sz="900" b="1" dirty="0">
                <a:solidFill>
                  <a:schemeClr val="accent1"/>
                </a:solidFill>
              </a:rPr>
              <a:t>Interpretare</a:t>
            </a:r>
            <a:endParaRPr lang="en-US" sz="900" dirty="0"/>
          </a:p>
        </p:txBody>
      </p:sp>
      <p:sp>
        <p:nvSpPr>
          <p:cNvPr id="6" name="operazione Generare"/>
          <p:cNvSpPr/>
          <p:nvPr/>
        </p:nvSpPr>
        <p:spPr>
          <a:xfrm>
            <a:off x="6940296" y="384048"/>
            <a:ext cx="841248" cy="237744"/>
          </a:xfrm>
          <a:prstGeom prst="roundRect">
            <a:avLst>
              <a:gd name="adj" fmla="val 50000"/>
            </a:avLst>
          </a:prstGeom>
          <a:solidFill>
            <a:schemeClr val="bg1"/>
          </a:solidFill>
          <a:ln w="9525">
            <a:solidFill>
              <a:schemeClr val="accent1"/>
            </a:solidFill>
            <a:prstDash val="solid"/>
          </a:ln>
        </p:spPr>
      </p:sp>
      <p:sp>
        <p:nvSpPr>
          <p:cNvPr id="7" name="Text 4"/>
          <p:cNvSpPr txBox="1"/>
          <p:nvPr/>
        </p:nvSpPr>
        <p:spPr>
          <a:xfrm>
            <a:off x="6940296" y="384048"/>
            <a:ext cx="841248" cy="237744"/>
          </a:xfrm>
          <a:prstGeom prst="rect">
            <a:avLst/>
          </a:prstGeom>
          <a:noFill/>
          <a:ln/>
        </p:spPr>
        <p:txBody>
          <a:bodyPr wrap="square" lIns="0" tIns="0" rIns="0" bIns="0" rtlCol="0" anchor="ctr"/>
          <a:lstStyle/>
          <a:p>
            <a:pPr algn="ctr" indent="0" marL="0">
              <a:buNone/>
            </a:pPr>
            <a:r>
              <a:rPr lang="en-US" sz="900" b="1" dirty="0">
                <a:solidFill>
                  <a:schemeClr val="accent1"/>
                </a:solidFill>
              </a:rPr>
              <a:t>Generare</a:t>
            </a:r>
            <a:endParaRPr lang="en-US" sz="900" dirty="0"/>
          </a:p>
        </p:txBody>
      </p:sp>
      <p:sp>
        <p:nvSpPr>
          <p:cNvPr id="8" name="operazione Trasformare"/>
          <p:cNvSpPr/>
          <p:nvPr/>
        </p:nvSpPr>
        <p:spPr>
          <a:xfrm>
            <a:off x="7827264" y="384048"/>
            <a:ext cx="841248" cy="237744"/>
          </a:xfrm>
          <a:prstGeom prst="roundRect">
            <a:avLst>
              <a:gd name="adj" fmla="val 50000"/>
            </a:avLst>
          </a:prstGeom>
          <a:solidFill>
            <a:schemeClr val="bg1"/>
          </a:solidFill>
          <a:ln w="9525">
            <a:solidFill>
              <a:schemeClr val="accent1"/>
            </a:solidFill>
            <a:prstDash val="solid"/>
          </a:ln>
        </p:spPr>
      </p:sp>
      <p:sp>
        <p:nvSpPr>
          <p:cNvPr id="9" name="Text 6"/>
          <p:cNvSpPr txBox="1"/>
          <p:nvPr/>
        </p:nvSpPr>
        <p:spPr>
          <a:xfrm>
            <a:off x="7827264" y="384048"/>
            <a:ext cx="841248" cy="237744"/>
          </a:xfrm>
          <a:prstGeom prst="rect">
            <a:avLst/>
          </a:prstGeom>
          <a:noFill/>
          <a:ln/>
        </p:spPr>
        <p:txBody>
          <a:bodyPr wrap="square" lIns="0" tIns="0" rIns="0" bIns="0" rtlCol="0" anchor="ctr"/>
          <a:lstStyle/>
          <a:p>
            <a:pPr algn="ctr" indent="0" marL="0">
              <a:buNone/>
            </a:pPr>
            <a:r>
              <a:rPr lang="en-US" sz="900" b="1" dirty="0">
                <a:solidFill>
                  <a:schemeClr val="accent1"/>
                </a:solidFill>
              </a:rPr>
              <a:t>Trasformare</a:t>
            </a:r>
            <a:endParaRPr lang="en-US" sz="900" dirty="0"/>
          </a:p>
        </p:txBody>
      </p:sp>
      <p:sp>
        <p:nvSpPr>
          <p:cNvPr id="10" name="Personale o esplorativo"/>
          <p:cNvSpPr/>
          <p:nvPr/>
        </p:nvSpPr>
        <p:spPr>
          <a:xfrm>
            <a:off x="457200" y="1051560"/>
            <a:ext cx="8229600" cy="731520"/>
          </a:xfrm>
          <a:prstGeom prst="roundRect">
            <a:avLst>
              <a:gd name="adj" fmla="val 10000"/>
            </a:avLst>
          </a:prstGeom>
          <a:solidFill>
            <a:schemeClr val="bg2"/>
          </a:solidFill>
          <a:ln/>
        </p:spPr>
      </p:sp>
      <p:sp>
        <p:nvSpPr>
          <p:cNvPr id="11" name="Text 8"/>
          <p:cNvSpPr txBox="1"/>
          <p:nvPr/>
        </p:nvSpPr>
        <p:spPr>
          <a:xfrm>
            <a:off x="640080" y="1051560"/>
            <a:ext cx="2103120" cy="731520"/>
          </a:xfrm>
          <a:prstGeom prst="rect">
            <a:avLst/>
          </a:prstGeom>
          <a:noFill/>
          <a:ln/>
        </p:spPr>
        <p:txBody>
          <a:bodyPr wrap="square" lIns="0" tIns="0" rIns="0" bIns="0" rtlCol="0" anchor="ctr"/>
          <a:lstStyle/>
          <a:p>
            <a:pPr indent="0" marL="0">
              <a:buNone/>
            </a:pPr>
            <a:r>
              <a:rPr lang="en-US" sz="1400" b="1" dirty="0">
                <a:solidFill>
                  <a:schemeClr val="accent1"/>
                </a:solidFill>
              </a:rPr>
              <a:t>Personale o esplorativo</a:t>
            </a:r>
            <a:endParaRPr lang="en-US" sz="1400" dirty="0"/>
          </a:p>
        </p:txBody>
      </p:sp>
      <p:sp>
        <p:nvSpPr>
          <p:cNvPr id="12" name="Text 9"/>
          <p:cNvSpPr txBox="1"/>
          <p:nvPr/>
        </p:nvSpPr>
        <p:spPr>
          <a:xfrm>
            <a:off x="2743200" y="1051560"/>
            <a:ext cx="2651760" cy="731520"/>
          </a:xfrm>
          <a:prstGeom prst="rect">
            <a:avLst/>
          </a:prstGeom>
          <a:noFill/>
          <a:ln/>
        </p:spPr>
        <p:txBody>
          <a:bodyPr wrap="square" lIns="0" tIns="0" rIns="0" bIns="0" rtlCol="0" anchor="ctr"/>
          <a:lstStyle/>
          <a:p>
            <a:pPr indent="0" marL="0">
              <a:buNone/>
            </a:pPr>
            <a:r>
              <a:rPr lang="en-US" sz="1200" dirty="0">
                <a:solidFill>
                  <a:schemeClr val="tx1"/>
                </a:solidFill>
              </a:rPr>
              <a:t>Schermate, concept, farsi un'idea</a:t>
            </a:r>
            <a:endParaRPr lang="en-US" sz="1200" dirty="0"/>
          </a:p>
        </p:txBody>
      </p:sp>
      <p:sp>
        <p:nvSpPr>
          <p:cNvPr id="13" name="Text 10"/>
          <p:cNvSpPr txBox="1"/>
          <p:nvPr/>
        </p:nvSpPr>
        <p:spPr>
          <a:xfrm>
            <a:off x="5486400" y="1051560"/>
            <a:ext cx="3063240" cy="731520"/>
          </a:xfrm>
          <a:prstGeom prst="rect">
            <a:avLst/>
          </a:prstGeom>
          <a:noFill/>
          <a:ln/>
        </p:spPr>
        <p:txBody>
          <a:bodyPr wrap="square" lIns="0" tIns="0" rIns="0" bIns="0" rtlCol="0" anchor="ctr"/>
          <a:lstStyle/>
          <a:p>
            <a:pPr indent="0" marL="0">
              <a:buNone/>
            </a:pPr>
            <a:r>
              <a:rPr lang="en-US" sz="1200" b="1" dirty="0">
                <a:solidFill>
                  <a:schemeClr val="tx1"/>
                </a:solidFill>
              </a:rPr>
              <a:t>Plausibilità e consapevolezza dei limiti</a:t>
            </a:r>
            <a:endParaRPr lang="en-US" sz="1200" dirty="0"/>
          </a:p>
        </p:txBody>
      </p:sp>
      <p:sp>
        <p:nvSpPr>
          <p:cNvPr id="14" name="Interno"/>
          <p:cNvSpPr/>
          <p:nvPr/>
        </p:nvSpPr>
        <p:spPr>
          <a:xfrm>
            <a:off x="457200" y="1874520"/>
            <a:ext cx="8229600" cy="731520"/>
          </a:xfrm>
          <a:prstGeom prst="roundRect">
            <a:avLst>
              <a:gd name="adj" fmla="val 10000"/>
            </a:avLst>
          </a:prstGeom>
          <a:solidFill>
            <a:schemeClr val="accent6"/>
          </a:solidFill>
          <a:ln/>
        </p:spPr>
      </p:sp>
      <p:sp>
        <p:nvSpPr>
          <p:cNvPr id="15" name="Text 12"/>
          <p:cNvSpPr txBox="1"/>
          <p:nvPr/>
        </p:nvSpPr>
        <p:spPr>
          <a:xfrm>
            <a:off x="640080" y="1874520"/>
            <a:ext cx="2103120" cy="731520"/>
          </a:xfrm>
          <a:prstGeom prst="rect">
            <a:avLst/>
          </a:prstGeom>
          <a:noFill/>
          <a:ln/>
        </p:spPr>
        <p:txBody>
          <a:bodyPr wrap="square" lIns="0" tIns="0" rIns="0" bIns="0" rtlCol="0" anchor="ctr"/>
          <a:lstStyle/>
          <a:p>
            <a:pPr indent="0" marL="0">
              <a:buNone/>
            </a:pPr>
            <a:r>
              <a:rPr lang="en-US" sz="1400" b="1" dirty="0">
                <a:solidFill>
                  <a:schemeClr val="accent1"/>
                </a:solidFill>
              </a:rPr>
              <a:t>Interno</a:t>
            </a:r>
            <a:endParaRPr lang="en-US" sz="1400" dirty="0"/>
          </a:p>
        </p:txBody>
      </p:sp>
      <p:sp>
        <p:nvSpPr>
          <p:cNvPr id="16" name="Text 13"/>
          <p:cNvSpPr txBox="1"/>
          <p:nvPr/>
        </p:nvSpPr>
        <p:spPr>
          <a:xfrm>
            <a:off x="2743200" y="1874520"/>
            <a:ext cx="2651760" cy="731520"/>
          </a:xfrm>
          <a:prstGeom prst="rect">
            <a:avLst/>
          </a:prstGeom>
          <a:noFill/>
          <a:ln/>
        </p:spPr>
        <p:txBody>
          <a:bodyPr wrap="square" lIns="0" tIns="0" rIns="0" bIns="0" rtlCol="0" anchor="ctr"/>
          <a:lstStyle/>
          <a:p>
            <a:pPr indent="0" marL="0">
              <a:buNone/>
            </a:pPr>
            <a:r>
              <a:rPr lang="en-US" sz="1200" dirty="0">
                <a:solidFill>
                  <a:schemeClr val="tx1"/>
                </a:solidFill>
              </a:rPr>
              <a:t>Verbali, formazione, presentazioni interne</a:t>
            </a:r>
            <a:endParaRPr lang="en-US" sz="1200" dirty="0"/>
          </a:p>
        </p:txBody>
      </p:sp>
      <p:sp>
        <p:nvSpPr>
          <p:cNvPr id="17" name="Text 14"/>
          <p:cNvSpPr txBox="1"/>
          <p:nvPr/>
        </p:nvSpPr>
        <p:spPr>
          <a:xfrm>
            <a:off x="5486400" y="1874520"/>
            <a:ext cx="3063240" cy="731520"/>
          </a:xfrm>
          <a:prstGeom prst="rect">
            <a:avLst/>
          </a:prstGeom>
          <a:noFill/>
          <a:ln/>
        </p:spPr>
        <p:txBody>
          <a:bodyPr wrap="square" lIns="0" tIns="0" rIns="0" bIns="0" rtlCol="0" anchor="ctr"/>
          <a:lstStyle/>
          <a:p>
            <a:pPr indent="0" marL="0">
              <a:buNone/>
            </a:pPr>
            <a:r>
              <a:rPr lang="en-US" sz="1200" b="1" dirty="0">
                <a:solidFill>
                  <a:schemeClr val="tx1"/>
                </a:solidFill>
              </a:rPr>
              <a:t>Elementi critici sull'originale, revisione di chi conosce</a:t>
            </a:r>
            <a:endParaRPr lang="en-US" sz="1200" dirty="0"/>
          </a:p>
        </p:txBody>
      </p:sp>
      <p:sp>
        <p:nvSpPr>
          <p:cNvPr id="18" name="Esterno o decisionale"/>
          <p:cNvSpPr/>
          <p:nvPr/>
        </p:nvSpPr>
        <p:spPr>
          <a:xfrm>
            <a:off x="457200" y="2697480"/>
            <a:ext cx="8229600" cy="731520"/>
          </a:xfrm>
          <a:prstGeom prst="roundRect">
            <a:avLst>
              <a:gd name="adj" fmla="val 10000"/>
            </a:avLst>
          </a:prstGeom>
          <a:solidFill>
            <a:schemeClr val="accent1"/>
          </a:solidFill>
          <a:ln/>
        </p:spPr>
      </p:sp>
      <p:sp>
        <p:nvSpPr>
          <p:cNvPr id="19" name="Text 16"/>
          <p:cNvSpPr txBox="1"/>
          <p:nvPr/>
        </p:nvSpPr>
        <p:spPr>
          <a:xfrm>
            <a:off x="640080" y="2697480"/>
            <a:ext cx="2103120" cy="731520"/>
          </a:xfrm>
          <a:prstGeom prst="rect">
            <a:avLst/>
          </a:prstGeom>
          <a:noFill/>
          <a:ln/>
        </p:spPr>
        <p:txBody>
          <a:bodyPr wrap="square" lIns="0" tIns="0" rIns="0" bIns="0" rtlCol="0" anchor="ctr"/>
          <a:lstStyle/>
          <a:p>
            <a:pPr indent="0" marL="0">
              <a:buNone/>
            </a:pPr>
            <a:r>
              <a:rPr lang="en-US" sz="1400" b="1" dirty="0">
                <a:solidFill>
                  <a:schemeClr val="bg1"/>
                </a:solidFill>
              </a:rPr>
              <a:t>Esterno o decisionale</a:t>
            </a:r>
            <a:endParaRPr lang="en-US" sz="1400" dirty="0"/>
          </a:p>
        </p:txBody>
      </p:sp>
      <p:sp>
        <p:nvSpPr>
          <p:cNvPr id="20" name="Text 17"/>
          <p:cNvSpPr txBox="1"/>
          <p:nvPr/>
        </p:nvSpPr>
        <p:spPr>
          <a:xfrm>
            <a:off x="2743200" y="2697480"/>
            <a:ext cx="2651760" cy="731520"/>
          </a:xfrm>
          <a:prstGeom prst="rect">
            <a:avLst/>
          </a:prstGeom>
          <a:noFill/>
          <a:ln/>
        </p:spPr>
        <p:txBody>
          <a:bodyPr wrap="square" lIns="0" tIns="0" rIns="0" bIns="0" rtlCol="0" anchor="ctr"/>
          <a:lstStyle/>
          <a:p>
            <a:pPr indent="0" marL="0">
              <a:buNone/>
            </a:pPr>
            <a:r>
              <a:rPr lang="en-US" sz="1200" dirty="0">
                <a:solidFill>
                  <a:schemeClr val="bg1"/>
                </a:solidFill>
              </a:rPr>
              <a:t>Pubblico, clienti, prove, decisioni</a:t>
            </a:r>
            <a:endParaRPr lang="en-US" sz="1200" dirty="0"/>
          </a:p>
        </p:txBody>
      </p:sp>
      <p:sp>
        <p:nvSpPr>
          <p:cNvPr id="21" name="Text 18"/>
          <p:cNvSpPr txBox="1"/>
          <p:nvPr/>
        </p:nvSpPr>
        <p:spPr>
          <a:xfrm>
            <a:off x="5486400" y="2697480"/>
            <a:ext cx="3063240" cy="731520"/>
          </a:xfrm>
          <a:prstGeom prst="rect">
            <a:avLst/>
          </a:prstGeom>
          <a:noFill/>
          <a:ln/>
        </p:spPr>
        <p:txBody>
          <a:bodyPr wrap="square" lIns="0" tIns="0" rIns="0" bIns="0" rtlCol="0" anchor="ctr"/>
          <a:lstStyle/>
          <a:p>
            <a:pPr indent="0" marL="0">
              <a:buNone/>
            </a:pPr>
            <a:r>
              <a:rPr lang="en-US" sz="1200" b="1" dirty="0">
                <a:solidFill>
                  <a:schemeClr val="bg1"/>
                </a:solidFill>
              </a:rPr>
              <a:t>Provenienza, confronto sistematico, diritti, trasparenza</a:t>
            </a:r>
            <a:endParaRPr lang="en-US" sz="1200" dirty="0"/>
          </a:p>
        </p:txBody>
      </p:sp>
      <p:sp>
        <p:nvSpPr>
          <p:cNvPr id="22" name="Text 19"/>
          <p:cNvSpPr txBox="1"/>
          <p:nvPr/>
        </p:nvSpPr>
        <p:spPr>
          <a:xfrm>
            <a:off x="457200" y="3611880"/>
            <a:ext cx="2103120" cy="502920"/>
          </a:xfrm>
          <a:prstGeom prst="rect">
            <a:avLst/>
          </a:prstGeom>
          <a:noFill/>
          <a:ln/>
        </p:spPr>
        <p:txBody>
          <a:bodyPr wrap="square" lIns="0" tIns="0" rIns="0" bIns="0" rtlCol="0" anchor="ctr"/>
          <a:lstStyle/>
          <a:p>
            <a:pPr indent="0" marL="0">
              <a:buNone/>
            </a:pPr>
            <a:r>
              <a:rPr lang="en-US" sz="1300" b="1" dirty="0">
                <a:solidFill>
                  <a:schemeClr val="accent5"/>
                </a:solidFill>
              </a:rPr>
              <a:t>Alzano il livello</a:t>
            </a:r>
            <a:endParaRPr lang="en-US" sz="1300" dirty="0"/>
          </a:p>
        </p:txBody>
      </p:sp>
      <p:sp>
        <p:nvSpPr>
          <p:cNvPr id="23" name="blocco Persone reali"/>
          <p:cNvSpPr/>
          <p:nvPr/>
        </p:nvSpPr>
        <p:spPr>
          <a:xfrm>
            <a:off x="2560320" y="3611880"/>
            <a:ext cx="2971800" cy="502920"/>
          </a:xfrm>
          <a:prstGeom prst="roundRect">
            <a:avLst>
              <a:gd name="adj" fmla="val 21818"/>
            </a:avLst>
          </a:prstGeom>
          <a:solidFill>
            <a:schemeClr val="bg2"/>
          </a:solidFill>
          <a:ln/>
        </p:spPr>
      </p:sp>
      <p:sp>
        <p:nvSpPr>
          <p:cNvPr id="24" name="Text 21"/>
          <p:cNvSpPr txBox="1"/>
          <p:nvPr/>
        </p:nvSpPr>
        <p:spPr>
          <a:xfrm>
            <a:off x="2606040" y="3611880"/>
            <a:ext cx="2880360" cy="502920"/>
          </a:xfrm>
          <a:prstGeom prst="rect">
            <a:avLst/>
          </a:prstGeom>
          <a:noFill/>
          <a:ln/>
        </p:spPr>
        <p:txBody>
          <a:bodyPr wrap="square" lIns="0" tIns="0" rIns="0" bIns="0" rtlCol="0" anchor="ctr"/>
          <a:lstStyle/>
          <a:p>
            <a:pPr algn="ctr" indent="0" marL="0">
              <a:buNone/>
            </a:pPr>
            <a:r>
              <a:rPr lang="en-US" sz="1200" b="1" dirty="0">
                <a:solidFill>
                  <a:schemeClr val="tx1"/>
                </a:solidFill>
              </a:rPr>
              <a:t>Persone reali</a:t>
            </a:r>
            <a:endParaRPr lang="en-US" sz="1200" dirty="0"/>
          </a:p>
        </p:txBody>
      </p:sp>
      <p:sp>
        <p:nvSpPr>
          <p:cNvPr id="25" name="blocco Può sembrare la realtà"/>
          <p:cNvSpPr/>
          <p:nvPr/>
        </p:nvSpPr>
        <p:spPr>
          <a:xfrm>
            <a:off x="5669280" y="3611880"/>
            <a:ext cx="3017520" cy="502920"/>
          </a:xfrm>
          <a:prstGeom prst="roundRect">
            <a:avLst>
              <a:gd name="adj" fmla="val 21818"/>
            </a:avLst>
          </a:prstGeom>
          <a:solidFill>
            <a:schemeClr val="bg2"/>
          </a:solidFill>
          <a:ln/>
        </p:spPr>
      </p:sp>
      <p:sp>
        <p:nvSpPr>
          <p:cNvPr id="26" name="Text 23"/>
          <p:cNvSpPr txBox="1"/>
          <p:nvPr/>
        </p:nvSpPr>
        <p:spPr>
          <a:xfrm>
            <a:off x="5715000" y="3611880"/>
            <a:ext cx="2926080" cy="502920"/>
          </a:xfrm>
          <a:prstGeom prst="rect">
            <a:avLst/>
          </a:prstGeom>
          <a:noFill/>
          <a:ln/>
        </p:spPr>
        <p:txBody>
          <a:bodyPr wrap="square" lIns="0" tIns="0" rIns="0" bIns="0" rtlCol="0" anchor="ctr"/>
          <a:lstStyle/>
          <a:p>
            <a:pPr algn="ctr" indent="0" marL="0">
              <a:buNone/>
            </a:pPr>
            <a:r>
              <a:rPr lang="en-US" sz="1200" b="1" dirty="0">
                <a:solidFill>
                  <a:schemeClr val="tx1"/>
                </a:solidFill>
              </a:rPr>
              <a:t>Può sembrare la realtà</a:t>
            </a:r>
            <a:endParaRPr lang="en-US" sz="1200" dirty="0"/>
          </a:p>
        </p:txBody>
      </p:sp>
      <p:sp>
        <p:nvSpPr>
          <p:cNvPr id="27" name="Text 24"/>
          <p:cNvSpPr txBox="1"/>
          <p:nvPr/>
        </p:nvSpPr>
        <p:spPr>
          <a:xfrm>
            <a:off x="457200" y="4251960"/>
            <a:ext cx="8229600" cy="320040"/>
          </a:xfrm>
          <a:prstGeom prst="rect">
            <a:avLst/>
          </a:prstGeom>
          <a:noFill/>
          <a:ln/>
        </p:spPr>
        <p:txBody>
          <a:bodyPr wrap="square" lIns="0" tIns="0" rIns="0" bIns="0" rtlCol="0" anchor="t"/>
          <a:lstStyle/>
          <a:p>
            <a:pPr indent="0" marL="0">
              <a:buNone/>
            </a:pPr>
            <a:r>
              <a:rPr lang="en-US" sz="1200" i="1" dirty="0">
                <a:solidFill>
                  <a:schemeClr val="tx2"/>
                </a:solidFill>
              </a:rPr>
              <a:t>Più il contenuto può sembrare la realtà o arriva all'esterno, più il controllo deve essere sistematico.</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1"/>
          <p:cNvSpPr/>
          <p:nvPr>
            <p:ph idx="101" type="body" hasCustomPrompt="1"/>
          </p:nvPr>
        </p:nvSpPr>
        <p:spPr>
          <a:xfrm>
            <a:off x="822960" y="1600200"/>
            <a:ext cx="7498080" cy="2011680"/>
          </a:xfrm>
          <a:prstGeom prst="rect">
            <a:avLst/>
          </a:prstGeom>
          <a:noFill/>
          <a:ln/>
        </p:spPr>
        <p:txBody>
          <a:bodyPr wrap="square" lIns="0" tIns="0" rIns="0" bIns="0" rtlCol="0" anchor="t"/>
          <a:lstStyle/>
          <a:p>
            <a:pPr indent="0" marL="0">
              <a:buNone/>
            </a:pPr>
            <a:r>
              <a:rPr lang="en-US" sz="2600" dirty="0">
                <a:solidFill>
                  <a:schemeClr val="bg1"/>
                </a:solidFill>
              </a:rPr>
              <a:t>Distinguere realismo, provenienza e accuratezza è essenziale per utilizzare in modo critico i contenuti multimodali.</a:t>
            </a:r>
            <a:endParaRPr lang="en-US" sz="2600" dirty="0"/>
          </a:p>
        </p:txBody>
      </p:sp>
      <p:sp>
        <p:nvSpPr>
          <p:cNvPr id="3" name="Text 1"/>
          <p:cNvSpPr/>
          <p:nvPr>
            <p:ph idx="102" type="body" hasCustomPrompt="1"/>
          </p:nvPr>
        </p:nvSpPr>
        <p:spPr>
          <a:xfrm>
            <a:off x="822960" y="3794760"/>
            <a:ext cx="7498080" cy="365760"/>
          </a:xfrm>
          <a:prstGeom prst="rect">
            <a:avLst/>
          </a:prstGeom>
          <a:noFill/>
          <a:ln/>
        </p:spPr>
        <p:txBody>
          <a:bodyPr wrap="square" lIns="0" tIns="0" rIns="0" bIns="0" rtlCol="0"/>
          <a:lstStyle/>
          <a:p>
            <a:pPr indent="0" marL="0">
              <a:buNone/>
            </a:pPr>
            <a:r>
              <a:rPr lang="en-US" sz="1300" dirty="0">
                <a:solidFill>
                  <a:schemeClr val="accent3"/>
                </a:solidFill>
              </a:rPr>
              <a:t>Sottotema 10.8  ·  Limiti, autenticità e affidabilità</a:t>
            </a:r>
            <a:endParaRPr lang="en-US" sz="13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Le domande guida: le nostre risposte</a:t>
            </a:r>
            <a:endParaRPr lang="en-US" sz="2600" dirty="0"/>
          </a:p>
        </p:txBody>
      </p:sp>
      <p:sp>
        <p:nvSpPr>
          <p:cNvPr id="4" name="risposta 1"/>
          <p:cNvSpPr/>
          <p:nvPr/>
        </p:nvSpPr>
        <p:spPr>
          <a:xfrm>
            <a:off x="457200" y="1024128"/>
            <a:ext cx="4023360" cy="603504"/>
          </a:xfrm>
          <a:prstGeom prst="roundRect">
            <a:avLst>
              <a:gd name="adj" fmla="val 12121"/>
            </a:avLst>
          </a:prstGeom>
          <a:solidFill>
            <a:schemeClr val="bg2"/>
          </a:solidFill>
          <a:ln/>
        </p:spPr>
      </p:sp>
      <p:sp>
        <p:nvSpPr>
          <p:cNvPr id="5" name="Text 2"/>
          <p:cNvSpPr txBox="1"/>
          <p:nvPr/>
        </p:nvSpPr>
        <p:spPr>
          <a:xfrm>
            <a:off x="548640" y="1024128"/>
            <a:ext cx="411480" cy="603504"/>
          </a:xfrm>
          <a:prstGeom prst="rect">
            <a:avLst/>
          </a:prstGeom>
          <a:noFill/>
          <a:ln/>
        </p:spPr>
        <p:txBody>
          <a:bodyPr wrap="square" lIns="0" tIns="0" rIns="0" bIns="0" rtlCol="0" anchor="ctr"/>
          <a:lstStyle/>
          <a:p>
            <a:pPr indent="0" marL="0">
              <a:buNone/>
            </a:pPr>
            <a:r>
              <a:rPr lang="en-US" sz="1400" b="1" dirty="0">
                <a:solidFill>
                  <a:schemeClr val="accent1"/>
                </a:solidFill>
              </a:rPr>
              <a:t>1</a:t>
            </a:r>
            <a:endParaRPr lang="en-US" sz="1400" dirty="0"/>
          </a:p>
        </p:txBody>
      </p:sp>
      <p:sp>
        <p:nvSpPr>
          <p:cNvPr id="6" name="Text 3"/>
          <p:cNvSpPr txBox="1"/>
          <p:nvPr/>
        </p:nvSpPr>
        <p:spPr>
          <a:xfrm>
            <a:off x="960120" y="1060704"/>
            <a:ext cx="3474720" cy="274320"/>
          </a:xfrm>
          <a:prstGeom prst="rect">
            <a:avLst/>
          </a:prstGeom>
          <a:noFill/>
          <a:ln/>
        </p:spPr>
        <p:txBody>
          <a:bodyPr wrap="square" lIns="0" tIns="0" rIns="0" bIns="0" rtlCol="0" anchor="t"/>
          <a:lstStyle/>
          <a:p>
            <a:pPr indent="0" marL="0">
              <a:buNone/>
            </a:pPr>
            <a:r>
              <a:rPr lang="en-US" sz="1100" b="1" dirty="0">
                <a:solidFill>
                  <a:schemeClr val="tx1"/>
                </a:solidFill>
              </a:rPr>
              <a:t>Che cosa significa multimodale?</a:t>
            </a:r>
            <a:endParaRPr lang="en-US" sz="1100" dirty="0"/>
          </a:p>
        </p:txBody>
      </p:sp>
      <p:sp>
        <p:nvSpPr>
          <p:cNvPr id="7" name="Text 4"/>
          <p:cNvSpPr txBox="1"/>
          <p:nvPr/>
        </p:nvSpPr>
        <p:spPr>
          <a:xfrm>
            <a:off x="960120" y="1325880"/>
            <a:ext cx="3474720" cy="274320"/>
          </a:xfrm>
          <a:prstGeom prst="rect">
            <a:avLst/>
          </a:prstGeom>
          <a:noFill/>
          <a:ln/>
        </p:spPr>
        <p:txBody>
          <a:bodyPr wrap="square" lIns="0" tIns="0" rIns="0" bIns="0" rtlCol="0" anchor="t"/>
          <a:lstStyle/>
          <a:p>
            <a:pPr indent="0" marL="0">
              <a:buNone/>
            </a:pPr>
            <a:r>
              <a:rPr lang="en-US" sz="1000" dirty="0">
                <a:solidFill>
                  <a:schemeClr val="tx2"/>
                </a:solidFill>
              </a:rPr>
              <a:t>Più modalità; capacità che dipendono dal sistema</a:t>
            </a:r>
            <a:endParaRPr lang="en-US" sz="1000" dirty="0"/>
          </a:p>
        </p:txBody>
      </p:sp>
      <p:sp>
        <p:nvSpPr>
          <p:cNvPr id="8" name="risposta 2"/>
          <p:cNvSpPr/>
          <p:nvPr/>
        </p:nvSpPr>
        <p:spPr>
          <a:xfrm>
            <a:off x="4663440" y="1024128"/>
            <a:ext cx="4023360" cy="603504"/>
          </a:xfrm>
          <a:prstGeom prst="roundRect">
            <a:avLst>
              <a:gd name="adj" fmla="val 12121"/>
            </a:avLst>
          </a:prstGeom>
          <a:solidFill>
            <a:schemeClr val="bg2"/>
          </a:solidFill>
          <a:ln/>
        </p:spPr>
      </p:sp>
      <p:sp>
        <p:nvSpPr>
          <p:cNvPr id="9" name="Text 6"/>
          <p:cNvSpPr txBox="1"/>
          <p:nvPr/>
        </p:nvSpPr>
        <p:spPr>
          <a:xfrm>
            <a:off x="4754880" y="1024128"/>
            <a:ext cx="411480" cy="603504"/>
          </a:xfrm>
          <a:prstGeom prst="rect">
            <a:avLst/>
          </a:prstGeom>
          <a:noFill/>
          <a:ln/>
        </p:spPr>
        <p:txBody>
          <a:bodyPr wrap="square" lIns="0" tIns="0" rIns="0" bIns="0" rtlCol="0" anchor="ctr"/>
          <a:lstStyle/>
          <a:p>
            <a:pPr indent="0" marL="0">
              <a:buNone/>
            </a:pPr>
            <a:r>
              <a:rPr lang="en-US" sz="1400" b="1" dirty="0">
                <a:solidFill>
                  <a:schemeClr val="accent1"/>
                </a:solidFill>
              </a:rPr>
              <a:t>2</a:t>
            </a:r>
            <a:endParaRPr lang="en-US" sz="1400" dirty="0"/>
          </a:p>
        </p:txBody>
      </p:sp>
      <p:sp>
        <p:nvSpPr>
          <p:cNvPr id="10" name="Text 7"/>
          <p:cNvSpPr txBox="1"/>
          <p:nvPr/>
        </p:nvSpPr>
        <p:spPr>
          <a:xfrm>
            <a:off x="5166360" y="1060704"/>
            <a:ext cx="3474720" cy="274320"/>
          </a:xfrm>
          <a:prstGeom prst="rect">
            <a:avLst/>
          </a:prstGeom>
          <a:noFill/>
          <a:ln/>
        </p:spPr>
        <p:txBody>
          <a:bodyPr wrap="square" lIns="0" tIns="0" rIns="0" bIns="0" rtlCol="0" anchor="t"/>
          <a:lstStyle/>
          <a:p>
            <a:pPr indent="0" marL="0">
              <a:buNone/>
            </a:pPr>
            <a:r>
              <a:rPr lang="en-US" sz="1100" b="1" dirty="0">
                <a:solidFill>
                  <a:schemeClr val="tx1"/>
                </a:solidFill>
              </a:rPr>
              <a:t>Interpretare, generare, trasformare?</a:t>
            </a:r>
            <a:endParaRPr lang="en-US" sz="1100" dirty="0"/>
          </a:p>
        </p:txBody>
      </p:sp>
      <p:sp>
        <p:nvSpPr>
          <p:cNvPr id="11" name="Text 8"/>
          <p:cNvSpPr txBox="1"/>
          <p:nvPr/>
        </p:nvSpPr>
        <p:spPr>
          <a:xfrm>
            <a:off x="5166360" y="1325880"/>
            <a:ext cx="3474720" cy="274320"/>
          </a:xfrm>
          <a:prstGeom prst="rect">
            <a:avLst/>
          </a:prstGeom>
          <a:noFill/>
          <a:ln/>
        </p:spPr>
        <p:txBody>
          <a:bodyPr wrap="square" lIns="0" tIns="0" rIns="0" bIns="0" rtlCol="0" anchor="t"/>
          <a:lstStyle/>
          <a:p>
            <a:pPr indent="0" marL="0">
              <a:buNone/>
            </a:pPr>
            <a:r>
              <a:rPr lang="en-US" sz="1000" dirty="0">
                <a:solidFill>
                  <a:schemeClr val="tx2"/>
                </a:solidFill>
              </a:rPr>
              <a:t>Tre operazioni, tre rischi diversi</a:t>
            </a:r>
            <a:endParaRPr lang="en-US" sz="1000" dirty="0"/>
          </a:p>
        </p:txBody>
      </p:sp>
      <p:sp>
        <p:nvSpPr>
          <p:cNvPr id="12" name="risposta 3"/>
          <p:cNvSpPr/>
          <p:nvPr/>
        </p:nvSpPr>
        <p:spPr>
          <a:xfrm>
            <a:off x="457200" y="1700784"/>
            <a:ext cx="4023360" cy="603504"/>
          </a:xfrm>
          <a:prstGeom prst="roundRect">
            <a:avLst>
              <a:gd name="adj" fmla="val 12121"/>
            </a:avLst>
          </a:prstGeom>
          <a:solidFill>
            <a:schemeClr val="bg2"/>
          </a:solidFill>
          <a:ln/>
        </p:spPr>
      </p:sp>
      <p:sp>
        <p:nvSpPr>
          <p:cNvPr id="13" name="Text 10"/>
          <p:cNvSpPr txBox="1"/>
          <p:nvPr/>
        </p:nvSpPr>
        <p:spPr>
          <a:xfrm>
            <a:off x="548640" y="1700784"/>
            <a:ext cx="411480" cy="603504"/>
          </a:xfrm>
          <a:prstGeom prst="rect">
            <a:avLst/>
          </a:prstGeom>
          <a:noFill/>
          <a:ln/>
        </p:spPr>
        <p:txBody>
          <a:bodyPr wrap="square" lIns="0" tIns="0" rIns="0" bIns="0" rtlCol="0" anchor="ctr"/>
          <a:lstStyle/>
          <a:p>
            <a:pPr indent="0" marL="0">
              <a:buNone/>
            </a:pPr>
            <a:r>
              <a:rPr lang="en-US" sz="1400" b="1" dirty="0">
                <a:solidFill>
                  <a:schemeClr val="accent1"/>
                </a:solidFill>
              </a:rPr>
              <a:t>3</a:t>
            </a:r>
            <a:endParaRPr lang="en-US" sz="1400" dirty="0"/>
          </a:p>
        </p:txBody>
      </p:sp>
      <p:sp>
        <p:nvSpPr>
          <p:cNvPr id="14" name="Text 11"/>
          <p:cNvSpPr txBox="1"/>
          <p:nvPr/>
        </p:nvSpPr>
        <p:spPr>
          <a:xfrm>
            <a:off x="960120" y="1737360"/>
            <a:ext cx="3474720" cy="274320"/>
          </a:xfrm>
          <a:prstGeom prst="rect">
            <a:avLst/>
          </a:prstGeom>
          <a:noFill/>
          <a:ln/>
        </p:spPr>
        <p:txBody>
          <a:bodyPr wrap="square" lIns="0" tIns="0" rIns="0" bIns="0" rtlCol="0" anchor="t"/>
          <a:lstStyle/>
          <a:p>
            <a:pPr indent="0" marL="0">
              <a:buNone/>
            </a:pPr>
            <a:r>
              <a:rPr lang="en-US" sz="1100" b="1" dirty="0">
                <a:solidFill>
                  <a:schemeClr val="tx1"/>
                </a:solidFill>
              </a:rPr>
              <a:t>Immagini e schermate?</a:t>
            </a:r>
            <a:endParaRPr lang="en-US" sz="1100" dirty="0"/>
          </a:p>
        </p:txBody>
      </p:sp>
      <p:sp>
        <p:nvSpPr>
          <p:cNvPr id="15" name="Text 12"/>
          <p:cNvSpPr txBox="1"/>
          <p:nvPr/>
        </p:nvSpPr>
        <p:spPr>
          <a:xfrm>
            <a:off x="960120" y="2002536"/>
            <a:ext cx="3474720" cy="274320"/>
          </a:xfrm>
          <a:prstGeom prst="rect">
            <a:avLst/>
          </a:prstGeom>
          <a:noFill/>
          <a:ln/>
        </p:spPr>
        <p:txBody>
          <a:bodyPr wrap="square" lIns="0" tIns="0" rIns="0" bIns="0" rtlCol="0" anchor="t"/>
          <a:lstStyle/>
          <a:p>
            <a:pPr indent="0" marL="0">
              <a:buNone/>
            </a:pPr>
            <a:r>
              <a:rPr lang="en-US" sz="1000" dirty="0">
                <a:solidFill>
                  <a:schemeClr val="tx2"/>
                </a:solidFill>
              </a:rPr>
              <a:t>Utile, limiti nei dettagli; descrivere non è comprendere</a:t>
            </a:r>
            <a:endParaRPr lang="en-US" sz="1000" dirty="0"/>
          </a:p>
        </p:txBody>
      </p:sp>
      <p:sp>
        <p:nvSpPr>
          <p:cNvPr id="16" name="risposta 4"/>
          <p:cNvSpPr/>
          <p:nvPr/>
        </p:nvSpPr>
        <p:spPr>
          <a:xfrm>
            <a:off x="4663440" y="1700784"/>
            <a:ext cx="4023360" cy="603504"/>
          </a:xfrm>
          <a:prstGeom prst="roundRect">
            <a:avLst>
              <a:gd name="adj" fmla="val 12121"/>
            </a:avLst>
          </a:prstGeom>
          <a:solidFill>
            <a:schemeClr val="bg2"/>
          </a:solidFill>
          <a:ln/>
        </p:spPr>
      </p:sp>
      <p:sp>
        <p:nvSpPr>
          <p:cNvPr id="17" name="Text 14"/>
          <p:cNvSpPr txBox="1"/>
          <p:nvPr/>
        </p:nvSpPr>
        <p:spPr>
          <a:xfrm>
            <a:off x="4754880" y="1700784"/>
            <a:ext cx="411480" cy="603504"/>
          </a:xfrm>
          <a:prstGeom prst="rect">
            <a:avLst/>
          </a:prstGeom>
          <a:noFill/>
          <a:ln/>
        </p:spPr>
        <p:txBody>
          <a:bodyPr wrap="square" lIns="0" tIns="0" rIns="0" bIns="0" rtlCol="0" anchor="ctr"/>
          <a:lstStyle/>
          <a:p>
            <a:pPr indent="0" marL="0">
              <a:buNone/>
            </a:pPr>
            <a:r>
              <a:rPr lang="en-US" sz="1400" b="1" dirty="0">
                <a:solidFill>
                  <a:schemeClr val="accent1"/>
                </a:solidFill>
              </a:rPr>
              <a:t>4</a:t>
            </a:r>
            <a:endParaRPr lang="en-US" sz="1400" dirty="0"/>
          </a:p>
        </p:txBody>
      </p:sp>
      <p:sp>
        <p:nvSpPr>
          <p:cNvPr id="18" name="Text 15"/>
          <p:cNvSpPr txBox="1"/>
          <p:nvPr/>
        </p:nvSpPr>
        <p:spPr>
          <a:xfrm>
            <a:off x="5166360" y="1737360"/>
            <a:ext cx="3474720" cy="274320"/>
          </a:xfrm>
          <a:prstGeom prst="rect">
            <a:avLst/>
          </a:prstGeom>
          <a:noFill/>
          <a:ln/>
        </p:spPr>
        <p:txBody>
          <a:bodyPr wrap="square" lIns="0" tIns="0" rIns="0" bIns="0" rtlCol="0" anchor="t"/>
          <a:lstStyle/>
          <a:p>
            <a:pPr indent="0" marL="0">
              <a:buNone/>
            </a:pPr>
            <a:r>
              <a:rPr lang="en-US" sz="1100" b="1" dirty="0">
                <a:solidFill>
                  <a:schemeClr val="tx1"/>
                </a:solidFill>
              </a:rPr>
              <a:t>Generare immagini?</a:t>
            </a:r>
            <a:endParaRPr lang="en-US" sz="1100" dirty="0"/>
          </a:p>
        </p:txBody>
      </p:sp>
      <p:sp>
        <p:nvSpPr>
          <p:cNvPr id="19" name="Text 16"/>
          <p:cNvSpPr txBox="1"/>
          <p:nvPr/>
        </p:nvSpPr>
        <p:spPr>
          <a:xfrm>
            <a:off x="5166360" y="2002536"/>
            <a:ext cx="3474720" cy="274320"/>
          </a:xfrm>
          <a:prstGeom prst="rect">
            <a:avLst/>
          </a:prstGeom>
          <a:noFill/>
          <a:ln/>
        </p:spPr>
        <p:txBody>
          <a:bodyPr wrap="square" lIns="0" tIns="0" rIns="0" bIns="0" rtlCol="0" anchor="t"/>
          <a:lstStyle/>
          <a:p>
            <a:pPr indent="0" marL="0">
              <a:buNone/>
            </a:pPr>
            <a:r>
              <a:rPr lang="en-US" sz="1000" dirty="0">
                <a:solidFill>
                  <a:schemeClr val="tx2"/>
                </a:solidFill>
              </a:rPr>
              <a:t>Esplorazione rapida; controllo non garantito</a:t>
            </a:r>
            <a:endParaRPr lang="en-US" sz="1000" dirty="0"/>
          </a:p>
        </p:txBody>
      </p:sp>
      <p:sp>
        <p:nvSpPr>
          <p:cNvPr id="20" name="risposta 5"/>
          <p:cNvSpPr/>
          <p:nvPr/>
        </p:nvSpPr>
        <p:spPr>
          <a:xfrm>
            <a:off x="457200" y="2377440"/>
            <a:ext cx="4023360" cy="603504"/>
          </a:xfrm>
          <a:prstGeom prst="roundRect">
            <a:avLst>
              <a:gd name="adj" fmla="val 12121"/>
            </a:avLst>
          </a:prstGeom>
          <a:solidFill>
            <a:schemeClr val="bg2"/>
          </a:solidFill>
          <a:ln/>
        </p:spPr>
      </p:sp>
      <p:sp>
        <p:nvSpPr>
          <p:cNvPr id="21" name="Text 18"/>
          <p:cNvSpPr txBox="1"/>
          <p:nvPr/>
        </p:nvSpPr>
        <p:spPr>
          <a:xfrm>
            <a:off x="548640" y="2377440"/>
            <a:ext cx="411480" cy="603504"/>
          </a:xfrm>
          <a:prstGeom prst="rect">
            <a:avLst/>
          </a:prstGeom>
          <a:noFill/>
          <a:ln/>
        </p:spPr>
        <p:txBody>
          <a:bodyPr wrap="square" lIns="0" tIns="0" rIns="0" bIns="0" rtlCol="0" anchor="ctr"/>
          <a:lstStyle/>
          <a:p>
            <a:pPr indent="0" marL="0">
              <a:buNone/>
            </a:pPr>
            <a:r>
              <a:rPr lang="en-US" sz="1400" b="1" dirty="0">
                <a:solidFill>
                  <a:schemeClr val="accent1"/>
                </a:solidFill>
              </a:rPr>
              <a:t>5</a:t>
            </a:r>
            <a:endParaRPr lang="en-US" sz="1400" dirty="0"/>
          </a:p>
        </p:txBody>
      </p:sp>
      <p:sp>
        <p:nvSpPr>
          <p:cNvPr id="22" name="Text 19"/>
          <p:cNvSpPr txBox="1"/>
          <p:nvPr/>
        </p:nvSpPr>
        <p:spPr>
          <a:xfrm>
            <a:off x="960120" y="2414016"/>
            <a:ext cx="3474720" cy="274320"/>
          </a:xfrm>
          <a:prstGeom prst="rect">
            <a:avLst/>
          </a:prstGeom>
          <a:noFill/>
          <a:ln/>
        </p:spPr>
        <p:txBody>
          <a:bodyPr wrap="square" lIns="0" tIns="0" rIns="0" bIns="0" rtlCol="0" anchor="t"/>
          <a:lstStyle/>
          <a:p>
            <a:pPr indent="0" marL="0">
              <a:buNone/>
            </a:pPr>
            <a:r>
              <a:rPr lang="en-US" sz="1100" b="1" dirty="0">
                <a:solidFill>
                  <a:schemeClr val="tx1"/>
                </a:solidFill>
              </a:rPr>
              <a:t>Parlato e registrazioni?</a:t>
            </a:r>
            <a:endParaRPr lang="en-US" sz="1100" dirty="0"/>
          </a:p>
        </p:txBody>
      </p:sp>
      <p:sp>
        <p:nvSpPr>
          <p:cNvPr id="23" name="Text 20"/>
          <p:cNvSpPr txBox="1"/>
          <p:nvPr/>
        </p:nvSpPr>
        <p:spPr>
          <a:xfrm>
            <a:off x="960120" y="2679192"/>
            <a:ext cx="3474720" cy="274320"/>
          </a:xfrm>
          <a:prstGeom prst="rect">
            <a:avLst/>
          </a:prstGeom>
          <a:noFill/>
          <a:ln/>
        </p:spPr>
        <p:txBody>
          <a:bodyPr wrap="square" lIns="0" tIns="0" rIns="0" bIns="0" rtlCol="0" anchor="t"/>
          <a:lstStyle/>
          <a:p>
            <a:pPr indent="0" marL="0">
              <a:buNone/>
            </a:pPr>
            <a:r>
              <a:rPr lang="en-US" sz="1000" dirty="0">
                <a:solidFill>
                  <a:schemeClr val="tx2"/>
                </a:solidFill>
              </a:rPr>
              <a:t>Attenzione a termini, numeri, attribuzioni</a:t>
            </a:r>
            <a:endParaRPr lang="en-US" sz="1000" dirty="0"/>
          </a:p>
        </p:txBody>
      </p:sp>
      <p:sp>
        <p:nvSpPr>
          <p:cNvPr id="24" name="risposta 6"/>
          <p:cNvSpPr/>
          <p:nvPr/>
        </p:nvSpPr>
        <p:spPr>
          <a:xfrm>
            <a:off x="4663440" y="2377440"/>
            <a:ext cx="4023360" cy="603504"/>
          </a:xfrm>
          <a:prstGeom prst="roundRect">
            <a:avLst>
              <a:gd name="adj" fmla="val 12121"/>
            </a:avLst>
          </a:prstGeom>
          <a:solidFill>
            <a:schemeClr val="bg2"/>
          </a:solidFill>
          <a:ln/>
        </p:spPr>
      </p:sp>
      <p:sp>
        <p:nvSpPr>
          <p:cNvPr id="25" name="Text 22"/>
          <p:cNvSpPr txBox="1"/>
          <p:nvPr/>
        </p:nvSpPr>
        <p:spPr>
          <a:xfrm>
            <a:off x="4754880" y="2377440"/>
            <a:ext cx="411480" cy="603504"/>
          </a:xfrm>
          <a:prstGeom prst="rect">
            <a:avLst/>
          </a:prstGeom>
          <a:noFill/>
          <a:ln/>
        </p:spPr>
        <p:txBody>
          <a:bodyPr wrap="square" lIns="0" tIns="0" rIns="0" bIns="0" rtlCol="0" anchor="ctr"/>
          <a:lstStyle/>
          <a:p>
            <a:pPr indent="0" marL="0">
              <a:buNone/>
            </a:pPr>
            <a:r>
              <a:rPr lang="en-US" sz="1400" b="1" dirty="0">
                <a:solidFill>
                  <a:schemeClr val="accent1"/>
                </a:solidFill>
              </a:rPr>
              <a:t>6</a:t>
            </a:r>
            <a:endParaRPr lang="en-US" sz="1400" dirty="0"/>
          </a:p>
        </p:txBody>
      </p:sp>
      <p:sp>
        <p:nvSpPr>
          <p:cNvPr id="26" name="Text 23"/>
          <p:cNvSpPr txBox="1"/>
          <p:nvPr/>
        </p:nvSpPr>
        <p:spPr>
          <a:xfrm>
            <a:off x="5166360" y="2414016"/>
            <a:ext cx="3474720" cy="274320"/>
          </a:xfrm>
          <a:prstGeom prst="rect">
            <a:avLst/>
          </a:prstGeom>
          <a:noFill/>
          <a:ln/>
        </p:spPr>
        <p:txBody>
          <a:bodyPr wrap="square" lIns="0" tIns="0" rIns="0" bIns="0" rtlCol="0" anchor="t"/>
          <a:lstStyle/>
          <a:p>
            <a:pPr indent="0" marL="0">
              <a:buNone/>
            </a:pPr>
            <a:r>
              <a:rPr lang="en-US" sz="1100" b="1" dirty="0">
                <a:solidFill>
                  <a:schemeClr val="tx1"/>
                </a:solidFill>
              </a:rPr>
              <a:t>Video?</a:t>
            </a:r>
            <a:endParaRPr lang="en-US" sz="1100" dirty="0"/>
          </a:p>
        </p:txBody>
      </p:sp>
      <p:sp>
        <p:nvSpPr>
          <p:cNvPr id="27" name="Text 24"/>
          <p:cNvSpPr txBox="1"/>
          <p:nvPr/>
        </p:nvSpPr>
        <p:spPr>
          <a:xfrm>
            <a:off x="5166360" y="2679192"/>
            <a:ext cx="3474720" cy="274320"/>
          </a:xfrm>
          <a:prstGeom prst="rect">
            <a:avLst/>
          </a:prstGeom>
          <a:noFill/>
          <a:ln/>
        </p:spPr>
        <p:txBody>
          <a:bodyPr wrap="square" lIns="0" tIns="0" rIns="0" bIns="0" rtlCol="0" anchor="t"/>
          <a:lstStyle/>
          <a:p>
            <a:pPr indent="0" marL="0">
              <a:buNone/>
            </a:pPr>
            <a:r>
              <a:rPr lang="en-US" sz="1000" dirty="0">
                <a:solidFill>
                  <a:schemeClr val="tx2"/>
                </a:solidFill>
              </a:rPr>
              <a:t>Documentale e sintetico vanno distinti</a:t>
            </a:r>
            <a:endParaRPr lang="en-US" sz="1000" dirty="0"/>
          </a:p>
        </p:txBody>
      </p:sp>
      <p:sp>
        <p:nvSpPr>
          <p:cNvPr id="28" name="risposta 7"/>
          <p:cNvSpPr/>
          <p:nvPr/>
        </p:nvSpPr>
        <p:spPr>
          <a:xfrm>
            <a:off x="457200" y="3054096"/>
            <a:ext cx="4023360" cy="603504"/>
          </a:xfrm>
          <a:prstGeom prst="roundRect">
            <a:avLst>
              <a:gd name="adj" fmla="val 12121"/>
            </a:avLst>
          </a:prstGeom>
          <a:solidFill>
            <a:schemeClr val="bg2"/>
          </a:solidFill>
          <a:ln/>
        </p:spPr>
      </p:sp>
      <p:sp>
        <p:nvSpPr>
          <p:cNvPr id="29" name="Text 26"/>
          <p:cNvSpPr txBox="1"/>
          <p:nvPr/>
        </p:nvSpPr>
        <p:spPr>
          <a:xfrm>
            <a:off x="548640" y="3054096"/>
            <a:ext cx="411480" cy="603504"/>
          </a:xfrm>
          <a:prstGeom prst="rect">
            <a:avLst/>
          </a:prstGeom>
          <a:noFill/>
          <a:ln/>
        </p:spPr>
        <p:txBody>
          <a:bodyPr wrap="square" lIns="0" tIns="0" rIns="0" bIns="0" rtlCol="0" anchor="ctr"/>
          <a:lstStyle/>
          <a:p>
            <a:pPr indent="0" marL="0">
              <a:buNone/>
            </a:pPr>
            <a:r>
              <a:rPr lang="en-US" sz="1400" b="1" dirty="0">
                <a:solidFill>
                  <a:schemeClr val="accent1"/>
                </a:solidFill>
              </a:rPr>
              <a:t>7</a:t>
            </a:r>
            <a:endParaRPr lang="en-US" sz="1400" dirty="0"/>
          </a:p>
        </p:txBody>
      </p:sp>
      <p:sp>
        <p:nvSpPr>
          <p:cNvPr id="30" name="Text 27"/>
          <p:cNvSpPr txBox="1"/>
          <p:nvPr/>
        </p:nvSpPr>
        <p:spPr>
          <a:xfrm>
            <a:off x="960120" y="3090672"/>
            <a:ext cx="3474720" cy="274320"/>
          </a:xfrm>
          <a:prstGeom prst="rect">
            <a:avLst/>
          </a:prstGeom>
          <a:noFill/>
          <a:ln/>
        </p:spPr>
        <p:txBody>
          <a:bodyPr wrap="square" lIns="0" tIns="0" rIns="0" bIns="0" rtlCol="0" anchor="t"/>
          <a:lstStyle/>
          <a:p>
            <a:pPr indent="0" marL="0">
              <a:buNone/>
            </a:pPr>
            <a:r>
              <a:rPr lang="en-US" sz="1100" b="1" dirty="0">
                <a:solidFill>
                  <a:schemeClr val="tx1"/>
                </a:solidFill>
              </a:rPr>
              <a:t>Presentazioni?</a:t>
            </a:r>
            <a:endParaRPr lang="en-US" sz="1100" dirty="0"/>
          </a:p>
        </p:txBody>
      </p:sp>
      <p:sp>
        <p:nvSpPr>
          <p:cNvPr id="31" name="Text 28"/>
          <p:cNvSpPr txBox="1"/>
          <p:nvPr/>
        </p:nvSpPr>
        <p:spPr>
          <a:xfrm>
            <a:off x="960120" y="3355848"/>
            <a:ext cx="3474720" cy="274320"/>
          </a:xfrm>
          <a:prstGeom prst="rect">
            <a:avLst/>
          </a:prstGeom>
          <a:noFill/>
          <a:ln/>
        </p:spPr>
        <p:txBody>
          <a:bodyPr wrap="square" lIns="0" tIns="0" rIns="0" bIns="0" rtlCol="0" anchor="t"/>
          <a:lstStyle/>
          <a:p>
            <a:pPr indent="0" marL="0">
              <a:buNone/>
            </a:pPr>
            <a:r>
              <a:rPr lang="en-US" sz="1000" dirty="0">
                <a:solidFill>
                  <a:schemeClr val="tx2"/>
                </a:solidFill>
              </a:rPr>
              <a:t>Bozze rapide; estetica non è accuratezza</a:t>
            </a:r>
            <a:endParaRPr lang="en-US" sz="1000" dirty="0"/>
          </a:p>
        </p:txBody>
      </p:sp>
      <p:sp>
        <p:nvSpPr>
          <p:cNvPr id="32" name="risposta 8"/>
          <p:cNvSpPr/>
          <p:nvPr/>
        </p:nvSpPr>
        <p:spPr>
          <a:xfrm>
            <a:off x="4663440" y="3054096"/>
            <a:ext cx="4023360" cy="603504"/>
          </a:xfrm>
          <a:prstGeom prst="roundRect">
            <a:avLst>
              <a:gd name="adj" fmla="val 12121"/>
            </a:avLst>
          </a:prstGeom>
          <a:solidFill>
            <a:schemeClr val="bg2"/>
          </a:solidFill>
          <a:ln/>
        </p:spPr>
      </p:sp>
      <p:sp>
        <p:nvSpPr>
          <p:cNvPr id="33" name="Text 30"/>
          <p:cNvSpPr txBox="1"/>
          <p:nvPr/>
        </p:nvSpPr>
        <p:spPr>
          <a:xfrm>
            <a:off x="4754880" y="3054096"/>
            <a:ext cx="411480" cy="603504"/>
          </a:xfrm>
          <a:prstGeom prst="rect">
            <a:avLst/>
          </a:prstGeom>
          <a:noFill/>
          <a:ln/>
        </p:spPr>
        <p:txBody>
          <a:bodyPr wrap="square" lIns="0" tIns="0" rIns="0" bIns="0" rtlCol="0" anchor="ctr"/>
          <a:lstStyle/>
          <a:p>
            <a:pPr indent="0" marL="0">
              <a:buNone/>
            </a:pPr>
            <a:r>
              <a:rPr lang="en-US" sz="1400" b="1" dirty="0">
                <a:solidFill>
                  <a:schemeClr val="accent1"/>
                </a:solidFill>
              </a:rPr>
              <a:t>8</a:t>
            </a:r>
            <a:endParaRPr lang="en-US" sz="1400" dirty="0"/>
          </a:p>
        </p:txBody>
      </p:sp>
      <p:sp>
        <p:nvSpPr>
          <p:cNvPr id="34" name="Text 31"/>
          <p:cNvSpPr txBox="1"/>
          <p:nvPr/>
        </p:nvSpPr>
        <p:spPr>
          <a:xfrm>
            <a:off x="5166360" y="3090672"/>
            <a:ext cx="3474720" cy="274320"/>
          </a:xfrm>
          <a:prstGeom prst="rect">
            <a:avLst/>
          </a:prstGeom>
          <a:noFill/>
          <a:ln/>
        </p:spPr>
        <p:txBody>
          <a:bodyPr wrap="square" lIns="0" tIns="0" rIns="0" bIns="0" rtlCol="0" anchor="t"/>
          <a:lstStyle/>
          <a:p>
            <a:pPr indent="0" marL="0">
              <a:buNone/>
            </a:pPr>
            <a:r>
              <a:rPr lang="en-US" sz="1100" b="1" dirty="0">
                <a:solidFill>
                  <a:schemeClr val="tx1"/>
                </a:solidFill>
              </a:rPr>
              <a:t>Che cosa si perde?</a:t>
            </a:r>
            <a:endParaRPr lang="en-US" sz="1100" dirty="0"/>
          </a:p>
        </p:txBody>
      </p:sp>
      <p:sp>
        <p:nvSpPr>
          <p:cNvPr id="35" name="Text 32"/>
          <p:cNvSpPr txBox="1"/>
          <p:nvPr/>
        </p:nvSpPr>
        <p:spPr>
          <a:xfrm>
            <a:off x="5166360" y="3355848"/>
            <a:ext cx="3474720" cy="274320"/>
          </a:xfrm>
          <a:prstGeom prst="rect">
            <a:avLst/>
          </a:prstGeom>
          <a:noFill/>
          <a:ln/>
        </p:spPr>
        <p:txBody>
          <a:bodyPr wrap="square" lIns="0" tIns="0" rIns="0" bIns="0" rtlCol="0" anchor="t"/>
          <a:lstStyle/>
          <a:p>
            <a:pPr indent="0" marL="0">
              <a:buNone/>
            </a:pPr>
            <a:r>
              <a:rPr lang="en-US" sz="1000" dirty="0">
                <a:solidFill>
                  <a:schemeClr val="tx2"/>
                </a:solidFill>
              </a:rPr>
              <a:t>Tono, condizioni, contesto; catene di errori</a:t>
            </a:r>
            <a:endParaRPr lang="en-US" sz="1000" dirty="0"/>
          </a:p>
        </p:txBody>
      </p:sp>
      <p:sp>
        <p:nvSpPr>
          <p:cNvPr id="36" name="risposta 9"/>
          <p:cNvSpPr/>
          <p:nvPr/>
        </p:nvSpPr>
        <p:spPr>
          <a:xfrm>
            <a:off x="457200" y="3730752"/>
            <a:ext cx="4023360" cy="603504"/>
          </a:xfrm>
          <a:prstGeom prst="roundRect">
            <a:avLst>
              <a:gd name="adj" fmla="val 12121"/>
            </a:avLst>
          </a:prstGeom>
          <a:solidFill>
            <a:schemeClr val="bg2"/>
          </a:solidFill>
          <a:ln/>
        </p:spPr>
      </p:sp>
      <p:sp>
        <p:nvSpPr>
          <p:cNvPr id="37" name="Text 34"/>
          <p:cNvSpPr txBox="1"/>
          <p:nvPr/>
        </p:nvSpPr>
        <p:spPr>
          <a:xfrm>
            <a:off x="548640" y="3730752"/>
            <a:ext cx="411480" cy="603504"/>
          </a:xfrm>
          <a:prstGeom prst="rect">
            <a:avLst/>
          </a:prstGeom>
          <a:noFill/>
          <a:ln/>
        </p:spPr>
        <p:txBody>
          <a:bodyPr wrap="square" lIns="0" tIns="0" rIns="0" bIns="0" rtlCol="0" anchor="ctr"/>
          <a:lstStyle/>
          <a:p>
            <a:pPr indent="0" marL="0">
              <a:buNone/>
            </a:pPr>
            <a:r>
              <a:rPr lang="en-US" sz="1400" b="1" dirty="0">
                <a:solidFill>
                  <a:schemeClr val="accent1"/>
                </a:solidFill>
              </a:rPr>
              <a:t>9</a:t>
            </a:r>
            <a:endParaRPr lang="en-US" sz="1400" dirty="0"/>
          </a:p>
        </p:txBody>
      </p:sp>
      <p:sp>
        <p:nvSpPr>
          <p:cNvPr id="38" name="Text 35"/>
          <p:cNvSpPr txBox="1"/>
          <p:nvPr/>
        </p:nvSpPr>
        <p:spPr>
          <a:xfrm>
            <a:off x="960120" y="3767328"/>
            <a:ext cx="3474720" cy="274320"/>
          </a:xfrm>
          <a:prstGeom prst="rect">
            <a:avLst/>
          </a:prstGeom>
          <a:noFill/>
          <a:ln/>
        </p:spPr>
        <p:txBody>
          <a:bodyPr wrap="square" lIns="0" tIns="0" rIns="0" bIns="0" rtlCol="0" anchor="t"/>
          <a:lstStyle/>
          <a:p>
            <a:pPr indent="0" marL="0">
              <a:buNone/>
            </a:pPr>
            <a:r>
              <a:rPr lang="en-US" sz="1100" b="1" dirty="0">
                <a:solidFill>
                  <a:schemeClr val="tx1"/>
                </a:solidFill>
              </a:rPr>
              <a:t>Realismo, autenticità, accuratezza?</a:t>
            </a:r>
            <a:endParaRPr lang="en-US" sz="1100" dirty="0"/>
          </a:p>
        </p:txBody>
      </p:sp>
      <p:sp>
        <p:nvSpPr>
          <p:cNvPr id="39" name="Text 36"/>
          <p:cNvSpPr txBox="1"/>
          <p:nvPr/>
        </p:nvSpPr>
        <p:spPr>
          <a:xfrm>
            <a:off x="960120" y="4032504"/>
            <a:ext cx="3474720" cy="274320"/>
          </a:xfrm>
          <a:prstGeom prst="rect">
            <a:avLst/>
          </a:prstGeom>
          <a:noFill/>
          <a:ln/>
        </p:spPr>
        <p:txBody>
          <a:bodyPr wrap="square" lIns="0" tIns="0" rIns="0" bIns="0" rtlCol="0" anchor="t"/>
          <a:lstStyle/>
          <a:p>
            <a:pPr indent="0" marL="0">
              <a:buNone/>
            </a:pPr>
            <a:r>
              <a:rPr lang="en-US" sz="1000" dirty="0">
                <a:solidFill>
                  <a:schemeClr val="tx2"/>
                </a:solidFill>
              </a:rPr>
              <a:t>Tre domande separate</a:t>
            </a:r>
            <a:endParaRPr lang="en-US" sz="1000" dirty="0"/>
          </a:p>
        </p:txBody>
      </p:sp>
      <p:sp>
        <p:nvSpPr>
          <p:cNvPr id="40" name="risposta 10"/>
          <p:cNvSpPr/>
          <p:nvPr/>
        </p:nvSpPr>
        <p:spPr>
          <a:xfrm>
            <a:off x="4663440" y="3730752"/>
            <a:ext cx="4023360" cy="603504"/>
          </a:xfrm>
          <a:prstGeom prst="roundRect">
            <a:avLst>
              <a:gd name="adj" fmla="val 12121"/>
            </a:avLst>
          </a:prstGeom>
          <a:solidFill>
            <a:schemeClr val="bg2"/>
          </a:solidFill>
          <a:ln/>
        </p:spPr>
      </p:sp>
      <p:sp>
        <p:nvSpPr>
          <p:cNvPr id="41" name="Text 38"/>
          <p:cNvSpPr txBox="1"/>
          <p:nvPr/>
        </p:nvSpPr>
        <p:spPr>
          <a:xfrm>
            <a:off x="4754880" y="3730752"/>
            <a:ext cx="411480" cy="603504"/>
          </a:xfrm>
          <a:prstGeom prst="rect">
            <a:avLst/>
          </a:prstGeom>
          <a:noFill/>
          <a:ln/>
        </p:spPr>
        <p:txBody>
          <a:bodyPr wrap="square" lIns="0" tIns="0" rIns="0" bIns="0" rtlCol="0" anchor="ctr"/>
          <a:lstStyle/>
          <a:p>
            <a:pPr indent="0" marL="0">
              <a:buNone/>
            </a:pPr>
            <a:r>
              <a:rPr lang="en-US" sz="1400" b="1" dirty="0">
                <a:solidFill>
                  <a:schemeClr val="accent1"/>
                </a:solidFill>
              </a:rPr>
              <a:t>10</a:t>
            </a:r>
            <a:endParaRPr lang="en-US" sz="1400" dirty="0"/>
          </a:p>
        </p:txBody>
      </p:sp>
      <p:sp>
        <p:nvSpPr>
          <p:cNvPr id="42" name="Text 39"/>
          <p:cNvSpPr txBox="1"/>
          <p:nvPr/>
        </p:nvSpPr>
        <p:spPr>
          <a:xfrm>
            <a:off x="5166360" y="3767328"/>
            <a:ext cx="3474720" cy="274320"/>
          </a:xfrm>
          <a:prstGeom prst="rect">
            <a:avLst/>
          </a:prstGeom>
          <a:noFill/>
          <a:ln/>
        </p:spPr>
        <p:txBody>
          <a:bodyPr wrap="square" lIns="0" tIns="0" rIns="0" bIns="0" rtlCol="0" anchor="t"/>
          <a:lstStyle/>
          <a:p>
            <a:pPr indent="0" marL="0">
              <a:buNone/>
            </a:pPr>
            <a:r>
              <a:rPr lang="en-US" sz="1100" b="1" dirty="0">
                <a:solidFill>
                  <a:schemeClr val="tx1"/>
                </a:solidFill>
              </a:rPr>
              <a:t>Accessibilità?</a:t>
            </a:r>
            <a:endParaRPr lang="en-US" sz="1100" dirty="0"/>
          </a:p>
        </p:txBody>
      </p:sp>
      <p:sp>
        <p:nvSpPr>
          <p:cNvPr id="43" name="Text 40"/>
          <p:cNvSpPr txBox="1"/>
          <p:nvPr/>
        </p:nvSpPr>
        <p:spPr>
          <a:xfrm>
            <a:off x="5166360" y="4032504"/>
            <a:ext cx="3474720" cy="274320"/>
          </a:xfrm>
          <a:prstGeom prst="rect">
            <a:avLst/>
          </a:prstGeom>
          <a:noFill/>
          <a:ln/>
        </p:spPr>
        <p:txBody>
          <a:bodyPr wrap="square" lIns="0" tIns="0" rIns="0" bIns="0" rtlCol="0" anchor="t"/>
          <a:lstStyle/>
          <a:p>
            <a:pPr indent="0" marL="0">
              <a:buNone/>
            </a:pPr>
            <a:r>
              <a:rPr lang="en-US" sz="1000" dirty="0">
                <a:solidFill>
                  <a:schemeClr val="tx2"/>
                </a:solidFill>
              </a:rPr>
              <a:t>Conversioni che includono, se controllate</a:t>
            </a:r>
            <a:endParaRPr lang="en-US" sz="10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Che cosa portiamo a casa</a:t>
            </a:r>
            <a:endParaRPr lang="en-US" sz="2600" dirty="0"/>
          </a:p>
        </p:txBody>
      </p:sp>
      <p:sp>
        <p:nvSpPr>
          <p:cNvPr id="4" name="risultato 1"/>
          <p:cNvSpPr/>
          <p:nvPr/>
        </p:nvSpPr>
        <p:spPr>
          <a:xfrm>
            <a:off x="457200" y="1024128"/>
            <a:ext cx="4023360" cy="530352"/>
          </a:xfrm>
          <a:prstGeom prst="roundRect">
            <a:avLst>
              <a:gd name="adj" fmla="val 13793"/>
            </a:avLst>
          </a:prstGeom>
          <a:solidFill>
            <a:schemeClr val="bg2"/>
          </a:solidFill>
          <a:ln/>
        </p:spPr>
      </p:sp>
      <p:sp>
        <p:nvSpPr>
          <p:cNvPr id="5" name="Text 2"/>
          <p:cNvSpPr txBox="1"/>
          <p:nvPr/>
        </p:nvSpPr>
        <p:spPr>
          <a:xfrm>
            <a:off x="548640" y="1024128"/>
            <a:ext cx="411480" cy="530352"/>
          </a:xfrm>
          <a:prstGeom prst="rect">
            <a:avLst/>
          </a:prstGeom>
          <a:noFill/>
          <a:ln/>
        </p:spPr>
        <p:txBody>
          <a:bodyPr wrap="square" lIns="0" tIns="0" rIns="0" bIns="0" rtlCol="0" anchor="ctr"/>
          <a:lstStyle/>
          <a:p>
            <a:pPr indent="0" marL="0">
              <a:buNone/>
            </a:pPr>
            <a:r>
              <a:rPr lang="en-US" sz="1400" b="1" dirty="0">
                <a:solidFill>
                  <a:schemeClr val="accent1"/>
                </a:solidFill>
              </a:rPr>
              <a:t>1</a:t>
            </a:r>
            <a:endParaRPr lang="en-US" sz="1400" dirty="0"/>
          </a:p>
        </p:txBody>
      </p:sp>
      <p:sp>
        <p:nvSpPr>
          <p:cNvPr id="6" name="Text 3"/>
          <p:cNvSpPr txBox="1"/>
          <p:nvPr/>
        </p:nvSpPr>
        <p:spPr>
          <a:xfrm>
            <a:off x="960120" y="1024128"/>
            <a:ext cx="3474720" cy="530352"/>
          </a:xfrm>
          <a:prstGeom prst="rect">
            <a:avLst/>
          </a:prstGeom>
          <a:noFill/>
          <a:ln/>
        </p:spPr>
        <p:txBody>
          <a:bodyPr wrap="square" lIns="0" tIns="0" rIns="0" bIns="0" rtlCol="0" anchor="ctr"/>
          <a:lstStyle/>
          <a:p>
            <a:pPr indent="0" marL="0">
              <a:buNone/>
            </a:pPr>
            <a:r>
              <a:rPr lang="en-US" sz="1200" dirty="0">
                <a:solidFill>
                  <a:schemeClr val="tx1"/>
                </a:solidFill>
              </a:rPr>
              <a:t>Spiegare che cos'è l'AI multimodale</a:t>
            </a:r>
            <a:endParaRPr lang="en-US" sz="1200" dirty="0"/>
          </a:p>
        </p:txBody>
      </p:sp>
      <p:sp>
        <p:nvSpPr>
          <p:cNvPr id="7" name="risultato 2"/>
          <p:cNvSpPr/>
          <p:nvPr/>
        </p:nvSpPr>
        <p:spPr>
          <a:xfrm>
            <a:off x="4663440" y="1024128"/>
            <a:ext cx="4023360" cy="530352"/>
          </a:xfrm>
          <a:prstGeom prst="roundRect">
            <a:avLst>
              <a:gd name="adj" fmla="val 13793"/>
            </a:avLst>
          </a:prstGeom>
          <a:solidFill>
            <a:schemeClr val="bg2"/>
          </a:solidFill>
          <a:ln/>
        </p:spPr>
      </p:sp>
      <p:sp>
        <p:nvSpPr>
          <p:cNvPr id="8" name="Text 5"/>
          <p:cNvSpPr txBox="1"/>
          <p:nvPr/>
        </p:nvSpPr>
        <p:spPr>
          <a:xfrm>
            <a:off x="4754880" y="1024128"/>
            <a:ext cx="411480" cy="530352"/>
          </a:xfrm>
          <a:prstGeom prst="rect">
            <a:avLst/>
          </a:prstGeom>
          <a:noFill/>
          <a:ln/>
        </p:spPr>
        <p:txBody>
          <a:bodyPr wrap="square" lIns="0" tIns="0" rIns="0" bIns="0" rtlCol="0" anchor="ctr"/>
          <a:lstStyle/>
          <a:p>
            <a:pPr indent="0" marL="0">
              <a:buNone/>
            </a:pPr>
            <a:r>
              <a:rPr lang="en-US" sz="1400" b="1" dirty="0">
                <a:solidFill>
                  <a:schemeClr val="accent1"/>
                </a:solidFill>
              </a:rPr>
              <a:t>2</a:t>
            </a:r>
            <a:endParaRPr lang="en-US" sz="1400" dirty="0"/>
          </a:p>
        </p:txBody>
      </p:sp>
      <p:sp>
        <p:nvSpPr>
          <p:cNvPr id="9" name="Text 6"/>
          <p:cNvSpPr txBox="1"/>
          <p:nvPr/>
        </p:nvSpPr>
        <p:spPr>
          <a:xfrm>
            <a:off x="5166360" y="1024128"/>
            <a:ext cx="3474720" cy="530352"/>
          </a:xfrm>
          <a:prstGeom prst="rect">
            <a:avLst/>
          </a:prstGeom>
          <a:noFill/>
          <a:ln/>
        </p:spPr>
        <p:txBody>
          <a:bodyPr wrap="square" lIns="0" tIns="0" rIns="0" bIns="0" rtlCol="0" anchor="ctr"/>
          <a:lstStyle/>
          <a:p>
            <a:pPr indent="0" marL="0">
              <a:buNone/>
            </a:pPr>
            <a:r>
              <a:rPr lang="en-US" sz="1200" dirty="0">
                <a:solidFill>
                  <a:schemeClr val="tx1"/>
                </a:solidFill>
              </a:rPr>
              <a:t>Comprendere, generare, trasformare</a:t>
            </a:r>
            <a:endParaRPr lang="en-US" sz="1200" dirty="0"/>
          </a:p>
        </p:txBody>
      </p:sp>
      <p:sp>
        <p:nvSpPr>
          <p:cNvPr id="10" name="risultato 3"/>
          <p:cNvSpPr/>
          <p:nvPr/>
        </p:nvSpPr>
        <p:spPr>
          <a:xfrm>
            <a:off x="457200" y="1627632"/>
            <a:ext cx="4023360" cy="530352"/>
          </a:xfrm>
          <a:prstGeom prst="roundRect">
            <a:avLst>
              <a:gd name="adj" fmla="val 13793"/>
            </a:avLst>
          </a:prstGeom>
          <a:solidFill>
            <a:schemeClr val="bg1"/>
          </a:solidFill>
          <a:ln/>
        </p:spPr>
      </p:sp>
      <p:sp>
        <p:nvSpPr>
          <p:cNvPr id="11" name="Text 8"/>
          <p:cNvSpPr txBox="1"/>
          <p:nvPr/>
        </p:nvSpPr>
        <p:spPr>
          <a:xfrm>
            <a:off x="548640" y="1627632"/>
            <a:ext cx="411480" cy="530352"/>
          </a:xfrm>
          <a:prstGeom prst="rect">
            <a:avLst/>
          </a:prstGeom>
          <a:noFill/>
          <a:ln/>
        </p:spPr>
        <p:txBody>
          <a:bodyPr wrap="square" lIns="0" tIns="0" rIns="0" bIns="0" rtlCol="0" anchor="ctr"/>
          <a:lstStyle/>
          <a:p>
            <a:pPr indent="0" marL="0">
              <a:buNone/>
            </a:pPr>
            <a:r>
              <a:rPr lang="en-US" sz="1400" b="1" dirty="0">
                <a:solidFill>
                  <a:schemeClr val="accent1"/>
                </a:solidFill>
              </a:rPr>
              <a:t>3</a:t>
            </a:r>
            <a:endParaRPr lang="en-US" sz="1400" dirty="0"/>
          </a:p>
        </p:txBody>
      </p:sp>
      <p:sp>
        <p:nvSpPr>
          <p:cNvPr id="12" name="Text 9"/>
          <p:cNvSpPr txBox="1"/>
          <p:nvPr/>
        </p:nvSpPr>
        <p:spPr>
          <a:xfrm>
            <a:off x="960120" y="1627632"/>
            <a:ext cx="3474720" cy="530352"/>
          </a:xfrm>
          <a:prstGeom prst="rect">
            <a:avLst/>
          </a:prstGeom>
          <a:noFill/>
          <a:ln/>
        </p:spPr>
        <p:txBody>
          <a:bodyPr wrap="square" lIns="0" tIns="0" rIns="0" bIns="0" rtlCol="0" anchor="ctr"/>
          <a:lstStyle/>
          <a:p>
            <a:pPr indent="0" marL="0">
              <a:buNone/>
            </a:pPr>
            <a:r>
              <a:rPr lang="en-US" sz="1200" dirty="0">
                <a:solidFill>
                  <a:schemeClr val="tx1"/>
                </a:solidFill>
              </a:rPr>
              <a:t>Applicazioni di interpretazione visiva</a:t>
            </a:r>
            <a:endParaRPr lang="en-US" sz="1200" dirty="0"/>
          </a:p>
        </p:txBody>
      </p:sp>
      <p:sp>
        <p:nvSpPr>
          <p:cNvPr id="13" name="risultato 4"/>
          <p:cNvSpPr/>
          <p:nvPr/>
        </p:nvSpPr>
        <p:spPr>
          <a:xfrm>
            <a:off x="4663440" y="1627632"/>
            <a:ext cx="4023360" cy="530352"/>
          </a:xfrm>
          <a:prstGeom prst="roundRect">
            <a:avLst>
              <a:gd name="adj" fmla="val 13793"/>
            </a:avLst>
          </a:prstGeom>
          <a:solidFill>
            <a:schemeClr val="bg1"/>
          </a:solidFill>
          <a:ln/>
        </p:spPr>
      </p:sp>
      <p:sp>
        <p:nvSpPr>
          <p:cNvPr id="14" name="Text 11"/>
          <p:cNvSpPr txBox="1"/>
          <p:nvPr/>
        </p:nvSpPr>
        <p:spPr>
          <a:xfrm>
            <a:off x="4754880" y="1627632"/>
            <a:ext cx="411480" cy="530352"/>
          </a:xfrm>
          <a:prstGeom prst="rect">
            <a:avLst/>
          </a:prstGeom>
          <a:noFill/>
          <a:ln/>
        </p:spPr>
        <p:txBody>
          <a:bodyPr wrap="square" lIns="0" tIns="0" rIns="0" bIns="0" rtlCol="0" anchor="ctr"/>
          <a:lstStyle/>
          <a:p>
            <a:pPr indent="0" marL="0">
              <a:buNone/>
            </a:pPr>
            <a:r>
              <a:rPr lang="en-US" sz="1400" b="1" dirty="0">
                <a:solidFill>
                  <a:schemeClr val="accent1"/>
                </a:solidFill>
              </a:rPr>
              <a:t>4</a:t>
            </a:r>
            <a:endParaRPr lang="en-US" sz="1400" dirty="0"/>
          </a:p>
        </p:txBody>
      </p:sp>
      <p:sp>
        <p:nvSpPr>
          <p:cNvPr id="15" name="Text 12"/>
          <p:cNvSpPr txBox="1"/>
          <p:nvPr/>
        </p:nvSpPr>
        <p:spPr>
          <a:xfrm>
            <a:off x="5166360" y="1627632"/>
            <a:ext cx="3474720" cy="530352"/>
          </a:xfrm>
          <a:prstGeom prst="rect">
            <a:avLst/>
          </a:prstGeom>
          <a:noFill/>
          <a:ln/>
        </p:spPr>
        <p:txBody>
          <a:bodyPr wrap="square" lIns="0" tIns="0" rIns="0" bIns="0" rtlCol="0" anchor="ctr"/>
          <a:lstStyle/>
          <a:p>
            <a:pPr indent="0" marL="0">
              <a:buNone/>
            </a:pPr>
            <a:r>
              <a:rPr lang="en-US" sz="1200" dirty="0">
                <a:solidFill>
                  <a:schemeClr val="tx1"/>
                </a:solidFill>
              </a:rPr>
              <a:t>Generare e modificare immagini: possibilità e limiti</a:t>
            </a:r>
            <a:endParaRPr lang="en-US" sz="1200" dirty="0"/>
          </a:p>
        </p:txBody>
      </p:sp>
      <p:sp>
        <p:nvSpPr>
          <p:cNvPr id="16" name="risultato 5"/>
          <p:cNvSpPr/>
          <p:nvPr/>
        </p:nvSpPr>
        <p:spPr>
          <a:xfrm>
            <a:off x="457200" y="2231136"/>
            <a:ext cx="4023360" cy="530352"/>
          </a:xfrm>
          <a:prstGeom prst="roundRect">
            <a:avLst>
              <a:gd name="adj" fmla="val 13793"/>
            </a:avLst>
          </a:prstGeom>
          <a:solidFill>
            <a:schemeClr val="bg2"/>
          </a:solidFill>
          <a:ln/>
        </p:spPr>
      </p:sp>
      <p:sp>
        <p:nvSpPr>
          <p:cNvPr id="17" name="Text 14"/>
          <p:cNvSpPr txBox="1"/>
          <p:nvPr/>
        </p:nvSpPr>
        <p:spPr>
          <a:xfrm>
            <a:off x="548640" y="2231136"/>
            <a:ext cx="411480" cy="530352"/>
          </a:xfrm>
          <a:prstGeom prst="rect">
            <a:avLst/>
          </a:prstGeom>
          <a:noFill/>
          <a:ln/>
        </p:spPr>
        <p:txBody>
          <a:bodyPr wrap="square" lIns="0" tIns="0" rIns="0" bIns="0" rtlCol="0" anchor="ctr"/>
          <a:lstStyle/>
          <a:p>
            <a:pPr indent="0" marL="0">
              <a:buNone/>
            </a:pPr>
            <a:r>
              <a:rPr lang="en-US" sz="1400" b="1" dirty="0">
                <a:solidFill>
                  <a:schemeClr val="accent1"/>
                </a:solidFill>
              </a:rPr>
              <a:t>5</a:t>
            </a:r>
            <a:endParaRPr lang="en-US" sz="1400" dirty="0"/>
          </a:p>
        </p:txBody>
      </p:sp>
      <p:sp>
        <p:nvSpPr>
          <p:cNvPr id="18" name="Text 15"/>
          <p:cNvSpPr txBox="1"/>
          <p:nvPr/>
        </p:nvSpPr>
        <p:spPr>
          <a:xfrm>
            <a:off x="960120" y="2231136"/>
            <a:ext cx="3474720" cy="530352"/>
          </a:xfrm>
          <a:prstGeom prst="rect">
            <a:avLst/>
          </a:prstGeom>
          <a:noFill/>
          <a:ln/>
        </p:spPr>
        <p:txBody>
          <a:bodyPr wrap="square" lIns="0" tIns="0" rIns="0" bIns="0" rtlCol="0" anchor="ctr"/>
          <a:lstStyle/>
          <a:p>
            <a:pPr indent="0" marL="0">
              <a:buNone/>
            </a:pPr>
            <a:r>
              <a:rPr lang="en-US" sz="1200" dirty="0">
                <a:solidFill>
                  <a:schemeClr val="tx1"/>
                </a:solidFill>
              </a:rPr>
              <a:t>Capacità su audio e parlato</a:t>
            </a:r>
            <a:endParaRPr lang="en-US" sz="1200" dirty="0"/>
          </a:p>
        </p:txBody>
      </p:sp>
      <p:sp>
        <p:nvSpPr>
          <p:cNvPr id="19" name="risultato 6"/>
          <p:cNvSpPr/>
          <p:nvPr/>
        </p:nvSpPr>
        <p:spPr>
          <a:xfrm>
            <a:off x="4663440" y="2231136"/>
            <a:ext cx="4023360" cy="530352"/>
          </a:xfrm>
          <a:prstGeom prst="roundRect">
            <a:avLst>
              <a:gd name="adj" fmla="val 13793"/>
            </a:avLst>
          </a:prstGeom>
          <a:solidFill>
            <a:schemeClr val="bg2"/>
          </a:solidFill>
          <a:ln/>
        </p:spPr>
      </p:sp>
      <p:sp>
        <p:nvSpPr>
          <p:cNvPr id="20" name="Text 17"/>
          <p:cNvSpPr txBox="1"/>
          <p:nvPr/>
        </p:nvSpPr>
        <p:spPr>
          <a:xfrm>
            <a:off x="4754880" y="2231136"/>
            <a:ext cx="411480" cy="530352"/>
          </a:xfrm>
          <a:prstGeom prst="rect">
            <a:avLst/>
          </a:prstGeom>
          <a:noFill/>
          <a:ln/>
        </p:spPr>
        <p:txBody>
          <a:bodyPr wrap="square" lIns="0" tIns="0" rIns="0" bIns="0" rtlCol="0" anchor="ctr"/>
          <a:lstStyle/>
          <a:p>
            <a:pPr indent="0" marL="0">
              <a:buNone/>
            </a:pPr>
            <a:r>
              <a:rPr lang="en-US" sz="1400" b="1" dirty="0">
                <a:solidFill>
                  <a:schemeClr val="accent1"/>
                </a:solidFill>
              </a:rPr>
              <a:t>6</a:t>
            </a:r>
            <a:endParaRPr lang="en-US" sz="1400" dirty="0"/>
          </a:p>
        </p:txBody>
      </p:sp>
      <p:sp>
        <p:nvSpPr>
          <p:cNvPr id="21" name="Text 18"/>
          <p:cNvSpPr txBox="1"/>
          <p:nvPr/>
        </p:nvSpPr>
        <p:spPr>
          <a:xfrm>
            <a:off x="5166360" y="2231136"/>
            <a:ext cx="3474720" cy="530352"/>
          </a:xfrm>
          <a:prstGeom prst="rect">
            <a:avLst/>
          </a:prstGeom>
          <a:noFill/>
          <a:ln/>
        </p:spPr>
        <p:txBody>
          <a:bodyPr wrap="square" lIns="0" tIns="0" rIns="0" bIns="0" rtlCol="0" anchor="ctr"/>
          <a:lstStyle/>
          <a:p>
            <a:pPr indent="0" marL="0">
              <a:buNone/>
            </a:pPr>
            <a:r>
              <a:rPr lang="en-US" sz="1200" dirty="0">
                <a:solidFill>
                  <a:schemeClr val="tx1"/>
                </a:solidFill>
              </a:rPr>
              <a:t>Opportunità e limiti dei video</a:t>
            </a:r>
            <a:endParaRPr lang="en-US" sz="1200" dirty="0"/>
          </a:p>
        </p:txBody>
      </p:sp>
      <p:sp>
        <p:nvSpPr>
          <p:cNvPr id="22" name="risultato 7"/>
          <p:cNvSpPr/>
          <p:nvPr/>
        </p:nvSpPr>
        <p:spPr>
          <a:xfrm>
            <a:off x="457200" y="2834640"/>
            <a:ext cx="4023360" cy="530352"/>
          </a:xfrm>
          <a:prstGeom prst="roundRect">
            <a:avLst>
              <a:gd name="adj" fmla="val 13793"/>
            </a:avLst>
          </a:prstGeom>
          <a:solidFill>
            <a:schemeClr val="bg1"/>
          </a:solidFill>
          <a:ln/>
        </p:spPr>
      </p:sp>
      <p:sp>
        <p:nvSpPr>
          <p:cNvPr id="23" name="Text 20"/>
          <p:cNvSpPr txBox="1"/>
          <p:nvPr/>
        </p:nvSpPr>
        <p:spPr>
          <a:xfrm>
            <a:off x="548640" y="2834640"/>
            <a:ext cx="411480" cy="530352"/>
          </a:xfrm>
          <a:prstGeom prst="rect">
            <a:avLst/>
          </a:prstGeom>
          <a:noFill/>
          <a:ln/>
        </p:spPr>
        <p:txBody>
          <a:bodyPr wrap="square" lIns="0" tIns="0" rIns="0" bIns="0" rtlCol="0" anchor="ctr"/>
          <a:lstStyle/>
          <a:p>
            <a:pPr indent="0" marL="0">
              <a:buNone/>
            </a:pPr>
            <a:r>
              <a:rPr lang="en-US" sz="1400" b="1" dirty="0">
                <a:solidFill>
                  <a:schemeClr val="accent1"/>
                </a:solidFill>
              </a:rPr>
              <a:t>7</a:t>
            </a:r>
            <a:endParaRPr lang="en-US" sz="1400" dirty="0"/>
          </a:p>
        </p:txBody>
      </p:sp>
      <p:sp>
        <p:nvSpPr>
          <p:cNvPr id="24" name="Text 21"/>
          <p:cNvSpPr txBox="1"/>
          <p:nvPr/>
        </p:nvSpPr>
        <p:spPr>
          <a:xfrm>
            <a:off x="960120" y="2834640"/>
            <a:ext cx="3474720" cy="530352"/>
          </a:xfrm>
          <a:prstGeom prst="rect">
            <a:avLst/>
          </a:prstGeom>
          <a:noFill/>
          <a:ln/>
        </p:spPr>
        <p:txBody>
          <a:bodyPr wrap="square" lIns="0" tIns="0" rIns="0" bIns="0" rtlCol="0" anchor="ctr"/>
          <a:lstStyle/>
          <a:p>
            <a:pPr indent="0" marL="0">
              <a:buNone/>
            </a:pPr>
            <a:r>
              <a:rPr lang="en-US" sz="1200" dirty="0">
                <a:solidFill>
                  <a:schemeClr val="tx1"/>
                </a:solidFill>
              </a:rPr>
              <a:t>Presentazioni e materiali comunicativi</a:t>
            </a:r>
            <a:endParaRPr lang="en-US" sz="1200" dirty="0"/>
          </a:p>
        </p:txBody>
      </p:sp>
      <p:sp>
        <p:nvSpPr>
          <p:cNvPr id="25" name="risultato 8"/>
          <p:cNvSpPr/>
          <p:nvPr/>
        </p:nvSpPr>
        <p:spPr>
          <a:xfrm>
            <a:off x="4663440" y="2834640"/>
            <a:ext cx="4023360" cy="530352"/>
          </a:xfrm>
          <a:prstGeom prst="roundRect">
            <a:avLst>
              <a:gd name="adj" fmla="val 13793"/>
            </a:avLst>
          </a:prstGeom>
          <a:solidFill>
            <a:schemeClr val="bg1"/>
          </a:solidFill>
          <a:ln/>
        </p:spPr>
      </p:sp>
      <p:sp>
        <p:nvSpPr>
          <p:cNvPr id="26" name="Text 23"/>
          <p:cNvSpPr txBox="1"/>
          <p:nvPr/>
        </p:nvSpPr>
        <p:spPr>
          <a:xfrm>
            <a:off x="4754880" y="2834640"/>
            <a:ext cx="411480" cy="530352"/>
          </a:xfrm>
          <a:prstGeom prst="rect">
            <a:avLst/>
          </a:prstGeom>
          <a:noFill/>
          <a:ln/>
        </p:spPr>
        <p:txBody>
          <a:bodyPr wrap="square" lIns="0" tIns="0" rIns="0" bIns="0" rtlCol="0" anchor="ctr"/>
          <a:lstStyle/>
          <a:p>
            <a:pPr indent="0" marL="0">
              <a:buNone/>
            </a:pPr>
            <a:r>
              <a:rPr lang="en-US" sz="1400" b="1" dirty="0">
                <a:solidFill>
                  <a:schemeClr val="accent1"/>
                </a:solidFill>
              </a:rPr>
              <a:t>8</a:t>
            </a:r>
            <a:endParaRPr lang="en-US" sz="1400" dirty="0"/>
          </a:p>
        </p:txBody>
      </p:sp>
      <p:sp>
        <p:nvSpPr>
          <p:cNvPr id="27" name="Text 24"/>
          <p:cNvSpPr txBox="1"/>
          <p:nvPr/>
        </p:nvSpPr>
        <p:spPr>
          <a:xfrm>
            <a:off x="5166360" y="2834640"/>
            <a:ext cx="3474720" cy="530352"/>
          </a:xfrm>
          <a:prstGeom prst="rect">
            <a:avLst/>
          </a:prstGeom>
          <a:noFill/>
          <a:ln/>
        </p:spPr>
        <p:txBody>
          <a:bodyPr wrap="square" lIns="0" tIns="0" rIns="0" bIns="0" rtlCol="0" anchor="ctr"/>
          <a:lstStyle/>
          <a:p>
            <a:pPr indent="0" marL="0">
              <a:buNone/>
            </a:pPr>
            <a:r>
              <a:rPr lang="en-US" sz="1200" dirty="0">
                <a:solidFill>
                  <a:schemeClr val="tx1"/>
                </a:solidFill>
              </a:rPr>
              <a:t>Trasformazioni tra modalità</a:t>
            </a:r>
            <a:endParaRPr lang="en-US" sz="1200" dirty="0"/>
          </a:p>
        </p:txBody>
      </p:sp>
      <p:sp>
        <p:nvSpPr>
          <p:cNvPr id="28" name="risultato 9"/>
          <p:cNvSpPr/>
          <p:nvPr/>
        </p:nvSpPr>
        <p:spPr>
          <a:xfrm>
            <a:off x="457200" y="3438144"/>
            <a:ext cx="4023360" cy="530352"/>
          </a:xfrm>
          <a:prstGeom prst="roundRect">
            <a:avLst>
              <a:gd name="adj" fmla="val 13793"/>
            </a:avLst>
          </a:prstGeom>
          <a:solidFill>
            <a:schemeClr val="bg2"/>
          </a:solidFill>
          <a:ln/>
        </p:spPr>
      </p:sp>
      <p:sp>
        <p:nvSpPr>
          <p:cNvPr id="29" name="Text 26"/>
          <p:cNvSpPr txBox="1"/>
          <p:nvPr/>
        </p:nvSpPr>
        <p:spPr>
          <a:xfrm>
            <a:off x="548640" y="3438144"/>
            <a:ext cx="411480" cy="530352"/>
          </a:xfrm>
          <a:prstGeom prst="rect">
            <a:avLst/>
          </a:prstGeom>
          <a:noFill/>
          <a:ln/>
        </p:spPr>
        <p:txBody>
          <a:bodyPr wrap="square" lIns="0" tIns="0" rIns="0" bIns="0" rtlCol="0" anchor="ctr"/>
          <a:lstStyle/>
          <a:p>
            <a:pPr indent="0" marL="0">
              <a:buNone/>
            </a:pPr>
            <a:r>
              <a:rPr lang="en-US" sz="1400" b="1" dirty="0">
                <a:solidFill>
                  <a:schemeClr val="accent1"/>
                </a:solidFill>
              </a:rPr>
              <a:t>9</a:t>
            </a:r>
            <a:endParaRPr lang="en-US" sz="1400" dirty="0"/>
          </a:p>
        </p:txBody>
      </p:sp>
      <p:sp>
        <p:nvSpPr>
          <p:cNvPr id="30" name="Text 27"/>
          <p:cNvSpPr txBox="1"/>
          <p:nvPr/>
        </p:nvSpPr>
        <p:spPr>
          <a:xfrm>
            <a:off x="960120" y="3438144"/>
            <a:ext cx="3474720" cy="530352"/>
          </a:xfrm>
          <a:prstGeom prst="rect">
            <a:avLst/>
          </a:prstGeom>
          <a:noFill/>
          <a:ln/>
        </p:spPr>
        <p:txBody>
          <a:bodyPr wrap="square" lIns="0" tIns="0" rIns="0" bIns="0" rtlCol="0" anchor="ctr"/>
          <a:lstStyle/>
          <a:p>
            <a:pPr indent="0" marL="0">
              <a:buNone/>
            </a:pPr>
            <a:r>
              <a:rPr lang="en-US" sz="1200" dirty="0">
                <a:solidFill>
                  <a:schemeClr val="tx1"/>
                </a:solidFill>
              </a:rPr>
              <a:t>Il contributo all'accessibilità</a:t>
            </a:r>
            <a:endParaRPr lang="en-US" sz="1200" dirty="0"/>
          </a:p>
        </p:txBody>
      </p:sp>
      <p:sp>
        <p:nvSpPr>
          <p:cNvPr id="31" name="risultato 10"/>
          <p:cNvSpPr/>
          <p:nvPr/>
        </p:nvSpPr>
        <p:spPr>
          <a:xfrm>
            <a:off x="4663440" y="3438144"/>
            <a:ext cx="4023360" cy="530352"/>
          </a:xfrm>
          <a:prstGeom prst="roundRect">
            <a:avLst>
              <a:gd name="adj" fmla="val 13793"/>
            </a:avLst>
          </a:prstGeom>
          <a:solidFill>
            <a:schemeClr val="bg2"/>
          </a:solidFill>
          <a:ln/>
        </p:spPr>
      </p:sp>
      <p:sp>
        <p:nvSpPr>
          <p:cNvPr id="32" name="Text 29"/>
          <p:cNvSpPr txBox="1"/>
          <p:nvPr/>
        </p:nvSpPr>
        <p:spPr>
          <a:xfrm>
            <a:off x="4754880" y="3438144"/>
            <a:ext cx="411480" cy="530352"/>
          </a:xfrm>
          <a:prstGeom prst="rect">
            <a:avLst/>
          </a:prstGeom>
          <a:noFill/>
          <a:ln/>
        </p:spPr>
        <p:txBody>
          <a:bodyPr wrap="square" lIns="0" tIns="0" rIns="0" bIns="0" rtlCol="0" anchor="ctr"/>
          <a:lstStyle/>
          <a:p>
            <a:pPr indent="0" marL="0">
              <a:buNone/>
            </a:pPr>
            <a:r>
              <a:rPr lang="en-US" sz="1400" b="1" dirty="0">
                <a:solidFill>
                  <a:schemeClr val="accent1"/>
                </a:solidFill>
              </a:rPr>
              <a:t>10</a:t>
            </a:r>
            <a:endParaRPr lang="en-US" sz="1400" dirty="0"/>
          </a:p>
        </p:txBody>
      </p:sp>
      <p:sp>
        <p:nvSpPr>
          <p:cNvPr id="33" name="Text 30"/>
          <p:cNvSpPr txBox="1"/>
          <p:nvPr/>
        </p:nvSpPr>
        <p:spPr>
          <a:xfrm>
            <a:off x="5166360" y="3438144"/>
            <a:ext cx="3474720" cy="530352"/>
          </a:xfrm>
          <a:prstGeom prst="rect">
            <a:avLst/>
          </a:prstGeom>
          <a:noFill/>
          <a:ln/>
        </p:spPr>
        <p:txBody>
          <a:bodyPr wrap="square" lIns="0" tIns="0" rIns="0" bIns="0" rtlCol="0" anchor="ctr"/>
          <a:lstStyle/>
          <a:p>
            <a:pPr indent="0" marL="0">
              <a:buNone/>
            </a:pPr>
            <a:r>
              <a:rPr lang="en-US" sz="1200" dirty="0">
                <a:solidFill>
                  <a:schemeClr val="tx1"/>
                </a:solidFill>
              </a:rPr>
              <a:t>Realismo, autenticità, accuratezza</a:t>
            </a:r>
            <a:endParaRPr lang="en-US" sz="1200" dirty="0"/>
          </a:p>
        </p:txBody>
      </p:sp>
      <p:sp>
        <p:nvSpPr>
          <p:cNvPr id="34" name="risultato 11"/>
          <p:cNvSpPr/>
          <p:nvPr/>
        </p:nvSpPr>
        <p:spPr>
          <a:xfrm>
            <a:off x="457200" y="4041648"/>
            <a:ext cx="4023360" cy="530352"/>
          </a:xfrm>
          <a:prstGeom prst="roundRect">
            <a:avLst>
              <a:gd name="adj" fmla="val 13793"/>
            </a:avLst>
          </a:prstGeom>
          <a:solidFill>
            <a:schemeClr val="bg1"/>
          </a:solidFill>
          <a:ln/>
        </p:spPr>
      </p:sp>
      <p:sp>
        <p:nvSpPr>
          <p:cNvPr id="35" name="Text 32"/>
          <p:cNvSpPr txBox="1"/>
          <p:nvPr/>
        </p:nvSpPr>
        <p:spPr>
          <a:xfrm>
            <a:off x="548640" y="4041648"/>
            <a:ext cx="411480" cy="530352"/>
          </a:xfrm>
          <a:prstGeom prst="rect">
            <a:avLst/>
          </a:prstGeom>
          <a:noFill/>
          <a:ln/>
        </p:spPr>
        <p:txBody>
          <a:bodyPr wrap="square" lIns="0" tIns="0" rIns="0" bIns="0" rtlCol="0" anchor="ctr"/>
          <a:lstStyle/>
          <a:p>
            <a:pPr indent="0" marL="0">
              <a:buNone/>
            </a:pPr>
            <a:r>
              <a:rPr lang="en-US" sz="1400" b="1" dirty="0">
                <a:solidFill>
                  <a:schemeClr val="accent1"/>
                </a:solidFill>
              </a:rPr>
              <a:t>11</a:t>
            </a:r>
            <a:endParaRPr lang="en-US" sz="1400" dirty="0"/>
          </a:p>
        </p:txBody>
      </p:sp>
      <p:sp>
        <p:nvSpPr>
          <p:cNvPr id="36" name="Text 33"/>
          <p:cNvSpPr txBox="1"/>
          <p:nvPr/>
        </p:nvSpPr>
        <p:spPr>
          <a:xfrm>
            <a:off x="960120" y="4041648"/>
            <a:ext cx="3474720" cy="530352"/>
          </a:xfrm>
          <a:prstGeom prst="rect">
            <a:avLst/>
          </a:prstGeom>
          <a:noFill/>
          <a:ln/>
        </p:spPr>
        <p:txBody>
          <a:bodyPr wrap="square" lIns="0" tIns="0" rIns="0" bIns="0" rtlCol="0" anchor="ctr"/>
          <a:lstStyle/>
          <a:p>
            <a:pPr indent="0" marL="0">
              <a:buNone/>
            </a:pPr>
            <a:r>
              <a:rPr lang="en-US" sz="1200" dirty="0">
                <a:solidFill>
                  <a:schemeClr val="tx1"/>
                </a:solidFill>
              </a:rPr>
              <a:t>Perdita di significato nelle trasformazioni</a:t>
            </a:r>
            <a:endParaRPr lang="en-US" sz="1200" dirty="0"/>
          </a:p>
        </p:txBody>
      </p:sp>
      <p:sp>
        <p:nvSpPr>
          <p:cNvPr id="37" name="risultato 12"/>
          <p:cNvSpPr/>
          <p:nvPr/>
        </p:nvSpPr>
        <p:spPr>
          <a:xfrm>
            <a:off x="4663440" y="4041648"/>
            <a:ext cx="4023360" cy="530352"/>
          </a:xfrm>
          <a:prstGeom prst="roundRect">
            <a:avLst>
              <a:gd name="adj" fmla="val 13793"/>
            </a:avLst>
          </a:prstGeom>
          <a:solidFill>
            <a:schemeClr val="bg1"/>
          </a:solidFill>
          <a:ln/>
        </p:spPr>
      </p:sp>
      <p:sp>
        <p:nvSpPr>
          <p:cNvPr id="38" name="Text 35"/>
          <p:cNvSpPr txBox="1"/>
          <p:nvPr/>
        </p:nvSpPr>
        <p:spPr>
          <a:xfrm>
            <a:off x="4754880" y="4041648"/>
            <a:ext cx="411480" cy="530352"/>
          </a:xfrm>
          <a:prstGeom prst="rect">
            <a:avLst/>
          </a:prstGeom>
          <a:noFill/>
          <a:ln/>
        </p:spPr>
        <p:txBody>
          <a:bodyPr wrap="square" lIns="0" tIns="0" rIns="0" bIns="0" rtlCol="0" anchor="ctr"/>
          <a:lstStyle/>
          <a:p>
            <a:pPr indent="0" marL="0">
              <a:buNone/>
            </a:pPr>
            <a:r>
              <a:rPr lang="en-US" sz="1400" b="1" dirty="0">
                <a:solidFill>
                  <a:schemeClr val="accent1"/>
                </a:solidFill>
              </a:rPr>
              <a:t>12</a:t>
            </a:r>
            <a:endParaRPr lang="en-US" sz="1400" dirty="0"/>
          </a:p>
        </p:txBody>
      </p:sp>
      <p:sp>
        <p:nvSpPr>
          <p:cNvPr id="39" name="Text 36"/>
          <p:cNvSpPr txBox="1"/>
          <p:nvPr/>
        </p:nvSpPr>
        <p:spPr>
          <a:xfrm>
            <a:off x="5166360" y="4041648"/>
            <a:ext cx="3474720" cy="530352"/>
          </a:xfrm>
          <a:prstGeom prst="rect">
            <a:avLst/>
          </a:prstGeom>
          <a:noFill/>
          <a:ln/>
        </p:spPr>
        <p:txBody>
          <a:bodyPr wrap="square" lIns="0" tIns="0" rIns="0" bIns="0" rtlCol="0" anchor="ctr"/>
          <a:lstStyle/>
          <a:p>
            <a:pPr indent="0" marL="0">
              <a:buNone/>
            </a:pPr>
            <a:r>
              <a:rPr lang="en-US" sz="1200" dirty="0">
                <a:solidFill>
                  <a:schemeClr val="tx1"/>
                </a:solidFill>
              </a:rPr>
              <a:t>Verificare provenienza, fedeltà, adeguatezza</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Una scheda pratica</a:t>
            </a:r>
            <a:endParaRPr lang="en-US" sz="2600" dirty="0"/>
          </a:p>
        </p:txBody>
      </p:sp>
      <p:sp>
        <p:nvSpPr>
          <p:cNvPr id="4" name="Interpretare"/>
          <p:cNvSpPr/>
          <p:nvPr/>
        </p:nvSpPr>
        <p:spPr>
          <a:xfrm>
            <a:off x="457200" y="1051560"/>
            <a:ext cx="1965960" cy="2697480"/>
          </a:xfrm>
          <a:prstGeom prst="roundRect">
            <a:avLst>
              <a:gd name="adj" fmla="val 3721"/>
            </a:avLst>
          </a:prstGeom>
          <a:solidFill>
            <a:schemeClr val="bg2"/>
          </a:solidFill>
          <a:ln/>
        </p:spPr>
      </p:sp>
      <p:sp>
        <p:nvSpPr>
          <p:cNvPr id="5" name="Text 2"/>
          <p:cNvSpPr txBox="1"/>
          <p:nvPr/>
        </p:nvSpPr>
        <p:spPr>
          <a:xfrm>
            <a:off x="594360" y="1143000"/>
            <a:ext cx="1737360" cy="384048"/>
          </a:xfrm>
          <a:prstGeom prst="rect">
            <a:avLst/>
          </a:prstGeom>
          <a:noFill/>
          <a:ln/>
        </p:spPr>
        <p:txBody>
          <a:bodyPr wrap="square" lIns="0" tIns="0" rIns="0" bIns="0" rtlCol="0" anchor="t"/>
          <a:lstStyle/>
          <a:p>
            <a:pPr indent="0" marL="0">
              <a:buNone/>
            </a:pPr>
            <a:r>
              <a:rPr lang="en-US" sz="1600" b="1" dirty="0">
                <a:solidFill>
                  <a:schemeClr val="accent1"/>
                </a:solidFill>
              </a:rPr>
              <a:t>Interpretare</a:t>
            </a:r>
            <a:endParaRPr lang="en-US" sz="1600" dirty="0"/>
          </a:p>
        </p:txBody>
      </p:sp>
      <p:sp>
        <p:nvSpPr>
          <p:cNvPr id="6" name="Text 3"/>
          <p:cNvSpPr txBox="1"/>
          <p:nvPr/>
        </p:nvSpPr>
        <p:spPr>
          <a:xfrm>
            <a:off x="594360" y="1600200"/>
            <a:ext cx="1755648" cy="205740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chemeClr val="tx1"/>
                </a:solidFill>
              </a:rPr>
              <a:t>Dettagli e numeri sull'originale</a:t>
            </a:r>
            <a:endParaRPr lang="en-US" sz="1200" dirty="0"/>
          </a:p>
          <a:p>
            <a:pPr marL="177800" indent="-177800">
              <a:spcAft>
                <a:spcPts val="600"/>
              </a:spcAft>
              <a:buSzPct val="100000"/>
              <a:buChar char="•"/>
            </a:pPr>
            <a:r>
              <a:rPr lang="en-US" sz="1200" dirty="0">
                <a:solidFill>
                  <a:schemeClr val="tx1"/>
                </a:solidFill>
              </a:rPr>
              <a:t>Descrivere non è comprendere</a:t>
            </a:r>
            <a:endParaRPr lang="en-US" sz="1200" dirty="0"/>
          </a:p>
          <a:p>
            <a:pPr marL="177800" indent="-177800">
              <a:spcAft>
                <a:spcPts val="600"/>
              </a:spcAft>
              <a:buSzPct val="100000"/>
              <a:buChar char="•"/>
            </a:pPr>
            <a:r>
              <a:rPr lang="en-US" sz="1200" dirty="0">
                <a:solidFill>
                  <a:schemeClr val="tx1"/>
                </a:solidFill>
              </a:rPr>
              <a:t>Contesto e provenienza fuori dal contenuto</a:t>
            </a:r>
            <a:endParaRPr lang="en-US" sz="1200" dirty="0"/>
          </a:p>
        </p:txBody>
      </p:sp>
      <p:sp>
        <p:nvSpPr>
          <p:cNvPr id="7" name="Generare"/>
          <p:cNvSpPr/>
          <p:nvPr/>
        </p:nvSpPr>
        <p:spPr>
          <a:xfrm>
            <a:off x="2560320" y="1051560"/>
            <a:ext cx="1965960" cy="2697480"/>
          </a:xfrm>
          <a:prstGeom prst="roundRect">
            <a:avLst>
              <a:gd name="adj" fmla="val 3721"/>
            </a:avLst>
          </a:prstGeom>
          <a:solidFill>
            <a:schemeClr val="accent6"/>
          </a:solidFill>
          <a:ln/>
        </p:spPr>
      </p:sp>
      <p:sp>
        <p:nvSpPr>
          <p:cNvPr id="8" name="Text 5"/>
          <p:cNvSpPr txBox="1"/>
          <p:nvPr/>
        </p:nvSpPr>
        <p:spPr>
          <a:xfrm>
            <a:off x="2697480" y="1143000"/>
            <a:ext cx="1737360" cy="384048"/>
          </a:xfrm>
          <a:prstGeom prst="rect">
            <a:avLst/>
          </a:prstGeom>
          <a:noFill/>
          <a:ln/>
        </p:spPr>
        <p:txBody>
          <a:bodyPr wrap="square" lIns="0" tIns="0" rIns="0" bIns="0" rtlCol="0" anchor="t"/>
          <a:lstStyle/>
          <a:p>
            <a:pPr indent="0" marL="0">
              <a:buNone/>
            </a:pPr>
            <a:r>
              <a:rPr lang="en-US" sz="1600" b="1" dirty="0">
                <a:solidFill>
                  <a:schemeClr val="accent1"/>
                </a:solidFill>
              </a:rPr>
              <a:t>Generare</a:t>
            </a:r>
            <a:endParaRPr lang="en-US" sz="1600" dirty="0"/>
          </a:p>
        </p:txBody>
      </p:sp>
      <p:sp>
        <p:nvSpPr>
          <p:cNvPr id="9" name="Text 6"/>
          <p:cNvSpPr txBox="1"/>
          <p:nvPr/>
        </p:nvSpPr>
        <p:spPr>
          <a:xfrm>
            <a:off x="2697480" y="1600200"/>
            <a:ext cx="1755648" cy="205740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chemeClr val="tx1"/>
                </a:solidFill>
              </a:rPr>
              <a:t>Per esplorare</a:t>
            </a:r>
            <a:endParaRPr lang="en-US" sz="1200" dirty="0"/>
          </a:p>
          <a:p>
            <a:pPr marL="177800" indent="-177800">
              <a:spcAft>
                <a:spcPts val="600"/>
              </a:spcAft>
              <a:buSzPct val="100000"/>
              <a:buChar char="•"/>
            </a:pPr>
            <a:r>
              <a:rPr lang="en-US" sz="1200" dirty="0">
                <a:solidFill>
                  <a:schemeClr val="tx1"/>
                </a:solidFill>
              </a:rPr>
              <a:t>Dettagli, testi, coerenza</a:t>
            </a:r>
            <a:endParaRPr lang="en-US" sz="1200" dirty="0"/>
          </a:p>
          <a:p>
            <a:pPr marL="177800" indent="-177800">
              <a:spcAft>
                <a:spcPts val="600"/>
              </a:spcAft>
              <a:buSzPct val="100000"/>
              <a:buChar char="•"/>
            </a:pPr>
            <a:r>
              <a:rPr lang="en-US" sz="1200" dirty="0">
                <a:solidFill>
                  <a:schemeClr val="tx1"/>
                </a:solidFill>
              </a:rPr>
              <a:t>Marchio, diritti, persone; dichiarare</a:t>
            </a:r>
            <a:endParaRPr lang="en-US" sz="1200" dirty="0"/>
          </a:p>
        </p:txBody>
      </p:sp>
      <p:sp>
        <p:nvSpPr>
          <p:cNvPr id="10" name="Trasformare"/>
          <p:cNvSpPr/>
          <p:nvPr/>
        </p:nvSpPr>
        <p:spPr>
          <a:xfrm>
            <a:off x="4663440" y="1051560"/>
            <a:ext cx="1965960" cy="2697480"/>
          </a:xfrm>
          <a:prstGeom prst="roundRect">
            <a:avLst>
              <a:gd name="adj" fmla="val 3721"/>
            </a:avLst>
          </a:prstGeom>
          <a:solidFill>
            <a:schemeClr val="bg2"/>
          </a:solidFill>
          <a:ln/>
        </p:spPr>
      </p:sp>
      <p:sp>
        <p:nvSpPr>
          <p:cNvPr id="11" name="Text 8"/>
          <p:cNvSpPr txBox="1"/>
          <p:nvPr/>
        </p:nvSpPr>
        <p:spPr>
          <a:xfrm>
            <a:off x="4800600" y="1143000"/>
            <a:ext cx="1737360" cy="384048"/>
          </a:xfrm>
          <a:prstGeom prst="rect">
            <a:avLst/>
          </a:prstGeom>
          <a:noFill/>
          <a:ln/>
        </p:spPr>
        <p:txBody>
          <a:bodyPr wrap="square" lIns="0" tIns="0" rIns="0" bIns="0" rtlCol="0" anchor="t"/>
          <a:lstStyle/>
          <a:p>
            <a:pPr indent="0" marL="0">
              <a:buNone/>
            </a:pPr>
            <a:r>
              <a:rPr lang="en-US" sz="1600" b="1" dirty="0">
                <a:solidFill>
                  <a:schemeClr val="accent1"/>
                </a:solidFill>
              </a:rPr>
              <a:t>Trasformare</a:t>
            </a:r>
            <a:endParaRPr lang="en-US" sz="1600" dirty="0"/>
          </a:p>
        </p:txBody>
      </p:sp>
      <p:sp>
        <p:nvSpPr>
          <p:cNvPr id="12" name="Text 9"/>
          <p:cNvSpPr txBox="1"/>
          <p:nvPr/>
        </p:nvSpPr>
        <p:spPr>
          <a:xfrm>
            <a:off x="4800600" y="1600200"/>
            <a:ext cx="1755648" cy="205740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chemeClr val="tx1"/>
                </a:solidFill>
              </a:rPr>
              <a:t>Elementi critici</a:t>
            </a:r>
            <a:endParaRPr lang="en-US" sz="1200" dirty="0"/>
          </a:p>
          <a:p>
            <a:pPr marL="177800" indent="-177800">
              <a:spcAft>
                <a:spcPts val="600"/>
              </a:spcAft>
              <a:buSzPct val="100000"/>
              <a:buChar char="•"/>
            </a:pPr>
            <a:r>
              <a:rPr lang="en-US" sz="1200" dirty="0">
                <a:solidFill>
                  <a:schemeClr val="tx1"/>
                </a:solidFill>
              </a:rPr>
              <a:t>Catene brevi</a:t>
            </a:r>
            <a:endParaRPr lang="en-US" sz="1200" dirty="0"/>
          </a:p>
          <a:p>
            <a:pPr marL="177800" indent="-177800">
              <a:spcAft>
                <a:spcPts val="600"/>
              </a:spcAft>
              <a:buSzPct val="100000"/>
              <a:buChar char="•"/>
            </a:pPr>
            <a:r>
              <a:rPr lang="en-US" sz="1200" dirty="0">
                <a:solidFill>
                  <a:schemeClr val="tx1"/>
                </a:solidFill>
              </a:rPr>
              <a:t>Confronto con l'originale</a:t>
            </a:r>
            <a:endParaRPr lang="en-US" sz="1200" dirty="0"/>
          </a:p>
        </p:txBody>
      </p:sp>
      <p:sp>
        <p:nvSpPr>
          <p:cNvPr id="13" name="Valutare"/>
          <p:cNvSpPr/>
          <p:nvPr/>
        </p:nvSpPr>
        <p:spPr>
          <a:xfrm>
            <a:off x="6766560" y="1051560"/>
            <a:ext cx="1965960" cy="2697480"/>
          </a:xfrm>
          <a:prstGeom prst="roundRect">
            <a:avLst>
              <a:gd name="adj" fmla="val 3721"/>
            </a:avLst>
          </a:prstGeom>
          <a:solidFill>
            <a:schemeClr val="accent6"/>
          </a:solidFill>
          <a:ln/>
        </p:spPr>
      </p:sp>
      <p:sp>
        <p:nvSpPr>
          <p:cNvPr id="14" name="Text 11"/>
          <p:cNvSpPr txBox="1"/>
          <p:nvPr/>
        </p:nvSpPr>
        <p:spPr>
          <a:xfrm>
            <a:off x="6903720" y="1143000"/>
            <a:ext cx="1737360" cy="384048"/>
          </a:xfrm>
          <a:prstGeom prst="rect">
            <a:avLst/>
          </a:prstGeom>
          <a:noFill/>
          <a:ln/>
        </p:spPr>
        <p:txBody>
          <a:bodyPr wrap="square" lIns="0" tIns="0" rIns="0" bIns="0" rtlCol="0" anchor="t"/>
          <a:lstStyle/>
          <a:p>
            <a:pPr indent="0" marL="0">
              <a:buNone/>
            </a:pPr>
            <a:r>
              <a:rPr lang="en-US" sz="1600" b="1" dirty="0">
                <a:solidFill>
                  <a:schemeClr val="accent1"/>
                </a:solidFill>
              </a:rPr>
              <a:t>Valutare</a:t>
            </a:r>
            <a:endParaRPr lang="en-US" sz="1600" dirty="0"/>
          </a:p>
        </p:txBody>
      </p:sp>
      <p:sp>
        <p:nvSpPr>
          <p:cNvPr id="15" name="Text 12"/>
          <p:cNvSpPr txBox="1"/>
          <p:nvPr/>
        </p:nvSpPr>
        <p:spPr>
          <a:xfrm>
            <a:off x="6903720" y="1600200"/>
            <a:ext cx="1755648" cy="205740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chemeClr val="tx1"/>
                </a:solidFill>
              </a:rPr>
              <a:t>Reale? Da dove? Vero?</a:t>
            </a:r>
            <a:endParaRPr lang="en-US" sz="1200" dirty="0"/>
          </a:p>
          <a:p>
            <a:pPr marL="177800" indent="-177800">
              <a:spcAft>
                <a:spcPts val="600"/>
              </a:spcAft>
              <a:buSzPct val="100000"/>
              <a:buChar char="•"/>
            </a:pPr>
            <a:r>
              <a:rPr lang="en-US" sz="1200" dirty="0">
                <a:solidFill>
                  <a:schemeClr val="tx1"/>
                </a:solidFill>
              </a:rPr>
              <a:t>Canali indipendenti</a:t>
            </a:r>
            <a:endParaRPr lang="en-US" sz="1200" dirty="0"/>
          </a:p>
          <a:p>
            <a:pPr marL="177800" indent="-177800">
              <a:spcAft>
                <a:spcPts val="600"/>
              </a:spcAft>
              <a:buSzPct val="100000"/>
              <a:buChar char="•"/>
            </a:pPr>
            <a:r>
              <a:rPr lang="en-US" sz="1200" dirty="0">
                <a:solidFill>
                  <a:schemeClr val="tx1"/>
                </a:solidFill>
              </a:rPr>
              <a:t>Controlli proporzionati</a:t>
            </a:r>
            <a:endParaRPr lang="en-US" sz="1200" dirty="0"/>
          </a:p>
        </p:txBody>
      </p:sp>
      <p:sp>
        <p:nvSpPr>
          <p:cNvPr id="16" name="messaggio"/>
          <p:cNvSpPr/>
          <p:nvPr/>
        </p:nvSpPr>
        <p:spPr>
          <a:xfrm>
            <a:off x="457200" y="3931920"/>
            <a:ext cx="8229600" cy="594360"/>
          </a:xfrm>
          <a:prstGeom prst="roundRect">
            <a:avLst>
              <a:gd name="adj" fmla="val 12308"/>
            </a:avLst>
          </a:prstGeom>
          <a:solidFill>
            <a:schemeClr val="tx1"/>
          </a:solidFill>
          <a:ln/>
        </p:spPr>
      </p:sp>
      <p:sp>
        <p:nvSpPr>
          <p:cNvPr id="17" name="Text 14"/>
          <p:cNvSpPr txBox="1"/>
          <p:nvPr/>
        </p:nvSpPr>
        <p:spPr>
          <a:xfrm>
            <a:off x="640080" y="3931920"/>
            <a:ext cx="7863840" cy="594360"/>
          </a:xfrm>
          <a:prstGeom prst="rect">
            <a:avLst/>
          </a:prstGeom>
          <a:noFill/>
          <a:ln/>
        </p:spPr>
        <p:txBody>
          <a:bodyPr wrap="square" lIns="0" tIns="0" rIns="0" bIns="0" rtlCol="0" anchor="ctr"/>
          <a:lstStyle/>
          <a:p>
            <a:pPr indent="0" marL="0">
              <a:buNone/>
            </a:pPr>
            <a:r>
              <a:rPr lang="en-US" sz="1300" dirty="0">
                <a:solidFill>
                  <a:schemeClr val="bg1"/>
                </a:solidFill>
              </a:rPr>
              <a:t>Sempre: strumenti autorizzati e consenso delle persone coinvolte in immagini, registrazioni e video.</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Che cosa evitare</a:t>
            </a:r>
            <a:endParaRPr lang="en-US" sz="2600" dirty="0"/>
          </a:p>
        </p:txBody>
      </p:sp>
      <p:sp>
        <p:nvSpPr>
          <p:cNvPr id="4" name="evitare 1"/>
          <p:cNvSpPr/>
          <p:nvPr/>
        </p:nvSpPr>
        <p:spPr>
          <a:xfrm>
            <a:off x="457200" y="1051560"/>
            <a:ext cx="4023360" cy="1024128"/>
          </a:xfrm>
          <a:prstGeom prst="roundRect">
            <a:avLst>
              <a:gd name="adj" fmla="val 7143"/>
            </a:avLst>
          </a:prstGeom>
          <a:solidFill>
            <a:schemeClr val="bg2"/>
          </a:solidFill>
          <a:ln/>
        </p:spPr>
      </p:sp>
      <p:sp>
        <p:nvSpPr>
          <p:cNvPr id="5" name="cerchio FiCamera"/>
          <p:cNvSpPr/>
          <p:nvPr/>
        </p:nvSpPr>
        <p:spPr>
          <a:xfrm>
            <a:off x="621792" y="1216152"/>
            <a:ext cx="457200" cy="457200"/>
          </a:xfrm>
          <a:prstGeom prst="ellipse">
            <a:avLst/>
          </a:prstGeom>
          <a:solidFill>
            <a:schemeClr val="accent5"/>
          </a:solidFill>
          <a:ln/>
        </p:spPr>
      </p:sp>
      <p:pic>
        <p:nvPicPr>
          <p:cNvPr id="6" name="Image 0" descr="FiCamera">    </p:cNvPr>
          <p:cNvPicPr>
            <a:picLocks noChangeAspect="1"/>
          </p:cNvPicPr>
          <p:nvPr/>
        </p:nvPicPr>
        <p:blipFill>
          <a:blip r:embed="rId1"/>
          <a:stretch>
            <a:fillRect/>
          </a:stretch>
        </p:blipFill>
        <p:spPr>
          <a:xfrm>
            <a:off x="736092" y="1330452"/>
            <a:ext cx="228600" cy="228600"/>
          </a:xfrm>
          <a:prstGeom prst="rect">
            <a:avLst/>
          </a:prstGeom>
        </p:spPr>
      </p:pic>
      <p:sp>
        <p:nvSpPr>
          <p:cNvPr id="7" name="Text 3"/>
          <p:cNvSpPr txBox="1"/>
          <p:nvPr/>
        </p:nvSpPr>
        <p:spPr>
          <a:xfrm>
            <a:off x="1188720" y="1143000"/>
            <a:ext cx="2697480" cy="502920"/>
          </a:xfrm>
          <a:prstGeom prst="rect">
            <a:avLst/>
          </a:prstGeom>
          <a:noFill/>
          <a:ln/>
        </p:spPr>
        <p:txBody>
          <a:bodyPr wrap="square" lIns="0" tIns="0" rIns="0" bIns="0" rtlCol="0" anchor="ctr"/>
          <a:lstStyle/>
          <a:p>
            <a:pPr indent="0" marL="0">
              <a:buNone/>
            </a:pPr>
            <a:r>
              <a:rPr lang="en-US" sz="1300" b="1" dirty="0">
                <a:solidFill>
                  <a:schemeClr val="tx1"/>
                </a:solidFill>
              </a:rPr>
              <a:t>"L'ha letto dalla foto, è giusto"</a:t>
            </a:r>
            <a:endParaRPr lang="en-US" sz="1300" dirty="0"/>
          </a:p>
        </p:txBody>
      </p:sp>
      <p:sp>
        <p:nvSpPr>
          <p:cNvPr id="8" name="Text 4"/>
          <p:cNvSpPr txBox="1"/>
          <p:nvPr/>
        </p:nvSpPr>
        <p:spPr>
          <a:xfrm>
            <a:off x="1188720" y="1655064"/>
            <a:ext cx="2743200" cy="347472"/>
          </a:xfrm>
          <a:prstGeom prst="rect">
            <a:avLst/>
          </a:prstGeom>
          <a:noFill/>
          <a:ln/>
        </p:spPr>
        <p:txBody>
          <a:bodyPr wrap="square" lIns="0" tIns="0" rIns="0" bIns="0" rtlCol="0" anchor="t"/>
          <a:lstStyle/>
          <a:p>
            <a:pPr indent="0" marL="0">
              <a:buNone/>
            </a:pPr>
            <a:r>
              <a:rPr lang="en-US" sz="1200" dirty="0">
                <a:solidFill>
                  <a:schemeClr val="tx2"/>
                </a:solidFill>
              </a:rPr>
              <a:t>Dettagli e numeri sull'originale</a:t>
            </a:r>
            <a:endParaRPr lang="en-US" sz="1200" dirty="0"/>
          </a:p>
        </p:txBody>
      </p:sp>
      <p:sp>
        <p:nvSpPr>
          <p:cNvPr id="9" name="Text 5"/>
          <p:cNvSpPr txBox="1"/>
          <p:nvPr/>
        </p:nvSpPr>
        <p:spPr>
          <a:xfrm>
            <a:off x="3840480" y="1143000"/>
            <a:ext cx="502920" cy="365760"/>
          </a:xfrm>
          <a:prstGeom prst="rect">
            <a:avLst/>
          </a:prstGeom>
          <a:noFill/>
          <a:ln/>
        </p:spPr>
        <p:txBody>
          <a:bodyPr wrap="square" lIns="0" tIns="0" rIns="0" bIns="0" rtlCol="0" anchor="t"/>
          <a:lstStyle/>
          <a:p>
            <a:pPr algn="r" indent="0" marL="0">
              <a:buNone/>
            </a:pPr>
            <a:r>
              <a:rPr lang="en-US" sz="1100" b="1" dirty="0">
                <a:solidFill>
                  <a:schemeClr val="accent1"/>
                </a:solidFill>
              </a:rPr>
              <a:t>10.2</a:t>
            </a:r>
            <a:endParaRPr lang="en-US" sz="1100" dirty="0"/>
          </a:p>
        </p:txBody>
      </p:sp>
      <p:sp>
        <p:nvSpPr>
          <p:cNvPr id="10" name="evitare 2"/>
          <p:cNvSpPr/>
          <p:nvPr/>
        </p:nvSpPr>
        <p:spPr>
          <a:xfrm>
            <a:off x="4663440" y="1051560"/>
            <a:ext cx="4023360" cy="1024128"/>
          </a:xfrm>
          <a:prstGeom prst="roundRect">
            <a:avLst>
              <a:gd name="adj" fmla="val 7143"/>
            </a:avLst>
          </a:prstGeom>
          <a:solidFill>
            <a:schemeClr val="bg2"/>
          </a:solidFill>
          <a:ln/>
        </p:spPr>
      </p:sp>
      <p:sp>
        <p:nvSpPr>
          <p:cNvPr id="11" name="cerchio FiImage"/>
          <p:cNvSpPr/>
          <p:nvPr/>
        </p:nvSpPr>
        <p:spPr>
          <a:xfrm>
            <a:off x="4828032" y="1216152"/>
            <a:ext cx="457200" cy="457200"/>
          </a:xfrm>
          <a:prstGeom prst="ellipse">
            <a:avLst/>
          </a:prstGeom>
          <a:solidFill>
            <a:schemeClr val="accent5"/>
          </a:solidFill>
          <a:ln/>
        </p:spPr>
      </p:sp>
      <p:pic>
        <p:nvPicPr>
          <p:cNvPr id="12" name="Image 1" descr="FiImage">    </p:cNvPr>
          <p:cNvPicPr>
            <a:picLocks noChangeAspect="1"/>
          </p:cNvPicPr>
          <p:nvPr/>
        </p:nvPicPr>
        <p:blipFill>
          <a:blip r:embed="rId2"/>
          <a:stretch>
            <a:fillRect/>
          </a:stretch>
        </p:blipFill>
        <p:spPr>
          <a:xfrm>
            <a:off x="4942332" y="1330452"/>
            <a:ext cx="228600" cy="228600"/>
          </a:xfrm>
          <a:prstGeom prst="rect">
            <a:avLst/>
          </a:prstGeom>
        </p:spPr>
      </p:pic>
      <p:sp>
        <p:nvSpPr>
          <p:cNvPr id="13" name="Text 8"/>
          <p:cNvSpPr txBox="1"/>
          <p:nvPr/>
        </p:nvSpPr>
        <p:spPr>
          <a:xfrm>
            <a:off x="5394960" y="1143000"/>
            <a:ext cx="2697480" cy="502920"/>
          </a:xfrm>
          <a:prstGeom prst="rect">
            <a:avLst/>
          </a:prstGeom>
          <a:noFill/>
          <a:ln/>
        </p:spPr>
        <p:txBody>
          <a:bodyPr wrap="square" lIns="0" tIns="0" rIns="0" bIns="0" rtlCol="0" anchor="ctr"/>
          <a:lstStyle/>
          <a:p>
            <a:pPr indent="0" marL="0">
              <a:buNone/>
            </a:pPr>
            <a:r>
              <a:rPr lang="en-US" sz="1300" b="1" dirty="0">
                <a:solidFill>
                  <a:schemeClr val="tx1"/>
                </a:solidFill>
              </a:rPr>
              <a:t>"L'immagine è pronta per il cliente"</a:t>
            </a:r>
            <a:endParaRPr lang="en-US" sz="1300" dirty="0"/>
          </a:p>
        </p:txBody>
      </p:sp>
      <p:sp>
        <p:nvSpPr>
          <p:cNvPr id="14" name="Text 9"/>
          <p:cNvSpPr txBox="1"/>
          <p:nvPr/>
        </p:nvSpPr>
        <p:spPr>
          <a:xfrm>
            <a:off x="5394960" y="1655064"/>
            <a:ext cx="2743200" cy="347472"/>
          </a:xfrm>
          <a:prstGeom prst="rect">
            <a:avLst/>
          </a:prstGeom>
          <a:noFill/>
          <a:ln/>
        </p:spPr>
        <p:txBody>
          <a:bodyPr wrap="square" lIns="0" tIns="0" rIns="0" bIns="0" rtlCol="0" anchor="t"/>
          <a:lstStyle/>
          <a:p>
            <a:pPr indent="0" marL="0">
              <a:buNone/>
            </a:pPr>
            <a:r>
              <a:rPr lang="en-US" sz="1200" dirty="0">
                <a:solidFill>
                  <a:schemeClr val="tx2"/>
                </a:solidFill>
              </a:rPr>
              <a:t>Fedeltà, marchio, diritti, trasparenza</a:t>
            </a:r>
            <a:endParaRPr lang="en-US" sz="1200" dirty="0"/>
          </a:p>
        </p:txBody>
      </p:sp>
      <p:sp>
        <p:nvSpPr>
          <p:cNvPr id="15" name="Text 10"/>
          <p:cNvSpPr txBox="1"/>
          <p:nvPr/>
        </p:nvSpPr>
        <p:spPr>
          <a:xfrm>
            <a:off x="8046720" y="1143000"/>
            <a:ext cx="502920" cy="365760"/>
          </a:xfrm>
          <a:prstGeom prst="rect">
            <a:avLst/>
          </a:prstGeom>
          <a:noFill/>
          <a:ln/>
        </p:spPr>
        <p:txBody>
          <a:bodyPr wrap="square" lIns="0" tIns="0" rIns="0" bIns="0" rtlCol="0" anchor="t"/>
          <a:lstStyle/>
          <a:p>
            <a:pPr algn="r" indent="0" marL="0">
              <a:buNone/>
            </a:pPr>
            <a:r>
              <a:rPr lang="en-US" sz="1100" b="1" dirty="0">
                <a:solidFill>
                  <a:schemeClr val="accent1"/>
                </a:solidFill>
              </a:rPr>
              <a:t>10.3</a:t>
            </a:r>
            <a:endParaRPr lang="en-US" sz="1100" dirty="0"/>
          </a:p>
        </p:txBody>
      </p:sp>
      <p:sp>
        <p:nvSpPr>
          <p:cNvPr id="16" name="evitare 3"/>
          <p:cNvSpPr/>
          <p:nvPr/>
        </p:nvSpPr>
        <p:spPr>
          <a:xfrm>
            <a:off x="457200" y="2212848"/>
            <a:ext cx="4023360" cy="1024128"/>
          </a:xfrm>
          <a:prstGeom prst="roundRect">
            <a:avLst>
              <a:gd name="adj" fmla="val 7143"/>
            </a:avLst>
          </a:prstGeom>
          <a:solidFill>
            <a:schemeClr val="accent6"/>
          </a:solidFill>
          <a:ln/>
        </p:spPr>
      </p:sp>
      <p:sp>
        <p:nvSpPr>
          <p:cNvPr id="17" name="cerchio FiMic"/>
          <p:cNvSpPr/>
          <p:nvPr/>
        </p:nvSpPr>
        <p:spPr>
          <a:xfrm>
            <a:off x="621792" y="2377440"/>
            <a:ext cx="457200" cy="457200"/>
          </a:xfrm>
          <a:prstGeom prst="ellipse">
            <a:avLst/>
          </a:prstGeom>
          <a:solidFill>
            <a:schemeClr val="accent5"/>
          </a:solidFill>
          <a:ln/>
        </p:spPr>
      </p:sp>
      <p:pic>
        <p:nvPicPr>
          <p:cNvPr id="18" name="Image 2" descr="FiMic">    </p:cNvPr>
          <p:cNvPicPr>
            <a:picLocks noChangeAspect="1"/>
          </p:cNvPicPr>
          <p:nvPr/>
        </p:nvPicPr>
        <p:blipFill>
          <a:blip r:embed="rId3"/>
          <a:stretch>
            <a:fillRect/>
          </a:stretch>
        </p:blipFill>
        <p:spPr>
          <a:xfrm>
            <a:off x="736092" y="2491740"/>
            <a:ext cx="228600" cy="228600"/>
          </a:xfrm>
          <a:prstGeom prst="rect">
            <a:avLst/>
          </a:prstGeom>
        </p:spPr>
      </p:pic>
      <p:sp>
        <p:nvSpPr>
          <p:cNvPr id="19" name="Text 13"/>
          <p:cNvSpPr txBox="1"/>
          <p:nvPr/>
        </p:nvSpPr>
        <p:spPr>
          <a:xfrm>
            <a:off x="1188720" y="2304288"/>
            <a:ext cx="2697480" cy="502920"/>
          </a:xfrm>
          <a:prstGeom prst="rect">
            <a:avLst/>
          </a:prstGeom>
          <a:noFill/>
          <a:ln/>
        </p:spPr>
        <p:txBody>
          <a:bodyPr wrap="square" lIns="0" tIns="0" rIns="0" bIns="0" rtlCol="0" anchor="ctr"/>
          <a:lstStyle/>
          <a:p>
            <a:pPr indent="0" marL="0">
              <a:buNone/>
            </a:pPr>
            <a:r>
              <a:rPr lang="en-US" sz="1300" b="1" dirty="0">
                <a:solidFill>
                  <a:schemeClr val="tx1"/>
                </a:solidFill>
              </a:rPr>
              <a:t>"La trascrizione è fedele"</a:t>
            </a:r>
            <a:endParaRPr lang="en-US" sz="1300" dirty="0"/>
          </a:p>
        </p:txBody>
      </p:sp>
      <p:sp>
        <p:nvSpPr>
          <p:cNvPr id="20" name="Text 14"/>
          <p:cNvSpPr txBox="1"/>
          <p:nvPr/>
        </p:nvSpPr>
        <p:spPr>
          <a:xfrm>
            <a:off x="1188720" y="2816352"/>
            <a:ext cx="2743200" cy="347472"/>
          </a:xfrm>
          <a:prstGeom prst="rect">
            <a:avLst/>
          </a:prstGeom>
          <a:noFill/>
          <a:ln/>
        </p:spPr>
        <p:txBody>
          <a:bodyPr wrap="square" lIns="0" tIns="0" rIns="0" bIns="0" rtlCol="0" anchor="t"/>
          <a:lstStyle/>
          <a:p>
            <a:pPr indent="0" marL="0">
              <a:buNone/>
            </a:pPr>
            <a:r>
              <a:rPr lang="en-US" sz="1200" dirty="0">
                <a:solidFill>
                  <a:schemeClr val="tx2"/>
                </a:solidFill>
              </a:rPr>
              <a:t>Nomi, numeri, attribuzioni da controllare</a:t>
            </a:r>
            <a:endParaRPr lang="en-US" sz="1200" dirty="0"/>
          </a:p>
        </p:txBody>
      </p:sp>
      <p:sp>
        <p:nvSpPr>
          <p:cNvPr id="21" name="Text 15"/>
          <p:cNvSpPr txBox="1"/>
          <p:nvPr/>
        </p:nvSpPr>
        <p:spPr>
          <a:xfrm>
            <a:off x="3840480" y="2304288"/>
            <a:ext cx="502920" cy="365760"/>
          </a:xfrm>
          <a:prstGeom prst="rect">
            <a:avLst/>
          </a:prstGeom>
          <a:noFill/>
          <a:ln/>
        </p:spPr>
        <p:txBody>
          <a:bodyPr wrap="square" lIns="0" tIns="0" rIns="0" bIns="0" rtlCol="0" anchor="t"/>
          <a:lstStyle/>
          <a:p>
            <a:pPr algn="r" indent="0" marL="0">
              <a:buNone/>
            </a:pPr>
            <a:r>
              <a:rPr lang="en-US" sz="1100" b="1" dirty="0">
                <a:solidFill>
                  <a:schemeClr val="accent1"/>
                </a:solidFill>
              </a:rPr>
              <a:t>10.4</a:t>
            </a:r>
            <a:endParaRPr lang="en-US" sz="1100" dirty="0"/>
          </a:p>
        </p:txBody>
      </p:sp>
      <p:sp>
        <p:nvSpPr>
          <p:cNvPr id="22" name="evitare 4"/>
          <p:cNvSpPr/>
          <p:nvPr/>
        </p:nvSpPr>
        <p:spPr>
          <a:xfrm>
            <a:off x="4663440" y="2212848"/>
            <a:ext cx="4023360" cy="1024128"/>
          </a:xfrm>
          <a:prstGeom prst="roundRect">
            <a:avLst>
              <a:gd name="adj" fmla="val 7143"/>
            </a:avLst>
          </a:prstGeom>
          <a:solidFill>
            <a:schemeClr val="accent6"/>
          </a:solidFill>
          <a:ln/>
        </p:spPr>
      </p:sp>
      <p:sp>
        <p:nvSpPr>
          <p:cNvPr id="23" name="cerchio FiFilm"/>
          <p:cNvSpPr/>
          <p:nvPr/>
        </p:nvSpPr>
        <p:spPr>
          <a:xfrm>
            <a:off x="4828032" y="2377440"/>
            <a:ext cx="457200" cy="457200"/>
          </a:xfrm>
          <a:prstGeom prst="ellipse">
            <a:avLst/>
          </a:prstGeom>
          <a:solidFill>
            <a:schemeClr val="accent5"/>
          </a:solidFill>
          <a:ln/>
        </p:spPr>
      </p:sp>
      <p:pic>
        <p:nvPicPr>
          <p:cNvPr id="24" name="Image 3" descr="FiFilm">    </p:cNvPr>
          <p:cNvPicPr>
            <a:picLocks noChangeAspect="1"/>
          </p:cNvPicPr>
          <p:nvPr/>
        </p:nvPicPr>
        <p:blipFill>
          <a:blip r:embed="rId4"/>
          <a:stretch>
            <a:fillRect/>
          </a:stretch>
        </p:blipFill>
        <p:spPr>
          <a:xfrm>
            <a:off x="4942332" y="2491740"/>
            <a:ext cx="228600" cy="228600"/>
          </a:xfrm>
          <a:prstGeom prst="rect">
            <a:avLst/>
          </a:prstGeom>
        </p:spPr>
      </p:pic>
      <p:sp>
        <p:nvSpPr>
          <p:cNvPr id="25" name="Text 18"/>
          <p:cNvSpPr txBox="1"/>
          <p:nvPr/>
        </p:nvSpPr>
        <p:spPr>
          <a:xfrm>
            <a:off x="5394960" y="2304288"/>
            <a:ext cx="2697480" cy="502920"/>
          </a:xfrm>
          <a:prstGeom prst="rect">
            <a:avLst/>
          </a:prstGeom>
          <a:noFill/>
          <a:ln/>
        </p:spPr>
        <p:txBody>
          <a:bodyPr wrap="square" lIns="0" tIns="0" rIns="0" bIns="0" rtlCol="0" anchor="ctr"/>
          <a:lstStyle/>
          <a:p>
            <a:pPr indent="0" marL="0">
              <a:buNone/>
            </a:pPr>
            <a:r>
              <a:rPr lang="en-US" sz="1300" b="1" dirty="0">
                <a:solidFill>
                  <a:schemeClr val="tx1"/>
                </a:solidFill>
              </a:rPr>
              <a:t>"È un video, quindi è successo"</a:t>
            </a:r>
            <a:endParaRPr lang="en-US" sz="1300" dirty="0"/>
          </a:p>
        </p:txBody>
      </p:sp>
      <p:sp>
        <p:nvSpPr>
          <p:cNvPr id="26" name="Text 19"/>
          <p:cNvSpPr txBox="1"/>
          <p:nvPr/>
        </p:nvSpPr>
        <p:spPr>
          <a:xfrm>
            <a:off x="5394960" y="2816352"/>
            <a:ext cx="2743200" cy="347472"/>
          </a:xfrm>
          <a:prstGeom prst="rect">
            <a:avLst/>
          </a:prstGeom>
          <a:noFill/>
          <a:ln/>
        </p:spPr>
        <p:txBody>
          <a:bodyPr wrap="square" lIns="0" tIns="0" rIns="0" bIns="0" rtlCol="0" anchor="t"/>
          <a:lstStyle/>
          <a:p>
            <a:pPr indent="0" marL="0">
              <a:buNone/>
            </a:pPr>
            <a:r>
              <a:rPr lang="en-US" sz="1200" dirty="0">
                <a:solidFill>
                  <a:schemeClr val="tx2"/>
                </a:solidFill>
              </a:rPr>
              <a:t>Realismo non è provenienza</a:t>
            </a:r>
            <a:endParaRPr lang="en-US" sz="1200" dirty="0"/>
          </a:p>
        </p:txBody>
      </p:sp>
      <p:sp>
        <p:nvSpPr>
          <p:cNvPr id="27" name="Text 20"/>
          <p:cNvSpPr txBox="1"/>
          <p:nvPr/>
        </p:nvSpPr>
        <p:spPr>
          <a:xfrm>
            <a:off x="8046720" y="2304288"/>
            <a:ext cx="502920" cy="365760"/>
          </a:xfrm>
          <a:prstGeom prst="rect">
            <a:avLst/>
          </a:prstGeom>
          <a:noFill/>
          <a:ln/>
        </p:spPr>
        <p:txBody>
          <a:bodyPr wrap="square" lIns="0" tIns="0" rIns="0" bIns="0" rtlCol="0" anchor="t"/>
          <a:lstStyle/>
          <a:p>
            <a:pPr algn="r" indent="0" marL="0">
              <a:buNone/>
            </a:pPr>
            <a:r>
              <a:rPr lang="en-US" sz="1100" b="1" dirty="0">
                <a:solidFill>
                  <a:schemeClr val="accent1"/>
                </a:solidFill>
              </a:rPr>
              <a:t>10.5</a:t>
            </a:r>
            <a:endParaRPr lang="en-US" sz="1100" dirty="0"/>
          </a:p>
        </p:txBody>
      </p:sp>
      <p:sp>
        <p:nvSpPr>
          <p:cNvPr id="28" name="evitare 5"/>
          <p:cNvSpPr/>
          <p:nvPr/>
        </p:nvSpPr>
        <p:spPr>
          <a:xfrm>
            <a:off x="457200" y="3374136"/>
            <a:ext cx="4023360" cy="1024128"/>
          </a:xfrm>
          <a:prstGeom prst="roundRect">
            <a:avLst>
              <a:gd name="adj" fmla="val 7143"/>
            </a:avLst>
          </a:prstGeom>
          <a:solidFill>
            <a:schemeClr val="bg2"/>
          </a:solidFill>
          <a:ln/>
        </p:spPr>
      </p:sp>
      <p:sp>
        <p:nvSpPr>
          <p:cNvPr id="29" name="cerchio FiMonitor"/>
          <p:cNvSpPr/>
          <p:nvPr/>
        </p:nvSpPr>
        <p:spPr>
          <a:xfrm>
            <a:off x="621792" y="3538728"/>
            <a:ext cx="457200" cy="457200"/>
          </a:xfrm>
          <a:prstGeom prst="ellipse">
            <a:avLst/>
          </a:prstGeom>
          <a:solidFill>
            <a:schemeClr val="accent5"/>
          </a:solidFill>
          <a:ln/>
        </p:spPr>
      </p:sp>
      <p:pic>
        <p:nvPicPr>
          <p:cNvPr id="30" name="Image 4" descr="FiMonitor">    </p:cNvPr>
          <p:cNvPicPr>
            <a:picLocks noChangeAspect="1"/>
          </p:cNvPicPr>
          <p:nvPr/>
        </p:nvPicPr>
        <p:blipFill>
          <a:blip r:embed="rId5"/>
          <a:stretch>
            <a:fillRect/>
          </a:stretch>
        </p:blipFill>
        <p:spPr>
          <a:xfrm>
            <a:off x="736092" y="3653028"/>
            <a:ext cx="228600" cy="228600"/>
          </a:xfrm>
          <a:prstGeom prst="rect">
            <a:avLst/>
          </a:prstGeom>
        </p:spPr>
      </p:pic>
      <p:sp>
        <p:nvSpPr>
          <p:cNvPr id="31" name="Text 23"/>
          <p:cNvSpPr txBox="1"/>
          <p:nvPr/>
        </p:nvSpPr>
        <p:spPr>
          <a:xfrm>
            <a:off x="1188720" y="3465576"/>
            <a:ext cx="2697480" cy="502920"/>
          </a:xfrm>
          <a:prstGeom prst="rect">
            <a:avLst/>
          </a:prstGeom>
          <a:noFill/>
          <a:ln/>
        </p:spPr>
        <p:txBody>
          <a:bodyPr wrap="square" lIns="0" tIns="0" rIns="0" bIns="0" rtlCol="0" anchor="ctr"/>
          <a:lstStyle/>
          <a:p>
            <a:pPr indent="0" marL="0">
              <a:buNone/>
            </a:pPr>
            <a:r>
              <a:rPr lang="en-US" sz="1300" b="1" dirty="0">
                <a:solidFill>
                  <a:schemeClr val="tx1"/>
                </a:solidFill>
              </a:rPr>
              <a:t>"La slide è bella, quindi è corretta"</a:t>
            </a:r>
            <a:endParaRPr lang="en-US" sz="1300" dirty="0"/>
          </a:p>
        </p:txBody>
      </p:sp>
      <p:sp>
        <p:nvSpPr>
          <p:cNvPr id="32" name="Text 24"/>
          <p:cNvSpPr txBox="1"/>
          <p:nvPr/>
        </p:nvSpPr>
        <p:spPr>
          <a:xfrm>
            <a:off x="1188720" y="3977640"/>
            <a:ext cx="2743200" cy="347472"/>
          </a:xfrm>
          <a:prstGeom prst="rect">
            <a:avLst/>
          </a:prstGeom>
          <a:noFill/>
          <a:ln/>
        </p:spPr>
        <p:txBody>
          <a:bodyPr wrap="square" lIns="0" tIns="0" rIns="0" bIns="0" rtlCol="0" anchor="t"/>
          <a:lstStyle/>
          <a:p>
            <a:pPr indent="0" marL="0">
              <a:buNone/>
            </a:pPr>
            <a:r>
              <a:rPr lang="en-US" sz="1200" dirty="0">
                <a:solidFill>
                  <a:schemeClr val="tx2"/>
                </a:solidFill>
              </a:rPr>
              <a:t>Estetica non è accuratezza</a:t>
            </a:r>
            <a:endParaRPr lang="en-US" sz="1200" dirty="0"/>
          </a:p>
        </p:txBody>
      </p:sp>
      <p:sp>
        <p:nvSpPr>
          <p:cNvPr id="33" name="Text 25"/>
          <p:cNvSpPr txBox="1"/>
          <p:nvPr/>
        </p:nvSpPr>
        <p:spPr>
          <a:xfrm>
            <a:off x="3840480" y="3465576"/>
            <a:ext cx="502920" cy="365760"/>
          </a:xfrm>
          <a:prstGeom prst="rect">
            <a:avLst/>
          </a:prstGeom>
          <a:noFill/>
          <a:ln/>
        </p:spPr>
        <p:txBody>
          <a:bodyPr wrap="square" lIns="0" tIns="0" rIns="0" bIns="0" rtlCol="0" anchor="t"/>
          <a:lstStyle/>
          <a:p>
            <a:pPr algn="r" indent="0" marL="0">
              <a:buNone/>
            </a:pPr>
            <a:r>
              <a:rPr lang="en-US" sz="1100" b="1" dirty="0">
                <a:solidFill>
                  <a:schemeClr val="accent1"/>
                </a:solidFill>
              </a:rPr>
              <a:t>10.6</a:t>
            </a:r>
            <a:endParaRPr lang="en-US" sz="1100" dirty="0"/>
          </a:p>
        </p:txBody>
      </p:sp>
      <p:sp>
        <p:nvSpPr>
          <p:cNvPr id="34" name="evitare 6"/>
          <p:cNvSpPr/>
          <p:nvPr/>
        </p:nvSpPr>
        <p:spPr>
          <a:xfrm>
            <a:off x="4663440" y="3374136"/>
            <a:ext cx="4023360" cy="1024128"/>
          </a:xfrm>
          <a:prstGeom prst="roundRect">
            <a:avLst>
              <a:gd name="adj" fmla="val 7143"/>
            </a:avLst>
          </a:prstGeom>
          <a:solidFill>
            <a:schemeClr val="bg2"/>
          </a:solidFill>
          <a:ln/>
        </p:spPr>
      </p:sp>
      <p:sp>
        <p:nvSpPr>
          <p:cNvPr id="35" name="cerchio FiPhoneCall"/>
          <p:cNvSpPr/>
          <p:nvPr/>
        </p:nvSpPr>
        <p:spPr>
          <a:xfrm>
            <a:off x="4828032" y="3538728"/>
            <a:ext cx="457200" cy="457200"/>
          </a:xfrm>
          <a:prstGeom prst="ellipse">
            <a:avLst/>
          </a:prstGeom>
          <a:solidFill>
            <a:schemeClr val="accent5"/>
          </a:solidFill>
          <a:ln/>
        </p:spPr>
      </p:sp>
      <p:pic>
        <p:nvPicPr>
          <p:cNvPr id="36" name="Image 5" descr="FiPhoneCall">    </p:cNvPr>
          <p:cNvPicPr>
            <a:picLocks noChangeAspect="1"/>
          </p:cNvPicPr>
          <p:nvPr/>
        </p:nvPicPr>
        <p:blipFill>
          <a:blip r:embed="rId6"/>
          <a:stretch>
            <a:fillRect/>
          </a:stretch>
        </p:blipFill>
        <p:spPr>
          <a:xfrm>
            <a:off x="4942332" y="3653028"/>
            <a:ext cx="228600" cy="228600"/>
          </a:xfrm>
          <a:prstGeom prst="rect">
            <a:avLst/>
          </a:prstGeom>
        </p:spPr>
      </p:pic>
      <p:sp>
        <p:nvSpPr>
          <p:cNvPr id="37" name="Text 28"/>
          <p:cNvSpPr txBox="1"/>
          <p:nvPr/>
        </p:nvSpPr>
        <p:spPr>
          <a:xfrm>
            <a:off x="5394960" y="3465576"/>
            <a:ext cx="2697480" cy="502920"/>
          </a:xfrm>
          <a:prstGeom prst="rect">
            <a:avLst/>
          </a:prstGeom>
          <a:noFill/>
          <a:ln/>
        </p:spPr>
        <p:txBody>
          <a:bodyPr wrap="square" lIns="0" tIns="0" rIns="0" bIns="0" rtlCol="0" anchor="ctr"/>
          <a:lstStyle/>
          <a:p>
            <a:pPr indent="0" marL="0">
              <a:buNone/>
            </a:pPr>
            <a:r>
              <a:rPr lang="en-US" sz="1300" b="1" dirty="0">
                <a:solidFill>
                  <a:schemeClr val="tx1"/>
                </a:solidFill>
              </a:rPr>
              <a:t>"È la voce del capo, procedo"</a:t>
            </a:r>
            <a:endParaRPr lang="en-US" sz="1300" dirty="0"/>
          </a:p>
        </p:txBody>
      </p:sp>
      <p:sp>
        <p:nvSpPr>
          <p:cNvPr id="38" name="Text 29"/>
          <p:cNvSpPr txBox="1"/>
          <p:nvPr/>
        </p:nvSpPr>
        <p:spPr>
          <a:xfrm>
            <a:off x="5394960" y="3977640"/>
            <a:ext cx="2743200" cy="347472"/>
          </a:xfrm>
          <a:prstGeom prst="rect">
            <a:avLst/>
          </a:prstGeom>
          <a:noFill/>
          <a:ln/>
        </p:spPr>
        <p:txBody>
          <a:bodyPr wrap="square" lIns="0" tIns="0" rIns="0" bIns="0" rtlCol="0" anchor="t"/>
          <a:lstStyle/>
          <a:p>
            <a:pPr indent="0" marL="0">
              <a:buNone/>
            </a:pPr>
            <a:r>
              <a:rPr lang="en-US" sz="1200" dirty="0">
                <a:solidFill>
                  <a:schemeClr val="tx2"/>
                </a:solidFill>
              </a:rPr>
              <a:t>Conferma su un canale indipendente</a:t>
            </a:r>
            <a:endParaRPr lang="en-US" sz="1200" dirty="0"/>
          </a:p>
        </p:txBody>
      </p:sp>
      <p:sp>
        <p:nvSpPr>
          <p:cNvPr id="39" name="Text 30"/>
          <p:cNvSpPr txBox="1"/>
          <p:nvPr/>
        </p:nvSpPr>
        <p:spPr>
          <a:xfrm>
            <a:off x="8046720" y="3465576"/>
            <a:ext cx="502920" cy="365760"/>
          </a:xfrm>
          <a:prstGeom prst="rect">
            <a:avLst/>
          </a:prstGeom>
          <a:noFill/>
          <a:ln/>
        </p:spPr>
        <p:txBody>
          <a:bodyPr wrap="square" lIns="0" tIns="0" rIns="0" bIns="0" rtlCol="0" anchor="t"/>
          <a:lstStyle/>
          <a:p>
            <a:pPr algn="r" indent="0" marL="0">
              <a:buNone/>
            </a:pPr>
            <a:r>
              <a:rPr lang="en-US" sz="1100" b="1" dirty="0">
                <a:solidFill>
                  <a:schemeClr val="accent1"/>
                </a:solidFill>
              </a:rPr>
              <a:t>10.8</a:t>
            </a:r>
            <a:endParaRPr lang="en-US" sz="11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Che cosa viene dopo</a:t>
            </a:r>
            <a:endParaRPr lang="en-US" sz="2600" dirty="0"/>
          </a:p>
        </p:txBody>
      </p:sp>
      <p:sp>
        <p:nvSpPr>
          <p:cNvPr id="4" name="aree"/>
          <p:cNvSpPr/>
          <p:nvPr/>
        </p:nvSpPr>
        <p:spPr>
          <a:xfrm>
            <a:off x="457200" y="1097280"/>
            <a:ext cx="3977640" cy="3429000"/>
          </a:xfrm>
          <a:prstGeom prst="roundRect">
            <a:avLst>
              <a:gd name="adj" fmla="val 2133"/>
            </a:avLst>
          </a:prstGeom>
          <a:solidFill>
            <a:schemeClr val="bg2"/>
          </a:solidFill>
          <a:ln/>
        </p:spPr>
      </p:sp>
      <p:sp>
        <p:nvSpPr>
          <p:cNvPr id="5" name="Text 2"/>
          <p:cNvSpPr txBox="1"/>
          <p:nvPr/>
        </p:nvSpPr>
        <p:spPr>
          <a:xfrm>
            <a:off x="685800" y="1261872"/>
            <a:ext cx="356616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PERCORSO</a:t>
            </a:r>
            <a:endParaRPr lang="en-US" sz="1200" dirty="0"/>
          </a:p>
        </p:txBody>
      </p:sp>
      <p:sp>
        <p:nvSpPr>
          <p:cNvPr id="6" name="Text 3"/>
          <p:cNvSpPr txBox="1"/>
          <p:nvPr/>
        </p:nvSpPr>
        <p:spPr>
          <a:xfrm>
            <a:off x="685800" y="1572768"/>
            <a:ext cx="3566160" cy="292608"/>
          </a:xfrm>
          <a:prstGeom prst="rect">
            <a:avLst/>
          </a:prstGeom>
          <a:noFill/>
          <a:ln/>
        </p:spPr>
        <p:txBody>
          <a:bodyPr wrap="square" lIns="0" tIns="0" rIns="0" bIns="0" rtlCol="0" anchor="t"/>
          <a:lstStyle/>
          <a:p>
            <a:pPr indent="0" marL="0">
              <a:buNone/>
            </a:pPr>
            <a:r>
              <a:rPr lang="en-US" sz="1400" b="1" dirty="0">
                <a:solidFill>
                  <a:schemeClr val="tx1"/>
                </a:solidFill>
              </a:rPr>
              <a:t>Comprendere l'AI</a:t>
            </a:r>
            <a:endParaRPr lang="en-US" sz="1400" dirty="0"/>
          </a:p>
        </p:txBody>
      </p:sp>
      <p:sp>
        <p:nvSpPr>
          <p:cNvPr id="7" name="Text 4"/>
          <p:cNvSpPr txBox="1"/>
          <p:nvPr/>
        </p:nvSpPr>
        <p:spPr>
          <a:xfrm>
            <a:off x="685800" y="1856232"/>
            <a:ext cx="3566160" cy="274320"/>
          </a:xfrm>
          <a:prstGeom prst="rect">
            <a:avLst/>
          </a:prstGeom>
          <a:noFill/>
          <a:ln/>
        </p:spPr>
        <p:txBody>
          <a:bodyPr wrap="square" lIns="0" tIns="0" rIns="0" bIns="0" rtlCol="0" anchor="t"/>
          <a:lstStyle/>
          <a:p>
            <a:pPr indent="0" marL="0">
              <a:buNone/>
            </a:pPr>
            <a:r>
              <a:rPr lang="en-US" sz="1200" dirty="0">
                <a:solidFill>
                  <a:schemeClr val="tx2"/>
                </a:solidFill>
              </a:rPr>
              <a:t>Temi 1-4</a:t>
            </a:r>
            <a:endParaRPr lang="en-US" sz="1200" dirty="0"/>
          </a:p>
        </p:txBody>
      </p:sp>
      <p:sp>
        <p:nvSpPr>
          <p:cNvPr id="8" name="Text 5"/>
          <p:cNvSpPr txBox="1"/>
          <p:nvPr/>
        </p:nvSpPr>
        <p:spPr>
          <a:xfrm>
            <a:off x="685800" y="2240280"/>
            <a:ext cx="3566160" cy="292608"/>
          </a:xfrm>
          <a:prstGeom prst="rect">
            <a:avLst/>
          </a:prstGeom>
          <a:noFill/>
          <a:ln/>
        </p:spPr>
        <p:txBody>
          <a:bodyPr wrap="square" lIns="0" tIns="0" rIns="0" bIns="0" rtlCol="0" anchor="t"/>
          <a:lstStyle/>
          <a:p>
            <a:pPr indent="0" marL="0">
              <a:buNone/>
            </a:pPr>
            <a:r>
              <a:rPr lang="en-US" sz="1400" b="1" dirty="0">
                <a:solidFill>
                  <a:schemeClr val="tx1"/>
                </a:solidFill>
              </a:rPr>
              <a:t>Interagire con l'AI</a:t>
            </a:r>
            <a:endParaRPr lang="en-US" sz="1400" dirty="0"/>
          </a:p>
        </p:txBody>
      </p:sp>
      <p:sp>
        <p:nvSpPr>
          <p:cNvPr id="9" name="Text 6"/>
          <p:cNvSpPr txBox="1"/>
          <p:nvPr/>
        </p:nvSpPr>
        <p:spPr>
          <a:xfrm>
            <a:off x="685800" y="2523744"/>
            <a:ext cx="3566160" cy="274320"/>
          </a:xfrm>
          <a:prstGeom prst="rect">
            <a:avLst/>
          </a:prstGeom>
          <a:noFill/>
          <a:ln/>
        </p:spPr>
        <p:txBody>
          <a:bodyPr wrap="square" lIns="0" tIns="0" rIns="0" bIns="0" rtlCol="0" anchor="t"/>
          <a:lstStyle/>
          <a:p>
            <a:pPr indent="0" marL="0">
              <a:buNone/>
            </a:pPr>
            <a:r>
              <a:rPr lang="en-US" sz="1200" dirty="0">
                <a:solidFill>
                  <a:schemeClr val="tx2"/>
                </a:solidFill>
              </a:rPr>
              <a:t>Temi 5-7</a:t>
            </a:r>
            <a:endParaRPr lang="en-US" sz="1200" dirty="0"/>
          </a:p>
        </p:txBody>
      </p:sp>
      <p:sp>
        <p:nvSpPr>
          <p:cNvPr id="10" name="Text 7"/>
          <p:cNvSpPr txBox="1"/>
          <p:nvPr/>
        </p:nvSpPr>
        <p:spPr>
          <a:xfrm>
            <a:off x="685800" y="2907792"/>
            <a:ext cx="3566160" cy="292608"/>
          </a:xfrm>
          <a:prstGeom prst="rect">
            <a:avLst/>
          </a:prstGeom>
          <a:noFill/>
          <a:ln/>
        </p:spPr>
        <p:txBody>
          <a:bodyPr wrap="square" lIns="0" tIns="0" rIns="0" bIns="0" rtlCol="0" anchor="t"/>
          <a:lstStyle/>
          <a:p>
            <a:pPr indent="0" marL="0">
              <a:buNone/>
            </a:pPr>
            <a:r>
              <a:rPr lang="en-US" sz="1400" b="1" dirty="0">
                <a:solidFill>
                  <a:schemeClr val="accent1"/>
                </a:solidFill>
              </a:rPr>
              <a:t>Esplorare le possibilità dell'AI</a:t>
            </a:r>
            <a:endParaRPr lang="en-US" sz="1400" dirty="0"/>
          </a:p>
        </p:txBody>
      </p:sp>
      <p:sp>
        <p:nvSpPr>
          <p:cNvPr id="11" name="Text 8"/>
          <p:cNvSpPr txBox="1"/>
          <p:nvPr/>
        </p:nvSpPr>
        <p:spPr>
          <a:xfrm>
            <a:off x="685800" y="3191256"/>
            <a:ext cx="3566160" cy="822960"/>
          </a:xfrm>
          <a:prstGeom prst="rect">
            <a:avLst/>
          </a:prstGeom>
          <a:noFill/>
          <a:ln/>
        </p:spPr>
        <p:txBody>
          <a:bodyPr wrap="square" lIns="0" tIns="0" rIns="0" bIns="0" rtlCol="0" anchor="t"/>
          <a:lstStyle/>
          <a:p>
            <a:pPr indent="0" marL="0">
              <a:buNone/>
            </a:pPr>
            <a:r>
              <a:rPr lang="en-US" sz="1200" dirty="0">
                <a:solidFill>
                  <a:schemeClr val="tx2"/>
                </a:solidFill>
              </a:rPr>
              <a:t>Tema 8: testi e documenti</a:t>
            </a:r>
            <a:endParaRPr lang="en-US" sz="1200" dirty="0"/>
          </a:p>
          <a:p>
            <a:pPr indent="0" marL="0">
              <a:buNone/>
            </a:pPr>
            <a:r>
              <a:rPr lang="en-US" sz="1200" dirty="0">
                <a:solidFill>
                  <a:schemeClr val="tx2"/>
                </a:solidFill>
              </a:rPr>
              <a:t>Tema 9: dati e analisi</a:t>
            </a:r>
            <a:endParaRPr lang="en-US" sz="1200" dirty="0"/>
          </a:p>
          <a:p>
            <a:pPr indent="0" marL="0">
              <a:buNone/>
            </a:pPr>
            <a:r>
              <a:rPr lang="en-US" sz="1200" dirty="0">
                <a:solidFill>
                  <a:schemeClr val="tx2"/>
                </a:solidFill>
              </a:rPr>
              <a:t>Tema 10: multimodalità (completato)</a:t>
            </a:r>
            <a:endParaRPr lang="en-US" sz="1200" dirty="0"/>
          </a:p>
        </p:txBody>
      </p:sp>
      <p:sp>
        <p:nvSpPr>
          <p:cNvPr id="12" name="prossimi"/>
          <p:cNvSpPr/>
          <p:nvPr/>
        </p:nvSpPr>
        <p:spPr>
          <a:xfrm>
            <a:off x="4709160" y="1097280"/>
            <a:ext cx="3977640" cy="3429000"/>
          </a:xfrm>
          <a:prstGeom prst="roundRect">
            <a:avLst>
              <a:gd name="adj" fmla="val 2133"/>
            </a:avLst>
          </a:prstGeom>
          <a:solidFill>
            <a:schemeClr val="tx1"/>
          </a:solidFill>
          <a:ln/>
        </p:spPr>
      </p:sp>
      <p:sp>
        <p:nvSpPr>
          <p:cNvPr id="13" name="Text 10"/>
          <p:cNvSpPr txBox="1"/>
          <p:nvPr/>
        </p:nvSpPr>
        <p:spPr>
          <a:xfrm>
            <a:off x="4937760" y="1261872"/>
            <a:ext cx="356616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PROSSIMO TEMA</a:t>
            </a:r>
            <a:endParaRPr lang="en-US" sz="1200" dirty="0"/>
          </a:p>
        </p:txBody>
      </p:sp>
      <p:sp>
        <p:nvSpPr>
          <p:cNvPr id="14" name="Text 11"/>
          <p:cNvSpPr txBox="1"/>
          <p:nvPr/>
        </p:nvSpPr>
        <p:spPr>
          <a:xfrm>
            <a:off x="4937760" y="1572768"/>
            <a:ext cx="3566160" cy="594360"/>
          </a:xfrm>
          <a:prstGeom prst="rect">
            <a:avLst/>
          </a:prstGeom>
          <a:noFill/>
          <a:ln/>
        </p:spPr>
        <p:txBody>
          <a:bodyPr wrap="square" lIns="0" tIns="0" rIns="0" bIns="0" rtlCol="0" anchor="t"/>
          <a:lstStyle/>
          <a:p>
            <a:pPr indent="0" marL="0">
              <a:buNone/>
            </a:pPr>
            <a:r>
              <a:rPr lang="en-US" sz="1500" b="1" dirty="0">
                <a:solidFill>
                  <a:schemeClr val="bg1"/>
                </a:solidFill>
              </a:rPr>
              <a:t>Tema 11: Assistenti, agenti e automazioni</a:t>
            </a:r>
            <a:endParaRPr lang="en-US" sz="1500" dirty="0"/>
          </a:p>
        </p:txBody>
      </p:sp>
      <p:sp>
        <p:nvSpPr>
          <p:cNvPr id="15" name="Text 12"/>
          <p:cNvSpPr txBox="1"/>
          <p:nvPr/>
        </p:nvSpPr>
        <p:spPr>
          <a:xfrm>
            <a:off x="4937760" y="2176272"/>
            <a:ext cx="3566160" cy="457200"/>
          </a:xfrm>
          <a:prstGeom prst="rect">
            <a:avLst/>
          </a:prstGeom>
          <a:noFill/>
          <a:ln/>
        </p:spPr>
        <p:txBody>
          <a:bodyPr wrap="square" lIns="0" tIns="0" rIns="0" bIns="0" rtlCol="0" anchor="t"/>
          <a:lstStyle/>
          <a:p>
            <a:pPr indent="0" marL="0">
              <a:buNone/>
            </a:pPr>
            <a:r>
              <a:rPr lang="en-US" sz="1200" i="1" dirty="0">
                <a:solidFill>
                  <a:schemeClr val="accent3"/>
                </a:solidFill>
              </a:rPr>
              <a:t>Dallo strumento conversazionale alla componente operativa</a:t>
            </a:r>
            <a:endParaRPr lang="en-US" sz="1200" dirty="0"/>
          </a:p>
        </p:txBody>
      </p:sp>
      <p:sp>
        <p:nvSpPr>
          <p:cNvPr id="16" name="Text 13"/>
          <p:cNvSpPr txBox="1"/>
          <p:nvPr/>
        </p:nvSpPr>
        <p:spPr>
          <a:xfrm>
            <a:off x="4937760" y="2743200"/>
            <a:ext cx="356616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NEL PERCORSO</a:t>
            </a:r>
            <a:endParaRPr lang="en-US" sz="1200" dirty="0"/>
          </a:p>
        </p:txBody>
      </p:sp>
      <p:sp>
        <p:nvSpPr>
          <p:cNvPr id="17" name="Text 14"/>
          <p:cNvSpPr txBox="1"/>
          <p:nvPr/>
        </p:nvSpPr>
        <p:spPr>
          <a:xfrm>
            <a:off x="4937760" y="3063240"/>
            <a:ext cx="3566160" cy="109728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chemeClr val="bg1"/>
                </a:solidFill>
              </a:rPr>
              <a:t>Tema 12: AI e creazione di valore in azienda</a:t>
            </a:r>
            <a:endParaRPr lang="en-US" sz="1300" dirty="0"/>
          </a:p>
          <a:p>
            <a:pPr marL="177800" indent="-177800">
              <a:spcAft>
                <a:spcPts val="500"/>
              </a:spcAft>
              <a:buSzPct val="100000"/>
              <a:buChar char="•"/>
            </a:pPr>
            <a:r>
              <a:rPr lang="en-US" sz="1300" dirty="0">
                <a:solidFill>
                  <a:schemeClr val="bg1"/>
                </a:solidFill>
              </a:rPr>
              <a:t>Tema 14: dati e conoscenza aziendale</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Fonti e riferimenti</a:t>
            </a:r>
            <a:endParaRPr lang="en-US" sz="2600" dirty="0"/>
          </a:p>
        </p:txBody>
      </p:sp>
      <p:sp>
        <p:nvSpPr>
          <p:cNvPr id="4" name="cerchio FiBookmark"/>
          <p:cNvSpPr/>
          <p:nvPr/>
        </p:nvSpPr>
        <p:spPr>
          <a:xfrm>
            <a:off x="457200" y="1143000"/>
            <a:ext cx="502920" cy="502920"/>
          </a:xfrm>
          <a:prstGeom prst="ellipse">
            <a:avLst/>
          </a:prstGeom>
          <a:solidFill>
            <a:schemeClr val="accent1"/>
          </a:solidFill>
          <a:ln/>
        </p:spPr>
      </p:sp>
      <p:pic>
        <p:nvPicPr>
          <p:cNvPr id="5" name="Image 0" descr="FiBookmark">    </p:cNvPr>
          <p:cNvPicPr>
            <a:picLocks noChangeAspect="1"/>
          </p:cNvPicPr>
          <p:nvPr/>
        </p:nvPicPr>
        <p:blipFill>
          <a:blip r:embed="rId1"/>
          <a:stretch>
            <a:fillRect/>
          </a:stretch>
        </p:blipFill>
        <p:spPr>
          <a:xfrm>
            <a:off x="582930" y="1268730"/>
            <a:ext cx="251460" cy="251460"/>
          </a:xfrm>
          <a:prstGeom prst="rect">
            <a:avLst/>
          </a:prstGeom>
        </p:spPr>
      </p:pic>
      <p:sp>
        <p:nvSpPr>
          <p:cNvPr id="6" name="Text 2"/>
          <p:cNvSpPr txBox="1"/>
          <p:nvPr/>
        </p:nvSpPr>
        <p:spPr>
          <a:xfrm>
            <a:off x="1188720" y="1097280"/>
            <a:ext cx="7498080" cy="3017520"/>
          </a:xfrm>
          <a:prstGeom prst="rect">
            <a:avLst/>
          </a:prstGeom>
          <a:noFill/>
          <a:ln/>
        </p:spPr>
        <p:txBody>
          <a:bodyPr wrap="square" lIns="0" tIns="0" rIns="0" bIns="0" rtlCol="0" anchor="t"/>
          <a:lstStyle/>
          <a:p>
            <a:pPr marL="177800" indent="-177800">
              <a:spcAft>
                <a:spcPts val="1000"/>
              </a:spcAft>
              <a:buSzPct val="100000"/>
              <a:buChar char="•"/>
            </a:pPr>
            <a:r>
              <a:rPr lang="en-US" sz="1300" dirty="0">
                <a:solidFill>
                  <a:schemeClr val="tx1"/>
                </a:solidFill>
              </a:rPr>
              <a:t>Caso di frode vocale ai danni di un'azienda energetica britannica, riportato da The Wall Street Journal, agosto 2019.</a:t>
            </a:r>
            <a:endParaRPr lang="en-US" sz="1300" dirty="0"/>
          </a:p>
          <a:p>
            <a:pPr marL="177800" indent="-177800">
              <a:spcAft>
                <a:spcPts val="1000"/>
              </a:spcAft>
              <a:buSzPct val="100000"/>
              <a:buChar char="•"/>
            </a:pPr>
            <a:r>
              <a:rPr lang="en-US" sz="1300" dirty="0">
                <a:solidFill>
                  <a:schemeClr val="tx1"/>
                </a:solidFill>
              </a:rPr>
              <a:t>Caso di frode in videochiamata presso la sede di Hong Kong di una multinazionale (Arup), riportato da CNN e Financial Times, 2024.</a:t>
            </a:r>
            <a:endParaRPr lang="en-US" sz="1300" dirty="0"/>
          </a:p>
          <a:p>
            <a:pPr marL="177800" indent="-177800">
              <a:spcAft>
                <a:spcPts val="1000"/>
              </a:spcAft>
              <a:buSzPct val="100000"/>
              <a:buChar char="•"/>
            </a:pPr>
            <a:r>
              <a:rPr lang="en-US" sz="1300" dirty="0">
                <a:solidFill>
                  <a:schemeClr val="tx1"/>
                </a:solidFill>
              </a:rPr>
              <a:t>C2PA, Coalition for Content Provenance and Authenticity: standard per le credenziali di contenuto (c2pa.org).</a:t>
            </a:r>
            <a:endParaRPr lang="en-US" sz="1300" dirty="0"/>
          </a:p>
          <a:p>
            <a:pPr marL="177800" indent="-177800">
              <a:spcAft>
                <a:spcPts val="1000"/>
              </a:spcAft>
              <a:buSzPct val="100000"/>
              <a:buChar char="•"/>
            </a:pPr>
            <a:r>
              <a:rPr lang="en-US" sz="1300" dirty="0">
                <a:solidFill>
                  <a:schemeClr val="tx1"/>
                </a:solidFill>
              </a:rPr>
              <a:t>Regolamento (UE) 2024/1689 (AI Act), art. 50, obblighi di trasparenza dal 2 agosto 2026, come modificato dal Regolamento (UE) 2026/1744.</a:t>
            </a:r>
            <a:endParaRPr lang="en-US" sz="1300" dirty="0"/>
          </a:p>
          <a:p>
            <a:pPr marL="177800" indent="-177800">
              <a:spcAft>
                <a:spcPts val="1000"/>
              </a:spcAft>
              <a:buSzPct val="100000"/>
              <a:buChar char="•"/>
            </a:pPr>
            <a:r>
              <a:rPr lang="en-US" sz="1300" dirty="0">
                <a:solidFill>
                  <a:schemeClr val="tx1"/>
                </a:solidFill>
              </a:rPr>
              <a:t>Gli esempi di schermate, trascrizioni, immagini e materiali presenti nelle slide sono fittizi.</a:t>
            </a:r>
            <a:endParaRPr lang="en-US" sz="1300" dirty="0"/>
          </a:p>
        </p:txBody>
      </p:sp>
      <p:sp>
        <p:nvSpPr>
          <p:cNvPr id="7" name="Text 3"/>
          <p:cNvSpPr txBox="1"/>
          <p:nvPr/>
        </p:nvSpPr>
        <p:spPr>
          <a:xfrm>
            <a:off x="1188720" y="4297680"/>
            <a:ext cx="7498080" cy="274320"/>
          </a:xfrm>
          <a:prstGeom prst="rect">
            <a:avLst/>
          </a:prstGeom>
          <a:noFill/>
          <a:ln/>
        </p:spPr>
        <p:txBody>
          <a:bodyPr wrap="square" lIns="0" tIns="0" rIns="0" bIns="0" rtlCol="0" anchor="t"/>
          <a:lstStyle/>
          <a:p>
            <a:pPr indent="0" marL="0">
              <a:buNone/>
            </a:pPr>
            <a:r>
              <a:rPr lang="en-US" sz="1100" i="1" dirty="0">
                <a:solidFill>
                  <a:schemeClr val="accent2"/>
                </a:solidFill>
              </a:rPr>
              <a:t>Fonti verificate a ottobre 2026: ricontrollarle prima di ogni edizione.</a:t>
            </a:r>
            <a:endParaRPr lang="en-US" sz="11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75</a:t>
            </a:fld>
            <a:endParaRPr lang="en-US"/>
          </a:p>
        </p:txBody>
      </p:sp>
    </p:spTree>
  </p:cSld>
  <p:clrMapOvr>
    <a:masterClrMapping/>
  </p:clrMapOvr>
</p:sld>
</file>

<file path=ppt/theme/theme1.xml><?xml version="1.0" encoding="utf-8"?>
<a:theme xmlns:a="http://schemas.openxmlformats.org/drawingml/2006/main" name="AI Literacy Neutro">
  <a:themeElements>
    <a:clrScheme name="AI Literacy Neutro">
      <a:dk1>
        <a:srgbClr val="22262B"/>
      </a:dk1>
      <a:lt1>
        <a:srgbClr val="FFFFFF"/>
      </a:lt1>
      <a:dk2>
        <a:srgbClr val="4A515C"/>
      </a:dk2>
      <a:lt2>
        <a:srgbClr val="F2F3F5"/>
      </a:lt2>
      <a:accent1>
        <a:srgbClr val="2E7D7A"/>
      </a:accent1>
      <a:accent2>
        <a:srgbClr val="8A939E"/>
      </a:accent2>
      <a:accent3>
        <a:srgbClr val="D5D9DE"/>
      </a:accent3>
      <a:accent4>
        <a:srgbClr val="5B6573"/>
      </a:accent4>
      <a:accent5>
        <a:srgbClr val="A86F1C"/>
      </a:accent5>
      <a:accent6>
        <a:srgbClr val="E6F0EF"/>
      </a:accent6>
      <a:hlink>
        <a:srgbClr val="2E7D7A"/>
      </a:hlink>
      <a:folHlink>
        <a:srgbClr val="5B6573"/>
      </a:folHlink>
    </a:clrScheme>
    <a:fontScheme name="AI Literacy Neutro">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75</Slides>
  <Notes>75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75</vt:i4>
      </vt:variant>
    </vt:vector>
  </HeadingPairs>
  <TitlesOfParts>
    <vt:vector size="7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Tema 10: AI multimodale e creazione di contenuti</dc:title>
  <dc:subject>Percorso AI Literacy</dc:subject>
  <dc:creator>Percorso AI Literacy</dc:creator>
  <cp:lastModifiedBy>Percorso AI Literacy</cp:lastModifiedBy>
  <cp:revision>1</cp:revision>
  <dcterms:created xsi:type="dcterms:W3CDTF">2026-10-09T12:52:28Z</dcterms:created>
  <dcterms:modified xsi:type="dcterms:W3CDTF">2026-10-09T12:52:28Z</dcterms:modified>
</cp:coreProperties>
</file>