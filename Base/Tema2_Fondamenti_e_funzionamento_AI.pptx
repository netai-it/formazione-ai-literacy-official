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a8fb935f-1e89-e04b-0b62-91cdbe27a7b3}">
          <p14:sldIdLst>
            <p14:sldId id="256"/>
            <p14:sldId id="257"/>
            <p14:sldId id="258"/>
            <p14:sldId id="259"/>
            <p14:sldId id="260"/>
          </p14:sldIdLst>
        </p14:section>
        <p14:section name="2.1 Che cos'è l'AI" id="{1fcdb373-5456-2f82-9bce-241445321bbf}">
          <p14:sldIdLst>
            <p14:sldId id="261"/>
            <p14:sldId id="262"/>
            <p14:sldId id="263"/>
            <p14:sldId id="264"/>
            <p14:sldId id="265"/>
            <p14:sldId id="266"/>
            <p14:sldId id="267"/>
          </p14:sldIdLst>
        </p14:section>
        <p14:section name="2.2 Categorie di AI" id="{ecbd4a86-85f9-e5ab-4e87-eba1a82dd1da}">
          <p14:sldIdLst>
            <p14:sldId id="268"/>
            <p14:sldId id="269"/>
            <p14:sldId id="270"/>
            <p14:sldId id="271"/>
            <p14:sldId id="272"/>
            <p14:sldId id="273"/>
            <p14:sldId id="274"/>
            <p14:sldId id="275"/>
          </p14:sldIdLst>
        </p14:section>
        <p14:section name="2.3 Come apprende un sistema AI" id="{b6cbfd61-cf35-0e89-abd7-d9fcddf7dc84}">
          <p14:sldIdLst>
            <p14:sldId id="276"/>
            <p14:sldId id="277"/>
            <p14:sldId id="278"/>
            <p14:sldId id="279"/>
            <p14:sldId id="280"/>
            <p14:sldId id="281"/>
            <p14:sldId id="282"/>
            <p14:sldId id="283"/>
            <p14:sldId id="284"/>
          </p14:sldIdLst>
        </p14:section>
        <p14:section name="2.4 Large Language Models" id="{105dd4cc-32ca-551f-bc7d-118e1a0cab22}">
          <p14:sldIdLst>
            <p14:sldId id="285"/>
            <p14:sldId id="286"/>
            <p14:sldId id="287"/>
            <p14:sldId id="288"/>
            <p14:sldId id="289"/>
            <p14:sldId id="290"/>
            <p14:sldId id="291"/>
            <p14:sldId id="292"/>
            <p14:sldId id="293"/>
            <p14:sldId id="294"/>
          </p14:sldIdLst>
        </p14:section>
        <p14:section name="2.5 Come funziona un'interazione" id="{340c3d93-34ef-694b-771c-98678ccc9c9a}">
          <p14:sldIdLst>
            <p14:sldId id="295"/>
            <p14:sldId id="296"/>
            <p14:sldId id="297"/>
            <p14:sldId id="298"/>
            <p14:sldId id="299"/>
            <p14:sldId id="300"/>
            <p14:sldId id="301"/>
            <p14:sldId id="302"/>
          </p14:sldIdLst>
        </p14:section>
        <p14:section name="2.6 Conoscenza e fonti" id="{b31ca1cb-9086-dd61-cf35-f383e8361d2b}">
          <p14:sldIdLst>
            <p14:sldId id="303"/>
            <p14:sldId id="304"/>
            <p14:sldId id="305"/>
            <p14:sldId id="306"/>
            <p14:sldId id="307"/>
            <p14:sldId id="308"/>
            <p14:sldId id="309"/>
            <p14:sldId id="310"/>
            <p14:sldId id="311"/>
          </p14:sldIdLst>
        </p14:section>
        <p14:section name="2.7 Variabilità dei risultati" id="{e1c98786-8637-2697-446a-7853828c94a4}">
          <p14:sldIdLst>
            <p14:sldId id="312"/>
            <p14:sldId id="313"/>
            <p14:sldId id="314"/>
            <p14:sldId id="315"/>
            <p14:sldId id="316"/>
            <p14:sldId id="317"/>
            <p14:sldId id="318"/>
            <p14:sldId id="319"/>
          </p14:sldIdLst>
        </p14:section>
        <p14:section name="Conclusioni" id="{aacc7509-8889-6a34-bcaa-a560e7454db9}">
          <p14:sldIdLst>
            <p14:sldId id="320"/>
            <p14:sldId id="321"/>
            <p14:sldId id="322"/>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sereno</c:v>
                  </c:pt>
                  <c:pt idx="1">
                    <c:v>nuvoloso</c:v>
                  </c:pt>
                  <c:pt idx="2">
                    <c:v>azzurro</c:v>
                  </c:pt>
                  <c:pt idx="3">
                    <c:v>coperto</c:v>
                  </c:pt>
                  <c:pt idx="4">
                    <c:v>limpido</c:v>
                  </c:pt>
                  <c:pt idx="5">
                    <c:v>frigorifero</c:v>
                  </c:pt>
                </c:lvl>
              </c:multiLvlStrCache>
            </c:multiLvlStrRef>
          </c:cat>
          <c:val>
            <c:numRef>
              <c:f>Sheet1!$B$2:$B$7</c:f>
              <c:numCache>
                <c:formatCode>General</c:formatCode>
                <c:ptCount val="6"/>
                <c:pt idx="0">
                  <c:v>0.38</c:v>
                </c:pt>
                <c:pt idx="1">
                  <c:v>0.27</c:v>
                </c:pt>
                <c:pt idx="2">
                  <c:v>0.17</c:v>
                </c:pt>
                <c:pt idx="3">
                  <c:v>0.1</c:v>
                </c:pt>
                <c:pt idx="4">
                  <c:v>0.07</c:v>
                </c:pt>
                <c:pt idx="5">
                  <c:v>0.001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bassa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0.78</c:v>
                </c:pt>
                <c:pt idx="1">
                  <c:v>0.13</c:v>
                </c:pt>
                <c:pt idx="2">
                  <c:v>0.06</c:v>
                </c:pt>
                <c:pt idx="3">
                  <c:v>0.02</c:v>
                </c:pt>
                <c:pt idx="4">
                  <c:v>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alta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5B6573"/>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0.3</c:v>
                </c:pt>
                <c:pt idx="1">
                  <c:v>0.25</c:v>
                </c:pt>
                <c:pt idx="2">
                  <c:v>0.2</c:v>
                </c:pt>
                <c:pt idx="3">
                  <c:v>0.14</c:v>
                </c:pt>
                <c:pt idx="4">
                  <c:v>0.11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secondo tema del percorso di AI Literacy. Nel Tema 1 abbiamo costruito il contesto: da dove arriva l'Intelligenza Artificiale, perché è diventata centrale e perché riguarda le aziende. In questo tema apriamo il cofano, ma senza trasformarci in ingegneri. L'obiettivo è capire i meccanismi quanto basta per usare e valutare l'AI con consapevolezza: che cosa è davvero l'AI, quali tipi esistono, come un sistema apprende dai dati, come funziona un modello linguistico, che cosa succede quando scriviamo una richiesta, da dove arrivano le informazioni usate per rispondere e perché le risposte possono cambiare. Useremo spiegazioni intuitive ma rigorose: niente formule, ma anche niente semplificazioni fuorvianti. Suggerimento per l'apertura: chiedere ai partecipanti di completare la frase 'Quando scrivo una domanda a un assistente AI, secondo me succede che...'. Le risposte sono un ottimo indicatore delle idee di partenza, spesso molto diverse tra loro, e possono essere riprese durante la sessione. Nota per il relatore: i contenuti sono aggiornati a ottobre 2026. Alcuni elementi cambiano rapidamente, in particolare le dimensioni delle finestre di contesto, le funzioni di memoria dei prodotti e le caratteristiche dei modelli più recenti: prima di ogni edizione conviene ricontrollarli.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concettuale dei principali sistemi di Intelligenza Artificiale: come apprendono dai dati, come generano risultati, come avviene l'interazione e quali fonti informative possono essere utilizzate. Accanto a questo c'è un obiettivo di consapevolezza, che riassume lo spirito del modulo. L'AI non è una forma di intelligenza umana digitale: non pensa, non sente e non capisce come una persona, anche quando ne imita molto bene il linguaggio. Ma non è nemmeno un semplice archivio di informazioni, una specie di enciclopedia che restituisce frasi memorizzate. È un insieme di sistemi con meccanismi differenti, e il comportamento che osserviamo dipende da quattro elementi: il modello, i dati con cui è stato addestrato, il contesto che gli forniamo e il modo in cui lo usiamo. Questi quattro elementi torneranno in tutti 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otto domande guidano l'intero modulo e corrispondono, più o meno, ai sette sottotemi. Le prime due riguardano la definizione e la classificazione dell'AI. La terza e la quarta il modo in cui i modelli vengono addestrati e, in particolare, i modelli linguistici. La quinta riguarda ciò che accade durante un'interazione. La sesta e la settima, forse le più utili nella pratica quotidiana, riguardano la provenienza delle informazioni e la differenza tra concetti che spesso vengono confusi: addestramento, contesto, memoria, recupero documentale e fine-tuning. L'ultima riguarda la variabilità delle risposte. Suggerimento: chiedere ai partecipanti quale domanda li incuriosisce di più;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Il documento di perimetro indica la consapevolezza da sviluppare: l'AI non è un'intelligenza umana digitale né un semplice archivio, e il suo comportamento dipende da quattro elementi. Il modello, cioè che tipo di sistema è e come genera i risultati: sottotemi 2.1, 2.2 e 2.4. I dati, cioè gli esempi da cui il modello ha appreso e le informazioni che può consultare: sottotemi 2.3 e 2.6. Il contesto, cioè tutto ciò che il modello riceve durante l'interazione, dalle istruzioni ai documenti: sottotemi 2.5 e 2.6. Le modalità d'uso, cioè l'applicazione che integra il modello, i suoi strumenti e il modo in cui la usiamo: sottotemi 2.5 e 2.7. Nel modulo torneranno anche tre distinzioni che conviene avere presenti fin da ora: addestramento e inferenza, modello e applicazione, variabilità e correttezza. Suggerimento: ogni volta che emerge una domanda sul comportamento di un assistente, chiedere al gruppo da quale dei quattro elementi dipende.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sette sottotemi, tutti confermati. Non hanno però la stessa profondità. Alcuni concetti vanno compresi bene, perché servono ogni giorno: la differenza tra AI e software tradizionale, tra addestramento e inferenza, il funzionamento generale degli LLM, il contesto, le fonti informative e la variabilità delle risposte. Altri vanno conosciuti, cioè saperli riconoscere e collocare: Machine Learning, Deep Learning, token, Transformer, parametri, fine-tuning, grounding e RAG. Altri ancora vanno solo accennati: la matematica delle reti neurali, l'ottimizzazione, i dettagli delle architetture e le procedure avanzate di addestramento. Confini con gli altri temi: non ripeteremo la storia dell'AI (Tema 1); rimanderemo al Tema 3 allucinazioni, bias, accuratezza e valutazione dell'affidabilità; al Tema 4 il confronto tra modelli e prodotti commerciali; ai Temi 5 e 6 il dialogo con l'AI e le tecniche di prompting; e al Tema 14 la realizzazione pratica di basi documentali e integrazioni.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dalla domanda più semplice e più difficile: che cosa intendiamo per Intelligenza Artificiale? Il termine è usato in modi molto diversi, a volte per indicare un software qualsiasi con qualche funzione 'intelligente', a volte per evocare macchine pensanti da film di fantascienza. In questo sottotema cerchiamo una definizione operativa, confrontiamo l'AI con l'intelligenza umana, distinguiamo i sistemi specializzati dall'idea di intelligenza artificiale generale e affrontiamo un tema molto concreto: la tendenza ad attribuire all'AI caratteristiche umane che le sue prestazioni non giustificano.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termine 'intelligenza' può trarre in inganno, perché ci porta a immaginare qualcosa di simile alla mente umana. Il confronto aiuta a capire le differenze. Apprendimento: un sistema AI di norma ha bisogno di enormi quantità di esempi, mentre una persona impara spesso da pochi casi e dall'esperienza diretta. Ambito: le persone vivono in un corpo e in un mondo fisico e sociale, da cui ricavano buon senso e comprensione delle situazioni; i sistemi AI lavorano su rappresentazioni dei dati. Velocità e scala: qui l'AI ha un vantaggio enorme, perché può elaborare in pochi secondi quantità di testo che una persona leggerebbe in mesi. Coerenza: una persona esperta tende ad avere prestazioni relativamente uniformi nel proprio campo, mentre un sistema AI può essere eccellente in un compito e fallire in uno apparentemente più semplice. Consapevolezza e intenzioni: le persone hanno esperienze, scopi propri e responsabilità; per i sistemi AI attuali non esiste evidenza scientifica condivisa di coscienza o intenzioni. Il messaggio non è che uno sia migliore dell'altro, ma che sono diversi, e per questo possono essere complementari.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collocare i sistemi AI lungo uno spettro. Da un lato ci sono i sistemi specializzati, detti anche AI ristretta: progettati e addestrati per un compito preciso, come riconoscere difetti su una linea di produzione o prevedere la domanda. Sono la grande maggioranza dei sistemi AI in uso da decenni. In mezzo ci sono i modelli generalisti, come i grandi modelli linguistici: possono svolgere molti compiti diversi, ma restano limitati a ciò che si può fare elaborando testo, immagini e altri dati, e con prestazioni irregolari. All'altro estremo c'è l'AGI, l'intelligenza artificiale generale: un sistema ipotetico capace di svolgere la maggior parte dei compiti cognitivi umani con un livello paragonabile o superiore a quello di una persona, e di adattarsi a situazioni nuove con la stessa flessibilità. Non esiste una definizione condivisa di AGI, né accordo sui tempi o sulla possibilità di realizzarla; alcuni esperti la ritengono vicina, altri lontana o mal definita. Per il nostro lavoro quotidiano conta una cosa: i sistemi che usiamo oggi sono molto versatili, ma non sono intelligenze generali, e vanno usati di conseguenza.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sono il risultato dell'addestramento su testi umani e di scelte di progettazione: non sono, di per sé, prova di pensieri o emozioni. Riconoscere questa tendenza in noi stessi è il primo passo per usare l'AI in modo lucido.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evitare l'antropomorfizzazione è utile distinguere tre livelli. Primo, le capacità osservabili: il sistema produce un testo fluente, risponde in modo pertinente, risolve un problema, riassume correttamente un documento. Sono fatti che possiamo verificare, e su cui possiamo basare il nostro uso dello strumento. Secondo, il ragionamento: molti sistemi attuali sono in grado di scomporre un problema in passaggi e di arrivare a conclusioni che sembrano frutto di un ragionamento, e alcuni modelli sono progettati proprio per elaborare più passaggi prima di rispondere. È una capacità reale e utile, misurabile sui risultati, ma non infallibile, e quanto somigli al ragionamento umano è oggetto di ricerca e dibattito. Terzo, le caratteristiche mentali: comprensione nel senso umano, intenzioni, emozioni, coscienza, volontà. Le prestazioni osservabili non autorizzano ad attribuirle ai sistemi. Una conseguenza pratica importante: la sicurezza con cui un sistema si esprime non è un indicatore della correttezza di ciò che dice, e il fatto che 'sembri capire' non significa che abbia colto il nostro contesto. L'affidabilità degli output è approfondita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Due messaggi. Primo: 'AI' è un termine ombrello che copre sistemi molto diversi, dai sistemi a regole ai grandi modelli linguistici; quando sentiamo dire 'l'AI fa questo', è sempre utile chiedersi di quale sistema si stia parlando. Secondo: ciò che un sistema sa fare va valutato sulle prestazioni verificabili, senza proiettare su di esso caratteristiche umane come comprensione, intenzioni o emozioni. Domanda di verifica: vi è mai capitato di ringraziare un assistente AI o di arrabbiarvi con lui? È del tutto normale: è proprio l'effetto ELIZA. L'importante è esserne consapevoli quando valutiamo le sue risposte.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la chiave di lettura dell'intero sottotema. 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brevemente la distinzione già incontrata nel Tema 1, guardandola ora dal punto di vista del funzionamento. Nell'AI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categorie dell'AI non sono un albero genealogico con rami separati, ma descrivono aspetti diversi dello stesso sistema: come costruisce la conoscenza, con quale tecnica apprende, che cosa produce, quali dati tratta. Saperle distinguere ci permette di leggere con più precisione le descrizioni di prodotti e progetti e di scegliere l'approccio adatto al problema. Domanda di verifica: un sistema che riconosce dalla foto se un pezzo è difettoso, in quali categorie rientra? Risposta: Machine Learning, probabilmente Deep Learning, discriminativo, unimodale (immagini).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significa, concretamente, 'individuare regolarità'? Prendiamo il filtro antispam. Analizzando migliaia di email etichettate, il sistema scopre che certe combinazioni di elementi compaiono molto più spesso nello spam: parole come 'gratis' o 'urgente' insieme a link verso domini sconosciuti, mittenti mai visti, molti punti esclamativi, richieste di dati personali. Nessun elemento, da solo, è decisivo: anche un'email legittima può contenere la parola 'urgente'. È la combinazione, pesata in base all'esperienza accumulata, a rendere un messaggio più o meno probabilmente spam. Questo esempio illustra tre caratteristiche importanti dell'apprendimento automatico. Le regolarità sono statistiche, non assolute: indicano probabilità, non certezze. Il sistema può cogliere combinazioni troppo numerose o sottili per essere scritte a mano. E può anche cogliere regolarità indesiderate o casuali presenti nei dati, che non hanno un vero rapporto con il fenomeno: se per caso nei dati di addestramento tutte le email di un certo fornitore erano spam, il sistema potrebbe imparare a bloccare quel fornitore anche quando scrive messaggi legittimi.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dell'addestramento non è che il modello dia risposte corrette sugli esempi che ha già visto, ma che sappia rispondere bene su casi nuovi. Questa capacità si chiama generalizzazione. Pensiamo a due studenti che preparano un esame di matematica. Il primo impara a memoria le soluzioni degli esercizi del libro: se all'esame trova gli stessi esercizi va benissimo, ma se i numeri cambiano è in difficoltà. Il secondo capisce il metodo, e sa applicarlo anche a esercizi mai visti. Un modello che si comporta come il primo studente soffre di quello che in gergo si chiama overfitting, o sovradattamento: si adatta troppo ai dati di addestramento, compresi i loro dettagli casuali, e generalizza male. Per verificare la generalizzazione, una parte dei dati viene tenuta da parte e non usata nell'addestramento: il modello viene poi valutato su questi dati 'nuovi'. Un'implicazione pratica: un modello generalizza bene verso casi simili a quelli da cui ha imparato; quando i casi reali si allontanano molto, per esempio un nuovo prodotto, un nuovo mercato o un cambiamento nei comportamenti dei clienti, le sue prestazioni possono peggiorare.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un sistema di Machine Learning apprende individuando regolarità negli esempi; ciò che apprende è memorizzato nei parametri; l'addestramento regola i parametri, l'inferenza li usa; e la vera prova di un modello è la capacità di generalizzare a casi nuovi. Ricordiamo anche che non tutti i sistemi AI apprendono: i sistemi a regole applicano conoscenza scritta da persone. Domanda di verifica: se oggi correggo un errore dell'assistente AI, domani il modello lo avrà imparato? Risposta: in generale no, perché l'uso è inferenza e non modifica i parametri. L'applicazione potrebbe però ricordare l'informazione tramite funzioni di memoria, come vedremo nel sottotema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termini generali, gli LLM? Possiamo raggruppare le loro capacità in tre famiglie. Le capacità linguistiche: scrivere, riformulare, adattare lo stile e il registro, tradurre, correggere, sintetizzare. Sono le più mature e quelle su cui gli LLM sono più affidabili. Le capacità di analisi: estrarre informazioni da un testo, classificare, confrontare documenti, individuare temi ricorrenti, strutturare informazioni disordinate in tabelle o elenchi. Le capacità di ragionamento: scomporre un problema in passaggi, seguire una catena logica, pianificare, risolvere problemi matematici o di programmazione. Negli ultimi anni sono comparsi modelli progettati per dedicare più elaborazione al ragionamento, generando passaggi intermedi prima della risposta finale, con miglioramenti significativi su problemi complessi. Queste capacità sono reali e misurabili, ma con due avvertenze già incontrate: sono irregolari, cioè un modello può risolvere un problema difficile e sbagliarne uno apparentemente facile, e non sono infallibili. Per questo il livello di verifica deve crescere con l'importanza del risultato. L'analisi dei limiti e degli errori è 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caratteristica sorprendente degli LLM è la versatilità: lo stesso modello scrive email, riassume contratti, traduce, genera codice, analizza dati e risponde a domande. Fino a pochi anni fa ognuno di questi compiti avrebbe richiesto un modello specifico, addestrato su dati specifici. Perché oggi ne basta uno? La ragione principale è che moltissimi compiti possono essere espressi nella stessa forma: un testo in ingresso e un testo in uscita. Tradurre significa ricevere un testo e produrne un altro; riassumere, classificare, rispondere, perfino scrivere codice, sono tutte trasformazioni di testo in testo. Dato che il modello è stato addestrato su una varietà enorme di testi, che contengono esempi di tutte queste attività, ha appreso le regolarità necessarie per svolgerle. Ed è stato poi affinato per seguire istruzioni, per cui basta descrivere il compito a parole per indirizzarlo. È il motivo per cui, come abbiamo visto nel Tema 1, il linguaggio naturale è diventato l'interfaccia. Precisazione: versatile non significa ugualmente bravo in tutto, e per alcuni compiti specifici un modello specializzato resta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percorso: un LLM rappresenta il testo come token, trasforma i token in rappresentazioni del significato, li interpreta alla luce del contesto grazie al meccanismo di attenzione, e genera la risposta un token alla volta, scegliendo tra i token più probabili. Tutto questo si basa su regolarità apprese da enormi quantità di testo e su un affinamento per seguire istruzioni. Non è magia e non è comprensione umana, ma nemmeno un semplice completamento automatico. Domanda di verifica: perché un LLM può avere difficoltà a contare quante lettere 'r' ci sono in una parola, pur scrivendo testi complessi? Risposta: perché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 fila i passaggi di una singola richiesta, collegando i concetti visti finora. Primo: scriviamo il prompt. Secondo: l'applicazione compone il contesto completo, aggiungendo istruzioni di sistema, cronologia ed eventuali documenti. Terzo: il testo viene suddiviso in token, la cosiddetta tokenizzazione. Quarto: il modello esegue l'inferenza, elaborando l'intera sequenza di token con i parametri appresi durante l'addestramento, che non cambiano. Quinto: genera la risposta un token alla volta, come abbiamo visto. Sesto: i token generati vengono riconvertiti in testo leggibile e mostrati, spesso progressivamente, man mano che vengono prodotti. In alcune applicazioni, tra il quarto e il quinto passaggio, il modello può decidere di usare uno strumento, per esempio una ricerca sul web o un calcolo, e i risultati vengono aggiunti al contesto prima di proseguire. Tutto questo avviene in pochi secondi. Dopo la risposta, il modello non conserva nulla: alla richiesta successiva il processo ricomincia da capo, come vedremo parlando di cronologia.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aspetto che sorprende molti: il modello non ricorda la conversazione. Ogni volta che inviamo un messaggio, il modello parte da zero. Come fa allora a 'ricordare' quello che ci siamo detti? È l'applicazione che, a ogni turno, rimanda al modello l'intera cronologia della conversazione insieme al nuovo messaggio. Il modello rilegge tutto e risponde. Lo schema in slide lo mostra: al primo turno il modello riceve istruzioni e prima domanda; al secondo, istruzioni, prima domanda, prima risposta e seconda domanda; e così via. Il contesto cresce a ogni turno. Questo ha tre conseguenze pratiche. Primo: in una conversazione molto lunga il contesto può avvicinarsi al limite della finestra, e le informazioni iniziali possono essere trascurate, riassunte o escluse. Secondo: avviando una nuova conversazione il modello non sa nulla di quella precedente, salvo funzioni di memoria specifiche dell'applicazione. Terzo: un errore o un'impostazione sbagliata all'inizio della conversazione continua a influenzare le risposte successive, perché resta nel contesto; a volte ricominciare una conversazione pulita è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modello riceve molto più del nostro messaggio; lavora entro una finestra di contesto limitata; non ricorda nulla tra un turno e l'altro, ed è l'applicazione a rimandargli la cronologia; la memoria persistente è una funzione dell'applicazione e non modifica il modello; e molte caratteristiche che attribuiamo all'AI dipendono in realtà dal prodotto che la integra. Domanda di verifica: perché la stessa domanda posta in due assistenti diversi, basati sullo stesso modello, può ricevere risposte diverse? Possibili risposte: istruzioni di sistema diverse, funzioni di ricerca diverse, documenti o memoria diversi, oltre alla normale variabilità che vedremo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Un'analogia efficace è quella dell'esame. La conoscenza incorporata nel modello somiglia a un esame a libro chiuso: lo studente risponde basandosi su ciò che ricorda, che può essere molto, ma è impreciso sui dettagli, non è aggiornato su ciò che è successo dopo lo studio e, quando non ricorda bene, rischia di ricostruire una risposta plausibile ma sbagliata. Il recupero di informazioni somiglia invece a un esame a libro aperto: lo studente può consultare i testi pertinenti e basare la risposta su di essi, con dettagli precisi e la possibilità di indicare la fonte. Nella pratica, quando chiediamo a un assistente un dato preciso, come il valore di un indicatore, un riferimento normativo o una citazione, e il sistema risponde solo dalla conoscenza incorporata, il rischio di imprecisione è più alto. Quando invece la risposta si basa su documenti forniti o recuperati, è più facile che sia precisa e verificabile, anche se non è garantito: il modello può comunque interpretare male un documento o recuperare quello sbagliato. Le cause degli errori, comprese le cosiddette allucinazioni, sono approfondite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informazioni di una risposta possono provenire dall'addestramento, dall'interazione o da fonti esterne; la conoscenza incorporata è generale e datata, quella recuperata è più precisa e verificabile; il grounding e la RAG permettono di ancorare le risposte ai documenti senza riaddestrare il modello; e il fine-tuning è solo una delle modalità di adattamento, spesso non la più adatta. Domanda di verifica: un collega dice 'ho caricato il nostro regolamento interno nell'assistente, adesso lo conosce'. Che cosa gli rispondereste? Risposta: lo conosce per quella conversazione, perché il documento è nel contesto; il modello non è stato riaddestrato.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Chiunque abbia usato un assistente AI si è accorto che, ponendo due volte la stessa domanda, si ottengono risposte diverse. Per chi è abituato al software tradizionale, questo può sembrare un difetto o un malfunzionamento. In realtà è una conseguenza diretta del modo in cui i modelli generano il testo. In questo sottotema vediamo perché succede, quali fattori influenzano la variabilità, come si può ridurre quando serve e, soprattutto, perché variabilità e correttezza sono due questioni distinte.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concreto. La stessa richiesta, 'Proponi un titolo per la newsletter che annuncia il nuovo orario estivo degli uffici', inviata tre volte allo stesso assistente, può produrre tre risposte diverse, come quelle in slide. Sono tutte ragionevoli, con sfumature diverse di tono e formulazione. Questo è il comportamento normale di un modello generativo. Perché accade? Ricordiamo come viene generata una risposta: a ogni passaggio il modello calcola una distribuzione di probabilità sui possibili token successivi e poi ne sceglie uno. Se scegliesse sempre il più probabile, le risposte sarebbero sempre uguali, ma tenderebbero anche a essere ripetitive e poco naturali. Per questo, di norma, la scelta avviene tramite campionamento: il token viene estratto in proporzione alla sua probabilità, per cui di solito vince un token molto probabile, ma talvolta ne viene scelto un altro. Basta una scelta diversa nelle prime parole perché tutta la risposta prenda una strada diversa, dato che ogni token condiziona i successivi. Suggerimento: se possibile, mostrare dal vivo l'esempio rigenerando più volte la stessa risposta in un 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campionamento è la causa principale della variabilità, ma non l'unica. Possiamo individuare almeno cinque fattori. Primo, il campionamento stesso, che abbiamo appena visto. Secondo, le istruzioni: una richiesta vaga lascia al modello molte strade possibili, mentre una richiesta precisa, con indicazioni su formato, tono, lunghezza ed eventuali esempi, restringe le possibilità e rende le risposte più simili tra loro. Terzo, il contesto: la cronologia della conversazione, i documenti allegati, la memoria e i risultati di ricerca cambiano da una sessione all'altra, e con essi le risposte. Quarto, i parametri di generazione, come la temperatura, che vedremo nella prossima slide. Quinto, la versione del modello e dell'applicazione: i fornitori aggiornano periodicamente modelli e istruzioni di sistema, per cui la stessa richiesta può dare risultati diversi nel corso dei mesi. Questo è un punto importante per chi costruisce procedure di lavoro basate sull'AI: un risultato ottenuto oggi non è garantito per sempre, e conviene riverificare periodicamente.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parametro di generazione più noto è la temperatura, che regola quanto il campionamento è 'audace'. Con una temperatura bassa, la distribuzione delle probabilità si concentra sui token più probabili: le risposte diventano più prevedibili, conservative e simili tra loro. Con una temperatura alta, la distribuzione si appiattisce e anche i token meno probabili hanno più possibilità di essere scelti: le risposte diventano più varie e creative, ma anche più esposte a scelte poco appropriate. I due grafici mostrano, con valori illustrativi, la stessa scelta tra cinque parole con temperatura bassa e alta. Esistono anche altri parametri simili, che limitano la scelta ai token più probabili. Nella pratica, chi usa un assistente tramite interfaccia conversazionale spesso non vede né controlla questi parametri, che sono impostati dal fornitore; sono invece regolabili da chi usa i modelli tramite API, per esempio quando si integra l'AI in un'applicazione aziendale. Una indicazione generale: valori bassi sono adatti a compiti in cui serve coerenza, come estrazione di dati o classificazione; valori più alti a compiti creativi come la generazione di idee. Attenzione: anche con temperatura minima, i risultati possono non essere perfettamente identici in ogni caso, per ragioni tecniche legate all'esecuzione dei calcoli.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distinzione introdotta nel Tema 1, ora che ne conosciamo il meccanismo. Il software deterministico produce sempre lo stesso output a parità di input: è ciò che ci aspettiamo da una calcolatrice, da un gestionale, da una formula in un foglio di calcolo. Un modello generativo è invece probabilistico: produce output plausibili estratti da una distribuzione di probabilità, e quindi può variare. Nessuno dei due comportamenti è migliore in assoluto: sono adatti a esigenze diverse. La variabilità è una risorsa quando cerchiamo alternative, idee, formulazioni diverse, o quando vogliamo rigenerare una risposta che non ci soddisfa. È invece un problema quando serve coerenza: estrarre gli stessi campi da centinaia di fatture, classificare richieste secondo criteri uniformi, produrre testi che devono rispettare formule fisse. In questi casi bisogna ridurre la variabilità, o combinare l'AI con componenti deterministici, per esempio facendo calcolare i totali a un software tradizionale invece che al modello. Il messaggio pratico: conoscere la natura probabilistica dei modelli aiuta a decidere dove usarli e con quali accorgimenti.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risultato deve essere riproducibile, cioè ottenibile di nuovo in modo coerente, esistono diversi accorgimenti che riducono la variabilità. Formulare istruzioni precise: specificare formato, lunghezza, struttura, tono, criteri. Fornire esempi del risultato atteso: il modello tende a imitarli. Chiedere output strutturati, come tabelle o elenchi con campi fissi, invece di testo libero. Ridurre la temperatura, quando lo strumento lo consente. Salvare e riutilizzare i prompt che funzionano, invece di riscriverli ogni volta, e documentarli se fanno parte di un processo aziendale. Fornire sempre lo stesso contesto, per esempio gli stessi documenti di riferimento. Annotare la versione del modello o dello strumento usato e riverificare dopo gli aggiornamenti. Nessuno di questi accorgimenti garantisce una riproducibilità assoluta, che con i modelli generativi non è di norma ottenibile, ma insieme rendono i risultati molto più coerenti. Le tecniche operative di prompting sono approfondite nel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chiarisce una distinzione su cui il documento di perimetro insiste: variabilità e correttezza sono due questioni separate. Lo schema incrocia le due dimensioni, e ogni quadrante ha un esempio fittizio in corsivo. In alto a sinistra, risposte che variano ma sono tutte corrette: tre titoli diversi per la stessa newsletter, come quelli visti poco fa nella slide 58, formulazioni diverse ugualmente valide. In alto a destra, risposte stabili e corrette: la situazione ideale per i compiti che richiedono coerenza, come assegnare sempre la stessa categoria allo stesso ticket di assistenza. In basso a destra, risposte stabili ma sbagliate: è il caso più insidioso, perché la ripetizione della stessa risposta può darci un falso senso di sicurezza. Un modello può ripetere con coerenza un'informazione errata, per esempio un prezzo di listino superato, indicato ogni volta allo stesso modo. In basso a sinistra, risposte che variano e sono sbagliate: chiedendo tre volte la stessa scadenza si ottengono tre date diverse. Qui la variabilità può essere un segnale utile, perché risposte molto diverse alla stessa domanda fattuale indicano spesso che il modello non ha un'informazione solida, e che serve verificare. Il messaggio: non dobbiamo considerare la variabilità come un errore, né la stabilità come una garanzia. La correttezza va valutata con altri strumenti, che sono l'oggetto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variabilità deriva dalla natura probabilistica della generazione: a ogni passaggio il modello sceglie tra token possibili, con un grado di casualità regolato da parametri come la temperatura. Istruzioni, contesto e versioni influiscono ulteriormente. La variabilità può essere ridotta con accorgimenti pratici, ma non eliminata del tutto; è una risorsa per i compiti creativi e un aspetto da gestire per quelli che richiedono coerenza. Soprattutto, non va confusa con l'errore: risposte diverse possono essere tutte corrette, e risposte identiche possono essere tutte sbagliate. Domanda di verifica: se chiedo tre volte lo stesso dato e ottengo sempre lo stesso numero, posso considerarlo corretto? Risposta: no, la stabilità non garantisce la correttezza; va verificato su una fonte affidabile. Correttezza e affidabilità sono approfondite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dell'inizio. Che cosa intendiamo per AI? Sistemi che deducono dagli input come generare output, con autonomia variabile; non un'intelligenza umana digitale. Come si distinguono AI, Machine Learning, Deep Learning e AI generativa? Rispondono a criteri diversi: l'AI è il campo, il ML apprende dai dati, il DL usa reti neurali profonde, la generativa produce contenuti. Che cos'è un modello e come viene addestrato? Un insieme di parametri regolati sugli esempi riducendo l'errore. Che cos'è un LLM? Un modello di Deep Learning che genera testo token per token da regolarità apprese e dal contesto. Che cosa accade quando inviamo un prompt? L'applicazione compone il contesto, il modello lo elabora in inferenza e genera la risposta. Da dove provengono le informazioni? Da addestramento, interazione e fonti esterne. Che differenza c'è tra addestramento, contesto, memoria, recupero e fine-tuning? Solo addestramento e fine-tuning modificano il modello; gli altri forniscono informazioni nel contesto. Perché le risposte variano? Per il campionamento probabilistico, e la variabilità non è un errore. Suggerimento: chiedere ai partecipanti di rispondere prima con parole proprie.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sei risultati attesi del modulo. Il partecipante dovrebbe essere in grado di: distinguere le principali famiglie e capacità dei sistemi AI; descrivere a grandi linee come avvengono addestramento e inferenza; spiegare il funzionamento generale di un LLM e di una conversazione con esso; distinguere ciò che un modello ha appreso dalle informazioni fornite o recuperate durante l'uso; comprendere che il comportamento dipende dal modello, dall'applicazione e dal contesto; interpretare la variabilità degli output senza confonderla automaticamente con un errore. Se questi sei punti sono chiari, i partecipanti hanno gli strumenti concettuali per affrontare il Tema 3, dedicato all'affidabilità, e i temi pratici sull'uso dell'AI, dal Tema 5 al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successiva raccolgono i termini principali introdotti nel modulo, con una definizione sintetica. Possono essere distribuite ai partecipanti come materiale di riferimento. Suggerimento: usarle come ripasso veloce, chiedendo ai partecipanti di spiegare un termine con parole proprie prima di mostrare la definizione.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del glossario. Anche questi termini compaiono spesso nella documentazione dei prodotti e nelle notizie sull'AI: riconoscerli aiuta a leggerle con maggiore consapevolezza.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una risposta dell'AI conta davvero, per esempio prima di usarla in un documento o in una decisione. Primo: quale sistema sto usando? Non solo quale modello, ma quale applicazione, con quali funzioni di ricerca, file e memoria: sottotema 2.5. Secondo: da dove viene questa informazione? Dalla conoscenza appresa in addestramento, dal contesto che ho fornito o da una fonte esterna recuperata? Sottotema 2.6. Terzo: può essere cambiata di recente? Se sì, la data limite del modello conta, e servono ricerca o documenti aggiornati: ancora 2.6. Quarto: il contesto è quello giusto? Pertinente, completo, e non sepolto nel mezzo di testi molto lunghi: sottotema 2.5. Quinto: che cosa resta dopo la conversazione? Memoria dell'applicazione, uso dei dati da parte del fornitore, condizioni del servizio: sottotemi 2.3 e 2.5. Sesto: se la rigenero, cambia? Risposte molto diverse a una domanda fattuale sono un segnale da verificare, ma una risposta stabile non è una prova: sottotema 2.7. Suggerimento: applicare la scheda insieme ai partecipanti a una risposta reale di un 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che riassumono in negativo i messaggi del modulo. Gli equivoci sulle fonti, come 'se carico un documento il modello lo impara', li abbiamo già visti nel sottotema 2.6; qui guardiamo le altre aree. Primo: pensare che l'AI capisca come una persona. Valutiamo le prestazioni osservabili, senza attribuire comprensione, intenzioni o emozioni. Secondo: trattare AI, Machine Learning e AI generativa come sinonimi o come caselle separate. Rispondono a criteri diversi, e uno stesso sistema appartiene a più categorie. Terzo: credere che correggendo un assistente lo si addestri. Durante l'uso siamo in inferenza: i parametri non cambiano. Quarto: liquidare un LLM come un semplice completamento automatico, o all'opposto come una mente. Genera output da regolarità apprese e dal contesto. Quinto: confondere il modello con il prodotto. Molte funzioni, come la ricerca, i file e la memoria, dipendono dall'applicazione. Sesto: pensare che una risposta stabile sia per questo corretta. La stabilità non è una garanzia, e la variabilità non è un errore. Suggerimento: chiedere ai partecipanti quale di queste idee avevano all'inizio del modulo, collegandosi alle risposte raccolte in apertura.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tema abbiamo capito come funzionano i sistemi AI: come apprendono, come generano le risposte, da dove arrivano le informazioni e perché le risposte variano. Abbiamo più volte rimandato una domanda fondamentale: quanto possiamo fidarci di ciò che l'AI produce? Il Tema 3 sarà dedicato proprio a questo: perché i modelli possono produrre informazioni false ma plausibili, le cosiddette allucinazioni; da dove nascono i bias; come valutare l'accuratezza e l'affidabilità di un output; e come impostare una verifica proporzionata all'importanza del risultato. I concetti di questo modulo, come la generazione probabilistica, la conoscenza incorporata e datata, il contesto e il grounding, saranno la base per capire le cause degli errori e i modi per gestirli.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fonti sono state verificate a ottobre 2026; in particolare, la definizione di sistema di AI dell'articolo 3 non è stata modificata dal Digital Omnibus del 2026. Alcune informazioni, come le dimensioni delle finestre di contesto, le funzioni di memoria dei prodotti e le caratteristiche dei modelli più recenti, cambiano rapidamente: prima di ogni edizione del corso è consigliabile verificarne l'attualità.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4.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4.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4.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4.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4.xml"/><Relationship Id="rId9"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4.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4.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4.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2</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Fondamenti e funzionamento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comprendere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Le principali famiglie di sistemi AI</a:t>
            </a:r>
            <a:endParaRPr lang="en-US" sz="1400" dirty="0"/>
          </a:p>
          <a:p>
            <a:pPr marL="177800" indent="-177800">
              <a:spcAft>
                <a:spcPts val="400"/>
              </a:spcAft>
              <a:buSzPct val="100000"/>
              <a:buChar char="•"/>
            </a:pPr>
            <a:r>
              <a:rPr lang="en-US" sz="1400" dirty="0">
                <a:solidFill>
                  <a:schemeClr val="tx2"/>
                </a:solidFill>
              </a:rPr>
              <a:t>Come apprendono dai dati e generano risultati</a:t>
            </a:r>
            <a:endParaRPr lang="en-US" sz="1400" dirty="0"/>
          </a:p>
          <a:p>
            <a:pPr marL="177800" indent="-177800">
              <a:spcAft>
                <a:spcPts val="400"/>
              </a:spcAft>
              <a:buSzPct val="100000"/>
              <a:buChar char="•"/>
            </a:pPr>
            <a:r>
              <a:rPr lang="en-US" sz="1400" dirty="0">
                <a:solidFill>
                  <a:schemeClr val="tx2"/>
                </a:solidFill>
              </a:rPr>
              <a:t>Come funziona un'interazione</a:t>
            </a:r>
            <a:endParaRPr lang="en-US" sz="1400" dirty="0"/>
          </a:p>
          <a:p>
            <a:pPr marL="177800" indent="-177800">
              <a:spcAft>
                <a:spcPts val="400"/>
              </a:spcAft>
              <a:buSzPct val="100000"/>
              <a:buChar char="•"/>
            </a:pPr>
            <a:r>
              <a:rPr lang="en-US" sz="1400" dirty="0">
                <a:solidFill>
                  <a:schemeClr val="tx2"/>
                </a:solidFill>
              </a:rPr>
              <a:t>Da quali fonti arrivano le informazioni</a:t>
            </a:r>
            <a:endParaRPr lang="en-US"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 sviluppare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L'AI non è un'intelligenza umana digitale, né un semplice archivio di informazioni.</a:t>
            </a:r>
            <a:endParaRPr lang="en-US" sz="1400" dirty="0"/>
          </a:p>
          <a:p>
            <a:pPr indent="0" marL="0">
              <a:buNone/>
            </a:pPr>
            <a:endParaRPr lang="en-US" sz="1400" dirty="0"/>
          </a:p>
          <a:p>
            <a:pPr indent="0" marL="0">
              <a:buNone/>
            </a:pPr>
            <a:r>
              <a:rPr lang="en-US" sz="1400" dirty="0">
                <a:solidFill>
                  <a:schemeClr val="tx2"/>
                </a:solidFill>
              </a:rPr>
              <a:t>È un insieme di sistemi diversi, il cui comportamento dipende da modello, dati, contesto e modalità di utilizzo.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sp>
      <p:sp>
        <p:nvSpPr>
          <p:cNvPr id="5" name="Text 2"/>
          <p:cNvSpPr txBox="1"/>
          <p:nvPr/>
        </p:nvSpPr>
        <p:spPr>
          <a:xfrm>
            <a:off x="62179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intendiamo per Intelligenza Artificiale?</a:t>
            </a:r>
            <a:endParaRPr lang="en-US" sz="1300" dirty="0"/>
          </a:p>
        </p:txBody>
      </p:sp>
      <p:sp>
        <p:nvSpPr>
          <p:cNvPr id="7" name="domanda 2"/>
          <p:cNvSpPr/>
          <p:nvPr/>
        </p:nvSpPr>
        <p:spPr>
          <a:xfrm>
            <a:off x="2560320" y="1097280"/>
            <a:ext cx="1965960" cy="1600200"/>
          </a:xfrm>
          <a:prstGeom prst="roundRect">
            <a:avLst>
              <a:gd name="adj" fmla="val 4571"/>
            </a:avLst>
          </a:prstGeom>
          <a:solidFill>
            <a:schemeClr val="bg2"/>
          </a:solidFill>
          <a:ln/>
        </p:spPr>
      </p:sp>
      <p:sp>
        <p:nvSpPr>
          <p:cNvPr id="8" name="Text 5"/>
          <p:cNvSpPr txBox="1"/>
          <p:nvPr/>
        </p:nvSpPr>
        <p:spPr>
          <a:xfrm>
            <a:off x="272491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Come si distinguono AI, ML, Deep Learning e AI generativa?</a:t>
            </a:r>
            <a:endParaRPr lang="en-US" sz="1300" dirty="0"/>
          </a:p>
        </p:txBody>
      </p:sp>
      <p:sp>
        <p:nvSpPr>
          <p:cNvPr id="10" name="domanda 3"/>
          <p:cNvSpPr/>
          <p:nvPr/>
        </p:nvSpPr>
        <p:spPr>
          <a:xfrm>
            <a:off x="4663440" y="1097280"/>
            <a:ext cx="1965960" cy="1600200"/>
          </a:xfrm>
          <a:prstGeom prst="roundRect">
            <a:avLst>
              <a:gd name="adj" fmla="val 4571"/>
            </a:avLst>
          </a:prstGeom>
          <a:solidFill>
            <a:schemeClr val="bg2"/>
          </a:solidFill>
          <a:ln/>
        </p:spPr>
      </p:sp>
      <p:sp>
        <p:nvSpPr>
          <p:cNvPr id="11" name="Text 8"/>
          <p:cNvSpPr txBox="1"/>
          <p:nvPr/>
        </p:nvSpPr>
        <p:spPr>
          <a:xfrm>
            <a:off x="482803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modello AI e come viene addestrato?</a:t>
            </a:r>
            <a:endParaRPr lang="en-US" sz="1300" dirty="0"/>
          </a:p>
        </p:txBody>
      </p:sp>
      <p:sp>
        <p:nvSpPr>
          <p:cNvPr id="13" name="domanda 4"/>
          <p:cNvSpPr/>
          <p:nvPr/>
        </p:nvSpPr>
        <p:spPr>
          <a:xfrm>
            <a:off x="6766560" y="1097280"/>
            <a:ext cx="1965960" cy="1600200"/>
          </a:xfrm>
          <a:prstGeom prst="roundRect">
            <a:avLst>
              <a:gd name="adj" fmla="val 4571"/>
            </a:avLst>
          </a:prstGeom>
          <a:solidFill>
            <a:schemeClr val="bg2"/>
          </a:solidFill>
          <a:ln/>
        </p:spPr>
      </p:sp>
      <p:sp>
        <p:nvSpPr>
          <p:cNvPr id="14" name="Text 11"/>
          <p:cNvSpPr txBox="1"/>
          <p:nvPr/>
        </p:nvSpPr>
        <p:spPr>
          <a:xfrm>
            <a:off x="693115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Large Language Model?</a:t>
            </a:r>
            <a:endParaRPr lang="en-US" sz="1300" dirty="0"/>
          </a:p>
        </p:txBody>
      </p:sp>
      <p:sp>
        <p:nvSpPr>
          <p:cNvPr id="16" name="domanda 5"/>
          <p:cNvSpPr/>
          <p:nvPr/>
        </p:nvSpPr>
        <p:spPr>
          <a:xfrm>
            <a:off x="457200" y="2834640"/>
            <a:ext cx="1965960" cy="1600200"/>
          </a:xfrm>
          <a:prstGeom prst="roundRect">
            <a:avLst>
              <a:gd name="adj" fmla="val 4571"/>
            </a:avLst>
          </a:prstGeom>
          <a:solidFill>
            <a:schemeClr val="bg2"/>
          </a:solidFill>
          <a:ln/>
        </p:spPr>
      </p:sp>
      <p:sp>
        <p:nvSpPr>
          <p:cNvPr id="17" name="Text 14"/>
          <p:cNvSpPr txBox="1"/>
          <p:nvPr/>
        </p:nvSpPr>
        <p:spPr>
          <a:xfrm>
            <a:off x="62179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accade quando inviamo un prompt?</a:t>
            </a:r>
            <a:endParaRPr lang="en-US" sz="1300" dirty="0"/>
          </a:p>
        </p:txBody>
      </p:sp>
      <p:sp>
        <p:nvSpPr>
          <p:cNvPr id="19" name="domanda 6"/>
          <p:cNvSpPr/>
          <p:nvPr/>
        </p:nvSpPr>
        <p:spPr>
          <a:xfrm>
            <a:off x="2560320" y="2834640"/>
            <a:ext cx="1965960" cy="1600200"/>
          </a:xfrm>
          <a:prstGeom prst="roundRect">
            <a:avLst>
              <a:gd name="adj" fmla="val 4571"/>
            </a:avLst>
          </a:prstGeom>
          <a:solidFill>
            <a:schemeClr val="bg2"/>
          </a:solidFill>
          <a:ln/>
        </p:spPr>
      </p:sp>
      <p:sp>
        <p:nvSpPr>
          <p:cNvPr id="20" name="Text 17"/>
          <p:cNvSpPr txBox="1"/>
          <p:nvPr/>
        </p:nvSpPr>
        <p:spPr>
          <a:xfrm>
            <a:off x="272491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Da dove provengono le informazioni di una risposta?</a:t>
            </a:r>
            <a:endParaRPr lang="en-US" sz="1300" dirty="0"/>
          </a:p>
        </p:txBody>
      </p:sp>
      <p:sp>
        <p:nvSpPr>
          <p:cNvPr id="22" name="domanda 7"/>
          <p:cNvSpPr/>
          <p:nvPr/>
        </p:nvSpPr>
        <p:spPr>
          <a:xfrm>
            <a:off x="4663440" y="2834640"/>
            <a:ext cx="1965960" cy="1600200"/>
          </a:xfrm>
          <a:prstGeom prst="roundRect">
            <a:avLst>
              <a:gd name="adj" fmla="val 4571"/>
            </a:avLst>
          </a:prstGeom>
          <a:solidFill>
            <a:schemeClr val="bg2"/>
          </a:solidFill>
          <a:ln/>
        </p:spPr>
      </p:sp>
      <p:sp>
        <p:nvSpPr>
          <p:cNvPr id="23" name="Text 20"/>
          <p:cNvSpPr txBox="1"/>
          <p:nvPr/>
        </p:nvSpPr>
        <p:spPr>
          <a:xfrm>
            <a:off x="482803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Addestramento, contesto, memoria, recupero, fine-tuning: che differenza c'è?</a:t>
            </a:r>
            <a:endParaRPr lang="en-US" sz="1300" dirty="0"/>
          </a:p>
        </p:txBody>
      </p:sp>
      <p:sp>
        <p:nvSpPr>
          <p:cNvPr id="25" name="domanda 8"/>
          <p:cNvSpPr/>
          <p:nvPr/>
        </p:nvSpPr>
        <p:spPr>
          <a:xfrm>
            <a:off x="6766560" y="2834640"/>
            <a:ext cx="1965960" cy="1600200"/>
          </a:xfrm>
          <a:prstGeom prst="roundRect">
            <a:avLst>
              <a:gd name="adj" fmla="val 4571"/>
            </a:avLst>
          </a:prstGeom>
          <a:solidFill>
            <a:schemeClr val="bg2"/>
          </a:solidFill>
          <a:ln/>
        </p:spPr>
      </p:sp>
      <p:sp>
        <p:nvSpPr>
          <p:cNvPr id="26" name="Text 23"/>
          <p:cNvSpPr txBox="1"/>
          <p:nvPr/>
        </p:nvSpPr>
        <p:spPr>
          <a:xfrm>
            <a:off x="693115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Perché le risposte possono variare a parità di richiesta?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Modello"/>
          <p:cNvSpPr/>
          <p:nvPr/>
        </p:nvSpPr>
        <p:spPr>
          <a:xfrm>
            <a:off x="457200" y="1051560"/>
            <a:ext cx="1920240" cy="1965960"/>
          </a:xfrm>
          <a:prstGeom prst="roundRect">
            <a:avLst>
              <a:gd name="adj" fmla="val 3810"/>
            </a:avLst>
          </a:prstGeom>
          <a:solidFill>
            <a:schemeClr val="bg2"/>
          </a:solidFill>
          <a:ln/>
        </p:spPr>
      </p:sp>
      <p:sp>
        <p:nvSpPr>
          <p:cNvPr id="5" name="cerchio FiCpu"/>
          <p:cNvSpPr/>
          <p:nvPr/>
        </p:nvSpPr>
        <p:spPr>
          <a:xfrm>
            <a:off x="1097280" y="1161288"/>
            <a:ext cx="640080" cy="64008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Modello</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Che tipo di sistema è e come genera</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2.1  2.2  2.4</a:t>
            </a:r>
            <a:endParaRPr lang="en-US" sz="1200" dirty="0"/>
          </a:p>
        </p:txBody>
      </p:sp>
      <p:sp>
        <p:nvSpPr>
          <p:cNvPr id="10" name="Dati"/>
          <p:cNvSpPr/>
          <p:nvPr/>
        </p:nvSpPr>
        <p:spPr>
          <a:xfrm>
            <a:off x="2560320" y="1051560"/>
            <a:ext cx="1920240" cy="1965960"/>
          </a:xfrm>
          <a:prstGeom prst="roundRect">
            <a:avLst>
              <a:gd name="adj" fmla="val 3810"/>
            </a:avLst>
          </a:prstGeom>
          <a:solidFill>
            <a:schemeClr val="bg2"/>
          </a:solidFill>
          <a:ln/>
        </p:spPr>
      </p:sp>
      <p:sp>
        <p:nvSpPr>
          <p:cNvPr id="11" name="cerchio FiDatabase"/>
          <p:cNvSpPr/>
          <p:nvPr/>
        </p:nvSpPr>
        <p:spPr>
          <a:xfrm>
            <a:off x="3200400" y="1161288"/>
            <a:ext cx="640080" cy="640080"/>
          </a:xfrm>
          <a:prstGeom prst="ellipse">
            <a:avLst/>
          </a:prstGeom>
          <a:solidFill>
            <a:schemeClr val="accent1"/>
          </a:solidFill>
          <a:ln/>
        </p:spPr>
      </p:sp>
      <p:pic>
        <p:nvPicPr>
          <p:cNvPr id="12" name="Image 1" descr="FiDatabase">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Dati</a:t>
            </a:r>
            <a:endParaRPr lang="en-US" sz="1500" dirty="0"/>
          </a:p>
        </p:txBody>
      </p:sp>
      <p:sp>
        <p:nvSpPr>
          <p:cNvPr id="14" name="Text 9"/>
          <p:cNvSpPr txBox="1"/>
          <p:nvPr/>
        </p:nvSpPr>
        <p:spPr>
          <a:xfrm>
            <a:off x="265176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Da che cosa ha appreso, che cosa consulta</a:t>
            </a:r>
            <a:endParaRPr lang="en-US" sz="1200" dirty="0"/>
          </a:p>
        </p:txBody>
      </p:sp>
      <p:sp>
        <p:nvSpPr>
          <p:cNvPr id="15" name="Text 10"/>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2.3  2.6</a:t>
            </a:r>
            <a:endParaRPr lang="en-US" sz="1200" dirty="0"/>
          </a:p>
        </p:txBody>
      </p:sp>
      <p:sp>
        <p:nvSpPr>
          <p:cNvPr id="16" name="Contesto"/>
          <p:cNvSpPr/>
          <p:nvPr/>
        </p:nvSpPr>
        <p:spPr>
          <a:xfrm>
            <a:off x="4663440" y="1051560"/>
            <a:ext cx="1920240" cy="1965960"/>
          </a:xfrm>
          <a:prstGeom prst="roundRect">
            <a:avLst>
              <a:gd name="adj" fmla="val 3810"/>
            </a:avLst>
          </a:prstGeom>
          <a:solidFill>
            <a:schemeClr val="bg2"/>
          </a:solidFill>
          <a:ln/>
        </p:spPr>
      </p:sp>
      <p:sp>
        <p:nvSpPr>
          <p:cNvPr id="17" name="cerchio FiLayers"/>
          <p:cNvSpPr/>
          <p:nvPr/>
        </p:nvSpPr>
        <p:spPr>
          <a:xfrm>
            <a:off x="5303520" y="1161288"/>
            <a:ext cx="640080" cy="640080"/>
          </a:xfrm>
          <a:prstGeom prst="ellipse">
            <a:avLst/>
          </a:prstGeom>
          <a:solidFill>
            <a:schemeClr val="accent1"/>
          </a:solidFill>
          <a:ln/>
        </p:spPr>
      </p:sp>
      <p:pic>
        <p:nvPicPr>
          <p:cNvPr id="18" name="Image 2" descr="FiLay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Contesto</a:t>
            </a:r>
            <a:endParaRPr lang="en-US" sz="1500" dirty="0"/>
          </a:p>
        </p:txBody>
      </p:sp>
      <p:sp>
        <p:nvSpPr>
          <p:cNvPr id="20" name="Text 14"/>
          <p:cNvSpPr txBox="1"/>
          <p:nvPr/>
        </p:nvSpPr>
        <p:spPr>
          <a:xfrm>
            <a:off x="475488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Ciò che riceve durante l'interazione</a:t>
            </a:r>
            <a:endParaRPr lang="en-US" sz="1200" dirty="0"/>
          </a:p>
        </p:txBody>
      </p:sp>
      <p:sp>
        <p:nvSpPr>
          <p:cNvPr id="21" name="Text 15"/>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2.5  2.6</a:t>
            </a:r>
            <a:endParaRPr lang="en-US" sz="1200" dirty="0"/>
          </a:p>
        </p:txBody>
      </p:sp>
      <p:sp>
        <p:nvSpPr>
          <p:cNvPr id="22" name="Modalità d'uso"/>
          <p:cNvSpPr/>
          <p:nvPr/>
        </p:nvSpPr>
        <p:spPr>
          <a:xfrm>
            <a:off x="6766560" y="1051560"/>
            <a:ext cx="1920240" cy="1965960"/>
          </a:xfrm>
          <a:prstGeom prst="roundRect">
            <a:avLst>
              <a:gd name="adj" fmla="val 3810"/>
            </a:avLst>
          </a:prstGeom>
          <a:solidFill>
            <a:schemeClr val="accent1"/>
          </a:solidFill>
          <a:ln/>
        </p:spPr>
      </p:sp>
      <p:sp>
        <p:nvSpPr>
          <p:cNvPr id="23" name="cerchio FiSliders"/>
          <p:cNvSpPr/>
          <p:nvPr/>
        </p:nvSpPr>
        <p:spPr>
          <a:xfrm>
            <a:off x="7406640" y="1161288"/>
            <a:ext cx="640080" cy="640080"/>
          </a:xfrm>
          <a:prstGeom prst="ellipse">
            <a:avLst/>
          </a:prstGeom>
          <a:solidFill>
            <a:schemeClr val="bg1"/>
          </a:solidFill>
          <a:ln/>
        </p:spPr>
      </p:sp>
      <p:pic>
        <p:nvPicPr>
          <p:cNvPr id="24" name="Image 3" descr="FiSliders">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74520"/>
            <a:ext cx="1737360" cy="347472"/>
          </a:xfrm>
          <a:prstGeom prst="rect">
            <a:avLst/>
          </a:prstGeom>
          <a:noFill/>
          <a:ln/>
        </p:spPr>
        <p:txBody>
          <a:bodyPr wrap="square" lIns="0" tIns="0" rIns="0" bIns="0" rtlCol="0" anchor="t"/>
          <a:lstStyle/>
          <a:p>
            <a:pPr algn="ctr" indent="0" marL="0">
              <a:buNone/>
            </a:pPr>
            <a:r>
              <a:rPr lang="en-US" sz="1500" b="1" dirty="0">
                <a:solidFill>
                  <a:schemeClr val="bg1"/>
                </a:solidFill>
              </a:rPr>
              <a:t>Modalità d'uso</a:t>
            </a:r>
            <a:endParaRPr lang="en-US" sz="1500" dirty="0"/>
          </a:p>
        </p:txBody>
      </p:sp>
      <p:sp>
        <p:nvSpPr>
          <p:cNvPr id="26" name="Text 19"/>
          <p:cNvSpPr txBox="1"/>
          <p:nvPr/>
        </p:nvSpPr>
        <p:spPr>
          <a:xfrm>
            <a:off x="6858000" y="2221992"/>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Applicazione, strumenti, uso</a:t>
            </a:r>
            <a:endParaRPr lang="en-US" sz="1200" dirty="0"/>
          </a:p>
        </p:txBody>
      </p:sp>
      <p:sp>
        <p:nvSpPr>
          <p:cNvPr id="27" name="Text 20"/>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2.5  2.7</a:t>
            </a:r>
            <a:endParaRPr lang="en-US" sz="1200" dirty="0"/>
          </a:p>
        </p:txBody>
      </p:sp>
      <p:sp>
        <p:nvSpPr>
          <p:cNvPr id="28" name="Text 21"/>
          <p:cNvSpPr txBox="1"/>
          <p:nvPr/>
        </p:nvSpPr>
        <p:spPr>
          <a:xfrm>
            <a:off x="457200" y="31546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distinzioni che tornano in tutto il modulo</a:t>
            </a:r>
            <a:endParaRPr lang="en-US" sz="1300" dirty="0"/>
          </a:p>
        </p:txBody>
      </p:sp>
      <p:sp>
        <p:nvSpPr>
          <p:cNvPr id="29" name="blocco Addestramento e inferenza"/>
          <p:cNvSpPr/>
          <p:nvPr/>
        </p:nvSpPr>
        <p:spPr>
          <a:xfrm>
            <a:off x="457200" y="3520440"/>
            <a:ext cx="2615184" cy="868680"/>
          </a:xfrm>
          <a:prstGeom prst="roundRect">
            <a:avLst>
              <a:gd name="adj" fmla="val 12632"/>
            </a:avLst>
          </a:prstGeom>
          <a:solidFill>
            <a:schemeClr val="accent6"/>
          </a:solidFill>
          <a:ln/>
        </p:spPr>
      </p:sp>
      <p:sp>
        <p:nvSpPr>
          <p:cNvPr id="30" name="Text 23"/>
          <p:cNvSpPr txBox="1"/>
          <p:nvPr/>
        </p:nvSpPr>
        <p:spPr>
          <a:xfrm>
            <a:off x="502920"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Addestramento e inferenza</a:t>
            </a:r>
            <a:endParaRPr lang="en-US" sz="1400" dirty="0"/>
          </a:p>
        </p:txBody>
      </p:sp>
      <p:sp>
        <p:nvSpPr>
          <p:cNvPr id="31" name="blocco Modello e applicazione"/>
          <p:cNvSpPr/>
          <p:nvPr/>
        </p:nvSpPr>
        <p:spPr>
          <a:xfrm>
            <a:off x="3264408" y="3520440"/>
            <a:ext cx="2615184" cy="868680"/>
          </a:xfrm>
          <a:prstGeom prst="roundRect">
            <a:avLst>
              <a:gd name="adj" fmla="val 12632"/>
            </a:avLst>
          </a:prstGeom>
          <a:solidFill>
            <a:schemeClr val="accent6"/>
          </a:solidFill>
          <a:ln/>
        </p:spPr>
      </p:sp>
      <p:sp>
        <p:nvSpPr>
          <p:cNvPr id="32" name="Text 25"/>
          <p:cNvSpPr txBox="1"/>
          <p:nvPr/>
        </p:nvSpPr>
        <p:spPr>
          <a:xfrm>
            <a:off x="3310128"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Modello e applicazione</a:t>
            </a:r>
            <a:endParaRPr lang="en-US" sz="1400" dirty="0"/>
          </a:p>
        </p:txBody>
      </p:sp>
      <p:sp>
        <p:nvSpPr>
          <p:cNvPr id="33" name="blocco Variabilità e correttezza"/>
          <p:cNvSpPr/>
          <p:nvPr/>
        </p:nvSpPr>
        <p:spPr>
          <a:xfrm>
            <a:off x="6071616" y="3520440"/>
            <a:ext cx="2615184" cy="868680"/>
          </a:xfrm>
          <a:prstGeom prst="roundRect">
            <a:avLst>
              <a:gd name="adj" fmla="val 12632"/>
            </a:avLst>
          </a:prstGeom>
          <a:solidFill>
            <a:schemeClr val="accent6"/>
          </a:solidFill>
          <a:ln/>
        </p:spPr>
      </p:sp>
      <p:sp>
        <p:nvSpPr>
          <p:cNvPr id="34" name="Text 27"/>
          <p:cNvSpPr txBox="1"/>
          <p:nvPr/>
        </p:nvSpPr>
        <p:spPr>
          <a:xfrm>
            <a:off x="6117336"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Variabilità e correttezza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2.1"/>
          <p:cNvSpPr/>
          <p:nvPr/>
        </p:nvSpPr>
        <p:spPr>
          <a:xfrm>
            <a:off x="457200" y="1051560"/>
            <a:ext cx="4754880" cy="384048"/>
          </a:xfrm>
          <a:prstGeom prst="roundRect">
            <a:avLst>
              <a:gd name="adj" fmla="val 19048"/>
            </a:avLst>
          </a:prstGeom>
          <a:solidFill>
            <a:schemeClr val="bg2"/>
          </a:solidFill>
          <a:ln/>
        </p:spPr>
      </p:sp>
      <p:sp>
        <p:nvSpPr>
          <p:cNvPr id="5" name="Text 2"/>
          <p:cNvSpPr txBox="1"/>
          <p:nvPr/>
        </p:nvSpPr>
        <p:spPr>
          <a:xfrm>
            <a:off x="594360" y="1051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2.1</a:t>
            </a:r>
            <a:endParaRPr lang="en-US" sz="1400" dirty="0"/>
          </a:p>
        </p:txBody>
      </p:sp>
      <p:sp>
        <p:nvSpPr>
          <p:cNvPr id="6" name="Text 3"/>
          <p:cNvSpPr txBox="1"/>
          <p:nvPr/>
        </p:nvSpPr>
        <p:spPr>
          <a:xfrm>
            <a:off x="1188720" y="1051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cos'è l'Intelligenza Artificiale</a:t>
            </a:r>
            <a:endParaRPr lang="en-US" sz="1400" dirty="0"/>
          </a:p>
        </p:txBody>
      </p:sp>
      <p:sp>
        <p:nvSpPr>
          <p:cNvPr id="7" name="riga 2.2"/>
          <p:cNvSpPr/>
          <p:nvPr/>
        </p:nvSpPr>
        <p:spPr>
          <a:xfrm>
            <a:off x="457200" y="1508760"/>
            <a:ext cx="4754880" cy="384048"/>
          </a:xfrm>
          <a:prstGeom prst="roundRect">
            <a:avLst>
              <a:gd name="adj" fmla="val 19048"/>
            </a:avLst>
          </a:prstGeom>
          <a:solidFill>
            <a:schemeClr val="bg1"/>
          </a:solidFill>
          <a:ln/>
        </p:spPr>
      </p:sp>
      <p:sp>
        <p:nvSpPr>
          <p:cNvPr id="8" name="Text 5"/>
          <p:cNvSpPr txBox="1"/>
          <p:nvPr/>
        </p:nvSpPr>
        <p:spPr>
          <a:xfrm>
            <a:off x="594360" y="1508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2.2</a:t>
            </a:r>
            <a:endParaRPr lang="en-US" sz="1400" dirty="0"/>
          </a:p>
        </p:txBody>
      </p:sp>
      <p:sp>
        <p:nvSpPr>
          <p:cNvPr id="9" name="Text 6"/>
          <p:cNvSpPr txBox="1"/>
          <p:nvPr/>
        </p:nvSpPr>
        <p:spPr>
          <a:xfrm>
            <a:off x="1188720" y="1508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Le principali categorie di AI</a:t>
            </a:r>
            <a:endParaRPr lang="en-US" sz="1400" dirty="0"/>
          </a:p>
        </p:txBody>
      </p:sp>
      <p:sp>
        <p:nvSpPr>
          <p:cNvPr id="10" name="riga 2.3"/>
          <p:cNvSpPr/>
          <p:nvPr/>
        </p:nvSpPr>
        <p:spPr>
          <a:xfrm>
            <a:off x="457200" y="1965960"/>
            <a:ext cx="4754880" cy="384048"/>
          </a:xfrm>
          <a:prstGeom prst="roundRect">
            <a:avLst>
              <a:gd name="adj" fmla="val 19048"/>
            </a:avLst>
          </a:prstGeom>
          <a:solidFill>
            <a:schemeClr val="bg2"/>
          </a:solidFill>
          <a:ln/>
        </p:spPr>
      </p:sp>
      <p:sp>
        <p:nvSpPr>
          <p:cNvPr id="11" name="Text 8"/>
          <p:cNvSpPr txBox="1"/>
          <p:nvPr/>
        </p:nvSpPr>
        <p:spPr>
          <a:xfrm>
            <a:off x="594360" y="19659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2.3</a:t>
            </a:r>
            <a:endParaRPr lang="en-US" sz="1400" dirty="0"/>
          </a:p>
        </p:txBody>
      </p:sp>
      <p:sp>
        <p:nvSpPr>
          <p:cNvPr id="12" name="Text 9"/>
          <p:cNvSpPr txBox="1"/>
          <p:nvPr/>
        </p:nvSpPr>
        <p:spPr>
          <a:xfrm>
            <a:off x="1188720" y="19659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un sistema AI apprende dai dati</a:t>
            </a:r>
            <a:endParaRPr lang="en-US" sz="1400" dirty="0"/>
          </a:p>
        </p:txBody>
      </p:sp>
      <p:sp>
        <p:nvSpPr>
          <p:cNvPr id="13" name="riga 2.4"/>
          <p:cNvSpPr/>
          <p:nvPr/>
        </p:nvSpPr>
        <p:spPr>
          <a:xfrm>
            <a:off x="457200" y="2423160"/>
            <a:ext cx="4754880" cy="384048"/>
          </a:xfrm>
          <a:prstGeom prst="roundRect">
            <a:avLst>
              <a:gd name="adj" fmla="val 19048"/>
            </a:avLst>
          </a:prstGeom>
          <a:solidFill>
            <a:schemeClr val="bg1"/>
          </a:solidFill>
          <a:ln/>
        </p:spPr>
      </p:sp>
      <p:sp>
        <p:nvSpPr>
          <p:cNvPr id="14" name="Text 11"/>
          <p:cNvSpPr txBox="1"/>
          <p:nvPr/>
        </p:nvSpPr>
        <p:spPr>
          <a:xfrm>
            <a:off x="594360" y="24231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2.4</a:t>
            </a:r>
            <a:endParaRPr lang="en-US" sz="1400" dirty="0"/>
          </a:p>
        </p:txBody>
      </p:sp>
      <p:sp>
        <p:nvSpPr>
          <p:cNvPr id="15" name="Text 12"/>
          <p:cNvSpPr txBox="1"/>
          <p:nvPr/>
        </p:nvSpPr>
        <p:spPr>
          <a:xfrm>
            <a:off x="1188720" y="24231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cosa sono i Large Language Models</a:t>
            </a:r>
            <a:endParaRPr lang="en-US" sz="1400" dirty="0"/>
          </a:p>
        </p:txBody>
      </p:sp>
      <p:sp>
        <p:nvSpPr>
          <p:cNvPr id="16" name="riga 2.5"/>
          <p:cNvSpPr/>
          <p:nvPr/>
        </p:nvSpPr>
        <p:spPr>
          <a:xfrm>
            <a:off x="457200" y="2880360"/>
            <a:ext cx="4754880" cy="384048"/>
          </a:xfrm>
          <a:prstGeom prst="roundRect">
            <a:avLst>
              <a:gd name="adj" fmla="val 19048"/>
            </a:avLst>
          </a:prstGeom>
          <a:solidFill>
            <a:schemeClr val="bg2"/>
          </a:solidFill>
          <a:ln/>
        </p:spPr>
      </p:sp>
      <p:sp>
        <p:nvSpPr>
          <p:cNvPr id="17" name="Text 14"/>
          <p:cNvSpPr txBox="1"/>
          <p:nvPr/>
        </p:nvSpPr>
        <p:spPr>
          <a:xfrm>
            <a:off x="594360" y="28803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2.5</a:t>
            </a:r>
            <a:endParaRPr lang="en-US" sz="1400" dirty="0"/>
          </a:p>
        </p:txBody>
      </p:sp>
      <p:sp>
        <p:nvSpPr>
          <p:cNvPr id="18" name="Text 15"/>
          <p:cNvSpPr txBox="1"/>
          <p:nvPr/>
        </p:nvSpPr>
        <p:spPr>
          <a:xfrm>
            <a:off x="1188720" y="28803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funziona un'interazione con l'AI</a:t>
            </a:r>
            <a:endParaRPr lang="en-US" sz="1400" dirty="0"/>
          </a:p>
        </p:txBody>
      </p:sp>
      <p:sp>
        <p:nvSpPr>
          <p:cNvPr id="19" name="riga 2.6"/>
          <p:cNvSpPr/>
          <p:nvPr/>
        </p:nvSpPr>
        <p:spPr>
          <a:xfrm>
            <a:off x="457200" y="3337560"/>
            <a:ext cx="4754880" cy="384048"/>
          </a:xfrm>
          <a:prstGeom prst="roundRect">
            <a:avLst>
              <a:gd name="adj" fmla="val 19048"/>
            </a:avLst>
          </a:prstGeom>
          <a:solidFill>
            <a:schemeClr val="bg1"/>
          </a:solidFill>
          <a:ln/>
        </p:spPr>
      </p:sp>
      <p:sp>
        <p:nvSpPr>
          <p:cNvPr id="20" name="Text 17"/>
          <p:cNvSpPr txBox="1"/>
          <p:nvPr/>
        </p:nvSpPr>
        <p:spPr>
          <a:xfrm>
            <a:off x="594360" y="3337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2.6</a:t>
            </a:r>
            <a:endParaRPr lang="en-US" sz="1400" dirty="0"/>
          </a:p>
        </p:txBody>
      </p:sp>
      <p:sp>
        <p:nvSpPr>
          <p:cNvPr id="21" name="Text 18"/>
          <p:cNvSpPr txBox="1"/>
          <p:nvPr/>
        </p:nvSpPr>
        <p:spPr>
          <a:xfrm>
            <a:off x="1188720" y="3337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Conoscenza e fonti informative</a:t>
            </a:r>
            <a:endParaRPr lang="en-US" sz="1400" dirty="0"/>
          </a:p>
        </p:txBody>
      </p:sp>
      <p:sp>
        <p:nvSpPr>
          <p:cNvPr id="22" name="riga 2.7"/>
          <p:cNvSpPr/>
          <p:nvPr/>
        </p:nvSpPr>
        <p:spPr>
          <a:xfrm>
            <a:off x="457200" y="3794760"/>
            <a:ext cx="4754880" cy="384048"/>
          </a:xfrm>
          <a:prstGeom prst="roundRect">
            <a:avLst>
              <a:gd name="adj" fmla="val 19048"/>
            </a:avLst>
          </a:prstGeom>
          <a:solidFill>
            <a:schemeClr val="bg2"/>
          </a:solidFill>
          <a:ln/>
        </p:spPr>
      </p:sp>
      <p:sp>
        <p:nvSpPr>
          <p:cNvPr id="23" name="Text 20"/>
          <p:cNvSpPr txBox="1"/>
          <p:nvPr/>
        </p:nvSpPr>
        <p:spPr>
          <a:xfrm>
            <a:off x="594360" y="3794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2.7</a:t>
            </a:r>
            <a:endParaRPr lang="en-US" sz="1400" dirty="0"/>
          </a:p>
        </p:txBody>
      </p:sp>
      <p:sp>
        <p:nvSpPr>
          <p:cNvPr id="24" name="Text 21"/>
          <p:cNvSpPr txBox="1"/>
          <p:nvPr/>
        </p:nvSpPr>
        <p:spPr>
          <a:xfrm>
            <a:off x="1188720" y="3794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Variabilità dei risultati</a:t>
            </a:r>
            <a:endParaRPr lang="en-US" sz="1400" dirty="0"/>
          </a:p>
        </p:txBody>
      </p:sp>
      <p:sp>
        <p:nvSpPr>
          <p:cNvPr id="25" name="livello Comprendere bene"/>
          <p:cNvSpPr/>
          <p:nvPr/>
        </p:nvSpPr>
        <p:spPr>
          <a:xfrm>
            <a:off x="5486400" y="1051560"/>
            <a:ext cx="3200400" cy="960120"/>
          </a:xfrm>
          <a:prstGeom prst="roundRect">
            <a:avLst>
              <a:gd name="adj" fmla="val 7619"/>
            </a:avLst>
          </a:prstGeom>
          <a:solidFill>
            <a:schemeClr val="accent1"/>
          </a:solidFill>
          <a:ln/>
        </p:spPr>
      </p:sp>
      <p:sp>
        <p:nvSpPr>
          <p:cNvPr id="26" name="Text 23"/>
          <p:cNvSpPr txBox="1"/>
          <p:nvPr/>
        </p:nvSpPr>
        <p:spPr>
          <a:xfrm>
            <a:off x="5623560" y="1143000"/>
            <a:ext cx="2926080" cy="274320"/>
          </a:xfrm>
          <a:prstGeom prst="rect">
            <a:avLst/>
          </a:prstGeom>
          <a:noFill/>
          <a:ln/>
        </p:spPr>
        <p:txBody>
          <a:bodyPr wrap="square" lIns="0" tIns="0" rIns="0" bIns="0" rtlCol="0" anchor="t"/>
          <a:lstStyle/>
          <a:p>
            <a:pPr indent="0" marL="0">
              <a:buNone/>
            </a:pPr>
            <a:r>
              <a:rPr lang="en-US" sz="1400" b="1" dirty="0">
                <a:solidFill>
                  <a:schemeClr val="bg1"/>
                </a:solidFill>
              </a:rPr>
              <a:t>Comprendere bene</a:t>
            </a:r>
            <a:endParaRPr lang="en-US" sz="1400" dirty="0"/>
          </a:p>
        </p:txBody>
      </p:sp>
      <p:sp>
        <p:nvSpPr>
          <p:cNvPr id="27" name="Text 24"/>
          <p:cNvSpPr txBox="1"/>
          <p:nvPr/>
        </p:nvSpPr>
        <p:spPr>
          <a:xfrm>
            <a:off x="5623560" y="1435608"/>
            <a:ext cx="2926080" cy="548640"/>
          </a:xfrm>
          <a:prstGeom prst="rect">
            <a:avLst/>
          </a:prstGeom>
          <a:noFill/>
          <a:ln/>
        </p:spPr>
        <p:txBody>
          <a:bodyPr wrap="square" lIns="0" tIns="0" rIns="0" bIns="0" rtlCol="0" anchor="t"/>
          <a:lstStyle/>
          <a:p>
            <a:pPr indent="0" marL="0">
              <a:buNone/>
            </a:pPr>
            <a:r>
              <a:rPr lang="en-US" sz="1100" dirty="0">
                <a:solidFill>
                  <a:schemeClr val="bg1"/>
                </a:solidFill>
              </a:rPr>
              <a:t>AI e software tradizionale, addestramento e inferenza, LLM, contesto, fonti, variabilità</a:t>
            </a:r>
            <a:endParaRPr lang="en-US" sz="1100" dirty="0"/>
          </a:p>
        </p:txBody>
      </p:sp>
      <p:sp>
        <p:nvSpPr>
          <p:cNvPr id="28" name="livello Conoscere"/>
          <p:cNvSpPr/>
          <p:nvPr/>
        </p:nvSpPr>
        <p:spPr>
          <a:xfrm>
            <a:off x="5486400" y="2148840"/>
            <a:ext cx="3200400" cy="960120"/>
          </a:xfrm>
          <a:prstGeom prst="roundRect">
            <a:avLst>
              <a:gd name="adj" fmla="val 7619"/>
            </a:avLst>
          </a:prstGeom>
          <a:solidFill>
            <a:schemeClr val="accent6"/>
          </a:solidFill>
          <a:ln/>
        </p:spPr>
      </p:sp>
      <p:sp>
        <p:nvSpPr>
          <p:cNvPr id="29" name="Text 26"/>
          <p:cNvSpPr txBox="1"/>
          <p:nvPr/>
        </p:nvSpPr>
        <p:spPr>
          <a:xfrm>
            <a:off x="5623560" y="2240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Conoscere</a:t>
            </a:r>
            <a:endParaRPr lang="en-US" sz="1400" dirty="0"/>
          </a:p>
        </p:txBody>
      </p:sp>
      <p:sp>
        <p:nvSpPr>
          <p:cNvPr id="30" name="Text 27"/>
          <p:cNvSpPr txBox="1"/>
          <p:nvPr/>
        </p:nvSpPr>
        <p:spPr>
          <a:xfrm>
            <a:off x="5623560" y="2532888"/>
            <a:ext cx="2926080" cy="548640"/>
          </a:xfrm>
          <a:prstGeom prst="rect">
            <a:avLst/>
          </a:prstGeom>
          <a:noFill/>
          <a:ln/>
        </p:spPr>
        <p:txBody>
          <a:bodyPr wrap="square" lIns="0" tIns="0" rIns="0" bIns="0" rtlCol="0" anchor="t"/>
          <a:lstStyle/>
          <a:p>
            <a:pPr indent="0" marL="0">
              <a:buNone/>
            </a:pPr>
            <a:r>
              <a:rPr lang="en-US" sz="1100" dirty="0">
                <a:solidFill>
                  <a:schemeClr val="tx1"/>
                </a:solidFill>
              </a:rPr>
              <a:t>ML, Deep Learning, token, Transformer, parametri, fine-tuning, grounding, RAG</a:t>
            </a:r>
            <a:endParaRPr lang="en-US" sz="1100" dirty="0"/>
          </a:p>
        </p:txBody>
      </p:sp>
      <p:sp>
        <p:nvSpPr>
          <p:cNvPr id="31" name="livello Solo accennare"/>
          <p:cNvSpPr/>
          <p:nvPr/>
        </p:nvSpPr>
        <p:spPr>
          <a:xfrm>
            <a:off x="5486400" y="3246120"/>
            <a:ext cx="3200400" cy="960120"/>
          </a:xfrm>
          <a:prstGeom prst="roundRect">
            <a:avLst>
              <a:gd name="adj" fmla="val 7619"/>
            </a:avLst>
          </a:prstGeom>
          <a:solidFill>
            <a:schemeClr val="bg2"/>
          </a:solidFill>
          <a:ln/>
        </p:spPr>
      </p:sp>
      <p:sp>
        <p:nvSpPr>
          <p:cNvPr id="32" name="Text 29"/>
          <p:cNvSpPr txBox="1"/>
          <p:nvPr/>
        </p:nvSpPr>
        <p:spPr>
          <a:xfrm>
            <a:off x="5623560" y="3337560"/>
            <a:ext cx="2926080" cy="274320"/>
          </a:xfrm>
          <a:prstGeom prst="rect">
            <a:avLst/>
          </a:prstGeom>
          <a:noFill/>
          <a:ln/>
        </p:spPr>
        <p:txBody>
          <a:bodyPr wrap="square" lIns="0" tIns="0" rIns="0" bIns="0" rtlCol="0" anchor="t"/>
          <a:lstStyle/>
          <a:p>
            <a:pPr indent="0" marL="0">
              <a:buNone/>
            </a:pPr>
            <a:r>
              <a:rPr lang="en-US" sz="1400" b="1" dirty="0">
                <a:solidFill>
                  <a:schemeClr val="tx1"/>
                </a:solidFill>
              </a:rPr>
              <a:t>Solo accennare</a:t>
            </a:r>
            <a:endParaRPr lang="en-US" sz="1400" dirty="0"/>
          </a:p>
        </p:txBody>
      </p:sp>
      <p:sp>
        <p:nvSpPr>
          <p:cNvPr id="33" name="Text 30"/>
          <p:cNvSpPr txBox="1"/>
          <p:nvPr/>
        </p:nvSpPr>
        <p:spPr>
          <a:xfrm>
            <a:off x="5623560" y="3630168"/>
            <a:ext cx="2926080" cy="548640"/>
          </a:xfrm>
          <a:prstGeom prst="rect">
            <a:avLst/>
          </a:prstGeom>
          <a:noFill/>
          <a:ln/>
        </p:spPr>
        <p:txBody>
          <a:bodyPr wrap="square" lIns="0" tIns="0" rIns="0" bIns="0" rtlCol="0" anchor="t"/>
          <a:lstStyle/>
          <a:p>
            <a:pPr indent="0" marL="0">
              <a:buNone/>
            </a:pPr>
            <a:r>
              <a:rPr lang="en-US" sz="1100" dirty="0">
                <a:solidFill>
                  <a:schemeClr val="tx1"/>
                </a:solidFill>
              </a:rPr>
              <a:t>Matematica delle reti, ottimizzazione, dettagli delle architetture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cos'è 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prestazioni osservabili non autorizzano automaticamente ad attribuire all'AI caratteristiche umane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definizione operativa</a:t>
            </a:r>
            <a:endParaRPr lang="en-US" sz="2600" dirty="0"/>
          </a:p>
        </p:txBody>
      </p:sp>
      <p:sp>
        <p:nvSpPr>
          <p:cNvPr id="4" name="definizione"/>
          <p:cNvSpPr/>
          <p:nvPr/>
        </p:nvSpPr>
        <p:spPr>
          <a:xfrm>
            <a:off x="457200" y="1097280"/>
            <a:ext cx="4206240" cy="3429000"/>
          </a:xfrm>
          <a:prstGeom prst="roundRect">
            <a:avLst>
              <a:gd name="adj" fmla="val 2133"/>
            </a:avLst>
          </a:prstGeom>
          <a:solidFill>
            <a:schemeClr val="tx1"/>
          </a:solidFill>
          <a:ln/>
        </p:spPr>
      </p:sp>
      <p:sp>
        <p:nvSpPr>
          <p:cNvPr id="5" name="Text 2"/>
          <p:cNvSpPr txBox="1"/>
          <p:nvPr/>
        </p:nvSpPr>
        <p:spPr>
          <a:xfrm>
            <a:off x="685800" y="1261872"/>
            <a:ext cx="3749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 DEFINIZIONE DELL'AI ACT, IN SINTESI</a:t>
            </a:r>
            <a:endParaRPr lang="en-US" sz="110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indent="0" marL="0">
              <a:buNone/>
            </a:pPr>
            <a:r>
              <a:rPr lang="en-US" sz="150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en-US" sz="150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indent="0" marL="0">
              <a:buNone/>
            </a:pPr>
            <a:r>
              <a:rPr lang="en-US" sz="1000" dirty="0">
                <a:solidFill>
                  <a:schemeClr val="accent3"/>
                </a:solidFill>
              </a:rPr>
              <a:t>Fonte: Regolamento UE 2024/1689, art. 3</a:t>
            </a:r>
            <a:endParaRPr lang="en-US" sz="1000" dirty="0"/>
          </a:p>
        </p:txBody>
      </p:sp>
      <p:sp>
        <p:nvSpPr>
          <p:cNvPr id="8" name="cerchio FiInbox"/>
          <p:cNvSpPr/>
          <p:nvPr/>
        </p:nvSpPr>
        <p:spPr>
          <a:xfrm>
            <a:off x="4937760" y="1097280"/>
            <a:ext cx="457200" cy="457200"/>
          </a:xfrm>
          <a:prstGeom prst="ellipse">
            <a:avLst/>
          </a:prstGeom>
          <a:solidFill>
            <a:schemeClr val="accent1"/>
          </a:solidFill>
          <a:ln/>
        </p:spPr>
      </p:sp>
      <p:pic>
        <p:nvPicPr>
          <p:cNvPr id="9" name="Image 0" descr="FiInbox">    </p:cNvPr>
          <p:cNvPicPr>
            <a:picLocks noChangeAspect="1"/>
          </p:cNvPicPr>
          <p:nvPr/>
        </p:nvPicPr>
        <p:blipFill>
          <a:blip r:embed="rId1"/>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indent="0" marL="0">
              <a:buNone/>
            </a:pPr>
            <a:r>
              <a:rPr lang="en-US" sz="1400" b="1" dirty="0">
                <a:solidFill>
                  <a:schemeClr val="tx1"/>
                </a:solidFill>
              </a:rPr>
              <a:t>Riceve input</a:t>
            </a:r>
            <a:endParaRPr lang="en-US" sz="140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indent="0" marL="0">
              <a:buNone/>
            </a:pPr>
            <a:r>
              <a:rPr lang="en-US" sz="1200" dirty="0">
                <a:solidFill>
                  <a:schemeClr val="tx2"/>
                </a:solidFill>
              </a:rPr>
              <a:t>Dati, testi, immagini, segnali</a:t>
            </a:r>
            <a:endParaRPr lang="en-US" sz="1200" dirty="0"/>
          </a:p>
        </p:txBody>
      </p:sp>
      <p:sp>
        <p:nvSpPr>
          <p:cNvPr id="12" name="cerchio FiCpu"/>
          <p:cNvSpPr/>
          <p:nvPr/>
        </p:nvSpPr>
        <p:spPr>
          <a:xfrm>
            <a:off x="4937760" y="1965960"/>
            <a:ext cx="457200" cy="457200"/>
          </a:xfrm>
          <a:prstGeom prst="ellipse">
            <a:avLst/>
          </a:prstGeom>
          <a:solidFill>
            <a:schemeClr val="accent1"/>
          </a:solidFill>
          <a:ln/>
        </p:spPr>
      </p:sp>
      <p:pic>
        <p:nvPicPr>
          <p:cNvPr id="13" name="Image 1" descr="FiCpu">    </p:cNvPr>
          <p:cNvPicPr>
            <a:picLocks noChangeAspect="1"/>
          </p:cNvPicPr>
          <p:nvPr/>
        </p:nvPicPr>
        <p:blipFill>
          <a:blip r:embed="rId2"/>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indent="0" marL="0">
              <a:buNone/>
            </a:pPr>
            <a:r>
              <a:rPr lang="en-US" sz="1400" b="1" dirty="0">
                <a:solidFill>
                  <a:schemeClr val="tx1"/>
                </a:solidFill>
              </a:rPr>
              <a:t>Deduce come rispondere</a:t>
            </a:r>
            <a:endParaRPr lang="en-US" sz="140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indent="0" marL="0">
              <a:buNone/>
            </a:pPr>
            <a:r>
              <a:rPr lang="en-US" sz="1200" dirty="0">
                <a:solidFill>
                  <a:schemeClr val="tx2"/>
                </a:solidFill>
              </a:rPr>
              <a:t>Non esegue solo istruzioni scritte riga per riga</a:t>
            </a:r>
            <a:endParaRPr lang="en-US" sz="1200" dirty="0"/>
          </a:p>
        </p:txBody>
      </p:sp>
      <p:sp>
        <p:nvSpPr>
          <p:cNvPr id="16" name="cerchio FiSend"/>
          <p:cNvSpPr/>
          <p:nvPr/>
        </p:nvSpPr>
        <p:spPr>
          <a:xfrm>
            <a:off x="4937760" y="2834640"/>
            <a:ext cx="457200" cy="457200"/>
          </a:xfrm>
          <a:prstGeom prst="ellipse">
            <a:avLst/>
          </a:prstGeom>
          <a:solidFill>
            <a:schemeClr val="accent1"/>
          </a:solidFill>
          <a:ln/>
        </p:spPr>
      </p:sp>
      <p:pic>
        <p:nvPicPr>
          <p:cNvPr id="17" name="Image 2" descr="FiSend">    </p:cNvPr>
          <p:cNvPicPr>
            <a:picLocks noChangeAspect="1"/>
          </p:cNvPicPr>
          <p:nvPr/>
        </p:nvPicPr>
        <p:blipFill>
          <a:blip r:embed="rId3"/>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indent="0" marL="0">
              <a:buNone/>
            </a:pPr>
            <a:r>
              <a:rPr lang="en-US" sz="1400" b="1" dirty="0">
                <a:solidFill>
                  <a:schemeClr val="tx1"/>
                </a:solidFill>
              </a:rPr>
              <a:t>Produce output</a:t>
            </a:r>
            <a:endParaRPr lang="en-US" sz="140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indent="0" marL="0">
              <a:buNone/>
            </a:pPr>
            <a:r>
              <a:rPr lang="en-US" sz="1200" dirty="0">
                <a:solidFill>
                  <a:schemeClr val="tx2"/>
                </a:solidFill>
              </a:rPr>
              <a:t>Previsioni, contenuti, raccomandazioni, decisioni</a:t>
            </a:r>
            <a:endParaRPr lang="en-US" sz="1200" dirty="0"/>
          </a:p>
        </p:txBody>
      </p:sp>
      <p:sp>
        <p:nvSpPr>
          <p:cNvPr id="20" name="cerchio FiSliders"/>
          <p:cNvSpPr/>
          <p:nvPr/>
        </p:nvSpPr>
        <p:spPr>
          <a:xfrm>
            <a:off x="4937760" y="3703320"/>
            <a:ext cx="457200" cy="457200"/>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indent="0" marL="0">
              <a:buNone/>
            </a:pPr>
            <a:r>
              <a:rPr lang="en-US" sz="1400" b="1" dirty="0">
                <a:solidFill>
                  <a:schemeClr val="tx1"/>
                </a:solidFill>
              </a:rPr>
              <a:t>Autonomia variabile</a:t>
            </a:r>
            <a:endParaRPr lang="en-US" sz="140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indent="0" marL="0">
              <a:buNone/>
            </a:pPr>
            <a:r>
              <a:rPr lang="en-US" sz="1200" dirty="0">
                <a:solidFill>
                  <a:schemeClr val="tx2"/>
                </a:solidFill>
              </a:rPr>
              <a:t>Da semplice supporto ad azione autonoma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Intelligenza artificiale e intelligenza umana</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54864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Sistemi 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Intelligenza umana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1"/>
                          </a:solidFill>
                        </a:rPr>
                        <a:t>Apprendimento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 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Anche da pochi casi e dall'esperienza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Ambito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Rappresentazioni dei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Corpo, mondo fisico e sociale, buon senso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Velocità e scala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quantità di informazioni in pochi secondi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Limitate, ma con giudizio sul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Eccellente in un compito, fragile in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Prestazioni più uniformi nel proprio campo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Consapevolezza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Nessuna evidenza scientifica condivisa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Esperienze, scopi propri, responsabilità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Sistemi specializzati e intelligenza artificiale generale</a:t>
            </a:r>
            <a:endParaRPr lang="en-US" sz="2600" dirty="0"/>
          </a:p>
        </p:txBody>
      </p:sp>
      <p:sp>
        <p:nvSpPr>
          <p:cNvPr id="4" name="spettro"/>
          <p:cNvSpPr/>
          <p:nvPr/>
        </p:nvSpPr>
        <p:spPr>
          <a:xfrm>
            <a:off x="731520" y="2423160"/>
            <a:ext cx="7680960" cy="0"/>
          </a:xfrm>
          <a:prstGeom prst="line">
            <a:avLst/>
          </a:prstGeom>
          <a:noFill/>
          <a:ln w="38100">
            <a:solidFill>
              <a:schemeClr val="accent3"/>
            </a:solidFill>
            <a:prstDash val="solid"/>
            <a:tailEnd type="triangle"/>
          </a:ln>
        </p:spPr>
      </p:sp>
      <p:sp>
        <p:nvSpPr>
          <p:cNvPr id="5" name="cerchio FiCrosshair"/>
          <p:cNvSpPr/>
          <p:nvPr/>
        </p:nvSpPr>
        <p:spPr>
          <a:xfrm>
            <a:off x="1481328" y="2011680"/>
            <a:ext cx="822960" cy="822960"/>
          </a:xfrm>
          <a:prstGeom prst="ellipse">
            <a:avLst/>
          </a:prstGeom>
          <a:solidFill>
            <a:schemeClr val="accent1"/>
          </a:solidFill>
          <a:ln/>
        </p:spPr>
      </p:sp>
      <p:pic>
        <p:nvPicPr>
          <p:cNvPr id="6" name="Image 0" descr="FiCrosshair">    </p:cNvPr>
          <p:cNvPicPr>
            <a:picLocks noChangeAspect="1"/>
          </p:cNvPicPr>
          <p:nvPr/>
        </p:nvPicPr>
        <p:blipFill>
          <a:blip r:embed="rId1"/>
          <a:stretch>
            <a:fillRect/>
          </a:stretch>
        </p:blipFill>
        <p:spPr>
          <a:xfrm>
            <a:off x="1687068" y="2217420"/>
            <a:ext cx="411480" cy="411480"/>
          </a:xfrm>
          <a:prstGeom prst="rect">
            <a:avLst/>
          </a:prstGeom>
        </p:spPr>
      </p:pic>
      <p:sp>
        <p:nvSpPr>
          <p:cNvPr id="7" name="AI specializzata"/>
          <p:cNvSpPr/>
          <p:nvPr/>
        </p:nvSpPr>
        <p:spPr>
          <a:xfrm>
            <a:off x="457200" y="3017520"/>
            <a:ext cx="2606040" cy="1508760"/>
          </a:xfrm>
          <a:prstGeom prst="roundRect">
            <a:avLst>
              <a:gd name="adj" fmla="val 4848"/>
            </a:avLst>
          </a:prstGeom>
          <a:solidFill>
            <a:schemeClr val="bg2"/>
          </a:solidFill>
          <a:ln/>
        </p:spPr>
      </p:sp>
      <p:sp>
        <p:nvSpPr>
          <p:cNvPr id="8" name="Text 4"/>
          <p:cNvSpPr txBox="1"/>
          <p:nvPr/>
        </p:nvSpPr>
        <p:spPr>
          <a:xfrm>
            <a:off x="62179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AI specializzata</a:t>
            </a:r>
            <a:endParaRPr lang="en-US" sz="1600" dirty="0"/>
          </a:p>
        </p:txBody>
      </p:sp>
      <p:sp>
        <p:nvSpPr>
          <p:cNvPr id="9" name="Text 5"/>
          <p:cNvSpPr txBox="1"/>
          <p:nvPr/>
        </p:nvSpPr>
        <p:spPr>
          <a:xfrm>
            <a:off x="62179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Un compito preciso</a:t>
            </a:r>
            <a:endParaRPr lang="en-US" sz="1300" dirty="0"/>
          </a:p>
        </p:txBody>
      </p:sp>
      <p:sp>
        <p:nvSpPr>
          <p:cNvPr id="10" name="Text 6"/>
          <p:cNvSpPr txBox="1"/>
          <p:nvPr/>
        </p:nvSpPr>
        <p:spPr>
          <a:xfrm>
            <a:off x="62179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Controllo qualità, previsione della domanda, antispam</a:t>
            </a:r>
            <a:endParaRPr lang="en-US" sz="1200" dirty="0"/>
          </a:p>
        </p:txBody>
      </p:sp>
      <p:sp>
        <p:nvSpPr>
          <p:cNvPr id="11" name="cerchio FiLayers"/>
          <p:cNvSpPr/>
          <p:nvPr/>
        </p:nvSpPr>
        <p:spPr>
          <a:xfrm>
            <a:off x="4315968" y="2011680"/>
            <a:ext cx="822960" cy="82296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4521708" y="2217420"/>
            <a:ext cx="411480" cy="411480"/>
          </a:xfrm>
          <a:prstGeom prst="rect">
            <a:avLst/>
          </a:prstGeom>
        </p:spPr>
      </p:pic>
      <p:sp>
        <p:nvSpPr>
          <p:cNvPr id="13" name="Modelli generalisti"/>
          <p:cNvSpPr/>
          <p:nvPr/>
        </p:nvSpPr>
        <p:spPr>
          <a:xfrm>
            <a:off x="3291840" y="3017520"/>
            <a:ext cx="2606040" cy="1508760"/>
          </a:xfrm>
          <a:prstGeom prst="roundRect">
            <a:avLst>
              <a:gd name="adj" fmla="val 4848"/>
            </a:avLst>
          </a:prstGeom>
          <a:solidFill>
            <a:schemeClr val="accent6"/>
          </a:solidFill>
          <a:ln/>
        </p:spPr>
      </p:sp>
      <p:sp>
        <p:nvSpPr>
          <p:cNvPr id="14" name="Text 9"/>
          <p:cNvSpPr txBox="1"/>
          <p:nvPr/>
        </p:nvSpPr>
        <p:spPr>
          <a:xfrm>
            <a:off x="345643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Modelli generalisti</a:t>
            </a:r>
            <a:endParaRPr lang="en-US" sz="1600" dirty="0"/>
          </a:p>
        </p:txBody>
      </p:sp>
      <p:sp>
        <p:nvSpPr>
          <p:cNvPr id="15" name="Text 10"/>
          <p:cNvSpPr txBox="1"/>
          <p:nvPr/>
        </p:nvSpPr>
        <p:spPr>
          <a:xfrm>
            <a:off x="345643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Molti compiti diversi</a:t>
            </a:r>
            <a:endParaRPr lang="en-US" sz="1300" dirty="0"/>
          </a:p>
        </p:txBody>
      </p:sp>
      <p:sp>
        <p:nvSpPr>
          <p:cNvPr id="16" name="Text 11"/>
          <p:cNvSpPr txBox="1"/>
          <p:nvPr/>
        </p:nvSpPr>
        <p:spPr>
          <a:xfrm>
            <a:off x="345643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Grandi modelli linguistici e multimodali</a:t>
            </a:r>
            <a:endParaRPr lang="en-US" sz="1200" dirty="0"/>
          </a:p>
        </p:txBody>
      </p:sp>
      <p:sp>
        <p:nvSpPr>
          <p:cNvPr id="17" name="cerchio FiHelpCircle"/>
          <p:cNvSpPr/>
          <p:nvPr/>
        </p:nvSpPr>
        <p:spPr>
          <a:xfrm>
            <a:off x="7150608" y="2011680"/>
            <a:ext cx="822960" cy="822960"/>
          </a:xfrm>
          <a:prstGeom prst="ellipse">
            <a:avLst/>
          </a:prstGeom>
          <a:solidFill>
            <a:schemeClr val="accent2"/>
          </a:solidFill>
          <a:ln/>
        </p:spPr>
      </p:sp>
      <p:pic>
        <p:nvPicPr>
          <p:cNvPr id="18" name="Image 2" descr="FiHelpCircle">    </p:cNvPr>
          <p:cNvPicPr>
            <a:picLocks noChangeAspect="1"/>
          </p:cNvPicPr>
          <p:nvPr/>
        </p:nvPicPr>
        <p:blipFill>
          <a:blip r:embed="rId3"/>
          <a:stretch>
            <a:fillRect/>
          </a:stretch>
        </p:blipFill>
        <p:spPr>
          <a:xfrm>
            <a:off x="7356348" y="2217420"/>
            <a:ext cx="411480" cy="411480"/>
          </a:xfrm>
          <a:prstGeom prst="rect">
            <a:avLst/>
          </a:prstGeom>
        </p:spPr>
      </p:pic>
      <p:sp>
        <p:nvSpPr>
          <p:cNvPr id="19" name="AGI"/>
          <p:cNvSpPr/>
          <p:nvPr/>
        </p:nvSpPr>
        <p:spPr>
          <a:xfrm>
            <a:off x="6126480" y="3017520"/>
            <a:ext cx="2606040" cy="1508760"/>
          </a:xfrm>
          <a:prstGeom prst="roundRect">
            <a:avLst>
              <a:gd name="adj" fmla="val 4848"/>
            </a:avLst>
          </a:prstGeom>
          <a:solidFill>
            <a:schemeClr val="tx1"/>
          </a:solidFill>
          <a:ln/>
        </p:spPr>
      </p:sp>
      <p:sp>
        <p:nvSpPr>
          <p:cNvPr id="20" name="Text 14"/>
          <p:cNvSpPr txBox="1"/>
          <p:nvPr/>
        </p:nvSpPr>
        <p:spPr>
          <a:xfrm>
            <a:off x="6291072" y="3127248"/>
            <a:ext cx="2286000" cy="320040"/>
          </a:xfrm>
          <a:prstGeom prst="rect">
            <a:avLst/>
          </a:prstGeom>
          <a:noFill/>
          <a:ln/>
        </p:spPr>
        <p:txBody>
          <a:bodyPr wrap="square" lIns="0" tIns="0" rIns="0" bIns="0" rtlCol="0" anchor="t"/>
          <a:lstStyle/>
          <a:p>
            <a:pPr indent="0" marL="0">
              <a:buNone/>
            </a:pPr>
            <a:r>
              <a:rPr lang="en-US" sz="1600" b="1" dirty="0">
                <a:solidFill>
                  <a:schemeClr val="bg1"/>
                </a:solidFill>
              </a:rPr>
              <a:t>AGI</a:t>
            </a:r>
            <a:endParaRPr lang="en-US" sz="1600" dirty="0"/>
          </a:p>
        </p:txBody>
      </p:sp>
      <p:sp>
        <p:nvSpPr>
          <p:cNvPr id="21" name="Text 15"/>
          <p:cNvSpPr txBox="1"/>
          <p:nvPr/>
        </p:nvSpPr>
        <p:spPr>
          <a:xfrm>
            <a:off x="6291072" y="3474720"/>
            <a:ext cx="2286000" cy="274320"/>
          </a:xfrm>
          <a:prstGeom prst="rect">
            <a:avLst/>
          </a:prstGeom>
          <a:noFill/>
          <a:ln/>
        </p:spPr>
        <p:txBody>
          <a:bodyPr wrap="square" lIns="0" tIns="0" rIns="0" bIns="0" rtlCol="0" anchor="t"/>
          <a:lstStyle/>
          <a:p>
            <a:pPr indent="0" marL="0">
              <a:buNone/>
            </a:pPr>
            <a:r>
              <a:rPr lang="en-US" sz="1300" b="1" dirty="0">
                <a:solidFill>
                  <a:schemeClr val="accent3"/>
                </a:solidFill>
              </a:rPr>
              <a:t>Ipotetica e dibattuta</a:t>
            </a:r>
            <a:endParaRPr lang="en-US" sz="1300" dirty="0"/>
          </a:p>
        </p:txBody>
      </p:sp>
      <p:sp>
        <p:nvSpPr>
          <p:cNvPr id="22" name="Text 16"/>
          <p:cNvSpPr txBox="1"/>
          <p:nvPr/>
        </p:nvSpPr>
        <p:spPr>
          <a:xfrm>
            <a:off x="6291072" y="3794760"/>
            <a:ext cx="2286000" cy="640080"/>
          </a:xfrm>
          <a:prstGeom prst="rect">
            <a:avLst/>
          </a:prstGeom>
          <a:noFill/>
          <a:ln/>
        </p:spPr>
        <p:txBody>
          <a:bodyPr wrap="square" lIns="0" tIns="0" rIns="0" bIns="0" rtlCol="0" anchor="t"/>
          <a:lstStyle/>
          <a:p>
            <a:pPr indent="0" marL="0">
              <a:buNone/>
            </a:pPr>
            <a:r>
              <a:rPr lang="en-US" sz="1200" dirty="0">
                <a:solidFill>
                  <a:schemeClr val="bg1"/>
                </a:solidFill>
              </a:rPr>
              <a:t>La maggior parte dei compiti cognitivi umani</a:t>
            </a:r>
            <a:endParaRPr lang="en-US" sz="1200" dirty="0"/>
          </a:p>
        </p:txBody>
      </p:sp>
      <p:sp>
        <p:nvSpPr>
          <p:cNvPr id="23" name="Text 17"/>
          <p:cNvSpPr txBox="1"/>
          <p:nvPr/>
        </p:nvSpPr>
        <p:spPr>
          <a:xfrm>
            <a:off x="457200" y="1143000"/>
            <a:ext cx="5394960" cy="274320"/>
          </a:xfrm>
          <a:prstGeom prst="rect">
            <a:avLst/>
          </a:prstGeom>
          <a:noFill/>
          <a:ln/>
        </p:spPr>
        <p:txBody>
          <a:bodyPr wrap="square" lIns="0" tIns="0" rIns="0" bIns="0" rtlCol="0" anchor="t"/>
          <a:lstStyle/>
          <a:p>
            <a:pPr algn="ctr" indent="0" marL="0">
              <a:buNone/>
            </a:pPr>
            <a:r>
              <a:rPr lang="en-US" sz="1300" b="1" dirty="0">
                <a:solidFill>
                  <a:schemeClr val="accent1"/>
                </a:solidFill>
              </a:rPr>
              <a:t>Oggi in uso</a:t>
            </a:r>
            <a:endParaRPr lang="en-US" sz="1300" dirty="0"/>
          </a:p>
        </p:txBody>
      </p:sp>
      <p:sp>
        <p:nvSpPr>
          <p:cNvPr id="24" name="Text 18"/>
          <p:cNvSpPr txBox="1"/>
          <p:nvPr/>
        </p:nvSpPr>
        <p:spPr>
          <a:xfrm>
            <a:off x="6126480" y="1143000"/>
            <a:ext cx="2377440" cy="274320"/>
          </a:xfrm>
          <a:prstGeom prst="rect">
            <a:avLst/>
          </a:prstGeom>
          <a:noFill/>
          <a:ln/>
        </p:spPr>
        <p:txBody>
          <a:bodyPr wrap="square" lIns="0" tIns="0" rIns="0" bIns="0" rtlCol="0" anchor="t"/>
          <a:lstStyle/>
          <a:p>
            <a:pPr algn="ctr" indent="0" marL="0">
              <a:buNone/>
            </a:pPr>
            <a:r>
              <a:rPr lang="en-US" sz="1300" b="1" dirty="0">
                <a:solidFill>
                  <a:schemeClr val="accent2"/>
                </a:solidFill>
              </a:rPr>
              <a:t>Oggetto di dibattito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Comprensione apparente: l'effetto ELIZA</a:t>
            </a:r>
            <a:endParaRPr lang="en-US" sz="2600" dirty="0"/>
          </a:p>
        </p:txBody>
      </p:sp>
      <p:sp>
        <p:nvSpPr>
          <p:cNvPr id="4" name="ELIZA"/>
          <p:cNvSpPr/>
          <p:nvPr/>
        </p:nvSpPr>
        <p:spPr>
          <a:xfrm>
            <a:off x="457200" y="1097280"/>
            <a:ext cx="3657600" cy="3429000"/>
          </a:xfrm>
          <a:prstGeom prst="roundRect">
            <a:avLst>
              <a:gd name="adj" fmla="val 2133"/>
            </a:avLst>
          </a:prstGeom>
          <a:solidFill>
            <a:schemeClr val="bg2"/>
          </a:solidFill>
          <a:ln/>
        </p:spPr>
      </p:sp>
      <p:sp>
        <p:nvSpPr>
          <p:cNvPr id="5" name="Text 2"/>
          <p:cNvSpPr txBox="1"/>
          <p:nvPr/>
        </p:nvSpPr>
        <p:spPr>
          <a:xfrm>
            <a:off x="640080" y="1234440"/>
            <a:ext cx="3291840" cy="365760"/>
          </a:xfrm>
          <a:prstGeom prst="rect">
            <a:avLst/>
          </a:prstGeom>
          <a:noFill/>
          <a:ln/>
        </p:spPr>
        <p:txBody>
          <a:bodyPr wrap="square" lIns="0" tIns="0" rIns="0" bIns="0" rtlCol="0" anchor="t"/>
          <a:lstStyle/>
          <a:p>
            <a:pPr indent="0" marL="0">
              <a:buNone/>
            </a:pPr>
            <a:r>
              <a:rPr lang="en-US" sz="1800" b="1" dirty="0">
                <a:solidFill>
                  <a:schemeClr val="accent1"/>
                </a:solidFill>
              </a:rPr>
              <a:t>1966: ELIZA</a:t>
            </a:r>
            <a:endParaRPr lang="en-US" sz="180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indent="0" marL="0">
              <a:buNone/>
            </a:pPr>
            <a:r>
              <a:rPr lang="en-US" sz="1300" dirty="0">
                <a:solidFill>
                  <a:schemeClr val="tx2"/>
                </a:solidFill>
              </a:rPr>
              <a:t>Un programma di poche regole che simulava uno psicoterapeuta</a:t>
            </a:r>
            <a:endParaRPr lang="en-US" sz="130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sp>
      <p:sp>
        <p:nvSpPr>
          <p:cNvPr id="8" name="Text 5"/>
          <p:cNvSpPr txBox="1"/>
          <p:nvPr/>
        </p:nvSpPr>
        <p:spPr>
          <a:xfrm>
            <a:off x="685800" y="2240280"/>
            <a:ext cx="2651760" cy="457200"/>
          </a:xfrm>
          <a:prstGeom prst="rect">
            <a:avLst/>
          </a:prstGeom>
          <a:noFill/>
          <a:ln/>
        </p:spPr>
        <p:txBody>
          <a:bodyPr wrap="square" lIns="0" tIns="0" rIns="0" bIns="0" rtlCol="0" anchor="ctr"/>
          <a:lstStyle/>
          <a:p>
            <a:pPr algn="ctr" indent="0" marL="0">
              <a:buNone/>
            </a:pPr>
            <a:r>
              <a:rPr lang="en-US" sz="1200" dirty="0">
                <a:solidFill>
                  <a:schemeClr val="tx1"/>
                </a:solidFill>
              </a:rPr>
              <a:t>Sono triste per mio padre</a:t>
            </a:r>
            <a:endParaRPr lang="en-US" sz="120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sp>
      <p:sp>
        <p:nvSpPr>
          <p:cNvPr id="10" name="Text 7"/>
          <p:cNvSpPr txBox="1"/>
          <p:nvPr/>
        </p:nvSpPr>
        <p:spPr>
          <a:xfrm>
            <a:off x="1234440" y="2788920"/>
            <a:ext cx="2651760" cy="457200"/>
          </a:xfrm>
          <a:prstGeom prst="rect">
            <a:avLst/>
          </a:prstGeom>
          <a:noFill/>
          <a:ln/>
        </p:spPr>
        <p:txBody>
          <a:bodyPr wrap="square" lIns="0" tIns="0" rIns="0" bIns="0" rtlCol="0" anchor="ctr"/>
          <a:lstStyle/>
          <a:p>
            <a:pPr algn="ctr" indent="0" marL="0">
              <a:buNone/>
            </a:pPr>
            <a:r>
              <a:rPr lang="en-US" sz="1200" dirty="0">
                <a:solidFill>
                  <a:schemeClr val="bg1"/>
                </a:solidFill>
              </a:rPr>
              <a:t>Parlami della tua famiglia</a:t>
            </a:r>
            <a:endParaRPr lang="en-US" sz="120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indent="0" marL="0">
              <a:buNone/>
            </a:pPr>
            <a:r>
              <a:rPr lang="en-US" sz="1300" i="1" dirty="0">
                <a:solidFill>
                  <a:schemeClr val="tx1"/>
                </a:solidFill>
              </a:rPr>
              <a:t>Molti utenti gli attribuivano comprensione ed empatia.</a:t>
            </a:r>
            <a:endParaRPr lang="en-US" sz="130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indent="0" marL="0">
              <a:buNone/>
            </a:pPr>
            <a:r>
              <a:rPr lang="en-US" sz="1000" dirty="0">
                <a:solidFill>
                  <a:schemeClr val="accent2"/>
                </a:solidFill>
              </a:rPr>
              <a:t>Fonte: Weizenbaum, 1966</a:t>
            </a:r>
            <a:endParaRPr lang="en-US" sz="100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600" b="1" dirty="0">
                <a:solidFill>
                  <a:schemeClr val="tx1"/>
                </a:solidFill>
              </a:rPr>
              <a:t>L'effetto ELIZA oggi</a:t>
            </a:r>
            <a:endParaRPr lang="en-US" sz="1600" dirty="0"/>
          </a:p>
        </p:txBody>
      </p:sp>
      <p:sp>
        <p:nvSpPr>
          <p:cNvPr id="14" name="cerchio FiMessageCircle"/>
          <p:cNvSpPr/>
          <p:nvPr/>
        </p:nvSpPr>
        <p:spPr>
          <a:xfrm>
            <a:off x="4434840" y="1554480"/>
            <a:ext cx="457200" cy="457200"/>
          </a:xfrm>
          <a:prstGeom prst="ellipse">
            <a:avLst/>
          </a:prstGeom>
          <a:solidFill>
            <a:schemeClr val="accent1"/>
          </a:solidFill>
          <a:ln/>
        </p:spPr>
      </p:sp>
      <p:pic>
        <p:nvPicPr>
          <p:cNvPr id="15" name="Image 0" descr="FiMessageCircle">    </p:cNvPr>
          <p:cNvPicPr>
            <a:picLocks noChangeAspect="1"/>
          </p:cNvPicPr>
          <p:nvPr/>
        </p:nvPicPr>
        <p:blipFill>
          <a:blip r:embed="rId1"/>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indent="0" marL="0">
              <a:buNone/>
            </a:pPr>
            <a:r>
              <a:rPr lang="en-US" sz="1400" dirty="0">
                <a:solidFill>
                  <a:schemeClr val="tx1"/>
                </a:solidFill>
              </a:rPr>
              <a:t>Linguaggio molto più fluente e naturale</a:t>
            </a:r>
            <a:endParaRPr lang="en-US" sz="1400" dirty="0"/>
          </a:p>
        </p:txBody>
      </p:sp>
      <p:sp>
        <p:nvSpPr>
          <p:cNvPr id="17" name="cerchio FiSmile"/>
          <p:cNvSpPr/>
          <p:nvPr/>
        </p:nvSpPr>
        <p:spPr>
          <a:xfrm>
            <a:off x="4434840" y="2286000"/>
            <a:ext cx="457200" cy="457200"/>
          </a:xfrm>
          <a:prstGeom prst="ellipse">
            <a:avLst/>
          </a:prstGeom>
          <a:solidFill>
            <a:schemeClr val="accent1"/>
          </a:solidFill>
          <a:ln/>
        </p:spPr>
      </p:sp>
      <p:pic>
        <p:nvPicPr>
          <p:cNvPr id="18" name="Image 1" descr="FiSmile">    </p:cNvPr>
          <p:cNvPicPr>
            <a:picLocks noChangeAspect="1"/>
          </p:cNvPicPr>
          <p:nvPr/>
        </p:nvPicPr>
        <p:blipFill>
          <a:blip r:embed="rId2"/>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indent="0" marL="0">
              <a:buNone/>
            </a:pPr>
            <a:r>
              <a:rPr lang="en-US" sz="1400" dirty="0">
                <a:solidFill>
                  <a:schemeClr val="tx1"/>
                </a:solidFill>
              </a:rPr>
              <a:t>Espressioni come "penso", "mi dispiace", "capisco"</a:t>
            </a:r>
            <a:endParaRPr lang="en-US" sz="1400" dirty="0"/>
          </a:p>
        </p:txBody>
      </p:sp>
      <p:sp>
        <p:nvSpPr>
          <p:cNvPr id="20" name="cerchio FiUser"/>
          <p:cNvSpPr/>
          <p:nvPr/>
        </p:nvSpPr>
        <p:spPr>
          <a:xfrm>
            <a:off x="4434840" y="3017520"/>
            <a:ext cx="457200" cy="457200"/>
          </a:xfrm>
          <a:prstGeom prst="ellipse">
            <a:avLst/>
          </a:prstGeom>
          <a:solidFill>
            <a:schemeClr val="accent1"/>
          </a:solidFill>
          <a:ln/>
        </p:spPr>
      </p:sp>
      <p:pic>
        <p:nvPicPr>
          <p:cNvPr id="21" name="Image 2" descr="FiUser">    </p:cNvPr>
          <p:cNvPicPr>
            <a:picLocks noChangeAspect="1"/>
          </p:cNvPicPr>
          <p:nvPr/>
        </p:nvPicPr>
        <p:blipFill>
          <a:blip r:embed="rId3"/>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indent="0" marL="0">
              <a:buNone/>
            </a:pPr>
            <a:r>
              <a:rPr lang="en-US" sz="1400" dirty="0">
                <a:solidFill>
                  <a:schemeClr val="tx1"/>
                </a:solidFill>
              </a:rPr>
              <a:t>Interfacce conversazionali che invitano al dialogo</a:t>
            </a:r>
            <a:endParaRPr lang="en-US" sz="1400" dirty="0"/>
          </a:p>
        </p:txBody>
      </p:sp>
      <p:sp>
        <p:nvSpPr>
          <p:cNvPr id="23" name="cerchio FiEye"/>
          <p:cNvSpPr/>
          <p:nvPr/>
        </p:nvSpPr>
        <p:spPr>
          <a:xfrm>
            <a:off x="4434840" y="3749040"/>
            <a:ext cx="457200" cy="457200"/>
          </a:xfrm>
          <a:prstGeom prst="ellipse">
            <a:avLst/>
          </a:prstGeom>
          <a:solidFill>
            <a:schemeClr val="accent5"/>
          </a:solidFill>
          <a:ln/>
        </p:spPr>
      </p:sp>
      <p:pic>
        <p:nvPicPr>
          <p:cNvPr id="24" name="Image 3" descr="FiEye">    </p:cNvPr>
          <p:cNvPicPr>
            <a:picLocks noChangeAspect="1"/>
          </p:cNvPicPr>
          <p:nvPr/>
        </p:nvPicPr>
        <p:blipFill>
          <a:blip r:embed="rId4"/>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indent="0" marL="0">
              <a:buNone/>
            </a:pPr>
            <a:r>
              <a:rPr lang="en-US" sz="1400" b="1" dirty="0">
                <a:solidFill>
                  <a:schemeClr val="tx1"/>
                </a:solidFill>
              </a:rPr>
              <a:t>Formule apprese da testi umani: non provano pensieri o emozioni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osserviamo e che cosa possiamo concludere</a:t>
            </a:r>
            <a:endParaRPr lang="en-US" sz="2600" dirty="0"/>
          </a:p>
        </p:txBody>
      </p:sp>
      <p:sp>
        <p:nvSpPr>
          <p:cNvPr id="4" name="Text 1"/>
          <p:cNvSpPr txBox="1"/>
          <p:nvPr/>
        </p:nvSpPr>
        <p:spPr>
          <a:xfrm>
            <a:off x="1097280" y="1051560"/>
            <a:ext cx="3291840" cy="274320"/>
          </a:xfrm>
          <a:prstGeom prst="rect">
            <a:avLst/>
          </a:prstGeom>
          <a:noFill/>
          <a:ln/>
        </p:spPr>
        <p:txBody>
          <a:bodyPr wrap="square" lIns="0" tIns="0" rIns="0" bIns="0" rtlCol="0" anchor="t"/>
          <a:lstStyle/>
          <a:p>
            <a:pPr indent="0" marL="0">
              <a:buNone/>
            </a:pPr>
            <a:r>
              <a:rPr lang="en-US" sz="1200" b="1" dirty="0">
                <a:solidFill>
                  <a:schemeClr val="accent2"/>
                </a:solidFill>
              </a:rPr>
              <a:t>Che cosa vediamo</a:t>
            </a:r>
            <a:endParaRPr lang="en-US" sz="1200" dirty="0"/>
          </a:p>
        </p:txBody>
      </p:sp>
      <p:sp>
        <p:nvSpPr>
          <p:cNvPr id="5" name="Text 2"/>
          <p:cNvSpPr txBox="1"/>
          <p:nvPr/>
        </p:nvSpPr>
        <p:spPr>
          <a:xfrm>
            <a:off x="4937760" y="105156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Che cosa possiamo concludere</a:t>
            </a:r>
            <a:endParaRPr lang="en-US" sz="1200" dirty="0"/>
          </a:p>
        </p:txBody>
      </p:sp>
      <p:sp>
        <p:nvSpPr>
          <p:cNvPr id="6" name="Capacità osservabili"/>
          <p:cNvSpPr/>
          <p:nvPr/>
        </p:nvSpPr>
        <p:spPr>
          <a:xfrm>
            <a:off x="457200" y="1371600"/>
            <a:ext cx="8229600" cy="914400"/>
          </a:xfrm>
          <a:prstGeom prst="roundRect">
            <a:avLst>
              <a:gd name="adj" fmla="val 8000"/>
            </a:avLst>
          </a:prstGeom>
          <a:solidFill>
            <a:schemeClr val="accent6"/>
          </a:solidFill>
          <a:ln/>
        </p:spPr>
      </p:sp>
      <p:sp>
        <p:nvSpPr>
          <p:cNvPr id="7" name="cerchio FiCheckCircle"/>
          <p:cNvSpPr/>
          <p:nvPr/>
        </p:nvSpPr>
        <p:spPr>
          <a:xfrm>
            <a:off x="594360" y="1600200"/>
            <a:ext cx="502920" cy="502920"/>
          </a:xfrm>
          <a:prstGeom prst="ellipse">
            <a:avLst/>
          </a:prstGeom>
          <a:solidFill>
            <a:schemeClr val="accent1"/>
          </a:solidFill>
          <a:ln/>
        </p:spPr>
      </p:sp>
      <p:pic>
        <p:nvPicPr>
          <p:cNvPr id="8" name="Image 0" descr="FiCheckCircle">    </p:cNvPr>
          <p:cNvPicPr>
            <a:picLocks noChangeAspect="1"/>
          </p:cNvPicPr>
          <p:nvPr/>
        </p:nvPicPr>
        <p:blipFill>
          <a:blip r:embed="rId1"/>
          <a:stretch>
            <a:fillRect/>
          </a:stretch>
        </p:blipFill>
        <p:spPr>
          <a:xfrm>
            <a:off x="720090" y="1725930"/>
            <a:ext cx="251460" cy="251460"/>
          </a:xfrm>
          <a:prstGeom prst="rect">
            <a:avLst/>
          </a:prstGeom>
        </p:spPr>
      </p:pic>
      <p:sp>
        <p:nvSpPr>
          <p:cNvPr id="9" name="Text 5"/>
          <p:cNvSpPr txBox="1"/>
          <p:nvPr/>
        </p:nvSpPr>
        <p:spPr>
          <a:xfrm>
            <a:off x="1280160" y="1481328"/>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Capacità osservabili</a:t>
            </a:r>
            <a:endParaRPr lang="en-US" sz="1500" dirty="0"/>
          </a:p>
        </p:txBody>
      </p:sp>
      <p:sp>
        <p:nvSpPr>
          <p:cNvPr id="10" name="Text 6"/>
          <p:cNvSpPr txBox="1"/>
          <p:nvPr/>
        </p:nvSpPr>
        <p:spPr>
          <a:xfrm>
            <a:off x="1280160" y="1828800"/>
            <a:ext cx="3383280" cy="457200"/>
          </a:xfrm>
          <a:prstGeom prst="rect">
            <a:avLst/>
          </a:prstGeom>
          <a:noFill/>
          <a:ln/>
        </p:spPr>
        <p:txBody>
          <a:bodyPr wrap="square" lIns="0" tIns="0" rIns="0" bIns="0" rtlCol="0" anchor="t"/>
          <a:lstStyle/>
          <a:p>
            <a:pPr indent="0" marL="0">
              <a:buNone/>
            </a:pPr>
            <a:r>
              <a:rPr lang="en-US" sz="1200" dirty="0">
                <a:solidFill>
                  <a:schemeClr val="tx2"/>
                </a:solidFill>
              </a:rPr>
              <a:t>Testo fluente, risposte pertinenti, problemi risolti</a:t>
            </a:r>
            <a:endParaRPr lang="en-US" sz="1200" dirty="0"/>
          </a:p>
        </p:txBody>
      </p:sp>
      <p:sp>
        <p:nvSpPr>
          <p:cNvPr id="11" name="Text 7"/>
          <p:cNvSpPr txBox="1"/>
          <p:nvPr/>
        </p:nvSpPr>
        <p:spPr>
          <a:xfrm>
            <a:off x="4937760" y="1463040"/>
            <a:ext cx="3611880" cy="777240"/>
          </a:xfrm>
          <a:prstGeom prst="rect">
            <a:avLst/>
          </a:prstGeom>
          <a:noFill/>
          <a:ln/>
        </p:spPr>
        <p:txBody>
          <a:bodyPr wrap="square" lIns="0" tIns="0" rIns="0" bIns="0" rtlCol="0" anchor="ctr"/>
          <a:lstStyle/>
          <a:p>
            <a:pPr indent="0" marL="0">
              <a:buNone/>
            </a:pPr>
            <a:r>
              <a:rPr lang="en-US" sz="1300" dirty="0">
                <a:solidFill>
                  <a:schemeClr val="tx1"/>
                </a:solidFill>
              </a:rPr>
              <a:t>Verificabili: possiamo basarci su di esse</a:t>
            </a:r>
            <a:endParaRPr lang="en-US" sz="1300" dirty="0"/>
          </a:p>
        </p:txBody>
      </p:sp>
      <p:sp>
        <p:nvSpPr>
          <p:cNvPr id="12" name="Ragionamento"/>
          <p:cNvSpPr/>
          <p:nvPr/>
        </p:nvSpPr>
        <p:spPr>
          <a:xfrm>
            <a:off x="457200" y="2395728"/>
            <a:ext cx="8229600" cy="914400"/>
          </a:xfrm>
          <a:prstGeom prst="roundRect">
            <a:avLst>
              <a:gd name="adj" fmla="val 8000"/>
            </a:avLst>
          </a:prstGeom>
          <a:solidFill>
            <a:schemeClr val="bg2"/>
          </a:solidFill>
          <a:ln/>
        </p:spPr>
      </p:sp>
      <p:sp>
        <p:nvSpPr>
          <p:cNvPr id="13" name="cerchio FiGitBranch"/>
          <p:cNvSpPr/>
          <p:nvPr/>
        </p:nvSpPr>
        <p:spPr>
          <a:xfrm>
            <a:off x="594360" y="2624328"/>
            <a:ext cx="502920" cy="502920"/>
          </a:xfrm>
          <a:prstGeom prst="ellipse">
            <a:avLst/>
          </a:prstGeom>
          <a:solidFill>
            <a:schemeClr val="accent1"/>
          </a:solidFill>
          <a:ln/>
        </p:spPr>
      </p:sp>
      <p:pic>
        <p:nvPicPr>
          <p:cNvPr id="14" name="Image 1" descr="FiGitBranch">    </p:cNvPr>
          <p:cNvPicPr>
            <a:picLocks noChangeAspect="1"/>
          </p:cNvPicPr>
          <p:nvPr/>
        </p:nvPicPr>
        <p:blipFill>
          <a:blip r:embed="rId2"/>
          <a:stretch>
            <a:fillRect/>
          </a:stretch>
        </p:blipFill>
        <p:spPr>
          <a:xfrm>
            <a:off x="720090" y="2750058"/>
            <a:ext cx="251460" cy="251460"/>
          </a:xfrm>
          <a:prstGeom prst="rect">
            <a:avLst/>
          </a:prstGeom>
        </p:spPr>
      </p:pic>
      <p:sp>
        <p:nvSpPr>
          <p:cNvPr id="15" name="Text 10"/>
          <p:cNvSpPr txBox="1"/>
          <p:nvPr/>
        </p:nvSpPr>
        <p:spPr>
          <a:xfrm>
            <a:off x="1280160" y="2505456"/>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Ragionamento</a:t>
            </a:r>
            <a:endParaRPr lang="en-US" sz="1500" dirty="0"/>
          </a:p>
        </p:txBody>
      </p:sp>
      <p:sp>
        <p:nvSpPr>
          <p:cNvPr id="16" name="Text 11"/>
          <p:cNvSpPr txBox="1"/>
          <p:nvPr/>
        </p:nvSpPr>
        <p:spPr>
          <a:xfrm>
            <a:off x="1280160" y="2852928"/>
            <a:ext cx="3383280" cy="457200"/>
          </a:xfrm>
          <a:prstGeom prst="rect">
            <a:avLst/>
          </a:prstGeom>
          <a:noFill/>
          <a:ln/>
        </p:spPr>
        <p:txBody>
          <a:bodyPr wrap="square" lIns="0" tIns="0" rIns="0" bIns="0" rtlCol="0" anchor="t"/>
          <a:lstStyle/>
          <a:p>
            <a:pPr indent="0" marL="0">
              <a:buNone/>
            </a:pPr>
            <a:r>
              <a:rPr lang="en-US" sz="1200" dirty="0">
                <a:solidFill>
                  <a:schemeClr val="tx2"/>
                </a:solidFill>
              </a:rPr>
              <a:t>Scomposizione in passaggi, conclusioni plausibili</a:t>
            </a:r>
            <a:endParaRPr lang="en-US" sz="1200" dirty="0"/>
          </a:p>
        </p:txBody>
      </p:sp>
      <p:sp>
        <p:nvSpPr>
          <p:cNvPr id="17" name="Text 12"/>
          <p:cNvSpPr txBox="1"/>
          <p:nvPr/>
        </p:nvSpPr>
        <p:spPr>
          <a:xfrm>
            <a:off x="4937760" y="2487168"/>
            <a:ext cx="3611880" cy="777240"/>
          </a:xfrm>
          <a:prstGeom prst="rect">
            <a:avLst/>
          </a:prstGeom>
          <a:noFill/>
          <a:ln/>
        </p:spPr>
        <p:txBody>
          <a:bodyPr wrap="square" lIns="0" tIns="0" rIns="0" bIns="0" rtlCol="0" anchor="ctr"/>
          <a:lstStyle/>
          <a:p>
            <a:pPr indent="0" marL="0">
              <a:buNone/>
            </a:pPr>
            <a:r>
              <a:rPr lang="en-US" sz="1300" dirty="0">
                <a:solidFill>
                  <a:schemeClr val="tx1"/>
                </a:solidFill>
              </a:rPr>
              <a:t>Reale e utile, non infallibile; la somiglianza con quello umano è dibattuta</a:t>
            </a:r>
            <a:endParaRPr lang="en-US" sz="1300" dirty="0"/>
          </a:p>
        </p:txBody>
      </p:sp>
      <p:sp>
        <p:nvSpPr>
          <p:cNvPr id="18" name="Caratteristiche mentali"/>
          <p:cNvSpPr/>
          <p:nvPr/>
        </p:nvSpPr>
        <p:spPr>
          <a:xfrm>
            <a:off x="457200" y="3419856"/>
            <a:ext cx="8229600" cy="914400"/>
          </a:xfrm>
          <a:prstGeom prst="roundRect">
            <a:avLst>
              <a:gd name="adj" fmla="val 8000"/>
            </a:avLst>
          </a:prstGeom>
          <a:solidFill>
            <a:schemeClr val="bg2"/>
          </a:solidFill>
          <a:ln/>
        </p:spPr>
      </p:sp>
      <p:sp>
        <p:nvSpPr>
          <p:cNvPr id="19" name="cerchio FiHelpCircle"/>
          <p:cNvSpPr/>
          <p:nvPr/>
        </p:nvSpPr>
        <p:spPr>
          <a:xfrm>
            <a:off x="594360" y="3648456"/>
            <a:ext cx="502920" cy="502920"/>
          </a:xfrm>
          <a:prstGeom prst="ellipse">
            <a:avLst/>
          </a:prstGeom>
          <a:solidFill>
            <a:schemeClr val="accent2"/>
          </a:solidFill>
          <a:ln/>
        </p:spPr>
      </p:sp>
      <p:pic>
        <p:nvPicPr>
          <p:cNvPr id="20" name="Image 2" descr="FiHelpCircle">    </p:cNvPr>
          <p:cNvPicPr>
            <a:picLocks noChangeAspect="1"/>
          </p:cNvPicPr>
          <p:nvPr/>
        </p:nvPicPr>
        <p:blipFill>
          <a:blip r:embed="rId3"/>
          <a:stretch>
            <a:fillRect/>
          </a:stretch>
        </p:blipFill>
        <p:spPr>
          <a:xfrm>
            <a:off x="720090" y="3774186"/>
            <a:ext cx="251460" cy="251460"/>
          </a:xfrm>
          <a:prstGeom prst="rect">
            <a:avLst/>
          </a:prstGeom>
        </p:spPr>
      </p:pic>
      <p:sp>
        <p:nvSpPr>
          <p:cNvPr id="21" name="Text 15"/>
          <p:cNvSpPr txBox="1"/>
          <p:nvPr/>
        </p:nvSpPr>
        <p:spPr>
          <a:xfrm>
            <a:off x="1280160" y="3529584"/>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Caratteristiche mentali</a:t>
            </a:r>
            <a:endParaRPr lang="en-US" sz="1500" dirty="0"/>
          </a:p>
        </p:txBody>
      </p:sp>
      <p:sp>
        <p:nvSpPr>
          <p:cNvPr id="22" name="Text 16"/>
          <p:cNvSpPr txBox="1"/>
          <p:nvPr/>
        </p:nvSpPr>
        <p:spPr>
          <a:xfrm>
            <a:off x="1280160" y="3877056"/>
            <a:ext cx="3383280" cy="457200"/>
          </a:xfrm>
          <a:prstGeom prst="rect">
            <a:avLst/>
          </a:prstGeom>
          <a:noFill/>
          <a:ln/>
        </p:spPr>
        <p:txBody>
          <a:bodyPr wrap="square" lIns="0" tIns="0" rIns="0" bIns="0" rtlCol="0" anchor="t"/>
          <a:lstStyle/>
          <a:p>
            <a:pPr indent="0" marL="0">
              <a:buNone/>
            </a:pPr>
            <a:r>
              <a:rPr lang="en-US" sz="1200" dirty="0">
                <a:solidFill>
                  <a:schemeClr val="tx2"/>
                </a:solidFill>
              </a:rPr>
              <a:t>Comprensione umana, intenzioni, emozioni, coscienza</a:t>
            </a:r>
            <a:endParaRPr lang="en-US" sz="1200" dirty="0"/>
          </a:p>
        </p:txBody>
      </p:sp>
      <p:sp>
        <p:nvSpPr>
          <p:cNvPr id="23" name="Text 17"/>
          <p:cNvSpPr txBox="1"/>
          <p:nvPr/>
        </p:nvSpPr>
        <p:spPr>
          <a:xfrm>
            <a:off x="4937760" y="3511296"/>
            <a:ext cx="3611880" cy="777240"/>
          </a:xfrm>
          <a:prstGeom prst="rect">
            <a:avLst/>
          </a:prstGeom>
          <a:noFill/>
          <a:ln/>
        </p:spPr>
        <p:txBody>
          <a:bodyPr wrap="square" lIns="0" tIns="0" rIns="0" bIns="0" rtlCol="0" anchor="ctr"/>
          <a:lstStyle/>
          <a:p>
            <a:pPr indent="0" marL="0">
              <a:buNone/>
            </a:pPr>
            <a:r>
              <a:rPr lang="en-US" sz="1300" dirty="0">
                <a:solidFill>
                  <a:schemeClr val="tx1"/>
                </a:solidFill>
              </a:rPr>
              <a:t>Non autorizzate dalle prestazioni osservabili</a:t>
            </a:r>
            <a:endParaRPr lang="en-US" sz="1300" dirty="0"/>
          </a:p>
        </p:txBody>
      </p:sp>
      <p:sp>
        <p:nvSpPr>
          <p:cNvPr id="24" name="Text 18"/>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La sicurezza con cui il sistema si esprime non indica la correttezza della risposta.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non è un'unica tecnologia e le prestazioni osservabili non autorizzano automaticamente ad attribuirle caratteristiche umane.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2.1  ·  Che cos'è 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categorie di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Approcci e capacità differenti, adatti a problemi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criteri di classificazione diversi</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1463040"/>
                <a:gridCol w="4023360"/>
              </a:tblGrid>
              <a:tr h="475488">
                <a:tc>
                  <a:txBody>
                    <a:bodyPr/>
                    <a:lstStyle/>
                    <a:p>
                      <a:pPr indent="0" marL="0">
                        <a:buNone/>
                      </a:pPr>
                      <a:r>
                        <a:rPr lang="en-US" sz="1300" b="1" dirty="0">
                          <a:solidFill>
                            <a:schemeClr val="bg1"/>
                          </a:solidFill>
                        </a:rPr>
                        <a:t>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Criterio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Categorie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300" b="1" dirty="0">
                          <a:solidFill>
                            <a:schemeClr val="tx1"/>
                          </a:solidFill>
                        </a:rPr>
                        <a:t>Come costruisce la conoscenza?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Approccio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AI simbolica a regole  /  Machine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Con quale tecnica apprende?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Tecnica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ML classico  /  Deep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Che cosa produce?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Funzione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Predittiva  /  Discriminativa  /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Quali dati tratta?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Unimodale  /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sp>
      <p:sp>
        <p:nvSpPr>
          <p:cNvPr id="6" name="cerchio FiLayers"/>
          <p:cNvSpPr/>
          <p:nvPr/>
        </p:nvSpPr>
        <p:spPr>
          <a:xfrm>
            <a:off x="640080" y="3813048"/>
            <a:ext cx="512064" cy="512064"/>
          </a:xfrm>
          <a:prstGeom prst="ellipse">
            <a:avLst/>
          </a:prstGeom>
          <a:solidFill>
            <a:schemeClr val="accent1"/>
          </a:solidFill>
          <a:ln/>
        </p:spPr>
      </p:sp>
      <p:pic>
        <p:nvPicPr>
          <p:cNvPr id="7" name="Image 0" descr="FiLayers">    </p:cNvPr>
          <p:cNvPicPr>
            <a:picLocks noChangeAspect="1"/>
          </p:cNvPicPr>
          <p:nvPr/>
        </p:nvPicPr>
        <p:blipFill>
          <a:blip r:embed="rId1"/>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500" dirty="0">
                <a:solidFill>
                  <a:schemeClr val="accent3"/>
                </a:solidFill>
              </a:rPr>
              <a:t>Un grande modello linguistico è insieme: </a:t>
            </a:r>
            <a:pPr indent="0" marL="0">
              <a:buNone/>
            </a:pPr>
            <a:r>
              <a:rPr lang="en-US" sz="1500" b="1" dirty="0">
                <a:solidFill>
                  <a:schemeClr val="bg1"/>
                </a:solidFill>
              </a:rPr>
              <a:t>Machine Learning, Deep Learning, generativo e spesso multimodale.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simbolica e Machine Learning</a:t>
            </a:r>
            <a:endParaRPr lang="en-US" sz="260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sp>
      <p:sp>
        <p:nvSpPr>
          <p:cNvPr id="5" name="cerchio FiList"/>
          <p:cNvSpPr/>
          <p:nvPr/>
        </p:nvSpPr>
        <p:spPr>
          <a:xfrm>
            <a:off x="640080" y="1280160"/>
            <a:ext cx="457200" cy="457200"/>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AI simbolica a regole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Le persone scrivono le regole</a:t>
            </a:r>
            <a:endParaRPr lang="en-US" sz="1300" dirty="0"/>
          </a:p>
          <a:p>
            <a:pPr marL="177800" indent="-177800">
              <a:spcAft>
                <a:spcPts val="300"/>
              </a:spcAft>
              <a:buSzPct val="100000"/>
              <a:buChar char="•"/>
            </a:pPr>
            <a:r>
              <a:rPr lang="en-US" sz="1300" dirty="0">
                <a:solidFill>
                  <a:schemeClr val="tx2"/>
                </a:solidFill>
              </a:rPr>
              <a:t>Trasparente: si legge la regola applicata</a:t>
            </a:r>
            <a:endParaRPr lang="en-US" sz="1300" dirty="0"/>
          </a:p>
          <a:p>
            <a:pPr marL="177800" indent="-177800">
              <a:spcAft>
                <a:spcPts val="300"/>
              </a:spcAft>
              <a:buSzPct val="100000"/>
              <a:buChar char="•"/>
            </a:pPr>
            <a:r>
              <a:rPr lang="en-US" sz="1300" dirty="0">
                <a:solidFill>
                  <a:schemeClr val="tx2"/>
                </a:solidFill>
              </a:rPr>
              <a:t>Prevedibile e controllabile</a:t>
            </a:r>
            <a:endParaRPr lang="en-US" sz="1300" dirty="0"/>
          </a:p>
          <a:p>
            <a:pPr marL="177800" indent="-177800">
              <a:spcAft>
                <a:spcPts val="300"/>
              </a:spcAft>
              <a:buSzPct val="100000"/>
              <a:buChar char="•"/>
            </a:pPr>
            <a:r>
              <a:rPr lang="en-US" sz="1300" dirty="0">
                <a:solidFill>
                  <a:schemeClr val="tx2"/>
                </a:solidFill>
              </a:rPr>
              <a:t>Fragile con i casi non previsti</a:t>
            </a:r>
            <a:endParaRPr lang="en-US" sz="1300" dirty="0"/>
          </a:p>
          <a:p>
            <a:pPr marL="177800" indent="-177800">
              <a:spcAft>
                <a:spcPts val="300"/>
              </a:spcAft>
              <a:buSzPct val="100000"/>
              <a:buChar char="•"/>
            </a:pPr>
            <a:r>
              <a:rPr lang="en-US" sz="1300" dirty="0">
                <a:solidFill>
                  <a:schemeClr val="tx2"/>
                </a:solidFill>
              </a:rPr>
              <a:t>Difficile per conoscenze intuitive</a:t>
            </a:r>
            <a:endParaRPr lang="en-US" sz="130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sp>
      <p:sp>
        <p:nvSpPr>
          <p:cNvPr id="10" name="cerchio FiTrendingUp"/>
          <p:cNvSpPr/>
          <p:nvPr/>
        </p:nvSpPr>
        <p:spPr>
          <a:xfrm>
            <a:off x="4892040" y="1280160"/>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Machine Learning</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Il sistema ricava le regole dagli esempi</a:t>
            </a:r>
            <a:endParaRPr lang="en-US" sz="1300" dirty="0"/>
          </a:p>
          <a:p>
            <a:pPr marL="177800" indent="-177800">
              <a:spcAft>
                <a:spcPts val="300"/>
              </a:spcAft>
              <a:buSzPct val="100000"/>
              <a:buChar char="•"/>
            </a:pPr>
            <a:r>
              <a:rPr lang="en-US" sz="1300" dirty="0">
                <a:solidFill>
                  <a:schemeClr val="tx2"/>
                </a:solidFill>
              </a:rPr>
              <a:t>Adatto a problemi complessi e sfumati</a:t>
            </a:r>
            <a:endParaRPr lang="en-US" sz="1300" dirty="0"/>
          </a:p>
          <a:p>
            <a:pPr marL="177800" indent="-177800">
              <a:spcAft>
                <a:spcPts val="300"/>
              </a:spcAft>
              <a:buSzPct val="100000"/>
              <a:buChar char="•"/>
            </a:pPr>
            <a:r>
              <a:rPr lang="en-US" sz="1300" dirty="0">
                <a:solidFill>
                  <a:schemeClr val="tx2"/>
                </a:solidFill>
              </a:rPr>
              <a:t>Dipende dalla qualità dei dati</a:t>
            </a:r>
            <a:endParaRPr lang="en-US" sz="1300" dirty="0"/>
          </a:p>
          <a:p>
            <a:pPr marL="177800" indent="-177800">
              <a:spcAft>
                <a:spcPts val="300"/>
              </a:spcAft>
              <a:buSzPct val="100000"/>
              <a:buChar char="•"/>
            </a:pPr>
            <a:r>
              <a:rPr lang="en-US" sz="1300" dirty="0">
                <a:solidFill>
                  <a:schemeClr val="tx2"/>
                </a:solidFill>
              </a:rPr>
              <a:t>Talvolta meno facile da spiegare</a:t>
            </a:r>
            <a:endParaRPr lang="en-US" sz="1300" dirty="0"/>
          </a:p>
          <a:p>
            <a:pPr marL="177800" indent="-177800">
              <a:spcAft>
                <a:spcPts val="300"/>
              </a:spcAft>
              <a:buSzPct val="100000"/>
              <a:buChar char="•"/>
            </a:pPr>
            <a:r>
              <a:rPr lang="en-US" sz="1300" dirty="0">
                <a:solidFill>
                  <a:schemeClr val="tx2"/>
                </a:solidFill>
              </a:rPr>
              <a:t>Spesso combinato con regole esplicite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Deep Learning e reti neurali</a:t>
            </a:r>
            <a:endParaRPr lang="en-US" sz="260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sp>
      <p:sp>
        <p:nvSpPr>
          <p:cNvPr id="5" name="connessione"/>
          <p:cNvSpPr/>
          <p:nvPr/>
        </p:nvSpPr>
        <p:spPr>
          <a:xfrm>
            <a:off x="960120" y="2423160"/>
            <a:ext cx="1188720" cy="342900"/>
          </a:xfrm>
          <a:prstGeom prst="line">
            <a:avLst/>
          </a:prstGeom>
          <a:noFill/>
          <a:ln w="9525">
            <a:solidFill>
              <a:schemeClr val="accent3"/>
            </a:solidFill>
            <a:prstDash val="solid"/>
          </a:ln>
        </p:spPr>
      </p:sp>
      <p:sp>
        <p:nvSpPr>
          <p:cNvPr id="6" name="connessione"/>
          <p:cNvSpPr/>
          <p:nvPr/>
        </p:nvSpPr>
        <p:spPr>
          <a:xfrm>
            <a:off x="960120" y="2423160"/>
            <a:ext cx="1188720" cy="1028700"/>
          </a:xfrm>
          <a:prstGeom prst="line">
            <a:avLst/>
          </a:prstGeom>
          <a:noFill/>
          <a:ln w="9525">
            <a:solidFill>
              <a:schemeClr val="accent3"/>
            </a:solidFill>
            <a:prstDash val="solid"/>
          </a:ln>
        </p:spPr>
      </p:sp>
      <p:sp>
        <p:nvSpPr>
          <p:cNvPr id="7" name="connessione"/>
          <p:cNvSpPr/>
          <p:nvPr/>
        </p:nvSpPr>
        <p:spPr>
          <a:xfrm>
            <a:off x="960120" y="2423160"/>
            <a:ext cx="1188720" cy="1714500"/>
          </a:xfrm>
          <a:prstGeom prst="line">
            <a:avLst/>
          </a:prstGeom>
          <a:noFill/>
          <a:ln w="9525">
            <a:solidFill>
              <a:schemeClr val="accent3"/>
            </a:solidFill>
            <a:prstDash val="solid"/>
          </a:ln>
        </p:spPr>
      </p:sp>
      <p:sp>
        <p:nvSpPr>
          <p:cNvPr id="8" name="connessione"/>
          <p:cNvSpPr/>
          <p:nvPr/>
        </p:nvSpPr>
        <p:spPr>
          <a:xfrm flipV="1">
            <a:off x="960120" y="2080260"/>
            <a:ext cx="1188720" cy="1028700"/>
          </a:xfrm>
          <a:prstGeom prst="line">
            <a:avLst/>
          </a:prstGeom>
          <a:noFill/>
          <a:ln w="9525">
            <a:solidFill>
              <a:schemeClr val="accent3"/>
            </a:solidFill>
            <a:prstDash val="solid"/>
          </a:ln>
        </p:spPr>
      </p:sp>
      <p:sp>
        <p:nvSpPr>
          <p:cNvPr id="9" name="connessione"/>
          <p:cNvSpPr/>
          <p:nvPr/>
        </p:nvSpPr>
        <p:spPr>
          <a:xfrm flipV="1">
            <a:off x="960120" y="2766060"/>
            <a:ext cx="1188720" cy="342900"/>
          </a:xfrm>
          <a:prstGeom prst="line">
            <a:avLst/>
          </a:prstGeom>
          <a:noFill/>
          <a:ln w="9525">
            <a:solidFill>
              <a:schemeClr val="accent3"/>
            </a:solidFill>
            <a:prstDash val="solid"/>
          </a:ln>
        </p:spPr>
      </p:sp>
      <p:sp>
        <p:nvSpPr>
          <p:cNvPr id="10" name="connessione"/>
          <p:cNvSpPr/>
          <p:nvPr/>
        </p:nvSpPr>
        <p:spPr>
          <a:xfrm>
            <a:off x="960120" y="3108960"/>
            <a:ext cx="1188720" cy="342900"/>
          </a:xfrm>
          <a:prstGeom prst="line">
            <a:avLst/>
          </a:prstGeom>
          <a:noFill/>
          <a:ln w="9525">
            <a:solidFill>
              <a:schemeClr val="accent3"/>
            </a:solidFill>
            <a:prstDash val="solid"/>
          </a:ln>
        </p:spPr>
      </p:sp>
      <p:sp>
        <p:nvSpPr>
          <p:cNvPr id="11" name="connessione"/>
          <p:cNvSpPr/>
          <p:nvPr/>
        </p:nvSpPr>
        <p:spPr>
          <a:xfrm>
            <a:off x="960120" y="3108960"/>
            <a:ext cx="1188720" cy="1028700"/>
          </a:xfrm>
          <a:prstGeom prst="line">
            <a:avLst/>
          </a:prstGeom>
          <a:noFill/>
          <a:ln w="9525">
            <a:solidFill>
              <a:schemeClr val="accent3"/>
            </a:solidFill>
            <a:prstDash val="solid"/>
          </a:ln>
        </p:spPr>
      </p:sp>
      <p:sp>
        <p:nvSpPr>
          <p:cNvPr id="12" name="connessione"/>
          <p:cNvSpPr/>
          <p:nvPr/>
        </p:nvSpPr>
        <p:spPr>
          <a:xfrm flipV="1">
            <a:off x="960120" y="2080260"/>
            <a:ext cx="1188720" cy="1714500"/>
          </a:xfrm>
          <a:prstGeom prst="line">
            <a:avLst/>
          </a:prstGeom>
          <a:noFill/>
          <a:ln w="9525">
            <a:solidFill>
              <a:schemeClr val="accent3"/>
            </a:solidFill>
            <a:prstDash val="solid"/>
          </a:ln>
        </p:spPr>
      </p:sp>
      <p:sp>
        <p:nvSpPr>
          <p:cNvPr id="13" name="connessione"/>
          <p:cNvSpPr/>
          <p:nvPr/>
        </p:nvSpPr>
        <p:spPr>
          <a:xfrm flipV="1">
            <a:off x="960120" y="2766060"/>
            <a:ext cx="1188720" cy="1028700"/>
          </a:xfrm>
          <a:prstGeom prst="line">
            <a:avLst/>
          </a:prstGeom>
          <a:noFill/>
          <a:ln w="9525">
            <a:solidFill>
              <a:schemeClr val="accent3"/>
            </a:solidFill>
            <a:prstDash val="solid"/>
          </a:ln>
        </p:spPr>
      </p:sp>
      <p:sp>
        <p:nvSpPr>
          <p:cNvPr id="14" name="connessione"/>
          <p:cNvSpPr/>
          <p:nvPr/>
        </p:nvSpPr>
        <p:spPr>
          <a:xfrm flipV="1">
            <a:off x="960120" y="3451860"/>
            <a:ext cx="1188720" cy="342900"/>
          </a:xfrm>
          <a:prstGeom prst="line">
            <a:avLst/>
          </a:prstGeom>
          <a:noFill/>
          <a:ln w="9525">
            <a:solidFill>
              <a:schemeClr val="accent3"/>
            </a:solidFill>
            <a:prstDash val="solid"/>
          </a:ln>
        </p:spPr>
      </p:sp>
      <p:sp>
        <p:nvSpPr>
          <p:cNvPr id="15" name="connessione"/>
          <p:cNvSpPr/>
          <p:nvPr/>
        </p:nvSpPr>
        <p:spPr>
          <a:xfrm>
            <a:off x="960120" y="3794760"/>
            <a:ext cx="1188720" cy="342900"/>
          </a:xfrm>
          <a:prstGeom prst="line">
            <a:avLst/>
          </a:prstGeom>
          <a:noFill/>
          <a:ln w="9525">
            <a:solidFill>
              <a:schemeClr val="accent3"/>
            </a:solidFill>
            <a:prstDash val="solid"/>
          </a:ln>
        </p:spPr>
      </p:sp>
      <p:sp>
        <p:nvSpPr>
          <p:cNvPr id="16" name="connessione"/>
          <p:cNvSpPr/>
          <p:nvPr/>
        </p:nvSpPr>
        <p:spPr>
          <a:xfrm>
            <a:off x="2148840" y="2080260"/>
            <a:ext cx="1188720" cy="0"/>
          </a:xfrm>
          <a:prstGeom prst="line">
            <a:avLst/>
          </a:prstGeom>
          <a:noFill/>
          <a:ln w="9525">
            <a:solidFill>
              <a:schemeClr val="accent3"/>
            </a:solidFill>
            <a:prstDash val="solid"/>
          </a:ln>
        </p:spPr>
      </p:sp>
      <p:sp>
        <p:nvSpPr>
          <p:cNvPr id="17" name="connessione"/>
          <p:cNvSpPr/>
          <p:nvPr/>
        </p:nvSpPr>
        <p:spPr>
          <a:xfrm>
            <a:off x="2148840" y="2080260"/>
            <a:ext cx="1188720" cy="685800"/>
          </a:xfrm>
          <a:prstGeom prst="line">
            <a:avLst/>
          </a:prstGeom>
          <a:noFill/>
          <a:ln w="9525">
            <a:solidFill>
              <a:schemeClr val="accent3"/>
            </a:solidFill>
            <a:prstDash val="solid"/>
          </a:ln>
        </p:spPr>
      </p:sp>
      <p:sp>
        <p:nvSpPr>
          <p:cNvPr id="18" name="connessione"/>
          <p:cNvSpPr/>
          <p:nvPr/>
        </p:nvSpPr>
        <p:spPr>
          <a:xfrm>
            <a:off x="2148840" y="2080260"/>
            <a:ext cx="1188720" cy="1371600"/>
          </a:xfrm>
          <a:prstGeom prst="line">
            <a:avLst/>
          </a:prstGeom>
          <a:noFill/>
          <a:ln w="9525">
            <a:solidFill>
              <a:schemeClr val="accent3"/>
            </a:solidFill>
            <a:prstDash val="solid"/>
          </a:ln>
        </p:spPr>
      </p:sp>
      <p:sp>
        <p:nvSpPr>
          <p:cNvPr id="19" name="connessione"/>
          <p:cNvSpPr/>
          <p:nvPr/>
        </p:nvSpPr>
        <p:spPr>
          <a:xfrm>
            <a:off x="2148840" y="2080260"/>
            <a:ext cx="1188720" cy="2057400"/>
          </a:xfrm>
          <a:prstGeom prst="line">
            <a:avLst/>
          </a:prstGeom>
          <a:noFill/>
          <a:ln w="9525">
            <a:solidFill>
              <a:schemeClr val="accent3"/>
            </a:solidFill>
            <a:prstDash val="solid"/>
          </a:ln>
        </p:spPr>
      </p:sp>
      <p:sp>
        <p:nvSpPr>
          <p:cNvPr id="20" name="connessione"/>
          <p:cNvSpPr/>
          <p:nvPr/>
        </p:nvSpPr>
        <p:spPr>
          <a:xfrm flipV="1">
            <a:off x="2148840" y="2080260"/>
            <a:ext cx="1188720" cy="685800"/>
          </a:xfrm>
          <a:prstGeom prst="line">
            <a:avLst/>
          </a:prstGeom>
          <a:noFill/>
          <a:ln w="9525">
            <a:solidFill>
              <a:schemeClr val="accent3"/>
            </a:solidFill>
            <a:prstDash val="solid"/>
          </a:ln>
        </p:spPr>
      </p:sp>
      <p:sp>
        <p:nvSpPr>
          <p:cNvPr id="21" name="connessione"/>
          <p:cNvSpPr/>
          <p:nvPr/>
        </p:nvSpPr>
        <p:spPr>
          <a:xfrm>
            <a:off x="2148840" y="2766060"/>
            <a:ext cx="1188720" cy="0"/>
          </a:xfrm>
          <a:prstGeom prst="line">
            <a:avLst/>
          </a:prstGeom>
          <a:noFill/>
          <a:ln w="9525">
            <a:solidFill>
              <a:schemeClr val="accent3"/>
            </a:solidFill>
            <a:prstDash val="solid"/>
          </a:ln>
        </p:spPr>
      </p:sp>
      <p:sp>
        <p:nvSpPr>
          <p:cNvPr id="22" name="connessione"/>
          <p:cNvSpPr/>
          <p:nvPr/>
        </p:nvSpPr>
        <p:spPr>
          <a:xfrm>
            <a:off x="2148840" y="2766060"/>
            <a:ext cx="1188720" cy="685800"/>
          </a:xfrm>
          <a:prstGeom prst="line">
            <a:avLst/>
          </a:prstGeom>
          <a:noFill/>
          <a:ln w="9525">
            <a:solidFill>
              <a:schemeClr val="accent3"/>
            </a:solidFill>
            <a:prstDash val="solid"/>
          </a:ln>
        </p:spPr>
      </p:sp>
      <p:sp>
        <p:nvSpPr>
          <p:cNvPr id="23" name="connessione"/>
          <p:cNvSpPr/>
          <p:nvPr/>
        </p:nvSpPr>
        <p:spPr>
          <a:xfrm>
            <a:off x="2148840" y="2766060"/>
            <a:ext cx="1188720" cy="1371600"/>
          </a:xfrm>
          <a:prstGeom prst="line">
            <a:avLst/>
          </a:prstGeom>
          <a:noFill/>
          <a:ln w="9525">
            <a:solidFill>
              <a:schemeClr val="accent3"/>
            </a:solidFill>
            <a:prstDash val="solid"/>
          </a:ln>
        </p:spPr>
      </p:sp>
      <p:sp>
        <p:nvSpPr>
          <p:cNvPr id="24" name="connessione"/>
          <p:cNvSpPr/>
          <p:nvPr/>
        </p:nvSpPr>
        <p:spPr>
          <a:xfrm flipV="1">
            <a:off x="2148840" y="2080260"/>
            <a:ext cx="1188720" cy="1371600"/>
          </a:xfrm>
          <a:prstGeom prst="line">
            <a:avLst/>
          </a:prstGeom>
          <a:noFill/>
          <a:ln w="9525">
            <a:solidFill>
              <a:schemeClr val="accent3"/>
            </a:solidFill>
            <a:prstDash val="solid"/>
          </a:ln>
        </p:spPr>
      </p:sp>
      <p:sp>
        <p:nvSpPr>
          <p:cNvPr id="25" name="connessione"/>
          <p:cNvSpPr/>
          <p:nvPr/>
        </p:nvSpPr>
        <p:spPr>
          <a:xfrm flipV="1">
            <a:off x="2148840" y="2766060"/>
            <a:ext cx="1188720" cy="685800"/>
          </a:xfrm>
          <a:prstGeom prst="line">
            <a:avLst/>
          </a:prstGeom>
          <a:noFill/>
          <a:ln w="9525">
            <a:solidFill>
              <a:schemeClr val="accent3"/>
            </a:solidFill>
            <a:prstDash val="solid"/>
          </a:ln>
        </p:spPr>
      </p:sp>
      <p:sp>
        <p:nvSpPr>
          <p:cNvPr id="26" name="connessione"/>
          <p:cNvSpPr/>
          <p:nvPr/>
        </p:nvSpPr>
        <p:spPr>
          <a:xfrm>
            <a:off x="2148840" y="3451860"/>
            <a:ext cx="1188720" cy="0"/>
          </a:xfrm>
          <a:prstGeom prst="line">
            <a:avLst/>
          </a:prstGeom>
          <a:noFill/>
          <a:ln w="9525">
            <a:solidFill>
              <a:schemeClr val="accent3"/>
            </a:solidFill>
            <a:prstDash val="solid"/>
          </a:ln>
        </p:spPr>
      </p:sp>
      <p:sp>
        <p:nvSpPr>
          <p:cNvPr id="27" name="connessione"/>
          <p:cNvSpPr/>
          <p:nvPr/>
        </p:nvSpPr>
        <p:spPr>
          <a:xfrm>
            <a:off x="2148840" y="3451860"/>
            <a:ext cx="1188720" cy="685800"/>
          </a:xfrm>
          <a:prstGeom prst="line">
            <a:avLst/>
          </a:prstGeom>
          <a:noFill/>
          <a:ln w="9525">
            <a:solidFill>
              <a:schemeClr val="accent3"/>
            </a:solidFill>
            <a:prstDash val="solid"/>
          </a:ln>
        </p:spPr>
      </p:sp>
      <p:sp>
        <p:nvSpPr>
          <p:cNvPr id="28" name="connessione"/>
          <p:cNvSpPr/>
          <p:nvPr/>
        </p:nvSpPr>
        <p:spPr>
          <a:xfrm flipV="1">
            <a:off x="2148840" y="2080260"/>
            <a:ext cx="1188720" cy="2057400"/>
          </a:xfrm>
          <a:prstGeom prst="line">
            <a:avLst/>
          </a:prstGeom>
          <a:noFill/>
          <a:ln w="9525">
            <a:solidFill>
              <a:schemeClr val="accent3"/>
            </a:solidFill>
            <a:prstDash val="solid"/>
          </a:ln>
        </p:spPr>
      </p:sp>
      <p:sp>
        <p:nvSpPr>
          <p:cNvPr id="29" name="connessione"/>
          <p:cNvSpPr/>
          <p:nvPr/>
        </p:nvSpPr>
        <p:spPr>
          <a:xfrm flipV="1">
            <a:off x="2148840" y="2766060"/>
            <a:ext cx="1188720" cy="1371600"/>
          </a:xfrm>
          <a:prstGeom prst="line">
            <a:avLst/>
          </a:prstGeom>
          <a:noFill/>
          <a:ln w="9525">
            <a:solidFill>
              <a:schemeClr val="accent3"/>
            </a:solidFill>
            <a:prstDash val="solid"/>
          </a:ln>
        </p:spPr>
      </p:sp>
      <p:sp>
        <p:nvSpPr>
          <p:cNvPr id="30" name="connessione"/>
          <p:cNvSpPr/>
          <p:nvPr/>
        </p:nvSpPr>
        <p:spPr>
          <a:xfrm flipV="1">
            <a:off x="2148840" y="3451860"/>
            <a:ext cx="1188720" cy="685800"/>
          </a:xfrm>
          <a:prstGeom prst="line">
            <a:avLst/>
          </a:prstGeom>
          <a:noFill/>
          <a:ln w="9525">
            <a:solidFill>
              <a:schemeClr val="accent3"/>
            </a:solidFill>
            <a:prstDash val="solid"/>
          </a:ln>
        </p:spPr>
      </p:sp>
      <p:sp>
        <p:nvSpPr>
          <p:cNvPr id="31" name="connessione"/>
          <p:cNvSpPr/>
          <p:nvPr/>
        </p:nvSpPr>
        <p:spPr>
          <a:xfrm>
            <a:off x="2148840" y="4137660"/>
            <a:ext cx="1188720" cy="0"/>
          </a:xfrm>
          <a:prstGeom prst="line">
            <a:avLst/>
          </a:prstGeom>
          <a:noFill/>
          <a:ln w="9525">
            <a:solidFill>
              <a:schemeClr val="accent3"/>
            </a:solidFill>
            <a:prstDash val="solid"/>
          </a:ln>
        </p:spPr>
      </p:sp>
      <p:sp>
        <p:nvSpPr>
          <p:cNvPr id="32" name="connessione"/>
          <p:cNvSpPr/>
          <p:nvPr/>
        </p:nvSpPr>
        <p:spPr>
          <a:xfrm>
            <a:off x="3337560" y="2080260"/>
            <a:ext cx="1188720" cy="685800"/>
          </a:xfrm>
          <a:prstGeom prst="line">
            <a:avLst/>
          </a:prstGeom>
          <a:noFill/>
          <a:ln w="9525">
            <a:solidFill>
              <a:schemeClr val="accent3"/>
            </a:solidFill>
            <a:prstDash val="solid"/>
          </a:ln>
        </p:spPr>
      </p:sp>
      <p:sp>
        <p:nvSpPr>
          <p:cNvPr id="33" name="connessione"/>
          <p:cNvSpPr/>
          <p:nvPr/>
        </p:nvSpPr>
        <p:spPr>
          <a:xfrm>
            <a:off x="3337560" y="2080260"/>
            <a:ext cx="1188720" cy="1371600"/>
          </a:xfrm>
          <a:prstGeom prst="line">
            <a:avLst/>
          </a:prstGeom>
          <a:noFill/>
          <a:ln w="9525">
            <a:solidFill>
              <a:schemeClr val="accent3"/>
            </a:solidFill>
            <a:prstDash val="solid"/>
          </a:ln>
        </p:spPr>
      </p:sp>
      <p:sp>
        <p:nvSpPr>
          <p:cNvPr id="34" name="connessione"/>
          <p:cNvSpPr/>
          <p:nvPr/>
        </p:nvSpPr>
        <p:spPr>
          <a:xfrm>
            <a:off x="3337560" y="2766060"/>
            <a:ext cx="1188720" cy="0"/>
          </a:xfrm>
          <a:prstGeom prst="line">
            <a:avLst/>
          </a:prstGeom>
          <a:noFill/>
          <a:ln w="9525">
            <a:solidFill>
              <a:schemeClr val="accent3"/>
            </a:solidFill>
            <a:prstDash val="solid"/>
          </a:ln>
        </p:spPr>
      </p:sp>
      <p:sp>
        <p:nvSpPr>
          <p:cNvPr id="35" name="connessione"/>
          <p:cNvSpPr/>
          <p:nvPr/>
        </p:nvSpPr>
        <p:spPr>
          <a:xfrm>
            <a:off x="3337560" y="2766060"/>
            <a:ext cx="1188720" cy="685800"/>
          </a:xfrm>
          <a:prstGeom prst="line">
            <a:avLst/>
          </a:prstGeom>
          <a:noFill/>
          <a:ln w="9525">
            <a:solidFill>
              <a:schemeClr val="accent3"/>
            </a:solidFill>
            <a:prstDash val="solid"/>
          </a:ln>
        </p:spPr>
      </p:sp>
      <p:sp>
        <p:nvSpPr>
          <p:cNvPr id="36" name="connessione"/>
          <p:cNvSpPr/>
          <p:nvPr/>
        </p:nvSpPr>
        <p:spPr>
          <a:xfrm flipV="1">
            <a:off x="3337560" y="2766060"/>
            <a:ext cx="1188720" cy="685800"/>
          </a:xfrm>
          <a:prstGeom prst="line">
            <a:avLst/>
          </a:prstGeom>
          <a:noFill/>
          <a:ln w="9525">
            <a:solidFill>
              <a:schemeClr val="accent3"/>
            </a:solidFill>
            <a:prstDash val="solid"/>
          </a:ln>
        </p:spPr>
      </p:sp>
      <p:sp>
        <p:nvSpPr>
          <p:cNvPr id="37" name="connessione"/>
          <p:cNvSpPr/>
          <p:nvPr/>
        </p:nvSpPr>
        <p:spPr>
          <a:xfrm>
            <a:off x="3337560" y="3451860"/>
            <a:ext cx="1188720" cy="0"/>
          </a:xfrm>
          <a:prstGeom prst="line">
            <a:avLst/>
          </a:prstGeom>
          <a:noFill/>
          <a:ln w="9525">
            <a:solidFill>
              <a:schemeClr val="accent3"/>
            </a:solidFill>
            <a:prstDash val="solid"/>
          </a:ln>
        </p:spPr>
      </p:sp>
      <p:sp>
        <p:nvSpPr>
          <p:cNvPr id="38" name="connessione"/>
          <p:cNvSpPr/>
          <p:nvPr/>
        </p:nvSpPr>
        <p:spPr>
          <a:xfrm flipV="1">
            <a:off x="3337560" y="2766060"/>
            <a:ext cx="1188720" cy="1371600"/>
          </a:xfrm>
          <a:prstGeom prst="line">
            <a:avLst/>
          </a:prstGeom>
          <a:noFill/>
          <a:ln w="9525">
            <a:solidFill>
              <a:schemeClr val="accent3"/>
            </a:solidFill>
            <a:prstDash val="solid"/>
          </a:ln>
        </p:spPr>
      </p:sp>
      <p:sp>
        <p:nvSpPr>
          <p:cNvPr id="39" name="connessione"/>
          <p:cNvSpPr/>
          <p:nvPr/>
        </p:nvSpPr>
        <p:spPr>
          <a:xfrm flipV="1">
            <a:off x="3337560" y="3451860"/>
            <a:ext cx="1188720" cy="685800"/>
          </a:xfrm>
          <a:prstGeom prst="line">
            <a:avLst/>
          </a:prstGeom>
          <a:noFill/>
          <a:ln w="9525">
            <a:solidFill>
              <a:schemeClr val="accent3"/>
            </a:solidFill>
            <a:prstDash val="solid"/>
          </a:ln>
        </p:spPr>
      </p:sp>
      <p:sp>
        <p:nvSpPr>
          <p:cNvPr id="40" name="neurone"/>
          <p:cNvSpPr/>
          <p:nvPr/>
        </p:nvSpPr>
        <p:spPr>
          <a:xfrm>
            <a:off x="822960" y="2286000"/>
            <a:ext cx="274320" cy="274320"/>
          </a:xfrm>
          <a:prstGeom prst="ellipse">
            <a:avLst/>
          </a:prstGeom>
          <a:solidFill>
            <a:schemeClr val="tx2"/>
          </a:solidFill>
          <a:ln/>
        </p:spPr>
      </p:sp>
      <p:sp>
        <p:nvSpPr>
          <p:cNvPr id="41" name="neurone"/>
          <p:cNvSpPr/>
          <p:nvPr/>
        </p:nvSpPr>
        <p:spPr>
          <a:xfrm>
            <a:off x="822960" y="2971800"/>
            <a:ext cx="274320" cy="274320"/>
          </a:xfrm>
          <a:prstGeom prst="ellipse">
            <a:avLst/>
          </a:prstGeom>
          <a:solidFill>
            <a:schemeClr val="tx2"/>
          </a:solidFill>
          <a:ln/>
        </p:spPr>
      </p:sp>
      <p:sp>
        <p:nvSpPr>
          <p:cNvPr id="42" name="neurone"/>
          <p:cNvSpPr/>
          <p:nvPr/>
        </p:nvSpPr>
        <p:spPr>
          <a:xfrm>
            <a:off x="822960" y="3657600"/>
            <a:ext cx="274320" cy="274320"/>
          </a:xfrm>
          <a:prstGeom prst="ellipse">
            <a:avLst/>
          </a:prstGeom>
          <a:solidFill>
            <a:schemeClr val="tx2"/>
          </a:solidFill>
          <a:ln/>
        </p:spPr>
      </p:sp>
      <p:sp>
        <p:nvSpPr>
          <p:cNvPr id="43" name="neurone"/>
          <p:cNvSpPr/>
          <p:nvPr/>
        </p:nvSpPr>
        <p:spPr>
          <a:xfrm>
            <a:off x="2011680" y="1943100"/>
            <a:ext cx="274320" cy="274320"/>
          </a:xfrm>
          <a:prstGeom prst="ellipse">
            <a:avLst/>
          </a:prstGeom>
          <a:solidFill>
            <a:schemeClr val="accent1"/>
          </a:solidFill>
          <a:ln/>
        </p:spPr>
      </p:sp>
      <p:sp>
        <p:nvSpPr>
          <p:cNvPr id="44" name="neurone"/>
          <p:cNvSpPr/>
          <p:nvPr/>
        </p:nvSpPr>
        <p:spPr>
          <a:xfrm>
            <a:off x="2011680" y="2628900"/>
            <a:ext cx="274320" cy="274320"/>
          </a:xfrm>
          <a:prstGeom prst="ellipse">
            <a:avLst/>
          </a:prstGeom>
          <a:solidFill>
            <a:schemeClr val="accent1"/>
          </a:solidFill>
          <a:ln/>
        </p:spPr>
      </p:sp>
      <p:sp>
        <p:nvSpPr>
          <p:cNvPr id="45" name="neurone"/>
          <p:cNvSpPr/>
          <p:nvPr/>
        </p:nvSpPr>
        <p:spPr>
          <a:xfrm>
            <a:off x="2011680" y="3314700"/>
            <a:ext cx="274320" cy="274320"/>
          </a:xfrm>
          <a:prstGeom prst="ellipse">
            <a:avLst/>
          </a:prstGeom>
          <a:solidFill>
            <a:schemeClr val="accent1"/>
          </a:solidFill>
          <a:ln/>
        </p:spPr>
      </p:sp>
      <p:sp>
        <p:nvSpPr>
          <p:cNvPr id="46" name="neurone"/>
          <p:cNvSpPr/>
          <p:nvPr/>
        </p:nvSpPr>
        <p:spPr>
          <a:xfrm>
            <a:off x="2011680" y="4000500"/>
            <a:ext cx="274320" cy="274320"/>
          </a:xfrm>
          <a:prstGeom prst="ellipse">
            <a:avLst/>
          </a:prstGeom>
          <a:solidFill>
            <a:schemeClr val="accent1"/>
          </a:solidFill>
          <a:ln/>
        </p:spPr>
      </p:sp>
      <p:sp>
        <p:nvSpPr>
          <p:cNvPr id="47" name="neurone"/>
          <p:cNvSpPr/>
          <p:nvPr/>
        </p:nvSpPr>
        <p:spPr>
          <a:xfrm>
            <a:off x="3200400" y="1943100"/>
            <a:ext cx="274320" cy="274320"/>
          </a:xfrm>
          <a:prstGeom prst="ellipse">
            <a:avLst/>
          </a:prstGeom>
          <a:solidFill>
            <a:schemeClr val="accent1"/>
          </a:solidFill>
          <a:ln/>
        </p:spPr>
      </p:sp>
      <p:sp>
        <p:nvSpPr>
          <p:cNvPr id="48" name="neurone"/>
          <p:cNvSpPr/>
          <p:nvPr/>
        </p:nvSpPr>
        <p:spPr>
          <a:xfrm>
            <a:off x="3200400" y="2628900"/>
            <a:ext cx="274320" cy="274320"/>
          </a:xfrm>
          <a:prstGeom prst="ellipse">
            <a:avLst/>
          </a:prstGeom>
          <a:solidFill>
            <a:schemeClr val="accent1"/>
          </a:solidFill>
          <a:ln/>
        </p:spPr>
      </p:sp>
      <p:sp>
        <p:nvSpPr>
          <p:cNvPr id="49" name="neurone"/>
          <p:cNvSpPr/>
          <p:nvPr/>
        </p:nvSpPr>
        <p:spPr>
          <a:xfrm>
            <a:off x="3200400" y="3314700"/>
            <a:ext cx="274320" cy="274320"/>
          </a:xfrm>
          <a:prstGeom prst="ellipse">
            <a:avLst/>
          </a:prstGeom>
          <a:solidFill>
            <a:schemeClr val="accent1"/>
          </a:solidFill>
          <a:ln/>
        </p:spPr>
      </p:sp>
      <p:sp>
        <p:nvSpPr>
          <p:cNvPr id="50" name="neurone"/>
          <p:cNvSpPr/>
          <p:nvPr/>
        </p:nvSpPr>
        <p:spPr>
          <a:xfrm>
            <a:off x="3200400" y="4000500"/>
            <a:ext cx="274320" cy="274320"/>
          </a:xfrm>
          <a:prstGeom prst="ellipse">
            <a:avLst/>
          </a:prstGeom>
          <a:solidFill>
            <a:schemeClr val="accent1"/>
          </a:solidFill>
          <a:ln/>
        </p:spPr>
      </p:sp>
      <p:sp>
        <p:nvSpPr>
          <p:cNvPr id="51" name="neurone"/>
          <p:cNvSpPr/>
          <p:nvPr/>
        </p:nvSpPr>
        <p:spPr>
          <a:xfrm>
            <a:off x="4389120" y="2628900"/>
            <a:ext cx="274320" cy="274320"/>
          </a:xfrm>
          <a:prstGeom prst="ellipse">
            <a:avLst/>
          </a:prstGeom>
          <a:solidFill>
            <a:schemeClr val="tx2"/>
          </a:solidFill>
          <a:ln/>
        </p:spPr>
      </p:sp>
      <p:sp>
        <p:nvSpPr>
          <p:cNvPr id="52" name="neurone"/>
          <p:cNvSpPr/>
          <p:nvPr/>
        </p:nvSpPr>
        <p:spPr>
          <a:xfrm>
            <a:off x="4389120" y="3314700"/>
            <a:ext cx="274320" cy="274320"/>
          </a:xfrm>
          <a:prstGeom prst="ellipse">
            <a:avLst/>
          </a:prstGeom>
          <a:solidFill>
            <a:schemeClr val="tx2"/>
          </a:solidFill>
          <a:ln/>
        </p:spPr>
      </p:sp>
      <p:sp>
        <p:nvSpPr>
          <p:cNvPr id="53" name="Text 50"/>
          <p:cNvSpPr txBox="1"/>
          <p:nvPr/>
        </p:nvSpPr>
        <p:spPr>
          <a:xfrm>
            <a:off x="41148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Input</a:t>
            </a:r>
            <a:endParaRPr lang="en-US" sz="110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Output</a:t>
            </a:r>
            <a:endParaRPr lang="en-US" sz="110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algn="ctr" indent="0" marL="0">
              <a:buNone/>
            </a:pPr>
            <a:r>
              <a:rPr lang="en-US" sz="1100" i="1" dirty="0">
                <a:solidFill>
                  <a:schemeClr val="accent2"/>
                </a:solidFill>
              </a:rPr>
              <a:t>Dai pixel ai concetti</a:t>
            </a:r>
            <a:endParaRPr lang="en-US" sz="110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Rappresentazioni sempre più astratte</a:t>
            </a:r>
            <a:endParaRPr lang="en-US" sz="1500" dirty="0"/>
          </a:p>
        </p:txBody>
      </p:sp>
      <p:sp>
        <p:nvSpPr>
          <p:cNvPr id="59" name="Bordi e linee"/>
          <p:cNvSpPr/>
          <p:nvPr/>
        </p:nvSpPr>
        <p:spPr>
          <a:xfrm>
            <a:off x="5303520" y="1554480"/>
            <a:ext cx="3383280" cy="658368"/>
          </a:xfrm>
          <a:prstGeom prst="roundRect">
            <a:avLst>
              <a:gd name="adj" fmla="val 11111"/>
            </a:avLst>
          </a:prstGeom>
          <a:solidFill>
            <a:schemeClr val="bg2"/>
          </a:solidFill>
          <a:ln/>
        </p:spPr>
      </p:sp>
      <p:sp>
        <p:nvSpPr>
          <p:cNvPr id="60" name="Text 57"/>
          <p:cNvSpPr txBox="1"/>
          <p:nvPr/>
        </p:nvSpPr>
        <p:spPr>
          <a:xfrm>
            <a:off x="5486400" y="1609344"/>
            <a:ext cx="3108960" cy="292608"/>
          </a:xfrm>
          <a:prstGeom prst="rect">
            <a:avLst/>
          </a:prstGeom>
          <a:noFill/>
          <a:ln/>
        </p:spPr>
        <p:txBody>
          <a:bodyPr wrap="square" lIns="0" tIns="0" rIns="0" bIns="0" rtlCol="0" anchor="t"/>
          <a:lstStyle/>
          <a:p>
            <a:pPr indent="0" marL="0">
              <a:buNone/>
            </a:pPr>
            <a:r>
              <a:rPr lang="en-US" sz="1400" b="1" dirty="0">
                <a:solidFill>
                  <a:schemeClr val="tx1"/>
                </a:solidFill>
              </a:rPr>
              <a:t>Bordi e linee</a:t>
            </a:r>
            <a:endParaRPr lang="en-US" sz="140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indent="0" marL="0">
              <a:buNone/>
            </a:pPr>
            <a:r>
              <a:rPr lang="en-US" sz="1200" dirty="0">
                <a:solidFill>
                  <a:schemeClr val="tx2"/>
                </a:solidFill>
              </a:rPr>
              <a:t>I primi strati</a:t>
            </a:r>
            <a:endParaRPr lang="en-US" sz="120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sp>
      <p:sp>
        <p:nvSpPr>
          <p:cNvPr id="63" name="Text 60"/>
          <p:cNvSpPr txBox="1"/>
          <p:nvPr/>
        </p:nvSpPr>
        <p:spPr>
          <a:xfrm>
            <a:off x="5486400" y="2386584"/>
            <a:ext cx="3108960" cy="292608"/>
          </a:xfrm>
          <a:prstGeom prst="rect">
            <a:avLst/>
          </a:prstGeom>
          <a:noFill/>
          <a:ln/>
        </p:spPr>
        <p:txBody>
          <a:bodyPr wrap="square" lIns="0" tIns="0" rIns="0" bIns="0" rtlCol="0" anchor="t"/>
          <a:lstStyle/>
          <a:p>
            <a:pPr indent="0" marL="0">
              <a:buNone/>
            </a:pPr>
            <a:r>
              <a:rPr lang="en-US" sz="1400" b="1" dirty="0">
                <a:solidFill>
                  <a:schemeClr val="tx1"/>
                </a:solidFill>
              </a:rPr>
              <a:t>Forme e parti di oggetti</a:t>
            </a:r>
            <a:endParaRPr lang="en-US" sz="140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strati intermedi</a:t>
            </a:r>
            <a:endParaRPr lang="en-US" sz="120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sp>
      <p:sp>
        <p:nvSpPr>
          <p:cNvPr id="66" name="Text 63"/>
          <p:cNvSpPr txBox="1"/>
          <p:nvPr/>
        </p:nvSpPr>
        <p:spPr>
          <a:xfrm>
            <a:off x="5486400" y="3163824"/>
            <a:ext cx="3108960" cy="292608"/>
          </a:xfrm>
          <a:prstGeom prst="rect">
            <a:avLst/>
          </a:prstGeom>
          <a:noFill/>
          <a:ln/>
        </p:spPr>
        <p:txBody>
          <a:bodyPr wrap="square" lIns="0" tIns="0" rIns="0" bIns="0" rtlCol="0" anchor="t"/>
          <a:lstStyle/>
          <a:p>
            <a:pPr indent="0" marL="0">
              <a:buNone/>
            </a:pPr>
            <a:r>
              <a:rPr lang="en-US" sz="1400" b="1" dirty="0">
                <a:solidFill>
                  <a:schemeClr val="tx1"/>
                </a:solidFill>
              </a:rPr>
              <a:t>Concetti: "volto", "auto"</a:t>
            </a:r>
            <a:endParaRPr lang="en-US" sz="140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ultimi strati</a:t>
            </a:r>
            <a:endParaRPr lang="en-US" sz="120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indent="0" marL="0">
              <a:buNone/>
            </a:pPr>
            <a:r>
              <a:rPr lang="en-US" sz="1200" i="1" dirty="0">
                <a:solidFill>
                  <a:schemeClr val="tx2"/>
                </a:solidFill>
              </a:rPr>
              <a:t>Una struttura matematica ispirata al cervello, non un cervello in miniatura.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predittiva, discriminativa e generativa</a:t>
            </a:r>
            <a:endParaRPr lang="en-US" sz="260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sp>
      <p:sp>
        <p:nvSpPr>
          <p:cNvPr id="5" name="cerchio FiTrendingUp"/>
          <p:cNvSpPr/>
          <p:nvPr/>
        </p:nvSpPr>
        <p:spPr>
          <a:xfrm>
            <a:off x="640080" y="1280160"/>
            <a:ext cx="457200" cy="457200"/>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Predittiva</a:t>
            </a:r>
            <a:endParaRPr lang="en-US" sz="160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Stima un valore o un evento futuro</a:t>
            </a:r>
            <a:endParaRPr lang="en-US" sz="1300" dirty="0"/>
          </a:p>
          <a:p>
            <a:pPr marL="177800" indent="-177800">
              <a:spcAft>
                <a:spcPts val="300"/>
              </a:spcAft>
              <a:buSzPct val="100000"/>
              <a:buChar char="•"/>
            </a:pPr>
            <a:r>
              <a:rPr lang="en-US" sz="1300" dirty="0">
                <a:solidFill>
                  <a:schemeClr val="tx2"/>
                </a:solidFill>
              </a:rPr>
              <a:t>Vendite del prossimo mese</a:t>
            </a:r>
            <a:endParaRPr lang="en-US" sz="1300" dirty="0"/>
          </a:p>
          <a:p>
            <a:pPr marL="177800" indent="-177800">
              <a:spcAft>
                <a:spcPts val="300"/>
              </a:spcAft>
              <a:buSzPct val="100000"/>
              <a:buChar char="•"/>
            </a:pPr>
            <a:r>
              <a:rPr lang="en-US" sz="1300" dirty="0">
                <a:solidFill>
                  <a:schemeClr val="tx2"/>
                </a:solidFill>
              </a:rPr>
              <a:t>Manutenzione di un macchinario</a:t>
            </a:r>
            <a:endParaRPr lang="en-US" sz="1300" dirty="0"/>
          </a:p>
          <a:p>
            <a:pPr marL="177800" indent="-177800">
              <a:spcAft>
                <a:spcPts val="300"/>
              </a:spcAft>
              <a:buSzPct val="100000"/>
              <a:buChar char="•"/>
            </a:pPr>
            <a:r>
              <a:rPr lang="en-US" sz="1300" dirty="0">
                <a:solidFill>
                  <a:schemeClr val="tx2"/>
                </a:solidFill>
              </a:rPr>
              <a:t>Rischio di abbandono di un cliente</a:t>
            </a:r>
            <a:endParaRPr lang="en-US" sz="130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sp>
      <p:sp>
        <p:nvSpPr>
          <p:cNvPr id="10" name="cerchio FiFilter"/>
          <p:cNvSpPr/>
          <p:nvPr/>
        </p:nvSpPr>
        <p:spPr>
          <a:xfrm>
            <a:off x="3447288" y="1280160"/>
            <a:ext cx="457200" cy="457200"/>
          </a:xfrm>
          <a:prstGeom prst="ellipse">
            <a:avLst/>
          </a:prstGeom>
          <a:solidFill>
            <a:schemeClr val="accent1"/>
          </a:solidFill>
          <a:ln/>
        </p:spPr>
      </p:sp>
      <p:pic>
        <p:nvPicPr>
          <p:cNvPr id="11" name="Image 1" descr="FiFilte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Discriminativa</a:t>
            </a:r>
            <a:endParaRPr lang="en-US" sz="160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Assegna un input a una categoria</a:t>
            </a:r>
            <a:endParaRPr lang="en-US" sz="1300" dirty="0"/>
          </a:p>
          <a:p>
            <a:pPr marL="177800" indent="-177800">
              <a:spcAft>
                <a:spcPts val="300"/>
              </a:spcAft>
              <a:buSzPct val="100000"/>
              <a:buChar char="•"/>
            </a:pPr>
            <a:r>
              <a:rPr lang="en-US" sz="1300" dirty="0">
                <a:solidFill>
                  <a:schemeClr val="tx2"/>
                </a:solidFill>
              </a:rPr>
              <a:t>Spam o non spam</a:t>
            </a:r>
            <a:endParaRPr lang="en-US" sz="1300" dirty="0"/>
          </a:p>
          <a:p>
            <a:pPr marL="177800" indent="-177800">
              <a:spcAft>
                <a:spcPts val="300"/>
              </a:spcAft>
              <a:buSzPct val="100000"/>
              <a:buChar char="•"/>
            </a:pPr>
            <a:r>
              <a:rPr lang="en-US" sz="1300" dirty="0">
                <a:solidFill>
                  <a:schemeClr val="tx2"/>
                </a:solidFill>
              </a:rPr>
              <a:t>Pezzo conforme o difettoso</a:t>
            </a:r>
            <a:endParaRPr lang="en-US" sz="1300" dirty="0"/>
          </a:p>
          <a:p>
            <a:pPr marL="177800" indent="-177800">
              <a:spcAft>
                <a:spcPts val="300"/>
              </a:spcAft>
              <a:buSzPct val="100000"/>
              <a:buChar char="•"/>
            </a:pPr>
            <a:r>
              <a:rPr lang="en-US" sz="1300" dirty="0">
                <a:solidFill>
                  <a:schemeClr val="tx2"/>
                </a:solidFill>
              </a:rPr>
              <a:t>Recensione positiva o negativa</a:t>
            </a:r>
            <a:endParaRPr lang="en-US" sz="130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sp>
      <p:sp>
        <p:nvSpPr>
          <p:cNvPr id="15" name="cerchio FiEdit3"/>
          <p:cNvSpPr/>
          <p:nvPr/>
        </p:nvSpPr>
        <p:spPr>
          <a:xfrm>
            <a:off x="6254496" y="1280160"/>
            <a:ext cx="457200" cy="457200"/>
          </a:xfrm>
          <a:prstGeom prst="ellipse">
            <a:avLst/>
          </a:prstGeom>
          <a:solidFill>
            <a:schemeClr val="accent1"/>
          </a:solidFill>
          <a:ln/>
        </p:spPr>
      </p:sp>
      <p:pic>
        <p:nvPicPr>
          <p:cNvPr id="16" name="Image 2" descr="FiEdit3">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Generativa</a:t>
            </a:r>
            <a:endParaRPr lang="en-US" sz="160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Produce contenuti nuovi</a:t>
            </a:r>
            <a:endParaRPr lang="en-US" sz="1300" dirty="0"/>
          </a:p>
          <a:p>
            <a:pPr marL="177800" indent="-177800">
              <a:spcAft>
                <a:spcPts val="300"/>
              </a:spcAft>
              <a:buSzPct val="100000"/>
              <a:buChar char="•"/>
            </a:pPr>
            <a:r>
              <a:rPr lang="en-US" sz="1300" dirty="0">
                <a:solidFill>
                  <a:schemeClr val="tx2"/>
                </a:solidFill>
              </a:rPr>
              <a:t>Bozza di una email</a:t>
            </a:r>
            <a:endParaRPr lang="en-US" sz="1300" dirty="0"/>
          </a:p>
          <a:p>
            <a:pPr marL="177800" indent="-177800">
              <a:spcAft>
                <a:spcPts val="300"/>
              </a:spcAft>
              <a:buSzPct val="100000"/>
              <a:buChar char="•"/>
            </a:pPr>
            <a:r>
              <a:rPr lang="en-US" sz="1300" dirty="0">
                <a:solidFill>
                  <a:schemeClr val="tx2"/>
                </a:solidFill>
              </a:rPr>
              <a:t>Sintesi di un documento</a:t>
            </a:r>
            <a:endParaRPr lang="en-US" sz="1300" dirty="0"/>
          </a:p>
          <a:p>
            <a:pPr marL="177800" indent="-177800">
              <a:spcAft>
                <a:spcPts val="300"/>
              </a:spcAft>
              <a:buSzPct val="100000"/>
              <a:buChar char="•"/>
            </a:pPr>
            <a:r>
              <a:rPr lang="en-US" sz="1300" dirty="0">
                <a:solidFill>
                  <a:schemeClr val="tx2"/>
                </a:solidFill>
              </a:rPr>
              <a:t>Immagine da una descrizione</a:t>
            </a:r>
            <a:endParaRPr lang="en-US" sz="130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 confini non sono rigidi: le tre funzioni si combinano spesso nello stesso processo.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multimodale</a:t>
            </a:r>
            <a:endParaRPr lang="en-US" sz="260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sp>
      <p:sp>
        <p:nvSpPr>
          <p:cNvPr id="5" name="Text 2"/>
          <p:cNvSpPr txBox="1"/>
          <p:nvPr/>
        </p:nvSpPr>
        <p:spPr>
          <a:xfrm>
            <a:off x="3291840" y="2148840"/>
            <a:ext cx="2560320" cy="1188720"/>
          </a:xfrm>
          <a:prstGeom prst="rect">
            <a:avLst/>
          </a:prstGeom>
          <a:noFill/>
          <a:ln/>
        </p:spPr>
        <p:txBody>
          <a:bodyPr wrap="square" lIns="0" tIns="0" rIns="0" bIns="0" rtlCol="0" anchor="ctr"/>
          <a:lstStyle/>
          <a:p>
            <a:pPr algn="ctr" indent="0" marL="0">
              <a:buNone/>
            </a:pPr>
            <a:r>
              <a:rPr lang="en-US" sz="1600" b="1" dirty="0">
                <a:solidFill>
                  <a:schemeClr val="bg1"/>
                </a:solidFill>
              </a:rPr>
              <a:t>Modello multimodale</a:t>
            </a:r>
            <a:endParaRPr lang="en-US" sz="1600" dirty="0"/>
          </a:p>
        </p:txBody>
      </p:sp>
      <p:sp>
        <p:nvSpPr>
          <p:cNvPr id="6" name="cerchio FiFileText"/>
          <p:cNvSpPr/>
          <p:nvPr/>
        </p:nvSpPr>
        <p:spPr>
          <a:xfrm>
            <a:off x="457200" y="1097280"/>
            <a:ext cx="502920" cy="502920"/>
          </a:xfrm>
          <a:prstGeom prst="ellipse">
            <a:avLst/>
          </a:prstGeom>
          <a:solidFill>
            <a:schemeClr val="accent1"/>
          </a:solidFill>
          <a:ln/>
        </p:spPr>
      </p:sp>
      <p:pic>
        <p:nvPicPr>
          <p:cNvPr id="7" name="Image 0" descr="FiFileText">    </p:cNvPr>
          <p:cNvPicPr>
            <a:picLocks noChangeAspect="1"/>
          </p:cNvPicPr>
          <p:nvPr/>
        </p:nvPicPr>
        <p:blipFill>
          <a:blip r:embed="rId1"/>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Testo</a:t>
            </a:r>
            <a:endParaRPr lang="en-US" sz="1400" dirty="0"/>
          </a:p>
        </p:txBody>
      </p:sp>
      <p:sp>
        <p:nvSpPr>
          <p:cNvPr id="9" name="cerchio FiImage"/>
          <p:cNvSpPr/>
          <p:nvPr/>
        </p:nvSpPr>
        <p:spPr>
          <a:xfrm>
            <a:off x="457200" y="1783080"/>
            <a:ext cx="502920" cy="502920"/>
          </a:xfrm>
          <a:prstGeom prst="ellipse">
            <a:avLst/>
          </a:prstGeom>
          <a:solidFill>
            <a:schemeClr val="accent1"/>
          </a:solidFill>
          <a:ln/>
        </p:spPr>
      </p:sp>
      <p:pic>
        <p:nvPicPr>
          <p:cNvPr id="10" name="Image 1" descr="FiImage">    </p:cNvPr>
          <p:cNvPicPr>
            <a:picLocks noChangeAspect="1"/>
          </p:cNvPicPr>
          <p:nvPr/>
        </p:nvPicPr>
        <p:blipFill>
          <a:blip r:embed="rId2"/>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Immagini</a:t>
            </a:r>
            <a:endParaRPr lang="en-US" sz="1400" dirty="0"/>
          </a:p>
        </p:txBody>
      </p:sp>
      <p:sp>
        <p:nvSpPr>
          <p:cNvPr id="12" name="cerchio FiMic"/>
          <p:cNvSpPr/>
          <p:nvPr/>
        </p:nvSpPr>
        <p:spPr>
          <a:xfrm>
            <a:off x="457200" y="2468880"/>
            <a:ext cx="502920" cy="502920"/>
          </a:xfrm>
          <a:prstGeom prst="ellipse">
            <a:avLst/>
          </a:prstGeom>
          <a:solidFill>
            <a:schemeClr val="accent1"/>
          </a:solidFill>
          <a:ln/>
        </p:spPr>
      </p:sp>
      <p:pic>
        <p:nvPicPr>
          <p:cNvPr id="13" name="Image 2" descr="FiMic">    </p:cNvPr>
          <p:cNvPicPr>
            <a:picLocks noChangeAspect="1"/>
          </p:cNvPicPr>
          <p:nvPr/>
        </p:nvPicPr>
        <p:blipFill>
          <a:blip r:embed="rId3"/>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Audio</a:t>
            </a:r>
            <a:endParaRPr lang="en-US" sz="1400" dirty="0"/>
          </a:p>
        </p:txBody>
      </p:sp>
      <p:sp>
        <p:nvSpPr>
          <p:cNvPr id="15" name="cerchio FiFilm"/>
          <p:cNvSpPr/>
          <p:nvPr/>
        </p:nvSpPr>
        <p:spPr>
          <a:xfrm>
            <a:off x="457200" y="3154680"/>
            <a:ext cx="502920" cy="502920"/>
          </a:xfrm>
          <a:prstGeom prst="ellipse">
            <a:avLst/>
          </a:prstGeom>
          <a:solidFill>
            <a:schemeClr val="accent1"/>
          </a:solidFill>
          <a:ln/>
        </p:spPr>
      </p:sp>
      <p:pic>
        <p:nvPicPr>
          <p:cNvPr id="16" name="Image 3" descr="FiFilm">    </p:cNvPr>
          <p:cNvPicPr>
            <a:picLocks noChangeAspect="1"/>
          </p:cNvPicPr>
          <p:nvPr/>
        </p:nvPicPr>
        <p:blipFill>
          <a:blip r:embed="rId4"/>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Video</a:t>
            </a:r>
            <a:endParaRPr lang="en-US" sz="1400" dirty="0"/>
          </a:p>
        </p:txBody>
      </p:sp>
      <p:sp>
        <p:nvSpPr>
          <p:cNvPr id="18" name="cerchio FiGrid"/>
          <p:cNvSpPr/>
          <p:nvPr/>
        </p:nvSpPr>
        <p:spPr>
          <a:xfrm>
            <a:off x="457200" y="3840480"/>
            <a:ext cx="502920" cy="502920"/>
          </a:xfrm>
          <a:prstGeom prst="ellipse">
            <a:avLst/>
          </a:prstGeom>
          <a:solidFill>
            <a:schemeClr val="accent1"/>
          </a:solidFill>
          <a:ln/>
        </p:spPr>
      </p:sp>
      <p:pic>
        <p:nvPicPr>
          <p:cNvPr id="19" name="Image 4" descr="FiGrid">    </p:cNvPr>
          <p:cNvPicPr>
            <a:picLocks noChangeAspect="1"/>
          </p:cNvPicPr>
          <p:nvPr/>
        </p:nvPicPr>
        <p:blipFill>
          <a:blip r:embed="rId5"/>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Tabelle</a:t>
            </a:r>
            <a:endParaRPr lang="en-US" sz="1400" dirty="0"/>
          </a:p>
        </p:txBody>
      </p:sp>
      <p:sp>
        <p:nvSpPr>
          <p:cNvPr id="21" name="freccia"/>
          <p:cNvSpPr/>
          <p:nvPr/>
        </p:nvSpPr>
        <p:spPr>
          <a:xfrm>
            <a:off x="2377440" y="2596896"/>
            <a:ext cx="731520" cy="292608"/>
          </a:xfrm>
          <a:prstGeom prst="rightArrow">
            <a:avLst/>
          </a:prstGeom>
          <a:solidFill>
            <a:schemeClr val="accent2"/>
          </a:solidFill>
          <a:ln/>
        </p:spPr>
      </p:sp>
      <p:sp>
        <p:nvSpPr>
          <p:cNvPr id="22" name="freccia"/>
          <p:cNvSpPr/>
          <p:nvPr/>
        </p:nvSpPr>
        <p:spPr>
          <a:xfrm>
            <a:off x="6035040" y="2596896"/>
            <a:ext cx="548640" cy="292608"/>
          </a:xfrm>
          <a:prstGeom prst="rightArrow">
            <a:avLst/>
          </a:prstGeom>
          <a:solidFill>
            <a:schemeClr val="accent2"/>
          </a:solidFill>
          <a:ln/>
        </p:spPr>
      </p:sp>
      <p:sp>
        <p:nvSpPr>
          <p:cNvPr id="23" name="Text 15"/>
          <p:cNvSpPr txBox="1"/>
          <p:nvPr/>
        </p:nvSpPr>
        <p:spPr>
          <a:xfrm>
            <a:off x="6720840" y="1097280"/>
            <a:ext cx="1965960" cy="274320"/>
          </a:xfrm>
          <a:prstGeom prst="rect">
            <a:avLst/>
          </a:prstGeom>
          <a:noFill/>
          <a:ln/>
        </p:spPr>
        <p:txBody>
          <a:bodyPr wrap="square" lIns="0" tIns="0" rIns="0" bIns="0" rtlCol="0" anchor="t"/>
          <a:lstStyle/>
          <a:p>
            <a:pPr indent="0" marL="0">
              <a:buNone/>
            </a:pPr>
            <a:r>
              <a:rPr lang="en-US" sz="1400" b="1" dirty="0">
                <a:solidFill>
                  <a:schemeClr val="tx1"/>
                </a:solidFill>
              </a:rPr>
              <a:t>Esempi</a:t>
            </a:r>
            <a:endParaRPr lang="en-US" sz="140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sp>
      <p:sp>
        <p:nvSpPr>
          <p:cNvPr id="25" name="Text 17"/>
          <p:cNvSpPr txBox="1"/>
          <p:nvPr/>
        </p:nvSpPr>
        <p:spPr>
          <a:xfrm>
            <a:off x="6812280" y="1463040"/>
            <a:ext cx="1783080" cy="685800"/>
          </a:xfrm>
          <a:prstGeom prst="rect">
            <a:avLst/>
          </a:prstGeom>
          <a:noFill/>
          <a:ln/>
        </p:spPr>
        <p:txBody>
          <a:bodyPr wrap="square" lIns="0" tIns="0" rIns="0" bIns="0" rtlCol="0" anchor="ctr"/>
          <a:lstStyle/>
          <a:p>
            <a:pPr indent="0" marL="0">
              <a:buNone/>
            </a:pPr>
            <a:r>
              <a:rPr lang="en-US" sz="1200" dirty="0">
                <a:solidFill>
                  <a:schemeClr val="tx1"/>
                </a:solidFill>
              </a:rPr>
              <a:t>Estrarre i dati da un documento fotografato</a:t>
            </a:r>
            <a:endParaRPr lang="en-US" sz="120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sp>
      <p:sp>
        <p:nvSpPr>
          <p:cNvPr id="27" name="Text 19"/>
          <p:cNvSpPr txBox="1"/>
          <p:nvPr/>
        </p:nvSpPr>
        <p:spPr>
          <a:xfrm>
            <a:off x="6812280" y="2240280"/>
            <a:ext cx="1783080" cy="685800"/>
          </a:xfrm>
          <a:prstGeom prst="rect">
            <a:avLst/>
          </a:prstGeom>
          <a:noFill/>
          <a:ln/>
        </p:spPr>
        <p:txBody>
          <a:bodyPr wrap="square" lIns="0" tIns="0" rIns="0" bIns="0" rtlCol="0" anchor="ctr"/>
          <a:lstStyle/>
          <a:p>
            <a:pPr indent="0" marL="0">
              <a:buNone/>
            </a:pPr>
            <a:r>
              <a:rPr lang="en-US" sz="1200" dirty="0">
                <a:solidFill>
                  <a:schemeClr val="tx1"/>
                </a:solidFill>
              </a:rPr>
              <a:t>Commentare un grafico</a:t>
            </a:r>
            <a:endParaRPr lang="en-US" sz="120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sp>
      <p:sp>
        <p:nvSpPr>
          <p:cNvPr id="29" name="Text 21"/>
          <p:cNvSpPr txBox="1"/>
          <p:nvPr/>
        </p:nvSpPr>
        <p:spPr>
          <a:xfrm>
            <a:off x="6812280" y="3017520"/>
            <a:ext cx="1783080" cy="685800"/>
          </a:xfrm>
          <a:prstGeom prst="rect">
            <a:avLst/>
          </a:prstGeom>
          <a:noFill/>
          <a:ln/>
        </p:spPr>
        <p:txBody>
          <a:bodyPr wrap="square" lIns="0" tIns="0" rIns="0" bIns="0" rtlCol="0" anchor="ctr"/>
          <a:lstStyle/>
          <a:p>
            <a:pPr indent="0" marL="0">
              <a:buNone/>
            </a:pPr>
            <a:r>
              <a:rPr lang="en-US" sz="1200" dirty="0">
                <a:solidFill>
                  <a:schemeClr val="tx1"/>
                </a:solidFill>
              </a:rPr>
              <a:t>Dalla registrazione al verbale</a:t>
            </a:r>
            <a:endParaRPr lang="en-US" sz="120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sp>
      <p:sp>
        <p:nvSpPr>
          <p:cNvPr id="31" name="Text 23"/>
          <p:cNvSpPr txBox="1"/>
          <p:nvPr/>
        </p:nvSpPr>
        <p:spPr>
          <a:xfrm>
            <a:off x="6812280" y="3794760"/>
            <a:ext cx="1783080" cy="685800"/>
          </a:xfrm>
          <a:prstGeom prst="rect">
            <a:avLst/>
          </a:prstGeom>
          <a:noFill/>
          <a:ln/>
        </p:spPr>
        <p:txBody>
          <a:bodyPr wrap="square" lIns="0" tIns="0" rIns="0" bIns="0" rtlCol="0" anchor="ctr"/>
          <a:lstStyle/>
          <a:p>
            <a:pPr indent="0" marL="0">
              <a:buNone/>
            </a:pPr>
            <a:r>
              <a:rPr lang="en-US" sz="1200" dirty="0">
                <a:solidFill>
                  <a:schemeClr val="tx1"/>
                </a:solidFill>
              </a:rPr>
              <a:t>Domanda a voce, risposta parlata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Quale approccio per quale problema</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937760"/>
                <a:gridCol w="3291840"/>
              </a:tblGrid>
              <a:tr h="512064">
                <a:tc>
                  <a:txBody>
                    <a:bodyPr/>
                    <a:lstStyle/>
                    <a:p>
                      <a:pPr indent="0" marL="0">
                        <a:buNone/>
                      </a:pPr>
                      <a:r>
                        <a:rPr lang="en-US" sz="1300" b="1" dirty="0">
                          <a:solidFill>
                            <a:schemeClr val="bg1"/>
                          </a:solidFill>
                        </a:rPr>
                        <a:t>Problema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Approccio più adatto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12064">
                <a:tc>
                  <a:txBody>
                    <a:bodyPr/>
                    <a:lstStyle/>
                    <a:p>
                      <a:pPr indent="0" marL="0">
                        <a:buNone/>
                      </a:pPr>
                      <a:r>
                        <a:rPr lang="en-US" sz="1300" b="1" dirty="0">
                          <a:solidFill>
                            <a:schemeClr val="tx1"/>
                          </a:solidFill>
                        </a:rPr>
                        <a:t>Regole chiare e stabili (calcolo di uno sconto contrattuale)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Regole o software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Stimare un valore da dati storici (domanda futura)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Machine Learning predittivo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Riconoscere difetti in immagini di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Deep Learning discriminativo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Scrivere bozze, riassumere, riformulare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Informazioni in forme diverse (foto, scansioni, 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domanda giusta: qual è l'approccio più adatto a questo problema? A volte non è 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Esistono approcci e capacità differenti, adatti a problemi differenti. Le categorie rispondono a criteri diversi e non sono tutte mutuamente esclusive.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2.2  ·  Le principali categorie di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un sistema AI apprende dai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L'addestramento modifica i parametri del modello; l'inferenza usa il modello per elaborare nuovi input</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apprendere dai dati</a:t>
            </a:r>
            <a:endParaRPr lang="en-US" sz="260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indent="0" marL="0">
              <a:buNone/>
            </a:pPr>
            <a:r>
              <a:rPr lang="en-US" sz="1300" b="1" dirty="0">
                <a:solidFill>
                  <a:schemeClr val="tx2"/>
                </a:solidFill>
              </a:rPr>
              <a:t>Migliaia di esempi</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3291840" cy="914400"/>
        </p:xfrm>
        <a:graphic>
          <a:graphicData uri="http://schemas.openxmlformats.org/drawingml/2006/table">
            <a:tbl>
              <a:tblPr/>
              <a:tblGrid>
                <a:gridCol w="914400"/>
                <a:gridCol w="868680"/>
                <a:gridCol w="548640"/>
                <a:gridCol w="960120"/>
              </a:tblGrid>
              <a:tr h="411480">
                <a:tc>
                  <a:txBody>
                    <a:bodyPr/>
                    <a:lstStyle/>
                    <a:p>
                      <a:pPr indent="0" marL="0">
                        <a:buNone/>
                      </a:pPr>
                      <a:r>
                        <a:rPr lang="en-US" sz="1100" b="1" dirty="0">
                          <a:solidFill>
                            <a:schemeClr val="bg1"/>
                          </a:solidFill>
                        </a:rPr>
                        <a:t>Zona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Superficie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Piano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Prezzo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100" b="1" dirty="0">
                          <a:solidFill>
                            <a:schemeClr val="tx1"/>
                          </a:solidFill>
                        </a:rPr>
                        <a:t>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80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320.000 €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Periferia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95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210.000 €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Semicentro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60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195.000 €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6" name="freccia"/>
          <p:cNvSpPr/>
          <p:nvPr/>
        </p:nvSpPr>
        <p:spPr>
          <a:xfrm>
            <a:off x="3886200" y="2240280"/>
            <a:ext cx="457200" cy="292608"/>
          </a:xfrm>
          <a:prstGeom prst="rightArrow">
            <a:avLst/>
          </a:prstGeom>
          <a:solidFill>
            <a:schemeClr val="accent1"/>
          </a:solidFill>
          <a:ln/>
        </p:spPr>
      </p:sp>
      <p:sp>
        <p:nvSpPr>
          <p:cNvPr id="7" name="addestramento"/>
          <p:cNvSpPr/>
          <p:nvPr/>
        </p:nvSpPr>
        <p:spPr>
          <a:xfrm>
            <a:off x="4480560" y="1783080"/>
            <a:ext cx="1737360" cy="1234440"/>
          </a:xfrm>
          <a:prstGeom prst="roundRect">
            <a:avLst>
              <a:gd name="adj" fmla="val 5926"/>
            </a:avLst>
          </a:prstGeom>
          <a:solidFill>
            <a:schemeClr val="accent1"/>
          </a:solidFill>
          <a:ln/>
        </p:spPr>
      </p:sp>
      <p:sp>
        <p:nvSpPr>
          <p:cNvPr id="8" name="Text 4"/>
          <p:cNvSpPr txBox="1"/>
          <p:nvPr/>
        </p:nvSpPr>
        <p:spPr>
          <a:xfrm>
            <a:off x="4526280" y="1783080"/>
            <a:ext cx="1645920" cy="548640"/>
          </a:xfrm>
          <a:prstGeom prst="rect">
            <a:avLst/>
          </a:prstGeom>
          <a:noFill/>
          <a:ln/>
        </p:spPr>
        <p:txBody>
          <a:bodyPr wrap="square" lIns="0" tIns="0" rIns="0" bIns="0" rtlCol="0" anchor="b"/>
          <a:lstStyle/>
          <a:p>
            <a:pPr algn="ctr" indent="0" marL="0">
              <a:buNone/>
            </a:pPr>
            <a:r>
              <a:rPr lang="en-US" sz="1400" b="1" dirty="0">
                <a:solidFill>
                  <a:schemeClr val="bg1"/>
                </a:solidFill>
              </a:rPr>
              <a:t>Addestramento</a:t>
            </a:r>
            <a:endParaRPr lang="en-US" sz="140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algn="ctr" indent="0" marL="0">
              <a:buNone/>
            </a:pPr>
            <a:r>
              <a:rPr lang="en-US" sz="1100" dirty="0">
                <a:solidFill>
                  <a:schemeClr val="bg1"/>
                </a:solidFill>
              </a:rPr>
              <a:t>cerca la relazione tra caratteristiche e prezzo</a:t>
            </a:r>
            <a:endParaRPr lang="en-US" sz="1100" dirty="0"/>
          </a:p>
        </p:txBody>
      </p:sp>
      <p:sp>
        <p:nvSpPr>
          <p:cNvPr id="10" name="freccia"/>
          <p:cNvSpPr/>
          <p:nvPr/>
        </p:nvSpPr>
        <p:spPr>
          <a:xfrm>
            <a:off x="6355080" y="2240280"/>
            <a:ext cx="457200" cy="292608"/>
          </a:xfrm>
          <a:prstGeom prst="rightArrow">
            <a:avLst/>
          </a:prstGeom>
          <a:solidFill>
            <a:schemeClr val="accent1"/>
          </a:solidFill>
          <a:ln/>
        </p:spPr>
      </p:sp>
      <p:sp>
        <p:nvSpPr>
          <p:cNvPr id="11" name="modello"/>
          <p:cNvSpPr/>
          <p:nvPr/>
        </p:nvSpPr>
        <p:spPr>
          <a:xfrm>
            <a:off x="6949440" y="1783080"/>
            <a:ext cx="1737360" cy="1234440"/>
          </a:xfrm>
          <a:prstGeom prst="roundRect">
            <a:avLst>
              <a:gd name="adj" fmla="val 5926"/>
            </a:avLst>
          </a:prstGeom>
          <a:solidFill>
            <a:schemeClr val="accent6"/>
          </a:solidFill>
          <a:ln/>
        </p:spPr>
      </p:sp>
      <p:sp>
        <p:nvSpPr>
          <p:cNvPr id="12" name="Text 8"/>
          <p:cNvSpPr txBox="1"/>
          <p:nvPr/>
        </p:nvSpPr>
        <p:spPr>
          <a:xfrm>
            <a:off x="6995160" y="1783080"/>
            <a:ext cx="1645920" cy="548640"/>
          </a:xfrm>
          <a:prstGeom prst="rect">
            <a:avLst/>
          </a:prstGeom>
          <a:noFill/>
          <a:ln/>
        </p:spPr>
        <p:txBody>
          <a:bodyPr wrap="square" lIns="0" tIns="0" rIns="0" bIns="0" rtlCol="0" anchor="b"/>
          <a:lstStyle/>
          <a:p>
            <a:pPr algn="ctr" indent="0" marL="0">
              <a:buNone/>
            </a:pPr>
            <a:r>
              <a:rPr lang="en-US" sz="1400" b="1" dirty="0">
                <a:solidFill>
                  <a:schemeClr val="tx1"/>
                </a:solidFill>
              </a:rPr>
              <a:t>Modello</a:t>
            </a:r>
            <a:endParaRPr lang="en-US" sz="140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algn="ctr" indent="0" marL="0">
              <a:buNone/>
            </a:pPr>
            <a:r>
              <a:rPr lang="en-US" sz="1100" dirty="0">
                <a:solidFill>
                  <a:schemeClr val="tx2"/>
                </a:solidFill>
              </a:rPr>
              <a:t>applicabile a un appartamento nuovo</a:t>
            </a:r>
            <a:endParaRPr lang="en-US" sz="1100" dirty="0"/>
          </a:p>
        </p:txBody>
      </p:sp>
      <p:sp>
        <p:nvSpPr>
          <p:cNvPr id="14" name="nota"/>
          <p:cNvSpPr/>
          <p:nvPr/>
        </p:nvSpPr>
        <p:spPr>
          <a:xfrm>
            <a:off x="4480560" y="3429000"/>
            <a:ext cx="4206240" cy="1097280"/>
          </a:xfrm>
          <a:prstGeom prst="roundRect">
            <a:avLst>
              <a:gd name="adj" fmla="val 6667"/>
            </a:avLst>
          </a:prstGeom>
          <a:solidFill>
            <a:schemeClr val="bg2"/>
          </a:solidFill>
          <a:ln/>
        </p:spPr>
      </p:sp>
      <p:sp>
        <p:nvSpPr>
          <p:cNvPr id="15" name="cerchio FiAlertCircle"/>
          <p:cNvSpPr/>
          <p:nvPr/>
        </p:nvSpPr>
        <p:spPr>
          <a:xfrm>
            <a:off x="4663440" y="3721608"/>
            <a:ext cx="502920" cy="502920"/>
          </a:xfrm>
          <a:prstGeom prst="ellipse">
            <a:avLst/>
          </a:prstGeom>
          <a:solidFill>
            <a:schemeClr val="accent2"/>
          </a:solidFill>
          <a:ln/>
        </p:spPr>
      </p:sp>
      <p:pic>
        <p:nvPicPr>
          <p:cNvPr id="16" name="Image 0" descr="FiAlertCircle">    </p:cNvPr>
          <p:cNvPicPr>
            <a:picLocks noChangeAspect="1"/>
          </p:cNvPicPr>
          <p:nvPr/>
        </p:nvPicPr>
        <p:blipFill>
          <a:blip r:embed="rId1"/>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indent="0" marL="0">
              <a:buNone/>
            </a:pPr>
            <a:r>
              <a:rPr lang="en-US" sz="1300" dirty="0">
                <a:solidFill>
                  <a:schemeClr val="tx1"/>
                </a:solidFill>
              </a:rPr>
              <a:t>Il modello individua regolarità numeriche: se nei dati mancano certi casi, non saprà valutarli bene.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di addestramento ed esempi</a:t>
            </a:r>
            <a:endParaRPr lang="en-US" sz="260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sp>
      <p:sp>
        <p:nvSpPr>
          <p:cNvPr id="5" name="cerchio FiTag"/>
          <p:cNvSpPr/>
          <p:nvPr/>
        </p:nvSpPr>
        <p:spPr>
          <a:xfrm>
            <a:off x="640080" y="1280160"/>
            <a:ext cx="457200" cy="457200"/>
          </a:xfrm>
          <a:prstGeom prst="ellipse">
            <a:avLst/>
          </a:prstGeom>
          <a:solidFill>
            <a:schemeClr val="accent1"/>
          </a:solidFill>
          <a:ln/>
        </p:spPr>
      </p:sp>
      <p:pic>
        <p:nvPicPr>
          <p:cNvPr id="6" name="Image 0" descr="FiTag">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Supervisionato</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Esempi con la risposta corretta (etichetta)</a:t>
            </a:r>
            <a:endParaRPr lang="en-US" sz="1300" dirty="0"/>
          </a:p>
          <a:p>
            <a:pPr indent="0" marL="0">
              <a:buNone/>
            </a:pPr>
            <a:r>
              <a:rPr lang="en-US" sz="1300" dirty="0">
                <a:solidFill>
                  <a:schemeClr val="tx2"/>
                </a:solidFill>
              </a:rPr>
              <a:t>Esempio: Email spam o non spam, pezzi conformi o difettosi</a:t>
            </a:r>
            <a:endParaRPr lang="en-US" sz="130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sp>
      <p:sp>
        <p:nvSpPr>
          <p:cNvPr id="10" name="cerchio FiShuffle"/>
          <p:cNvSpPr/>
          <p:nvPr/>
        </p:nvSpPr>
        <p:spPr>
          <a:xfrm>
            <a:off x="3447288" y="1280160"/>
            <a:ext cx="457200" cy="457200"/>
          </a:xfrm>
          <a:prstGeom prst="ellipse">
            <a:avLst/>
          </a:prstGeom>
          <a:solidFill>
            <a:schemeClr val="accent1"/>
          </a:solidFill>
          <a:ln/>
        </p:spPr>
      </p:sp>
      <p:pic>
        <p:nvPicPr>
          <p:cNvPr id="11" name="Image 1" descr="FiShuffl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Non supervisionato</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Nessuna etichetta: il sistema cerca strutture</a:t>
            </a:r>
            <a:endParaRPr lang="en-US" sz="1300" dirty="0"/>
          </a:p>
          <a:p>
            <a:pPr indent="0" marL="0">
              <a:buNone/>
            </a:pPr>
            <a:r>
              <a:rPr lang="en-US" sz="1300" dirty="0">
                <a:solidFill>
                  <a:schemeClr val="tx2"/>
                </a:solidFill>
              </a:rPr>
              <a:t>Esempio: Gruppi di clienti con comportamenti simili</a:t>
            </a:r>
            <a:endParaRPr lang="en-US" sz="130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sp>
      <p:sp>
        <p:nvSpPr>
          <p:cNvPr id="15" name="cerchio FiAward"/>
          <p:cNvSpPr/>
          <p:nvPr/>
        </p:nvSpPr>
        <p:spPr>
          <a:xfrm>
            <a:off x="6254496" y="1280160"/>
            <a:ext cx="457200" cy="457200"/>
          </a:xfrm>
          <a:prstGeom prst="ellipse">
            <a:avLst/>
          </a:prstGeom>
          <a:solidFill>
            <a:schemeClr val="accent1"/>
          </a:solidFill>
          <a:ln/>
        </p:spPr>
      </p:sp>
      <p:pic>
        <p:nvPicPr>
          <p:cNvPr id="16"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Per rinforzo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Impara per tentativi, con segnali positivi o negativi</a:t>
            </a:r>
            <a:endParaRPr lang="en-US" sz="1300" dirty="0"/>
          </a:p>
          <a:p>
            <a:pPr indent="0" marL="0">
              <a:buNone/>
            </a:pPr>
            <a:r>
              <a:rPr lang="en-US" sz="1300" dirty="0">
                <a:solidFill>
                  <a:schemeClr val="tx2"/>
                </a:solidFill>
              </a:rPr>
              <a:t>Esempio: Giochi, robotica, affinamento dei modelli linguistici</a:t>
            </a:r>
            <a:endParaRPr lang="en-US" sz="1300" dirty="0"/>
          </a:p>
        </p:txBody>
      </p:sp>
      <p:sp>
        <p:nvSpPr>
          <p:cNvPr id="19" name="principio dati"/>
          <p:cNvSpPr/>
          <p:nvPr/>
        </p:nvSpPr>
        <p:spPr>
          <a:xfrm>
            <a:off x="457200" y="3749040"/>
            <a:ext cx="8229600" cy="777240"/>
          </a:xfrm>
          <a:prstGeom prst="roundRect">
            <a:avLst>
              <a:gd name="adj" fmla="val 9412"/>
            </a:avLst>
          </a:prstGeom>
          <a:solidFill>
            <a:schemeClr val="tx1"/>
          </a:solidFill>
          <a:ln/>
        </p:spPr>
      </p:sp>
      <p:sp>
        <p:nvSpPr>
          <p:cNvPr id="20" name="cerchio FiDatabase"/>
          <p:cNvSpPr/>
          <p:nvPr/>
        </p:nvSpPr>
        <p:spPr>
          <a:xfrm>
            <a:off x="640080" y="3877056"/>
            <a:ext cx="512064" cy="512064"/>
          </a:xfrm>
          <a:prstGeom prst="ellipse">
            <a:avLst/>
          </a:prstGeom>
          <a:solidFill>
            <a:schemeClr val="accent1"/>
          </a:solidFill>
          <a:ln/>
        </p:spPr>
      </p:sp>
      <p:pic>
        <p:nvPicPr>
          <p:cNvPr id="21" name="Image 3" descr="FiDatabase">    </p:cNvPr>
          <p:cNvPicPr>
            <a:picLocks noChangeAspect="1"/>
          </p:cNvPicPr>
          <p:nvPr/>
        </p:nvPicPr>
        <p:blipFill>
          <a:blip r:embed="rId4"/>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500" dirty="0">
                <a:solidFill>
                  <a:schemeClr val="bg1"/>
                </a:solidFill>
              </a:rPr>
              <a:t>Un modello può essere buono solo quanto gli esempi da cui ha imparato.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Individuare schemi e regolarità (es. Spam)</a:t>
            </a:r>
            <a:endParaRPr lang="en-US" sz="2600" dirty="0"/>
          </a:p>
        </p:txBody>
      </p:sp>
      <p:sp>
        <p:nvSpPr>
          <p:cNvPr id="4" name="Text 1"/>
          <p:cNvSpPr txBox="1"/>
          <p:nvPr/>
        </p:nvSpPr>
        <p:spPr>
          <a:xfrm>
            <a:off x="457200" y="1051560"/>
            <a:ext cx="4206240" cy="320040"/>
          </a:xfrm>
          <a:prstGeom prst="rect">
            <a:avLst/>
          </a:prstGeom>
          <a:noFill/>
          <a:ln/>
        </p:spPr>
        <p:txBody>
          <a:bodyPr wrap="square" lIns="0" tIns="0" rIns="0" bIns="0" rtlCol="0" anchor="t"/>
          <a:lstStyle/>
          <a:p>
            <a:pPr indent="0" marL="0">
              <a:buNone/>
            </a:pPr>
            <a:r>
              <a:rPr lang="en-US" sz="1400" b="1" dirty="0">
                <a:solidFill>
                  <a:schemeClr val="tx1"/>
                </a:solidFill>
              </a:rPr>
              <a:t>Segnali che il sistema impara a pesare</a:t>
            </a:r>
            <a:endParaRPr lang="en-US" sz="1400" dirty="0"/>
          </a:p>
        </p:txBody>
      </p:sp>
      <p:sp>
        <p:nvSpPr>
          <p:cNvPr id="5" name="Text 2"/>
          <p:cNvSpPr txBox="1"/>
          <p:nvPr/>
        </p:nvSpPr>
        <p:spPr>
          <a:xfrm>
            <a:off x="457200" y="1463040"/>
            <a:ext cx="2194560" cy="411480"/>
          </a:xfrm>
          <a:prstGeom prst="rect">
            <a:avLst/>
          </a:prstGeom>
          <a:noFill/>
          <a:ln/>
        </p:spPr>
        <p:txBody>
          <a:bodyPr wrap="square" lIns="0" tIns="0" rIns="0" bIns="0" rtlCol="0" anchor="ctr"/>
          <a:lstStyle/>
          <a:p>
            <a:pPr indent="0" marL="0">
              <a:buNone/>
            </a:pPr>
            <a:r>
              <a:rPr lang="en-US" sz="1300" dirty="0">
                <a:solidFill>
                  <a:schemeClr val="tx1"/>
                </a:solidFill>
              </a:rPr>
              <a:t>"gratis", "urgente"</a:t>
            </a:r>
            <a:endParaRPr lang="en-US" sz="1300" dirty="0"/>
          </a:p>
        </p:txBody>
      </p:sp>
      <p:sp>
        <p:nvSpPr>
          <p:cNvPr id="6" name="barra base"/>
          <p:cNvSpPr/>
          <p:nvPr/>
        </p:nvSpPr>
        <p:spPr>
          <a:xfrm>
            <a:off x="2743200" y="1572768"/>
            <a:ext cx="1828800" cy="201168"/>
          </a:xfrm>
          <a:prstGeom prst="rect">
            <a:avLst/>
          </a:prstGeom>
          <a:solidFill>
            <a:schemeClr val="bg2"/>
          </a:solidFill>
          <a:ln/>
        </p:spPr>
      </p:sp>
      <p:sp>
        <p:nvSpPr>
          <p:cNvPr id="7" name="barra peso"/>
          <p:cNvSpPr/>
          <p:nvPr/>
        </p:nvSpPr>
        <p:spPr>
          <a:xfrm>
            <a:off x="2743200" y="1572768"/>
            <a:ext cx="1133856" cy="201168"/>
          </a:xfrm>
          <a:prstGeom prst="rect">
            <a:avLst/>
          </a:prstGeom>
          <a:solidFill>
            <a:schemeClr val="accent1"/>
          </a:solidFill>
          <a:ln/>
        </p:spPr>
      </p:sp>
      <p:sp>
        <p:nvSpPr>
          <p:cNvPr id="8" name="Text 5"/>
          <p:cNvSpPr txBox="1"/>
          <p:nvPr/>
        </p:nvSpPr>
        <p:spPr>
          <a:xfrm>
            <a:off x="457200" y="2011680"/>
            <a:ext cx="2194560" cy="411480"/>
          </a:xfrm>
          <a:prstGeom prst="rect">
            <a:avLst/>
          </a:prstGeom>
          <a:noFill/>
          <a:ln/>
        </p:spPr>
        <p:txBody>
          <a:bodyPr wrap="square" lIns="0" tIns="0" rIns="0" bIns="0" rtlCol="0" anchor="ctr"/>
          <a:lstStyle/>
          <a:p>
            <a:pPr indent="0" marL="0">
              <a:buNone/>
            </a:pPr>
            <a:r>
              <a:rPr lang="en-US" sz="1300" dirty="0">
                <a:solidFill>
                  <a:schemeClr val="tx1"/>
                </a:solidFill>
              </a:rPr>
              <a:t>Link a domini sconosciuti</a:t>
            </a:r>
            <a:endParaRPr lang="en-US" sz="1300" dirty="0"/>
          </a:p>
        </p:txBody>
      </p:sp>
      <p:sp>
        <p:nvSpPr>
          <p:cNvPr id="9" name="barra base"/>
          <p:cNvSpPr/>
          <p:nvPr/>
        </p:nvSpPr>
        <p:spPr>
          <a:xfrm>
            <a:off x="2743200" y="2121408"/>
            <a:ext cx="1828800" cy="201168"/>
          </a:xfrm>
          <a:prstGeom prst="rect">
            <a:avLst/>
          </a:prstGeom>
          <a:solidFill>
            <a:schemeClr val="bg2"/>
          </a:solidFill>
          <a:ln/>
        </p:spPr>
      </p:sp>
      <p:sp>
        <p:nvSpPr>
          <p:cNvPr id="10" name="barra peso"/>
          <p:cNvSpPr/>
          <p:nvPr/>
        </p:nvSpPr>
        <p:spPr>
          <a:xfrm>
            <a:off x="2743200" y="2121408"/>
            <a:ext cx="1463040" cy="201168"/>
          </a:xfrm>
          <a:prstGeom prst="rect">
            <a:avLst/>
          </a:prstGeom>
          <a:solidFill>
            <a:schemeClr val="accent1"/>
          </a:solidFill>
          <a:ln/>
        </p:spPr>
      </p:sp>
      <p:sp>
        <p:nvSpPr>
          <p:cNvPr id="11" name="Text 8"/>
          <p:cNvSpPr txBox="1"/>
          <p:nvPr/>
        </p:nvSpPr>
        <p:spPr>
          <a:xfrm>
            <a:off x="457200" y="2560320"/>
            <a:ext cx="2194560" cy="411480"/>
          </a:xfrm>
          <a:prstGeom prst="rect">
            <a:avLst/>
          </a:prstGeom>
          <a:noFill/>
          <a:ln/>
        </p:spPr>
        <p:txBody>
          <a:bodyPr wrap="square" lIns="0" tIns="0" rIns="0" bIns="0" rtlCol="0" anchor="ctr"/>
          <a:lstStyle/>
          <a:p>
            <a:pPr indent="0" marL="0">
              <a:buNone/>
            </a:pPr>
            <a:r>
              <a:rPr lang="en-US" sz="1300" dirty="0">
                <a:solidFill>
                  <a:schemeClr val="tx1"/>
                </a:solidFill>
              </a:rPr>
              <a:t>Mittente mai visto</a:t>
            </a:r>
            <a:endParaRPr lang="en-US" sz="1300" dirty="0"/>
          </a:p>
        </p:txBody>
      </p:sp>
      <p:sp>
        <p:nvSpPr>
          <p:cNvPr id="12" name="barra base"/>
          <p:cNvSpPr/>
          <p:nvPr/>
        </p:nvSpPr>
        <p:spPr>
          <a:xfrm>
            <a:off x="2743200" y="2670048"/>
            <a:ext cx="1828800" cy="201168"/>
          </a:xfrm>
          <a:prstGeom prst="rect">
            <a:avLst/>
          </a:prstGeom>
          <a:solidFill>
            <a:schemeClr val="bg2"/>
          </a:solidFill>
          <a:ln/>
        </p:spPr>
      </p:sp>
      <p:sp>
        <p:nvSpPr>
          <p:cNvPr id="13" name="barra peso"/>
          <p:cNvSpPr/>
          <p:nvPr/>
        </p:nvSpPr>
        <p:spPr>
          <a:xfrm>
            <a:off x="2743200" y="2670048"/>
            <a:ext cx="1005840" cy="201168"/>
          </a:xfrm>
          <a:prstGeom prst="rect">
            <a:avLst/>
          </a:prstGeom>
          <a:solidFill>
            <a:schemeClr val="accent1"/>
          </a:solidFill>
          <a:ln/>
        </p:spPr>
      </p:sp>
      <p:sp>
        <p:nvSpPr>
          <p:cNvPr id="14" name="Text 11"/>
          <p:cNvSpPr txBox="1"/>
          <p:nvPr/>
        </p:nvSpPr>
        <p:spPr>
          <a:xfrm>
            <a:off x="457200" y="3108960"/>
            <a:ext cx="2194560" cy="411480"/>
          </a:xfrm>
          <a:prstGeom prst="rect">
            <a:avLst/>
          </a:prstGeom>
          <a:noFill/>
          <a:ln/>
        </p:spPr>
        <p:txBody>
          <a:bodyPr wrap="square" lIns="0" tIns="0" rIns="0" bIns="0" rtlCol="0" anchor="ctr"/>
          <a:lstStyle/>
          <a:p>
            <a:pPr indent="0" marL="0">
              <a:buNone/>
            </a:pPr>
            <a:r>
              <a:rPr lang="en-US" sz="1300" dirty="0">
                <a:solidFill>
                  <a:schemeClr val="tx1"/>
                </a:solidFill>
              </a:rPr>
              <a:t>Molti punti esclamativi</a:t>
            </a:r>
            <a:endParaRPr lang="en-US" sz="1300" dirty="0"/>
          </a:p>
        </p:txBody>
      </p:sp>
      <p:sp>
        <p:nvSpPr>
          <p:cNvPr id="15" name="barra base"/>
          <p:cNvSpPr/>
          <p:nvPr/>
        </p:nvSpPr>
        <p:spPr>
          <a:xfrm>
            <a:off x="2743200" y="3218688"/>
            <a:ext cx="1828800" cy="201168"/>
          </a:xfrm>
          <a:prstGeom prst="rect">
            <a:avLst/>
          </a:prstGeom>
          <a:solidFill>
            <a:schemeClr val="bg2"/>
          </a:solidFill>
          <a:ln/>
        </p:spPr>
      </p:sp>
      <p:sp>
        <p:nvSpPr>
          <p:cNvPr id="16" name="barra peso"/>
          <p:cNvSpPr/>
          <p:nvPr/>
        </p:nvSpPr>
        <p:spPr>
          <a:xfrm>
            <a:off x="2743200" y="3218688"/>
            <a:ext cx="731520" cy="201168"/>
          </a:xfrm>
          <a:prstGeom prst="rect">
            <a:avLst/>
          </a:prstGeom>
          <a:solidFill>
            <a:schemeClr val="accent1"/>
          </a:solidFill>
          <a:ln/>
        </p:spPr>
      </p:sp>
      <p:sp>
        <p:nvSpPr>
          <p:cNvPr id="17" name="Text 14"/>
          <p:cNvSpPr txBox="1"/>
          <p:nvPr/>
        </p:nvSpPr>
        <p:spPr>
          <a:xfrm>
            <a:off x="457200" y="3657600"/>
            <a:ext cx="2194560" cy="411480"/>
          </a:xfrm>
          <a:prstGeom prst="rect">
            <a:avLst/>
          </a:prstGeom>
          <a:noFill/>
          <a:ln/>
        </p:spPr>
        <p:txBody>
          <a:bodyPr wrap="square" lIns="0" tIns="0" rIns="0" bIns="0" rtlCol="0" anchor="ctr"/>
          <a:lstStyle/>
          <a:p>
            <a:pPr indent="0" marL="0">
              <a:buNone/>
            </a:pPr>
            <a:r>
              <a:rPr lang="en-US" sz="1300" dirty="0">
                <a:solidFill>
                  <a:schemeClr val="tx1"/>
                </a:solidFill>
              </a:rPr>
              <a:t>Richiesta di dati personali</a:t>
            </a:r>
            <a:endParaRPr lang="en-US" sz="1300" dirty="0"/>
          </a:p>
        </p:txBody>
      </p:sp>
      <p:sp>
        <p:nvSpPr>
          <p:cNvPr id="18" name="barra base"/>
          <p:cNvSpPr/>
          <p:nvPr/>
        </p:nvSpPr>
        <p:spPr>
          <a:xfrm>
            <a:off x="2743200" y="3767328"/>
            <a:ext cx="1828800" cy="201168"/>
          </a:xfrm>
          <a:prstGeom prst="rect">
            <a:avLst/>
          </a:prstGeom>
          <a:solidFill>
            <a:schemeClr val="bg2"/>
          </a:solidFill>
          <a:ln/>
        </p:spPr>
      </p:sp>
      <p:sp>
        <p:nvSpPr>
          <p:cNvPr id="19" name="barra peso"/>
          <p:cNvSpPr/>
          <p:nvPr/>
        </p:nvSpPr>
        <p:spPr>
          <a:xfrm>
            <a:off x="2743200" y="3767328"/>
            <a:ext cx="1645920" cy="201168"/>
          </a:xfrm>
          <a:prstGeom prst="rect">
            <a:avLst/>
          </a:prstGeom>
          <a:solidFill>
            <a:schemeClr val="accent1"/>
          </a:solidFill>
          <a:ln/>
        </p:spPr>
      </p:sp>
      <p:sp>
        <p:nvSpPr>
          <p:cNvPr id="20" name="Text 17"/>
          <p:cNvSpPr txBox="1"/>
          <p:nvPr/>
        </p:nvSpPr>
        <p:spPr>
          <a:xfrm>
            <a:off x="2743200" y="4206240"/>
            <a:ext cx="1828800" cy="274320"/>
          </a:xfrm>
          <a:prstGeom prst="rect">
            <a:avLst/>
          </a:prstGeom>
          <a:noFill/>
          <a:ln/>
        </p:spPr>
        <p:txBody>
          <a:bodyPr wrap="square" lIns="0" tIns="0" rIns="0" bIns="0" rtlCol="0" anchor="t"/>
          <a:lstStyle/>
          <a:p>
            <a:pPr indent="0" marL="0">
              <a:buNone/>
            </a:pPr>
            <a:r>
              <a:rPr lang="en-US" sz="1000" i="1" dirty="0">
                <a:solidFill>
                  <a:schemeClr val="accent2"/>
                </a:solidFill>
              </a:rPr>
              <a:t>Pesi illustrativi</a:t>
            </a:r>
            <a:endParaRPr lang="en-US" sz="1000" dirty="0"/>
          </a:p>
        </p:txBody>
      </p:sp>
      <p:sp>
        <p:nvSpPr>
          <p:cNvPr id="21" name="cerchio FiPercent"/>
          <p:cNvSpPr/>
          <p:nvPr/>
        </p:nvSpPr>
        <p:spPr>
          <a:xfrm>
            <a:off x="5029200" y="1143000"/>
            <a:ext cx="457200" cy="457200"/>
          </a:xfrm>
          <a:prstGeom prst="ellipse">
            <a:avLst/>
          </a:prstGeom>
          <a:solidFill>
            <a:schemeClr val="accent1"/>
          </a:solidFill>
          <a:ln/>
        </p:spPr>
      </p:sp>
      <p:pic>
        <p:nvPicPr>
          <p:cNvPr id="22" name="Image 0" descr="FiPercent">    </p:cNvPr>
          <p:cNvPicPr>
            <a:picLocks noChangeAspect="1"/>
          </p:cNvPicPr>
          <p:nvPr/>
        </p:nvPicPr>
        <p:blipFill>
          <a:blip r:embed="rId1"/>
          <a:stretch>
            <a:fillRect/>
          </a:stretch>
        </p:blipFill>
        <p:spPr>
          <a:xfrm>
            <a:off x="5143500" y="1257300"/>
            <a:ext cx="228600" cy="228600"/>
          </a:xfrm>
          <a:prstGeom prst="rect">
            <a:avLst/>
          </a:prstGeom>
        </p:spPr>
      </p:pic>
      <p:sp>
        <p:nvSpPr>
          <p:cNvPr id="23" name="Text 19"/>
          <p:cNvSpPr txBox="1"/>
          <p:nvPr/>
        </p:nvSpPr>
        <p:spPr>
          <a:xfrm>
            <a:off x="5623560" y="1115568"/>
            <a:ext cx="3063240" cy="292608"/>
          </a:xfrm>
          <a:prstGeom prst="rect">
            <a:avLst/>
          </a:prstGeom>
          <a:noFill/>
          <a:ln/>
        </p:spPr>
        <p:txBody>
          <a:bodyPr wrap="square" lIns="0" tIns="0" rIns="0" bIns="0" rtlCol="0" anchor="t"/>
          <a:lstStyle/>
          <a:p>
            <a:pPr indent="0" marL="0">
              <a:buNone/>
            </a:pPr>
            <a:r>
              <a:rPr lang="en-US" sz="1400" b="1" dirty="0">
                <a:solidFill>
                  <a:schemeClr val="tx1"/>
                </a:solidFill>
              </a:rPr>
              <a:t>Statistiche, non assolute</a:t>
            </a:r>
            <a:endParaRPr lang="en-US" sz="1400" dirty="0"/>
          </a:p>
        </p:txBody>
      </p:sp>
      <p:sp>
        <p:nvSpPr>
          <p:cNvPr id="24" name="Text 20"/>
          <p:cNvSpPr txBox="1"/>
          <p:nvPr/>
        </p:nvSpPr>
        <p:spPr>
          <a:xfrm>
            <a:off x="5623560" y="1417320"/>
            <a:ext cx="3063240" cy="548640"/>
          </a:xfrm>
          <a:prstGeom prst="rect">
            <a:avLst/>
          </a:prstGeom>
          <a:noFill/>
          <a:ln/>
        </p:spPr>
        <p:txBody>
          <a:bodyPr wrap="square" lIns="0" tIns="0" rIns="0" bIns="0" rtlCol="0" anchor="t"/>
          <a:lstStyle/>
          <a:p>
            <a:pPr indent="0" marL="0">
              <a:buNone/>
            </a:pPr>
            <a:r>
              <a:rPr lang="en-US" sz="1200" dirty="0">
                <a:solidFill>
                  <a:schemeClr val="tx2"/>
                </a:solidFill>
              </a:rPr>
              <a:t>Indicano probabilità, non certezze</a:t>
            </a:r>
            <a:endParaRPr lang="en-US" sz="1200" dirty="0"/>
          </a:p>
        </p:txBody>
      </p:sp>
      <p:sp>
        <p:nvSpPr>
          <p:cNvPr id="25" name="cerchio FiLayers"/>
          <p:cNvSpPr/>
          <p:nvPr/>
        </p:nvSpPr>
        <p:spPr>
          <a:xfrm>
            <a:off x="5029200" y="2258568"/>
            <a:ext cx="457200" cy="457200"/>
          </a:xfrm>
          <a:prstGeom prst="ellipse">
            <a:avLst/>
          </a:prstGeom>
          <a:solidFill>
            <a:schemeClr val="accent1"/>
          </a:solidFill>
          <a:ln/>
        </p:spPr>
      </p:sp>
      <p:pic>
        <p:nvPicPr>
          <p:cNvPr id="26" name="Image 1" descr="FiLayers">    </p:cNvPr>
          <p:cNvPicPr>
            <a:picLocks noChangeAspect="1"/>
          </p:cNvPicPr>
          <p:nvPr/>
        </p:nvPicPr>
        <p:blipFill>
          <a:blip r:embed="rId2"/>
          <a:stretch>
            <a:fillRect/>
          </a:stretch>
        </p:blipFill>
        <p:spPr>
          <a:xfrm>
            <a:off x="5143500" y="2372868"/>
            <a:ext cx="228600" cy="228600"/>
          </a:xfrm>
          <a:prstGeom prst="rect">
            <a:avLst/>
          </a:prstGeom>
        </p:spPr>
      </p:pic>
      <p:sp>
        <p:nvSpPr>
          <p:cNvPr id="27" name="Text 22"/>
          <p:cNvSpPr txBox="1"/>
          <p:nvPr/>
        </p:nvSpPr>
        <p:spPr>
          <a:xfrm>
            <a:off x="5623560" y="2231136"/>
            <a:ext cx="3063240" cy="292608"/>
          </a:xfrm>
          <a:prstGeom prst="rect">
            <a:avLst/>
          </a:prstGeom>
          <a:noFill/>
          <a:ln/>
        </p:spPr>
        <p:txBody>
          <a:bodyPr wrap="square" lIns="0" tIns="0" rIns="0" bIns="0" rtlCol="0" anchor="t"/>
          <a:lstStyle/>
          <a:p>
            <a:pPr indent="0" marL="0">
              <a:buNone/>
            </a:pPr>
            <a:r>
              <a:rPr lang="en-US" sz="1400" b="1" dirty="0">
                <a:solidFill>
                  <a:schemeClr val="tx1"/>
                </a:solidFill>
              </a:rPr>
              <a:t>Combinazioni complesse</a:t>
            </a:r>
            <a:endParaRPr lang="en-US" sz="1400" dirty="0"/>
          </a:p>
        </p:txBody>
      </p:sp>
      <p:sp>
        <p:nvSpPr>
          <p:cNvPr id="28" name="Text 23"/>
          <p:cNvSpPr txBox="1"/>
          <p:nvPr/>
        </p:nvSpPr>
        <p:spPr>
          <a:xfrm>
            <a:off x="5623560" y="2532888"/>
            <a:ext cx="3063240" cy="548640"/>
          </a:xfrm>
          <a:prstGeom prst="rect">
            <a:avLst/>
          </a:prstGeom>
          <a:noFill/>
          <a:ln/>
        </p:spPr>
        <p:txBody>
          <a:bodyPr wrap="square" lIns="0" tIns="0" rIns="0" bIns="0" rtlCol="0" anchor="t"/>
          <a:lstStyle/>
          <a:p>
            <a:pPr indent="0" marL="0">
              <a:buNone/>
            </a:pPr>
            <a:r>
              <a:rPr lang="en-US" sz="1200" dirty="0">
                <a:solidFill>
                  <a:schemeClr val="tx2"/>
                </a:solidFill>
              </a:rPr>
              <a:t>Troppe o troppo sottili per scriverle a mano</a:t>
            </a:r>
            <a:endParaRPr lang="en-US" sz="1200" dirty="0"/>
          </a:p>
        </p:txBody>
      </p:sp>
      <p:sp>
        <p:nvSpPr>
          <p:cNvPr id="29" name="cerchio FiAlertTriangle"/>
          <p:cNvSpPr/>
          <p:nvPr/>
        </p:nvSpPr>
        <p:spPr>
          <a:xfrm>
            <a:off x="5029200" y="3374136"/>
            <a:ext cx="457200" cy="457200"/>
          </a:xfrm>
          <a:prstGeom prst="ellipse">
            <a:avLst/>
          </a:prstGeom>
          <a:solidFill>
            <a:schemeClr val="accent5"/>
          </a:solidFill>
          <a:ln/>
        </p:spPr>
      </p:sp>
      <p:pic>
        <p:nvPicPr>
          <p:cNvPr id="30" name="Image 2" descr="FiAlertTriangle">    </p:cNvPr>
          <p:cNvPicPr>
            <a:picLocks noChangeAspect="1"/>
          </p:cNvPicPr>
          <p:nvPr/>
        </p:nvPicPr>
        <p:blipFill>
          <a:blip r:embed="rId3"/>
          <a:stretch>
            <a:fillRect/>
          </a:stretch>
        </p:blipFill>
        <p:spPr>
          <a:xfrm>
            <a:off x="5143500" y="3488436"/>
            <a:ext cx="228600" cy="228600"/>
          </a:xfrm>
          <a:prstGeom prst="rect">
            <a:avLst/>
          </a:prstGeom>
        </p:spPr>
      </p:pic>
      <p:sp>
        <p:nvSpPr>
          <p:cNvPr id="31" name="Text 25"/>
          <p:cNvSpPr txBox="1"/>
          <p:nvPr/>
        </p:nvSpPr>
        <p:spPr>
          <a:xfrm>
            <a:off x="5623560" y="3346704"/>
            <a:ext cx="3063240" cy="292608"/>
          </a:xfrm>
          <a:prstGeom prst="rect">
            <a:avLst/>
          </a:prstGeom>
          <a:noFill/>
          <a:ln/>
        </p:spPr>
        <p:txBody>
          <a:bodyPr wrap="square" lIns="0" tIns="0" rIns="0" bIns="0" rtlCol="0" anchor="t"/>
          <a:lstStyle/>
          <a:p>
            <a:pPr indent="0" marL="0">
              <a:buNone/>
            </a:pPr>
            <a:r>
              <a:rPr lang="en-US" sz="1400" b="1" dirty="0">
                <a:solidFill>
                  <a:schemeClr val="tx1"/>
                </a:solidFill>
              </a:rPr>
              <a:t>Anche regolarità indesiderate</a:t>
            </a:r>
            <a:endParaRPr lang="en-US" sz="1400" dirty="0"/>
          </a:p>
        </p:txBody>
      </p:sp>
      <p:sp>
        <p:nvSpPr>
          <p:cNvPr id="32" name="Text 26"/>
          <p:cNvSpPr txBox="1"/>
          <p:nvPr/>
        </p:nvSpPr>
        <p:spPr>
          <a:xfrm>
            <a:off x="5623560" y="3648456"/>
            <a:ext cx="3063240" cy="548640"/>
          </a:xfrm>
          <a:prstGeom prst="rect">
            <a:avLst/>
          </a:prstGeom>
          <a:noFill/>
          <a:ln/>
        </p:spPr>
        <p:txBody>
          <a:bodyPr wrap="square" lIns="0" tIns="0" rIns="0" bIns="0" rtlCol="0" anchor="t"/>
          <a:lstStyle/>
          <a:p>
            <a:pPr indent="0" marL="0">
              <a:buNone/>
            </a:pPr>
            <a:r>
              <a:rPr lang="en-US" sz="1200" dirty="0">
                <a:solidFill>
                  <a:schemeClr val="tx2"/>
                </a:solidFill>
              </a:rPr>
              <a:t>Il sistema può imparare coincidenze presenti nei dati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del modello</a:t>
            </a:r>
            <a:endParaRPr lang="en-US" sz="260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sp>
      <p:sp>
        <p:nvSpPr>
          <p:cNvPr id="5" name="Text 2"/>
          <p:cNvSpPr txBox="1"/>
          <p:nvPr/>
        </p:nvSpPr>
        <p:spPr>
          <a:xfrm>
            <a:off x="640080" y="1234440"/>
            <a:ext cx="3840480" cy="320040"/>
          </a:xfrm>
          <a:prstGeom prst="rect">
            <a:avLst/>
          </a:prstGeom>
          <a:noFill/>
          <a:ln/>
        </p:spPr>
        <p:txBody>
          <a:bodyPr wrap="square" lIns="0" tIns="0" rIns="0" bIns="0" rtlCol="0" anchor="t"/>
          <a:lstStyle/>
          <a:p>
            <a:pPr indent="0" marL="0">
              <a:buNone/>
            </a:pPr>
            <a:r>
              <a:rPr lang="en-US" sz="1400" b="1" dirty="0">
                <a:solidFill>
                  <a:schemeClr val="tx1"/>
                </a:solidFill>
              </a:rPr>
              <a:t>Un'analogia: un mixer con moltissime manopole</a:t>
            </a:r>
            <a:endParaRPr lang="en-US" sz="140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sp>
      <p:sp>
        <p:nvSpPr>
          <p:cNvPr id="30" name="Text 27"/>
          <p:cNvSpPr txBox="1"/>
          <p:nvPr/>
        </p:nvSpPr>
        <p:spPr>
          <a:xfrm>
            <a:off x="640080" y="3383280"/>
            <a:ext cx="3840480" cy="1005840"/>
          </a:xfrm>
          <a:prstGeom prst="rect">
            <a:avLst/>
          </a:prstGeom>
          <a:noFill/>
          <a:ln/>
        </p:spPr>
        <p:txBody>
          <a:bodyPr wrap="square" lIns="0" tIns="0" rIns="0" bIns="0" rtlCol="0" anchor="t"/>
          <a:lstStyle/>
          <a:p>
            <a:pPr indent="0" marL="0">
              <a:buNone/>
            </a:pPr>
            <a:r>
              <a:rPr lang="en-US" sz="1300" dirty="0">
                <a:solidFill>
                  <a:schemeClr val="tx2"/>
                </a:solidFill>
              </a:rPr>
              <a:t>Ogni parametro regola quanto conta un segnale. L'addestramento le regola poco alla volta, finché i risultati sono corretti sugli esempi.</a:t>
            </a:r>
            <a:endParaRPr lang="en-US" sz="130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sp>
      <p:sp>
        <p:nvSpPr>
          <p:cNvPr id="32" name="Text 29"/>
          <p:cNvSpPr txBox="1"/>
          <p:nvPr/>
        </p:nvSpPr>
        <p:spPr>
          <a:xfrm>
            <a:off x="5120640" y="1188720"/>
            <a:ext cx="3383280" cy="685800"/>
          </a:xfrm>
          <a:prstGeom prst="rect">
            <a:avLst/>
          </a:prstGeom>
          <a:noFill/>
          <a:ln/>
        </p:spPr>
        <p:txBody>
          <a:bodyPr wrap="square" lIns="0" tIns="0" rIns="0" bIns="0" rtlCol="0" anchor="t"/>
          <a:lstStyle/>
          <a:p>
            <a:pPr indent="0" marL="0">
              <a:buNone/>
            </a:pPr>
            <a:r>
              <a:rPr lang="en-US" sz="3400" b="1" dirty="0">
                <a:solidFill>
                  <a:schemeClr val="accent1"/>
                </a:solidFill>
              </a:rPr>
              <a:t>175 miliardi</a:t>
            </a:r>
            <a:endParaRPr lang="en-US" sz="340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indent="0" marL="0">
              <a:buNone/>
            </a:pPr>
            <a:r>
              <a:rPr lang="en-US" sz="1300" dirty="0">
                <a:solidFill>
                  <a:schemeClr val="bg1"/>
                </a:solidFill>
              </a:rPr>
              <a:t>i parametri di GPT-3 (2020). Molti modelli recenti sono più grandi.</a:t>
            </a:r>
            <a:endParaRPr lang="en-US" sz="130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sp>
      <p:sp>
        <p:nvSpPr>
          <p:cNvPr id="35" name="cerchio FiLock"/>
          <p:cNvSpPr/>
          <p:nvPr/>
        </p:nvSpPr>
        <p:spPr>
          <a:xfrm>
            <a:off x="5120640" y="3017520"/>
            <a:ext cx="457200" cy="457200"/>
          </a:xfrm>
          <a:prstGeom prst="ellipse">
            <a:avLst/>
          </a:prstGeom>
          <a:solidFill>
            <a:schemeClr val="accent1"/>
          </a:solidFill>
          <a:ln/>
        </p:spPr>
      </p:sp>
      <p:pic>
        <p:nvPicPr>
          <p:cNvPr id="36" name="Image 0" descr="FiLock">    </p:cNvPr>
          <p:cNvPicPr>
            <a:picLocks noChangeAspect="1"/>
          </p:cNvPicPr>
          <p:nvPr/>
        </p:nvPicPr>
        <p:blipFill>
          <a:blip r:embed="rId1"/>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indent="0" marL="0">
              <a:buNone/>
            </a:pPr>
            <a:r>
              <a:rPr lang="en-US" sz="1500" b="1" dirty="0">
                <a:solidFill>
                  <a:schemeClr val="tx1"/>
                </a:solidFill>
              </a:rPr>
              <a:t>Fissi durante l'uso</a:t>
            </a:r>
            <a:endParaRPr lang="en-US" sz="150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indent="0" marL="0">
              <a:buNone/>
            </a:pPr>
            <a:r>
              <a:rPr lang="en-US" sz="1300" dirty="0">
                <a:solidFill>
                  <a:schemeClr val="tx2"/>
                </a:solidFill>
              </a:rPr>
              <a:t>Non sono un archivio dei dati ma una rappresentazione delle regolarità. Usando l'assistente non li modifichiamo.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di addestramento</a:t>
            </a:r>
            <a:endParaRPr lang="en-US" sz="2600" dirty="0"/>
          </a:p>
        </p:txBody>
      </p:sp>
      <p:sp>
        <p:nvSpPr>
          <p:cNvPr id="4" name="Previsione"/>
          <p:cNvSpPr/>
          <p:nvPr/>
        </p:nvSpPr>
        <p:spPr>
          <a:xfrm>
            <a:off x="457200" y="1188720"/>
            <a:ext cx="1874520" cy="2331720"/>
          </a:xfrm>
          <a:prstGeom prst="roundRect">
            <a:avLst>
              <a:gd name="adj" fmla="val 3902"/>
            </a:avLst>
          </a:prstGeom>
          <a:solidFill>
            <a:schemeClr val="bg2"/>
          </a:solidFill>
          <a:ln/>
        </p:spPr>
      </p:sp>
      <p:sp>
        <p:nvSpPr>
          <p:cNvPr id="5" name="cerchio FiPlayCircle"/>
          <p:cNvSpPr/>
          <p:nvPr/>
        </p:nvSpPr>
        <p:spPr>
          <a:xfrm>
            <a:off x="1115568" y="1371600"/>
            <a:ext cx="548640" cy="548640"/>
          </a:xfrm>
          <a:prstGeom prst="ellipse">
            <a:avLst/>
          </a:prstGeom>
          <a:solidFill>
            <a:schemeClr val="accent1"/>
          </a:solidFill>
          <a:ln/>
        </p:spPr>
      </p:sp>
      <p:pic>
        <p:nvPicPr>
          <p:cNvPr id="6" name="Image 0" descr="FiPlayCircle">    </p:cNvPr>
          <p:cNvPicPr>
            <a:picLocks noChangeAspect="1"/>
          </p:cNvPicPr>
          <p:nvPr/>
        </p:nvPicPr>
        <p:blipFill>
          <a:blip r:embed="rId1"/>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1. Previsione</a:t>
            </a:r>
            <a:endParaRPr lang="en-US" sz="150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Il modello elabora un esempio con i parametri attuali</a:t>
            </a:r>
            <a:endParaRPr lang="en-US" sz="1200" dirty="0"/>
          </a:p>
        </p:txBody>
      </p:sp>
      <p:sp>
        <p:nvSpPr>
          <p:cNvPr id="9" name="freccia"/>
          <p:cNvSpPr/>
          <p:nvPr/>
        </p:nvSpPr>
        <p:spPr>
          <a:xfrm>
            <a:off x="2350008" y="2194560"/>
            <a:ext cx="219456" cy="292608"/>
          </a:xfrm>
          <a:prstGeom prst="rightArrow">
            <a:avLst/>
          </a:prstGeom>
          <a:solidFill>
            <a:schemeClr val="accent2"/>
          </a:solidFill>
          <a:ln/>
        </p:spPr>
      </p:sp>
      <p:sp>
        <p:nvSpPr>
          <p:cNvPr id="10" name="Confronto"/>
          <p:cNvSpPr/>
          <p:nvPr/>
        </p:nvSpPr>
        <p:spPr>
          <a:xfrm>
            <a:off x="2587752" y="1188720"/>
            <a:ext cx="1874520" cy="2331720"/>
          </a:xfrm>
          <a:prstGeom prst="roundRect">
            <a:avLst>
              <a:gd name="adj" fmla="val 3902"/>
            </a:avLst>
          </a:prstGeom>
          <a:solidFill>
            <a:schemeClr val="bg2"/>
          </a:solidFill>
          <a:ln/>
        </p:spPr>
      </p:sp>
      <p:sp>
        <p:nvSpPr>
          <p:cNvPr id="11" name="cerchio FiColumns"/>
          <p:cNvSpPr/>
          <p:nvPr/>
        </p:nvSpPr>
        <p:spPr>
          <a:xfrm>
            <a:off x="3246120" y="1371600"/>
            <a:ext cx="548640" cy="548640"/>
          </a:xfrm>
          <a:prstGeom prst="ellipse">
            <a:avLst/>
          </a:prstGeom>
          <a:solidFill>
            <a:schemeClr val="accent1"/>
          </a:solidFill>
          <a:ln/>
        </p:spPr>
      </p:sp>
      <p:pic>
        <p:nvPicPr>
          <p:cNvPr id="12" name="Image 1" descr="FiColumns">    </p:cNvPr>
          <p:cNvPicPr>
            <a:picLocks noChangeAspect="1"/>
          </p:cNvPicPr>
          <p:nvPr/>
        </p:nvPicPr>
        <p:blipFill>
          <a:blip r:embed="rId2"/>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2. Confronto</a:t>
            </a:r>
            <a:endParaRPr lang="en-US" sz="150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La previsione è confrontata con la risposta corretta</a:t>
            </a:r>
            <a:endParaRPr lang="en-US" sz="1200" dirty="0"/>
          </a:p>
        </p:txBody>
      </p:sp>
      <p:sp>
        <p:nvSpPr>
          <p:cNvPr id="15" name="freccia"/>
          <p:cNvSpPr/>
          <p:nvPr/>
        </p:nvSpPr>
        <p:spPr>
          <a:xfrm>
            <a:off x="4480560" y="2194560"/>
            <a:ext cx="219456" cy="292608"/>
          </a:xfrm>
          <a:prstGeom prst="rightArrow">
            <a:avLst/>
          </a:prstGeom>
          <a:solidFill>
            <a:schemeClr val="accent2"/>
          </a:solidFill>
          <a:ln/>
        </p:spPr>
      </p:sp>
      <p:sp>
        <p:nvSpPr>
          <p:cNvPr id="16" name="Errore"/>
          <p:cNvSpPr/>
          <p:nvPr/>
        </p:nvSpPr>
        <p:spPr>
          <a:xfrm>
            <a:off x="4718304" y="1188720"/>
            <a:ext cx="1874520" cy="2331720"/>
          </a:xfrm>
          <a:prstGeom prst="roundRect">
            <a:avLst>
              <a:gd name="adj" fmla="val 3902"/>
            </a:avLst>
          </a:prstGeom>
          <a:solidFill>
            <a:schemeClr val="bg2"/>
          </a:solidFill>
          <a:ln/>
        </p:spPr>
      </p:sp>
      <p:sp>
        <p:nvSpPr>
          <p:cNvPr id="17" name="cerchio FiActivity"/>
          <p:cNvSpPr/>
          <p:nvPr/>
        </p:nvSpPr>
        <p:spPr>
          <a:xfrm>
            <a:off x="5376672" y="1371600"/>
            <a:ext cx="548640" cy="548640"/>
          </a:xfrm>
          <a:prstGeom prst="ellipse">
            <a:avLst/>
          </a:prstGeom>
          <a:solidFill>
            <a:schemeClr val="accent1"/>
          </a:solidFill>
          <a:ln/>
        </p:spPr>
      </p:sp>
      <p:pic>
        <p:nvPicPr>
          <p:cNvPr id="18" name="Image 2" descr="FiActivity">    </p:cNvPr>
          <p:cNvPicPr>
            <a:picLocks noChangeAspect="1"/>
          </p:cNvPicPr>
          <p:nvPr/>
        </p:nvPicPr>
        <p:blipFill>
          <a:blip r:embed="rId3"/>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3. Errore</a:t>
            </a:r>
            <a:endParaRPr lang="en-US" sz="150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Si misura quanto la previsione si discosta</a:t>
            </a:r>
            <a:endParaRPr lang="en-US" sz="1200" dirty="0"/>
          </a:p>
        </p:txBody>
      </p:sp>
      <p:sp>
        <p:nvSpPr>
          <p:cNvPr id="21" name="freccia"/>
          <p:cNvSpPr/>
          <p:nvPr/>
        </p:nvSpPr>
        <p:spPr>
          <a:xfrm>
            <a:off x="6611112" y="2194560"/>
            <a:ext cx="219456" cy="292608"/>
          </a:xfrm>
          <a:prstGeom prst="rightArrow">
            <a:avLst/>
          </a:prstGeom>
          <a:solidFill>
            <a:schemeClr val="accent2"/>
          </a:solidFill>
          <a:ln/>
        </p:spPr>
      </p:sp>
      <p:sp>
        <p:nvSpPr>
          <p:cNvPr id="22" name="Aggiustamento"/>
          <p:cNvSpPr/>
          <p:nvPr/>
        </p:nvSpPr>
        <p:spPr>
          <a:xfrm>
            <a:off x="6848856" y="1188720"/>
            <a:ext cx="1874520" cy="2331720"/>
          </a:xfrm>
          <a:prstGeom prst="roundRect">
            <a:avLst>
              <a:gd name="adj" fmla="val 3902"/>
            </a:avLst>
          </a:prstGeom>
          <a:solidFill>
            <a:schemeClr val="accent6"/>
          </a:solidFill>
          <a:ln/>
        </p:spPr>
      </p:sp>
      <p:sp>
        <p:nvSpPr>
          <p:cNvPr id="23" name="cerchio FiSliders"/>
          <p:cNvSpPr/>
          <p:nvPr/>
        </p:nvSpPr>
        <p:spPr>
          <a:xfrm>
            <a:off x="7507224" y="1371600"/>
            <a:ext cx="548640" cy="548640"/>
          </a:xfrm>
          <a:prstGeom prst="ellipse">
            <a:avLst/>
          </a:prstGeom>
          <a:solidFill>
            <a:schemeClr val="accent1"/>
          </a:solidFill>
          <a:ln/>
        </p:spPr>
      </p:sp>
      <p:pic>
        <p:nvPicPr>
          <p:cNvPr id="24" name="Image 3" descr="FiSliders">    </p:cNvPr>
          <p:cNvPicPr>
            <a:picLocks noChangeAspect="1"/>
          </p:cNvPicPr>
          <p:nvPr/>
        </p:nvPicPr>
        <p:blipFill>
          <a:blip r:embed="rId4"/>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4. Aggiustamento</a:t>
            </a:r>
            <a:endParaRPr lang="en-US" sz="150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 parametri si modificano per ridurre l'errore</a:t>
            </a:r>
            <a:endParaRPr lang="en-US" sz="1200" dirty="0"/>
          </a:p>
        </p:txBody>
      </p:sp>
      <p:sp>
        <p:nvSpPr>
          <p:cNvPr id="27" name="ripetizione"/>
          <p:cNvSpPr/>
          <p:nvPr/>
        </p:nvSpPr>
        <p:spPr>
          <a:xfrm>
            <a:off x="457200" y="3703320"/>
            <a:ext cx="8229600" cy="822960"/>
          </a:xfrm>
          <a:prstGeom prst="roundRect">
            <a:avLst>
              <a:gd name="adj" fmla="val 8889"/>
            </a:avLst>
          </a:prstGeom>
          <a:solidFill>
            <a:schemeClr val="tx1"/>
          </a:solidFill>
          <a:ln/>
        </p:spPr>
      </p:sp>
      <p:sp>
        <p:nvSpPr>
          <p:cNvPr id="28" name="cerchio FiRepeat"/>
          <p:cNvSpPr/>
          <p:nvPr/>
        </p:nvSpPr>
        <p:spPr>
          <a:xfrm>
            <a:off x="640080" y="3840480"/>
            <a:ext cx="548640" cy="548640"/>
          </a:xfrm>
          <a:prstGeom prst="ellipse">
            <a:avLst/>
          </a:prstGeom>
          <a:solidFill>
            <a:schemeClr val="accent1"/>
          </a:solidFill>
          <a:ln/>
        </p:spPr>
      </p:sp>
      <p:pic>
        <p:nvPicPr>
          <p:cNvPr id="29" name="Image 4" descr="FiRepeat">    </p:cNvPr>
          <p:cNvPicPr>
            <a:picLocks noChangeAspect="1"/>
          </p:cNvPicPr>
          <p:nvPr/>
        </p:nvPicPr>
        <p:blipFill>
          <a:blip r:embed="rId5"/>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indent="0" marL="0">
              <a:buNone/>
            </a:pPr>
            <a:r>
              <a:rPr lang="en-US" sz="1400" dirty="0">
                <a:solidFill>
                  <a:schemeClr val="bg1"/>
                </a:solidFill>
              </a:rPr>
              <a:t>Ripetuto milioni o miliardi di volte. Per i grandi modelli servono settimane o mesi di calcolo: non avviene mentre li usiamo.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Generalizzare verso nuovi input</a:t>
            </a:r>
            <a:endParaRPr lang="en-US" sz="2600" dirty="0"/>
          </a:p>
        </p:txBody>
      </p:sp>
      <p:sp>
        <p:nvSpPr>
          <p:cNvPr id="4" name="scheda Memorizzare (overfitting)"/>
          <p:cNvSpPr/>
          <p:nvPr/>
        </p:nvSpPr>
        <p:spPr>
          <a:xfrm>
            <a:off x="457200" y="1097280"/>
            <a:ext cx="3977640" cy="2377440"/>
          </a:xfrm>
          <a:prstGeom prst="roundRect">
            <a:avLst>
              <a:gd name="adj" fmla="val 3077"/>
            </a:avLst>
          </a:prstGeom>
          <a:solidFill>
            <a:schemeClr val="bg2"/>
          </a:solidFill>
          <a:ln/>
        </p:spPr>
      </p:sp>
      <p:sp>
        <p:nvSpPr>
          <p:cNvPr id="5" name="cerchio FiArchive"/>
          <p:cNvSpPr/>
          <p:nvPr/>
        </p:nvSpPr>
        <p:spPr>
          <a:xfrm>
            <a:off x="640080" y="1280160"/>
            <a:ext cx="457200" cy="457200"/>
          </a:xfrm>
          <a:prstGeom prst="ellipse">
            <a:avLst/>
          </a:prstGeom>
          <a:solidFill>
            <a:schemeClr val="accent1"/>
          </a:solidFill>
          <a:ln/>
        </p:spPr>
      </p:sp>
      <p:pic>
        <p:nvPicPr>
          <p:cNvPr id="6" name="Image 0" descr="FiArchiv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Memorizzare (overfitting)</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impara a memoria le soluzioni: perfetto sugli esercizi già visti, in difficoltà se cambiano i numeri.</a:t>
            </a:r>
            <a:endParaRPr lang="en-US" sz="1300" dirty="0"/>
          </a:p>
        </p:txBody>
      </p:sp>
      <p:sp>
        <p:nvSpPr>
          <p:cNvPr id="9" name="scheda Generalizzare"/>
          <p:cNvSpPr/>
          <p:nvPr/>
        </p:nvSpPr>
        <p:spPr>
          <a:xfrm>
            <a:off x="4709160" y="1097280"/>
            <a:ext cx="3977640" cy="2377440"/>
          </a:xfrm>
          <a:prstGeom prst="roundRect">
            <a:avLst>
              <a:gd name="adj" fmla="val 3077"/>
            </a:avLst>
          </a:prstGeom>
          <a:solidFill>
            <a:schemeClr val="accent6"/>
          </a:solidFill>
          <a:ln/>
        </p:spPr>
      </p:sp>
      <p:sp>
        <p:nvSpPr>
          <p:cNvPr id="10" name="cerchio FiAward"/>
          <p:cNvSpPr/>
          <p:nvPr/>
        </p:nvSpPr>
        <p:spPr>
          <a:xfrm>
            <a:off x="4892040"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Generalizzare</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ha capito il metodo: sa risolvere anche esercizi mai visti prima.</a:t>
            </a:r>
            <a:endParaRPr lang="en-US" sz="1300" dirty="0"/>
          </a:p>
        </p:txBody>
      </p:sp>
      <p:sp>
        <p:nvSpPr>
          <p:cNvPr id="14" name="implicazione"/>
          <p:cNvSpPr/>
          <p:nvPr/>
        </p:nvSpPr>
        <p:spPr>
          <a:xfrm>
            <a:off x="457200" y="3657600"/>
            <a:ext cx="8229600" cy="868680"/>
          </a:xfrm>
          <a:prstGeom prst="roundRect">
            <a:avLst>
              <a:gd name="adj" fmla="val 8421"/>
            </a:avLst>
          </a:prstGeom>
          <a:solidFill>
            <a:schemeClr val="bg2"/>
          </a:solidFill>
          <a:ln/>
        </p:spPr>
      </p:sp>
      <p:sp>
        <p:nvSpPr>
          <p:cNvPr id="15" name="cerchio FiMap"/>
          <p:cNvSpPr/>
          <p:nvPr/>
        </p:nvSpPr>
        <p:spPr>
          <a:xfrm>
            <a:off x="640080" y="3840480"/>
            <a:ext cx="502920" cy="502920"/>
          </a:xfrm>
          <a:prstGeom prst="ellipse">
            <a:avLst/>
          </a:prstGeom>
          <a:solidFill>
            <a:schemeClr val="accent1"/>
          </a:solidFill>
          <a:ln/>
        </p:spPr>
      </p:sp>
      <p:pic>
        <p:nvPicPr>
          <p:cNvPr id="16" name="Image 2" descr="FiMap">    </p:cNvPr>
          <p:cNvPicPr>
            <a:picLocks noChangeAspect="1"/>
          </p:cNvPicPr>
          <p:nvPr/>
        </p:nvPicPr>
        <p:blipFill>
          <a:blip r:embed="rId3"/>
          <a:stretch>
            <a:fillRect/>
          </a:stretch>
        </p:blipFill>
        <p:spPr>
          <a:xfrm>
            <a:off x="765810" y="3966210"/>
            <a:ext cx="251460" cy="251460"/>
          </a:xfrm>
          <a:prstGeom prst="rect">
            <a:avLst/>
          </a:prstGeom>
        </p:spPr>
      </p:pic>
      <p:sp>
        <p:nvSpPr>
          <p:cNvPr id="17" name="Text 11"/>
          <p:cNvSpPr txBox="1"/>
          <p:nvPr/>
        </p:nvSpPr>
        <p:spPr>
          <a:xfrm>
            <a:off x="1325880" y="3657600"/>
            <a:ext cx="7223760" cy="868680"/>
          </a:xfrm>
          <a:prstGeom prst="rect">
            <a:avLst/>
          </a:prstGeom>
          <a:noFill/>
          <a:ln/>
        </p:spPr>
        <p:txBody>
          <a:bodyPr wrap="square" lIns="0" tIns="0" rIns="0" bIns="0" rtlCol="0" anchor="ctr"/>
          <a:lstStyle/>
          <a:p>
            <a:pPr indent="0" marL="0">
              <a:buNone/>
            </a:pPr>
            <a:r>
              <a:rPr lang="en-US" sz="1300" dirty="0">
                <a:solidFill>
                  <a:schemeClr val="tx1"/>
                </a:solidFill>
              </a:rPr>
              <a:t>Un modello generalizza bene verso casi simili a quelli da cui ha imparato. Se la realtà cambia molto (nuovi prodotti, mercati, comportamenti), le prestazioni possono peggiorare.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Addestramento e inferenza</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42976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Addestramento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Inferenza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300" b="1" dirty="0">
                          <a:solidFill>
                            <a:schemeClr val="tx1"/>
                          </a:solidFill>
                        </a:rPr>
                        <a:t>Che cosa avviene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modello apprende dagli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 modello elabora un nuovo input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Parametri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Vengono modificati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Restano invariati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 singola richiesta e il suo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Quando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Prima della messa a disposizione, raramente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Ogni volta che il sistema viene usato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Risorse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settimane o mesi di calcolo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Molto minori, tempi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Chi lo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sviluppatore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Chiunque usi il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Quando usiamo un assistente siamo in inferenza: correggerlo non lo riaddestra.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Nei sistemi di Machine Learning l'addestramento modifica i parametri del modello, mentre l'inferenza lo utilizza per elaborare nuovi input. Non tutti i sistemi AI apprendono dai dati.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2.3  ·  Come un sistema AI apprende dai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sono i Large Language Models</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Generano output usando regolarità apprese e il contesto disponibile: non sono solo un completamento automatico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modello linguistico di grandi dimensioni</a:t>
            </a:r>
            <a:endParaRPr lang="en-US" sz="2600" dirty="0"/>
          </a:p>
        </p:txBody>
      </p:sp>
      <p:sp>
        <p:nvSpPr>
          <p:cNvPr id="4" name="definizione LLM"/>
          <p:cNvSpPr/>
          <p:nvPr/>
        </p:nvSpPr>
        <p:spPr>
          <a:xfrm>
            <a:off x="457200" y="1097280"/>
            <a:ext cx="3657600" cy="3429000"/>
          </a:xfrm>
          <a:prstGeom prst="roundRect">
            <a:avLst>
              <a:gd name="adj" fmla="val 2133"/>
            </a:avLst>
          </a:prstGeom>
          <a:solidFill>
            <a:schemeClr val="tx1"/>
          </a:solidFill>
          <a:ln/>
        </p:spPr>
      </p:sp>
      <p:sp>
        <p:nvSpPr>
          <p:cNvPr id="5" name="Text 2"/>
          <p:cNvSpPr txBox="1"/>
          <p:nvPr/>
        </p:nvSpPr>
        <p:spPr>
          <a:xfrm>
            <a:off x="685800" y="1261872"/>
            <a:ext cx="32004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LARGE LANGUAGE MODEL</a:t>
            </a:r>
            <a:endParaRPr lang="en-US" sz="110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indent="0" marL="0">
              <a:buNone/>
            </a:pPr>
            <a:r>
              <a:rPr lang="en-US" sz="1600" dirty="0">
                <a:solidFill>
                  <a:schemeClr val="bg1"/>
                </a:solidFill>
              </a:rPr>
              <a:t>Un modello di Deep Learning addestrato su enormi quantità di testo per elaborare e generare linguaggio.</a:t>
            </a:r>
            <a:endParaRPr lang="en-US" sz="160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Large</a:t>
            </a:r>
            <a:endParaRPr lang="en-US" sz="130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Miliardi di parametri, enormi quantità di testo e di calcolo</a:t>
            </a:r>
            <a:endParaRPr lang="en-US" sz="110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Language Model</a:t>
            </a:r>
            <a:endParaRPr lang="en-US" sz="130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Ha appreso le regolarità del linguaggio e, con esse, molte informazioni e strutture di ragionamento</a:t>
            </a:r>
            <a:endParaRPr lang="en-US" sz="110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500" b="1" dirty="0">
                <a:solidFill>
                  <a:schemeClr val="tx1"/>
                </a:solidFill>
              </a:rPr>
              <a:t>Due fasi di addestramento</a:t>
            </a:r>
            <a:endParaRPr lang="en-US" sz="150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sp>
      <p:sp>
        <p:nvSpPr>
          <p:cNvPr id="13" name="cerchio FiBookOpen"/>
          <p:cNvSpPr/>
          <p:nvPr/>
        </p:nvSpPr>
        <p:spPr>
          <a:xfrm>
            <a:off x="4617720" y="1691640"/>
            <a:ext cx="457200" cy="457200"/>
          </a:xfrm>
          <a:prstGeom prst="ellipse">
            <a:avLst/>
          </a:prstGeom>
          <a:solidFill>
            <a:schemeClr val="accent1"/>
          </a:solidFill>
          <a:ln/>
        </p:spPr>
      </p:sp>
      <p:pic>
        <p:nvPicPr>
          <p:cNvPr id="14" name="Image 0" descr="FiBookOpen">    </p:cNvPr>
          <p:cNvPicPr>
            <a:picLocks noChangeAspect="1"/>
          </p:cNvPicPr>
          <p:nvPr/>
        </p:nvPicPr>
        <p:blipFill>
          <a:blip r:embed="rId1"/>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1. Pre-addestramento</a:t>
            </a:r>
            <a:endParaRPr lang="en-US" sz="150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indent="0" marL="0">
              <a:buNone/>
            </a:pPr>
            <a:r>
              <a:rPr lang="en-US" sz="1300" dirty="0">
                <a:solidFill>
                  <a:schemeClr val="tx2"/>
                </a:solidFill>
              </a:rPr>
              <a:t>Impara dal testo prevedendo, miliardi di volte, quale parte viene dopo.</a:t>
            </a:r>
            <a:endParaRPr lang="en-US" sz="130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sp>
      <p:sp>
        <p:nvSpPr>
          <p:cNvPr id="18" name="cerchio FiUserCheck"/>
          <p:cNvSpPr/>
          <p:nvPr/>
        </p:nvSpPr>
        <p:spPr>
          <a:xfrm>
            <a:off x="4617720" y="3246120"/>
            <a:ext cx="457200" cy="457200"/>
          </a:xfrm>
          <a:prstGeom prst="ellipse">
            <a:avLst/>
          </a:prstGeom>
          <a:solidFill>
            <a:schemeClr val="accent1"/>
          </a:solidFill>
          <a:ln/>
        </p:spPr>
      </p:sp>
      <p:pic>
        <p:nvPicPr>
          <p:cNvPr id="19" name="Image 1" descr="FiUserCheck">    </p:cNvPr>
          <p:cNvPicPr>
            <a:picLocks noChangeAspect="1"/>
          </p:cNvPicPr>
          <p:nvPr/>
        </p:nvPicPr>
        <p:blipFill>
          <a:blip r:embed="rId2"/>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2. Affinamento</a:t>
            </a:r>
            <a:endParaRPr lang="en-US" sz="150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indent="0" marL="0">
              <a:buNone/>
            </a:pPr>
            <a:r>
              <a:rPr lang="en-US" sz="1300" dirty="0">
                <a:solidFill>
                  <a:schemeClr val="tx2"/>
                </a:solidFill>
              </a:rPr>
              <a:t>Esempi di istruzioni e feedback umano: diventa un assistente utile e sicuro.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token: come il modello vede il testo</a:t>
            </a:r>
            <a:endParaRPr lang="en-US" sz="260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indent="0" marL="0">
              <a:buNone/>
            </a:pPr>
            <a:r>
              <a:rPr lang="en-US" sz="1200" b="1" dirty="0">
                <a:solidFill>
                  <a:schemeClr val="accent2"/>
                </a:solidFill>
              </a:rPr>
              <a:t>Testo</a:t>
            </a:r>
            <a:endParaRPr lang="en-US" sz="1200" dirty="0"/>
          </a:p>
        </p:txBody>
      </p:sp>
      <p:sp>
        <p:nvSpPr>
          <p:cNvPr id="5" name="frase"/>
          <p:cNvSpPr/>
          <p:nvPr/>
        </p:nvSpPr>
        <p:spPr>
          <a:xfrm>
            <a:off x="457200" y="1371600"/>
            <a:ext cx="8229600" cy="548640"/>
          </a:xfrm>
          <a:prstGeom prst="roundRect">
            <a:avLst>
              <a:gd name="adj" fmla="val 13333"/>
            </a:avLst>
          </a:prstGeom>
          <a:solidFill>
            <a:schemeClr val="bg2"/>
          </a:solidFill>
          <a:ln/>
        </p:spPr>
      </p:sp>
      <p:sp>
        <p:nvSpPr>
          <p:cNvPr id="6" name="Text 3"/>
          <p:cNvSpPr txBox="1"/>
          <p:nvPr/>
        </p:nvSpPr>
        <p:spPr>
          <a:xfrm>
            <a:off x="640080" y="1371600"/>
            <a:ext cx="7863840" cy="548640"/>
          </a:xfrm>
          <a:prstGeom prst="rect">
            <a:avLst/>
          </a:prstGeom>
          <a:noFill/>
          <a:ln/>
        </p:spPr>
        <p:txBody>
          <a:bodyPr wrap="square" lIns="0" tIns="0" rIns="0" bIns="0" rtlCol="0" anchor="ctr"/>
          <a:lstStyle/>
          <a:p>
            <a:pPr indent="0" marL="0">
              <a:buNone/>
            </a:pPr>
            <a:r>
              <a:rPr lang="en-US" sz="1800" dirty="0">
                <a:solidFill>
                  <a:schemeClr val="tx1"/>
                </a:solidFill>
              </a:rPr>
              <a:t>L'intelligenza artificiale cambia il lavoro.</a:t>
            </a:r>
            <a:endParaRPr lang="en-US" sz="180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Token (esempio illustrativo)</a:t>
            </a:r>
            <a:endParaRPr lang="en-US" sz="1200" dirty="0"/>
          </a:p>
        </p:txBody>
      </p:sp>
      <p:sp>
        <p:nvSpPr>
          <p:cNvPr id="8" name="token 0"/>
          <p:cNvSpPr/>
          <p:nvPr/>
        </p:nvSpPr>
        <p:spPr>
          <a:xfrm>
            <a:off x="457200" y="2423160"/>
            <a:ext cx="502920" cy="502920"/>
          </a:xfrm>
          <a:prstGeom prst="roundRect">
            <a:avLst>
              <a:gd name="adj" fmla="val 10909"/>
            </a:avLst>
          </a:prstGeom>
          <a:solidFill>
            <a:schemeClr val="accent1"/>
          </a:solidFill>
          <a:ln/>
        </p:spPr>
      </p:sp>
      <p:sp>
        <p:nvSpPr>
          <p:cNvPr id="9" name="Text 6"/>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L'</a:t>
            </a:r>
            <a:endParaRPr lang="en-US" sz="1400" dirty="0"/>
          </a:p>
        </p:txBody>
      </p:sp>
      <p:sp>
        <p:nvSpPr>
          <p:cNvPr id="10" name="token 1"/>
          <p:cNvSpPr/>
          <p:nvPr/>
        </p:nvSpPr>
        <p:spPr>
          <a:xfrm>
            <a:off x="1014984" y="2423160"/>
            <a:ext cx="777240" cy="502920"/>
          </a:xfrm>
          <a:prstGeom prst="roundRect">
            <a:avLst>
              <a:gd name="adj" fmla="val 10909"/>
            </a:avLst>
          </a:prstGeom>
          <a:solidFill>
            <a:schemeClr val="accent6"/>
          </a:solidFill>
          <a:ln/>
        </p:spPr>
      </p:sp>
      <p:sp>
        <p:nvSpPr>
          <p:cNvPr id="11" name="Text 8"/>
          <p:cNvSpPr txBox="1"/>
          <p:nvPr/>
        </p:nvSpPr>
        <p:spPr>
          <a:xfrm>
            <a:off x="1014984" y="2423160"/>
            <a:ext cx="777240" cy="502920"/>
          </a:xfrm>
          <a:prstGeom prst="rect">
            <a:avLst/>
          </a:prstGeom>
          <a:noFill/>
          <a:ln/>
        </p:spPr>
        <p:txBody>
          <a:bodyPr wrap="square" lIns="0" tIns="0" rIns="0" bIns="0" rtlCol="0" anchor="ctr"/>
          <a:lstStyle/>
          <a:p>
            <a:pPr algn="ctr" indent="0" marL="0">
              <a:buNone/>
            </a:pPr>
            <a:r>
              <a:rPr lang="en-US" sz="1400" b="1" dirty="0">
                <a:solidFill>
                  <a:schemeClr val="tx1"/>
                </a:solidFill>
              </a:rPr>
              <a:t>intel</a:t>
            </a:r>
            <a:endParaRPr lang="en-US" sz="1400" dirty="0"/>
          </a:p>
        </p:txBody>
      </p:sp>
      <p:sp>
        <p:nvSpPr>
          <p:cNvPr id="12" name="token 2"/>
          <p:cNvSpPr/>
          <p:nvPr/>
        </p:nvSpPr>
        <p:spPr>
          <a:xfrm>
            <a:off x="1847088" y="2423160"/>
            <a:ext cx="960120" cy="502920"/>
          </a:xfrm>
          <a:prstGeom prst="roundRect">
            <a:avLst>
              <a:gd name="adj" fmla="val 10909"/>
            </a:avLst>
          </a:prstGeom>
          <a:solidFill>
            <a:schemeClr val="accent1"/>
          </a:solidFill>
          <a:ln/>
        </p:spPr>
      </p:sp>
      <p:sp>
        <p:nvSpPr>
          <p:cNvPr id="13" name="Text 10"/>
          <p:cNvSpPr txBox="1"/>
          <p:nvPr/>
        </p:nvSpPr>
        <p:spPr>
          <a:xfrm>
            <a:off x="1847088" y="2423160"/>
            <a:ext cx="960120" cy="502920"/>
          </a:xfrm>
          <a:prstGeom prst="rect">
            <a:avLst/>
          </a:prstGeom>
          <a:noFill/>
          <a:ln/>
        </p:spPr>
        <p:txBody>
          <a:bodyPr wrap="square" lIns="0" tIns="0" rIns="0" bIns="0" rtlCol="0" anchor="ctr"/>
          <a:lstStyle/>
          <a:p>
            <a:pPr algn="ctr" indent="0" marL="0">
              <a:buNone/>
            </a:pPr>
            <a:r>
              <a:rPr lang="en-US" sz="1400" b="1" dirty="0">
                <a:solidFill>
                  <a:schemeClr val="bg1"/>
                </a:solidFill>
              </a:rPr>
              <a:t>ligenza</a:t>
            </a:r>
            <a:endParaRPr lang="en-US" sz="1400" dirty="0"/>
          </a:p>
        </p:txBody>
      </p:sp>
      <p:sp>
        <p:nvSpPr>
          <p:cNvPr id="14" name="token 3"/>
          <p:cNvSpPr/>
          <p:nvPr/>
        </p:nvSpPr>
        <p:spPr>
          <a:xfrm>
            <a:off x="2862072" y="2423160"/>
            <a:ext cx="960120" cy="502920"/>
          </a:xfrm>
          <a:prstGeom prst="roundRect">
            <a:avLst>
              <a:gd name="adj" fmla="val 10909"/>
            </a:avLst>
          </a:prstGeom>
          <a:solidFill>
            <a:schemeClr val="accent6"/>
          </a:solidFill>
          <a:ln/>
        </p:spPr>
      </p:sp>
      <p:sp>
        <p:nvSpPr>
          <p:cNvPr id="15" name="Text 12"/>
          <p:cNvSpPr txBox="1"/>
          <p:nvPr/>
        </p:nvSpPr>
        <p:spPr>
          <a:xfrm>
            <a:off x="2862072"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·artific</a:t>
            </a:r>
            <a:endParaRPr lang="en-US" sz="1400" dirty="0"/>
          </a:p>
        </p:txBody>
      </p:sp>
      <p:sp>
        <p:nvSpPr>
          <p:cNvPr id="16" name="token 4"/>
          <p:cNvSpPr/>
          <p:nvPr/>
        </p:nvSpPr>
        <p:spPr>
          <a:xfrm>
            <a:off x="3877056" y="2423160"/>
            <a:ext cx="640080" cy="502920"/>
          </a:xfrm>
          <a:prstGeom prst="roundRect">
            <a:avLst>
              <a:gd name="adj" fmla="val 10909"/>
            </a:avLst>
          </a:prstGeom>
          <a:solidFill>
            <a:schemeClr val="accent1"/>
          </a:solidFill>
          <a:ln/>
        </p:spPr>
      </p:sp>
      <p:sp>
        <p:nvSpPr>
          <p:cNvPr id="17" name="Text 14"/>
          <p:cNvSpPr txBox="1"/>
          <p:nvPr/>
        </p:nvSpPr>
        <p:spPr>
          <a:xfrm>
            <a:off x="3877056" y="2423160"/>
            <a:ext cx="640080" cy="502920"/>
          </a:xfrm>
          <a:prstGeom prst="rect">
            <a:avLst/>
          </a:prstGeom>
          <a:noFill/>
          <a:ln/>
        </p:spPr>
        <p:txBody>
          <a:bodyPr wrap="square" lIns="0" tIns="0" rIns="0" bIns="0" rtlCol="0" anchor="ctr"/>
          <a:lstStyle/>
          <a:p>
            <a:pPr algn="ctr" indent="0" marL="0">
              <a:buNone/>
            </a:pPr>
            <a:r>
              <a:rPr lang="en-US" sz="1400" b="1" dirty="0">
                <a:solidFill>
                  <a:schemeClr val="bg1"/>
                </a:solidFill>
              </a:rPr>
              <a:t>iale</a:t>
            </a:r>
            <a:endParaRPr lang="en-US" sz="1400" dirty="0"/>
          </a:p>
        </p:txBody>
      </p:sp>
      <p:sp>
        <p:nvSpPr>
          <p:cNvPr id="18" name="token 5"/>
          <p:cNvSpPr/>
          <p:nvPr/>
        </p:nvSpPr>
        <p:spPr>
          <a:xfrm>
            <a:off x="4572000" y="2423160"/>
            <a:ext cx="1005840" cy="502920"/>
          </a:xfrm>
          <a:prstGeom prst="roundRect">
            <a:avLst>
              <a:gd name="adj" fmla="val 10909"/>
            </a:avLst>
          </a:prstGeom>
          <a:solidFill>
            <a:schemeClr val="accent6"/>
          </a:solidFill>
          <a:ln/>
        </p:spPr>
      </p:sp>
      <p:sp>
        <p:nvSpPr>
          <p:cNvPr id="19" name="Text 16"/>
          <p:cNvSpPr txBox="1"/>
          <p:nvPr/>
        </p:nvSpPr>
        <p:spPr>
          <a:xfrm>
            <a:off x="4572000" y="2423160"/>
            <a:ext cx="1005840" cy="502920"/>
          </a:xfrm>
          <a:prstGeom prst="rect">
            <a:avLst/>
          </a:prstGeom>
          <a:noFill/>
          <a:ln/>
        </p:spPr>
        <p:txBody>
          <a:bodyPr wrap="square" lIns="0" tIns="0" rIns="0" bIns="0" rtlCol="0" anchor="ctr"/>
          <a:lstStyle/>
          <a:p>
            <a:pPr algn="ctr" indent="0" marL="0">
              <a:buNone/>
            </a:pPr>
            <a:r>
              <a:rPr lang="en-US" sz="1400" b="1" dirty="0">
                <a:solidFill>
                  <a:schemeClr val="tx1"/>
                </a:solidFill>
              </a:rPr>
              <a:t>·cambia</a:t>
            </a:r>
            <a:endParaRPr lang="en-US" sz="1400" dirty="0"/>
          </a:p>
        </p:txBody>
      </p:sp>
      <p:sp>
        <p:nvSpPr>
          <p:cNvPr id="20" name="token 6"/>
          <p:cNvSpPr/>
          <p:nvPr/>
        </p:nvSpPr>
        <p:spPr>
          <a:xfrm>
            <a:off x="5632704" y="2423160"/>
            <a:ext cx="502920" cy="502920"/>
          </a:xfrm>
          <a:prstGeom prst="roundRect">
            <a:avLst>
              <a:gd name="adj" fmla="val 10909"/>
            </a:avLst>
          </a:prstGeom>
          <a:solidFill>
            <a:schemeClr val="accent1"/>
          </a:solidFill>
          <a:ln/>
        </p:spPr>
      </p:sp>
      <p:sp>
        <p:nvSpPr>
          <p:cNvPr id="21" name="Text 18"/>
          <p:cNvSpPr txBox="1"/>
          <p:nvPr/>
        </p:nvSpPr>
        <p:spPr>
          <a:xfrm>
            <a:off x="5632704"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·il</a:t>
            </a:r>
            <a:endParaRPr lang="en-US" sz="1400" dirty="0"/>
          </a:p>
        </p:txBody>
      </p:sp>
      <p:sp>
        <p:nvSpPr>
          <p:cNvPr id="22" name="token 7"/>
          <p:cNvSpPr/>
          <p:nvPr/>
        </p:nvSpPr>
        <p:spPr>
          <a:xfrm>
            <a:off x="6190488" y="2423160"/>
            <a:ext cx="960120" cy="502920"/>
          </a:xfrm>
          <a:prstGeom prst="roundRect">
            <a:avLst>
              <a:gd name="adj" fmla="val 10909"/>
            </a:avLst>
          </a:prstGeom>
          <a:solidFill>
            <a:schemeClr val="accent6"/>
          </a:solidFill>
          <a:ln/>
        </p:spPr>
      </p:sp>
      <p:sp>
        <p:nvSpPr>
          <p:cNvPr id="23" name="Text 20"/>
          <p:cNvSpPr txBox="1"/>
          <p:nvPr/>
        </p:nvSpPr>
        <p:spPr>
          <a:xfrm>
            <a:off x="6190488"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·lavoro</a:t>
            </a:r>
            <a:endParaRPr lang="en-US" sz="1400" dirty="0"/>
          </a:p>
        </p:txBody>
      </p:sp>
      <p:sp>
        <p:nvSpPr>
          <p:cNvPr id="24" name="token 8"/>
          <p:cNvSpPr/>
          <p:nvPr/>
        </p:nvSpPr>
        <p:spPr>
          <a:xfrm>
            <a:off x="7205472" y="2423160"/>
            <a:ext cx="365760" cy="502920"/>
          </a:xfrm>
          <a:prstGeom prst="roundRect">
            <a:avLst>
              <a:gd name="adj" fmla="val 15000"/>
            </a:avLst>
          </a:prstGeom>
          <a:solidFill>
            <a:schemeClr val="accent1"/>
          </a:solidFill>
          <a:ln/>
        </p:spPr>
      </p:sp>
      <p:sp>
        <p:nvSpPr>
          <p:cNvPr id="25" name="Text 22"/>
          <p:cNvSpPr txBox="1"/>
          <p:nvPr/>
        </p:nvSpPr>
        <p:spPr>
          <a:xfrm>
            <a:off x="7205472" y="2423160"/>
            <a:ext cx="36576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indent="0" marL="0">
              <a:buNone/>
            </a:pPr>
            <a:r>
              <a:rPr lang="en-US" sz="1000" i="1" dirty="0">
                <a:solidFill>
                  <a:schemeClr val="accent2"/>
                </a:solidFill>
              </a:rPr>
              <a:t>· indica uno spazio. La suddivisione reale dipende dal modello.</a:t>
            </a:r>
            <a:endParaRPr lang="en-US" sz="100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sp>
      <p:sp>
        <p:nvSpPr>
          <p:cNvPr id="28" name="cerchio FiMaximize"/>
          <p:cNvSpPr/>
          <p:nvPr/>
        </p:nvSpPr>
        <p:spPr>
          <a:xfrm>
            <a:off x="621792" y="3721608"/>
            <a:ext cx="502920" cy="502920"/>
          </a:xfrm>
          <a:prstGeom prst="ellipse">
            <a:avLst/>
          </a:prstGeom>
          <a:solidFill>
            <a:schemeClr val="accent1"/>
          </a:solidFill>
          <a:ln/>
        </p:spPr>
      </p:sp>
      <p:pic>
        <p:nvPicPr>
          <p:cNvPr id="29" name="Image 0" descr="FiMaximize">    </p:cNvPr>
          <p:cNvPicPr>
            <a:picLocks noChangeAspect="1"/>
          </p:cNvPicPr>
          <p:nvPr/>
        </p:nvPicPr>
        <p:blipFill>
          <a:blip r:embed="rId1"/>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Limiti e costi in token</a:t>
            </a:r>
            <a:endParaRPr lang="en-US" sz="130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sp>
      <p:sp>
        <p:nvSpPr>
          <p:cNvPr id="32" name="cerchio FiGlobe"/>
          <p:cNvSpPr/>
          <p:nvPr/>
        </p:nvSpPr>
        <p:spPr>
          <a:xfrm>
            <a:off x="3429000" y="3721608"/>
            <a:ext cx="502920" cy="502920"/>
          </a:xfrm>
          <a:prstGeom prst="ellipse">
            <a:avLst/>
          </a:prstGeom>
          <a:solidFill>
            <a:schemeClr val="accent1"/>
          </a:solidFill>
          <a:ln/>
        </p:spPr>
      </p:sp>
      <p:pic>
        <p:nvPicPr>
          <p:cNvPr id="33" name="Image 1" descr="FiGlobe">    </p:cNvPr>
          <p:cNvPicPr>
            <a:picLocks noChangeAspect="1"/>
          </p:cNvPicPr>
          <p:nvPr/>
        </p:nvPicPr>
        <p:blipFill>
          <a:blip r:embed="rId2"/>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L'italiano usa più token dell'inglese</a:t>
            </a:r>
            <a:endParaRPr lang="en-US" sz="130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sp>
      <p:sp>
        <p:nvSpPr>
          <p:cNvPr id="36" name="cerchio FiType"/>
          <p:cNvSpPr/>
          <p:nvPr/>
        </p:nvSpPr>
        <p:spPr>
          <a:xfrm>
            <a:off x="6236208" y="3721608"/>
            <a:ext cx="502920" cy="502920"/>
          </a:xfrm>
          <a:prstGeom prst="ellipse">
            <a:avLst/>
          </a:prstGeom>
          <a:solidFill>
            <a:schemeClr val="accent1"/>
          </a:solidFill>
          <a:ln/>
        </p:spPr>
      </p:sp>
      <p:pic>
        <p:nvPicPr>
          <p:cNvPr id="37" name="Image 2" descr="FiType">    </p:cNvPr>
          <p:cNvPicPr>
            <a:picLocks noChangeAspect="1"/>
          </p:cNvPicPr>
          <p:nvPr/>
        </p:nvPicPr>
        <p:blipFill>
          <a:blip r:embed="rId3"/>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Il modello non vede le singole lettere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Rappresentare il significato</a:t>
            </a:r>
            <a:endParaRPr lang="en-US" sz="260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sp>
      <p:sp>
        <p:nvSpPr>
          <p:cNvPr id="5" name="punto fattura"/>
          <p:cNvSpPr/>
          <p:nvPr/>
        </p:nvSpPr>
        <p:spPr>
          <a:xfrm>
            <a:off x="914400" y="1554480"/>
            <a:ext cx="164592" cy="164592"/>
          </a:xfrm>
          <a:prstGeom prst="ellipse">
            <a:avLst/>
          </a:prstGeom>
          <a:solidFill>
            <a:schemeClr val="accent1"/>
          </a:solidFill>
          <a:ln/>
        </p:spPr>
      </p:sp>
      <p:sp>
        <p:nvSpPr>
          <p:cNvPr id="6" name="Text 3"/>
          <p:cNvSpPr txBox="1"/>
          <p:nvPr/>
        </p:nvSpPr>
        <p:spPr>
          <a:xfrm>
            <a:off x="1133856" y="14904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fattura</a:t>
            </a:r>
            <a:endParaRPr lang="en-US" sz="1300" dirty="0"/>
          </a:p>
        </p:txBody>
      </p:sp>
      <p:sp>
        <p:nvSpPr>
          <p:cNvPr id="7" name="punto preventivo"/>
          <p:cNvSpPr/>
          <p:nvPr/>
        </p:nvSpPr>
        <p:spPr>
          <a:xfrm>
            <a:off x="1463040" y="1965960"/>
            <a:ext cx="164592" cy="164592"/>
          </a:xfrm>
          <a:prstGeom prst="ellipse">
            <a:avLst/>
          </a:prstGeom>
          <a:solidFill>
            <a:schemeClr val="accent1"/>
          </a:solidFill>
          <a:ln/>
        </p:spPr>
      </p:sp>
      <p:sp>
        <p:nvSpPr>
          <p:cNvPr id="8" name="Text 5"/>
          <p:cNvSpPr txBox="1"/>
          <p:nvPr/>
        </p:nvSpPr>
        <p:spPr>
          <a:xfrm>
            <a:off x="1682496" y="19019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preventivo</a:t>
            </a:r>
            <a:endParaRPr lang="en-US" sz="1300" dirty="0"/>
          </a:p>
        </p:txBody>
      </p:sp>
      <p:sp>
        <p:nvSpPr>
          <p:cNvPr id="9" name="punto ordine"/>
          <p:cNvSpPr/>
          <p:nvPr/>
        </p:nvSpPr>
        <p:spPr>
          <a:xfrm>
            <a:off x="777240" y="2240280"/>
            <a:ext cx="164592" cy="164592"/>
          </a:xfrm>
          <a:prstGeom prst="ellipse">
            <a:avLst/>
          </a:prstGeom>
          <a:solidFill>
            <a:schemeClr val="accent1"/>
          </a:solidFill>
          <a:ln/>
        </p:spPr>
      </p:sp>
      <p:sp>
        <p:nvSpPr>
          <p:cNvPr id="10" name="Text 7"/>
          <p:cNvSpPr txBox="1"/>
          <p:nvPr/>
        </p:nvSpPr>
        <p:spPr>
          <a:xfrm>
            <a:off x="996696" y="21762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ordine</a:t>
            </a:r>
            <a:endParaRPr lang="en-US" sz="1300" dirty="0"/>
          </a:p>
        </p:txBody>
      </p:sp>
      <p:sp>
        <p:nvSpPr>
          <p:cNvPr id="11" name="punto cane"/>
          <p:cNvSpPr/>
          <p:nvPr/>
        </p:nvSpPr>
        <p:spPr>
          <a:xfrm>
            <a:off x="3474720" y="1508760"/>
            <a:ext cx="164592" cy="164592"/>
          </a:xfrm>
          <a:prstGeom prst="ellipse">
            <a:avLst/>
          </a:prstGeom>
          <a:solidFill>
            <a:schemeClr val="accent5"/>
          </a:solidFill>
          <a:ln/>
        </p:spPr>
      </p:sp>
      <p:sp>
        <p:nvSpPr>
          <p:cNvPr id="12" name="Text 9"/>
          <p:cNvSpPr txBox="1"/>
          <p:nvPr/>
        </p:nvSpPr>
        <p:spPr>
          <a:xfrm>
            <a:off x="3694176" y="14447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cane</a:t>
            </a:r>
            <a:endParaRPr lang="en-US" sz="1300" dirty="0"/>
          </a:p>
        </p:txBody>
      </p:sp>
      <p:sp>
        <p:nvSpPr>
          <p:cNvPr id="13" name="punto gatto"/>
          <p:cNvSpPr/>
          <p:nvPr/>
        </p:nvSpPr>
        <p:spPr>
          <a:xfrm>
            <a:off x="4069080" y="1783080"/>
            <a:ext cx="164592" cy="164592"/>
          </a:xfrm>
          <a:prstGeom prst="ellipse">
            <a:avLst/>
          </a:prstGeom>
          <a:solidFill>
            <a:schemeClr val="accent5"/>
          </a:solidFill>
          <a:ln/>
        </p:spPr>
      </p:sp>
      <p:sp>
        <p:nvSpPr>
          <p:cNvPr id="14" name="Text 11"/>
          <p:cNvSpPr txBox="1"/>
          <p:nvPr/>
        </p:nvSpPr>
        <p:spPr>
          <a:xfrm>
            <a:off x="4288536" y="17190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gatto</a:t>
            </a:r>
            <a:endParaRPr lang="en-US" sz="1300" dirty="0"/>
          </a:p>
        </p:txBody>
      </p:sp>
      <p:sp>
        <p:nvSpPr>
          <p:cNvPr id="15" name="punto criceto"/>
          <p:cNvSpPr/>
          <p:nvPr/>
        </p:nvSpPr>
        <p:spPr>
          <a:xfrm>
            <a:off x="3611880" y="2194560"/>
            <a:ext cx="164592" cy="164592"/>
          </a:xfrm>
          <a:prstGeom prst="ellipse">
            <a:avLst/>
          </a:prstGeom>
          <a:solidFill>
            <a:schemeClr val="accent5"/>
          </a:solidFill>
          <a:ln/>
        </p:spPr>
      </p:sp>
      <p:sp>
        <p:nvSpPr>
          <p:cNvPr id="16" name="Text 13"/>
          <p:cNvSpPr txBox="1"/>
          <p:nvPr/>
        </p:nvSpPr>
        <p:spPr>
          <a:xfrm>
            <a:off x="3831336" y="21305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criceto</a:t>
            </a:r>
            <a:endParaRPr lang="en-US" sz="1300" dirty="0"/>
          </a:p>
        </p:txBody>
      </p:sp>
      <p:sp>
        <p:nvSpPr>
          <p:cNvPr id="17" name="punto Roma"/>
          <p:cNvSpPr/>
          <p:nvPr/>
        </p:nvSpPr>
        <p:spPr>
          <a:xfrm>
            <a:off x="2103120" y="3291840"/>
            <a:ext cx="164592" cy="164592"/>
          </a:xfrm>
          <a:prstGeom prst="ellipse">
            <a:avLst/>
          </a:prstGeom>
          <a:solidFill>
            <a:schemeClr val="tx2"/>
          </a:solidFill>
          <a:ln/>
        </p:spPr>
      </p:sp>
      <p:sp>
        <p:nvSpPr>
          <p:cNvPr id="18" name="Text 15"/>
          <p:cNvSpPr txBox="1"/>
          <p:nvPr/>
        </p:nvSpPr>
        <p:spPr>
          <a:xfrm>
            <a:off x="2322576" y="3227832"/>
            <a:ext cx="1097280" cy="292608"/>
          </a:xfrm>
          <a:prstGeom prst="rect">
            <a:avLst/>
          </a:prstGeom>
          <a:noFill/>
          <a:ln/>
        </p:spPr>
        <p:txBody>
          <a:bodyPr wrap="square" lIns="0" tIns="0" rIns="0" bIns="0" rtlCol="0" anchor="t"/>
          <a:lstStyle/>
          <a:p>
            <a:pPr indent="0" marL="0">
              <a:buNone/>
            </a:pPr>
            <a:r>
              <a:rPr lang="en-US" sz="1300" b="1" dirty="0">
                <a:solidFill>
                  <a:schemeClr val="tx1"/>
                </a:solidFill>
              </a:rPr>
              <a:t>Roma</a:t>
            </a:r>
            <a:endParaRPr lang="en-US" sz="1300" dirty="0"/>
          </a:p>
        </p:txBody>
      </p:sp>
      <p:sp>
        <p:nvSpPr>
          <p:cNvPr id="19" name="punto Milano"/>
          <p:cNvSpPr/>
          <p:nvPr/>
        </p:nvSpPr>
        <p:spPr>
          <a:xfrm>
            <a:off x="2788920" y="3611880"/>
            <a:ext cx="164592" cy="164592"/>
          </a:xfrm>
          <a:prstGeom prst="ellipse">
            <a:avLst/>
          </a:prstGeom>
          <a:solidFill>
            <a:schemeClr val="tx2"/>
          </a:solidFill>
          <a:ln/>
        </p:spPr>
      </p:sp>
      <p:sp>
        <p:nvSpPr>
          <p:cNvPr id="20" name="Text 17"/>
          <p:cNvSpPr txBox="1"/>
          <p:nvPr/>
        </p:nvSpPr>
        <p:spPr>
          <a:xfrm>
            <a:off x="3008376" y="35478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Milano</a:t>
            </a:r>
            <a:endParaRPr lang="en-US" sz="1300" dirty="0"/>
          </a:p>
        </p:txBody>
      </p:sp>
      <p:sp>
        <p:nvSpPr>
          <p:cNvPr id="21" name="punto Napoli"/>
          <p:cNvSpPr/>
          <p:nvPr/>
        </p:nvSpPr>
        <p:spPr>
          <a:xfrm>
            <a:off x="2011680" y="3886200"/>
            <a:ext cx="164592" cy="164592"/>
          </a:xfrm>
          <a:prstGeom prst="ellipse">
            <a:avLst/>
          </a:prstGeom>
          <a:solidFill>
            <a:schemeClr val="tx2"/>
          </a:solidFill>
          <a:ln/>
        </p:spPr>
      </p:sp>
      <p:sp>
        <p:nvSpPr>
          <p:cNvPr id="22" name="Text 19"/>
          <p:cNvSpPr txBox="1"/>
          <p:nvPr/>
        </p:nvSpPr>
        <p:spPr>
          <a:xfrm>
            <a:off x="2231136" y="3822192"/>
            <a:ext cx="1097280" cy="292608"/>
          </a:xfrm>
          <a:prstGeom prst="rect">
            <a:avLst/>
          </a:prstGeom>
          <a:noFill/>
          <a:ln/>
        </p:spPr>
        <p:txBody>
          <a:bodyPr wrap="square" lIns="0" tIns="0" rIns="0" bIns="0" rtlCol="0" anchor="t"/>
          <a:lstStyle/>
          <a:p>
            <a:pPr indent="0" marL="0">
              <a:buNone/>
            </a:pPr>
            <a:r>
              <a:rPr lang="en-US" sz="1300" b="1" dirty="0">
                <a:solidFill>
                  <a:schemeClr val="tx1"/>
                </a:solidFill>
              </a:rPr>
              <a:t>Napoli</a:t>
            </a:r>
            <a:endParaRPr lang="en-US" sz="130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indent="0" marL="0">
              <a:buNone/>
            </a:pPr>
            <a:r>
              <a:rPr lang="en-US" sz="1000" i="1" dirty="0">
                <a:solidFill>
                  <a:schemeClr val="accent2"/>
                </a:solidFill>
              </a:rPr>
              <a:t>Rappresentazione illustrativa in due dimensioni</a:t>
            </a:r>
            <a:endParaRPr lang="en-US" sz="1000" dirty="0"/>
          </a:p>
        </p:txBody>
      </p:sp>
      <p:sp>
        <p:nvSpPr>
          <p:cNvPr id="24" name="cerchio FiTarget"/>
          <p:cNvSpPr/>
          <p:nvPr/>
        </p:nvSpPr>
        <p:spPr>
          <a:xfrm>
            <a:off x="5669280" y="1143000"/>
            <a:ext cx="457200" cy="457200"/>
          </a:xfrm>
          <a:prstGeom prst="ellipse">
            <a:avLst/>
          </a:prstGeom>
          <a:solidFill>
            <a:schemeClr val="accent1"/>
          </a:solidFill>
          <a:ln/>
        </p:spPr>
      </p:sp>
      <p:pic>
        <p:nvPicPr>
          <p:cNvPr id="25" name="Image 0" descr="FiTarget">    </p:cNvPr>
          <p:cNvPicPr>
            <a:picLocks noChangeAspect="1"/>
          </p:cNvPicPr>
          <p:nvPr/>
        </p:nvPicPr>
        <p:blipFill>
          <a:blip r:embed="rId1"/>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indent="0" marL="0">
              <a:buNone/>
            </a:pPr>
            <a:r>
              <a:rPr lang="en-US" sz="1300" b="1" dirty="0">
                <a:solidFill>
                  <a:schemeClr val="tx1"/>
                </a:solidFill>
              </a:rPr>
              <a:t>Significati simili, posizioni vicine</a:t>
            </a:r>
            <a:endParaRPr lang="en-US" sz="130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indent="0" marL="0">
              <a:buNone/>
            </a:pPr>
            <a:r>
              <a:rPr lang="en-US" sz="1100" dirty="0">
                <a:solidFill>
                  <a:schemeClr val="tx2"/>
                </a:solidFill>
              </a:rPr>
              <a:t>Ogni token diventa una lista di numeri: una posizione in uno spazio</a:t>
            </a:r>
            <a:endParaRPr lang="en-US" sz="1100" dirty="0"/>
          </a:p>
        </p:txBody>
      </p:sp>
      <p:sp>
        <p:nvSpPr>
          <p:cNvPr id="28" name="cerchio FiTrendingUp"/>
          <p:cNvSpPr/>
          <p:nvPr/>
        </p:nvSpPr>
        <p:spPr>
          <a:xfrm>
            <a:off x="5669280" y="2258568"/>
            <a:ext cx="457200" cy="457200"/>
          </a:xfrm>
          <a:prstGeom prst="ellipse">
            <a:avLst/>
          </a:prstGeom>
          <a:solidFill>
            <a:schemeClr val="accent1"/>
          </a:solidFill>
          <a:ln/>
        </p:spPr>
      </p:sp>
      <p:pic>
        <p:nvPicPr>
          <p:cNvPr id="29" name="Image 1" descr="FiTrendingUp">    </p:cNvPr>
          <p:cNvPicPr>
            <a:picLocks noChangeAspect="1"/>
          </p:cNvPicPr>
          <p:nvPr/>
        </p:nvPicPr>
        <p:blipFill>
          <a:blip r:embed="rId2"/>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indent="0" marL="0">
              <a:buNone/>
            </a:pPr>
            <a:r>
              <a:rPr lang="en-US" sz="1300" b="1" dirty="0">
                <a:solidFill>
                  <a:schemeClr val="tx1"/>
                </a:solidFill>
              </a:rPr>
              <a:t>Emergono dall'addestramento</a:t>
            </a:r>
            <a:endParaRPr lang="en-US" sz="130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indent="0" marL="0">
              <a:buNone/>
            </a:pPr>
            <a:r>
              <a:rPr lang="en-US" sz="1100" dirty="0">
                <a:solidFill>
                  <a:schemeClr val="tx2"/>
                </a:solidFill>
              </a:rPr>
              <a:t>Parole usate in contesti simili hanno rappresentazioni simili</a:t>
            </a:r>
            <a:endParaRPr lang="en-US" sz="1100" dirty="0"/>
          </a:p>
        </p:txBody>
      </p:sp>
      <p:sp>
        <p:nvSpPr>
          <p:cNvPr id="32" name="cerchio FiLink"/>
          <p:cNvSpPr/>
          <p:nvPr/>
        </p:nvSpPr>
        <p:spPr>
          <a:xfrm>
            <a:off x="5669280" y="3374136"/>
            <a:ext cx="457200" cy="457200"/>
          </a:xfrm>
          <a:prstGeom prst="ellipse">
            <a:avLst/>
          </a:prstGeom>
          <a:solidFill>
            <a:schemeClr val="accent1"/>
          </a:solidFill>
          <a:ln/>
        </p:spPr>
      </p:sp>
      <p:pic>
        <p:nvPicPr>
          <p:cNvPr id="33" name="Image 2" descr="FiLink">    </p:cNvPr>
          <p:cNvPicPr>
            <a:picLocks noChangeAspect="1"/>
          </p:cNvPicPr>
          <p:nvPr/>
        </p:nvPicPr>
        <p:blipFill>
          <a:blip r:embed="rId3"/>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indent="0" marL="0">
              <a:buNone/>
            </a:pPr>
            <a:r>
              <a:rPr lang="en-US" sz="1300" b="1" dirty="0">
                <a:solidFill>
                  <a:schemeClr val="tx1"/>
                </a:solidFill>
              </a:rPr>
              <a:t>Arricchite dal contesto</a:t>
            </a:r>
            <a:endParaRPr lang="en-US" sz="130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indent="0" marL="0">
              <a:buNone/>
            </a:pPr>
            <a:r>
              <a:rPr lang="en-US" sz="1100" dirty="0">
                <a:solidFill>
                  <a:schemeClr val="tx2"/>
                </a:solidFill>
              </a:rPr>
              <a:t>Il significato di ogni token si precisa in base alla frase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Transformer e il meccanismo di attenzione</a:t>
            </a:r>
            <a:endParaRPr lang="en-US" sz="2600" dirty="0"/>
          </a:p>
        </p:txBody>
      </p:sp>
      <p:sp>
        <p:nvSpPr>
          <p:cNvPr id="4" name="blocco Ho"/>
          <p:cNvSpPr/>
          <p:nvPr/>
        </p:nvSpPr>
        <p:spPr>
          <a:xfrm>
            <a:off x="457200" y="1645920"/>
            <a:ext cx="512064" cy="502920"/>
          </a:xfrm>
          <a:prstGeom prst="roundRect">
            <a:avLst>
              <a:gd name="adj" fmla="val 21818"/>
            </a:avLst>
          </a:prstGeom>
          <a:solidFill>
            <a:schemeClr val="bg2"/>
          </a:solidFill>
          <a:ln/>
        </p:spPr>
      </p:sp>
      <p:sp>
        <p:nvSpPr>
          <p:cNvPr id="5" name="Text 2"/>
          <p:cNvSpPr txBox="1"/>
          <p:nvPr/>
        </p:nvSpPr>
        <p:spPr>
          <a:xfrm>
            <a:off x="502920" y="1645920"/>
            <a:ext cx="420624" cy="502920"/>
          </a:xfrm>
          <a:prstGeom prst="rect">
            <a:avLst/>
          </a:prstGeom>
          <a:noFill/>
          <a:ln/>
        </p:spPr>
        <p:txBody>
          <a:bodyPr wrap="square" lIns="0" tIns="0" rIns="0" bIns="0" rtlCol="0" anchor="ctr"/>
          <a:lstStyle/>
          <a:p>
            <a:pPr algn="ctr" indent="0" marL="0">
              <a:buNone/>
            </a:pPr>
            <a:r>
              <a:rPr lang="en-US" sz="1400" dirty="0">
                <a:solidFill>
                  <a:schemeClr val="tx1"/>
                </a:solidFill>
              </a:rPr>
              <a:t>Ho</a:t>
            </a:r>
            <a:endParaRPr lang="en-US" sz="140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sp>
      <p:sp>
        <p:nvSpPr>
          <p:cNvPr id="7" name="Text 4"/>
          <p:cNvSpPr txBox="1"/>
          <p:nvPr/>
        </p:nvSpPr>
        <p:spPr>
          <a:xfrm>
            <a:off x="1106424" y="1645920"/>
            <a:ext cx="1078992" cy="502920"/>
          </a:xfrm>
          <a:prstGeom prst="rect">
            <a:avLst/>
          </a:prstGeom>
          <a:noFill/>
          <a:ln/>
        </p:spPr>
        <p:txBody>
          <a:bodyPr wrap="square" lIns="0" tIns="0" rIns="0" bIns="0" rtlCol="0" anchor="ctr"/>
          <a:lstStyle/>
          <a:p>
            <a:pPr algn="ctr" indent="0" marL="0">
              <a:buNone/>
            </a:pPr>
            <a:r>
              <a:rPr lang="en-US" sz="1400" b="1" dirty="0">
                <a:solidFill>
                  <a:schemeClr val="tx1"/>
                </a:solidFill>
              </a:rPr>
              <a:t>mangiato</a:t>
            </a:r>
            <a:endParaRPr lang="en-US" sz="1400" dirty="0"/>
          </a:p>
        </p:txBody>
      </p:sp>
      <p:sp>
        <p:nvSpPr>
          <p:cNvPr id="8" name="blocco una"/>
          <p:cNvSpPr/>
          <p:nvPr/>
        </p:nvSpPr>
        <p:spPr>
          <a:xfrm>
            <a:off x="2322576" y="1645920"/>
            <a:ext cx="621792" cy="502920"/>
          </a:xfrm>
          <a:prstGeom prst="roundRect">
            <a:avLst>
              <a:gd name="adj" fmla="val 21818"/>
            </a:avLst>
          </a:prstGeom>
          <a:solidFill>
            <a:schemeClr val="bg2"/>
          </a:solidFill>
          <a:ln/>
        </p:spPr>
      </p:sp>
      <p:sp>
        <p:nvSpPr>
          <p:cNvPr id="9" name="Text 6"/>
          <p:cNvSpPr txBox="1"/>
          <p:nvPr/>
        </p:nvSpPr>
        <p:spPr>
          <a:xfrm>
            <a:off x="2368296" y="164592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una</a:t>
            </a:r>
            <a:endParaRPr lang="en-US" sz="140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sp>
      <p:sp>
        <p:nvSpPr>
          <p:cNvPr id="11" name="Text 8"/>
          <p:cNvSpPr txBox="1"/>
          <p:nvPr/>
        </p:nvSpPr>
        <p:spPr>
          <a:xfrm>
            <a:off x="3081528" y="164592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sp>
      <p:sp>
        <p:nvSpPr>
          <p:cNvPr id="13" name="Text 10"/>
          <p:cNvSpPr txBox="1"/>
          <p:nvPr/>
        </p:nvSpPr>
        <p:spPr>
          <a:xfrm>
            <a:off x="4014216" y="1645920"/>
            <a:ext cx="859536" cy="502920"/>
          </a:xfrm>
          <a:prstGeom prst="rect">
            <a:avLst/>
          </a:prstGeom>
          <a:noFill/>
          <a:ln/>
        </p:spPr>
        <p:txBody>
          <a:bodyPr wrap="square" lIns="0" tIns="0" rIns="0" bIns="0" rtlCol="0" anchor="ctr"/>
          <a:lstStyle/>
          <a:p>
            <a:pPr algn="ctr" indent="0" marL="0">
              <a:buNone/>
            </a:pPr>
            <a:r>
              <a:rPr lang="en-US" sz="1400" b="1" dirty="0">
                <a:solidFill>
                  <a:schemeClr val="tx1"/>
                </a:solidFill>
              </a:rPr>
              <a:t>matura</a:t>
            </a:r>
            <a:endParaRPr lang="en-US" sz="140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sp>
      <p:sp>
        <p:nvSpPr>
          <p:cNvPr id="16" name="Text 13"/>
          <p:cNvSpPr txBox="1"/>
          <p:nvPr/>
        </p:nvSpPr>
        <p:spPr>
          <a:xfrm>
            <a:off x="6126480" y="164592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 frutto</a:t>
            </a:r>
            <a:endParaRPr lang="en-US" sz="150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sp>
      <p:sp>
        <p:nvSpPr>
          <p:cNvPr id="18" name="Text 15"/>
          <p:cNvSpPr txBox="1"/>
          <p:nvPr/>
        </p:nvSpPr>
        <p:spPr>
          <a:xfrm>
            <a:off x="502920" y="3063240"/>
            <a:ext cx="1078992" cy="502920"/>
          </a:xfrm>
          <a:prstGeom prst="rect">
            <a:avLst/>
          </a:prstGeom>
          <a:noFill/>
          <a:ln/>
        </p:spPr>
        <p:txBody>
          <a:bodyPr wrap="square" lIns="0" tIns="0" rIns="0" bIns="0" rtlCol="0" anchor="ctr"/>
          <a:lstStyle/>
          <a:p>
            <a:pPr algn="ctr" indent="0" marL="0">
              <a:buNone/>
            </a:pPr>
            <a:r>
              <a:rPr lang="en-US" sz="1400" dirty="0">
                <a:solidFill>
                  <a:schemeClr val="tx1"/>
                </a:solidFill>
              </a:rPr>
              <a:t>Domenica</a:t>
            </a:r>
            <a:endParaRPr lang="en-US" sz="140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sp>
      <p:sp>
        <p:nvSpPr>
          <p:cNvPr id="20" name="Text 17"/>
          <p:cNvSpPr txBox="1"/>
          <p:nvPr/>
        </p:nvSpPr>
        <p:spPr>
          <a:xfrm>
            <a:off x="1764792" y="3063240"/>
            <a:ext cx="969264" cy="502920"/>
          </a:xfrm>
          <a:prstGeom prst="rect">
            <a:avLst/>
          </a:prstGeom>
          <a:noFill/>
          <a:ln/>
        </p:spPr>
        <p:txBody>
          <a:bodyPr wrap="square" lIns="0" tIns="0" rIns="0" bIns="0" rtlCol="0" anchor="ctr"/>
          <a:lstStyle/>
          <a:p>
            <a:pPr algn="ctr" indent="0" marL="0">
              <a:buNone/>
            </a:pPr>
            <a:r>
              <a:rPr lang="en-US" sz="1400" b="1" dirty="0">
                <a:solidFill>
                  <a:schemeClr val="tx1"/>
                </a:solidFill>
              </a:rPr>
              <a:t>andiamo</a:t>
            </a:r>
            <a:endParaRPr lang="en-US" sz="1400" dirty="0"/>
          </a:p>
        </p:txBody>
      </p:sp>
      <p:sp>
        <p:nvSpPr>
          <p:cNvPr id="21" name="blocco a"/>
          <p:cNvSpPr/>
          <p:nvPr/>
        </p:nvSpPr>
        <p:spPr>
          <a:xfrm>
            <a:off x="2871216" y="3063240"/>
            <a:ext cx="402336" cy="502920"/>
          </a:xfrm>
          <a:prstGeom prst="roundRect">
            <a:avLst>
              <a:gd name="adj" fmla="val 27273"/>
            </a:avLst>
          </a:prstGeom>
          <a:solidFill>
            <a:schemeClr val="bg2"/>
          </a:solidFill>
          <a:ln/>
        </p:spPr>
      </p:sp>
      <p:sp>
        <p:nvSpPr>
          <p:cNvPr id="22" name="Text 19"/>
          <p:cNvSpPr txBox="1"/>
          <p:nvPr/>
        </p:nvSpPr>
        <p:spPr>
          <a:xfrm>
            <a:off x="2916936" y="3063240"/>
            <a:ext cx="310896" cy="502920"/>
          </a:xfrm>
          <a:prstGeom prst="rect">
            <a:avLst/>
          </a:prstGeom>
          <a:noFill/>
          <a:ln/>
        </p:spPr>
        <p:txBody>
          <a:bodyPr wrap="square" lIns="0" tIns="0" rIns="0" bIns="0" rtlCol="0" anchor="ctr"/>
          <a:lstStyle/>
          <a:p>
            <a:pPr algn="ctr" indent="0" marL="0">
              <a:buNone/>
            </a:pPr>
            <a:r>
              <a:rPr lang="en-US" sz="1400" dirty="0">
                <a:solidFill>
                  <a:schemeClr val="tx1"/>
                </a:solidFill>
              </a:rPr>
              <a:t>a</a:t>
            </a:r>
            <a:endParaRPr lang="en-US" sz="140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sp>
      <p:sp>
        <p:nvSpPr>
          <p:cNvPr id="24" name="Text 21"/>
          <p:cNvSpPr txBox="1"/>
          <p:nvPr/>
        </p:nvSpPr>
        <p:spPr>
          <a:xfrm>
            <a:off x="3410712" y="306324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25" name="blocco sul"/>
          <p:cNvSpPr/>
          <p:nvPr/>
        </p:nvSpPr>
        <p:spPr>
          <a:xfrm>
            <a:off x="4297680" y="3063240"/>
            <a:ext cx="621792" cy="502920"/>
          </a:xfrm>
          <a:prstGeom prst="roundRect">
            <a:avLst>
              <a:gd name="adj" fmla="val 21818"/>
            </a:avLst>
          </a:prstGeom>
          <a:solidFill>
            <a:schemeClr val="bg2"/>
          </a:solidFill>
          <a:ln/>
        </p:spPr>
      </p:sp>
      <p:sp>
        <p:nvSpPr>
          <p:cNvPr id="26" name="Text 23"/>
          <p:cNvSpPr txBox="1"/>
          <p:nvPr/>
        </p:nvSpPr>
        <p:spPr>
          <a:xfrm>
            <a:off x="4343400" y="306324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sul</a:t>
            </a:r>
            <a:endParaRPr lang="en-US" sz="140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sp>
      <p:sp>
        <p:nvSpPr>
          <p:cNvPr id="28" name="Text 25"/>
          <p:cNvSpPr txBox="1"/>
          <p:nvPr/>
        </p:nvSpPr>
        <p:spPr>
          <a:xfrm>
            <a:off x="5056632" y="3063240"/>
            <a:ext cx="640080" cy="502920"/>
          </a:xfrm>
          <a:prstGeom prst="rect">
            <a:avLst/>
          </a:prstGeom>
          <a:noFill/>
          <a:ln/>
        </p:spPr>
        <p:txBody>
          <a:bodyPr wrap="square" lIns="0" tIns="0" rIns="0" bIns="0" rtlCol="0" anchor="ctr"/>
          <a:lstStyle/>
          <a:p>
            <a:pPr algn="ctr" indent="0" marL="0">
              <a:buNone/>
            </a:pPr>
            <a:r>
              <a:rPr lang="en-US" sz="1400" b="1" dirty="0">
                <a:solidFill>
                  <a:schemeClr val="tx1"/>
                </a:solidFill>
              </a:rPr>
              <a:t>lago</a:t>
            </a:r>
            <a:endParaRPr lang="en-US" sz="140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sp>
      <p:sp>
        <p:nvSpPr>
          <p:cNvPr id="31" name="Text 28"/>
          <p:cNvSpPr txBox="1"/>
          <p:nvPr/>
        </p:nvSpPr>
        <p:spPr>
          <a:xfrm>
            <a:off x="6126480" y="306324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un'attività</a:t>
            </a:r>
            <a:endParaRPr lang="en-US" sz="150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sp>
      <p:sp>
        <p:nvSpPr>
          <p:cNvPr id="33" name="Text 3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500" dirty="0">
                <a:solidFill>
                  <a:schemeClr val="bg1"/>
                </a:solidFill>
              </a:rPr>
              <a:t>Il modello interpreta ogni parola alla luce di tutte le altre, anche lontane nel testo.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viene generata una risposta</a:t>
            </a:r>
            <a:endParaRPr lang="en-US" sz="260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sp>
      <p:sp>
        <p:nvSpPr>
          <p:cNvPr id="5" name="Text 2"/>
          <p:cNvSpPr txBox="1"/>
          <p:nvPr/>
        </p:nvSpPr>
        <p:spPr>
          <a:xfrm>
            <a:off x="502920" y="114300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1. Testo disponibile</a:t>
            </a:r>
            <a:endParaRPr lang="en-US" sz="1400" dirty="0"/>
          </a:p>
        </p:txBody>
      </p:sp>
      <p:sp>
        <p:nvSpPr>
          <p:cNvPr id="6" name="freccia giù"/>
          <p:cNvSpPr/>
          <p:nvPr/>
        </p:nvSpPr>
        <p:spPr>
          <a:xfrm>
            <a:off x="1783080" y="1728216"/>
            <a:ext cx="274320" cy="182880"/>
          </a:xfrm>
          <a:prstGeom prst="downArrow">
            <a:avLst/>
          </a:prstGeom>
          <a:solidFill>
            <a:schemeClr val="accent2"/>
          </a:solidFill>
          <a:ln/>
        </p:spPr>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sp>
      <p:sp>
        <p:nvSpPr>
          <p:cNvPr id="8" name="Text 5"/>
          <p:cNvSpPr txBox="1"/>
          <p:nvPr/>
        </p:nvSpPr>
        <p:spPr>
          <a:xfrm>
            <a:off x="502920" y="192024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2. Probabilità per ogni token</a:t>
            </a:r>
            <a:endParaRPr lang="en-US" sz="1400" dirty="0"/>
          </a:p>
        </p:txBody>
      </p:sp>
      <p:sp>
        <p:nvSpPr>
          <p:cNvPr id="9" name="freccia giù"/>
          <p:cNvSpPr/>
          <p:nvPr/>
        </p:nvSpPr>
        <p:spPr>
          <a:xfrm>
            <a:off x="1783080" y="2505456"/>
            <a:ext cx="274320" cy="182880"/>
          </a:xfrm>
          <a:prstGeom prst="downArrow">
            <a:avLst/>
          </a:prstGeom>
          <a:solidFill>
            <a:schemeClr val="accent2"/>
          </a:solidFill>
          <a:ln/>
        </p:spPr>
      </p:sp>
      <p:sp>
        <p:nvSpPr>
          <p:cNvPr id="10" name="blocco 3. Scelta di un token"/>
          <p:cNvSpPr/>
          <p:nvPr/>
        </p:nvSpPr>
        <p:spPr>
          <a:xfrm>
            <a:off x="457200" y="2697480"/>
            <a:ext cx="2926080" cy="566928"/>
          </a:xfrm>
          <a:prstGeom prst="roundRect">
            <a:avLst>
              <a:gd name="adj" fmla="val 19355"/>
            </a:avLst>
          </a:prstGeom>
          <a:solidFill>
            <a:schemeClr val="accent1"/>
          </a:solidFill>
          <a:ln/>
        </p:spPr>
      </p:sp>
      <p:sp>
        <p:nvSpPr>
          <p:cNvPr id="11" name="Text 8"/>
          <p:cNvSpPr txBox="1"/>
          <p:nvPr/>
        </p:nvSpPr>
        <p:spPr>
          <a:xfrm>
            <a:off x="502920" y="2697480"/>
            <a:ext cx="2834640" cy="566928"/>
          </a:xfrm>
          <a:prstGeom prst="rect">
            <a:avLst/>
          </a:prstGeom>
          <a:noFill/>
          <a:ln/>
        </p:spPr>
        <p:txBody>
          <a:bodyPr wrap="square" lIns="0" tIns="0" rIns="0" bIns="0" rtlCol="0" anchor="ctr"/>
          <a:lstStyle/>
          <a:p>
            <a:pPr algn="ctr" indent="0" marL="0">
              <a:buNone/>
            </a:pPr>
            <a:r>
              <a:rPr lang="en-US" sz="1400" b="1" dirty="0">
                <a:solidFill>
                  <a:schemeClr val="bg1"/>
                </a:solidFill>
              </a:rPr>
              <a:t>3. Scelta di un token</a:t>
            </a:r>
            <a:endParaRPr lang="en-US" sz="1400" dirty="0"/>
          </a:p>
        </p:txBody>
      </p:sp>
      <p:sp>
        <p:nvSpPr>
          <p:cNvPr id="12" name="freccia giù"/>
          <p:cNvSpPr/>
          <p:nvPr/>
        </p:nvSpPr>
        <p:spPr>
          <a:xfrm>
            <a:off x="1783080" y="3282696"/>
            <a:ext cx="274320" cy="182880"/>
          </a:xfrm>
          <a:prstGeom prst="downArrow">
            <a:avLst/>
          </a:prstGeom>
          <a:solidFill>
            <a:schemeClr val="accent2"/>
          </a:solidFill>
          <a:ln/>
        </p:spPr>
      </p:sp>
      <p:sp>
        <p:nvSpPr>
          <p:cNvPr id="13" name="blocco 4. Aggiunta al testo"/>
          <p:cNvSpPr/>
          <p:nvPr/>
        </p:nvSpPr>
        <p:spPr>
          <a:xfrm>
            <a:off x="457200" y="3474720"/>
            <a:ext cx="2926080" cy="566928"/>
          </a:xfrm>
          <a:prstGeom prst="roundRect">
            <a:avLst>
              <a:gd name="adj" fmla="val 19355"/>
            </a:avLst>
          </a:prstGeom>
          <a:solidFill>
            <a:schemeClr val="bg2"/>
          </a:solidFill>
          <a:ln/>
        </p:spPr>
      </p:sp>
      <p:sp>
        <p:nvSpPr>
          <p:cNvPr id="14" name="Text 11"/>
          <p:cNvSpPr txBox="1"/>
          <p:nvPr/>
        </p:nvSpPr>
        <p:spPr>
          <a:xfrm>
            <a:off x="502920" y="347472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4. Aggiunta al testo</a:t>
            </a:r>
            <a:endParaRPr lang="en-US" sz="140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indent="0" marL="0">
              <a:buNone/>
            </a:pPr>
            <a:r>
              <a:rPr lang="en-US" sz="1200" i="1" dirty="0">
                <a:solidFill>
                  <a:schemeClr val="tx2"/>
                </a:solidFill>
              </a:rPr>
              <a:t>Si ripete per ogni token: centinaia di cicli per una risposta.</a:t>
            </a:r>
            <a:endParaRPr lang="en-US" sz="120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sp>
      <p:sp>
        <p:nvSpPr>
          <p:cNvPr id="17" name="Text 14"/>
          <p:cNvSpPr txBox="1"/>
          <p:nvPr/>
        </p:nvSpPr>
        <p:spPr>
          <a:xfrm>
            <a:off x="3931920" y="1097280"/>
            <a:ext cx="4572000" cy="502920"/>
          </a:xfrm>
          <a:prstGeom prst="rect">
            <a:avLst/>
          </a:prstGeom>
          <a:noFill/>
          <a:ln/>
        </p:spPr>
        <p:txBody>
          <a:bodyPr wrap="square" lIns="0" tIns="0" rIns="0" bIns="0" rtlCol="0" anchor="ctr"/>
          <a:lstStyle/>
          <a:p>
            <a:pPr indent="0" marL="0">
              <a:buNone/>
            </a:pPr>
            <a:r>
              <a:rPr lang="en-US" sz="1600" dirty="0">
                <a:solidFill>
                  <a:schemeClr val="tx1"/>
                </a:solidFill>
              </a:rPr>
              <a:t>Oggi il cielo è </a:t>
            </a:r>
            <a:pPr indent="0" marL="0">
              <a:buNone/>
            </a:pPr>
            <a:r>
              <a:rPr lang="en-US" sz="1600" b="1" dirty="0">
                <a:solidFill>
                  <a:schemeClr val="accent1"/>
                </a:solidFill>
              </a:rPr>
              <a:t>...</a:t>
            </a:r>
            <a:endParaRPr lang="en-US" sz="1600" dirty="0"/>
          </a:p>
        </p:txBody>
      </p:sp>
      <p:graphicFrame>
        <p:nvGraphicFramePr>
          <p:cNvPr id="18" name="Chart 0" descr=""/>
          <p:cNvGraphicFramePr/>
          <p:nvPr/>
        </p:nvGraphicFramePr>
        <p:xfrm>
          <a:off x="3749040" y="1691640"/>
          <a:ext cx="4937760" cy="265176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indent="0" marL="0">
              <a:buNone/>
            </a:pPr>
            <a:r>
              <a:rPr lang="en-US" sz="1000" i="1" dirty="0">
                <a:solidFill>
                  <a:schemeClr val="accent2"/>
                </a:solidFill>
              </a:rPr>
              <a:t>Probabilità del token successivo, valori illustrativi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di un completamento automatico</a:t>
            </a:r>
            <a:endParaRPr lang="en-US" sz="260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sp>
      <p:sp>
        <p:nvSpPr>
          <p:cNvPr id="5" name="cerchio FiSmartphone"/>
          <p:cNvSpPr/>
          <p:nvPr/>
        </p:nvSpPr>
        <p:spPr>
          <a:xfrm>
            <a:off x="640080" y="1280160"/>
            <a:ext cx="457200" cy="457200"/>
          </a:xfrm>
          <a:prstGeom prst="ellipse">
            <a:avLst/>
          </a:prstGeom>
          <a:solidFill>
            <a:schemeClr val="accent1"/>
          </a:solidFill>
          <a:ln/>
        </p:spPr>
      </p:sp>
      <p:pic>
        <p:nvPicPr>
          <p:cNvPr id="6" name="Image 0" descr="FiSmartphon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Il suggeritore della tastiera</a:t>
            </a:r>
            <a:endParaRPr lang="en-US" sz="150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indent="0" marL="0">
              <a:buNone/>
            </a:pPr>
            <a:r>
              <a:rPr lang="en-US" sz="1300" dirty="0">
                <a:solidFill>
                  <a:schemeClr val="tx2"/>
                </a:solidFill>
              </a:rPr>
              <a:t>Guarda poche parole precedenti e propone la più frequente.</a:t>
            </a:r>
            <a:endParaRPr lang="en-US" sz="1300" dirty="0"/>
          </a:p>
        </p:txBody>
      </p:sp>
      <p:sp>
        <p:nvSpPr>
          <p:cNvPr id="9" name="freccia"/>
          <p:cNvSpPr/>
          <p:nvPr/>
        </p:nvSpPr>
        <p:spPr>
          <a:xfrm>
            <a:off x="3154680" y="2194560"/>
            <a:ext cx="457200" cy="292608"/>
          </a:xfrm>
          <a:prstGeom prst="rightArrow">
            <a:avLst/>
          </a:prstGeom>
          <a:solidFill>
            <a:schemeClr val="accent1"/>
          </a:solidFill>
          <a:ln/>
        </p:spPr>
      </p:sp>
      <p:sp>
        <p:nvSpPr>
          <p:cNvPr id="10" name="LLM"/>
          <p:cNvSpPr/>
          <p:nvPr/>
        </p:nvSpPr>
        <p:spPr>
          <a:xfrm>
            <a:off x="3703320" y="1097280"/>
            <a:ext cx="4983480" cy="2468880"/>
          </a:xfrm>
          <a:prstGeom prst="roundRect">
            <a:avLst>
              <a:gd name="adj" fmla="val 2963"/>
            </a:avLst>
          </a:prstGeom>
          <a:solidFill>
            <a:schemeClr val="accent6"/>
          </a:solidFill>
          <a:ln/>
        </p:spPr>
      </p:sp>
      <p:sp>
        <p:nvSpPr>
          <p:cNvPr id="11" name="Text 7"/>
          <p:cNvSpPr txBox="1"/>
          <p:nvPr/>
        </p:nvSpPr>
        <p:spPr>
          <a:xfrm>
            <a:off x="3886200" y="1207008"/>
            <a:ext cx="4572000" cy="320040"/>
          </a:xfrm>
          <a:prstGeom prst="rect">
            <a:avLst/>
          </a:prstGeom>
          <a:noFill/>
          <a:ln/>
        </p:spPr>
        <p:txBody>
          <a:bodyPr wrap="square" lIns="0" tIns="0" rIns="0" bIns="0" rtlCol="0" anchor="t"/>
          <a:lstStyle/>
          <a:p>
            <a:pPr indent="0" marL="0">
              <a:buNone/>
            </a:pPr>
            <a:r>
              <a:rPr lang="en-US" sz="1600" b="1" dirty="0">
                <a:solidFill>
                  <a:schemeClr val="tx1"/>
                </a:solidFill>
              </a:rPr>
              <a:t>Un LLM</a:t>
            </a:r>
            <a:endParaRPr lang="en-US" sz="1600" dirty="0"/>
          </a:p>
        </p:txBody>
      </p:sp>
      <p:sp>
        <p:nvSpPr>
          <p:cNvPr id="12" name="cerchio FiLayers"/>
          <p:cNvSpPr/>
          <p:nvPr/>
        </p:nvSpPr>
        <p:spPr>
          <a:xfrm>
            <a:off x="3886200" y="1627632"/>
            <a:ext cx="411480" cy="411480"/>
          </a:xfrm>
          <a:prstGeom prst="ellipse">
            <a:avLst/>
          </a:prstGeom>
          <a:solidFill>
            <a:schemeClr val="accent1"/>
          </a:solidFill>
          <a:ln/>
        </p:spPr>
      </p:sp>
      <p:pic>
        <p:nvPicPr>
          <p:cNvPr id="13" name="Image 1" descr="FiLayers">    </p:cNvPr>
          <p:cNvPicPr>
            <a:picLocks noChangeAspect="1"/>
          </p:cNvPicPr>
          <p:nvPr/>
        </p:nvPicPr>
        <p:blipFill>
          <a:blip r:embed="rId2"/>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Rappresentazioni ricche: </a:t>
            </a:r>
            <a:pPr indent="0" marL="0">
              <a:buNone/>
            </a:pPr>
            <a:r>
              <a:rPr lang="en-US" sz="1200" dirty="0">
                <a:solidFill>
                  <a:schemeClr val="tx2"/>
                </a:solidFill>
              </a:rPr>
              <a:t>Grammatica, significato, fatti, relazioni logiche</a:t>
            </a:r>
            <a:endParaRPr lang="en-US" sz="1200" dirty="0"/>
          </a:p>
        </p:txBody>
      </p:sp>
      <p:sp>
        <p:nvSpPr>
          <p:cNvPr id="15" name="cerchio FiUserCheck"/>
          <p:cNvSpPr/>
          <p:nvPr/>
        </p:nvSpPr>
        <p:spPr>
          <a:xfrm>
            <a:off x="3886200" y="2267712"/>
            <a:ext cx="411480" cy="41148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Affinato per seguire istruzioni: </a:t>
            </a:r>
            <a:pPr indent="0" marL="0">
              <a:buNone/>
            </a:pPr>
            <a:r>
              <a:rPr lang="en-US" sz="1200" dirty="0">
                <a:solidFill>
                  <a:schemeClr val="tx2"/>
                </a:solidFill>
              </a:rPr>
              <a:t>Dialoga e risponde in modo utile</a:t>
            </a:r>
            <a:endParaRPr lang="en-US" sz="1200" dirty="0"/>
          </a:p>
        </p:txBody>
      </p:sp>
      <p:sp>
        <p:nvSpPr>
          <p:cNvPr id="18" name="cerchio FiPaperclip"/>
          <p:cNvSpPr/>
          <p:nvPr/>
        </p:nvSpPr>
        <p:spPr>
          <a:xfrm>
            <a:off x="3886200" y="2907792"/>
            <a:ext cx="411480" cy="411480"/>
          </a:xfrm>
          <a:prstGeom prst="ellipse">
            <a:avLst/>
          </a:prstGeom>
          <a:solidFill>
            <a:schemeClr val="accent1"/>
          </a:solidFill>
          <a:ln/>
        </p:spPr>
      </p:sp>
      <p:pic>
        <p:nvPicPr>
          <p:cNvPr id="19" name="Image 3" descr="FiPaperclip">    </p:cNvPr>
          <p:cNvPicPr>
            <a:picLocks noChangeAspect="1"/>
          </p:cNvPicPr>
          <p:nvPr/>
        </p:nvPicPr>
        <p:blipFill>
          <a:blip r:embed="rId4"/>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Usa tutto il contesto: </a:t>
            </a:r>
            <a:pPr indent="0" marL="0">
              <a:buNone/>
            </a:pPr>
            <a:r>
              <a:rPr lang="en-US" sz="1200" dirty="0">
                <a:solidFill>
                  <a:schemeClr val="tx2"/>
                </a:solidFill>
              </a:rPr>
              <a:t>Istruzioni, documenti, conversazione, strumenti</a:t>
            </a:r>
            <a:endParaRPr lang="en-US" sz="1200" dirty="0"/>
          </a:p>
        </p:txBody>
      </p:sp>
      <p:sp>
        <p:nvSpPr>
          <p:cNvPr id="21" name="equilibrio"/>
          <p:cNvSpPr/>
          <p:nvPr/>
        </p:nvSpPr>
        <p:spPr>
          <a:xfrm>
            <a:off x="457200" y="3749040"/>
            <a:ext cx="8229600" cy="777240"/>
          </a:xfrm>
          <a:prstGeom prst="roundRect">
            <a:avLst>
              <a:gd name="adj" fmla="val 9412"/>
            </a:avLst>
          </a:prstGeom>
          <a:solidFill>
            <a:schemeClr val="bg2"/>
          </a:solidFill>
          <a:ln/>
        </p:spPr>
      </p:sp>
      <p:sp>
        <p:nvSpPr>
          <p:cNvPr id="22" name="cerchio FiSliders"/>
          <p:cNvSpPr/>
          <p:nvPr/>
        </p:nvSpPr>
        <p:spPr>
          <a:xfrm>
            <a:off x="640080" y="3867912"/>
            <a:ext cx="512064" cy="512064"/>
          </a:xfrm>
          <a:prstGeom prst="ellipse">
            <a:avLst/>
          </a:prstGeom>
          <a:solidFill>
            <a:schemeClr val="accent2"/>
          </a:solidFill>
          <a:ln/>
        </p:spPr>
      </p:sp>
      <p:pic>
        <p:nvPicPr>
          <p:cNvPr id="23" name="Image 4" descr="FiSliders">    </p:cNvPr>
          <p:cNvPicPr>
            <a:picLocks noChangeAspect="1"/>
          </p:cNvPicPr>
          <p:nvPr/>
        </p:nvPicPr>
        <p:blipFill>
          <a:blip r:embed="rId5"/>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300" dirty="0">
                <a:solidFill>
                  <a:schemeClr val="tx1"/>
                </a:solidFill>
              </a:rPr>
              <a:t>Capacità notevoli non significano comprensione umana né assenza di errori: genera output da regolarità apprese e dal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linguistiche, di analisi e di ragionamento</a:t>
            </a:r>
            <a:endParaRPr lang="en-US" sz="2600" dirty="0"/>
          </a:p>
        </p:txBody>
      </p:sp>
      <p:sp>
        <p:nvSpPr>
          <p:cNvPr id="4" name="scheda Linguistiche"/>
          <p:cNvSpPr/>
          <p:nvPr/>
        </p:nvSpPr>
        <p:spPr>
          <a:xfrm>
            <a:off x="457200" y="1097280"/>
            <a:ext cx="2615184" cy="2697480"/>
          </a:xfrm>
          <a:prstGeom prst="roundRect">
            <a:avLst>
              <a:gd name="adj" fmla="val 2797"/>
            </a:avLst>
          </a:prstGeom>
          <a:solidFill>
            <a:schemeClr val="accent6"/>
          </a:solidFill>
          <a:ln/>
        </p:spPr>
      </p:sp>
      <p:sp>
        <p:nvSpPr>
          <p:cNvPr id="5" name="cerchio FiEdit3"/>
          <p:cNvSpPr/>
          <p:nvPr/>
        </p:nvSpPr>
        <p:spPr>
          <a:xfrm>
            <a:off x="640080"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Linguistiche</a:t>
            </a:r>
            <a:endParaRPr lang="en-US" sz="1600" dirty="0"/>
          </a:p>
        </p:txBody>
      </p:sp>
      <p:sp>
        <p:nvSpPr>
          <p:cNvPr id="8" name="Text 4"/>
          <p:cNvSpPr txBox="1"/>
          <p:nvPr/>
        </p:nvSpPr>
        <p:spPr>
          <a:xfrm>
            <a:off x="640080"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Scrivere e riformulare</a:t>
            </a:r>
            <a:endParaRPr lang="en-US" sz="1300" dirty="0"/>
          </a:p>
          <a:p>
            <a:pPr marL="177800" indent="-177800">
              <a:spcAft>
                <a:spcPts val="300"/>
              </a:spcAft>
              <a:buSzPct val="100000"/>
              <a:buChar char="•"/>
            </a:pPr>
            <a:r>
              <a:rPr lang="en-US" sz="1300" dirty="0">
                <a:solidFill>
                  <a:schemeClr val="tx2"/>
                </a:solidFill>
              </a:rPr>
              <a:t>Adattare stile e registro</a:t>
            </a:r>
            <a:endParaRPr lang="en-US" sz="1300" dirty="0"/>
          </a:p>
          <a:p>
            <a:pPr marL="177800" indent="-177800">
              <a:spcAft>
                <a:spcPts val="300"/>
              </a:spcAft>
              <a:buSzPct val="100000"/>
              <a:buChar char="•"/>
            </a:pPr>
            <a:r>
              <a:rPr lang="en-US" sz="1300" dirty="0">
                <a:solidFill>
                  <a:schemeClr val="tx2"/>
                </a:solidFill>
              </a:rPr>
              <a:t>Tradurre e correggere</a:t>
            </a:r>
            <a:endParaRPr lang="en-US" sz="1300" dirty="0"/>
          </a:p>
          <a:p>
            <a:pPr marL="177800" indent="-177800">
              <a:spcAft>
                <a:spcPts val="300"/>
              </a:spcAft>
              <a:buSzPct val="100000"/>
              <a:buChar char="•"/>
            </a:pPr>
            <a:r>
              <a:rPr lang="en-US" sz="1300" dirty="0">
                <a:solidFill>
                  <a:schemeClr val="tx2"/>
                </a:solidFill>
              </a:rPr>
              <a:t>Sintetizzare</a:t>
            </a:r>
            <a:endParaRPr lang="en-US" sz="1300" dirty="0"/>
          </a:p>
        </p:txBody>
      </p:sp>
      <p:sp>
        <p:nvSpPr>
          <p:cNvPr id="9" name="scheda Di analisi"/>
          <p:cNvSpPr/>
          <p:nvPr/>
        </p:nvSpPr>
        <p:spPr>
          <a:xfrm>
            <a:off x="3264408" y="1097280"/>
            <a:ext cx="2615184" cy="2697480"/>
          </a:xfrm>
          <a:prstGeom prst="roundRect">
            <a:avLst>
              <a:gd name="adj" fmla="val 2797"/>
            </a:avLst>
          </a:prstGeom>
          <a:solidFill>
            <a:schemeClr val="bg2"/>
          </a:solidFill>
          <a:ln/>
        </p:spPr>
      </p:sp>
      <p:sp>
        <p:nvSpPr>
          <p:cNvPr id="10" name="cerchio FiSearch"/>
          <p:cNvSpPr/>
          <p:nvPr/>
        </p:nvSpPr>
        <p:spPr>
          <a:xfrm>
            <a:off x="3447288" y="1280160"/>
            <a:ext cx="457200" cy="45720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analisi</a:t>
            </a:r>
            <a:endParaRPr lang="en-US" sz="1600" dirty="0"/>
          </a:p>
        </p:txBody>
      </p:sp>
      <p:sp>
        <p:nvSpPr>
          <p:cNvPr id="13" name="Text 8"/>
          <p:cNvSpPr txBox="1"/>
          <p:nvPr/>
        </p:nvSpPr>
        <p:spPr>
          <a:xfrm>
            <a:off x="3447288"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Estrarre informazioni</a:t>
            </a:r>
            <a:endParaRPr lang="en-US" sz="1300" dirty="0"/>
          </a:p>
          <a:p>
            <a:pPr marL="177800" indent="-177800">
              <a:spcAft>
                <a:spcPts val="300"/>
              </a:spcAft>
              <a:buSzPct val="100000"/>
              <a:buChar char="•"/>
            </a:pPr>
            <a:r>
              <a:rPr lang="en-US" sz="1300" dirty="0">
                <a:solidFill>
                  <a:schemeClr val="tx2"/>
                </a:solidFill>
              </a:rPr>
              <a:t>Classificare e confrontare</a:t>
            </a:r>
            <a:endParaRPr lang="en-US" sz="1300" dirty="0"/>
          </a:p>
          <a:p>
            <a:pPr marL="177800" indent="-177800">
              <a:spcAft>
                <a:spcPts val="300"/>
              </a:spcAft>
              <a:buSzPct val="100000"/>
              <a:buChar char="•"/>
            </a:pPr>
            <a:r>
              <a:rPr lang="en-US" sz="1300" dirty="0">
                <a:solidFill>
                  <a:schemeClr val="tx2"/>
                </a:solidFill>
              </a:rPr>
              <a:t>Individuare temi ricorrenti</a:t>
            </a:r>
            <a:endParaRPr lang="en-US" sz="1300" dirty="0"/>
          </a:p>
          <a:p>
            <a:pPr marL="177800" indent="-177800">
              <a:spcAft>
                <a:spcPts val="300"/>
              </a:spcAft>
              <a:buSzPct val="100000"/>
              <a:buChar char="•"/>
            </a:pPr>
            <a:r>
              <a:rPr lang="en-US" sz="1300" dirty="0">
                <a:solidFill>
                  <a:schemeClr val="tx2"/>
                </a:solidFill>
              </a:rPr>
              <a:t>Strutturare dati disordinati</a:t>
            </a:r>
            <a:endParaRPr lang="en-US" sz="1300" dirty="0"/>
          </a:p>
        </p:txBody>
      </p:sp>
      <p:sp>
        <p:nvSpPr>
          <p:cNvPr id="14" name="scheda Di ragionamento"/>
          <p:cNvSpPr/>
          <p:nvPr/>
        </p:nvSpPr>
        <p:spPr>
          <a:xfrm>
            <a:off x="6071616" y="1097280"/>
            <a:ext cx="2615184" cy="2697480"/>
          </a:xfrm>
          <a:prstGeom prst="roundRect">
            <a:avLst>
              <a:gd name="adj" fmla="val 2797"/>
            </a:avLst>
          </a:prstGeom>
          <a:solidFill>
            <a:schemeClr val="bg2"/>
          </a:solidFill>
          <a:ln/>
        </p:spPr>
      </p:sp>
      <p:sp>
        <p:nvSpPr>
          <p:cNvPr id="15" name="cerchio FiGitBranch"/>
          <p:cNvSpPr/>
          <p:nvPr/>
        </p:nvSpPr>
        <p:spPr>
          <a:xfrm>
            <a:off x="6254496" y="1280160"/>
            <a:ext cx="457200" cy="457200"/>
          </a:xfrm>
          <a:prstGeom prst="ellipse">
            <a:avLst/>
          </a:prstGeom>
          <a:solidFill>
            <a:schemeClr val="accent1"/>
          </a:solidFill>
          <a:ln/>
        </p:spPr>
      </p:sp>
      <p:pic>
        <p:nvPicPr>
          <p:cNvPr id="16" name="Image 2" descr="FiGitBranch">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ragionamento</a:t>
            </a:r>
            <a:endParaRPr lang="en-US" sz="1600" dirty="0"/>
          </a:p>
        </p:txBody>
      </p:sp>
      <p:sp>
        <p:nvSpPr>
          <p:cNvPr id="18" name="Text 12"/>
          <p:cNvSpPr txBox="1"/>
          <p:nvPr/>
        </p:nvSpPr>
        <p:spPr>
          <a:xfrm>
            <a:off x="6254496"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Scomporre problemi</a:t>
            </a:r>
            <a:endParaRPr lang="en-US" sz="1300" dirty="0"/>
          </a:p>
          <a:p>
            <a:pPr marL="177800" indent="-177800">
              <a:spcAft>
                <a:spcPts val="300"/>
              </a:spcAft>
              <a:buSzPct val="100000"/>
              <a:buChar char="•"/>
            </a:pPr>
            <a:r>
              <a:rPr lang="en-US" sz="1300" dirty="0">
                <a:solidFill>
                  <a:schemeClr val="tx2"/>
                </a:solidFill>
              </a:rPr>
              <a:t>Seguire catene logiche</a:t>
            </a:r>
            <a:endParaRPr lang="en-US" sz="1300" dirty="0"/>
          </a:p>
          <a:p>
            <a:pPr marL="177800" indent="-177800">
              <a:spcAft>
                <a:spcPts val="300"/>
              </a:spcAft>
              <a:buSzPct val="100000"/>
              <a:buChar char="•"/>
            </a:pPr>
            <a:r>
              <a:rPr lang="en-US" sz="1300" dirty="0">
                <a:solidFill>
                  <a:schemeClr val="tx2"/>
                </a:solidFill>
              </a:rPr>
              <a:t>Pianificare</a:t>
            </a:r>
            <a:endParaRPr lang="en-US" sz="1300" dirty="0"/>
          </a:p>
          <a:p>
            <a:pPr marL="177800" indent="-177800">
              <a:spcAft>
                <a:spcPts val="300"/>
              </a:spcAft>
              <a:buSzPct val="100000"/>
              <a:buChar char="•"/>
            </a:pPr>
            <a:r>
              <a:rPr lang="en-US" sz="1300" dirty="0">
                <a:solidFill>
                  <a:schemeClr val="tx2"/>
                </a:solidFill>
              </a:rPr>
              <a:t>Matematica e codice</a:t>
            </a:r>
            <a:endParaRPr lang="en-US" sz="1300" dirty="0"/>
          </a:p>
        </p:txBody>
      </p:sp>
      <p:sp>
        <p:nvSpPr>
          <p:cNvPr id="19" name="avvertenza"/>
          <p:cNvSpPr/>
          <p:nvPr/>
        </p:nvSpPr>
        <p:spPr>
          <a:xfrm>
            <a:off x="457200" y="3931920"/>
            <a:ext cx="8229600" cy="594360"/>
          </a:xfrm>
          <a:prstGeom prst="roundRect">
            <a:avLst>
              <a:gd name="adj" fmla="val 12308"/>
            </a:avLst>
          </a:prstGeom>
          <a:solidFill>
            <a:schemeClr val="tx1"/>
          </a:solidFill>
          <a:ln/>
        </p:spPr>
      </p:sp>
      <p:sp>
        <p:nvSpPr>
          <p:cNvPr id="20"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Reali e misurabili, ma irregolari e non infallibili: la verifica cresce con l'importanza del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Perché un modello può affrontare compiti diversi</a:t>
            </a:r>
            <a:endParaRPr lang="en-US" sz="2600" dirty="0"/>
          </a:p>
        </p:txBody>
      </p:sp>
      <p:sp>
        <p:nvSpPr>
          <p:cNvPr id="4" name="testo input"/>
          <p:cNvSpPr/>
          <p:nvPr/>
        </p:nvSpPr>
        <p:spPr>
          <a:xfrm>
            <a:off x="457200" y="2103120"/>
            <a:ext cx="1828800" cy="1097280"/>
          </a:xfrm>
          <a:prstGeom prst="roundRect">
            <a:avLst>
              <a:gd name="adj" fmla="val 6667"/>
            </a:avLst>
          </a:prstGeom>
          <a:solidFill>
            <a:schemeClr val="bg2"/>
          </a:solidFill>
          <a:ln/>
        </p:spPr>
      </p:sp>
      <p:sp>
        <p:nvSpPr>
          <p:cNvPr id="5" name="Text 2"/>
          <p:cNvSpPr txBox="1"/>
          <p:nvPr/>
        </p:nvSpPr>
        <p:spPr>
          <a:xfrm>
            <a:off x="548640" y="2103120"/>
            <a:ext cx="16459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ingresso + istruzione</a:t>
            </a:r>
            <a:endParaRPr lang="en-US" sz="1400" dirty="0"/>
          </a:p>
        </p:txBody>
      </p:sp>
      <p:sp>
        <p:nvSpPr>
          <p:cNvPr id="6" name="freccia"/>
          <p:cNvSpPr/>
          <p:nvPr/>
        </p:nvSpPr>
        <p:spPr>
          <a:xfrm>
            <a:off x="2377440" y="2505456"/>
            <a:ext cx="457200" cy="292608"/>
          </a:xfrm>
          <a:prstGeom prst="rightArrow">
            <a:avLst/>
          </a:prstGeom>
          <a:solidFill>
            <a:schemeClr val="accent1"/>
          </a:solidFill>
          <a:ln/>
        </p:spPr>
      </p:sp>
      <p:sp>
        <p:nvSpPr>
          <p:cNvPr id="7" name="stesso modello"/>
          <p:cNvSpPr/>
          <p:nvPr/>
        </p:nvSpPr>
        <p:spPr>
          <a:xfrm>
            <a:off x="2971800" y="1188720"/>
            <a:ext cx="2743200" cy="2926080"/>
          </a:xfrm>
          <a:prstGeom prst="roundRect">
            <a:avLst>
              <a:gd name="adj" fmla="val 2667"/>
            </a:avLst>
          </a:prstGeom>
          <a:solidFill>
            <a:schemeClr val="accent1"/>
          </a:solidFill>
          <a:ln/>
        </p:spPr>
      </p:sp>
      <p:sp>
        <p:nvSpPr>
          <p:cNvPr id="8" name="Text 5"/>
          <p:cNvSpPr txBox="1"/>
          <p:nvPr/>
        </p:nvSpPr>
        <p:spPr>
          <a:xfrm>
            <a:off x="3017520" y="1280160"/>
            <a:ext cx="2651760" cy="365760"/>
          </a:xfrm>
          <a:prstGeom prst="rect">
            <a:avLst/>
          </a:prstGeom>
          <a:noFill/>
          <a:ln/>
        </p:spPr>
        <p:txBody>
          <a:bodyPr wrap="square" lIns="0" tIns="0" rIns="0" bIns="0" rtlCol="0" anchor="t"/>
          <a:lstStyle/>
          <a:p>
            <a:pPr algn="ctr" indent="0" marL="0">
              <a:buNone/>
            </a:pPr>
            <a:r>
              <a:rPr lang="en-US" sz="1500" b="1" dirty="0">
                <a:solidFill>
                  <a:schemeClr val="bg1"/>
                </a:solidFill>
              </a:rPr>
              <a:t>Lo stesso modello</a:t>
            </a:r>
            <a:endParaRPr lang="en-US" sz="1500" dirty="0"/>
          </a:p>
        </p:txBody>
      </p:sp>
      <p:sp>
        <p:nvSpPr>
          <p:cNvPr id="9" name="blocco Tradurre"/>
          <p:cNvSpPr/>
          <p:nvPr/>
        </p:nvSpPr>
        <p:spPr>
          <a:xfrm>
            <a:off x="3200400" y="1737360"/>
            <a:ext cx="2286000" cy="310896"/>
          </a:xfrm>
          <a:prstGeom prst="roundRect">
            <a:avLst>
              <a:gd name="adj" fmla="val 35294"/>
            </a:avLst>
          </a:prstGeom>
          <a:solidFill>
            <a:schemeClr val="bg1"/>
          </a:solidFill>
          <a:ln/>
        </p:spPr>
      </p:sp>
      <p:sp>
        <p:nvSpPr>
          <p:cNvPr id="10" name="Text 7"/>
          <p:cNvSpPr txBox="1"/>
          <p:nvPr/>
        </p:nvSpPr>
        <p:spPr>
          <a:xfrm>
            <a:off x="3246120" y="173736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Tradurre</a:t>
            </a:r>
            <a:endParaRPr lang="en-US" sz="1200" dirty="0"/>
          </a:p>
        </p:txBody>
      </p:sp>
      <p:sp>
        <p:nvSpPr>
          <p:cNvPr id="11" name="blocco Riassumere"/>
          <p:cNvSpPr/>
          <p:nvPr/>
        </p:nvSpPr>
        <p:spPr>
          <a:xfrm>
            <a:off x="3200400" y="2121408"/>
            <a:ext cx="2286000" cy="310896"/>
          </a:xfrm>
          <a:prstGeom prst="roundRect">
            <a:avLst>
              <a:gd name="adj" fmla="val 35294"/>
            </a:avLst>
          </a:prstGeom>
          <a:solidFill>
            <a:schemeClr val="bg1"/>
          </a:solidFill>
          <a:ln/>
        </p:spPr>
      </p:sp>
      <p:sp>
        <p:nvSpPr>
          <p:cNvPr id="12" name="Text 9"/>
          <p:cNvSpPr txBox="1"/>
          <p:nvPr/>
        </p:nvSpPr>
        <p:spPr>
          <a:xfrm>
            <a:off x="3246120" y="2121408"/>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Riassumere</a:t>
            </a:r>
            <a:endParaRPr lang="en-US" sz="1200" dirty="0"/>
          </a:p>
        </p:txBody>
      </p:sp>
      <p:sp>
        <p:nvSpPr>
          <p:cNvPr id="13" name="blocco Classificare"/>
          <p:cNvSpPr/>
          <p:nvPr/>
        </p:nvSpPr>
        <p:spPr>
          <a:xfrm>
            <a:off x="3200400" y="2505456"/>
            <a:ext cx="2286000" cy="310896"/>
          </a:xfrm>
          <a:prstGeom prst="roundRect">
            <a:avLst>
              <a:gd name="adj" fmla="val 35294"/>
            </a:avLst>
          </a:prstGeom>
          <a:solidFill>
            <a:schemeClr val="bg1"/>
          </a:solidFill>
          <a:ln/>
        </p:spPr>
      </p:sp>
      <p:sp>
        <p:nvSpPr>
          <p:cNvPr id="14" name="Text 11"/>
          <p:cNvSpPr txBox="1"/>
          <p:nvPr/>
        </p:nvSpPr>
        <p:spPr>
          <a:xfrm>
            <a:off x="3246120" y="2505456"/>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Classificare</a:t>
            </a:r>
            <a:endParaRPr lang="en-US" sz="1200" dirty="0"/>
          </a:p>
        </p:txBody>
      </p:sp>
      <p:sp>
        <p:nvSpPr>
          <p:cNvPr id="15" name="blocco Rispondere"/>
          <p:cNvSpPr/>
          <p:nvPr/>
        </p:nvSpPr>
        <p:spPr>
          <a:xfrm>
            <a:off x="3200400" y="2889504"/>
            <a:ext cx="2286000" cy="310896"/>
          </a:xfrm>
          <a:prstGeom prst="roundRect">
            <a:avLst>
              <a:gd name="adj" fmla="val 35294"/>
            </a:avLst>
          </a:prstGeom>
          <a:solidFill>
            <a:schemeClr val="bg1"/>
          </a:solidFill>
          <a:ln/>
        </p:spPr>
      </p:sp>
      <p:sp>
        <p:nvSpPr>
          <p:cNvPr id="16" name="Text 13"/>
          <p:cNvSpPr txBox="1"/>
          <p:nvPr/>
        </p:nvSpPr>
        <p:spPr>
          <a:xfrm>
            <a:off x="3246120" y="2889504"/>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Rispondere</a:t>
            </a:r>
            <a:endParaRPr lang="en-US" sz="1200" dirty="0"/>
          </a:p>
        </p:txBody>
      </p:sp>
      <p:sp>
        <p:nvSpPr>
          <p:cNvPr id="17" name="blocco Scrivere codice"/>
          <p:cNvSpPr/>
          <p:nvPr/>
        </p:nvSpPr>
        <p:spPr>
          <a:xfrm>
            <a:off x="3200400" y="3273552"/>
            <a:ext cx="2286000" cy="310896"/>
          </a:xfrm>
          <a:prstGeom prst="roundRect">
            <a:avLst>
              <a:gd name="adj" fmla="val 35294"/>
            </a:avLst>
          </a:prstGeom>
          <a:solidFill>
            <a:schemeClr val="bg1"/>
          </a:solidFill>
          <a:ln/>
        </p:spPr>
      </p:sp>
      <p:sp>
        <p:nvSpPr>
          <p:cNvPr id="18" name="Text 15"/>
          <p:cNvSpPr txBox="1"/>
          <p:nvPr/>
        </p:nvSpPr>
        <p:spPr>
          <a:xfrm>
            <a:off x="3246120" y="3273552"/>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Scrivere codice</a:t>
            </a:r>
            <a:endParaRPr lang="en-US" sz="1200" dirty="0"/>
          </a:p>
        </p:txBody>
      </p:sp>
      <p:sp>
        <p:nvSpPr>
          <p:cNvPr id="19" name="blocco Estrarre dati"/>
          <p:cNvSpPr/>
          <p:nvPr/>
        </p:nvSpPr>
        <p:spPr>
          <a:xfrm>
            <a:off x="3200400" y="3657600"/>
            <a:ext cx="2286000" cy="310896"/>
          </a:xfrm>
          <a:prstGeom prst="roundRect">
            <a:avLst>
              <a:gd name="adj" fmla="val 35294"/>
            </a:avLst>
          </a:prstGeom>
          <a:solidFill>
            <a:schemeClr val="bg1"/>
          </a:solidFill>
          <a:ln/>
        </p:spPr>
      </p:sp>
      <p:sp>
        <p:nvSpPr>
          <p:cNvPr id="20" name="Text 17"/>
          <p:cNvSpPr txBox="1"/>
          <p:nvPr/>
        </p:nvSpPr>
        <p:spPr>
          <a:xfrm>
            <a:off x="3246120" y="365760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Estrarre dati</a:t>
            </a:r>
            <a:endParaRPr lang="en-US" sz="1200" dirty="0"/>
          </a:p>
        </p:txBody>
      </p:sp>
      <p:sp>
        <p:nvSpPr>
          <p:cNvPr id="21" name="freccia"/>
          <p:cNvSpPr/>
          <p:nvPr/>
        </p:nvSpPr>
        <p:spPr>
          <a:xfrm>
            <a:off x="5806440" y="2505456"/>
            <a:ext cx="457200" cy="292608"/>
          </a:xfrm>
          <a:prstGeom prst="rightArrow">
            <a:avLst/>
          </a:prstGeom>
          <a:solidFill>
            <a:schemeClr val="accent1"/>
          </a:solidFill>
          <a:ln/>
        </p:spPr>
      </p:sp>
      <p:sp>
        <p:nvSpPr>
          <p:cNvPr id="22" name="testo output"/>
          <p:cNvSpPr/>
          <p:nvPr/>
        </p:nvSpPr>
        <p:spPr>
          <a:xfrm>
            <a:off x="6400800" y="2103120"/>
            <a:ext cx="2286000" cy="1097280"/>
          </a:xfrm>
          <a:prstGeom prst="roundRect">
            <a:avLst>
              <a:gd name="adj" fmla="val 6667"/>
            </a:avLst>
          </a:prstGeom>
          <a:solidFill>
            <a:schemeClr val="accent6"/>
          </a:solidFill>
          <a:ln/>
        </p:spPr>
      </p:sp>
      <p:sp>
        <p:nvSpPr>
          <p:cNvPr id="23" name="Text 20"/>
          <p:cNvSpPr txBox="1"/>
          <p:nvPr/>
        </p:nvSpPr>
        <p:spPr>
          <a:xfrm>
            <a:off x="6492240" y="2103120"/>
            <a:ext cx="21031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uscita</a:t>
            </a:r>
            <a:endParaRPr lang="en-US" sz="1400" dirty="0"/>
          </a:p>
        </p:txBody>
      </p:sp>
      <p:sp>
        <p:nvSpPr>
          <p:cNvPr id="24" name="Text 21"/>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300" i="1" dirty="0">
                <a:solidFill>
                  <a:schemeClr val="tx1"/>
                </a:solidFill>
              </a:rPr>
              <a:t>Molti compiti sono trasformazioni di testo in testo. Versatile non significa ugualmente bravo in tutto.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Gli LLM generano output usando regolarità apprese e il contesto disponibile; la spiegazione non va ridotta alla sola metafora del completamento automatico.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2.4  ·  Che cosa sono i Large Language Models</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funziona un'interazione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risultato dipende dalle informazioni rese disponibili; modello e prodotto non coincidono sempre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Input, prompt e output</a:t>
            </a:r>
            <a:endParaRPr lang="en-US" sz="260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indent="0" marL="0">
              <a:buNone/>
            </a:pPr>
            <a:r>
              <a:rPr lang="en-US" sz="1300" b="1" dirty="0">
                <a:solidFill>
                  <a:schemeClr val="accent2"/>
                </a:solidFill>
              </a:rPr>
              <a:t>Ciò che il modello riceve</a:t>
            </a:r>
            <a:endParaRPr lang="en-US" sz="130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sp>
      <p:sp>
        <p:nvSpPr>
          <p:cNvPr id="6" name="Text 3"/>
          <p:cNvSpPr txBox="1"/>
          <p:nvPr/>
        </p:nvSpPr>
        <p:spPr>
          <a:xfrm>
            <a:off x="640080" y="1426464"/>
            <a:ext cx="3566160" cy="292608"/>
          </a:xfrm>
          <a:prstGeom prst="rect">
            <a:avLst/>
          </a:prstGeom>
          <a:noFill/>
          <a:ln/>
        </p:spPr>
        <p:txBody>
          <a:bodyPr wrap="square" lIns="0" tIns="0" rIns="0" bIns="0" rtlCol="0" anchor="t"/>
          <a:lstStyle/>
          <a:p>
            <a:pPr indent="0" marL="0">
              <a:buNone/>
            </a:pPr>
            <a:r>
              <a:rPr lang="en-US" sz="1400" b="1" dirty="0">
                <a:solidFill>
                  <a:schemeClr val="tx1"/>
                </a:solidFill>
              </a:rPr>
              <a:t>Istruzioni di sistema</a:t>
            </a:r>
            <a:endParaRPr lang="en-US" sz="140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indent="0" marL="0">
              <a:buNone/>
            </a:pPr>
            <a:r>
              <a:rPr lang="en-US" sz="1200" dirty="0">
                <a:solidFill>
                  <a:schemeClr val="tx2"/>
                </a:solidFill>
              </a:rPr>
              <a:t>Impostate dall'applicazione, di solito invisibili</a:t>
            </a:r>
            <a:endParaRPr lang="en-US" sz="120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sp>
      <p:sp>
        <p:nvSpPr>
          <p:cNvPr id="9" name="Text 6"/>
          <p:cNvSpPr txBox="1"/>
          <p:nvPr/>
        </p:nvSpPr>
        <p:spPr>
          <a:xfrm>
            <a:off x="640080" y="221284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Cronologia della conversazione</a:t>
            </a:r>
            <a:endParaRPr lang="en-US" sz="140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indent="0" marL="0">
              <a:buNone/>
            </a:pPr>
            <a:r>
              <a:rPr lang="en-US" sz="1200" dirty="0">
                <a:solidFill>
                  <a:schemeClr val="tx2"/>
                </a:solidFill>
              </a:rPr>
              <a:t>I messaggi precedenti</a:t>
            </a:r>
            <a:endParaRPr lang="en-US" sz="120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sp>
      <p:sp>
        <p:nvSpPr>
          <p:cNvPr id="12" name="Text 9"/>
          <p:cNvSpPr txBox="1"/>
          <p:nvPr/>
        </p:nvSpPr>
        <p:spPr>
          <a:xfrm>
            <a:off x="640080" y="2999232"/>
            <a:ext cx="3566160" cy="292608"/>
          </a:xfrm>
          <a:prstGeom prst="rect">
            <a:avLst/>
          </a:prstGeom>
          <a:noFill/>
          <a:ln/>
        </p:spPr>
        <p:txBody>
          <a:bodyPr wrap="square" lIns="0" tIns="0" rIns="0" bIns="0" rtlCol="0" anchor="t"/>
          <a:lstStyle/>
          <a:p>
            <a:pPr indent="0" marL="0">
              <a:buNone/>
            </a:pPr>
            <a:r>
              <a:rPr lang="en-US" sz="1400" b="1" dirty="0">
                <a:solidFill>
                  <a:schemeClr val="tx1"/>
                </a:solidFill>
              </a:rPr>
              <a:t>Documenti e risultati di ricerca</a:t>
            </a:r>
            <a:endParaRPr lang="en-US" sz="140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indent="0" marL="0">
              <a:buNone/>
            </a:pPr>
            <a:r>
              <a:rPr lang="en-US" sz="1200" dirty="0">
                <a:solidFill>
                  <a:schemeClr val="tx2"/>
                </a:solidFill>
              </a:rPr>
              <a:t>File allegati, fonti recuperate</a:t>
            </a:r>
            <a:endParaRPr lang="en-US" sz="120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sp>
      <p:sp>
        <p:nvSpPr>
          <p:cNvPr id="15" name="Text 12"/>
          <p:cNvSpPr txBox="1"/>
          <p:nvPr/>
        </p:nvSpPr>
        <p:spPr>
          <a:xfrm>
            <a:off x="640080" y="3785616"/>
            <a:ext cx="3566160" cy="292608"/>
          </a:xfrm>
          <a:prstGeom prst="rect">
            <a:avLst/>
          </a:prstGeom>
          <a:noFill/>
          <a:ln/>
        </p:spPr>
        <p:txBody>
          <a:bodyPr wrap="square" lIns="0" tIns="0" rIns="0" bIns="0" rtlCol="0" anchor="t"/>
          <a:lstStyle/>
          <a:p>
            <a:pPr indent="0" marL="0">
              <a:buNone/>
            </a:pPr>
            <a:r>
              <a:rPr lang="en-US" sz="1400" b="1" dirty="0">
                <a:solidFill>
                  <a:schemeClr val="tx1"/>
                </a:solidFill>
              </a:rPr>
              <a:t>Il nostro messaggio</a:t>
            </a:r>
            <a:endParaRPr lang="en-US" sz="140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indent="0" marL="0">
              <a:buNone/>
            </a:pPr>
            <a:r>
              <a:rPr lang="en-US" sz="1200" dirty="0">
                <a:solidFill>
                  <a:schemeClr val="tx2"/>
                </a:solidFill>
              </a:rPr>
              <a:t>La richiesta che scriviamo: il prompt</a:t>
            </a:r>
            <a:endParaRPr lang="en-US" sz="1200" dirty="0"/>
          </a:p>
        </p:txBody>
      </p:sp>
      <p:sp>
        <p:nvSpPr>
          <p:cNvPr id="17" name="freccia"/>
          <p:cNvSpPr/>
          <p:nvPr/>
        </p:nvSpPr>
        <p:spPr>
          <a:xfrm>
            <a:off x="4434840" y="2606040"/>
            <a:ext cx="457200" cy="292608"/>
          </a:xfrm>
          <a:prstGeom prst="rightArrow">
            <a:avLst/>
          </a:prstGeom>
          <a:solidFill>
            <a:schemeClr val="accent1"/>
          </a:solidFill>
          <a:ln/>
        </p:spPr>
      </p:sp>
      <p:sp>
        <p:nvSpPr>
          <p:cNvPr id="18" name="modello"/>
          <p:cNvSpPr/>
          <p:nvPr/>
        </p:nvSpPr>
        <p:spPr>
          <a:xfrm>
            <a:off x="5029200" y="2103120"/>
            <a:ext cx="1463040" cy="1280160"/>
          </a:xfrm>
          <a:prstGeom prst="roundRect">
            <a:avLst>
              <a:gd name="adj" fmla="val 5714"/>
            </a:avLst>
          </a:prstGeom>
          <a:solidFill>
            <a:schemeClr val="accent1"/>
          </a:solidFill>
          <a:ln/>
        </p:spPr>
      </p:sp>
      <p:sp>
        <p:nvSpPr>
          <p:cNvPr id="19" name="Text 16"/>
          <p:cNvSpPr txBox="1"/>
          <p:nvPr/>
        </p:nvSpPr>
        <p:spPr>
          <a:xfrm>
            <a:off x="5029200" y="2103120"/>
            <a:ext cx="1463040" cy="1280160"/>
          </a:xfrm>
          <a:prstGeom prst="rect">
            <a:avLst/>
          </a:prstGeom>
          <a:noFill/>
          <a:ln/>
        </p:spPr>
        <p:txBody>
          <a:bodyPr wrap="square" lIns="0" tIns="0" rIns="0" bIns="0" rtlCol="0" anchor="ctr"/>
          <a:lstStyle/>
          <a:p>
            <a:pPr algn="ctr" indent="0" marL="0">
              <a:buNone/>
            </a:pPr>
            <a:r>
              <a:rPr lang="en-US" sz="1600" b="1" dirty="0">
                <a:solidFill>
                  <a:schemeClr val="bg1"/>
                </a:solidFill>
              </a:rPr>
              <a:t>Modello</a:t>
            </a:r>
            <a:endParaRPr lang="en-US" sz="1600" dirty="0"/>
          </a:p>
        </p:txBody>
      </p:sp>
      <p:sp>
        <p:nvSpPr>
          <p:cNvPr id="20" name="freccia"/>
          <p:cNvSpPr/>
          <p:nvPr/>
        </p:nvSpPr>
        <p:spPr>
          <a:xfrm>
            <a:off x="6583680" y="2606040"/>
            <a:ext cx="411480" cy="292608"/>
          </a:xfrm>
          <a:prstGeom prst="rightArrow">
            <a:avLst/>
          </a:prstGeom>
          <a:solidFill>
            <a:schemeClr val="accent1"/>
          </a:solidFill>
          <a:ln/>
        </p:spPr>
      </p:sp>
      <p:sp>
        <p:nvSpPr>
          <p:cNvPr id="21" name="output"/>
          <p:cNvSpPr/>
          <p:nvPr/>
        </p:nvSpPr>
        <p:spPr>
          <a:xfrm>
            <a:off x="7086600" y="2103120"/>
            <a:ext cx="1600200" cy="1280160"/>
          </a:xfrm>
          <a:prstGeom prst="roundRect">
            <a:avLst>
              <a:gd name="adj" fmla="val 5714"/>
            </a:avLst>
          </a:prstGeom>
          <a:solidFill>
            <a:schemeClr val="tx1"/>
          </a:solidFill>
          <a:ln/>
        </p:spPr>
      </p:sp>
      <p:sp>
        <p:nvSpPr>
          <p:cNvPr id="22" name="Text 19"/>
          <p:cNvSpPr txBox="1"/>
          <p:nvPr/>
        </p:nvSpPr>
        <p:spPr>
          <a:xfrm>
            <a:off x="7132320" y="2194560"/>
            <a:ext cx="1508760" cy="365760"/>
          </a:xfrm>
          <a:prstGeom prst="rect">
            <a:avLst/>
          </a:prstGeom>
          <a:noFill/>
          <a:ln/>
        </p:spPr>
        <p:txBody>
          <a:bodyPr wrap="square" lIns="0" tIns="0" rIns="0" bIns="0" rtlCol="0" anchor="t"/>
          <a:lstStyle/>
          <a:p>
            <a:pPr algn="ctr" indent="0" marL="0">
              <a:buNone/>
            </a:pPr>
            <a:r>
              <a:rPr lang="en-US" sz="1600" b="1" dirty="0">
                <a:solidFill>
                  <a:schemeClr val="bg1"/>
                </a:solidFill>
              </a:rPr>
              <a:t>Output</a:t>
            </a:r>
            <a:endParaRPr lang="en-US" sz="160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algn="ctr" indent="0" marL="0">
              <a:buNone/>
            </a:pPr>
            <a:r>
              <a:rPr lang="en-US" sz="1200" dirty="0">
                <a:solidFill>
                  <a:schemeClr val="accent3"/>
                </a:solidFill>
              </a:rPr>
              <a:t>Testo, immagine, file, 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di una richiesta</a:t>
            </a:r>
            <a:endParaRPr lang="en-US" sz="2600" dirty="0"/>
          </a:p>
        </p:txBody>
      </p:sp>
      <p:sp>
        <p:nvSpPr>
          <p:cNvPr id="4" name="Prompt"/>
          <p:cNvSpPr/>
          <p:nvPr/>
        </p:nvSpPr>
        <p:spPr>
          <a:xfrm>
            <a:off x="457200" y="1234440"/>
            <a:ext cx="1261872" cy="2514600"/>
          </a:xfrm>
          <a:prstGeom prst="roundRect">
            <a:avLst>
              <a:gd name="adj" fmla="val 5797"/>
            </a:avLst>
          </a:prstGeom>
          <a:solidFill>
            <a:schemeClr val="bg2"/>
          </a:solidFill>
          <a:ln/>
        </p:spPr>
      </p:sp>
      <p:sp>
        <p:nvSpPr>
          <p:cNvPr id="5" name="cerchio FiEdit3"/>
          <p:cNvSpPr/>
          <p:nvPr/>
        </p:nvSpPr>
        <p:spPr>
          <a:xfrm>
            <a:off x="841248" y="1417320"/>
            <a:ext cx="502920" cy="50292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966978" y="1543050"/>
            <a:ext cx="251460" cy="251460"/>
          </a:xfrm>
          <a:prstGeom prst="rect">
            <a:avLst/>
          </a:prstGeom>
        </p:spPr>
      </p:pic>
      <p:sp>
        <p:nvSpPr>
          <p:cNvPr id="7" name="Text 3"/>
          <p:cNvSpPr txBox="1"/>
          <p:nvPr/>
        </p:nvSpPr>
        <p:spPr>
          <a:xfrm>
            <a:off x="5029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1. Prompt</a:t>
            </a:r>
            <a:endParaRPr lang="en-US" sz="1300" dirty="0"/>
          </a:p>
        </p:txBody>
      </p:sp>
      <p:sp>
        <p:nvSpPr>
          <p:cNvPr id="8" name="Text 4"/>
          <p:cNvSpPr txBox="1"/>
          <p:nvPr/>
        </p:nvSpPr>
        <p:spPr>
          <a:xfrm>
            <a:off x="5486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Scriviamo la richiesta</a:t>
            </a:r>
            <a:endParaRPr lang="en-US" sz="1100" dirty="0"/>
          </a:p>
        </p:txBody>
      </p:sp>
      <p:sp>
        <p:nvSpPr>
          <p:cNvPr id="9" name="Contesto"/>
          <p:cNvSpPr/>
          <p:nvPr/>
        </p:nvSpPr>
        <p:spPr>
          <a:xfrm>
            <a:off x="1874520" y="1234440"/>
            <a:ext cx="1261872" cy="2514600"/>
          </a:xfrm>
          <a:prstGeom prst="roundRect">
            <a:avLst>
              <a:gd name="adj" fmla="val 5797"/>
            </a:avLst>
          </a:prstGeom>
          <a:solidFill>
            <a:schemeClr val="bg2"/>
          </a:solidFill>
          <a:ln/>
        </p:spPr>
      </p:sp>
      <p:sp>
        <p:nvSpPr>
          <p:cNvPr id="10" name="cerchio FiLayers"/>
          <p:cNvSpPr/>
          <p:nvPr/>
        </p:nvSpPr>
        <p:spPr>
          <a:xfrm>
            <a:off x="2258568" y="1417320"/>
            <a:ext cx="502920" cy="502920"/>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2384298" y="1543050"/>
            <a:ext cx="251460" cy="251460"/>
          </a:xfrm>
          <a:prstGeom prst="rect">
            <a:avLst/>
          </a:prstGeom>
        </p:spPr>
      </p:pic>
      <p:sp>
        <p:nvSpPr>
          <p:cNvPr id="12" name="Text 7"/>
          <p:cNvSpPr txBox="1"/>
          <p:nvPr/>
        </p:nvSpPr>
        <p:spPr>
          <a:xfrm>
            <a:off x="192024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2. Contesto</a:t>
            </a:r>
            <a:endParaRPr lang="en-US" sz="1300" dirty="0"/>
          </a:p>
        </p:txBody>
      </p:sp>
      <p:sp>
        <p:nvSpPr>
          <p:cNvPr id="13" name="Text 8"/>
          <p:cNvSpPr txBox="1"/>
          <p:nvPr/>
        </p:nvSpPr>
        <p:spPr>
          <a:xfrm>
            <a:off x="196596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L'applicazione aggiunge istruzioni, cronologia, documenti</a:t>
            </a:r>
            <a:endParaRPr lang="en-US" sz="1100" dirty="0"/>
          </a:p>
        </p:txBody>
      </p:sp>
      <p:sp>
        <p:nvSpPr>
          <p:cNvPr id="14" name="Tokenizzazione"/>
          <p:cNvSpPr/>
          <p:nvPr/>
        </p:nvSpPr>
        <p:spPr>
          <a:xfrm>
            <a:off x="3291840" y="1234440"/>
            <a:ext cx="1261872" cy="2514600"/>
          </a:xfrm>
          <a:prstGeom prst="roundRect">
            <a:avLst>
              <a:gd name="adj" fmla="val 5797"/>
            </a:avLst>
          </a:prstGeom>
          <a:solidFill>
            <a:schemeClr val="bg2"/>
          </a:solidFill>
          <a:ln/>
        </p:spPr>
      </p:sp>
      <p:sp>
        <p:nvSpPr>
          <p:cNvPr id="15" name="cerchio FiHash"/>
          <p:cNvSpPr/>
          <p:nvPr/>
        </p:nvSpPr>
        <p:spPr>
          <a:xfrm>
            <a:off x="3675888" y="1417320"/>
            <a:ext cx="502920" cy="502920"/>
          </a:xfrm>
          <a:prstGeom prst="ellipse">
            <a:avLst/>
          </a:prstGeom>
          <a:solidFill>
            <a:schemeClr val="accent1"/>
          </a:solidFill>
          <a:ln/>
        </p:spPr>
      </p:sp>
      <p:pic>
        <p:nvPicPr>
          <p:cNvPr id="16" name="Image 2" descr="FiHash">    </p:cNvPr>
          <p:cNvPicPr>
            <a:picLocks noChangeAspect="1"/>
          </p:cNvPicPr>
          <p:nvPr/>
        </p:nvPicPr>
        <p:blipFill>
          <a:blip r:embed="rId3"/>
          <a:stretch>
            <a:fillRect/>
          </a:stretch>
        </p:blipFill>
        <p:spPr>
          <a:xfrm>
            <a:off x="3801618" y="1543050"/>
            <a:ext cx="251460" cy="251460"/>
          </a:xfrm>
          <a:prstGeom prst="rect">
            <a:avLst/>
          </a:prstGeom>
        </p:spPr>
      </p:pic>
      <p:sp>
        <p:nvSpPr>
          <p:cNvPr id="17" name="Text 11"/>
          <p:cNvSpPr txBox="1"/>
          <p:nvPr/>
        </p:nvSpPr>
        <p:spPr>
          <a:xfrm>
            <a:off x="333756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3. Tokenizzazione</a:t>
            </a:r>
            <a:endParaRPr lang="en-US" sz="1300" dirty="0"/>
          </a:p>
        </p:txBody>
      </p:sp>
      <p:sp>
        <p:nvSpPr>
          <p:cNvPr id="18" name="Text 12"/>
          <p:cNvSpPr txBox="1"/>
          <p:nvPr/>
        </p:nvSpPr>
        <p:spPr>
          <a:xfrm>
            <a:off x="338328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testo diventa una sequenza di token</a:t>
            </a:r>
            <a:endParaRPr lang="en-US" sz="1100" dirty="0"/>
          </a:p>
        </p:txBody>
      </p:sp>
      <p:sp>
        <p:nvSpPr>
          <p:cNvPr id="19" name="Inferenza"/>
          <p:cNvSpPr/>
          <p:nvPr/>
        </p:nvSpPr>
        <p:spPr>
          <a:xfrm>
            <a:off x="4709160" y="1234440"/>
            <a:ext cx="1261872" cy="2514600"/>
          </a:xfrm>
          <a:prstGeom prst="roundRect">
            <a:avLst>
              <a:gd name="adj" fmla="val 5797"/>
            </a:avLst>
          </a:prstGeom>
          <a:solidFill>
            <a:schemeClr val="accent6"/>
          </a:solidFill>
          <a:ln/>
        </p:spPr>
      </p:sp>
      <p:sp>
        <p:nvSpPr>
          <p:cNvPr id="20" name="cerchio FiCpu"/>
          <p:cNvSpPr/>
          <p:nvPr/>
        </p:nvSpPr>
        <p:spPr>
          <a:xfrm>
            <a:off x="5093208" y="1417320"/>
            <a:ext cx="502920" cy="502920"/>
          </a:xfrm>
          <a:prstGeom prst="ellipse">
            <a:avLst/>
          </a:prstGeom>
          <a:solidFill>
            <a:schemeClr val="accent1"/>
          </a:solidFill>
          <a:ln/>
        </p:spPr>
      </p:sp>
      <p:pic>
        <p:nvPicPr>
          <p:cNvPr id="21" name="Image 3" descr="FiCpu">    </p:cNvPr>
          <p:cNvPicPr>
            <a:picLocks noChangeAspect="1"/>
          </p:cNvPicPr>
          <p:nvPr/>
        </p:nvPicPr>
        <p:blipFill>
          <a:blip r:embed="rId4"/>
          <a:stretch>
            <a:fillRect/>
          </a:stretch>
        </p:blipFill>
        <p:spPr>
          <a:xfrm>
            <a:off x="5218938" y="1543050"/>
            <a:ext cx="251460" cy="251460"/>
          </a:xfrm>
          <a:prstGeom prst="rect">
            <a:avLst/>
          </a:prstGeom>
        </p:spPr>
      </p:pic>
      <p:sp>
        <p:nvSpPr>
          <p:cNvPr id="22" name="Text 15"/>
          <p:cNvSpPr txBox="1"/>
          <p:nvPr/>
        </p:nvSpPr>
        <p:spPr>
          <a:xfrm>
            <a:off x="475488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4. Inferenza</a:t>
            </a:r>
            <a:endParaRPr lang="en-US" sz="1300" dirty="0"/>
          </a:p>
        </p:txBody>
      </p:sp>
      <p:sp>
        <p:nvSpPr>
          <p:cNvPr id="23" name="Text 16"/>
          <p:cNvSpPr txBox="1"/>
          <p:nvPr/>
        </p:nvSpPr>
        <p:spPr>
          <a:xfrm>
            <a:off x="480060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modello elabora con parametri fissi</a:t>
            </a:r>
            <a:endParaRPr lang="en-US" sz="1100" dirty="0"/>
          </a:p>
        </p:txBody>
      </p:sp>
      <p:sp>
        <p:nvSpPr>
          <p:cNvPr id="24" name="Generazione"/>
          <p:cNvSpPr/>
          <p:nvPr/>
        </p:nvSpPr>
        <p:spPr>
          <a:xfrm>
            <a:off x="6126480" y="1234440"/>
            <a:ext cx="1261872" cy="2514600"/>
          </a:xfrm>
          <a:prstGeom prst="roundRect">
            <a:avLst>
              <a:gd name="adj" fmla="val 5797"/>
            </a:avLst>
          </a:prstGeom>
          <a:solidFill>
            <a:schemeClr val="bg2"/>
          </a:solidFill>
          <a:ln/>
        </p:spPr>
      </p:sp>
      <p:sp>
        <p:nvSpPr>
          <p:cNvPr id="25" name="cerchio FiRepeat"/>
          <p:cNvSpPr/>
          <p:nvPr/>
        </p:nvSpPr>
        <p:spPr>
          <a:xfrm>
            <a:off x="6510528" y="1417320"/>
            <a:ext cx="502920" cy="502920"/>
          </a:xfrm>
          <a:prstGeom prst="ellipse">
            <a:avLst/>
          </a:prstGeom>
          <a:solidFill>
            <a:schemeClr val="accent1"/>
          </a:solidFill>
          <a:ln/>
        </p:spPr>
      </p:sp>
      <p:pic>
        <p:nvPicPr>
          <p:cNvPr id="26" name="Image 4" descr="FiRepeat">    </p:cNvPr>
          <p:cNvPicPr>
            <a:picLocks noChangeAspect="1"/>
          </p:cNvPicPr>
          <p:nvPr/>
        </p:nvPicPr>
        <p:blipFill>
          <a:blip r:embed="rId5"/>
          <a:stretch>
            <a:fillRect/>
          </a:stretch>
        </p:blipFill>
        <p:spPr>
          <a:xfrm>
            <a:off x="6636258" y="1543050"/>
            <a:ext cx="251460" cy="251460"/>
          </a:xfrm>
          <a:prstGeom prst="rect">
            <a:avLst/>
          </a:prstGeom>
        </p:spPr>
      </p:pic>
      <p:sp>
        <p:nvSpPr>
          <p:cNvPr id="27" name="Text 19"/>
          <p:cNvSpPr txBox="1"/>
          <p:nvPr/>
        </p:nvSpPr>
        <p:spPr>
          <a:xfrm>
            <a:off x="617220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5. Generazione</a:t>
            </a:r>
            <a:endParaRPr lang="en-US" sz="1300" dirty="0"/>
          </a:p>
        </p:txBody>
      </p:sp>
      <p:sp>
        <p:nvSpPr>
          <p:cNvPr id="28" name="Text 20"/>
          <p:cNvSpPr txBox="1"/>
          <p:nvPr/>
        </p:nvSpPr>
        <p:spPr>
          <a:xfrm>
            <a:off x="621792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Un token alla volta</a:t>
            </a:r>
            <a:endParaRPr lang="en-US" sz="1100" dirty="0"/>
          </a:p>
        </p:txBody>
      </p:sp>
      <p:sp>
        <p:nvSpPr>
          <p:cNvPr id="29" name="Output"/>
          <p:cNvSpPr/>
          <p:nvPr/>
        </p:nvSpPr>
        <p:spPr>
          <a:xfrm>
            <a:off x="7543800" y="1234440"/>
            <a:ext cx="1261872" cy="2514600"/>
          </a:xfrm>
          <a:prstGeom prst="roundRect">
            <a:avLst>
              <a:gd name="adj" fmla="val 5797"/>
            </a:avLst>
          </a:prstGeom>
          <a:solidFill>
            <a:schemeClr val="bg2"/>
          </a:solidFill>
          <a:ln/>
        </p:spPr>
      </p:sp>
      <p:sp>
        <p:nvSpPr>
          <p:cNvPr id="30" name="cerchio FiMessageSquare"/>
          <p:cNvSpPr/>
          <p:nvPr/>
        </p:nvSpPr>
        <p:spPr>
          <a:xfrm>
            <a:off x="7927848" y="1417320"/>
            <a:ext cx="502920" cy="502920"/>
          </a:xfrm>
          <a:prstGeom prst="ellipse">
            <a:avLst/>
          </a:prstGeom>
          <a:solidFill>
            <a:schemeClr val="accent1"/>
          </a:solidFill>
          <a:ln/>
        </p:spPr>
      </p:sp>
      <p:pic>
        <p:nvPicPr>
          <p:cNvPr id="31" name="Image 5" descr="FiMessageSquare">    </p:cNvPr>
          <p:cNvPicPr>
            <a:picLocks noChangeAspect="1"/>
          </p:cNvPicPr>
          <p:nvPr/>
        </p:nvPicPr>
        <p:blipFill>
          <a:blip r:embed="rId6"/>
          <a:stretch>
            <a:fillRect/>
          </a:stretch>
        </p:blipFill>
        <p:spPr>
          <a:xfrm>
            <a:off x="8053578" y="1543050"/>
            <a:ext cx="251460" cy="251460"/>
          </a:xfrm>
          <a:prstGeom prst="rect">
            <a:avLst/>
          </a:prstGeom>
        </p:spPr>
      </p:pic>
      <p:sp>
        <p:nvSpPr>
          <p:cNvPr id="32" name="Text 23"/>
          <p:cNvSpPr txBox="1"/>
          <p:nvPr/>
        </p:nvSpPr>
        <p:spPr>
          <a:xfrm>
            <a:off x="75895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6. Output</a:t>
            </a:r>
            <a:endParaRPr lang="en-US" sz="1300" dirty="0"/>
          </a:p>
        </p:txBody>
      </p:sp>
      <p:sp>
        <p:nvSpPr>
          <p:cNvPr id="33" name="Text 24"/>
          <p:cNvSpPr txBox="1"/>
          <p:nvPr/>
        </p:nvSpPr>
        <p:spPr>
          <a:xfrm>
            <a:off x="76352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 token tornano testo leggibile</a:t>
            </a:r>
            <a:endParaRPr lang="en-US" sz="1100" dirty="0"/>
          </a:p>
        </p:txBody>
      </p:sp>
      <p:sp>
        <p:nvSpPr>
          <p:cNvPr id="34" name="nota strumenti"/>
          <p:cNvSpPr/>
          <p:nvPr/>
        </p:nvSpPr>
        <p:spPr>
          <a:xfrm>
            <a:off x="457200" y="3931920"/>
            <a:ext cx="8229600" cy="594360"/>
          </a:xfrm>
          <a:prstGeom prst="roundRect">
            <a:avLst>
              <a:gd name="adj" fmla="val 12308"/>
            </a:avLst>
          </a:prstGeom>
          <a:solidFill>
            <a:schemeClr val="tx1"/>
          </a:solidFill>
          <a:ln/>
        </p:spPr>
      </p:sp>
      <p:sp>
        <p:nvSpPr>
          <p:cNvPr id="35"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In alcune applicazioni il modello può usare strumenti (ricerca, calcolo) e aggiungerne i risultati 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finestra di contesto</a:t>
            </a:r>
            <a:endParaRPr lang="en-US" sz="260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sp>
      <p:sp>
        <p:nvSpPr>
          <p:cNvPr id="5" name="Text 2"/>
          <p:cNvSpPr txBox="1"/>
          <p:nvPr/>
        </p:nvSpPr>
        <p:spPr>
          <a:xfrm>
            <a:off x="640080" y="1188720"/>
            <a:ext cx="4389120" cy="320040"/>
          </a:xfrm>
          <a:prstGeom prst="rect">
            <a:avLst/>
          </a:prstGeom>
          <a:noFill/>
          <a:ln/>
        </p:spPr>
        <p:txBody>
          <a:bodyPr wrap="square" lIns="0" tIns="0" rIns="0" bIns="0" rtlCol="0" anchor="t"/>
          <a:lstStyle/>
          <a:p>
            <a:pPr indent="0" marL="0">
              <a:buNone/>
            </a:pPr>
            <a:r>
              <a:rPr lang="en-US" sz="1400" b="1" dirty="0">
                <a:solidFill>
                  <a:schemeClr val="accent1"/>
                </a:solidFill>
              </a:rPr>
              <a:t>Finestra di contesto</a:t>
            </a:r>
            <a:endParaRPr lang="en-US" sz="140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sp>
      <p:sp>
        <p:nvSpPr>
          <p:cNvPr id="7" name="Text 4"/>
          <p:cNvSpPr txBox="1"/>
          <p:nvPr/>
        </p:nvSpPr>
        <p:spPr>
          <a:xfrm>
            <a:off x="731520" y="1600200"/>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Istruzioni di sistema</a:t>
            </a:r>
            <a:endParaRPr lang="en-US" sz="130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sp>
      <p:sp>
        <p:nvSpPr>
          <p:cNvPr id="9" name="Text 6"/>
          <p:cNvSpPr txBox="1"/>
          <p:nvPr/>
        </p:nvSpPr>
        <p:spPr>
          <a:xfrm>
            <a:off x="731520" y="2121408"/>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Cronologia della conversazione</a:t>
            </a:r>
            <a:endParaRPr lang="en-US" sz="130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sp>
      <p:sp>
        <p:nvSpPr>
          <p:cNvPr id="11" name="Text 8"/>
          <p:cNvSpPr txBox="1"/>
          <p:nvPr/>
        </p:nvSpPr>
        <p:spPr>
          <a:xfrm>
            <a:off x="731520" y="2642616"/>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Documenti allegati</a:t>
            </a:r>
            <a:endParaRPr lang="en-US" sz="130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sp>
      <p:sp>
        <p:nvSpPr>
          <p:cNvPr id="13" name="Text 10"/>
          <p:cNvSpPr txBox="1"/>
          <p:nvPr/>
        </p:nvSpPr>
        <p:spPr>
          <a:xfrm>
            <a:off x="731520" y="3163824"/>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Il nostro messaggio</a:t>
            </a:r>
            <a:endParaRPr lang="en-US" sz="130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sp>
      <p:sp>
        <p:nvSpPr>
          <p:cNvPr id="15" name="Text 12"/>
          <p:cNvSpPr txBox="1"/>
          <p:nvPr/>
        </p:nvSpPr>
        <p:spPr>
          <a:xfrm>
            <a:off x="731520" y="3685032"/>
            <a:ext cx="4206240" cy="420624"/>
          </a:xfrm>
          <a:prstGeom prst="rect">
            <a:avLst/>
          </a:prstGeom>
          <a:noFill/>
          <a:ln/>
        </p:spPr>
        <p:txBody>
          <a:bodyPr wrap="square" lIns="0" tIns="0" rIns="0" bIns="0" rtlCol="0" anchor="ctr"/>
          <a:lstStyle/>
          <a:p>
            <a:pPr algn="ctr" indent="0" marL="0">
              <a:buNone/>
            </a:pPr>
            <a:r>
              <a:rPr lang="en-US" sz="1300" b="1" dirty="0">
                <a:solidFill>
                  <a:schemeClr val="bg1"/>
                </a:solidFill>
              </a:rPr>
              <a:t>Risposta in generazione</a:t>
            </a:r>
            <a:endParaRPr lang="en-US" sz="130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indent="0" marL="0">
              <a:buNone/>
            </a:pPr>
            <a:r>
              <a:rPr lang="en-US" sz="1000" i="1" dirty="0">
                <a:solidFill>
                  <a:schemeClr val="accent2"/>
                </a:solidFill>
              </a:rPr>
              <a:t>Ciò che non entra nella finestra, per il modello non esiste.</a:t>
            </a:r>
            <a:endParaRPr lang="en-US" sz="1000" dirty="0"/>
          </a:p>
        </p:txBody>
      </p:sp>
      <p:sp>
        <p:nvSpPr>
          <p:cNvPr id="17" name="cerchio FiMaximize2"/>
          <p:cNvSpPr/>
          <p:nvPr/>
        </p:nvSpPr>
        <p:spPr>
          <a:xfrm>
            <a:off x="5486400" y="1143000"/>
            <a:ext cx="457200" cy="457200"/>
          </a:xfrm>
          <a:prstGeom prst="ellipse">
            <a:avLst/>
          </a:prstGeom>
          <a:solidFill>
            <a:schemeClr val="accent1"/>
          </a:solidFill>
          <a:ln/>
        </p:spPr>
      </p:sp>
      <p:pic>
        <p:nvPicPr>
          <p:cNvPr id="18" name="Image 0" descr="FiMaximize2">    </p:cNvPr>
          <p:cNvPicPr>
            <a:picLocks noChangeAspect="1"/>
          </p:cNvPicPr>
          <p:nvPr/>
        </p:nvPicPr>
        <p:blipFill>
          <a:blip r:embed="rId1"/>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indent="0" marL="0">
              <a:buNone/>
            </a:pPr>
            <a:r>
              <a:rPr lang="en-US" sz="1300" b="1" dirty="0">
                <a:solidFill>
                  <a:schemeClr val="tx1"/>
                </a:solidFill>
              </a:rPr>
              <a:t>Misurata in token</a:t>
            </a:r>
            <a:endParaRPr lang="en-US" sz="130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indent="0" marL="0">
              <a:buNone/>
            </a:pPr>
            <a:r>
              <a:rPr lang="en-US" sz="1100" dirty="0">
                <a:solidFill>
                  <a:schemeClr val="tx2"/>
                </a:solidFill>
              </a:rPr>
              <a:t>Da poche migliaia a centinaia di migliaia o più, secondo il modello</a:t>
            </a:r>
            <a:endParaRPr lang="en-US" sz="1100" dirty="0"/>
          </a:p>
        </p:txBody>
      </p:sp>
      <p:sp>
        <p:nvSpPr>
          <p:cNvPr id="21" name="cerchio FiScissors"/>
          <p:cNvSpPr/>
          <p:nvPr/>
        </p:nvSpPr>
        <p:spPr>
          <a:xfrm>
            <a:off x="5486400" y="2258568"/>
            <a:ext cx="457200" cy="457200"/>
          </a:xfrm>
          <a:prstGeom prst="ellipse">
            <a:avLst/>
          </a:prstGeom>
          <a:solidFill>
            <a:schemeClr val="accent1"/>
          </a:solidFill>
          <a:ln/>
        </p:spPr>
      </p:sp>
      <p:pic>
        <p:nvPicPr>
          <p:cNvPr id="22" name="Image 1" descr="FiScissors">    </p:cNvPr>
          <p:cNvPicPr>
            <a:picLocks noChangeAspect="1"/>
          </p:cNvPicPr>
          <p:nvPr/>
        </p:nvPicPr>
        <p:blipFill>
          <a:blip r:embed="rId2"/>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indent="0" marL="0">
              <a:buNone/>
            </a:pPr>
            <a:r>
              <a:rPr lang="en-US" sz="1300" b="1" dirty="0">
                <a:solidFill>
                  <a:schemeClr val="tx1"/>
                </a:solidFill>
              </a:rPr>
              <a:t>Quando è piena</a:t>
            </a:r>
            <a:endParaRPr lang="en-US" sz="130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indent="0" marL="0">
              <a:buNone/>
            </a:pPr>
            <a:r>
              <a:rPr lang="en-US" sz="1100" dirty="0">
                <a:solidFill>
                  <a:schemeClr val="tx2"/>
                </a:solidFill>
              </a:rPr>
              <a:t>Le parti più vecchie possono essere escluse o riassunte</a:t>
            </a:r>
            <a:endParaRPr lang="en-US" sz="1100" dirty="0"/>
          </a:p>
        </p:txBody>
      </p:sp>
      <p:sp>
        <p:nvSpPr>
          <p:cNvPr id="25" name="cerchio FiTarget"/>
          <p:cNvSpPr/>
          <p:nvPr/>
        </p:nvSpPr>
        <p:spPr>
          <a:xfrm>
            <a:off x="5486400" y="3374136"/>
            <a:ext cx="457200" cy="457200"/>
          </a:xfrm>
          <a:prstGeom prst="ellipse">
            <a:avLst/>
          </a:prstGeom>
          <a:solidFill>
            <a:schemeClr val="accent1"/>
          </a:solidFill>
          <a:ln/>
        </p:spPr>
      </p:sp>
      <p:pic>
        <p:nvPicPr>
          <p:cNvPr id="26" name="Image 2" descr="FiTarget">    </p:cNvPr>
          <p:cNvPicPr>
            <a:picLocks noChangeAspect="1"/>
          </p:cNvPicPr>
          <p:nvPr/>
        </p:nvPicPr>
        <p:blipFill>
          <a:blip r:embed="rId3"/>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indent="0" marL="0">
              <a:buNone/>
            </a:pPr>
            <a:r>
              <a:rPr lang="en-US" sz="1300" b="1" dirty="0">
                <a:solidFill>
                  <a:schemeClr val="tx1"/>
                </a:solidFill>
              </a:rPr>
              <a:t>Il contesto giusto conta più della quantità</a:t>
            </a:r>
            <a:endParaRPr lang="en-US" sz="130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indent="0" marL="0">
              <a:buNone/>
            </a:pPr>
            <a:r>
              <a:rPr lang="en-US" sz="1100" dirty="0">
                <a:solidFill>
                  <a:schemeClr val="tx2"/>
                </a:solidFill>
              </a:rPr>
              <a:t>Informazioni nel mezzo di testi lunghi possono essere trascurate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cronologia conversazionale</a:t>
            </a:r>
            <a:endParaRPr lang="en-US" sz="2600" dirty="0"/>
          </a:p>
        </p:txBody>
      </p:sp>
      <p:sp>
        <p:nvSpPr>
          <p:cNvPr id="4" name="Text 1"/>
          <p:cNvSpPr txBox="1"/>
          <p:nvPr/>
        </p:nvSpPr>
        <p:spPr>
          <a:xfrm>
            <a:off x="457200" y="123444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1</a:t>
            </a:r>
            <a:endParaRPr lang="en-US" sz="1300" dirty="0"/>
          </a:p>
        </p:txBody>
      </p:sp>
      <p:sp>
        <p:nvSpPr>
          <p:cNvPr id="5" name="blocco Istruzioni"/>
          <p:cNvSpPr/>
          <p:nvPr/>
        </p:nvSpPr>
        <p:spPr>
          <a:xfrm>
            <a:off x="1280160" y="1234440"/>
            <a:ext cx="1051560" cy="502920"/>
          </a:xfrm>
          <a:prstGeom prst="roundRect">
            <a:avLst>
              <a:gd name="adj" fmla="val 21818"/>
            </a:avLst>
          </a:prstGeom>
          <a:solidFill>
            <a:schemeClr val="bg2"/>
          </a:solidFill>
          <a:ln/>
        </p:spPr>
      </p:sp>
      <p:sp>
        <p:nvSpPr>
          <p:cNvPr id="6" name="Text 3"/>
          <p:cNvSpPr txBox="1"/>
          <p:nvPr/>
        </p:nvSpPr>
        <p:spPr>
          <a:xfrm>
            <a:off x="1325880" y="123444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7" name="blocco Domanda 1"/>
          <p:cNvSpPr/>
          <p:nvPr/>
        </p:nvSpPr>
        <p:spPr>
          <a:xfrm>
            <a:off x="2377440" y="1234440"/>
            <a:ext cx="960120" cy="502920"/>
          </a:xfrm>
          <a:prstGeom prst="roundRect">
            <a:avLst>
              <a:gd name="adj" fmla="val 21818"/>
            </a:avLst>
          </a:prstGeom>
          <a:solidFill>
            <a:schemeClr val="accent6"/>
          </a:solidFill>
          <a:ln/>
        </p:spPr>
      </p:sp>
      <p:sp>
        <p:nvSpPr>
          <p:cNvPr id="8" name="Text 5"/>
          <p:cNvSpPr txBox="1"/>
          <p:nvPr/>
        </p:nvSpPr>
        <p:spPr>
          <a:xfrm>
            <a:off x="2423160" y="123444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1</a:t>
            </a:r>
            <a:endParaRPr lang="en-US" sz="1100" dirty="0"/>
          </a:p>
        </p:txBody>
      </p:sp>
      <p:sp>
        <p:nvSpPr>
          <p:cNvPr id="9" name="Text 6"/>
          <p:cNvSpPr txBox="1"/>
          <p:nvPr/>
        </p:nvSpPr>
        <p:spPr>
          <a:xfrm>
            <a:off x="457200" y="201168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2</a:t>
            </a:r>
            <a:endParaRPr lang="en-US" sz="1300" dirty="0"/>
          </a:p>
        </p:txBody>
      </p:sp>
      <p:sp>
        <p:nvSpPr>
          <p:cNvPr id="10" name="blocco Istruzioni"/>
          <p:cNvSpPr/>
          <p:nvPr/>
        </p:nvSpPr>
        <p:spPr>
          <a:xfrm>
            <a:off x="1280160" y="2011680"/>
            <a:ext cx="1051560" cy="502920"/>
          </a:xfrm>
          <a:prstGeom prst="roundRect">
            <a:avLst>
              <a:gd name="adj" fmla="val 21818"/>
            </a:avLst>
          </a:prstGeom>
          <a:solidFill>
            <a:schemeClr val="bg2"/>
          </a:solidFill>
          <a:ln/>
        </p:spPr>
      </p:sp>
      <p:sp>
        <p:nvSpPr>
          <p:cNvPr id="11" name="Text 8"/>
          <p:cNvSpPr txBox="1"/>
          <p:nvPr/>
        </p:nvSpPr>
        <p:spPr>
          <a:xfrm>
            <a:off x="1325880" y="201168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12" name="blocco Domanda 1"/>
          <p:cNvSpPr/>
          <p:nvPr/>
        </p:nvSpPr>
        <p:spPr>
          <a:xfrm>
            <a:off x="2377440" y="2011680"/>
            <a:ext cx="960120" cy="502920"/>
          </a:xfrm>
          <a:prstGeom prst="roundRect">
            <a:avLst>
              <a:gd name="adj" fmla="val 21818"/>
            </a:avLst>
          </a:prstGeom>
          <a:solidFill>
            <a:schemeClr val="bg2"/>
          </a:solidFill>
          <a:ln/>
        </p:spPr>
      </p:sp>
      <p:sp>
        <p:nvSpPr>
          <p:cNvPr id="13" name="Text 10"/>
          <p:cNvSpPr txBox="1"/>
          <p:nvPr/>
        </p:nvSpPr>
        <p:spPr>
          <a:xfrm>
            <a:off x="2423160" y="201168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14" name="blocco Risposta 1"/>
          <p:cNvSpPr/>
          <p:nvPr/>
        </p:nvSpPr>
        <p:spPr>
          <a:xfrm>
            <a:off x="3383280" y="2011680"/>
            <a:ext cx="1325880" cy="502920"/>
          </a:xfrm>
          <a:prstGeom prst="roundRect">
            <a:avLst>
              <a:gd name="adj" fmla="val 21818"/>
            </a:avLst>
          </a:prstGeom>
          <a:solidFill>
            <a:schemeClr val="bg2"/>
          </a:solidFill>
          <a:ln/>
        </p:spPr>
      </p:sp>
      <p:sp>
        <p:nvSpPr>
          <p:cNvPr id="15" name="Text 12"/>
          <p:cNvSpPr txBox="1"/>
          <p:nvPr/>
        </p:nvSpPr>
        <p:spPr>
          <a:xfrm>
            <a:off x="3429000" y="201168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16" name="blocco Domanda 2"/>
          <p:cNvSpPr/>
          <p:nvPr/>
        </p:nvSpPr>
        <p:spPr>
          <a:xfrm>
            <a:off x="4754880" y="2011680"/>
            <a:ext cx="960120" cy="502920"/>
          </a:xfrm>
          <a:prstGeom prst="roundRect">
            <a:avLst>
              <a:gd name="adj" fmla="val 21818"/>
            </a:avLst>
          </a:prstGeom>
          <a:solidFill>
            <a:schemeClr val="accent6"/>
          </a:solidFill>
          <a:ln/>
        </p:spPr>
      </p:sp>
      <p:sp>
        <p:nvSpPr>
          <p:cNvPr id="17" name="Text 14"/>
          <p:cNvSpPr txBox="1"/>
          <p:nvPr/>
        </p:nvSpPr>
        <p:spPr>
          <a:xfrm>
            <a:off x="4800600" y="201168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2</a:t>
            </a:r>
            <a:endParaRPr lang="en-US" sz="1100" dirty="0"/>
          </a:p>
        </p:txBody>
      </p:sp>
      <p:sp>
        <p:nvSpPr>
          <p:cNvPr id="18" name="Text 15"/>
          <p:cNvSpPr txBox="1"/>
          <p:nvPr/>
        </p:nvSpPr>
        <p:spPr>
          <a:xfrm>
            <a:off x="457200" y="278892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3</a:t>
            </a:r>
            <a:endParaRPr lang="en-US" sz="1300" dirty="0"/>
          </a:p>
        </p:txBody>
      </p:sp>
      <p:sp>
        <p:nvSpPr>
          <p:cNvPr id="19" name="blocco Istruzioni"/>
          <p:cNvSpPr/>
          <p:nvPr/>
        </p:nvSpPr>
        <p:spPr>
          <a:xfrm>
            <a:off x="1280160" y="2788920"/>
            <a:ext cx="1051560" cy="502920"/>
          </a:xfrm>
          <a:prstGeom prst="roundRect">
            <a:avLst>
              <a:gd name="adj" fmla="val 21818"/>
            </a:avLst>
          </a:prstGeom>
          <a:solidFill>
            <a:schemeClr val="bg2"/>
          </a:solidFill>
          <a:ln/>
        </p:spPr>
      </p:sp>
      <p:sp>
        <p:nvSpPr>
          <p:cNvPr id="20" name="Text 17"/>
          <p:cNvSpPr txBox="1"/>
          <p:nvPr/>
        </p:nvSpPr>
        <p:spPr>
          <a:xfrm>
            <a:off x="1325880" y="278892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21" name="blocco Domanda 1"/>
          <p:cNvSpPr/>
          <p:nvPr/>
        </p:nvSpPr>
        <p:spPr>
          <a:xfrm>
            <a:off x="2377440" y="2788920"/>
            <a:ext cx="960120" cy="502920"/>
          </a:xfrm>
          <a:prstGeom prst="roundRect">
            <a:avLst>
              <a:gd name="adj" fmla="val 21818"/>
            </a:avLst>
          </a:prstGeom>
          <a:solidFill>
            <a:schemeClr val="bg2"/>
          </a:solidFill>
          <a:ln/>
        </p:spPr>
      </p:sp>
      <p:sp>
        <p:nvSpPr>
          <p:cNvPr id="22" name="Text 19"/>
          <p:cNvSpPr txBox="1"/>
          <p:nvPr/>
        </p:nvSpPr>
        <p:spPr>
          <a:xfrm>
            <a:off x="242316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23" name="blocco Risposta 1"/>
          <p:cNvSpPr/>
          <p:nvPr/>
        </p:nvSpPr>
        <p:spPr>
          <a:xfrm>
            <a:off x="3383280" y="2788920"/>
            <a:ext cx="1325880" cy="502920"/>
          </a:xfrm>
          <a:prstGeom prst="roundRect">
            <a:avLst>
              <a:gd name="adj" fmla="val 21818"/>
            </a:avLst>
          </a:prstGeom>
          <a:solidFill>
            <a:schemeClr val="bg2"/>
          </a:solidFill>
          <a:ln/>
        </p:spPr>
      </p:sp>
      <p:sp>
        <p:nvSpPr>
          <p:cNvPr id="24" name="Text 21"/>
          <p:cNvSpPr txBox="1"/>
          <p:nvPr/>
        </p:nvSpPr>
        <p:spPr>
          <a:xfrm>
            <a:off x="342900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25" name="blocco Domanda 2"/>
          <p:cNvSpPr/>
          <p:nvPr/>
        </p:nvSpPr>
        <p:spPr>
          <a:xfrm>
            <a:off x="4754880" y="2788920"/>
            <a:ext cx="960120" cy="502920"/>
          </a:xfrm>
          <a:prstGeom prst="roundRect">
            <a:avLst>
              <a:gd name="adj" fmla="val 21818"/>
            </a:avLst>
          </a:prstGeom>
          <a:solidFill>
            <a:schemeClr val="bg2"/>
          </a:solidFill>
          <a:ln/>
        </p:spPr>
      </p:sp>
      <p:sp>
        <p:nvSpPr>
          <p:cNvPr id="26" name="Text 23"/>
          <p:cNvSpPr txBox="1"/>
          <p:nvPr/>
        </p:nvSpPr>
        <p:spPr>
          <a:xfrm>
            <a:off x="480060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2</a:t>
            </a:r>
            <a:endParaRPr lang="en-US" sz="1100" dirty="0"/>
          </a:p>
        </p:txBody>
      </p:sp>
      <p:sp>
        <p:nvSpPr>
          <p:cNvPr id="27" name="blocco Risposta 2"/>
          <p:cNvSpPr/>
          <p:nvPr/>
        </p:nvSpPr>
        <p:spPr>
          <a:xfrm>
            <a:off x="5760720" y="2788920"/>
            <a:ext cx="1325880" cy="502920"/>
          </a:xfrm>
          <a:prstGeom prst="roundRect">
            <a:avLst>
              <a:gd name="adj" fmla="val 21818"/>
            </a:avLst>
          </a:prstGeom>
          <a:solidFill>
            <a:schemeClr val="bg2"/>
          </a:solidFill>
          <a:ln/>
        </p:spPr>
      </p:sp>
      <p:sp>
        <p:nvSpPr>
          <p:cNvPr id="28" name="Text 25"/>
          <p:cNvSpPr txBox="1"/>
          <p:nvPr/>
        </p:nvSpPr>
        <p:spPr>
          <a:xfrm>
            <a:off x="580644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2</a:t>
            </a:r>
            <a:endParaRPr lang="en-US" sz="1100" dirty="0"/>
          </a:p>
        </p:txBody>
      </p:sp>
      <p:sp>
        <p:nvSpPr>
          <p:cNvPr id="29" name="blocco Domanda 3"/>
          <p:cNvSpPr/>
          <p:nvPr/>
        </p:nvSpPr>
        <p:spPr>
          <a:xfrm>
            <a:off x="7132320" y="2788920"/>
            <a:ext cx="960120" cy="502920"/>
          </a:xfrm>
          <a:prstGeom prst="roundRect">
            <a:avLst>
              <a:gd name="adj" fmla="val 21818"/>
            </a:avLst>
          </a:prstGeom>
          <a:solidFill>
            <a:schemeClr val="accent6"/>
          </a:solidFill>
          <a:ln/>
        </p:spPr>
      </p:sp>
      <p:sp>
        <p:nvSpPr>
          <p:cNvPr id="30" name="Text 27"/>
          <p:cNvSpPr txBox="1"/>
          <p:nvPr/>
        </p:nvSpPr>
        <p:spPr>
          <a:xfrm>
            <a:off x="7178040" y="278892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3</a:t>
            </a:r>
            <a:endParaRPr lang="en-US" sz="1100" dirty="0"/>
          </a:p>
        </p:txBody>
      </p:sp>
      <p:sp>
        <p:nvSpPr>
          <p:cNvPr id="31" name="limite"/>
          <p:cNvSpPr/>
          <p:nvPr/>
        </p:nvSpPr>
        <p:spPr>
          <a:xfrm>
            <a:off x="8503920" y="1097280"/>
            <a:ext cx="0" cy="2423160"/>
          </a:xfrm>
          <a:prstGeom prst="line">
            <a:avLst/>
          </a:prstGeom>
          <a:noFill/>
          <a:ln w="25400">
            <a:solidFill>
              <a:schemeClr val="accent5"/>
            </a:solidFill>
            <a:prstDash val="dash"/>
          </a:ln>
        </p:spPr>
      </p:sp>
      <p:sp>
        <p:nvSpPr>
          <p:cNvPr id="32" name="Text 29"/>
          <p:cNvSpPr txBox="1"/>
          <p:nvPr/>
        </p:nvSpPr>
        <p:spPr>
          <a:xfrm>
            <a:off x="7863840" y="3520440"/>
            <a:ext cx="822960" cy="228600"/>
          </a:xfrm>
          <a:prstGeom prst="rect">
            <a:avLst/>
          </a:prstGeom>
          <a:noFill/>
          <a:ln/>
        </p:spPr>
        <p:txBody>
          <a:bodyPr wrap="square" lIns="0" tIns="0" rIns="0" bIns="0" rtlCol="0" anchor="t"/>
          <a:lstStyle/>
          <a:p>
            <a:pPr algn="r" indent="0" marL="0">
              <a:buNone/>
            </a:pPr>
            <a:r>
              <a:rPr lang="en-US" sz="1000" b="1" dirty="0">
                <a:solidFill>
                  <a:schemeClr val="accent5"/>
                </a:solidFill>
              </a:rPr>
              <a:t>Limite</a:t>
            </a:r>
            <a:endParaRPr lang="en-US" sz="1000" dirty="0"/>
          </a:p>
        </p:txBody>
      </p:sp>
      <p:sp>
        <p:nvSpPr>
          <p:cNvPr id="33" name="Conversazioni lunghe"/>
          <p:cNvSpPr/>
          <p:nvPr/>
        </p:nvSpPr>
        <p:spPr>
          <a:xfrm>
            <a:off x="457200" y="3794760"/>
            <a:ext cx="2615184" cy="777240"/>
          </a:xfrm>
          <a:prstGeom prst="roundRect">
            <a:avLst>
              <a:gd name="adj" fmla="val 9412"/>
            </a:avLst>
          </a:prstGeom>
          <a:solidFill>
            <a:schemeClr val="bg2"/>
          </a:solidFill>
          <a:ln/>
        </p:spPr>
      </p:sp>
      <p:sp>
        <p:nvSpPr>
          <p:cNvPr id="34" name="Text 31"/>
          <p:cNvSpPr txBox="1"/>
          <p:nvPr/>
        </p:nvSpPr>
        <p:spPr>
          <a:xfrm>
            <a:off x="594360"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Conversazioni lunghe</a:t>
            </a:r>
            <a:endParaRPr lang="en-US" sz="1300" dirty="0"/>
          </a:p>
        </p:txBody>
      </p:sp>
      <p:sp>
        <p:nvSpPr>
          <p:cNvPr id="35" name="Text 32"/>
          <p:cNvSpPr txBox="1"/>
          <p:nvPr/>
        </p:nvSpPr>
        <p:spPr>
          <a:xfrm>
            <a:off x="594360"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Le parti iniziali possono essere trascurate o escluse</a:t>
            </a:r>
            <a:endParaRPr lang="en-US" sz="1100" dirty="0"/>
          </a:p>
        </p:txBody>
      </p:sp>
      <p:sp>
        <p:nvSpPr>
          <p:cNvPr id="36" name="Nuova conversazione"/>
          <p:cNvSpPr/>
          <p:nvPr/>
        </p:nvSpPr>
        <p:spPr>
          <a:xfrm>
            <a:off x="3264408" y="3794760"/>
            <a:ext cx="2615184" cy="777240"/>
          </a:xfrm>
          <a:prstGeom prst="roundRect">
            <a:avLst>
              <a:gd name="adj" fmla="val 9412"/>
            </a:avLst>
          </a:prstGeom>
          <a:solidFill>
            <a:schemeClr val="bg2"/>
          </a:solidFill>
          <a:ln/>
        </p:spPr>
      </p:sp>
      <p:sp>
        <p:nvSpPr>
          <p:cNvPr id="37" name="Text 34"/>
          <p:cNvSpPr txBox="1"/>
          <p:nvPr/>
        </p:nvSpPr>
        <p:spPr>
          <a:xfrm>
            <a:off x="3401568"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Nuova conversazione</a:t>
            </a:r>
            <a:endParaRPr lang="en-US" sz="1300" dirty="0"/>
          </a:p>
        </p:txBody>
      </p:sp>
      <p:sp>
        <p:nvSpPr>
          <p:cNvPr id="38" name="Text 35"/>
          <p:cNvSpPr txBox="1"/>
          <p:nvPr/>
        </p:nvSpPr>
        <p:spPr>
          <a:xfrm>
            <a:off x="3401568"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Il modello non sa nulla della precedente</a:t>
            </a:r>
            <a:endParaRPr lang="en-US" sz="1100" dirty="0"/>
          </a:p>
        </p:txBody>
      </p:sp>
      <p:sp>
        <p:nvSpPr>
          <p:cNvPr id="39" name="Errori iniziali"/>
          <p:cNvSpPr/>
          <p:nvPr/>
        </p:nvSpPr>
        <p:spPr>
          <a:xfrm>
            <a:off x="6071616" y="3794760"/>
            <a:ext cx="2615184" cy="777240"/>
          </a:xfrm>
          <a:prstGeom prst="roundRect">
            <a:avLst>
              <a:gd name="adj" fmla="val 9412"/>
            </a:avLst>
          </a:prstGeom>
          <a:solidFill>
            <a:schemeClr val="bg2"/>
          </a:solidFill>
          <a:ln/>
        </p:spPr>
      </p:sp>
      <p:sp>
        <p:nvSpPr>
          <p:cNvPr id="40" name="Text 37"/>
          <p:cNvSpPr txBox="1"/>
          <p:nvPr/>
        </p:nvSpPr>
        <p:spPr>
          <a:xfrm>
            <a:off x="6208776"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Errori iniziali</a:t>
            </a:r>
            <a:endParaRPr lang="en-US" sz="1300" dirty="0"/>
          </a:p>
        </p:txBody>
      </p:sp>
      <p:sp>
        <p:nvSpPr>
          <p:cNvPr id="41" name="Text 38"/>
          <p:cNvSpPr txBox="1"/>
          <p:nvPr/>
        </p:nvSpPr>
        <p:spPr>
          <a:xfrm>
            <a:off x="6208776"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Restano nel contesto: talvolta conviene ricominciare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Contesto temporaneo e memoria persistente</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Contesto temporaneo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Memoria persistente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Che cos'è</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Ciò che è nella finestra di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Informazioni salvate dall'applicazione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Durata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Tra più conversazioni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Chi la gestisce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Meccanismo di base del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Funzione specifica di alcune applicazioni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documento allegato a questa chat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"Lavoro nell'ufficio acquisti" ricordato in futuro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viene reinserita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In azienda: sapere che cosa viene memorizzato, dove e per quanto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modello e l'applicazione</a:t>
            </a:r>
            <a:endParaRPr lang="en-US" sz="2600" dirty="0"/>
          </a:p>
        </p:txBody>
      </p:sp>
      <p:sp>
        <p:nvSpPr>
          <p:cNvPr id="4" name="applicazione"/>
          <p:cNvSpPr/>
          <p:nvPr/>
        </p:nvSpPr>
        <p:spPr>
          <a:xfrm>
            <a:off x="457200" y="1097280"/>
            <a:ext cx="5486400" cy="3429000"/>
          </a:xfrm>
          <a:prstGeom prst="roundRect">
            <a:avLst>
              <a:gd name="adj" fmla="val 2133"/>
            </a:avLst>
          </a:prstGeom>
          <a:solidFill>
            <a:schemeClr val="bg2"/>
          </a:solidFill>
          <a:ln/>
        </p:spPr>
      </p:sp>
      <p:sp>
        <p:nvSpPr>
          <p:cNvPr id="5" name="Text 2"/>
          <p:cNvSpPr txBox="1"/>
          <p:nvPr/>
        </p:nvSpPr>
        <p:spPr>
          <a:xfrm>
            <a:off x="640080" y="1188720"/>
            <a:ext cx="5120640" cy="320040"/>
          </a:xfrm>
          <a:prstGeom prst="rect">
            <a:avLst/>
          </a:prstGeom>
          <a:noFill/>
          <a:ln/>
        </p:spPr>
        <p:txBody>
          <a:bodyPr wrap="square" lIns="0" tIns="0" rIns="0" bIns="0" rtlCol="0" anchor="t"/>
          <a:lstStyle/>
          <a:p>
            <a:pPr indent="0" marL="0">
              <a:buNone/>
            </a:pPr>
            <a:r>
              <a:rPr lang="en-US" sz="1500" b="1" dirty="0">
                <a:solidFill>
                  <a:schemeClr val="tx1"/>
                </a:solidFill>
              </a:rPr>
              <a:t>Applicazione</a:t>
            </a:r>
            <a:endParaRPr lang="en-US" sz="150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sp>
      <p:sp>
        <p:nvSpPr>
          <p:cNvPr id="7" name="Text 4"/>
          <p:cNvSpPr txBox="1"/>
          <p:nvPr/>
        </p:nvSpPr>
        <p:spPr>
          <a:xfrm>
            <a:off x="2331720" y="2240280"/>
            <a:ext cx="1737360" cy="1188720"/>
          </a:xfrm>
          <a:prstGeom prst="rect">
            <a:avLst/>
          </a:prstGeom>
          <a:noFill/>
          <a:ln/>
        </p:spPr>
        <p:txBody>
          <a:bodyPr wrap="square" lIns="0" tIns="0" rIns="0" bIns="0" rtlCol="0" anchor="ctr"/>
          <a:lstStyle/>
          <a:p>
            <a:pPr algn="ctr" indent="0" marL="0">
              <a:buNone/>
            </a:pPr>
            <a:r>
              <a:rPr lang="en-US" sz="1700" b="1" dirty="0">
                <a:solidFill>
                  <a:schemeClr val="bg1"/>
                </a:solidFill>
              </a:rPr>
              <a:t>Modello</a:t>
            </a:r>
            <a:endParaRPr lang="en-US" sz="1700" dirty="0"/>
          </a:p>
        </p:txBody>
      </p:sp>
      <p:sp>
        <p:nvSpPr>
          <p:cNvPr id="8" name="cerchio FiSettings"/>
          <p:cNvSpPr/>
          <p:nvPr/>
        </p:nvSpPr>
        <p:spPr>
          <a:xfrm>
            <a:off x="640080" y="1737360"/>
            <a:ext cx="384048" cy="384048"/>
          </a:xfrm>
          <a:prstGeom prst="ellipse">
            <a:avLst/>
          </a:prstGeom>
          <a:solidFill>
            <a:schemeClr val="accent1"/>
          </a:solidFill>
          <a:ln/>
        </p:spPr>
      </p:sp>
      <p:pic>
        <p:nvPicPr>
          <p:cNvPr id="9" name="Image 0" descr="FiSettings">    </p:cNvPr>
          <p:cNvPicPr>
            <a:picLocks noChangeAspect="1"/>
          </p:cNvPicPr>
          <p:nvPr/>
        </p:nvPicPr>
        <p:blipFill>
          <a:blip r:embed="rId1"/>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Istruzioni di sistema</a:t>
            </a:r>
            <a:endParaRPr lang="en-US" sz="1200" dirty="0"/>
          </a:p>
        </p:txBody>
      </p:sp>
      <p:sp>
        <p:nvSpPr>
          <p:cNvPr id="11" name="cerchio FiGlobe"/>
          <p:cNvSpPr/>
          <p:nvPr/>
        </p:nvSpPr>
        <p:spPr>
          <a:xfrm>
            <a:off x="640080" y="2606040"/>
            <a:ext cx="384048" cy="384048"/>
          </a:xfrm>
          <a:prstGeom prst="ellipse">
            <a:avLst/>
          </a:prstGeom>
          <a:solidFill>
            <a:schemeClr val="accent1"/>
          </a:solidFill>
          <a:ln/>
        </p:spPr>
      </p:sp>
      <p:pic>
        <p:nvPicPr>
          <p:cNvPr id="12" name="Image 1" descr="FiGlobe">    </p:cNvPr>
          <p:cNvPicPr>
            <a:picLocks noChangeAspect="1"/>
          </p:cNvPicPr>
          <p:nvPr/>
        </p:nvPicPr>
        <p:blipFill>
          <a:blip r:embed="rId2"/>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Ricerca sul web</a:t>
            </a:r>
            <a:endParaRPr lang="en-US" sz="1200" dirty="0"/>
          </a:p>
        </p:txBody>
      </p:sp>
      <p:sp>
        <p:nvSpPr>
          <p:cNvPr id="14" name="cerchio FiPaperclip"/>
          <p:cNvSpPr/>
          <p:nvPr/>
        </p:nvSpPr>
        <p:spPr>
          <a:xfrm>
            <a:off x="640080" y="3474720"/>
            <a:ext cx="384048" cy="384048"/>
          </a:xfrm>
          <a:prstGeom prst="ellipse">
            <a:avLst/>
          </a:prstGeom>
          <a:solidFill>
            <a:schemeClr val="accent1"/>
          </a:solidFill>
          <a:ln/>
        </p:spPr>
      </p:sp>
      <p:pic>
        <p:nvPicPr>
          <p:cNvPr id="15" name="Image 2" descr="FiPaperclip">    </p:cNvPr>
          <p:cNvPicPr>
            <a:picLocks noChangeAspect="1"/>
          </p:cNvPicPr>
          <p:nvPr/>
        </p:nvPicPr>
        <p:blipFill>
          <a:blip r:embed="rId3"/>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Caricamento di file</a:t>
            </a:r>
            <a:endParaRPr lang="en-US" sz="1200" dirty="0"/>
          </a:p>
        </p:txBody>
      </p:sp>
      <p:sp>
        <p:nvSpPr>
          <p:cNvPr id="17" name="cerchio FiLink"/>
          <p:cNvSpPr/>
          <p:nvPr/>
        </p:nvSpPr>
        <p:spPr>
          <a:xfrm>
            <a:off x="4251960" y="1737360"/>
            <a:ext cx="384048" cy="384048"/>
          </a:xfrm>
          <a:prstGeom prst="ellipse">
            <a:avLst/>
          </a:prstGeom>
          <a:solidFill>
            <a:schemeClr val="accent1"/>
          </a:solidFill>
          <a:ln/>
        </p:spPr>
      </p:sp>
      <p:pic>
        <p:nvPicPr>
          <p:cNvPr id="18" name="Image 3" descr="FiLink">    </p:cNvPr>
          <p:cNvPicPr>
            <a:picLocks noChangeAspect="1"/>
          </p:cNvPicPr>
          <p:nvPr/>
        </p:nvPicPr>
        <p:blipFill>
          <a:blip r:embed="rId4"/>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Collegamenti a strumenti</a:t>
            </a:r>
            <a:endParaRPr lang="en-US" sz="1200" dirty="0"/>
          </a:p>
        </p:txBody>
      </p:sp>
      <p:sp>
        <p:nvSpPr>
          <p:cNvPr id="20" name="cerchio FiSave"/>
          <p:cNvSpPr/>
          <p:nvPr/>
        </p:nvSpPr>
        <p:spPr>
          <a:xfrm>
            <a:off x="4251960" y="2606040"/>
            <a:ext cx="384048" cy="384048"/>
          </a:xfrm>
          <a:prstGeom prst="ellipse">
            <a:avLst/>
          </a:prstGeom>
          <a:solidFill>
            <a:schemeClr val="accent1"/>
          </a:solidFill>
          <a:ln/>
        </p:spPr>
      </p:sp>
      <p:pic>
        <p:nvPicPr>
          <p:cNvPr id="21" name="Image 4" descr="FiSave">    </p:cNvPr>
          <p:cNvPicPr>
            <a:picLocks noChangeAspect="1"/>
          </p:cNvPicPr>
          <p:nvPr/>
        </p:nvPicPr>
        <p:blipFill>
          <a:blip r:embed="rId5"/>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Memoria</a:t>
            </a:r>
            <a:endParaRPr lang="en-US" sz="1200" dirty="0"/>
          </a:p>
        </p:txBody>
      </p:sp>
      <p:sp>
        <p:nvSpPr>
          <p:cNvPr id="23" name="cerchio FiShield"/>
          <p:cNvSpPr/>
          <p:nvPr/>
        </p:nvSpPr>
        <p:spPr>
          <a:xfrm>
            <a:off x="4251960" y="3474720"/>
            <a:ext cx="384048" cy="384048"/>
          </a:xfrm>
          <a:prstGeom prst="ellipse">
            <a:avLst/>
          </a:prstGeom>
          <a:solidFill>
            <a:schemeClr val="accent1"/>
          </a:solidFill>
          <a:ln/>
        </p:spPr>
      </p:sp>
      <p:pic>
        <p:nvPicPr>
          <p:cNvPr id="24" name="Image 5" descr="FiShield">    </p:cNvPr>
          <p:cNvPicPr>
            <a:picLocks noChangeAspect="1"/>
          </p:cNvPicPr>
          <p:nvPr/>
        </p:nvPicPr>
        <p:blipFill>
          <a:blip r:embed="rId6"/>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Filtri e regole sui dati</a:t>
            </a:r>
            <a:endParaRPr lang="en-US" sz="120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indent="0" marL="0">
              <a:buNone/>
            </a:pPr>
            <a:r>
              <a:rPr lang="en-US" sz="1000" i="1" dirty="0">
                <a:solidFill>
                  <a:schemeClr val="accent2"/>
                </a:solidFill>
              </a:rPr>
              <a:t>Più interfaccia, ovviamente</a:t>
            </a:r>
            <a:endParaRPr lang="en-US" sz="100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sp>
      <p:sp>
        <p:nvSpPr>
          <p:cNvPr id="28" name="Text 19"/>
          <p:cNvSpPr txBox="1"/>
          <p:nvPr/>
        </p:nvSpPr>
        <p:spPr>
          <a:xfrm>
            <a:off x="6400800" y="12801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Lo stesso modello</a:t>
            </a:r>
            <a:endParaRPr lang="en-US" sz="140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indent="0" marL="0">
              <a:buNone/>
            </a:pPr>
            <a:r>
              <a:rPr lang="en-US" sz="1200" dirty="0">
                <a:solidFill>
                  <a:schemeClr val="tx2"/>
                </a:solidFill>
              </a:rPr>
              <a:t>può comportarsi in modo diverso in prodotti diversi.</a:t>
            </a:r>
            <a:endParaRPr lang="en-US" sz="120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sp>
      <p:sp>
        <p:nvSpPr>
          <p:cNvPr id="31" name="Text 22"/>
          <p:cNvSpPr txBox="1"/>
          <p:nvPr/>
        </p:nvSpPr>
        <p:spPr>
          <a:xfrm>
            <a:off x="6400800" y="3063240"/>
            <a:ext cx="2103120" cy="347472"/>
          </a:xfrm>
          <a:prstGeom prst="rect">
            <a:avLst/>
          </a:prstGeom>
          <a:noFill/>
          <a:ln/>
        </p:spPr>
        <p:txBody>
          <a:bodyPr wrap="square" lIns="0" tIns="0" rIns="0" bIns="0" rtlCol="0" anchor="t"/>
          <a:lstStyle/>
          <a:p>
            <a:pPr indent="0" marL="0">
              <a:buNone/>
            </a:pPr>
            <a:r>
              <a:rPr lang="en-US" sz="1400" b="1" dirty="0">
                <a:solidFill>
                  <a:schemeClr val="tx1"/>
                </a:solidFill>
              </a:rPr>
              <a:t>Fonti aggiornate</a:t>
            </a:r>
            <a:endParaRPr lang="en-US" sz="140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indent="0" marL="0">
              <a:buNone/>
            </a:pPr>
            <a:r>
              <a:rPr lang="en-US" sz="1200" dirty="0">
                <a:solidFill>
                  <a:schemeClr val="tx2"/>
                </a:solidFill>
              </a:rPr>
              <a:t>dipendono da una funzione di ricerca dell'applicazione, non dal modello in sé.</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risultato dipende anche dalle informazioni rese disponibili durante l'interazione; il funzionamento del modello e quello del prodotto che lo utilizza non coincidono sempre.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2.5  ·  Come funziona un'interazione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Conoscenza e fonti informative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Fornire un documento o collegare una fonte non significa necessariamente riaddestrare il modello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fonti di informazione</a:t>
            </a:r>
            <a:endParaRPr lang="en-US" sz="260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sp>
      <p:sp>
        <p:nvSpPr>
          <p:cNvPr id="5" name="cerchio FiDatabase"/>
          <p:cNvSpPr/>
          <p:nvPr/>
        </p:nvSpPr>
        <p:spPr>
          <a:xfrm>
            <a:off x="640080" y="1280160"/>
            <a:ext cx="457200" cy="45720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Addestramento</a:t>
            </a:r>
            <a:endParaRPr lang="en-US" sz="16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Appresa dai testi di addestramento e incorporata nei parametri</a:t>
            </a:r>
            <a:endParaRPr lang="en-US" sz="1300" dirty="0"/>
          </a:p>
          <a:p>
            <a:pPr marL="177800" indent="-177800">
              <a:spcAft>
                <a:spcPts val="300"/>
              </a:spcAft>
              <a:buSzPct val="100000"/>
              <a:buChar char="•"/>
            </a:pPr>
            <a:r>
              <a:rPr lang="en-US" sz="1300" dirty="0">
                <a:solidFill>
                  <a:schemeClr val="tx2"/>
                </a:solidFill>
              </a:rPr>
              <a:t>Ampia e generale</a:t>
            </a:r>
            <a:endParaRPr lang="en-US" sz="1300" dirty="0"/>
          </a:p>
          <a:p>
            <a:pPr marL="177800" indent="-177800">
              <a:spcAft>
                <a:spcPts val="300"/>
              </a:spcAft>
              <a:buSzPct val="100000"/>
              <a:buChar char="•"/>
            </a:pPr>
            <a:r>
              <a:rPr lang="en-US" sz="1300" dirty="0">
                <a:solidFill>
                  <a:schemeClr val="tx2"/>
                </a:solidFill>
              </a:rPr>
              <a:t>Ferma a una certa data</a:t>
            </a:r>
            <a:endParaRPr lang="en-US" sz="1300" dirty="0"/>
          </a:p>
          <a:p>
            <a:pPr marL="177800" indent="-177800">
              <a:spcAft>
                <a:spcPts val="300"/>
              </a:spcAft>
              <a:buSzPct val="100000"/>
              <a:buChar char="•"/>
            </a:pPr>
            <a:r>
              <a:rPr lang="en-US" sz="1300" dirty="0">
                <a:solidFill>
                  <a:schemeClr val="tx2"/>
                </a:solidFill>
              </a:rPr>
              <a:t>Non verificabile direttamente</a:t>
            </a:r>
            <a:endParaRPr lang="en-US" sz="130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sp>
      <p:sp>
        <p:nvSpPr>
          <p:cNvPr id="10" name="cerchio FiPaperclip"/>
          <p:cNvSpPr/>
          <p:nvPr/>
        </p:nvSpPr>
        <p:spPr>
          <a:xfrm>
            <a:off x="3447288" y="1280160"/>
            <a:ext cx="457200" cy="457200"/>
          </a:xfrm>
          <a:prstGeom prst="ellipse">
            <a:avLst/>
          </a:prstGeom>
          <a:solidFill>
            <a:schemeClr val="accent1"/>
          </a:solidFill>
          <a:ln/>
        </p:spPr>
      </p:sp>
      <p:pic>
        <p:nvPicPr>
          <p:cNvPr id="11" name="Image 1" descr="FiPaperclip">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Interazione</a:t>
            </a:r>
            <a:endParaRPr lang="en-US" sz="16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Fornita da noi durante la conversazione</a:t>
            </a:r>
            <a:endParaRPr lang="en-US" sz="1300" dirty="0"/>
          </a:p>
          <a:p>
            <a:pPr marL="177800" indent="-177800">
              <a:spcAft>
                <a:spcPts val="300"/>
              </a:spcAft>
              <a:buSzPct val="100000"/>
              <a:buChar char="•"/>
            </a:pPr>
            <a:r>
              <a:rPr lang="en-US" sz="1300" dirty="0">
                <a:solidFill>
                  <a:schemeClr val="tx2"/>
                </a:solidFill>
              </a:rPr>
              <a:t>Istruzioni, testi, documenti</a:t>
            </a:r>
            <a:endParaRPr lang="en-US" sz="1300" dirty="0"/>
          </a:p>
          <a:p>
            <a:pPr marL="177800" indent="-177800">
              <a:spcAft>
                <a:spcPts val="300"/>
              </a:spcAft>
              <a:buSzPct val="100000"/>
              <a:buChar char="•"/>
            </a:pPr>
            <a:r>
              <a:rPr lang="en-US" sz="1300" dirty="0">
                <a:solidFill>
                  <a:schemeClr val="tx2"/>
                </a:solidFill>
              </a:rPr>
              <a:t>Specifica e controllabile</a:t>
            </a:r>
            <a:endParaRPr lang="en-US" sz="1300" dirty="0"/>
          </a:p>
          <a:p>
            <a:pPr marL="177800" indent="-177800">
              <a:spcAft>
                <a:spcPts val="300"/>
              </a:spcAft>
              <a:buSzPct val="100000"/>
              <a:buChar char="•"/>
            </a:pPr>
            <a:r>
              <a:rPr lang="en-US" sz="1300" dirty="0">
                <a:solidFill>
                  <a:schemeClr val="tx2"/>
                </a:solidFill>
              </a:rPr>
              <a:t>Vale nel contesto temporaneo</a:t>
            </a:r>
            <a:endParaRPr lang="en-US" sz="130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sp>
      <p:sp>
        <p:nvSpPr>
          <p:cNvPr id="15" name="cerchio FiGlobe"/>
          <p:cNvSpPr/>
          <p:nvPr/>
        </p:nvSpPr>
        <p:spPr>
          <a:xfrm>
            <a:off x="6254496" y="1280160"/>
            <a:ext cx="457200" cy="457200"/>
          </a:xfrm>
          <a:prstGeom prst="ellipse">
            <a:avLst/>
          </a:prstGeom>
          <a:solidFill>
            <a:schemeClr val="accent1"/>
          </a:solidFill>
          <a:ln/>
        </p:spPr>
      </p:sp>
      <p:pic>
        <p:nvPicPr>
          <p:cNvPr id="16" name="Image 2" descr="FiGlob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Fonti esterne</a:t>
            </a:r>
            <a:endParaRPr lang="en-US" sz="16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Recuperata dall'applicazione al momento della richiesta</a:t>
            </a:r>
            <a:endParaRPr lang="en-US" sz="1300" dirty="0"/>
          </a:p>
          <a:p>
            <a:pPr marL="177800" indent="-177800">
              <a:spcAft>
                <a:spcPts val="300"/>
              </a:spcAft>
              <a:buSzPct val="100000"/>
              <a:buChar char="•"/>
            </a:pPr>
            <a:r>
              <a:rPr lang="en-US" sz="1300" dirty="0">
                <a:solidFill>
                  <a:schemeClr val="tx2"/>
                </a:solidFill>
              </a:rPr>
              <a:t>Web, basi documentali, database</a:t>
            </a:r>
            <a:endParaRPr lang="en-US" sz="1300" dirty="0"/>
          </a:p>
          <a:p>
            <a:pPr marL="177800" indent="-177800">
              <a:spcAft>
                <a:spcPts val="300"/>
              </a:spcAft>
              <a:buSzPct val="100000"/>
              <a:buChar char="•"/>
            </a:pPr>
            <a:r>
              <a:rPr lang="en-US" sz="1300" dirty="0">
                <a:solidFill>
                  <a:schemeClr val="tx2"/>
                </a:solidFill>
              </a:rPr>
              <a:t>Aggiornata o riservata</a:t>
            </a:r>
            <a:endParaRPr lang="en-US" sz="1300" dirty="0"/>
          </a:p>
          <a:p>
            <a:pPr marL="177800" indent="-177800">
              <a:spcAft>
                <a:spcPts val="300"/>
              </a:spcAft>
              <a:buSzPct val="100000"/>
              <a:buChar char="•"/>
            </a:pPr>
            <a:r>
              <a:rPr lang="en-US" sz="1300" dirty="0">
                <a:solidFill>
                  <a:schemeClr val="tx2"/>
                </a:solidFill>
              </a:rPr>
              <a:t>Dipende dalla qualità della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Conoscenza incorporata e recupero di informazioni</a:t>
            </a:r>
            <a:endParaRPr lang="en-US" sz="2600" dirty="0"/>
          </a:p>
        </p:txBody>
      </p:sp>
      <p:sp>
        <p:nvSpPr>
          <p:cNvPr id="4" name="scheda Libro chiuso: conoscenza incorporata"/>
          <p:cNvSpPr/>
          <p:nvPr/>
        </p:nvSpPr>
        <p:spPr>
          <a:xfrm>
            <a:off x="457200" y="1097280"/>
            <a:ext cx="3977640" cy="2743200"/>
          </a:xfrm>
          <a:prstGeom prst="roundRect">
            <a:avLst>
              <a:gd name="adj" fmla="val 2667"/>
            </a:avLst>
          </a:prstGeom>
          <a:solidFill>
            <a:schemeClr val="bg2"/>
          </a:solidFill>
          <a:ln/>
        </p:spPr>
      </p:sp>
      <p:sp>
        <p:nvSpPr>
          <p:cNvPr id="5" name="cerchio FiBook"/>
          <p:cNvSpPr/>
          <p:nvPr/>
        </p:nvSpPr>
        <p:spPr>
          <a:xfrm>
            <a:off x="640080" y="1280160"/>
            <a:ext cx="457200" cy="457200"/>
          </a:xfrm>
          <a:prstGeom prst="ellipse">
            <a:avLst/>
          </a:prstGeom>
          <a:solidFill>
            <a:schemeClr val="accent1"/>
          </a:solidFill>
          <a:ln/>
        </p:spPr>
      </p:sp>
      <p:pic>
        <p:nvPicPr>
          <p:cNvPr id="6" name="Image 0" descr="FiBoo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chiuso: conoscenza incorporata</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Risponde da ciò che ha appreso</a:t>
            </a:r>
            <a:endParaRPr lang="en-US" sz="1300" dirty="0"/>
          </a:p>
          <a:p>
            <a:pPr marL="177800" indent="-177800">
              <a:spcAft>
                <a:spcPts val="300"/>
              </a:spcAft>
              <a:buSzPct val="100000"/>
              <a:buChar char="•"/>
            </a:pPr>
            <a:r>
              <a:rPr lang="en-US" sz="1300" dirty="0">
                <a:solidFill>
                  <a:schemeClr val="tx2"/>
                </a:solidFill>
              </a:rPr>
              <a:t>Ampia, ma imprecisa sui dettagli</a:t>
            </a:r>
            <a:endParaRPr lang="en-US" sz="1300" dirty="0"/>
          </a:p>
          <a:p>
            <a:pPr marL="177800" indent="-177800">
              <a:spcAft>
                <a:spcPts val="300"/>
              </a:spcAft>
              <a:buSzPct val="100000"/>
              <a:buChar char="•"/>
            </a:pPr>
            <a:r>
              <a:rPr lang="en-US" sz="1300" dirty="0">
                <a:solidFill>
                  <a:schemeClr val="tx2"/>
                </a:solidFill>
              </a:rPr>
              <a:t>Non aggiornata dopo l'addestramento</a:t>
            </a:r>
            <a:endParaRPr lang="en-US" sz="1300" dirty="0"/>
          </a:p>
          <a:p>
            <a:pPr marL="177800" indent="-177800">
              <a:spcAft>
                <a:spcPts val="300"/>
              </a:spcAft>
              <a:buSzPct val="100000"/>
              <a:buChar char="•"/>
            </a:pPr>
            <a:r>
              <a:rPr lang="en-US" sz="1300" dirty="0">
                <a:solidFill>
                  <a:schemeClr val="tx2"/>
                </a:solidFill>
              </a:rPr>
              <a:t>Può ricostruire risposte plausibili ma errate</a:t>
            </a:r>
            <a:endParaRPr lang="en-US" sz="1300" dirty="0"/>
          </a:p>
        </p:txBody>
      </p:sp>
      <p:sp>
        <p:nvSpPr>
          <p:cNvPr id="9" name="scheda Libro aperto: recupero di informazioni"/>
          <p:cNvSpPr/>
          <p:nvPr/>
        </p:nvSpPr>
        <p:spPr>
          <a:xfrm>
            <a:off x="4709160" y="1097280"/>
            <a:ext cx="3977640" cy="2743200"/>
          </a:xfrm>
          <a:prstGeom prst="roundRect">
            <a:avLst>
              <a:gd name="adj" fmla="val 2667"/>
            </a:avLst>
          </a:prstGeom>
          <a:solidFill>
            <a:schemeClr val="accent6"/>
          </a:solidFill>
          <a:ln/>
        </p:spPr>
      </p:sp>
      <p:sp>
        <p:nvSpPr>
          <p:cNvPr id="10" name="cerchio FiBookOpen"/>
          <p:cNvSpPr/>
          <p:nvPr/>
        </p:nvSpPr>
        <p:spPr>
          <a:xfrm>
            <a:off x="4892040" y="1280160"/>
            <a:ext cx="457200" cy="457200"/>
          </a:xfrm>
          <a:prstGeom prst="ellipse">
            <a:avLst/>
          </a:prstGeom>
          <a:solidFill>
            <a:schemeClr val="accent1"/>
          </a:solidFill>
          <a:ln/>
        </p:spPr>
      </p:sp>
      <p:pic>
        <p:nvPicPr>
          <p:cNvPr id="11"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aperto: recupero di informazioni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Consulta documenti pertinenti</a:t>
            </a:r>
            <a:endParaRPr lang="en-US" sz="1300" dirty="0"/>
          </a:p>
          <a:p>
            <a:pPr marL="177800" indent="-177800">
              <a:spcAft>
                <a:spcPts val="300"/>
              </a:spcAft>
              <a:buSzPct val="100000"/>
              <a:buChar char="•"/>
            </a:pPr>
            <a:r>
              <a:rPr lang="en-US" sz="1300" dirty="0">
                <a:solidFill>
                  <a:schemeClr val="tx2"/>
                </a:solidFill>
              </a:rPr>
              <a:t>Dettagli più precisi</a:t>
            </a:r>
            <a:endParaRPr lang="en-US" sz="1300" dirty="0"/>
          </a:p>
          <a:p>
            <a:pPr marL="177800" indent="-177800">
              <a:spcAft>
                <a:spcPts val="300"/>
              </a:spcAft>
              <a:buSzPct val="100000"/>
              <a:buChar char="•"/>
            </a:pPr>
            <a:r>
              <a:rPr lang="en-US" sz="1300" dirty="0">
                <a:solidFill>
                  <a:schemeClr val="tx2"/>
                </a:solidFill>
              </a:rPr>
              <a:t>Fonti indicabili e verificabili</a:t>
            </a:r>
            <a:endParaRPr lang="en-US" sz="1300" dirty="0"/>
          </a:p>
          <a:p>
            <a:pPr marL="177800" indent="-177800">
              <a:spcAft>
                <a:spcPts val="300"/>
              </a:spcAft>
              <a:buSzPct val="100000"/>
              <a:buChar char="•"/>
            </a:pPr>
            <a:r>
              <a:rPr lang="en-US" sz="1300" dirty="0">
                <a:solidFill>
                  <a:schemeClr val="tx2"/>
                </a:solidFill>
              </a:rPr>
              <a:t>Non infallibile: può leggere male o recuperare il testo sbagliato</a:t>
            </a:r>
            <a:endParaRPr lang="en-US" sz="1300" dirty="0"/>
          </a:p>
        </p:txBody>
      </p:sp>
      <p:sp>
        <p:nvSpPr>
          <p:cNvPr id="14" name="dati precisi"/>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dati precisi (numeri, norme, citazioni) conviene basarsi su fonti fornite o recuperate.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Aggiornamento dei dati e limiti temporali</a:t>
            </a:r>
            <a:endParaRPr lang="en-US" sz="2600" dirty="0"/>
          </a:p>
        </p:txBody>
      </p:sp>
      <p:sp>
        <p:nvSpPr>
          <p:cNvPr id="4" name="periodo addestramento"/>
          <p:cNvSpPr/>
          <p:nvPr/>
        </p:nvSpPr>
        <p:spPr>
          <a:xfrm>
            <a:off x="457200" y="1600200"/>
            <a:ext cx="4754880" cy="640080"/>
          </a:xfrm>
          <a:prstGeom prst="rect">
            <a:avLst/>
          </a:prstGeom>
          <a:solidFill>
            <a:schemeClr val="accent1"/>
          </a:solidFill>
          <a:ln/>
        </p:spPr>
      </p:sp>
      <p:sp>
        <p:nvSpPr>
          <p:cNvPr id="5" name="Text 2"/>
          <p:cNvSpPr txBox="1"/>
          <p:nvPr/>
        </p:nvSpPr>
        <p:spPr>
          <a:xfrm>
            <a:off x="548640" y="1600200"/>
            <a:ext cx="4572000" cy="640080"/>
          </a:xfrm>
          <a:prstGeom prst="rect">
            <a:avLst/>
          </a:prstGeom>
          <a:noFill/>
          <a:ln/>
        </p:spPr>
        <p:txBody>
          <a:bodyPr wrap="square" lIns="0" tIns="0" rIns="0" bIns="0" rtlCol="0" anchor="ctr"/>
          <a:lstStyle/>
          <a:p>
            <a:pPr indent="0" marL="0">
              <a:buNone/>
            </a:pPr>
            <a:r>
              <a:rPr lang="en-US" sz="1500" b="1" dirty="0">
                <a:solidFill>
                  <a:schemeClr val="bg1"/>
                </a:solidFill>
              </a:rPr>
              <a:t>Dati di addestramento</a:t>
            </a:r>
            <a:endParaRPr lang="en-US" sz="150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sp>
      <p:sp>
        <p:nvSpPr>
          <p:cNvPr id="7" name="Text 4"/>
          <p:cNvSpPr txBox="1"/>
          <p:nvPr/>
        </p:nvSpPr>
        <p:spPr>
          <a:xfrm>
            <a:off x="5303520" y="1600200"/>
            <a:ext cx="3291840" cy="640080"/>
          </a:xfrm>
          <a:prstGeom prst="rect">
            <a:avLst/>
          </a:prstGeom>
          <a:noFill/>
          <a:ln/>
        </p:spPr>
        <p:txBody>
          <a:bodyPr wrap="square" lIns="0" tIns="0" rIns="0" bIns="0" rtlCol="0" anchor="ctr"/>
          <a:lstStyle/>
          <a:p>
            <a:pPr indent="0" marL="0">
              <a:buNone/>
            </a:pPr>
            <a:r>
              <a:rPr lang="en-US" sz="1300" b="1" dirty="0">
                <a:solidFill>
                  <a:schemeClr val="tx2"/>
                </a:solidFill>
              </a:rPr>
              <a:t>Eventi successivi: sconosciuti al modello</a:t>
            </a:r>
            <a:endParaRPr lang="en-US" sz="1300" dirty="0"/>
          </a:p>
        </p:txBody>
      </p:sp>
      <p:sp>
        <p:nvSpPr>
          <p:cNvPr id="8" name="cutoff"/>
          <p:cNvSpPr/>
          <p:nvPr/>
        </p:nvSpPr>
        <p:spPr>
          <a:xfrm>
            <a:off x="5212080" y="1325880"/>
            <a:ext cx="0" cy="1188720"/>
          </a:xfrm>
          <a:prstGeom prst="line">
            <a:avLst/>
          </a:prstGeom>
          <a:noFill/>
          <a:ln w="31750">
            <a:solidFill>
              <a:schemeClr val="accent5"/>
            </a:solidFill>
            <a:prstDash val="solid"/>
          </a:ln>
        </p:spPr>
      </p:sp>
      <p:sp>
        <p:nvSpPr>
          <p:cNvPr id="9" name="Text 6"/>
          <p:cNvSpPr txBox="1"/>
          <p:nvPr/>
        </p:nvSpPr>
        <p:spPr>
          <a:xfrm>
            <a:off x="4297680" y="2560320"/>
            <a:ext cx="1828800" cy="274320"/>
          </a:xfrm>
          <a:prstGeom prst="rect">
            <a:avLst/>
          </a:prstGeom>
          <a:noFill/>
          <a:ln/>
        </p:spPr>
        <p:txBody>
          <a:bodyPr wrap="square" lIns="0" tIns="0" rIns="0" bIns="0" rtlCol="0" anchor="t"/>
          <a:lstStyle/>
          <a:p>
            <a:pPr algn="ctr" indent="0" marL="0">
              <a:buNone/>
            </a:pPr>
            <a:r>
              <a:rPr lang="en-US" sz="1200" b="1" dirty="0">
                <a:solidFill>
                  <a:schemeClr val="accent5"/>
                </a:solidFill>
              </a:rPr>
              <a:t>Data limite (cutoff)</a:t>
            </a:r>
            <a:endParaRPr lang="en-US" sz="120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algn="r" indent="0" marL="0">
              <a:buNone/>
            </a:pPr>
            <a:r>
              <a:rPr lang="en-US" sz="1200" b="1" dirty="0">
                <a:solidFill>
                  <a:schemeClr val="tx1"/>
                </a:solidFill>
              </a:rPr>
              <a:t>Oggi</a:t>
            </a:r>
            <a:endParaRPr lang="en-US" sz="120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Informazioni a rischio di essere superate</a:t>
            </a:r>
            <a:endParaRPr lang="en-US" sz="130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sp>
      <p:sp>
        <p:nvSpPr>
          <p:cNvPr id="13" name="Text 10"/>
          <p:cNvSpPr txBox="1"/>
          <p:nvPr/>
        </p:nvSpPr>
        <p:spPr>
          <a:xfrm>
            <a:off x="50292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Normative recenti</a:t>
            </a:r>
            <a:endParaRPr lang="en-US" sz="120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sp>
      <p:sp>
        <p:nvSpPr>
          <p:cNvPr id="15" name="Text 12"/>
          <p:cNvSpPr txBox="1"/>
          <p:nvPr/>
        </p:nvSpPr>
        <p:spPr>
          <a:xfrm>
            <a:off x="214884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Prezzi e listini</a:t>
            </a:r>
            <a:endParaRPr lang="en-US" sz="120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sp>
      <p:sp>
        <p:nvSpPr>
          <p:cNvPr id="17" name="Text 14"/>
          <p:cNvSpPr txBox="1"/>
          <p:nvPr/>
        </p:nvSpPr>
        <p:spPr>
          <a:xfrm>
            <a:off x="379476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Organigrammi</a:t>
            </a:r>
            <a:endParaRPr lang="en-US" sz="120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sp>
      <p:sp>
        <p:nvSpPr>
          <p:cNvPr id="19" name="Text 16"/>
          <p:cNvSpPr txBox="1"/>
          <p:nvPr/>
        </p:nvSpPr>
        <p:spPr>
          <a:xfrm>
            <a:off x="544068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Versioni software</a:t>
            </a:r>
            <a:endParaRPr lang="en-US" sz="120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sp>
      <p:sp>
        <p:nvSpPr>
          <p:cNvPr id="21" name="Text 18"/>
          <p:cNvSpPr txBox="1"/>
          <p:nvPr/>
        </p:nvSpPr>
        <p:spPr>
          <a:xfrm>
            <a:off x="708660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Notizie e attualità</a:t>
            </a:r>
            <a:endParaRPr lang="en-US" sz="120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i="1" dirty="0">
                <a:solidFill>
                  <a:schemeClr val="tx1"/>
                </a:solidFill>
              </a:rPr>
              <a:t>Il modello non sempre segnala di non essere aggiornato: usare la ricerca o documenti recenti e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Grounding: ancorare le risposte alle fonti</a:t>
            </a:r>
            <a:endParaRPr lang="en-US" sz="260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sp>
      <p:sp>
        <p:nvSpPr>
          <p:cNvPr id="5" name="cerchio FiFileText"/>
          <p:cNvSpPr/>
          <p:nvPr/>
        </p:nvSpPr>
        <p:spPr>
          <a:xfrm>
            <a:off x="594360" y="1261872"/>
            <a:ext cx="420624" cy="420624"/>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Procedura acquisti</a:t>
            </a:r>
            <a:endParaRPr lang="en-US" sz="120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sp>
      <p:sp>
        <p:nvSpPr>
          <p:cNvPr id="9" name="Listino 2026"/>
          <p:cNvSpPr/>
          <p:nvPr/>
        </p:nvSpPr>
        <p:spPr>
          <a:xfrm>
            <a:off x="457200" y="1965960"/>
            <a:ext cx="2194560" cy="658368"/>
          </a:xfrm>
          <a:prstGeom prst="roundRect">
            <a:avLst>
              <a:gd name="adj" fmla="val 11111"/>
            </a:avLst>
          </a:prstGeom>
          <a:solidFill>
            <a:schemeClr val="bg2"/>
          </a:solidFill>
          <a:ln/>
        </p:spPr>
      </p:sp>
      <p:sp>
        <p:nvSpPr>
          <p:cNvPr id="10" name="cerchio FiFileText"/>
          <p:cNvSpPr/>
          <p:nvPr/>
        </p:nvSpPr>
        <p:spPr>
          <a:xfrm>
            <a:off x="594360" y="2084832"/>
            <a:ext cx="420624" cy="420624"/>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Listino 2026</a:t>
            </a:r>
            <a:endParaRPr lang="en-US" sz="120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sp>
      <p:sp>
        <p:nvSpPr>
          <p:cNvPr id="14" name="Contratto quadro"/>
          <p:cNvSpPr/>
          <p:nvPr/>
        </p:nvSpPr>
        <p:spPr>
          <a:xfrm>
            <a:off x="457200" y="2788920"/>
            <a:ext cx="2194560" cy="658368"/>
          </a:xfrm>
          <a:prstGeom prst="roundRect">
            <a:avLst>
              <a:gd name="adj" fmla="val 11111"/>
            </a:avLst>
          </a:prstGeom>
          <a:solidFill>
            <a:schemeClr val="bg2"/>
          </a:solidFill>
          <a:ln/>
        </p:spPr>
      </p:sp>
      <p:sp>
        <p:nvSpPr>
          <p:cNvPr id="15" name="cerchio FiFileText"/>
          <p:cNvSpPr/>
          <p:nvPr/>
        </p:nvSpPr>
        <p:spPr>
          <a:xfrm>
            <a:off x="594360" y="2907792"/>
            <a:ext cx="420624" cy="420624"/>
          </a:xfrm>
          <a:prstGeom prst="ellipse">
            <a:avLst/>
          </a:prstGeom>
          <a:solidFill>
            <a:schemeClr val="accent1"/>
          </a:solidFill>
          <a:ln/>
        </p:spPr>
      </p:sp>
      <p:pic>
        <p:nvPicPr>
          <p:cNvPr id="16" name="Image 2" descr="FiFileText">    </p:cNvPr>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Contratto quadro</a:t>
            </a:r>
            <a:endParaRPr lang="en-US" sz="120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sp>
      <p:sp>
        <p:nvSpPr>
          <p:cNvPr id="19" name="risposta ancorata"/>
          <p:cNvSpPr/>
          <p:nvPr/>
        </p:nvSpPr>
        <p:spPr>
          <a:xfrm>
            <a:off x="3474720" y="1645920"/>
            <a:ext cx="1920240" cy="914400"/>
          </a:xfrm>
          <a:prstGeom prst="roundRect">
            <a:avLst>
              <a:gd name="adj" fmla="val 8000"/>
            </a:avLst>
          </a:prstGeom>
          <a:solidFill>
            <a:schemeClr val="accent1"/>
          </a:solidFill>
          <a:ln/>
        </p:spPr>
      </p:sp>
      <p:sp>
        <p:nvSpPr>
          <p:cNvPr id="20" name="Text 14"/>
          <p:cNvSpPr txBox="1"/>
          <p:nvPr/>
        </p:nvSpPr>
        <p:spPr>
          <a:xfrm>
            <a:off x="3520440" y="1645920"/>
            <a:ext cx="1828800" cy="914400"/>
          </a:xfrm>
          <a:prstGeom prst="rect">
            <a:avLst/>
          </a:prstGeom>
          <a:noFill/>
          <a:ln/>
        </p:spPr>
        <p:txBody>
          <a:bodyPr wrap="square" lIns="0" tIns="0" rIns="0" bIns="0" rtlCol="0" anchor="ctr"/>
          <a:lstStyle/>
          <a:p>
            <a:pPr algn="ctr" indent="0" marL="0">
              <a:buNone/>
            </a:pPr>
            <a:r>
              <a:rPr lang="en-US" sz="1300" b="1" dirty="0">
                <a:solidFill>
                  <a:schemeClr val="bg1"/>
                </a:solidFill>
              </a:rPr>
              <a:t>Risposta ancorata alle fonti</a:t>
            </a:r>
            <a:endParaRPr lang="en-US" sz="130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algn="ctr" indent="0" marL="0">
              <a:buNone/>
            </a:pPr>
            <a:r>
              <a:rPr lang="en-US" sz="1100" i="1" dirty="0">
                <a:solidFill>
                  <a:schemeClr val="tx2"/>
                </a:solidFill>
              </a:rPr>
              <a:t>con riferimenti verificabili [1] [2] [3]</a:t>
            </a:r>
            <a:endParaRPr lang="en-US" sz="110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Benefici</a:t>
            </a:r>
            <a:endParaRPr lang="en-US" sz="1400" dirty="0"/>
          </a:p>
        </p:txBody>
      </p:sp>
      <p:sp>
        <p:nvSpPr>
          <p:cNvPr id="23" name="cerchio FiTarget"/>
          <p:cNvSpPr/>
          <p:nvPr/>
        </p:nvSpPr>
        <p:spPr>
          <a:xfrm>
            <a:off x="5760720" y="1463040"/>
            <a:ext cx="411480" cy="411480"/>
          </a:xfrm>
          <a:prstGeom prst="ellipse">
            <a:avLst/>
          </a:prstGeom>
          <a:solidFill>
            <a:schemeClr val="accent1"/>
          </a:solidFill>
          <a:ln/>
        </p:spPr>
      </p:sp>
      <p:pic>
        <p:nvPicPr>
          <p:cNvPr id="24" name="Image 3" descr="FiTarget">    </p:cNvPr>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precise e pertinenti</a:t>
            </a:r>
            <a:endParaRPr lang="en-US" sz="1300" dirty="0"/>
          </a:p>
        </p:txBody>
      </p:sp>
      <p:sp>
        <p:nvSpPr>
          <p:cNvPr id="26" name="cerchio FiClock"/>
          <p:cNvSpPr/>
          <p:nvPr/>
        </p:nvSpPr>
        <p:spPr>
          <a:xfrm>
            <a:off x="5760720" y="2057400"/>
            <a:ext cx="411480" cy="411480"/>
          </a:xfrm>
          <a:prstGeom prst="ellipse">
            <a:avLst/>
          </a:prstGeom>
          <a:solidFill>
            <a:schemeClr val="accent1"/>
          </a:solidFill>
          <a:ln/>
        </p:spPr>
      </p:sp>
      <p:pic>
        <p:nvPicPr>
          <p:cNvPr id="27" name="Image 4" descr="FiClock">    </p:cNvPr>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aggiornate del modello</a:t>
            </a:r>
            <a:endParaRPr lang="en-US" sz="1300" dirty="0"/>
          </a:p>
        </p:txBody>
      </p:sp>
      <p:sp>
        <p:nvSpPr>
          <p:cNvPr id="29" name="cerchio FiCheckSquare"/>
          <p:cNvSpPr/>
          <p:nvPr/>
        </p:nvSpPr>
        <p:spPr>
          <a:xfrm>
            <a:off x="5760720" y="2651760"/>
            <a:ext cx="411480" cy="411480"/>
          </a:xfrm>
          <a:prstGeom prst="ellipse">
            <a:avLst/>
          </a:prstGeom>
          <a:solidFill>
            <a:schemeClr val="accent1"/>
          </a:solidFill>
          <a:ln/>
        </p:spPr>
      </p:sp>
      <p:pic>
        <p:nvPicPr>
          <p:cNvPr id="30" name="Image 5" descr="FiCheckSquare">    </p:cNvPr>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indent="0" marL="0">
              <a:buNone/>
            </a:pPr>
            <a:r>
              <a:rPr lang="en-US" sz="1300" dirty="0">
                <a:solidFill>
                  <a:schemeClr val="tx1"/>
                </a:solidFill>
              </a:rPr>
              <a:t>Verificabili tramite le fonti</a:t>
            </a:r>
            <a:endParaRPr lang="en-US" sz="130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sp>
      <p:sp>
        <p:nvSpPr>
          <p:cNvPr id="33" name="cerchio FiAlertTriangle"/>
          <p:cNvSpPr/>
          <p:nvPr/>
        </p:nvSpPr>
        <p:spPr>
          <a:xfrm>
            <a:off x="640080" y="3858768"/>
            <a:ext cx="512064" cy="512064"/>
          </a:xfrm>
          <a:prstGeom prst="ellipse">
            <a:avLst/>
          </a:prstGeom>
          <a:solidFill>
            <a:schemeClr val="accent5"/>
          </a:solidFill>
          <a:ln/>
        </p:spPr>
      </p:sp>
      <p:pic>
        <p:nvPicPr>
          <p:cNvPr id="34" name="Image 6" descr="FiAlertTriangle">    </p:cNvPr>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indent="0" marL="0">
              <a:buNone/>
            </a:pPr>
            <a:r>
              <a:rPr lang="en-US" sz="1300" dirty="0">
                <a:solidFill>
                  <a:schemeClr val="bg1"/>
                </a:solidFill>
              </a:rPr>
              <a:t>Riduce gli errori ma non li elimina: il sistema può leggere male una fonte, o la fonte può essere sbagliata. Controllare le fonti citate.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Introduzione alla Retrieval-Augmented Generation</a:t>
            </a:r>
            <a:endParaRPr lang="en-US" sz="2600" dirty="0"/>
          </a:p>
        </p:txBody>
      </p:sp>
      <p:sp>
        <p:nvSpPr>
          <p:cNvPr id="4" name="Domanda"/>
          <p:cNvSpPr/>
          <p:nvPr/>
        </p:nvSpPr>
        <p:spPr>
          <a:xfrm>
            <a:off x="457200" y="1143000"/>
            <a:ext cx="1874520" cy="1783080"/>
          </a:xfrm>
          <a:prstGeom prst="roundRect">
            <a:avLst>
              <a:gd name="adj" fmla="val 4103"/>
            </a:avLst>
          </a:prstGeom>
          <a:solidFill>
            <a:schemeClr val="bg2"/>
          </a:solidFill>
          <a:ln/>
        </p:spPr>
      </p:sp>
      <p:sp>
        <p:nvSpPr>
          <p:cNvPr id="5" name="cerchio FiHelpCircle"/>
          <p:cNvSpPr/>
          <p:nvPr/>
        </p:nvSpPr>
        <p:spPr>
          <a:xfrm>
            <a:off x="1115568" y="1280160"/>
            <a:ext cx="548640" cy="54864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1. Domanda</a:t>
            </a:r>
            <a:endParaRPr lang="en-US" sz="150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L'utente chiede</a:t>
            </a:r>
            <a:endParaRPr lang="en-US" sz="1200" dirty="0"/>
          </a:p>
        </p:txBody>
      </p:sp>
      <p:sp>
        <p:nvSpPr>
          <p:cNvPr id="9" name="freccia"/>
          <p:cNvSpPr/>
          <p:nvPr/>
        </p:nvSpPr>
        <p:spPr>
          <a:xfrm>
            <a:off x="2350008" y="1901952"/>
            <a:ext cx="219456" cy="292608"/>
          </a:xfrm>
          <a:prstGeom prst="rightArrow">
            <a:avLst/>
          </a:prstGeom>
          <a:solidFill>
            <a:schemeClr val="accent2"/>
          </a:solidFill>
          <a:ln/>
        </p:spPr>
      </p:sp>
      <p:sp>
        <p:nvSpPr>
          <p:cNvPr id="10" name="Recupero"/>
          <p:cNvSpPr/>
          <p:nvPr/>
        </p:nvSpPr>
        <p:spPr>
          <a:xfrm>
            <a:off x="2587752" y="1143000"/>
            <a:ext cx="1874520" cy="1783080"/>
          </a:xfrm>
          <a:prstGeom prst="roundRect">
            <a:avLst>
              <a:gd name="adj" fmla="val 4103"/>
            </a:avLst>
          </a:prstGeom>
          <a:solidFill>
            <a:schemeClr val="bg2"/>
          </a:solidFill>
          <a:ln/>
        </p:spPr>
      </p:sp>
      <p:sp>
        <p:nvSpPr>
          <p:cNvPr id="11" name="cerchio FiSearch"/>
          <p:cNvSpPr/>
          <p:nvPr/>
        </p:nvSpPr>
        <p:spPr>
          <a:xfrm>
            <a:off x="3246120" y="1280160"/>
            <a:ext cx="548640" cy="548640"/>
          </a:xfrm>
          <a:prstGeom prst="ellipse">
            <a:avLst/>
          </a:prstGeom>
          <a:solidFill>
            <a:schemeClr val="accent1"/>
          </a:solidFill>
          <a:ln/>
        </p:spPr>
      </p:sp>
      <p:pic>
        <p:nvPicPr>
          <p:cNvPr id="12" name="Image 1" descr="FiSearch">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2. Recupero</a:t>
            </a:r>
            <a:endParaRPr lang="en-US" sz="150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Si cercano i passaggi pertinenti</a:t>
            </a:r>
            <a:endParaRPr lang="en-US" sz="1200" dirty="0"/>
          </a:p>
        </p:txBody>
      </p:sp>
      <p:sp>
        <p:nvSpPr>
          <p:cNvPr id="15" name="freccia"/>
          <p:cNvSpPr/>
          <p:nvPr/>
        </p:nvSpPr>
        <p:spPr>
          <a:xfrm>
            <a:off x="4480560" y="1901952"/>
            <a:ext cx="219456" cy="292608"/>
          </a:xfrm>
          <a:prstGeom prst="rightArrow">
            <a:avLst/>
          </a:prstGeom>
          <a:solidFill>
            <a:schemeClr val="accent2"/>
          </a:solidFill>
          <a:ln/>
        </p:spPr>
      </p:sp>
      <p:sp>
        <p:nvSpPr>
          <p:cNvPr id="16" name="Aumento"/>
          <p:cNvSpPr/>
          <p:nvPr/>
        </p:nvSpPr>
        <p:spPr>
          <a:xfrm>
            <a:off x="4718304" y="1143000"/>
            <a:ext cx="1874520" cy="1783080"/>
          </a:xfrm>
          <a:prstGeom prst="roundRect">
            <a:avLst>
              <a:gd name="adj" fmla="val 4103"/>
            </a:avLst>
          </a:prstGeom>
          <a:solidFill>
            <a:schemeClr val="bg2"/>
          </a:solidFill>
          <a:ln/>
        </p:spPr>
      </p:sp>
      <p:sp>
        <p:nvSpPr>
          <p:cNvPr id="17" name="cerchio FiPlusSquare"/>
          <p:cNvSpPr/>
          <p:nvPr/>
        </p:nvSpPr>
        <p:spPr>
          <a:xfrm>
            <a:off x="5376672" y="1280160"/>
            <a:ext cx="548640" cy="548640"/>
          </a:xfrm>
          <a:prstGeom prst="ellipse">
            <a:avLst/>
          </a:prstGeom>
          <a:solidFill>
            <a:schemeClr val="accent1"/>
          </a:solidFill>
          <a:ln/>
        </p:spPr>
      </p:sp>
      <p:pic>
        <p:nvPicPr>
          <p:cNvPr id="18" name="Image 2" descr="FiPlusSquare">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3. Aumento</a:t>
            </a:r>
            <a:endParaRPr lang="en-US" sz="150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 passaggi entrano nel contesto</a:t>
            </a:r>
            <a:endParaRPr lang="en-US" sz="1200" dirty="0"/>
          </a:p>
        </p:txBody>
      </p:sp>
      <p:sp>
        <p:nvSpPr>
          <p:cNvPr id="21" name="freccia"/>
          <p:cNvSpPr/>
          <p:nvPr/>
        </p:nvSpPr>
        <p:spPr>
          <a:xfrm>
            <a:off x="6611112" y="1901952"/>
            <a:ext cx="219456" cy="292608"/>
          </a:xfrm>
          <a:prstGeom prst="rightArrow">
            <a:avLst/>
          </a:prstGeom>
          <a:solidFill>
            <a:schemeClr val="accent2"/>
          </a:solidFill>
          <a:ln/>
        </p:spPr>
      </p:sp>
      <p:sp>
        <p:nvSpPr>
          <p:cNvPr id="22" name="Generazione"/>
          <p:cNvSpPr/>
          <p:nvPr/>
        </p:nvSpPr>
        <p:spPr>
          <a:xfrm>
            <a:off x="6848856" y="1143000"/>
            <a:ext cx="1874520" cy="1783080"/>
          </a:xfrm>
          <a:prstGeom prst="roundRect">
            <a:avLst>
              <a:gd name="adj" fmla="val 4103"/>
            </a:avLst>
          </a:prstGeom>
          <a:solidFill>
            <a:schemeClr val="accent6"/>
          </a:solidFill>
          <a:ln/>
        </p:spPr>
      </p:sp>
      <p:sp>
        <p:nvSpPr>
          <p:cNvPr id="23" name="cerchio FiMessageSquare"/>
          <p:cNvSpPr/>
          <p:nvPr/>
        </p:nvSpPr>
        <p:spPr>
          <a:xfrm>
            <a:off x="7507224" y="1280160"/>
            <a:ext cx="548640" cy="548640"/>
          </a:xfrm>
          <a:prstGeom prst="ellipse">
            <a:avLst/>
          </a:prstGeom>
          <a:solidFill>
            <a:schemeClr val="accent1"/>
          </a:solidFill>
          <a:ln/>
        </p:spPr>
      </p:sp>
      <p:pic>
        <p:nvPicPr>
          <p:cNvPr id="24" name="Image 3" descr="FiMessageSquare">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4. Generazione</a:t>
            </a:r>
            <a:endParaRPr lang="en-US" sz="150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Il modello risponde citando le fonti</a:t>
            </a:r>
            <a:endParaRPr lang="en-US" sz="120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sp>
      <p:sp>
        <p:nvSpPr>
          <p:cNvPr id="28" name="Text 21"/>
          <p:cNvSpPr txBox="1"/>
          <p:nvPr/>
        </p:nvSpPr>
        <p:spPr>
          <a:xfrm>
            <a:off x="2606040" y="3108960"/>
            <a:ext cx="1828800" cy="685800"/>
          </a:xfrm>
          <a:prstGeom prst="rect">
            <a:avLst/>
          </a:prstGeom>
          <a:noFill/>
          <a:ln/>
        </p:spPr>
        <p:txBody>
          <a:bodyPr wrap="square" lIns="0" tIns="0" rIns="0" bIns="0" rtlCol="0" anchor="ctr"/>
          <a:lstStyle/>
          <a:p>
            <a:pPr algn="ctr" indent="0" marL="0">
              <a:buNone/>
            </a:pPr>
            <a:r>
              <a:rPr lang="en-US" sz="1300" b="1" dirty="0">
                <a:solidFill>
                  <a:schemeClr val="bg1"/>
                </a:solidFill>
              </a:rPr>
              <a:t>Base documentale</a:t>
            </a:r>
            <a:endParaRPr lang="en-US" sz="1300" dirty="0"/>
          </a:p>
        </p:txBody>
      </p:sp>
      <p:sp>
        <p:nvSpPr>
          <p:cNvPr id="29" name="freccia su"/>
          <p:cNvSpPr/>
          <p:nvPr/>
        </p:nvSpPr>
        <p:spPr>
          <a:xfrm>
            <a:off x="3383280" y="2926080"/>
            <a:ext cx="320040" cy="182880"/>
          </a:xfrm>
          <a:prstGeom prst="upArrow">
            <a:avLst/>
          </a:prstGeom>
          <a:solidFill>
            <a:schemeClr val="accent2"/>
          </a:solidFill>
          <a:ln/>
        </p:spPr>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sp>
      <p:sp>
        <p:nvSpPr>
          <p:cNvPr id="31" name="Text 24"/>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Il modello non viene riaddestrato</a:t>
            </a:r>
            <a:endParaRPr lang="en-US" sz="120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sp>
      <p:sp>
        <p:nvSpPr>
          <p:cNvPr id="33" name="Text 26"/>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 documenti si aggiornano in qualsiasi momento</a:t>
            </a:r>
            <a:endParaRPr lang="en-US" sz="120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sp>
      <p:sp>
        <p:nvSpPr>
          <p:cNvPr id="35" name="Text 28"/>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L'accesso può seguire i permessi degli utenti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un sistema AI a un contesto specifico</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2377440"/>
                <a:gridCol w="1463040"/>
                <a:gridCol w="2377440"/>
              </a:tblGrid>
              <a:tr h="566928">
                <a:tc>
                  <a:txBody>
                    <a:bodyPr/>
                    <a:lstStyle/>
                    <a:p>
                      <a:pPr indent="0" marL="0">
                        <a:buNone/>
                      </a:pPr>
                      <a:r>
                        <a:rPr lang="en-US" sz="1300" b="1" dirty="0">
                          <a:solidFill>
                            <a:schemeClr val="bg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Che cosa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Quando è utile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Istruzioni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Indica ruolo, tono, formato, regole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Orientare il comportamento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Documenti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Fornisce i materiali nella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Contenuti specifici e limitati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Recupero da basi informative (RAG)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Cerca i passaggi pertinenti in molti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Molti documenti, aggiornati spesso, con permessi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Fine-tuning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Addestramento aggiuntivo su esempi specifici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Sì, in parte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Stile, formato, comportamenti ricorrenti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maggior parte delle esigenze aziendali si risolve con le prime tre modalità, spesso combinate.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equivoci frequenti</a:t>
            </a:r>
            <a:endParaRPr lang="en-US" sz="2600" dirty="0"/>
          </a:p>
        </p:txBody>
      </p:sp>
      <p:sp>
        <p:nvSpPr>
          <p:cNvPr id="4" name="equivoco 1"/>
          <p:cNvSpPr/>
          <p:nvPr/>
        </p:nvSpPr>
        <p:spPr>
          <a:xfrm>
            <a:off x="457200" y="1097280"/>
            <a:ext cx="3657600" cy="1005840"/>
          </a:xfrm>
          <a:prstGeom prst="roundRect">
            <a:avLst>
              <a:gd name="adj" fmla="val 7273"/>
            </a:avLst>
          </a:prstGeom>
          <a:solidFill>
            <a:schemeClr val="bg2"/>
          </a:solidFill>
          <a:ln/>
        </p:spPr>
      </p:sp>
      <p:sp>
        <p:nvSpPr>
          <p:cNvPr id="5" name="Text 2"/>
          <p:cNvSpPr txBox="1"/>
          <p:nvPr/>
        </p:nvSpPr>
        <p:spPr>
          <a:xfrm>
            <a:off x="640080" y="1097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carico un documento, il modello lo impara</a:t>
            </a:r>
            <a:endParaRPr lang="en-US" sz="1300" dirty="0"/>
          </a:p>
        </p:txBody>
      </p:sp>
      <p:sp>
        <p:nvSpPr>
          <p:cNvPr id="6" name="freccia"/>
          <p:cNvSpPr/>
          <p:nvPr/>
        </p:nvSpPr>
        <p:spPr>
          <a:xfrm>
            <a:off x="4206240" y="1453896"/>
            <a:ext cx="320040" cy="292608"/>
          </a:xfrm>
          <a:prstGeom prst="rightArrow">
            <a:avLst/>
          </a:prstGeom>
          <a:solidFill>
            <a:schemeClr val="accent1"/>
          </a:solidFill>
          <a:ln/>
        </p:spPr>
      </p:sp>
      <p:sp>
        <p:nvSpPr>
          <p:cNvPr id="7" name="realtà 1"/>
          <p:cNvSpPr/>
          <p:nvPr/>
        </p:nvSpPr>
        <p:spPr>
          <a:xfrm>
            <a:off x="4617720" y="1097280"/>
            <a:ext cx="4069080" cy="1005840"/>
          </a:xfrm>
          <a:prstGeom prst="roundRect">
            <a:avLst>
              <a:gd name="adj" fmla="val 7273"/>
            </a:avLst>
          </a:prstGeom>
          <a:solidFill>
            <a:schemeClr val="accent6"/>
          </a:solidFill>
          <a:ln/>
        </p:spPr>
      </p:sp>
      <p:sp>
        <p:nvSpPr>
          <p:cNvPr id="8" name="Text 5"/>
          <p:cNvSpPr txBox="1"/>
          <p:nvPr/>
        </p:nvSpPr>
        <p:spPr>
          <a:xfrm>
            <a:off x="4800600" y="1097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Il documento entra nel contesto temporaneo: il modello lo usa, ma i parametri non cambiano</a:t>
            </a:r>
            <a:endParaRPr lang="en-US" sz="1200" dirty="0"/>
          </a:p>
        </p:txBody>
      </p:sp>
      <p:sp>
        <p:nvSpPr>
          <p:cNvPr id="9" name="equivoco 2"/>
          <p:cNvSpPr/>
          <p:nvPr/>
        </p:nvSpPr>
        <p:spPr>
          <a:xfrm>
            <a:off x="457200" y="2240280"/>
            <a:ext cx="3657600" cy="1005840"/>
          </a:xfrm>
          <a:prstGeom prst="roundRect">
            <a:avLst>
              <a:gd name="adj" fmla="val 7273"/>
            </a:avLst>
          </a:prstGeom>
          <a:solidFill>
            <a:schemeClr val="bg2"/>
          </a:solidFill>
          <a:ln/>
        </p:spPr>
      </p:sp>
      <p:sp>
        <p:nvSpPr>
          <p:cNvPr id="10" name="Text 7"/>
          <p:cNvSpPr txBox="1"/>
          <p:nvPr/>
        </p:nvSpPr>
        <p:spPr>
          <a:xfrm>
            <a:off x="640080" y="2240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collego i documenti aziendali, il modello si addestra sui nostri dati</a:t>
            </a:r>
            <a:endParaRPr lang="en-US" sz="1300" dirty="0"/>
          </a:p>
        </p:txBody>
      </p:sp>
      <p:sp>
        <p:nvSpPr>
          <p:cNvPr id="11" name="freccia"/>
          <p:cNvSpPr/>
          <p:nvPr/>
        </p:nvSpPr>
        <p:spPr>
          <a:xfrm>
            <a:off x="4206240" y="2596896"/>
            <a:ext cx="320040" cy="292608"/>
          </a:xfrm>
          <a:prstGeom prst="rightArrow">
            <a:avLst/>
          </a:prstGeom>
          <a:solidFill>
            <a:schemeClr val="accent1"/>
          </a:solidFill>
          <a:ln/>
        </p:spPr>
      </p:sp>
      <p:sp>
        <p:nvSpPr>
          <p:cNvPr id="12" name="realtà 2"/>
          <p:cNvSpPr/>
          <p:nvPr/>
        </p:nvSpPr>
        <p:spPr>
          <a:xfrm>
            <a:off x="4617720" y="2240280"/>
            <a:ext cx="4069080" cy="1005840"/>
          </a:xfrm>
          <a:prstGeom prst="roundRect">
            <a:avLst>
              <a:gd name="adj" fmla="val 7273"/>
            </a:avLst>
          </a:prstGeom>
          <a:solidFill>
            <a:schemeClr val="accent6"/>
          </a:solidFill>
          <a:ln/>
        </p:spPr>
      </p:sp>
      <p:sp>
        <p:nvSpPr>
          <p:cNvPr id="13" name="Text 10"/>
          <p:cNvSpPr txBox="1"/>
          <p:nvPr/>
        </p:nvSpPr>
        <p:spPr>
          <a:xfrm>
            <a:off x="4800600" y="2240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Con la RAG il modello consulta i documenti, non si riaddestra. L'uso dei dati da parte del fornitore dipende dalle condizioni contrattuali</a:t>
            </a:r>
            <a:endParaRPr lang="en-US" sz="1200" dirty="0"/>
          </a:p>
        </p:txBody>
      </p:sp>
      <p:sp>
        <p:nvSpPr>
          <p:cNvPr id="14" name="equivoco 3"/>
          <p:cNvSpPr/>
          <p:nvPr/>
        </p:nvSpPr>
        <p:spPr>
          <a:xfrm>
            <a:off x="457200" y="3383280"/>
            <a:ext cx="3657600" cy="1005840"/>
          </a:xfrm>
          <a:prstGeom prst="roundRect">
            <a:avLst>
              <a:gd name="adj" fmla="val 7273"/>
            </a:avLst>
          </a:prstGeom>
          <a:solidFill>
            <a:schemeClr val="bg2"/>
          </a:solidFill>
          <a:ln/>
        </p:spPr>
      </p:sp>
      <p:sp>
        <p:nvSpPr>
          <p:cNvPr id="15" name="Text 12"/>
          <p:cNvSpPr txBox="1"/>
          <p:nvPr/>
        </p:nvSpPr>
        <p:spPr>
          <a:xfrm>
            <a:off x="640080" y="3383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Il modello sa tutto ciò che è su internet ed è aggiornato</a:t>
            </a:r>
            <a:endParaRPr lang="en-US" sz="1300" dirty="0"/>
          </a:p>
        </p:txBody>
      </p:sp>
      <p:sp>
        <p:nvSpPr>
          <p:cNvPr id="16" name="freccia"/>
          <p:cNvSpPr/>
          <p:nvPr/>
        </p:nvSpPr>
        <p:spPr>
          <a:xfrm>
            <a:off x="4206240" y="3739896"/>
            <a:ext cx="320040" cy="292608"/>
          </a:xfrm>
          <a:prstGeom prst="rightArrow">
            <a:avLst/>
          </a:prstGeom>
          <a:solidFill>
            <a:schemeClr val="accent1"/>
          </a:solidFill>
          <a:ln/>
        </p:spPr>
      </p:sp>
      <p:sp>
        <p:nvSpPr>
          <p:cNvPr id="17" name="realtà 3"/>
          <p:cNvSpPr/>
          <p:nvPr/>
        </p:nvSpPr>
        <p:spPr>
          <a:xfrm>
            <a:off x="4617720" y="3383280"/>
            <a:ext cx="4069080" cy="1005840"/>
          </a:xfrm>
          <a:prstGeom prst="roundRect">
            <a:avLst>
              <a:gd name="adj" fmla="val 7273"/>
            </a:avLst>
          </a:prstGeom>
          <a:solidFill>
            <a:schemeClr val="accent6"/>
          </a:solidFill>
          <a:ln/>
        </p:spPr>
      </p:sp>
      <p:sp>
        <p:nvSpPr>
          <p:cNvPr id="18" name="Text 15"/>
          <p:cNvSpPr txBox="1"/>
          <p:nvPr/>
        </p:nvSpPr>
        <p:spPr>
          <a:xfrm>
            <a:off x="4800600" y="3383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La conoscenza è ferma alla data limite; l'aggiornamento dipende dagli strumenti di ricerca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Fornire un documento o collegare una fonte a un sistema AI non significa necessariamente riaddestrare il modello.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2.6  ·  Conoscenza e fonti informative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Variabilità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stessa richiesta può produrre risposte differenti: la variabilità è distinta dalla correttezza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Stessa richiesta, risposte diverse</a:t>
            </a:r>
            <a:endParaRPr lang="en-US" sz="2600" dirty="0"/>
          </a:p>
        </p:txBody>
      </p:sp>
      <p:sp>
        <p:nvSpPr>
          <p:cNvPr id="4" name="richiesta"/>
          <p:cNvSpPr/>
          <p:nvPr/>
        </p:nvSpPr>
        <p:spPr>
          <a:xfrm>
            <a:off x="457200" y="1097280"/>
            <a:ext cx="8229600" cy="685800"/>
          </a:xfrm>
          <a:prstGeom prst="roundRect">
            <a:avLst>
              <a:gd name="adj" fmla="val 10667"/>
            </a:avLst>
          </a:prstGeom>
          <a:solidFill>
            <a:schemeClr val="tx1"/>
          </a:solidFill>
          <a:ln/>
        </p:spPr>
      </p:sp>
      <p:sp>
        <p:nvSpPr>
          <p:cNvPr id="5" name="Text 2"/>
          <p:cNvSpPr txBox="1"/>
          <p:nvPr/>
        </p:nvSpPr>
        <p:spPr>
          <a:xfrm>
            <a:off x="640080" y="1097280"/>
            <a:ext cx="7863840" cy="685800"/>
          </a:xfrm>
          <a:prstGeom prst="rect">
            <a:avLst/>
          </a:prstGeom>
          <a:noFill/>
          <a:ln/>
        </p:spPr>
        <p:txBody>
          <a:bodyPr wrap="square" lIns="0" tIns="0" rIns="0" bIns="0" rtlCol="0" anchor="ctr"/>
          <a:lstStyle/>
          <a:p>
            <a:pPr indent="0" marL="0">
              <a:buNone/>
            </a:pPr>
            <a:r>
              <a:rPr lang="en-US" sz="1400" b="1" dirty="0">
                <a:solidFill>
                  <a:schemeClr val="accent1"/>
                </a:solidFill>
              </a:rPr>
              <a:t>Richiesta: </a:t>
            </a:r>
            <a:pPr indent="0" marL="0">
              <a:buNone/>
            </a:pPr>
            <a:r>
              <a:rPr lang="en-US" sz="1400" dirty="0">
                <a:solidFill>
                  <a:schemeClr val="bg1"/>
                </a:solidFill>
              </a:rPr>
              <a:t>Proponi un titolo per la newsletter che annuncia il nuovo orario estivo degli uffici</a:t>
            </a:r>
            <a:endParaRPr lang="en-US" sz="1400" dirty="0"/>
          </a:p>
        </p:txBody>
      </p:sp>
      <p:sp>
        <p:nvSpPr>
          <p:cNvPr id="6" name="risposta 1"/>
          <p:cNvSpPr/>
          <p:nvPr/>
        </p:nvSpPr>
        <p:spPr>
          <a:xfrm>
            <a:off x="457200" y="2057400"/>
            <a:ext cx="2615184" cy="1554480"/>
          </a:xfrm>
          <a:prstGeom prst="roundRect">
            <a:avLst>
              <a:gd name="adj" fmla="val 4706"/>
            </a:avLst>
          </a:prstGeom>
          <a:solidFill>
            <a:schemeClr val="bg2"/>
          </a:solidFill>
          <a:ln/>
        </p:spPr>
      </p:sp>
      <p:sp>
        <p:nvSpPr>
          <p:cNvPr id="7" name="Text 4"/>
          <p:cNvSpPr txBox="1"/>
          <p:nvPr/>
        </p:nvSpPr>
        <p:spPr>
          <a:xfrm>
            <a:off x="640080"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1</a:t>
            </a:r>
            <a:endParaRPr lang="en-US" sz="1200" dirty="0"/>
          </a:p>
        </p:txBody>
      </p:sp>
      <p:sp>
        <p:nvSpPr>
          <p:cNvPr id="8" name="Text 5"/>
          <p:cNvSpPr txBox="1"/>
          <p:nvPr/>
        </p:nvSpPr>
        <p:spPr>
          <a:xfrm>
            <a:off x="640080"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"Estate in ufficio: ecco i nuovi orari"</a:t>
            </a:r>
            <a:endParaRPr lang="en-US" sz="1400" dirty="0"/>
          </a:p>
        </p:txBody>
      </p:sp>
      <p:sp>
        <p:nvSpPr>
          <p:cNvPr id="9" name="risposta 2"/>
          <p:cNvSpPr/>
          <p:nvPr/>
        </p:nvSpPr>
        <p:spPr>
          <a:xfrm>
            <a:off x="3264408" y="2057400"/>
            <a:ext cx="2615184" cy="1554480"/>
          </a:xfrm>
          <a:prstGeom prst="roundRect">
            <a:avLst>
              <a:gd name="adj" fmla="val 4706"/>
            </a:avLst>
          </a:prstGeom>
          <a:solidFill>
            <a:schemeClr val="bg2"/>
          </a:solidFill>
          <a:ln/>
        </p:spPr>
      </p:sp>
      <p:sp>
        <p:nvSpPr>
          <p:cNvPr id="10" name="Text 7"/>
          <p:cNvSpPr txBox="1"/>
          <p:nvPr/>
        </p:nvSpPr>
        <p:spPr>
          <a:xfrm>
            <a:off x="3447288"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2</a:t>
            </a:r>
            <a:endParaRPr lang="en-US" sz="1200" dirty="0"/>
          </a:p>
        </p:txBody>
      </p:sp>
      <p:sp>
        <p:nvSpPr>
          <p:cNvPr id="11" name="Text 8"/>
          <p:cNvSpPr txBox="1"/>
          <p:nvPr/>
        </p:nvSpPr>
        <p:spPr>
          <a:xfrm>
            <a:off x="3447288"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"Cambiano gli orari: tutto quello che serve sapere per l'estate"</a:t>
            </a:r>
            <a:endParaRPr lang="en-US" sz="1400" dirty="0"/>
          </a:p>
        </p:txBody>
      </p:sp>
      <p:sp>
        <p:nvSpPr>
          <p:cNvPr id="12" name="risposta 3"/>
          <p:cNvSpPr/>
          <p:nvPr/>
        </p:nvSpPr>
        <p:spPr>
          <a:xfrm>
            <a:off x="6071616" y="2057400"/>
            <a:ext cx="2615184" cy="1554480"/>
          </a:xfrm>
          <a:prstGeom prst="roundRect">
            <a:avLst>
              <a:gd name="adj" fmla="val 4706"/>
            </a:avLst>
          </a:prstGeom>
          <a:solidFill>
            <a:schemeClr val="bg2"/>
          </a:solidFill>
          <a:ln/>
        </p:spPr>
      </p:sp>
      <p:sp>
        <p:nvSpPr>
          <p:cNvPr id="13" name="Text 10"/>
          <p:cNvSpPr txBox="1"/>
          <p:nvPr/>
        </p:nvSpPr>
        <p:spPr>
          <a:xfrm>
            <a:off x="6254496"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3</a:t>
            </a:r>
            <a:endParaRPr lang="en-US" sz="1200" dirty="0"/>
          </a:p>
        </p:txBody>
      </p:sp>
      <p:sp>
        <p:nvSpPr>
          <p:cNvPr id="14" name="Text 11"/>
          <p:cNvSpPr txBox="1"/>
          <p:nvPr/>
        </p:nvSpPr>
        <p:spPr>
          <a:xfrm>
            <a:off x="6254496"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"Orario estivo al via: organizziamoci al meglio"</a:t>
            </a:r>
            <a:endParaRPr lang="en-US" sz="1400" dirty="0"/>
          </a:p>
        </p:txBody>
      </p:sp>
      <p:sp>
        <p:nvSpPr>
          <p:cNvPr id="15" name="spiegazione"/>
          <p:cNvSpPr/>
          <p:nvPr/>
        </p:nvSpPr>
        <p:spPr>
          <a:xfrm>
            <a:off x="457200" y="3794760"/>
            <a:ext cx="8229600" cy="731520"/>
          </a:xfrm>
          <a:prstGeom prst="roundRect">
            <a:avLst>
              <a:gd name="adj" fmla="val 10000"/>
            </a:avLst>
          </a:prstGeom>
          <a:solidFill>
            <a:schemeClr val="accent6"/>
          </a:solidFill>
          <a:ln/>
        </p:spPr>
      </p:sp>
      <p:sp>
        <p:nvSpPr>
          <p:cNvPr id="16" name="cerchio FiShuffle"/>
          <p:cNvSpPr/>
          <p:nvPr/>
        </p:nvSpPr>
        <p:spPr>
          <a:xfrm>
            <a:off x="640080" y="3904488"/>
            <a:ext cx="512064" cy="512064"/>
          </a:xfrm>
          <a:prstGeom prst="ellipse">
            <a:avLst/>
          </a:prstGeom>
          <a:solidFill>
            <a:schemeClr val="accent1"/>
          </a:solidFill>
          <a:ln/>
        </p:spPr>
      </p:sp>
      <p:pic>
        <p:nvPicPr>
          <p:cNvPr id="17" name="Image 0" descr="FiShuffle">    </p:cNvPr>
          <p:cNvPicPr>
            <a:picLocks noChangeAspect="1"/>
          </p:cNvPicPr>
          <p:nvPr/>
        </p:nvPicPr>
        <p:blipFill>
          <a:blip r:embed="rId1"/>
          <a:stretch>
            <a:fillRect/>
          </a:stretch>
        </p:blipFill>
        <p:spPr>
          <a:xfrm>
            <a:off x="768096" y="4032504"/>
            <a:ext cx="256032" cy="256032"/>
          </a:xfrm>
          <a:prstGeom prst="rect">
            <a:avLst/>
          </a:prstGeom>
        </p:spPr>
      </p:pic>
      <p:sp>
        <p:nvSpPr>
          <p:cNvPr id="18" name="Text 14"/>
          <p:cNvSpPr txBox="1"/>
          <p:nvPr/>
        </p:nvSpPr>
        <p:spPr>
          <a:xfrm>
            <a:off x="1325880" y="3794760"/>
            <a:ext cx="7223760" cy="731520"/>
          </a:xfrm>
          <a:prstGeom prst="rect">
            <a:avLst/>
          </a:prstGeom>
          <a:noFill/>
          <a:ln/>
        </p:spPr>
        <p:txBody>
          <a:bodyPr wrap="square" lIns="0" tIns="0" rIns="0" bIns="0" rtlCol="0" anchor="ctr"/>
          <a:lstStyle/>
          <a:p>
            <a:pPr indent="0" marL="0">
              <a:buNone/>
            </a:pPr>
            <a:r>
              <a:rPr lang="en-US" sz="1300" dirty="0">
                <a:solidFill>
                  <a:schemeClr val="tx1"/>
                </a:solidFill>
              </a:rPr>
              <a:t>A ogni passaggio il token viene estratto in proporzione alla sua probabilità: una scelta diversa all'inizio cambia tutta la risposta.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influenza la variabilità</a:t>
            </a:r>
            <a:endParaRPr lang="en-US" sz="2600" dirty="0"/>
          </a:p>
        </p:txBody>
      </p:sp>
      <p:sp>
        <p:nvSpPr>
          <p:cNvPr id="4" name="scheda Campionamento"/>
          <p:cNvSpPr/>
          <p:nvPr/>
        </p:nvSpPr>
        <p:spPr>
          <a:xfrm>
            <a:off x="457200" y="1097280"/>
            <a:ext cx="2615184" cy="1600200"/>
          </a:xfrm>
          <a:prstGeom prst="roundRect">
            <a:avLst>
              <a:gd name="adj" fmla="val 4571"/>
            </a:avLst>
          </a:prstGeom>
          <a:solidFill>
            <a:schemeClr val="accent6"/>
          </a:solidFill>
          <a:ln/>
        </p:spPr>
      </p:sp>
      <p:sp>
        <p:nvSpPr>
          <p:cNvPr id="5" name="cerchio FiShuffle"/>
          <p:cNvSpPr/>
          <p:nvPr/>
        </p:nvSpPr>
        <p:spPr>
          <a:xfrm>
            <a:off x="640080" y="1280160"/>
            <a:ext cx="457200" cy="457200"/>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Campionamento</a:t>
            </a:r>
            <a:endParaRPr lang="en-US" sz="1400" dirty="0"/>
          </a:p>
        </p:txBody>
      </p:sp>
      <p:sp>
        <p:nvSpPr>
          <p:cNvPr id="8" name="Text 4"/>
          <p:cNvSpPr txBox="1"/>
          <p:nvPr/>
        </p:nvSpPr>
        <p:spPr>
          <a:xfrm>
            <a:off x="640080"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La scelta dei token avviene con una casualità controllata</a:t>
            </a:r>
            <a:endParaRPr lang="en-US" sz="1200" dirty="0"/>
          </a:p>
        </p:txBody>
      </p:sp>
      <p:sp>
        <p:nvSpPr>
          <p:cNvPr id="9" name="scheda Istruzioni"/>
          <p:cNvSpPr/>
          <p:nvPr/>
        </p:nvSpPr>
        <p:spPr>
          <a:xfrm>
            <a:off x="3264408" y="1097280"/>
            <a:ext cx="2615184" cy="1600200"/>
          </a:xfrm>
          <a:prstGeom prst="roundRect">
            <a:avLst>
              <a:gd name="adj" fmla="val 4571"/>
            </a:avLst>
          </a:prstGeom>
          <a:solidFill>
            <a:schemeClr val="bg2"/>
          </a:solidFill>
          <a:ln/>
        </p:spPr>
      </p:sp>
      <p:sp>
        <p:nvSpPr>
          <p:cNvPr id="10" name="cerchio FiEdit3"/>
          <p:cNvSpPr/>
          <p:nvPr/>
        </p:nvSpPr>
        <p:spPr>
          <a:xfrm>
            <a:off x="3447288" y="1280160"/>
            <a:ext cx="457200" cy="457200"/>
          </a:xfrm>
          <a:prstGeom prst="ellipse">
            <a:avLst/>
          </a:prstGeom>
          <a:solidFill>
            <a:schemeClr val="accent1"/>
          </a:solidFill>
          <a:ln/>
        </p:spPr>
      </p:sp>
      <p:pic>
        <p:nvPicPr>
          <p:cNvPr id="11" name="Image 1" descr="FiEdit3">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Istruzioni</a:t>
            </a:r>
            <a:endParaRPr lang="en-US" sz="1400" dirty="0"/>
          </a:p>
        </p:txBody>
      </p:sp>
      <p:sp>
        <p:nvSpPr>
          <p:cNvPr id="13" name="Text 8"/>
          <p:cNvSpPr txBox="1"/>
          <p:nvPr/>
        </p:nvSpPr>
        <p:spPr>
          <a:xfrm>
            <a:off x="3447288"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Richieste vaghe lasciano più strade possibili di quelle precise</a:t>
            </a:r>
            <a:endParaRPr lang="en-US" sz="1200" dirty="0"/>
          </a:p>
        </p:txBody>
      </p:sp>
      <p:sp>
        <p:nvSpPr>
          <p:cNvPr id="14" name="scheda Contesto"/>
          <p:cNvSpPr/>
          <p:nvPr/>
        </p:nvSpPr>
        <p:spPr>
          <a:xfrm>
            <a:off x="6071616" y="1097280"/>
            <a:ext cx="2615184" cy="1600200"/>
          </a:xfrm>
          <a:prstGeom prst="roundRect">
            <a:avLst>
              <a:gd name="adj" fmla="val 4571"/>
            </a:avLst>
          </a:prstGeom>
          <a:solidFill>
            <a:schemeClr val="bg2"/>
          </a:solidFill>
          <a:ln/>
        </p:spPr>
      </p:sp>
      <p:sp>
        <p:nvSpPr>
          <p:cNvPr id="15" name="cerchio FiLayers"/>
          <p:cNvSpPr/>
          <p:nvPr/>
        </p:nvSpPr>
        <p:spPr>
          <a:xfrm>
            <a:off x="6254496" y="1280160"/>
            <a:ext cx="457200" cy="457200"/>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Contesto</a:t>
            </a:r>
            <a:endParaRPr lang="en-US" sz="1400" dirty="0"/>
          </a:p>
        </p:txBody>
      </p:sp>
      <p:sp>
        <p:nvSpPr>
          <p:cNvPr id="18" name="Text 12"/>
          <p:cNvSpPr txBox="1"/>
          <p:nvPr/>
        </p:nvSpPr>
        <p:spPr>
          <a:xfrm>
            <a:off x="6254496"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Cronologia, documenti, memoria e ricerche cambiano tra sessioni</a:t>
            </a:r>
            <a:endParaRPr lang="en-US" sz="1200" dirty="0"/>
          </a:p>
        </p:txBody>
      </p:sp>
      <p:sp>
        <p:nvSpPr>
          <p:cNvPr id="19" name="scheda Parametri di generazione"/>
          <p:cNvSpPr/>
          <p:nvPr/>
        </p:nvSpPr>
        <p:spPr>
          <a:xfrm>
            <a:off x="1860804" y="2834640"/>
            <a:ext cx="2615184" cy="1600200"/>
          </a:xfrm>
          <a:prstGeom prst="roundRect">
            <a:avLst>
              <a:gd name="adj" fmla="val 4571"/>
            </a:avLst>
          </a:prstGeom>
          <a:solidFill>
            <a:schemeClr val="bg2"/>
          </a:solidFill>
          <a:ln/>
        </p:spPr>
      </p:sp>
      <p:sp>
        <p:nvSpPr>
          <p:cNvPr id="20" name="cerchio FiThermometer"/>
          <p:cNvSpPr/>
          <p:nvPr/>
        </p:nvSpPr>
        <p:spPr>
          <a:xfrm>
            <a:off x="2043684" y="301752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2157984" y="3131820"/>
            <a:ext cx="228600" cy="228600"/>
          </a:xfrm>
          <a:prstGeom prst="rect">
            <a:avLst/>
          </a:prstGeom>
        </p:spPr>
      </p:pic>
      <p:sp>
        <p:nvSpPr>
          <p:cNvPr id="22" name="Text 15"/>
          <p:cNvSpPr txBox="1"/>
          <p:nvPr/>
        </p:nvSpPr>
        <p:spPr>
          <a:xfrm>
            <a:off x="2638044"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Parametri di generazione</a:t>
            </a:r>
            <a:endParaRPr lang="en-US" sz="1400" dirty="0"/>
          </a:p>
        </p:txBody>
      </p:sp>
      <p:sp>
        <p:nvSpPr>
          <p:cNvPr id="23" name="Text 16"/>
          <p:cNvSpPr txBox="1"/>
          <p:nvPr/>
        </p:nvSpPr>
        <p:spPr>
          <a:xfrm>
            <a:off x="2043684"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Per esempio la temperatura</a:t>
            </a:r>
            <a:endParaRPr lang="en-US" sz="1200" dirty="0"/>
          </a:p>
        </p:txBody>
      </p:sp>
      <p:sp>
        <p:nvSpPr>
          <p:cNvPr id="24" name="scheda Versioni"/>
          <p:cNvSpPr/>
          <p:nvPr/>
        </p:nvSpPr>
        <p:spPr>
          <a:xfrm>
            <a:off x="4668012" y="2834640"/>
            <a:ext cx="2615184" cy="1600200"/>
          </a:xfrm>
          <a:prstGeom prst="roundRect">
            <a:avLst>
              <a:gd name="adj" fmla="val 4571"/>
            </a:avLst>
          </a:prstGeom>
          <a:solidFill>
            <a:schemeClr val="bg2"/>
          </a:solidFill>
          <a:ln/>
        </p:spPr>
      </p:sp>
      <p:sp>
        <p:nvSpPr>
          <p:cNvPr id="25" name="cerchio FiRefreshCw"/>
          <p:cNvSpPr/>
          <p:nvPr/>
        </p:nvSpPr>
        <p:spPr>
          <a:xfrm>
            <a:off x="4850892" y="3017520"/>
            <a:ext cx="457200" cy="457200"/>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4965192" y="3131820"/>
            <a:ext cx="228600" cy="228600"/>
          </a:xfrm>
          <a:prstGeom prst="rect">
            <a:avLst/>
          </a:prstGeom>
        </p:spPr>
      </p:pic>
      <p:sp>
        <p:nvSpPr>
          <p:cNvPr id="27" name="Text 19"/>
          <p:cNvSpPr txBox="1"/>
          <p:nvPr/>
        </p:nvSpPr>
        <p:spPr>
          <a:xfrm>
            <a:off x="5445252"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Versioni</a:t>
            </a:r>
            <a:endParaRPr lang="en-US" sz="1400" dirty="0"/>
          </a:p>
        </p:txBody>
      </p:sp>
      <p:sp>
        <p:nvSpPr>
          <p:cNvPr id="28" name="Text 20"/>
          <p:cNvSpPr txBox="1"/>
          <p:nvPr/>
        </p:nvSpPr>
        <p:spPr>
          <a:xfrm>
            <a:off x="4850892"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Modelli e applicazioni vengono aggiornati nel tempo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di generazione: la temperatura</a:t>
            </a:r>
            <a:endParaRPr lang="en-US" sz="2600" dirty="0"/>
          </a:p>
        </p:txBody>
      </p:sp>
      <p:graphicFrame>
        <p:nvGraphicFramePr>
          <p:cNvPr id="4" name="Chart 0" descr=""/>
          <p:cNvGraphicFramePr/>
          <p:nvPr/>
        </p:nvGraphicFramePr>
        <p:xfrm>
          <a:off x="457200" y="1097280"/>
          <a:ext cx="3977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709160" y="1097280"/>
          <a:ext cx="3977640" cy="2468880"/>
        </p:xfrm>
        <a:graphic xmlns:a="http://schemas.openxmlformats.org/drawingml/2006/main">
          <a:graphicData uri="http://schemas.openxmlformats.org/drawingml/2006/chart">
            <c:chart xmlns:c="http://schemas.openxmlformats.org/drawingml/2006/chart" r:id="rId2"/>
          </a:graphicData>
        </a:graphic>
      </p:graphicFrame>
      <p:sp>
        <p:nvSpPr>
          <p:cNvPr id="6" name="blocco Più coerenza: estrazione dati, classificazione"/>
          <p:cNvSpPr/>
          <p:nvPr/>
        </p:nvSpPr>
        <p:spPr>
          <a:xfrm>
            <a:off x="457200" y="3703320"/>
            <a:ext cx="3977640" cy="457200"/>
          </a:xfrm>
          <a:prstGeom prst="roundRect">
            <a:avLst>
              <a:gd name="adj" fmla="val 24000"/>
            </a:avLst>
          </a:prstGeom>
          <a:solidFill>
            <a:schemeClr val="accent6"/>
          </a:solidFill>
          <a:ln/>
        </p:spPr>
      </p:sp>
      <p:sp>
        <p:nvSpPr>
          <p:cNvPr id="7" name="Text 2"/>
          <p:cNvSpPr txBox="1"/>
          <p:nvPr/>
        </p:nvSpPr>
        <p:spPr>
          <a:xfrm>
            <a:off x="50292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coerenza: estrazione dati, classificazione</a:t>
            </a:r>
            <a:endParaRPr lang="en-US" sz="1200" dirty="0"/>
          </a:p>
        </p:txBody>
      </p:sp>
      <p:sp>
        <p:nvSpPr>
          <p:cNvPr id="8" name="blocco Più varietà: idee, testi creativi"/>
          <p:cNvSpPr/>
          <p:nvPr/>
        </p:nvSpPr>
        <p:spPr>
          <a:xfrm>
            <a:off x="4709160" y="3703320"/>
            <a:ext cx="3977640" cy="457200"/>
          </a:xfrm>
          <a:prstGeom prst="roundRect">
            <a:avLst>
              <a:gd name="adj" fmla="val 24000"/>
            </a:avLst>
          </a:prstGeom>
          <a:solidFill>
            <a:schemeClr val="bg2"/>
          </a:solidFill>
          <a:ln/>
        </p:spPr>
      </p:sp>
      <p:sp>
        <p:nvSpPr>
          <p:cNvPr id="9" name="Text 4"/>
          <p:cNvSpPr txBox="1"/>
          <p:nvPr/>
        </p:nvSpPr>
        <p:spPr>
          <a:xfrm>
            <a:off x="475488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varietà: idee, testi creativi</a:t>
            </a:r>
            <a:endParaRPr lang="en-US" sz="1200" dirty="0"/>
          </a:p>
        </p:txBody>
      </p:sp>
      <p:sp>
        <p:nvSpPr>
          <p:cNvPr id="10" name="Text 5"/>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100" i="1" dirty="0">
                <a:solidFill>
                  <a:schemeClr val="accent2"/>
                </a:solidFill>
              </a:rPr>
              <a:t>Valori illustrativi. Negli assistenti la temperatura è spesso impostata dal fornitore; via API è regolabile.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Comportamento deterministico e probabilistico</a:t>
            </a:r>
            <a:endParaRPr lang="en-US" sz="2600" dirty="0"/>
          </a:p>
        </p:txBody>
      </p:sp>
      <p:sp>
        <p:nvSpPr>
          <p:cNvPr id="4" name="scheda Una risorsa quando cerchiamo"/>
          <p:cNvSpPr/>
          <p:nvPr/>
        </p:nvSpPr>
        <p:spPr>
          <a:xfrm>
            <a:off x="457200" y="1097280"/>
            <a:ext cx="3977640" cy="3429000"/>
          </a:xfrm>
          <a:prstGeom prst="roundRect">
            <a:avLst>
              <a:gd name="adj" fmla="val 2133"/>
            </a:avLst>
          </a:prstGeom>
          <a:solidFill>
            <a:schemeClr val="accent6"/>
          </a:solidFill>
          <a:ln/>
        </p:spPr>
      </p:sp>
      <p:sp>
        <p:nvSpPr>
          <p:cNvPr id="5" name="cerchio FiStar"/>
          <p:cNvSpPr/>
          <p:nvPr/>
        </p:nvSpPr>
        <p:spPr>
          <a:xfrm>
            <a:off x="640080" y="1280160"/>
            <a:ext cx="457200" cy="457200"/>
          </a:xfrm>
          <a:prstGeom prst="ellipse">
            <a:avLst/>
          </a:prstGeom>
          <a:solidFill>
            <a:schemeClr val="accent1"/>
          </a:solidFill>
          <a:ln/>
        </p:spPr>
      </p:sp>
      <p:pic>
        <p:nvPicPr>
          <p:cNvPr id="6" name="Image 0" descr="FiSta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Una risorsa quando cerchiamo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Alternative e idee diverse</a:t>
            </a:r>
            <a:endParaRPr lang="en-US" sz="1300" dirty="0"/>
          </a:p>
          <a:p>
            <a:pPr marL="177800" indent="-177800">
              <a:spcAft>
                <a:spcPts val="400"/>
              </a:spcAft>
              <a:buSzPct val="100000"/>
              <a:buChar char="•"/>
            </a:pPr>
            <a:r>
              <a:rPr lang="en-US" sz="1300" dirty="0">
                <a:solidFill>
                  <a:schemeClr val="tx2"/>
                </a:solidFill>
              </a:rPr>
              <a:t>Formulazioni e toni differenti</a:t>
            </a:r>
            <a:endParaRPr lang="en-US" sz="1300" dirty="0"/>
          </a:p>
          <a:p>
            <a:pPr marL="177800" indent="-177800">
              <a:spcAft>
                <a:spcPts val="400"/>
              </a:spcAft>
              <a:buSzPct val="100000"/>
              <a:buChar char="•"/>
            </a:pPr>
            <a:r>
              <a:rPr lang="en-US" sz="1300" dirty="0">
                <a:solidFill>
                  <a:schemeClr val="tx2"/>
                </a:solidFill>
              </a:rPr>
              <a:t>Una nuova versione di una risposta insoddisfacente</a:t>
            </a:r>
            <a:endParaRPr lang="en-US" sz="1300" dirty="0"/>
          </a:p>
          <a:p>
            <a:pPr marL="177800" indent="-177800">
              <a:spcAft>
                <a:spcPts val="400"/>
              </a:spcAft>
              <a:buSzPct val="100000"/>
              <a:buChar char="•"/>
            </a:pPr>
            <a:r>
              <a:rPr lang="en-US" sz="1300" dirty="0">
                <a:solidFill>
                  <a:schemeClr val="tx2"/>
                </a:solidFill>
              </a:rPr>
              <a:t>Spunti creativi e brainstorming</a:t>
            </a:r>
            <a:endParaRPr lang="en-US" sz="1300" dirty="0"/>
          </a:p>
        </p:txBody>
      </p:sp>
      <p:sp>
        <p:nvSpPr>
          <p:cNvPr id="9" name="scheda Un problema quando serve coerenza"/>
          <p:cNvSpPr/>
          <p:nvPr/>
        </p:nvSpPr>
        <p:spPr>
          <a:xfrm>
            <a:off x="4709160" y="1097280"/>
            <a:ext cx="3977640" cy="3429000"/>
          </a:xfrm>
          <a:prstGeom prst="roundRect">
            <a:avLst>
              <a:gd name="adj" fmla="val 213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 problema quando serve coerenza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Estrarre gli stessi campi da molti documenti</a:t>
            </a:r>
            <a:endParaRPr lang="en-US" sz="1300" dirty="0"/>
          </a:p>
          <a:p>
            <a:pPr marL="177800" indent="-177800">
              <a:spcAft>
                <a:spcPts val="400"/>
              </a:spcAft>
              <a:buSzPct val="100000"/>
              <a:buChar char="•"/>
            </a:pPr>
            <a:r>
              <a:rPr lang="en-US" sz="1300" dirty="0">
                <a:solidFill>
                  <a:schemeClr val="tx2"/>
                </a:solidFill>
              </a:rPr>
              <a:t>Classificare con criteri uniformi</a:t>
            </a:r>
            <a:endParaRPr lang="en-US" sz="1300" dirty="0"/>
          </a:p>
          <a:p>
            <a:pPr marL="177800" indent="-177800">
              <a:spcAft>
                <a:spcPts val="400"/>
              </a:spcAft>
              <a:buSzPct val="100000"/>
              <a:buChar char="•"/>
            </a:pPr>
            <a:r>
              <a:rPr lang="en-US" sz="1300" dirty="0">
                <a:solidFill>
                  <a:schemeClr val="tx2"/>
                </a:solidFill>
              </a:rPr>
              <a:t>Rispettare formule e testi fissi</a:t>
            </a:r>
            <a:endParaRPr lang="en-US" sz="1300" dirty="0"/>
          </a:p>
          <a:p>
            <a:pPr marL="177800" indent="-177800">
              <a:spcAft>
                <a:spcPts val="400"/>
              </a:spcAft>
              <a:buSzPct val="100000"/>
              <a:buChar char="•"/>
            </a:pPr>
            <a:r>
              <a:rPr lang="en-US" sz="1300" dirty="0">
                <a:solidFill>
                  <a:schemeClr val="tx2"/>
                </a:solidFill>
              </a:rPr>
              <a:t>Calcoli: meglio affidarli a software deterministico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Riproducibilità dei risultati</a:t>
            </a:r>
            <a:endParaRPr lang="en-US" sz="2600" dirty="0"/>
          </a:p>
        </p:txBody>
      </p:sp>
      <p:sp>
        <p:nvSpPr>
          <p:cNvPr id="4" name="Istruzioni precise"/>
          <p:cNvSpPr/>
          <p:nvPr/>
        </p:nvSpPr>
        <p:spPr>
          <a:xfrm>
            <a:off x="457200" y="1097280"/>
            <a:ext cx="2615184" cy="1325880"/>
          </a:xfrm>
          <a:prstGeom prst="roundRect">
            <a:avLst>
              <a:gd name="adj" fmla="val 5517"/>
            </a:avLst>
          </a:prstGeom>
          <a:solidFill>
            <a:schemeClr val="bg2"/>
          </a:solidFill>
          <a:ln/>
        </p:spPr>
      </p:sp>
      <p:sp>
        <p:nvSpPr>
          <p:cNvPr id="5" name="cerchio FiEdit3"/>
          <p:cNvSpPr/>
          <p:nvPr/>
        </p:nvSpPr>
        <p:spPr>
          <a:xfrm>
            <a:off x="621792"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36092" y="1394460"/>
            <a:ext cx="228600" cy="228600"/>
          </a:xfrm>
          <a:prstGeom prst="rect">
            <a:avLst/>
          </a:prstGeom>
        </p:spPr>
      </p:pic>
      <p:sp>
        <p:nvSpPr>
          <p:cNvPr id="7" name="Text 3"/>
          <p:cNvSpPr txBox="1"/>
          <p:nvPr/>
        </p:nvSpPr>
        <p:spPr>
          <a:xfrm>
            <a:off x="1207008"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Istruzioni precise</a:t>
            </a:r>
            <a:endParaRPr lang="en-US" sz="1300" dirty="0"/>
          </a:p>
        </p:txBody>
      </p:sp>
      <p:sp>
        <p:nvSpPr>
          <p:cNvPr id="8" name="Text 4"/>
          <p:cNvSpPr txBox="1"/>
          <p:nvPr/>
        </p:nvSpPr>
        <p:spPr>
          <a:xfrm>
            <a:off x="621792"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Formato, lunghezza, struttura, criteri</a:t>
            </a:r>
            <a:endParaRPr lang="en-US" sz="1200" dirty="0"/>
          </a:p>
        </p:txBody>
      </p:sp>
      <p:sp>
        <p:nvSpPr>
          <p:cNvPr id="9" name="Esempi del risultato atteso"/>
          <p:cNvSpPr/>
          <p:nvPr/>
        </p:nvSpPr>
        <p:spPr>
          <a:xfrm>
            <a:off x="3264408" y="1097280"/>
            <a:ext cx="2615184" cy="1325880"/>
          </a:xfrm>
          <a:prstGeom prst="roundRect">
            <a:avLst>
              <a:gd name="adj" fmla="val 5517"/>
            </a:avLst>
          </a:prstGeom>
          <a:solidFill>
            <a:schemeClr val="bg2"/>
          </a:solidFill>
          <a:ln/>
        </p:spPr>
      </p:sp>
      <p:sp>
        <p:nvSpPr>
          <p:cNvPr id="10" name="cerchio FiCopy"/>
          <p:cNvSpPr/>
          <p:nvPr/>
        </p:nvSpPr>
        <p:spPr>
          <a:xfrm>
            <a:off x="3429000" y="1280160"/>
            <a:ext cx="457200" cy="457200"/>
          </a:xfrm>
          <a:prstGeom prst="ellipse">
            <a:avLst/>
          </a:prstGeom>
          <a:solidFill>
            <a:schemeClr val="accent1"/>
          </a:solidFill>
          <a:ln/>
        </p:spPr>
      </p:sp>
      <p:pic>
        <p:nvPicPr>
          <p:cNvPr id="11" name="Image 1" descr="FiCopy">    </p:cNvPr>
          <p:cNvPicPr>
            <a:picLocks noChangeAspect="1"/>
          </p:cNvPicPr>
          <p:nvPr/>
        </p:nvPicPr>
        <p:blipFill>
          <a:blip r:embed="rId2"/>
          <a:stretch>
            <a:fillRect/>
          </a:stretch>
        </p:blipFill>
        <p:spPr>
          <a:xfrm>
            <a:off x="3543300" y="1394460"/>
            <a:ext cx="228600" cy="228600"/>
          </a:xfrm>
          <a:prstGeom prst="rect">
            <a:avLst/>
          </a:prstGeom>
        </p:spPr>
      </p:pic>
      <p:sp>
        <p:nvSpPr>
          <p:cNvPr id="12" name="Text 7"/>
          <p:cNvSpPr txBox="1"/>
          <p:nvPr/>
        </p:nvSpPr>
        <p:spPr>
          <a:xfrm>
            <a:off x="4014216"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Esempi del risultato atteso</a:t>
            </a:r>
            <a:endParaRPr lang="en-US" sz="1300" dirty="0"/>
          </a:p>
        </p:txBody>
      </p:sp>
      <p:sp>
        <p:nvSpPr>
          <p:cNvPr id="13" name="Text 8"/>
          <p:cNvSpPr txBox="1"/>
          <p:nvPr/>
        </p:nvSpPr>
        <p:spPr>
          <a:xfrm>
            <a:off x="3429000"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Il modello tende a imitarli</a:t>
            </a:r>
            <a:endParaRPr lang="en-US" sz="1200" dirty="0"/>
          </a:p>
        </p:txBody>
      </p:sp>
      <p:sp>
        <p:nvSpPr>
          <p:cNvPr id="14" name="Output strutturati"/>
          <p:cNvSpPr/>
          <p:nvPr/>
        </p:nvSpPr>
        <p:spPr>
          <a:xfrm>
            <a:off x="6071616" y="1097280"/>
            <a:ext cx="2615184" cy="1325880"/>
          </a:xfrm>
          <a:prstGeom prst="roundRect">
            <a:avLst>
              <a:gd name="adj" fmla="val 5517"/>
            </a:avLst>
          </a:prstGeom>
          <a:solidFill>
            <a:schemeClr val="bg2"/>
          </a:solidFill>
          <a:ln/>
        </p:spPr>
      </p:sp>
      <p:sp>
        <p:nvSpPr>
          <p:cNvPr id="15" name="cerchio FiGrid"/>
          <p:cNvSpPr/>
          <p:nvPr/>
        </p:nvSpPr>
        <p:spPr>
          <a:xfrm>
            <a:off x="6236208" y="1280160"/>
            <a:ext cx="457200" cy="457200"/>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50508" y="1394460"/>
            <a:ext cx="228600" cy="228600"/>
          </a:xfrm>
          <a:prstGeom prst="rect">
            <a:avLst/>
          </a:prstGeom>
        </p:spPr>
      </p:pic>
      <p:sp>
        <p:nvSpPr>
          <p:cNvPr id="17" name="Text 11"/>
          <p:cNvSpPr txBox="1"/>
          <p:nvPr/>
        </p:nvSpPr>
        <p:spPr>
          <a:xfrm>
            <a:off x="6821424"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Output strutturati</a:t>
            </a:r>
            <a:endParaRPr lang="en-US" sz="1300" dirty="0"/>
          </a:p>
        </p:txBody>
      </p:sp>
      <p:sp>
        <p:nvSpPr>
          <p:cNvPr id="18" name="Text 12"/>
          <p:cNvSpPr txBox="1"/>
          <p:nvPr/>
        </p:nvSpPr>
        <p:spPr>
          <a:xfrm>
            <a:off x="6236208"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Tabelle o campi fissi invece di testo libero</a:t>
            </a:r>
            <a:endParaRPr lang="en-US" sz="1200" dirty="0"/>
          </a:p>
        </p:txBody>
      </p:sp>
      <p:sp>
        <p:nvSpPr>
          <p:cNvPr id="19" name="Temperatura bassa"/>
          <p:cNvSpPr/>
          <p:nvPr/>
        </p:nvSpPr>
        <p:spPr>
          <a:xfrm>
            <a:off x="457200" y="2560320"/>
            <a:ext cx="2615184" cy="1325880"/>
          </a:xfrm>
          <a:prstGeom prst="roundRect">
            <a:avLst>
              <a:gd name="adj" fmla="val 5517"/>
            </a:avLst>
          </a:prstGeom>
          <a:solidFill>
            <a:schemeClr val="bg2"/>
          </a:solidFill>
          <a:ln/>
        </p:spPr>
      </p:sp>
      <p:sp>
        <p:nvSpPr>
          <p:cNvPr id="20" name="cerchio FiThermometer"/>
          <p:cNvSpPr/>
          <p:nvPr/>
        </p:nvSpPr>
        <p:spPr>
          <a:xfrm>
            <a:off x="621792" y="274320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736092" y="2857500"/>
            <a:ext cx="228600" cy="228600"/>
          </a:xfrm>
          <a:prstGeom prst="rect">
            <a:avLst/>
          </a:prstGeom>
        </p:spPr>
      </p:pic>
      <p:sp>
        <p:nvSpPr>
          <p:cNvPr id="22" name="Text 15"/>
          <p:cNvSpPr txBox="1"/>
          <p:nvPr/>
        </p:nvSpPr>
        <p:spPr>
          <a:xfrm>
            <a:off x="1207008"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Temperatura bassa</a:t>
            </a:r>
            <a:endParaRPr lang="en-US" sz="1300" dirty="0"/>
          </a:p>
        </p:txBody>
      </p:sp>
      <p:sp>
        <p:nvSpPr>
          <p:cNvPr id="23" name="Text 16"/>
          <p:cNvSpPr txBox="1"/>
          <p:nvPr/>
        </p:nvSpPr>
        <p:spPr>
          <a:xfrm>
            <a:off x="621792"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Quando lo strumento lo consente</a:t>
            </a:r>
            <a:endParaRPr lang="en-US" sz="1200" dirty="0"/>
          </a:p>
        </p:txBody>
      </p:sp>
      <p:sp>
        <p:nvSpPr>
          <p:cNvPr id="24" name="Prompt salvati e documentati"/>
          <p:cNvSpPr/>
          <p:nvPr/>
        </p:nvSpPr>
        <p:spPr>
          <a:xfrm>
            <a:off x="3264408" y="2560320"/>
            <a:ext cx="2615184" cy="1325880"/>
          </a:xfrm>
          <a:prstGeom prst="roundRect">
            <a:avLst>
              <a:gd name="adj" fmla="val 5517"/>
            </a:avLst>
          </a:prstGeom>
          <a:solidFill>
            <a:schemeClr val="bg2"/>
          </a:solidFill>
          <a:ln/>
        </p:spPr>
      </p:sp>
      <p:sp>
        <p:nvSpPr>
          <p:cNvPr id="25" name="cerchio FiSave"/>
          <p:cNvSpPr/>
          <p:nvPr/>
        </p:nvSpPr>
        <p:spPr>
          <a:xfrm>
            <a:off x="3429000" y="2743200"/>
            <a:ext cx="457200" cy="457200"/>
          </a:xfrm>
          <a:prstGeom prst="ellipse">
            <a:avLst/>
          </a:prstGeom>
          <a:solidFill>
            <a:schemeClr val="accent1"/>
          </a:solidFill>
          <a:ln/>
        </p:spPr>
      </p:sp>
      <p:pic>
        <p:nvPicPr>
          <p:cNvPr id="26" name="Image 4" descr="FiSave">    </p:cNvPr>
          <p:cNvPicPr>
            <a:picLocks noChangeAspect="1"/>
          </p:cNvPicPr>
          <p:nvPr/>
        </p:nvPicPr>
        <p:blipFill>
          <a:blip r:embed="rId5"/>
          <a:stretch>
            <a:fillRect/>
          </a:stretch>
        </p:blipFill>
        <p:spPr>
          <a:xfrm>
            <a:off x="3543300" y="2857500"/>
            <a:ext cx="228600" cy="228600"/>
          </a:xfrm>
          <a:prstGeom prst="rect">
            <a:avLst/>
          </a:prstGeom>
        </p:spPr>
      </p:pic>
      <p:sp>
        <p:nvSpPr>
          <p:cNvPr id="27" name="Text 19"/>
          <p:cNvSpPr txBox="1"/>
          <p:nvPr/>
        </p:nvSpPr>
        <p:spPr>
          <a:xfrm>
            <a:off x="4014216"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Prompt salvati e documentati</a:t>
            </a:r>
            <a:endParaRPr lang="en-US" sz="1300" dirty="0"/>
          </a:p>
        </p:txBody>
      </p:sp>
      <p:sp>
        <p:nvSpPr>
          <p:cNvPr id="28" name="Text 20"/>
          <p:cNvSpPr txBox="1"/>
          <p:nvPr/>
        </p:nvSpPr>
        <p:spPr>
          <a:xfrm>
            <a:off x="3429000"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Riutilizzare ciò che funziona</a:t>
            </a:r>
            <a:endParaRPr lang="en-US" sz="1200" dirty="0"/>
          </a:p>
        </p:txBody>
      </p:sp>
      <p:sp>
        <p:nvSpPr>
          <p:cNvPr id="29" name="Versioni annotate"/>
          <p:cNvSpPr/>
          <p:nvPr/>
        </p:nvSpPr>
        <p:spPr>
          <a:xfrm>
            <a:off x="6071616" y="2560320"/>
            <a:ext cx="2615184" cy="1325880"/>
          </a:xfrm>
          <a:prstGeom prst="roundRect">
            <a:avLst>
              <a:gd name="adj" fmla="val 5517"/>
            </a:avLst>
          </a:prstGeom>
          <a:solidFill>
            <a:schemeClr val="bg2"/>
          </a:solidFill>
          <a:ln/>
        </p:spPr>
      </p:sp>
      <p:sp>
        <p:nvSpPr>
          <p:cNvPr id="30" name="cerchio FiTag"/>
          <p:cNvSpPr/>
          <p:nvPr/>
        </p:nvSpPr>
        <p:spPr>
          <a:xfrm>
            <a:off x="6236208" y="2743200"/>
            <a:ext cx="457200" cy="457200"/>
          </a:xfrm>
          <a:prstGeom prst="ellipse">
            <a:avLst/>
          </a:prstGeom>
          <a:solidFill>
            <a:schemeClr val="accent1"/>
          </a:solidFill>
          <a:ln/>
        </p:spPr>
      </p:sp>
      <p:pic>
        <p:nvPicPr>
          <p:cNvPr id="31" name="Image 5" descr="FiTag">    </p:cNvPr>
          <p:cNvPicPr>
            <a:picLocks noChangeAspect="1"/>
          </p:cNvPicPr>
          <p:nvPr/>
        </p:nvPicPr>
        <p:blipFill>
          <a:blip r:embed="rId6"/>
          <a:stretch>
            <a:fillRect/>
          </a:stretch>
        </p:blipFill>
        <p:spPr>
          <a:xfrm>
            <a:off x="6350508" y="2857500"/>
            <a:ext cx="228600" cy="228600"/>
          </a:xfrm>
          <a:prstGeom prst="rect">
            <a:avLst/>
          </a:prstGeom>
        </p:spPr>
      </p:pic>
      <p:sp>
        <p:nvSpPr>
          <p:cNvPr id="32" name="Text 23"/>
          <p:cNvSpPr txBox="1"/>
          <p:nvPr/>
        </p:nvSpPr>
        <p:spPr>
          <a:xfrm>
            <a:off x="6821424"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Versioni annotate</a:t>
            </a:r>
            <a:endParaRPr lang="en-US" sz="1300" dirty="0"/>
          </a:p>
        </p:txBody>
      </p:sp>
      <p:sp>
        <p:nvSpPr>
          <p:cNvPr id="33" name="Text 24"/>
          <p:cNvSpPr txBox="1"/>
          <p:nvPr/>
        </p:nvSpPr>
        <p:spPr>
          <a:xfrm>
            <a:off x="6236208"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Riverificare dopo gli aggiornamenti</a:t>
            </a:r>
            <a:endParaRPr lang="en-US" sz="1200" dirty="0"/>
          </a:p>
        </p:txBody>
      </p:sp>
      <p:sp>
        <p:nvSpPr>
          <p:cNvPr id="34" name="Text 25"/>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i="1" dirty="0">
                <a:solidFill>
                  <a:schemeClr val="tx1"/>
                </a:solidFill>
              </a:rPr>
              <a:t>Insieme rendono i risultati molto più coerenti, anche se una riproducibilità assoluta non è di norma ottenibile.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Variabilità non significa errore</a:t>
            </a:r>
            <a:endParaRPr lang="en-US" sz="2600" dirty="0"/>
          </a:p>
        </p:txBody>
      </p:sp>
      <p:sp>
        <p:nvSpPr>
          <p:cNvPr id="4" name="Text 1"/>
          <p:cNvSpPr txBox="1"/>
          <p:nvPr/>
        </p:nvSpPr>
        <p:spPr>
          <a:xfrm>
            <a:off x="146304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varia</a:t>
            </a:r>
            <a:endParaRPr lang="en-US" sz="1200" dirty="0"/>
          </a:p>
        </p:txBody>
      </p:sp>
      <p:sp>
        <p:nvSpPr>
          <p:cNvPr id="5" name="Text 2"/>
          <p:cNvSpPr txBox="1"/>
          <p:nvPr/>
        </p:nvSpPr>
        <p:spPr>
          <a:xfrm>
            <a:off x="493776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è stabile</a:t>
            </a:r>
            <a:endParaRPr lang="en-US" sz="1200" dirty="0"/>
          </a:p>
        </p:txBody>
      </p:sp>
      <p:sp>
        <p:nvSpPr>
          <p:cNvPr id="6" name="Text 3"/>
          <p:cNvSpPr txBox="1"/>
          <p:nvPr/>
        </p:nvSpPr>
        <p:spPr>
          <a:xfrm>
            <a:off x="457200" y="137160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Corretta</a:t>
            </a:r>
            <a:endParaRPr lang="en-US" sz="1200" dirty="0"/>
          </a:p>
        </p:txBody>
      </p:sp>
      <p:sp>
        <p:nvSpPr>
          <p:cNvPr id="7" name="Text 4"/>
          <p:cNvSpPr txBox="1"/>
          <p:nvPr/>
        </p:nvSpPr>
        <p:spPr>
          <a:xfrm>
            <a:off x="457200" y="292608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Errata</a:t>
            </a:r>
            <a:endParaRPr lang="en-US" sz="1200" dirty="0"/>
          </a:p>
        </p:txBody>
      </p:sp>
      <p:sp>
        <p:nvSpPr>
          <p:cNvPr id="8" name="Varia ma corretta"/>
          <p:cNvSpPr/>
          <p:nvPr/>
        </p:nvSpPr>
        <p:spPr>
          <a:xfrm>
            <a:off x="1463040" y="1371600"/>
            <a:ext cx="3291840" cy="1417320"/>
          </a:xfrm>
          <a:prstGeom prst="roundRect">
            <a:avLst>
              <a:gd name="adj" fmla="val 5161"/>
            </a:avLst>
          </a:prstGeom>
          <a:solidFill>
            <a:schemeClr val="accent6"/>
          </a:solidFill>
          <a:ln/>
        </p:spPr>
      </p:sp>
      <p:sp>
        <p:nvSpPr>
          <p:cNvPr id="9" name="Text 6"/>
          <p:cNvSpPr txBox="1"/>
          <p:nvPr/>
        </p:nvSpPr>
        <p:spPr>
          <a:xfrm>
            <a:off x="1645920" y="150876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ma corretta</a:t>
            </a:r>
            <a:endParaRPr lang="en-US" sz="1600" dirty="0"/>
          </a:p>
        </p:txBody>
      </p:sp>
      <p:sp>
        <p:nvSpPr>
          <p:cNvPr id="10" name="Text 7"/>
          <p:cNvSpPr txBox="1"/>
          <p:nvPr/>
        </p:nvSpPr>
        <p:spPr>
          <a:xfrm>
            <a:off x="1645920" y="1847088"/>
            <a:ext cx="2926080" cy="475488"/>
          </a:xfrm>
          <a:prstGeom prst="rect">
            <a:avLst/>
          </a:prstGeom>
          <a:noFill/>
          <a:ln/>
        </p:spPr>
        <p:txBody>
          <a:bodyPr wrap="square" lIns="0" tIns="0" rIns="0" bIns="0" rtlCol="0" anchor="t"/>
          <a:lstStyle/>
          <a:p>
            <a:pPr indent="0" marL="0">
              <a:buNone/>
            </a:pPr>
            <a:r>
              <a:rPr lang="en-US" sz="1200" dirty="0">
                <a:solidFill>
                  <a:schemeClr val="tx1"/>
                </a:solidFill>
              </a:rPr>
              <a:t>Formulazioni diverse, tutte valide</a:t>
            </a:r>
            <a:endParaRPr lang="en-US" sz="1200" dirty="0"/>
          </a:p>
        </p:txBody>
      </p:sp>
      <p:sp>
        <p:nvSpPr>
          <p:cNvPr id="11" name="Text 8"/>
          <p:cNvSpPr txBox="1"/>
          <p:nvPr/>
        </p:nvSpPr>
        <p:spPr>
          <a:xfrm>
            <a:off x="1645920" y="2359152"/>
            <a:ext cx="2926080" cy="320040"/>
          </a:xfrm>
          <a:prstGeom prst="rect">
            <a:avLst/>
          </a:prstGeom>
          <a:noFill/>
          <a:ln/>
        </p:spPr>
        <p:txBody>
          <a:bodyPr wrap="square" lIns="0" tIns="0" rIns="0" bIns="0" rtlCol="0" anchor="t"/>
          <a:lstStyle/>
          <a:p>
            <a:pPr indent="0" marL="0">
              <a:buNone/>
            </a:pPr>
            <a:r>
              <a:rPr lang="en-US" sz="1100" i="1" dirty="0">
                <a:solidFill>
                  <a:schemeClr val="tx1"/>
                </a:solidFill>
              </a:rPr>
              <a:t>Es.: tre titoli diversi per la newsletter</a:t>
            </a:r>
            <a:endParaRPr lang="en-US" sz="1100" dirty="0"/>
          </a:p>
        </p:txBody>
      </p:sp>
      <p:sp>
        <p:nvSpPr>
          <p:cNvPr id="12" name="Stabile e corretta"/>
          <p:cNvSpPr/>
          <p:nvPr/>
        </p:nvSpPr>
        <p:spPr>
          <a:xfrm>
            <a:off x="4937760" y="1371600"/>
            <a:ext cx="3291840" cy="1417320"/>
          </a:xfrm>
          <a:prstGeom prst="roundRect">
            <a:avLst>
              <a:gd name="adj" fmla="val 5161"/>
            </a:avLst>
          </a:prstGeom>
          <a:solidFill>
            <a:schemeClr val="accent1"/>
          </a:solidFill>
          <a:ln/>
        </p:spPr>
      </p:sp>
      <p:sp>
        <p:nvSpPr>
          <p:cNvPr id="13" name="Text 10"/>
          <p:cNvSpPr txBox="1"/>
          <p:nvPr/>
        </p:nvSpPr>
        <p:spPr>
          <a:xfrm>
            <a:off x="5120640" y="150876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e corretta</a:t>
            </a:r>
            <a:endParaRPr lang="en-US" sz="1600" dirty="0"/>
          </a:p>
        </p:txBody>
      </p:sp>
      <p:sp>
        <p:nvSpPr>
          <p:cNvPr id="14" name="Text 11"/>
          <p:cNvSpPr txBox="1"/>
          <p:nvPr/>
        </p:nvSpPr>
        <p:spPr>
          <a:xfrm>
            <a:off x="5120640" y="1847088"/>
            <a:ext cx="2926080" cy="475488"/>
          </a:xfrm>
          <a:prstGeom prst="rect">
            <a:avLst/>
          </a:prstGeom>
          <a:noFill/>
          <a:ln/>
        </p:spPr>
        <p:txBody>
          <a:bodyPr wrap="square" lIns="0" tIns="0" rIns="0" bIns="0" rtlCol="0" anchor="t"/>
          <a:lstStyle/>
          <a:p>
            <a:pPr indent="0" marL="0">
              <a:buNone/>
            </a:pPr>
            <a:r>
              <a:rPr lang="en-US" sz="1200" dirty="0">
                <a:solidFill>
                  <a:schemeClr val="bg1"/>
                </a:solidFill>
              </a:rPr>
              <a:t>Ideale per i compiti che richiedono coerenza</a:t>
            </a:r>
            <a:endParaRPr lang="en-US" sz="1200" dirty="0"/>
          </a:p>
        </p:txBody>
      </p:sp>
      <p:sp>
        <p:nvSpPr>
          <p:cNvPr id="15" name="Text 12"/>
          <p:cNvSpPr txBox="1"/>
          <p:nvPr/>
        </p:nvSpPr>
        <p:spPr>
          <a:xfrm>
            <a:off x="5120640" y="2359152"/>
            <a:ext cx="2926080" cy="320040"/>
          </a:xfrm>
          <a:prstGeom prst="rect">
            <a:avLst/>
          </a:prstGeom>
          <a:noFill/>
          <a:ln/>
        </p:spPr>
        <p:txBody>
          <a:bodyPr wrap="square" lIns="0" tIns="0" rIns="0" bIns="0" rtlCol="0" anchor="t"/>
          <a:lstStyle/>
          <a:p>
            <a:pPr indent="0" marL="0">
              <a:buNone/>
            </a:pPr>
            <a:r>
              <a:rPr lang="en-US" sz="1100" i="1" dirty="0">
                <a:solidFill>
                  <a:schemeClr val="bg1"/>
                </a:solidFill>
              </a:rPr>
              <a:t>Es.: la stessa categoria per lo stesso ticket</a:t>
            </a:r>
            <a:endParaRPr lang="en-US" sz="1100" dirty="0"/>
          </a:p>
        </p:txBody>
      </p:sp>
      <p:sp>
        <p:nvSpPr>
          <p:cNvPr id="16" name="Varia ed errata"/>
          <p:cNvSpPr/>
          <p:nvPr/>
        </p:nvSpPr>
        <p:spPr>
          <a:xfrm>
            <a:off x="1463040" y="2926080"/>
            <a:ext cx="3291840" cy="1417320"/>
          </a:xfrm>
          <a:prstGeom prst="roundRect">
            <a:avLst>
              <a:gd name="adj" fmla="val 5161"/>
            </a:avLst>
          </a:prstGeom>
          <a:solidFill>
            <a:schemeClr val="bg2"/>
          </a:solidFill>
          <a:ln/>
        </p:spPr>
      </p:sp>
      <p:sp>
        <p:nvSpPr>
          <p:cNvPr id="17" name="Text 14"/>
          <p:cNvSpPr txBox="1"/>
          <p:nvPr/>
        </p:nvSpPr>
        <p:spPr>
          <a:xfrm>
            <a:off x="1645920" y="306324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ed errata</a:t>
            </a:r>
            <a:endParaRPr lang="en-US" sz="1600" dirty="0"/>
          </a:p>
        </p:txBody>
      </p:sp>
      <p:sp>
        <p:nvSpPr>
          <p:cNvPr id="18" name="Text 15"/>
          <p:cNvSpPr txBox="1"/>
          <p:nvPr/>
        </p:nvSpPr>
        <p:spPr>
          <a:xfrm>
            <a:off x="1645920" y="3401568"/>
            <a:ext cx="2926080" cy="475488"/>
          </a:xfrm>
          <a:prstGeom prst="rect">
            <a:avLst/>
          </a:prstGeom>
          <a:noFill/>
          <a:ln/>
        </p:spPr>
        <p:txBody>
          <a:bodyPr wrap="square" lIns="0" tIns="0" rIns="0" bIns="0" rtlCol="0" anchor="t"/>
          <a:lstStyle/>
          <a:p>
            <a:pPr indent="0" marL="0">
              <a:buNone/>
            </a:pPr>
            <a:r>
              <a:rPr lang="en-US" sz="1200" dirty="0">
                <a:solidFill>
                  <a:schemeClr val="tx1"/>
                </a:solidFill>
              </a:rPr>
              <a:t>Risposte molto diverse a una domanda fattuale: segnale da verificare</a:t>
            </a:r>
            <a:endParaRPr lang="en-US" sz="1200" dirty="0"/>
          </a:p>
        </p:txBody>
      </p:sp>
      <p:sp>
        <p:nvSpPr>
          <p:cNvPr id="19" name="Text 16"/>
          <p:cNvSpPr txBox="1"/>
          <p:nvPr/>
        </p:nvSpPr>
        <p:spPr>
          <a:xfrm>
            <a:off x="1645920" y="3913632"/>
            <a:ext cx="2926080" cy="320040"/>
          </a:xfrm>
          <a:prstGeom prst="rect">
            <a:avLst/>
          </a:prstGeom>
          <a:noFill/>
          <a:ln/>
        </p:spPr>
        <p:txBody>
          <a:bodyPr wrap="square" lIns="0" tIns="0" rIns="0" bIns="0" rtlCol="0" anchor="t"/>
          <a:lstStyle/>
          <a:p>
            <a:pPr indent="0" marL="0">
              <a:buNone/>
            </a:pPr>
            <a:r>
              <a:rPr lang="en-US" sz="1100" i="1" dirty="0">
                <a:solidFill>
                  <a:schemeClr val="tx1"/>
                </a:solidFill>
              </a:rPr>
              <a:t>Es.: tre date diverse per la stessa scadenza</a:t>
            </a:r>
            <a:endParaRPr lang="en-US" sz="1100" dirty="0"/>
          </a:p>
        </p:txBody>
      </p:sp>
      <p:sp>
        <p:nvSpPr>
          <p:cNvPr id="20" name="Stabile ma errata"/>
          <p:cNvSpPr/>
          <p:nvPr/>
        </p:nvSpPr>
        <p:spPr>
          <a:xfrm>
            <a:off x="4937760" y="2926080"/>
            <a:ext cx="3291840" cy="1417320"/>
          </a:xfrm>
          <a:prstGeom prst="roundRect">
            <a:avLst>
              <a:gd name="adj" fmla="val 5161"/>
            </a:avLst>
          </a:prstGeom>
          <a:solidFill>
            <a:schemeClr val="tx1"/>
          </a:solidFill>
          <a:ln/>
        </p:spPr>
      </p:sp>
      <p:sp>
        <p:nvSpPr>
          <p:cNvPr id="21" name="Text 18"/>
          <p:cNvSpPr txBox="1"/>
          <p:nvPr/>
        </p:nvSpPr>
        <p:spPr>
          <a:xfrm>
            <a:off x="5120640" y="306324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ma errata</a:t>
            </a:r>
            <a:endParaRPr lang="en-US" sz="1600" dirty="0"/>
          </a:p>
        </p:txBody>
      </p:sp>
      <p:sp>
        <p:nvSpPr>
          <p:cNvPr id="22" name="Text 19"/>
          <p:cNvSpPr txBox="1"/>
          <p:nvPr/>
        </p:nvSpPr>
        <p:spPr>
          <a:xfrm>
            <a:off x="5120640" y="3401568"/>
            <a:ext cx="2926080" cy="475488"/>
          </a:xfrm>
          <a:prstGeom prst="rect">
            <a:avLst/>
          </a:prstGeom>
          <a:noFill/>
          <a:ln/>
        </p:spPr>
        <p:txBody>
          <a:bodyPr wrap="square" lIns="0" tIns="0" rIns="0" bIns="0" rtlCol="0" anchor="t"/>
          <a:lstStyle/>
          <a:p>
            <a:pPr indent="0" marL="0">
              <a:buNone/>
            </a:pPr>
            <a:r>
              <a:rPr lang="en-US" sz="1200" dirty="0">
                <a:solidFill>
                  <a:schemeClr val="bg1"/>
                </a:solidFill>
              </a:rPr>
              <a:t>Il caso più insidioso: la ripetizione dà un falso senso di sicurezza</a:t>
            </a:r>
            <a:endParaRPr lang="en-US" sz="1200" dirty="0"/>
          </a:p>
        </p:txBody>
      </p:sp>
      <p:sp>
        <p:nvSpPr>
          <p:cNvPr id="23" name="Text 20"/>
          <p:cNvSpPr txBox="1"/>
          <p:nvPr/>
        </p:nvSpPr>
        <p:spPr>
          <a:xfrm>
            <a:off x="5120640" y="3913632"/>
            <a:ext cx="2926080" cy="320040"/>
          </a:xfrm>
          <a:prstGeom prst="rect">
            <a:avLst/>
          </a:prstGeom>
          <a:noFill/>
          <a:ln/>
        </p:spPr>
        <p:txBody>
          <a:bodyPr wrap="square" lIns="0" tIns="0" rIns="0" bIns="0" rtlCol="0" anchor="t"/>
          <a:lstStyle/>
          <a:p>
            <a:pPr indent="0" marL="0">
              <a:buNone/>
            </a:pPr>
            <a:r>
              <a:rPr lang="en-US" sz="1100" i="1" dirty="0">
                <a:solidFill>
                  <a:schemeClr val="bg1"/>
                </a:solidFill>
              </a:rPr>
              <a:t>Es.: un prezzo superato, ripetuto ogni volta</a:t>
            </a:r>
            <a:endParaRPr lang="en-US" sz="1100" dirty="0"/>
          </a:p>
        </p:txBody>
      </p:sp>
      <p:sp>
        <p:nvSpPr>
          <p:cNvPr id="24" name="Text 21"/>
          <p:cNvSpPr txBox="1"/>
          <p:nvPr/>
        </p:nvSpPr>
        <p:spPr>
          <a:xfrm>
            <a:off x="1463040" y="4434840"/>
            <a:ext cx="6766560" cy="274320"/>
          </a:xfrm>
          <a:prstGeom prst="rect">
            <a:avLst/>
          </a:prstGeom>
          <a:noFill/>
          <a:ln/>
        </p:spPr>
        <p:txBody>
          <a:bodyPr wrap="square" lIns="0" tIns="0" rIns="0" bIns="0" rtlCol="0" anchor="t"/>
          <a:lstStyle/>
          <a:p>
            <a:pPr algn="ctr" indent="0" marL="0">
              <a:buNone/>
            </a:pPr>
            <a:r>
              <a:rPr lang="en-US" sz="1200" i="1" dirty="0">
                <a:solidFill>
                  <a:schemeClr val="tx1"/>
                </a:solidFill>
              </a:rPr>
              <a:t>La variabilità non è un errore; la stabilità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stessa richiesta può produrre risposte differenti; la variabilità è distinta dalla questione della correttezza e dell'affidabilità.</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2.7  ·  Variabilità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sp>
      <p:sp>
        <p:nvSpPr>
          <p:cNvPr id="5" name="Text 2"/>
          <p:cNvSpPr txBox="1"/>
          <p:nvPr/>
        </p:nvSpPr>
        <p:spPr>
          <a:xfrm>
            <a:off x="59436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l'AI?</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Sistemi che deducono dagli input come generare output</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sp>
      <p:sp>
        <p:nvSpPr>
          <p:cNvPr id="9" name="Text 6"/>
          <p:cNvSpPr txBox="1"/>
          <p:nvPr/>
        </p:nvSpPr>
        <p:spPr>
          <a:xfrm>
            <a:off x="480060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AI, ML, DL, generativa?</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Criteri diversi, categorie non esclusive</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sp>
      <p:sp>
        <p:nvSpPr>
          <p:cNvPr id="13" name="Text 10"/>
          <p:cNvSpPr txBox="1"/>
          <p:nvPr/>
        </p:nvSpPr>
        <p:spPr>
          <a:xfrm>
            <a:off x="59436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Come si addestra un modello?</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Regolando i parametri sugli esempi</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sp>
      <p:sp>
        <p:nvSpPr>
          <p:cNvPr id="17" name="Text 14"/>
          <p:cNvSpPr txBox="1"/>
          <p:nvPr/>
        </p:nvSpPr>
        <p:spPr>
          <a:xfrm>
            <a:off x="480060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un LLM?</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 testo token per token da regolarità e contesto</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sp>
      <p:sp>
        <p:nvSpPr>
          <p:cNvPr id="21" name="Text 18"/>
          <p:cNvSpPr txBox="1"/>
          <p:nvPr/>
        </p:nvSpPr>
        <p:spPr>
          <a:xfrm>
            <a:off x="59436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cosa accade con un prompt?</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Contesto, inferenza, generazione</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sp>
      <p:sp>
        <p:nvSpPr>
          <p:cNvPr id="25" name="Text 22"/>
          <p:cNvSpPr txBox="1"/>
          <p:nvPr/>
        </p:nvSpPr>
        <p:spPr>
          <a:xfrm>
            <a:off x="480060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Da dove arrivano le informazioni?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Addestramento, interazione, fonti esterne</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sp>
      <p:sp>
        <p:nvSpPr>
          <p:cNvPr id="29" name="Text 26"/>
          <p:cNvSpPr txBox="1"/>
          <p:nvPr/>
        </p:nvSpPr>
        <p:spPr>
          <a:xfrm>
            <a:off x="59436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Addestramento, contesto, RAG, fine-tuning?</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Solo addestramento e fine-tuning modificano il modello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sp>
      <p:sp>
        <p:nvSpPr>
          <p:cNvPr id="33" name="Text 30"/>
          <p:cNvSpPr txBox="1"/>
          <p:nvPr/>
        </p:nvSpPr>
        <p:spPr>
          <a:xfrm>
            <a:off x="480060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Perché le risposte variano?</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Generazione probabilistica: non è un 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51560"/>
            <a:ext cx="8229600" cy="512064"/>
          </a:xfrm>
          <a:prstGeom prst="roundRect">
            <a:avLst>
              <a:gd name="adj" fmla="val 14286"/>
            </a:avLst>
          </a:prstGeom>
          <a:solidFill>
            <a:schemeClr val="bg2"/>
          </a:solidFill>
          <a:ln/>
        </p:spPr>
      </p:sp>
      <p:sp>
        <p:nvSpPr>
          <p:cNvPr id="5" name="cerchio FiGrid"/>
          <p:cNvSpPr/>
          <p:nvPr/>
        </p:nvSpPr>
        <p:spPr>
          <a:xfrm>
            <a:off x="594360" y="1115568"/>
            <a:ext cx="384048" cy="384048"/>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690372" y="1211580"/>
            <a:ext cx="192024" cy="192024"/>
          </a:xfrm>
          <a:prstGeom prst="rect">
            <a:avLst/>
          </a:prstGeom>
        </p:spPr>
      </p:pic>
      <p:sp>
        <p:nvSpPr>
          <p:cNvPr id="7" name="Text 3"/>
          <p:cNvSpPr txBox="1"/>
          <p:nvPr/>
        </p:nvSpPr>
        <p:spPr>
          <a:xfrm>
            <a:off x="1143000" y="1051560"/>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le principali famiglie e capacità dei sistemi AI</a:t>
            </a:r>
            <a:endParaRPr lang="en-US" sz="1400" dirty="0"/>
          </a:p>
        </p:txBody>
      </p:sp>
      <p:sp>
        <p:nvSpPr>
          <p:cNvPr id="8" name="risultato 2"/>
          <p:cNvSpPr/>
          <p:nvPr/>
        </p:nvSpPr>
        <p:spPr>
          <a:xfrm>
            <a:off x="457200" y="1636776"/>
            <a:ext cx="8229600" cy="512064"/>
          </a:xfrm>
          <a:prstGeom prst="roundRect">
            <a:avLst>
              <a:gd name="adj" fmla="val 14286"/>
            </a:avLst>
          </a:prstGeom>
          <a:solidFill>
            <a:schemeClr val="bg1"/>
          </a:solidFill>
          <a:ln/>
        </p:spPr>
      </p:sp>
      <p:sp>
        <p:nvSpPr>
          <p:cNvPr id="9" name="cerchio FiSliders"/>
          <p:cNvSpPr/>
          <p:nvPr/>
        </p:nvSpPr>
        <p:spPr>
          <a:xfrm>
            <a:off x="594360" y="1700784"/>
            <a:ext cx="384048" cy="384048"/>
          </a:xfrm>
          <a:prstGeom prst="ellipse">
            <a:avLst/>
          </a:prstGeom>
          <a:solidFill>
            <a:schemeClr val="accent1"/>
          </a:solidFill>
          <a:ln/>
        </p:spPr>
      </p:sp>
      <p:pic>
        <p:nvPicPr>
          <p:cNvPr id="10" name="Image 1" descr="FiSliders">    </p:cNvPr>
          <p:cNvPicPr>
            <a:picLocks noChangeAspect="1"/>
          </p:cNvPicPr>
          <p:nvPr/>
        </p:nvPicPr>
        <p:blipFill>
          <a:blip r:embed="rId2"/>
          <a:stretch>
            <a:fillRect/>
          </a:stretch>
        </p:blipFill>
        <p:spPr>
          <a:xfrm>
            <a:off x="690372" y="1796796"/>
            <a:ext cx="192024" cy="192024"/>
          </a:xfrm>
          <a:prstGeom prst="rect">
            <a:avLst/>
          </a:prstGeom>
        </p:spPr>
      </p:pic>
      <p:sp>
        <p:nvSpPr>
          <p:cNvPr id="11" name="Text 6"/>
          <p:cNvSpPr txBox="1"/>
          <p:nvPr/>
        </p:nvSpPr>
        <p:spPr>
          <a:xfrm>
            <a:off x="1143000" y="1636776"/>
            <a:ext cx="7406640" cy="512064"/>
          </a:xfrm>
          <a:prstGeom prst="rect">
            <a:avLst/>
          </a:prstGeom>
          <a:noFill/>
          <a:ln/>
        </p:spPr>
        <p:txBody>
          <a:bodyPr wrap="square" lIns="0" tIns="0" rIns="0" bIns="0" rtlCol="0" anchor="ctr"/>
          <a:lstStyle/>
          <a:p>
            <a:pPr indent="0" marL="0">
              <a:buNone/>
            </a:pPr>
            <a:r>
              <a:rPr lang="en-US" sz="1400" dirty="0">
                <a:solidFill>
                  <a:schemeClr val="tx1"/>
                </a:solidFill>
              </a:rPr>
              <a:t>Descrivere a grandi linee addestramento e inferenza</a:t>
            </a:r>
            <a:endParaRPr lang="en-US" sz="1400" dirty="0"/>
          </a:p>
        </p:txBody>
      </p:sp>
      <p:sp>
        <p:nvSpPr>
          <p:cNvPr id="12" name="risultato 3"/>
          <p:cNvSpPr/>
          <p:nvPr/>
        </p:nvSpPr>
        <p:spPr>
          <a:xfrm>
            <a:off x="457200" y="2221992"/>
            <a:ext cx="8229600" cy="512064"/>
          </a:xfrm>
          <a:prstGeom prst="roundRect">
            <a:avLst>
              <a:gd name="adj" fmla="val 14286"/>
            </a:avLst>
          </a:prstGeom>
          <a:solidFill>
            <a:schemeClr val="bg2"/>
          </a:solidFill>
          <a:ln/>
        </p:spPr>
      </p:sp>
      <p:sp>
        <p:nvSpPr>
          <p:cNvPr id="13" name="cerchio FiMessageSquare"/>
          <p:cNvSpPr/>
          <p:nvPr/>
        </p:nvSpPr>
        <p:spPr>
          <a:xfrm>
            <a:off x="594360" y="2286000"/>
            <a:ext cx="384048" cy="384048"/>
          </a:xfrm>
          <a:prstGeom prst="ellipse">
            <a:avLst/>
          </a:prstGeom>
          <a:solidFill>
            <a:schemeClr val="accent1"/>
          </a:solidFill>
          <a:ln/>
        </p:spPr>
      </p:sp>
      <p:pic>
        <p:nvPicPr>
          <p:cNvPr id="14" name="Image 2" descr="FiMessageSquare">    </p:cNvPr>
          <p:cNvPicPr>
            <a:picLocks noChangeAspect="1"/>
          </p:cNvPicPr>
          <p:nvPr/>
        </p:nvPicPr>
        <p:blipFill>
          <a:blip r:embed="rId3"/>
          <a:stretch>
            <a:fillRect/>
          </a:stretch>
        </p:blipFill>
        <p:spPr>
          <a:xfrm>
            <a:off x="690372" y="2382012"/>
            <a:ext cx="192024" cy="192024"/>
          </a:xfrm>
          <a:prstGeom prst="rect">
            <a:avLst/>
          </a:prstGeom>
        </p:spPr>
      </p:pic>
      <p:sp>
        <p:nvSpPr>
          <p:cNvPr id="15" name="Text 9"/>
          <p:cNvSpPr txBox="1"/>
          <p:nvPr/>
        </p:nvSpPr>
        <p:spPr>
          <a:xfrm>
            <a:off x="1143000" y="2221992"/>
            <a:ext cx="7406640" cy="512064"/>
          </a:xfrm>
          <a:prstGeom prst="rect">
            <a:avLst/>
          </a:prstGeom>
          <a:noFill/>
          <a:ln/>
        </p:spPr>
        <p:txBody>
          <a:bodyPr wrap="square" lIns="0" tIns="0" rIns="0" bIns="0" rtlCol="0" anchor="ctr"/>
          <a:lstStyle/>
          <a:p>
            <a:pPr indent="0" marL="0">
              <a:buNone/>
            </a:pPr>
            <a:r>
              <a:rPr lang="en-US" sz="1400" dirty="0">
                <a:solidFill>
                  <a:schemeClr val="tx1"/>
                </a:solidFill>
              </a:rPr>
              <a:t>Spiegare il funzionamento di un LLM e di una conversazione</a:t>
            </a:r>
            <a:endParaRPr lang="en-US" sz="1400" dirty="0"/>
          </a:p>
        </p:txBody>
      </p:sp>
      <p:sp>
        <p:nvSpPr>
          <p:cNvPr id="16" name="risultato 4"/>
          <p:cNvSpPr/>
          <p:nvPr/>
        </p:nvSpPr>
        <p:spPr>
          <a:xfrm>
            <a:off x="457200" y="2807208"/>
            <a:ext cx="8229600" cy="512064"/>
          </a:xfrm>
          <a:prstGeom prst="roundRect">
            <a:avLst>
              <a:gd name="adj" fmla="val 14286"/>
            </a:avLst>
          </a:prstGeom>
          <a:solidFill>
            <a:schemeClr val="bg1"/>
          </a:solidFill>
          <a:ln/>
        </p:spPr>
      </p:sp>
      <p:sp>
        <p:nvSpPr>
          <p:cNvPr id="17" name="cerchio FiDatabase"/>
          <p:cNvSpPr/>
          <p:nvPr/>
        </p:nvSpPr>
        <p:spPr>
          <a:xfrm>
            <a:off x="594360" y="2871216"/>
            <a:ext cx="384048" cy="384048"/>
          </a:xfrm>
          <a:prstGeom prst="ellipse">
            <a:avLst/>
          </a:prstGeom>
          <a:solidFill>
            <a:schemeClr val="accent1"/>
          </a:solidFill>
          <a:ln/>
        </p:spPr>
      </p:sp>
      <p:pic>
        <p:nvPicPr>
          <p:cNvPr id="18" name="Image 3" descr="FiDatabase">    </p:cNvPr>
          <p:cNvPicPr>
            <a:picLocks noChangeAspect="1"/>
          </p:cNvPicPr>
          <p:nvPr/>
        </p:nvPicPr>
        <p:blipFill>
          <a:blip r:embed="rId4"/>
          <a:stretch>
            <a:fillRect/>
          </a:stretch>
        </p:blipFill>
        <p:spPr>
          <a:xfrm>
            <a:off x="690372" y="2967228"/>
            <a:ext cx="192024" cy="192024"/>
          </a:xfrm>
          <a:prstGeom prst="rect">
            <a:avLst/>
          </a:prstGeom>
        </p:spPr>
      </p:pic>
      <p:sp>
        <p:nvSpPr>
          <p:cNvPr id="19" name="Text 12"/>
          <p:cNvSpPr txBox="1"/>
          <p:nvPr/>
        </p:nvSpPr>
        <p:spPr>
          <a:xfrm>
            <a:off x="1143000" y="2807208"/>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ciò che il modello ha appreso da ciò che riceve durante l'uso</a:t>
            </a:r>
            <a:endParaRPr lang="en-US" sz="1400" dirty="0"/>
          </a:p>
        </p:txBody>
      </p:sp>
      <p:sp>
        <p:nvSpPr>
          <p:cNvPr id="20" name="risultato 5"/>
          <p:cNvSpPr/>
          <p:nvPr/>
        </p:nvSpPr>
        <p:spPr>
          <a:xfrm>
            <a:off x="457200" y="3392424"/>
            <a:ext cx="8229600" cy="512064"/>
          </a:xfrm>
          <a:prstGeom prst="roundRect">
            <a:avLst>
              <a:gd name="adj" fmla="val 14286"/>
            </a:avLst>
          </a:prstGeom>
          <a:solidFill>
            <a:schemeClr val="bg2"/>
          </a:solidFill>
          <a:ln/>
        </p:spPr>
      </p:sp>
      <p:sp>
        <p:nvSpPr>
          <p:cNvPr id="21" name="cerchio FiLayers"/>
          <p:cNvSpPr/>
          <p:nvPr/>
        </p:nvSpPr>
        <p:spPr>
          <a:xfrm>
            <a:off x="594360" y="3456432"/>
            <a:ext cx="384048" cy="384048"/>
          </a:xfrm>
          <a:prstGeom prst="ellipse">
            <a:avLst/>
          </a:prstGeom>
          <a:solidFill>
            <a:schemeClr val="accent1"/>
          </a:solidFill>
          <a:ln/>
        </p:spPr>
      </p:sp>
      <p:pic>
        <p:nvPicPr>
          <p:cNvPr id="22" name="Image 4" descr="FiLayers">    </p:cNvPr>
          <p:cNvPicPr>
            <a:picLocks noChangeAspect="1"/>
          </p:cNvPicPr>
          <p:nvPr/>
        </p:nvPicPr>
        <p:blipFill>
          <a:blip r:embed="rId5"/>
          <a:stretch>
            <a:fillRect/>
          </a:stretch>
        </p:blipFill>
        <p:spPr>
          <a:xfrm>
            <a:off x="690372" y="3552444"/>
            <a:ext cx="192024" cy="192024"/>
          </a:xfrm>
          <a:prstGeom prst="rect">
            <a:avLst/>
          </a:prstGeom>
        </p:spPr>
      </p:pic>
      <p:sp>
        <p:nvSpPr>
          <p:cNvPr id="23" name="Text 15"/>
          <p:cNvSpPr txBox="1"/>
          <p:nvPr/>
        </p:nvSpPr>
        <p:spPr>
          <a:xfrm>
            <a:off x="1143000" y="3392424"/>
            <a:ext cx="7406640" cy="512064"/>
          </a:xfrm>
          <a:prstGeom prst="rect">
            <a:avLst/>
          </a:prstGeom>
          <a:noFill/>
          <a:ln/>
        </p:spPr>
        <p:txBody>
          <a:bodyPr wrap="square" lIns="0" tIns="0" rIns="0" bIns="0" rtlCol="0" anchor="ctr"/>
          <a:lstStyle/>
          <a:p>
            <a:pPr indent="0" marL="0">
              <a:buNone/>
            </a:pPr>
            <a:r>
              <a:rPr lang="en-US" sz="1400" dirty="0">
                <a:solidFill>
                  <a:schemeClr val="tx1"/>
                </a:solidFill>
              </a:rPr>
              <a:t>Comprendere che il comportamento dipende da modello, applicazione e contesto</a:t>
            </a:r>
            <a:endParaRPr lang="en-US" sz="1400" dirty="0"/>
          </a:p>
        </p:txBody>
      </p:sp>
      <p:sp>
        <p:nvSpPr>
          <p:cNvPr id="24" name="risultato 6"/>
          <p:cNvSpPr/>
          <p:nvPr/>
        </p:nvSpPr>
        <p:spPr>
          <a:xfrm>
            <a:off x="457200" y="3977640"/>
            <a:ext cx="8229600" cy="512064"/>
          </a:xfrm>
          <a:prstGeom prst="roundRect">
            <a:avLst>
              <a:gd name="adj" fmla="val 14286"/>
            </a:avLst>
          </a:prstGeom>
          <a:solidFill>
            <a:schemeClr val="bg1"/>
          </a:solidFill>
          <a:ln/>
        </p:spPr>
      </p:sp>
      <p:sp>
        <p:nvSpPr>
          <p:cNvPr id="25" name="cerchio FiShuffle"/>
          <p:cNvSpPr/>
          <p:nvPr/>
        </p:nvSpPr>
        <p:spPr>
          <a:xfrm>
            <a:off x="594360" y="4041648"/>
            <a:ext cx="384048" cy="384048"/>
          </a:xfrm>
          <a:prstGeom prst="ellipse">
            <a:avLst/>
          </a:prstGeom>
          <a:solidFill>
            <a:schemeClr val="accent1"/>
          </a:solidFill>
          <a:ln/>
        </p:spPr>
      </p:sp>
      <p:pic>
        <p:nvPicPr>
          <p:cNvPr id="26" name="Image 5" descr="FiShuffle">    </p:cNvPr>
          <p:cNvPicPr>
            <a:picLocks noChangeAspect="1"/>
          </p:cNvPicPr>
          <p:nvPr/>
        </p:nvPicPr>
        <p:blipFill>
          <a:blip r:embed="rId6"/>
          <a:stretch>
            <a:fillRect/>
          </a:stretch>
        </p:blipFill>
        <p:spPr>
          <a:xfrm>
            <a:off x="690372" y="4137660"/>
            <a:ext cx="192024" cy="192024"/>
          </a:xfrm>
          <a:prstGeom prst="rect">
            <a:avLst/>
          </a:prstGeom>
        </p:spPr>
      </p:pic>
      <p:sp>
        <p:nvSpPr>
          <p:cNvPr id="27" name="Text 18"/>
          <p:cNvSpPr txBox="1"/>
          <p:nvPr/>
        </p:nvSpPr>
        <p:spPr>
          <a:xfrm>
            <a:off x="1143000" y="3977640"/>
            <a:ext cx="7406640" cy="512064"/>
          </a:xfrm>
          <a:prstGeom prst="rect">
            <a:avLst/>
          </a:prstGeom>
          <a:noFill/>
          <a:ln/>
        </p:spPr>
        <p:txBody>
          <a:bodyPr wrap="square" lIns="0" tIns="0" rIns="0" bIns="0" rtlCol="0" anchor="ctr"/>
          <a:lstStyle/>
          <a:p>
            <a:pPr indent="0" marL="0">
              <a:buNone/>
            </a:pPr>
            <a:r>
              <a:rPr lang="en-US" sz="1400" dirty="0">
                <a:solidFill>
                  <a:schemeClr val="tx1"/>
                </a:solidFill>
              </a:rPr>
              <a:t>Interpretare la variabilità senza confonderla con un errore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(1 di 2)</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429768">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29768">
                <a:tc>
                  <a:txBody>
                    <a:bodyPr/>
                    <a:lstStyle/>
                    <a:p>
                      <a:pPr indent="0" marL="0">
                        <a:buNone/>
                      </a:pPr>
                      <a:r>
                        <a:rPr lang="en-US" sz="1200" b="1" dirty="0">
                          <a:solidFill>
                            <a:schemeClr val="tx1"/>
                          </a:solidFill>
                        </a:rPr>
                        <a:t>Machine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Tecniche con cui un sistema apprende regolarità dai dati invece di seguire regole scritte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Deep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Machine Learning basato su reti neurali artificiali con molti strati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risultato dell'addestramento: una struttura con parametri appresi, usata per elaborare nuovi input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Parametri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Valori numerici interni al modello, regolati durante l'addestramento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Fase in cui il modello apprende dagli esempi e i parametri vengono modificati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Inferenza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Uso del modello per elaborare un nuovo input; i parametri restano invariati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LLM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Modello di Deep Learning addestrato su enormi quantità di testo per elaborare e generare linguaggio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(2 di 2)</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393192">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93192">
                <a:tc>
                  <a:txBody>
                    <a:bodyPr/>
                    <a:lstStyle/>
                    <a:p>
                      <a:pPr indent="0" marL="0">
                        <a:buNone/>
                      </a:pPr>
                      <a:r>
                        <a:rPr lang="en-US" sz="1200" b="1" dirty="0">
                          <a:solidFill>
                            <a:schemeClr val="tx1"/>
                          </a:solidFill>
                        </a:rPr>
                        <a:t>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Unità di testo elaborata dal modello: una parola, una parte di parola o un segno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Transformer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Architettura alla base degli LLM, fondata sul meccanismo di 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Prompt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testo con cui formuliamo una richiesta al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Finestra di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Quantità massima di testo, in token, che il modello considera in una elaborazione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Grounding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Ancoraggio delle risposte a fonti specifiche 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RAG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Tecnica che recupera passaggi pertinenti da documenti e li inserisce nel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Fine-tuning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Addestramento aggiuntivo di un modello su esempi specifici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Temperatura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Parametro che regola quanto è variabile la scelta dei 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dove viene questa risposta? Una scheda pratica</a:t>
            </a:r>
            <a:endParaRPr lang="en-US" sz="2600" dirty="0"/>
          </a:p>
        </p:txBody>
      </p:sp>
      <p:sp>
        <p:nvSpPr>
          <p:cNvPr id="4" name="scheda 1"/>
          <p:cNvSpPr/>
          <p:nvPr/>
        </p:nvSpPr>
        <p:spPr>
          <a:xfrm>
            <a:off x="457200" y="1051560"/>
            <a:ext cx="4023360" cy="804672"/>
          </a:xfrm>
          <a:prstGeom prst="roundRect">
            <a:avLst>
              <a:gd name="adj" fmla="val 9091"/>
            </a:avLst>
          </a:prstGeom>
          <a:solidFill>
            <a:schemeClr val="bg2"/>
          </a:solidFill>
          <a:ln/>
        </p:spPr>
      </p:sp>
      <p:sp>
        <p:nvSpPr>
          <p:cNvPr id="5" name="Text 2"/>
          <p:cNvSpPr txBox="1"/>
          <p:nvPr/>
        </p:nvSpPr>
        <p:spPr>
          <a:xfrm>
            <a:off x="59436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6" name="Text 3"/>
          <p:cNvSpPr txBox="1"/>
          <p:nvPr/>
        </p:nvSpPr>
        <p:spPr>
          <a:xfrm>
            <a:off x="1005840" y="11247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Quale sistema sto usando?</a:t>
            </a:r>
            <a:endParaRPr lang="en-US" sz="1400" dirty="0"/>
          </a:p>
        </p:txBody>
      </p:sp>
      <p:sp>
        <p:nvSpPr>
          <p:cNvPr id="7" name="Text 4"/>
          <p:cNvSpPr txBox="1"/>
          <p:nvPr/>
        </p:nvSpPr>
        <p:spPr>
          <a:xfrm>
            <a:off x="1005840" y="1472184"/>
            <a:ext cx="2697480" cy="329184"/>
          </a:xfrm>
          <a:prstGeom prst="rect">
            <a:avLst/>
          </a:prstGeom>
          <a:noFill/>
          <a:ln/>
        </p:spPr>
        <p:txBody>
          <a:bodyPr wrap="square" lIns="0" tIns="0" rIns="0" bIns="0" rtlCol="0" anchor="t"/>
          <a:lstStyle/>
          <a:p>
            <a:pPr indent="0" marL="0">
              <a:buNone/>
            </a:pPr>
            <a:r>
              <a:rPr lang="en-US" sz="1200" dirty="0">
                <a:solidFill>
                  <a:schemeClr val="tx2"/>
                </a:solidFill>
              </a:rPr>
              <a:t>Modello e applicazione, con quali funzioni</a:t>
            </a:r>
            <a:endParaRPr lang="en-US" sz="1200" dirty="0"/>
          </a:p>
        </p:txBody>
      </p:sp>
      <p:sp>
        <p:nvSpPr>
          <p:cNvPr id="8" name="Text 5"/>
          <p:cNvSpPr txBox="1"/>
          <p:nvPr/>
        </p:nvSpPr>
        <p:spPr>
          <a:xfrm>
            <a:off x="3657600" y="10515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2.5</a:t>
            </a:r>
            <a:endParaRPr lang="en-US" sz="1100" dirty="0"/>
          </a:p>
        </p:txBody>
      </p:sp>
      <p:sp>
        <p:nvSpPr>
          <p:cNvPr id="9" name="scheda 2"/>
          <p:cNvSpPr/>
          <p:nvPr/>
        </p:nvSpPr>
        <p:spPr>
          <a:xfrm>
            <a:off x="4663440" y="1051560"/>
            <a:ext cx="4023360" cy="804672"/>
          </a:xfrm>
          <a:prstGeom prst="roundRect">
            <a:avLst>
              <a:gd name="adj" fmla="val 9091"/>
            </a:avLst>
          </a:prstGeom>
          <a:solidFill>
            <a:schemeClr val="bg2"/>
          </a:solidFill>
          <a:ln/>
        </p:spPr>
      </p:sp>
      <p:sp>
        <p:nvSpPr>
          <p:cNvPr id="10" name="Text 7"/>
          <p:cNvSpPr txBox="1"/>
          <p:nvPr/>
        </p:nvSpPr>
        <p:spPr>
          <a:xfrm>
            <a:off x="480060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1" name="Text 8"/>
          <p:cNvSpPr txBox="1"/>
          <p:nvPr/>
        </p:nvSpPr>
        <p:spPr>
          <a:xfrm>
            <a:off x="5212080" y="11247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Da dove viene l'informazione?</a:t>
            </a:r>
            <a:endParaRPr lang="en-US" sz="1400" dirty="0"/>
          </a:p>
        </p:txBody>
      </p:sp>
      <p:sp>
        <p:nvSpPr>
          <p:cNvPr id="12" name="Text 9"/>
          <p:cNvSpPr txBox="1"/>
          <p:nvPr/>
        </p:nvSpPr>
        <p:spPr>
          <a:xfrm>
            <a:off x="5212080" y="1472184"/>
            <a:ext cx="2697480" cy="329184"/>
          </a:xfrm>
          <a:prstGeom prst="rect">
            <a:avLst/>
          </a:prstGeom>
          <a:noFill/>
          <a:ln/>
        </p:spPr>
        <p:txBody>
          <a:bodyPr wrap="square" lIns="0" tIns="0" rIns="0" bIns="0" rtlCol="0" anchor="t"/>
          <a:lstStyle/>
          <a:p>
            <a:pPr indent="0" marL="0">
              <a:buNone/>
            </a:pPr>
            <a:r>
              <a:rPr lang="en-US" sz="1200" dirty="0">
                <a:solidFill>
                  <a:schemeClr val="tx2"/>
                </a:solidFill>
              </a:rPr>
              <a:t>Addestramento, contesto o fonte esterna</a:t>
            </a:r>
            <a:endParaRPr lang="en-US" sz="1200" dirty="0"/>
          </a:p>
        </p:txBody>
      </p:sp>
      <p:sp>
        <p:nvSpPr>
          <p:cNvPr id="13" name="Text 10"/>
          <p:cNvSpPr txBox="1"/>
          <p:nvPr/>
        </p:nvSpPr>
        <p:spPr>
          <a:xfrm>
            <a:off x="7863840" y="10515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2.6</a:t>
            </a:r>
            <a:endParaRPr lang="en-US" sz="1100" dirty="0"/>
          </a:p>
        </p:txBody>
      </p:sp>
      <p:sp>
        <p:nvSpPr>
          <p:cNvPr id="14" name="scheda 3"/>
          <p:cNvSpPr/>
          <p:nvPr/>
        </p:nvSpPr>
        <p:spPr>
          <a:xfrm>
            <a:off x="457200" y="1965960"/>
            <a:ext cx="4023360" cy="804672"/>
          </a:xfrm>
          <a:prstGeom prst="roundRect">
            <a:avLst>
              <a:gd name="adj" fmla="val 9091"/>
            </a:avLst>
          </a:prstGeom>
          <a:solidFill>
            <a:schemeClr val="accent6"/>
          </a:solidFill>
          <a:ln/>
        </p:spPr>
      </p:sp>
      <p:sp>
        <p:nvSpPr>
          <p:cNvPr id="15" name="Text 12"/>
          <p:cNvSpPr txBox="1"/>
          <p:nvPr/>
        </p:nvSpPr>
        <p:spPr>
          <a:xfrm>
            <a:off x="59436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6" name="Text 13"/>
          <p:cNvSpPr txBox="1"/>
          <p:nvPr/>
        </p:nvSpPr>
        <p:spPr>
          <a:xfrm>
            <a:off x="1005840" y="20391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Può essere cambiata di recente?</a:t>
            </a:r>
            <a:endParaRPr lang="en-US" sz="1400" dirty="0"/>
          </a:p>
        </p:txBody>
      </p:sp>
      <p:sp>
        <p:nvSpPr>
          <p:cNvPr id="17" name="Text 14"/>
          <p:cNvSpPr txBox="1"/>
          <p:nvPr/>
        </p:nvSpPr>
        <p:spPr>
          <a:xfrm>
            <a:off x="1005840" y="2386584"/>
            <a:ext cx="2697480" cy="329184"/>
          </a:xfrm>
          <a:prstGeom prst="rect">
            <a:avLst/>
          </a:prstGeom>
          <a:noFill/>
          <a:ln/>
        </p:spPr>
        <p:txBody>
          <a:bodyPr wrap="square" lIns="0" tIns="0" rIns="0" bIns="0" rtlCol="0" anchor="t"/>
          <a:lstStyle/>
          <a:p>
            <a:pPr indent="0" marL="0">
              <a:buNone/>
            </a:pPr>
            <a:r>
              <a:rPr lang="en-US" sz="1200" dirty="0">
                <a:solidFill>
                  <a:schemeClr val="tx2"/>
                </a:solidFill>
              </a:rPr>
              <a:t>Data limite, ricerca, documenti aggiornati</a:t>
            </a:r>
            <a:endParaRPr lang="en-US" sz="1200" dirty="0"/>
          </a:p>
        </p:txBody>
      </p:sp>
      <p:sp>
        <p:nvSpPr>
          <p:cNvPr id="18" name="Text 15"/>
          <p:cNvSpPr txBox="1"/>
          <p:nvPr/>
        </p:nvSpPr>
        <p:spPr>
          <a:xfrm>
            <a:off x="3657600" y="19659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2.6</a:t>
            </a:r>
            <a:endParaRPr lang="en-US" sz="1100" dirty="0"/>
          </a:p>
        </p:txBody>
      </p:sp>
      <p:sp>
        <p:nvSpPr>
          <p:cNvPr id="19" name="scheda 4"/>
          <p:cNvSpPr/>
          <p:nvPr/>
        </p:nvSpPr>
        <p:spPr>
          <a:xfrm>
            <a:off x="4663440" y="1965960"/>
            <a:ext cx="4023360" cy="804672"/>
          </a:xfrm>
          <a:prstGeom prst="roundRect">
            <a:avLst>
              <a:gd name="adj" fmla="val 9091"/>
            </a:avLst>
          </a:prstGeom>
          <a:solidFill>
            <a:schemeClr val="accent6"/>
          </a:solidFill>
          <a:ln/>
        </p:spPr>
      </p:sp>
      <p:sp>
        <p:nvSpPr>
          <p:cNvPr id="20" name="Text 17"/>
          <p:cNvSpPr txBox="1"/>
          <p:nvPr/>
        </p:nvSpPr>
        <p:spPr>
          <a:xfrm>
            <a:off x="480060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21" name="Text 18"/>
          <p:cNvSpPr txBox="1"/>
          <p:nvPr/>
        </p:nvSpPr>
        <p:spPr>
          <a:xfrm>
            <a:off x="5212080" y="20391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Il contesto è quello giusto?</a:t>
            </a:r>
            <a:endParaRPr lang="en-US" sz="1400" dirty="0"/>
          </a:p>
        </p:txBody>
      </p:sp>
      <p:sp>
        <p:nvSpPr>
          <p:cNvPr id="22" name="Text 19"/>
          <p:cNvSpPr txBox="1"/>
          <p:nvPr/>
        </p:nvSpPr>
        <p:spPr>
          <a:xfrm>
            <a:off x="5212080" y="2386584"/>
            <a:ext cx="2697480" cy="329184"/>
          </a:xfrm>
          <a:prstGeom prst="rect">
            <a:avLst/>
          </a:prstGeom>
          <a:noFill/>
          <a:ln/>
        </p:spPr>
        <p:txBody>
          <a:bodyPr wrap="square" lIns="0" tIns="0" rIns="0" bIns="0" rtlCol="0" anchor="t"/>
          <a:lstStyle/>
          <a:p>
            <a:pPr indent="0" marL="0">
              <a:buNone/>
            </a:pPr>
            <a:r>
              <a:rPr lang="en-US" sz="1200" dirty="0">
                <a:solidFill>
                  <a:schemeClr val="tx2"/>
                </a:solidFill>
              </a:rPr>
              <a:t>Pertinente, completo, non sepolto</a:t>
            </a:r>
            <a:endParaRPr lang="en-US" sz="1200" dirty="0"/>
          </a:p>
        </p:txBody>
      </p:sp>
      <p:sp>
        <p:nvSpPr>
          <p:cNvPr id="23" name="Text 20"/>
          <p:cNvSpPr txBox="1"/>
          <p:nvPr/>
        </p:nvSpPr>
        <p:spPr>
          <a:xfrm>
            <a:off x="7863840" y="19659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2.5</a:t>
            </a:r>
            <a:endParaRPr lang="en-US" sz="1100" dirty="0"/>
          </a:p>
        </p:txBody>
      </p:sp>
      <p:sp>
        <p:nvSpPr>
          <p:cNvPr id="24" name="scheda 5"/>
          <p:cNvSpPr/>
          <p:nvPr/>
        </p:nvSpPr>
        <p:spPr>
          <a:xfrm>
            <a:off x="457200" y="2880360"/>
            <a:ext cx="4023360" cy="804672"/>
          </a:xfrm>
          <a:prstGeom prst="roundRect">
            <a:avLst>
              <a:gd name="adj" fmla="val 9091"/>
            </a:avLst>
          </a:prstGeom>
          <a:solidFill>
            <a:schemeClr val="bg2"/>
          </a:solidFill>
          <a:ln/>
        </p:spPr>
      </p:sp>
      <p:sp>
        <p:nvSpPr>
          <p:cNvPr id="25" name="Text 22"/>
          <p:cNvSpPr txBox="1"/>
          <p:nvPr/>
        </p:nvSpPr>
        <p:spPr>
          <a:xfrm>
            <a:off x="59436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5</a:t>
            </a:r>
            <a:endParaRPr lang="en-US" sz="2000" dirty="0"/>
          </a:p>
        </p:txBody>
      </p:sp>
      <p:sp>
        <p:nvSpPr>
          <p:cNvPr id="26" name="Text 23"/>
          <p:cNvSpPr txBox="1"/>
          <p:nvPr/>
        </p:nvSpPr>
        <p:spPr>
          <a:xfrm>
            <a:off x="1005840" y="29535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Che cosa resta dopo?</a:t>
            </a:r>
            <a:endParaRPr lang="en-US" sz="1400" dirty="0"/>
          </a:p>
        </p:txBody>
      </p:sp>
      <p:sp>
        <p:nvSpPr>
          <p:cNvPr id="27" name="Text 24"/>
          <p:cNvSpPr txBox="1"/>
          <p:nvPr/>
        </p:nvSpPr>
        <p:spPr>
          <a:xfrm>
            <a:off x="1005840" y="3300984"/>
            <a:ext cx="2697480" cy="329184"/>
          </a:xfrm>
          <a:prstGeom prst="rect">
            <a:avLst/>
          </a:prstGeom>
          <a:noFill/>
          <a:ln/>
        </p:spPr>
        <p:txBody>
          <a:bodyPr wrap="square" lIns="0" tIns="0" rIns="0" bIns="0" rtlCol="0" anchor="t"/>
          <a:lstStyle/>
          <a:p>
            <a:pPr indent="0" marL="0">
              <a:buNone/>
            </a:pPr>
            <a:r>
              <a:rPr lang="en-US" sz="1200" dirty="0">
                <a:solidFill>
                  <a:schemeClr val="tx2"/>
                </a:solidFill>
              </a:rPr>
              <a:t>Memoria, dati, condizioni del servizio</a:t>
            </a:r>
            <a:endParaRPr lang="en-US" sz="1200" dirty="0"/>
          </a:p>
        </p:txBody>
      </p:sp>
      <p:sp>
        <p:nvSpPr>
          <p:cNvPr id="28" name="Text 25"/>
          <p:cNvSpPr txBox="1"/>
          <p:nvPr/>
        </p:nvSpPr>
        <p:spPr>
          <a:xfrm>
            <a:off x="3657600" y="28803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2.3  2.5</a:t>
            </a:r>
            <a:endParaRPr lang="en-US" sz="1100" dirty="0"/>
          </a:p>
        </p:txBody>
      </p:sp>
      <p:sp>
        <p:nvSpPr>
          <p:cNvPr id="29" name="scheda 6"/>
          <p:cNvSpPr/>
          <p:nvPr/>
        </p:nvSpPr>
        <p:spPr>
          <a:xfrm>
            <a:off x="4663440" y="2880360"/>
            <a:ext cx="4023360" cy="804672"/>
          </a:xfrm>
          <a:prstGeom prst="roundRect">
            <a:avLst>
              <a:gd name="adj" fmla="val 9091"/>
            </a:avLst>
          </a:prstGeom>
          <a:solidFill>
            <a:schemeClr val="bg2"/>
          </a:solidFill>
          <a:ln/>
        </p:spPr>
      </p:sp>
      <p:sp>
        <p:nvSpPr>
          <p:cNvPr id="30" name="Text 27"/>
          <p:cNvSpPr txBox="1"/>
          <p:nvPr/>
        </p:nvSpPr>
        <p:spPr>
          <a:xfrm>
            <a:off x="480060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6</a:t>
            </a:r>
            <a:endParaRPr lang="en-US" sz="2000" dirty="0"/>
          </a:p>
        </p:txBody>
      </p:sp>
      <p:sp>
        <p:nvSpPr>
          <p:cNvPr id="31" name="Text 28"/>
          <p:cNvSpPr txBox="1"/>
          <p:nvPr/>
        </p:nvSpPr>
        <p:spPr>
          <a:xfrm>
            <a:off x="5212080" y="29535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Se la rigenero, cambia?</a:t>
            </a:r>
            <a:endParaRPr lang="en-US" sz="1400" dirty="0"/>
          </a:p>
        </p:txBody>
      </p:sp>
      <p:sp>
        <p:nvSpPr>
          <p:cNvPr id="32" name="Text 29"/>
          <p:cNvSpPr txBox="1"/>
          <p:nvPr/>
        </p:nvSpPr>
        <p:spPr>
          <a:xfrm>
            <a:off x="5212080" y="3300984"/>
            <a:ext cx="2697480" cy="329184"/>
          </a:xfrm>
          <a:prstGeom prst="rect">
            <a:avLst/>
          </a:prstGeom>
          <a:noFill/>
          <a:ln/>
        </p:spPr>
        <p:txBody>
          <a:bodyPr wrap="square" lIns="0" tIns="0" rIns="0" bIns="0" rtlCol="0" anchor="t"/>
          <a:lstStyle/>
          <a:p>
            <a:pPr indent="0" marL="0">
              <a:buNone/>
            </a:pPr>
            <a:r>
              <a:rPr lang="en-US" sz="1200" dirty="0">
                <a:solidFill>
                  <a:schemeClr val="tx2"/>
                </a:solidFill>
              </a:rPr>
              <a:t>Un segnale, non una prova</a:t>
            </a:r>
            <a:endParaRPr lang="en-US" sz="1200" dirty="0"/>
          </a:p>
        </p:txBody>
      </p:sp>
      <p:sp>
        <p:nvSpPr>
          <p:cNvPr id="33" name="Text 30"/>
          <p:cNvSpPr txBox="1"/>
          <p:nvPr/>
        </p:nvSpPr>
        <p:spPr>
          <a:xfrm>
            <a:off x="7863840" y="28803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2.7</a:t>
            </a:r>
            <a:endParaRPr lang="en-US" sz="1100" dirty="0"/>
          </a:p>
        </p:txBody>
      </p:sp>
      <p:sp>
        <p:nvSpPr>
          <p:cNvPr id="34" name="messaggio"/>
          <p:cNvSpPr/>
          <p:nvPr/>
        </p:nvSpPr>
        <p:spPr>
          <a:xfrm>
            <a:off x="457200" y="3886200"/>
            <a:ext cx="8229600" cy="594360"/>
          </a:xfrm>
          <a:prstGeom prst="roundRect">
            <a:avLst>
              <a:gd name="adj" fmla="val 12308"/>
            </a:avLst>
          </a:prstGeom>
          <a:solidFill>
            <a:schemeClr val="tx1"/>
          </a:solidFill>
          <a:ln/>
        </p:spPr>
      </p:sp>
      <p:sp>
        <p:nvSpPr>
          <p:cNvPr id="35" name="Text 32"/>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Capire il meccanismo serve a sapere che cosa controllare, non a fidarsi di più.</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User"/>
          <p:cNvSpPr/>
          <p:nvPr/>
        </p:nvSpPr>
        <p:spPr>
          <a:xfrm>
            <a:off x="621792" y="1216152"/>
            <a:ext cx="457200" cy="457200"/>
          </a:xfrm>
          <a:prstGeom prst="ellipse">
            <a:avLst/>
          </a:prstGeom>
          <a:solidFill>
            <a:schemeClr val="accent5"/>
          </a:solidFill>
          <a:ln/>
        </p:spPr>
      </p:sp>
      <p:pic>
        <p:nvPicPr>
          <p:cNvPr id="6" name="Image 0" descr="FiUser">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"L'AI capisce come una persona"</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Contano le prestazioni osservabili</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Grid"/>
          <p:cNvSpPr/>
          <p:nvPr/>
        </p:nvSpPr>
        <p:spPr>
          <a:xfrm>
            <a:off x="4828032" y="1216152"/>
            <a:ext cx="457200" cy="457200"/>
          </a:xfrm>
          <a:prstGeom prst="ellipse">
            <a:avLst/>
          </a:prstGeom>
          <a:solidFill>
            <a:schemeClr val="accent5"/>
          </a:solidFill>
          <a:ln/>
        </p:spPr>
      </p:sp>
      <p:pic>
        <p:nvPicPr>
          <p:cNvPr id="12" name="Image 1" descr="FiGrid">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"AI, ML e generativa sono la stessa cosa"</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Criteri diversi, categorie non esclusive</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Edit3"/>
          <p:cNvSpPr/>
          <p:nvPr/>
        </p:nvSpPr>
        <p:spPr>
          <a:xfrm>
            <a:off x="621792" y="2377440"/>
            <a:ext cx="457200" cy="457200"/>
          </a:xfrm>
          <a:prstGeom prst="ellipse">
            <a:avLst/>
          </a:prstGeom>
          <a:solidFill>
            <a:schemeClr val="accent5"/>
          </a:solidFill>
          <a:ln/>
        </p:spPr>
      </p:sp>
      <p:pic>
        <p:nvPicPr>
          <p:cNvPr id="18" name="Image 2" descr="FiEdit3">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 lo correggo, lo addestro"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Nell'uso siamo in inferenza</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Type"/>
          <p:cNvSpPr/>
          <p:nvPr/>
        </p:nvSpPr>
        <p:spPr>
          <a:xfrm>
            <a:off x="4828032" y="2377440"/>
            <a:ext cx="457200" cy="457200"/>
          </a:xfrm>
          <a:prstGeom prst="ellipse">
            <a:avLst/>
          </a:prstGeom>
          <a:solidFill>
            <a:schemeClr val="accent5"/>
          </a:solidFill>
          <a:ln/>
        </p:spPr>
      </p:sp>
      <p:pic>
        <p:nvPicPr>
          <p:cNvPr id="24" name="Image 3" descr="FiType">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solo un completamento automatico"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Regolarità apprese e contesto</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Box"/>
          <p:cNvSpPr/>
          <p:nvPr/>
        </p:nvSpPr>
        <p:spPr>
          <a:xfrm>
            <a:off x="621792" y="3538728"/>
            <a:ext cx="457200" cy="457200"/>
          </a:xfrm>
          <a:prstGeom prst="ellipse">
            <a:avLst/>
          </a:prstGeom>
          <a:solidFill>
            <a:schemeClr val="accent5"/>
          </a:solidFill>
          <a:ln/>
        </p:spPr>
      </p:sp>
      <p:pic>
        <p:nvPicPr>
          <p:cNvPr id="30" name="Image 4" descr="FiBox">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modello è il prodotto"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Ricerca, file e memoria sono dell'applicazione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2.5</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Repeat"/>
          <p:cNvSpPr/>
          <p:nvPr/>
        </p:nvSpPr>
        <p:spPr>
          <a:xfrm>
            <a:off x="4828032" y="3538728"/>
            <a:ext cx="457200" cy="457200"/>
          </a:xfrm>
          <a:prstGeom prst="ellipse">
            <a:avLst/>
          </a:prstGeom>
          <a:solidFill>
            <a:schemeClr val="accent5"/>
          </a:solidFill>
          <a:ln/>
        </p:spPr>
      </p:sp>
      <p:pic>
        <p:nvPicPr>
          <p:cNvPr id="36" name="Image 5" descr="FiRepeat">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"Sempre la stessa risposta, quindi corretta"</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La stabilità non è una garanzia</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3</a:t>
            </a:r>
            <a:endParaRPr lang="en-US" sz="2600" dirty="0"/>
          </a:p>
        </p:txBody>
      </p:sp>
      <p:sp>
        <p:nvSpPr>
          <p:cNvPr id="4" name="tema 2"/>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2</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Fondamenti e funzionamento</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Come apprende l'AI</a:t>
            </a:r>
            <a:endParaRPr lang="en-US" sz="1400" dirty="0"/>
          </a:p>
          <a:p>
            <a:pPr marL="177800" indent="-177800">
              <a:spcAft>
                <a:spcPts val="400"/>
              </a:spcAft>
              <a:buSzPct val="100000"/>
              <a:buChar char="•"/>
            </a:pPr>
            <a:r>
              <a:rPr lang="en-US" sz="1400" dirty="0">
                <a:solidFill>
                  <a:schemeClr val="tx2"/>
                </a:solidFill>
              </a:rPr>
              <a:t>Come genera le risposte</a:t>
            </a:r>
            <a:endParaRPr lang="en-US" sz="1400" dirty="0"/>
          </a:p>
          <a:p>
            <a:pPr marL="177800" indent="-177800">
              <a:spcAft>
                <a:spcPts val="400"/>
              </a:spcAft>
              <a:buSzPct val="100000"/>
              <a:buChar char="•"/>
            </a:pPr>
            <a:r>
              <a:rPr lang="en-US" sz="1400" dirty="0">
                <a:solidFill>
                  <a:schemeClr val="tx2"/>
                </a:solidFill>
              </a:rPr>
              <a:t>Da dove arrivano le informazioni</a:t>
            </a:r>
            <a:endParaRPr lang="en-US" sz="1400" dirty="0"/>
          </a:p>
          <a:p>
            <a:pPr marL="177800" indent="-177800">
              <a:spcAft>
                <a:spcPts val="400"/>
              </a:spcAft>
              <a:buSzPct val="100000"/>
              <a:buChar char="•"/>
            </a:pPr>
            <a:r>
              <a:rPr lang="en-US" sz="1400" dirty="0">
                <a:solidFill>
                  <a:schemeClr val="tx2"/>
                </a:solidFill>
              </a:rPr>
              <a:t>Perché le risposte variano</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3"/>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3</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Capacità, limiti e affidabilità</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Perché l'AI può sbagliare</a:t>
            </a:r>
            <a:endParaRPr lang="en-US" sz="1400" dirty="0"/>
          </a:p>
          <a:p>
            <a:pPr marL="177800" indent="-177800">
              <a:spcAft>
                <a:spcPts val="300"/>
              </a:spcAft>
              <a:buSzPct val="100000"/>
              <a:buChar char="•"/>
            </a:pPr>
            <a:r>
              <a:rPr lang="en-US" sz="1400" dirty="0">
                <a:solidFill>
                  <a:schemeClr val="accent3"/>
                </a:solidFill>
              </a:rPr>
              <a:t>Allucinazioni</a:t>
            </a:r>
            <a:endParaRPr lang="en-US" sz="1400" dirty="0"/>
          </a:p>
          <a:p>
            <a:pPr marL="177800" indent="-177800">
              <a:spcAft>
                <a:spcPts val="300"/>
              </a:spcAft>
              <a:buSzPct val="100000"/>
              <a:buChar char="•"/>
            </a:pPr>
            <a:r>
              <a:rPr lang="en-US" sz="1400" dirty="0">
                <a:solidFill>
                  <a:schemeClr val="accent3"/>
                </a:solidFill>
              </a:rPr>
              <a:t>Bias</a:t>
            </a:r>
            <a:endParaRPr lang="en-US" sz="1400" dirty="0"/>
          </a:p>
          <a:p>
            <a:pPr marL="177800" indent="-177800">
              <a:spcAft>
                <a:spcPts val="300"/>
              </a:spcAft>
              <a:buSzPct val="100000"/>
              <a:buChar char="•"/>
            </a:pPr>
            <a:r>
              <a:rPr lang="en-US" sz="1400" dirty="0">
                <a:solidFill>
                  <a:schemeClr val="accent3"/>
                </a:solidFill>
              </a:rPr>
              <a:t>Accuratezza e affidabilità</a:t>
            </a:r>
            <a:endParaRPr lang="en-US" sz="1400" dirty="0"/>
          </a:p>
          <a:p>
            <a:pPr marL="177800" indent="-177800">
              <a:spcAft>
                <a:spcPts val="300"/>
              </a:spcAft>
              <a:buSzPct val="100000"/>
              <a:buChar char="•"/>
            </a:pPr>
            <a:r>
              <a:rPr lang="en-US" sz="1400" dirty="0">
                <a:solidFill>
                  <a:schemeClr val="accent3"/>
                </a:solidFill>
              </a:rPr>
              <a:t>Come verificare i risultati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Regolamento (UE) 2024/1689 sull'intelligenza artificiale (AI Act), art. 3; articolo non modificato dal Regolamento (UE) 2026/1744.</a:t>
            </a:r>
            <a:endParaRPr lang="en-US" sz="1300" dirty="0"/>
          </a:p>
          <a:p>
            <a:pPr marL="177800" indent="-177800">
              <a:spcAft>
                <a:spcPts val="500"/>
              </a:spcAft>
              <a:buSzPct val="100000"/>
              <a:buChar char="•"/>
            </a:pPr>
            <a:r>
              <a:rPr lang="en-US" sz="1300" dirty="0">
                <a:solidFill>
                  <a:schemeClr val="tx1"/>
                </a:solidFill>
              </a:rPr>
              <a:t>OCSE (2023). Definizione aggiornata di sistema di intelligenza artificiale; memorandum esplicativo (2024).</a:t>
            </a:r>
            <a:endParaRPr lang="en-US" sz="1300" dirty="0"/>
          </a:p>
          <a:p>
            <a:pPr marL="177800" indent="-177800">
              <a:spcAft>
                <a:spcPts val="500"/>
              </a:spcAft>
              <a:buSzPct val="100000"/>
              <a:buChar char="•"/>
            </a:pPr>
            <a:r>
              <a:rPr lang="en-US" sz="1300" dirty="0">
                <a:solidFill>
                  <a:schemeClr val="tx1"/>
                </a:solidFill>
              </a:rPr>
              <a:t>Weizenbaum, J. (1966). ELIZA: A Computer Program for the Study of Natural Language Communication between Man and Machine. Communications of the ACM, 9(1), 36-45.</a:t>
            </a:r>
            <a:endParaRPr lang="en-US" sz="1300" dirty="0"/>
          </a:p>
          <a:p>
            <a:pPr marL="177800" indent="-177800">
              <a:spcAft>
                <a:spcPts val="500"/>
              </a:spcAft>
              <a:buSzPct val="100000"/>
              <a:buChar char="•"/>
            </a:pPr>
            <a:r>
              <a:rPr lang="en-US" sz="1300" dirty="0">
                <a:solidFill>
                  <a:schemeClr val="tx1"/>
                </a:solidFill>
              </a:rPr>
              <a:t>Vaswani, A. et al. (2017). Attention Is All You Need. NeurIPS.</a:t>
            </a:r>
            <a:endParaRPr lang="en-US" sz="1300" dirty="0"/>
          </a:p>
          <a:p>
            <a:pPr marL="177800" indent="-177800">
              <a:spcAft>
                <a:spcPts val="500"/>
              </a:spcAft>
              <a:buSzPct val="100000"/>
              <a:buChar char="•"/>
            </a:pPr>
            <a:r>
              <a:rPr lang="en-US" sz="1300" dirty="0">
                <a:solidFill>
                  <a:schemeClr val="tx1"/>
                </a:solidFill>
              </a:rPr>
              <a:t>Brown, T. et al. (2020). Language Models are Few-Shot Learners. NeurIPS.</a:t>
            </a:r>
            <a:endParaRPr lang="en-US" sz="1300" dirty="0"/>
          </a:p>
          <a:p>
            <a:pPr marL="177800" indent="-177800">
              <a:spcAft>
                <a:spcPts val="500"/>
              </a:spcAft>
              <a:buSzPct val="100000"/>
              <a:buChar char="•"/>
            </a:pPr>
            <a:r>
              <a:rPr lang="en-US" sz="1300" dirty="0">
                <a:solidFill>
                  <a:schemeClr val="tx1"/>
                </a:solidFill>
              </a:rPr>
              <a:t>Ouyang, L. et al. (2022). Training language models to follow instructions with human feedback. NeurIPS.</a:t>
            </a:r>
            <a:endParaRPr lang="en-US" sz="1300" dirty="0"/>
          </a:p>
          <a:p>
            <a:pPr marL="177800" indent="-177800">
              <a:spcAft>
                <a:spcPts val="500"/>
              </a:spcAft>
              <a:buSzPct val="100000"/>
              <a:buChar char="•"/>
            </a:pPr>
            <a:r>
              <a:rPr lang="en-US" sz="1300" dirty="0">
                <a:solidFill>
                  <a:schemeClr val="tx1"/>
                </a:solidFill>
              </a:rPr>
              <a:t>Lewis, P. et al. (2020). Retrieval-Augmented Generation for Knowledge-Intensive NLP Tasks. NeurIPS.</a:t>
            </a:r>
            <a:endParaRPr lang="en-US" sz="1300" dirty="0"/>
          </a:p>
          <a:p>
            <a:pPr marL="177800" indent="-177800">
              <a:spcAft>
                <a:spcPts val="500"/>
              </a:spcAft>
              <a:buSzPct val="100000"/>
              <a:buChar char="•"/>
            </a:pPr>
            <a:r>
              <a:rPr lang="en-US" sz="1300" dirty="0">
                <a:solidFill>
                  <a:schemeClr val="tx1"/>
                </a:solidFill>
              </a:rPr>
              <a:t>Liu, N. F. et al. (2024). Lost in the Middle: How Language Models Use Long Contexts. Transactions of the ACL, 12, 157-173.</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2: Fondamenti e funzionamento dell'Intelligenza Artificiale</dc:title>
  <dc:subject>Percorso AI Literacy</dc:subject>
  <dc:creator>Percorso AI Literacy</dc:creator>
  <cp:lastModifiedBy>Percorso AI Literacy</cp:lastModifiedBy>
  <cp:revision>1</cp:revision>
  <dcterms:created xsi:type="dcterms:W3CDTF">2026-10-09T13:34:44Z</dcterms:created>
  <dcterms:modified xsi:type="dcterms:W3CDTF">2026-10-09T13:34:44Z</dcterms:modified>
</cp:coreProperties>
</file>